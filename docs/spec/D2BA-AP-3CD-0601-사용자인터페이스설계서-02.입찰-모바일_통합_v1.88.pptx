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60" r:id="rId1"/>
  </p:sldMasterIdLst>
  <p:notesMasterIdLst>
    <p:notesMasterId r:id="rId566"/>
  </p:notesMasterIdLst>
  <p:handoutMasterIdLst>
    <p:handoutMasterId r:id="rId567"/>
  </p:handoutMasterIdLst>
  <p:sldIdLst>
    <p:sldId id="256" r:id="rId2"/>
    <p:sldId id="1455" r:id="rId3"/>
    <p:sldId id="627" r:id="rId4"/>
    <p:sldId id="356" r:id="rId5"/>
    <p:sldId id="1471" r:id="rId6"/>
    <p:sldId id="1472" r:id="rId7"/>
    <p:sldId id="1473" r:id="rId8"/>
    <p:sldId id="1474" r:id="rId9"/>
    <p:sldId id="1475" r:id="rId10"/>
    <p:sldId id="1476" r:id="rId11"/>
    <p:sldId id="939" r:id="rId12"/>
    <p:sldId id="940" r:id="rId13"/>
    <p:sldId id="1468" r:id="rId14"/>
    <p:sldId id="979" r:id="rId15"/>
    <p:sldId id="941" r:id="rId16"/>
    <p:sldId id="1165" r:id="rId17"/>
    <p:sldId id="273" r:id="rId18"/>
    <p:sldId id="292" r:id="rId19"/>
    <p:sldId id="1466" r:id="rId20"/>
    <p:sldId id="299" r:id="rId21"/>
    <p:sldId id="300" r:id="rId22"/>
    <p:sldId id="301" r:id="rId23"/>
    <p:sldId id="791" r:id="rId24"/>
    <p:sldId id="792" r:id="rId25"/>
    <p:sldId id="793" r:id="rId26"/>
    <p:sldId id="968" r:id="rId27"/>
    <p:sldId id="1469" r:id="rId28"/>
    <p:sldId id="1488" r:id="rId29"/>
    <p:sldId id="974" r:id="rId30"/>
    <p:sldId id="1237" r:id="rId31"/>
    <p:sldId id="1238" r:id="rId32"/>
    <p:sldId id="1239" r:id="rId33"/>
    <p:sldId id="1241" r:id="rId34"/>
    <p:sldId id="1240" r:id="rId35"/>
    <p:sldId id="1242" r:id="rId36"/>
    <p:sldId id="1243" r:id="rId37"/>
    <p:sldId id="1244" r:id="rId38"/>
    <p:sldId id="1245" r:id="rId39"/>
    <p:sldId id="1246" r:id="rId40"/>
    <p:sldId id="1247" r:id="rId41"/>
    <p:sldId id="1248" r:id="rId42"/>
    <p:sldId id="1249" r:id="rId43"/>
    <p:sldId id="1250" r:id="rId44"/>
    <p:sldId id="1252" r:id="rId45"/>
    <p:sldId id="1253" r:id="rId46"/>
    <p:sldId id="980" r:id="rId47"/>
    <p:sldId id="1161" r:id="rId48"/>
    <p:sldId id="1235" r:id="rId49"/>
    <p:sldId id="1470" r:id="rId50"/>
    <p:sldId id="319" r:id="rId51"/>
    <p:sldId id="1456" r:id="rId52"/>
    <p:sldId id="1457" r:id="rId53"/>
    <p:sldId id="314" r:id="rId54"/>
    <p:sldId id="794" r:id="rId55"/>
    <p:sldId id="795" r:id="rId56"/>
    <p:sldId id="796" r:id="rId57"/>
    <p:sldId id="315" r:id="rId58"/>
    <p:sldId id="323" r:id="rId59"/>
    <p:sldId id="329" r:id="rId60"/>
    <p:sldId id="797" r:id="rId61"/>
    <p:sldId id="798" r:id="rId62"/>
    <p:sldId id="328" r:id="rId63"/>
    <p:sldId id="324" r:id="rId64"/>
    <p:sldId id="1477" r:id="rId65"/>
    <p:sldId id="1478" r:id="rId66"/>
    <p:sldId id="1479" r:id="rId67"/>
    <p:sldId id="1480" r:id="rId68"/>
    <p:sldId id="332" r:id="rId69"/>
    <p:sldId id="804" r:id="rId70"/>
    <p:sldId id="1489" r:id="rId71"/>
    <p:sldId id="1490" r:id="rId72"/>
    <p:sldId id="337" r:id="rId73"/>
    <p:sldId id="803" r:id="rId74"/>
    <p:sldId id="1258" r:id="rId75"/>
    <p:sldId id="1269" r:id="rId76"/>
    <p:sldId id="1481" r:id="rId77"/>
    <p:sldId id="1482" r:id="rId78"/>
    <p:sldId id="1483" r:id="rId79"/>
    <p:sldId id="1484" r:id="rId80"/>
    <p:sldId id="1485" r:id="rId81"/>
    <p:sldId id="416" r:id="rId82"/>
    <p:sldId id="1186" r:id="rId83"/>
    <p:sldId id="830" r:id="rId84"/>
    <p:sldId id="411" r:id="rId85"/>
    <p:sldId id="417" r:id="rId86"/>
    <p:sldId id="831" r:id="rId87"/>
    <p:sldId id="412" r:id="rId88"/>
    <p:sldId id="413" r:id="rId89"/>
    <p:sldId id="1223" r:id="rId90"/>
    <p:sldId id="1224" r:id="rId91"/>
    <p:sldId id="1225" r:id="rId92"/>
    <p:sldId id="418" r:id="rId93"/>
    <p:sldId id="414" r:id="rId94"/>
    <p:sldId id="833" r:id="rId95"/>
    <p:sldId id="832" r:id="rId96"/>
    <p:sldId id="620" r:id="rId97"/>
    <p:sldId id="621" r:id="rId98"/>
    <p:sldId id="1259" r:id="rId99"/>
    <p:sldId id="340" r:id="rId100"/>
    <p:sldId id="934" r:id="rId101"/>
    <p:sldId id="310" r:id="rId102"/>
    <p:sldId id="946" r:id="rId103"/>
    <p:sldId id="1183" r:id="rId104"/>
    <p:sldId id="1184" r:id="rId105"/>
    <p:sldId id="339" r:id="rId106"/>
    <p:sldId id="985" r:id="rId107"/>
    <p:sldId id="1260" r:id="rId108"/>
    <p:sldId id="1150" r:id="rId109"/>
    <p:sldId id="1167" r:id="rId110"/>
    <p:sldId id="1151" r:id="rId111"/>
    <p:sldId id="1152" r:id="rId112"/>
    <p:sldId id="1168" r:id="rId113"/>
    <p:sldId id="1153" r:id="rId114"/>
    <p:sldId id="1262" r:id="rId115"/>
    <p:sldId id="1263" r:id="rId116"/>
    <p:sldId id="1267" r:id="rId117"/>
    <p:sldId id="1268" r:id="rId118"/>
    <p:sldId id="362" r:id="rId119"/>
    <p:sldId id="353" r:id="rId120"/>
    <p:sldId id="351" r:id="rId121"/>
    <p:sldId id="352" r:id="rId122"/>
    <p:sldId id="821" r:id="rId123"/>
    <p:sldId id="363" r:id="rId124"/>
    <p:sldId id="1187" r:id="rId125"/>
    <p:sldId id="366" r:id="rId126"/>
    <p:sldId id="367" r:id="rId127"/>
    <p:sldId id="381" r:id="rId128"/>
    <p:sldId id="382" r:id="rId129"/>
    <p:sldId id="355" r:id="rId130"/>
    <p:sldId id="383" r:id="rId131"/>
    <p:sldId id="822" r:id="rId132"/>
    <p:sldId id="384" r:id="rId133"/>
    <p:sldId id="385" r:id="rId134"/>
    <p:sldId id="1442" r:id="rId135"/>
    <p:sldId id="1443" r:id="rId136"/>
    <p:sldId id="1444" r:id="rId137"/>
    <p:sldId id="386" r:id="rId138"/>
    <p:sldId id="823" r:id="rId139"/>
    <p:sldId id="824" r:id="rId140"/>
    <p:sldId id="825" r:id="rId141"/>
    <p:sldId id="826" r:id="rId142"/>
    <p:sldId id="827" r:id="rId143"/>
    <p:sldId id="387" r:id="rId144"/>
    <p:sldId id="388" r:id="rId145"/>
    <p:sldId id="389" r:id="rId146"/>
    <p:sldId id="390" r:id="rId147"/>
    <p:sldId id="391" r:id="rId148"/>
    <p:sldId id="392" r:id="rId149"/>
    <p:sldId id="828" r:id="rId150"/>
    <p:sldId id="1264" r:id="rId151"/>
    <p:sldId id="1188" r:id="rId152"/>
    <p:sldId id="1169" r:id="rId153"/>
    <p:sldId id="1170" r:id="rId154"/>
    <p:sldId id="1265" r:id="rId155"/>
    <p:sldId id="400" r:id="rId156"/>
    <p:sldId id="819" r:id="rId157"/>
    <p:sldId id="820" r:id="rId158"/>
    <p:sldId id="1445" r:id="rId159"/>
    <p:sldId id="1446" r:id="rId160"/>
    <p:sldId id="1447" r:id="rId161"/>
    <p:sldId id="1271" r:id="rId162"/>
    <p:sldId id="379" r:id="rId163"/>
    <p:sldId id="1156" r:id="rId164"/>
    <p:sldId id="816" r:id="rId165"/>
    <p:sldId id="1270" r:id="rId166"/>
    <p:sldId id="976" r:id="rId167"/>
    <p:sldId id="951" r:id="rId168"/>
    <p:sldId id="369" r:id="rId169"/>
    <p:sldId id="1160" r:id="rId170"/>
    <p:sldId id="806" r:id="rId171"/>
    <p:sldId id="807" r:id="rId172"/>
    <p:sldId id="1272" r:id="rId173"/>
    <p:sldId id="1198" r:id="rId174"/>
    <p:sldId id="1190" r:id="rId175"/>
    <p:sldId id="1191" r:id="rId176"/>
    <p:sldId id="1192" r:id="rId177"/>
    <p:sldId id="1193" r:id="rId178"/>
    <p:sldId id="1194" r:id="rId179"/>
    <p:sldId id="1195" r:id="rId180"/>
    <p:sldId id="1273" r:id="rId181"/>
    <p:sldId id="1200" r:id="rId182"/>
    <p:sldId id="1215" r:id="rId183"/>
    <p:sldId id="1216" r:id="rId184"/>
    <p:sldId id="1204" r:id="rId185"/>
    <p:sldId id="1205" r:id="rId186"/>
    <p:sldId id="1206" r:id="rId187"/>
    <p:sldId id="1208" r:id="rId188"/>
    <p:sldId id="1210" r:id="rId189"/>
    <p:sldId id="1214" r:id="rId190"/>
    <p:sldId id="1274" r:id="rId191"/>
    <p:sldId id="1218" r:id="rId192"/>
    <p:sldId id="1219" r:id="rId193"/>
    <p:sldId id="1220" r:id="rId194"/>
    <p:sldId id="1221" r:id="rId195"/>
    <p:sldId id="1275" r:id="rId196"/>
    <p:sldId id="1171" r:id="rId197"/>
    <p:sldId id="1172" r:id="rId198"/>
    <p:sldId id="1173" r:id="rId199"/>
    <p:sldId id="1174" r:id="rId200"/>
    <p:sldId id="1448" r:id="rId201"/>
    <p:sldId id="1449" r:id="rId202"/>
    <p:sldId id="1450" r:id="rId203"/>
    <p:sldId id="1222" r:id="rId204"/>
    <p:sldId id="1276" r:id="rId205"/>
    <p:sldId id="1154" r:id="rId206"/>
    <p:sldId id="1155" r:id="rId207"/>
    <p:sldId id="810" r:id="rId208"/>
    <p:sldId id="811" r:id="rId209"/>
    <p:sldId id="812" r:id="rId210"/>
    <p:sldId id="1277" r:id="rId211"/>
    <p:sldId id="376" r:id="rId212"/>
    <p:sldId id="817" r:id="rId213"/>
    <p:sldId id="818" r:id="rId214"/>
    <p:sldId id="1451" r:id="rId215"/>
    <p:sldId id="1452" r:id="rId216"/>
    <p:sldId id="1453" r:id="rId217"/>
    <p:sldId id="430" r:id="rId218"/>
    <p:sldId id="432" r:id="rId219"/>
    <p:sldId id="1288" r:id="rId220"/>
    <p:sldId id="954" r:id="rId221"/>
    <p:sldId id="955" r:id="rId222"/>
    <p:sldId id="956" r:id="rId223"/>
    <p:sldId id="957" r:id="rId224"/>
    <p:sldId id="958" r:id="rId225"/>
    <p:sldId id="438" r:id="rId226"/>
    <p:sldId id="439" r:id="rId227"/>
    <p:sldId id="1432" r:id="rId228"/>
    <p:sldId id="1433" r:id="rId229"/>
    <p:sldId id="1434" r:id="rId230"/>
    <p:sldId id="1435" r:id="rId231"/>
    <p:sldId id="1436" r:id="rId232"/>
    <p:sldId id="444" r:id="rId233"/>
    <p:sldId id="1279" r:id="rId234"/>
    <p:sldId id="1278" r:id="rId235"/>
    <p:sldId id="1307" r:id="rId236"/>
    <p:sldId id="1308" r:id="rId237"/>
    <p:sldId id="1309" r:id="rId238"/>
    <p:sldId id="1310" r:id="rId239"/>
    <p:sldId id="1311" r:id="rId240"/>
    <p:sldId id="1312" r:id="rId241"/>
    <p:sldId id="1313" r:id="rId242"/>
    <p:sldId id="1314" r:id="rId243"/>
    <p:sldId id="1315" r:id="rId244"/>
    <p:sldId id="1316" r:id="rId245"/>
    <p:sldId id="1317" r:id="rId246"/>
    <p:sldId id="1458" r:id="rId247"/>
    <p:sldId id="1460" r:id="rId248"/>
    <p:sldId id="1461" r:id="rId249"/>
    <p:sldId id="1462" r:id="rId250"/>
    <p:sldId id="1463" r:id="rId251"/>
    <p:sldId id="1464" r:id="rId252"/>
    <p:sldId id="1465" r:id="rId253"/>
    <p:sldId id="1289" r:id="rId254"/>
    <p:sldId id="1290" r:id="rId255"/>
    <p:sldId id="1291" r:id="rId256"/>
    <p:sldId id="1292" r:id="rId257"/>
    <p:sldId id="1293" r:id="rId258"/>
    <p:sldId id="1294" r:id="rId259"/>
    <p:sldId id="1295" r:id="rId260"/>
    <p:sldId id="1296" r:id="rId261"/>
    <p:sldId id="1297" r:id="rId262"/>
    <p:sldId id="1298" r:id="rId263"/>
    <p:sldId id="1299" r:id="rId264"/>
    <p:sldId id="1300" r:id="rId265"/>
    <p:sldId id="1301" r:id="rId266"/>
    <p:sldId id="1302" r:id="rId267"/>
    <p:sldId id="1303" r:id="rId268"/>
    <p:sldId id="1304" r:id="rId269"/>
    <p:sldId id="1438" r:id="rId270"/>
    <p:sldId id="569" r:id="rId271"/>
    <p:sldId id="898" r:id="rId272"/>
    <p:sldId id="1439" r:id="rId273"/>
    <p:sldId id="1305" r:id="rId274"/>
    <p:sldId id="1306" r:id="rId275"/>
    <p:sldId id="1440" r:id="rId276"/>
    <p:sldId id="1441" r:id="rId277"/>
    <p:sldId id="1318" r:id="rId278"/>
    <p:sldId id="1319" r:id="rId279"/>
    <p:sldId id="1320" r:id="rId280"/>
    <p:sldId id="1321" r:id="rId281"/>
    <p:sldId id="1322" r:id="rId282"/>
    <p:sldId id="1323" r:id="rId283"/>
    <p:sldId id="1324" r:id="rId284"/>
    <p:sldId id="1325" r:id="rId285"/>
    <p:sldId id="1326" r:id="rId286"/>
    <p:sldId id="1327" r:id="rId287"/>
    <p:sldId id="1328" r:id="rId288"/>
    <p:sldId id="1329" r:id="rId289"/>
    <p:sldId id="1330" r:id="rId290"/>
    <p:sldId id="1331" r:id="rId291"/>
    <p:sldId id="1332" r:id="rId292"/>
    <p:sldId id="1333" r:id="rId293"/>
    <p:sldId id="1334" r:id="rId294"/>
    <p:sldId id="1335" r:id="rId295"/>
    <p:sldId id="1336" r:id="rId296"/>
    <p:sldId id="1337" r:id="rId297"/>
    <p:sldId id="1338" r:id="rId298"/>
    <p:sldId id="1339" r:id="rId299"/>
    <p:sldId id="1340" r:id="rId300"/>
    <p:sldId id="1341" r:id="rId301"/>
    <p:sldId id="1342" r:id="rId302"/>
    <p:sldId id="1343" r:id="rId303"/>
    <p:sldId id="1344" r:id="rId304"/>
    <p:sldId id="1345" r:id="rId305"/>
    <p:sldId id="1346" r:id="rId306"/>
    <p:sldId id="1347" r:id="rId307"/>
    <p:sldId id="1348" r:id="rId308"/>
    <p:sldId id="1349" r:id="rId309"/>
    <p:sldId id="1350" r:id="rId310"/>
    <p:sldId id="1351" r:id="rId311"/>
    <p:sldId id="1352" r:id="rId312"/>
    <p:sldId id="1353" r:id="rId313"/>
    <p:sldId id="1354" r:id="rId314"/>
    <p:sldId id="1355" r:id="rId315"/>
    <p:sldId id="1356" r:id="rId316"/>
    <p:sldId id="1357" r:id="rId317"/>
    <p:sldId id="1358" r:id="rId318"/>
    <p:sldId id="1359" r:id="rId319"/>
    <p:sldId id="1360" r:id="rId320"/>
    <p:sldId id="1361" r:id="rId321"/>
    <p:sldId id="1362" r:id="rId322"/>
    <p:sldId id="1363" r:id="rId323"/>
    <p:sldId id="1364" r:id="rId324"/>
    <p:sldId id="1365" r:id="rId325"/>
    <p:sldId id="1366" r:id="rId326"/>
    <p:sldId id="1367" r:id="rId327"/>
    <p:sldId id="1368" r:id="rId328"/>
    <p:sldId id="1369" r:id="rId329"/>
    <p:sldId id="1370" r:id="rId330"/>
    <p:sldId id="1371" r:id="rId331"/>
    <p:sldId id="1372" r:id="rId332"/>
    <p:sldId id="1373" r:id="rId333"/>
    <p:sldId id="1374" r:id="rId334"/>
    <p:sldId id="1375" r:id="rId335"/>
    <p:sldId id="1376" r:id="rId336"/>
    <p:sldId id="1377" r:id="rId337"/>
    <p:sldId id="1378" r:id="rId338"/>
    <p:sldId id="1379" r:id="rId339"/>
    <p:sldId id="1380" r:id="rId340"/>
    <p:sldId id="1381" r:id="rId341"/>
    <p:sldId id="1382" r:id="rId342"/>
    <p:sldId id="1383" r:id="rId343"/>
    <p:sldId id="1384" r:id="rId344"/>
    <p:sldId id="1385" r:id="rId345"/>
    <p:sldId id="1386" r:id="rId346"/>
    <p:sldId id="1387" r:id="rId347"/>
    <p:sldId id="1388" r:id="rId348"/>
    <p:sldId id="1389" r:id="rId349"/>
    <p:sldId id="1390" r:id="rId350"/>
    <p:sldId id="1391" r:id="rId351"/>
    <p:sldId id="1392" r:id="rId352"/>
    <p:sldId id="1393" r:id="rId353"/>
    <p:sldId id="1394" r:id="rId354"/>
    <p:sldId id="1395" r:id="rId355"/>
    <p:sldId id="1396" r:id="rId356"/>
    <p:sldId id="1397" r:id="rId357"/>
    <p:sldId id="1398" r:id="rId358"/>
    <p:sldId id="1399" r:id="rId359"/>
    <p:sldId id="1400" r:id="rId360"/>
    <p:sldId id="1401" r:id="rId361"/>
    <p:sldId id="1402" r:id="rId362"/>
    <p:sldId id="1403" r:id="rId363"/>
    <p:sldId id="1404" r:id="rId364"/>
    <p:sldId id="1405" r:id="rId365"/>
    <p:sldId id="1406" r:id="rId366"/>
    <p:sldId id="1407" r:id="rId367"/>
    <p:sldId id="1408" r:id="rId368"/>
    <p:sldId id="1409" r:id="rId369"/>
    <p:sldId id="1410" r:id="rId370"/>
    <p:sldId id="1411" r:id="rId371"/>
    <p:sldId id="1412" r:id="rId372"/>
    <p:sldId id="1413" r:id="rId373"/>
    <p:sldId id="1414" r:id="rId374"/>
    <p:sldId id="1415" r:id="rId375"/>
    <p:sldId id="1416" r:id="rId376"/>
    <p:sldId id="1417" r:id="rId377"/>
    <p:sldId id="1418" r:id="rId378"/>
    <p:sldId id="1419" r:id="rId379"/>
    <p:sldId id="1420" r:id="rId380"/>
    <p:sldId id="1421" r:id="rId381"/>
    <p:sldId id="1422" r:id="rId382"/>
    <p:sldId id="1423" r:id="rId383"/>
    <p:sldId id="1424" r:id="rId384"/>
    <p:sldId id="1425" r:id="rId385"/>
    <p:sldId id="1426" r:id="rId386"/>
    <p:sldId id="1427" r:id="rId387"/>
    <p:sldId id="1428" r:id="rId388"/>
    <p:sldId id="1429" r:id="rId389"/>
    <p:sldId id="1430" r:id="rId390"/>
    <p:sldId id="1431" r:id="rId391"/>
    <p:sldId id="986" r:id="rId392"/>
    <p:sldId id="987" r:id="rId393"/>
    <p:sldId id="988" r:id="rId394"/>
    <p:sldId id="989" r:id="rId395"/>
    <p:sldId id="990" r:id="rId396"/>
    <p:sldId id="991" r:id="rId397"/>
    <p:sldId id="992" r:id="rId398"/>
    <p:sldId id="993" r:id="rId399"/>
    <p:sldId id="994" r:id="rId400"/>
    <p:sldId id="995" r:id="rId401"/>
    <p:sldId id="996" r:id="rId402"/>
    <p:sldId id="997" r:id="rId403"/>
    <p:sldId id="998" r:id="rId404"/>
    <p:sldId id="999" r:id="rId405"/>
    <p:sldId id="1000" r:id="rId406"/>
    <p:sldId id="1001" r:id="rId407"/>
    <p:sldId id="1002" r:id="rId408"/>
    <p:sldId id="1003" r:id="rId409"/>
    <p:sldId id="1004" r:id="rId410"/>
    <p:sldId id="1005" r:id="rId411"/>
    <p:sldId id="1009" r:id="rId412"/>
    <p:sldId id="1010" r:id="rId413"/>
    <p:sldId id="1006" r:id="rId414"/>
    <p:sldId id="1007" r:id="rId415"/>
    <p:sldId id="1008" r:id="rId416"/>
    <p:sldId id="1011" r:id="rId417"/>
    <p:sldId id="1012" r:id="rId418"/>
    <p:sldId id="1013" r:id="rId419"/>
    <p:sldId id="1014" r:id="rId420"/>
    <p:sldId id="1015" r:id="rId421"/>
    <p:sldId id="1016" r:id="rId422"/>
    <p:sldId id="1017" r:id="rId423"/>
    <p:sldId id="1018" r:id="rId424"/>
    <p:sldId id="1019" r:id="rId425"/>
    <p:sldId id="1020" r:id="rId426"/>
    <p:sldId id="1021" r:id="rId427"/>
    <p:sldId id="1022" r:id="rId428"/>
    <p:sldId id="1023" r:id="rId429"/>
    <p:sldId id="1024" r:id="rId430"/>
    <p:sldId id="1025" r:id="rId431"/>
    <p:sldId id="1026" r:id="rId432"/>
    <p:sldId id="1027" r:id="rId433"/>
    <p:sldId id="1028" r:id="rId434"/>
    <p:sldId id="1029" r:id="rId435"/>
    <p:sldId id="1030" r:id="rId436"/>
    <p:sldId id="1031" r:id="rId437"/>
    <p:sldId id="1032" r:id="rId438"/>
    <p:sldId id="1486" r:id="rId439"/>
    <p:sldId id="1487" r:id="rId440"/>
    <p:sldId id="1033" r:id="rId441"/>
    <p:sldId id="1034" r:id="rId442"/>
    <p:sldId id="1035" r:id="rId443"/>
    <p:sldId id="1036" r:id="rId444"/>
    <p:sldId id="1037" r:id="rId445"/>
    <p:sldId id="1038" r:id="rId446"/>
    <p:sldId id="1039" r:id="rId447"/>
    <p:sldId id="1040" r:id="rId448"/>
    <p:sldId id="1041" r:id="rId449"/>
    <p:sldId id="1042" r:id="rId450"/>
    <p:sldId id="1043" r:id="rId451"/>
    <p:sldId id="1044" r:id="rId452"/>
    <p:sldId id="1045" r:id="rId453"/>
    <p:sldId id="1046" r:id="rId454"/>
    <p:sldId id="1047" r:id="rId455"/>
    <p:sldId id="1048" r:id="rId456"/>
    <p:sldId id="1049" r:id="rId457"/>
    <p:sldId id="1050" r:id="rId458"/>
    <p:sldId id="1051" r:id="rId459"/>
    <p:sldId id="1052" r:id="rId460"/>
    <p:sldId id="1053" r:id="rId461"/>
    <p:sldId id="1054" r:id="rId462"/>
    <p:sldId id="1055" r:id="rId463"/>
    <p:sldId id="1056" r:id="rId464"/>
    <p:sldId id="1057" r:id="rId465"/>
    <p:sldId id="1058" r:id="rId466"/>
    <p:sldId id="1059" r:id="rId467"/>
    <p:sldId id="1060" r:id="rId468"/>
    <p:sldId id="1061" r:id="rId469"/>
    <p:sldId id="1062" r:id="rId470"/>
    <p:sldId id="1063" r:id="rId471"/>
    <p:sldId id="1064" r:id="rId472"/>
    <p:sldId id="1065" r:id="rId473"/>
    <p:sldId id="1066" r:id="rId474"/>
    <p:sldId id="1067" r:id="rId475"/>
    <p:sldId id="1068" r:id="rId476"/>
    <p:sldId id="1069" r:id="rId477"/>
    <p:sldId id="1070" r:id="rId478"/>
    <p:sldId id="1071" r:id="rId479"/>
    <p:sldId id="1072" r:id="rId480"/>
    <p:sldId id="1073" r:id="rId481"/>
    <p:sldId id="1074" r:id="rId482"/>
    <p:sldId id="1075" r:id="rId483"/>
    <p:sldId id="1076" r:id="rId484"/>
    <p:sldId id="1077" r:id="rId485"/>
    <p:sldId id="1078" r:id="rId486"/>
    <p:sldId id="1079" r:id="rId487"/>
    <p:sldId id="1080" r:id="rId488"/>
    <p:sldId id="1081" r:id="rId489"/>
    <p:sldId id="1082" r:id="rId490"/>
    <p:sldId id="1083" r:id="rId491"/>
    <p:sldId id="1084" r:id="rId492"/>
    <p:sldId id="1085" r:id="rId493"/>
    <p:sldId id="1086" r:id="rId494"/>
    <p:sldId id="1087" r:id="rId495"/>
    <p:sldId id="1088" r:id="rId496"/>
    <p:sldId id="1089" r:id="rId497"/>
    <p:sldId id="1090" r:id="rId498"/>
    <p:sldId id="1091" r:id="rId499"/>
    <p:sldId id="1092" r:id="rId500"/>
    <p:sldId id="1093" r:id="rId501"/>
    <p:sldId id="1094" r:id="rId502"/>
    <p:sldId id="1095" r:id="rId503"/>
    <p:sldId id="1096" r:id="rId504"/>
    <p:sldId id="1097" r:id="rId505"/>
    <p:sldId id="1098" r:id="rId506"/>
    <p:sldId id="1099" r:id="rId507"/>
    <p:sldId id="1175" r:id="rId508"/>
    <p:sldId id="1176" r:id="rId509"/>
    <p:sldId id="1177" r:id="rId510"/>
    <p:sldId id="1178" r:id="rId511"/>
    <p:sldId id="1179" r:id="rId512"/>
    <p:sldId id="1180" r:id="rId513"/>
    <p:sldId id="1181" r:id="rId514"/>
    <p:sldId id="1182" r:id="rId515"/>
    <p:sldId id="1100" r:id="rId516"/>
    <p:sldId id="1101" r:id="rId517"/>
    <p:sldId id="1467" r:id="rId518"/>
    <p:sldId id="1102" r:id="rId519"/>
    <p:sldId id="1103" r:id="rId520"/>
    <p:sldId id="1104" r:id="rId521"/>
    <p:sldId id="1105" r:id="rId522"/>
    <p:sldId id="1106" r:id="rId523"/>
    <p:sldId id="1107" r:id="rId524"/>
    <p:sldId id="1108" r:id="rId525"/>
    <p:sldId id="1109" r:id="rId526"/>
    <p:sldId id="1110" r:id="rId527"/>
    <p:sldId id="1111" r:id="rId528"/>
    <p:sldId id="1112" r:id="rId529"/>
    <p:sldId id="1113" r:id="rId530"/>
    <p:sldId id="1114" r:id="rId531"/>
    <p:sldId id="1115" r:id="rId532"/>
    <p:sldId id="1116" r:id="rId533"/>
    <p:sldId id="1117" r:id="rId534"/>
    <p:sldId id="1118" r:id="rId535"/>
    <p:sldId id="1119" r:id="rId536"/>
    <p:sldId id="1120" r:id="rId537"/>
    <p:sldId id="1121" r:id="rId538"/>
    <p:sldId id="1122" r:id="rId539"/>
    <p:sldId id="1123" r:id="rId540"/>
    <p:sldId id="1124" r:id="rId541"/>
    <p:sldId id="1125" r:id="rId542"/>
    <p:sldId id="1126" r:id="rId543"/>
    <p:sldId id="1127" r:id="rId544"/>
    <p:sldId id="1128" r:id="rId545"/>
    <p:sldId id="1130" r:id="rId546"/>
    <p:sldId id="1131" r:id="rId547"/>
    <p:sldId id="1132" r:id="rId548"/>
    <p:sldId id="1133" r:id="rId549"/>
    <p:sldId id="1134" r:id="rId550"/>
    <p:sldId id="1135" r:id="rId551"/>
    <p:sldId id="1136" r:id="rId552"/>
    <p:sldId id="1137" r:id="rId553"/>
    <p:sldId id="1138" r:id="rId554"/>
    <p:sldId id="1139" r:id="rId555"/>
    <p:sldId id="1140" r:id="rId556"/>
    <p:sldId id="1141" r:id="rId557"/>
    <p:sldId id="1142" r:id="rId558"/>
    <p:sldId id="1143" r:id="rId559"/>
    <p:sldId id="1144" r:id="rId560"/>
    <p:sldId id="1145" r:id="rId561"/>
    <p:sldId id="1146" r:id="rId562"/>
    <p:sldId id="1147" r:id="rId563"/>
    <p:sldId id="1148" r:id="rId564"/>
    <p:sldId id="1149" r:id="rId565"/>
  </p:sldIdLst>
  <p:sldSz cx="9906000" cy="6858000" type="A4"/>
  <p:notesSz cx="6797675" cy="9926638"/>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E17E9566-FE8C-4BF9-8A43-99A4B4FC8091}">
          <p14:sldIdLst>
            <p14:sldId id="256"/>
            <p14:sldId id="1455"/>
            <p14:sldId id="627"/>
            <p14:sldId id="356"/>
            <p14:sldId id="1471"/>
            <p14:sldId id="1472"/>
            <p14:sldId id="1473"/>
            <p14:sldId id="1474"/>
            <p14:sldId id="1475"/>
            <p14:sldId id="1476"/>
          </p14:sldIdLst>
        </p14:section>
        <p14:section name="0. 메인" id="{55BBFC28-8799-4CF9-B657-B280BF4D26FE}">
          <p14:sldIdLst>
            <p14:sldId id="939"/>
          </p14:sldIdLst>
        </p14:section>
        <p14:section name="1.입찰공고 목록조회" id="{A88D8C4A-42D5-488C-851B-9A15CEB54A60}">
          <p14:sldIdLst>
            <p14:sldId id="940"/>
            <p14:sldId id="1468"/>
            <p14:sldId id="979"/>
            <p14:sldId id="941"/>
            <p14:sldId id="1165"/>
            <p14:sldId id="273"/>
            <p14:sldId id="292"/>
            <p14:sldId id="1466"/>
            <p14:sldId id="299"/>
            <p14:sldId id="300"/>
            <p14:sldId id="301"/>
            <p14:sldId id="791"/>
            <p14:sldId id="792"/>
            <p14:sldId id="793"/>
          </p14:sldIdLst>
        </p14:section>
        <p14:section name="2.입찰공고상세조회" id="{019FD015-75A8-4452-8691-168FACA46FB5}">
          <p14:sldIdLst>
            <p14:sldId id="968"/>
            <p14:sldId id="1469"/>
            <p14:sldId id="1488"/>
            <p14:sldId id="974"/>
            <p14:sldId id="1237"/>
            <p14:sldId id="1238"/>
            <p14:sldId id="1239"/>
            <p14:sldId id="1241"/>
            <p14:sldId id="1240"/>
            <p14:sldId id="1242"/>
            <p14:sldId id="1243"/>
            <p14:sldId id="1244"/>
            <p14:sldId id="1245"/>
            <p14:sldId id="1246"/>
            <p14:sldId id="1247"/>
            <p14:sldId id="1248"/>
            <p14:sldId id="1249"/>
            <p14:sldId id="1250"/>
            <p14:sldId id="1252"/>
            <p14:sldId id="1253"/>
            <p14:sldId id="980"/>
            <p14:sldId id="1161"/>
            <p14:sldId id="1235"/>
            <p14:sldId id="1470"/>
            <p14:sldId id="319"/>
            <p14:sldId id="1456"/>
            <p14:sldId id="1457"/>
            <p14:sldId id="314"/>
            <p14:sldId id="794"/>
            <p14:sldId id="795"/>
            <p14:sldId id="796"/>
            <p14:sldId id="315"/>
            <p14:sldId id="323"/>
            <p14:sldId id="329"/>
            <p14:sldId id="797"/>
            <p14:sldId id="798"/>
            <p14:sldId id="328"/>
            <p14:sldId id="324"/>
            <p14:sldId id="1477"/>
            <p14:sldId id="1478"/>
            <p14:sldId id="1479"/>
            <p14:sldId id="1480"/>
            <p14:sldId id="332"/>
            <p14:sldId id="804"/>
            <p14:sldId id="1489"/>
            <p14:sldId id="1490"/>
            <p14:sldId id="337"/>
            <p14:sldId id="803"/>
          </p14:sldIdLst>
        </p14:section>
        <p14:section name="3.입찰서제출" id="{B856F554-0727-4B46-BA7A-DB414609DAD9}">
          <p14:sldIdLst>
            <p14:sldId id="1258"/>
            <p14:sldId id="1269"/>
            <p14:sldId id="1481"/>
            <p14:sldId id="1482"/>
            <p14:sldId id="1483"/>
            <p14:sldId id="1484"/>
            <p14:sldId id="1485"/>
            <p14:sldId id="416"/>
            <p14:sldId id="1186"/>
            <p14:sldId id="830"/>
            <p14:sldId id="411"/>
            <p14:sldId id="417"/>
            <p14:sldId id="831"/>
            <p14:sldId id="412"/>
            <p14:sldId id="413"/>
            <p14:sldId id="1223"/>
            <p14:sldId id="1224"/>
            <p14:sldId id="1225"/>
            <p14:sldId id="418"/>
            <p14:sldId id="414"/>
            <p14:sldId id="833"/>
            <p14:sldId id="832"/>
            <p14:sldId id="620"/>
            <p14:sldId id="621"/>
          </p14:sldIdLst>
        </p14:section>
        <p14:section name="4플로팅 버튼, 환율 정보 조회" id="{CA0CF41C-EE37-42C1-8C41-F1437D8B9216}">
          <p14:sldIdLst>
            <p14:sldId id="1259"/>
            <p14:sldId id="340"/>
            <p14:sldId id="934"/>
            <p14:sldId id="310"/>
            <p14:sldId id="946"/>
            <p14:sldId id="1183"/>
            <p14:sldId id="1184"/>
            <p14:sldId id="339"/>
            <p14:sldId id="985"/>
          </p14:sldIdLst>
        </p14:section>
        <p14:section name="5.입찰취소포기" id="{2E497FC2-73CF-4653-8B18-669513F517F9}">
          <p14:sldIdLst>
            <p14:sldId id="1260"/>
            <p14:sldId id="1150"/>
            <p14:sldId id="1167"/>
            <p14:sldId id="1151"/>
            <p14:sldId id="1152"/>
            <p14:sldId id="1168"/>
            <p14:sldId id="1153"/>
          </p14:sldIdLst>
        </p14:section>
        <p14:section name="6.입찰참가신청서제출" id="{50ED3DEF-1BD0-448A-9764-5E89FDF10186}">
          <p14:sldIdLst>
            <p14:sldId id="1262"/>
            <p14:sldId id="1263"/>
            <p14:sldId id="1267"/>
            <p14:sldId id="1268"/>
            <p14:sldId id="362"/>
            <p14:sldId id="353"/>
            <p14:sldId id="351"/>
            <p14:sldId id="352"/>
            <p14:sldId id="821"/>
            <p14:sldId id="363"/>
            <p14:sldId id="1187"/>
            <p14:sldId id="366"/>
            <p14:sldId id="367"/>
            <p14:sldId id="381"/>
            <p14:sldId id="382"/>
            <p14:sldId id="355"/>
            <p14:sldId id="383"/>
            <p14:sldId id="822"/>
            <p14:sldId id="384"/>
            <p14:sldId id="385"/>
            <p14:sldId id="1442"/>
            <p14:sldId id="1443"/>
            <p14:sldId id="1444"/>
            <p14:sldId id="386"/>
            <p14:sldId id="823"/>
            <p14:sldId id="824"/>
            <p14:sldId id="825"/>
            <p14:sldId id="826"/>
            <p14:sldId id="827"/>
            <p14:sldId id="387"/>
            <p14:sldId id="388"/>
            <p14:sldId id="389"/>
            <p14:sldId id="390"/>
            <p14:sldId id="391"/>
            <p14:sldId id="392"/>
            <p14:sldId id="828"/>
          </p14:sldIdLst>
        </p14:section>
        <p14:section name="7.입찰참가등록반려신청" id="{99EF9F96-08EC-47D4-ACCF-DEEF450582CA}">
          <p14:sldIdLst>
            <p14:sldId id="1264"/>
            <p14:sldId id="1188"/>
            <p14:sldId id="1169"/>
            <p14:sldId id="1170"/>
          </p14:sldIdLst>
        </p14:section>
        <p14:section name="8.사전심사신청" id="{9A13498A-3C5D-4828-A0E2-F9CAC9EE1411}">
          <p14:sldIdLst>
            <p14:sldId id="1265"/>
            <p14:sldId id="400"/>
            <p14:sldId id="819"/>
            <p14:sldId id="820"/>
            <p14:sldId id="1445"/>
            <p14:sldId id="1446"/>
            <p14:sldId id="1447"/>
          </p14:sldIdLst>
        </p14:section>
        <p14:section name="9.기술평가결과조회" id="{66E55469-68D1-4D30-A886-F4033C5862D8}">
          <p14:sldIdLst>
            <p14:sldId id="1271"/>
            <p14:sldId id="379"/>
            <p14:sldId id="1156"/>
            <p14:sldId id="816"/>
          </p14:sldIdLst>
        </p14:section>
        <p14:section name="10.입찰진행 목록/상세" id="{72142622-FA4E-4D90-95BC-6816075B9BE0}">
          <p14:sldIdLst>
            <p14:sldId id="1270"/>
            <p14:sldId id="976"/>
            <p14:sldId id="951"/>
            <p14:sldId id="369"/>
            <p14:sldId id="1160"/>
            <p14:sldId id="806"/>
            <p14:sldId id="807"/>
          </p14:sldIdLst>
        </p14:section>
        <p14:section name="11.입찰진행상세-입찰서조회" id="{090DAEC0-C1A4-478D-BAFB-C4AE53CA18DC}">
          <p14:sldIdLst>
            <p14:sldId id="1272"/>
            <p14:sldId id="1198"/>
            <p14:sldId id="1190"/>
            <p14:sldId id="1191"/>
            <p14:sldId id="1192"/>
            <p14:sldId id="1193"/>
            <p14:sldId id="1194"/>
            <p14:sldId id="1195"/>
          </p14:sldIdLst>
        </p14:section>
        <p14:section name="11.입찰진행상세-입찰참가신청조회" id="{1E6E8757-5182-4663-83EE-7381E4ED6655}">
          <p14:sldIdLst>
            <p14:sldId id="1273"/>
            <p14:sldId id="1200"/>
            <p14:sldId id="1215"/>
            <p14:sldId id="1216"/>
            <p14:sldId id="1204"/>
            <p14:sldId id="1205"/>
            <p14:sldId id="1206"/>
            <p14:sldId id="1208"/>
            <p14:sldId id="1210"/>
            <p14:sldId id="1214"/>
          </p14:sldIdLst>
        </p14:section>
        <p14:section name="11.입찰진행상세-사전심사PQ신청서조회" id="{C42FD662-3F75-44CC-816E-75750EE9EF1A}">
          <p14:sldIdLst>
            <p14:sldId id="1274"/>
            <p14:sldId id="1218"/>
            <p14:sldId id="1219"/>
            <p14:sldId id="1220"/>
            <p14:sldId id="1221"/>
          </p14:sldIdLst>
        </p14:section>
        <p14:section name="11.입찰진행상세-사전심사PQ결과조회" id="{85EA6682-F663-4E81-B44E-7F3F111C3E44}">
          <p14:sldIdLst>
            <p14:sldId id="1275"/>
            <p14:sldId id="1171"/>
            <p14:sldId id="1172"/>
            <p14:sldId id="1173"/>
            <p14:sldId id="1174"/>
            <p14:sldId id="1448"/>
            <p14:sldId id="1449"/>
            <p14:sldId id="1450"/>
            <p14:sldId id="1222"/>
          </p14:sldIdLst>
        </p14:section>
        <p14:section name="11.입찰진행상세-입찰등록심사결과조회" id="{6AAEAAA2-6B9C-4BFB-AF64-6BD0A018110A}">
          <p14:sldIdLst>
            <p14:sldId id="1276"/>
            <p14:sldId id="1154"/>
            <p14:sldId id="1155"/>
            <p14:sldId id="810"/>
            <p14:sldId id="811"/>
            <p14:sldId id="812"/>
          </p14:sldIdLst>
        </p14:section>
        <p14:section name="12.생산능력서류제출" id="{AB300D8D-824F-48DB-8D27-AECDA7E6D6C6}">
          <p14:sldIdLst>
            <p14:sldId id="1277"/>
            <p14:sldId id="376"/>
            <p14:sldId id="817"/>
            <p14:sldId id="818"/>
            <p14:sldId id="1451"/>
            <p14:sldId id="1452"/>
            <p14:sldId id="1453"/>
          </p14:sldIdLst>
        </p14:section>
        <p14:section name="13.개찰목록 입찰결과상세" id="{B55A82DD-BF82-48E6-9A16-642B371930CB}">
          <p14:sldIdLst>
            <p14:sldId id="430"/>
            <p14:sldId id="432"/>
            <p14:sldId id="1288"/>
            <p14:sldId id="954"/>
            <p14:sldId id="955"/>
            <p14:sldId id="956"/>
            <p14:sldId id="957"/>
            <p14:sldId id="958"/>
            <p14:sldId id="438"/>
            <p14:sldId id="439"/>
            <p14:sldId id="1432"/>
            <p14:sldId id="1433"/>
            <p14:sldId id="1434"/>
            <p14:sldId id="1435"/>
            <p14:sldId id="1436"/>
            <p14:sldId id="444"/>
            <p14:sldId id="1279"/>
            <p14:sldId id="1278"/>
            <p14:sldId id="1307"/>
            <p14:sldId id="1308"/>
            <p14:sldId id="1309"/>
            <p14:sldId id="1310"/>
            <p14:sldId id="1311"/>
            <p14:sldId id="1312"/>
            <p14:sldId id="1313"/>
            <p14:sldId id="1314"/>
            <p14:sldId id="1315"/>
            <p14:sldId id="1316"/>
            <p14:sldId id="1317"/>
            <p14:sldId id="1458"/>
            <p14:sldId id="1460"/>
            <p14:sldId id="1461"/>
            <p14:sldId id="1462"/>
            <p14:sldId id="1463"/>
            <p14:sldId id="1464"/>
            <p14:sldId id="1465"/>
          </p14:sldIdLst>
        </p14:section>
        <p14:section name="14.이행적격심사신청" id="{59356F56-ECE8-4C3D-B73E-7217371421EF}">
          <p14:sldIdLst>
            <p14:sldId id="1289"/>
            <p14:sldId id="1290"/>
            <p14:sldId id="1291"/>
            <p14:sldId id="1292"/>
            <p14:sldId id="1293"/>
            <p14:sldId id="1294"/>
            <p14:sldId id="1295"/>
            <p14:sldId id="1296"/>
          </p14:sldIdLst>
        </p14:section>
        <p14:section name="15.이행적격심사신청조회" id="{EAFC3654-465C-440B-8920-B43E81A759DC}">
          <p14:sldIdLst>
            <p14:sldId id="1297"/>
            <p14:sldId id="1298"/>
            <p14:sldId id="1299"/>
            <p14:sldId id="1300"/>
            <p14:sldId id="1301"/>
            <p14:sldId id="1302"/>
            <p14:sldId id="1303"/>
            <p14:sldId id="1304"/>
          </p14:sldIdLst>
        </p14:section>
        <p14:section name="16.이행적격심사포기신청" id="{527EFDDE-C346-4782-A77E-C67ABADEE1EC}">
          <p14:sldIdLst>
            <p14:sldId id="1438"/>
            <p14:sldId id="569"/>
            <p14:sldId id="898"/>
          </p14:sldIdLst>
        </p14:section>
        <p14:section name="17.이행적격심사포기신청조회" id="{835A09F2-6393-4DEF-B4ED-A07DA37CD376}">
          <p14:sldIdLst>
            <p14:sldId id="1439"/>
            <p14:sldId id="1305"/>
            <p14:sldId id="1306"/>
          </p14:sldIdLst>
        </p14:section>
        <p14:section name="18.이행적격심사결과상세" id="{8FD98FCF-C4B9-4E02-916F-3401918AF5C5}">
          <p14:sldIdLst>
            <p14:sldId id="1440"/>
            <p14:sldId id="1441"/>
            <p14:sldId id="1318"/>
            <p14:sldId id="1319"/>
            <p14:sldId id="1320"/>
            <p14:sldId id="1321"/>
            <p14:sldId id="1322"/>
            <p14:sldId id="1323"/>
            <p14:sldId id="1324"/>
            <p14:sldId id="1325"/>
            <p14:sldId id="1326"/>
            <p14:sldId id="1327"/>
            <p14:sldId id="1328"/>
            <p14:sldId id="1329"/>
            <p14:sldId id="1330"/>
            <p14:sldId id="1331"/>
            <p14:sldId id="1332"/>
            <p14:sldId id="1333"/>
            <p14:sldId id="1334"/>
            <p14:sldId id="1335"/>
            <p14:sldId id="1336"/>
            <p14:sldId id="1337"/>
            <p14:sldId id="1338"/>
            <p14:sldId id="1339"/>
            <p14:sldId id="1340"/>
            <p14:sldId id="1341"/>
            <p14:sldId id="1342"/>
            <p14:sldId id="1343"/>
            <p14:sldId id="1344"/>
            <p14:sldId id="1345"/>
            <p14:sldId id="1346"/>
            <p14:sldId id="1347"/>
            <p14:sldId id="1348"/>
            <p14:sldId id="1349"/>
            <p14:sldId id="1350"/>
            <p14:sldId id="1351"/>
            <p14:sldId id="1352"/>
            <p14:sldId id="1353"/>
            <p14:sldId id="1354"/>
            <p14:sldId id="1355"/>
            <p14:sldId id="1356"/>
            <p14:sldId id="1357"/>
            <p14:sldId id="1358"/>
            <p14:sldId id="1359"/>
            <p14:sldId id="1360"/>
            <p14:sldId id="1361"/>
            <p14:sldId id="1362"/>
            <p14:sldId id="1363"/>
            <p14:sldId id="1364"/>
            <p14:sldId id="1365"/>
            <p14:sldId id="1366"/>
            <p14:sldId id="1367"/>
            <p14:sldId id="1368"/>
            <p14:sldId id="1369"/>
            <p14:sldId id="1370"/>
            <p14:sldId id="1371"/>
            <p14:sldId id="1372"/>
            <p14:sldId id="1373"/>
            <p14:sldId id="1374"/>
            <p14:sldId id="1375"/>
            <p14:sldId id="1376"/>
            <p14:sldId id="1377"/>
            <p14:sldId id="1378"/>
            <p14:sldId id="1379"/>
            <p14:sldId id="1380"/>
            <p14:sldId id="1381"/>
            <p14:sldId id="1382"/>
            <p14:sldId id="1383"/>
            <p14:sldId id="1384"/>
            <p14:sldId id="1385"/>
            <p14:sldId id="1386"/>
            <p14:sldId id="1387"/>
            <p14:sldId id="1388"/>
            <p14:sldId id="1389"/>
            <p14:sldId id="1390"/>
            <p14:sldId id="1391"/>
            <p14:sldId id="1392"/>
            <p14:sldId id="1393"/>
            <p14:sldId id="1394"/>
            <p14:sldId id="1395"/>
            <p14:sldId id="1396"/>
            <p14:sldId id="1397"/>
            <p14:sldId id="1398"/>
            <p14:sldId id="1399"/>
            <p14:sldId id="1400"/>
            <p14:sldId id="1401"/>
            <p14:sldId id="1402"/>
            <p14:sldId id="1403"/>
            <p14:sldId id="1404"/>
            <p14:sldId id="1405"/>
            <p14:sldId id="1406"/>
            <p14:sldId id="1407"/>
            <p14:sldId id="1408"/>
            <p14:sldId id="1409"/>
            <p14:sldId id="1410"/>
            <p14:sldId id="1411"/>
            <p14:sldId id="1412"/>
            <p14:sldId id="1413"/>
            <p14:sldId id="1414"/>
            <p14:sldId id="1415"/>
            <p14:sldId id="1416"/>
            <p14:sldId id="1417"/>
            <p14:sldId id="1418"/>
            <p14:sldId id="1419"/>
            <p14:sldId id="1420"/>
            <p14:sldId id="1421"/>
            <p14:sldId id="1422"/>
            <p14:sldId id="1423"/>
            <p14:sldId id="1424"/>
            <p14:sldId id="1425"/>
            <p14:sldId id="1426"/>
            <p14:sldId id="1427"/>
            <p14:sldId id="1428"/>
            <p14:sldId id="1429"/>
            <p14:sldId id="1430"/>
            <p14:sldId id="1431"/>
          </p14:sldIdLst>
        </p14:section>
        <p14:section name="[국외] 입찰공고" id="{65A9D0DA-6746-46CD-8543-32D071B186A6}">
          <p14:sldIdLst>
            <p14:sldId id="986"/>
            <p14:sldId id="987"/>
            <p14:sldId id="988"/>
            <p14:sldId id="989"/>
            <p14:sldId id="990"/>
            <p14:sldId id="991"/>
            <p14:sldId id="992"/>
            <p14:sldId id="993"/>
            <p14:sldId id="994"/>
            <p14:sldId id="995"/>
            <p14:sldId id="996"/>
            <p14:sldId id="997"/>
            <p14:sldId id="998"/>
            <p14:sldId id="999"/>
            <p14:sldId id="1000"/>
            <p14:sldId id="1001"/>
            <p14:sldId id="1002"/>
            <p14:sldId id="1003"/>
            <p14:sldId id="1004"/>
            <p14:sldId id="1005"/>
            <p14:sldId id="1009"/>
            <p14:sldId id="1010"/>
            <p14:sldId id="1006"/>
            <p14:sldId id="1007"/>
            <p14:sldId id="1008"/>
            <p14:sldId id="1011"/>
            <p14:sldId id="1012"/>
            <p14:sldId id="1013"/>
            <p14:sldId id="1014"/>
            <p14:sldId id="1015"/>
            <p14:sldId id="1016"/>
            <p14:sldId id="1017"/>
            <p14:sldId id="1018"/>
            <p14:sldId id="1019"/>
            <p14:sldId id="1020"/>
            <p14:sldId id="1021"/>
            <p14:sldId id="1022"/>
            <p14:sldId id="1023"/>
            <p14:sldId id="1024"/>
            <p14:sldId id="1025"/>
            <p14:sldId id="1026"/>
          </p14:sldIdLst>
        </p14:section>
        <p14:section name="[국외] 입찰진행" id="{8F8B0E34-4114-4555-BC11-FA6CE5A64ADD}">
          <p14:sldIdLst>
            <p14:sldId id="1027"/>
            <p14:sldId id="1028"/>
            <p14:sldId id="1029"/>
            <p14:sldId id="1030"/>
            <p14:sldId id="1031"/>
            <p14:sldId id="1032"/>
            <p14:sldId id="1486"/>
            <p14:sldId id="1487"/>
            <p14:sldId id="1033"/>
            <p14:sldId id="1034"/>
            <p14:sldId id="1035"/>
            <p14:sldId id="1036"/>
            <p14:sldId id="1037"/>
            <p14:sldId id="1038"/>
            <p14:sldId id="1039"/>
            <p14:sldId id="1040"/>
            <p14:sldId id="1041"/>
            <p14:sldId id="1042"/>
            <p14:sldId id="1043"/>
            <p14:sldId id="1044"/>
            <p14:sldId id="1045"/>
            <p14:sldId id="1046"/>
            <p14:sldId id="1047"/>
            <p14:sldId id="1048"/>
            <p14:sldId id="1049"/>
            <p14:sldId id="1050"/>
            <p14:sldId id="1051"/>
            <p14:sldId id="1052"/>
            <p14:sldId id="1053"/>
            <p14:sldId id="1054"/>
            <p14:sldId id="1055"/>
            <p14:sldId id="1056"/>
            <p14:sldId id="1057"/>
            <p14:sldId id="1058"/>
            <p14:sldId id="1059"/>
            <p14:sldId id="1060"/>
            <p14:sldId id="1061"/>
            <p14:sldId id="1062"/>
            <p14:sldId id="1063"/>
            <p14:sldId id="1064"/>
            <p14:sldId id="1065"/>
            <p14:sldId id="1066"/>
            <p14:sldId id="1067"/>
            <p14:sldId id="1068"/>
            <p14:sldId id="1069"/>
            <p14:sldId id="1070"/>
            <p14:sldId id="1071"/>
            <p14:sldId id="1072"/>
            <p14:sldId id="1073"/>
            <p14:sldId id="1074"/>
            <p14:sldId id="1075"/>
            <p14:sldId id="1076"/>
            <p14:sldId id="1077"/>
            <p14:sldId id="1078"/>
            <p14:sldId id="1079"/>
            <p14:sldId id="1080"/>
            <p14:sldId id="1081"/>
            <p14:sldId id="1082"/>
            <p14:sldId id="1083"/>
            <p14:sldId id="1084"/>
            <p14:sldId id="1085"/>
            <p14:sldId id="1086"/>
            <p14:sldId id="1087"/>
            <p14:sldId id="1088"/>
            <p14:sldId id="1089"/>
            <p14:sldId id="1090"/>
            <p14:sldId id="1091"/>
            <p14:sldId id="1092"/>
            <p14:sldId id="1093"/>
            <p14:sldId id="1094"/>
            <p14:sldId id="1095"/>
            <p14:sldId id="1096"/>
            <p14:sldId id="1097"/>
            <p14:sldId id="1098"/>
            <p14:sldId id="1099"/>
            <p14:sldId id="1175"/>
            <p14:sldId id="1176"/>
            <p14:sldId id="1177"/>
            <p14:sldId id="1178"/>
            <p14:sldId id="1179"/>
            <p14:sldId id="1180"/>
            <p14:sldId id="1181"/>
            <p14:sldId id="1182"/>
          </p14:sldIdLst>
        </p14:section>
        <p14:section name="[국외] 개찰" id="{8BF51E7C-1E7A-41BF-BAD4-6362867269E7}">
          <p14:sldIdLst>
            <p14:sldId id="1100"/>
            <p14:sldId id="1101"/>
            <p14:sldId id="1467"/>
            <p14:sldId id="1102"/>
            <p14:sldId id="1103"/>
            <p14:sldId id="1104"/>
            <p14:sldId id="1105"/>
            <p14:sldId id="1106"/>
            <p14:sldId id="1107"/>
            <p14:sldId id="1108"/>
            <p14:sldId id="1109"/>
            <p14:sldId id="1110"/>
            <p14:sldId id="1111"/>
            <p14:sldId id="1112"/>
            <p14:sldId id="1113"/>
            <p14:sldId id="1114"/>
            <p14:sldId id="1115"/>
            <p14:sldId id="1116"/>
            <p14:sldId id="1117"/>
            <p14:sldId id="1118"/>
            <p14:sldId id="1119"/>
            <p14:sldId id="1120"/>
            <p14:sldId id="1121"/>
            <p14:sldId id="1122"/>
            <p14:sldId id="1123"/>
            <p14:sldId id="1124"/>
            <p14:sldId id="1125"/>
            <p14:sldId id="1126"/>
            <p14:sldId id="1127"/>
            <p14:sldId id="1128"/>
            <p14:sldId id="1130"/>
            <p14:sldId id="1131"/>
            <p14:sldId id="1132"/>
            <p14:sldId id="1133"/>
            <p14:sldId id="1134"/>
            <p14:sldId id="1135"/>
            <p14:sldId id="1136"/>
            <p14:sldId id="1137"/>
            <p14:sldId id="1138"/>
            <p14:sldId id="1139"/>
            <p14:sldId id="1140"/>
            <p14:sldId id="1141"/>
            <p14:sldId id="1142"/>
            <p14:sldId id="1143"/>
            <p14:sldId id="1144"/>
            <p14:sldId id="1145"/>
            <p14:sldId id="1146"/>
            <p14:sldId id="1147"/>
            <p14:sldId id="1148"/>
            <p14:sldId id="1149"/>
          </p14:sldIdLst>
        </p14:section>
      </p14:sectionLst>
    </p:ex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6E6"/>
    <a:srgbClr val="BFBFBF"/>
    <a:srgbClr val="0070C0"/>
    <a:srgbClr val="0F4294"/>
    <a:srgbClr val="EFC3C3"/>
    <a:srgbClr val="000000"/>
    <a:srgbClr val="0D0D0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밝은 스타일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6" autoAdjust="0"/>
    <p:restoredTop sz="94660"/>
  </p:normalViewPr>
  <p:slideViewPr>
    <p:cSldViewPr snapToGrid="0">
      <p:cViewPr varScale="1">
        <p:scale>
          <a:sx n="110" d="100"/>
          <a:sy n="110" d="100"/>
        </p:scale>
        <p:origin x="1056" y="102"/>
      </p:cViewPr>
      <p:guideLst>
        <p:guide orient="horz" pos="2160"/>
        <p:guide pos="3120"/>
      </p:guideLst>
    </p:cSldViewPr>
  </p:slideViewPr>
  <p:notesTextViewPr>
    <p:cViewPr>
      <p:scale>
        <a:sx n="3" d="2"/>
        <a:sy n="3" d="2"/>
      </p:scale>
      <p:origin x="0" y="0"/>
    </p:cViewPr>
  </p:notesTextViewPr>
  <p:notesViewPr>
    <p:cSldViewPr snapToGrid="0">
      <p:cViewPr varScale="1">
        <p:scale>
          <a:sx n="81" d="100"/>
          <a:sy n="81" d="100"/>
        </p:scale>
        <p:origin x="3996" y="84"/>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170" Type="http://schemas.openxmlformats.org/officeDocument/2006/relationships/slide" Target="slides/slide169.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279" Type="http://schemas.openxmlformats.org/officeDocument/2006/relationships/slide" Target="slides/slide278.xml"/><Relationship Id="rId486" Type="http://schemas.openxmlformats.org/officeDocument/2006/relationships/slide" Target="slides/slide485.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497" Type="http://schemas.openxmlformats.org/officeDocument/2006/relationships/slide" Target="slides/slide496.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424" Type="http://schemas.openxmlformats.org/officeDocument/2006/relationships/slide" Target="slides/slide423.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502" Type="http://schemas.openxmlformats.org/officeDocument/2006/relationships/slide" Target="slides/slide501.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44" Type="http://schemas.openxmlformats.org/officeDocument/2006/relationships/slide" Target="slides/slide543.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slide" Target="slides/slide487.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513" Type="http://schemas.openxmlformats.org/officeDocument/2006/relationships/slide" Target="slides/slide512.xml"/><Relationship Id="rId555" Type="http://schemas.openxmlformats.org/officeDocument/2006/relationships/slide" Target="slides/slide554.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499" Type="http://schemas.openxmlformats.org/officeDocument/2006/relationships/slide" Target="slides/slide498.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524" Type="http://schemas.openxmlformats.org/officeDocument/2006/relationships/slide" Target="slides/slide523.xml"/><Relationship Id="rId566" Type="http://schemas.openxmlformats.org/officeDocument/2006/relationships/notesMaster" Target="notesMasters/notesMaster1.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535" Type="http://schemas.openxmlformats.org/officeDocument/2006/relationships/slide" Target="slides/slide534.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slide" Target="slides/slide478.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slide" Target="slides/slide489.xml"/><Relationship Id="rId504" Type="http://schemas.openxmlformats.org/officeDocument/2006/relationships/slide" Target="slides/slide503.xml"/><Relationship Id="rId546" Type="http://schemas.openxmlformats.org/officeDocument/2006/relationships/slide" Target="slides/slide545.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557" Type="http://schemas.openxmlformats.org/officeDocument/2006/relationships/slide" Target="slides/slide556.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26" Type="http://schemas.openxmlformats.org/officeDocument/2006/relationships/slide" Target="slides/slide525.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presProps" Target="presProps.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slide" Target="slides/slide480.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537" Type="http://schemas.openxmlformats.org/officeDocument/2006/relationships/slide" Target="slides/slide536.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506" Type="http://schemas.openxmlformats.org/officeDocument/2006/relationships/slide" Target="slides/slide505.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slide" Target="slides/slide491.xml"/><Relationship Id="rId548" Type="http://schemas.openxmlformats.org/officeDocument/2006/relationships/slide" Target="slides/slide547.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517" Type="http://schemas.openxmlformats.org/officeDocument/2006/relationships/slide" Target="slides/slide516.xml"/><Relationship Id="rId559" Type="http://schemas.openxmlformats.org/officeDocument/2006/relationships/slide" Target="slides/slide558.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570" Type="http://schemas.openxmlformats.org/officeDocument/2006/relationships/theme" Target="theme/theme1.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528" Type="http://schemas.openxmlformats.org/officeDocument/2006/relationships/slide" Target="slides/slide527.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slide" Target="slides/slide482.xml"/><Relationship Id="rId539" Type="http://schemas.openxmlformats.org/officeDocument/2006/relationships/slide" Target="slides/slide538.xml"/><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550" Type="http://schemas.openxmlformats.org/officeDocument/2006/relationships/slide" Target="slides/slide549.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slide" Target="slides/slide493.xml"/><Relationship Id="rId508" Type="http://schemas.openxmlformats.org/officeDocument/2006/relationships/slide" Target="slides/slide507.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561" Type="http://schemas.openxmlformats.org/officeDocument/2006/relationships/slide" Target="slides/slide560.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519" Type="http://schemas.openxmlformats.org/officeDocument/2006/relationships/slide" Target="slides/slide518.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530" Type="http://schemas.openxmlformats.org/officeDocument/2006/relationships/slide" Target="slides/slide529.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225" Type="http://schemas.openxmlformats.org/officeDocument/2006/relationships/slide" Target="slides/slide224.xml"/><Relationship Id="rId267" Type="http://schemas.openxmlformats.org/officeDocument/2006/relationships/slide" Target="slides/slide266.xml"/><Relationship Id="rId432" Type="http://schemas.openxmlformats.org/officeDocument/2006/relationships/slide" Target="slides/slide431.xml"/><Relationship Id="rId474" Type="http://schemas.openxmlformats.org/officeDocument/2006/relationships/slide" Target="slides/slide473.xml"/><Relationship Id="rId127" Type="http://schemas.openxmlformats.org/officeDocument/2006/relationships/slide" Target="slides/slide126.xml"/><Relationship Id="rId31" Type="http://schemas.openxmlformats.org/officeDocument/2006/relationships/slide" Target="slides/slide30.xml"/><Relationship Id="rId73" Type="http://schemas.openxmlformats.org/officeDocument/2006/relationships/slide" Target="slides/slide72.xml"/><Relationship Id="rId169" Type="http://schemas.openxmlformats.org/officeDocument/2006/relationships/slide" Target="slides/slide168.xml"/><Relationship Id="rId334" Type="http://schemas.openxmlformats.org/officeDocument/2006/relationships/slide" Target="slides/slide333.xml"/><Relationship Id="rId376" Type="http://schemas.openxmlformats.org/officeDocument/2006/relationships/slide" Target="slides/slide375.xml"/><Relationship Id="rId541" Type="http://schemas.openxmlformats.org/officeDocument/2006/relationships/slide" Target="slides/slide540.xml"/><Relationship Id="rId4" Type="http://schemas.openxmlformats.org/officeDocument/2006/relationships/slide" Target="slides/slide3.xml"/><Relationship Id="rId180" Type="http://schemas.openxmlformats.org/officeDocument/2006/relationships/slide" Target="slides/slide179.xml"/><Relationship Id="rId236" Type="http://schemas.openxmlformats.org/officeDocument/2006/relationships/slide" Target="slides/slide235.xml"/><Relationship Id="rId278" Type="http://schemas.openxmlformats.org/officeDocument/2006/relationships/slide" Target="slides/slide277.xml"/><Relationship Id="rId401" Type="http://schemas.openxmlformats.org/officeDocument/2006/relationships/slide" Target="slides/slide400.xml"/><Relationship Id="rId443" Type="http://schemas.openxmlformats.org/officeDocument/2006/relationships/slide" Target="slides/slide442.xml"/><Relationship Id="rId303" Type="http://schemas.openxmlformats.org/officeDocument/2006/relationships/slide" Target="slides/slide302.xml"/><Relationship Id="rId485" Type="http://schemas.openxmlformats.org/officeDocument/2006/relationships/slide" Target="slides/slide484.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510" Type="http://schemas.openxmlformats.org/officeDocument/2006/relationships/slide" Target="slides/slide509.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496" Type="http://schemas.openxmlformats.org/officeDocument/2006/relationships/slide" Target="slides/slide495.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521" Type="http://schemas.openxmlformats.org/officeDocument/2006/relationships/slide" Target="slides/slide520.xml"/><Relationship Id="rId563" Type="http://schemas.openxmlformats.org/officeDocument/2006/relationships/slide" Target="slides/slide562.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532" Type="http://schemas.openxmlformats.org/officeDocument/2006/relationships/slide" Target="slides/slide531.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501" Type="http://schemas.openxmlformats.org/officeDocument/2006/relationships/slide" Target="slides/slide500.xml"/><Relationship Id="rId543" Type="http://schemas.openxmlformats.org/officeDocument/2006/relationships/slide" Target="slides/slide542.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slide" Target="slides/slide486.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512" Type="http://schemas.openxmlformats.org/officeDocument/2006/relationships/slide" Target="slides/slide511.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54" Type="http://schemas.openxmlformats.org/officeDocument/2006/relationships/slide" Target="slides/slide553.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498" Type="http://schemas.openxmlformats.org/officeDocument/2006/relationships/slide" Target="slides/slide497.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23" Type="http://schemas.openxmlformats.org/officeDocument/2006/relationships/slide" Target="slides/slide522.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534" Type="http://schemas.openxmlformats.org/officeDocument/2006/relationships/slide" Target="slides/slide533.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slide" Target="slides/slide477.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503" Type="http://schemas.openxmlformats.org/officeDocument/2006/relationships/slide" Target="slides/slide502.xml"/><Relationship Id="rId545" Type="http://schemas.openxmlformats.org/officeDocument/2006/relationships/slide" Target="slides/slide544.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slide" Target="slides/slide488.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514" Type="http://schemas.openxmlformats.org/officeDocument/2006/relationships/slide" Target="slides/slide513.xml"/><Relationship Id="rId556" Type="http://schemas.openxmlformats.org/officeDocument/2006/relationships/slide" Target="slides/slide555.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525" Type="http://schemas.openxmlformats.org/officeDocument/2006/relationships/slide" Target="slides/slide524.xml"/><Relationship Id="rId567" Type="http://schemas.openxmlformats.org/officeDocument/2006/relationships/handoutMaster" Target="handoutMasters/handoutMaster1.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slide" Target="slides/slide479.xml"/><Relationship Id="rId536" Type="http://schemas.openxmlformats.org/officeDocument/2006/relationships/slide" Target="slides/slide535.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547" Type="http://schemas.openxmlformats.org/officeDocument/2006/relationships/slide" Target="slides/slide546.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viewProps" Target="viewProps.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tableStyles" Target="tableStyles.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299" Type="http://schemas.openxmlformats.org/officeDocument/2006/relationships/slide" Target="slides/slide298.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226" Type="http://schemas.openxmlformats.org/officeDocument/2006/relationships/slide" Target="slides/slide225.xml"/><Relationship Id="rId433" Type="http://schemas.openxmlformats.org/officeDocument/2006/relationships/slide" Target="slides/slide432.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 Type="http://schemas.openxmlformats.org/officeDocument/2006/relationships/slide" Target="slides/slide4.xml"/><Relationship Id="rId237" Type="http://schemas.openxmlformats.org/officeDocument/2006/relationships/slide" Target="slides/slide236.xml"/><Relationship Id="rId444" Type="http://schemas.openxmlformats.org/officeDocument/2006/relationships/slide" Target="slides/slide443.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85" Type="http://schemas.openxmlformats.org/officeDocument/2006/relationships/slide" Target="slides/slide84.xml"/><Relationship Id="rId150" Type="http://schemas.openxmlformats.org/officeDocument/2006/relationships/slide" Target="slides/slide149.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259" Type="http://schemas.openxmlformats.org/officeDocument/2006/relationships/slide" Target="slides/slide258.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49688" y="0"/>
            <a:ext cx="2946400" cy="496888"/>
          </a:xfrm>
          <a:prstGeom prst="rect">
            <a:avLst/>
          </a:prstGeom>
        </p:spPr>
        <p:txBody>
          <a:bodyPr vert="horz" lIns="91440" tIns="45720" rIns="91440" bIns="45720" rtlCol="0"/>
          <a:lstStyle>
            <a:lvl1pPr algn="r">
              <a:defRPr sz="1200"/>
            </a:lvl1pPr>
          </a:lstStyle>
          <a:p>
            <a:fld id="{8F486772-663E-498C-98A4-55676C0C79D5}" type="datetimeFigureOut">
              <a:rPr lang="ko-KR" altLang="en-US" smtClean="0"/>
              <a:t>2026-08-19 (Wednesday)</a:t>
            </a:fld>
            <a:endParaRPr lang="ko-KR" altLang="en-US"/>
          </a:p>
        </p:txBody>
      </p:sp>
      <p:sp>
        <p:nvSpPr>
          <p:cNvPr id="4" name="바닥글 개체 틀 3"/>
          <p:cNvSpPr>
            <a:spLocks noGrp="1"/>
          </p:cNvSpPr>
          <p:nvPr>
            <p:ph type="ftr" sz="quarter" idx="2"/>
          </p:nvPr>
        </p:nvSpPr>
        <p:spPr>
          <a:xfrm>
            <a:off x="0" y="9429750"/>
            <a:ext cx="2946400" cy="496888"/>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49688" y="9429750"/>
            <a:ext cx="2946400" cy="496888"/>
          </a:xfrm>
          <a:prstGeom prst="rect">
            <a:avLst/>
          </a:prstGeom>
        </p:spPr>
        <p:txBody>
          <a:bodyPr vert="horz" lIns="91440" tIns="45720" rIns="91440" bIns="45720" rtlCol="0" anchor="b"/>
          <a:lstStyle>
            <a:lvl1pPr algn="r">
              <a:defRPr sz="1200"/>
            </a:lvl1pPr>
          </a:lstStyle>
          <a:p>
            <a:fld id="{BA728BB6-27BE-4996-B82F-8E6CE98335C9}" type="slidenum">
              <a:rPr lang="ko-KR" altLang="en-US" smtClean="0"/>
              <a:t>‹#›</a:t>
            </a:fld>
            <a:endParaRPr lang="ko-KR" altLang="en-US"/>
          </a:p>
        </p:txBody>
      </p:sp>
    </p:spTree>
    <p:extLst>
      <p:ext uri="{BB962C8B-B14F-4D97-AF65-F5344CB8AC3E}">
        <p14:creationId xmlns:p14="http://schemas.microsoft.com/office/powerpoint/2010/main" val="422190483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29880DED-BD55-4631-A63F-CC2459F192F4}" type="datetimeFigureOut">
              <a:rPr lang="ko-KR" altLang="en-US" smtClean="0"/>
              <a:t>2026-08-19 (Wednesday)</a:t>
            </a:fld>
            <a:endParaRPr lang="ko-KR" altLang="en-US"/>
          </a:p>
        </p:txBody>
      </p:sp>
      <p:sp>
        <p:nvSpPr>
          <p:cNvPr id="4" name="슬라이드 이미지 개체 틀 3"/>
          <p:cNvSpPr>
            <a:spLocks noGrp="1" noRot="1" noChangeAspect="1"/>
          </p:cNvSpPr>
          <p:nvPr>
            <p:ph type="sldImg" idx="2"/>
          </p:nvPr>
        </p:nvSpPr>
        <p:spPr>
          <a:xfrm>
            <a:off x="981075" y="1241425"/>
            <a:ext cx="4835525" cy="3349625"/>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51E14ED1-D705-4645-B89F-2D03A70CCA77}" type="slidenum">
              <a:rPr lang="ko-KR" altLang="en-US" smtClean="0"/>
              <a:t>‹#›</a:t>
            </a:fld>
            <a:endParaRPr lang="ko-KR" altLang="en-US"/>
          </a:p>
        </p:txBody>
      </p:sp>
    </p:spTree>
    <p:extLst>
      <p:ext uri="{BB962C8B-B14F-4D97-AF65-F5344CB8AC3E}">
        <p14:creationId xmlns:p14="http://schemas.microsoft.com/office/powerpoint/2010/main" val="104773054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0</a:t>
            </a:fld>
            <a:endParaRPr lang="ko-KR" altLang="en-US" dirty="0"/>
          </a:p>
        </p:txBody>
      </p:sp>
    </p:spTree>
    <p:extLst>
      <p:ext uri="{BB962C8B-B14F-4D97-AF65-F5344CB8AC3E}">
        <p14:creationId xmlns:p14="http://schemas.microsoft.com/office/powerpoint/2010/main" val="57018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2</a:t>
            </a:fld>
            <a:endParaRPr lang="ko-KR" altLang="en-US"/>
          </a:p>
        </p:txBody>
      </p:sp>
    </p:spTree>
    <p:extLst>
      <p:ext uri="{BB962C8B-B14F-4D97-AF65-F5344CB8AC3E}">
        <p14:creationId xmlns:p14="http://schemas.microsoft.com/office/powerpoint/2010/main" val="1629842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3</a:t>
            </a:fld>
            <a:endParaRPr lang="ko-KR" altLang="en-US"/>
          </a:p>
        </p:txBody>
      </p:sp>
    </p:spTree>
    <p:extLst>
      <p:ext uri="{BB962C8B-B14F-4D97-AF65-F5344CB8AC3E}">
        <p14:creationId xmlns:p14="http://schemas.microsoft.com/office/powerpoint/2010/main" val="30112509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4</a:t>
            </a:fld>
            <a:endParaRPr lang="ko-KR" altLang="en-US"/>
          </a:p>
        </p:txBody>
      </p:sp>
    </p:spTree>
    <p:extLst>
      <p:ext uri="{BB962C8B-B14F-4D97-AF65-F5344CB8AC3E}">
        <p14:creationId xmlns:p14="http://schemas.microsoft.com/office/powerpoint/2010/main" val="10463345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5</a:t>
            </a:fld>
            <a:endParaRPr lang="ko-KR" altLang="en-US"/>
          </a:p>
        </p:txBody>
      </p:sp>
    </p:spTree>
    <p:extLst>
      <p:ext uri="{BB962C8B-B14F-4D97-AF65-F5344CB8AC3E}">
        <p14:creationId xmlns:p14="http://schemas.microsoft.com/office/powerpoint/2010/main" val="85314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6</a:t>
            </a:fld>
            <a:endParaRPr lang="ko-KR" altLang="en-US"/>
          </a:p>
        </p:txBody>
      </p:sp>
    </p:spTree>
    <p:extLst>
      <p:ext uri="{BB962C8B-B14F-4D97-AF65-F5344CB8AC3E}">
        <p14:creationId xmlns:p14="http://schemas.microsoft.com/office/powerpoint/2010/main" val="1874785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7</a:t>
            </a:fld>
            <a:endParaRPr lang="ko-KR" altLang="en-US"/>
          </a:p>
        </p:txBody>
      </p:sp>
    </p:spTree>
    <p:extLst>
      <p:ext uri="{BB962C8B-B14F-4D97-AF65-F5344CB8AC3E}">
        <p14:creationId xmlns:p14="http://schemas.microsoft.com/office/powerpoint/2010/main" val="22479587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8</a:t>
            </a:fld>
            <a:endParaRPr lang="ko-KR" altLang="en-US"/>
          </a:p>
        </p:txBody>
      </p:sp>
    </p:spTree>
    <p:extLst>
      <p:ext uri="{BB962C8B-B14F-4D97-AF65-F5344CB8AC3E}">
        <p14:creationId xmlns:p14="http://schemas.microsoft.com/office/powerpoint/2010/main" val="13715353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9</a:t>
            </a:fld>
            <a:endParaRPr lang="ko-KR" altLang="en-US"/>
          </a:p>
        </p:txBody>
      </p:sp>
    </p:spTree>
    <p:extLst>
      <p:ext uri="{BB962C8B-B14F-4D97-AF65-F5344CB8AC3E}">
        <p14:creationId xmlns:p14="http://schemas.microsoft.com/office/powerpoint/2010/main" val="22385252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53</a:t>
            </a:fld>
            <a:endParaRPr lang="ko-KR" altLang="en-US"/>
          </a:p>
        </p:txBody>
      </p:sp>
    </p:spTree>
    <p:extLst>
      <p:ext uri="{BB962C8B-B14F-4D97-AF65-F5344CB8AC3E}">
        <p14:creationId xmlns:p14="http://schemas.microsoft.com/office/powerpoint/2010/main" val="4604474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54</a:t>
            </a:fld>
            <a:endParaRPr lang="ko-KR" altLang="en-US"/>
          </a:p>
        </p:txBody>
      </p:sp>
    </p:spTree>
    <p:extLst>
      <p:ext uri="{BB962C8B-B14F-4D97-AF65-F5344CB8AC3E}">
        <p14:creationId xmlns:p14="http://schemas.microsoft.com/office/powerpoint/2010/main" val="29341846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55</a:t>
            </a:fld>
            <a:endParaRPr lang="ko-KR" altLang="en-US"/>
          </a:p>
        </p:txBody>
      </p:sp>
    </p:spTree>
    <p:extLst>
      <p:ext uri="{BB962C8B-B14F-4D97-AF65-F5344CB8AC3E}">
        <p14:creationId xmlns:p14="http://schemas.microsoft.com/office/powerpoint/2010/main" val="39824550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lvl="0"/>
            <a:fld id="{51E14ED1-D705-4645-B89F-2D03A70CCA77}" type="slidenum">
              <a:rPr lang="ko-KR" altLang="en-US" smtClean="0"/>
              <a:t>426</a:t>
            </a:fld>
            <a:endParaRPr lang="ko-KR" altLang="en-US"/>
          </a:p>
        </p:txBody>
      </p:sp>
    </p:spTree>
    <p:extLst>
      <p:ext uri="{BB962C8B-B14F-4D97-AF65-F5344CB8AC3E}">
        <p14:creationId xmlns:p14="http://schemas.microsoft.com/office/powerpoint/2010/main" val="21022248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pPr lvl="0"/>
            <a:fld id="{51E14ED1-D705-4645-B89F-2D03A70CCA77}" type="slidenum">
              <a:rPr lang="ko-KR" altLang="en-US" smtClean="0"/>
              <a:t>465</a:t>
            </a:fld>
            <a:endParaRPr lang="ko-KR" altLang="en-US"/>
          </a:p>
        </p:txBody>
      </p:sp>
    </p:spTree>
    <p:extLst>
      <p:ext uri="{BB962C8B-B14F-4D97-AF65-F5344CB8AC3E}">
        <p14:creationId xmlns:p14="http://schemas.microsoft.com/office/powerpoint/2010/main" val="36707095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제목">
    <p:spTree>
      <p:nvGrpSpPr>
        <p:cNvPr id="1" name=""/>
        <p:cNvGrpSpPr/>
        <p:nvPr/>
      </p:nvGrpSpPr>
      <p:grpSpPr>
        <a:xfrm>
          <a:off x="0" y="0"/>
          <a:ext cx="0" cy="0"/>
          <a:chOff x="0" y="0"/>
          <a:chExt cx="0" cy="0"/>
        </a:xfrm>
      </p:grpSpPr>
      <p:pic>
        <p:nvPicPr>
          <p:cNvPr id="18" name="그림 17">
            <a:extLst>
              <a:ext uri="{FF2B5EF4-FFF2-40B4-BE49-F238E27FC236}">
                <a16:creationId xmlns:a16="http://schemas.microsoft.com/office/drawing/2014/main" id="{D56036D5-DD5F-441E-9594-5002CA0E85B5}"/>
              </a:ext>
            </a:extLst>
          </p:cNvPr>
          <p:cNvPicPr>
            <a:picLocks noChangeAspect="1"/>
          </p:cNvPicPr>
          <p:nvPr userDrawn="1"/>
        </p:nvPicPr>
        <p:blipFill>
          <a:blip r:embed="rId2"/>
          <a:stretch>
            <a:fillRect/>
          </a:stretch>
        </p:blipFill>
        <p:spPr>
          <a:xfrm>
            <a:off x="4295427" y="5938279"/>
            <a:ext cx="1331674" cy="164897"/>
          </a:xfrm>
          <a:prstGeom prst="rect">
            <a:avLst/>
          </a:prstGeom>
        </p:spPr>
      </p:pic>
      <p:sp>
        <p:nvSpPr>
          <p:cNvPr id="2" name="Title 1"/>
          <p:cNvSpPr>
            <a:spLocks noGrp="1"/>
          </p:cNvSpPr>
          <p:nvPr>
            <p:ph type="ctrTitle"/>
          </p:nvPr>
        </p:nvSpPr>
        <p:spPr>
          <a:xfrm>
            <a:off x="646694" y="1306235"/>
            <a:ext cx="8640000" cy="612000"/>
          </a:xfrm>
          <a:prstGeom prst="rect">
            <a:avLst/>
          </a:prstGeom>
          <a:ln w="12700">
            <a:noFill/>
          </a:ln>
        </p:spPr>
        <p:txBody>
          <a:bodyPr anchor="b"/>
          <a:lstStyle>
            <a:lvl1pPr algn="r">
              <a:lnSpc>
                <a:spcPct val="100000"/>
              </a:lnSpc>
              <a:defRPr sz="2400" b="1" u="none"/>
            </a:lvl1pPr>
          </a:lstStyle>
          <a:p>
            <a:r>
              <a:rPr lang="ko-KR" altLang="en-US" dirty="0"/>
              <a:t>마스터 제목 스타일 편집</a:t>
            </a:r>
            <a:endParaRPr lang="en-US" dirty="0"/>
          </a:p>
        </p:txBody>
      </p:sp>
      <p:sp>
        <p:nvSpPr>
          <p:cNvPr id="3" name="Subtitle 2"/>
          <p:cNvSpPr>
            <a:spLocks noGrp="1"/>
          </p:cNvSpPr>
          <p:nvPr>
            <p:ph type="subTitle" idx="1"/>
          </p:nvPr>
        </p:nvSpPr>
        <p:spPr>
          <a:xfrm>
            <a:off x="637669" y="1942226"/>
            <a:ext cx="8649025" cy="396376"/>
          </a:xfrm>
          <a:prstGeom prst="rect">
            <a:avLst/>
          </a:prstGeom>
        </p:spPr>
        <p:txBody>
          <a:bodyPr anchor="ctr"/>
          <a:lstStyle>
            <a:lvl1pPr marL="0" indent="0" algn="r">
              <a:lnSpc>
                <a:spcPct val="100000"/>
              </a:lnSpc>
              <a:buNone/>
              <a:defRPr sz="16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dirty="0"/>
              <a:t>마스터 부제목 스타일 편집</a:t>
            </a:r>
            <a:endParaRPr lang="en-US" dirty="0"/>
          </a:p>
        </p:txBody>
      </p:sp>
      <p:cxnSp>
        <p:nvCxnSpPr>
          <p:cNvPr id="8" name="직선 연결선 7"/>
          <p:cNvCxnSpPr/>
          <p:nvPr userDrawn="1"/>
        </p:nvCxnSpPr>
        <p:spPr>
          <a:xfrm>
            <a:off x="637669" y="1925053"/>
            <a:ext cx="86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1" name="표 10"/>
          <p:cNvGraphicFramePr>
            <a:graphicFrameLocks noGrp="1"/>
          </p:cNvGraphicFramePr>
          <p:nvPr userDrawn="1">
            <p:extLst>
              <p:ext uri="{D42A27DB-BD31-4B8C-83A1-F6EECF244321}">
                <p14:modId xmlns:p14="http://schemas.microsoft.com/office/powerpoint/2010/main" val="213922239"/>
              </p:ext>
            </p:extLst>
          </p:nvPr>
        </p:nvGraphicFramePr>
        <p:xfrm>
          <a:off x="4551204" y="3815479"/>
          <a:ext cx="4744543" cy="952503"/>
        </p:xfrm>
        <a:graphic>
          <a:graphicData uri="http://schemas.openxmlformats.org/drawingml/2006/table">
            <a:tbl>
              <a:tblPr firstRow="1" firstCol="1" bandRow="1"/>
              <a:tblGrid>
                <a:gridCol w="971382">
                  <a:extLst>
                    <a:ext uri="{9D8B030D-6E8A-4147-A177-3AD203B41FA5}">
                      <a16:colId xmlns:a16="http://schemas.microsoft.com/office/drawing/2014/main" val="20000"/>
                    </a:ext>
                  </a:extLst>
                </a:gridCol>
                <a:gridCol w="3773161">
                  <a:extLst>
                    <a:ext uri="{9D8B030D-6E8A-4147-A177-3AD203B41FA5}">
                      <a16:colId xmlns:a16="http://schemas.microsoft.com/office/drawing/2014/main" val="20001"/>
                    </a:ext>
                  </a:extLst>
                </a:gridCol>
              </a:tblGrid>
              <a:tr h="317501">
                <a:tc>
                  <a:txBody>
                    <a:bodyPr/>
                    <a:lstStyle/>
                    <a:p>
                      <a:pPr algn="ctr">
                        <a:spcAft>
                          <a:spcPts val="0"/>
                        </a:spcAft>
                      </a:pPr>
                      <a:r>
                        <a:rPr lang="ko-KR" sz="1000" b="1" kern="100" dirty="0">
                          <a:effectLst/>
                          <a:latin typeface="맑은 고딕" panose="020B0503020000020004" pitchFamily="50" charset="-127"/>
                          <a:ea typeface="맑은 고딕" panose="020B0503020000020004" pitchFamily="50" charset="-127"/>
                          <a:cs typeface="Times New Roman" panose="02020603050405020304" pitchFamily="18" charset="0"/>
                        </a:rPr>
                        <a:t>프로젝트</a:t>
                      </a:r>
                    </a:p>
                  </a:txBody>
                  <a:tcPr marL="36195" marR="36195" marT="36195" marB="36195"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spcAft>
                          <a:spcPts val="0"/>
                        </a:spcAft>
                      </a:pPr>
                      <a:endParaRPr lang="ko-KR" sz="1000"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317501">
                <a:tc>
                  <a:txBody>
                    <a:bodyPr/>
                    <a:lstStyle/>
                    <a:p>
                      <a:pPr algn="ctr">
                        <a:spcAft>
                          <a:spcPts val="0"/>
                        </a:spcAft>
                      </a:pPr>
                      <a:r>
                        <a:rPr lang="ko-KR" sz="1000" b="1" kern="100" dirty="0">
                          <a:effectLst/>
                          <a:latin typeface="맑은 고딕" panose="020B0503020000020004" pitchFamily="50" charset="-127"/>
                          <a:ea typeface="맑은 고딕" panose="020B0503020000020004" pitchFamily="50" charset="-127"/>
                          <a:cs typeface="Times New Roman" panose="02020603050405020304" pitchFamily="18" charset="0"/>
                        </a:rPr>
                        <a:t>문서번호</a:t>
                      </a:r>
                    </a:p>
                  </a:txBody>
                  <a:tcPr marL="36195" marR="36195" marT="36195" marB="36195"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spcAft>
                          <a:spcPts val="0"/>
                        </a:spcAft>
                      </a:pPr>
                      <a:endParaRPr lang="ko-KR" sz="1000"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17501">
                <a:tc>
                  <a:txBody>
                    <a:bodyPr/>
                    <a:lstStyle/>
                    <a:p>
                      <a:pPr algn="ctr">
                        <a:spcAft>
                          <a:spcPts val="0"/>
                        </a:spcAft>
                      </a:pPr>
                      <a:r>
                        <a:rPr lang="ko-KR" altLang="en-US" sz="1000" b="1" kern="100" dirty="0" err="1">
                          <a:effectLst/>
                          <a:latin typeface="맑은 고딕" panose="020B0503020000020004" pitchFamily="50" charset="-127"/>
                          <a:ea typeface="+mn-ea"/>
                          <a:cs typeface="Times New Roman" panose="02020603050405020304" pitchFamily="18" charset="0"/>
                        </a:rPr>
                        <a:t>제개정이력</a:t>
                      </a:r>
                      <a:endParaRPr lang="ko-KR" sz="1000" b="1"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spcAft>
                          <a:spcPts val="0"/>
                        </a:spcAft>
                      </a:pPr>
                      <a:endParaRPr lang="ko-KR" sz="1000"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95183031"/>
                  </a:ext>
                </a:extLst>
              </a:tr>
            </a:tbl>
          </a:graphicData>
        </a:graphic>
      </p:graphicFrame>
      <p:sp>
        <p:nvSpPr>
          <p:cNvPr id="14" name="텍스트 개체 틀 12"/>
          <p:cNvSpPr>
            <a:spLocks noGrp="1"/>
          </p:cNvSpPr>
          <p:nvPr>
            <p:ph type="body" sz="quarter" idx="11"/>
          </p:nvPr>
        </p:nvSpPr>
        <p:spPr>
          <a:xfrm>
            <a:off x="5540722" y="3848071"/>
            <a:ext cx="3736946" cy="252000"/>
          </a:xfrm>
          <a:prstGeom prst="rect">
            <a:avLst/>
          </a:prstGeom>
        </p:spPr>
        <p:txBody>
          <a:bodyPr anchor="ctr"/>
          <a:lstStyle>
            <a:lvl1pPr marL="0" marR="0" indent="0" algn="l" defTabSz="914400" rtl="0" eaLnBrk="1" fontAlgn="auto" latinLnBrk="1" hangingPunct="1">
              <a:lnSpc>
                <a:spcPct val="100000"/>
              </a:lnSpc>
              <a:spcBef>
                <a:spcPts val="1000"/>
              </a:spcBef>
              <a:spcAft>
                <a:spcPts val="0"/>
              </a:spcAft>
              <a:buClrTx/>
              <a:buSzTx/>
              <a:buFont typeface="Arial" panose="020B0604020202020204" pitchFamily="34" charset="0"/>
              <a:buNone/>
              <a:tabLst/>
              <a:defRPr sz="1000"/>
            </a:lvl1pPr>
            <a:lvl2pPr marL="457200" indent="0">
              <a:buNone/>
              <a:defRPr sz="1000"/>
            </a:lvl2pPr>
            <a:lvl3pPr marL="914400" indent="0">
              <a:buNone/>
              <a:defRPr sz="1000"/>
            </a:lvl3pPr>
            <a:lvl4pPr marL="1371600" indent="0">
              <a:buNone/>
              <a:defRPr sz="1000"/>
            </a:lvl4pPr>
            <a:lvl5pPr marL="1828800" indent="0">
              <a:buNone/>
              <a:defRPr sz="1000"/>
            </a:lvl5pPr>
          </a:lstStyle>
          <a:p>
            <a:pPr marL="0" marR="0" lvl="0" indent="0" algn="l" defTabSz="914400" rtl="0" eaLnBrk="1" fontAlgn="auto" latinLnBrk="1" hangingPunct="1">
              <a:lnSpc>
                <a:spcPct val="100000"/>
              </a:lnSpc>
              <a:spcBef>
                <a:spcPts val="1000"/>
              </a:spcBef>
              <a:spcAft>
                <a:spcPts val="0"/>
              </a:spcAft>
              <a:buClrTx/>
              <a:buSzTx/>
              <a:buFont typeface="Arial" panose="020B0604020202020204" pitchFamily="34" charset="0"/>
              <a:buNone/>
              <a:tabLst/>
              <a:defRPr/>
            </a:pPr>
            <a:endParaRPr lang="ko-KR" altLang="ko-KR" sz="1000" kern="100" dirty="0">
              <a:effectLst/>
              <a:latin typeface="맑은 고딕" panose="020B0503020000020004" pitchFamily="50" charset="-127"/>
              <a:ea typeface="+mn-ea"/>
              <a:cs typeface="Times New Roman" panose="02020603050405020304" pitchFamily="18" charset="0"/>
            </a:endParaRPr>
          </a:p>
        </p:txBody>
      </p:sp>
      <p:sp>
        <p:nvSpPr>
          <p:cNvPr id="15" name="텍스트 개체 틀 12"/>
          <p:cNvSpPr>
            <a:spLocks noGrp="1"/>
          </p:cNvSpPr>
          <p:nvPr>
            <p:ph type="body" sz="quarter" idx="12"/>
          </p:nvPr>
        </p:nvSpPr>
        <p:spPr>
          <a:xfrm>
            <a:off x="5540722" y="4163525"/>
            <a:ext cx="3736946" cy="252000"/>
          </a:xfrm>
          <a:prstGeom prst="rect">
            <a:avLst/>
          </a:prstGeom>
        </p:spPr>
        <p:txBody>
          <a:bodyPr anchor="ctr"/>
          <a:lstStyle>
            <a:lvl1pPr marL="0" indent="0">
              <a:lnSpc>
                <a:spcPct val="100000"/>
              </a:lnSpc>
              <a:buNone/>
              <a:defRPr sz="1000"/>
            </a:lvl1pPr>
            <a:lvl2pPr marL="457200" indent="0">
              <a:buNone/>
              <a:defRPr sz="1000"/>
            </a:lvl2pPr>
            <a:lvl3pPr marL="914400" indent="0">
              <a:buNone/>
              <a:defRPr sz="1000"/>
            </a:lvl3pPr>
            <a:lvl4pPr marL="1371600" indent="0">
              <a:buNone/>
              <a:defRPr sz="1000"/>
            </a:lvl4pPr>
            <a:lvl5pPr marL="1828800" indent="0">
              <a:buNone/>
              <a:defRPr sz="1000"/>
            </a:lvl5pPr>
          </a:lstStyle>
          <a:p>
            <a:pPr lvl="0"/>
            <a:endParaRPr lang="ko-KR" altLang="en-US" dirty="0"/>
          </a:p>
        </p:txBody>
      </p:sp>
      <p:sp>
        <p:nvSpPr>
          <p:cNvPr id="13" name="직사각형 12"/>
          <p:cNvSpPr/>
          <p:nvPr userDrawn="1"/>
        </p:nvSpPr>
        <p:spPr>
          <a:xfrm>
            <a:off x="1527804" y="6225242"/>
            <a:ext cx="6858548" cy="408317"/>
          </a:xfrm>
          <a:prstGeom prst="rect">
            <a:avLst/>
          </a:prstGeom>
        </p:spPr>
        <p:txBody>
          <a:bodyPr wrap="square">
            <a:spAutoFit/>
          </a:bodyPr>
          <a:lstStyle/>
          <a:p>
            <a:pPr algn="ctr">
              <a:lnSpc>
                <a:spcPct val="120000"/>
              </a:lnSpc>
              <a:spcAft>
                <a:spcPts val="0"/>
              </a:spcAft>
            </a:pPr>
            <a:r>
              <a:rPr lang="en-US" altLang="ko-KR" sz="900" kern="100" dirty="0">
                <a:effectLst/>
                <a:latin typeface="+mn-ea"/>
                <a:ea typeface="+mn-ea"/>
                <a:cs typeface="Times New Roman" panose="02020603050405020304" pitchFamily="18" charset="0"/>
              </a:rPr>
              <a:t>Copyright © 2025 by </a:t>
            </a:r>
            <a:r>
              <a:rPr lang="ko-KR" altLang="en-US" sz="900" kern="100" dirty="0">
                <a:effectLst/>
                <a:latin typeface="+mn-ea"/>
                <a:ea typeface="+mn-ea"/>
                <a:cs typeface="Times New Roman" panose="02020603050405020304" pitchFamily="18" charset="0"/>
              </a:rPr>
              <a:t>방위사업청</a:t>
            </a:r>
            <a:endParaRPr lang="en-US" altLang="ko-KR" sz="900" kern="100" dirty="0">
              <a:effectLst/>
              <a:latin typeface="+mn-ea"/>
              <a:ea typeface="+mn-ea"/>
              <a:cs typeface="Times New Roman" panose="02020603050405020304" pitchFamily="18" charset="0"/>
            </a:endParaRPr>
          </a:p>
          <a:p>
            <a:pPr algn="ctr">
              <a:lnSpc>
                <a:spcPct val="120000"/>
              </a:lnSpc>
              <a:spcAft>
                <a:spcPts val="0"/>
              </a:spcAft>
            </a:pPr>
            <a:r>
              <a:rPr lang="ko-KR" altLang="en-US" sz="900" kern="100" dirty="0">
                <a:effectLst/>
                <a:latin typeface="+mn-ea"/>
                <a:ea typeface="+mn-ea"/>
                <a:cs typeface="Times New Roman" panose="02020603050405020304" pitchFamily="18" charset="0"/>
              </a:rPr>
              <a:t>방위사업청의 </a:t>
            </a:r>
            <a:r>
              <a:rPr lang="ko-KR" altLang="ko-KR" sz="900" dirty="0">
                <a:effectLst/>
                <a:latin typeface="+mn-ea"/>
                <a:ea typeface="+mn-ea"/>
                <a:cs typeface="Times New Roman" panose="02020603050405020304" pitchFamily="18" charset="0"/>
              </a:rPr>
              <a:t>사전 승인 없이 본 내용의 전부 또는 일부에 대한 복사</a:t>
            </a:r>
            <a:r>
              <a:rPr lang="en-US" altLang="ko-KR" sz="900" dirty="0">
                <a:effectLst/>
                <a:latin typeface="+mn-ea"/>
                <a:ea typeface="+mn-ea"/>
                <a:cs typeface="Times New Roman" panose="02020603050405020304" pitchFamily="18" charset="0"/>
              </a:rPr>
              <a:t>, </a:t>
            </a:r>
            <a:r>
              <a:rPr lang="ko-KR" altLang="ko-KR" sz="900" dirty="0">
                <a:effectLst/>
                <a:latin typeface="+mn-ea"/>
                <a:ea typeface="+mn-ea"/>
                <a:cs typeface="Times New Roman" panose="02020603050405020304" pitchFamily="18" charset="0"/>
              </a:rPr>
              <a:t>전재</a:t>
            </a:r>
            <a:r>
              <a:rPr lang="en-US" altLang="ko-KR" sz="900" dirty="0">
                <a:effectLst/>
                <a:latin typeface="+mn-ea"/>
                <a:ea typeface="+mn-ea"/>
                <a:cs typeface="Times New Roman" panose="02020603050405020304" pitchFamily="18" charset="0"/>
              </a:rPr>
              <a:t>, </a:t>
            </a:r>
            <a:r>
              <a:rPr lang="ko-KR" altLang="ko-KR" sz="900" dirty="0">
                <a:effectLst/>
                <a:latin typeface="+mn-ea"/>
                <a:ea typeface="+mn-ea"/>
                <a:cs typeface="Times New Roman" panose="02020603050405020304" pitchFamily="18" charset="0"/>
              </a:rPr>
              <a:t>배포</a:t>
            </a:r>
            <a:r>
              <a:rPr lang="en-US" altLang="ko-KR" sz="900" dirty="0">
                <a:effectLst/>
                <a:latin typeface="+mn-ea"/>
                <a:ea typeface="+mn-ea"/>
                <a:cs typeface="Times New Roman" panose="02020603050405020304" pitchFamily="18" charset="0"/>
              </a:rPr>
              <a:t>, </a:t>
            </a:r>
            <a:r>
              <a:rPr lang="ko-KR" altLang="ko-KR" sz="900" dirty="0">
                <a:effectLst/>
                <a:latin typeface="+mn-ea"/>
                <a:ea typeface="+mn-ea"/>
                <a:cs typeface="Times New Roman" panose="02020603050405020304" pitchFamily="18" charset="0"/>
              </a:rPr>
              <a:t>사용을 금합니다</a:t>
            </a:r>
            <a:r>
              <a:rPr lang="en-US" altLang="ko-KR" sz="900" dirty="0">
                <a:effectLst/>
                <a:latin typeface="+mn-ea"/>
                <a:ea typeface="+mn-ea"/>
                <a:cs typeface="Times New Roman" panose="02020603050405020304" pitchFamily="18" charset="0"/>
              </a:rPr>
              <a:t>.</a:t>
            </a:r>
            <a:endParaRPr lang="ko-KR" altLang="en-US" sz="900" dirty="0">
              <a:latin typeface="+mn-ea"/>
              <a:ea typeface="+mn-ea"/>
            </a:endParaRPr>
          </a:p>
        </p:txBody>
      </p:sp>
      <p:sp>
        <p:nvSpPr>
          <p:cNvPr id="12" name="텍스트 개체 틀 12"/>
          <p:cNvSpPr>
            <a:spLocks noGrp="1"/>
          </p:cNvSpPr>
          <p:nvPr>
            <p:ph type="body" sz="quarter" idx="13"/>
          </p:nvPr>
        </p:nvSpPr>
        <p:spPr>
          <a:xfrm>
            <a:off x="5540722" y="4479945"/>
            <a:ext cx="3736946" cy="252000"/>
          </a:xfrm>
          <a:prstGeom prst="rect">
            <a:avLst/>
          </a:prstGeom>
        </p:spPr>
        <p:txBody>
          <a:bodyPr anchor="ctr"/>
          <a:lstStyle>
            <a:lvl1pPr marL="0" indent="0">
              <a:lnSpc>
                <a:spcPct val="100000"/>
              </a:lnSpc>
              <a:buNone/>
              <a:defRPr sz="1000"/>
            </a:lvl1pPr>
            <a:lvl2pPr marL="457200" indent="0">
              <a:buNone/>
              <a:defRPr sz="1000"/>
            </a:lvl2pPr>
            <a:lvl3pPr marL="914400" indent="0">
              <a:buNone/>
              <a:defRPr sz="1000"/>
            </a:lvl3pPr>
            <a:lvl4pPr marL="1371600" indent="0">
              <a:buNone/>
              <a:defRPr sz="1000"/>
            </a:lvl4pPr>
            <a:lvl5pPr marL="1828800" indent="0">
              <a:buNone/>
              <a:defRPr sz="1000"/>
            </a:lvl5pPr>
          </a:lstStyle>
          <a:p>
            <a:pPr lvl="0"/>
            <a:endParaRPr lang="ko-KR" altLang="en-US" dirty="0"/>
          </a:p>
        </p:txBody>
      </p:sp>
      <p:pic>
        <p:nvPicPr>
          <p:cNvPr id="17" name="그림 16" descr="그래픽, 폰트, 그래픽 디자인, 로고이(가) 표시된 사진&#10;&#10;AI 생성 콘텐츠는 정확하지 않을 수 있습니다.">
            <a:extLst>
              <a:ext uri="{FF2B5EF4-FFF2-40B4-BE49-F238E27FC236}">
                <a16:creationId xmlns:a16="http://schemas.microsoft.com/office/drawing/2014/main" id="{5A9D3F7C-59D2-46B0-9671-095C3D9268C5}"/>
              </a:ext>
            </a:extLst>
          </p:cNvPr>
          <p:cNvPicPr>
            <a:picLocks noChangeAspect="1"/>
          </p:cNvPicPr>
          <p:nvPr userDrawn="1"/>
        </p:nvPicPr>
        <p:blipFill>
          <a:blip r:embed="rId3"/>
          <a:stretch>
            <a:fillRect/>
          </a:stretch>
        </p:blipFill>
        <p:spPr>
          <a:xfrm>
            <a:off x="637641" y="465349"/>
            <a:ext cx="1005840" cy="340043"/>
          </a:xfrm>
          <a:prstGeom prst="rect">
            <a:avLst/>
          </a:prstGeom>
        </p:spPr>
      </p:pic>
    </p:spTree>
    <p:extLst>
      <p:ext uri="{BB962C8B-B14F-4D97-AF65-F5344CB8AC3E}">
        <p14:creationId xmlns:p14="http://schemas.microsoft.com/office/powerpoint/2010/main" val="25443035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개정이력/목차">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6220" y="6588000"/>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20" name="텍스트 개체 틀 12"/>
          <p:cNvSpPr>
            <a:spLocks noGrp="1"/>
          </p:cNvSpPr>
          <p:nvPr>
            <p:ph type="body" sz="quarter" idx="10"/>
          </p:nvPr>
        </p:nvSpPr>
        <p:spPr>
          <a:xfrm>
            <a:off x="2250485" y="821363"/>
            <a:ext cx="5400000" cy="417890"/>
          </a:xfrm>
          <a:prstGeom prst="rect">
            <a:avLst/>
          </a:prstGeom>
        </p:spPr>
        <p:txBody>
          <a:bodyPr anchor="ctr"/>
          <a:lstStyle>
            <a:lvl1pPr marL="0" indent="0" algn="ctr">
              <a:lnSpc>
                <a:spcPct val="100000"/>
              </a:lnSpc>
              <a:buNone/>
              <a:defRPr sz="1400" b="1" u="sng"/>
            </a:lvl1pPr>
            <a:lvl2pPr marL="457200" indent="0">
              <a:buNone/>
              <a:defRPr sz="1000"/>
            </a:lvl2pPr>
            <a:lvl3pPr marL="914400" indent="0">
              <a:buNone/>
              <a:defRPr sz="1000"/>
            </a:lvl3pPr>
            <a:lvl4pPr marL="1371600" indent="0">
              <a:buNone/>
              <a:defRPr sz="1000"/>
            </a:lvl4pPr>
            <a:lvl5pPr marL="1828800" indent="0">
              <a:buNone/>
              <a:defRPr sz="1000"/>
            </a:lvl5pPr>
          </a:lstStyle>
          <a:p>
            <a:pPr lvl="0"/>
            <a:endParaRPr lang="ko-KR" altLang="en-US" dirty="0"/>
          </a:p>
        </p:txBody>
      </p:sp>
    </p:spTree>
    <p:extLst>
      <p:ext uri="{BB962C8B-B14F-4D97-AF65-F5344CB8AC3E}">
        <p14:creationId xmlns:p14="http://schemas.microsoft.com/office/powerpoint/2010/main" val="197577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본문-제목">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200" y="6588000"/>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3" name="텍스트 개체 틀 2"/>
          <p:cNvSpPr>
            <a:spLocks noGrp="1"/>
          </p:cNvSpPr>
          <p:nvPr>
            <p:ph type="body" sz="quarter" idx="10"/>
          </p:nvPr>
        </p:nvSpPr>
        <p:spPr>
          <a:xfrm>
            <a:off x="457199" y="612000"/>
            <a:ext cx="9001125" cy="324000"/>
          </a:xfrm>
          <a:prstGeom prst="rect">
            <a:avLst/>
          </a:prstGeom>
        </p:spPr>
        <p:txBody>
          <a:bodyPr anchor="t"/>
          <a:lstStyle>
            <a:lvl1pPr marL="0" indent="0">
              <a:lnSpc>
                <a:spcPct val="150000"/>
              </a:lnSpc>
              <a:buNone/>
              <a:defRPr sz="1400" b="1"/>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Tree>
    <p:extLst>
      <p:ext uri="{BB962C8B-B14F-4D97-AF65-F5344CB8AC3E}">
        <p14:creationId xmlns:p14="http://schemas.microsoft.com/office/powerpoint/2010/main" val="32266025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본문-제목&amp;내용">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734"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3" name="텍스트 개체 틀 2"/>
          <p:cNvSpPr>
            <a:spLocks noGrp="1"/>
          </p:cNvSpPr>
          <p:nvPr>
            <p:ph type="body" sz="quarter" idx="10"/>
          </p:nvPr>
        </p:nvSpPr>
        <p:spPr>
          <a:xfrm>
            <a:off x="467025" y="612000"/>
            <a:ext cx="9000000" cy="324000"/>
          </a:xfrm>
          <a:prstGeom prst="rect">
            <a:avLst/>
          </a:prstGeom>
        </p:spPr>
        <p:txBody>
          <a:bodyPr anchor="t"/>
          <a:lstStyle>
            <a:lvl1pPr marL="0" indent="0">
              <a:lnSpc>
                <a:spcPct val="150000"/>
              </a:lnSpc>
              <a:buNone/>
              <a:defRPr sz="1200" b="1"/>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
        <p:nvSpPr>
          <p:cNvPr id="10" name="텍스트 개체 틀 2"/>
          <p:cNvSpPr>
            <a:spLocks noGrp="1"/>
          </p:cNvSpPr>
          <p:nvPr>
            <p:ph type="body" sz="quarter" idx="11"/>
          </p:nvPr>
        </p:nvSpPr>
        <p:spPr>
          <a:xfrm>
            <a:off x="457200" y="1038808"/>
            <a:ext cx="9000000" cy="5424196"/>
          </a:xfrm>
          <a:prstGeom prst="rect">
            <a:avLst/>
          </a:prstGeom>
        </p:spPr>
        <p:txBody>
          <a:bodyPr anchor="t"/>
          <a:lstStyle>
            <a:lvl1pPr marL="0" indent="0">
              <a:lnSpc>
                <a:spcPct val="150000"/>
              </a:lnSpc>
              <a:buNone/>
              <a:defRPr sz="1000" b="0"/>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Tree>
    <p:extLst>
      <p:ext uri="{BB962C8B-B14F-4D97-AF65-F5344CB8AC3E}">
        <p14:creationId xmlns:p14="http://schemas.microsoft.com/office/powerpoint/2010/main" val="132103159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본문-내용만">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200"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7" name="텍스트 개체 틀 2"/>
          <p:cNvSpPr>
            <a:spLocks noGrp="1"/>
          </p:cNvSpPr>
          <p:nvPr>
            <p:ph type="body" sz="quarter" idx="11"/>
          </p:nvPr>
        </p:nvSpPr>
        <p:spPr>
          <a:xfrm>
            <a:off x="457200" y="612000"/>
            <a:ext cx="9000000" cy="5851004"/>
          </a:xfrm>
          <a:prstGeom prst="rect">
            <a:avLst/>
          </a:prstGeom>
        </p:spPr>
        <p:txBody>
          <a:bodyPr anchor="t"/>
          <a:lstStyle>
            <a:lvl1pPr marL="0" indent="0">
              <a:lnSpc>
                <a:spcPct val="150000"/>
              </a:lnSpc>
              <a:buNone/>
              <a:defRPr sz="1100" b="0"/>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Tree>
    <p:extLst>
      <p:ext uri="{BB962C8B-B14F-4D97-AF65-F5344CB8AC3E}">
        <p14:creationId xmlns:p14="http://schemas.microsoft.com/office/powerpoint/2010/main" val="16039650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본문-서식없음">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200"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Tree>
    <p:extLst>
      <p:ext uri="{BB962C8B-B14F-4D97-AF65-F5344CB8AC3E}">
        <p14:creationId xmlns:p14="http://schemas.microsoft.com/office/powerpoint/2010/main" val="1835475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사용자인터페이스 이미지">
    <p:spTree>
      <p:nvGrpSpPr>
        <p:cNvPr id="1" name=""/>
        <p:cNvGrpSpPr/>
        <p:nvPr/>
      </p:nvGrpSpPr>
      <p:grpSpPr>
        <a:xfrm>
          <a:off x="0" y="0"/>
          <a:ext cx="0" cy="0"/>
          <a:chOff x="0" y="0"/>
          <a:chExt cx="0" cy="0"/>
        </a:xfrm>
      </p:grpSpPr>
      <p:graphicFrame>
        <p:nvGraphicFramePr>
          <p:cNvPr id="4" name="표 3"/>
          <p:cNvGraphicFramePr>
            <a:graphicFrameLocks noGrp="1"/>
          </p:cNvGraphicFramePr>
          <p:nvPr userDrawn="1">
            <p:extLst>
              <p:ext uri="{D42A27DB-BD31-4B8C-83A1-F6EECF244321}">
                <p14:modId xmlns:p14="http://schemas.microsoft.com/office/powerpoint/2010/main" val="3072137626"/>
              </p:ext>
            </p:extLst>
          </p:nvPr>
        </p:nvGraphicFramePr>
        <p:xfrm>
          <a:off x="458167" y="719999"/>
          <a:ext cx="8988374" cy="5755445"/>
        </p:xfrm>
        <a:graphic>
          <a:graphicData uri="http://schemas.openxmlformats.org/drawingml/2006/table">
            <a:tbl>
              <a:tblPr>
                <a:tableStyleId>{5C22544A-7EE6-4342-B048-85BDC9FD1C3A}</a:tableStyleId>
              </a:tblPr>
              <a:tblGrid>
                <a:gridCol w="478985">
                  <a:extLst>
                    <a:ext uri="{9D8B030D-6E8A-4147-A177-3AD203B41FA5}">
                      <a16:colId xmlns:a16="http://schemas.microsoft.com/office/drawing/2014/main" val="20000"/>
                    </a:ext>
                  </a:extLst>
                </a:gridCol>
                <a:gridCol w="1951300">
                  <a:extLst>
                    <a:ext uri="{9D8B030D-6E8A-4147-A177-3AD203B41FA5}">
                      <a16:colId xmlns:a16="http://schemas.microsoft.com/office/drawing/2014/main" val="20001"/>
                    </a:ext>
                  </a:extLst>
                </a:gridCol>
                <a:gridCol w="485933">
                  <a:extLst>
                    <a:ext uri="{9D8B030D-6E8A-4147-A177-3AD203B41FA5}">
                      <a16:colId xmlns:a16="http://schemas.microsoft.com/office/drawing/2014/main" val="20002"/>
                    </a:ext>
                  </a:extLst>
                </a:gridCol>
                <a:gridCol w="2168005">
                  <a:extLst>
                    <a:ext uri="{9D8B030D-6E8A-4147-A177-3AD203B41FA5}">
                      <a16:colId xmlns:a16="http://schemas.microsoft.com/office/drawing/2014/main" val="20003"/>
                    </a:ext>
                  </a:extLst>
                </a:gridCol>
                <a:gridCol w="684241">
                  <a:extLst>
                    <a:ext uri="{9D8B030D-6E8A-4147-A177-3AD203B41FA5}">
                      <a16:colId xmlns:a16="http://schemas.microsoft.com/office/drawing/2014/main" val="20004"/>
                    </a:ext>
                  </a:extLst>
                </a:gridCol>
                <a:gridCol w="843378">
                  <a:extLst>
                    <a:ext uri="{9D8B030D-6E8A-4147-A177-3AD203B41FA5}">
                      <a16:colId xmlns:a16="http://schemas.microsoft.com/office/drawing/2014/main" val="20005"/>
                    </a:ext>
                  </a:extLst>
                </a:gridCol>
                <a:gridCol w="2376532">
                  <a:extLst>
                    <a:ext uri="{9D8B030D-6E8A-4147-A177-3AD203B41FA5}">
                      <a16:colId xmlns:a16="http://schemas.microsoft.com/office/drawing/2014/main" val="20006"/>
                    </a:ext>
                  </a:extLst>
                </a:gridCol>
              </a:tblGrid>
              <a:tr h="263558">
                <a:tc>
                  <a:txBody>
                    <a:bodyPr/>
                    <a:lstStyle/>
                    <a:p>
                      <a:pPr algn="ctr" latinLnBrk="1"/>
                      <a:r>
                        <a:rPr lang="en-US" altLang="ko-KR" sz="900" b="1" dirty="0"/>
                        <a:t>UI</a:t>
                      </a:r>
                      <a:r>
                        <a:rPr lang="en-US" altLang="ko-KR" sz="900" b="1" baseline="0" dirty="0"/>
                        <a:t> ID</a:t>
                      </a:r>
                      <a:endParaRPr lang="ko-KR" altLang="en-US" sz="900" b="1" dirty="0"/>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900" b="1" dirty="0"/>
                        <a:t>UI </a:t>
                      </a:r>
                      <a:r>
                        <a:rPr lang="ko-KR" altLang="en-US" sz="900" b="1" dirty="0"/>
                        <a:t>명</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ko-KR" altLang="en-US" sz="900" b="1" dirty="0"/>
                        <a:t>화면경로</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2">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10000"/>
                  </a:ext>
                </a:extLst>
              </a:tr>
              <a:tr h="263558">
                <a:tc>
                  <a:txBody>
                    <a:bodyPr/>
                    <a:lstStyle/>
                    <a:p>
                      <a:pPr algn="ctr" latinLnBrk="1"/>
                      <a:r>
                        <a:rPr lang="ko-KR" altLang="en-US" sz="900" b="1" dirty="0"/>
                        <a:t>개요</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6">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10001"/>
                  </a:ext>
                </a:extLst>
              </a:tr>
              <a:tr h="247322">
                <a:tc rowSpan="2" gridSpan="6">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hMerge="1">
                  <a:txBody>
                    <a:bodyPr/>
                    <a:lstStyle/>
                    <a:p>
                      <a:pPr latinLnBrk="1"/>
                      <a:endParaRPr lang="ko-KR" altLang="en-US"/>
                    </a:p>
                  </a:txBody>
                  <a:tcPr/>
                </a:tc>
                <a:tc rowSpan="2" hMerge="1">
                  <a:txBody>
                    <a:bodyPr/>
                    <a:lstStyle/>
                    <a:p>
                      <a:pPr latinLnBrk="1"/>
                      <a:endParaRPr lang="ko-KR" altLang="en-US"/>
                    </a:p>
                  </a:txBody>
                  <a:tcPr/>
                </a:tc>
                <a:tc rowSpan="2"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ko-KR" altLang="en-US" sz="900" b="1" dirty="0"/>
                        <a:t>설명 및 특이사항</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4981007">
                <a:tc gridSpan="6"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endParaRPr lang="ko-KR" altLang="en-US" sz="900" dirty="0"/>
                    </a:p>
                  </a:txBody>
                  <a:tcPr marL="36000" marR="36000" marT="36000" marB="3600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6" name="텍스트 개체 틀 5"/>
          <p:cNvSpPr>
            <a:spLocks noGrp="1"/>
          </p:cNvSpPr>
          <p:nvPr>
            <p:ph type="body" sz="quarter" idx="10"/>
          </p:nvPr>
        </p:nvSpPr>
        <p:spPr>
          <a:xfrm>
            <a:off x="7103286" y="1493927"/>
            <a:ext cx="2300284" cy="4981517"/>
          </a:xfrm>
          <a:prstGeom prst="rect">
            <a:avLst/>
          </a:prstGeom>
        </p:spPr>
        <p:txBody>
          <a:bodyPr/>
          <a:lstStyle>
            <a:lvl1pPr marL="87313" indent="-87313">
              <a:lnSpc>
                <a:spcPct val="100000"/>
              </a:lnSpc>
              <a:spcBef>
                <a:spcPts val="100"/>
              </a:spcBef>
              <a:spcAft>
                <a:spcPts val="100"/>
              </a:spcAft>
              <a:buFont typeface="Arial" panose="020B0604020202020204" pitchFamily="34" charset="0"/>
              <a:buChar char="•"/>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7" name="슬라이드 번호 개체 틀 10"/>
          <p:cNvSpPr>
            <a:spLocks noGrp="1"/>
          </p:cNvSpPr>
          <p:nvPr>
            <p:ph type="sldNum" sz="quarter" idx="4"/>
          </p:nvPr>
        </p:nvSpPr>
        <p:spPr>
          <a:xfrm>
            <a:off x="4327200"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9DF8E3FD-B4FB-473B-BCAD-C4534B9A9D97}" type="slidenum">
              <a:rPr lang="ko-KR" altLang="en-US" smtClean="0"/>
              <a:pPr/>
              <a:t>‹#›</a:t>
            </a:fld>
            <a:endParaRPr lang="ko-KR" altLang="en-US" dirty="0"/>
          </a:p>
        </p:txBody>
      </p:sp>
      <p:sp>
        <p:nvSpPr>
          <p:cNvPr id="11" name="텍스트 개체 틀 10"/>
          <p:cNvSpPr>
            <a:spLocks noGrp="1"/>
          </p:cNvSpPr>
          <p:nvPr>
            <p:ph type="body" sz="quarter" idx="12"/>
          </p:nvPr>
        </p:nvSpPr>
        <p:spPr>
          <a:xfrm>
            <a:off x="3390640" y="755764"/>
            <a:ext cx="2101850" cy="162201"/>
          </a:xfrm>
          <a:prstGeom prst="rect">
            <a:avLst/>
          </a:prstGeom>
        </p:spPr>
        <p:txBody>
          <a:bodyPr lIns="72000" tIns="36000" rIns="72000" bIns="36000"/>
          <a:lstStyle>
            <a:lvl1pPr marL="0" indent="0">
              <a:lnSpc>
                <a:spcPct val="100000"/>
              </a:lnSpc>
              <a:spcBef>
                <a:spcPts val="0"/>
              </a:spcBef>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12" name="텍스트 개체 틀 10"/>
          <p:cNvSpPr>
            <a:spLocks noGrp="1"/>
          </p:cNvSpPr>
          <p:nvPr>
            <p:ph type="body" sz="quarter" idx="13"/>
          </p:nvPr>
        </p:nvSpPr>
        <p:spPr>
          <a:xfrm>
            <a:off x="956623" y="1010025"/>
            <a:ext cx="8434506" cy="193878"/>
          </a:xfrm>
          <a:prstGeom prst="rect">
            <a:avLst/>
          </a:prstGeom>
        </p:spPr>
        <p:txBody>
          <a:bodyPr lIns="72000" tIns="36000" rIns="72000" bIns="36000"/>
          <a:lstStyle>
            <a:lvl1pPr marL="0" indent="0">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13" name="텍스트 개체 틀 10"/>
          <p:cNvSpPr>
            <a:spLocks noGrp="1"/>
          </p:cNvSpPr>
          <p:nvPr>
            <p:ph type="body" sz="quarter" idx="14"/>
          </p:nvPr>
        </p:nvSpPr>
        <p:spPr>
          <a:xfrm>
            <a:off x="6238614" y="755764"/>
            <a:ext cx="3140076" cy="177622"/>
          </a:xfrm>
          <a:prstGeom prst="rect">
            <a:avLst/>
          </a:prstGeom>
        </p:spPr>
        <p:txBody>
          <a:bodyPr lIns="72000" tIns="36000" rIns="72000" bIns="36000"/>
          <a:lstStyle>
            <a:lvl1pPr marL="0" indent="0">
              <a:lnSpc>
                <a:spcPct val="100000"/>
              </a:lnSpc>
              <a:spcBef>
                <a:spcPts val="0"/>
              </a:spcBef>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10" name="텍스트 개체 틀 10"/>
          <p:cNvSpPr>
            <a:spLocks noGrp="1"/>
          </p:cNvSpPr>
          <p:nvPr>
            <p:ph type="body" sz="quarter" idx="15"/>
          </p:nvPr>
        </p:nvSpPr>
        <p:spPr>
          <a:xfrm>
            <a:off x="956623" y="755764"/>
            <a:ext cx="1404000" cy="193878"/>
          </a:xfrm>
          <a:prstGeom prst="rect">
            <a:avLst/>
          </a:prstGeom>
        </p:spPr>
        <p:txBody>
          <a:bodyPr lIns="72000" tIns="36000" rIns="72000" bIns="36000"/>
          <a:lstStyle>
            <a:lvl1pPr marL="0" indent="0">
              <a:lnSpc>
                <a:spcPct val="100000"/>
              </a:lnSpc>
              <a:spcBef>
                <a:spcPts val="0"/>
              </a:spcBef>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Tree>
    <p:extLst>
      <p:ext uri="{BB962C8B-B14F-4D97-AF65-F5344CB8AC3E}">
        <p14:creationId xmlns:p14="http://schemas.microsoft.com/office/powerpoint/2010/main" val="32897163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2" name="그림 11">
            <a:extLst>
              <a:ext uri="{FF2B5EF4-FFF2-40B4-BE49-F238E27FC236}">
                <a16:creationId xmlns:a16="http://schemas.microsoft.com/office/drawing/2014/main" id="{D11E9F2C-2481-4ADA-BED0-11F45689328C}"/>
              </a:ext>
            </a:extLst>
          </p:cNvPr>
          <p:cNvPicPr>
            <a:picLocks noChangeAspect="1"/>
          </p:cNvPicPr>
          <p:nvPr userDrawn="1"/>
        </p:nvPicPr>
        <p:blipFill>
          <a:blip r:embed="rId9"/>
          <a:stretch>
            <a:fillRect/>
          </a:stretch>
        </p:blipFill>
        <p:spPr>
          <a:xfrm>
            <a:off x="8685200" y="6640342"/>
            <a:ext cx="738733" cy="91480"/>
          </a:xfrm>
          <a:prstGeom prst="rect">
            <a:avLst/>
          </a:prstGeom>
        </p:spPr>
      </p:pic>
      <p:cxnSp>
        <p:nvCxnSpPr>
          <p:cNvPr id="8" name="직선 연결선 7"/>
          <p:cNvCxnSpPr/>
          <p:nvPr userDrawn="1"/>
        </p:nvCxnSpPr>
        <p:spPr>
          <a:xfrm>
            <a:off x="445168" y="540000"/>
            <a:ext cx="900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직선 연결선 8"/>
          <p:cNvCxnSpPr/>
          <p:nvPr userDrawn="1"/>
        </p:nvCxnSpPr>
        <p:spPr>
          <a:xfrm>
            <a:off x="465216" y="6588000"/>
            <a:ext cx="900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직사각형 16"/>
          <p:cNvSpPr/>
          <p:nvPr userDrawn="1"/>
        </p:nvSpPr>
        <p:spPr>
          <a:xfrm>
            <a:off x="4950372" y="376754"/>
            <a:ext cx="4519928" cy="153888"/>
          </a:xfrm>
          <a:prstGeom prst="rect">
            <a:avLst/>
          </a:prstGeom>
        </p:spPr>
        <p:txBody>
          <a:bodyPr wrap="square" lIns="0" tIns="0" rIns="0" bIns="0">
            <a:spAutoFit/>
          </a:bodyPr>
          <a:lstStyle/>
          <a:p>
            <a:pPr algn="r"/>
            <a:r>
              <a:rPr lang="ko-KR" altLang="en-US" sz="1000" b="1" kern="100" dirty="0" smtClean="0">
                <a:effectLst/>
                <a:latin typeface="맑은 고딕" panose="020B0503020000020004" pitchFamily="50" charset="-127"/>
                <a:ea typeface="+mn-ea"/>
                <a:cs typeface="Times New Roman" panose="02020603050405020304" pitchFamily="18" charset="0"/>
              </a:rPr>
              <a:t>사용자인터페이스설계서 </a:t>
            </a:r>
            <a:r>
              <a:rPr lang="en-US" altLang="ko-KR" sz="1000" b="1" kern="100" dirty="0">
                <a:effectLst/>
                <a:latin typeface="맑은 고딕" panose="020B0503020000020004" pitchFamily="50" charset="-127"/>
                <a:ea typeface="+mn-ea"/>
                <a:cs typeface="Times New Roman" panose="02020603050405020304" pitchFamily="18" charset="0"/>
              </a:rPr>
              <a:t>– 02.</a:t>
            </a:r>
            <a:r>
              <a:rPr lang="ko-KR" altLang="en-US" sz="1000" b="1" kern="100" dirty="0">
                <a:effectLst/>
                <a:latin typeface="맑은 고딕" panose="020B0503020000020004" pitchFamily="50" charset="-127"/>
                <a:ea typeface="+mn-ea"/>
                <a:cs typeface="Times New Roman" panose="02020603050405020304" pitchFamily="18" charset="0"/>
              </a:rPr>
              <a:t>입찰</a:t>
            </a:r>
            <a:r>
              <a:rPr lang="en-US" altLang="ko-KR" sz="1000" b="1" kern="100" dirty="0">
                <a:effectLst/>
                <a:latin typeface="맑은 고딕" panose="020B0503020000020004" pitchFamily="50" charset="-127"/>
                <a:ea typeface="+mn-ea"/>
                <a:cs typeface="Times New Roman" panose="02020603050405020304" pitchFamily="18" charset="0"/>
              </a:rPr>
              <a:t>-</a:t>
            </a:r>
            <a:r>
              <a:rPr lang="ko-KR" altLang="en-US" sz="1000" b="1" kern="100" dirty="0">
                <a:effectLst/>
                <a:latin typeface="맑은 고딕" panose="020B0503020000020004" pitchFamily="50" charset="-127"/>
                <a:ea typeface="+mn-ea"/>
                <a:cs typeface="Times New Roman" panose="02020603050405020304" pitchFamily="18" charset="0"/>
              </a:rPr>
              <a:t>모바일</a:t>
            </a:r>
            <a:endParaRPr lang="ko-KR" altLang="en-US" sz="1000" dirty="0"/>
          </a:p>
        </p:txBody>
      </p:sp>
      <p:sp>
        <p:nvSpPr>
          <p:cNvPr id="10" name="직사각형 9"/>
          <p:cNvSpPr/>
          <p:nvPr userDrawn="1"/>
        </p:nvSpPr>
        <p:spPr>
          <a:xfrm>
            <a:off x="445168" y="376754"/>
            <a:ext cx="3939450" cy="153888"/>
          </a:xfrm>
          <a:prstGeom prst="rect">
            <a:avLst/>
          </a:prstGeom>
        </p:spPr>
        <p:txBody>
          <a:bodyPr wrap="square" lIns="0" tIns="0" rIns="0" bIns="0">
            <a:spAutoFit/>
          </a:bodyPr>
          <a:lstStyle/>
          <a:p>
            <a:pPr marL="0" marR="0" lvl="0" indent="0" algn="l" defTabSz="914400" rtl="0" eaLnBrk="1" fontAlgn="auto" latinLnBrk="1" hangingPunct="1">
              <a:lnSpc>
                <a:spcPct val="100000"/>
              </a:lnSpc>
              <a:spcBef>
                <a:spcPts val="1000"/>
              </a:spcBef>
              <a:spcAft>
                <a:spcPts val="0"/>
              </a:spcAft>
              <a:buClrTx/>
              <a:buSzTx/>
              <a:buFont typeface="Arial" panose="020B0604020202020204" pitchFamily="34" charset="0"/>
              <a:buNone/>
              <a:tabLst/>
              <a:defRPr/>
            </a:pPr>
            <a:r>
              <a:rPr lang="ko-KR" altLang="en-US" sz="1000" b="1" kern="100" dirty="0">
                <a:effectLst/>
              </a:rPr>
              <a:t>국방전자조달시스템 고도화 구축사업</a:t>
            </a:r>
          </a:p>
        </p:txBody>
      </p:sp>
      <p:pic>
        <p:nvPicPr>
          <p:cNvPr id="11" name="Picture 1">
            <a:extLst>
              <a:ext uri="{FF2B5EF4-FFF2-40B4-BE49-F238E27FC236}">
                <a16:creationId xmlns:a16="http://schemas.microsoft.com/office/drawing/2014/main" id="{3BECD7E0-1778-4975-BFA0-E9C4CE243F54}"/>
              </a:ext>
            </a:extLst>
          </p:cNvPr>
          <p:cNvPicPr>
            <a:picLocks noChangeAspect="1"/>
          </p:cNvPicPr>
          <p:nvPr userDrawn="1"/>
        </p:nvPicPr>
        <p:blipFill>
          <a:blip r:embed="rId10"/>
          <a:stretch>
            <a:fillRect/>
          </a:stretch>
        </p:blipFill>
        <p:spPr>
          <a:xfrm>
            <a:off x="474463" y="6577231"/>
            <a:ext cx="668534" cy="233715"/>
          </a:xfrm>
          <a:prstGeom prst="rect">
            <a:avLst/>
          </a:prstGeom>
          <a:noFill/>
          <a:ln>
            <a:noFill/>
          </a:ln>
          <a:effectLst/>
        </p:spPr>
      </p:pic>
    </p:spTree>
    <p:extLst>
      <p:ext uri="{BB962C8B-B14F-4D97-AF65-F5344CB8AC3E}">
        <p14:creationId xmlns:p14="http://schemas.microsoft.com/office/powerpoint/2010/main" val="37140121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7" r:id="rId3"/>
    <p:sldLayoutId id="2147483664" r:id="rId4"/>
    <p:sldLayoutId id="2147483665" r:id="rId5"/>
    <p:sldLayoutId id="2147483666" r:id="rId6"/>
    <p:sldLayoutId id="2147483668" r:id="rId7"/>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7.svg"/><Relationship Id="rId7"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7.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hyperlink" Target="http://www.g2b.go.kr/" TargetMode="Externa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2" Type="http://schemas.openxmlformats.org/officeDocument/2006/relationships/hyperlink" Target="http://www.g2b.go.kr/" TargetMode="External"/><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70.svg"/><Relationship Id="rId7"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90.svg"/><Relationship Id="rId4" Type="http://schemas.openxmlformats.org/officeDocument/2006/relationships/image" Target="../media/image7.pn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제목 52"/>
          <p:cNvSpPr>
            <a:spLocks noGrp="1"/>
          </p:cNvSpPr>
          <p:nvPr>
            <p:ph type="ctrTitle"/>
          </p:nvPr>
        </p:nvSpPr>
        <p:spPr/>
        <p:txBody>
          <a:bodyPr/>
          <a:lstStyle/>
          <a:p>
            <a:r>
              <a:rPr lang="ko-KR" altLang="en-US" dirty="0"/>
              <a:t>사용자인터페이스 설계서 </a:t>
            </a:r>
            <a:r>
              <a:rPr lang="en-US" altLang="ko-KR" dirty="0"/>
              <a:t>- </a:t>
            </a:r>
            <a:r>
              <a:rPr lang="ko-KR" altLang="en-US" dirty="0"/>
              <a:t>모바일</a:t>
            </a:r>
          </a:p>
        </p:txBody>
      </p:sp>
      <p:sp>
        <p:nvSpPr>
          <p:cNvPr id="54" name="부제목 53"/>
          <p:cNvSpPr>
            <a:spLocks noGrp="1"/>
          </p:cNvSpPr>
          <p:nvPr>
            <p:ph type="subTitle" idx="1"/>
          </p:nvPr>
        </p:nvSpPr>
        <p:spPr/>
        <p:txBody>
          <a:bodyPr/>
          <a:lstStyle/>
          <a:p>
            <a:r>
              <a:rPr lang="en-US" altLang="ko-KR" dirty="0"/>
              <a:t>02.</a:t>
            </a:r>
            <a:r>
              <a:rPr lang="ko-KR" altLang="en-US" dirty="0"/>
              <a:t>입찰</a:t>
            </a:r>
          </a:p>
        </p:txBody>
      </p:sp>
      <p:sp>
        <p:nvSpPr>
          <p:cNvPr id="56" name="텍스트 개체 틀 55"/>
          <p:cNvSpPr>
            <a:spLocks noGrp="1"/>
          </p:cNvSpPr>
          <p:nvPr>
            <p:ph type="body" sz="quarter" idx="11"/>
          </p:nvPr>
        </p:nvSpPr>
        <p:spPr/>
        <p:txBody>
          <a:bodyPr/>
          <a:lstStyle/>
          <a:p>
            <a:r>
              <a:rPr lang="ko-KR" altLang="en-US" dirty="0"/>
              <a:t>국방전자조달시스템 고도화 구축사업</a:t>
            </a:r>
          </a:p>
        </p:txBody>
      </p:sp>
      <p:sp>
        <p:nvSpPr>
          <p:cNvPr id="57" name="텍스트 개체 틀 56"/>
          <p:cNvSpPr>
            <a:spLocks noGrp="1"/>
          </p:cNvSpPr>
          <p:nvPr>
            <p:ph type="body" sz="quarter" idx="12"/>
          </p:nvPr>
        </p:nvSpPr>
        <p:spPr/>
        <p:txBody>
          <a:bodyPr/>
          <a:lstStyle/>
          <a:p>
            <a:r>
              <a:rPr lang="en-US" altLang="ko-KR" dirty="0"/>
              <a:t>D2BA-AP-3CD-0601</a:t>
            </a:r>
            <a:endParaRPr lang="ko-KR" altLang="en-US" dirty="0"/>
          </a:p>
        </p:txBody>
      </p:sp>
      <p:sp>
        <p:nvSpPr>
          <p:cNvPr id="6" name="텍스트 개체 틀 5"/>
          <p:cNvSpPr>
            <a:spLocks noGrp="1"/>
          </p:cNvSpPr>
          <p:nvPr>
            <p:ph type="body" sz="quarter" idx="13"/>
          </p:nvPr>
        </p:nvSpPr>
        <p:spPr/>
        <p:txBody>
          <a:bodyPr/>
          <a:lstStyle/>
          <a:p>
            <a:r>
              <a:rPr lang="en-US" altLang="ko-KR" dirty="0"/>
              <a:t>2026.06.18</a:t>
            </a:r>
            <a:endParaRPr lang="ko-KR" altLang="en-US" dirty="0"/>
          </a:p>
        </p:txBody>
      </p:sp>
    </p:spTree>
    <p:extLst>
      <p:ext uri="{BB962C8B-B14F-4D97-AF65-F5344CB8AC3E}">
        <p14:creationId xmlns:p14="http://schemas.microsoft.com/office/powerpoint/2010/main" val="271563249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8F21A837-6853-B5CA-5641-F9A516F3B3D8}"/>
              </a:ext>
            </a:extLst>
          </p:cNvPr>
          <p:cNvSpPr>
            <a:spLocks noGrp="1"/>
          </p:cNvSpPr>
          <p:nvPr>
            <p:ph type="sldNum" sz="quarter" idx="4"/>
          </p:nvPr>
        </p:nvSpPr>
        <p:spPr/>
        <p:txBody>
          <a:bodyPr/>
          <a:lstStyle/>
          <a:p>
            <a:fld id="{34C8E023-7346-48FC-AB24-9A3388C53208}" type="slidenum">
              <a:rPr lang="ko-KR" altLang="en-US" smtClean="0"/>
              <a:pPr/>
              <a:t>1</a:t>
            </a:fld>
            <a:endParaRPr lang="ko-KR" altLang="en-US" dirty="0"/>
          </a:p>
        </p:txBody>
      </p:sp>
      <p:sp>
        <p:nvSpPr>
          <p:cNvPr id="5" name="직사각형 4">
            <a:extLst>
              <a:ext uri="{FF2B5EF4-FFF2-40B4-BE49-F238E27FC236}">
                <a16:creationId xmlns:a16="http://schemas.microsoft.com/office/drawing/2014/main" id="{BCF8D2BE-3FE8-714A-457C-A4A1521A282B}"/>
              </a:ext>
            </a:extLst>
          </p:cNvPr>
          <p:cNvSpPr/>
          <p:nvPr/>
        </p:nvSpPr>
        <p:spPr>
          <a:xfrm>
            <a:off x="3079266" y="1809750"/>
            <a:ext cx="3771900" cy="3400425"/>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AutoNum type="arabicPeriod"/>
            </a:pPr>
            <a:r>
              <a:rPr lang="ko-KR" altLang="en-US" sz="1400" dirty="0">
                <a:solidFill>
                  <a:schemeClr val="tx1"/>
                </a:solidFill>
              </a:rPr>
              <a:t>본 문서는 국방전자조달시스템 고도화 구축 사업 이외의 어떠한 목적에도 사용을 금하며</a:t>
            </a:r>
            <a:r>
              <a:rPr lang="en-US" altLang="ko-KR" sz="1400" dirty="0">
                <a:solidFill>
                  <a:schemeClr val="tx1"/>
                </a:solidFill>
              </a:rPr>
              <a:t>, </a:t>
            </a:r>
            <a:r>
              <a:rPr lang="ko-KR" altLang="en-US" sz="1400" dirty="0">
                <a:solidFill>
                  <a:schemeClr val="tx1"/>
                </a:solidFill>
              </a:rPr>
              <a:t>사업관리기관 및 개발업체  요원 이외의 열람을 통제한다</a:t>
            </a:r>
            <a:r>
              <a:rPr lang="en-US" altLang="ko-KR" sz="1400" dirty="0">
                <a:solidFill>
                  <a:schemeClr val="tx1"/>
                </a:solidFill>
              </a:rPr>
              <a:t>.</a:t>
            </a:r>
          </a:p>
          <a:p>
            <a:pPr marL="342900" indent="-342900">
              <a:buAutoNum type="arabicPeriod"/>
            </a:pPr>
            <a:endParaRPr lang="en-US" altLang="ko-KR" sz="1400" dirty="0">
              <a:solidFill>
                <a:schemeClr val="tx1"/>
              </a:solidFill>
            </a:endParaRPr>
          </a:p>
          <a:p>
            <a:pPr marL="342900" indent="-342900">
              <a:buAutoNum type="arabicPeriod"/>
            </a:pPr>
            <a:r>
              <a:rPr lang="ko-KR" altLang="en-US" sz="1400" dirty="0">
                <a:solidFill>
                  <a:schemeClr val="tx1"/>
                </a:solidFill>
              </a:rPr>
              <a:t>본 문서는 방위사업청의 승인없이 발췌 및 복사</a:t>
            </a:r>
            <a:r>
              <a:rPr lang="en-US" altLang="ko-KR" sz="1400" dirty="0">
                <a:solidFill>
                  <a:schemeClr val="tx1"/>
                </a:solidFill>
              </a:rPr>
              <a:t>, </a:t>
            </a:r>
            <a:r>
              <a:rPr lang="ko-KR" altLang="en-US" sz="1400" dirty="0">
                <a:solidFill>
                  <a:schemeClr val="tx1"/>
                </a:solidFill>
              </a:rPr>
              <a:t>배포를 금지하며</a:t>
            </a:r>
            <a:r>
              <a:rPr lang="en-US" altLang="ko-KR" sz="1400" dirty="0">
                <a:solidFill>
                  <a:schemeClr val="tx1"/>
                </a:solidFill>
              </a:rPr>
              <a:t>, </a:t>
            </a:r>
            <a:r>
              <a:rPr lang="ko-KR" altLang="en-US" sz="1400" dirty="0">
                <a:solidFill>
                  <a:schemeClr val="tx1"/>
                </a:solidFill>
              </a:rPr>
              <a:t>방위사업청  문서관리규정에 의하여 관리한다</a:t>
            </a:r>
            <a:r>
              <a:rPr lang="en-US" altLang="ko-KR" sz="1400" dirty="0">
                <a:solidFill>
                  <a:schemeClr val="tx1"/>
                </a:solidFill>
              </a:rPr>
              <a:t>.</a:t>
            </a:r>
            <a:endParaRPr lang="ko-KR" altLang="en-US" sz="1400" dirty="0">
              <a:solidFill>
                <a:schemeClr val="tx1"/>
              </a:solidFill>
            </a:endParaRPr>
          </a:p>
        </p:txBody>
      </p:sp>
      <p:sp>
        <p:nvSpPr>
          <p:cNvPr id="8" name="텍스트 개체 틀 2">
            <a:extLst>
              <a:ext uri="{FF2B5EF4-FFF2-40B4-BE49-F238E27FC236}">
                <a16:creationId xmlns:a16="http://schemas.microsoft.com/office/drawing/2014/main" id="{B3A35A62-3F88-2F9F-9F03-E16DFE92E11E}"/>
              </a:ext>
            </a:extLst>
          </p:cNvPr>
          <p:cNvSpPr txBox="1">
            <a:spLocks/>
          </p:cNvSpPr>
          <p:nvPr/>
        </p:nvSpPr>
        <p:spPr>
          <a:xfrm>
            <a:off x="2265216" y="978498"/>
            <a:ext cx="5400000" cy="417890"/>
          </a:xfrm>
          <a:prstGeom prst="rect">
            <a:avLst/>
          </a:prstGeom>
        </p:spPr>
        <p:txBody>
          <a:bodyPr anchor="ctr"/>
          <a:lstStyle>
            <a:lvl1pPr marL="0" indent="0" algn="ctr" defTabSz="914400" rtl="0" eaLnBrk="1" latinLnBrk="1" hangingPunct="1">
              <a:lnSpc>
                <a:spcPct val="100000"/>
              </a:lnSpc>
              <a:spcBef>
                <a:spcPts val="1000"/>
              </a:spcBef>
              <a:buFont typeface="Arial" panose="020B0604020202020204" pitchFamily="34" charset="0"/>
              <a:buNone/>
              <a:defRPr sz="1400" b="1" u="sng" kern="1200">
                <a:solidFill>
                  <a:schemeClr val="tx1"/>
                </a:solidFill>
                <a:latin typeface="+mn-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ko-KR" altLang="en-US" sz="1600"/>
              <a:t>경 고 문</a:t>
            </a:r>
            <a:endParaRPr lang="ko-KR" altLang="en-US" sz="1600" dirty="0"/>
          </a:p>
        </p:txBody>
      </p:sp>
    </p:spTree>
    <p:extLst>
      <p:ext uri="{BB962C8B-B14F-4D97-AF65-F5344CB8AC3E}">
        <p14:creationId xmlns:p14="http://schemas.microsoft.com/office/powerpoint/2010/main" val="2263601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2</a:t>
            </a:fld>
            <a:endParaRPr lang="ko-KR" altLang="en-US" dirty="0"/>
          </a:p>
        </p:txBody>
      </p:sp>
      <p:sp>
        <p:nvSpPr>
          <p:cNvPr id="4" name="텍스트 개체 틀 15">
            <a:extLst>
              <a:ext uri="{FF2B5EF4-FFF2-40B4-BE49-F238E27FC236}">
                <a16:creationId xmlns:a16="http://schemas.microsoft.com/office/drawing/2014/main" id="{44A815B9-A3EA-BA0B-410C-A69AB9D1A040}"/>
              </a:ext>
            </a:extLst>
          </p:cNvPr>
          <p:cNvSpPr>
            <a:spLocks noGrp="1"/>
          </p:cNvSpPr>
          <p:nvPr>
            <p:ph type="body" sz="quarter" idx="10"/>
          </p:nvPr>
        </p:nvSpPr>
        <p:spPr>
          <a:xfrm>
            <a:off x="2250485" y="821363"/>
            <a:ext cx="5400000" cy="417890"/>
          </a:xfrm>
        </p:spPr>
        <p:txBody>
          <a:bodyPr/>
          <a:lstStyle/>
          <a:p>
            <a:r>
              <a:rPr lang="ko-KR" altLang="en-US" dirty="0" err="1"/>
              <a:t>제</a:t>
            </a:r>
            <a:r>
              <a:rPr lang="ko-KR" altLang="en-US" dirty="0" err="1">
                <a:sym typeface="Wingdings" panose="05000000000000000000" pitchFamily="2" charset="2"/>
              </a:rPr>
              <a:t></a:t>
            </a:r>
            <a:r>
              <a:rPr lang="ko-KR" altLang="en-US" dirty="0" err="1"/>
              <a:t>개</a:t>
            </a:r>
            <a:r>
              <a:rPr lang="ko-KR" altLang="en-US" dirty="0"/>
              <a:t> 정 이 력</a:t>
            </a:r>
          </a:p>
        </p:txBody>
      </p:sp>
      <p:graphicFrame>
        <p:nvGraphicFramePr>
          <p:cNvPr id="7" name="Group 759">
            <a:extLst>
              <a:ext uri="{FF2B5EF4-FFF2-40B4-BE49-F238E27FC236}">
                <a16:creationId xmlns:a16="http://schemas.microsoft.com/office/drawing/2014/main" id="{2831990E-7701-AF86-804F-42A7268A9043}"/>
              </a:ext>
            </a:extLst>
          </p:cNvPr>
          <p:cNvGraphicFramePr>
            <a:graphicFrameLocks noGrp="1"/>
          </p:cNvGraphicFramePr>
          <p:nvPr>
            <p:extLst>
              <p:ext uri="{D42A27DB-BD31-4B8C-83A1-F6EECF244321}">
                <p14:modId xmlns:p14="http://schemas.microsoft.com/office/powerpoint/2010/main" val="90122830"/>
              </p:ext>
            </p:extLst>
          </p:nvPr>
        </p:nvGraphicFramePr>
        <p:xfrm>
          <a:off x="652374" y="1286787"/>
          <a:ext cx="8782571" cy="4370978"/>
        </p:xfrm>
        <a:graphic>
          <a:graphicData uri="http://schemas.openxmlformats.org/drawingml/2006/table">
            <a:tbl>
              <a:tblPr/>
              <a:tblGrid>
                <a:gridCol w="784888">
                  <a:extLst>
                    <a:ext uri="{9D8B030D-6E8A-4147-A177-3AD203B41FA5}">
                      <a16:colId xmlns:a16="http://schemas.microsoft.com/office/drawing/2014/main" val="20000"/>
                    </a:ext>
                  </a:extLst>
                </a:gridCol>
                <a:gridCol w="611958">
                  <a:extLst>
                    <a:ext uri="{9D8B030D-6E8A-4147-A177-3AD203B41FA5}">
                      <a16:colId xmlns:a16="http://schemas.microsoft.com/office/drawing/2014/main" val="20001"/>
                    </a:ext>
                  </a:extLst>
                </a:gridCol>
                <a:gridCol w="4009835">
                  <a:extLst>
                    <a:ext uri="{9D8B030D-6E8A-4147-A177-3AD203B41FA5}">
                      <a16:colId xmlns:a16="http://schemas.microsoft.com/office/drawing/2014/main" val="20002"/>
                    </a:ext>
                  </a:extLst>
                </a:gridCol>
                <a:gridCol w="1256145">
                  <a:extLst>
                    <a:ext uri="{9D8B030D-6E8A-4147-A177-3AD203B41FA5}">
                      <a16:colId xmlns:a16="http://schemas.microsoft.com/office/drawing/2014/main" val="20003"/>
                    </a:ext>
                  </a:extLst>
                </a:gridCol>
                <a:gridCol w="2119745">
                  <a:extLst>
                    <a:ext uri="{9D8B030D-6E8A-4147-A177-3AD203B41FA5}">
                      <a16:colId xmlns:a16="http://schemas.microsoft.com/office/drawing/2014/main" val="3538833938"/>
                    </a:ext>
                  </a:extLst>
                </a:gridCol>
              </a:tblGrid>
              <a:tr h="0">
                <a:tc>
                  <a:txBody>
                    <a:bodyPr/>
                    <a:lstStyle/>
                    <a:p>
                      <a:pPr algn="ctr">
                        <a:lnSpc>
                          <a:spcPct val="120000"/>
                        </a:lnSpc>
                        <a:defRPr/>
                      </a:pPr>
                      <a:r>
                        <a:rPr lang="ko-KR" altLang="en-US" sz="1000" b="1" i="0" u="none" strike="noStrike">
                          <a:solidFill>
                            <a:srgbClr val="000000"/>
                          </a:solidFill>
                          <a:effectLst/>
                          <a:latin typeface="맑은 고딕"/>
                          <a:ea typeface="맑은 고딕"/>
                        </a:rPr>
                        <a:t>제개정일</a:t>
                      </a:r>
                      <a:endParaRPr lang="ko-KR" altLang="en-US" sz="1000" b="1"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a:solidFill>
                            <a:srgbClr val="000000"/>
                          </a:solidFill>
                          <a:effectLst/>
                          <a:latin typeface="맑은 고딕"/>
                          <a:ea typeface="맑은 고딕"/>
                        </a:rPr>
                        <a:t>버전</a:t>
                      </a:r>
                      <a:endParaRPr lang="ko-KR" altLang="en-US" sz="1000" b="1"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effectLst/>
                          <a:latin typeface="맑은 고딕"/>
                          <a:ea typeface="맑은 고딕"/>
                        </a:rPr>
                        <a:t>제개정내용</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effectLst/>
                          <a:latin typeface="맑은 고딕"/>
                          <a:ea typeface="맑은 고딕"/>
                        </a:rPr>
                        <a:t>작성자</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latin typeface="맑은 고딕"/>
                          <a:ea typeface="맑은 고딕"/>
                        </a:rPr>
                        <a:t>승인자 및 관련근거</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extLst>
                  <a:ext uri="{0D108BD9-81ED-4DB2-BD59-A6C34878D82A}">
                    <a16:rowId xmlns:a16="http://schemas.microsoft.com/office/drawing/2014/main" val="10000"/>
                  </a:ext>
                </a:extLst>
              </a:tr>
              <a:tr h="0">
                <a:tc>
                  <a:txBody>
                    <a:bodyPr/>
                    <a:lstStyle/>
                    <a:p>
                      <a:pPr algn="ctr">
                        <a:lnSpc>
                          <a:spcPct val="120000"/>
                        </a:lnSpc>
                        <a:defRPr/>
                      </a:pPr>
                      <a:r>
                        <a:rPr lang="en-US" sz="900" b="0" i="0" u="none" strike="noStrike" dirty="0">
                          <a:solidFill>
                            <a:srgbClr val="000000"/>
                          </a:solidFill>
                          <a:effectLst/>
                          <a:latin typeface="맑은 고딕"/>
                          <a:ea typeface="맑은 고딕"/>
                        </a:rPr>
                        <a:t>2025.11.03</a:t>
                      </a:r>
                      <a:endParaRPr 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a:solidFill>
                            <a:srgbClr val="000000"/>
                          </a:solidFill>
                          <a:effectLst/>
                          <a:latin typeface="맑은 고딕"/>
                          <a:ea typeface="맑은 고딕"/>
                        </a:rPr>
                        <a:t>0.1</a:t>
                      </a:r>
                      <a:endParaRPr 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ko-KR" altLang="en-US" sz="900" b="0" i="0" u="none" strike="noStrike">
                          <a:solidFill>
                            <a:srgbClr val="000000"/>
                          </a:solidFill>
                          <a:effectLst/>
                          <a:latin typeface="맑은 고딕"/>
                          <a:ea typeface="맑은 고딕"/>
                        </a:rPr>
                        <a:t>서식 작성</a:t>
                      </a:r>
                      <a:endParaRPr lang="ko-KR" alt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latin typeface="+mn-lt"/>
                          <a:ea typeface="맑은 고딕"/>
                        </a:rPr>
                        <a:t>신미영</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0">
                <a:tc>
                  <a:txBody>
                    <a:bodyPr/>
                    <a:lstStyle/>
                    <a:p>
                      <a:pPr algn="ctr">
                        <a:lnSpc>
                          <a:spcPct val="120000"/>
                        </a:lnSpc>
                        <a:defRPr/>
                      </a:pPr>
                      <a:r>
                        <a:rPr lang="en-US" altLang="ko-KR" sz="900" b="0" i="0" u="none" strike="noStrike" dirty="0">
                          <a:solidFill>
                            <a:srgbClr val="000000"/>
                          </a:solidFill>
                          <a:effectLst/>
                          <a:latin typeface="맑은 고딕"/>
                          <a:ea typeface="맑은 고딕"/>
                        </a:rPr>
                        <a:t>2026.03.16</a:t>
                      </a: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dirty="0">
                          <a:solidFill>
                            <a:srgbClr val="000000"/>
                          </a:solidFill>
                          <a:effectLst/>
                          <a:latin typeface="맑은 고딕"/>
                          <a:ea typeface="맑은 고딕"/>
                        </a:rPr>
                        <a:t>0.3.2</a:t>
                      </a:r>
                      <a:endParaRPr 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ko-KR" altLang="en-US" sz="900" b="0" i="0" u="none" strike="noStrike" dirty="0">
                          <a:solidFill>
                            <a:srgbClr val="000000"/>
                          </a:solidFill>
                          <a:effectLst/>
                          <a:latin typeface="맑은 고딕"/>
                          <a:ea typeface="맑은 고딕"/>
                        </a:rPr>
                        <a:t>서식 수정</a:t>
                      </a:r>
                      <a:endParaRPr lang="en-US" altLang="ko-KR"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latin typeface="맑은 고딕"/>
                          <a:ea typeface="맑은 고딕"/>
                        </a:rPr>
                        <a:t>김민재</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43089213"/>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2026.03.18</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0.5</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작성 완료</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66129506"/>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2026.03.20</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내부 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73795284"/>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0.7</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PL </a:t>
                      </a:r>
                      <a:r>
                        <a:rPr lang="ko-KR" altLang="en-US" sz="900" b="0" i="0" u="none" strike="noStrike" kern="1200" dirty="0">
                          <a:solidFill>
                            <a:srgbClr val="000000"/>
                          </a:solidFill>
                          <a:effectLst/>
                          <a:latin typeface="맑은 고딕"/>
                          <a:ea typeface="맑은 고딕"/>
                          <a:cs typeface="+mn-cs"/>
                        </a:rPr>
                        <a:t>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err="1">
                          <a:solidFill>
                            <a:srgbClr val="000000"/>
                          </a:solidFill>
                          <a:latin typeface="맑은 고딕"/>
                          <a:ea typeface="맑은 고딕"/>
                          <a:cs typeface="+mn-cs"/>
                        </a:rPr>
                        <a:t>황종서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91604731"/>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2026.03.25</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0.8</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품질 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맑은 고딕"/>
                          <a:ea typeface="맑은 고딕"/>
                          <a:cs typeface="+mn-cs"/>
                        </a:rPr>
                        <a:t>김민재</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03022206"/>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0.9</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PM </a:t>
                      </a:r>
                      <a:r>
                        <a:rPr lang="ko-KR" altLang="en-US" sz="900" b="0" i="0" u="none" strike="noStrike" kern="1200" dirty="0">
                          <a:solidFill>
                            <a:srgbClr val="000000"/>
                          </a:solidFill>
                          <a:effectLst/>
                          <a:latin typeface="맑은 고딕"/>
                          <a:ea typeface="맑은 고딕"/>
                          <a:cs typeface="+mn-cs"/>
                        </a:rPr>
                        <a:t>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맑은 고딕"/>
                          <a:ea typeface="맑은 고딕"/>
                          <a:cs typeface="+mn-cs"/>
                        </a:rPr>
                        <a:t>박재욱</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08791080"/>
                  </a:ext>
                </a:extLst>
              </a:tr>
              <a:tr h="0">
                <a:tc>
                  <a:txBody>
                    <a:bodyPr/>
                    <a:lstStyle/>
                    <a:p>
                      <a:pPr marL="0" marR="0" lvl="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2026.04.17</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dirty="0">
                          <a:solidFill>
                            <a:srgbClr val="000000"/>
                          </a:solidFill>
                          <a:latin typeface="맑은 고딕"/>
                          <a:ea typeface="맑은 고딕"/>
                        </a:rPr>
                        <a:t>1.0</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en-US" altLang="ko-KR" sz="900" b="0" i="0" u="none" strike="noStrike" dirty="0">
                          <a:solidFill>
                            <a:srgbClr val="000000"/>
                          </a:solidFill>
                          <a:latin typeface="맑은 고딕"/>
                          <a:ea typeface="맑은 고딕"/>
                        </a:rPr>
                        <a:t>TF </a:t>
                      </a:r>
                      <a:r>
                        <a:rPr lang="ko-KR" altLang="en-US" sz="900" b="0" i="0" u="none" strike="noStrike" dirty="0">
                          <a:solidFill>
                            <a:srgbClr val="000000"/>
                          </a:solidFill>
                          <a:latin typeface="맑은 고딕"/>
                          <a:ea typeface="맑은 고딕"/>
                        </a:rPr>
                        <a:t>승인</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effectLst/>
                          <a:latin typeface="맑은 고딕"/>
                          <a:ea typeface="맑은 고딕"/>
                        </a:rPr>
                        <a:t>박재욱</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2026.06.16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1.4</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err="1">
                          <a:solidFill>
                            <a:srgbClr val="000000"/>
                          </a:solidFill>
                          <a:effectLst/>
                          <a:latin typeface="+mn-lt"/>
                          <a:ea typeface="맑은 고딕"/>
                          <a:cs typeface="+mn-cs"/>
                        </a:rPr>
                        <a:t>설계단계</a:t>
                      </a:r>
                      <a:r>
                        <a:rPr lang="ko-KR" altLang="en-US" sz="900" b="0" i="0" u="none" strike="noStrike" kern="1200" dirty="0">
                          <a:solidFill>
                            <a:srgbClr val="000000"/>
                          </a:solidFill>
                          <a:effectLst/>
                          <a:latin typeface="+mn-lt"/>
                          <a:ea typeface="맑은 고딕"/>
                          <a:cs typeface="+mn-cs"/>
                        </a:rPr>
                        <a:t> </a:t>
                      </a:r>
                      <a:r>
                        <a:rPr lang="ko-KR" altLang="en-US" sz="900" b="0" i="0" u="none" strike="noStrike" kern="1200" dirty="0">
                          <a:solidFill>
                            <a:srgbClr val="000000"/>
                          </a:solidFill>
                          <a:effectLst/>
                          <a:latin typeface="맑은 고딕"/>
                          <a:ea typeface="맑은 고딕"/>
                          <a:cs typeface="+mn-cs"/>
                        </a:rPr>
                        <a:t>작성 완료</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0">
                <a:tc>
                  <a:txBody>
                    <a:bodyPr/>
                    <a:lstStyle/>
                    <a:p>
                      <a:pPr marL="0" marR="0" lvl="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2026.06.16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dirty="0">
                          <a:solidFill>
                            <a:srgbClr val="000000"/>
                          </a:solidFill>
                          <a:latin typeface="맑은 고딕"/>
                          <a:ea typeface="맑은 고딕"/>
                        </a:rPr>
                        <a:t>1.5</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err="1">
                          <a:solidFill>
                            <a:srgbClr val="000000"/>
                          </a:solidFill>
                          <a:effectLst/>
                          <a:latin typeface="+mn-lt"/>
                          <a:ea typeface="맑은 고딕"/>
                          <a:cs typeface="+mn-cs"/>
                        </a:rPr>
                        <a:t>설계단계</a:t>
                      </a:r>
                      <a:r>
                        <a:rPr lang="ko-KR" altLang="en-US" sz="900" b="0" i="0" u="none" strike="noStrike" kern="1200" dirty="0">
                          <a:solidFill>
                            <a:srgbClr val="000000"/>
                          </a:solidFill>
                          <a:effectLst/>
                          <a:latin typeface="+mn-lt"/>
                          <a:ea typeface="맑은 고딕"/>
                          <a:cs typeface="+mn-cs"/>
                        </a:rPr>
                        <a:t> 내부 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0">
                <a:tc>
                  <a:txBody>
                    <a:bodyPr/>
                    <a:lstStyle/>
                    <a:p>
                      <a:pPr marL="0" marR="0" lvl="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2026.06.17</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1.6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err="1">
                          <a:solidFill>
                            <a:srgbClr val="000000"/>
                          </a:solidFill>
                          <a:effectLst/>
                          <a:latin typeface="+mn-lt"/>
                          <a:ea typeface="맑은 고딕"/>
                          <a:cs typeface="+mn-cs"/>
                        </a:rPr>
                        <a:t>설계단계</a:t>
                      </a:r>
                      <a:r>
                        <a:rPr lang="ko-KR" altLang="en-US" sz="900" b="0" i="0" u="none" strike="noStrike" kern="1200" dirty="0">
                          <a:solidFill>
                            <a:srgbClr val="000000"/>
                          </a:solidFill>
                          <a:effectLst/>
                          <a:latin typeface="+mn-lt"/>
                          <a:ea typeface="맑은 고딕"/>
                          <a:cs typeface="+mn-cs"/>
                        </a:rPr>
                        <a:t> </a:t>
                      </a:r>
                      <a:r>
                        <a:rPr lang="en-US" altLang="ko-KR" sz="900" b="0" i="0" u="none" strike="noStrike" kern="1200" dirty="0">
                          <a:solidFill>
                            <a:srgbClr val="000000"/>
                          </a:solidFill>
                          <a:effectLst/>
                          <a:latin typeface="+mn-lt"/>
                          <a:ea typeface="맑은 고딕"/>
                          <a:cs typeface="+mn-cs"/>
                        </a:rPr>
                        <a:t>PL </a:t>
                      </a:r>
                      <a:r>
                        <a:rPr lang="ko-KR" altLang="en-US" sz="900" b="0" i="0" u="none" strike="noStrike" kern="1200" dirty="0">
                          <a:solidFill>
                            <a:srgbClr val="000000"/>
                          </a:solidFill>
                          <a:effectLst/>
                          <a:latin typeface="+mn-lt"/>
                          <a:ea typeface="맑은 고딕"/>
                          <a:cs typeface="+mn-cs"/>
                        </a:rPr>
                        <a:t>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err="1">
                          <a:solidFill>
                            <a:srgbClr val="000000"/>
                          </a:solidFill>
                          <a:latin typeface="+mn-lt"/>
                          <a:ea typeface="맑은 고딕"/>
                          <a:cs typeface="+mn-cs"/>
                        </a:rPr>
                        <a:t>황종서</a:t>
                      </a:r>
                      <a:endParaRPr lang="ko-KR" altLang="en-US" sz="900" b="0" i="0" u="none" strike="noStrike" kern="1200" dirty="0">
                        <a:solidFill>
                          <a:srgbClr val="000000"/>
                        </a:solidFill>
                        <a:latin typeface="+mn-lt"/>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mn-lt"/>
                          <a:ea typeface="맑은 고딕"/>
                          <a:cs typeface="+mn-cs"/>
                        </a:rPr>
                        <a:t>2026.06.17</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latin typeface="맑은 고딕"/>
                          <a:ea typeface="맑은 고딕"/>
                          <a:cs typeface="+mn-cs"/>
                        </a:rPr>
                        <a:t>1.7</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품질 검토</a:t>
                      </a:r>
                    </a:p>
                  </a:txBody>
                  <a:tcPr marL="53975" marR="5397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김민재</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mn-lt"/>
                          <a:ea typeface="맑은 고딕"/>
                          <a:cs typeface="+mn-cs"/>
                        </a:rPr>
                        <a:t>2026.06.18</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latin typeface="맑은 고딕"/>
                          <a:ea typeface="맑은 고딕"/>
                          <a:cs typeface="+mn-cs"/>
                        </a:rPr>
                        <a:t>1.8</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PM </a:t>
                      </a:r>
                      <a:r>
                        <a:rPr lang="ko-KR" altLang="en-US" sz="900" b="0" i="0" u="none" strike="noStrike" kern="1200" dirty="0">
                          <a:solidFill>
                            <a:srgbClr val="000000"/>
                          </a:solidFill>
                          <a:effectLst/>
                          <a:latin typeface="맑은 고딕"/>
                          <a:ea typeface="맑은 고딕"/>
                          <a:cs typeface="+mn-cs"/>
                        </a:rPr>
                        <a:t>검토</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박재욱</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mn-lt"/>
                          <a:ea typeface="맑은 고딕"/>
                          <a:cs typeface="+mn-cs"/>
                        </a:rPr>
                        <a:t>2026.06.18</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latin typeface="맑은 고딕"/>
                          <a:ea typeface="맑은 고딕"/>
                          <a:cs typeface="+mn-cs"/>
                        </a:rPr>
                        <a:t>1.9</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altLang="ko-KR" sz="900" b="0" i="0" u="none" strike="noStrike" kern="1200" dirty="0">
                          <a:solidFill>
                            <a:srgbClr val="000000"/>
                          </a:solidFill>
                          <a:effectLst/>
                          <a:latin typeface="맑은 고딕"/>
                          <a:ea typeface="맑은 고딕"/>
                          <a:cs typeface="+mn-cs"/>
                        </a:rPr>
                        <a:t>PMO </a:t>
                      </a:r>
                      <a:r>
                        <a:rPr lang="ko-KR" altLang="en-US" sz="900" b="0" i="0" u="none" strike="noStrike" kern="1200" dirty="0">
                          <a:solidFill>
                            <a:srgbClr val="000000"/>
                          </a:solidFill>
                          <a:effectLst/>
                          <a:latin typeface="맑은 고딕"/>
                          <a:ea typeface="맑은 고딕"/>
                          <a:cs typeface="+mn-cs"/>
                        </a:rPr>
                        <a:t>검토 및 </a:t>
                      </a:r>
                      <a:r>
                        <a:rPr lang="en-US" altLang="ko-KR" sz="900" b="0" i="0" u="none" strike="noStrike" kern="1200" dirty="0">
                          <a:solidFill>
                            <a:srgbClr val="000000"/>
                          </a:solidFill>
                          <a:effectLst/>
                          <a:latin typeface="맑은 고딕"/>
                          <a:ea typeface="맑은 고딕"/>
                          <a:cs typeface="+mn-cs"/>
                        </a:rPr>
                        <a:t>TF </a:t>
                      </a:r>
                      <a:r>
                        <a:rPr lang="ko-KR" altLang="en-US" sz="900" b="0" i="0" u="none" strike="noStrike" kern="1200" dirty="0">
                          <a:solidFill>
                            <a:srgbClr val="000000"/>
                          </a:solidFill>
                          <a:effectLst/>
                          <a:latin typeface="맑은 고딕"/>
                          <a:ea typeface="맑은 고딕"/>
                          <a:cs typeface="+mn-cs"/>
                        </a:rPr>
                        <a:t>검토요청</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김민재</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0">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effectLst/>
                        <a:latin typeface="+mn-lt"/>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29776545"/>
                  </a:ext>
                </a:extLst>
              </a:tr>
              <a:tr h="0">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effectLst/>
                        <a:latin typeface="+mn-lt"/>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75667561"/>
                  </a:ext>
                </a:extLst>
              </a:tr>
            </a:tbl>
          </a:graphicData>
        </a:graphic>
      </p:graphicFrame>
    </p:spTree>
    <p:extLst>
      <p:ext uri="{BB962C8B-B14F-4D97-AF65-F5344CB8AC3E}">
        <p14:creationId xmlns:p14="http://schemas.microsoft.com/office/powerpoint/2010/main" val="223024895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3</a:t>
            </a:fld>
            <a:endParaRPr lang="ko-KR" altLang="en-US"/>
          </a:p>
        </p:txBody>
      </p:sp>
      <p:sp>
        <p:nvSpPr>
          <p:cNvPr id="7" name="텍스트 개체 틀 15">
            <a:extLst>
              <a:ext uri="{FF2B5EF4-FFF2-40B4-BE49-F238E27FC236}">
                <a16:creationId xmlns:a16="http://schemas.microsoft.com/office/drawing/2014/main" id="{74E68DA1-2E20-231A-31AD-28EAC2F24FE9}"/>
              </a:ext>
            </a:extLst>
          </p:cNvPr>
          <p:cNvSpPr txBox="1">
            <a:spLocks/>
          </p:cNvSpPr>
          <p:nvPr/>
        </p:nvSpPr>
        <p:spPr>
          <a:xfrm>
            <a:off x="2250485" y="959912"/>
            <a:ext cx="5400000" cy="417890"/>
          </a:xfrm>
          <a:prstGeom prst="rect">
            <a:avLst/>
          </a:prstGeom>
        </p:spPr>
        <p:txBody>
          <a:bodyPr anchor="ctr"/>
          <a:lstStyle>
            <a:lvl1pPr marL="0" indent="0" algn="ctr" defTabSz="914400" rtl="0" eaLnBrk="1" latinLnBrk="1" hangingPunct="1">
              <a:lnSpc>
                <a:spcPct val="100000"/>
              </a:lnSpc>
              <a:spcBef>
                <a:spcPts val="1000"/>
              </a:spcBef>
              <a:buFont typeface="Arial" panose="020B0604020202020204" pitchFamily="34" charset="0"/>
              <a:buNone/>
              <a:defRPr sz="1400" b="1" u="sng" kern="1200">
                <a:solidFill>
                  <a:schemeClr val="tx1"/>
                </a:solidFill>
                <a:latin typeface="+mn-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ko-KR" altLang="en-US" dirty="0"/>
              <a:t>신구 변경 </a:t>
            </a:r>
            <a:r>
              <a:rPr lang="ko-KR" altLang="en-US" dirty="0" err="1"/>
              <a:t>내용표</a:t>
            </a:r>
            <a:endParaRPr lang="ko-KR" altLang="en-US" dirty="0"/>
          </a:p>
        </p:txBody>
      </p:sp>
      <p:graphicFrame>
        <p:nvGraphicFramePr>
          <p:cNvPr id="8" name="Group 759">
            <a:extLst>
              <a:ext uri="{FF2B5EF4-FFF2-40B4-BE49-F238E27FC236}">
                <a16:creationId xmlns:a16="http://schemas.microsoft.com/office/drawing/2014/main" id="{319C15BD-6050-0EF7-51D6-033B70274342}"/>
              </a:ext>
            </a:extLst>
          </p:cNvPr>
          <p:cNvGraphicFramePr>
            <a:graphicFrameLocks noGrp="1"/>
          </p:cNvGraphicFramePr>
          <p:nvPr>
            <p:extLst>
              <p:ext uri="{D42A27DB-BD31-4B8C-83A1-F6EECF244321}">
                <p14:modId xmlns:p14="http://schemas.microsoft.com/office/powerpoint/2010/main" val="322305765"/>
              </p:ext>
            </p:extLst>
          </p:nvPr>
        </p:nvGraphicFramePr>
        <p:xfrm>
          <a:off x="652374" y="1416776"/>
          <a:ext cx="8782571" cy="1243241"/>
        </p:xfrm>
        <a:graphic>
          <a:graphicData uri="http://schemas.openxmlformats.org/drawingml/2006/table">
            <a:tbl>
              <a:tblPr/>
              <a:tblGrid>
                <a:gridCol w="590475">
                  <a:extLst>
                    <a:ext uri="{9D8B030D-6E8A-4147-A177-3AD203B41FA5}">
                      <a16:colId xmlns:a16="http://schemas.microsoft.com/office/drawing/2014/main" val="20000"/>
                    </a:ext>
                  </a:extLst>
                </a:gridCol>
                <a:gridCol w="460379">
                  <a:extLst>
                    <a:ext uri="{9D8B030D-6E8A-4147-A177-3AD203B41FA5}">
                      <a16:colId xmlns:a16="http://schemas.microsoft.com/office/drawing/2014/main" val="20001"/>
                    </a:ext>
                  </a:extLst>
                </a:gridCol>
                <a:gridCol w="980595">
                  <a:extLst>
                    <a:ext uri="{9D8B030D-6E8A-4147-A177-3AD203B41FA5}">
                      <a16:colId xmlns:a16="http://schemas.microsoft.com/office/drawing/2014/main" val="20002"/>
                    </a:ext>
                  </a:extLst>
                </a:gridCol>
                <a:gridCol w="1668483">
                  <a:extLst>
                    <a:ext uri="{9D8B030D-6E8A-4147-A177-3AD203B41FA5}">
                      <a16:colId xmlns:a16="http://schemas.microsoft.com/office/drawing/2014/main" val="20003"/>
                    </a:ext>
                  </a:extLst>
                </a:gridCol>
                <a:gridCol w="4144489">
                  <a:extLst>
                    <a:ext uri="{9D8B030D-6E8A-4147-A177-3AD203B41FA5}">
                      <a16:colId xmlns:a16="http://schemas.microsoft.com/office/drawing/2014/main" val="3538833938"/>
                    </a:ext>
                  </a:extLst>
                </a:gridCol>
                <a:gridCol w="938150">
                  <a:extLst>
                    <a:ext uri="{9D8B030D-6E8A-4147-A177-3AD203B41FA5}">
                      <a16:colId xmlns:a16="http://schemas.microsoft.com/office/drawing/2014/main" val="3926415557"/>
                    </a:ext>
                  </a:extLst>
                </a:gridCol>
              </a:tblGrid>
              <a:tr h="0">
                <a:tc>
                  <a:txBody>
                    <a:bodyPr/>
                    <a:lstStyle/>
                    <a:p>
                      <a:pPr algn="ctr">
                        <a:lnSpc>
                          <a:spcPct val="120000"/>
                        </a:lnSpc>
                        <a:defRPr/>
                      </a:pPr>
                      <a:r>
                        <a:rPr lang="ko-KR" altLang="en-US" sz="1000" b="1" i="0" u="none" strike="noStrike" dirty="0">
                          <a:solidFill>
                            <a:srgbClr val="000000"/>
                          </a:solidFill>
                          <a:effectLst/>
                          <a:latin typeface="맑은 고딕"/>
                          <a:ea typeface="맑은 고딕"/>
                        </a:rPr>
                        <a:t>순번</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err="1">
                          <a:solidFill>
                            <a:srgbClr val="000000"/>
                          </a:solidFill>
                          <a:effectLst/>
                          <a:latin typeface="맑은 고딕"/>
                          <a:ea typeface="맑은 고딕"/>
                        </a:rPr>
                        <a:t>구버전</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err="1">
                          <a:solidFill>
                            <a:srgbClr val="000000"/>
                          </a:solidFill>
                          <a:effectLst/>
                          <a:latin typeface="맑은 고딕"/>
                          <a:ea typeface="맑은 고딕"/>
                        </a:rPr>
                        <a:t>신버전</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effectLst/>
                          <a:latin typeface="맑은 고딕"/>
                          <a:ea typeface="맑은 고딕"/>
                        </a:rPr>
                        <a:t>변경 항목</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latin typeface="맑은 고딕"/>
                          <a:ea typeface="맑은 고딕"/>
                        </a:rPr>
                        <a:t>변경 내용</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latin typeface="맑은 고딕"/>
                          <a:ea typeface="맑은 고딕"/>
                        </a:rPr>
                        <a:t>  작성자</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extLst>
                  <a:ext uri="{0D108BD9-81ED-4DB2-BD59-A6C34878D82A}">
                    <a16:rowId xmlns:a16="http://schemas.microsoft.com/office/drawing/2014/main" val="10000"/>
                  </a:ext>
                </a:extLst>
              </a:tr>
              <a:tr h="106615">
                <a:tc rowSpan="2">
                  <a:txBody>
                    <a:bodyPr/>
                    <a:lstStyle/>
                    <a:p>
                      <a:pPr algn="ctr">
                        <a:lnSpc>
                          <a:spcPct val="120000"/>
                        </a:lnSpc>
                        <a:defRPr/>
                      </a:pPr>
                      <a:r>
                        <a:rPr lang="en-US" sz="900" b="0" i="0" u="none" strike="noStrike" dirty="0">
                          <a:solidFill>
                            <a:srgbClr val="000000"/>
                          </a:solidFill>
                          <a:effectLst/>
                          <a:latin typeface="맑은 고딕"/>
                          <a:ea typeface="맑은 고딕"/>
                        </a:rPr>
                        <a:t>1</a:t>
                      </a:r>
                      <a:endParaRPr 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algn="ctr">
                        <a:lnSpc>
                          <a:spcPct val="120000"/>
                        </a:lnSpc>
                        <a:defRPr/>
                      </a:pPr>
                      <a:r>
                        <a:rPr lang="en-US" sz="900" b="0" i="0" u="none" strike="noStrike" dirty="0">
                          <a:solidFill>
                            <a:srgbClr val="000000"/>
                          </a:solidFill>
                          <a:latin typeface="맑은 고딕"/>
                          <a:ea typeface="맑은 고딕"/>
                        </a:rPr>
                        <a:t>0.9</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algn="ctr">
                        <a:lnSpc>
                          <a:spcPct val="120000"/>
                        </a:lnSpc>
                        <a:defRPr/>
                      </a:pPr>
                      <a:r>
                        <a:rPr lang="en-US" altLang="ko-KR" sz="900" b="0" i="0" u="none" strike="noStrike" dirty="0">
                          <a:solidFill>
                            <a:srgbClr val="000000"/>
                          </a:solidFill>
                          <a:latin typeface="맑은 고딕"/>
                          <a:ea typeface="맑은 고딕"/>
                        </a:rPr>
                        <a:t>1.0</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err="1">
                          <a:solidFill>
                            <a:srgbClr val="000000"/>
                          </a:solidFill>
                          <a:latin typeface="+mn-lt"/>
                          <a:ea typeface="맑은 고딕"/>
                        </a:rPr>
                        <a:t>유스케이스</a:t>
                      </a:r>
                      <a:r>
                        <a:rPr lang="ko-KR" altLang="en-US" sz="900" b="0" i="0" u="none" strike="noStrike" dirty="0">
                          <a:solidFill>
                            <a:srgbClr val="000000"/>
                          </a:solidFill>
                          <a:latin typeface="+mn-lt"/>
                          <a:ea typeface="맑은 고딕"/>
                        </a:rPr>
                        <a:t> </a:t>
                      </a:r>
                      <a:r>
                        <a:rPr lang="en-US" altLang="ko-KR" sz="900" b="0" i="0" u="none" strike="noStrike" dirty="0">
                          <a:solidFill>
                            <a:srgbClr val="000000"/>
                          </a:solidFill>
                          <a:latin typeface="+mn-lt"/>
                          <a:ea typeface="맑은 고딕"/>
                        </a:rPr>
                        <a:t>ID</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ko-KR" altLang="en-US" sz="900" b="0" i="0" u="none" strike="noStrike" dirty="0">
                          <a:solidFill>
                            <a:srgbClr val="000000"/>
                          </a:solidFill>
                          <a:latin typeface="+mn-lt"/>
                          <a:ea typeface="맑은 고딕"/>
                        </a:rPr>
                        <a:t> </a:t>
                      </a:r>
                      <a:r>
                        <a:rPr lang="ko-KR" altLang="en-US" sz="900" b="0" i="0" u="none" strike="noStrike" dirty="0" err="1">
                          <a:solidFill>
                            <a:srgbClr val="000000"/>
                          </a:solidFill>
                          <a:latin typeface="+mn-lt"/>
                          <a:ea typeface="맑은 고딕"/>
                        </a:rPr>
                        <a:t>화면목록</a:t>
                      </a:r>
                      <a:r>
                        <a:rPr lang="ko-KR" altLang="en-US" sz="900" b="0" i="0" u="none" strike="noStrike" dirty="0">
                          <a:solidFill>
                            <a:srgbClr val="000000"/>
                          </a:solidFill>
                          <a:latin typeface="+mn-lt"/>
                          <a:ea typeface="맑은 고딕"/>
                        </a:rPr>
                        <a:t> </a:t>
                      </a:r>
                      <a:r>
                        <a:rPr lang="ko-KR" altLang="en-US" sz="900" b="0" i="0" u="none" strike="noStrike" dirty="0" err="1">
                          <a:solidFill>
                            <a:srgbClr val="000000"/>
                          </a:solidFill>
                          <a:latin typeface="+mn-lt"/>
                          <a:ea typeface="맑은 고딕"/>
                        </a:rPr>
                        <a:t>유스케이스</a:t>
                      </a:r>
                      <a:r>
                        <a:rPr lang="ko-KR" altLang="en-US" sz="900" b="0" i="0" u="none" strike="noStrike" dirty="0">
                          <a:solidFill>
                            <a:srgbClr val="000000"/>
                          </a:solidFill>
                          <a:latin typeface="+mn-lt"/>
                          <a:ea typeface="맑은 고딕"/>
                        </a:rPr>
                        <a:t> 정보에 </a:t>
                      </a:r>
                      <a:r>
                        <a:rPr lang="en-US" altLang="ko-KR" sz="900" b="0" i="0" u="none" strike="noStrike" dirty="0">
                          <a:solidFill>
                            <a:srgbClr val="000000"/>
                          </a:solidFill>
                          <a:latin typeface="+mn-lt"/>
                          <a:ea typeface="맑은 고딕"/>
                        </a:rPr>
                        <a:t>PC</a:t>
                      </a:r>
                      <a:r>
                        <a:rPr lang="ko-KR" altLang="en-US" sz="900" b="0" i="0" u="none" strike="noStrike" dirty="0">
                          <a:solidFill>
                            <a:srgbClr val="000000"/>
                          </a:solidFill>
                          <a:latin typeface="+mn-lt"/>
                          <a:ea typeface="맑은 고딕"/>
                        </a:rPr>
                        <a:t>의 </a:t>
                      </a:r>
                      <a:r>
                        <a:rPr lang="ko-KR" altLang="en-US" sz="900" b="0" i="0" u="none" strike="noStrike" dirty="0" err="1">
                          <a:solidFill>
                            <a:srgbClr val="000000"/>
                          </a:solidFill>
                          <a:latin typeface="+mn-lt"/>
                          <a:ea typeface="맑은 고딕"/>
                        </a:rPr>
                        <a:t>유스케이스</a:t>
                      </a:r>
                      <a:r>
                        <a:rPr lang="ko-KR" altLang="en-US" sz="900" b="0" i="0" u="none" strike="noStrike" dirty="0">
                          <a:solidFill>
                            <a:srgbClr val="000000"/>
                          </a:solidFill>
                          <a:latin typeface="+mn-lt"/>
                          <a:ea typeface="맑은 고딕"/>
                        </a:rPr>
                        <a:t> </a:t>
                      </a:r>
                      <a:r>
                        <a:rPr lang="en-US" altLang="ko-KR" sz="900" b="0" i="0" u="none" strike="noStrike" dirty="0">
                          <a:solidFill>
                            <a:srgbClr val="000000"/>
                          </a:solidFill>
                          <a:latin typeface="+mn-lt"/>
                          <a:ea typeface="맑은 고딕"/>
                        </a:rPr>
                        <a:t>ID </a:t>
                      </a:r>
                      <a:r>
                        <a:rPr lang="ko-KR" altLang="en-US" sz="900" b="0" i="0" u="none" strike="noStrike" dirty="0">
                          <a:solidFill>
                            <a:srgbClr val="000000"/>
                          </a:solidFill>
                          <a:latin typeface="+mn-lt"/>
                          <a:ea typeface="맑은 고딕"/>
                        </a:rPr>
                        <a:t>들어 있는 것 있어 수정</a:t>
                      </a:r>
                      <a:endParaRPr lang="en-US" altLang="ko-KR" sz="900" b="0" i="0" u="none" strike="noStrike" dirty="0">
                        <a:solidFill>
                          <a:srgbClr val="000000"/>
                        </a:solidFill>
                        <a:latin typeface="+mn-lt"/>
                        <a:ea typeface="맑은 고딕"/>
                      </a:endParaRPr>
                    </a:p>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900" b="0" i="0" u="none" strike="noStrike" dirty="0">
                          <a:solidFill>
                            <a:srgbClr val="000000"/>
                          </a:solidFill>
                          <a:latin typeface="+mn-lt"/>
                          <a:ea typeface="맑은 고딕"/>
                        </a:rPr>
                        <a:t>관련 목록 </a:t>
                      </a:r>
                      <a:r>
                        <a:rPr lang="en-US" altLang="ko-KR" sz="900" b="0" i="0" u="none" strike="noStrike" dirty="0">
                          <a:solidFill>
                            <a:srgbClr val="000000"/>
                          </a:solidFill>
                          <a:latin typeface="+mn-lt"/>
                          <a:ea typeface="맑은 고딕"/>
                        </a:rPr>
                        <a:t>:</a:t>
                      </a:r>
                      <a:r>
                        <a:rPr lang="en-US" altLang="ko-KR" sz="900" b="0" i="0" u="none" strike="noStrike" baseline="0" dirty="0">
                          <a:solidFill>
                            <a:srgbClr val="000000"/>
                          </a:solidFill>
                          <a:latin typeface="+mn-lt"/>
                          <a:ea typeface="맑은 고딕"/>
                        </a:rPr>
                        <a:t> 6.1 </a:t>
                      </a:r>
                      <a:r>
                        <a:rPr lang="ko-KR" altLang="en-US" sz="900" b="0" i="0" u="none" strike="noStrike" baseline="0" dirty="0" err="1">
                          <a:solidFill>
                            <a:srgbClr val="000000"/>
                          </a:solidFill>
                          <a:latin typeface="+mn-lt"/>
                          <a:ea typeface="맑은 고딕"/>
                        </a:rPr>
                        <a:t>화면목록</a:t>
                      </a:r>
                      <a:r>
                        <a:rPr lang="en-US" altLang="ko-KR" sz="900" b="0" i="0" u="none" strike="noStrike" baseline="0" dirty="0">
                          <a:solidFill>
                            <a:srgbClr val="000000"/>
                          </a:solidFill>
                          <a:latin typeface="+mn-lt"/>
                          <a:ea typeface="맑은 고딕"/>
                        </a:rPr>
                        <a:t>( </a:t>
                      </a:r>
                      <a:r>
                        <a:rPr lang="ko-KR" altLang="en-US" sz="900" b="0" i="0" u="none" strike="noStrike" baseline="0" dirty="0">
                          <a:solidFill>
                            <a:srgbClr val="000000"/>
                          </a:solidFill>
                          <a:latin typeface="+mn-lt"/>
                          <a:ea typeface="맑은 고딕"/>
                        </a:rPr>
                        <a:t>화면</a:t>
                      </a:r>
                      <a:r>
                        <a:rPr lang="en-US" altLang="ko-KR" sz="900" b="0" i="0" u="none" strike="noStrike" baseline="0" dirty="0">
                          <a:solidFill>
                            <a:srgbClr val="000000"/>
                          </a:solidFill>
                          <a:latin typeface="+mn-lt"/>
                          <a:ea typeface="맑은 고딕"/>
                        </a:rPr>
                        <a:t>ID </a:t>
                      </a:r>
                      <a:r>
                        <a:rPr lang="en-US" altLang="ko-KR" sz="800" kern="1200" dirty="0">
                          <a:solidFill>
                            <a:schemeClr val="tx1"/>
                          </a:solidFill>
                          <a:latin typeface="+mn-ea"/>
                          <a:ea typeface="+mn-ea"/>
                          <a:cs typeface="+mn-cs"/>
                        </a:rPr>
                        <a:t>MUI-BD-09-M01, MUI-BD-09-M02, MUI-BD-09-M03, MUI-BD-09-M04)</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latin typeface="맑은 고딕"/>
                          <a:ea typeface="맑은 고딕"/>
                        </a:rPr>
                        <a:t>김영수</a:t>
                      </a:r>
                      <a:r>
                        <a:rPr lang="en-US" altLang="ko-KR" sz="900" b="0" i="0" u="none" strike="noStrike" dirty="0">
                          <a:solidFill>
                            <a:srgbClr val="000000"/>
                          </a:solidFill>
                          <a:latin typeface="맑은 고딕"/>
                          <a:ea typeface="맑은 고딕"/>
                        </a:rPr>
                        <a:t>, </a:t>
                      </a:r>
                      <a:r>
                        <a:rPr lang="ko-KR" altLang="en-US" sz="900" b="0" i="0" u="none" strike="noStrike" dirty="0">
                          <a:solidFill>
                            <a:srgbClr val="000000"/>
                          </a:solidFill>
                          <a:latin typeface="맑은 고딕"/>
                          <a:ea typeface="맑은 고딕"/>
                        </a:rPr>
                        <a:t>권순태</a:t>
                      </a:r>
                      <a:endParaRPr lang="en-US" altLang="ko-KR"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40873">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tc>
                  <a:txBody>
                    <a:bodyPr/>
                    <a:lstStyle/>
                    <a:p>
                      <a:pPr algn="ctr">
                        <a:lnSpc>
                          <a:spcPct val="120000"/>
                        </a:lnSpc>
                        <a:defRPr/>
                      </a:pPr>
                      <a:r>
                        <a:rPr lang="ko-KR" altLang="en-US" sz="900" b="0" i="0" u="none" strike="noStrike" dirty="0">
                          <a:solidFill>
                            <a:srgbClr val="000000"/>
                          </a:solidFill>
                          <a:latin typeface="맑은 고딕"/>
                          <a:ea typeface="맑은 고딕"/>
                        </a:rPr>
                        <a:t>화면</a:t>
                      </a:r>
                      <a:r>
                        <a:rPr lang="en-US" altLang="ko-KR" sz="900" b="0" i="0" u="none" strike="noStrike" dirty="0">
                          <a:solidFill>
                            <a:srgbClr val="000000"/>
                          </a:solidFill>
                          <a:latin typeface="맑은 고딕"/>
                          <a:ea typeface="맑은 고딕"/>
                        </a:rPr>
                        <a:t>(</a:t>
                      </a:r>
                      <a:r>
                        <a:rPr lang="ko-KR" altLang="en-US" sz="900" b="0" i="0" u="none" strike="noStrike" dirty="0">
                          <a:solidFill>
                            <a:srgbClr val="000000"/>
                          </a:solidFill>
                          <a:latin typeface="맑은 고딕"/>
                          <a:ea typeface="맑은 고딕"/>
                        </a:rPr>
                        <a:t>메인</a:t>
                      </a:r>
                      <a:r>
                        <a:rPr lang="en-US" altLang="ko-KR" sz="900" b="0" i="0" u="none" strike="noStrike" dirty="0">
                          <a:solidFill>
                            <a:srgbClr val="000000"/>
                          </a:solidFill>
                          <a:latin typeface="맑은 고딕"/>
                          <a:ea typeface="맑은 고딕"/>
                        </a:rPr>
                        <a:t>,</a:t>
                      </a:r>
                      <a:r>
                        <a:rPr lang="ko-KR" altLang="en-US" sz="900" b="0" i="0" u="none" strike="noStrike" dirty="0">
                          <a:solidFill>
                            <a:srgbClr val="000000"/>
                          </a:solidFill>
                          <a:latin typeface="맑은 고딕"/>
                          <a:ea typeface="맑은 고딕"/>
                        </a:rPr>
                        <a:t>메뉴</a:t>
                      </a:r>
                      <a:r>
                        <a:rPr lang="en-US" altLang="ko-KR" sz="900" b="0" i="0" u="none" strike="noStrike" dirty="0">
                          <a:solidFill>
                            <a:srgbClr val="000000"/>
                          </a:solidFill>
                          <a:latin typeface="맑은 고딕"/>
                          <a:ea typeface="맑은 고딕"/>
                        </a:rPr>
                        <a:t>,</a:t>
                      </a:r>
                      <a:r>
                        <a:rPr lang="ko-KR" altLang="en-US" sz="900" b="0" i="0" u="none" strike="noStrike" dirty="0" err="1">
                          <a:solidFill>
                            <a:srgbClr val="000000"/>
                          </a:solidFill>
                          <a:latin typeface="맑은 고딕"/>
                          <a:ea typeface="맑은 고딕"/>
                        </a:rPr>
                        <a:t>전자서면</a:t>
                      </a:r>
                      <a:r>
                        <a:rPr lang="en-US" altLang="ko-KR" sz="900" b="0" i="0" u="none" strike="noStrike" dirty="0">
                          <a:solidFill>
                            <a:srgbClr val="000000"/>
                          </a:solidFill>
                          <a:latin typeface="맑은 고딕"/>
                          <a:ea typeface="맑은 고딕"/>
                        </a:rPr>
                        <a:t>,</a:t>
                      </a:r>
                      <a:r>
                        <a:rPr lang="ko-KR" altLang="en-US" sz="900" b="0" i="0" u="none" strike="noStrike" dirty="0" err="1">
                          <a:solidFill>
                            <a:srgbClr val="000000"/>
                          </a:solidFill>
                          <a:latin typeface="맑은 고딕"/>
                          <a:ea typeface="맑은 고딕"/>
                        </a:rPr>
                        <a:t>신청완료</a:t>
                      </a:r>
                      <a:r>
                        <a:rPr lang="en-US" altLang="ko-KR" sz="900" b="0" i="0" u="none" strike="noStrike" dirty="0">
                          <a:solidFill>
                            <a:srgbClr val="000000"/>
                          </a:solidFill>
                          <a:latin typeface="맑은 고딕"/>
                          <a:ea typeface="맑은 고딕"/>
                        </a:rPr>
                        <a:t>)</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감리의견</a:t>
                      </a:r>
                      <a:r>
                        <a:rPr lang="ko-KR" altLang="en-US" sz="800" kern="1200" dirty="0">
                          <a:solidFill>
                            <a:schemeClr val="tx1"/>
                          </a:solidFill>
                          <a:latin typeface="+mn-ea"/>
                          <a:ea typeface="+mn-ea"/>
                          <a:cs typeface="+mn-cs"/>
                        </a:rPr>
                        <a:t> 반영하여 요구사항 </a:t>
                      </a:r>
                      <a:r>
                        <a:rPr lang="ko-KR" altLang="en-US" sz="800" kern="1200" dirty="0" err="1">
                          <a:solidFill>
                            <a:schemeClr val="tx1"/>
                          </a:solidFill>
                          <a:latin typeface="+mn-ea"/>
                          <a:ea typeface="+mn-ea"/>
                          <a:cs typeface="+mn-cs"/>
                        </a:rPr>
                        <a:t>추적표에</a:t>
                      </a:r>
                      <a:r>
                        <a:rPr lang="ko-KR" altLang="en-US" sz="800" kern="1200" dirty="0">
                          <a:solidFill>
                            <a:schemeClr val="tx1"/>
                          </a:solidFill>
                          <a:latin typeface="+mn-ea"/>
                          <a:ea typeface="+mn-ea"/>
                          <a:cs typeface="+mn-cs"/>
                        </a:rPr>
                        <a:t> 있는  </a:t>
                      </a:r>
                      <a:r>
                        <a:rPr lang="en-US" altLang="ko-KR" sz="800" kern="1200" dirty="0">
                          <a:solidFill>
                            <a:schemeClr val="tx1"/>
                          </a:solidFill>
                          <a:latin typeface="+mn-ea"/>
                          <a:ea typeface="+mn-ea"/>
                          <a:cs typeface="+mn-cs"/>
                        </a:rPr>
                        <a:t>MUI-MS-02-M01, MUI-MS-02-M05, MUI-MS-02-M06 </a:t>
                      </a:r>
                      <a:r>
                        <a:rPr lang="ko-KR" altLang="en-US" sz="800" kern="1200" dirty="0">
                          <a:solidFill>
                            <a:schemeClr val="tx1"/>
                          </a:solidFill>
                          <a:latin typeface="+mn-ea"/>
                          <a:ea typeface="+mn-ea"/>
                          <a:cs typeface="+mn-cs"/>
                        </a:rPr>
                        <a:t>화면과 </a:t>
                      </a:r>
                      <a:r>
                        <a:rPr lang="en-US" altLang="ko-KR" sz="800" kern="1200" dirty="0">
                          <a:solidFill>
                            <a:schemeClr val="tx1"/>
                          </a:solidFill>
                          <a:latin typeface="+mn-ea"/>
                          <a:ea typeface="+mn-ea"/>
                          <a:cs typeface="+mn-cs"/>
                        </a:rPr>
                        <a:t>MUI-BD-04-M21(</a:t>
                      </a:r>
                      <a:r>
                        <a:rPr lang="ko-KR" altLang="en-US" sz="800" kern="1200" dirty="0">
                          <a:solidFill>
                            <a:schemeClr val="tx1"/>
                          </a:solidFill>
                          <a:latin typeface="+mn-ea"/>
                          <a:ea typeface="+mn-ea"/>
                          <a:cs typeface="+mn-cs"/>
                        </a:rPr>
                        <a:t>전자서명</a:t>
                      </a:r>
                      <a:r>
                        <a:rPr lang="en-US" altLang="ko-KR" sz="800" kern="1200" dirty="0">
                          <a:solidFill>
                            <a:schemeClr val="tx1"/>
                          </a:solidFill>
                          <a:latin typeface="+mn-ea"/>
                          <a:ea typeface="+mn-ea"/>
                          <a:cs typeface="+mn-cs"/>
                        </a:rPr>
                        <a:t>), MUI-BD-06-M08(</a:t>
                      </a:r>
                      <a:r>
                        <a:rPr lang="ko-KR" altLang="en-US" sz="800" kern="1200" dirty="0">
                          <a:solidFill>
                            <a:schemeClr val="tx1"/>
                          </a:solidFill>
                          <a:latin typeface="+mn-ea"/>
                          <a:ea typeface="+mn-ea"/>
                          <a:cs typeface="+mn-cs"/>
                        </a:rPr>
                        <a:t>신청 완료</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화면</a:t>
                      </a:r>
                      <a:r>
                        <a:rPr lang="ko-KR" altLang="en-US" sz="800" kern="1200" baseline="0" dirty="0">
                          <a:solidFill>
                            <a:schemeClr val="tx1"/>
                          </a:solidFill>
                          <a:latin typeface="+mn-ea"/>
                          <a:ea typeface="+mn-ea"/>
                          <a:cs typeface="+mn-cs"/>
                        </a:rPr>
                        <a:t> 추가</a:t>
                      </a:r>
                      <a:endParaRPr lang="en-US" altLang="ko-KR" sz="800" kern="1200" baseline="0" dirty="0">
                        <a:solidFill>
                          <a:schemeClr val="tx1"/>
                        </a:solidFill>
                        <a:latin typeface="+mn-ea"/>
                        <a:ea typeface="+mn-ea"/>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ko-KR" altLang="en-US" sz="900" b="0" i="0" u="none" strike="noStrike" dirty="0">
                          <a:solidFill>
                            <a:srgbClr val="000000"/>
                          </a:solidFill>
                          <a:latin typeface="+mn-lt"/>
                          <a:ea typeface="맑은 고딕"/>
                        </a:rPr>
                        <a:t>김영수</a:t>
                      </a:r>
                      <a:r>
                        <a:rPr lang="en-US" altLang="ko-KR" sz="900" b="0" i="0" u="none" strike="noStrike" dirty="0">
                          <a:solidFill>
                            <a:srgbClr val="000000"/>
                          </a:solidFill>
                          <a:latin typeface="+mn-lt"/>
                          <a:ea typeface="맑은 고딕"/>
                        </a:rPr>
                        <a:t>, </a:t>
                      </a:r>
                      <a:r>
                        <a:rPr lang="ko-KR" altLang="en-US" sz="900" b="0" i="0" u="none" strike="noStrike" dirty="0" smtClean="0">
                          <a:solidFill>
                            <a:srgbClr val="000000"/>
                          </a:solidFill>
                          <a:latin typeface="+mn-lt"/>
                          <a:ea typeface="맑은 고딕"/>
                        </a:rPr>
                        <a:t>권순태</a:t>
                      </a:r>
                      <a:endParaRPr lang="en-US" altLang="ko-KR" sz="900" b="0" i="0" u="none" strike="noStrike" dirty="0">
                        <a:solidFill>
                          <a:srgbClr val="000000"/>
                        </a:solidFill>
                        <a:latin typeface="+mn-lt"/>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04939008"/>
                  </a:ext>
                </a:extLst>
              </a:tr>
            </a:tbl>
          </a:graphicData>
        </a:graphic>
      </p:graphicFrame>
    </p:spTree>
    <p:extLst>
      <p:ext uri="{BB962C8B-B14F-4D97-AF65-F5344CB8AC3E}">
        <p14:creationId xmlns:p14="http://schemas.microsoft.com/office/powerpoint/2010/main" val="5578603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4</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1. </a:t>
                      </a:r>
                      <a:r>
                        <a:rPr lang="ko-KR" altLang="en-US" sz="1200" dirty="0">
                          <a:latin typeface="+mn-ea"/>
                          <a:ea typeface="+mn-ea"/>
                        </a:rPr>
                        <a:t>입찰공고</a:t>
                      </a:r>
                      <a:endParaRPr lang="en-US" altLang="ko-KR" sz="1200" dirty="0">
                        <a:latin typeface="+mn-ea"/>
                        <a:ea typeface="+mn-ea"/>
                      </a:endParaRPr>
                    </a:p>
                    <a:p>
                      <a:pPr marL="0" indent="0" algn="l" latinLnBrk="1">
                        <a:lnSpc>
                          <a:spcPct val="150000"/>
                        </a:lnSpc>
                        <a:buNone/>
                      </a:pPr>
                      <a:r>
                        <a:rPr lang="en-US" altLang="ko-KR" sz="1200" dirty="0">
                          <a:latin typeface="+mn-ea"/>
                          <a:ea typeface="+mn-ea"/>
                        </a:rPr>
                        <a:t>1.1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1.3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1.4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2. </a:t>
                      </a:r>
                      <a:r>
                        <a:rPr lang="ko-KR" altLang="en-US" sz="1200" dirty="0">
                          <a:latin typeface="+mn-ea"/>
                          <a:ea typeface="+mn-ea"/>
                        </a:rPr>
                        <a:t>입찰공고상세</a:t>
                      </a:r>
                      <a:endParaRPr lang="en-US" altLang="ko-KR" sz="1200" dirty="0">
                        <a:latin typeface="+mn-ea"/>
                        <a:ea typeface="+mn-ea"/>
                      </a:endParaRPr>
                    </a:p>
                    <a:p>
                      <a:pPr marL="0" indent="0" algn="l" latinLnBrk="1">
                        <a:lnSpc>
                          <a:spcPct val="150000"/>
                        </a:lnSpc>
                        <a:buNone/>
                      </a:pPr>
                      <a:r>
                        <a:rPr lang="en-US" altLang="ko-KR" sz="1200" dirty="0">
                          <a:latin typeface="+mn-ea"/>
                          <a:ea typeface="+mn-ea"/>
                        </a:rPr>
                        <a:t>2.1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2.3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2.4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3. </a:t>
                      </a:r>
                      <a:r>
                        <a:rPr lang="ko-KR" altLang="en-US" sz="1200" dirty="0" err="1">
                          <a:latin typeface="+mn-ea"/>
                          <a:ea typeface="+mn-ea"/>
                        </a:rPr>
                        <a:t>입찰서제출</a:t>
                      </a:r>
                      <a:endParaRPr lang="en-US" altLang="ko-KR" sz="1200" dirty="0">
                        <a:latin typeface="+mn-ea"/>
                        <a:ea typeface="+mn-ea"/>
                      </a:endParaRPr>
                    </a:p>
                    <a:p>
                      <a:pPr marL="0" indent="0" algn="l" latinLnBrk="1">
                        <a:lnSpc>
                          <a:spcPct val="150000"/>
                        </a:lnSpc>
                        <a:buNone/>
                      </a:pPr>
                      <a:r>
                        <a:rPr lang="en-US" altLang="ko-KR" sz="1200" dirty="0">
                          <a:latin typeface="+mn-ea"/>
                          <a:ea typeface="+mn-ea"/>
                        </a:rPr>
                        <a:t>3.1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3.2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3.4 </a:t>
                      </a:r>
                      <a:r>
                        <a:rPr lang="ko-KR" altLang="en-US" sz="1200" dirty="0">
                          <a:latin typeface="+mn-ea"/>
                          <a:ea typeface="+mn-ea"/>
                        </a:rPr>
                        <a:t>화면 </a:t>
                      </a:r>
                      <a:r>
                        <a:rPr lang="en-US" altLang="ko-KR" sz="1200" dirty="0">
                          <a:latin typeface="+mn-ea"/>
                          <a:ea typeface="+mn-ea"/>
                        </a:rPr>
                        <a:t>Layout</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10</a:t>
                      </a:r>
                    </a:p>
                    <a:p>
                      <a:pPr algn="r" latinLnBrk="1">
                        <a:lnSpc>
                          <a:spcPct val="150000"/>
                        </a:lnSpc>
                      </a:pPr>
                      <a:r>
                        <a:rPr lang="en-US" altLang="ko-KR" sz="1200" dirty="0">
                          <a:latin typeface="+mn-ea"/>
                          <a:ea typeface="+mn-ea"/>
                        </a:rPr>
                        <a:t>10</a:t>
                      </a:r>
                    </a:p>
                    <a:p>
                      <a:pPr algn="r" latinLnBrk="1">
                        <a:lnSpc>
                          <a:spcPct val="150000"/>
                        </a:lnSpc>
                      </a:pPr>
                      <a:r>
                        <a:rPr lang="en-US" altLang="ko-KR" sz="1200" dirty="0">
                          <a:latin typeface="+mn-ea"/>
                          <a:ea typeface="+mn-ea"/>
                        </a:rPr>
                        <a:t>10</a:t>
                      </a:r>
                    </a:p>
                    <a:p>
                      <a:pPr algn="r" latinLnBrk="1">
                        <a:lnSpc>
                          <a:spcPct val="150000"/>
                        </a:lnSpc>
                      </a:pPr>
                      <a:r>
                        <a:rPr lang="en-US" altLang="ko-KR" sz="1200" dirty="0">
                          <a:latin typeface="+mn-ea"/>
                          <a:ea typeface="+mn-ea"/>
                        </a:rPr>
                        <a:t>13</a:t>
                      </a:r>
                    </a:p>
                    <a:p>
                      <a:pPr algn="r" latinLnBrk="1">
                        <a:lnSpc>
                          <a:spcPct val="150000"/>
                        </a:lnSpc>
                      </a:pPr>
                      <a:r>
                        <a:rPr lang="en-US" altLang="ko-KR" sz="1200" dirty="0">
                          <a:latin typeface="+mn-ea"/>
                          <a:ea typeface="+mn-ea"/>
                        </a:rPr>
                        <a:t>14</a:t>
                      </a:r>
                    </a:p>
                    <a:p>
                      <a:pPr algn="r" latinLnBrk="1">
                        <a:lnSpc>
                          <a:spcPct val="150000"/>
                        </a:lnSpc>
                      </a:pPr>
                      <a:r>
                        <a:rPr lang="en-US" altLang="ko-KR" sz="1200" dirty="0">
                          <a:latin typeface="+mn-ea"/>
                          <a:ea typeface="+mn-ea"/>
                        </a:rPr>
                        <a:t>22</a:t>
                      </a:r>
                    </a:p>
                    <a:p>
                      <a:pPr algn="r" latinLnBrk="1">
                        <a:lnSpc>
                          <a:spcPct val="150000"/>
                        </a:lnSpc>
                      </a:pPr>
                      <a:r>
                        <a:rPr lang="en-US" altLang="ko-KR" sz="1200" dirty="0">
                          <a:latin typeface="+mn-ea"/>
                          <a:ea typeface="+mn-ea"/>
                        </a:rPr>
                        <a:t>22</a:t>
                      </a:r>
                    </a:p>
                    <a:p>
                      <a:pPr algn="r" latinLnBrk="1">
                        <a:lnSpc>
                          <a:spcPct val="150000"/>
                        </a:lnSpc>
                      </a:pPr>
                      <a:r>
                        <a:rPr lang="en-US" altLang="ko-KR" sz="1200" dirty="0">
                          <a:latin typeface="+mn-ea"/>
                          <a:ea typeface="+mn-ea"/>
                        </a:rPr>
                        <a:t>23</a:t>
                      </a:r>
                    </a:p>
                    <a:p>
                      <a:pPr algn="r" latinLnBrk="1">
                        <a:lnSpc>
                          <a:spcPct val="150000"/>
                        </a:lnSpc>
                      </a:pPr>
                      <a:r>
                        <a:rPr lang="en-US" altLang="ko-KR" sz="1200" dirty="0">
                          <a:latin typeface="+mn-ea"/>
                          <a:ea typeface="+mn-ea"/>
                        </a:rPr>
                        <a:t>24</a:t>
                      </a:r>
                    </a:p>
                    <a:p>
                      <a:pPr algn="r" latinLnBrk="1">
                        <a:lnSpc>
                          <a:spcPct val="150000"/>
                        </a:lnSpc>
                      </a:pPr>
                      <a:r>
                        <a:rPr lang="en-US" altLang="ko-KR" sz="1200" dirty="0">
                          <a:latin typeface="+mn-ea"/>
                          <a:ea typeface="+mn-ea"/>
                        </a:rPr>
                        <a:t>25</a:t>
                      </a:r>
                    </a:p>
                    <a:p>
                      <a:pPr algn="r" latinLnBrk="1">
                        <a:lnSpc>
                          <a:spcPct val="150000"/>
                        </a:lnSpc>
                      </a:pPr>
                      <a:r>
                        <a:rPr lang="en-US" altLang="ko-KR" sz="1200" dirty="0">
                          <a:latin typeface="+mn-ea"/>
                          <a:ea typeface="+mn-ea"/>
                        </a:rPr>
                        <a:t>46</a:t>
                      </a:r>
                    </a:p>
                    <a:p>
                      <a:pPr algn="r" latinLnBrk="1">
                        <a:lnSpc>
                          <a:spcPct val="150000"/>
                        </a:lnSpc>
                      </a:pPr>
                      <a:r>
                        <a:rPr lang="en-US" altLang="ko-KR" sz="1200" dirty="0">
                          <a:latin typeface="+mn-ea"/>
                          <a:ea typeface="+mn-ea"/>
                        </a:rPr>
                        <a:t>46</a:t>
                      </a:r>
                    </a:p>
                    <a:p>
                      <a:pPr algn="r" latinLnBrk="1">
                        <a:lnSpc>
                          <a:spcPct val="150000"/>
                        </a:lnSpc>
                      </a:pPr>
                      <a:r>
                        <a:rPr lang="en-US" altLang="ko-KR" sz="1200" dirty="0">
                          <a:latin typeface="+mn-ea"/>
                          <a:ea typeface="+mn-ea"/>
                        </a:rPr>
                        <a:t>47</a:t>
                      </a:r>
                    </a:p>
                    <a:p>
                      <a:pPr algn="r" latinLnBrk="1">
                        <a:lnSpc>
                          <a:spcPct val="150000"/>
                        </a:lnSpc>
                      </a:pPr>
                      <a:r>
                        <a:rPr lang="en-US" altLang="ko-KR" sz="1200" dirty="0">
                          <a:latin typeface="+mn-ea"/>
                          <a:ea typeface="+mn-ea"/>
                        </a:rPr>
                        <a:t>48</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8418580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5</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4. </a:t>
                      </a:r>
                      <a:r>
                        <a:rPr lang="ko-KR" altLang="en-US" sz="1200" dirty="0" err="1">
                          <a:latin typeface="+mn-ea"/>
                          <a:ea typeface="+mn-ea"/>
                        </a:rPr>
                        <a:t>플로팅</a:t>
                      </a:r>
                      <a:r>
                        <a:rPr lang="ko-KR" altLang="en-US" sz="1200" dirty="0">
                          <a:latin typeface="+mn-ea"/>
                          <a:ea typeface="+mn-ea"/>
                        </a:rPr>
                        <a:t> 버튼</a:t>
                      </a:r>
                      <a:r>
                        <a:rPr lang="en-US" altLang="ko-KR" sz="1200" dirty="0">
                          <a:latin typeface="+mn-ea"/>
                          <a:ea typeface="+mn-ea"/>
                        </a:rPr>
                        <a:t>, </a:t>
                      </a:r>
                      <a:r>
                        <a:rPr lang="ko-KR" altLang="en-US" sz="1200" dirty="0">
                          <a:latin typeface="+mn-ea"/>
                          <a:ea typeface="+mn-ea"/>
                        </a:rPr>
                        <a:t>환율 정보</a:t>
                      </a:r>
                      <a:endParaRPr lang="en-US" altLang="ko-KR" sz="1200" dirty="0">
                        <a:latin typeface="+mn-ea"/>
                        <a:ea typeface="+mn-ea"/>
                      </a:endParaRPr>
                    </a:p>
                    <a:p>
                      <a:pPr marL="0" indent="0" algn="l" latinLnBrk="1">
                        <a:lnSpc>
                          <a:spcPct val="150000"/>
                        </a:lnSpc>
                        <a:buNone/>
                      </a:pPr>
                      <a:r>
                        <a:rPr lang="en-US" altLang="ko-KR" sz="1200" dirty="0">
                          <a:latin typeface="+mn-ea"/>
                          <a:ea typeface="+mn-ea"/>
                        </a:rPr>
                        <a:t>4.1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4.2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4.3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4.4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5. </a:t>
                      </a:r>
                      <a:r>
                        <a:rPr lang="ko-KR" altLang="en-US" sz="1200" dirty="0">
                          <a:latin typeface="+mn-ea"/>
                          <a:ea typeface="+mn-ea"/>
                        </a:rPr>
                        <a:t>입찰취소포기</a:t>
                      </a:r>
                      <a:endParaRPr lang="en-US" altLang="ko-KR" sz="1200" dirty="0">
                        <a:latin typeface="+mn-ea"/>
                        <a:ea typeface="+mn-ea"/>
                      </a:endParaRPr>
                    </a:p>
                    <a:p>
                      <a:pPr marL="0" indent="0" algn="l" latinLnBrk="1">
                        <a:lnSpc>
                          <a:spcPct val="150000"/>
                        </a:lnSpc>
                        <a:buNone/>
                      </a:pPr>
                      <a:r>
                        <a:rPr lang="en-US" altLang="ko-KR" sz="1200" dirty="0">
                          <a:latin typeface="+mn-ea"/>
                          <a:ea typeface="+mn-ea"/>
                        </a:rPr>
                        <a:t>5.1 </a:t>
                      </a:r>
                      <a:r>
                        <a:rPr lang="ko-KR" altLang="en-US" sz="1200" dirty="0" err="1">
                          <a:latin typeface="+mn-ea"/>
                          <a:ea typeface="+mn-ea"/>
                        </a:rPr>
                        <a:t>화면목록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5.2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6. </a:t>
                      </a:r>
                      <a:r>
                        <a:rPr lang="ko-KR" altLang="en-US" sz="1200" dirty="0">
                          <a:latin typeface="+mn-ea"/>
                          <a:ea typeface="+mn-ea"/>
                        </a:rPr>
                        <a:t>입찰참가신청서제출</a:t>
                      </a:r>
                      <a:endParaRPr lang="en-US" altLang="ko-KR" sz="1200" dirty="0">
                        <a:latin typeface="+mn-ea"/>
                        <a:ea typeface="+mn-ea"/>
                      </a:endParaRPr>
                    </a:p>
                    <a:p>
                      <a:pPr marL="0" indent="0" algn="l" latinLnBrk="1">
                        <a:lnSpc>
                          <a:spcPct val="150000"/>
                        </a:lnSpc>
                        <a:buNone/>
                      </a:pPr>
                      <a:r>
                        <a:rPr lang="en-US" altLang="ko-KR" sz="1200" dirty="0">
                          <a:latin typeface="+mn-ea"/>
                          <a:ea typeface="+mn-ea"/>
                        </a:rPr>
                        <a:t>6.1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6.2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6.3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6.4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7. </a:t>
                      </a:r>
                      <a:r>
                        <a:rPr lang="ko-KR" altLang="en-US" sz="1200" dirty="0" err="1">
                          <a:latin typeface="+mn-ea"/>
                          <a:ea typeface="+mn-ea"/>
                        </a:rPr>
                        <a:t>입찰참가등록반려신청</a:t>
                      </a:r>
                      <a:endParaRPr lang="en-US" altLang="ko-KR" sz="1200" dirty="0">
                        <a:latin typeface="+mn-ea"/>
                        <a:ea typeface="+mn-ea"/>
                      </a:endParaRPr>
                    </a:p>
                    <a:p>
                      <a:pPr marL="0" indent="0" algn="l" latinLnBrk="1">
                        <a:lnSpc>
                          <a:spcPct val="150000"/>
                        </a:lnSpc>
                        <a:buNone/>
                      </a:pPr>
                      <a:r>
                        <a:rPr lang="en-US" altLang="ko-KR" sz="1200" dirty="0">
                          <a:latin typeface="+mn-ea"/>
                          <a:ea typeface="+mn-ea"/>
                        </a:rPr>
                        <a:t>7.1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7.2 </a:t>
                      </a:r>
                      <a:r>
                        <a:rPr lang="ko-KR" altLang="en-US" sz="1200" dirty="0">
                          <a:latin typeface="+mn-ea"/>
                          <a:ea typeface="+mn-ea"/>
                        </a:rPr>
                        <a:t>화면 </a:t>
                      </a:r>
                      <a:r>
                        <a:rPr lang="en-US" altLang="ko-KR" sz="1200" dirty="0">
                          <a:latin typeface="+mn-ea"/>
                          <a:ea typeface="+mn-ea"/>
                        </a:rPr>
                        <a:t>Layout</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65</a:t>
                      </a:r>
                    </a:p>
                    <a:p>
                      <a:pPr algn="r" latinLnBrk="1">
                        <a:lnSpc>
                          <a:spcPct val="150000"/>
                        </a:lnSpc>
                      </a:pPr>
                      <a:r>
                        <a:rPr lang="en-US" altLang="ko-KR" sz="1200" dirty="0">
                          <a:latin typeface="+mn-ea"/>
                          <a:ea typeface="+mn-ea"/>
                        </a:rPr>
                        <a:t>65</a:t>
                      </a:r>
                    </a:p>
                    <a:p>
                      <a:pPr algn="r" latinLnBrk="1">
                        <a:lnSpc>
                          <a:spcPct val="150000"/>
                        </a:lnSpc>
                      </a:pPr>
                      <a:r>
                        <a:rPr lang="en-US" altLang="ko-KR" sz="1200" dirty="0">
                          <a:latin typeface="+mn-ea"/>
                          <a:ea typeface="+mn-ea"/>
                        </a:rPr>
                        <a:t>66</a:t>
                      </a:r>
                    </a:p>
                    <a:p>
                      <a:pPr algn="r" latinLnBrk="1">
                        <a:lnSpc>
                          <a:spcPct val="150000"/>
                        </a:lnSpc>
                      </a:pPr>
                      <a:r>
                        <a:rPr lang="en-US" altLang="ko-KR" sz="1200" dirty="0">
                          <a:latin typeface="+mn-ea"/>
                          <a:ea typeface="+mn-ea"/>
                        </a:rPr>
                        <a:t>67</a:t>
                      </a:r>
                    </a:p>
                    <a:p>
                      <a:pPr algn="r" latinLnBrk="1">
                        <a:lnSpc>
                          <a:spcPct val="150000"/>
                        </a:lnSpc>
                      </a:pPr>
                      <a:r>
                        <a:rPr lang="en-US" altLang="ko-KR" sz="1200" dirty="0">
                          <a:latin typeface="+mn-ea"/>
                          <a:ea typeface="+mn-ea"/>
                        </a:rPr>
                        <a:t>68</a:t>
                      </a:r>
                    </a:p>
                    <a:p>
                      <a:pPr algn="r" latinLnBrk="1">
                        <a:lnSpc>
                          <a:spcPct val="150000"/>
                        </a:lnSpc>
                      </a:pPr>
                      <a:r>
                        <a:rPr lang="en-US" altLang="ko-KR" sz="1200" dirty="0">
                          <a:latin typeface="+mn-ea"/>
                          <a:ea typeface="+mn-ea"/>
                        </a:rPr>
                        <a:t>74</a:t>
                      </a:r>
                    </a:p>
                    <a:p>
                      <a:pPr algn="r" latinLnBrk="1">
                        <a:lnSpc>
                          <a:spcPct val="150000"/>
                        </a:lnSpc>
                      </a:pPr>
                      <a:r>
                        <a:rPr lang="en-US" altLang="ko-KR" sz="1200" dirty="0">
                          <a:latin typeface="+mn-ea"/>
                          <a:ea typeface="+mn-ea"/>
                        </a:rPr>
                        <a:t>74</a:t>
                      </a:r>
                    </a:p>
                    <a:p>
                      <a:pPr algn="r" latinLnBrk="1">
                        <a:lnSpc>
                          <a:spcPct val="150000"/>
                        </a:lnSpc>
                      </a:pPr>
                      <a:r>
                        <a:rPr lang="en-US" altLang="ko-KR" sz="1200" dirty="0">
                          <a:latin typeface="+mn-ea"/>
                          <a:ea typeface="+mn-ea"/>
                        </a:rPr>
                        <a:t>75</a:t>
                      </a:r>
                    </a:p>
                    <a:p>
                      <a:pPr algn="r" latinLnBrk="1">
                        <a:lnSpc>
                          <a:spcPct val="150000"/>
                        </a:lnSpc>
                      </a:pPr>
                      <a:r>
                        <a:rPr lang="en-US" altLang="ko-KR" sz="1200" dirty="0">
                          <a:latin typeface="+mn-ea"/>
                          <a:ea typeface="+mn-ea"/>
                        </a:rPr>
                        <a:t>81</a:t>
                      </a:r>
                    </a:p>
                    <a:p>
                      <a:pPr algn="r" latinLnBrk="1">
                        <a:lnSpc>
                          <a:spcPct val="150000"/>
                        </a:lnSpc>
                      </a:pPr>
                      <a:r>
                        <a:rPr lang="en-US" altLang="ko-KR" sz="1200" dirty="0">
                          <a:latin typeface="+mn-ea"/>
                          <a:ea typeface="+mn-ea"/>
                        </a:rPr>
                        <a:t>81</a:t>
                      </a:r>
                    </a:p>
                    <a:p>
                      <a:pPr algn="r" latinLnBrk="1">
                        <a:lnSpc>
                          <a:spcPct val="150000"/>
                        </a:lnSpc>
                      </a:pPr>
                      <a:r>
                        <a:rPr lang="en-US" altLang="ko-KR" sz="1200" dirty="0">
                          <a:latin typeface="+mn-ea"/>
                          <a:ea typeface="+mn-ea"/>
                        </a:rPr>
                        <a:t>83</a:t>
                      </a:r>
                    </a:p>
                    <a:p>
                      <a:pPr algn="r" latinLnBrk="1">
                        <a:lnSpc>
                          <a:spcPct val="150000"/>
                        </a:lnSpc>
                      </a:pPr>
                      <a:r>
                        <a:rPr lang="en-US" altLang="ko-KR" sz="1200" dirty="0">
                          <a:latin typeface="+mn-ea"/>
                          <a:ea typeface="+mn-ea"/>
                        </a:rPr>
                        <a:t>84</a:t>
                      </a:r>
                    </a:p>
                    <a:p>
                      <a:pPr algn="r" latinLnBrk="1">
                        <a:lnSpc>
                          <a:spcPct val="150000"/>
                        </a:lnSpc>
                      </a:pPr>
                      <a:r>
                        <a:rPr lang="en-US" altLang="ko-KR" sz="1200" dirty="0">
                          <a:latin typeface="+mn-ea"/>
                          <a:ea typeface="+mn-ea"/>
                        </a:rPr>
                        <a:t>85</a:t>
                      </a:r>
                    </a:p>
                    <a:p>
                      <a:pPr algn="r" latinLnBrk="1">
                        <a:lnSpc>
                          <a:spcPct val="150000"/>
                        </a:lnSpc>
                      </a:pPr>
                      <a:r>
                        <a:rPr lang="en-US" altLang="ko-KR" sz="1200" dirty="0">
                          <a:latin typeface="+mn-ea"/>
                          <a:ea typeface="+mn-ea"/>
                        </a:rPr>
                        <a:t>117</a:t>
                      </a:r>
                    </a:p>
                    <a:p>
                      <a:pPr algn="r" latinLnBrk="1">
                        <a:lnSpc>
                          <a:spcPct val="150000"/>
                        </a:lnSpc>
                      </a:pPr>
                      <a:r>
                        <a:rPr lang="en-US" altLang="ko-KR" sz="1200" dirty="0">
                          <a:latin typeface="+mn-ea"/>
                          <a:ea typeface="+mn-ea"/>
                        </a:rPr>
                        <a:t>117</a:t>
                      </a:r>
                    </a:p>
                    <a:p>
                      <a:pPr algn="r" latinLnBrk="1">
                        <a:lnSpc>
                          <a:spcPct val="150000"/>
                        </a:lnSpc>
                      </a:pPr>
                      <a:r>
                        <a:rPr lang="en-US" altLang="ko-KR" sz="1200" dirty="0">
                          <a:latin typeface="+mn-ea"/>
                          <a:ea typeface="+mn-ea"/>
                        </a:rPr>
                        <a:t>118</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5899421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6</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8. </a:t>
                      </a:r>
                      <a:r>
                        <a:rPr lang="ko-KR" altLang="en-US" sz="1200" dirty="0">
                          <a:latin typeface="+mn-ea"/>
                          <a:ea typeface="+mn-ea"/>
                        </a:rPr>
                        <a:t>사전심사신청</a:t>
                      </a:r>
                      <a:endParaRPr lang="en-US" altLang="ko-KR" sz="1200" dirty="0">
                        <a:latin typeface="+mn-ea"/>
                        <a:ea typeface="+mn-ea"/>
                      </a:endParaRPr>
                    </a:p>
                    <a:p>
                      <a:pPr marL="0" indent="0" algn="l" latinLnBrk="1">
                        <a:lnSpc>
                          <a:spcPct val="150000"/>
                        </a:lnSpc>
                        <a:buNone/>
                      </a:pPr>
                      <a:r>
                        <a:rPr lang="en-US" altLang="ko-KR" sz="1200" dirty="0">
                          <a:latin typeface="+mn-ea"/>
                          <a:ea typeface="+mn-ea"/>
                        </a:rPr>
                        <a:t>8.1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8.2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9. </a:t>
                      </a:r>
                      <a:r>
                        <a:rPr lang="ko-KR" altLang="en-US" sz="1200" dirty="0">
                          <a:latin typeface="+mn-ea"/>
                          <a:ea typeface="+mn-ea"/>
                        </a:rPr>
                        <a:t>기술평가결과조회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9.1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9.2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10. </a:t>
                      </a:r>
                      <a:r>
                        <a:rPr lang="ko-KR" altLang="en-US" sz="1200" dirty="0">
                          <a:latin typeface="+mn-ea"/>
                          <a:ea typeface="+mn-ea"/>
                        </a:rPr>
                        <a:t>입찰진행목록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10.1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10.2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10.3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10.4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11. </a:t>
                      </a:r>
                      <a:r>
                        <a:rPr lang="ko-KR" altLang="en-US" sz="1200" dirty="0">
                          <a:latin typeface="+mn-ea"/>
                          <a:ea typeface="+mn-ea"/>
                        </a:rPr>
                        <a:t>입찰진행상세 </a:t>
                      </a:r>
                      <a:r>
                        <a:rPr lang="en-US" altLang="ko-KR" sz="1200" dirty="0">
                          <a:latin typeface="+mn-ea"/>
                          <a:ea typeface="+mn-ea"/>
                        </a:rPr>
                        <a:t>- </a:t>
                      </a:r>
                      <a:r>
                        <a:rPr lang="ko-KR" altLang="en-US" sz="1200" dirty="0" err="1">
                          <a:latin typeface="+mn-ea"/>
                          <a:ea typeface="+mn-ea"/>
                        </a:rPr>
                        <a:t>입찰서조회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11.1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11.2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12. </a:t>
                      </a:r>
                      <a:r>
                        <a:rPr lang="ko-KR" altLang="en-US" sz="1200" dirty="0">
                          <a:latin typeface="+mn-ea"/>
                          <a:ea typeface="+mn-ea"/>
                        </a:rPr>
                        <a:t>입찰진행상세 </a:t>
                      </a:r>
                      <a:r>
                        <a:rPr lang="en-US" altLang="ko-KR" sz="1200" dirty="0">
                          <a:latin typeface="+mn-ea"/>
                          <a:ea typeface="+mn-ea"/>
                        </a:rPr>
                        <a:t>- </a:t>
                      </a:r>
                      <a:r>
                        <a:rPr lang="ko-KR" altLang="en-US" sz="1200" dirty="0">
                          <a:latin typeface="+mn-ea"/>
                          <a:ea typeface="+mn-ea"/>
                        </a:rPr>
                        <a:t>입찰참가신청조회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12.1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12.2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endParaRPr lang="en-US" altLang="ko-KR" sz="1200" dirty="0">
                        <a:latin typeface="+mn-ea"/>
                        <a:ea typeface="+mn-ea"/>
                      </a:endParaRP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121</a:t>
                      </a:r>
                    </a:p>
                    <a:p>
                      <a:pPr algn="r" latinLnBrk="1">
                        <a:lnSpc>
                          <a:spcPct val="150000"/>
                        </a:lnSpc>
                      </a:pPr>
                      <a:r>
                        <a:rPr lang="en-US" altLang="ko-KR" sz="1200" dirty="0">
                          <a:latin typeface="+mn-ea"/>
                          <a:ea typeface="+mn-ea"/>
                        </a:rPr>
                        <a:t>121</a:t>
                      </a:r>
                    </a:p>
                    <a:p>
                      <a:pPr algn="r" latinLnBrk="1">
                        <a:lnSpc>
                          <a:spcPct val="150000"/>
                        </a:lnSpc>
                      </a:pPr>
                      <a:r>
                        <a:rPr lang="en-US" altLang="ko-KR" sz="1200" dirty="0">
                          <a:latin typeface="+mn-ea"/>
                          <a:ea typeface="+mn-ea"/>
                        </a:rPr>
                        <a:t>122</a:t>
                      </a:r>
                    </a:p>
                    <a:p>
                      <a:pPr algn="r" latinLnBrk="1">
                        <a:lnSpc>
                          <a:spcPct val="150000"/>
                        </a:lnSpc>
                      </a:pPr>
                      <a:r>
                        <a:rPr lang="en-US" altLang="ko-KR" sz="1200" dirty="0">
                          <a:latin typeface="+mn-ea"/>
                          <a:ea typeface="+mn-ea"/>
                        </a:rPr>
                        <a:t>128</a:t>
                      </a:r>
                    </a:p>
                    <a:p>
                      <a:pPr algn="r" latinLnBrk="1">
                        <a:lnSpc>
                          <a:spcPct val="150000"/>
                        </a:lnSpc>
                      </a:pPr>
                      <a:r>
                        <a:rPr lang="en-US" altLang="ko-KR" sz="1200" dirty="0">
                          <a:latin typeface="+mn-ea"/>
                          <a:ea typeface="+mn-ea"/>
                        </a:rPr>
                        <a:t>128</a:t>
                      </a:r>
                    </a:p>
                    <a:p>
                      <a:pPr algn="r" latinLnBrk="1">
                        <a:lnSpc>
                          <a:spcPct val="150000"/>
                        </a:lnSpc>
                      </a:pPr>
                      <a:r>
                        <a:rPr lang="en-US" altLang="ko-KR" sz="1200" dirty="0">
                          <a:latin typeface="+mn-ea"/>
                          <a:ea typeface="+mn-ea"/>
                        </a:rPr>
                        <a:t>129</a:t>
                      </a:r>
                    </a:p>
                    <a:p>
                      <a:pPr algn="r" latinLnBrk="1">
                        <a:lnSpc>
                          <a:spcPct val="150000"/>
                        </a:lnSpc>
                      </a:pPr>
                      <a:r>
                        <a:rPr lang="en-US" altLang="ko-KR" sz="1200" dirty="0">
                          <a:latin typeface="+mn-ea"/>
                          <a:ea typeface="+mn-ea"/>
                        </a:rPr>
                        <a:t>132</a:t>
                      </a:r>
                    </a:p>
                    <a:p>
                      <a:pPr algn="r" latinLnBrk="1">
                        <a:lnSpc>
                          <a:spcPct val="150000"/>
                        </a:lnSpc>
                      </a:pPr>
                      <a:r>
                        <a:rPr lang="en-US" altLang="ko-KR" sz="1200" dirty="0">
                          <a:latin typeface="+mn-ea"/>
                          <a:ea typeface="+mn-ea"/>
                        </a:rPr>
                        <a:t>132</a:t>
                      </a:r>
                    </a:p>
                    <a:p>
                      <a:pPr algn="r" latinLnBrk="1">
                        <a:lnSpc>
                          <a:spcPct val="150000"/>
                        </a:lnSpc>
                      </a:pPr>
                      <a:r>
                        <a:rPr lang="en-US" altLang="ko-KR" sz="1200" dirty="0">
                          <a:latin typeface="+mn-ea"/>
                          <a:ea typeface="+mn-ea"/>
                        </a:rPr>
                        <a:t>133</a:t>
                      </a:r>
                    </a:p>
                    <a:p>
                      <a:pPr algn="r" latinLnBrk="1">
                        <a:lnSpc>
                          <a:spcPct val="150000"/>
                        </a:lnSpc>
                      </a:pPr>
                      <a:r>
                        <a:rPr lang="en-US" altLang="ko-KR" sz="1200" dirty="0">
                          <a:latin typeface="+mn-ea"/>
                          <a:ea typeface="+mn-ea"/>
                        </a:rPr>
                        <a:t>134</a:t>
                      </a:r>
                    </a:p>
                    <a:p>
                      <a:pPr algn="r" latinLnBrk="1">
                        <a:lnSpc>
                          <a:spcPct val="150000"/>
                        </a:lnSpc>
                      </a:pPr>
                      <a:r>
                        <a:rPr lang="en-US" altLang="ko-KR" sz="1200" dirty="0">
                          <a:latin typeface="+mn-ea"/>
                          <a:ea typeface="+mn-ea"/>
                        </a:rPr>
                        <a:t>135</a:t>
                      </a:r>
                    </a:p>
                    <a:p>
                      <a:pPr algn="r" latinLnBrk="1">
                        <a:lnSpc>
                          <a:spcPct val="150000"/>
                        </a:lnSpc>
                      </a:pPr>
                      <a:r>
                        <a:rPr lang="en-US" altLang="ko-KR" sz="1200" dirty="0">
                          <a:latin typeface="+mn-ea"/>
                          <a:ea typeface="+mn-ea"/>
                        </a:rPr>
                        <a:t>139</a:t>
                      </a:r>
                    </a:p>
                    <a:p>
                      <a:pPr algn="r" latinLnBrk="1">
                        <a:lnSpc>
                          <a:spcPct val="150000"/>
                        </a:lnSpc>
                      </a:pPr>
                      <a:r>
                        <a:rPr lang="en-US" altLang="ko-KR" sz="1200" dirty="0">
                          <a:latin typeface="+mn-ea"/>
                          <a:ea typeface="+mn-ea"/>
                        </a:rPr>
                        <a:t>139</a:t>
                      </a:r>
                    </a:p>
                    <a:p>
                      <a:pPr algn="r" latinLnBrk="1">
                        <a:lnSpc>
                          <a:spcPct val="150000"/>
                        </a:lnSpc>
                      </a:pPr>
                      <a:r>
                        <a:rPr lang="en-US" altLang="ko-KR" sz="1200" dirty="0">
                          <a:latin typeface="+mn-ea"/>
                          <a:ea typeface="+mn-ea"/>
                        </a:rPr>
                        <a:t>140</a:t>
                      </a:r>
                    </a:p>
                    <a:p>
                      <a:pPr algn="r" latinLnBrk="1">
                        <a:lnSpc>
                          <a:spcPct val="150000"/>
                        </a:lnSpc>
                      </a:pPr>
                      <a:r>
                        <a:rPr lang="en-US" altLang="ko-KR" sz="1200" dirty="0">
                          <a:latin typeface="+mn-ea"/>
                          <a:ea typeface="+mn-ea"/>
                        </a:rPr>
                        <a:t>147</a:t>
                      </a:r>
                    </a:p>
                    <a:p>
                      <a:pPr algn="r" latinLnBrk="1">
                        <a:lnSpc>
                          <a:spcPct val="150000"/>
                        </a:lnSpc>
                      </a:pPr>
                      <a:r>
                        <a:rPr lang="en-US" altLang="ko-KR" sz="1200" dirty="0">
                          <a:latin typeface="+mn-ea"/>
                          <a:ea typeface="+mn-ea"/>
                        </a:rPr>
                        <a:t>147</a:t>
                      </a:r>
                    </a:p>
                    <a:p>
                      <a:pPr algn="r" latinLnBrk="1">
                        <a:lnSpc>
                          <a:spcPct val="150000"/>
                        </a:lnSpc>
                      </a:pPr>
                      <a:r>
                        <a:rPr lang="en-US" altLang="ko-KR" sz="1200" dirty="0">
                          <a:latin typeface="+mn-ea"/>
                          <a:ea typeface="+mn-ea"/>
                        </a:rPr>
                        <a:t>148</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830983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7</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13. </a:t>
                      </a:r>
                      <a:r>
                        <a:rPr lang="ko-KR" altLang="en-US" sz="1200" dirty="0">
                          <a:latin typeface="+mn-ea"/>
                          <a:ea typeface="+mn-ea"/>
                        </a:rPr>
                        <a:t>입찰진행상세 </a:t>
                      </a:r>
                      <a:r>
                        <a:rPr lang="en-US" altLang="ko-KR" sz="1200" dirty="0">
                          <a:latin typeface="+mn-ea"/>
                          <a:ea typeface="+mn-ea"/>
                        </a:rPr>
                        <a:t>- </a:t>
                      </a:r>
                      <a:r>
                        <a:rPr lang="ko-KR" altLang="en-US" sz="1200" dirty="0">
                          <a:latin typeface="+mn-ea"/>
                          <a:ea typeface="+mn-ea"/>
                        </a:rPr>
                        <a:t>사전심사신청서조회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13.1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13.2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14. </a:t>
                      </a:r>
                      <a:r>
                        <a:rPr lang="ko-KR" altLang="en-US" sz="1200" dirty="0">
                          <a:latin typeface="+mn-ea"/>
                          <a:ea typeface="+mn-ea"/>
                        </a:rPr>
                        <a:t>입찰진행상세 </a:t>
                      </a:r>
                      <a:r>
                        <a:rPr lang="en-US" altLang="ko-KR" sz="1200" dirty="0">
                          <a:latin typeface="+mn-ea"/>
                          <a:ea typeface="+mn-ea"/>
                        </a:rPr>
                        <a:t>- </a:t>
                      </a:r>
                      <a:r>
                        <a:rPr lang="ko-KR" altLang="en-US" sz="1200" dirty="0" err="1">
                          <a:latin typeface="+mn-ea"/>
                          <a:ea typeface="+mn-ea"/>
                        </a:rPr>
                        <a:t>사전심사신청결과조회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14.1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14.2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15. </a:t>
                      </a:r>
                      <a:r>
                        <a:rPr lang="ko-KR" altLang="en-US" sz="1200" dirty="0">
                          <a:latin typeface="+mn-ea"/>
                          <a:ea typeface="+mn-ea"/>
                        </a:rPr>
                        <a:t>입찰진행상세 </a:t>
                      </a:r>
                      <a:r>
                        <a:rPr lang="en-US" altLang="ko-KR" sz="1200" dirty="0">
                          <a:latin typeface="+mn-ea"/>
                          <a:ea typeface="+mn-ea"/>
                        </a:rPr>
                        <a:t>- </a:t>
                      </a:r>
                      <a:r>
                        <a:rPr lang="ko-KR" altLang="en-US" sz="1200" dirty="0">
                          <a:latin typeface="+mn-ea"/>
                          <a:ea typeface="+mn-ea"/>
                        </a:rPr>
                        <a:t>입찰등록심사결과조회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15.1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15.2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16. </a:t>
                      </a:r>
                      <a:r>
                        <a:rPr lang="ko-KR" altLang="en-US" sz="1200" dirty="0">
                          <a:latin typeface="+mn-ea"/>
                          <a:ea typeface="+mn-ea"/>
                        </a:rPr>
                        <a:t>생산능력서류제출</a:t>
                      </a:r>
                      <a:endParaRPr lang="en-US" altLang="ko-KR" sz="1200" dirty="0">
                        <a:latin typeface="+mn-ea"/>
                        <a:ea typeface="+mn-ea"/>
                      </a:endParaRPr>
                    </a:p>
                    <a:p>
                      <a:pPr marL="0" indent="0" algn="l" latinLnBrk="1">
                        <a:lnSpc>
                          <a:spcPct val="150000"/>
                        </a:lnSpc>
                        <a:buNone/>
                      </a:pPr>
                      <a:r>
                        <a:rPr lang="en-US" altLang="ko-KR" sz="1200" dirty="0">
                          <a:latin typeface="+mn-ea"/>
                          <a:ea typeface="+mn-ea"/>
                        </a:rPr>
                        <a:t>16.1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16.2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17. </a:t>
                      </a:r>
                      <a:r>
                        <a:rPr lang="ko-KR" altLang="en-US" sz="1200" dirty="0" err="1">
                          <a:latin typeface="+mn-ea"/>
                          <a:ea typeface="+mn-ea"/>
                        </a:rPr>
                        <a:t>개찰목록</a:t>
                      </a:r>
                      <a:r>
                        <a:rPr lang="ko-KR" altLang="en-US" sz="1200" dirty="0">
                          <a:latin typeface="+mn-ea"/>
                          <a:ea typeface="+mn-ea"/>
                        </a:rPr>
                        <a:t> </a:t>
                      </a:r>
                      <a:r>
                        <a:rPr lang="en-US" altLang="ko-KR" sz="1200" dirty="0">
                          <a:latin typeface="+mn-ea"/>
                          <a:ea typeface="+mn-ea"/>
                        </a:rPr>
                        <a:t>- </a:t>
                      </a:r>
                      <a:r>
                        <a:rPr lang="ko-KR" altLang="en-US" sz="1200" dirty="0">
                          <a:latin typeface="+mn-ea"/>
                          <a:ea typeface="+mn-ea"/>
                        </a:rPr>
                        <a:t>입찰결과상세</a:t>
                      </a:r>
                      <a:endParaRPr lang="en-US" altLang="ko-KR" sz="1200" dirty="0">
                        <a:latin typeface="+mn-ea"/>
                        <a:ea typeface="+mn-ea"/>
                      </a:endParaRPr>
                    </a:p>
                    <a:p>
                      <a:pPr marL="0" indent="0" algn="l" latinLnBrk="1">
                        <a:lnSpc>
                          <a:spcPct val="150000"/>
                        </a:lnSpc>
                        <a:buNone/>
                      </a:pPr>
                      <a:r>
                        <a:rPr lang="en-US" altLang="ko-KR" sz="1200" dirty="0">
                          <a:latin typeface="+mn-ea"/>
                          <a:ea typeface="+mn-ea"/>
                        </a:rPr>
                        <a:t>17.1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17.2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17.3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17.4 </a:t>
                      </a:r>
                      <a:r>
                        <a:rPr lang="ko-KR" altLang="en-US" sz="1200" dirty="0">
                          <a:latin typeface="+mn-ea"/>
                          <a:ea typeface="+mn-ea"/>
                        </a:rPr>
                        <a:t>화면 </a:t>
                      </a:r>
                      <a:r>
                        <a:rPr lang="en-US" altLang="ko-KR" sz="1200" dirty="0">
                          <a:latin typeface="+mn-ea"/>
                          <a:ea typeface="+mn-ea"/>
                        </a:rPr>
                        <a:t>Layout</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157</a:t>
                      </a:r>
                    </a:p>
                    <a:p>
                      <a:pPr algn="r" latinLnBrk="1">
                        <a:lnSpc>
                          <a:spcPct val="150000"/>
                        </a:lnSpc>
                      </a:pPr>
                      <a:r>
                        <a:rPr lang="en-US" altLang="ko-KR" sz="1200" dirty="0">
                          <a:latin typeface="+mn-ea"/>
                          <a:ea typeface="+mn-ea"/>
                        </a:rPr>
                        <a:t>157</a:t>
                      </a:r>
                    </a:p>
                    <a:p>
                      <a:pPr algn="r" latinLnBrk="1">
                        <a:lnSpc>
                          <a:spcPct val="150000"/>
                        </a:lnSpc>
                      </a:pPr>
                      <a:r>
                        <a:rPr lang="en-US" altLang="ko-KR" sz="1200" dirty="0">
                          <a:latin typeface="+mn-ea"/>
                          <a:ea typeface="+mn-ea"/>
                        </a:rPr>
                        <a:t>158</a:t>
                      </a:r>
                    </a:p>
                    <a:p>
                      <a:pPr algn="r" latinLnBrk="1">
                        <a:lnSpc>
                          <a:spcPct val="150000"/>
                        </a:lnSpc>
                      </a:pPr>
                      <a:r>
                        <a:rPr lang="en-US" altLang="ko-KR" sz="1200" dirty="0">
                          <a:latin typeface="+mn-ea"/>
                          <a:ea typeface="+mn-ea"/>
                        </a:rPr>
                        <a:t>162</a:t>
                      </a:r>
                    </a:p>
                    <a:p>
                      <a:pPr algn="r" latinLnBrk="1">
                        <a:lnSpc>
                          <a:spcPct val="150000"/>
                        </a:lnSpc>
                      </a:pPr>
                      <a:r>
                        <a:rPr lang="en-US" altLang="ko-KR" sz="1200" dirty="0">
                          <a:latin typeface="+mn-ea"/>
                          <a:ea typeface="+mn-ea"/>
                        </a:rPr>
                        <a:t>162</a:t>
                      </a:r>
                    </a:p>
                    <a:p>
                      <a:pPr algn="r" latinLnBrk="1">
                        <a:lnSpc>
                          <a:spcPct val="150000"/>
                        </a:lnSpc>
                      </a:pPr>
                      <a:r>
                        <a:rPr lang="en-US" altLang="ko-KR" sz="1200" dirty="0">
                          <a:latin typeface="+mn-ea"/>
                          <a:ea typeface="+mn-ea"/>
                        </a:rPr>
                        <a:t>163</a:t>
                      </a:r>
                    </a:p>
                    <a:p>
                      <a:pPr algn="r" latinLnBrk="1">
                        <a:lnSpc>
                          <a:spcPct val="150000"/>
                        </a:lnSpc>
                      </a:pPr>
                      <a:r>
                        <a:rPr lang="en-US" altLang="ko-KR" sz="1200" dirty="0">
                          <a:latin typeface="+mn-ea"/>
                          <a:ea typeface="+mn-ea"/>
                        </a:rPr>
                        <a:t>171</a:t>
                      </a:r>
                    </a:p>
                    <a:p>
                      <a:pPr algn="r" latinLnBrk="1">
                        <a:lnSpc>
                          <a:spcPct val="150000"/>
                        </a:lnSpc>
                      </a:pPr>
                      <a:r>
                        <a:rPr lang="en-US" altLang="ko-KR" sz="1200" dirty="0">
                          <a:latin typeface="+mn-ea"/>
                          <a:ea typeface="+mn-ea"/>
                        </a:rPr>
                        <a:t>171</a:t>
                      </a:r>
                    </a:p>
                    <a:p>
                      <a:pPr algn="r" latinLnBrk="1">
                        <a:lnSpc>
                          <a:spcPct val="150000"/>
                        </a:lnSpc>
                      </a:pPr>
                      <a:r>
                        <a:rPr lang="en-US" altLang="ko-KR" sz="1200" dirty="0">
                          <a:latin typeface="+mn-ea"/>
                          <a:ea typeface="+mn-ea"/>
                        </a:rPr>
                        <a:t>172</a:t>
                      </a:r>
                    </a:p>
                    <a:p>
                      <a:pPr algn="r" latinLnBrk="1">
                        <a:lnSpc>
                          <a:spcPct val="150000"/>
                        </a:lnSpc>
                      </a:pPr>
                      <a:r>
                        <a:rPr lang="en-US" altLang="ko-KR" sz="1200" dirty="0">
                          <a:latin typeface="+mn-ea"/>
                          <a:ea typeface="+mn-ea"/>
                        </a:rPr>
                        <a:t>177</a:t>
                      </a:r>
                    </a:p>
                    <a:p>
                      <a:pPr algn="r" latinLnBrk="1">
                        <a:lnSpc>
                          <a:spcPct val="150000"/>
                        </a:lnSpc>
                      </a:pPr>
                      <a:r>
                        <a:rPr lang="en-US" altLang="ko-KR" sz="1200" dirty="0">
                          <a:latin typeface="+mn-ea"/>
                          <a:ea typeface="+mn-ea"/>
                        </a:rPr>
                        <a:t>177</a:t>
                      </a:r>
                    </a:p>
                    <a:p>
                      <a:pPr algn="r" latinLnBrk="1">
                        <a:lnSpc>
                          <a:spcPct val="150000"/>
                        </a:lnSpc>
                      </a:pPr>
                      <a:r>
                        <a:rPr lang="en-US" altLang="ko-KR" sz="1200" dirty="0">
                          <a:latin typeface="+mn-ea"/>
                          <a:ea typeface="+mn-ea"/>
                        </a:rPr>
                        <a:t>178</a:t>
                      </a:r>
                    </a:p>
                    <a:p>
                      <a:pPr algn="r" latinLnBrk="1">
                        <a:lnSpc>
                          <a:spcPct val="150000"/>
                        </a:lnSpc>
                      </a:pPr>
                      <a:r>
                        <a:rPr lang="en-US" altLang="ko-KR" sz="1200" dirty="0">
                          <a:latin typeface="+mn-ea"/>
                          <a:ea typeface="+mn-ea"/>
                        </a:rPr>
                        <a:t>184</a:t>
                      </a:r>
                    </a:p>
                    <a:p>
                      <a:pPr algn="r" latinLnBrk="1">
                        <a:lnSpc>
                          <a:spcPct val="150000"/>
                        </a:lnSpc>
                      </a:pPr>
                      <a:r>
                        <a:rPr lang="en-US" altLang="ko-KR" sz="1200" dirty="0">
                          <a:latin typeface="+mn-ea"/>
                          <a:ea typeface="+mn-ea"/>
                        </a:rPr>
                        <a:t>184</a:t>
                      </a:r>
                    </a:p>
                    <a:p>
                      <a:pPr algn="r" latinLnBrk="1">
                        <a:lnSpc>
                          <a:spcPct val="150000"/>
                        </a:lnSpc>
                      </a:pPr>
                      <a:r>
                        <a:rPr lang="en-US" altLang="ko-KR" sz="1200" dirty="0">
                          <a:latin typeface="+mn-ea"/>
                          <a:ea typeface="+mn-ea"/>
                        </a:rPr>
                        <a:t>185</a:t>
                      </a:r>
                    </a:p>
                    <a:p>
                      <a:pPr algn="r" latinLnBrk="1">
                        <a:lnSpc>
                          <a:spcPct val="150000"/>
                        </a:lnSpc>
                      </a:pPr>
                      <a:r>
                        <a:rPr lang="en-US" altLang="ko-KR" sz="1200" dirty="0">
                          <a:latin typeface="+mn-ea"/>
                          <a:ea typeface="+mn-ea"/>
                        </a:rPr>
                        <a:t>187</a:t>
                      </a:r>
                    </a:p>
                    <a:p>
                      <a:pPr algn="r" latinLnBrk="1">
                        <a:lnSpc>
                          <a:spcPct val="150000"/>
                        </a:lnSpc>
                      </a:pPr>
                      <a:r>
                        <a:rPr lang="en-US" altLang="ko-KR" sz="1200" dirty="0">
                          <a:latin typeface="+mn-ea"/>
                          <a:ea typeface="+mn-ea"/>
                        </a:rPr>
                        <a:t>192</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166032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8</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18. </a:t>
                      </a:r>
                      <a:r>
                        <a:rPr lang="ko-KR" altLang="en-US" sz="1200" dirty="0">
                          <a:latin typeface="+mn-ea"/>
                          <a:ea typeface="+mn-ea"/>
                        </a:rPr>
                        <a:t>이행적격심사신청</a:t>
                      </a:r>
                      <a:endParaRPr lang="en-US" altLang="ko-KR" sz="1200" dirty="0">
                        <a:latin typeface="+mn-ea"/>
                        <a:ea typeface="+mn-ea"/>
                      </a:endParaRPr>
                    </a:p>
                    <a:p>
                      <a:pPr marL="0" indent="0" algn="l" latinLnBrk="1">
                        <a:lnSpc>
                          <a:spcPct val="150000"/>
                        </a:lnSpc>
                        <a:buNone/>
                      </a:pPr>
                      <a:r>
                        <a:rPr lang="en-US" altLang="ko-KR" sz="1200" dirty="0">
                          <a:latin typeface="+mn-ea"/>
                          <a:ea typeface="+mn-ea"/>
                        </a:rPr>
                        <a:t>18.1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18.2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19. </a:t>
                      </a:r>
                      <a:r>
                        <a:rPr lang="ko-KR" altLang="en-US" sz="1200" dirty="0" err="1">
                          <a:latin typeface="+mn-ea"/>
                          <a:ea typeface="+mn-ea"/>
                        </a:rPr>
                        <a:t>이행적격심사신청조회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19.1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19.2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20. </a:t>
                      </a:r>
                      <a:r>
                        <a:rPr lang="ko-KR" altLang="en-US" sz="1200" dirty="0" err="1">
                          <a:latin typeface="+mn-ea"/>
                          <a:ea typeface="+mn-ea"/>
                        </a:rPr>
                        <a:t>이행적격심사포기신청</a:t>
                      </a:r>
                      <a:endParaRPr lang="en-US" altLang="ko-KR" sz="1200" dirty="0">
                        <a:latin typeface="+mn-ea"/>
                        <a:ea typeface="+mn-ea"/>
                      </a:endParaRPr>
                    </a:p>
                    <a:p>
                      <a:pPr marL="0" indent="0" algn="l" latinLnBrk="1">
                        <a:lnSpc>
                          <a:spcPct val="150000"/>
                        </a:lnSpc>
                        <a:buNone/>
                      </a:pPr>
                      <a:r>
                        <a:rPr lang="en-US" altLang="ko-KR" sz="1200" dirty="0">
                          <a:latin typeface="+mn-ea"/>
                          <a:ea typeface="+mn-ea"/>
                        </a:rPr>
                        <a:t>20.1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20.2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21. </a:t>
                      </a:r>
                      <a:r>
                        <a:rPr lang="ko-KR" altLang="en-US" sz="1200" dirty="0" err="1">
                          <a:latin typeface="+mn-ea"/>
                          <a:ea typeface="+mn-ea"/>
                        </a:rPr>
                        <a:t>이행적격심사포기신청조회</a:t>
                      </a:r>
                      <a:endParaRPr lang="en-US" altLang="ko-KR" sz="1200" dirty="0">
                        <a:latin typeface="+mn-ea"/>
                        <a:ea typeface="+mn-ea"/>
                      </a:endParaRPr>
                    </a:p>
                    <a:p>
                      <a:pPr marL="0" indent="0" algn="l" latinLnBrk="1">
                        <a:lnSpc>
                          <a:spcPct val="150000"/>
                        </a:lnSpc>
                        <a:buNone/>
                      </a:pPr>
                      <a:r>
                        <a:rPr lang="en-US" altLang="ko-KR" sz="1200" dirty="0">
                          <a:latin typeface="+mn-ea"/>
                          <a:ea typeface="+mn-ea"/>
                        </a:rPr>
                        <a:t>21.1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21.2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22. </a:t>
                      </a:r>
                      <a:r>
                        <a:rPr lang="ko-KR" altLang="en-US" sz="1200" dirty="0">
                          <a:latin typeface="+mn-ea"/>
                          <a:ea typeface="+mn-ea"/>
                        </a:rPr>
                        <a:t>이행적격심사결과</a:t>
                      </a:r>
                      <a:endParaRPr lang="en-US" altLang="ko-KR" sz="1200" dirty="0">
                        <a:latin typeface="+mn-ea"/>
                        <a:ea typeface="+mn-ea"/>
                      </a:endParaRPr>
                    </a:p>
                    <a:p>
                      <a:pPr marL="0" indent="0" algn="l" latinLnBrk="1">
                        <a:lnSpc>
                          <a:spcPct val="150000"/>
                        </a:lnSpc>
                        <a:buNone/>
                      </a:pPr>
                      <a:r>
                        <a:rPr lang="en-US" altLang="ko-KR" sz="1200" dirty="0">
                          <a:latin typeface="+mn-ea"/>
                          <a:ea typeface="+mn-ea"/>
                        </a:rPr>
                        <a:t>22.1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22.2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endParaRPr lang="en-US" altLang="ko-KR" sz="1200" dirty="0">
                        <a:latin typeface="+mn-ea"/>
                        <a:ea typeface="+mn-ea"/>
                      </a:endParaRP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214</a:t>
                      </a:r>
                    </a:p>
                    <a:p>
                      <a:pPr algn="r" latinLnBrk="1">
                        <a:lnSpc>
                          <a:spcPct val="150000"/>
                        </a:lnSpc>
                      </a:pPr>
                      <a:r>
                        <a:rPr lang="en-US" altLang="ko-KR" sz="1200" dirty="0">
                          <a:latin typeface="+mn-ea"/>
                          <a:ea typeface="+mn-ea"/>
                        </a:rPr>
                        <a:t>214</a:t>
                      </a:r>
                    </a:p>
                    <a:p>
                      <a:pPr algn="r" latinLnBrk="1">
                        <a:lnSpc>
                          <a:spcPct val="150000"/>
                        </a:lnSpc>
                      </a:pPr>
                      <a:r>
                        <a:rPr lang="en-US" altLang="ko-KR" sz="1200" dirty="0">
                          <a:latin typeface="+mn-ea"/>
                          <a:ea typeface="+mn-ea"/>
                        </a:rPr>
                        <a:t>215</a:t>
                      </a:r>
                    </a:p>
                    <a:p>
                      <a:pPr algn="r" latinLnBrk="1">
                        <a:lnSpc>
                          <a:spcPct val="150000"/>
                        </a:lnSpc>
                      </a:pPr>
                      <a:r>
                        <a:rPr lang="en-US" altLang="ko-KR" sz="1200" dirty="0">
                          <a:latin typeface="+mn-ea"/>
                          <a:ea typeface="+mn-ea"/>
                        </a:rPr>
                        <a:t>222</a:t>
                      </a:r>
                    </a:p>
                    <a:p>
                      <a:pPr algn="r" latinLnBrk="1">
                        <a:lnSpc>
                          <a:spcPct val="150000"/>
                        </a:lnSpc>
                      </a:pPr>
                      <a:r>
                        <a:rPr lang="en-US" altLang="ko-KR" sz="1200" dirty="0">
                          <a:latin typeface="+mn-ea"/>
                          <a:ea typeface="+mn-ea"/>
                        </a:rPr>
                        <a:t>222</a:t>
                      </a:r>
                    </a:p>
                    <a:p>
                      <a:pPr algn="r" latinLnBrk="1">
                        <a:lnSpc>
                          <a:spcPct val="150000"/>
                        </a:lnSpc>
                      </a:pPr>
                      <a:r>
                        <a:rPr lang="en-US" altLang="ko-KR" sz="1200" dirty="0">
                          <a:latin typeface="+mn-ea"/>
                          <a:ea typeface="+mn-ea"/>
                        </a:rPr>
                        <a:t>223</a:t>
                      </a:r>
                    </a:p>
                    <a:p>
                      <a:pPr algn="r" latinLnBrk="1">
                        <a:lnSpc>
                          <a:spcPct val="150000"/>
                        </a:lnSpc>
                      </a:pPr>
                      <a:r>
                        <a:rPr lang="en-US" altLang="ko-KR" sz="1200" dirty="0">
                          <a:latin typeface="+mn-ea"/>
                          <a:ea typeface="+mn-ea"/>
                        </a:rPr>
                        <a:t>230</a:t>
                      </a:r>
                    </a:p>
                    <a:p>
                      <a:pPr algn="r" latinLnBrk="1">
                        <a:lnSpc>
                          <a:spcPct val="150000"/>
                        </a:lnSpc>
                      </a:pPr>
                      <a:r>
                        <a:rPr lang="en-US" altLang="ko-KR" sz="1200" dirty="0">
                          <a:latin typeface="+mn-ea"/>
                          <a:ea typeface="+mn-ea"/>
                        </a:rPr>
                        <a:t>230</a:t>
                      </a:r>
                    </a:p>
                    <a:p>
                      <a:pPr algn="r" latinLnBrk="1">
                        <a:lnSpc>
                          <a:spcPct val="150000"/>
                        </a:lnSpc>
                      </a:pPr>
                      <a:r>
                        <a:rPr lang="en-US" altLang="ko-KR" sz="1200" dirty="0">
                          <a:latin typeface="+mn-ea"/>
                          <a:ea typeface="+mn-ea"/>
                        </a:rPr>
                        <a:t>231</a:t>
                      </a:r>
                    </a:p>
                    <a:p>
                      <a:pPr algn="r" latinLnBrk="1">
                        <a:lnSpc>
                          <a:spcPct val="150000"/>
                        </a:lnSpc>
                      </a:pPr>
                      <a:r>
                        <a:rPr lang="en-US" altLang="ko-KR" sz="1200" dirty="0">
                          <a:latin typeface="+mn-ea"/>
                          <a:ea typeface="+mn-ea"/>
                        </a:rPr>
                        <a:t>233</a:t>
                      </a:r>
                    </a:p>
                    <a:p>
                      <a:pPr algn="r" latinLnBrk="1">
                        <a:lnSpc>
                          <a:spcPct val="150000"/>
                        </a:lnSpc>
                      </a:pPr>
                      <a:r>
                        <a:rPr lang="en-US" altLang="ko-KR" sz="1200" dirty="0">
                          <a:latin typeface="+mn-ea"/>
                          <a:ea typeface="+mn-ea"/>
                        </a:rPr>
                        <a:t>233</a:t>
                      </a:r>
                    </a:p>
                    <a:p>
                      <a:pPr algn="r" latinLnBrk="1">
                        <a:lnSpc>
                          <a:spcPct val="150000"/>
                        </a:lnSpc>
                      </a:pPr>
                      <a:r>
                        <a:rPr lang="en-US" altLang="ko-KR" sz="1200" dirty="0">
                          <a:latin typeface="+mn-ea"/>
                          <a:ea typeface="+mn-ea"/>
                        </a:rPr>
                        <a:t>235</a:t>
                      </a:r>
                    </a:p>
                    <a:p>
                      <a:pPr algn="r" latinLnBrk="1">
                        <a:lnSpc>
                          <a:spcPct val="150000"/>
                        </a:lnSpc>
                      </a:pPr>
                      <a:r>
                        <a:rPr lang="en-US" altLang="ko-KR" sz="1200" dirty="0">
                          <a:latin typeface="+mn-ea"/>
                          <a:ea typeface="+mn-ea"/>
                        </a:rPr>
                        <a:t>236</a:t>
                      </a:r>
                    </a:p>
                    <a:p>
                      <a:pPr algn="r" latinLnBrk="1">
                        <a:lnSpc>
                          <a:spcPct val="150000"/>
                        </a:lnSpc>
                      </a:pPr>
                      <a:r>
                        <a:rPr lang="en-US" altLang="ko-KR" sz="1200" dirty="0">
                          <a:latin typeface="+mn-ea"/>
                          <a:ea typeface="+mn-ea"/>
                        </a:rPr>
                        <a:t>236</a:t>
                      </a:r>
                    </a:p>
                    <a:p>
                      <a:pPr algn="r" latinLnBrk="1">
                        <a:lnSpc>
                          <a:spcPct val="150000"/>
                        </a:lnSpc>
                      </a:pPr>
                      <a:r>
                        <a:rPr lang="en-US" altLang="ko-KR" sz="1200" dirty="0">
                          <a:latin typeface="+mn-ea"/>
                          <a:ea typeface="+mn-ea"/>
                        </a:rPr>
                        <a:t>238</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810093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9</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23. </a:t>
                      </a:r>
                      <a:r>
                        <a:rPr lang="ko-KR" altLang="en-US" sz="1200" dirty="0">
                          <a:latin typeface="+mn-ea"/>
                          <a:ea typeface="+mn-ea"/>
                        </a:rPr>
                        <a:t>국외 </a:t>
                      </a:r>
                      <a:r>
                        <a:rPr lang="en-US" altLang="ko-KR" sz="1200" dirty="0">
                          <a:latin typeface="+mn-ea"/>
                          <a:ea typeface="+mn-ea"/>
                        </a:rPr>
                        <a:t>- </a:t>
                      </a:r>
                      <a:r>
                        <a:rPr lang="ko-KR" altLang="en-US" sz="1200" dirty="0">
                          <a:latin typeface="+mn-ea"/>
                          <a:ea typeface="+mn-ea"/>
                        </a:rPr>
                        <a:t>입찰공고</a:t>
                      </a:r>
                      <a:endParaRPr lang="en-US" altLang="ko-KR" sz="1200" dirty="0">
                        <a:latin typeface="+mn-ea"/>
                        <a:ea typeface="+mn-ea"/>
                      </a:endParaRPr>
                    </a:p>
                    <a:p>
                      <a:pPr marL="0" indent="0" algn="l" latinLnBrk="1">
                        <a:lnSpc>
                          <a:spcPct val="150000"/>
                        </a:lnSpc>
                        <a:buNone/>
                      </a:pPr>
                      <a:r>
                        <a:rPr lang="en-US" altLang="ko-KR" sz="1200" dirty="0">
                          <a:latin typeface="+mn-ea"/>
                          <a:ea typeface="+mn-ea"/>
                        </a:rPr>
                        <a:t>23.1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23.2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23.3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23.4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24. </a:t>
                      </a:r>
                      <a:r>
                        <a:rPr lang="ko-KR" altLang="en-US" sz="1200" dirty="0">
                          <a:latin typeface="+mn-ea"/>
                          <a:ea typeface="+mn-ea"/>
                        </a:rPr>
                        <a:t>국외 </a:t>
                      </a:r>
                      <a:r>
                        <a:rPr lang="en-US" altLang="ko-KR" sz="1200" dirty="0">
                          <a:latin typeface="+mn-ea"/>
                          <a:ea typeface="+mn-ea"/>
                        </a:rPr>
                        <a:t>- </a:t>
                      </a:r>
                      <a:r>
                        <a:rPr lang="ko-KR" altLang="en-US" sz="1200" dirty="0" err="1">
                          <a:latin typeface="+mn-ea"/>
                          <a:ea typeface="+mn-ea"/>
                        </a:rPr>
                        <a:t>입찰진행</a:t>
                      </a:r>
                      <a:endParaRPr lang="en-US" altLang="ko-KR" sz="1200" dirty="0">
                        <a:latin typeface="+mn-ea"/>
                        <a:ea typeface="+mn-ea"/>
                      </a:endParaRPr>
                    </a:p>
                    <a:p>
                      <a:pPr marL="0" indent="0" algn="l" latinLnBrk="1">
                        <a:lnSpc>
                          <a:spcPct val="150000"/>
                        </a:lnSpc>
                        <a:buNone/>
                      </a:pPr>
                      <a:r>
                        <a:rPr lang="en-US" altLang="ko-KR" sz="1200" dirty="0">
                          <a:latin typeface="+mn-ea"/>
                          <a:ea typeface="+mn-ea"/>
                        </a:rPr>
                        <a:t>24.1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24.2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24.3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24.4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25. </a:t>
                      </a:r>
                      <a:r>
                        <a:rPr lang="ko-KR" altLang="en-US" sz="1200" dirty="0">
                          <a:latin typeface="+mn-ea"/>
                          <a:ea typeface="+mn-ea"/>
                        </a:rPr>
                        <a:t>국외 </a:t>
                      </a:r>
                      <a:r>
                        <a:rPr lang="en-US" altLang="ko-KR" sz="1200" dirty="0">
                          <a:latin typeface="+mn-ea"/>
                          <a:ea typeface="+mn-ea"/>
                        </a:rPr>
                        <a:t>- </a:t>
                      </a:r>
                      <a:r>
                        <a:rPr lang="ko-KR" altLang="en-US" sz="1200" dirty="0">
                          <a:latin typeface="+mn-ea"/>
                          <a:ea typeface="+mn-ea"/>
                        </a:rPr>
                        <a:t>개찰</a:t>
                      </a:r>
                      <a:endParaRPr lang="en-US" altLang="ko-KR" sz="1200" dirty="0">
                        <a:latin typeface="+mn-ea"/>
                        <a:ea typeface="+mn-ea"/>
                      </a:endParaRPr>
                    </a:p>
                    <a:p>
                      <a:pPr marL="0" indent="0" algn="l" latinLnBrk="1">
                        <a:lnSpc>
                          <a:spcPct val="150000"/>
                        </a:lnSpc>
                        <a:buNone/>
                      </a:pPr>
                      <a:r>
                        <a:rPr lang="en-US" altLang="ko-KR" sz="1200" dirty="0">
                          <a:latin typeface="+mn-ea"/>
                          <a:ea typeface="+mn-ea"/>
                        </a:rPr>
                        <a:t>25.1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25.2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25.3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25.4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endParaRPr lang="en-US" altLang="ko-KR" sz="1200" dirty="0">
                        <a:latin typeface="+mn-ea"/>
                        <a:ea typeface="+mn-ea"/>
                      </a:endParaRPr>
                    </a:p>
                    <a:p>
                      <a:pPr marL="0" indent="0" algn="l" latinLnBrk="1">
                        <a:lnSpc>
                          <a:spcPct val="150000"/>
                        </a:lnSpc>
                        <a:buNone/>
                      </a:pPr>
                      <a:endParaRPr lang="en-US" altLang="ko-KR" sz="1200" dirty="0">
                        <a:latin typeface="+mn-ea"/>
                        <a:ea typeface="+mn-ea"/>
                      </a:endParaRP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352</a:t>
                      </a:r>
                    </a:p>
                    <a:p>
                      <a:pPr algn="r" latinLnBrk="1">
                        <a:lnSpc>
                          <a:spcPct val="150000"/>
                        </a:lnSpc>
                      </a:pPr>
                      <a:r>
                        <a:rPr lang="en-US" altLang="ko-KR" sz="1200" dirty="0">
                          <a:latin typeface="+mn-ea"/>
                          <a:ea typeface="+mn-ea"/>
                        </a:rPr>
                        <a:t>352</a:t>
                      </a:r>
                    </a:p>
                    <a:p>
                      <a:pPr algn="r" latinLnBrk="1">
                        <a:lnSpc>
                          <a:spcPct val="150000"/>
                        </a:lnSpc>
                      </a:pPr>
                      <a:r>
                        <a:rPr lang="en-US" altLang="ko-KR" sz="1200" dirty="0">
                          <a:latin typeface="+mn-ea"/>
                          <a:ea typeface="+mn-ea"/>
                        </a:rPr>
                        <a:t>354</a:t>
                      </a:r>
                    </a:p>
                    <a:p>
                      <a:pPr algn="r" latinLnBrk="1">
                        <a:lnSpc>
                          <a:spcPct val="150000"/>
                        </a:lnSpc>
                      </a:pPr>
                      <a:r>
                        <a:rPr lang="en-US" altLang="ko-KR" sz="1200" dirty="0">
                          <a:latin typeface="+mn-ea"/>
                          <a:ea typeface="+mn-ea"/>
                        </a:rPr>
                        <a:t>356</a:t>
                      </a:r>
                    </a:p>
                    <a:p>
                      <a:pPr algn="r" latinLnBrk="1">
                        <a:lnSpc>
                          <a:spcPct val="150000"/>
                        </a:lnSpc>
                      </a:pPr>
                      <a:r>
                        <a:rPr lang="en-US" altLang="ko-KR" sz="1200" dirty="0">
                          <a:latin typeface="+mn-ea"/>
                          <a:ea typeface="+mn-ea"/>
                        </a:rPr>
                        <a:t>357</a:t>
                      </a:r>
                    </a:p>
                    <a:p>
                      <a:pPr algn="r" latinLnBrk="1">
                        <a:lnSpc>
                          <a:spcPct val="150000"/>
                        </a:lnSpc>
                      </a:pPr>
                      <a:r>
                        <a:rPr lang="en-US" altLang="ko-KR" sz="1200" dirty="0">
                          <a:latin typeface="+mn-ea"/>
                          <a:ea typeface="+mn-ea"/>
                        </a:rPr>
                        <a:t>393</a:t>
                      </a:r>
                    </a:p>
                    <a:p>
                      <a:pPr algn="r" latinLnBrk="1">
                        <a:lnSpc>
                          <a:spcPct val="150000"/>
                        </a:lnSpc>
                      </a:pPr>
                      <a:r>
                        <a:rPr lang="en-US" altLang="ko-KR" sz="1200" dirty="0">
                          <a:latin typeface="+mn-ea"/>
                          <a:ea typeface="+mn-ea"/>
                        </a:rPr>
                        <a:t>393</a:t>
                      </a:r>
                    </a:p>
                    <a:p>
                      <a:pPr algn="r" latinLnBrk="1">
                        <a:lnSpc>
                          <a:spcPct val="150000"/>
                        </a:lnSpc>
                      </a:pPr>
                      <a:r>
                        <a:rPr lang="en-US" altLang="ko-KR" sz="1200" dirty="0">
                          <a:latin typeface="+mn-ea"/>
                          <a:ea typeface="+mn-ea"/>
                        </a:rPr>
                        <a:t>396</a:t>
                      </a:r>
                    </a:p>
                    <a:p>
                      <a:pPr algn="r" latinLnBrk="1">
                        <a:lnSpc>
                          <a:spcPct val="150000"/>
                        </a:lnSpc>
                      </a:pPr>
                      <a:r>
                        <a:rPr lang="en-US" altLang="ko-KR" sz="1200" dirty="0">
                          <a:latin typeface="+mn-ea"/>
                          <a:ea typeface="+mn-ea"/>
                        </a:rPr>
                        <a:t>397</a:t>
                      </a:r>
                    </a:p>
                    <a:p>
                      <a:pPr algn="r" latinLnBrk="1">
                        <a:lnSpc>
                          <a:spcPct val="150000"/>
                        </a:lnSpc>
                      </a:pPr>
                      <a:r>
                        <a:rPr lang="en-US" altLang="ko-KR" sz="1200" dirty="0">
                          <a:latin typeface="+mn-ea"/>
                          <a:ea typeface="+mn-ea"/>
                        </a:rPr>
                        <a:t>399</a:t>
                      </a:r>
                    </a:p>
                    <a:p>
                      <a:pPr algn="r" latinLnBrk="1">
                        <a:lnSpc>
                          <a:spcPct val="150000"/>
                        </a:lnSpc>
                      </a:pPr>
                      <a:r>
                        <a:rPr lang="en-US" altLang="ko-KR" sz="1200" dirty="0">
                          <a:latin typeface="+mn-ea"/>
                          <a:ea typeface="+mn-ea"/>
                        </a:rPr>
                        <a:t>474</a:t>
                      </a:r>
                    </a:p>
                    <a:p>
                      <a:pPr algn="r" latinLnBrk="1">
                        <a:lnSpc>
                          <a:spcPct val="150000"/>
                        </a:lnSpc>
                      </a:pPr>
                      <a:r>
                        <a:rPr lang="en-US" altLang="ko-KR" sz="1200" dirty="0">
                          <a:latin typeface="+mn-ea"/>
                          <a:ea typeface="+mn-ea"/>
                        </a:rPr>
                        <a:t>474</a:t>
                      </a:r>
                    </a:p>
                    <a:p>
                      <a:pPr algn="r" latinLnBrk="1">
                        <a:lnSpc>
                          <a:spcPct val="150000"/>
                        </a:lnSpc>
                      </a:pPr>
                      <a:r>
                        <a:rPr lang="en-US" altLang="ko-KR" sz="1200" dirty="0">
                          <a:latin typeface="+mn-ea"/>
                          <a:ea typeface="+mn-ea"/>
                        </a:rPr>
                        <a:t>476</a:t>
                      </a:r>
                    </a:p>
                    <a:p>
                      <a:pPr algn="r" latinLnBrk="1">
                        <a:lnSpc>
                          <a:spcPct val="150000"/>
                        </a:lnSpc>
                      </a:pPr>
                      <a:r>
                        <a:rPr lang="en-US" altLang="ko-KR" sz="1200" dirty="0">
                          <a:latin typeface="+mn-ea"/>
                          <a:ea typeface="+mn-ea"/>
                        </a:rPr>
                        <a:t>477</a:t>
                      </a:r>
                    </a:p>
                    <a:p>
                      <a:pPr algn="r" latinLnBrk="1">
                        <a:lnSpc>
                          <a:spcPct val="150000"/>
                        </a:lnSpc>
                      </a:pPr>
                      <a:r>
                        <a:rPr lang="en-US" altLang="ko-KR" sz="1200" dirty="0">
                          <a:latin typeface="+mn-ea"/>
                          <a:ea typeface="+mn-ea"/>
                        </a:rPr>
                        <a:t>479</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6895882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10</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1. </a:t>
            </a:r>
            <a:r>
              <a:rPr lang="ko-KR" altLang="en-US" dirty="0"/>
              <a:t>메인</a:t>
            </a:r>
            <a:endParaRPr lang="en-US" altLang="ko-KR" dirty="0"/>
          </a:p>
          <a:p>
            <a:r>
              <a:rPr lang="en-US" altLang="ko-KR" dirty="0"/>
              <a:t>1.1 </a:t>
            </a:r>
            <a:r>
              <a:rPr lang="ko-KR" altLang="en-US" dirty="0"/>
              <a:t>화면 목록</a:t>
            </a:r>
          </a:p>
        </p:txBody>
      </p:sp>
      <p:graphicFrame>
        <p:nvGraphicFramePr>
          <p:cNvPr id="6" name="표 5"/>
          <p:cNvGraphicFramePr>
            <a:graphicFrameLocks noGrp="1"/>
          </p:cNvGraphicFramePr>
          <p:nvPr/>
        </p:nvGraphicFramePr>
        <p:xfrm>
          <a:off x="635474" y="1413419"/>
          <a:ext cx="8701200" cy="11433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a:latin typeface="+mn-ea"/>
                          <a:ea typeface="+mn-ea"/>
                        </a:rPr>
                        <a:t>화면명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 </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MUI-MS-01-M07</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r>
                        <a:rPr lang="ko-KR" altLang="en-US" sz="800" dirty="0" err="1">
                          <a:latin typeface="+mn-ea"/>
                          <a:ea typeface="+mn-ea"/>
                        </a:rPr>
                        <a:t>메인홈</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MscrnPage</a:t>
                      </a:r>
                      <a:endParaRPr lang="en-US" sz="800" b="0" i="0" u="none" strike="noStrike" dirty="0">
                        <a:solidFill>
                          <a:schemeClr val="tx1"/>
                        </a:solidFill>
                        <a:effectLst/>
                        <a:latin typeface="+mn-lt"/>
                        <a:ea typeface="맑은 고딕" panose="020B0503020000020004" pitchFamily="50" charset="-127"/>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r>
                        <a:rPr lang="ko-KR" altLang="en-US" sz="800" dirty="0">
                          <a:solidFill>
                            <a:schemeClr val="tx1"/>
                          </a:solidFill>
                          <a:latin typeface="+mn-ea"/>
                          <a:ea typeface="+mn-ea"/>
                        </a:rPr>
                        <a:t>앱 기동 완료 후 노출되는 메인 화면</a:t>
                      </a:r>
                      <a:endParaRPr lang="en-US" altLang="ko-KR" sz="800" dirty="0">
                        <a:solidFill>
                          <a:schemeClr val="tx1"/>
                        </a:solidFill>
                        <a:latin typeface="+mn-ea"/>
                        <a:ea typeface="+mn-ea"/>
                      </a:endParaRPr>
                    </a:p>
                    <a:p>
                      <a:pPr latinLnBrk="1"/>
                      <a:r>
                        <a:rPr lang="en-US" altLang="ko-KR" sz="800" dirty="0">
                          <a:solidFill>
                            <a:schemeClr val="tx1"/>
                          </a:solidFill>
                          <a:latin typeface="+mn-ea"/>
                          <a:ea typeface="+mn-ea"/>
                        </a:rPr>
                        <a:t>- </a:t>
                      </a:r>
                      <a:r>
                        <a:rPr lang="ko-KR" altLang="en-US" sz="800" dirty="0">
                          <a:solidFill>
                            <a:schemeClr val="tx1"/>
                          </a:solidFill>
                          <a:latin typeface="+mn-ea"/>
                          <a:ea typeface="+mn-ea"/>
                        </a:rPr>
                        <a:t>로그인 사용자</a:t>
                      </a:r>
                      <a:r>
                        <a:rPr lang="en-US" altLang="ko-KR" sz="800" dirty="0">
                          <a:solidFill>
                            <a:schemeClr val="tx1"/>
                          </a:solidFill>
                          <a:latin typeface="+mn-ea"/>
                          <a:ea typeface="+mn-ea"/>
                        </a:rPr>
                        <a:t>, </a:t>
                      </a:r>
                      <a:r>
                        <a:rPr lang="ko-KR" altLang="en-US" sz="800" dirty="0" err="1">
                          <a:solidFill>
                            <a:schemeClr val="tx1"/>
                          </a:solidFill>
                          <a:latin typeface="+mn-ea"/>
                          <a:ea typeface="+mn-ea"/>
                        </a:rPr>
                        <a:t>비로그인</a:t>
                      </a:r>
                      <a:r>
                        <a:rPr lang="ko-KR" altLang="en-US" sz="800" dirty="0">
                          <a:solidFill>
                            <a:schemeClr val="tx1"/>
                          </a:solidFill>
                          <a:latin typeface="+mn-ea"/>
                          <a:ea typeface="+mn-ea"/>
                        </a:rPr>
                        <a:t> 사용자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ms</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mscrn</a:t>
                      </a:r>
                      <a:r>
                        <a:rPr lang="en-US" altLang="ko-KR" sz="800" dirty="0">
                          <a:solidFill>
                            <a:schemeClr val="tx1"/>
                          </a:solidFill>
                          <a:latin typeface="+mn-ea"/>
                          <a:ea typeface="+mn-ea"/>
                        </a:rPr>
                        <a:t>/</a:t>
                      </a:r>
                      <a:r>
                        <a:rPr lang="en-US" altLang="ko-KR" sz="800" dirty="0" err="1">
                          <a:solidFill>
                            <a:schemeClr val="tx1"/>
                          </a:solidFill>
                          <a:latin typeface="+mn-ea"/>
                          <a:ea typeface="+mn-ea"/>
                        </a:rPr>
                        <a:t>M</a:t>
                      </a:r>
                      <a:r>
                        <a:rPr lang="en-US" altLang="ko-KR" sz="800" b="0" i="0" u="none" strike="noStrike" dirty="0" err="1">
                          <a:solidFill>
                            <a:schemeClr val="tx1"/>
                          </a:solidFill>
                          <a:effectLst/>
                          <a:latin typeface="+mn-lt"/>
                          <a:ea typeface="+mn-ea"/>
                        </a:rPr>
                        <a:t>scrn</a:t>
                      </a:r>
                      <a:r>
                        <a:rPr lang="en-US" altLang="ko-KR" sz="800" dirty="0" err="1">
                          <a:solidFill>
                            <a:schemeClr val="tx1"/>
                          </a:solidFill>
                          <a:latin typeface="+mn-ea"/>
                          <a:ea typeface="+mn-ea"/>
                        </a:rPr>
                        <a:t>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kern="1200" dirty="0">
                          <a:solidFill>
                            <a:schemeClr val="tx1"/>
                          </a:solidFill>
                          <a:effectLst/>
                          <a:latin typeface="+mn-lt"/>
                          <a:ea typeface="+mn-ea"/>
                          <a:cs typeface="+mn-cs"/>
                        </a:rPr>
                        <a:t>UC-ZZ-18-01</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kern="1200" dirty="0">
                          <a:solidFill>
                            <a:schemeClr val="tx1"/>
                          </a:solidFill>
                          <a:effectLst/>
                          <a:latin typeface="+mn-lt"/>
                          <a:ea typeface="+mn-ea"/>
                          <a:cs typeface="+mn-cs"/>
                        </a:rPr>
                        <a:t>UC-ZZ-18-02</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ctr" fontAlgn="ctr"/>
                      <a:r>
                        <a:rPr lang="en-US" altLang="ko-KR" sz="700" kern="1200" dirty="0">
                          <a:solidFill>
                            <a:schemeClr val="tx1"/>
                          </a:solidFill>
                          <a:latin typeface="+mn-ea"/>
                          <a:ea typeface="+mn-ea"/>
                          <a:cs typeface="+mn-cs"/>
                        </a:rPr>
                        <a:t>MUI-MS-01-M12</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햄버거 메뉴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Menu</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solidFill>
                            <a:schemeClr val="tx1"/>
                          </a:solidFill>
                          <a:latin typeface="+mn-ea"/>
                          <a:ea typeface="+mn-ea"/>
                        </a:rPr>
                        <a:t>모바일 메뉴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ms</a:t>
                      </a:r>
                      <a:r>
                        <a:rPr lang="en-US" altLang="ko-KR" sz="800" dirty="0">
                          <a:solidFill>
                            <a:schemeClr val="tx1"/>
                          </a:solidFill>
                          <a:latin typeface="+mn-ea"/>
                          <a:ea typeface="+mn-ea"/>
                        </a:rPr>
                        <a:t>/</a:t>
                      </a:r>
                      <a:r>
                        <a:rPr lang="en-US" altLang="ko-KR" sz="800" dirty="0">
                          <a:solidFill>
                            <a:schemeClr val="tx1"/>
                          </a:solidFill>
                          <a:latin typeface="+mn-lt"/>
                          <a:ea typeface="+mn-ea"/>
                        </a:rPr>
                        <a:t>menu</a:t>
                      </a:r>
                      <a:r>
                        <a:rPr lang="en-US" altLang="ko-KR" sz="800" dirty="0">
                          <a:solidFill>
                            <a:schemeClr val="tx1"/>
                          </a:solidFill>
                          <a:latin typeface="+mn-ea"/>
                          <a:ea typeface="+mn-ea"/>
                        </a:rPr>
                        <a:t>/</a:t>
                      </a:r>
                      <a:r>
                        <a:rPr lang="en-US" altLang="ko-KR" sz="800" dirty="0" err="1">
                          <a:solidFill>
                            <a:schemeClr val="tx1"/>
                          </a:solidFill>
                          <a:latin typeface="+mn-lt"/>
                          <a:ea typeface="+mn-ea"/>
                        </a:rPr>
                        <a:t>Menu</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Native App </a:t>
                      </a:r>
                      <a:r>
                        <a:rPr kumimoji="0" lang="ko-KR" altLang="en-US"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화면</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ctr" fontAlgn="ctr"/>
                      <a:r>
                        <a:rPr lang="en-US" altLang="ko-KR" sz="700" kern="1200" dirty="0">
                          <a:solidFill>
                            <a:schemeClr val="tx1"/>
                          </a:solidFill>
                          <a:latin typeface="+mn-ea"/>
                          <a:ea typeface="+mn-ea"/>
                          <a:cs typeface="+mn-cs"/>
                        </a:rPr>
                        <a:t>MUI-MS-01-M13</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알림현황</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NotiPrst</a:t>
                      </a:r>
                      <a:endParaRPr lang="en-US" sz="800" b="0" i="0" u="none" strike="noStrike" dirty="0">
                        <a:solidFill>
                          <a:schemeClr val="tx1"/>
                        </a:solidFill>
                        <a:effectLst/>
                        <a:latin typeface="+mn-lt"/>
                        <a:ea typeface="맑은 고딕" panose="020B0503020000020004" pitchFamily="50" charset="-127"/>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solidFill>
                            <a:schemeClr val="tx1"/>
                          </a:solidFill>
                          <a:latin typeface="+mn-ea"/>
                          <a:ea typeface="+mn-ea"/>
                        </a:rPr>
                        <a:t>모바일 푸시 알림 현황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ms</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notiPrst</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NotiPrst</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UC-ZZ-11-07</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kern="1200" dirty="0">
                          <a:solidFill>
                            <a:schemeClr val="tx1"/>
                          </a:solidFill>
                          <a:effectLst/>
                          <a:latin typeface="+mn-lt"/>
                          <a:ea typeface="+mn-ea"/>
                          <a:cs typeface="+mn-cs"/>
                        </a:rPr>
                        <a:t>UC-ZZ-14-03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bl>
          </a:graphicData>
        </a:graphic>
      </p:graphicFrame>
      <p:sp>
        <p:nvSpPr>
          <p:cNvPr id="7"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6619C48D-7E22-9D49-50C5-2404458A47CE}"/>
              </a:ext>
            </a:extLst>
          </p:cNvPr>
          <p:cNvSpPr txBox="1"/>
          <p:nvPr/>
        </p:nvSpPr>
        <p:spPr>
          <a:xfrm>
            <a:off x="736948" y="5957448"/>
            <a:ext cx="8640000" cy="466657"/>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메인 홈</a:t>
            </a:r>
            <a:r>
              <a:rPr lang="en-US" altLang="ko-KR" sz="800" kern="0" dirty="0">
                <a:solidFill>
                  <a:srgbClr val="0000FF"/>
                </a:solidFill>
                <a:latin typeface="+mn-ea"/>
              </a:rPr>
              <a:t>, </a:t>
            </a:r>
            <a:r>
              <a:rPr lang="ko-KR" altLang="en-US" sz="800" kern="0" dirty="0">
                <a:solidFill>
                  <a:srgbClr val="0000FF"/>
                </a:solidFill>
                <a:latin typeface="+mn-ea"/>
              </a:rPr>
              <a:t>햄버거 메뉴</a:t>
            </a:r>
            <a:r>
              <a:rPr lang="en-US" altLang="ko-KR" sz="800" kern="0" dirty="0">
                <a:solidFill>
                  <a:srgbClr val="0000FF"/>
                </a:solidFill>
                <a:latin typeface="+mn-ea"/>
              </a:rPr>
              <a:t>, </a:t>
            </a:r>
            <a:r>
              <a:rPr lang="ko-KR" altLang="en-US" sz="800" kern="0" dirty="0">
                <a:solidFill>
                  <a:srgbClr val="0000FF"/>
                </a:solidFill>
                <a:latin typeface="+mn-ea"/>
              </a:rPr>
              <a:t>알림 현황은 </a:t>
            </a:r>
            <a:r>
              <a:rPr lang="en-US" altLang="ko-KR" sz="800" kern="0" dirty="0">
                <a:solidFill>
                  <a:srgbClr val="0000FF"/>
                </a:solidFill>
                <a:latin typeface="+mn-ea"/>
              </a:rPr>
              <a:t>[D2BA-AP-3CD-0601.</a:t>
            </a:r>
            <a:r>
              <a:rPr lang="ko-KR" altLang="en-US" sz="800" kern="0" dirty="0">
                <a:solidFill>
                  <a:srgbClr val="0000FF"/>
                </a:solidFill>
                <a:latin typeface="+mn-ea"/>
              </a:rPr>
              <a:t>사용자인터페이스설계서</a:t>
            </a:r>
            <a:r>
              <a:rPr lang="en-US" altLang="ko-KR" sz="800" kern="0" dirty="0">
                <a:solidFill>
                  <a:srgbClr val="0000FF"/>
                </a:solidFill>
                <a:latin typeface="+mn-ea"/>
              </a:rPr>
              <a:t>-00</a:t>
            </a:r>
            <a:r>
              <a:rPr lang="ko-KR" altLang="en-US" sz="800" kern="0" dirty="0">
                <a:solidFill>
                  <a:srgbClr val="0000FF"/>
                </a:solidFill>
                <a:latin typeface="+mn-ea"/>
              </a:rPr>
              <a:t>공통</a:t>
            </a:r>
            <a:r>
              <a:rPr lang="en-US" altLang="ko-KR" sz="800" kern="0" dirty="0">
                <a:solidFill>
                  <a:srgbClr val="0000FF"/>
                </a:solidFill>
                <a:latin typeface="+mn-ea"/>
              </a:rPr>
              <a:t>-</a:t>
            </a:r>
            <a:r>
              <a:rPr lang="ko-KR" altLang="en-US" sz="800" kern="0" dirty="0">
                <a:solidFill>
                  <a:srgbClr val="0000FF"/>
                </a:solidFill>
                <a:latin typeface="+mn-ea"/>
              </a:rPr>
              <a:t>모바일</a:t>
            </a:r>
            <a:r>
              <a:rPr lang="en-US" altLang="ko-KR" sz="800" kern="0" dirty="0">
                <a:solidFill>
                  <a:srgbClr val="0000FF"/>
                </a:solidFill>
                <a:latin typeface="+mn-ea"/>
              </a:rPr>
              <a:t>] </a:t>
            </a:r>
            <a:r>
              <a:rPr lang="ko-KR" altLang="en-US" sz="800" kern="0" dirty="0">
                <a:solidFill>
                  <a:srgbClr val="0000FF"/>
                </a:solidFill>
                <a:latin typeface="+mn-ea"/>
              </a:rPr>
              <a:t>문서에서 메인 화면 및 공통 화면 세부 사항 확인 가능함</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spc="0" dirty="0">
                <a:solidFill>
                  <a:srgbClr val="0000FF"/>
                </a:solidFill>
                <a:effectLst/>
                <a:latin typeface="+mn-ea"/>
              </a:rPr>
              <a:t>현재 화면 목록 페이지는 개략 설계 </a:t>
            </a:r>
            <a:r>
              <a:rPr lang="ko-KR" altLang="en-US" sz="800" kern="0" spc="0" dirty="0" err="1">
                <a:solidFill>
                  <a:srgbClr val="0000FF"/>
                </a:solidFill>
                <a:effectLst/>
                <a:latin typeface="+mn-ea"/>
              </a:rPr>
              <a:t>감리시</a:t>
            </a:r>
            <a:r>
              <a:rPr lang="ko-KR" altLang="en-US" sz="800" kern="0" spc="0" dirty="0">
                <a:solidFill>
                  <a:srgbClr val="0000FF"/>
                </a:solidFill>
                <a:effectLst/>
                <a:latin typeface="+mn-ea"/>
              </a:rPr>
              <a:t> 포함된 문서를 유지하고 있음</a:t>
            </a:r>
          </a:p>
        </p:txBody>
      </p:sp>
      <p:sp>
        <p:nvSpPr>
          <p:cNvPr id="9"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038304" y="1140446"/>
            <a:ext cx="2346262"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 </a:t>
            </a:r>
            <a:r>
              <a:rPr lang="en-US" altLang="ko-KR" sz="700" dirty="0">
                <a:solidFill>
                  <a:srgbClr val="000000"/>
                </a:solidFill>
                <a:latin typeface="맑은 고딕" panose="020B0503020000020004" pitchFamily="50" charset="-127"/>
              </a:rPr>
              <a:t>MUI-MS </a:t>
            </a:r>
            <a:r>
              <a:rPr lang="ko-KR" altLang="en-US" sz="700" dirty="0">
                <a:solidFill>
                  <a:srgbClr val="000000"/>
                </a:solidFill>
                <a:latin typeface="맑은 고딕" panose="020B0503020000020004" pitchFamily="50" charset="-127"/>
              </a:rPr>
              <a:t>모바일 시스템은 </a:t>
            </a:r>
            <a:r>
              <a:rPr lang="ko-KR" altLang="en-US" sz="700" dirty="0" err="1">
                <a:solidFill>
                  <a:srgbClr val="000000"/>
                </a:solidFill>
                <a:latin typeface="맑은 고딕" panose="020B0503020000020004" pitchFamily="50" charset="-127"/>
              </a:rPr>
              <a:t>유스케이스</a:t>
            </a:r>
            <a:r>
              <a:rPr lang="ko-KR" altLang="en-US" sz="700" dirty="0">
                <a:solidFill>
                  <a:srgbClr val="000000"/>
                </a:solidFill>
                <a:latin typeface="맑은 고딕" panose="020B0503020000020004" pitchFamily="50" charset="-127"/>
              </a:rPr>
              <a:t> </a:t>
            </a:r>
            <a:r>
              <a:rPr lang="en-US" altLang="ko-KR" sz="700" dirty="0">
                <a:solidFill>
                  <a:srgbClr val="000000"/>
                </a:solidFill>
                <a:latin typeface="맑은 고딕" panose="020B0503020000020004" pitchFamily="50" charset="-127"/>
              </a:rPr>
              <a:t>ID</a:t>
            </a:r>
            <a:r>
              <a:rPr lang="ko-KR" altLang="en-US" sz="700" dirty="0">
                <a:solidFill>
                  <a:srgbClr val="000000"/>
                </a:solidFill>
                <a:latin typeface="맑은 고딕" panose="020B0503020000020004" pitchFamily="50" charset="-127"/>
              </a:rPr>
              <a:t>가</a:t>
            </a:r>
            <a:r>
              <a:rPr lang="en-US" altLang="ko-KR" sz="700" dirty="0">
                <a:solidFill>
                  <a:srgbClr val="000000"/>
                </a:solidFill>
                <a:latin typeface="맑은 고딕" panose="020B0503020000020004" pitchFamily="50" charset="-127"/>
              </a:rPr>
              <a:t> </a:t>
            </a:r>
            <a:r>
              <a:rPr lang="ko-KR" altLang="en-US" sz="700" dirty="0" err="1">
                <a:solidFill>
                  <a:srgbClr val="000000"/>
                </a:solidFill>
                <a:latin typeface="맑은 고딕" panose="020B0503020000020004" pitchFamily="50" charset="-127"/>
              </a:rPr>
              <a:t>부존재함</a:t>
            </a:r>
            <a:r>
              <a:rPr lang="en-US" altLang="ko-KR" sz="700" dirty="0">
                <a:solidFill>
                  <a:srgbClr val="000000"/>
                </a:solidFill>
                <a:latin typeface="맑은 고딕" panose="020B0503020000020004" pitchFamily="50" charset="-127"/>
              </a:rPr>
              <a:t>.</a:t>
            </a:r>
            <a:endParaRPr lang="en-US" altLang="ko-KR" sz="700" dirty="0">
              <a:solidFill>
                <a:prstClr val="black"/>
              </a:solidFill>
              <a:latin typeface="+mn-ea"/>
            </a:endParaRPr>
          </a:p>
        </p:txBody>
      </p:sp>
      <p:sp>
        <p:nvSpPr>
          <p:cNvPr id="4" name="직사각형 3"/>
          <p:cNvSpPr/>
          <p:nvPr/>
        </p:nvSpPr>
        <p:spPr>
          <a:xfrm rot="19887478">
            <a:off x="1643743" y="2736669"/>
            <a:ext cx="6618514" cy="138466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ko-KR" altLang="en-US" sz="1200" dirty="0">
                <a:solidFill>
                  <a:srgbClr val="FF0000"/>
                </a:solidFill>
              </a:rPr>
              <a:t>메인 화면은 </a:t>
            </a:r>
            <a:r>
              <a:rPr lang="en-US" altLang="ko-KR" sz="1200" dirty="0">
                <a:solidFill>
                  <a:srgbClr val="FF0000"/>
                </a:solidFill>
              </a:rPr>
              <a:t>00.</a:t>
            </a:r>
            <a:r>
              <a:rPr lang="ko-KR" altLang="en-US" sz="1200" dirty="0">
                <a:solidFill>
                  <a:srgbClr val="FF0000"/>
                </a:solidFill>
              </a:rPr>
              <a:t>공통</a:t>
            </a:r>
            <a:r>
              <a:rPr lang="en-US" altLang="ko-KR" sz="1200" dirty="0">
                <a:solidFill>
                  <a:srgbClr val="FF0000"/>
                </a:solidFill>
              </a:rPr>
              <a:t>-</a:t>
            </a:r>
            <a:r>
              <a:rPr lang="ko-KR" altLang="en-US" sz="1200" dirty="0">
                <a:solidFill>
                  <a:srgbClr val="FF0000"/>
                </a:solidFill>
              </a:rPr>
              <a:t>모바일 설계 파일에서 </a:t>
            </a:r>
            <a:r>
              <a:rPr lang="ko-KR" altLang="en-US" sz="1200" dirty="0" smtClean="0">
                <a:solidFill>
                  <a:srgbClr val="FF0000"/>
                </a:solidFill>
              </a:rPr>
              <a:t>관리함</a:t>
            </a:r>
            <a:endParaRPr lang="en-US" altLang="ko-KR" sz="1200" dirty="0" smtClean="0">
              <a:solidFill>
                <a:srgbClr val="FF0000"/>
              </a:solidFill>
            </a:endParaRPr>
          </a:p>
          <a:p>
            <a:pPr algn="ctr"/>
            <a:endParaRPr lang="ko-KR" altLang="en-US" sz="1200" dirty="0">
              <a:solidFill>
                <a:srgbClr val="FF0000"/>
              </a:solidFill>
            </a:endParaRPr>
          </a:p>
          <a:p>
            <a:pPr algn="ctr"/>
            <a:r>
              <a:rPr lang="en-US" altLang="ko-KR" sz="1200" dirty="0" smtClean="0">
                <a:solidFill>
                  <a:schemeClr val="tx1"/>
                </a:solidFill>
              </a:rPr>
              <a:t>D2BA-AP-3CD-0601</a:t>
            </a:r>
            <a:r>
              <a:rPr lang="en-US" altLang="ko-KR" sz="1200" dirty="0">
                <a:solidFill>
                  <a:schemeClr val="tx1"/>
                </a:solidFill>
              </a:rPr>
              <a:t>.</a:t>
            </a:r>
            <a:r>
              <a:rPr lang="ko-KR" altLang="en-US" sz="1200" dirty="0">
                <a:solidFill>
                  <a:schemeClr val="tx1"/>
                </a:solidFill>
              </a:rPr>
              <a:t>사용자인터페이스설계서</a:t>
            </a:r>
            <a:r>
              <a:rPr lang="en-US" altLang="ko-KR" sz="1200" dirty="0">
                <a:solidFill>
                  <a:schemeClr val="tx1"/>
                </a:solidFill>
              </a:rPr>
              <a:t>-00.</a:t>
            </a:r>
            <a:r>
              <a:rPr lang="ko-KR" altLang="en-US" sz="1200" dirty="0">
                <a:solidFill>
                  <a:schemeClr val="tx1"/>
                </a:solidFill>
              </a:rPr>
              <a:t>공통</a:t>
            </a:r>
            <a:r>
              <a:rPr lang="en-US" altLang="ko-KR" sz="1200" dirty="0">
                <a:solidFill>
                  <a:schemeClr val="tx1"/>
                </a:solidFill>
              </a:rPr>
              <a:t>-</a:t>
            </a:r>
            <a:r>
              <a:rPr lang="ko-KR" altLang="en-US" sz="1200" dirty="0" smtClean="0">
                <a:solidFill>
                  <a:schemeClr val="tx1"/>
                </a:solidFill>
              </a:rPr>
              <a:t>모바일</a:t>
            </a:r>
            <a:endParaRPr lang="en-US" altLang="ko-KR" sz="1200" dirty="0" smtClean="0">
              <a:solidFill>
                <a:schemeClr val="tx1"/>
              </a:solidFill>
            </a:endParaRPr>
          </a:p>
        </p:txBody>
      </p:sp>
    </p:spTree>
    <p:extLst>
      <p:ext uri="{BB962C8B-B14F-4D97-AF65-F5344CB8AC3E}">
        <p14:creationId xmlns:p14="http://schemas.microsoft.com/office/powerpoint/2010/main" val="342432080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11</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1. </a:t>
            </a:r>
            <a:r>
              <a:rPr lang="ko-KR" altLang="en-US" dirty="0"/>
              <a:t>입찰공고</a:t>
            </a:r>
            <a:endParaRPr lang="en-US" altLang="ko-KR" dirty="0"/>
          </a:p>
          <a:p>
            <a:r>
              <a:rPr lang="en-US" altLang="ko-KR" dirty="0"/>
              <a:t>1.1 </a:t>
            </a:r>
            <a:r>
              <a:rPr lang="ko-KR" altLang="en-US" dirty="0"/>
              <a:t>화면 목록</a:t>
            </a:r>
          </a:p>
        </p:txBody>
      </p:sp>
      <p:graphicFrame>
        <p:nvGraphicFramePr>
          <p:cNvPr id="6" name="표 5"/>
          <p:cNvGraphicFramePr>
            <a:graphicFrameLocks noGrp="1"/>
          </p:cNvGraphicFramePr>
          <p:nvPr>
            <p:extLst>
              <p:ext uri="{D42A27DB-BD31-4B8C-83A1-F6EECF244321}">
                <p14:modId xmlns:p14="http://schemas.microsoft.com/office/powerpoint/2010/main" val="2790910010"/>
              </p:ext>
            </p:extLst>
          </p:nvPr>
        </p:nvGraphicFramePr>
        <p:xfrm>
          <a:off x="635474" y="1413419"/>
          <a:ext cx="8701200" cy="23347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a:latin typeface="+mn-ea"/>
                          <a:ea typeface="+mn-ea"/>
                        </a:rPr>
                        <a:t>화면명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 </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MUI-BD-01-M01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r>
                        <a:rPr lang="ko-KR" altLang="en-US" sz="800" dirty="0">
                          <a:latin typeface="+mn-ea"/>
                          <a:ea typeface="+mn-ea"/>
                        </a:rPr>
                        <a:t>입찰공고통합목록</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BidPbancIntgListPage</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 통합 목록 조회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err="1">
                          <a:solidFill>
                            <a:schemeClr val="tx1"/>
                          </a:solidFill>
                          <a:latin typeface="+mn-ea"/>
                          <a:ea typeface="+mn-ea"/>
                        </a:rPr>
                        <a:t>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ctr" fontAlgn="ctr"/>
                      <a:r>
                        <a:rPr lang="en-US" sz="700" kern="1200" dirty="0" smtClean="0">
                          <a:solidFill>
                            <a:schemeClr val="tx1"/>
                          </a:solidFill>
                          <a:latin typeface="+mn-ea"/>
                          <a:ea typeface="+mn-ea"/>
                          <a:cs typeface="+mn-cs"/>
                        </a:rPr>
                        <a:t>MUI-BD-01-P02</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dirty="0" err="1" smtClean="0"/>
                        <a:t>검색필터</a:t>
                      </a:r>
                      <a:r>
                        <a:rPr lang="en-US" altLang="ko-KR" sz="800" dirty="0" smtClean="0"/>
                        <a:t>-</a:t>
                      </a:r>
                      <a:r>
                        <a:rPr lang="ko-KR" altLang="en-US" sz="800" dirty="0" smtClean="0"/>
                        <a:t>입찰공고</a:t>
                      </a:r>
                      <a:endParaRPr lang="ko-KR" altLang="en-US" sz="800" dirty="0" smtClean="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dirty="0" err="1">
                          <a:solidFill>
                            <a:schemeClr val="tx1"/>
                          </a:solidFill>
                          <a:latin typeface="+mn-lt"/>
                          <a:ea typeface="+mn-ea"/>
                        </a:rPr>
                        <a:t>BidPbancIntgList_</a:t>
                      </a:r>
                      <a:r>
                        <a:rPr lang="en-US" sz="800" b="0" i="0" u="none" strike="noStrike" dirty="0" err="1">
                          <a:solidFill>
                            <a:schemeClr val="tx1"/>
                          </a:solidFill>
                          <a:effectLst/>
                          <a:latin typeface="+mn-lt"/>
                          <a:ea typeface="맑은 고딕" panose="020B0503020000020004" pitchFamily="50" charset="-127"/>
                        </a:rPr>
                        <a:t>SrchFilter</a:t>
                      </a:r>
                      <a:endParaRPr lang="en-US" sz="800" b="0" i="0" u="none" strike="noStrike" dirty="0">
                        <a:solidFill>
                          <a:schemeClr val="tx1"/>
                        </a:solidFill>
                        <a:effectLst/>
                        <a:latin typeface="+mn-lt"/>
                        <a:ea typeface="맑은 고딕" panose="020B0503020000020004" pitchFamily="50" charset="-127"/>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입찰 공고 상세 검색을 위한 검색 필터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bidPbancIntgList_</a:t>
                      </a:r>
                      <a:r>
                        <a:rPr lang="en-US" altLang="ko-KR" sz="800" b="0" i="0" u="none" strike="noStrike" dirty="0" err="1">
                          <a:solidFill>
                            <a:schemeClr val="tx1"/>
                          </a:solidFill>
                          <a:effectLst/>
                          <a:latin typeface="+mn-lt"/>
                          <a:ea typeface="+mn-ea"/>
                        </a:rPr>
                        <a:t>SrchFilter</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ctr" fontAlgn="ctr"/>
                      <a:r>
                        <a:rPr lang="en-US" sz="700" kern="1200" dirty="0">
                          <a:solidFill>
                            <a:schemeClr val="tx1"/>
                          </a:solidFill>
                          <a:latin typeface="+mn-ea"/>
                          <a:ea typeface="+mn-ea"/>
                          <a:cs typeface="+mn-cs"/>
                        </a:rPr>
                        <a:t>MUI-BD-01-P03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지역검색</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spc="0" dirty="0" err="1">
                          <a:solidFill>
                            <a:schemeClr val="tx1"/>
                          </a:solidFill>
                          <a:latin typeface="+mn-lt"/>
                          <a:ea typeface="+mn-ea"/>
                        </a:rPr>
                        <a:t>RgnSrch</a:t>
                      </a:r>
                      <a:endParaRPr lang="ko-KR" altLang="en-US" sz="800" spc="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시군구까지</a:t>
                      </a:r>
                      <a:r>
                        <a:rPr lang="ko-KR" altLang="en-US" sz="800" kern="1200" dirty="0">
                          <a:solidFill>
                            <a:schemeClr val="tx1"/>
                          </a:solidFill>
                          <a:latin typeface="+mn-ea"/>
                          <a:ea typeface="+mn-ea"/>
                          <a:cs typeface="+mn-cs"/>
                        </a:rPr>
                        <a:t> 지역 검색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spc="0" dirty="0" err="1">
                          <a:solidFill>
                            <a:schemeClr val="tx1"/>
                          </a:solidFill>
                          <a:latin typeface="+mn-lt"/>
                          <a:ea typeface="+mn-ea"/>
                        </a:rPr>
                        <a:t>RgnSrch</a:t>
                      </a:r>
                      <a:r>
                        <a:rPr lang="en-US" altLang="ko-KR" sz="800" b="0" i="0" u="none" strike="noStrike" dirty="0" err="1">
                          <a:solidFill>
                            <a:schemeClr val="tx1"/>
                          </a:solidFill>
                          <a:effectLst/>
                          <a:latin typeface="+mn-lt"/>
                          <a:ea typeface="+mn-ea"/>
                        </a:rPr>
                        <a:t>r</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solidFill>
                            <a:schemeClr val="tx1"/>
                          </a:solidFill>
                          <a:latin typeface="+mn-ea"/>
                          <a:ea typeface="+mn-ea"/>
                        </a:rPr>
                        <a:t>UC-BD-01-01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ctr" fontAlgn="ctr"/>
                      <a:r>
                        <a:rPr lang="en-US" sz="700" kern="1200" dirty="0">
                          <a:solidFill>
                            <a:schemeClr val="tx1"/>
                          </a:solidFill>
                          <a:latin typeface="+mn-ea"/>
                          <a:ea typeface="+mn-ea"/>
                          <a:cs typeface="+mn-cs"/>
                        </a:rPr>
                        <a:t>MUI-BD-01-P04</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r>
                        <a:rPr lang="ko-KR" altLang="en-US" sz="800" dirty="0" err="1" smtClean="0"/>
                        <a:t>발주부서</a:t>
                      </a:r>
                      <a:r>
                        <a:rPr lang="en-US" altLang="ko-KR" sz="800" dirty="0" smtClean="0"/>
                        <a:t>(</a:t>
                      </a:r>
                      <a:r>
                        <a:rPr lang="ko-KR" altLang="en-US" sz="800" dirty="0" smtClean="0"/>
                        <a:t>기관</a:t>
                      </a:r>
                      <a:r>
                        <a:rPr lang="en-US" altLang="ko-KR" sz="800" dirty="0" smtClean="0"/>
                        <a:t>)</a:t>
                      </a:r>
                      <a:r>
                        <a:rPr lang="ko-KR" altLang="en-US" sz="800" dirty="0" smtClean="0"/>
                        <a:t>검색</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spc="0" dirty="0" err="1">
                          <a:solidFill>
                            <a:schemeClr val="tx1"/>
                          </a:solidFill>
                          <a:latin typeface="+mn-lt"/>
                          <a:ea typeface="+mn-ea"/>
                        </a:rPr>
                        <a:t>OrderDeptSrch</a:t>
                      </a:r>
                      <a:endParaRPr lang="ko-KR" altLang="en-US" sz="800" spc="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발주기관 검색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spc="0" dirty="0" err="1">
                          <a:solidFill>
                            <a:schemeClr val="tx1"/>
                          </a:solidFill>
                          <a:latin typeface="+mn-lt"/>
                          <a:ea typeface="+mn-ea"/>
                        </a:rPr>
                        <a:t>OrderDeptSrch</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algn="ctr" fontAlgn="ctr"/>
                      <a:r>
                        <a:rPr lang="en-US" sz="700" kern="1200" dirty="0">
                          <a:solidFill>
                            <a:schemeClr val="tx1"/>
                          </a:solidFill>
                          <a:latin typeface="+mn-ea"/>
                          <a:ea typeface="+mn-ea"/>
                          <a:cs typeface="+mn-cs"/>
                        </a:rPr>
                        <a:t>MUI-BD-01-P05</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면허정보검색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spc="0" dirty="0" err="1">
                          <a:solidFill>
                            <a:schemeClr val="tx1"/>
                          </a:solidFill>
                          <a:latin typeface="+mn-lt"/>
                          <a:ea typeface="+mn-ea"/>
                        </a:rPr>
                        <a:t>LcnsInfoSrch</a:t>
                      </a:r>
                      <a:endParaRPr lang="ko-KR" altLang="en-US" sz="800" spc="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면허정보</a:t>
                      </a:r>
                      <a:r>
                        <a:rPr lang="ko-KR" altLang="en-US" sz="800" kern="1200" dirty="0">
                          <a:solidFill>
                            <a:schemeClr val="tx1"/>
                          </a:solidFill>
                          <a:latin typeface="+mn-ea"/>
                          <a:ea typeface="+mn-ea"/>
                          <a:cs typeface="+mn-cs"/>
                        </a:rPr>
                        <a:t> 검색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spc="0" dirty="0" err="1">
                          <a:solidFill>
                            <a:schemeClr val="tx1"/>
                          </a:solidFill>
                          <a:latin typeface="+mn-lt"/>
                          <a:ea typeface="+mn-ea"/>
                        </a:rPr>
                        <a:t>LcnsInfoSrch</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r h="180000">
                <a:tc>
                  <a:txBody>
                    <a:bodyPr/>
                    <a:lstStyle/>
                    <a:p>
                      <a:pPr algn="ctr" fontAlgn="ctr"/>
                      <a:r>
                        <a:rPr lang="en-US" sz="700" kern="1200" dirty="0">
                          <a:solidFill>
                            <a:schemeClr val="tx1"/>
                          </a:solidFill>
                          <a:latin typeface="+mn-ea"/>
                          <a:ea typeface="+mn-ea"/>
                          <a:cs typeface="+mn-cs"/>
                        </a:rPr>
                        <a:t>MUI-BD-01-P06</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smtClean="0">
                          <a:solidFill>
                            <a:schemeClr val="tx1"/>
                          </a:solidFill>
                          <a:latin typeface="+mn-ea"/>
                          <a:ea typeface="+mn-ea"/>
                          <a:cs typeface="+mn-cs"/>
                        </a:rPr>
                        <a:t>날짜설정</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DateInput</a:t>
                      </a:r>
                      <a:endParaRPr lang="en-US" altLang="ko-KR" sz="800" b="0" i="0" u="none" strike="noStrike" spc="0" dirty="0">
                        <a:solidFill>
                          <a:schemeClr val="tx1"/>
                        </a:solidFill>
                        <a:effectLst/>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날짜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/common/composites/</a:t>
                      </a:r>
                      <a:r>
                        <a:rPr lang="en-US" altLang="ko-KR" sz="800" dirty="0" err="1">
                          <a:solidFill>
                            <a:schemeClr val="tx1"/>
                          </a:solidFill>
                          <a:latin typeface="+mn-ea"/>
                          <a:ea typeface="+mn-ea"/>
                        </a:rPr>
                        <a:t>DateInput.tsx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0572186"/>
                  </a:ext>
                </a:extLst>
              </a:tr>
            </a:tbl>
          </a:graphicData>
        </a:graphic>
      </p:graphicFrame>
      <p:sp>
        <p:nvSpPr>
          <p:cNvPr id="7"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0572165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12</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1.2. </a:t>
            </a:r>
            <a:r>
              <a:rPr lang="ko-KR" altLang="en-US" dirty="0"/>
              <a:t>화면 흐름도 </a:t>
            </a:r>
            <a:r>
              <a:rPr lang="en-US" altLang="ko-KR" dirty="0"/>
              <a:t>– </a:t>
            </a:r>
            <a:r>
              <a:rPr lang="ko-KR" altLang="en-US" dirty="0"/>
              <a:t>입찰 </a:t>
            </a:r>
            <a:r>
              <a:rPr lang="ko-KR" altLang="en-US" dirty="0" smtClean="0"/>
              <a:t>공고</a:t>
            </a:r>
            <a:endParaRPr lang="ko-KR" altLang="en-US" dirty="0"/>
          </a:p>
        </p:txBody>
      </p:sp>
      <p:sp>
        <p:nvSpPr>
          <p:cNvPr id="6"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입찰공고</a:t>
            </a:r>
            <a:endParaRPr lang="en-US" altLang="ko-KR" sz="800" dirty="0" smtClean="0">
              <a:solidFill>
                <a:schemeClr val="tx1"/>
              </a:solidFill>
            </a:endParaRPr>
          </a:p>
          <a:p>
            <a:pPr algn="ctr"/>
            <a:r>
              <a:rPr lang="ko-KR" altLang="en-US" sz="800" dirty="0" err="1" smtClean="0">
                <a:solidFill>
                  <a:schemeClr val="tx1"/>
                </a:solidFill>
              </a:rPr>
              <a:t>통합목록</a:t>
            </a:r>
            <a:endParaRPr lang="ko-KR" altLang="en-US" sz="800" dirty="0">
              <a:solidFill>
                <a:schemeClr val="tx1"/>
              </a:solidFill>
            </a:endParaRP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6"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69" name="사각형: 둥근 모서리 5">
            <a:extLst>
              <a:ext uri="{FF2B5EF4-FFF2-40B4-BE49-F238E27FC236}">
                <a16:creationId xmlns:a16="http://schemas.microsoft.com/office/drawing/2014/main" id="{410E5459-200D-7630-863C-88E5109259DF}"/>
              </a:ext>
            </a:extLst>
          </p:cNvPr>
          <p:cNvSpPr/>
          <p:nvPr/>
        </p:nvSpPr>
        <p:spPr>
          <a:xfrm>
            <a:off x="4197742"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검색필터</a:t>
            </a:r>
            <a:r>
              <a:rPr lang="en-US" altLang="ko-KR" sz="800" dirty="0">
                <a:solidFill>
                  <a:schemeClr val="tx1"/>
                </a:solidFill>
              </a:rPr>
              <a:t>-</a:t>
            </a:r>
            <a:r>
              <a:rPr lang="ko-KR" altLang="en-US" sz="800" dirty="0">
                <a:solidFill>
                  <a:schemeClr val="tx1"/>
                </a:solidFill>
              </a:rPr>
              <a:t>입찰공고</a:t>
            </a:r>
          </a:p>
        </p:txBody>
      </p:sp>
      <p:cxnSp>
        <p:nvCxnSpPr>
          <p:cNvPr id="87" name="직선 화살표 연결선 86">
            <a:extLst>
              <a:ext uri="{FF2B5EF4-FFF2-40B4-BE49-F238E27FC236}">
                <a16:creationId xmlns:a16="http://schemas.microsoft.com/office/drawing/2014/main" id="{9A519F08-B829-E35F-09D8-DFCD1F68B911}"/>
              </a:ext>
            </a:extLst>
          </p:cNvPr>
          <p:cNvCxnSpPr>
            <a:cxnSpLocks/>
            <a:stCxn id="6" idx="3"/>
            <a:endCxn id="69" idx="1"/>
          </p:cNvCxnSpPr>
          <p:nvPr/>
        </p:nvCxnSpPr>
        <p:spPr>
          <a:xfrm>
            <a:off x="3266608" y="1772964"/>
            <a:ext cx="93113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5" name="직사각형 154">
            <a:extLst>
              <a:ext uri="{FF2B5EF4-FFF2-40B4-BE49-F238E27FC236}">
                <a16:creationId xmlns:a16="http://schemas.microsoft.com/office/drawing/2014/main" id="{4FB9FCCA-B5F3-C0E2-F563-4F0CE0FC24CF}"/>
              </a:ext>
            </a:extLst>
          </p:cNvPr>
          <p:cNvSpPr/>
          <p:nvPr/>
        </p:nvSpPr>
        <p:spPr>
          <a:xfrm>
            <a:off x="5790882" y="5198154"/>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157" name="그룹 156">
            <a:extLst>
              <a:ext uri="{FF2B5EF4-FFF2-40B4-BE49-F238E27FC236}">
                <a16:creationId xmlns:a16="http://schemas.microsoft.com/office/drawing/2014/main" id="{E7279F6C-9434-7961-8F6B-B7AE44CE5FCD}"/>
              </a:ext>
            </a:extLst>
          </p:cNvPr>
          <p:cNvGrpSpPr/>
          <p:nvPr/>
        </p:nvGrpSpPr>
        <p:grpSpPr>
          <a:xfrm>
            <a:off x="5819879" y="4983361"/>
            <a:ext cx="180000" cy="180000"/>
            <a:chOff x="5058274" y="2498299"/>
            <a:chExt cx="180000" cy="180000"/>
          </a:xfrm>
        </p:grpSpPr>
        <p:sp>
          <p:nvSpPr>
            <p:cNvPr id="158" name="타원 157">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타원 158">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62" name="사각형: 둥근 모서리 5">
            <a:extLst>
              <a:ext uri="{FF2B5EF4-FFF2-40B4-BE49-F238E27FC236}">
                <a16:creationId xmlns:a16="http://schemas.microsoft.com/office/drawing/2014/main" id="{410E5459-200D-7630-863C-88E5109259DF}"/>
              </a:ext>
            </a:extLst>
          </p:cNvPr>
          <p:cNvSpPr/>
          <p:nvPr/>
        </p:nvSpPr>
        <p:spPr>
          <a:xfrm>
            <a:off x="4197742" y="4929361"/>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공고 상세</a:t>
            </a:r>
          </a:p>
        </p:txBody>
      </p:sp>
      <p:cxnSp>
        <p:nvCxnSpPr>
          <p:cNvPr id="164" name="연결선: 꺾임 7">
            <a:extLst>
              <a:ext uri="{FF2B5EF4-FFF2-40B4-BE49-F238E27FC236}">
                <a16:creationId xmlns:a16="http://schemas.microsoft.com/office/drawing/2014/main" id="{89A2D828-4C18-4F90-6B31-722E89773AA8}"/>
              </a:ext>
            </a:extLst>
          </p:cNvPr>
          <p:cNvCxnSpPr>
            <a:cxnSpLocks/>
            <a:stCxn id="6" idx="3"/>
            <a:endCxn id="162" idx="1"/>
          </p:cNvCxnSpPr>
          <p:nvPr/>
        </p:nvCxnSpPr>
        <p:spPr>
          <a:xfrm>
            <a:off x="3266608" y="1772964"/>
            <a:ext cx="931134" cy="330039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연결선: 꺾임 7">
            <a:extLst>
              <a:ext uri="{FF2B5EF4-FFF2-40B4-BE49-F238E27FC236}">
                <a16:creationId xmlns:a16="http://schemas.microsoft.com/office/drawing/2014/main" id="{89A2D828-4C18-4F90-6B31-722E89773AA8}"/>
              </a:ext>
            </a:extLst>
          </p:cNvPr>
          <p:cNvCxnSpPr>
            <a:cxnSpLocks/>
            <a:stCxn id="69" idx="0"/>
            <a:endCxn id="6" idx="0"/>
          </p:cNvCxnSpPr>
          <p:nvPr/>
        </p:nvCxnSpPr>
        <p:spPr>
          <a:xfrm rot="16200000" flipV="1">
            <a:off x="3732175" y="713397"/>
            <a:ext cx="12700" cy="1831134"/>
          </a:xfrm>
          <a:prstGeom prst="bentConnector3">
            <a:avLst>
              <a:gd name="adj1" fmla="val 180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3" name="직사각형 172">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cxnSp>
        <p:nvCxnSpPr>
          <p:cNvPr id="175" name="직선 화살표 연결선 174">
            <a:extLst>
              <a:ext uri="{FF2B5EF4-FFF2-40B4-BE49-F238E27FC236}">
                <a16:creationId xmlns:a16="http://schemas.microsoft.com/office/drawing/2014/main" id="{9A519F08-B829-E35F-09D8-DFCD1F68B911}"/>
              </a:ext>
            </a:extLst>
          </p:cNvPr>
          <p:cNvCxnSpPr>
            <a:cxnSpLocks/>
            <a:stCxn id="162" idx="3"/>
            <a:endCxn id="158" idx="2"/>
          </p:cNvCxnSpPr>
          <p:nvPr/>
        </p:nvCxnSpPr>
        <p:spPr>
          <a:xfrm>
            <a:off x="5097742" y="5073361"/>
            <a:ext cx="722137"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 name="사각형: 둥근 모서리 5">
            <a:extLst>
              <a:ext uri="{FF2B5EF4-FFF2-40B4-BE49-F238E27FC236}">
                <a16:creationId xmlns:a16="http://schemas.microsoft.com/office/drawing/2014/main" id="{410E5459-200D-7630-863C-88E5109259DF}"/>
              </a:ext>
            </a:extLst>
          </p:cNvPr>
          <p:cNvSpPr/>
          <p:nvPr/>
        </p:nvSpPr>
        <p:spPr>
          <a:xfrm>
            <a:off x="5107104" y="35603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면허정보검색</a:t>
            </a:r>
          </a:p>
        </p:txBody>
      </p:sp>
      <p:sp>
        <p:nvSpPr>
          <p:cNvPr id="24" name="사각형: 둥근 모서리 5">
            <a:extLst>
              <a:ext uri="{FF2B5EF4-FFF2-40B4-BE49-F238E27FC236}">
                <a16:creationId xmlns:a16="http://schemas.microsoft.com/office/drawing/2014/main" id="{410E5459-200D-7630-863C-88E5109259DF}"/>
              </a:ext>
            </a:extLst>
          </p:cNvPr>
          <p:cNvSpPr/>
          <p:nvPr/>
        </p:nvSpPr>
        <p:spPr>
          <a:xfrm>
            <a:off x="5107104" y="220273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지역검색</a:t>
            </a:r>
            <a:endParaRPr lang="ko-KR" altLang="en-US" sz="800" dirty="0">
              <a:solidFill>
                <a:schemeClr val="tx1"/>
              </a:solidFill>
            </a:endParaRPr>
          </a:p>
        </p:txBody>
      </p:sp>
      <p:sp>
        <p:nvSpPr>
          <p:cNvPr id="25" name="사각형: 둥근 모서리 5">
            <a:extLst>
              <a:ext uri="{FF2B5EF4-FFF2-40B4-BE49-F238E27FC236}">
                <a16:creationId xmlns:a16="http://schemas.microsoft.com/office/drawing/2014/main" id="{410E5459-200D-7630-863C-88E5109259DF}"/>
              </a:ext>
            </a:extLst>
          </p:cNvPr>
          <p:cNvSpPr/>
          <p:nvPr/>
        </p:nvSpPr>
        <p:spPr>
          <a:xfrm>
            <a:off x="5107104" y="288152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발주부서</a:t>
            </a:r>
            <a:r>
              <a:rPr lang="en-US" altLang="ko-KR" sz="800" dirty="0">
                <a:solidFill>
                  <a:schemeClr val="tx1"/>
                </a:solidFill>
              </a:rPr>
              <a:t>(</a:t>
            </a:r>
            <a:r>
              <a:rPr lang="ko-KR" altLang="en-US" sz="800" dirty="0">
                <a:solidFill>
                  <a:schemeClr val="tx1"/>
                </a:solidFill>
              </a:rPr>
              <a:t>기관</a:t>
            </a:r>
            <a:r>
              <a:rPr lang="en-US" altLang="ko-KR" sz="800" dirty="0">
                <a:solidFill>
                  <a:schemeClr val="tx1"/>
                </a:solidFill>
              </a:rPr>
              <a:t>)</a:t>
            </a:r>
          </a:p>
          <a:p>
            <a:pPr algn="ctr"/>
            <a:r>
              <a:rPr lang="ko-KR" altLang="en-US" sz="800" dirty="0">
                <a:solidFill>
                  <a:schemeClr val="tx1"/>
                </a:solidFill>
              </a:rPr>
              <a:t>검색</a:t>
            </a:r>
          </a:p>
        </p:txBody>
      </p:sp>
      <p:sp>
        <p:nvSpPr>
          <p:cNvPr id="30" name="사각형: 둥근 모서리 5">
            <a:extLst>
              <a:ext uri="{FF2B5EF4-FFF2-40B4-BE49-F238E27FC236}">
                <a16:creationId xmlns:a16="http://schemas.microsoft.com/office/drawing/2014/main" id="{410E5459-200D-7630-863C-88E5109259DF}"/>
              </a:ext>
            </a:extLst>
          </p:cNvPr>
          <p:cNvSpPr/>
          <p:nvPr/>
        </p:nvSpPr>
        <p:spPr>
          <a:xfrm>
            <a:off x="5107104" y="424483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smtClean="0">
                <a:solidFill>
                  <a:schemeClr val="tx1"/>
                </a:solidFill>
              </a:rPr>
              <a:t>날짜설정</a:t>
            </a:r>
            <a:endParaRPr lang="ko-KR" altLang="en-US" sz="800" dirty="0">
              <a:solidFill>
                <a:schemeClr val="tx1"/>
              </a:solidFill>
            </a:endParaRPr>
          </a:p>
        </p:txBody>
      </p:sp>
      <p:cxnSp>
        <p:nvCxnSpPr>
          <p:cNvPr id="33" name="연결선: 꺾임 7">
            <a:extLst>
              <a:ext uri="{FF2B5EF4-FFF2-40B4-BE49-F238E27FC236}">
                <a16:creationId xmlns:a16="http://schemas.microsoft.com/office/drawing/2014/main" id="{89A2D828-4C18-4F90-6B31-722E89773AA8}"/>
              </a:ext>
            </a:extLst>
          </p:cNvPr>
          <p:cNvCxnSpPr>
            <a:cxnSpLocks/>
            <a:stCxn id="69" idx="2"/>
            <a:endCxn id="25" idx="1"/>
          </p:cNvCxnSpPr>
          <p:nvPr/>
        </p:nvCxnSpPr>
        <p:spPr>
          <a:xfrm rot="16200000" flipH="1">
            <a:off x="4323145" y="2241561"/>
            <a:ext cx="1108557" cy="45936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연결선: 꺾임 7">
            <a:extLst>
              <a:ext uri="{FF2B5EF4-FFF2-40B4-BE49-F238E27FC236}">
                <a16:creationId xmlns:a16="http://schemas.microsoft.com/office/drawing/2014/main" id="{89A2D828-4C18-4F90-6B31-722E89773AA8}"/>
              </a:ext>
            </a:extLst>
          </p:cNvPr>
          <p:cNvCxnSpPr>
            <a:cxnSpLocks/>
            <a:stCxn id="69" idx="2"/>
            <a:endCxn id="23" idx="1"/>
          </p:cNvCxnSpPr>
          <p:nvPr/>
        </p:nvCxnSpPr>
        <p:spPr>
          <a:xfrm rot="16200000" flipH="1">
            <a:off x="3983752" y="2580954"/>
            <a:ext cx="1787343" cy="45936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연결선: 꺾임 7">
            <a:extLst>
              <a:ext uri="{FF2B5EF4-FFF2-40B4-BE49-F238E27FC236}">
                <a16:creationId xmlns:a16="http://schemas.microsoft.com/office/drawing/2014/main" id="{89A2D828-4C18-4F90-6B31-722E89773AA8}"/>
              </a:ext>
            </a:extLst>
          </p:cNvPr>
          <p:cNvCxnSpPr>
            <a:cxnSpLocks/>
            <a:stCxn id="69" idx="2"/>
            <a:endCxn id="30" idx="1"/>
          </p:cNvCxnSpPr>
          <p:nvPr/>
        </p:nvCxnSpPr>
        <p:spPr>
          <a:xfrm rot="16200000" flipH="1">
            <a:off x="3641488" y="2923218"/>
            <a:ext cx="2471870" cy="45936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4" name="그룹 33"/>
          <p:cNvGrpSpPr/>
          <p:nvPr/>
        </p:nvGrpSpPr>
        <p:grpSpPr>
          <a:xfrm>
            <a:off x="492190" y="5392498"/>
            <a:ext cx="1063310" cy="783216"/>
            <a:chOff x="492190" y="5392498"/>
            <a:chExt cx="1063310" cy="783216"/>
          </a:xfrm>
        </p:grpSpPr>
        <p:grpSp>
          <p:nvGrpSpPr>
            <p:cNvPr id="35" name="그룹 34"/>
            <p:cNvGrpSpPr/>
            <p:nvPr/>
          </p:nvGrpSpPr>
          <p:grpSpPr>
            <a:xfrm>
              <a:off x="492190" y="5624092"/>
              <a:ext cx="235869" cy="548293"/>
              <a:chOff x="669822" y="4927621"/>
              <a:chExt cx="912149" cy="1378059"/>
            </a:xfrm>
          </p:grpSpPr>
          <p:sp>
            <p:nvSpPr>
              <p:cNvPr id="43" name="사각형: 둥근 모서리 5">
                <a:extLst>
                  <a:ext uri="{FF2B5EF4-FFF2-40B4-BE49-F238E27FC236}">
                    <a16:creationId xmlns:a16="http://schemas.microsoft.com/office/drawing/2014/main" id="{410E5459-200D-7630-863C-88E5109259DF}"/>
                  </a:ext>
                </a:extLst>
              </p:cNvPr>
              <p:cNvSpPr/>
              <p:nvPr/>
            </p:nvSpPr>
            <p:spPr>
              <a:xfrm>
                <a:off x="669822" y="5466998"/>
                <a:ext cx="899998"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44" name="사각형: 둥근 모서리 5">
                <a:extLst>
                  <a:ext uri="{FF2B5EF4-FFF2-40B4-BE49-F238E27FC236}">
                    <a16:creationId xmlns:a16="http://schemas.microsoft.com/office/drawing/2014/main" id="{410E5459-200D-7630-863C-88E5109259DF}"/>
                  </a:ext>
                </a:extLst>
              </p:cNvPr>
              <p:cNvSpPr/>
              <p:nvPr/>
            </p:nvSpPr>
            <p:spPr>
              <a:xfrm>
                <a:off x="669822" y="4927621"/>
                <a:ext cx="899998"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45" name="사각형: 둥근 모서리 5">
                <a:extLst>
                  <a:ext uri="{FF2B5EF4-FFF2-40B4-BE49-F238E27FC236}">
                    <a16:creationId xmlns:a16="http://schemas.microsoft.com/office/drawing/2014/main" id="{410E5459-200D-7630-863C-88E5109259DF}"/>
                  </a:ext>
                </a:extLst>
              </p:cNvPr>
              <p:cNvSpPr/>
              <p:nvPr/>
            </p:nvSpPr>
            <p:spPr>
              <a:xfrm>
                <a:off x="681971" y="6006377"/>
                <a:ext cx="900000" cy="299303"/>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endParaRPr lang="ko-KR" altLang="en-US" sz="800" b="1" dirty="0">
                  <a:solidFill>
                    <a:schemeClr val="tx1"/>
                  </a:solidFill>
                </a:endParaRPr>
              </a:p>
            </p:txBody>
          </p:sp>
        </p:grpSp>
        <p:sp>
          <p:nvSpPr>
            <p:cNvPr id="38" name="직사각형 37">
              <a:extLst>
                <a:ext uri="{FF2B5EF4-FFF2-40B4-BE49-F238E27FC236}">
                  <a16:creationId xmlns:a16="http://schemas.microsoft.com/office/drawing/2014/main" id="{F249990F-1DE5-C694-BDBD-2DE7009D57EA}"/>
                </a:ext>
              </a:extLst>
            </p:cNvPr>
            <p:cNvSpPr/>
            <p:nvPr/>
          </p:nvSpPr>
          <p:spPr>
            <a:xfrm>
              <a:off x="499695" y="5392498"/>
              <a:ext cx="20518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범례</a:t>
              </a:r>
              <a:endParaRPr lang="ko-KR" altLang="en-US" sz="800" dirty="0">
                <a:solidFill>
                  <a:schemeClr val="tx1"/>
                </a:solidFill>
              </a:endParaRPr>
            </a:p>
          </p:txBody>
        </p:sp>
        <p:sp>
          <p:nvSpPr>
            <p:cNvPr id="40" name="직사각형 39">
              <a:extLst>
                <a:ext uri="{FF2B5EF4-FFF2-40B4-BE49-F238E27FC236}">
                  <a16:creationId xmlns:a16="http://schemas.microsoft.com/office/drawing/2014/main" id="{F249990F-1DE5-C694-BDBD-2DE7009D57EA}"/>
                </a:ext>
              </a:extLst>
            </p:cNvPr>
            <p:cNvSpPr/>
            <p:nvPr/>
          </p:nvSpPr>
          <p:spPr>
            <a:xfrm>
              <a:off x="829339" y="5617943"/>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화면목록</a:t>
              </a:r>
              <a:r>
                <a:rPr lang="ko-KR" altLang="en-US" sz="800" dirty="0">
                  <a:solidFill>
                    <a:schemeClr val="tx1"/>
                  </a:solidFill>
                </a:rPr>
                <a:t> 항목</a:t>
              </a:r>
            </a:p>
          </p:txBody>
        </p:sp>
        <p:sp>
          <p:nvSpPr>
            <p:cNvPr id="41" name="직사각형 40">
              <a:extLst>
                <a:ext uri="{FF2B5EF4-FFF2-40B4-BE49-F238E27FC236}">
                  <a16:creationId xmlns:a16="http://schemas.microsoft.com/office/drawing/2014/main" id="{F249990F-1DE5-C694-BDBD-2DE7009D57EA}"/>
                </a:ext>
              </a:extLst>
            </p:cNvPr>
            <p:cNvSpPr/>
            <p:nvPr/>
          </p:nvSpPr>
          <p:spPr>
            <a:xfrm>
              <a:off x="829339" y="5834434"/>
              <a:ext cx="6892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흐름 참고 항목</a:t>
              </a:r>
              <a:endParaRPr lang="ko-KR" altLang="en-US" sz="800" dirty="0">
                <a:solidFill>
                  <a:schemeClr val="tx1"/>
                </a:solidFill>
              </a:endParaRPr>
            </a:p>
          </p:txBody>
        </p:sp>
        <p:sp>
          <p:nvSpPr>
            <p:cNvPr id="42" name="직사각형 41">
              <a:extLst>
                <a:ext uri="{FF2B5EF4-FFF2-40B4-BE49-F238E27FC236}">
                  <a16:creationId xmlns:a16="http://schemas.microsoft.com/office/drawing/2014/main" id="{F249990F-1DE5-C694-BDBD-2DE7009D57EA}"/>
                </a:ext>
              </a:extLst>
            </p:cNvPr>
            <p:cNvSpPr/>
            <p:nvPr/>
          </p:nvSpPr>
          <p:spPr>
            <a:xfrm>
              <a:off x="829339" y="6052603"/>
              <a:ext cx="72616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탭 등 그룹 항목</a:t>
              </a:r>
              <a:endParaRPr lang="ko-KR" altLang="en-US" sz="800" dirty="0">
                <a:solidFill>
                  <a:schemeClr val="tx1"/>
                </a:solidFill>
              </a:endParaRPr>
            </a:p>
          </p:txBody>
        </p:sp>
      </p:grpSp>
      <p:cxnSp>
        <p:nvCxnSpPr>
          <p:cNvPr id="62" name="연결선: 꺾임 7">
            <a:extLst>
              <a:ext uri="{FF2B5EF4-FFF2-40B4-BE49-F238E27FC236}">
                <a16:creationId xmlns:a16="http://schemas.microsoft.com/office/drawing/2014/main" id="{89A2D828-4C18-4F90-6B31-722E89773AA8}"/>
              </a:ext>
            </a:extLst>
          </p:cNvPr>
          <p:cNvCxnSpPr>
            <a:cxnSpLocks/>
            <a:stCxn id="69" idx="2"/>
            <a:endCxn id="24" idx="1"/>
          </p:cNvCxnSpPr>
          <p:nvPr/>
        </p:nvCxnSpPr>
        <p:spPr>
          <a:xfrm rot="16200000" flipH="1">
            <a:off x="4662538" y="1902168"/>
            <a:ext cx="429771" cy="45936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연결선: 꺾임 7">
            <a:extLst>
              <a:ext uri="{FF2B5EF4-FFF2-40B4-BE49-F238E27FC236}">
                <a16:creationId xmlns:a16="http://schemas.microsoft.com/office/drawing/2014/main" id="{89A2D828-4C18-4F90-6B31-722E89773AA8}"/>
              </a:ext>
            </a:extLst>
          </p:cNvPr>
          <p:cNvCxnSpPr>
            <a:cxnSpLocks/>
            <a:stCxn id="30" idx="3"/>
            <a:endCxn id="69" idx="3"/>
          </p:cNvCxnSpPr>
          <p:nvPr/>
        </p:nvCxnSpPr>
        <p:spPr>
          <a:xfrm flipH="1" flipV="1">
            <a:off x="5097742" y="1772964"/>
            <a:ext cx="909362" cy="2615870"/>
          </a:xfrm>
          <a:prstGeom prst="bentConnector3">
            <a:avLst>
              <a:gd name="adj1" fmla="val -2513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연결선: 꺾임 7">
            <a:extLst>
              <a:ext uri="{FF2B5EF4-FFF2-40B4-BE49-F238E27FC236}">
                <a16:creationId xmlns:a16="http://schemas.microsoft.com/office/drawing/2014/main" id="{89A2D828-4C18-4F90-6B31-722E89773AA8}"/>
              </a:ext>
            </a:extLst>
          </p:cNvPr>
          <p:cNvCxnSpPr>
            <a:cxnSpLocks/>
            <a:stCxn id="23" idx="3"/>
            <a:endCxn id="69" idx="3"/>
          </p:cNvCxnSpPr>
          <p:nvPr/>
        </p:nvCxnSpPr>
        <p:spPr>
          <a:xfrm flipH="1" flipV="1">
            <a:off x="5097742" y="1772964"/>
            <a:ext cx="909362" cy="1931343"/>
          </a:xfrm>
          <a:prstGeom prst="bentConnector3">
            <a:avLst>
              <a:gd name="adj1" fmla="val -2513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연결선: 꺾임 7">
            <a:extLst>
              <a:ext uri="{FF2B5EF4-FFF2-40B4-BE49-F238E27FC236}">
                <a16:creationId xmlns:a16="http://schemas.microsoft.com/office/drawing/2014/main" id="{89A2D828-4C18-4F90-6B31-722E89773AA8}"/>
              </a:ext>
            </a:extLst>
          </p:cNvPr>
          <p:cNvCxnSpPr>
            <a:cxnSpLocks/>
            <a:stCxn id="25" idx="3"/>
            <a:endCxn id="69" idx="3"/>
          </p:cNvCxnSpPr>
          <p:nvPr/>
        </p:nvCxnSpPr>
        <p:spPr>
          <a:xfrm flipH="1" flipV="1">
            <a:off x="5097742" y="1772964"/>
            <a:ext cx="909362" cy="1252557"/>
          </a:xfrm>
          <a:prstGeom prst="bentConnector3">
            <a:avLst>
              <a:gd name="adj1" fmla="val -2513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연결선: 꺾임 7">
            <a:extLst>
              <a:ext uri="{FF2B5EF4-FFF2-40B4-BE49-F238E27FC236}">
                <a16:creationId xmlns:a16="http://schemas.microsoft.com/office/drawing/2014/main" id="{89A2D828-4C18-4F90-6B31-722E89773AA8}"/>
              </a:ext>
            </a:extLst>
          </p:cNvPr>
          <p:cNvCxnSpPr>
            <a:cxnSpLocks/>
            <a:stCxn id="24" idx="3"/>
            <a:endCxn id="69" idx="3"/>
          </p:cNvCxnSpPr>
          <p:nvPr/>
        </p:nvCxnSpPr>
        <p:spPr>
          <a:xfrm flipH="1" flipV="1">
            <a:off x="5097742" y="1772964"/>
            <a:ext cx="909362" cy="573771"/>
          </a:xfrm>
          <a:prstGeom prst="bentConnector3">
            <a:avLst>
              <a:gd name="adj1" fmla="val -2513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49647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13</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1.2. </a:t>
            </a:r>
            <a:r>
              <a:rPr lang="ko-KR" altLang="en-US" dirty="0"/>
              <a:t>화면 흐름도</a:t>
            </a:r>
          </a:p>
        </p:txBody>
      </p:sp>
      <p:sp>
        <p:nvSpPr>
          <p:cNvPr id="6" name="사각형: 둥근 모서리 5">
            <a:extLst>
              <a:ext uri="{FF2B5EF4-FFF2-40B4-BE49-F238E27FC236}">
                <a16:creationId xmlns:a16="http://schemas.microsoft.com/office/drawing/2014/main" id="{410E5459-200D-7630-863C-88E5109259DF}"/>
              </a:ext>
            </a:extLst>
          </p:cNvPr>
          <p:cNvSpPr/>
          <p:nvPr/>
        </p:nvSpPr>
        <p:spPr>
          <a:xfrm>
            <a:off x="1071925" y="162896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입찰공고</a:t>
            </a:r>
            <a:r>
              <a:rPr lang="en-US" altLang="ko-KR" sz="800" dirty="0" smtClean="0">
                <a:solidFill>
                  <a:schemeClr val="tx1"/>
                </a:solidFill>
              </a:rPr>
              <a:t/>
            </a:r>
            <a:br>
              <a:rPr lang="en-US" altLang="ko-KR" sz="800" dirty="0" smtClean="0">
                <a:solidFill>
                  <a:schemeClr val="tx1"/>
                </a:solidFill>
              </a:rPr>
            </a:br>
            <a:r>
              <a:rPr lang="ko-KR" altLang="en-US" sz="800" dirty="0" err="1" smtClean="0">
                <a:solidFill>
                  <a:schemeClr val="tx1"/>
                </a:solidFill>
              </a:rPr>
              <a:t>통합목록</a:t>
            </a:r>
            <a:endParaRPr lang="ko-KR" altLang="en-US" sz="800" dirty="0">
              <a:solidFill>
                <a:schemeClr val="tx1"/>
              </a:solidFill>
            </a:endParaRP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493266"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6" idx="1"/>
          </p:cNvCxnSpPr>
          <p:nvPr/>
        </p:nvCxnSpPr>
        <p:spPr>
          <a:xfrm>
            <a:off x="700126" y="1772964"/>
            <a:ext cx="37179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155" name="직사각형 154">
            <a:extLst>
              <a:ext uri="{FF2B5EF4-FFF2-40B4-BE49-F238E27FC236}">
                <a16:creationId xmlns:a16="http://schemas.microsoft.com/office/drawing/2014/main" id="{4FB9FCCA-B5F3-C0E2-F563-4F0CE0FC24CF}"/>
              </a:ext>
            </a:extLst>
          </p:cNvPr>
          <p:cNvSpPr/>
          <p:nvPr/>
        </p:nvSpPr>
        <p:spPr>
          <a:xfrm>
            <a:off x="9220330" y="3482063"/>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157" name="그룹 156">
            <a:extLst>
              <a:ext uri="{FF2B5EF4-FFF2-40B4-BE49-F238E27FC236}">
                <a16:creationId xmlns:a16="http://schemas.microsoft.com/office/drawing/2014/main" id="{E7279F6C-9434-7961-8F6B-B7AE44CE5FCD}"/>
              </a:ext>
            </a:extLst>
          </p:cNvPr>
          <p:cNvGrpSpPr/>
          <p:nvPr/>
        </p:nvGrpSpPr>
        <p:grpSpPr>
          <a:xfrm>
            <a:off x="9249327" y="3274571"/>
            <a:ext cx="180000" cy="180000"/>
            <a:chOff x="5058274" y="2498299"/>
            <a:chExt cx="180000" cy="180000"/>
          </a:xfrm>
        </p:grpSpPr>
        <p:sp>
          <p:nvSpPr>
            <p:cNvPr id="158" name="타원 157">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타원 158">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73" name="직사각형 172">
            <a:extLst>
              <a:ext uri="{FF2B5EF4-FFF2-40B4-BE49-F238E27FC236}">
                <a16:creationId xmlns:a16="http://schemas.microsoft.com/office/drawing/2014/main" id="{23C86455-E84C-0CEA-5C6B-05BE50ADCEF5}"/>
              </a:ext>
            </a:extLst>
          </p:cNvPr>
          <p:cNvSpPr/>
          <p:nvPr/>
        </p:nvSpPr>
        <p:spPr>
          <a:xfrm>
            <a:off x="456237"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66" name="사각형: 둥근 모서리 5">
            <a:extLst>
              <a:ext uri="{FF2B5EF4-FFF2-40B4-BE49-F238E27FC236}">
                <a16:creationId xmlns:a16="http://schemas.microsoft.com/office/drawing/2014/main" id="{410E5459-200D-7630-863C-88E5109259DF}"/>
              </a:ext>
            </a:extLst>
          </p:cNvPr>
          <p:cNvSpPr/>
          <p:nvPr/>
        </p:nvSpPr>
        <p:spPr>
          <a:xfrm>
            <a:off x="1854976" y="2076020"/>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a:t>
            </a:r>
            <a:r>
              <a:rPr lang="ko-KR" altLang="en-US" sz="800" dirty="0" err="1">
                <a:solidFill>
                  <a:schemeClr val="tx1"/>
                </a:solidFill>
              </a:rPr>
              <a:t>공고상세</a:t>
            </a:r>
            <a:endParaRPr lang="ko-KR" altLang="en-US" sz="800" dirty="0">
              <a:solidFill>
                <a:schemeClr val="tx1"/>
              </a:solidFill>
            </a:endParaRPr>
          </a:p>
        </p:txBody>
      </p:sp>
      <p:cxnSp>
        <p:nvCxnSpPr>
          <p:cNvPr id="72" name="연결선: 꺾임 7">
            <a:extLst>
              <a:ext uri="{FF2B5EF4-FFF2-40B4-BE49-F238E27FC236}">
                <a16:creationId xmlns:a16="http://schemas.microsoft.com/office/drawing/2014/main" id="{89A2D828-4C18-4F90-6B31-722E89773AA8}"/>
              </a:ext>
            </a:extLst>
          </p:cNvPr>
          <p:cNvCxnSpPr>
            <a:cxnSpLocks/>
            <a:stCxn id="6" idx="2"/>
            <a:endCxn id="66" idx="1"/>
          </p:cNvCxnSpPr>
          <p:nvPr/>
        </p:nvCxnSpPr>
        <p:spPr>
          <a:xfrm rot="16200000" flipH="1">
            <a:off x="1536922" y="1901966"/>
            <a:ext cx="303056" cy="33305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0" name="사각형: 둥근 모서리 5">
            <a:extLst>
              <a:ext uri="{FF2B5EF4-FFF2-40B4-BE49-F238E27FC236}">
                <a16:creationId xmlns:a16="http://schemas.microsoft.com/office/drawing/2014/main" id="{410E5459-200D-7630-863C-88E5109259DF}"/>
              </a:ext>
            </a:extLst>
          </p:cNvPr>
          <p:cNvSpPr/>
          <p:nvPr/>
        </p:nvSpPr>
        <p:spPr>
          <a:xfrm>
            <a:off x="3616304" y="2673129"/>
            <a:ext cx="3310257" cy="1396844"/>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r>
              <a:rPr lang="ko-KR" altLang="en-US" sz="800" b="1" dirty="0">
                <a:solidFill>
                  <a:schemeClr val="tx1"/>
                </a:solidFill>
              </a:rPr>
              <a:t>입찰 </a:t>
            </a:r>
            <a:r>
              <a:rPr lang="ko-KR" altLang="en-US" sz="800" b="1" dirty="0" err="1" smtClean="0">
                <a:solidFill>
                  <a:schemeClr val="tx1"/>
                </a:solidFill>
              </a:rPr>
              <a:t>공고상세</a:t>
            </a:r>
            <a:r>
              <a:rPr lang="ko-KR" altLang="en-US" sz="800" b="1" dirty="0" smtClean="0">
                <a:solidFill>
                  <a:schemeClr val="tx1"/>
                </a:solidFill>
              </a:rPr>
              <a:t> 탭 목록</a:t>
            </a:r>
            <a:endParaRPr lang="ko-KR" altLang="en-US" sz="800" b="1" dirty="0">
              <a:solidFill>
                <a:schemeClr val="tx1"/>
              </a:solidFill>
            </a:endParaRPr>
          </a:p>
        </p:txBody>
      </p:sp>
      <p:sp>
        <p:nvSpPr>
          <p:cNvPr id="130" name="사각형: 둥근 모서리 5">
            <a:extLst>
              <a:ext uri="{FF2B5EF4-FFF2-40B4-BE49-F238E27FC236}">
                <a16:creationId xmlns:a16="http://schemas.microsoft.com/office/drawing/2014/main" id="{410E5459-200D-7630-863C-88E5109259DF}"/>
              </a:ext>
            </a:extLst>
          </p:cNvPr>
          <p:cNvSpPr/>
          <p:nvPr/>
        </p:nvSpPr>
        <p:spPr>
          <a:xfrm>
            <a:off x="3739964" y="29338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일반정보</a:t>
            </a:r>
            <a:endParaRPr lang="ko-KR" altLang="en-US" sz="800" dirty="0">
              <a:solidFill>
                <a:schemeClr val="tx1"/>
              </a:solidFill>
            </a:endParaRPr>
          </a:p>
        </p:txBody>
      </p:sp>
      <p:sp>
        <p:nvSpPr>
          <p:cNvPr id="131" name="사각형: 둥근 모서리 5">
            <a:extLst>
              <a:ext uri="{FF2B5EF4-FFF2-40B4-BE49-F238E27FC236}">
                <a16:creationId xmlns:a16="http://schemas.microsoft.com/office/drawing/2014/main" id="{410E5459-200D-7630-863C-88E5109259DF}"/>
              </a:ext>
            </a:extLst>
          </p:cNvPr>
          <p:cNvSpPr/>
          <p:nvPr/>
        </p:nvSpPr>
        <p:spPr>
          <a:xfrm>
            <a:off x="3739964" y="35309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계약특수조건</a:t>
            </a:r>
            <a:endParaRPr lang="ko-KR" altLang="en-US" sz="800" dirty="0">
              <a:solidFill>
                <a:schemeClr val="tx1"/>
              </a:solidFill>
            </a:endParaRPr>
          </a:p>
        </p:txBody>
      </p:sp>
      <p:sp>
        <p:nvSpPr>
          <p:cNvPr id="132" name="사각형: 둥근 모서리 5">
            <a:extLst>
              <a:ext uri="{FF2B5EF4-FFF2-40B4-BE49-F238E27FC236}">
                <a16:creationId xmlns:a16="http://schemas.microsoft.com/office/drawing/2014/main" id="{410E5459-200D-7630-863C-88E5109259DF}"/>
              </a:ext>
            </a:extLst>
          </p:cNvPr>
          <p:cNvSpPr/>
          <p:nvPr/>
        </p:nvSpPr>
        <p:spPr>
          <a:xfrm>
            <a:off x="4834561" y="29338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기초예비가격</a:t>
            </a:r>
            <a:endParaRPr lang="ko-KR" altLang="en-US" sz="800" dirty="0">
              <a:solidFill>
                <a:schemeClr val="tx1"/>
              </a:solidFill>
            </a:endParaRPr>
          </a:p>
        </p:txBody>
      </p:sp>
      <p:sp>
        <p:nvSpPr>
          <p:cNvPr id="133" name="사각형: 둥근 모서리 5">
            <a:extLst>
              <a:ext uri="{FF2B5EF4-FFF2-40B4-BE49-F238E27FC236}">
                <a16:creationId xmlns:a16="http://schemas.microsoft.com/office/drawing/2014/main" id="{410E5459-200D-7630-863C-88E5109259DF}"/>
              </a:ext>
            </a:extLst>
          </p:cNvPr>
          <p:cNvSpPr/>
          <p:nvPr/>
        </p:nvSpPr>
        <p:spPr>
          <a:xfrm>
            <a:off x="4834561" y="35309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입찰진행현황</a:t>
            </a:r>
            <a:endParaRPr lang="ko-KR" altLang="en-US" sz="800" dirty="0">
              <a:solidFill>
                <a:schemeClr val="tx1"/>
              </a:solidFill>
            </a:endParaRPr>
          </a:p>
        </p:txBody>
      </p:sp>
      <p:sp>
        <p:nvSpPr>
          <p:cNvPr id="134" name="사각형: 둥근 모서리 5">
            <a:extLst>
              <a:ext uri="{FF2B5EF4-FFF2-40B4-BE49-F238E27FC236}">
                <a16:creationId xmlns:a16="http://schemas.microsoft.com/office/drawing/2014/main" id="{410E5459-200D-7630-863C-88E5109259DF}"/>
              </a:ext>
            </a:extLst>
          </p:cNvPr>
          <p:cNvSpPr/>
          <p:nvPr/>
        </p:nvSpPr>
        <p:spPr>
          <a:xfrm>
            <a:off x="5929158" y="293415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품목명세서</a:t>
            </a:r>
            <a:endParaRPr lang="ko-KR" altLang="en-US" sz="800" dirty="0">
              <a:solidFill>
                <a:schemeClr val="tx1"/>
              </a:solidFill>
            </a:endParaRPr>
          </a:p>
        </p:txBody>
      </p:sp>
      <p:sp>
        <p:nvSpPr>
          <p:cNvPr id="144" name="사각형: 둥근 모서리 5">
            <a:extLst>
              <a:ext uri="{FF2B5EF4-FFF2-40B4-BE49-F238E27FC236}">
                <a16:creationId xmlns:a16="http://schemas.microsoft.com/office/drawing/2014/main" id="{410E5459-200D-7630-863C-88E5109259DF}"/>
              </a:ext>
            </a:extLst>
          </p:cNvPr>
          <p:cNvSpPr/>
          <p:nvPr/>
        </p:nvSpPr>
        <p:spPr>
          <a:xfrm>
            <a:off x="7487595" y="3699337"/>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입찰서</a:t>
            </a:r>
            <a:r>
              <a:rPr lang="en-US" altLang="ko-KR" sz="800" dirty="0">
                <a:solidFill>
                  <a:schemeClr val="tx1"/>
                </a:solidFill>
              </a:rPr>
              <a:t>(</a:t>
            </a:r>
            <a:r>
              <a:rPr lang="ko-KR" altLang="en-US" sz="800" dirty="0">
                <a:solidFill>
                  <a:schemeClr val="tx1"/>
                </a:solidFill>
              </a:rPr>
              <a:t>견적서</a:t>
            </a:r>
            <a:r>
              <a:rPr lang="en-US" altLang="ko-KR" sz="800" dirty="0">
                <a:solidFill>
                  <a:schemeClr val="tx1"/>
                </a:solidFill>
              </a:rPr>
              <a:t>)</a:t>
            </a:r>
            <a:r>
              <a:rPr lang="ko-KR" altLang="en-US" sz="800" dirty="0">
                <a:solidFill>
                  <a:schemeClr val="tx1"/>
                </a:solidFill>
              </a:rPr>
              <a:t>작성</a:t>
            </a:r>
          </a:p>
        </p:txBody>
      </p:sp>
      <p:sp>
        <p:nvSpPr>
          <p:cNvPr id="161" name="사각형: 둥근 모서리 5">
            <a:extLst>
              <a:ext uri="{FF2B5EF4-FFF2-40B4-BE49-F238E27FC236}">
                <a16:creationId xmlns:a16="http://schemas.microsoft.com/office/drawing/2014/main" id="{410E5459-200D-7630-863C-88E5109259DF}"/>
              </a:ext>
            </a:extLst>
          </p:cNvPr>
          <p:cNvSpPr/>
          <p:nvPr/>
        </p:nvSpPr>
        <p:spPr>
          <a:xfrm>
            <a:off x="7487595" y="3220571"/>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입찰참가신청서작성</a:t>
            </a:r>
          </a:p>
        </p:txBody>
      </p:sp>
      <p:sp>
        <p:nvSpPr>
          <p:cNvPr id="163" name="사각형: 둥근 모서리 5">
            <a:extLst>
              <a:ext uri="{FF2B5EF4-FFF2-40B4-BE49-F238E27FC236}">
                <a16:creationId xmlns:a16="http://schemas.microsoft.com/office/drawing/2014/main" id="{410E5459-200D-7630-863C-88E5109259DF}"/>
              </a:ext>
            </a:extLst>
          </p:cNvPr>
          <p:cNvSpPr/>
          <p:nvPr/>
        </p:nvSpPr>
        <p:spPr>
          <a:xfrm>
            <a:off x="7487595" y="2741805"/>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사전심사</a:t>
            </a:r>
            <a:r>
              <a:rPr lang="en-US" altLang="ko-KR" sz="800" dirty="0">
                <a:solidFill>
                  <a:schemeClr val="tx1"/>
                </a:solidFill>
              </a:rPr>
              <a:t>(PQ)</a:t>
            </a:r>
            <a:r>
              <a:rPr lang="ko-KR" altLang="en-US" sz="800" dirty="0">
                <a:solidFill>
                  <a:schemeClr val="tx1"/>
                </a:solidFill>
              </a:rPr>
              <a:t>신청</a:t>
            </a:r>
          </a:p>
        </p:txBody>
      </p:sp>
      <p:cxnSp>
        <p:nvCxnSpPr>
          <p:cNvPr id="165" name="연결선: 꺾임 7">
            <a:extLst>
              <a:ext uri="{FF2B5EF4-FFF2-40B4-BE49-F238E27FC236}">
                <a16:creationId xmlns:a16="http://schemas.microsoft.com/office/drawing/2014/main" id="{89A2D828-4C18-4F90-6B31-722E89773AA8}"/>
              </a:ext>
            </a:extLst>
          </p:cNvPr>
          <p:cNvCxnSpPr>
            <a:cxnSpLocks/>
            <a:stCxn id="140" idx="3"/>
            <a:endCxn id="163" idx="1"/>
          </p:cNvCxnSpPr>
          <p:nvPr/>
        </p:nvCxnSpPr>
        <p:spPr>
          <a:xfrm flipV="1">
            <a:off x="6926561" y="2885805"/>
            <a:ext cx="561034" cy="48574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연결선: 꺾임 7">
            <a:extLst>
              <a:ext uri="{FF2B5EF4-FFF2-40B4-BE49-F238E27FC236}">
                <a16:creationId xmlns:a16="http://schemas.microsoft.com/office/drawing/2014/main" id="{89A2D828-4C18-4F90-6B31-722E89773AA8}"/>
              </a:ext>
            </a:extLst>
          </p:cNvPr>
          <p:cNvCxnSpPr>
            <a:cxnSpLocks/>
            <a:stCxn id="140" idx="3"/>
            <a:endCxn id="144" idx="1"/>
          </p:cNvCxnSpPr>
          <p:nvPr/>
        </p:nvCxnSpPr>
        <p:spPr>
          <a:xfrm>
            <a:off x="6926561" y="3371551"/>
            <a:ext cx="561034" cy="47178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0" name="사각형: 둥근 모서리 5">
            <a:extLst>
              <a:ext uri="{FF2B5EF4-FFF2-40B4-BE49-F238E27FC236}">
                <a16:creationId xmlns:a16="http://schemas.microsoft.com/office/drawing/2014/main" id="{410E5459-200D-7630-863C-88E5109259DF}"/>
              </a:ext>
            </a:extLst>
          </p:cNvPr>
          <p:cNvSpPr/>
          <p:nvPr/>
        </p:nvSpPr>
        <p:spPr>
          <a:xfrm>
            <a:off x="5551950" y="457010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서류 출력 확인</a:t>
            </a:r>
            <a:endParaRPr lang="ko-KR" altLang="en-US" sz="800" dirty="0">
              <a:solidFill>
                <a:schemeClr val="tx1"/>
              </a:solidFill>
            </a:endParaRPr>
          </a:p>
        </p:txBody>
      </p:sp>
      <p:cxnSp>
        <p:nvCxnSpPr>
          <p:cNvPr id="184" name="연결선: 꺾임 7">
            <a:extLst>
              <a:ext uri="{FF2B5EF4-FFF2-40B4-BE49-F238E27FC236}">
                <a16:creationId xmlns:a16="http://schemas.microsoft.com/office/drawing/2014/main" id="{89A2D828-4C18-4F90-6B31-722E89773AA8}"/>
              </a:ext>
            </a:extLst>
          </p:cNvPr>
          <p:cNvCxnSpPr>
            <a:cxnSpLocks/>
            <a:stCxn id="163" idx="3"/>
            <a:endCxn id="158" idx="2"/>
          </p:cNvCxnSpPr>
          <p:nvPr/>
        </p:nvCxnSpPr>
        <p:spPr>
          <a:xfrm>
            <a:off x="8387595" y="2885805"/>
            <a:ext cx="861732" cy="47876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연결선: 꺾임 7">
            <a:extLst>
              <a:ext uri="{FF2B5EF4-FFF2-40B4-BE49-F238E27FC236}">
                <a16:creationId xmlns:a16="http://schemas.microsoft.com/office/drawing/2014/main" id="{89A2D828-4C18-4F90-6B31-722E89773AA8}"/>
              </a:ext>
            </a:extLst>
          </p:cNvPr>
          <p:cNvCxnSpPr>
            <a:cxnSpLocks/>
            <a:stCxn id="144" idx="3"/>
            <a:endCxn id="158" idx="2"/>
          </p:cNvCxnSpPr>
          <p:nvPr/>
        </p:nvCxnSpPr>
        <p:spPr>
          <a:xfrm flipV="1">
            <a:off x="8387595" y="3364571"/>
            <a:ext cx="861732" cy="47876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직선 화살표 연결선 192">
            <a:extLst>
              <a:ext uri="{FF2B5EF4-FFF2-40B4-BE49-F238E27FC236}">
                <a16:creationId xmlns:a16="http://schemas.microsoft.com/office/drawing/2014/main" id="{9A519F08-B829-E35F-09D8-DFCD1F68B911}"/>
              </a:ext>
            </a:extLst>
          </p:cNvPr>
          <p:cNvCxnSpPr>
            <a:cxnSpLocks/>
            <a:stCxn id="161" idx="3"/>
            <a:endCxn id="158" idx="2"/>
          </p:cNvCxnSpPr>
          <p:nvPr/>
        </p:nvCxnSpPr>
        <p:spPr>
          <a:xfrm>
            <a:off x="8387595" y="3364571"/>
            <a:ext cx="861732"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3" name="사각형: 둥근 모서리 5">
            <a:extLst>
              <a:ext uri="{FF2B5EF4-FFF2-40B4-BE49-F238E27FC236}">
                <a16:creationId xmlns:a16="http://schemas.microsoft.com/office/drawing/2014/main" id="{410E5459-200D-7630-863C-88E5109259DF}"/>
              </a:ext>
            </a:extLst>
          </p:cNvPr>
          <p:cNvSpPr/>
          <p:nvPr/>
        </p:nvSpPr>
        <p:spPr>
          <a:xfrm>
            <a:off x="3616304" y="1631429"/>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smtClean="0">
                <a:solidFill>
                  <a:schemeClr val="tx1"/>
                </a:solidFill>
                <a:latin typeface="+mn-ea"/>
              </a:rPr>
              <a:t>관심공고</a:t>
            </a:r>
            <a:endParaRPr lang="en-US" altLang="ko-KR" sz="800" dirty="0" smtClean="0">
              <a:solidFill>
                <a:schemeClr val="tx1"/>
              </a:solidFill>
              <a:latin typeface="+mn-ea"/>
            </a:endParaRPr>
          </a:p>
          <a:p>
            <a:pPr algn="ctr"/>
            <a:r>
              <a:rPr lang="ko-KR" altLang="en-US" sz="800" dirty="0" smtClean="0">
                <a:solidFill>
                  <a:schemeClr val="tx1"/>
                </a:solidFill>
                <a:latin typeface="+mn-ea"/>
              </a:rPr>
              <a:t>버튼</a:t>
            </a:r>
            <a:r>
              <a:rPr lang="en-US" altLang="ko-KR" sz="800" dirty="0" smtClean="0">
                <a:solidFill>
                  <a:schemeClr val="tx1"/>
                </a:solidFill>
                <a:latin typeface="+mn-ea"/>
              </a:rPr>
              <a:t> </a:t>
            </a:r>
            <a:r>
              <a:rPr lang="ko-KR" altLang="en-US" sz="800" dirty="0" smtClean="0">
                <a:solidFill>
                  <a:schemeClr val="tx1"/>
                </a:solidFill>
                <a:latin typeface="+mn-ea"/>
              </a:rPr>
              <a:t>클릭 시</a:t>
            </a:r>
            <a:endParaRPr lang="ko-KR" altLang="en-US" sz="800" dirty="0">
              <a:solidFill>
                <a:schemeClr val="tx1"/>
              </a:solidFill>
            </a:endParaRPr>
          </a:p>
        </p:txBody>
      </p:sp>
      <p:cxnSp>
        <p:nvCxnSpPr>
          <p:cNvPr id="237" name="연결선: 꺾임 7">
            <a:extLst>
              <a:ext uri="{FF2B5EF4-FFF2-40B4-BE49-F238E27FC236}">
                <a16:creationId xmlns:a16="http://schemas.microsoft.com/office/drawing/2014/main" id="{89A2D828-4C18-4F90-6B31-722E89773AA8}"/>
              </a:ext>
            </a:extLst>
          </p:cNvPr>
          <p:cNvCxnSpPr>
            <a:cxnSpLocks/>
            <a:stCxn id="135" idx="3"/>
            <a:endCxn id="158" idx="0"/>
          </p:cNvCxnSpPr>
          <p:nvPr/>
        </p:nvCxnSpPr>
        <p:spPr>
          <a:xfrm>
            <a:off x="8387595" y="1774678"/>
            <a:ext cx="951732" cy="1499893"/>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 name="그룹 87"/>
          <p:cNvGrpSpPr/>
          <p:nvPr/>
        </p:nvGrpSpPr>
        <p:grpSpPr>
          <a:xfrm>
            <a:off x="492190" y="5392498"/>
            <a:ext cx="1063310" cy="783216"/>
            <a:chOff x="492190" y="5392498"/>
            <a:chExt cx="1063310" cy="783216"/>
          </a:xfrm>
        </p:grpSpPr>
        <p:grpSp>
          <p:nvGrpSpPr>
            <p:cNvPr id="89" name="그룹 88"/>
            <p:cNvGrpSpPr/>
            <p:nvPr/>
          </p:nvGrpSpPr>
          <p:grpSpPr>
            <a:xfrm>
              <a:off x="492190" y="5624092"/>
              <a:ext cx="235869" cy="548293"/>
              <a:chOff x="669822" y="4927621"/>
              <a:chExt cx="912149" cy="1378059"/>
            </a:xfrm>
          </p:grpSpPr>
          <p:sp>
            <p:nvSpPr>
              <p:cNvPr id="94" name="사각형: 둥근 모서리 5">
                <a:extLst>
                  <a:ext uri="{FF2B5EF4-FFF2-40B4-BE49-F238E27FC236}">
                    <a16:creationId xmlns:a16="http://schemas.microsoft.com/office/drawing/2014/main" id="{410E5459-200D-7630-863C-88E5109259DF}"/>
                  </a:ext>
                </a:extLst>
              </p:cNvPr>
              <p:cNvSpPr/>
              <p:nvPr/>
            </p:nvSpPr>
            <p:spPr>
              <a:xfrm>
                <a:off x="669822" y="5466998"/>
                <a:ext cx="899998"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95" name="사각형: 둥근 모서리 5">
                <a:extLst>
                  <a:ext uri="{FF2B5EF4-FFF2-40B4-BE49-F238E27FC236}">
                    <a16:creationId xmlns:a16="http://schemas.microsoft.com/office/drawing/2014/main" id="{410E5459-200D-7630-863C-88E5109259DF}"/>
                  </a:ext>
                </a:extLst>
              </p:cNvPr>
              <p:cNvSpPr/>
              <p:nvPr/>
            </p:nvSpPr>
            <p:spPr>
              <a:xfrm>
                <a:off x="669822" y="4927621"/>
                <a:ext cx="899998"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96" name="사각형: 둥근 모서리 5">
                <a:extLst>
                  <a:ext uri="{FF2B5EF4-FFF2-40B4-BE49-F238E27FC236}">
                    <a16:creationId xmlns:a16="http://schemas.microsoft.com/office/drawing/2014/main" id="{410E5459-200D-7630-863C-88E5109259DF}"/>
                  </a:ext>
                </a:extLst>
              </p:cNvPr>
              <p:cNvSpPr/>
              <p:nvPr/>
            </p:nvSpPr>
            <p:spPr>
              <a:xfrm>
                <a:off x="681971" y="6006377"/>
                <a:ext cx="900000" cy="299303"/>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endParaRPr lang="ko-KR" altLang="en-US" sz="800" b="1" dirty="0">
                  <a:solidFill>
                    <a:schemeClr val="tx1"/>
                  </a:solidFill>
                </a:endParaRPr>
              </a:p>
            </p:txBody>
          </p:sp>
        </p:grpSp>
        <p:sp>
          <p:nvSpPr>
            <p:cNvPr id="90" name="직사각형 89">
              <a:extLst>
                <a:ext uri="{FF2B5EF4-FFF2-40B4-BE49-F238E27FC236}">
                  <a16:creationId xmlns:a16="http://schemas.microsoft.com/office/drawing/2014/main" id="{F249990F-1DE5-C694-BDBD-2DE7009D57EA}"/>
                </a:ext>
              </a:extLst>
            </p:cNvPr>
            <p:cNvSpPr/>
            <p:nvPr/>
          </p:nvSpPr>
          <p:spPr>
            <a:xfrm>
              <a:off x="499695" y="5392498"/>
              <a:ext cx="20518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범례</a:t>
              </a:r>
              <a:endParaRPr lang="ko-KR" altLang="en-US" sz="800" dirty="0">
                <a:solidFill>
                  <a:schemeClr val="tx1"/>
                </a:solidFill>
              </a:endParaRPr>
            </a:p>
          </p:txBody>
        </p:sp>
        <p:sp>
          <p:nvSpPr>
            <p:cNvPr id="91" name="직사각형 90">
              <a:extLst>
                <a:ext uri="{FF2B5EF4-FFF2-40B4-BE49-F238E27FC236}">
                  <a16:creationId xmlns:a16="http://schemas.microsoft.com/office/drawing/2014/main" id="{F249990F-1DE5-C694-BDBD-2DE7009D57EA}"/>
                </a:ext>
              </a:extLst>
            </p:cNvPr>
            <p:cNvSpPr/>
            <p:nvPr/>
          </p:nvSpPr>
          <p:spPr>
            <a:xfrm>
              <a:off x="829339" y="5617943"/>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화면목록</a:t>
              </a:r>
              <a:r>
                <a:rPr lang="ko-KR" altLang="en-US" sz="800" dirty="0">
                  <a:solidFill>
                    <a:schemeClr val="tx1"/>
                  </a:solidFill>
                </a:rPr>
                <a:t> 항목</a:t>
              </a:r>
            </a:p>
          </p:txBody>
        </p:sp>
        <p:sp>
          <p:nvSpPr>
            <p:cNvPr id="92" name="직사각형 91">
              <a:extLst>
                <a:ext uri="{FF2B5EF4-FFF2-40B4-BE49-F238E27FC236}">
                  <a16:creationId xmlns:a16="http://schemas.microsoft.com/office/drawing/2014/main" id="{F249990F-1DE5-C694-BDBD-2DE7009D57EA}"/>
                </a:ext>
              </a:extLst>
            </p:cNvPr>
            <p:cNvSpPr/>
            <p:nvPr/>
          </p:nvSpPr>
          <p:spPr>
            <a:xfrm>
              <a:off x="829339" y="5834434"/>
              <a:ext cx="6892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흐름 참고 항목</a:t>
              </a:r>
              <a:endParaRPr lang="ko-KR" altLang="en-US" sz="800" dirty="0">
                <a:solidFill>
                  <a:schemeClr val="tx1"/>
                </a:solidFill>
              </a:endParaRPr>
            </a:p>
          </p:txBody>
        </p:sp>
        <p:sp>
          <p:nvSpPr>
            <p:cNvPr id="93" name="직사각형 92">
              <a:extLst>
                <a:ext uri="{FF2B5EF4-FFF2-40B4-BE49-F238E27FC236}">
                  <a16:creationId xmlns:a16="http://schemas.microsoft.com/office/drawing/2014/main" id="{F249990F-1DE5-C694-BDBD-2DE7009D57EA}"/>
                </a:ext>
              </a:extLst>
            </p:cNvPr>
            <p:cNvSpPr/>
            <p:nvPr/>
          </p:nvSpPr>
          <p:spPr>
            <a:xfrm>
              <a:off x="829339" y="6052603"/>
              <a:ext cx="72616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탭 등 그룹 항목</a:t>
              </a:r>
              <a:endParaRPr lang="ko-KR" altLang="en-US" sz="800" dirty="0">
                <a:solidFill>
                  <a:schemeClr val="tx1"/>
                </a:solidFill>
              </a:endParaRPr>
            </a:p>
          </p:txBody>
        </p:sp>
      </p:grpSp>
      <p:sp>
        <p:nvSpPr>
          <p:cNvPr id="104" name="사각형: 둥근 모서리 5">
            <a:extLst>
              <a:ext uri="{FF2B5EF4-FFF2-40B4-BE49-F238E27FC236}">
                <a16:creationId xmlns:a16="http://schemas.microsoft.com/office/drawing/2014/main" id="{410E5459-200D-7630-863C-88E5109259DF}"/>
              </a:ext>
            </a:extLst>
          </p:cNvPr>
          <p:cNvSpPr/>
          <p:nvPr/>
        </p:nvSpPr>
        <p:spPr>
          <a:xfrm>
            <a:off x="7487595" y="457010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서류 </a:t>
            </a:r>
            <a:r>
              <a:rPr lang="ko-KR" altLang="en-US" sz="800" dirty="0" smtClean="0">
                <a:solidFill>
                  <a:schemeClr val="tx1"/>
                </a:solidFill>
                <a:latin typeface="+mn-ea"/>
              </a:rPr>
              <a:t>출력</a:t>
            </a:r>
            <a:endParaRPr lang="en-US" altLang="ko-KR" sz="800" dirty="0" smtClean="0">
              <a:solidFill>
                <a:schemeClr val="tx1"/>
              </a:solidFill>
              <a:latin typeface="+mn-ea"/>
            </a:endParaRPr>
          </a:p>
          <a:p>
            <a:pPr algn="ctr"/>
            <a:r>
              <a:rPr lang="en-US" altLang="ko-KR" sz="800" dirty="0" smtClean="0">
                <a:solidFill>
                  <a:schemeClr val="tx1"/>
                </a:solidFill>
                <a:latin typeface="+mn-ea"/>
              </a:rPr>
              <a:t>- </a:t>
            </a:r>
            <a:r>
              <a:rPr lang="en-US" altLang="ko-KR" sz="800" dirty="0">
                <a:solidFill>
                  <a:schemeClr val="tx1"/>
                </a:solidFill>
                <a:latin typeface="+mn-ea"/>
              </a:rPr>
              <a:t>OZ</a:t>
            </a:r>
            <a:r>
              <a:rPr lang="ko-KR" altLang="en-US" sz="800" dirty="0">
                <a:solidFill>
                  <a:schemeClr val="tx1"/>
                </a:solidFill>
                <a:latin typeface="+mn-ea"/>
              </a:rPr>
              <a:t>리포트</a:t>
            </a:r>
            <a:endParaRPr lang="ko-KR" altLang="en-US" sz="800" dirty="0">
              <a:solidFill>
                <a:schemeClr val="tx1"/>
              </a:solidFill>
            </a:endParaRPr>
          </a:p>
        </p:txBody>
      </p:sp>
      <p:cxnSp>
        <p:nvCxnSpPr>
          <p:cNvPr id="118" name="연결선: 꺾임 7">
            <a:extLst>
              <a:ext uri="{FF2B5EF4-FFF2-40B4-BE49-F238E27FC236}">
                <a16:creationId xmlns:a16="http://schemas.microsoft.com/office/drawing/2014/main" id="{89A2D828-4C18-4F90-6B31-722E89773AA8}"/>
              </a:ext>
            </a:extLst>
          </p:cNvPr>
          <p:cNvCxnSpPr>
            <a:cxnSpLocks/>
            <a:stCxn id="66" idx="3"/>
            <a:endCxn id="233" idx="1"/>
          </p:cNvCxnSpPr>
          <p:nvPr/>
        </p:nvCxnSpPr>
        <p:spPr>
          <a:xfrm flipV="1">
            <a:off x="2754976" y="1775429"/>
            <a:ext cx="861328" cy="44459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연결선: 꺾임 7">
            <a:extLst>
              <a:ext uri="{FF2B5EF4-FFF2-40B4-BE49-F238E27FC236}">
                <a16:creationId xmlns:a16="http://schemas.microsoft.com/office/drawing/2014/main" id="{89A2D828-4C18-4F90-6B31-722E89773AA8}"/>
              </a:ext>
            </a:extLst>
          </p:cNvPr>
          <p:cNvCxnSpPr>
            <a:cxnSpLocks/>
            <a:stCxn id="66" idx="3"/>
            <a:endCxn id="140" idx="1"/>
          </p:cNvCxnSpPr>
          <p:nvPr/>
        </p:nvCxnSpPr>
        <p:spPr>
          <a:xfrm>
            <a:off x="2754976" y="2220020"/>
            <a:ext cx="861328" cy="115153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직선 화살표 연결선 126">
            <a:extLst>
              <a:ext uri="{FF2B5EF4-FFF2-40B4-BE49-F238E27FC236}">
                <a16:creationId xmlns:a16="http://schemas.microsoft.com/office/drawing/2014/main" id="{9A519F08-B829-E35F-09D8-DFCD1F68B911}"/>
              </a:ext>
            </a:extLst>
          </p:cNvPr>
          <p:cNvCxnSpPr>
            <a:cxnSpLocks/>
            <a:stCxn id="180" idx="3"/>
            <a:endCxn id="104" idx="1"/>
          </p:cNvCxnSpPr>
          <p:nvPr/>
        </p:nvCxnSpPr>
        <p:spPr>
          <a:xfrm>
            <a:off x="6451950" y="4714108"/>
            <a:ext cx="1035645"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9" name="다이아몬드 128"/>
          <p:cNvSpPr/>
          <p:nvPr/>
        </p:nvSpPr>
        <p:spPr>
          <a:xfrm>
            <a:off x="5551950" y="1630678"/>
            <a:ext cx="900000" cy="288000"/>
          </a:xfrm>
          <a:prstGeom prst="diamond">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로그인</a:t>
            </a:r>
          </a:p>
        </p:txBody>
      </p:sp>
      <p:sp>
        <p:nvSpPr>
          <p:cNvPr id="135" name="사각형: 둥근 모서리 5">
            <a:extLst>
              <a:ext uri="{FF2B5EF4-FFF2-40B4-BE49-F238E27FC236}">
                <a16:creationId xmlns:a16="http://schemas.microsoft.com/office/drawing/2014/main" id="{410E5459-200D-7630-863C-88E5109259DF}"/>
              </a:ext>
            </a:extLst>
          </p:cNvPr>
          <p:cNvSpPr/>
          <p:nvPr/>
        </p:nvSpPr>
        <p:spPr>
          <a:xfrm>
            <a:off x="7487595" y="16306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관심공고</a:t>
            </a:r>
            <a:endParaRPr lang="en-US" altLang="ko-KR" sz="800" dirty="0">
              <a:solidFill>
                <a:schemeClr val="tx1"/>
              </a:solidFill>
              <a:latin typeface="+mn-ea"/>
            </a:endParaRPr>
          </a:p>
          <a:p>
            <a:pPr algn="ctr"/>
            <a:r>
              <a:rPr lang="ko-KR" altLang="en-US" sz="800" dirty="0">
                <a:solidFill>
                  <a:schemeClr val="tx1"/>
                </a:solidFill>
                <a:latin typeface="+mn-ea"/>
              </a:rPr>
              <a:t>등록</a:t>
            </a:r>
            <a:r>
              <a:rPr lang="en-US" altLang="ko-KR" sz="800" dirty="0">
                <a:solidFill>
                  <a:schemeClr val="tx1"/>
                </a:solidFill>
                <a:latin typeface="+mn-ea"/>
              </a:rPr>
              <a:t>, </a:t>
            </a:r>
            <a:r>
              <a:rPr lang="ko-KR" altLang="en-US" sz="800" dirty="0">
                <a:solidFill>
                  <a:schemeClr val="tx1"/>
                </a:solidFill>
                <a:latin typeface="+mn-ea"/>
              </a:rPr>
              <a:t>제외</a:t>
            </a:r>
            <a:endParaRPr lang="ko-KR" altLang="en-US" sz="800" dirty="0">
              <a:solidFill>
                <a:schemeClr val="tx1"/>
              </a:solidFill>
            </a:endParaRPr>
          </a:p>
        </p:txBody>
      </p:sp>
      <p:sp>
        <p:nvSpPr>
          <p:cNvPr id="136" name="사각형: 둥근 모서리 5">
            <a:extLst>
              <a:ext uri="{FF2B5EF4-FFF2-40B4-BE49-F238E27FC236}">
                <a16:creationId xmlns:a16="http://schemas.microsoft.com/office/drawing/2014/main" id="{410E5459-200D-7630-863C-88E5109259DF}"/>
              </a:ext>
            </a:extLst>
          </p:cNvPr>
          <p:cNvSpPr/>
          <p:nvPr/>
        </p:nvSpPr>
        <p:spPr>
          <a:xfrm>
            <a:off x="5551950" y="218635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로그인 필요 서비스 안내</a:t>
            </a:r>
          </a:p>
        </p:txBody>
      </p:sp>
      <p:cxnSp>
        <p:nvCxnSpPr>
          <p:cNvPr id="137" name="연결선: 꺾임 7">
            <a:extLst>
              <a:ext uri="{FF2B5EF4-FFF2-40B4-BE49-F238E27FC236}">
                <a16:creationId xmlns:a16="http://schemas.microsoft.com/office/drawing/2014/main" id="{89A2D828-4C18-4F90-6B31-722E89773AA8}"/>
              </a:ext>
            </a:extLst>
          </p:cNvPr>
          <p:cNvCxnSpPr>
            <a:cxnSpLocks/>
            <a:stCxn id="233" idx="3"/>
            <a:endCxn id="129" idx="0"/>
          </p:cNvCxnSpPr>
          <p:nvPr/>
        </p:nvCxnSpPr>
        <p:spPr>
          <a:xfrm flipV="1">
            <a:off x="4516304" y="1630678"/>
            <a:ext cx="1485646" cy="144751"/>
          </a:xfrm>
          <a:prstGeom prst="bentConnector4">
            <a:avLst>
              <a:gd name="adj1" fmla="val 34855"/>
              <a:gd name="adj2" fmla="val 257926"/>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직선 화살표 연결선 137">
            <a:extLst>
              <a:ext uri="{FF2B5EF4-FFF2-40B4-BE49-F238E27FC236}">
                <a16:creationId xmlns:a16="http://schemas.microsoft.com/office/drawing/2014/main" id="{9A519F08-B829-E35F-09D8-DFCD1F68B911}"/>
              </a:ext>
            </a:extLst>
          </p:cNvPr>
          <p:cNvCxnSpPr>
            <a:cxnSpLocks/>
            <a:stCxn id="129" idx="2"/>
            <a:endCxn id="136" idx="0"/>
          </p:cNvCxnSpPr>
          <p:nvPr/>
        </p:nvCxnSpPr>
        <p:spPr>
          <a:xfrm>
            <a:off x="6001950" y="1918678"/>
            <a:ext cx="0" cy="267676"/>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2" name="직선 화살표 연결선 141">
            <a:extLst>
              <a:ext uri="{FF2B5EF4-FFF2-40B4-BE49-F238E27FC236}">
                <a16:creationId xmlns:a16="http://schemas.microsoft.com/office/drawing/2014/main" id="{9A519F08-B829-E35F-09D8-DFCD1F68B911}"/>
              </a:ext>
            </a:extLst>
          </p:cNvPr>
          <p:cNvCxnSpPr>
            <a:cxnSpLocks/>
            <a:stCxn id="129" idx="3"/>
            <a:endCxn id="135" idx="1"/>
          </p:cNvCxnSpPr>
          <p:nvPr/>
        </p:nvCxnSpPr>
        <p:spPr>
          <a:xfrm>
            <a:off x="6451950" y="1774678"/>
            <a:ext cx="1035645"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3" name="직사각형 142">
            <a:extLst>
              <a:ext uri="{FF2B5EF4-FFF2-40B4-BE49-F238E27FC236}">
                <a16:creationId xmlns:a16="http://schemas.microsoft.com/office/drawing/2014/main" id="{F249990F-1DE5-C694-BDBD-2DE7009D57EA}"/>
              </a:ext>
            </a:extLst>
          </p:cNvPr>
          <p:cNvSpPr/>
          <p:nvPr/>
        </p:nvSpPr>
        <p:spPr>
          <a:xfrm>
            <a:off x="6507009" y="1628144"/>
            <a:ext cx="5770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Y</a:t>
            </a:r>
            <a:endParaRPr lang="ko-KR" altLang="en-US" sz="800" dirty="0">
              <a:solidFill>
                <a:schemeClr val="tx1"/>
              </a:solidFill>
            </a:endParaRPr>
          </a:p>
        </p:txBody>
      </p:sp>
      <p:sp>
        <p:nvSpPr>
          <p:cNvPr id="145" name="직사각형 144">
            <a:extLst>
              <a:ext uri="{FF2B5EF4-FFF2-40B4-BE49-F238E27FC236}">
                <a16:creationId xmlns:a16="http://schemas.microsoft.com/office/drawing/2014/main" id="{F249990F-1DE5-C694-BDBD-2DE7009D57EA}"/>
              </a:ext>
            </a:extLst>
          </p:cNvPr>
          <p:cNvSpPr/>
          <p:nvPr/>
        </p:nvSpPr>
        <p:spPr>
          <a:xfrm>
            <a:off x="6071808" y="1994343"/>
            <a:ext cx="7854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N</a:t>
            </a:r>
            <a:endParaRPr lang="ko-KR" altLang="en-US" sz="800" dirty="0">
              <a:solidFill>
                <a:schemeClr val="tx1"/>
              </a:solidFill>
            </a:endParaRPr>
          </a:p>
        </p:txBody>
      </p:sp>
      <p:cxnSp>
        <p:nvCxnSpPr>
          <p:cNvPr id="146" name="연결선: 꺾임 7">
            <a:extLst>
              <a:ext uri="{FF2B5EF4-FFF2-40B4-BE49-F238E27FC236}">
                <a16:creationId xmlns:a16="http://schemas.microsoft.com/office/drawing/2014/main" id="{89A2D828-4C18-4F90-6B31-722E89773AA8}"/>
              </a:ext>
            </a:extLst>
          </p:cNvPr>
          <p:cNvCxnSpPr>
            <a:cxnSpLocks/>
            <a:stCxn id="136" idx="3"/>
            <a:endCxn id="158" idx="0"/>
          </p:cNvCxnSpPr>
          <p:nvPr/>
        </p:nvCxnSpPr>
        <p:spPr>
          <a:xfrm>
            <a:off x="6451950" y="2330354"/>
            <a:ext cx="2887377" cy="94421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연결선: 꺾임 7">
            <a:extLst>
              <a:ext uri="{FF2B5EF4-FFF2-40B4-BE49-F238E27FC236}">
                <a16:creationId xmlns:a16="http://schemas.microsoft.com/office/drawing/2014/main" id="{89A2D828-4C18-4F90-6B31-722E89773AA8}"/>
              </a:ext>
            </a:extLst>
          </p:cNvPr>
          <p:cNvCxnSpPr>
            <a:cxnSpLocks/>
            <a:stCxn id="104" idx="3"/>
            <a:endCxn id="158" idx="2"/>
          </p:cNvCxnSpPr>
          <p:nvPr/>
        </p:nvCxnSpPr>
        <p:spPr>
          <a:xfrm flipV="1">
            <a:off x="8387595" y="3364571"/>
            <a:ext cx="861732" cy="134953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연결선: 꺾임 7">
            <a:extLst>
              <a:ext uri="{FF2B5EF4-FFF2-40B4-BE49-F238E27FC236}">
                <a16:creationId xmlns:a16="http://schemas.microsoft.com/office/drawing/2014/main" id="{89A2D828-4C18-4F90-6B31-722E89773AA8}"/>
              </a:ext>
            </a:extLst>
          </p:cNvPr>
          <p:cNvCxnSpPr>
            <a:cxnSpLocks/>
            <a:stCxn id="140" idx="2"/>
            <a:endCxn id="180" idx="1"/>
          </p:cNvCxnSpPr>
          <p:nvPr/>
        </p:nvCxnSpPr>
        <p:spPr>
          <a:xfrm rot="16200000" flipH="1">
            <a:off x="5089624" y="4251781"/>
            <a:ext cx="644135" cy="28051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4" name="직사각형 73">
            <a:extLst>
              <a:ext uri="{FF2B5EF4-FFF2-40B4-BE49-F238E27FC236}">
                <a16:creationId xmlns:a16="http://schemas.microsoft.com/office/drawing/2014/main" id="{F249990F-1DE5-C694-BDBD-2DE7009D57EA}"/>
              </a:ext>
            </a:extLst>
          </p:cNvPr>
          <p:cNvSpPr/>
          <p:nvPr/>
        </p:nvSpPr>
        <p:spPr>
          <a:xfrm>
            <a:off x="4839825" y="3279915"/>
            <a:ext cx="755015"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경쟁입찰인 경우</a:t>
            </a:r>
            <a:endParaRPr lang="ko-KR" altLang="en-US" sz="800" dirty="0">
              <a:solidFill>
                <a:schemeClr val="tx1"/>
              </a:solidFill>
            </a:endParaRPr>
          </a:p>
        </p:txBody>
      </p:sp>
      <p:sp>
        <p:nvSpPr>
          <p:cNvPr id="75" name="직사각형 74">
            <a:extLst>
              <a:ext uri="{FF2B5EF4-FFF2-40B4-BE49-F238E27FC236}">
                <a16:creationId xmlns:a16="http://schemas.microsoft.com/office/drawing/2014/main" id="{F249990F-1DE5-C694-BDBD-2DE7009D57EA}"/>
              </a:ext>
            </a:extLst>
          </p:cNvPr>
          <p:cNvSpPr/>
          <p:nvPr/>
        </p:nvSpPr>
        <p:spPr>
          <a:xfrm>
            <a:off x="5934240" y="3279915"/>
            <a:ext cx="79508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물품</a:t>
            </a:r>
            <a:r>
              <a:rPr lang="en-US" altLang="ko-KR" sz="800" dirty="0">
                <a:solidFill>
                  <a:schemeClr val="tx1"/>
                </a:solidFill>
              </a:rPr>
              <a:t>/</a:t>
            </a:r>
            <a:r>
              <a:rPr lang="ko-KR" altLang="en-US" sz="800" dirty="0">
                <a:solidFill>
                  <a:schemeClr val="tx1"/>
                </a:solidFill>
              </a:rPr>
              <a:t>용역인 </a:t>
            </a:r>
            <a:r>
              <a:rPr lang="ko-KR" altLang="en-US" sz="800" dirty="0" smtClean="0">
                <a:solidFill>
                  <a:schemeClr val="tx1"/>
                </a:solidFill>
              </a:rPr>
              <a:t>경우</a:t>
            </a:r>
            <a:endParaRPr lang="ko-KR" altLang="en-US" sz="800" dirty="0">
              <a:solidFill>
                <a:schemeClr val="tx1"/>
              </a:solidFill>
            </a:endParaRPr>
          </a:p>
        </p:txBody>
      </p:sp>
      <p:sp>
        <p:nvSpPr>
          <p:cNvPr id="76" name="직사각형 75">
            <a:extLst>
              <a:ext uri="{FF2B5EF4-FFF2-40B4-BE49-F238E27FC236}">
                <a16:creationId xmlns:a16="http://schemas.microsoft.com/office/drawing/2014/main" id="{F249990F-1DE5-C694-BDBD-2DE7009D57EA}"/>
              </a:ext>
            </a:extLst>
          </p:cNvPr>
          <p:cNvSpPr/>
          <p:nvPr/>
        </p:nvSpPr>
        <p:spPr>
          <a:xfrm>
            <a:off x="3739964" y="3839604"/>
            <a:ext cx="79508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물품</a:t>
            </a:r>
            <a:r>
              <a:rPr lang="en-US" altLang="ko-KR" sz="800" dirty="0">
                <a:solidFill>
                  <a:schemeClr val="tx1"/>
                </a:solidFill>
              </a:rPr>
              <a:t>/</a:t>
            </a:r>
            <a:r>
              <a:rPr lang="ko-KR" altLang="en-US" sz="800" dirty="0">
                <a:solidFill>
                  <a:schemeClr val="tx1"/>
                </a:solidFill>
              </a:rPr>
              <a:t>용역인 </a:t>
            </a:r>
            <a:r>
              <a:rPr lang="ko-KR" altLang="en-US" sz="800" dirty="0" smtClean="0">
                <a:solidFill>
                  <a:schemeClr val="tx1"/>
                </a:solidFill>
              </a:rPr>
              <a:t>경우</a:t>
            </a:r>
            <a:endParaRPr lang="ko-KR" altLang="en-US" sz="800" dirty="0">
              <a:solidFill>
                <a:schemeClr val="tx1"/>
              </a:solidFill>
            </a:endParaRPr>
          </a:p>
        </p:txBody>
      </p:sp>
      <p:sp>
        <p:nvSpPr>
          <p:cNvPr id="84" name="직사각형 83">
            <a:extLst>
              <a:ext uri="{FF2B5EF4-FFF2-40B4-BE49-F238E27FC236}">
                <a16:creationId xmlns:a16="http://schemas.microsoft.com/office/drawing/2014/main" id="{F249990F-1DE5-C694-BDBD-2DE7009D57EA}"/>
              </a:ext>
            </a:extLst>
          </p:cNvPr>
          <p:cNvSpPr/>
          <p:nvPr/>
        </p:nvSpPr>
        <p:spPr>
          <a:xfrm>
            <a:off x="4834959" y="3839604"/>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개찰일시</a:t>
            </a:r>
            <a:r>
              <a:rPr lang="ko-KR" altLang="en-US" sz="800" dirty="0">
                <a:solidFill>
                  <a:schemeClr val="tx1"/>
                </a:solidFill>
              </a:rPr>
              <a:t> 이후</a:t>
            </a:r>
            <a:r>
              <a:rPr lang="ko-KR" altLang="en-US" sz="800" dirty="0" smtClean="0">
                <a:solidFill>
                  <a:schemeClr val="tx1"/>
                </a:solidFill>
              </a:rPr>
              <a:t>인 경우</a:t>
            </a:r>
            <a:endParaRPr lang="ko-KR" altLang="en-US" sz="800" dirty="0">
              <a:solidFill>
                <a:schemeClr val="tx1"/>
              </a:solidFill>
            </a:endParaRPr>
          </a:p>
        </p:txBody>
      </p:sp>
      <p:grpSp>
        <p:nvGrpSpPr>
          <p:cNvPr id="85" name="그룹 84"/>
          <p:cNvGrpSpPr/>
          <p:nvPr/>
        </p:nvGrpSpPr>
        <p:grpSpPr>
          <a:xfrm>
            <a:off x="8223250" y="569392"/>
            <a:ext cx="3365500" cy="219465"/>
            <a:chOff x="8223250" y="569392"/>
            <a:chExt cx="3365500" cy="219465"/>
          </a:xfrm>
        </p:grpSpPr>
        <p:sp>
          <p:nvSpPr>
            <p:cNvPr id="86" name="직사각형 8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화면 수정</a:t>
              </a:r>
              <a:endParaRPr lang="ko-KR" altLang="en-US" dirty="0"/>
            </a:p>
          </p:txBody>
        </p:sp>
        <p:sp>
          <p:nvSpPr>
            <p:cNvPr id="87" name="직사각형 8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흐름도 수정</a:t>
              </a:r>
              <a:endParaRPr lang="ko-KR" altLang="en-US" sz="700" dirty="0"/>
            </a:p>
          </p:txBody>
        </p:sp>
      </p:grpSp>
      <p:sp>
        <p:nvSpPr>
          <p:cNvPr id="97" name="직사각형 96">
            <a:extLst>
              <a:ext uri="{FF2B5EF4-FFF2-40B4-BE49-F238E27FC236}">
                <a16:creationId xmlns:a16="http://schemas.microsoft.com/office/drawing/2014/main" id="{F249990F-1DE5-C694-BDBD-2DE7009D57EA}"/>
              </a:ext>
            </a:extLst>
          </p:cNvPr>
          <p:cNvSpPr/>
          <p:nvPr/>
        </p:nvSpPr>
        <p:spPr>
          <a:xfrm>
            <a:off x="7487595" y="2491902"/>
            <a:ext cx="1412246"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신청 기간이 도래한 경우</a:t>
            </a:r>
            <a:endParaRPr lang="en-US" altLang="ko-KR" sz="800" dirty="0" smtClean="0">
              <a:solidFill>
                <a:schemeClr val="tx1"/>
              </a:solidFill>
            </a:endParaRPr>
          </a:p>
          <a:p>
            <a:r>
              <a:rPr lang="ko-KR" altLang="en-US" sz="800" dirty="0" smtClean="0">
                <a:solidFill>
                  <a:schemeClr val="tx1"/>
                </a:solidFill>
              </a:rPr>
              <a:t>조건에 따라 </a:t>
            </a:r>
            <a:r>
              <a:rPr lang="en-US" altLang="ko-KR" sz="800" dirty="0" smtClean="0">
                <a:solidFill>
                  <a:schemeClr val="tx1"/>
                </a:solidFill>
              </a:rPr>
              <a:t>(+) </a:t>
            </a:r>
            <a:r>
              <a:rPr lang="ko-KR" altLang="en-US" sz="800" dirty="0" smtClean="0">
                <a:solidFill>
                  <a:schemeClr val="tx1"/>
                </a:solidFill>
              </a:rPr>
              <a:t>버튼으로 노출</a:t>
            </a:r>
            <a:endParaRPr lang="ko-KR" altLang="en-US" sz="800" dirty="0">
              <a:solidFill>
                <a:schemeClr val="tx1"/>
              </a:solidFill>
            </a:endParaRPr>
          </a:p>
        </p:txBody>
      </p:sp>
      <p:sp>
        <p:nvSpPr>
          <p:cNvPr id="111" name="사각형: 둥근 모서리 5">
            <a:extLst>
              <a:ext uri="{FF2B5EF4-FFF2-40B4-BE49-F238E27FC236}">
                <a16:creationId xmlns:a16="http://schemas.microsoft.com/office/drawing/2014/main" id="{410E5459-200D-7630-863C-88E5109259DF}"/>
              </a:ext>
            </a:extLst>
          </p:cNvPr>
          <p:cNvSpPr/>
          <p:nvPr/>
        </p:nvSpPr>
        <p:spPr>
          <a:xfrm>
            <a:off x="1071925" y="3496048"/>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입찰진행목록</a:t>
            </a:r>
            <a:endParaRPr lang="ko-KR" altLang="en-US" sz="800" dirty="0">
              <a:solidFill>
                <a:schemeClr val="tx1"/>
              </a:solidFill>
            </a:endParaRPr>
          </a:p>
        </p:txBody>
      </p:sp>
      <p:cxnSp>
        <p:nvCxnSpPr>
          <p:cNvPr id="112" name="연결선: 꺾임 7">
            <a:extLst>
              <a:ext uri="{FF2B5EF4-FFF2-40B4-BE49-F238E27FC236}">
                <a16:creationId xmlns:a16="http://schemas.microsoft.com/office/drawing/2014/main" id="{89A2D828-4C18-4F90-6B31-722E89773AA8}"/>
              </a:ext>
            </a:extLst>
          </p:cNvPr>
          <p:cNvCxnSpPr>
            <a:cxnSpLocks/>
            <a:stCxn id="9" idx="6"/>
            <a:endCxn id="111" idx="1"/>
          </p:cNvCxnSpPr>
          <p:nvPr/>
        </p:nvCxnSpPr>
        <p:spPr>
          <a:xfrm>
            <a:off x="700126" y="1772964"/>
            <a:ext cx="371799" cy="186708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6" name="사각형: 둥근 모서리 5">
            <a:extLst>
              <a:ext uri="{FF2B5EF4-FFF2-40B4-BE49-F238E27FC236}">
                <a16:creationId xmlns:a16="http://schemas.microsoft.com/office/drawing/2014/main" id="{410E5459-200D-7630-863C-88E5109259DF}"/>
              </a:ext>
            </a:extLst>
          </p:cNvPr>
          <p:cNvSpPr/>
          <p:nvPr/>
        </p:nvSpPr>
        <p:spPr>
          <a:xfrm>
            <a:off x="1071925" y="495010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smtClean="0">
                <a:solidFill>
                  <a:schemeClr val="tx1"/>
                </a:solidFill>
              </a:rPr>
              <a:t>개찰목록</a:t>
            </a:r>
            <a:endParaRPr lang="ko-KR" altLang="en-US" sz="800" dirty="0">
              <a:solidFill>
                <a:schemeClr val="tx1"/>
              </a:solidFill>
            </a:endParaRPr>
          </a:p>
        </p:txBody>
      </p:sp>
      <p:cxnSp>
        <p:nvCxnSpPr>
          <p:cNvPr id="117" name="연결선: 꺾임 7">
            <a:extLst>
              <a:ext uri="{FF2B5EF4-FFF2-40B4-BE49-F238E27FC236}">
                <a16:creationId xmlns:a16="http://schemas.microsoft.com/office/drawing/2014/main" id="{89A2D828-4C18-4F90-6B31-722E89773AA8}"/>
              </a:ext>
            </a:extLst>
          </p:cNvPr>
          <p:cNvCxnSpPr>
            <a:cxnSpLocks/>
            <a:stCxn id="9" idx="6"/>
            <a:endCxn id="116" idx="1"/>
          </p:cNvCxnSpPr>
          <p:nvPr/>
        </p:nvCxnSpPr>
        <p:spPr>
          <a:xfrm>
            <a:off x="700126" y="1772964"/>
            <a:ext cx="371799" cy="332114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2" name="직사각형 121">
            <a:extLst>
              <a:ext uri="{FF2B5EF4-FFF2-40B4-BE49-F238E27FC236}">
                <a16:creationId xmlns:a16="http://schemas.microsoft.com/office/drawing/2014/main" id="{F249990F-1DE5-C694-BDBD-2DE7009D57EA}"/>
              </a:ext>
            </a:extLst>
          </p:cNvPr>
          <p:cNvSpPr/>
          <p:nvPr/>
        </p:nvSpPr>
        <p:spPr>
          <a:xfrm>
            <a:off x="1077502" y="2846703"/>
            <a:ext cx="1444306" cy="6155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입찰진행목록은</a:t>
            </a:r>
            <a:endParaRPr lang="en-US" altLang="ko-KR" sz="800" dirty="0" smtClean="0">
              <a:solidFill>
                <a:schemeClr val="tx1"/>
              </a:solidFill>
            </a:endParaRPr>
          </a:p>
          <a:p>
            <a:r>
              <a:rPr lang="ko-KR" altLang="en-US" sz="800" dirty="0" smtClean="0">
                <a:solidFill>
                  <a:schemeClr val="tx1"/>
                </a:solidFill>
              </a:rPr>
              <a:t>사전심사</a:t>
            </a:r>
            <a:r>
              <a:rPr lang="en-US" altLang="ko-KR" sz="800" dirty="0" smtClean="0">
                <a:solidFill>
                  <a:schemeClr val="tx1"/>
                </a:solidFill>
              </a:rPr>
              <a:t>, </a:t>
            </a:r>
            <a:r>
              <a:rPr lang="ko-KR" altLang="en-US" sz="800" dirty="0" smtClean="0">
                <a:solidFill>
                  <a:schemeClr val="tx1"/>
                </a:solidFill>
              </a:rPr>
              <a:t>입찰참가</a:t>
            </a:r>
            <a:r>
              <a:rPr lang="en-US" altLang="ko-KR" sz="800" dirty="0" smtClean="0">
                <a:solidFill>
                  <a:schemeClr val="tx1"/>
                </a:solidFill>
              </a:rPr>
              <a:t>, </a:t>
            </a:r>
            <a:r>
              <a:rPr lang="ko-KR" altLang="en-US" sz="800" dirty="0" smtClean="0">
                <a:solidFill>
                  <a:schemeClr val="tx1"/>
                </a:solidFill>
              </a:rPr>
              <a:t>입찰서 등</a:t>
            </a:r>
            <a:endParaRPr lang="en-US" altLang="ko-KR" sz="800" dirty="0" smtClean="0">
              <a:solidFill>
                <a:schemeClr val="tx1"/>
              </a:solidFill>
            </a:endParaRPr>
          </a:p>
          <a:p>
            <a:r>
              <a:rPr lang="ko-KR" altLang="en-US" sz="800" dirty="0" smtClean="0">
                <a:solidFill>
                  <a:schemeClr val="tx1"/>
                </a:solidFill>
              </a:rPr>
              <a:t>누군가 공고에서 신청하는 경우</a:t>
            </a:r>
            <a:endParaRPr lang="en-US" altLang="ko-KR" sz="800" dirty="0" smtClean="0">
              <a:solidFill>
                <a:schemeClr val="tx1"/>
              </a:solidFill>
            </a:endParaRPr>
          </a:p>
          <a:p>
            <a:r>
              <a:rPr lang="ko-KR" altLang="en-US" sz="800" dirty="0" smtClean="0">
                <a:solidFill>
                  <a:schemeClr val="tx1"/>
                </a:solidFill>
              </a:rPr>
              <a:t>목록에 표시됨</a:t>
            </a:r>
            <a:r>
              <a:rPr lang="en-US" altLang="ko-KR" sz="800" dirty="0" smtClean="0">
                <a:solidFill>
                  <a:schemeClr val="tx1"/>
                </a:solidFill>
              </a:rPr>
              <a:t>.</a:t>
            </a:r>
          </a:p>
          <a:p>
            <a:r>
              <a:rPr lang="ko-KR" altLang="en-US" sz="800" dirty="0" smtClean="0">
                <a:solidFill>
                  <a:srgbClr val="FF0000"/>
                </a:solidFill>
              </a:rPr>
              <a:t>추후 개인화 될 수 있음</a:t>
            </a:r>
            <a:r>
              <a:rPr lang="en-US" altLang="ko-KR" sz="800" dirty="0" smtClean="0">
                <a:solidFill>
                  <a:srgbClr val="FF0000"/>
                </a:solidFill>
              </a:rPr>
              <a:t>.</a:t>
            </a:r>
            <a:endParaRPr lang="ko-KR" altLang="en-US" sz="800" dirty="0">
              <a:solidFill>
                <a:srgbClr val="FF0000"/>
              </a:solidFill>
            </a:endParaRPr>
          </a:p>
        </p:txBody>
      </p:sp>
      <p:sp>
        <p:nvSpPr>
          <p:cNvPr id="123" name="TextBox 122">
            <a:extLst>
              <a:ext uri="{FF2B5EF4-FFF2-40B4-BE49-F238E27FC236}">
                <a16:creationId xmlns:a16="http://schemas.microsoft.com/office/drawing/2014/main" id="{6619C48D-7E22-9D49-50C5-2404458A47CE}"/>
              </a:ext>
            </a:extLst>
          </p:cNvPr>
          <p:cNvSpPr txBox="1"/>
          <p:nvPr/>
        </p:nvSpPr>
        <p:spPr>
          <a:xfrm>
            <a:off x="777742" y="6153248"/>
            <a:ext cx="8640000" cy="466657"/>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smtClean="0">
                <a:solidFill>
                  <a:srgbClr val="0000FF"/>
                </a:solidFill>
                <a:latin typeface="+mn-ea"/>
              </a:rPr>
              <a:t>입찰공고통합목록</a:t>
            </a:r>
            <a:r>
              <a:rPr lang="en-US" altLang="ko-KR" sz="800" kern="0" dirty="0" smtClean="0">
                <a:solidFill>
                  <a:srgbClr val="0000FF"/>
                </a:solidFill>
                <a:latin typeface="+mn-ea"/>
              </a:rPr>
              <a:t>, </a:t>
            </a:r>
            <a:r>
              <a:rPr lang="ko-KR" altLang="en-US" sz="800" kern="0" dirty="0" smtClean="0">
                <a:solidFill>
                  <a:srgbClr val="0000FF"/>
                </a:solidFill>
                <a:latin typeface="+mn-ea"/>
              </a:rPr>
              <a:t>입찰진행목록</a:t>
            </a:r>
            <a:r>
              <a:rPr lang="en-US" altLang="ko-KR" sz="800" kern="0" dirty="0" smtClean="0">
                <a:solidFill>
                  <a:srgbClr val="0000FF"/>
                </a:solidFill>
                <a:latin typeface="+mn-ea"/>
              </a:rPr>
              <a:t>, </a:t>
            </a:r>
            <a:r>
              <a:rPr lang="ko-KR" altLang="en-US" sz="800" kern="0" dirty="0" err="1" smtClean="0">
                <a:solidFill>
                  <a:srgbClr val="0000FF"/>
                </a:solidFill>
                <a:latin typeface="+mn-ea"/>
              </a:rPr>
              <a:t>개찰목록은</a:t>
            </a:r>
            <a:r>
              <a:rPr lang="ko-KR" altLang="en-US" sz="800" kern="0" dirty="0" smtClean="0">
                <a:solidFill>
                  <a:srgbClr val="0000FF"/>
                </a:solidFill>
                <a:latin typeface="+mn-ea"/>
              </a:rPr>
              <a:t> 공고가 게시되면 해당 목록에 공고가 모두 표시됨</a:t>
            </a:r>
            <a:r>
              <a:rPr lang="en-US" altLang="ko-KR" sz="800" kern="0" dirty="0" smtClean="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smtClean="0">
                <a:solidFill>
                  <a:srgbClr val="0000FF"/>
                </a:solidFill>
                <a:latin typeface="+mn-ea"/>
              </a:rPr>
              <a:t>다음 </a:t>
            </a:r>
            <a:r>
              <a:rPr lang="ko-KR" altLang="en-US" sz="800" kern="0" dirty="0" err="1" smtClean="0">
                <a:solidFill>
                  <a:srgbClr val="0000FF"/>
                </a:solidFill>
                <a:latin typeface="+mn-ea"/>
              </a:rPr>
              <a:t>장표의</a:t>
            </a:r>
            <a:r>
              <a:rPr lang="ko-KR" altLang="en-US" sz="800" kern="0" dirty="0" smtClean="0">
                <a:solidFill>
                  <a:srgbClr val="0000FF"/>
                </a:solidFill>
                <a:latin typeface="+mn-ea"/>
              </a:rPr>
              <a:t> 사전심사</a:t>
            </a:r>
            <a:r>
              <a:rPr lang="en-US" altLang="ko-KR" sz="800" kern="0" dirty="0" smtClean="0">
                <a:solidFill>
                  <a:srgbClr val="0000FF"/>
                </a:solidFill>
                <a:latin typeface="+mn-ea"/>
              </a:rPr>
              <a:t>, </a:t>
            </a:r>
            <a:r>
              <a:rPr lang="ko-KR" altLang="en-US" sz="800" kern="0" dirty="0" smtClean="0">
                <a:solidFill>
                  <a:srgbClr val="0000FF"/>
                </a:solidFill>
                <a:latin typeface="+mn-ea"/>
              </a:rPr>
              <a:t>입찰참가 신청</a:t>
            </a:r>
            <a:r>
              <a:rPr lang="en-US" altLang="ko-KR" sz="800" kern="0" dirty="0" smtClean="0">
                <a:solidFill>
                  <a:srgbClr val="0000FF"/>
                </a:solidFill>
                <a:latin typeface="+mn-ea"/>
              </a:rPr>
              <a:t>, </a:t>
            </a:r>
            <a:r>
              <a:rPr lang="ko-KR" altLang="en-US" sz="800" kern="0" dirty="0" smtClean="0">
                <a:solidFill>
                  <a:srgbClr val="0000FF"/>
                </a:solidFill>
                <a:latin typeface="+mn-ea"/>
              </a:rPr>
              <a:t>입찰서</a:t>
            </a:r>
            <a:r>
              <a:rPr lang="en-US" altLang="ko-KR" sz="800" kern="0" dirty="0" smtClean="0">
                <a:solidFill>
                  <a:srgbClr val="0000FF"/>
                </a:solidFill>
                <a:latin typeface="+mn-ea"/>
              </a:rPr>
              <a:t>, </a:t>
            </a:r>
            <a:r>
              <a:rPr lang="ko-KR" altLang="en-US" sz="800" kern="0" dirty="0" smtClean="0">
                <a:solidFill>
                  <a:srgbClr val="0000FF"/>
                </a:solidFill>
                <a:latin typeface="+mn-ea"/>
              </a:rPr>
              <a:t>견적서 등을 받는 조건은 </a:t>
            </a:r>
            <a:r>
              <a:rPr lang="ko-KR" altLang="en-US" sz="800" kern="0" dirty="0">
                <a:solidFill>
                  <a:srgbClr val="0000FF"/>
                </a:solidFill>
                <a:latin typeface="+mn-ea"/>
              </a:rPr>
              <a:t>계약방법</a:t>
            </a:r>
            <a:r>
              <a:rPr lang="en-US" altLang="ko-KR" sz="800" kern="0" dirty="0">
                <a:solidFill>
                  <a:srgbClr val="0000FF"/>
                </a:solidFill>
                <a:latin typeface="+mn-ea"/>
              </a:rPr>
              <a:t>/</a:t>
            </a:r>
            <a:r>
              <a:rPr lang="ko-KR" altLang="en-US" sz="800" kern="0" dirty="0" err="1">
                <a:solidFill>
                  <a:srgbClr val="0000FF"/>
                </a:solidFill>
                <a:latin typeface="+mn-ea"/>
              </a:rPr>
              <a:t>낙찰방법</a:t>
            </a:r>
            <a:r>
              <a:rPr lang="ko-KR" altLang="en-US" sz="800" kern="0" dirty="0">
                <a:solidFill>
                  <a:srgbClr val="0000FF"/>
                </a:solidFill>
                <a:latin typeface="+mn-ea"/>
              </a:rPr>
              <a:t> </a:t>
            </a:r>
            <a:r>
              <a:rPr lang="ko-KR" altLang="en-US" sz="800" kern="0" dirty="0" smtClean="0">
                <a:solidFill>
                  <a:srgbClr val="0000FF"/>
                </a:solidFill>
                <a:latin typeface="+mn-ea"/>
              </a:rPr>
              <a:t>참조</a:t>
            </a:r>
            <a:endParaRPr lang="ko-KR" altLang="en-US" sz="800" kern="0" dirty="0">
              <a:solidFill>
                <a:srgbClr val="0000FF"/>
              </a:solidFill>
              <a:latin typeface="+mn-ea"/>
            </a:endParaRPr>
          </a:p>
        </p:txBody>
      </p:sp>
      <p:sp>
        <p:nvSpPr>
          <p:cNvPr id="139" name="직사각형 138">
            <a:extLst>
              <a:ext uri="{FF2B5EF4-FFF2-40B4-BE49-F238E27FC236}">
                <a16:creationId xmlns:a16="http://schemas.microsoft.com/office/drawing/2014/main" id="{4FB9FCCA-B5F3-C0E2-F563-4F0CE0FC24CF}"/>
              </a:ext>
            </a:extLst>
          </p:cNvPr>
          <p:cNvSpPr/>
          <p:nvPr/>
        </p:nvSpPr>
        <p:spPr>
          <a:xfrm>
            <a:off x="2862079" y="5217327"/>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141" name="그룹 140">
            <a:extLst>
              <a:ext uri="{FF2B5EF4-FFF2-40B4-BE49-F238E27FC236}">
                <a16:creationId xmlns:a16="http://schemas.microsoft.com/office/drawing/2014/main" id="{E7279F6C-9434-7961-8F6B-B7AE44CE5FCD}"/>
              </a:ext>
            </a:extLst>
          </p:cNvPr>
          <p:cNvGrpSpPr/>
          <p:nvPr/>
        </p:nvGrpSpPr>
        <p:grpSpPr>
          <a:xfrm>
            <a:off x="2891076" y="5004104"/>
            <a:ext cx="180000" cy="180000"/>
            <a:chOff x="5058274" y="2498299"/>
            <a:chExt cx="180000" cy="180000"/>
          </a:xfrm>
        </p:grpSpPr>
        <p:sp>
          <p:nvSpPr>
            <p:cNvPr id="147" name="타원 146">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타원 148">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3" name="직사각형 152">
            <a:extLst>
              <a:ext uri="{FF2B5EF4-FFF2-40B4-BE49-F238E27FC236}">
                <a16:creationId xmlns:a16="http://schemas.microsoft.com/office/drawing/2014/main" id="{F249990F-1DE5-C694-BDBD-2DE7009D57EA}"/>
              </a:ext>
            </a:extLst>
          </p:cNvPr>
          <p:cNvSpPr/>
          <p:nvPr/>
        </p:nvSpPr>
        <p:spPr>
          <a:xfrm>
            <a:off x="1860500" y="2393347"/>
            <a:ext cx="1195840"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공고 차수</a:t>
            </a:r>
            <a:r>
              <a:rPr lang="en-US" altLang="ko-KR" sz="800" dirty="0" smtClean="0">
                <a:solidFill>
                  <a:schemeClr val="tx1"/>
                </a:solidFill>
              </a:rPr>
              <a:t>, </a:t>
            </a:r>
            <a:r>
              <a:rPr lang="ko-KR" altLang="en-US" sz="800" dirty="0" smtClean="0">
                <a:solidFill>
                  <a:schemeClr val="tx1"/>
                </a:solidFill>
              </a:rPr>
              <a:t>수정 등에 따라</a:t>
            </a:r>
            <a:endParaRPr lang="en-US" altLang="ko-KR" sz="800" dirty="0" smtClean="0">
              <a:solidFill>
                <a:schemeClr val="tx1"/>
              </a:solidFill>
            </a:endParaRPr>
          </a:p>
          <a:p>
            <a:r>
              <a:rPr lang="ko-KR" altLang="en-US" sz="800" dirty="0">
                <a:solidFill>
                  <a:schemeClr val="tx1"/>
                </a:solidFill>
              </a:rPr>
              <a:t>동일한 </a:t>
            </a:r>
            <a:r>
              <a:rPr lang="ko-KR" altLang="en-US" sz="800" dirty="0" smtClean="0">
                <a:solidFill>
                  <a:schemeClr val="tx1"/>
                </a:solidFill>
              </a:rPr>
              <a:t>공고가</a:t>
            </a:r>
            <a:endParaRPr lang="en-US" altLang="ko-KR" sz="800" dirty="0" smtClean="0">
              <a:solidFill>
                <a:schemeClr val="tx1"/>
              </a:solidFill>
            </a:endParaRPr>
          </a:p>
          <a:p>
            <a:r>
              <a:rPr lang="ko-KR" altLang="en-US" sz="800" dirty="0" smtClean="0">
                <a:solidFill>
                  <a:schemeClr val="tx1"/>
                </a:solidFill>
              </a:rPr>
              <a:t>여러 건</a:t>
            </a:r>
            <a:r>
              <a:rPr lang="en-US" altLang="ko-KR" sz="800" dirty="0" smtClean="0">
                <a:solidFill>
                  <a:schemeClr val="tx1"/>
                </a:solidFill>
              </a:rPr>
              <a:t> </a:t>
            </a:r>
            <a:r>
              <a:rPr lang="ko-KR" altLang="en-US" sz="800" dirty="0" smtClean="0">
                <a:solidFill>
                  <a:schemeClr val="tx1"/>
                </a:solidFill>
              </a:rPr>
              <a:t>노출됨</a:t>
            </a:r>
            <a:r>
              <a:rPr lang="en-US" altLang="ko-KR" sz="800" dirty="0" smtClean="0">
                <a:solidFill>
                  <a:schemeClr val="tx1"/>
                </a:solidFill>
              </a:rPr>
              <a:t>.</a:t>
            </a:r>
            <a:endParaRPr lang="en-US" altLang="ko-KR" sz="800" dirty="0">
              <a:solidFill>
                <a:schemeClr val="tx1"/>
              </a:solidFill>
            </a:endParaRPr>
          </a:p>
        </p:txBody>
      </p:sp>
      <p:sp>
        <p:nvSpPr>
          <p:cNvPr id="154" name="직사각형 153">
            <a:extLst>
              <a:ext uri="{FF2B5EF4-FFF2-40B4-BE49-F238E27FC236}">
                <a16:creationId xmlns:a16="http://schemas.microsoft.com/office/drawing/2014/main" id="{F249990F-1DE5-C694-BDBD-2DE7009D57EA}"/>
              </a:ext>
            </a:extLst>
          </p:cNvPr>
          <p:cNvSpPr/>
          <p:nvPr/>
        </p:nvSpPr>
        <p:spPr>
          <a:xfrm>
            <a:off x="3610177" y="4114583"/>
            <a:ext cx="1033937"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계약 및 조건에 따라</a:t>
            </a:r>
            <a:endParaRPr lang="en-US" altLang="ko-KR" sz="800" dirty="0" smtClean="0">
              <a:solidFill>
                <a:schemeClr val="tx1"/>
              </a:solidFill>
            </a:endParaRPr>
          </a:p>
          <a:p>
            <a:r>
              <a:rPr lang="ko-KR" altLang="en-US" sz="800" dirty="0" smtClean="0">
                <a:solidFill>
                  <a:schemeClr val="tx1"/>
                </a:solidFill>
              </a:rPr>
              <a:t>탭 표시 항목이</a:t>
            </a:r>
            <a:r>
              <a:rPr lang="en-US" altLang="ko-KR" sz="800" dirty="0">
                <a:solidFill>
                  <a:schemeClr val="tx1"/>
                </a:solidFill>
              </a:rPr>
              <a:t> </a:t>
            </a:r>
            <a:r>
              <a:rPr lang="ko-KR" altLang="en-US" sz="800" dirty="0" smtClean="0">
                <a:solidFill>
                  <a:schemeClr val="tx1"/>
                </a:solidFill>
              </a:rPr>
              <a:t>달라짐</a:t>
            </a:r>
            <a:endParaRPr lang="en-US" altLang="ko-KR" sz="800" dirty="0">
              <a:solidFill>
                <a:schemeClr val="tx1"/>
              </a:solidFill>
            </a:endParaRPr>
          </a:p>
        </p:txBody>
      </p:sp>
      <p:sp>
        <p:nvSpPr>
          <p:cNvPr id="100" name="사각형: 둥근 모서리 5">
            <a:extLst>
              <a:ext uri="{FF2B5EF4-FFF2-40B4-BE49-F238E27FC236}">
                <a16:creationId xmlns:a16="http://schemas.microsoft.com/office/drawing/2014/main" id="{410E5459-200D-7630-863C-88E5109259DF}"/>
              </a:ext>
            </a:extLst>
          </p:cNvPr>
          <p:cNvSpPr/>
          <p:nvPr/>
        </p:nvSpPr>
        <p:spPr>
          <a:xfrm>
            <a:off x="3616304" y="4575182"/>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latin typeface="+mn-ea"/>
              </a:rPr>
              <a:t>계약 단계 이동</a:t>
            </a:r>
            <a:endParaRPr lang="ko-KR" altLang="en-US" sz="800" dirty="0">
              <a:solidFill>
                <a:schemeClr val="tx1"/>
              </a:solidFill>
            </a:endParaRPr>
          </a:p>
        </p:txBody>
      </p:sp>
      <p:cxnSp>
        <p:nvCxnSpPr>
          <p:cNvPr id="103" name="연결선: 꺾임 7">
            <a:extLst>
              <a:ext uri="{FF2B5EF4-FFF2-40B4-BE49-F238E27FC236}">
                <a16:creationId xmlns:a16="http://schemas.microsoft.com/office/drawing/2014/main" id="{89A2D828-4C18-4F90-6B31-722E89773AA8}"/>
              </a:ext>
            </a:extLst>
          </p:cNvPr>
          <p:cNvCxnSpPr>
            <a:cxnSpLocks/>
            <a:stCxn id="66" idx="3"/>
            <a:endCxn id="100" idx="1"/>
          </p:cNvCxnSpPr>
          <p:nvPr/>
        </p:nvCxnSpPr>
        <p:spPr>
          <a:xfrm>
            <a:off x="2754976" y="2220020"/>
            <a:ext cx="861328" cy="249916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연결선: 꺾임 7">
            <a:extLst>
              <a:ext uri="{FF2B5EF4-FFF2-40B4-BE49-F238E27FC236}">
                <a16:creationId xmlns:a16="http://schemas.microsoft.com/office/drawing/2014/main" id="{89A2D828-4C18-4F90-6B31-722E89773AA8}"/>
              </a:ext>
            </a:extLst>
          </p:cNvPr>
          <p:cNvCxnSpPr>
            <a:cxnSpLocks/>
            <a:stCxn id="100" idx="2"/>
            <a:endCxn id="147" idx="6"/>
          </p:cNvCxnSpPr>
          <p:nvPr/>
        </p:nvCxnSpPr>
        <p:spPr>
          <a:xfrm rot="5400000">
            <a:off x="3453229" y="4481029"/>
            <a:ext cx="230922" cy="99522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09" name="표 108"/>
          <p:cNvGraphicFramePr>
            <a:graphicFrameLocks noGrp="1"/>
          </p:cNvGraphicFramePr>
          <p:nvPr>
            <p:extLst>
              <p:ext uri="{D42A27DB-BD31-4B8C-83A1-F6EECF244321}">
                <p14:modId xmlns:p14="http://schemas.microsoft.com/office/powerpoint/2010/main" val="955786107"/>
              </p:ext>
            </p:extLst>
          </p:nvPr>
        </p:nvGraphicFramePr>
        <p:xfrm>
          <a:off x="5297630" y="5980423"/>
          <a:ext cx="4173762" cy="576970"/>
        </p:xfrm>
        <a:graphic>
          <a:graphicData uri="http://schemas.openxmlformats.org/drawingml/2006/table">
            <a:tbl>
              <a:tblPr firstRow="1" bandRow="1">
                <a:tableStyleId>{5C22544A-7EE6-4342-B048-85BDC9FD1C3A}</a:tableStyleId>
              </a:tblPr>
              <a:tblGrid>
                <a:gridCol w="763430">
                  <a:extLst>
                    <a:ext uri="{9D8B030D-6E8A-4147-A177-3AD203B41FA5}">
                      <a16:colId xmlns:a16="http://schemas.microsoft.com/office/drawing/2014/main" val="3629403149"/>
                    </a:ext>
                  </a:extLst>
                </a:gridCol>
                <a:gridCol w="923638">
                  <a:extLst>
                    <a:ext uri="{9D8B030D-6E8A-4147-A177-3AD203B41FA5}">
                      <a16:colId xmlns:a16="http://schemas.microsoft.com/office/drawing/2014/main" val="1460515021"/>
                    </a:ext>
                  </a:extLst>
                </a:gridCol>
                <a:gridCol w="828898">
                  <a:extLst>
                    <a:ext uri="{9D8B030D-6E8A-4147-A177-3AD203B41FA5}">
                      <a16:colId xmlns:a16="http://schemas.microsoft.com/office/drawing/2014/main" val="1918560194"/>
                    </a:ext>
                  </a:extLst>
                </a:gridCol>
                <a:gridCol w="828898">
                  <a:extLst>
                    <a:ext uri="{9D8B030D-6E8A-4147-A177-3AD203B41FA5}">
                      <a16:colId xmlns:a16="http://schemas.microsoft.com/office/drawing/2014/main" val="53436730"/>
                    </a:ext>
                  </a:extLst>
                </a:gridCol>
                <a:gridCol w="828898">
                  <a:extLst>
                    <a:ext uri="{9D8B030D-6E8A-4147-A177-3AD203B41FA5}">
                      <a16:colId xmlns:a16="http://schemas.microsoft.com/office/drawing/2014/main" val="592262436"/>
                    </a:ext>
                  </a:extLst>
                </a:gridCol>
              </a:tblGrid>
              <a:tr h="137177">
                <a:tc>
                  <a:txBody>
                    <a:bodyPr/>
                    <a:lstStyle/>
                    <a:p>
                      <a:pPr algn="ctr" latinLnBrk="1"/>
                      <a:r>
                        <a:rPr lang="ko-KR" altLang="en-US" sz="500" dirty="0" smtClean="0">
                          <a:solidFill>
                            <a:schemeClr val="tx1"/>
                          </a:solidFill>
                        </a:rPr>
                        <a:t>화면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smtClean="0">
                          <a:solidFill>
                            <a:schemeClr val="tx1"/>
                          </a:solidFill>
                        </a:rPr>
                        <a:t>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smtClean="0">
                          <a:solidFill>
                            <a:schemeClr val="tx1"/>
                          </a:solidFill>
                        </a:rPr>
                        <a:t>로그인</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err="1" smtClean="0">
                          <a:solidFill>
                            <a:schemeClr val="tx1"/>
                          </a:solidFill>
                        </a:rPr>
                        <a:t>조회권한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err="1" smtClean="0">
                          <a:solidFill>
                            <a:schemeClr val="tx1"/>
                          </a:solidFill>
                        </a:rPr>
                        <a:t>기간조건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294262836"/>
                  </a:ext>
                </a:extLst>
              </a:tr>
              <a:tr h="134993">
                <a:tc>
                  <a:txBody>
                    <a:bodyPr/>
                    <a:lstStyle/>
                    <a:p>
                      <a:pPr algn="ctr" latinLnBrk="1"/>
                      <a:r>
                        <a:rPr lang="ko-KR" altLang="en-US" sz="500" dirty="0" smtClean="0">
                          <a:solidFill>
                            <a:schemeClr val="tx1"/>
                          </a:solidFill>
                        </a:rPr>
                        <a:t>입찰공고통합목록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공고 </a:t>
                      </a:r>
                      <a:r>
                        <a:rPr lang="ko-KR" altLang="en-US" sz="500" dirty="0" err="1" smtClean="0">
                          <a:solidFill>
                            <a:schemeClr val="tx1"/>
                          </a:solidFill>
                        </a:rPr>
                        <a:t>등록시</a:t>
                      </a:r>
                      <a:r>
                        <a:rPr lang="ko-KR" altLang="en-US" sz="500" dirty="0" smtClean="0">
                          <a:solidFill>
                            <a:schemeClr val="tx1"/>
                          </a:solidFill>
                        </a:rPr>
                        <a:t> 노출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solidFill>
                            <a:schemeClr val="tx1"/>
                          </a:solidFill>
                        </a:rPr>
                        <a:t>필요없음</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전체 공고 조회 가능</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74876776"/>
                  </a:ext>
                </a:extLst>
              </a:tr>
              <a:tr h="134993">
                <a:tc>
                  <a:txBody>
                    <a:bodyPr/>
                    <a:lstStyle/>
                    <a:p>
                      <a:pPr algn="ctr" latinLnBrk="1"/>
                      <a:r>
                        <a:rPr lang="ko-KR" altLang="en-US" sz="500" dirty="0" smtClean="0">
                          <a:solidFill>
                            <a:schemeClr val="tx1"/>
                          </a:solidFill>
                        </a:rPr>
                        <a:t>입찰진행목록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500" dirty="0" smtClean="0">
                          <a:solidFill>
                            <a:schemeClr val="tx1"/>
                          </a:solidFill>
                        </a:rPr>
                        <a:t>공고 </a:t>
                      </a:r>
                      <a:r>
                        <a:rPr lang="ko-KR" altLang="en-US" sz="500" dirty="0" err="1" smtClean="0">
                          <a:solidFill>
                            <a:schemeClr val="tx1"/>
                          </a:solidFill>
                        </a:rPr>
                        <a:t>등록시</a:t>
                      </a:r>
                      <a:r>
                        <a:rPr lang="ko-KR" altLang="en-US" sz="500" dirty="0" smtClean="0">
                          <a:solidFill>
                            <a:schemeClr val="tx1"/>
                          </a:solidFill>
                        </a:rPr>
                        <a:t> 노출</a:t>
                      </a:r>
                    </a:p>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필요함</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본인 </a:t>
                      </a:r>
                      <a:r>
                        <a:rPr lang="ko-KR" altLang="en-US" sz="500" dirty="0" err="1" smtClean="0">
                          <a:solidFill>
                            <a:schemeClr val="tx1"/>
                          </a:solidFill>
                        </a:rPr>
                        <a:t>입찰건만</a:t>
                      </a:r>
                      <a:r>
                        <a:rPr lang="ko-KR" altLang="en-US" sz="500" dirty="0" smtClean="0">
                          <a:solidFill>
                            <a:schemeClr val="tx1"/>
                          </a:solidFill>
                        </a:rPr>
                        <a:t> 조회 가능</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입찰기간에만 조회 가능</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0828021"/>
                  </a:ext>
                </a:extLst>
              </a:tr>
              <a:tr h="134993">
                <a:tc>
                  <a:txBody>
                    <a:bodyPr/>
                    <a:lstStyle/>
                    <a:p>
                      <a:pPr algn="ctr" latinLnBrk="1"/>
                      <a:r>
                        <a:rPr lang="ko-KR" altLang="en-US" sz="500" dirty="0" err="1" smtClean="0">
                          <a:solidFill>
                            <a:schemeClr val="tx1"/>
                          </a:solidFill>
                        </a:rPr>
                        <a:t>개찰목록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500" dirty="0" smtClean="0">
                          <a:solidFill>
                            <a:schemeClr val="tx1"/>
                          </a:solidFill>
                        </a:rPr>
                        <a:t>공고 </a:t>
                      </a:r>
                      <a:r>
                        <a:rPr lang="ko-KR" altLang="en-US" sz="500" dirty="0" err="1" smtClean="0">
                          <a:solidFill>
                            <a:schemeClr val="tx1"/>
                          </a:solidFill>
                        </a:rPr>
                        <a:t>등록시</a:t>
                      </a:r>
                      <a:r>
                        <a:rPr lang="ko-KR" altLang="en-US" sz="500" dirty="0" smtClean="0">
                          <a:solidFill>
                            <a:schemeClr val="tx1"/>
                          </a:solidFill>
                        </a:rPr>
                        <a:t> 노출</a:t>
                      </a:r>
                    </a:p>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solidFill>
                            <a:schemeClr val="tx1"/>
                          </a:solidFill>
                        </a:rPr>
                        <a:t>필요없음</a:t>
                      </a:r>
                      <a:endParaRPr lang="en-US" altLang="ko-KR" sz="500" dirty="0" smtClean="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전체 조회 가능</a:t>
                      </a:r>
                      <a:r>
                        <a:rPr lang="en-US" altLang="ko-KR" sz="500" dirty="0" smtClean="0">
                          <a:solidFill>
                            <a:schemeClr val="tx1"/>
                          </a:solidFill>
                        </a:rPr>
                        <a:t/>
                      </a:r>
                      <a:br>
                        <a:rPr lang="en-US" altLang="ko-KR" sz="500" dirty="0" smtClean="0">
                          <a:solidFill>
                            <a:schemeClr val="tx1"/>
                          </a:solidFill>
                        </a:rPr>
                      </a:br>
                      <a:r>
                        <a:rPr lang="en-US" altLang="ko-KR" sz="500" dirty="0" smtClean="0">
                          <a:solidFill>
                            <a:schemeClr val="tx1"/>
                          </a:solidFill>
                        </a:rPr>
                        <a:t>(</a:t>
                      </a:r>
                      <a:r>
                        <a:rPr lang="ko-KR" altLang="en-US" sz="500" dirty="0" err="1" smtClean="0">
                          <a:solidFill>
                            <a:schemeClr val="tx1"/>
                          </a:solidFill>
                        </a:rPr>
                        <a:t>마스킹</a:t>
                      </a:r>
                      <a:r>
                        <a:rPr lang="ko-KR" altLang="en-US" sz="500" dirty="0" smtClean="0">
                          <a:solidFill>
                            <a:schemeClr val="tx1"/>
                          </a:solidFill>
                        </a:rPr>
                        <a:t> 화면</a:t>
                      </a:r>
                      <a:r>
                        <a:rPr lang="en-US" altLang="ko-KR" sz="500" dirty="0" smtClean="0">
                          <a:solidFill>
                            <a:schemeClr val="tx1"/>
                          </a:solidFill>
                        </a:rPr>
                        <a:t>)</a:t>
                      </a: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개찰기간에만 조회 가능</a:t>
                      </a:r>
                      <a:endParaRPr lang="en-US" altLang="ko-KR" sz="500" dirty="0" smtClean="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4307469"/>
                  </a:ext>
                </a:extLst>
              </a:tr>
            </a:tbl>
          </a:graphicData>
        </a:graphic>
      </p:graphicFrame>
      <p:sp>
        <p:nvSpPr>
          <p:cNvPr id="110" name="사각형: 둥근 모서리 5">
            <a:extLst>
              <a:ext uri="{FF2B5EF4-FFF2-40B4-BE49-F238E27FC236}">
                <a16:creationId xmlns:a16="http://schemas.microsoft.com/office/drawing/2014/main" id="{410E5459-200D-7630-863C-88E5109259DF}"/>
              </a:ext>
            </a:extLst>
          </p:cNvPr>
          <p:cNvSpPr/>
          <p:nvPr/>
        </p:nvSpPr>
        <p:spPr>
          <a:xfrm>
            <a:off x="1839973" y="5440151"/>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생산능력서류제출</a:t>
            </a:r>
            <a:endParaRPr lang="ko-KR" altLang="en-US" sz="800" dirty="0">
              <a:solidFill>
                <a:schemeClr val="tx1"/>
              </a:solidFill>
            </a:endParaRPr>
          </a:p>
        </p:txBody>
      </p:sp>
      <p:cxnSp>
        <p:nvCxnSpPr>
          <p:cNvPr id="113" name="연결선: 꺾임 7">
            <a:extLst>
              <a:ext uri="{FF2B5EF4-FFF2-40B4-BE49-F238E27FC236}">
                <a16:creationId xmlns:a16="http://schemas.microsoft.com/office/drawing/2014/main" id="{89A2D828-4C18-4F90-6B31-722E89773AA8}"/>
              </a:ext>
            </a:extLst>
          </p:cNvPr>
          <p:cNvCxnSpPr>
            <a:cxnSpLocks/>
            <a:stCxn id="116" idx="2"/>
            <a:endCxn id="110" idx="1"/>
          </p:cNvCxnSpPr>
          <p:nvPr/>
        </p:nvCxnSpPr>
        <p:spPr>
          <a:xfrm rot="16200000" flipH="1">
            <a:off x="1507926" y="5252103"/>
            <a:ext cx="346047" cy="31804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연결선: 꺾임 7">
            <a:extLst>
              <a:ext uri="{FF2B5EF4-FFF2-40B4-BE49-F238E27FC236}">
                <a16:creationId xmlns:a16="http://schemas.microsoft.com/office/drawing/2014/main" id="{89A2D828-4C18-4F90-6B31-722E89773AA8}"/>
              </a:ext>
            </a:extLst>
          </p:cNvPr>
          <p:cNvCxnSpPr>
            <a:cxnSpLocks/>
            <a:stCxn id="110" idx="0"/>
            <a:endCxn id="147" idx="2"/>
          </p:cNvCxnSpPr>
          <p:nvPr/>
        </p:nvCxnSpPr>
        <p:spPr>
          <a:xfrm rot="5400000" flipH="1" flipV="1">
            <a:off x="2417501" y="4966577"/>
            <a:ext cx="346047" cy="601103"/>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0" name="사각형: 둥근 모서리 5">
            <a:extLst>
              <a:ext uri="{FF2B5EF4-FFF2-40B4-BE49-F238E27FC236}">
                <a16:creationId xmlns:a16="http://schemas.microsoft.com/office/drawing/2014/main" id="{410E5459-200D-7630-863C-88E5109259DF}"/>
              </a:ext>
            </a:extLst>
          </p:cNvPr>
          <p:cNvSpPr/>
          <p:nvPr/>
        </p:nvSpPr>
        <p:spPr>
          <a:xfrm>
            <a:off x="1833733" y="390902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신청</a:t>
            </a:r>
            <a:r>
              <a:rPr lang="en-US" altLang="ko-KR" sz="800" dirty="0" smtClean="0">
                <a:solidFill>
                  <a:schemeClr val="tx1"/>
                </a:solidFill>
              </a:rPr>
              <a:t>, </a:t>
            </a:r>
            <a:r>
              <a:rPr lang="ko-KR" altLang="en-US" sz="800" dirty="0" smtClean="0">
                <a:solidFill>
                  <a:schemeClr val="tx1"/>
                </a:solidFill>
              </a:rPr>
              <a:t>조회</a:t>
            </a:r>
            <a:endParaRPr lang="ko-KR" altLang="en-US" sz="800" dirty="0">
              <a:solidFill>
                <a:schemeClr val="tx1"/>
              </a:solidFill>
            </a:endParaRPr>
          </a:p>
        </p:txBody>
      </p:sp>
      <p:sp>
        <p:nvSpPr>
          <p:cNvPr id="121" name="사각형: 둥근 모서리 5">
            <a:extLst>
              <a:ext uri="{FF2B5EF4-FFF2-40B4-BE49-F238E27FC236}">
                <a16:creationId xmlns:a16="http://schemas.microsoft.com/office/drawing/2014/main" id="{410E5459-200D-7630-863C-88E5109259DF}"/>
              </a:ext>
            </a:extLst>
          </p:cNvPr>
          <p:cNvSpPr/>
          <p:nvPr/>
        </p:nvSpPr>
        <p:spPr>
          <a:xfrm>
            <a:off x="1833733" y="4393835"/>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취소</a:t>
            </a:r>
            <a:r>
              <a:rPr lang="en-US" altLang="ko-KR" sz="800" dirty="0" smtClean="0">
                <a:solidFill>
                  <a:schemeClr val="tx1"/>
                </a:solidFill>
              </a:rPr>
              <a:t>, </a:t>
            </a:r>
            <a:r>
              <a:rPr lang="ko-KR" altLang="en-US" sz="800" dirty="0" smtClean="0">
                <a:solidFill>
                  <a:schemeClr val="tx1"/>
                </a:solidFill>
              </a:rPr>
              <a:t>포기</a:t>
            </a:r>
            <a:endParaRPr lang="ko-KR" altLang="en-US" sz="800" dirty="0">
              <a:solidFill>
                <a:schemeClr val="tx1"/>
              </a:solidFill>
            </a:endParaRPr>
          </a:p>
        </p:txBody>
      </p:sp>
      <p:cxnSp>
        <p:nvCxnSpPr>
          <p:cNvPr id="156" name="연결선: 꺾임 7">
            <a:extLst>
              <a:ext uri="{FF2B5EF4-FFF2-40B4-BE49-F238E27FC236}">
                <a16:creationId xmlns:a16="http://schemas.microsoft.com/office/drawing/2014/main" id="{89A2D828-4C18-4F90-6B31-722E89773AA8}"/>
              </a:ext>
            </a:extLst>
          </p:cNvPr>
          <p:cNvCxnSpPr>
            <a:cxnSpLocks/>
            <a:stCxn id="111" idx="2"/>
            <a:endCxn id="120" idx="1"/>
          </p:cNvCxnSpPr>
          <p:nvPr/>
        </p:nvCxnSpPr>
        <p:spPr>
          <a:xfrm rot="16200000" flipH="1">
            <a:off x="1543341" y="3762632"/>
            <a:ext cx="268976" cy="31180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0" name="연결선: 꺾임 7">
            <a:extLst>
              <a:ext uri="{FF2B5EF4-FFF2-40B4-BE49-F238E27FC236}">
                <a16:creationId xmlns:a16="http://schemas.microsoft.com/office/drawing/2014/main" id="{89A2D828-4C18-4F90-6B31-722E89773AA8}"/>
              </a:ext>
            </a:extLst>
          </p:cNvPr>
          <p:cNvCxnSpPr>
            <a:cxnSpLocks/>
            <a:stCxn id="111" idx="2"/>
            <a:endCxn id="121" idx="1"/>
          </p:cNvCxnSpPr>
          <p:nvPr/>
        </p:nvCxnSpPr>
        <p:spPr>
          <a:xfrm rot="16200000" flipH="1">
            <a:off x="1300936" y="4005037"/>
            <a:ext cx="753787" cy="31180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연결선: 꺾임 7">
            <a:extLst>
              <a:ext uri="{FF2B5EF4-FFF2-40B4-BE49-F238E27FC236}">
                <a16:creationId xmlns:a16="http://schemas.microsoft.com/office/drawing/2014/main" id="{89A2D828-4C18-4F90-6B31-722E89773AA8}"/>
              </a:ext>
            </a:extLst>
          </p:cNvPr>
          <p:cNvCxnSpPr>
            <a:cxnSpLocks/>
            <a:stCxn id="121" idx="3"/>
            <a:endCxn id="147" idx="0"/>
          </p:cNvCxnSpPr>
          <p:nvPr/>
        </p:nvCxnSpPr>
        <p:spPr>
          <a:xfrm>
            <a:off x="2733733" y="4537835"/>
            <a:ext cx="247343" cy="466269"/>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연결선: 꺾임 7">
            <a:extLst>
              <a:ext uri="{FF2B5EF4-FFF2-40B4-BE49-F238E27FC236}">
                <a16:creationId xmlns:a16="http://schemas.microsoft.com/office/drawing/2014/main" id="{89A2D828-4C18-4F90-6B31-722E89773AA8}"/>
              </a:ext>
            </a:extLst>
          </p:cNvPr>
          <p:cNvCxnSpPr>
            <a:cxnSpLocks/>
            <a:stCxn id="120" idx="3"/>
            <a:endCxn id="147" idx="0"/>
          </p:cNvCxnSpPr>
          <p:nvPr/>
        </p:nvCxnSpPr>
        <p:spPr>
          <a:xfrm>
            <a:off x="2733733" y="4053024"/>
            <a:ext cx="247343" cy="95108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67" name="그룹 166"/>
          <p:cNvGrpSpPr/>
          <p:nvPr/>
        </p:nvGrpSpPr>
        <p:grpSpPr>
          <a:xfrm>
            <a:off x="8223250" y="797009"/>
            <a:ext cx="3365500" cy="219465"/>
            <a:chOff x="8223250" y="569392"/>
            <a:chExt cx="3365500" cy="219465"/>
          </a:xfrm>
        </p:grpSpPr>
        <p:sp>
          <p:nvSpPr>
            <p:cNvPr id="168" name="직사각형 16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2026-08-14 </a:t>
              </a:r>
              <a:r>
                <a:rPr lang="ko-KR" altLang="en-US" dirty="0" smtClean="0"/>
                <a:t>화면 수정</a:t>
              </a:r>
              <a:endParaRPr lang="ko-KR" altLang="en-US" dirty="0"/>
            </a:p>
          </p:txBody>
        </p:sp>
        <p:sp>
          <p:nvSpPr>
            <p:cNvPr id="170" name="직사각형 169"/>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흐름도 수정</a:t>
              </a:r>
              <a:endParaRPr lang="ko-KR" altLang="en-US" sz="700" dirty="0"/>
            </a:p>
          </p:txBody>
        </p:sp>
      </p:grpSp>
      <p:cxnSp>
        <p:nvCxnSpPr>
          <p:cNvPr id="171" name="직선 화살표 연결선 170">
            <a:extLst>
              <a:ext uri="{FF2B5EF4-FFF2-40B4-BE49-F238E27FC236}">
                <a16:creationId xmlns:a16="http://schemas.microsoft.com/office/drawing/2014/main" id="{9A519F08-B829-E35F-09D8-DFCD1F68B911}"/>
              </a:ext>
            </a:extLst>
          </p:cNvPr>
          <p:cNvCxnSpPr>
            <a:cxnSpLocks/>
            <a:stCxn id="140" idx="3"/>
            <a:endCxn id="161" idx="1"/>
          </p:cNvCxnSpPr>
          <p:nvPr/>
        </p:nvCxnSpPr>
        <p:spPr>
          <a:xfrm flipV="1">
            <a:off x="6926561" y="3364571"/>
            <a:ext cx="561034" cy="698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2" name="직사각형 171">
            <a:extLst>
              <a:ext uri="{FF2B5EF4-FFF2-40B4-BE49-F238E27FC236}">
                <a16:creationId xmlns:a16="http://schemas.microsoft.com/office/drawing/2014/main" id="{F249990F-1DE5-C694-BDBD-2DE7009D57EA}"/>
              </a:ext>
            </a:extLst>
          </p:cNvPr>
          <p:cNvSpPr/>
          <p:nvPr/>
        </p:nvSpPr>
        <p:spPr>
          <a:xfrm>
            <a:off x="1077502" y="4801626"/>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모든 사용자에게 공개</a:t>
            </a:r>
            <a:endParaRPr lang="ko-KR" altLang="en-US" sz="800" dirty="0">
              <a:solidFill>
                <a:srgbClr val="FF0000"/>
              </a:solidFill>
            </a:endParaRPr>
          </a:p>
        </p:txBody>
      </p:sp>
      <p:sp>
        <p:nvSpPr>
          <p:cNvPr id="174" name="직사각형 173">
            <a:extLst>
              <a:ext uri="{FF2B5EF4-FFF2-40B4-BE49-F238E27FC236}">
                <a16:creationId xmlns:a16="http://schemas.microsoft.com/office/drawing/2014/main" id="{F249990F-1DE5-C694-BDBD-2DE7009D57EA}"/>
              </a:ext>
            </a:extLst>
          </p:cNvPr>
          <p:cNvSpPr/>
          <p:nvPr/>
        </p:nvSpPr>
        <p:spPr>
          <a:xfrm>
            <a:off x="1077502" y="1475600"/>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모든 사용자에게 공개</a:t>
            </a:r>
            <a:endParaRPr lang="ko-KR" altLang="en-US" sz="800" dirty="0">
              <a:solidFill>
                <a:srgbClr val="FF0000"/>
              </a:solidFill>
            </a:endParaRPr>
          </a:p>
        </p:txBody>
      </p:sp>
    </p:spTree>
    <p:extLst>
      <p:ext uri="{BB962C8B-B14F-4D97-AF65-F5344CB8AC3E}">
        <p14:creationId xmlns:p14="http://schemas.microsoft.com/office/powerpoint/2010/main" val="104576532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058222"/>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058222"/>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smtClean="0"/>
              <a:t>화면 영역</a:t>
            </a:r>
            <a:endParaRPr lang="ko-KR" altLang="en-US" sz="1400" dirty="0"/>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14</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1.3 </a:t>
            </a:r>
            <a:r>
              <a:rPr lang="ko-KR" altLang="en-US" dirty="0"/>
              <a:t>앱 구성 다이어그램</a:t>
            </a: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44139"/>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1050" dirty="0">
                <a:solidFill>
                  <a:schemeClr val="tx1"/>
                </a:solidFill>
              </a:rPr>
              <a:t>&lt;&lt;App Page&gt;&gt;</a:t>
            </a:r>
          </a:p>
          <a:p>
            <a:pPr algn="ctr"/>
            <a:r>
              <a:rPr lang="ko-KR" altLang="en-US" sz="1050" dirty="0">
                <a:latin typeface="+mn-ea"/>
              </a:rPr>
              <a:t>입찰공고통합목록</a:t>
            </a:r>
            <a:endParaRPr lang="en-US" altLang="ko-KR" sz="1050" dirty="0">
              <a:solidFill>
                <a:schemeClr val="tx1"/>
              </a:solidFill>
            </a:endParaRPr>
          </a:p>
          <a:p>
            <a:pPr algn="ctr"/>
            <a:r>
              <a:rPr lang="en-US" altLang="ko-KR" sz="1050" dirty="0" err="1">
                <a:solidFill>
                  <a:schemeClr val="tx1"/>
                </a:solidFill>
              </a:rPr>
              <a:t>BidPbancIntgListPage.tsx</a:t>
            </a:r>
            <a:r>
              <a:rPr lang="en-US" altLang="ko-KR" sz="1050" b="1" baseline="30000" dirty="0">
                <a:solidFill>
                  <a:schemeClr val="tx1"/>
                </a:solidFill>
                <a:latin typeface="+mn-ea"/>
              </a:rPr>
              <a:t> 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322217"/>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lnSpcReduction="10000"/>
          </a:bodyPr>
          <a:lstStyle/>
          <a:p>
            <a:pPr algn="ctr"/>
            <a:r>
              <a:rPr lang="en-US" altLang="ko-KR" sz="1050" dirty="0">
                <a:solidFill>
                  <a:schemeClr val="tx1"/>
                </a:solidFill>
              </a:rPr>
              <a:t>&lt;&lt;App Page&gt;&gt;</a:t>
            </a:r>
          </a:p>
          <a:p>
            <a:pPr algn="ctr"/>
            <a:r>
              <a:rPr lang="ko-KR" altLang="en-US" sz="1050" dirty="0" err="1">
                <a:solidFill>
                  <a:schemeClr val="tx1"/>
                </a:solidFill>
              </a:rPr>
              <a:t>검색필터</a:t>
            </a:r>
            <a:r>
              <a:rPr lang="en-US" altLang="ko-KR" sz="1050" dirty="0">
                <a:solidFill>
                  <a:schemeClr val="tx1"/>
                </a:solidFill>
              </a:rPr>
              <a:t>-</a:t>
            </a:r>
            <a:r>
              <a:rPr lang="ko-KR" altLang="en-US" sz="1050" dirty="0">
                <a:solidFill>
                  <a:schemeClr val="tx1"/>
                </a:solidFill>
              </a:rPr>
              <a:t>입찰공고</a:t>
            </a:r>
            <a:endParaRPr lang="en-US" altLang="ko-KR" sz="1050" dirty="0">
              <a:solidFill>
                <a:schemeClr val="tx1"/>
              </a:solidFill>
            </a:endParaRPr>
          </a:p>
          <a:p>
            <a:pPr algn="ctr"/>
            <a:r>
              <a:rPr lang="en-US" altLang="ko-KR" sz="800" dirty="0" err="1">
                <a:solidFill>
                  <a:schemeClr val="tx1"/>
                </a:solidFill>
              </a:rPr>
              <a:t>BidPbancIntgList_SrchFilter.tsx</a:t>
            </a:r>
            <a:r>
              <a:rPr lang="en-US" altLang="ko-KR" sz="800" b="1" baseline="30000" dirty="0">
                <a:solidFill>
                  <a:schemeClr val="tx1"/>
                </a:solidFill>
                <a:latin typeface="+mn-ea"/>
              </a:rPr>
              <a:t> 1</a:t>
            </a:r>
            <a:r>
              <a:rPr lang="en-US" altLang="ko-KR" sz="1050" b="1" baseline="30000" dirty="0">
                <a:solidFill>
                  <a:schemeClr val="tx1"/>
                </a:solidFill>
                <a:latin typeface="+mn-ea"/>
              </a:rPr>
              <a:t>)</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3000295"/>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lnSpcReduction="10000"/>
          </a:bodyPr>
          <a:lstStyle/>
          <a:p>
            <a:pPr algn="ctr"/>
            <a:r>
              <a:rPr lang="en-US" altLang="ko-KR" sz="1050" dirty="0">
                <a:solidFill>
                  <a:schemeClr val="tx1"/>
                </a:solidFill>
              </a:rPr>
              <a:t>&lt;&lt;App Page&gt;&gt;</a:t>
            </a:r>
          </a:p>
          <a:p>
            <a:pPr algn="ctr"/>
            <a:r>
              <a:rPr lang="ko-KR" altLang="en-US" sz="1050" dirty="0" err="1">
                <a:solidFill>
                  <a:schemeClr val="tx1"/>
                </a:solidFill>
                <a:latin typeface="+mn-ea"/>
              </a:rPr>
              <a:t>지역검색</a:t>
            </a:r>
            <a:endParaRPr lang="en-US" altLang="ko-KR" sz="1050" dirty="0">
              <a:solidFill>
                <a:schemeClr val="tx1"/>
              </a:solidFill>
            </a:endParaRPr>
          </a:p>
          <a:p>
            <a:pPr algn="ctr"/>
            <a:r>
              <a:rPr lang="en-US" altLang="ko-KR" sz="1050" dirty="0" err="1">
                <a:solidFill>
                  <a:schemeClr val="tx1"/>
                </a:solidFill>
              </a:rPr>
              <a:t>RgnSrch.tsx</a:t>
            </a:r>
            <a:r>
              <a:rPr lang="en-US" altLang="ko-KR" sz="1050" b="1" baseline="30000" dirty="0">
                <a:solidFill>
                  <a:schemeClr val="tx1"/>
                </a:solidFill>
                <a:latin typeface="+mn-ea"/>
              </a:rPr>
              <a:t> 1)</a:t>
            </a:r>
            <a:endParaRPr lang="en-US" altLang="ko-KR" sz="105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907148"/>
            <a:ext cx="967509" cy="10830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585226"/>
            <a:ext cx="967509" cy="4049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27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8" name="직사각형 17">
            <a:extLst>
              <a:ext uri="{FF2B5EF4-FFF2-40B4-BE49-F238E27FC236}">
                <a16:creationId xmlns:a16="http://schemas.microsoft.com/office/drawing/2014/main" id="{326CB017-8967-4DC4-0EAD-ADB3B9EAB841}"/>
              </a:ext>
            </a:extLst>
          </p:cNvPr>
          <p:cNvSpPr/>
          <p:nvPr/>
        </p:nvSpPr>
        <p:spPr>
          <a:xfrm>
            <a:off x="1265382" y="3678373"/>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lnSpcReduction="10000"/>
          </a:bodyPr>
          <a:lstStyle/>
          <a:p>
            <a:pPr algn="ctr"/>
            <a:r>
              <a:rPr lang="en-US" altLang="ko-KR" sz="1050" dirty="0">
                <a:solidFill>
                  <a:schemeClr val="tx1"/>
                </a:solidFill>
              </a:rPr>
              <a:t>&lt;&lt;App Page&gt;&gt;</a:t>
            </a:r>
          </a:p>
          <a:p>
            <a:pPr algn="ctr"/>
            <a:r>
              <a:rPr lang="ko-KR" altLang="en-US" sz="1050" dirty="0" err="1">
                <a:solidFill>
                  <a:schemeClr val="tx1"/>
                </a:solidFill>
                <a:latin typeface="+mn-ea"/>
              </a:rPr>
              <a:t>발주부서</a:t>
            </a:r>
            <a:r>
              <a:rPr lang="en-US" altLang="ko-KR" sz="1050" dirty="0">
                <a:solidFill>
                  <a:schemeClr val="tx1"/>
                </a:solidFill>
                <a:latin typeface="+mn-ea"/>
              </a:rPr>
              <a:t>(</a:t>
            </a:r>
            <a:r>
              <a:rPr lang="ko-KR" altLang="en-US" sz="1050" dirty="0">
                <a:solidFill>
                  <a:schemeClr val="tx1"/>
                </a:solidFill>
                <a:latin typeface="+mn-ea"/>
              </a:rPr>
              <a:t>기관</a:t>
            </a:r>
            <a:r>
              <a:rPr lang="en-US" altLang="ko-KR" sz="1050" dirty="0">
                <a:solidFill>
                  <a:schemeClr val="tx1"/>
                </a:solidFill>
                <a:latin typeface="+mn-ea"/>
              </a:rPr>
              <a:t>)</a:t>
            </a:r>
            <a:r>
              <a:rPr lang="ko-KR" altLang="en-US" sz="1050" dirty="0">
                <a:solidFill>
                  <a:schemeClr val="tx1"/>
                </a:solidFill>
                <a:latin typeface="+mn-ea"/>
              </a:rPr>
              <a:t>검색</a:t>
            </a:r>
            <a:endParaRPr lang="en-US" altLang="ko-KR" sz="1050" dirty="0">
              <a:solidFill>
                <a:schemeClr val="tx1"/>
              </a:solidFill>
            </a:endParaRPr>
          </a:p>
          <a:p>
            <a:pPr algn="ctr"/>
            <a:r>
              <a:rPr lang="en-US" altLang="ko-KR" sz="1050" dirty="0" err="1">
                <a:solidFill>
                  <a:schemeClr val="tx1"/>
                </a:solidFill>
              </a:rPr>
              <a:t>OrderDeptSrch.tsx</a:t>
            </a:r>
            <a:r>
              <a:rPr lang="en-US" altLang="ko-KR" sz="1050" b="1" baseline="30000" dirty="0">
                <a:solidFill>
                  <a:schemeClr val="tx1"/>
                </a:solidFill>
                <a:latin typeface="+mn-ea"/>
              </a:rPr>
              <a:t> 1)</a:t>
            </a:r>
            <a:endParaRPr lang="en-US" altLang="ko-KR" sz="1050" dirty="0">
              <a:solidFill>
                <a:schemeClr val="tx1"/>
              </a:solidFill>
            </a:endParaRPr>
          </a:p>
        </p:txBody>
      </p:sp>
      <p:sp>
        <p:nvSpPr>
          <p:cNvPr id="20" name="직사각형 19">
            <a:extLst>
              <a:ext uri="{FF2B5EF4-FFF2-40B4-BE49-F238E27FC236}">
                <a16:creationId xmlns:a16="http://schemas.microsoft.com/office/drawing/2014/main" id="{326CB017-8967-4DC4-0EAD-ADB3B9EAB841}"/>
              </a:ext>
            </a:extLst>
          </p:cNvPr>
          <p:cNvSpPr/>
          <p:nvPr/>
        </p:nvSpPr>
        <p:spPr>
          <a:xfrm>
            <a:off x="1265382" y="4356451"/>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lnSpcReduction="1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면허정보검색</a:t>
            </a:r>
            <a:endParaRPr lang="en-US" altLang="ko-KR" sz="1050" dirty="0">
              <a:solidFill>
                <a:schemeClr val="tx1"/>
              </a:solidFill>
            </a:endParaRPr>
          </a:p>
          <a:p>
            <a:pPr algn="ctr"/>
            <a:r>
              <a:rPr lang="en-US" altLang="ko-KR" sz="1050" dirty="0" err="1">
                <a:solidFill>
                  <a:schemeClr val="tx1"/>
                </a:solidFill>
              </a:rPr>
              <a:t>LcnsInfoSrch.tsx</a:t>
            </a:r>
            <a:r>
              <a:rPr lang="en-US" altLang="ko-KR" sz="1050" b="1" baseline="30000" dirty="0">
                <a:solidFill>
                  <a:schemeClr val="tx1"/>
                </a:solidFill>
                <a:latin typeface="+mn-ea"/>
              </a:rPr>
              <a:t> 1)</a:t>
            </a:r>
            <a:endParaRPr lang="en-US" altLang="ko-KR" sz="1050" dirty="0">
              <a:solidFill>
                <a:schemeClr val="tx1"/>
              </a:solidFill>
            </a:endParaRPr>
          </a:p>
        </p:txBody>
      </p:sp>
      <p:sp>
        <p:nvSpPr>
          <p:cNvPr id="22" name="직사각형 21">
            <a:extLst>
              <a:ext uri="{FF2B5EF4-FFF2-40B4-BE49-F238E27FC236}">
                <a16:creationId xmlns:a16="http://schemas.microsoft.com/office/drawing/2014/main" id="{326CB017-8967-4DC4-0EAD-ADB3B9EAB841}"/>
              </a:ext>
            </a:extLst>
          </p:cNvPr>
          <p:cNvSpPr/>
          <p:nvPr/>
        </p:nvSpPr>
        <p:spPr>
          <a:xfrm>
            <a:off x="1265382" y="5034529"/>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lnSpcReduction="10000"/>
          </a:bodyPr>
          <a:lstStyle/>
          <a:p>
            <a:pPr algn="ctr"/>
            <a:r>
              <a:rPr lang="en-US" altLang="ko-KR" sz="1050" dirty="0">
                <a:solidFill>
                  <a:schemeClr val="tx1"/>
                </a:solidFill>
              </a:rPr>
              <a:t>&lt;&lt;App Page&gt;&gt;</a:t>
            </a:r>
          </a:p>
          <a:p>
            <a:pPr algn="ctr"/>
            <a:r>
              <a:rPr lang="ko-KR" altLang="en-US" sz="1050" dirty="0" err="1" smtClean="0">
                <a:solidFill>
                  <a:schemeClr val="tx1"/>
                </a:solidFill>
                <a:latin typeface="+mn-ea"/>
              </a:rPr>
              <a:t>날짜설정</a:t>
            </a:r>
            <a:endParaRPr lang="en-US" altLang="ko-KR" sz="1050" dirty="0">
              <a:solidFill>
                <a:schemeClr val="tx1"/>
              </a:solidFill>
            </a:endParaRPr>
          </a:p>
          <a:p>
            <a:pPr algn="ctr"/>
            <a:r>
              <a:rPr lang="en-US" altLang="ko-KR" sz="1050" dirty="0" err="1">
                <a:solidFill>
                  <a:schemeClr val="tx1"/>
                </a:solidFill>
                <a:latin typeface="+mn-ea"/>
              </a:rPr>
              <a:t>DateInput</a:t>
            </a:r>
            <a:r>
              <a:rPr lang="en-US" altLang="ko-KR" sz="1050" dirty="0" err="1">
                <a:solidFill>
                  <a:schemeClr val="tx1"/>
                </a:solidFill>
              </a:rPr>
              <a:t>.tsx</a:t>
            </a:r>
            <a:r>
              <a:rPr lang="en-US" altLang="ko-KR" sz="1050" b="1" baseline="30000" dirty="0">
                <a:solidFill>
                  <a:schemeClr val="tx1"/>
                </a:solidFill>
                <a:latin typeface="+mn-ea"/>
              </a:rPr>
              <a:t> 1)</a:t>
            </a:r>
            <a:endParaRPr lang="en-US" altLang="ko-KR" sz="1050" dirty="0">
              <a:solidFill>
                <a:schemeClr val="tx1"/>
              </a:solidFill>
            </a:endParaRPr>
          </a:p>
        </p:txBody>
      </p:sp>
      <p:cxnSp>
        <p:nvCxnSpPr>
          <p:cNvPr id="32" name="직선 화살표 연결선 31">
            <a:extLst>
              <a:ext uri="{FF2B5EF4-FFF2-40B4-BE49-F238E27FC236}">
                <a16:creationId xmlns:a16="http://schemas.microsoft.com/office/drawing/2014/main" id="{418E1257-E5C2-5705-1378-45505004ABAF}"/>
              </a:ext>
            </a:extLst>
          </p:cNvPr>
          <p:cNvCxnSpPr>
            <a:cxnSpLocks/>
            <a:stCxn id="18" idx="3"/>
            <a:endCxn id="9" idx="1"/>
          </p:cNvCxnSpPr>
          <p:nvPr/>
        </p:nvCxnSpPr>
        <p:spPr>
          <a:xfrm flipV="1">
            <a:off x="2992582" y="2990174"/>
            <a:ext cx="967509" cy="9512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직선 화살표 연결선 34">
            <a:extLst>
              <a:ext uri="{FF2B5EF4-FFF2-40B4-BE49-F238E27FC236}">
                <a16:creationId xmlns:a16="http://schemas.microsoft.com/office/drawing/2014/main" id="{418E1257-E5C2-5705-1378-45505004ABAF}"/>
              </a:ext>
            </a:extLst>
          </p:cNvPr>
          <p:cNvCxnSpPr>
            <a:cxnSpLocks/>
            <a:stCxn id="20" idx="3"/>
            <a:endCxn id="9" idx="1"/>
          </p:cNvCxnSpPr>
          <p:nvPr/>
        </p:nvCxnSpPr>
        <p:spPr>
          <a:xfrm flipV="1">
            <a:off x="2992582" y="2990174"/>
            <a:ext cx="967509" cy="1629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직선 화살표 연결선 37">
            <a:extLst>
              <a:ext uri="{FF2B5EF4-FFF2-40B4-BE49-F238E27FC236}">
                <a16:creationId xmlns:a16="http://schemas.microsoft.com/office/drawing/2014/main" id="{418E1257-E5C2-5705-1378-45505004ABAF}"/>
              </a:ext>
            </a:extLst>
          </p:cNvPr>
          <p:cNvCxnSpPr>
            <a:cxnSpLocks/>
            <a:stCxn id="22" idx="3"/>
            <a:endCxn id="9" idx="1"/>
          </p:cNvCxnSpPr>
          <p:nvPr/>
        </p:nvCxnSpPr>
        <p:spPr>
          <a:xfrm flipV="1">
            <a:off x="2992582" y="2990174"/>
            <a:ext cx="967509" cy="23073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36233254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15</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1.2. </a:t>
            </a:r>
            <a:r>
              <a:rPr lang="ko-KR" altLang="en-US" dirty="0" smtClean="0"/>
              <a:t>입찰공고상세 흐름도</a:t>
            </a:r>
            <a:endParaRPr lang="ko-KR" altLang="en-US" dirty="0"/>
          </a:p>
        </p:txBody>
      </p:sp>
      <p:sp>
        <p:nvSpPr>
          <p:cNvPr id="110" name="직사각형 109">
            <a:extLst>
              <a:ext uri="{FF2B5EF4-FFF2-40B4-BE49-F238E27FC236}">
                <a16:creationId xmlns:a16="http://schemas.microsoft.com/office/drawing/2014/main" id="{8617D047-5413-1F47-3FD7-CCCD3C0C98ED}"/>
              </a:ext>
            </a:extLst>
          </p:cNvPr>
          <p:cNvSpPr/>
          <p:nvPr/>
        </p:nvSpPr>
        <p:spPr>
          <a:xfrm>
            <a:off x="567521" y="1096397"/>
            <a:ext cx="692021" cy="16408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grpSp>
        <p:nvGrpSpPr>
          <p:cNvPr id="113" name="그룹 112">
            <a:extLst>
              <a:ext uri="{FF2B5EF4-FFF2-40B4-BE49-F238E27FC236}">
                <a16:creationId xmlns:a16="http://schemas.microsoft.com/office/drawing/2014/main" id="{4256C95A-5B12-C9E0-F2B5-BC9D5BAB5422}"/>
              </a:ext>
            </a:extLst>
          </p:cNvPr>
          <p:cNvGrpSpPr/>
          <p:nvPr/>
        </p:nvGrpSpPr>
        <p:grpSpPr>
          <a:xfrm>
            <a:off x="493265" y="1378243"/>
            <a:ext cx="280718" cy="337979"/>
            <a:chOff x="4762389" y="1663914"/>
            <a:chExt cx="237994" cy="316983"/>
          </a:xfrm>
        </p:grpSpPr>
        <p:sp>
          <p:nvSpPr>
            <p:cNvPr id="114" name="타원 113">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직사각형 114">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120" name="연결선: 꺾임 7">
            <a:extLst>
              <a:ext uri="{FF2B5EF4-FFF2-40B4-BE49-F238E27FC236}">
                <a16:creationId xmlns:a16="http://schemas.microsoft.com/office/drawing/2014/main" id="{89A2D828-4C18-4F90-6B31-722E89773AA8}"/>
              </a:ext>
            </a:extLst>
          </p:cNvPr>
          <p:cNvCxnSpPr>
            <a:cxnSpLocks/>
            <a:stCxn id="114" idx="6"/>
            <a:endCxn id="126" idx="1"/>
          </p:cNvCxnSpPr>
          <p:nvPr/>
        </p:nvCxnSpPr>
        <p:spPr>
          <a:xfrm>
            <a:off x="737260" y="1474205"/>
            <a:ext cx="176273" cy="697442"/>
          </a:xfrm>
          <a:prstGeom prst="bentConnector3">
            <a:avLst>
              <a:gd name="adj1" fmla="val 2908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1" name="사각형: 둥근 모서리 5">
            <a:extLst>
              <a:ext uri="{FF2B5EF4-FFF2-40B4-BE49-F238E27FC236}">
                <a16:creationId xmlns:a16="http://schemas.microsoft.com/office/drawing/2014/main" id="{410E5459-200D-7630-863C-88E5109259DF}"/>
              </a:ext>
            </a:extLst>
          </p:cNvPr>
          <p:cNvSpPr/>
          <p:nvPr/>
        </p:nvSpPr>
        <p:spPr>
          <a:xfrm>
            <a:off x="2833832" y="4807373"/>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사전심사요청공고</a:t>
            </a:r>
            <a:endParaRPr lang="ko-KR" altLang="en-US" sz="600" dirty="0">
              <a:solidFill>
                <a:schemeClr val="tx1"/>
              </a:solidFill>
            </a:endParaRPr>
          </a:p>
        </p:txBody>
      </p:sp>
      <p:sp>
        <p:nvSpPr>
          <p:cNvPr id="124" name="사각형: 둥근 모서리 5">
            <a:extLst>
              <a:ext uri="{FF2B5EF4-FFF2-40B4-BE49-F238E27FC236}">
                <a16:creationId xmlns:a16="http://schemas.microsoft.com/office/drawing/2014/main" id="{410E5459-200D-7630-863C-88E5109259DF}"/>
              </a:ext>
            </a:extLst>
          </p:cNvPr>
          <p:cNvSpPr/>
          <p:nvPr/>
        </p:nvSpPr>
        <p:spPr>
          <a:xfrm>
            <a:off x="2833832" y="5482774"/>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기술평가요청공고</a:t>
            </a:r>
            <a:endParaRPr lang="ko-KR" altLang="en-US" sz="600" dirty="0">
              <a:solidFill>
                <a:schemeClr val="tx1"/>
              </a:solidFill>
            </a:endParaRPr>
          </a:p>
        </p:txBody>
      </p:sp>
      <p:sp>
        <p:nvSpPr>
          <p:cNvPr id="126" name="다이아몬드 125"/>
          <p:cNvSpPr/>
          <p:nvPr/>
        </p:nvSpPr>
        <p:spPr>
          <a:xfrm>
            <a:off x="913533" y="1792637"/>
            <a:ext cx="838550" cy="758018"/>
          </a:xfrm>
          <a:prstGeom prst="diamond">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6" name="사각형: 둥근 모서리 5">
            <a:extLst>
              <a:ext uri="{FF2B5EF4-FFF2-40B4-BE49-F238E27FC236}">
                <a16:creationId xmlns:a16="http://schemas.microsoft.com/office/drawing/2014/main" id="{410E5459-200D-7630-863C-88E5109259DF}"/>
              </a:ext>
            </a:extLst>
          </p:cNvPr>
          <p:cNvSpPr/>
          <p:nvPr/>
        </p:nvSpPr>
        <p:spPr>
          <a:xfrm>
            <a:off x="929218" y="2048453"/>
            <a:ext cx="817199" cy="23638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입찰공고상세</a:t>
            </a:r>
            <a:endParaRPr lang="ko-KR" altLang="en-US" sz="600" dirty="0">
              <a:solidFill>
                <a:schemeClr val="tx1"/>
              </a:solidFill>
            </a:endParaRPr>
          </a:p>
        </p:txBody>
      </p:sp>
      <p:cxnSp>
        <p:nvCxnSpPr>
          <p:cNvPr id="160" name="꺾인 연결선 159"/>
          <p:cNvCxnSpPr>
            <a:stCxn id="126" idx="3"/>
            <a:endCxn id="171" idx="1"/>
          </p:cNvCxnSpPr>
          <p:nvPr/>
        </p:nvCxnSpPr>
        <p:spPr>
          <a:xfrm flipV="1">
            <a:off x="1752083" y="1946176"/>
            <a:ext cx="1081749" cy="225470"/>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162" name="꺾인 연결선 161"/>
          <p:cNvCxnSpPr>
            <a:endCxn id="167" idx="1"/>
          </p:cNvCxnSpPr>
          <p:nvPr/>
        </p:nvCxnSpPr>
        <p:spPr>
          <a:xfrm rot="16200000" flipH="1">
            <a:off x="2071872" y="2389136"/>
            <a:ext cx="971247" cy="55267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64" name="꺾인 연결선 163"/>
          <p:cNvCxnSpPr>
            <a:stCxn id="156" idx="3"/>
            <a:endCxn id="124" idx="1"/>
          </p:cNvCxnSpPr>
          <p:nvPr/>
        </p:nvCxnSpPr>
        <p:spPr>
          <a:xfrm>
            <a:off x="1746417" y="2166648"/>
            <a:ext cx="1087415" cy="3469665"/>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sp>
        <p:nvSpPr>
          <p:cNvPr id="167" name="사각형: 둥근 모서리 5">
            <a:extLst>
              <a:ext uri="{FF2B5EF4-FFF2-40B4-BE49-F238E27FC236}">
                <a16:creationId xmlns:a16="http://schemas.microsoft.com/office/drawing/2014/main" id="{410E5459-200D-7630-863C-88E5109259DF}"/>
              </a:ext>
            </a:extLst>
          </p:cNvPr>
          <p:cNvSpPr/>
          <p:nvPr/>
        </p:nvSpPr>
        <p:spPr>
          <a:xfrm>
            <a:off x="2833832" y="2997558"/>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입찰참가신청</a:t>
            </a:r>
            <a:endParaRPr lang="en-US" altLang="ko-KR" sz="600" dirty="0" smtClean="0">
              <a:solidFill>
                <a:schemeClr val="tx1"/>
              </a:solidFill>
            </a:endParaRPr>
          </a:p>
          <a:p>
            <a:pPr algn="ctr"/>
            <a:r>
              <a:rPr lang="ko-KR" altLang="en-US" sz="600" dirty="0" err="1" smtClean="0">
                <a:solidFill>
                  <a:schemeClr val="tx1"/>
                </a:solidFill>
              </a:rPr>
              <a:t>요청공고</a:t>
            </a:r>
            <a:endParaRPr lang="ko-KR" altLang="en-US" sz="600" dirty="0">
              <a:solidFill>
                <a:schemeClr val="tx1"/>
              </a:solidFill>
            </a:endParaRPr>
          </a:p>
        </p:txBody>
      </p:sp>
      <p:cxnSp>
        <p:nvCxnSpPr>
          <p:cNvPr id="168" name="꺾인 연결선 167"/>
          <p:cNvCxnSpPr>
            <a:endCxn id="121" idx="1"/>
          </p:cNvCxnSpPr>
          <p:nvPr/>
        </p:nvCxnSpPr>
        <p:spPr>
          <a:xfrm rot="16200000" flipH="1">
            <a:off x="1166999" y="3294079"/>
            <a:ext cx="2781062" cy="55260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70" name="직선 화살표 연결선 169"/>
          <p:cNvCxnSpPr>
            <a:stCxn id="171" idx="3"/>
            <a:endCxn id="176" idx="1"/>
          </p:cNvCxnSpPr>
          <p:nvPr/>
        </p:nvCxnSpPr>
        <p:spPr>
          <a:xfrm>
            <a:off x="3895397" y="1946176"/>
            <a:ext cx="15424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1" name="사각형: 둥근 모서리 5">
            <a:extLst>
              <a:ext uri="{FF2B5EF4-FFF2-40B4-BE49-F238E27FC236}">
                <a16:creationId xmlns:a16="http://schemas.microsoft.com/office/drawing/2014/main" id="{410E5459-200D-7630-863C-88E5109259DF}"/>
              </a:ext>
            </a:extLst>
          </p:cNvPr>
          <p:cNvSpPr/>
          <p:nvPr/>
        </p:nvSpPr>
        <p:spPr>
          <a:xfrm>
            <a:off x="2833832" y="1792637"/>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입찰공고</a:t>
            </a:r>
            <a:endParaRPr lang="ko-KR" altLang="en-US" sz="600" dirty="0">
              <a:solidFill>
                <a:schemeClr val="tx1"/>
              </a:solidFill>
            </a:endParaRPr>
          </a:p>
        </p:txBody>
      </p:sp>
      <p:cxnSp>
        <p:nvCxnSpPr>
          <p:cNvPr id="172" name="직선 화살표 연결선 171"/>
          <p:cNvCxnSpPr>
            <a:stCxn id="121" idx="3"/>
            <a:endCxn id="174" idx="1"/>
          </p:cNvCxnSpPr>
          <p:nvPr/>
        </p:nvCxnSpPr>
        <p:spPr>
          <a:xfrm flipV="1">
            <a:off x="3895397" y="4958518"/>
            <a:ext cx="1541539" cy="239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4" name="사각형: 둥근 모서리 5">
            <a:extLst>
              <a:ext uri="{FF2B5EF4-FFF2-40B4-BE49-F238E27FC236}">
                <a16:creationId xmlns:a16="http://schemas.microsoft.com/office/drawing/2014/main" id="{410E5459-200D-7630-863C-88E5109259DF}"/>
              </a:ext>
            </a:extLst>
          </p:cNvPr>
          <p:cNvSpPr/>
          <p:nvPr/>
        </p:nvSpPr>
        <p:spPr>
          <a:xfrm>
            <a:off x="5436936" y="4804979"/>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사전심사신청서</a:t>
            </a:r>
            <a:endParaRPr lang="en-US" altLang="ko-KR" sz="600" dirty="0" smtClean="0">
              <a:solidFill>
                <a:schemeClr val="tx1"/>
              </a:solidFill>
            </a:endParaRPr>
          </a:p>
          <a:p>
            <a:pPr algn="ctr"/>
            <a:r>
              <a:rPr lang="ko-KR" altLang="en-US" sz="600" dirty="0" smtClean="0">
                <a:solidFill>
                  <a:schemeClr val="tx1"/>
                </a:solidFill>
              </a:rPr>
              <a:t>제출</a:t>
            </a:r>
            <a:endParaRPr lang="ko-KR" altLang="en-US" sz="600" dirty="0">
              <a:solidFill>
                <a:schemeClr val="tx1"/>
              </a:solidFill>
            </a:endParaRPr>
          </a:p>
        </p:txBody>
      </p:sp>
      <p:sp>
        <p:nvSpPr>
          <p:cNvPr id="175" name="사각형: 둥근 모서리 5">
            <a:extLst>
              <a:ext uri="{FF2B5EF4-FFF2-40B4-BE49-F238E27FC236}">
                <a16:creationId xmlns:a16="http://schemas.microsoft.com/office/drawing/2014/main" id="{410E5459-200D-7630-863C-88E5109259DF}"/>
              </a:ext>
            </a:extLst>
          </p:cNvPr>
          <p:cNvSpPr/>
          <p:nvPr/>
        </p:nvSpPr>
        <p:spPr>
          <a:xfrm>
            <a:off x="5436936" y="2997558"/>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입찰참가신청서</a:t>
            </a:r>
            <a:endParaRPr lang="en-US" altLang="ko-KR" sz="600" dirty="0" smtClean="0">
              <a:solidFill>
                <a:schemeClr val="tx1"/>
              </a:solidFill>
            </a:endParaRPr>
          </a:p>
          <a:p>
            <a:pPr algn="ctr"/>
            <a:r>
              <a:rPr lang="ko-KR" altLang="en-US" sz="600" dirty="0" smtClean="0">
                <a:solidFill>
                  <a:schemeClr val="tx1"/>
                </a:solidFill>
              </a:rPr>
              <a:t>제출</a:t>
            </a:r>
            <a:endParaRPr lang="ko-KR" altLang="en-US" sz="600" dirty="0">
              <a:solidFill>
                <a:schemeClr val="tx1"/>
              </a:solidFill>
            </a:endParaRPr>
          </a:p>
        </p:txBody>
      </p:sp>
      <p:sp>
        <p:nvSpPr>
          <p:cNvPr id="176" name="사각형: 둥근 모서리 5">
            <a:extLst>
              <a:ext uri="{FF2B5EF4-FFF2-40B4-BE49-F238E27FC236}">
                <a16:creationId xmlns:a16="http://schemas.microsoft.com/office/drawing/2014/main" id="{410E5459-200D-7630-863C-88E5109259DF}"/>
              </a:ext>
            </a:extLst>
          </p:cNvPr>
          <p:cNvSpPr/>
          <p:nvPr/>
        </p:nvSpPr>
        <p:spPr>
          <a:xfrm>
            <a:off x="5437872" y="1792637"/>
            <a:ext cx="1061565" cy="307077"/>
          </a:xfrm>
          <a:prstGeom prst="roundRect">
            <a:avLst/>
          </a:prstGeom>
          <a:solidFill>
            <a:srgbClr val="E7E6E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ko-KR" sz="600" dirty="0" smtClean="0">
                <a:solidFill>
                  <a:schemeClr val="tx1"/>
                </a:solidFill>
              </a:rPr>
              <a:t>*</a:t>
            </a:r>
            <a:r>
              <a:rPr lang="ko-KR" altLang="en-US" sz="600" dirty="0" err="1" smtClean="0">
                <a:solidFill>
                  <a:schemeClr val="tx1"/>
                </a:solidFill>
              </a:rPr>
              <a:t>입찰서제출</a:t>
            </a:r>
            <a:endParaRPr lang="ko-KR" altLang="en-US" sz="600" dirty="0">
              <a:solidFill>
                <a:schemeClr val="tx1"/>
              </a:solidFill>
            </a:endParaRPr>
          </a:p>
        </p:txBody>
      </p:sp>
      <p:sp>
        <p:nvSpPr>
          <p:cNvPr id="177" name="직사각형 176"/>
          <p:cNvSpPr/>
          <p:nvPr/>
        </p:nvSpPr>
        <p:spPr>
          <a:xfrm>
            <a:off x="5574250" y="5090376"/>
            <a:ext cx="786938" cy="180490"/>
          </a:xfrm>
          <a:prstGeom prst="rect">
            <a:avLst/>
          </a:prstGeom>
        </p:spPr>
        <p:txBody>
          <a:bodyPr wrap="none">
            <a:spAutoFit/>
          </a:bodyPr>
          <a:lstStyle/>
          <a:p>
            <a:r>
              <a:rPr lang="en-US" altLang="ko-KR" sz="500" dirty="0">
                <a:solidFill>
                  <a:srgbClr val="000000"/>
                </a:solidFill>
                <a:latin typeface="맑은 고딕" panose="020B0503020000020004" pitchFamily="50" charset="-127"/>
              </a:rPr>
              <a:t>MUI-BD-02-M01</a:t>
            </a:r>
            <a:endParaRPr lang="ko-KR" altLang="en-US" sz="500" dirty="0"/>
          </a:p>
        </p:txBody>
      </p:sp>
      <p:sp>
        <p:nvSpPr>
          <p:cNvPr id="178" name="직사각형 177"/>
          <p:cNvSpPr/>
          <p:nvPr/>
        </p:nvSpPr>
        <p:spPr>
          <a:xfrm>
            <a:off x="5574250" y="3304635"/>
            <a:ext cx="786938" cy="180490"/>
          </a:xfrm>
          <a:prstGeom prst="rect">
            <a:avLst/>
          </a:prstGeom>
        </p:spPr>
        <p:txBody>
          <a:bodyPr wrap="none">
            <a:spAutoFit/>
          </a:bodyPr>
          <a:lstStyle/>
          <a:p>
            <a:r>
              <a:rPr lang="en-US" altLang="ko-KR" sz="500" dirty="0">
                <a:solidFill>
                  <a:srgbClr val="000000"/>
                </a:solidFill>
                <a:latin typeface="맑은 고딕" panose="020B0503020000020004" pitchFamily="50" charset="-127"/>
              </a:rPr>
              <a:t>MUI-BD-04-M01</a:t>
            </a:r>
            <a:endParaRPr lang="ko-KR" altLang="en-US" sz="500" dirty="0"/>
          </a:p>
        </p:txBody>
      </p:sp>
      <p:sp>
        <p:nvSpPr>
          <p:cNvPr id="179" name="직사각형 178"/>
          <p:cNvSpPr/>
          <p:nvPr/>
        </p:nvSpPr>
        <p:spPr>
          <a:xfrm>
            <a:off x="2820802" y="3294429"/>
            <a:ext cx="1444926" cy="1657225"/>
          </a:xfrm>
          <a:prstGeom prst="rect">
            <a:avLst/>
          </a:prstGeom>
        </p:spPr>
        <p:txBody>
          <a:bodyPr wrap="none">
            <a:spAutoFit/>
          </a:bodyPr>
          <a:lstStyle/>
          <a:p>
            <a:pPr fontAlgn="ctr"/>
            <a:r>
              <a:rPr lang="ko-KR" altLang="en-US" sz="500" dirty="0" smtClean="0">
                <a:latin typeface="+mn-ea"/>
              </a:rPr>
              <a:t>입찰참가신청서작성 </a:t>
            </a:r>
            <a:r>
              <a:rPr lang="en-US" altLang="ko-KR" sz="500" dirty="0" smtClean="0">
                <a:latin typeface="+mn-ea"/>
              </a:rPr>
              <a:t>– </a:t>
            </a:r>
            <a:r>
              <a:rPr lang="ko-KR" altLang="en-US" sz="500" dirty="0" smtClean="0">
                <a:latin typeface="+mn-ea"/>
              </a:rPr>
              <a:t>일반정보</a:t>
            </a:r>
            <a:r>
              <a:rPr lang="en-US" altLang="ko-KR" sz="500" dirty="0" smtClean="0">
                <a:latin typeface="+mn-ea"/>
              </a:rPr>
              <a:t/>
            </a:r>
            <a:br>
              <a:rPr lang="en-US" altLang="ko-KR" sz="500" dirty="0" smtClean="0">
                <a:latin typeface="+mn-ea"/>
              </a:rPr>
            </a:br>
            <a:r>
              <a:rPr lang="en-US" altLang="ko-KR" sz="500" dirty="0" smtClean="0">
                <a:solidFill>
                  <a:srgbClr val="000000"/>
                </a:solidFill>
                <a:latin typeface="맑은 고딕" panose="020B0503020000020004" pitchFamily="50" charset="-127"/>
              </a:rPr>
              <a:t>MUI-BD-04-M05</a:t>
            </a:r>
            <a:br>
              <a:rPr lang="en-US" altLang="ko-KR" sz="500" dirty="0" smtClean="0">
                <a:solidFill>
                  <a:srgbClr val="000000"/>
                </a:solidFill>
                <a:latin typeface="맑은 고딕" panose="020B0503020000020004" pitchFamily="50" charset="-127"/>
              </a:rPr>
            </a:br>
            <a:r>
              <a:rPr lang="ko-KR" altLang="en-US" sz="500" dirty="0">
                <a:latin typeface="+mn-ea"/>
              </a:rPr>
              <a:t>입찰참가신청서작성 </a:t>
            </a:r>
            <a:r>
              <a:rPr lang="en-US" altLang="ko-KR" sz="500" dirty="0">
                <a:latin typeface="+mn-ea"/>
              </a:rPr>
              <a:t>- </a:t>
            </a:r>
            <a:r>
              <a:rPr lang="ko-KR" altLang="en-US" sz="500" dirty="0" err="1">
                <a:latin typeface="+mn-ea"/>
              </a:rPr>
              <a:t>품목내역</a:t>
            </a:r>
            <a:endParaRPr lang="ko-KR" altLang="en-US" sz="500" dirty="0">
              <a:latin typeface="+mn-ea"/>
            </a:endParaRPr>
          </a:p>
          <a:p>
            <a:pPr fontAlgn="ctr"/>
            <a:r>
              <a:rPr lang="en-US" altLang="ko-KR" sz="500" dirty="0">
                <a:solidFill>
                  <a:srgbClr val="000000"/>
                </a:solidFill>
                <a:latin typeface="맑은 고딕" panose="020B0503020000020004" pitchFamily="50" charset="-127"/>
              </a:rPr>
              <a:t>MUI-BD-04-M06</a:t>
            </a:r>
            <a:endParaRPr lang="ko-KR" altLang="en-US" sz="500" dirty="0">
              <a:solidFill>
                <a:srgbClr val="000000"/>
              </a:solidFill>
              <a:latin typeface="맑은 고딕" panose="020B0503020000020004" pitchFamily="50" charset="-127"/>
            </a:endParaRPr>
          </a:p>
          <a:p>
            <a:pPr fontAlgn="ctr"/>
            <a:r>
              <a:rPr lang="ko-KR" altLang="en-US" sz="500" dirty="0">
                <a:latin typeface="+mn-ea"/>
              </a:rPr>
              <a:t>입찰참가신청서작성 </a:t>
            </a:r>
            <a:r>
              <a:rPr lang="en-US" altLang="ko-KR" sz="500" dirty="0">
                <a:latin typeface="+mn-ea"/>
              </a:rPr>
              <a:t>– </a:t>
            </a:r>
            <a:r>
              <a:rPr lang="ko-KR" altLang="en-US" sz="500" dirty="0" err="1">
                <a:latin typeface="+mn-ea"/>
              </a:rPr>
              <a:t>공종</a:t>
            </a:r>
            <a:r>
              <a:rPr lang="ko-KR" altLang="en-US" sz="500" dirty="0">
                <a:latin typeface="+mn-ea"/>
              </a:rPr>
              <a:t> 및 면허</a:t>
            </a:r>
          </a:p>
          <a:p>
            <a:pPr fontAlgn="ctr"/>
            <a:r>
              <a:rPr lang="en-US" altLang="ko-KR" sz="500" dirty="0">
                <a:solidFill>
                  <a:srgbClr val="000000"/>
                </a:solidFill>
                <a:latin typeface="맑은 고딕" panose="020B0503020000020004" pitchFamily="50" charset="-127"/>
              </a:rPr>
              <a:t>MUI-BD-04-M07</a:t>
            </a:r>
            <a:endParaRPr lang="ko-KR" altLang="en-US" sz="500" dirty="0">
              <a:solidFill>
                <a:srgbClr val="000000"/>
              </a:solidFill>
              <a:latin typeface="맑은 고딕" panose="020B0503020000020004" pitchFamily="50" charset="-127"/>
            </a:endParaRPr>
          </a:p>
          <a:p>
            <a:pPr fontAlgn="ctr"/>
            <a:r>
              <a:rPr lang="ko-KR" altLang="en-US" sz="500" dirty="0">
                <a:latin typeface="+mn-ea"/>
              </a:rPr>
              <a:t>입찰참가신청서작성 </a:t>
            </a:r>
            <a:r>
              <a:rPr lang="en-US" altLang="ko-KR" sz="500" dirty="0">
                <a:latin typeface="+mn-ea"/>
              </a:rPr>
              <a:t>– </a:t>
            </a:r>
            <a:r>
              <a:rPr lang="ko-KR" altLang="en-US" sz="500" dirty="0">
                <a:latin typeface="+mn-ea"/>
              </a:rPr>
              <a:t>입찰보증금</a:t>
            </a:r>
          </a:p>
          <a:p>
            <a:pPr fontAlgn="ctr"/>
            <a:r>
              <a:rPr lang="en-US" altLang="ko-KR" sz="500" dirty="0">
                <a:solidFill>
                  <a:srgbClr val="000000"/>
                </a:solidFill>
                <a:latin typeface="맑은 고딕" panose="020B0503020000020004" pitchFamily="50" charset="-127"/>
              </a:rPr>
              <a:t>MUI-BD-04-M08</a:t>
            </a:r>
            <a:endParaRPr lang="ko-KR" altLang="en-US" sz="500" dirty="0">
              <a:solidFill>
                <a:srgbClr val="000000"/>
              </a:solidFill>
              <a:latin typeface="맑은 고딕" panose="020B0503020000020004" pitchFamily="50" charset="-127"/>
            </a:endParaRPr>
          </a:p>
          <a:p>
            <a:pPr fontAlgn="ctr"/>
            <a:r>
              <a:rPr lang="ko-KR" altLang="en-US" sz="500" dirty="0">
                <a:latin typeface="+mn-ea"/>
              </a:rPr>
              <a:t>보증금면제사유 상세</a:t>
            </a:r>
          </a:p>
          <a:p>
            <a:pPr fontAlgn="ctr"/>
            <a:r>
              <a:rPr lang="en-US" altLang="ko-KR" sz="500" dirty="0" smtClean="0">
                <a:solidFill>
                  <a:srgbClr val="000000"/>
                </a:solidFill>
                <a:latin typeface="맑은 고딕" panose="020B0503020000020004" pitchFamily="50" charset="-127"/>
              </a:rPr>
              <a:t>MUI-BD-04-P09</a:t>
            </a:r>
          </a:p>
          <a:p>
            <a:pPr fontAlgn="ctr"/>
            <a:r>
              <a:rPr lang="ko-KR" altLang="en-US" sz="500" dirty="0">
                <a:latin typeface="+mn-ea"/>
              </a:rPr>
              <a:t>입찰참가신청서작성 </a:t>
            </a:r>
            <a:r>
              <a:rPr lang="en-US" altLang="ko-KR" sz="500" dirty="0">
                <a:latin typeface="+mn-ea"/>
              </a:rPr>
              <a:t>– </a:t>
            </a:r>
            <a:r>
              <a:rPr lang="ko-KR" altLang="en-US" sz="500" dirty="0">
                <a:latin typeface="+mn-ea"/>
              </a:rPr>
              <a:t>공동수급업체</a:t>
            </a:r>
          </a:p>
          <a:p>
            <a:pPr fontAlgn="ctr"/>
            <a:r>
              <a:rPr lang="en-US" altLang="ko-KR" sz="500" dirty="0">
                <a:solidFill>
                  <a:srgbClr val="000000"/>
                </a:solidFill>
                <a:latin typeface="맑은 고딕" panose="020B0503020000020004" pitchFamily="50" charset="-127"/>
              </a:rPr>
              <a:t>MUI-BD-04-M10</a:t>
            </a:r>
            <a:endParaRPr lang="ko-KR" altLang="en-US" sz="500" dirty="0">
              <a:solidFill>
                <a:srgbClr val="000000"/>
              </a:solidFill>
              <a:latin typeface="맑은 고딕" panose="020B0503020000020004" pitchFamily="50" charset="-127"/>
            </a:endParaRPr>
          </a:p>
          <a:p>
            <a:pPr fontAlgn="ctr"/>
            <a:r>
              <a:rPr lang="ko-KR" altLang="en-US" sz="500" dirty="0">
                <a:latin typeface="+mn-ea"/>
              </a:rPr>
              <a:t>입찰참가신청서작성 </a:t>
            </a:r>
            <a:r>
              <a:rPr lang="en-US" altLang="ko-KR" sz="500" dirty="0">
                <a:latin typeface="+mn-ea"/>
              </a:rPr>
              <a:t>– </a:t>
            </a:r>
            <a:r>
              <a:rPr lang="ko-KR" altLang="en-US" sz="500" dirty="0">
                <a:latin typeface="+mn-ea"/>
              </a:rPr>
              <a:t>파일첨부</a:t>
            </a:r>
          </a:p>
          <a:p>
            <a:pPr fontAlgn="ctr"/>
            <a:r>
              <a:rPr lang="en-US" altLang="ko-KR" sz="500" dirty="0">
                <a:solidFill>
                  <a:srgbClr val="000000"/>
                </a:solidFill>
                <a:latin typeface="맑은 고딕" panose="020B0503020000020004" pitchFamily="50" charset="-127"/>
              </a:rPr>
              <a:t>MUI-BD-04-M12</a:t>
            </a:r>
            <a:endParaRPr lang="ko-KR" altLang="en-US" sz="500" dirty="0">
              <a:solidFill>
                <a:srgbClr val="000000"/>
              </a:solidFill>
              <a:latin typeface="맑은 고딕" panose="020B0503020000020004" pitchFamily="50" charset="-127"/>
            </a:endParaRPr>
          </a:p>
          <a:p>
            <a:pPr fontAlgn="ctr"/>
            <a:r>
              <a:rPr lang="ko-KR" altLang="en-US" sz="500" dirty="0">
                <a:latin typeface="+mn-ea"/>
              </a:rPr>
              <a:t>입찰참가신청서작성 </a:t>
            </a:r>
            <a:r>
              <a:rPr lang="en-US" altLang="ko-KR" sz="500" dirty="0">
                <a:latin typeface="+mn-ea"/>
              </a:rPr>
              <a:t>– </a:t>
            </a:r>
            <a:r>
              <a:rPr lang="ko-KR" altLang="en-US" sz="500" dirty="0">
                <a:latin typeface="+mn-ea"/>
              </a:rPr>
              <a:t>문의 및 동의</a:t>
            </a:r>
          </a:p>
          <a:p>
            <a:pPr fontAlgn="ctr"/>
            <a:r>
              <a:rPr lang="en-US" altLang="ko-KR" sz="500" dirty="0">
                <a:solidFill>
                  <a:srgbClr val="000000"/>
                </a:solidFill>
                <a:latin typeface="맑은 고딕" panose="020B0503020000020004" pitchFamily="50" charset="-127"/>
              </a:rPr>
              <a:t>MUI-BD-04-M14</a:t>
            </a:r>
            <a:endParaRPr lang="ko-KR" altLang="en-US" sz="500" dirty="0">
              <a:solidFill>
                <a:srgbClr val="000000"/>
              </a:solidFill>
              <a:latin typeface="맑은 고딕" panose="020B0503020000020004" pitchFamily="50" charset="-127"/>
            </a:endParaRPr>
          </a:p>
          <a:p>
            <a:pPr fontAlgn="ctr"/>
            <a:endParaRPr lang="ko-KR" altLang="en-US" sz="500" dirty="0">
              <a:solidFill>
                <a:srgbClr val="000000"/>
              </a:solidFill>
              <a:latin typeface="맑은 고딕" panose="020B0503020000020004" pitchFamily="50" charset="-127"/>
            </a:endParaRPr>
          </a:p>
          <a:p>
            <a:pPr fontAlgn="ctr"/>
            <a:endParaRPr lang="ko-KR" altLang="en-US" sz="500" dirty="0">
              <a:solidFill>
                <a:srgbClr val="000000"/>
              </a:solidFill>
              <a:latin typeface="맑은 고딕" panose="020B0503020000020004" pitchFamily="50" charset="-127"/>
            </a:endParaRPr>
          </a:p>
          <a:p>
            <a:pPr fontAlgn="ctr"/>
            <a:endParaRPr lang="ko-KR" altLang="en-US" sz="500" dirty="0">
              <a:latin typeface="+mn-ea"/>
            </a:endParaRPr>
          </a:p>
        </p:txBody>
      </p:sp>
      <p:sp>
        <p:nvSpPr>
          <p:cNvPr id="181" name="직사각형 180"/>
          <p:cNvSpPr/>
          <p:nvPr/>
        </p:nvSpPr>
        <p:spPr>
          <a:xfrm>
            <a:off x="6498501" y="1193549"/>
            <a:ext cx="1507321" cy="1575184"/>
          </a:xfrm>
          <a:prstGeom prst="rect">
            <a:avLst/>
          </a:prstGeom>
        </p:spPr>
        <p:txBody>
          <a:bodyPr wrap="none">
            <a:spAutoFit/>
          </a:bodyPr>
          <a:lstStyle/>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smtClean="0">
                <a:latin typeface="+mn-ea"/>
              </a:rPr>
              <a:t>– </a:t>
            </a:r>
            <a:r>
              <a:rPr lang="ko-KR" altLang="en-US" sz="500" dirty="0" smtClean="0">
                <a:latin typeface="+mn-ea"/>
              </a:rPr>
              <a:t>일반정보</a:t>
            </a:r>
            <a:r>
              <a:rPr lang="en-US" altLang="ko-KR" sz="500" dirty="0" smtClean="0">
                <a:latin typeface="+mn-ea"/>
              </a:rPr>
              <a:t/>
            </a:r>
            <a:br>
              <a:rPr lang="en-US" altLang="ko-KR" sz="500" dirty="0" smtClean="0">
                <a:latin typeface="+mn-ea"/>
              </a:rPr>
            </a:br>
            <a:r>
              <a:rPr lang="en-US" altLang="ko-KR" sz="500" dirty="0" smtClean="0">
                <a:solidFill>
                  <a:srgbClr val="000000"/>
                </a:solidFill>
                <a:latin typeface="맑은 고딕" panose="020B0503020000020004" pitchFamily="50" charset="-127"/>
              </a:rPr>
              <a:t>MUI-BD-06-M01</a:t>
            </a:r>
          </a:p>
          <a:p>
            <a:pPr fontAlgn="ctr"/>
            <a:r>
              <a:rPr lang="ko-KR" altLang="en-US" sz="500" dirty="0" smtClean="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a:latin typeface="+mn-ea"/>
              </a:rPr>
              <a:t>- </a:t>
            </a:r>
            <a:r>
              <a:rPr lang="ko-KR" altLang="en-US" sz="500" dirty="0" err="1">
                <a:latin typeface="+mn-ea"/>
              </a:rPr>
              <a:t>품목내역</a:t>
            </a:r>
            <a:endParaRPr lang="ko-KR" altLang="en-US" sz="500" dirty="0">
              <a:latin typeface="+mn-ea"/>
            </a:endParaRPr>
          </a:p>
          <a:p>
            <a:pPr fontAlgn="ctr"/>
            <a:r>
              <a:rPr lang="en-US" altLang="ko-KR" sz="500" dirty="0">
                <a:solidFill>
                  <a:srgbClr val="000000"/>
                </a:solidFill>
                <a:latin typeface="맑은 고딕" panose="020B0503020000020004" pitchFamily="50" charset="-127"/>
              </a:rPr>
              <a:t>MUI-BD-06-M02</a:t>
            </a:r>
            <a:endParaRPr lang="ko-KR" altLang="en-US" sz="500" dirty="0">
              <a:solidFill>
                <a:srgbClr val="000000"/>
              </a:solidFill>
              <a:latin typeface="맑은 고딕" panose="020B0503020000020004" pitchFamily="50" charset="-127"/>
            </a:endParaRPr>
          </a:p>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a:latin typeface="+mn-ea"/>
              </a:rPr>
              <a:t>- </a:t>
            </a:r>
            <a:r>
              <a:rPr lang="ko-KR" altLang="en-US" sz="500" dirty="0" err="1">
                <a:latin typeface="+mn-ea"/>
              </a:rPr>
              <a:t>투찰내역</a:t>
            </a:r>
            <a:endParaRPr lang="ko-KR" altLang="en-US" sz="500" dirty="0">
              <a:latin typeface="+mn-ea"/>
            </a:endParaRPr>
          </a:p>
          <a:p>
            <a:pPr fontAlgn="ctr"/>
            <a:r>
              <a:rPr lang="en-US" altLang="ko-KR" sz="500" dirty="0">
                <a:solidFill>
                  <a:srgbClr val="000000"/>
                </a:solidFill>
                <a:latin typeface="맑은 고딕" panose="020B0503020000020004" pitchFamily="50" charset="-127"/>
              </a:rPr>
              <a:t>MUI-BD-06-M03</a:t>
            </a:r>
            <a:endParaRPr lang="ko-KR" altLang="en-US" sz="500" dirty="0">
              <a:solidFill>
                <a:srgbClr val="000000"/>
              </a:solidFill>
              <a:latin typeface="맑은 고딕" panose="020B0503020000020004" pitchFamily="50" charset="-127"/>
            </a:endParaRPr>
          </a:p>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a:latin typeface="+mn-ea"/>
              </a:rPr>
              <a:t>- </a:t>
            </a:r>
            <a:r>
              <a:rPr lang="ko-KR" altLang="en-US" sz="500" dirty="0">
                <a:latin typeface="+mn-ea"/>
              </a:rPr>
              <a:t>복수예비가격</a:t>
            </a:r>
          </a:p>
          <a:p>
            <a:pPr fontAlgn="ctr"/>
            <a:r>
              <a:rPr lang="en-US" altLang="ko-KR" sz="500" dirty="0" smtClean="0">
                <a:solidFill>
                  <a:srgbClr val="000000"/>
                </a:solidFill>
                <a:latin typeface="맑은 고딕" panose="020B0503020000020004" pitchFamily="50" charset="-127"/>
              </a:rPr>
              <a:t>MUI-BD-06-M04</a:t>
            </a:r>
          </a:p>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smtClean="0">
                <a:latin typeface="+mn-ea"/>
              </a:rPr>
              <a:t>– </a:t>
            </a:r>
            <a:r>
              <a:rPr lang="ko-KR" altLang="en-US" sz="500" dirty="0" smtClean="0">
                <a:latin typeface="+mn-ea"/>
              </a:rPr>
              <a:t>파일첨부</a:t>
            </a:r>
            <a:endParaRPr lang="en-US" altLang="ko-KR" sz="500" dirty="0" smtClean="0">
              <a:latin typeface="+mn-ea"/>
            </a:endParaRPr>
          </a:p>
          <a:p>
            <a:pPr fontAlgn="ctr"/>
            <a:r>
              <a:rPr lang="en-US" altLang="ko-KR" sz="500" dirty="0">
                <a:solidFill>
                  <a:srgbClr val="000000"/>
                </a:solidFill>
                <a:latin typeface="맑은 고딕" panose="020B0503020000020004" pitchFamily="50" charset="-127"/>
              </a:rPr>
              <a:t>MUI-BD-06-M05</a:t>
            </a:r>
            <a:endParaRPr lang="ko-KR" altLang="en-US" sz="500" dirty="0">
              <a:solidFill>
                <a:srgbClr val="000000"/>
              </a:solidFill>
              <a:latin typeface="맑은 고딕" panose="020B0503020000020004" pitchFamily="50" charset="-127"/>
            </a:endParaRPr>
          </a:p>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a:latin typeface="+mn-ea"/>
              </a:rPr>
              <a:t>- </a:t>
            </a:r>
            <a:r>
              <a:rPr lang="ko-KR" altLang="en-US" sz="500" dirty="0" err="1">
                <a:latin typeface="+mn-ea"/>
              </a:rPr>
              <a:t>동가낙찰</a:t>
            </a:r>
            <a:r>
              <a:rPr lang="ko-KR" altLang="en-US" sz="500" dirty="0">
                <a:latin typeface="+mn-ea"/>
              </a:rPr>
              <a:t> </a:t>
            </a:r>
            <a:r>
              <a:rPr lang="ko-KR" altLang="en-US" sz="500" dirty="0" err="1">
                <a:latin typeface="+mn-ea"/>
              </a:rPr>
              <a:t>선추첨</a:t>
            </a:r>
            <a:endParaRPr lang="ko-KR" altLang="en-US" sz="500" dirty="0">
              <a:latin typeface="+mn-ea"/>
            </a:endParaRPr>
          </a:p>
          <a:p>
            <a:pPr fontAlgn="ctr"/>
            <a:r>
              <a:rPr lang="en-US" altLang="ko-KR" sz="500" dirty="0" smtClean="0">
                <a:solidFill>
                  <a:srgbClr val="000000"/>
                </a:solidFill>
                <a:latin typeface="맑은 고딕" panose="020B0503020000020004" pitchFamily="50" charset="-127"/>
              </a:rPr>
              <a:t>MUI-BD-06-M06</a:t>
            </a:r>
          </a:p>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a:latin typeface="+mn-ea"/>
              </a:rPr>
              <a:t>- </a:t>
            </a:r>
            <a:r>
              <a:rPr lang="ko-KR" altLang="en-US" sz="500" dirty="0">
                <a:latin typeface="+mn-ea"/>
              </a:rPr>
              <a:t>약관 동의</a:t>
            </a:r>
          </a:p>
          <a:p>
            <a:pPr fontAlgn="ctr"/>
            <a:r>
              <a:rPr lang="en-US" altLang="ko-KR" sz="500" dirty="0" smtClean="0">
                <a:solidFill>
                  <a:srgbClr val="000000"/>
                </a:solidFill>
                <a:latin typeface="맑은 고딕" panose="020B0503020000020004" pitchFamily="50" charset="-127"/>
              </a:rPr>
              <a:t>MUI-BD-06-M07</a:t>
            </a:r>
          </a:p>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a:latin typeface="+mn-ea"/>
              </a:rPr>
              <a:t>- </a:t>
            </a:r>
            <a:r>
              <a:rPr lang="ko-KR" altLang="en-US" sz="500" dirty="0">
                <a:latin typeface="+mn-ea"/>
              </a:rPr>
              <a:t>전자서명</a:t>
            </a:r>
          </a:p>
          <a:p>
            <a:pPr fontAlgn="ctr"/>
            <a:r>
              <a:rPr lang="en-US" altLang="ko-KR" sz="500" dirty="0" smtClean="0">
                <a:solidFill>
                  <a:srgbClr val="000000"/>
                </a:solidFill>
                <a:latin typeface="맑은 고딕" panose="020B0503020000020004" pitchFamily="50" charset="-127"/>
              </a:rPr>
              <a:t>MUI-BD-04-M21</a:t>
            </a:r>
          </a:p>
          <a:p>
            <a:pPr fontAlgn="ctr"/>
            <a:r>
              <a:rPr lang="ko-KR" altLang="en-US" sz="500" dirty="0">
                <a:latin typeface="+mn-ea"/>
              </a:rPr>
              <a:t>입찰서</a:t>
            </a:r>
            <a:r>
              <a:rPr lang="en-US" altLang="ko-KR" sz="500" dirty="0">
                <a:latin typeface="+mn-ea"/>
              </a:rPr>
              <a:t>(</a:t>
            </a:r>
            <a:r>
              <a:rPr lang="ko-KR" altLang="en-US" sz="500" dirty="0">
                <a:latin typeface="+mn-ea"/>
              </a:rPr>
              <a:t>견적서</a:t>
            </a:r>
            <a:r>
              <a:rPr lang="en-US" altLang="ko-KR" sz="500" dirty="0">
                <a:latin typeface="+mn-ea"/>
              </a:rPr>
              <a:t>)</a:t>
            </a:r>
            <a:r>
              <a:rPr lang="ko-KR" altLang="en-US" sz="500" dirty="0">
                <a:latin typeface="+mn-ea"/>
              </a:rPr>
              <a:t>작성 </a:t>
            </a:r>
            <a:r>
              <a:rPr lang="en-US" altLang="ko-KR" sz="500" dirty="0">
                <a:latin typeface="+mn-ea"/>
              </a:rPr>
              <a:t>- </a:t>
            </a:r>
            <a:r>
              <a:rPr lang="ko-KR" altLang="en-US" sz="500" dirty="0" err="1">
                <a:latin typeface="+mn-ea"/>
              </a:rPr>
              <a:t>신청완료</a:t>
            </a:r>
            <a:endParaRPr lang="ko-KR" altLang="en-US" sz="500" dirty="0">
              <a:latin typeface="+mn-ea"/>
            </a:endParaRPr>
          </a:p>
          <a:p>
            <a:pPr fontAlgn="ctr"/>
            <a:r>
              <a:rPr lang="en-US" altLang="ko-KR" sz="500" dirty="0" smtClean="0">
                <a:solidFill>
                  <a:srgbClr val="000000"/>
                </a:solidFill>
                <a:latin typeface="맑은 고딕" panose="020B0503020000020004" pitchFamily="50" charset="-127"/>
              </a:rPr>
              <a:t>MUI-BD-06-M08</a:t>
            </a:r>
            <a:endParaRPr lang="ko-KR" altLang="en-US" sz="500" dirty="0">
              <a:latin typeface="+mn-ea"/>
            </a:endParaRPr>
          </a:p>
        </p:txBody>
      </p:sp>
      <p:sp>
        <p:nvSpPr>
          <p:cNvPr id="182" name="직사각형 181"/>
          <p:cNvSpPr/>
          <p:nvPr/>
        </p:nvSpPr>
        <p:spPr>
          <a:xfrm>
            <a:off x="2820802" y="2113214"/>
            <a:ext cx="971741" cy="630942"/>
          </a:xfrm>
          <a:prstGeom prst="rect">
            <a:avLst/>
          </a:prstGeom>
        </p:spPr>
        <p:txBody>
          <a:bodyPr wrap="none">
            <a:spAutoFit/>
          </a:bodyPr>
          <a:lstStyle/>
          <a:p>
            <a:r>
              <a:rPr lang="ko-KR" altLang="en-US" sz="500" dirty="0">
                <a:latin typeface="+mn-ea"/>
              </a:rPr>
              <a:t>입찰 공고 상세 </a:t>
            </a:r>
            <a:r>
              <a:rPr lang="en-US" altLang="ko-KR" sz="500" dirty="0">
                <a:latin typeface="+mn-ea"/>
              </a:rPr>
              <a:t>– </a:t>
            </a:r>
            <a:r>
              <a:rPr lang="ko-KR" altLang="en-US" sz="500" dirty="0">
                <a:latin typeface="+mn-ea"/>
              </a:rPr>
              <a:t>일반정보</a:t>
            </a:r>
            <a:endParaRPr lang="en-US" altLang="ko-KR" sz="500" dirty="0">
              <a:latin typeface="+mn-ea"/>
            </a:endParaRPr>
          </a:p>
          <a:p>
            <a:r>
              <a:rPr lang="en-US" altLang="ko-KR" sz="500" dirty="0">
                <a:solidFill>
                  <a:srgbClr val="000000"/>
                </a:solidFill>
                <a:latin typeface="맑은 고딕" panose="020B0503020000020004" pitchFamily="50" charset="-127"/>
              </a:rPr>
              <a:t>MUI-BD-01-M71</a:t>
            </a:r>
            <a:endParaRPr lang="ko-KR" altLang="en-US" sz="500" dirty="0"/>
          </a:p>
          <a:p>
            <a:r>
              <a:rPr lang="ko-KR" altLang="en-US" sz="500" dirty="0">
                <a:latin typeface="+mn-ea"/>
              </a:rPr>
              <a:t>입찰 공고 상세 </a:t>
            </a:r>
            <a:r>
              <a:rPr lang="en-US" altLang="ko-KR" sz="500" dirty="0">
                <a:latin typeface="+mn-ea"/>
              </a:rPr>
              <a:t>– </a:t>
            </a:r>
            <a:r>
              <a:rPr lang="ko-KR" altLang="en-US" sz="500" dirty="0">
                <a:latin typeface="+mn-ea"/>
              </a:rPr>
              <a:t>품목 목록</a:t>
            </a:r>
          </a:p>
          <a:p>
            <a:r>
              <a:rPr lang="en-US" altLang="ko-KR" sz="500" dirty="0">
                <a:solidFill>
                  <a:srgbClr val="000000"/>
                </a:solidFill>
                <a:latin typeface="맑은 고딕" panose="020B0503020000020004" pitchFamily="50" charset="-127"/>
              </a:rPr>
              <a:t>MUI-BD-01-M71</a:t>
            </a:r>
            <a:endParaRPr lang="ko-KR" altLang="en-US" sz="500" dirty="0"/>
          </a:p>
          <a:p>
            <a:r>
              <a:rPr lang="ko-KR" altLang="en-US" sz="500" dirty="0">
                <a:latin typeface="+mn-ea"/>
              </a:rPr>
              <a:t>입찰 공고 상세 </a:t>
            </a:r>
            <a:r>
              <a:rPr lang="en-US" altLang="ko-KR" sz="500" dirty="0">
                <a:latin typeface="+mn-ea"/>
              </a:rPr>
              <a:t>- </a:t>
            </a:r>
            <a:r>
              <a:rPr lang="ko-KR" altLang="en-US" sz="500" dirty="0">
                <a:latin typeface="+mn-ea"/>
              </a:rPr>
              <a:t>첨부파일</a:t>
            </a:r>
          </a:p>
          <a:p>
            <a:r>
              <a:rPr lang="en-US" altLang="ko-KR" sz="500" dirty="0">
                <a:solidFill>
                  <a:srgbClr val="000000"/>
                </a:solidFill>
                <a:latin typeface="맑은 고딕" panose="020B0503020000020004" pitchFamily="50" charset="-127"/>
              </a:rPr>
              <a:t>MUI-BD-01-P76</a:t>
            </a:r>
            <a:endParaRPr lang="ko-KR" altLang="en-US" sz="500" dirty="0"/>
          </a:p>
          <a:p>
            <a:endParaRPr lang="ko-KR" altLang="en-US" sz="500" dirty="0">
              <a:latin typeface="+mn-ea"/>
            </a:endParaRPr>
          </a:p>
        </p:txBody>
      </p:sp>
      <p:sp>
        <p:nvSpPr>
          <p:cNvPr id="183" name="직사각형 182"/>
          <p:cNvSpPr/>
          <p:nvPr/>
        </p:nvSpPr>
        <p:spPr>
          <a:xfrm>
            <a:off x="3855560" y="3297062"/>
            <a:ext cx="1286101" cy="1329061"/>
          </a:xfrm>
          <a:prstGeom prst="rect">
            <a:avLst/>
          </a:prstGeom>
        </p:spPr>
        <p:txBody>
          <a:bodyPr wrap="none">
            <a:spAutoFit/>
          </a:bodyPr>
          <a:lstStyle/>
          <a:p>
            <a:r>
              <a:rPr lang="en-US" altLang="ko-KR" sz="500" dirty="0" smtClean="0">
                <a:solidFill>
                  <a:srgbClr val="000000"/>
                </a:solidFill>
                <a:latin typeface="맑은 고딕" panose="020B0503020000020004" pitchFamily="50" charset="-127"/>
              </a:rPr>
              <a:t>MUI-BD-04-M71</a:t>
            </a:r>
          </a:p>
          <a:p>
            <a:r>
              <a:rPr lang="ko-KR" altLang="en-US" sz="500" dirty="0">
                <a:latin typeface="+mn-ea"/>
              </a:rPr>
              <a:t>서약서 동의 </a:t>
            </a:r>
            <a:r>
              <a:rPr lang="ko-KR" altLang="en-US" sz="500" dirty="0" smtClean="0">
                <a:latin typeface="+mn-ea"/>
              </a:rPr>
              <a:t>목록</a:t>
            </a:r>
            <a:endParaRPr lang="en-US" altLang="ko-KR" sz="500" dirty="0" smtClean="0">
              <a:latin typeface="+mn-ea"/>
            </a:endParaRPr>
          </a:p>
          <a:p>
            <a:r>
              <a:rPr lang="ko-KR" altLang="en-US" sz="500" dirty="0">
                <a:latin typeface="+mn-ea"/>
              </a:rPr>
              <a:t>입찰참가신청서작성 </a:t>
            </a:r>
            <a:r>
              <a:rPr lang="en-US" altLang="ko-KR" sz="500" dirty="0">
                <a:latin typeface="+mn-ea"/>
              </a:rPr>
              <a:t>– </a:t>
            </a:r>
            <a:r>
              <a:rPr lang="ko-KR" altLang="en-US" sz="500" dirty="0">
                <a:latin typeface="+mn-ea"/>
              </a:rPr>
              <a:t>동의서 </a:t>
            </a:r>
            <a:r>
              <a:rPr lang="en-US" altLang="ko-KR" sz="500" dirty="0">
                <a:latin typeface="+mn-ea"/>
              </a:rPr>
              <a:t>1</a:t>
            </a:r>
            <a:endParaRPr lang="ko-KR" altLang="en-US" sz="500" dirty="0">
              <a:latin typeface="+mn-ea"/>
            </a:endParaRPr>
          </a:p>
          <a:p>
            <a:r>
              <a:rPr lang="en-US" altLang="ko-KR" sz="500" dirty="0" smtClean="0">
                <a:solidFill>
                  <a:srgbClr val="000000"/>
                </a:solidFill>
                <a:latin typeface="맑은 고딕" panose="020B0503020000020004" pitchFamily="50" charset="-127"/>
              </a:rPr>
              <a:t>MUI-BD-04-P15</a:t>
            </a:r>
            <a:endParaRPr lang="ko-KR" altLang="en-US" sz="500" dirty="0">
              <a:solidFill>
                <a:srgbClr val="000000"/>
              </a:solidFill>
              <a:latin typeface="맑은 고딕" panose="020B0503020000020004" pitchFamily="50" charset="-127"/>
            </a:endParaRPr>
          </a:p>
          <a:p>
            <a:r>
              <a:rPr lang="ko-KR" altLang="en-US" sz="500" dirty="0">
                <a:latin typeface="+mn-ea"/>
              </a:rPr>
              <a:t>입찰참가신청서작성 </a:t>
            </a:r>
            <a:r>
              <a:rPr lang="en-US" altLang="ko-KR" sz="500" dirty="0">
                <a:latin typeface="+mn-ea"/>
              </a:rPr>
              <a:t>– </a:t>
            </a:r>
            <a:r>
              <a:rPr lang="ko-KR" altLang="en-US" sz="500" dirty="0">
                <a:latin typeface="+mn-ea"/>
              </a:rPr>
              <a:t>동의서 </a:t>
            </a:r>
            <a:r>
              <a:rPr lang="en-US" altLang="ko-KR" sz="500" dirty="0">
                <a:latin typeface="+mn-ea"/>
              </a:rPr>
              <a:t>2</a:t>
            </a:r>
            <a:endParaRPr lang="ko-KR" altLang="en-US" sz="500" dirty="0">
              <a:latin typeface="+mn-ea"/>
            </a:endParaRPr>
          </a:p>
          <a:p>
            <a:r>
              <a:rPr lang="en-US" altLang="ko-KR" sz="500" dirty="0">
                <a:solidFill>
                  <a:srgbClr val="000000"/>
                </a:solidFill>
                <a:latin typeface="맑은 고딕" panose="020B0503020000020004" pitchFamily="50" charset="-127"/>
              </a:rPr>
              <a:t>MUI-BD-04-P16</a:t>
            </a:r>
            <a:endParaRPr lang="ko-KR" altLang="en-US" sz="500" dirty="0">
              <a:solidFill>
                <a:srgbClr val="000000"/>
              </a:solidFill>
              <a:latin typeface="맑은 고딕" panose="020B0503020000020004" pitchFamily="50" charset="-127"/>
            </a:endParaRPr>
          </a:p>
          <a:p>
            <a:r>
              <a:rPr lang="ko-KR" altLang="en-US" sz="500" dirty="0">
                <a:latin typeface="+mn-ea"/>
              </a:rPr>
              <a:t>입찰참가신청서작성 </a:t>
            </a:r>
            <a:r>
              <a:rPr lang="en-US" altLang="ko-KR" sz="500" dirty="0">
                <a:latin typeface="+mn-ea"/>
              </a:rPr>
              <a:t>– </a:t>
            </a:r>
            <a:r>
              <a:rPr lang="ko-KR" altLang="en-US" sz="500" dirty="0">
                <a:latin typeface="+mn-ea"/>
              </a:rPr>
              <a:t>동의서 </a:t>
            </a:r>
            <a:r>
              <a:rPr lang="en-US" altLang="ko-KR" sz="500" dirty="0">
                <a:latin typeface="+mn-ea"/>
              </a:rPr>
              <a:t>3</a:t>
            </a:r>
            <a:endParaRPr lang="ko-KR" altLang="en-US" sz="500" dirty="0">
              <a:latin typeface="+mn-ea"/>
            </a:endParaRPr>
          </a:p>
          <a:p>
            <a:r>
              <a:rPr lang="en-US" altLang="ko-KR" sz="500" dirty="0">
                <a:solidFill>
                  <a:srgbClr val="000000"/>
                </a:solidFill>
                <a:latin typeface="맑은 고딕" panose="020B0503020000020004" pitchFamily="50" charset="-127"/>
              </a:rPr>
              <a:t>MUI-BD-04-P17</a:t>
            </a:r>
            <a:endParaRPr lang="ko-KR" altLang="en-US" sz="500" dirty="0">
              <a:solidFill>
                <a:srgbClr val="000000"/>
              </a:solidFill>
              <a:latin typeface="맑은 고딕" panose="020B0503020000020004" pitchFamily="50" charset="-127"/>
            </a:endParaRPr>
          </a:p>
          <a:p>
            <a:r>
              <a:rPr lang="ko-KR" altLang="en-US" sz="500" dirty="0">
                <a:latin typeface="+mn-ea"/>
              </a:rPr>
              <a:t>입찰참가신청서작성 </a:t>
            </a:r>
            <a:r>
              <a:rPr lang="en-US" altLang="ko-KR" sz="500" dirty="0">
                <a:latin typeface="+mn-ea"/>
              </a:rPr>
              <a:t>– </a:t>
            </a:r>
            <a:r>
              <a:rPr lang="ko-KR" altLang="en-US" sz="500" dirty="0">
                <a:latin typeface="+mn-ea"/>
              </a:rPr>
              <a:t>동의서 </a:t>
            </a:r>
            <a:r>
              <a:rPr lang="en-US" altLang="ko-KR" sz="500" dirty="0">
                <a:latin typeface="+mn-ea"/>
              </a:rPr>
              <a:t>4</a:t>
            </a:r>
            <a:endParaRPr lang="ko-KR" altLang="en-US" sz="500" dirty="0">
              <a:latin typeface="+mn-ea"/>
            </a:endParaRPr>
          </a:p>
          <a:p>
            <a:r>
              <a:rPr lang="en-US" altLang="ko-KR" sz="500" dirty="0">
                <a:solidFill>
                  <a:srgbClr val="000000"/>
                </a:solidFill>
                <a:latin typeface="맑은 고딕" panose="020B0503020000020004" pitchFamily="50" charset="-127"/>
              </a:rPr>
              <a:t>MUI-BD-04-P18</a:t>
            </a:r>
            <a:endParaRPr lang="ko-KR" altLang="en-US" sz="500" dirty="0">
              <a:solidFill>
                <a:srgbClr val="000000"/>
              </a:solidFill>
              <a:latin typeface="맑은 고딕" panose="020B0503020000020004" pitchFamily="50" charset="-127"/>
            </a:endParaRPr>
          </a:p>
          <a:p>
            <a:r>
              <a:rPr lang="ko-KR" altLang="en-US" sz="500" dirty="0" smtClean="0">
                <a:latin typeface="+mn-ea"/>
              </a:rPr>
              <a:t>입찰참가신청서작성 </a:t>
            </a:r>
            <a:r>
              <a:rPr lang="en-US" altLang="ko-KR" sz="500" dirty="0">
                <a:latin typeface="+mn-ea"/>
              </a:rPr>
              <a:t>– </a:t>
            </a:r>
            <a:r>
              <a:rPr lang="ko-KR" altLang="en-US" sz="500" dirty="0">
                <a:latin typeface="+mn-ea"/>
              </a:rPr>
              <a:t>동의서 </a:t>
            </a:r>
            <a:r>
              <a:rPr lang="en-US" altLang="ko-KR" sz="500" dirty="0">
                <a:latin typeface="+mn-ea"/>
              </a:rPr>
              <a:t>5</a:t>
            </a:r>
            <a:endParaRPr lang="ko-KR" altLang="en-US" sz="500" dirty="0">
              <a:latin typeface="+mn-ea"/>
            </a:endParaRPr>
          </a:p>
          <a:p>
            <a:r>
              <a:rPr lang="en-US" altLang="ko-KR" sz="500" dirty="0" smtClean="0">
                <a:solidFill>
                  <a:srgbClr val="000000"/>
                </a:solidFill>
                <a:latin typeface="맑은 고딕" panose="020B0503020000020004" pitchFamily="50" charset="-127"/>
              </a:rPr>
              <a:t>MUI-BD-04-P19</a:t>
            </a:r>
          </a:p>
          <a:p>
            <a:r>
              <a:rPr lang="ko-KR" altLang="en-US" sz="500" dirty="0">
                <a:latin typeface="+mn-ea"/>
              </a:rPr>
              <a:t>동의서 </a:t>
            </a:r>
            <a:r>
              <a:rPr lang="en-US" altLang="ko-KR" sz="500" dirty="0">
                <a:latin typeface="+mn-ea"/>
              </a:rPr>
              <a:t>6</a:t>
            </a:r>
            <a:endParaRPr lang="ko-KR" altLang="en-US" sz="500" dirty="0">
              <a:latin typeface="+mn-ea"/>
            </a:endParaRPr>
          </a:p>
          <a:p>
            <a:r>
              <a:rPr lang="en-US" altLang="ko-KR" sz="500" dirty="0" smtClean="0">
                <a:solidFill>
                  <a:srgbClr val="000000"/>
                </a:solidFill>
                <a:latin typeface="맑은 고딕" panose="020B0503020000020004" pitchFamily="50" charset="-127"/>
              </a:rPr>
              <a:t>MUI-BD-04-P20</a:t>
            </a:r>
            <a:endParaRPr lang="ko-KR" altLang="en-US" sz="500" dirty="0" smtClean="0">
              <a:solidFill>
                <a:srgbClr val="000000"/>
              </a:solidFill>
              <a:latin typeface="맑은 고딕" panose="020B0503020000020004" pitchFamily="50" charset="-127"/>
            </a:endParaRPr>
          </a:p>
          <a:p>
            <a:endParaRPr lang="ko-KR" altLang="en-US" sz="500" dirty="0"/>
          </a:p>
        </p:txBody>
      </p:sp>
      <p:cxnSp>
        <p:nvCxnSpPr>
          <p:cNvPr id="185" name="직선 화살표 연결선 184"/>
          <p:cNvCxnSpPr>
            <a:stCxn id="167" idx="3"/>
            <a:endCxn id="175" idx="1"/>
          </p:cNvCxnSpPr>
          <p:nvPr/>
        </p:nvCxnSpPr>
        <p:spPr>
          <a:xfrm>
            <a:off x="3895397" y="3151097"/>
            <a:ext cx="154153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사각형: 둥근 모서리 5">
            <a:extLst>
              <a:ext uri="{FF2B5EF4-FFF2-40B4-BE49-F238E27FC236}">
                <a16:creationId xmlns:a16="http://schemas.microsoft.com/office/drawing/2014/main" id="{410E5459-200D-7630-863C-88E5109259DF}"/>
              </a:ext>
            </a:extLst>
          </p:cNvPr>
          <p:cNvSpPr/>
          <p:nvPr/>
        </p:nvSpPr>
        <p:spPr>
          <a:xfrm>
            <a:off x="2833832" y="6165831"/>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이행</a:t>
            </a:r>
            <a:r>
              <a:rPr lang="en-US" altLang="ko-KR" sz="600" dirty="0" smtClean="0">
                <a:solidFill>
                  <a:schemeClr val="tx1"/>
                </a:solidFill>
              </a:rPr>
              <a:t>/</a:t>
            </a:r>
            <a:r>
              <a:rPr lang="ko-KR" altLang="en-US" sz="600" dirty="0" smtClean="0">
                <a:solidFill>
                  <a:schemeClr val="tx1"/>
                </a:solidFill>
              </a:rPr>
              <a:t>적격심사요청공고</a:t>
            </a:r>
            <a:endParaRPr lang="ko-KR" altLang="en-US" sz="600" dirty="0">
              <a:solidFill>
                <a:schemeClr val="tx1"/>
              </a:solidFill>
            </a:endParaRPr>
          </a:p>
        </p:txBody>
      </p:sp>
      <p:cxnSp>
        <p:nvCxnSpPr>
          <p:cNvPr id="8" name="꺾인 연결선 7"/>
          <p:cNvCxnSpPr>
            <a:stCxn id="156" idx="3"/>
            <a:endCxn id="34" idx="1"/>
          </p:cNvCxnSpPr>
          <p:nvPr/>
        </p:nvCxnSpPr>
        <p:spPr>
          <a:xfrm>
            <a:off x="1746417" y="2166648"/>
            <a:ext cx="1087415" cy="415272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직사각형 34"/>
          <p:cNvSpPr/>
          <p:nvPr/>
        </p:nvSpPr>
        <p:spPr>
          <a:xfrm>
            <a:off x="8223250" y="569392"/>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smtClean="0"/>
              <a:t>내부 참고용 </a:t>
            </a:r>
            <a:r>
              <a:rPr lang="ko-KR" altLang="en-US" sz="1200" dirty="0" smtClean="0"/>
              <a:t>흐름도</a:t>
            </a:r>
            <a:endParaRPr lang="ko-KR" altLang="en-US" sz="1200" dirty="0"/>
          </a:p>
        </p:txBody>
      </p:sp>
    </p:spTree>
    <p:extLst>
      <p:ext uri="{BB962C8B-B14F-4D97-AF65-F5344CB8AC3E}">
        <p14:creationId xmlns:p14="http://schemas.microsoft.com/office/powerpoint/2010/main" val="377278637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noAutofit/>
          </a:bodyPr>
          <a:lstStyle/>
          <a:p>
            <a:pPr marL="228600" indent="-228600">
              <a:buFont typeface="+mj-lt"/>
              <a:buAutoNum type="arabicPeriod"/>
            </a:pPr>
            <a:r>
              <a:rPr lang="ko-KR" altLang="en-US" sz="750" dirty="0"/>
              <a:t>상단 </a:t>
            </a:r>
            <a:r>
              <a:rPr lang="ko-KR" altLang="en-US" sz="750" dirty="0" smtClean="0"/>
              <a:t>공지사항 </a:t>
            </a:r>
            <a:r>
              <a:rPr lang="ko-KR" altLang="en-US" sz="750" dirty="0"/>
              <a:t>기본 값으로 접힘 상태로 정보 제공</a:t>
            </a:r>
            <a:r>
              <a:rPr lang="en-US" altLang="ko-KR" sz="750" dirty="0"/>
              <a:t/>
            </a:r>
            <a:br>
              <a:rPr lang="en-US" altLang="ko-KR" sz="750" dirty="0"/>
            </a:br>
            <a:r>
              <a:rPr lang="en-US" altLang="ko-KR" sz="750" dirty="0"/>
              <a:t>- </a:t>
            </a:r>
            <a:r>
              <a:rPr lang="ko-KR" altLang="en-US" sz="750" dirty="0"/>
              <a:t>기본값 </a:t>
            </a:r>
            <a:r>
              <a:rPr lang="en-US" altLang="ko-KR" sz="750" dirty="0"/>
              <a:t>: </a:t>
            </a:r>
            <a:r>
              <a:rPr lang="ko-KR" altLang="en-US" sz="750" dirty="0"/>
              <a:t>접힘</a:t>
            </a:r>
            <a:r>
              <a:rPr lang="en-US" altLang="ko-KR" sz="750" dirty="0"/>
              <a:t/>
            </a:r>
            <a:br>
              <a:rPr lang="en-US" altLang="ko-KR" sz="750" dirty="0"/>
            </a:br>
            <a:r>
              <a:rPr lang="en-US" altLang="ko-KR" sz="750" dirty="0"/>
              <a:t>- </a:t>
            </a:r>
            <a:r>
              <a:rPr lang="ko-KR" altLang="en-US" sz="750" dirty="0"/>
              <a:t>사용자 </a:t>
            </a:r>
            <a:r>
              <a:rPr lang="ko-KR" altLang="en-US" sz="750" dirty="0" err="1"/>
              <a:t>클릭시</a:t>
            </a:r>
            <a:r>
              <a:rPr lang="ko-KR" altLang="en-US" sz="750" dirty="0"/>
              <a:t> 확장하여 정보 표시</a:t>
            </a:r>
            <a:r>
              <a:rPr lang="en-US" altLang="ko-KR" sz="750" dirty="0"/>
              <a:t/>
            </a:r>
            <a:br>
              <a:rPr lang="en-US" altLang="ko-KR" sz="750" dirty="0"/>
            </a:br>
            <a:r>
              <a:rPr lang="en-US" altLang="ko-KR" sz="750" dirty="0"/>
              <a:t>- </a:t>
            </a:r>
            <a:r>
              <a:rPr lang="ko-KR" altLang="en-US" sz="750" dirty="0" err="1"/>
              <a:t>업무도움</a:t>
            </a:r>
            <a:r>
              <a:rPr lang="en-US" altLang="ko-KR" sz="750" dirty="0"/>
              <a:t> &gt; </a:t>
            </a:r>
            <a:r>
              <a:rPr lang="ko-KR" altLang="en-US" sz="750" dirty="0"/>
              <a:t>내역이 있는 경우 표시</a:t>
            </a:r>
            <a:r>
              <a:rPr lang="en-US" altLang="ko-KR" sz="750" dirty="0"/>
              <a:t>, </a:t>
            </a:r>
            <a:r>
              <a:rPr lang="ko-KR" altLang="en-US" sz="750" dirty="0"/>
              <a:t>내역이 없으면 항목을 표시하지 않음</a:t>
            </a:r>
            <a:r>
              <a:rPr lang="en-US" altLang="ko-KR" sz="750" dirty="0" smtClean="0"/>
              <a:t>.</a:t>
            </a:r>
            <a:br>
              <a:rPr lang="en-US" altLang="ko-KR" sz="750" dirty="0" smtClean="0"/>
            </a:br>
            <a:r>
              <a:rPr lang="en-US" altLang="ko-KR" sz="750" dirty="0" smtClean="0"/>
              <a:t>1-1,1-2] </a:t>
            </a:r>
            <a:r>
              <a:rPr lang="ko-KR" altLang="en-US" sz="750" dirty="0" err="1" smtClean="0"/>
              <a:t>공고명</a:t>
            </a:r>
            <a:r>
              <a:rPr lang="en-US" altLang="ko-KR" sz="750" dirty="0" smtClean="0"/>
              <a:t>, </a:t>
            </a:r>
            <a:r>
              <a:rPr lang="ko-KR" altLang="en-US" sz="750" dirty="0" err="1" smtClean="0"/>
              <a:t>공고번호</a:t>
            </a:r>
            <a:r>
              <a:rPr lang="ko-KR" altLang="en-US" sz="750" dirty="0" smtClean="0"/>
              <a:t> 중 </a:t>
            </a:r>
            <a:r>
              <a:rPr lang="ko-KR" altLang="en-US" sz="750" dirty="0"/>
              <a:t>선택</a:t>
            </a:r>
            <a:r>
              <a:rPr lang="en-US" altLang="ko-KR" sz="750" dirty="0"/>
              <a:t/>
            </a:r>
            <a:br>
              <a:rPr lang="en-US" altLang="ko-KR" sz="750" dirty="0"/>
            </a:br>
            <a:r>
              <a:rPr lang="en-US" altLang="ko-KR" sz="750" dirty="0" smtClean="0"/>
              <a:t>1-3] </a:t>
            </a:r>
            <a:r>
              <a:rPr lang="ko-KR" altLang="en-US" sz="750" dirty="0" err="1"/>
              <a:t>검색어</a:t>
            </a:r>
            <a:r>
              <a:rPr lang="ko-KR" altLang="en-US" sz="750" dirty="0"/>
              <a:t> 입력</a:t>
            </a:r>
            <a:endParaRPr lang="en-US" altLang="ko-KR" sz="750" dirty="0"/>
          </a:p>
          <a:p>
            <a:pPr marL="228600" indent="-228600">
              <a:buFont typeface="+mj-lt"/>
              <a:buAutoNum type="arabicPeriod"/>
            </a:pPr>
            <a:r>
              <a:rPr lang="ko-KR" altLang="en-US" sz="750" dirty="0" err="1" smtClean="0"/>
              <a:t>검색필터</a:t>
            </a:r>
            <a:r>
              <a:rPr lang="ko-KR" altLang="en-US" sz="750" dirty="0" smtClean="0"/>
              <a:t> </a:t>
            </a:r>
            <a:r>
              <a:rPr lang="ko-KR" altLang="en-US" sz="750" dirty="0"/>
              <a:t>항목 참고</a:t>
            </a:r>
            <a:r>
              <a:rPr lang="en-US" altLang="ko-KR" sz="750" dirty="0"/>
              <a:t/>
            </a:r>
            <a:br>
              <a:rPr lang="en-US" altLang="ko-KR" sz="750" dirty="0"/>
            </a:br>
            <a:r>
              <a:rPr lang="en-US" altLang="ko-KR" sz="750" dirty="0"/>
              <a:t>- </a:t>
            </a:r>
            <a:r>
              <a:rPr lang="ko-KR" altLang="en-US" sz="750" dirty="0">
                <a:latin typeface="+mn-ea"/>
              </a:rPr>
              <a:t>검색 </a:t>
            </a:r>
            <a:r>
              <a:rPr lang="ko-KR" altLang="en-US" sz="750" dirty="0" smtClean="0">
                <a:latin typeface="+mn-ea"/>
              </a:rPr>
              <a:t>필터</a:t>
            </a:r>
            <a:r>
              <a:rPr lang="en-US" altLang="ko-KR" sz="750" dirty="0">
                <a:latin typeface="+mn-ea"/>
              </a:rPr>
              <a:t> </a:t>
            </a:r>
            <a:r>
              <a:rPr lang="ko-KR" altLang="en-US" sz="750" dirty="0" smtClean="0">
                <a:latin typeface="+mn-ea"/>
              </a:rPr>
              <a:t>호출</a:t>
            </a:r>
            <a:r>
              <a:rPr lang="en-US" altLang="ko-KR" sz="750" dirty="0" smtClean="0">
                <a:latin typeface="+mn-ea"/>
              </a:rPr>
              <a:t>(MUI-BD-01-M02)</a:t>
            </a:r>
            <a:endParaRPr lang="en-US" altLang="ko-KR" sz="750" dirty="0"/>
          </a:p>
          <a:p>
            <a:pPr marL="228600" indent="-228600">
              <a:buFont typeface="+mj-lt"/>
              <a:buAutoNum type="arabicPeriod"/>
            </a:pPr>
            <a:r>
              <a:rPr lang="ko-KR" altLang="en-US" sz="750" dirty="0" smtClean="0"/>
              <a:t>문서 </a:t>
            </a:r>
            <a:r>
              <a:rPr lang="ko-KR" altLang="en-US" sz="750" dirty="0"/>
              <a:t>정보 영역 </a:t>
            </a:r>
            <a:r>
              <a:rPr lang="en-US" altLang="ko-KR" sz="750" dirty="0"/>
              <a:t/>
            </a:r>
            <a:br>
              <a:rPr lang="en-US" altLang="ko-KR" sz="750" dirty="0"/>
            </a:br>
            <a:r>
              <a:rPr lang="en-US" altLang="ko-KR" sz="750" dirty="0" smtClean="0"/>
              <a:t>- </a:t>
            </a:r>
            <a:r>
              <a:rPr lang="ko-KR" altLang="en-US" sz="750" dirty="0"/>
              <a:t>총 개수 표시</a:t>
            </a:r>
            <a:r>
              <a:rPr lang="en-US" altLang="ko-KR" sz="750" dirty="0"/>
              <a:t/>
            </a:r>
            <a:br>
              <a:rPr lang="en-US" altLang="ko-KR" sz="750" dirty="0"/>
            </a:br>
            <a:r>
              <a:rPr lang="en-US" altLang="ko-KR" sz="750" dirty="0"/>
              <a:t>- </a:t>
            </a:r>
            <a:r>
              <a:rPr lang="ko-KR" altLang="en-US" sz="750" dirty="0"/>
              <a:t>표시 개수 </a:t>
            </a:r>
            <a:r>
              <a:rPr lang="en-US" altLang="ko-KR" sz="750" dirty="0"/>
              <a:t>(</a:t>
            </a:r>
            <a:r>
              <a:rPr lang="ko-KR" altLang="en-US" sz="750" dirty="0"/>
              <a:t>선택한 건수 만큼 보여주고 </a:t>
            </a:r>
            <a:r>
              <a:rPr lang="ko-KR" altLang="en-US" sz="750" dirty="0" err="1"/>
              <a:t>더보기시</a:t>
            </a:r>
            <a:r>
              <a:rPr lang="ko-KR" altLang="en-US" sz="750" dirty="0"/>
              <a:t> 추가로 불러옴</a:t>
            </a:r>
            <a:r>
              <a:rPr lang="en-US" altLang="ko-KR" sz="750" dirty="0"/>
              <a:t>)</a:t>
            </a:r>
            <a:br>
              <a:rPr lang="en-US" altLang="ko-KR" sz="750" dirty="0"/>
            </a:br>
            <a:r>
              <a:rPr lang="en-US" altLang="ko-KR" sz="750" dirty="0" smtClean="0"/>
              <a:t>- </a:t>
            </a:r>
            <a:r>
              <a:rPr lang="ko-KR" altLang="en-US" sz="750" dirty="0" smtClean="0"/>
              <a:t>카드 목록 표시</a:t>
            </a:r>
            <a:r>
              <a:rPr lang="en-US" altLang="ko-KR" sz="750" dirty="0"/>
              <a:t/>
            </a:r>
            <a:br>
              <a:rPr lang="en-US" altLang="ko-KR" sz="750" dirty="0"/>
            </a:br>
            <a:r>
              <a:rPr lang="en-US" altLang="ko-KR" sz="750" dirty="0"/>
              <a:t>- </a:t>
            </a:r>
            <a:r>
              <a:rPr lang="ko-KR" altLang="en-US" sz="750" dirty="0"/>
              <a:t>카드 </a:t>
            </a:r>
            <a:r>
              <a:rPr lang="ko-KR" altLang="en-US" sz="750" dirty="0" err="1"/>
              <a:t>클릭시</a:t>
            </a:r>
            <a:r>
              <a:rPr lang="ko-KR" altLang="en-US" sz="750" dirty="0"/>
              <a:t> 상세 페이지 </a:t>
            </a:r>
            <a:r>
              <a:rPr lang="ko-KR" altLang="en-US" sz="750" dirty="0" smtClean="0"/>
              <a:t>이동</a:t>
            </a:r>
            <a:r>
              <a:rPr lang="en-US" altLang="ko-KR" sz="750" dirty="0" smtClean="0"/>
              <a:t/>
            </a:r>
            <a:br>
              <a:rPr lang="en-US" altLang="ko-KR" sz="750" dirty="0" smtClean="0"/>
            </a:br>
            <a:r>
              <a:rPr lang="en-US" altLang="ko-KR" sz="750" dirty="0" smtClean="0"/>
              <a:t>3-1</a:t>
            </a:r>
            <a:r>
              <a:rPr lang="en-US" altLang="ko-KR" sz="750" dirty="0"/>
              <a:t>] </a:t>
            </a:r>
            <a:r>
              <a:rPr lang="ko-KR" altLang="en-US" sz="750" dirty="0" smtClean="0"/>
              <a:t>표시 레이블 항목 참고하여 조건에 맞는 레이블 노출</a:t>
            </a:r>
            <a:r>
              <a:rPr lang="en-US" altLang="ko-KR" sz="750" dirty="0" smtClean="0"/>
              <a:t/>
            </a:r>
            <a:br>
              <a:rPr lang="en-US" altLang="ko-KR" sz="750" dirty="0" smtClean="0"/>
            </a:br>
            <a:r>
              <a:rPr lang="en-US" altLang="ko-KR" sz="750" dirty="0" smtClean="0"/>
              <a:t>- </a:t>
            </a:r>
            <a:r>
              <a:rPr lang="ko-KR" altLang="en-US" sz="750" dirty="0" err="1" smtClean="0"/>
              <a:t>업무구분</a:t>
            </a:r>
            <a:r>
              <a:rPr lang="en-US" altLang="ko-KR" sz="750" dirty="0" smtClean="0"/>
              <a:t>, </a:t>
            </a:r>
            <a:r>
              <a:rPr lang="ko-KR" altLang="en-US" sz="750" dirty="0" err="1" smtClean="0"/>
              <a:t>입찰구분</a:t>
            </a:r>
            <a:r>
              <a:rPr lang="en-US" altLang="ko-KR" sz="750" dirty="0" smtClean="0"/>
              <a:t>, </a:t>
            </a:r>
            <a:r>
              <a:rPr lang="ko-KR" altLang="en-US" sz="750" dirty="0" err="1" smtClean="0"/>
              <a:t>공고구분은</a:t>
            </a:r>
            <a:r>
              <a:rPr lang="ko-KR" altLang="en-US" sz="750" dirty="0" smtClean="0"/>
              <a:t> 전체 화면 레이블 기본값으로 함</a:t>
            </a:r>
            <a:r>
              <a:rPr lang="en-US" altLang="ko-KR" sz="750" dirty="0" smtClean="0"/>
              <a:t/>
            </a:r>
            <a:br>
              <a:rPr lang="en-US" altLang="ko-KR" sz="750" dirty="0" smtClean="0"/>
            </a:br>
            <a:r>
              <a:rPr lang="en-US" altLang="ko-KR" sz="750" dirty="0" smtClean="0"/>
              <a:t>3-2] G2B </a:t>
            </a:r>
            <a:r>
              <a:rPr lang="ko-KR" altLang="en-US" sz="750" dirty="0" err="1" smtClean="0"/>
              <a:t>공고번호</a:t>
            </a:r>
            <a:r>
              <a:rPr lang="ko-KR" altLang="en-US" sz="750" dirty="0" smtClean="0"/>
              <a:t> </a:t>
            </a:r>
            <a:r>
              <a:rPr lang="en-US" altLang="ko-KR" sz="750" dirty="0" smtClean="0"/>
              <a:t>+ </a:t>
            </a:r>
            <a:r>
              <a:rPr lang="ko-KR" altLang="en-US" sz="750" dirty="0" smtClean="0"/>
              <a:t>차수 정보 노출</a:t>
            </a:r>
            <a:r>
              <a:rPr lang="en-US" altLang="ko-KR" sz="750" dirty="0" smtClean="0"/>
              <a:t/>
            </a:r>
            <a:br>
              <a:rPr lang="en-US" altLang="ko-KR" sz="750" dirty="0" smtClean="0"/>
            </a:br>
            <a:r>
              <a:rPr lang="en-US" altLang="ko-KR" sz="750" dirty="0" smtClean="0"/>
              <a:t>- </a:t>
            </a:r>
            <a:r>
              <a:rPr lang="ko-KR" altLang="en-US" sz="750" dirty="0" err="1" smtClean="0"/>
              <a:t>공고번호</a:t>
            </a:r>
            <a:r>
              <a:rPr lang="ko-KR" altLang="en-US" sz="750" dirty="0" smtClean="0"/>
              <a:t> 차수가 다르면 같은 계약도 다른 계약으로 보고 전체 노출함 </a:t>
            </a:r>
            <a:r>
              <a:rPr lang="en-US" altLang="ko-KR" sz="750" dirty="0" smtClean="0"/>
              <a:t>(</a:t>
            </a:r>
            <a:r>
              <a:rPr lang="ko-KR" altLang="en-US" sz="750" dirty="0" err="1" smtClean="0"/>
              <a:t>차수별</a:t>
            </a:r>
            <a:r>
              <a:rPr lang="ko-KR" altLang="en-US" sz="750" dirty="0"/>
              <a:t> </a:t>
            </a:r>
            <a:r>
              <a:rPr lang="ko-KR" altLang="en-US" sz="750" dirty="0" err="1" smtClean="0"/>
              <a:t>개별노출</a:t>
            </a:r>
            <a:r>
              <a:rPr lang="en-US" altLang="ko-KR" sz="750" dirty="0" smtClean="0"/>
              <a:t>)</a:t>
            </a:r>
            <a:br>
              <a:rPr lang="en-US" altLang="ko-KR" sz="750" dirty="0" smtClean="0"/>
            </a:br>
            <a:r>
              <a:rPr lang="en-US" altLang="ko-KR" sz="750" dirty="0" smtClean="0"/>
              <a:t>- </a:t>
            </a:r>
            <a:r>
              <a:rPr lang="en-US" altLang="ko-KR" sz="750" dirty="0" smtClean="0">
                <a:latin typeface="+mn-ea"/>
              </a:rPr>
              <a:t>‘</a:t>
            </a:r>
            <a:r>
              <a:rPr lang="ko-KR" altLang="en-US" sz="750" dirty="0" err="1">
                <a:latin typeface="+mn-ea"/>
              </a:rPr>
              <a:t>공고번호</a:t>
            </a:r>
            <a:r>
              <a:rPr lang="en-US" altLang="ko-KR" sz="750" dirty="0">
                <a:latin typeface="+mn-ea"/>
              </a:rPr>
              <a:t>’, ‘</a:t>
            </a:r>
            <a:r>
              <a:rPr lang="ko-KR" altLang="en-US" sz="750" dirty="0">
                <a:latin typeface="+mn-ea"/>
              </a:rPr>
              <a:t>통합참조번호</a:t>
            </a:r>
            <a:r>
              <a:rPr lang="en-US" altLang="ko-KR" sz="750" dirty="0">
                <a:latin typeface="+mn-ea"/>
              </a:rPr>
              <a:t>‘ </a:t>
            </a:r>
            <a:r>
              <a:rPr lang="ko-KR" altLang="en-US" sz="750" dirty="0">
                <a:latin typeface="+mn-ea"/>
              </a:rPr>
              <a:t>선택 가능</a:t>
            </a:r>
            <a:r>
              <a:rPr lang="en-US" altLang="ko-KR" sz="750" dirty="0">
                <a:latin typeface="+mn-ea"/>
              </a:rPr>
              <a:t>.</a:t>
            </a:r>
            <a:r>
              <a:rPr lang="en-US" altLang="ko-KR" sz="750" dirty="0" smtClean="0"/>
              <a:t/>
            </a:r>
            <a:br>
              <a:rPr lang="en-US" altLang="ko-KR" sz="750" dirty="0" smtClean="0"/>
            </a:br>
            <a:r>
              <a:rPr lang="en-US" altLang="ko-KR" sz="750" dirty="0" smtClean="0"/>
              <a:t>3-3] </a:t>
            </a:r>
            <a:r>
              <a:rPr lang="ko-KR" altLang="en-US" sz="750" dirty="0" smtClean="0"/>
              <a:t>입찰 건 명 또는 </a:t>
            </a:r>
            <a:r>
              <a:rPr lang="ko-KR" altLang="en-US" sz="750" dirty="0" err="1" smtClean="0"/>
              <a:t>공사명</a:t>
            </a:r>
            <a:r>
              <a:rPr lang="ko-KR" altLang="en-US" sz="750" dirty="0" smtClean="0"/>
              <a:t> 노출 </a:t>
            </a:r>
            <a:r>
              <a:rPr lang="en-US" altLang="ko-KR" sz="750" dirty="0" smtClean="0"/>
              <a:t>(1</a:t>
            </a:r>
            <a:r>
              <a:rPr lang="ko-KR" altLang="en-US" sz="750" dirty="0" smtClean="0"/>
              <a:t>줄까지 노출 이후 </a:t>
            </a:r>
            <a:r>
              <a:rPr lang="ko-KR" altLang="en-US" sz="750" dirty="0" err="1" smtClean="0"/>
              <a:t>말줄임</a:t>
            </a:r>
            <a:r>
              <a:rPr lang="ko-KR" altLang="en-US" sz="750" dirty="0" smtClean="0"/>
              <a:t> 표시</a:t>
            </a:r>
            <a:r>
              <a:rPr lang="en-US" altLang="ko-KR" sz="750" dirty="0" smtClean="0"/>
              <a:t>)</a:t>
            </a:r>
            <a:br>
              <a:rPr lang="en-US" altLang="ko-KR" sz="750" dirty="0" smtClean="0"/>
            </a:br>
            <a:r>
              <a:rPr lang="en-US" altLang="ko-KR" sz="750" dirty="0" smtClean="0"/>
              <a:t>- </a:t>
            </a:r>
            <a:r>
              <a:rPr lang="ko-KR" altLang="en-US" sz="750" dirty="0"/>
              <a:t>제목은 </a:t>
            </a:r>
            <a:r>
              <a:rPr lang="en-US" altLang="ko-KR" sz="750" dirty="0"/>
              <a:t>2</a:t>
            </a:r>
            <a:r>
              <a:rPr lang="ko-KR" altLang="en-US" sz="750" dirty="0"/>
              <a:t>줄 까지 노출 이후</a:t>
            </a:r>
            <a:r>
              <a:rPr lang="en-US" altLang="ko-KR" sz="750" dirty="0"/>
              <a:t>(…) </a:t>
            </a:r>
            <a:r>
              <a:rPr lang="ko-KR" altLang="en-US" sz="750" dirty="0" err="1"/>
              <a:t>말줄임</a:t>
            </a:r>
            <a:r>
              <a:rPr lang="ko-KR" altLang="en-US" sz="750" dirty="0"/>
              <a:t> </a:t>
            </a:r>
            <a:r>
              <a:rPr lang="ko-KR" altLang="en-US" sz="750" dirty="0" smtClean="0"/>
              <a:t>표시</a:t>
            </a:r>
            <a:r>
              <a:rPr lang="en-US" altLang="ko-KR" sz="750" dirty="0" smtClean="0"/>
              <a:t/>
            </a:r>
            <a:br>
              <a:rPr lang="en-US" altLang="ko-KR" sz="750" dirty="0" smtClean="0"/>
            </a:br>
            <a:r>
              <a:rPr lang="en-US" altLang="ko-KR" sz="750" dirty="0" smtClean="0"/>
              <a:t>3-4] </a:t>
            </a:r>
            <a:r>
              <a:rPr lang="ko-KR" altLang="en-US" sz="750" dirty="0" smtClean="0"/>
              <a:t>업무 구분이 </a:t>
            </a:r>
            <a:r>
              <a:rPr lang="ko-KR" altLang="en-US" sz="750" dirty="0" err="1" smtClean="0"/>
              <a:t>공사건인</a:t>
            </a:r>
            <a:r>
              <a:rPr lang="ko-KR" altLang="en-US" sz="750" dirty="0" smtClean="0"/>
              <a:t> 경우</a:t>
            </a:r>
            <a:r>
              <a:rPr lang="en-US" altLang="ko-KR" sz="750" dirty="0"/>
              <a:t> </a:t>
            </a:r>
            <a:r>
              <a:rPr lang="ko-KR" altLang="en-US" sz="750" dirty="0" err="1" smtClean="0"/>
              <a:t>공사명</a:t>
            </a:r>
            <a:r>
              <a:rPr lang="ko-KR" altLang="en-US" sz="750" dirty="0" smtClean="0"/>
              <a:t> 노출</a:t>
            </a:r>
            <a:r>
              <a:rPr lang="en-US" altLang="ko-KR" sz="750" dirty="0" smtClean="0"/>
              <a:t/>
            </a:r>
            <a:br>
              <a:rPr lang="en-US" altLang="ko-KR" sz="750" dirty="0" smtClean="0"/>
            </a:br>
            <a:r>
              <a:rPr lang="en-US" altLang="ko-KR" sz="750" dirty="0" smtClean="0"/>
              <a:t>3-5] </a:t>
            </a:r>
            <a:r>
              <a:rPr lang="ko-KR" altLang="en-US" sz="750" dirty="0" err="1" smtClean="0"/>
              <a:t>발주기간</a:t>
            </a:r>
            <a:r>
              <a:rPr lang="en-US" altLang="ko-KR" sz="750" dirty="0" smtClean="0"/>
              <a:t>,</a:t>
            </a:r>
            <a:r>
              <a:rPr lang="ko-KR" altLang="en-US" sz="750" dirty="0" smtClean="0"/>
              <a:t>기초예가금액</a:t>
            </a:r>
            <a:r>
              <a:rPr lang="en-US" altLang="ko-KR" sz="750" dirty="0" smtClean="0"/>
              <a:t>,</a:t>
            </a:r>
            <a:r>
              <a:rPr lang="ko-KR" altLang="en-US" sz="750" dirty="0" smtClean="0"/>
              <a:t>생산능력제출마감일시</a:t>
            </a:r>
            <a:r>
              <a:rPr lang="en-US" altLang="ko-KR" sz="750" dirty="0" smtClean="0"/>
              <a:t>, </a:t>
            </a:r>
            <a:r>
              <a:rPr lang="ko-KR" altLang="en-US" sz="750" dirty="0" err="1" smtClean="0"/>
              <a:t>입찰참가등록마감일시</a:t>
            </a:r>
            <a:r>
              <a:rPr lang="en-US" altLang="ko-KR" sz="750" dirty="0" smtClean="0"/>
              <a:t>,</a:t>
            </a:r>
            <a:r>
              <a:rPr lang="ko-KR" altLang="en-US" sz="750" dirty="0" smtClean="0"/>
              <a:t>입찰서제출마감일시 노출 </a:t>
            </a:r>
            <a:r>
              <a:rPr lang="en-US" altLang="ko-KR" sz="750" dirty="0" smtClean="0"/>
              <a:t/>
            </a:r>
            <a:br>
              <a:rPr lang="en-US" altLang="ko-KR" sz="750" dirty="0" smtClean="0"/>
            </a:br>
            <a:r>
              <a:rPr lang="en-US" altLang="ko-KR" sz="750" dirty="0" smtClean="0"/>
              <a:t>- (</a:t>
            </a:r>
            <a:r>
              <a:rPr lang="ko-KR" altLang="en-US" sz="750" dirty="0" smtClean="0"/>
              <a:t>참고</a:t>
            </a:r>
            <a:r>
              <a:rPr lang="en-US" altLang="ko-KR" sz="750" dirty="0" smtClean="0"/>
              <a:t>)</a:t>
            </a:r>
            <a:r>
              <a:rPr lang="ko-KR" altLang="en-US" sz="750" dirty="0" smtClean="0">
                <a:solidFill>
                  <a:prstClr val="black"/>
                </a:solidFill>
              </a:rPr>
              <a:t>입찰공고통합목록</a:t>
            </a:r>
            <a:r>
              <a:rPr lang="en-US" altLang="ko-KR" sz="750" dirty="0" smtClean="0">
                <a:solidFill>
                  <a:prstClr val="black"/>
                </a:solidFill>
              </a:rPr>
              <a:t> </a:t>
            </a:r>
            <a:r>
              <a:rPr lang="ko-KR" altLang="en-US" sz="750" dirty="0">
                <a:solidFill>
                  <a:prstClr val="black"/>
                </a:solidFill>
              </a:rPr>
              <a:t>검색조건 </a:t>
            </a:r>
            <a:r>
              <a:rPr lang="en-US" altLang="ko-KR" sz="750" dirty="0" smtClean="0">
                <a:solidFill>
                  <a:prstClr val="black"/>
                </a:solidFill>
              </a:rPr>
              <a:t>(</a:t>
            </a:r>
            <a:r>
              <a:rPr lang="en-US" altLang="ko-KR" sz="750" dirty="0" err="1" smtClean="0">
                <a:solidFill>
                  <a:prstClr val="black"/>
                </a:solidFill>
              </a:rPr>
              <a:t>dml_bidPbancSrchCnd</a:t>
            </a:r>
            <a:r>
              <a:rPr lang="en-US" altLang="ko-KR" sz="750" dirty="0">
                <a:solidFill>
                  <a:prstClr val="black"/>
                </a:solidFill>
              </a:rPr>
              <a:t>) </a:t>
            </a:r>
            <a:endParaRPr lang="en-US" altLang="ko-KR" sz="750" dirty="0" smtClean="0"/>
          </a:p>
          <a:p>
            <a:pPr marL="228600" indent="-228600">
              <a:buFont typeface="+mj-lt"/>
              <a:buAutoNum type="arabicPeriod"/>
            </a:pPr>
            <a:r>
              <a:rPr lang="ko-KR" altLang="en-US" sz="750" dirty="0" err="1" smtClean="0"/>
              <a:t>더보기</a:t>
            </a:r>
            <a:r>
              <a:rPr lang="ko-KR" altLang="en-US" sz="750" dirty="0" smtClean="0"/>
              <a:t> </a:t>
            </a:r>
            <a:r>
              <a:rPr lang="ko-KR" altLang="en-US" sz="750" dirty="0"/>
              <a:t>기능</a:t>
            </a:r>
            <a:r>
              <a:rPr lang="en-US" altLang="ko-KR" sz="750" dirty="0"/>
              <a:t/>
            </a:r>
            <a:br>
              <a:rPr lang="en-US" altLang="ko-KR" sz="750" dirty="0"/>
            </a:br>
            <a:r>
              <a:rPr lang="en-US" altLang="ko-KR" sz="750" dirty="0"/>
              <a:t>- 3</a:t>
            </a:r>
            <a:r>
              <a:rPr lang="ko-KR" altLang="en-US" sz="750" dirty="0" err="1"/>
              <a:t>번항목</a:t>
            </a:r>
            <a:r>
              <a:rPr lang="ko-KR" altLang="en-US" sz="750" dirty="0"/>
              <a:t> 표시 개수 영역에서 선택한 개수로 증가</a:t>
            </a:r>
            <a:r>
              <a:rPr lang="en-US" altLang="ko-KR" sz="750" dirty="0"/>
              <a:t>.</a:t>
            </a:r>
            <a:br>
              <a:rPr lang="en-US" altLang="ko-KR" sz="750" dirty="0"/>
            </a:br>
            <a:r>
              <a:rPr lang="ko-KR" altLang="en-US" sz="750" dirty="0"/>
              <a:t>예</a:t>
            </a:r>
            <a:r>
              <a:rPr lang="en-US" altLang="ko-KR" sz="750" dirty="0"/>
              <a:t>) 10</a:t>
            </a:r>
            <a:r>
              <a:rPr lang="ko-KR" altLang="en-US" sz="750" dirty="0"/>
              <a:t>개 노출 이후 </a:t>
            </a:r>
            <a:r>
              <a:rPr lang="ko-KR" altLang="en-US" sz="750" dirty="0" err="1"/>
              <a:t>더보기</a:t>
            </a:r>
            <a:r>
              <a:rPr lang="ko-KR" altLang="en-US" sz="750" dirty="0"/>
              <a:t> 버튼 클릭으로 </a:t>
            </a:r>
            <a:r>
              <a:rPr lang="en-US" altLang="ko-KR" sz="750" dirty="0"/>
              <a:t>10</a:t>
            </a:r>
            <a:r>
              <a:rPr lang="ko-KR" altLang="en-US" sz="750" dirty="0"/>
              <a:t>개씩 추가 로드</a:t>
            </a:r>
            <a:r>
              <a:rPr lang="en-US" altLang="ko-KR" sz="750" dirty="0"/>
              <a:t/>
            </a:r>
            <a:br>
              <a:rPr lang="en-US" altLang="ko-KR" sz="750" dirty="0"/>
            </a:br>
            <a:endParaRPr lang="en-US" altLang="ko-KR" sz="750"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입찰공고통합목록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344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6" name="그룹 5"/>
          <p:cNvGrpSpPr/>
          <p:nvPr/>
        </p:nvGrpSpPr>
        <p:grpSpPr>
          <a:xfrm>
            <a:off x="781461" y="3684828"/>
            <a:ext cx="2186266" cy="467617"/>
            <a:chOff x="781461" y="2610063"/>
            <a:chExt cx="2186266" cy="467617"/>
          </a:xfrm>
        </p:grpSpPr>
        <p:sp>
          <p:nvSpPr>
            <p:cNvPr id="55" name="TextBox 58">
              <a:extLst>
                <a:ext uri="{FF2B5EF4-FFF2-40B4-BE49-F238E27FC236}">
                  <a16:creationId xmlns:a16="http://schemas.microsoft.com/office/drawing/2014/main" id="{02FC114B-B48B-345F-BD70-2B5A196F5B3E}"/>
                </a:ext>
              </a:extLst>
            </p:cNvPr>
            <p:cNvSpPr txBox="1"/>
            <p:nvPr/>
          </p:nvSpPr>
          <p:spPr>
            <a:xfrm>
              <a:off x="808106" y="2831459"/>
              <a:ext cx="2159621"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mn-ea"/>
                </a:rPr>
                <a:t>G2B</a:t>
              </a:r>
              <a:r>
                <a:rPr lang="ko-KR" altLang="en-US" sz="700" dirty="0" err="1" smtClean="0">
                  <a:latin typeface="+mn-ea"/>
                </a:rPr>
                <a:t>공고번호</a:t>
              </a:r>
              <a:r>
                <a:rPr lang="ko-KR" altLang="en-US" sz="700" dirty="0" smtClean="0">
                  <a:latin typeface="+mn-ea"/>
                </a:rPr>
                <a:t> </a:t>
              </a:r>
              <a:r>
                <a:rPr lang="en-US" altLang="ko-KR" sz="700" dirty="0" smtClean="0">
                  <a:latin typeface="+mn-ea"/>
                </a:rPr>
                <a:t>: </a:t>
              </a:r>
              <a:r>
                <a:rPr lang="en-US" altLang="ko-KR" sz="700" dirty="0" smtClean="0"/>
                <a:t>2026LGM000604191-01</a:t>
              </a:r>
              <a:endParaRPr lang="en-US" altLang="ko-KR" sz="700" dirty="0"/>
            </a:p>
            <a:p>
              <a:r>
                <a:rPr lang="en-US" altLang="ko-KR" sz="900" b="1" dirty="0" smtClean="0"/>
                <a:t>(</a:t>
              </a:r>
              <a:r>
                <a:rPr lang="ko-KR" altLang="en-US" sz="900" b="1" dirty="0" smtClean="0"/>
                <a:t>입찰 건명</a:t>
              </a:r>
              <a:r>
                <a:rPr lang="en-US" altLang="ko-KR" sz="900" b="1" dirty="0" smtClean="0"/>
                <a:t>) </a:t>
              </a:r>
              <a:r>
                <a:rPr lang="ko-KR" altLang="en-US" sz="900" b="1" dirty="0" err="1" smtClean="0"/>
                <a:t>입찰건명을</a:t>
              </a:r>
              <a:r>
                <a:rPr lang="ko-KR" altLang="en-US" sz="900" b="1" dirty="0" smtClean="0"/>
                <a:t> 노출하는 영역</a:t>
              </a:r>
              <a:endParaRPr lang="en-US" altLang="ko-KR" sz="900" b="1" dirty="0" smtClean="0"/>
            </a:p>
          </p:txBody>
        </p:sp>
        <p:sp>
          <p:nvSpPr>
            <p:cNvPr id="67" name="모서리가 둥근 직사각형 66"/>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smtClean="0">
                  <a:solidFill>
                    <a:schemeClr val="dk1"/>
                  </a:solidFill>
                </a:rPr>
                <a:t>용역</a:t>
              </a:r>
              <a:endParaRPr lang="ko-KR" altLang="en-US" sz="600" dirty="0">
                <a:solidFill>
                  <a:schemeClr val="dk1"/>
                </a:solidFill>
              </a:endParaRPr>
            </a:p>
          </p:txBody>
        </p:sp>
        <p:sp>
          <p:nvSpPr>
            <p:cNvPr id="68" name="모서리가 둥근 직사각형 67"/>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smtClean="0"/>
                <a:t>경쟁입찰</a:t>
              </a:r>
              <a:endParaRPr lang="ko-KR" altLang="en-US" sz="600" dirty="0"/>
            </a:p>
          </p:txBody>
        </p:sp>
      </p:grpSp>
      <p:grpSp>
        <p:nvGrpSpPr>
          <p:cNvPr id="69" name="그룹 68">
            <a:extLst>
              <a:ext uri="{FF2B5EF4-FFF2-40B4-BE49-F238E27FC236}">
                <a16:creationId xmlns:a16="http://schemas.microsoft.com/office/drawing/2014/main" id="{22BC05EE-C648-7CA2-4CCC-6E1C1A7E9BDA}"/>
              </a:ext>
            </a:extLst>
          </p:cNvPr>
          <p:cNvGrpSpPr/>
          <p:nvPr/>
        </p:nvGrpSpPr>
        <p:grpSpPr>
          <a:xfrm>
            <a:off x="1919209" y="6408895"/>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35875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263666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2329182"/>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236052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2442513"/>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8" name="그룹 177"/>
          <p:cNvGrpSpPr/>
          <p:nvPr/>
        </p:nvGrpSpPr>
        <p:grpSpPr>
          <a:xfrm>
            <a:off x="767702" y="2696788"/>
            <a:ext cx="2527420" cy="477995"/>
            <a:chOff x="786326" y="2270279"/>
            <a:chExt cx="2527420" cy="477995"/>
          </a:xfrm>
        </p:grpSpPr>
        <p:sp>
          <p:nvSpPr>
            <p:cNvPr id="179" name="모서리가 둥근 직사각형 178"/>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타원 179"/>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1" name="TextBox 180">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82" name="그룹 181"/>
            <p:cNvGrpSpPr/>
            <p:nvPr/>
          </p:nvGrpSpPr>
          <p:grpSpPr>
            <a:xfrm>
              <a:off x="795624" y="2274581"/>
              <a:ext cx="1299303" cy="155984"/>
              <a:chOff x="808107" y="2288229"/>
              <a:chExt cx="1189739" cy="168318"/>
            </a:xfrm>
          </p:grpSpPr>
          <p:sp>
            <p:nvSpPr>
              <p:cNvPr id="189"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공고명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0"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공고번호</a:t>
                </a:r>
                <a:endParaRPr kumimoji="1" lang="en-US" sz="800" b="0" i="0" u="none" strike="noStrike" kern="0" cap="none" spc="0" normalizeH="0" baseline="0" noProof="0" dirty="0">
                  <a:ln>
                    <a:noFill/>
                  </a:ln>
                  <a:effectLst/>
                  <a:uLnTx/>
                  <a:uFillTx/>
                  <a:latin typeface="맑은 고딕"/>
                </a:endParaRPr>
              </a:p>
            </p:txBody>
          </p:sp>
        </p:grpSp>
        <p:sp>
          <p:nvSpPr>
            <p:cNvPr id="183" name="타원 182"/>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184"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85" name="타원 184"/>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a:off x="2901631" y="2585953"/>
              <a:ext cx="58075" cy="58074"/>
              <a:chOff x="6812560" y="3297172"/>
              <a:chExt cx="94010" cy="94010"/>
            </a:xfrm>
          </p:grpSpPr>
          <p:cxnSp>
            <p:nvCxnSpPr>
              <p:cNvPr id="187" name="직선 연결선 18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323224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aphicFrame>
        <p:nvGraphicFramePr>
          <p:cNvPr id="3" name="표 2"/>
          <p:cNvGraphicFramePr>
            <a:graphicFrameLocks noGrp="1"/>
          </p:cNvGraphicFramePr>
          <p:nvPr>
            <p:extLst>
              <p:ext uri="{D42A27DB-BD31-4B8C-83A1-F6EECF244321}">
                <p14:modId xmlns:p14="http://schemas.microsoft.com/office/powerpoint/2010/main" val="254609044"/>
              </p:ext>
            </p:extLst>
          </p:nvPr>
        </p:nvGraphicFramePr>
        <p:xfrm>
          <a:off x="12116060" y="698536"/>
          <a:ext cx="3422971" cy="1277005"/>
        </p:xfrm>
        <a:graphic>
          <a:graphicData uri="http://schemas.openxmlformats.org/drawingml/2006/table">
            <a:tbl>
              <a:tblPr firstRow="1" bandRow="1">
                <a:tableStyleId>{5C22544A-7EE6-4342-B048-85BDC9FD1C3A}</a:tableStyleId>
              </a:tblPr>
              <a:tblGrid>
                <a:gridCol w="1038646">
                  <a:extLst>
                    <a:ext uri="{9D8B030D-6E8A-4147-A177-3AD203B41FA5}">
                      <a16:colId xmlns:a16="http://schemas.microsoft.com/office/drawing/2014/main" val="3629403149"/>
                    </a:ext>
                  </a:extLst>
                </a:gridCol>
                <a:gridCol w="1256609">
                  <a:extLst>
                    <a:ext uri="{9D8B030D-6E8A-4147-A177-3AD203B41FA5}">
                      <a16:colId xmlns:a16="http://schemas.microsoft.com/office/drawing/2014/main" val="1460515021"/>
                    </a:ext>
                  </a:extLst>
                </a:gridCol>
                <a:gridCol w="1127716">
                  <a:extLst>
                    <a:ext uri="{9D8B030D-6E8A-4147-A177-3AD203B41FA5}">
                      <a16:colId xmlns:a16="http://schemas.microsoft.com/office/drawing/2014/main" val="1918560194"/>
                    </a:ext>
                  </a:extLst>
                </a:gridCol>
              </a:tblGrid>
              <a:tr h="150634">
                <a:tc gridSpan="3">
                  <a:txBody>
                    <a:bodyPr/>
                    <a:lstStyle/>
                    <a:p>
                      <a:pPr algn="ctr" latinLnBrk="1"/>
                      <a:r>
                        <a:rPr lang="ko-KR" altLang="en-US" sz="500" b="1" dirty="0" err="1" smtClean="0">
                          <a:solidFill>
                            <a:schemeClr val="tx1"/>
                          </a:solidFill>
                        </a:rPr>
                        <a:t>표시레이블</a:t>
                      </a:r>
                      <a:endParaRPr lang="ko-KR" altLang="en-US" sz="500" b="1"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endParaRPr lang="ko-KR" altLang="en-US" sz="500" b="1"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endParaRPr lang="ko-KR" altLang="en-US" sz="500" b="1"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862803010"/>
                  </a:ext>
                </a:extLst>
              </a:tr>
              <a:tr h="103749">
                <a:tc>
                  <a:txBody>
                    <a:bodyPr/>
                    <a:lstStyle/>
                    <a:p>
                      <a:pPr algn="ctr" latinLnBrk="1"/>
                      <a:r>
                        <a:rPr lang="ko-KR" altLang="en-US" sz="500" b="1" dirty="0" err="1" smtClean="0">
                          <a:solidFill>
                            <a:schemeClr val="accent1"/>
                          </a:solidFill>
                        </a:rPr>
                        <a:t>업무구분</a:t>
                      </a:r>
                      <a:endParaRPr lang="ko-KR" altLang="en-US" sz="500" b="1" dirty="0">
                        <a:solidFill>
                          <a:schemeClr val="accent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b="1" dirty="0" err="1" smtClean="0">
                          <a:solidFill>
                            <a:schemeClr val="accent1"/>
                          </a:solidFill>
                        </a:rPr>
                        <a:t>입찰구분</a:t>
                      </a:r>
                      <a:endParaRPr lang="ko-KR" altLang="en-US" sz="500" b="1" dirty="0">
                        <a:solidFill>
                          <a:schemeClr val="accent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b="1" dirty="0" err="1" smtClean="0">
                          <a:solidFill>
                            <a:schemeClr val="accent1"/>
                          </a:solidFill>
                        </a:rPr>
                        <a:t>공고구분</a:t>
                      </a:r>
                      <a:endParaRPr lang="ko-KR" altLang="en-US" sz="500" b="1" dirty="0">
                        <a:solidFill>
                          <a:schemeClr val="accent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24346786"/>
                  </a:ext>
                </a:extLst>
              </a:tr>
              <a:tr h="103749">
                <a:tc>
                  <a:txBody>
                    <a:bodyPr/>
                    <a:lstStyle/>
                    <a:p>
                      <a:pPr algn="ctr" latinLnBrk="1"/>
                      <a:r>
                        <a:rPr lang="ko-KR" altLang="en-US" sz="500" dirty="0" smtClean="0"/>
                        <a:t>전체</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t>경쟁입찰</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정상공고</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94262836"/>
                  </a:ext>
                </a:extLst>
              </a:tr>
              <a:tr h="102097">
                <a:tc>
                  <a:txBody>
                    <a:bodyPr/>
                    <a:lstStyle/>
                    <a:p>
                      <a:pPr algn="ctr" latinLnBrk="1"/>
                      <a:r>
                        <a:rPr lang="ko-KR" altLang="en-US" sz="500" dirty="0" smtClean="0"/>
                        <a:t>물품</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공개수의</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긴급공고</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74876776"/>
                  </a:ext>
                </a:extLst>
              </a:tr>
              <a:tr h="102097">
                <a:tc>
                  <a:txBody>
                    <a:bodyPr/>
                    <a:lstStyle/>
                    <a:p>
                      <a:pPr algn="ctr" latinLnBrk="1"/>
                      <a:r>
                        <a:rPr lang="ko-KR" altLang="en-US" sz="500" dirty="0" smtClean="0"/>
                        <a:t>용역</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t>사전심사</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정정공고</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75728283"/>
                  </a:ext>
                </a:extLst>
              </a:tr>
              <a:tr h="102097">
                <a:tc>
                  <a:txBody>
                    <a:bodyPr/>
                    <a:lstStyle/>
                    <a:p>
                      <a:pPr algn="ctr" latinLnBrk="1"/>
                      <a:r>
                        <a:rPr lang="ko-KR" altLang="en-US" sz="500" dirty="0" smtClean="0"/>
                        <a:t>공사</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취소공고</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0828021"/>
                  </a:ext>
                </a:extLst>
              </a:tr>
              <a:tr h="102097">
                <a:tc>
                  <a:txBody>
                    <a:bodyPr/>
                    <a:lstStyle/>
                    <a:p>
                      <a:pPr algn="ctr" latinLnBrk="1"/>
                      <a:r>
                        <a:rPr lang="ko-KR" altLang="en-US" sz="500" dirty="0" smtClean="0"/>
                        <a:t>국외</a:t>
                      </a:r>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연기공고</a:t>
                      </a:r>
                      <a:endParaRPr lang="en-US" altLang="ko-KR" sz="500" dirty="0" smtClean="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47315877"/>
                  </a:ext>
                </a:extLst>
              </a:tr>
              <a:tr h="102097">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재공고</a:t>
                      </a:r>
                      <a:endParaRPr lang="en-US" altLang="ko-KR" sz="500" dirty="0" smtClean="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4307469"/>
                  </a:ext>
                </a:extLst>
              </a:tr>
              <a:tr h="102097">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갱신공고</a:t>
                      </a:r>
                      <a:endParaRPr lang="en-US" altLang="ko-KR" sz="500" dirty="0" smtClean="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92592636"/>
                  </a:ext>
                </a:extLst>
              </a:tr>
              <a:tr h="102097">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긴급공고</a:t>
                      </a:r>
                      <a:endParaRPr lang="en-US" altLang="ko-KR" sz="500" dirty="0" smtClean="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0168100"/>
                  </a:ext>
                </a:extLst>
              </a:tr>
              <a:tr h="102097">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t>재공고</a:t>
                      </a:r>
                      <a:r>
                        <a:rPr lang="en-US" altLang="ko-KR" sz="500" dirty="0" smtClean="0"/>
                        <a:t>(3</a:t>
                      </a:r>
                      <a:r>
                        <a:rPr lang="ko-KR" altLang="en-US" sz="500" dirty="0" smtClean="0"/>
                        <a:t>차</a:t>
                      </a:r>
                      <a:r>
                        <a:rPr lang="en-US" altLang="ko-KR" sz="500" dirty="0" smtClean="0"/>
                        <a:t>)</a:t>
                      </a:r>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75870243"/>
                  </a:ext>
                </a:extLst>
              </a:tr>
              <a:tr h="102097">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en-US" altLang="ko-KR" sz="500" dirty="0" smtClean="0"/>
                    </a:p>
                  </a:txBody>
                  <a:tcPr marL="0" marR="0" marT="0" marB="0">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08406180"/>
                  </a:ext>
                </a:extLst>
              </a:tr>
            </a:tbl>
          </a:graphicData>
        </a:graphic>
      </p:graphicFrame>
      <p:sp>
        <p:nvSpPr>
          <p:cNvPr id="199" name="TextBox 198">
            <a:extLst>
              <a:ext uri="{FF2B5EF4-FFF2-40B4-BE49-F238E27FC236}">
                <a16:creationId xmlns:a16="http://schemas.microsoft.com/office/drawing/2014/main" id="{FFC49AEA-2A8F-250C-A86A-A7751D9706C3}"/>
              </a:ext>
            </a:extLst>
          </p:cNvPr>
          <p:cNvSpPr txBox="1"/>
          <p:nvPr/>
        </p:nvSpPr>
        <p:spPr>
          <a:xfrm>
            <a:off x="778515" y="3301231"/>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2,010</a:t>
            </a:r>
            <a:r>
              <a:rPr lang="en-US" altLang="ko-KR" sz="700" dirty="0">
                <a:latin typeface="+mn-ea"/>
              </a:rPr>
              <a:t> </a:t>
            </a:r>
            <a:r>
              <a:rPr lang="ko-KR" altLang="en-US" sz="700" dirty="0">
                <a:latin typeface="+mn-ea"/>
              </a:rPr>
              <a:t>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278206" y="3297177"/>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2727990" y="3297177"/>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202" name="그룹 201"/>
          <p:cNvGrpSpPr/>
          <p:nvPr/>
        </p:nvGrpSpPr>
        <p:grpSpPr>
          <a:xfrm>
            <a:off x="3143548" y="3399000"/>
            <a:ext cx="94010" cy="47005"/>
            <a:chOff x="6812560" y="3297172"/>
            <a:chExt cx="94010" cy="47005"/>
          </a:xfrm>
        </p:grpSpPr>
        <p:cxnSp>
          <p:nvCxnSpPr>
            <p:cNvPr id="203" name="직선 연결선 2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4" name="직선 연결선 2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5" name="그룹 4"/>
          <p:cNvGrpSpPr/>
          <p:nvPr/>
        </p:nvGrpSpPr>
        <p:grpSpPr>
          <a:xfrm>
            <a:off x="677960" y="1582647"/>
            <a:ext cx="2714637" cy="686386"/>
            <a:chOff x="677960" y="1582647"/>
            <a:chExt cx="2714637" cy="686386"/>
          </a:xfrm>
        </p:grpSpPr>
        <p:sp>
          <p:nvSpPr>
            <p:cNvPr id="208" name="TextBox 207">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smtClean="0">
                  <a:latin typeface="+mn-ea"/>
                </a:rPr>
                <a:t>입찰공고 </a:t>
              </a:r>
              <a:r>
                <a:rPr lang="ko-KR" altLang="en-US" sz="800" dirty="0" err="1" smtClean="0">
                  <a:latin typeface="+mn-ea"/>
                </a:rPr>
                <a:t>통합목록</a:t>
              </a:r>
              <a:endParaRPr lang="ko-KR" altLang="en-US" sz="800" dirty="0">
                <a:latin typeface="+mn-ea"/>
              </a:endParaRPr>
            </a:p>
          </p:txBody>
        </p:sp>
        <p:cxnSp>
          <p:nvCxnSpPr>
            <p:cNvPr id="209" name="직선 연결선 208">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10" name="그룹 209"/>
            <p:cNvGrpSpPr/>
            <p:nvPr/>
          </p:nvGrpSpPr>
          <p:grpSpPr>
            <a:xfrm rot="5400000">
              <a:off x="852159" y="2062596"/>
              <a:ext cx="94010" cy="47005"/>
              <a:chOff x="6812560" y="3297172"/>
              <a:chExt cx="94010" cy="47005"/>
            </a:xfrm>
          </p:grpSpPr>
          <p:cxnSp>
            <p:nvCxnSpPr>
              <p:cNvPr id="211" name="직선 연결선 2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13" name="그룹 212"/>
            <p:cNvGrpSpPr/>
            <p:nvPr/>
          </p:nvGrpSpPr>
          <p:grpSpPr>
            <a:xfrm>
              <a:off x="677960" y="1582647"/>
              <a:ext cx="2712027" cy="324286"/>
              <a:chOff x="677960" y="1582647"/>
              <a:chExt cx="2712027" cy="324286"/>
            </a:xfrm>
          </p:grpSpPr>
          <p:pic>
            <p:nvPicPr>
              <p:cNvPr id="21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215" name="직선 연결선 21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타원 215"/>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타원 216"/>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타원 217"/>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60" name="타원 159">
            <a:extLst>
              <a:ext uri="{FF2B5EF4-FFF2-40B4-BE49-F238E27FC236}">
                <a16:creationId xmlns:a16="http://schemas.microsoft.com/office/drawing/2014/main" id="{37A7FF4F-0EAA-1463-560A-D5EC24416103}"/>
              </a:ext>
            </a:extLst>
          </p:cNvPr>
          <p:cNvSpPr/>
          <p:nvPr/>
        </p:nvSpPr>
        <p:spPr>
          <a:xfrm>
            <a:off x="3599248" y="138830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a:t>3-1</a:t>
            </a:r>
            <a:endParaRPr lang="ko-KR" altLang="en-US" sz="600" b="1" dirty="0"/>
          </a:p>
        </p:txBody>
      </p:sp>
      <p:grpSp>
        <p:nvGrpSpPr>
          <p:cNvPr id="16" name="그룹 15"/>
          <p:cNvGrpSpPr/>
          <p:nvPr/>
        </p:nvGrpSpPr>
        <p:grpSpPr>
          <a:xfrm>
            <a:off x="808106" y="4399754"/>
            <a:ext cx="2461380" cy="692497"/>
            <a:chOff x="783686" y="4433552"/>
            <a:chExt cx="2461380" cy="692497"/>
          </a:xfrm>
        </p:grpSpPr>
        <p:sp>
          <p:nvSpPr>
            <p:cNvPr id="240" name="TextBox 59">
              <a:extLst>
                <a:ext uri="{FF2B5EF4-FFF2-40B4-BE49-F238E27FC236}">
                  <a16:creationId xmlns:a16="http://schemas.microsoft.com/office/drawing/2014/main" id="{F77C802D-3BC8-270F-87FC-5F442BD8054D}"/>
                </a:ext>
              </a:extLst>
            </p:cNvPr>
            <p:cNvSpPr txBox="1"/>
            <p:nvPr/>
          </p:nvSpPr>
          <p:spPr>
            <a:xfrm>
              <a:off x="783686" y="4433552"/>
              <a:ext cx="769441"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발주기관</a:t>
              </a:r>
              <a:endParaRPr lang="en-US" altLang="ko-KR" sz="600" dirty="0" smtClean="0">
                <a:latin typeface="+mn-ea"/>
              </a:endParaRPr>
            </a:p>
            <a:p>
              <a:pPr>
                <a:lnSpc>
                  <a:spcPct val="150000"/>
                </a:lnSpc>
              </a:pPr>
              <a:r>
                <a:rPr lang="ko-KR" altLang="en-US" sz="600" dirty="0">
                  <a:latin typeface="+mn-ea"/>
                </a:rPr>
                <a:t>기초예가금액</a:t>
              </a:r>
              <a:endParaRPr lang="ko-KR" altLang="en-US" sz="500" dirty="0">
                <a:latin typeface="+mn-ea"/>
              </a:endParaRPr>
            </a:p>
            <a:p>
              <a:pPr>
                <a:lnSpc>
                  <a:spcPct val="150000"/>
                </a:lnSpc>
              </a:pPr>
              <a:r>
                <a:rPr lang="ko-KR" altLang="en-US" sz="600" dirty="0" smtClean="0">
                  <a:latin typeface="+mn-ea"/>
                </a:rPr>
                <a:t>생산능력제출마감일시</a:t>
              </a:r>
              <a:endParaRPr lang="en-US" altLang="ko-KR" sz="600" dirty="0" smtClean="0">
                <a:latin typeface="+mn-ea"/>
              </a:endParaRPr>
            </a:p>
            <a:p>
              <a:pPr>
                <a:lnSpc>
                  <a:spcPct val="150000"/>
                </a:lnSpc>
              </a:pPr>
              <a:r>
                <a:rPr lang="ko-KR" altLang="en-US" sz="600" dirty="0" err="1" smtClean="0">
                  <a:latin typeface="+mn-ea"/>
                </a:rPr>
                <a:t>입찰참가등록마감일시</a:t>
              </a:r>
              <a:endParaRPr lang="en-US" altLang="ko-KR" sz="600" dirty="0" smtClean="0">
                <a:latin typeface="+mn-ea"/>
              </a:endParaRPr>
            </a:p>
            <a:p>
              <a:pPr>
                <a:lnSpc>
                  <a:spcPct val="150000"/>
                </a:lnSpc>
              </a:pPr>
              <a:r>
                <a:rPr lang="ko-KR" altLang="en-US" sz="600" dirty="0" smtClean="0">
                  <a:latin typeface="+mn-ea"/>
                </a:rPr>
                <a:t>입찰서제출마감일시</a:t>
              </a:r>
              <a:endParaRPr lang="en-US" altLang="ko-KR" sz="600" dirty="0" smtClean="0">
                <a:latin typeface="+mn-ea"/>
              </a:endParaRPr>
            </a:p>
          </p:txBody>
        </p:sp>
        <p:sp>
          <p:nvSpPr>
            <p:cNvPr id="242" name="TextBox 59">
              <a:extLst>
                <a:ext uri="{FF2B5EF4-FFF2-40B4-BE49-F238E27FC236}">
                  <a16:creationId xmlns:a16="http://schemas.microsoft.com/office/drawing/2014/main" id="{F77C802D-3BC8-270F-87FC-5F442BD8054D}"/>
                </a:ext>
              </a:extLst>
            </p:cNvPr>
            <p:cNvSpPr txBox="1"/>
            <p:nvPr/>
          </p:nvSpPr>
          <p:spPr>
            <a:xfrm>
              <a:off x="2757753" y="4433552"/>
              <a:ext cx="487313"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한국전력공사</a:t>
              </a:r>
              <a:endParaRPr lang="en-US" altLang="ko-KR" sz="600" dirty="0" smtClean="0">
                <a:latin typeface="+mn-ea"/>
              </a:endParaRPr>
            </a:p>
            <a:p>
              <a:pPr>
                <a:lnSpc>
                  <a:spcPct val="150000"/>
                </a:lnSpc>
              </a:pPr>
              <a:r>
                <a:rPr lang="en-US" altLang="ko-KR" sz="600" dirty="0" smtClean="0">
                  <a:latin typeface="+mn-ea"/>
                </a:rPr>
                <a:t>150,000,000</a:t>
              </a:r>
              <a:r>
                <a:rPr lang="ko-KR" altLang="en-US" sz="600" dirty="0" smtClean="0">
                  <a:latin typeface="+mn-ea"/>
                </a:rPr>
                <a:t>원</a:t>
              </a:r>
              <a:endParaRPr lang="en-US" altLang="ko-KR" sz="600" dirty="0" smtClean="0">
                <a:latin typeface="+mn-ea"/>
              </a:endParaRPr>
            </a:p>
            <a:p>
              <a:pPr>
                <a:lnSpc>
                  <a:spcPct val="150000"/>
                </a:lnSpc>
              </a:pPr>
              <a:r>
                <a:rPr lang="en-US" altLang="ko-KR" sz="600" dirty="0" smtClean="0">
                  <a:latin typeface="+mn-ea"/>
                </a:rPr>
                <a:t>2026-07-15</a:t>
              </a:r>
            </a:p>
            <a:p>
              <a:pPr>
                <a:lnSpc>
                  <a:spcPct val="150000"/>
                </a:lnSpc>
              </a:pPr>
              <a:r>
                <a:rPr lang="en-US" altLang="ko-KR" sz="600" dirty="0" smtClean="0">
                  <a:latin typeface="+mn-ea"/>
                </a:rPr>
                <a:t>2026-07-17</a:t>
              </a:r>
              <a:br>
                <a:rPr lang="en-US" altLang="ko-KR" sz="600" dirty="0" smtClean="0">
                  <a:latin typeface="+mn-ea"/>
                </a:rPr>
              </a:br>
              <a:r>
                <a:rPr lang="en-US" altLang="ko-KR" sz="600" dirty="0" smtClean="0">
                  <a:latin typeface="+mn-ea"/>
                </a:rPr>
                <a:t>2026-07-18</a:t>
              </a:r>
              <a:endParaRPr lang="en-US" altLang="ko-KR" sz="600" dirty="0">
                <a:latin typeface="+mn-ea"/>
              </a:endParaRPr>
            </a:p>
          </p:txBody>
        </p:sp>
      </p:grpSp>
      <p:sp>
        <p:nvSpPr>
          <p:cNvPr id="243" name="모서리가 둥근 직사각형 242"/>
          <p:cNvSpPr/>
          <p:nvPr/>
        </p:nvSpPr>
        <p:spPr>
          <a:xfrm>
            <a:off x="1522790" y="3684828"/>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smtClean="0"/>
              <a:t>취급공고</a:t>
            </a:r>
            <a:endParaRPr lang="ko-KR" altLang="en-US" sz="600" dirty="0"/>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758922" y="51941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5" name="그룹 244"/>
          <p:cNvGrpSpPr/>
          <p:nvPr/>
        </p:nvGrpSpPr>
        <p:grpSpPr>
          <a:xfrm>
            <a:off x="783686" y="5271868"/>
            <a:ext cx="2186266" cy="467617"/>
            <a:chOff x="781461" y="2610063"/>
            <a:chExt cx="2186266" cy="467617"/>
          </a:xfrm>
        </p:grpSpPr>
        <p:sp>
          <p:nvSpPr>
            <p:cNvPr id="246" name="TextBox 58">
              <a:extLst>
                <a:ext uri="{FF2B5EF4-FFF2-40B4-BE49-F238E27FC236}">
                  <a16:creationId xmlns:a16="http://schemas.microsoft.com/office/drawing/2014/main" id="{02FC114B-B48B-345F-BD70-2B5A196F5B3E}"/>
                </a:ext>
              </a:extLst>
            </p:cNvPr>
            <p:cNvSpPr txBox="1"/>
            <p:nvPr/>
          </p:nvSpPr>
          <p:spPr>
            <a:xfrm>
              <a:off x="808106" y="2831459"/>
              <a:ext cx="2159621"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smtClean="0">
                  <a:latin typeface="+mn-ea"/>
                </a:rPr>
                <a:t>통합참조번호 </a:t>
              </a:r>
              <a:r>
                <a:rPr lang="en-US" altLang="ko-KR" sz="700" dirty="0" smtClean="0">
                  <a:latin typeface="+mn-ea"/>
                </a:rPr>
                <a:t>: </a:t>
              </a:r>
              <a:r>
                <a:rPr lang="en-US" altLang="ko-KR" sz="700" dirty="0" smtClean="0"/>
                <a:t>2026LGM000604191-01</a:t>
              </a:r>
              <a:endParaRPr lang="en-US" altLang="ko-KR" sz="700" dirty="0"/>
            </a:p>
            <a:p>
              <a:r>
                <a:rPr lang="en-US" altLang="ko-KR" sz="900" b="1" dirty="0">
                  <a:latin typeface="+mn-ea"/>
                </a:rPr>
                <a:t>(</a:t>
              </a:r>
              <a:r>
                <a:rPr lang="ko-KR" altLang="en-US" sz="900" b="1" dirty="0" err="1">
                  <a:latin typeface="+mn-ea"/>
                </a:rPr>
                <a:t>공사명</a:t>
              </a:r>
              <a:r>
                <a:rPr lang="en-US" altLang="ko-KR" sz="900" b="1" dirty="0">
                  <a:latin typeface="+mn-ea"/>
                </a:rPr>
                <a:t>) </a:t>
              </a:r>
              <a:r>
                <a:rPr lang="ko-KR" altLang="en-US" sz="900" b="1" dirty="0">
                  <a:latin typeface="+mn-ea"/>
                </a:rPr>
                <a:t>커피나인청사 </a:t>
              </a:r>
              <a:r>
                <a:rPr lang="ko-KR" altLang="en-US" sz="900" b="1" dirty="0" err="1">
                  <a:latin typeface="+mn-ea"/>
                </a:rPr>
                <a:t>냉난방기</a:t>
              </a:r>
              <a:r>
                <a:rPr lang="ko-KR" altLang="en-US" sz="900" b="1" dirty="0">
                  <a:latin typeface="+mn-ea"/>
                </a:rPr>
                <a:t> </a:t>
              </a:r>
              <a:r>
                <a:rPr lang="ko-KR" altLang="en-US" sz="900" b="1" dirty="0" err="1">
                  <a:latin typeface="+mn-ea"/>
                </a:rPr>
                <a:t>교체공사</a:t>
              </a:r>
              <a:endParaRPr lang="ko-KR" altLang="en-US" sz="900" b="1" dirty="0"/>
            </a:p>
          </p:txBody>
        </p:sp>
        <p:sp>
          <p:nvSpPr>
            <p:cNvPr id="247" name="모서리가 둥근 직사각형 246"/>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smtClean="0">
                  <a:solidFill>
                    <a:schemeClr val="dk1"/>
                  </a:solidFill>
                </a:rPr>
                <a:t>공사</a:t>
              </a:r>
              <a:endParaRPr lang="ko-KR" altLang="en-US" sz="600" dirty="0">
                <a:solidFill>
                  <a:schemeClr val="dk1"/>
                </a:solidFill>
              </a:endParaRPr>
            </a:p>
          </p:txBody>
        </p:sp>
        <p:sp>
          <p:nvSpPr>
            <p:cNvPr id="248" name="모서리가 둥근 직사각형 247"/>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smtClean="0"/>
                <a:t>공개수의</a:t>
              </a:r>
              <a:endParaRPr lang="ko-KR" altLang="en-US" sz="600" dirty="0"/>
            </a:p>
          </p:txBody>
        </p:sp>
      </p:grpSp>
      <p:grpSp>
        <p:nvGrpSpPr>
          <p:cNvPr id="250" name="그룹 249"/>
          <p:cNvGrpSpPr/>
          <p:nvPr/>
        </p:nvGrpSpPr>
        <p:grpSpPr>
          <a:xfrm>
            <a:off x="810331" y="5986794"/>
            <a:ext cx="2461380" cy="276999"/>
            <a:chOff x="783686" y="4433552"/>
            <a:chExt cx="2461380" cy="276999"/>
          </a:xfrm>
        </p:grpSpPr>
        <p:sp>
          <p:nvSpPr>
            <p:cNvPr id="251" name="TextBox 59">
              <a:extLst>
                <a:ext uri="{FF2B5EF4-FFF2-40B4-BE49-F238E27FC236}">
                  <a16:creationId xmlns:a16="http://schemas.microsoft.com/office/drawing/2014/main" id="{F77C802D-3BC8-270F-87FC-5F442BD8054D}"/>
                </a:ext>
              </a:extLst>
            </p:cNvPr>
            <p:cNvSpPr txBox="1"/>
            <p:nvPr/>
          </p:nvSpPr>
          <p:spPr>
            <a:xfrm>
              <a:off x="783686" y="4433552"/>
              <a:ext cx="461665" cy="2769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발주기관</a:t>
              </a:r>
              <a:endParaRPr lang="en-US" altLang="ko-KR" sz="600" dirty="0" smtClean="0">
                <a:latin typeface="+mn-ea"/>
              </a:endParaRPr>
            </a:p>
            <a:p>
              <a:pPr>
                <a:lnSpc>
                  <a:spcPct val="150000"/>
                </a:lnSpc>
              </a:pPr>
              <a:r>
                <a:rPr lang="ko-KR" altLang="en-US" sz="600" dirty="0" smtClean="0">
                  <a:latin typeface="+mn-ea"/>
                </a:rPr>
                <a:t>기초예가금액</a:t>
              </a:r>
              <a:endParaRPr lang="ko-KR" altLang="en-US" sz="500" dirty="0">
                <a:latin typeface="+mn-ea"/>
              </a:endParaRPr>
            </a:p>
          </p:txBody>
        </p:sp>
        <p:sp>
          <p:nvSpPr>
            <p:cNvPr id="252" name="TextBox 59">
              <a:extLst>
                <a:ext uri="{FF2B5EF4-FFF2-40B4-BE49-F238E27FC236}">
                  <a16:creationId xmlns:a16="http://schemas.microsoft.com/office/drawing/2014/main" id="{F77C802D-3BC8-270F-87FC-5F442BD8054D}"/>
                </a:ext>
              </a:extLst>
            </p:cNvPr>
            <p:cNvSpPr txBox="1"/>
            <p:nvPr/>
          </p:nvSpPr>
          <p:spPr>
            <a:xfrm>
              <a:off x="2757753" y="4433552"/>
              <a:ext cx="487313" cy="2769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한국전력공사</a:t>
              </a:r>
              <a:endParaRPr lang="en-US" altLang="ko-KR" sz="600" dirty="0" smtClean="0">
                <a:latin typeface="+mn-ea"/>
              </a:endParaRPr>
            </a:p>
            <a:p>
              <a:pPr>
                <a:lnSpc>
                  <a:spcPct val="150000"/>
                </a:lnSpc>
              </a:pPr>
              <a:r>
                <a:rPr lang="en-US" altLang="ko-KR" sz="600" dirty="0" smtClean="0">
                  <a:latin typeface="+mn-ea"/>
                </a:rPr>
                <a:t>150,000,000</a:t>
              </a:r>
              <a:r>
                <a:rPr lang="ko-KR" altLang="en-US" sz="600" dirty="0" smtClean="0">
                  <a:latin typeface="+mn-ea"/>
                </a:rPr>
                <a:t>원</a:t>
              </a:r>
              <a:endParaRPr lang="en-US" altLang="ko-KR" sz="600" dirty="0" smtClean="0">
                <a:latin typeface="+mn-ea"/>
              </a:endParaRPr>
            </a:p>
          </p:txBody>
        </p:sp>
      </p:grpSp>
      <p:sp>
        <p:nvSpPr>
          <p:cNvPr id="253" name="모서리가 둥근 직사각형 252"/>
          <p:cNvSpPr/>
          <p:nvPr/>
        </p:nvSpPr>
        <p:spPr>
          <a:xfrm>
            <a:off x="1525015" y="5271868"/>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smtClean="0"/>
              <a:t>재공고</a:t>
            </a:r>
            <a:endParaRPr lang="ko-KR" altLang="en-US" sz="600" dirty="0"/>
          </a:p>
        </p:txBody>
      </p:sp>
      <p:sp>
        <p:nvSpPr>
          <p:cNvPr id="254" name="타원 253">
            <a:extLst>
              <a:ext uri="{FF2B5EF4-FFF2-40B4-BE49-F238E27FC236}">
                <a16:creationId xmlns:a16="http://schemas.microsoft.com/office/drawing/2014/main" id="{37A7FF4F-0EAA-1463-560A-D5EC24416103}"/>
              </a:ext>
            </a:extLst>
          </p:cNvPr>
          <p:cNvSpPr/>
          <p:nvPr/>
        </p:nvSpPr>
        <p:spPr>
          <a:xfrm>
            <a:off x="635976" y="228572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255" name="타원 254">
            <a:extLst>
              <a:ext uri="{FF2B5EF4-FFF2-40B4-BE49-F238E27FC236}">
                <a16:creationId xmlns:a16="http://schemas.microsoft.com/office/drawing/2014/main" id="{37A7FF4F-0EAA-1463-560A-D5EC24416103}"/>
              </a:ext>
            </a:extLst>
          </p:cNvPr>
          <p:cNvSpPr/>
          <p:nvPr/>
        </p:nvSpPr>
        <p:spPr>
          <a:xfrm>
            <a:off x="635976" y="323153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690880" y="361744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500" b="1" dirty="0" smtClean="0"/>
              <a:t>3-1</a:t>
            </a:r>
            <a:endParaRPr lang="ko-KR" altLang="en-US" sz="500" b="1" dirty="0"/>
          </a:p>
        </p:txBody>
      </p:sp>
      <p:sp>
        <p:nvSpPr>
          <p:cNvPr id="257" name="타원 256">
            <a:extLst>
              <a:ext uri="{FF2B5EF4-FFF2-40B4-BE49-F238E27FC236}">
                <a16:creationId xmlns:a16="http://schemas.microsoft.com/office/drawing/2014/main" id="{37A7FF4F-0EAA-1463-560A-D5EC24416103}"/>
              </a:ext>
            </a:extLst>
          </p:cNvPr>
          <p:cNvSpPr/>
          <p:nvPr/>
        </p:nvSpPr>
        <p:spPr>
          <a:xfrm>
            <a:off x="570735" y="60306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259" name="타원 258">
            <a:extLst>
              <a:ext uri="{FF2B5EF4-FFF2-40B4-BE49-F238E27FC236}">
                <a16:creationId xmlns:a16="http://schemas.microsoft.com/office/drawing/2014/main" id="{37A7FF4F-0EAA-1463-560A-D5EC24416103}"/>
              </a:ext>
            </a:extLst>
          </p:cNvPr>
          <p:cNvSpPr/>
          <p:nvPr/>
        </p:nvSpPr>
        <p:spPr>
          <a:xfrm>
            <a:off x="2645799" y="26241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260" name="타원 259">
            <a:extLst>
              <a:ext uri="{FF2B5EF4-FFF2-40B4-BE49-F238E27FC236}">
                <a16:creationId xmlns:a16="http://schemas.microsoft.com/office/drawing/2014/main" id="{37A7FF4F-0EAA-1463-560A-D5EC24416103}"/>
              </a:ext>
            </a:extLst>
          </p:cNvPr>
          <p:cNvSpPr/>
          <p:nvPr/>
        </p:nvSpPr>
        <p:spPr>
          <a:xfrm>
            <a:off x="690880" y="385529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3-2</a:t>
            </a:r>
            <a:endParaRPr lang="ko-KR" altLang="en-US" sz="600" b="1" dirty="0"/>
          </a:p>
        </p:txBody>
      </p:sp>
      <p:sp>
        <p:nvSpPr>
          <p:cNvPr id="261" name="타원 260">
            <a:extLst>
              <a:ext uri="{FF2B5EF4-FFF2-40B4-BE49-F238E27FC236}">
                <a16:creationId xmlns:a16="http://schemas.microsoft.com/office/drawing/2014/main" id="{37A7FF4F-0EAA-1463-560A-D5EC24416103}"/>
              </a:ext>
            </a:extLst>
          </p:cNvPr>
          <p:cNvSpPr/>
          <p:nvPr/>
        </p:nvSpPr>
        <p:spPr>
          <a:xfrm>
            <a:off x="690880" y="437973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3-5</a:t>
            </a:r>
            <a:endParaRPr lang="ko-KR" altLang="en-US" sz="600" b="1" dirty="0"/>
          </a:p>
        </p:txBody>
      </p:sp>
      <p:sp>
        <p:nvSpPr>
          <p:cNvPr id="265" name="타원 264">
            <a:extLst>
              <a:ext uri="{FF2B5EF4-FFF2-40B4-BE49-F238E27FC236}">
                <a16:creationId xmlns:a16="http://schemas.microsoft.com/office/drawing/2014/main" id="{37A7FF4F-0EAA-1463-560A-D5EC24416103}"/>
              </a:ext>
            </a:extLst>
          </p:cNvPr>
          <p:cNvSpPr/>
          <p:nvPr/>
        </p:nvSpPr>
        <p:spPr>
          <a:xfrm>
            <a:off x="2705049" y="397276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3-3</a:t>
            </a:r>
            <a:endParaRPr lang="ko-KR" altLang="en-US" sz="600" b="1" dirty="0"/>
          </a:p>
        </p:txBody>
      </p:sp>
      <p:sp>
        <p:nvSpPr>
          <p:cNvPr id="266" name="타원 265">
            <a:extLst>
              <a:ext uri="{FF2B5EF4-FFF2-40B4-BE49-F238E27FC236}">
                <a16:creationId xmlns:a16="http://schemas.microsoft.com/office/drawing/2014/main" id="{37A7FF4F-0EAA-1463-560A-D5EC24416103}"/>
              </a:ext>
            </a:extLst>
          </p:cNvPr>
          <p:cNvSpPr/>
          <p:nvPr/>
        </p:nvSpPr>
        <p:spPr>
          <a:xfrm>
            <a:off x="690880" y="554114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3-4</a:t>
            </a:r>
            <a:endParaRPr lang="ko-KR" altLang="en-US" sz="600" b="1"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808106" y="6072524"/>
            <a:ext cx="2446613" cy="279492"/>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5" name="타원 274">
            <a:extLst>
              <a:ext uri="{FF2B5EF4-FFF2-40B4-BE49-F238E27FC236}">
                <a16:creationId xmlns:a16="http://schemas.microsoft.com/office/drawing/2014/main" id="{37A7FF4F-0EAA-1463-560A-D5EC24416103}"/>
              </a:ext>
            </a:extLst>
          </p:cNvPr>
          <p:cNvSpPr/>
          <p:nvPr/>
        </p:nvSpPr>
        <p:spPr>
          <a:xfrm>
            <a:off x="771829" y="269949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1-1</a:t>
            </a:r>
            <a:endParaRPr lang="ko-KR" altLang="en-US" sz="600" b="1" dirty="0"/>
          </a:p>
        </p:txBody>
      </p:sp>
      <p:sp>
        <p:nvSpPr>
          <p:cNvPr id="276" name="타원 275">
            <a:extLst>
              <a:ext uri="{FF2B5EF4-FFF2-40B4-BE49-F238E27FC236}">
                <a16:creationId xmlns:a16="http://schemas.microsoft.com/office/drawing/2014/main" id="{37A7FF4F-0EAA-1463-560A-D5EC24416103}"/>
              </a:ext>
            </a:extLst>
          </p:cNvPr>
          <p:cNvSpPr/>
          <p:nvPr/>
        </p:nvSpPr>
        <p:spPr>
          <a:xfrm>
            <a:off x="1397558" y="269949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1-2</a:t>
            </a:r>
            <a:endParaRPr lang="ko-KR" altLang="en-US" sz="600" b="1" dirty="0"/>
          </a:p>
        </p:txBody>
      </p:sp>
      <p:sp>
        <p:nvSpPr>
          <p:cNvPr id="277" name="타원 276">
            <a:extLst>
              <a:ext uri="{FF2B5EF4-FFF2-40B4-BE49-F238E27FC236}">
                <a16:creationId xmlns:a16="http://schemas.microsoft.com/office/drawing/2014/main" id="{37A7FF4F-0EAA-1463-560A-D5EC24416103}"/>
              </a:ext>
            </a:extLst>
          </p:cNvPr>
          <p:cNvSpPr/>
          <p:nvPr/>
        </p:nvSpPr>
        <p:spPr>
          <a:xfrm>
            <a:off x="784493" y="294556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1-3</a:t>
            </a:r>
            <a:endParaRPr lang="ko-KR" altLang="en-US" sz="600" b="1" dirty="0"/>
          </a:p>
        </p:txBody>
      </p:sp>
      <p:graphicFrame>
        <p:nvGraphicFramePr>
          <p:cNvPr id="279" name="표 278"/>
          <p:cNvGraphicFramePr>
            <a:graphicFrameLocks noGrp="1"/>
          </p:cNvGraphicFramePr>
          <p:nvPr>
            <p:extLst>
              <p:ext uri="{D42A27DB-BD31-4B8C-83A1-F6EECF244321}">
                <p14:modId xmlns:p14="http://schemas.microsoft.com/office/powerpoint/2010/main" val="3704229198"/>
              </p:ext>
            </p:extLst>
          </p:nvPr>
        </p:nvGraphicFramePr>
        <p:xfrm>
          <a:off x="12105480" y="2236248"/>
          <a:ext cx="3438630" cy="272170"/>
        </p:xfrm>
        <a:graphic>
          <a:graphicData uri="http://schemas.openxmlformats.org/drawingml/2006/table">
            <a:tbl>
              <a:tblPr firstRow="1" bandRow="1">
                <a:tableStyleId>{5C22544A-7EE6-4342-B048-85BDC9FD1C3A}</a:tableStyleId>
              </a:tblPr>
              <a:tblGrid>
                <a:gridCol w="670256">
                  <a:extLst>
                    <a:ext uri="{9D8B030D-6E8A-4147-A177-3AD203B41FA5}">
                      <a16:colId xmlns:a16="http://schemas.microsoft.com/office/drawing/2014/main" val="3629403149"/>
                    </a:ext>
                  </a:extLst>
                </a:gridCol>
                <a:gridCol w="604824">
                  <a:extLst>
                    <a:ext uri="{9D8B030D-6E8A-4147-A177-3AD203B41FA5}">
                      <a16:colId xmlns:a16="http://schemas.microsoft.com/office/drawing/2014/main" val="1460515021"/>
                    </a:ext>
                  </a:extLst>
                </a:gridCol>
                <a:gridCol w="574040">
                  <a:extLst>
                    <a:ext uri="{9D8B030D-6E8A-4147-A177-3AD203B41FA5}">
                      <a16:colId xmlns:a16="http://schemas.microsoft.com/office/drawing/2014/main" val="1918560194"/>
                    </a:ext>
                  </a:extLst>
                </a:gridCol>
                <a:gridCol w="797560">
                  <a:extLst>
                    <a:ext uri="{9D8B030D-6E8A-4147-A177-3AD203B41FA5}">
                      <a16:colId xmlns:a16="http://schemas.microsoft.com/office/drawing/2014/main" val="53436730"/>
                    </a:ext>
                  </a:extLst>
                </a:gridCol>
                <a:gridCol w="791950">
                  <a:extLst>
                    <a:ext uri="{9D8B030D-6E8A-4147-A177-3AD203B41FA5}">
                      <a16:colId xmlns:a16="http://schemas.microsoft.com/office/drawing/2014/main" val="592262436"/>
                    </a:ext>
                  </a:extLst>
                </a:gridCol>
              </a:tblGrid>
              <a:tr h="137177">
                <a:tc>
                  <a:txBody>
                    <a:bodyPr/>
                    <a:lstStyle/>
                    <a:p>
                      <a:pPr algn="ctr" latinLnBrk="1"/>
                      <a:r>
                        <a:rPr lang="ko-KR" altLang="en-US" sz="500" dirty="0" smtClean="0">
                          <a:solidFill>
                            <a:schemeClr val="tx1"/>
                          </a:solidFill>
                        </a:rPr>
                        <a:t>화면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smtClean="0">
                          <a:solidFill>
                            <a:schemeClr val="tx1"/>
                          </a:solidFill>
                        </a:rPr>
                        <a:t>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smtClean="0">
                          <a:solidFill>
                            <a:schemeClr val="tx1"/>
                          </a:solidFill>
                        </a:rPr>
                        <a:t>로그인</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err="1" smtClean="0">
                          <a:solidFill>
                            <a:schemeClr val="tx1"/>
                          </a:solidFill>
                        </a:rPr>
                        <a:t>조회권한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err="1" smtClean="0">
                          <a:solidFill>
                            <a:schemeClr val="tx1"/>
                          </a:solidFill>
                        </a:rPr>
                        <a:t>기간조건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294262836"/>
                  </a:ext>
                </a:extLst>
              </a:tr>
              <a:tr h="134993">
                <a:tc>
                  <a:txBody>
                    <a:bodyPr/>
                    <a:lstStyle/>
                    <a:p>
                      <a:pPr algn="ctr" latinLnBrk="1"/>
                      <a:r>
                        <a:rPr lang="ko-KR" altLang="en-US" sz="500" dirty="0" smtClean="0">
                          <a:solidFill>
                            <a:schemeClr val="tx1"/>
                          </a:solidFill>
                        </a:rPr>
                        <a:t>입찰공고통합목록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공고 </a:t>
                      </a:r>
                      <a:r>
                        <a:rPr lang="ko-KR" altLang="en-US" sz="500" dirty="0" err="1" smtClean="0">
                          <a:solidFill>
                            <a:schemeClr val="tx1"/>
                          </a:solidFill>
                        </a:rPr>
                        <a:t>등록시</a:t>
                      </a:r>
                      <a:r>
                        <a:rPr lang="ko-KR" altLang="en-US" sz="500" dirty="0" smtClean="0">
                          <a:solidFill>
                            <a:schemeClr val="tx1"/>
                          </a:solidFill>
                        </a:rPr>
                        <a:t> 노출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solidFill>
                            <a:schemeClr val="tx1"/>
                          </a:solidFill>
                        </a:rPr>
                        <a:t>필요없음</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전체 공고 조회 가능</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74876776"/>
                  </a:ext>
                </a:extLst>
              </a:tr>
            </a:tbl>
          </a:graphicData>
        </a:graphic>
      </p:graphicFrame>
      <p:sp>
        <p:nvSpPr>
          <p:cNvPr id="18" name="직사각형 17"/>
          <p:cNvSpPr/>
          <p:nvPr/>
        </p:nvSpPr>
        <p:spPr>
          <a:xfrm>
            <a:off x="12023404" y="2029928"/>
            <a:ext cx="1141201" cy="184666"/>
          </a:xfrm>
          <a:prstGeom prst="rect">
            <a:avLst/>
          </a:prstGeom>
        </p:spPr>
        <p:txBody>
          <a:bodyPr wrap="square">
            <a:spAutoFit/>
          </a:bodyPr>
          <a:lstStyle/>
          <a:p>
            <a:r>
              <a:rPr lang="ko-KR" altLang="en-US" sz="600" b="1" dirty="0" smtClean="0"/>
              <a:t>화면 </a:t>
            </a:r>
            <a:r>
              <a:rPr lang="ko-KR" altLang="en-US" sz="600" b="1" dirty="0" err="1" smtClean="0"/>
              <a:t>조회및</a:t>
            </a:r>
            <a:r>
              <a:rPr lang="ko-KR" altLang="en-US" sz="600" b="1" dirty="0" smtClean="0"/>
              <a:t> 접근 정책</a:t>
            </a:r>
            <a:endParaRPr lang="ko-KR" altLang="en-US" sz="600" b="1" dirty="0"/>
          </a:p>
        </p:txBody>
      </p:sp>
      <p:sp>
        <p:nvSpPr>
          <p:cNvPr id="280" name="직사각형 27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설명 추가</a:t>
            </a:r>
            <a:endParaRPr lang="ko-KR" altLang="en-US" dirty="0"/>
          </a:p>
        </p:txBody>
      </p:sp>
      <p:sp>
        <p:nvSpPr>
          <p:cNvPr id="281" name="직사각형 280"/>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공고 목록 설명 추가</a:t>
            </a:r>
            <a:endParaRPr lang="ko-KR" altLang="en-US" sz="700" dirty="0"/>
          </a:p>
        </p:txBody>
      </p:sp>
      <p:sp>
        <p:nvSpPr>
          <p:cNvPr id="282" name="직사각형 281"/>
          <p:cNvSpPr/>
          <p:nvPr/>
        </p:nvSpPr>
        <p:spPr>
          <a:xfrm>
            <a:off x="8223250" y="799745"/>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2026-07-06 </a:t>
            </a:r>
            <a:r>
              <a:rPr lang="ko-KR" altLang="en-US" dirty="0" smtClean="0"/>
              <a:t>설명 추가</a:t>
            </a:r>
            <a:endParaRPr lang="ko-KR" altLang="en-US" dirty="0"/>
          </a:p>
        </p:txBody>
      </p:sp>
      <p:sp>
        <p:nvSpPr>
          <p:cNvPr id="283" name="직사각형 282"/>
          <p:cNvSpPr/>
          <p:nvPr/>
        </p:nvSpPr>
        <p:spPr>
          <a:xfrm>
            <a:off x="9906000" y="799744"/>
            <a:ext cx="1682750" cy="219466"/>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공고 목록 설명 추가</a:t>
            </a:r>
            <a:endParaRPr lang="ko-KR" altLang="en-US" sz="700" dirty="0"/>
          </a:p>
        </p:txBody>
      </p:sp>
      <p:sp>
        <p:nvSpPr>
          <p:cNvPr id="91" name="직사각형 90"/>
          <p:cNvSpPr/>
          <p:nvPr/>
        </p:nvSpPr>
        <p:spPr>
          <a:xfrm>
            <a:off x="8223250" y="1019211"/>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2026-07-09 </a:t>
            </a:r>
            <a:r>
              <a:rPr lang="ko-KR" altLang="en-US" dirty="0" smtClean="0"/>
              <a:t>설명 추가</a:t>
            </a:r>
            <a:endParaRPr lang="ko-KR" altLang="en-US" dirty="0"/>
          </a:p>
        </p:txBody>
      </p:sp>
      <p:sp>
        <p:nvSpPr>
          <p:cNvPr id="92" name="직사각형 91"/>
          <p:cNvSpPr/>
          <p:nvPr/>
        </p:nvSpPr>
        <p:spPr>
          <a:xfrm>
            <a:off x="9906000" y="1019210"/>
            <a:ext cx="1682750" cy="219466"/>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특이사항 전체 수정</a:t>
            </a:r>
            <a:endParaRPr lang="ko-KR" altLang="en-US" sz="700" dirty="0"/>
          </a:p>
        </p:txBody>
      </p:sp>
      <p:sp>
        <p:nvSpPr>
          <p:cNvPr id="93" name="TextBox 92">
            <a:extLst>
              <a:ext uri="{FF2B5EF4-FFF2-40B4-BE49-F238E27FC236}">
                <a16:creationId xmlns:a16="http://schemas.microsoft.com/office/drawing/2014/main" id="{FFC49AEA-2A8F-250C-A86A-A7751D9706C3}"/>
              </a:ext>
            </a:extLst>
          </p:cNvPr>
          <p:cNvSpPr txBox="1"/>
          <p:nvPr/>
        </p:nvSpPr>
        <p:spPr>
          <a:xfrm>
            <a:off x="3810036" y="1349367"/>
            <a:ext cx="547346" cy="107722"/>
          </a:xfrm>
          <a:prstGeom prst="rect">
            <a:avLst/>
          </a:prstGeom>
          <a:noFill/>
        </p:spPr>
        <p:txBody>
          <a:bodyPr wrap="square" lIns="0" tIns="0" rIns="0" bIns="0" rtlCol="0">
            <a:spAutoFit/>
          </a:bodyPr>
          <a:lstStyle/>
          <a:p>
            <a:r>
              <a:rPr lang="ko-KR" altLang="en-US" sz="700" dirty="0" smtClean="0">
                <a:latin typeface="+mn-ea"/>
              </a:rPr>
              <a:t>표시 레이블</a:t>
            </a:r>
            <a:endParaRPr lang="ko-KR" altLang="en-US" sz="700" dirty="0">
              <a:latin typeface="+mn-ea"/>
            </a:endParaRPr>
          </a:p>
        </p:txBody>
      </p:sp>
      <p:graphicFrame>
        <p:nvGraphicFramePr>
          <p:cNvPr id="94" name="표 93"/>
          <p:cNvGraphicFramePr>
            <a:graphicFrameLocks noGrp="1"/>
          </p:cNvGraphicFramePr>
          <p:nvPr>
            <p:extLst>
              <p:ext uri="{D42A27DB-BD31-4B8C-83A1-F6EECF244321}">
                <p14:modId xmlns:p14="http://schemas.microsoft.com/office/powerpoint/2010/main" val="2911741989"/>
              </p:ext>
            </p:extLst>
          </p:nvPr>
        </p:nvGraphicFramePr>
        <p:xfrm>
          <a:off x="3801286" y="1542277"/>
          <a:ext cx="3069778" cy="4988560"/>
        </p:xfrm>
        <a:graphic>
          <a:graphicData uri="http://schemas.openxmlformats.org/drawingml/2006/table">
            <a:tbl>
              <a:tblPr firstRow="1" bandRow="1">
                <a:tableStyleId>{7E9639D4-E3E2-4D34-9284-5A2195B3D0D7}</a:tableStyleId>
              </a:tblPr>
              <a:tblGrid>
                <a:gridCol w="1534889">
                  <a:extLst>
                    <a:ext uri="{9D8B030D-6E8A-4147-A177-3AD203B41FA5}">
                      <a16:colId xmlns:a16="http://schemas.microsoft.com/office/drawing/2014/main" val="3115782702"/>
                    </a:ext>
                  </a:extLst>
                </a:gridCol>
                <a:gridCol w="1534889">
                  <a:extLst>
                    <a:ext uri="{9D8B030D-6E8A-4147-A177-3AD203B41FA5}">
                      <a16:colId xmlns:a16="http://schemas.microsoft.com/office/drawing/2014/main" val="393582204"/>
                    </a:ext>
                  </a:extLst>
                </a:gridCol>
              </a:tblGrid>
              <a:tr h="370840">
                <a:tc>
                  <a:txBody>
                    <a:bodyPr/>
                    <a:lstStyle/>
                    <a:p>
                      <a:pPr algn="ctr" latinLnBrk="1"/>
                      <a:r>
                        <a:rPr lang="ko-KR" altLang="en-US" sz="700" dirty="0" smtClean="0"/>
                        <a:t>항목명</a:t>
                      </a:r>
                      <a:endParaRPr lang="ko-KR" altLang="en-US" sz="700" dirty="0"/>
                    </a:p>
                  </a:txBody>
                  <a:tcPr anchor="ctr"/>
                </a:tc>
                <a:tc>
                  <a:txBody>
                    <a:bodyPr/>
                    <a:lstStyle/>
                    <a:p>
                      <a:pPr algn="ctr" latinLnBrk="1"/>
                      <a:r>
                        <a:rPr lang="ko-KR" altLang="en-US" sz="700" dirty="0" smtClean="0"/>
                        <a:t>표시 값</a:t>
                      </a:r>
                      <a:endParaRPr lang="ko-KR" altLang="en-US" sz="700" dirty="0"/>
                    </a:p>
                  </a:txBody>
                  <a:tcPr anchor="ctr"/>
                </a:tc>
                <a:extLst>
                  <a:ext uri="{0D108BD9-81ED-4DB2-BD59-A6C34878D82A}">
                    <a16:rowId xmlns:a16="http://schemas.microsoft.com/office/drawing/2014/main" val="139709430"/>
                  </a:ext>
                </a:extLst>
              </a:tr>
              <a:tr h="370840">
                <a:tc>
                  <a:txBody>
                    <a:bodyPr/>
                    <a:lstStyle/>
                    <a:p>
                      <a:pPr algn="ctr" latinLnBrk="1"/>
                      <a:r>
                        <a:rPr lang="ko-KR" altLang="en-US" sz="700" dirty="0" err="1" smtClean="0">
                          <a:latin typeface="+mn-ea"/>
                        </a:rPr>
                        <a:t>업무구분</a:t>
                      </a:r>
                      <a:r>
                        <a:rPr lang="ko-KR" altLang="en-US" sz="700" dirty="0" smtClean="0"/>
                        <a:t> </a:t>
                      </a:r>
                      <a:r>
                        <a:rPr lang="en-US" altLang="ko-KR" sz="700" dirty="0" smtClean="0"/>
                        <a:t>(</a:t>
                      </a:r>
                      <a:r>
                        <a:rPr lang="en-US" altLang="ko-KR" sz="700" b="0" i="0" u="none" strike="noStrike" dirty="0" err="1" smtClean="0">
                          <a:solidFill>
                            <a:srgbClr val="000000"/>
                          </a:solidFill>
                          <a:effectLst/>
                          <a:latin typeface="+mn-lt"/>
                          <a:ea typeface="+mn-ea"/>
                        </a:rPr>
                        <a:t>taskSecd</a:t>
                      </a:r>
                      <a:r>
                        <a:rPr lang="en-US" altLang="ko-KR" sz="700" dirty="0" smtClean="0"/>
                        <a:t>)</a:t>
                      </a:r>
                      <a:endParaRPr lang="ko-KR" altLang="en-US" sz="700" dirty="0"/>
                    </a:p>
                  </a:txBody>
                  <a:tcPr anchor="ctr"/>
                </a:tc>
                <a:tc>
                  <a:txBody>
                    <a:bodyPr/>
                    <a:lstStyle/>
                    <a:p>
                      <a:pPr algn="ctr" latinLnBrk="1"/>
                      <a:r>
                        <a:rPr lang="ko-KR" altLang="en-US" sz="700" dirty="0" smtClean="0"/>
                        <a:t>물품</a:t>
                      </a:r>
                      <a:r>
                        <a:rPr lang="en-US" altLang="ko-KR" sz="700" dirty="0" smtClean="0"/>
                        <a:t>, </a:t>
                      </a:r>
                      <a:r>
                        <a:rPr lang="ko-KR" altLang="en-US" sz="700" dirty="0" smtClean="0"/>
                        <a:t>용역</a:t>
                      </a:r>
                      <a:r>
                        <a:rPr lang="en-US" altLang="ko-KR" sz="700" dirty="0" smtClean="0"/>
                        <a:t>, </a:t>
                      </a:r>
                      <a:r>
                        <a:rPr lang="ko-KR" altLang="en-US" sz="700" dirty="0" smtClean="0"/>
                        <a:t>공사</a:t>
                      </a:r>
                      <a:r>
                        <a:rPr lang="en-US" altLang="ko-KR" sz="700" dirty="0" smtClean="0"/>
                        <a:t>, </a:t>
                      </a:r>
                      <a:r>
                        <a:rPr lang="ko-KR" altLang="en-US" sz="700" dirty="0" smtClean="0"/>
                        <a:t>국외</a:t>
                      </a:r>
                      <a:endParaRPr lang="ko-KR" altLang="en-US" sz="700" dirty="0"/>
                    </a:p>
                  </a:txBody>
                  <a:tcPr anchor="ctr"/>
                </a:tc>
                <a:extLst>
                  <a:ext uri="{0D108BD9-81ED-4DB2-BD59-A6C34878D82A}">
                    <a16:rowId xmlns:a16="http://schemas.microsoft.com/office/drawing/2014/main" val="1160468422"/>
                  </a:ext>
                </a:extLst>
              </a:tr>
              <a:tr h="370840">
                <a:tc>
                  <a:txBody>
                    <a:bodyPr/>
                    <a:lstStyle/>
                    <a:p>
                      <a:pPr algn="ctr" latinLnBrk="1"/>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As-Is</a:t>
                      </a:r>
                      <a:endParaRPr lang="ko-KR" altLang="en-US" sz="700" dirty="0"/>
                    </a:p>
                  </a:txBody>
                  <a:tcPr anchor="ctr"/>
                </a:tc>
                <a:tc>
                  <a:txBody>
                    <a:bodyPr/>
                    <a:lstStyle/>
                    <a:p>
                      <a:pPr algn="ctr" latinLnBrk="1"/>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r>
                        <a:rPr lang="en-US" altLang="ko-KR" sz="700" dirty="0" smtClean="0"/>
                        <a:t>, </a:t>
                      </a:r>
                      <a:r>
                        <a:rPr lang="ko-KR" altLang="en-US" sz="700" dirty="0" err="1" smtClean="0"/>
                        <a:t>역경매</a:t>
                      </a:r>
                      <a:r>
                        <a:rPr lang="en-US" altLang="ko-KR" sz="700" dirty="0" smtClean="0"/>
                        <a:t>, </a:t>
                      </a:r>
                      <a:r>
                        <a:rPr lang="ko-KR" altLang="en-US" sz="700" dirty="0" err="1" smtClean="0"/>
                        <a:t>복수경쟁</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endParaRPr lang="ko-KR" altLang="en-US" sz="700" dirty="0"/>
                    </a:p>
                  </a:txBody>
                  <a:tcPr anchor="ctr"/>
                </a:tc>
                <a:extLst>
                  <a:ext uri="{0D108BD9-81ED-4DB2-BD59-A6C34878D82A}">
                    <a16:rowId xmlns:a16="http://schemas.microsoft.com/office/drawing/2014/main" val="729087243"/>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To-Be</a:t>
                      </a:r>
                      <a:endParaRPr lang="ko-KR" altLang="en-US" sz="700" dirty="0" smtClean="0"/>
                    </a:p>
                  </a:txBody>
                  <a:tcPr anchor="ct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p>
                  </a:txBody>
                  <a:tcPr anchor="ctr"/>
                </a:tc>
                <a:extLst>
                  <a:ext uri="{0D108BD9-81ED-4DB2-BD59-A6C34878D82A}">
                    <a16:rowId xmlns:a16="http://schemas.microsoft.com/office/drawing/2014/main" val="1753565295"/>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r>
                        <a:rPr lang="en-US" altLang="ko-KR" sz="700" dirty="0" smtClean="0"/>
                        <a:t>, </a:t>
                      </a:r>
                      <a:r>
                        <a:rPr lang="ko-KR" altLang="en-US" sz="700" dirty="0" err="1" smtClean="0"/>
                        <a:t>단가제</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적격심사</a:t>
                      </a:r>
                      <a:r>
                        <a:rPr lang="en-US" altLang="ko-KR" sz="700" dirty="0" smtClean="0"/>
                        <a:t>), </a:t>
                      </a:r>
                      <a:r>
                        <a:rPr lang="ko-KR" altLang="en-US" sz="700" dirty="0" err="1" smtClean="0"/>
                        <a:t>내역입찰</a:t>
                      </a:r>
                      <a:r>
                        <a:rPr lang="en-US" altLang="ko-KR" sz="700" dirty="0" smtClean="0"/>
                        <a:t>(</a:t>
                      </a:r>
                      <a:r>
                        <a:rPr lang="ko-KR" altLang="en-US" sz="700" dirty="0" err="1" smtClean="0"/>
                        <a:t>종합심사</a:t>
                      </a:r>
                      <a:r>
                        <a:rPr lang="en-US" altLang="ko-KR" sz="700" dirty="0" smtClean="0"/>
                        <a:t>), </a:t>
                      </a:r>
                      <a:r>
                        <a:rPr lang="ko-KR" altLang="en-US" sz="700" dirty="0" err="1" smtClean="0"/>
                        <a:t>내역입찰</a:t>
                      </a:r>
                      <a:r>
                        <a:rPr lang="en-US" altLang="ko-KR" sz="700" dirty="0" smtClean="0"/>
                        <a:t>(</a:t>
                      </a:r>
                      <a:r>
                        <a:rPr lang="ko-KR" altLang="en-US" sz="700" dirty="0" smtClean="0"/>
                        <a:t>설계시공일괄입찰</a:t>
                      </a:r>
                      <a:r>
                        <a:rPr lang="en-US" altLang="ko-KR" sz="700" dirty="0" smtClean="0"/>
                        <a:t>)</a:t>
                      </a:r>
                      <a:endParaRPr lang="ko-KR" altLang="en-US" sz="700" dirty="0"/>
                    </a:p>
                  </a:txBody>
                  <a:tcPr anchor="ctr"/>
                </a:tc>
                <a:extLst>
                  <a:ext uri="{0D108BD9-81ED-4DB2-BD59-A6C34878D82A}">
                    <a16:rowId xmlns:a16="http://schemas.microsoft.com/office/drawing/2014/main" val="2357552286"/>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endParaRPr lang="ko-KR" altLang="en-US" sz="700" dirty="0"/>
                    </a:p>
                  </a:txBody>
                  <a:tcPr anchor="ctr"/>
                </a:tc>
                <a:extLst>
                  <a:ext uri="{0D108BD9-81ED-4DB2-BD59-A6C34878D82A}">
                    <a16:rowId xmlns:a16="http://schemas.microsoft.com/office/drawing/2014/main" val="1157640162"/>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a:t>
                      </a:r>
                      <a:r>
                        <a:rPr lang="ko-KR" altLang="en-US" sz="700" dirty="0" smtClean="0"/>
                        <a:t>협상</a:t>
                      </a:r>
                      <a:r>
                        <a:rPr lang="en-US" altLang="ko-KR" sz="700" dirty="0" smtClean="0"/>
                        <a:t>, </a:t>
                      </a:r>
                      <a:r>
                        <a:rPr lang="ko-KR" altLang="en-US" sz="700" dirty="0" err="1" smtClean="0"/>
                        <a:t>최저가격제</a:t>
                      </a:r>
                      <a:endParaRPr lang="ko-KR" altLang="en-US" sz="700" dirty="0"/>
                    </a:p>
                  </a:txBody>
                  <a:tcPr anchor="ctr"/>
                </a:tc>
                <a:extLst>
                  <a:ext uri="{0D108BD9-81ED-4DB2-BD59-A6C34878D82A}">
                    <a16:rowId xmlns:a16="http://schemas.microsoft.com/office/drawing/2014/main" val="3907289756"/>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역경매</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r>
                        <a:rPr lang="en-US" altLang="ko-KR" sz="700" dirty="0" smtClean="0"/>
                        <a:t>, </a:t>
                      </a:r>
                      <a:r>
                        <a:rPr lang="ko-KR" altLang="en-US" sz="700" dirty="0" err="1" smtClean="0"/>
                        <a:t>종합심사제</a:t>
                      </a:r>
                      <a:r>
                        <a:rPr lang="en-US" altLang="ko-KR" sz="700" dirty="0" smtClean="0"/>
                        <a:t>, </a:t>
                      </a:r>
                      <a:r>
                        <a:rPr lang="ko-KR" altLang="en-US" sz="700" dirty="0" smtClean="0"/>
                        <a:t>설계시공일괄입찰</a:t>
                      </a:r>
                      <a:r>
                        <a:rPr lang="en-US" altLang="ko-KR" sz="700" dirty="0" smtClean="0"/>
                        <a:t>, </a:t>
                      </a:r>
                      <a:r>
                        <a:rPr lang="ko-KR" altLang="en-US" sz="700" dirty="0" smtClean="0"/>
                        <a:t>공개수의협상</a:t>
                      </a:r>
                      <a:r>
                        <a:rPr lang="en-US" altLang="ko-KR" sz="700" dirty="0" smtClean="0"/>
                        <a:t>(</a:t>
                      </a:r>
                      <a:r>
                        <a:rPr lang="ko-KR" altLang="en-US" sz="700" dirty="0" smtClean="0"/>
                        <a:t>가칭</a:t>
                      </a:r>
                      <a:r>
                        <a:rPr lang="en-US" altLang="ko-KR" sz="700" dirty="0" smtClean="0"/>
                        <a:t>)</a:t>
                      </a:r>
                      <a:endParaRPr lang="ko-KR" altLang="en-US" sz="700" dirty="0"/>
                    </a:p>
                  </a:txBody>
                  <a:tcPr anchor="ctr"/>
                </a:tc>
                <a:extLst>
                  <a:ext uri="{0D108BD9-81ED-4DB2-BD59-A6C34878D82A}">
                    <a16:rowId xmlns:a16="http://schemas.microsoft.com/office/drawing/2014/main" val="1494051991"/>
                  </a:ext>
                </a:extLst>
              </a:tr>
              <a:tr h="370840">
                <a:tc>
                  <a:txBody>
                    <a:bodyPr/>
                    <a:lstStyle/>
                    <a:p>
                      <a:pPr algn="ctr" latinLnBrk="1"/>
                      <a:r>
                        <a:rPr lang="ko-KR" altLang="en-US" sz="700" dirty="0" err="1" smtClean="0">
                          <a:latin typeface="+mn-ea"/>
                          <a:ea typeface="+mn-ea"/>
                        </a:rPr>
                        <a:t>진행상태명</a:t>
                      </a:r>
                      <a:r>
                        <a:rPr lang="ko-KR" altLang="en-US" sz="700" dirty="0" smtClean="0">
                          <a:latin typeface="+mn-ea"/>
                          <a:ea typeface="+mn-ea"/>
                        </a:rPr>
                        <a:t> </a:t>
                      </a:r>
                      <a:r>
                        <a:rPr lang="en-US" altLang="ko-KR" sz="700" dirty="0" smtClean="0">
                          <a:latin typeface="+mn-ea"/>
                          <a:ea typeface="+mn-ea"/>
                        </a:rPr>
                        <a:t>(</a:t>
                      </a:r>
                      <a:r>
                        <a:rPr lang="en-US" altLang="ko-KR" sz="700" dirty="0" err="1" smtClean="0">
                          <a:latin typeface="+mn-ea"/>
                          <a:ea typeface="+mn-ea"/>
                        </a:rPr>
                        <a:t>bidStatNm</a:t>
                      </a:r>
                      <a:r>
                        <a:rPr lang="en-US" altLang="ko-KR" sz="700" dirty="0" smtClean="0">
                          <a:latin typeface="+mn-ea"/>
                          <a:ea typeface="+mn-ea"/>
                        </a:rPr>
                        <a:t>)</a:t>
                      </a:r>
                      <a:endParaRPr lang="ko-KR" altLang="en-US" sz="700" dirty="0"/>
                    </a:p>
                  </a:txBody>
                  <a:tcPr anchor="ctr"/>
                </a:tc>
                <a:tc>
                  <a:txBody>
                    <a:bodyPr/>
                    <a:lstStyle/>
                    <a:p>
                      <a:pPr algn="ctr" latinLnBrk="1"/>
                      <a:r>
                        <a:rPr lang="ko-KR" altLang="en-US" sz="700" dirty="0" err="1" smtClean="0"/>
                        <a:t>서류요청</a:t>
                      </a:r>
                      <a:r>
                        <a:rPr lang="en-US" altLang="ko-KR" sz="700" dirty="0" smtClean="0"/>
                        <a:t>, </a:t>
                      </a:r>
                      <a:r>
                        <a:rPr lang="ko-KR" altLang="en-US" sz="700" dirty="0" err="1" smtClean="0"/>
                        <a:t>서류등록</a:t>
                      </a:r>
                      <a:r>
                        <a:rPr lang="en-US" altLang="ko-KR" sz="700" dirty="0" smtClean="0"/>
                        <a:t>, </a:t>
                      </a:r>
                      <a:r>
                        <a:rPr lang="ko-KR" altLang="en-US" sz="700" dirty="0" err="1" smtClean="0"/>
                        <a:t>서류반려</a:t>
                      </a:r>
                      <a:r>
                        <a:rPr lang="en-US" altLang="ko-KR" sz="700" dirty="0" smtClean="0"/>
                        <a:t>, </a:t>
                      </a:r>
                      <a:r>
                        <a:rPr lang="ko-KR" altLang="en-US" sz="700" dirty="0" err="1" smtClean="0"/>
                        <a:t>체결의뢰</a:t>
                      </a:r>
                      <a:r>
                        <a:rPr lang="ko-KR" altLang="en-US" sz="700" dirty="0" smtClean="0"/>
                        <a:t> 등</a:t>
                      </a:r>
                      <a:endParaRPr lang="ko-KR" altLang="en-US" sz="700" dirty="0"/>
                    </a:p>
                  </a:txBody>
                  <a:tcPr anchor="ctr"/>
                </a:tc>
                <a:extLst>
                  <a:ext uri="{0D108BD9-81ED-4DB2-BD59-A6C34878D82A}">
                    <a16:rowId xmlns:a16="http://schemas.microsoft.com/office/drawing/2014/main" val="2086675074"/>
                  </a:ext>
                </a:extLst>
              </a:tr>
              <a:tr h="370840">
                <a:tc>
                  <a:txBody>
                    <a:bodyPr/>
                    <a:lstStyle/>
                    <a:p>
                      <a:pPr algn="ctr" latinLnBrk="1"/>
                      <a:r>
                        <a:rPr lang="ko-KR" altLang="en-US" sz="700" dirty="0" err="1" smtClean="0">
                          <a:latin typeface="+mn-ea"/>
                          <a:ea typeface="+mn-ea"/>
                        </a:rPr>
                        <a:t>공고구분</a:t>
                      </a:r>
                      <a:endParaRPr lang="ko-KR" altLang="en-US" sz="700" dirty="0"/>
                    </a:p>
                  </a:txBody>
                  <a:tcPr anchor="ctr"/>
                </a:tc>
                <a:tc>
                  <a:txBody>
                    <a:bodyPr/>
                    <a:lstStyle/>
                    <a:p>
                      <a:pPr algn="ctr" latinLnBrk="1"/>
                      <a:r>
                        <a:rPr lang="ko-KR" altLang="en-US" sz="700" dirty="0" err="1" smtClean="0"/>
                        <a:t>정상공고</a:t>
                      </a:r>
                      <a:r>
                        <a:rPr lang="en-US" altLang="ko-KR" sz="700" dirty="0" smtClean="0"/>
                        <a:t>, </a:t>
                      </a:r>
                      <a:r>
                        <a:rPr lang="ko-KR" altLang="en-US" sz="700" dirty="0" err="1" smtClean="0"/>
                        <a:t>긴급공고</a:t>
                      </a:r>
                      <a:r>
                        <a:rPr lang="en-US" altLang="ko-KR" sz="700" dirty="0" smtClean="0"/>
                        <a:t>, </a:t>
                      </a:r>
                      <a:r>
                        <a:rPr lang="ko-KR" altLang="en-US" sz="700" dirty="0" err="1" smtClean="0"/>
                        <a:t>재공고</a:t>
                      </a:r>
                      <a:r>
                        <a:rPr lang="en-US" altLang="ko-KR" sz="700" dirty="0" smtClean="0"/>
                        <a:t>, </a:t>
                      </a:r>
                      <a:r>
                        <a:rPr lang="ko-KR" altLang="en-US" sz="700" dirty="0" err="1" smtClean="0"/>
                        <a:t>긴급갱신</a:t>
                      </a:r>
                      <a:r>
                        <a:rPr lang="en-US" altLang="ko-KR" sz="700" dirty="0" smtClean="0"/>
                        <a:t>, </a:t>
                      </a:r>
                      <a:r>
                        <a:rPr lang="ko-KR" altLang="en-US" sz="700" dirty="0" err="1" smtClean="0"/>
                        <a:t>재공고</a:t>
                      </a:r>
                      <a:r>
                        <a:rPr lang="en-US" altLang="ko-KR" sz="700" dirty="0" smtClean="0"/>
                        <a:t>(3</a:t>
                      </a:r>
                      <a:r>
                        <a:rPr lang="ko-KR" altLang="en-US" sz="700" dirty="0" smtClean="0"/>
                        <a:t>차</a:t>
                      </a:r>
                      <a:r>
                        <a:rPr lang="en-US" altLang="ko-KR" sz="700" dirty="0" smtClean="0"/>
                        <a:t>),</a:t>
                      </a:r>
                      <a:r>
                        <a:rPr lang="ko-KR" altLang="en-US" sz="700" dirty="0" smtClean="0"/>
                        <a:t>긴급갱신재공고</a:t>
                      </a:r>
                      <a:r>
                        <a:rPr lang="en-US" altLang="ko-KR" sz="700" dirty="0" smtClean="0"/>
                        <a:t>, </a:t>
                      </a:r>
                      <a:r>
                        <a:rPr lang="ko-KR" altLang="en-US" sz="700" dirty="0" err="1" smtClean="0"/>
                        <a:t>정정공고</a:t>
                      </a:r>
                      <a:r>
                        <a:rPr lang="en-US" altLang="ko-KR" sz="700" dirty="0" smtClean="0"/>
                        <a:t>, </a:t>
                      </a:r>
                      <a:r>
                        <a:rPr lang="ko-KR" altLang="en-US" sz="700" dirty="0" err="1" smtClean="0"/>
                        <a:t>취소공고</a:t>
                      </a:r>
                      <a:r>
                        <a:rPr lang="en-US" altLang="ko-KR" sz="700" dirty="0" smtClean="0"/>
                        <a:t>, </a:t>
                      </a:r>
                      <a:r>
                        <a:rPr lang="ko-KR" altLang="en-US" sz="700" dirty="0" err="1" smtClean="0"/>
                        <a:t>연기공고</a:t>
                      </a:r>
                      <a:r>
                        <a:rPr lang="en-US" altLang="ko-KR" sz="700" dirty="0" smtClean="0"/>
                        <a:t>, </a:t>
                      </a:r>
                      <a:r>
                        <a:rPr lang="ko-KR" altLang="en-US" sz="700" dirty="0" smtClean="0"/>
                        <a:t>게시</a:t>
                      </a:r>
                      <a:r>
                        <a:rPr lang="en-US" altLang="ko-KR" sz="700" dirty="0" smtClean="0"/>
                        <a:t>, </a:t>
                      </a:r>
                      <a:r>
                        <a:rPr lang="ko-KR" altLang="en-US" sz="700" dirty="0" smtClean="0"/>
                        <a:t>모의입찰코드</a:t>
                      </a:r>
                      <a:endParaRPr lang="ko-KR" altLang="en-US" sz="700" dirty="0"/>
                    </a:p>
                  </a:txBody>
                  <a:tcPr anchor="ctr"/>
                </a:tc>
                <a:extLst>
                  <a:ext uri="{0D108BD9-81ED-4DB2-BD59-A6C34878D82A}">
                    <a16:rowId xmlns:a16="http://schemas.microsoft.com/office/drawing/2014/main" val="3252512344"/>
                  </a:ext>
                </a:extLst>
              </a:tr>
              <a:tr h="370840">
                <a:tc>
                  <a:txBody>
                    <a:bodyPr/>
                    <a:lstStyle/>
                    <a:p>
                      <a:pPr algn="ctr" latinLnBrk="1"/>
                      <a:r>
                        <a:rPr lang="ko-KR" altLang="en-US" sz="700" dirty="0" err="1" smtClean="0">
                          <a:latin typeface="+mn-ea"/>
                          <a:ea typeface="+mn-ea"/>
                        </a:rPr>
                        <a:t>입찰형태</a:t>
                      </a:r>
                      <a:endParaRPr lang="ko-KR" altLang="en-US" sz="700" dirty="0" smtClean="0"/>
                    </a:p>
                  </a:txBody>
                  <a:tcPr anchor="ctr"/>
                </a:tc>
                <a:tc>
                  <a:txBody>
                    <a:bodyPr/>
                    <a:lstStyle/>
                    <a:p>
                      <a:pPr algn="ctr" latinLnBrk="1"/>
                      <a:r>
                        <a:rPr lang="ko-KR" altLang="en-US" sz="700" dirty="0" err="1" smtClean="0">
                          <a:latin typeface="+mn-ea"/>
                          <a:ea typeface="+mn-ea"/>
                        </a:rPr>
                        <a:t>일반입찰</a:t>
                      </a:r>
                      <a:r>
                        <a:rPr lang="en-US" altLang="ko-KR" sz="700" dirty="0" smtClean="0">
                          <a:latin typeface="+mn-ea"/>
                          <a:ea typeface="+mn-ea"/>
                        </a:rPr>
                        <a:t>, </a:t>
                      </a:r>
                      <a:r>
                        <a:rPr lang="ko-KR" altLang="en-US" sz="700" dirty="0" smtClean="0">
                          <a:latin typeface="+mn-ea"/>
                          <a:ea typeface="+mn-ea"/>
                        </a:rPr>
                        <a:t>전자입찰</a:t>
                      </a:r>
                      <a:r>
                        <a:rPr lang="en-US" altLang="ko-KR" sz="700" dirty="0" smtClean="0">
                          <a:latin typeface="+mn-ea"/>
                          <a:ea typeface="+mn-ea"/>
                        </a:rPr>
                        <a:t>, OMR</a:t>
                      </a:r>
                      <a:r>
                        <a:rPr lang="ko-KR" altLang="en-US" sz="700" dirty="0" smtClean="0">
                          <a:latin typeface="+mn-ea"/>
                          <a:ea typeface="+mn-ea"/>
                        </a:rPr>
                        <a:t>입찰</a:t>
                      </a:r>
                      <a:r>
                        <a:rPr lang="en-US" altLang="ko-KR" sz="700" dirty="0" smtClean="0">
                          <a:latin typeface="+mn-ea"/>
                          <a:ea typeface="+mn-ea"/>
                        </a:rPr>
                        <a:t>, OCR </a:t>
                      </a:r>
                      <a:r>
                        <a:rPr lang="ko-KR" altLang="en-US" sz="700" dirty="0" smtClean="0">
                          <a:latin typeface="+mn-ea"/>
                          <a:ea typeface="+mn-ea"/>
                        </a:rPr>
                        <a:t>입찰</a:t>
                      </a:r>
                      <a:r>
                        <a:rPr lang="en-US" altLang="ko-KR" sz="700" dirty="0" smtClean="0">
                          <a:latin typeface="+mn-ea"/>
                          <a:ea typeface="+mn-ea"/>
                        </a:rPr>
                        <a:t>, </a:t>
                      </a:r>
                      <a:r>
                        <a:rPr lang="ko-KR" altLang="en-US" sz="700" dirty="0" err="1" smtClean="0">
                          <a:latin typeface="+mn-ea"/>
                          <a:ea typeface="+mn-ea"/>
                        </a:rPr>
                        <a:t>역경매</a:t>
                      </a:r>
                      <a:r>
                        <a:rPr lang="en-US" altLang="ko-KR" sz="700" dirty="0" smtClean="0">
                          <a:latin typeface="+mn-ea"/>
                          <a:ea typeface="+mn-ea"/>
                        </a:rPr>
                        <a:t>, </a:t>
                      </a:r>
                      <a:r>
                        <a:rPr lang="ko-KR" altLang="en-US" sz="700" dirty="0" err="1" smtClean="0">
                          <a:latin typeface="+mn-ea"/>
                          <a:ea typeface="+mn-ea"/>
                        </a:rPr>
                        <a:t>전산입찰</a:t>
                      </a:r>
                      <a:endParaRPr lang="ko-KR" altLang="en-US" sz="700" dirty="0"/>
                    </a:p>
                  </a:txBody>
                  <a:tcPr anchor="ctr"/>
                </a:tc>
                <a:extLst>
                  <a:ext uri="{0D108BD9-81ED-4DB2-BD59-A6C34878D82A}">
                    <a16:rowId xmlns:a16="http://schemas.microsoft.com/office/drawing/2014/main" val="1300407882"/>
                  </a:ext>
                </a:extLst>
              </a:tr>
            </a:tbl>
          </a:graphicData>
        </a:graphic>
      </p:graphicFrame>
      <p:graphicFrame>
        <p:nvGraphicFramePr>
          <p:cNvPr id="95" name="표 94">
            <a:extLst>
              <a:ext uri="{FF2B5EF4-FFF2-40B4-BE49-F238E27FC236}">
                <a16:creationId xmlns:a16="http://schemas.microsoft.com/office/drawing/2014/main" id="{B522DA37-28F9-9CCB-AF10-E2C7941DD58E}"/>
              </a:ext>
            </a:extLst>
          </p:cNvPr>
          <p:cNvGraphicFramePr>
            <a:graphicFrameLocks noGrp="1"/>
          </p:cNvGraphicFramePr>
          <p:nvPr>
            <p:extLst>
              <p:ext uri="{D42A27DB-BD31-4B8C-83A1-F6EECF244321}">
                <p14:modId xmlns:p14="http://schemas.microsoft.com/office/powerpoint/2010/main" val="835285872"/>
              </p:ext>
            </p:extLst>
          </p:nvPr>
        </p:nvGraphicFramePr>
        <p:xfrm>
          <a:off x="10179512" y="3920563"/>
          <a:ext cx="2995706" cy="2768725"/>
        </p:xfrm>
        <a:graphic>
          <a:graphicData uri="http://schemas.openxmlformats.org/drawingml/2006/table">
            <a:tbl>
              <a:tblPr>
                <a:tableStyleId>{5C22544A-7EE6-4342-B048-85BDC9FD1C3A}</a:tableStyleId>
              </a:tblPr>
              <a:tblGrid>
                <a:gridCol w="1014674">
                  <a:extLst>
                    <a:ext uri="{9D8B030D-6E8A-4147-A177-3AD203B41FA5}">
                      <a16:colId xmlns:a16="http://schemas.microsoft.com/office/drawing/2014/main" val="4063926960"/>
                    </a:ext>
                  </a:extLst>
                </a:gridCol>
                <a:gridCol w="966358">
                  <a:extLst>
                    <a:ext uri="{9D8B030D-6E8A-4147-A177-3AD203B41FA5}">
                      <a16:colId xmlns:a16="http://schemas.microsoft.com/office/drawing/2014/main" val="2948377824"/>
                    </a:ext>
                  </a:extLst>
                </a:gridCol>
                <a:gridCol w="1014674">
                  <a:extLst>
                    <a:ext uri="{9D8B030D-6E8A-4147-A177-3AD203B41FA5}">
                      <a16:colId xmlns:a16="http://schemas.microsoft.com/office/drawing/2014/main" val="3761576444"/>
                    </a:ext>
                  </a:extLst>
                </a:gridCol>
              </a:tblGrid>
              <a:tr h="220681">
                <a:tc>
                  <a:txBody>
                    <a:bodyPr/>
                    <a:lstStyle/>
                    <a:p>
                      <a:pPr algn="ctr" fontAlgn="ctr"/>
                      <a:r>
                        <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계약방법</a:t>
                      </a:r>
                      <a:r>
                        <a:rPr lang="en-US" altLang="ko-KR"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(CTMC)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ctr"/>
                      <a:r>
                        <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입찰방법</a:t>
                      </a:r>
                      <a:r>
                        <a:rPr lang="en-US" altLang="ko-KR"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(BDTC)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ctr"/>
                      <a:r>
                        <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낙찰방법</a:t>
                      </a:r>
                      <a:r>
                        <a:rPr lang="en-US" altLang="ko-KR"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(CCMT)</a:t>
                      </a:r>
                      <a:endPar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4217876900"/>
                  </a:ext>
                </a:extLst>
              </a:tr>
              <a:tr h="154786">
                <a:tc>
                  <a:txBody>
                    <a:bodyPr/>
                    <a:lstStyle/>
                    <a:p>
                      <a:pPr marL="0" algn="ctr" defTabSz="685800" rtl="0" eaLnBrk="1" fontAlgn="ctr" latinLnBrk="1" hangingPunct="1"/>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일반경쟁</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algn="ctr" fontAlgn="ctr"/>
                      <a:r>
                        <a:rPr lang="ko-KR" altLang="en-US" sz="8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총액제</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제한적최저가격제</a:t>
                      </a: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13823699"/>
                  </a:ext>
                </a:extLst>
              </a:tr>
              <a:tr h="212833">
                <a:tc>
                  <a:txBody>
                    <a:bodyPr/>
                    <a:lstStyle/>
                    <a:p>
                      <a:pPr marL="0" algn="ctr" defTabSz="685800" rtl="0" eaLnBrk="1" fontAlgn="ctr" latinLnBrk="1" hangingPunct="1"/>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지명경쟁</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algn="ctr" fontAlgn="ctr"/>
                      <a:r>
                        <a:rPr lang="ko-KR" altLang="en-US" sz="8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단가제</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적격심사제</a:t>
                      </a: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3101304345"/>
                  </a:ext>
                </a:extLst>
              </a:tr>
              <a:tr h="212833">
                <a:tc>
                  <a:txBody>
                    <a:bodyPr/>
                    <a:lstStyle/>
                    <a:p>
                      <a:pPr marL="0" algn="ctr" defTabSz="685800" rtl="0" eaLnBrk="1" fontAlgn="ctr" latinLnBrk="1" hangingPunct="1"/>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제한경쟁</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리스입찰</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협상</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607243502"/>
                  </a:ext>
                </a:extLst>
              </a:tr>
              <a:tr h="212833">
                <a:tc>
                  <a:txBody>
                    <a:bodyPr/>
                    <a:lstStyle/>
                    <a:p>
                      <a:pPr marL="0" algn="ctr" defTabSz="685800" rtl="0" eaLnBrk="1" fontAlgn="ctr" latinLnBrk="1" hangingPunct="1"/>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수의계약</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단가제</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최저가</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최저가격제</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4039888237"/>
                  </a:ext>
                </a:extLst>
              </a:tr>
              <a:tr h="272344">
                <a:tc>
                  <a:txBody>
                    <a:bodyPr/>
                    <a:lstStyle/>
                    <a:p>
                      <a:pPr marL="0" algn="ctr" defTabSz="685800" rtl="0" eaLnBrk="1" fontAlgn="ctr" latinLnBrk="1" hangingPunct="1"/>
                      <a:r>
                        <a:rPr lang="ko-KR" altLang="en-US" sz="8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역경매</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내역입찰</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최저가</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2302588190"/>
                  </a:ext>
                </a:extLst>
              </a:tr>
              <a:tr h="272344">
                <a:tc>
                  <a:txBody>
                    <a:bodyPr/>
                    <a:lstStyle/>
                    <a:p>
                      <a:pPr marL="0" algn="ctr" defTabSz="685800" rtl="0" eaLnBrk="1" fontAlgn="ctr" latinLnBrk="1" hangingPunct="1"/>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복수경쟁</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내역입찰</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적격심사</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2382550853"/>
                  </a:ext>
                </a:extLst>
              </a:tr>
              <a:tr h="239581">
                <a:tc>
                  <a:txBody>
                    <a:bodyPr/>
                    <a:lstStyle/>
                    <a:p>
                      <a:pPr marL="0" algn="ctr" defTabSz="685800" rtl="0" eaLnBrk="1" fontAlgn="ctr" latinLnBrk="1" hangingPunct="1"/>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2</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단계경쟁</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동시</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내역입찰</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종합심사</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138613884"/>
                  </a:ext>
                </a:extLst>
              </a:tr>
              <a:tr h="272480">
                <a:tc>
                  <a:txBody>
                    <a:bodyPr/>
                    <a:lstStyle/>
                    <a:p>
                      <a:pPr marL="0" algn="ctr" defTabSz="685800" rtl="0" eaLnBrk="1" fontAlgn="ctr" latinLnBrk="1" hangingPunct="1"/>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2</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단계경쟁</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분리</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내역입찰</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설계시공일괄입찰</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4072759089"/>
                  </a:ext>
                </a:extLst>
              </a:tr>
              <a:tr h="212833">
                <a:tc>
                  <a:txBody>
                    <a:bodyPr/>
                    <a:lstStyle/>
                    <a:p>
                      <a:pPr marL="0" algn="ctr" defTabSz="685800" rtl="0" eaLnBrk="1" fontAlgn="ctr" latinLnBrk="1" hangingPunct="1"/>
                      <a:r>
                        <a:rPr lang="ko-KR" altLang="en-US" sz="8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협상에의한계약</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서류</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ct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3271829222"/>
                  </a:ext>
                </a:extLst>
              </a:tr>
              <a:tr h="272344">
                <a:tc>
                  <a:txBody>
                    <a:bodyPr/>
                    <a:lstStyle/>
                    <a:p>
                      <a:pPr marL="0" algn="ctr" defTabSz="685800" rtl="0" eaLnBrk="1" fontAlgn="ctr" latinLnBrk="1" hangingPunct="1"/>
                      <a:r>
                        <a:rPr lang="ko-KR" altLang="en-US" sz="8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협상에의한계약</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전자</a:t>
                      </a:r>
                      <a:r>
                        <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ct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1528270891"/>
                  </a:ext>
                </a:extLst>
              </a:tr>
              <a:tr h="212833">
                <a:tc>
                  <a:txBody>
                    <a:bodyPr/>
                    <a:lstStyle/>
                    <a:p>
                      <a:pPr marL="0" algn="ctr" defTabSz="685800" rtl="0" eaLnBrk="1" fontAlgn="ctr" latinLnBrk="1" hangingPunct="1"/>
                      <a:r>
                        <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종합낙찰제</a:t>
                      </a: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fontAlgn="ct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9893422"/>
                  </a:ext>
                </a:extLst>
              </a:tr>
            </a:tbl>
          </a:graphicData>
        </a:graphic>
      </p:graphicFrame>
      <p:graphicFrame>
        <p:nvGraphicFramePr>
          <p:cNvPr id="96" name="표 95">
            <a:extLst>
              <a:ext uri="{FF2B5EF4-FFF2-40B4-BE49-F238E27FC236}">
                <a16:creationId xmlns:a16="http://schemas.microsoft.com/office/drawing/2014/main" id="{7CCF8D95-8489-327A-F2B5-78561D8A9359}"/>
              </a:ext>
            </a:extLst>
          </p:cNvPr>
          <p:cNvGraphicFramePr>
            <a:graphicFrameLocks noGrp="1"/>
          </p:cNvGraphicFramePr>
          <p:nvPr>
            <p:extLst>
              <p:ext uri="{D42A27DB-BD31-4B8C-83A1-F6EECF244321}">
                <p14:modId xmlns:p14="http://schemas.microsoft.com/office/powerpoint/2010/main" val="2933888838"/>
              </p:ext>
            </p:extLst>
          </p:nvPr>
        </p:nvGraphicFramePr>
        <p:xfrm>
          <a:off x="13190302" y="3920563"/>
          <a:ext cx="2995705" cy="2768727"/>
        </p:xfrm>
        <a:graphic>
          <a:graphicData uri="http://schemas.openxmlformats.org/drawingml/2006/table">
            <a:tbl>
              <a:tblPr>
                <a:tableStyleId>{5C22544A-7EE6-4342-B048-85BDC9FD1C3A}</a:tableStyleId>
              </a:tblPr>
              <a:tblGrid>
                <a:gridCol w="880203">
                  <a:extLst>
                    <a:ext uri="{9D8B030D-6E8A-4147-A177-3AD203B41FA5}">
                      <a16:colId xmlns:a16="http://schemas.microsoft.com/office/drawing/2014/main" val="4063926960"/>
                    </a:ext>
                  </a:extLst>
                </a:gridCol>
                <a:gridCol w="880203">
                  <a:extLst>
                    <a:ext uri="{9D8B030D-6E8A-4147-A177-3AD203B41FA5}">
                      <a16:colId xmlns:a16="http://schemas.microsoft.com/office/drawing/2014/main" val="2948377824"/>
                    </a:ext>
                  </a:extLst>
                </a:gridCol>
                <a:gridCol w="1235299">
                  <a:extLst>
                    <a:ext uri="{9D8B030D-6E8A-4147-A177-3AD203B41FA5}">
                      <a16:colId xmlns:a16="http://schemas.microsoft.com/office/drawing/2014/main" val="3761576444"/>
                    </a:ext>
                  </a:extLst>
                </a:gridCol>
              </a:tblGrid>
              <a:tr h="222900">
                <a:tc>
                  <a:txBody>
                    <a:bodyPr/>
                    <a:lstStyle/>
                    <a:p>
                      <a:pPr algn="ctr" fontAlgn="ctr"/>
                      <a:r>
                        <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계약방법</a:t>
                      </a:r>
                      <a:r>
                        <a:rPr lang="en-US" altLang="ko-KR"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(CTMC)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ctr"/>
                      <a:r>
                        <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입찰방법</a:t>
                      </a:r>
                      <a:r>
                        <a:rPr lang="en-US" altLang="ko-KR"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(BDTC)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fontAlgn="ctr"/>
                      <a:r>
                        <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낙찰방법</a:t>
                      </a:r>
                      <a:r>
                        <a:rPr lang="en-US" altLang="ko-KR"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(CCMT)</a:t>
                      </a:r>
                      <a:endParaRPr lang="ko-KR" altLang="en-US" sz="10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4217876900"/>
                  </a:ext>
                </a:extLst>
              </a:tr>
              <a:tr h="157881">
                <a:tc>
                  <a:txBody>
                    <a:bodyPr/>
                    <a:lstStyle/>
                    <a:p>
                      <a:pPr algn="ctr" fontAlgn="ct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일반경쟁</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algn="ctr" fontAlgn="ctr"/>
                      <a:r>
                        <a:rPr lang="ko-KR" altLang="en-US" sz="7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총액제</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제한적최저가격제</a:t>
                      </a: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13823699"/>
                  </a:ext>
                </a:extLst>
              </a:tr>
              <a:tr h="217086">
                <a:tc>
                  <a:txBody>
                    <a:bodyPr/>
                    <a:lstStyle/>
                    <a:p>
                      <a:pPr algn="ctr" fontAlgn="ct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지명경쟁</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algn="ctr" fontAlgn="ctr"/>
                      <a:r>
                        <a:rPr lang="ko-KR" altLang="en-US" sz="7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단가제</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적격심사제</a:t>
                      </a: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3101304345"/>
                  </a:ext>
                </a:extLst>
              </a:tr>
              <a:tr h="217086">
                <a:tc>
                  <a:txBody>
                    <a:bodyPr/>
                    <a:lstStyle/>
                    <a:p>
                      <a:pPr algn="ctr" fontAlgn="ct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제한경쟁</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리스입찰</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2</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단계경쟁</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동시</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607243502"/>
                  </a:ext>
                </a:extLst>
              </a:tr>
              <a:tr h="217086">
                <a:tc>
                  <a:txBody>
                    <a:bodyPr/>
                    <a:lstStyle/>
                    <a:p>
                      <a:pPr algn="ctr" fontAlgn="ct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수의계약</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en-US" altLang="ko-KR" sz="8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2</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단계경쟁</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분리</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4039888237"/>
                  </a:ext>
                </a:extLst>
              </a:tr>
              <a:tr h="217086">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산출내역서적용여부</a:t>
                      </a: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ko-KR" altLang="en-US" sz="7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역경매</a:t>
                      </a:r>
                      <a:endPar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2302588190"/>
                  </a:ext>
                </a:extLst>
              </a:tr>
              <a:tr h="217086">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ko-KR" altLang="en-US" sz="7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협상에의한계약</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서류</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2382550853"/>
                  </a:ext>
                </a:extLst>
              </a:tr>
              <a:tr h="217086">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ko-KR" altLang="en-US" sz="7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협상에의한계약</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전자</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218" marR="3218" marT="321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138613884"/>
                  </a:ext>
                </a:extLst>
              </a:tr>
              <a:tr h="217086">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종합낙찰제</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4072759089"/>
                  </a:ext>
                </a:extLst>
              </a:tr>
              <a:tr h="217086">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종합심사제</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3271829222"/>
                  </a:ext>
                </a:extLst>
              </a:tr>
              <a:tr h="217086">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ko-KR" altLang="en-US" sz="700" b="0" kern="1200" dirty="0" err="1">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설계시공일괄입찰</a:t>
                      </a:r>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extLst>
                  <a:ext uri="{0D108BD9-81ED-4DB2-BD59-A6C34878D82A}">
                    <a16:rowId xmlns:a16="http://schemas.microsoft.com/office/drawing/2014/main" val="1528270891"/>
                  </a:ext>
                </a:extLst>
              </a:tr>
              <a:tr h="217086">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algn="ctr" defTabSz="685800" rtl="0" eaLnBrk="1" fontAlgn="ctr" latinLnBrk="1" hangingPunct="1"/>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공개수의협상</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가칭</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extLst>
                  <a:ext uri="{0D108BD9-81ED-4DB2-BD59-A6C34878D82A}">
                    <a16:rowId xmlns:a16="http://schemas.microsoft.com/office/drawing/2014/main" val="9893422"/>
                  </a:ext>
                </a:extLst>
              </a:tr>
              <a:tr h="217086">
                <a:tc>
                  <a:txBody>
                    <a:bodyPr/>
                    <a:lstStyle/>
                    <a:p>
                      <a:pPr algn="ctr" fontAlgn="ctr"/>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algn="ctr" fontAlgn="ctr"/>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3600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99"/>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비공개수의협상</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r>
                        <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가칭</a:t>
                      </a:r>
                      <a:r>
                        <a:rPr lang="en-US" altLang="ko-KR"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rPr>
                        <a:t>)</a:t>
                      </a:r>
                      <a:endParaRPr lang="ko-KR" altLang="en-US" sz="700" b="0" kern="1200" dirty="0">
                        <a:solidFill>
                          <a:schemeClr val="tx1">
                            <a:lumMod val="75000"/>
                            <a:lumOff val="25000"/>
                          </a:schemeClr>
                        </a:solidFill>
                        <a:latin typeface="HG꼬딕씨_Pro 40g" panose="02020603020101020101" pitchFamily="18" charset="-127"/>
                        <a:ea typeface="HG꼬딕씨_Pro 40g" panose="02020603020101020101" pitchFamily="18" charset="-127"/>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extLst>
                  <a:ext uri="{0D108BD9-81ED-4DB2-BD59-A6C34878D82A}">
                    <a16:rowId xmlns:a16="http://schemas.microsoft.com/office/drawing/2014/main" val="3807014058"/>
                  </a:ext>
                </a:extLst>
              </a:tr>
            </a:tbl>
          </a:graphicData>
        </a:graphic>
      </p:graphicFrame>
      <p:sp>
        <p:nvSpPr>
          <p:cNvPr id="97" name="TextBox 96"/>
          <p:cNvSpPr txBox="1"/>
          <p:nvPr/>
        </p:nvSpPr>
        <p:spPr>
          <a:xfrm>
            <a:off x="11270650" y="3601752"/>
            <a:ext cx="744114" cy="369332"/>
          </a:xfrm>
          <a:prstGeom prst="rect">
            <a:avLst/>
          </a:prstGeom>
          <a:noFill/>
        </p:spPr>
        <p:txBody>
          <a:bodyPr wrap="none" rtlCol="0">
            <a:spAutoFit/>
          </a:bodyPr>
          <a:lstStyle/>
          <a:p>
            <a:r>
              <a:rPr lang="en-US" altLang="ko-KR" dirty="0" smtClean="0"/>
              <a:t>AS-IS</a:t>
            </a:r>
            <a:endParaRPr lang="ko-KR" altLang="en-US" dirty="0"/>
          </a:p>
        </p:txBody>
      </p:sp>
      <p:sp>
        <p:nvSpPr>
          <p:cNvPr id="98" name="TextBox 97"/>
          <p:cNvSpPr txBox="1"/>
          <p:nvPr/>
        </p:nvSpPr>
        <p:spPr>
          <a:xfrm>
            <a:off x="14182526" y="3601752"/>
            <a:ext cx="822726" cy="369332"/>
          </a:xfrm>
          <a:prstGeom prst="rect">
            <a:avLst/>
          </a:prstGeom>
          <a:noFill/>
        </p:spPr>
        <p:txBody>
          <a:bodyPr wrap="none" rtlCol="0">
            <a:spAutoFit/>
          </a:bodyPr>
          <a:lstStyle/>
          <a:p>
            <a:r>
              <a:rPr lang="en-US" altLang="ko-KR" dirty="0" smtClean="0"/>
              <a:t>TO-BE</a:t>
            </a:r>
            <a:endParaRPr lang="ko-KR" altLang="en-US" dirty="0"/>
          </a:p>
        </p:txBody>
      </p:sp>
      <p:sp>
        <p:nvSpPr>
          <p:cNvPr id="99" name="직사각형 98"/>
          <p:cNvSpPr/>
          <p:nvPr/>
        </p:nvSpPr>
        <p:spPr>
          <a:xfrm>
            <a:off x="9999345" y="3148635"/>
            <a:ext cx="2122697" cy="369332"/>
          </a:xfrm>
          <a:prstGeom prst="rect">
            <a:avLst/>
          </a:prstGeom>
        </p:spPr>
        <p:txBody>
          <a:bodyPr wrap="none">
            <a:spAutoFit/>
          </a:bodyPr>
          <a:lstStyle/>
          <a:p>
            <a:r>
              <a:rPr lang="ko-KR" altLang="en-US" dirty="0"/>
              <a:t>계약방법</a:t>
            </a:r>
            <a:r>
              <a:rPr lang="en-US" altLang="ko-KR" dirty="0"/>
              <a:t>/</a:t>
            </a:r>
            <a:r>
              <a:rPr lang="ko-KR" altLang="en-US" dirty="0" err="1"/>
              <a:t>낙찰방법</a:t>
            </a:r>
            <a:endParaRPr lang="ko-KR" altLang="en-US" dirty="0"/>
          </a:p>
        </p:txBody>
      </p:sp>
    </p:spTree>
    <p:extLst>
      <p:ext uri="{BB962C8B-B14F-4D97-AF65-F5344CB8AC3E}">
        <p14:creationId xmlns:p14="http://schemas.microsoft.com/office/powerpoint/2010/main" val="174457344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sz="600" dirty="0" err="1"/>
              <a:t>검색필터</a:t>
            </a:r>
            <a:r>
              <a:rPr lang="ko-KR" altLang="en-US" sz="600" dirty="0"/>
              <a:t> 페이지 타이틀</a:t>
            </a:r>
            <a:r>
              <a:rPr lang="en-US" altLang="ko-KR" sz="600" dirty="0"/>
              <a:t/>
            </a:r>
            <a:br>
              <a:rPr lang="en-US" altLang="ko-KR" sz="600" dirty="0"/>
            </a:br>
            <a:r>
              <a:rPr lang="en-US" altLang="ko-KR" sz="600" dirty="0"/>
              <a:t>1-1] </a:t>
            </a:r>
            <a:r>
              <a:rPr lang="ko-KR" altLang="en-US" sz="600" dirty="0"/>
              <a:t>초기화</a:t>
            </a:r>
            <a:r>
              <a:rPr lang="en-US" altLang="ko-KR" sz="600" dirty="0"/>
              <a:t/>
            </a:r>
            <a:br>
              <a:rPr lang="en-US" altLang="ko-KR" sz="600" dirty="0"/>
            </a:br>
            <a:r>
              <a:rPr lang="en-US" altLang="ko-KR" sz="600" dirty="0"/>
              <a:t>1-2] </a:t>
            </a:r>
            <a:r>
              <a:rPr lang="ko-KR" altLang="en-US" sz="600" dirty="0"/>
              <a:t>창 닫기 버튼</a:t>
            </a:r>
            <a:r>
              <a:rPr lang="en-US" altLang="ko-KR" sz="600" dirty="0"/>
              <a:t/>
            </a:r>
            <a:br>
              <a:rPr lang="en-US" altLang="ko-KR" sz="600" dirty="0"/>
            </a:br>
            <a:r>
              <a:rPr lang="ko-KR" altLang="en-US" sz="600" dirty="0"/>
              <a:t>각 </a:t>
            </a:r>
            <a:r>
              <a:rPr lang="ko-KR" altLang="en-US" sz="600" dirty="0" err="1"/>
              <a:t>섹션명</a:t>
            </a:r>
            <a:r>
              <a:rPr lang="ko-KR" altLang="en-US" sz="600" dirty="0"/>
              <a:t> 클릭 시 아코디언 동작</a:t>
            </a:r>
            <a:endParaRPr lang="en-US" altLang="ko-KR" sz="600" dirty="0"/>
          </a:p>
          <a:p>
            <a:pPr marL="228600" indent="-228600">
              <a:buFont typeface="+mj-lt"/>
              <a:buAutoNum type="arabicPeriod"/>
            </a:pPr>
            <a:r>
              <a:rPr lang="ko-KR" altLang="en-US" sz="700" dirty="0" smtClean="0"/>
              <a:t>업무 구분</a:t>
            </a:r>
            <a:r>
              <a:rPr lang="en-US" altLang="ko-KR" sz="700" dirty="0" smtClean="0"/>
              <a:t/>
            </a:r>
            <a:br>
              <a:rPr lang="en-US" altLang="ko-KR" sz="700" dirty="0" smtClean="0"/>
            </a:br>
            <a:r>
              <a:rPr lang="en-US" altLang="ko-KR" sz="700" dirty="0" smtClean="0"/>
              <a:t>- default ) </a:t>
            </a:r>
            <a:r>
              <a:rPr lang="ko-KR" altLang="en-US" sz="700" dirty="0" smtClean="0"/>
              <a:t>전체 </a:t>
            </a:r>
            <a:r>
              <a:rPr lang="en-US" altLang="ko-KR" sz="700" dirty="0" smtClean="0"/>
              <a:t/>
            </a:r>
            <a:br>
              <a:rPr lang="en-US" altLang="ko-KR" sz="700" dirty="0" smtClean="0"/>
            </a:br>
            <a:r>
              <a:rPr lang="en-US" altLang="ko-KR" sz="700" dirty="0" smtClean="0"/>
              <a:t>- </a:t>
            </a:r>
            <a:r>
              <a:rPr lang="ko-KR" altLang="en-US" sz="700" dirty="0" smtClean="0"/>
              <a:t>전체</a:t>
            </a:r>
            <a:r>
              <a:rPr lang="en-US" altLang="ko-KR" sz="700" dirty="0" smtClean="0"/>
              <a:t>,</a:t>
            </a:r>
            <a:r>
              <a:rPr lang="ko-KR" altLang="en-US" sz="700" dirty="0" smtClean="0"/>
              <a:t>물품</a:t>
            </a:r>
            <a:r>
              <a:rPr lang="en-US" altLang="ko-KR" sz="700" dirty="0" smtClean="0"/>
              <a:t>,</a:t>
            </a:r>
            <a:r>
              <a:rPr lang="ko-KR" altLang="en-US" sz="700" dirty="0" smtClean="0"/>
              <a:t>용역</a:t>
            </a:r>
            <a:r>
              <a:rPr lang="en-US" altLang="ko-KR" sz="700" dirty="0" smtClean="0"/>
              <a:t>,</a:t>
            </a:r>
            <a:r>
              <a:rPr lang="ko-KR" altLang="en-US" sz="700" dirty="0" smtClean="0"/>
              <a:t>공사</a:t>
            </a:r>
            <a:r>
              <a:rPr lang="en-US" altLang="ko-KR" sz="700" dirty="0" smtClean="0"/>
              <a:t>,</a:t>
            </a:r>
            <a:r>
              <a:rPr lang="ko-KR" altLang="en-US" sz="700" dirty="0" smtClean="0"/>
              <a:t>국외 </a:t>
            </a:r>
            <a:r>
              <a:rPr lang="en-US" altLang="ko-KR" sz="700" dirty="0" smtClean="0"/>
              <a:t/>
            </a:r>
            <a:br>
              <a:rPr lang="en-US" altLang="ko-KR" sz="700" dirty="0" smtClean="0"/>
            </a:br>
            <a:r>
              <a:rPr lang="en-US" altLang="ko-KR" sz="700" dirty="0" smtClean="0"/>
              <a:t>- </a:t>
            </a:r>
            <a:r>
              <a:rPr lang="ko-KR" altLang="en-US" sz="700" dirty="0" smtClean="0"/>
              <a:t>물품</a:t>
            </a:r>
            <a:r>
              <a:rPr lang="en-US" altLang="ko-KR" sz="700" dirty="0" smtClean="0"/>
              <a:t>, </a:t>
            </a:r>
            <a:r>
              <a:rPr lang="ko-KR" altLang="en-US" sz="700" dirty="0" smtClean="0"/>
              <a:t>용역</a:t>
            </a:r>
            <a:r>
              <a:rPr lang="en-US" altLang="ko-KR" sz="700" dirty="0" smtClean="0"/>
              <a:t>, </a:t>
            </a:r>
            <a:r>
              <a:rPr lang="ko-KR" altLang="en-US" sz="700" dirty="0" smtClean="0"/>
              <a:t>공사</a:t>
            </a:r>
            <a:r>
              <a:rPr lang="en-US" altLang="ko-KR" sz="700" dirty="0" smtClean="0"/>
              <a:t>, </a:t>
            </a:r>
            <a:r>
              <a:rPr lang="ko-KR" altLang="en-US" sz="700" dirty="0" smtClean="0"/>
              <a:t>국외 모두 개별 선택 시 </a:t>
            </a:r>
            <a:r>
              <a:rPr lang="en-US" altLang="ko-KR" sz="700" dirty="0" smtClean="0">
                <a:sym typeface="Wingdings" panose="05000000000000000000" pitchFamily="2" charset="2"/>
              </a:rPr>
              <a:t> </a:t>
            </a:r>
            <a:r>
              <a:rPr lang="ko-KR" altLang="en-US" sz="700" dirty="0" smtClean="0">
                <a:sym typeface="Wingdings" panose="05000000000000000000" pitchFamily="2" charset="2"/>
              </a:rPr>
              <a:t>전체 활성화</a:t>
            </a:r>
            <a:endParaRPr lang="en-US" altLang="ko-KR" sz="700" dirty="0" smtClean="0"/>
          </a:p>
          <a:p>
            <a:pPr marL="228600" indent="-228600">
              <a:buFont typeface="+mj-lt"/>
              <a:buAutoNum type="arabicPeriod"/>
            </a:pPr>
            <a:r>
              <a:rPr lang="ko-KR" altLang="en-US" sz="700" dirty="0" smtClean="0"/>
              <a:t>일자 설정</a:t>
            </a:r>
            <a:r>
              <a:rPr lang="en-US" altLang="ko-KR" sz="700" dirty="0" smtClean="0"/>
              <a:t/>
            </a:r>
            <a:br>
              <a:rPr lang="en-US" altLang="ko-KR" sz="700" dirty="0" smtClean="0"/>
            </a:br>
            <a:r>
              <a:rPr lang="en-US" altLang="ko-KR" sz="700" dirty="0" smtClean="0"/>
              <a:t>- </a:t>
            </a:r>
            <a:r>
              <a:rPr lang="ko-KR" altLang="en-US" sz="700" dirty="0" err="1" smtClean="0"/>
              <a:t>팝업호출</a:t>
            </a:r>
            <a:r>
              <a:rPr lang="ko-KR" altLang="en-US" sz="700" dirty="0" smtClean="0"/>
              <a:t> </a:t>
            </a:r>
            <a:r>
              <a:rPr lang="en-US" altLang="ko-KR" sz="700" dirty="0" smtClean="0"/>
              <a:t>(</a:t>
            </a:r>
            <a:r>
              <a:rPr lang="en-US" altLang="ko-KR" sz="700" dirty="0" smtClean="0">
                <a:latin typeface="+mn-ea"/>
              </a:rPr>
              <a:t>MUI-BD-01-P06)</a:t>
            </a:r>
            <a:r>
              <a:rPr lang="en-US" altLang="ko-KR" sz="700" dirty="0"/>
              <a:t/>
            </a:r>
            <a:br>
              <a:rPr lang="en-US" altLang="ko-KR" sz="700" dirty="0"/>
            </a:br>
            <a:r>
              <a:rPr lang="en-US" altLang="ko-KR" sz="700" dirty="0"/>
              <a:t>- </a:t>
            </a:r>
            <a:r>
              <a:rPr lang="ko-KR" altLang="en-US" sz="700" dirty="0" err="1"/>
              <a:t>개찰일자</a:t>
            </a:r>
            <a:r>
              <a:rPr lang="en-US" altLang="ko-KR" sz="700" dirty="0"/>
              <a:t>, </a:t>
            </a:r>
            <a:r>
              <a:rPr lang="ko-KR" altLang="en-US" sz="700" dirty="0" err="1"/>
              <a:t>공고일자</a:t>
            </a:r>
            <a:r>
              <a:rPr lang="ko-KR" altLang="en-US" sz="700" dirty="0"/>
              <a:t> </a:t>
            </a:r>
            <a:r>
              <a:rPr lang="ko-KR" altLang="en-US" sz="700" dirty="0" err="1"/>
              <a:t>토글</a:t>
            </a:r>
            <a:r>
              <a:rPr lang="ko-KR" altLang="en-US" sz="700" dirty="0"/>
              <a:t> 스위치</a:t>
            </a:r>
            <a:r>
              <a:rPr lang="en-US" altLang="ko-KR" sz="700" dirty="0"/>
              <a:t/>
            </a:r>
            <a:br>
              <a:rPr lang="en-US" altLang="ko-KR" sz="700" dirty="0"/>
            </a:br>
            <a:r>
              <a:rPr lang="en-US" altLang="ko-KR" sz="700" dirty="0" smtClean="0"/>
              <a:t>- </a:t>
            </a:r>
            <a:r>
              <a:rPr lang="en-US" altLang="ko-KR" sz="700" dirty="0"/>
              <a:t>default) </a:t>
            </a:r>
            <a:r>
              <a:rPr lang="ko-KR" altLang="en-US" sz="700" dirty="0"/>
              <a:t>당일 포함 과거 </a:t>
            </a:r>
            <a:r>
              <a:rPr lang="en-US" altLang="ko-KR" sz="700" dirty="0"/>
              <a:t>7</a:t>
            </a:r>
            <a:r>
              <a:rPr lang="ko-KR" altLang="en-US" sz="700" dirty="0"/>
              <a:t>일</a:t>
            </a:r>
            <a:r>
              <a:rPr lang="en-US" altLang="ko-KR" sz="700" dirty="0"/>
              <a:t/>
            </a:r>
            <a:br>
              <a:rPr lang="en-US" altLang="ko-KR" sz="700" dirty="0"/>
            </a:br>
            <a:r>
              <a:rPr lang="en-US" altLang="ko-KR" sz="700" dirty="0">
                <a:sym typeface="Wingdings" panose="05000000000000000000" pitchFamily="2" charset="2"/>
              </a:rPr>
              <a:t>- </a:t>
            </a:r>
            <a:r>
              <a:rPr lang="ko-KR" altLang="en-US" sz="700" dirty="0">
                <a:sym typeface="Wingdings" panose="05000000000000000000" pitchFamily="2" charset="2"/>
              </a:rPr>
              <a:t>선택 날짜 즉시 업데이트</a:t>
            </a:r>
            <a:r>
              <a:rPr lang="en-US" altLang="ko-KR" sz="700" dirty="0"/>
              <a:t/>
            </a:r>
            <a:br>
              <a:rPr lang="en-US" altLang="ko-KR" sz="700" dirty="0"/>
            </a:br>
            <a:r>
              <a:rPr lang="en-US" altLang="ko-KR" sz="700" dirty="0"/>
              <a:t>- </a:t>
            </a:r>
            <a:r>
              <a:rPr lang="en-US" altLang="ko-KR" sz="700" dirty="0" smtClean="0"/>
              <a:t>3-1</a:t>
            </a:r>
            <a:r>
              <a:rPr lang="en-US" altLang="ko-KR" sz="700" dirty="0"/>
              <a:t>)</a:t>
            </a:r>
            <a:r>
              <a:rPr lang="ko-KR" altLang="en-US" sz="700" dirty="0"/>
              <a:t>직접 입력 가능 </a:t>
            </a:r>
            <a:r>
              <a:rPr lang="en-US" altLang="ko-KR" sz="700" dirty="0"/>
              <a:t/>
            </a:r>
            <a:br>
              <a:rPr lang="en-US" altLang="ko-KR" sz="700" dirty="0"/>
            </a:br>
            <a:r>
              <a:rPr lang="en-US" altLang="ko-KR" sz="700" dirty="0"/>
              <a:t>- </a:t>
            </a:r>
            <a:r>
              <a:rPr lang="ko-KR" altLang="en-US" sz="700" dirty="0"/>
              <a:t>좌</a:t>
            </a:r>
            <a:r>
              <a:rPr lang="en-US" altLang="ko-KR" sz="700" dirty="0"/>
              <a:t>)</a:t>
            </a:r>
            <a:r>
              <a:rPr lang="ko-KR" altLang="en-US" sz="700" dirty="0"/>
              <a:t>과거 우</a:t>
            </a:r>
            <a:r>
              <a:rPr lang="en-US" altLang="ko-KR" sz="700" dirty="0"/>
              <a:t>)</a:t>
            </a:r>
            <a:r>
              <a:rPr lang="ko-KR" altLang="en-US" sz="700" dirty="0" err="1"/>
              <a:t>현재로한다</a:t>
            </a:r>
            <a:r>
              <a:rPr lang="en-US" altLang="ko-KR" sz="700" dirty="0"/>
              <a:t/>
            </a:r>
            <a:br>
              <a:rPr lang="en-US" altLang="ko-KR" sz="700" dirty="0"/>
            </a:br>
            <a:r>
              <a:rPr lang="en-US" altLang="ko-KR" sz="700" dirty="0"/>
              <a:t>- </a:t>
            </a:r>
            <a:r>
              <a:rPr lang="ko-KR" altLang="en-US" sz="700" dirty="0"/>
              <a:t>우</a:t>
            </a:r>
            <a:r>
              <a:rPr lang="en-US" altLang="ko-KR" sz="700" dirty="0"/>
              <a:t>)</a:t>
            </a:r>
            <a:r>
              <a:rPr lang="ko-KR" altLang="en-US" sz="700" dirty="0"/>
              <a:t> 값은 미래를 선택</a:t>
            </a:r>
            <a:r>
              <a:rPr lang="en-US" altLang="ko-KR" sz="700" dirty="0"/>
              <a:t>,</a:t>
            </a:r>
            <a:r>
              <a:rPr lang="ko-KR" altLang="en-US" sz="700" dirty="0"/>
              <a:t>입력 할 </a:t>
            </a:r>
            <a:r>
              <a:rPr lang="ko-KR" altLang="en-US" sz="700" dirty="0" err="1"/>
              <a:t>수없다</a:t>
            </a:r>
            <a:r>
              <a:rPr lang="en-US" altLang="ko-KR" sz="700" dirty="0"/>
              <a:t>.</a:t>
            </a:r>
            <a:br>
              <a:rPr lang="en-US" altLang="ko-KR" sz="700" dirty="0"/>
            </a:br>
            <a:r>
              <a:rPr lang="en-US" altLang="ko-KR" sz="700" dirty="0"/>
              <a:t>- </a:t>
            </a:r>
            <a:r>
              <a:rPr lang="ko-KR" altLang="en-US" sz="700" dirty="0"/>
              <a:t>우</a:t>
            </a:r>
            <a:r>
              <a:rPr lang="en-US" altLang="ko-KR" sz="700" dirty="0"/>
              <a:t>) </a:t>
            </a:r>
            <a:r>
              <a:rPr lang="ko-KR" altLang="en-US" sz="700" dirty="0"/>
              <a:t>값이 미래를 입력한 경우 오늘로 자동 변경</a:t>
            </a:r>
            <a:r>
              <a:rPr lang="en-US" altLang="ko-KR" sz="700" dirty="0"/>
              <a:t>.</a:t>
            </a:r>
            <a:br>
              <a:rPr lang="en-US" altLang="ko-KR" sz="700" dirty="0"/>
            </a:br>
            <a:r>
              <a:rPr lang="en-US" altLang="ko-KR" sz="700" dirty="0"/>
              <a:t>- </a:t>
            </a:r>
            <a:r>
              <a:rPr lang="ko-KR" altLang="en-US" sz="700" dirty="0"/>
              <a:t>당일 기준 최대 </a:t>
            </a:r>
            <a:r>
              <a:rPr lang="en-US" altLang="ko-KR" sz="700" dirty="0"/>
              <a:t>1</a:t>
            </a:r>
            <a:r>
              <a:rPr lang="ko-KR" altLang="en-US" sz="700" dirty="0"/>
              <a:t>년</a:t>
            </a:r>
            <a:r>
              <a:rPr lang="en-US" altLang="ko-KR" sz="700" dirty="0"/>
              <a:t>(365</a:t>
            </a:r>
            <a:r>
              <a:rPr lang="ko-KR" altLang="en-US" sz="700" dirty="0"/>
              <a:t>일</a:t>
            </a:r>
            <a:r>
              <a:rPr lang="en-US" altLang="ko-KR" sz="700" dirty="0"/>
              <a:t>)</a:t>
            </a:r>
            <a:r>
              <a:rPr lang="ko-KR" altLang="en-US" sz="700" dirty="0"/>
              <a:t>까지 조회 가능</a:t>
            </a:r>
            <a:r>
              <a:rPr lang="en-US" altLang="ko-KR" sz="700" dirty="0"/>
              <a:t/>
            </a:r>
            <a:br>
              <a:rPr lang="en-US" altLang="ko-KR" sz="700" dirty="0"/>
            </a:br>
            <a:r>
              <a:rPr lang="en-US" altLang="ko-KR" sz="700" dirty="0"/>
              <a:t>- </a:t>
            </a:r>
            <a:r>
              <a:rPr lang="en-US" altLang="ko-KR" sz="700" dirty="0" smtClean="0"/>
              <a:t>3-2</a:t>
            </a:r>
            <a:r>
              <a:rPr lang="en-US" altLang="ko-KR" sz="700" dirty="0"/>
              <a:t>) </a:t>
            </a:r>
            <a:r>
              <a:rPr lang="ko-KR" altLang="en-US" sz="700" dirty="0"/>
              <a:t>아이콘 </a:t>
            </a:r>
            <a:r>
              <a:rPr lang="en-US" altLang="ko-KR" sz="700" dirty="0">
                <a:sym typeface="Wingdings" panose="05000000000000000000" pitchFamily="2" charset="2"/>
              </a:rPr>
              <a:t> </a:t>
            </a:r>
            <a:r>
              <a:rPr lang="ko-KR" altLang="en-US" sz="700" dirty="0">
                <a:sym typeface="Wingdings" panose="05000000000000000000" pitchFamily="2" charset="2"/>
              </a:rPr>
              <a:t>데이트 </a:t>
            </a:r>
            <a:r>
              <a:rPr lang="ko-KR" altLang="en-US" sz="700" dirty="0" err="1">
                <a:sym typeface="Wingdings" panose="05000000000000000000" pitchFamily="2" charset="2"/>
              </a:rPr>
              <a:t>피커</a:t>
            </a:r>
            <a:r>
              <a:rPr lang="ko-KR" altLang="en-US" sz="700" dirty="0">
                <a:sym typeface="Wingdings" panose="05000000000000000000" pitchFamily="2" charset="2"/>
              </a:rPr>
              <a:t> 호출</a:t>
            </a:r>
            <a:r>
              <a:rPr lang="en-US" altLang="ko-KR" sz="700" dirty="0">
                <a:sym typeface="Wingdings" panose="05000000000000000000" pitchFamily="2" charset="2"/>
              </a:rPr>
              <a:t>( </a:t>
            </a:r>
            <a:r>
              <a:rPr lang="ko-KR" altLang="en-US" sz="700" dirty="0" err="1">
                <a:sym typeface="Wingdings" panose="05000000000000000000" pitchFamily="2" charset="2"/>
              </a:rPr>
              <a:t>미래불가</a:t>
            </a:r>
            <a:r>
              <a:rPr lang="en-US" altLang="ko-KR" sz="700" dirty="0">
                <a:sym typeface="Wingdings" panose="05000000000000000000" pitchFamily="2" charset="2"/>
              </a:rPr>
              <a:t>)</a:t>
            </a:r>
            <a:br>
              <a:rPr lang="en-US" altLang="ko-KR" sz="700" dirty="0">
                <a:sym typeface="Wingdings" panose="05000000000000000000" pitchFamily="2" charset="2"/>
              </a:rPr>
            </a:br>
            <a:r>
              <a:rPr lang="en-US" altLang="ko-KR" sz="700" dirty="0">
                <a:sym typeface="Wingdings" panose="05000000000000000000" pitchFamily="2" charset="2"/>
              </a:rPr>
              <a:t>- </a:t>
            </a:r>
            <a:r>
              <a:rPr lang="en-US" altLang="ko-KR" sz="700" dirty="0" smtClean="0">
                <a:sym typeface="Wingdings" panose="05000000000000000000" pitchFamily="2" charset="2"/>
              </a:rPr>
              <a:t>3-3</a:t>
            </a:r>
            <a:r>
              <a:rPr lang="en-US" altLang="ko-KR" sz="700" dirty="0">
                <a:sym typeface="Wingdings" panose="05000000000000000000" pitchFamily="2" charset="2"/>
              </a:rPr>
              <a:t>) </a:t>
            </a:r>
            <a:r>
              <a:rPr lang="ko-KR" altLang="en-US" sz="700" dirty="0">
                <a:sym typeface="Wingdings" panose="05000000000000000000" pitchFamily="2" charset="2"/>
              </a:rPr>
              <a:t>최근</a:t>
            </a:r>
            <a:r>
              <a:rPr lang="en-US" altLang="ko-KR" sz="700" dirty="0">
                <a:sym typeface="Wingdings" panose="05000000000000000000" pitchFamily="2" charset="2"/>
              </a:rPr>
              <a:t>1,3,6</a:t>
            </a:r>
            <a:r>
              <a:rPr lang="ko-KR" altLang="en-US" sz="700" dirty="0">
                <a:sym typeface="Wingdings" panose="05000000000000000000" pitchFamily="2" charset="2"/>
              </a:rPr>
              <a:t>개월 버튼으로 당일 포함하여 </a:t>
            </a:r>
            <a:r>
              <a:rPr lang="en-US" altLang="ko-KR" sz="700" dirty="0">
                <a:sym typeface="Wingdings" panose="05000000000000000000" pitchFamily="2" charset="2"/>
              </a:rPr>
              <a:t>30</a:t>
            </a:r>
            <a:r>
              <a:rPr lang="ko-KR" altLang="en-US" sz="700" dirty="0">
                <a:sym typeface="Wingdings" panose="05000000000000000000" pitchFamily="2" charset="2"/>
              </a:rPr>
              <a:t>일</a:t>
            </a:r>
            <a:r>
              <a:rPr lang="en-US" altLang="ko-KR" sz="700" dirty="0">
                <a:sym typeface="Wingdings" panose="05000000000000000000" pitchFamily="2" charset="2"/>
              </a:rPr>
              <a:t>, 90</a:t>
            </a:r>
            <a:r>
              <a:rPr lang="ko-KR" altLang="en-US" sz="700" dirty="0">
                <a:sym typeface="Wingdings" panose="05000000000000000000" pitchFamily="2" charset="2"/>
              </a:rPr>
              <a:t>일</a:t>
            </a:r>
            <a:r>
              <a:rPr lang="en-US" altLang="ko-KR" sz="700" dirty="0">
                <a:sym typeface="Wingdings" panose="05000000000000000000" pitchFamily="2" charset="2"/>
              </a:rPr>
              <a:t>,180</a:t>
            </a:r>
            <a:r>
              <a:rPr lang="ko-KR" altLang="en-US" sz="700" dirty="0">
                <a:sym typeface="Wingdings" panose="05000000000000000000" pitchFamily="2" charset="2"/>
              </a:rPr>
              <a:t>일 이전 값을 표시</a:t>
            </a:r>
            <a:r>
              <a:rPr lang="en-US" altLang="ko-KR" sz="700" dirty="0">
                <a:sym typeface="Wingdings" panose="05000000000000000000" pitchFamily="2" charset="2"/>
              </a:rPr>
              <a:t>.</a:t>
            </a:r>
          </a:p>
          <a:p>
            <a:pPr marL="228600" indent="-228600">
              <a:buFont typeface="+mj-lt"/>
              <a:buAutoNum type="arabicPeriod"/>
            </a:pPr>
            <a:r>
              <a:rPr lang="ko-KR" altLang="en-US" sz="700" dirty="0" err="1" smtClean="0">
                <a:sym typeface="Wingdings" panose="05000000000000000000" pitchFamily="2" charset="2"/>
              </a:rPr>
              <a:t>검색어</a:t>
            </a:r>
            <a:r>
              <a:rPr lang="ko-KR" altLang="en-US" sz="700" dirty="0" smtClean="0">
                <a:sym typeface="Wingdings" panose="05000000000000000000" pitchFamily="2" charset="2"/>
              </a:rPr>
              <a:t> 영역</a:t>
            </a:r>
            <a:r>
              <a:rPr lang="en-US" altLang="ko-KR" sz="700" dirty="0" smtClean="0">
                <a:sym typeface="Wingdings" panose="05000000000000000000" pitchFamily="2" charset="2"/>
              </a:rPr>
              <a:t/>
            </a:r>
            <a:br>
              <a:rPr lang="en-US" altLang="ko-KR" sz="700" dirty="0" smtClean="0">
                <a:sym typeface="Wingdings" panose="05000000000000000000" pitchFamily="2" charset="2"/>
              </a:rPr>
            </a:br>
            <a:r>
              <a:rPr lang="ko-KR" altLang="en-US" sz="700" dirty="0" smtClean="0">
                <a:solidFill>
                  <a:prstClr val="black"/>
                </a:solidFill>
              </a:rPr>
              <a:t>입찰공고통합목록</a:t>
            </a:r>
            <a:r>
              <a:rPr lang="en-US" altLang="ko-KR" sz="700" dirty="0" smtClean="0">
                <a:solidFill>
                  <a:prstClr val="black"/>
                </a:solidFill>
              </a:rPr>
              <a:t> </a:t>
            </a:r>
            <a:r>
              <a:rPr lang="ko-KR" altLang="en-US" sz="700" dirty="0" smtClean="0">
                <a:solidFill>
                  <a:prstClr val="black"/>
                </a:solidFill>
              </a:rPr>
              <a:t>검색조건</a:t>
            </a:r>
            <a:r>
              <a:rPr lang="en-US" altLang="ko-KR" sz="700" dirty="0" smtClean="0">
                <a:solidFill>
                  <a:prstClr val="black"/>
                </a:solidFill>
              </a:rPr>
              <a:t>(</a:t>
            </a:r>
            <a:r>
              <a:rPr lang="en-US" altLang="ko-KR" sz="700" dirty="0" err="1">
                <a:solidFill>
                  <a:prstClr val="black"/>
                </a:solidFill>
              </a:rPr>
              <a:t>dml_bidPbancSrchCnd</a:t>
            </a:r>
            <a:r>
              <a:rPr lang="en-US" altLang="ko-KR" sz="700" dirty="0">
                <a:solidFill>
                  <a:prstClr val="black"/>
                </a:solidFill>
              </a:rPr>
              <a:t>) </a:t>
            </a:r>
            <a:r>
              <a:rPr lang="ko-KR" altLang="en-US" sz="700" dirty="0" smtClean="0">
                <a:solidFill>
                  <a:prstClr val="black"/>
                </a:solidFill>
              </a:rPr>
              <a:t>참고</a:t>
            </a:r>
            <a:r>
              <a:rPr lang="en-US" altLang="ko-KR" sz="700" dirty="0" smtClean="0">
                <a:solidFill>
                  <a:prstClr val="black"/>
                </a:solidFill>
              </a:rPr>
              <a:t/>
            </a:r>
            <a:br>
              <a:rPr lang="en-US" altLang="ko-KR" sz="700" dirty="0" smtClean="0">
                <a:solidFill>
                  <a:prstClr val="black"/>
                </a:solidFill>
              </a:rPr>
            </a:br>
            <a:r>
              <a:rPr lang="en-US" altLang="ko-KR" sz="700" dirty="0">
                <a:sym typeface="Wingdings" panose="05000000000000000000" pitchFamily="2" charset="2"/>
              </a:rPr>
              <a:t>- </a:t>
            </a:r>
            <a:r>
              <a:rPr lang="ko-KR" altLang="en-US" sz="700" dirty="0">
                <a:sym typeface="Wingdings" panose="05000000000000000000" pitchFamily="2" charset="2"/>
              </a:rPr>
              <a:t>사용자가 입력하고자 하는 내역만 입력 후 검색 가능</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err="1" smtClean="0">
                <a:solidFill>
                  <a:prstClr val="black"/>
                </a:solidFill>
              </a:rPr>
              <a:t>입찰건명</a:t>
            </a:r>
            <a:r>
              <a:rPr lang="ko-KR" altLang="en-US" sz="700" dirty="0" smtClean="0">
                <a:solidFill>
                  <a:prstClr val="black"/>
                </a:solidFill>
              </a:rPr>
              <a:t> </a:t>
            </a:r>
            <a:r>
              <a:rPr lang="en-US" altLang="ko-KR" sz="700" dirty="0" smtClean="0">
                <a:solidFill>
                  <a:prstClr val="black"/>
                </a:solidFill>
              </a:rPr>
              <a:t>: </a:t>
            </a:r>
            <a:r>
              <a:rPr lang="ko-KR" altLang="en-US" sz="700" dirty="0" smtClean="0">
                <a:solidFill>
                  <a:prstClr val="black"/>
                </a:solidFill>
              </a:rPr>
              <a:t>텍스트 검색</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ym typeface="Wingdings" panose="05000000000000000000" pitchFamily="2" charset="2"/>
              </a:rPr>
              <a:t>번호 검색은 </a:t>
            </a:r>
            <a:r>
              <a:rPr lang="ko-KR" altLang="en-US" sz="700" dirty="0" err="1" smtClean="0">
                <a:sym typeface="Wingdings" panose="05000000000000000000" pitchFamily="2" charset="2"/>
              </a:rPr>
              <a:t>공고번호</a:t>
            </a:r>
            <a:r>
              <a:rPr lang="en-US" altLang="ko-KR" sz="700" dirty="0" smtClean="0">
                <a:sym typeface="Wingdings" panose="05000000000000000000" pitchFamily="2" charset="2"/>
              </a:rPr>
              <a:t>, </a:t>
            </a:r>
            <a:r>
              <a:rPr lang="ko-KR" altLang="en-US" sz="700" dirty="0" err="1" smtClean="0">
                <a:sym typeface="Wingdings" panose="05000000000000000000" pitchFamily="2" charset="2"/>
              </a:rPr>
              <a:t>통합참조</a:t>
            </a:r>
            <a:r>
              <a:rPr lang="ko-KR" altLang="en-US" sz="700" dirty="0" smtClean="0">
                <a:sym typeface="Wingdings" panose="05000000000000000000" pitchFamily="2" charset="2"/>
              </a:rPr>
              <a:t> 번호 </a:t>
            </a:r>
            <a:r>
              <a:rPr lang="ko-KR" altLang="en-US" sz="700" dirty="0" err="1" smtClean="0">
                <a:sym typeface="Wingdings" panose="05000000000000000000" pitchFamily="2" charset="2"/>
              </a:rPr>
              <a:t>토글</a:t>
            </a:r>
            <a:r>
              <a:rPr lang="ko-KR" altLang="en-US" sz="700" dirty="0" smtClean="0">
                <a:sym typeface="Wingdings" panose="05000000000000000000" pitchFamily="2" charset="2"/>
              </a:rPr>
              <a:t> 스위치로 설정</a:t>
            </a:r>
            <a:r>
              <a:rPr lang="en-US" altLang="ko-KR" sz="700" dirty="0" smtClean="0">
                <a:sym typeface="Wingdings" panose="05000000000000000000" pitchFamily="2" charset="2"/>
              </a:rPr>
              <a:t/>
            </a:r>
            <a:br>
              <a:rPr lang="en-US" altLang="ko-KR" sz="700" dirty="0" smtClean="0">
                <a:sym typeface="Wingdings" panose="05000000000000000000" pitchFamily="2" charset="2"/>
              </a:rPr>
            </a:br>
            <a:r>
              <a:rPr lang="en-US" altLang="ko-KR" sz="700" dirty="0" smtClean="0">
                <a:sym typeface="Wingdings" panose="05000000000000000000" pitchFamily="2" charset="2"/>
              </a:rPr>
              <a:t>- </a:t>
            </a:r>
            <a:r>
              <a:rPr lang="ko-KR" altLang="en-US" sz="700" dirty="0" err="1" smtClean="0">
                <a:sym typeface="Wingdings" panose="05000000000000000000" pitchFamily="2" charset="2"/>
              </a:rPr>
              <a:t>발주기관명</a:t>
            </a:r>
            <a:r>
              <a:rPr lang="ko-KR" altLang="en-US" sz="700" dirty="0" smtClean="0">
                <a:sym typeface="Wingdings" panose="05000000000000000000" pitchFamily="2" charset="2"/>
              </a:rPr>
              <a:t> </a:t>
            </a:r>
            <a:r>
              <a:rPr lang="en-US" altLang="ko-KR" sz="700" dirty="0" smtClean="0">
                <a:sym typeface="Wingdings" panose="05000000000000000000" pitchFamily="2" charset="2"/>
              </a:rPr>
              <a:t>: </a:t>
            </a:r>
            <a:r>
              <a:rPr lang="ko-KR" altLang="en-US" sz="700" dirty="0" err="1" smtClean="0">
                <a:sym typeface="Wingdings" panose="05000000000000000000" pitchFamily="2" charset="2"/>
              </a:rPr>
              <a:t>팝업호출</a:t>
            </a:r>
            <a:r>
              <a:rPr lang="en-US" altLang="ko-KR" sz="700" dirty="0" smtClean="0">
                <a:sym typeface="Wingdings" panose="05000000000000000000" pitchFamily="2" charset="2"/>
              </a:rPr>
              <a:t>(</a:t>
            </a:r>
            <a:r>
              <a:rPr lang="en-US" altLang="ko-KR" sz="700" dirty="0" smtClean="0">
                <a:latin typeface="+mn-ea"/>
              </a:rPr>
              <a:t>MUI-BD-01-P04)</a:t>
            </a:r>
            <a:r>
              <a:rPr lang="en-US" altLang="ko-KR" sz="700" dirty="0" smtClean="0">
                <a:sym typeface="Wingdings" panose="05000000000000000000" pitchFamily="2" charset="2"/>
              </a:rPr>
              <a:t/>
            </a:r>
            <a:br>
              <a:rPr lang="en-US" altLang="ko-KR" sz="700" dirty="0" smtClean="0">
                <a:sym typeface="Wingdings" panose="05000000000000000000" pitchFamily="2" charset="2"/>
              </a:rPr>
            </a:br>
            <a:r>
              <a:rPr lang="en-US" altLang="ko-KR" sz="700" dirty="0" smtClean="0">
                <a:sym typeface="Wingdings" panose="05000000000000000000" pitchFamily="2" charset="2"/>
              </a:rPr>
              <a:t>- </a:t>
            </a:r>
            <a:r>
              <a:rPr lang="ko-KR" altLang="en-US" sz="700" dirty="0" err="1" smtClean="0">
                <a:sym typeface="Wingdings" panose="05000000000000000000" pitchFamily="2" charset="2"/>
              </a:rPr>
              <a:t>면허정보</a:t>
            </a:r>
            <a:r>
              <a:rPr lang="ko-KR" altLang="en-US" sz="700" dirty="0" smtClean="0">
                <a:sym typeface="Wingdings" panose="05000000000000000000" pitchFamily="2" charset="2"/>
              </a:rPr>
              <a:t> </a:t>
            </a:r>
            <a:r>
              <a:rPr lang="en-US" altLang="ko-KR" sz="700" dirty="0" smtClean="0">
                <a:sym typeface="Wingdings" panose="05000000000000000000" pitchFamily="2" charset="2"/>
              </a:rPr>
              <a:t>: </a:t>
            </a:r>
            <a:r>
              <a:rPr lang="ko-KR" altLang="en-US" sz="700" dirty="0" err="1" smtClean="0">
                <a:sym typeface="Wingdings" panose="05000000000000000000" pitchFamily="2" charset="2"/>
              </a:rPr>
              <a:t>팝업호출</a:t>
            </a:r>
            <a:r>
              <a:rPr lang="en-US" altLang="ko-KR" sz="700" dirty="0" smtClean="0">
                <a:sym typeface="Wingdings" panose="05000000000000000000" pitchFamily="2" charset="2"/>
              </a:rPr>
              <a:t>(</a:t>
            </a:r>
            <a:r>
              <a:rPr lang="en-US" altLang="ko-KR" sz="700" dirty="0" smtClean="0">
                <a:latin typeface="+mn-ea"/>
              </a:rPr>
              <a:t>MUI-BD-01-P05)</a:t>
            </a:r>
            <a:r>
              <a:rPr lang="en-US" altLang="ko-KR" sz="700" dirty="0" smtClean="0">
                <a:sym typeface="Wingdings" panose="05000000000000000000" pitchFamily="2" charset="2"/>
              </a:rPr>
              <a:t/>
            </a:r>
            <a:br>
              <a:rPr lang="en-US" altLang="ko-KR" sz="700" dirty="0" smtClean="0">
                <a:sym typeface="Wingdings" panose="05000000000000000000" pitchFamily="2" charset="2"/>
              </a:rPr>
            </a:br>
            <a:r>
              <a:rPr lang="en-US" altLang="ko-KR" sz="700" dirty="0" smtClean="0">
                <a:sym typeface="Wingdings" panose="05000000000000000000" pitchFamily="2" charset="2"/>
              </a:rPr>
              <a:t>- </a:t>
            </a:r>
            <a:r>
              <a:rPr lang="ko-KR" altLang="en-US" sz="700" dirty="0" smtClean="0">
                <a:sym typeface="Wingdings" panose="05000000000000000000" pitchFamily="2" charset="2"/>
              </a:rPr>
              <a:t>군 구분</a:t>
            </a:r>
            <a:r>
              <a:rPr lang="en-US" altLang="ko-KR" sz="700" dirty="0" smtClean="0">
                <a:sym typeface="Wingdings" panose="05000000000000000000" pitchFamily="2" charset="2"/>
              </a:rPr>
              <a:t>: </a:t>
            </a:r>
            <a:r>
              <a:rPr lang="ko-KR" altLang="en-US" sz="700" dirty="0" smtClean="0">
                <a:sym typeface="Wingdings" panose="05000000000000000000" pitchFamily="2" charset="2"/>
              </a:rPr>
              <a:t>텍스트 검색</a:t>
            </a:r>
            <a:endParaRPr lang="en-US" altLang="ko-KR" sz="700" dirty="0" smtClean="0">
              <a:sym typeface="Wingdings" panose="05000000000000000000" pitchFamily="2" charset="2"/>
            </a:endParaRPr>
          </a:p>
          <a:p>
            <a:pPr marL="228600" indent="-228600">
              <a:buFont typeface="+mj-lt"/>
              <a:buAutoNum type="arabicPeriod"/>
            </a:pPr>
            <a:r>
              <a:rPr lang="ko-KR" altLang="en-US" sz="700" dirty="0" smtClean="0">
                <a:sym typeface="Wingdings" panose="05000000000000000000" pitchFamily="2" charset="2"/>
              </a:rPr>
              <a:t>구분 설정 참고</a:t>
            </a:r>
            <a:r>
              <a:rPr lang="en-US" altLang="ko-KR" sz="700" dirty="0">
                <a:sym typeface="Wingdings" panose="05000000000000000000" pitchFamily="2" charset="2"/>
              </a:rPr>
              <a:t> </a:t>
            </a:r>
            <a:r>
              <a:rPr lang="en-US" altLang="ko-KR" sz="700" dirty="0" smtClean="0">
                <a:sym typeface="Wingdings" panose="05000000000000000000" pitchFamily="2" charset="2"/>
              </a:rPr>
              <a:t>:</a:t>
            </a:r>
            <a:br>
              <a:rPr lang="en-US" altLang="ko-KR" sz="700" dirty="0" smtClean="0">
                <a:sym typeface="Wingdings" panose="05000000000000000000" pitchFamily="2" charset="2"/>
              </a:rPr>
            </a:br>
            <a:r>
              <a:rPr lang="ko-KR" altLang="en-US" sz="700" dirty="0" smtClean="0">
                <a:solidFill>
                  <a:prstClr val="black"/>
                </a:solidFill>
              </a:rPr>
              <a:t>입찰공고통합목록</a:t>
            </a:r>
            <a:r>
              <a:rPr lang="en-US" altLang="ko-KR" sz="700" dirty="0" smtClean="0">
                <a:solidFill>
                  <a:prstClr val="black"/>
                </a:solidFill>
              </a:rPr>
              <a:t> </a:t>
            </a:r>
            <a:r>
              <a:rPr lang="ko-KR" altLang="en-US" sz="700" dirty="0">
                <a:solidFill>
                  <a:prstClr val="black"/>
                </a:solidFill>
              </a:rPr>
              <a:t>검색조건 </a:t>
            </a:r>
            <a:r>
              <a:rPr lang="en-US" altLang="ko-KR" sz="700" dirty="0">
                <a:solidFill>
                  <a:prstClr val="black"/>
                </a:solidFill>
              </a:rPr>
              <a:t>(</a:t>
            </a:r>
            <a:r>
              <a:rPr lang="en-US" altLang="ko-KR" sz="700" dirty="0" err="1" smtClean="0">
                <a:solidFill>
                  <a:prstClr val="black"/>
                </a:solidFill>
              </a:rPr>
              <a:t>dml_bidPbancSrchCnd</a:t>
            </a:r>
            <a:r>
              <a:rPr lang="en-US" altLang="ko-KR" sz="700" dirty="0" smtClean="0">
                <a:solidFill>
                  <a:prstClr val="black"/>
                </a:solidFill>
              </a:rPr>
              <a:t>)</a:t>
            </a:r>
            <a:r>
              <a:rPr lang="en-US" altLang="ko-KR" sz="700" dirty="0">
                <a:sym typeface="Wingdings" panose="05000000000000000000" pitchFamily="2" charset="2"/>
              </a:rPr>
              <a:t/>
            </a:r>
            <a:br>
              <a:rPr lang="en-US" altLang="ko-KR" sz="700" dirty="0">
                <a:sym typeface="Wingdings" panose="05000000000000000000" pitchFamily="2" charset="2"/>
              </a:rPr>
            </a:br>
            <a:r>
              <a:rPr lang="en-US" altLang="ko-KR" sz="700" dirty="0">
                <a:sym typeface="Wingdings" panose="05000000000000000000" pitchFamily="2" charset="2"/>
              </a:rPr>
              <a:t>- </a:t>
            </a:r>
            <a:r>
              <a:rPr lang="ko-KR" altLang="en-US" sz="700" dirty="0">
                <a:sym typeface="Wingdings" panose="05000000000000000000" pitchFamily="2" charset="2"/>
              </a:rPr>
              <a:t>드롭 다운으로 각 </a:t>
            </a:r>
            <a:r>
              <a:rPr lang="ko-KR" altLang="en-US" sz="700" dirty="0" err="1">
                <a:sym typeface="Wingdings" panose="05000000000000000000" pitchFamily="2" charset="2"/>
              </a:rPr>
              <a:t>구분값</a:t>
            </a:r>
            <a:r>
              <a:rPr lang="ko-KR" altLang="en-US" sz="700" dirty="0">
                <a:sym typeface="Wingdings" panose="05000000000000000000" pitchFamily="2" charset="2"/>
              </a:rPr>
              <a:t> </a:t>
            </a:r>
            <a:r>
              <a:rPr lang="ko-KR" altLang="en-US" sz="700" dirty="0" smtClean="0">
                <a:sym typeface="Wingdings" panose="05000000000000000000" pitchFamily="2" charset="2"/>
              </a:rPr>
              <a:t>설정</a:t>
            </a:r>
            <a:endParaRPr lang="en-US" altLang="ko-KR" sz="700" dirty="0">
              <a:sym typeface="Wingdings" panose="05000000000000000000" pitchFamily="2" charset="2"/>
            </a:endParaRPr>
          </a:p>
          <a:p>
            <a:pPr marL="228600" indent="-228600">
              <a:buFont typeface="+mj-lt"/>
              <a:buAutoNum type="arabicPeriod"/>
            </a:pPr>
            <a:r>
              <a:rPr lang="ko-KR" altLang="en-US" sz="700" dirty="0">
                <a:sym typeface="Wingdings" panose="05000000000000000000" pitchFamily="2" charset="2"/>
              </a:rPr>
              <a:t>가격 설정</a:t>
            </a:r>
            <a:r>
              <a:rPr lang="en-US" altLang="ko-KR" sz="700" dirty="0">
                <a:sym typeface="Wingdings" panose="05000000000000000000" pitchFamily="2" charset="2"/>
              </a:rPr>
              <a:t/>
            </a:r>
            <a:br>
              <a:rPr lang="en-US" altLang="ko-KR" sz="700" dirty="0">
                <a:sym typeface="Wingdings" panose="05000000000000000000" pitchFamily="2" charset="2"/>
              </a:rPr>
            </a:br>
            <a:r>
              <a:rPr lang="en-US" altLang="ko-KR" sz="700" dirty="0">
                <a:sym typeface="Wingdings" panose="05000000000000000000" pitchFamily="2" charset="2"/>
              </a:rPr>
              <a:t>- </a:t>
            </a:r>
            <a:r>
              <a:rPr lang="ko-KR" altLang="en-US" sz="700" dirty="0">
                <a:sym typeface="Wingdings" panose="05000000000000000000" pitchFamily="2" charset="2"/>
              </a:rPr>
              <a:t>사용자 입력</a:t>
            </a:r>
            <a:r>
              <a:rPr lang="en-US" altLang="ko-KR" sz="700" dirty="0">
                <a:sym typeface="Wingdings" panose="05000000000000000000" pitchFamily="2" charset="2"/>
              </a:rPr>
              <a:t/>
            </a:r>
            <a:br>
              <a:rPr lang="en-US" altLang="ko-KR" sz="700" dirty="0">
                <a:sym typeface="Wingdings" panose="05000000000000000000" pitchFamily="2" charset="2"/>
              </a:rPr>
            </a:br>
            <a:r>
              <a:rPr lang="en-US" altLang="ko-KR" sz="700" dirty="0">
                <a:sym typeface="Wingdings" panose="05000000000000000000" pitchFamily="2" charset="2"/>
              </a:rPr>
              <a:t>- </a:t>
            </a:r>
            <a:r>
              <a:rPr lang="ko-KR" altLang="en-US" sz="700" dirty="0">
                <a:sym typeface="Wingdings" panose="05000000000000000000" pitchFamily="2" charset="2"/>
              </a:rPr>
              <a:t>좌측이 낮은 값</a:t>
            </a:r>
            <a:r>
              <a:rPr lang="en-US" altLang="ko-KR" sz="700" dirty="0">
                <a:sym typeface="Wingdings" panose="05000000000000000000" pitchFamily="2" charset="2"/>
              </a:rPr>
              <a:t>, </a:t>
            </a:r>
            <a:r>
              <a:rPr lang="ko-KR" altLang="en-US" sz="700" dirty="0">
                <a:sym typeface="Wingdings" panose="05000000000000000000" pitchFamily="2" charset="2"/>
              </a:rPr>
              <a:t>우측이 높은 값</a:t>
            </a:r>
            <a:r>
              <a:rPr lang="en-US" altLang="ko-KR" sz="700" dirty="0">
                <a:sym typeface="Wingdings" panose="05000000000000000000" pitchFamily="2" charset="2"/>
              </a:rPr>
              <a:t/>
            </a:r>
            <a:br>
              <a:rPr lang="en-US" altLang="ko-KR" sz="700" dirty="0">
                <a:sym typeface="Wingdings" panose="05000000000000000000" pitchFamily="2" charset="2"/>
              </a:rPr>
            </a:br>
            <a:r>
              <a:rPr lang="en-US" altLang="ko-KR" sz="700" dirty="0">
                <a:sym typeface="Wingdings" panose="05000000000000000000" pitchFamily="2" charset="2"/>
              </a:rPr>
              <a:t>- </a:t>
            </a:r>
            <a:r>
              <a:rPr lang="ko-KR" altLang="en-US" sz="700" dirty="0">
                <a:sym typeface="Wingdings" panose="05000000000000000000" pitchFamily="2" charset="2"/>
              </a:rPr>
              <a:t>다이얼을 통한 입력 </a:t>
            </a:r>
            <a:r>
              <a:rPr lang="en-US" altLang="ko-KR" sz="700" dirty="0">
                <a:solidFill>
                  <a:srgbClr val="FF0000"/>
                </a:solidFill>
                <a:sym typeface="Wingdings" panose="05000000000000000000" pitchFamily="2" charset="2"/>
              </a:rPr>
              <a:t>(</a:t>
            </a:r>
            <a:r>
              <a:rPr lang="ko-KR" altLang="en-US" sz="700" dirty="0">
                <a:solidFill>
                  <a:srgbClr val="FF0000"/>
                </a:solidFill>
                <a:sym typeface="Wingdings" panose="05000000000000000000" pitchFamily="2" charset="2"/>
              </a:rPr>
              <a:t>최소값 </a:t>
            </a:r>
            <a:r>
              <a:rPr lang="en-US" altLang="ko-KR" sz="700" dirty="0" smtClean="0">
                <a:solidFill>
                  <a:srgbClr val="FF0000"/>
                </a:solidFill>
                <a:sym typeface="Wingdings" panose="05000000000000000000" pitchFamily="2" charset="2"/>
              </a:rPr>
              <a:t>500</a:t>
            </a:r>
            <a:r>
              <a:rPr lang="ko-KR" altLang="en-US" sz="700" dirty="0">
                <a:solidFill>
                  <a:srgbClr val="FF0000"/>
                </a:solidFill>
                <a:sym typeface="Wingdings" panose="05000000000000000000" pitchFamily="2" charset="2"/>
              </a:rPr>
              <a:t>만</a:t>
            </a:r>
            <a:r>
              <a:rPr lang="en-US" altLang="ko-KR" sz="700" dirty="0" smtClean="0">
                <a:solidFill>
                  <a:srgbClr val="FF0000"/>
                </a:solidFill>
                <a:sym typeface="Wingdings" panose="05000000000000000000" pitchFamily="2" charset="2"/>
              </a:rPr>
              <a:t>)</a:t>
            </a:r>
            <a:br>
              <a:rPr lang="en-US" altLang="ko-KR" sz="700" dirty="0" smtClean="0">
                <a:solidFill>
                  <a:srgbClr val="FF0000"/>
                </a:solidFill>
                <a:sym typeface="Wingdings" panose="05000000000000000000" pitchFamily="2" charset="2"/>
              </a:rPr>
            </a:br>
            <a:r>
              <a:rPr lang="en-US" altLang="ko-KR" sz="700" dirty="0" smtClean="0">
                <a:solidFill>
                  <a:srgbClr val="FF0000"/>
                </a:solidFill>
                <a:sym typeface="Wingdings" panose="05000000000000000000" pitchFamily="2" charset="2"/>
              </a:rPr>
              <a:t>- </a:t>
            </a:r>
            <a:r>
              <a:rPr lang="ko-KR" altLang="en-US" sz="700" dirty="0" smtClean="0">
                <a:solidFill>
                  <a:srgbClr val="FF0000"/>
                </a:solidFill>
                <a:sym typeface="Wingdings" panose="05000000000000000000" pitchFamily="2" charset="2"/>
              </a:rPr>
              <a:t>최소 </a:t>
            </a:r>
            <a:r>
              <a:rPr lang="en-US" altLang="ko-KR" sz="700" dirty="0" smtClean="0">
                <a:solidFill>
                  <a:srgbClr val="FF0000"/>
                </a:solidFill>
                <a:sym typeface="Wingdings" panose="05000000000000000000" pitchFamily="2" charset="2"/>
              </a:rPr>
              <a:t>0</a:t>
            </a:r>
            <a:r>
              <a:rPr lang="ko-KR" altLang="en-US" sz="700" dirty="0" smtClean="0">
                <a:solidFill>
                  <a:srgbClr val="FF0000"/>
                </a:solidFill>
                <a:sym typeface="Wingdings" panose="05000000000000000000" pitchFamily="2" charset="2"/>
              </a:rPr>
              <a:t>원 </a:t>
            </a:r>
            <a:r>
              <a:rPr lang="en-US" altLang="ko-KR" sz="700" dirty="0" smtClean="0">
                <a:solidFill>
                  <a:srgbClr val="FF0000"/>
                </a:solidFill>
                <a:sym typeface="Wingdings" panose="05000000000000000000" pitchFamily="2" charset="2"/>
              </a:rPr>
              <a:t>– </a:t>
            </a:r>
            <a:r>
              <a:rPr lang="ko-KR" altLang="en-US" sz="700" dirty="0" smtClean="0">
                <a:solidFill>
                  <a:srgbClr val="FF0000"/>
                </a:solidFill>
                <a:sym typeface="Wingdings" panose="05000000000000000000" pitchFamily="2" charset="2"/>
              </a:rPr>
              <a:t>최대 </a:t>
            </a:r>
            <a:r>
              <a:rPr lang="en-US" altLang="ko-KR" sz="700" dirty="0" smtClean="0">
                <a:solidFill>
                  <a:srgbClr val="FF0000"/>
                </a:solidFill>
                <a:sym typeface="Wingdings" panose="05000000000000000000" pitchFamily="2" charset="2"/>
              </a:rPr>
              <a:t>20</a:t>
            </a:r>
            <a:r>
              <a:rPr lang="ko-KR" altLang="en-US" sz="700" dirty="0" smtClean="0">
                <a:solidFill>
                  <a:srgbClr val="FF0000"/>
                </a:solidFill>
                <a:sym typeface="Wingdings" panose="05000000000000000000" pitchFamily="2" charset="2"/>
              </a:rPr>
              <a:t>억 이상 </a:t>
            </a:r>
            <a:r>
              <a:rPr lang="en-US" altLang="ko-KR" sz="700" dirty="0" smtClean="0">
                <a:solidFill>
                  <a:srgbClr val="FF0000"/>
                </a:solidFill>
                <a:sym typeface="Wingdings" panose="05000000000000000000" pitchFamily="2" charset="2"/>
              </a:rPr>
              <a:t>(</a:t>
            </a:r>
            <a:r>
              <a:rPr lang="ko-KR" altLang="en-US" sz="700" dirty="0" smtClean="0">
                <a:solidFill>
                  <a:srgbClr val="FF0000"/>
                </a:solidFill>
                <a:sym typeface="Wingdings" panose="05000000000000000000" pitchFamily="2" charset="2"/>
              </a:rPr>
              <a:t>추후 변경될 수 있음</a:t>
            </a:r>
            <a:r>
              <a:rPr lang="en-US" altLang="ko-KR" sz="700" dirty="0" smtClean="0">
                <a:solidFill>
                  <a:srgbClr val="FF0000"/>
                </a:solidFill>
                <a:sym typeface="Wingdings" panose="05000000000000000000" pitchFamily="2" charset="2"/>
              </a:rPr>
              <a:t>)</a:t>
            </a:r>
            <a:endParaRPr lang="en-US" altLang="ko-KR" sz="700" dirty="0">
              <a:solidFill>
                <a:srgbClr val="FF0000"/>
              </a:solidFill>
              <a:sym typeface="Wingdings" panose="05000000000000000000" pitchFamily="2" charset="2"/>
            </a:endParaRPr>
          </a:p>
          <a:p>
            <a:pPr marL="228600" indent="-228600">
              <a:buFont typeface="+mj-lt"/>
              <a:buAutoNum type="arabicPeriod"/>
            </a:pPr>
            <a:r>
              <a:rPr lang="ko-KR" altLang="en-US" sz="700" dirty="0">
                <a:sym typeface="Wingdings" panose="05000000000000000000" pitchFamily="2" charset="2"/>
              </a:rPr>
              <a:t>신기술 여부</a:t>
            </a:r>
            <a:r>
              <a:rPr lang="en-US" altLang="ko-KR" sz="700" dirty="0">
                <a:sym typeface="Wingdings" panose="05000000000000000000" pitchFamily="2" charset="2"/>
              </a:rPr>
              <a:t/>
            </a:r>
            <a:br>
              <a:rPr lang="en-US" altLang="ko-KR" sz="700" dirty="0">
                <a:sym typeface="Wingdings" panose="05000000000000000000" pitchFamily="2" charset="2"/>
              </a:rPr>
            </a:br>
            <a:r>
              <a:rPr lang="en-US" altLang="ko-KR" sz="700" dirty="0">
                <a:sym typeface="Wingdings" panose="05000000000000000000" pitchFamily="2" charset="2"/>
              </a:rPr>
              <a:t>- </a:t>
            </a:r>
            <a:r>
              <a:rPr lang="ko-KR" altLang="en-US" sz="700" dirty="0">
                <a:sym typeface="Wingdings" panose="05000000000000000000" pitchFamily="2" charset="2"/>
              </a:rPr>
              <a:t>기본값</a:t>
            </a:r>
            <a:r>
              <a:rPr lang="en-US" altLang="ko-KR" sz="700" dirty="0">
                <a:sym typeface="Wingdings" panose="05000000000000000000" pitchFamily="2" charset="2"/>
              </a:rPr>
              <a:t>: </a:t>
            </a:r>
            <a:r>
              <a:rPr lang="ko-KR" altLang="en-US" sz="700" dirty="0">
                <a:sym typeface="Wingdings" panose="05000000000000000000" pitchFamily="2" charset="2"/>
              </a:rPr>
              <a:t>아니오</a:t>
            </a:r>
            <a:endParaRPr lang="en-US" altLang="ko-KR" sz="700" dirty="0">
              <a:sym typeface="Wingdings" panose="05000000000000000000" pitchFamily="2" charset="2"/>
            </a:endParaRPr>
          </a:p>
          <a:p>
            <a:pPr marL="228600" indent="-228600">
              <a:buFont typeface="+mj-lt"/>
              <a:buAutoNum type="arabicPeriod"/>
            </a:pPr>
            <a:r>
              <a:rPr lang="ko-KR" altLang="en-US" sz="700" dirty="0">
                <a:sym typeface="Wingdings" panose="05000000000000000000" pitchFamily="2" charset="2"/>
              </a:rPr>
              <a:t>검색 버튼 영역은 화면 하단 </a:t>
            </a:r>
            <a:r>
              <a:rPr lang="ko-KR" altLang="en-US" sz="700" dirty="0" err="1">
                <a:sym typeface="Wingdings" panose="05000000000000000000" pitchFamily="2" charset="2"/>
              </a:rPr>
              <a:t>플로팅</a:t>
            </a:r>
            <a:r>
              <a:rPr lang="ko-KR" altLang="en-US" sz="700" dirty="0">
                <a:sym typeface="Wingdings" panose="05000000000000000000" pitchFamily="2" charset="2"/>
              </a:rPr>
              <a:t> 처리</a:t>
            </a:r>
            <a:endParaRPr lang="en-US" altLang="ko-KR" sz="700"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354151"/>
            <a:ext cx="1258128" cy="216000"/>
          </a:xfrm>
        </p:spPr>
        <p:txBody>
          <a:bodyPr/>
          <a:lstStyle/>
          <a:p>
            <a:fld id="{34C8E023-7346-48FC-AB24-9A3388C53208}" type="slidenum">
              <a:rPr lang="ko-KR" altLang="en-US" smtClean="0"/>
              <a:pPr/>
              <a:t>17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검색필터</a:t>
            </a:r>
            <a:r>
              <a:rPr lang="en-US" altLang="ko-KR" dirty="0"/>
              <a:t>-</a:t>
            </a:r>
            <a:r>
              <a:rPr lang="ko-KR" altLang="en-US" dirty="0"/>
              <a:t>입찰공고</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MUI-BD-01-P02</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5" name="그룹 84"/>
          <p:cNvGrpSpPr/>
          <p:nvPr/>
        </p:nvGrpSpPr>
        <p:grpSpPr>
          <a:xfrm>
            <a:off x="6258712" y="1650089"/>
            <a:ext cx="94010" cy="94010"/>
            <a:chOff x="6812560" y="3297172"/>
            <a:chExt cx="94010" cy="94010"/>
          </a:xfrm>
        </p:grpSpPr>
        <p:cxnSp>
          <p:nvCxnSpPr>
            <p:cNvPr id="86" name="직선 연결선 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87" name="직선 연결선 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88" name="타원 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TextBox 127">
            <a:extLst>
              <a:ext uri="{FF2B5EF4-FFF2-40B4-BE49-F238E27FC236}">
                <a16:creationId xmlns:a16="http://schemas.microsoft.com/office/drawing/2014/main" id="{FFC49AEA-2A8F-250C-A86A-A7751D9706C3}"/>
              </a:ext>
            </a:extLst>
          </p:cNvPr>
          <p:cNvSpPr txBox="1"/>
          <p:nvPr/>
        </p:nvSpPr>
        <p:spPr>
          <a:xfrm>
            <a:off x="778515" y="199593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업무구분</a:t>
            </a:r>
            <a:endParaRPr lang="ko-KR" altLang="en-US" sz="700" b="1"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956623" y="2221322"/>
            <a:ext cx="2305144" cy="1077218"/>
          </a:xfrm>
          <a:prstGeom prst="rect">
            <a:avLst/>
          </a:prstGeom>
          <a:noFill/>
        </p:spPr>
        <p:txBody>
          <a:bodyPr wrap="square" lIns="0" tIns="0" rIns="0" bIns="0" rtlCol="0">
            <a:spAutoFit/>
          </a:bodyPr>
          <a:lstStyle/>
          <a:p>
            <a:pPr>
              <a:lnSpc>
                <a:spcPct val="200000"/>
              </a:lnSpc>
            </a:pPr>
            <a:r>
              <a:rPr lang="ko-KR" altLang="en-US" sz="700" dirty="0">
                <a:latin typeface="+mn-ea"/>
              </a:rPr>
              <a:t>전체</a:t>
            </a:r>
            <a:endParaRPr lang="en-US" altLang="ko-KR" sz="700" dirty="0">
              <a:latin typeface="+mn-ea"/>
            </a:endParaRPr>
          </a:p>
          <a:p>
            <a:pPr>
              <a:lnSpc>
                <a:spcPct val="200000"/>
              </a:lnSpc>
            </a:pPr>
            <a:r>
              <a:rPr lang="ko-KR" altLang="en-US" sz="700" dirty="0">
                <a:latin typeface="+mn-ea"/>
              </a:rPr>
              <a:t>물품</a:t>
            </a:r>
            <a:endParaRPr lang="en-US" altLang="ko-KR" sz="700" dirty="0">
              <a:latin typeface="+mn-ea"/>
            </a:endParaRPr>
          </a:p>
          <a:p>
            <a:pPr>
              <a:lnSpc>
                <a:spcPct val="200000"/>
              </a:lnSpc>
            </a:pPr>
            <a:r>
              <a:rPr lang="ko-KR" altLang="en-US" sz="700" dirty="0">
                <a:latin typeface="+mn-ea"/>
              </a:rPr>
              <a:t>용역</a:t>
            </a:r>
            <a:endParaRPr lang="en-US" altLang="ko-KR" sz="700" dirty="0">
              <a:latin typeface="+mn-ea"/>
            </a:endParaRPr>
          </a:p>
          <a:p>
            <a:pPr>
              <a:lnSpc>
                <a:spcPct val="200000"/>
              </a:lnSpc>
            </a:pPr>
            <a:r>
              <a:rPr lang="ko-KR" altLang="en-US" sz="700" dirty="0">
                <a:latin typeface="+mn-ea"/>
              </a:rPr>
              <a:t>공사</a:t>
            </a:r>
            <a:endParaRPr lang="en-US" altLang="ko-KR" sz="700" dirty="0">
              <a:latin typeface="+mn-ea"/>
            </a:endParaRPr>
          </a:p>
          <a:p>
            <a:pPr>
              <a:lnSpc>
                <a:spcPct val="200000"/>
              </a:lnSpc>
            </a:pPr>
            <a:r>
              <a:rPr lang="ko-KR" altLang="en-US" sz="700" dirty="0">
                <a:latin typeface="+mn-ea"/>
              </a:rPr>
              <a:t>국외</a:t>
            </a:r>
            <a:endParaRPr lang="en-US" altLang="ko-KR" sz="700" dirty="0">
              <a:latin typeface="+mn-ea"/>
            </a:endParaRPr>
          </a:p>
        </p:txBody>
      </p:sp>
      <p:sp>
        <p:nvSpPr>
          <p:cNvPr id="132" name="직사각형 131"/>
          <p:cNvSpPr/>
          <p:nvPr/>
        </p:nvSpPr>
        <p:spPr>
          <a:xfrm>
            <a:off x="772169" y="2292407"/>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직사각형 132"/>
          <p:cNvSpPr/>
          <p:nvPr/>
        </p:nvSpPr>
        <p:spPr>
          <a:xfrm>
            <a:off x="772169" y="2509633"/>
            <a:ext cx="107950" cy="107950"/>
          </a:xfrm>
          <a:prstGeom prst="rect">
            <a:avLst/>
          </a:prstGeom>
          <a:solidFill>
            <a:schemeClr val="accent1">
              <a:lumMod val="75000"/>
            </a:schemeClr>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4" name="그룹 133"/>
          <p:cNvGrpSpPr/>
          <p:nvPr/>
        </p:nvGrpSpPr>
        <p:grpSpPr>
          <a:xfrm flipV="1">
            <a:off x="3140949" y="2093627"/>
            <a:ext cx="91438" cy="45719"/>
            <a:chOff x="6812560" y="3297172"/>
            <a:chExt cx="94010" cy="47005"/>
          </a:xfrm>
        </p:grpSpPr>
        <p:cxnSp>
          <p:nvCxnSpPr>
            <p:cNvPr id="135" name="직선 연결선 1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6" name="직선 연결선 1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7" name="직사각형 136"/>
          <p:cNvSpPr/>
          <p:nvPr/>
        </p:nvSpPr>
        <p:spPr>
          <a:xfrm>
            <a:off x="772169" y="2706723"/>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직사각형 137"/>
          <p:cNvSpPr/>
          <p:nvPr/>
        </p:nvSpPr>
        <p:spPr>
          <a:xfrm>
            <a:off x="772169" y="2921384"/>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p:cNvSpPr/>
          <p:nvPr/>
        </p:nvSpPr>
        <p:spPr>
          <a:xfrm>
            <a:off x="772169" y="3133350"/>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p:cNvSpPr txBox="1"/>
          <p:nvPr/>
        </p:nvSpPr>
        <p:spPr>
          <a:xfrm>
            <a:off x="712771" y="2471275"/>
            <a:ext cx="221536" cy="184666"/>
          </a:xfrm>
          <a:prstGeom prst="rect">
            <a:avLst/>
          </a:prstGeom>
          <a:noFill/>
        </p:spPr>
        <p:txBody>
          <a:bodyPr wrap="none" rtlCol="0">
            <a:spAutoFit/>
          </a:bodyPr>
          <a:lstStyle/>
          <a:p>
            <a:r>
              <a:rPr lang="en-US" altLang="ko-KR" sz="600" dirty="0">
                <a:solidFill>
                  <a:schemeClr val="bg1"/>
                </a:solidFill>
              </a:rPr>
              <a:t>v</a:t>
            </a:r>
            <a:endParaRPr lang="ko-KR" altLang="en-US" sz="600" dirty="0">
              <a:solidFill>
                <a:schemeClr val="bg1"/>
              </a:solidFill>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675399" y="33990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3490553"/>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일자 설정</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3713091"/>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3588243"/>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3532735"/>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3532735"/>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3559275"/>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3559275"/>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공고</a:t>
            </a: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3740722"/>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3760669"/>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3971391"/>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3740722"/>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428814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438825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4485947"/>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4668748"/>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입찰건명을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4625248"/>
            <a:ext cx="670770" cy="1723549"/>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a:latin typeface="+mn-ea"/>
              </a:rPr>
              <a:t>번호 검색</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smtClean="0">
                <a:latin typeface="+mn-ea"/>
              </a:rPr>
              <a:t>지역명</a:t>
            </a:r>
            <a:endParaRPr lang="en-US" altLang="ko-KR" sz="700" dirty="0" smtClean="0">
              <a:latin typeface="+mn-ea"/>
            </a:endParaRPr>
          </a:p>
          <a:p>
            <a:pPr>
              <a:lnSpc>
                <a:spcPct val="200000"/>
              </a:lnSpc>
            </a:pPr>
            <a:r>
              <a:rPr lang="ko-KR" altLang="en-US" sz="700" dirty="0" smtClean="0">
                <a:latin typeface="+mn-ea"/>
              </a:rPr>
              <a:t>품명</a:t>
            </a:r>
            <a:endParaRPr lang="en-US" altLang="ko-KR" sz="700" dirty="0">
              <a:latin typeface="+mn-ea"/>
            </a:endParaRPr>
          </a:p>
          <a:p>
            <a:pPr>
              <a:lnSpc>
                <a:spcPct val="200000"/>
              </a:lnSpc>
            </a:pPr>
            <a:r>
              <a:rPr lang="ko-KR" altLang="en-US" sz="700" dirty="0" err="1" smtClean="0">
                <a:latin typeface="+mn-ea"/>
              </a:rPr>
              <a:t>발주기관명</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endParaRPr lang="en-US" altLang="ko-KR" sz="700" dirty="0">
              <a:latin typeface="+mn-ea"/>
            </a:endParaRPr>
          </a:p>
        </p:txBody>
      </p:sp>
      <p:sp>
        <p:nvSpPr>
          <p:cNvPr id="207" name="모서리가 둥근 직사각형 206"/>
          <p:cNvSpPr/>
          <p:nvPr/>
        </p:nvSpPr>
        <p:spPr>
          <a:xfrm>
            <a:off x="1449284" y="506380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8" name="모서리가 둥근 직사각형 207"/>
          <p:cNvSpPr/>
          <p:nvPr/>
        </p:nvSpPr>
        <p:spPr>
          <a:xfrm>
            <a:off x="1449284" y="5740778"/>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발주기관을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12" name="모서리가 둥근 직사각형 211"/>
          <p:cNvSpPr/>
          <p:nvPr/>
        </p:nvSpPr>
        <p:spPr>
          <a:xfrm>
            <a:off x="1452235" y="597700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면허정보를</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213" name="그룹 212"/>
          <p:cNvGrpSpPr/>
          <p:nvPr/>
        </p:nvGrpSpPr>
        <p:grpSpPr>
          <a:xfrm rot="16200000">
            <a:off x="3140950" y="5816132"/>
            <a:ext cx="91438" cy="45719"/>
            <a:chOff x="6812560" y="3297172"/>
            <a:chExt cx="94010" cy="47005"/>
          </a:xfrm>
        </p:grpSpPr>
        <p:cxnSp>
          <p:nvCxnSpPr>
            <p:cNvPr id="214" name="직선 연결선 2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5" name="직선 연결선 2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6" name="모서리가 둥근 직사각형 215"/>
          <p:cNvSpPr/>
          <p:nvPr/>
        </p:nvSpPr>
        <p:spPr>
          <a:xfrm>
            <a:off x="1467218" y="4894922"/>
            <a:ext cx="920382"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17" name="모서리가 둥근 직사각형 216"/>
          <p:cNvSpPr/>
          <p:nvPr/>
        </p:nvSpPr>
        <p:spPr>
          <a:xfrm>
            <a:off x="1467219" y="4894922"/>
            <a:ext cx="462756"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1500335" y="4921462"/>
            <a:ext cx="391459" cy="107722"/>
          </a:xfrm>
          <a:prstGeom prst="rect">
            <a:avLst/>
          </a:prstGeom>
          <a:noFill/>
        </p:spPr>
        <p:txBody>
          <a:bodyPr wrap="square" lIns="0" tIns="0" rIns="0" bIns="0" rtlCol="0">
            <a:spAutoFit/>
          </a:bodyPr>
          <a:lstStyle/>
          <a:p>
            <a:pPr algn="ctr"/>
            <a:r>
              <a:rPr lang="ko-KR" altLang="en-US" sz="700" dirty="0" err="1">
                <a:solidFill>
                  <a:schemeClr val="bg1"/>
                </a:solidFill>
                <a:latin typeface="+mn-ea"/>
              </a:rPr>
              <a:t>공고번호</a:t>
            </a:r>
            <a:endParaRPr lang="ko-KR" altLang="en-US" sz="700" dirty="0">
              <a:solidFill>
                <a:schemeClr val="bg1"/>
              </a:solidFill>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1965745" y="4921462"/>
            <a:ext cx="363180" cy="107722"/>
          </a:xfrm>
          <a:prstGeom prst="rect">
            <a:avLst/>
          </a:prstGeom>
          <a:noFill/>
        </p:spPr>
        <p:txBody>
          <a:bodyPr wrap="square" lIns="0" tIns="0" rIns="0" bIns="0" rtlCol="0">
            <a:spAutoFit/>
          </a:bodyPr>
          <a:lstStyle/>
          <a:p>
            <a:pPr algn="ctr"/>
            <a:r>
              <a:rPr lang="ko-KR" altLang="en-US" sz="700" dirty="0" err="1">
                <a:solidFill>
                  <a:schemeClr val="bg1"/>
                </a:solidFill>
                <a:latin typeface="+mn-ea"/>
              </a:rPr>
              <a:t>통합참조</a:t>
            </a:r>
            <a:endParaRPr lang="ko-KR" altLang="en-US" sz="700" dirty="0">
              <a:solidFill>
                <a:schemeClr val="bg1"/>
              </a:solidFill>
              <a:latin typeface="+mn-ea"/>
            </a:endParaRPr>
          </a:p>
        </p:txBody>
      </p:sp>
      <p:grpSp>
        <p:nvGrpSpPr>
          <p:cNvPr id="221" name="그룹 220"/>
          <p:cNvGrpSpPr/>
          <p:nvPr/>
        </p:nvGrpSpPr>
        <p:grpSpPr>
          <a:xfrm>
            <a:off x="3795734" y="5824103"/>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5" name="TextBox 224">
            <a:extLst>
              <a:ext uri="{FF2B5EF4-FFF2-40B4-BE49-F238E27FC236}">
                <a16:creationId xmlns:a16="http://schemas.microsoft.com/office/drawing/2014/main" id="{FFC49AEA-2A8F-250C-A86A-A7751D9706C3}"/>
              </a:ext>
            </a:extLst>
          </p:cNvPr>
          <p:cNvSpPr txBox="1"/>
          <p:nvPr/>
        </p:nvSpPr>
        <p:spPr>
          <a:xfrm>
            <a:off x="3898850" y="1956832"/>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구분 설정</a:t>
            </a:r>
          </a:p>
        </p:txBody>
      </p:sp>
      <p:grpSp>
        <p:nvGrpSpPr>
          <p:cNvPr id="226" name="그룹 225"/>
          <p:cNvGrpSpPr/>
          <p:nvPr/>
        </p:nvGrpSpPr>
        <p:grpSpPr>
          <a:xfrm flipV="1">
            <a:off x="6261284" y="2054522"/>
            <a:ext cx="91438" cy="45719"/>
            <a:chOff x="6812560" y="3297172"/>
            <a:chExt cx="94010" cy="47005"/>
          </a:xfrm>
        </p:grpSpPr>
        <p:cxnSp>
          <p:nvCxnSpPr>
            <p:cNvPr id="227" name="직선 연결선 22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8" name="직선 연결선 22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9" name="모서리가 둥근 직사각형 228"/>
          <p:cNvSpPr/>
          <p:nvPr/>
        </p:nvSpPr>
        <p:spPr>
          <a:xfrm>
            <a:off x="4569619" y="223732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smtClean="0">
                <a:solidFill>
                  <a:schemeClr val="tx1"/>
                </a:solidFill>
              </a:rPr>
              <a:t>전체</a:t>
            </a:r>
            <a:endParaRPr lang="ko-KR" altLang="en-US" sz="700" dirty="0">
              <a:solidFill>
                <a:schemeClr val="tx1"/>
              </a:solidFill>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898850" y="2185197"/>
            <a:ext cx="670770" cy="2035942"/>
          </a:xfrm>
          <a:prstGeom prst="rect">
            <a:avLst/>
          </a:prstGeom>
          <a:noFill/>
        </p:spPr>
        <p:txBody>
          <a:bodyPr wrap="square" lIns="0" tIns="0" rIns="0" bIns="0" rtlCol="0">
            <a:spAutoFit/>
          </a:bodyPr>
          <a:lstStyle/>
          <a:p>
            <a:pPr>
              <a:lnSpc>
                <a:spcPct val="210000"/>
              </a:lnSpc>
            </a:pPr>
            <a:r>
              <a:rPr lang="ko-KR" altLang="en-US" sz="700" dirty="0" err="1" smtClean="0">
                <a:latin typeface="+mn-ea"/>
              </a:rPr>
              <a:t>진행상태명</a:t>
            </a:r>
            <a:endParaRPr lang="en-US" altLang="ko-KR" sz="700" dirty="0">
              <a:latin typeface="+mn-ea"/>
            </a:endParaRPr>
          </a:p>
          <a:p>
            <a:pPr>
              <a:lnSpc>
                <a:spcPct val="210000"/>
              </a:lnSpc>
            </a:pPr>
            <a:r>
              <a:rPr lang="ko-KR" altLang="en-US" sz="700" dirty="0" err="1">
                <a:latin typeface="+mn-ea"/>
              </a:rPr>
              <a:t>공고구분</a:t>
            </a:r>
            <a:endParaRPr lang="en-US" altLang="ko-KR" sz="700" dirty="0">
              <a:latin typeface="+mn-ea"/>
            </a:endParaRPr>
          </a:p>
          <a:p>
            <a:pPr>
              <a:lnSpc>
                <a:spcPct val="210000"/>
              </a:lnSpc>
            </a:pPr>
            <a:r>
              <a:rPr lang="ko-KR" altLang="en-US" sz="700" dirty="0">
                <a:latin typeface="+mn-ea"/>
              </a:rPr>
              <a:t>진행상태</a:t>
            </a:r>
            <a:endParaRPr lang="en-US" altLang="ko-KR" sz="700" dirty="0">
              <a:latin typeface="+mn-ea"/>
            </a:endParaRPr>
          </a:p>
          <a:p>
            <a:pPr>
              <a:lnSpc>
                <a:spcPct val="210000"/>
              </a:lnSpc>
            </a:pPr>
            <a:r>
              <a:rPr lang="ko-KR" altLang="en-US" sz="700" dirty="0">
                <a:latin typeface="+mn-ea"/>
              </a:rPr>
              <a:t>기능</a:t>
            </a:r>
            <a:endParaRPr lang="en-US" altLang="ko-KR" sz="700" dirty="0">
              <a:latin typeface="+mn-ea"/>
            </a:endParaRPr>
          </a:p>
          <a:p>
            <a:pPr>
              <a:lnSpc>
                <a:spcPct val="210000"/>
              </a:lnSpc>
            </a:pPr>
            <a:r>
              <a:rPr lang="ko-KR" altLang="en-US" sz="700" dirty="0" err="1">
                <a:latin typeface="+mn-ea"/>
              </a:rPr>
              <a:t>입찰매체</a:t>
            </a:r>
            <a:endParaRPr lang="en-US" altLang="ko-KR" sz="700" dirty="0">
              <a:latin typeface="+mn-ea"/>
            </a:endParaRPr>
          </a:p>
          <a:p>
            <a:pPr>
              <a:lnSpc>
                <a:spcPct val="210000"/>
              </a:lnSpc>
            </a:pPr>
            <a:r>
              <a:rPr lang="ko-KR" altLang="en-US" sz="700" dirty="0" err="1">
                <a:latin typeface="+mn-ea"/>
              </a:rPr>
              <a:t>입찰형태</a:t>
            </a:r>
            <a:endParaRPr lang="en-US" altLang="ko-KR" sz="700" dirty="0">
              <a:latin typeface="+mn-ea"/>
            </a:endParaRPr>
          </a:p>
          <a:p>
            <a:pPr>
              <a:lnSpc>
                <a:spcPct val="210000"/>
              </a:lnSpc>
            </a:pPr>
            <a:r>
              <a:rPr lang="ko-KR" altLang="en-US" sz="700" dirty="0">
                <a:latin typeface="+mn-ea"/>
              </a:rPr>
              <a:t>계약방법</a:t>
            </a:r>
            <a:endParaRPr lang="en-US" altLang="ko-KR" sz="700" dirty="0">
              <a:latin typeface="+mn-ea"/>
            </a:endParaRPr>
          </a:p>
          <a:p>
            <a:pPr>
              <a:lnSpc>
                <a:spcPct val="210000"/>
              </a:lnSpc>
            </a:pPr>
            <a:r>
              <a:rPr lang="ko-KR" altLang="en-US" sz="700" dirty="0" err="1" smtClean="0">
                <a:latin typeface="+mn-ea"/>
              </a:rPr>
              <a:t>낙찰방법</a:t>
            </a:r>
            <a:endParaRPr lang="en-US" altLang="ko-KR" sz="700" dirty="0" smtClean="0">
              <a:latin typeface="+mn-ea"/>
            </a:endParaRPr>
          </a:p>
          <a:p>
            <a:pPr>
              <a:lnSpc>
                <a:spcPct val="210000"/>
              </a:lnSpc>
            </a:pPr>
            <a:r>
              <a:rPr lang="ko-KR" altLang="en-US" sz="700" dirty="0" err="1" smtClean="0">
                <a:latin typeface="+mn-ea"/>
              </a:rPr>
              <a:t>군구분</a:t>
            </a:r>
            <a:endParaRPr lang="en-US" altLang="ko-KR" sz="700" dirty="0">
              <a:latin typeface="+mn-ea"/>
            </a:endParaRPr>
          </a:p>
        </p:txBody>
      </p:sp>
      <p:sp>
        <p:nvSpPr>
          <p:cNvPr id="231" name="모서리가 둥근 직사각형 230"/>
          <p:cNvSpPr/>
          <p:nvPr/>
        </p:nvSpPr>
        <p:spPr>
          <a:xfrm>
            <a:off x="4569619" y="2460260"/>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2" name="모서리가 둥근 직사각형 231"/>
          <p:cNvSpPr/>
          <p:nvPr/>
        </p:nvSpPr>
        <p:spPr>
          <a:xfrm>
            <a:off x="4569619" y="2681834"/>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3" name="모서리가 둥근 직사각형 232"/>
          <p:cNvSpPr/>
          <p:nvPr/>
        </p:nvSpPr>
        <p:spPr>
          <a:xfrm>
            <a:off x="4572570" y="2918059"/>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234" name="그룹 233"/>
          <p:cNvGrpSpPr/>
          <p:nvPr/>
        </p:nvGrpSpPr>
        <p:grpSpPr>
          <a:xfrm>
            <a:off x="6261284" y="2988800"/>
            <a:ext cx="91438" cy="45719"/>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1" name="그룹 240"/>
          <p:cNvGrpSpPr/>
          <p:nvPr/>
        </p:nvGrpSpPr>
        <p:grpSpPr>
          <a:xfrm>
            <a:off x="6261284" y="2754912"/>
            <a:ext cx="91438" cy="45719"/>
            <a:chOff x="6812560" y="3297172"/>
            <a:chExt cx="94010" cy="47005"/>
          </a:xfrm>
        </p:grpSpPr>
        <p:cxnSp>
          <p:nvCxnSpPr>
            <p:cNvPr id="242" name="직선 연결선 2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3" name="직선 연결선 2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4" name="그룹 243"/>
          <p:cNvGrpSpPr/>
          <p:nvPr/>
        </p:nvGrpSpPr>
        <p:grpSpPr>
          <a:xfrm>
            <a:off x="6261284" y="2538745"/>
            <a:ext cx="91438" cy="45719"/>
            <a:chOff x="6812560" y="3297172"/>
            <a:chExt cx="94010" cy="47005"/>
          </a:xfrm>
        </p:grpSpPr>
        <p:cxnSp>
          <p:nvCxnSpPr>
            <p:cNvPr id="245" name="직선 연결선 2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6" name="직선 연결선 2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7" name="그룹 246"/>
          <p:cNvGrpSpPr/>
          <p:nvPr/>
        </p:nvGrpSpPr>
        <p:grpSpPr>
          <a:xfrm>
            <a:off x="6261284" y="2308063"/>
            <a:ext cx="91438" cy="45719"/>
            <a:chOff x="6812560" y="3297172"/>
            <a:chExt cx="94010" cy="47005"/>
          </a:xfrm>
        </p:grpSpPr>
        <p:cxnSp>
          <p:nvCxnSpPr>
            <p:cNvPr id="248" name="직선 연결선 24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9" name="직선 연결선 24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50" name="모서리가 둥근 직사각형 249"/>
          <p:cNvSpPr/>
          <p:nvPr/>
        </p:nvSpPr>
        <p:spPr>
          <a:xfrm>
            <a:off x="4569619" y="313418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1" name="모서리가 둥근 직사각형 250"/>
          <p:cNvSpPr/>
          <p:nvPr/>
        </p:nvSpPr>
        <p:spPr>
          <a:xfrm>
            <a:off x="4569619" y="335712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2" name="모서리가 둥근 직사각형 251"/>
          <p:cNvSpPr/>
          <p:nvPr/>
        </p:nvSpPr>
        <p:spPr>
          <a:xfrm>
            <a:off x="4569619" y="3578697"/>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3" name="모서리가 둥근 직사각형 252"/>
          <p:cNvSpPr/>
          <p:nvPr/>
        </p:nvSpPr>
        <p:spPr>
          <a:xfrm>
            <a:off x="4572570" y="3814922"/>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254" name="그룹 253"/>
          <p:cNvGrpSpPr/>
          <p:nvPr/>
        </p:nvGrpSpPr>
        <p:grpSpPr>
          <a:xfrm>
            <a:off x="6261284" y="3885663"/>
            <a:ext cx="91438" cy="45719"/>
            <a:chOff x="6812560" y="3297172"/>
            <a:chExt cx="94010" cy="47005"/>
          </a:xfrm>
        </p:grpSpPr>
        <p:cxnSp>
          <p:nvCxnSpPr>
            <p:cNvPr id="255" name="직선 연결선 25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6" name="직선 연결선 25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57" name="그룹 256"/>
          <p:cNvGrpSpPr/>
          <p:nvPr/>
        </p:nvGrpSpPr>
        <p:grpSpPr>
          <a:xfrm>
            <a:off x="6261284" y="3651775"/>
            <a:ext cx="91438" cy="45719"/>
            <a:chOff x="6812560" y="3297172"/>
            <a:chExt cx="94010" cy="47005"/>
          </a:xfrm>
        </p:grpSpPr>
        <p:cxnSp>
          <p:nvCxnSpPr>
            <p:cNvPr id="258" name="직선 연결선 2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9" name="직선 연결선 2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0" name="그룹 259"/>
          <p:cNvGrpSpPr/>
          <p:nvPr/>
        </p:nvGrpSpPr>
        <p:grpSpPr>
          <a:xfrm>
            <a:off x="6261284" y="3435608"/>
            <a:ext cx="91438" cy="45719"/>
            <a:chOff x="6812560" y="3297172"/>
            <a:chExt cx="94010" cy="47005"/>
          </a:xfrm>
        </p:grpSpPr>
        <p:cxnSp>
          <p:nvCxnSpPr>
            <p:cNvPr id="261" name="직선 연결선 26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2" name="직선 연결선 26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3" name="그룹 262"/>
          <p:cNvGrpSpPr/>
          <p:nvPr/>
        </p:nvGrpSpPr>
        <p:grpSpPr>
          <a:xfrm>
            <a:off x="6261284" y="3204926"/>
            <a:ext cx="91438" cy="45719"/>
            <a:chOff x="6812560" y="3297172"/>
            <a:chExt cx="94010" cy="47005"/>
          </a:xfrm>
        </p:grpSpPr>
        <p:cxnSp>
          <p:nvCxnSpPr>
            <p:cNvPr id="264" name="직선 연결선 2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5" name="직선 연결선 26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6" name="모서리가 둥근 직사각형 265"/>
          <p:cNvSpPr/>
          <p:nvPr/>
        </p:nvSpPr>
        <p:spPr>
          <a:xfrm>
            <a:off x="1449284" y="5518134"/>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품명을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795734" y="438267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8" name="TextBox 267">
            <a:extLst>
              <a:ext uri="{FF2B5EF4-FFF2-40B4-BE49-F238E27FC236}">
                <a16:creationId xmlns:a16="http://schemas.microsoft.com/office/drawing/2014/main" id="{FFC49AEA-2A8F-250C-A86A-A7751D9706C3}"/>
              </a:ext>
            </a:extLst>
          </p:cNvPr>
          <p:cNvSpPr txBox="1"/>
          <p:nvPr/>
        </p:nvSpPr>
        <p:spPr>
          <a:xfrm>
            <a:off x="3898850" y="4415444"/>
            <a:ext cx="2305144" cy="215444"/>
          </a:xfrm>
          <a:prstGeom prst="rect">
            <a:avLst/>
          </a:prstGeom>
          <a:noFill/>
        </p:spPr>
        <p:txBody>
          <a:bodyPr wrap="square" lIns="0" tIns="0" rIns="0" bIns="0" rtlCol="0">
            <a:spAutoFit/>
          </a:bodyPr>
          <a:lstStyle/>
          <a:p>
            <a:pPr>
              <a:lnSpc>
                <a:spcPct val="200000"/>
              </a:lnSpc>
            </a:pPr>
            <a:r>
              <a:rPr lang="ko-KR" altLang="en-US" sz="700" b="1" dirty="0">
                <a:latin typeface="+mn-ea"/>
              </a:rPr>
              <a:t>가격 설정</a:t>
            </a:r>
          </a:p>
        </p:txBody>
      </p:sp>
      <p:sp>
        <p:nvSpPr>
          <p:cNvPr id="269" name="TextBox 268">
            <a:extLst>
              <a:ext uri="{FF2B5EF4-FFF2-40B4-BE49-F238E27FC236}">
                <a16:creationId xmlns:a16="http://schemas.microsoft.com/office/drawing/2014/main" id="{FFC49AEA-2A8F-250C-A86A-A7751D9706C3}"/>
              </a:ext>
            </a:extLst>
          </p:cNvPr>
          <p:cNvSpPr txBox="1"/>
          <p:nvPr/>
        </p:nvSpPr>
        <p:spPr>
          <a:xfrm>
            <a:off x="3898850" y="4637982"/>
            <a:ext cx="670770" cy="181140"/>
          </a:xfrm>
          <a:prstGeom prst="rect">
            <a:avLst/>
          </a:prstGeom>
          <a:noFill/>
        </p:spPr>
        <p:txBody>
          <a:bodyPr wrap="square" lIns="0" tIns="0" rIns="0" bIns="0" rtlCol="0">
            <a:spAutoFit/>
          </a:bodyPr>
          <a:lstStyle/>
          <a:p>
            <a:pPr>
              <a:lnSpc>
                <a:spcPct val="200000"/>
              </a:lnSpc>
            </a:pPr>
            <a:r>
              <a:rPr lang="ko-KR" altLang="en-US" sz="700" dirty="0">
                <a:latin typeface="+mn-ea"/>
              </a:rPr>
              <a:t>추정가격</a:t>
            </a:r>
            <a:endParaRPr lang="en-US" altLang="ko-KR" sz="700" dirty="0">
              <a:latin typeface="+mn-ea"/>
            </a:endParaRPr>
          </a:p>
        </p:txBody>
      </p:sp>
      <p:grpSp>
        <p:nvGrpSpPr>
          <p:cNvPr id="270" name="그룹 269"/>
          <p:cNvGrpSpPr/>
          <p:nvPr/>
        </p:nvGrpSpPr>
        <p:grpSpPr>
          <a:xfrm flipV="1">
            <a:off x="6261284" y="4513134"/>
            <a:ext cx="91438" cy="45719"/>
            <a:chOff x="6812560" y="3297172"/>
            <a:chExt cx="94010" cy="47005"/>
          </a:xfrm>
        </p:grpSpPr>
        <p:cxnSp>
          <p:nvCxnSpPr>
            <p:cNvPr id="271" name="직선 연결선 2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2" name="직선 연결선 2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4" name="사각형: 둥근 모서리 86">
            <a:extLst>
              <a:ext uri="{FF2B5EF4-FFF2-40B4-BE49-F238E27FC236}">
                <a16:creationId xmlns:a16="http://schemas.microsoft.com/office/drawing/2014/main" id="{C84908FA-11D4-E687-3603-3EA5852F6FAE}"/>
              </a:ext>
            </a:extLst>
          </p:cNvPr>
          <p:cNvSpPr/>
          <p:nvPr/>
        </p:nvSpPr>
        <p:spPr>
          <a:xfrm>
            <a:off x="4585116" y="4665613"/>
            <a:ext cx="859319"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10,000,000 </a:t>
            </a:r>
            <a:r>
              <a:rPr kumimoji="1" lang="ko-KR" altLang="en-US" sz="700" kern="0" dirty="0">
                <a:latin typeface="맑은 고딕"/>
              </a:rPr>
              <a:t>원</a:t>
            </a:r>
            <a:endParaRPr kumimoji="1" lang="en-US" sz="700" b="0" i="0" u="none" strike="noStrike" kern="0" cap="none" spc="0" normalizeH="0" baseline="0" noProof="0" dirty="0">
              <a:ln>
                <a:noFill/>
              </a:ln>
              <a:effectLst/>
              <a:uLnTx/>
              <a:uFillTx/>
              <a:latin typeface="맑은 고딕"/>
            </a:endParaRPr>
          </a:p>
        </p:txBody>
      </p:sp>
      <p:sp>
        <p:nvSpPr>
          <p:cNvPr id="276" name="TextBox 91">
            <a:extLst>
              <a:ext uri="{FF2B5EF4-FFF2-40B4-BE49-F238E27FC236}">
                <a16:creationId xmlns:a16="http://schemas.microsoft.com/office/drawing/2014/main" id="{02490888-B81F-0F94-5D5F-078AEEB39DDB}"/>
              </a:ext>
            </a:extLst>
          </p:cNvPr>
          <p:cNvSpPr txBox="1"/>
          <p:nvPr/>
        </p:nvSpPr>
        <p:spPr>
          <a:xfrm>
            <a:off x="5467614" y="4685560"/>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sp>
        <p:nvSpPr>
          <p:cNvPr id="278" name="사각형: 둥근 모서리 86">
            <a:extLst>
              <a:ext uri="{FF2B5EF4-FFF2-40B4-BE49-F238E27FC236}">
                <a16:creationId xmlns:a16="http://schemas.microsoft.com/office/drawing/2014/main" id="{C84908FA-11D4-E687-3603-3EA5852F6FAE}"/>
              </a:ext>
            </a:extLst>
          </p:cNvPr>
          <p:cNvSpPr/>
          <p:nvPr/>
        </p:nvSpPr>
        <p:spPr>
          <a:xfrm>
            <a:off x="5570943" y="4665613"/>
            <a:ext cx="859319"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20,000,000 </a:t>
            </a:r>
            <a:r>
              <a:rPr kumimoji="1" lang="ko-KR" altLang="en-US" sz="700" kern="0" dirty="0">
                <a:latin typeface="맑은 고딕"/>
              </a:rPr>
              <a:t>원</a:t>
            </a:r>
            <a:endParaRPr kumimoji="1" lang="en-US" sz="700" b="0" i="0" u="none" strike="noStrike" kern="0" cap="none" spc="0" normalizeH="0" baseline="0" noProof="0" dirty="0">
              <a:ln>
                <a:noFill/>
              </a:ln>
              <a:effectLst/>
              <a:uLnTx/>
              <a:uFillTx/>
              <a:latin typeface="맑은 고딕"/>
            </a:endParaRPr>
          </a:p>
        </p:txBody>
      </p:sp>
      <p:cxnSp>
        <p:nvCxnSpPr>
          <p:cNvPr id="280" name="직선 연결선 279">
            <a:extLst>
              <a:ext uri="{FF2B5EF4-FFF2-40B4-BE49-F238E27FC236}">
                <a16:creationId xmlns:a16="http://schemas.microsoft.com/office/drawing/2014/main" id="{E9293055-D5CD-4B9E-7F64-64B2D2CA7A52}"/>
              </a:ext>
            </a:extLst>
          </p:cNvPr>
          <p:cNvCxnSpPr/>
          <p:nvPr/>
        </p:nvCxnSpPr>
        <p:spPr>
          <a:xfrm>
            <a:off x="3795734" y="51292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3898850" y="5145216"/>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신기술여부</a:t>
            </a:r>
            <a:endParaRPr lang="ko-KR" altLang="en-US" sz="700" b="1" dirty="0">
              <a:latin typeface="+mn-ea"/>
            </a:endParaRPr>
          </a:p>
        </p:txBody>
      </p:sp>
      <p:grpSp>
        <p:nvGrpSpPr>
          <p:cNvPr id="283" name="그룹 282"/>
          <p:cNvGrpSpPr/>
          <p:nvPr/>
        </p:nvGrpSpPr>
        <p:grpSpPr>
          <a:xfrm flipV="1">
            <a:off x="6261284" y="5242906"/>
            <a:ext cx="91438" cy="45719"/>
            <a:chOff x="6812560" y="3297172"/>
            <a:chExt cx="94010" cy="47005"/>
          </a:xfrm>
        </p:grpSpPr>
        <p:cxnSp>
          <p:nvCxnSpPr>
            <p:cNvPr id="284" name="직선 연결선 2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5" name="직선 연결선 2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89" name="TextBox 288">
            <a:extLst>
              <a:ext uri="{FF2B5EF4-FFF2-40B4-BE49-F238E27FC236}">
                <a16:creationId xmlns:a16="http://schemas.microsoft.com/office/drawing/2014/main" id="{FFC49AEA-2A8F-250C-A86A-A7751D9706C3}"/>
              </a:ext>
            </a:extLst>
          </p:cNvPr>
          <p:cNvSpPr txBox="1"/>
          <p:nvPr/>
        </p:nvSpPr>
        <p:spPr>
          <a:xfrm>
            <a:off x="4061955" y="5389041"/>
            <a:ext cx="2305144" cy="396583"/>
          </a:xfrm>
          <a:prstGeom prst="rect">
            <a:avLst/>
          </a:prstGeom>
          <a:noFill/>
        </p:spPr>
        <p:txBody>
          <a:bodyPr wrap="square" lIns="0" tIns="0" rIns="0" bIns="0" rtlCol="0">
            <a:spAutoFit/>
          </a:bodyPr>
          <a:lstStyle/>
          <a:p>
            <a:pPr>
              <a:lnSpc>
                <a:spcPct val="200000"/>
              </a:lnSpc>
            </a:pPr>
            <a:r>
              <a:rPr lang="ko-KR" altLang="en-US" sz="700" dirty="0">
                <a:latin typeface="+mn-ea"/>
              </a:rPr>
              <a:t>예</a:t>
            </a:r>
            <a:endParaRPr lang="en-US" altLang="ko-KR" sz="700" dirty="0">
              <a:latin typeface="+mn-ea"/>
            </a:endParaRPr>
          </a:p>
          <a:p>
            <a:pPr>
              <a:lnSpc>
                <a:spcPct val="200000"/>
              </a:lnSpc>
            </a:pPr>
            <a:r>
              <a:rPr lang="ko-KR" altLang="en-US" sz="700" dirty="0">
                <a:latin typeface="+mn-ea"/>
              </a:rPr>
              <a:t>아니오</a:t>
            </a:r>
          </a:p>
        </p:txBody>
      </p:sp>
      <p:sp>
        <p:nvSpPr>
          <p:cNvPr id="290" name="타원 289"/>
          <p:cNvSpPr/>
          <p:nvPr/>
        </p:nvSpPr>
        <p:spPr>
          <a:xfrm>
            <a:off x="3892504" y="5462455"/>
            <a:ext cx="107950" cy="10795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1" name="타원 290"/>
          <p:cNvSpPr/>
          <p:nvPr/>
        </p:nvSpPr>
        <p:spPr>
          <a:xfrm>
            <a:off x="3892504" y="5683015"/>
            <a:ext cx="107950" cy="107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16200000">
            <a:off x="3140951" y="5579906"/>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0" name="직선 연결선 149">
            <a:extLst>
              <a:ext uri="{FF2B5EF4-FFF2-40B4-BE49-F238E27FC236}">
                <a16:creationId xmlns:a16="http://schemas.microsoft.com/office/drawing/2014/main" id="{E9293055-D5CD-4B9E-7F64-64B2D2CA7A52}"/>
              </a:ext>
            </a:extLst>
          </p:cNvPr>
          <p:cNvCxnSpPr/>
          <p:nvPr/>
        </p:nvCxnSpPr>
        <p:spPr>
          <a:xfrm>
            <a:off x="4585116" y="4987058"/>
            <a:ext cx="184514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타원 148"/>
          <p:cNvSpPr/>
          <p:nvPr/>
        </p:nvSpPr>
        <p:spPr>
          <a:xfrm>
            <a:off x="4901594" y="4933083"/>
            <a:ext cx="107950" cy="107950"/>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타원 151"/>
          <p:cNvSpPr/>
          <p:nvPr/>
        </p:nvSpPr>
        <p:spPr>
          <a:xfrm>
            <a:off x="5643633" y="4933083"/>
            <a:ext cx="107950" cy="107950"/>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2" name="직선 연결선 161">
            <a:extLst>
              <a:ext uri="{FF2B5EF4-FFF2-40B4-BE49-F238E27FC236}">
                <a16:creationId xmlns:a16="http://schemas.microsoft.com/office/drawing/2014/main" id="{E9293055-D5CD-4B9E-7F64-64B2D2CA7A52}"/>
              </a:ext>
            </a:extLst>
          </p:cNvPr>
          <p:cNvCxnSpPr>
            <a:stCxn id="149" idx="6"/>
            <a:endCxn id="152" idx="2"/>
          </p:cNvCxnSpPr>
          <p:nvPr/>
        </p:nvCxnSpPr>
        <p:spPr>
          <a:xfrm>
            <a:off x="5009544" y="4987058"/>
            <a:ext cx="63408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163" name="타원 162">
            <a:extLst>
              <a:ext uri="{FF2B5EF4-FFF2-40B4-BE49-F238E27FC236}">
                <a16:creationId xmlns:a16="http://schemas.microsoft.com/office/drawing/2014/main" id="{37A7FF4F-0EAA-1463-560A-D5EC24416103}"/>
              </a:ext>
            </a:extLst>
          </p:cNvPr>
          <p:cNvSpPr/>
          <p:nvPr/>
        </p:nvSpPr>
        <p:spPr>
          <a:xfrm>
            <a:off x="3694089" y="197087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
        <p:nvSpPr>
          <p:cNvPr id="164" name="타원 163">
            <a:extLst>
              <a:ext uri="{FF2B5EF4-FFF2-40B4-BE49-F238E27FC236}">
                <a16:creationId xmlns:a16="http://schemas.microsoft.com/office/drawing/2014/main" id="{37A7FF4F-0EAA-1463-560A-D5EC24416103}"/>
              </a:ext>
            </a:extLst>
          </p:cNvPr>
          <p:cNvSpPr/>
          <p:nvPr/>
        </p:nvSpPr>
        <p:spPr>
          <a:xfrm>
            <a:off x="3698736" y="429661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sp>
        <p:nvSpPr>
          <p:cNvPr id="165" name="타원 164">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166" name="타원 165">
            <a:extLst>
              <a:ext uri="{FF2B5EF4-FFF2-40B4-BE49-F238E27FC236}">
                <a16:creationId xmlns:a16="http://schemas.microsoft.com/office/drawing/2014/main" id="{37A7FF4F-0EAA-1463-560A-D5EC24416103}"/>
              </a:ext>
            </a:extLst>
          </p:cNvPr>
          <p:cNvSpPr/>
          <p:nvPr/>
        </p:nvSpPr>
        <p:spPr>
          <a:xfrm>
            <a:off x="573754" y="204919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67" name="타원 166">
            <a:extLst>
              <a:ext uri="{FF2B5EF4-FFF2-40B4-BE49-F238E27FC236}">
                <a16:creationId xmlns:a16="http://schemas.microsoft.com/office/drawing/2014/main" id="{37A7FF4F-0EAA-1463-560A-D5EC24416103}"/>
              </a:ext>
            </a:extLst>
          </p:cNvPr>
          <p:cNvSpPr/>
          <p:nvPr/>
        </p:nvSpPr>
        <p:spPr>
          <a:xfrm>
            <a:off x="573754" y="345716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68" name="타원 167">
            <a:extLst>
              <a:ext uri="{FF2B5EF4-FFF2-40B4-BE49-F238E27FC236}">
                <a16:creationId xmlns:a16="http://schemas.microsoft.com/office/drawing/2014/main" id="{37A7FF4F-0EAA-1463-560A-D5EC24416103}"/>
              </a:ext>
            </a:extLst>
          </p:cNvPr>
          <p:cNvSpPr/>
          <p:nvPr/>
        </p:nvSpPr>
        <p:spPr>
          <a:xfrm>
            <a:off x="573754" y="461451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69" name="타원 168">
            <a:extLst>
              <a:ext uri="{FF2B5EF4-FFF2-40B4-BE49-F238E27FC236}">
                <a16:creationId xmlns:a16="http://schemas.microsoft.com/office/drawing/2014/main" id="{37A7FF4F-0EAA-1463-560A-D5EC24416103}"/>
              </a:ext>
            </a:extLst>
          </p:cNvPr>
          <p:cNvSpPr/>
          <p:nvPr/>
        </p:nvSpPr>
        <p:spPr>
          <a:xfrm>
            <a:off x="3694089" y="51479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7</a:t>
            </a:r>
            <a:endParaRPr lang="ko-KR" altLang="en-US" sz="900" b="1" dirty="0"/>
          </a:p>
        </p:txBody>
      </p:sp>
      <p:sp>
        <p:nvSpPr>
          <p:cNvPr id="170" name="타원 169">
            <a:extLst>
              <a:ext uri="{FF2B5EF4-FFF2-40B4-BE49-F238E27FC236}">
                <a16:creationId xmlns:a16="http://schemas.microsoft.com/office/drawing/2014/main" id="{37A7FF4F-0EAA-1463-560A-D5EC24416103}"/>
              </a:ext>
            </a:extLst>
          </p:cNvPr>
          <p:cNvSpPr/>
          <p:nvPr/>
        </p:nvSpPr>
        <p:spPr>
          <a:xfrm>
            <a:off x="1270915" y="371234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500" b="1" dirty="0" smtClean="0"/>
              <a:t>3-1</a:t>
            </a:r>
            <a:endParaRPr lang="ko-KR" altLang="en-US" sz="500" b="1" dirty="0"/>
          </a:p>
        </p:txBody>
      </p:sp>
      <p:sp>
        <p:nvSpPr>
          <p:cNvPr id="175" name="타원 174">
            <a:extLst>
              <a:ext uri="{FF2B5EF4-FFF2-40B4-BE49-F238E27FC236}">
                <a16:creationId xmlns:a16="http://schemas.microsoft.com/office/drawing/2014/main" id="{37A7FF4F-0EAA-1463-560A-D5EC24416103}"/>
              </a:ext>
            </a:extLst>
          </p:cNvPr>
          <p:cNvSpPr/>
          <p:nvPr/>
        </p:nvSpPr>
        <p:spPr>
          <a:xfrm>
            <a:off x="2339295" y="371234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500" b="1" dirty="0" smtClean="0"/>
              <a:t>3-2</a:t>
            </a:r>
            <a:endParaRPr lang="ko-KR" altLang="en-US" sz="500" b="1" dirty="0"/>
          </a:p>
        </p:txBody>
      </p:sp>
      <p:sp>
        <p:nvSpPr>
          <p:cNvPr id="177" name="타원 176">
            <a:extLst>
              <a:ext uri="{FF2B5EF4-FFF2-40B4-BE49-F238E27FC236}">
                <a16:creationId xmlns:a16="http://schemas.microsoft.com/office/drawing/2014/main" id="{37A7FF4F-0EAA-1463-560A-D5EC24416103}"/>
              </a:ext>
            </a:extLst>
          </p:cNvPr>
          <p:cNvSpPr/>
          <p:nvPr/>
        </p:nvSpPr>
        <p:spPr>
          <a:xfrm>
            <a:off x="2361392" y="151997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1-1</a:t>
            </a:r>
            <a:endParaRPr lang="ko-KR" altLang="en-US" sz="600" b="1" dirty="0"/>
          </a:p>
        </p:txBody>
      </p:sp>
      <p:sp>
        <p:nvSpPr>
          <p:cNvPr id="179" name="타원 178">
            <a:extLst>
              <a:ext uri="{FF2B5EF4-FFF2-40B4-BE49-F238E27FC236}">
                <a16:creationId xmlns:a16="http://schemas.microsoft.com/office/drawing/2014/main" id="{37A7FF4F-0EAA-1463-560A-D5EC24416103}"/>
              </a:ext>
            </a:extLst>
          </p:cNvPr>
          <p:cNvSpPr/>
          <p:nvPr/>
        </p:nvSpPr>
        <p:spPr>
          <a:xfrm>
            <a:off x="3070821" y="152324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1-2</a:t>
            </a:r>
            <a:endParaRPr lang="ko-KR" altLang="en-US" sz="600" b="1" dirty="0"/>
          </a:p>
        </p:txBody>
      </p:sp>
      <p:sp>
        <p:nvSpPr>
          <p:cNvPr id="180" name="타원 179">
            <a:extLst>
              <a:ext uri="{FF2B5EF4-FFF2-40B4-BE49-F238E27FC236}">
                <a16:creationId xmlns:a16="http://schemas.microsoft.com/office/drawing/2014/main" id="{37A7FF4F-0EAA-1463-560A-D5EC24416103}"/>
              </a:ext>
            </a:extLst>
          </p:cNvPr>
          <p:cNvSpPr/>
          <p:nvPr/>
        </p:nvSpPr>
        <p:spPr>
          <a:xfrm>
            <a:off x="1270915" y="397942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500" b="1" dirty="0" smtClean="0"/>
              <a:t>3-3</a:t>
            </a:r>
            <a:endParaRPr lang="ko-KR" altLang="en-US" sz="500" b="1" dirty="0"/>
          </a:p>
        </p:txBody>
      </p:sp>
      <p:sp>
        <p:nvSpPr>
          <p:cNvPr id="183" name="타원 182">
            <a:extLst>
              <a:ext uri="{FF2B5EF4-FFF2-40B4-BE49-F238E27FC236}">
                <a16:creationId xmlns:a16="http://schemas.microsoft.com/office/drawing/2014/main" id="{37A7FF4F-0EAA-1463-560A-D5EC24416103}"/>
              </a:ext>
            </a:extLst>
          </p:cNvPr>
          <p:cNvSpPr/>
          <p:nvPr/>
        </p:nvSpPr>
        <p:spPr>
          <a:xfrm>
            <a:off x="3694089" y="587436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8</a:t>
            </a:r>
            <a:endParaRPr lang="ko-KR" altLang="en-US" sz="900" b="1" dirty="0"/>
          </a:p>
        </p:txBody>
      </p:sp>
      <p:sp>
        <p:nvSpPr>
          <p:cNvPr id="184" name="모서리가 둥근 직사각형 183"/>
          <p:cNvSpPr/>
          <p:nvPr/>
        </p:nvSpPr>
        <p:spPr>
          <a:xfrm>
            <a:off x="4572570" y="4063575"/>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185" name="그룹 184"/>
          <p:cNvGrpSpPr/>
          <p:nvPr/>
        </p:nvGrpSpPr>
        <p:grpSpPr>
          <a:xfrm>
            <a:off x="6261284" y="4134316"/>
            <a:ext cx="91438" cy="45719"/>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8" name="모서리가 둥근 직사각형 187"/>
          <p:cNvSpPr/>
          <p:nvPr/>
        </p:nvSpPr>
        <p:spPr>
          <a:xfrm>
            <a:off x="1449284" y="5287580"/>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smtClean="0">
                <a:solidFill>
                  <a:schemeClr val="bg1">
                    <a:lumMod val="65000"/>
                  </a:schemeClr>
                </a:solidFill>
              </a:rPr>
              <a:t>지역명을</a:t>
            </a:r>
            <a:r>
              <a:rPr lang="ko-KR" altLang="en-US" sz="700" dirty="0" smtClean="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192" name="직사각형 191"/>
          <p:cNvSpPr/>
          <p:nvPr/>
        </p:nvSpPr>
        <p:spPr>
          <a:xfrm>
            <a:off x="8223250" y="2359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2026-07-09 </a:t>
            </a:r>
            <a:r>
              <a:rPr lang="ko-KR" altLang="en-US" dirty="0" smtClean="0"/>
              <a:t>설명 추가</a:t>
            </a:r>
            <a:endParaRPr lang="ko-KR" altLang="en-US" dirty="0"/>
          </a:p>
        </p:txBody>
      </p:sp>
      <p:sp>
        <p:nvSpPr>
          <p:cNvPr id="193" name="직사각형 192"/>
          <p:cNvSpPr/>
          <p:nvPr/>
        </p:nvSpPr>
        <p:spPr>
          <a:xfrm>
            <a:off x="9906000" y="2359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지역명</a:t>
            </a:r>
            <a:r>
              <a:rPr lang="en-US" altLang="ko-KR" sz="700" dirty="0" smtClean="0"/>
              <a:t> </a:t>
            </a:r>
            <a:r>
              <a:rPr lang="ko-KR" altLang="en-US" sz="700" dirty="0" smtClean="0"/>
              <a:t>단순</a:t>
            </a:r>
            <a:r>
              <a:rPr lang="en-US" altLang="ko-KR" sz="700" dirty="0" smtClean="0"/>
              <a:t>like</a:t>
            </a:r>
            <a:r>
              <a:rPr lang="ko-KR" altLang="en-US" sz="700" dirty="0" smtClean="0"/>
              <a:t>검색으로 변경</a:t>
            </a:r>
            <a:endParaRPr lang="ko-KR" altLang="en-US" sz="700" dirty="0"/>
          </a:p>
        </p:txBody>
      </p:sp>
      <p:sp>
        <p:nvSpPr>
          <p:cNvPr id="5" name="직사각형 4"/>
          <p:cNvSpPr/>
          <p:nvPr/>
        </p:nvSpPr>
        <p:spPr>
          <a:xfrm>
            <a:off x="9999095" y="1970873"/>
            <a:ext cx="2773680" cy="656590"/>
          </a:xfrm>
          <a:prstGeom prst="rect">
            <a:avLst/>
          </a:prstGeom>
        </p:spPr>
        <p:txBody>
          <a:bodyPr/>
          <a:lstStyle/>
          <a:p>
            <a:pPr marL="228600" indent="-228600">
              <a:spcBef>
                <a:spcPts val="100"/>
              </a:spcBef>
              <a:spcAft>
                <a:spcPts val="100"/>
              </a:spcAft>
              <a:buFont typeface="+mj-lt"/>
              <a:buAutoNum type="arabicPeriod"/>
            </a:pPr>
            <a:r>
              <a:rPr lang="ko-KR" altLang="en-US" sz="600" dirty="0" err="1"/>
              <a:t>업무구분</a:t>
            </a:r>
            <a:r>
              <a:rPr lang="ko-KR" altLang="en-US" sz="600" dirty="0"/>
              <a:t> 선택 시 비활성화 항목</a:t>
            </a:r>
            <a:endParaRPr lang="en-US" altLang="ko-KR" sz="600" dirty="0"/>
          </a:p>
          <a:p>
            <a:pPr marL="228600" indent="-228600">
              <a:spcBef>
                <a:spcPts val="100"/>
              </a:spcBef>
              <a:spcAft>
                <a:spcPts val="100"/>
              </a:spcAft>
              <a:buFont typeface="+mj-lt"/>
              <a:buAutoNum type="arabicPeriod"/>
            </a:pPr>
            <a:r>
              <a:rPr lang="en-US" altLang="ko-KR" sz="600" dirty="0"/>
              <a:t>- </a:t>
            </a:r>
            <a:r>
              <a:rPr lang="ko-KR" altLang="en-US" sz="600" dirty="0"/>
              <a:t>물품 </a:t>
            </a:r>
            <a:r>
              <a:rPr lang="en-US" altLang="ko-KR" sz="600" dirty="0"/>
              <a:t>: </a:t>
            </a:r>
            <a:r>
              <a:rPr lang="ko-KR" altLang="en-US" sz="600" dirty="0"/>
              <a:t>기능</a:t>
            </a:r>
            <a:r>
              <a:rPr lang="en-US" altLang="ko-KR" sz="600" dirty="0"/>
              <a:t>, </a:t>
            </a:r>
            <a:r>
              <a:rPr lang="ko-KR" altLang="en-US" sz="600" dirty="0" err="1"/>
              <a:t>입찰매체</a:t>
            </a:r>
            <a:r>
              <a:rPr lang="en-US" altLang="ko-KR" sz="600" dirty="0"/>
              <a:t>, </a:t>
            </a:r>
            <a:r>
              <a:rPr lang="ko-KR" altLang="en-US" sz="600" dirty="0" err="1"/>
              <a:t>군구분</a:t>
            </a:r>
            <a:r>
              <a:rPr lang="en-US" altLang="ko-KR" sz="600" dirty="0"/>
              <a:t> </a:t>
            </a:r>
            <a:r>
              <a:rPr lang="ko-KR" altLang="en-US" sz="600" dirty="0"/>
              <a:t>항목 비활성화</a:t>
            </a:r>
            <a:endParaRPr lang="en-US" altLang="ko-KR" sz="600" dirty="0"/>
          </a:p>
          <a:p>
            <a:pPr marL="228600" indent="-228600">
              <a:spcBef>
                <a:spcPts val="100"/>
              </a:spcBef>
              <a:spcAft>
                <a:spcPts val="100"/>
              </a:spcAft>
              <a:buFont typeface="+mj-lt"/>
              <a:buAutoNum type="arabicPeriod"/>
            </a:pPr>
            <a:r>
              <a:rPr lang="ko-KR" altLang="en-US" sz="600" dirty="0"/>
              <a:t>용역 </a:t>
            </a:r>
            <a:r>
              <a:rPr lang="en-US" altLang="ko-KR" sz="600" dirty="0"/>
              <a:t>: </a:t>
            </a:r>
            <a:r>
              <a:rPr lang="ko-KR" altLang="en-US" sz="600" dirty="0"/>
              <a:t>기능</a:t>
            </a:r>
            <a:r>
              <a:rPr lang="en-US" altLang="ko-KR" sz="600" dirty="0"/>
              <a:t>, </a:t>
            </a:r>
            <a:r>
              <a:rPr lang="ko-KR" altLang="en-US" sz="600" dirty="0" err="1"/>
              <a:t>입찰매체</a:t>
            </a:r>
            <a:r>
              <a:rPr lang="en-US" altLang="ko-KR" sz="600" dirty="0"/>
              <a:t>, </a:t>
            </a:r>
            <a:r>
              <a:rPr lang="ko-KR" altLang="en-US" sz="600" dirty="0" err="1"/>
              <a:t>군구분</a:t>
            </a:r>
            <a:r>
              <a:rPr lang="en-US" altLang="ko-KR" sz="600" dirty="0"/>
              <a:t> </a:t>
            </a:r>
            <a:r>
              <a:rPr lang="ko-KR" altLang="en-US" sz="600" dirty="0"/>
              <a:t>항목 비활성화</a:t>
            </a:r>
            <a:endParaRPr lang="en-US" altLang="ko-KR" sz="600" dirty="0"/>
          </a:p>
          <a:p>
            <a:pPr marL="228600" indent="-228600">
              <a:spcBef>
                <a:spcPts val="100"/>
              </a:spcBef>
              <a:spcAft>
                <a:spcPts val="100"/>
              </a:spcAft>
              <a:buFont typeface="+mj-lt"/>
              <a:buAutoNum type="arabicPeriod"/>
            </a:pPr>
            <a:r>
              <a:rPr lang="ko-KR" altLang="en-US" sz="600" dirty="0"/>
              <a:t>공사 </a:t>
            </a:r>
            <a:r>
              <a:rPr lang="en-US" altLang="ko-KR" sz="600" dirty="0"/>
              <a:t>: </a:t>
            </a:r>
            <a:r>
              <a:rPr lang="ko-KR" altLang="en-US" sz="600" dirty="0"/>
              <a:t>기능</a:t>
            </a:r>
            <a:r>
              <a:rPr lang="en-US" altLang="ko-KR" sz="600" dirty="0"/>
              <a:t>, </a:t>
            </a:r>
            <a:r>
              <a:rPr lang="ko-KR" altLang="en-US" sz="600" dirty="0" err="1"/>
              <a:t>입찰매체</a:t>
            </a:r>
            <a:r>
              <a:rPr lang="en-US" altLang="ko-KR" sz="600" dirty="0"/>
              <a:t>, </a:t>
            </a:r>
            <a:r>
              <a:rPr lang="ko-KR" altLang="en-US" sz="600" dirty="0" err="1"/>
              <a:t>군구분</a:t>
            </a:r>
            <a:r>
              <a:rPr lang="en-US" altLang="ko-KR" sz="600" dirty="0"/>
              <a:t>, </a:t>
            </a:r>
            <a:r>
              <a:rPr lang="ko-KR" altLang="en-US" sz="600" dirty="0" err="1"/>
              <a:t>신기술여부</a:t>
            </a:r>
            <a:r>
              <a:rPr lang="en-US" altLang="ko-KR" sz="600" dirty="0"/>
              <a:t> </a:t>
            </a:r>
            <a:r>
              <a:rPr lang="ko-KR" altLang="en-US" sz="600" dirty="0"/>
              <a:t>항목 비활성화</a:t>
            </a:r>
            <a:endParaRPr lang="en-US" altLang="ko-KR" sz="600" dirty="0"/>
          </a:p>
          <a:p>
            <a:pPr marL="228600" indent="-228600">
              <a:spcBef>
                <a:spcPts val="100"/>
              </a:spcBef>
              <a:spcAft>
                <a:spcPts val="100"/>
              </a:spcAft>
              <a:buFont typeface="+mj-lt"/>
              <a:buAutoNum type="arabicPeriod"/>
            </a:pPr>
            <a:r>
              <a:rPr lang="ko-KR" altLang="en-US" sz="600" dirty="0"/>
              <a:t>국외 </a:t>
            </a:r>
            <a:r>
              <a:rPr lang="en-US" altLang="ko-KR" sz="600" dirty="0"/>
              <a:t>: </a:t>
            </a:r>
            <a:r>
              <a:rPr lang="ko-KR" altLang="en-US" sz="600" dirty="0" err="1"/>
              <a:t>지역명</a:t>
            </a:r>
            <a:r>
              <a:rPr lang="en-US" altLang="ko-KR" sz="600" dirty="0"/>
              <a:t>, </a:t>
            </a:r>
            <a:r>
              <a:rPr lang="ko-KR" altLang="en-US" sz="600" dirty="0" err="1"/>
              <a:t>면허정보</a:t>
            </a:r>
            <a:r>
              <a:rPr lang="en-US" altLang="ko-KR" sz="600" dirty="0"/>
              <a:t>, </a:t>
            </a:r>
            <a:r>
              <a:rPr lang="ko-KR" altLang="en-US" sz="600" dirty="0"/>
              <a:t>품명</a:t>
            </a:r>
            <a:r>
              <a:rPr lang="en-US" altLang="ko-KR" sz="600" dirty="0"/>
              <a:t>, </a:t>
            </a:r>
            <a:r>
              <a:rPr lang="ko-KR" altLang="en-US" sz="600" dirty="0"/>
              <a:t>추정가격 </a:t>
            </a:r>
            <a:r>
              <a:rPr lang="en-US" altLang="ko-KR" sz="600" dirty="0"/>
              <a:t>, </a:t>
            </a:r>
            <a:r>
              <a:rPr lang="ko-KR" altLang="en-US" sz="600" dirty="0" err="1"/>
              <a:t>신기술여부</a:t>
            </a:r>
            <a:r>
              <a:rPr lang="ko-KR" altLang="en-US" sz="600" dirty="0"/>
              <a:t> 항목 비활성화</a:t>
            </a:r>
            <a:r>
              <a:rPr lang="en-US" altLang="ko-KR" sz="600" dirty="0"/>
              <a:t>.</a:t>
            </a:r>
          </a:p>
        </p:txBody>
      </p:sp>
    </p:spTree>
    <p:extLst>
      <p:ext uri="{BB962C8B-B14F-4D97-AF65-F5344CB8AC3E}">
        <p14:creationId xmlns:p14="http://schemas.microsoft.com/office/powerpoint/2010/main" val="28711815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지역명칭으로 포커스 </a:t>
            </a:r>
            <a:r>
              <a:rPr lang="ko-KR" altLang="en-US" dirty="0" err="1"/>
              <a:t>자동이동</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동작</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스크롤</a:t>
            </a:r>
            <a:endParaRPr lang="en-US" altLang="ko-KR" dirty="0"/>
          </a:p>
          <a:p>
            <a:pPr marL="228600" indent="-228600">
              <a:buFont typeface="+mj-lt"/>
              <a:buAutoNum type="arabicPeriod"/>
            </a:pPr>
            <a:r>
              <a:rPr lang="ko-KR" altLang="en-US" dirty="0"/>
              <a:t>결과 클릭을 통해 검색 필터에 </a:t>
            </a:r>
            <a:r>
              <a:rPr lang="ko-KR" altLang="en-US" dirty="0" err="1"/>
              <a:t>지역명</a:t>
            </a:r>
            <a:r>
              <a:rPr lang="ko-KR" altLang="en-US" dirty="0"/>
              <a:t> 반영</a:t>
            </a:r>
            <a:r>
              <a:rPr lang="en-US" altLang="ko-KR" dirty="0"/>
              <a:t/>
            </a:r>
            <a:br>
              <a:rPr lang="en-US" altLang="ko-KR" dirty="0"/>
            </a:br>
            <a:r>
              <a:rPr lang="en-US" altLang="ko-KR" dirty="0"/>
              <a:t>- </a:t>
            </a:r>
            <a:r>
              <a:rPr lang="ko-KR" altLang="en-US" dirty="0"/>
              <a:t>사용자 선택 시 </a:t>
            </a:r>
            <a:r>
              <a:rPr lang="ko-KR" altLang="en-US" dirty="0" err="1"/>
              <a:t>바텀</a:t>
            </a:r>
            <a:r>
              <a:rPr lang="ko-KR" altLang="en-US" dirty="0"/>
              <a:t> 시트 </a:t>
            </a:r>
            <a:r>
              <a:rPr lang="ko-KR" altLang="en-US" dirty="0" smtClean="0"/>
              <a:t>닫힘</a:t>
            </a:r>
            <a:endParaRPr lang="en-US" altLang="ko-KR" dirty="0"/>
          </a:p>
          <a:p>
            <a:pPr marL="228600" indent="-228600">
              <a:buFont typeface="+mj-lt"/>
              <a:buAutoNum type="arabicPeriod"/>
            </a:pPr>
            <a:endParaRPr lang="en-US" altLang="ko-KR" dirty="0" smtClean="0"/>
          </a:p>
          <a:p>
            <a:pPr marL="228600" indent="-228600">
              <a:buFont typeface="+mj-lt"/>
              <a:buAutoNum type="arabicPeriod"/>
            </a:pPr>
            <a:endParaRPr lang="en-US" altLang="ko-KR" dirty="0"/>
          </a:p>
          <a:p>
            <a:pPr marL="0" indent="0">
              <a:buNone/>
            </a:pPr>
            <a:r>
              <a:rPr lang="en-US" altLang="ko-KR" dirty="0" smtClean="0">
                <a:solidFill>
                  <a:srgbClr val="FF0000"/>
                </a:solidFill>
              </a:rPr>
              <a:t>[</a:t>
            </a:r>
            <a:r>
              <a:rPr lang="ko-KR" altLang="en-US" dirty="0" smtClean="0">
                <a:solidFill>
                  <a:srgbClr val="FF0000"/>
                </a:solidFill>
              </a:rPr>
              <a:t>주의사항</a:t>
            </a:r>
            <a:r>
              <a:rPr lang="en-US" altLang="ko-KR" dirty="0">
                <a:solidFill>
                  <a:srgbClr val="FF0000"/>
                </a:solidFill>
              </a:rPr>
              <a:t>]</a:t>
            </a:r>
            <a:br>
              <a:rPr lang="en-US" altLang="ko-KR" dirty="0">
                <a:solidFill>
                  <a:srgbClr val="FF0000"/>
                </a:solidFill>
              </a:rPr>
            </a:br>
            <a:r>
              <a:rPr lang="en-US" altLang="ko-KR" dirty="0" smtClean="0">
                <a:solidFill>
                  <a:srgbClr val="FF0000"/>
                </a:solidFill>
              </a:rPr>
              <a:t>PC</a:t>
            </a:r>
            <a:r>
              <a:rPr lang="ko-KR" altLang="en-US" dirty="0">
                <a:solidFill>
                  <a:srgbClr val="FF0000"/>
                </a:solidFill>
              </a:rPr>
              <a:t>버전의 </a:t>
            </a:r>
            <a:r>
              <a:rPr lang="ko-KR" altLang="en-US" dirty="0" err="1">
                <a:solidFill>
                  <a:srgbClr val="FF0000"/>
                </a:solidFill>
              </a:rPr>
              <a:t>지역검색이</a:t>
            </a:r>
            <a:r>
              <a:rPr lang="ko-KR" altLang="en-US" dirty="0">
                <a:solidFill>
                  <a:srgbClr val="FF0000"/>
                </a:solidFill>
              </a:rPr>
              <a:t> 실제 지명을 검색하는 방식이 아닌</a:t>
            </a:r>
            <a:r>
              <a:rPr lang="en-US" altLang="ko-KR" dirty="0">
                <a:solidFill>
                  <a:srgbClr val="FF0000"/>
                </a:solidFill>
              </a:rPr>
              <a:t>, </a:t>
            </a:r>
            <a:r>
              <a:rPr lang="ko-KR" altLang="en-US" dirty="0">
                <a:solidFill>
                  <a:srgbClr val="FF0000"/>
                </a:solidFill>
              </a:rPr>
              <a:t>일반 텍스트 입력 검색으로 변경되었음</a:t>
            </a:r>
            <a:r>
              <a:rPr lang="en-US" altLang="ko-KR" dirty="0" smtClean="0">
                <a:solidFill>
                  <a:srgbClr val="FF0000"/>
                </a:solidFill>
              </a:rPr>
              <a:t>.</a:t>
            </a:r>
          </a:p>
          <a:p>
            <a:pPr marL="0" indent="0">
              <a:buNone/>
            </a:pPr>
            <a:endParaRPr lang="en-US" altLang="ko-KR" dirty="0">
              <a:solidFill>
                <a:srgbClr val="FF0000"/>
              </a:solidFill>
            </a:endParaRPr>
          </a:p>
          <a:p>
            <a:pPr marL="0" indent="0">
              <a:buNone/>
            </a:pPr>
            <a:r>
              <a:rPr lang="ko-KR" altLang="en-US" dirty="0" smtClean="0">
                <a:solidFill>
                  <a:srgbClr val="FF0000"/>
                </a:solidFill>
              </a:rPr>
              <a:t>현재 페이지의 사용 여부를 </a:t>
            </a:r>
            <a:r>
              <a:rPr lang="ko-KR" altLang="en-US" dirty="0" err="1" smtClean="0">
                <a:solidFill>
                  <a:srgbClr val="FF0000"/>
                </a:solidFill>
              </a:rPr>
              <a:t>현재시점</a:t>
            </a:r>
            <a:r>
              <a:rPr lang="en-US" altLang="ko-KR" dirty="0" smtClean="0">
                <a:solidFill>
                  <a:srgbClr val="FF0000"/>
                </a:solidFill>
              </a:rPr>
              <a:t>(0813)</a:t>
            </a:r>
            <a:r>
              <a:rPr lang="ko-KR" altLang="en-US" dirty="0" smtClean="0">
                <a:solidFill>
                  <a:srgbClr val="FF0000"/>
                </a:solidFill>
              </a:rPr>
              <a:t>에서 확답할 수 없음으로</a:t>
            </a:r>
            <a:r>
              <a:rPr lang="en-US" altLang="ko-KR" dirty="0" smtClean="0">
                <a:solidFill>
                  <a:srgbClr val="FF0000"/>
                </a:solidFill>
              </a:rPr>
              <a:t>, </a:t>
            </a:r>
            <a:r>
              <a:rPr lang="ko-KR" altLang="en-US" dirty="0" smtClean="0">
                <a:solidFill>
                  <a:srgbClr val="FF0000"/>
                </a:solidFill>
              </a:rPr>
              <a:t>퍼블리싱을 진행하고</a:t>
            </a:r>
            <a:r>
              <a:rPr lang="en-US" altLang="ko-KR" dirty="0" smtClean="0">
                <a:solidFill>
                  <a:srgbClr val="FF0000"/>
                </a:solidFill>
              </a:rPr>
              <a:t>, </a:t>
            </a:r>
            <a:r>
              <a:rPr lang="ko-KR" altLang="en-US" dirty="0" smtClean="0">
                <a:solidFill>
                  <a:srgbClr val="FF0000"/>
                </a:solidFill>
              </a:rPr>
              <a:t>추후 </a:t>
            </a:r>
            <a:r>
              <a:rPr lang="en-US" altLang="ko-KR" dirty="0" smtClean="0">
                <a:solidFill>
                  <a:srgbClr val="FF0000"/>
                </a:solidFill>
              </a:rPr>
              <a:t>PC</a:t>
            </a:r>
            <a:r>
              <a:rPr lang="ko-KR" altLang="en-US" dirty="0" smtClean="0">
                <a:solidFill>
                  <a:srgbClr val="FF0000"/>
                </a:solidFill>
              </a:rPr>
              <a:t>버전에 맞춰 미사용 될 수 있음</a:t>
            </a:r>
            <a:r>
              <a:rPr lang="en-US" altLang="ko-KR" dirty="0" smtClean="0">
                <a:solidFill>
                  <a:srgbClr val="FF0000"/>
                </a:solidFill>
              </a:rPr>
              <a:t>.</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지역 검색</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지역검색을</a:t>
            </a:r>
            <a:r>
              <a:rPr lang="ko-KR" altLang="en-US" dirty="0"/>
              <a:t>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 </a:t>
            </a:r>
            <a:r>
              <a:rPr lang="en-US" altLang="ko-KR" dirty="0">
                <a:latin typeface="+mn-ea"/>
              </a:rPr>
              <a:t>&gt; </a:t>
            </a:r>
            <a:r>
              <a:rPr lang="ko-KR" altLang="en-US" dirty="0" err="1">
                <a:latin typeface="+mn-ea"/>
              </a:rPr>
              <a:t>지역검색</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MUI-BD-01-P03</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82" name="그룹 281"/>
          <p:cNvGrpSpPr/>
          <p:nvPr/>
        </p:nvGrpSpPr>
        <p:grpSpPr>
          <a:xfrm>
            <a:off x="6258712" y="1650089"/>
            <a:ext cx="94010" cy="94010"/>
            <a:chOff x="6812560" y="3297172"/>
            <a:chExt cx="94010" cy="94010"/>
          </a:xfrm>
        </p:grpSpPr>
        <p:cxnSp>
          <p:nvCxnSpPr>
            <p:cNvPr id="286" name="직선 연결선 2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87" name="직선 연결선 2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88" name="타원 2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4" name="TextBox 293">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지역검색</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2653963"/>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a:solidFill>
                  <a:schemeClr val="tx1"/>
                </a:solidFill>
              </a:rPr>
              <a:t>서울</a:t>
            </a:r>
            <a:endParaRPr lang="ko-KR" altLang="en-US" sz="700" dirty="0">
              <a:solidFill>
                <a:schemeClr val="tx1"/>
              </a:solidFill>
            </a:endParaRP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2722276"/>
            <a:ext cx="670770" cy="107722"/>
          </a:xfrm>
          <a:prstGeom prst="rect">
            <a:avLst/>
          </a:prstGeom>
          <a:noFill/>
        </p:spPr>
        <p:txBody>
          <a:bodyPr wrap="square" lIns="0" tIns="0" rIns="0" bIns="0" rtlCol="0">
            <a:spAutoFit/>
          </a:bodyPr>
          <a:lstStyle/>
          <a:p>
            <a:r>
              <a:rPr lang="ko-KR" altLang="en-US" sz="700" dirty="0" err="1">
                <a:latin typeface="+mn-ea"/>
              </a:rPr>
              <a:t>지역명칭</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2987678"/>
            <a:ext cx="2522014" cy="24435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a:solidFill>
                  <a:srgbClr val="0070C0"/>
                </a:solidFill>
              </a:rPr>
              <a:t>검색</a:t>
            </a:r>
            <a:endParaRPr kumimoji="1" lang="en-US" altLang="ko-KR" sz="800" kern="0" dirty="0">
              <a:solidFill>
                <a:srgbClr val="0070C0"/>
              </a:solidFill>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a:latin typeface="+mn-ea"/>
              </a:rPr>
              <a:t>지역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모서리가 둥근 직사각형 168"/>
          <p:cNvSpPr/>
          <p:nvPr/>
        </p:nvSpPr>
        <p:spPr>
          <a:xfrm>
            <a:off x="1443878" y="3563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시군구를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804476" y="3631637"/>
            <a:ext cx="670770" cy="107722"/>
          </a:xfrm>
          <a:prstGeom prst="rect">
            <a:avLst/>
          </a:prstGeom>
          <a:noFill/>
        </p:spPr>
        <p:txBody>
          <a:bodyPr wrap="square" lIns="0" tIns="0" rIns="0" bIns="0" rtlCol="0">
            <a:spAutoFit/>
          </a:bodyPr>
          <a:lstStyle/>
          <a:p>
            <a:r>
              <a:rPr lang="ko-KR" altLang="en-US" sz="700" dirty="0" err="1">
                <a:latin typeface="+mn-ea"/>
              </a:rPr>
              <a:t>지역명칭</a:t>
            </a:r>
            <a:endParaRPr lang="en-US" altLang="ko-KR" sz="700" dirty="0">
              <a:latin typeface="+mn-ea"/>
            </a:endParaRPr>
          </a:p>
        </p:txBody>
      </p:sp>
      <p:sp>
        <p:nvSpPr>
          <p:cNvPr id="177" name="사각형: 둥근 모서리 15">
            <a:extLst>
              <a:ext uri="{FF2B5EF4-FFF2-40B4-BE49-F238E27FC236}">
                <a16:creationId xmlns:a16="http://schemas.microsoft.com/office/drawing/2014/main" id="{E2B61CFB-AD16-68D0-8752-50D9C5E01971}"/>
              </a:ext>
            </a:extLst>
          </p:cNvPr>
          <p:cNvSpPr/>
          <p:nvPr/>
        </p:nvSpPr>
        <p:spPr>
          <a:xfrm>
            <a:off x="767702" y="3897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310" name="타원 309"/>
          <p:cNvSpPr/>
          <p:nvPr/>
        </p:nvSpPr>
        <p:spPr>
          <a:xfrm>
            <a:off x="3112794" y="360161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1" name="그룹 310"/>
          <p:cNvGrpSpPr/>
          <p:nvPr/>
        </p:nvGrpSpPr>
        <p:grpSpPr>
          <a:xfrm>
            <a:off x="3156699" y="3645514"/>
            <a:ext cx="58075" cy="58074"/>
            <a:chOff x="6812560" y="3297172"/>
            <a:chExt cx="94010" cy="94010"/>
          </a:xfrm>
        </p:grpSpPr>
        <p:cxnSp>
          <p:nvCxnSpPr>
            <p:cNvPr id="312" name="직선 연결선 31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14" name="타원 313"/>
          <p:cNvSpPr/>
          <p:nvPr/>
        </p:nvSpPr>
        <p:spPr>
          <a:xfrm>
            <a:off x="6240768" y="269678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2740688"/>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33710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3478112"/>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24811" y="3766913"/>
            <a:ext cx="670770" cy="107722"/>
          </a:xfrm>
          <a:prstGeom prst="rect">
            <a:avLst/>
          </a:prstGeom>
          <a:noFill/>
        </p:spPr>
        <p:txBody>
          <a:bodyPr wrap="square" lIns="0" tIns="0" rIns="0" bIns="0" rtlCol="0">
            <a:spAutoFit/>
          </a:bodyPr>
          <a:lstStyle/>
          <a:p>
            <a:r>
              <a:rPr lang="ko-KR" altLang="en-US" sz="700" b="1" dirty="0">
                <a:latin typeface="+mn-ea"/>
              </a:rPr>
              <a:t>지역코드</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4564213" y="3766913"/>
            <a:ext cx="670770" cy="107722"/>
          </a:xfrm>
          <a:prstGeom prst="rect">
            <a:avLst/>
          </a:prstGeom>
          <a:noFill/>
        </p:spPr>
        <p:txBody>
          <a:bodyPr wrap="square" lIns="0" tIns="0" rIns="0" bIns="0" rtlCol="0">
            <a:spAutoFit/>
          </a:bodyPr>
          <a:lstStyle/>
          <a:p>
            <a:r>
              <a:rPr lang="ko-KR" altLang="en-US" sz="700" b="1" dirty="0" err="1">
                <a:latin typeface="+mn-ea"/>
              </a:rPr>
              <a:t>지역명</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36536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39723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3924811" y="3983744"/>
            <a:ext cx="670770" cy="2154436"/>
          </a:xfrm>
          <a:prstGeom prst="rect">
            <a:avLst/>
          </a:prstGeom>
          <a:noFill/>
        </p:spPr>
        <p:txBody>
          <a:bodyPr wrap="square" lIns="0" tIns="0" rIns="0" bIns="0" rtlCol="0">
            <a:spAutoFit/>
          </a:bodyPr>
          <a:lstStyle/>
          <a:p>
            <a:pPr>
              <a:lnSpc>
                <a:spcPct val="200000"/>
              </a:lnSpc>
            </a:pPr>
            <a:r>
              <a:rPr lang="en-US" altLang="ko-KR" sz="700" dirty="0">
                <a:latin typeface="+mn-ea"/>
              </a:rPr>
              <a:t>11000</a:t>
            </a:r>
          </a:p>
          <a:p>
            <a:pPr>
              <a:lnSpc>
                <a:spcPct val="200000"/>
              </a:lnSpc>
            </a:pPr>
            <a:r>
              <a:rPr lang="en-US" altLang="ko-KR" sz="700" dirty="0">
                <a:latin typeface="+mn-ea"/>
              </a:rPr>
              <a:t>11740</a:t>
            </a:r>
          </a:p>
          <a:p>
            <a:pPr>
              <a:lnSpc>
                <a:spcPct val="200000"/>
              </a:lnSpc>
            </a:pPr>
            <a:r>
              <a:rPr lang="en-US" altLang="ko-KR" sz="700" dirty="0">
                <a:latin typeface="+mn-ea"/>
              </a:rPr>
              <a:t>11140</a:t>
            </a:r>
          </a:p>
          <a:p>
            <a:pPr>
              <a:lnSpc>
                <a:spcPct val="200000"/>
              </a:lnSpc>
            </a:pPr>
            <a:r>
              <a:rPr lang="en-US" altLang="ko-KR" sz="700" dirty="0">
                <a:latin typeface="+mn-ea"/>
              </a:rPr>
              <a:t>11170</a:t>
            </a:r>
          </a:p>
          <a:p>
            <a:pPr>
              <a:lnSpc>
                <a:spcPct val="200000"/>
              </a:lnSpc>
            </a:pPr>
            <a:r>
              <a:rPr lang="en-US" altLang="ko-KR" sz="700" dirty="0">
                <a:latin typeface="+mn-ea"/>
              </a:rPr>
              <a:t>11200</a:t>
            </a:r>
          </a:p>
          <a:p>
            <a:pPr>
              <a:lnSpc>
                <a:spcPct val="200000"/>
              </a:lnSpc>
            </a:pPr>
            <a:r>
              <a:rPr lang="en-US" altLang="ko-KR" sz="700" dirty="0">
                <a:latin typeface="+mn-ea"/>
              </a:rPr>
              <a:t>11215</a:t>
            </a:r>
          </a:p>
          <a:p>
            <a:pPr>
              <a:lnSpc>
                <a:spcPct val="200000"/>
              </a:lnSpc>
            </a:pPr>
            <a:r>
              <a:rPr lang="en-US" altLang="ko-KR" sz="700" dirty="0">
                <a:latin typeface="+mn-ea"/>
              </a:rPr>
              <a:t>11230</a:t>
            </a:r>
          </a:p>
          <a:p>
            <a:pPr>
              <a:lnSpc>
                <a:spcPct val="200000"/>
              </a:lnSpc>
            </a:pPr>
            <a:r>
              <a:rPr lang="en-US" altLang="ko-KR" sz="700" dirty="0">
                <a:latin typeface="+mn-ea"/>
              </a:rPr>
              <a:t>11260</a:t>
            </a:r>
          </a:p>
          <a:p>
            <a:pPr>
              <a:lnSpc>
                <a:spcPct val="200000"/>
              </a:lnSpc>
            </a:pPr>
            <a:r>
              <a:rPr lang="en-US" altLang="ko-KR" sz="700" dirty="0">
                <a:latin typeface="+mn-ea"/>
              </a:rPr>
              <a:t>11290</a:t>
            </a:r>
          </a:p>
          <a:p>
            <a:pPr>
              <a:lnSpc>
                <a:spcPct val="200000"/>
              </a:lnSpc>
            </a:pPr>
            <a:r>
              <a:rPr lang="en-US" altLang="ko-KR" sz="700" dirty="0">
                <a:latin typeface="+mn-ea"/>
              </a:rPr>
              <a:t>11305</a:t>
            </a:r>
          </a:p>
        </p:txBody>
      </p:sp>
      <p:sp>
        <p:nvSpPr>
          <p:cNvPr id="325" name="TextBox 324">
            <a:extLst>
              <a:ext uri="{FF2B5EF4-FFF2-40B4-BE49-F238E27FC236}">
                <a16:creationId xmlns:a16="http://schemas.microsoft.com/office/drawing/2014/main" id="{FFC49AEA-2A8F-250C-A86A-A7751D9706C3}"/>
              </a:ext>
            </a:extLst>
          </p:cNvPr>
          <p:cNvSpPr txBox="1"/>
          <p:nvPr/>
        </p:nvSpPr>
        <p:spPr>
          <a:xfrm>
            <a:off x="4564213" y="3983744"/>
            <a:ext cx="1720460" cy="2154436"/>
          </a:xfrm>
          <a:prstGeom prst="rect">
            <a:avLst/>
          </a:prstGeom>
          <a:noFill/>
        </p:spPr>
        <p:txBody>
          <a:bodyPr wrap="square" lIns="0" tIns="0" rIns="0" bIns="0" rtlCol="0">
            <a:spAutoFit/>
          </a:bodyPr>
          <a:lstStyle/>
          <a:p>
            <a:pPr>
              <a:lnSpc>
                <a:spcPct val="200000"/>
              </a:lnSpc>
            </a:pPr>
            <a:r>
              <a:rPr lang="ko-KR" altLang="en-US" sz="700" dirty="0">
                <a:latin typeface="+mn-ea"/>
              </a:rPr>
              <a:t>서울특별시</a:t>
            </a:r>
            <a:endParaRPr lang="en-US" altLang="ko-KR" sz="700" dirty="0">
              <a:latin typeface="+mn-ea"/>
            </a:endParaRPr>
          </a:p>
          <a:p>
            <a:pPr>
              <a:lnSpc>
                <a:spcPct val="200000"/>
              </a:lnSpc>
            </a:pPr>
            <a:r>
              <a:rPr lang="ko-KR" altLang="en-US" sz="700" dirty="0">
                <a:latin typeface="+mn-ea"/>
              </a:rPr>
              <a:t>서울특별시 강동구</a:t>
            </a:r>
            <a:endParaRPr lang="en-US" altLang="ko-KR" sz="700" dirty="0">
              <a:latin typeface="+mn-ea"/>
            </a:endParaRPr>
          </a:p>
          <a:p>
            <a:pPr>
              <a:lnSpc>
                <a:spcPct val="200000"/>
              </a:lnSpc>
            </a:pPr>
            <a:r>
              <a:rPr lang="ko-KR" altLang="en-US" sz="700" dirty="0">
                <a:latin typeface="+mn-ea"/>
              </a:rPr>
              <a:t>서울특별시 중구</a:t>
            </a:r>
            <a:endParaRPr lang="en-US" altLang="ko-KR" sz="700" dirty="0">
              <a:latin typeface="+mn-ea"/>
            </a:endParaRPr>
          </a:p>
          <a:p>
            <a:pPr>
              <a:lnSpc>
                <a:spcPct val="200000"/>
              </a:lnSpc>
            </a:pPr>
            <a:r>
              <a:rPr lang="ko-KR" altLang="en-US" sz="700" dirty="0">
                <a:latin typeface="+mn-ea"/>
              </a:rPr>
              <a:t>서울특별시 용산구</a:t>
            </a:r>
            <a:endParaRPr lang="en-US" altLang="ko-KR" sz="700" dirty="0">
              <a:latin typeface="+mn-ea"/>
            </a:endParaRPr>
          </a:p>
          <a:p>
            <a:pPr>
              <a:lnSpc>
                <a:spcPct val="200000"/>
              </a:lnSpc>
            </a:pPr>
            <a:r>
              <a:rPr lang="ko-KR" altLang="en-US" sz="700" dirty="0">
                <a:latin typeface="+mn-ea"/>
              </a:rPr>
              <a:t>서울특별시 성동구</a:t>
            </a:r>
            <a:endParaRPr lang="en-US" altLang="ko-KR" sz="700" dirty="0">
              <a:latin typeface="+mn-ea"/>
            </a:endParaRPr>
          </a:p>
          <a:p>
            <a:pPr>
              <a:lnSpc>
                <a:spcPct val="200000"/>
              </a:lnSpc>
            </a:pPr>
            <a:r>
              <a:rPr lang="ko-KR" altLang="en-US" sz="700" dirty="0">
                <a:latin typeface="+mn-ea"/>
              </a:rPr>
              <a:t>서울특별시 광진구</a:t>
            </a:r>
            <a:endParaRPr lang="en-US" altLang="ko-KR" sz="700" dirty="0">
              <a:latin typeface="+mn-ea"/>
            </a:endParaRPr>
          </a:p>
          <a:p>
            <a:pPr>
              <a:lnSpc>
                <a:spcPct val="200000"/>
              </a:lnSpc>
            </a:pPr>
            <a:r>
              <a:rPr lang="ko-KR" altLang="en-US" sz="700" dirty="0">
                <a:latin typeface="+mn-ea"/>
              </a:rPr>
              <a:t>서울특별시 동대문구</a:t>
            </a:r>
            <a:endParaRPr lang="en-US" altLang="ko-KR" sz="700" dirty="0">
              <a:latin typeface="+mn-ea"/>
            </a:endParaRPr>
          </a:p>
          <a:p>
            <a:pPr>
              <a:lnSpc>
                <a:spcPct val="200000"/>
              </a:lnSpc>
            </a:pPr>
            <a:r>
              <a:rPr lang="ko-KR" altLang="en-US" sz="700" dirty="0">
                <a:latin typeface="+mn-ea"/>
              </a:rPr>
              <a:t>서울특별시 중랑구</a:t>
            </a:r>
            <a:endParaRPr lang="en-US" altLang="ko-KR" sz="700" dirty="0">
              <a:latin typeface="+mn-ea"/>
            </a:endParaRPr>
          </a:p>
          <a:p>
            <a:pPr>
              <a:lnSpc>
                <a:spcPct val="200000"/>
              </a:lnSpc>
            </a:pPr>
            <a:r>
              <a:rPr lang="ko-KR" altLang="en-US" sz="700" dirty="0">
                <a:latin typeface="+mn-ea"/>
              </a:rPr>
              <a:t>서울특별시 성북구</a:t>
            </a:r>
            <a:endParaRPr lang="en-US" altLang="ko-KR" sz="700" dirty="0">
              <a:latin typeface="+mn-ea"/>
            </a:endParaRPr>
          </a:p>
          <a:p>
            <a:pPr>
              <a:lnSpc>
                <a:spcPct val="200000"/>
              </a:lnSpc>
            </a:pPr>
            <a:r>
              <a:rPr lang="ko-KR" altLang="en-US" sz="700" dirty="0">
                <a:latin typeface="+mn-ea"/>
              </a:rPr>
              <a:t>서울특별시 강북구</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4214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4428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46422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9" name="직선 연결선 328">
            <a:extLst>
              <a:ext uri="{FF2B5EF4-FFF2-40B4-BE49-F238E27FC236}">
                <a16:creationId xmlns:a16="http://schemas.microsoft.com/office/drawing/2014/main" id="{E9293055-D5CD-4B9E-7F64-64B2D2CA7A52}"/>
              </a:ext>
            </a:extLst>
          </p:cNvPr>
          <p:cNvCxnSpPr/>
          <p:nvPr/>
        </p:nvCxnSpPr>
        <p:spPr>
          <a:xfrm>
            <a:off x="3837747" y="48559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0" name="직선 연결선 329">
            <a:extLst>
              <a:ext uri="{FF2B5EF4-FFF2-40B4-BE49-F238E27FC236}">
                <a16:creationId xmlns:a16="http://schemas.microsoft.com/office/drawing/2014/main" id="{E9293055-D5CD-4B9E-7F64-64B2D2CA7A52}"/>
              </a:ext>
            </a:extLst>
          </p:cNvPr>
          <p:cNvCxnSpPr/>
          <p:nvPr/>
        </p:nvCxnSpPr>
        <p:spPr>
          <a:xfrm>
            <a:off x="3837747" y="5069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1" name="직선 연결선 330">
            <a:extLst>
              <a:ext uri="{FF2B5EF4-FFF2-40B4-BE49-F238E27FC236}">
                <a16:creationId xmlns:a16="http://schemas.microsoft.com/office/drawing/2014/main" id="{E9293055-D5CD-4B9E-7F64-64B2D2CA7A52}"/>
              </a:ext>
            </a:extLst>
          </p:cNvPr>
          <p:cNvCxnSpPr/>
          <p:nvPr/>
        </p:nvCxnSpPr>
        <p:spPr>
          <a:xfrm>
            <a:off x="3837747" y="5283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2" name="직선 연결선 331">
            <a:extLst>
              <a:ext uri="{FF2B5EF4-FFF2-40B4-BE49-F238E27FC236}">
                <a16:creationId xmlns:a16="http://schemas.microsoft.com/office/drawing/2014/main" id="{E9293055-D5CD-4B9E-7F64-64B2D2CA7A52}"/>
              </a:ext>
            </a:extLst>
          </p:cNvPr>
          <p:cNvCxnSpPr/>
          <p:nvPr/>
        </p:nvCxnSpPr>
        <p:spPr>
          <a:xfrm>
            <a:off x="3837747" y="5497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3" name="직선 연결선 332">
            <a:extLst>
              <a:ext uri="{FF2B5EF4-FFF2-40B4-BE49-F238E27FC236}">
                <a16:creationId xmlns:a16="http://schemas.microsoft.com/office/drawing/2014/main" id="{E9293055-D5CD-4B9E-7F64-64B2D2CA7A52}"/>
              </a:ext>
            </a:extLst>
          </p:cNvPr>
          <p:cNvCxnSpPr/>
          <p:nvPr/>
        </p:nvCxnSpPr>
        <p:spPr>
          <a:xfrm>
            <a:off x="3837747" y="571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4" name="직선 연결선 333">
            <a:extLst>
              <a:ext uri="{FF2B5EF4-FFF2-40B4-BE49-F238E27FC236}">
                <a16:creationId xmlns:a16="http://schemas.microsoft.com/office/drawing/2014/main" id="{E9293055-D5CD-4B9E-7F64-64B2D2CA7A52}"/>
              </a:ext>
            </a:extLst>
          </p:cNvPr>
          <p:cNvCxnSpPr/>
          <p:nvPr/>
        </p:nvCxnSpPr>
        <p:spPr>
          <a:xfrm>
            <a:off x="3837747" y="5924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5" name="직선 연결선 334">
            <a:extLst>
              <a:ext uri="{FF2B5EF4-FFF2-40B4-BE49-F238E27FC236}">
                <a16:creationId xmlns:a16="http://schemas.microsoft.com/office/drawing/2014/main" id="{E9293055-D5CD-4B9E-7F64-64B2D2CA7A52}"/>
              </a:ext>
            </a:extLst>
          </p:cNvPr>
          <p:cNvCxnSpPr/>
          <p:nvPr/>
        </p:nvCxnSpPr>
        <p:spPr>
          <a:xfrm>
            <a:off x="3837747" y="6138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32467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58483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390938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344145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42038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grpSp>
        <p:nvGrpSpPr>
          <p:cNvPr id="77" name="그룹 76"/>
          <p:cNvGrpSpPr/>
          <p:nvPr/>
        </p:nvGrpSpPr>
        <p:grpSpPr>
          <a:xfrm>
            <a:off x="8223250" y="569392"/>
            <a:ext cx="3365500" cy="634511"/>
            <a:chOff x="8223250" y="569392"/>
            <a:chExt cx="3365500" cy="634511"/>
          </a:xfrm>
        </p:grpSpPr>
        <p:sp>
          <p:nvSpPr>
            <p:cNvPr id="78" name="직사각형 7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2026-08-13 </a:t>
              </a:r>
              <a:r>
                <a:rPr lang="ko-KR" altLang="en-US" dirty="0"/>
                <a:t>화면 </a:t>
              </a:r>
              <a:r>
                <a:rPr lang="ko-KR" altLang="en-US" dirty="0" smtClean="0"/>
                <a:t>추가</a:t>
              </a:r>
              <a:endParaRPr lang="ko-KR" altLang="en-US" dirty="0"/>
            </a:p>
          </p:txBody>
        </p:sp>
        <p:sp>
          <p:nvSpPr>
            <p:cNvPr id="79" name="직사각형 78"/>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누락 팝업 복구</a:t>
              </a:r>
              <a:r>
                <a:rPr lang="en-US" altLang="ko-KR" sz="700" dirty="0" smtClean="0"/>
                <a:t/>
              </a:r>
              <a:br>
                <a:rPr lang="en-US" altLang="ko-KR" sz="700" dirty="0" smtClean="0"/>
              </a:br>
              <a:r>
                <a:rPr lang="en-US" altLang="ko-KR" sz="700" dirty="0" smtClean="0"/>
                <a:t>- </a:t>
              </a:r>
              <a:r>
                <a:rPr lang="ko-KR" altLang="en-US" sz="700" dirty="0" smtClean="0"/>
                <a:t>사용 여부 불확실</a:t>
              </a:r>
              <a:endParaRPr lang="ko-KR" altLang="en-US" sz="700" dirty="0"/>
            </a:p>
          </p:txBody>
        </p:sp>
      </p:grpSp>
    </p:spTree>
    <p:extLst>
      <p:ext uri="{BB962C8B-B14F-4D97-AF65-F5344CB8AC3E}">
        <p14:creationId xmlns:p14="http://schemas.microsoft.com/office/powerpoint/2010/main" val="39639125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smtClean="0"/>
              <a:t>발주부서</a:t>
            </a:r>
            <a:r>
              <a:rPr lang="ko-KR" altLang="en-US" dirty="0" smtClean="0"/>
              <a:t> </a:t>
            </a:r>
            <a:r>
              <a:rPr lang="en-US" altLang="ko-KR" dirty="0"/>
              <a:t>input</a:t>
            </a:r>
            <a:r>
              <a:rPr lang="ko-KR" altLang="en-US" dirty="0"/>
              <a:t>으로 포커스 </a:t>
            </a:r>
            <a:r>
              <a:rPr lang="ko-KR" altLang="en-US" dirty="0" err="1"/>
              <a:t>자동이동</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활성화</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동작</a:t>
            </a:r>
            <a:r>
              <a:rPr lang="en-US" altLang="ko-KR" dirty="0"/>
              <a:t/>
            </a:r>
            <a:br>
              <a:rPr lang="en-US" altLang="ko-KR" dirty="0"/>
            </a:br>
            <a:r>
              <a:rPr lang="en-US" altLang="ko-KR" dirty="0"/>
              <a:t>- </a:t>
            </a:r>
            <a:r>
              <a:rPr lang="ko-KR" altLang="en-US" dirty="0" err="1"/>
              <a:t>입력값</a:t>
            </a:r>
            <a:r>
              <a:rPr lang="ko-KR" altLang="en-US" dirty="0"/>
              <a:t> </a:t>
            </a:r>
            <a:r>
              <a:rPr lang="ko-KR" altLang="en-US" dirty="0" err="1"/>
              <a:t>없는경우</a:t>
            </a:r>
            <a:r>
              <a:rPr lang="ko-KR" altLang="en-US" dirty="0"/>
              <a:t> 검색 버튼 비활성화</a:t>
            </a:r>
            <a:r>
              <a:rPr lang="en-US" altLang="ko-KR" dirty="0"/>
              <a:t/>
            </a:r>
            <a:br>
              <a:rPr lang="en-US" altLang="ko-KR" dirty="0"/>
            </a:br>
            <a:r>
              <a:rPr lang="en-US" altLang="ko-KR" dirty="0"/>
              <a:t>- </a:t>
            </a:r>
            <a:r>
              <a:rPr lang="ko-KR" altLang="en-US" dirty="0"/>
              <a:t>특수문자 입력 불가</a:t>
            </a:r>
            <a:r>
              <a:rPr lang="en-US" altLang="ko-KR" dirty="0"/>
              <a:t/>
            </a:r>
            <a:br>
              <a:rPr lang="en-US" altLang="ko-KR" dirty="0"/>
            </a:br>
            <a:r>
              <a:rPr lang="en-US" altLang="ko-KR" dirty="0"/>
              <a:t>- </a:t>
            </a:r>
            <a:r>
              <a:rPr lang="ko-KR" altLang="en-US" dirty="0"/>
              <a:t>최소 </a:t>
            </a:r>
            <a:r>
              <a:rPr lang="en-US" altLang="ko-KR" dirty="0"/>
              <a:t>2</a:t>
            </a:r>
            <a:r>
              <a:rPr lang="ko-KR" altLang="en-US" dirty="0"/>
              <a:t>글자 이상 </a:t>
            </a:r>
            <a:r>
              <a:rPr lang="ko-KR" altLang="en-US" dirty="0" err="1"/>
              <a:t>입력시</a:t>
            </a:r>
            <a:r>
              <a:rPr lang="ko-KR" altLang="en-US" dirty="0"/>
              <a:t> 검색 가능</a:t>
            </a:r>
            <a:r>
              <a:rPr lang="en-US" altLang="ko-KR" dirty="0"/>
              <a:t/>
            </a:r>
            <a:br>
              <a:rPr lang="en-US" altLang="ko-KR" dirty="0"/>
            </a:br>
            <a:r>
              <a:rPr lang="en-US" altLang="ko-KR" dirty="0"/>
              <a:t>- enter </a:t>
            </a:r>
            <a:r>
              <a:rPr lang="ko-KR" altLang="en-US" dirty="0"/>
              <a:t>검색 가능</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스크롤</a:t>
            </a:r>
            <a:r>
              <a:rPr lang="en-US" altLang="ko-KR" dirty="0"/>
              <a:t/>
            </a:r>
            <a:br>
              <a:rPr lang="en-US" altLang="ko-KR" dirty="0"/>
            </a:br>
            <a:r>
              <a:rPr lang="en-US" altLang="ko-KR" dirty="0"/>
              <a:t>- </a:t>
            </a:r>
            <a:r>
              <a:rPr lang="ko-KR" altLang="en-US" dirty="0"/>
              <a:t>검색 결과가 </a:t>
            </a:r>
            <a:r>
              <a:rPr lang="ko-KR" altLang="en-US" dirty="0" err="1"/>
              <a:t>많은경우</a:t>
            </a:r>
            <a:r>
              <a:rPr lang="ko-KR" altLang="en-US" dirty="0"/>
              <a:t> 무한 스크롤</a:t>
            </a:r>
            <a:r>
              <a:rPr lang="en-US" altLang="ko-KR" dirty="0"/>
              <a:t/>
            </a:r>
            <a:br>
              <a:rPr lang="en-US" altLang="ko-KR" dirty="0"/>
            </a:br>
            <a:r>
              <a:rPr lang="en-US" altLang="ko-KR" dirty="0"/>
              <a:t>- </a:t>
            </a:r>
            <a:r>
              <a:rPr lang="ko-KR" altLang="en-US" dirty="0" err="1" smtClean="0"/>
              <a:t>기관구분</a:t>
            </a:r>
            <a:r>
              <a:rPr lang="ko-KR" altLang="en-US" dirty="0" smtClean="0"/>
              <a:t> </a:t>
            </a:r>
            <a:r>
              <a:rPr lang="en-US" altLang="ko-KR" dirty="0"/>
              <a:t>: </a:t>
            </a:r>
            <a:r>
              <a:rPr lang="ko-KR" altLang="en-US" dirty="0" err="1" smtClean="0"/>
              <a:t>기관구분</a:t>
            </a:r>
            <a:r>
              <a:rPr lang="ko-KR" altLang="en-US" dirty="0" smtClean="0"/>
              <a:t> </a:t>
            </a:r>
            <a:r>
              <a:rPr lang="ko-KR" altLang="en-US" dirty="0"/>
              <a:t>코드 오름차순</a:t>
            </a:r>
            <a:r>
              <a:rPr lang="en-US" altLang="ko-KR" dirty="0"/>
              <a:t/>
            </a:r>
            <a:br>
              <a:rPr lang="en-US" altLang="ko-KR" dirty="0"/>
            </a:br>
            <a:r>
              <a:rPr lang="en-US" altLang="ko-KR" dirty="0"/>
              <a:t>- </a:t>
            </a:r>
            <a:r>
              <a:rPr lang="ko-KR" altLang="en-US" dirty="0" smtClean="0"/>
              <a:t>발주기관</a:t>
            </a:r>
            <a:r>
              <a:rPr lang="en-US" altLang="ko-KR" dirty="0" smtClean="0"/>
              <a:t> </a:t>
            </a:r>
            <a:r>
              <a:rPr lang="en-US" altLang="ko-KR" dirty="0"/>
              <a:t>: </a:t>
            </a:r>
            <a:r>
              <a:rPr lang="ko-KR" altLang="en-US" dirty="0" err="1" smtClean="0"/>
              <a:t>기관명</a:t>
            </a:r>
            <a:r>
              <a:rPr lang="ko-KR" altLang="en-US" dirty="0" smtClean="0"/>
              <a:t> 가나다 </a:t>
            </a:r>
            <a:r>
              <a:rPr lang="ko-KR" altLang="en-US" dirty="0"/>
              <a:t>오름차순</a:t>
            </a:r>
            <a:r>
              <a:rPr lang="en-US" altLang="ko-KR" dirty="0">
                <a:solidFill>
                  <a:srgbClr val="FF0000"/>
                </a:solidFill>
              </a:rPr>
              <a:t/>
            </a:r>
            <a:br>
              <a:rPr lang="en-US" altLang="ko-KR" dirty="0">
                <a:solidFill>
                  <a:srgbClr val="FF0000"/>
                </a:solidFill>
              </a:rPr>
            </a:br>
            <a:r>
              <a:rPr lang="en-US" altLang="ko-KR" dirty="0"/>
              <a:t>- </a:t>
            </a:r>
            <a:r>
              <a:rPr lang="ko-KR" altLang="en-US" dirty="0" smtClean="0"/>
              <a:t>발주기관이 </a:t>
            </a:r>
            <a:r>
              <a:rPr lang="ko-KR" altLang="en-US" dirty="0" err="1"/>
              <a:t>긴경우</a:t>
            </a:r>
            <a:r>
              <a:rPr lang="ko-KR" altLang="en-US" dirty="0"/>
              <a:t> </a:t>
            </a:r>
            <a:r>
              <a:rPr lang="en-US" altLang="ko-KR" dirty="0"/>
              <a:t>(…) </a:t>
            </a:r>
            <a:r>
              <a:rPr lang="ko-KR" altLang="en-US" dirty="0" err="1"/>
              <a:t>말줄임</a:t>
            </a:r>
            <a:r>
              <a:rPr lang="ko-KR" altLang="en-US" dirty="0"/>
              <a:t> 표시</a:t>
            </a:r>
            <a:r>
              <a:rPr lang="en-US" altLang="ko-KR" dirty="0"/>
              <a:t/>
            </a:r>
            <a:br>
              <a:rPr lang="en-US" altLang="ko-KR" dirty="0"/>
            </a:br>
            <a:r>
              <a:rPr lang="en-US" altLang="ko-KR" dirty="0"/>
              <a:t>- </a:t>
            </a:r>
            <a:r>
              <a:rPr lang="ko-KR" altLang="en-US" dirty="0"/>
              <a:t>검색결과가 </a:t>
            </a:r>
            <a:r>
              <a:rPr lang="en-US" altLang="ko-KR" dirty="0"/>
              <a:t>0</a:t>
            </a:r>
            <a:r>
              <a:rPr lang="ko-KR" altLang="en-US" dirty="0"/>
              <a:t>건인 경우 </a:t>
            </a:r>
            <a:r>
              <a:rPr lang="en-US" altLang="ko-KR" dirty="0"/>
              <a:t/>
            </a:r>
            <a:br>
              <a:rPr lang="en-US" altLang="ko-KR" dirty="0"/>
            </a:br>
            <a:r>
              <a:rPr lang="en-US" altLang="ko-KR" dirty="0"/>
              <a:t>“ </a:t>
            </a:r>
            <a:r>
              <a:rPr lang="ko-KR" altLang="en-US" dirty="0"/>
              <a:t>검색 결과가 없습니다</a:t>
            </a:r>
            <a:r>
              <a:rPr lang="en-US" altLang="ko-KR" dirty="0"/>
              <a:t>“ </a:t>
            </a:r>
            <a:r>
              <a:rPr lang="ko-KR" altLang="en-US" dirty="0"/>
              <a:t>표시</a:t>
            </a:r>
            <a:r>
              <a:rPr lang="en-US" altLang="ko-KR" dirty="0"/>
              <a:t/>
            </a:r>
            <a:br>
              <a:rPr lang="en-US" altLang="ko-KR" dirty="0"/>
            </a:br>
            <a:r>
              <a:rPr lang="en-US" altLang="ko-KR" dirty="0"/>
              <a:t>- </a:t>
            </a:r>
            <a:r>
              <a:rPr lang="ko-KR" altLang="en-US" dirty="0" smtClean="0"/>
              <a:t>기관 </a:t>
            </a:r>
            <a:r>
              <a:rPr lang="ko-KR" altLang="en-US" dirty="0"/>
              <a:t>구분 </a:t>
            </a:r>
            <a:r>
              <a:rPr lang="ko-KR" altLang="en-US" dirty="0" err="1"/>
              <a:t>변경시</a:t>
            </a:r>
            <a:r>
              <a:rPr lang="ko-KR" altLang="en-US" dirty="0"/>
              <a:t> </a:t>
            </a:r>
            <a:r>
              <a:rPr lang="ko-KR" altLang="en-US" dirty="0" err="1"/>
              <a:t>입력값</a:t>
            </a:r>
            <a:r>
              <a:rPr lang="ko-KR" altLang="en-US" dirty="0"/>
              <a:t> 초기화</a:t>
            </a:r>
            <a:endParaRPr lang="en-US" altLang="ko-KR" dirty="0"/>
          </a:p>
          <a:p>
            <a:pPr marL="228600" indent="-228600">
              <a:buFont typeface="+mj-lt"/>
              <a:buAutoNum type="arabicPeriod"/>
            </a:pPr>
            <a:r>
              <a:rPr lang="ko-KR" altLang="en-US" dirty="0" smtClean="0"/>
              <a:t>검색결과 </a:t>
            </a:r>
            <a:r>
              <a:rPr lang="ko-KR" altLang="en-US" dirty="0"/>
              <a:t>선택 시 </a:t>
            </a:r>
            <a:r>
              <a:rPr lang="ko-KR" altLang="en-US" dirty="0" err="1"/>
              <a:t>바텀</a:t>
            </a:r>
            <a:r>
              <a:rPr lang="ko-KR" altLang="en-US" dirty="0"/>
              <a:t> 시트 닫힘</a:t>
            </a:r>
            <a:r>
              <a:rPr lang="en-US" altLang="ko-KR" dirty="0"/>
              <a:t/>
            </a:r>
            <a:br>
              <a:rPr lang="en-US" altLang="ko-KR" dirty="0"/>
            </a:br>
            <a:r>
              <a:rPr lang="en-US" altLang="ko-KR" dirty="0"/>
              <a:t>- </a:t>
            </a:r>
            <a:r>
              <a:rPr lang="ko-KR" altLang="en-US" dirty="0"/>
              <a:t>검색 결과 </a:t>
            </a:r>
            <a:r>
              <a:rPr lang="ko-KR" altLang="en-US" dirty="0" err="1"/>
              <a:t>클릭시</a:t>
            </a:r>
            <a:r>
              <a:rPr lang="en-US" altLang="ko-KR" dirty="0"/>
              <a:t>, </a:t>
            </a:r>
            <a:r>
              <a:rPr lang="ko-KR" altLang="en-US" dirty="0" err="1"/>
              <a:t>검색창</a:t>
            </a:r>
            <a:r>
              <a:rPr lang="ko-KR" altLang="en-US" dirty="0"/>
              <a:t> 닫음</a:t>
            </a:r>
            <a:r>
              <a:rPr lang="en-US" altLang="ko-KR" dirty="0"/>
              <a:t>. </a:t>
            </a:r>
            <a:r>
              <a:rPr lang="ko-KR" altLang="en-US" dirty="0" err="1"/>
              <a:t>검색필터에</a:t>
            </a:r>
            <a:r>
              <a:rPr lang="ko-KR" altLang="en-US" dirty="0"/>
              <a:t> </a:t>
            </a:r>
            <a:r>
              <a:rPr lang="ko-KR" altLang="en-US" dirty="0" err="1" smtClean="0"/>
              <a:t>발주부서</a:t>
            </a:r>
            <a:r>
              <a:rPr lang="en-US" altLang="ko-KR" dirty="0" smtClean="0"/>
              <a:t> </a:t>
            </a:r>
            <a:r>
              <a:rPr lang="ko-KR" altLang="en-US" dirty="0"/>
              <a:t>반영</a:t>
            </a:r>
            <a:r>
              <a:rPr lang="en-US" altLang="ko-KR" dirty="0"/>
              <a:t>.</a:t>
            </a:r>
            <a:br>
              <a:rPr lang="en-US" altLang="ko-KR" dirty="0"/>
            </a:br>
            <a:r>
              <a:rPr lang="en-US" altLang="ko-KR" dirty="0"/>
              <a:t>- </a:t>
            </a:r>
            <a:r>
              <a:rPr lang="ko-KR" altLang="en-US" dirty="0"/>
              <a:t>닫기</a:t>
            </a:r>
            <a:r>
              <a:rPr lang="en-US" altLang="ko-KR" dirty="0"/>
              <a:t>(X) </a:t>
            </a:r>
            <a:r>
              <a:rPr lang="ko-KR" altLang="en-US" dirty="0" err="1"/>
              <a:t>클릭시</a:t>
            </a:r>
            <a:r>
              <a:rPr lang="ko-KR" altLang="en-US" dirty="0"/>
              <a:t> </a:t>
            </a:r>
            <a:r>
              <a:rPr lang="ko-KR" altLang="en-US" dirty="0" err="1"/>
              <a:t>입력값</a:t>
            </a:r>
            <a:r>
              <a:rPr lang="ko-KR" altLang="en-US" dirty="0"/>
              <a:t> 초기화</a:t>
            </a:r>
            <a:r>
              <a:rPr lang="en-US" altLang="ko-KR" dirty="0"/>
              <a:t/>
            </a:r>
            <a:br>
              <a:rPr lang="en-US" altLang="ko-KR" dirty="0"/>
            </a:br>
            <a:r>
              <a:rPr lang="en-US" altLang="ko-KR" dirty="0"/>
              <a:t/>
            </a:r>
            <a:br>
              <a:rPr lang="en-US" altLang="ko-KR" dirty="0"/>
            </a:br>
            <a:r>
              <a:rPr lang="ko-KR" altLang="en-US" dirty="0"/>
              <a:t> </a:t>
            </a:r>
            <a:r>
              <a:rPr lang="en-US" altLang="ko-KR" dirty="0"/>
              <a:t> </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발주부서</a:t>
            </a:r>
            <a:r>
              <a:rPr lang="en-US" altLang="ko-KR" dirty="0"/>
              <a:t>(</a:t>
            </a:r>
            <a:r>
              <a:rPr lang="ko-KR" altLang="en-US" dirty="0"/>
              <a:t>기관</a:t>
            </a:r>
            <a:r>
              <a:rPr lang="en-US" altLang="ko-KR" dirty="0"/>
              <a:t>)</a:t>
            </a:r>
            <a:r>
              <a:rPr lang="ko-KR" altLang="en-US" dirty="0"/>
              <a:t>검색</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발주부서</a:t>
            </a:r>
            <a:r>
              <a:rPr lang="en-US" altLang="ko-KR" dirty="0"/>
              <a:t>(</a:t>
            </a:r>
            <a:r>
              <a:rPr lang="ko-KR" altLang="en-US" dirty="0"/>
              <a:t>기관</a:t>
            </a:r>
            <a:r>
              <a:rPr lang="en-US" altLang="ko-KR" dirty="0"/>
              <a:t>)</a:t>
            </a:r>
            <a:r>
              <a:rPr lang="ko-KR" altLang="en-US" dirty="0"/>
              <a:t> 검색을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 </a:t>
            </a:r>
            <a:r>
              <a:rPr lang="en-US" altLang="ko-KR" dirty="0">
                <a:latin typeface="+mn-ea"/>
              </a:rPr>
              <a:t>&gt; </a:t>
            </a:r>
            <a:r>
              <a:rPr lang="ko-KR" altLang="en-US" dirty="0" err="1">
                <a:latin typeface="+mn-ea"/>
              </a:rPr>
              <a:t>발주부서</a:t>
            </a:r>
            <a:r>
              <a:rPr lang="en-US" altLang="ko-KR" dirty="0">
                <a:latin typeface="+mn-ea"/>
              </a:rPr>
              <a:t>(</a:t>
            </a:r>
            <a:r>
              <a:rPr lang="ko-KR" altLang="en-US" dirty="0">
                <a:latin typeface="+mn-ea"/>
              </a:rPr>
              <a:t>기관</a:t>
            </a:r>
            <a:r>
              <a:rPr lang="en-US" altLang="ko-KR" dirty="0">
                <a:latin typeface="+mn-ea"/>
              </a:rPr>
              <a:t>) </a:t>
            </a:r>
            <a:r>
              <a:rPr lang="ko-KR" altLang="en-US" dirty="0">
                <a:latin typeface="+mn-ea"/>
              </a:rPr>
              <a:t>검색</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MUI-BD-01-P04</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82" name="그룹 281"/>
          <p:cNvGrpSpPr/>
          <p:nvPr/>
        </p:nvGrpSpPr>
        <p:grpSpPr>
          <a:xfrm>
            <a:off x="6258712" y="1650089"/>
            <a:ext cx="94010" cy="94010"/>
            <a:chOff x="6812560" y="3297172"/>
            <a:chExt cx="94010" cy="94010"/>
          </a:xfrm>
        </p:grpSpPr>
        <p:cxnSp>
          <p:nvCxnSpPr>
            <p:cNvPr id="286" name="직선 연결선 2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87" name="직선 연결선 2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88" name="타원 2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4" name="TextBox 293">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발주부서</a:t>
            </a:r>
            <a:r>
              <a:rPr lang="en-US" altLang="ko-KR" sz="900" dirty="0">
                <a:latin typeface="+mn-ea"/>
              </a:rPr>
              <a:t>(</a:t>
            </a:r>
            <a:r>
              <a:rPr lang="ko-KR" altLang="en-US" sz="900" dirty="0">
                <a:latin typeface="+mn-ea"/>
              </a:rPr>
              <a:t>기관</a:t>
            </a:r>
            <a:r>
              <a:rPr lang="en-US" altLang="ko-KR" sz="900" dirty="0">
                <a:latin typeface="+mn-ea"/>
              </a:rPr>
              <a:t>)</a:t>
            </a:r>
            <a:r>
              <a:rPr lang="ko-KR" altLang="en-US" sz="900" dirty="0">
                <a:latin typeface="+mn-ea"/>
              </a:rPr>
              <a:t> 검색</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2653963"/>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육군</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2722276"/>
            <a:ext cx="670770" cy="107722"/>
          </a:xfrm>
          <a:prstGeom prst="rect">
            <a:avLst/>
          </a:prstGeom>
          <a:noFill/>
        </p:spPr>
        <p:txBody>
          <a:bodyPr wrap="square" lIns="0" tIns="0" rIns="0" bIns="0" rtlCol="0">
            <a:spAutoFit/>
          </a:bodyPr>
          <a:lstStyle/>
          <a:p>
            <a:r>
              <a:rPr lang="ko-KR" altLang="en-US" sz="700" dirty="0">
                <a:latin typeface="+mn-ea"/>
              </a:rPr>
              <a:t>발주기관</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2987678"/>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err="1">
                <a:latin typeface="+mn-ea"/>
              </a:rPr>
              <a:t>발주부서</a:t>
            </a:r>
            <a:r>
              <a:rPr lang="en-US" altLang="ko-KR" sz="900" dirty="0">
                <a:latin typeface="+mn-ea"/>
              </a:rPr>
              <a:t>(</a:t>
            </a:r>
            <a:r>
              <a:rPr lang="ko-KR" altLang="en-US" sz="900" dirty="0">
                <a:latin typeface="+mn-ea"/>
              </a:rPr>
              <a:t>기관</a:t>
            </a:r>
            <a:r>
              <a:rPr lang="en-US" altLang="ko-KR" sz="900" dirty="0">
                <a:latin typeface="+mn-ea"/>
              </a:rPr>
              <a:t>)</a:t>
            </a:r>
            <a:r>
              <a:rPr lang="ko-KR" altLang="en-US" sz="900" dirty="0">
                <a:latin typeface="+mn-ea"/>
              </a:rPr>
              <a:t>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모서리가 둥근 직사각형 168"/>
          <p:cNvSpPr/>
          <p:nvPr/>
        </p:nvSpPr>
        <p:spPr>
          <a:xfrm>
            <a:off x="1443878" y="3862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정보를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804476" y="3930637"/>
            <a:ext cx="670770" cy="107722"/>
          </a:xfrm>
          <a:prstGeom prst="rect">
            <a:avLst/>
          </a:prstGeom>
          <a:noFill/>
        </p:spPr>
        <p:txBody>
          <a:bodyPr wrap="square" lIns="0" tIns="0" rIns="0" bIns="0" rtlCol="0">
            <a:spAutoFit/>
          </a:bodyPr>
          <a:lstStyle/>
          <a:p>
            <a:r>
              <a:rPr lang="ko-KR" altLang="en-US" sz="700" dirty="0">
                <a:latin typeface="+mn-ea"/>
              </a:rPr>
              <a:t>발주기관</a:t>
            </a:r>
            <a:endParaRPr lang="en-US" altLang="ko-KR" sz="700" dirty="0">
              <a:latin typeface="+mn-ea"/>
            </a:endParaRPr>
          </a:p>
        </p:txBody>
      </p:sp>
      <p:sp>
        <p:nvSpPr>
          <p:cNvPr id="177" name="사각형: 둥근 모서리 15">
            <a:extLst>
              <a:ext uri="{FF2B5EF4-FFF2-40B4-BE49-F238E27FC236}">
                <a16:creationId xmlns:a16="http://schemas.microsoft.com/office/drawing/2014/main" id="{E2B61CFB-AD16-68D0-8752-50D9C5E01971}"/>
              </a:ext>
            </a:extLst>
          </p:cNvPr>
          <p:cNvSpPr/>
          <p:nvPr/>
        </p:nvSpPr>
        <p:spPr>
          <a:xfrm>
            <a:off x="767702" y="4196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3" name="그룹 2"/>
          <p:cNvGrpSpPr/>
          <p:nvPr/>
        </p:nvGrpSpPr>
        <p:grpSpPr>
          <a:xfrm>
            <a:off x="3112794" y="3900610"/>
            <a:ext cx="145884" cy="145882"/>
            <a:chOff x="3112794" y="3984500"/>
            <a:chExt cx="145884" cy="145882"/>
          </a:xfrm>
        </p:grpSpPr>
        <p:sp>
          <p:nvSpPr>
            <p:cNvPr id="310" name="타원 309"/>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1" name="그룹 310"/>
            <p:cNvGrpSpPr/>
            <p:nvPr/>
          </p:nvGrpSpPr>
          <p:grpSpPr>
            <a:xfrm>
              <a:off x="3156699" y="4028404"/>
              <a:ext cx="58075" cy="58074"/>
              <a:chOff x="6812560" y="3297172"/>
              <a:chExt cx="94010" cy="94010"/>
            </a:xfrm>
          </p:grpSpPr>
          <p:cxnSp>
            <p:nvCxnSpPr>
              <p:cNvPr id="312" name="직선 연결선 31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314" name="타원 313"/>
          <p:cNvSpPr/>
          <p:nvPr/>
        </p:nvSpPr>
        <p:spPr>
          <a:xfrm>
            <a:off x="6240768" y="269678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2740688"/>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33710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3478112"/>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24811" y="3766913"/>
            <a:ext cx="670770" cy="107722"/>
          </a:xfrm>
          <a:prstGeom prst="rect">
            <a:avLst/>
          </a:prstGeom>
          <a:noFill/>
        </p:spPr>
        <p:txBody>
          <a:bodyPr wrap="square" lIns="0" tIns="0" rIns="0" bIns="0" rtlCol="0">
            <a:spAutoFit/>
          </a:bodyPr>
          <a:lstStyle/>
          <a:p>
            <a:r>
              <a:rPr lang="ko-KR" altLang="en-US" sz="700" b="1" dirty="0" err="1">
                <a:latin typeface="+mn-ea"/>
              </a:rPr>
              <a:t>기관구분</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4564213" y="3766913"/>
            <a:ext cx="670770" cy="107722"/>
          </a:xfrm>
          <a:prstGeom prst="rect">
            <a:avLst/>
          </a:prstGeom>
          <a:noFill/>
        </p:spPr>
        <p:txBody>
          <a:bodyPr wrap="square" lIns="0" tIns="0" rIns="0" bIns="0" rtlCol="0">
            <a:spAutoFit/>
          </a:bodyPr>
          <a:lstStyle/>
          <a:p>
            <a:r>
              <a:rPr lang="ko-KR" altLang="en-US" sz="700" b="1" dirty="0">
                <a:latin typeface="+mn-ea"/>
              </a:rPr>
              <a:t>발주기관</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36536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39723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3924811" y="3983744"/>
            <a:ext cx="670770" cy="2154436"/>
          </a:xfrm>
          <a:prstGeom prst="rect">
            <a:avLst/>
          </a:prstGeom>
          <a:noFill/>
        </p:spPr>
        <p:txBody>
          <a:bodyPr wrap="square" lIns="0" tIns="0" rIns="0" bIns="0" rtlCol="0">
            <a:spAutoFit/>
          </a:bodyPr>
          <a:lstStyle/>
          <a:p>
            <a:pPr>
              <a:lnSpc>
                <a:spcPct val="200000"/>
              </a:lnSpc>
            </a:pPr>
            <a:r>
              <a:rPr lang="ko-KR" altLang="en-US" sz="700" dirty="0" err="1">
                <a:latin typeface="+mn-ea"/>
              </a:rPr>
              <a:t>경리단</a:t>
            </a:r>
            <a:endParaRPr lang="en-US" altLang="ko-KR" sz="700" dirty="0">
              <a:latin typeface="+mn-ea"/>
            </a:endParaRPr>
          </a:p>
          <a:p>
            <a:pPr>
              <a:lnSpc>
                <a:spcPct val="200000"/>
              </a:lnSpc>
            </a:pPr>
            <a:r>
              <a:rPr lang="ko-KR" altLang="en-US" sz="700" dirty="0" err="1">
                <a:latin typeface="+mn-ea"/>
              </a:rPr>
              <a:t>경리단</a:t>
            </a:r>
            <a:endParaRPr lang="en-US" altLang="ko-KR" sz="700" dirty="0">
              <a:latin typeface="+mn-ea"/>
            </a:endParaRPr>
          </a:p>
          <a:p>
            <a:pPr>
              <a:lnSpc>
                <a:spcPct val="200000"/>
              </a:lnSpc>
            </a:pPr>
            <a:r>
              <a:rPr lang="ko-KR" altLang="en-US" sz="700" dirty="0" err="1">
                <a:latin typeface="+mn-ea"/>
              </a:rPr>
              <a:t>경리단</a:t>
            </a:r>
            <a:endParaRPr lang="en-US" altLang="ko-KR" sz="700" dirty="0">
              <a:latin typeface="+mn-ea"/>
            </a:endParaRPr>
          </a:p>
          <a:p>
            <a:pPr>
              <a:lnSpc>
                <a:spcPct val="200000"/>
              </a:lnSpc>
            </a:pPr>
            <a:r>
              <a:rPr lang="ko-KR" altLang="en-US" sz="700" dirty="0" err="1">
                <a:latin typeface="+mn-ea"/>
              </a:rPr>
              <a:t>군수사</a:t>
            </a:r>
            <a:endParaRPr lang="en-US" altLang="ko-KR" sz="700" dirty="0">
              <a:latin typeface="+mn-ea"/>
            </a:endParaRPr>
          </a:p>
          <a:p>
            <a:pPr>
              <a:lnSpc>
                <a:spcPct val="200000"/>
              </a:lnSpc>
            </a:pPr>
            <a:r>
              <a:rPr lang="ko-KR" altLang="en-US" sz="700" dirty="0">
                <a:latin typeface="+mn-ea"/>
              </a:rPr>
              <a:t>교육사</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p:txBody>
      </p:sp>
      <p:sp>
        <p:nvSpPr>
          <p:cNvPr id="325" name="TextBox 324">
            <a:extLst>
              <a:ext uri="{FF2B5EF4-FFF2-40B4-BE49-F238E27FC236}">
                <a16:creationId xmlns:a16="http://schemas.microsoft.com/office/drawing/2014/main" id="{FFC49AEA-2A8F-250C-A86A-A7751D9706C3}"/>
              </a:ext>
            </a:extLst>
          </p:cNvPr>
          <p:cNvSpPr txBox="1"/>
          <p:nvPr/>
        </p:nvSpPr>
        <p:spPr>
          <a:xfrm>
            <a:off x="4564213" y="3983744"/>
            <a:ext cx="1814470" cy="2154436"/>
          </a:xfrm>
          <a:prstGeom prst="rect">
            <a:avLst/>
          </a:prstGeom>
          <a:noFill/>
        </p:spPr>
        <p:txBody>
          <a:bodyPr wrap="square" lIns="0" tIns="0" rIns="0" bIns="0" rtlCol="0">
            <a:spAutoFit/>
          </a:bodyPr>
          <a:lstStyle/>
          <a:p>
            <a:pPr>
              <a:lnSpc>
                <a:spcPct val="200000"/>
              </a:lnSpc>
            </a:pPr>
            <a:r>
              <a:rPr lang="ko-KR" altLang="en-US" sz="700" dirty="0">
                <a:latin typeface="+mn-ea"/>
              </a:rPr>
              <a:t>육군 </a:t>
            </a:r>
            <a:r>
              <a:rPr lang="en-US" altLang="ko-KR" sz="700" dirty="0">
                <a:latin typeface="+mn-ea"/>
              </a:rPr>
              <a:t>2</a:t>
            </a:r>
            <a:r>
              <a:rPr lang="ko-KR" altLang="en-US" sz="700" dirty="0">
                <a:latin typeface="+mn-ea"/>
              </a:rPr>
              <a:t>작사 </a:t>
            </a:r>
            <a:r>
              <a:rPr lang="en-US" altLang="ko-KR" sz="700" dirty="0">
                <a:latin typeface="+mn-ea"/>
              </a:rPr>
              <a:t>201</a:t>
            </a:r>
            <a:r>
              <a:rPr lang="ko-KR" altLang="en-US" sz="700" dirty="0">
                <a:latin typeface="+mn-ea"/>
              </a:rPr>
              <a:t>특공여단</a:t>
            </a:r>
            <a:endParaRPr lang="en-US" altLang="ko-KR" sz="700" dirty="0">
              <a:latin typeface="+mn-ea"/>
            </a:endParaRPr>
          </a:p>
          <a:p>
            <a:pPr>
              <a:lnSpc>
                <a:spcPct val="200000"/>
              </a:lnSpc>
            </a:pPr>
            <a:r>
              <a:rPr lang="ko-KR" altLang="en-US" sz="700" dirty="0">
                <a:latin typeface="+mn-ea"/>
              </a:rPr>
              <a:t>육군</a:t>
            </a:r>
            <a:r>
              <a:rPr lang="en-US" altLang="ko-KR" sz="700" dirty="0">
                <a:latin typeface="+mn-ea"/>
              </a:rPr>
              <a:t>2</a:t>
            </a:r>
            <a:r>
              <a:rPr lang="ko-KR" altLang="en-US" sz="700" dirty="0">
                <a:latin typeface="+mn-ea"/>
              </a:rPr>
              <a:t>작사 </a:t>
            </a:r>
            <a:r>
              <a:rPr lang="en-US" altLang="ko-KR" sz="700" dirty="0">
                <a:latin typeface="+mn-ea"/>
              </a:rPr>
              <a:t>203</a:t>
            </a:r>
            <a:r>
              <a:rPr lang="ko-KR" altLang="en-US" sz="700" dirty="0">
                <a:latin typeface="+mn-ea"/>
              </a:rPr>
              <a:t>특공여단</a:t>
            </a:r>
            <a:endParaRPr lang="en-US" altLang="ko-KR" sz="700" dirty="0">
              <a:latin typeface="+mn-ea"/>
            </a:endParaRPr>
          </a:p>
          <a:p>
            <a:pPr>
              <a:lnSpc>
                <a:spcPct val="200000"/>
              </a:lnSpc>
            </a:pPr>
            <a:r>
              <a:rPr lang="ko-KR" altLang="en-US" sz="700" dirty="0">
                <a:latin typeface="+mn-ea"/>
              </a:rPr>
              <a:t>육군중앙경리단</a:t>
            </a:r>
            <a:endParaRPr lang="en-US" altLang="ko-KR" sz="700" dirty="0">
              <a:latin typeface="+mn-ea"/>
            </a:endParaRPr>
          </a:p>
          <a:p>
            <a:pPr>
              <a:lnSpc>
                <a:spcPct val="200000"/>
              </a:lnSpc>
            </a:pPr>
            <a:r>
              <a:rPr lang="ko-KR" altLang="en-US" sz="700" dirty="0">
                <a:latin typeface="+mn-ea"/>
              </a:rPr>
              <a:t>육군수사령부</a:t>
            </a:r>
            <a:endParaRPr lang="en-US" altLang="ko-KR" sz="700" dirty="0">
              <a:latin typeface="+mn-ea"/>
            </a:endParaRPr>
          </a:p>
          <a:p>
            <a:pPr>
              <a:lnSpc>
                <a:spcPct val="200000"/>
              </a:lnSpc>
            </a:pPr>
            <a:r>
              <a:rPr lang="ko-KR" altLang="en-US" sz="700" dirty="0">
                <a:latin typeface="+mn-ea"/>
              </a:rPr>
              <a:t>육군교육사령부</a:t>
            </a:r>
            <a:endParaRPr lang="en-US" altLang="ko-KR" sz="700" dirty="0">
              <a:latin typeface="+mn-ea"/>
            </a:endParaRPr>
          </a:p>
          <a:p>
            <a:pPr>
              <a:lnSpc>
                <a:spcPct val="200000"/>
              </a:lnSpc>
            </a:pPr>
            <a:r>
              <a:rPr lang="ko-KR" altLang="en-US" sz="700" dirty="0">
                <a:latin typeface="+mn-ea"/>
              </a:rPr>
              <a:t>육군</a:t>
            </a:r>
            <a:r>
              <a:rPr lang="en-US" altLang="ko-KR" sz="700" dirty="0">
                <a:latin typeface="+mn-ea"/>
              </a:rPr>
              <a:t>3</a:t>
            </a:r>
            <a:r>
              <a:rPr lang="ko-KR" altLang="en-US" sz="700" dirty="0">
                <a:latin typeface="+mn-ea"/>
              </a:rPr>
              <a:t>사관학교</a:t>
            </a:r>
            <a:endParaRPr lang="en-US" altLang="ko-KR" sz="700" dirty="0">
              <a:latin typeface="+mn-ea"/>
            </a:endParaRPr>
          </a:p>
          <a:p>
            <a:pPr>
              <a:lnSpc>
                <a:spcPct val="200000"/>
              </a:lnSpc>
            </a:pPr>
            <a:r>
              <a:rPr lang="ko-KR" altLang="en-US" sz="700" dirty="0">
                <a:latin typeface="+mn-ea"/>
              </a:rPr>
              <a:t>육군공병학교</a:t>
            </a:r>
            <a:endParaRPr lang="en-US" altLang="ko-KR" sz="700" dirty="0">
              <a:latin typeface="+mn-ea"/>
            </a:endParaRPr>
          </a:p>
          <a:p>
            <a:pPr>
              <a:lnSpc>
                <a:spcPct val="200000"/>
              </a:lnSpc>
            </a:pPr>
            <a:r>
              <a:rPr lang="ko-KR" altLang="en-US" sz="700" dirty="0">
                <a:latin typeface="+mn-ea"/>
              </a:rPr>
              <a:t>육군기계화학교</a:t>
            </a:r>
            <a:endParaRPr lang="en-US" altLang="ko-KR" sz="700" dirty="0">
              <a:latin typeface="+mn-ea"/>
            </a:endParaRPr>
          </a:p>
          <a:p>
            <a:pPr>
              <a:lnSpc>
                <a:spcPct val="200000"/>
              </a:lnSpc>
            </a:pPr>
            <a:r>
              <a:rPr lang="ko-KR" altLang="en-US" sz="700" dirty="0">
                <a:latin typeface="+mn-ea"/>
              </a:rPr>
              <a:t>육군대학</a:t>
            </a:r>
            <a:endParaRPr lang="en-US" altLang="ko-KR" sz="700" dirty="0">
              <a:latin typeface="+mn-ea"/>
            </a:endParaRPr>
          </a:p>
          <a:p>
            <a:pPr>
              <a:lnSpc>
                <a:spcPct val="200000"/>
              </a:lnSpc>
            </a:pPr>
            <a:r>
              <a:rPr lang="ko-KR" altLang="en-US" sz="700" dirty="0">
                <a:latin typeface="+mn-ea"/>
              </a:rPr>
              <a:t>육군방공학교</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4214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4428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46422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9" name="직선 연결선 328">
            <a:extLst>
              <a:ext uri="{FF2B5EF4-FFF2-40B4-BE49-F238E27FC236}">
                <a16:creationId xmlns:a16="http://schemas.microsoft.com/office/drawing/2014/main" id="{E9293055-D5CD-4B9E-7F64-64B2D2CA7A52}"/>
              </a:ext>
            </a:extLst>
          </p:cNvPr>
          <p:cNvCxnSpPr/>
          <p:nvPr/>
        </p:nvCxnSpPr>
        <p:spPr>
          <a:xfrm>
            <a:off x="3837747" y="48559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0" name="직선 연결선 329">
            <a:extLst>
              <a:ext uri="{FF2B5EF4-FFF2-40B4-BE49-F238E27FC236}">
                <a16:creationId xmlns:a16="http://schemas.microsoft.com/office/drawing/2014/main" id="{E9293055-D5CD-4B9E-7F64-64B2D2CA7A52}"/>
              </a:ext>
            </a:extLst>
          </p:cNvPr>
          <p:cNvCxnSpPr/>
          <p:nvPr/>
        </p:nvCxnSpPr>
        <p:spPr>
          <a:xfrm>
            <a:off x="3837747" y="5069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1" name="직선 연결선 330">
            <a:extLst>
              <a:ext uri="{FF2B5EF4-FFF2-40B4-BE49-F238E27FC236}">
                <a16:creationId xmlns:a16="http://schemas.microsoft.com/office/drawing/2014/main" id="{E9293055-D5CD-4B9E-7F64-64B2D2CA7A52}"/>
              </a:ext>
            </a:extLst>
          </p:cNvPr>
          <p:cNvCxnSpPr/>
          <p:nvPr/>
        </p:nvCxnSpPr>
        <p:spPr>
          <a:xfrm>
            <a:off x="3837747" y="5283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2" name="직선 연결선 331">
            <a:extLst>
              <a:ext uri="{FF2B5EF4-FFF2-40B4-BE49-F238E27FC236}">
                <a16:creationId xmlns:a16="http://schemas.microsoft.com/office/drawing/2014/main" id="{E9293055-D5CD-4B9E-7F64-64B2D2CA7A52}"/>
              </a:ext>
            </a:extLst>
          </p:cNvPr>
          <p:cNvCxnSpPr/>
          <p:nvPr/>
        </p:nvCxnSpPr>
        <p:spPr>
          <a:xfrm>
            <a:off x="3837747" y="5497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3" name="직선 연결선 332">
            <a:extLst>
              <a:ext uri="{FF2B5EF4-FFF2-40B4-BE49-F238E27FC236}">
                <a16:creationId xmlns:a16="http://schemas.microsoft.com/office/drawing/2014/main" id="{E9293055-D5CD-4B9E-7F64-64B2D2CA7A52}"/>
              </a:ext>
            </a:extLst>
          </p:cNvPr>
          <p:cNvCxnSpPr/>
          <p:nvPr/>
        </p:nvCxnSpPr>
        <p:spPr>
          <a:xfrm>
            <a:off x="3837747" y="571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4" name="직선 연결선 333">
            <a:extLst>
              <a:ext uri="{FF2B5EF4-FFF2-40B4-BE49-F238E27FC236}">
                <a16:creationId xmlns:a16="http://schemas.microsoft.com/office/drawing/2014/main" id="{E9293055-D5CD-4B9E-7F64-64B2D2CA7A52}"/>
              </a:ext>
            </a:extLst>
          </p:cNvPr>
          <p:cNvCxnSpPr/>
          <p:nvPr/>
        </p:nvCxnSpPr>
        <p:spPr>
          <a:xfrm>
            <a:off x="3837747" y="5924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5" name="직선 연결선 334">
            <a:extLst>
              <a:ext uri="{FF2B5EF4-FFF2-40B4-BE49-F238E27FC236}">
                <a16:creationId xmlns:a16="http://schemas.microsoft.com/office/drawing/2014/main" id="{E9293055-D5CD-4B9E-7F64-64B2D2CA7A52}"/>
              </a:ext>
            </a:extLst>
          </p:cNvPr>
          <p:cNvCxnSpPr/>
          <p:nvPr/>
        </p:nvCxnSpPr>
        <p:spPr>
          <a:xfrm>
            <a:off x="3837747" y="6138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32467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87148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419603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344145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42038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78" name="모서리가 둥근 직사각형 77"/>
          <p:cNvSpPr/>
          <p:nvPr/>
        </p:nvSpPr>
        <p:spPr>
          <a:xfrm>
            <a:off x="1443878" y="3560849"/>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79" name="TextBox 78">
            <a:extLst>
              <a:ext uri="{FF2B5EF4-FFF2-40B4-BE49-F238E27FC236}">
                <a16:creationId xmlns:a16="http://schemas.microsoft.com/office/drawing/2014/main" id="{FFC49AEA-2A8F-250C-A86A-A7751D9706C3}"/>
              </a:ext>
            </a:extLst>
          </p:cNvPr>
          <p:cNvSpPr txBox="1"/>
          <p:nvPr/>
        </p:nvSpPr>
        <p:spPr>
          <a:xfrm>
            <a:off x="804476" y="3629162"/>
            <a:ext cx="670770" cy="107722"/>
          </a:xfrm>
          <a:prstGeom prst="rect">
            <a:avLst/>
          </a:prstGeom>
          <a:noFill/>
        </p:spPr>
        <p:txBody>
          <a:bodyPr wrap="square" lIns="0" tIns="0" rIns="0" bIns="0" rtlCol="0">
            <a:spAutoFit/>
          </a:bodyPr>
          <a:lstStyle/>
          <a:p>
            <a:r>
              <a:rPr lang="ko-KR" altLang="en-US" sz="700" dirty="0" err="1">
                <a:latin typeface="+mn-ea"/>
              </a:rPr>
              <a:t>기관구분</a:t>
            </a:r>
            <a:endParaRPr lang="en-US" altLang="ko-KR" sz="700" dirty="0">
              <a:latin typeface="+mn-ea"/>
            </a:endParaRPr>
          </a:p>
        </p:txBody>
      </p:sp>
      <p:grpSp>
        <p:nvGrpSpPr>
          <p:cNvPr id="86" name="그룹 85"/>
          <p:cNvGrpSpPr/>
          <p:nvPr/>
        </p:nvGrpSpPr>
        <p:grpSpPr>
          <a:xfrm>
            <a:off x="3112794" y="3666333"/>
            <a:ext cx="91438" cy="45719"/>
            <a:chOff x="6812560" y="3297172"/>
            <a:chExt cx="94010" cy="47005"/>
          </a:xfrm>
        </p:grpSpPr>
        <p:cxnSp>
          <p:nvCxnSpPr>
            <p:cNvPr id="87" name="직선 연결선 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8" name="직선 연결선 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84" name="직사각형 83"/>
          <p:cNvSpPr/>
          <p:nvPr/>
        </p:nvSpPr>
        <p:spPr>
          <a:xfrm>
            <a:off x="8223250" y="27823"/>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2026-07-09 </a:t>
            </a:r>
            <a:r>
              <a:rPr lang="ko-KR" altLang="en-US" dirty="0" smtClean="0"/>
              <a:t>설명 추가</a:t>
            </a:r>
            <a:endParaRPr lang="ko-KR" altLang="en-US" dirty="0"/>
          </a:p>
        </p:txBody>
      </p:sp>
    </p:spTree>
    <p:extLst>
      <p:ext uri="{BB962C8B-B14F-4D97-AF65-F5344CB8AC3E}">
        <p14:creationId xmlns:p14="http://schemas.microsoft.com/office/powerpoint/2010/main" val="187727533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smtClean="0"/>
              <a:t>면허정보</a:t>
            </a:r>
            <a:r>
              <a:rPr lang="ko-KR" altLang="en-US" dirty="0" smtClean="0"/>
              <a:t> </a:t>
            </a:r>
            <a:r>
              <a:rPr lang="en-US" altLang="ko-KR" dirty="0"/>
              <a:t>input</a:t>
            </a:r>
            <a:r>
              <a:rPr lang="ko-KR" altLang="en-US" dirty="0"/>
              <a:t>으로 포커스 </a:t>
            </a:r>
            <a:r>
              <a:rPr lang="ko-KR" altLang="en-US" dirty="0" err="1"/>
              <a:t>자동이동</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활성화</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a:t>
            </a:r>
            <a:r>
              <a:rPr lang="ko-KR" altLang="en-US" dirty="0" smtClean="0"/>
              <a:t>동작</a:t>
            </a:r>
            <a:r>
              <a:rPr lang="en-US" altLang="ko-KR" dirty="0" smtClean="0"/>
              <a:t/>
            </a:r>
            <a:br>
              <a:rPr lang="en-US" altLang="ko-KR" dirty="0" smtClean="0"/>
            </a:br>
            <a:r>
              <a:rPr lang="en-US" altLang="ko-KR" dirty="0" smtClean="0"/>
              <a:t>- </a:t>
            </a:r>
            <a:r>
              <a:rPr lang="ko-KR" altLang="en-US" dirty="0" err="1" smtClean="0"/>
              <a:t>입력값</a:t>
            </a:r>
            <a:r>
              <a:rPr lang="ko-KR" altLang="en-US" dirty="0" smtClean="0"/>
              <a:t> </a:t>
            </a:r>
            <a:r>
              <a:rPr lang="ko-KR" altLang="en-US" dirty="0" err="1"/>
              <a:t>없는경우</a:t>
            </a:r>
            <a:r>
              <a:rPr lang="ko-KR" altLang="en-US" dirty="0"/>
              <a:t> 검색 버튼 비활성화</a:t>
            </a:r>
            <a:r>
              <a:rPr lang="en-US" altLang="ko-KR" dirty="0"/>
              <a:t/>
            </a:r>
            <a:br>
              <a:rPr lang="en-US" altLang="ko-KR" dirty="0"/>
            </a:br>
            <a:r>
              <a:rPr lang="en-US" altLang="ko-KR" dirty="0" smtClean="0"/>
              <a:t>- </a:t>
            </a:r>
            <a:r>
              <a:rPr lang="ko-KR" altLang="en-US" dirty="0"/>
              <a:t>특수문자 입력 </a:t>
            </a:r>
            <a:r>
              <a:rPr lang="ko-KR" altLang="en-US" dirty="0" smtClean="0"/>
              <a:t>불가</a:t>
            </a:r>
            <a:r>
              <a:rPr lang="en-US" altLang="ko-KR" dirty="0" smtClean="0"/>
              <a:t/>
            </a:r>
            <a:br>
              <a:rPr lang="en-US" altLang="ko-KR" dirty="0" smtClean="0"/>
            </a:br>
            <a:r>
              <a:rPr lang="en-US" altLang="ko-KR" dirty="0"/>
              <a:t>- </a:t>
            </a:r>
            <a:r>
              <a:rPr lang="ko-KR" altLang="en-US" dirty="0"/>
              <a:t>최소 </a:t>
            </a:r>
            <a:r>
              <a:rPr lang="en-US" altLang="ko-KR" dirty="0"/>
              <a:t>2</a:t>
            </a:r>
            <a:r>
              <a:rPr lang="ko-KR" altLang="en-US" dirty="0"/>
              <a:t>글자 이상 </a:t>
            </a:r>
            <a:r>
              <a:rPr lang="ko-KR" altLang="en-US" dirty="0" err="1"/>
              <a:t>입력시</a:t>
            </a:r>
            <a:r>
              <a:rPr lang="ko-KR" altLang="en-US" dirty="0"/>
              <a:t> 검색 </a:t>
            </a:r>
            <a:r>
              <a:rPr lang="ko-KR" altLang="en-US" dirty="0" smtClean="0"/>
              <a:t>가능</a:t>
            </a:r>
            <a:r>
              <a:rPr lang="en-US" altLang="ko-KR" dirty="0" smtClean="0"/>
              <a:t/>
            </a:r>
            <a:br>
              <a:rPr lang="en-US" altLang="ko-KR" dirty="0" smtClean="0"/>
            </a:br>
            <a:r>
              <a:rPr lang="en-US" altLang="ko-KR" dirty="0"/>
              <a:t>- enter </a:t>
            </a:r>
            <a:r>
              <a:rPr lang="ko-KR" altLang="en-US" dirty="0"/>
              <a:t>검색 </a:t>
            </a:r>
            <a:r>
              <a:rPr lang="ko-KR" altLang="en-US" dirty="0" smtClean="0"/>
              <a:t>가능</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a:t>
            </a:r>
            <a:r>
              <a:rPr lang="ko-KR" altLang="en-US" dirty="0" smtClean="0"/>
              <a:t>스크롤</a:t>
            </a:r>
            <a:r>
              <a:rPr lang="en-US" altLang="ko-KR" dirty="0"/>
              <a:t/>
            </a:r>
            <a:br>
              <a:rPr lang="en-US" altLang="ko-KR" dirty="0"/>
            </a:br>
            <a:r>
              <a:rPr lang="en-US" altLang="ko-KR" dirty="0"/>
              <a:t>- </a:t>
            </a:r>
            <a:r>
              <a:rPr lang="ko-KR" altLang="en-US" dirty="0"/>
              <a:t>검색 결과가 </a:t>
            </a:r>
            <a:r>
              <a:rPr lang="ko-KR" altLang="en-US" dirty="0" err="1"/>
              <a:t>많은경우</a:t>
            </a:r>
            <a:r>
              <a:rPr lang="ko-KR" altLang="en-US" dirty="0"/>
              <a:t> 무한 </a:t>
            </a:r>
            <a:r>
              <a:rPr lang="ko-KR" altLang="en-US" dirty="0" smtClean="0"/>
              <a:t>스크롤</a:t>
            </a:r>
            <a:r>
              <a:rPr lang="en-US" altLang="ko-KR" dirty="0" smtClean="0"/>
              <a:t/>
            </a:r>
            <a:br>
              <a:rPr lang="en-US" altLang="ko-KR" dirty="0" smtClean="0"/>
            </a:br>
            <a:r>
              <a:rPr lang="en-US" altLang="ko-KR" dirty="0" smtClean="0"/>
              <a:t>- </a:t>
            </a:r>
            <a:r>
              <a:rPr lang="ko-KR" altLang="en-US" dirty="0" err="1" smtClean="0"/>
              <a:t>면허코드</a:t>
            </a:r>
            <a:r>
              <a:rPr lang="ko-KR" altLang="en-US" dirty="0" smtClean="0"/>
              <a:t> </a:t>
            </a:r>
            <a:r>
              <a:rPr lang="en-US" altLang="ko-KR" dirty="0" smtClean="0"/>
              <a:t>: </a:t>
            </a:r>
            <a:r>
              <a:rPr lang="ko-KR" altLang="en-US" dirty="0" smtClean="0"/>
              <a:t>면허 코드 오름차순</a:t>
            </a:r>
            <a:r>
              <a:rPr lang="en-US" altLang="ko-KR" dirty="0" smtClean="0"/>
              <a:t/>
            </a:r>
            <a:br>
              <a:rPr lang="en-US" altLang="ko-KR" dirty="0" smtClean="0"/>
            </a:br>
            <a:r>
              <a:rPr lang="en-US" altLang="ko-KR" dirty="0"/>
              <a:t>- </a:t>
            </a:r>
            <a:r>
              <a:rPr lang="ko-KR" altLang="en-US" dirty="0" err="1" smtClean="0"/>
              <a:t>면허정보명</a:t>
            </a:r>
            <a:r>
              <a:rPr lang="ko-KR" altLang="en-US" dirty="0" smtClean="0"/>
              <a:t> </a:t>
            </a:r>
            <a:r>
              <a:rPr lang="ko-KR" altLang="en-US" dirty="0"/>
              <a:t>정렬</a:t>
            </a:r>
            <a:r>
              <a:rPr lang="en-US" altLang="ko-KR" dirty="0"/>
              <a:t> : </a:t>
            </a:r>
            <a:r>
              <a:rPr lang="ko-KR" altLang="en-US" dirty="0"/>
              <a:t>가나다 오름차순</a:t>
            </a:r>
            <a:r>
              <a:rPr lang="en-US" altLang="ko-KR" dirty="0">
                <a:solidFill>
                  <a:srgbClr val="FF0000"/>
                </a:solidFill>
              </a:rPr>
              <a:t/>
            </a:r>
            <a:br>
              <a:rPr lang="en-US" altLang="ko-KR" dirty="0">
                <a:solidFill>
                  <a:srgbClr val="FF0000"/>
                </a:solidFill>
              </a:rPr>
            </a:br>
            <a:r>
              <a:rPr lang="en-US" altLang="ko-KR" dirty="0"/>
              <a:t>- </a:t>
            </a:r>
            <a:r>
              <a:rPr lang="ko-KR" altLang="en-US" dirty="0"/>
              <a:t>면허정보명이 </a:t>
            </a:r>
            <a:r>
              <a:rPr lang="ko-KR" altLang="en-US" dirty="0" err="1"/>
              <a:t>긴경우</a:t>
            </a:r>
            <a:r>
              <a:rPr lang="ko-KR" altLang="en-US" dirty="0"/>
              <a:t> </a:t>
            </a:r>
            <a:r>
              <a:rPr lang="en-US" altLang="ko-KR" dirty="0"/>
              <a:t>(…) </a:t>
            </a:r>
            <a:r>
              <a:rPr lang="ko-KR" altLang="en-US" dirty="0" err="1"/>
              <a:t>말줄임</a:t>
            </a:r>
            <a:r>
              <a:rPr lang="ko-KR" altLang="en-US" dirty="0"/>
              <a:t> </a:t>
            </a:r>
            <a:r>
              <a:rPr lang="ko-KR" altLang="en-US" dirty="0" smtClean="0"/>
              <a:t>표시</a:t>
            </a:r>
            <a:r>
              <a:rPr lang="en-US" altLang="ko-KR" dirty="0" smtClean="0"/>
              <a:t/>
            </a:r>
            <a:br>
              <a:rPr lang="en-US" altLang="ko-KR" dirty="0" smtClean="0"/>
            </a:br>
            <a:r>
              <a:rPr lang="en-US" altLang="ko-KR" dirty="0" smtClean="0"/>
              <a:t>- </a:t>
            </a:r>
            <a:r>
              <a:rPr lang="ko-KR" altLang="en-US" dirty="0"/>
              <a:t>검색결과가 </a:t>
            </a:r>
            <a:r>
              <a:rPr lang="en-US" altLang="ko-KR" dirty="0"/>
              <a:t>0</a:t>
            </a:r>
            <a:r>
              <a:rPr lang="ko-KR" altLang="en-US" dirty="0"/>
              <a:t>건인 경우 </a:t>
            </a:r>
            <a:r>
              <a:rPr lang="en-US" altLang="ko-KR" dirty="0" smtClean="0"/>
              <a:t/>
            </a:r>
            <a:br>
              <a:rPr lang="en-US" altLang="ko-KR" dirty="0" smtClean="0"/>
            </a:br>
            <a:r>
              <a:rPr lang="en-US" altLang="ko-KR" dirty="0" smtClean="0"/>
              <a:t>“ </a:t>
            </a:r>
            <a:r>
              <a:rPr lang="ko-KR" altLang="en-US" dirty="0"/>
              <a:t>검색 결과가 없습니다</a:t>
            </a:r>
            <a:r>
              <a:rPr lang="en-US" altLang="ko-KR" dirty="0"/>
              <a:t>“ </a:t>
            </a:r>
            <a:r>
              <a:rPr lang="ko-KR" altLang="en-US" dirty="0" smtClean="0"/>
              <a:t>표시</a:t>
            </a:r>
            <a:r>
              <a:rPr lang="en-US" altLang="ko-KR" dirty="0"/>
              <a:t/>
            </a:r>
            <a:br>
              <a:rPr lang="en-US" altLang="ko-KR" dirty="0"/>
            </a:br>
            <a:r>
              <a:rPr lang="en-US" altLang="ko-KR" dirty="0" smtClean="0"/>
              <a:t>- </a:t>
            </a:r>
            <a:r>
              <a:rPr lang="ko-KR" altLang="en-US" dirty="0" smtClean="0"/>
              <a:t>면허 구분 </a:t>
            </a:r>
            <a:r>
              <a:rPr lang="ko-KR" altLang="en-US" dirty="0" err="1" smtClean="0"/>
              <a:t>변경시</a:t>
            </a:r>
            <a:r>
              <a:rPr lang="ko-KR" altLang="en-US" dirty="0" smtClean="0"/>
              <a:t> </a:t>
            </a:r>
            <a:r>
              <a:rPr lang="ko-KR" altLang="en-US" dirty="0" err="1" smtClean="0"/>
              <a:t>입력값</a:t>
            </a:r>
            <a:r>
              <a:rPr lang="ko-KR" altLang="en-US" dirty="0" smtClean="0"/>
              <a:t> 초기화</a:t>
            </a:r>
            <a:endParaRPr lang="en-US" altLang="ko-KR" dirty="0" smtClean="0"/>
          </a:p>
          <a:p>
            <a:pPr marL="228600" indent="-228600">
              <a:buFont typeface="+mj-lt"/>
              <a:buAutoNum type="arabicPeriod"/>
            </a:pPr>
            <a:r>
              <a:rPr lang="ko-KR" altLang="en-US" dirty="0" err="1" smtClean="0"/>
              <a:t>면허정보</a:t>
            </a:r>
            <a:r>
              <a:rPr lang="ko-KR" altLang="en-US" dirty="0" smtClean="0"/>
              <a:t> </a:t>
            </a:r>
            <a:r>
              <a:rPr lang="ko-KR" altLang="en-US" dirty="0"/>
              <a:t>선택 시 </a:t>
            </a:r>
            <a:r>
              <a:rPr lang="ko-KR" altLang="en-US" dirty="0" err="1"/>
              <a:t>바텀</a:t>
            </a:r>
            <a:r>
              <a:rPr lang="ko-KR" altLang="en-US" dirty="0"/>
              <a:t> 시트 </a:t>
            </a:r>
            <a:r>
              <a:rPr lang="ko-KR" altLang="en-US" dirty="0" smtClean="0"/>
              <a:t>닫힘</a:t>
            </a:r>
            <a:r>
              <a:rPr lang="en-US" altLang="ko-KR" dirty="0" smtClean="0"/>
              <a:t/>
            </a:r>
            <a:br>
              <a:rPr lang="en-US" altLang="ko-KR" dirty="0" smtClean="0"/>
            </a:br>
            <a:r>
              <a:rPr lang="en-US" altLang="ko-KR" dirty="0" smtClean="0"/>
              <a:t>- </a:t>
            </a:r>
            <a:r>
              <a:rPr lang="ko-KR" altLang="en-US" dirty="0" smtClean="0"/>
              <a:t>검색 결과 </a:t>
            </a:r>
            <a:r>
              <a:rPr lang="ko-KR" altLang="en-US" dirty="0" err="1" smtClean="0"/>
              <a:t>클릭시</a:t>
            </a:r>
            <a:r>
              <a:rPr lang="en-US" altLang="ko-KR" dirty="0" smtClean="0"/>
              <a:t>, </a:t>
            </a:r>
            <a:r>
              <a:rPr lang="ko-KR" altLang="en-US" dirty="0" err="1" smtClean="0"/>
              <a:t>검색창</a:t>
            </a:r>
            <a:r>
              <a:rPr lang="ko-KR" altLang="en-US" dirty="0" smtClean="0"/>
              <a:t> 닫음</a:t>
            </a:r>
            <a:r>
              <a:rPr lang="en-US" altLang="ko-KR" dirty="0" smtClean="0"/>
              <a:t>. </a:t>
            </a:r>
            <a:r>
              <a:rPr lang="ko-KR" altLang="en-US" dirty="0" err="1" smtClean="0"/>
              <a:t>검색필터에</a:t>
            </a:r>
            <a:r>
              <a:rPr lang="ko-KR" altLang="en-US" dirty="0" smtClean="0"/>
              <a:t> </a:t>
            </a:r>
            <a:r>
              <a:rPr lang="ko-KR" altLang="en-US" dirty="0" err="1" smtClean="0"/>
              <a:t>면허정보명</a:t>
            </a:r>
            <a:r>
              <a:rPr lang="en-US" altLang="ko-KR" dirty="0"/>
              <a:t> </a:t>
            </a:r>
            <a:r>
              <a:rPr lang="ko-KR" altLang="en-US" dirty="0" smtClean="0"/>
              <a:t>반영</a:t>
            </a:r>
            <a:r>
              <a:rPr lang="en-US" altLang="ko-KR" dirty="0" smtClean="0"/>
              <a:t>.</a:t>
            </a:r>
            <a:br>
              <a:rPr lang="en-US" altLang="ko-KR" dirty="0" smtClean="0"/>
            </a:br>
            <a:r>
              <a:rPr lang="en-US" altLang="ko-KR" dirty="0" smtClean="0"/>
              <a:t>- </a:t>
            </a:r>
            <a:r>
              <a:rPr lang="ko-KR" altLang="en-US" dirty="0" smtClean="0"/>
              <a:t>닫기</a:t>
            </a:r>
            <a:r>
              <a:rPr lang="en-US" altLang="ko-KR" dirty="0" smtClean="0"/>
              <a:t>(X) </a:t>
            </a:r>
            <a:r>
              <a:rPr lang="ko-KR" altLang="en-US" dirty="0" err="1" smtClean="0"/>
              <a:t>클릭시</a:t>
            </a:r>
            <a:r>
              <a:rPr lang="ko-KR" altLang="en-US" dirty="0" smtClean="0"/>
              <a:t> </a:t>
            </a:r>
            <a:r>
              <a:rPr lang="ko-KR" altLang="en-US" dirty="0" err="1" smtClean="0"/>
              <a:t>입력값</a:t>
            </a:r>
            <a:r>
              <a:rPr lang="ko-KR" altLang="en-US" dirty="0" smtClean="0"/>
              <a:t> 초기화</a:t>
            </a:r>
            <a:r>
              <a:rPr lang="en-US" altLang="ko-KR" dirty="0" smtClean="0"/>
              <a:t/>
            </a:r>
            <a:br>
              <a:rPr lang="en-US" altLang="ko-KR" dirty="0" smtClean="0"/>
            </a:br>
            <a:r>
              <a:rPr lang="en-US" altLang="ko-KR" dirty="0" smtClean="0"/>
              <a:t/>
            </a:r>
            <a:br>
              <a:rPr lang="en-US" altLang="ko-KR" dirty="0" smtClean="0"/>
            </a:br>
            <a:r>
              <a:rPr lang="ko-KR" altLang="en-US" dirty="0" smtClean="0"/>
              <a:t> </a:t>
            </a:r>
            <a:r>
              <a:rPr lang="en-US" altLang="ko-KR" dirty="0" smtClean="0"/>
              <a:t> </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smtClean="0">
                <a:latin typeface="+mn-ea"/>
              </a:rPr>
              <a:t>면허정보검색</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면허정보</a:t>
            </a:r>
            <a:r>
              <a:rPr lang="ko-KR" altLang="en-US" dirty="0"/>
              <a:t> 검색을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 </a:t>
            </a:r>
            <a:r>
              <a:rPr lang="en-US" altLang="ko-KR" dirty="0">
                <a:latin typeface="+mn-ea"/>
              </a:rPr>
              <a:t>&gt; </a:t>
            </a:r>
            <a:r>
              <a:rPr lang="ko-KR" altLang="en-US" dirty="0">
                <a:latin typeface="+mn-ea"/>
              </a:rPr>
              <a:t>면허정보검색</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MUI-BD-01-P05</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82" name="그룹 281"/>
          <p:cNvGrpSpPr/>
          <p:nvPr/>
        </p:nvGrpSpPr>
        <p:grpSpPr>
          <a:xfrm>
            <a:off x="6258712" y="1650089"/>
            <a:ext cx="94010" cy="94010"/>
            <a:chOff x="6812560" y="3297172"/>
            <a:chExt cx="94010" cy="94010"/>
          </a:xfrm>
        </p:grpSpPr>
        <p:cxnSp>
          <p:nvCxnSpPr>
            <p:cNvPr id="286" name="직선 연결선 2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87" name="직선 연결선 2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88" name="타원 2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4" name="TextBox 293">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면허정보</a:t>
            </a:r>
            <a:r>
              <a:rPr lang="ko-KR" altLang="en-US" sz="900" dirty="0">
                <a:latin typeface="+mn-ea"/>
              </a:rPr>
              <a:t> 검색</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2653963"/>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식품</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2722276"/>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2987678"/>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err="1">
                <a:latin typeface="+mn-ea"/>
              </a:rPr>
              <a:t>면허정보</a:t>
            </a:r>
            <a:r>
              <a:rPr lang="ko-KR" altLang="en-US" sz="900" dirty="0">
                <a:latin typeface="+mn-ea"/>
              </a:rPr>
              <a:t>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모서리가 둥근 직사각형 168"/>
          <p:cNvSpPr/>
          <p:nvPr/>
        </p:nvSpPr>
        <p:spPr>
          <a:xfrm>
            <a:off x="1443878" y="3862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정보를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804476" y="3930637"/>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177" name="사각형: 둥근 모서리 15">
            <a:extLst>
              <a:ext uri="{FF2B5EF4-FFF2-40B4-BE49-F238E27FC236}">
                <a16:creationId xmlns:a16="http://schemas.microsoft.com/office/drawing/2014/main" id="{E2B61CFB-AD16-68D0-8752-50D9C5E01971}"/>
              </a:ext>
            </a:extLst>
          </p:cNvPr>
          <p:cNvSpPr/>
          <p:nvPr/>
        </p:nvSpPr>
        <p:spPr>
          <a:xfrm>
            <a:off x="767702" y="4196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3" name="그룹 2"/>
          <p:cNvGrpSpPr/>
          <p:nvPr/>
        </p:nvGrpSpPr>
        <p:grpSpPr>
          <a:xfrm>
            <a:off x="3112794" y="3900610"/>
            <a:ext cx="145884" cy="145882"/>
            <a:chOff x="3112794" y="3984500"/>
            <a:chExt cx="145884" cy="145882"/>
          </a:xfrm>
        </p:grpSpPr>
        <p:sp>
          <p:nvSpPr>
            <p:cNvPr id="310" name="타원 309"/>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1" name="그룹 310"/>
            <p:cNvGrpSpPr/>
            <p:nvPr/>
          </p:nvGrpSpPr>
          <p:grpSpPr>
            <a:xfrm>
              <a:off x="3156699" y="4028404"/>
              <a:ext cx="58075" cy="58074"/>
              <a:chOff x="6812560" y="3297172"/>
              <a:chExt cx="94010" cy="94010"/>
            </a:xfrm>
          </p:grpSpPr>
          <p:cxnSp>
            <p:nvCxnSpPr>
              <p:cNvPr id="312" name="직선 연결선 31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314" name="타원 313"/>
          <p:cNvSpPr/>
          <p:nvPr/>
        </p:nvSpPr>
        <p:spPr>
          <a:xfrm>
            <a:off x="6240768" y="269678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2740688"/>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33710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3478112"/>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24811" y="3766913"/>
            <a:ext cx="670770" cy="107722"/>
          </a:xfrm>
          <a:prstGeom prst="rect">
            <a:avLst/>
          </a:prstGeom>
          <a:noFill/>
        </p:spPr>
        <p:txBody>
          <a:bodyPr wrap="square" lIns="0" tIns="0" rIns="0" bIns="0" rtlCol="0">
            <a:spAutoFit/>
          </a:bodyPr>
          <a:lstStyle/>
          <a:p>
            <a:r>
              <a:rPr lang="ko-KR" altLang="en-US" sz="700" b="1" dirty="0" err="1">
                <a:latin typeface="+mn-ea"/>
              </a:rPr>
              <a:t>면허코드</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4564213" y="3766913"/>
            <a:ext cx="670770" cy="107722"/>
          </a:xfrm>
          <a:prstGeom prst="rect">
            <a:avLst/>
          </a:prstGeom>
          <a:noFill/>
        </p:spPr>
        <p:txBody>
          <a:bodyPr wrap="square" lIns="0" tIns="0" rIns="0" bIns="0" rtlCol="0">
            <a:spAutoFit/>
          </a:bodyPr>
          <a:lstStyle/>
          <a:p>
            <a:r>
              <a:rPr lang="ko-KR" altLang="en-US" sz="700" b="1" dirty="0" err="1">
                <a:latin typeface="+mn-ea"/>
              </a:rPr>
              <a:t>면허정보명</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36536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39723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3924811" y="3983744"/>
            <a:ext cx="670770" cy="2154436"/>
          </a:xfrm>
          <a:prstGeom prst="rect">
            <a:avLst/>
          </a:prstGeom>
          <a:noFill/>
        </p:spPr>
        <p:txBody>
          <a:bodyPr wrap="square" lIns="0" tIns="0" rIns="0" bIns="0" rtlCol="0">
            <a:spAutoFit/>
          </a:bodyPr>
          <a:lstStyle/>
          <a:p>
            <a:pPr>
              <a:lnSpc>
                <a:spcPct val="200000"/>
              </a:lnSpc>
            </a:pPr>
            <a:r>
              <a:rPr lang="en-US" altLang="ko-KR" sz="700" dirty="0">
                <a:latin typeface="+mn-ea"/>
              </a:rPr>
              <a:t>1399</a:t>
            </a:r>
          </a:p>
          <a:p>
            <a:pPr>
              <a:lnSpc>
                <a:spcPct val="200000"/>
              </a:lnSpc>
            </a:pPr>
            <a:r>
              <a:rPr lang="en-US" altLang="ko-KR" sz="700" dirty="0">
                <a:latin typeface="+mn-ea"/>
              </a:rPr>
              <a:t>8203</a:t>
            </a:r>
          </a:p>
          <a:p>
            <a:pPr>
              <a:lnSpc>
                <a:spcPct val="200000"/>
              </a:lnSpc>
            </a:pPr>
            <a:r>
              <a:rPr lang="en-US" altLang="ko-KR" sz="700" dirty="0">
                <a:latin typeface="+mn-ea"/>
              </a:rPr>
              <a:t>3975</a:t>
            </a:r>
          </a:p>
          <a:p>
            <a:pPr>
              <a:lnSpc>
                <a:spcPct val="200000"/>
              </a:lnSpc>
            </a:pPr>
            <a:r>
              <a:rPr lang="en-US" altLang="ko-KR" sz="700" dirty="0">
                <a:latin typeface="+mn-ea"/>
              </a:rPr>
              <a:t>1450</a:t>
            </a:r>
          </a:p>
          <a:p>
            <a:pPr>
              <a:lnSpc>
                <a:spcPct val="200000"/>
              </a:lnSpc>
            </a:pPr>
            <a:r>
              <a:rPr lang="en-US" altLang="ko-KR" sz="700" dirty="0">
                <a:latin typeface="+mn-ea"/>
              </a:rPr>
              <a:t>3934</a:t>
            </a:r>
          </a:p>
          <a:p>
            <a:pPr>
              <a:lnSpc>
                <a:spcPct val="200000"/>
              </a:lnSpc>
            </a:pPr>
            <a:r>
              <a:rPr lang="en-US" altLang="ko-KR" sz="700" dirty="0">
                <a:latin typeface="+mn-ea"/>
              </a:rPr>
              <a:t>3972</a:t>
            </a:r>
          </a:p>
          <a:p>
            <a:pPr>
              <a:lnSpc>
                <a:spcPct val="200000"/>
              </a:lnSpc>
            </a:pPr>
            <a:r>
              <a:rPr lang="en-US" altLang="ko-KR" sz="700" dirty="0">
                <a:latin typeface="+mn-ea"/>
              </a:rPr>
              <a:t>3973</a:t>
            </a:r>
          </a:p>
          <a:p>
            <a:pPr>
              <a:lnSpc>
                <a:spcPct val="200000"/>
              </a:lnSpc>
            </a:pPr>
            <a:r>
              <a:rPr lang="en-US" altLang="ko-KR" sz="700" dirty="0">
                <a:latin typeface="+mn-ea"/>
              </a:rPr>
              <a:t>3974</a:t>
            </a:r>
          </a:p>
          <a:p>
            <a:pPr>
              <a:lnSpc>
                <a:spcPct val="200000"/>
              </a:lnSpc>
            </a:pPr>
            <a:r>
              <a:rPr lang="en-US" altLang="ko-KR" sz="700" dirty="0">
                <a:latin typeface="+mn-ea"/>
              </a:rPr>
              <a:t>3976</a:t>
            </a:r>
          </a:p>
          <a:p>
            <a:pPr>
              <a:lnSpc>
                <a:spcPct val="200000"/>
              </a:lnSpc>
            </a:pPr>
            <a:r>
              <a:rPr lang="en-US" altLang="ko-KR" sz="700" dirty="0">
                <a:latin typeface="+mn-ea"/>
              </a:rPr>
              <a:t>5201</a:t>
            </a:r>
          </a:p>
        </p:txBody>
      </p:sp>
      <p:sp>
        <p:nvSpPr>
          <p:cNvPr id="325" name="TextBox 324">
            <a:extLst>
              <a:ext uri="{FF2B5EF4-FFF2-40B4-BE49-F238E27FC236}">
                <a16:creationId xmlns:a16="http://schemas.microsoft.com/office/drawing/2014/main" id="{FFC49AEA-2A8F-250C-A86A-A7751D9706C3}"/>
              </a:ext>
            </a:extLst>
          </p:cNvPr>
          <p:cNvSpPr txBox="1"/>
          <p:nvPr/>
        </p:nvSpPr>
        <p:spPr>
          <a:xfrm>
            <a:off x="4564213" y="3983744"/>
            <a:ext cx="1814470" cy="2154436"/>
          </a:xfrm>
          <a:prstGeom prst="rect">
            <a:avLst/>
          </a:prstGeom>
          <a:noFill/>
        </p:spPr>
        <p:txBody>
          <a:bodyPr wrap="square" lIns="0" tIns="0" rIns="0" bIns="0" rtlCol="0">
            <a:spAutoFit/>
          </a:bodyPr>
          <a:lstStyle/>
          <a:p>
            <a:pPr>
              <a:lnSpc>
                <a:spcPct val="200000"/>
              </a:lnSpc>
            </a:pPr>
            <a:r>
              <a:rPr lang="ko-KR" altLang="en-US" sz="700" dirty="0">
                <a:latin typeface="+mn-ea"/>
              </a:rPr>
              <a:t>식품제조 가공업</a:t>
            </a:r>
            <a:endParaRPr lang="en-US" altLang="ko-KR" sz="700" dirty="0">
              <a:latin typeface="+mn-ea"/>
            </a:endParaRPr>
          </a:p>
          <a:p>
            <a:pPr>
              <a:lnSpc>
                <a:spcPct val="200000"/>
              </a:lnSpc>
            </a:pPr>
            <a:r>
              <a:rPr lang="ko-KR" altLang="en-US" sz="700" dirty="0">
                <a:latin typeface="+mn-ea"/>
              </a:rPr>
              <a:t>식품 등 시험검사기관 </a:t>
            </a:r>
            <a:r>
              <a:rPr lang="en-US" altLang="ko-KR" sz="700" dirty="0">
                <a:latin typeface="+mn-ea"/>
              </a:rPr>
              <a:t>(</a:t>
            </a:r>
            <a:r>
              <a:rPr lang="ko-KR" altLang="en-US" sz="700" dirty="0">
                <a:latin typeface="+mn-ea"/>
              </a:rPr>
              <a:t>식품안전관리인증검사</a:t>
            </a:r>
            <a:r>
              <a:rPr lang="en-US" altLang="ko-KR" sz="700" dirty="0">
                <a:latin typeface="+mn-ea"/>
              </a:rPr>
              <a:t>)</a:t>
            </a:r>
          </a:p>
          <a:p>
            <a:pPr>
              <a:lnSpc>
                <a:spcPct val="200000"/>
              </a:lnSpc>
            </a:pPr>
            <a:r>
              <a:rPr lang="ko-KR" altLang="en-US" sz="700" dirty="0">
                <a:latin typeface="+mn-ea"/>
              </a:rPr>
              <a:t>우수식품인증기관 </a:t>
            </a:r>
            <a:r>
              <a:rPr lang="en-US" altLang="ko-KR" sz="700" dirty="0">
                <a:latin typeface="+mn-ea"/>
              </a:rPr>
              <a:t>(</a:t>
            </a:r>
            <a:r>
              <a:rPr lang="ko-KR" altLang="en-US" sz="700" dirty="0">
                <a:latin typeface="+mn-ea"/>
              </a:rPr>
              <a:t>전통식품품질인증</a:t>
            </a:r>
            <a:r>
              <a:rPr lang="en-US" altLang="ko-KR" sz="700" dirty="0">
                <a:latin typeface="+mn-ea"/>
              </a:rPr>
              <a:t>)</a:t>
            </a:r>
          </a:p>
          <a:p>
            <a:pPr>
              <a:lnSpc>
                <a:spcPct val="200000"/>
              </a:lnSpc>
            </a:pPr>
            <a:r>
              <a:rPr lang="ko-KR" altLang="en-US" sz="700" dirty="0" err="1">
                <a:latin typeface="+mn-ea"/>
              </a:rPr>
              <a:t>식품접객업</a:t>
            </a:r>
            <a:r>
              <a:rPr lang="ko-KR" altLang="en-US" sz="700" dirty="0">
                <a:latin typeface="+mn-ea"/>
              </a:rPr>
              <a:t> </a:t>
            </a:r>
            <a:r>
              <a:rPr lang="en-US" altLang="ko-KR" sz="700" dirty="0">
                <a:latin typeface="+mn-ea"/>
              </a:rPr>
              <a:t>(</a:t>
            </a:r>
            <a:r>
              <a:rPr lang="ko-KR" altLang="en-US" sz="700" dirty="0" err="1">
                <a:latin typeface="+mn-ea"/>
              </a:rPr>
              <a:t>위탁급식업</a:t>
            </a:r>
            <a:r>
              <a:rPr lang="en-US" altLang="ko-KR" sz="700" dirty="0">
                <a:latin typeface="+mn-ea"/>
              </a:rPr>
              <a:t>)</a:t>
            </a:r>
          </a:p>
          <a:p>
            <a:pPr>
              <a:lnSpc>
                <a:spcPct val="200000"/>
              </a:lnSpc>
            </a:pPr>
            <a:r>
              <a:rPr lang="ko-KR" altLang="en-US" sz="700" dirty="0" err="1">
                <a:latin typeface="+mn-ea"/>
              </a:rPr>
              <a:t>유기식품등</a:t>
            </a:r>
            <a:r>
              <a:rPr lang="ko-KR" altLang="en-US" sz="700" dirty="0">
                <a:latin typeface="+mn-ea"/>
              </a:rPr>
              <a:t> 인증기관</a:t>
            </a:r>
            <a:endParaRPr lang="en-US" altLang="ko-KR" sz="700" dirty="0">
              <a:latin typeface="+mn-ea"/>
            </a:endParaRPr>
          </a:p>
          <a:p>
            <a:pPr>
              <a:lnSpc>
                <a:spcPct val="200000"/>
              </a:lnSpc>
            </a:pPr>
            <a:r>
              <a:rPr lang="ko-KR" altLang="en-US" sz="700" dirty="0">
                <a:latin typeface="+mn-ea"/>
              </a:rPr>
              <a:t>식품산업전문인력양성기관</a:t>
            </a:r>
            <a:endParaRPr lang="en-US" altLang="ko-KR" sz="700" dirty="0">
              <a:latin typeface="+mn-ea"/>
            </a:endParaRPr>
          </a:p>
          <a:p>
            <a:pPr>
              <a:lnSpc>
                <a:spcPct val="200000"/>
              </a:lnSpc>
            </a:pPr>
            <a:r>
              <a:rPr lang="ko-KR" altLang="en-US" sz="700" dirty="0" err="1">
                <a:latin typeface="+mn-ea"/>
              </a:rPr>
              <a:t>식품성분</a:t>
            </a:r>
            <a:r>
              <a:rPr lang="ko-KR" altLang="en-US" sz="700" dirty="0">
                <a:latin typeface="+mn-ea"/>
              </a:rPr>
              <a:t> 조사 연구기관</a:t>
            </a:r>
            <a:endParaRPr lang="en-US" altLang="ko-KR" sz="700" dirty="0">
              <a:latin typeface="+mn-ea"/>
            </a:endParaRPr>
          </a:p>
          <a:p>
            <a:pPr>
              <a:lnSpc>
                <a:spcPct val="200000"/>
              </a:lnSpc>
            </a:pPr>
            <a:r>
              <a:rPr lang="ko-KR" altLang="en-US" sz="700" dirty="0">
                <a:latin typeface="+mn-ea"/>
              </a:rPr>
              <a:t>우수식품인증기관</a:t>
            </a:r>
            <a:r>
              <a:rPr lang="en-US" altLang="ko-KR" sz="700" dirty="0">
                <a:latin typeface="+mn-ea"/>
              </a:rPr>
              <a:t>(</a:t>
            </a:r>
            <a:r>
              <a:rPr lang="ko-KR" altLang="en-US" sz="700" dirty="0">
                <a:latin typeface="+mn-ea"/>
              </a:rPr>
              <a:t>식품산업표준인증</a:t>
            </a:r>
            <a:r>
              <a:rPr lang="en-US" altLang="ko-KR" sz="700" dirty="0">
                <a:latin typeface="+mn-ea"/>
              </a:rPr>
              <a:t>)</a:t>
            </a:r>
          </a:p>
          <a:p>
            <a:pPr>
              <a:lnSpc>
                <a:spcPct val="200000"/>
              </a:lnSpc>
            </a:pPr>
            <a:r>
              <a:rPr lang="ko-KR" altLang="en-US" sz="700" dirty="0">
                <a:latin typeface="+mn-ea"/>
              </a:rPr>
              <a:t>우수식품인증기관</a:t>
            </a:r>
            <a:r>
              <a:rPr lang="en-US" altLang="ko-KR" sz="700" dirty="0">
                <a:latin typeface="+mn-ea"/>
              </a:rPr>
              <a:t>(</a:t>
            </a:r>
            <a:r>
              <a:rPr lang="ko-KR" altLang="en-US" sz="700" dirty="0">
                <a:latin typeface="+mn-ea"/>
              </a:rPr>
              <a:t>유기가공식품인증</a:t>
            </a:r>
            <a:r>
              <a:rPr lang="en-US" altLang="ko-KR" sz="700" dirty="0">
                <a:latin typeface="+mn-ea"/>
              </a:rPr>
              <a:t>)</a:t>
            </a:r>
          </a:p>
          <a:p>
            <a:pPr>
              <a:lnSpc>
                <a:spcPct val="200000"/>
              </a:lnSpc>
            </a:pPr>
            <a:r>
              <a:rPr lang="ko-KR" altLang="en-US" sz="700" dirty="0">
                <a:latin typeface="+mn-ea"/>
              </a:rPr>
              <a:t>식품 즉석판매제조 가공업</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4214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4428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46422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9" name="직선 연결선 328">
            <a:extLst>
              <a:ext uri="{FF2B5EF4-FFF2-40B4-BE49-F238E27FC236}">
                <a16:creationId xmlns:a16="http://schemas.microsoft.com/office/drawing/2014/main" id="{E9293055-D5CD-4B9E-7F64-64B2D2CA7A52}"/>
              </a:ext>
            </a:extLst>
          </p:cNvPr>
          <p:cNvCxnSpPr/>
          <p:nvPr/>
        </p:nvCxnSpPr>
        <p:spPr>
          <a:xfrm>
            <a:off x="3837747" y="48559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0" name="직선 연결선 329">
            <a:extLst>
              <a:ext uri="{FF2B5EF4-FFF2-40B4-BE49-F238E27FC236}">
                <a16:creationId xmlns:a16="http://schemas.microsoft.com/office/drawing/2014/main" id="{E9293055-D5CD-4B9E-7F64-64B2D2CA7A52}"/>
              </a:ext>
            </a:extLst>
          </p:cNvPr>
          <p:cNvCxnSpPr/>
          <p:nvPr/>
        </p:nvCxnSpPr>
        <p:spPr>
          <a:xfrm>
            <a:off x="3837747" y="5069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1" name="직선 연결선 330">
            <a:extLst>
              <a:ext uri="{FF2B5EF4-FFF2-40B4-BE49-F238E27FC236}">
                <a16:creationId xmlns:a16="http://schemas.microsoft.com/office/drawing/2014/main" id="{E9293055-D5CD-4B9E-7F64-64B2D2CA7A52}"/>
              </a:ext>
            </a:extLst>
          </p:cNvPr>
          <p:cNvCxnSpPr/>
          <p:nvPr/>
        </p:nvCxnSpPr>
        <p:spPr>
          <a:xfrm>
            <a:off x="3837747" y="5283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2" name="직선 연결선 331">
            <a:extLst>
              <a:ext uri="{FF2B5EF4-FFF2-40B4-BE49-F238E27FC236}">
                <a16:creationId xmlns:a16="http://schemas.microsoft.com/office/drawing/2014/main" id="{E9293055-D5CD-4B9E-7F64-64B2D2CA7A52}"/>
              </a:ext>
            </a:extLst>
          </p:cNvPr>
          <p:cNvCxnSpPr/>
          <p:nvPr/>
        </p:nvCxnSpPr>
        <p:spPr>
          <a:xfrm>
            <a:off x="3837747" y="5497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3" name="직선 연결선 332">
            <a:extLst>
              <a:ext uri="{FF2B5EF4-FFF2-40B4-BE49-F238E27FC236}">
                <a16:creationId xmlns:a16="http://schemas.microsoft.com/office/drawing/2014/main" id="{E9293055-D5CD-4B9E-7F64-64B2D2CA7A52}"/>
              </a:ext>
            </a:extLst>
          </p:cNvPr>
          <p:cNvCxnSpPr/>
          <p:nvPr/>
        </p:nvCxnSpPr>
        <p:spPr>
          <a:xfrm>
            <a:off x="3837747" y="571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4" name="직선 연결선 333">
            <a:extLst>
              <a:ext uri="{FF2B5EF4-FFF2-40B4-BE49-F238E27FC236}">
                <a16:creationId xmlns:a16="http://schemas.microsoft.com/office/drawing/2014/main" id="{E9293055-D5CD-4B9E-7F64-64B2D2CA7A52}"/>
              </a:ext>
            </a:extLst>
          </p:cNvPr>
          <p:cNvCxnSpPr/>
          <p:nvPr/>
        </p:nvCxnSpPr>
        <p:spPr>
          <a:xfrm>
            <a:off x="3837747" y="5924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5" name="직선 연결선 334">
            <a:extLst>
              <a:ext uri="{FF2B5EF4-FFF2-40B4-BE49-F238E27FC236}">
                <a16:creationId xmlns:a16="http://schemas.microsoft.com/office/drawing/2014/main" id="{E9293055-D5CD-4B9E-7F64-64B2D2CA7A52}"/>
              </a:ext>
            </a:extLst>
          </p:cNvPr>
          <p:cNvCxnSpPr/>
          <p:nvPr/>
        </p:nvCxnSpPr>
        <p:spPr>
          <a:xfrm>
            <a:off x="3837747" y="6138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32467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6855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401005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344145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42038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78" name="모서리가 둥근 직사각형 77"/>
          <p:cNvSpPr/>
          <p:nvPr/>
        </p:nvSpPr>
        <p:spPr>
          <a:xfrm>
            <a:off x="1443878" y="3560849"/>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tx1"/>
                </a:solidFill>
              </a:rPr>
              <a:t>면허코드</a:t>
            </a:r>
            <a:endParaRPr lang="ko-KR" altLang="en-US" sz="700" dirty="0">
              <a:solidFill>
                <a:schemeClr val="tx1"/>
              </a:solidFill>
            </a:endParaRPr>
          </a:p>
        </p:txBody>
      </p:sp>
      <p:sp>
        <p:nvSpPr>
          <p:cNvPr id="79" name="TextBox 78">
            <a:extLst>
              <a:ext uri="{FF2B5EF4-FFF2-40B4-BE49-F238E27FC236}">
                <a16:creationId xmlns:a16="http://schemas.microsoft.com/office/drawing/2014/main" id="{FFC49AEA-2A8F-250C-A86A-A7751D9706C3}"/>
              </a:ext>
            </a:extLst>
          </p:cNvPr>
          <p:cNvSpPr txBox="1"/>
          <p:nvPr/>
        </p:nvSpPr>
        <p:spPr>
          <a:xfrm>
            <a:off x="804476" y="3629162"/>
            <a:ext cx="670770" cy="107722"/>
          </a:xfrm>
          <a:prstGeom prst="rect">
            <a:avLst/>
          </a:prstGeom>
          <a:noFill/>
        </p:spPr>
        <p:txBody>
          <a:bodyPr wrap="square" lIns="0" tIns="0" rIns="0" bIns="0" rtlCol="0">
            <a:spAutoFit/>
          </a:bodyPr>
          <a:lstStyle/>
          <a:p>
            <a:r>
              <a:rPr lang="ko-KR" altLang="en-US" sz="700" dirty="0">
                <a:latin typeface="+mn-ea"/>
              </a:rPr>
              <a:t>구분</a:t>
            </a:r>
            <a:endParaRPr lang="en-US" altLang="ko-KR" sz="700" dirty="0">
              <a:latin typeface="+mn-ea"/>
            </a:endParaRPr>
          </a:p>
        </p:txBody>
      </p:sp>
      <p:grpSp>
        <p:nvGrpSpPr>
          <p:cNvPr id="86" name="그룹 85"/>
          <p:cNvGrpSpPr/>
          <p:nvPr/>
        </p:nvGrpSpPr>
        <p:grpSpPr>
          <a:xfrm>
            <a:off x="3112794" y="3666333"/>
            <a:ext cx="91438" cy="45719"/>
            <a:chOff x="6812560" y="3297172"/>
            <a:chExt cx="94010" cy="47005"/>
          </a:xfrm>
        </p:grpSpPr>
        <p:cxnSp>
          <p:nvCxnSpPr>
            <p:cNvPr id="87" name="직선 연결선 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8" name="직선 연결선 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84" name="직사각형 83"/>
          <p:cNvSpPr/>
          <p:nvPr/>
        </p:nvSpPr>
        <p:spPr>
          <a:xfrm>
            <a:off x="8223250" y="2359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2026-07-09 </a:t>
            </a:r>
            <a:r>
              <a:rPr lang="ko-KR" altLang="en-US" dirty="0" smtClean="0"/>
              <a:t>설명 추가</a:t>
            </a:r>
            <a:endParaRPr lang="ko-KR" altLang="en-US" dirty="0"/>
          </a:p>
        </p:txBody>
      </p:sp>
      <p:sp>
        <p:nvSpPr>
          <p:cNvPr id="85" name="직사각형 84"/>
          <p:cNvSpPr/>
          <p:nvPr/>
        </p:nvSpPr>
        <p:spPr>
          <a:xfrm>
            <a:off x="9906000" y="2359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지역명</a:t>
            </a:r>
            <a:r>
              <a:rPr lang="en-US" altLang="ko-KR" sz="700" dirty="0" smtClean="0"/>
              <a:t> </a:t>
            </a:r>
            <a:r>
              <a:rPr lang="ko-KR" altLang="en-US" sz="700" dirty="0" smtClean="0"/>
              <a:t>단순</a:t>
            </a:r>
            <a:r>
              <a:rPr lang="en-US" altLang="ko-KR" sz="700" dirty="0" smtClean="0"/>
              <a:t>like</a:t>
            </a:r>
            <a:r>
              <a:rPr lang="ko-KR" altLang="en-US" sz="700" dirty="0" smtClean="0"/>
              <a:t>검색으로 변경</a:t>
            </a:r>
            <a:endParaRPr lang="ko-KR" altLang="en-US" sz="700" dirty="0"/>
          </a:p>
        </p:txBody>
      </p:sp>
    </p:spTree>
    <p:extLst>
      <p:ext uri="{BB962C8B-B14F-4D97-AF65-F5344CB8AC3E}">
        <p14:creationId xmlns:p14="http://schemas.microsoft.com/office/powerpoint/2010/main" val="54601806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날짜 설정 </a:t>
            </a:r>
            <a:r>
              <a:rPr lang="ko-KR" altLang="en-US" dirty="0" err="1"/>
              <a:t>바텀</a:t>
            </a:r>
            <a:r>
              <a:rPr lang="ko-KR" altLang="en-US" dirty="0"/>
              <a:t> 시트 캘린더 표시</a:t>
            </a:r>
            <a:r>
              <a:rPr lang="en-US" altLang="ko-KR" dirty="0"/>
              <a:t/>
            </a:r>
            <a:br>
              <a:rPr lang="en-US" altLang="ko-KR" dirty="0"/>
            </a:br>
            <a:r>
              <a:rPr lang="en-US" altLang="ko-KR" dirty="0"/>
              <a:t>- </a:t>
            </a:r>
            <a:r>
              <a:rPr lang="ko-KR" altLang="en-US" dirty="0"/>
              <a:t>오늘 날짜 기본 선택</a:t>
            </a:r>
            <a:r>
              <a:rPr lang="en-US" altLang="ko-KR" dirty="0"/>
              <a:t/>
            </a:r>
            <a:br>
              <a:rPr lang="en-US" altLang="ko-KR" dirty="0"/>
            </a:br>
            <a:r>
              <a:rPr lang="en-US" altLang="ko-KR" dirty="0"/>
              <a:t>- </a:t>
            </a:r>
            <a:r>
              <a:rPr lang="ko-KR" altLang="en-US" dirty="0"/>
              <a:t>저장 선택 시 날짜 반영</a:t>
            </a:r>
            <a:r>
              <a:rPr lang="en-US" altLang="ko-KR" dirty="0"/>
              <a:t/>
            </a:r>
            <a:br>
              <a:rPr lang="en-US" altLang="ko-KR" dirty="0"/>
            </a:br>
            <a:r>
              <a:rPr lang="en-US" altLang="ko-KR" dirty="0"/>
              <a:t>- </a:t>
            </a:r>
            <a:r>
              <a:rPr lang="ko-KR" altLang="en-US" dirty="0"/>
              <a:t>연월 선택 시 연월 다이얼 선택 화면 전환</a:t>
            </a:r>
            <a:endParaRPr lang="en-US" altLang="ko-KR" dirty="0"/>
          </a:p>
          <a:p>
            <a:pPr marL="228600" indent="-228600">
              <a:buFont typeface="+mj-lt"/>
              <a:buAutoNum type="arabicPeriod"/>
            </a:pPr>
            <a:r>
              <a:rPr lang="ko-KR" altLang="en-US" dirty="0"/>
              <a:t>연</a:t>
            </a:r>
            <a:r>
              <a:rPr lang="en-US" altLang="ko-KR" dirty="0"/>
              <a:t>, </a:t>
            </a:r>
            <a:r>
              <a:rPr lang="ko-KR" altLang="en-US" dirty="0"/>
              <a:t>월 선택 시 연도</a:t>
            </a:r>
            <a:r>
              <a:rPr lang="en-US" altLang="ko-KR" dirty="0"/>
              <a:t>, </a:t>
            </a:r>
            <a:r>
              <a:rPr lang="ko-KR" altLang="en-US" dirty="0"/>
              <a:t>월 선택 화면으로 변경</a:t>
            </a:r>
            <a:r>
              <a:rPr lang="en-US" altLang="ko-KR" dirty="0"/>
              <a:t/>
            </a:r>
            <a:br>
              <a:rPr lang="en-US" altLang="ko-KR" dirty="0"/>
            </a:br>
            <a:r>
              <a:rPr lang="en-US" altLang="ko-KR" dirty="0"/>
              <a:t>- </a:t>
            </a:r>
            <a:r>
              <a:rPr lang="ko-KR" altLang="en-US" dirty="0"/>
              <a:t>적용 선택 시 날짜 </a:t>
            </a:r>
            <a:r>
              <a:rPr lang="ko-KR" altLang="en-US" dirty="0" err="1"/>
              <a:t>입력기에</a:t>
            </a:r>
            <a:r>
              <a:rPr lang="ko-KR" altLang="en-US" dirty="0"/>
              <a:t> 연</a:t>
            </a:r>
            <a:r>
              <a:rPr lang="en-US" altLang="ko-KR" dirty="0"/>
              <a:t>, </a:t>
            </a:r>
            <a:r>
              <a:rPr lang="ko-KR" altLang="en-US" dirty="0"/>
              <a:t>월 반영</a:t>
            </a:r>
            <a:r>
              <a:rPr lang="en-US" altLang="ko-KR" dirty="0"/>
              <a:t/>
            </a:r>
            <a:br>
              <a:rPr lang="en-US" altLang="ko-KR" dirty="0"/>
            </a:br>
            <a:r>
              <a:rPr lang="en-US" altLang="ko-KR" dirty="0"/>
              <a:t>  &gt; </a:t>
            </a:r>
            <a:r>
              <a:rPr lang="ko-KR" altLang="en-US" dirty="0"/>
              <a:t>요일 정보 해당 연월에 맞게 변경 노출</a:t>
            </a:r>
            <a:r>
              <a:rPr lang="en-US" altLang="ko-KR" dirty="0"/>
              <a:t/>
            </a:r>
            <a:br>
              <a:rPr lang="en-US" altLang="ko-KR" dirty="0"/>
            </a:br>
            <a:r>
              <a:rPr lang="en-US" altLang="ko-KR" dirty="0"/>
              <a:t>- </a:t>
            </a:r>
            <a:r>
              <a:rPr lang="ko-KR" altLang="en-US" dirty="0"/>
              <a:t>취소 선택 시 선택 입력 없이 복귀</a:t>
            </a:r>
            <a:endParaRPr lang="en-US" altLang="ko-KR" dirty="0"/>
          </a:p>
          <a:p>
            <a:pPr marL="228600" indent="-228600">
              <a:buFont typeface="+mj-lt"/>
              <a:buAutoNum type="arabicPeriod"/>
            </a:pPr>
            <a:r>
              <a:rPr lang="ko-KR" altLang="en-US" dirty="0"/>
              <a:t>적용 선택 시 </a:t>
            </a:r>
            <a:r>
              <a:rPr lang="en-US" altLang="ko-KR" dirty="0"/>
              <a:t>auto fill</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smtClean="0">
                <a:latin typeface="+mn-ea"/>
              </a:rPr>
              <a:t>날짜설정</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날짜를 설정하는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공통 </a:t>
            </a:r>
            <a:r>
              <a:rPr lang="en-US" altLang="ko-KR" dirty="0"/>
              <a:t>&gt; </a:t>
            </a:r>
            <a:r>
              <a:rPr lang="ko-KR" altLang="en-US" dirty="0"/>
              <a:t>날짜 설정</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36855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 name="그룹 5"/>
          <p:cNvGrpSpPr/>
          <p:nvPr/>
        </p:nvGrpSpPr>
        <p:grpSpPr>
          <a:xfrm>
            <a:off x="828962" y="3591898"/>
            <a:ext cx="2404900" cy="1793599"/>
            <a:chOff x="853448" y="3591898"/>
            <a:chExt cx="2404900" cy="1793599"/>
          </a:xfrm>
        </p:grpSpPr>
        <p:grpSp>
          <p:nvGrpSpPr>
            <p:cNvPr id="84" name="그룹 83">
              <a:extLst>
                <a:ext uri="{FF2B5EF4-FFF2-40B4-BE49-F238E27FC236}">
                  <a16:creationId xmlns:a16="http://schemas.microsoft.com/office/drawing/2014/main" id="{88B5F951-FD18-C7AD-4712-954CD1C500E7}"/>
                </a:ext>
              </a:extLst>
            </p:cNvPr>
            <p:cNvGrpSpPr/>
            <p:nvPr/>
          </p:nvGrpSpPr>
          <p:grpSpPr>
            <a:xfrm>
              <a:off x="853448" y="3591898"/>
              <a:ext cx="2404900" cy="1793599"/>
              <a:chOff x="6330232" y="1877976"/>
              <a:chExt cx="1507175" cy="1793599"/>
            </a:xfrm>
          </p:grpSpPr>
          <p:sp>
            <p:nvSpPr>
              <p:cNvPr id="89" name="자유형: 도형 138">
                <a:extLst>
                  <a:ext uri="{FF2B5EF4-FFF2-40B4-BE49-F238E27FC236}">
                    <a16:creationId xmlns:a16="http://schemas.microsoft.com/office/drawing/2014/main" id="{22B087CA-85B4-CEE4-100E-D11384B46CD9}"/>
                  </a:ext>
                </a:extLst>
              </p:cNvPr>
              <p:cNvSpPr/>
              <p:nvPr/>
            </p:nvSpPr>
            <p:spPr>
              <a:xfrm>
                <a:off x="6330232" y="2230424"/>
                <a:ext cx="1507175" cy="1441151"/>
              </a:xfrm>
              <a:custGeom>
                <a:avLst/>
                <a:gdLst>
                  <a:gd name="connsiteX0" fmla="*/ 0 w 1598734"/>
                  <a:gd name="connsiteY0" fmla="*/ 0 h 1380106"/>
                  <a:gd name="connsiteX1" fmla="*/ 1598734 w 1598734"/>
                  <a:gd name="connsiteY1" fmla="*/ 0 h 1380106"/>
                  <a:gd name="connsiteX2" fmla="*/ 1598734 w 1598734"/>
                  <a:gd name="connsiteY2" fmla="*/ 102684 h 1380106"/>
                  <a:gd name="connsiteX3" fmla="*/ 1598734 w 1598734"/>
                  <a:gd name="connsiteY3" fmla="*/ 146050 h 1380106"/>
                  <a:gd name="connsiteX4" fmla="*/ 1598734 w 1598734"/>
                  <a:gd name="connsiteY4" fmla="*/ 1321871 h 1380106"/>
                  <a:gd name="connsiteX5" fmla="*/ 1540499 w 1598734"/>
                  <a:gd name="connsiteY5" fmla="*/ 1380106 h 1380106"/>
                  <a:gd name="connsiteX6" fmla="*/ 58235 w 1598734"/>
                  <a:gd name="connsiteY6" fmla="*/ 1380106 h 1380106"/>
                  <a:gd name="connsiteX7" fmla="*/ 0 w 1598734"/>
                  <a:gd name="connsiteY7" fmla="*/ 1321871 h 1380106"/>
                  <a:gd name="connsiteX8" fmla="*/ 0 w 1598734"/>
                  <a:gd name="connsiteY8" fmla="*/ 146050 h 1380106"/>
                  <a:gd name="connsiteX9" fmla="*/ 0 w 1598734"/>
                  <a:gd name="connsiteY9" fmla="*/ 102684 h 1380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734" h="1380106">
                    <a:moveTo>
                      <a:pt x="0" y="0"/>
                    </a:moveTo>
                    <a:lnTo>
                      <a:pt x="1598734" y="0"/>
                    </a:lnTo>
                    <a:lnTo>
                      <a:pt x="1598734" y="102684"/>
                    </a:lnTo>
                    <a:lnTo>
                      <a:pt x="1598734" y="146050"/>
                    </a:lnTo>
                    <a:lnTo>
                      <a:pt x="1598734" y="1321871"/>
                    </a:lnTo>
                    <a:cubicBezTo>
                      <a:pt x="1598734" y="1354033"/>
                      <a:pt x="1572661" y="1380106"/>
                      <a:pt x="1540499" y="1380106"/>
                    </a:cubicBezTo>
                    <a:lnTo>
                      <a:pt x="58235" y="1380106"/>
                    </a:lnTo>
                    <a:cubicBezTo>
                      <a:pt x="26073" y="1380106"/>
                      <a:pt x="0" y="1354033"/>
                      <a:pt x="0" y="1321871"/>
                    </a:cubicBezTo>
                    <a:lnTo>
                      <a:pt x="0" y="146050"/>
                    </a:lnTo>
                    <a:lnTo>
                      <a:pt x="0" y="102684"/>
                    </a:lnTo>
                    <a:close/>
                  </a:path>
                </a:pathLst>
              </a:custGeom>
              <a:solidFill>
                <a:sysClr val="window" lastClr="FFFFFF"/>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black">
                      <a:lumMod val="50000"/>
                      <a:lumOff val="50000"/>
                    </a:prstClr>
                  </a:solidFill>
                  <a:effectLst/>
                  <a:uLnTx/>
                  <a:uFillTx/>
                  <a:latin typeface="맑은 고딕"/>
                  <a:ea typeface="+mn-ea"/>
                  <a:cs typeface="+mn-cs"/>
                </a:endParaRPr>
              </a:p>
            </p:txBody>
          </p:sp>
          <p:sp>
            <p:nvSpPr>
              <p:cNvPr id="90" name="자유형: 도형 139">
                <a:extLst>
                  <a:ext uri="{FF2B5EF4-FFF2-40B4-BE49-F238E27FC236}">
                    <a16:creationId xmlns:a16="http://schemas.microsoft.com/office/drawing/2014/main" id="{3A3F8C14-4350-473F-BE56-A3F310114A55}"/>
                  </a:ext>
                </a:extLst>
              </p:cNvPr>
              <p:cNvSpPr/>
              <p:nvPr/>
            </p:nvSpPr>
            <p:spPr>
              <a:xfrm>
                <a:off x="6330232" y="1877976"/>
                <a:ext cx="1507174" cy="352448"/>
              </a:xfrm>
              <a:custGeom>
                <a:avLst/>
                <a:gdLst>
                  <a:gd name="connsiteX0" fmla="*/ 68452 w 1598734"/>
                  <a:gd name="connsiteY0" fmla="*/ 0 h 306657"/>
                  <a:gd name="connsiteX1" fmla="*/ 1530282 w 1598734"/>
                  <a:gd name="connsiteY1" fmla="*/ 0 h 306657"/>
                  <a:gd name="connsiteX2" fmla="*/ 1598734 w 1598734"/>
                  <a:gd name="connsiteY2" fmla="*/ 68452 h 306657"/>
                  <a:gd name="connsiteX3" fmla="*/ 1598734 w 1598734"/>
                  <a:gd name="connsiteY3" fmla="*/ 160607 h 306657"/>
                  <a:gd name="connsiteX4" fmla="*/ 1598734 w 1598734"/>
                  <a:gd name="connsiteY4" fmla="*/ 193756 h 306657"/>
                  <a:gd name="connsiteX5" fmla="*/ 1598734 w 1598734"/>
                  <a:gd name="connsiteY5" fmla="*/ 306657 h 306657"/>
                  <a:gd name="connsiteX6" fmla="*/ 0 w 1598734"/>
                  <a:gd name="connsiteY6" fmla="*/ 306657 h 306657"/>
                  <a:gd name="connsiteX7" fmla="*/ 0 w 1598734"/>
                  <a:gd name="connsiteY7" fmla="*/ 193756 h 306657"/>
                  <a:gd name="connsiteX8" fmla="*/ 0 w 1598734"/>
                  <a:gd name="connsiteY8" fmla="*/ 160607 h 306657"/>
                  <a:gd name="connsiteX9" fmla="*/ 0 w 1598734"/>
                  <a:gd name="connsiteY9" fmla="*/ 68452 h 306657"/>
                  <a:gd name="connsiteX10" fmla="*/ 68452 w 1598734"/>
                  <a:gd name="connsiteY10" fmla="*/ 0 h 306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98734" h="306657">
                    <a:moveTo>
                      <a:pt x="68452" y="0"/>
                    </a:moveTo>
                    <a:lnTo>
                      <a:pt x="1530282" y="0"/>
                    </a:lnTo>
                    <a:cubicBezTo>
                      <a:pt x="1568087" y="0"/>
                      <a:pt x="1598734" y="30647"/>
                      <a:pt x="1598734" y="68452"/>
                    </a:cubicBezTo>
                    <a:lnTo>
                      <a:pt x="1598734" y="160607"/>
                    </a:lnTo>
                    <a:lnTo>
                      <a:pt x="1598734" y="193756"/>
                    </a:lnTo>
                    <a:lnTo>
                      <a:pt x="1598734" y="306657"/>
                    </a:lnTo>
                    <a:lnTo>
                      <a:pt x="0" y="306657"/>
                    </a:lnTo>
                    <a:lnTo>
                      <a:pt x="0" y="193756"/>
                    </a:lnTo>
                    <a:lnTo>
                      <a:pt x="0" y="160607"/>
                    </a:lnTo>
                    <a:lnTo>
                      <a:pt x="0" y="68452"/>
                    </a:lnTo>
                    <a:cubicBezTo>
                      <a:pt x="0" y="30647"/>
                      <a:pt x="30647" y="0"/>
                      <a:pt x="68452" y="0"/>
                    </a:cubicBezTo>
                    <a:close/>
                  </a:path>
                </a:pathLst>
              </a:custGeom>
              <a:solidFill>
                <a:schemeClr val="bg1"/>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900" b="1" i="0" u="none" strike="noStrike" kern="0" cap="none" spc="0" normalizeH="0" baseline="0" noProof="0">
                  <a:ln>
                    <a:noFill/>
                  </a:ln>
                  <a:effectLst/>
                  <a:uLnTx/>
                  <a:uFillTx/>
                  <a:latin typeface="맑은 고딕"/>
                  <a:ea typeface="+mn-ea"/>
                  <a:cs typeface="+mn-cs"/>
                </a:endParaRPr>
              </a:p>
            </p:txBody>
          </p:sp>
          <p:grpSp>
            <p:nvGrpSpPr>
              <p:cNvPr id="91" name="그룹 90">
                <a:extLst>
                  <a:ext uri="{FF2B5EF4-FFF2-40B4-BE49-F238E27FC236}">
                    <a16:creationId xmlns:a16="http://schemas.microsoft.com/office/drawing/2014/main" id="{A137B8AF-CE16-FE87-200C-9B7042587058}"/>
                  </a:ext>
                </a:extLst>
              </p:cNvPr>
              <p:cNvGrpSpPr/>
              <p:nvPr/>
            </p:nvGrpSpPr>
            <p:grpSpPr>
              <a:xfrm>
                <a:off x="6585805" y="1935304"/>
                <a:ext cx="996029" cy="251744"/>
                <a:chOff x="6656745" y="1935304"/>
                <a:chExt cx="996029" cy="251744"/>
              </a:xfrm>
            </p:grpSpPr>
            <p:grpSp>
              <p:nvGrpSpPr>
                <p:cNvPr id="96" name="그룹 95">
                  <a:extLst>
                    <a:ext uri="{FF2B5EF4-FFF2-40B4-BE49-F238E27FC236}">
                      <a16:creationId xmlns:a16="http://schemas.microsoft.com/office/drawing/2014/main" id="{A87E2622-4B77-D690-F5F9-A7024A74E708}"/>
                    </a:ext>
                  </a:extLst>
                </p:cNvPr>
                <p:cNvGrpSpPr/>
                <p:nvPr/>
              </p:nvGrpSpPr>
              <p:grpSpPr>
                <a:xfrm>
                  <a:off x="6656745" y="1935304"/>
                  <a:ext cx="391505" cy="251744"/>
                  <a:chOff x="14465912" y="2621448"/>
                  <a:chExt cx="373142" cy="251744"/>
                </a:xfrm>
              </p:grpSpPr>
              <p:sp>
                <p:nvSpPr>
                  <p:cNvPr id="102" name="사각형: 둥근 모서리 144">
                    <a:extLst>
                      <a:ext uri="{FF2B5EF4-FFF2-40B4-BE49-F238E27FC236}">
                        <a16:creationId xmlns:a16="http://schemas.microsoft.com/office/drawing/2014/main" id="{D1B5AE77-5D23-E70D-56C2-4B07B89912D6}"/>
                      </a:ext>
                    </a:extLst>
                  </p:cNvPr>
                  <p:cNvSpPr/>
                  <p:nvPr/>
                </p:nvSpPr>
                <p:spPr>
                  <a:xfrm>
                    <a:off x="14465912" y="2621448"/>
                    <a:ext cx="373142"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2026</a:t>
                    </a:r>
                    <a:endParaRPr kumimoji="1" lang="en-US" sz="800" b="0" i="0" u="none" strike="noStrike" kern="0" cap="none" spc="0" normalizeH="0" baseline="0" noProof="0">
                      <a:ln>
                        <a:noFill/>
                      </a:ln>
                      <a:effectLst/>
                      <a:uLnTx/>
                      <a:uFillTx/>
                      <a:latin typeface="맑은 고딕"/>
                      <a:ea typeface="+mn-ea"/>
                      <a:cs typeface="+mn-cs"/>
                    </a:endParaRPr>
                  </a:p>
                </p:txBody>
              </p:sp>
              <p:sp>
                <p:nvSpPr>
                  <p:cNvPr id="104" name="이등변 삼각형 103">
                    <a:extLst>
                      <a:ext uri="{FF2B5EF4-FFF2-40B4-BE49-F238E27FC236}">
                        <a16:creationId xmlns:a16="http://schemas.microsoft.com/office/drawing/2014/main" id="{3B4ED1E8-ADBF-6251-5AE2-8AA6EED0EC85}"/>
                      </a:ext>
                    </a:extLst>
                  </p:cNvPr>
                  <p:cNvSpPr/>
                  <p:nvPr/>
                </p:nvSpPr>
                <p:spPr>
                  <a:xfrm flipV="1">
                    <a:off x="14730144" y="2724461"/>
                    <a:ext cx="85725"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grpSp>
              <p:nvGrpSpPr>
                <p:cNvPr id="97" name="그룹 96">
                  <a:extLst>
                    <a:ext uri="{FF2B5EF4-FFF2-40B4-BE49-F238E27FC236}">
                      <a16:creationId xmlns:a16="http://schemas.microsoft.com/office/drawing/2014/main" id="{EA122917-E998-AFF8-0017-87D415E2F4C1}"/>
                    </a:ext>
                  </a:extLst>
                </p:cNvPr>
                <p:cNvGrpSpPr/>
                <p:nvPr/>
              </p:nvGrpSpPr>
              <p:grpSpPr>
                <a:xfrm>
                  <a:off x="7227970" y="1935304"/>
                  <a:ext cx="283649" cy="251744"/>
                  <a:chOff x="6204909" y="3981827"/>
                  <a:chExt cx="283649" cy="251744"/>
                </a:xfrm>
              </p:grpSpPr>
              <p:sp>
                <p:nvSpPr>
                  <p:cNvPr id="100" name="사각형: 둥근 모서리 147">
                    <a:extLst>
                      <a:ext uri="{FF2B5EF4-FFF2-40B4-BE49-F238E27FC236}">
                        <a16:creationId xmlns:a16="http://schemas.microsoft.com/office/drawing/2014/main" id="{4D308691-DE94-C033-764E-E5D1F0BF3524}"/>
                      </a:ext>
                    </a:extLst>
                  </p:cNvPr>
                  <p:cNvSpPr/>
                  <p:nvPr/>
                </p:nvSpPr>
                <p:spPr>
                  <a:xfrm>
                    <a:off x="6204909" y="3981827"/>
                    <a:ext cx="283649"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1</a:t>
                    </a:r>
                    <a:endParaRPr kumimoji="1" lang="en-US" sz="800" b="0" i="0" u="none" strike="noStrike" kern="0" cap="none" spc="0" normalizeH="0" baseline="0" noProof="0">
                      <a:ln>
                        <a:noFill/>
                      </a:ln>
                      <a:effectLst/>
                      <a:uLnTx/>
                      <a:uFillTx/>
                      <a:latin typeface="맑은 고딕"/>
                      <a:ea typeface="+mn-ea"/>
                      <a:cs typeface="+mn-cs"/>
                    </a:endParaRPr>
                  </a:p>
                </p:txBody>
              </p:sp>
              <p:sp>
                <p:nvSpPr>
                  <p:cNvPr id="101" name="이등변 삼각형 100">
                    <a:extLst>
                      <a:ext uri="{FF2B5EF4-FFF2-40B4-BE49-F238E27FC236}">
                        <a16:creationId xmlns:a16="http://schemas.microsoft.com/office/drawing/2014/main" id="{21A750D1-1A64-CDE6-935B-2CDA4AF0C094}"/>
                      </a:ext>
                    </a:extLst>
                  </p:cNvPr>
                  <p:cNvSpPr/>
                  <p:nvPr/>
                </p:nvSpPr>
                <p:spPr>
                  <a:xfrm flipV="1">
                    <a:off x="6372421" y="4084840"/>
                    <a:ext cx="89944"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sp>
              <p:nvSpPr>
                <p:cNvPr id="98" name="TextBox 149">
                  <a:extLst>
                    <a:ext uri="{FF2B5EF4-FFF2-40B4-BE49-F238E27FC236}">
                      <a16:creationId xmlns:a16="http://schemas.microsoft.com/office/drawing/2014/main" id="{B5390AFF-87C5-1EB0-E4C9-DFE8DE8D1A0A}"/>
                    </a:ext>
                  </a:extLst>
                </p:cNvPr>
                <p:cNvSpPr txBox="1"/>
                <p:nvPr/>
              </p:nvSpPr>
              <p:spPr>
                <a:xfrm>
                  <a:off x="7086814"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년</a:t>
                  </a:r>
                </a:p>
              </p:txBody>
            </p:sp>
            <p:sp>
              <p:nvSpPr>
                <p:cNvPr id="99" name="TextBox 152">
                  <a:extLst>
                    <a:ext uri="{FF2B5EF4-FFF2-40B4-BE49-F238E27FC236}">
                      <a16:creationId xmlns:a16="http://schemas.microsoft.com/office/drawing/2014/main" id="{A6C09F56-B1D3-B9C4-043F-21D7BB9E7303}"/>
                    </a:ext>
                  </a:extLst>
                </p:cNvPr>
                <p:cNvSpPr txBox="1"/>
                <p:nvPr/>
              </p:nvSpPr>
              <p:spPr>
                <a:xfrm>
                  <a:off x="7550182"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월</a:t>
                  </a:r>
                </a:p>
              </p:txBody>
            </p:sp>
          </p:grpSp>
          <p:pic>
            <p:nvPicPr>
              <p:cNvPr id="92" name="그래픽 159">
                <a:extLst>
                  <a:ext uri="{FF2B5EF4-FFF2-40B4-BE49-F238E27FC236}">
                    <a16:creationId xmlns:a16="http://schemas.microsoft.com/office/drawing/2014/main" id="{3F60CD29-6457-57CE-2207-590D5C49DC6F}"/>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6443575" y="2011321"/>
                <a:ext cx="124829" cy="124829"/>
              </a:xfrm>
              <a:prstGeom prst="rect">
                <a:avLst/>
              </a:prstGeom>
            </p:spPr>
          </p:pic>
          <p:pic>
            <p:nvPicPr>
              <p:cNvPr id="93" name="그래픽 161">
                <a:extLst>
                  <a:ext uri="{FF2B5EF4-FFF2-40B4-BE49-F238E27FC236}">
                    <a16:creationId xmlns:a16="http://schemas.microsoft.com/office/drawing/2014/main" id="{B3146EC9-2E57-C788-18FF-97995F8296C4}"/>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a:off x="6337510" y="2006235"/>
                <a:ext cx="135001" cy="135001"/>
              </a:xfrm>
              <a:prstGeom prst="rect">
                <a:avLst/>
              </a:prstGeom>
            </p:spPr>
          </p:pic>
          <p:pic>
            <p:nvPicPr>
              <p:cNvPr id="94" name="그래픽 166">
                <a:extLst>
                  <a:ext uri="{FF2B5EF4-FFF2-40B4-BE49-F238E27FC236}">
                    <a16:creationId xmlns:a16="http://schemas.microsoft.com/office/drawing/2014/main" id="{13D2C4D0-FC1C-780E-EBE1-F1214DFD963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flipH="1">
                <a:off x="7582427" y="2011321"/>
                <a:ext cx="124829" cy="124829"/>
              </a:xfrm>
              <a:prstGeom prst="rect">
                <a:avLst/>
              </a:prstGeom>
            </p:spPr>
          </p:pic>
          <p:pic>
            <p:nvPicPr>
              <p:cNvPr id="95" name="그래픽 167">
                <a:extLst>
                  <a:ext uri="{FF2B5EF4-FFF2-40B4-BE49-F238E27FC236}">
                    <a16:creationId xmlns:a16="http://schemas.microsoft.com/office/drawing/2014/main" id="{AD93A727-98BC-1CD1-0745-64C3352C25E0}"/>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flipH="1">
                <a:off x="7685706" y="2006235"/>
                <a:ext cx="135001" cy="135001"/>
              </a:xfrm>
              <a:prstGeom prst="rect">
                <a:avLst/>
              </a:prstGeom>
            </p:spPr>
          </p:pic>
        </p:grpSp>
        <p:pic>
          <p:nvPicPr>
            <p:cNvPr id="85" name="table"/>
            <p:cNvPicPr>
              <a:picLocks noChangeAspect="1"/>
            </p:cNvPicPr>
            <p:nvPr/>
          </p:nvPicPr>
          <p:blipFill>
            <a:blip r:embed="rId6"/>
            <a:stretch>
              <a:fillRect/>
            </a:stretch>
          </p:blipFill>
          <p:spPr>
            <a:xfrm>
              <a:off x="871664" y="3994890"/>
              <a:ext cx="2346766" cy="1352526"/>
            </a:xfrm>
            <a:prstGeom prst="rect">
              <a:avLst/>
            </a:prstGeom>
          </p:spPr>
        </p:pic>
      </p:grpSp>
      <p:grpSp>
        <p:nvGrpSpPr>
          <p:cNvPr id="105" name="그룹 104"/>
          <p:cNvGrpSpPr/>
          <p:nvPr/>
        </p:nvGrpSpPr>
        <p:grpSpPr>
          <a:xfrm>
            <a:off x="675399" y="5614711"/>
            <a:ext cx="2712027" cy="617588"/>
            <a:chOff x="675399" y="5614711"/>
            <a:chExt cx="2712027" cy="617588"/>
          </a:xfrm>
        </p:grpSpPr>
        <p:sp>
          <p:nvSpPr>
            <p:cNvPr id="106" name="직사각형 10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0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09" name="직사각형 10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양쪽 모서리가 둥근 사각형 110"/>
          <p:cNvSpPr/>
          <p:nvPr/>
        </p:nvSpPr>
        <p:spPr>
          <a:xfrm>
            <a:off x="3795734"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2" name="모서리가 둥근 직사각형 111"/>
          <p:cNvSpPr/>
          <p:nvPr/>
        </p:nvSpPr>
        <p:spPr>
          <a:xfrm>
            <a:off x="4881747"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13" name="그룹 112"/>
          <p:cNvGrpSpPr/>
          <p:nvPr/>
        </p:nvGrpSpPr>
        <p:grpSpPr>
          <a:xfrm>
            <a:off x="6284673" y="3182696"/>
            <a:ext cx="94010" cy="94010"/>
            <a:chOff x="6812560" y="3297172"/>
            <a:chExt cx="94010" cy="94010"/>
          </a:xfrm>
        </p:grpSpPr>
        <p:cxnSp>
          <p:nvCxnSpPr>
            <p:cNvPr id="114" name="직선 연결선 11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16" name="TextBox 115">
            <a:extLst>
              <a:ext uri="{FF2B5EF4-FFF2-40B4-BE49-F238E27FC236}">
                <a16:creationId xmlns:a16="http://schemas.microsoft.com/office/drawing/2014/main" id="{FFC49AEA-2A8F-250C-A86A-A7751D9706C3}"/>
              </a:ext>
            </a:extLst>
          </p:cNvPr>
          <p:cNvSpPr txBox="1"/>
          <p:nvPr/>
        </p:nvSpPr>
        <p:spPr>
          <a:xfrm>
            <a:off x="3924811"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3795734"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2" name="그룹 141"/>
          <p:cNvGrpSpPr/>
          <p:nvPr/>
        </p:nvGrpSpPr>
        <p:grpSpPr>
          <a:xfrm>
            <a:off x="3795734" y="5614711"/>
            <a:ext cx="2712027" cy="617588"/>
            <a:chOff x="675399" y="5614711"/>
            <a:chExt cx="2712027" cy="617588"/>
          </a:xfrm>
        </p:grpSpPr>
        <p:sp>
          <p:nvSpPr>
            <p:cNvPr id="143" name="직사각형 14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적용</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4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46" name="TextBox 145">
            <a:extLst>
              <a:ext uri="{FF2B5EF4-FFF2-40B4-BE49-F238E27FC236}">
                <a16:creationId xmlns:a16="http://schemas.microsoft.com/office/drawing/2014/main" id="{FFC49AEA-2A8F-250C-A86A-A7751D9706C3}"/>
              </a:ext>
            </a:extLst>
          </p:cNvPr>
          <p:cNvSpPr txBox="1"/>
          <p:nvPr/>
        </p:nvSpPr>
        <p:spPr>
          <a:xfrm>
            <a:off x="4176932" y="3766913"/>
            <a:ext cx="670770" cy="107722"/>
          </a:xfrm>
          <a:prstGeom prst="rect">
            <a:avLst/>
          </a:prstGeom>
          <a:noFill/>
        </p:spPr>
        <p:txBody>
          <a:bodyPr wrap="square" lIns="0" tIns="0" rIns="0" bIns="0" rtlCol="0">
            <a:spAutoFit/>
          </a:bodyPr>
          <a:lstStyle/>
          <a:p>
            <a:r>
              <a:rPr lang="ko-KR" altLang="en-US" sz="700" b="1" dirty="0">
                <a:latin typeface="+mn-ea"/>
              </a:rPr>
              <a:t>연도</a:t>
            </a:r>
            <a:endParaRPr lang="en-US" altLang="ko-KR" sz="700" b="1"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5330761" y="3766913"/>
            <a:ext cx="670770" cy="107722"/>
          </a:xfrm>
          <a:prstGeom prst="rect">
            <a:avLst/>
          </a:prstGeom>
          <a:noFill/>
        </p:spPr>
        <p:txBody>
          <a:bodyPr wrap="square" lIns="0" tIns="0" rIns="0" bIns="0" rtlCol="0">
            <a:spAutoFit/>
          </a:bodyPr>
          <a:lstStyle/>
          <a:p>
            <a:r>
              <a:rPr lang="ko-KR" altLang="en-US" sz="700" b="1" dirty="0">
                <a:latin typeface="+mn-ea"/>
              </a:rPr>
              <a:t>월</a:t>
            </a:r>
            <a:endParaRPr lang="en-US" altLang="ko-KR" sz="700" b="1" dirty="0">
              <a:latin typeface="+mn-ea"/>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3924811" y="3497923"/>
            <a:ext cx="1798758" cy="138499"/>
          </a:xfrm>
          <a:prstGeom prst="rect">
            <a:avLst/>
          </a:prstGeom>
          <a:noFill/>
        </p:spPr>
        <p:txBody>
          <a:bodyPr wrap="square" lIns="0" tIns="0" rIns="0" bIns="0" rtlCol="0">
            <a:spAutoFit/>
          </a:bodyPr>
          <a:lstStyle/>
          <a:p>
            <a:r>
              <a:rPr lang="ko-KR" altLang="en-US" sz="900" dirty="0">
                <a:latin typeface="+mn-ea"/>
              </a:rPr>
              <a:t>연도</a:t>
            </a:r>
            <a:r>
              <a:rPr lang="en-US" altLang="ko-KR" sz="900" dirty="0">
                <a:latin typeface="+mn-ea"/>
              </a:rPr>
              <a:t>, </a:t>
            </a:r>
            <a:r>
              <a:rPr lang="ko-KR" altLang="en-US" sz="900" dirty="0">
                <a:latin typeface="+mn-ea"/>
              </a:rPr>
              <a:t>월 설정</a:t>
            </a:r>
          </a:p>
        </p:txBody>
      </p:sp>
      <p:sp>
        <p:nvSpPr>
          <p:cNvPr id="155" name="모서리가 둥근 직사각형 154"/>
          <p:cNvSpPr/>
          <p:nvPr/>
        </p:nvSpPr>
        <p:spPr>
          <a:xfrm rot="5400000">
            <a:off x="6098765" y="4392689"/>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7" name="모서리가 둥근 직사각형 156"/>
          <p:cNvSpPr/>
          <p:nvPr/>
        </p:nvSpPr>
        <p:spPr>
          <a:xfrm rot="5400000">
            <a:off x="4912204" y="4212689"/>
            <a:ext cx="36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7" name="직사각형 6"/>
          <p:cNvSpPr/>
          <p:nvPr/>
        </p:nvSpPr>
        <p:spPr>
          <a:xfrm>
            <a:off x="5287805" y="4022976"/>
            <a:ext cx="956345" cy="192463"/>
          </a:xfrm>
          <a:prstGeom prst="rect">
            <a:avLst/>
          </a:prstGeom>
          <a:solidFill>
            <a:schemeClr val="bg1">
              <a:lumMod val="9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5330761" y="3983744"/>
            <a:ext cx="434753" cy="1508105"/>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월</a:t>
            </a:r>
            <a:endParaRPr lang="en-US" altLang="ko-KR" sz="700" dirty="0">
              <a:latin typeface="+mn-ea"/>
            </a:endParaRPr>
          </a:p>
          <a:p>
            <a:pPr>
              <a:lnSpc>
                <a:spcPct val="200000"/>
              </a:lnSpc>
            </a:pPr>
            <a:r>
              <a:rPr lang="en-US" altLang="ko-KR" sz="700" dirty="0">
                <a:latin typeface="+mn-ea"/>
              </a:rPr>
              <a:t>2</a:t>
            </a:r>
            <a:r>
              <a:rPr lang="ko-KR" altLang="en-US" sz="700" dirty="0">
                <a:latin typeface="+mn-ea"/>
              </a:rPr>
              <a:t>월</a:t>
            </a:r>
            <a:endParaRPr lang="en-US" altLang="ko-KR" sz="700" dirty="0">
              <a:latin typeface="+mn-ea"/>
            </a:endParaRPr>
          </a:p>
          <a:p>
            <a:pPr>
              <a:lnSpc>
                <a:spcPct val="200000"/>
              </a:lnSpc>
            </a:pPr>
            <a:r>
              <a:rPr lang="en-US" altLang="ko-KR" sz="700" dirty="0">
                <a:latin typeface="+mn-ea"/>
              </a:rPr>
              <a:t>3</a:t>
            </a:r>
            <a:r>
              <a:rPr lang="ko-KR" altLang="en-US" sz="700" dirty="0">
                <a:latin typeface="+mn-ea"/>
              </a:rPr>
              <a:t>월</a:t>
            </a:r>
            <a:endParaRPr lang="en-US" altLang="ko-KR" sz="700" dirty="0">
              <a:latin typeface="+mn-ea"/>
            </a:endParaRPr>
          </a:p>
          <a:p>
            <a:pPr>
              <a:lnSpc>
                <a:spcPct val="200000"/>
              </a:lnSpc>
            </a:pPr>
            <a:r>
              <a:rPr lang="en-US" altLang="ko-KR" sz="700" dirty="0">
                <a:latin typeface="+mn-ea"/>
              </a:rPr>
              <a:t>4</a:t>
            </a:r>
            <a:r>
              <a:rPr lang="ko-KR" altLang="en-US" sz="700" dirty="0">
                <a:latin typeface="+mn-ea"/>
              </a:rPr>
              <a:t>월</a:t>
            </a:r>
            <a:endParaRPr lang="en-US" altLang="ko-KR" sz="700" dirty="0">
              <a:latin typeface="+mn-ea"/>
            </a:endParaRPr>
          </a:p>
          <a:p>
            <a:pPr>
              <a:lnSpc>
                <a:spcPct val="200000"/>
              </a:lnSpc>
            </a:pPr>
            <a:r>
              <a:rPr lang="en-US" altLang="ko-KR" sz="700" dirty="0">
                <a:latin typeface="+mn-ea"/>
              </a:rPr>
              <a:t>5</a:t>
            </a:r>
            <a:r>
              <a:rPr lang="ko-KR" altLang="en-US" sz="700" dirty="0">
                <a:latin typeface="+mn-ea"/>
              </a:rPr>
              <a:t>월</a:t>
            </a:r>
            <a:endParaRPr lang="en-US" altLang="ko-KR" sz="700" dirty="0">
              <a:latin typeface="+mn-ea"/>
            </a:endParaRPr>
          </a:p>
          <a:p>
            <a:pPr>
              <a:lnSpc>
                <a:spcPct val="200000"/>
              </a:lnSpc>
            </a:pPr>
            <a:r>
              <a:rPr lang="en-US" altLang="ko-KR" sz="700" dirty="0">
                <a:latin typeface="+mn-ea"/>
              </a:rPr>
              <a:t>6</a:t>
            </a:r>
            <a:r>
              <a:rPr lang="ko-KR" altLang="en-US" sz="700" dirty="0">
                <a:latin typeface="+mn-ea"/>
              </a:rPr>
              <a:t>월</a:t>
            </a:r>
            <a:endParaRPr lang="en-US" altLang="ko-KR" sz="700" dirty="0">
              <a:latin typeface="+mn-ea"/>
            </a:endParaRPr>
          </a:p>
          <a:p>
            <a:pPr>
              <a:lnSpc>
                <a:spcPct val="200000"/>
              </a:lnSpc>
            </a:pPr>
            <a:r>
              <a:rPr lang="en-US" altLang="ko-KR" sz="700" dirty="0">
                <a:latin typeface="+mn-ea"/>
              </a:rPr>
              <a:t>7</a:t>
            </a:r>
            <a:r>
              <a:rPr lang="ko-KR" altLang="en-US" sz="700" dirty="0">
                <a:latin typeface="+mn-ea"/>
              </a:rPr>
              <a:t>월</a:t>
            </a:r>
            <a:endParaRPr lang="en-US" altLang="ko-KR" sz="700" dirty="0">
              <a:latin typeface="+mn-ea"/>
            </a:endParaRPr>
          </a:p>
        </p:txBody>
      </p:sp>
      <p:sp>
        <p:nvSpPr>
          <p:cNvPr id="158" name="직사각형 157"/>
          <p:cNvSpPr/>
          <p:nvPr/>
        </p:nvSpPr>
        <p:spPr>
          <a:xfrm>
            <a:off x="4075450" y="4022976"/>
            <a:ext cx="956345" cy="192463"/>
          </a:xfrm>
          <a:prstGeom prst="rect">
            <a:avLst/>
          </a:prstGeom>
          <a:solidFill>
            <a:schemeClr val="bg1">
              <a:lumMod val="9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8" name="TextBox 147">
            <a:extLst>
              <a:ext uri="{FF2B5EF4-FFF2-40B4-BE49-F238E27FC236}">
                <a16:creationId xmlns:a16="http://schemas.microsoft.com/office/drawing/2014/main" id="{FFC49AEA-2A8F-250C-A86A-A7751D9706C3}"/>
              </a:ext>
            </a:extLst>
          </p:cNvPr>
          <p:cNvSpPr txBox="1"/>
          <p:nvPr/>
        </p:nvSpPr>
        <p:spPr>
          <a:xfrm>
            <a:off x="4176932" y="3983744"/>
            <a:ext cx="510094" cy="1508105"/>
          </a:xfrm>
          <a:prstGeom prst="rect">
            <a:avLst/>
          </a:prstGeom>
          <a:noFill/>
        </p:spPr>
        <p:txBody>
          <a:bodyPr wrap="square" lIns="0" tIns="0" rIns="0" bIns="0" rtlCol="0">
            <a:spAutoFit/>
          </a:bodyPr>
          <a:lstStyle/>
          <a:p>
            <a:pPr>
              <a:lnSpc>
                <a:spcPct val="200000"/>
              </a:lnSpc>
            </a:pPr>
            <a:r>
              <a:rPr lang="en-US" altLang="ko-KR" sz="700" dirty="0">
                <a:latin typeface="+mn-ea"/>
              </a:rPr>
              <a:t>2026</a:t>
            </a:r>
          </a:p>
          <a:p>
            <a:pPr>
              <a:lnSpc>
                <a:spcPct val="200000"/>
              </a:lnSpc>
            </a:pPr>
            <a:r>
              <a:rPr lang="en-US" altLang="ko-KR" sz="700" dirty="0">
                <a:latin typeface="+mn-ea"/>
              </a:rPr>
              <a:t>2025</a:t>
            </a:r>
          </a:p>
          <a:p>
            <a:pPr>
              <a:lnSpc>
                <a:spcPct val="200000"/>
              </a:lnSpc>
            </a:pPr>
            <a:r>
              <a:rPr lang="en-US" altLang="ko-KR" sz="700" dirty="0">
                <a:latin typeface="+mn-ea"/>
              </a:rPr>
              <a:t>2024</a:t>
            </a:r>
          </a:p>
          <a:p>
            <a:pPr>
              <a:lnSpc>
                <a:spcPct val="200000"/>
              </a:lnSpc>
            </a:pPr>
            <a:r>
              <a:rPr lang="en-US" altLang="ko-KR" sz="700" dirty="0">
                <a:latin typeface="+mn-ea"/>
              </a:rPr>
              <a:t>2023</a:t>
            </a:r>
          </a:p>
          <a:p>
            <a:pPr>
              <a:lnSpc>
                <a:spcPct val="200000"/>
              </a:lnSpc>
            </a:pPr>
            <a:r>
              <a:rPr lang="en-US" altLang="ko-KR" sz="700" dirty="0">
                <a:latin typeface="+mn-ea"/>
              </a:rPr>
              <a:t>2022</a:t>
            </a:r>
          </a:p>
          <a:p>
            <a:pPr>
              <a:lnSpc>
                <a:spcPct val="200000"/>
              </a:lnSpc>
            </a:pPr>
            <a:r>
              <a:rPr lang="en-US" altLang="ko-KR" sz="700" dirty="0">
                <a:latin typeface="+mn-ea"/>
              </a:rPr>
              <a:t>2021</a:t>
            </a:r>
          </a:p>
          <a:p>
            <a:pPr>
              <a:lnSpc>
                <a:spcPct val="200000"/>
              </a:lnSpc>
            </a:pPr>
            <a:r>
              <a:rPr lang="en-US" altLang="ko-KR" sz="700" dirty="0">
                <a:latin typeface="+mn-ea"/>
              </a:rPr>
              <a:t>2020</a:t>
            </a:r>
          </a:p>
        </p:txBody>
      </p:sp>
      <p:sp>
        <p:nvSpPr>
          <p:cNvPr id="159" name="타원 158">
            <a:extLst>
              <a:ext uri="{FF2B5EF4-FFF2-40B4-BE49-F238E27FC236}">
                <a16:creationId xmlns:a16="http://schemas.microsoft.com/office/drawing/2014/main" id="{37A7FF4F-0EAA-1463-560A-D5EC24416103}"/>
              </a:ext>
            </a:extLst>
          </p:cNvPr>
          <p:cNvSpPr/>
          <p:nvPr/>
        </p:nvSpPr>
        <p:spPr>
          <a:xfrm>
            <a:off x="3695055" y="36855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62" name="타원 61">
            <a:extLst>
              <a:ext uri="{FF2B5EF4-FFF2-40B4-BE49-F238E27FC236}">
                <a16:creationId xmlns:a16="http://schemas.microsoft.com/office/drawing/2014/main" id="{37A7FF4F-0EAA-1463-560A-D5EC24416103}"/>
              </a:ext>
            </a:extLst>
          </p:cNvPr>
          <p:cNvSpPr/>
          <p:nvPr/>
        </p:nvSpPr>
        <p:spPr>
          <a:xfrm>
            <a:off x="4512317" y="568079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69772980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22</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3163293"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입찰공고통합목록</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dml_bidPbancSrchCnd</a:t>
            </a:r>
            <a:r>
              <a:rPr lang="en-US" altLang="ko-KR" sz="900" b="1" dirty="0">
                <a:solidFill>
                  <a:prstClr val="black"/>
                </a:solidFill>
              </a:rPr>
              <a:t>) </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extLst>
              <p:ext uri="{D42A27DB-BD31-4B8C-83A1-F6EECF244321}">
                <p14:modId xmlns:p14="http://schemas.microsoft.com/office/powerpoint/2010/main" val="709621126"/>
              </p:ext>
            </p:extLst>
          </p:nvPr>
        </p:nvGraphicFramePr>
        <p:xfrm>
          <a:off x="452999" y="1014316"/>
          <a:ext cx="8994883" cy="5187641"/>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06601">
                  <a:extLst>
                    <a:ext uri="{9D8B030D-6E8A-4147-A177-3AD203B41FA5}">
                      <a16:colId xmlns:a16="http://schemas.microsoft.com/office/drawing/2014/main" val="20001"/>
                    </a:ext>
                  </a:extLst>
                </a:gridCol>
                <a:gridCol w="409303">
                  <a:extLst>
                    <a:ext uri="{9D8B030D-6E8A-4147-A177-3AD203B41FA5}">
                      <a16:colId xmlns:a16="http://schemas.microsoft.com/office/drawing/2014/main" val="20002"/>
                    </a:ext>
                  </a:extLst>
                </a:gridCol>
                <a:gridCol w="505097">
                  <a:extLst>
                    <a:ext uri="{9D8B030D-6E8A-4147-A177-3AD203B41FA5}">
                      <a16:colId xmlns:a16="http://schemas.microsoft.com/office/drawing/2014/main" val="20003"/>
                    </a:ext>
                  </a:extLst>
                </a:gridCol>
                <a:gridCol w="470263">
                  <a:extLst>
                    <a:ext uri="{9D8B030D-6E8A-4147-A177-3AD203B41FA5}">
                      <a16:colId xmlns:a16="http://schemas.microsoft.com/office/drawing/2014/main" val="20004"/>
                    </a:ext>
                  </a:extLst>
                </a:gridCol>
                <a:gridCol w="2454899">
                  <a:extLst>
                    <a:ext uri="{9D8B030D-6E8A-4147-A177-3AD203B41FA5}">
                      <a16:colId xmlns:a16="http://schemas.microsoft.com/office/drawing/2014/main" val="20005"/>
                    </a:ext>
                  </a:extLst>
                </a:gridCol>
              </a:tblGrid>
              <a:tr h="209117">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업무구분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TaskSeNm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업무구분</a:t>
                      </a:r>
                      <a:r>
                        <a:rPr lang="ko-KR" altLang="en-US" sz="800" dirty="0">
                          <a:latin typeface="+mn-ea"/>
                          <a:ea typeface="+mn-ea"/>
                        </a:rPr>
                        <a:t>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r>
                        <a:rPr lang="en-US" altLang="ko-KR" sz="800" dirty="0">
                          <a:latin typeface="+mn-ea"/>
                          <a:ea typeface="+mn-ea"/>
                        </a:rPr>
                        <a:t>/</a:t>
                      </a:r>
                      <a:r>
                        <a:rPr lang="ko-KR" altLang="en-US" sz="800" dirty="0">
                          <a:latin typeface="+mn-ea"/>
                          <a:ea typeface="+mn-ea"/>
                        </a:rPr>
                        <a:t>용역</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a:t>
                      </a:r>
                      <a:r>
                        <a:rPr lang="ko-KR" altLang="en-US" sz="800" dirty="0">
                          <a:latin typeface="+mn-ea"/>
                          <a:ea typeface="+mn-ea"/>
                        </a:rPr>
                        <a:t>국외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개찰시작일자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협상시작일자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ea typeface="+mn-ea"/>
                        </a:rPr>
                        <a:t>yyyy</a:t>
                      </a:r>
                      <a:r>
                        <a:rPr lang="en-US" altLang="ko-KR" sz="800" dirty="0">
                          <a:latin typeface="+mn-ea"/>
                          <a:ea typeface="+mn-ea"/>
                        </a:rPr>
                        <a:t>-mm-dd</a:t>
                      </a:r>
                      <a:r>
                        <a:rPr lang="ko-KR" altLang="en-US" sz="800" dirty="0">
                          <a:latin typeface="+mn-ea"/>
                          <a:ea typeface="+mn-ea"/>
                        </a:rPr>
                        <a:t>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개찰종료일자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협상종료일자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yyyy</a:t>
                      </a:r>
                      <a:r>
                        <a:rPr lang="en-US" altLang="ko-KR" sz="800" dirty="0">
                          <a:latin typeface="+mn-ea"/>
                          <a:ea typeface="+mn-ea"/>
                        </a:rPr>
                        <a:t>-mm-dd</a:t>
                      </a:r>
                      <a:r>
                        <a:rPr lang="ko-KR" altLang="en-US" sz="800" dirty="0">
                          <a:latin typeface="+mn-ea"/>
                          <a:ea typeface="+mn-ea"/>
                        </a:rPr>
                        <a:t>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6467666"/>
                  </a:ext>
                </a:extLst>
              </a:tr>
              <a:tr h="0">
                <a:tc>
                  <a:txBody>
                    <a:bodyPr/>
                    <a:lstStyle/>
                    <a:p>
                      <a:pPr latinLnBrk="1"/>
                      <a:r>
                        <a:rPr lang="ko-KR" altLang="en-US" sz="800" dirty="0" err="1">
                          <a:latin typeface="+mn-ea"/>
                          <a:ea typeface="+mn-ea"/>
                        </a:rPr>
                        <a:t>발주기관명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발주기관검색 </a:t>
                      </a:r>
                      <a:r>
                        <a:rPr lang="ko-KR" altLang="en-US" sz="800" dirty="0" err="1">
                          <a:latin typeface="+mn-ea"/>
                          <a:ea typeface="+mn-ea"/>
                        </a:rPr>
                        <a:t>공통팝업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760985"/>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bidPbancNm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입찰건명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1000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134440"/>
                  </a:ext>
                </a:extLst>
              </a:tr>
              <a:tr h="0">
                <a:tc>
                  <a:txBody>
                    <a:bodyPr/>
                    <a:lstStyle/>
                    <a:p>
                      <a:pPr latinLnBrk="1"/>
                      <a:r>
                        <a:rPr lang="ko-KR" altLang="en-US" sz="800" b="0" dirty="0" err="1">
                          <a:latin typeface="+mn-ea"/>
                          <a:ea typeface="+mn-ea"/>
                        </a:rPr>
                        <a:t>공고번호</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공고번호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6705999"/>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공고구분</a:t>
                      </a:r>
                      <a:r>
                        <a:rPr lang="ko-KR" altLang="en-US" sz="800" dirty="0">
                          <a:latin typeface="+mn-ea"/>
                          <a:ea typeface="+mn-ea"/>
                        </a:rPr>
                        <a:t>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6001573"/>
                  </a:ext>
                </a:extLst>
              </a:tr>
              <a:tr h="0">
                <a:tc>
                  <a:txBody>
                    <a:bodyPr/>
                    <a:lstStyle/>
                    <a:p>
                      <a:pPr latinLnBrk="1"/>
                      <a:r>
                        <a:rPr lang="ko-KR" altLang="en-US" sz="800" dirty="0">
                          <a:latin typeface="+mn-ea"/>
                          <a:ea typeface="+mn-ea"/>
                        </a:rPr>
                        <a:t>진행상태명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bidStatNm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진행상태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 </a:t>
                      </a:r>
                      <a:r>
                        <a:rPr lang="en-US" altLang="ko-KR" sz="800" dirty="0">
                          <a:latin typeface="+mn-ea"/>
                          <a:ea typeface="+mn-ea"/>
                        </a:rPr>
                        <a:t>As-Is Alias </a:t>
                      </a:r>
                      <a:r>
                        <a:rPr lang="ko-KR" altLang="en-US" sz="800" dirty="0">
                          <a:latin typeface="+mn-ea"/>
                          <a:ea typeface="+mn-ea"/>
                        </a:rPr>
                        <a:t>항목 </a:t>
                      </a:r>
                      <a:endParaRPr lang="en-US" altLang="ko-KR" sz="800" dirty="0">
                        <a:latin typeface="+mn-ea"/>
                        <a:ea typeface="+mn-ea"/>
                      </a:endParaRPr>
                    </a:p>
                    <a:p>
                      <a:pPr marL="0" indent="0" algn="l" latinLnBrk="1">
                        <a:buFontTx/>
                        <a:buNone/>
                      </a:pPr>
                      <a:r>
                        <a:rPr lang="en-US" altLang="ko-KR" sz="800" dirty="0">
                          <a:latin typeface="+mn-ea"/>
                          <a:ea typeface="+mn-ea"/>
                        </a:rPr>
                        <a:t>- WTB_PDB316.</a:t>
                      </a:r>
                      <a:r>
                        <a:rPr lang="ko-KR" altLang="en-US" sz="800" dirty="0" err="1">
                          <a:latin typeface="+mn-ea"/>
                          <a:ea typeface="+mn-ea"/>
                        </a:rPr>
                        <a:t>입찰철</a:t>
                      </a:r>
                      <a:r>
                        <a:rPr lang="ko-KR" altLang="en-US" sz="800" dirty="0">
                          <a:latin typeface="+mn-ea"/>
                          <a:ea typeface="+mn-ea"/>
                        </a:rPr>
                        <a:t>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err="1">
                          <a:latin typeface="+mn-ea"/>
                          <a:ea typeface="+mn-ea"/>
                        </a:rPr>
                        <a:t>개찰전</a:t>
                      </a:r>
                      <a:r>
                        <a:rPr lang="en-US" altLang="ko-KR" sz="800" dirty="0">
                          <a:latin typeface="+mn-ea"/>
                          <a:ea typeface="+mn-ea"/>
                        </a:rPr>
                        <a:t>’, ‘</a:t>
                      </a:r>
                      <a:r>
                        <a:rPr lang="ko-KR" altLang="en-US" sz="800" dirty="0">
                          <a:latin typeface="+mn-ea"/>
                          <a:ea typeface="+mn-ea"/>
                        </a:rPr>
                        <a:t>개찰완료</a:t>
                      </a:r>
                      <a:r>
                        <a:rPr lang="en-US" altLang="ko-KR" sz="800" dirty="0">
                          <a:latin typeface="+mn-ea"/>
                          <a:ea typeface="+mn-ea"/>
                        </a:rPr>
                        <a:t>’</a:t>
                      </a:r>
                    </a:p>
                    <a:p>
                      <a:pPr marL="0" indent="0" algn="l" latinLnBrk="1">
                        <a:buFontTx/>
                        <a:buNone/>
                      </a:pPr>
                      <a:r>
                        <a:rPr lang="en-US" altLang="ko-KR" sz="800" dirty="0">
                          <a:latin typeface="+mn-ea"/>
                          <a:ea typeface="+mn-ea"/>
                        </a:rPr>
                        <a:t>- WTB_PDB905.</a:t>
                      </a:r>
                      <a:r>
                        <a:rPr lang="ko-KR" altLang="en-US" sz="800" dirty="0">
                          <a:latin typeface="+mn-ea"/>
                          <a:ea typeface="+mn-ea"/>
                        </a:rPr>
                        <a:t>재입찰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a:latin typeface="+mn-ea"/>
                          <a:ea typeface="+mn-ea"/>
                        </a:rPr>
                        <a:t>재입찰</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5661869"/>
                  </a:ext>
                </a:extLst>
              </a:tr>
              <a:tr h="0">
                <a:tc>
                  <a:txBody>
                    <a:bodyPr/>
                    <a:lstStyle/>
                    <a:p>
                      <a:pPr latinLnBrk="1"/>
                      <a:r>
                        <a:rPr lang="ko-KR" altLang="en-US" sz="800" dirty="0" err="1">
                          <a:latin typeface="+mn-ea"/>
                          <a:ea typeface="+mn-ea"/>
                        </a:rPr>
                        <a:t>지역명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지역명</a:t>
                      </a:r>
                      <a:r>
                        <a:rPr lang="ko-KR" altLang="en-US" sz="800" dirty="0">
                          <a:latin typeface="+mn-ea"/>
                          <a:ea typeface="+mn-ea"/>
                        </a:rPr>
                        <a:t>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0391839"/>
                  </a:ext>
                </a:extLst>
              </a:tr>
              <a:tr h="0">
                <a:tc>
                  <a:txBody>
                    <a:bodyPr/>
                    <a:lstStyle/>
                    <a:p>
                      <a:pPr latinLnBrk="1"/>
                      <a:r>
                        <a:rPr lang="ko-KR" altLang="en-US" sz="800" dirty="0">
                          <a:latin typeface="+mn-ea"/>
                          <a:ea typeface="+mn-ea"/>
                        </a:rPr>
                        <a:t>면허정보명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면허정보 선택 팝업 호출 파라미터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 (</a:t>
                      </a:r>
                      <a:r>
                        <a:rPr lang="ko-KR" altLang="en-US" sz="800" dirty="0">
                          <a:latin typeface="+mn-ea"/>
                          <a:ea typeface="+mn-ea"/>
                        </a:rPr>
                        <a:t>면허정보검색 공통 팝업호출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2096497"/>
                  </a:ext>
                </a:extLst>
              </a:tr>
              <a:tr h="0">
                <a:tc>
                  <a:txBody>
                    <a:bodyPr/>
                    <a:lstStyle/>
                    <a:p>
                      <a:pPr latinLnBrk="1"/>
                      <a:r>
                        <a:rPr lang="ko-KR" altLang="en-US" sz="800" dirty="0" err="1">
                          <a:latin typeface="+mn-ea"/>
                          <a:ea typeface="+mn-ea"/>
                        </a:rPr>
                        <a:t>면허정보</a:t>
                      </a:r>
                      <a:r>
                        <a:rPr lang="ko-KR" altLang="en-US" sz="800" dirty="0">
                          <a:latin typeface="+mn-ea"/>
                          <a:ea typeface="+mn-ea"/>
                        </a:rPr>
                        <a:t> 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면허정보 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H</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:GU9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2677810"/>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품명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753219"/>
                  </a:ext>
                </a:extLst>
              </a:tr>
              <a:tr h="0">
                <a:tc>
                  <a:txBody>
                    <a:bodyPr/>
                    <a:lstStyle/>
                    <a:p>
                      <a:pPr latinLnBrk="1"/>
                      <a:r>
                        <a:rPr lang="ko-KR" altLang="en-US" sz="800" dirty="0">
                          <a:latin typeface="+mn-ea"/>
                          <a:ea typeface="+mn-ea"/>
                        </a:rPr>
                        <a:t>입찰형태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elctrNgtnYn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입찰형태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a:t>
                      </a:r>
                      <a:r>
                        <a:rPr lang="ko-KR" altLang="en-US" sz="800" dirty="0">
                          <a:latin typeface="+mn-ea"/>
                          <a:ea typeface="+mn-ea"/>
                        </a:rPr>
                        <a:t>일반입찰</a:t>
                      </a:r>
                      <a:r>
                        <a:rPr lang="en-US" altLang="ko-KR" sz="800" dirty="0">
                          <a:latin typeface="+mn-ea"/>
                          <a:ea typeface="+mn-ea"/>
                        </a:rPr>
                        <a:t>, '2':</a:t>
                      </a:r>
                      <a:r>
                        <a:rPr lang="ko-KR" altLang="en-US" sz="800" dirty="0">
                          <a:latin typeface="+mn-ea"/>
                          <a:ea typeface="+mn-ea"/>
                        </a:rPr>
                        <a:t>전자입찰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511590"/>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706101"/>
                  </a:ext>
                </a:extLst>
              </a:tr>
              <a:tr h="0">
                <a:tc>
                  <a:txBody>
                    <a:bodyPr/>
                    <a:lstStyle/>
                    <a:p>
                      <a:pPr latinLnBrk="1"/>
                      <a:r>
                        <a:rPr lang="ko-KR" altLang="en-US" sz="800" dirty="0">
                          <a:latin typeface="+mn-ea"/>
                          <a:ea typeface="+mn-ea"/>
                        </a:rPr>
                        <a:t>낙찰방법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낙찰방법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:CCMT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8235773"/>
                  </a:ext>
                </a:extLst>
              </a:tr>
              <a:tr h="368604">
                <a:tc>
                  <a:txBody>
                    <a:bodyPr/>
                    <a:lstStyle/>
                    <a:p>
                      <a:pPr latinLnBrk="1"/>
                      <a:r>
                        <a:rPr lang="ko-KR" altLang="en-US" sz="800" dirty="0">
                          <a:latin typeface="+mn-ea"/>
                          <a:ea typeface="+mn-ea"/>
                        </a:rPr>
                        <a:t>기능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spfCode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기능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t>- </a:t>
                      </a:r>
                      <a:r>
                        <a:rPr lang="ko-KR" altLang="en-US" sz="800" dirty="0"/>
                        <a:t>업무구분을 전체</a:t>
                      </a:r>
                      <a:r>
                        <a:rPr lang="en-US" altLang="ko-KR" sz="800" dirty="0"/>
                        <a:t>, </a:t>
                      </a:r>
                      <a:r>
                        <a:rPr lang="ko-KR" altLang="en-US" sz="800" dirty="0"/>
                        <a:t>국외로 선택했을 경우 노출 </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 Alias </a:t>
                      </a:r>
                      <a:r>
                        <a:rPr lang="ko-KR" altLang="en-US" sz="800" dirty="0">
                          <a:latin typeface="+mn-ea"/>
                          <a:ea typeface="+mn-ea"/>
                        </a:rPr>
                        <a:t>항목 </a:t>
                      </a:r>
                      <a:r>
                        <a:rPr lang="en-US" altLang="ko-KR" sz="800" dirty="0">
                          <a:latin typeface="+mn-ea"/>
                          <a:ea typeface="+mn-ea"/>
                        </a:rPr>
                        <a:t>(</a:t>
                      </a:r>
                      <a:r>
                        <a:rPr lang="ko-KR" altLang="en-US" sz="800" dirty="0">
                          <a:latin typeface="+mn-ea"/>
                          <a:ea typeface="+mn-ea"/>
                        </a:rPr>
                        <a:t>상위코드</a:t>
                      </a:r>
                      <a:r>
                        <a:rPr lang="en-US" altLang="ko-KR" sz="800" dirty="0">
                          <a:latin typeface="+mn-ea"/>
                          <a:ea typeface="+mn-ea"/>
                        </a:rPr>
                        <a:t>:SPF)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0871939"/>
                  </a:ext>
                </a:extLst>
              </a:tr>
              <a:tr h="0">
                <a:tc>
                  <a:txBody>
                    <a:bodyPr/>
                    <a:lstStyle/>
                    <a:p>
                      <a:pPr latinLnBrk="1"/>
                      <a:r>
                        <a:rPr lang="ko-KR" altLang="en-US" sz="800" dirty="0" err="1">
                          <a:latin typeface="+mn-ea"/>
                          <a:ea typeface="+mn-ea"/>
                        </a:rPr>
                        <a:t>군구분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prcmRqtInstCd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군구분</a:t>
                      </a:r>
                      <a:r>
                        <a:rPr lang="ko-KR" altLang="en-US" sz="800" dirty="0">
                          <a:latin typeface="+mn-ea"/>
                          <a:ea typeface="+mn-ea"/>
                        </a:rPr>
                        <a:t>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Tx/>
                        <a:buNone/>
                      </a:pPr>
                      <a:r>
                        <a:rPr lang="en-US" altLang="ko-KR" sz="800" dirty="0"/>
                        <a:t>- </a:t>
                      </a:r>
                      <a:r>
                        <a:rPr lang="ko-KR" altLang="en-US" sz="800" dirty="0"/>
                        <a:t>업무구분을 전체</a:t>
                      </a:r>
                      <a:r>
                        <a:rPr lang="en-US" altLang="ko-KR" sz="800" dirty="0"/>
                        <a:t>, </a:t>
                      </a:r>
                      <a:r>
                        <a:rPr lang="ko-KR" altLang="en-US" sz="800" dirty="0"/>
                        <a:t>국외로 선택했을 경우 노출 </a:t>
                      </a:r>
                      <a:endParaRPr lang="en-US" altLang="ko-KR" sz="800" dirty="0"/>
                    </a:p>
                    <a:p>
                      <a:pPr marL="0" indent="0" algn="l" latinLnBrk="1">
                        <a:buFontTx/>
                        <a:buNone/>
                      </a:pPr>
                      <a:r>
                        <a:rPr lang="en-US" altLang="ko-KR" sz="800" dirty="0">
                          <a:latin typeface="+mn-ea"/>
                          <a:ea typeface="+mn-ea"/>
                        </a:rPr>
                        <a:t>- </a:t>
                      </a:r>
                      <a:r>
                        <a:rPr lang="ko-KR" altLang="en-US" sz="800" dirty="0">
                          <a:latin typeface="+mn-ea"/>
                          <a:ea typeface="+mn-ea"/>
                        </a:rPr>
                        <a:t>상위코드</a:t>
                      </a:r>
                      <a:r>
                        <a:rPr lang="en-US" altLang="ko-KR" sz="800" dirty="0">
                          <a:latin typeface="+mn-ea"/>
                          <a:ea typeface="+mn-ea"/>
                        </a:rPr>
                        <a:t>:RS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4040200"/>
                  </a:ext>
                </a:extLst>
              </a:tr>
              <a:tr h="0">
                <a:tc>
                  <a:txBody>
                    <a:bodyPr/>
                    <a:lstStyle/>
                    <a:p>
                      <a:pPr latinLnBrk="1"/>
                      <a:r>
                        <a:rPr lang="ko-KR" altLang="en-US" sz="800" dirty="0" err="1">
                          <a:latin typeface="+mn-ea"/>
                          <a:ea typeface="+mn-ea"/>
                        </a:rPr>
                        <a:t>입찰매체</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bidMediaCd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입찰매체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Tx/>
                        <a:buNone/>
                      </a:pPr>
                      <a:r>
                        <a:rPr lang="en-US" altLang="ko-KR" sz="800" dirty="0"/>
                        <a:t>- </a:t>
                      </a:r>
                      <a:r>
                        <a:rPr lang="ko-KR" altLang="en-US" sz="800" dirty="0"/>
                        <a:t>업무구분을 전체</a:t>
                      </a:r>
                      <a:r>
                        <a:rPr lang="en-US" altLang="ko-KR" sz="800" dirty="0"/>
                        <a:t>, </a:t>
                      </a:r>
                      <a:r>
                        <a:rPr lang="ko-KR" altLang="en-US" sz="800" dirty="0"/>
                        <a:t>국외로 선택했을 경우 노출 </a:t>
                      </a:r>
                      <a:endParaRPr lang="en-US" altLang="ko-KR" sz="800" dirty="0"/>
                    </a:p>
                    <a:p>
                      <a:pPr marL="0" indent="0" algn="l" latinLnBrk="1">
                        <a:buFontTx/>
                        <a:buNone/>
                      </a:pPr>
                      <a:r>
                        <a:rPr lang="en-US" altLang="ko-KR" sz="800" dirty="0"/>
                        <a:t>- </a:t>
                      </a:r>
                      <a:r>
                        <a:rPr lang="ko-KR" altLang="en-US" sz="800" dirty="0"/>
                        <a:t>상위코드</a:t>
                      </a:r>
                      <a:r>
                        <a:rPr lang="en-US" altLang="ko-KR" sz="800" dirty="0"/>
                        <a:t>:BMDC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7834301"/>
                  </a:ext>
                </a:extLst>
              </a:tr>
              <a:tr h="0">
                <a:tc>
                  <a:txBody>
                    <a:bodyPr/>
                    <a:lstStyle/>
                    <a:p>
                      <a:pPr latinLnBrk="1"/>
                      <a:r>
                        <a:rPr lang="ko-KR" altLang="en-US" sz="800" dirty="0">
                          <a:latin typeface="+mn-ea"/>
                          <a:ea typeface="+mn-ea"/>
                        </a:rPr>
                        <a:t>추정가격 </a:t>
                      </a:r>
                      <a:r>
                        <a:rPr lang="en-US" altLang="ko-KR" sz="800" dirty="0">
                          <a:latin typeface="+mn-ea"/>
                          <a:ea typeface="+mn-ea"/>
                        </a:rPr>
                        <a:t>MIN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prsmpPrc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추정가격 </a:t>
                      </a:r>
                      <a:r>
                        <a:rPr lang="en-US" altLang="ko-KR" sz="800">
                          <a:latin typeface="+mn-ea"/>
                          <a:ea typeface="+mn-ea"/>
                        </a:rPr>
                        <a:t>MIN</a:t>
                      </a:r>
                      <a:r>
                        <a:rPr lang="ko-KR" altLang="en-US" sz="800">
                          <a:latin typeface="+mn-ea"/>
                          <a:ea typeface="+mn-ea"/>
                        </a:rPr>
                        <a:t>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2304580"/>
                  </a:ext>
                </a:extLst>
              </a:tr>
              <a:tr h="0">
                <a:tc>
                  <a:txBody>
                    <a:bodyPr/>
                    <a:lstStyle/>
                    <a:p>
                      <a:pPr latinLnBrk="1"/>
                      <a:r>
                        <a:rPr lang="ko-KR" altLang="en-US" sz="800" dirty="0">
                          <a:latin typeface="+mn-ea"/>
                          <a:ea typeface="+mn-ea"/>
                        </a:rPr>
                        <a:t>추정가격 </a:t>
                      </a:r>
                      <a:r>
                        <a:rPr lang="en-US" altLang="ko-KR" sz="800" dirty="0">
                          <a:latin typeface="+mn-ea"/>
                          <a:ea typeface="+mn-ea"/>
                        </a:rPr>
                        <a:t>MAX</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prsmpPrc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추정가격 </a:t>
                      </a:r>
                      <a:r>
                        <a:rPr lang="en-US" altLang="ko-KR" sz="800">
                          <a:latin typeface="+mn-ea"/>
                          <a:ea typeface="+mn-ea"/>
                        </a:rPr>
                        <a:t>MAX</a:t>
                      </a:r>
                      <a:r>
                        <a:rPr lang="ko-KR" altLang="en-US" sz="800">
                          <a:latin typeface="+mn-ea"/>
                          <a:ea typeface="+mn-ea"/>
                        </a:rPr>
                        <a:t>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662486"/>
                  </a:ext>
                </a:extLst>
              </a:tr>
              <a:tr h="0">
                <a:tc>
                  <a:txBody>
                    <a:bodyPr/>
                    <a:lstStyle/>
                    <a:p>
                      <a:pPr latinLnBrk="1"/>
                      <a:r>
                        <a:rPr lang="ko-KR" altLang="en-US" sz="800" dirty="0" err="1">
                          <a:latin typeface="+mn-ea"/>
                          <a:ea typeface="+mn-ea"/>
                        </a:rPr>
                        <a:t>신기술여부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ntchYn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신기술여부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업무구분을 전체</a:t>
                      </a:r>
                      <a:r>
                        <a:rPr lang="en-US" altLang="ko-KR" sz="800" dirty="0"/>
                        <a:t>, </a:t>
                      </a:r>
                      <a:r>
                        <a:rPr lang="ko-KR" altLang="en-US" sz="800" dirty="0"/>
                        <a:t>물품</a:t>
                      </a:r>
                      <a:r>
                        <a:rPr lang="en-US" altLang="ko-KR" sz="800" dirty="0"/>
                        <a:t>,</a:t>
                      </a:r>
                      <a:r>
                        <a:rPr lang="ko-KR" altLang="en-US" sz="800" dirty="0"/>
                        <a:t> 용역을 선택했을 경우만 </a:t>
                      </a:r>
                      <a:r>
                        <a:rPr lang="en-US" altLang="ko-KR" sz="800" dirty="0"/>
                        <a:t> </a:t>
                      </a:r>
                      <a:r>
                        <a:rPr lang="ko-KR" altLang="en-US" sz="800" dirty="0"/>
                        <a:t>항목 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1184435"/>
                  </a:ext>
                </a:extLst>
              </a:tr>
            </a:tbl>
          </a:graphicData>
        </a:graphic>
      </p:graphicFrame>
      <p:sp>
        <p:nvSpPr>
          <p:cNvPr id="2" name="Text Box 73">
            <a:extLst>
              <a:ext uri="{FF2B5EF4-FFF2-40B4-BE49-F238E27FC236}">
                <a16:creationId xmlns:a16="http://schemas.microsoft.com/office/drawing/2014/main" id="{89CA0215-C2D8-E896-1E91-52FE075BED8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3214042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23</a:t>
            </a:fld>
            <a:endParaRPr lang="ko-KR" altLang="en-US" dirty="0"/>
          </a:p>
        </p:txBody>
      </p:sp>
      <p:sp>
        <p:nvSpPr>
          <p:cNvPr id="18" name="TextBox 17">
            <a:extLst>
              <a:ext uri="{FF2B5EF4-FFF2-40B4-BE49-F238E27FC236}">
                <a16:creationId xmlns:a16="http://schemas.microsoft.com/office/drawing/2014/main" id="{83358D31-792E-1F31-CE2A-A2AE122E42CC}"/>
              </a:ext>
            </a:extLst>
          </p:cNvPr>
          <p:cNvSpPr txBox="1"/>
          <p:nvPr/>
        </p:nvSpPr>
        <p:spPr>
          <a:xfrm>
            <a:off x="458117" y="811422"/>
            <a:ext cx="3131233"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입찰공고통합목록</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dlt_bidPbancIntgList</a:t>
            </a:r>
            <a:r>
              <a:rPr lang="en-US" altLang="ko-KR" sz="900" b="1" dirty="0">
                <a:solidFill>
                  <a:prstClr val="black"/>
                </a:solidFill>
              </a:rPr>
              <a:t>)</a:t>
            </a:r>
            <a:endParaRPr lang="ko-KR" altLang="en-US" sz="900" b="1" dirty="0">
              <a:solidFill>
                <a:prstClr val="black"/>
              </a:solidFill>
            </a:endParaRPr>
          </a:p>
        </p:txBody>
      </p:sp>
      <p:graphicFrame>
        <p:nvGraphicFramePr>
          <p:cNvPr id="20" name="표 19">
            <a:extLst>
              <a:ext uri="{FF2B5EF4-FFF2-40B4-BE49-F238E27FC236}">
                <a16:creationId xmlns:a16="http://schemas.microsoft.com/office/drawing/2014/main" id="{3969C2BD-BAE7-E4E1-6BA5-91005212D745}"/>
              </a:ext>
            </a:extLst>
          </p:cNvPr>
          <p:cNvGraphicFramePr>
            <a:graphicFrameLocks noGrp="1"/>
          </p:cNvGraphicFramePr>
          <p:nvPr>
            <p:extLst>
              <p:ext uri="{D42A27DB-BD31-4B8C-83A1-F6EECF244321}">
                <p14:modId xmlns:p14="http://schemas.microsoft.com/office/powerpoint/2010/main" val="3715899208"/>
              </p:ext>
            </p:extLst>
          </p:nvPr>
        </p:nvGraphicFramePr>
        <p:xfrm>
          <a:off x="452999" y="1013115"/>
          <a:ext cx="8994882" cy="26428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329127">
                  <a:extLst>
                    <a:ext uri="{9D8B030D-6E8A-4147-A177-3AD203B41FA5}">
                      <a16:colId xmlns:a16="http://schemas.microsoft.com/office/drawing/2014/main" val="3427634697"/>
                    </a:ext>
                  </a:extLst>
                </a:gridCol>
                <a:gridCol w="2793527">
                  <a:extLst>
                    <a:ext uri="{9D8B030D-6E8A-4147-A177-3AD203B41FA5}">
                      <a16:colId xmlns:a16="http://schemas.microsoft.com/office/drawing/2014/main" val="20001"/>
                    </a:ext>
                  </a:extLst>
                </a:gridCol>
                <a:gridCol w="449743">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목록의 순번</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공곡구분</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0954399"/>
                  </a:ext>
                </a:extLst>
              </a:tr>
              <a:tr h="0">
                <a:tc>
                  <a:txBody>
                    <a:bodyPr/>
                    <a:lstStyle/>
                    <a:p>
                      <a:pPr latinLnBrk="1"/>
                      <a:r>
                        <a:rPr lang="en-US" altLang="ko-KR" sz="800" dirty="0">
                          <a:latin typeface="+mn-ea"/>
                          <a:ea typeface="+mn-ea"/>
                        </a:rPr>
                        <a:t>G2B</a:t>
                      </a:r>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g2BBidPbancNo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en-US" altLang="ko-KR" sz="800" dirty="0">
                          <a:latin typeface="+mn-ea"/>
                        </a:rPr>
                        <a:t>G2B</a:t>
                      </a:r>
                      <a:r>
                        <a:rPr lang="ko-KR" altLang="en-US" sz="800" dirty="0">
                          <a:latin typeface="+mn-ea"/>
                        </a:rPr>
                        <a:t>공고번호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28736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G2B</a:t>
                      </a:r>
                      <a:r>
                        <a:rPr lang="ko-KR" altLang="en-US" sz="800" dirty="0" err="1">
                          <a:latin typeface="+mn-ea"/>
                          <a:ea typeface="+mn-ea"/>
                        </a:rPr>
                        <a:t>공고차수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g2BBidPbancCycl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en-US" altLang="ko-KR" sz="800" dirty="0">
                          <a:latin typeface="+mn-ea"/>
                        </a:rPr>
                        <a:t>G2B</a:t>
                      </a:r>
                      <a:r>
                        <a:rPr lang="ko-KR" altLang="en-US" sz="800" dirty="0" err="1">
                          <a:latin typeface="+mn-ea"/>
                        </a:rPr>
                        <a:t>공고차수</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8587622"/>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통합참조번호</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r>
                        <a:rPr lang="en-US" altLang="ko-KR" sz="800" dirty="0">
                          <a:latin typeface="+mn-ea"/>
                          <a:ea typeface="+mn-ea"/>
                        </a:rPr>
                        <a:t>As-is : </a:t>
                      </a:r>
                      <a:r>
                        <a:rPr lang="ko-KR" altLang="en-US" sz="800" dirty="0" err="1">
                          <a:latin typeface="+mn-ea"/>
                          <a:ea typeface="+mn-ea"/>
                        </a:rPr>
                        <a:t>지시년도</a:t>
                      </a:r>
                      <a:r>
                        <a:rPr lang="en-US" altLang="ko-KR" sz="800" dirty="0">
                          <a:latin typeface="+mn-ea"/>
                          <a:ea typeface="+mn-ea"/>
                        </a:rPr>
                        <a:t>+</a:t>
                      </a:r>
                      <a:r>
                        <a:rPr lang="ko-KR" altLang="en-US" sz="800" dirty="0">
                          <a:latin typeface="+mn-ea"/>
                          <a:ea typeface="+mn-ea"/>
                        </a:rPr>
                        <a:t>부서코드</a:t>
                      </a:r>
                      <a:r>
                        <a:rPr lang="en-US" altLang="ko-KR" sz="800" dirty="0">
                          <a:latin typeface="+mn-ea"/>
                          <a:ea typeface="+mn-ea"/>
                        </a:rPr>
                        <a:t>+</a:t>
                      </a:r>
                      <a:r>
                        <a:rPr lang="ko-KR" altLang="en-US" sz="800" dirty="0">
                          <a:latin typeface="+mn-ea"/>
                          <a:ea typeface="+mn-ea"/>
                        </a:rPr>
                        <a:t>판단번호</a:t>
                      </a:r>
                      <a:r>
                        <a:rPr lang="en-US" altLang="ko-KR" sz="800" dirty="0">
                          <a:latin typeface="+mn-ea"/>
                          <a:ea typeface="+mn-ea"/>
                        </a:rPr>
                        <a:t>(12)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0003859"/>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공고명</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130161"/>
                  </a:ext>
                </a:extLst>
              </a:tr>
              <a:tr h="0">
                <a:tc>
                  <a:txBody>
                    <a:bodyPr/>
                    <a:lstStyle/>
                    <a:p>
                      <a:pPr latinLnBrk="1"/>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csrtName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공사명</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5694724"/>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발주기관명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a:t>
                      </a:r>
                      <a:r>
                        <a:rPr lang="ko-KR" altLang="en-US" sz="800" dirty="0">
                          <a:latin typeface="+mn-ea"/>
                          <a:ea typeface="+mn-ea"/>
                        </a:rPr>
                        <a:t>발주기관코드는 공통코드로 조회</a:t>
                      </a:r>
                      <a:endParaRPr lang="en-US" altLang="ko-KR" sz="800" dirty="0">
                        <a:latin typeface="+mn-ea"/>
                        <a:ea typeface="+mn-ea"/>
                      </a:endParaRPr>
                    </a:p>
                    <a:p>
                      <a:pPr algn="l" latinLnBrk="1"/>
                      <a:r>
                        <a:rPr lang="en-US" altLang="ko-KR" sz="800" dirty="0">
                          <a:latin typeface="+mn-ea"/>
                          <a:ea typeface="+mn-ea"/>
                        </a:rPr>
                        <a:t>- </a:t>
                      </a:r>
                      <a:r>
                        <a:rPr lang="ko-KR" altLang="en-US" sz="800" dirty="0">
                          <a:latin typeface="+mn-ea"/>
                          <a:ea typeface="+mn-ea"/>
                        </a:rPr>
                        <a:t>상위코드</a:t>
                      </a:r>
                      <a:r>
                        <a:rPr lang="en-US" altLang="ko-KR" sz="800" dirty="0">
                          <a:latin typeface="+mn-ea"/>
                          <a:ea typeface="+mn-ea"/>
                        </a:rPr>
                        <a:t>:RIC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6973415"/>
                  </a:ext>
                </a:extLst>
              </a:tr>
              <a:tr h="0">
                <a:tc>
                  <a:txBody>
                    <a:bodyPr/>
                    <a:lstStyle/>
                    <a:p>
                      <a:pPr latinLnBrk="1"/>
                      <a:r>
                        <a:rPr lang="ko-KR" altLang="en-US" sz="800" dirty="0" err="1">
                          <a:latin typeface="+mn-ea"/>
                          <a:ea typeface="+mn-ea"/>
                        </a:rPr>
                        <a:t>생산능력제출마감일시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prdcpIdntySmdocDdlnDt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생산능력제출마감일시</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6183695"/>
                  </a:ext>
                </a:extLst>
              </a:tr>
              <a:tr h="0">
                <a:tc>
                  <a:txBody>
                    <a:bodyPr/>
                    <a:lstStyle/>
                    <a:p>
                      <a:pPr latinLnBrk="1"/>
                      <a:r>
                        <a:rPr lang="ko-KR" altLang="en-US" sz="800" dirty="0" err="1">
                          <a:latin typeface="+mn-ea"/>
                          <a:ea typeface="+mn-ea"/>
                        </a:rPr>
                        <a:t>입찰참가등록마감일시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bidClrsDt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ea typeface="+mn-ea"/>
                        </a:rPr>
                        <a:t>입찰참가등록마감일시</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7272096"/>
                  </a:ext>
                </a:extLst>
              </a:tr>
              <a:tr h="0">
                <a:tc>
                  <a:txBody>
                    <a:bodyPr/>
                    <a:lstStyle/>
                    <a:p>
                      <a:pPr latinLnBrk="1"/>
                      <a:r>
                        <a:rPr lang="ko-KR" altLang="en-US" sz="800" dirty="0">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a:latin typeface="+mn-ea"/>
                          <a:ea typeface="+mn-ea"/>
                        </a:rPr>
                        <a:t>입찰서제출마감일시</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101295"/>
                  </a:ext>
                </a:extLst>
              </a:tr>
              <a:tr h="0">
                <a:tc>
                  <a:txBody>
                    <a:bodyPr/>
                    <a:lstStyle/>
                    <a:p>
                      <a:pPr latinLnBrk="1"/>
                      <a:r>
                        <a:rPr lang="ko-KR" altLang="en-US" sz="800" dirty="0" err="1">
                          <a:latin typeface="+mn-ea"/>
                          <a:ea typeface="+mn-ea"/>
                        </a:rPr>
                        <a:t>기초예가금액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a:latin typeface="+mn-ea"/>
                          <a:ea typeface="+mn-ea"/>
                        </a:rPr>
                        <a:t>기초예정가격 금액</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80594"/>
                  </a:ext>
                </a:extLst>
              </a:tr>
            </a:tbl>
          </a:graphicData>
        </a:graphic>
      </p:graphicFrame>
      <p:sp>
        <p:nvSpPr>
          <p:cNvPr id="2" name="TextBox 1">
            <a:extLst>
              <a:ext uri="{FF2B5EF4-FFF2-40B4-BE49-F238E27FC236}">
                <a16:creationId xmlns:a16="http://schemas.microsoft.com/office/drawing/2014/main" id="{7DF96B98-6182-D38D-6A2C-E4584E8194E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7F9FE1A4-EEE2-C8EB-7EC2-03A00C7695E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001780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24</a:t>
            </a:fld>
            <a:endParaRPr lang="ko-KR" altLang="en-US" dirty="0"/>
          </a:p>
        </p:txBody>
      </p:sp>
      <p:sp>
        <p:nvSpPr>
          <p:cNvPr id="6" name="TextBox 5">
            <a:extLst>
              <a:ext uri="{FF2B5EF4-FFF2-40B4-BE49-F238E27FC236}">
                <a16:creationId xmlns:a16="http://schemas.microsoft.com/office/drawing/2014/main" id="{7F545FD0-B8C5-4B98-203E-A36908FB8DD4}"/>
              </a:ext>
            </a:extLst>
          </p:cNvPr>
          <p:cNvSpPr txBox="1"/>
          <p:nvPr/>
        </p:nvSpPr>
        <p:spPr>
          <a:xfrm>
            <a:off x="458117" y="57752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A31F6A43-1297-CF99-ABFA-B1F80565E966}"/>
              </a:ext>
            </a:extLst>
          </p:cNvPr>
          <p:cNvGraphicFramePr>
            <a:graphicFrameLocks noGrp="1"/>
          </p:cNvGraphicFramePr>
          <p:nvPr>
            <p:extLst>
              <p:ext uri="{D42A27DB-BD31-4B8C-83A1-F6EECF244321}">
                <p14:modId xmlns:p14="http://schemas.microsoft.com/office/powerpoint/2010/main" val="2935223516"/>
              </p:ext>
            </p:extLst>
          </p:nvPr>
        </p:nvGraphicFramePr>
        <p:xfrm>
          <a:off x="453000" y="855658"/>
          <a:ext cx="8995591" cy="1263360"/>
        </p:xfrm>
        <a:graphic>
          <a:graphicData uri="http://schemas.openxmlformats.org/drawingml/2006/table">
            <a:tbl>
              <a:tblPr>
                <a:tableStyleId>{616DA210-FB5B-4158-B5E0-FEB733F419BA}</a:tableStyleId>
              </a:tblPr>
              <a:tblGrid>
                <a:gridCol w="1123251">
                  <a:extLst>
                    <a:ext uri="{9D8B030D-6E8A-4147-A177-3AD203B41FA5}">
                      <a16:colId xmlns:a16="http://schemas.microsoft.com/office/drawing/2014/main" val="20000"/>
                    </a:ext>
                  </a:extLst>
                </a:gridCol>
                <a:gridCol w="992778">
                  <a:extLst>
                    <a:ext uri="{9D8B030D-6E8A-4147-A177-3AD203B41FA5}">
                      <a16:colId xmlns:a16="http://schemas.microsoft.com/office/drawing/2014/main" val="624624882"/>
                    </a:ext>
                  </a:extLst>
                </a:gridCol>
                <a:gridCol w="3509827">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페이지 로딩 시</a:t>
                      </a:r>
                      <a:r>
                        <a:rPr lang="en-US" altLang="ko-KR" sz="800" dirty="0"/>
                        <a:t> </a:t>
                      </a:r>
                      <a:r>
                        <a:rPr lang="ko-KR" altLang="en-US" sz="800" dirty="0"/>
                        <a:t>공고</a:t>
                      </a:r>
                      <a:r>
                        <a:rPr lang="en-US" altLang="ko-KR" sz="800" dirty="0"/>
                        <a:t>/</a:t>
                      </a:r>
                      <a:r>
                        <a:rPr lang="ko-KR" altLang="en-US" sz="800" dirty="0"/>
                        <a:t>개찰일자를 현재일자의 </a:t>
                      </a:r>
                      <a:r>
                        <a:rPr lang="ko-KR" altLang="en-US" sz="800" dirty="0" err="1"/>
                        <a:t>한달전일자부터</a:t>
                      </a:r>
                      <a:r>
                        <a:rPr lang="ko-KR" altLang="en-US" sz="800" dirty="0"/>
                        <a:t> 현재일자까지 세팅한다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공고검색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Scwin.btn_pbancSrch_onclick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입찰공고통합목록 조회조건을 이용하여 공고목록을 조회한다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r h="0">
                <a:tc>
                  <a:txBody>
                    <a:bodyPr/>
                    <a:lstStyle/>
                    <a:p>
                      <a:r>
                        <a:rPr lang="ko-KR" altLang="en-US" sz="800" dirty="0"/>
                        <a:t>카드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Scwin.grd_pbancList_onclick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입찰공고통합목록에서 공고 클릭 시 해당 공고의 상세정보를 조회한다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국내</a:t>
                      </a:r>
                      <a:r>
                        <a:rPr lang="en-US" altLang="ko-KR" sz="800" dirty="0">
                          <a:latin typeface="+mn-ea"/>
                          <a:ea typeface="+mn-ea"/>
                        </a:rPr>
                        <a:t>:  (</a:t>
                      </a:r>
                      <a:r>
                        <a:rPr lang="en-US" altLang="ko-KR" sz="800" dirty="0"/>
                        <a:t>UI-BD-01-M03</a:t>
                      </a:r>
                      <a:r>
                        <a:rPr lang="en-US" altLang="ko-KR" sz="800" dirty="0">
                          <a:latin typeface="+mn-ea"/>
                          <a:ea typeface="+mn-ea"/>
                        </a:rPr>
                        <a:t>) </a:t>
                      </a:r>
                      <a:r>
                        <a:rPr lang="ko-KR" altLang="en-US" sz="800" dirty="0" err="1">
                          <a:latin typeface="+mn-ea"/>
                          <a:ea typeface="+mn-ea"/>
                        </a:rPr>
                        <a:t>입찰공고상세</a:t>
                      </a:r>
                      <a:endParaRPr lang="en-US" altLang="ko-KR" sz="800" dirty="0">
                        <a:latin typeface="+mn-ea"/>
                        <a:ea typeface="+mn-ea"/>
                      </a:endParaRPr>
                    </a:p>
                    <a:p>
                      <a:pPr marL="87313" indent="-87313" algn="l" latinLnBrk="1">
                        <a:buFont typeface="Arial" panose="020B0604020202020204" pitchFamily="34" charset="0"/>
                        <a:buChar char="•"/>
                      </a:pPr>
                      <a:r>
                        <a:rPr lang="ko-KR" altLang="en-US" sz="800" dirty="0">
                          <a:latin typeface="+mn-ea"/>
                          <a:ea typeface="+mn-ea"/>
                        </a:rPr>
                        <a:t>국외 </a:t>
                      </a:r>
                      <a:r>
                        <a:rPr lang="en-US" altLang="ko-KR" sz="800" dirty="0">
                          <a:latin typeface="+mn-ea"/>
                          <a:ea typeface="+mn-ea"/>
                        </a:rPr>
                        <a:t>: (UI-BD-01-M71) </a:t>
                      </a:r>
                      <a:r>
                        <a:rPr lang="ko-KR" altLang="en-US" sz="800" dirty="0" err="1">
                          <a:latin typeface="+mn-ea"/>
                          <a:ea typeface="+mn-ea"/>
                        </a:rPr>
                        <a:t>입찰공고상세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3167767"/>
                  </a:ext>
                </a:extLst>
              </a:tr>
            </a:tbl>
          </a:graphicData>
        </a:graphic>
      </p:graphicFrame>
      <p:sp>
        <p:nvSpPr>
          <p:cNvPr id="8"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0898550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25</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2. </a:t>
            </a:r>
            <a:r>
              <a:rPr lang="ko-KR" altLang="en-US" dirty="0"/>
              <a:t>입찰공고 상세 기능 안내</a:t>
            </a:r>
            <a:endParaRPr lang="en-US" altLang="ko-KR" dirty="0"/>
          </a:p>
          <a:p>
            <a:r>
              <a:rPr lang="en-US" altLang="ko-KR" dirty="0" smtClean="0"/>
              <a:t>2.1 </a:t>
            </a:r>
            <a:r>
              <a:rPr lang="ko-KR" altLang="en-US" dirty="0"/>
              <a:t>화면 목록</a:t>
            </a:r>
          </a:p>
        </p:txBody>
      </p:sp>
      <p:graphicFrame>
        <p:nvGraphicFramePr>
          <p:cNvPr id="5" name="표 4"/>
          <p:cNvGraphicFramePr>
            <a:graphicFrameLocks noGrp="1"/>
          </p:cNvGraphicFramePr>
          <p:nvPr>
            <p:extLst>
              <p:ext uri="{D42A27DB-BD31-4B8C-83A1-F6EECF244321}">
                <p14:modId xmlns:p14="http://schemas.microsoft.com/office/powerpoint/2010/main" val="4010492162"/>
              </p:ext>
            </p:extLst>
          </p:nvPr>
        </p:nvGraphicFramePr>
        <p:xfrm>
          <a:off x="635474" y="1413419"/>
          <a:ext cx="8701200" cy="3402129"/>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sz="700" b="0" i="0" u="none" strike="noStrike" kern="1200" dirty="0">
                          <a:solidFill>
                            <a:srgbClr val="000000"/>
                          </a:solidFill>
                          <a:effectLst/>
                          <a:latin typeface="+mn-ea"/>
                          <a:ea typeface="+mn-ea"/>
                          <a:cs typeface="+mn-cs"/>
                        </a:rPr>
                        <a:t>MUI-BD-01-M07</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smtClean="0">
                          <a:latin typeface="+mn-ea"/>
                          <a:ea typeface="+mn-ea"/>
                        </a:rPr>
                        <a:t>입찰공고상세</a:t>
                      </a:r>
                      <a:endParaRPr lang="en-US" altLang="ko-KR"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BidPbancDtlPage</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입찰 공고 상세 화면</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ea typeface="+mn-ea"/>
                        </a:rPr>
                        <a:t>bidPbancDtl</a:t>
                      </a:r>
                      <a:r>
                        <a:rPr lang="en-US" altLang="ko-KR" sz="800" dirty="0" smtClean="0">
                          <a:solidFill>
                            <a:schemeClr val="tx1"/>
                          </a:solidFill>
                          <a:latin typeface="+mn-ea"/>
                          <a:ea typeface="+mn-ea"/>
                        </a:rPr>
                        <a:t>/</a:t>
                      </a:r>
                      <a:r>
                        <a:rPr lang="en-US" altLang="ko-KR" sz="800" b="0" i="0" u="none" strike="noStrike" kern="1200" dirty="0" err="1" smtClean="0">
                          <a:solidFill>
                            <a:schemeClr val="tx1"/>
                          </a:solidFill>
                          <a:effectLst/>
                          <a:latin typeface="+mn-lt"/>
                          <a:ea typeface="+mn-ea"/>
                          <a:cs typeface="+mn-cs"/>
                        </a:rPr>
                        <a:t>BidPbancDtlPage</a:t>
                      </a:r>
                      <a:r>
                        <a:rPr lang="en-US" altLang="ko-KR" sz="800" dirty="0" err="1" smtClean="0">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80000">
                <a:tc>
                  <a:txBody>
                    <a:bodyPr/>
                    <a:lstStyle/>
                    <a:p>
                      <a:pPr marL="0" marR="0" indent="0" algn="l" defTabSz="914400" rtl="0" eaLnBrk="1" fontAlgn="t" latinLnBrk="1" hangingPunct="1">
                        <a:lnSpc>
                          <a:spcPct val="100000"/>
                        </a:lnSpc>
                        <a:spcBef>
                          <a:spcPts val="0"/>
                        </a:spcBef>
                        <a:spcAft>
                          <a:spcPts val="0"/>
                        </a:spcAft>
                        <a:buClrTx/>
                        <a:buSzTx/>
                        <a:buFontTx/>
                        <a:buNone/>
                        <a:tabLst/>
                        <a:defRPr/>
                      </a:pPr>
                      <a:r>
                        <a:rPr lang="en-US" altLang="ko-KR" sz="700" b="0" i="0" u="none" strike="noStrike" kern="1200" dirty="0">
                          <a:solidFill>
                            <a:srgbClr val="000000"/>
                          </a:solidFill>
                          <a:effectLst/>
                          <a:latin typeface="+mn-ea"/>
                          <a:ea typeface="+mn-ea"/>
                          <a:cs typeface="+mn-cs"/>
                        </a:rPr>
                        <a:t>MUI-BD-01-P13</a:t>
                      </a:r>
                      <a:endParaRPr lang="ko-KR" altLang="en-US"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관심공고등록</a:t>
                      </a:r>
                      <a:r>
                        <a:rPr lang="en-US" altLang="ko-KR" sz="800" kern="1200" dirty="0" smtClean="0">
                          <a:solidFill>
                            <a:schemeClr val="tx1"/>
                          </a:solidFill>
                          <a:latin typeface="+mn-ea"/>
                          <a:ea typeface="+mn-ea"/>
                          <a:cs typeface="+mn-cs"/>
                        </a:rPr>
                        <a:t>,</a:t>
                      </a:r>
                      <a:r>
                        <a:rPr lang="ko-KR" altLang="en-US" sz="800" kern="1200" dirty="0" smtClean="0">
                          <a:solidFill>
                            <a:schemeClr val="tx1"/>
                          </a:solidFill>
                          <a:latin typeface="+mn-ea"/>
                          <a:ea typeface="+mn-ea"/>
                          <a:cs typeface="+mn-cs"/>
                        </a:rPr>
                        <a:t>제외</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a:solidFill>
                            <a:schemeClr val="tx1"/>
                          </a:solidFill>
                          <a:effectLst/>
                          <a:latin typeface="+mn-lt"/>
                          <a:ea typeface="+mn-ea"/>
                          <a:cs typeface="+mn-cs"/>
                        </a:rPr>
                        <a:t>Toast</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rPr>
                        <a:t>관심공고</a:t>
                      </a:r>
                      <a:r>
                        <a:rPr lang="ko-KR" altLang="en-US" sz="800" dirty="0">
                          <a:latin typeface="+mn-ea"/>
                        </a:rPr>
                        <a:t> 등록</a:t>
                      </a:r>
                      <a:r>
                        <a:rPr lang="en-US" altLang="ko-KR" sz="800" dirty="0">
                          <a:latin typeface="+mn-ea"/>
                        </a:rPr>
                        <a:t>, </a:t>
                      </a:r>
                      <a:r>
                        <a:rPr lang="ko-KR" altLang="en-US" sz="800" dirty="0">
                          <a:latin typeface="+mn-ea"/>
                        </a:rPr>
                        <a:t>제외 메시지</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/common/composites/</a:t>
                      </a:r>
                      <a:r>
                        <a:rPr lang="en-US" altLang="ko-KR" sz="800" dirty="0" err="1">
                          <a:solidFill>
                            <a:schemeClr val="tx1"/>
                          </a:solidFill>
                          <a:latin typeface="+mn-ea"/>
                          <a:ea typeface="+mn-ea"/>
                        </a:rPr>
                        <a:t>Toast.tsx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664519"/>
                  </a:ext>
                </a:extLst>
              </a:tr>
              <a:tr h="180000">
                <a:tc>
                  <a:txBody>
                    <a:bodyPr/>
                    <a:lstStyle/>
                    <a:p>
                      <a:pPr algn="l" fontAlgn="ctr"/>
                      <a:r>
                        <a:rPr lang="en-US" sz="700" b="0" i="0" u="none" strike="noStrike" kern="1200">
                          <a:solidFill>
                            <a:srgbClr val="000000"/>
                          </a:solidFill>
                          <a:effectLst/>
                          <a:latin typeface="+mn-ea"/>
                          <a:ea typeface="+mn-ea"/>
                          <a:cs typeface="+mn-cs"/>
                        </a:rPr>
                        <a:t>MUI-BD-01-T01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dirty="0" smtClean="0">
                          <a:latin typeface="+mn-ea"/>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BidPbancDtl</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입찰 공고의 일반정보 탭 화면</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ea typeface="+mn-ea"/>
                        </a:rPr>
                        <a:t>bidPbancDtl</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ea typeface="+mn-ea"/>
                        </a:rPr>
                        <a:t>BidPbancDtl</a:t>
                      </a:r>
                      <a:r>
                        <a:rPr lang="en-US" altLang="ko-KR" sz="800" dirty="0" err="1"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smtClean="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365685885"/>
                  </a:ext>
                </a:extLst>
              </a:tr>
              <a:tr h="180000">
                <a:tc>
                  <a:txBody>
                    <a:bodyPr/>
                    <a:lstStyle/>
                    <a:p>
                      <a:pPr algn="l" fontAlgn="ctr"/>
                      <a:r>
                        <a:rPr lang="en-US" sz="700" b="0" i="0" u="none" strike="noStrike" kern="1200">
                          <a:solidFill>
                            <a:srgbClr val="000000"/>
                          </a:solidFill>
                          <a:effectLst/>
                          <a:latin typeface="+mn-ea"/>
                          <a:ea typeface="+mn-ea"/>
                          <a:cs typeface="+mn-cs"/>
                        </a:rPr>
                        <a:t>MUI-BD-01-T02</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ea"/>
                        </a:rPr>
                        <a:t>기초예비가격</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b="0" i="0" u="none" strike="noStrike" kern="1200" dirty="0">
                          <a:solidFill>
                            <a:schemeClr val="tx1"/>
                          </a:solidFill>
                          <a:effectLst/>
                          <a:latin typeface="+mn-lt"/>
                          <a:ea typeface="+mn-ea"/>
                          <a:cs typeface="+mn-cs"/>
                        </a:rPr>
                        <a:t>BidPbancDtl_Tacpg02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입찰 공고의 기초예비가격 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F0502020204030204"/>
                          <a:ea typeface="맑은 고딕" panose="020B0503020000020004" pitchFamily="50" charset="-127"/>
                          <a:cs typeface="+mn-cs"/>
                        </a:rPr>
                        <a:t>bidPbancDtl</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kern="1200" dirty="0" smtClean="0">
                          <a:solidFill>
                            <a:schemeClr val="tx1"/>
                          </a:solidFill>
                          <a:effectLst/>
                          <a:latin typeface="+mn-lt"/>
                          <a:ea typeface="+mn-ea"/>
                          <a:cs typeface="+mn-cs"/>
                        </a:rPr>
                        <a:t>BidPbancDtl_Tacpg02</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845524264"/>
                  </a:ext>
                </a:extLst>
              </a:tr>
              <a:tr h="180000">
                <a:tc>
                  <a:txBody>
                    <a:bodyPr/>
                    <a:lstStyle/>
                    <a:p>
                      <a:pPr algn="l" fontAlgn="ctr"/>
                      <a:r>
                        <a:rPr lang="en-US" sz="700" b="0" i="0" u="none" strike="noStrike" kern="1200">
                          <a:solidFill>
                            <a:srgbClr val="000000"/>
                          </a:solidFill>
                          <a:effectLst/>
                          <a:latin typeface="+mn-ea"/>
                          <a:ea typeface="+mn-ea"/>
                          <a:cs typeface="+mn-cs"/>
                        </a:rPr>
                        <a:t>MUI-BD-01-T03</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r>
                        <a:rPr lang="ko-KR" altLang="en-US" sz="800" dirty="0" err="1" smtClean="0">
                          <a:latin typeface="+mn-ea"/>
                        </a:rPr>
                        <a:t>품목명세서</a:t>
                      </a:r>
                      <a:endParaRPr lang="ko-KR" altLang="en-US" sz="800" dirty="0">
                        <a:latin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b="0" i="0" u="none" strike="noStrike" kern="1200" dirty="0">
                          <a:solidFill>
                            <a:schemeClr val="tx1"/>
                          </a:solidFill>
                          <a:effectLst/>
                          <a:latin typeface="+mn-lt"/>
                          <a:ea typeface="+mn-ea"/>
                          <a:cs typeface="+mn-cs"/>
                        </a:rPr>
                        <a:t>BidPbancDtl_Tacpg03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입찰 공고의 </a:t>
                      </a:r>
                      <a:r>
                        <a:rPr lang="ko-KR" altLang="en-US" sz="800" kern="1200" dirty="0" err="1" smtClean="0">
                          <a:solidFill>
                            <a:schemeClr val="tx1"/>
                          </a:solidFill>
                          <a:latin typeface="+mn-ea"/>
                          <a:ea typeface="+mn-ea"/>
                          <a:cs typeface="+mn-cs"/>
                        </a:rPr>
                        <a:t>품목명세서</a:t>
                      </a:r>
                      <a:r>
                        <a:rPr lang="ko-KR" altLang="en-US" sz="800" kern="1200" dirty="0" smtClean="0">
                          <a:solidFill>
                            <a:schemeClr val="tx1"/>
                          </a:solidFill>
                          <a:latin typeface="+mn-ea"/>
                          <a:ea typeface="+mn-ea"/>
                          <a:cs typeface="+mn-cs"/>
                        </a:rPr>
                        <a:t> 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F0502020204030204"/>
                          <a:ea typeface="맑은 고딕" panose="020B0503020000020004" pitchFamily="50" charset="-127"/>
                          <a:cs typeface="+mn-cs"/>
                        </a:rPr>
                        <a:t>bidPbancDtl</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kern="1200" dirty="0" smtClean="0">
                          <a:solidFill>
                            <a:schemeClr val="tx1"/>
                          </a:solidFill>
                          <a:effectLst/>
                          <a:latin typeface="+mn-lt"/>
                          <a:ea typeface="+mn-ea"/>
                          <a:cs typeface="+mn-cs"/>
                        </a:rPr>
                        <a:t>BidPbancDtl_Tacpg03</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464168277"/>
                  </a:ext>
                </a:extLst>
              </a:tr>
              <a:tr h="180000">
                <a:tc>
                  <a:txBody>
                    <a:bodyPr/>
                    <a:lstStyle/>
                    <a:p>
                      <a:pPr algn="l" fontAlgn="ctr"/>
                      <a:r>
                        <a:rPr lang="en-US" sz="700" b="0" i="0" u="none" strike="noStrike" kern="1200" dirty="0">
                          <a:solidFill>
                            <a:srgbClr val="000000"/>
                          </a:solidFill>
                          <a:effectLst/>
                          <a:latin typeface="+mn-ea"/>
                          <a:ea typeface="+mn-ea"/>
                          <a:cs typeface="+mn-cs"/>
                        </a:rPr>
                        <a:t>MUI-BD-01-T04</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smtClean="0">
                          <a:latin typeface="+mn-ea"/>
                        </a:rPr>
                        <a:t>계약특수조건</a:t>
                      </a:r>
                      <a:endParaRPr lang="ko-KR" altLang="en-US" sz="800" dirty="0">
                        <a:latin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a:solidFill>
                            <a:schemeClr val="tx1"/>
                          </a:solidFill>
                          <a:effectLst/>
                          <a:latin typeface="+mn-lt"/>
                          <a:ea typeface="+mn-ea"/>
                          <a:cs typeface="+mn-cs"/>
                        </a:rPr>
                        <a:t>BidPbancDtl_Tacpg04</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입찰 공고의 계약특수조건 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F0502020204030204"/>
                          <a:ea typeface="맑은 고딕" panose="020B0503020000020004" pitchFamily="50" charset="-127"/>
                          <a:cs typeface="+mn-cs"/>
                        </a:rPr>
                        <a:t>bidPbancDtl</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kern="1200" dirty="0" smtClean="0">
                          <a:solidFill>
                            <a:schemeClr val="tx1"/>
                          </a:solidFill>
                          <a:effectLst/>
                          <a:latin typeface="+mn-lt"/>
                          <a:ea typeface="+mn-ea"/>
                          <a:cs typeface="+mn-cs"/>
                        </a:rPr>
                        <a:t>BidPbancDtl_Tacpg04</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9804228"/>
                  </a:ext>
                </a:extLst>
              </a:tr>
              <a:tr h="180000">
                <a:tc>
                  <a:txBody>
                    <a:bodyPr/>
                    <a:lstStyle/>
                    <a:p>
                      <a:pPr algn="l" fontAlgn="ctr"/>
                      <a:r>
                        <a:rPr lang="en-US" sz="700" b="0" i="0" u="none" strike="noStrike" kern="1200" dirty="0">
                          <a:solidFill>
                            <a:srgbClr val="000000"/>
                          </a:solidFill>
                          <a:effectLst/>
                          <a:latin typeface="+mn-ea"/>
                          <a:ea typeface="+mn-ea"/>
                          <a:cs typeface="+mn-cs"/>
                        </a:rPr>
                        <a:t>MUI-BD-01-T05</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smtClean="0">
                          <a:solidFill>
                            <a:schemeClr val="tx1"/>
                          </a:solidFill>
                          <a:latin typeface="+mn-ea"/>
                          <a:ea typeface="+mn-ea"/>
                          <a:cs typeface="+mn-cs"/>
                        </a:rPr>
                        <a:t>공고문안</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b="0" i="0" u="none" strike="noStrike" kern="1200" dirty="0">
                          <a:solidFill>
                            <a:schemeClr val="tx1"/>
                          </a:solidFill>
                          <a:effectLst/>
                          <a:latin typeface="+mn-lt"/>
                          <a:ea typeface="+mn-ea"/>
                          <a:cs typeface="+mn-cs"/>
                        </a:rPr>
                        <a:t>BidPbancDtl_Tacpg06</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입찰 공고의 </a:t>
                      </a:r>
                      <a:r>
                        <a:rPr lang="ko-KR" altLang="en-US" sz="800" kern="1200" dirty="0" err="1" smtClean="0">
                          <a:solidFill>
                            <a:schemeClr val="tx1"/>
                          </a:solidFill>
                          <a:latin typeface="+mn-ea"/>
                          <a:ea typeface="+mn-ea"/>
                          <a:cs typeface="+mn-cs"/>
                        </a:rPr>
                        <a:t>공고문안</a:t>
                      </a:r>
                      <a:r>
                        <a:rPr lang="ko-KR" altLang="en-US" sz="800" kern="1200" dirty="0" smtClean="0">
                          <a:solidFill>
                            <a:schemeClr val="tx1"/>
                          </a:solidFill>
                          <a:latin typeface="+mn-ea"/>
                          <a:ea typeface="+mn-ea"/>
                          <a:cs typeface="+mn-cs"/>
                        </a:rPr>
                        <a:t> 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F0502020204030204"/>
                          <a:ea typeface="맑은 고딕" panose="020B0503020000020004" pitchFamily="50" charset="-127"/>
                          <a:cs typeface="+mn-cs"/>
                        </a:rPr>
                        <a:t>bidPbancDtl</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kern="1200" dirty="0" smtClean="0">
                          <a:solidFill>
                            <a:schemeClr val="tx1"/>
                          </a:solidFill>
                          <a:effectLst/>
                          <a:latin typeface="+mn-lt"/>
                          <a:ea typeface="+mn-ea"/>
                          <a:cs typeface="+mn-cs"/>
                        </a:rPr>
                        <a:t>BidPbancDtl_Tacpg06</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554409989"/>
                  </a:ext>
                </a:extLst>
              </a:tr>
              <a:tr h="331808">
                <a:tc>
                  <a:txBody>
                    <a:bodyPr/>
                    <a:lstStyle/>
                    <a:p>
                      <a:pPr algn="l" fontAlgn="ctr"/>
                      <a:r>
                        <a:rPr lang="en-US" sz="700" b="0" i="0" u="none" strike="noStrike" kern="1200" dirty="0">
                          <a:solidFill>
                            <a:srgbClr val="000000"/>
                          </a:solidFill>
                          <a:effectLst/>
                          <a:latin typeface="+mn-ea"/>
                          <a:ea typeface="+mn-ea"/>
                          <a:cs typeface="+mn-cs"/>
                        </a:rPr>
                        <a:t>MUI-BD-01-T06</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kern="1200" dirty="0" smtClean="0">
                          <a:solidFill>
                            <a:schemeClr val="tx1"/>
                          </a:solidFill>
                          <a:latin typeface="+mn-ea"/>
                          <a:ea typeface="+mn-ea"/>
                          <a:cs typeface="+mn-cs"/>
                        </a:rPr>
                        <a:t>입찰진행현황</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BidPbancDtl_Tacpg07</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입찰 공고의 입찰진행현황 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F0502020204030204"/>
                          <a:ea typeface="맑은 고딕" panose="020B0503020000020004" pitchFamily="50" charset="-127"/>
                          <a:cs typeface="+mn-cs"/>
                        </a:rPr>
                        <a:t>bidPbancDtl</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kern="1200" dirty="0" smtClean="0">
                          <a:solidFill>
                            <a:schemeClr val="tx1"/>
                          </a:solidFill>
                          <a:effectLst/>
                          <a:latin typeface="+mn-lt"/>
                          <a:ea typeface="+mn-ea"/>
                          <a:cs typeface="+mn-cs"/>
                        </a:rPr>
                        <a:t>BidPbancDtl_Tacpg07</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0180331"/>
                  </a:ext>
                </a:extLst>
              </a:tr>
              <a:tr h="331808">
                <a:tc>
                  <a:txBody>
                    <a:bodyPr/>
                    <a:lstStyle/>
                    <a:p>
                      <a:pPr algn="ctr" fontAlgn="ctr"/>
                      <a:r>
                        <a:rPr lang="en-US" sz="700" b="0" i="0" u="none" strike="noStrike" kern="1200" dirty="0">
                          <a:solidFill>
                            <a:srgbClr val="000000"/>
                          </a:solidFill>
                          <a:effectLst/>
                          <a:latin typeface="+mn-ea"/>
                          <a:ea typeface="+mn-ea"/>
                          <a:cs typeface="+mn-cs"/>
                        </a:rPr>
                        <a:t>MUI-BD-01-P14</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서류출력확인</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DcmntOtptIdnty</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서류 출력 시 확인 팝업</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F0502020204030204"/>
                          <a:ea typeface="맑은 고딕" panose="020B0503020000020004" pitchFamily="50" charset="-127"/>
                          <a:cs typeface="+mn-cs"/>
                        </a:rPr>
                        <a:t>bidPbancDtl</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kern="1200" dirty="0" err="1" smtClean="0">
                          <a:solidFill>
                            <a:schemeClr val="tx1"/>
                          </a:solidFill>
                          <a:latin typeface="+mn-ea"/>
                          <a:ea typeface="+mn-ea"/>
                          <a:cs typeface="+mn-cs"/>
                        </a:rPr>
                        <a:t>DcmntOtptIdnty</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4037729"/>
                  </a:ext>
                </a:extLst>
              </a:tr>
              <a:tr h="331808">
                <a:tc>
                  <a:txBody>
                    <a:bodyPr/>
                    <a:lstStyle/>
                    <a:p>
                      <a:pPr algn="ctr" fontAlgn="ctr"/>
                      <a:r>
                        <a:rPr lang="en-US" sz="700" b="0" i="0" u="none" strike="noStrike" kern="1200" dirty="0">
                          <a:solidFill>
                            <a:srgbClr val="000000"/>
                          </a:solidFill>
                          <a:effectLst/>
                          <a:latin typeface="+mn-ea"/>
                          <a:ea typeface="+mn-ea"/>
                          <a:cs typeface="+mn-cs"/>
                        </a:rPr>
                        <a:t>MUI-BD-01-R15</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a:solidFill>
                            <a:schemeClr val="tx1"/>
                          </a:solidFill>
                          <a:latin typeface="+mn-ea"/>
                          <a:ea typeface="+mn-ea"/>
                          <a:cs typeface="+mn-cs"/>
                        </a:rPr>
                        <a:t>서류출력</a:t>
                      </a:r>
                      <a:r>
                        <a:rPr lang="en-US" altLang="ko-KR" sz="800" kern="1200">
                          <a:solidFill>
                            <a:schemeClr val="tx1"/>
                          </a:solidFill>
                          <a:latin typeface="+mn-ea"/>
                          <a:ea typeface="+mn-ea"/>
                          <a:cs typeface="+mn-cs"/>
                        </a:rPr>
                        <a:t>-OZ</a:t>
                      </a:r>
                      <a:r>
                        <a:rPr lang="ko-KR" altLang="en-US" sz="800" kern="1200">
                          <a:solidFill>
                            <a:schemeClr val="tx1"/>
                          </a:solidFill>
                          <a:latin typeface="+mn-ea"/>
                          <a:ea typeface="+mn-ea"/>
                          <a:cs typeface="+mn-cs"/>
                        </a:rPr>
                        <a:t>리포트</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kern="1200" dirty="0" err="1">
                          <a:solidFill>
                            <a:schemeClr val="tx1"/>
                          </a:solidFill>
                          <a:latin typeface="+mn-ea"/>
                          <a:ea typeface="+mn-ea"/>
                          <a:cs typeface="+mn-cs"/>
                        </a:rPr>
                        <a:t>DcmntOtpt</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800" kern="1200" dirty="0" smtClean="0">
                          <a:solidFill>
                            <a:schemeClr val="tx1"/>
                          </a:solidFill>
                          <a:latin typeface="+mn-ea"/>
                          <a:ea typeface="+mn-ea"/>
                          <a:cs typeface="+mn-cs"/>
                        </a:rPr>
                        <a:t>OZ </a:t>
                      </a:r>
                      <a:r>
                        <a:rPr lang="ko-KR" altLang="en-US" sz="800" kern="1200" dirty="0" smtClean="0">
                          <a:solidFill>
                            <a:schemeClr val="tx1"/>
                          </a:solidFill>
                          <a:latin typeface="+mn-ea"/>
                          <a:ea typeface="+mn-ea"/>
                          <a:cs typeface="+mn-cs"/>
                        </a:rPr>
                        <a:t>리포트 솔루션 참조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F0502020204030204"/>
                          <a:ea typeface="맑은 고딕" panose="020B0503020000020004" pitchFamily="50" charset="-127"/>
                          <a:cs typeface="+mn-cs"/>
                        </a:rPr>
                        <a:t>bidPbancDtl</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kern="1200" smtClean="0">
                          <a:solidFill>
                            <a:schemeClr val="tx1"/>
                          </a:solidFill>
                          <a:latin typeface="+mn-ea"/>
                          <a:ea typeface="+mn-ea"/>
                          <a:cs typeface="+mn-cs"/>
                        </a:rPr>
                        <a:t>DcmntOtpt</a:t>
                      </a: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881037468"/>
                  </a:ext>
                </a:extLst>
              </a:tr>
            </a:tbl>
          </a:graphicData>
        </a:graphic>
      </p:graphicFrame>
      <p:sp>
        <p:nvSpPr>
          <p:cNvPr id="6"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57062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26</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1.2. </a:t>
            </a:r>
            <a:r>
              <a:rPr lang="ko-KR" altLang="en-US" dirty="0"/>
              <a:t>화면 흐름도</a:t>
            </a:r>
          </a:p>
        </p:txBody>
      </p:sp>
      <p:sp>
        <p:nvSpPr>
          <p:cNvPr id="6" name="사각형: 둥근 모서리 5">
            <a:extLst>
              <a:ext uri="{FF2B5EF4-FFF2-40B4-BE49-F238E27FC236}">
                <a16:creationId xmlns:a16="http://schemas.microsoft.com/office/drawing/2014/main" id="{410E5459-200D-7630-863C-88E5109259DF}"/>
              </a:ext>
            </a:extLst>
          </p:cNvPr>
          <p:cNvSpPr/>
          <p:nvPr/>
        </p:nvSpPr>
        <p:spPr>
          <a:xfrm>
            <a:off x="1071925" y="162896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입찰공고</a:t>
            </a:r>
            <a:r>
              <a:rPr lang="en-US" altLang="ko-KR" sz="800" dirty="0" smtClean="0">
                <a:solidFill>
                  <a:schemeClr val="tx1"/>
                </a:solidFill>
              </a:rPr>
              <a:t/>
            </a:r>
            <a:br>
              <a:rPr lang="en-US" altLang="ko-KR" sz="800" dirty="0" smtClean="0">
                <a:solidFill>
                  <a:schemeClr val="tx1"/>
                </a:solidFill>
              </a:rPr>
            </a:br>
            <a:r>
              <a:rPr lang="ko-KR" altLang="en-US" sz="800" dirty="0" err="1" smtClean="0">
                <a:solidFill>
                  <a:schemeClr val="tx1"/>
                </a:solidFill>
              </a:rPr>
              <a:t>통합목록</a:t>
            </a:r>
            <a:endParaRPr lang="ko-KR" altLang="en-US" sz="800" dirty="0">
              <a:solidFill>
                <a:schemeClr val="tx1"/>
              </a:solidFill>
            </a:endParaRP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493266"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6" idx="1"/>
          </p:cNvCxnSpPr>
          <p:nvPr/>
        </p:nvCxnSpPr>
        <p:spPr>
          <a:xfrm>
            <a:off x="700126" y="1772964"/>
            <a:ext cx="37179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155" name="직사각형 154">
            <a:extLst>
              <a:ext uri="{FF2B5EF4-FFF2-40B4-BE49-F238E27FC236}">
                <a16:creationId xmlns:a16="http://schemas.microsoft.com/office/drawing/2014/main" id="{4FB9FCCA-B5F3-C0E2-F563-4F0CE0FC24CF}"/>
              </a:ext>
            </a:extLst>
          </p:cNvPr>
          <p:cNvSpPr/>
          <p:nvPr/>
        </p:nvSpPr>
        <p:spPr>
          <a:xfrm>
            <a:off x="9220330" y="3482063"/>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157" name="그룹 156">
            <a:extLst>
              <a:ext uri="{FF2B5EF4-FFF2-40B4-BE49-F238E27FC236}">
                <a16:creationId xmlns:a16="http://schemas.microsoft.com/office/drawing/2014/main" id="{E7279F6C-9434-7961-8F6B-B7AE44CE5FCD}"/>
              </a:ext>
            </a:extLst>
          </p:cNvPr>
          <p:cNvGrpSpPr/>
          <p:nvPr/>
        </p:nvGrpSpPr>
        <p:grpSpPr>
          <a:xfrm>
            <a:off x="9249327" y="3274571"/>
            <a:ext cx="180000" cy="180000"/>
            <a:chOff x="5058274" y="2498299"/>
            <a:chExt cx="180000" cy="180000"/>
          </a:xfrm>
        </p:grpSpPr>
        <p:sp>
          <p:nvSpPr>
            <p:cNvPr id="158" name="타원 157">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타원 158">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73" name="직사각형 172">
            <a:extLst>
              <a:ext uri="{FF2B5EF4-FFF2-40B4-BE49-F238E27FC236}">
                <a16:creationId xmlns:a16="http://schemas.microsoft.com/office/drawing/2014/main" id="{23C86455-E84C-0CEA-5C6B-05BE50ADCEF5}"/>
              </a:ext>
            </a:extLst>
          </p:cNvPr>
          <p:cNvSpPr/>
          <p:nvPr/>
        </p:nvSpPr>
        <p:spPr>
          <a:xfrm>
            <a:off x="456237"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66" name="사각형: 둥근 모서리 5">
            <a:extLst>
              <a:ext uri="{FF2B5EF4-FFF2-40B4-BE49-F238E27FC236}">
                <a16:creationId xmlns:a16="http://schemas.microsoft.com/office/drawing/2014/main" id="{410E5459-200D-7630-863C-88E5109259DF}"/>
              </a:ext>
            </a:extLst>
          </p:cNvPr>
          <p:cNvSpPr/>
          <p:nvPr/>
        </p:nvSpPr>
        <p:spPr>
          <a:xfrm>
            <a:off x="1854976" y="2076020"/>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a:t>
            </a:r>
            <a:r>
              <a:rPr lang="ko-KR" altLang="en-US" sz="800" dirty="0" err="1">
                <a:solidFill>
                  <a:schemeClr val="tx1"/>
                </a:solidFill>
              </a:rPr>
              <a:t>공고상세</a:t>
            </a:r>
            <a:endParaRPr lang="ko-KR" altLang="en-US" sz="800" dirty="0">
              <a:solidFill>
                <a:schemeClr val="tx1"/>
              </a:solidFill>
            </a:endParaRPr>
          </a:p>
        </p:txBody>
      </p:sp>
      <p:cxnSp>
        <p:nvCxnSpPr>
          <p:cNvPr id="72" name="연결선: 꺾임 7">
            <a:extLst>
              <a:ext uri="{FF2B5EF4-FFF2-40B4-BE49-F238E27FC236}">
                <a16:creationId xmlns:a16="http://schemas.microsoft.com/office/drawing/2014/main" id="{89A2D828-4C18-4F90-6B31-722E89773AA8}"/>
              </a:ext>
            </a:extLst>
          </p:cNvPr>
          <p:cNvCxnSpPr>
            <a:cxnSpLocks/>
            <a:stCxn id="6" idx="2"/>
            <a:endCxn id="66" idx="1"/>
          </p:cNvCxnSpPr>
          <p:nvPr/>
        </p:nvCxnSpPr>
        <p:spPr>
          <a:xfrm rot="16200000" flipH="1">
            <a:off x="1536922" y="1901966"/>
            <a:ext cx="303056" cy="33305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0" name="사각형: 둥근 모서리 5">
            <a:extLst>
              <a:ext uri="{FF2B5EF4-FFF2-40B4-BE49-F238E27FC236}">
                <a16:creationId xmlns:a16="http://schemas.microsoft.com/office/drawing/2014/main" id="{410E5459-200D-7630-863C-88E5109259DF}"/>
              </a:ext>
            </a:extLst>
          </p:cNvPr>
          <p:cNvSpPr/>
          <p:nvPr/>
        </p:nvSpPr>
        <p:spPr>
          <a:xfrm>
            <a:off x="3616304" y="2673129"/>
            <a:ext cx="3310257" cy="1396844"/>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r>
              <a:rPr lang="ko-KR" altLang="en-US" sz="800" b="1" dirty="0">
                <a:solidFill>
                  <a:schemeClr val="tx1"/>
                </a:solidFill>
              </a:rPr>
              <a:t>입찰 </a:t>
            </a:r>
            <a:r>
              <a:rPr lang="ko-KR" altLang="en-US" sz="800" b="1" dirty="0" err="1" smtClean="0">
                <a:solidFill>
                  <a:schemeClr val="tx1"/>
                </a:solidFill>
              </a:rPr>
              <a:t>공고상세</a:t>
            </a:r>
            <a:r>
              <a:rPr lang="ko-KR" altLang="en-US" sz="800" b="1" dirty="0" smtClean="0">
                <a:solidFill>
                  <a:schemeClr val="tx1"/>
                </a:solidFill>
              </a:rPr>
              <a:t> 탭 목록</a:t>
            </a:r>
            <a:endParaRPr lang="ko-KR" altLang="en-US" sz="800" b="1" dirty="0">
              <a:solidFill>
                <a:schemeClr val="tx1"/>
              </a:solidFill>
            </a:endParaRPr>
          </a:p>
        </p:txBody>
      </p:sp>
      <p:sp>
        <p:nvSpPr>
          <p:cNvPr id="130" name="사각형: 둥근 모서리 5">
            <a:extLst>
              <a:ext uri="{FF2B5EF4-FFF2-40B4-BE49-F238E27FC236}">
                <a16:creationId xmlns:a16="http://schemas.microsoft.com/office/drawing/2014/main" id="{410E5459-200D-7630-863C-88E5109259DF}"/>
              </a:ext>
            </a:extLst>
          </p:cNvPr>
          <p:cNvSpPr/>
          <p:nvPr/>
        </p:nvSpPr>
        <p:spPr>
          <a:xfrm>
            <a:off x="3739964" y="29338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일반정보</a:t>
            </a:r>
            <a:endParaRPr lang="ko-KR" altLang="en-US" sz="800" dirty="0">
              <a:solidFill>
                <a:schemeClr val="tx1"/>
              </a:solidFill>
            </a:endParaRPr>
          </a:p>
        </p:txBody>
      </p:sp>
      <p:sp>
        <p:nvSpPr>
          <p:cNvPr id="131" name="사각형: 둥근 모서리 5">
            <a:extLst>
              <a:ext uri="{FF2B5EF4-FFF2-40B4-BE49-F238E27FC236}">
                <a16:creationId xmlns:a16="http://schemas.microsoft.com/office/drawing/2014/main" id="{410E5459-200D-7630-863C-88E5109259DF}"/>
              </a:ext>
            </a:extLst>
          </p:cNvPr>
          <p:cNvSpPr/>
          <p:nvPr/>
        </p:nvSpPr>
        <p:spPr>
          <a:xfrm>
            <a:off x="3739964" y="35309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계약특수조건</a:t>
            </a:r>
            <a:endParaRPr lang="ko-KR" altLang="en-US" sz="800" dirty="0">
              <a:solidFill>
                <a:schemeClr val="tx1"/>
              </a:solidFill>
            </a:endParaRPr>
          </a:p>
        </p:txBody>
      </p:sp>
      <p:sp>
        <p:nvSpPr>
          <p:cNvPr id="132" name="사각형: 둥근 모서리 5">
            <a:extLst>
              <a:ext uri="{FF2B5EF4-FFF2-40B4-BE49-F238E27FC236}">
                <a16:creationId xmlns:a16="http://schemas.microsoft.com/office/drawing/2014/main" id="{410E5459-200D-7630-863C-88E5109259DF}"/>
              </a:ext>
            </a:extLst>
          </p:cNvPr>
          <p:cNvSpPr/>
          <p:nvPr/>
        </p:nvSpPr>
        <p:spPr>
          <a:xfrm>
            <a:off x="4834561" y="29338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기초예비가격</a:t>
            </a:r>
            <a:endParaRPr lang="ko-KR" altLang="en-US" sz="800" dirty="0">
              <a:solidFill>
                <a:schemeClr val="tx1"/>
              </a:solidFill>
            </a:endParaRPr>
          </a:p>
        </p:txBody>
      </p:sp>
      <p:sp>
        <p:nvSpPr>
          <p:cNvPr id="133" name="사각형: 둥근 모서리 5">
            <a:extLst>
              <a:ext uri="{FF2B5EF4-FFF2-40B4-BE49-F238E27FC236}">
                <a16:creationId xmlns:a16="http://schemas.microsoft.com/office/drawing/2014/main" id="{410E5459-200D-7630-863C-88E5109259DF}"/>
              </a:ext>
            </a:extLst>
          </p:cNvPr>
          <p:cNvSpPr/>
          <p:nvPr/>
        </p:nvSpPr>
        <p:spPr>
          <a:xfrm>
            <a:off x="4834561" y="35309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smtClean="0">
                <a:solidFill>
                  <a:schemeClr val="tx1"/>
                </a:solidFill>
                <a:latin typeface="+mn-ea"/>
              </a:rPr>
              <a:t>공고문안</a:t>
            </a:r>
            <a:endParaRPr lang="ko-KR" altLang="en-US" sz="800" dirty="0">
              <a:solidFill>
                <a:schemeClr val="tx1"/>
              </a:solidFill>
            </a:endParaRPr>
          </a:p>
        </p:txBody>
      </p:sp>
      <p:sp>
        <p:nvSpPr>
          <p:cNvPr id="134" name="사각형: 둥근 모서리 5">
            <a:extLst>
              <a:ext uri="{FF2B5EF4-FFF2-40B4-BE49-F238E27FC236}">
                <a16:creationId xmlns:a16="http://schemas.microsoft.com/office/drawing/2014/main" id="{410E5459-200D-7630-863C-88E5109259DF}"/>
              </a:ext>
            </a:extLst>
          </p:cNvPr>
          <p:cNvSpPr/>
          <p:nvPr/>
        </p:nvSpPr>
        <p:spPr>
          <a:xfrm>
            <a:off x="5929158" y="293415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품목명세서</a:t>
            </a:r>
            <a:endParaRPr lang="ko-KR" altLang="en-US" sz="800" dirty="0">
              <a:solidFill>
                <a:schemeClr val="tx1"/>
              </a:solidFill>
            </a:endParaRPr>
          </a:p>
        </p:txBody>
      </p:sp>
      <p:sp>
        <p:nvSpPr>
          <p:cNvPr id="144" name="사각형: 둥근 모서리 5">
            <a:extLst>
              <a:ext uri="{FF2B5EF4-FFF2-40B4-BE49-F238E27FC236}">
                <a16:creationId xmlns:a16="http://schemas.microsoft.com/office/drawing/2014/main" id="{410E5459-200D-7630-863C-88E5109259DF}"/>
              </a:ext>
            </a:extLst>
          </p:cNvPr>
          <p:cNvSpPr/>
          <p:nvPr/>
        </p:nvSpPr>
        <p:spPr>
          <a:xfrm>
            <a:off x="7487595" y="3699337"/>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입찰서</a:t>
            </a:r>
            <a:r>
              <a:rPr lang="en-US" altLang="ko-KR" sz="800" dirty="0">
                <a:solidFill>
                  <a:schemeClr val="tx1"/>
                </a:solidFill>
              </a:rPr>
              <a:t>(</a:t>
            </a:r>
            <a:r>
              <a:rPr lang="ko-KR" altLang="en-US" sz="800" dirty="0">
                <a:solidFill>
                  <a:schemeClr val="tx1"/>
                </a:solidFill>
              </a:rPr>
              <a:t>견적서</a:t>
            </a:r>
            <a:r>
              <a:rPr lang="en-US" altLang="ko-KR" sz="800" dirty="0">
                <a:solidFill>
                  <a:schemeClr val="tx1"/>
                </a:solidFill>
              </a:rPr>
              <a:t>)</a:t>
            </a:r>
            <a:r>
              <a:rPr lang="ko-KR" altLang="en-US" sz="800" dirty="0">
                <a:solidFill>
                  <a:schemeClr val="tx1"/>
                </a:solidFill>
              </a:rPr>
              <a:t>작성</a:t>
            </a:r>
          </a:p>
        </p:txBody>
      </p:sp>
      <p:sp>
        <p:nvSpPr>
          <p:cNvPr id="161" name="사각형: 둥근 모서리 5">
            <a:extLst>
              <a:ext uri="{FF2B5EF4-FFF2-40B4-BE49-F238E27FC236}">
                <a16:creationId xmlns:a16="http://schemas.microsoft.com/office/drawing/2014/main" id="{410E5459-200D-7630-863C-88E5109259DF}"/>
              </a:ext>
            </a:extLst>
          </p:cNvPr>
          <p:cNvSpPr/>
          <p:nvPr/>
        </p:nvSpPr>
        <p:spPr>
          <a:xfrm>
            <a:off x="7487595" y="3220571"/>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입찰참가신청서작성</a:t>
            </a:r>
          </a:p>
        </p:txBody>
      </p:sp>
      <p:sp>
        <p:nvSpPr>
          <p:cNvPr id="163" name="사각형: 둥근 모서리 5">
            <a:extLst>
              <a:ext uri="{FF2B5EF4-FFF2-40B4-BE49-F238E27FC236}">
                <a16:creationId xmlns:a16="http://schemas.microsoft.com/office/drawing/2014/main" id="{410E5459-200D-7630-863C-88E5109259DF}"/>
              </a:ext>
            </a:extLst>
          </p:cNvPr>
          <p:cNvSpPr/>
          <p:nvPr/>
        </p:nvSpPr>
        <p:spPr>
          <a:xfrm>
            <a:off x="7487595" y="2741805"/>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사전심사</a:t>
            </a:r>
            <a:r>
              <a:rPr lang="en-US" altLang="ko-KR" sz="800" dirty="0">
                <a:solidFill>
                  <a:schemeClr val="tx1"/>
                </a:solidFill>
              </a:rPr>
              <a:t>(PQ)</a:t>
            </a:r>
            <a:r>
              <a:rPr lang="ko-KR" altLang="en-US" sz="800" dirty="0">
                <a:solidFill>
                  <a:schemeClr val="tx1"/>
                </a:solidFill>
              </a:rPr>
              <a:t>신청</a:t>
            </a:r>
          </a:p>
        </p:txBody>
      </p:sp>
      <p:cxnSp>
        <p:nvCxnSpPr>
          <p:cNvPr id="165" name="연결선: 꺾임 7">
            <a:extLst>
              <a:ext uri="{FF2B5EF4-FFF2-40B4-BE49-F238E27FC236}">
                <a16:creationId xmlns:a16="http://schemas.microsoft.com/office/drawing/2014/main" id="{89A2D828-4C18-4F90-6B31-722E89773AA8}"/>
              </a:ext>
            </a:extLst>
          </p:cNvPr>
          <p:cNvCxnSpPr>
            <a:cxnSpLocks/>
            <a:stCxn id="140" idx="3"/>
            <a:endCxn id="163" idx="1"/>
          </p:cNvCxnSpPr>
          <p:nvPr/>
        </p:nvCxnSpPr>
        <p:spPr>
          <a:xfrm flipV="1">
            <a:off x="6926561" y="2885805"/>
            <a:ext cx="561034" cy="48574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연결선: 꺾임 7">
            <a:extLst>
              <a:ext uri="{FF2B5EF4-FFF2-40B4-BE49-F238E27FC236}">
                <a16:creationId xmlns:a16="http://schemas.microsoft.com/office/drawing/2014/main" id="{89A2D828-4C18-4F90-6B31-722E89773AA8}"/>
              </a:ext>
            </a:extLst>
          </p:cNvPr>
          <p:cNvCxnSpPr>
            <a:cxnSpLocks/>
            <a:stCxn id="140" idx="3"/>
            <a:endCxn id="144" idx="1"/>
          </p:cNvCxnSpPr>
          <p:nvPr/>
        </p:nvCxnSpPr>
        <p:spPr>
          <a:xfrm>
            <a:off x="6926561" y="3371551"/>
            <a:ext cx="561034" cy="47178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0" name="사각형: 둥근 모서리 5">
            <a:extLst>
              <a:ext uri="{FF2B5EF4-FFF2-40B4-BE49-F238E27FC236}">
                <a16:creationId xmlns:a16="http://schemas.microsoft.com/office/drawing/2014/main" id="{410E5459-200D-7630-863C-88E5109259DF}"/>
              </a:ext>
            </a:extLst>
          </p:cNvPr>
          <p:cNvSpPr/>
          <p:nvPr/>
        </p:nvSpPr>
        <p:spPr>
          <a:xfrm>
            <a:off x="5551950" y="457010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서류 출력 확인</a:t>
            </a:r>
            <a:endParaRPr lang="ko-KR" altLang="en-US" sz="800" dirty="0">
              <a:solidFill>
                <a:schemeClr val="tx1"/>
              </a:solidFill>
            </a:endParaRPr>
          </a:p>
        </p:txBody>
      </p:sp>
      <p:cxnSp>
        <p:nvCxnSpPr>
          <p:cNvPr id="184" name="연결선: 꺾임 7">
            <a:extLst>
              <a:ext uri="{FF2B5EF4-FFF2-40B4-BE49-F238E27FC236}">
                <a16:creationId xmlns:a16="http://schemas.microsoft.com/office/drawing/2014/main" id="{89A2D828-4C18-4F90-6B31-722E89773AA8}"/>
              </a:ext>
            </a:extLst>
          </p:cNvPr>
          <p:cNvCxnSpPr>
            <a:cxnSpLocks/>
            <a:stCxn id="163" idx="3"/>
            <a:endCxn id="158" idx="2"/>
          </p:cNvCxnSpPr>
          <p:nvPr/>
        </p:nvCxnSpPr>
        <p:spPr>
          <a:xfrm>
            <a:off x="8387595" y="2885805"/>
            <a:ext cx="861732" cy="47876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연결선: 꺾임 7">
            <a:extLst>
              <a:ext uri="{FF2B5EF4-FFF2-40B4-BE49-F238E27FC236}">
                <a16:creationId xmlns:a16="http://schemas.microsoft.com/office/drawing/2014/main" id="{89A2D828-4C18-4F90-6B31-722E89773AA8}"/>
              </a:ext>
            </a:extLst>
          </p:cNvPr>
          <p:cNvCxnSpPr>
            <a:cxnSpLocks/>
            <a:stCxn id="144" idx="3"/>
            <a:endCxn id="158" idx="2"/>
          </p:cNvCxnSpPr>
          <p:nvPr/>
        </p:nvCxnSpPr>
        <p:spPr>
          <a:xfrm flipV="1">
            <a:off x="8387595" y="3364571"/>
            <a:ext cx="861732" cy="47876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직선 화살표 연결선 192">
            <a:extLst>
              <a:ext uri="{FF2B5EF4-FFF2-40B4-BE49-F238E27FC236}">
                <a16:creationId xmlns:a16="http://schemas.microsoft.com/office/drawing/2014/main" id="{9A519F08-B829-E35F-09D8-DFCD1F68B911}"/>
              </a:ext>
            </a:extLst>
          </p:cNvPr>
          <p:cNvCxnSpPr>
            <a:cxnSpLocks/>
            <a:stCxn id="161" idx="3"/>
            <a:endCxn id="158" idx="2"/>
          </p:cNvCxnSpPr>
          <p:nvPr/>
        </p:nvCxnSpPr>
        <p:spPr>
          <a:xfrm>
            <a:off x="8387595" y="3364571"/>
            <a:ext cx="861732"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3" name="사각형: 둥근 모서리 5">
            <a:extLst>
              <a:ext uri="{FF2B5EF4-FFF2-40B4-BE49-F238E27FC236}">
                <a16:creationId xmlns:a16="http://schemas.microsoft.com/office/drawing/2014/main" id="{410E5459-200D-7630-863C-88E5109259DF}"/>
              </a:ext>
            </a:extLst>
          </p:cNvPr>
          <p:cNvSpPr/>
          <p:nvPr/>
        </p:nvSpPr>
        <p:spPr>
          <a:xfrm>
            <a:off x="3616304" y="1631429"/>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smtClean="0">
                <a:solidFill>
                  <a:schemeClr val="tx1"/>
                </a:solidFill>
                <a:latin typeface="+mn-ea"/>
              </a:rPr>
              <a:t>관심공고</a:t>
            </a:r>
            <a:endParaRPr lang="en-US" altLang="ko-KR" sz="800" dirty="0" smtClean="0">
              <a:solidFill>
                <a:schemeClr val="tx1"/>
              </a:solidFill>
              <a:latin typeface="+mn-ea"/>
            </a:endParaRPr>
          </a:p>
          <a:p>
            <a:pPr algn="ctr"/>
            <a:r>
              <a:rPr lang="ko-KR" altLang="en-US" sz="800" dirty="0" smtClean="0">
                <a:solidFill>
                  <a:schemeClr val="tx1"/>
                </a:solidFill>
                <a:latin typeface="+mn-ea"/>
              </a:rPr>
              <a:t>버튼</a:t>
            </a:r>
            <a:r>
              <a:rPr lang="en-US" altLang="ko-KR" sz="800" dirty="0" smtClean="0">
                <a:solidFill>
                  <a:schemeClr val="tx1"/>
                </a:solidFill>
                <a:latin typeface="+mn-ea"/>
              </a:rPr>
              <a:t> </a:t>
            </a:r>
            <a:r>
              <a:rPr lang="ko-KR" altLang="en-US" sz="800" dirty="0" smtClean="0">
                <a:solidFill>
                  <a:schemeClr val="tx1"/>
                </a:solidFill>
                <a:latin typeface="+mn-ea"/>
              </a:rPr>
              <a:t>클릭 시</a:t>
            </a:r>
            <a:endParaRPr lang="ko-KR" altLang="en-US" sz="800" dirty="0">
              <a:solidFill>
                <a:schemeClr val="tx1"/>
              </a:solidFill>
            </a:endParaRPr>
          </a:p>
        </p:txBody>
      </p:sp>
      <p:cxnSp>
        <p:nvCxnSpPr>
          <p:cNvPr id="237" name="연결선: 꺾임 7">
            <a:extLst>
              <a:ext uri="{FF2B5EF4-FFF2-40B4-BE49-F238E27FC236}">
                <a16:creationId xmlns:a16="http://schemas.microsoft.com/office/drawing/2014/main" id="{89A2D828-4C18-4F90-6B31-722E89773AA8}"/>
              </a:ext>
            </a:extLst>
          </p:cNvPr>
          <p:cNvCxnSpPr>
            <a:cxnSpLocks/>
            <a:stCxn id="135" idx="3"/>
            <a:endCxn id="158" idx="0"/>
          </p:cNvCxnSpPr>
          <p:nvPr/>
        </p:nvCxnSpPr>
        <p:spPr>
          <a:xfrm>
            <a:off x="8387595" y="1774678"/>
            <a:ext cx="951732" cy="1499893"/>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8" name="그룹 87"/>
          <p:cNvGrpSpPr/>
          <p:nvPr/>
        </p:nvGrpSpPr>
        <p:grpSpPr>
          <a:xfrm>
            <a:off x="492190" y="5392498"/>
            <a:ext cx="1063310" cy="783216"/>
            <a:chOff x="492190" y="5392498"/>
            <a:chExt cx="1063310" cy="783216"/>
          </a:xfrm>
        </p:grpSpPr>
        <p:grpSp>
          <p:nvGrpSpPr>
            <p:cNvPr id="89" name="그룹 88"/>
            <p:cNvGrpSpPr/>
            <p:nvPr/>
          </p:nvGrpSpPr>
          <p:grpSpPr>
            <a:xfrm>
              <a:off x="492190" y="5624092"/>
              <a:ext cx="235869" cy="548293"/>
              <a:chOff x="669822" y="4927621"/>
              <a:chExt cx="912149" cy="1378059"/>
            </a:xfrm>
          </p:grpSpPr>
          <p:sp>
            <p:nvSpPr>
              <p:cNvPr id="94" name="사각형: 둥근 모서리 5">
                <a:extLst>
                  <a:ext uri="{FF2B5EF4-FFF2-40B4-BE49-F238E27FC236}">
                    <a16:creationId xmlns:a16="http://schemas.microsoft.com/office/drawing/2014/main" id="{410E5459-200D-7630-863C-88E5109259DF}"/>
                  </a:ext>
                </a:extLst>
              </p:cNvPr>
              <p:cNvSpPr/>
              <p:nvPr/>
            </p:nvSpPr>
            <p:spPr>
              <a:xfrm>
                <a:off x="669822" y="5466998"/>
                <a:ext cx="899998"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95" name="사각형: 둥근 모서리 5">
                <a:extLst>
                  <a:ext uri="{FF2B5EF4-FFF2-40B4-BE49-F238E27FC236}">
                    <a16:creationId xmlns:a16="http://schemas.microsoft.com/office/drawing/2014/main" id="{410E5459-200D-7630-863C-88E5109259DF}"/>
                  </a:ext>
                </a:extLst>
              </p:cNvPr>
              <p:cNvSpPr/>
              <p:nvPr/>
            </p:nvSpPr>
            <p:spPr>
              <a:xfrm>
                <a:off x="669822" y="4927621"/>
                <a:ext cx="899998"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96" name="사각형: 둥근 모서리 5">
                <a:extLst>
                  <a:ext uri="{FF2B5EF4-FFF2-40B4-BE49-F238E27FC236}">
                    <a16:creationId xmlns:a16="http://schemas.microsoft.com/office/drawing/2014/main" id="{410E5459-200D-7630-863C-88E5109259DF}"/>
                  </a:ext>
                </a:extLst>
              </p:cNvPr>
              <p:cNvSpPr/>
              <p:nvPr/>
            </p:nvSpPr>
            <p:spPr>
              <a:xfrm>
                <a:off x="681971" y="6006377"/>
                <a:ext cx="900000" cy="299303"/>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endParaRPr lang="ko-KR" altLang="en-US" sz="800" b="1" dirty="0">
                  <a:solidFill>
                    <a:schemeClr val="tx1"/>
                  </a:solidFill>
                </a:endParaRPr>
              </a:p>
            </p:txBody>
          </p:sp>
        </p:grpSp>
        <p:sp>
          <p:nvSpPr>
            <p:cNvPr id="90" name="직사각형 89">
              <a:extLst>
                <a:ext uri="{FF2B5EF4-FFF2-40B4-BE49-F238E27FC236}">
                  <a16:creationId xmlns:a16="http://schemas.microsoft.com/office/drawing/2014/main" id="{F249990F-1DE5-C694-BDBD-2DE7009D57EA}"/>
                </a:ext>
              </a:extLst>
            </p:cNvPr>
            <p:cNvSpPr/>
            <p:nvPr/>
          </p:nvSpPr>
          <p:spPr>
            <a:xfrm>
              <a:off x="499695" y="5392498"/>
              <a:ext cx="20518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범례</a:t>
              </a:r>
              <a:endParaRPr lang="ko-KR" altLang="en-US" sz="800" dirty="0">
                <a:solidFill>
                  <a:schemeClr val="tx1"/>
                </a:solidFill>
              </a:endParaRPr>
            </a:p>
          </p:txBody>
        </p:sp>
        <p:sp>
          <p:nvSpPr>
            <p:cNvPr id="91" name="직사각형 90">
              <a:extLst>
                <a:ext uri="{FF2B5EF4-FFF2-40B4-BE49-F238E27FC236}">
                  <a16:creationId xmlns:a16="http://schemas.microsoft.com/office/drawing/2014/main" id="{F249990F-1DE5-C694-BDBD-2DE7009D57EA}"/>
                </a:ext>
              </a:extLst>
            </p:cNvPr>
            <p:cNvSpPr/>
            <p:nvPr/>
          </p:nvSpPr>
          <p:spPr>
            <a:xfrm>
              <a:off x="829339" y="5617943"/>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화면목록</a:t>
              </a:r>
              <a:r>
                <a:rPr lang="ko-KR" altLang="en-US" sz="800" dirty="0">
                  <a:solidFill>
                    <a:schemeClr val="tx1"/>
                  </a:solidFill>
                </a:rPr>
                <a:t> 항목</a:t>
              </a:r>
            </a:p>
          </p:txBody>
        </p:sp>
        <p:sp>
          <p:nvSpPr>
            <p:cNvPr id="92" name="직사각형 91">
              <a:extLst>
                <a:ext uri="{FF2B5EF4-FFF2-40B4-BE49-F238E27FC236}">
                  <a16:creationId xmlns:a16="http://schemas.microsoft.com/office/drawing/2014/main" id="{F249990F-1DE5-C694-BDBD-2DE7009D57EA}"/>
                </a:ext>
              </a:extLst>
            </p:cNvPr>
            <p:cNvSpPr/>
            <p:nvPr/>
          </p:nvSpPr>
          <p:spPr>
            <a:xfrm>
              <a:off x="829339" y="5834434"/>
              <a:ext cx="6892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흐름 참고 항목</a:t>
              </a:r>
              <a:endParaRPr lang="ko-KR" altLang="en-US" sz="800" dirty="0">
                <a:solidFill>
                  <a:schemeClr val="tx1"/>
                </a:solidFill>
              </a:endParaRPr>
            </a:p>
          </p:txBody>
        </p:sp>
        <p:sp>
          <p:nvSpPr>
            <p:cNvPr id="93" name="직사각형 92">
              <a:extLst>
                <a:ext uri="{FF2B5EF4-FFF2-40B4-BE49-F238E27FC236}">
                  <a16:creationId xmlns:a16="http://schemas.microsoft.com/office/drawing/2014/main" id="{F249990F-1DE5-C694-BDBD-2DE7009D57EA}"/>
                </a:ext>
              </a:extLst>
            </p:cNvPr>
            <p:cNvSpPr/>
            <p:nvPr/>
          </p:nvSpPr>
          <p:spPr>
            <a:xfrm>
              <a:off x="829339" y="6052603"/>
              <a:ext cx="72616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탭 등 그룹 항목</a:t>
              </a:r>
              <a:endParaRPr lang="ko-KR" altLang="en-US" sz="800" dirty="0">
                <a:solidFill>
                  <a:schemeClr val="tx1"/>
                </a:solidFill>
              </a:endParaRPr>
            </a:p>
          </p:txBody>
        </p:sp>
      </p:grpSp>
      <p:sp>
        <p:nvSpPr>
          <p:cNvPr id="104" name="사각형: 둥근 모서리 5">
            <a:extLst>
              <a:ext uri="{FF2B5EF4-FFF2-40B4-BE49-F238E27FC236}">
                <a16:creationId xmlns:a16="http://schemas.microsoft.com/office/drawing/2014/main" id="{410E5459-200D-7630-863C-88E5109259DF}"/>
              </a:ext>
            </a:extLst>
          </p:cNvPr>
          <p:cNvSpPr/>
          <p:nvPr/>
        </p:nvSpPr>
        <p:spPr>
          <a:xfrm>
            <a:off x="7487595" y="457010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서류 </a:t>
            </a:r>
            <a:r>
              <a:rPr lang="ko-KR" altLang="en-US" sz="800" dirty="0" smtClean="0">
                <a:solidFill>
                  <a:schemeClr val="tx1"/>
                </a:solidFill>
                <a:latin typeface="+mn-ea"/>
              </a:rPr>
              <a:t>출력</a:t>
            </a:r>
            <a:endParaRPr lang="en-US" altLang="ko-KR" sz="800" dirty="0" smtClean="0">
              <a:solidFill>
                <a:schemeClr val="tx1"/>
              </a:solidFill>
              <a:latin typeface="+mn-ea"/>
            </a:endParaRPr>
          </a:p>
          <a:p>
            <a:pPr algn="ctr"/>
            <a:r>
              <a:rPr lang="en-US" altLang="ko-KR" sz="800" dirty="0" smtClean="0">
                <a:solidFill>
                  <a:schemeClr val="tx1"/>
                </a:solidFill>
                <a:latin typeface="+mn-ea"/>
              </a:rPr>
              <a:t>- </a:t>
            </a:r>
            <a:r>
              <a:rPr lang="en-US" altLang="ko-KR" sz="800" dirty="0">
                <a:solidFill>
                  <a:schemeClr val="tx1"/>
                </a:solidFill>
                <a:latin typeface="+mn-ea"/>
              </a:rPr>
              <a:t>OZ</a:t>
            </a:r>
            <a:r>
              <a:rPr lang="ko-KR" altLang="en-US" sz="800" dirty="0">
                <a:solidFill>
                  <a:schemeClr val="tx1"/>
                </a:solidFill>
                <a:latin typeface="+mn-ea"/>
              </a:rPr>
              <a:t>리포트</a:t>
            </a:r>
            <a:endParaRPr lang="ko-KR" altLang="en-US" sz="800" dirty="0">
              <a:solidFill>
                <a:schemeClr val="tx1"/>
              </a:solidFill>
            </a:endParaRPr>
          </a:p>
        </p:txBody>
      </p:sp>
      <p:cxnSp>
        <p:nvCxnSpPr>
          <p:cNvPr id="118" name="연결선: 꺾임 7">
            <a:extLst>
              <a:ext uri="{FF2B5EF4-FFF2-40B4-BE49-F238E27FC236}">
                <a16:creationId xmlns:a16="http://schemas.microsoft.com/office/drawing/2014/main" id="{89A2D828-4C18-4F90-6B31-722E89773AA8}"/>
              </a:ext>
            </a:extLst>
          </p:cNvPr>
          <p:cNvCxnSpPr>
            <a:cxnSpLocks/>
            <a:stCxn id="66" idx="3"/>
            <a:endCxn id="233" idx="1"/>
          </p:cNvCxnSpPr>
          <p:nvPr/>
        </p:nvCxnSpPr>
        <p:spPr>
          <a:xfrm flipV="1">
            <a:off x="2754976" y="1775429"/>
            <a:ext cx="861328" cy="44459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연결선: 꺾임 7">
            <a:extLst>
              <a:ext uri="{FF2B5EF4-FFF2-40B4-BE49-F238E27FC236}">
                <a16:creationId xmlns:a16="http://schemas.microsoft.com/office/drawing/2014/main" id="{89A2D828-4C18-4F90-6B31-722E89773AA8}"/>
              </a:ext>
            </a:extLst>
          </p:cNvPr>
          <p:cNvCxnSpPr>
            <a:cxnSpLocks/>
            <a:stCxn id="66" idx="3"/>
            <a:endCxn id="140" idx="1"/>
          </p:cNvCxnSpPr>
          <p:nvPr/>
        </p:nvCxnSpPr>
        <p:spPr>
          <a:xfrm>
            <a:off x="2754976" y="2220020"/>
            <a:ext cx="861328" cy="115153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직선 화살표 연결선 126">
            <a:extLst>
              <a:ext uri="{FF2B5EF4-FFF2-40B4-BE49-F238E27FC236}">
                <a16:creationId xmlns:a16="http://schemas.microsoft.com/office/drawing/2014/main" id="{9A519F08-B829-E35F-09D8-DFCD1F68B911}"/>
              </a:ext>
            </a:extLst>
          </p:cNvPr>
          <p:cNvCxnSpPr>
            <a:cxnSpLocks/>
            <a:stCxn id="180" idx="3"/>
            <a:endCxn id="104" idx="1"/>
          </p:cNvCxnSpPr>
          <p:nvPr/>
        </p:nvCxnSpPr>
        <p:spPr>
          <a:xfrm>
            <a:off x="6451950" y="4714108"/>
            <a:ext cx="1035645"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9" name="다이아몬드 128"/>
          <p:cNvSpPr/>
          <p:nvPr/>
        </p:nvSpPr>
        <p:spPr>
          <a:xfrm>
            <a:off x="5551950" y="1630678"/>
            <a:ext cx="900000" cy="288000"/>
          </a:xfrm>
          <a:prstGeom prst="diamond">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로그인</a:t>
            </a:r>
          </a:p>
        </p:txBody>
      </p:sp>
      <p:sp>
        <p:nvSpPr>
          <p:cNvPr id="135" name="사각형: 둥근 모서리 5">
            <a:extLst>
              <a:ext uri="{FF2B5EF4-FFF2-40B4-BE49-F238E27FC236}">
                <a16:creationId xmlns:a16="http://schemas.microsoft.com/office/drawing/2014/main" id="{410E5459-200D-7630-863C-88E5109259DF}"/>
              </a:ext>
            </a:extLst>
          </p:cNvPr>
          <p:cNvSpPr/>
          <p:nvPr/>
        </p:nvSpPr>
        <p:spPr>
          <a:xfrm>
            <a:off x="7487595" y="16306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관심공고</a:t>
            </a:r>
            <a:endParaRPr lang="en-US" altLang="ko-KR" sz="800" dirty="0">
              <a:solidFill>
                <a:schemeClr val="tx1"/>
              </a:solidFill>
              <a:latin typeface="+mn-ea"/>
            </a:endParaRPr>
          </a:p>
          <a:p>
            <a:pPr algn="ctr"/>
            <a:r>
              <a:rPr lang="ko-KR" altLang="en-US" sz="800" dirty="0">
                <a:solidFill>
                  <a:schemeClr val="tx1"/>
                </a:solidFill>
                <a:latin typeface="+mn-ea"/>
              </a:rPr>
              <a:t>등록</a:t>
            </a:r>
            <a:r>
              <a:rPr lang="en-US" altLang="ko-KR" sz="800" dirty="0">
                <a:solidFill>
                  <a:schemeClr val="tx1"/>
                </a:solidFill>
                <a:latin typeface="+mn-ea"/>
              </a:rPr>
              <a:t>, </a:t>
            </a:r>
            <a:r>
              <a:rPr lang="ko-KR" altLang="en-US" sz="800" dirty="0">
                <a:solidFill>
                  <a:schemeClr val="tx1"/>
                </a:solidFill>
                <a:latin typeface="+mn-ea"/>
              </a:rPr>
              <a:t>제외</a:t>
            </a:r>
            <a:endParaRPr lang="ko-KR" altLang="en-US" sz="800" dirty="0">
              <a:solidFill>
                <a:schemeClr val="tx1"/>
              </a:solidFill>
            </a:endParaRPr>
          </a:p>
        </p:txBody>
      </p:sp>
      <p:sp>
        <p:nvSpPr>
          <p:cNvPr id="136" name="사각형: 둥근 모서리 5">
            <a:extLst>
              <a:ext uri="{FF2B5EF4-FFF2-40B4-BE49-F238E27FC236}">
                <a16:creationId xmlns:a16="http://schemas.microsoft.com/office/drawing/2014/main" id="{410E5459-200D-7630-863C-88E5109259DF}"/>
              </a:ext>
            </a:extLst>
          </p:cNvPr>
          <p:cNvSpPr/>
          <p:nvPr/>
        </p:nvSpPr>
        <p:spPr>
          <a:xfrm>
            <a:off x="5551950" y="218635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로그인 필요 서비스 안내</a:t>
            </a:r>
          </a:p>
        </p:txBody>
      </p:sp>
      <p:cxnSp>
        <p:nvCxnSpPr>
          <p:cNvPr id="137" name="연결선: 꺾임 7">
            <a:extLst>
              <a:ext uri="{FF2B5EF4-FFF2-40B4-BE49-F238E27FC236}">
                <a16:creationId xmlns:a16="http://schemas.microsoft.com/office/drawing/2014/main" id="{89A2D828-4C18-4F90-6B31-722E89773AA8}"/>
              </a:ext>
            </a:extLst>
          </p:cNvPr>
          <p:cNvCxnSpPr>
            <a:cxnSpLocks/>
            <a:stCxn id="233" idx="3"/>
            <a:endCxn id="129" idx="0"/>
          </p:cNvCxnSpPr>
          <p:nvPr/>
        </p:nvCxnSpPr>
        <p:spPr>
          <a:xfrm flipV="1">
            <a:off x="4516304" y="1630678"/>
            <a:ext cx="1485646" cy="144751"/>
          </a:xfrm>
          <a:prstGeom prst="bentConnector4">
            <a:avLst>
              <a:gd name="adj1" fmla="val 34855"/>
              <a:gd name="adj2" fmla="val 257926"/>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직선 화살표 연결선 137">
            <a:extLst>
              <a:ext uri="{FF2B5EF4-FFF2-40B4-BE49-F238E27FC236}">
                <a16:creationId xmlns:a16="http://schemas.microsoft.com/office/drawing/2014/main" id="{9A519F08-B829-E35F-09D8-DFCD1F68B911}"/>
              </a:ext>
            </a:extLst>
          </p:cNvPr>
          <p:cNvCxnSpPr>
            <a:cxnSpLocks/>
            <a:stCxn id="129" idx="2"/>
            <a:endCxn id="136" idx="0"/>
          </p:cNvCxnSpPr>
          <p:nvPr/>
        </p:nvCxnSpPr>
        <p:spPr>
          <a:xfrm>
            <a:off x="6001950" y="1918678"/>
            <a:ext cx="0" cy="267676"/>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2" name="직선 화살표 연결선 141">
            <a:extLst>
              <a:ext uri="{FF2B5EF4-FFF2-40B4-BE49-F238E27FC236}">
                <a16:creationId xmlns:a16="http://schemas.microsoft.com/office/drawing/2014/main" id="{9A519F08-B829-E35F-09D8-DFCD1F68B911}"/>
              </a:ext>
            </a:extLst>
          </p:cNvPr>
          <p:cNvCxnSpPr>
            <a:cxnSpLocks/>
            <a:stCxn id="129" idx="3"/>
            <a:endCxn id="135" idx="1"/>
          </p:cNvCxnSpPr>
          <p:nvPr/>
        </p:nvCxnSpPr>
        <p:spPr>
          <a:xfrm>
            <a:off x="6451950" y="1774678"/>
            <a:ext cx="1035645"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3" name="직사각형 142">
            <a:extLst>
              <a:ext uri="{FF2B5EF4-FFF2-40B4-BE49-F238E27FC236}">
                <a16:creationId xmlns:a16="http://schemas.microsoft.com/office/drawing/2014/main" id="{F249990F-1DE5-C694-BDBD-2DE7009D57EA}"/>
              </a:ext>
            </a:extLst>
          </p:cNvPr>
          <p:cNvSpPr/>
          <p:nvPr/>
        </p:nvSpPr>
        <p:spPr>
          <a:xfrm>
            <a:off x="6507009" y="1628144"/>
            <a:ext cx="5770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Y</a:t>
            </a:r>
            <a:endParaRPr lang="ko-KR" altLang="en-US" sz="800" dirty="0">
              <a:solidFill>
                <a:schemeClr val="tx1"/>
              </a:solidFill>
            </a:endParaRPr>
          </a:p>
        </p:txBody>
      </p:sp>
      <p:sp>
        <p:nvSpPr>
          <p:cNvPr id="145" name="직사각형 144">
            <a:extLst>
              <a:ext uri="{FF2B5EF4-FFF2-40B4-BE49-F238E27FC236}">
                <a16:creationId xmlns:a16="http://schemas.microsoft.com/office/drawing/2014/main" id="{F249990F-1DE5-C694-BDBD-2DE7009D57EA}"/>
              </a:ext>
            </a:extLst>
          </p:cNvPr>
          <p:cNvSpPr/>
          <p:nvPr/>
        </p:nvSpPr>
        <p:spPr>
          <a:xfrm>
            <a:off x="6071808" y="1994343"/>
            <a:ext cx="7854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N</a:t>
            </a:r>
            <a:endParaRPr lang="ko-KR" altLang="en-US" sz="800" dirty="0">
              <a:solidFill>
                <a:schemeClr val="tx1"/>
              </a:solidFill>
            </a:endParaRPr>
          </a:p>
        </p:txBody>
      </p:sp>
      <p:cxnSp>
        <p:nvCxnSpPr>
          <p:cNvPr id="146" name="연결선: 꺾임 7">
            <a:extLst>
              <a:ext uri="{FF2B5EF4-FFF2-40B4-BE49-F238E27FC236}">
                <a16:creationId xmlns:a16="http://schemas.microsoft.com/office/drawing/2014/main" id="{89A2D828-4C18-4F90-6B31-722E89773AA8}"/>
              </a:ext>
            </a:extLst>
          </p:cNvPr>
          <p:cNvCxnSpPr>
            <a:cxnSpLocks/>
            <a:stCxn id="136" idx="3"/>
            <a:endCxn id="158" idx="0"/>
          </p:cNvCxnSpPr>
          <p:nvPr/>
        </p:nvCxnSpPr>
        <p:spPr>
          <a:xfrm>
            <a:off x="6451950" y="2330354"/>
            <a:ext cx="2887377" cy="94421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연결선: 꺾임 7">
            <a:extLst>
              <a:ext uri="{FF2B5EF4-FFF2-40B4-BE49-F238E27FC236}">
                <a16:creationId xmlns:a16="http://schemas.microsoft.com/office/drawing/2014/main" id="{89A2D828-4C18-4F90-6B31-722E89773AA8}"/>
              </a:ext>
            </a:extLst>
          </p:cNvPr>
          <p:cNvCxnSpPr>
            <a:cxnSpLocks/>
            <a:stCxn id="104" idx="3"/>
            <a:endCxn id="158" idx="2"/>
          </p:cNvCxnSpPr>
          <p:nvPr/>
        </p:nvCxnSpPr>
        <p:spPr>
          <a:xfrm flipV="1">
            <a:off x="8387595" y="3364571"/>
            <a:ext cx="861732" cy="134953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연결선: 꺾임 7">
            <a:extLst>
              <a:ext uri="{FF2B5EF4-FFF2-40B4-BE49-F238E27FC236}">
                <a16:creationId xmlns:a16="http://schemas.microsoft.com/office/drawing/2014/main" id="{89A2D828-4C18-4F90-6B31-722E89773AA8}"/>
              </a:ext>
            </a:extLst>
          </p:cNvPr>
          <p:cNvCxnSpPr>
            <a:cxnSpLocks/>
            <a:stCxn id="140" idx="2"/>
            <a:endCxn id="180" idx="1"/>
          </p:cNvCxnSpPr>
          <p:nvPr/>
        </p:nvCxnSpPr>
        <p:spPr>
          <a:xfrm rot="16200000" flipH="1">
            <a:off x="5089624" y="4251781"/>
            <a:ext cx="644135" cy="28051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4" name="직사각형 73">
            <a:extLst>
              <a:ext uri="{FF2B5EF4-FFF2-40B4-BE49-F238E27FC236}">
                <a16:creationId xmlns:a16="http://schemas.microsoft.com/office/drawing/2014/main" id="{F249990F-1DE5-C694-BDBD-2DE7009D57EA}"/>
              </a:ext>
            </a:extLst>
          </p:cNvPr>
          <p:cNvSpPr/>
          <p:nvPr/>
        </p:nvSpPr>
        <p:spPr>
          <a:xfrm>
            <a:off x="4839825" y="3279915"/>
            <a:ext cx="755015"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경쟁입찰인 경우</a:t>
            </a:r>
            <a:endParaRPr lang="ko-KR" altLang="en-US" sz="800" dirty="0">
              <a:solidFill>
                <a:schemeClr val="tx1"/>
              </a:solidFill>
            </a:endParaRPr>
          </a:p>
        </p:txBody>
      </p:sp>
      <p:sp>
        <p:nvSpPr>
          <p:cNvPr id="75" name="직사각형 74">
            <a:extLst>
              <a:ext uri="{FF2B5EF4-FFF2-40B4-BE49-F238E27FC236}">
                <a16:creationId xmlns:a16="http://schemas.microsoft.com/office/drawing/2014/main" id="{F249990F-1DE5-C694-BDBD-2DE7009D57EA}"/>
              </a:ext>
            </a:extLst>
          </p:cNvPr>
          <p:cNvSpPr/>
          <p:nvPr/>
        </p:nvSpPr>
        <p:spPr>
          <a:xfrm>
            <a:off x="5934240" y="3279915"/>
            <a:ext cx="79508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물품</a:t>
            </a:r>
            <a:r>
              <a:rPr lang="en-US" altLang="ko-KR" sz="800" dirty="0">
                <a:solidFill>
                  <a:schemeClr val="tx1"/>
                </a:solidFill>
              </a:rPr>
              <a:t>/</a:t>
            </a:r>
            <a:r>
              <a:rPr lang="ko-KR" altLang="en-US" sz="800" dirty="0">
                <a:solidFill>
                  <a:schemeClr val="tx1"/>
                </a:solidFill>
              </a:rPr>
              <a:t>용역인 </a:t>
            </a:r>
            <a:r>
              <a:rPr lang="ko-KR" altLang="en-US" sz="800" dirty="0" smtClean="0">
                <a:solidFill>
                  <a:schemeClr val="tx1"/>
                </a:solidFill>
              </a:rPr>
              <a:t>경우</a:t>
            </a:r>
            <a:endParaRPr lang="ko-KR" altLang="en-US" sz="800" dirty="0">
              <a:solidFill>
                <a:schemeClr val="tx1"/>
              </a:solidFill>
            </a:endParaRPr>
          </a:p>
        </p:txBody>
      </p:sp>
      <p:sp>
        <p:nvSpPr>
          <p:cNvPr id="76" name="직사각형 75">
            <a:extLst>
              <a:ext uri="{FF2B5EF4-FFF2-40B4-BE49-F238E27FC236}">
                <a16:creationId xmlns:a16="http://schemas.microsoft.com/office/drawing/2014/main" id="{F249990F-1DE5-C694-BDBD-2DE7009D57EA}"/>
              </a:ext>
            </a:extLst>
          </p:cNvPr>
          <p:cNvSpPr/>
          <p:nvPr/>
        </p:nvSpPr>
        <p:spPr>
          <a:xfrm>
            <a:off x="3739964" y="3839604"/>
            <a:ext cx="79508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물품</a:t>
            </a:r>
            <a:r>
              <a:rPr lang="en-US" altLang="ko-KR" sz="800" dirty="0">
                <a:solidFill>
                  <a:schemeClr val="tx1"/>
                </a:solidFill>
              </a:rPr>
              <a:t>/</a:t>
            </a:r>
            <a:r>
              <a:rPr lang="ko-KR" altLang="en-US" sz="800" dirty="0">
                <a:solidFill>
                  <a:schemeClr val="tx1"/>
                </a:solidFill>
              </a:rPr>
              <a:t>용역인 </a:t>
            </a:r>
            <a:r>
              <a:rPr lang="ko-KR" altLang="en-US" sz="800" dirty="0" smtClean="0">
                <a:solidFill>
                  <a:schemeClr val="tx1"/>
                </a:solidFill>
              </a:rPr>
              <a:t>경우</a:t>
            </a:r>
            <a:endParaRPr lang="ko-KR" altLang="en-US" sz="800" dirty="0">
              <a:solidFill>
                <a:schemeClr val="tx1"/>
              </a:solidFill>
            </a:endParaRPr>
          </a:p>
        </p:txBody>
      </p:sp>
      <p:sp>
        <p:nvSpPr>
          <p:cNvPr id="84" name="직사각형 83">
            <a:extLst>
              <a:ext uri="{FF2B5EF4-FFF2-40B4-BE49-F238E27FC236}">
                <a16:creationId xmlns:a16="http://schemas.microsoft.com/office/drawing/2014/main" id="{F249990F-1DE5-C694-BDBD-2DE7009D57EA}"/>
              </a:ext>
            </a:extLst>
          </p:cNvPr>
          <p:cNvSpPr/>
          <p:nvPr/>
        </p:nvSpPr>
        <p:spPr>
          <a:xfrm>
            <a:off x="5929158" y="3839604"/>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개찰일시</a:t>
            </a:r>
            <a:r>
              <a:rPr lang="ko-KR" altLang="en-US" sz="800" dirty="0">
                <a:solidFill>
                  <a:schemeClr val="tx1"/>
                </a:solidFill>
              </a:rPr>
              <a:t> 이후</a:t>
            </a:r>
            <a:r>
              <a:rPr lang="ko-KR" altLang="en-US" sz="800" dirty="0" smtClean="0">
                <a:solidFill>
                  <a:schemeClr val="tx1"/>
                </a:solidFill>
              </a:rPr>
              <a:t>인 경우</a:t>
            </a:r>
            <a:endParaRPr lang="ko-KR" altLang="en-US" sz="800" dirty="0">
              <a:solidFill>
                <a:schemeClr val="tx1"/>
              </a:solidFill>
            </a:endParaRPr>
          </a:p>
        </p:txBody>
      </p:sp>
      <p:grpSp>
        <p:nvGrpSpPr>
          <p:cNvPr id="85" name="그룹 84"/>
          <p:cNvGrpSpPr/>
          <p:nvPr/>
        </p:nvGrpSpPr>
        <p:grpSpPr>
          <a:xfrm>
            <a:off x="8223250" y="569392"/>
            <a:ext cx="3365500" cy="219465"/>
            <a:chOff x="8223250" y="569392"/>
            <a:chExt cx="3365500" cy="219465"/>
          </a:xfrm>
        </p:grpSpPr>
        <p:sp>
          <p:nvSpPr>
            <p:cNvPr id="86" name="직사각형 8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화면 수정</a:t>
              </a:r>
              <a:endParaRPr lang="ko-KR" altLang="en-US" dirty="0"/>
            </a:p>
          </p:txBody>
        </p:sp>
        <p:sp>
          <p:nvSpPr>
            <p:cNvPr id="87" name="직사각형 8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흐름도 수정</a:t>
              </a:r>
              <a:endParaRPr lang="ko-KR" altLang="en-US" sz="700" dirty="0"/>
            </a:p>
          </p:txBody>
        </p:sp>
      </p:grpSp>
      <p:sp>
        <p:nvSpPr>
          <p:cNvPr id="97" name="직사각형 96">
            <a:extLst>
              <a:ext uri="{FF2B5EF4-FFF2-40B4-BE49-F238E27FC236}">
                <a16:creationId xmlns:a16="http://schemas.microsoft.com/office/drawing/2014/main" id="{F249990F-1DE5-C694-BDBD-2DE7009D57EA}"/>
              </a:ext>
            </a:extLst>
          </p:cNvPr>
          <p:cNvSpPr/>
          <p:nvPr/>
        </p:nvSpPr>
        <p:spPr>
          <a:xfrm>
            <a:off x="7487595" y="2491902"/>
            <a:ext cx="1412246"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신청 기간이 도래한 경우</a:t>
            </a:r>
            <a:endParaRPr lang="en-US" altLang="ko-KR" sz="800" dirty="0" smtClean="0">
              <a:solidFill>
                <a:schemeClr val="tx1"/>
              </a:solidFill>
            </a:endParaRPr>
          </a:p>
          <a:p>
            <a:r>
              <a:rPr lang="ko-KR" altLang="en-US" sz="800" dirty="0" smtClean="0">
                <a:solidFill>
                  <a:schemeClr val="tx1"/>
                </a:solidFill>
              </a:rPr>
              <a:t>조건에 따라 </a:t>
            </a:r>
            <a:r>
              <a:rPr lang="en-US" altLang="ko-KR" sz="800" dirty="0" smtClean="0">
                <a:solidFill>
                  <a:schemeClr val="tx1"/>
                </a:solidFill>
              </a:rPr>
              <a:t>(+) </a:t>
            </a:r>
            <a:r>
              <a:rPr lang="ko-KR" altLang="en-US" sz="800" dirty="0" smtClean="0">
                <a:solidFill>
                  <a:schemeClr val="tx1"/>
                </a:solidFill>
              </a:rPr>
              <a:t>버튼으로 노출</a:t>
            </a:r>
            <a:endParaRPr lang="ko-KR" altLang="en-US" sz="800" dirty="0">
              <a:solidFill>
                <a:schemeClr val="tx1"/>
              </a:solidFill>
            </a:endParaRPr>
          </a:p>
        </p:txBody>
      </p:sp>
      <p:sp>
        <p:nvSpPr>
          <p:cNvPr id="111" name="사각형: 둥근 모서리 5">
            <a:extLst>
              <a:ext uri="{FF2B5EF4-FFF2-40B4-BE49-F238E27FC236}">
                <a16:creationId xmlns:a16="http://schemas.microsoft.com/office/drawing/2014/main" id="{410E5459-200D-7630-863C-88E5109259DF}"/>
              </a:ext>
            </a:extLst>
          </p:cNvPr>
          <p:cNvSpPr/>
          <p:nvPr/>
        </p:nvSpPr>
        <p:spPr>
          <a:xfrm>
            <a:off x="1071925" y="3496048"/>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입찰진행목록</a:t>
            </a:r>
            <a:endParaRPr lang="ko-KR" altLang="en-US" sz="800" dirty="0">
              <a:solidFill>
                <a:schemeClr val="tx1"/>
              </a:solidFill>
            </a:endParaRPr>
          </a:p>
        </p:txBody>
      </p:sp>
      <p:cxnSp>
        <p:nvCxnSpPr>
          <p:cNvPr id="112" name="연결선: 꺾임 7">
            <a:extLst>
              <a:ext uri="{FF2B5EF4-FFF2-40B4-BE49-F238E27FC236}">
                <a16:creationId xmlns:a16="http://schemas.microsoft.com/office/drawing/2014/main" id="{89A2D828-4C18-4F90-6B31-722E89773AA8}"/>
              </a:ext>
            </a:extLst>
          </p:cNvPr>
          <p:cNvCxnSpPr>
            <a:cxnSpLocks/>
            <a:stCxn id="9" idx="6"/>
            <a:endCxn id="111" idx="1"/>
          </p:cNvCxnSpPr>
          <p:nvPr/>
        </p:nvCxnSpPr>
        <p:spPr>
          <a:xfrm>
            <a:off x="700126" y="1772964"/>
            <a:ext cx="371799" cy="186708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6" name="사각형: 둥근 모서리 5">
            <a:extLst>
              <a:ext uri="{FF2B5EF4-FFF2-40B4-BE49-F238E27FC236}">
                <a16:creationId xmlns:a16="http://schemas.microsoft.com/office/drawing/2014/main" id="{410E5459-200D-7630-863C-88E5109259DF}"/>
              </a:ext>
            </a:extLst>
          </p:cNvPr>
          <p:cNvSpPr/>
          <p:nvPr/>
        </p:nvSpPr>
        <p:spPr>
          <a:xfrm>
            <a:off x="1071925" y="495010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smtClean="0">
                <a:solidFill>
                  <a:schemeClr val="tx1"/>
                </a:solidFill>
              </a:rPr>
              <a:t>개찰목록</a:t>
            </a:r>
            <a:endParaRPr lang="ko-KR" altLang="en-US" sz="800" dirty="0">
              <a:solidFill>
                <a:schemeClr val="tx1"/>
              </a:solidFill>
            </a:endParaRPr>
          </a:p>
        </p:txBody>
      </p:sp>
      <p:cxnSp>
        <p:nvCxnSpPr>
          <p:cNvPr id="117" name="연결선: 꺾임 7">
            <a:extLst>
              <a:ext uri="{FF2B5EF4-FFF2-40B4-BE49-F238E27FC236}">
                <a16:creationId xmlns:a16="http://schemas.microsoft.com/office/drawing/2014/main" id="{89A2D828-4C18-4F90-6B31-722E89773AA8}"/>
              </a:ext>
            </a:extLst>
          </p:cNvPr>
          <p:cNvCxnSpPr>
            <a:cxnSpLocks/>
            <a:stCxn id="9" idx="6"/>
            <a:endCxn id="116" idx="1"/>
          </p:cNvCxnSpPr>
          <p:nvPr/>
        </p:nvCxnSpPr>
        <p:spPr>
          <a:xfrm>
            <a:off x="700126" y="1772964"/>
            <a:ext cx="371799" cy="332114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2" name="직사각형 121">
            <a:extLst>
              <a:ext uri="{FF2B5EF4-FFF2-40B4-BE49-F238E27FC236}">
                <a16:creationId xmlns:a16="http://schemas.microsoft.com/office/drawing/2014/main" id="{F249990F-1DE5-C694-BDBD-2DE7009D57EA}"/>
              </a:ext>
            </a:extLst>
          </p:cNvPr>
          <p:cNvSpPr/>
          <p:nvPr/>
        </p:nvSpPr>
        <p:spPr>
          <a:xfrm>
            <a:off x="1077502" y="2846703"/>
            <a:ext cx="1444306" cy="6155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입찰진행목록은</a:t>
            </a:r>
            <a:endParaRPr lang="en-US" altLang="ko-KR" sz="800" dirty="0" smtClean="0">
              <a:solidFill>
                <a:schemeClr val="tx1"/>
              </a:solidFill>
            </a:endParaRPr>
          </a:p>
          <a:p>
            <a:r>
              <a:rPr lang="ko-KR" altLang="en-US" sz="800" dirty="0" smtClean="0">
                <a:solidFill>
                  <a:schemeClr val="tx1"/>
                </a:solidFill>
              </a:rPr>
              <a:t>사전심사</a:t>
            </a:r>
            <a:r>
              <a:rPr lang="en-US" altLang="ko-KR" sz="800" dirty="0" smtClean="0">
                <a:solidFill>
                  <a:schemeClr val="tx1"/>
                </a:solidFill>
              </a:rPr>
              <a:t>, </a:t>
            </a:r>
            <a:r>
              <a:rPr lang="ko-KR" altLang="en-US" sz="800" dirty="0" smtClean="0">
                <a:solidFill>
                  <a:schemeClr val="tx1"/>
                </a:solidFill>
              </a:rPr>
              <a:t>입찰참가</a:t>
            </a:r>
            <a:r>
              <a:rPr lang="en-US" altLang="ko-KR" sz="800" dirty="0" smtClean="0">
                <a:solidFill>
                  <a:schemeClr val="tx1"/>
                </a:solidFill>
              </a:rPr>
              <a:t>, </a:t>
            </a:r>
            <a:r>
              <a:rPr lang="ko-KR" altLang="en-US" sz="800" dirty="0" smtClean="0">
                <a:solidFill>
                  <a:schemeClr val="tx1"/>
                </a:solidFill>
              </a:rPr>
              <a:t>입찰서 등</a:t>
            </a:r>
            <a:endParaRPr lang="en-US" altLang="ko-KR" sz="800" dirty="0" smtClean="0">
              <a:solidFill>
                <a:schemeClr val="tx1"/>
              </a:solidFill>
            </a:endParaRPr>
          </a:p>
          <a:p>
            <a:r>
              <a:rPr lang="ko-KR" altLang="en-US" sz="800" dirty="0" smtClean="0">
                <a:solidFill>
                  <a:schemeClr val="tx1"/>
                </a:solidFill>
              </a:rPr>
              <a:t>누군가 공고에서 신청하는 경우</a:t>
            </a:r>
            <a:endParaRPr lang="en-US" altLang="ko-KR" sz="800" dirty="0" smtClean="0">
              <a:solidFill>
                <a:schemeClr val="tx1"/>
              </a:solidFill>
            </a:endParaRPr>
          </a:p>
          <a:p>
            <a:r>
              <a:rPr lang="ko-KR" altLang="en-US" sz="800" dirty="0" smtClean="0">
                <a:solidFill>
                  <a:schemeClr val="tx1"/>
                </a:solidFill>
              </a:rPr>
              <a:t>목록에 표시됨</a:t>
            </a:r>
            <a:r>
              <a:rPr lang="en-US" altLang="ko-KR" sz="800" dirty="0" smtClean="0">
                <a:solidFill>
                  <a:schemeClr val="tx1"/>
                </a:solidFill>
              </a:rPr>
              <a:t>.</a:t>
            </a:r>
          </a:p>
          <a:p>
            <a:r>
              <a:rPr lang="ko-KR" altLang="en-US" sz="800" dirty="0" smtClean="0">
                <a:solidFill>
                  <a:srgbClr val="FF0000"/>
                </a:solidFill>
              </a:rPr>
              <a:t>추후 개인화 될 수 있음</a:t>
            </a:r>
            <a:r>
              <a:rPr lang="en-US" altLang="ko-KR" sz="800" dirty="0" smtClean="0">
                <a:solidFill>
                  <a:srgbClr val="FF0000"/>
                </a:solidFill>
              </a:rPr>
              <a:t>.</a:t>
            </a:r>
            <a:endParaRPr lang="ko-KR" altLang="en-US" sz="800" dirty="0">
              <a:solidFill>
                <a:srgbClr val="FF0000"/>
              </a:solidFill>
            </a:endParaRPr>
          </a:p>
        </p:txBody>
      </p:sp>
      <p:sp>
        <p:nvSpPr>
          <p:cNvPr id="123" name="TextBox 122">
            <a:extLst>
              <a:ext uri="{FF2B5EF4-FFF2-40B4-BE49-F238E27FC236}">
                <a16:creationId xmlns:a16="http://schemas.microsoft.com/office/drawing/2014/main" id="{6619C48D-7E22-9D49-50C5-2404458A47CE}"/>
              </a:ext>
            </a:extLst>
          </p:cNvPr>
          <p:cNvSpPr txBox="1"/>
          <p:nvPr/>
        </p:nvSpPr>
        <p:spPr>
          <a:xfrm>
            <a:off x="777742" y="6153248"/>
            <a:ext cx="8640000" cy="466657"/>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smtClean="0">
                <a:solidFill>
                  <a:srgbClr val="0000FF"/>
                </a:solidFill>
                <a:latin typeface="+mn-ea"/>
              </a:rPr>
              <a:t>입찰공고통합목록</a:t>
            </a:r>
            <a:r>
              <a:rPr lang="en-US" altLang="ko-KR" sz="800" kern="0" dirty="0" smtClean="0">
                <a:solidFill>
                  <a:srgbClr val="0000FF"/>
                </a:solidFill>
                <a:latin typeface="+mn-ea"/>
              </a:rPr>
              <a:t>, </a:t>
            </a:r>
            <a:r>
              <a:rPr lang="ko-KR" altLang="en-US" sz="800" kern="0" dirty="0" smtClean="0">
                <a:solidFill>
                  <a:srgbClr val="0000FF"/>
                </a:solidFill>
                <a:latin typeface="+mn-ea"/>
              </a:rPr>
              <a:t>입찰진행목록</a:t>
            </a:r>
            <a:r>
              <a:rPr lang="en-US" altLang="ko-KR" sz="800" kern="0" dirty="0" smtClean="0">
                <a:solidFill>
                  <a:srgbClr val="0000FF"/>
                </a:solidFill>
                <a:latin typeface="+mn-ea"/>
              </a:rPr>
              <a:t>, </a:t>
            </a:r>
            <a:r>
              <a:rPr lang="ko-KR" altLang="en-US" sz="800" kern="0" dirty="0" err="1" smtClean="0">
                <a:solidFill>
                  <a:srgbClr val="0000FF"/>
                </a:solidFill>
                <a:latin typeface="+mn-ea"/>
              </a:rPr>
              <a:t>개찰목록은</a:t>
            </a:r>
            <a:r>
              <a:rPr lang="ko-KR" altLang="en-US" sz="800" kern="0" dirty="0" smtClean="0">
                <a:solidFill>
                  <a:srgbClr val="0000FF"/>
                </a:solidFill>
                <a:latin typeface="+mn-ea"/>
              </a:rPr>
              <a:t> 공고가 게시되면 해당 목록에 공고가 모두 표시됨</a:t>
            </a:r>
            <a:r>
              <a:rPr lang="en-US" altLang="ko-KR" sz="800" kern="0" dirty="0" smtClean="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smtClean="0">
                <a:solidFill>
                  <a:srgbClr val="0000FF"/>
                </a:solidFill>
                <a:latin typeface="+mn-ea"/>
              </a:rPr>
              <a:t>다음 </a:t>
            </a:r>
            <a:r>
              <a:rPr lang="ko-KR" altLang="en-US" sz="800" kern="0" dirty="0" err="1" smtClean="0">
                <a:solidFill>
                  <a:srgbClr val="0000FF"/>
                </a:solidFill>
                <a:latin typeface="+mn-ea"/>
              </a:rPr>
              <a:t>장표의</a:t>
            </a:r>
            <a:r>
              <a:rPr lang="ko-KR" altLang="en-US" sz="800" kern="0" dirty="0" smtClean="0">
                <a:solidFill>
                  <a:srgbClr val="0000FF"/>
                </a:solidFill>
                <a:latin typeface="+mn-ea"/>
              </a:rPr>
              <a:t> 사전심사</a:t>
            </a:r>
            <a:r>
              <a:rPr lang="en-US" altLang="ko-KR" sz="800" kern="0" dirty="0" smtClean="0">
                <a:solidFill>
                  <a:srgbClr val="0000FF"/>
                </a:solidFill>
                <a:latin typeface="+mn-ea"/>
              </a:rPr>
              <a:t>, </a:t>
            </a:r>
            <a:r>
              <a:rPr lang="ko-KR" altLang="en-US" sz="800" kern="0" dirty="0" smtClean="0">
                <a:solidFill>
                  <a:srgbClr val="0000FF"/>
                </a:solidFill>
                <a:latin typeface="+mn-ea"/>
              </a:rPr>
              <a:t>입찰참가 신청</a:t>
            </a:r>
            <a:r>
              <a:rPr lang="en-US" altLang="ko-KR" sz="800" kern="0" dirty="0" smtClean="0">
                <a:solidFill>
                  <a:srgbClr val="0000FF"/>
                </a:solidFill>
                <a:latin typeface="+mn-ea"/>
              </a:rPr>
              <a:t>, </a:t>
            </a:r>
            <a:r>
              <a:rPr lang="ko-KR" altLang="en-US" sz="800" kern="0" dirty="0" smtClean="0">
                <a:solidFill>
                  <a:srgbClr val="0000FF"/>
                </a:solidFill>
                <a:latin typeface="+mn-ea"/>
              </a:rPr>
              <a:t>입찰서</a:t>
            </a:r>
            <a:r>
              <a:rPr lang="en-US" altLang="ko-KR" sz="800" kern="0" dirty="0" smtClean="0">
                <a:solidFill>
                  <a:srgbClr val="0000FF"/>
                </a:solidFill>
                <a:latin typeface="+mn-ea"/>
              </a:rPr>
              <a:t>, </a:t>
            </a:r>
            <a:r>
              <a:rPr lang="ko-KR" altLang="en-US" sz="800" kern="0" dirty="0" smtClean="0">
                <a:solidFill>
                  <a:srgbClr val="0000FF"/>
                </a:solidFill>
                <a:latin typeface="+mn-ea"/>
              </a:rPr>
              <a:t>견적서 등을 받는 조건은 </a:t>
            </a:r>
            <a:r>
              <a:rPr lang="ko-KR" altLang="en-US" sz="800" kern="0" dirty="0">
                <a:solidFill>
                  <a:srgbClr val="0000FF"/>
                </a:solidFill>
                <a:latin typeface="+mn-ea"/>
              </a:rPr>
              <a:t>계약방법</a:t>
            </a:r>
            <a:r>
              <a:rPr lang="en-US" altLang="ko-KR" sz="800" kern="0" dirty="0">
                <a:solidFill>
                  <a:srgbClr val="0000FF"/>
                </a:solidFill>
                <a:latin typeface="+mn-ea"/>
              </a:rPr>
              <a:t>/</a:t>
            </a:r>
            <a:r>
              <a:rPr lang="ko-KR" altLang="en-US" sz="800" kern="0" dirty="0" err="1">
                <a:solidFill>
                  <a:srgbClr val="0000FF"/>
                </a:solidFill>
                <a:latin typeface="+mn-ea"/>
              </a:rPr>
              <a:t>낙찰방법</a:t>
            </a:r>
            <a:r>
              <a:rPr lang="ko-KR" altLang="en-US" sz="800" kern="0" dirty="0">
                <a:solidFill>
                  <a:srgbClr val="0000FF"/>
                </a:solidFill>
                <a:latin typeface="+mn-ea"/>
              </a:rPr>
              <a:t> </a:t>
            </a:r>
            <a:r>
              <a:rPr lang="ko-KR" altLang="en-US" sz="800" kern="0" dirty="0" smtClean="0">
                <a:solidFill>
                  <a:srgbClr val="0000FF"/>
                </a:solidFill>
                <a:latin typeface="+mn-ea"/>
              </a:rPr>
              <a:t>참조</a:t>
            </a:r>
            <a:endParaRPr lang="ko-KR" altLang="en-US" sz="800" kern="0" dirty="0">
              <a:solidFill>
                <a:srgbClr val="0000FF"/>
              </a:solidFill>
              <a:latin typeface="+mn-ea"/>
            </a:endParaRPr>
          </a:p>
        </p:txBody>
      </p:sp>
      <p:sp>
        <p:nvSpPr>
          <p:cNvPr id="139" name="직사각형 138">
            <a:extLst>
              <a:ext uri="{FF2B5EF4-FFF2-40B4-BE49-F238E27FC236}">
                <a16:creationId xmlns:a16="http://schemas.microsoft.com/office/drawing/2014/main" id="{4FB9FCCA-B5F3-C0E2-F563-4F0CE0FC24CF}"/>
              </a:ext>
            </a:extLst>
          </p:cNvPr>
          <p:cNvSpPr/>
          <p:nvPr/>
        </p:nvSpPr>
        <p:spPr>
          <a:xfrm>
            <a:off x="2862079" y="5217327"/>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141" name="그룹 140">
            <a:extLst>
              <a:ext uri="{FF2B5EF4-FFF2-40B4-BE49-F238E27FC236}">
                <a16:creationId xmlns:a16="http://schemas.microsoft.com/office/drawing/2014/main" id="{E7279F6C-9434-7961-8F6B-B7AE44CE5FCD}"/>
              </a:ext>
            </a:extLst>
          </p:cNvPr>
          <p:cNvGrpSpPr/>
          <p:nvPr/>
        </p:nvGrpSpPr>
        <p:grpSpPr>
          <a:xfrm>
            <a:off x="2891076" y="5004104"/>
            <a:ext cx="180000" cy="180000"/>
            <a:chOff x="5058274" y="2498299"/>
            <a:chExt cx="180000" cy="180000"/>
          </a:xfrm>
        </p:grpSpPr>
        <p:sp>
          <p:nvSpPr>
            <p:cNvPr id="147" name="타원 146">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타원 148">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3" name="직사각형 152">
            <a:extLst>
              <a:ext uri="{FF2B5EF4-FFF2-40B4-BE49-F238E27FC236}">
                <a16:creationId xmlns:a16="http://schemas.microsoft.com/office/drawing/2014/main" id="{F249990F-1DE5-C694-BDBD-2DE7009D57EA}"/>
              </a:ext>
            </a:extLst>
          </p:cNvPr>
          <p:cNvSpPr/>
          <p:nvPr/>
        </p:nvSpPr>
        <p:spPr>
          <a:xfrm>
            <a:off x="1860500" y="2393347"/>
            <a:ext cx="1195840"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공고 차수</a:t>
            </a:r>
            <a:r>
              <a:rPr lang="en-US" altLang="ko-KR" sz="800" dirty="0" smtClean="0">
                <a:solidFill>
                  <a:schemeClr val="tx1"/>
                </a:solidFill>
              </a:rPr>
              <a:t>, </a:t>
            </a:r>
            <a:r>
              <a:rPr lang="ko-KR" altLang="en-US" sz="800" dirty="0" smtClean="0">
                <a:solidFill>
                  <a:schemeClr val="tx1"/>
                </a:solidFill>
              </a:rPr>
              <a:t>수정 등에 따라</a:t>
            </a:r>
            <a:endParaRPr lang="en-US" altLang="ko-KR" sz="800" dirty="0" smtClean="0">
              <a:solidFill>
                <a:schemeClr val="tx1"/>
              </a:solidFill>
            </a:endParaRPr>
          </a:p>
          <a:p>
            <a:r>
              <a:rPr lang="ko-KR" altLang="en-US" sz="800" dirty="0">
                <a:solidFill>
                  <a:schemeClr val="tx1"/>
                </a:solidFill>
              </a:rPr>
              <a:t>동일한 </a:t>
            </a:r>
            <a:r>
              <a:rPr lang="ko-KR" altLang="en-US" sz="800" dirty="0" smtClean="0">
                <a:solidFill>
                  <a:schemeClr val="tx1"/>
                </a:solidFill>
              </a:rPr>
              <a:t>공고가</a:t>
            </a:r>
            <a:endParaRPr lang="en-US" altLang="ko-KR" sz="800" dirty="0" smtClean="0">
              <a:solidFill>
                <a:schemeClr val="tx1"/>
              </a:solidFill>
            </a:endParaRPr>
          </a:p>
          <a:p>
            <a:r>
              <a:rPr lang="ko-KR" altLang="en-US" sz="800" dirty="0" smtClean="0">
                <a:solidFill>
                  <a:schemeClr val="tx1"/>
                </a:solidFill>
              </a:rPr>
              <a:t>여러 건</a:t>
            </a:r>
            <a:r>
              <a:rPr lang="en-US" altLang="ko-KR" sz="800" dirty="0" smtClean="0">
                <a:solidFill>
                  <a:schemeClr val="tx1"/>
                </a:solidFill>
              </a:rPr>
              <a:t> </a:t>
            </a:r>
            <a:r>
              <a:rPr lang="ko-KR" altLang="en-US" sz="800" dirty="0" smtClean="0">
                <a:solidFill>
                  <a:schemeClr val="tx1"/>
                </a:solidFill>
              </a:rPr>
              <a:t>노출됨</a:t>
            </a:r>
            <a:r>
              <a:rPr lang="en-US" altLang="ko-KR" sz="800" dirty="0" smtClean="0">
                <a:solidFill>
                  <a:schemeClr val="tx1"/>
                </a:solidFill>
              </a:rPr>
              <a:t>.</a:t>
            </a:r>
            <a:endParaRPr lang="en-US" altLang="ko-KR" sz="800" dirty="0">
              <a:solidFill>
                <a:schemeClr val="tx1"/>
              </a:solidFill>
            </a:endParaRPr>
          </a:p>
        </p:txBody>
      </p:sp>
      <p:sp>
        <p:nvSpPr>
          <p:cNvPr id="154" name="직사각형 153">
            <a:extLst>
              <a:ext uri="{FF2B5EF4-FFF2-40B4-BE49-F238E27FC236}">
                <a16:creationId xmlns:a16="http://schemas.microsoft.com/office/drawing/2014/main" id="{F249990F-1DE5-C694-BDBD-2DE7009D57EA}"/>
              </a:ext>
            </a:extLst>
          </p:cNvPr>
          <p:cNvSpPr/>
          <p:nvPr/>
        </p:nvSpPr>
        <p:spPr>
          <a:xfrm>
            <a:off x="3610177" y="4114583"/>
            <a:ext cx="1033937"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계약 및 조건에 따라</a:t>
            </a:r>
            <a:endParaRPr lang="en-US" altLang="ko-KR" sz="800" dirty="0" smtClean="0">
              <a:solidFill>
                <a:schemeClr val="tx1"/>
              </a:solidFill>
            </a:endParaRPr>
          </a:p>
          <a:p>
            <a:r>
              <a:rPr lang="ko-KR" altLang="en-US" sz="800" dirty="0" smtClean="0">
                <a:solidFill>
                  <a:schemeClr val="tx1"/>
                </a:solidFill>
              </a:rPr>
              <a:t>탭 표시 항목이</a:t>
            </a:r>
            <a:r>
              <a:rPr lang="en-US" altLang="ko-KR" sz="800" dirty="0">
                <a:solidFill>
                  <a:schemeClr val="tx1"/>
                </a:solidFill>
              </a:rPr>
              <a:t> </a:t>
            </a:r>
            <a:r>
              <a:rPr lang="ko-KR" altLang="en-US" sz="800" dirty="0" smtClean="0">
                <a:solidFill>
                  <a:schemeClr val="tx1"/>
                </a:solidFill>
              </a:rPr>
              <a:t>달라짐</a:t>
            </a:r>
            <a:endParaRPr lang="en-US" altLang="ko-KR" sz="800" dirty="0">
              <a:solidFill>
                <a:schemeClr val="tx1"/>
              </a:solidFill>
            </a:endParaRPr>
          </a:p>
        </p:txBody>
      </p:sp>
      <p:sp>
        <p:nvSpPr>
          <p:cNvPr id="100" name="사각형: 둥근 모서리 5">
            <a:extLst>
              <a:ext uri="{FF2B5EF4-FFF2-40B4-BE49-F238E27FC236}">
                <a16:creationId xmlns:a16="http://schemas.microsoft.com/office/drawing/2014/main" id="{410E5459-200D-7630-863C-88E5109259DF}"/>
              </a:ext>
            </a:extLst>
          </p:cNvPr>
          <p:cNvSpPr/>
          <p:nvPr/>
        </p:nvSpPr>
        <p:spPr>
          <a:xfrm>
            <a:off x="3616304" y="4575182"/>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latin typeface="+mn-ea"/>
              </a:rPr>
              <a:t>계약 단계 이동</a:t>
            </a:r>
            <a:endParaRPr lang="ko-KR" altLang="en-US" sz="800" dirty="0">
              <a:solidFill>
                <a:schemeClr val="tx1"/>
              </a:solidFill>
            </a:endParaRPr>
          </a:p>
        </p:txBody>
      </p:sp>
      <p:cxnSp>
        <p:nvCxnSpPr>
          <p:cNvPr id="103" name="연결선: 꺾임 7">
            <a:extLst>
              <a:ext uri="{FF2B5EF4-FFF2-40B4-BE49-F238E27FC236}">
                <a16:creationId xmlns:a16="http://schemas.microsoft.com/office/drawing/2014/main" id="{89A2D828-4C18-4F90-6B31-722E89773AA8}"/>
              </a:ext>
            </a:extLst>
          </p:cNvPr>
          <p:cNvCxnSpPr>
            <a:cxnSpLocks/>
            <a:stCxn id="66" idx="3"/>
            <a:endCxn id="100" idx="1"/>
          </p:cNvCxnSpPr>
          <p:nvPr/>
        </p:nvCxnSpPr>
        <p:spPr>
          <a:xfrm>
            <a:off x="2754976" y="2220020"/>
            <a:ext cx="861328" cy="249916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연결선: 꺾임 7">
            <a:extLst>
              <a:ext uri="{FF2B5EF4-FFF2-40B4-BE49-F238E27FC236}">
                <a16:creationId xmlns:a16="http://schemas.microsoft.com/office/drawing/2014/main" id="{89A2D828-4C18-4F90-6B31-722E89773AA8}"/>
              </a:ext>
            </a:extLst>
          </p:cNvPr>
          <p:cNvCxnSpPr>
            <a:cxnSpLocks/>
            <a:stCxn id="100" idx="2"/>
            <a:endCxn id="147" idx="6"/>
          </p:cNvCxnSpPr>
          <p:nvPr/>
        </p:nvCxnSpPr>
        <p:spPr>
          <a:xfrm rot="5400000">
            <a:off x="3453229" y="4481029"/>
            <a:ext cx="230922" cy="99522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09" name="표 108"/>
          <p:cNvGraphicFramePr>
            <a:graphicFrameLocks noGrp="1"/>
          </p:cNvGraphicFramePr>
          <p:nvPr>
            <p:extLst/>
          </p:nvPr>
        </p:nvGraphicFramePr>
        <p:xfrm>
          <a:off x="5297630" y="5980423"/>
          <a:ext cx="4173762" cy="576970"/>
        </p:xfrm>
        <a:graphic>
          <a:graphicData uri="http://schemas.openxmlformats.org/drawingml/2006/table">
            <a:tbl>
              <a:tblPr firstRow="1" bandRow="1">
                <a:tableStyleId>{5C22544A-7EE6-4342-B048-85BDC9FD1C3A}</a:tableStyleId>
              </a:tblPr>
              <a:tblGrid>
                <a:gridCol w="763430">
                  <a:extLst>
                    <a:ext uri="{9D8B030D-6E8A-4147-A177-3AD203B41FA5}">
                      <a16:colId xmlns:a16="http://schemas.microsoft.com/office/drawing/2014/main" val="3629403149"/>
                    </a:ext>
                  </a:extLst>
                </a:gridCol>
                <a:gridCol w="923638">
                  <a:extLst>
                    <a:ext uri="{9D8B030D-6E8A-4147-A177-3AD203B41FA5}">
                      <a16:colId xmlns:a16="http://schemas.microsoft.com/office/drawing/2014/main" val="1460515021"/>
                    </a:ext>
                  </a:extLst>
                </a:gridCol>
                <a:gridCol w="828898">
                  <a:extLst>
                    <a:ext uri="{9D8B030D-6E8A-4147-A177-3AD203B41FA5}">
                      <a16:colId xmlns:a16="http://schemas.microsoft.com/office/drawing/2014/main" val="1918560194"/>
                    </a:ext>
                  </a:extLst>
                </a:gridCol>
                <a:gridCol w="828898">
                  <a:extLst>
                    <a:ext uri="{9D8B030D-6E8A-4147-A177-3AD203B41FA5}">
                      <a16:colId xmlns:a16="http://schemas.microsoft.com/office/drawing/2014/main" val="53436730"/>
                    </a:ext>
                  </a:extLst>
                </a:gridCol>
                <a:gridCol w="828898">
                  <a:extLst>
                    <a:ext uri="{9D8B030D-6E8A-4147-A177-3AD203B41FA5}">
                      <a16:colId xmlns:a16="http://schemas.microsoft.com/office/drawing/2014/main" val="592262436"/>
                    </a:ext>
                  </a:extLst>
                </a:gridCol>
              </a:tblGrid>
              <a:tr h="137177">
                <a:tc>
                  <a:txBody>
                    <a:bodyPr/>
                    <a:lstStyle/>
                    <a:p>
                      <a:pPr algn="ctr" latinLnBrk="1"/>
                      <a:r>
                        <a:rPr lang="ko-KR" altLang="en-US" sz="500" dirty="0" smtClean="0">
                          <a:solidFill>
                            <a:schemeClr val="tx1"/>
                          </a:solidFill>
                        </a:rPr>
                        <a:t>화면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smtClean="0">
                          <a:solidFill>
                            <a:schemeClr val="tx1"/>
                          </a:solidFill>
                        </a:rPr>
                        <a:t>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smtClean="0">
                          <a:solidFill>
                            <a:schemeClr val="tx1"/>
                          </a:solidFill>
                        </a:rPr>
                        <a:t>로그인</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err="1" smtClean="0">
                          <a:solidFill>
                            <a:schemeClr val="tx1"/>
                          </a:solidFill>
                        </a:rPr>
                        <a:t>조회권한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latinLnBrk="1"/>
                      <a:r>
                        <a:rPr lang="ko-KR" altLang="en-US" sz="500" dirty="0" err="1" smtClean="0">
                          <a:solidFill>
                            <a:schemeClr val="tx1"/>
                          </a:solidFill>
                        </a:rPr>
                        <a:t>기간조건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294262836"/>
                  </a:ext>
                </a:extLst>
              </a:tr>
              <a:tr h="134993">
                <a:tc>
                  <a:txBody>
                    <a:bodyPr/>
                    <a:lstStyle/>
                    <a:p>
                      <a:pPr algn="ctr" latinLnBrk="1"/>
                      <a:r>
                        <a:rPr lang="ko-KR" altLang="en-US" sz="500" dirty="0" smtClean="0">
                          <a:solidFill>
                            <a:schemeClr val="tx1"/>
                          </a:solidFill>
                        </a:rPr>
                        <a:t>입찰공고통합목록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공고 </a:t>
                      </a:r>
                      <a:r>
                        <a:rPr lang="ko-KR" altLang="en-US" sz="500" dirty="0" err="1" smtClean="0">
                          <a:solidFill>
                            <a:schemeClr val="tx1"/>
                          </a:solidFill>
                        </a:rPr>
                        <a:t>등록시</a:t>
                      </a:r>
                      <a:r>
                        <a:rPr lang="ko-KR" altLang="en-US" sz="500" dirty="0" smtClean="0">
                          <a:solidFill>
                            <a:schemeClr val="tx1"/>
                          </a:solidFill>
                        </a:rPr>
                        <a:t> 노출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solidFill>
                            <a:schemeClr val="tx1"/>
                          </a:solidFill>
                        </a:rPr>
                        <a:t>필요없음</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전체 공고 조회 가능</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74876776"/>
                  </a:ext>
                </a:extLst>
              </a:tr>
              <a:tr h="134993">
                <a:tc>
                  <a:txBody>
                    <a:bodyPr/>
                    <a:lstStyle/>
                    <a:p>
                      <a:pPr algn="ctr" latinLnBrk="1"/>
                      <a:r>
                        <a:rPr lang="ko-KR" altLang="en-US" sz="500" dirty="0" smtClean="0">
                          <a:solidFill>
                            <a:schemeClr val="tx1"/>
                          </a:solidFill>
                        </a:rPr>
                        <a:t>입찰진행목록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500" dirty="0" smtClean="0">
                          <a:solidFill>
                            <a:schemeClr val="tx1"/>
                          </a:solidFill>
                        </a:rPr>
                        <a:t>공고 </a:t>
                      </a:r>
                      <a:r>
                        <a:rPr lang="ko-KR" altLang="en-US" sz="500" dirty="0" err="1" smtClean="0">
                          <a:solidFill>
                            <a:schemeClr val="tx1"/>
                          </a:solidFill>
                        </a:rPr>
                        <a:t>등록시</a:t>
                      </a:r>
                      <a:r>
                        <a:rPr lang="ko-KR" altLang="en-US" sz="500" dirty="0" smtClean="0">
                          <a:solidFill>
                            <a:schemeClr val="tx1"/>
                          </a:solidFill>
                        </a:rPr>
                        <a:t> 노출</a:t>
                      </a:r>
                    </a:p>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필요함</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본인 </a:t>
                      </a:r>
                      <a:r>
                        <a:rPr lang="ko-KR" altLang="en-US" sz="500" dirty="0" err="1" smtClean="0">
                          <a:solidFill>
                            <a:schemeClr val="tx1"/>
                          </a:solidFill>
                        </a:rPr>
                        <a:t>입찰건만</a:t>
                      </a:r>
                      <a:r>
                        <a:rPr lang="ko-KR" altLang="en-US" sz="500" dirty="0" smtClean="0">
                          <a:solidFill>
                            <a:schemeClr val="tx1"/>
                          </a:solidFill>
                        </a:rPr>
                        <a:t> 조회 가능</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입찰기간에만 조회 가능</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0828021"/>
                  </a:ext>
                </a:extLst>
              </a:tr>
              <a:tr h="134993">
                <a:tc>
                  <a:txBody>
                    <a:bodyPr/>
                    <a:lstStyle/>
                    <a:p>
                      <a:pPr algn="ctr" latinLnBrk="1"/>
                      <a:r>
                        <a:rPr lang="ko-KR" altLang="en-US" sz="500" dirty="0" err="1" smtClean="0">
                          <a:solidFill>
                            <a:schemeClr val="tx1"/>
                          </a:solidFill>
                        </a:rPr>
                        <a:t>개찰목록</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500" dirty="0" smtClean="0">
                          <a:solidFill>
                            <a:schemeClr val="tx1"/>
                          </a:solidFill>
                        </a:rPr>
                        <a:t>공고 </a:t>
                      </a:r>
                      <a:r>
                        <a:rPr lang="ko-KR" altLang="en-US" sz="500" dirty="0" err="1" smtClean="0">
                          <a:solidFill>
                            <a:schemeClr val="tx1"/>
                          </a:solidFill>
                        </a:rPr>
                        <a:t>등록시</a:t>
                      </a:r>
                      <a:r>
                        <a:rPr lang="ko-KR" altLang="en-US" sz="500" dirty="0" smtClean="0">
                          <a:solidFill>
                            <a:schemeClr val="tx1"/>
                          </a:solidFill>
                        </a:rPr>
                        <a:t> 노출</a:t>
                      </a:r>
                    </a:p>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err="1" smtClean="0">
                          <a:solidFill>
                            <a:schemeClr val="tx1"/>
                          </a:solidFill>
                        </a:rPr>
                        <a:t>필요없음</a:t>
                      </a:r>
                      <a:endParaRPr lang="en-US" altLang="ko-KR" sz="500" dirty="0" smtClean="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전체 조회 가능</a:t>
                      </a:r>
                      <a:r>
                        <a:rPr lang="en-US" altLang="ko-KR" sz="500" dirty="0" smtClean="0">
                          <a:solidFill>
                            <a:schemeClr val="tx1"/>
                          </a:solidFill>
                        </a:rPr>
                        <a:t/>
                      </a:r>
                      <a:br>
                        <a:rPr lang="en-US" altLang="ko-KR" sz="500" dirty="0" smtClean="0">
                          <a:solidFill>
                            <a:schemeClr val="tx1"/>
                          </a:solidFill>
                        </a:rPr>
                      </a:br>
                      <a:r>
                        <a:rPr lang="en-US" altLang="ko-KR" sz="500" dirty="0" smtClean="0">
                          <a:solidFill>
                            <a:schemeClr val="tx1"/>
                          </a:solidFill>
                        </a:rPr>
                        <a:t>(</a:t>
                      </a:r>
                      <a:r>
                        <a:rPr lang="ko-KR" altLang="en-US" sz="500" dirty="0" err="1" smtClean="0">
                          <a:solidFill>
                            <a:schemeClr val="tx1"/>
                          </a:solidFill>
                        </a:rPr>
                        <a:t>마스킹</a:t>
                      </a:r>
                      <a:r>
                        <a:rPr lang="ko-KR" altLang="en-US" sz="500" dirty="0" smtClean="0">
                          <a:solidFill>
                            <a:schemeClr val="tx1"/>
                          </a:solidFill>
                        </a:rPr>
                        <a:t> 화면</a:t>
                      </a:r>
                      <a:r>
                        <a:rPr lang="en-US" altLang="ko-KR" sz="500" dirty="0" smtClean="0">
                          <a:solidFill>
                            <a:schemeClr val="tx1"/>
                          </a:solidFill>
                        </a:rPr>
                        <a:t>)</a:t>
                      </a: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개찰기간에만 조회 가능</a:t>
                      </a:r>
                      <a:endParaRPr lang="en-US" altLang="ko-KR" sz="500" dirty="0" smtClean="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4307469"/>
                  </a:ext>
                </a:extLst>
              </a:tr>
            </a:tbl>
          </a:graphicData>
        </a:graphic>
      </p:graphicFrame>
      <p:sp>
        <p:nvSpPr>
          <p:cNvPr id="110" name="사각형: 둥근 모서리 5">
            <a:extLst>
              <a:ext uri="{FF2B5EF4-FFF2-40B4-BE49-F238E27FC236}">
                <a16:creationId xmlns:a16="http://schemas.microsoft.com/office/drawing/2014/main" id="{410E5459-200D-7630-863C-88E5109259DF}"/>
              </a:ext>
            </a:extLst>
          </p:cNvPr>
          <p:cNvSpPr/>
          <p:nvPr/>
        </p:nvSpPr>
        <p:spPr>
          <a:xfrm>
            <a:off x="1839973" y="5440151"/>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생산능력서류제출</a:t>
            </a:r>
            <a:endParaRPr lang="ko-KR" altLang="en-US" sz="800" dirty="0">
              <a:solidFill>
                <a:schemeClr val="tx1"/>
              </a:solidFill>
            </a:endParaRPr>
          </a:p>
        </p:txBody>
      </p:sp>
      <p:cxnSp>
        <p:nvCxnSpPr>
          <p:cNvPr id="113" name="연결선: 꺾임 7">
            <a:extLst>
              <a:ext uri="{FF2B5EF4-FFF2-40B4-BE49-F238E27FC236}">
                <a16:creationId xmlns:a16="http://schemas.microsoft.com/office/drawing/2014/main" id="{89A2D828-4C18-4F90-6B31-722E89773AA8}"/>
              </a:ext>
            </a:extLst>
          </p:cNvPr>
          <p:cNvCxnSpPr>
            <a:cxnSpLocks/>
            <a:stCxn id="116" idx="2"/>
            <a:endCxn id="110" idx="1"/>
          </p:cNvCxnSpPr>
          <p:nvPr/>
        </p:nvCxnSpPr>
        <p:spPr>
          <a:xfrm rot="16200000" flipH="1">
            <a:off x="1507926" y="5252103"/>
            <a:ext cx="346047" cy="31804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연결선: 꺾임 7">
            <a:extLst>
              <a:ext uri="{FF2B5EF4-FFF2-40B4-BE49-F238E27FC236}">
                <a16:creationId xmlns:a16="http://schemas.microsoft.com/office/drawing/2014/main" id="{89A2D828-4C18-4F90-6B31-722E89773AA8}"/>
              </a:ext>
            </a:extLst>
          </p:cNvPr>
          <p:cNvCxnSpPr>
            <a:cxnSpLocks/>
            <a:stCxn id="110" idx="0"/>
            <a:endCxn id="147" idx="2"/>
          </p:cNvCxnSpPr>
          <p:nvPr/>
        </p:nvCxnSpPr>
        <p:spPr>
          <a:xfrm rot="5400000" flipH="1" flipV="1">
            <a:off x="2417501" y="4966577"/>
            <a:ext cx="346047" cy="601103"/>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0" name="사각형: 둥근 모서리 5">
            <a:extLst>
              <a:ext uri="{FF2B5EF4-FFF2-40B4-BE49-F238E27FC236}">
                <a16:creationId xmlns:a16="http://schemas.microsoft.com/office/drawing/2014/main" id="{410E5459-200D-7630-863C-88E5109259DF}"/>
              </a:ext>
            </a:extLst>
          </p:cNvPr>
          <p:cNvSpPr/>
          <p:nvPr/>
        </p:nvSpPr>
        <p:spPr>
          <a:xfrm>
            <a:off x="1833733" y="390902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신청</a:t>
            </a:r>
            <a:r>
              <a:rPr lang="en-US" altLang="ko-KR" sz="800" dirty="0" smtClean="0">
                <a:solidFill>
                  <a:schemeClr val="tx1"/>
                </a:solidFill>
              </a:rPr>
              <a:t>, </a:t>
            </a:r>
            <a:r>
              <a:rPr lang="ko-KR" altLang="en-US" sz="800" dirty="0" smtClean="0">
                <a:solidFill>
                  <a:schemeClr val="tx1"/>
                </a:solidFill>
              </a:rPr>
              <a:t>조회</a:t>
            </a:r>
            <a:endParaRPr lang="ko-KR" altLang="en-US" sz="800" dirty="0">
              <a:solidFill>
                <a:schemeClr val="tx1"/>
              </a:solidFill>
            </a:endParaRPr>
          </a:p>
        </p:txBody>
      </p:sp>
      <p:sp>
        <p:nvSpPr>
          <p:cNvPr id="121" name="사각형: 둥근 모서리 5">
            <a:extLst>
              <a:ext uri="{FF2B5EF4-FFF2-40B4-BE49-F238E27FC236}">
                <a16:creationId xmlns:a16="http://schemas.microsoft.com/office/drawing/2014/main" id="{410E5459-200D-7630-863C-88E5109259DF}"/>
              </a:ext>
            </a:extLst>
          </p:cNvPr>
          <p:cNvSpPr/>
          <p:nvPr/>
        </p:nvSpPr>
        <p:spPr>
          <a:xfrm>
            <a:off x="1833733" y="4393835"/>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취소</a:t>
            </a:r>
            <a:r>
              <a:rPr lang="en-US" altLang="ko-KR" sz="800" dirty="0" smtClean="0">
                <a:solidFill>
                  <a:schemeClr val="tx1"/>
                </a:solidFill>
              </a:rPr>
              <a:t>, </a:t>
            </a:r>
            <a:r>
              <a:rPr lang="ko-KR" altLang="en-US" sz="800" dirty="0" smtClean="0">
                <a:solidFill>
                  <a:schemeClr val="tx1"/>
                </a:solidFill>
              </a:rPr>
              <a:t>포기</a:t>
            </a:r>
            <a:endParaRPr lang="ko-KR" altLang="en-US" sz="800" dirty="0">
              <a:solidFill>
                <a:schemeClr val="tx1"/>
              </a:solidFill>
            </a:endParaRPr>
          </a:p>
        </p:txBody>
      </p:sp>
      <p:cxnSp>
        <p:nvCxnSpPr>
          <p:cNvPr id="156" name="연결선: 꺾임 7">
            <a:extLst>
              <a:ext uri="{FF2B5EF4-FFF2-40B4-BE49-F238E27FC236}">
                <a16:creationId xmlns:a16="http://schemas.microsoft.com/office/drawing/2014/main" id="{89A2D828-4C18-4F90-6B31-722E89773AA8}"/>
              </a:ext>
            </a:extLst>
          </p:cNvPr>
          <p:cNvCxnSpPr>
            <a:cxnSpLocks/>
            <a:stCxn id="111" idx="2"/>
            <a:endCxn id="120" idx="1"/>
          </p:cNvCxnSpPr>
          <p:nvPr/>
        </p:nvCxnSpPr>
        <p:spPr>
          <a:xfrm rot="16200000" flipH="1">
            <a:off x="1543341" y="3762632"/>
            <a:ext cx="268976" cy="31180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0" name="연결선: 꺾임 7">
            <a:extLst>
              <a:ext uri="{FF2B5EF4-FFF2-40B4-BE49-F238E27FC236}">
                <a16:creationId xmlns:a16="http://schemas.microsoft.com/office/drawing/2014/main" id="{89A2D828-4C18-4F90-6B31-722E89773AA8}"/>
              </a:ext>
            </a:extLst>
          </p:cNvPr>
          <p:cNvCxnSpPr>
            <a:cxnSpLocks/>
            <a:stCxn id="111" idx="2"/>
            <a:endCxn id="121" idx="1"/>
          </p:cNvCxnSpPr>
          <p:nvPr/>
        </p:nvCxnSpPr>
        <p:spPr>
          <a:xfrm rot="16200000" flipH="1">
            <a:off x="1300936" y="4005037"/>
            <a:ext cx="753787" cy="311808"/>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연결선: 꺾임 7">
            <a:extLst>
              <a:ext uri="{FF2B5EF4-FFF2-40B4-BE49-F238E27FC236}">
                <a16:creationId xmlns:a16="http://schemas.microsoft.com/office/drawing/2014/main" id="{89A2D828-4C18-4F90-6B31-722E89773AA8}"/>
              </a:ext>
            </a:extLst>
          </p:cNvPr>
          <p:cNvCxnSpPr>
            <a:cxnSpLocks/>
            <a:stCxn id="121" idx="3"/>
            <a:endCxn id="147" idx="0"/>
          </p:cNvCxnSpPr>
          <p:nvPr/>
        </p:nvCxnSpPr>
        <p:spPr>
          <a:xfrm>
            <a:off x="2733733" y="4537835"/>
            <a:ext cx="247343" cy="466269"/>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연결선: 꺾임 7">
            <a:extLst>
              <a:ext uri="{FF2B5EF4-FFF2-40B4-BE49-F238E27FC236}">
                <a16:creationId xmlns:a16="http://schemas.microsoft.com/office/drawing/2014/main" id="{89A2D828-4C18-4F90-6B31-722E89773AA8}"/>
              </a:ext>
            </a:extLst>
          </p:cNvPr>
          <p:cNvCxnSpPr>
            <a:cxnSpLocks/>
            <a:stCxn id="120" idx="3"/>
            <a:endCxn id="147" idx="0"/>
          </p:cNvCxnSpPr>
          <p:nvPr/>
        </p:nvCxnSpPr>
        <p:spPr>
          <a:xfrm>
            <a:off x="2733733" y="4053024"/>
            <a:ext cx="247343" cy="95108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67" name="그룹 166"/>
          <p:cNvGrpSpPr/>
          <p:nvPr/>
        </p:nvGrpSpPr>
        <p:grpSpPr>
          <a:xfrm>
            <a:off x="8223250" y="797009"/>
            <a:ext cx="3365500" cy="219465"/>
            <a:chOff x="8223250" y="569392"/>
            <a:chExt cx="3365500" cy="219465"/>
          </a:xfrm>
        </p:grpSpPr>
        <p:sp>
          <p:nvSpPr>
            <p:cNvPr id="168" name="직사각형 16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2026-08-14 </a:t>
              </a:r>
              <a:r>
                <a:rPr lang="ko-KR" altLang="en-US" dirty="0" smtClean="0"/>
                <a:t>화면 수정</a:t>
              </a:r>
              <a:endParaRPr lang="ko-KR" altLang="en-US" dirty="0"/>
            </a:p>
          </p:txBody>
        </p:sp>
        <p:sp>
          <p:nvSpPr>
            <p:cNvPr id="170" name="직사각형 169"/>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흐름도 수정</a:t>
              </a:r>
              <a:endParaRPr lang="ko-KR" altLang="en-US" sz="700" dirty="0"/>
            </a:p>
          </p:txBody>
        </p:sp>
      </p:grpSp>
      <p:cxnSp>
        <p:nvCxnSpPr>
          <p:cNvPr id="171" name="직선 화살표 연결선 170">
            <a:extLst>
              <a:ext uri="{FF2B5EF4-FFF2-40B4-BE49-F238E27FC236}">
                <a16:creationId xmlns:a16="http://schemas.microsoft.com/office/drawing/2014/main" id="{9A519F08-B829-E35F-09D8-DFCD1F68B911}"/>
              </a:ext>
            </a:extLst>
          </p:cNvPr>
          <p:cNvCxnSpPr>
            <a:cxnSpLocks/>
            <a:stCxn id="140" idx="3"/>
            <a:endCxn id="161" idx="1"/>
          </p:cNvCxnSpPr>
          <p:nvPr/>
        </p:nvCxnSpPr>
        <p:spPr>
          <a:xfrm flipV="1">
            <a:off x="6926561" y="3364571"/>
            <a:ext cx="561034" cy="698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2" name="직사각형 171">
            <a:extLst>
              <a:ext uri="{FF2B5EF4-FFF2-40B4-BE49-F238E27FC236}">
                <a16:creationId xmlns:a16="http://schemas.microsoft.com/office/drawing/2014/main" id="{F249990F-1DE5-C694-BDBD-2DE7009D57EA}"/>
              </a:ext>
            </a:extLst>
          </p:cNvPr>
          <p:cNvSpPr/>
          <p:nvPr/>
        </p:nvSpPr>
        <p:spPr>
          <a:xfrm>
            <a:off x="1077502" y="4801626"/>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모든 사용자에게 공개</a:t>
            </a:r>
            <a:endParaRPr lang="ko-KR" altLang="en-US" sz="800" dirty="0">
              <a:solidFill>
                <a:srgbClr val="FF0000"/>
              </a:solidFill>
            </a:endParaRPr>
          </a:p>
        </p:txBody>
      </p:sp>
      <p:sp>
        <p:nvSpPr>
          <p:cNvPr id="174" name="직사각형 173">
            <a:extLst>
              <a:ext uri="{FF2B5EF4-FFF2-40B4-BE49-F238E27FC236}">
                <a16:creationId xmlns:a16="http://schemas.microsoft.com/office/drawing/2014/main" id="{F249990F-1DE5-C694-BDBD-2DE7009D57EA}"/>
              </a:ext>
            </a:extLst>
          </p:cNvPr>
          <p:cNvSpPr/>
          <p:nvPr/>
        </p:nvSpPr>
        <p:spPr>
          <a:xfrm>
            <a:off x="1077502" y="1475600"/>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모든 사용자에게 공개</a:t>
            </a:r>
            <a:endParaRPr lang="ko-KR" altLang="en-US" sz="800" dirty="0">
              <a:solidFill>
                <a:srgbClr val="FF0000"/>
              </a:solidFill>
            </a:endParaRPr>
          </a:p>
        </p:txBody>
      </p:sp>
      <p:sp>
        <p:nvSpPr>
          <p:cNvPr id="98" name="사각형: 둥근 모서리 5">
            <a:extLst>
              <a:ext uri="{FF2B5EF4-FFF2-40B4-BE49-F238E27FC236}">
                <a16:creationId xmlns:a16="http://schemas.microsoft.com/office/drawing/2014/main" id="{410E5459-200D-7630-863C-88E5109259DF}"/>
              </a:ext>
            </a:extLst>
          </p:cNvPr>
          <p:cNvSpPr/>
          <p:nvPr/>
        </p:nvSpPr>
        <p:spPr>
          <a:xfrm>
            <a:off x="5929158" y="35309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입찰진행현황</a:t>
            </a:r>
            <a:endParaRPr lang="ko-KR" altLang="en-US" sz="800" dirty="0">
              <a:solidFill>
                <a:schemeClr val="tx1"/>
              </a:solidFill>
            </a:endParaRPr>
          </a:p>
        </p:txBody>
      </p:sp>
    </p:spTree>
    <p:extLst>
      <p:ext uri="{BB962C8B-B14F-4D97-AF65-F5344CB8AC3E}">
        <p14:creationId xmlns:p14="http://schemas.microsoft.com/office/powerpoint/2010/main" val="249066364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058222"/>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058222"/>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27</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1.3 </a:t>
            </a:r>
            <a:r>
              <a:rPr lang="ko-KR" altLang="en-US" dirty="0"/>
              <a:t>앱 구성 </a:t>
            </a:r>
            <a:r>
              <a:rPr lang="ko-KR" altLang="en-US" dirty="0" smtClean="0"/>
              <a:t>다이어그램</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028700" y="1644139"/>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chemeClr val="tx1"/>
                </a:solidFill>
              </a:rPr>
              <a:t>입찰 </a:t>
            </a:r>
            <a:r>
              <a:rPr lang="ko-KR" altLang="en-US" sz="900" dirty="0" err="1">
                <a:solidFill>
                  <a:schemeClr val="tx1"/>
                </a:solidFill>
              </a:rPr>
              <a:t>공고상세</a:t>
            </a:r>
            <a:endParaRPr lang="ko-KR" altLang="en-US" sz="900" dirty="0">
              <a:solidFill>
                <a:schemeClr val="tx1"/>
              </a:solidFill>
            </a:endParaRPr>
          </a:p>
          <a:p>
            <a:pPr algn="ctr"/>
            <a:r>
              <a:rPr lang="en-US" altLang="ko-KR" sz="900" dirty="0" err="1">
                <a:solidFill>
                  <a:schemeClr val="tx1"/>
                </a:solidFill>
                <a:latin typeface="+mn-ea"/>
              </a:rPr>
              <a:t>BidPbancDtlPage</a:t>
            </a:r>
            <a:r>
              <a:rPr lang="en-US" altLang="ko-KR" sz="900" dirty="0" err="1" smtClean="0">
                <a:solidFill>
                  <a:schemeClr val="tx1"/>
                </a:solidFill>
              </a:rPr>
              <a:t>.tsx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28700" y="2244457"/>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chemeClr val="tx1"/>
                </a:solidFill>
                <a:latin typeface="+mn-ea"/>
              </a:rPr>
              <a:t>일반정보</a:t>
            </a:r>
            <a:endParaRPr lang="en-US" altLang="ko-KR" sz="900" dirty="0">
              <a:solidFill>
                <a:schemeClr val="tx1"/>
              </a:solidFill>
            </a:endParaRPr>
          </a:p>
          <a:p>
            <a:pPr algn="ctr"/>
            <a:r>
              <a:rPr lang="en-US" altLang="ko-KR" sz="900" dirty="0" err="1">
                <a:solidFill>
                  <a:schemeClr val="tx1"/>
                </a:solidFill>
              </a:rPr>
              <a:t>BidPbancDtl</a:t>
            </a:r>
            <a:r>
              <a:rPr lang="en-US" altLang="ko-KR" sz="900" dirty="0" err="1" smtClean="0">
                <a:solidFill>
                  <a:schemeClr val="tx1"/>
                </a:solidFill>
              </a:rPr>
              <a:t>.tsx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28700" y="2844775"/>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chemeClr val="tx1"/>
                </a:solidFill>
                <a:latin typeface="+mn-ea"/>
              </a:rPr>
              <a:t>기초예비가격</a:t>
            </a:r>
            <a:endParaRPr lang="en-US" altLang="ko-KR" sz="900" dirty="0">
              <a:solidFill>
                <a:schemeClr val="tx1"/>
              </a:solidFill>
            </a:endParaRPr>
          </a:p>
          <a:p>
            <a:pPr algn="ctr"/>
            <a:r>
              <a:rPr lang="en-US" altLang="ko-KR" sz="900" dirty="0">
                <a:solidFill>
                  <a:schemeClr val="tx1"/>
                </a:solidFill>
              </a:rPr>
              <a:t>BidPbancDtl_Tacpg02</a:t>
            </a:r>
            <a:r>
              <a:rPr lang="en-US" altLang="ko-KR" sz="900" dirty="0" smtClean="0">
                <a:solidFill>
                  <a:schemeClr val="tx1"/>
                </a:solidFill>
              </a:rPr>
              <a:t>.tsx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55900" y="1865266"/>
            <a:ext cx="1204191" cy="11249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55900" y="2465584"/>
            <a:ext cx="1204191" cy="5245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55900" y="2990174"/>
            <a:ext cx="1204191" cy="757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8" name="직사각형 17">
            <a:extLst>
              <a:ext uri="{FF2B5EF4-FFF2-40B4-BE49-F238E27FC236}">
                <a16:creationId xmlns:a16="http://schemas.microsoft.com/office/drawing/2014/main" id="{326CB017-8967-4DC4-0EAD-ADB3B9EAB841}"/>
              </a:ext>
            </a:extLst>
          </p:cNvPr>
          <p:cNvSpPr/>
          <p:nvPr/>
        </p:nvSpPr>
        <p:spPr>
          <a:xfrm>
            <a:off x="1028700" y="3445093"/>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err="1">
                <a:solidFill>
                  <a:schemeClr val="tx1"/>
                </a:solidFill>
                <a:latin typeface="+mn-ea"/>
              </a:rPr>
              <a:t>품목명세서</a:t>
            </a:r>
            <a:endParaRPr lang="en-US" altLang="ko-KR" sz="900" dirty="0">
              <a:solidFill>
                <a:schemeClr val="tx1"/>
              </a:solidFill>
            </a:endParaRPr>
          </a:p>
          <a:p>
            <a:pPr algn="ctr"/>
            <a:r>
              <a:rPr lang="en-US" altLang="ko-KR" sz="900" dirty="0" smtClean="0">
                <a:solidFill>
                  <a:schemeClr val="tx1"/>
                </a:solidFill>
              </a:rPr>
              <a:t>BidPbancDtl_Tacpg03.tsx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20" name="직사각형 19">
            <a:extLst>
              <a:ext uri="{FF2B5EF4-FFF2-40B4-BE49-F238E27FC236}">
                <a16:creationId xmlns:a16="http://schemas.microsoft.com/office/drawing/2014/main" id="{326CB017-8967-4DC4-0EAD-ADB3B9EAB841}"/>
              </a:ext>
            </a:extLst>
          </p:cNvPr>
          <p:cNvSpPr/>
          <p:nvPr/>
        </p:nvSpPr>
        <p:spPr>
          <a:xfrm>
            <a:off x="1028700" y="4045411"/>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chemeClr val="tx1"/>
                </a:solidFill>
                <a:latin typeface="+mn-ea"/>
              </a:rPr>
              <a:t>계약특수조건</a:t>
            </a:r>
            <a:endParaRPr lang="en-US" altLang="ko-KR" sz="900" dirty="0">
              <a:solidFill>
                <a:schemeClr val="tx1"/>
              </a:solidFill>
            </a:endParaRPr>
          </a:p>
          <a:p>
            <a:pPr algn="ctr"/>
            <a:r>
              <a:rPr lang="en-US" altLang="ko-KR" sz="900" dirty="0" smtClean="0">
                <a:solidFill>
                  <a:schemeClr val="tx1"/>
                </a:solidFill>
              </a:rPr>
              <a:t>BidPbancDtl_Tacpg04.tsx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22" name="직사각형 21">
            <a:extLst>
              <a:ext uri="{FF2B5EF4-FFF2-40B4-BE49-F238E27FC236}">
                <a16:creationId xmlns:a16="http://schemas.microsoft.com/office/drawing/2014/main" id="{326CB017-8967-4DC4-0EAD-ADB3B9EAB841}"/>
              </a:ext>
            </a:extLst>
          </p:cNvPr>
          <p:cNvSpPr/>
          <p:nvPr/>
        </p:nvSpPr>
        <p:spPr>
          <a:xfrm>
            <a:off x="1028700" y="4645729"/>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err="1">
                <a:solidFill>
                  <a:schemeClr val="tx1"/>
                </a:solidFill>
                <a:latin typeface="+mn-ea"/>
              </a:rPr>
              <a:t>공고문안</a:t>
            </a:r>
            <a:endParaRPr lang="en-US" altLang="ko-KR" sz="900" dirty="0">
              <a:solidFill>
                <a:schemeClr val="tx1"/>
              </a:solidFill>
            </a:endParaRPr>
          </a:p>
          <a:p>
            <a:pPr algn="ctr"/>
            <a:r>
              <a:rPr lang="en-US" altLang="ko-KR" sz="900" dirty="0" smtClean="0">
                <a:solidFill>
                  <a:schemeClr val="tx1"/>
                </a:solidFill>
              </a:rPr>
              <a:t>BidPbancDtl_Tacpg05.tsx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cxnSp>
        <p:nvCxnSpPr>
          <p:cNvPr id="32" name="직선 화살표 연결선 31">
            <a:extLst>
              <a:ext uri="{FF2B5EF4-FFF2-40B4-BE49-F238E27FC236}">
                <a16:creationId xmlns:a16="http://schemas.microsoft.com/office/drawing/2014/main" id="{418E1257-E5C2-5705-1378-45505004ABAF}"/>
              </a:ext>
            </a:extLst>
          </p:cNvPr>
          <p:cNvCxnSpPr>
            <a:cxnSpLocks/>
            <a:stCxn id="18" idx="3"/>
            <a:endCxn id="9" idx="1"/>
          </p:cNvCxnSpPr>
          <p:nvPr/>
        </p:nvCxnSpPr>
        <p:spPr>
          <a:xfrm flipV="1">
            <a:off x="2755900" y="2990174"/>
            <a:ext cx="1204191" cy="67604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직선 화살표 연결선 34">
            <a:extLst>
              <a:ext uri="{FF2B5EF4-FFF2-40B4-BE49-F238E27FC236}">
                <a16:creationId xmlns:a16="http://schemas.microsoft.com/office/drawing/2014/main" id="{418E1257-E5C2-5705-1378-45505004ABAF}"/>
              </a:ext>
            </a:extLst>
          </p:cNvPr>
          <p:cNvCxnSpPr>
            <a:cxnSpLocks/>
            <a:stCxn id="20" idx="3"/>
            <a:endCxn id="9" idx="1"/>
          </p:cNvCxnSpPr>
          <p:nvPr/>
        </p:nvCxnSpPr>
        <p:spPr>
          <a:xfrm flipV="1">
            <a:off x="2755900" y="2990174"/>
            <a:ext cx="1204191" cy="12763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직선 화살표 연결선 37">
            <a:extLst>
              <a:ext uri="{FF2B5EF4-FFF2-40B4-BE49-F238E27FC236}">
                <a16:creationId xmlns:a16="http://schemas.microsoft.com/office/drawing/2014/main" id="{418E1257-E5C2-5705-1378-45505004ABAF}"/>
              </a:ext>
            </a:extLst>
          </p:cNvPr>
          <p:cNvCxnSpPr>
            <a:cxnSpLocks/>
            <a:stCxn id="22" idx="3"/>
            <a:endCxn id="9" idx="1"/>
          </p:cNvCxnSpPr>
          <p:nvPr/>
        </p:nvCxnSpPr>
        <p:spPr>
          <a:xfrm flipV="1">
            <a:off x="2755900" y="2990174"/>
            <a:ext cx="1204191" cy="18766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6" name="직사각형 35">
            <a:extLst>
              <a:ext uri="{FF2B5EF4-FFF2-40B4-BE49-F238E27FC236}">
                <a16:creationId xmlns:a16="http://schemas.microsoft.com/office/drawing/2014/main" id="{326CB017-8967-4DC4-0EAD-ADB3B9EAB841}"/>
              </a:ext>
            </a:extLst>
          </p:cNvPr>
          <p:cNvSpPr/>
          <p:nvPr/>
        </p:nvSpPr>
        <p:spPr>
          <a:xfrm>
            <a:off x="1028700" y="5246047"/>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chemeClr val="tx1"/>
                </a:solidFill>
                <a:latin typeface="+mn-ea"/>
              </a:rPr>
              <a:t>입찰진행현황</a:t>
            </a:r>
            <a:endParaRPr lang="en-US" altLang="ko-KR" sz="900" dirty="0">
              <a:solidFill>
                <a:schemeClr val="tx1"/>
              </a:solidFill>
            </a:endParaRPr>
          </a:p>
          <a:p>
            <a:pPr algn="ctr"/>
            <a:r>
              <a:rPr lang="en-US" altLang="ko-KR" sz="900" dirty="0" smtClean="0">
                <a:solidFill>
                  <a:schemeClr val="tx1"/>
                </a:solidFill>
              </a:rPr>
              <a:t>BidPbancDtl_Tacpg06.tsx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cxnSp>
        <p:nvCxnSpPr>
          <p:cNvPr id="37" name="직선 화살표 연결선 36">
            <a:extLst>
              <a:ext uri="{FF2B5EF4-FFF2-40B4-BE49-F238E27FC236}">
                <a16:creationId xmlns:a16="http://schemas.microsoft.com/office/drawing/2014/main" id="{418E1257-E5C2-5705-1378-45505004ABAF}"/>
              </a:ext>
            </a:extLst>
          </p:cNvPr>
          <p:cNvCxnSpPr>
            <a:cxnSpLocks/>
            <a:stCxn id="36" idx="3"/>
            <a:endCxn id="9" idx="1"/>
          </p:cNvCxnSpPr>
          <p:nvPr/>
        </p:nvCxnSpPr>
        <p:spPr>
          <a:xfrm flipV="1">
            <a:off x="2755900" y="2990174"/>
            <a:ext cx="1204191" cy="24770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4" name="직사각형 23">
            <a:extLst>
              <a:ext uri="{FF2B5EF4-FFF2-40B4-BE49-F238E27FC236}">
                <a16:creationId xmlns:a16="http://schemas.microsoft.com/office/drawing/2014/main" id="{326CB017-8967-4DC4-0EAD-ADB3B9EAB841}"/>
              </a:ext>
            </a:extLst>
          </p:cNvPr>
          <p:cNvSpPr/>
          <p:nvPr/>
        </p:nvSpPr>
        <p:spPr>
          <a:xfrm>
            <a:off x="1028700" y="5844068"/>
            <a:ext cx="1727200"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err="1">
                <a:solidFill>
                  <a:schemeClr val="tx1"/>
                </a:solidFill>
                <a:latin typeface="+mn-ea"/>
              </a:rPr>
              <a:t>관심공고</a:t>
            </a:r>
            <a:r>
              <a:rPr lang="ko-KR" altLang="en-US" sz="900" dirty="0">
                <a:solidFill>
                  <a:schemeClr val="tx1"/>
                </a:solidFill>
                <a:latin typeface="+mn-ea"/>
              </a:rPr>
              <a:t> 등록</a:t>
            </a:r>
            <a:r>
              <a:rPr lang="en-US" altLang="ko-KR" sz="900" dirty="0">
                <a:solidFill>
                  <a:schemeClr val="tx1"/>
                </a:solidFill>
                <a:latin typeface="+mn-ea"/>
              </a:rPr>
              <a:t>, </a:t>
            </a:r>
            <a:r>
              <a:rPr lang="ko-KR" altLang="en-US" sz="900" dirty="0" smtClean="0">
                <a:solidFill>
                  <a:schemeClr val="tx1"/>
                </a:solidFill>
                <a:latin typeface="+mn-ea"/>
              </a:rPr>
              <a:t>제외</a:t>
            </a:r>
            <a:endParaRPr lang="en-US" altLang="ko-KR" sz="900" dirty="0">
              <a:solidFill>
                <a:schemeClr val="tx1"/>
              </a:solidFill>
            </a:endParaRPr>
          </a:p>
          <a:p>
            <a:pPr algn="ctr"/>
            <a:r>
              <a:rPr lang="en-US" altLang="ko-KR" sz="900" dirty="0" err="1">
                <a:solidFill>
                  <a:schemeClr val="tx1"/>
                </a:solidFill>
              </a:rPr>
              <a:t>Toast</a:t>
            </a:r>
            <a:r>
              <a:rPr lang="en-US" altLang="ko-KR" sz="900" dirty="0" err="1" smtClean="0">
                <a:solidFill>
                  <a:schemeClr val="tx1"/>
                </a:solidFill>
              </a:rPr>
              <a:t>.tsx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2888673" y="5846365"/>
            <a:ext cx="1477047"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chemeClr val="tx1"/>
                </a:solidFill>
                <a:latin typeface="+mn-ea"/>
              </a:rPr>
              <a:t>서류 출력 </a:t>
            </a:r>
            <a:r>
              <a:rPr lang="ko-KR" altLang="en-US" sz="900" dirty="0" smtClean="0">
                <a:solidFill>
                  <a:schemeClr val="tx1"/>
                </a:solidFill>
                <a:latin typeface="+mn-ea"/>
              </a:rPr>
              <a:t>확인</a:t>
            </a:r>
            <a:endParaRPr lang="en-US" altLang="ko-KR" sz="900" dirty="0">
              <a:solidFill>
                <a:schemeClr val="tx1"/>
              </a:solidFill>
            </a:endParaRPr>
          </a:p>
          <a:p>
            <a:pPr algn="ctr"/>
            <a:r>
              <a:rPr lang="en-US" altLang="ko-KR" sz="900" dirty="0" err="1">
                <a:solidFill>
                  <a:schemeClr val="tx1"/>
                </a:solidFill>
              </a:rPr>
              <a:t>DcmntOtptIdnty</a:t>
            </a:r>
            <a:r>
              <a:rPr lang="en-US" altLang="ko-KR" sz="900" dirty="0" err="1" smtClean="0">
                <a:solidFill>
                  <a:schemeClr val="tx1"/>
                </a:solidFill>
              </a:rPr>
              <a:t>.tsx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4497033" y="5846365"/>
            <a:ext cx="1477047"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chemeClr val="tx1"/>
                </a:solidFill>
                <a:latin typeface="+mn-ea"/>
              </a:rPr>
              <a:t>서류 출력 </a:t>
            </a:r>
            <a:r>
              <a:rPr lang="en-US" altLang="ko-KR" sz="900" dirty="0">
                <a:solidFill>
                  <a:schemeClr val="tx1"/>
                </a:solidFill>
                <a:latin typeface="+mn-ea"/>
              </a:rPr>
              <a:t>- OZ</a:t>
            </a:r>
            <a:r>
              <a:rPr lang="ko-KR" altLang="en-US" sz="900" dirty="0">
                <a:solidFill>
                  <a:schemeClr val="tx1"/>
                </a:solidFill>
                <a:latin typeface="+mn-ea"/>
              </a:rPr>
              <a:t>리포트</a:t>
            </a:r>
            <a:endParaRPr lang="en-US" altLang="ko-KR" sz="900" dirty="0">
              <a:solidFill>
                <a:schemeClr val="tx1"/>
              </a:solidFill>
            </a:endParaRPr>
          </a:p>
          <a:p>
            <a:pPr algn="ctr"/>
            <a:r>
              <a:rPr lang="en-US" altLang="ko-KR" sz="900" dirty="0" err="1">
                <a:solidFill>
                  <a:schemeClr val="tx1"/>
                </a:solidFill>
              </a:rPr>
              <a:t>DcmntOtpt</a:t>
            </a:r>
            <a:r>
              <a:rPr lang="en-US" altLang="ko-KR" sz="900" dirty="0" err="1" smtClean="0">
                <a:solidFill>
                  <a:schemeClr val="tx1"/>
                </a:solidFill>
              </a:rPr>
              <a:t>.tsx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55900" y="2990174"/>
            <a:ext cx="1204191" cy="30750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0"/>
            <a:endCxn id="9" idx="2"/>
          </p:cNvCxnSpPr>
          <p:nvPr/>
        </p:nvCxnSpPr>
        <p:spPr>
          <a:xfrm flipV="1">
            <a:off x="3627197" y="3810190"/>
            <a:ext cx="1196494" cy="203617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9" idx="0"/>
            <a:endCxn id="9" idx="2"/>
          </p:cNvCxnSpPr>
          <p:nvPr/>
        </p:nvCxnSpPr>
        <p:spPr>
          <a:xfrm flipH="1" flipV="1">
            <a:off x="4823691" y="3810190"/>
            <a:ext cx="411866" cy="14358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직선 화살표 연결선 38">
            <a:extLst>
              <a:ext uri="{FF2B5EF4-FFF2-40B4-BE49-F238E27FC236}">
                <a16:creationId xmlns:a16="http://schemas.microsoft.com/office/drawing/2014/main" id="{418E1257-E5C2-5705-1378-45505004ABAF}"/>
              </a:ext>
            </a:extLst>
          </p:cNvPr>
          <p:cNvCxnSpPr>
            <a:cxnSpLocks/>
            <a:stCxn id="28" idx="0"/>
            <a:endCxn id="9" idx="2"/>
          </p:cNvCxnSpPr>
          <p:nvPr/>
        </p:nvCxnSpPr>
        <p:spPr>
          <a:xfrm flipH="1" flipV="1">
            <a:off x="4823691" y="3810190"/>
            <a:ext cx="411866" cy="203617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직사각형 28">
            <a:extLst>
              <a:ext uri="{FF2B5EF4-FFF2-40B4-BE49-F238E27FC236}">
                <a16:creationId xmlns:a16="http://schemas.microsoft.com/office/drawing/2014/main" id="{326CB017-8967-4DC4-0EAD-ADB3B9EAB841}"/>
              </a:ext>
            </a:extLst>
          </p:cNvPr>
          <p:cNvSpPr/>
          <p:nvPr/>
        </p:nvSpPr>
        <p:spPr>
          <a:xfrm>
            <a:off x="4497033" y="5246046"/>
            <a:ext cx="1477047" cy="44225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lnSpcReduction="10000"/>
          </a:bodyPr>
          <a:lstStyle/>
          <a:p>
            <a:pPr algn="ctr"/>
            <a:r>
              <a:rPr lang="en-US" altLang="ko-KR" sz="900" dirty="0">
                <a:solidFill>
                  <a:schemeClr val="tx1"/>
                </a:solidFill>
              </a:rPr>
              <a:t>&lt;&lt;App Page&gt;&gt;</a:t>
            </a:r>
          </a:p>
          <a:p>
            <a:pPr algn="ctr"/>
            <a:r>
              <a:rPr lang="ko-KR" altLang="en-US" sz="900" dirty="0">
                <a:solidFill>
                  <a:srgbClr val="000000"/>
                </a:solidFill>
                <a:latin typeface="Calibri" panose="020F0502020204030204" pitchFamily="34" charset="0"/>
              </a:rPr>
              <a:t>로그인 필요 서비스 </a:t>
            </a:r>
            <a:r>
              <a:rPr lang="ko-KR" altLang="en-US" sz="900" dirty="0" smtClean="0">
                <a:solidFill>
                  <a:srgbClr val="000000"/>
                </a:solidFill>
                <a:latin typeface="Calibri" panose="020F0502020204030204" pitchFamily="34" charset="0"/>
              </a:rPr>
              <a:t>안내</a:t>
            </a:r>
            <a:endParaRPr lang="en-US" altLang="ko-KR" sz="900" dirty="0">
              <a:solidFill>
                <a:schemeClr val="tx1"/>
              </a:solidFill>
            </a:endParaRPr>
          </a:p>
          <a:p>
            <a:pPr algn="ctr"/>
            <a:r>
              <a:rPr lang="en-US" altLang="ko-KR" sz="900" dirty="0" err="1">
                <a:solidFill>
                  <a:schemeClr val="tx1"/>
                </a:solidFill>
                <a:latin typeface="+mn-ea"/>
              </a:rPr>
              <a:t>LgnSrvcInfo</a:t>
            </a:r>
            <a:r>
              <a:rPr lang="en-US" altLang="ko-KR" sz="900" dirty="0" err="1" smtClean="0">
                <a:solidFill>
                  <a:schemeClr val="tx1"/>
                </a:solidFill>
              </a:rPr>
              <a:t>.tsx</a:t>
            </a:r>
            <a:r>
              <a:rPr lang="en-US" altLang="ko-KR" sz="900" b="1" baseline="30000" dirty="0" smtClean="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Tree>
    <p:extLst>
      <p:ext uri="{BB962C8B-B14F-4D97-AF65-F5344CB8AC3E}">
        <p14:creationId xmlns:p14="http://schemas.microsoft.com/office/powerpoint/2010/main" val="11090400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28</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smtClean="0"/>
              <a:t>1.2 </a:t>
            </a:r>
            <a:r>
              <a:rPr lang="ko-KR" altLang="en-US" dirty="0"/>
              <a:t>입찰통합테스트 자료</a:t>
            </a:r>
          </a:p>
        </p:txBody>
      </p:sp>
      <p:sp>
        <p:nvSpPr>
          <p:cNvPr id="4" name="직사각형 3">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smtClean="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1/17)</a:t>
            </a:r>
            <a:endParaRPr lang="ko-KR" altLang="en-US" sz="1200" dirty="0">
              <a:solidFill>
                <a:schemeClr val="tx1"/>
              </a:solidFill>
            </a:endParaRPr>
          </a:p>
        </p:txBody>
      </p:sp>
      <p:graphicFrame>
        <p:nvGraphicFramePr>
          <p:cNvPr id="15" name="표 14"/>
          <p:cNvGraphicFramePr>
            <a:graphicFrameLocks noGrp="1"/>
          </p:cNvGraphicFramePr>
          <p:nvPr>
            <p:extLst>
              <p:ext uri="{D42A27DB-BD31-4B8C-83A1-F6EECF244321}">
                <p14:modId xmlns:p14="http://schemas.microsoft.com/office/powerpoint/2010/main" val="3554327830"/>
              </p:ext>
            </p:extLst>
          </p:nvPr>
        </p:nvGraphicFramePr>
        <p:xfrm>
          <a:off x="749716" y="1368878"/>
          <a:ext cx="8654630" cy="4955721"/>
        </p:xfrm>
        <a:graphic>
          <a:graphicData uri="http://schemas.openxmlformats.org/drawingml/2006/table">
            <a:tbl>
              <a:tblPr/>
              <a:tblGrid>
                <a:gridCol w="394058">
                  <a:extLst>
                    <a:ext uri="{9D8B030D-6E8A-4147-A177-3AD203B41FA5}">
                      <a16:colId xmlns:a16="http://schemas.microsoft.com/office/drawing/2014/main" val="2599124023"/>
                    </a:ext>
                  </a:extLst>
                </a:gridCol>
                <a:gridCol w="474328">
                  <a:extLst>
                    <a:ext uri="{9D8B030D-6E8A-4147-A177-3AD203B41FA5}">
                      <a16:colId xmlns:a16="http://schemas.microsoft.com/office/drawing/2014/main" val="3137445816"/>
                    </a:ext>
                  </a:extLst>
                </a:gridCol>
                <a:gridCol w="1656501">
                  <a:extLst>
                    <a:ext uri="{9D8B030D-6E8A-4147-A177-3AD203B41FA5}">
                      <a16:colId xmlns:a16="http://schemas.microsoft.com/office/drawing/2014/main" val="3177310413"/>
                    </a:ext>
                  </a:extLst>
                </a:gridCol>
                <a:gridCol w="569193">
                  <a:extLst>
                    <a:ext uri="{9D8B030D-6E8A-4147-A177-3AD203B41FA5}">
                      <a16:colId xmlns:a16="http://schemas.microsoft.com/office/drawing/2014/main" val="3069567739"/>
                    </a:ext>
                  </a:extLst>
                </a:gridCol>
                <a:gridCol w="496220">
                  <a:extLst>
                    <a:ext uri="{9D8B030D-6E8A-4147-A177-3AD203B41FA5}">
                      <a16:colId xmlns:a16="http://schemas.microsoft.com/office/drawing/2014/main" val="2463916516"/>
                    </a:ext>
                  </a:extLst>
                </a:gridCol>
                <a:gridCol w="685950">
                  <a:extLst>
                    <a:ext uri="{9D8B030D-6E8A-4147-A177-3AD203B41FA5}">
                      <a16:colId xmlns:a16="http://schemas.microsoft.com/office/drawing/2014/main" val="3881182335"/>
                    </a:ext>
                  </a:extLst>
                </a:gridCol>
                <a:gridCol w="218919">
                  <a:extLst>
                    <a:ext uri="{9D8B030D-6E8A-4147-A177-3AD203B41FA5}">
                      <a16:colId xmlns:a16="http://schemas.microsoft.com/office/drawing/2014/main" val="3427539135"/>
                    </a:ext>
                  </a:extLst>
                </a:gridCol>
                <a:gridCol w="218919">
                  <a:extLst>
                    <a:ext uri="{9D8B030D-6E8A-4147-A177-3AD203B41FA5}">
                      <a16:colId xmlns:a16="http://schemas.microsoft.com/office/drawing/2014/main" val="2040728942"/>
                    </a:ext>
                  </a:extLst>
                </a:gridCol>
                <a:gridCol w="218919">
                  <a:extLst>
                    <a:ext uri="{9D8B030D-6E8A-4147-A177-3AD203B41FA5}">
                      <a16:colId xmlns:a16="http://schemas.microsoft.com/office/drawing/2014/main" val="1506897944"/>
                    </a:ext>
                  </a:extLst>
                </a:gridCol>
                <a:gridCol w="218919">
                  <a:extLst>
                    <a:ext uri="{9D8B030D-6E8A-4147-A177-3AD203B41FA5}">
                      <a16:colId xmlns:a16="http://schemas.microsoft.com/office/drawing/2014/main" val="317350204"/>
                    </a:ext>
                  </a:extLst>
                </a:gridCol>
                <a:gridCol w="218919">
                  <a:extLst>
                    <a:ext uri="{9D8B030D-6E8A-4147-A177-3AD203B41FA5}">
                      <a16:colId xmlns:a16="http://schemas.microsoft.com/office/drawing/2014/main" val="692542362"/>
                    </a:ext>
                  </a:extLst>
                </a:gridCol>
                <a:gridCol w="218919">
                  <a:extLst>
                    <a:ext uri="{9D8B030D-6E8A-4147-A177-3AD203B41FA5}">
                      <a16:colId xmlns:a16="http://schemas.microsoft.com/office/drawing/2014/main" val="1782388514"/>
                    </a:ext>
                  </a:extLst>
                </a:gridCol>
                <a:gridCol w="218919">
                  <a:extLst>
                    <a:ext uri="{9D8B030D-6E8A-4147-A177-3AD203B41FA5}">
                      <a16:colId xmlns:a16="http://schemas.microsoft.com/office/drawing/2014/main" val="1375780470"/>
                    </a:ext>
                  </a:extLst>
                </a:gridCol>
                <a:gridCol w="218919">
                  <a:extLst>
                    <a:ext uri="{9D8B030D-6E8A-4147-A177-3AD203B41FA5}">
                      <a16:colId xmlns:a16="http://schemas.microsoft.com/office/drawing/2014/main" val="4182542126"/>
                    </a:ext>
                  </a:extLst>
                </a:gridCol>
                <a:gridCol w="218919">
                  <a:extLst>
                    <a:ext uri="{9D8B030D-6E8A-4147-A177-3AD203B41FA5}">
                      <a16:colId xmlns:a16="http://schemas.microsoft.com/office/drawing/2014/main" val="276507710"/>
                    </a:ext>
                  </a:extLst>
                </a:gridCol>
                <a:gridCol w="218919">
                  <a:extLst>
                    <a:ext uri="{9D8B030D-6E8A-4147-A177-3AD203B41FA5}">
                      <a16:colId xmlns:a16="http://schemas.microsoft.com/office/drawing/2014/main" val="3273751320"/>
                    </a:ext>
                  </a:extLst>
                </a:gridCol>
                <a:gridCol w="218919">
                  <a:extLst>
                    <a:ext uri="{9D8B030D-6E8A-4147-A177-3AD203B41FA5}">
                      <a16:colId xmlns:a16="http://schemas.microsoft.com/office/drawing/2014/main" val="2868057439"/>
                    </a:ext>
                  </a:extLst>
                </a:gridCol>
                <a:gridCol w="218919">
                  <a:extLst>
                    <a:ext uri="{9D8B030D-6E8A-4147-A177-3AD203B41FA5}">
                      <a16:colId xmlns:a16="http://schemas.microsoft.com/office/drawing/2014/main" val="3996053693"/>
                    </a:ext>
                  </a:extLst>
                </a:gridCol>
                <a:gridCol w="218919">
                  <a:extLst>
                    <a:ext uri="{9D8B030D-6E8A-4147-A177-3AD203B41FA5}">
                      <a16:colId xmlns:a16="http://schemas.microsoft.com/office/drawing/2014/main" val="1898198832"/>
                    </a:ext>
                  </a:extLst>
                </a:gridCol>
                <a:gridCol w="218919">
                  <a:extLst>
                    <a:ext uri="{9D8B030D-6E8A-4147-A177-3AD203B41FA5}">
                      <a16:colId xmlns:a16="http://schemas.microsoft.com/office/drawing/2014/main" val="450585260"/>
                    </a:ext>
                  </a:extLst>
                </a:gridCol>
                <a:gridCol w="218919">
                  <a:extLst>
                    <a:ext uri="{9D8B030D-6E8A-4147-A177-3AD203B41FA5}">
                      <a16:colId xmlns:a16="http://schemas.microsoft.com/office/drawing/2014/main" val="281318802"/>
                    </a:ext>
                  </a:extLst>
                </a:gridCol>
                <a:gridCol w="218919">
                  <a:extLst>
                    <a:ext uri="{9D8B030D-6E8A-4147-A177-3AD203B41FA5}">
                      <a16:colId xmlns:a16="http://schemas.microsoft.com/office/drawing/2014/main" val="3253473828"/>
                    </a:ext>
                  </a:extLst>
                </a:gridCol>
                <a:gridCol w="218919">
                  <a:extLst>
                    <a:ext uri="{9D8B030D-6E8A-4147-A177-3AD203B41FA5}">
                      <a16:colId xmlns:a16="http://schemas.microsoft.com/office/drawing/2014/main" val="1933327620"/>
                    </a:ext>
                  </a:extLst>
                </a:gridCol>
                <a:gridCol w="218919">
                  <a:extLst>
                    <a:ext uri="{9D8B030D-6E8A-4147-A177-3AD203B41FA5}">
                      <a16:colId xmlns:a16="http://schemas.microsoft.com/office/drawing/2014/main" val="1878188257"/>
                    </a:ext>
                  </a:extLst>
                </a:gridCol>
                <a:gridCol w="218919">
                  <a:extLst>
                    <a:ext uri="{9D8B030D-6E8A-4147-A177-3AD203B41FA5}">
                      <a16:colId xmlns:a16="http://schemas.microsoft.com/office/drawing/2014/main" val="3256850975"/>
                    </a:ext>
                  </a:extLst>
                </a:gridCol>
                <a:gridCol w="218919">
                  <a:extLst>
                    <a:ext uri="{9D8B030D-6E8A-4147-A177-3AD203B41FA5}">
                      <a16:colId xmlns:a16="http://schemas.microsoft.com/office/drawing/2014/main" val="1318807490"/>
                    </a:ext>
                  </a:extLst>
                </a:gridCol>
              </a:tblGrid>
              <a:tr h="90930">
                <a:tc rowSpan="2" gridSpan="3">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97706595"/>
                  </a:ext>
                </a:extLst>
              </a:tr>
              <a:tr h="136396">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4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640247870"/>
                  </a:ext>
                </a:extLst>
              </a:tr>
              <a:tr h="909307">
                <a:tc>
                  <a:txBody>
                    <a:bodyPr/>
                    <a:lstStyle/>
                    <a:p>
                      <a:pPr algn="ctr"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업무구분</a:t>
                      </a:r>
                      <a:endParaRPr lang="ko-KR" altLang="en-US" sz="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계약종류</a:t>
                      </a:r>
                      <a:endParaRPr lang="ko-KR" altLang="en-US" sz="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견적서제출</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견적서취소</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개찰결과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765304185"/>
                  </a:ext>
                </a:extLst>
              </a:tr>
              <a:tr h="136396">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93367284"/>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70322421"/>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12784038"/>
                  </a:ext>
                </a:extLst>
              </a:tr>
              <a:tr h="136396">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71551559"/>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00203249"/>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69690177"/>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13884566"/>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24816"/>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65301455"/>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3412186"/>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24057244"/>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3979517"/>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43625257"/>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61954052"/>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3386891"/>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92378388"/>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56940092"/>
                  </a:ext>
                </a:extLst>
              </a:tr>
              <a:tr h="136396">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07319920"/>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협상에의한계약</a:t>
                      </a:r>
                      <a:endParaRPr lang="ko-KR" altLang="en-US" sz="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67557629"/>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68075233"/>
                  </a:ext>
                </a:extLst>
              </a:tr>
              <a:tr h="136396">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67479459"/>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19845561"/>
                  </a:ext>
                </a:extLst>
              </a:tr>
              <a:tr h="136396">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1211591"/>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3159000"/>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5399971"/>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69463759"/>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2354633"/>
                  </a:ext>
                </a:extLst>
              </a:tr>
              <a:tr h="136396">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41592219"/>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7651400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29</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4143587179"/>
              </p:ext>
            </p:extLst>
          </p:nvPr>
        </p:nvGraphicFramePr>
        <p:xfrm>
          <a:off x="749716" y="1300666"/>
          <a:ext cx="8708612" cy="5140179"/>
        </p:xfrm>
        <a:graphic>
          <a:graphicData uri="http://schemas.openxmlformats.org/drawingml/2006/table">
            <a:tbl>
              <a:tblPr/>
              <a:tblGrid>
                <a:gridCol w="396513">
                  <a:extLst>
                    <a:ext uri="{9D8B030D-6E8A-4147-A177-3AD203B41FA5}">
                      <a16:colId xmlns:a16="http://schemas.microsoft.com/office/drawing/2014/main" val="2257020307"/>
                    </a:ext>
                  </a:extLst>
                </a:gridCol>
                <a:gridCol w="477286">
                  <a:extLst>
                    <a:ext uri="{9D8B030D-6E8A-4147-A177-3AD203B41FA5}">
                      <a16:colId xmlns:a16="http://schemas.microsoft.com/office/drawing/2014/main" val="3193362186"/>
                    </a:ext>
                  </a:extLst>
                </a:gridCol>
                <a:gridCol w="1666827">
                  <a:extLst>
                    <a:ext uri="{9D8B030D-6E8A-4147-A177-3AD203B41FA5}">
                      <a16:colId xmlns:a16="http://schemas.microsoft.com/office/drawing/2014/main" val="2489341917"/>
                    </a:ext>
                  </a:extLst>
                </a:gridCol>
                <a:gridCol w="572743">
                  <a:extLst>
                    <a:ext uri="{9D8B030D-6E8A-4147-A177-3AD203B41FA5}">
                      <a16:colId xmlns:a16="http://schemas.microsoft.com/office/drawing/2014/main" val="2104067910"/>
                    </a:ext>
                  </a:extLst>
                </a:gridCol>
                <a:gridCol w="499315">
                  <a:extLst>
                    <a:ext uri="{9D8B030D-6E8A-4147-A177-3AD203B41FA5}">
                      <a16:colId xmlns:a16="http://schemas.microsoft.com/office/drawing/2014/main" val="3192363820"/>
                    </a:ext>
                  </a:extLst>
                </a:gridCol>
                <a:gridCol w="690228">
                  <a:extLst>
                    <a:ext uri="{9D8B030D-6E8A-4147-A177-3AD203B41FA5}">
                      <a16:colId xmlns:a16="http://schemas.microsoft.com/office/drawing/2014/main" val="3886063520"/>
                    </a:ext>
                  </a:extLst>
                </a:gridCol>
                <a:gridCol w="220285">
                  <a:extLst>
                    <a:ext uri="{9D8B030D-6E8A-4147-A177-3AD203B41FA5}">
                      <a16:colId xmlns:a16="http://schemas.microsoft.com/office/drawing/2014/main" val="510909551"/>
                    </a:ext>
                  </a:extLst>
                </a:gridCol>
                <a:gridCol w="220285">
                  <a:extLst>
                    <a:ext uri="{9D8B030D-6E8A-4147-A177-3AD203B41FA5}">
                      <a16:colId xmlns:a16="http://schemas.microsoft.com/office/drawing/2014/main" val="2264116605"/>
                    </a:ext>
                  </a:extLst>
                </a:gridCol>
                <a:gridCol w="220285">
                  <a:extLst>
                    <a:ext uri="{9D8B030D-6E8A-4147-A177-3AD203B41FA5}">
                      <a16:colId xmlns:a16="http://schemas.microsoft.com/office/drawing/2014/main" val="1630054915"/>
                    </a:ext>
                  </a:extLst>
                </a:gridCol>
                <a:gridCol w="220285">
                  <a:extLst>
                    <a:ext uri="{9D8B030D-6E8A-4147-A177-3AD203B41FA5}">
                      <a16:colId xmlns:a16="http://schemas.microsoft.com/office/drawing/2014/main" val="3869400784"/>
                    </a:ext>
                  </a:extLst>
                </a:gridCol>
                <a:gridCol w="220285">
                  <a:extLst>
                    <a:ext uri="{9D8B030D-6E8A-4147-A177-3AD203B41FA5}">
                      <a16:colId xmlns:a16="http://schemas.microsoft.com/office/drawing/2014/main" val="4184862111"/>
                    </a:ext>
                  </a:extLst>
                </a:gridCol>
                <a:gridCol w="220285">
                  <a:extLst>
                    <a:ext uri="{9D8B030D-6E8A-4147-A177-3AD203B41FA5}">
                      <a16:colId xmlns:a16="http://schemas.microsoft.com/office/drawing/2014/main" val="2864445160"/>
                    </a:ext>
                  </a:extLst>
                </a:gridCol>
                <a:gridCol w="220285">
                  <a:extLst>
                    <a:ext uri="{9D8B030D-6E8A-4147-A177-3AD203B41FA5}">
                      <a16:colId xmlns:a16="http://schemas.microsoft.com/office/drawing/2014/main" val="1327473476"/>
                    </a:ext>
                  </a:extLst>
                </a:gridCol>
                <a:gridCol w="220285">
                  <a:extLst>
                    <a:ext uri="{9D8B030D-6E8A-4147-A177-3AD203B41FA5}">
                      <a16:colId xmlns:a16="http://schemas.microsoft.com/office/drawing/2014/main" val="1849210132"/>
                    </a:ext>
                  </a:extLst>
                </a:gridCol>
                <a:gridCol w="220285">
                  <a:extLst>
                    <a:ext uri="{9D8B030D-6E8A-4147-A177-3AD203B41FA5}">
                      <a16:colId xmlns:a16="http://schemas.microsoft.com/office/drawing/2014/main" val="2560502614"/>
                    </a:ext>
                  </a:extLst>
                </a:gridCol>
                <a:gridCol w="220285">
                  <a:extLst>
                    <a:ext uri="{9D8B030D-6E8A-4147-A177-3AD203B41FA5}">
                      <a16:colId xmlns:a16="http://schemas.microsoft.com/office/drawing/2014/main" val="768756652"/>
                    </a:ext>
                  </a:extLst>
                </a:gridCol>
                <a:gridCol w="220285">
                  <a:extLst>
                    <a:ext uri="{9D8B030D-6E8A-4147-A177-3AD203B41FA5}">
                      <a16:colId xmlns:a16="http://schemas.microsoft.com/office/drawing/2014/main" val="3394848166"/>
                    </a:ext>
                  </a:extLst>
                </a:gridCol>
                <a:gridCol w="220285">
                  <a:extLst>
                    <a:ext uri="{9D8B030D-6E8A-4147-A177-3AD203B41FA5}">
                      <a16:colId xmlns:a16="http://schemas.microsoft.com/office/drawing/2014/main" val="275287085"/>
                    </a:ext>
                  </a:extLst>
                </a:gridCol>
                <a:gridCol w="220285">
                  <a:extLst>
                    <a:ext uri="{9D8B030D-6E8A-4147-A177-3AD203B41FA5}">
                      <a16:colId xmlns:a16="http://schemas.microsoft.com/office/drawing/2014/main" val="3048887787"/>
                    </a:ext>
                  </a:extLst>
                </a:gridCol>
                <a:gridCol w="220285">
                  <a:extLst>
                    <a:ext uri="{9D8B030D-6E8A-4147-A177-3AD203B41FA5}">
                      <a16:colId xmlns:a16="http://schemas.microsoft.com/office/drawing/2014/main" val="719354529"/>
                    </a:ext>
                  </a:extLst>
                </a:gridCol>
                <a:gridCol w="220285">
                  <a:extLst>
                    <a:ext uri="{9D8B030D-6E8A-4147-A177-3AD203B41FA5}">
                      <a16:colId xmlns:a16="http://schemas.microsoft.com/office/drawing/2014/main" val="4150065960"/>
                    </a:ext>
                  </a:extLst>
                </a:gridCol>
                <a:gridCol w="220285">
                  <a:extLst>
                    <a:ext uri="{9D8B030D-6E8A-4147-A177-3AD203B41FA5}">
                      <a16:colId xmlns:a16="http://schemas.microsoft.com/office/drawing/2014/main" val="2605586975"/>
                    </a:ext>
                  </a:extLst>
                </a:gridCol>
                <a:gridCol w="220285">
                  <a:extLst>
                    <a:ext uri="{9D8B030D-6E8A-4147-A177-3AD203B41FA5}">
                      <a16:colId xmlns:a16="http://schemas.microsoft.com/office/drawing/2014/main" val="1619786690"/>
                    </a:ext>
                  </a:extLst>
                </a:gridCol>
                <a:gridCol w="220285">
                  <a:extLst>
                    <a:ext uri="{9D8B030D-6E8A-4147-A177-3AD203B41FA5}">
                      <a16:colId xmlns:a16="http://schemas.microsoft.com/office/drawing/2014/main" val="2476162936"/>
                    </a:ext>
                  </a:extLst>
                </a:gridCol>
                <a:gridCol w="220285">
                  <a:extLst>
                    <a:ext uri="{9D8B030D-6E8A-4147-A177-3AD203B41FA5}">
                      <a16:colId xmlns:a16="http://schemas.microsoft.com/office/drawing/2014/main" val="1649643893"/>
                    </a:ext>
                  </a:extLst>
                </a:gridCol>
                <a:gridCol w="220285">
                  <a:extLst>
                    <a:ext uri="{9D8B030D-6E8A-4147-A177-3AD203B41FA5}">
                      <a16:colId xmlns:a16="http://schemas.microsoft.com/office/drawing/2014/main" val="4223710755"/>
                    </a:ext>
                  </a:extLst>
                </a:gridCol>
              </a:tblGrid>
              <a:tr h="109366">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6841454"/>
                  </a:ext>
                </a:extLst>
              </a:tr>
              <a:tr h="164048">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gridSpan="2">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dirty="0">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hMerge="1">
                  <a:txBody>
                    <a:bodyPr/>
                    <a:lstStyle/>
                    <a:p>
                      <a:pPr latinLnBrk="1"/>
                      <a:endParaRPr lang="ko-KR" altLang="en-US"/>
                    </a:p>
                  </a:txBody>
                  <a:tcPr/>
                </a:tc>
                <a:tc gridSpan="3">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341149508"/>
                  </a:ext>
                </a:extLst>
              </a:tr>
              <a:tr h="1093661">
                <a:tc>
                  <a:txBody>
                    <a:bodyPr/>
                    <a:lstStyle/>
                    <a:p>
                      <a:pPr algn="ctr"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업무구분</a:t>
                      </a:r>
                      <a:endParaRPr lang="ko-KR" altLang="en-US" sz="5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낙찰방법</a:t>
                      </a:r>
                      <a:endParaRPr lang="ko-KR" altLang="en-US" sz="5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입찰서제출</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견적서취소</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개찰처리</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849484052"/>
                  </a:ext>
                </a:extLst>
              </a:tr>
              <a:tr h="164048">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4005683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60359643"/>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76655159"/>
                  </a:ext>
                </a:extLst>
              </a:tr>
              <a:tr h="164048">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1634424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65520259"/>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25133279"/>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7872385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5352978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170884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3105615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endParaRPr lang="ko-KR" altLang="en-US" sz="5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8746776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endParaRPr lang="ko-KR" altLang="en-US" sz="5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61201828"/>
                  </a:ext>
                </a:extLst>
              </a:tr>
              <a:tr h="164048">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5667117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326671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3947550"/>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1034481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604614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19935916"/>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94495228"/>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20374699"/>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78925963"/>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4064871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82669627"/>
                  </a:ext>
                </a:extLst>
              </a:tr>
            </a:tbl>
          </a:graphicData>
        </a:graphic>
      </p:graphicFrame>
      <p:sp>
        <p:nvSpPr>
          <p:cNvPr id="17" name="직사각형 1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8" name="직사각형 17"/>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1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4" name="직사각형 13">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2/17)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6014200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30</a:t>
            </a:fld>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2788506335"/>
              </p:ext>
            </p:extLst>
          </p:nvPr>
        </p:nvGraphicFramePr>
        <p:xfrm>
          <a:off x="749722" y="1300673"/>
          <a:ext cx="8708603" cy="5195391"/>
        </p:xfrm>
        <a:graphic>
          <a:graphicData uri="http://schemas.openxmlformats.org/drawingml/2006/table">
            <a:tbl>
              <a:tblPr/>
              <a:tblGrid>
                <a:gridCol w="396514">
                  <a:extLst>
                    <a:ext uri="{9D8B030D-6E8A-4147-A177-3AD203B41FA5}">
                      <a16:colId xmlns:a16="http://schemas.microsoft.com/office/drawing/2014/main" val="759087241"/>
                    </a:ext>
                  </a:extLst>
                </a:gridCol>
                <a:gridCol w="477284">
                  <a:extLst>
                    <a:ext uri="{9D8B030D-6E8A-4147-A177-3AD203B41FA5}">
                      <a16:colId xmlns:a16="http://schemas.microsoft.com/office/drawing/2014/main" val="1360565955"/>
                    </a:ext>
                  </a:extLst>
                </a:gridCol>
                <a:gridCol w="1666824">
                  <a:extLst>
                    <a:ext uri="{9D8B030D-6E8A-4147-A177-3AD203B41FA5}">
                      <a16:colId xmlns:a16="http://schemas.microsoft.com/office/drawing/2014/main" val="1534033598"/>
                    </a:ext>
                  </a:extLst>
                </a:gridCol>
                <a:gridCol w="572740">
                  <a:extLst>
                    <a:ext uri="{9D8B030D-6E8A-4147-A177-3AD203B41FA5}">
                      <a16:colId xmlns:a16="http://schemas.microsoft.com/office/drawing/2014/main" val="1456651548"/>
                    </a:ext>
                  </a:extLst>
                </a:gridCol>
                <a:gridCol w="499314">
                  <a:extLst>
                    <a:ext uri="{9D8B030D-6E8A-4147-A177-3AD203B41FA5}">
                      <a16:colId xmlns:a16="http://schemas.microsoft.com/office/drawing/2014/main" val="306054494"/>
                    </a:ext>
                  </a:extLst>
                </a:gridCol>
                <a:gridCol w="690227">
                  <a:extLst>
                    <a:ext uri="{9D8B030D-6E8A-4147-A177-3AD203B41FA5}">
                      <a16:colId xmlns:a16="http://schemas.microsoft.com/office/drawing/2014/main" val="3615517482"/>
                    </a:ext>
                  </a:extLst>
                </a:gridCol>
                <a:gridCol w="220285">
                  <a:extLst>
                    <a:ext uri="{9D8B030D-6E8A-4147-A177-3AD203B41FA5}">
                      <a16:colId xmlns:a16="http://schemas.microsoft.com/office/drawing/2014/main" val="4016526737"/>
                    </a:ext>
                  </a:extLst>
                </a:gridCol>
                <a:gridCol w="220285">
                  <a:extLst>
                    <a:ext uri="{9D8B030D-6E8A-4147-A177-3AD203B41FA5}">
                      <a16:colId xmlns:a16="http://schemas.microsoft.com/office/drawing/2014/main" val="4013102112"/>
                    </a:ext>
                  </a:extLst>
                </a:gridCol>
                <a:gridCol w="220285">
                  <a:extLst>
                    <a:ext uri="{9D8B030D-6E8A-4147-A177-3AD203B41FA5}">
                      <a16:colId xmlns:a16="http://schemas.microsoft.com/office/drawing/2014/main" val="3689674951"/>
                    </a:ext>
                  </a:extLst>
                </a:gridCol>
                <a:gridCol w="220285">
                  <a:extLst>
                    <a:ext uri="{9D8B030D-6E8A-4147-A177-3AD203B41FA5}">
                      <a16:colId xmlns:a16="http://schemas.microsoft.com/office/drawing/2014/main" val="1942307562"/>
                    </a:ext>
                  </a:extLst>
                </a:gridCol>
                <a:gridCol w="220285">
                  <a:extLst>
                    <a:ext uri="{9D8B030D-6E8A-4147-A177-3AD203B41FA5}">
                      <a16:colId xmlns:a16="http://schemas.microsoft.com/office/drawing/2014/main" val="2793269970"/>
                    </a:ext>
                  </a:extLst>
                </a:gridCol>
                <a:gridCol w="220285">
                  <a:extLst>
                    <a:ext uri="{9D8B030D-6E8A-4147-A177-3AD203B41FA5}">
                      <a16:colId xmlns:a16="http://schemas.microsoft.com/office/drawing/2014/main" val="1719813923"/>
                    </a:ext>
                  </a:extLst>
                </a:gridCol>
                <a:gridCol w="220285">
                  <a:extLst>
                    <a:ext uri="{9D8B030D-6E8A-4147-A177-3AD203B41FA5}">
                      <a16:colId xmlns:a16="http://schemas.microsoft.com/office/drawing/2014/main" val="663578563"/>
                    </a:ext>
                  </a:extLst>
                </a:gridCol>
                <a:gridCol w="220285">
                  <a:extLst>
                    <a:ext uri="{9D8B030D-6E8A-4147-A177-3AD203B41FA5}">
                      <a16:colId xmlns:a16="http://schemas.microsoft.com/office/drawing/2014/main" val="1966074552"/>
                    </a:ext>
                  </a:extLst>
                </a:gridCol>
                <a:gridCol w="220285">
                  <a:extLst>
                    <a:ext uri="{9D8B030D-6E8A-4147-A177-3AD203B41FA5}">
                      <a16:colId xmlns:a16="http://schemas.microsoft.com/office/drawing/2014/main" val="3537534314"/>
                    </a:ext>
                  </a:extLst>
                </a:gridCol>
                <a:gridCol w="220285">
                  <a:extLst>
                    <a:ext uri="{9D8B030D-6E8A-4147-A177-3AD203B41FA5}">
                      <a16:colId xmlns:a16="http://schemas.microsoft.com/office/drawing/2014/main" val="2752388255"/>
                    </a:ext>
                  </a:extLst>
                </a:gridCol>
                <a:gridCol w="220285">
                  <a:extLst>
                    <a:ext uri="{9D8B030D-6E8A-4147-A177-3AD203B41FA5}">
                      <a16:colId xmlns:a16="http://schemas.microsoft.com/office/drawing/2014/main" val="2050999073"/>
                    </a:ext>
                  </a:extLst>
                </a:gridCol>
                <a:gridCol w="220285">
                  <a:extLst>
                    <a:ext uri="{9D8B030D-6E8A-4147-A177-3AD203B41FA5}">
                      <a16:colId xmlns:a16="http://schemas.microsoft.com/office/drawing/2014/main" val="363905846"/>
                    </a:ext>
                  </a:extLst>
                </a:gridCol>
                <a:gridCol w="220285">
                  <a:extLst>
                    <a:ext uri="{9D8B030D-6E8A-4147-A177-3AD203B41FA5}">
                      <a16:colId xmlns:a16="http://schemas.microsoft.com/office/drawing/2014/main" val="1500490559"/>
                    </a:ext>
                  </a:extLst>
                </a:gridCol>
                <a:gridCol w="220285">
                  <a:extLst>
                    <a:ext uri="{9D8B030D-6E8A-4147-A177-3AD203B41FA5}">
                      <a16:colId xmlns:a16="http://schemas.microsoft.com/office/drawing/2014/main" val="3550606052"/>
                    </a:ext>
                  </a:extLst>
                </a:gridCol>
                <a:gridCol w="220285">
                  <a:extLst>
                    <a:ext uri="{9D8B030D-6E8A-4147-A177-3AD203B41FA5}">
                      <a16:colId xmlns:a16="http://schemas.microsoft.com/office/drawing/2014/main" val="2488452444"/>
                    </a:ext>
                  </a:extLst>
                </a:gridCol>
                <a:gridCol w="220285">
                  <a:extLst>
                    <a:ext uri="{9D8B030D-6E8A-4147-A177-3AD203B41FA5}">
                      <a16:colId xmlns:a16="http://schemas.microsoft.com/office/drawing/2014/main" val="1621955711"/>
                    </a:ext>
                  </a:extLst>
                </a:gridCol>
                <a:gridCol w="220285">
                  <a:extLst>
                    <a:ext uri="{9D8B030D-6E8A-4147-A177-3AD203B41FA5}">
                      <a16:colId xmlns:a16="http://schemas.microsoft.com/office/drawing/2014/main" val="39193813"/>
                    </a:ext>
                  </a:extLst>
                </a:gridCol>
                <a:gridCol w="220285">
                  <a:extLst>
                    <a:ext uri="{9D8B030D-6E8A-4147-A177-3AD203B41FA5}">
                      <a16:colId xmlns:a16="http://schemas.microsoft.com/office/drawing/2014/main" val="2980689065"/>
                    </a:ext>
                  </a:extLst>
                </a:gridCol>
                <a:gridCol w="220285">
                  <a:extLst>
                    <a:ext uri="{9D8B030D-6E8A-4147-A177-3AD203B41FA5}">
                      <a16:colId xmlns:a16="http://schemas.microsoft.com/office/drawing/2014/main" val="1598576284"/>
                    </a:ext>
                  </a:extLst>
                </a:gridCol>
                <a:gridCol w="220285">
                  <a:extLst>
                    <a:ext uri="{9D8B030D-6E8A-4147-A177-3AD203B41FA5}">
                      <a16:colId xmlns:a16="http://schemas.microsoft.com/office/drawing/2014/main" val="1534044727"/>
                    </a:ext>
                  </a:extLst>
                </a:gridCol>
              </a:tblGrid>
              <a:tr h="99810">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07410494"/>
                  </a:ext>
                </a:extLst>
              </a:tr>
              <a:tr h="149714">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4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176119470"/>
                  </a:ext>
                </a:extLst>
              </a:tr>
              <a:tr h="1053303">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개찰처리</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개찰결과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706322721"/>
                  </a:ext>
                </a:extLst>
              </a:tr>
              <a:tr h="149714">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992871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26685587"/>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22859174"/>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2303010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4154563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1836113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75475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15950204"/>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884400"/>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0598696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1825401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8392053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78991840"/>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44040800"/>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92821311"/>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70104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9054134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19437293"/>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6810560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9861642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947169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84562327"/>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419781"/>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5715373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7349700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25338411"/>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12"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3" name="직사각형 12">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3/17)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8243105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31</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635349537"/>
              </p:ext>
            </p:extLst>
          </p:nvPr>
        </p:nvGraphicFramePr>
        <p:xfrm>
          <a:off x="749725" y="1300660"/>
          <a:ext cx="8708600" cy="5140196"/>
        </p:xfrm>
        <a:graphic>
          <a:graphicData uri="http://schemas.openxmlformats.org/drawingml/2006/table">
            <a:tbl>
              <a:tblPr/>
              <a:tblGrid>
                <a:gridCol w="396513">
                  <a:extLst>
                    <a:ext uri="{9D8B030D-6E8A-4147-A177-3AD203B41FA5}">
                      <a16:colId xmlns:a16="http://schemas.microsoft.com/office/drawing/2014/main" val="4132482842"/>
                    </a:ext>
                  </a:extLst>
                </a:gridCol>
                <a:gridCol w="477284">
                  <a:extLst>
                    <a:ext uri="{9D8B030D-6E8A-4147-A177-3AD203B41FA5}">
                      <a16:colId xmlns:a16="http://schemas.microsoft.com/office/drawing/2014/main" val="3719933399"/>
                    </a:ext>
                  </a:extLst>
                </a:gridCol>
                <a:gridCol w="1666824">
                  <a:extLst>
                    <a:ext uri="{9D8B030D-6E8A-4147-A177-3AD203B41FA5}">
                      <a16:colId xmlns:a16="http://schemas.microsoft.com/office/drawing/2014/main" val="4260737784"/>
                    </a:ext>
                  </a:extLst>
                </a:gridCol>
                <a:gridCol w="572740">
                  <a:extLst>
                    <a:ext uri="{9D8B030D-6E8A-4147-A177-3AD203B41FA5}">
                      <a16:colId xmlns:a16="http://schemas.microsoft.com/office/drawing/2014/main" val="481271468"/>
                    </a:ext>
                  </a:extLst>
                </a:gridCol>
                <a:gridCol w="499312">
                  <a:extLst>
                    <a:ext uri="{9D8B030D-6E8A-4147-A177-3AD203B41FA5}">
                      <a16:colId xmlns:a16="http://schemas.microsoft.com/office/drawing/2014/main" val="810106561"/>
                    </a:ext>
                  </a:extLst>
                </a:gridCol>
                <a:gridCol w="690227">
                  <a:extLst>
                    <a:ext uri="{9D8B030D-6E8A-4147-A177-3AD203B41FA5}">
                      <a16:colId xmlns:a16="http://schemas.microsoft.com/office/drawing/2014/main" val="3057019728"/>
                    </a:ext>
                  </a:extLst>
                </a:gridCol>
                <a:gridCol w="220285">
                  <a:extLst>
                    <a:ext uri="{9D8B030D-6E8A-4147-A177-3AD203B41FA5}">
                      <a16:colId xmlns:a16="http://schemas.microsoft.com/office/drawing/2014/main" val="505355514"/>
                    </a:ext>
                  </a:extLst>
                </a:gridCol>
                <a:gridCol w="220285">
                  <a:extLst>
                    <a:ext uri="{9D8B030D-6E8A-4147-A177-3AD203B41FA5}">
                      <a16:colId xmlns:a16="http://schemas.microsoft.com/office/drawing/2014/main" val="1251409194"/>
                    </a:ext>
                  </a:extLst>
                </a:gridCol>
                <a:gridCol w="220285">
                  <a:extLst>
                    <a:ext uri="{9D8B030D-6E8A-4147-A177-3AD203B41FA5}">
                      <a16:colId xmlns:a16="http://schemas.microsoft.com/office/drawing/2014/main" val="3368571683"/>
                    </a:ext>
                  </a:extLst>
                </a:gridCol>
                <a:gridCol w="220285">
                  <a:extLst>
                    <a:ext uri="{9D8B030D-6E8A-4147-A177-3AD203B41FA5}">
                      <a16:colId xmlns:a16="http://schemas.microsoft.com/office/drawing/2014/main" val="2545236690"/>
                    </a:ext>
                  </a:extLst>
                </a:gridCol>
                <a:gridCol w="220285">
                  <a:extLst>
                    <a:ext uri="{9D8B030D-6E8A-4147-A177-3AD203B41FA5}">
                      <a16:colId xmlns:a16="http://schemas.microsoft.com/office/drawing/2014/main" val="4214412489"/>
                    </a:ext>
                  </a:extLst>
                </a:gridCol>
                <a:gridCol w="220285">
                  <a:extLst>
                    <a:ext uri="{9D8B030D-6E8A-4147-A177-3AD203B41FA5}">
                      <a16:colId xmlns:a16="http://schemas.microsoft.com/office/drawing/2014/main" val="4199515175"/>
                    </a:ext>
                  </a:extLst>
                </a:gridCol>
                <a:gridCol w="220285">
                  <a:extLst>
                    <a:ext uri="{9D8B030D-6E8A-4147-A177-3AD203B41FA5}">
                      <a16:colId xmlns:a16="http://schemas.microsoft.com/office/drawing/2014/main" val="2294522079"/>
                    </a:ext>
                  </a:extLst>
                </a:gridCol>
                <a:gridCol w="220285">
                  <a:extLst>
                    <a:ext uri="{9D8B030D-6E8A-4147-A177-3AD203B41FA5}">
                      <a16:colId xmlns:a16="http://schemas.microsoft.com/office/drawing/2014/main" val="3808833728"/>
                    </a:ext>
                  </a:extLst>
                </a:gridCol>
                <a:gridCol w="220285">
                  <a:extLst>
                    <a:ext uri="{9D8B030D-6E8A-4147-A177-3AD203B41FA5}">
                      <a16:colId xmlns:a16="http://schemas.microsoft.com/office/drawing/2014/main" val="2188908591"/>
                    </a:ext>
                  </a:extLst>
                </a:gridCol>
                <a:gridCol w="220285">
                  <a:extLst>
                    <a:ext uri="{9D8B030D-6E8A-4147-A177-3AD203B41FA5}">
                      <a16:colId xmlns:a16="http://schemas.microsoft.com/office/drawing/2014/main" val="884364922"/>
                    </a:ext>
                  </a:extLst>
                </a:gridCol>
                <a:gridCol w="220285">
                  <a:extLst>
                    <a:ext uri="{9D8B030D-6E8A-4147-A177-3AD203B41FA5}">
                      <a16:colId xmlns:a16="http://schemas.microsoft.com/office/drawing/2014/main" val="3790942870"/>
                    </a:ext>
                  </a:extLst>
                </a:gridCol>
                <a:gridCol w="220285">
                  <a:extLst>
                    <a:ext uri="{9D8B030D-6E8A-4147-A177-3AD203B41FA5}">
                      <a16:colId xmlns:a16="http://schemas.microsoft.com/office/drawing/2014/main" val="2233657180"/>
                    </a:ext>
                  </a:extLst>
                </a:gridCol>
                <a:gridCol w="220285">
                  <a:extLst>
                    <a:ext uri="{9D8B030D-6E8A-4147-A177-3AD203B41FA5}">
                      <a16:colId xmlns:a16="http://schemas.microsoft.com/office/drawing/2014/main" val="2512510794"/>
                    </a:ext>
                  </a:extLst>
                </a:gridCol>
                <a:gridCol w="220285">
                  <a:extLst>
                    <a:ext uri="{9D8B030D-6E8A-4147-A177-3AD203B41FA5}">
                      <a16:colId xmlns:a16="http://schemas.microsoft.com/office/drawing/2014/main" val="2032331025"/>
                    </a:ext>
                  </a:extLst>
                </a:gridCol>
                <a:gridCol w="220285">
                  <a:extLst>
                    <a:ext uri="{9D8B030D-6E8A-4147-A177-3AD203B41FA5}">
                      <a16:colId xmlns:a16="http://schemas.microsoft.com/office/drawing/2014/main" val="3756192478"/>
                    </a:ext>
                  </a:extLst>
                </a:gridCol>
                <a:gridCol w="220285">
                  <a:extLst>
                    <a:ext uri="{9D8B030D-6E8A-4147-A177-3AD203B41FA5}">
                      <a16:colId xmlns:a16="http://schemas.microsoft.com/office/drawing/2014/main" val="2671859711"/>
                    </a:ext>
                  </a:extLst>
                </a:gridCol>
                <a:gridCol w="220285">
                  <a:extLst>
                    <a:ext uri="{9D8B030D-6E8A-4147-A177-3AD203B41FA5}">
                      <a16:colId xmlns:a16="http://schemas.microsoft.com/office/drawing/2014/main" val="3158548965"/>
                    </a:ext>
                  </a:extLst>
                </a:gridCol>
                <a:gridCol w="220285">
                  <a:extLst>
                    <a:ext uri="{9D8B030D-6E8A-4147-A177-3AD203B41FA5}">
                      <a16:colId xmlns:a16="http://schemas.microsoft.com/office/drawing/2014/main" val="3087009676"/>
                    </a:ext>
                  </a:extLst>
                </a:gridCol>
                <a:gridCol w="220285">
                  <a:extLst>
                    <a:ext uri="{9D8B030D-6E8A-4147-A177-3AD203B41FA5}">
                      <a16:colId xmlns:a16="http://schemas.microsoft.com/office/drawing/2014/main" val="1974424706"/>
                    </a:ext>
                  </a:extLst>
                </a:gridCol>
                <a:gridCol w="220285">
                  <a:extLst>
                    <a:ext uri="{9D8B030D-6E8A-4147-A177-3AD203B41FA5}">
                      <a16:colId xmlns:a16="http://schemas.microsoft.com/office/drawing/2014/main" val="3749026585"/>
                    </a:ext>
                  </a:extLst>
                </a:gridCol>
              </a:tblGrid>
              <a:tr h="116823">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456588047"/>
                  </a:ext>
                </a:extLst>
              </a:tr>
              <a:tr h="175234">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454258996"/>
                  </a:ext>
                </a:extLst>
              </a:tr>
              <a:tr h="1168225">
                <a:tc>
                  <a:txBody>
                    <a:bodyPr/>
                    <a:lstStyle/>
                    <a:p>
                      <a:pPr algn="ctr"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업무구분</a:t>
                      </a:r>
                      <a:endParaRPr lang="ko-KR" altLang="en-US" sz="5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낙찰방법</a:t>
                      </a:r>
                      <a:endParaRPr lang="ko-KR" altLang="en-US" sz="5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개찰결과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980441456"/>
                  </a:ext>
                </a:extLst>
              </a:tr>
              <a:tr h="175234">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2529344"/>
                  </a:ext>
                </a:extLst>
              </a:tr>
              <a:tr h="175234">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9678948"/>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29591077"/>
                  </a:ext>
                </a:extLst>
              </a:tr>
              <a:tr h="175234">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262147"/>
                  </a:ext>
                </a:extLst>
              </a:tr>
              <a:tr h="175234">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32114407"/>
                  </a:ext>
                </a:extLst>
              </a:tr>
              <a:tr h="175234">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65935811"/>
                  </a:ext>
                </a:extLst>
              </a:tr>
              <a:tr h="175234">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9278874"/>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79278575"/>
                  </a:ext>
                </a:extLst>
              </a:tr>
              <a:tr h="175234">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19888601"/>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90090997"/>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36021232"/>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86764956"/>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9584447"/>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08948954"/>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51680758"/>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46805292"/>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9637840"/>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9222004"/>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58401569"/>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26156582"/>
                  </a:ext>
                </a:extLst>
              </a:tr>
              <a:tr h="175234">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59286632"/>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11"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2" name="직사각형 11">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4/17)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64217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32</a:t>
            </a:fld>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156349363"/>
              </p:ext>
            </p:extLst>
          </p:nvPr>
        </p:nvGraphicFramePr>
        <p:xfrm>
          <a:off x="749722" y="1300673"/>
          <a:ext cx="8708603" cy="5140183"/>
        </p:xfrm>
        <a:graphic>
          <a:graphicData uri="http://schemas.openxmlformats.org/drawingml/2006/table">
            <a:tbl>
              <a:tblPr/>
              <a:tblGrid>
                <a:gridCol w="396514">
                  <a:extLst>
                    <a:ext uri="{9D8B030D-6E8A-4147-A177-3AD203B41FA5}">
                      <a16:colId xmlns:a16="http://schemas.microsoft.com/office/drawing/2014/main" val="558947797"/>
                    </a:ext>
                  </a:extLst>
                </a:gridCol>
                <a:gridCol w="477284">
                  <a:extLst>
                    <a:ext uri="{9D8B030D-6E8A-4147-A177-3AD203B41FA5}">
                      <a16:colId xmlns:a16="http://schemas.microsoft.com/office/drawing/2014/main" val="2278409168"/>
                    </a:ext>
                  </a:extLst>
                </a:gridCol>
                <a:gridCol w="1666824">
                  <a:extLst>
                    <a:ext uri="{9D8B030D-6E8A-4147-A177-3AD203B41FA5}">
                      <a16:colId xmlns:a16="http://schemas.microsoft.com/office/drawing/2014/main" val="605324619"/>
                    </a:ext>
                  </a:extLst>
                </a:gridCol>
                <a:gridCol w="572740">
                  <a:extLst>
                    <a:ext uri="{9D8B030D-6E8A-4147-A177-3AD203B41FA5}">
                      <a16:colId xmlns:a16="http://schemas.microsoft.com/office/drawing/2014/main" val="432350944"/>
                    </a:ext>
                  </a:extLst>
                </a:gridCol>
                <a:gridCol w="499314">
                  <a:extLst>
                    <a:ext uri="{9D8B030D-6E8A-4147-A177-3AD203B41FA5}">
                      <a16:colId xmlns:a16="http://schemas.microsoft.com/office/drawing/2014/main" val="3910336662"/>
                    </a:ext>
                  </a:extLst>
                </a:gridCol>
                <a:gridCol w="690227">
                  <a:extLst>
                    <a:ext uri="{9D8B030D-6E8A-4147-A177-3AD203B41FA5}">
                      <a16:colId xmlns:a16="http://schemas.microsoft.com/office/drawing/2014/main" val="2548890830"/>
                    </a:ext>
                  </a:extLst>
                </a:gridCol>
                <a:gridCol w="220285">
                  <a:extLst>
                    <a:ext uri="{9D8B030D-6E8A-4147-A177-3AD203B41FA5}">
                      <a16:colId xmlns:a16="http://schemas.microsoft.com/office/drawing/2014/main" val="2612552854"/>
                    </a:ext>
                  </a:extLst>
                </a:gridCol>
                <a:gridCol w="220285">
                  <a:extLst>
                    <a:ext uri="{9D8B030D-6E8A-4147-A177-3AD203B41FA5}">
                      <a16:colId xmlns:a16="http://schemas.microsoft.com/office/drawing/2014/main" val="1849533672"/>
                    </a:ext>
                  </a:extLst>
                </a:gridCol>
                <a:gridCol w="220285">
                  <a:extLst>
                    <a:ext uri="{9D8B030D-6E8A-4147-A177-3AD203B41FA5}">
                      <a16:colId xmlns:a16="http://schemas.microsoft.com/office/drawing/2014/main" val="1357118656"/>
                    </a:ext>
                  </a:extLst>
                </a:gridCol>
                <a:gridCol w="220285">
                  <a:extLst>
                    <a:ext uri="{9D8B030D-6E8A-4147-A177-3AD203B41FA5}">
                      <a16:colId xmlns:a16="http://schemas.microsoft.com/office/drawing/2014/main" val="2856391719"/>
                    </a:ext>
                  </a:extLst>
                </a:gridCol>
                <a:gridCol w="220285">
                  <a:extLst>
                    <a:ext uri="{9D8B030D-6E8A-4147-A177-3AD203B41FA5}">
                      <a16:colId xmlns:a16="http://schemas.microsoft.com/office/drawing/2014/main" val="2751103795"/>
                    </a:ext>
                  </a:extLst>
                </a:gridCol>
                <a:gridCol w="220285">
                  <a:extLst>
                    <a:ext uri="{9D8B030D-6E8A-4147-A177-3AD203B41FA5}">
                      <a16:colId xmlns:a16="http://schemas.microsoft.com/office/drawing/2014/main" val="3968402511"/>
                    </a:ext>
                  </a:extLst>
                </a:gridCol>
                <a:gridCol w="220285">
                  <a:extLst>
                    <a:ext uri="{9D8B030D-6E8A-4147-A177-3AD203B41FA5}">
                      <a16:colId xmlns:a16="http://schemas.microsoft.com/office/drawing/2014/main" val="2670974270"/>
                    </a:ext>
                  </a:extLst>
                </a:gridCol>
                <a:gridCol w="220285">
                  <a:extLst>
                    <a:ext uri="{9D8B030D-6E8A-4147-A177-3AD203B41FA5}">
                      <a16:colId xmlns:a16="http://schemas.microsoft.com/office/drawing/2014/main" val="1381877024"/>
                    </a:ext>
                  </a:extLst>
                </a:gridCol>
                <a:gridCol w="220285">
                  <a:extLst>
                    <a:ext uri="{9D8B030D-6E8A-4147-A177-3AD203B41FA5}">
                      <a16:colId xmlns:a16="http://schemas.microsoft.com/office/drawing/2014/main" val="387487056"/>
                    </a:ext>
                  </a:extLst>
                </a:gridCol>
                <a:gridCol w="220285">
                  <a:extLst>
                    <a:ext uri="{9D8B030D-6E8A-4147-A177-3AD203B41FA5}">
                      <a16:colId xmlns:a16="http://schemas.microsoft.com/office/drawing/2014/main" val="2340402252"/>
                    </a:ext>
                  </a:extLst>
                </a:gridCol>
                <a:gridCol w="220285">
                  <a:extLst>
                    <a:ext uri="{9D8B030D-6E8A-4147-A177-3AD203B41FA5}">
                      <a16:colId xmlns:a16="http://schemas.microsoft.com/office/drawing/2014/main" val="1581522834"/>
                    </a:ext>
                  </a:extLst>
                </a:gridCol>
                <a:gridCol w="220285">
                  <a:extLst>
                    <a:ext uri="{9D8B030D-6E8A-4147-A177-3AD203B41FA5}">
                      <a16:colId xmlns:a16="http://schemas.microsoft.com/office/drawing/2014/main" val="2009456630"/>
                    </a:ext>
                  </a:extLst>
                </a:gridCol>
                <a:gridCol w="220285">
                  <a:extLst>
                    <a:ext uri="{9D8B030D-6E8A-4147-A177-3AD203B41FA5}">
                      <a16:colId xmlns:a16="http://schemas.microsoft.com/office/drawing/2014/main" val="915323225"/>
                    </a:ext>
                  </a:extLst>
                </a:gridCol>
                <a:gridCol w="220285">
                  <a:extLst>
                    <a:ext uri="{9D8B030D-6E8A-4147-A177-3AD203B41FA5}">
                      <a16:colId xmlns:a16="http://schemas.microsoft.com/office/drawing/2014/main" val="372505515"/>
                    </a:ext>
                  </a:extLst>
                </a:gridCol>
                <a:gridCol w="220285">
                  <a:extLst>
                    <a:ext uri="{9D8B030D-6E8A-4147-A177-3AD203B41FA5}">
                      <a16:colId xmlns:a16="http://schemas.microsoft.com/office/drawing/2014/main" val="1839403647"/>
                    </a:ext>
                  </a:extLst>
                </a:gridCol>
                <a:gridCol w="220285">
                  <a:extLst>
                    <a:ext uri="{9D8B030D-6E8A-4147-A177-3AD203B41FA5}">
                      <a16:colId xmlns:a16="http://schemas.microsoft.com/office/drawing/2014/main" val="3014700479"/>
                    </a:ext>
                  </a:extLst>
                </a:gridCol>
                <a:gridCol w="220285">
                  <a:extLst>
                    <a:ext uri="{9D8B030D-6E8A-4147-A177-3AD203B41FA5}">
                      <a16:colId xmlns:a16="http://schemas.microsoft.com/office/drawing/2014/main" val="1160646773"/>
                    </a:ext>
                  </a:extLst>
                </a:gridCol>
                <a:gridCol w="220285">
                  <a:extLst>
                    <a:ext uri="{9D8B030D-6E8A-4147-A177-3AD203B41FA5}">
                      <a16:colId xmlns:a16="http://schemas.microsoft.com/office/drawing/2014/main" val="1556519640"/>
                    </a:ext>
                  </a:extLst>
                </a:gridCol>
                <a:gridCol w="220285">
                  <a:extLst>
                    <a:ext uri="{9D8B030D-6E8A-4147-A177-3AD203B41FA5}">
                      <a16:colId xmlns:a16="http://schemas.microsoft.com/office/drawing/2014/main" val="3150293803"/>
                    </a:ext>
                  </a:extLst>
                </a:gridCol>
                <a:gridCol w="220285">
                  <a:extLst>
                    <a:ext uri="{9D8B030D-6E8A-4147-A177-3AD203B41FA5}">
                      <a16:colId xmlns:a16="http://schemas.microsoft.com/office/drawing/2014/main" val="2343119711"/>
                    </a:ext>
                  </a:extLst>
                </a:gridCol>
              </a:tblGrid>
              <a:tr h="99810">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776843933"/>
                  </a:ext>
                </a:extLst>
              </a:tr>
              <a:tr h="149714">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4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74742317"/>
                  </a:ext>
                </a:extLst>
              </a:tr>
              <a:tr h="998095">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낙찰방법</a:t>
                      </a:r>
                      <a:endParaRPr lang="ko-KR" altLang="en-US" sz="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견적서제출</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개찰처리</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개찰결과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4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4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4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20607542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29015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4136213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2832970"/>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119513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0436472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9962490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464981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6469165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415320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2164127"/>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3367088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79543994"/>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2399281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51093034"/>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6187604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00831131"/>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6588745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34093297"/>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20369211"/>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96657343"/>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1444251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73231924"/>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2298416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9718262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5131533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28202109"/>
                  </a:ext>
                </a:extLst>
              </a:tr>
            </a:tbl>
          </a:graphicData>
        </a:graphic>
      </p:graphicFrame>
      <p:sp>
        <p:nvSpPr>
          <p:cNvPr id="15" name="직사각형 1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6" name="직사각형 15"/>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1" name="직사각형 10">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5/17)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1839104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33</a:t>
            </a:fld>
            <a:endParaRPr lang="ko-KR" altLang="en-US" dirty="0"/>
          </a:p>
        </p:txBody>
      </p:sp>
      <p:graphicFrame>
        <p:nvGraphicFramePr>
          <p:cNvPr id="7" name="표 6"/>
          <p:cNvGraphicFramePr>
            <a:graphicFrameLocks noGrp="1"/>
          </p:cNvGraphicFramePr>
          <p:nvPr>
            <p:extLst>
              <p:ext uri="{D42A27DB-BD31-4B8C-83A1-F6EECF244321}">
                <p14:modId xmlns:p14="http://schemas.microsoft.com/office/powerpoint/2010/main" val="869458631"/>
              </p:ext>
            </p:extLst>
          </p:nvPr>
        </p:nvGraphicFramePr>
        <p:xfrm>
          <a:off x="749716" y="1300666"/>
          <a:ext cx="8708607" cy="5140192"/>
        </p:xfrm>
        <a:graphic>
          <a:graphicData uri="http://schemas.openxmlformats.org/drawingml/2006/table">
            <a:tbl>
              <a:tblPr/>
              <a:tblGrid>
                <a:gridCol w="396513">
                  <a:extLst>
                    <a:ext uri="{9D8B030D-6E8A-4147-A177-3AD203B41FA5}">
                      <a16:colId xmlns:a16="http://schemas.microsoft.com/office/drawing/2014/main" val="2806503240"/>
                    </a:ext>
                  </a:extLst>
                </a:gridCol>
                <a:gridCol w="477285">
                  <a:extLst>
                    <a:ext uri="{9D8B030D-6E8A-4147-A177-3AD203B41FA5}">
                      <a16:colId xmlns:a16="http://schemas.microsoft.com/office/drawing/2014/main" val="680765505"/>
                    </a:ext>
                  </a:extLst>
                </a:gridCol>
                <a:gridCol w="1666824">
                  <a:extLst>
                    <a:ext uri="{9D8B030D-6E8A-4147-A177-3AD203B41FA5}">
                      <a16:colId xmlns:a16="http://schemas.microsoft.com/office/drawing/2014/main" val="3902845706"/>
                    </a:ext>
                  </a:extLst>
                </a:gridCol>
                <a:gridCol w="572743">
                  <a:extLst>
                    <a:ext uri="{9D8B030D-6E8A-4147-A177-3AD203B41FA5}">
                      <a16:colId xmlns:a16="http://schemas.microsoft.com/office/drawing/2014/main" val="292918961"/>
                    </a:ext>
                  </a:extLst>
                </a:gridCol>
                <a:gridCol w="499314">
                  <a:extLst>
                    <a:ext uri="{9D8B030D-6E8A-4147-A177-3AD203B41FA5}">
                      <a16:colId xmlns:a16="http://schemas.microsoft.com/office/drawing/2014/main" val="519356741"/>
                    </a:ext>
                  </a:extLst>
                </a:gridCol>
                <a:gridCol w="690228">
                  <a:extLst>
                    <a:ext uri="{9D8B030D-6E8A-4147-A177-3AD203B41FA5}">
                      <a16:colId xmlns:a16="http://schemas.microsoft.com/office/drawing/2014/main" val="90164648"/>
                    </a:ext>
                  </a:extLst>
                </a:gridCol>
                <a:gridCol w="220285">
                  <a:extLst>
                    <a:ext uri="{9D8B030D-6E8A-4147-A177-3AD203B41FA5}">
                      <a16:colId xmlns:a16="http://schemas.microsoft.com/office/drawing/2014/main" val="2565581379"/>
                    </a:ext>
                  </a:extLst>
                </a:gridCol>
                <a:gridCol w="220285">
                  <a:extLst>
                    <a:ext uri="{9D8B030D-6E8A-4147-A177-3AD203B41FA5}">
                      <a16:colId xmlns:a16="http://schemas.microsoft.com/office/drawing/2014/main" val="3166315270"/>
                    </a:ext>
                  </a:extLst>
                </a:gridCol>
                <a:gridCol w="220285">
                  <a:extLst>
                    <a:ext uri="{9D8B030D-6E8A-4147-A177-3AD203B41FA5}">
                      <a16:colId xmlns:a16="http://schemas.microsoft.com/office/drawing/2014/main" val="1914692712"/>
                    </a:ext>
                  </a:extLst>
                </a:gridCol>
                <a:gridCol w="220285">
                  <a:extLst>
                    <a:ext uri="{9D8B030D-6E8A-4147-A177-3AD203B41FA5}">
                      <a16:colId xmlns:a16="http://schemas.microsoft.com/office/drawing/2014/main" val="955352608"/>
                    </a:ext>
                  </a:extLst>
                </a:gridCol>
                <a:gridCol w="220285">
                  <a:extLst>
                    <a:ext uri="{9D8B030D-6E8A-4147-A177-3AD203B41FA5}">
                      <a16:colId xmlns:a16="http://schemas.microsoft.com/office/drawing/2014/main" val="3194268040"/>
                    </a:ext>
                  </a:extLst>
                </a:gridCol>
                <a:gridCol w="220285">
                  <a:extLst>
                    <a:ext uri="{9D8B030D-6E8A-4147-A177-3AD203B41FA5}">
                      <a16:colId xmlns:a16="http://schemas.microsoft.com/office/drawing/2014/main" val="2076440676"/>
                    </a:ext>
                  </a:extLst>
                </a:gridCol>
                <a:gridCol w="220285">
                  <a:extLst>
                    <a:ext uri="{9D8B030D-6E8A-4147-A177-3AD203B41FA5}">
                      <a16:colId xmlns:a16="http://schemas.microsoft.com/office/drawing/2014/main" val="3740820675"/>
                    </a:ext>
                  </a:extLst>
                </a:gridCol>
                <a:gridCol w="220285">
                  <a:extLst>
                    <a:ext uri="{9D8B030D-6E8A-4147-A177-3AD203B41FA5}">
                      <a16:colId xmlns:a16="http://schemas.microsoft.com/office/drawing/2014/main" val="14256966"/>
                    </a:ext>
                  </a:extLst>
                </a:gridCol>
                <a:gridCol w="220285">
                  <a:extLst>
                    <a:ext uri="{9D8B030D-6E8A-4147-A177-3AD203B41FA5}">
                      <a16:colId xmlns:a16="http://schemas.microsoft.com/office/drawing/2014/main" val="2662409427"/>
                    </a:ext>
                  </a:extLst>
                </a:gridCol>
                <a:gridCol w="220285">
                  <a:extLst>
                    <a:ext uri="{9D8B030D-6E8A-4147-A177-3AD203B41FA5}">
                      <a16:colId xmlns:a16="http://schemas.microsoft.com/office/drawing/2014/main" val="407542958"/>
                    </a:ext>
                  </a:extLst>
                </a:gridCol>
                <a:gridCol w="220285">
                  <a:extLst>
                    <a:ext uri="{9D8B030D-6E8A-4147-A177-3AD203B41FA5}">
                      <a16:colId xmlns:a16="http://schemas.microsoft.com/office/drawing/2014/main" val="153417524"/>
                    </a:ext>
                  </a:extLst>
                </a:gridCol>
                <a:gridCol w="220285">
                  <a:extLst>
                    <a:ext uri="{9D8B030D-6E8A-4147-A177-3AD203B41FA5}">
                      <a16:colId xmlns:a16="http://schemas.microsoft.com/office/drawing/2014/main" val="89671438"/>
                    </a:ext>
                  </a:extLst>
                </a:gridCol>
                <a:gridCol w="220285">
                  <a:extLst>
                    <a:ext uri="{9D8B030D-6E8A-4147-A177-3AD203B41FA5}">
                      <a16:colId xmlns:a16="http://schemas.microsoft.com/office/drawing/2014/main" val="3188255823"/>
                    </a:ext>
                  </a:extLst>
                </a:gridCol>
                <a:gridCol w="220285">
                  <a:extLst>
                    <a:ext uri="{9D8B030D-6E8A-4147-A177-3AD203B41FA5}">
                      <a16:colId xmlns:a16="http://schemas.microsoft.com/office/drawing/2014/main" val="3383953725"/>
                    </a:ext>
                  </a:extLst>
                </a:gridCol>
                <a:gridCol w="220285">
                  <a:extLst>
                    <a:ext uri="{9D8B030D-6E8A-4147-A177-3AD203B41FA5}">
                      <a16:colId xmlns:a16="http://schemas.microsoft.com/office/drawing/2014/main" val="1864568756"/>
                    </a:ext>
                  </a:extLst>
                </a:gridCol>
                <a:gridCol w="220285">
                  <a:extLst>
                    <a:ext uri="{9D8B030D-6E8A-4147-A177-3AD203B41FA5}">
                      <a16:colId xmlns:a16="http://schemas.microsoft.com/office/drawing/2014/main" val="888343642"/>
                    </a:ext>
                  </a:extLst>
                </a:gridCol>
                <a:gridCol w="220285">
                  <a:extLst>
                    <a:ext uri="{9D8B030D-6E8A-4147-A177-3AD203B41FA5}">
                      <a16:colId xmlns:a16="http://schemas.microsoft.com/office/drawing/2014/main" val="3636694783"/>
                    </a:ext>
                  </a:extLst>
                </a:gridCol>
                <a:gridCol w="220285">
                  <a:extLst>
                    <a:ext uri="{9D8B030D-6E8A-4147-A177-3AD203B41FA5}">
                      <a16:colId xmlns:a16="http://schemas.microsoft.com/office/drawing/2014/main" val="268858490"/>
                    </a:ext>
                  </a:extLst>
                </a:gridCol>
                <a:gridCol w="220285">
                  <a:extLst>
                    <a:ext uri="{9D8B030D-6E8A-4147-A177-3AD203B41FA5}">
                      <a16:colId xmlns:a16="http://schemas.microsoft.com/office/drawing/2014/main" val="2590587980"/>
                    </a:ext>
                  </a:extLst>
                </a:gridCol>
                <a:gridCol w="220285">
                  <a:extLst>
                    <a:ext uri="{9D8B030D-6E8A-4147-A177-3AD203B41FA5}">
                      <a16:colId xmlns:a16="http://schemas.microsoft.com/office/drawing/2014/main" val="773097101"/>
                    </a:ext>
                  </a:extLst>
                </a:gridCol>
              </a:tblGrid>
              <a:tr h="112971">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253204425"/>
                  </a:ext>
                </a:extLst>
              </a:tr>
              <a:tr h="169457">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85830452"/>
                  </a:ext>
                </a:extLst>
              </a:tr>
              <a:tr h="1129710">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견적서취소</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56784940"/>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7265240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67294806"/>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8023357"/>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52520718"/>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23977822"/>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24253282"/>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3971560"/>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96688061"/>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협상취소</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26375687"/>
                  </a:ext>
                </a:extLst>
              </a:tr>
              <a:tr h="169457">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45758850"/>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3564823595"/>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3556382593"/>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물품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협상취소</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37796772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605555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17080600"/>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24510080"/>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6219604"/>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8556121"/>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40422738"/>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17939207"/>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8129778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97944583"/>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6/17)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37140218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34</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313516547"/>
              </p:ext>
            </p:extLst>
          </p:nvPr>
        </p:nvGraphicFramePr>
        <p:xfrm>
          <a:off x="749716" y="1300659"/>
          <a:ext cx="8708615" cy="5140197"/>
        </p:xfrm>
        <a:graphic>
          <a:graphicData uri="http://schemas.openxmlformats.org/drawingml/2006/table">
            <a:tbl>
              <a:tblPr/>
              <a:tblGrid>
                <a:gridCol w="396512">
                  <a:extLst>
                    <a:ext uri="{9D8B030D-6E8A-4147-A177-3AD203B41FA5}">
                      <a16:colId xmlns:a16="http://schemas.microsoft.com/office/drawing/2014/main" val="767732567"/>
                    </a:ext>
                  </a:extLst>
                </a:gridCol>
                <a:gridCol w="477284">
                  <a:extLst>
                    <a:ext uri="{9D8B030D-6E8A-4147-A177-3AD203B41FA5}">
                      <a16:colId xmlns:a16="http://schemas.microsoft.com/office/drawing/2014/main" val="3396954614"/>
                    </a:ext>
                  </a:extLst>
                </a:gridCol>
                <a:gridCol w="1666820">
                  <a:extLst>
                    <a:ext uri="{9D8B030D-6E8A-4147-A177-3AD203B41FA5}">
                      <a16:colId xmlns:a16="http://schemas.microsoft.com/office/drawing/2014/main" val="1981729993"/>
                    </a:ext>
                  </a:extLst>
                </a:gridCol>
                <a:gridCol w="572741">
                  <a:extLst>
                    <a:ext uri="{9D8B030D-6E8A-4147-A177-3AD203B41FA5}">
                      <a16:colId xmlns:a16="http://schemas.microsoft.com/office/drawing/2014/main" val="3245599563"/>
                    </a:ext>
                  </a:extLst>
                </a:gridCol>
                <a:gridCol w="499312">
                  <a:extLst>
                    <a:ext uri="{9D8B030D-6E8A-4147-A177-3AD203B41FA5}">
                      <a16:colId xmlns:a16="http://schemas.microsoft.com/office/drawing/2014/main" val="3279195899"/>
                    </a:ext>
                  </a:extLst>
                </a:gridCol>
                <a:gridCol w="690226">
                  <a:extLst>
                    <a:ext uri="{9D8B030D-6E8A-4147-A177-3AD203B41FA5}">
                      <a16:colId xmlns:a16="http://schemas.microsoft.com/office/drawing/2014/main" val="465102675"/>
                    </a:ext>
                  </a:extLst>
                </a:gridCol>
                <a:gridCol w="220286">
                  <a:extLst>
                    <a:ext uri="{9D8B030D-6E8A-4147-A177-3AD203B41FA5}">
                      <a16:colId xmlns:a16="http://schemas.microsoft.com/office/drawing/2014/main" val="2374494960"/>
                    </a:ext>
                  </a:extLst>
                </a:gridCol>
                <a:gridCol w="220286">
                  <a:extLst>
                    <a:ext uri="{9D8B030D-6E8A-4147-A177-3AD203B41FA5}">
                      <a16:colId xmlns:a16="http://schemas.microsoft.com/office/drawing/2014/main" val="564864176"/>
                    </a:ext>
                  </a:extLst>
                </a:gridCol>
                <a:gridCol w="220286">
                  <a:extLst>
                    <a:ext uri="{9D8B030D-6E8A-4147-A177-3AD203B41FA5}">
                      <a16:colId xmlns:a16="http://schemas.microsoft.com/office/drawing/2014/main" val="3023219188"/>
                    </a:ext>
                  </a:extLst>
                </a:gridCol>
                <a:gridCol w="220286">
                  <a:extLst>
                    <a:ext uri="{9D8B030D-6E8A-4147-A177-3AD203B41FA5}">
                      <a16:colId xmlns:a16="http://schemas.microsoft.com/office/drawing/2014/main" val="2839882431"/>
                    </a:ext>
                  </a:extLst>
                </a:gridCol>
                <a:gridCol w="220286">
                  <a:extLst>
                    <a:ext uri="{9D8B030D-6E8A-4147-A177-3AD203B41FA5}">
                      <a16:colId xmlns:a16="http://schemas.microsoft.com/office/drawing/2014/main" val="3563100315"/>
                    </a:ext>
                  </a:extLst>
                </a:gridCol>
                <a:gridCol w="220286">
                  <a:extLst>
                    <a:ext uri="{9D8B030D-6E8A-4147-A177-3AD203B41FA5}">
                      <a16:colId xmlns:a16="http://schemas.microsoft.com/office/drawing/2014/main" val="100250501"/>
                    </a:ext>
                  </a:extLst>
                </a:gridCol>
                <a:gridCol w="220286">
                  <a:extLst>
                    <a:ext uri="{9D8B030D-6E8A-4147-A177-3AD203B41FA5}">
                      <a16:colId xmlns:a16="http://schemas.microsoft.com/office/drawing/2014/main" val="3191028991"/>
                    </a:ext>
                  </a:extLst>
                </a:gridCol>
                <a:gridCol w="220286">
                  <a:extLst>
                    <a:ext uri="{9D8B030D-6E8A-4147-A177-3AD203B41FA5}">
                      <a16:colId xmlns:a16="http://schemas.microsoft.com/office/drawing/2014/main" val="4283613990"/>
                    </a:ext>
                  </a:extLst>
                </a:gridCol>
                <a:gridCol w="220286">
                  <a:extLst>
                    <a:ext uri="{9D8B030D-6E8A-4147-A177-3AD203B41FA5}">
                      <a16:colId xmlns:a16="http://schemas.microsoft.com/office/drawing/2014/main" val="2113866833"/>
                    </a:ext>
                  </a:extLst>
                </a:gridCol>
                <a:gridCol w="220286">
                  <a:extLst>
                    <a:ext uri="{9D8B030D-6E8A-4147-A177-3AD203B41FA5}">
                      <a16:colId xmlns:a16="http://schemas.microsoft.com/office/drawing/2014/main" val="862350563"/>
                    </a:ext>
                  </a:extLst>
                </a:gridCol>
                <a:gridCol w="220286">
                  <a:extLst>
                    <a:ext uri="{9D8B030D-6E8A-4147-A177-3AD203B41FA5}">
                      <a16:colId xmlns:a16="http://schemas.microsoft.com/office/drawing/2014/main" val="1508977825"/>
                    </a:ext>
                  </a:extLst>
                </a:gridCol>
                <a:gridCol w="220286">
                  <a:extLst>
                    <a:ext uri="{9D8B030D-6E8A-4147-A177-3AD203B41FA5}">
                      <a16:colId xmlns:a16="http://schemas.microsoft.com/office/drawing/2014/main" val="874339517"/>
                    </a:ext>
                  </a:extLst>
                </a:gridCol>
                <a:gridCol w="220286">
                  <a:extLst>
                    <a:ext uri="{9D8B030D-6E8A-4147-A177-3AD203B41FA5}">
                      <a16:colId xmlns:a16="http://schemas.microsoft.com/office/drawing/2014/main" val="103259911"/>
                    </a:ext>
                  </a:extLst>
                </a:gridCol>
                <a:gridCol w="220286">
                  <a:extLst>
                    <a:ext uri="{9D8B030D-6E8A-4147-A177-3AD203B41FA5}">
                      <a16:colId xmlns:a16="http://schemas.microsoft.com/office/drawing/2014/main" val="802777928"/>
                    </a:ext>
                  </a:extLst>
                </a:gridCol>
                <a:gridCol w="220286">
                  <a:extLst>
                    <a:ext uri="{9D8B030D-6E8A-4147-A177-3AD203B41FA5}">
                      <a16:colId xmlns:a16="http://schemas.microsoft.com/office/drawing/2014/main" val="857315051"/>
                    </a:ext>
                  </a:extLst>
                </a:gridCol>
                <a:gridCol w="220286">
                  <a:extLst>
                    <a:ext uri="{9D8B030D-6E8A-4147-A177-3AD203B41FA5}">
                      <a16:colId xmlns:a16="http://schemas.microsoft.com/office/drawing/2014/main" val="4234935556"/>
                    </a:ext>
                  </a:extLst>
                </a:gridCol>
                <a:gridCol w="220286">
                  <a:extLst>
                    <a:ext uri="{9D8B030D-6E8A-4147-A177-3AD203B41FA5}">
                      <a16:colId xmlns:a16="http://schemas.microsoft.com/office/drawing/2014/main" val="2271480670"/>
                    </a:ext>
                  </a:extLst>
                </a:gridCol>
                <a:gridCol w="220286">
                  <a:extLst>
                    <a:ext uri="{9D8B030D-6E8A-4147-A177-3AD203B41FA5}">
                      <a16:colId xmlns:a16="http://schemas.microsoft.com/office/drawing/2014/main" val="1359920943"/>
                    </a:ext>
                  </a:extLst>
                </a:gridCol>
                <a:gridCol w="220286">
                  <a:extLst>
                    <a:ext uri="{9D8B030D-6E8A-4147-A177-3AD203B41FA5}">
                      <a16:colId xmlns:a16="http://schemas.microsoft.com/office/drawing/2014/main" val="173144792"/>
                    </a:ext>
                  </a:extLst>
                </a:gridCol>
                <a:gridCol w="220286">
                  <a:extLst>
                    <a:ext uri="{9D8B030D-6E8A-4147-A177-3AD203B41FA5}">
                      <a16:colId xmlns:a16="http://schemas.microsoft.com/office/drawing/2014/main" val="3237221637"/>
                    </a:ext>
                  </a:extLst>
                </a:gridCol>
              </a:tblGrid>
              <a:tr h="140828">
                <a:tc rowSpan="2" gridSpan="3">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728392921"/>
                  </a:ext>
                </a:extLst>
              </a:tr>
              <a:tr h="211241">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6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564689202"/>
                  </a:ext>
                </a:extLst>
              </a:tr>
              <a:tr h="1408272">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dirty="0">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err="1">
                          <a:solidFill>
                            <a:srgbClr val="000000"/>
                          </a:solidFill>
                          <a:effectLst/>
                          <a:latin typeface="맑은 고딕" panose="020B0503020000020004" pitchFamily="50" charset="-127"/>
                          <a:ea typeface="맑은 고딕" panose="020B0503020000020004" pitchFamily="50" charset="-127"/>
                        </a:rPr>
                        <a:t>입찰서제출</a:t>
                      </a:r>
                      <a:endParaRPr lang="ko-KR" altLang="en-US" sz="6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err="1">
                          <a:solidFill>
                            <a:srgbClr val="000000"/>
                          </a:solidFill>
                          <a:effectLst/>
                          <a:latin typeface="맑은 고딕" panose="020B0503020000020004" pitchFamily="50" charset="-127"/>
                          <a:ea typeface="맑은 고딕" panose="020B0503020000020004" pitchFamily="50" charset="-127"/>
                        </a:rPr>
                        <a:t>개찰처리</a:t>
                      </a:r>
                      <a:endParaRPr lang="ko-KR" altLang="en-US" sz="6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6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6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6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6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6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6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508011781"/>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73804521"/>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71304101"/>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30704961"/>
                  </a:ext>
                </a:extLst>
              </a:tr>
              <a:tr h="211241">
                <a:tc>
                  <a:txBody>
                    <a:bodyPr/>
                    <a:lstStyle/>
                    <a:p>
                      <a:pPr algn="ctr" fontAlgn="ctr"/>
                      <a:r>
                        <a:rPr lang="ko-KR" altLang="en-US" sz="600" b="0" i="0" u="none" strike="noStrike" dirty="0">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dirty="0">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7107806"/>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46132726"/>
                  </a:ext>
                </a:extLst>
              </a:tr>
              <a:tr h="211241">
                <a:tc>
                  <a:txBody>
                    <a:bodyPr/>
                    <a:lstStyle/>
                    <a:p>
                      <a:pPr algn="ctr" fontAlgn="ctr"/>
                      <a:r>
                        <a:rPr lang="ko-KR" altLang="en-US" sz="600" b="0" i="0" u="none" strike="noStrike" dirty="0">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72651643"/>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dirty="0" err="1">
                          <a:solidFill>
                            <a:srgbClr val="000000"/>
                          </a:solidFill>
                          <a:effectLst/>
                          <a:latin typeface="맑은 고딕" panose="020B0503020000020004" pitchFamily="50" charset="-127"/>
                          <a:ea typeface="맑은 고딕" panose="020B0503020000020004" pitchFamily="50" charset="-127"/>
                        </a:rPr>
                        <a:t>협상에의한계약</a:t>
                      </a:r>
                      <a:endParaRPr lang="ko-KR" altLang="en-US"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87300127"/>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dirty="0" err="1">
                          <a:solidFill>
                            <a:srgbClr val="000000"/>
                          </a:solidFill>
                          <a:effectLst/>
                          <a:latin typeface="맑은 고딕" panose="020B0503020000020004" pitchFamily="50" charset="-127"/>
                          <a:ea typeface="맑은 고딕" panose="020B0503020000020004" pitchFamily="50" charset="-127"/>
                        </a:rPr>
                        <a:t>협상에의한계약</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dirty="0">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71135603"/>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54825194"/>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4680365"/>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43366867"/>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06306771"/>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02852737"/>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228464"/>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46418659"/>
                  </a:ext>
                </a:extLst>
              </a:tr>
              <a:tr h="211241">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6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6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80483468"/>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7/17)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918533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35</a:t>
            </a:fld>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500688760"/>
              </p:ext>
            </p:extLst>
          </p:nvPr>
        </p:nvGraphicFramePr>
        <p:xfrm>
          <a:off x="772347" y="1300666"/>
          <a:ext cx="8685979" cy="5140192"/>
        </p:xfrm>
        <a:graphic>
          <a:graphicData uri="http://schemas.openxmlformats.org/drawingml/2006/table">
            <a:tbl>
              <a:tblPr/>
              <a:tblGrid>
                <a:gridCol w="395483">
                  <a:extLst>
                    <a:ext uri="{9D8B030D-6E8A-4147-A177-3AD203B41FA5}">
                      <a16:colId xmlns:a16="http://schemas.microsoft.com/office/drawing/2014/main" val="1543913000"/>
                    </a:ext>
                  </a:extLst>
                </a:gridCol>
                <a:gridCol w="476043">
                  <a:extLst>
                    <a:ext uri="{9D8B030D-6E8A-4147-A177-3AD203B41FA5}">
                      <a16:colId xmlns:a16="http://schemas.microsoft.com/office/drawing/2014/main" val="4106076626"/>
                    </a:ext>
                  </a:extLst>
                </a:gridCol>
                <a:gridCol w="1662490">
                  <a:extLst>
                    <a:ext uri="{9D8B030D-6E8A-4147-A177-3AD203B41FA5}">
                      <a16:colId xmlns:a16="http://schemas.microsoft.com/office/drawing/2014/main" val="1664196266"/>
                    </a:ext>
                  </a:extLst>
                </a:gridCol>
                <a:gridCol w="571253">
                  <a:extLst>
                    <a:ext uri="{9D8B030D-6E8A-4147-A177-3AD203B41FA5}">
                      <a16:colId xmlns:a16="http://schemas.microsoft.com/office/drawing/2014/main" val="2221776713"/>
                    </a:ext>
                  </a:extLst>
                </a:gridCol>
                <a:gridCol w="498016">
                  <a:extLst>
                    <a:ext uri="{9D8B030D-6E8A-4147-A177-3AD203B41FA5}">
                      <a16:colId xmlns:a16="http://schemas.microsoft.com/office/drawing/2014/main" val="1881022360"/>
                    </a:ext>
                  </a:extLst>
                </a:gridCol>
                <a:gridCol w="688434">
                  <a:extLst>
                    <a:ext uri="{9D8B030D-6E8A-4147-A177-3AD203B41FA5}">
                      <a16:colId xmlns:a16="http://schemas.microsoft.com/office/drawing/2014/main" val="1301063483"/>
                    </a:ext>
                  </a:extLst>
                </a:gridCol>
                <a:gridCol w="219713">
                  <a:extLst>
                    <a:ext uri="{9D8B030D-6E8A-4147-A177-3AD203B41FA5}">
                      <a16:colId xmlns:a16="http://schemas.microsoft.com/office/drawing/2014/main" val="3011540585"/>
                    </a:ext>
                  </a:extLst>
                </a:gridCol>
                <a:gridCol w="219713">
                  <a:extLst>
                    <a:ext uri="{9D8B030D-6E8A-4147-A177-3AD203B41FA5}">
                      <a16:colId xmlns:a16="http://schemas.microsoft.com/office/drawing/2014/main" val="133522127"/>
                    </a:ext>
                  </a:extLst>
                </a:gridCol>
                <a:gridCol w="219713">
                  <a:extLst>
                    <a:ext uri="{9D8B030D-6E8A-4147-A177-3AD203B41FA5}">
                      <a16:colId xmlns:a16="http://schemas.microsoft.com/office/drawing/2014/main" val="3822175934"/>
                    </a:ext>
                  </a:extLst>
                </a:gridCol>
                <a:gridCol w="219713">
                  <a:extLst>
                    <a:ext uri="{9D8B030D-6E8A-4147-A177-3AD203B41FA5}">
                      <a16:colId xmlns:a16="http://schemas.microsoft.com/office/drawing/2014/main" val="4251634443"/>
                    </a:ext>
                  </a:extLst>
                </a:gridCol>
                <a:gridCol w="219713">
                  <a:extLst>
                    <a:ext uri="{9D8B030D-6E8A-4147-A177-3AD203B41FA5}">
                      <a16:colId xmlns:a16="http://schemas.microsoft.com/office/drawing/2014/main" val="1735817665"/>
                    </a:ext>
                  </a:extLst>
                </a:gridCol>
                <a:gridCol w="219713">
                  <a:extLst>
                    <a:ext uri="{9D8B030D-6E8A-4147-A177-3AD203B41FA5}">
                      <a16:colId xmlns:a16="http://schemas.microsoft.com/office/drawing/2014/main" val="4227053268"/>
                    </a:ext>
                  </a:extLst>
                </a:gridCol>
                <a:gridCol w="219713">
                  <a:extLst>
                    <a:ext uri="{9D8B030D-6E8A-4147-A177-3AD203B41FA5}">
                      <a16:colId xmlns:a16="http://schemas.microsoft.com/office/drawing/2014/main" val="4107097780"/>
                    </a:ext>
                  </a:extLst>
                </a:gridCol>
                <a:gridCol w="219713">
                  <a:extLst>
                    <a:ext uri="{9D8B030D-6E8A-4147-A177-3AD203B41FA5}">
                      <a16:colId xmlns:a16="http://schemas.microsoft.com/office/drawing/2014/main" val="3063527670"/>
                    </a:ext>
                  </a:extLst>
                </a:gridCol>
                <a:gridCol w="219713">
                  <a:extLst>
                    <a:ext uri="{9D8B030D-6E8A-4147-A177-3AD203B41FA5}">
                      <a16:colId xmlns:a16="http://schemas.microsoft.com/office/drawing/2014/main" val="694086690"/>
                    </a:ext>
                  </a:extLst>
                </a:gridCol>
                <a:gridCol w="219713">
                  <a:extLst>
                    <a:ext uri="{9D8B030D-6E8A-4147-A177-3AD203B41FA5}">
                      <a16:colId xmlns:a16="http://schemas.microsoft.com/office/drawing/2014/main" val="57445320"/>
                    </a:ext>
                  </a:extLst>
                </a:gridCol>
                <a:gridCol w="219713">
                  <a:extLst>
                    <a:ext uri="{9D8B030D-6E8A-4147-A177-3AD203B41FA5}">
                      <a16:colId xmlns:a16="http://schemas.microsoft.com/office/drawing/2014/main" val="563828394"/>
                    </a:ext>
                  </a:extLst>
                </a:gridCol>
                <a:gridCol w="219713">
                  <a:extLst>
                    <a:ext uri="{9D8B030D-6E8A-4147-A177-3AD203B41FA5}">
                      <a16:colId xmlns:a16="http://schemas.microsoft.com/office/drawing/2014/main" val="367719531"/>
                    </a:ext>
                  </a:extLst>
                </a:gridCol>
                <a:gridCol w="219713">
                  <a:extLst>
                    <a:ext uri="{9D8B030D-6E8A-4147-A177-3AD203B41FA5}">
                      <a16:colId xmlns:a16="http://schemas.microsoft.com/office/drawing/2014/main" val="2981684120"/>
                    </a:ext>
                  </a:extLst>
                </a:gridCol>
                <a:gridCol w="219713">
                  <a:extLst>
                    <a:ext uri="{9D8B030D-6E8A-4147-A177-3AD203B41FA5}">
                      <a16:colId xmlns:a16="http://schemas.microsoft.com/office/drawing/2014/main" val="2453796802"/>
                    </a:ext>
                  </a:extLst>
                </a:gridCol>
                <a:gridCol w="219713">
                  <a:extLst>
                    <a:ext uri="{9D8B030D-6E8A-4147-A177-3AD203B41FA5}">
                      <a16:colId xmlns:a16="http://schemas.microsoft.com/office/drawing/2014/main" val="1697779437"/>
                    </a:ext>
                  </a:extLst>
                </a:gridCol>
                <a:gridCol w="219713">
                  <a:extLst>
                    <a:ext uri="{9D8B030D-6E8A-4147-A177-3AD203B41FA5}">
                      <a16:colId xmlns:a16="http://schemas.microsoft.com/office/drawing/2014/main" val="2633322421"/>
                    </a:ext>
                  </a:extLst>
                </a:gridCol>
                <a:gridCol w="219713">
                  <a:extLst>
                    <a:ext uri="{9D8B030D-6E8A-4147-A177-3AD203B41FA5}">
                      <a16:colId xmlns:a16="http://schemas.microsoft.com/office/drawing/2014/main" val="3896787625"/>
                    </a:ext>
                  </a:extLst>
                </a:gridCol>
                <a:gridCol w="219713">
                  <a:extLst>
                    <a:ext uri="{9D8B030D-6E8A-4147-A177-3AD203B41FA5}">
                      <a16:colId xmlns:a16="http://schemas.microsoft.com/office/drawing/2014/main" val="2051574132"/>
                    </a:ext>
                  </a:extLst>
                </a:gridCol>
                <a:gridCol w="219713">
                  <a:extLst>
                    <a:ext uri="{9D8B030D-6E8A-4147-A177-3AD203B41FA5}">
                      <a16:colId xmlns:a16="http://schemas.microsoft.com/office/drawing/2014/main" val="919836511"/>
                    </a:ext>
                  </a:extLst>
                </a:gridCol>
                <a:gridCol w="219713">
                  <a:extLst>
                    <a:ext uri="{9D8B030D-6E8A-4147-A177-3AD203B41FA5}">
                      <a16:colId xmlns:a16="http://schemas.microsoft.com/office/drawing/2014/main" val="4036821291"/>
                    </a:ext>
                  </a:extLst>
                </a:gridCol>
              </a:tblGrid>
              <a:tr h="112971">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087324394"/>
                  </a:ext>
                </a:extLst>
              </a:tr>
              <a:tr h="169457">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370021229"/>
                  </a:ext>
                </a:extLst>
              </a:tr>
              <a:tr h="1129710">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견적서제출</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489383385"/>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59969547"/>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45696725"/>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40182465"/>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69996890"/>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9629467"/>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3489183"/>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8703907"/>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6968355"/>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7002131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3909378"/>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27156784"/>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17568213"/>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25134275"/>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종합낙찰제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24018593"/>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99691866"/>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5086919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4352562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74000800"/>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92130539"/>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77910955"/>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70308378"/>
                  </a:ext>
                </a:extLst>
              </a:tr>
              <a:tr h="169457">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35118913"/>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8/17)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788091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36</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337097903"/>
              </p:ext>
            </p:extLst>
          </p:nvPr>
        </p:nvGraphicFramePr>
        <p:xfrm>
          <a:off x="749716" y="1371195"/>
          <a:ext cx="8708612" cy="5069673"/>
        </p:xfrm>
        <a:graphic>
          <a:graphicData uri="http://schemas.openxmlformats.org/drawingml/2006/table">
            <a:tbl>
              <a:tblPr/>
              <a:tblGrid>
                <a:gridCol w="396513">
                  <a:extLst>
                    <a:ext uri="{9D8B030D-6E8A-4147-A177-3AD203B41FA5}">
                      <a16:colId xmlns:a16="http://schemas.microsoft.com/office/drawing/2014/main" val="3499357435"/>
                    </a:ext>
                  </a:extLst>
                </a:gridCol>
                <a:gridCol w="477286">
                  <a:extLst>
                    <a:ext uri="{9D8B030D-6E8A-4147-A177-3AD203B41FA5}">
                      <a16:colId xmlns:a16="http://schemas.microsoft.com/office/drawing/2014/main" val="2247744814"/>
                    </a:ext>
                  </a:extLst>
                </a:gridCol>
                <a:gridCol w="1666827">
                  <a:extLst>
                    <a:ext uri="{9D8B030D-6E8A-4147-A177-3AD203B41FA5}">
                      <a16:colId xmlns:a16="http://schemas.microsoft.com/office/drawing/2014/main" val="859757071"/>
                    </a:ext>
                  </a:extLst>
                </a:gridCol>
                <a:gridCol w="572743">
                  <a:extLst>
                    <a:ext uri="{9D8B030D-6E8A-4147-A177-3AD203B41FA5}">
                      <a16:colId xmlns:a16="http://schemas.microsoft.com/office/drawing/2014/main" val="753915676"/>
                    </a:ext>
                  </a:extLst>
                </a:gridCol>
                <a:gridCol w="499315">
                  <a:extLst>
                    <a:ext uri="{9D8B030D-6E8A-4147-A177-3AD203B41FA5}">
                      <a16:colId xmlns:a16="http://schemas.microsoft.com/office/drawing/2014/main" val="3056733420"/>
                    </a:ext>
                  </a:extLst>
                </a:gridCol>
                <a:gridCol w="690228">
                  <a:extLst>
                    <a:ext uri="{9D8B030D-6E8A-4147-A177-3AD203B41FA5}">
                      <a16:colId xmlns:a16="http://schemas.microsoft.com/office/drawing/2014/main" val="290384401"/>
                    </a:ext>
                  </a:extLst>
                </a:gridCol>
                <a:gridCol w="220285">
                  <a:extLst>
                    <a:ext uri="{9D8B030D-6E8A-4147-A177-3AD203B41FA5}">
                      <a16:colId xmlns:a16="http://schemas.microsoft.com/office/drawing/2014/main" val="3208178115"/>
                    </a:ext>
                  </a:extLst>
                </a:gridCol>
                <a:gridCol w="220285">
                  <a:extLst>
                    <a:ext uri="{9D8B030D-6E8A-4147-A177-3AD203B41FA5}">
                      <a16:colId xmlns:a16="http://schemas.microsoft.com/office/drawing/2014/main" val="1799719924"/>
                    </a:ext>
                  </a:extLst>
                </a:gridCol>
                <a:gridCol w="220285">
                  <a:extLst>
                    <a:ext uri="{9D8B030D-6E8A-4147-A177-3AD203B41FA5}">
                      <a16:colId xmlns:a16="http://schemas.microsoft.com/office/drawing/2014/main" val="2277118054"/>
                    </a:ext>
                  </a:extLst>
                </a:gridCol>
                <a:gridCol w="220285">
                  <a:extLst>
                    <a:ext uri="{9D8B030D-6E8A-4147-A177-3AD203B41FA5}">
                      <a16:colId xmlns:a16="http://schemas.microsoft.com/office/drawing/2014/main" val="497853695"/>
                    </a:ext>
                  </a:extLst>
                </a:gridCol>
                <a:gridCol w="220285">
                  <a:extLst>
                    <a:ext uri="{9D8B030D-6E8A-4147-A177-3AD203B41FA5}">
                      <a16:colId xmlns:a16="http://schemas.microsoft.com/office/drawing/2014/main" val="3722184305"/>
                    </a:ext>
                  </a:extLst>
                </a:gridCol>
                <a:gridCol w="220285">
                  <a:extLst>
                    <a:ext uri="{9D8B030D-6E8A-4147-A177-3AD203B41FA5}">
                      <a16:colId xmlns:a16="http://schemas.microsoft.com/office/drawing/2014/main" val="2204244308"/>
                    </a:ext>
                  </a:extLst>
                </a:gridCol>
                <a:gridCol w="220285">
                  <a:extLst>
                    <a:ext uri="{9D8B030D-6E8A-4147-A177-3AD203B41FA5}">
                      <a16:colId xmlns:a16="http://schemas.microsoft.com/office/drawing/2014/main" val="2616946798"/>
                    </a:ext>
                  </a:extLst>
                </a:gridCol>
                <a:gridCol w="220285">
                  <a:extLst>
                    <a:ext uri="{9D8B030D-6E8A-4147-A177-3AD203B41FA5}">
                      <a16:colId xmlns:a16="http://schemas.microsoft.com/office/drawing/2014/main" val="106401101"/>
                    </a:ext>
                  </a:extLst>
                </a:gridCol>
                <a:gridCol w="220285">
                  <a:extLst>
                    <a:ext uri="{9D8B030D-6E8A-4147-A177-3AD203B41FA5}">
                      <a16:colId xmlns:a16="http://schemas.microsoft.com/office/drawing/2014/main" val="3767828005"/>
                    </a:ext>
                  </a:extLst>
                </a:gridCol>
                <a:gridCol w="220285">
                  <a:extLst>
                    <a:ext uri="{9D8B030D-6E8A-4147-A177-3AD203B41FA5}">
                      <a16:colId xmlns:a16="http://schemas.microsoft.com/office/drawing/2014/main" val="3139686350"/>
                    </a:ext>
                  </a:extLst>
                </a:gridCol>
                <a:gridCol w="220285">
                  <a:extLst>
                    <a:ext uri="{9D8B030D-6E8A-4147-A177-3AD203B41FA5}">
                      <a16:colId xmlns:a16="http://schemas.microsoft.com/office/drawing/2014/main" val="3254861139"/>
                    </a:ext>
                  </a:extLst>
                </a:gridCol>
                <a:gridCol w="220285">
                  <a:extLst>
                    <a:ext uri="{9D8B030D-6E8A-4147-A177-3AD203B41FA5}">
                      <a16:colId xmlns:a16="http://schemas.microsoft.com/office/drawing/2014/main" val="434866719"/>
                    </a:ext>
                  </a:extLst>
                </a:gridCol>
                <a:gridCol w="220285">
                  <a:extLst>
                    <a:ext uri="{9D8B030D-6E8A-4147-A177-3AD203B41FA5}">
                      <a16:colId xmlns:a16="http://schemas.microsoft.com/office/drawing/2014/main" val="4065900447"/>
                    </a:ext>
                  </a:extLst>
                </a:gridCol>
                <a:gridCol w="220285">
                  <a:extLst>
                    <a:ext uri="{9D8B030D-6E8A-4147-A177-3AD203B41FA5}">
                      <a16:colId xmlns:a16="http://schemas.microsoft.com/office/drawing/2014/main" val="3412386170"/>
                    </a:ext>
                  </a:extLst>
                </a:gridCol>
                <a:gridCol w="220285">
                  <a:extLst>
                    <a:ext uri="{9D8B030D-6E8A-4147-A177-3AD203B41FA5}">
                      <a16:colId xmlns:a16="http://schemas.microsoft.com/office/drawing/2014/main" val="609485588"/>
                    </a:ext>
                  </a:extLst>
                </a:gridCol>
                <a:gridCol w="220285">
                  <a:extLst>
                    <a:ext uri="{9D8B030D-6E8A-4147-A177-3AD203B41FA5}">
                      <a16:colId xmlns:a16="http://schemas.microsoft.com/office/drawing/2014/main" val="3681112611"/>
                    </a:ext>
                  </a:extLst>
                </a:gridCol>
                <a:gridCol w="220285">
                  <a:extLst>
                    <a:ext uri="{9D8B030D-6E8A-4147-A177-3AD203B41FA5}">
                      <a16:colId xmlns:a16="http://schemas.microsoft.com/office/drawing/2014/main" val="1823145724"/>
                    </a:ext>
                  </a:extLst>
                </a:gridCol>
                <a:gridCol w="220285">
                  <a:extLst>
                    <a:ext uri="{9D8B030D-6E8A-4147-A177-3AD203B41FA5}">
                      <a16:colId xmlns:a16="http://schemas.microsoft.com/office/drawing/2014/main" val="3267098390"/>
                    </a:ext>
                  </a:extLst>
                </a:gridCol>
                <a:gridCol w="220285">
                  <a:extLst>
                    <a:ext uri="{9D8B030D-6E8A-4147-A177-3AD203B41FA5}">
                      <a16:colId xmlns:a16="http://schemas.microsoft.com/office/drawing/2014/main" val="2805030424"/>
                    </a:ext>
                  </a:extLst>
                </a:gridCol>
                <a:gridCol w="220285">
                  <a:extLst>
                    <a:ext uri="{9D8B030D-6E8A-4147-A177-3AD203B41FA5}">
                      <a16:colId xmlns:a16="http://schemas.microsoft.com/office/drawing/2014/main" val="2894440501"/>
                    </a:ext>
                  </a:extLst>
                </a:gridCol>
              </a:tblGrid>
              <a:tr h="107866">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977988612"/>
                  </a:ext>
                </a:extLst>
              </a:tr>
              <a:tr h="161798">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580302520"/>
                  </a:ext>
                </a:extLst>
              </a:tr>
              <a:tr h="1078655">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698803094"/>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53566272"/>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20969298"/>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81336303"/>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36339713"/>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2754167"/>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86431459"/>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04081725"/>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36919367"/>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89518735"/>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2995085"/>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38827123"/>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8573355"/>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57380458"/>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17982293"/>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4139689"/>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15930709"/>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25026876"/>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9923307"/>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73296278"/>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44280092"/>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72785982"/>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89812872"/>
                  </a:ext>
                </a:extLst>
              </a:tr>
              <a:tr h="16179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00466412"/>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9/17)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37956164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37</a:t>
            </a:fld>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1670278615"/>
              </p:ext>
            </p:extLst>
          </p:nvPr>
        </p:nvGraphicFramePr>
        <p:xfrm>
          <a:off x="749716" y="1355726"/>
          <a:ext cx="8708604" cy="5085134"/>
        </p:xfrm>
        <a:graphic>
          <a:graphicData uri="http://schemas.openxmlformats.org/drawingml/2006/table">
            <a:tbl>
              <a:tblPr/>
              <a:tblGrid>
                <a:gridCol w="396514">
                  <a:extLst>
                    <a:ext uri="{9D8B030D-6E8A-4147-A177-3AD203B41FA5}">
                      <a16:colId xmlns:a16="http://schemas.microsoft.com/office/drawing/2014/main" val="3933451302"/>
                    </a:ext>
                  </a:extLst>
                </a:gridCol>
                <a:gridCol w="477286">
                  <a:extLst>
                    <a:ext uri="{9D8B030D-6E8A-4147-A177-3AD203B41FA5}">
                      <a16:colId xmlns:a16="http://schemas.microsoft.com/office/drawing/2014/main" val="2026413726"/>
                    </a:ext>
                  </a:extLst>
                </a:gridCol>
                <a:gridCol w="1666824">
                  <a:extLst>
                    <a:ext uri="{9D8B030D-6E8A-4147-A177-3AD203B41FA5}">
                      <a16:colId xmlns:a16="http://schemas.microsoft.com/office/drawing/2014/main" val="121796913"/>
                    </a:ext>
                  </a:extLst>
                </a:gridCol>
                <a:gridCol w="572742">
                  <a:extLst>
                    <a:ext uri="{9D8B030D-6E8A-4147-A177-3AD203B41FA5}">
                      <a16:colId xmlns:a16="http://schemas.microsoft.com/office/drawing/2014/main" val="3341479284"/>
                    </a:ext>
                  </a:extLst>
                </a:gridCol>
                <a:gridCol w="499312">
                  <a:extLst>
                    <a:ext uri="{9D8B030D-6E8A-4147-A177-3AD203B41FA5}">
                      <a16:colId xmlns:a16="http://schemas.microsoft.com/office/drawing/2014/main" val="123379510"/>
                    </a:ext>
                  </a:extLst>
                </a:gridCol>
                <a:gridCol w="690226">
                  <a:extLst>
                    <a:ext uri="{9D8B030D-6E8A-4147-A177-3AD203B41FA5}">
                      <a16:colId xmlns:a16="http://schemas.microsoft.com/office/drawing/2014/main" val="1438978216"/>
                    </a:ext>
                  </a:extLst>
                </a:gridCol>
                <a:gridCol w="220285">
                  <a:extLst>
                    <a:ext uri="{9D8B030D-6E8A-4147-A177-3AD203B41FA5}">
                      <a16:colId xmlns:a16="http://schemas.microsoft.com/office/drawing/2014/main" val="1710652841"/>
                    </a:ext>
                  </a:extLst>
                </a:gridCol>
                <a:gridCol w="220285">
                  <a:extLst>
                    <a:ext uri="{9D8B030D-6E8A-4147-A177-3AD203B41FA5}">
                      <a16:colId xmlns:a16="http://schemas.microsoft.com/office/drawing/2014/main" val="532360089"/>
                    </a:ext>
                  </a:extLst>
                </a:gridCol>
                <a:gridCol w="220285">
                  <a:extLst>
                    <a:ext uri="{9D8B030D-6E8A-4147-A177-3AD203B41FA5}">
                      <a16:colId xmlns:a16="http://schemas.microsoft.com/office/drawing/2014/main" val="564924943"/>
                    </a:ext>
                  </a:extLst>
                </a:gridCol>
                <a:gridCol w="220285">
                  <a:extLst>
                    <a:ext uri="{9D8B030D-6E8A-4147-A177-3AD203B41FA5}">
                      <a16:colId xmlns:a16="http://schemas.microsoft.com/office/drawing/2014/main" val="1339127200"/>
                    </a:ext>
                  </a:extLst>
                </a:gridCol>
                <a:gridCol w="220285">
                  <a:extLst>
                    <a:ext uri="{9D8B030D-6E8A-4147-A177-3AD203B41FA5}">
                      <a16:colId xmlns:a16="http://schemas.microsoft.com/office/drawing/2014/main" val="3927960388"/>
                    </a:ext>
                  </a:extLst>
                </a:gridCol>
                <a:gridCol w="220285">
                  <a:extLst>
                    <a:ext uri="{9D8B030D-6E8A-4147-A177-3AD203B41FA5}">
                      <a16:colId xmlns:a16="http://schemas.microsoft.com/office/drawing/2014/main" val="499092673"/>
                    </a:ext>
                  </a:extLst>
                </a:gridCol>
                <a:gridCol w="220285">
                  <a:extLst>
                    <a:ext uri="{9D8B030D-6E8A-4147-A177-3AD203B41FA5}">
                      <a16:colId xmlns:a16="http://schemas.microsoft.com/office/drawing/2014/main" val="3699097276"/>
                    </a:ext>
                  </a:extLst>
                </a:gridCol>
                <a:gridCol w="220285">
                  <a:extLst>
                    <a:ext uri="{9D8B030D-6E8A-4147-A177-3AD203B41FA5}">
                      <a16:colId xmlns:a16="http://schemas.microsoft.com/office/drawing/2014/main" val="2983263386"/>
                    </a:ext>
                  </a:extLst>
                </a:gridCol>
                <a:gridCol w="220285">
                  <a:extLst>
                    <a:ext uri="{9D8B030D-6E8A-4147-A177-3AD203B41FA5}">
                      <a16:colId xmlns:a16="http://schemas.microsoft.com/office/drawing/2014/main" val="290768777"/>
                    </a:ext>
                  </a:extLst>
                </a:gridCol>
                <a:gridCol w="220285">
                  <a:extLst>
                    <a:ext uri="{9D8B030D-6E8A-4147-A177-3AD203B41FA5}">
                      <a16:colId xmlns:a16="http://schemas.microsoft.com/office/drawing/2014/main" val="1912436509"/>
                    </a:ext>
                  </a:extLst>
                </a:gridCol>
                <a:gridCol w="220285">
                  <a:extLst>
                    <a:ext uri="{9D8B030D-6E8A-4147-A177-3AD203B41FA5}">
                      <a16:colId xmlns:a16="http://schemas.microsoft.com/office/drawing/2014/main" val="3153631888"/>
                    </a:ext>
                  </a:extLst>
                </a:gridCol>
                <a:gridCol w="220285">
                  <a:extLst>
                    <a:ext uri="{9D8B030D-6E8A-4147-A177-3AD203B41FA5}">
                      <a16:colId xmlns:a16="http://schemas.microsoft.com/office/drawing/2014/main" val="2856977765"/>
                    </a:ext>
                  </a:extLst>
                </a:gridCol>
                <a:gridCol w="220285">
                  <a:extLst>
                    <a:ext uri="{9D8B030D-6E8A-4147-A177-3AD203B41FA5}">
                      <a16:colId xmlns:a16="http://schemas.microsoft.com/office/drawing/2014/main" val="1105349270"/>
                    </a:ext>
                  </a:extLst>
                </a:gridCol>
                <a:gridCol w="220285">
                  <a:extLst>
                    <a:ext uri="{9D8B030D-6E8A-4147-A177-3AD203B41FA5}">
                      <a16:colId xmlns:a16="http://schemas.microsoft.com/office/drawing/2014/main" val="3827825268"/>
                    </a:ext>
                  </a:extLst>
                </a:gridCol>
                <a:gridCol w="220285">
                  <a:extLst>
                    <a:ext uri="{9D8B030D-6E8A-4147-A177-3AD203B41FA5}">
                      <a16:colId xmlns:a16="http://schemas.microsoft.com/office/drawing/2014/main" val="20939279"/>
                    </a:ext>
                  </a:extLst>
                </a:gridCol>
                <a:gridCol w="220285">
                  <a:extLst>
                    <a:ext uri="{9D8B030D-6E8A-4147-A177-3AD203B41FA5}">
                      <a16:colId xmlns:a16="http://schemas.microsoft.com/office/drawing/2014/main" val="1734982996"/>
                    </a:ext>
                  </a:extLst>
                </a:gridCol>
                <a:gridCol w="220285">
                  <a:extLst>
                    <a:ext uri="{9D8B030D-6E8A-4147-A177-3AD203B41FA5}">
                      <a16:colId xmlns:a16="http://schemas.microsoft.com/office/drawing/2014/main" val="1762964623"/>
                    </a:ext>
                  </a:extLst>
                </a:gridCol>
                <a:gridCol w="220285">
                  <a:extLst>
                    <a:ext uri="{9D8B030D-6E8A-4147-A177-3AD203B41FA5}">
                      <a16:colId xmlns:a16="http://schemas.microsoft.com/office/drawing/2014/main" val="3631224258"/>
                    </a:ext>
                  </a:extLst>
                </a:gridCol>
                <a:gridCol w="220285">
                  <a:extLst>
                    <a:ext uri="{9D8B030D-6E8A-4147-A177-3AD203B41FA5}">
                      <a16:colId xmlns:a16="http://schemas.microsoft.com/office/drawing/2014/main" val="25466347"/>
                    </a:ext>
                  </a:extLst>
                </a:gridCol>
                <a:gridCol w="220285">
                  <a:extLst>
                    <a:ext uri="{9D8B030D-6E8A-4147-A177-3AD203B41FA5}">
                      <a16:colId xmlns:a16="http://schemas.microsoft.com/office/drawing/2014/main" val="1073531194"/>
                    </a:ext>
                  </a:extLst>
                </a:gridCol>
              </a:tblGrid>
              <a:tr h="101703">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516921571"/>
                  </a:ext>
                </a:extLst>
              </a:tr>
              <a:tr h="152554">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4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073213734"/>
                  </a:ext>
                </a:extLst>
              </a:tr>
              <a:tr h="1017027">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낙찰방법</a:t>
                      </a:r>
                      <a:endParaRPr lang="ko-KR" altLang="en-US" sz="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개찰결과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09695846"/>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6571967"/>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53822870"/>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80063117"/>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70055333"/>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20292022"/>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9929360"/>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15946699"/>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36704063"/>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2624631"/>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46357275"/>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85631025"/>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9780935"/>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71193449"/>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76314218"/>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83166153"/>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88120766"/>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94143443"/>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3520523"/>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3832811"/>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50193491"/>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72832975"/>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98873788"/>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84587479"/>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1602284"/>
                  </a:ext>
                </a:extLst>
              </a:tr>
              <a:tr h="15255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38626280"/>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10/17)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2392576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38</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928675218"/>
              </p:ext>
            </p:extLst>
          </p:nvPr>
        </p:nvGraphicFramePr>
        <p:xfrm>
          <a:off x="749716" y="1300666"/>
          <a:ext cx="8708612" cy="5140179"/>
        </p:xfrm>
        <a:graphic>
          <a:graphicData uri="http://schemas.openxmlformats.org/drawingml/2006/table">
            <a:tbl>
              <a:tblPr/>
              <a:tblGrid>
                <a:gridCol w="396513">
                  <a:extLst>
                    <a:ext uri="{9D8B030D-6E8A-4147-A177-3AD203B41FA5}">
                      <a16:colId xmlns:a16="http://schemas.microsoft.com/office/drawing/2014/main" val="2513838329"/>
                    </a:ext>
                  </a:extLst>
                </a:gridCol>
                <a:gridCol w="477286">
                  <a:extLst>
                    <a:ext uri="{9D8B030D-6E8A-4147-A177-3AD203B41FA5}">
                      <a16:colId xmlns:a16="http://schemas.microsoft.com/office/drawing/2014/main" val="1409385440"/>
                    </a:ext>
                  </a:extLst>
                </a:gridCol>
                <a:gridCol w="1666827">
                  <a:extLst>
                    <a:ext uri="{9D8B030D-6E8A-4147-A177-3AD203B41FA5}">
                      <a16:colId xmlns:a16="http://schemas.microsoft.com/office/drawing/2014/main" val="1066837644"/>
                    </a:ext>
                  </a:extLst>
                </a:gridCol>
                <a:gridCol w="572743">
                  <a:extLst>
                    <a:ext uri="{9D8B030D-6E8A-4147-A177-3AD203B41FA5}">
                      <a16:colId xmlns:a16="http://schemas.microsoft.com/office/drawing/2014/main" val="3986159947"/>
                    </a:ext>
                  </a:extLst>
                </a:gridCol>
                <a:gridCol w="499315">
                  <a:extLst>
                    <a:ext uri="{9D8B030D-6E8A-4147-A177-3AD203B41FA5}">
                      <a16:colId xmlns:a16="http://schemas.microsoft.com/office/drawing/2014/main" val="358585102"/>
                    </a:ext>
                  </a:extLst>
                </a:gridCol>
                <a:gridCol w="690228">
                  <a:extLst>
                    <a:ext uri="{9D8B030D-6E8A-4147-A177-3AD203B41FA5}">
                      <a16:colId xmlns:a16="http://schemas.microsoft.com/office/drawing/2014/main" val="2826485685"/>
                    </a:ext>
                  </a:extLst>
                </a:gridCol>
                <a:gridCol w="220285">
                  <a:extLst>
                    <a:ext uri="{9D8B030D-6E8A-4147-A177-3AD203B41FA5}">
                      <a16:colId xmlns:a16="http://schemas.microsoft.com/office/drawing/2014/main" val="922981245"/>
                    </a:ext>
                  </a:extLst>
                </a:gridCol>
                <a:gridCol w="220285">
                  <a:extLst>
                    <a:ext uri="{9D8B030D-6E8A-4147-A177-3AD203B41FA5}">
                      <a16:colId xmlns:a16="http://schemas.microsoft.com/office/drawing/2014/main" val="1146784200"/>
                    </a:ext>
                  </a:extLst>
                </a:gridCol>
                <a:gridCol w="220285">
                  <a:extLst>
                    <a:ext uri="{9D8B030D-6E8A-4147-A177-3AD203B41FA5}">
                      <a16:colId xmlns:a16="http://schemas.microsoft.com/office/drawing/2014/main" val="310367470"/>
                    </a:ext>
                  </a:extLst>
                </a:gridCol>
                <a:gridCol w="220285">
                  <a:extLst>
                    <a:ext uri="{9D8B030D-6E8A-4147-A177-3AD203B41FA5}">
                      <a16:colId xmlns:a16="http://schemas.microsoft.com/office/drawing/2014/main" val="666489609"/>
                    </a:ext>
                  </a:extLst>
                </a:gridCol>
                <a:gridCol w="220285">
                  <a:extLst>
                    <a:ext uri="{9D8B030D-6E8A-4147-A177-3AD203B41FA5}">
                      <a16:colId xmlns:a16="http://schemas.microsoft.com/office/drawing/2014/main" val="878850310"/>
                    </a:ext>
                  </a:extLst>
                </a:gridCol>
                <a:gridCol w="220285">
                  <a:extLst>
                    <a:ext uri="{9D8B030D-6E8A-4147-A177-3AD203B41FA5}">
                      <a16:colId xmlns:a16="http://schemas.microsoft.com/office/drawing/2014/main" val="2550366742"/>
                    </a:ext>
                  </a:extLst>
                </a:gridCol>
                <a:gridCol w="220285">
                  <a:extLst>
                    <a:ext uri="{9D8B030D-6E8A-4147-A177-3AD203B41FA5}">
                      <a16:colId xmlns:a16="http://schemas.microsoft.com/office/drawing/2014/main" val="1878528438"/>
                    </a:ext>
                  </a:extLst>
                </a:gridCol>
                <a:gridCol w="220285">
                  <a:extLst>
                    <a:ext uri="{9D8B030D-6E8A-4147-A177-3AD203B41FA5}">
                      <a16:colId xmlns:a16="http://schemas.microsoft.com/office/drawing/2014/main" val="2503565731"/>
                    </a:ext>
                  </a:extLst>
                </a:gridCol>
                <a:gridCol w="220285">
                  <a:extLst>
                    <a:ext uri="{9D8B030D-6E8A-4147-A177-3AD203B41FA5}">
                      <a16:colId xmlns:a16="http://schemas.microsoft.com/office/drawing/2014/main" val="277513829"/>
                    </a:ext>
                  </a:extLst>
                </a:gridCol>
                <a:gridCol w="220285">
                  <a:extLst>
                    <a:ext uri="{9D8B030D-6E8A-4147-A177-3AD203B41FA5}">
                      <a16:colId xmlns:a16="http://schemas.microsoft.com/office/drawing/2014/main" val="3527605125"/>
                    </a:ext>
                  </a:extLst>
                </a:gridCol>
                <a:gridCol w="220285">
                  <a:extLst>
                    <a:ext uri="{9D8B030D-6E8A-4147-A177-3AD203B41FA5}">
                      <a16:colId xmlns:a16="http://schemas.microsoft.com/office/drawing/2014/main" val="3739893901"/>
                    </a:ext>
                  </a:extLst>
                </a:gridCol>
                <a:gridCol w="220285">
                  <a:extLst>
                    <a:ext uri="{9D8B030D-6E8A-4147-A177-3AD203B41FA5}">
                      <a16:colId xmlns:a16="http://schemas.microsoft.com/office/drawing/2014/main" val="3782670757"/>
                    </a:ext>
                  </a:extLst>
                </a:gridCol>
                <a:gridCol w="220285">
                  <a:extLst>
                    <a:ext uri="{9D8B030D-6E8A-4147-A177-3AD203B41FA5}">
                      <a16:colId xmlns:a16="http://schemas.microsoft.com/office/drawing/2014/main" val="3604778287"/>
                    </a:ext>
                  </a:extLst>
                </a:gridCol>
                <a:gridCol w="220285">
                  <a:extLst>
                    <a:ext uri="{9D8B030D-6E8A-4147-A177-3AD203B41FA5}">
                      <a16:colId xmlns:a16="http://schemas.microsoft.com/office/drawing/2014/main" val="3053983850"/>
                    </a:ext>
                  </a:extLst>
                </a:gridCol>
                <a:gridCol w="220285">
                  <a:extLst>
                    <a:ext uri="{9D8B030D-6E8A-4147-A177-3AD203B41FA5}">
                      <a16:colId xmlns:a16="http://schemas.microsoft.com/office/drawing/2014/main" val="2738477093"/>
                    </a:ext>
                  </a:extLst>
                </a:gridCol>
                <a:gridCol w="220285">
                  <a:extLst>
                    <a:ext uri="{9D8B030D-6E8A-4147-A177-3AD203B41FA5}">
                      <a16:colId xmlns:a16="http://schemas.microsoft.com/office/drawing/2014/main" val="2625054758"/>
                    </a:ext>
                  </a:extLst>
                </a:gridCol>
                <a:gridCol w="220285">
                  <a:extLst>
                    <a:ext uri="{9D8B030D-6E8A-4147-A177-3AD203B41FA5}">
                      <a16:colId xmlns:a16="http://schemas.microsoft.com/office/drawing/2014/main" val="3567530573"/>
                    </a:ext>
                  </a:extLst>
                </a:gridCol>
                <a:gridCol w="220285">
                  <a:extLst>
                    <a:ext uri="{9D8B030D-6E8A-4147-A177-3AD203B41FA5}">
                      <a16:colId xmlns:a16="http://schemas.microsoft.com/office/drawing/2014/main" val="450761491"/>
                    </a:ext>
                  </a:extLst>
                </a:gridCol>
                <a:gridCol w="220285">
                  <a:extLst>
                    <a:ext uri="{9D8B030D-6E8A-4147-A177-3AD203B41FA5}">
                      <a16:colId xmlns:a16="http://schemas.microsoft.com/office/drawing/2014/main" val="3621225418"/>
                    </a:ext>
                  </a:extLst>
                </a:gridCol>
                <a:gridCol w="220285">
                  <a:extLst>
                    <a:ext uri="{9D8B030D-6E8A-4147-A177-3AD203B41FA5}">
                      <a16:colId xmlns:a16="http://schemas.microsoft.com/office/drawing/2014/main" val="489569786"/>
                    </a:ext>
                  </a:extLst>
                </a:gridCol>
              </a:tblGrid>
              <a:tr h="109366">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213709921"/>
                  </a:ext>
                </a:extLst>
              </a:tr>
              <a:tr h="164048">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884344539"/>
                  </a:ext>
                </a:extLst>
              </a:tr>
              <a:tr h="109366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견적서취소</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개찰결과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4283750144"/>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418508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49759326"/>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13269929"/>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9473080"/>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37413330"/>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268331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74675190"/>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9554525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5645709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협상에의한계약</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0976186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0587954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85276354"/>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06816063"/>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4022042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01905156"/>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동시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6353894"/>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4898955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7374115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340076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5040552"/>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855580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단계경쟁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분리</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_</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9911166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49240799"/>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11/17)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17571690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39</a:t>
            </a:fld>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844924504"/>
              </p:ext>
            </p:extLst>
          </p:nvPr>
        </p:nvGraphicFramePr>
        <p:xfrm>
          <a:off x="749722" y="1300673"/>
          <a:ext cx="8708603" cy="5140183"/>
        </p:xfrm>
        <a:graphic>
          <a:graphicData uri="http://schemas.openxmlformats.org/drawingml/2006/table">
            <a:tbl>
              <a:tblPr/>
              <a:tblGrid>
                <a:gridCol w="396514">
                  <a:extLst>
                    <a:ext uri="{9D8B030D-6E8A-4147-A177-3AD203B41FA5}">
                      <a16:colId xmlns:a16="http://schemas.microsoft.com/office/drawing/2014/main" val="4083620899"/>
                    </a:ext>
                  </a:extLst>
                </a:gridCol>
                <a:gridCol w="477284">
                  <a:extLst>
                    <a:ext uri="{9D8B030D-6E8A-4147-A177-3AD203B41FA5}">
                      <a16:colId xmlns:a16="http://schemas.microsoft.com/office/drawing/2014/main" val="2266590676"/>
                    </a:ext>
                  </a:extLst>
                </a:gridCol>
                <a:gridCol w="1666824">
                  <a:extLst>
                    <a:ext uri="{9D8B030D-6E8A-4147-A177-3AD203B41FA5}">
                      <a16:colId xmlns:a16="http://schemas.microsoft.com/office/drawing/2014/main" val="2309123236"/>
                    </a:ext>
                  </a:extLst>
                </a:gridCol>
                <a:gridCol w="572740">
                  <a:extLst>
                    <a:ext uri="{9D8B030D-6E8A-4147-A177-3AD203B41FA5}">
                      <a16:colId xmlns:a16="http://schemas.microsoft.com/office/drawing/2014/main" val="4159230375"/>
                    </a:ext>
                  </a:extLst>
                </a:gridCol>
                <a:gridCol w="499314">
                  <a:extLst>
                    <a:ext uri="{9D8B030D-6E8A-4147-A177-3AD203B41FA5}">
                      <a16:colId xmlns:a16="http://schemas.microsoft.com/office/drawing/2014/main" val="1019571356"/>
                    </a:ext>
                  </a:extLst>
                </a:gridCol>
                <a:gridCol w="690227">
                  <a:extLst>
                    <a:ext uri="{9D8B030D-6E8A-4147-A177-3AD203B41FA5}">
                      <a16:colId xmlns:a16="http://schemas.microsoft.com/office/drawing/2014/main" val="4174290617"/>
                    </a:ext>
                  </a:extLst>
                </a:gridCol>
                <a:gridCol w="220285">
                  <a:extLst>
                    <a:ext uri="{9D8B030D-6E8A-4147-A177-3AD203B41FA5}">
                      <a16:colId xmlns:a16="http://schemas.microsoft.com/office/drawing/2014/main" val="2925139562"/>
                    </a:ext>
                  </a:extLst>
                </a:gridCol>
                <a:gridCol w="220285">
                  <a:extLst>
                    <a:ext uri="{9D8B030D-6E8A-4147-A177-3AD203B41FA5}">
                      <a16:colId xmlns:a16="http://schemas.microsoft.com/office/drawing/2014/main" val="684332968"/>
                    </a:ext>
                  </a:extLst>
                </a:gridCol>
                <a:gridCol w="220285">
                  <a:extLst>
                    <a:ext uri="{9D8B030D-6E8A-4147-A177-3AD203B41FA5}">
                      <a16:colId xmlns:a16="http://schemas.microsoft.com/office/drawing/2014/main" val="2301084854"/>
                    </a:ext>
                  </a:extLst>
                </a:gridCol>
                <a:gridCol w="220285">
                  <a:extLst>
                    <a:ext uri="{9D8B030D-6E8A-4147-A177-3AD203B41FA5}">
                      <a16:colId xmlns:a16="http://schemas.microsoft.com/office/drawing/2014/main" val="1299625467"/>
                    </a:ext>
                  </a:extLst>
                </a:gridCol>
                <a:gridCol w="220285">
                  <a:extLst>
                    <a:ext uri="{9D8B030D-6E8A-4147-A177-3AD203B41FA5}">
                      <a16:colId xmlns:a16="http://schemas.microsoft.com/office/drawing/2014/main" val="1324538530"/>
                    </a:ext>
                  </a:extLst>
                </a:gridCol>
                <a:gridCol w="220285">
                  <a:extLst>
                    <a:ext uri="{9D8B030D-6E8A-4147-A177-3AD203B41FA5}">
                      <a16:colId xmlns:a16="http://schemas.microsoft.com/office/drawing/2014/main" val="1344075863"/>
                    </a:ext>
                  </a:extLst>
                </a:gridCol>
                <a:gridCol w="220285">
                  <a:extLst>
                    <a:ext uri="{9D8B030D-6E8A-4147-A177-3AD203B41FA5}">
                      <a16:colId xmlns:a16="http://schemas.microsoft.com/office/drawing/2014/main" val="3121773448"/>
                    </a:ext>
                  </a:extLst>
                </a:gridCol>
                <a:gridCol w="220285">
                  <a:extLst>
                    <a:ext uri="{9D8B030D-6E8A-4147-A177-3AD203B41FA5}">
                      <a16:colId xmlns:a16="http://schemas.microsoft.com/office/drawing/2014/main" val="1454911183"/>
                    </a:ext>
                  </a:extLst>
                </a:gridCol>
                <a:gridCol w="220285">
                  <a:extLst>
                    <a:ext uri="{9D8B030D-6E8A-4147-A177-3AD203B41FA5}">
                      <a16:colId xmlns:a16="http://schemas.microsoft.com/office/drawing/2014/main" val="954448154"/>
                    </a:ext>
                  </a:extLst>
                </a:gridCol>
                <a:gridCol w="220285">
                  <a:extLst>
                    <a:ext uri="{9D8B030D-6E8A-4147-A177-3AD203B41FA5}">
                      <a16:colId xmlns:a16="http://schemas.microsoft.com/office/drawing/2014/main" val="2756321527"/>
                    </a:ext>
                  </a:extLst>
                </a:gridCol>
                <a:gridCol w="220285">
                  <a:extLst>
                    <a:ext uri="{9D8B030D-6E8A-4147-A177-3AD203B41FA5}">
                      <a16:colId xmlns:a16="http://schemas.microsoft.com/office/drawing/2014/main" val="3967941497"/>
                    </a:ext>
                  </a:extLst>
                </a:gridCol>
                <a:gridCol w="220285">
                  <a:extLst>
                    <a:ext uri="{9D8B030D-6E8A-4147-A177-3AD203B41FA5}">
                      <a16:colId xmlns:a16="http://schemas.microsoft.com/office/drawing/2014/main" val="3589708757"/>
                    </a:ext>
                  </a:extLst>
                </a:gridCol>
                <a:gridCol w="220285">
                  <a:extLst>
                    <a:ext uri="{9D8B030D-6E8A-4147-A177-3AD203B41FA5}">
                      <a16:colId xmlns:a16="http://schemas.microsoft.com/office/drawing/2014/main" val="2669022079"/>
                    </a:ext>
                  </a:extLst>
                </a:gridCol>
                <a:gridCol w="220285">
                  <a:extLst>
                    <a:ext uri="{9D8B030D-6E8A-4147-A177-3AD203B41FA5}">
                      <a16:colId xmlns:a16="http://schemas.microsoft.com/office/drawing/2014/main" val="1817908858"/>
                    </a:ext>
                  </a:extLst>
                </a:gridCol>
                <a:gridCol w="220285">
                  <a:extLst>
                    <a:ext uri="{9D8B030D-6E8A-4147-A177-3AD203B41FA5}">
                      <a16:colId xmlns:a16="http://schemas.microsoft.com/office/drawing/2014/main" val="912990510"/>
                    </a:ext>
                  </a:extLst>
                </a:gridCol>
                <a:gridCol w="220285">
                  <a:extLst>
                    <a:ext uri="{9D8B030D-6E8A-4147-A177-3AD203B41FA5}">
                      <a16:colId xmlns:a16="http://schemas.microsoft.com/office/drawing/2014/main" val="556804285"/>
                    </a:ext>
                  </a:extLst>
                </a:gridCol>
                <a:gridCol w="220285">
                  <a:extLst>
                    <a:ext uri="{9D8B030D-6E8A-4147-A177-3AD203B41FA5}">
                      <a16:colId xmlns:a16="http://schemas.microsoft.com/office/drawing/2014/main" val="380184010"/>
                    </a:ext>
                  </a:extLst>
                </a:gridCol>
                <a:gridCol w="220285">
                  <a:extLst>
                    <a:ext uri="{9D8B030D-6E8A-4147-A177-3AD203B41FA5}">
                      <a16:colId xmlns:a16="http://schemas.microsoft.com/office/drawing/2014/main" val="601756204"/>
                    </a:ext>
                  </a:extLst>
                </a:gridCol>
                <a:gridCol w="220285">
                  <a:extLst>
                    <a:ext uri="{9D8B030D-6E8A-4147-A177-3AD203B41FA5}">
                      <a16:colId xmlns:a16="http://schemas.microsoft.com/office/drawing/2014/main" val="3959279273"/>
                    </a:ext>
                  </a:extLst>
                </a:gridCol>
                <a:gridCol w="220285">
                  <a:extLst>
                    <a:ext uri="{9D8B030D-6E8A-4147-A177-3AD203B41FA5}">
                      <a16:colId xmlns:a16="http://schemas.microsoft.com/office/drawing/2014/main" val="1928632940"/>
                    </a:ext>
                  </a:extLst>
                </a:gridCol>
              </a:tblGrid>
              <a:tr h="99810">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0936825"/>
                  </a:ext>
                </a:extLst>
              </a:tr>
              <a:tr h="149714">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4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879663502"/>
                  </a:ext>
                </a:extLst>
              </a:tr>
              <a:tr h="998095">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입찰서제출</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견적서취소</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개찰처리</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4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4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131269780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1490068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3979947"/>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47975670"/>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41022244"/>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종합낙찰제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498710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43505937"/>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3749547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24301191"/>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0057963"/>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협상취소</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42315826"/>
                  </a:ext>
                </a:extLst>
              </a:tr>
              <a:tr h="149714">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비공개수의협상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3956792668"/>
                  </a:ext>
                </a:extLst>
              </a:tr>
              <a:tr h="149714">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비공개수의협상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3728415696"/>
                  </a:ext>
                </a:extLst>
              </a:tr>
              <a:tr h="149714">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211203604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비공개수의협상</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협상취소</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4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222840785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3419435"/>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5353648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52821871"/>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7299412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664736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64424581"/>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09401019"/>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3980176"/>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7221979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3763622"/>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82389398"/>
                  </a:ext>
                </a:extLst>
              </a:tr>
              <a:tr h="149714">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4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4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96045025"/>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12/17)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1382233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40</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039017849"/>
              </p:ext>
            </p:extLst>
          </p:nvPr>
        </p:nvGraphicFramePr>
        <p:xfrm>
          <a:off x="749716" y="1300666"/>
          <a:ext cx="8708612" cy="5140179"/>
        </p:xfrm>
        <a:graphic>
          <a:graphicData uri="http://schemas.openxmlformats.org/drawingml/2006/table">
            <a:tbl>
              <a:tblPr/>
              <a:tblGrid>
                <a:gridCol w="396513">
                  <a:extLst>
                    <a:ext uri="{9D8B030D-6E8A-4147-A177-3AD203B41FA5}">
                      <a16:colId xmlns:a16="http://schemas.microsoft.com/office/drawing/2014/main" val="1554420700"/>
                    </a:ext>
                  </a:extLst>
                </a:gridCol>
                <a:gridCol w="477286">
                  <a:extLst>
                    <a:ext uri="{9D8B030D-6E8A-4147-A177-3AD203B41FA5}">
                      <a16:colId xmlns:a16="http://schemas.microsoft.com/office/drawing/2014/main" val="654506060"/>
                    </a:ext>
                  </a:extLst>
                </a:gridCol>
                <a:gridCol w="1666827">
                  <a:extLst>
                    <a:ext uri="{9D8B030D-6E8A-4147-A177-3AD203B41FA5}">
                      <a16:colId xmlns:a16="http://schemas.microsoft.com/office/drawing/2014/main" val="3177548319"/>
                    </a:ext>
                  </a:extLst>
                </a:gridCol>
                <a:gridCol w="572743">
                  <a:extLst>
                    <a:ext uri="{9D8B030D-6E8A-4147-A177-3AD203B41FA5}">
                      <a16:colId xmlns:a16="http://schemas.microsoft.com/office/drawing/2014/main" val="2637087337"/>
                    </a:ext>
                  </a:extLst>
                </a:gridCol>
                <a:gridCol w="499315">
                  <a:extLst>
                    <a:ext uri="{9D8B030D-6E8A-4147-A177-3AD203B41FA5}">
                      <a16:colId xmlns:a16="http://schemas.microsoft.com/office/drawing/2014/main" val="1802225679"/>
                    </a:ext>
                  </a:extLst>
                </a:gridCol>
                <a:gridCol w="690228">
                  <a:extLst>
                    <a:ext uri="{9D8B030D-6E8A-4147-A177-3AD203B41FA5}">
                      <a16:colId xmlns:a16="http://schemas.microsoft.com/office/drawing/2014/main" val="672619151"/>
                    </a:ext>
                  </a:extLst>
                </a:gridCol>
                <a:gridCol w="220285">
                  <a:extLst>
                    <a:ext uri="{9D8B030D-6E8A-4147-A177-3AD203B41FA5}">
                      <a16:colId xmlns:a16="http://schemas.microsoft.com/office/drawing/2014/main" val="1216842380"/>
                    </a:ext>
                  </a:extLst>
                </a:gridCol>
                <a:gridCol w="220285">
                  <a:extLst>
                    <a:ext uri="{9D8B030D-6E8A-4147-A177-3AD203B41FA5}">
                      <a16:colId xmlns:a16="http://schemas.microsoft.com/office/drawing/2014/main" val="3688360919"/>
                    </a:ext>
                  </a:extLst>
                </a:gridCol>
                <a:gridCol w="220285">
                  <a:extLst>
                    <a:ext uri="{9D8B030D-6E8A-4147-A177-3AD203B41FA5}">
                      <a16:colId xmlns:a16="http://schemas.microsoft.com/office/drawing/2014/main" val="4169829511"/>
                    </a:ext>
                  </a:extLst>
                </a:gridCol>
                <a:gridCol w="220285">
                  <a:extLst>
                    <a:ext uri="{9D8B030D-6E8A-4147-A177-3AD203B41FA5}">
                      <a16:colId xmlns:a16="http://schemas.microsoft.com/office/drawing/2014/main" val="4246943766"/>
                    </a:ext>
                  </a:extLst>
                </a:gridCol>
                <a:gridCol w="220285">
                  <a:extLst>
                    <a:ext uri="{9D8B030D-6E8A-4147-A177-3AD203B41FA5}">
                      <a16:colId xmlns:a16="http://schemas.microsoft.com/office/drawing/2014/main" val="789408174"/>
                    </a:ext>
                  </a:extLst>
                </a:gridCol>
                <a:gridCol w="220285">
                  <a:extLst>
                    <a:ext uri="{9D8B030D-6E8A-4147-A177-3AD203B41FA5}">
                      <a16:colId xmlns:a16="http://schemas.microsoft.com/office/drawing/2014/main" val="1730172785"/>
                    </a:ext>
                  </a:extLst>
                </a:gridCol>
                <a:gridCol w="220285">
                  <a:extLst>
                    <a:ext uri="{9D8B030D-6E8A-4147-A177-3AD203B41FA5}">
                      <a16:colId xmlns:a16="http://schemas.microsoft.com/office/drawing/2014/main" val="2128654767"/>
                    </a:ext>
                  </a:extLst>
                </a:gridCol>
                <a:gridCol w="220285">
                  <a:extLst>
                    <a:ext uri="{9D8B030D-6E8A-4147-A177-3AD203B41FA5}">
                      <a16:colId xmlns:a16="http://schemas.microsoft.com/office/drawing/2014/main" val="3075805851"/>
                    </a:ext>
                  </a:extLst>
                </a:gridCol>
                <a:gridCol w="220285">
                  <a:extLst>
                    <a:ext uri="{9D8B030D-6E8A-4147-A177-3AD203B41FA5}">
                      <a16:colId xmlns:a16="http://schemas.microsoft.com/office/drawing/2014/main" val="3283149547"/>
                    </a:ext>
                  </a:extLst>
                </a:gridCol>
                <a:gridCol w="220285">
                  <a:extLst>
                    <a:ext uri="{9D8B030D-6E8A-4147-A177-3AD203B41FA5}">
                      <a16:colId xmlns:a16="http://schemas.microsoft.com/office/drawing/2014/main" val="1412563156"/>
                    </a:ext>
                  </a:extLst>
                </a:gridCol>
                <a:gridCol w="220285">
                  <a:extLst>
                    <a:ext uri="{9D8B030D-6E8A-4147-A177-3AD203B41FA5}">
                      <a16:colId xmlns:a16="http://schemas.microsoft.com/office/drawing/2014/main" val="179662837"/>
                    </a:ext>
                  </a:extLst>
                </a:gridCol>
                <a:gridCol w="220285">
                  <a:extLst>
                    <a:ext uri="{9D8B030D-6E8A-4147-A177-3AD203B41FA5}">
                      <a16:colId xmlns:a16="http://schemas.microsoft.com/office/drawing/2014/main" val="757565285"/>
                    </a:ext>
                  </a:extLst>
                </a:gridCol>
                <a:gridCol w="220285">
                  <a:extLst>
                    <a:ext uri="{9D8B030D-6E8A-4147-A177-3AD203B41FA5}">
                      <a16:colId xmlns:a16="http://schemas.microsoft.com/office/drawing/2014/main" val="3670584040"/>
                    </a:ext>
                  </a:extLst>
                </a:gridCol>
                <a:gridCol w="220285">
                  <a:extLst>
                    <a:ext uri="{9D8B030D-6E8A-4147-A177-3AD203B41FA5}">
                      <a16:colId xmlns:a16="http://schemas.microsoft.com/office/drawing/2014/main" val="3812626110"/>
                    </a:ext>
                  </a:extLst>
                </a:gridCol>
                <a:gridCol w="220285">
                  <a:extLst>
                    <a:ext uri="{9D8B030D-6E8A-4147-A177-3AD203B41FA5}">
                      <a16:colId xmlns:a16="http://schemas.microsoft.com/office/drawing/2014/main" val="3855590029"/>
                    </a:ext>
                  </a:extLst>
                </a:gridCol>
                <a:gridCol w="220285">
                  <a:extLst>
                    <a:ext uri="{9D8B030D-6E8A-4147-A177-3AD203B41FA5}">
                      <a16:colId xmlns:a16="http://schemas.microsoft.com/office/drawing/2014/main" val="4152396111"/>
                    </a:ext>
                  </a:extLst>
                </a:gridCol>
                <a:gridCol w="220285">
                  <a:extLst>
                    <a:ext uri="{9D8B030D-6E8A-4147-A177-3AD203B41FA5}">
                      <a16:colId xmlns:a16="http://schemas.microsoft.com/office/drawing/2014/main" val="2189501087"/>
                    </a:ext>
                  </a:extLst>
                </a:gridCol>
                <a:gridCol w="220285">
                  <a:extLst>
                    <a:ext uri="{9D8B030D-6E8A-4147-A177-3AD203B41FA5}">
                      <a16:colId xmlns:a16="http://schemas.microsoft.com/office/drawing/2014/main" val="1258179369"/>
                    </a:ext>
                  </a:extLst>
                </a:gridCol>
                <a:gridCol w="220285">
                  <a:extLst>
                    <a:ext uri="{9D8B030D-6E8A-4147-A177-3AD203B41FA5}">
                      <a16:colId xmlns:a16="http://schemas.microsoft.com/office/drawing/2014/main" val="3827452783"/>
                    </a:ext>
                  </a:extLst>
                </a:gridCol>
                <a:gridCol w="220285">
                  <a:extLst>
                    <a:ext uri="{9D8B030D-6E8A-4147-A177-3AD203B41FA5}">
                      <a16:colId xmlns:a16="http://schemas.microsoft.com/office/drawing/2014/main" val="570690972"/>
                    </a:ext>
                  </a:extLst>
                </a:gridCol>
              </a:tblGrid>
              <a:tr h="109366">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813282041"/>
                  </a:ext>
                </a:extLst>
              </a:tr>
              <a:tr h="164048">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6118083"/>
                  </a:ext>
                </a:extLst>
              </a:tr>
              <a:tr h="109366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견적서제출</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견적서취소</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개찰처리</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1512129858"/>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4190580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총액계약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84579516"/>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98194184"/>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0108435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40966674"/>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11388718"/>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종합심사낙찰제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73991096"/>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6550339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8601368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432357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0675577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22093199"/>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35612247"/>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95022179"/>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263282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6256086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21256234"/>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2590228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단독수급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4179442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0347796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18284401"/>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41788375"/>
                  </a:ext>
                </a:extLst>
              </a:tr>
              <a:tr h="164048">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64032502"/>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13/17)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4325600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41</a:t>
            </a:fld>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231504854"/>
              </p:ext>
            </p:extLst>
          </p:nvPr>
        </p:nvGraphicFramePr>
        <p:xfrm>
          <a:off x="749716" y="1300666"/>
          <a:ext cx="8708606" cy="5140172"/>
        </p:xfrm>
        <a:graphic>
          <a:graphicData uri="http://schemas.openxmlformats.org/drawingml/2006/table">
            <a:tbl>
              <a:tblPr/>
              <a:tblGrid>
                <a:gridCol w="396514">
                  <a:extLst>
                    <a:ext uri="{9D8B030D-6E8A-4147-A177-3AD203B41FA5}">
                      <a16:colId xmlns:a16="http://schemas.microsoft.com/office/drawing/2014/main" val="3515506592"/>
                    </a:ext>
                  </a:extLst>
                </a:gridCol>
                <a:gridCol w="477284">
                  <a:extLst>
                    <a:ext uri="{9D8B030D-6E8A-4147-A177-3AD203B41FA5}">
                      <a16:colId xmlns:a16="http://schemas.microsoft.com/office/drawing/2014/main" val="2940883581"/>
                    </a:ext>
                  </a:extLst>
                </a:gridCol>
                <a:gridCol w="1666825">
                  <a:extLst>
                    <a:ext uri="{9D8B030D-6E8A-4147-A177-3AD203B41FA5}">
                      <a16:colId xmlns:a16="http://schemas.microsoft.com/office/drawing/2014/main" val="3654266014"/>
                    </a:ext>
                  </a:extLst>
                </a:gridCol>
                <a:gridCol w="572742">
                  <a:extLst>
                    <a:ext uri="{9D8B030D-6E8A-4147-A177-3AD203B41FA5}">
                      <a16:colId xmlns:a16="http://schemas.microsoft.com/office/drawing/2014/main" val="1513658561"/>
                    </a:ext>
                  </a:extLst>
                </a:gridCol>
                <a:gridCol w="499314">
                  <a:extLst>
                    <a:ext uri="{9D8B030D-6E8A-4147-A177-3AD203B41FA5}">
                      <a16:colId xmlns:a16="http://schemas.microsoft.com/office/drawing/2014/main" val="684482261"/>
                    </a:ext>
                  </a:extLst>
                </a:gridCol>
                <a:gridCol w="690227">
                  <a:extLst>
                    <a:ext uri="{9D8B030D-6E8A-4147-A177-3AD203B41FA5}">
                      <a16:colId xmlns:a16="http://schemas.microsoft.com/office/drawing/2014/main" val="2584175937"/>
                    </a:ext>
                  </a:extLst>
                </a:gridCol>
                <a:gridCol w="220285">
                  <a:extLst>
                    <a:ext uri="{9D8B030D-6E8A-4147-A177-3AD203B41FA5}">
                      <a16:colId xmlns:a16="http://schemas.microsoft.com/office/drawing/2014/main" val="1385142142"/>
                    </a:ext>
                  </a:extLst>
                </a:gridCol>
                <a:gridCol w="220285">
                  <a:extLst>
                    <a:ext uri="{9D8B030D-6E8A-4147-A177-3AD203B41FA5}">
                      <a16:colId xmlns:a16="http://schemas.microsoft.com/office/drawing/2014/main" val="363547498"/>
                    </a:ext>
                  </a:extLst>
                </a:gridCol>
                <a:gridCol w="220285">
                  <a:extLst>
                    <a:ext uri="{9D8B030D-6E8A-4147-A177-3AD203B41FA5}">
                      <a16:colId xmlns:a16="http://schemas.microsoft.com/office/drawing/2014/main" val="3146109432"/>
                    </a:ext>
                  </a:extLst>
                </a:gridCol>
                <a:gridCol w="220285">
                  <a:extLst>
                    <a:ext uri="{9D8B030D-6E8A-4147-A177-3AD203B41FA5}">
                      <a16:colId xmlns:a16="http://schemas.microsoft.com/office/drawing/2014/main" val="2006331101"/>
                    </a:ext>
                  </a:extLst>
                </a:gridCol>
                <a:gridCol w="220285">
                  <a:extLst>
                    <a:ext uri="{9D8B030D-6E8A-4147-A177-3AD203B41FA5}">
                      <a16:colId xmlns:a16="http://schemas.microsoft.com/office/drawing/2014/main" val="1746710430"/>
                    </a:ext>
                  </a:extLst>
                </a:gridCol>
                <a:gridCol w="220285">
                  <a:extLst>
                    <a:ext uri="{9D8B030D-6E8A-4147-A177-3AD203B41FA5}">
                      <a16:colId xmlns:a16="http://schemas.microsoft.com/office/drawing/2014/main" val="274126777"/>
                    </a:ext>
                  </a:extLst>
                </a:gridCol>
                <a:gridCol w="220285">
                  <a:extLst>
                    <a:ext uri="{9D8B030D-6E8A-4147-A177-3AD203B41FA5}">
                      <a16:colId xmlns:a16="http://schemas.microsoft.com/office/drawing/2014/main" val="2496617618"/>
                    </a:ext>
                  </a:extLst>
                </a:gridCol>
                <a:gridCol w="220285">
                  <a:extLst>
                    <a:ext uri="{9D8B030D-6E8A-4147-A177-3AD203B41FA5}">
                      <a16:colId xmlns:a16="http://schemas.microsoft.com/office/drawing/2014/main" val="1172203062"/>
                    </a:ext>
                  </a:extLst>
                </a:gridCol>
                <a:gridCol w="220285">
                  <a:extLst>
                    <a:ext uri="{9D8B030D-6E8A-4147-A177-3AD203B41FA5}">
                      <a16:colId xmlns:a16="http://schemas.microsoft.com/office/drawing/2014/main" val="2217505388"/>
                    </a:ext>
                  </a:extLst>
                </a:gridCol>
                <a:gridCol w="220285">
                  <a:extLst>
                    <a:ext uri="{9D8B030D-6E8A-4147-A177-3AD203B41FA5}">
                      <a16:colId xmlns:a16="http://schemas.microsoft.com/office/drawing/2014/main" val="1529621979"/>
                    </a:ext>
                  </a:extLst>
                </a:gridCol>
                <a:gridCol w="220285">
                  <a:extLst>
                    <a:ext uri="{9D8B030D-6E8A-4147-A177-3AD203B41FA5}">
                      <a16:colId xmlns:a16="http://schemas.microsoft.com/office/drawing/2014/main" val="2333590090"/>
                    </a:ext>
                  </a:extLst>
                </a:gridCol>
                <a:gridCol w="220285">
                  <a:extLst>
                    <a:ext uri="{9D8B030D-6E8A-4147-A177-3AD203B41FA5}">
                      <a16:colId xmlns:a16="http://schemas.microsoft.com/office/drawing/2014/main" val="3491318168"/>
                    </a:ext>
                  </a:extLst>
                </a:gridCol>
                <a:gridCol w="220285">
                  <a:extLst>
                    <a:ext uri="{9D8B030D-6E8A-4147-A177-3AD203B41FA5}">
                      <a16:colId xmlns:a16="http://schemas.microsoft.com/office/drawing/2014/main" val="1189913122"/>
                    </a:ext>
                  </a:extLst>
                </a:gridCol>
                <a:gridCol w="220285">
                  <a:extLst>
                    <a:ext uri="{9D8B030D-6E8A-4147-A177-3AD203B41FA5}">
                      <a16:colId xmlns:a16="http://schemas.microsoft.com/office/drawing/2014/main" val="3660115068"/>
                    </a:ext>
                  </a:extLst>
                </a:gridCol>
                <a:gridCol w="220285">
                  <a:extLst>
                    <a:ext uri="{9D8B030D-6E8A-4147-A177-3AD203B41FA5}">
                      <a16:colId xmlns:a16="http://schemas.microsoft.com/office/drawing/2014/main" val="3805792674"/>
                    </a:ext>
                  </a:extLst>
                </a:gridCol>
                <a:gridCol w="220285">
                  <a:extLst>
                    <a:ext uri="{9D8B030D-6E8A-4147-A177-3AD203B41FA5}">
                      <a16:colId xmlns:a16="http://schemas.microsoft.com/office/drawing/2014/main" val="120418973"/>
                    </a:ext>
                  </a:extLst>
                </a:gridCol>
                <a:gridCol w="220285">
                  <a:extLst>
                    <a:ext uri="{9D8B030D-6E8A-4147-A177-3AD203B41FA5}">
                      <a16:colId xmlns:a16="http://schemas.microsoft.com/office/drawing/2014/main" val="4117306577"/>
                    </a:ext>
                  </a:extLst>
                </a:gridCol>
                <a:gridCol w="220285">
                  <a:extLst>
                    <a:ext uri="{9D8B030D-6E8A-4147-A177-3AD203B41FA5}">
                      <a16:colId xmlns:a16="http://schemas.microsoft.com/office/drawing/2014/main" val="1453521055"/>
                    </a:ext>
                  </a:extLst>
                </a:gridCol>
                <a:gridCol w="220285">
                  <a:extLst>
                    <a:ext uri="{9D8B030D-6E8A-4147-A177-3AD203B41FA5}">
                      <a16:colId xmlns:a16="http://schemas.microsoft.com/office/drawing/2014/main" val="3046627342"/>
                    </a:ext>
                  </a:extLst>
                </a:gridCol>
                <a:gridCol w="220285">
                  <a:extLst>
                    <a:ext uri="{9D8B030D-6E8A-4147-A177-3AD203B41FA5}">
                      <a16:colId xmlns:a16="http://schemas.microsoft.com/office/drawing/2014/main" val="2209337716"/>
                    </a:ext>
                  </a:extLst>
                </a:gridCol>
              </a:tblGrid>
              <a:tr h="75591">
                <a:tc rowSpan="2" gridSpan="3">
                  <a:txBody>
                    <a:bodyPr/>
                    <a:lstStyle/>
                    <a:p>
                      <a:pPr algn="ctr" fontAlgn="ctr"/>
                      <a:r>
                        <a:rPr lang="ko-KR" altLang="en-US" sz="3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102672242"/>
                  </a:ext>
                </a:extLst>
              </a:tr>
              <a:tr h="113386">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3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02117430"/>
                  </a:ext>
                </a:extLst>
              </a:tr>
              <a:tr h="755913">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3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3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3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3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3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226987752"/>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45762498"/>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31302342"/>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54626557"/>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9837353"/>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50609724"/>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2531438"/>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65481652"/>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94248560"/>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87616371"/>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85308249"/>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25837600"/>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61122743"/>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66397053"/>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74037478"/>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37231445"/>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40841475"/>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48310552"/>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4576525"/>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07911179"/>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12296393"/>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78847983"/>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79845222"/>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45822089"/>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06075926"/>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09406147"/>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12287798"/>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90939412"/>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6271205"/>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2411562"/>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23635075"/>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27234243"/>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70205616"/>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7164116"/>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612151"/>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1538768"/>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17795090"/>
                  </a:ext>
                </a:extLst>
              </a:tr>
              <a:tr h="113386">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5294371"/>
                  </a:ext>
                </a:extLst>
              </a:tr>
            </a:tbl>
          </a:graphicData>
        </a:graphic>
      </p:graphicFrame>
      <p:sp>
        <p:nvSpPr>
          <p:cNvPr id="7"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8" name="직사각형 7">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14/17)</a:t>
            </a:r>
            <a:endParaRPr lang="ko-KR" altLang="en-US" sz="1200" dirty="0">
              <a:solidFill>
                <a:schemeClr val="tx1"/>
              </a:solidFill>
            </a:endParaRPr>
          </a:p>
        </p:txBody>
      </p:sp>
      <p:sp>
        <p:nvSpPr>
          <p:cNvPr id="9" name="직사각형 8"/>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8839102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42</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602631746"/>
              </p:ext>
            </p:extLst>
          </p:nvPr>
        </p:nvGraphicFramePr>
        <p:xfrm>
          <a:off x="749716" y="1300678"/>
          <a:ext cx="8708601" cy="5140178"/>
        </p:xfrm>
        <a:graphic>
          <a:graphicData uri="http://schemas.openxmlformats.org/drawingml/2006/table">
            <a:tbl>
              <a:tblPr/>
              <a:tblGrid>
                <a:gridCol w="396514">
                  <a:extLst>
                    <a:ext uri="{9D8B030D-6E8A-4147-A177-3AD203B41FA5}">
                      <a16:colId xmlns:a16="http://schemas.microsoft.com/office/drawing/2014/main" val="224376648"/>
                    </a:ext>
                  </a:extLst>
                </a:gridCol>
                <a:gridCol w="477285">
                  <a:extLst>
                    <a:ext uri="{9D8B030D-6E8A-4147-A177-3AD203B41FA5}">
                      <a16:colId xmlns:a16="http://schemas.microsoft.com/office/drawing/2014/main" val="3510455764"/>
                    </a:ext>
                  </a:extLst>
                </a:gridCol>
                <a:gridCol w="1666823">
                  <a:extLst>
                    <a:ext uri="{9D8B030D-6E8A-4147-A177-3AD203B41FA5}">
                      <a16:colId xmlns:a16="http://schemas.microsoft.com/office/drawing/2014/main" val="3791933681"/>
                    </a:ext>
                  </a:extLst>
                </a:gridCol>
                <a:gridCol w="572741">
                  <a:extLst>
                    <a:ext uri="{9D8B030D-6E8A-4147-A177-3AD203B41FA5}">
                      <a16:colId xmlns:a16="http://schemas.microsoft.com/office/drawing/2014/main" val="1854479446"/>
                    </a:ext>
                  </a:extLst>
                </a:gridCol>
                <a:gridCol w="499311">
                  <a:extLst>
                    <a:ext uri="{9D8B030D-6E8A-4147-A177-3AD203B41FA5}">
                      <a16:colId xmlns:a16="http://schemas.microsoft.com/office/drawing/2014/main" val="275909634"/>
                    </a:ext>
                  </a:extLst>
                </a:gridCol>
                <a:gridCol w="690227">
                  <a:extLst>
                    <a:ext uri="{9D8B030D-6E8A-4147-A177-3AD203B41FA5}">
                      <a16:colId xmlns:a16="http://schemas.microsoft.com/office/drawing/2014/main" val="1929003941"/>
                    </a:ext>
                  </a:extLst>
                </a:gridCol>
                <a:gridCol w="220285">
                  <a:extLst>
                    <a:ext uri="{9D8B030D-6E8A-4147-A177-3AD203B41FA5}">
                      <a16:colId xmlns:a16="http://schemas.microsoft.com/office/drawing/2014/main" val="4038855911"/>
                    </a:ext>
                  </a:extLst>
                </a:gridCol>
                <a:gridCol w="220285">
                  <a:extLst>
                    <a:ext uri="{9D8B030D-6E8A-4147-A177-3AD203B41FA5}">
                      <a16:colId xmlns:a16="http://schemas.microsoft.com/office/drawing/2014/main" val="1290438309"/>
                    </a:ext>
                  </a:extLst>
                </a:gridCol>
                <a:gridCol w="220285">
                  <a:extLst>
                    <a:ext uri="{9D8B030D-6E8A-4147-A177-3AD203B41FA5}">
                      <a16:colId xmlns:a16="http://schemas.microsoft.com/office/drawing/2014/main" val="2306817815"/>
                    </a:ext>
                  </a:extLst>
                </a:gridCol>
                <a:gridCol w="220285">
                  <a:extLst>
                    <a:ext uri="{9D8B030D-6E8A-4147-A177-3AD203B41FA5}">
                      <a16:colId xmlns:a16="http://schemas.microsoft.com/office/drawing/2014/main" val="2282347105"/>
                    </a:ext>
                  </a:extLst>
                </a:gridCol>
                <a:gridCol w="220285">
                  <a:extLst>
                    <a:ext uri="{9D8B030D-6E8A-4147-A177-3AD203B41FA5}">
                      <a16:colId xmlns:a16="http://schemas.microsoft.com/office/drawing/2014/main" val="128231546"/>
                    </a:ext>
                  </a:extLst>
                </a:gridCol>
                <a:gridCol w="220285">
                  <a:extLst>
                    <a:ext uri="{9D8B030D-6E8A-4147-A177-3AD203B41FA5}">
                      <a16:colId xmlns:a16="http://schemas.microsoft.com/office/drawing/2014/main" val="625337490"/>
                    </a:ext>
                  </a:extLst>
                </a:gridCol>
                <a:gridCol w="220285">
                  <a:extLst>
                    <a:ext uri="{9D8B030D-6E8A-4147-A177-3AD203B41FA5}">
                      <a16:colId xmlns:a16="http://schemas.microsoft.com/office/drawing/2014/main" val="770128826"/>
                    </a:ext>
                  </a:extLst>
                </a:gridCol>
                <a:gridCol w="220285">
                  <a:extLst>
                    <a:ext uri="{9D8B030D-6E8A-4147-A177-3AD203B41FA5}">
                      <a16:colId xmlns:a16="http://schemas.microsoft.com/office/drawing/2014/main" val="699668200"/>
                    </a:ext>
                  </a:extLst>
                </a:gridCol>
                <a:gridCol w="220285">
                  <a:extLst>
                    <a:ext uri="{9D8B030D-6E8A-4147-A177-3AD203B41FA5}">
                      <a16:colId xmlns:a16="http://schemas.microsoft.com/office/drawing/2014/main" val="2671586667"/>
                    </a:ext>
                  </a:extLst>
                </a:gridCol>
                <a:gridCol w="220285">
                  <a:extLst>
                    <a:ext uri="{9D8B030D-6E8A-4147-A177-3AD203B41FA5}">
                      <a16:colId xmlns:a16="http://schemas.microsoft.com/office/drawing/2014/main" val="491705962"/>
                    </a:ext>
                  </a:extLst>
                </a:gridCol>
                <a:gridCol w="220285">
                  <a:extLst>
                    <a:ext uri="{9D8B030D-6E8A-4147-A177-3AD203B41FA5}">
                      <a16:colId xmlns:a16="http://schemas.microsoft.com/office/drawing/2014/main" val="3833642355"/>
                    </a:ext>
                  </a:extLst>
                </a:gridCol>
                <a:gridCol w="220285">
                  <a:extLst>
                    <a:ext uri="{9D8B030D-6E8A-4147-A177-3AD203B41FA5}">
                      <a16:colId xmlns:a16="http://schemas.microsoft.com/office/drawing/2014/main" val="4227374048"/>
                    </a:ext>
                  </a:extLst>
                </a:gridCol>
                <a:gridCol w="220285">
                  <a:extLst>
                    <a:ext uri="{9D8B030D-6E8A-4147-A177-3AD203B41FA5}">
                      <a16:colId xmlns:a16="http://schemas.microsoft.com/office/drawing/2014/main" val="3812873245"/>
                    </a:ext>
                  </a:extLst>
                </a:gridCol>
                <a:gridCol w="220285">
                  <a:extLst>
                    <a:ext uri="{9D8B030D-6E8A-4147-A177-3AD203B41FA5}">
                      <a16:colId xmlns:a16="http://schemas.microsoft.com/office/drawing/2014/main" val="136422583"/>
                    </a:ext>
                  </a:extLst>
                </a:gridCol>
                <a:gridCol w="220285">
                  <a:extLst>
                    <a:ext uri="{9D8B030D-6E8A-4147-A177-3AD203B41FA5}">
                      <a16:colId xmlns:a16="http://schemas.microsoft.com/office/drawing/2014/main" val="3547914021"/>
                    </a:ext>
                  </a:extLst>
                </a:gridCol>
                <a:gridCol w="220285">
                  <a:extLst>
                    <a:ext uri="{9D8B030D-6E8A-4147-A177-3AD203B41FA5}">
                      <a16:colId xmlns:a16="http://schemas.microsoft.com/office/drawing/2014/main" val="2947227078"/>
                    </a:ext>
                  </a:extLst>
                </a:gridCol>
                <a:gridCol w="220285">
                  <a:extLst>
                    <a:ext uri="{9D8B030D-6E8A-4147-A177-3AD203B41FA5}">
                      <a16:colId xmlns:a16="http://schemas.microsoft.com/office/drawing/2014/main" val="3864208046"/>
                    </a:ext>
                  </a:extLst>
                </a:gridCol>
                <a:gridCol w="220285">
                  <a:extLst>
                    <a:ext uri="{9D8B030D-6E8A-4147-A177-3AD203B41FA5}">
                      <a16:colId xmlns:a16="http://schemas.microsoft.com/office/drawing/2014/main" val="3586510709"/>
                    </a:ext>
                  </a:extLst>
                </a:gridCol>
                <a:gridCol w="220285">
                  <a:extLst>
                    <a:ext uri="{9D8B030D-6E8A-4147-A177-3AD203B41FA5}">
                      <a16:colId xmlns:a16="http://schemas.microsoft.com/office/drawing/2014/main" val="3888029971"/>
                    </a:ext>
                  </a:extLst>
                </a:gridCol>
                <a:gridCol w="220285">
                  <a:extLst>
                    <a:ext uri="{9D8B030D-6E8A-4147-A177-3AD203B41FA5}">
                      <a16:colId xmlns:a16="http://schemas.microsoft.com/office/drawing/2014/main" val="2808490281"/>
                    </a:ext>
                  </a:extLst>
                </a:gridCol>
              </a:tblGrid>
              <a:tr h="82907">
                <a:tc rowSpan="2" gridSpan="3">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800552666"/>
                  </a:ext>
                </a:extLst>
              </a:tr>
              <a:tr h="124359">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3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55132149"/>
                  </a:ext>
                </a:extLst>
              </a:tr>
              <a:tr h="829065">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개찰결과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3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3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967974840"/>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43706738"/>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86791883"/>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82558359"/>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협상취소</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72658263"/>
                  </a:ext>
                </a:extLst>
              </a:tr>
              <a:tr h="124359">
                <a:tc>
                  <a:txBody>
                    <a:bodyPr/>
                    <a:lstStyle/>
                    <a:p>
                      <a:pPr algn="ctr" fontAlgn="ctr"/>
                      <a:r>
                        <a:rPr lang="ko-KR" altLang="en-US" sz="300" b="0" i="0" u="none" strike="noStrike" dirty="0">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dirty="0">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2327986006"/>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r>
                        <a:rPr lang="en-US" altLang="ko-KR" sz="3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3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4211264384"/>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비공개수의협상</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67286959"/>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기술용역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r>
                        <a:rPr lang="en-US" altLang="ko-KR" sz="3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dirty="0" err="1">
                          <a:solidFill>
                            <a:srgbClr val="000000"/>
                          </a:solidFill>
                          <a:effectLst/>
                          <a:latin typeface="맑은 고딕" panose="020B0503020000020004" pitchFamily="50" charset="-127"/>
                          <a:ea typeface="맑은 고딕" panose="020B0503020000020004" pitchFamily="50" charset="-127"/>
                        </a:rPr>
                        <a:t>협상취소</a:t>
                      </a:r>
                      <a:r>
                        <a:rPr lang="en-US" altLang="ko-KR" sz="3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3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2454717498"/>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46527583"/>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67170561"/>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53210052"/>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46178987"/>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67056303"/>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03884071"/>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49947544"/>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41896733"/>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12988284"/>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89893196"/>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59812162"/>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31379549"/>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37011154"/>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19618893"/>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9153880"/>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45127967"/>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66215208"/>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70802938"/>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87014692"/>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67659110"/>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85989527"/>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04271553"/>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10516657"/>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일반경쟁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84135618"/>
                  </a:ext>
                </a:extLst>
              </a:tr>
              <a:tr h="124359">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94589325"/>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15/17)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0930505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43</a:t>
            </a:fld>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1358842587"/>
              </p:ext>
            </p:extLst>
          </p:nvPr>
        </p:nvGraphicFramePr>
        <p:xfrm>
          <a:off x="749716" y="1300682"/>
          <a:ext cx="8708600" cy="5140159"/>
        </p:xfrm>
        <a:graphic>
          <a:graphicData uri="http://schemas.openxmlformats.org/drawingml/2006/table">
            <a:tbl>
              <a:tblPr/>
              <a:tblGrid>
                <a:gridCol w="396513">
                  <a:extLst>
                    <a:ext uri="{9D8B030D-6E8A-4147-A177-3AD203B41FA5}">
                      <a16:colId xmlns:a16="http://schemas.microsoft.com/office/drawing/2014/main" val="946842019"/>
                    </a:ext>
                  </a:extLst>
                </a:gridCol>
                <a:gridCol w="477284">
                  <a:extLst>
                    <a:ext uri="{9D8B030D-6E8A-4147-A177-3AD203B41FA5}">
                      <a16:colId xmlns:a16="http://schemas.microsoft.com/office/drawing/2014/main" val="1392507164"/>
                    </a:ext>
                  </a:extLst>
                </a:gridCol>
                <a:gridCol w="1666823">
                  <a:extLst>
                    <a:ext uri="{9D8B030D-6E8A-4147-A177-3AD203B41FA5}">
                      <a16:colId xmlns:a16="http://schemas.microsoft.com/office/drawing/2014/main" val="1401942887"/>
                    </a:ext>
                  </a:extLst>
                </a:gridCol>
                <a:gridCol w="572741">
                  <a:extLst>
                    <a:ext uri="{9D8B030D-6E8A-4147-A177-3AD203B41FA5}">
                      <a16:colId xmlns:a16="http://schemas.microsoft.com/office/drawing/2014/main" val="3028546269"/>
                    </a:ext>
                  </a:extLst>
                </a:gridCol>
                <a:gridCol w="499313">
                  <a:extLst>
                    <a:ext uri="{9D8B030D-6E8A-4147-A177-3AD203B41FA5}">
                      <a16:colId xmlns:a16="http://schemas.microsoft.com/office/drawing/2014/main" val="3259819917"/>
                    </a:ext>
                  </a:extLst>
                </a:gridCol>
                <a:gridCol w="690226">
                  <a:extLst>
                    <a:ext uri="{9D8B030D-6E8A-4147-A177-3AD203B41FA5}">
                      <a16:colId xmlns:a16="http://schemas.microsoft.com/office/drawing/2014/main" val="4275288669"/>
                    </a:ext>
                  </a:extLst>
                </a:gridCol>
                <a:gridCol w="220285">
                  <a:extLst>
                    <a:ext uri="{9D8B030D-6E8A-4147-A177-3AD203B41FA5}">
                      <a16:colId xmlns:a16="http://schemas.microsoft.com/office/drawing/2014/main" val="771282529"/>
                    </a:ext>
                  </a:extLst>
                </a:gridCol>
                <a:gridCol w="220285">
                  <a:extLst>
                    <a:ext uri="{9D8B030D-6E8A-4147-A177-3AD203B41FA5}">
                      <a16:colId xmlns:a16="http://schemas.microsoft.com/office/drawing/2014/main" val="27581187"/>
                    </a:ext>
                  </a:extLst>
                </a:gridCol>
                <a:gridCol w="220285">
                  <a:extLst>
                    <a:ext uri="{9D8B030D-6E8A-4147-A177-3AD203B41FA5}">
                      <a16:colId xmlns:a16="http://schemas.microsoft.com/office/drawing/2014/main" val="1756110812"/>
                    </a:ext>
                  </a:extLst>
                </a:gridCol>
                <a:gridCol w="220285">
                  <a:extLst>
                    <a:ext uri="{9D8B030D-6E8A-4147-A177-3AD203B41FA5}">
                      <a16:colId xmlns:a16="http://schemas.microsoft.com/office/drawing/2014/main" val="2370621329"/>
                    </a:ext>
                  </a:extLst>
                </a:gridCol>
                <a:gridCol w="220285">
                  <a:extLst>
                    <a:ext uri="{9D8B030D-6E8A-4147-A177-3AD203B41FA5}">
                      <a16:colId xmlns:a16="http://schemas.microsoft.com/office/drawing/2014/main" val="3756671641"/>
                    </a:ext>
                  </a:extLst>
                </a:gridCol>
                <a:gridCol w="220285">
                  <a:extLst>
                    <a:ext uri="{9D8B030D-6E8A-4147-A177-3AD203B41FA5}">
                      <a16:colId xmlns:a16="http://schemas.microsoft.com/office/drawing/2014/main" val="4255021921"/>
                    </a:ext>
                  </a:extLst>
                </a:gridCol>
                <a:gridCol w="220285">
                  <a:extLst>
                    <a:ext uri="{9D8B030D-6E8A-4147-A177-3AD203B41FA5}">
                      <a16:colId xmlns:a16="http://schemas.microsoft.com/office/drawing/2014/main" val="3898065085"/>
                    </a:ext>
                  </a:extLst>
                </a:gridCol>
                <a:gridCol w="220285">
                  <a:extLst>
                    <a:ext uri="{9D8B030D-6E8A-4147-A177-3AD203B41FA5}">
                      <a16:colId xmlns:a16="http://schemas.microsoft.com/office/drawing/2014/main" val="2040955313"/>
                    </a:ext>
                  </a:extLst>
                </a:gridCol>
                <a:gridCol w="220285">
                  <a:extLst>
                    <a:ext uri="{9D8B030D-6E8A-4147-A177-3AD203B41FA5}">
                      <a16:colId xmlns:a16="http://schemas.microsoft.com/office/drawing/2014/main" val="4119830416"/>
                    </a:ext>
                  </a:extLst>
                </a:gridCol>
                <a:gridCol w="220285">
                  <a:extLst>
                    <a:ext uri="{9D8B030D-6E8A-4147-A177-3AD203B41FA5}">
                      <a16:colId xmlns:a16="http://schemas.microsoft.com/office/drawing/2014/main" val="3299247045"/>
                    </a:ext>
                  </a:extLst>
                </a:gridCol>
                <a:gridCol w="220285">
                  <a:extLst>
                    <a:ext uri="{9D8B030D-6E8A-4147-A177-3AD203B41FA5}">
                      <a16:colId xmlns:a16="http://schemas.microsoft.com/office/drawing/2014/main" val="250442352"/>
                    </a:ext>
                  </a:extLst>
                </a:gridCol>
                <a:gridCol w="220285">
                  <a:extLst>
                    <a:ext uri="{9D8B030D-6E8A-4147-A177-3AD203B41FA5}">
                      <a16:colId xmlns:a16="http://schemas.microsoft.com/office/drawing/2014/main" val="3300314774"/>
                    </a:ext>
                  </a:extLst>
                </a:gridCol>
                <a:gridCol w="220285">
                  <a:extLst>
                    <a:ext uri="{9D8B030D-6E8A-4147-A177-3AD203B41FA5}">
                      <a16:colId xmlns:a16="http://schemas.microsoft.com/office/drawing/2014/main" val="4150450999"/>
                    </a:ext>
                  </a:extLst>
                </a:gridCol>
                <a:gridCol w="220285">
                  <a:extLst>
                    <a:ext uri="{9D8B030D-6E8A-4147-A177-3AD203B41FA5}">
                      <a16:colId xmlns:a16="http://schemas.microsoft.com/office/drawing/2014/main" val="331727565"/>
                    </a:ext>
                  </a:extLst>
                </a:gridCol>
                <a:gridCol w="220285">
                  <a:extLst>
                    <a:ext uri="{9D8B030D-6E8A-4147-A177-3AD203B41FA5}">
                      <a16:colId xmlns:a16="http://schemas.microsoft.com/office/drawing/2014/main" val="3858317720"/>
                    </a:ext>
                  </a:extLst>
                </a:gridCol>
                <a:gridCol w="220285">
                  <a:extLst>
                    <a:ext uri="{9D8B030D-6E8A-4147-A177-3AD203B41FA5}">
                      <a16:colId xmlns:a16="http://schemas.microsoft.com/office/drawing/2014/main" val="145998012"/>
                    </a:ext>
                  </a:extLst>
                </a:gridCol>
                <a:gridCol w="220285">
                  <a:extLst>
                    <a:ext uri="{9D8B030D-6E8A-4147-A177-3AD203B41FA5}">
                      <a16:colId xmlns:a16="http://schemas.microsoft.com/office/drawing/2014/main" val="3741730633"/>
                    </a:ext>
                  </a:extLst>
                </a:gridCol>
                <a:gridCol w="220285">
                  <a:extLst>
                    <a:ext uri="{9D8B030D-6E8A-4147-A177-3AD203B41FA5}">
                      <a16:colId xmlns:a16="http://schemas.microsoft.com/office/drawing/2014/main" val="1427985387"/>
                    </a:ext>
                  </a:extLst>
                </a:gridCol>
                <a:gridCol w="220285">
                  <a:extLst>
                    <a:ext uri="{9D8B030D-6E8A-4147-A177-3AD203B41FA5}">
                      <a16:colId xmlns:a16="http://schemas.microsoft.com/office/drawing/2014/main" val="2995127539"/>
                    </a:ext>
                  </a:extLst>
                </a:gridCol>
                <a:gridCol w="220285">
                  <a:extLst>
                    <a:ext uri="{9D8B030D-6E8A-4147-A177-3AD203B41FA5}">
                      <a16:colId xmlns:a16="http://schemas.microsoft.com/office/drawing/2014/main" val="1637643645"/>
                    </a:ext>
                  </a:extLst>
                </a:gridCol>
              </a:tblGrid>
              <a:tr h="84962">
                <a:tc rowSpan="2" gridSpan="3">
                  <a:txBody>
                    <a:bodyPr/>
                    <a:lstStyle/>
                    <a:p>
                      <a:pPr algn="ctr" fontAlgn="ctr"/>
                      <a:r>
                        <a:rPr lang="ko-KR" altLang="en-US" sz="4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268748846"/>
                  </a:ext>
                </a:extLst>
              </a:tr>
              <a:tr h="127442">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3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939679605"/>
                  </a:ext>
                </a:extLst>
              </a:tr>
              <a:tr h="849611">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err="1">
                          <a:solidFill>
                            <a:srgbClr val="000000"/>
                          </a:solidFill>
                          <a:effectLst/>
                          <a:latin typeface="맑은 고딕" panose="020B0503020000020004" pitchFamily="50" charset="-127"/>
                          <a:ea typeface="맑은 고딕" panose="020B0503020000020004" pitchFamily="50" charset="-127"/>
                        </a:rPr>
                        <a:t>견적서제출</a:t>
                      </a:r>
                      <a:endParaRPr lang="ko-KR" altLang="en-US" sz="3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개찰처리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3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3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단일</a:t>
                      </a:r>
                      <a:r>
                        <a:rPr lang="en-US" altLang="ko-KR" sz="300" b="1"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1"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3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103787332"/>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79666618"/>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4216752"/>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35337645"/>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1839591"/>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62418995"/>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78315775"/>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91694350"/>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58020388"/>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6499876"/>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11406059"/>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3461774"/>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29237386"/>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4349033"/>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48491683"/>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79297634"/>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0831945"/>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62693344"/>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95370574"/>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58568694"/>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27819267"/>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20025637"/>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00024838"/>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지명경쟁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52997785"/>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73285139"/>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980576"/>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9211225"/>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38097144"/>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60332781"/>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제한적최저가격제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5106661"/>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단독수급</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7300765"/>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dirty="0" err="1">
                          <a:solidFill>
                            <a:srgbClr val="000000"/>
                          </a:solidFill>
                          <a:effectLst/>
                          <a:latin typeface="맑은 고딕" panose="020B0503020000020004" pitchFamily="50" charset="-127"/>
                          <a:ea typeface="맑은 고딕" panose="020B0503020000020004" pitchFamily="50" charset="-127"/>
                        </a:rPr>
                        <a:t>공동수급</a:t>
                      </a:r>
                      <a:r>
                        <a:rPr lang="en-US" altLang="ko-KR" sz="3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02347429"/>
                  </a:ext>
                </a:extLst>
              </a:tr>
              <a:tr h="127442">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3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3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3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40844315"/>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a:t>
            </a:r>
            <a:r>
              <a:rPr lang="en-US" altLang="ko-KR" sz="1200" dirty="0">
                <a:solidFill>
                  <a:schemeClr val="tx1"/>
                </a:solidFill>
              </a:rPr>
              <a:t>16/17)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4907621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44</a:t>
            </a:fld>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4151791413"/>
              </p:ext>
            </p:extLst>
          </p:nvPr>
        </p:nvGraphicFramePr>
        <p:xfrm>
          <a:off x="749716" y="1300666"/>
          <a:ext cx="8708603" cy="5077659"/>
        </p:xfrm>
        <a:graphic>
          <a:graphicData uri="http://schemas.openxmlformats.org/drawingml/2006/table">
            <a:tbl>
              <a:tblPr/>
              <a:tblGrid>
                <a:gridCol w="396513">
                  <a:extLst>
                    <a:ext uri="{9D8B030D-6E8A-4147-A177-3AD203B41FA5}">
                      <a16:colId xmlns:a16="http://schemas.microsoft.com/office/drawing/2014/main" val="3637745365"/>
                    </a:ext>
                  </a:extLst>
                </a:gridCol>
                <a:gridCol w="477283">
                  <a:extLst>
                    <a:ext uri="{9D8B030D-6E8A-4147-A177-3AD203B41FA5}">
                      <a16:colId xmlns:a16="http://schemas.microsoft.com/office/drawing/2014/main" val="262946981"/>
                    </a:ext>
                  </a:extLst>
                </a:gridCol>
                <a:gridCol w="1666823">
                  <a:extLst>
                    <a:ext uri="{9D8B030D-6E8A-4147-A177-3AD203B41FA5}">
                      <a16:colId xmlns:a16="http://schemas.microsoft.com/office/drawing/2014/main" val="3079664061"/>
                    </a:ext>
                  </a:extLst>
                </a:gridCol>
                <a:gridCol w="572742">
                  <a:extLst>
                    <a:ext uri="{9D8B030D-6E8A-4147-A177-3AD203B41FA5}">
                      <a16:colId xmlns:a16="http://schemas.microsoft.com/office/drawing/2014/main" val="74523867"/>
                    </a:ext>
                  </a:extLst>
                </a:gridCol>
                <a:gridCol w="499314">
                  <a:extLst>
                    <a:ext uri="{9D8B030D-6E8A-4147-A177-3AD203B41FA5}">
                      <a16:colId xmlns:a16="http://schemas.microsoft.com/office/drawing/2014/main" val="3553264622"/>
                    </a:ext>
                  </a:extLst>
                </a:gridCol>
                <a:gridCol w="690228">
                  <a:extLst>
                    <a:ext uri="{9D8B030D-6E8A-4147-A177-3AD203B41FA5}">
                      <a16:colId xmlns:a16="http://schemas.microsoft.com/office/drawing/2014/main" val="3081869458"/>
                    </a:ext>
                  </a:extLst>
                </a:gridCol>
                <a:gridCol w="220285">
                  <a:extLst>
                    <a:ext uri="{9D8B030D-6E8A-4147-A177-3AD203B41FA5}">
                      <a16:colId xmlns:a16="http://schemas.microsoft.com/office/drawing/2014/main" val="3539707582"/>
                    </a:ext>
                  </a:extLst>
                </a:gridCol>
                <a:gridCol w="220285">
                  <a:extLst>
                    <a:ext uri="{9D8B030D-6E8A-4147-A177-3AD203B41FA5}">
                      <a16:colId xmlns:a16="http://schemas.microsoft.com/office/drawing/2014/main" val="1825834296"/>
                    </a:ext>
                  </a:extLst>
                </a:gridCol>
                <a:gridCol w="220285">
                  <a:extLst>
                    <a:ext uri="{9D8B030D-6E8A-4147-A177-3AD203B41FA5}">
                      <a16:colId xmlns:a16="http://schemas.microsoft.com/office/drawing/2014/main" val="2973968974"/>
                    </a:ext>
                  </a:extLst>
                </a:gridCol>
                <a:gridCol w="220285">
                  <a:extLst>
                    <a:ext uri="{9D8B030D-6E8A-4147-A177-3AD203B41FA5}">
                      <a16:colId xmlns:a16="http://schemas.microsoft.com/office/drawing/2014/main" val="2802788429"/>
                    </a:ext>
                  </a:extLst>
                </a:gridCol>
                <a:gridCol w="220285">
                  <a:extLst>
                    <a:ext uri="{9D8B030D-6E8A-4147-A177-3AD203B41FA5}">
                      <a16:colId xmlns:a16="http://schemas.microsoft.com/office/drawing/2014/main" val="395573128"/>
                    </a:ext>
                  </a:extLst>
                </a:gridCol>
                <a:gridCol w="220285">
                  <a:extLst>
                    <a:ext uri="{9D8B030D-6E8A-4147-A177-3AD203B41FA5}">
                      <a16:colId xmlns:a16="http://schemas.microsoft.com/office/drawing/2014/main" val="3188064975"/>
                    </a:ext>
                  </a:extLst>
                </a:gridCol>
                <a:gridCol w="220285">
                  <a:extLst>
                    <a:ext uri="{9D8B030D-6E8A-4147-A177-3AD203B41FA5}">
                      <a16:colId xmlns:a16="http://schemas.microsoft.com/office/drawing/2014/main" val="1896375759"/>
                    </a:ext>
                  </a:extLst>
                </a:gridCol>
                <a:gridCol w="220285">
                  <a:extLst>
                    <a:ext uri="{9D8B030D-6E8A-4147-A177-3AD203B41FA5}">
                      <a16:colId xmlns:a16="http://schemas.microsoft.com/office/drawing/2014/main" val="1491452999"/>
                    </a:ext>
                  </a:extLst>
                </a:gridCol>
                <a:gridCol w="220285">
                  <a:extLst>
                    <a:ext uri="{9D8B030D-6E8A-4147-A177-3AD203B41FA5}">
                      <a16:colId xmlns:a16="http://schemas.microsoft.com/office/drawing/2014/main" val="901621169"/>
                    </a:ext>
                  </a:extLst>
                </a:gridCol>
                <a:gridCol w="220285">
                  <a:extLst>
                    <a:ext uri="{9D8B030D-6E8A-4147-A177-3AD203B41FA5}">
                      <a16:colId xmlns:a16="http://schemas.microsoft.com/office/drawing/2014/main" val="3443938031"/>
                    </a:ext>
                  </a:extLst>
                </a:gridCol>
                <a:gridCol w="220285">
                  <a:extLst>
                    <a:ext uri="{9D8B030D-6E8A-4147-A177-3AD203B41FA5}">
                      <a16:colId xmlns:a16="http://schemas.microsoft.com/office/drawing/2014/main" val="295902222"/>
                    </a:ext>
                  </a:extLst>
                </a:gridCol>
                <a:gridCol w="220285">
                  <a:extLst>
                    <a:ext uri="{9D8B030D-6E8A-4147-A177-3AD203B41FA5}">
                      <a16:colId xmlns:a16="http://schemas.microsoft.com/office/drawing/2014/main" val="2163009714"/>
                    </a:ext>
                  </a:extLst>
                </a:gridCol>
                <a:gridCol w="220285">
                  <a:extLst>
                    <a:ext uri="{9D8B030D-6E8A-4147-A177-3AD203B41FA5}">
                      <a16:colId xmlns:a16="http://schemas.microsoft.com/office/drawing/2014/main" val="2658625445"/>
                    </a:ext>
                  </a:extLst>
                </a:gridCol>
                <a:gridCol w="220285">
                  <a:extLst>
                    <a:ext uri="{9D8B030D-6E8A-4147-A177-3AD203B41FA5}">
                      <a16:colId xmlns:a16="http://schemas.microsoft.com/office/drawing/2014/main" val="3737764719"/>
                    </a:ext>
                  </a:extLst>
                </a:gridCol>
                <a:gridCol w="220285">
                  <a:extLst>
                    <a:ext uri="{9D8B030D-6E8A-4147-A177-3AD203B41FA5}">
                      <a16:colId xmlns:a16="http://schemas.microsoft.com/office/drawing/2014/main" val="681244973"/>
                    </a:ext>
                  </a:extLst>
                </a:gridCol>
                <a:gridCol w="220285">
                  <a:extLst>
                    <a:ext uri="{9D8B030D-6E8A-4147-A177-3AD203B41FA5}">
                      <a16:colId xmlns:a16="http://schemas.microsoft.com/office/drawing/2014/main" val="2312006457"/>
                    </a:ext>
                  </a:extLst>
                </a:gridCol>
                <a:gridCol w="220285">
                  <a:extLst>
                    <a:ext uri="{9D8B030D-6E8A-4147-A177-3AD203B41FA5}">
                      <a16:colId xmlns:a16="http://schemas.microsoft.com/office/drawing/2014/main" val="259658032"/>
                    </a:ext>
                  </a:extLst>
                </a:gridCol>
                <a:gridCol w="220285">
                  <a:extLst>
                    <a:ext uri="{9D8B030D-6E8A-4147-A177-3AD203B41FA5}">
                      <a16:colId xmlns:a16="http://schemas.microsoft.com/office/drawing/2014/main" val="1442985604"/>
                    </a:ext>
                  </a:extLst>
                </a:gridCol>
                <a:gridCol w="220285">
                  <a:extLst>
                    <a:ext uri="{9D8B030D-6E8A-4147-A177-3AD203B41FA5}">
                      <a16:colId xmlns:a16="http://schemas.microsoft.com/office/drawing/2014/main" val="2046882797"/>
                    </a:ext>
                  </a:extLst>
                </a:gridCol>
                <a:gridCol w="220285">
                  <a:extLst>
                    <a:ext uri="{9D8B030D-6E8A-4147-A177-3AD203B41FA5}">
                      <a16:colId xmlns:a16="http://schemas.microsoft.com/office/drawing/2014/main" val="21199888"/>
                    </a:ext>
                  </a:extLst>
                </a:gridCol>
              </a:tblGrid>
              <a:tr h="104694">
                <a:tc rowSpan="2" gridSpan="3">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6350" cap="flat" cmpd="sng" algn="ctr">
                      <a:solidFill>
                        <a:srgbClr val="000000"/>
                      </a:solidFill>
                      <a:prstDash val="solid"/>
                      <a:round/>
                      <a:headEnd type="none" w="med" len="med"/>
                      <a:tailEnd type="none" w="med" len="med"/>
                    </a:lnTlToBr>
                    <a:solidFill>
                      <a:srgbClr val="F2F2F2"/>
                    </a:solidFill>
                  </a:tcPr>
                </a:tc>
                <a:tc rowSpan="2" hMerge="1">
                  <a:txBody>
                    <a:bodyPr/>
                    <a:lstStyle/>
                    <a:p>
                      <a:pPr latinLnBrk="1"/>
                      <a:endParaRPr lang="ko-KR" altLang="en-US"/>
                    </a:p>
                  </a:txBody>
                  <a:tcPr/>
                </a:tc>
                <a:tc rowSpan="2" h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1">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259804924"/>
                  </a:ext>
                </a:extLst>
              </a:tr>
              <a:tr h="157041">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사전심사</a:t>
                      </a:r>
                      <a:r>
                        <a:rPr lang="en-US" sz="500" b="0" i="0" u="none" strike="noStrike">
                          <a:solidFill>
                            <a:srgbClr val="000000"/>
                          </a:solidFill>
                          <a:effectLst/>
                          <a:latin typeface="맑은 고딕" panose="020B0503020000020004" pitchFamily="50" charset="-127"/>
                          <a:ea typeface="맑은 고딕" panose="020B0503020000020004" pitchFamily="50" charset="-127"/>
                        </a:rPr>
                        <a:t>PQ</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gridSpan="2">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gridSpan="4">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368244231"/>
                  </a:ext>
                </a:extLst>
              </a:tr>
              <a:tr h="1046940">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업무구분</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낙찰방법</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계약종류</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입찰공고조회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입찰참가등록반려</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생산능력서류제출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입찰서제출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입찰취소신청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견적서포기신청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견적서제출</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견적서취소</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a:solidFill>
                            <a:srgbClr val="000000"/>
                          </a:solidFill>
                          <a:effectLst/>
                          <a:latin typeface="맑은 고딕" panose="020B0503020000020004" pitchFamily="50" charset="-127"/>
                          <a:ea typeface="맑은 고딕" panose="020B0503020000020004" pitchFamily="50" charset="-127"/>
                        </a:rPr>
                        <a:t>불합격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개찰처리</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개찰결과</a:t>
                      </a:r>
                      <a:endParaRPr lang="ko-KR" altLang="en-US" sz="5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유찰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단일</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1" i="0" u="none" strike="noStrike" dirty="0" err="1">
                          <a:solidFill>
                            <a:srgbClr val="000000"/>
                          </a:solidFill>
                          <a:effectLst/>
                          <a:latin typeface="맑은 고딕" panose="020B0503020000020004" pitchFamily="50" charset="-127"/>
                          <a:ea typeface="맑은 고딕" panose="020B0503020000020004" pitchFamily="50" charset="-127"/>
                        </a:rPr>
                        <a:t>무응찰</a:t>
                      </a:r>
                      <a:r>
                        <a:rPr lang="en-US" altLang="ko-KR" sz="500" b="1"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재입찰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적격심사신청</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적격심사포기</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t"/>
                      <a:r>
                        <a:rPr lang="ko-KR" altLang="en-US" sz="500" b="1" i="0" u="none" strike="noStrike" dirty="0">
                          <a:solidFill>
                            <a:srgbClr val="000000"/>
                          </a:solidFill>
                          <a:effectLst/>
                          <a:latin typeface="맑은 고딕" panose="020B0503020000020004" pitchFamily="50" charset="-127"/>
                          <a:ea typeface="맑은 고딕" panose="020B0503020000020004" pitchFamily="50" charset="-127"/>
                        </a:rPr>
                        <a:t>적격심사결과</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275723943"/>
                  </a:ext>
                </a:extLst>
              </a:tr>
              <a:tr h="157041">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8602513"/>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6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35892953"/>
                  </a:ext>
                </a:extLst>
              </a:tr>
              <a:tr h="157041">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최저가격제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86999753"/>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34721920"/>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25334744"/>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92440214"/>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09825765"/>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dirty="0" err="1">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39695403"/>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적격심사제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02135037"/>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종합심사낙찰제</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72819256"/>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공동수급</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88651298"/>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8392579"/>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62271295"/>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41618099"/>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제한경쟁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종합심사낙찰제</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8215736"/>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41181565"/>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3091372"/>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단일응찰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39970569"/>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재입찰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B0F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18293369"/>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협상취소</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FF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4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09408840"/>
                  </a:ext>
                </a:extLst>
              </a:tr>
              <a:tr h="157041">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비공개수의협상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dirty="0">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dirty="0">
                          <a:solidFill>
                            <a:srgbClr val="000000"/>
                          </a:solidFill>
                          <a:effectLst/>
                          <a:latin typeface="맑은 고딕" panose="020B0503020000020004" pitchFamily="50" charset="-127"/>
                          <a:ea typeface="맑은 고딕" panose="020B0503020000020004" pitchFamily="50" charset="-127"/>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dirty="0">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3775130312"/>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비공개수의협상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유찰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831503753"/>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비공개수의협상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무응찰</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670410469"/>
                  </a:ext>
                </a:extLst>
              </a:tr>
              <a:tr h="157041">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공사</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수의계약</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비공개수의협상</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협상취소</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l" fontAlgn="ctr"/>
                      <a:r>
                        <a:rPr lang="ko-KR" altLang="en-US" sz="500" b="0" i="0" u="none" strike="noStrike">
                          <a:solidFill>
                            <a:srgbClr val="000000"/>
                          </a:solidFill>
                          <a:effectLst/>
                          <a:latin typeface="맑은 고딕" panose="020B0503020000020004" pitchFamily="50" charset="-127"/>
                          <a:ea typeface="맑은 고딕" panose="020B0503020000020004" pitchFamily="50" charset="-127"/>
                        </a:rPr>
                        <a:t>업체</a:t>
                      </a:r>
                      <a:r>
                        <a:rPr lang="en-US" altLang="ko-KR" sz="500" b="0" i="0" u="none" strike="noStrike">
                          <a:solidFill>
                            <a:srgbClr val="000000"/>
                          </a:solidFill>
                          <a:effectLst/>
                          <a:latin typeface="맑은 고딕" panose="020B0503020000020004" pitchFamily="50" charset="-127"/>
                          <a:ea typeface="맑은 고딕" panose="020B0503020000020004" pitchFamily="50" charset="-127"/>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400" b="0" i="0" u="none" strike="noStrike">
                          <a:solidFill>
                            <a:srgbClr val="000000"/>
                          </a:solidFill>
                          <a:effectLst/>
                          <a:latin typeface="나눔고딕" panose="020D060400000000000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tc>
                  <a:txBody>
                    <a:bodyPr/>
                    <a:lstStyle/>
                    <a:p>
                      <a:pPr algn="ctr" fontAlgn="ctr"/>
                      <a:r>
                        <a:rPr lang="ko-KR" altLang="en-US" sz="500" b="0" i="0" u="none" strike="noStrike" dirty="0">
                          <a:solidFill>
                            <a:srgbClr val="000000"/>
                          </a:solidFill>
                          <a:effectLst/>
                          <a:latin typeface="나눔고딕" panose="020D0604000000000000"/>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2987735463"/>
                  </a:ext>
                </a:extLst>
              </a:tr>
            </a:tbl>
          </a:graphicData>
        </a:graphic>
      </p:graphicFrame>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2026-07-24 </a:t>
            </a:r>
            <a:r>
              <a:rPr lang="ko-KR" altLang="en-US" dirty="0" smtClean="0"/>
              <a:t>화면 추가</a:t>
            </a:r>
            <a:endParaRPr lang="ko-KR" altLang="en-US" dirty="0"/>
          </a:p>
        </p:txBody>
      </p:sp>
      <p:sp>
        <p:nvSpPr>
          <p:cNvPr id="17" name="직사각형 1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공고별</a:t>
            </a:r>
            <a:r>
              <a:rPr lang="ko-KR" altLang="en-US" sz="700" dirty="0" smtClean="0"/>
              <a:t> 신청 </a:t>
            </a:r>
            <a:r>
              <a:rPr lang="ko-KR" altLang="en-US" sz="700" dirty="0" err="1" smtClean="0"/>
              <a:t>조건표</a:t>
            </a:r>
            <a:endParaRPr lang="ko-KR" altLang="en-US" sz="700" dirty="0"/>
          </a:p>
        </p:txBody>
      </p:sp>
      <p:sp>
        <p:nvSpPr>
          <p:cNvPr id="9"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a:xfrm>
            <a:off x="457199" y="612000"/>
            <a:ext cx="9001125" cy="324000"/>
          </a:xfrm>
        </p:spPr>
        <p:txBody>
          <a:bodyPr/>
          <a:lstStyle/>
          <a:p>
            <a:r>
              <a:rPr lang="en-US" altLang="ko-KR" dirty="0"/>
              <a:t>1.2 </a:t>
            </a:r>
            <a:r>
              <a:rPr lang="ko-KR" altLang="en-US" dirty="0"/>
              <a:t>입찰통합테스트 자료</a:t>
            </a:r>
          </a:p>
        </p:txBody>
      </p:sp>
      <p:sp>
        <p:nvSpPr>
          <p:cNvPr id="10" name="직사각형 9">
            <a:extLst>
              <a:ext uri="{FF2B5EF4-FFF2-40B4-BE49-F238E27FC236}">
                <a16:creationId xmlns:a16="http://schemas.microsoft.com/office/drawing/2014/main" id="{BF8820D5-17EC-A1FF-29CB-1C40047A7078}"/>
              </a:ext>
            </a:extLst>
          </p:cNvPr>
          <p:cNvSpPr/>
          <p:nvPr/>
        </p:nvSpPr>
        <p:spPr>
          <a:xfrm>
            <a:off x="749716" y="1026000"/>
            <a:ext cx="2863434"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1.2.2 </a:t>
            </a:r>
            <a:r>
              <a:rPr lang="ko-KR" altLang="en-US" sz="1200" dirty="0" err="1" smtClean="0">
                <a:solidFill>
                  <a:schemeClr val="tx1"/>
                </a:solidFill>
              </a:rPr>
              <a:t>케이스별</a:t>
            </a:r>
            <a:r>
              <a:rPr lang="ko-KR" altLang="en-US" sz="1200" dirty="0" smtClean="0">
                <a:solidFill>
                  <a:schemeClr val="tx1"/>
                </a:solidFill>
              </a:rPr>
              <a:t> 프로세스</a:t>
            </a:r>
            <a:r>
              <a:rPr lang="en-US" altLang="ko-KR" sz="1200" dirty="0" smtClean="0">
                <a:solidFill>
                  <a:schemeClr val="tx1"/>
                </a:solidFill>
              </a:rPr>
              <a:t>(17/17)</a:t>
            </a:r>
            <a:endParaRPr lang="ko-KR" altLang="en-US" sz="1200" dirty="0">
              <a:solidFill>
                <a:schemeClr val="tx1"/>
              </a:solidFill>
            </a:endParaRPr>
          </a:p>
        </p:txBody>
      </p:sp>
      <p:sp>
        <p:nvSpPr>
          <p:cNvPr id="8" name="직사각형 7"/>
          <p:cNvSpPr/>
          <p:nvPr/>
        </p:nvSpPr>
        <p:spPr>
          <a:xfrm>
            <a:off x="8223250" y="804198"/>
            <a:ext cx="1682750" cy="527005"/>
          </a:xfrm>
          <a:prstGeom prst="rect">
            <a:avLst/>
          </a:prstGeom>
        </p:spPr>
        <p:style>
          <a:lnRef idx="3">
            <a:schemeClr val="lt1"/>
          </a:lnRef>
          <a:fillRef idx="1">
            <a:schemeClr val="dk1"/>
          </a:fillRef>
          <a:effectRef idx="1">
            <a:schemeClr val="dk1"/>
          </a:effectRef>
          <a:fontRef idx="minor">
            <a:schemeClr val="lt1"/>
          </a:fontRef>
        </p:style>
        <p:txBody>
          <a:bodyPr rtlCol="0" anchor="ctr">
            <a:noAutofit/>
          </a:bodyPr>
          <a:lstStyle/>
          <a:p>
            <a:pPr algn="ctr"/>
            <a:r>
              <a:rPr lang="ko-KR" altLang="en-US" sz="1200" dirty="0" smtClean="0"/>
              <a:t>내부 참고용</a:t>
            </a:r>
            <a:endParaRPr lang="ko-KR" altLang="en-US" sz="1200" dirty="0"/>
          </a:p>
        </p:txBody>
      </p:sp>
    </p:spTree>
    <p:extLst>
      <p:ext uri="{BB962C8B-B14F-4D97-AF65-F5344CB8AC3E}">
        <p14:creationId xmlns:p14="http://schemas.microsoft.com/office/powerpoint/2010/main" val="20028536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smtClean="0"/>
              <a:t>상세 탭 구성 조건 확인</a:t>
            </a:r>
            <a:r>
              <a:rPr lang="en-US" altLang="ko-KR" dirty="0" smtClean="0"/>
              <a:t/>
            </a:r>
            <a:br>
              <a:rPr lang="en-US" altLang="ko-KR" dirty="0" smtClean="0"/>
            </a:br>
            <a:r>
              <a:rPr lang="en-US" altLang="ko-KR" dirty="0" smtClean="0"/>
              <a:t>- </a:t>
            </a:r>
            <a:r>
              <a:rPr lang="ko-KR" altLang="en-US" dirty="0" err="1" smtClean="0"/>
              <a:t>공고문안</a:t>
            </a:r>
            <a:r>
              <a:rPr lang="ko-KR" altLang="en-US" dirty="0" smtClean="0"/>
              <a:t> 항목 보류</a:t>
            </a:r>
            <a:r>
              <a:rPr lang="en-US" altLang="ko-KR" dirty="0" smtClean="0"/>
              <a:t>(</a:t>
            </a:r>
            <a:r>
              <a:rPr lang="ko-KR" altLang="en-US" dirty="0" smtClean="0"/>
              <a:t>모바일에 사용 여부 확인 필요</a:t>
            </a:r>
            <a:r>
              <a:rPr lang="en-US" altLang="ko-KR" dirty="0" smtClean="0"/>
              <a:t>)</a:t>
            </a:r>
            <a:br>
              <a:rPr lang="en-US" altLang="ko-KR" dirty="0" smtClean="0"/>
            </a:b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&gt; [</a:t>
            </a:r>
            <a:r>
              <a:rPr lang="en-US" altLang="ko-KR" dirty="0" smtClean="0">
                <a:solidFill>
                  <a:srgbClr val="FF0000"/>
                </a:solidFill>
              </a:rPr>
              <a:t>0813] </a:t>
            </a:r>
            <a:r>
              <a:rPr lang="ko-KR" altLang="en-US" dirty="0" err="1" smtClean="0">
                <a:solidFill>
                  <a:srgbClr val="FF0000"/>
                </a:solidFill>
              </a:rPr>
              <a:t>최신항목이</a:t>
            </a:r>
            <a:r>
              <a:rPr lang="ko-KR" altLang="en-US" dirty="0" smtClean="0">
                <a:solidFill>
                  <a:srgbClr val="FF0000"/>
                </a:solidFill>
              </a:rPr>
              <a:t> 아닌 이전 항목의 경우 공고문안으로 노출되는 항목이 있음</a:t>
            </a:r>
            <a:r>
              <a:rPr lang="en-US" altLang="ko-KR" dirty="0" smtClean="0">
                <a:solidFill>
                  <a:srgbClr val="FF0000"/>
                </a:solidFill>
              </a:rPr>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smtClean="0"/>
              <a:t>입찰공고상세</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첫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입찰공고상세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148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96009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43013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993842"/>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402518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4107173"/>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3058822" y="2374522"/>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6557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4439133"/>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65574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440101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76207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875402"/>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5069556"/>
            <a:ext cx="792000" cy="11627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506955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5069556"/>
            <a:ext cx="670770" cy="107721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smtClean="0">
                <a:latin typeface="+mn-ea"/>
              </a:rPr>
              <a:t>통합참조번호</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5069556"/>
            <a:ext cx="1814470" cy="1077218"/>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smtClean="0">
                <a:latin typeface="+mn-ea"/>
              </a:rPr>
              <a:t>2025LDG56349</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5300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514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72807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9417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61554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60241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755234"/>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684755"/>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755234"/>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755234"/>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684755"/>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684755"/>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66" name="그룹 165"/>
          <p:cNvGrpSpPr/>
          <p:nvPr/>
        </p:nvGrpSpPr>
        <p:grpSpPr>
          <a:xfrm>
            <a:off x="2714860" y="3684755"/>
            <a:ext cx="603798" cy="187961"/>
            <a:chOff x="2714860" y="3237230"/>
            <a:chExt cx="603798" cy="187961"/>
          </a:xfrm>
        </p:grpSpPr>
        <p:grpSp>
          <p:nvGrpSpPr>
            <p:cNvPr id="167" name="그룹 166"/>
            <p:cNvGrpSpPr/>
            <p:nvPr/>
          </p:nvGrpSpPr>
          <p:grpSpPr>
            <a:xfrm>
              <a:off x="2714860" y="3237230"/>
              <a:ext cx="187961" cy="187961"/>
              <a:chOff x="2714860" y="3237230"/>
              <a:chExt cx="187961" cy="187961"/>
            </a:xfrm>
          </p:grpSpPr>
          <p:sp>
            <p:nvSpPr>
              <p:cNvPr id="169" name="타원 168"/>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68" name="TextBox 167">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1" name="그룹 170"/>
          <p:cNvGrpSpPr/>
          <p:nvPr/>
        </p:nvGrpSpPr>
        <p:grpSpPr>
          <a:xfrm rot="5400000">
            <a:off x="3158978" y="3680120"/>
            <a:ext cx="187961" cy="187961"/>
            <a:chOff x="3876200" y="2234886"/>
            <a:chExt cx="187961" cy="187961"/>
          </a:xfrm>
        </p:grpSpPr>
        <p:sp>
          <p:nvSpPr>
            <p:cNvPr id="172" name="타원 17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3" name="그룹 172"/>
            <p:cNvGrpSpPr/>
            <p:nvPr/>
          </p:nvGrpSpPr>
          <p:grpSpPr>
            <a:xfrm rot="16200000">
              <a:off x="3931564" y="2305364"/>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63" name="그룹 162"/>
          <p:cNvGrpSpPr/>
          <p:nvPr/>
        </p:nvGrpSpPr>
        <p:grpSpPr>
          <a:xfrm>
            <a:off x="677960" y="1582647"/>
            <a:ext cx="2714637" cy="686386"/>
            <a:chOff x="677960" y="1582647"/>
            <a:chExt cx="2714637" cy="686386"/>
          </a:xfrm>
        </p:grpSpPr>
        <p:sp>
          <p:nvSpPr>
            <p:cNvPr id="164" name="TextBox 163">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a:latin typeface="+mn-ea"/>
                </a:rPr>
                <a:t>입찰공고 상세</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6" name="그룹 175"/>
            <p:cNvGrpSpPr/>
            <p:nvPr/>
          </p:nvGrpSpPr>
          <p:grpSpPr>
            <a:xfrm rot="5400000">
              <a:off x="852159" y="2062596"/>
              <a:ext cx="94010" cy="47005"/>
              <a:chOff x="6812560" y="3297172"/>
              <a:chExt cx="94010" cy="47005"/>
            </a:xfrm>
          </p:grpSpPr>
          <p:cxnSp>
            <p:nvCxnSpPr>
              <p:cNvPr id="185" name="직선 연결선 18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7" name="그룹 176"/>
            <p:cNvGrpSpPr/>
            <p:nvPr/>
          </p:nvGrpSpPr>
          <p:grpSpPr>
            <a:xfrm>
              <a:off x="677960" y="1582647"/>
              <a:ext cx="2712027" cy="324286"/>
              <a:chOff x="677960" y="1582647"/>
              <a:chExt cx="2712027" cy="324286"/>
            </a:xfrm>
          </p:grpSpPr>
          <p:pic>
            <p:nvPicPr>
              <p:cNvPr id="178"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79" name="직선 연결선 178">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타원 179"/>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타원 182"/>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4" name="타원 183"/>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189" name="그룹 188"/>
          <p:cNvGrpSpPr/>
          <p:nvPr/>
        </p:nvGrpSpPr>
        <p:grpSpPr>
          <a:xfrm>
            <a:off x="8223250" y="569392"/>
            <a:ext cx="3365500" cy="251875"/>
            <a:chOff x="8223250" y="569392"/>
            <a:chExt cx="3365500" cy="251875"/>
          </a:xfrm>
        </p:grpSpPr>
        <p:sp>
          <p:nvSpPr>
            <p:cNvPr id="190" name="직사각형 18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2026-07-07 </a:t>
              </a:r>
              <a:r>
                <a:rPr lang="ko-KR" altLang="en-US" dirty="0"/>
                <a:t>화면 </a:t>
              </a:r>
              <a:r>
                <a:rPr lang="ko-KR" altLang="en-US" dirty="0" smtClean="0"/>
                <a:t>수정</a:t>
              </a:r>
              <a:endParaRPr lang="ko-KR" altLang="en-US" dirty="0"/>
            </a:p>
          </p:txBody>
        </p:sp>
        <p:sp>
          <p:nvSpPr>
            <p:cNvPr id="191" name="직사각형 190"/>
            <p:cNvSpPr/>
            <p:nvPr/>
          </p:nvSpPr>
          <p:spPr>
            <a:xfrm>
              <a:off x="9906000" y="569392"/>
              <a:ext cx="1682750" cy="25187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FontTx/>
                <a:buAutoNum type="arabicPeriod"/>
              </a:pPr>
              <a:r>
                <a:rPr lang="en-US" altLang="ko-KR" sz="400" dirty="0" smtClean="0"/>
                <a:t>Tab</a:t>
              </a:r>
              <a:r>
                <a:rPr lang="ko-KR" altLang="en-US" sz="400" dirty="0" smtClean="0"/>
                <a:t>구성 정책 정의</a:t>
              </a:r>
              <a:r>
                <a:rPr lang="en-US" altLang="ko-KR" sz="400" dirty="0" smtClean="0"/>
                <a:t/>
              </a:r>
              <a:br>
                <a:rPr lang="en-US" altLang="ko-KR" sz="400" dirty="0" smtClean="0"/>
              </a:br>
              <a:r>
                <a:rPr lang="en-US" altLang="ko-KR" sz="500" dirty="0"/>
                <a:t>- </a:t>
              </a:r>
              <a:r>
                <a:rPr lang="ko-KR" altLang="en-US" sz="500" dirty="0"/>
                <a:t>제안서평가결과 항목 </a:t>
              </a:r>
              <a:r>
                <a:rPr lang="ko-KR" altLang="en-US" sz="500" dirty="0" err="1"/>
                <a:t>노출여부</a:t>
              </a:r>
              <a:r>
                <a:rPr lang="ko-KR" altLang="en-US" sz="500" dirty="0"/>
                <a:t> 및 조회 조건 </a:t>
              </a:r>
              <a:r>
                <a:rPr lang="ko-KR" altLang="en-US" sz="500" dirty="0" err="1" smtClean="0"/>
                <a:t>확인필요</a:t>
              </a:r>
              <a:endParaRPr lang="ko-KR" altLang="en-US" sz="400" dirty="0"/>
            </a:p>
          </p:txBody>
        </p:sp>
      </p:grpSp>
      <p:graphicFrame>
        <p:nvGraphicFramePr>
          <p:cNvPr id="192" name="표 191"/>
          <p:cNvGraphicFramePr>
            <a:graphicFrameLocks noGrp="1"/>
          </p:cNvGraphicFramePr>
          <p:nvPr>
            <p:extLst>
              <p:ext uri="{D42A27DB-BD31-4B8C-83A1-F6EECF244321}">
                <p14:modId xmlns:p14="http://schemas.microsoft.com/office/powerpoint/2010/main" val="534187117"/>
              </p:ext>
            </p:extLst>
          </p:nvPr>
        </p:nvGraphicFramePr>
        <p:xfrm>
          <a:off x="3477945" y="1634665"/>
          <a:ext cx="3499097" cy="2294881"/>
        </p:xfrm>
        <a:graphic>
          <a:graphicData uri="http://schemas.openxmlformats.org/drawingml/2006/table">
            <a:tbl>
              <a:tblPr firstRow="1" bandRow="1">
                <a:tableStyleId>{5C22544A-7EE6-4342-B048-85BDC9FD1C3A}</a:tableStyleId>
              </a:tblPr>
              <a:tblGrid>
                <a:gridCol w="401803">
                  <a:extLst>
                    <a:ext uri="{9D8B030D-6E8A-4147-A177-3AD203B41FA5}">
                      <a16:colId xmlns:a16="http://schemas.microsoft.com/office/drawing/2014/main" val="3629403149"/>
                    </a:ext>
                  </a:extLst>
                </a:gridCol>
                <a:gridCol w="362576">
                  <a:extLst>
                    <a:ext uri="{9D8B030D-6E8A-4147-A177-3AD203B41FA5}">
                      <a16:colId xmlns:a16="http://schemas.microsoft.com/office/drawing/2014/main" val="1460515021"/>
                    </a:ext>
                  </a:extLst>
                </a:gridCol>
                <a:gridCol w="344123">
                  <a:extLst>
                    <a:ext uri="{9D8B030D-6E8A-4147-A177-3AD203B41FA5}">
                      <a16:colId xmlns:a16="http://schemas.microsoft.com/office/drawing/2014/main" val="1918560194"/>
                    </a:ext>
                  </a:extLst>
                </a:gridCol>
                <a:gridCol w="478119">
                  <a:extLst>
                    <a:ext uri="{9D8B030D-6E8A-4147-A177-3AD203B41FA5}">
                      <a16:colId xmlns:a16="http://schemas.microsoft.com/office/drawing/2014/main" val="53436730"/>
                    </a:ext>
                  </a:extLst>
                </a:gridCol>
                <a:gridCol w="478119">
                  <a:extLst>
                    <a:ext uri="{9D8B030D-6E8A-4147-A177-3AD203B41FA5}">
                      <a16:colId xmlns:a16="http://schemas.microsoft.com/office/drawing/2014/main" val="2010932193"/>
                    </a:ext>
                  </a:extLst>
                </a:gridCol>
                <a:gridCol w="478119">
                  <a:extLst>
                    <a:ext uri="{9D8B030D-6E8A-4147-A177-3AD203B41FA5}">
                      <a16:colId xmlns:a16="http://schemas.microsoft.com/office/drawing/2014/main" val="2027724900"/>
                    </a:ext>
                  </a:extLst>
                </a:gridCol>
                <a:gridCol w="478119">
                  <a:extLst>
                    <a:ext uri="{9D8B030D-6E8A-4147-A177-3AD203B41FA5}">
                      <a16:colId xmlns:a16="http://schemas.microsoft.com/office/drawing/2014/main" val="2431535656"/>
                    </a:ext>
                  </a:extLst>
                </a:gridCol>
                <a:gridCol w="478119">
                  <a:extLst>
                    <a:ext uri="{9D8B030D-6E8A-4147-A177-3AD203B41FA5}">
                      <a16:colId xmlns:a16="http://schemas.microsoft.com/office/drawing/2014/main" val="729038074"/>
                    </a:ext>
                  </a:extLst>
                </a:gridCol>
              </a:tblGrid>
              <a:tr h="134993">
                <a:tc gridSpan="2">
                  <a:txBody>
                    <a:bodyPr/>
                    <a:lstStyle/>
                    <a:p>
                      <a:pPr algn="ctr" latinLnBrk="1"/>
                      <a:r>
                        <a:rPr lang="ko-KR" altLang="en-US" sz="500" dirty="0" smtClean="0">
                          <a:solidFill>
                            <a:schemeClr val="tx1"/>
                          </a:solidFill>
                        </a:rPr>
                        <a:t>구분</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일반정보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smtClean="0">
                          <a:solidFill>
                            <a:schemeClr val="tx1"/>
                          </a:solidFill>
                        </a:rPr>
                        <a:t>기초예비가격</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err="1" smtClean="0">
                          <a:solidFill>
                            <a:schemeClr val="tx1"/>
                          </a:solidFill>
                        </a:rPr>
                        <a:t>품목명세서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smtClean="0">
                          <a:solidFill>
                            <a:schemeClr val="tx1"/>
                          </a:solidFill>
                        </a:rPr>
                        <a:t>계약특수조건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err="1" smtClean="0">
                          <a:solidFill>
                            <a:schemeClr val="tx1"/>
                          </a:solidFill>
                        </a:rPr>
                        <a:t>공고문안</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smtClean="0">
                          <a:solidFill>
                            <a:schemeClr val="tx1"/>
                          </a:solidFill>
                        </a:rPr>
                        <a:t>입찰진행현황</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074876776"/>
                  </a:ext>
                </a:extLst>
              </a:tr>
              <a:tr h="134993">
                <a:tc>
                  <a:txBody>
                    <a:bodyPr/>
                    <a:lstStyle/>
                    <a:p>
                      <a:pPr algn="ctr" latinLnBrk="1"/>
                      <a:r>
                        <a:rPr lang="ko-KR" altLang="en-US" sz="500" dirty="0" smtClean="0">
                          <a:solidFill>
                            <a:schemeClr val="tx1"/>
                          </a:solidFill>
                        </a:rPr>
                        <a:t>물품</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일반경쟁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87169711"/>
                  </a:ext>
                </a:extLst>
              </a:tr>
              <a:tr h="134993">
                <a:tc>
                  <a:txBody>
                    <a:bodyPr/>
                    <a:lstStyle/>
                    <a:p>
                      <a:pPr algn="ctr" latinLnBrk="1"/>
                      <a:r>
                        <a:rPr lang="ko-KR" altLang="en-US" sz="500" dirty="0" smtClean="0">
                          <a:solidFill>
                            <a:schemeClr val="tx1"/>
                          </a:solidFill>
                        </a:rPr>
                        <a:t>물품</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지명경쟁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740103"/>
                  </a:ext>
                </a:extLst>
              </a:tr>
              <a:tr h="134993">
                <a:tc>
                  <a:txBody>
                    <a:bodyPr/>
                    <a:lstStyle/>
                    <a:p>
                      <a:pPr algn="ctr" latinLnBrk="1"/>
                      <a:r>
                        <a:rPr lang="ko-KR" altLang="en-US" sz="500" dirty="0" smtClean="0">
                          <a:solidFill>
                            <a:schemeClr val="tx1"/>
                          </a:solidFill>
                        </a:rPr>
                        <a:t>물품</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제한경쟁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86839540"/>
                  </a:ext>
                </a:extLst>
              </a:tr>
              <a:tr h="134993">
                <a:tc>
                  <a:txBody>
                    <a:bodyPr/>
                    <a:lstStyle/>
                    <a:p>
                      <a:pPr algn="ctr" latinLnBrk="1"/>
                      <a:r>
                        <a:rPr lang="ko-KR" altLang="en-US" sz="500" dirty="0" smtClean="0">
                          <a:solidFill>
                            <a:schemeClr val="tx1"/>
                          </a:solidFill>
                        </a:rPr>
                        <a:t>물품</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수의계약</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58730365"/>
                  </a:ext>
                </a:extLst>
              </a:tr>
              <a:tr h="134993">
                <a:tc>
                  <a:txBody>
                    <a:bodyPr/>
                    <a:lstStyle/>
                    <a:p>
                      <a:pPr algn="ctr" latinLnBrk="1"/>
                      <a:r>
                        <a:rPr lang="ko-KR" altLang="en-US" sz="500" dirty="0" smtClean="0">
                          <a:solidFill>
                            <a:schemeClr val="tx1"/>
                          </a:solidFill>
                        </a:rPr>
                        <a:t>일반용역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일반경쟁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03052062"/>
                  </a:ext>
                </a:extLst>
              </a:tr>
              <a:tr h="134993">
                <a:tc>
                  <a:txBody>
                    <a:bodyPr/>
                    <a:lstStyle/>
                    <a:p>
                      <a:pPr algn="ctr" latinLnBrk="1"/>
                      <a:r>
                        <a:rPr lang="ko-KR" altLang="en-US" sz="500" dirty="0" smtClean="0">
                          <a:solidFill>
                            <a:schemeClr val="tx1"/>
                          </a:solidFill>
                        </a:rPr>
                        <a:t>일반용역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지명경쟁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59969942"/>
                  </a:ext>
                </a:extLst>
              </a:tr>
              <a:tr h="134993">
                <a:tc>
                  <a:txBody>
                    <a:bodyPr/>
                    <a:lstStyle/>
                    <a:p>
                      <a:pPr algn="ctr" latinLnBrk="1"/>
                      <a:r>
                        <a:rPr lang="ko-KR" altLang="en-US" sz="500" dirty="0" smtClean="0">
                          <a:solidFill>
                            <a:schemeClr val="tx1"/>
                          </a:solidFill>
                        </a:rPr>
                        <a:t>일반용역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제한경쟁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8955307"/>
                  </a:ext>
                </a:extLst>
              </a:tr>
              <a:tr h="134993">
                <a:tc>
                  <a:txBody>
                    <a:bodyPr/>
                    <a:lstStyle/>
                    <a:p>
                      <a:pPr algn="ctr" latinLnBrk="1"/>
                      <a:r>
                        <a:rPr lang="ko-KR" altLang="en-US" sz="500" dirty="0" smtClean="0">
                          <a:solidFill>
                            <a:schemeClr val="tx1"/>
                          </a:solidFill>
                        </a:rPr>
                        <a:t>일반용역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수의계약</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54924294"/>
                  </a:ext>
                </a:extLst>
              </a:tr>
              <a:tr h="134993">
                <a:tc>
                  <a:txBody>
                    <a:bodyPr/>
                    <a:lstStyle/>
                    <a:p>
                      <a:pPr algn="ctr" latinLnBrk="1"/>
                      <a:r>
                        <a:rPr lang="ko-KR" altLang="en-US" sz="500" dirty="0" smtClean="0">
                          <a:solidFill>
                            <a:schemeClr val="tx1"/>
                          </a:solidFill>
                        </a:rPr>
                        <a:t>기술용역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일반경쟁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85107337"/>
                  </a:ext>
                </a:extLst>
              </a:tr>
              <a:tr h="134993">
                <a:tc>
                  <a:txBody>
                    <a:bodyPr/>
                    <a:lstStyle/>
                    <a:p>
                      <a:pPr algn="ctr" latinLnBrk="1"/>
                      <a:r>
                        <a:rPr lang="ko-KR" altLang="en-US" sz="500" dirty="0" smtClean="0">
                          <a:solidFill>
                            <a:schemeClr val="tx1"/>
                          </a:solidFill>
                        </a:rPr>
                        <a:t>기술용역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지명경쟁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26858037"/>
                  </a:ext>
                </a:extLst>
              </a:tr>
              <a:tr h="134993">
                <a:tc>
                  <a:txBody>
                    <a:bodyPr/>
                    <a:lstStyle/>
                    <a:p>
                      <a:pPr algn="ctr" latinLnBrk="1"/>
                      <a:r>
                        <a:rPr lang="ko-KR" altLang="en-US" sz="500" dirty="0" smtClean="0">
                          <a:solidFill>
                            <a:schemeClr val="tx1"/>
                          </a:solidFill>
                        </a:rPr>
                        <a:t>기술용역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제한경쟁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500" dirty="0" smtClean="0">
                          <a:solidFill>
                            <a:schemeClr val="tx1"/>
                          </a:solidFill>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26687968"/>
                  </a:ext>
                </a:extLst>
              </a:tr>
              <a:tr h="134993">
                <a:tc>
                  <a:txBody>
                    <a:bodyPr/>
                    <a:lstStyle/>
                    <a:p>
                      <a:pPr algn="ctr" latinLnBrk="1"/>
                      <a:r>
                        <a:rPr lang="ko-KR" altLang="en-US" sz="500" dirty="0" smtClean="0">
                          <a:solidFill>
                            <a:schemeClr val="tx1"/>
                          </a:solidFill>
                        </a:rPr>
                        <a:t>기술용역</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수의계약</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8077588"/>
                  </a:ext>
                </a:extLst>
              </a:tr>
              <a:tr h="134993">
                <a:tc>
                  <a:txBody>
                    <a:bodyPr/>
                    <a:lstStyle/>
                    <a:p>
                      <a:pPr algn="ctr" latinLnBrk="1"/>
                      <a:r>
                        <a:rPr lang="ko-KR" altLang="en-US" sz="500" dirty="0" smtClean="0">
                          <a:solidFill>
                            <a:schemeClr val="tx1"/>
                          </a:solidFill>
                        </a:rPr>
                        <a:t>공사</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일반경쟁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77438913"/>
                  </a:ext>
                </a:extLst>
              </a:tr>
              <a:tr h="134993">
                <a:tc>
                  <a:txBody>
                    <a:bodyPr/>
                    <a:lstStyle/>
                    <a:p>
                      <a:pPr algn="ctr" latinLnBrk="1"/>
                      <a:r>
                        <a:rPr lang="ko-KR" altLang="en-US" sz="500" dirty="0" smtClean="0">
                          <a:solidFill>
                            <a:schemeClr val="tx1"/>
                          </a:solidFill>
                        </a:rPr>
                        <a:t>공사</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지명경쟁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2590084"/>
                  </a:ext>
                </a:extLst>
              </a:tr>
              <a:tr h="134993">
                <a:tc>
                  <a:txBody>
                    <a:bodyPr/>
                    <a:lstStyle/>
                    <a:p>
                      <a:pPr algn="ctr" latinLnBrk="1"/>
                      <a:r>
                        <a:rPr lang="ko-KR" altLang="en-US" sz="500" dirty="0" smtClean="0">
                          <a:solidFill>
                            <a:schemeClr val="tx1"/>
                          </a:solidFill>
                        </a:rPr>
                        <a:t>공사</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제한경쟁</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836772"/>
                  </a:ext>
                </a:extLst>
              </a:tr>
              <a:tr h="134993">
                <a:tc>
                  <a:txBody>
                    <a:bodyPr/>
                    <a:lstStyle/>
                    <a:p>
                      <a:pPr algn="ctr" latinLnBrk="1"/>
                      <a:r>
                        <a:rPr lang="ko-KR" altLang="en-US" sz="500" dirty="0" smtClean="0">
                          <a:solidFill>
                            <a:schemeClr val="tx1"/>
                          </a:solidFill>
                        </a:rPr>
                        <a:t>공사</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수의계약</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5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5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78694988"/>
                  </a:ext>
                </a:extLst>
              </a:tr>
            </a:tbl>
          </a:graphicData>
        </a:graphic>
      </p:graphicFrame>
      <p:sp>
        <p:nvSpPr>
          <p:cNvPr id="193" name="직사각형 192"/>
          <p:cNvSpPr/>
          <p:nvPr/>
        </p:nvSpPr>
        <p:spPr>
          <a:xfrm>
            <a:off x="3395869" y="1428345"/>
            <a:ext cx="1141201" cy="184666"/>
          </a:xfrm>
          <a:prstGeom prst="rect">
            <a:avLst/>
          </a:prstGeom>
        </p:spPr>
        <p:txBody>
          <a:bodyPr wrap="square">
            <a:spAutoFit/>
          </a:bodyPr>
          <a:lstStyle/>
          <a:p>
            <a:r>
              <a:rPr lang="en-US" altLang="ko-KR" sz="600" b="1" dirty="0" smtClean="0"/>
              <a:t>Tab </a:t>
            </a:r>
            <a:r>
              <a:rPr lang="ko-KR" altLang="en-US" sz="600" b="1" dirty="0" smtClean="0"/>
              <a:t>구성 정책</a:t>
            </a:r>
            <a:endParaRPr lang="ko-KR" altLang="en-US" sz="600" b="1" dirty="0"/>
          </a:p>
        </p:txBody>
      </p:sp>
      <p:grpSp>
        <p:nvGrpSpPr>
          <p:cNvPr id="225" name="그룹 224"/>
          <p:cNvGrpSpPr/>
          <p:nvPr/>
        </p:nvGrpSpPr>
        <p:grpSpPr>
          <a:xfrm>
            <a:off x="764934" y="2349193"/>
            <a:ext cx="2186266" cy="434465"/>
            <a:chOff x="781461" y="2610063"/>
            <a:chExt cx="2186266" cy="434465"/>
          </a:xfrm>
        </p:grpSpPr>
        <p:sp>
          <p:nvSpPr>
            <p:cNvPr id="226" name="TextBox 58">
              <a:extLst>
                <a:ext uri="{FF2B5EF4-FFF2-40B4-BE49-F238E27FC236}">
                  <a16:creationId xmlns:a16="http://schemas.microsoft.com/office/drawing/2014/main" id="{02FC114B-B48B-345F-BD70-2B5A196F5B3E}"/>
                </a:ext>
              </a:extLst>
            </p:cNvPr>
            <p:cNvSpPr txBox="1"/>
            <p:nvPr/>
          </p:nvSpPr>
          <p:spPr>
            <a:xfrm>
              <a:off x="808106" y="2798307"/>
              <a:ext cx="2159621"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mn-ea"/>
                </a:rPr>
                <a:t>G2B</a:t>
              </a:r>
              <a:r>
                <a:rPr lang="ko-KR" altLang="en-US" sz="700" dirty="0" err="1" smtClean="0">
                  <a:latin typeface="+mn-ea"/>
                </a:rPr>
                <a:t>공고번호</a:t>
              </a:r>
              <a:r>
                <a:rPr lang="ko-KR" altLang="en-US" sz="700" dirty="0" smtClean="0">
                  <a:latin typeface="+mn-ea"/>
                </a:rPr>
                <a:t> </a:t>
              </a:r>
              <a:r>
                <a:rPr lang="en-US" altLang="ko-KR" sz="700" dirty="0" smtClean="0">
                  <a:latin typeface="+mn-ea"/>
                </a:rPr>
                <a:t>: </a:t>
              </a:r>
              <a:r>
                <a:rPr lang="en-US" altLang="ko-KR" sz="700" dirty="0" smtClean="0"/>
                <a:t>2026LGM000604191-01</a:t>
              </a:r>
              <a:endParaRPr lang="en-US" altLang="ko-KR" sz="700" dirty="0"/>
            </a:p>
            <a:p>
              <a:r>
                <a:rPr lang="en-US" altLang="ko-KR" sz="900" b="1" dirty="0" smtClean="0"/>
                <a:t>(</a:t>
              </a:r>
              <a:r>
                <a:rPr lang="ko-KR" altLang="en-US" sz="900" b="1" dirty="0" smtClean="0"/>
                <a:t>입찰 건명</a:t>
              </a:r>
              <a:r>
                <a:rPr lang="en-US" altLang="ko-KR" sz="900" b="1" dirty="0" smtClean="0"/>
                <a:t>) </a:t>
              </a:r>
              <a:r>
                <a:rPr lang="ko-KR" altLang="en-US" sz="900" b="1" dirty="0" err="1" smtClean="0"/>
                <a:t>입찰건명을</a:t>
              </a:r>
              <a:r>
                <a:rPr lang="ko-KR" altLang="en-US" sz="900" b="1" dirty="0" smtClean="0"/>
                <a:t> 노출하는 영역</a:t>
              </a:r>
              <a:endParaRPr lang="en-US" altLang="ko-KR" sz="900" b="1" dirty="0" smtClean="0"/>
            </a:p>
          </p:txBody>
        </p:sp>
        <p:sp>
          <p:nvSpPr>
            <p:cNvPr id="227" name="모서리가 둥근 직사각형 226"/>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smtClean="0">
                  <a:solidFill>
                    <a:schemeClr val="dk1"/>
                  </a:solidFill>
                </a:rPr>
                <a:t>용역</a:t>
              </a:r>
              <a:endParaRPr lang="ko-KR" altLang="en-US" sz="600" dirty="0">
                <a:solidFill>
                  <a:schemeClr val="dk1"/>
                </a:solidFill>
              </a:endParaRPr>
            </a:p>
          </p:txBody>
        </p:sp>
        <p:sp>
          <p:nvSpPr>
            <p:cNvPr id="228" name="모서리가 둥근 직사각형 227"/>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smtClean="0"/>
                <a:t>경쟁입찰</a:t>
              </a:r>
              <a:endParaRPr lang="ko-KR" altLang="en-US" sz="600" dirty="0"/>
            </a:p>
          </p:txBody>
        </p:sp>
      </p:grpSp>
      <p:grpSp>
        <p:nvGrpSpPr>
          <p:cNvPr id="229" name="그룹 228"/>
          <p:cNvGrpSpPr/>
          <p:nvPr/>
        </p:nvGrpSpPr>
        <p:grpSpPr>
          <a:xfrm>
            <a:off x="791579" y="2837348"/>
            <a:ext cx="2461380" cy="692497"/>
            <a:chOff x="783686" y="4433552"/>
            <a:chExt cx="2461380" cy="692497"/>
          </a:xfrm>
        </p:grpSpPr>
        <p:sp>
          <p:nvSpPr>
            <p:cNvPr id="230" name="TextBox 59">
              <a:extLst>
                <a:ext uri="{FF2B5EF4-FFF2-40B4-BE49-F238E27FC236}">
                  <a16:creationId xmlns:a16="http://schemas.microsoft.com/office/drawing/2014/main" id="{F77C802D-3BC8-270F-87FC-5F442BD8054D}"/>
                </a:ext>
              </a:extLst>
            </p:cNvPr>
            <p:cNvSpPr txBox="1"/>
            <p:nvPr/>
          </p:nvSpPr>
          <p:spPr>
            <a:xfrm>
              <a:off x="783686" y="4433552"/>
              <a:ext cx="769441"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발주기관</a:t>
              </a:r>
              <a:endParaRPr lang="en-US" altLang="ko-KR" sz="600" dirty="0" smtClean="0">
                <a:latin typeface="+mn-ea"/>
              </a:endParaRPr>
            </a:p>
            <a:p>
              <a:pPr>
                <a:lnSpc>
                  <a:spcPct val="150000"/>
                </a:lnSpc>
              </a:pPr>
              <a:r>
                <a:rPr lang="ko-KR" altLang="en-US" sz="600" dirty="0">
                  <a:latin typeface="+mn-ea"/>
                </a:rPr>
                <a:t>기초예가금액</a:t>
              </a:r>
              <a:endParaRPr lang="ko-KR" altLang="en-US" sz="500" dirty="0">
                <a:latin typeface="+mn-ea"/>
              </a:endParaRPr>
            </a:p>
            <a:p>
              <a:pPr>
                <a:lnSpc>
                  <a:spcPct val="150000"/>
                </a:lnSpc>
              </a:pPr>
              <a:r>
                <a:rPr lang="ko-KR" altLang="en-US" sz="600" dirty="0" smtClean="0">
                  <a:latin typeface="+mn-ea"/>
                </a:rPr>
                <a:t>생산능력제출마감일시</a:t>
              </a:r>
              <a:endParaRPr lang="en-US" altLang="ko-KR" sz="600" dirty="0" smtClean="0">
                <a:latin typeface="+mn-ea"/>
              </a:endParaRPr>
            </a:p>
            <a:p>
              <a:pPr>
                <a:lnSpc>
                  <a:spcPct val="150000"/>
                </a:lnSpc>
              </a:pPr>
              <a:r>
                <a:rPr lang="ko-KR" altLang="en-US" sz="600" dirty="0" err="1" smtClean="0">
                  <a:latin typeface="+mn-ea"/>
                </a:rPr>
                <a:t>입찰참가등록마감일시</a:t>
              </a:r>
              <a:endParaRPr lang="en-US" altLang="ko-KR" sz="600" dirty="0" smtClean="0">
                <a:latin typeface="+mn-ea"/>
              </a:endParaRPr>
            </a:p>
            <a:p>
              <a:pPr>
                <a:lnSpc>
                  <a:spcPct val="150000"/>
                </a:lnSpc>
              </a:pPr>
              <a:r>
                <a:rPr lang="ko-KR" altLang="en-US" sz="600" dirty="0" smtClean="0">
                  <a:latin typeface="+mn-ea"/>
                </a:rPr>
                <a:t>입찰서제출마감일시</a:t>
              </a:r>
              <a:endParaRPr lang="en-US" altLang="ko-KR" sz="600" dirty="0" smtClean="0">
                <a:latin typeface="+mn-ea"/>
              </a:endParaRPr>
            </a:p>
          </p:txBody>
        </p:sp>
        <p:sp>
          <p:nvSpPr>
            <p:cNvPr id="235" name="TextBox 59">
              <a:extLst>
                <a:ext uri="{FF2B5EF4-FFF2-40B4-BE49-F238E27FC236}">
                  <a16:creationId xmlns:a16="http://schemas.microsoft.com/office/drawing/2014/main" id="{F77C802D-3BC8-270F-87FC-5F442BD8054D}"/>
                </a:ext>
              </a:extLst>
            </p:cNvPr>
            <p:cNvSpPr txBox="1"/>
            <p:nvPr/>
          </p:nvSpPr>
          <p:spPr>
            <a:xfrm>
              <a:off x="2757753" y="4433552"/>
              <a:ext cx="487313"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한국전력공사</a:t>
              </a:r>
              <a:endParaRPr lang="en-US" altLang="ko-KR" sz="600" dirty="0" smtClean="0">
                <a:latin typeface="+mn-ea"/>
              </a:endParaRPr>
            </a:p>
            <a:p>
              <a:pPr>
                <a:lnSpc>
                  <a:spcPct val="150000"/>
                </a:lnSpc>
              </a:pPr>
              <a:r>
                <a:rPr lang="en-US" altLang="ko-KR" sz="600" dirty="0" smtClean="0">
                  <a:latin typeface="+mn-ea"/>
                </a:rPr>
                <a:t>150,000,000</a:t>
              </a:r>
              <a:r>
                <a:rPr lang="ko-KR" altLang="en-US" sz="600" dirty="0" smtClean="0">
                  <a:latin typeface="+mn-ea"/>
                </a:rPr>
                <a:t>원</a:t>
              </a:r>
              <a:endParaRPr lang="en-US" altLang="ko-KR" sz="600" dirty="0" smtClean="0">
                <a:latin typeface="+mn-ea"/>
              </a:endParaRPr>
            </a:p>
            <a:p>
              <a:pPr>
                <a:lnSpc>
                  <a:spcPct val="150000"/>
                </a:lnSpc>
              </a:pPr>
              <a:r>
                <a:rPr lang="en-US" altLang="ko-KR" sz="600" dirty="0" smtClean="0">
                  <a:latin typeface="+mn-ea"/>
                </a:rPr>
                <a:t>2026-07-15</a:t>
              </a:r>
            </a:p>
            <a:p>
              <a:pPr>
                <a:lnSpc>
                  <a:spcPct val="150000"/>
                </a:lnSpc>
              </a:pPr>
              <a:r>
                <a:rPr lang="en-US" altLang="ko-KR" sz="600" dirty="0" smtClean="0">
                  <a:latin typeface="+mn-ea"/>
                </a:rPr>
                <a:t>2026-07-17</a:t>
              </a:r>
              <a:br>
                <a:rPr lang="en-US" altLang="ko-KR" sz="600" dirty="0" smtClean="0">
                  <a:latin typeface="+mn-ea"/>
                </a:rPr>
              </a:br>
              <a:r>
                <a:rPr lang="en-US" altLang="ko-KR" sz="600" dirty="0" smtClean="0">
                  <a:latin typeface="+mn-ea"/>
                </a:rPr>
                <a:t>2026-07-18</a:t>
              </a:r>
              <a:endParaRPr lang="en-US" altLang="ko-KR" sz="600" dirty="0">
                <a:latin typeface="+mn-ea"/>
              </a:endParaRPr>
            </a:p>
          </p:txBody>
        </p:sp>
      </p:grpSp>
      <p:sp>
        <p:nvSpPr>
          <p:cNvPr id="236" name="모서리가 둥근 직사각형 235"/>
          <p:cNvSpPr/>
          <p:nvPr/>
        </p:nvSpPr>
        <p:spPr>
          <a:xfrm>
            <a:off x="1506263" y="234919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smtClean="0"/>
              <a:t>취급공고</a:t>
            </a:r>
            <a:endParaRPr lang="ko-KR" altLang="en-US" sz="600" dirty="0"/>
          </a:p>
        </p:txBody>
      </p:sp>
      <p:grpSp>
        <p:nvGrpSpPr>
          <p:cNvPr id="237" name="그룹 236">
            <a:extLst>
              <a:ext uri="{FF2B5EF4-FFF2-40B4-BE49-F238E27FC236}">
                <a16:creationId xmlns:a16="http://schemas.microsoft.com/office/drawing/2014/main" id="{22BC05EE-C648-7CA2-4CCC-6E1C1A7E9BDA}"/>
              </a:ext>
            </a:extLst>
          </p:cNvPr>
          <p:cNvGrpSpPr/>
          <p:nvPr/>
        </p:nvGrpSpPr>
        <p:grpSpPr>
          <a:xfrm>
            <a:off x="1919209" y="6141388"/>
            <a:ext cx="76863" cy="292489"/>
            <a:chOff x="3750067" y="4683795"/>
            <a:chExt cx="76863" cy="292489"/>
          </a:xfrm>
        </p:grpSpPr>
        <p:sp>
          <p:nvSpPr>
            <p:cNvPr id="238" name="타원 237">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9" name="타원 23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0" name="타원 23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10" name="직사각형 109"/>
          <p:cNvSpPr/>
          <p:nvPr/>
        </p:nvSpPr>
        <p:spPr>
          <a:xfrm>
            <a:off x="8223250" y="80359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2026-07-08 </a:t>
            </a:r>
            <a:r>
              <a:rPr lang="ko-KR" altLang="en-US" dirty="0"/>
              <a:t>화면 </a:t>
            </a:r>
            <a:r>
              <a:rPr lang="ko-KR" altLang="en-US" dirty="0" smtClean="0"/>
              <a:t>수정 </a:t>
            </a:r>
            <a:endParaRPr lang="ko-KR" altLang="en-US" dirty="0"/>
          </a:p>
        </p:txBody>
      </p:sp>
      <p:sp>
        <p:nvSpPr>
          <p:cNvPr id="6" name="직사각형 5"/>
          <p:cNvSpPr/>
          <p:nvPr/>
        </p:nvSpPr>
        <p:spPr>
          <a:xfrm>
            <a:off x="5981700" y="1582647"/>
            <a:ext cx="581061" cy="2411195"/>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직사각형 110"/>
          <p:cNvSpPr/>
          <p:nvPr/>
        </p:nvSpPr>
        <p:spPr>
          <a:xfrm>
            <a:off x="8223250" y="103008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2026-08-13 </a:t>
            </a:r>
            <a:r>
              <a:rPr lang="ko-KR" altLang="en-US" dirty="0" smtClean="0"/>
              <a:t>설명 수정 </a:t>
            </a:r>
            <a:endParaRPr lang="ko-KR" altLang="en-US" dirty="0"/>
          </a:p>
        </p:txBody>
      </p:sp>
    </p:spTree>
    <p:extLst>
      <p:ext uri="{BB962C8B-B14F-4D97-AF65-F5344CB8AC3E}">
        <p14:creationId xmlns:p14="http://schemas.microsoft.com/office/powerpoint/2010/main" val="1166120383"/>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입찰공고상세</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첫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입찰공고상세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6"/>
            <a:ext cx="2712027" cy="5060755"/>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148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7" name="모서리가 둥근 직사각형 66"/>
          <p:cNvSpPr/>
          <p:nvPr/>
        </p:nvSpPr>
        <p:spPr>
          <a:xfrm>
            <a:off x="781461" y="2398625"/>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398625"/>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93711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42783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970863"/>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400220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4084194"/>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3058822" y="2374522"/>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6327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4416154"/>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632761"/>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4378031"/>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73909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852423"/>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5046577"/>
            <a:ext cx="792000" cy="16102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50465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5046577"/>
            <a:ext cx="670770"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5046577"/>
            <a:ext cx="1814470"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2025LDG56349</a:t>
            </a:r>
          </a:p>
          <a:p>
            <a:pPr>
              <a:lnSpc>
                <a:spcPct val="200000"/>
              </a:lnSpc>
            </a:pPr>
            <a:r>
              <a:rPr lang="en-US" altLang="ko-KR" sz="700" dirty="0">
                <a:latin typeface="+mn-ea"/>
              </a:rPr>
              <a:t>1 AY</a:t>
            </a:r>
          </a:p>
          <a:p>
            <a:pPr>
              <a:lnSpc>
                <a:spcPct val="200000"/>
              </a:lnSpc>
            </a:pPr>
            <a:r>
              <a:rPr lang="ko-KR" altLang="en-US" sz="700" dirty="0">
                <a:latin typeface="+mn-ea"/>
              </a:rPr>
              <a:t>제조</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52776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4913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7050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9188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613251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63462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655992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57943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732255"/>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661776"/>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732255"/>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732255"/>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661776"/>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661776"/>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66" name="그룹 165"/>
          <p:cNvGrpSpPr/>
          <p:nvPr/>
        </p:nvGrpSpPr>
        <p:grpSpPr>
          <a:xfrm>
            <a:off x="2714860" y="3661776"/>
            <a:ext cx="603798" cy="187961"/>
            <a:chOff x="2714860" y="3237230"/>
            <a:chExt cx="603798" cy="187961"/>
          </a:xfrm>
        </p:grpSpPr>
        <p:grpSp>
          <p:nvGrpSpPr>
            <p:cNvPr id="167" name="그룹 166"/>
            <p:cNvGrpSpPr/>
            <p:nvPr/>
          </p:nvGrpSpPr>
          <p:grpSpPr>
            <a:xfrm>
              <a:off x="2714860" y="3237230"/>
              <a:ext cx="187961" cy="187961"/>
              <a:chOff x="2714860" y="3237230"/>
              <a:chExt cx="187961" cy="187961"/>
            </a:xfrm>
          </p:grpSpPr>
          <p:sp>
            <p:nvSpPr>
              <p:cNvPr id="169" name="타원 168"/>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68" name="TextBox 167">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1" name="그룹 170"/>
          <p:cNvGrpSpPr/>
          <p:nvPr/>
        </p:nvGrpSpPr>
        <p:grpSpPr>
          <a:xfrm rot="5400000">
            <a:off x="3158978" y="3657141"/>
            <a:ext cx="187961" cy="187961"/>
            <a:chOff x="3876200" y="2234886"/>
            <a:chExt cx="187961" cy="187961"/>
          </a:xfrm>
        </p:grpSpPr>
        <p:sp>
          <p:nvSpPr>
            <p:cNvPr id="172" name="타원 17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3" name="그룹 172"/>
            <p:cNvGrpSpPr/>
            <p:nvPr/>
          </p:nvGrpSpPr>
          <p:grpSpPr>
            <a:xfrm rot="16200000">
              <a:off x="3931564" y="2305364"/>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63" name="그룹 162"/>
          <p:cNvGrpSpPr/>
          <p:nvPr/>
        </p:nvGrpSpPr>
        <p:grpSpPr>
          <a:xfrm>
            <a:off x="677960" y="1582647"/>
            <a:ext cx="2714637" cy="686386"/>
            <a:chOff x="677960" y="1582647"/>
            <a:chExt cx="2714637" cy="686386"/>
          </a:xfrm>
        </p:grpSpPr>
        <p:sp>
          <p:nvSpPr>
            <p:cNvPr id="164" name="TextBox 163">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a:latin typeface="+mn-ea"/>
                </a:rPr>
                <a:t>입찰공고 상세</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6" name="그룹 175"/>
            <p:cNvGrpSpPr/>
            <p:nvPr/>
          </p:nvGrpSpPr>
          <p:grpSpPr>
            <a:xfrm rot="5400000">
              <a:off x="852159" y="2062596"/>
              <a:ext cx="94010" cy="47005"/>
              <a:chOff x="6812560" y="3297172"/>
              <a:chExt cx="94010" cy="47005"/>
            </a:xfrm>
          </p:grpSpPr>
          <p:cxnSp>
            <p:nvCxnSpPr>
              <p:cNvPr id="185" name="직선 연결선 18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7" name="그룹 176"/>
            <p:cNvGrpSpPr/>
            <p:nvPr/>
          </p:nvGrpSpPr>
          <p:grpSpPr>
            <a:xfrm>
              <a:off x="677960" y="1582647"/>
              <a:ext cx="2712027" cy="324286"/>
              <a:chOff x="677960" y="1582647"/>
              <a:chExt cx="2712027" cy="324286"/>
            </a:xfrm>
          </p:grpSpPr>
          <p:pic>
            <p:nvPicPr>
              <p:cNvPr id="178"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79" name="직선 연결선 178">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타원 179"/>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타원 182"/>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4" name="타원 183"/>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189" name="그룹 188"/>
          <p:cNvGrpSpPr/>
          <p:nvPr/>
        </p:nvGrpSpPr>
        <p:grpSpPr>
          <a:xfrm>
            <a:off x="8223250" y="569392"/>
            <a:ext cx="3365500" cy="634511"/>
            <a:chOff x="8223250" y="569392"/>
            <a:chExt cx="3365500" cy="634511"/>
          </a:xfrm>
        </p:grpSpPr>
        <p:sp>
          <p:nvSpPr>
            <p:cNvPr id="190" name="직사각형 18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2026-07-06 </a:t>
              </a:r>
              <a:r>
                <a:rPr lang="ko-KR" altLang="en-US" dirty="0"/>
                <a:t>화면 </a:t>
              </a:r>
              <a:r>
                <a:rPr lang="ko-KR" altLang="en-US" dirty="0" smtClean="0"/>
                <a:t>수정</a:t>
              </a:r>
              <a:endParaRPr lang="ko-KR" altLang="en-US" dirty="0"/>
            </a:p>
          </p:txBody>
        </p:sp>
        <p:sp>
          <p:nvSpPr>
            <p:cNvPr id="191" name="직사각형 19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앱바</a:t>
              </a:r>
              <a:r>
                <a:rPr lang="ko-KR" altLang="en-US" sz="700" dirty="0" smtClean="0"/>
                <a:t> 영역 변경</a:t>
              </a:r>
              <a:r>
                <a:rPr lang="en-US" altLang="ko-KR" sz="700" dirty="0" smtClean="0"/>
                <a:t/>
              </a:r>
              <a:br>
                <a:rPr lang="en-US" altLang="ko-KR" sz="700" dirty="0" smtClean="0"/>
              </a:br>
              <a:r>
                <a:rPr lang="en-US" altLang="ko-KR" sz="700" dirty="0" smtClean="0"/>
                <a:t>- </a:t>
              </a:r>
              <a:r>
                <a:rPr lang="ko-KR" altLang="en-US" sz="700" dirty="0" err="1" smtClean="0"/>
                <a:t>앱바는</a:t>
              </a:r>
              <a:r>
                <a:rPr lang="ko-KR" altLang="en-US" sz="700" dirty="0" smtClean="0"/>
                <a:t> </a:t>
              </a:r>
              <a:r>
                <a:rPr lang="ko-KR" altLang="en-US" sz="700" dirty="0" err="1" smtClean="0"/>
                <a:t>메인과</a:t>
              </a:r>
              <a:r>
                <a:rPr lang="ko-KR" altLang="en-US" sz="700" dirty="0" smtClean="0"/>
                <a:t> 동일하게 표시</a:t>
              </a:r>
              <a:r>
                <a:rPr lang="en-US" altLang="ko-KR" sz="700" dirty="0" smtClean="0"/>
                <a:t/>
              </a:r>
              <a:br>
                <a:rPr lang="en-US" altLang="ko-KR" sz="700" dirty="0" smtClean="0"/>
              </a:br>
              <a:r>
                <a:rPr lang="en-US" altLang="ko-KR" sz="700" dirty="0" smtClean="0"/>
                <a:t>- </a:t>
              </a:r>
              <a:r>
                <a:rPr lang="ko-KR" altLang="en-US" sz="700" dirty="0" smtClean="0"/>
                <a:t>하단에 페이지 </a:t>
              </a:r>
              <a:r>
                <a:rPr lang="ko-KR" altLang="en-US" sz="700" dirty="0" err="1" smtClean="0"/>
                <a:t>뒤로가기</a:t>
              </a:r>
              <a:r>
                <a:rPr lang="ko-KR" altLang="en-US" sz="700" dirty="0" smtClean="0"/>
                <a:t> 및 페이지 타이틀 영역 추가</a:t>
              </a:r>
              <a:endParaRPr lang="ko-KR" altLang="en-US" sz="700" dirty="0"/>
            </a:p>
          </p:txBody>
        </p:sp>
        <p:sp>
          <p:nvSpPr>
            <p:cNvPr id="197" name="직사각형 196"/>
            <p:cNvSpPr/>
            <p:nvPr/>
          </p:nvSpPr>
          <p:spPr>
            <a:xfrm>
              <a:off x="8223250" y="79056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특이사항수정</a:t>
              </a:r>
              <a:endParaRPr lang="ko-KR" altLang="en-US" dirty="0"/>
            </a:p>
          </p:txBody>
        </p:sp>
      </p:grpSp>
      <p:sp>
        <p:nvSpPr>
          <p:cNvPr id="202" name="평행 사변형 201"/>
          <p:cNvSpPr/>
          <p:nvPr/>
        </p:nvSpPr>
        <p:spPr>
          <a:xfrm rot="16200000" flipH="1">
            <a:off x="2386190" y="2503093"/>
            <a:ext cx="2410786" cy="408308"/>
          </a:xfrm>
          <a:prstGeom prst="parallelogram">
            <a:avLst>
              <a:gd name="adj" fmla="val 499411"/>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2" name="타원 191">
            <a:extLst>
              <a:ext uri="{FF2B5EF4-FFF2-40B4-BE49-F238E27FC236}">
                <a16:creationId xmlns:a16="http://schemas.microsoft.com/office/drawing/2014/main" id="{37A7FF4F-0EAA-1463-560A-D5EC24416103}"/>
              </a:ext>
            </a:extLst>
          </p:cNvPr>
          <p:cNvSpPr/>
          <p:nvPr/>
        </p:nvSpPr>
        <p:spPr>
          <a:xfrm>
            <a:off x="575035" y="204634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193" name="타원 192">
            <a:extLst>
              <a:ext uri="{FF2B5EF4-FFF2-40B4-BE49-F238E27FC236}">
                <a16:creationId xmlns:a16="http://schemas.microsoft.com/office/drawing/2014/main" id="{37A7FF4F-0EAA-1463-560A-D5EC24416103}"/>
              </a:ext>
            </a:extLst>
          </p:cNvPr>
          <p:cNvSpPr/>
          <p:nvPr/>
        </p:nvSpPr>
        <p:spPr>
          <a:xfrm>
            <a:off x="571127" y="372828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200" name="타원 199">
            <a:extLst>
              <a:ext uri="{FF2B5EF4-FFF2-40B4-BE49-F238E27FC236}">
                <a16:creationId xmlns:a16="http://schemas.microsoft.com/office/drawing/2014/main" id="{37A7FF4F-0EAA-1463-560A-D5EC24416103}"/>
              </a:ext>
            </a:extLst>
          </p:cNvPr>
          <p:cNvSpPr/>
          <p:nvPr/>
        </p:nvSpPr>
        <p:spPr>
          <a:xfrm>
            <a:off x="571127" y="410603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203" name="타원 202">
            <a:extLst>
              <a:ext uri="{FF2B5EF4-FFF2-40B4-BE49-F238E27FC236}">
                <a16:creationId xmlns:a16="http://schemas.microsoft.com/office/drawing/2014/main" id="{37A7FF4F-0EAA-1463-560A-D5EC24416103}"/>
              </a:ext>
            </a:extLst>
          </p:cNvPr>
          <p:cNvSpPr/>
          <p:nvPr/>
        </p:nvSpPr>
        <p:spPr>
          <a:xfrm>
            <a:off x="571127" y="449583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205" name="타원 204">
            <a:extLst>
              <a:ext uri="{FF2B5EF4-FFF2-40B4-BE49-F238E27FC236}">
                <a16:creationId xmlns:a16="http://schemas.microsoft.com/office/drawing/2014/main" id="{37A7FF4F-0EAA-1463-560A-D5EC24416103}"/>
              </a:ext>
            </a:extLst>
          </p:cNvPr>
          <p:cNvSpPr/>
          <p:nvPr/>
        </p:nvSpPr>
        <p:spPr>
          <a:xfrm>
            <a:off x="697490" y="223285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1-1</a:t>
            </a:r>
            <a:endParaRPr lang="ko-KR" altLang="en-US" sz="600" b="1" dirty="0"/>
          </a:p>
        </p:txBody>
      </p:sp>
      <p:sp>
        <p:nvSpPr>
          <p:cNvPr id="206" name="타원 205">
            <a:extLst>
              <a:ext uri="{FF2B5EF4-FFF2-40B4-BE49-F238E27FC236}">
                <a16:creationId xmlns:a16="http://schemas.microsoft.com/office/drawing/2014/main" id="{37A7FF4F-0EAA-1463-560A-D5EC24416103}"/>
              </a:ext>
            </a:extLst>
          </p:cNvPr>
          <p:cNvSpPr/>
          <p:nvPr/>
        </p:nvSpPr>
        <p:spPr>
          <a:xfrm>
            <a:off x="2907275" y="223701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1-2</a:t>
            </a:r>
            <a:endParaRPr lang="ko-KR" altLang="en-US" sz="600" b="1" dirty="0"/>
          </a:p>
        </p:txBody>
      </p:sp>
      <p:sp>
        <p:nvSpPr>
          <p:cNvPr id="8" name="직사각형 7"/>
          <p:cNvSpPr/>
          <p:nvPr/>
        </p:nvSpPr>
        <p:spPr>
          <a:xfrm>
            <a:off x="7091473" y="1493927"/>
            <a:ext cx="2312097" cy="5155257"/>
          </a:xfrm>
          <a:prstGeom prst="rect">
            <a:avLst/>
          </a:prstGeom>
        </p:spPr>
        <p:txBody>
          <a:bodyPr wrap="square">
            <a:spAutoFit/>
          </a:bodyPr>
          <a:lstStyle/>
          <a:p>
            <a:pPr marL="228600" indent="-228600">
              <a:buFont typeface="+mj-lt"/>
              <a:buAutoNum type="arabicPeriod"/>
            </a:pPr>
            <a:r>
              <a:rPr lang="ko-KR" altLang="en-US" sz="700" dirty="0" smtClean="0"/>
              <a:t>타이틀 </a:t>
            </a:r>
            <a:r>
              <a:rPr lang="ko-KR" altLang="en-US" sz="700" dirty="0"/>
              <a:t>영역</a:t>
            </a:r>
            <a:r>
              <a:rPr lang="en-US" altLang="ko-KR" sz="700" dirty="0"/>
              <a:t/>
            </a:r>
            <a:br>
              <a:rPr lang="en-US" altLang="ko-KR" sz="700" dirty="0"/>
            </a:br>
            <a:r>
              <a:rPr lang="en-US" altLang="ko-KR" sz="700" dirty="0"/>
              <a:t>1-1] </a:t>
            </a:r>
            <a:r>
              <a:rPr lang="ko-KR" altLang="en-US" sz="700" dirty="0"/>
              <a:t>레이블이 화면</a:t>
            </a:r>
            <a:r>
              <a:rPr lang="en-US" altLang="ko-KR" sz="700" dirty="0"/>
              <a:t/>
            </a:r>
            <a:br>
              <a:rPr lang="en-US" altLang="ko-KR" sz="700" dirty="0"/>
            </a:br>
            <a:r>
              <a:rPr lang="en-US" altLang="ko-KR" sz="700" dirty="0"/>
              <a:t>- </a:t>
            </a:r>
            <a:r>
              <a:rPr lang="ko-KR" altLang="en-US" sz="700" dirty="0"/>
              <a:t>화면 넘치는 경우 드래그하여 확인 가능 </a:t>
            </a:r>
            <a:r>
              <a:rPr lang="en-US" altLang="ko-KR" sz="700" dirty="0"/>
              <a:t>(</a:t>
            </a:r>
            <a:r>
              <a:rPr lang="ko-KR" altLang="en-US" sz="700" dirty="0" err="1"/>
              <a:t>스와이프기능</a:t>
            </a:r>
            <a:r>
              <a:rPr lang="ko-KR" altLang="en-US" sz="700" dirty="0"/>
              <a:t> 반영 필요</a:t>
            </a:r>
            <a:r>
              <a:rPr lang="en-US" altLang="ko-KR" sz="700" dirty="0" smtClean="0"/>
              <a:t>)</a:t>
            </a:r>
            <a:br>
              <a:rPr lang="en-US" altLang="ko-KR" sz="700" dirty="0" smtClean="0"/>
            </a:br>
            <a:r>
              <a:rPr lang="en-US" altLang="ko-KR" sz="700" dirty="0" smtClean="0"/>
              <a:t>1-2] </a:t>
            </a:r>
            <a:r>
              <a:rPr lang="ko-KR" altLang="en-US" sz="700" dirty="0" err="1" smtClean="0"/>
              <a:t>관심공고</a:t>
            </a:r>
            <a:r>
              <a:rPr lang="ko-KR" altLang="en-US" sz="700" dirty="0" smtClean="0"/>
              <a:t> 등록 </a:t>
            </a:r>
            <a:r>
              <a:rPr lang="en-US" altLang="ko-KR" sz="700" dirty="0" smtClean="0"/>
              <a:t>/ </a:t>
            </a:r>
            <a:r>
              <a:rPr lang="ko-KR" altLang="en-US" sz="700" dirty="0" smtClean="0"/>
              <a:t>해제 기능</a:t>
            </a:r>
            <a:r>
              <a:rPr lang="en-US" altLang="ko-KR" sz="700" dirty="0"/>
              <a:t/>
            </a:r>
            <a:br>
              <a:rPr lang="en-US" altLang="ko-KR" sz="700" dirty="0"/>
            </a:br>
            <a:r>
              <a:rPr lang="en-US" altLang="ko-KR" sz="700" dirty="0" smtClean="0"/>
              <a:t>1-3] </a:t>
            </a:r>
            <a:r>
              <a:rPr lang="ko-KR" altLang="en-US" sz="700" dirty="0"/>
              <a:t>문서 정보 영역</a:t>
            </a:r>
            <a:r>
              <a:rPr lang="en-US" altLang="ko-KR" sz="700" dirty="0"/>
              <a:t/>
            </a:r>
            <a:br>
              <a:rPr lang="en-US" altLang="ko-KR" sz="700" dirty="0"/>
            </a:br>
            <a:r>
              <a:rPr lang="en-US" altLang="ko-KR" sz="700" dirty="0"/>
              <a:t>- </a:t>
            </a:r>
            <a:r>
              <a:rPr lang="ko-KR" altLang="en-US" sz="700" dirty="0" err="1"/>
              <a:t>판단번호</a:t>
            </a:r>
            <a:r>
              <a:rPr lang="ko-KR" altLang="en-US" sz="700" dirty="0"/>
              <a:t> </a:t>
            </a:r>
            <a:r>
              <a:rPr lang="en-US" altLang="ko-KR" sz="700" dirty="0"/>
              <a:t>,  </a:t>
            </a:r>
            <a:r>
              <a:rPr lang="ko-KR" altLang="en-US" sz="700" dirty="0" err="1" smtClean="0"/>
              <a:t>계약번호</a:t>
            </a:r>
            <a:r>
              <a:rPr lang="en-US" altLang="ko-KR" sz="700" dirty="0" smtClean="0"/>
              <a:t>, </a:t>
            </a:r>
            <a:r>
              <a:rPr lang="ko-KR" altLang="en-US" sz="700" dirty="0" smtClean="0"/>
              <a:t> </a:t>
            </a:r>
            <a:r>
              <a:rPr lang="ko-KR" altLang="en-US" sz="700" dirty="0"/>
              <a:t>노출 </a:t>
            </a:r>
            <a:r>
              <a:rPr lang="en-US" altLang="ko-KR" sz="700" dirty="0"/>
              <a:t/>
            </a:r>
            <a:br>
              <a:rPr lang="en-US" altLang="ko-KR" sz="700" dirty="0"/>
            </a:br>
            <a:r>
              <a:rPr lang="en-US" altLang="ko-KR" sz="700" dirty="0"/>
              <a:t>- </a:t>
            </a:r>
            <a:r>
              <a:rPr lang="ko-KR" altLang="en-US" sz="700" dirty="0" err="1"/>
              <a:t>판단번호</a:t>
            </a:r>
            <a:r>
              <a:rPr lang="ko-KR" altLang="en-US" sz="700" dirty="0"/>
              <a:t> </a:t>
            </a:r>
            <a:r>
              <a:rPr lang="ko-KR" altLang="en-US" sz="700" dirty="0" err="1"/>
              <a:t>전체노출</a:t>
            </a:r>
            <a:r>
              <a:rPr lang="ko-KR" altLang="en-US" sz="700" dirty="0"/>
              <a:t> </a:t>
            </a:r>
            <a:r>
              <a:rPr lang="en-US" altLang="ko-KR" sz="700" dirty="0"/>
              <a:t>/ </a:t>
            </a:r>
            <a:r>
              <a:rPr lang="ko-KR" altLang="en-US" sz="700" dirty="0" err="1"/>
              <a:t>계약번호</a:t>
            </a:r>
            <a:r>
              <a:rPr lang="ko-KR" altLang="en-US" sz="700" dirty="0"/>
              <a:t> </a:t>
            </a:r>
            <a:r>
              <a:rPr lang="ko-KR" altLang="en-US" sz="700" dirty="0" err="1"/>
              <a:t>노출시</a:t>
            </a:r>
            <a:r>
              <a:rPr lang="ko-KR" altLang="en-US" sz="700" dirty="0"/>
              <a:t> 해당 라인을 넘어가면 </a:t>
            </a:r>
            <a:r>
              <a:rPr lang="en-US" altLang="ko-KR" sz="700" dirty="0"/>
              <a:t>(…) </a:t>
            </a:r>
            <a:r>
              <a:rPr lang="ko-KR" altLang="en-US" sz="700" dirty="0" err="1"/>
              <a:t>말줄임</a:t>
            </a:r>
            <a:r>
              <a:rPr lang="ko-KR" altLang="en-US" sz="700" dirty="0"/>
              <a:t> 표시</a:t>
            </a:r>
            <a:r>
              <a:rPr lang="en-US" altLang="ko-KR" sz="700" dirty="0"/>
              <a:t/>
            </a:r>
            <a:br>
              <a:rPr lang="en-US" altLang="ko-KR" sz="700" dirty="0"/>
            </a:br>
            <a:r>
              <a:rPr lang="en-US" altLang="ko-KR" sz="700" dirty="0"/>
              <a:t>1-3] </a:t>
            </a:r>
            <a:r>
              <a:rPr lang="ko-KR" altLang="en-US" sz="700" dirty="0"/>
              <a:t>문서 제목 </a:t>
            </a:r>
            <a:r>
              <a:rPr lang="en-US" altLang="ko-KR" sz="700" dirty="0"/>
              <a:t/>
            </a:r>
            <a:br>
              <a:rPr lang="en-US" altLang="ko-KR" sz="700" dirty="0"/>
            </a:br>
            <a:r>
              <a:rPr lang="en-US" altLang="ko-KR" sz="700" dirty="0"/>
              <a:t>- </a:t>
            </a:r>
            <a:r>
              <a:rPr lang="ko-KR" altLang="en-US" sz="700" dirty="0"/>
              <a:t>제목은 </a:t>
            </a:r>
            <a:r>
              <a:rPr lang="en-US" altLang="ko-KR" sz="700" dirty="0"/>
              <a:t>2</a:t>
            </a:r>
            <a:r>
              <a:rPr lang="ko-KR" altLang="en-US" sz="700" dirty="0"/>
              <a:t>줄 까지 노출 이후</a:t>
            </a:r>
            <a:r>
              <a:rPr lang="en-US" altLang="ko-KR" sz="700" dirty="0"/>
              <a:t>(…) </a:t>
            </a:r>
            <a:r>
              <a:rPr lang="ko-KR" altLang="en-US" sz="700" dirty="0" err="1"/>
              <a:t>말줄임</a:t>
            </a:r>
            <a:r>
              <a:rPr lang="ko-KR" altLang="en-US" sz="700" dirty="0"/>
              <a:t> </a:t>
            </a:r>
            <a:r>
              <a:rPr lang="ko-KR" altLang="en-US" sz="700" dirty="0" smtClean="0"/>
              <a:t>표시</a:t>
            </a:r>
            <a:endParaRPr lang="en-US" altLang="ko-KR" sz="700" dirty="0"/>
          </a:p>
          <a:p>
            <a:pPr marL="228600" indent="-228600">
              <a:buFont typeface="+mj-lt"/>
              <a:buAutoNum type="arabicPeriod"/>
            </a:pPr>
            <a:r>
              <a:rPr lang="ko-KR" altLang="en-US" sz="700" dirty="0" smtClean="0"/>
              <a:t>단계 표시기</a:t>
            </a:r>
            <a:r>
              <a:rPr lang="en-US" altLang="ko-KR" sz="700" dirty="0" smtClean="0"/>
              <a:t/>
            </a:r>
            <a:br>
              <a:rPr lang="en-US" altLang="ko-KR" sz="700" dirty="0" smtClean="0"/>
            </a:br>
            <a:r>
              <a:rPr lang="en-US" altLang="ko-KR" sz="700" dirty="0" smtClean="0"/>
              <a:t>-</a:t>
            </a:r>
            <a:r>
              <a:rPr lang="ko-KR" altLang="en-US" sz="700" dirty="0"/>
              <a:t> 클릭 시 </a:t>
            </a:r>
            <a:r>
              <a:rPr lang="en-US" altLang="ko-KR" sz="700" dirty="0"/>
              <a:t>– </a:t>
            </a:r>
            <a:r>
              <a:rPr lang="ko-KR" altLang="en-US" sz="700" dirty="0"/>
              <a:t>진행 단계를 볼 수 있는 팝업 호출 </a:t>
            </a:r>
            <a:r>
              <a:rPr lang="en-US" altLang="ko-KR" sz="700" dirty="0"/>
              <a:t>(</a:t>
            </a:r>
            <a:r>
              <a:rPr lang="en-US" altLang="ko-KR" sz="700" dirty="0">
                <a:solidFill>
                  <a:srgbClr val="000000"/>
                </a:solidFill>
                <a:latin typeface="맑은 고딕" panose="020B0503020000020004" pitchFamily="50" charset="-127"/>
              </a:rPr>
              <a:t>MUI-CM-06-P03 </a:t>
            </a:r>
            <a:r>
              <a:rPr lang="ko-KR" altLang="en-US" sz="700" dirty="0">
                <a:latin typeface="+mn-ea"/>
              </a:rPr>
              <a:t>세부 스텝 팝업</a:t>
            </a:r>
            <a:r>
              <a:rPr lang="en-US" altLang="ko-KR" sz="700" dirty="0"/>
              <a:t>)</a:t>
            </a:r>
            <a:endParaRPr lang="en-US" altLang="ko-KR" sz="700" dirty="0" smtClean="0"/>
          </a:p>
          <a:p>
            <a:pPr marL="228600" indent="-228600">
              <a:buFont typeface="+mj-lt"/>
              <a:buAutoNum type="arabicPeriod"/>
            </a:pPr>
            <a:r>
              <a:rPr lang="ko-KR" altLang="en-US" sz="700" dirty="0" smtClean="0"/>
              <a:t>공지사항</a:t>
            </a:r>
            <a:r>
              <a:rPr lang="en-US" altLang="ko-KR" sz="700" dirty="0" smtClean="0"/>
              <a:t/>
            </a:r>
            <a:br>
              <a:rPr lang="en-US" altLang="ko-KR" sz="700" dirty="0" smtClean="0"/>
            </a:br>
            <a:r>
              <a:rPr lang="en-US" altLang="ko-KR" sz="700" dirty="0" smtClean="0"/>
              <a:t>- </a:t>
            </a:r>
            <a:r>
              <a:rPr lang="ko-KR" altLang="en-US" sz="700" dirty="0" smtClean="0"/>
              <a:t>기본값 </a:t>
            </a:r>
            <a:r>
              <a:rPr lang="en-US" altLang="ko-KR" sz="700" dirty="0" smtClean="0"/>
              <a:t>: </a:t>
            </a:r>
            <a:r>
              <a:rPr lang="ko-KR" altLang="en-US" sz="700" dirty="0" smtClean="0"/>
              <a:t>접힘</a:t>
            </a:r>
            <a:r>
              <a:rPr lang="en-US" altLang="ko-KR" sz="700" dirty="0" smtClean="0"/>
              <a:t/>
            </a:r>
            <a:br>
              <a:rPr lang="en-US" altLang="ko-KR" sz="700" dirty="0" smtClean="0"/>
            </a:br>
            <a:r>
              <a:rPr lang="en-US" altLang="ko-KR" sz="700" dirty="0" smtClean="0"/>
              <a:t>- </a:t>
            </a:r>
            <a:r>
              <a:rPr lang="ko-KR" altLang="en-US" sz="700" dirty="0" err="1" smtClean="0"/>
              <a:t>클릭시</a:t>
            </a:r>
            <a:r>
              <a:rPr lang="ko-KR" altLang="en-US" sz="700" dirty="0" smtClean="0"/>
              <a:t> 확장하여 정보 표시</a:t>
            </a:r>
            <a:endParaRPr lang="en-US" altLang="ko-KR" sz="700" dirty="0" smtClean="0"/>
          </a:p>
          <a:p>
            <a:pPr marL="228600" indent="-228600">
              <a:buFont typeface="+mj-lt"/>
              <a:buAutoNum type="arabicPeriod"/>
            </a:pPr>
            <a:r>
              <a:rPr lang="ko-KR" altLang="en-US" sz="700" dirty="0" smtClean="0"/>
              <a:t>탭 영역</a:t>
            </a:r>
            <a:r>
              <a:rPr lang="en-US" altLang="ko-KR" sz="700" dirty="0" smtClean="0"/>
              <a:t/>
            </a:r>
            <a:br>
              <a:rPr lang="en-US" altLang="ko-KR" sz="700" dirty="0" smtClean="0"/>
            </a:br>
            <a:r>
              <a:rPr lang="en-US" altLang="ko-KR" sz="700" dirty="0" smtClean="0"/>
              <a:t>- </a:t>
            </a:r>
            <a:r>
              <a:rPr lang="ko-KR" altLang="en-US" sz="700" dirty="0" smtClean="0"/>
              <a:t>상세내용 </a:t>
            </a:r>
            <a:r>
              <a:rPr lang="en-US" altLang="ko-KR" sz="700" dirty="0" smtClean="0"/>
              <a:t>Tab</a:t>
            </a:r>
            <a:r>
              <a:rPr lang="ko-KR" altLang="en-US" sz="700" dirty="0" smtClean="0"/>
              <a:t>은 진입 시 고정 노출</a:t>
            </a:r>
            <a:r>
              <a:rPr lang="en-US" altLang="ko-KR" sz="700" dirty="0" smtClean="0"/>
              <a:t/>
            </a:r>
            <a:br>
              <a:rPr lang="en-US" altLang="ko-KR" sz="700" dirty="0" smtClean="0"/>
            </a:br>
            <a:r>
              <a:rPr lang="en-US" altLang="ko-KR" sz="700" dirty="0" smtClean="0"/>
              <a:t>- </a:t>
            </a:r>
            <a:r>
              <a:rPr lang="ko-KR" altLang="en-US" sz="700" dirty="0" smtClean="0"/>
              <a:t>탭 내용</a:t>
            </a:r>
            <a:r>
              <a:rPr lang="en-US" altLang="ko-KR" sz="700" dirty="0" smtClean="0"/>
              <a:t/>
            </a:r>
            <a:br>
              <a:rPr lang="en-US" altLang="ko-KR" sz="700" dirty="0" smtClean="0"/>
            </a:br>
            <a:r>
              <a:rPr lang="ko-KR" altLang="en-US" sz="700" dirty="0" smtClean="0"/>
              <a:t>ㄴ</a:t>
            </a:r>
            <a:r>
              <a:rPr lang="en-US" altLang="ko-KR" sz="700" dirty="0" smtClean="0">
                <a:solidFill>
                  <a:srgbClr val="000000"/>
                </a:solidFill>
                <a:latin typeface="맑은 고딕" panose="020B0503020000020004" pitchFamily="50" charset="-127"/>
              </a:rPr>
              <a:t>MUI-BD-01-M07 </a:t>
            </a:r>
            <a:r>
              <a:rPr lang="en-US" altLang="ko-KR" sz="700" dirty="0">
                <a:solidFill>
                  <a:srgbClr val="000000"/>
                </a:solidFill>
                <a:latin typeface="맑은 고딕" panose="020B0503020000020004" pitchFamily="50" charset="-127"/>
              </a:rPr>
              <a:t>(tab </a:t>
            </a:r>
            <a:r>
              <a:rPr lang="ko-KR" altLang="en-US" sz="700" dirty="0">
                <a:solidFill>
                  <a:srgbClr val="000000"/>
                </a:solidFill>
                <a:latin typeface="맑은 고딕" panose="020B0503020000020004" pitchFamily="50" charset="-127"/>
              </a:rPr>
              <a:t>노출조건확인</a:t>
            </a:r>
            <a:r>
              <a:rPr lang="en-US" altLang="ko-KR" sz="700" dirty="0">
                <a:solidFill>
                  <a:srgbClr val="000000"/>
                </a:solidFill>
                <a:latin typeface="맑은 고딕" panose="020B0503020000020004" pitchFamily="50" charset="-127"/>
              </a:rPr>
              <a:t>)</a:t>
            </a:r>
            <a:r>
              <a:rPr lang="en-US" altLang="ko-KR" sz="700" dirty="0"/>
              <a:t/>
            </a:r>
            <a:br>
              <a:rPr lang="en-US" altLang="ko-KR" sz="700" dirty="0"/>
            </a:br>
            <a:r>
              <a:rPr lang="en-US" altLang="ko-KR" sz="700" dirty="0" smtClean="0"/>
              <a:t>&gt; </a:t>
            </a:r>
            <a:r>
              <a:rPr lang="ko-KR" altLang="en-US" sz="700" dirty="0" smtClean="0"/>
              <a:t>로그인 필요 서비스 안내 표시</a:t>
            </a:r>
            <a:r>
              <a:rPr lang="en-US" altLang="ko-KR" sz="700" dirty="0" smtClean="0"/>
              <a:t/>
            </a:r>
            <a:br>
              <a:rPr lang="en-US" altLang="ko-KR" sz="700" dirty="0" smtClean="0"/>
            </a:br>
            <a:r>
              <a:rPr lang="en-US" altLang="ko-KR" sz="700" dirty="0" smtClean="0"/>
              <a:t>- </a:t>
            </a:r>
            <a:r>
              <a:rPr lang="ko-KR" altLang="en-US" sz="700" dirty="0" smtClean="0"/>
              <a:t>화면을 </a:t>
            </a:r>
            <a:r>
              <a:rPr lang="ko-KR" altLang="en-US" sz="700" dirty="0" err="1" smtClean="0"/>
              <a:t>넘치는경우</a:t>
            </a:r>
            <a:r>
              <a:rPr lang="ko-KR" altLang="en-US" sz="700" dirty="0" smtClean="0"/>
              <a:t> 드래그하여 확인</a:t>
            </a:r>
            <a:r>
              <a:rPr lang="en-US" altLang="ko-KR" sz="700" dirty="0" smtClean="0"/>
              <a:t>(</a:t>
            </a:r>
            <a:r>
              <a:rPr lang="ko-KR" altLang="en-US" sz="700" dirty="0" err="1" smtClean="0"/>
              <a:t>스와이프기능</a:t>
            </a:r>
            <a:r>
              <a:rPr lang="ko-KR" altLang="en-US" sz="700" dirty="0" smtClean="0"/>
              <a:t> 반영 필요</a:t>
            </a:r>
            <a:r>
              <a:rPr lang="en-US" altLang="ko-KR" sz="700" dirty="0" smtClean="0"/>
              <a:t>)</a:t>
            </a:r>
          </a:p>
          <a:p>
            <a:pPr marL="228600" indent="-228600">
              <a:buFont typeface="+mj-lt"/>
              <a:buAutoNum type="arabicPeriod"/>
            </a:pPr>
            <a:r>
              <a:rPr lang="ko-KR" altLang="en-US" sz="700" dirty="0" smtClean="0"/>
              <a:t>공고 일반정보 상세 사항 참고</a:t>
            </a:r>
            <a:r>
              <a:rPr lang="en-US" altLang="ko-KR" sz="700" dirty="0" smtClean="0"/>
              <a:t/>
            </a:r>
            <a:br>
              <a:rPr lang="en-US" altLang="ko-KR" sz="700" dirty="0" smtClean="0"/>
            </a:br>
            <a:r>
              <a:rPr lang="en-US" altLang="ko-KR" sz="700" dirty="0" smtClean="0"/>
              <a:t>- </a:t>
            </a:r>
            <a:r>
              <a:rPr lang="ko-KR" altLang="en-US" sz="700" dirty="0" smtClean="0">
                <a:solidFill>
                  <a:prstClr val="black"/>
                </a:solidFill>
              </a:rPr>
              <a:t>입찰공고상세공고일반</a:t>
            </a:r>
            <a:r>
              <a:rPr lang="en-US" altLang="ko-KR" sz="700" dirty="0" smtClean="0">
                <a:solidFill>
                  <a:prstClr val="black"/>
                </a:solidFill>
              </a:rPr>
              <a:t> </a:t>
            </a:r>
            <a:r>
              <a:rPr lang="ko-KR" altLang="en-US" sz="700" dirty="0" smtClean="0">
                <a:solidFill>
                  <a:prstClr val="black"/>
                </a:solidFill>
              </a:rPr>
              <a:t>데이터 영역 </a:t>
            </a:r>
            <a:r>
              <a:rPr lang="en-US" altLang="ko-KR" sz="700" dirty="0" smtClean="0">
                <a:solidFill>
                  <a:prstClr val="black"/>
                </a:solidFill>
              </a:rPr>
              <a:t>(</a:t>
            </a:r>
            <a:r>
              <a:rPr lang="en-US" altLang="ko-KR" sz="700" dirty="0" err="1" smtClean="0">
                <a:solidFill>
                  <a:prstClr val="black"/>
                </a:solidFill>
              </a:rPr>
              <a:t>dmt_bidPbancGnrl</a:t>
            </a:r>
            <a:r>
              <a:rPr lang="en-US" altLang="ko-KR" sz="700" dirty="0" smtClean="0">
                <a:solidFill>
                  <a:prstClr val="black"/>
                </a:solidFill>
              </a:rPr>
              <a:t>)</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일반정보</a:t>
            </a:r>
            <a:r>
              <a:rPr lang="en-US" altLang="ko-KR" sz="700" dirty="0" smtClean="0">
                <a:solidFill>
                  <a:prstClr val="black"/>
                </a:solidFill>
              </a:rPr>
              <a:t>(</a:t>
            </a:r>
            <a:r>
              <a:rPr lang="en-US" altLang="ko-KR" sz="700" dirty="0" smtClean="0">
                <a:solidFill>
                  <a:srgbClr val="000000"/>
                </a:solidFill>
                <a:latin typeface="맑은 고딕" panose="020B0503020000020004" pitchFamily="50" charset="-127"/>
              </a:rPr>
              <a:t>MUI-BD-01-M07)</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지역제한</a:t>
            </a:r>
            <a:r>
              <a:rPr lang="en-US" altLang="ko-KR" sz="700" dirty="0" smtClean="0">
                <a:solidFill>
                  <a:prstClr val="black"/>
                </a:solidFill>
              </a:rPr>
              <a:t> (</a:t>
            </a:r>
            <a:r>
              <a:rPr lang="en-US" altLang="ko-KR" sz="700" dirty="0" smtClean="0">
                <a:solidFill>
                  <a:srgbClr val="000000"/>
                </a:solidFill>
                <a:latin typeface="맑은 고딕" panose="020B0503020000020004" pitchFamily="50" charset="-127"/>
              </a:rPr>
              <a:t>MUI-BD-01-M07)</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err="1" smtClean="0">
                <a:solidFill>
                  <a:prstClr val="black"/>
                </a:solidFill>
              </a:rPr>
              <a:t>공증및면허제한</a:t>
            </a:r>
            <a:r>
              <a:rPr lang="en-US" altLang="ko-KR" sz="700" dirty="0" smtClean="0">
                <a:solidFill>
                  <a:prstClr val="black"/>
                </a:solidFill>
              </a:rPr>
              <a:t> (</a:t>
            </a:r>
            <a:r>
              <a:rPr lang="en-US" altLang="ko-KR" sz="700" dirty="0" smtClean="0">
                <a:solidFill>
                  <a:srgbClr val="000000"/>
                </a:solidFill>
                <a:latin typeface="맑은 고딕" panose="020B0503020000020004" pitchFamily="50" charset="-127"/>
              </a:rPr>
              <a:t>MUI-BD-01-M07)</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시공능력평가제한</a:t>
            </a:r>
            <a:r>
              <a:rPr lang="en-US" altLang="ko-KR" sz="700" dirty="0" smtClean="0">
                <a:solidFill>
                  <a:prstClr val="black"/>
                </a:solidFill>
              </a:rPr>
              <a:t> (</a:t>
            </a:r>
            <a:r>
              <a:rPr lang="en-US" altLang="ko-KR" sz="700" dirty="0" smtClean="0">
                <a:solidFill>
                  <a:srgbClr val="000000"/>
                </a:solidFill>
                <a:latin typeface="맑은 고딕" panose="020B0503020000020004" pitchFamily="50" charset="-127"/>
              </a:rPr>
              <a:t>MUI-BD-01-M07)</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지명 경쟁업체</a:t>
            </a:r>
            <a:r>
              <a:rPr lang="en-US" altLang="ko-KR" sz="700" dirty="0" smtClean="0">
                <a:solidFill>
                  <a:prstClr val="black"/>
                </a:solidFill>
              </a:rPr>
              <a:t> (</a:t>
            </a:r>
            <a:r>
              <a:rPr lang="en-US" altLang="ko-KR" sz="700" dirty="0" smtClean="0">
                <a:solidFill>
                  <a:srgbClr val="000000"/>
                </a:solidFill>
                <a:latin typeface="맑은 고딕" panose="020B0503020000020004" pitchFamily="50" charset="-127"/>
              </a:rPr>
              <a:t>MUI-BD-01-M07)</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첨부서류</a:t>
            </a:r>
            <a:r>
              <a:rPr lang="en-US" altLang="ko-KR" sz="700" dirty="0" smtClean="0">
                <a:solidFill>
                  <a:prstClr val="black"/>
                </a:solidFill>
              </a:rPr>
              <a:t> (</a:t>
            </a:r>
            <a:r>
              <a:rPr lang="en-US" altLang="ko-KR" sz="700" dirty="0" smtClean="0">
                <a:solidFill>
                  <a:srgbClr val="000000"/>
                </a:solidFill>
                <a:latin typeface="맑은 고딕" panose="020B0503020000020004" pitchFamily="50" charset="-127"/>
              </a:rPr>
              <a:t>MUI-BD-01-M07)</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문의처</a:t>
            </a:r>
            <a:r>
              <a:rPr lang="en-US" altLang="ko-KR" sz="700" dirty="0" smtClean="0">
                <a:solidFill>
                  <a:prstClr val="black"/>
                </a:solidFill>
              </a:rPr>
              <a:t> (</a:t>
            </a:r>
            <a:r>
              <a:rPr lang="en-US" altLang="ko-KR" sz="700" dirty="0" smtClean="0">
                <a:solidFill>
                  <a:srgbClr val="000000"/>
                </a:solidFill>
                <a:latin typeface="맑은 고딕" panose="020B0503020000020004" pitchFamily="50" charset="-127"/>
              </a:rPr>
              <a:t>MUI-BD-01-M07)</a:t>
            </a:r>
            <a:br>
              <a:rPr lang="en-US" altLang="ko-KR" sz="700" dirty="0" smtClean="0">
                <a:solidFill>
                  <a:srgbClr val="000000"/>
                </a:solidFill>
                <a:latin typeface="맑은 고딕" panose="020B0503020000020004" pitchFamily="50" charset="-127"/>
              </a:rPr>
            </a:br>
            <a:r>
              <a:rPr lang="en-US" altLang="ko-KR" sz="700" dirty="0">
                <a:solidFill>
                  <a:prstClr val="black"/>
                </a:solidFill>
              </a:rPr>
              <a:t>- 5-1] </a:t>
            </a:r>
            <a:r>
              <a:rPr lang="ko-KR" altLang="en-US" sz="700" dirty="0">
                <a:solidFill>
                  <a:prstClr val="black"/>
                </a:solidFill>
              </a:rPr>
              <a:t>특정 케이스에 노출 </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err="1" smtClean="0">
                <a:solidFill>
                  <a:prstClr val="black"/>
                </a:solidFill>
              </a:rPr>
              <a:t>총액제</a:t>
            </a:r>
            <a:r>
              <a:rPr lang="en-US" altLang="ko-KR" sz="700" dirty="0" smtClean="0">
                <a:solidFill>
                  <a:prstClr val="black"/>
                </a:solidFill>
              </a:rPr>
              <a:t>(</a:t>
            </a:r>
            <a:r>
              <a:rPr lang="en-US" altLang="ko-KR" sz="700" dirty="0" smtClean="0">
                <a:latin typeface="+mn-ea"/>
              </a:rPr>
              <a:t>MUI-BD-01-M08</a:t>
            </a:r>
            <a:r>
              <a:rPr lang="en-US" altLang="ko-KR" sz="700" dirty="0" smtClean="0"/>
              <a:t>)</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err="1" smtClean="0">
                <a:solidFill>
                  <a:prstClr val="black"/>
                </a:solidFill>
              </a:rPr>
              <a:t>품목명세서</a:t>
            </a:r>
            <a:r>
              <a:rPr lang="en-US" altLang="ko-KR" sz="700" dirty="0" smtClean="0">
                <a:solidFill>
                  <a:prstClr val="black"/>
                </a:solidFill>
              </a:rPr>
              <a:t>(</a:t>
            </a:r>
            <a:r>
              <a:rPr lang="en-US" altLang="ko-KR" sz="700" dirty="0" smtClean="0">
                <a:latin typeface="+mn-ea"/>
              </a:rPr>
              <a:t>MUI-BD-01-M09</a:t>
            </a:r>
            <a:r>
              <a:rPr lang="en-US" altLang="ko-KR" sz="700" dirty="0" smtClean="0"/>
              <a:t>)</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입찰진행현황</a:t>
            </a:r>
            <a:r>
              <a:rPr lang="en-US" altLang="ko-KR" sz="700" dirty="0" smtClean="0">
                <a:solidFill>
                  <a:prstClr val="black"/>
                </a:solidFill>
              </a:rPr>
              <a:t>(</a:t>
            </a:r>
            <a:r>
              <a:rPr lang="en-US" altLang="ko-KR" sz="700" dirty="0" smtClean="0">
                <a:latin typeface="+mn-ea"/>
              </a:rPr>
              <a:t>MUI-BD-01-M12</a:t>
            </a:r>
            <a:r>
              <a:rPr lang="en-US" altLang="ko-KR" sz="700" dirty="0" smtClean="0"/>
              <a:t>)</a:t>
            </a:r>
            <a:r>
              <a:rPr lang="en-US" altLang="ko-KR" sz="700" dirty="0" smtClean="0">
                <a:solidFill>
                  <a:prstClr val="black"/>
                </a:solidFill>
              </a:rPr>
              <a:t/>
            </a:r>
            <a:br>
              <a:rPr lang="en-US" altLang="ko-KR" sz="700" dirty="0" smtClean="0">
                <a:solidFill>
                  <a:prstClr val="black"/>
                </a:solidFill>
              </a:rPr>
            </a:br>
            <a:r>
              <a:rPr lang="en-US" altLang="ko-KR" sz="700" dirty="0" smtClean="0">
                <a:solidFill>
                  <a:prstClr val="black"/>
                </a:solidFill>
              </a:rPr>
              <a:t>: </a:t>
            </a:r>
            <a:r>
              <a:rPr lang="ko-KR" altLang="en-US" sz="700" dirty="0" smtClean="0">
                <a:solidFill>
                  <a:prstClr val="black"/>
                </a:solidFill>
              </a:rPr>
              <a:t>계약특수조건</a:t>
            </a:r>
            <a:r>
              <a:rPr lang="en-US" altLang="ko-KR" sz="700" dirty="0" smtClean="0">
                <a:solidFill>
                  <a:prstClr val="black"/>
                </a:solidFill>
              </a:rPr>
              <a:t>(</a:t>
            </a:r>
            <a:r>
              <a:rPr lang="en-US" altLang="ko-KR" sz="700" dirty="0" smtClean="0">
                <a:solidFill>
                  <a:srgbClr val="000000"/>
                </a:solidFill>
                <a:latin typeface="맑은 고딕" panose="020B0503020000020004" pitchFamily="50" charset="-127"/>
              </a:rPr>
              <a:t>MUI-BD-01-M10)</a:t>
            </a:r>
            <a:r>
              <a:rPr lang="en-US" altLang="ko-KR" sz="700" dirty="0" smtClean="0">
                <a:solidFill>
                  <a:prstClr val="black"/>
                </a:solidFill>
              </a:rPr>
              <a:t/>
            </a:r>
            <a:br>
              <a:rPr lang="en-US" altLang="ko-KR" sz="700" dirty="0" smtClean="0">
                <a:solidFill>
                  <a:prstClr val="black"/>
                </a:solidFill>
              </a:rPr>
            </a:br>
            <a:r>
              <a:rPr lang="en-US" altLang="ko-KR" sz="700" dirty="0" smtClean="0"/>
              <a:t>[</a:t>
            </a:r>
            <a:r>
              <a:rPr lang="ko-KR" altLang="en-US" sz="700" dirty="0" smtClean="0"/>
              <a:t>공통</a:t>
            </a:r>
            <a:r>
              <a:rPr lang="en-US" altLang="ko-KR" sz="700" dirty="0" smtClean="0"/>
              <a:t>] </a:t>
            </a:r>
            <a:r>
              <a:rPr lang="ko-KR" altLang="en-US" sz="700" dirty="0" err="1" smtClean="0"/>
              <a:t>앱바</a:t>
            </a:r>
            <a:r>
              <a:rPr lang="ko-KR" altLang="en-US" sz="700" dirty="0" smtClean="0"/>
              <a:t> 타이틀 영역에 </a:t>
            </a:r>
            <a:r>
              <a:rPr lang="ko-KR" altLang="en-US" sz="700" dirty="0" err="1" smtClean="0"/>
              <a:t>메인과</a:t>
            </a:r>
            <a:r>
              <a:rPr lang="ko-KR" altLang="en-US" sz="700" dirty="0" smtClean="0"/>
              <a:t> 동일한</a:t>
            </a:r>
            <a:r>
              <a:rPr lang="en-US" altLang="ko-KR" sz="700" dirty="0" smtClean="0"/>
              <a:t>.</a:t>
            </a:r>
            <a:r>
              <a:rPr lang="ko-KR" altLang="en-US" sz="700" dirty="0" smtClean="0"/>
              <a:t> </a:t>
            </a:r>
            <a:r>
              <a:rPr lang="ko-KR" altLang="en-US" sz="700" dirty="0" err="1" smtClean="0"/>
              <a:t>앱바</a:t>
            </a:r>
            <a:r>
              <a:rPr lang="ko-KR" altLang="en-US" sz="700" dirty="0" smtClean="0"/>
              <a:t> 노출</a:t>
            </a:r>
            <a:r>
              <a:rPr lang="en-US" altLang="ko-KR" sz="700" dirty="0" smtClean="0"/>
              <a:t>.</a:t>
            </a:r>
            <a:br>
              <a:rPr lang="en-US" altLang="ko-KR" sz="700" dirty="0" smtClean="0"/>
            </a:br>
            <a:r>
              <a:rPr lang="en-US" altLang="ko-KR" sz="700" dirty="0" smtClean="0"/>
              <a:t>- 2</a:t>
            </a:r>
            <a:r>
              <a:rPr lang="ko-KR" altLang="en-US" sz="700" dirty="0" err="1" smtClean="0"/>
              <a:t>뎁스</a:t>
            </a:r>
            <a:r>
              <a:rPr lang="ko-KR" altLang="en-US" sz="700" dirty="0" smtClean="0"/>
              <a:t> 이하에서 페이지 별 </a:t>
            </a:r>
            <a:r>
              <a:rPr lang="ko-KR" altLang="en-US" sz="700" dirty="0" err="1" smtClean="0"/>
              <a:t>뒤로가기와</a:t>
            </a:r>
            <a:r>
              <a:rPr lang="ko-KR" altLang="en-US" sz="700" dirty="0" smtClean="0"/>
              <a:t> 페이지 타이 영역을 </a:t>
            </a:r>
            <a:r>
              <a:rPr lang="ko-KR" altLang="en-US" sz="700" dirty="0" err="1" smtClean="0"/>
              <a:t>앱바</a:t>
            </a:r>
            <a:r>
              <a:rPr lang="ko-KR" altLang="en-US" sz="700" dirty="0" smtClean="0"/>
              <a:t> 바로 하단 헤더에 배치하여 현재 페이지를 인지하기 쉽도록 함</a:t>
            </a:r>
            <a:endParaRPr lang="en-US" altLang="ko-KR" sz="700" dirty="0" smtClean="0"/>
          </a:p>
          <a:p>
            <a:pPr marL="228600" indent="-228600">
              <a:buFont typeface="+mj-lt"/>
              <a:buAutoNum type="arabicPeriod"/>
            </a:pPr>
            <a:r>
              <a:rPr lang="ko-KR" altLang="en-US" sz="700" dirty="0" smtClean="0"/>
              <a:t>이벤트 목록 호출</a:t>
            </a:r>
            <a:r>
              <a:rPr lang="en-US" altLang="ko-KR" sz="700" dirty="0" smtClean="0"/>
              <a:t>(</a:t>
            </a:r>
            <a:r>
              <a:rPr lang="ko-KR" altLang="en-US" sz="700" dirty="0" smtClean="0"/>
              <a:t>화면별도구성</a:t>
            </a:r>
            <a:r>
              <a:rPr lang="en-US" altLang="ko-KR" sz="700" dirty="0" smtClean="0"/>
              <a:t>)</a:t>
            </a:r>
            <a:r>
              <a:rPr lang="ko-KR" altLang="en-US" sz="700" dirty="0" smtClean="0"/>
              <a:t> </a:t>
            </a:r>
            <a:r>
              <a:rPr lang="en-US" altLang="ko-KR" sz="700" dirty="0"/>
              <a:t/>
            </a:r>
            <a:br>
              <a:rPr lang="en-US" altLang="ko-KR" sz="700" dirty="0"/>
            </a:br>
            <a:r>
              <a:rPr lang="en-US" altLang="ko-KR" sz="700" dirty="0" smtClean="0"/>
              <a:t>- </a:t>
            </a:r>
            <a:r>
              <a:rPr lang="en-US" altLang="ko-KR" sz="700" dirty="0" smtClean="0">
                <a:solidFill>
                  <a:srgbClr val="000000"/>
                </a:solidFill>
                <a:latin typeface="맑은 고딕" panose="020B0503020000020004" pitchFamily="50" charset="-127"/>
              </a:rPr>
              <a:t>MUI-BD-01-P17</a:t>
            </a:r>
            <a:endParaRPr lang="en-US" altLang="ko-KR" sz="700" dirty="0" smtClean="0"/>
          </a:p>
        </p:txBody>
      </p:sp>
      <p:sp>
        <p:nvSpPr>
          <p:cNvPr id="215" name="TextBox 58">
            <a:extLst>
              <a:ext uri="{FF2B5EF4-FFF2-40B4-BE49-F238E27FC236}">
                <a16:creationId xmlns:a16="http://schemas.microsoft.com/office/drawing/2014/main" id="{02FC114B-B48B-345F-BD70-2B5A196F5B3E}"/>
              </a:ext>
            </a:extLst>
          </p:cNvPr>
          <p:cNvSpPr txBox="1"/>
          <p:nvPr/>
        </p:nvSpPr>
        <p:spPr>
          <a:xfrm>
            <a:off x="781461" y="2582956"/>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16" name="TextBox 59">
            <a:extLst>
              <a:ext uri="{FF2B5EF4-FFF2-40B4-BE49-F238E27FC236}">
                <a16:creationId xmlns:a16="http://schemas.microsoft.com/office/drawing/2014/main" id="{F77C802D-3BC8-270F-87FC-5F442BD8054D}"/>
              </a:ext>
            </a:extLst>
          </p:cNvPr>
          <p:cNvSpPr txBox="1"/>
          <p:nvPr/>
        </p:nvSpPr>
        <p:spPr>
          <a:xfrm>
            <a:off x="781461" y="2918021"/>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217" name="TextBox 60">
            <a:extLst>
              <a:ext uri="{FF2B5EF4-FFF2-40B4-BE49-F238E27FC236}">
                <a16:creationId xmlns:a16="http://schemas.microsoft.com/office/drawing/2014/main" id="{8F5E3227-69E6-C89F-B8C5-534226E95EA8}"/>
              </a:ext>
            </a:extLst>
          </p:cNvPr>
          <p:cNvSpPr txBox="1"/>
          <p:nvPr/>
        </p:nvSpPr>
        <p:spPr>
          <a:xfrm>
            <a:off x="2596303" y="2902632"/>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207" name="타원 206">
            <a:extLst>
              <a:ext uri="{FF2B5EF4-FFF2-40B4-BE49-F238E27FC236}">
                <a16:creationId xmlns:a16="http://schemas.microsoft.com/office/drawing/2014/main" id="{37A7FF4F-0EAA-1463-560A-D5EC24416103}"/>
              </a:ext>
            </a:extLst>
          </p:cNvPr>
          <p:cNvSpPr/>
          <p:nvPr/>
        </p:nvSpPr>
        <p:spPr>
          <a:xfrm>
            <a:off x="697016" y="260009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1-3</a:t>
            </a:r>
            <a:endParaRPr lang="ko-KR" altLang="en-US" sz="600" b="1" dirty="0"/>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150185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218" name="직사각형 217">
            <a:extLst>
              <a:ext uri="{FF2B5EF4-FFF2-40B4-BE49-F238E27FC236}">
                <a16:creationId xmlns:a16="http://schemas.microsoft.com/office/drawing/2014/main" id="{F56F1743-11A0-EA94-9184-4E42C0A37F9C}"/>
              </a:ext>
            </a:extLst>
          </p:cNvPr>
          <p:cNvSpPr/>
          <p:nvPr/>
        </p:nvSpPr>
        <p:spPr>
          <a:xfrm>
            <a:off x="3797016" y="1488948"/>
            <a:ext cx="2712027" cy="5009713"/>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797016" y="14967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25304" y="18527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3868983" y="1636146"/>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cxnSp>
        <p:nvCxnSpPr>
          <p:cNvPr id="222" name="직선 연결선 221">
            <a:extLst>
              <a:ext uri="{FF2B5EF4-FFF2-40B4-BE49-F238E27FC236}">
                <a16:creationId xmlns:a16="http://schemas.microsoft.com/office/drawing/2014/main" id="{E9293055-D5CD-4B9E-7F64-64B2D2CA7A52}"/>
              </a:ext>
            </a:extLst>
          </p:cNvPr>
          <p:cNvCxnSpPr/>
          <p:nvPr/>
        </p:nvCxnSpPr>
        <p:spPr>
          <a:xfrm>
            <a:off x="3825304" y="1852753"/>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23" name="그룹 222"/>
          <p:cNvGrpSpPr/>
          <p:nvPr/>
        </p:nvGrpSpPr>
        <p:grpSpPr>
          <a:xfrm>
            <a:off x="6028900" y="1598023"/>
            <a:ext cx="422853" cy="187961"/>
            <a:chOff x="3641308" y="2234886"/>
            <a:chExt cx="422853" cy="187961"/>
          </a:xfrm>
        </p:grpSpPr>
        <p:sp>
          <p:nvSpPr>
            <p:cNvPr id="224" name="타원 22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5" name="그룹 224"/>
            <p:cNvGrpSpPr/>
            <p:nvPr/>
          </p:nvGrpSpPr>
          <p:grpSpPr>
            <a:xfrm rot="5400000" flipH="1">
              <a:off x="3679895" y="2305364"/>
              <a:ext cx="94010" cy="47005"/>
              <a:chOff x="6812560" y="3297172"/>
              <a:chExt cx="94010" cy="47005"/>
            </a:xfrm>
          </p:grpSpPr>
          <p:cxnSp>
            <p:nvCxnSpPr>
              <p:cNvPr id="230" name="직선 연결선 22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5" name="직선 연결선 2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6" name="타원 22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7" name="그룹 226"/>
            <p:cNvGrpSpPr/>
            <p:nvPr/>
          </p:nvGrpSpPr>
          <p:grpSpPr>
            <a:xfrm rot="16200000">
              <a:off x="3931564" y="2305364"/>
              <a:ext cx="94010" cy="47005"/>
              <a:chOff x="6812560" y="3297172"/>
              <a:chExt cx="94010" cy="47005"/>
            </a:xfrm>
          </p:grpSpPr>
          <p:cxnSp>
            <p:nvCxnSpPr>
              <p:cNvPr id="228" name="직선 연결선 22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9" name="직선 연결선 22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36" name="그룹 235"/>
          <p:cNvGrpSpPr/>
          <p:nvPr/>
        </p:nvGrpSpPr>
        <p:grpSpPr>
          <a:xfrm>
            <a:off x="3886275" y="2018353"/>
            <a:ext cx="2456097" cy="181140"/>
            <a:chOff x="712467" y="1964062"/>
            <a:chExt cx="2456097" cy="181140"/>
          </a:xfrm>
        </p:grpSpPr>
        <p:sp>
          <p:nvSpPr>
            <p:cNvPr id="237" name="TextBox 236">
              <a:extLst>
                <a:ext uri="{FF2B5EF4-FFF2-40B4-BE49-F238E27FC236}">
                  <a16:creationId xmlns:a16="http://schemas.microsoft.com/office/drawing/2014/main" id="{FFC49AEA-2A8F-250C-A86A-A7751D9706C3}"/>
                </a:ext>
              </a:extLst>
            </p:cNvPr>
            <p:cNvSpPr txBox="1"/>
            <p:nvPr/>
          </p:nvSpPr>
          <p:spPr>
            <a:xfrm>
              <a:off x="712467" y="196406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38" name="그룹 237"/>
            <p:cNvGrpSpPr/>
            <p:nvPr/>
          </p:nvGrpSpPr>
          <p:grpSpPr>
            <a:xfrm flipV="1">
              <a:off x="3074554" y="2077393"/>
              <a:ext cx="94010" cy="47005"/>
              <a:chOff x="6812560" y="3297172"/>
              <a:chExt cx="94010" cy="47005"/>
            </a:xfrm>
          </p:grpSpPr>
          <p:cxnSp>
            <p:nvCxnSpPr>
              <p:cNvPr id="239" name="직선 연결선 2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0" name="직선 연결선 2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41" name="그룹 240"/>
          <p:cNvGrpSpPr/>
          <p:nvPr/>
        </p:nvGrpSpPr>
        <p:grpSpPr>
          <a:xfrm>
            <a:off x="3886275" y="2477737"/>
            <a:ext cx="2456097" cy="181140"/>
            <a:chOff x="712467" y="2404329"/>
            <a:chExt cx="2456097" cy="181140"/>
          </a:xfrm>
        </p:grpSpPr>
        <p:sp>
          <p:nvSpPr>
            <p:cNvPr id="242" name="TextBox 241">
              <a:extLst>
                <a:ext uri="{FF2B5EF4-FFF2-40B4-BE49-F238E27FC236}">
                  <a16:creationId xmlns:a16="http://schemas.microsoft.com/office/drawing/2014/main" id="{FFC49AEA-2A8F-250C-A86A-A7751D9706C3}"/>
                </a:ext>
              </a:extLst>
            </p:cNvPr>
            <p:cNvSpPr txBox="1"/>
            <p:nvPr/>
          </p:nvSpPr>
          <p:spPr>
            <a:xfrm>
              <a:off x="712467" y="2404329"/>
              <a:ext cx="452259" cy="181140"/>
            </a:xfrm>
            <a:prstGeom prst="rect">
              <a:avLst/>
            </a:prstGeom>
            <a:noFill/>
          </p:spPr>
          <p:txBody>
            <a:bodyPr wrap="square" lIns="0" tIns="0" rIns="0" bIns="0" rtlCol="0">
              <a:spAutoFit/>
            </a:bodyPr>
            <a:lstStyle/>
            <a:p>
              <a:pPr>
                <a:lnSpc>
                  <a:spcPct val="200000"/>
                </a:lnSpc>
              </a:pPr>
              <a:r>
                <a:rPr lang="ko-KR" altLang="en-US" sz="700" dirty="0" smtClean="0">
                  <a:latin typeface="+mn-ea"/>
                </a:rPr>
                <a:t>지역제한</a:t>
              </a:r>
              <a:endParaRPr lang="ko-KR" altLang="en-US" sz="700" dirty="0">
                <a:latin typeface="+mn-ea"/>
              </a:endParaRPr>
            </a:p>
          </p:txBody>
        </p:sp>
        <p:grpSp>
          <p:nvGrpSpPr>
            <p:cNvPr id="243" name="그룹 242"/>
            <p:cNvGrpSpPr/>
            <p:nvPr/>
          </p:nvGrpSpPr>
          <p:grpSpPr>
            <a:xfrm flipV="1">
              <a:off x="3074554" y="2517660"/>
              <a:ext cx="94010" cy="47005"/>
              <a:chOff x="6812560" y="3297172"/>
              <a:chExt cx="94010" cy="47005"/>
            </a:xfrm>
          </p:grpSpPr>
          <p:cxnSp>
            <p:nvCxnSpPr>
              <p:cNvPr id="244" name="직선 연결선 2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5" name="직선 연결선 2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54" name="그룹 253"/>
          <p:cNvGrpSpPr/>
          <p:nvPr/>
        </p:nvGrpSpPr>
        <p:grpSpPr>
          <a:xfrm>
            <a:off x="3886275" y="2937121"/>
            <a:ext cx="2456097" cy="215444"/>
            <a:chOff x="712467" y="2404329"/>
            <a:chExt cx="2456097" cy="215444"/>
          </a:xfrm>
        </p:grpSpPr>
        <p:sp>
          <p:nvSpPr>
            <p:cNvPr id="255" name="TextBox 254">
              <a:extLst>
                <a:ext uri="{FF2B5EF4-FFF2-40B4-BE49-F238E27FC236}">
                  <a16:creationId xmlns:a16="http://schemas.microsoft.com/office/drawing/2014/main" id="{FFC49AEA-2A8F-250C-A86A-A7751D9706C3}"/>
                </a:ext>
              </a:extLst>
            </p:cNvPr>
            <p:cNvSpPr txBox="1"/>
            <p:nvPr/>
          </p:nvSpPr>
          <p:spPr>
            <a:xfrm>
              <a:off x="712467" y="2404329"/>
              <a:ext cx="938533" cy="215444"/>
            </a:xfrm>
            <a:prstGeom prst="rect">
              <a:avLst/>
            </a:prstGeom>
            <a:noFill/>
          </p:spPr>
          <p:txBody>
            <a:bodyPr wrap="square" lIns="0" tIns="0" rIns="0" bIns="0" rtlCol="0">
              <a:spAutoFit/>
            </a:bodyPr>
            <a:lstStyle/>
            <a:p>
              <a:pPr>
                <a:lnSpc>
                  <a:spcPct val="200000"/>
                </a:lnSpc>
              </a:pPr>
              <a:r>
                <a:rPr lang="ko-KR" altLang="en-US" sz="700" dirty="0" err="1" smtClean="0">
                  <a:latin typeface="+mn-ea"/>
                </a:rPr>
                <a:t>공증및면허제한</a:t>
              </a:r>
              <a:endParaRPr lang="ko-KR" altLang="en-US" sz="700" dirty="0">
                <a:latin typeface="+mn-ea"/>
              </a:endParaRPr>
            </a:p>
          </p:txBody>
        </p:sp>
        <p:grpSp>
          <p:nvGrpSpPr>
            <p:cNvPr id="256" name="그룹 255"/>
            <p:cNvGrpSpPr/>
            <p:nvPr/>
          </p:nvGrpSpPr>
          <p:grpSpPr>
            <a:xfrm flipV="1">
              <a:off x="3074554" y="2517660"/>
              <a:ext cx="94010" cy="47005"/>
              <a:chOff x="6812560" y="3297172"/>
              <a:chExt cx="94010" cy="47005"/>
            </a:xfrm>
          </p:grpSpPr>
          <p:cxnSp>
            <p:nvCxnSpPr>
              <p:cNvPr id="257" name="직선 연결선 25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8" name="직선 연결선 25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59" name="그룹 258"/>
          <p:cNvGrpSpPr/>
          <p:nvPr/>
        </p:nvGrpSpPr>
        <p:grpSpPr>
          <a:xfrm>
            <a:off x="3886275" y="3430809"/>
            <a:ext cx="2456097" cy="181140"/>
            <a:chOff x="712467" y="2404329"/>
            <a:chExt cx="2456097" cy="181140"/>
          </a:xfrm>
        </p:grpSpPr>
        <p:sp>
          <p:nvSpPr>
            <p:cNvPr id="260" name="TextBox 259">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시공능력평가제한</a:t>
              </a:r>
              <a:endParaRPr lang="ko-KR" altLang="en-US" sz="700" dirty="0">
                <a:latin typeface="+mn-ea"/>
              </a:endParaRPr>
            </a:p>
          </p:txBody>
        </p:sp>
        <p:grpSp>
          <p:nvGrpSpPr>
            <p:cNvPr id="267" name="그룹 266"/>
            <p:cNvGrpSpPr/>
            <p:nvPr/>
          </p:nvGrpSpPr>
          <p:grpSpPr>
            <a:xfrm flipV="1">
              <a:off x="3074554" y="2517660"/>
              <a:ext cx="94010" cy="47005"/>
              <a:chOff x="6812560" y="3297172"/>
              <a:chExt cx="94010" cy="47005"/>
            </a:xfrm>
          </p:grpSpPr>
          <p:cxnSp>
            <p:nvCxnSpPr>
              <p:cNvPr id="270" name="직선 연결선 2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2" name="직선 연결선 2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73" name="그룹 272"/>
          <p:cNvGrpSpPr/>
          <p:nvPr/>
        </p:nvGrpSpPr>
        <p:grpSpPr>
          <a:xfrm>
            <a:off x="3886275" y="3890193"/>
            <a:ext cx="2456097" cy="181140"/>
            <a:chOff x="712467" y="2404329"/>
            <a:chExt cx="2456097" cy="181140"/>
          </a:xfrm>
        </p:grpSpPr>
        <p:sp>
          <p:nvSpPr>
            <p:cNvPr id="274" name="TextBox 273">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지명경쟁업체</a:t>
              </a:r>
              <a:endParaRPr lang="ko-KR" altLang="en-US" sz="700" dirty="0">
                <a:latin typeface="+mn-ea"/>
              </a:endParaRPr>
            </a:p>
          </p:txBody>
        </p:sp>
        <p:grpSp>
          <p:nvGrpSpPr>
            <p:cNvPr id="275" name="그룹 274"/>
            <p:cNvGrpSpPr/>
            <p:nvPr/>
          </p:nvGrpSpPr>
          <p:grpSpPr>
            <a:xfrm flipV="1">
              <a:off x="3074554" y="2517660"/>
              <a:ext cx="94010" cy="47005"/>
              <a:chOff x="6812560" y="3297172"/>
              <a:chExt cx="94010" cy="47005"/>
            </a:xfrm>
          </p:grpSpPr>
          <p:cxnSp>
            <p:nvCxnSpPr>
              <p:cNvPr id="276" name="직선 연결선 2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90" name="직선 연결선 2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92" name="그룹 291"/>
          <p:cNvGrpSpPr/>
          <p:nvPr/>
        </p:nvGrpSpPr>
        <p:grpSpPr>
          <a:xfrm>
            <a:off x="3886275" y="4349577"/>
            <a:ext cx="2456097" cy="181140"/>
            <a:chOff x="712467" y="2404329"/>
            <a:chExt cx="2456097" cy="181140"/>
          </a:xfrm>
        </p:grpSpPr>
        <p:sp>
          <p:nvSpPr>
            <p:cNvPr id="293" name="TextBox 292">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첨부서류</a:t>
              </a:r>
              <a:endParaRPr lang="ko-KR" altLang="en-US" sz="700" dirty="0">
                <a:latin typeface="+mn-ea"/>
              </a:endParaRPr>
            </a:p>
          </p:txBody>
        </p:sp>
        <p:grpSp>
          <p:nvGrpSpPr>
            <p:cNvPr id="294" name="그룹 293"/>
            <p:cNvGrpSpPr/>
            <p:nvPr/>
          </p:nvGrpSpPr>
          <p:grpSpPr>
            <a:xfrm flipV="1">
              <a:off x="3074554" y="2517660"/>
              <a:ext cx="94010" cy="47005"/>
              <a:chOff x="6812560" y="3297172"/>
              <a:chExt cx="94010" cy="47005"/>
            </a:xfrm>
          </p:grpSpPr>
          <p:cxnSp>
            <p:nvCxnSpPr>
              <p:cNvPr id="296" name="직선 연결선 29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1" name="직선 연결선 30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308" name="그룹 307"/>
          <p:cNvGrpSpPr/>
          <p:nvPr/>
        </p:nvGrpSpPr>
        <p:grpSpPr>
          <a:xfrm>
            <a:off x="3886275" y="4648076"/>
            <a:ext cx="2456097" cy="181140"/>
            <a:chOff x="712467" y="2404329"/>
            <a:chExt cx="2456097" cy="181140"/>
          </a:xfrm>
        </p:grpSpPr>
        <p:sp>
          <p:nvSpPr>
            <p:cNvPr id="309" name="TextBox 308">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문의처</a:t>
              </a:r>
              <a:endParaRPr lang="ko-KR" altLang="en-US" sz="700" dirty="0">
                <a:latin typeface="+mn-ea"/>
              </a:endParaRPr>
            </a:p>
          </p:txBody>
        </p:sp>
        <p:grpSp>
          <p:nvGrpSpPr>
            <p:cNvPr id="318" name="그룹 317"/>
            <p:cNvGrpSpPr/>
            <p:nvPr/>
          </p:nvGrpSpPr>
          <p:grpSpPr>
            <a:xfrm flipV="1">
              <a:off x="3074554" y="2517660"/>
              <a:ext cx="94010" cy="47005"/>
              <a:chOff x="6812560" y="3297172"/>
              <a:chExt cx="94010" cy="47005"/>
            </a:xfrm>
          </p:grpSpPr>
          <p:cxnSp>
            <p:nvCxnSpPr>
              <p:cNvPr id="320" name="직선 연결선 3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1" name="직선 연결선 3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323" name="직선 연결선 322">
            <a:extLst>
              <a:ext uri="{FF2B5EF4-FFF2-40B4-BE49-F238E27FC236}">
                <a16:creationId xmlns:a16="http://schemas.microsoft.com/office/drawing/2014/main" id="{E9293055-D5CD-4B9E-7F64-64B2D2CA7A52}"/>
              </a:ext>
            </a:extLst>
          </p:cNvPr>
          <p:cNvCxnSpPr/>
          <p:nvPr/>
        </p:nvCxnSpPr>
        <p:spPr>
          <a:xfrm>
            <a:off x="3868983" y="228341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4" name="직선 연결선 323">
            <a:extLst>
              <a:ext uri="{FF2B5EF4-FFF2-40B4-BE49-F238E27FC236}">
                <a16:creationId xmlns:a16="http://schemas.microsoft.com/office/drawing/2014/main" id="{E9293055-D5CD-4B9E-7F64-64B2D2CA7A52}"/>
              </a:ext>
            </a:extLst>
          </p:cNvPr>
          <p:cNvCxnSpPr/>
          <p:nvPr/>
        </p:nvCxnSpPr>
        <p:spPr>
          <a:xfrm>
            <a:off x="3868983" y="27527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5" name="직선 연결선 324">
            <a:extLst>
              <a:ext uri="{FF2B5EF4-FFF2-40B4-BE49-F238E27FC236}">
                <a16:creationId xmlns:a16="http://schemas.microsoft.com/office/drawing/2014/main" id="{E9293055-D5CD-4B9E-7F64-64B2D2CA7A52}"/>
              </a:ext>
            </a:extLst>
          </p:cNvPr>
          <p:cNvCxnSpPr/>
          <p:nvPr/>
        </p:nvCxnSpPr>
        <p:spPr>
          <a:xfrm>
            <a:off x="3868983" y="3222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5" name="직선 연결선 344">
            <a:extLst>
              <a:ext uri="{FF2B5EF4-FFF2-40B4-BE49-F238E27FC236}">
                <a16:creationId xmlns:a16="http://schemas.microsoft.com/office/drawing/2014/main" id="{E9293055-D5CD-4B9E-7F64-64B2D2CA7A52}"/>
              </a:ext>
            </a:extLst>
          </p:cNvPr>
          <p:cNvCxnSpPr/>
          <p:nvPr/>
        </p:nvCxnSpPr>
        <p:spPr>
          <a:xfrm>
            <a:off x="3868983" y="36915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6" name="직선 연결선 345">
            <a:extLst>
              <a:ext uri="{FF2B5EF4-FFF2-40B4-BE49-F238E27FC236}">
                <a16:creationId xmlns:a16="http://schemas.microsoft.com/office/drawing/2014/main" id="{E9293055-D5CD-4B9E-7F64-64B2D2CA7A52}"/>
              </a:ext>
            </a:extLst>
          </p:cNvPr>
          <p:cNvCxnSpPr/>
          <p:nvPr/>
        </p:nvCxnSpPr>
        <p:spPr>
          <a:xfrm>
            <a:off x="3868983" y="41609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7" name="직선 연결선 346">
            <a:extLst>
              <a:ext uri="{FF2B5EF4-FFF2-40B4-BE49-F238E27FC236}">
                <a16:creationId xmlns:a16="http://schemas.microsoft.com/office/drawing/2014/main" id="{E9293055-D5CD-4B9E-7F64-64B2D2CA7A52}"/>
              </a:ext>
            </a:extLst>
          </p:cNvPr>
          <p:cNvCxnSpPr/>
          <p:nvPr/>
        </p:nvCxnSpPr>
        <p:spPr>
          <a:xfrm>
            <a:off x="3868983" y="463032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48" name="타원 347">
            <a:extLst>
              <a:ext uri="{FF2B5EF4-FFF2-40B4-BE49-F238E27FC236}">
                <a16:creationId xmlns:a16="http://schemas.microsoft.com/office/drawing/2014/main" id="{37A7FF4F-0EAA-1463-560A-D5EC24416103}"/>
              </a:ext>
            </a:extLst>
          </p:cNvPr>
          <p:cNvSpPr/>
          <p:nvPr/>
        </p:nvSpPr>
        <p:spPr>
          <a:xfrm>
            <a:off x="3685093" y="160565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smtClean="0"/>
              <a:t>5</a:t>
            </a:r>
            <a:endParaRPr lang="ko-KR" altLang="en-US" sz="900" b="1" dirty="0"/>
          </a:p>
        </p:txBody>
      </p:sp>
      <p:sp>
        <p:nvSpPr>
          <p:cNvPr id="349" name="타원 348">
            <a:extLst>
              <a:ext uri="{FF2B5EF4-FFF2-40B4-BE49-F238E27FC236}">
                <a16:creationId xmlns:a16="http://schemas.microsoft.com/office/drawing/2014/main" id="{37A7FF4F-0EAA-1463-560A-D5EC24416103}"/>
              </a:ext>
            </a:extLst>
          </p:cNvPr>
          <p:cNvSpPr/>
          <p:nvPr/>
        </p:nvSpPr>
        <p:spPr>
          <a:xfrm>
            <a:off x="688720" y="151193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sp>
        <p:nvSpPr>
          <p:cNvPr id="181" name="타원 180"/>
          <p:cNvSpPr/>
          <p:nvPr/>
        </p:nvSpPr>
        <p:spPr>
          <a:xfrm>
            <a:off x="6616821" y="563921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2" name="그룹 181"/>
          <p:cNvGrpSpPr/>
          <p:nvPr/>
        </p:nvGrpSpPr>
        <p:grpSpPr>
          <a:xfrm>
            <a:off x="6746288" y="5768679"/>
            <a:ext cx="124144" cy="124144"/>
            <a:chOff x="162544" y="5299917"/>
            <a:chExt cx="124144" cy="124144"/>
          </a:xfrm>
        </p:grpSpPr>
        <p:cxnSp>
          <p:nvCxnSpPr>
            <p:cNvPr id="188" name="직선 연결선 1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94" name="직선 연결선 193"/>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6587950" y="565181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3840825" y="50997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6" name="그룹 5"/>
          <p:cNvGrpSpPr/>
          <p:nvPr/>
        </p:nvGrpSpPr>
        <p:grpSpPr>
          <a:xfrm>
            <a:off x="3866886" y="5186535"/>
            <a:ext cx="2479565" cy="181140"/>
            <a:chOff x="3866886" y="5435481"/>
            <a:chExt cx="2479565" cy="181140"/>
          </a:xfrm>
        </p:grpSpPr>
        <p:sp>
          <p:nvSpPr>
            <p:cNvPr id="196" name="TextBox 195">
              <a:extLst>
                <a:ext uri="{FF2B5EF4-FFF2-40B4-BE49-F238E27FC236}">
                  <a16:creationId xmlns:a16="http://schemas.microsoft.com/office/drawing/2014/main" id="{FFC49AEA-2A8F-250C-A86A-A7751D9706C3}"/>
                </a:ext>
              </a:extLst>
            </p:cNvPr>
            <p:cNvSpPr txBox="1"/>
            <p:nvPr/>
          </p:nvSpPr>
          <p:spPr>
            <a:xfrm>
              <a:off x="3866886" y="5435481"/>
              <a:ext cx="938533"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총액제</a:t>
              </a:r>
              <a:endParaRPr lang="ko-KR" altLang="en-US" sz="700" dirty="0">
                <a:latin typeface="+mn-ea"/>
              </a:endParaRPr>
            </a:p>
          </p:txBody>
        </p:sp>
        <p:cxnSp>
          <p:nvCxnSpPr>
            <p:cNvPr id="208" name="직선 연결선 207"/>
            <p:cNvCxnSpPr/>
            <p:nvPr/>
          </p:nvCxnSpPr>
          <p:spPr>
            <a:xfrm flipV="1">
              <a:off x="6252441" y="550254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9" name="직선 연결선 208"/>
            <p:cNvCxnSpPr/>
            <p:nvPr/>
          </p:nvCxnSpPr>
          <p:spPr>
            <a:xfrm flipH="1" flipV="1">
              <a:off x="6299446" y="5502549"/>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 name="그룹 8"/>
          <p:cNvGrpSpPr/>
          <p:nvPr/>
        </p:nvGrpSpPr>
        <p:grpSpPr>
          <a:xfrm>
            <a:off x="3886274" y="5469213"/>
            <a:ext cx="2465692" cy="1029449"/>
            <a:chOff x="3886274" y="5869652"/>
            <a:chExt cx="2465692" cy="1029449"/>
          </a:xfrm>
        </p:grpSpPr>
        <p:sp>
          <p:nvSpPr>
            <p:cNvPr id="199" name="TextBox 198">
              <a:extLst>
                <a:ext uri="{FF2B5EF4-FFF2-40B4-BE49-F238E27FC236}">
                  <a16:creationId xmlns:a16="http://schemas.microsoft.com/office/drawing/2014/main" id="{FFC49AEA-2A8F-250C-A86A-A7751D9706C3}"/>
                </a:ext>
              </a:extLst>
            </p:cNvPr>
            <p:cNvSpPr txBox="1"/>
            <p:nvPr/>
          </p:nvSpPr>
          <p:spPr>
            <a:xfrm>
              <a:off x="3886274" y="5869652"/>
              <a:ext cx="938533" cy="1029449"/>
            </a:xfrm>
            <a:prstGeom prst="rect">
              <a:avLst/>
            </a:prstGeom>
            <a:noFill/>
          </p:spPr>
          <p:txBody>
            <a:bodyPr wrap="square" lIns="0" tIns="0" rIns="0" bIns="0" rtlCol="0">
              <a:spAutoFit/>
            </a:bodyPr>
            <a:lstStyle/>
            <a:p>
              <a:pPr>
                <a:lnSpc>
                  <a:spcPct val="250000"/>
                </a:lnSpc>
              </a:pPr>
              <a:r>
                <a:rPr lang="ko-KR" altLang="en-US" sz="700" dirty="0" err="1" smtClean="0">
                  <a:latin typeface="+mn-ea"/>
                </a:rPr>
                <a:t>품목명세서</a:t>
              </a:r>
              <a:endParaRPr lang="en-US" altLang="ko-KR" sz="700" dirty="0" smtClean="0">
                <a:latin typeface="+mn-ea"/>
              </a:endParaRPr>
            </a:p>
            <a:p>
              <a:pPr>
                <a:lnSpc>
                  <a:spcPct val="250000"/>
                </a:lnSpc>
              </a:pPr>
              <a:r>
                <a:rPr lang="ko-KR" altLang="en-US" sz="700" dirty="0" smtClean="0">
                  <a:latin typeface="+mn-ea"/>
                </a:rPr>
                <a:t>입찰진행현황</a:t>
              </a:r>
              <a:endParaRPr lang="en-US" altLang="ko-KR" sz="700" dirty="0" smtClean="0">
                <a:latin typeface="+mn-ea"/>
              </a:endParaRPr>
            </a:p>
            <a:p>
              <a:pPr>
                <a:lnSpc>
                  <a:spcPct val="250000"/>
                </a:lnSpc>
              </a:pPr>
              <a:r>
                <a:rPr lang="ko-KR" altLang="en-US" sz="700" dirty="0" smtClean="0">
                  <a:latin typeface="+mn-ea"/>
                </a:rPr>
                <a:t>계약특수조건</a:t>
              </a:r>
              <a:endParaRPr lang="en-US" altLang="ko-KR" sz="700" dirty="0" smtClean="0">
                <a:latin typeface="+mn-ea"/>
              </a:endParaRPr>
            </a:p>
            <a:p>
              <a:pPr>
                <a:lnSpc>
                  <a:spcPct val="250000"/>
                </a:lnSpc>
              </a:pPr>
              <a:endParaRPr lang="ko-KR" altLang="en-US" sz="700" dirty="0">
                <a:latin typeface="+mn-ea"/>
              </a:endParaRPr>
            </a:p>
          </p:txBody>
        </p:sp>
        <p:cxnSp>
          <p:nvCxnSpPr>
            <p:cNvPr id="210" name="직선 연결선 209"/>
            <p:cNvCxnSpPr/>
            <p:nvPr/>
          </p:nvCxnSpPr>
          <p:spPr>
            <a:xfrm flipV="1">
              <a:off x="6257956" y="5936720"/>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1" name="직선 연결선 210"/>
            <p:cNvCxnSpPr/>
            <p:nvPr/>
          </p:nvCxnSpPr>
          <p:spPr>
            <a:xfrm flipH="1" flipV="1">
              <a:off x="6304961" y="5936720"/>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2" name="직선 연결선 211">
            <a:extLst>
              <a:ext uri="{FF2B5EF4-FFF2-40B4-BE49-F238E27FC236}">
                <a16:creationId xmlns:a16="http://schemas.microsoft.com/office/drawing/2014/main" id="{E9293055-D5CD-4B9E-7F64-64B2D2CA7A52}"/>
              </a:ext>
            </a:extLst>
          </p:cNvPr>
          <p:cNvCxnSpPr/>
          <p:nvPr/>
        </p:nvCxnSpPr>
        <p:spPr>
          <a:xfrm>
            <a:off x="3840825" y="54408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 name="직사각형 16"/>
          <p:cNvSpPr/>
          <p:nvPr/>
        </p:nvSpPr>
        <p:spPr>
          <a:xfrm>
            <a:off x="3840825" y="4999830"/>
            <a:ext cx="2617659" cy="1235316"/>
          </a:xfrm>
          <a:prstGeom prst="rect">
            <a:avLst/>
          </a:prstGeom>
          <a:noFill/>
          <a:ln w="1270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타원 212">
            <a:extLst>
              <a:ext uri="{FF2B5EF4-FFF2-40B4-BE49-F238E27FC236}">
                <a16:creationId xmlns:a16="http://schemas.microsoft.com/office/drawing/2014/main" id="{37A7FF4F-0EAA-1463-560A-D5EC24416103}"/>
              </a:ext>
            </a:extLst>
          </p:cNvPr>
          <p:cNvSpPr/>
          <p:nvPr/>
        </p:nvSpPr>
        <p:spPr>
          <a:xfrm>
            <a:off x="3730200" y="486789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5-1</a:t>
            </a:r>
            <a:endParaRPr lang="ko-KR" altLang="en-US" sz="600" b="1" dirty="0"/>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840825" y="59763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0" name="그룹 19"/>
          <p:cNvGrpSpPr/>
          <p:nvPr/>
        </p:nvGrpSpPr>
        <p:grpSpPr>
          <a:xfrm>
            <a:off x="6263998" y="5848254"/>
            <a:ext cx="89737" cy="42732"/>
            <a:chOff x="6263998" y="6065975"/>
            <a:chExt cx="89737" cy="42732"/>
          </a:xfrm>
        </p:grpSpPr>
        <p:cxnSp>
          <p:nvCxnSpPr>
            <p:cNvPr id="231" name="직선 연결선 230"/>
            <p:cNvCxnSpPr/>
            <p:nvPr/>
          </p:nvCxnSpPr>
          <p:spPr>
            <a:xfrm flipV="1">
              <a:off x="6263998" y="6065975"/>
              <a:ext cx="42732" cy="42732"/>
            </a:xfrm>
            <a:prstGeom prst="line">
              <a:avLst/>
            </a:prstGeom>
          </p:spPr>
          <p:style>
            <a:lnRef idx="1">
              <a:schemeClr val="dk1"/>
            </a:lnRef>
            <a:fillRef idx="0">
              <a:schemeClr val="dk1"/>
            </a:fillRef>
            <a:effectRef idx="0">
              <a:schemeClr val="dk1"/>
            </a:effectRef>
            <a:fontRef idx="minor">
              <a:schemeClr val="tx1"/>
            </a:fontRef>
          </p:style>
        </p:cxnSp>
        <p:cxnSp>
          <p:nvCxnSpPr>
            <p:cNvPr id="232" name="직선 연결선 231"/>
            <p:cNvCxnSpPr/>
            <p:nvPr/>
          </p:nvCxnSpPr>
          <p:spPr>
            <a:xfrm flipH="1" flipV="1">
              <a:off x="6311003" y="6065975"/>
              <a:ext cx="42732" cy="42732"/>
            </a:xfrm>
            <a:prstGeom prst="line">
              <a:avLst/>
            </a:prstGeom>
          </p:spPr>
          <p:style>
            <a:lnRef idx="1">
              <a:schemeClr val="dk1"/>
            </a:lnRef>
            <a:fillRef idx="0">
              <a:schemeClr val="dk1"/>
            </a:fillRef>
            <a:effectRef idx="0">
              <a:schemeClr val="dk1"/>
            </a:effectRef>
            <a:fontRef idx="minor">
              <a:schemeClr val="tx1"/>
            </a:fontRef>
          </p:style>
        </p:cxnSp>
      </p:grpSp>
      <p:cxnSp>
        <p:nvCxnSpPr>
          <p:cNvPr id="233" name="직선 연결선 232">
            <a:extLst>
              <a:ext uri="{FF2B5EF4-FFF2-40B4-BE49-F238E27FC236}">
                <a16:creationId xmlns:a16="http://schemas.microsoft.com/office/drawing/2014/main" id="{E9293055-D5CD-4B9E-7F64-64B2D2CA7A52}"/>
              </a:ext>
            </a:extLst>
          </p:cNvPr>
          <p:cNvCxnSpPr/>
          <p:nvPr/>
        </p:nvCxnSpPr>
        <p:spPr>
          <a:xfrm>
            <a:off x="3840825" y="569874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34" name="그룹 233"/>
          <p:cNvGrpSpPr/>
          <p:nvPr/>
        </p:nvGrpSpPr>
        <p:grpSpPr>
          <a:xfrm>
            <a:off x="6263998" y="6127654"/>
            <a:ext cx="89737" cy="42732"/>
            <a:chOff x="6263998" y="6065975"/>
            <a:chExt cx="89737" cy="42732"/>
          </a:xfrm>
        </p:grpSpPr>
        <p:cxnSp>
          <p:nvCxnSpPr>
            <p:cNvPr id="246" name="직선 연결선 245"/>
            <p:cNvCxnSpPr/>
            <p:nvPr/>
          </p:nvCxnSpPr>
          <p:spPr>
            <a:xfrm flipV="1">
              <a:off x="6263998" y="6065975"/>
              <a:ext cx="42732" cy="42732"/>
            </a:xfrm>
            <a:prstGeom prst="line">
              <a:avLst/>
            </a:prstGeom>
          </p:spPr>
          <p:style>
            <a:lnRef idx="1">
              <a:schemeClr val="dk1"/>
            </a:lnRef>
            <a:fillRef idx="0">
              <a:schemeClr val="dk1"/>
            </a:fillRef>
            <a:effectRef idx="0">
              <a:schemeClr val="dk1"/>
            </a:effectRef>
            <a:fontRef idx="minor">
              <a:schemeClr val="tx1"/>
            </a:fontRef>
          </p:style>
        </p:cxnSp>
        <p:cxnSp>
          <p:nvCxnSpPr>
            <p:cNvPr id="247" name="직선 연결선 246"/>
            <p:cNvCxnSpPr/>
            <p:nvPr/>
          </p:nvCxnSpPr>
          <p:spPr>
            <a:xfrm flipH="1" flipV="1">
              <a:off x="6311003" y="6065975"/>
              <a:ext cx="42732" cy="42732"/>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81767487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smtClean="0"/>
              <a:t>화면목록</a:t>
            </a:r>
            <a:r>
              <a:rPr lang="en-US" altLang="ko-KR" dirty="0" smtClean="0"/>
              <a:t>, </a:t>
            </a:r>
            <a:r>
              <a:rPr lang="ko-KR" altLang="en-US" dirty="0" smtClean="0"/>
              <a:t>화면 </a:t>
            </a:r>
            <a:r>
              <a:rPr lang="en-US" altLang="ko-KR" dirty="0" smtClean="0"/>
              <a:t>ID, </a:t>
            </a:r>
            <a:r>
              <a:rPr lang="ko-KR" altLang="en-US" dirty="0" err="1" smtClean="0"/>
              <a:t>화면명은</a:t>
            </a:r>
            <a:r>
              <a:rPr lang="ko-KR" altLang="en-US" dirty="0" smtClean="0"/>
              <a:t> 공통업무에서 조회 가능</a:t>
            </a:r>
            <a:r>
              <a:rPr lang="en-US" altLang="ko-KR" dirty="0" smtClean="0"/>
              <a:t/>
            </a:r>
            <a:br>
              <a:rPr lang="en-US" altLang="ko-KR" dirty="0" smtClean="0"/>
            </a:br>
            <a:r>
              <a:rPr lang="en-US" altLang="ko-KR" dirty="0" smtClean="0"/>
              <a:t>- </a:t>
            </a:r>
            <a:r>
              <a:rPr lang="ko-KR" altLang="en-US" dirty="0" smtClean="0"/>
              <a:t>현재 페이지는 이해를 돕기 위한 </a:t>
            </a:r>
            <a:r>
              <a:rPr lang="ko-KR" altLang="en-US" dirty="0" err="1" smtClean="0"/>
              <a:t>화면임</a:t>
            </a:r>
            <a:r>
              <a:rPr lang="en-US" altLang="ko-KR" dirty="0" smtClean="0"/>
              <a:t>.</a:t>
            </a:r>
          </a:p>
          <a:p>
            <a:pPr marL="228600" indent="-228600">
              <a:buFont typeface="+mj-lt"/>
              <a:buAutoNum type="arabicPeriod"/>
            </a:pPr>
            <a:endParaRPr lang="en-US" altLang="ko-KR" dirty="0"/>
          </a:p>
          <a:p>
            <a:pPr marL="228600" indent="-228600">
              <a:buFont typeface="+mj-lt"/>
              <a:buAutoNum type="arabicPeriod"/>
            </a:pPr>
            <a:r>
              <a:rPr lang="ko-KR" altLang="en-US" dirty="0" smtClean="0"/>
              <a:t>진행 </a:t>
            </a:r>
            <a:r>
              <a:rPr lang="ko-KR" altLang="en-US" dirty="0"/>
              <a:t>단계 </a:t>
            </a:r>
            <a:r>
              <a:rPr lang="ko-KR" altLang="en-US" dirty="0" smtClean="0"/>
              <a:t>표시</a:t>
            </a:r>
            <a:r>
              <a:rPr lang="en-US" altLang="ko-KR" dirty="0" smtClean="0"/>
              <a:t/>
            </a:r>
            <a:br>
              <a:rPr lang="en-US" altLang="ko-KR" dirty="0" smtClean="0"/>
            </a:br>
            <a:r>
              <a:rPr lang="en-US" altLang="ko-KR" dirty="0" smtClean="0"/>
              <a:t>- </a:t>
            </a:r>
            <a:r>
              <a:rPr lang="ko-KR" altLang="en-US" dirty="0" smtClean="0"/>
              <a:t>각 진행 단계 클릭 시 선택이 유지되며</a:t>
            </a:r>
            <a:r>
              <a:rPr lang="en-US" altLang="ko-KR" dirty="0" smtClean="0"/>
              <a:t>,</a:t>
            </a:r>
            <a:r>
              <a:rPr lang="ko-KR" altLang="en-US" dirty="0" smtClean="0"/>
              <a:t> 하단 </a:t>
            </a:r>
            <a:r>
              <a:rPr lang="ko-KR" altLang="en-US" dirty="0" err="1" smtClean="0"/>
              <a:t>바로가기</a:t>
            </a:r>
            <a:r>
              <a:rPr lang="ko-KR" altLang="en-US" dirty="0" smtClean="0"/>
              <a:t> 버튼으로 해당하는 목록으로 이동함</a:t>
            </a:r>
            <a:r>
              <a:rPr lang="en-US" altLang="ko-KR" dirty="0" smtClean="0"/>
              <a:t>.</a:t>
            </a:r>
            <a:br>
              <a:rPr lang="en-US" altLang="ko-KR" dirty="0" smtClean="0"/>
            </a:br>
            <a:r>
              <a:rPr lang="en-US" altLang="ko-KR" dirty="0" smtClean="0"/>
              <a:t>- </a:t>
            </a:r>
            <a:r>
              <a:rPr lang="ko-KR" altLang="en-US" dirty="0" smtClean="0"/>
              <a:t>공고에 매칭되는 정보만 제공</a:t>
            </a:r>
            <a:r>
              <a:rPr lang="en-US" altLang="ko-KR" dirty="0" smtClean="0"/>
              <a:t/>
            </a:r>
            <a:br>
              <a:rPr lang="en-US" altLang="ko-KR" dirty="0" smtClean="0"/>
            </a:br>
            <a:r>
              <a:rPr lang="en-US" altLang="ko-KR" dirty="0" smtClean="0">
                <a:solidFill>
                  <a:srgbClr val="FF0000"/>
                </a:solidFill>
              </a:rPr>
              <a:t>  &gt; </a:t>
            </a:r>
            <a:r>
              <a:rPr lang="ko-KR" altLang="en-US" dirty="0" smtClean="0">
                <a:solidFill>
                  <a:srgbClr val="FF0000"/>
                </a:solidFill>
              </a:rPr>
              <a:t>해당 공고의 정보가 사용자가 선택하는 목록에 없는 경우 정보가 없음을 표시</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o </a:t>
            </a:r>
            <a:r>
              <a:rPr lang="ko-KR" altLang="en-US" dirty="0" smtClean="0">
                <a:solidFill>
                  <a:srgbClr val="FF0000"/>
                </a:solidFill>
              </a:rPr>
              <a:t>예를 들어</a:t>
            </a:r>
            <a:r>
              <a:rPr lang="en-US" altLang="ko-KR" dirty="0" smtClean="0">
                <a:solidFill>
                  <a:srgbClr val="FF0000"/>
                </a:solidFill>
              </a:rPr>
              <a:t>,</a:t>
            </a:r>
            <a:r>
              <a:rPr lang="ko-KR" altLang="en-US" dirty="0" smtClean="0">
                <a:solidFill>
                  <a:srgbClr val="FF0000"/>
                </a:solidFill>
              </a:rPr>
              <a:t> 공고의 진행 상태가 개찰까지 이루어졌다면</a:t>
            </a:r>
            <a:r>
              <a:rPr lang="en-US" altLang="ko-KR" dirty="0" smtClean="0">
                <a:solidFill>
                  <a:srgbClr val="FF0000"/>
                </a:solidFill>
              </a:rPr>
              <a:t>, </a:t>
            </a:r>
            <a:r>
              <a:rPr lang="ko-KR" altLang="en-US" dirty="0" smtClean="0">
                <a:solidFill>
                  <a:srgbClr val="FF0000"/>
                </a:solidFill>
              </a:rPr>
              <a:t>개찰 목록까지 해당 공고가 표시되고</a:t>
            </a:r>
            <a:r>
              <a:rPr lang="en-US" altLang="ko-KR" dirty="0" smtClean="0">
                <a:solidFill>
                  <a:srgbClr val="FF0000"/>
                </a:solidFill>
              </a:rPr>
              <a:t>, </a:t>
            </a:r>
            <a:r>
              <a:rPr lang="ko-KR" altLang="en-US" dirty="0" err="1" smtClean="0">
                <a:solidFill>
                  <a:srgbClr val="FF0000"/>
                </a:solidFill>
              </a:rPr>
              <a:t>전자계약</a:t>
            </a:r>
            <a:r>
              <a:rPr lang="ko-KR" altLang="en-US" dirty="0" smtClean="0">
                <a:solidFill>
                  <a:srgbClr val="FF0000"/>
                </a:solidFill>
              </a:rPr>
              <a:t> 목록부터는 해당 공고가 표시되지 않음</a:t>
            </a:r>
            <a:r>
              <a:rPr lang="en-US" altLang="ko-KR" dirty="0" smtClean="0">
                <a:solidFill>
                  <a:srgbClr val="FF0000"/>
                </a:solidFill>
              </a:rPr>
              <a:t>.</a:t>
            </a:r>
            <a:br>
              <a:rPr lang="en-US" altLang="ko-KR" dirty="0" smtClean="0">
                <a:solidFill>
                  <a:srgbClr val="FF0000"/>
                </a:solidFill>
              </a:rPr>
            </a:br>
            <a:r>
              <a:rPr lang="en-US" altLang="ko-KR" dirty="0" smtClean="0">
                <a:solidFill>
                  <a:srgbClr val="FF0000"/>
                </a:solidFill>
              </a:rPr>
              <a:t>  &gt; </a:t>
            </a:r>
            <a:r>
              <a:rPr lang="ko-KR" altLang="en-US" dirty="0" smtClean="0">
                <a:solidFill>
                  <a:srgbClr val="FF0000"/>
                </a:solidFill>
              </a:rPr>
              <a:t>선택된 목록에는 검색 영역이 숨겨지고</a:t>
            </a:r>
            <a:r>
              <a:rPr lang="en-US" altLang="ko-KR" dirty="0" smtClean="0">
                <a:solidFill>
                  <a:srgbClr val="FF0000"/>
                </a:solidFill>
              </a:rPr>
              <a:t>, </a:t>
            </a:r>
            <a:r>
              <a:rPr lang="ko-KR" altLang="en-US" dirty="0" smtClean="0">
                <a:solidFill>
                  <a:srgbClr val="FF0000"/>
                </a:solidFill>
              </a:rPr>
              <a:t>선택한 공고에 해당하는 정보만 표시함</a:t>
            </a:r>
            <a:r>
              <a:rPr lang="en-US" altLang="ko-KR" dirty="0" smtClean="0">
                <a:solidFill>
                  <a:srgbClr val="FF0000"/>
                </a:solidFill>
              </a:rPr>
              <a:t>.</a:t>
            </a:r>
            <a:br>
              <a:rPr lang="en-US" altLang="ko-KR" dirty="0" smtClean="0">
                <a:solidFill>
                  <a:srgbClr val="FF0000"/>
                </a:solidFill>
              </a:rPr>
            </a:br>
            <a:r>
              <a:rPr lang="en-US" altLang="ko-KR" dirty="0" smtClean="0">
                <a:solidFill>
                  <a:srgbClr val="FF0000"/>
                </a:solidFill>
              </a:rPr>
              <a:t>    o </a:t>
            </a:r>
            <a:r>
              <a:rPr lang="ko-KR" altLang="en-US" dirty="0" smtClean="0">
                <a:solidFill>
                  <a:srgbClr val="FF0000"/>
                </a:solidFill>
              </a:rPr>
              <a:t>예를 들어</a:t>
            </a:r>
            <a:r>
              <a:rPr lang="en-US" altLang="ko-KR" dirty="0" smtClean="0">
                <a:solidFill>
                  <a:srgbClr val="FF0000"/>
                </a:solidFill>
              </a:rPr>
              <a:t>, </a:t>
            </a:r>
            <a:r>
              <a:rPr lang="ko-KR" altLang="en-US" dirty="0" smtClean="0">
                <a:solidFill>
                  <a:srgbClr val="FF0000"/>
                </a:solidFill>
              </a:rPr>
              <a:t>공고의 진행 상태가 개찰까지 이루어졌다면</a:t>
            </a:r>
            <a:r>
              <a:rPr lang="en-US" altLang="ko-KR" dirty="0" smtClean="0">
                <a:solidFill>
                  <a:srgbClr val="FF0000"/>
                </a:solidFill>
              </a:rPr>
              <a:t>, </a:t>
            </a:r>
            <a:r>
              <a:rPr lang="ko-KR" altLang="en-US" dirty="0" smtClean="0">
                <a:solidFill>
                  <a:srgbClr val="FF0000"/>
                </a:solidFill>
              </a:rPr>
              <a:t>개찰 목록에서 해당 공고가 표시될 때</a:t>
            </a:r>
            <a:r>
              <a:rPr lang="en-US" altLang="ko-KR" dirty="0" smtClean="0">
                <a:solidFill>
                  <a:srgbClr val="FF0000"/>
                </a:solidFill>
              </a:rPr>
              <a:t>, </a:t>
            </a:r>
            <a:r>
              <a:rPr lang="ko-KR" altLang="en-US" dirty="0" smtClean="0">
                <a:solidFill>
                  <a:srgbClr val="FF0000"/>
                </a:solidFill>
              </a:rPr>
              <a:t>검색 영역이 표시되지 않음</a:t>
            </a:r>
            <a:r>
              <a:rPr lang="en-US" altLang="ko-KR" dirty="0" smtClean="0">
                <a:solidFill>
                  <a:srgbClr val="FF0000"/>
                </a:solidFill>
              </a:rPr>
              <a:t>.</a:t>
            </a:r>
            <a:endParaRPr lang="en-US" altLang="ko-KR" dirty="0">
              <a:solidFill>
                <a:srgbClr val="FF0000"/>
              </a:solidFill>
            </a:endParaRPr>
          </a:p>
          <a:p>
            <a:pPr marL="228600" indent="-228600">
              <a:buFont typeface="+mj-lt"/>
              <a:buAutoNum type="arabicPeriod"/>
            </a:pPr>
            <a:endParaRPr lang="en-US" altLang="ko-KR" dirty="0" smtClean="0"/>
          </a:p>
          <a:p>
            <a:pPr marL="228600" indent="-228600">
              <a:buFont typeface="+mj-lt"/>
              <a:buAutoNum type="arabicPeriod"/>
            </a:pPr>
            <a:r>
              <a:rPr lang="ko-KR" altLang="en-US" dirty="0" smtClean="0"/>
              <a:t>버튼 표시</a:t>
            </a:r>
            <a:r>
              <a:rPr lang="en-US" altLang="ko-KR" dirty="0" smtClean="0"/>
              <a:t/>
            </a:r>
            <a:br>
              <a:rPr lang="en-US" altLang="ko-KR" dirty="0" smtClean="0"/>
            </a:br>
            <a:r>
              <a:rPr lang="en-US" altLang="ko-KR" dirty="0" smtClean="0">
                <a:solidFill>
                  <a:srgbClr val="FF0000"/>
                </a:solidFill>
              </a:rPr>
              <a:t>- </a:t>
            </a:r>
            <a:r>
              <a:rPr lang="ko-KR" altLang="en-US" dirty="0" smtClean="0">
                <a:solidFill>
                  <a:srgbClr val="FF0000"/>
                </a:solidFill>
              </a:rPr>
              <a:t>상기 표시된 단계 상태에 선택된 목록으로 이동</a:t>
            </a:r>
            <a:endParaRPr lang="ko-KR" altLang="en-US"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smtClean="0">
                <a:latin typeface="+mn-ea"/>
              </a:rPr>
              <a:t>세부스텝팝업</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진행중인 공고의 진행 단계를 표시하는 팝업 화면</a:t>
            </a:r>
            <a:endParaRPr lang="en-US" altLang="ko-KR"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92500" lnSpcReduction="20000"/>
          </a:bodyPr>
          <a:lstStyle/>
          <a:p>
            <a:r>
              <a:rPr lang="ko-KR" altLang="en-US" dirty="0">
                <a:latin typeface="+mn-ea"/>
              </a:rPr>
              <a:t>메인 홈 </a:t>
            </a:r>
            <a:r>
              <a:rPr lang="en-US" altLang="ko-KR" dirty="0">
                <a:latin typeface="+mn-ea"/>
              </a:rPr>
              <a:t>&gt; </a:t>
            </a:r>
            <a:r>
              <a:rPr lang="ko-KR" altLang="en-US" dirty="0" err="1">
                <a:latin typeface="+mn-ea"/>
              </a:rPr>
              <a:t>마이페이지</a:t>
            </a:r>
            <a:r>
              <a:rPr lang="ko-KR" altLang="en-US" dirty="0">
                <a:latin typeface="+mn-ea"/>
              </a:rPr>
              <a:t> </a:t>
            </a:r>
            <a:r>
              <a:rPr lang="en-US" altLang="ko-KR" dirty="0">
                <a:latin typeface="+mn-ea"/>
              </a:rPr>
              <a:t>&gt; </a:t>
            </a:r>
            <a:r>
              <a:rPr lang="ko-KR" altLang="en-US" dirty="0" err="1">
                <a:latin typeface="+mn-ea"/>
              </a:rPr>
              <a:t>나의진행업무현황</a:t>
            </a:r>
            <a:r>
              <a:rPr lang="ko-KR" altLang="en-US" dirty="0">
                <a:latin typeface="+mn-ea"/>
              </a:rPr>
              <a:t> </a:t>
            </a:r>
            <a:r>
              <a:rPr lang="en-US" altLang="ko-KR" dirty="0">
                <a:latin typeface="+mn-ea"/>
              </a:rPr>
              <a:t>&gt; </a:t>
            </a:r>
            <a:r>
              <a:rPr lang="ko-KR" altLang="en-US" dirty="0">
                <a:latin typeface="+mn-ea"/>
              </a:rPr>
              <a:t>진행 단계 확인</a:t>
            </a:r>
          </a:p>
          <a:p>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MUI-CM-06-P03</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나의 진행 업무 현황</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62" name="직사각형 161">
            <a:extLst>
              <a:ext uri="{FF2B5EF4-FFF2-40B4-BE49-F238E27FC236}">
                <a16:creationId xmlns:a16="http://schemas.microsoft.com/office/drawing/2014/main" id="{F56F1743-11A0-EA94-9184-4E42C0A37F9C}"/>
              </a:ext>
            </a:extLst>
          </p:cNvPr>
          <p:cNvSpPr/>
          <p:nvPr/>
        </p:nvSpPr>
        <p:spPr>
          <a:xfrm>
            <a:off x="677960" y="1484921"/>
            <a:ext cx="2712027" cy="4738372"/>
          </a:xfrm>
          <a:prstGeom prst="rect">
            <a:avLst/>
          </a:prstGeom>
          <a:solidFill>
            <a:srgbClr val="0D0D0D">
              <a:alpha val="50196"/>
            </a:srgb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0" name="양쪽 모서리가 둥근 사각형 109"/>
          <p:cNvSpPr/>
          <p:nvPr/>
        </p:nvSpPr>
        <p:spPr>
          <a:xfrm>
            <a:off x="679854" y="1908439"/>
            <a:ext cx="2712027" cy="4314854"/>
          </a:xfrm>
          <a:prstGeom prst="round2SameRect">
            <a:avLst>
              <a:gd name="adj1" fmla="val 4887"/>
              <a:gd name="adj2" fmla="val 0"/>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1" name="모서리가 둥근 직사각형 110"/>
          <p:cNvSpPr/>
          <p:nvPr/>
        </p:nvSpPr>
        <p:spPr>
          <a:xfrm>
            <a:off x="1765867" y="1945066"/>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12" name="그룹 111"/>
          <p:cNvGrpSpPr/>
          <p:nvPr/>
        </p:nvGrpSpPr>
        <p:grpSpPr>
          <a:xfrm>
            <a:off x="3168793" y="2079482"/>
            <a:ext cx="94010" cy="94010"/>
            <a:chOff x="6812560" y="3297172"/>
            <a:chExt cx="94010" cy="94010"/>
          </a:xfrm>
        </p:grpSpPr>
        <p:cxnSp>
          <p:nvCxnSpPr>
            <p:cNvPr id="113" name="직선 연결선 112"/>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15" name="TextBox 114">
            <a:extLst>
              <a:ext uri="{FF2B5EF4-FFF2-40B4-BE49-F238E27FC236}">
                <a16:creationId xmlns:a16="http://schemas.microsoft.com/office/drawing/2014/main" id="{FFC49AEA-2A8F-250C-A86A-A7751D9706C3}"/>
              </a:ext>
            </a:extLst>
          </p:cNvPr>
          <p:cNvSpPr txBox="1"/>
          <p:nvPr/>
        </p:nvSpPr>
        <p:spPr>
          <a:xfrm>
            <a:off x="808931" y="2060161"/>
            <a:ext cx="1798758" cy="138499"/>
          </a:xfrm>
          <a:prstGeom prst="rect">
            <a:avLst/>
          </a:prstGeom>
          <a:noFill/>
        </p:spPr>
        <p:txBody>
          <a:bodyPr wrap="square" lIns="0" tIns="0" rIns="0" bIns="0" rtlCol="0">
            <a:spAutoFit/>
          </a:bodyPr>
          <a:lstStyle/>
          <a:p>
            <a:r>
              <a:rPr lang="ko-KR" altLang="en-US" sz="900" dirty="0">
                <a:latin typeface="+mn-ea"/>
              </a:rPr>
              <a:t>진행 단계 확인</a:t>
            </a:r>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679854" y="232156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4" name="타원 123">
            <a:extLst>
              <a:ext uri="{FF2B5EF4-FFF2-40B4-BE49-F238E27FC236}">
                <a16:creationId xmlns:a16="http://schemas.microsoft.com/office/drawing/2014/main" id="{37A7FF4F-0EAA-1463-560A-D5EC24416103}"/>
              </a:ext>
            </a:extLst>
          </p:cNvPr>
          <p:cNvSpPr/>
          <p:nvPr/>
        </p:nvSpPr>
        <p:spPr>
          <a:xfrm>
            <a:off x="571127" y="240390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pic>
        <p:nvPicPr>
          <p:cNvPr id="3" name="그림 2"/>
          <p:cNvPicPr>
            <a:picLocks noChangeAspect="1"/>
          </p:cNvPicPr>
          <p:nvPr/>
        </p:nvPicPr>
        <p:blipFill rotWithShape="1">
          <a:blip r:embed="rId2"/>
          <a:srcRect t="26417" b="16151"/>
          <a:stretch/>
        </p:blipFill>
        <p:spPr>
          <a:xfrm>
            <a:off x="754234" y="2403907"/>
            <a:ext cx="2563266" cy="3320488"/>
          </a:xfrm>
          <a:prstGeom prst="rect">
            <a:avLst/>
          </a:prstGeom>
        </p:spPr>
      </p:pic>
      <p:sp>
        <p:nvSpPr>
          <p:cNvPr id="163" name="사각형: 둥근 모서리 31">
            <a:extLst>
              <a:ext uri="{FF2B5EF4-FFF2-40B4-BE49-F238E27FC236}">
                <a16:creationId xmlns:a16="http://schemas.microsoft.com/office/drawing/2014/main" id="{2AC143EE-93CF-3518-F0CB-8469E98507E0}"/>
              </a:ext>
            </a:extLst>
          </p:cNvPr>
          <p:cNvSpPr/>
          <p:nvPr/>
        </p:nvSpPr>
        <p:spPr>
          <a:xfrm>
            <a:off x="1494413" y="5828262"/>
            <a:ext cx="1760305"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smtClean="0">
                <a:solidFill>
                  <a:srgbClr val="0070C0"/>
                </a:solidFill>
                <a:latin typeface="맑은 고딕"/>
                <a:ea typeface="맑은 고딕" panose="020B0503020000020004" pitchFamily="50" charset="-127"/>
              </a:rPr>
              <a:t>바로가기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66" name="사각형: 둥근 모서리 31">
            <a:extLst>
              <a:ext uri="{FF2B5EF4-FFF2-40B4-BE49-F238E27FC236}">
                <a16:creationId xmlns:a16="http://schemas.microsoft.com/office/drawing/2014/main" id="{2AC143EE-93CF-3518-F0CB-8469E98507E0}"/>
              </a:ext>
            </a:extLst>
          </p:cNvPr>
          <p:cNvSpPr/>
          <p:nvPr/>
        </p:nvSpPr>
        <p:spPr>
          <a:xfrm>
            <a:off x="808930" y="5828262"/>
            <a:ext cx="612773" cy="279492"/>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sp>
        <p:nvSpPr>
          <p:cNvPr id="167" name="타원 166">
            <a:extLst>
              <a:ext uri="{FF2B5EF4-FFF2-40B4-BE49-F238E27FC236}">
                <a16:creationId xmlns:a16="http://schemas.microsoft.com/office/drawing/2014/main" id="{37A7FF4F-0EAA-1463-560A-D5EC24416103}"/>
              </a:ext>
            </a:extLst>
          </p:cNvPr>
          <p:cNvSpPr/>
          <p:nvPr/>
        </p:nvSpPr>
        <p:spPr>
          <a:xfrm>
            <a:off x="571127"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29" name="그룹 28"/>
          <p:cNvGrpSpPr/>
          <p:nvPr/>
        </p:nvGrpSpPr>
        <p:grpSpPr>
          <a:xfrm>
            <a:off x="8223250" y="569392"/>
            <a:ext cx="3365500" cy="634511"/>
            <a:chOff x="8223250" y="569392"/>
            <a:chExt cx="3365500" cy="634511"/>
          </a:xfrm>
        </p:grpSpPr>
        <p:sp>
          <p:nvSpPr>
            <p:cNvPr id="30" name="직사각형 2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2026-07-03 </a:t>
              </a:r>
              <a:r>
                <a:rPr lang="ko-KR" altLang="en-US" dirty="0" smtClean="0"/>
                <a:t>화면 수정</a:t>
              </a:r>
              <a:endParaRPr lang="ko-KR" altLang="en-US" dirty="0"/>
            </a:p>
          </p:txBody>
        </p:sp>
        <p:sp>
          <p:nvSpPr>
            <p:cNvPr id="31" name="직사각형 3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버튼 명칭 </a:t>
              </a:r>
              <a:r>
                <a:rPr lang="en-US" altLang="ko-KR" sz="700" dirty="0" smtClean="0"/>
                <a:t>[</a:t>
              </a:r>
              <a:r>
                <a:rPr lang="ko-KR" altLang="en-US" sz="700" dirty="0" smtClean="0"/>
                <a:t>공고 </a:t>
              </a:r>
              <a:r>
                <a:rPr lang="ko-KR" altLang="en-US" sz="700" dirty="0" err="1" smtClean="0"/>
                <a:t>바로가기</a:t>
              </a:r>
              <a:r>
                <a:rPr lang="en-US" altLang="ko-KR" sz="700" dirty="0" smtClean="0"/>
                <a:t>] </a:t>
              </a:r>
              <a:r>
                <a:rPr lang="en-US" altLang="ko-KR" sz="700" dirty="0" smtClean="0">
                  <a:sym typeface="Wingdings" panose="05000000000000000000" pitchFamily="2" charset="2"/>
                </a:rPr>
                <a:t> [</a:t>
              </a:r>
              <a:r>
                <a:rPr lang="ko-KR" altLang="en-US" sz="700" dirty="0" err="1" smtClean="0">
                  <a:sym typeface="Wingdings" panose="05000000000000000000" pitchFamily="2" charset="2"/>
                </a:rPr>
                <a:t>바로가기</a:t>
              </a:r>
              <a:r>
                <a:rPr lang="en-US" altLang="ko-KR" sz="700" dirty="0" smtClean="0">
                  <a:sym typeface="Wingdings" panose="05000000000000000000" pitchFamily="2" charset="2"/>
                </a:rPr>
                <a:t>] </a:t>
              </a:r>
              <a:r>
                <a:rPr lang="ko-KR" altLang="en-US" sz="700" dirty="0" smtClean="0">
                  <a:sym typeface="Wingdings" panose="05000000000000000000" pitchFamily="2" charset="2"/>
                </a:rPr>
                <a:t>로 변경</a:t>
              </a:r>
              <a:endParaRPr lang="en-US" altLang="ko-KR" sz="700" dirty="0" smtClean="0">
                <a:sym typeface="Wingdings" panose="05000000000000000000" pitchFamily="2" charset="2"/>
              </a:endParaRPr>
            </a:p>
            <a:p>
              <a:pPr marL="228600" indent="-228600">
                <a:buAutoNum type="arabicPeriod"/>
              </a:pPr>
              <a:r>
                <a:rPr lang="ko-KR" altLang="en-US" sz="700" dirty="0" smtClean="0">
                  <a:sym typeface="Wingdings" panose="05000000000000000000" pitchFamily="2" charset="2"/>
                </a:rPr>
                <a:t>설명 추가 작성</a:t>
              </a:r>
              <a:endParaRPr lang="ko-KR" altLang="en-US" sz="700" dirty="0"/>
            </a:p>
          </p:txBody>
        </p:sp>
      </p:grpSp>
      <p:sp>
        <p:nvSpPr>
          <p:cNvPr id="32" name="직사각형 31"/>
          <p:cNvSpPr/>
          <p:nvPr/>
        </p:nvSpPr>
        <p:spPr>
          <a:xfrm>
            <a:off x="476794" y="1260503"/>
            <a:ext cx="6577149" cy="200704"/>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bg1"/>
                </a:solidFill>
              </a:rPr>
              <a:t>이해를 돕기 위한 화면</a:t>
            </a:r>
          </a:p>
        </p:txBody>
      </p:sp>
    </p:spTree>
    <p:extLst>
      <p:ext uri="{BB962C8B-B14F-4D97-AF65-F5344CB8AC3E}">
        <p14:creationId xmlns:p14="http://schemas.microsoft.com/office/powerpoint/2010/main" val="32161763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48</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 name="TextBox 1">
            <a:extLst>
              <a:ext uri="{FF2B5EF4-FFF2-40B4-BE49-F238E27FC236}">
                <a16:creationId xmlns:a16="http://schemas.microsoft.com/office/drawing/2014/main" id="{70727517-F033-48D2-5FDC-E5B77B5EA8F1}"/>
              </a:ext>
            </a:extLst>
          </p:cNvPr>
          <p:cNvSpPr txBox="1"/>
          <p:nvPr/>
        </p:nvSpPr>
        <p:spPr>
          <a:xfrm>
            <a:off x="458117" y="812623"/>
            <a:ext cx="2469193"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입찰공고상세조회</a:t>
            </a:r>
            <a:r>
              <a:rPr lang="en-US" altLang="ko-KR" sz="900" b="1" dirty="0">
                <a:solidFill>
                  <a:prstClr val="black"/>
                </a:solidFill>
              </a:rPr>
              <a:t>Tab</a:t>
            </a:r>
            <a:r>
              <a:rPr lang="ko-KR" altLang="en-US" sz="900" b="1" dirty="0">
                <a:solidFill>
                  <a:prstClr val="black"/>
                </a:solidFill>
              </a:rPr>
              <a:t> 영역 </a:t>
            </a:r>
            <a:r>
              <a:rPr lang="en-US" altLang="ko-KR" sz="900" b="1" dirty="0">
                <a:solidFill>
                  <a:prstClr val="black"/>
                </a:solidFill>
              </a:rPr>
              <a:t>(</a:t>
            </a:r>
            <a:r>
              <a:rPr lang="en-US" altLang="ko-KR" sz="900" b="1" dirty="0" err="1">
                <a:solidFill>
                  <a:prstClr val="black"/>
                </a:solidFill>
              </a:rPr>
              <a:t>grp_Tabcpg</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CD894ADA-C23B-6AC5-4C49-80577BA46B5B}"/>
              </a:ext>
            </a:extLst>
          </p:cNvPr>
          <p:cNvGraphicFramePr>
            <a:graphicFrameLocks noGrp="1"/>
          </p:cNvGraphicFramePr>
          <p:nvPr>
            <p:extLst/>
          </p:nvPr>
        </p:nvGraphicFramePr>
        <p:xfrm>
          <a:off x="452999" y="1037762"/>
          <a:ext cx="8994883" cy="2526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292312">
                  <a:extLst>
                    <a:ext uri="{9D8B030D-6E8A-4147-A177-3AD203B41FA5}">
                      <a16:colId xmlns:a16="http://schemas.microsoft.com/office/drawing/2014/main" val="20001"/>
                    </a:ext>
                  </a:extLst>
                </a:gridCol>
                <a:gridCol w="527538">
                  <a:extLst>
                    <a:ext uri="{9D8B030D-6E8A-4147-A177-3AD203B41FA5}">
                      <a16:colId xmlns:a16="http://schemas.microsoft.com/office/drawing/2014/main" val="20002"/>
                    </a:ext>
                  </a:extLst>
                </a:gridCol>
                <a:gridCol w="644769">
                  <a:extLst>
                    <a:ext uri="{9D8B030D-6E8A-4147-A177-3AD203B41FA5}">
                      <a16:colId xmlns:a16="http://schemas.microsoft.com/office/drawing/2014/main" val="20003"/>
                    </a:ext>
                  </a:extLst>
                </a:gridCol>
                <a:gridCol w="519470">
                  <a:extLst>
                    <a:ext uri="{9D8B030D-6E8A-4147-A177-3AD203B41FA5}">
                      <a16:colId xmlns:a16="http://schemas.microsoft.com/office/drawing/2014/main" val="20004"/>
                    </a:ext>
                  </a:extLst>
                </a:gridCol>
                <a:gridCol w="2762074">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공고일반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Tacpg01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공고일반화면 전환 </a:t>
                      </a:r>
                      <a:r>
                        <a:rPr lang="en-US" altLang="ko-KR" sz="800" dirty="0">
                          <a:latin typeface="+mn-ea"/>
                          <a:ea typeface="+mn-ea"/>
                        </a:rPr>
                        <a:t>Tab </a:t>
                      </a:r>
                      <a:r>
                        <a:rPr lang="ko-KR" altLang="en-US" sz="800" dirty="0">
                          <a:latin typeface="+mn-ea"/>
                          <a:ea typeface="+mn-ea"/>
                        </a:rPr>
                        <a:t>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 </a:t>
                      </a:r>
                      <a:r>
                        <a:rPr lang="ko-KR" altLang="en-US" sz="800" dirty="0">
                          <a:latin typeface="+mn-ea"/>
                          <a:ea typeface="+mn-ea"/>
                        </a:rPr>
                        <a:t>고정 노출 </a:t>
                      </a:r>
                      <a:r>
                        <a:rPr lang="en-US" altLang="ko-KR" sz="800" dirty="0">
                          <a:latin typeface="+mn-ea"/>
                          <a:ea typeface="+mn-ea"/>
                        </a:rPr>
                        <a:t>Tab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Tacpg02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기초예비가격화면 전환 </a:t>
                      </a:r>
                      <a:r>
                        <a:rPr lang="en-US" altLang="ko-KR" sz="800" dirty="0">
                          <a:latin typeface="+mn-ea"/>
                          <a:ea typeface="+mn-ea"/>
                        </a:rPr>
                        <a:t>Tab </a:t>
                      </a:r>
                      <a:r>
                        <a:rPr lang="ko-KR" altLang="en-US" sz="800" dirty="0">
                          <a:latin typeface="+mn-ea"/>
                          <a:ea typeface="+mn-ea"/>
                        </a:rPr>
                        <a:t>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 </a:t>
                      </a:r>
                      <a:r>
                        <a:rPr lang="ko-KR" altLang="en-US" sz="800" dirty="0">
                          <a:latin typeface="+mn-ea"/>
                          <a:ea typeface="+mn-ea"/>
                        </a:rPr>
                        <a:t>수의계약일 경우 </a:t>
                      </a:r>
                      <a:r>
                        <a:rPr lang="ko-KR" altLang="en-US" sz="800" dirty="0" err="1">
                          <a:latin typeface="+mn-ea"/>
                          <a:ea typeface="+mn-ea"/>
                        </a:rPr>
                        <a:t>숨김처리</a:t>
                      </a:r>
                      <a:r>
                        <a:rPr lang="en-US" altLang="ko-KR" sz="800" dirty="0">
                          <a:latin typeface="+mn-ea"/>
                          <a:ea typeface="+mn-ea"/>
                        </a:rPr>
                        <a:t>, </a:t>
                      </a:r>
                    </a:p>
                    <a:p>
                      <a:pPr latinLnBrk="1"/>
                      <a:r>
                        <a:rPr lang="en-US" altLang="ko-KR" sz="800" dirty="0">
                          <a:latin typeface="+mn-ea"/>
                          <a:ea typeface="+mn-ea"/>
                        </a:rPr>
                        <a:t>2. ‘</a:t>
                      </a:r>
                      <a:r>
                        <a:rPr lang="ko-KR" altLang="en-US" sz="800" dirty="0">
                          <a:latin typeface="+mn-ea"/>
                          <a:ea typeface="+mn-ea"/>
                        </a:rPr>
                        <a:t>경쟁입찰</a:t>
                      </a:r>
                      <a:r>
                        <a:rPr lang="en-US" altLang="ko-KR" sz="800" dirty="0">
                          <a:latin typeface="+mn-ea"/>
                          <a:ea typeface="+mn-ea"/>
                        </a:rPr>
                        <a:t>’</a:t>
                      </a:r>
                      <a:r>
                        <a:rPr lang="ko-KR" altLang="en-US" sz="800" dirty="0">
                          <a:latin typeface="+mn-ea"/>
                          <a:ea typeface="+mn-ea"/>
                        </a:rPr>
                        <a:t>일 경우 노출</a:t>
                      </a:r>
                      <a:endParaRPr lang="en-US" altLang="ko-KR" sz="800" dirty="0">
                        <a:latin typeface="+mn-ea"/>
                        <a:ea typeface="+mn-ea"/>
                      </a:endParaRPr>
                    </a:p>
                    <a:p>
                      <a:pPr latinLnBrk="1"/>
                      <a:r>
                        <a:rPr lang="en-US" altLang="ko-KR" sz="800" dirty="0">
                          <a:latin typeface="+mn-ea"/>
                          <a:ea typeface="+mn-ea"/>
                        </a:rPr>
                        <a:t>3. </a:t>
                      </a:r>
                      <a:r>
                        <a:rPr lang="ko-KR" altLang="en-US" sz="800" dirty="0">
                          <a:latin typeface="+mn-ea"/>
                          <a:ea typeface="+mn-ea"/>
                        </a:rPr>
                        <a:t>업무구분이 </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a:t>
                      </a:r>
                      <a:r>
                        <a:rPr lang="ko-KR" altLang="en-US" sz="800" dirty="0">
                          <a:latin typeface="+mn-ea"/>
                          <a:ea typeface="+mn-ea"/>
                        </a:rPr>
                        <a:t>일 경우에는 입찰참가자격이 있을 </a:t>
                      </a:r>
                      <a:endParaRPr lang="en-US" altLang="ko-KR" sz="800" dirty="0">
                        <a:latin typeface="+mn-ea"/>
                        <a:ea typeface="+mn-ea"/>
                      </a:endParaRPr>
                    </a:p>
                    <a:p>
                      <a:pPr latinLnBrk="1"/>
                      <a:r>
                        <a:rPr lang="en-US" altLang="ko-KR" sz="800" dirty="0">
                          <a:latin typeface="+mn-ea"/>
                          <a:ea typeface="+mn-ea"/>
                        </a:rPr>
                        <a:t>   </a:t>
                      </a:r>
                      <a:r>
                        <a:rPr lang="ko-KR" altLang="en-US" sz="800" dirty="0">
                          <a:latin typeface="+mn-ea"/>
                          <a:ea typeface="+mn-ea"/>
                        </a:rPr>
                        <a:t>경우만 노출</a:t>
                      </a:r>
                      <a:r>
                        <a:rPr lang="en-US" altLang="ko-KR" sz="800" dirty="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품목명세서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Tacpg03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품목명세서화면</a:t>
                      </a:r>
                      <a:r>
                        <a:rPr lang="ko-KR" altLang="en-US" sz="800" dirty="0">
                          <a:latin typeface="+mn-ea"/>
                          <a:ea typeface="+mn-ea"/>
                        </a:rPr>
                        <a:t> 전환 </a:t>
                      </a:r>
                      <a:r>
                        <a:rPr lang="en-US" altLang="ko-KR" sz="800" dirty="0">
                          <a:latin typeface="+mn-ea"/>
                          <a:ea typeface="+mn-ea"/>
                        </a:rPr>
                        <a:t>Tab </a:t>
                      </a:r>
                      <a:r>
                        <a:rPr lang="ko-KR" altLang="en-US" sz="800" dirty="0">
                          <a:latin typeface="+mn-ea"/>
                          <a:ea typeface="+mn-ea"/>
                        </a:rPr>
                        <a:t>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 </a:t>
                      </a:r>
                      <a:r>
                        <a:rPr lang="ko-KR" altLang="en-US" sz="800" dirty="0">
                          <a:latin typeface="+mn-ea"/>
                          <a:ea typeface="+mn-ea"/>
                        </a:rPr>
                        <a:t>업무구분이 </a:t>
                      </a:r>
                      <a:r>
                        <a:rPr lang="en-US" altLang="ko-KR" sz="800" dirty="0">
                          <a:latin typeface="+mn-ea"/>
                          <a:ea typeface="+mn-ea"/>
                        </a:rPr>
                        <a:t>‘</a:t>
                      </a:r>
                      <a:r>
                        <a:rPr lang="ko-KR" altLang="en-US" sz="800" dirty="0">
                          <a:latin typeface="+mn-ea"/>
                          <a:ea typeface="+mn-ea"/>
                        </a:rPr>
                        <a:t>물품</a:t>
                      </a:r>
                      <a:r>
                        <a:rPr lang="en-US" altLang="ko-KR" sz="800" dirty="0">
                          <a:latin typeface="+mn-ea"/>
                          <a:ea typeface="+mn-ea"/>
                        </a:rPr>
                        <a:t>/</a:t>
                      </a:r>
                      <a:r>
                        <a:rPr lang="ko-KR" altLang="en-US" sz="800" dirty="0">
                          <a:latin typeface="+mn-ea"/>
                          <a:ea typeface="+mn-ea"/>
                        </a:rPr>
                        <a:t>용역</a:t>
                      </a:r>
                      <a:r>
                        <a:rPr lang="en-US" altLang="ko-KR" sz="800" dirty="0">
                          <a:latin typeface="+mn-ea"/>
                          <a:ea typeface="+mn-ea"/>
                        </a:rPr>
                        <a:t>’</a:t>
                      </a:r>
                      <a:r>
                        <a:rPr lang="ko-KR" altLang="en-US" sz="800" dirty="0">
                          <a:latin typeface="+mn-ea"/>
                          <a:ea typeface="+mn-ea"/>
                        </a:rPr>
                        <a:t>이고 수의계약이 아닐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4033931"/>
                  </a:ext>
                </a:extLst>
              </a:tr>
              <a:tr h="0">
                <a:tc>
                  <a:txBody>
                    <a:bodyPr/>
                    <a:lstStyle/>
                    <a:p>
                      <a:pPr latinLnBrk="1"/>
                      <a:r>
                        <a:rPr lang="ko-KR" altLang="en-US" sz="800" dirty="0">
                          <a:latin typeface="+mn-ea"/>
                          <a:ea typeface="+mn-ea"/>
                        </a:rPr>
                        <a:t>계약특수조건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Tacpg04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계약특수조건 화면 전환 </a:t>
                      </a:r>
                      <a:r>
                        <a:rPr lang="en-US" altLang="ko-KR" sz="800" dirty="0">
                          <a:latin typeface="+mn-ea"/>
                          <a:ea typeface="+mn-ea"/>
                        </a:rPr>
                        <a:t>Tab </a:t>
                      </a:r>
                      <a:r>
                        <a:rPr lang="ko-KR" altLang="en-US" sz="800" dirty="0">
                          <a:latin typeface="+mn-ea"/>
                          <a:ea typeface="+mn-ea"/>
                        </a:rPr>
                        <a:t>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 </a:t>
                      </a:r>
                      <a:r>
                        <a:rPr lang="ko-KR" altLang="en-US" sz="800" dirty="0">
                          <a:latin typeface="+mn-ea"/>
                          <a:ea typeface="+mn-ea"/>
                        </a:rPr>
                        <a:t>업무구분이</a:t>
                      </a:r>
                      <a:r>
                        <a:rPr lang="en-US" altLang="ko-KR" sz="800" dirty="0">
                          <a:latin typeface="+mn-ea"/>
                          <a:ea typeface="+mn-ea"/>
                        </a:rPr>
                        <a:t> ‘</a:t>
                      </a:r>
                      <a:r>
                        <a:rPr lang="ko-KR" altLang="en-US" sz="800" dirty="0">
                          <a:latin typeface="+mn-ea"/>
                          <a:ea typeface="+mn-ea"/>
                        </a:rPr>
                        <a:t>물품</a:t>
                      </a:r>
                      <a:r>
                        <a:rPr lang="en-US" altLang="ko-KR" sz="800" dirty="0">
                          <a:latin typeface="+mn-ea"/>
                          <a:ea typeface="+mn-ea"/>
                        </a:rPr>
                        <a:t>/</a:t>
                      </a:r>
                      <a:r>
                        <a:rPr lang="ko-KR" altLang="en-US" sz="800" dirty="0">
                          <a:latin typeface="+mn-ea"/>
                          <a:ea typeface="+mn-ea"/>
                        </a:rPr>
                        <a:t>용역</a:t>
                      </a:r>
                      <a:r>
                        <a:rPr lang="en-US" altLang="ko-KR" sz="800" dirty="0">
                          <a:latin typeface="+mn-ea"/>
                          <a:ea typeface="+mn-ea"/>
                        </a:rPr>
                        <a:t>‘</a:t>
                      </a:r>
                      <a:r>
                        <a:rPr lang="ko-KR" altLang="en-US" sz="800" dirty="0">
                          <a:latin typeface="+mn-ea"/>
                          <a:ea typeface="+mn-ea"/>
                        </a:rPr>
                        <a:t>이고 특수조건데이터가 존재할 경</a:t>
                      </a:r>
                      <a:endParaRPr lang="en-US" altLang="ko-KR" sz="800" dirty="0">
                        <a:latin typeface="+mn-ea"/>
                        <a:ea typeface="+mn-ea"/>
                      </a:endParaRPr>
                    </a:p>
                    <a:p>
                      <a:pPr latinLnBrk="1"/>
                      <a:r>
                        <a:rPr lang="en-US" altLang="ko-KR" sz="800" dirty="0">
                          <a:latin typeface="+mn-ea"/>
                          <a:ea typeface="+mn-ea"/>
                        </a:rPr>
                        <a:t>   </a:t>
                      </a:r>
                      <a:r>
                        <a:rPr lang="ko-KR" altLang="en-US" sz="800" dirty="0">
                          <a:latin typeface="+mn-ea"/>
                          <a:ea typeface="+mn-ea"/>
                        </a:rPr>
                        <a:t>우만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5069908"/>
                  </a:ext>
                </a:extLst>
              </a:tr>
              <a:tr h="0">
                <a:tc>
                  <a:txBody>
                    <a:bodyPr/>
                    <a:lstStyle/>
                    <a:p>
                      <a:pPr latinLnBrk="1"/>
                      <a:r>
                        <a:rPr lang="ko-KR" altLang="en-US" sz="800" dirty="0">
                          <a:latin typeface="+mn-ea"/>
                          <a:ea typeface="+mn-ea"/>
                        </a:rPr>
                        <a:t>제안서평가결과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Tacpg05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제안서평가결과화면 전환 </a:t>
                      </a:r>
                      <a:r>
                        <a:rPr lang="en-US" altLang="ko-KR" sz="800" dirty="0">
                          <a:latin typeface="+mn-ea"/>
                          <a:ea typeface="+mn-ea"/>
                        </a:rPr>
                        <a:t>Tab </a:t>
                      </a:r>
                      <a:r>
                        <a:rPr lang="ko-KR" altLang="en-US" sz="800" dirty="0">
                          <a:latin typeface="+mn-ea"/>
                          <a:ea typeface="+mn-ea"/>
                        </a:rPr>
                        <a:t>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 </a:t>
                      </a:r>
                      <a:r>
                        <a:rPr lang="ko-KR" altLang="en-US" sz="800" dirty="0">
                          <a:latin typeface="+mn-ea"/>
                          <a:ea typeface="+mn-ea"/>
                        </a:rPr>
                        <a:t>업무구분이 </a:t>
                      </a:r>
                      <a:r>
                        <a:rPr lang="en-US" altLang="ko-KR" sz="800" dirty="0">
                          <a:latin typeface="+mn-ea"/>
                          <a:ea typeface="+mn-ea"/>
                        </a:rPr>
                        <a:t>‘</a:t>
                      </a:r>
                      <a:r>
                        <a:rPr lang="ko-KR" altLang="en-US" sz="800" dirty="0">
                          <a:latin typeface="+mn-ea"/>
                          <a:ea typeface="+mn-ea"/>
                        </a:rPr>
                        <a:t>물품</a:t>
                      </a:r>
                      <a:r>
                        <a:rPr lang="en-US" altLang="ko-KR" sz="800" dirty="0">
                          <a:latin typeface="+mn-ea"/>
                          <a:ea typeface="+mn-ea"/>
                        </a:rPr>
                        <a:t>/</a:t>
                      </a:r>
                      <a:r>
                        <a:rPr lang="ko-KR" altLang="en-US" sz="800" dirty="0">
                          <a:latin typeface="+mn-ea"/>
                          <a:ea typeface="+mn-ea"/>
                        </a:rPr>
                        <a:t>용역</a:t>
                      </a:r>
                      <a:r>
                        <a:rPr lang="en-US" altLang="ko-KR" sz="800" dirty="0">
                          <a:latin typeface="+mn-ea"/>
                          <a:ea typeface="+mn-ea"/>
                        </a:rPr>
                        <a:t>‘</a:t>
                      </a:r>
                      <a:r>
                        <a:rPr lang="ko-KR" altLang="en-US" sz="800" dirty="0">
                          <a:latin typeface="+mn-ea"/>
                          <a:ea typeface="+mn-ea"/>
                        </a:rPr>
                        <a:t>이고 낙찰방법이 </a:t>
                      </a:r>
                      <a:r>
                        <a:rPr lang="en-US" altLang="ko-KR" sz="800" dirty="0">
                          <a:latin typeface="+mn-ea"/>
                          <a:ea typeface="+mn-ea"/>
                        </a:rPr>
                        <a:t>‘</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서류</a:t>
                      </a:r>
                      <a:r>
                        <a:rPr lang="en-US" altLang="ko-KR" sz="800" dirty="0">
                          <a:latin typeface="+mn-ea"/>
                          <a:ea typeface="+mn-ea"/>
                        </a:rPr>
                        <a:t>)‘ </a:t>
                      </a:r>
                      <a:r>
                        <a:rPr lang="ko-KR" altLang="en-US" sz="800" dirty="0">
                          <a:latin typeface="+mn-ea"/>
                          <a:ea typeface="+mn-ea"/>
                        </a:rPr>
                        <a:t>일 경우 노출</a:t>
                      </a:r>
                      <a:endParaRPr lang="en-US" altLang="ko-KR" sz="800" dirty="0">
                        <a:latin typeface="+mn-ea"/>
                        <a:ea typeface="+mn-ea"/>
                      </a:endParaRPr>
                    </a:p>
                    <a:p>
                      <a:pPr latinLnBrk="1"/>
                      <a:r>
                        <a:rPr lang="en-US" altLang="ko-KR" sz="800" dirty="0">
                          <a:latin typeface="+mn-ea"/>
                          <a:ea typeface="+mn-ea"/>
                        </a:rPr>
                        <a:t>2. </a:t>
                      </a:r>
                      <a:r>
                        <a:rPr lang="ko-KR" altLang="en-US" sz="800" dirty="0">
                          <a:latin typeface="+mn-ea"/>
                          <a:ea typeface="+mn-ea"/>
                        </a:rPr>
                        <a:t>로그인 이용자가 방위사업청 소속이고 공고의 등록자일 경우 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0165071"/>
                  </a:ext>
                </a:extLst>
              </a:tr>
              <a:tr h="0">
                <a:tc>
                  <a:txBody>
                    <a:bodyPr/>
                    <a:lstStyle/>
                    <a:p>
                      <a:pPr latinLnBrk="1"/>
                      <a:r>
                        <a:rPr lang="ko-KR" altLang="en-US" sz="800" dirty="0">
                          <a:latin typeface="+mn-ea"/>
                          <a:ea typeface="+mn-ea"/>
                        </a:rPr>
                        <a:t>공고문안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Tacpg06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공고문안화면 전환 </a:t>
                      </a:r>
                      <a:r>
                        <a:rPr lang="en-US" altLang="ko-KR" sz="800" dirty="0">
                          <a:latin typeface="+mn-ea"/>
                          <a:ea typeface="+mn-ea"/>
                        </a:rPr>
                        <a:t>Tab </a:t>
                      </a:r>
                      <a:r>
                        <a:rPr lang="ko-KR" altLang="en-US" sz="800" dirty="0">
                          <a:latin typeface="+mn-ea"/>
                          <a:ea typeface="+mn-ea"/>
                        </a:rPr>
                        <a:t>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 </a:t>
                      </a:r>
                      <a:r>
                        <a:rPr lang="ko-KR" altLang="en-US" sz="800" dirty="0" err="1"/>
                        <a:t>자료구분값이</a:t>
                      </a:r>
                      <a:r>
                        <a:rPr lang="ko-KR" altLang="en-US" sz="800" dirty="0"/>
                        <a:t> </a:t>
                      </a:r>
                      <a:r>
                        <a:rPr lang="ko-KR" altLang="en-US" sz="800" dirty="0" err="1"/>
                        <a:t>구자료</a:t>
                      </a:r>
                      <a:r>
                        <a:rPr lang="en-US" altLang="ko-KR" sz="800" dirty="0"/>
                        <a:t>(‘N’)</a:t>
                      </a:r>
                      <a:r>
                        <a:rPr lang="ko-KR" altLang="en-US" sz="800" dirty="0"/>
                        <a:t>일 경우 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20367818"/>
                  </a:ext>
                </a:extLst>
              </a:tr>
              <a:tr h="0">
                <a:tc>
                  <a:txBody>
                    <a:bodyPr/>
                    <a:lstStyle/>
                    <a:p>
                      <a:pPr latinLnBrk="1"/>
                      <a:r>
                        <a:rPr lang="ko-KR" altLang="en-US" sz="800" dirty="0">
                          <a:latin typeface="+mn-ea"/>
                          <a:ea typeface="+mn-ea"/>
                        </a:rPr>
                        <a:t>입찰진행현황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Tacpg07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입찰진행현황화면 전환 </a:t>
                      </a:r>
                      <a:r>
                        <a:rPr lang="en-US" altLang="ko-KR" sz="800" dirty="0">
                          <a:latin typeface="+mn-ea"/>
                          <a:ea typeface="+mn-ea"/>
                        </a:rPr>
                        <a:t>Tab </a:t>
                      </a:r>
                      <a:r>
                        <a:rPr lang="ko-KR" altLang="en-US" sz="800" dirty="0">
                          <a:latin typeface="+mn-ea"/>
                          <a:ea typeface="+mn-ea"/>
                        </a:rPr>
                        <a:t>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 </a:t>
                      </a:r>
                      <a:r>
                        <a:rPr lang="ko-KR" altLang="en-US" sz="800" dirty="0">
                          <a:latin typeface="+mn-ea"/>
                          <a:ea typeface="+mn-ea"/>
                        </a:rPr>
                        <a:t>현재일자가 개찰일시 이후 일자일 경우 노출</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2. </a:t>
                      </a:r>
                      <a:r>
                        <a:rPr lang="ko-KR" altLang="en-US" sz="800" dirty="0">
                          <a:latin typeface="+mn-ea"/>
                          <a:ea typeface="+mn-ea"/>
                        </a:rPr>
                        <a:t>낙찰방법이 </a:t>
                      </a:r>
                      <a:r>
                        <a:rPr lang="en-US" altLang="ko-KR" sz="800" dirty="0">
                          <a:latin typeface="+mn-ea"/>
                          <a:ea typeface="+mn-ea"/>
                        </a:rPr>
                        <a:t>‘</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서류</a:t>
                      </a:r>
                      <a:r>
                        <a:rPr lang="en-US" altLang="ko-KR" sz="800" dirty="0">
                          <a:latin typeface="+mn-ea"/>
                          <a:ea typeface="+mn-ea"/>
                        </a:rPr>
                        <a:t>)’</a:t>
                      </a:r>
                      <a:r>
                        <a:rPr lang="ko-KR" altLang="en-US" sz="800" dirty="0">
                          <a:latin typeface="+mn-ea"/>
                          <a:ea typeface="+mn-ea"/>
                        </a:rPr>
                        <a:t>일 경우 </a:t>
                      </a:r>
                      <a:r>
                        <a:rPr lang="en-US" altLang="ko-KR" sz="800" dirty="0">
                          <a:latin typeface="+mn-ea"/>
                          <a:ea typeface="+mn-ea"/>
                        </a:rPr>
                        <a:t>Tab </a:t>
                      </a:r>
                      <a:r>
                        <a:rPr lang="ko-KR" altLang="en-US" sz="800" dirty="0" err="1">
                          <a:latin typeface="+mn-ea"/>
                          <a:ea typeface="+mn-ea"/>
                        </a:rPr>
                        <a:t>숨김처리</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1824764"/>
                  </a:ext>
                </a:extLst>
              </a:tr>
            </a:tbl>
          </a:graphicData>
        </a:graphic>
      </p:graphicFrame>
      <p:sp>
        <p:nvSpPr>
          <p:cNvPr id="6" name="Text Box 73">
            <a:extLst>
              <a:ext uri="{FF2B5EF4-FFF2-40B4-BE49-F238E27FC236}">
                <a16:creationId xmlns:a16="http://schemas.microsoft.com/office/drawing/2014/main" id="{DA40EB6C-4BA9-28C4-F37A-F508FF7CDD8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69C3F4EF-1AB0-FA4B-619B-10380916429B}"/>
              </a:ext>
            </a:extLst>
          </p:cNvPr>
          <p:cNvSpPr txBox="1"/>
          <p:nvPr/>
        </p:nvSpPr>
        <p:spPr>
          <a:xfrm>
            <a:off x="458117" y="3730092"/>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7" name="Text Box 73">
            <a:extLst>
              <a:ext uri="{FF2B5EF4-FFF2-40B4-BE49-F238E27FC236}">
                <a16:creationId xmlns:a16="http://schemas.microsoft.com/office/drawing/2014/main" id="{CE16404B-75C2-D16E-5DAC-8702DEDB1983}"/>
              </a:ext>
            </a:extLst>
          </p:cNvPr>
          <p:cNvSpPr txBox="1">
            <a:spLocks noChangeArrowheads="1"/>
          </p:cNvSpPr>
          <p:nvPr/>
        </p:nvSpPr>
        <p:spPr bwMode="auto">
          <a:xfrm>
            <a:off x="7769866" y="3769577"/>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graphicFrame>
        <p:nvGraphicFramePr>
          <p:cNvPr id="9" name="표 8">
            <a:extLst>
              <a:ext uri="{FF2B5EF4-FFF2-40B4-BE49-F238E27FC236}">
                <a16:creationId xmlns:a16="http://schemas.microsoft.com/office/drawing/2014/main" id="{65006315-84FB-381F-8621-4BA52494CE26}"/>
              </a:ext>
            </a:extLst>
          </p:cNvPr>
          <p:cNvGraphicFramePr>
            <a:graphicFrameLocks noGrp="1"/>
          </p:cNvGraphicFramePr>
          <p:nvPr>
            <p:extLst>
              <p:ext uri="{D42A27DB-BD31-4B8C-83A1-F6EECF244321}">
                <p14:modId xmlns:p14="http://schemas.microsoft.com/office/powerpoint/2010/main" val="3566874716"/>
              </p:ext>
            </p:extLst>
          </p:nvPr>
        </p:nvGraphicFramePr>
        <p:xfrm>
          <a:off x="453000" y="3998010"/>
          <a:ext cx="8995591" cy="1723200"/>
        </p:xfrm>
        <a:graphic>
          <a:graphicData uri="http://schemas.openxmlformats.org/drawingml/2006/table">
            <a:tbl>
              <a:tblPr>
                <a:tableStyleId>{616DA210-FB5B-4158-B5E0-FEB733F419BA}</a:tableStyleId>
              </a:tblPr>
              <a:tblGrid>
                <a:gridCol w="1280006">
                  <a:extLst>
                    <a:ext uri="{9D8B030D-6E8A-4147-A177-3AD203B41FA5}">
                      <a16:colId xmlns:a16="http://schemas.microsoft.com/office/drawing/2014/main" val="20000"/>
                    </a:ext>
                  </a:extLst>
                </a:gridCol>
                <a:gridCol w="1776548">
                  <a:extLst>
                    <a:ext uri="{9D8B030D-6E8A-4147-A177-3AD203B41FA5}">
                      <a16:colId xmlns:a16="http://schemas.microsoft.com/office/drawing/2014/main" val="624624882"/>
                    </a:ext>
                  </a:extLst>
                </a:gridCol>
                <a:gridCol w="2926080">
                  <a:extLst>
                    <a:ext uri="{9D8B030D-6E8A-4147-A177-3AD203B41FA5}">
                      <a16:colId xmlns:a16="http://schemas.microsoft.com/office/drawing/2014/main" val="20001"/>
                    </a:ext>
                  </a:extLst>
                </a:gridCol>
                <a:gridCol w="3012957">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환율정보조회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scwin.btn_ExchrtInfoInq_onclick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환율정보조회 팝업창을 호출한다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업무구분이 </a:t>
                      </a:r>
                      <a:r>
                        <a:rPr lang="en-US" altLang="ko-KR" sz="800" dirty="0">
                          <a:latin typeface="+mn-ea"/>
                          <a:ea typeface="+mn-ea"/>
                        </a:rPr>
                        <a:t>‘</a:t>
                      </a:r>
                      <a:r>
                        <a:rPr lang="ko-KR" altLang="en-US" sz="800" dirty="0">
                          <a:latin typeface="+mn-ea"/>
                          <a:ea typeface="+mn-ea"/>
                        </a:rPr>
                        <a:t>국외</a:t>
                      </a:r>
                      <a:r>
                        <a:rPr lang="en-US" altLang="ko-KR" sz="800" dirty="0">
                          <a:latin typeface="+mn-ea"/>
                          <a:ea typeface="+mn-ea"/>
                        </a:rPr>
                        <a:t>‘</a:t>
                      </a:r>
                      <a:r>
                        <a:rPr lang="ko-KR" altLang="en-US" sz="800" dirty="0">
                          <a:latin typeface="+mn-ea"/>
                          <a:ea typeface="+mn-ea"/>
                        </a:rPr>
                        <a:t>일 경우만 버튼 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r h="0">
                <a:tc>
                  <a:txBody>
                    <a:bodyPr/>
                    <a:lstStyle/>
                    <a:p>
                      <a:r>
                        <a:rPr lang="ko-KR" altLang="en-US" sz="800" dirty="0"/>
                        <a:t>관심공고등록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scwin.btn_ItrstPbancReg_onclick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해당 공고를 관심공고로 </a:t>
                      </a:r>
                      <a:r>
                        <a:rPr lang="ko-KR" altLang="en-US" sz="800" dirty="0" err="1">
                          <a:latin typeface="+mn-ea"/>
                          <a:ea typeface="+mn-ea"/>
                        </a:rPr>
                        <a:t>등록처리한다</a:t>
                      </a:r>
                      <a:r>
                        <a:rPr lang="en-US" altLang="ko-KR" sz="800" dirty="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관심공고여부 </a:t>
                      </a:r>
                      <a:r>
                        <a:rPr lang="ko-KR" altLang="en-US" sz="800" dirty="0" err="1">
                          <a:latin typeface="+mn-ea"/>
                          <a:ea typeface="+mn-ea"/>
                        </a:rPr>
                        <a:t>항목값</a:t>
                      </a:r>
                      <a:r>
                        <a:rPr lang="ko-KR" altLang="en-US" sz="800" dirty="0">
                          <a:latin typeface="+mn-ea"/>
                          <a:ea typeface="+mn-ea"/>
                        </a:rPr>
                        <a:t> </a:t>
                      </a:r>
                      <a:r>
                        <a:rPr lang="en-US" altLang="ko-KR" sz="800" dirty="0">
                          <a:latin typeface="+mn-ea"/>
                          <a:ea typeface="+mn-ea"/>
                        </a:rPr>
                        <a:t>update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r>
                        <a:rPr lang="ko-KR" altLang="en-US" sz="800" dirty="0"/>
                        <a:t>사전심사</a:t>
                      </a:r>
                      <a:r>
                        <a:rPr lang="en-US" altLang="ko-KR" sz="800" dirty="0"/>
                        <a:t>(PQ)</a:t>
                      </a:r>
                      <a:r>
                        <a:rPr lang="ko-KR" altLang="en-US" sz="800" dirty="0"/>
                        <a:t>신청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scwin.btn_BfhdSrngPqAply_onclick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사전심사</a:t>
                      </a:r>
                      <a:r>
                        <a:rPr lang="en-US" altLang="ko-KR" sz="800" dirty="0">
                          <a:latin typeface="+mn-ea"/>
                          <a:ea typeface="+mn-ea"/>
                        </a:rPr>
                        <a:t>(PQ)</a:t>
                      </a:r>
                      <a:r>
                        <a:rPr lang="ko-KR" altLang="en-US" sz="800" dirty="0">
                          <a:latin typeface="+mn-ea"/>
                          <a:ea typeface="+mn-ea"/>
                        </a:rPr>
                        <a:t>신청서 작성 화면을 호출한다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업무구분이 </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이고 사전심사신청작성 미완료상태일 경우 노출되는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8553736"/>
                  </a:ext>
                </a:extLst>
              </a:tr>
              <a:tr h="0">
                <a:tc>
                  <a:txBody>
                    <a:bodyPr/>
                    <a:lstStyle/>
                    <a:p>
                      <a:r>
                        <a:rPr lang="ko-KR" altLang="en-US" sz="800" dirty="0"/>
                        <a:t>견적서작성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scwin.btn_TndrSbmsn_onclick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견적서작성 화면을 호출한다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해당 공고가 </a:t>
                      </a:r>
                      <a:r>
                        <a:rPr lang="en-US" altLang="ko-KR" sz="800" dirty="0">
                          <a:latin typeface="+mn-ea"/>
                          <a:ea typeface="+mn-ea"/>
                        </a:rPr>
                        <a:t>‘</a:t>
                      </a:r>
                      <a:r>
                        <a:rPr lang="ko-KR" altLang="en-US" sz="800" dirty="0">
                          <a:latin typeface="+mn-ea"/>
                          <a:ea typeface="+mn-ea"/>
                        </a:rPr>
                        <a:t>공개수의계약공고</a:t>
                      </a:r>
                      <a:r>
                        <a:rPr lang="en-US" altLang="ko-KR" sz="800" dirty="0">
                          <a:latin typeface="+mn-ea"/>
                          <a:ea typeface="+mn-ea"/>
                        </a:rPr>
                        <a:t>’</a:t>
                      </a:r>
                      <a:r>
                        <a:rPr lang="ko-KR" altLang="en-US" sz="800" dirty="0">
                          <a:latin typeface="+mn-ea"/>
                          <a:ea typeface="+mn-ea"/>
                        </a:rPr>
                        <a:t>일 경우 노출되는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2432961"/>
                  </a:ext>
                </a:extLst>
              </a:tr>
              <a:tr h="0">
                <a:tc>
                  <a:txBody>
                    <a:bodyPr/>
                    <a:lstStyle/>
                    <a:p>
                      <a:r>
                        <a:rPr lang="ko-KR" altLang="en-US" sz="800" dirty="0" err="1"/>
                        <a:t>입찰참가신청서작성</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scwin.btn_BidPrtcpApfrWrt_onclick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입찰참가신청서작성</a:t>
                      </a:r>
                      <a:r>
                        <a:rPr lang="ko-KR" altLang="en-US" sz="800" dirty="0">
                          <a:latin typeface="+mn-ea"/>
                          <a:ea typeface="+mn-ea"/>
                        </a:rPr>
                        <a:t> 화면을 호출한다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해당 공고가 </a:t>
                      </a:r>
                      <a:r>
                        <a:rPr lang="en-US" altLang="ko-KR" sz="800" dirty="0">
                          <a:latin typeface="+mn-ea"/>
                          <a:ea typeface="+mn-ea"/>
                        </a:rPr>
                        <a:t>‘</a:t>
                      </a:r>
                      <a:r>
                        <a:rPr lang="ko-KR" altLang="en-US" sz="800" dirty="0">
                          <a:latin typeface="+mn-ea"/>
                          <a:ea typeface="+mn-ea"/>
                        </a:rPr>
                        <a:t>경쟁계약공고</a:t>
                      </a:r>
                      <a:r>
                        <a:rPr lang="en-US" altLang="ko-KR" sz="800" dirty="0">
                          <a:latin typeface="+mn-ea"/>
                          <a:ea typeface="+mn-ea"/>
                        </a:rPr>
                        <a:t>’</a:t>
                      </a:r>
                      <a:r>
                        <a:rPr lang="ko-KR" altLang="en-US" sz="800" dirty="0">
                          <a:latin typeface="+mn-ea"/>
                          <a:ea typeface="+mn-ea"/>
                        </a:rPr>
                        <a:t>일 경우 노출되는 버튼</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국내 </a:t>
                      </a:r>
                      <a:r>
                        <a:rPr lang="en-US" altLang="ko-KR" sz="800" dirty="0">
                          <a:latin typeface="+mn-ea"/>
                          <a:ea typeface="+mn-ea"/>
                        </a:rPr>
                        <a:t>: </a:t>
                      </a:r>
                      <a:r>
                        <a:rPr lang="en-US" altLang="ko-KR" sz="800" dirty="0" smtClean="0">
                          <a:latin typeface="+mn-ea"/>
                          <a:ea typeface="+mn-ea"/>
                        </a:rPr>
                        <a:t>(MUI-BD-04-M01) </a:t>
                      </a:r>
                      <a:r>
                        <a:rPr lang="ko-KR" altLang="en-US" sz="800" dirty="0">
                          <a:latin typeface="+mn-ea"/>
                          <a:ea typeface="+mn-ea"/>
                        </a:rPr>
                        <a:t>입찰참가신청서</a:t>
                      </a:r>
                      <a:r>
                        <a:rPr lang="en-US" altLang="ko-KR" sz="800" dirty="0">
                          <a:latin typeface="+mn-ea"/>
                          <a:ea typeface="+mn-ea"/>
                        </a:rPr>
                        <a:t>  </a:t>
                      </a: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국외 </a:t>
                      </a:r>
                      <a:r>
                        <a:rPr lang="en-US" altLang="ko-KR" sz="800" dirty="0">
                          <a:latin typeface="+mn-ea"/>
                          <a:ea typeface="+mn-ea"/>
                        </a:rPr>
                        <a:t>: </a:t>
                      </a:r>
                      <a:r>
                        <a:rPr lang="en-US" altLang="ko-KR" sz="800" dirty="0" smtClean="0">
                          <a:latin typeface="+mn-ea"/>
                          <a:ea typeface="+mn-ea"/>
                        </a:rPr>
                        <a:t>(MUI-BD-04-M71) </a:t>
                      </a:r>
                      <a:r>
                        <a:rPr lang="ko-KR" altLang="en-US" sz="800" dirty="0" err="1">
                          <a:latin typeface="+mn-ea"/>
                          <a:ea typeface="+mn-ea"/>
                        </a:rPr>
                        <a:t>입찰참가신청서상세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4815523"/>
                  </a:ext>
                </a:extLst>
              </a:tr>
            </a:tbl>
          </a:graphicData>
        </a:graphic>
      </p:graphicFrame>
    </p:spTree>
    <p:extLst>
      <p:ext uri="{BB962C8B-B14F-4D97-AF65-F5344CB8AC3E}">
        <p14:creationId xmlns:p14="http://schemas.microsoft.com/office/powerpoint/2010/main" val="31528804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관심공고</a:t>
            </a:r>
            <a:r>
              <a:rPr lang="ko-KR" altLang="en-US" dirty="0"/>
              <a:t> 등록 아이콘 클릭</a:t>
            </a:r>
            <a:r>
              <a:rPr lang="en-US" altLang="ko-KR" dirty="0"/>
              <a:t/>
            </a:r>
            <a:br>
              <a:rPr lang="en-US" altLang="ko-KR" dirty="0"/>
            </a:br>
            <a:r>
              <a:rPr lang="en-US" altLang="ko-KR" dirty="0"/>
              <a:t>- </a:t>
            </a:r>
            <a:r>
              <a:rPr lang="ko-KR" altLang="en-US" dirty="0"/>
              <a:t>관심 공고는 </a:t>
            </a:r>
            <a:r>
              <a:rPr lang="ko-KR" altLang="en-US" dirty="0" err="1"/>
              <a:t>로그인이</a:t>
            </a:r>
            <a:r>
              <a:rPr lang="ko-KR" altLang="en-US" dirty="0"/>
              <a:t> 필요한 서비스로 </a:t>
            </a:r>
            <a:r>
              <a:rPr lang="ko-KR" altLang="en-US" dirty="0" err="1"/>
              <a:t>비로그인</a:t>
            </a:r>
            <a:r>
              <a:rPr lang="ko-KR" altLang="en-US" dirty="0"/>
              <a:t> 상태에서는 로그인 화면 호출</a:t>
            </a:r>
            <a:r>
              <a:rPr lang="en-US" altLang="ko-KR" dirty="0"/>
              <a:t/>
            </a:r>
            <a:br>
              <a:rPr lang="en-US" altLang="ko-KR" dirty="0"/>
            </a:br>
            <a:r>
              <a:rPr lang="en-US" altLang="ko-KR" dirty="0"/>
              <a:t>- </a:t>
            </a:r>
            <a:r>
              <a:rPr lang="ko-KR" altLang="en-US" dirty="0"/>
              <a:t>등록 아이콘</a:t>
            </a:r>
            <a:r>
              <a:rPr lang="en-US" altLang="ko-KR" dirty="0"/>
              <a:t/>
            </a:r>
            <a:br>
              <a:rPr lang="en-US" altLang="ko-KR" dirty="0"/>
            </a:br>
            <a:r>
              <a:rPr lang="en-US" altLang="ko-KR" dirty="0"/>
              <a:t>  &gt; </a:t>
            </a:r>
            <a:r>
              <a:rPr lang="ko-KR" altLang="en-US" dirty="0"/>
              <a:t>등록</a:t>
            </a:r>
            <a:r>
              <a:rPr lang="en-US" altLang="ko-KR" dirty="0"/>
              <a:t>, </a:t>
            </a:r>
            <a:r>
              <a:rPr lang="ko-KR" altLang="en-US" dirty="0"/>
              <a:t>미등록 상태에 따라 아이콘 표시 변경 </a:t>
            </a:r>
            <a:r>
              <a:rPr lang="en-US" altLang="ko-KR" dirty="0"/>
              <a:t>(</a:t>
            </a:r>
            <a:r>
              <a:rPr lang="ko-KR" altLang="en-US" dirty="0"/>
              <a:t>라인 아이콘 </a:t>
            </a:r>
            <a:r>
              <a:rPr lang="en-US" altLang="ko-KR" dirty="0">
                <a:sym typeface="Wingdings" panose="05000000000000000000" pitchFamily="2" charset="2"/>
              </a:rPr>
              <a:t> </a:t>
            </a:r>
            <a:r>
              <a:rPr lang="ko-KR" altLang="en-US" dirty="0">
                <a:sym typeface="Wingdings" panose="05000000000000000000" pitchFamily="2" charset="2"/>
              </a:rPr>
              <a:t>채우기</a:t>
            </a:r>
            <a:r>
              <a:rPr lang="en-US" altLang="ko-KR" dirty="0">
                <a:sym typeface="Wingdings" panose="05000000000000000000" pitchFamily="2" charset="2"/>
              </a:rPr>
              <a:t>)</a:t>
            </a:r>
            <a:r>
              <a:rPr lang="en-US" altLang="ko-KR" dirty="0"/>
              <a:t/>
            </a:r>
            <a:br>
              <a:rPr lang="en-US" altLang="ko-KR" dirty="0"/>
            </a:br>
            <a:r>
              <a:rPr lang="en-US" altLang="ko-KR" dirty="0"/>
              <a:t>- </a:t>
            </a:r>
            <a:r>
              <a:rPr lang="ko-KR" altLang="en-US" dirty="0"/>
              <a:t>토스트 메시지 출력</a:t>
            </a:r>
            <a:r>
              <a:rPr lang="en-US" altLang="ko-KR" dirty="0"/>
              <a:t/>
            </a:r>
            <a:br>
              <a:rPr lang="en-US" altLang="ko-KR" dirty="0"/>
            </a:br>
            <a:r>
              <a:rPr lang="en-US" altLang="ko-KR" dirty="0"/>
              <a:t>  &gt; </a:t>
            </a:r>
            <a:r>
              <a:rPr lang="ko-KR" altLang="en-US" dirty="0"/>
              <a:t>등록 </a:t>
            </a:r>
            <a:r>
              <a:rPr lang="en-US" altLang="ko-KR" dirty="0"/>
              <a:t>: </a:t>
            </a:r>
            <a:r>
              <a:rPr lang="ko-KR" altLang="en-US" dirty="0" err="1"/>
              <a:t>관심공고에</a:t>
            </a:r>
            <a:r>
              <a:rPr lang="ko-KR" altLang="en-US" dirty="0"/>
              <a:t> 등록 되었습니다</a:t>
            </a:r>
            <a:r>
              <a:rPr lang="en-US" altLang="ko-KR" dirty="0"/>
              <a:t>.</a:t>
            </a:r>
            <a:br>
              <a:rPr lang="en-US" altLang="ko-KR" dirty="0"/>
            </a:br>
            <a:r>
              <a:rPr lang="en-US" altLang="ko-KR" dirty="0"/>
              <a:t>  &gt; </a:t>
            </a:r>
            <a:r>
              <a:rPr lang="ko-KR" altLang="en-US" dirty="0"/>
              <a:t>제외 </a:t>
            </a:r>
            <a:r>
              <a:rPr lang="en-US" altLang="ko-KR" dirty="0"/>
              <a:t>: </a:t>
            </a:r>
            <a:r>
              <a:rPr lang="ko-KR" altLang="en-US" dirty="0"/>
              <a:t>관심공고에서 제외 되었습니다</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smtClean="0">
                <a:latin typeface="+mn-ea"/>
              </a:rPr>
              <a:t>관심공고등록</a:t>
            </a:r>
            <a:r>
              <a:rPr lang="en-US" altLang="ko-KR" dirty="0" smtClean="0">
                <a:latin typeface="+mn-ea"/>
              </a:rPr>
              <a:t>,</a:t>
            </a:r>
            <a:r>
              <a:rPr lang="ko-KR" altLang="en-US" dirty="0" smtClean="0">
                <a:latin typeface="+mn-ea"/>
              </a:rPr>
              <a:t>제외</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첫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smtClean="0">
                <a:latin typeface="+mn-ea"/>
              </a:rPr>
              <a:t>입찰공고상세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MUI-BD-01-P13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2425427" y="190851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5125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8538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546317"/>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5776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659648"/>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3058822" y="1949976"/>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2082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9160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18545" y="3991608"/>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760915" y="3991608"/>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399469" y="3991608"/>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20821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953485"/>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31454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427877"/>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1548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307709"/>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237230"/>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307709"/>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307709"/>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237230"/>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237230"/>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201" name="모서리가 둥근 직사각형 200"/>
          <p:cNvSpPr/>
          <p:nvPr/>
        </p:nvSpPr>
        <p:spPr>
          <a:xfrm>
            <a:off x="1337508" y="5845175"/>
            <a:ext cx="1432390" cy="209216"/>
          </a:xfrm>
          <a:prstGeom prst="roundRect">
            <a:avLst>
              <a:gd name="adj" fmla="val 50000"/>
            </a:avLst>
          </a:prstGeom>
          <a:solidFill>
            <a:srgbClr val="000000">
              <a:alpha val="50196"/>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901131" y="5895922"/>
            <a:ext cx="2305144"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관심공고에서 제외 되었습니다</a:t>
            </a:r>
            <a:r>
              <a:rPr lang="en-US" altLang="ko-KR" sz="700" dirty="0">
                <a:solidFill>
                  <a:schemeClr val="bg1"/>
                </a:solidFill>
                <a:latin typeface="+mn-ea"/>
              </a:rPr>
              <a:t>.</a:t>
            </a:r>
            <a:endParaRPr lang="ko-KR" altLang="en-US" sz="700" dirty="0">
              <a:solidFill>
                <a:schemeClr val="bg1"/>
              </a:solidFill>
              <a:latin typeface="+mn-ea"/>
            </a:endParaRPr>
          </a:p>
        </p:txBody>
      </p:sp>
      <p:sp>
        <p:nvSpPr>
          <p:cNvPr id="203" name="모서리가 둥근 직사각형 202"/>
          <p:cNvSpPr/>
          <p:nvPr/>
        </p:nvSpPr>
        <p:spPr>
          <a:xfrm>
            <a:off x="1384229" y="5491535"/>
            <a:ext cx="1338948" cy="209216"/>
          </a:xfrm>
          <a:prstGeom prst="roundRect">
            <a:avLst>
              <a:gd name="adj" fmla="val 50000"/>
            </a:avLst>
          </a:prstGeom>
          <a:solidFill>
            <a:srgbClr val="000000">
              <a:alpha val="50196"/>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4" name="TextBox 203">
            <a:extLst>
              <a:ext uri="{FF2B5EF4-FFF2-40B4-BE49-F238E27FC236}">
                <a16:creationId xmlns:a16="http://schemas.microsoft.com/office/drawing/2014/main" id="{FFC49AEA-2A8F-250C-A86A-A7751D9706C3}"/>
              </a:ext>
            </a:extLst>
          </p:cNvPr>
          <p:cNvSpPr txBox="1"/>
          <p:nvPr/>
        </p:nvSpPr>
        <p:spPr>
          <a:xfrm>
            <a:off x="901131" y="5542282"/>
            <a:ext cx="2305144" cy="107722"/>
          </a:xfrm>
          <a:prstGeom prst="rect">
            <a:avLst/>
          </a:prstGeom>
          <a:noFill/>
        </p:spPr>
        <p:txBody>
          <a:bodyPr wrap="square" lIns="0" tIns="0" rIns="0" bIns="0" rtlCol="0">
            <a:spAutoFit/>
          </a:bodyPr>
          <a:lstStyle/>
          <a:p>
            <a:pPr algn="ctr"/>
            <a:r>
              <a:rPr lang="ko-KR" altLang="en-US" sz="700" dirty="0" err="1">
                <a:solidFill>
                  <a:schemeClr val="bg1"/>
                </a:solidFill>
                <a:latin typeface="+mn-ea"/>
              </a:rPr>
              <a:t>관심공고에</a:t>
            </a:r>
            <a:r>
              <a:rPr lang="ko-KR" altLang="en-US" sz="700" dirty="0">
                <a:solidFill>
                  <a:schemeClr val="bg1"/>
                </a:solidFill>
                <a:latin typeface="+mn-ea"/>
              </a:rPr>
              <a:t> 등록 되었습니다</a:t>
            </a:r>
            <a:r>
              <a:rPr lang="en-US" altLang="ko-KR" sz="700" dirty="0">
                <a:solidFill>
                  <a:schemeClr val="bg1"/>
                </a:solidFill>
                <a:latin typeface="+mn-ea"/>
              </a:rPr>
              <a:t>.</a:t>
            </a:r>
            <a:endParaRPr lang="ko-KR" altLang="en-US" sz="700" dirty="0">
              <a:solidFill>
                <a:schemeClr val="bg1"/>
              </a:solidFill>
              <a:latin typeface="+mn-ea"/>
            </a:endParaRPr>
          </a:p>
        </p:txBody>
      </p:sp>
      <p:sp>
        <p:nvSpPr>
          <p:cNvPr id="221" name="모서리가 둥근 직사각형 220"/>
          <p:cNvSpPr/>
          <p:nvPr/>
        </p:nvSpPr>
        <p:spPr>
          <a:xfrm>
            <a:off x="3859820" y="4203507"/>
            <a:ext cx="2579992" cy="1200743"/>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2" name="사각형: 둥근 모서리 14">
            <a:extLst>
              <a:ext uri="{FF2B5EF4-FFF2-40B4-BE49-F238E27FC236}">
                <a16:creationId xmlns:a16="http://schemas.microsoft.com/office/drawing/2014/main" id="{CB17FF57-D096-6A31-10F0-093EB170D38C}"/>
              </a:ext>
            </a:extLst>
          </p:cNvPr>
          <p:cNvSpPr/>
          <p:nvPr/>
        </p:nvSpPr>
        <p:spPr>
          <a:xfrm>
            <a:off x="5202658" y="4962669"/>
            <a:ext cx="1080000" cy="317083"/>
          </a:xfrm>
          <a:prstGeom prst="roundRect">
            <a:avLst/>
          </a:prstGeom>
          <a:solidFill>
            <a:srgbClr val="0070C0"/>
          </a:solidFill>
          <a:ln w="12700" cap="flat" cmpd="sng" algn="ctr">
            <a:noFill/>
            <a:prstDash val="solid"/>
          </a:ln>
          <a:effectLst/>
        </p:spPr>
        <p:txBody>
          <a:bodyPr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b="0" i="0" u="none" strike="noStrike" kern="0" cap="none" spc="0" normalizeH="0" baseline="0" noProof="0" dirty="0">
                <a:ln>
                  <a:noFill/>
                </a:ln>
                <a:solidFill>
                  <a:prstClr val="white"/>
                </a:solidFill>
                <a:effectLst/>
                <a:uLnTx/>
                <a:uFillTx/>
                <a:latin typeface="맑은 고딕"/>
                <a:ea typeface="+mn-ea"/>
                <a:cs typeface="+mn-cs"/>
              </a:rPr>
              <a:t>확인</a:t>
            </a:r>
            <a:endParaRPr kumimoji="1" lang="en-US" sz="1000" b="0" i="0" u="none" strike="noStrike" kern="0" cap="none" spc="0" normalizeH="0" baseline="0" noProof="0" dirty="0">
              <a:ln>
                <a:noFill/>
              </a:ln>
              <a:solidFill>
                <a:prstClr val="white"/>
              </a:solidFill>
              <a:effectLst/>
              <a:uLnTx/>
              <a:uFillTx/>
              <a:latin typeface="맑은 고딕"/>
              <a:ea typeface="+mn-ea"/>
              <a:cs typeface="+mn-cs"/>
            </a:endParaRPr>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3977514" y="4962669"/>
            <a:ext cx="1080000"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취소</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3977514" y="4350237"/>
            <a:ext cx="2305144" cy="138499"/>
          </a:xfrm>
          <a:prstGeom prst="rect">
            <a:avLst/>
          </a:prstGeom>
          <a:noFill/>
        </p:spPr>
        <p:txBody>
          <a:bodyPr wrap="square" lIns="0" tIns="0" rIns="0" bIns="0" rtlCol="0">
            <a:spAutoFit/>
          </a:bodyPr>
          <a:lstStyle/>
          <a:p>
            <a:r>
              <a:rPr lang="ko-KR" altLang="en-US" sz="900" b="1" dirty="0">
                <a:latin typeface="+mn-ea"/>
              </a:rPr>
              <a:t>로그인 안내</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97244" y="4582746"/>
            <a:ext cx="2305144" cy="215444"/>
          </a:xfrm>
          <a:prstGeom prst="rect">
            <a:avLst/>
          </a:prstGeom>
          <a:noFill/>
        </p:spPr>
        <p:txBody>
          <a:bodyPr wrap="square" lIns="0" tIns="0" rIns="0" bIns="0" rtlCol="0">
            <a:spAutoFit/>
          </a:bodyPr>
          <a:lstStyle/>
          <a:p>
            <a:r>
              <a:rPr lang="ko-KR" altLang="en-US" sz="700" dirty="0">
                <a:latin typeface="+mn-ea"/>
              </a:rPr>
              <a:t>서비스를 사용하기 위해서 </a:t>
            </a:r>
            <a:r>
              <a:rPr lang="ko-KR" altLang="en-US" sz="700" dirty="0" err="1">
                <a:latin typeface="+mn-ea"/>
              </a:rPr>
              <a:t>로그인이</a:t>
            </a:r>
            <a:r>
              <a:rPr lang="ko-KR" altLang="en-US" sz="700" dirty="0">
                <a:latin typeface="+mn-ea"/>
              </a:rPr>
              <a:t> 필요합니다</a:t>
            </a:r>
            <a:r>
              <a:rPr lang="en-US" altLang="ko-KR" sz="700" dirty="0">
                <a:latin typeface="+mn-ea"/>
              </a:rPr>
              <a:t>.</a:t>
            </a:r>
          </a:p>
          <a:p>
            <a:r>
              <a:rPr lang="ko-KR" altLang="en-US" sz="700" dirty="0">
                <a:latin typeface="+mn-ea"/>
              </a:rPr>
              <a:t>지금 로그인할까요</a:t>
            </a:r>
            <a:r>
              <a:rPr lang="en-US" altLang="ko-KR" sz="700" dirty="0">
                <a:latin typeface="+mn-ea"/>
              </a:rPr>
              <a:t>?</a:t>
            </a:r>
          </a:p>
        </p:txBody>
      </p:sp>
      <p:grpSp>
        <p:nvGrpSpPr>
          <p:cNvPr id="227" name="그룹 226"/>
          <p:cNvGrpSpPr/>
          <p:nvPr/>
        </p:nvGrpSpPr>
        <p:grpSpPr>
          <a:xfrm>
            <a:off x="6188648" y="4350237"/>
            <a:ext cx="94010" cy="94010"/>
            <a:chOff x="6812560" y="3297172"/>
            <a:chExt cx="94010" cy="94010"/>
          </a:xfrm>
        </p:grpSpPr>
        <p:cxnSp>
          <p:nvCxnSpPr>
            <p:cNvPr id="228" name="직선 연결선 2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29" name="직선 연결선 2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30" name="직사각형 229"/>
          <p:cNvSpPr/>
          <p:nvPr/>
        </p:nvSpPr>
        <p:spPr>
          <a:xfrm>
            <a:off x="3795734" y="3972675"/>
            <a:ext cx="1043876" cy="230832"/>
          </a:xfrm>
          <a:prstGeom prst="rect">
            <a:avLst/>
          </a:prstGeom>
        </p:spPr>
        <p:txBody>
          <a:bodyPr lIns="72000" tIns="36000" rIns="72000" bIns="36000"/>
          <a:lstStyle/>
          <a:p>
            <a:pPr>
              <a:buFont typeface="Arial" panose="020B0604020202020204" pitchFamily="34" charset="0"/>
              <a:buNone/>
            </a:pPr>
            <a:r>
              <a:rPr lang="en-US" altLang="ko-KR" sz="900" dirty="0">
                <a:solidFill>
                  <a:srgbClr val="000000"/>
                </a:solidFill>
                <a:latin typeface="맑은 고딕" panose="020B0503020000020004" pitchFamily="50" charset="-127"/>
              </a:rPr>
              <a:t>MUI-CM-03-P19</a:t>
            </a:r>
            <a:endParaRPr lang="ko-KR" altLang="en-US" sz="900" dirty="0">
              <a:solidFill>
                <a:srgbClr val="000000"/>
              </a:solidFill>
              <a:latin typeface="맑은 고딕" panose="020B0503020000020004" pitchFamily="50" charset="-127"/>
            </a:endParaRPr>
          </a:p>
        </p:txBody>
      </p:sp>
      <p:sp>
        <p:nvSpPr>
          <p:cNvPr id="235" name="직사각형 234"/>
          <p:cNvSpPr/>
          <p:nvPr/>
        </p:nvSpPr>
        <p:spPr>
          <a:xfrm>
            <a:off x="5057514" y="3972675"/>
            <a:ext cx="1450248" cy="230832"/>
          </a:xfrm>
          <a:prstGeom prst="rect">
            <a:avLst/>
          </a:prstGeom>
        </p:spPr>
        <p:txBody>
          <a:bodyPr lIns="72000" tIns="36000" rIns="72000" bIns="36000"/>
          <a:lstStyle/>
          <a:p>
            <a:pPr algn="r">
              <a:buFont typeface="Arial" panose="020B0604020202020204" pitchFamily="34" charset="0"/>
              <a:buNone/>
            </a:pPr>
            <a:r>
              <a:rPr lang="ko-KR" altLang="en-US" sz="900" dirty="0">
                <a:solidFill>
                  <a:srgbClr val="000000"/>
                </a:solidFill>
                <a:latin typeface="맑은 고딕" panose="020B0503020000020004" pitchFamily="50" charset="-127"/>
              </a:rPr>
              <a:t>로그인 필요 서비스 안내</a:t>
            </a:r>
          </a:p>
        </p:txBody>
      </p:sp>
      <p:cxnSp>
        <p:nvCxnSpPr>
          <p:cNvPr id="23" name="직선 화살표 연결선 22"/>
          <p:cNvCxnSpPr>
            <a:endCxn id="230" idx="1"/>
          </p:cNvCxnSpPr>
          <p:nvPr/>
        </p:nvCxnSpPr>
        <p:spPr>
          <a:xfrm>
            <a:off x="3143548" y="2158410"/>
            <a:ext cx="652186" cy="19296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10" name="그룹 109"/>
          <p:cNvGrpSpPr/>
          <p:nvPr/>
        </p:nvGrpSpPr>
        <p:grpSpPr>
          <a:xfrm>
            <a:off x="2714860" y="3237230"/>
            <a:ext cx="603798" cy="187961"/>
            <a:chOff x="2714860" y="3237230"/>
            <a:chExt cx="603798" cy="187961"/>
          </a:xfrm>
        </p:grpSpPr>
        <p:grpSp>
          <p:nvGrpSpPr>
            <p:cNvPr id="111" name="그룹 110"/>
            <p:cNvGrpSpPr/>
            <p:nvPr/>
          </p:nvGrpSpPr>
          <p:grpSpPr>
            <a:xfrm>
              <a:off x="2714860" y="3237230"/>
              <a:ext cx="187961" cy="187961"/>
              <a:chOff x="2714860" y="3237230"/>
              <a:chExt cx="187961" cy="187961"/>
            </a:xfrm>
          </p:grpSpPr>
          <p:sp>
            <p:nvSpPr>
              <p:cNvPr id="113" name="타원 112"/>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12" name="TextBox 111">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15" name="그룹 114"/>
          <p:cNvGrpSpPr/>
          <p:nvPr/>
        </p:nvGrpSpPr>
        <p:grpSpPr>
          <a:xfrm rot="5400000">
            <a:off x="3158978" y="3232595"/>
            <a:ext cx="187961" cy="187961"/>
            <a:chOff x="3876200" y="2234886"/>
            <a:chExt cx="187961" cy="187961"/>
          </a:xfrm>
        </p:grpSpPr>
        <p:sp>
          <p:nvSpPr>
            <p:cNvPr id="116" name="타원 11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7" name="그룹 116"/>
            <p:cNvGrpSpPr/>
            <p:nvPr/>
          </p:nvGrpSpPr>
          <p:grpSpPr>
            <a:xfrm rot="16200000">
              <a:off x="3931564" y="2305364"/>
              <a:ext cx="94010" cy="47005"/>
              <a:chOff x="6812560" y="3297172"/>
              <a:chExt cx="94010" cy="47005"/>
            </a:xfrm>
          </p:grpSpPr>
          <p:cxnSp>
            <p:nvCxnSpPr>
              <p:cNvPr id="118" name="직선 연결선 1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9" name="직선 연결선 1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188868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smtClean="0"/>
              <a:t>바텀시트에서</a:t>
            </a:r>
            <a:r>
              <a:rPr lang="ko-KR" altLang="en-US" dirty="0" smtClean="0"/>
              <a:t> 출력물을 선택하는 경우 서류 출력 확인 팝업 호출</a:t>
            </a:r>
            <a:endParaRPr lang="en-US" altLang="ko-KR" dirty="0"/>
          </a:p>
          <a:p>
            <a:pPr marL="228600" indent="-228600">
              <a:buFont typeface="+mj-lt"/>
              <a:buAutoNum type="arabicPeriod"/>
            </a:pPr>
            <a:r>
              <a:rPr lang="ko-KR" altLang="en-US" dirty="0"/>
              <a:t>출력 </a:t>
            </a:r>
            <a:r>
              <a:rPr lang="ko-KR" altLang="en-US" dirty="0" smtClean="0"/>
              <a:t>버튼 </a:t>
            </a:r>
            <a:r>
              <a:rPr lang="ko-KR" altLang="en-US" dirty="0"/>
              <a:t>클릭</a:t>
            </a:r>
            <a:r>
              <a:rPr lang="en-US" altLang="ko-KR" dirty="0"/>
              <a:t/>
            </a:r>
            <a:br>
              <a:rPr lang="en-US" altLang="ko-KR" dirty="0"/>
            </a:br>
            <a:r>
              <a:rPr lang="en-US" altLang="ko-KR" dirty="0"/>
              <a:t>- </a:t>
            </a:r>
            <a:r>
              <a:rPr lang="ko-KR" altLang="en-US" dirty="0"/>
              <a:t>서류 출력 확인 팝업 표시</a:t>
            </a:r>
            <a:endParaRPr lang="en-US" altLang="ko-KR" dirty="0"/>
          </a:p>
          <a:p>
            <a:pPr marL="228600" indent="-228600">
              <a:buFont typeface="+mj-lt"/>
              <a:buAutoNum type="arabicPeriod"/>
            </a:pPr>
            <a:r>
              <a:rPr lang="ko-KR" altLang="en-US" dirty="0"/>
              <a:t>서류 출력 확인 팝업</a:t>
            </a:r>
            <a:r>
              <a:rPr lang="en-US" altLang="ko-KR" dirty="0"/>
              <a:t/>
            </a:r>
            <a:br>
              <a:rPr lang="en-US" altLang="ko-KR" dirty="0"/>
            </a:br>
            <a:r>
              <a:rPr lang="en-US" altLang="ko-KR" dirty="0"/>
              <a:t>- </a:t>
            </a:r>
            <a:r>
              <a:rPr lang="ko-KR" altLang="en-US" dirty="0" err="1"/>
              <a:t>모달</a:t>
            </a:r>
            <a:r>
              <a:rPr lang="ko-KR" altLang="en-US" dirty="0"/>
              <a:t> </a:t>
            </a:r>
            <a:r>
              <a:rPr lang="en-US" altLang="ko-KR" dirty="0" smtClean="0"/>
              <a:t>–</a:t>
            </a:r>
            <a:r>
              <a:rPr lang="ko-KR" altLang="en-US" dirty="0" smtClean="0"/>
              <a:t> </a:t>
            </a:r>
            <a:r>
              <a:rPr lang="ko-KR" altLang="en-US" dirty="0"/>
              <a:t>화면 중앙에 출력</a:t>
            </a:r>
            <a:r>
              <a:rPr lang="en-US" altLang="ko-KR" dirty="0"/>
              <a:t/>
            </a:r>
            <a:br>
              <a:rPr lang="en-US" altLang="ko-KR" dirty="0"/>
            </a:br>
            <a:r>
              <a:rPr lang="en-US" altLang="ko-KR" dirty="0"/>
              <a:t>- </a:t>
            </a:r>
            <a:r>
              <a:rPr lang="ko-KR" altLang="en-US" dirty="0"/>
              <a:t>확인 시 </a:t>
            </a:r>
            <a:r>
              <a:rPr lang="en-US" altLang="ko-KR" dirty="0"/>
              <a:t>– OZ </a:t>
            </a:r>
            <a:r>
              <a:rPr lang="ko-KR" altLang="en-US" dirty="0"/>
              <a:t>리포트 호출</a:t>
            </a:r>
            <a:r>
              <a:rPr lang="en-US" altLang="ko-KR" dirty="0"/>
              <a:t/>
            </a:r>
            <a:br>
              <a:rPr lang="en-US" altLang="ko-KR" dirty="0"/>
            </a:br>
            <a:r>
              <a:rPr lang="en-US" altLang="ko-KR" dirty="0"/>
              <a:t>- </a:t>
            </a:r>
            <a:r>
              <a:rPr lang="ko-KR" altLang="en-US" dirty="0"/>
              <a:t>취소 시 </a:t>
            </a:r>
            <a:r>
              <a:rPr lang="en-US" altLang="ko-KR" dirty="0"/>
              <a:t>– </a:t>
            </a:r>
            <a:r>
              <a:rPr lang="ko-KR" altLang="en-US" dirty="0"/>
              <a:t>팝업 닫기</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서류 출력 확인</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첫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입찰공고상세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MUI-BD-01-P14</a:t>
            </a:r>
            <a:endParaRPr lang="ko-KR" altLang="en-US"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205" name="모서리가 둥근 직사각형 204"/>
          <p:cNvSpPr/>
          <p:nvPr/>
        </p:nvSpPr>
        <p:spPr>
          <a:xfrm>
            <a:off x="3859820" y="2317399"/>
            <a:ext cx="2579992" cy="1200743"/>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6" name="사각형: 둥근 모서리 14">
            <a:extLst>
              <a:ext uri="{FF2B5EF4-FFF2-40B4-BE49-F238E27FC236}">
                <a16:creationId xmlns:a16="http://schemas.microsoft.com/office/drawing/2014/main" id="{CB17FF57-D096-6A31-10F0-093EB170D38C}"/>
              </a:ext>
            </a:extLst>
          </p:cNvPr>
          <p:cNvSpPr/>
          <p:nvPr/>
        </p:nvSpPr>
        <p:spPr>
          <a:xfrm>
            <a:off x="5202658" y="3076561"/>
            <a:ext cx="1080000" cy="317083"/>
          </a:xfrm>
          <a:prstGeom prst="roundRect">
            <a:avLst/>
          </a:prstGeom>
          <a:solidFill>
            <a:srgbClr val="0070C0"/>
          </a:solidFill>
          <a:ln w="12700" cap="flat" cmpd="sng" algn="ctr">
            <a:noFill/>
            <a:prstDash val="solid"/>
          </a:ln>
          <a:effectLst/>
        </p:spPr>
        <p:txBody>
          <a:bodyPr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b="0" i="0" u="none" strike="noStrike" kern="0" cap="none" spc="0" normalizeH="0" baseline="0" noProof="0" dirty="0">
                <a:ln>
                  <a:noFill/>
                </a:ln>
                <a:solidFill>
                  <a:prstClr val="white"/>
                </a:solidFill>
                <a:effectLst/>
                <a:uLnTx/>
                <a:uFillTx/>
                <a:latin typeface="맑은 고딕"/>
                <a:ea typeface="+mn-ea"/>
                <a:cs typeface="+mn-cs"/>
              </a:rPr>
              <a:t>확인</a:t>
            </a:r>
            <a:endParaRPr kumimoji="1" lang="en-US" sz="1000" b="0" i="0" u="none" strike="noStrike" kern="0" cap="none" spc="0" normalizeH="0" baseline="0" noProof="0" dirty="0">
              <a:ln>
                <a:noFill/>
              </a:ln>
              <a:solidFill>
                <a:prstClr val="white"/>
              </a:solidFill>
              <a:effectLst/>
              <a:uLnTx/>
              <a:uFillTx/>
              <a:latin typeface="맑은 고딕"/>
              <a:ea typeface="+mn-ea"/>
              <a:cs typeface="+mn-cs"/>
            </a:endParaRPr>
          </a:p>
        </p:txBody>
      </p:sp>
      <p:sp>
        <p:nvSpPr>
          <p:cNvPr id="207" name="사각형: 둥근 모서리 15">
            <a:extLst>
              <a:ext uri="{FF2B5EF4-FFF2-40B4-BE49-F238E27FC236}">
                <a16:creationId xmlns:a16="http://schemas.microsoft.com/office/drawing/2014/main" id="{E2B61CFB-AD16-68D0-8752-50D9C5E01971}"/>
              </a:ext>
            </a:extLst>
          </p:cNvPr>
          <p:cNvSpPr/>
          <p:nvPr/>
        </p:nvSpPr>
        <p:spPr>
          <a:xfrm>
            <a:off x="3977514" y="3076561"/>
            <a:ext cx="1080000"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취소</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77514" y="2464129"/>
            <a:ext cx="2305144" cy="138499"/>
          </a:xfrm>
          <a:prstGeom prst="rect">
            <a:avLst/>
          </a:prstGeom>
          <a:noFill/>
        </p:spPr>
        <p:txBody>
          <a:bodyPr wrap="square" lIns="0" tIns="0" rIns="0" bIns="0" rtlCol="0">
            <a:spAutoFit/>
          </a:bodyPr>
          <a:lstStyle/>
          <a:p>
            <a:r>
              <a:rPr lang="ko-KR" altLang="en-US" sz="900" b="1" dirty="0">
                <a:latin typeface="+mn-ea"/>
              </a:rPr>
              <a:t>서류 출력</a:t>
            </a:r>
          </a:p>
        </p:txBody>
      </p:sp>
      <p:sp>
        <p:nvSpPr>
          <p:cNvPr id="211" name="TextBox 210">
            <a:extLst>
              <a:ext uri="{FF2B5EF4-FFF2-40B4-BE49-F238E27FC236}">
                <a16:creationId xmlns:a16="http://schemas.microsoft.com/office/drawing/2014/main" id="{FFC49AEA-2A8F-250C-A86A-A7751D9706C3}"/>
              </a:ext>
            </a:extLst>
          </p:cNvPr>
          <p:cNvSpPr txBox="1"/>
          <p:nvPr/>
        </p:nvSpPr>
        <p:spPr>
          <a:xfrm>
            <a:off x="3997244" y="2696638"/>
            <a:ext cx="2305144" cy="215444"/>
          </a:xfrm>
          <a:prstGeom prst="rect">
            <a:avLst/>
          </a:prstGeom>
          <a:noFill/>
        </p:spPr>
        <p:txBody>
          <a:bodyPr wrap="square" lIns="0" tIns="0" rIns="0" bIns="0" rtlCol="0">
            <a:spAutoFit/>
          </a:bodyPr>
          <a:lstStyle/>
          <a:p>
            <a:r>
              <a:rPr lang="en-US" altLang="ko-KR" sz="700" dirty="0">
                <a:latin typeface="+mn-ea"/>
              </a:rPr>
              <a:t>OZ </a:t>
            </a:r>
            <a:r>
              <a:rPr lang="ko-KR" altLang="en-US" sz="700" dirty="0">
                <a:latin typeface="+mn-ea"/>
              </a:rPr>
              <a:t>리포트가 실행되며</a:t>
            </a:r>
            <a:r>
              <a:rPr lang="en-US" altLang="ko-KR" sz="700" dirty="0">
                <a:latin typeface="+mn-ea"/>
              </a:rPr>
              <a:t>, </a:t>
            </a:r>
            <a:r>
              <a:rPr lang="ko-KR" altLang="en-US" sz="700" dirty="0">
                <a:latin typeface="+mn-ea"/>
              </a:rPr>
              <a:t>로딩에 약간의 시간이 소요됩니다</a:t>
            </a:r>
            <a:r>
              <a:rPr lang="en-US" altLang="ko-KR" sz="700" dirty="0">
                <a:latin typeface="+mn-ea"/>
              </a:rPr>
              <a:t>.</a:t>
            </a:r>
          </a:p>
          <a:p>
            <a:r>
              <a:rPr lang="ko-KR" altLang="en-US" sz="700" dirty="0">
                <a:latin typeface="+mn-ea"/>
              </a:rPr>
              <a:t>서류 출력을 진행할까요</a:t>
            </a:r>
            <a:r>
              <a:rPr lang="en-US" altLang="ko-KR" sz="700" dirty="0">
                <a:latin typeface="+mn-ea"/>
              </a:rPr>
              <a:t>?</a:t>
            </a:r>
          </a:p>
        </p:txBody>
      </p:sp>
      <p:sp>
        <p:nvSpPr>
          <p:cNvPr id="214" name="타원 213">
            <a:extLst>
              <a:ext uri="{FF2B5EF4-FFF2-40B4-BE49-F238E27FC236}">
                <a16:creationId xmlns:a16="http://schemas.microsoft.com/office/drawing/2014/main" id="{37A7FF4F-0EAA-1463-560A-D5EC24416103}"/>
              </a:ext>
            </a:extLst>
          </p:cNvPr>
          <p:cNvSpPr/>
          <p:nvPr/>
        </p:nvSpPr>
        <p:spPr>
          <a:xfrm>
            <a:off x="6367026" y="300276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216" name="그룹 215"/>
          <p:cNvGrpSpPr/>
          <p:nvPr/>
        </p:nvGrpSpPr>
        <p:grpSpPr>
          <a:xfrm>
            <a:off x="6188648" y="2464129"/>
            <a:ext cx="94010" cy="94010"/>
            <a:chOff x="6812560" y="3297172"/>
            <a:chExt cx="94010" cy="94010"/>
          </a:xfrm>
        </p:grpSpPr>
        <p:cxnSp>
          <p:nvCxnSpPr>
            <p:cNvPr id="217" name="직선 연결선 21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6" name="직사각형 5"/>
          <p:cNvSpPr/>
          <p:nvPr/>
        </p:nvSpPr>
        <p:spPr>
          <a:xfrm>
            <a:off x="3795734" y="2086567"/>
            <a:ext cx="1043876" cy="230832"/>
          </a:xfrm>
          <a:prstGeom prst="rect">
            <a:avLst/>
          </a:prstGeom>
        </p:spPr>
        <p:txBody>
          <a:bodyPr lIns="72000" tIns="36000" rIns="72000" bIns="36000"/>
          <a:lstStyle/>
          <a:p>
            <a:pPr>
              <a:buFont typeface="Arial" panose="020B0604020202020204" pitchFamily="34" charset="0"/>
              <a:buNone/>
            </a:pPr>
            <a:r>
              <a:rPr lang="en-US" altLang="ko-KR" sz="900" dirty="0">
                <a:solidFill>
                  <a:srgbClr val="000000"/>
                </a:solidFill>
                <a:latin typeface="맑은 고딕" panose="020B0503020000020004" pitchFamily="50" charset="-127"/>
              </a:rPr>
              <a:t>MUI-BD-01-P14</a:t>
            </a:r>
            <a:endParaRPr lang="ko-KR" altLang="en-US" sz="900" dirty="0">
              <a:solidFill>
                <a:srgbClr val="000000"/>
              </a:solidFill>
              <a:latin typeface="맑은 고딕" panose="020B0503020000020004" pitchFamily="50" charset="-127"/>
            </a:endParaRPr>
          </a:p>
        </p:txBody>
      </p:sp>
      <p:sp>
        <p:nvSpPr>
          <p:cNvPr id="219" name="직사각형 218"/>
          <p:cNvSpPr/>
          <p:nvPr/>
        </p:nvSpPr>
        <p:spPr>
          <a:xfrm>
            <a:off x="5329794" y="2086567"/>
            <a:ext cx="1177967" cy="230832"/>
          </a:xfrm>
          <a:prstGeom prst="rect">
            <a:avLst/>
          </a:prstGeom>
        </p:spPr>
        <p:txBody>
          <a:bodyPr lIns="72000" tIns="36000" rIns="72000" bIns="36000"/>
          <a:lstStyle/>
          <a:p>
            <a:pPr algn="r">
              <a:buFont typeface="Arial" panose="020B0604020202020204" pitchFamily="34" charset="0"/>
              <a:buNone/>
            </a:pPr>
            <a:r>
              <a:rPr lang="ko-KR" altLang="en-US" sz="900" dirty="0">
                <a:solidFill>
                  <a:srgbClr val="000000"/>
                </a:solidFill>
                <a:latin typeface="맑은 고딕" panose="020B0503020000020004" pitchFamily="50" charset="-127"/>
              </a:rPr>
              <a:t>서류 출력 확인</a:t>
            </a:r>
          </a:p>
        </p:txBody>
      </p:sp>
      <p:sp>
        <p:nvSpPr>
          <p:cNvPr id="221" name="모서리가 둥근 직사각형 220"/>
          <p:cNvSpPr/>
          <p:nvPr/>
        </p:nvSpPr>
        <p:spPr>
          <a:xfrm>
            <a:off x="3859820" y="4203507"/>
            <a:ext cx="2579992" cy="1200743"/>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2" name="사각형: 둥근 모서리 14">
            <a:extLst>
              <a:ext uri="{FF2B5EF4-FFF2-40B4-BE49-F238E27FC236}">
                <a16:creationId xmlns:a16="http://schemas.microsoft.com/office/drawing/2014/main" id="{CB17FF57-D096-6A31-10F0-093EB170D38C}"/>
              </a:ext>
            </a:extLst>
          </p:cNvPr>
          <p:cNvSpPr/>
          <p:nvPr/>
        </p:nvSpPr>
        <p:spPr>
          <a:xfrm>
            <a:off x="5202658" y="4962669"/>
            <a:ext cx="1080000" cy="317083"/>
          </a:xfrm>
          <a:prstGeom prst="roundRect">
            <a:avLst/>
          </a:prstGeom>
          <a:solidFill>
            <a:srgbClr val="0070C0"/>
          </a:solidFill>
          <a:ln w="12700" cap="flat" cmpd="sng" algn="ctr">
            <a:noFill/>
            <a:prstDash val="solid"/>
          </a:ln>
          <a:effectLst/>
        </p:spPr>
        <p:txBody>
          <a:bodyPr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b="0" i="0" u="none" strike="noStrike" kern="0" cap="none" spc="0" normalizeH="0" baseline="0" noProof="0" dirty="0">
                <a:ln>
                  <a:noFill/>
                </a:ln>
                <a:solidFill>
                  <a:prstClr val="white"/>
                </a:solidFill>
                <a:effectLst/>
                <a:uLnTx/>
                <a:uFillTx/>
                <a:latin typeface="맑은 고딕"/>
                <a:ea typeface="+mn-ea"/>
                <a:cs typeface="+mn-cs"/>
              </a:rPr>
              <a:t>확인</a:t>
            </a:r>
            <a:endParaRPr kumimoji="1" lang="en-US" sz="1000" b="0" i="0" u="none" strike="noStrike" kern="0" cap="none" spc="0" normalizeH="0" baseline="0" noProof="0" dirty="0">
              <a:ln>
                <a:noFill/>
              </a:ln>
              <a:solidFill>
                <a:prstClr val="white"/>
              </a:solidFill>
              <a:effectLst/>
              <a:uLnTx/>
              <a:uFillTx/>
              <a:latin typeface="맑은 고딕"/>
              <a:ea typeface="+mn-ea"/>
              <a:cs typeface="+mn-cs"/>
            </a:endParaRPr>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3977514" y="4962669"/>
            <a:ext cx="1080000"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취소</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3977514" y="4350237"/>
            <a:ext cx="2305144" cy="138499"/>
          </a:xfrm>
          <a:prstGeom prst="rect">
            <a:avLst/>
          </a:prstGeom>
          <a:noFill/>
        </p:spPr>
        <p:txBody>
          <a:bodyPr wrap="square" lIns="0" tIns="0" rIns="0" bIns="0" rtlCol="0">
            <a:spAutoFit/>
          </a:bodyPr>
          <a:lstStyle/>
          <a:p>
            <a:r>
              <a:rPr lang="ko-KR" altLang="en-US" sz="900" b="1" dirty="0">
                <a:latin typeface="+mn-ea"/>
              </a:rPr>
              <a:t>로그인 안내</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97244" y="4582746"/>
            <a:ext cx="2305144" cy="215444"/>
          </a:xfrm>
          <a:prstGeom prst="rect">
            <a:avLst/>
          </a:prstGeom>
          <a:noFill/>
        </p:spPr>
        <p:txBody>
          <a:bodyPr wrap="square" lIns="0" tIns="0" rIns="0" bIns="0" rtlCol="0">
            <a:spAutoFit/>
          </a:bodyPr>
          <a:lstStyle/>
          <a:p>
            <a:r>
              <a:rPr lang="ko-KR" altLang="en-US" sz="700" dirty="0">
                <a:latin typeface="+mn-ea"/>
              </a:rPr>
              <a:t>서비스를 사용하기 위해서 </a:t>
            </a:r>
            <a:r>
              <a:rPr lang="ko-KR" altLang="en-US" sz="700" dirty="0" err="1">
                <a:latin typeface="+mn-ea"/>
              </a:rPr>
              <a:t>로그인이</a:t>
            </a:r>
            <a:r>
              <a:rPr lang="ko-KR" altLang="en-US" sz="700" dirty="0">
                <a:latin typeface="+mn-ea"/>
              </a:rPr>
              <a:t> 필요합니다</a:t>
            </a:r>
            <a:r>
              <a:rPr lang="en-US" altLang="ko-KR" sz="700" dirty="0">
                <a:latin typeface="+mn-ea"/>
              </a:rPr>
              <a:t>.</a:t>
            </a:r>
          </a:p>
          <a:p>
            <a:r>
              <a:rPr lang="ko-KR" altLang="en-US" sz="700" dirty="0">
                <a:latin typeface="+mn-ea"/>
              </a:rPr>
              <a:t>지금 로그인할까요</a:t>
            </a:r>
            <a:r>
              <a:rPr lang="en-US" altLang="ko-KR" sz="700" dirty="0">
                <a:latin typeface="+mn-ea"/>
              </a:rPr>
              <a:t>?</a:t>
            </a:r>
          </a:p>
        </p:txBody>
      </p:sp>
      <p:grpSp>
        <p:nvGrpSpPr>
          <p:cNvPr id="227" name="그룹 226"/>
          <p:cNvGrpSpPr/>
          <p:nvPr/>
        </p:nvGrpSpPr>
        <p:grpSpPr>
          <a:xfrm>
            <a:off x="6188648" y="4350237"/>
            <a:ext cx="94010" cy="94010"/>
            <a:chOff x="6812560" y="3297172"/>
            <a:chExt cx="94010" cy="94010"/>
          </a:xfrm>
        </p:grpSpPr>
        <p:cxnSp>
          <p:nvCxnSpPr>
            <p:cNvPr id="228" name="직선 연결선 2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29" name="직선 연결선 2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30" name="직사각형 229"/>
          <p:cNvSpPr/>
          <p:nvPr/>
        </p:nvSpPr>
        <p:spPr>
          <a:xfrm>
            <a:off x="3795734" y="3972675"/>
            <a:ext cx="1043876" cy="230832"/>
          </a:xfrm>
          <a:prstGeom prst="rect">
            <a:avLst/>
          </a:prstGeom>
        </p:spPr>
        <p:txBody>
          <a:bodyPr lIns="72000" tIns="36000" rIns="72000" bIns="36000"/>
          <a:lstStyle/>
          <a:p>
            <a:pPr>
              <a:buFont typeface="Arial" panose="020B0604020202020204" pitchFamily="34" charset="0"/>
              <a:buNone/>
            </a:pPr>
            <a:r>
              <a:rPr lang="en-US" altLang="ko-KR" sz="900" dirty="0">
                <a:solidFill>
                  <a:srgbClr val="000000"/>
                </a:solidFill>
                <a:latin typeface="맑은 고딕" panose="020B0503020000020004" pitchFamily="50" charset="-127"/>
              </a:rPr>
              <a:t>MUI-MS-03-P15</a:t>
            </a:r>
            <a:endParaRPr lang="ko-KR" altLang="en-US" sz="900" dirty="0">
              <a:solidFill>
                <a:srgbClr val="000000"/>
              </a:solidFill>
              <a:latin typeface="맑은 고딕" panose="020B0503020000020004" pitchFamily="50" charset="-127"/>
            </a:endParaRPr>
          </a:p>
        </p:txBody>
      </p:sp>
      <p:sp>
        <p:nvSpPr>
          <p:cNvPr id="235" name="직사각형 234"/>
          <p:cNvSpPr/>
          <p:nvPr/>
        </p:nvSpPr>
        <p:spPr>
          <a:xfrm>
            <a:off x="5329794" y="3972675"/>
            <a:ext cx="1177967" cy="230832"/>
          </a:xfrm>
          <a:prstGeom prst="rect">
            <a:avLst/>
          </a:prstGeom>
        </p:spPr>
        <p:txBody>
          <a:bodyPr lIns="72000" tIns="36000" rIns="72000" bIns="36000"/>
          <a:lstStyle/>
          <a:p>
            <a:pPr algn="r">
              <a:buFont typeface="Arial" panose="020B0604020202020204" pitchFamily="34" charset="0"/>
              <a:buNone/>
            </a:pPr>
            <a:r>
              <a:rPr lang="ko-KR" altLang="en-US" sz="900" dirty="0">
                <a:solidFill>
                  <a:srgbClr val="000000"/>
                </a:solidFill>
                <a:latin typeface="맑은 고딕" panose="020B0503020000020004" pitchFamily="50" charset="-127"/>
              </a:rPr>
              <a:t>로그인 안내</a:t>
            </a:r>
          </a:p>
        </p:txBody>
      </p:sp>
      <p:cxnSp>
        <p:nvCxnSpPr>
          <p:cNvPr id="236" name="직선 화살표 연결선 235"/>
          <p:cNvCxnSpPr>
            <a:stCxn id="238" idx="3"/>
            <a:endCxn id="6" idx="1"/>
          </p:cNvCxnSpPr>
          <p:nvPr/>
        </p:nvCxnSpPr>
        <p:spPr>
          <a:xfrm flipV="1">
            <a:off x="3293053" y="2201983"/>
            <a:ext cx="502681" cy="14363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직사각형 119">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3" name="그룹 122"/>
          <p:cNvGrpSpPr/>
          <p:nvPr/>
        </p:nvGrpSpPr>
        <p:grpSpPr>
          <a:xfrm rot="5400000">
            <a:off x="755013" y="1640499"/>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타원 125"/>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타원 170">
            <a:extLst>
              <a:ext uri="{FF2B5EF4-FFF2-40B4-BE49-F238E27FC236}">
                <a16:creationId xmlns:a16="http://schemas.microsoft.com/office/drawing/2014/main" id="{37A7FF4F-0EAA-1463-560A-D5EC24416103}"/>
              </a:ext>
            </a:extLst>
          </p:cNvPr>
          <p:cNvSpPr/>
          <p:nvPr/>
        </p:nvSpPr>
        <p:spPr>
          <a:xfrm>
            <a:off x="3534491" y="205483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20" name="양쪽 모서리가 둥근 사각형 219"/>
          <p:cNvSpPr/>
          <p:nvPr/>
        </p:nvSpPr>
        <p:spPr>
          <a:xfrm>
            <a:off x="678736"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26" name="모서리가 둥근 직사각형 225"/>
          <p:cNvSpPr/>
          <p:nvPr/>
        </p:nvSpPr>
        <p:spPr>
          <a:xfrm>
            <a:off x="1764749"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31" name="그룹 230"/>
          <p:cNvGrpSpPr/>
          <p:nvPr/>
        </p:nvGrpSpPr>
        <p:grpSpPr>
          <a:xfrm>
            <a:off x="3167675" y="3182696"/>
            <a:ext cx="94010" cy="94010"/>
            <a:chOff x="6812560" y="3297172"/>
            <a:chExt cx="94010" cy="94010"/>
          </a:xfrm>
        </p:grpSpPr>
        <p:cxnSp>
          <p:nvCxnSpPr>
            <p:cNvPr id="232" name="직선 연결선 23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33" name="직선 연결선 23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34" name="TextBox 233">
            <a:extLst>
              <a:ext uri="{FF2B5EF4-FFF2-40B4-BE49-F238E27FC236}">
                <a16:creationId xmlns:a16="http://schemas.microsoft.com/office/drawing/2014/main" id="{FFC49AEA-2A8F-250C-A86A-A7751D9706C3}"/>
              </a:ext>
            </a:extLst>
          </p:cNvPr>
          <p:cNvSpPr txBox="1"/>
          <p:nvPr/>
        </p:nvSpPr>
        <p:spPr>
          <a:xfrm>
            <a:off x="807813"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237" name="직선 연결선 236">
            <a:extLst>
              <a:ext uri="{FF2B5EF4-FFF2-40B4-BE49-F238E27FC236}">
                <a16:creationId xmlns:a16="http://schemas.microsoft.com/office/drawing/2014/main" id="{E9293055-D5CD-4B9E-7F64-64B2D2CA7A52}"/>
              </a:ext>
            </a:extLst>
          </p:cNvPr>
          <p:cNvCxnSpPr/>
          <p:nvPr/>
        </p:nvCxnSpPr>
        <p:spPr>
          <a:xfrm>
            <a:off x="678736"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8" name="모서리가 둥근 직사각형 40">
            <a:extLst>
              <a:ext uri="{FF2B5EF4-FFF2-40B4-BE49-F238E27FC236}">
                <a16:creationId xmlns:a16="http://schemas.microsoft.com/office/drawing/2014/main" id="{3BE5C28A-F0C3-8BA2-3AC1-EFA405ADE137}"/>
              </a:ext>
            </a:extLst>
          </p:cNvPr>
          <p:cNvSpPr/>
          <p:nvPr/>
        </p:nvSpPr>
        <p:spPr bwMode="auto">
          <a:xfrm>
            <a:off x="771039" y="3516109"/>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입찰공고 출력</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239" name="사각형: 둥근 모서리 15">
            <a:extLst>
              <a:ext uri="{FF2B5EF4-FFF2-40B4-BE49-F238E27FC236}">
                <a16:creationId xmlns:a16="http://schemas.microsoft.com/office/drawing/2014/main" id="{E2B61CFB-AD16-68D0-8752-50D9C5E01971}"/>
              </a:ext>
            </a:extLst>
          </p:cNvPr>
          <p:cNvSpPr/>
          <p:nvPr/>
        </p:nvSpPr>
        <p:spPr>
          <a:xfrm>
            <a:off x="771039" y="5366702"/>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240" name="그룹 239">
            <a:extLst>
              <a:ext uri="{FF2B5EF4-FFF2-40B4-BE49-F238E27FC236}">
                <a16:creationId xmlns:a16="http://schemas.microsoft.com/office/drawing/2014/main" id="{22BC05EE-C648-7CA2-4CCC-6E1C1A7E9BDA}"/>
              </a:ext>
            </a:extLst>
          </p:cNvPr>
          <p:cNvGrpSpPr/>
          <p:nvPr/>
        </p:nvGrpSpPr>
        <p:grpSpPr>
          <a:xfrm>
            <a:off x="2015625" y="5815667"/>
            <a:ext cx="76863" cy="292489"/>
            <a:chOff x="3750067" y="4683795"/>
            <a:chExt cx="76863" cy="292489"/>
          </a:xfrm>
        </p:grpSpPr>
        <p:sp>
          <p:nvSpPr>
            <p:cNvPr id="241" name="타원 24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2" name="타원 241">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3" name="타원 242">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244" name="모서리가 둥근 직사각형 40">
            <a:extLst>
              <a:ext uri="{FF2B5EF4-FFF2-40B4-BE49-F238E27FC236}">
                <a16:creationId xmlns:a16="http://schemas.microsoft.com/office/drawing/2014/main" id="{3BE5C28A-F0C3-8BA2-3AC1-EFA405ADE137}"/>
              </a:ext>
            </a:extLst>
          </p:cNvPr>
          <p:cNvSpPr/>
          <p:nvPr/>
        </p:nvSpPr>
        <p:spPr bwMode="auto">
          <a:xfrm>
            <a:off x="771039" y="4086375"/>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 참가 신청</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nvGrpSpPr>
          <p:cNvPr id="245" name="그룹 244">
            <a:extLst>
              <a:ext uri="{FF2B5EF4-FFF2-40B4-BE49-F238E27FC236}">
                <a16:creationId xmlns:a16="http://schemas.microsoft.com/office/drawing/2014/main" id="{22BC05EE-C648-7CA2-4CCC-6E1C1A7E9BDA}"/>
              </a:ext>
            </a:extLst>
          </p:cNvPr>
          <p:cNvGrpSpPr/>
          <p:nvPr/>
        </p:nvGrpSpPr>
        <p:grpSpPr>
          <a:xfrm>
            <a:off x="2015625" y="4836009"/>
            <a:ext cx="76863" cy="292489"/>
            <a:chOff x="3750067" y="4683795"/>
            <a:chExt cx="76863" cy="292489"/>
          </a:xfrm>
        </p:grpSpPr>
        <p:sp>
          <p:nvSpPr>
            <p:cNvPr id="246" name="타원 24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7" name="타원 24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8" name="타원 24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249" name="직선 화살표 연결선 248"/>
          <p:cNvCxnSpPr>
            <a:stCxn id="244" idx="3"/>
            <a:endCxn id="230" idx="1"/>
          </p:cNvCxnSpPr>
          <p:nvPr/>
        </p:nvCxnSpPr>
        <p:spPr>
          <a:xfrm flipV="1">
            <a:off x="3293053" y="4088091"/>
            <a:ext cx="502681" cy="120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250" name="그룹 249"/>
          <p:cNvGrpSpPr/>
          <p:nvPr/>
        </p:nvGrpSpPr>
        <p:grpSpPr>
          <a:xfrm>
            <a:off x="8223250" y="569392"/>
            <a:ext cx="3365500" cy="634511"/>
            <a:chOff x="8223250" y="569392"/>
            <a:chExt cx="3365500" cy="634511"/>
          </a:xfrm>
        </p:grpSpPr>
        <p:sp>
          <p:nvSpPr>
            <p:cNvPr id="251" name="직사각형 250"/>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2026-08-12 </a:t>
              </a:r>
              <a:r>
                <a:rPr lang="ko-KR" altLang="en-US" dirty="0"/>
                <a:t>화면 </a:t>
              </a:r>
              <a:r>
                <a:rPr lang="ko-KR" altLang="en-US" dirty="0" smtClean="0"/>
                <a:t>추가</a:t>
              </a:r>
              <a:endParaRPr lang="ko-KR" altLang="en-US" dirty="0"/>
            </a:p>
          </p:txBody>
        </p:sp>
        <p:sp>
          <p:nvSpPr>
            <p:cNvPr id="252" name="직사각형 25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누락된 화면을 복구함</a:t>
              </a:r>
              <a:endParaRPr lang="ko-KR" altLang="en-US" sz="700" dirty="0"/>
            </a:p>
          </p:txBody>
        </p:sp>
      </p:grpSp>
      <p:sp>
        <p:nvSpPr>
          <p:cNvPr id="133" name="타원 132">
            <a:extLst>
              <a:ext uri="{FF2B5EF4-FFF2-40B4-BE49-F238E27FC236}">
                <a16:creationId xmlns:a16="http://schemas.microsoft.com/office/drawing/2014/main" id="{37A7FF4F-0EAA-1463-560A-D5EC24416103}"/>
              </a:ext>
            </a:extLst>
          </p:cNvPr>
          <p:cNvSpPr/>
          <p:nvPr/>
        </p:nvSpPr>
        <p:spPr>
          <a:xfrm>
            <a:off x="560508" y="35476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64" name="모서리가 둥근 직사각형 40">
            <a:extLst>
              <a:ext uri="{FF2B5EF4-FFF2-40B4-BE49-F238E27FC236}">
                <a16:creationId xmlns:a16="http://schemas.microsoft.com/office/drawing/2014/main" id="{3BE5C28A-F0C3-8BA2-3AC1-EFA405ADE137}"/>
              </a:ext>
            </a:extLst>
          </p:cNvPr>
          <p:cNvSpPr/>
          <p:nvPr/>
        </p:nvSpPr>
        <p:spPr bwMode="auto">
          <a:xfrm>
            <a:off x="771039" y="3800384"/>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사전심사</a:t>
            </a:r>
            <a:r>
              <a:rPr lang="en-US" altLang="ko-KR" sz="800" dirty="0" smtClean="0">
                <a:solidFill>
                  <a:schemeClr val="bg1"/>
                </a:solidFill>
                <a:latin typeface="맑은 고딕" panose="020B0503020000020004" pitchFamily="50" charset="-127"/>
              </a:rPr>
              <a:t>(PQ) </a:t>
            </a:r>
            <a:r>
              <a:rPr lang="ko-KR" altLang="en-US" sz="800" dirty="0" smtClean="0">
                <a:solidFill>
                  <a:schemeClr val="bg1"/>
                </a:solidFill>
                <a:latin typeface="맑은 고딕" panose="020B0503020000020004" pitchFamily="50" charset="-127"/>
              </a:rPr>
              <a:t>신청</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66" name="모서리가 둥근 직사각형 40">
            <a:extLst>
              <a:ext uri="{FF2B5EF4-FFF2-40B4-BE49-F238E27FC236}">
                <a16:creationId xmlns:a16="http://schemas.microsoft.com/office/drawing/2014/main" id="{3BE5C28A-F0C3-8BA2-3AC1-EFA405ADE137}"/>
              </a:ext>
            </a:extLst>
          </p:cNvPr>
          <p:cNvSpPr/>
          <p:nvPr/>
        </p:nvSpPr>
        <p:spPr bwMode="auto">
          <a:xfrm>
            <a:off x="771039" y="437451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입찰서</a:t>
            </a:r>
            <a:r>
              <a:rPr lang="en-US" altLang="ko-KR" sz="800" dirty="0" smtClean="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견적서</a:t>
            </a:r>
            <a:r>
              <a:rPr lang="en-US" altLang="ko-KR" sz="800" dirty="0" smtClean="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 작성</a:t>
            </a:r>
            <a:endParaRPr lang="ko-KR" altLang="en-US" sz="800" dirty="0">
              <a:solidFill>
                <a:schemeClr val="bg1"/>
              </a:solidFill>
              <a:latin typeface="맑은 고딕" panose="020B0503020000020004" pitchFamily="50" charset="-127"/>
              <a:ea typeface="맑은 고딕" panose="020B0503020000020004" pitchFamily="50" charset="-127"/>
            </a:endParaRPr>
          </a:p>
        </p:txBody>
      </p:sp>
      <p:cxnSp>
        <p:nvCxnSpPr>
          <p:cNvPr id="67" name="직선 화살표 연결선 66"/>
          <p:cNvCxnSpPr>
            <a:stCxn id="64" idx="3"/>
            <a:endCxn id="230" idx="1"/>
          </p:cNvCxnSpPr>
          <p:nvPr/>
        </p:nvCxnSpPr>
        <p:spPr>
          <a:xfrm>
            <a:off x="3293053" y="3922559"/>
            <a:ext cx="502681" cy="1655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0" name="직선 화살표 연결선 69"/>
          <p:cNvCxnSpPr>
            <a:stCxn id="66" idx="3"/>
            <a:endCxn id="230" idx="1"/>
          </p:cNvCxnSpPr>
          <p:nvPr/>
        </p:nvCxnSpPr>
        <p:spPr>
          <a:xfrm flipV="1">
            <a:off x="3293053" y="4088091"/>
            <a:ext cx="502681" cy="4086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23995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en-US" altLang="ko-KR" dirty="0"/>
              <a:t>OZ </a:t>
            </a:r>
            <a:r>
              <a:rPr lang="ko-KR" altLang="en-US" dirty="0"/>
              <a:t>리포트 호출 및 정보 표시</a:t>
            </a:r>
            <a:r>
              <a:rPr lang="en-US" altLang="ko-KR" dirty="0"/>
              <a:t/>
            </a:r>
            <a:br>
              <a:rPr lang="en-US" altLang="ko-KR" dirty="0"/>
            </a:br>
            <a:r>
              <a:rPr lang="en-US" altLang="ko-KR" dirty="0"/>
              <a:t>- PC </a:t>
            </a:r>
            <a:r>
              <a:rPr lang="ko-KR" altLang="en-US" dirty="0"/>
              <a:t>버전 </a:t>
            </a:r>
            <a:r>
              <a:rPr lang="ko-KR" altLang="en-US" dirty="0" err="1"/>
              <a:t>오즈리포트</a:t>
            </a:r>
            <a:r>
              <a:rPr lang="ko-KR" altLang="en-US" dirty="0"/>
              <a:t> 출력물</a:t>
            </a:r>
            <a:r>
              <a:rPr lang="en-US" altLang="ko-KR" dirty="0"/>
              <a:t>(A4)</a:t>
            </a:r>
            <a:r>
              <a:rPr lang="ko-KR" altLang="en-US" dirty="0"/>
              <a:t>과 동일</a:t>
            </a:r>
            <a:r>
              <a:rPr lang="en-US" altLang="ko-KR" dirty="0"/>
              <a:t/>
            </a:r>
            <a:br>
              <a:rPr lang="en-US" altLang="ko-KR" dirty="0"/>
            </a:br>
            <a:r>
              <a:rPr lang="en-US" altLang="ko-KR" dirty="0"/>
              <a:t/>
            </a:r>
            <a:br>
              <a:rPr lang="en-US" altLang="ko-KR" dirty="0"/>
            </a:br>
            <a:r>
              <a:rPr lang="en-US" altLang="ko-KR" dirty="0" smtClean="0"/>
              <a:t>- </a:t>
            </a:r>
            <a:r>
              <a:rPr lang="ko-KR" altLang="en-US" dirty="0" smtClean="0"/>
              <a:t>솔루션에 따름</a:t>
            </a:r>
            <a:r>
              <a:rPr lang="en-US" altLang="ko-KR" dirty="0" smtClean="0"/>
              <a:t/>
            </a:r>
            <a:br>
              <a:rPr lang="en-US" altLang="ko-KR" dirty="0" smtClean="0"/>
            </a:br>
            <a:r>
              <a:rPr lang="en-US" altLang="ko-KR" dirty="0" smtClean="0"/>
              <a:t>- </a:t>
            </a:r>
            <a:r>
              <a:rPr lang="ko-KR" altLang="en-US" dirty="0" smtClean="0"/>
              <a:t>인쇄물은 </a:t>
            </a:r>
            <a:r>
              <a:rPr lang="en-US" altLang="ko-KR" dirty="0" smtClean="0"/>
              <a:t>PC </a:t>
            </a:r>
            <a:r>
              <a:rPr lang="ko-KR" altLang="en-US" dirty="0" smtClean="0"/>
              <a:t>버전 아이디를 준용</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서류 출력 </a:t>
            </a:r>
            <a:r>
              <a:rPr lang="en-US" altLang="ko-KR" dirty="0">
                <a:latin typeface="+mn-ea"/>
              </a:rPr>
              <a:t>– OZ </a:t>
            </a:r>
            <a:r>
              <a:rPr lang="ko-KR" altLang="en-US" dirty="0">
                <a:latin typeface="+mn-ea"/>
              </a:rPr>
              <a:t>리포트</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출력이 가능한 화면에서 </a:t>
            </a:r>
            <a:r>
              <a:rPr lang="en-US" altLang="ko-KR" dirty="0"/>
              <a:t>OZ </a:t>
            </a:r>
            <a:r>
              <a:rPr lang="ko-KR" altLang="en-US" dirty="0"/>
              <a:t>리포트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서류 출력</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MUI-BD-01-R15</a:t>
            </a:r>
            <a:endParaRPr lang="ko-KR" altLang="en-US" dirty="0"/>
          </a:p>
        </p:txBody>
      </p:sp>
      <p:pic>
        <p:nvPicPr>
          <p:cNvPr id="14" name="그림 13">
            <a:extLst>
              <a:ext uri="{FF2B5EF4-FFF2-40B4-BE49-F238E27FC236}">
                <a16:creationId xmlns:a16="http://schemas.microsoft.com/office/drawing/2014/main" id="{531291D6-BE70-1C9E-8D39-775443999F75}"/>
              </a:ext>
            </a:extLst>
          </p:cNvPr>
          <p:cNvPicPr>
            <a:picLocks noChangeAspect="1"/>
          </p:cNvPicPr>
          <p:nvPr/>
        </p:nvPicPr>
        <p:blipFill>
          <a:blip r:embed="rId2"/>
          <a:stretch>
            <a:fillRect/>
          </a:stretch>
        </p:blipFill>
        <p:spPr>
          <a:xfrm>
            <a:off x="1229994" y="1580582"/>
            <a:ext cx="4648849" cy="4163006"/>
          </a:xfrm>
          <a:prstGeom prst="rect">
            <a:avLst/>
          </a:prstGeom>
        </p:spPr>
      </p:pic>
      <p:sp>
        <p:nvSpPr>
          <p:cNvPr id="9" name="타원 8">
            <a:extLst>
              <a:ext uri="{FF2B5EF4-FFF2-40B4-BE49-F238E27FC236}">
                <a16:creationId xmlns:a16="http://schemas.microsoft.com/office/drawing/2014/main" id="{37A7FF4F-0EAA-1463-560A-D5EC24416103}"/>
              </a:ext>
            </a:extLst>
          </p:cNvPr>
          <p:cNvSpPr/>
          <p:nvPr/>
        </p:nvSpPr>
        <p:spPr>
          <a:xfrm>
            <a:off x="573754" y="19505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5" name="그룹 14"/>
          <p:cNvGrpSpPr/>
          <p:nvPr/>
        </p:nvGrpSpPr>
        <p:grpSpPr>
          <a:xfrm>
            <a:off x="8223250" y="569392"/>
            <a:ext cx="3365500" cy="634511"/>
            <a:chOff x="8223250" y="569392"/>
            <a:chExt cx="3365500" cy="634511"/>
          </a:xfrm>
        </p:grpSpPr>
        <p:sp>
          <p:nvSpPr>
            <p:cNvPr id="16" name="직사각형 1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2026-08-12 </a:t>
              </a:r>
              <a:r>
                <a:rPr lang="ko-KR" altLang="en-US" dirty="0"/>
                <a:t>화면 </a:t>
              </a:r>
              <a:r>
                <a:rPr lang="ko-KR" altLang="en-US" dirty="0" smtClean="0"/>
                <a:t>추가</a:t>
              </a:r>
              <a:endParaRPr lang="ko-KR" altLang="en-US" dirty="0"/>
            </a:p>
          </p:txBody>
        </p:sp>
        <p:sp>
          <p:nvSpPr>
            <p:cNvPr id="17" name="직사각형 1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누락된 화면을 복구함</a:t>
              </a:r>
              <a:endParaRPr lang="ko-KR" altLang="en-US" sz="700" dirty="0"/>
            </a:p>
          </p:txBody>
        </p:sp>
      </p:grpSp>
    </p:spTree>
    <p:extLst>
      <p:ext uri="{BB962C8B-B14F-4D97-AF65-F5344CB8AC3E}">
        <p14:creationId xmlns:p14="http://schemas.microsoft.com/office/powerpoint/2010/main" val="28637056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078406" y="1483462"/>
            <a:ext cx="2300284" cy="4981517"/>
          </a:xfrm>
        </p:spPr>
        <p:txBody>
          <a:bodyPr/>
          <a:lstStyle/>
          <a:p>
            <a:pPr>
              <a:buFont typeface="+mj-lt"/>
              <a:buAutoNum type="arabicPeriod"/>
            </a:pPr>
            <a:r>
              <a:rPr lang="ko-KR" altLang="en-US" dirty="0"/>
              <a:t>공고 상세 일반 정보 </a:t>
            </a:r>
            <a:r>
              <a:rPr lang="ko-KR" altLang="en-US" dirty="0" smtClean="0"/>
              <a:t>영역</a:t>
            </a:r>
            <a:r>
              <a:rPr lang="en-US" altLang="ko-KR" dirty="0" smtClean="0"/>
              <a:t/>
            </a:r>
            <a:br>
              <a:rPr lang="en-US" altLang="ko-KR" dirty="0" smtClean="0"/>
            </a:br>
            <a:r>
              <a:rPr lang="ko-KR" altLang="en-US" dirty="0" smtClean="0"/>
              <a:t>* </a:t>
            </a:r>
            <a:r>
              <a:rPr lang="ko-KR" altLang="en-US" dirty="0" err="1" smtClean="0"/>
              <a:t>업무구분이</a:t>
            </a:r>
            <a:r>
              <a:rPr lang="ko-KR" altLang="en-US" dirty="0" smtClean="0"/>
              <a:t> 공사인 </a:t>
            </a:r>
            <a:r>
              <a:rPr lang="ko-KR" altLang="en-US" dirty="0"/>
              <a:t>경우</a:t>
            </a:r>
            <a:r>
              <a:rPr lang="en-US" altLang="ko-KR" dirty="0" smtClean="0"/>
              <a:t/>
            </a:r>
            <a:br>
              <a:rPr lang="en-US" altLang="ko-KR" dirty="0" smtClean="0"/>
            </a:br>
            <a:r>
              <a:rPr lang="en-US" altLang="ko-KR" dirty="0" smtClean="0"/>
              <a:t>- 1-1] </a:t>
            </a:r>
            <a:r>
              <a:rPr lang="ko-KR" altLang="en-US" dirty="0" smtClean="0"/>
              <a:t>사전심사</a:t>
            </a:r>
            <a:r>
              <a:rPr lang="en-US" altLang="ko-KR" dirty="0" smtClean="0"/>
              <a:t>, </a:t>
            </a:r>
            <a:r>
              <a:rPr lang="ko-KR" altLang="en-US" dirty="0" smtClean="0"/>
              <a:t>사전심사마감일시 노출</a:t>
            </a:r>
            <a:r>
              <a:rPr lang="en-US" altLang="ko-KR" dirty="0" smtClean="0"/>
              <a:t/>
            </a:r>
            <a:br>
              <a:rPr lang="en-US" altLang="ko-KR" dirty="0" smtClean="0"/>
            </a:br>
            <a:r>
              <a:rPr lang="en-US" altLang="ko-KR" dirty="0" smtClean="0"/>
              <a:t>- 1-2] </a:t>
            </a:r>
            <a:r>
              <a:rPr lang="ko-KR" altLang="en-US" dirty="0" smtClean="0"/>
              <a:t>현장설명회장소</a:t>
            </a:r>
            <a:r>
              <a:rPr lang="en-US" altLang="ko-KR" dirty="0" smtClean="0"/>
              <a:t>, </a:t>
            </a:r>
            <a:r>
              <a:rPr lang="ko-KR" altLang="en-US" dirty="0" smtClean="0"/>
              <a:t>현장설명회일시로 </a:t>
            </a:r>
            <a:r>
              <a:rPr lang="ko-KR" altLang="en-US" dirty="0"/>
              <a:t>항목 </a:t>
            </a:r>
            <a:r>
              <a:rPr lang="ko-KR" altLang="en-US" dirty="0" smtClean="0"/>
              <a:t>변경</a:t>
            </a:r>
            <a:r>
              <a:rPr lang="en-US" altLang="ko-KR" dirty="0" smtClean="0"/>
              <a:t/>
            </a:r>
            <a:br>
              <a:rPr lang="en-US" altLang="ko-KR" dirty="0" smtClean="0"/>
            </a:br>
            <a:r>
              <a:rPr lang="en-US" altLang="ko-KR" dirty="0" smtClean="0"/>
              <a:t/>
            </a:r>
            <a:br>
              <a:rPr lang="en-US" altLang="ko-KR" dirty="0" smtClean="0"/>
            </a:br>
            <a:r>
              <a:rPr lang="ko-KR" altLang="en-US" dirty="0" err="1" smtClean="0"/>
              <a:t>업무구분에</a:t>
            </a:r>
            <a:r>
              <a:rPr lang="ko-KR" altLang="en-US" dirty="0" smtClean="0"/>
              <a:t> </a:t>
            </a:r>
            <a:r>
              <a:rPr lang="ko-KR" altLang="en-US" dirty="0"/>
              <a:t>따라 </a:t>
            </a:r>
            <a:r>
              <a:rPr lang="en-US" altLang="ko-KR" dirty="0"/>
              <a:t>(</a:t>
            </a:r>
            <a:r>
              <a:rPr lang="ko-KR" altLang="en-US" dirty="0"/>
              <a:t>물품 </a:t>
            </a:r>
            <a:r>
              <a:rPr lang="en-US" altLang="ko-KR" dirty="0"/>
              <a:t>/ </a:t>
            </a:r>
            <a:r>
              <a:rPr lang="ko-KR" altLang="en-US" dirty="0"/>
              <a:t>공사</a:t>
            </a:r>
            <a:r>
              <a:rPr lang="en-US" altLang="ko-KR" dirty="0"/>
              <a:t>) </a:t>
            </a:r>
            <a:r>
              <a:rPr lang="ko-KR" altLang="en-US" dirty="0"/>
              <a:t>정보</a:t>
            </a:r>
            <a:r>
              <a:rPr lang="en-US" altLang="ko-KR" dirty="0"/>
              <a:t/>
            </a:r>
            <a:br>
              <a:rPr lang="en-US" altLang="ko-KR" dirty="0"/>
            </a:br>
            <a:r>
              <a:rPr lang="en-US" altLang="ko-KR" dirty="0"/>
              <a:t>- </a:t>
            </a:r>
            <a:r>
              <a:rPr lang="ko-KR" altLang="en-US" dirty="0" err="1"/>
              <a:t>입찰건명</a:t>
            </a:r>
            <a:r>
              <a:rPr lang="ko-KR" altLang="en-US" dirty="0"/>
              <a:t> </a:t>
            </a:r>
            <a:r>
              <a:rPr lang="en-US" altLang="ko-KR" dirty="0"/>
              <a:t>/ </a:t>
            </a:r>
            <a:r>
              <a:rPr lang="ko-KR" altLang="en-US" dirty="0" err="1"/>
              <a:t>공사명</a:t>
            </a:r>
            <a:r>
              <a:rPr lang="en-US" altLang="ko-KR" dirty="0"/>
              <a:t/>
            </a:r>
            <a:br>
              <a:rPr lang="en-US" altLang="ko-KR" dirty="0"/>
            </a:br>
            <a:r>
              <a:rPr lang="en-US" altLang="ko-KR" dirty="0"/>
              <a:t>- </a:t>
            </a:r>
            <a:r>
              <a:rPr lang="ko-KR" altLang="en-US" dirty="0" err="1"/>
              <a:t>판단번호</a:t>
            </a:r>
            <a:r>
              <a:rPr lang="ko-KR" altLang="en-US" dirty="0"/>
              <a:t> </a:t>
            </a:r>
            <a:r>
              <a:rPr lang="en-US" altLang="ko-KR" dirty="0"/>
              <a:t>/ </a:t>
            </a:r>
            <a:r>
              <a:rPr lang="ko-KR" altLang="en-US" dirty="0" err="1"/>
              <a:t>공사번호</a:t>
            </a:r>
            <a:r>
              <a:rPr lang="en-US" altLang="ko-KR" dirty="0"/>
              <a:t/>
            </a:r>
            <a:br>
              <a:rPr lang="en-US" altLang="ko-KR" dirty="0"/>
            </a:br>
            <a:r>
              <a:rPr lang="en-US" altLang="ko-KR" dirty="0"/>
              <a:t>- </a:t>
            </a:r>
            <a:r>
              <a:rPr lang="ko-KR" altLang="en-US" dirty="0" err="1"/>
              <a:t>집행유형</a:t>
            </a:r>
            <a:r>
              <a:rPr lang="ko-KR" altLang="en-US" dirty="0"/>
              <a:t> </a:t>
            </a:r>
            <a:r>
              <a:rPr lang="en-US" altLang="ko-KR" dirty="0"/>
              <a:t>/ </a:t>
            </a:r>
            <a:r>
              <a:rPr lang="ko-KR" altLang="en-US" dirty="0" err="1"/>
              <a:t>공사구분</a:t>
            </a:r>
            <a:r>
              <a:rPr lang="en-US" altLang="ko-KR" dirty="0"/>
              <a:t/>
            </a:r>
            <a:br>
              <a:rPr lang="en-US" altLang="ko-KR" dirty="0"/>
            </a:br>
            <a:r>
              <a:rPr lang="en-US" altLang="ko-KR" dirty="0"/>
              <a:t>- </a:t>
            </a:r>
            <a:r>
              <a:rPr lang="ko-KR" altLang="en-US" dirty="0" err="1"/>
              <a:t>개찰일시</a:t>
            </a:r>
            <a:r>
              <a:rPr lang="ko-KR" altLang="en-US" dirty="0"/>
              <a:t> </a:t>
            </a:r>
            <a:r>
              <a:rPr lang="en-US" altLang="ko-KR" dirty="0"/>
              <a:t>/ </a:t>
            </a:r>
            <a:r>
              <a:rPr lang="ko-KR" altLang="en-US" dirty="0" err="1"/>
              <a:t>입찰일시</a:t>
            </a:r>
            <a:r>
              <a:rPr lang="en-US" altLang="ko-KR" dirty="0"/>
              <a:t/>
            </a:r>
            <a:br>
              <a:rPr lang="en-US" altLang="ko-KR" dirty="0"/>
            </a:br>
            <a:r>
              <a:rPr lang="en-US" altLang="ko-KR" dirty="0"/>
              <a:t>- (</a:t>
            </a:r>
            <a:r>
              <a:rPr lang="ko-KR" altLang="en-US" dirty="0"/>
              <a:t>총수량</a:t>
            </a:r>
            <a:r>
              <a:rPr lang="en-US" altLang="ko-KR" dirty="0"/>
              <a:t>/</a:t>
            </a:r>
            <a:r>
              <a:rPr lang="ko-KR" altLang="en-US" dirty="0" err="1"/>
              <a:t>단가제유형</a:t>
            </a:r>
            <a:r>
              <a:rPr lang="en-US" altLang="ko-KR" dirty="0"/>
              <a:t>) / </a:t>
            </a:r>
            <a:r>
              <a:rPr lang="ko-KR" altLang="en-US" dirty="0"/>
              <a:t>사전심사</a:t>
            </a:r>
            <a:r>
              <a:rPr lang="en-US" altLang="ko-KR" dirty="0"/>
              <a:t/>
            </a:r>
            <a:br>
              <a:rPr lang="en-US" altLang="ko-KR" dirty="0"/>
            </a:br>
            <a:r>
              <a:rPr lang="en-US" altLang="ko-KR" dirty="0"/>
              <a:t>- </a:t>
            </a:r>
            <a:r>
              <a:rPr lang="ko-KR" altLang="en-US" dirty="0" err="1"/>
              <a:t>입찰방법이</a:t>
            </a:r>
            <a:r>
              <a:rPr lang="ko-KR" altLang="en-US" dirty="0"/>
              <a:t> </a:t>
            </a:r>
            <a:r>
              <a:rPr lang="en-US" altLang="ko-KR" dirty="0"/>
              <a:t>‘B(</a:t>
            </a:r>
            <a:r>
              <a:rPr lang="ko-KR" altLang="en-US" dirty="0" err="1"/>
              <a:t>단가제</a:t>
            </a:r>
            <a:r>
              <a:rPr lang="en-US" altLang="ko-KR" dirty="0"/>
              <a:t>)’</a:t>
            </a:r>
            <a:r>
              <a:rPr lang="ko-KR" altLang="en-US" dirty="0"/>
              <a:t>인 경우 </a:t>
            </a:r>
            <a:r>
              <a:rPr lang="ko-KR" altLang="en-US" dirty="0" err="1"/>
              <a:t>단가제유형</a:t>
            </a:r>
            <a:r>
              <a:rPr lang="en-US" altLang="ko-KR" dirty="0"/>
              <a:t>, </a:t>
            </a:r>
            <a:r>
              <a:rPr lang="ko-KR" altLang="en-US" dirty="0"/>
              <a:t>그 외 총수량</a:t>
            </a:r>
            <a:r>
              <a:rPr lang="en-US" altLang="ko-KR" dirty="0"/>
              <a:t/>
            </a:r>
            <a:br>
              <a:rPr lang="en-US" altLang="ko-KR" dirty="0"/>
            </a:br>
            <a:r>
              <a:rPr lang="en-US" altLang="ko-KR" dirty="0"/>
              <a:t>- </a:t>
            </a:r>
            <a:r>
              <a:rPr lang="ko-KR" altLang="en-US" dirty="0"/>
              <a:t>입찰방법</a:t>
            </a:r>
            <a:r>
              <a:rPr lang="en-US" altLang="ko-KR" dirty="0"/>
              <a:t>(BDTC)</a:t>
            </a:r>
            <a:r>
              <a:rPr lang="ko-KR" altLang="en-US" dirty="0"/>
              <a:t>이 </a:t>
            </a:r>
            <a:r>
              <a:rPr lang="en-US" altLang="ko-KR" dirty="0"/>
              <a:t>‘H(</a:t>
            </a:r>
            <a:r>
              <a:rPr lang="ko-KR" altLang="en-US" dirty="0" err="1"/>
              <a:t>내역입찰</a:t>
            </a:r>
            <a:r>
              <a:rPr lang="en-US" altLang="ko-KR" dirty="0"/>
              <a:t>(</a:t>
            </a:r>
            <a:r>
              <a:rPr lang="ko-KR" altLang="en-US" dirty="0"/>
              <a:t>설계시공일괄입찰</a:t>
            </a:r>
            <a:r>
              <a:rPr lang="en-US" altLang="ko-KR" dirty="0"/>
              <a:t>))’</a:t>
            </a:r>
            <a:r>
              <a:rPr lang="ko-KR" altLang="en-US" dirty="0"/>
              <a:t>인 경우 </a:t>
            </a:r>
            <a:r>
              <a:rPr lang="en-US" altLang="ko-KR" dirty="0"/>
              <a:t>‘</a:t>
            </a:r>
            <a:r>
              <a:rPr lang="ko-KR" altLang="en-US" dirty="0" err="1"/>
              <a:t>낙찰자기준</a:t>
            </a:r>
            <a:r>
              <a:rPr lang="en-US" altLang="ko-KR" dirty="0"/>
              <a:t>’ </a:t>
            </a:r>
            <a:r>
              <a:rPr lang="ko-KR" altLang="en-US" dirty="0"/>
              <a:t>보이기</a:t>
            </a:r>
            <a:r>
              <a:rPr lang="en-US" altLang="ko-KR" dirty="0"/>
              <a:t>, </a:t>
            </a:r>
            <a:r>
              <a:rPr lang="ko-KR" altLang="en-US" dirty="0"/>
              <a:t>그 외 숨기기</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표기</a:t>
            </a:r>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smtClean="0">
                <a:latin typeface="+mn-ea"/>
              </a:rPr>
              <a:t>입찰공고상세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일반정보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입찰공고상세 </a:t>
            </a:r>
            <a:r>
              <a:rPr lang="en-US" altLang="ko-KR" dirty="0">
                <a:latin typeface="+mn-ea"/>
              </a:rPr>
              <a:t>- </a:t>
            </a:r>
            <a:r>
              <a:rPr lang="ko-KR" altLang="en-US" dirty="0" smtClean="0">
                <a:latin typeface="+mn-ea"/>
              </a:rPr>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4704303"/>
            <a:chOff x="701175" y="1527996"/>
            <a:chExt cx="2660475" cy="47043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b="1"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430887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입찰형태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err="1">
                  <a:latin typeface="+mn-ea"/>
                </a:rPr>
                <a:t>단가제유형</a:t>
              </a:r>
              <a:endParaRPr lang="en-US" altLang="ko-KR" sz="700" dirty="0">
                <a:latin typeface="+mn-ea"/>
              </a:endParaRPr>
            </a:p>
            <a:p>
              <a:pPr>
                <a:lnSpc>
                  <a:spcPct val="200000"/>
                </a:lnSpc>
              </a:pPr>
              <a:r>
                <a:rPr lang="ko-KR" altLang="en-US" sz="700" dirty="0">
                  <a:latin typeface="+mn-ea"/>
                </a:rPr>
                <a:t>사전심사</a:t>
              </a:r>
              <a:endParaRPr lang="en-US" altLang="ko-KR" sz="700" dirty="0">
                <a:latin typeface="+mn-ea"/>
              </a:endParaRPr>
            </a:p>
            <a:p>
              <a:pPr>
                <a:lnSpc>
                  <a:spcPct val="200000"/>
                </a:lnSpc>
              </a:pPr>
              <a:r>
                <a:rPr lang="ko-KR" altLang="en-US" sz="700" dirty="0">
                  <a:latin typeface="+mn-ea"/>
                </a:rPr>
                <a:t>사전심사마감일시</a:t>
              </a:r>
              <a:endParaRPr lang="en-US" altLang="ko-KR" sz="700" dirty="0">
                <a:latin typeface="+mn-ea"/>
              </a:endParaRPr>
            </a:p>
            <a:p>
              <a:pPr>
                <a:lnSpc>
                  <a:spcPct val="200000"/>
                </a:lnSpc>
              </a:pPr>
              <a:r>
                <a:rPr lang="ko-KR" altLang="en-US" sz="700" dirty="0" err="1">
                  <a:latin typeface="+mn-ea"/>
                </a:rPr>
                <a:t>계약종류</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a:p>
              <a:pPr>
                <a:lnSpc>
                  <a:spcPct val="200000"/>
                </a:lnSpc>
              </a:pPr>
              <a:r>
                <a:rPr lang="ko-KR" altLang="en-US" sz="700" dirty="0">
                  <a:latin typeface="+mn-ea"/>
                </a:rPr>
                <a:t>적격심사여부</a:t>
              </a:r>
              <a:endParaRPr lang="en-US" altLang="ko-KR" sz="700" dirty="0">
                <a:latin typeface="+mn-ea"/>
              </a:endParaRPr>
            </a:p>
            <a:p>
              <a:pPr>
                <a:lnSpc>
                  <a:spcPct val="200000"/>
                </a:lnSpc>
              </a:pPr>
              <a:r>
                <a:rPr lang="ko-KR" altLang="en-US" sz="700" dirty="0">
                  <a:latin typeface="+mn-ea"/>
                </a:rPr>
                <a:t>사업설명회장소</a:t>
              </a:r>
              <a:endParaRPr lang="en-US" altLang="ko-KR" sz="700" dirty="0">
                <a:latin typeface="+mn-ea"/>
              </a:endParaRPr>
            </a:p>
            <a:p>
              <a:pPr>
                <a:lnSpc>
                  <a:spcPct val="200000"/>
                </a:lnSpc>
              </a:pPr>
              <a:r>
                <a:rPr lang="ko-KR" altLang="en-US" sz="700" dirty="0">
                  <a:latin typeface="+mn-ea"/>
                </a:rPr>
                <a:t>사업설명회일시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814470" cy="4308872"/>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2025LDG56349</a:t>
              </a:r>
            </a:p>
            <a:p>
              <a:pPr>
                <a:lnSpc>
                  <a:spcPct val="200000"/>
                </a:lnSpc>
              </a:pPr>
              <a:r>
                <a:rPr lang="en-US" altLang="ko-KR" sz="700" dirty="0">
                  <a:latin typeface="+mn-ea"/>
                </a:rPr>
                <a:t>1 AY</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제한경쟁</a:t>
              </a:r>
              <a:endParaRPr lang="en-US" altLang="ko-KR" sz="700" dirty="0">
                <a:latin typeface="+mn-ea"/>
              </a:endParaRPr>
            </a:p>
            <a:p>
              <a:pPr>
                <a:lnSpc>
                  <a:spcPct val="200000"/>
                </a:lnSpc>
              </a:pPr>
              <a:r>
                <a:rPr lang="ko-KR" altLang="en-US" sz="700" dirty="0" err="1">
                  <a:latin typeface="+mn-ea"/>
                </a:rPr>
                <a:t>총액제</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a:p>
              <a:pPr>
                <a:lnSpc>
                  <a:spcPct val="200000"/>
                </a:lnSpc>
              </a:pPr>
              <a:r>
                <a:rPr lang="ko-KR" altLang="en-US" sz="700" dirty="0">
                  <a:latin typeface="+mn-ea"/>
                </a:rPr>
                <a:t>대상</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p:txBody>
        </p:sp>
        <p:grpSp>
          <p:nvGrpSpPr>
            <p:cNvPr id="17" name="그룹 16"/>
            <p:cNvGrpSpPr/>
            <p:nvPr/>
          </p:nvGrpSpPr>
          <p:grpSpPr>
            <a:xfrm>
              <a:off x="701175" y="1835481"/>
              <a:ext cx="2630093" cy="4292023"/>
              <a:chOff x="701175" y="1835481"/>
              <a:chExt cx="2630093" cy="4292023"/>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03268" y="56980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59127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6127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97" name="직사각형 196"/>
          <p:cNvSpPr/>
          <p:nvPr/>
        </p:nvSpPr>
        <p:spPr>
          <a:xfrm>
            <a:off x="3823602" y="1493785"/>
            <a:ext cx="1008278" cy="473851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889499" y="1493784"/>
            <a:ext cx="893348" cy="4739759"/>
          </a:xfrm>
          <a:prstGeom prst="rect">
            <a:avLst/>
          </a:prstGeom>
          <a:noFill/>
        </p:spPr>
        <p:txBody>
          <a:bodyPr wrap="square" lIns="0" tIns="0" rIns="0" bIns="0" rtlCol="0">
            <a:spAutoFit/>
          </a:bodyPr>
          <a:lstStyle/>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추정가격</a:t>
            </a:r>
            <a:endParaRPr lang="en-US" altLang="ko-KR" sz="700" dirty="0">
              <a:latin typeface="+mn-ea"/>
            </a:endParaRPr>
          </a:p>
          <a:p>
            <a:pPr>
              <a:lnSpc>
                <a:spcPct val="200000"/>
              </a:lnSpc>
            </a:pPr>
            <a:r>
              <a:rPr lang="ko-KR" altLang="en-US" sz="700" dirty="0">
                <a:latin typeface="+mn-ea"/>
              </a:rPr>
              <a:t>생산능력제출마감일시</a:t>
            </a:r>
            <a:endParaRPr lang="en-US" altLang="ko-KR" sz="700" dirty="0">
              <a:latin typeface="+mn-ea"/>
            </a:endParaRPr>
          </a:p>
          <a:p>
            <a:pPr>
              <a:lnSpc>
                <a:spcPct val="200000"/>
              </a:lnSpc>
            </a:pPr>
            <a:r>
              <a:rPr lang="ko-KR" altLang="en-US" sz="700" dirty="0" err="1">
                <a:latin typeface="+mn-ea"/>
              </a:rPr>
              <a:t>입찰참가등록마감일시</a:t>
            </a:r>
            <a:endParaRPr lang="en-US" altLang="ko-KR" sz="700" dirty="0">
              <a:latin typeface="+mn-ea"/>
            </a:endParaRPr>
          </a:p>
          <a:p>
            <a:pPr>
              <a:lnSpc>
                <a:spcPct val="200000"/>
              </a:lnSpc>
            </a:pPr>
            <a:r>
              <a:rPr lang="ko-KR" altLang="en-US" sz="700" dirty="0">
                <a:latin typeface="+mn-ea"/>
              </a:rPr>
              <a:t>입찰서제출마감일시</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err="1">
                <a:latin typeface="+mn-ea"/>
              </a:rPr>
              <a:t>입찰장소</a:t>
            </a:r>
            <a:endParaRPr lang="en-US" altLang="ko-KR" sz="700" dirty="0">
              <a:latin typeface="+mn-ea"/>
            </a:endParaRPr>
          </a:p>
          <a:p>
            <a:pPr>
              <a:lnSpc>
                <a:spcPct val="200000"/>
              </a:lnSpc>
            </a:pPr>
            <a:r>
              <a:rPr lang="ko-KR" altLang="en-US" sz="700" dirty="0">
                <a:latin typeface="+mn-ea"/>
              </a:rPr>
              <a:t>등록심사시점</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기초예가적용여부</a:t>
            </a:r>
            <a:endParaRPr lang="en-US" altLang="ko-KR" sz="700" dirty="0">
              <a:latin typeface="+mn-ea"/>
            </a:endParaRPr>
          </a:p>
          <a:p>
            <a:pPr>
              <a:lnSpc>
                <a:spcPct val="200000"/>
              </a:lnSpc>
            </a:pPr>
            <a:r>
              <a:rPr lang="en-US" altLang="ko-KR" sz="700" dirty="0">
                <a:latin typeface="+mn-ea"/>
              </a:rPr>
              <a:t>G2B</a:t>
            </a: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a:latin typeface="+mn-ea"/>
              </a:rPr>
              <a:t>복수업체연구개발대상</a:t>
            </a:r>
            <a:endParaRPr lang="en-US" altLang="ko-KR" sz="700" dirty="0">
              <a:latin typeface="+mn-ea"/>
            </a:endParaRPr>
          </a:p>
          <a:p>
            <a:pPr>
              <a:lnSpc>
                <a:spcPct val="200000"/>
              </a:lnSpc>
            </a:pPr>
            <a:r>
              <a:rPr lang="ko-KR" altLang="en-US" sz="700" dirty="0">
                <a:latin typeface="+mn-ea"/>
              </a:rPr>
              <a:t>산업분류번호</a:t>
            </a:r>
            <a:endParaRPr lang="en-US" altLang="ko-KR" sz="700" dirty="0">
              <a:latin typeface="+mn-ea"/>
            </a:endParaRPr>
          </a:p>
          <a:p>
            <a:pPr>
              <a:lnSpc>
                <a:spcPct val="200000"/>
              </a:lnSpc>
            </a:pPr>
            <a:r>
              <a:rPr lang="ko-KR" altLang="en-US" sz="700" dirty="0">
                <a:latin typeface="+mn-ea"/>
              </a:rPr>
              <a:t>신기술공고여부</a:t>
            </a:r>
            <a:endParaRPr lang="en-US" altLang="ko-KR" sz="700" dirty="0">
              <a:latin typeface="+mn-ea"/>
            </a:endParaRPr>
          </a:p>
          <a:p>
            <a:pPr>
              <a:lnSpc>
                <a:spcPct val="200000"/>
              </a:lnSpc>
            </a:pPr>
            <a:r>
              <a:rPr lang="ko-KR" altLang="en-US" sz="700" dirty="0">
                <a:latin typeface="+mn-ea"/>
              </a:rPr>
              <a:t>공동도급이행방식</a:t>
            </a:r>
            <a:endParaRPr lang="en-US" altLang="ko-KR" sz="700" dirty="0">
              <a:latin typeface="+mn-ea"/>
            </a:endParaRPr>
          </a:p>
          <a:p>
            <a:pPr>
              <a:lnSpc>
                <a:spcPct val="200000"/>
              </a:lnSpc>
            </a:pPr>
            <a:r>
              <a:rPr lang="ko-KR" altLang="en-US" sz="700" dirty="0">
                <a:latin typeface="+mn-ea"/>
              </a:rPr>
              <a:t>하한</a:t>
            </a:r>
            <a:r>
              <a:rPr lang="en-US" altLang="ko-KR" sz="700" dirty="0">
                <a:latin typeface="+mn-ea"/>
              </a:rPr>
              <a:t>(%)</a:t>
            </a:r>
          </a:p>
          <a:p>
            <a:pPr>
              <a:lnSpc>
                <a:spcPct val="200000"/>
              </a:lnSpc>
            </a:pPr>
            <a:r>
              <a:rPr lang="ko-KR" altLang="en-US" sz="700" dirty="0">
                <a:latin typeface="+mn-ea"/>
              </a:rPr>
              <a:t>상한</a:t>
            </a:r>
            <a:r>
              <a:rPr lang="en-US" altLang="ko-KR" sz="700" dirty="0">
                <a:latin typeface="+mn-ea"/>
              </a:rPr>
              <a:t>(%)</a:t>
            </a:r>
          </a:p>
          <a:p>
            <a:pPr>
              <a:lnSpc>
                <a:spcPct val="200000"/>
              </a:lnSpc>
            </a:pPr>
            <a:r>
              <a:rPr lang="ko-KR" altLang="en-US" sz="700" dirty="0" err="1">
                <a:latin typeface="+mn-ea"/>
              </a:rPr>
              <a:t>낙찰하한율</a:t>
            </a:r>
            <a:r>
              <a:rPr lang="en-US" altLang="ko-KR" sz="700" dirty="0" smtClean="0">
                <a:latin typeface="+mn-ea"/>
              </a:rPr>
              <a:t>(%)</a:t>
            </a:r>
          </a:p>
          <a:p>
            <a:pPr>
              <a:lnSpc>
                <a:spcPct val="200000"/>
              </a:lnSpc>
            </a:pPr>
            <a:r>
              <a:rPr lang="ko-KR" altLang="en-US" sz="700" dirty="0" err="1" smtClean="0">
                <a:latin typeface="+mn-ea"/>
              </a:rPr>
              <a:t>제한지역명</a:t>
            </a:r>
            <a:endParaRPr lang="en-US" altLang="ko-KR" sz="700" dirty="0" smtClean="0">
              <a:latin typeface="+mn-ea"/>
            </a:endParaRPr>
          </a:p>
          <a:p>
            <a:pPr>
              <a:lnSpc>
                <a:spcPct val="200000"/>
              </a:lnSpc>
            </a:pPr>
            <a:r>
              <a:rPr lang="ko-KR" altLang="en-US" sz="700" dirty="0" err="1" smtClean="0">
                <a:latin typeface="+mn-ea"/>
              </a:rPr>
              <a:t>제한면허명</a:t>
            </a:r>
            <a:endParaRPr lang="en-US" altLang="ko-KR" sz="700" dirty="0" smtClean="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865744" y="1493784"/>
            <a:ext cx="1619722" cy="4739759"/>
          </a:xfrm>
          <a:prstGeom prst="rect">
            <a:avLst/>
          </a:prstGeom>
          <a:noFill/>
        </p:spPr>
        <p:txBody>
          <a:bodyPr wrap="square" lIns="0" tIns="0" rIns="0" bIns="0" rtlCol="0">
            <a:spAutoFit/>
          </a:bodyPr>
          <a:lstStyle/>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563,200,000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해당없음</a:t>
            </a:r>
            <a:endParaRPr lang="en-US" altLang="ko-KR" sz="700" dirty="0">
              <a:latin typeface="+mn-ea"/>
            </a:endParaRPr>
          </a:p>
          <a:p>
            <a:pPr>
              <a:lnSpc>
                <a:spcPct val="200000"/>
              </a:lnSpc>
            </a:pPr>
            <a:r>
              <a:rPr lang="en-US" altLang="ko-KR" sz="700" dirty="0">
                <a:latin typeface="+mn-ea"/>
              </a:rPr>
              <a:t>2025-12-23 17:00</a:t>
            </a:r>
          </a:p>
          <a:p>
            <a:pPr>
              <a:lnSpc>
                <a:spcPct val="200000"/>
              </a:lnSpc>
            </a:pPr>
            <a:r>
              <a:rPr lang="en-US" altLang="ko-KR" sz="700" dirty="0">
                <a:latin typeface="+mn-ea"/>
              </a:rPr>
              <a:t>2025-12-24 10:00</a:t>
            </a:r>
          </a:p>
          <a:p>
            <a:pPr>
              <a:lnSpc>
                <a:spcPct val="200000"/>
              </a:lnSpc>
            </a:pPr>
            <a:r>
              <a:rPr lang="en-US" altLang="ko-KR" sz="700" dirty="0">
                <a:latin typeface="+mn-ea"/>
              </a:rPr>
              <a:t>2025-12-24 10:30</a:t>
            </a:r>
          </a:p>
          <a:p>
            <a:pPr>
              <a:lnSpc>
                <a:spcPct val="200000"/>
              </a:lnSpc>
            </a:pPr>
            <a:r>
              <a:rPr lang="ko-KR" altLang="en-US" sz="700" dirty="0" smtClean="0">
                <a:latin typeface="+mn-ea"/>
              </a:rPr>
              <a:t>국방전자조달시스템</a:t>
            </a:r>
            <a:endParaRPr lang="en-US" altLang="ko-KR" sz="700" dirty="0" smtClean="0">
              <a:latin typeface="+mn-ea"/>
            </a:endParaRPr>
          </a:p>
          <a:p>
            <a:pPr>
              <a:lnSpc>
                <a:spcPct val="200000"/>
              </a:lnSpc>
            </a:pPr>
            <a:r>
              <a:rPr lang="ko-KR" altLang="en-US" sz="700" dirty="0">
                <a:latin typeface="+mn-ea"/>
              </a:rPr>
              <a:t>입찰참가등록 후 </a:t>
            </a:r>
            <a:r>
              <a:rPr lang="ko-KR" altLang="en-US" sz="700" dirty="0" err="1">
                <a:latin typeface="+mn-ea"/>
              </a:rPr>
              <a:t>등록심사</a:t>
            </a:r>
            <a:r>
              <a:rPr lang="ko-KR" altLang="en-US" sz="700" dirty="0">
                <a:latin typeface="+mn-ea"/>
              </a:rPr>
              <a:t> 없이 </a:t>
            </a:r>
            <a:r>
              <a:rPr lang="ko-KR" altLang="en-US" sz="700" dirty="0" err="1">
                <a:latin typeface="+mn-ea"/>
              </a:rPr>
              <a:t>입찰서제출</a:t>
            </a:r>
            <a:r>
              <a:rPr lang="ko-KR" altLang="en-US" sz="700" dirty="0">
                <a:latin typeface="+mn-ea"/>
              </a:rPr>
              <a:t> </a:t>
            </a:r>
            <a:r>
              <a:rPr lang="en-US" altLang="ko-KR" sz="700" dirty="0">
                <a:latin typeface="+mn-ea"/>
              </a:rPr>
              <a:t>(</a:t>
            </a:r>
            <a:r>
              <a:rPr lang="ko-KR" altLang="en-US" sz="700" dirty="0" err="1">
                <a:latin typeface="+mn-ea"/>
              </a:rPr>
              <a:t>등록심사는</a:t>
            </a:r>
            <a:r>
              <a:rPr lang="ko-KR" altLang="en-US" sz="700" dirty="0">
                <a:latin typeface="+mn-ea"/>
              </a:rPr>
              <a:t> 입찰서제출마감 후 실시</a:t>
            </a:r>
            <a:r>
              <a:rPr lang="en-US" altLang="ko-KR" sz="700" dirty="0">
                <a:latin typeface="+mn-ea"/>
              </a:rPr>
              <a:t>) (</a:t>
            </a:r>
            <a:r>
              <a:rPr lang="ko-KR" altLang="en-US" sz="700" dirty="0">
                <a:latin typeface="+mn-ea"/>
              </a:rPr>
              <a:t>등록심사시점은 개찰 후 입찰등록 심사로 변경될 수 있음</a:t>
            </a:r>
            <a:r>
              <a:rPr lang="en-US" altLang="ko-KR" sz="700" dirty="0">
                <a:latin typeface="+mn-ea"/>
              </a:rPr>
              <a:t>)</a:t>
            </a:r>
          </a:p>
          <a:p>
            <a:pPr>
              <a:lnSpc>
                <a:spcPct val="200000"/>
              </a:lnSpc>
            </a:pPr>
            <a:r>
              <a:rPr lang="ko-KR" altLang="en-US" sz="700" dirty="0">
                <a:latin typeface="+mn-ea"/>
              </a:rPr>
              <a:t>적용</a:t>
            </a:r>
            <a:endParaRPr lang="en-US" altLang="ko-KR" sz="700" dirty="0">
              <a:latin typeface="+mn-ea"/>
            </a:endParaRPr>
          </a:p>
          <a:p>
            <a:pPr>
              <a:lnSpc>
                <a:spcPct val="200000"/>
              </a:lnSpc>
            </a:pPr>
            <a:r>
              <a:rPr lang="en-US" altLang="ko-KR" sz="700" dirty="0">
                <a:latin typeface="+mn-ea"/>
              </a:rPr>
              <a:t>2025LDG56349-01</a:t>
            </a:r>
          </a:p>
          <a:p>
            <a:pPr>
              <a:lnSpc>
                <a:spcPct val="200000"/>
              </a:lnSpc>
            </a:pPr>
            <a:r>
              <a:rPr lang="ko-KR" altLang="en-US" sz="700" dirty="0">
                <a:latin typeface="+mn-ea"/>
              </a:rPr>
              <a:t>비대상</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비대상</a:t>
            </a:r>
            <a:endParaRPr lang="en-US" altLang="ko-KR" sz="700" dirty="0">
              <a:latin typeface="+mn-ea"/>
            </a:endParaRPr>
          </a:p>
          <a:p>
            <a:pPr>
              <a:lnSpc>
                <a:spcPct val="200000"/>
              </a:lnSpc>
            </a:pPr>
            <a:r>
              <a:rPr lang="ko-KR" altLang="en-US" sz="700" dirty="0">
                <a:latin typeface="+mn-ea"/>
              </a:rPr>
              <a:t>단독</a:t>
            </a:r>
            <a:endParaRPr lang="en-US" altLang="ko-KR" sz="700" dirty="0">
              <a:latin typeface="+mn-ea"/>
            </a:endParaRPr>
          </a:p>
          <a:p>
            <a:pPr algn="r">
              <a:lnSpc>
                <a:spcPct val="200000"/>
              </a:lnSpc>
            </a:pPr>
            <a:r>
              <a:rPr lang="en-US" altLang="ko-KR" sz="700" dirty="0">
                <a:latin typeface="+mn-ea"/>
              </a:rPr>
              <a:t>-2 %</a:t>
            </a:r>
          </a:p>
          <a:p>
            <a:pPr algn="r">
              <a:lnSpc>
                <a:spcPct val="200000"/>
              </a:lnSpc>
            </a:pPr>
            <a:r>
              <a:rPr lang="en-US" altLang="ko-KR" sz="700" dirty="0">
                <a:latin typeface="+mn-ea"/>
              </a:rPr>
              <a:t>+2 %</a:t>
            </a:r>
          </a:p>
          <a:p>
            <a:pPr algn="r">
              <a:lnSpc>
                <a:spcPct val="200000"/>
              </a:lnSpc>
            </a:pPr>
            <a:r>
              <a:rPr lang="en-US" altLang="ko-KR" sz="700" dirty="0">
                <a:latin typeface="+mn-ea"/>
              </a:rPr>
              <a:t>80 </a:t>
            </a:r>
            <a:r>
              <a:rPr lang="en-US" altLang="ko-KR" sz="700" dirty="0" smtClean="0">
                <a:latin typeface="+mn-ea"/>
              </a:rPr>
              <a:t>%</a:t>
            </a:r>
          </a:p>
          <a:p>
            <a:pPr algn="r">
              <a:lnSpc>
                <a:spcPct val="200000"/>
              </a:lnSpc>
            </a:pPr>
            <a:r>
              <a:rPr lang="en-US" altLang="ko-KR" sz="700" dirty="0" smtClean="0">
                <a:latin typeface="+mn-ea"/>
              </a:rPr>
              <a:t>- </a:t>
            </a:r>
          </a:p>
          <a:p>
            <a:pPr algn="r">
              <a:lnSpc>
                <a:spcPct val="200000"/>
              </a:lnSpc>
            </a:pPr>
            <a:r>
              <a:rPr lang="en-US" altLang="ko-KR" sz="700" dirty="0" smtClean="0">
                <a:latin typeface="+mn-ea"/>
              </a:rPr>
              <a:t>- </a:t>
            </a:r>
            <a:endParaRPr lang="en-US" altLang="ko-KR" sz="700" dirty="0">
              <a:latin typeface="+mn-ea"/>
            </a:endParaRPr>
          </a:p>
        </p:txBody>
      </p:sp>
      <p:grpSp>
        <p:nvGrpSpPr>
          <p:cNvPr id="231" name="그룹 230"/>
          <p:cNvGrpSpPr/>
          <p:nvPr/>
        </p:nvGrpSpPr>
        <p:grpSpPr>
          <a:xfrm>
            <a:off x="3821509" y="1493784"/>
            <a:ext cx="2630093" cy="4305950"/>
            <a:chOff x="701175" y="1835481"/>
            <a:chExt cx="2630093" cy="430595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6" name="직선 연결선 23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7" name="직선 연결선 23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6141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5699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703268" y="59140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48382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703268" y="50529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0" name="직선 연결선 249">
              <a:extLst>
                <a:ext uri="{FF2B5EF4-FFF2-40B4-BE49-F238E27FC236}">
                  <a16:creationId xmlns:a16="http://schemas.microsoft.com/office/drawing/2014/main" id="{E9293055-D5CD-4B9E-7F64-64B2D2CA7A52}"/>
                </a:ext>
              </a:extLst>
            </p:cNvPr>
            <p:cNvCxnSpPr/>
            <p:nvPr/>
          </p:nvCxnSpPr>
          <p:spPr>
            <a:xfrm>
              <a:off x="703268" y="52676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5479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71" name="직선 연결선 70">
            <a:extLst>
              <a:ext uri="{FF2B5EF4-FFF2-40B4-BE49-F238E27FC236}">
                <a16:creationId xmlns:a16="http://schemas.microsoft.com/office/drawing/2014/main" id="{E9293055-D5CD-4B9E-7F64-64B2D2CA7A52}"/>
              </a:ext>
            </a:extLst>
          </p:cNvPr>
          <p:cNvCxnSpPr/>
          <p:nvPr/>
        </p:nvCxnSpPr>
        <p:spPr>
          <a:xfrm>
            <a:off x="3823602" y="60114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 name="직사각형 2"/>
          <p:cNvSpPr/>
          <p:nvPr/>
        </p:nvSpPr>
        <p:spPr>
          <a:xfrm>
            <a:off x="712377" y="4635526"/>
            <a:ext cx="2655869" cy="429480"/>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직사각형 73"/>
          <p:cNvSpPr/>
          <p:nvPr/>
        </p:nvSpPr>
        <p:spPr>
          <a:xfrm>
            <a:off x="703477" y="5730376"/>
            <a:ext cx="2655869" cy="429480"/>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621567" y="453964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1-1</a:t>
            </a:r>
            <a:endParaRPr lang="ko-KR" altLang="en-US" sz="600" b="1" dirty="0"/>
          </a:p>
        </p:txBody>
      </p:sp>
      <p:sp>
        <p:nvSpPr>
          <p:cNvPr id="75" name="타원 74">
            <a:extLst>
              <a:ext uri="{FF2B5EF4-FFF2-40B4-BE49-F238E27FC236}">
                <a16:creationId xmlns:a16="http://schemas.microsoft.com/office/drawing/2014/main" id="{37A7FF4F-0EAA-1463-560A-D5EC24416103}"/>
              </a:ext>
            </a:extLst>
          </p:cNvPr>
          <p:cNvSpPr/>
          <p:nvPr/>
        </p:nvSpPr>
        <p:spPr>
          <a:xfrm>
            <a:off x="617458" y="565793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1-2</a:t>
            </a:r>
            <a:endParaRPr lang="ko-KR" altLang="en-US" sz="600" b="1" dirty="0"/>
          </a:p>
        </p:txBody>
      </p:sp>
      <p:sp>
        <p:nvSpPr>
          <p:cNvPr id="76" name="타원 75">
            <a:extLst>
              <a:ext uri="{FF2B5EF4-FFF2-40B4-BE49-F238E27FC236}">
                <a16:creationId xmlns:a16="http://schemas.microsoft.com/office/drawing/2014/main" id="{37A7FF4F-0EAA-1463-560A-D5EC24416103}"/>
              </a:ext>
            </a:extLst>
          </p:cNvPr>
          <p:cNvSpPr/>
          <p:nvPr/>
        </p:nvSpPr>
        <p:spPr>
          <a:xfrm>
            <a:off x="590016" y="151499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7" name="그룹 6"/>
          <p:cNvGrpSpPr/>
          <p:nvPr/>
        </p:nvGrpSpPr>
        <p:grpSpPr>
          <a:xfrm>
            <a:off x="3821509" y="6269567"/>
            <a:ext cx="2686252" cy="93133"/>
            <a:chOff x="3821509" y="6269567"/>
            <a:chExt cx="2686252" cy="93133"/>
          </a:xfrm>
        </p:grpSpPr>
        <p:sp>
          <p:nvSpPr>
            <p:cNvPr id="5" name="직사각형 4"/>
            <p:cNvSpPr/>
            <p:nvPr/>
          </p:nvSpPr>
          <p:spPr>
            <a:xfrm>
              <a:off x="3821509" y="6269567"/>
              <a:ext cx="2686252" cy="9313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400" dirty="0" err="1" smtClean="0"/>
                <a:t>이어지는화면</a:t>
              </a:r>
              <a:endParaRPr lang="ko-KR" altLang="en-US" sz="400" dirty="0"/>
            </a:p>
          </p:txBody>
        </p:sp>
        <p:sp>
          <p:nvSpPr>
            <p:cNvPr id="6" name="이등변 삼각형 5"/>
            <p:cNvSpPr/>
            <p:nvPr/>
          </p:nvSpPr>
          <p:spPr>
            <a:xfrm flipH="1" flipV="1">
              <a:off x="5380038" y="6291785"/>
              <a:ext cx="61912" cy="54209"/>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3" name="직사각형 72"/>
          <p:cNvSpPr/>
          <p:nvPr/>
        </p:nvSpPr>
        <p:spPr>
          <a:xfrm>
            <a:off x="8228548"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특이사항수정</a:t>
            </a:r>
            <a:endParaRPr lang="ko-KR" altLang="en-US" dirty="0"/>
          </a:p>
        </p:txBody>
      </p:sp>
    </p:spTree>
    <p:extLst>
      <p:ext uri="{BB962C8B-B14F-4D97-AF65-F5344CB8AC3E}">
        <p14:creationId xmlns:p14="http://schemas.microsoft.com/office/powerpoint/2010/main" val="41551498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53</a:t>
            </a:fld>
            <a:endParaRPr lang="ko-KR" altLang="en-US"/>
          </a:p>
        </p:txBody>
      </p:sp>
      <p:sp>
        <p:nvSpPr>
          <p:cNvPr id="2" name="TextBox 1">
            <a:extLst>
              <a:ext uri="{FF2B5EF4-FFF2-40B4-BE49-F238E27FC236}">
                <a16:creationId xmlns:a16="http://schemas.microsoft.com/office/drawing/2014/main" id="{2628823E-7D74-C311-A6E9-F7478194E7B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3" name="Text Box 73">
            <a:extLst>
              <a:ext uri="{FF2B5EF4-FFF2-40B4-BE49-F238E27FC236}">
                <a16:creationId xmlns:a16="http://schemas.microsoft.com/office/drawing/2014/main" id="{1240B3F4-C021-14BC-41C7-C32BCB1DB2D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85697987-7A95-FDCB-F9A9-209C8E9928AB}"/>
              </a:ext>
            </a:extLst>
          </p:cNvPr>
          <p:cNvSpPr txBox="1"/>
          <p:nvPr/>
        </p:nvSpPr>
        <p:spPr>
          <a:xfrm>
            <a:off x="458117" y="809938"/>
            <a:ext cx="33027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err="1">
                <a:solidFill>
                  <a:prstClr val="black"/>
                </a:solidFill>
              </a:rPr>
              <a:t>입찰공고상세</a:t>
            </a:r>
            <a:r>
              <a:rPr lang="en-US" altLang="ko-KR" sz="900" b="1" dirty="0">
                <a:solidFill>
                  <a:prstClr val="black"/>
                </a:solidFill>
              </a:rPr>
              <a:t>-</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dmt_bidPbancGnrl</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E9A85EF9-B12D-E207-09D2-36ADAA91B1F7}"/>
              </a:ext>
            </a:extLst>
          </p:cNvPr>
          <p:cNvGraphicFramePr>
            <a:graphicFrameLocks noGrp="1"/>
          </p:cNvGraphicFramePr>
          <p:nvPr>
            <p:extLst>
              <p:ext uri="{D42A27DB-BD31-4B8C-83A1-F6EECF244321}">
                <p14:modId xmlns:p14="http://schemas.microsoft.com/office/powerpoint/2010/main" val="1235705547"/>
              </p:ext>
            </p:extLst>
          </p:nvPr>
        </p:nvGraphicFramePr>
        <p:xfrm>
          <a:off x="452999" y="1097925"/>
          <a:ext cx="8994884" cy="4122240"/>
        </p:xfrm>
        <a:graphic>
          <a:graphicData uri="http://schemas.openxmlformats.org/drawingml/2006/table">
            <a:tbl>
              <a:tblPr>
                <a:tableStyleId>{616DA210-FB5B-4158-B5E0-FEB733F419BA}</a:tableStyleId>
              </a:tblPr>
              <a:tblGrid>
                <a:gridCol w="1071001">
                  <a:extLst>
                    <a:ext uri="{9D8B030D-6E8A-4147-A177-3AD203B41FA5}">
                      <a16:colId xmlns:a16="http://schemas.microsoft.com/office/drawing/2014/main" val="20000"/>
                    </a:ext>
                  </a:extLst>
                </a:gridCol>
                <a:gridCol w="1125415">
                  <a:extLst>
                    <a:ext uri="{9D8B030D-6E8A-4147-A177-3AD203B41FA5}">
                      <a16:colId xmlns:a16="http://schemas.microsoft.com/office/drawing/2014/main" val="3804317184"/>
                    </a:ext>
                  </a:extLst>
                </a:gridCol>
                <a:gridCol w="2661139">
                  <a:extLst>
                    <a:ext uri="{9D8B030D-6E8A-4147-A177-3AD203B41FA5}">
                      <a16:colId xmlns:a16="http://schemas.microsoft.com/office/drawing/2014/main" val="20001"/>
                    </a:ext>
                  </a:extLst>
                </a:gridCol>
                <a:gridCol w="480646">
                  <a:extLst>
                    <a:ext uri="{9D8B030D-6E8A-4147-A177-3AD203B41FA5}">
                      <a16:colId xmlns:a16="http://schemas.microsoft.com/office/drawing/2014/main" val="20002"/>
                    </a:ext>
                  </a:extLst>
                </a:gridCol>
                <a:gridCol w="644769">
                  <a:extLst>
                    <a:ext uri="{9D8B030D-6E8A-4147-A177-3AD203B41FA5}">
                      <a16:colId xmlns:a16="http://schemas.microsoft.com/office/drawing/2014/main" val="20003"/>
                    </a:ext>
                  </a:extLst>
                </a:gridCol>
                <a:gridCol w="515816">
                  <a:extLst>
                    <a:ext uri="{9D8B030D-6E8A-4147-A177-3AD203B41FA5}">
                      <a16:colId xmlns:a16="http://schemas.microsoft.com/office/drawing/2014/main" val="20004"/>
                    </a:ext>
                  </a:extLst>
                </a:gridCol>
                <a:gridCol w="24960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pbancNo</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공고식별을 위한 고유번호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공고차수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pbancCycl</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공고식별을 위한 고유번호의 차수</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718819"/>
                  </a:ext>
                </a:extLst>
              </a:tr>
              <a:tr h="107474">
                <a:tc>
                  <a:txBody>
                    <a:bodyPr/>
                    <a:lstStyle/>
                    <a:p>
                      <a:pPr latinLnBrk="1"/>
                      <a:r>
                        <a:rPr lang="ko-KR" altLang="en-US" sz="800" dirty="0">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pbancYmd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등록 일자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ea typeface="+mn-ea"/>
                        </a:rPr>
                        <a:t>yyyy</a:t>
                      </a:r>
                      <a:r>
                        <a:rPr lang="en-US" altLang="ko-KR" sz="800" dirty="0">
                          <a:latin typeface="+mn-ea"/>
                          <a:ea typeface="+mn-ea"/>
                        </a:rPr>
                        <a:t>-mm-dd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619533"/>
                  </a:ext>
                </a:extLst>
              </a:tr>
              <a:tr h="107474">
                <a:tc>
                  <a:txBody>
                    <a:bodyPr/>
                    <a:lstStyle/>
                    <a:p>
                      <a:pPr latinLnBrk="1"/>
                      <a:r>
                        <a:rPr lang="ko-KR" altLang="en-US" sz="800" dirty="0" err="1">
                          <a:latin typeface="+mn-ea"/>
                          <a:ea typeface="+mn-ea"/>
                        </a:rPr>
                        <a:t>공고명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rprsItemNm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rPr>
                        <a:t>공고명</a:t>
                      </a:r>
                      <a:r>
                        <a:rPr lang="ko-KR" altLang="en-US" sz="800" dirty="0">
                          <a:latin typeface="+mn-ea"/>
                        </a:rPr>
                        <a:t> 항목 조회 결과</a:t>
                      </a:r>
                      <a:r>
                        <a:rPr lang="en-US" altLang="ko-KR" sz="800" dirty="0">
                          <a:latin typeface="+mn-ea"/>
                        </a:rPr>
                        <a:t>(</a:t>
                      </a:r>
                      <a:r>
                        <a:rPr lang="ko-KR" altLang="en-US" sz="800" dirty="0">
                          <a:latin typeface="+mn-ea"/>
                        </a:rPr>
                        <a:t>업무구분이 </a:t>
                      </a:r>
                      <a:r>
                        <a:rPr lang="en-US" altLang="ko-KR" sz="800" dirty="0">
                          <a:latin typeface="+mn-ea"/>
                        </a:rPr>
                        <a:t>‘</a:t>
                      </a:r>
                      <a:r>
                        <a:rPr lang="ko-KR" altLang="en-US" sz="800" dirty="0">
                          <a:latin typeface="+mn-ea"/>
                        </a:rPr>
                        <a:t>물품</a:t>
                      </a:r>
                      <a:r>
                        <a:rPr lang="en-US" altLang="ko-KR" sz="800" dirty="0">
                          <a:latin typeface="+mn-ea"/>
                        </a:rPr>
                        <a:t>‘, ‘</a:t>
                      </a:r>
                      <a:r>
                        <a:rPr lang="ko-KR" altLang="en-US" sz="800" dirty="0">
                          <a:latin typeface="+mn-ea"/>
                        </a:rPr>
                        <a:t>용역</a:t>
                      </a:r>
                      <a:r>
                        <a:rPr lang="en-US" altLang="ko-KR" sz="800" dirty="0">
                          <a:latin typeface="+mn-ea"/>
                        </a:rPr>
                        <a:t>’</a:t>
                      </a:r>
                      <a:r>
                        <a:rPr lang="ko-KR" altLang="en-US" sz="800" dirty="0">
                          <a:latin typeface="+mn-ea"/>
                        </a:rPr>
                        <a:t>일 경우</a:t>
                      </a:r>
                      <a:r>
                        <a:rPr lang="en-US" altLang="ko-KR" sz="800" dirty="0">
                          <a:latin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641400"/>
                  </a:ext>
                </a:extLst>
              </a:tr>
              <a:tr h="107474">
                <a:tc>
                  <a:txBody>
                    <a:bodyPr/>
                    <a:lstStyle/>
                    <a:p>
                      <a:pPr latinLnBrk="1"/>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cstrnNm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rPr>
                        <a:t>공고명</a:t>
                      </a:r>
                      <a:r>
                        <a:rPr lang="ko-KR" altLang="en-US" sz="800" dirty="0">
                          <a:latin typeface="+mn-ea"/>
                        </a:rPr>
                        <a:t> 항목 조회 결과</a:t>
                      </a:r>
                      <a:r>
                        <a:rPr lang="en-US" altLang="ko-KR" sz="800" dirty="0">
                          <a:latin typeface="+mn-ea"/>
                        </a:rPr>
                        <a:t>(</a:t>
                      </a:r>
                      <a:r>
                        <a:rPr lang="ko-KR" altLang="en-US" sz="800" dirty="0">
                          <a:latin typeface="+mn-ea"/>
                        </a:rPr>
                        <a:t>업무구분이 </a:t>
                      </a:r>
                      <a:r>
                        <a:rPr lang="en-US" altLang="ko-KR" sz="800" dirty="0">
                          <a:latin typeface="+mn-ea"/>
                        </a:rPr>
                        <a:t>‘</a:t>
                      </a:r>
                      <a:r>
                        <a:rPr lang="ko-KR" altLang="en-US" sz="800" dirty="0">
                          <a:latin typeface="+mn-ea"/>
                        </a:rPr>
                        <a:t>공사</a:t>
                      </a:r>
                      <a:r>
                        <a:rPr lang="en-US" altLang="ko-KR" sz="800" dirty="0">
                          <a:latin typeface="+mn-ea"/>
                        </a:rPr>
                        <a:t>＇</a:t>
                      </a:r>
                      <a:r>
                        <a:rPr lang="ko-KR" altLang="en-US" sz="800" dirty="0">
                          <a:latin typeface="+mn-ea"/>
                        </a:rPr>
                        <a:t>일 경우</a:t>
                      </a:r>
                      <a:r>
                        <a:rPr lang="en-US" altLang="ko-KR" sz="800" dirty="0">
                          <a:latin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813818"/>
                  </a:ext>
                </a:extLst>
              </a:tr>
              <a:tr h="0">
                <a:tc>
                  <a:txBody>
                    <a:bodyPr/>
                    <a:lstStyle/>
                    <a:p>
                      <a:pPr latinLnBrk="1"/>
                      <a:r>
                        <a:rPr lang="ko-KR" altLang="en-US" sz="800" dirty="0">
                          <a:latin typeface="+mn-ea"/>
                          <a:ea typeface="+mn-ea"/>
                        </a:rPr>
                        <a:t>게재기관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pblctnInstNm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게재 기관명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719301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통합참조번호</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dirty="0">
                          <a:latin typeface="+mn-ea"/>
                          <a:ea typeface="+mn-ea"/>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r>
                        <a:rPr lang="en-US" altLang="ko-KR" sz="800" dirty="0">
                          <a:latin typeface="+mn-ea"/>
                          <a:ea typeface="+mn-ea"/>
                        </a:rPr>
                        <a:t>As-Is: </a:t>
                      </a:r>
                      <a:r>
                        <a:rPr lang="ko-KR" altLang="en-US" sz="800" dirty="0" err="1">
                          <a:latin typeface="+mn-ea"/>
                          <a:ea typeface="+mn-ea"/>
                        </a:rPr>
                        <a:t>지시년도</a:t>
                      </a:r>
                      <a:r>
                        <a:rPr lang="en-US" altLang="ko-KR" sz="800" dirty="0">
                          <a:latin typeface="+mn-ea"/>
                          <a:ea typeface="+mn-ea"/>
                        </a:rPr>
                        <a:t>(4)+</a:t>
                      </a:r>
                      <a:r>
                        <a:rPr lang="ko-KR" altLang="en-US" sz="800" dirty="0">
                          <a:latin typeface="+mn-ea"/>
                          <a:ea typeface="+mn-ea"/>
                        </a:rPr>
                        <a:t>부서번호</a:t>
                      </a:r>
                      <a:r>
                        <a:rPr lang="en-US" altLang="ko-KR" sz="800" dirty="0">
                          <a:latin typeface="+mn-ea"/>
                          <a:ea typeface="+mn-ea"/>
                        </a:rPr>
                        <a:t>(3)+</a:t>
                      </a:r>
                      <a:r>
                        <a:rPr lang="ko-KR" altLang="en-US" sz="800" dirty="0">
                          <a:latin typeface="+mn-ea"/>
                          <a:ea typeface="+mn-ea"/>
                        </a:rPr>
                        <a:t>판단번호</a:t>
                      </a:r>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488183"/>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totalItemCnt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품목의 전체 </a:t>
                      </a:r>
                      <a:r>
                        <a:rPr lang="ko-KR" altLang="en-US" sz="800" dirty="0" err="1">
                          <a:latin typeface="+mn-ea"/>
                        </a:rPr>
                        <a:t>수량값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a:t>
                      </a:r>
                      <a:r>
                        <a:rPr lang="ko-KR" altLang="en-US" sz="800" dirty="0">
                          <a:latin typeface="+mn-ea"/>
                          <a:ea typeface="+mn-ea"/>
                        </a:rPr>
                        <a:t>항목 </a:t>
                      </a:r>
                      <a:endParaRPr lang="en-US" altLang="ko-KR" sz="800" dirty="0">
                        <a:latin typeface="+mn-ea"/>
                        <a:ea typeface="+mn-ea"/>
                      </a:endParaRPr>
                    </a:p>
                    <a:p>
                      <a:pPr algn="l" latinLnBrk="1"/>
                      <a:r>
                        <a:rPr lang="en-US" altLang="ko-KR" sz="800" dirty="0">
                          <a:latin typeface="+mn-ea"/>
                          <a:ea typeface="+mn-ea"/>
                        </a:rPr>
                        <a:t>- </a:t>
                      </a:r>
                      <a:r>
                        <a:rPr lang="ko-KR" altLang="en-US" sz="800" dirty="0" err="1">
                          <a:latin typeface="+mn-ea"/>
                          <a:ea typeface="+mn-ea"/>
                        </a:rPr>
                        <a:t>조달판단납기납지철</a:t>
                      </a:r>
                      <a:r>
                        <a:rPr lang="ko-KR" altLang="en-US" sz="800" dirty="0">
                          <a:latin typeface="+mn-ea"/>
                          <a:ea typeface="+mn-ea"/>
                        </a:rPr>
                        <a:t> 테이블의 </a:t>
                      </a:r>
                      <a:r>
                        <a:rPr lang="ko-KR" altLang="en-US" sz="800" dirty="0" err="1">
                          <a:latin typeface="+mn-ea"/>
                          <a:ea typeface="+mn-ea"/>
                        </a:rPr>
                        <a:t>납지수량의</a:t>
                      </a:r>
                      <a:r>
                        <a:rPr lang="ko-KR" altLang="en-US" sz="800" dirty="0">
                          <a:latin typeface="+mn-ea"/>
                          <a:ea typeface="+mn-ea"/>
                        </a:rPr>
                        <a:t> 합계</a:t>
                      </a:r>
                      <a:endParaRPr lang="en-US" altLang="ko-KR" sz="800" dirty="0">
                        <a:latin typeface="+mn-ea"/>
                        <a:ea typeface="+mn-ea"/>
                      </a:endParaRPr>
                    </a:p>
                    <a:p>
                      <a:pPr algn="l" latinLnBrk="1"/>
                      <a:r>
                        <a:rPr lang="en-US" altLang="ko-KR" sz="800" dirty="0">
                          <a:latin typeface="+mn-ea"/>
                          <a:ea typeface="+mn-ea"/>
                        </a:rPr>
                        <a:t>- SUM(WTB_PDB213.DLVR_QNTY)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87152"/>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bizTpcd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집행유형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:ETC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prcmNo</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판단번호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 : </a:t>
                      </a:r>
                      <a:r>
                        <a:rPr lang="ko-KR" altLang="en-US" sz="800" dirty="0">
                          <a:latin typeface="+mn-ea"/>
                          <a:ea typeface="+mn-ea"/>
                        </a:rPr>
                        <a:t>판단번호</a:t>
                      </a:r>
                      <a:r>
                        <a:rPr lang="en-US" altLang="ko-KR" sz="800" dirty="0">
                          <a:latin typeface="+mn-ea"/>
                          <a:ea typeface="+mn-ea"/>
                        </a:rPr>
                        <a:t>(DCSN_NUMB)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orderInstNm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발주 기관명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:RIC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401575"/>
                  </a:ext>
                </a:extLst>
              </a:tr>
              <a:tr h="0">
                <a:tc>
                  <a:txBody>
                    <a:bodyPr/>
                    <a:lstStyle/>
                    <a:p>
                      <a:pPr latinLnBrk="1"/>
                      <a:r>
                        <a:rPr lang="ko-KR" altLang="en-US" sz="800" dirty="0">
                          <a:latin typeface="+mn-ea"/>
                          <a:ea typeface="+mn-ea"/>
                        </a:rPr>
                        <a:t>입찰형태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elctrNgtnYn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입찰형태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a:t>
                      </a:r>
                      <a:r>
                        <a:rPr lang="ko-KR" altLang="en-US" sz="800" dirty="0">
                          <a:latin typeface="+mn-ea"/>
                          <a:ea typeface="+mn-ea"/>
                        </a:rPr>
                        <a:t>일반입찰</a:t>
                      </a:r>
                      <a:r>
                        <a:rPr lang="en-US" altLang="ko-KR" sz="800" dirty="0">
                          <a:latin typeface="+mn-ea"/>
                          <a:ea typeface="+mn-ea"/>
                        </a:rPr>
                        <a:t>, '2':</a:t>
                      </a:r>
                      <a:r>
                        <a:rPr lang="ko-KR" altLang="en-US" sz="800" dirty="0">
                          <a:latin typeface="+mn-ea"/>
                          <a:ea typeface="+mn-ea"/>
                        </a:rPr>
                        <a:t>전자입찰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5061971"/>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ctrtMthdNm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계약방법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130071"/>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bidMthd</a:t>
                      </a:r>
                      <a:r>
                        <a:rPr lang="en-US" altLang="ko-KR" sz="800" dirty="0" err="1">
                          <a:latin typeface="+mn-ea"/>
                          <a:ea typeface="+mn-ea"/>
                        </a:rPr>
                        <a: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입찰방법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:BDTC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3587660"/>
                  </a:ext>
                </a:extLst>
              </a:tr>
              <a:tr h="0">
                <a:tc>
                  <a:txBody>
                    <a:bodyPr/>
                    <a:lstStyle/>
                    <a:p>
                      <a:pPr latinLnBrk="1"/>
                      <a:r>
                        <a:rPr lang="ko-KR" altLang="en-US" sz="800" dirty="0">
                          <a:latin typeface="+mn-ea"/>
                          <a:ea typeface="+mn-ea"/>
                        </a:rPr>
                        <a:t>단가제유형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bidTpcd</a:t>
                      </a:r>
                      <a:r>
                        <a:rPr lang="en-US" altLang="ko-KR" sz="800" dirty="0" err="1">
                          <a:latin typeface="+mn-ea"/>
                          <a:ea typeface="+mn-ea"/>
                        </a:rPr>
                        <a: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단가제유형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:BTUP</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593965"/>
                  </a:ext>
                </a:extLst>
              </a:tr>
              <a:tr h="0">
                <a:tc>
                  <a:txBody>
                    <a:bodyPr/>
                    <a:lstStyle/>
                    <a:p>
                      <a:pPr latinLnBrk="1"/>
                      <a:r>
                        <a:rPr lang="ko-KR" altLang="en-US" sz="800" dirty="0">
                          <a:latin typeface="+mn-ea"/>
                          <a:ea typeface="+mn-ea"/>
                        </a:rPr>
                        <a:t>계약종류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ctrtTpcd</a:t>
                      </a:r>
                      <a:r>
                        <a:rPr lang="en-US" altLang="ko-KR" sz="800" dirty="0" err="1">
                          <a:latin typeface="+mn-ea"/>
                          <a:ea typeface="+mn-ea"/>
                        </a:rPr>
                        <a: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계약종류</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:CTKC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1825916"/>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scsbdMthdNm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낙찰자결정방법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Alias </a:t>
                      </a:r>
                      <a:r>
                        <a:rPr lang="ko-KR" altLang="en-US" sz="800" dirty="0">
                          <a:latin typeface="+mn-ea"/>
                          <a:ea typeface="+mn-ea"/>
                        </a:rPr>
                        <a:t>항목</a:t>
                      </a:r>
                      <a:r>
                        <a:rPr lang="en-US" altLang="ko-KR" sz="800">
                          <a:latin typeface="+mn-ea"/>
                          <a:ea typeface="+mn-ea"/>
                        </a:rPr>
                        <a:t>. </a:t>
                      </a:r>
                      <a:r>
                        <a:rPr lang="ko-KR" altLang="en-US" sz="800">
                          <a:latin typeface="+mn-ea"/>
                          <a:ea typeface="+mn-ea"/>
                        </a:rPr>
                        <a:t>상위코드</a:t>
                      </a:r>
                      <a:r>
                        <a:rPr lang="en-US" altLang="ko-KR" sz="800" dirty="0">
                          <a:latin typeface="+mn-ea"/>
                          <a:ea typeface="+mn-ea"/>
                        </a:rPr>
                        <a:t>:CCMT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7497890"/>
                  </a:ext>
                </a:extLst>
              </a:tr>
              <a:tr h="0">
                <a:tc>
                  <a:txBody>
                    <a:bodyPr/>
                    <a:lstStyle/>
                    <a:p>
                      <a:pPr latinLnBrk="1"/>
                      <a:r>
                        <a:rPr lang="ko-KR" altLang="en-US" sz="800" dirty="0">
                          <a:latin typeface="+mn-ea"/>
                          <a:ea typeface="+mn-ea"/>
                        </a:rPr>
                        <a:t>적격심사여부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elgbSrngYn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적격심사 대상 여부 </a:t>
                      </a:r>
                      <a:r>
                        <a:rPr lang="ko-KR" altLang="en-US" sz="800" dirty="0" err="1">
                          <a:latin typeface="+mn-ea"/>
                        </a:rPr>
                        <a:t>식별값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Y: </a:t>
                      </a:r>
                      <a:r>
                        <a:rPr lang="ko-KR" altLang="en-US" sz="800" dirty="0">
                          <a:latin typeface="+mn-ea"/>
                          <a:ea typeface="+mn-ea"/>
                        </a:rPr>
                        <a:t>대상</a:t>
                      </a:r>
                      <a:r>
                        <a:rPr lang="en-US" altLang="ko-KR" sz="800" dirty="0">
                          <a:latin typeface="+mn-ea"/>
                          <a:ea typeface="+mn-ea"/>
                        </a:rPr>
                        <a:t>, N</a:t>
                      </a:r>
                      <a:r>
                        <a:rPr lang="ko-KR" altLang="en-US" sz="800" dirty="0">
                          <a:latin typeface="+mn-ea"/>
                          <a:ea typeface="+mn-ea"/>
                        </a:rPr>
                        <a:t> </a:t>
                      </a:r>
                      <a:r>
                        <a:rPr lang="en-US" altLang="ko-KR" sz="800" dirty="0">
                          <a:latin typeface="+mn-ea"/>
                          <a:ea typeface="+mn-ea"/>
                        </a:rPr>
                        <a:t>:</a:t>
                      </a:r>
                      <a:r>
                        <a:rPr lang="ko-KR" altLang="en-US" sz="800" dirty="0">
                          <a:latin typeface="+mn-ea"/>
                          <a:ea typeface="+mn-ea"/>
                        </a:rPr>
                        <a:t> 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708474"/>
                  </a:ext>
                </a:extLst>
              </a:tr>
              <a:tr h="0">
                <a:tc>
                  <a:txBody>
                    <a:bodyPr/>
                    <a:lstStyle/>
                    <a:p>
                      <a:pPr latinLnBrk="1"/>
                      <a:r>
                        <a:rPr lang="ko-KR" altLang="en-US" sz="800" dirty="0">
                          <a:latin typeface="+mn-ea"/>
                          <a:ea typeface="+mn-ea"/>
                        </a:rPr>
                        <a:t>사업설명회장소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grndsExplnPlcNm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사업설명회장소명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7177320"/>
                  </a:ext>
                </a:extLst>
              </a:tr>
            </a:tbl>
          </a:graphicData>
        </a:graphic>
      </p:graphicFrame>
    </p:spTree>
    <p:extLst>
      <p:ext uri="{BB962C8B-B14F-4D97-AF65-F5344CB8AC3E}">
        <p14:creationId xmlns:p14="http://schemas.microsoft.com/office/powerpoint/2010/main" val="71610770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54</a:t>
            </a:fld>
            <a:endParaRPr lang="ko-KR" altLang="en-US"/>
          </a:p>
        </p:txBody>
      </p:sp>
      <p:sp>
        <p:nvSpPr>
          <p:cNvPr id="4" name="TextBox 3">
            <a:extLst>
              <a:ext uri="{FF2B5EF4-FFF2-40B4-BE49-F238E27FC236}">
                <a16:creationId xmlns:a16="http://schemas.microsoft.com/office/drawing/2014/main" id="{C17648F3-5514-E13E-20AA-46C086C0BA1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AC319EA0-2B46-01CB-89B0-805B73B758C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85697987-7A95-FDCB-F9A9-209C8E9928AB}"/>
              </a:ext>
            </a:extLst>
          </p:cNvPr>
          <p:cNvSpPr txBox="1"/>
          <p:nvPr/>
        </p:nvSpPr>
        <p:spPr>
          <a:xfrm>
            <a:off x="458117" y="810500"/>
            <a:ext cx="33027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err="1">
                <a:solidFill>
                  <a:prstClr val="black"/>
                </a:solidFill>
              </a:rPr>
              <a:t>입찰공고상세</a:t>
            </a:r>
            <a:r>
              <a:rPr lang="en-US" altLang="ko-KR" sz="900" b="1" dirty="0">
                <a:solidFill>
                  <a:prstClr val="black"/>
                </a:solidFill>
              </a:rPr>
              <a:t>-</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dmt_bidPbancGnrl</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E9A85EF9-B12D-E207-09D2-36ADAA91B1F7}"/>
              </a:ext>
            </a:extLst>
          </p:cNvPr>
          <p:cNvGraphicFramePr>
            <a:graphicFrameLocks noGrp="1"/>
          </p:cNvGraphicFramePr>
          <p:nvPr/>
        </p:nvGraphicFramePr>
        <p:xfrm>
          <a:off x="452999" y="1062355"/>
          <a:ext cx="8994884" cy="5385600"/>
        </p:xfrm>
        <a:graphic>
          <a:graphicData uri="http://schemas.openxmlformats.org/drawingml/2006/table">
            <a:tbl>
              <a:tblPr>
                <a:tableStyleId>{616DA210-FB5B-4158-B5E0-FEB733F419BA}</a:tableStyleId>
              </a:tblPr>
              <a:tblGrid>
                <a:gridCol w="1493032">
                  <a:extLst>
                    <a:ext uri="{9D8B030D-6E8A-4147-A177-3AD203B41FA5}">
                      <a16:colId xmlns:a16="http://schemas.microsoft.com/office/drawing/2014/main" val="20000"/>
                    </a:ext>
                  </a:extLst>
                </a:gridCol>
                <a:gridCol w="1500554">
                  <a:extLst>
                    <a:ext uri="{9D8B030D-6E8A-4147-A177-3AD203B41FA5}">
                      <a16:colId xmlns:a16="http://schemas.microsoft.com/office/drawing/2014/main" val="3090674670"/>
                    </a:ext>
                  </a:extLst>
                </a:gridCol>
                <a:gridCol w="2719753">
                  <a:extLst>
                    <a:ext uri="{9D8B030D-6E8A-4147-A177-3AD203B41FA5}">
                      <a16:colId xmlns:a16="http://schemas.microsoft.com/office/drawing/2014/main" val="20001"/>
                    </a:ext>
                  </a:extLst>
                </a:gridCol>
                <a:gridCol w="433754">
                  <a:extLst>
                    <a:ext uri="{9D8B030D-6E8A-4147-A177-3AD203B41FA5}">
                      <a16:colId xmlns:a16="http://schemas.microsoft.com/office/drawing/2014/main" val="20002"/>
                    </a:ext>
                  </a:extLst>
                </a:gridCol>
                <a:gridCol w="552544">
                  <a:extLst>
                    <a:ext uri="{9D8B030D-6E8A-4147-A177-3AD203B41FA5}">
                      <a16:colId xmlns:a16="http://schemas.microsoft.com/office/drawing/2014/main" val="20003"/>
                    </a:ext>
                  </a:extLst>
                </a:gridCol>
                <a:gridCol w="434236">
                  <a:extLst>
                    <a:ext uri="{9D8B030D-6E8A-4147-A177-3AD203B41FA5}">
                      <a16:colId xmlns:a16="http://schemas.microsoft.com/office/drawing/2014/main" val="20004"/>
                    </a:ext>
                  </a:extLst>
                </a:gridCol>
                <a:gridCol w="186101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a:latin typeface="+mn-ea"/>
                          <a:ea typeface="+mn-ea"/>
                        </a:rPr>
                        <a:t>사업설명회일시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grndsExplnPrnmntDt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공고 사업설명회 일자 및 시간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현장설명회장소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grndsExplnPlcNm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공고 현장설명회장소명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718819"/>
                  </a:ext>
                </a:extLst>
              </a:tr>
              <a:tr h="0">
                <a:tc>
                  <a:txBody>
                    <a:bodyPr/>
                    <a:lstStyle/>
                    <a:p>
                      <a:pPr latinLnBrk="1"/>
                      <a:r>
                        <a:rPr lang="ko-KR" altLang="en-US" sz="800">
                          <a:latin typeface="+mn-ea"/>
                          <a:ea typeface="+mn-ea"/>
                        </a:rPr>
                        <a:t>현장설명회일시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grndsExplnPrnmntDt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공고 현장설명회 일자 및 시간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619533"/>
                  </a:ext>
                </a:extLst>
              </a:tr>
              <a:tr h="0">
                <a:tc>
                  <a:txBody>
                    <a:bodyPr/>
                    <a:lstStyle/>
                    <a:p>
                      <a:pPr latinLnBrk="1"/>
                      <a:r>
                        <a:rPr lang="ko-KR" altLang="en-US" sz="800">
                          <a:latin typeface="+mn-ea"/>
                          <a:ea typeface="+mn-ea"/>
                        </a:rPr>
                        <a:t>예산금액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sumAmt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예산금액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6036586"/>
                  </a:ext>
                </a:extLst>
              </a:tr>
              <a:tr h="0">
                <a:tc>
                  <a:txBody>
                    <a:bodyPr/>
                    <a:lstStyle/>
                    <a:p>
                      <a:pPr latinLnBrk="1"/>
                      <a:r>
                        <a:rPr lang="ko-KR" altLang="en-US" sz="800">
                          <a:latin typeface="+mn-ea"/>
                          <a:ea typeface="+mn-ea"/>
                        </a:rPr>
                        <a:t>추정가격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prsmpPrc</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추정가격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3792337"/>
                  </a:ext>
                </a:extLst>
              </a:tr>
              <a:tr h="0">
                <a:tc>
                  <a:txBody>
                    <a:bodyPr/>
                    <a:lstStyle/>
                    <a:p>
                      <a:pPr latinLnBrk="1"/>
                      <a:r>
                        <a:rPr lang="ko-KR" altLang="en-US" sz="800">
                          <a:latin typeface="+mn-ea"/>
                          <a:ea typeface="+mn-ea"/>
                        </a:rPr>
                        <a:t>생산능력제출마감일시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prdcpIdntySmdocDdlnDt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생산능력제출마감일시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5639779"/>
                  </a:ext>
                </a:extLst>
              </a:tr>
              <a:tr h="0">
                <a:tc>
                  <a:txBody>
                    <a:bodyPr/>
                    <a:lstStyle/>
                    <a:p>
                      <a:pPr latinLnBrk="1"/>
                      <a:r>
                        <a:rPr lang="ko-KR" altLang="en-US" sz="800">
                          <a:latin typeface="+mn-ea"/>
                          <a:ea typeface="+mn-ea"/>
                        </a:rPr>
                        <a:t>입찰참가등록마감일시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bidClrsDt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입찰참가등록마감일시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96059"/>
                  </a:ext>
                </a:extLst>
              </a:tr>
              <a:tr h="0">
                <a:tc>
                  <a:txBody>
                    <a:bodyPr/>
                    <a:lstStyle/>
                    <a:p>
                      <a:pPr latinLnBrk="1"/>
                      <a:r>
                        <a:rPr lang="ko-KR" altLang="en-US" sz="800">
                          <a:latin typeface="+mn-ea"/>
                          <a:ea typeface="+mn-ea"/>
                        </a:rPr>
                        <a:t>입찰서제출마감일시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tndrSbmsnDdlnDt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입찰서제출마감일시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739674"/>
                  </a:ext>
                </a:extLst>
              </a:tr>
              <a:tr h="0">
                <a:tc>
                  <a:txBody>
                    <a:bodyPr/>
                    <a:lstStyle/>
                    <a:p>
                      <a:pPr latinLnBrk="1"/>
                      <a:r>
                        <a:rPr lang="ko-KR" altLang="en-US" sz="800">
                          <a:latin typeface="+mn-ea"/>
                          <a:ea typeface="+mn-ea"/>
                        </a:rPr>
                        <a:t>개찰일시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bdopnDt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개찰일시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13609"/>
                  </a:ext>
                </a:extLst>
              </a:tr>
              <a:tr h="0">
                <a:tc>
                  <a:txBody>
                    <a:bodyPr/>
                    <a:lstStyle/>
                    <a:p>
                      <a:pPr latinLnBrk="1"/>
                      <a:r>
                        <a:rPr lang="ko-KR" altLang="en-US" sz="800">
                          <a:latin typeface="+mn-ea"/>
                          <a:ea typeface="+mn-ea"/>
                        </a:rPr>
                        <a:t>입찰장소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bidPlcNm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입찰장소 </a:t>
                      </a:r>
                      <a:r>
                        <a:rPr lang="ko-KR" altLang="en-US" sz="800">
                          <a:latin typeface="+mn-ea"/>
                          <a:ea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90827933"/>
                  </a:ext>
                </a:extLst>
              </a:tr>
              <a:tr h="0">
                <a:tc>
                  <a:txBody>
                    <a:bodyPr/>
                    <a:lstStyle/>
                    <a:p>
                      <a:pPr latinLnBrk="1"/>
                      <a:r>
                        <a:rPr lang="ko-KR" altLang="en-US" sz="800">
                          <a:latin typeface="+mn-ea"/>
                          <a:ea typeface="+mn-ea"/>
                        </a:rPr>
                        <a:t>등록심사시점</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tndrSbmsnPntmCd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입찰등록심사 시점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Y : </a:t>
                      </a:r>
                      <a:r>
                        <a:rPr lang="ko-KR" altLang="en-US" sz="800" dirty="0">
                          <a:latin typeface="+mn-ea"/>
                          <a:ea typeface="+mn-ea"/>
                        </a:rPr>
                        <a:t>입찰서제출 후 심사 </a:t>
                      </a:r>
                      <a:r>
                        <a:rPr lang="en-US" altLang="ko-KR" sz="800" dirty="0">
                          <a:latin typeface="+mn-ea"/>
                          <a:ea typeface="+mn-ea"/>
                        </a:rPr>
                        <a:t>(</a:t>
                      </a:r>
                      <a:r>
                        <a:rPr lang="ko-KR" altLang="en-US" sz="800" dirty="0">
                          <a:latin typeface="+mn-ea"/>
                          <a:ea typeface="+mn-ea"/>
                        </a:rPr>
                        <a:t>등록심사</a:t>
                      </a:r>
                      <a:r>
                        <a:rPr lang="en-US" altLang="ko-KR" sz="800" dirty="0">
                          <a:latin typeface="+mn-ea"/>
                          <a:ea typeface="+mn-ea"/>
                        </a:rPr>
                        <a:t>)</a:t>
                      </a:r>
                    </a:p>
                    <a:p>
                      <a:pPr algn="l" latinLnBrk="1"/>
                      <a:r>
                        <a:rPr lang="en-US" altLang="ko-KR" sz="800" dirty="0">
                          <a:latin typeface="+mn-ea"/>
                          <a:ea typeface="+mn-ea"/>
                        </a:rPr>
                        <a:t>N : </a:t>
                      </a:r>
                      <a:r>
                        <a:rPr lang="ko-KR" altLang="en-US" sz="800" dirty="0">
                          <a:latin typeface="+mn-ea"/>
                          <a:ea typeface="+mn-ea"/>
                        </a:rPr>
                        <a:t>입찰참가신청 후 입찰서제출 전 심사</a:t>
                      </a:r>
                      <a:r>
                        <a:rPr lang="en-US" altLang="ko-KR" sz="800" dirty="0">
                          <a:latin typeface="+mn-ea"/>
                          <a:ea typeface="+mn-ea"/>
                        </a:rPr>
                        <a:t>(</a:t>
                      </a:r>
                      <a:r>
                        <a:rPr lang="ko-KR" altLang="en-US" sz="800" dirty="0">
                          <a:latin typeface="+mn-ea"/>
                          <a:ea typeface="+mn-ea"/>
                        </a:rPr>
                        <a:t>사전심사</a:t>
                      </a:r>
                      <a:r>
                        <a:rPr lang="en-US" altLang="ko-KR" sz="800" dirty="0">
                          <a:latin typeface="+mn-ea"/>
                          <a:ea typeface="+mn-ea"/>
                        </a:rPr>
                        <a:t>), F : </a:t>
                      </a:r>
                      <a:r>
                        <a:rPr lang="ko-KR" altLang="en-US" sz="800" dirty="0" err="1">
                          <a:latin typeface="+mn-ea"/>
                          <a:ea typeface="+mn-ea"/>
                        </a:rPr>
                        <a:t>개찰후심사</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5415962"/>
                  </a:ext>
                </a:extLst>
              </a:tr>
              <a:tr h="0">
                <a:tc>
                  <a:txBody>
                    <a:bodyPr/>
                    <a:lstStyle/>
                    <a:p>
                      <a:pPr latinLnBrk="1"/>
                      <a:r>
                        <a:rPr lang="ko-KR" altLang="en-US" sz="800" dirty="0" err="1">
                          <a:latin typeface="+mn-ea"/>
                          <a:ea typeface="+mn-ea"/>
                        </a:rPr>
                        <a:t>기초예가적용여부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bidPrtcpQlfcYn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기초예비가격 적용 여부 식별 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 </a:t>
                      </a:r>
                      <a:r>
                        <a:rPr lang="ko-KR" altLang="en-US" sz="800">
                          <a:latin typeface="+mn-ea"/>
                          <a:ea typeface="+mn-ea"/>
                        </a:rPr>
                        <a:t>적용 </a:t>
                      </a:r>
                      <a:r>
                        <a:rPr lang="en-US" altLang="ko-KR" sz="800">
                          <a:latin typeface="+mn-ea"/>
                          <a:ea typeface="+mn-ea"/>
                        </a:rPr>
                        <a:t>, N : </a:t>
                      </a:r>
                      <a:r>
                        <a:rPr lang="ko-KR" altLang="en-US" sz="800">
                          <a:latin typeface="+mn-ea"/>
                          <a:ea typeface="+mn-ea"/>
                        </a:rPr>
                        <a:t>미적용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7603090"/>
                  </a:ext>
                </a:extLst>
              </a:tr>
              <a:tr h="0">
                <a:tc>
                  <a:txBody>
                    <a:bodyPr/>
                    <a:lstStyle/>
                    <a:p>
                      <a:pPr latinLnBrk="1"/>
                      <a:r>
                        <a:rPr lang="en-US" altLang="ko-KR" sz="800" dirty="0">
                          <a:latin typeface="+mn-ea"/>
                          <a:ea typeface="+mn-ea"/>
                        </a:rPr>
                        <a:t>G2B</a:t>
                      </a:r>
                      <a:r>
                        <a:rPr lang="ko-KR" altLang="en-US" sz="800" dirty="0">
                          <a:latin typeface="+mn-ea"/>
                          <a:ea typeface="+mn-ea"/>
                        </a:rPr>
                        <a:t>공고번호</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rPr>
                        <a:t>g2bBidPbancNo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rPr>
                        <a:t>G2B</a:t>
                      </a:r>
                      <a:r>
                        <a:rPr lang="ko-KR" altLang="en-US" sz="800" dirty="0">
                          <a:latin typeface="+mn-ea"/>
                        </a:rPr>
                        <a:t>공고번호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a:t>
                      </a:r>
                    </a:p>
                    <a:p>
                      <a:pPr algn="l" latinLnBrk="1"/>
                      <a:r>
                        <a:rPr lang="en-US" altLang="ko-KR" sz="800" dirty="0">
                          <a:latin typeface="+mn-ea"/>
                          <a:ea typeface="+mn-ea"/>
                        </a:rPr>
                        <a:t>:</a:t>
                      </a:r>
                      <a:r>
                        <a:rPr lang="ko-KR" altLang="en-US" sz="800" dirty="0" err="1">
                          <a:latin typeface="+mn-ea"/>
                          <a:ea typeface="+mn-ea"/>
                        </a:rPr>
                        <a:t>지시년도</a:t>
                      </a:r>
                      <a:r>
                        <a:rPr lang="en-US" altLang="ko-KR" sz="800" dirty="0">
                          <a:latin typeface="+mn-ea"/>
                          <a:ea typeface="+mn-ea"/>
                        </a:rPr>
                        <a:t>(4)+</a:t>
                      </a:r>
                      <a:r>
                        <a:rPr lang="ko-KR" altLang="en-US" sz="800" dirty="0">
                          <a:latin typeface="+mn-ea"/>
                          <a:ea typeface="+mn-ea"/>
                        </a:rPr>
                        <a:t>공고번호</a:t>
                      </a:r>
                      <a:r>
                        <a:rPr lang="en-US" altLang="ko-KR" sz="800" dirty="0">
                          <a:latin typeface="+mn-ea"/>
                          <a:ea typeface="+mn-ea"/>
                        </a:rPr>
                        <a:t>(7)+</a:t>
                      </a:r>
                      <a:r>
                        <a:rPr lang="ko-KR" altLang="en-US" sz="800" dirty="0">
                          <a:latin typeface="+mn-ea"/>
                          <a:ea typeface="+mn-ea"/>
                        </a:rPr>
                        <a:t>판단번호</a:t>
                      </a:r>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3398618"/>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G2B</a:t>
                      </a:r>
                      <a:r>
                        <a:rPr lang="ko-KR" altLang="en-US" sz="800" dirty="0" err="1">
                          <a:latin typeface="+mn-ea"/>
                          <a:ea typeface="+mn-ea"/>
                        </a:rPr>
                        <a:t>공고차수</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rPr>
                        <a:t>g2bBidPbancCycl</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G2B</a:t>
                      </a:r>
                      <a:r>
                        <a:rPr lang="ko-KR" altLang="en-US" sz="800">
                          <a:latin typeface="+mn-ea"/>
                        </a:rPr>
                        <a:t>공고차수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7193014"/>
                  </a:ext>
                </a:extLst>
              </a:tr>
              <a:tr h="0">
                <a:tc>
                  <a:txBody>
                    <a:bodyPr/>
                    <a:lstStyle/>
                    <a:p>
                      <a:pPr latinLnBrk="1"/>
                      <a:r>
                        <a:rPr lang="ko-KR" altLang="en-US" sz="800" dirty="0" err="1">
                          <a:latin typeface="+mn-ea"/>
                          <a:ea typeface="+mn-ea"/>
                        </a:rPr>
                        <a:t>복수업체연구개발대상구분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plrlBzentyRndTrgtYn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복수업체연구개발대상구분 식별 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Y: </a:t>
                      </a:r>
                      <a:r>
                        <a:rPr lang="ko-KR" altLang="en-US" sz="800" dirty="0">
                          <a:latin typeface="+mn-ea"/>
                          <a:ea typeface="+mn-ea"/>
                        </a:rPr>
                        <a:t>대상</a:t>
                      </a:r>
                      <a:r>
                        <a:rPr lang="en-US" altLang="ko-KR" sz="800" dirty="0">
                          <a:latin typeface="+mn-ea"/>
                          <a:ea typeface="+mn-ea"/>
                        </a:rPr>
                        <a:t>, N :</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88183"/>
                  </a:ext>
                </a:extLst>
              </a:tr>
              <a:tr h="0">
                <a:tc>
                  <a:txBody>
                    <a:bodyPr/>
                    <a:lstStyle/>
                    <a:p>
                      <a:pPr latinLnBrk="1"/>
                      <a:r>
                        <a:rPr lang="ko-KR" altLang="en-US" sz="800" dirty="0">
                          <a:latin typeface="+mn-ea"/>
                          <a:ea typeface="+mn-ea"/>
                        </a:rPr>
                        <a:t>산업분류번호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tpbizCdNm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산업분류번호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rPr>
                        <a:t>tpbizCd</a:t>
                      </a:r>
                      <a:r>
                        <a:rPr lang="en-US" altLang="ko-KR" sz="800" dirty="0">
                          <a:latin typeface="+mn-ea"/>
                        </a:rPr>
                        <a:t>+’:’+</a:t>
                      </a:r>
                      <a:r>
                        <a:rPr lang="en-US" altLang="ko-KR" sz="800" dirty="0" err="1">
                          <a:latin typeface="+mn-ea"/>
                        </a:rPr>
                        <a:t>tpbizCdNm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87152"/>
                  </a:ext>
                </a:extLst>
              </a:tr>
              <a:tr h="0">
                <a:tc>
                  <a:txBody>
                    <a:bodyPr/>
                    <a:lstStyle/>
                    <a:p>
                      <a:pPr latinLnBrk="1"/>
                      <a:r>
                        <a:rPr lang="ko-KR" altLang="en-US" sz="800">
                          <a:latin typeface="+mn-ea"/>
                          <a:ea typeface="+mn-ea"/>
                        </a:rPr>
                        <a:t>신기술공고여부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ntchYn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신기술공고여부 식별 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Y: </a:t>
                      </a:r>
                      <a:r>
                        <a:rPr lang="ko-KR" altLang="en-US" sz="800" dirty="0">
                          <a:latin typeface="+mn-ea"/>
                          <a:ea typeface="+mn-ea"/>
                        </a:rPr>
                        <a:t>대상</a:t>
                      </a:r>
                      <a:r>
                        <a:rPr lang="en-US" altLang="ko-KR" sz="800" dirty="0">
                          <a:latin typeface="+mn-ea"/>
                          <a:ea typeface="+mn-ea"/>
                        </a:rPr>
                        <a:t>, N :</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a:latin typeface="+mn-ea"/>
                          <a:ea typeface="+mn-ea"/>
                        </a:rPr>
                        <a:t>공동도급이행방식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jsdShcd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공동도급이행방식명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:CMCT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하한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llmtAmtRt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예정가격결정을 위한 하한 범위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40157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상한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ulprcRt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예정가격결정을 위한 상한 범위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5061971"/>
                  </a:ext>
                </a:extLst>
              </a:tr>
              <a:tr h="0">
                <a:tc>
                  <a:txBody>
                    <a:bodyPr/>
                    <a:lstStyle/>
                    <a:p>
                      <a:pPr latinLnBrk="1"/>
                      <a:r>
                        <a:rPr lang="ko-KR" altLang="en-US" sz="800">
                          <a:latin typeface="+mn-ea"/>
                          <a:ea typeface="+mn-ea"/>
                        </a:rPr>
                        <a:t>낙찰하한율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scsbdLlmtRt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낙찰하한율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130071"/>
                  </a:ext>
                </a:extLst>
              </a:tr>
              <a:tr h="0">
                <a:tc>
                  <a:txBody>
                    <a:bodyPr/>
                    <a:lstStyle/>
                    <a:p>
                      <a:pPr latinLnBrk="1"/>
                      <a:r>
                        <a:rPr lang="ko-KR" altLang="en-US" sz="800">
                          <a:latin typeface="+mn-ea"/>
                          <a:ea typeface="+mn-ea"/>
                        </a:rPr>
                        <a:t>제한지역명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rgnNm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제한지역명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endParaRPr lang="en-US" altLang="ko-KR" sz="800" dirty="0">
                        <a:latin typeface="+mn-ea"/>
                        <a:ea typeface="+mn-ea"/>
                      </a:endParaRPr>
                    </a:p>
                    <a:p>
                      <a:pPr algn="l" latinLnBrk="1"/>
                      <a:r>
                        <a:rPr lang="ko-KR" altLang="en-US" sz="800" dirty="0">
                          <a:latin typeface="+mn-ea"/>
                          <a:ea typeface="+mn-ea"/>
                        </a:rPr>
                        <a:t>상위코드</a:t>
                      </a:r>
                      <a:r>
                        <a:rPr lang="en-US" altLang="ko-KR" sz="800" dirty="0">
                          <a:latin typeface="+mn-ea"/>
                          <a:ea typeface="+mn-ea"/>
                        </a:rPr>
                        <a:t>:SDCD(</a:t>
                      </a:r>
                      <a:r>
                        <a:rPr lang="ko-KR" altLang="en-US" sz="800" dirty="0">
                          <a:latin typeface="+mn-ea"/>
                          <a:ea typeface="+mn-ea"/>
                        </a:rPr>
                        <a:t>지역코드</a:t>
                      </a:r>
                      <a:r>
                        <a:rPr lang="en-US" altLang="ko-KR" sz="800" dirty="0">
                          <a:latin typeface="+mn-ea"/>
                          <a:ea typeface="+mn-ea"/>
                        </a:rPr>
                        <a:t>), GU7(</a:t>
                      </a:r>
                      <a:r>
                        <a:rPr lang="ko-KR" altLang="en-US" sz="800" dirty="0">
                          <a:latin typeface="+mn-ea"/>
                          <a:ea typeface="+mn-ea"/>
                        </a:rPr>
                        <a:t>소재지코드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3587660"/>
                  </a:ext>
                </a:extLst>
              </a:tr>
              <a:tr h="0">
                <a:tc>
                  <a:txBody>
                    <a:bodyPr/>
                    <a:lstStyle/>
                    <a:p>
                      <a:pPr latinLnBrk="1"/>
                      <a:r>
                        <a:rPr lang="ko-KR" altLang="en-US" sz="800">
                          <a:latin typeface="+mn-ea"/>
                          <a:ea typeface="+mn-ea"/>
                        </a:rPr>
                        <a:t>제한면허명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cnstpNm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제한면허명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Alias </a:t>
                      </a:r>
                      <a:r>
                        <a:rPr lang="ko-KR" altLang="en-US" sz="800" dirty="0">
                          <a:latin typeface="+mn-ea"/>
                          <a:ea typeface="+mn-ea"/>
                        </a:rPr>
                        <a:t>항목</a:t>
                      </a:r>
                      <a:endParaRPr lang="en-US" altLang="ko-KR" sz="800" dirty="0">
                        <a:latin typeface="+mn-ea"/>
                        <a:ea typeface="+mn-ea"/>
                      </a:endParaRPr>
                    </a:p>
                    <a:p>
                      <a:pPr algn="l" latinLnBrk="1"/>
                      <a:r>
                        <a:rPr lang="ko-KR" altLang="en-US" sz="800" dirty="0">
                          <a:latin typeface="+mn-ea"/>
                          <a:ea typeface="+mn-ea"/>
                        </a:rPr>
                        <a:t>상위코드</a:t>
                      </a:r>
                      <a:r>
                        <a:rPr lang="en-US" altLang="ko-KR" sz="800" dirty="0">
                          <a:latin typeface="+mn-ea"/>
                          <a:ea typeface="+mn-ea"/>
                        </a:rPr>
                        <a:t>:GU9(</a:t>
                      </a:r>
                      <a:r>
                        <a:rPr lang="ko-KR" altLang="en-US" sz="800" dirty="0" err="1">
                          <a:latin typeface="+mn-ea"/>
                          <a:ea typeface="+mn-ea"/>
                        </a:rPr>
                        <a:t>공종코드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593965"/>
                  </a:ext>
                </a:extLst>
              </a:tr>
            </a:tbl>
          </a:graphicData>
        </a:graphic>
      </p:graphicFrame>
    </p:spTree>
    <p:extLst>
      <p:ext uri="{BB962C8B-B14F-4D97-AF65-F5344CB8AC3E}">
        <p14:creationId xmlns:p14="http://schemas.microsoft.com/office/powerpoint/2010/main" val="2245761216"/>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55</a:t>
            </a:fld>
            <a:endParaRPr lang="ko-KR" altLang="en-US"/>
          </a:p>
        </p:txBody>
      </p:sp>
      <p:graphicFrame>
        <p:nvGraphicFramePr>
          <p:cNvPr id="3" name="표 2">
            <a:extLst>
              <a:ext uri="{FF2B5EF4-FFF2-40B4-BE49-F238E27FC236}">
                <a16:creationId xmlns:a16="http://schemas.microsoft.com/office/drawing/2014/main" id="{E9A85EF9-B12D-E207-09D2-36ADAA91B1F7}"/>
              </a:ext>
            </a:extLst>
          </p:cNvPr>
          <p:cNvGraphicFramePr>
            <a:graphicFrameLocks noGrp="1"/>
          </p:cNvGraphicFramePr>
          <p:nvPr/>
        </p:nvGraphicFramePr>
        <p:xfrm>
          <a:off x="452999" y="1079459"/>
          <a:ext cx="8994884" cy="969600"/>
        </p:xfrm>
        <a:graphic>
          <a:graphicData uri="http://schemas.openxmlformats.org/drawingml/2006/table">
            <a:tbl>
              <a:tblPr>
                <a:tableStyleId>{616DA210-FB5B-4158-B5E0-FEB733F419BA}</a:tableStyleId>
              </a:tblPr>
              <a:tblGrid>
                <a:gridCol w="1094447">
                  <a:extLst>
                    <a:ext uri="{9D8B030D-6E8A-4147-A177-3AD203B41FA5}">
                      <a16:colId xmlns:a16="http://schemas.microsoft.com/office/drawing/2014/main" val="20000"/>
                    </a:ext>
                  </a:extLst>
                </a:gridCol>
                <a:gridCol w="1172308">
                  <a:extLst>
                    <a:ext uri="{9D8B030D-6E8A-4147-A177-3AD203B41FA5}">
                      <a16:colId xmlns:a16="http://schemas.microsoft.com/office/drawing/2014/main" val="1483970480"/>
                    </a:ext>
                  </a:extLst>
                </a:gridCol>
                <a:gridCol w="3364523">
                  <a:extLst>
                    <a:ext uri="{9D8B030D-6E8A-4147-A177-3AD203B41FA5}">
                      <a16:colId xmlns:a16="http://schemas.microsoft.com/office/drawing/2014/main" val="20001"/>
                    </a:ext>
                  </a:extLst>
                </a:gridCol>
                <a:gridCol w="468923">
                  <a:extLst>
                    <a:ext uri="{9D8B030D-6E8A-4147-A177-3AD203B41FA5}">
                      <a16:colId xmlns:a16="http://schemas.microsoft.com/office/drawing/2014/main" val="20002"/>
                    </a:ext>
                  </a:extLst>
                </a:gridCol>
                <a:gridCol w="599436">
                  <a:extLst>
                    <a:ext uri="{9D8B030D-6E8A-4147-A177-3AD203B41FA5}">
                      <a16:colId xmlns:a16="http://schemas.microsoft.com/office/drawing/2014/main" val="20003"/>
                    </a:ext>
                  </a:extLst>
                </a:gridCol>
                <a:gridCol w="434236">
                  <a:extLst>
                    <a:ext uri="{9D8B030D-6E8A-4147-A177-3AD203B41FA5}">
                      <a16:colId xmlns:a16="http://schemas.microsoft.com/office/drawing/2014/main" val="20004"/>
                    </a:ext>
                  </a:extLst>
                </a:gridCol>
                <a:gridCol w="186101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제한면허코드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cnstpCd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공증</a:t>
                      </a:r>
                      <a:r>
                        <a:rPr lang="en-US" altLang="ko-KR" sz="800" dirty="0">
                          <a:latin typeface="+mn-ea"/>
                        </a:rPr>
                        <a:t>(</a:t>
                      </a:r>
                      <a:r>
                        <a:rPr lang="ko-KR" altLang="en-US" sz="800" dirty="0">
                          <a:latin typeface="+mn-ea"/>
                        </a:rPr>
                        <a:t>업종</a:t>
                      </a:r>
                      <a:r>
                        <a:rPr lang="en-US" altLang="ko-KR" sz="800" dirty="0">
                          <a:latin typeface="+mn-ea"/>
                        </a:rPr>
                        <a:t>)</a:t>
                      </a:r>
                      <a:r>
                        <a:rPr lang="ko-KR" altLang="en-US" sz="800" dirty="0">
                          <a:latin typeface="+mn-ea"/>
                        </a:rPr>
                        <a:t>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:GU9(</a:t>
                      </a:r>
                      <a:r>
                        <a:rPr lang="ko-KR" altLang="en-US" sz="800" dirty="0" err="1">
                          <a:latin typeface="+mn-ea"/>
                          <a:ea typeface="+mn-ea"/>
                        </a:rPr>
                        <a:t>공종코드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제한금액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cnstAbltEvlLmtAmt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제한금액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718819"/>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bzentyCd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지명업체 식별번호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61953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bzentyNm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지명업체명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6036586"/>
                  </a:ext>
                </a:extLst>
              </a:tr>
            </a:tbl>
          </a:graphicData>
        </a:graphic>
      </p:graphicFrame>
      <p:sp>
        <p:nvSpPr>
          <p:cNvPr id="7" name="TextBox 6">
            <a:extLst>
              <a:ext uri="{FF2B5EF4-FFF2-40B4-BE49-F238E27FC236}">
                <a16:creationId xmlns:a16="http://schemas.microsoft.com/office/drawing/2014/main" id="{8666DEFA-0D20-AA80-F2BF-B143A891188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8" name="Text Box 73">
            <a:extLst>
              <a:ext uri="{FF2B5EF4-FFF2-40B4-BE49-F238E27FC236}">
                <a16:creationId xmlns:a16="http://schemas.microsoft.com/office/drawing/2014/main" id="{F3BAC0D8-F7F8-5D04-5043-AAD77B2462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1A246CDD-3403-2D77-0210-DE28FDA040FE}"/>
              </a:ext>
            </a:extLst>
          </p:cNvPr>
          <p:cNvSpPr txBox="1"/>
          <p:nvPr/>
        </p:nvSpPr>
        <p:spPr>
          <a:xfrm>
            <a:off x="458117" y="810500"/>
            <a:ext cx="33027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err="1">
                <a:solidFill>
                  <a:prstClr val="black"/>
                </a:solidFill>
              </a:rPr>
              <a:t>입찰공고상세</a:t>
            </a:r>
            <a:r>
              <a:rPr lang="en-US" altLang="ko-KR" sz="900" b="1" dirty="0">
                <a:solidFill>
                  <a:prstClr val="black"/>
                </a:solidFill>
              </a:rPr>
              <a:t>-</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dmt_bidPbancGnrl</a:t>
            </a:r>
            <a:r>
              <a:rPr lang="en-US" altLang="ko-KR" sz="900" b="1" dirty="0">
                <a:solidFill>
                  <a:prstClr val="black"/>
                </a:solidFill>
              </a:rPr>
              <a:t>)</a:t>
            </a:r>
            <a:endParaRPr lang="ko-KR" altLang="en-US" sz="900" b="1" dirty="0">
              <a:solidFill>
                <a:prstClr val="black"/>
              </a:solidFill>
            </a:endParaRPr>
          </a:p>
        </p:txBody>
      </p:sp>
      <p:sp>
        <p:nvSpPr>
          <p:cNvPr id="2" name="TextBox 1">
            <a:extLst>
              <a:ext uri="{FF2B5EF4-FFF2-40B4-BE49-F238E27FC236}">
                <a16:creationId xmlns:a16="http://schemas.microsoft.com/office/drawing/2014/main" id="{E66D9D1D-1649-810C-9C62-3E633690892C}"/>
              </a:ext>
            </a:extLst>
          </p:cNvPr>
          <p:cNvSpPr txBox="1"/>
          <p:nvPr/>
        </p:nvSpPr>
        <p:spPr>
          <a:xfrm>
            <a:off x="458117" y="248613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884A2C2C-CD15-881B-3591-4257D55C6718}"/>
              </a:ext>
            </a:extLst>
          </p:cNvPr>
          <p:cNvGraphicFramePr>
            <a:graphicFrameLocks noGrp="1"/>
          </p:cNvGraphicFramePr>
          <p:nvPr/>
        </p:nvGraphicFramePr>
        <p:xfrm>
          <a:off x="453000" y="2764268"/>
          <a:ext cx="8995591" cy="387840"/>
        </p:xfrm>
        <a:graphic>
          <a:graphicData uri="http://schemas.openxmlformats.org/drawingml/2006/table">
            <a:tbl>
              <a:tblPr>
                <a:tableStyleId>{616DA210-FB5B-4158-B5E0-FEB733F419BA}</a:tableStyleId>
              </a:tblPr>
              <a:tblGrid>
                <a:gridCol w="1481308">
                  <a:extLst>
                    <a:ext uri="{9D8B030D-6E8A-4147-A177-3AD203B41FA5}">
                      <a16:colId xmlns:a16="http://schemas.microsoft.com/office/drawing/2014/main" val="20000"/>
                    </a:ext>
                  </a:extLst>
                </a:gridCol>
                <a:gridCol w="1242646">
                  <a:extLst>
                    <a:ext uri="{9D8B030D-6E8A-4147-A177-3AD203B41FA5}">
                      <a16:colId xmlns:a16="http://schemas.microsoft.com/office/drawing/2014/main" val="1191088031"/>
                    </a:ext>
                  </a:extLst>
                </a:gridCol>
                <a:gridCol w="3651482">
                  <a:extLst>
                    <a:ext uri="{9D8B030D-6E8A-4147-A177-3AD203B41FA5}">
                      <a16:colId xmlns:a16="http://schemas.microsoft.com/office/drawing/2014/main" val="20001"/>
                    </a:ext>
                  </a:extLst>
                </a:gridCol>
                <a:gridCol w="262015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 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공통코드정보를 </a:t>
                      </a:r>
                      <a:r>
                        <a:rPr lang="ko-KR" altLang="en-US" sz="800" dirty="0" err="1">
                          <a:latin typeface="+mn-ea"/>
                          <a:ea typeface="+mn-ea"/>
                        </a:rPr>
                        <a:t>로드한다</a:t>
                      </a:r>
                      <a:r>
                        <a:rPr lang="en-US" altLang="ko-KR" sz="800" dirty="0">
                          <a:latin typeface="+mn-ea"/>
                          <a:ea typeface="+mn-ea"/>
                        </a:rPr>
                        <a:t>. </a:t>
                      </a:r>
                      <a:r>
                        <a:rPr lang="ko-KR" altLang="en-US" sz="800" dirty="0">
                          <a:latin typeface="+mn-ea"/>
                          <a:ea typeface="+mn-ea"/>
                        </a:rPr>
                        <a:t>공고일반정보를 </a:t>
                      </a:r>
                      <a:r>
                        <a:rPr lang="ko-KR" altLang="en-US" sz="800" dirty="0" err="1">
                          <a:latin typeface="+mn-ea"/>
                          <a:ea typeface="+mn-ea"/>
                        </a:rPr>
                        <a:t>로드한다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6" name="Text Box 73">
            <a:extLst>
              <a:ext uri="{FF2B5EF4-FFF2-40B4-BE49-F238E27FC236}">
                <a16:creationId xmlns:a16="http://schemas.microsoft.com/office/drawing/2014/main" id="{5E67C676-303D-D53C-67C5-5EB5AC3D44C0}"/>
              </a:ext>
            </a:extLst>
          </p:cNvPr>
          <p:cNvSpPr txBox="1">
            <a:spLocks noChangeArrowheads="1"/>
          </p:cNvSpPr>
          <p:nvPr/>
        </p:nvSpPr>
        <p:spPr bwMode="auto">
          <a:xfrm>
            <a:off x="7769866" y="2543523"/>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23500831"/>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공고 상세 지역 제한 정보 표시</a:t>
            </a:r>
            <a:endParaRPr lang="en-US" altLang="ko-KR" dirty="0"/>
          </a:p>
          <a:p>
            <a:pPr>
              <a:buFont typeface="+mj-lt"/>
              <a:buAutoNum type="arabicPeriod"/>
            </a:pPr>
            <a:r>
              <a:rPr lang="ko-KR" altLang="en-US" dirty="0"/>
              <a:t>공증 및 </a:t>
            </a:r>
            <a:r>
              <a:rPr lang="ko-KR" altLang="en-US" dirty="0" err="1"/>
              <a:t>면허제한</a:t>
            </a:r>
            <a:r>
              <a:rPr lang="ko-KR" altLang="en-US" dirty="0"/>
              <a:t> 정보 표시</a:t>
            </a:r>
            <a:endParaRPr lang="en-US" altLang="ko-KR" dirty="0"/>
          </a:p>
          <a:p>
            <a:pPr>
              <a:buFont typeface="+mj-lt"/>
              <a:buAutoNum type="arabicPeriod"/>
            </a:pPr>
            <a:r>
              <a:rPr lang="ko-KR" altLang="en-US" dirty="0"/>
              <a:t>시공능력평가제한 정보 표시</a:t>
            </a:r>
            <a:endParaRPr lang="en-US" altLang="ko-KR" dirty="0"/>
          </a:p>
          <a:p>
            <a:pPr>
              <a:buFont typeface="+mj-lt"/>
              <a:buAutoNum type="arabicPeriod"/>
            </a:pPr>
            <a:r>
              <a:rPr lang="ko-KR" altLang="en-US" dirty="0"/>
              <a:t>지명경쟁업체 정보 표시</a:t>
            </a:r>
            <a:endParaRPr lang="en-US" altLang="ko-KR" dirty="0"/>
          </a:p>
          <a:p>
            <a:pPr>
              <a:buFont typeface="+mj-lt"/>
              <a:buAutoNum type="arabicPeriod"/>
            </a:pPr>
            <a:r>
              <a:rPr lang="ko-KR" altLang="en-US" dirty="0"/>
              <a:t>첨부서류 표시</a:t>
            </a:r>
            <a:r>
              <a:rPr lang="en-US" altLang="ko-KR" dirty="0"/>
              <a:t/>
            </a:r>
            <a:br>
              <a:rPr lang="en-US" altLang="ko-KR" dirty="0"/>
            </a:br>
            <a:r>
              <a:rPr lang="en-US" altLang="ko-KR" dirty="0"/>
              <a:t>- </a:t>
            </a:r>
            <a:r>
              <a:rPr lang="ko-KR" altLang="en-US" dirty="0"/>
              <a:t>총 </a:t>
            </a:r>
            <a:r>
              <a:rPr lang="ko-KR" altLang="en-US" dirty="0" err="1"/>
              <a:t>몇건이</a:t>
            </a:r>
            <a:r>
              <a:rPr lang="ko-KR" altLang="en-US" dirty="0"/>
              <a:t> 등록되었는지 표시</a:t>
            </a:r>
            <a:r>
              <a:rPr lang="en-US" altLang="ko-KR" dirty="0"/>
              <a:t/>
            </a:r>
            <a:br>
              <a:rPr lang="en-US" altLang="ko-KR" dirty="0"/>
            </a:br>
            <a:r>
              <a:rPr lang="en-US" altLang="ko-KR" dirty="0"/>
              <a:t>- </a:t>
            </a:r>
            <a:r>
              <a:rPr lang="ko-KR" altLang="en-US" dirty="0"/>
              <a:t>개별 리스트 탭으로 개별 다운로드</a:t>
            </a:r>
            <a:endParaRPr lang="en-US" altLang="ko-KR" dirty="0"/>
          </a:p>
          <a:p>
            <a:pPr>
              <a:buFont typeface="+mj-lt"/>
              <a:buAutoNum type="arabicPeriod"/>
            </a:pPr>
            <a:r>
              <a:rPr lang="ko-KR" altLang="en-US" dirty="0"/>
              <a:t>문의처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smtClean="0">
                <a:latin typeface="+mn-ea"/>
              </a:rPr>
              <a:t>입찰공고상세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일반정보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지역제한</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571127" y="242493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77" name="TextBox 76">
            <a:extLst>
              <a:ext uri="{FF2B5EF4-FFF2-40B4-BE49-F238E27FC236}">
                <a16:creationId xmlns:a16="http://schemas.microsoft.com/office/drawing/2014/main" id="{FFC49AEA-2A8F-250C-A86A-A7751D9706C3}"/>
              </a:ext>
            </a:extLst>
          </p:cNvPr>
          <p:cNvSpPr txBox="1"/>
          <p:nvPr/>
        </p:nvSpPr>
        <p:spPr>
          <a:xfrm>
            <a:off x="776587" y="2393360"/>
            <a:ext cx="698956" cy="215444"/>
          </a:xfrm>
          <a:prstGeom prst="rect">
            <a:avLst/>
          </a:prstGeom>
          <a:noFill/>
        </p:spPr>
        <p:txBody>
          <a:bodyPr wrap="square" lIns="0" tIns="0" rIns="0" bIns="0" rtlCol="0">
            <a:spAutoFit/>
          </a:bodyPr>
          <a:lstStyle/>
          <a:p>
            <a:pPr>
              <a:lnSpc>
                <a:spcPct val="200000"/>
              </a:lnSpc>
            </a:pPr>
            <a:r>
              <a:rPr lang="ko-KR" altLang="en-US" sz="700">
                <a:latin typeface="+mn-ea"/>
              </a:rPr>
              <a:t>공증 및 </a:t>
            </a:r>
            <a:r>
              <a:rPr lang="ko-KR" altLang="en-US" sz="700" dirty="0" err="1">
                <a:latin typeface="+mn-ea"/>
              </a:rPr>
              <a:t>면허제한</a:t>
            </a:r>
            <a:endParaRPr lang="ko-KR" altLang="en-US" sz="700" dirty="0">
              <a:latin typeface="+mn-ea"/>
            </a:endParaRPr>
          </a:p>
        </p:txBody>
      </p:sp>
      <p:grpSp>
        <p:nvGrpSpPr>
          <p:cNvPr id="78" name="그룹 77"/>
          <p:cNvGrpSpPr/>
          <p:nvPr/>
        </p:nvGrpSpPr>
        <p:grpSpPr>
          <a:xfrm flipV="1">
            <a:off x="3138674" y="2506691"/>
            <a:ext cx="94010" cy="47005"/>
            <a:chOff x="6812560" y="3297172"/>
            <a:chExt cx="94010" cy="47005"/>
          </a:xfrm>
        </p:grpSpPr>
        <p:cxnSp>
          <p:nvCxnSpPr>
            <p:cNvPr id="79" name="직선 연결선 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81" name="모서리가 둥근 직사각형 80"/>
          <p:cNvSpPr/>
          <p:nvPr/>
        </p:nvSpPr>
        <p:spPr>
          <a:xfrm>
            <a:off x="705041" y="2701432"/>
            <a:ext cx="2652743" cy="1324633"/>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a:extLst>
              <a:ext uri="{FF2B5EF4-FFF2-40B4-BE49-F238E27FC236}">
                <a16:creationId xmlns:a16="http://schemas.microsoft.com/office/drawing/2014/main" id="{FFC49AEA-2A8F-250C-A86A-A7751D9706C3}"/>
              </a:ext>
            </a:extLst>
          </p:cNvPr>
          <p:cNvSpPr txBox="1"/>
          <p:nvPr/>
        </p:nvSpPr>
        <p:spPr>
          <a:xfrm>
            <a:off x="793811" y="2799716"/>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업무도움</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171450" indent="-171450">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최대 </a:t>
            </a:r>
            <a:r>
              <a:rPr lang="en-US" altLang="ko-KR" sz="700" dirty="0">
                <a:solidFill>
                  <a:schemeClr val="tx1">
                    <a:lumMod val="85000"/>
                    <a:lumOff val="15000"/>
                  </a:schemeClr>
                </a:solidFill>
                <a:latin typeface="맑은 고딕" panose="020B0503020000020004" pitchFamily="50" charset="-127"/>
              </a:rPr>
              <a:t>16</a:t>
            </a:r>
            <a:r>
              <a:rPr lang="ko-KR" altLang="en-US" sz="700" dirty="0">
                <a:solidFill>
                  <a:schemeClr val="tx1">
                    <a:lumMod val="85000"/>
                    <a:lumOff val="15000"/>
                  </a:schemeClr>
                </a:solidFill>
                <a:latin typeface="맑은 고딕" panose="020B0503020000020004" pitchFamily="50" charset="-127"/>
              </a:rPr>
              <a:t>개의 그룹이 나타날 수 있으며</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동일그룹의</a:t>
            </a:r>
            <a:r>
              <a:rPr lang="ko-KR" altLang="en-US" sz="700" dirty="0">
                <a:solidFill>
                  <a:schemeClr val="tx1">
                    <a:lumMod val="85000"/>
                    <a:lumOff val="15000"/>
                  </a:schemeClr>
                </a:solidFill>
                <a:latin typeface="맑은 고딕" panose="020B0503020000020004" pitchFamily="50" charset="-127"/>
              </a:rPr>
              <a:t> 면허는 모두 보유해야 하며 여러 개의 그룹인 경우에는 한 개 이상의 </a:t>
            </a:r>
            <a:r>
              <a:rPr lang="ko-KR" altLang="en-US" sz="700" dirty="0" err="1">
                <a:solidFill>
                  <a:schemeClr val="tx1">
                    <a:lumMod val="85000"/>
                    <a:lumOff val="15000"/>
                  </a:schemeClr>
                </a:solidFill>
                <a:latin typeface="맑은 고딕" panose="020B0503020000020004" pitchFamily="50" charset="-127"/>
              </a:rPr>
              <a:t>그룹면허를</a:t>
            </a:r>
            <a:r>
              <a:rPr lang="ko-KR" altLang="en-US" sz="700" dirty="0">
                <a:solidFill>
                  <a:schemeClr val="tx1">
                    <a:lumMod val="85000"/>
                    <a:lumOff val="15000"/>
                  </a:schemeClr>
                </a:solidFill>
                <a:latin typeface="맑은 고딕" panose="020B0503020000020004" pitchFamily="50" charset="-127"/>
              </a:rPr>
              <a:t> 가지고 있어야 합니다</a:t>
            </a:r>
            <a:r>
              <a:rPr lang="en-US" altLang="ko-KR" sz="700" dirty="0">
                <a:solidFill>
                  <a:schemeClr val="tx1">
                    <a:lumMod val="85000"/>
                    <a:lumOff val="15000"/>
                  </a:schemeClr>
                </a:solidFill>
                <a:latin typeface="맑은 고딕" panose="020B0503020000020004" pitchFamily="50" charset="-127"/>
              </a:rPr>
              <a:t>.</a:t>
            </a:r>
          </a:p>
          <a:p>
            <a:pPr marL="171450" indent="-171450">
              <a:buFont typeface="Arial" panose="020B0604020202020204" pitchFamily="34" charset="0"/>
              <a:buChar char="•"/>
            </a:pPr>
            <a:endParaRPr lang="en-US" altLang="ko-KR" sz="700" dirty="0">
              <a:solidFill>
                <a:schemeClr val="tx1">
                  <a:lumMod val="85000"/>
                  <a:lumOff val="15000"/>
                </a:schemeClr>
              </a:solidFill>
              <a:latin typeface="맑은 고딕" panose="020B0503020000020004" pitchFamily="50" charset="-127"/>
            </a:endParaRPr>
          </a:p>
          <a:p>
            <a:pPr marL="171450" indent="-171450">
              <a:buFont typeface="Arial" panose="020B0604020202020204" pitchFamily="34" charset="0"/>
              <a:buChar char="•"/>
            </a:pPr>
            <a:r>
              <a:rPr lang="en-US" altLang="ko-KR" sz="700" dirty="0">
                <a:solidFill>
                  <a:schemeClr val="tx1">
                    <a:lumMod val="85000"/>
                    <a:lumOff val="15000"/>
                  </a:schemeClr>
                </a:solidFill>
                <a:latin typeface="맑은 고딕" panose="020B0503020000020004" pitchFamily="50" charset="-127"/>
              </a:rPr>
              <a:t>G2b</a:t>
            </a:r>
            <a:r>
              <a:rPr lang="ko-KR" altLang="en-US" sz="700" dirty="0">
                <a:solidFill>
                  <a:schemeClr val="tx1">
                    <a:lumMod val="85000"/>
                    <a:lumOff val="15000"/>
                  </a:schemeClr>
                </a:solidFill>
                <a:latin typeface="맑은 고딕" panose="020B0503020000020004" pitchFamily="50" charset="-127"/>
              </a:rPr>
              <a:t>에 등록된 </a:t>
            </a:r>
            <a:r>
              <a:rPr lang="ko-KR" altLang="en-US" sz="700" dirty="0" err="1">
                <a:solidFill>
                  <a:schemeClr val="tx1">
                    <a:lumMod val="85000"/>
                    <a:lumOff val="15000"/>
                  </a:schemeClr>
                </a:solidFill>
                <a:latin typeface="맑은 고딕" panose="020B0503020000020004" pitchFamily="50" charset="-127"/>
              </a:rPr>
              <a:t>면허정보는</a:t>
            </a:r>
            <a:r>
              <a:rPr lang="ko-KR" altLang="en-US" sz="700" dirty="0">
                <a:solidFill>
                  <a:schemeClr val="tx1">
                    <a:lumMod val="85000"/>
                    <a:lumOff val="15000"/>
                  </a:schemeClr>
                </a:solidFill>
                <a:latin typeface="맑은 고딕" panose="020B0503020000020004" pitchFamily="50" charset="-127"/>
              </a:rPr>
              <a:t> 「업체정보관리</a:t>
            </a:r>
            <a:r>
              <a:rPr lang="en-US" altLang="ko-KR" sz="700" dirty="0">
                <a:solidFill>
                  <a:schemeClr val="tx1">
                    <a:lumMod val="85000"/>
                    <a:lumOff val="15000"/>
                  </a:schemeClr>
                </a:solidFill>
                <a:latin typeface="맑은 고딕" panose="020B0503020000020004" pitchFamily="50" charset="-127"/>
              </a:rPr>
              <a:t>_</a:t>
            </a:r>
            <a:r>
              <a:rPr lang="ko-KR" altLang="en-US" sz="700" dirty="0">
                <a:solidFill>
                  <a:schemeClr val="tx1">
                    <a:lumMod val="85000"/>
                    <a:lumOff val="15000"/>
                  </a:schemeClr>
                </a:solidFill>
                <a:latin typeface="맑은 고딕" panose="020B0503020000020004" pitchFamily="50" charset="-127"/>
              </a:rPr>
              <a:t>국내업체관리</a:t>
            </a:r>
            <a:r>
              <a:rPr lang="en-US" altLang="ko-KR" sz="700" dirty="0">
                <a:solidFill>
                  <a:schemeClr val="tx1">
                    <a:lumMod val="85000"/>
                    <a:lumOff val="15000"/>
                  </a:schemeClr>
                </a:solidFill>
                <a:latin typeface="맑은 고딕" panose="020B0503020000020004" pitchFamily="50" charset="-127"/>
              </a:rPr>
              <a:t>_</a:t>
            </a:r>
            <a:r>
              <a:rPr lang="ko-KR" altLang="en-US" sz="700" dirty="0">
                <a:solidFill>
                  <a:schemeClr val="tx1">
                    <a:lumMod val="85000"/>
                    <a:lumOff val="15000"/>
                  </a:schemeClr>
                </a:solidFill>
                <a:latin typeface="맑은 고딕" panose="020B0503020000020004" pitchFamily="50" charset="-127"/>
              </a:rPr>
              <a:t>국내업체정보조회</a:t>
            </a:r>
            <a:r>
              <a:rPr lang="en-US" altLang="ko-KR" sz="700" dirty="0">
                <a:solidFill>
                  <a:schemeClr val="tx1">
                    <a:lumMod val="85000"/>
                    <a:lumOff val="15000"/>
                  </a:schemeClr>
                </a:solidFill>
                <a:latin typeface="맑은 고딕" panose="020B0503020000020004" pitchFamily="50" charset="-127"/>
              </a:rPr>
              <a:t>_</a:t>
            </a:r>
            <a:r>
              <a:rPr lang="ko-KR" altLang="en-US" sz="700" dirty="0" err="1">
                <a:solidFill>
                  <a:schemeClr val="tx1">
                    <a:lumMod val="85000"/>
                    <a:lumOff val="15000"/>
                  </a:schemeClr>
                </a:solidFill>
                <a:latin typeface="맑은 고딕" panose="020B0503020000020004" pitchFamily="50" charset="-127"/>
              </a:rPr>
              <a:t>시설정보」에서</a:t>
            </a:r>
            <a:r>
              <a:rPr lang="ko-KR" altLang="en-US" sz="700" dirty="0">
                <a:solidFill>
                  <a:schemeClr val="tx1">
                    <a:lumMod val="85000"/>
                    <a:lumOff val="15000"/>
                  </a:schemeClr>
                </a:solidFill>
                <a:latin typeface="맑은 고딕" panose="020B0503020000020004" pitchFamily="50" charset="-127"/>
              </a:rPr>
              <a:t> 확인하시고 면허 설정의 오류 또는 </a:t>
            </a:r>
            <a:r>
              <a:rPr lang="ko-KR" altLang="en-US" sz="700" dirty="0" err="1">
                <a:solidFill>
                  <a:schemeClr val="tx1">
                    <a:lumMod val="85000"/>
                    <a:lumOff val="15000"/>
                  </a:schemeClr>
                </a:solidFill>
                <a:latin typeface="맑은 고딕" panose="020B0503020000020004" pitchFamily="50" charset="-127"/>
              </a:rPr>
              <a:t>공고내용과</a:t>
            </a:r>
            <a:r>
              <a:rPr lang="ko-KR" altLang="en-US" sz="700" dirty="0">
                <a:solidFill>
                  <a:schemeClr val="tx1">
                    <a:lumMod val="85000"/>
                    <a:lumOff val="15000"/>
                  </a:schemeClr>
                </a:solidFill>
                <a:latin typeface="맑은 고딕" panose="020B0503020000020004" pitchFamily="50" charset="-127"/>
              </a:rPr>
              <a:t> 상이한 면허 제한에 이의 있으면 하단의 문의처로 연락하시기 바랍니다</a:t>
            </a:r>
            <a:r>
              <a:rPr lang="en-US" altLang="ko-KR" sz="700" dirty="0">
                <a:solidFill>
                  <a:schemeClr val="tx1">
                    <a:lumMod val="85000"/>
                    <a:lumOff val="15000"/>
                  </a:schemeClr>
                </a:solidFill>
                <a:latin typeface="맑은 고딕" panose="020B0503020000020004" pitchFamily="50" charset="-127"/>
              </a:rPr>
              <a:t>.</a:t>
            </a:r>
          </a:p>
        </p:txBody>
      </p:sp>
      <p:sp>
        <p:nvSpPr>
          <p:cNvPr id="84" name="타원 83"/>
          <p:cNvSpPr/>
          <p:nvPr/>
        </p:nvSpPr>
        <p:spPr>
          <a:xfrm>
            <a:off x="789853" y="27900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5" name="그룹 84"/>
          <p:cNvGrpSpPr/>
          <p:nvPr/>
        </p:nvGrpSpPr>
        <p:grpSpPr>
          <a:xfrm flipV="1">
            <a:off x="3138674" y="2838563"/>
            <a:ext cx="94010" cy="47005"/>
            <a:chOff x="6812560" y="3297172"/>
            <a:chExt cx="94010" cy="47005"/>
          </a:xfrm>
        </p:grpSpPr>
        <p:cxnSp>
          <p:nvCxnSpPr>
            <p:cNvPr id="86" name="직선 연결선 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7" name="직선 연결선 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1" name="TextBox 100">
            <a:extLst>
              <a:ext uri="{FF2B5EF4-FFF2-40B4-BE49-F238E27FC236}">
                <a16:creationId xmlns:a16="http://schemas.microsoft.com/office/drawing/2014/main" id="{FFC49AEA-2A8F-250C-A86A-A7751D9706C3}"/>
              </a:ext>
            </a:extLst>
          </p:cNvPr>
          <p:cNvSpPr txBox="1"/>
          <p:nvPr/>
        </p:nvSpPr>
        <p:spPr>
          <a:xfrm>
            <a:off x="762146" y="4985472"/>
            <a:ext cx="728875" cy="215444"/>
          </a:xfrm>
          <a:prstGeom prst="rect">
            <a:avLst/>
          </a:prstGeom>
          <a:noFill/>
        </p:spPr>
        <p:txBody>
          <a:bodyPr wrap="square" lIns="0" tIns="0" rIns="0" bIns="0" rtlCol="0">
            <a:spAutoFit/>
          </a:bodyPr>
          <a:lstStyle/>
          <a:p>
            <a:pPr>
              <a:lnSpc>
                <a:spcPct val="200000"/>
              </a:lnSpc>
            </a:pPr>
            <a:r>
              <a:rPr lang="ko-KR" altLang="en-US" sz="700" dirty="0">
                <a:latin typeface="+mn-ea"/>
              </a:rPr>
              <a:t>시공능력평가제한</a:t>
            </a:r>
          </a:p>
        </p:txBody>
      </p:sp>
      <p:grpSp>
        <p:nvGrpSpPr>
          <p:cNvPr id="102" name="그룹 101"/>
          <p:cNvGrpSpPr/>
          <p:nvPr/>
        </p:nvGrpSpPr>
        <p:grpSpPr>
          <a:xfrm flipV="1">
            <a:off x="3124233" y="5098803"/>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615916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모서리가 둥근 직사각형 111"/>
          <p:cNvSpPr/>
          <p:nvPr/>
        </p:nvSpPr>
        <p:spPr>
          <a:xfrm>
            <a:off x="715616" y="5449887"/>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793812" y="551528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1125945" y="5515286"/>
            <a:ext cx="1233079"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업종명칭</a:t>
            </a:r>
            <a:endParaRPr lang="en-US" altLang="ko-KR" sz="700" dirty="0">
              <a:solidFill>
                <a:schemeClr val="tx1">
                  <a:lumMod val="85000"/>
                  <a:lumOff val="15000"/>
                </a:schemeClr>
              </a:solidFill>
              <a:latin typeface="맑은 고딕" panose="020B0503020000020004" pitchFamily="50" charset="-127"/>
            </a:endParaRPr>
          </a:p>
        </p:txBody>
      </p:sp>
      <p:sp>
        <p:nvSpPr>
          <p:cNvPr id="116" name="TextBox 115">
            <a:extLst>
              <a:ext uri="{FF2B5EF4-FFF2-40B4-BE49-F238E27FC236}">
                <a16:creationId xmlns:a16="http://schemas.microsoft.com/office/drawing/2014/main" id="{FFC49AEA-2A8F-250C-A86A-A7751D9706C3}"/>
              </a:ext>
            </a:extLst>
          </p:cNvPr>
          <p:cNvSpPr txBox="1"/>
          <p:nvPr/>
        </p:nvSpPr>
        <p:spPr>
          <a:xfrm>
            <a:off x="793812" y="5285533"/>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2460625" y="5515286"/>
            <a:ext cx="808388" cy="107722"/>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000,000,000,000 </a:t>
            </a:r>
            <a:r>
              <a:rPr lang="ko-KR" altLang="en-US" sz="700" dirty="0">
                <a:solidFill>
                  <a:schemeClr val="tx1">
                    <a:lumMod val="85000"/>
                    <a:lumOff val="15000"/>
                  </a:schemeClr>
                </a:solidFill>
                <a:latin typeface="맑은 고딕" panose="020B0503020000020004" pitchFamily="50" charset="-127"/>
              </a:rPr>
              <a:t>원</a:t>
            </a:r>
            <a:endParaRPr lang="en-US" altLang="ko-KR" sz="700" dirty="0">
              <a:solidFill>
                <a:schemeClr val="tx1">
                  <a:lumMod val="85000"/>
                  <a:lumOff val="15000"/>
                </a:schemeClr>
              </a:solidFill>
              <a:latin typeface="맑은 고딕" panose="020B0503020000020004" pitchFamily="50" charset="-127"/>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1125945" y="5285533"/>
            <a:ext cx="498650"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공종</a:t>
            </a:r>
            <a:r>
              <a:rPr lang="en-US" altLang="ko-KR" sz="600" dirty="0">
                <a:solidFill>
                  <a:schemeClr val="tx1">
                    <a:lumMod val="85000"/>
                    <a:lumOff val="15000"/>
                  </a:schemeClr>
                </a:solidFill>
                <a:latin typeface="맑은 고딕" panose="020B0503020000020004" pitchFamily="50" charset="-127"/>
              </a:rPr>
              <a:t>(</a:t>
            </a:r>
            <a:r>
              <a:rPr lang="ko-KR" altLang="en-US" sz="600" dirty="0">
                <a:solidFill>
                  <a:schemeClr val="tx1">
                    <a:lumMod val="85000"/>
                    <a:lumOff val="15000"/>
                  </a:schemeClr>
                </a:solidFill>
                <a:latin typeface="맑은 고딕" panose="020B0503020000020004" pitchFamily="50" charset="-127"/>
              </a:rPr>
              <a:t>업종</a:t>
            </a:r>
            <a:r>
              <a:rPr lang="en-US" altLang="ko-KR" sz="600" dirty="0">
                <a:solidFill>
                  <a:schemeClr val="tx1">
                    <a:lumMod val="85000"/>
                    <a:lumOff val="15000"/>
                  </a:schemeClr>
                </a:solidFill>
                <a:latin typeface="맑은 고딕" panose="020B0503020000020004" pitchFamily="50" charset="-127"/>
              </a:rPr>
              <a:t>)</a:t>
            </a:r>
            <a:r>
              <a:rPr lang="ko-KR" altLang="en-US" sz="600" dirty="0">
                <a:solidFill>
                  <a:schemeClr val="tx1">
                    <a:lumMod val="85000"/>
                    <a:lumOff val="15000"/>
                  </a:schemeClr>
                </a:solidFill>
                <a:latin typeface="맑은 고딕" panose="020B0503020000020004" pitchFamily="50" charset="-127"/>
              </a:rPr>
              <a:t>명</a:t>
            </a:r>
            <a:endParaRPr lang="en-US" altLang="ko-KR" sz="600" dirty="0">
              <a:solidFill>
                <a:schemeClr val="tx1">
                  <a:lumMod val="85000"/>
                  <a:lumOff val="15000"/>
                </a:schemeClr>
              </a:solidFill>
              <a:latin typeface="맑은 고딕" panose="020B0503020000020004" pitchFamily="50" charset="-127"/>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2653730" y="5285533"/>
            <a:ext cx="498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제한금액</a:t>
            </a:r>
            <a:endParaRPr lang="en-US" altLang="ko-KR" sz="600" dirty="0">
              <a:solidFill>
                <a:schemeClr val="tx1">
                  <a:lumMod val="85000"/>
                  <a:lumOff val="15000"/>
                </a:schemeClr>
              </a:solidFill>
              <a:latin typeface="맑은 고딕" panose="020B0503020000020004" pitchFamily="50" charset="-127"/>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3878080" y="1620037"/>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지명경쟁업체</a:t>
            </a:r>
            <a:endParaRPr lang="ko-KR" altLang="en-US" sz="700" dirty="0">
              <a:latin typeface="+mn-ea"/>
            </a:endParaRPr>
          </a:p>
        </p:txBody>
      </p:sp>
      <p:grpSp>
        <p:nvGrpSpPr>
          <p:cNvPr id="121" name="그룹 120"/>
          <p:cNvGrpSpPr/>
          <p:nvPr/>
        </p:nvGrpSpPr>
        <p:grpSpPr>
          <a:xfrm flipV="1">
            <a:off x="6240167" y="1733368"/>
            <a:ext cx="94010" cy="47005"/>
            <a:chOff x="6812560" y="3297172"/>
            <a:chExt cx="94010" cy="47005"/>
          </a:xfrm>
        </p:grpSpPr>
        <p:cxnSp>
          <p:nvCxnSpPr>
            <p:cNvPr id="122" name="직선 연결선 12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5" name="모서리가 둥근 직사각형 124"/>
          <p:cNvSpPr/>
          <p:nvPr/>
        </p:nvSpPr>
        <p:spPr>
          <a:xfrm>
            <a:off x="3831550" y="2084452"/>
            <a:ext cx="2652743" cy="547623"/>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3909746" y="230440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4332218" y="2142820"/>
            <a:ext cx="2071044" cy="430887"/>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업체코드</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업체명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대표자</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사업자등록번호</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주소</a:t>
            </a:r>
            <a:endParaRPr lang="en-US" altLang="ko-KR" sz="700" dirty="0">
              <a:solidFill>
                <a:schemeClr val="tx1">
                  <a:lumMod val="85000"/>
                  <a:lumOff val="15000"/>
                </a:schemeClr>
              </a:solidFill>
              <a:latin typeface="맑은 고딕" panose="020B0503020000020004" pitchFamily="50" charset="-127"/>
            </a:endParaRPr>
          </a:p>
        </p:txBody>
      </p:sp>
      <p:sp>
        <p:nvSpPr>
          <p:cNvPr id="128" name="TextBox 127">
            <a:extLst>
              <a:ext uri="{FF2B5EF4-FFF2-40B4-BE49-F238E27FC236}">
                <a16:creationId xmlns:a16="http://schemas.microsoft.com/office/drawing/2014/main" id="{FFC49AEA-2A8F-250C-A86A-A7751D9706C3}"/>
              </a:ext>
            </a:extLst>
          </p:cNvPr>
          <p:cNvSpPr txBox="1"/>
          <p:nvPr/>
        </p:nvSpPr>
        <p:spPr>
          <a:xfrm>
            <a:off x="3838314" y="192009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4332218" y="1920098"/>
            <a:ext cx="498650"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업체정보</a:t>
            </a:r>
            <a:endParaRPr lang="en-US" altLang="ko-KR" sz="600" dirty="0">
              <a:solidFill>
                <a:schemeClr val="tx1">
                  <a:lumMod val="85000"/>
                  <a:lumOff val="15000"/>
                </a:schemeClr>
              </a:solidFill>
              <a:latin typeface="맑은 고딕" panose="020B0503020000020004" pitchFamily="50" charset="-127"/>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3878080" y="2878425"/>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133" name="그룹 132"/>
          <p:cNvGrpSpPr/>
          <p:nvPr/>
        </p:nvGrpSpPr>
        <p:grpSpPr>
          <a:xfrm flipV="1">
            <a:off x="6240167" y="2991756"/>
            <a:ext cx="94010" cy="47005"/>
            <a:chOff x="6812560" y="3297172"/>
            <a:chExt cx="94010" cy="47005"/>
          </a:xfrm>
        </p:grpSpPr>
        <p:cxnSp>
          <p:nvCxnSpPr>
            <p:cNvPr id="134" name="직선 연결선 1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5" name="직선 연결선 1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7" name="모서리가 둥근 직사각형 136"/>
          <p:cNvSpPr/>
          <p:nvPr/>
        </p:nvSpPr>
        <p:spPr>
          <a:xfrm>
            <a:off x="3831550" y="327681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4332218" y="335133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3909746" y="3405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44" name="타원 143"/>
          <p:cNvSpPr/>
          <p:nvPr/>
        </p:nvSpPr>
        <p:spPr>
          <a:xfrm>
            <a:off x="6191669" y="338705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모서리가 둥근 직사각형 144"/>
          <p:cNvSpPr/>
          <p:nvPr/>
        </p:nvSpPr>
        <p:spPr>
          <a:xfrm>
            <a:off x="3831550" y="368349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TextBox 145">
            <a:extLst>
              <a:ext uri="{FF2B5EF4-FFF2-40B4-BE49-F238E27FC236}">
                <a16:creationId xmlns:a16="http://schemas.microsoft.com/office/drawing/2014/main" id="{FFC49AEA-2A8F-250C-A86A-A7751D9706C3}"/>
              </a:ext>
            </a:extLst>
          </p:cNvPr>
          <p:cNvSpPr txBox="1"/>
          <p:nvPr/>
        </p:nvSpPr>
        <p:spPr>
          <a:xfrm>
            <a:off x="4332218" y="375801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3909746" y="381187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48" name="타원 147"/>
          <p:cNvSpPr/>
          <p:nvPr/>
        </p:nvSpPr>
        <p:spPr>
          <a:xfrm>
            <a:off x="6191669" y="379374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1" name="TextBox 150">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문의처</a:t>
            </a:r>
            <a:endParaRPr lang="ko-KR" altLang="en-US" sz="700" dirty="0">
              <a:latin typeface="+mn-ea"/>
            </a:endParaRPr>
          </a:p>
        </p:txBody>
      </p:sp>
      <p:grpSp>
        <p:nvGrpSpPr>
          <p:cNvPr id="152" name="그룹 151"/>
          <p:cNvGrpSpPr/>
          <p:nvPr/>
        </p:nvGrpSpPr>
        <p:grpSpPr>
          <a:xfrm flipV="1">
            <a:off x="6240167" y="4729163"/>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a:solidFill>
                  <a:schemeClr val="tx1">
                    <a:lumMod val="85000"/>
                    <a:lumOff val="15000"/>
                  </a:schemeClr>
                </a:solidFill>
                <a:latin typeface="맑은 고딕" panose="020B0503020000020004" pitchFamily="50" charset="-127"/>
              </a:rPr>
              <a:t>기관 부서명</a:t>
            </a:r>
            <a:endParaRPr lang="en-US" altLang="ko-KR" sz="600" dirty="0">
              <a:solidFill>
                <a:schemeClr val="tx1">
                  <a:lumMod val="85000"/>
                  <a:lumOff val="15000"/>
                </a:schemeClr>
              </a:solidFill>
              <a:latin typeface="맑은 고딕" panose="020B0503020000020004" pitchFamily="50" charset="-127"/>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88" name="TextBox 187">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sp>
        <p:nvSpPr>
          <p:cNvPr id="257" name="타원 256">
            <a:extLst>
              <a:ext uri="{FF2B5EF4-FFF2-40B4-BE49-F238E27FC236}">
                <a16:creationId xmlns:a16="http://schemas.microsoft.com/office/drawing/2014/main" id="{37A7FF4F-0EAA-1463-560A-D5EC24416103}"/>
              </a:ext>
            </a:extLst>
          </p:cNvPr>
          <p:cNvSpPr/>
          <p:nvPr/>
        </p:nvSpPr>
        <p:spPr>
          <a:xfrm>
            <a:off x="3690133" y="16473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3795735" y="275425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3795735" y="4480713"/>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3" name="모서리가 둥근 직사각형 192"/>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4" name="TextBox 193">
            <a:extLst>
              <a:ext uri="{FF2B5EF4-FFF2-40B4-BE49-F238E27FC236}">
                <a16:creationId xmlns:a16="http://schemas.microsoft.com/office/drawing/2014/main" id="{FFC49AEA-2A8F-250C-A86A-A7751D9706C3}"/>
              </a:ext>
            </a:extLst>
          </p:cNvPr>
          <p:cNvSpPr txBox="1"/>
          <p:nvPr/>
        </p:nvSpPr>
        <p:spPr>
          <a:xfrm>
            <a:off x="3963885" y="5206692"/>
            <a:ext cx="493904"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방위사업청</a:t>
            </a:r>
            <a:endParaRPr lang="en-US" altLang="ko-KR" sz="700" dirty="0">
              <a:solidFill>
                <a:schemeClr val="tx1">
                  <a:lumMod val="85000"/>
                  <a:lumOff val="15000"/>
                </a:schemeClr>
              </a:solidFill>
              <a:latin typeface="맑은 고딕" panose="020B0503020000020004" pitchFamily="50" charset="-127"/>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홍길동 </a:t>
            </a:r>
            <a:r>
              <a:rPr lang="ko-KR" altLang="en-US" sz="700" dirty="0" err="1">
                <a:solidFill>
                  <a:schemeClr val="tx1">
                    <a:lumMod val="85000"/>
                    <a:lumOff val="15000"/>
                  </a:schemeClr>
                </a:solidFill>
                <a:latin typeface="맑은 고딕" panose="020B0503020000020004" pitchFamily="50" charset="-127"/>
              </a:rPr>
              <a:t>주무관</a:t>
            </a:r>
            <a:endParaRPr lang="en-US" altLang="ko-KR" sz="700" dirty="0">
              <a:solidFill>
                <a:schemeClr val="tx1">
                  <a:lumMod val="85000"/>
                  <a:lumOff val="15000"/>
                </a:schemeClr>
              </a:solidFill>
              <a:latin typeface="맑은 고딕" panose="020B0503020000020004" pitchFamily="50" charset="-127"/>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sp>
        <p:nvSpPr>
          <p:cNvPr id="200" name="모서리가 둥근 직사각형 199"/>
          <p:cNvSpPr/>
          <p:nvPr/>
        </p:nvSpPr>
        <p:spPr>
          <a:xfrm>
            <a:off x="715616" y="4262602"/>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1" name="TextBox 200">
            <a:extLst>
              <a:ext uri="{FF2B5EF4-FFF2-40B4-BE49-F238E27FC236}">
                <a16:creationId xmlns:a16="http://schemas.microsoft.com/office/drawing/2014/main" id="{FFC49AEA-2A8F-250C-A86A-A7751D9706C3}"/>
              </a:ext>
            </a:extLst>
          </p:cNvPr>
          <p:cNvSpPr txBox="1"/>
          <p:nvPr/>
        </p:nvSpPr>
        <p:spPr>
          <a:xfrm>
            <a:off x="793812" y="432800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1125945" y="4328001"/>
            <a:ext cx="1556360"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l"/>
            <a:r>
              <a:rPr lang="en-US" altLang="ko-KR" dirty="0"/>
              <a:t>[</a:t>
            </a:r>
            <a:r>
              <a:rPr lang="ko-KR" altLang="en-US" dirty="0" err="1"/>
              <a:t>면허제한</a:t>
            </a:r>
            <a:r>
              <a:rPr lang="en-US" altLang="ko-KR" dirty="0"/>
              <a:t>] </a:t>
            </a:r>
            <a:r>
              <a:rPr lang="ko-KR" altLang="en-US" dirty="0"/>
              <a:t>의료기기판매업</a:t>
            </a:r>
            <a:endParaRPr lang="en-US" altLang="ko-KR" dirty="0"/>
          </a:p>
        </p:txBody>
      </p:sp>
      <p:sp>
        <p:nvSpPr>
          <p:cNvPr id="205" name="모서리가 둥근 직사각형 204"/>
          <p:cNvSpPr/>
          <p:nvPr/>
        </p:nvSpPr>
        <p:spPr>
          <a:xfrm>
            <a:off x="715616" y="1937794"/>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6" name="TextBox 205">
            <a:extLst>
              <a:ext uri="{FF2B5EF4-FFF2-40B4-BE49-F238E27FC236}">
                <a16:creationId xmlns:a16="http://schemas.microsoft.com/office/drawing/2014/main" id="{FFC49AEA-2A8F-250C-A86A-A7751D9706C3}"/>
              </a:ext>
            </a:extLst>
          </p:cNvPr>
          <p:cNvSpPr txBox="1"/>
          <p:nvPr/>
        </p:nvSpPr>
        <p:spPr>
          <a:xfrm>
            <a:off x="793812" y="2003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07" name="TextBox 206">
            <a:extLst>
              <a:ext uri="{FF2B5EF4-FFF2-40B4-BE49-F238E27FC236}">
                <a16:creationId xmlns:a16="http://schemas.microsoft.com/office/drawing/2014/main" id="{FFC49AEA-2A8F-250C-A86A-A7751D9706C3}"/>
              </a:ext>
            </a:extLst>
          </p:cNvPr>
          <p:cNvSpPr txBox="1"/>
          <p:nvPr/>
        </p:nvSpPr>
        <p:spPr>
          <a:xfrm>
            <a:off x="1125945" y="2003193"/>
            <a:ext cx="1689495"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pPr algn="l"/>
            <a:r>
              <a:rPr lang="ko-KR" altLang="en-US" dirty="0"/>
              <a:t>서울특별시</a:t>
            </a:r>
            <a:endParaRPr lang="en-US" altLang="ko-KR" dirty="0"/>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675399" y="49226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675399" y="228949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0" name="TextBox 209">
            <a:extLst>
              <a:ext uri="{FF2B5EF4-FFF2-40B4-BE49-F238E27FC236}">
                <a16:creationId xmlns:a16="http://schemas.microsoft.com/office/drawing/2014/main" id="{FFC49AEA-2A8F-250C-A86A-A7751D9706C3}"/>
              </a:ext>
            </a:extLst>
          </p:cNvPr>
          <p:cNvSpPr txBox="1"/>
          <p:nvPr/>
        </p:nvSpPr>
        <p:spPr>
          <a:xfrm>
            <a:off x="4332218" y="314169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11" name="TextBox 210">
            <a:extLst>
              <a:ext uri="{FF2B5EF4-FFF2-40B4-BE49-F238E27FC236}">
                <a16:creationId xmlns:a16="http://schemas.microsoft.com/office/drawing/2014/main" id="{FFC49AEA-2A8F-250C-A86A-A7751D9706C3}"/>
              </a:ext>
            </a:extLst>
          </p:cNvPr>
          <p:cNvSpPr txBox="1"/>
          <p:nvPr/>
        </p:nvSpPr>
        <p:spPr>
          <a:xfrm>
            <a:off x="6101185" y="314169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793812" y="4118569"/>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1125945" y="4118569"/>
            <a:ext cx="696976"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명칭</a:t>
            </a:r>
            <a:endParaRPr lang="en-US" altLang="ko-KR" sz="600" dirty="0">
              <a:solidFill>
                <a:schemeClr val="tx1">
                  <a:lumMod val="85000"/>
                  <a:lumOff val="15000"/>
                </a:schemeClr>
              </a:solidFill>
              <a:latin typeface="맑은 고딕" panose="020B0503020000020004" pitchFamily="50" charset="-127"/>
            </a:endParaRPr>
          </a:p>
        </p:txBody>
      </p:sp>
      <p:sp>
        <p:nvSpPr>
          <p:cNvPr id="214" name="TextBox 213">
            <a:extLst>
              <a:ext uri="{FF2B5EF4-FFF2-40B4-BE49-F238E27FC236}">
                <a16:creationId xmlns:a16="http://schemas.microsoft.com/office/drawing/2014/main" id="{FFC49AEA-2A8F-250C-A86A-A7751D9706C3}"/>
              </a:ext>
            </a:extLst>
          </p:cNvPr>
          <p:cNvSpPr txBox="1"/>
          <p:nvPr/>
        </p:nvSpPr>
        <p:spPr>
          <a:xfrm>
            <a:off x="793812" y="1792037"/>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1125945" y="1792037"/>
            <a:ext cx="696976"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지역</a:t>
            </a:r>
            <a:endParaRPr lang="en-US" altLang="ko-KR" sz="600" dirty="0">
              <a:solidFill>
                <a:schemeClr val="tx1">
                  <a:lumMod val="85000"/>
                  <a:lumOff val="15000"/>
                </a:schemeClr>
              </a:solidFill>
              <a:latin typeface="맑은 고딕" panose="020B0503020000020004" pitchFamily="50" charset="-127"/>
            </a:endParaRPr>
          </a:p>
        </p:txBody>
      </p:sp>
      <p:sp>
        <p:nvSpPr>
          <p:cNvPr id="216" name="모서리가 둥근 직사각형 215"/>
          <p:cNvSpPr/>
          <p:nvPr/>
        </p:nvSpPr>
        <p:spPr>
          <a:xfrm>
            <a:off x="715616" y="5750278"/>
            <a:ext cx="2652743" cy="343488"/>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TextBox 216">
            <a:extLst>
              <a:ext uri="{FF2B5EF4-FFF2-40B4-BE49-F238E27FC236}">
                <a16:creationId xmlns:a16="http://schemas.microsoft.com/office/drawing/2014/main" id="{FFC49AEA-2A8F-250C-A86A-A7751D9706C3}"/>
              </a:ext>
            </a:extLst>
          </p:cNvPr>
          <p:cNvSpPr txBox="1"/>
          <p:nvPr/>
        </p:nvSpPr>
        <p:spPr>
          <a:xfrm>
            <a:off x="793812" y="58681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18" name="TextBox 217">
            <a:extLst>
              <a:ext uri="{FF2B5EF4-FFF2-40B4-BE49-F238E27FC236}">
                <a16:creationId xmlns:a16="http://schemas.microsoft.com/office/drawing/2014/main" id="{FFC49AEA-2A8F-250C-A86A-A7751D9706C3}"/>
              </a:ext>
            </a:extLst>
          </p:cNvPr>
          <p:cNvSpPr txBox="1"/>
          <p:nvPr/>
        </p:nvSpPr>
        <p:spPr>
          <a:xfrm>
            <a:off x="1125945" y="5814300"/>
            <a:ext cx="1233079"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업종명칭</a:t>
            </a:r>
            <a:r>
              <a:rPr lang="ko-KR" altLang="en-US" sz="700" dirty="0">
                <a:solidFill>
                  <a:schemeClr val="tx1">
                    <a:lumMod val="85000"/>
                    <a:lumOff val="15000"/>
                  </a:schemeClr>
                </a:solidFill>
                <a:latin typeface="맑은 고딕" panose="020B0503020000020004" pitchFamily="50" charset="-127"/>
              </a:rPr>
              <a:t> </a:t>
            </a:r>
            <a:r>
              <a:rPr lang="en-US" altLang="ko-KR" sz="700" dirty="0">
                <a:solidFill>
                  <a:schemeClr val="tx1">
                    <a:lumMod val="85000"/>
                    <a:lumOff val="15000"/>
                  </a:schemeClr>
                </a:solidFill>
                <a:latin typeface="맑은 고딕" panose="020B0503020000020004" pitchFamily="50" charset="-127"/>
              </a:rPr>
              <a:t>1</a:t>
            </a:r>
          </a:p>
          <a:p>
            <a:r>
              <a:rPr lang="ko-KR" altLang="en-US" sz="700" dirty="0" err="1">
                <a:solidFill>
                  <a:schemeClr val="tx1">
                    <a:lumMod val="85000"/>
                    <a:lumOff val="15000"/>
                  </a:schemeClr>
                </a:solidFill>
                <a:latin typeface="맑은 고딕" panose="020B0503020000020004" pitchFamily="50" charset="-127"/>
              </a:rPr>
              <a:t>업종명칭</a:t>
            </a:r>
            <a:r>
              <a:rPr lang="ko-KR" altLang="en-US" sz="700" dirty="0">
                <a:solidFill>
                  <a:schemeClr val="tx1">
                    <a:lumMod val="85000"/>
                    <a:lumOff val="15000"/>
                  </a:schemeClr>
                </a:solidFill>
                <a:latin typeface="맑은 고딕" panose="020B0503020000020004" pitchFamily="50" charset="-127"/>
              </a:rPr>
              <a:t> </a:t>
            </a:r>
            <a:r>
              <a:rPr lang="en-US" altLang="ko-KR" sz="700" dirty="0">
                <a:solidFill>
                  <a:schemeClr val="tx1">
                    <a:lumMod val="85000"/>
                    <a:lumOff val="15000"/>
                  </a:schemeClr>
                </a:solidFill>
                <a:latin typeface="맑은 고딕" panose="020B0503020000020004" pitchFamily="50" charset="-127"/>
              </a:rPr>
              <a:t>2</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2460625" y="5814300"/>
            <a:ext cx="808388" cy="215444"/>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000,000,000,000 </a:t>
            </a:r>
            <a:r>
              <a:rPr lang="ko-KR" altLang="en-US" sz="700" dirty="0">
                <a:solidFill>
                  <a:schemeClr val="tx1">
                    <a:lumMod val="85000"/>
                    <a:lumOff val="15000"/>
                  </a:schemeClr>
                </a:solidFill>
                <a:latin typeface="맑은 고딕" panose="020B0503020000020004" pitchFamily="50" charset="-127"/>
              </a:rPr>
              <a:t>원</a:t>
            </a:r>
            <a:endParaRPr lang="en-US" altLang="ko-KR" sz="700" dirty="0">
              <a:solidFill>
                <a:schemeClr val="tx1">
                  <a:lumMod val="85000"/>
                  <a:lumOff val="15000"/>
                </a:schemeClr>
              </a:solidFill>
              <a:latin typeface="맑은 고딕" panose="020B0503020000020004" pitchFamily="50" charset="-127"/>
            </a:endParaRPr>
          </a:p>
          <a:p>
            <a:pPr algn="r"/>
            <a:r>
              <a:rPr lang="en-US" altLang="ko-KR" sz="700" dirty="0">
                <a:solidFill>
                  <a:schemeClr val="tx1">
                    <a:lumMod val="85000"/>
                    <a:lumOff val="15000"/>
                  </a:schemeClr>
                </a:solidFill>
                <a:latin typeface="맑은 고딕" panose="020B0503020000020004" pitchFamily="50" charset="-127"/>
              </a:rPr>
              <a:t>000,000,000,000 </a:t>
            </a:r>
            <a:r>
              <a:rPr lang="ko-KR" altLang="en-US" sz="700" dirty="0">
                <a:solidFill>
                  <a:schemeClr val="tx1">
                    <a:lumMod val="85000"/>
                    <a:lumOff val="15000"/>
                  </a:schemeClr>
                </a:solidFill>
                <a:latin typeface="맑은 고딕" panose="020B0503020000020004" pitchFamily="50" charset="-127"/>
              </a:rPr>
              <a:t>원</a:t>
            </a:r>
            <a:endParaRPr lang="en-US" altLang="ko-KR" sz="700" dirty="0">
              <a:solidFill>
                <a:schemeClr val="tx1">
                  <a:lumMod val="85000"/>
                  <a:lumOff val="15000"/>
                </a:schemeClr>
              </a:solidFill>
              <a:latin typeface="맑은 고딕" panose="020B0503020000020004" pitchFamily="50" charset="-127"/>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2886211" y="1792037"/>
            <a:ext cx="382802"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지역코드</a:t>
            </a:r>
            <a:endParaRPr lang="en-US" altLang="ko-KR" sz="600" dirty="0">
              <a:solidFill>
                <a:schemeClr val="tx1">
                  <a:lumMod val="85000"/>
                  <a:lumOff val="15000"/>
                </a:schemeClr>
              </a:solidFill>
              <a:latin typeface="맑은 고딕" panose="020B0503020000020004" pitchFamily="50" charset="-127"/>
            </a:endParaRPr>
          </a:p>
        </p:txBody>
      </p:sp>
      <p:sp>
        <p:nvSpPr>
          <p:cNvPr id="221" name="TextBox 220">
            <a:extLst>
              <a:ext uri="{FF2B5EF4-FFF2-40B4-BE49-F238E27FC236}">
                <a16:creationId xmlns:a16="http://schemas.microsoft.com/office/drawing/2014/main" id="{FFC49AEA-2A8F-250C-A86A-A7751D9706C3}"/>
              </a:ext>
            </a:extLst>
          </p:cNvPr>
          <p:cNvSpPr txBox="1"/>
          <p:nvPr/>
        </p:nvSpPr>
        <p:spPr>
          <a:xfrm>
            <a:off x="2886212" y="2003193"/>
            <a:ext cx="382801"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r>
              <a:rPr lang="en-US" altLang="ko-KR" dirty="0"/>
              <a:t>[11000]</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2922563" y="4328001"/>
            <a:ext cx="326737"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ctr"/>
            <a:r>
              <a:rPr lang="en-US" altLang="ko-KR" dirty="0"/>
              <a:t>[5312]</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2879387" y="4118569"/>
            <a:ext cx="413088"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면허코드</a:t>
            </a:r>
            <a:endParaRPr lang="en-US" altLang="ko-KR" sz="600" dirty="0">
              <a:solidFill>
                <a:schemeClr val="tx1">
                  <a:lumMod val="85000"/>
                  <a:lumOff val="15000"/>
                </a:schemeClr>
              </a:solidFill>
              <a:latin typeface="맑은 고딕" panose="020B0503020000020004" pitchFamily="50" charset="-127"/>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3838314" y="314169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25" name="타원 224">
            <a:extLst>
              <a:ext uri="{FF2B5EF4-FFF2-40B4-BE49-F238E27FC236}">
                <a16:creationId xmlns:a16="http://schemas.microsoft.com/office/drawing/2014/main" id="{37A7FF4F-0EAA-1463-560A-D5EC24416103}"/>
              </a:ext>
            </a:extLst>
          </p:cNvPr>
          <p:cNvSpPr/>
          <p:nvPr/>
        </p:nvSpPr>
        <p:spPr>
          <a:xfrm>
            <a:off x="571127" y="503419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26" name="타원 225">
            <a:extLst>
              <a:ext uri="{FF2B5EF4-FFF2-40B4-BE49-F238E27FC236}">
                <a16:creationId xmlns:a16="http://schemas.microsoft.com/office/drawing/2014/main" id="{37A7FF4F-0EAA-1463-560A-D5EC24416103}"/>
              </a:ext>
            </a:extLst>
          </p:cNvPr>
          <p:cNvSpPr/>
          <p:nvPr/>
        </p:nvSpPr>
        <p:spPr>
          <a:xfrm>
            <a:off x="3690133" y="29089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90133" y="46428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6</a:t>
            </a:r>
            <a:endParaRPr lang="ko-KR" altLang="en-US" sz="900" b="1" dirty="0"/>
          </a:p>
        </p:txBody>
      </p:sp>
      <p:sp>
        <p:nvSpPr>
          <p:cNvPr id="228" name="모서리가 둥근 직사각형 227"/>
          <p:cNvSpPr/>
          <p:nvPr/>
        </p:nvSpPr>
        <p:spPr>
          <a:xfrm>
            <a:off x="715616" y="4534773"/>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9" name="TextBox 228">
            <a:extLst>
              <a:ext uri="{FF2B5EF4-FFF2-40B4-BE49-F238E27FC236}">
                <a16:creationId xmlns:a16="http://schemas.microsoft.com/office/drawing/2014/main" id="{FFC49AEA-2A8F-250C-A86A-A7751D9706C3}"/>
              </a:ext>
            </a:extLst>
          </p:cNvPr>
          <p:cNvSpPr txBox="1"/>
          <p:nvPr/>
        </p:nvSpPr>
        <p:spPr>
          <a:xfrm>
            <a:off x="793812" y="460017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1125945" y="4600172"/>
            <a:ext cx="1556360"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l"/>
            <a:r>
              <a:rPr lang="en-US" altLang="ko-KR" dirty="0"/>
              <a:t>[</a:t>
            </a:r>
            <a:r>
              <a:rPr lang="ko-KR" altLang="en-US" dirty="0"/>
              <a:t>공증</a:t>
            </a:r>
            <a:r>
              <a:rPr lang="en-US" altLang="ko-KR" dirty="0"/>
              <a:t>] </a:t>
            </a:r>
            <a:r>
              <a:rPr lang="ko-KR" altLang="en-US" dirty="0"/>
              <a:t>의료기기판매업</a:t>
            </a:r>
            <a:endParaRPr lang="en-US" altLang="ko-KR" dirty="0"/>
          </a:p>
        </p:txBody>
      </p:sp>
      <p:sp>
        <p:nvSpPr>
          <p:cNvPr id="235" name="TextBox 234">
            <a:extLst>
              <a:ext uri="{FF2B5EF4-FFF2-40B4-BE49-F238E27FC236}">
                <a16:creationId xmlns:a16="http://schemas.microsoft.com/office/drawing/2014/main" id="{FFC49AEA-2A8F-250C-A86A-A7751D9706C3}"/>
              </a:ext>
            </a:extLst>
          </p:cNvPr>
          <p:cNvSpPr txBox="1"/>
          <p:nvPr/>
        </p:nvSpPr>
        <p:spPr>
          <a:xfrm>
            <a:off x="2922563" y="4600172"/>
            <a:ext cx="326737"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ctr"/>
            <a:r>
              <a:rPr lang="en-US" altLang="ko-KR" dirty="0"/>
              <a:t>[5312]</a:t>
            </a:r>
          </a:p>
        </p:txBody>
      </p:sp>
      <p:sp>
        <p:nvSpPr>
          <p:cNvPr id="247" name="TextBox 24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5" name="직사각형 104"/>
          <p:cNvSpPr/>
          <p:nvPr/>
        </p:nvSpPr>
        <p:spPr>
          <a:xfrm>
            <a:off x="10019352" y="0"/>
            <a:ext cx="3117528" cy="5380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항목설명  내용 없음</a:t>
            </a:r>
            <a:endParaRPr lang="en-US" altLang="ko-KR" dirty="0" smtClean="0"/>
          </a:p>
          <a:p>
            <a:pPr algn="ctr"/>
            <a:r>
              <a:rPr lang="en-US" altLang="ko-KR" dirty="0" smtClean="0"/>
              <a:t>(UI-BD-01-M04)</a:t>
            </a:r>
            <a:r>
              <a:rPr lang="ko-KR" altLang="en-US" dirty="0" smtClean="0"/>
              <a:t>항목 </a:t>
            </a:r>
            <a:endParaRPr lang="ko-KR" altLang="en-US" dirty="0"/>
          </a:p>
        </p:txBody>
      </p:sp>
    </p:spTree>
    <p:extLst>
      <p:ext uri="{BB962C8B-B14F-4D97-AF65-F5344CB8AC3E}">
        <p14:creationId xmlns:p14="http://schemas.microsoft.com/office/powerpoint/2010/main" val="4131422944"/>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총액제</a:t>
            </a:r>
            <a:r>
              <a:rPr lang="ko-KR" altLang="en-US" dirty="0"/>
              <a:t> 화면</a:t>
            </a:r>
            <a:r>
              <a:rPr lang="en-US" altLang="ko-KR" dirty="0"/>
              <a:t/>
            </a:r>
            <a:br>
              <a:rPr lang="en-US" altLang="ko-KR" dirty="0"/>
            </a:br>
            <a:r>
              <a:rPr lang="en-US" altLang="ko-KR" dirty="0" smtClean="0"/>
              <a:t>- </a:t>
            </a:r>
            <a:r>
              <a:rPr lang="ko-KR" altLang="en-US" dirty="0"/>
              <a:t>수의계약인 경우 탭 노출하지 </a:t>
            </a:r>
            <a:r>
              <a:rPr lang="ko-KR" altLang="en-US" dirty="0" smtClean="0"/>
              <a:t>않음</a:t>
            </a:r>
            <a:r>
              <a:rPr lang="en-US" altLang="ko-KR" dirty="0"/>
              <a:t/>
            </a:r>
            <a:br>
              <a:rPr lang="en-US" altLang="ko-KR" dirty="0"/>
            </a:br>
            <a:r>
              <a:rPr lang="en-US" altLang="ko-KR" dirty="0" smtClean="0"/>
              <a:t>- </a:t>
            </a:r>
            <a:r>
              <a:rPr lang="ko-KR" altLang="en-US" dirty="0"/>
              <a:t>입찰참가자격이 ‘</a:t>
            </a:r>
            <a:r>
              <a:rPr lang="en-US" altLang="ko-KR" dirty="0"/>
              <a:t>Y’</a:t>
            </a:r>
            <a:r>
              <a:rPr lang="ko-KR" altLang="en-US" dirty="0"/>
              <a:t>일 경우 기초예비가격</a:t>
            </a:r>
            <a:r>
              <a:rPr lang="en-US" altLang="ko-KR" dirty="0"/>
              <a:t>Tab </a:t>
            </a:r>
            <a:r>
              <a:rPr lang="ko-KR" altLang="en-US" dirty="0" smtClean="0"/>
              <a:t>노출</a:t>
            </a:r>
            <a:r>
              <a:rPr lang="en-US" altLang="ko-KR" dirty="0" smtClean="0"/>
              <a:t/>
            </a:r>
            <a:br>
              <a:rPr lang="en-US" altLang="ko-KR" dirty="0" smtClean="0"/>
            </a:br>
            <a:r>
              <a:rPr lang="en-US" altLang="ko-KR" dirty="0" smtClean="0"/>
              <a:t>- </a:t>
            </a:r>
            <a:r>
              <a:rPr lang="ko-KR" altLang="en-US" dirty="0" err="1" smtClean="0"/>
              <a:t>업무구분이</a:t>
            </a:r>
            <a:r>
              <a:rPr lang="ko-KR" altLang="en-US" dirty="0" smtClean="0"/>
              <a:t> ‘물품</a:t>
            </a:r>
            <a:r>
              <a:rPr lang="en-US" altLang="ko-KR" dirty="0" smtClean="0"/>
              <a:t>/</a:t>
            </a:r>
            <a:r>
              <a:rPr lang="ko-KR" altLang="en-US" dirty="0" err="1" smtClean="0"/>
              <a:t>용역’인</a:t>
            </a:r>
            <a:r>
              <a:rPr lang="ko-KR" altLang="en-US" dirty="0" smtClean="0"/>
              <a:t> 경우 표시 화면</a:t>
            </a:r>
            <a:endParaRPr lang="en-US" altLang="ko-KR" dirty="0" smtClean="0"/>
          </a:p>
          <a:p>
            <a:pPr>
              <a:buFont typeface="+mj-lt"/>
              <a:buAutoNum type="arabicPeriod"/>
            </a:pPr>
            <a:r>
              <a:rPr lang="ko-KR" altLang="en-US" dirty="0" err="1" smtClean="0">
                <a:solidFill>
                  <a:prstClr val="black"/>
                </a:solidFill>
                <a:latin typeface="맑은 고딕" panose="020B0503020000020004" pitchFamily="50" charset="-127"/>
              </a:rPr>
              <a:t>업무구분</a:t>
            </a:r>
            <a:r>
              <a:rPr lang="ko-KR" altLang="en-US" dirty="0" smtClean="0">
                <a:solidFill>
                  <a:prstClr val="black"/>
                </a:solidFill>
                <a:latin typeface="맑은 고딕" panose="020B0503020000020004" pitchFamily="50" charset="-127"/>
              </a:rPr>
              <a:t> </a:t>
            </a:r>
            <a:r>
              <a:rPr lang="en-US" altLang="ko-KR" dirty="0">
                <a:solidFill>
                  <a:prstClr val="black"/>
                </a:solidFill>
                <a:latin typeface="맑은 고딕" panose="020B0503020000020004" pitchFamily="50" charset="-127"/>
              </a:rPr>
              <a:t>‘</a:t>
            </a:r>
            <a:r>
              <a:rPr lang="ko-KR" altLang="en-US" dirty="0">
                <a:solidFill>
                  <a:prstClr val="black"/>
                </a:solidFill>
                <a:latin typeface="맑은 고딕" panose="020B0503020000020004" pitchFamily="50" charset="-127"/>
              </a:rPr>
              <a:t>물품</a:t>
            </a:r>
            <a:r>
              <a:rPr lang="en-US" altLang="ko-KR" dirty="0">
                <a:solidFill>
                  <a:prstClr val="black"/>
                </a:solidFill>
                <a:latin typeface="맑은 고딕" panose="020B0503020000020004" pitchFamily="50" charset="-127"/>
              </a:rPr>
              <a:t>/</a:t>
            </a:r>
            <a:r>
              <a:rPr lang="ko-KR" altLang="en-US" dirty="0">
                <a:solidFill>
                  <a:prstClr val="black"/>
                </a:solidFill>
                <a:latin typeface="맑은 고딕" panose="020B0503020000020004" pitchFamily="50" charset="-127"/>
              </a:rPr>
              <a:t>용역</a:t>
            </a:r>
            <a:r>
              <a:rPr lang="en-US" altLang="ko-KR" dirty="0">
                <a:solidFill>
                  <a:prstClr val="black"/>
                </a:solidFill>
                <a:latin typeface="맑은 고딕" panose="020B0503020000020004" pitchFamily="50" charset="-127"/>
              </a:rPr>
              <a:t>‘, </a:t>
            </a:r>
            <a:r>
              <a:rPr lang="ko-KR" altLang="en-US" dirty="0" err="1">
                <a:solidFill>
                  <a:prstClr val="black"/>
                </a:solidFill>
                <a:latin typeface="맑은 고딕" panose="020B0503020000020004" pitchFamily="50" charset="-127"/>
              </a:rPr>
              <a:t>계약유형</a:t>
            </a:r>
            <a:r>
              <a:rPr lang="ko-KR" altLang="en-US" dirty="0">
                <a:solidFill>
                  <a:prstClr val="black"/>
                </a:solidFill>
                <a:latin typeface="맑은 고딕" panose="020B0503020000020004" pitchFamily="50" charset="-127"/>
              </a:rPr>
              <a:t> </a:t>
            </a:r>
            <a:r>
              <a:rPr lang="en-US" altLang="ko-KR" dirty="0" smtClean="0">
                <a:solidFill>
                  <a:prstClr val="black"/>
                </a:solidFill>
                <a:latin typeface="맑은 고딕" panose="020B0503020000020004" pitchFamily="50" charset="-127"/>
              </a:rPr>
              <a:t>‘</a:t>
            </a:r>
            <a:r>
              <a:rPr lang="ko-KR" altLang="en-US" dirty="0" err="1" smtClean="0">
                <a:solidFill>
                  <a:prstClr val="black"/>
                </a:solidFill>
                <a:latin typeface="맑은 고딕" panose="020B0503020000020004" pitchFamily="50" charset="-127"/>
              </a:rPr>
              <a:t>총액제</a:t>
            </a:r>
            <a:r>
              <a:rPr lang="en-US" altLang="ko-KR" dirty="0" smtClean="0">
                <a:solidFill>
                  <a:prstClr val="black"/>
                </a:solidFill>
                <a:latin typeface="맑은 고딕" panose="020B0503020000020004" pitchFamily="50" charset="-127"/>
              </a:rPr>
              <a:t>’ </a:t>
            </a:r>
            <a:r>
              <a:rPr lang="ko-KR" altLang="en-US" dirty="0" err="1" smtClean="0">
                <a:solidFill>
                  <a:prstClr val="black"/>
                </a:solidFill>
                <a:latin typeface="맑은 고딕" panose="020B0503020000020004" pitchFamily="50" charset="-127"/>
              </a:rPr>
              <a:t>인경우</a:t>
            </a:r>
            <a:r>
              <a:rPr lang="ko-KR" altLang="en-US" dirty="0" smtClean="0">
                <a:solidFill>
                  <a:prstClr val="black"/>
                </a:solidFill>
                <a:latin typeface="맑은 고딕" panose="020B0503020000020004" pitchFamily="50" charset="-127"/>
              </a:rPr>
              <a:t> </a:t>
            </a:r>
            <a:r>
              <a:rPr lang="en-US" altLang="ko-KR" dirty="0" smtClean="0">
                <a:solidFill>
                  <a:prstClr val="black"/>
                </a:solidFill>
                <a:latin typeface="맑은 고딕" panose="020B0503020000020004" pitchFamily="50" charset="-127"/>
              </a:rPr>
              <a:t> </a:t>
            </a:r>
            <a:br>
              <a:rPr lang="en-US" altLang="ko-KR" dirty="0" smtClean="0">
                <a:solidFill>
                  <a:prstClr val="black"/>
                </a:solidFill>
                <a:latin typeface="맑은 고딕" panose="020B0503020000020004" pitchFamily="50" charset="-127"/>
              </a:rPr>
            </a:br>
            <a:r>
              <a:rPr lang="en-US" altLang="ko-KR" dirty="0" smtClean="0">
                <a:solidFill>
                  <a:prstClr val="black"/>
                </a:solidFill>
                <a:latin typeface="맑은 고딕" panose="020B0503020000020004" pitchFamily="50" charset="-127"/>
              </a:rPr>
              <a:t>- </a:t>
            </a:r>
            <a:r>
              <a:rPr lang="ko-KR" altLang="en-US" dirty="0" err="1" smtClean="0">
                <a:solidFill>
                  <a:prstClr val="black"/>
                </a:solidFill>
                <a:latin typeface="맑은 고딕" panose="020B0503020000020004" pitchFamily="50" charset="-127"/>
              </a:rPr>
              <a:t>낙찰하한율</a:t>
            </a:r>
            <a:r>
              <a:rPr lang="en-US" altLang="ko-KR" dirty="0" smtClean="0">
                <a:solidFill>
                  <a:prstClr val="black"/>
                </a:solidFill>
                <a:latin typeface="맑은 고딕" panose="020B0503020000020004" pitchFamily="50" charset="-127"/>
              </a:rPr>
              <a:t>,</a:t>
            </a:r>
            <a:r>
              <a:rPr lang="ko-KR" altLang="en-US" dirty="0" smtClean="0"/>
              <a:t>확정비목비율</a:t>
            </a:r>
            <a:r>
              <a:rPr lang="en-US" altLang="ko-KR" dirty="0" smtClean="0"/>
              <a:t>,</a:t>
            </a:r>
            <a:r>
              <a:rPr lang="ko-KR" altLang="en-US" dirty="0" smtClean="0"/>
              <a:t>불확정비목비율</a:t>
            </a:r>
            <a:r>
              <a:rPr lang="en-US" altLang="ko-KR" dirty="0"/>
              <a:t> </a:t>
            </a:r>
            <a:r>
              <a:rPr lang="ko-KR" altLang="en-US" dirty="0" smtClean="0"/>
              <a:t>항목이 </a:t>
            </a:r>
            <a:r>
              <a:rPr lang="ko-KR" altLang="en-US" dirty="0"/>
              <a:t>노출</a:t>
            </a:r>
            <a:endParaRPr lang="en-US" altLang="ko-KR" dirty="0"/>
          </a:p>
          <a:p>
            <a:pPr>
              <a:buFont typeface="+mj-lt"/>
              <a:buAutoNum type="arabicPeriod"/>
            </a:pPr>
            <a:r>
              <a:rPr lang="ko-KR" altLang="en-US" dirty="0" err="1">
                <a:solidFill>
                  <a:prstClr val="black"/>
                </a:solidFill>
                <a:latin typeface="맑은 고딕" panose="020B0503020000020004" pitchFamily="50" charset="-127"/>
              </a:rPr>
              <a:t>업무구분</a:t>
            </a:r>
            <a:r>
              <a:rPr lang="ko-KR" altLang="en-US" dirty="0">
                <a:solidFill>
                  <a:prstClr val="black"/>
                </a:solidFill>
                <a:latin typeface="맑은 고딕" panose="020B0503020000020004" pitchFamily="50" charset="-127"/>
              </a:rPr>
              <a:t> </a:t>
            </a:r>
            <a:r>
              <a:rPr lang="en-US" altLang="ko-KR" dirty="0">
                <a:solidFill>
                  <a:prstClr val="black"/>
                </a:solidFill>
                <a:latin typeface="맑은 고딕" panose="020B0503020000020004" pitchFamily="50" charset="-127"/>
              </a:rPr>
              <a:t>‘</a:t>
            </a:r>
            <a:r>
              <a:rPr lang="ko-KR" altLang="en-US" dirty="0">
                <a:solidFill>
                  <a:prstClr val="black"/>
                </a:solidFill>
                <a:latin typeface="맑은 고딕" panose="020B0503020000020004" pitchFamily="50" charset="-127"/>
              </a:rPr>
              <a:t>물품</a:t>
            </a:r>
            <a:r>
              <a:rPr lang="en-US" altLang="ko-KR" dirty="0">
                <a:solidFill>
                  <a:prstClr val="black"/>
                </a:solidFill>
                <a:latin typeface="맑은 고딕" panose="020B0503020000020004" pitchFamily="50" charset="-127"/>
              </a:rPr>
              <a:t>/</a:t>
            </a:r>
            <a:r>
              <a:rPr lang="ko-KR" altLang="en-US" dirty="0">
                <a:solidFill>
                  <a:prstClr val="black"/>
                </a:solidFill>
                <a:latin typeface="맑은 고딕" panose="020B0503020000020004" pitchFamily="50" charset="-127"/>
              </a:rPr>
              <a:t>용역</a:t>
            </a:r>
            <a:r>
              <a:rPr lang="en-US" altLang="ko-KR" dirty="0">
                <a:solidFill>
                  <a:prstClr val="black"/>
                </a:solidFill>
                <a:latin typeface="맑은 고딕" panose="020B0503020000020004" pitchFamily="50" charset="-127"/>
              </a:rPr>
              <a:t>‘, </a:t>
            </a:r>
            <a:r>
              <a:rPr lang="ko-KR" altLang="en-US" dirty="0" err="1">
                <a:solidFill>
                  <a:prstClr val="black"/>
                </a:solidFill>
                <a:latin typeface="맑은 고딕" panose="020B0503020000020004" pitchFamily="50" charset="-127"/>
              </a:rPr>
              <a:t>계약유형</a:t>
            </a:r>
            <a:r>
              <a:rPr lang="ko-KR" altLang="en-US" dirty="0">
                <a:solidFill>
                  <a:prstClr val="black"/>
                </a:solidFill>
                <a:latin typeface="맑은 고딕" panose="020B0503020000020004" pitchFamily="50" charset="-127"/>
              </a:rPr>
              <a:t> </a:t>
            </a:r>
            <a:r>
              <a:rPr lang="en-US" altLang="ko-KR" dirty="0" smtClean="0">
                <a:solidFill>
                  <a:prstClr val="black"/>
                </a:solidFill>
                <a:latin typeface="맑은 고딕" panose="020B0503020000020004" pitchFamily="50" charset="-127"/>
              </a:rPr>
              <a:t>‘</a:t>
            </a:r>
            <a:r>
              <a:rPr lang="ko-KR" altLang="en-US" dirty="0" err="1" smtClean="0">
                <a:solidFill>
                  <a:prstClr val="black"/>
                </a:solidFill>
                <a:latin typeface="맑은 고딕" panose="020B0503020000020004" pitchFamily="50" charset="-127"/>
              </a:rPr>
              <a:t>단가제</a:t>
            </a:r>
            <a:r>
              <a:rPr lang="en-US" altLang="ko-KR" dirty="0" smtClean="0">
                <a:solidFill>
                  <a:prstClr val="black"/>
                </a:solidFill>
                <a:latin typeface="맑은 고딕" panose="020B0503020000020004" pitchFamily="50" charset="-127"/>
              </a:rPr>
              <a:t>’ </a:t>
            </a:r>
            <a:r>
              <a:rPr lang="ko-KR" altLang="en-US" dirty="0" err="1">
                <a:solidFill>
                  <a:prstClr val="black"/>
                </a:solidFill>
                <a:latin typeface="맑은 고딕" panose="020B0503020000020004" pitchFamily="50" charset="-127"/>
              </a:rPr>
              <a:t>인경우</a:t>
            </a:r>
            <a:r>
              <a:rPr lang="en-US" altLang="ko-KR" dirty="0" smtClean="0"/>
              <a:t/>
            </a:r>
            <a:br>
              <a:rPr lang="en-US" altLang="ko-KR" dirty="0" smtClean="0"/>
            </a:br>
            <a:r>
              <a:rPr lang="en-US" altLang="ko-KR" dirty="0" smtClean="0"/>
              <a:t>- </a:t>
            </a:r>
            <a:r>
              <a:rPr lang="ko-KR" altLang="en-US" dirty="0" smtClean="0">
                <a:solidFill>
                  <a:prstClr val="black"/>
                </a:solidFill>
              </a:rPr>
              <a:t>기초예비가격</a:t>
            </a:r>
            <a:r>
              <a:rPr lang="en-US" altLang="ko-KR" dirty="0">
                <a:solidFill>
                  <a:prstClr val="black"/>
                </a:solidFill>
              </a:rPr>
              <a:t>(</a:t>
            </a:r>
            <a:r>
              <a:rPr lang="ko-KR" altLang="en-US" dirty="0" err="1">
                <a:solidFill>
                  <a:prstClr val="black"/>
                </a:solidFill>
              </a:rPr>
              <a:t>단가제</a:t>
            </a:r>
            <a:r>
              <a:rPr lang="en-US" altLang="ko-KR" dirty="0">
                <a:solidFill>
                  <a:prstClr val="black"/>
                </a:solidFill>
              </a:rPr>
              <a:t>) </a:t>
            </a:r>
            <a:r>
              <a:rPr lang="ko-KR" altLang="en-US" dirty="0">
                <a:solidFill>
                  <a:prstClr val="black"/>
                </a:solidFill>
              </a:rPr>
              <a:t>데이터 영역 </a:t>
            </a:r>
            <a:r>
              <a:rPr lang="en-US" altLang="ko-KR" dirty="0" smtClean="0">
                <a:solidFill>
                  <a:prstClr val="black"/>
                </a:solidFill>
              </a:rPr>
              <a:t>(</a:t>
            </a:r>
            <a:r>
              <a:rPr lang="ko-KR" altLang="en-US" dirty="0" err="1" smtClean="0">
                <a:solidFill>
                  <a:prstClr val="black"/>
                </a:solidFill>
              </a:rPr>
              <a:t>잇</a:t>
            </a:r>
            <a:r>
              <a:rPr lang="en-US" altLang="ko-KR" dirty="0" smtClean="0">
                <a:solidFill>
                  <a:prstClr val="black"/>
                </a:solidFill>
              </a:rPr>
              <a:t>_</a:t>
            </a:r>
            <a:r>
              <a:rPr lang="en-US" altLang="ko-KR" dirty="0" err="1">
                <a:solidFill>
                  <a:prstClr val="black"/>
                </a:solidFill>
              </a:rPr>
              <a:t>BrprcInfoItitb</a:t>
            </a:r>
            <a:r>
              <a:rPr lang="en-US" altLang="ko-KR" dirty="0" smtClean="0">
                <a:solidFill>
                  <a:prstClr val="black"/>
                </a:solidFill>
              </a:rPr>
              <a:t>)</a:t>
            </a:r>
            <a:r>
              <a:rPr lang="ko-KR" altLang="en-US" dirty="0" smtClean="0">
                <a:solidFill>
                  <a:prstClr val="black"/>
                </a:solidFill>
              </a:rPr>
              <a:t>참고</a:t>
            </a:r>
            <a:r>
              <a:rPr lang="en-US" altLang="ko-KR" dirty="0" smtClean="0">
                <a:solidFill>
                  <a:prstClr val="black"/>
                </a:solidFill>
              </a:rPr>
              <a:t/>
            </a:r>
            <a:br>
              <a:rPr lang="en-US" altLang="ko-KR" dirty="0" smtClean="0">
                <a:solidFill>
                  <a:prstClr val="black"/>
                </a:solidFill>
              </a:rPr>
            </a:br>
            <a:r>
              <a:rPr lang="en-US" altLang="ko-KR" dirty="0" smtClean="0"/>
              <a:t>- </a:t>
            </a:r>
            <a:r>
              <a:rPr lang="ko-KR" altLang="en-US" dirty="0"/>
              <a:t>항목이 여러 개인 경우 하단으로 테이블 추가하여 노출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입찰공고상세 </a:t>
            </a:r>
            <a:r>
              <a:rPr lang="en-US" altLang="ko-KR" dirty="0">
                <a:latin typeface="+mn-ea"/>
              </a:rPr>
              <a:t>- </a:t>
            </a:r>
            <a:r>
              <a:rPr lang="ko-KR" altLang="en-US" dirty="0" smtClean="0">
                <a:latin typeface="+mn-ea"/>
              </a:rPr>
              <a:t>기초예비가격</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기초예비가격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기초예비가격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1384703"/>
            <a:chOff x="701175" y="1527996"/>
            <a:chExt cx="2630093" cy="13847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444365" cy="215444"/>
            </a:xfrm>
            <a:prstGeom prst="rect">
              <a:avLst/>
            </a:prstGeom>
            <a:noFill/>
          </p:spPr>
          <p:txBody>
            <a:bodyPr wrap="square" lIns="0" tIns="0" rIns="0" bIns="0" rtlCol="0">
              <a:spAutoFit/>
            </a:bodyPr>
            <a:lstStyle/>
            <a:p>
              <a:pPr>
                <a:lnSpc>
                  <a:spcPct val="200000"/>
                </a:lnSpc>
              </a:pPr>
              <a:r>
                <a:rPr lang="ko-KR" altLang="en-US" sz="700" dirty="0" smtClean="0">
                  <a:latin typeface="+mn-ea"/>
                </a:rPr>
                <a:t>기초예비가격</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10737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1077218"/>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사정율</a:t>
              </a:r>
              <a:r>
                <a:rPr lang="en-US" altLang="ko-KR" sz="700" dirty="0">
                  <a:latin typeface="+mn-ea"/>
                </a:rPr>
                <a:t>(%)</a:t>
              </a:r>
            </a:p>
            <a:p>
              <a:pPr>
                <a:lnSpc>
                  <a:spcPct val="200000"/>
                </a:lnSpc>
              </a:pPr>
              <a:r>
                <a:rPr lang="ko-KR" altLang="en-US" sz="700" dirty="0" err="1">
                  <a:latin typeface="+mn-ea"/>
                </a:rPr>
                <a:t>낙찰하한율</a:t>
              </a:r>
              <a:r>
                <a:rPr lang="en-US" altLang="ko-KR" sz="700" dirty="0">
                  <a:latin typeface="+mn-ea"/>
                </a:rPr>
                <a:t>(%)</a:t>
              </a:r>
            </a:p>
            <a:p>
              <a:pPr>
                <a:lnSpc>
                  <a:spcPct val="200000"/>
                </a:lnSpc>
              </a:pPr>
              <a:r>
                <a:rPr lang="ko-KR" altLang="en-US" sz="700" dirty="0">
                  <a:latin typeface="+mn-ea"/>
                </a:rPr>
                <a:t>확정비목비율</a:t>
              </a:r>
              <a:endParaRPr lang="en-US" altLang="ko-KR" sz="700" dirty="0">
                <a:latin typeface="+mn-ea"/>
              </a:endParaRPr>
            </a:p>
            <a:p>
              <a:pPr>
                <a:lnSpc>
                  <a:spcPct val="200000"/>
                </a:lnSpc>
              </a:pPr>
              <a:r>
                <a:rPr lang="ko-KR" altLang="en-US" sz="700" dirty="0">
                  <a:latin typeface="+mn-ea"/>
                </a:rPr>
                <a:t>불확정비목비율</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84088" cy="1077218"/>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17" name="그룹 16"/>
            <p:cNvGrpSpPr/>
            <p:nvPr/>
          </p:nvGrpSpPr>
          <p:grpSpPr>
            <a:xfrm>
              <a:off x="701175" y="1835481"/>
              <a:ext cx="2630093" cy="1073700"/>
              <a:chOff x="701175" y="1835481"/>
              <a:chExt cx="2630093" cy="107370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56" name="타원 255">
            <a:extLst>
              <a:ext uri="{FF2B5EF4-FFF2-40B4-BE49-F238E27FC236}">
                <a16:creationId xmlns:a16="http://schemas.microsoft.com/office/drawing/2014/main" id="{37A7FF4F-0EAA-1463-560A-D5EC24416103}"/>
              </a:ext>
            </a:extLst>
          </p:cNvPr>
          <p:cNvSpPr/>
          <p:nvPr/>
        </p:nvSpPr>
        <p:spPr>
          <a:xfrm>
            <a:off x="3689399"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74" name="TextBox 73">
            <a:extLst>
              <a:ext uri="{FF2B5EF4-FFF2-40B4-BE49-F238E27FC236}">
                <a16:creationId xmlns:a16="http://schemas.microsoft.com/office/drawing/2014/main" id="{FFC49AEA-2A8F-250C-A86A-A7751D9706C3}"/>
              </a:ext>
            </a:extLst>
          </p:cNvPr>
          <p:cNvSpPr txBox="1"/>
          <p:nvPr/>
        </p:nvSpPr>
        <p:spPr>
          <a:xfrm>
            <a:off x="3882480" y="15279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p>
        </p:txBody>
      </p:sp>
      <p:grpSp>
        <p:nvGrpSpPr>
          <p:cNvPr id="75" name="그룹 74"/>
          <p:cNvGrpSpPr/>
          <p:nvPr/>
        </p:nvGrpSpPr>
        <p:grpSpPr>
          <a:xfrm flipV="1">
            <a:off x="6244568" y="1641327"/>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6" name="직사각형 75"/>
          <p:cNvSpPr/>
          <p:nvPr/>
        </p:nvSpPr>
        <p:spPr>
          <a:xfrm>
            <a:off x="3823603" y="1835481"/>
            <a:ext cx="792000" cy="15021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6" y="1835481"/>
            <a:ext cx="725552" cy="1508105"/>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사정율</a:t>
            </a:r>
            <a:r>
              <a:rPr lang="en-US" altLang="ko-KR" sz="700" dirty="0">
                <a:latin typeface="+mn-ea"/>
              </a:rPr>
              <a:t>(%)</a:t>
            </a:r>
          </a:p>
          <a:p>
            <a:pPr>
              <a:lnSpc>
                <a:spcPct val="200000"/>
              </a:lnSpc>
            </a:pPr>
            <a:r>
              <a:rPr lang="ko-KR" altLang="en-US" sz="700" dirty="0" err="1">
                <a:latin typeface="+mn-ea"/>
              </a:rPr>
              <a:t>낙찰하한율</a:t>
            </a:r>
            <a:r>
              <a:rPr lang="en-US" altLang="ko-KR" sz="700" dirty="0">
                <a:latin typeface="+mn-ea"/>
              </a:rPr>
              <a:t>(%)</a:t>
            </a:r>
            <a:endParaRPr lang="ko-KR" altLang="en-US" sz="700" dirty="0">
              <a:latin typeface="+mn-ea"/>
            </a:endParaRPr>
          </a:p>
        </p:txBody>
      </p:sp>
      <p:sp>
        <p:nvSpPr>
          <p:cNvPr id="78" name="TextBox 77">
            <a:extLst>
              <a:ext uri="{FF2B5EF4-FFF2-40B4-BE49-F238E27FC236}">
                <a16:creationId xmlns:a16="http://schemas.microsoft.com/office/drawing/2014/main" id="{FFC49AEA-2A8F-250C-A86A-A7751D9706C3}"/>
              </a:ext>
            </a:extLst>
          </p:cNvPr>
          <p:cNvSpPr txBox="1"/>
          <p:nvPr/>
        </p:nvSpPr>
        <p:spPr>
          <a:xfrm>
            <a:off x="4667515" y="183548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p:txBody>
      </p:sp>
      <p:grpSp>
        <p:nvGrpSpPr>
          <p:cNvPr id="79" name="그룹 78"/>
          <p:cNvGrpSpPr/>
          <p:nvPr/>
        </p:nvGrpSpPr>
        <p:grpSpPr>
          <a:xfrm>
            <a:off x="3821510" y="1835481"/>
            <a:ext cx="2630093" cy="1503180"/>
            <a:chOff x="701175" y="1835481"/>
            <a:chExt cx="2630093" cy="1503180"/>
          </a:xfrm>
        </p:grpSpPr>
        <p:cxnSp>
          <p:nvCxnSpPr>
            <p:cNvPr id="80" name="직선 연결선 7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5734" y="513676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055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직사각형 104"/>
          <p:cNvSpPr/>
          <p:nvPr/>
        </p:nvSpPr>
        <p:spPr>
          <a:xfrm>
            <a:off x="3823603" y="3504491"/>
            <a:ext cx="792000" cy="15021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6" name="TextBox 105">
            <a:extLst>
              <a:ext uri="{FF2B5EF4-FFF2-40B4-BE49-F238E27FC236}">
                <a16:creationId xmlns:a16="http://schemas.microsoft.com/office/drawing/2014/main" id="{FFC49AEA-2A8F-250C-A86A-A7751D9706C3}"/>
              </a:ext>
            </a:extLst>
          </p:cNvPr>
          <p:cNvSpPr txBox="1"/>
          <p:nvPr/>
        </p:nvSpPr>
        <p:spPr>
          <a:xfrm>
            <a:off x="3910666" y="3504491"/>
            <a:ext cx="725552" cy="1508105"/>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사정율</a:t>
            </a:r>
            <a:r>
              <a:rPr lang="en-US" altLang="ko-KR" sz="700" dirty="0">
                <a:latin typeface="+mn-ea"/>
              </a:rPr>
              <a:t>(%)</a:t>
            </a:r>
          </a:p>
          <a:p>
            <a:pPr>
              <a:lnSpc>
                <a:spcPct val="200000"/>
              </a:lnSpc>
            </a:pPr>
            <a:r>
              <a:rPr lang="ko-KR" altLang="en-US" sz="700" dirty="0" err="1">
                <a:latin typeface="+mn-ea"/>
              </a:rPr>
              <a:t>낙찰하한율</a:t>
            </a:r>
            <a:r>
              <a:rPr lang="en-US" altLang="ko-KR" sz="700" dirty="0">
                <a:latin typeface="+mn-ea"/>
              </a:rPr>
              <a:t>(%)</a:t>
            </a:r>
            <a:endParaRPr lang="ko-KR" altLang="en-US"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4667515" y="350449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p:txBody>
      </p:sp>
      <p:grpSp>
        <p:nvGrpSpPr>
          <p:cNvPr id="109" name="그룹 108"/>
          <p:cNvGrpSpPr/>
          <p:nvPr/>
        </p:nvGrpSpPr>
        <p:grpSpPr>
          <a:xfrm>
            <a:off x="3821510" y="3504491"/>
            <a:ext cx="2630093" cy="1503180"/>
            <a:chOff x="701175" y="1835481"/>
            <a:chExt cx="2630093" cy="150318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9" name="직사각형 58"/>
          <p:cNvSpPr/>
          <p:nvPr/>
        </p:nvSpPr>
        <p:spPr>
          <a:xfrm>
            <a:off x="684162" y="2264350"/>
            <a:ext cx="2655869" cy="676565"/>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62" name="표 61"/>
          <p:cNvGraphicFramePr>
            <a:graphicFrameLocks noGrp="1"/>
          </p:cNvGraphicFramePr>
          <p:nvPr>
            <p:extLst>
              <p:ext uri="{D42A27DB-BD31-4B8C-83A1-F6EECF244321}">
                <p14:modId xmlns:p14="http://schemas.microsoft.com/office/powerpoint/2010/main" val="2880506641"/>
              </p:ext>
            </p:extLst>
          </p:nvPr>
        </p:nvGraphicFramePr>
        <p:xfrm>
          <a:off x="7103288" y="4230264"/>
          <a:ext cx="2300282" cy="2213760"/>
        </p:xfrm>
        <a:graphic>
          <a:graphicData uri="http://schemas.openxmlformats.org/drawingml/2006/table">
            <a:tbl>
              <a:tblPr firstRow="1" bandRow="1">
                <a:tableStyleId>{5C22544A-7EE6-4342-B048-85BDC9FD1C3A}</a:tableStyleId>
              </a:tblPr>
              <a:tblGrid>
                <a:gridCol w="264143">
                  <a:extLst>
                    <a:ext uri="{9D8B030D-6E8A-4147-A177-3AD203B41FA5}">
                      <a16:colId xmlns:a16="http://schemas.microsoft.com/office/drawing/2014/main" val="3629403149"/>
                    </a:ext>
                  </a:extLst>
                </a:gridCol>
                <a:gridCol w="238355">
                  <a:extLst>
                    <a:ext uri="{9D8B030D-6E8A-4147-A177-3AD203B41FA5}">
                      <a16:colId xmlns:a16="http://schemas.microsoft.com/office/drawing/2014/main" val="1460515021"/>
                    </a:ext>
                  </a:extLst>
                </a:gridCol>
                <a:gridCol w="226224">
                  <a:extLst>
                    <a:ext uri="{9D8B030D-6E8A-4147-A177-3AD203B41FA5}">
                      <a16:colId xmlns:a16="http://schemas.microsoft.com/office/drawing/2014/main" val="1918560194"/>
                    </a:ext>
                  </a:extLst>
                </a:gridCol>
                <a:gridCol w="314312">
                  <a:extLst>
                    <a:ext uri="{9D8B030D-6E8A-4147-A177-3AD203B41FA5}">
                      <a16:colId xmlns:a16="http://schemas.microsoft.com/office/drawing/2014/main" val="53436730"/>
                    </a:ext>
                  </a:extLst>
                </a:gridCol>
                <a:gridCol w="314312">
                  <a:extLst>
                    <a:ext uri="{9D8B030D-6E8A-4147-A177-3AD203B41FA5}">
                      <a16:colId xmlns:a16="http://schemas.microsoft.com/office/drawing/2014/main" val="2010932193"/>
                    </a:ext>
                  </a:extLst>
                </a:gridCol>
                <a:gridCol w="314312">
                  <a:extLst>
                    <a:ext uri="{9D8B030D-6E8A-4147-A177-3AD203B41FA5}">
                      <a16:colId xmlns:a16="http://schemas.microsoft.com/office/drawing/2014/main" val="2027724900"/>
                    </a:ext>
                  </a:extLst>
                </a:gridCol>
                <a:gridCol w="314312">
                  <a:extLst>
                    <a:ext uri="{9D8B030D-6E8A-4147-A177-3AD203B41FA5}">
                      <a16:colId xmlns:a16="http://schemas.microsoft.com/office/drawing/2014/main" val="2431535656"/>
                    </a:ext>
                  </a:extLst>
                </a:gridCol>
                <a:gridCol w="314312">
                  <a:extLst>
                    <a:ext uri="{9D8B030D-6E8A-4147-A177-3AD203B41FA5}">
                      <a16:colId xmlns:a16="http://schemas.microsoft.com/office/drawing/2014/main" val="729038074"/>
                    </a:ext>
                  </a:extLst>
                </a:gridCol>
              </a:tblGrid>
              <a:tr h="128835">
                <a:tc gridSpan="2">
                  <a:txBody>
                    <a:bodyPr/>
                    <a:lstStyle/>
                    <a:p>
                      <a:pPr algn="ctr" latinLnBrk="1"/>
                      <a:r>
                        <a:rPr lang="ko-KR" altLang="en-US" sz="500" dirty="0" smtClean="0">
                          <a:solidFill>
                            <a:schemeClr val="tx1"/>
                          </a:solidFill>
                        </a:rPr>
                        <a:t>구분</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500" dirty="0" smtClean="0">
                          <a:solidFill>
                            <a:schemeClr val="tx1"/>
                          </a:solidFill>
                        </a:rPr>
                        <a:t>일반정보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smtClean="0">
                          <a:solidFill>
                            <a:schemeClr val="tx1"/>
                          </a:solidFill>
                        </a:rPr>
                        <a:t>기초예비가격</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err="1" smtClean="0">
                          <a:solidFill>
                            <a:schemeClr val="tx1"/>
                          </a:solidFill>
                        </a:rPr>
                        <a:t>품목명세서</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smtClean="0">
                          <a:solidFill>
                            <a:schemeClr val="tx1"/>
                          </a:solidFill>
                        </a:rPr>
                        <a:t>계약특수조건</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err="1" smtClean="0">
                          <a:solidFill>
                            <a:schemeClr val="tx1"/>
                          </a:solidFill>
                        </a:rPr>
                        <a:t>공고문안</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ko-KR" altLang="en-US" sz="500" dirty="0" smtClean="0">
                          <a:solidFill>
                            <a:schemeClr val="tx1"/>
                          </a:solidFill>
                        </a:rPr>
                        <a:t>입찰진행현황</a:t>
                      </a:r>
                      <a:endParaRPr lang="ko-KR" altLang="en-US" sz="5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074876776"/>
                  </a:ext>
                </a:extLst>
              </a:tr>
              <a:tr h="128835">
                <a:tc>
                  <a:txBody>
                    <a:bodyPr/>
                    <a:lstStyle/>
                    <a:p>
                      <a:pPr algn="ctr" latinLnBrk="1"/>
                      <a:r>
                        <a:rPr lang="ko-KR" altLang="en-US" sz="400" dirty="0" smtClean="0">
                          <a:solidFill>
                            <a:schemeClr val="tx1"/>
                          </a:solidFill>
                        </a:rPr>
                        <a:t>물품</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일반경쟁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87169711"/>
                  </a:ext>
                </a:extLst>
              </a:tr>
              <a:tr h="128835">
                <a:tc>
                  <a:txBody>
                    <a:bodyPr/>
                    <a:lstStyle/>
                    <a:p>
                      <a:pPr algn="ctr" latinLnBrk="1"/>
                      <a:r>
                        <a:rPr lang="ko-KR" altLang="en-US" sz="400" dirty="0" smtClean="0">
                          <a:solidFill>
                            <a:schemeClr val="tx1"/>
                          </a:solidFill>
                        </a:rPr>
                        <a:t>물품</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지명경쟁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740103"/>
                  </a:ext>
                </a:extLst>
              </a:tr>
              <a:tr h="128835">
                <a:tc>
                  <a:txBody>
                    <a:bodyPr/>
                    <a:lstStyle/>
                    <a:p>
                      <a:pPr algn="ctr" latinLnBrk="1"/>
                      <a:r>
                        <a:rPr lang="ko-KR" altLang="en-US" sz="400" dirty="0" smtClean="0">
                          <a:solidFill>
                            <a:schemeClr val="tx1"/>
                          </a:solidFill>
                        </a:rPr>
                        <a:t>물품</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제한경쟁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86839540"/>
                  </a:ext>
                </a:extLst>
              </a:tr>
              <a:tr h="128835">
                <a:tc>
                  <a:txBody>
                    <a:bodyPr/>
                    <a:lstStyle/>
                    <a:p>
                      <a:pPr algn="ctr" latinLnBrk="1"/>
                      <a:r>
                        <a:rPr lang="ko-KR" altLang="en-US" sz="400" dirty="0" smtClean="0">
                          <a:solidFill>
                            <a:schemeClr val="tx1"/>
                          </a:solidFill>
                        </a:rPr>
                        <a:t>물품</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수의계약</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58730365"/>
                  </a:ext>
                </a:extLst>
              </a:tr>
              <a:tr h="128835">
                <a:tc>
                  <a:txBody>
                    <a:bodyPr/>
                    <a:lstStyle/>
                    <a:p>
                      <a:pPr algn="ctr" latinLnBrk="1"/>
                      <a:r>
                        <a:rPr lang="ko-KR" altLang="en-US" sz="400" dirty="0" smtClean="0">
                          <a:solidFill>
                            <a:schemeClr val="tx1"/>
                          </a:solidFill>
                        </a:rPr>
                        <a:t>일반용역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일반경쟁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03052062"/>
                  </a:ext>
                </a:extLst>
              </a:tr>
              <a:tr h="128835">
                <a:tc>
                  <a:txBody>
                    <a:bodyPr/>
                    <a:lstStyle/>
                    <a:p>
                      <a:pPr algn="ctr" latinLnBrk="1"/>
                      <a:r>
                        <a:rPr lang="ko-KR" altLang="en-US" sz="400" dirty="0" smtClean="0">
                          <a:solidFill>
                            <a:schemeClr val="tx1"/>
                          </a:solidFill>
                        </a:rPr>
                        <a:t>일반용역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지명경쟁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59969942"/>
                  </a:ext>
                </a:extLst>
              </a:tr>
              <a:tr h="128835">
                <a:tc>
                  <a:txBody>
                    <a:bodyPr/>
                    <a:lstStyle/>
                    <a:p>
                      <a:pPr algn="ctr" latinLnBrk="1"/>
                      <a:r>
                        <a:rPr lang="ko-KR" altLang="en-US" sz="400" dirty="0" smtClean="0">
                          <a:solidFill>
                            <a:schemeClr val="tx1"/>
                          </a:solidFill>
                        </a:rPr>
                        <a:t>일반용역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제한경쟁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8955307"/>
                  </a:ext>
                </a:extLst>
              </a:tr>
              <a:tr h="128835">
                <a:tc>
                  <a:txBody>
                    <a:bodyPr/>
                    <a:lstStyle/>
                    <a:p>
                      <a:pPr algn="ctr" latinLnBrk="1"/>
                      <a:r>
                        <a:rPr lang="ko-KR" altLang="en-US" sz="400" dirty="0" smtClean="0">
                          <a:solidFill>
                            <a:schemeClr val="tx1"/>
                          </a:solidFill>
                        </a:rPr>
                        <a:t>일반용역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수의계약</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54924294"/>
                  </a:ext>
                </a:extLst>
              </a:tr>
              <a:tr h="128835">
                <a:tc>
                  <a:txBody>
                    <a:bodyPr/>
                    <a:lstStyle/>
                    <a:p>
                      <a:pPr algn="ctr" latinLnBrk="1"/>
                      <a:r>
                        <a:rPr lang="ko-KR" altLang="en-US" sz="400" dirty="0" smtClean="0">
                          <a:solidFill>
                            <a:schemeClr val="tx1"/>
                          </a:solidFill>
                        </a:rPr>
                        <a:t>기술용역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일반경쟁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85107337"/>
                  </a:ext>
                </a:extLst>
              </a:tr>
              <a:tr h="128835">
                <a:tc>
                  <a:txBody>
                    <a:bodyPr/>
                    <a:lstStyle/>
                    <a:p>
                      <a:pPr algn="ctr" latinLnBrk="1"/>
                      <a:r>
                        <a:rPr lang="ko-KR" altLang="en-US" sz="400" dirty="0" smtClean="0">
                          <a:solidFill>
                            <a:schemeClr val="tx1"/>
                          </a:solidFill>
                        </a:rPr>
                        <a:t>기술용역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지명경쟁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26858037"/>
                  </a:ext>
                </a:extLst>
              </a:tr>
              <a:tr h="128835">
                <a:tc>
                  <a:txBody>
                    <a:bodyPr/>
                    <a:lstStyle/>
                    <a:p>
                      <a:pPr algn="ctr" latinLnBrk="1"/>
                      <a:r>
                        <a:rPr lang="ko-KR" altLang="en-US" sz="400" dirty="0" smtClean="0">
                          <a:solidFill>
                            <a:schemeClr val="tx1"/>
                          </a:solidFill>
                        </a:rPr>
                        <a:t>기술용역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제한경쟁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en-US" altLang="ko-KR" sz="400" dirty="0" smtClean="0">
                          <a:solidFill>
                            <a:schemeClr val="tx1"/>
                          </a:solidFill>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26687968"/>
                  </a:ext>
                </a:extLst>
              </a:tr>
              <a:tr h="128835">
                <a:tc>
                  <a:txBody>
                    <a:bodyPr/>
                    <a:lstStyle/>
                    <a:p>
                      <a:pPr algn="ctr" latinLnBrk="1"/>
                      <a:r>
                        <a:rPr lang="ko-KR" altLang="en-US" sz="400" dirty="0" smtClean="0">
                          <a:solidFill>
                            <a:schemeClr val="tx1"/>
                          </a:solidFill>
                        </a:rPr>
                        <a:t>기술용역</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수의계약</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8077588"/>
                  </a:ext>
                </a:extLst>
              </a:tr>
              <a:tr h="128835">
                <a:tc>
                  <a:txBody>
                    <a:bodyPr/>
                    <a:lstStyle/>
                    <a:p>
                      <a:pPr algn="ctr" latinLnBrk="1"/>
                      <a:r>
                        <a:rPr lang="ko-KR" altLang="en-US" sz="400" dirty="0" smtClean="0">
                          <a:solidFill>
                            <a:schemeClr val="tx1"/>
                          </a:solidFill>
                        </a:rPr>
                        <a:t>공사</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일반경쟁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77438913"/>
                  </a:ext>
                </a:extLst>
              </a:tr>
              <a:tr h="128835">
                <a:tc>
                  <a:txBody>
                    <a:bodyPr/>
                    <a:lstStyle/>
                    <a:p>
                      <a:pPr algn="ctr" latinLnBrk="1"/>
                      <a:r>
                        <a:rPr lang="ko-KR" altLang="en-US" sz="400" dirty="0" smtClean="0">
                          <a:solidFill>
                            <a:schemeClr val="tx1"/>
                          </a:solidFill>
                        </a:rPr>
                        <a:t>공사</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지명경쟁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2590084"/>
                  </a:ext>
                </a:extLst>
              </a:tr>
              <a:tr h="128835">
                <a:tc>
                  <a:txBody>
                    <a:bodyPr/>
                    <a:lstStyle/>
                    <a:p>
                      <a:pPr algn="ctr" latinLnBrk="1"/>
                      <a:r>
                        <a:rPr lang="ko-KR" altLang="en-US" sz="400" dirty="0" smtClean="0">
                          <a:solidFill>
                            <a:schemeClr val="tx1"/>
                          </a:solidFill>
                        </a:rPr>
                        <a:t>공사</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제한경쟁</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836772"/>
                  </a:ext>
                </a:extLst>
              </a:tr>
              <a:tr h="128835">
                <a:tc>
                  <a:txBody>
                    <a:bodyPr/>
                    <a:lstStyle/>
                    <a:p>
                      <a:pPr algn="ctr" latinLnBrk="1"/>
                      <a:r>
                        <a:rPr lang="ko-KR" altLang="en-US" sz="400" dirty="0" smtClean="0">
                          <a:solidFill>
                            <a:schemeClr val="tx1"/>
                          </a:solidFill>
                        </a:rPr>
                        <a:t>공사</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lang="ko-KR" altLang="en-US" sz="400" dirty="0" smtClean="0">
                          <a:solidFill>
                            <a:schemeClr val="tx1"/>
                          </a:solidFill>
                        </a:rPr>
                        <a:t>수의계약</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r>
                        <a:rPr kumimoji="0" lang="en-US" altLang="ko-KR"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O</a:t>
                      </a:r>
                      <a:endParaRPr lang="ko-KR" altLang="en-US" sz="400" dirty="0">
                        <a:solidFill>
                          <a:schemeClr val="tx1"/>
                        </a:solidFill>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400" b="0"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개찰 이후 노출</a:t>
                      </a:r>
                      <a:endParaRPr kumimoji="0" lang="ko-KR" altLang="en-US" sz="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lnL w="3175" cap="flat" cmpd="sng" algn="ctr">
                      <a:solidFill>
                        <a:schemeClr val="bg1">
                          <a:lumMod val="85000"/>
                        </a:schemeClr>
                      </a:solidFill>
                      <a:prstDash val="solid"/>
                      <a:round/>
                      <a:headEnd type="none" w="med" len="med"/>
                      <a:tailEnd type="none" w="med" len="med"/>
                    </a:lnL>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lnB w="31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78694988"/>
                  </a:ext>
                </a:extLst>
              </a:tr>
            </a:tbl>
          </a:graphicData>
        </a:graphic>
      </p:graphicFrame>
      <p:sp>
        <p:nvSpPr>
          <p:cNvPr id="63" name="직사각형 62"/>
          <p:cNvSpPr/>
          <p:nvPr/>
        </p:nvSpPr>
        <p:spPr>
          <a:xfrm>
            <a:off x="7047129" y="4056378"/>
            <a:ext cx="750218" cy="184666"/>
          </a:xfrm>
          <a:prstGeom prst="rect">
            <a:avLst/>
          </a:prstGeom>
        </p:spPr>
        <p:txBody>
          <a:bodyPr wrap="square">
            <a:spAutoFit/>
          </a:bodyPr>
          <a:lstStyle/>
          <a:p>
            <a:r>
              <a:rPr lang="en-US" altLang="ko-KR" sz="600" b="1" dirty="0" smtClean="0"/>
              <a:t>Tab </a:t>
            </a:r>
            <a:r>
              <a:rPr lang="ko-KR" altLang="en-US" sz="600" b="1" dirty="0" smtClean="0"/>
              <a:t>구성 정책</a:t>
            </a:r>
            <a:endParaRPr lang="ko-KR" altLang="en-US" sz="600" b="1" dirty="0"/>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4" name="타원 103">
            <a:extLst>
              <a:ext uri="{FF2B5EF4-FFF2-40B4-BE49-F238E27FC236}">
                <a16:creationId xmlns:a16="http://schemas.microsoft.com/office/drawing/2014/main" id="{37A7FF4F-0EAA-1463-560A-D5EC24416103}"/>
              </a:ext>
            </a:extLst>
          </p:cNvPr>
          <p:cNvSpPr/>
          <p:nvPr/>
        </p:nvSpPr>
        <p:spPr>
          <a:xfrm>
            <a:off x="574326" y="260837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473786895"/>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공사의 기초예비가격 </a:t>
            </a:r>
            <a:r>
              <a:rPr lang="ko-KR" altLang="en-US" dirty="0" smtClean="0"/>
              <a:t>화면</a:t>
            </a:r>
            <a:r>
              <a:rPr lang="en-US" altLang="ko-KR" dirty="0"/>
              <a:t/>
            </a:r>
            <a:br>
              <a:rPr lang="en-US" altLang="ko-KR" dirty="0"/>
            </a:br>
            <a:r>
              <a:rPr lang="en-US" altLang="ko-KR" dirty="0"/>
              <a:t>- </a:t>
            </a:r>
            <a:r>
              <a:rPr lang="ko-KR" altLang="en-US" dirty="0" err="1"/>
              <a:t>업무구분이</a:t>
            </a:r>
            <a:r>
              <a:rPr lang="ko-KR" altLang="en-US" dirty="0"/>
              <a:t> ‘</a:t>
            </a:r>
            <a:r>
              <a:rPr lang="ko-KR" altLang="en-US" dirty="0" err="1"/>
              <a:t>공사’인</a:t>
            </a:r>
            <a:r>
              <a:rPr lang="ko-KR" altLang="en-US" dirty="0"/>
              <a:t> 경우 표시 </a:t>
            </a:r>
            <a:r>
              <a:rPr lang="ko-KR" altLang="en-US" dirty="0" smtClean="0"/>
              <a:t>화면</a:t>
            </a:r>
            <a:endParaRPr lang="en-US" altLang="ko-KR" dirty="0" smtClean="0"/>
          </a:p>
          <a:p>
            <a:pPr>
              <a:buFont typeface="+mj-lt"/>
              <a:buAutoNum type="arabicPeriod"/>
            </a:pPr>
            <a:r>
              <a:rPr lang="ko-KR" altLang="en-US" dirty="0" smtClean="0"/>
              <a:t>유의사항</a:t>
            </a:r>
            <a:r>
              <a:rPr lang="en-US" altLang="ko-KR" dirty="0" smtClean="0"/>
              <a:t/>
            </a:r>
            <a:br>
              <a:rPr lang="en-US" altLang="ko-KR" dirty="0" smtClean="0"/>
            </a:br>
            <a:r>
              <a:rPr lang="en-US" altLang="ko-KR" dirty="0" smtClean="0"/>
              <a:t>- </a:t>
            </a:r>
            <a:r>
              <a:rPr lang="ko-KR" altLang="en-US" dirty="0" smtClean="0"/>
              <a:t>상단 </a:t>
            </a:r>
            <a:r>
              <a:rPr lang="ko-KR" altLang="en-US" dirty="0" err="1" smtClean="0"/>
              <a:t>업무도움</a:t>
            </a:r>
            <a:r>
              <a:rPr lang="en-US" altLang="ko-KR" dirty="0" smtClean="0"/>
              <a:t>, </a:t>
            </a:r>
            <a:r>
              <a:rPr lang="ko-KR" altLang="en-US" dirty="0" smtClean="0"/>
              <a:t>공지사항 외에 해당 화면에 필요한 도움말 노출</a:t>
            </a:r>
            <a:r>
              <a:rPr lang="en-US" altLang="ko-KR" dirty="0" smtClean="0"/>
              <a:t/>
            </a:r>
            <a:br>
              <a:rPr lang="en-US" altLang="ko-KR" dirty="0" smtClean="0"/>
            </a:br>
            <a:r>
              <a:rPr lang="en-US" altLang="ko-KR" dirty="0" smtClean="0"/>
              <a:t>- default </a:t>
            </a:r>
            <a:r>
              <a:rPr lang="ko-KR" altLang="en-US" dirty="0" smtClean="0"/>
              <a:t>열림</a:t>
            </a:r>
            <a:r>
              <a:rPr lang="en-US" altLang="ko-KR" dirty="0" smtClean="0"/>
              <a:t>.</a:t>
            </a:r>
            <a:br>
              <a:rPr lang="en-US" altLang="ko-KR" dirty="0" smtClean="0"/>
            </a:br>
            <a:r>
              <a:rPr lang="en-US" altLang="ko-KR" dirty="0" smtClean="0"/>
              <a:t>- </a:t>
            </a:r>
            <a:r>
              <a:rPr lang="ko-KR" altLang="en-US" dirty="0" smtClean="0"/>
              <a:t>닫힘 기능 필요</a:t>
            </a:r>
            <a:r>
              <a:rPr lang="en-US" altLang="ko-KR" dirty="0" smtClean="0"/>
              <a:t>.</a:t>
            </a:r>
            <a:br>
              <a:rPr lang="en-US" altLang="ko-KR" dirty="0" smtClean="0"/>
            </a:b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입찰공고상세 </a:t>
            </a:r>
            <a:r>
              <a:rPr lang="en-US" altLang="ko-KR" dirty="0">
                <a:latin typeface="+mn-ea"/>
              </a:rPr>
              <a:t>- </a:t>
            </a:r>
            <a:r>
              <a:rPr lang="ko-KR" altLang="en-US" dirty="0" smtClean="0">
                <a:latin typeface="+mn-ea"/>
              </a:rPr>
              <a:t>기초예비가격</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기초예비가격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기초예비가격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444365" cy="215444"/>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2918001"/>
            <a:ext cx="792000" cy="331429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2918001"/>
            <a:ext cx="827906" cy="3231654"/>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a:latin typeface="+mn-ea"/>
              </a:rPr>
              <a:t>하한</a:t>
            </a:r>
            <a:r>
              <a:rPr lang="en-US" altLang="ko-KR" sz="700" dirty="0">
                <a:latin typeface="+mn-ea"/>
              </a:rPr>
              <a:t>(%)</a:t>
            </a:r>
          </a:p>
          <a:p>
            <a:pPr>
              <a:lnSpc>
                <a:spcPct val="200000"/>
              </a:lnSpc>
            </a:pPr>
            <a:r>
              <a:rPr lang="ko-KR" altLang="en-US" sz="700" dirty="0">
                <a:latin typeface="+mn-ea"/>
              </a:rPr>
              <a:t>상한</a:t>
            </a:r>
            <a:r>
              <a:rPr lang="en-US" altLang="ko-KR" sz="700" dirty="0">
                <a:latin typeface="+mn-ea"/>
              </a:rPr>
              <a:t>(%)</a:t>
            </a:r>
          </a:p>
          <a:p>
            <a:pPr>
              <a:lnSpc>
                <a:spcPct val="200000"/>
              </a:lnSpc>
            </a:pPr>
            <a:r>
              <a:rPr lang="ko-KR" altLang="en-US" sz="700" dirty="0" err="1">
                <a:latin typeface="+mn-ea"/>
              </a:rPr>
              <a:t>낙찰하한율</a:t>
            </a:r>
            <a:endParaRPr lang="en-US" altLang="ko-KR" sz="700" dirty="0">
              <a:latin typeface="+mn-ea"/>
            </a:endParaRPr>
          </a:p>
          <a:p>
            <a:pPr>
              <a:lnSpc>
                <a:spcPct val="200000"/>
              </a:lnSpc>
            </a:pPr>
            <a:r>
              <a:rPr lang="ko-KR" altLang="en-US" sz="700" dirty="0">
                <a:latin typeface="+mn-ea"/>
              </a:rPr>
              <a:t>국민건강보험료</a:t>
            </a:r>
            <a:endParaRPr lang="en-US" altLang="ko-KR" sz="700" dirty="0">
              <a:latin typeface="+mn-ea"/>
            </a:endParaRPr>
          </a:p>
          <a:p>
            <a:pPr>
              <a:lnSpc>
                <a:spcPct val="200000"/>
              </a:lnSpc>
            </a:pPr>
            <a:r>
              <a:rPr lang="ko-KR" altLang="en-US" sz="700" dirty="0">
                <a:latin typeface="+mn-ea"/>
              </a:rPr>
              <a:t>국민연금보험료</a:t>
            </a:r>
            <a:endParaRPr lang="en-US" altLang="ko-KR" sz="700" dirty="0">
              <a:latin typeface="+mn-ea"/>
            </a:endParaRPr>
          </a:p>
          <a:p>
            <a:pPr>
              <a:lnSpc>
                <a:spcPct val="200000"/>
              </a:lnSpc>
            </a:pPr>
            <a:r>
              <a:rPr lang="ko-KR" altLang="en-US" sz="700" dirty="0">
                <a:latin typeface="+mn-ea"/>
              </a:rPr>
              <a:t>평가기준금액</a:t>
            </a:r>
            <a:endParaRPr lang="en-US" altLang="ko-KR" sz="700" dirty="0">
              <a:latin typeface="+mn-ea"/>
            </a:endParaRPr>
          </a:p>
          <a:p>
            <a:pPr>
              <a:lnSpc>
                <a:spcPct val="200000"/>
              </a:lnSpc>
            </a:pPr>
            <a:r>
              <a:rPr lang="ko-KR" altLang="en-US" sz="700" dirty="0">
                <a:latin typeface="+mn-ea"/>
              </a:rPr>
              <a:t>토목기초금액</a:t>
            </a:r>
            <a:endParaRPr lang="en-US" altLang="ko-KR" sz="700" dirty="0">
              <a:latin typeface="+mn-ea"/>
            </a:endParaRPr>
          </a:p>
          <a:p>
            <a:pPr>
              <a:lnSpc>
                <a:spcPct val="200000"/>
              </a:lnSpc>
            </a:pPr>
            <a:r>
              <a:rPr lang="ko-KR" altLang="en-US" sz="700" dirty="0">
                <a:latin typeface="+mn-ea"/>
              </a:rPr>
              <a:t>건축기초금액</a:t>
            </a:r>
            <a:endParaRPr lang="en-US" altLang="ko-KR" sz="700" dirty="0">
              <a:latin typeface="+mn-ea"/>
            </a:endParaRPr>
          </a:p>
          <a:p>
            <a:pPr>
              <a:lnSpc>
                <a:spcPct val="200000"/>
              </a:lnSpc>
            </a:pPr>
            <a:r>
              <a:rPr lang="ko-KR" altLang="en-US" sz="700" dirty="0" err="1">
                <a:latin typeface="+mn-ea"/>
              </a:rPr>
              <a:t>노구기준율</a:t>
            </a:r>
            <a:r>
              <a:rPr lang="en-US" altLang="ko-KR" sz="700" dirty="0">
                <a:latin typeface="+mn-ea"/>
              </a:rPr>
              <a:t>(%)</a:t>
            </a:r>
          </a:p>
          <a:p>
            <a:pPr>
              <a:lnSpc>
                <a:spcPct val="200000"/>
              </a:lnSpc>
            </a:pPr>
            <a:r>
              <a:rPr lang="ko-KR" altLang="en-US" sz="700" dirty="0">
                <a:latin typeface="+mn-ea"/>
              </a:rPr>
              <a:t>기타경비기준율</a:t>
            </a:r>
            <a:r>
              <a:rPr lang="en-US" altLang="ko-KR" sz="700" dirty="0">
                <a:latin typeface="+mn-ea"/>
              </a:rPr>
              <a:t>(%)</a:t>
            </a:r>
          </a:p>
          <a:p>
            <a:pPr>
              <a:lnSpc>
                <a:spcPct val="200000"/>
              </a:lnSpc>
            </a:pPr>
            <a:r>
              <a:rPr lang="ko-KR" altLang="en-US" sz="700" dirty="0">
                <a:latin typeface="+mn-ea"/>
              </a:rPr>
              <a:t>일반관리비기준비</a:t>
            </a:r>
            <a:r>
              <a:rPr lang="en-US" altLang="ko-KR" sz="700" dirty="0">
                <a:latin typeface="+mn-ea"/>
              </a:rPr>
              <a:t>(%)</a:t>
            </a:r>
          </a:p>
          <a:p>
            <a:pPr>
              <a:lnSpc>
                <a:spcPct val="200000"/>
              </a:lnSpc>
            </a:pPr>
            <a:r>
              <a:rPr lang="ko-KR" altLang="en-US" sz="700" dirty="0" err="1">
                <a:latin typeface="+mn-ea"/>
              </a:rPr>
              <a:t>이윤기준율</a:t>
            </a:r>
            <a:r>
              <a:rPr lang="en-US" altLang="ko-KR" sz="700" dirty="0">
                <a:latin typeface="+mn-ea"/>
              </a:rPr>
              <a:t>(%)</a:t>
            </a:r>
          </a:p>
          <a:p>
            <a:pPr>
              <a:lnSpc>
                <a:spcPct val="200000"/>
              </a:lnSpc>
            </a:pPr>
            <a:r>
              <a:rPr lang="ko-KR" altLang="en-US" sz="700" dirty="0">
                <a:latin typeface="+mn-ea"/>
              </a:rPr>
              <a:t>적용난이도계수</a:t>
            </a:r>
            <a:endParaRPr lang="en-US" altLang="ko-KR" sz="700" dirty="0">
              <a:latin typeface="+mn-ea"/>
            </a:endParaRPr>
          </a:p>
          <a:p>
            <a:pPr>
              <a:lnSpc>
                <a:spcPct val="200000"/>
              </a:lnSpc>
            </a:pPr>
            <a:r>
              <a:rPr lang="ko-KR" altLang="en-US" sz="700" dirty="0" err="1">
                <a:latin typeface="+mn-ea"/>
              </a:rPr>
              <a:t>요양보험료</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2918001"/>
            <a:ext cx="1784088" cy="3231654"/>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00 %</a:t>
            </a:r>
          </a:p>
          <a:p>
            <a:pPr>
              <a:lnSpc>
                <a:spcPct val="200000"/>
              </a:lnSpc>
            </a:pPr>
            <a:r>
              <a:rPr lang="en-US" altLang="ko-KR" sz="700" dirty="0">
                <a:latin typeface="+mn-ea"/>
              </a:rPr>
              <a:t>-</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 name="그룹 16"/>
          <p:cNvGrpSpPr/>
          <p:nvPr/>
        </p:nvGrpSpPr>
        <p:grpSpPr>
          <a:xfrm>
            <a:off x="701175" y="2918001"/>
            <a:ext cx="2630093" cy="3224116"/>
            <a:chOff x="701175" y="1835481"/>
            <a:chExt cx="2630093" cy="3224116"/>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7" name="직선 연결선 66">
              <a:extLst>
                <a:ext uri="{FF2B5EF4-FFF2-40B4-BE49-F238E27FC236}">
                  <a16:creationId xmlns:a16="http://schemas.microsoft.com/office/drawing/2014/main" id="{E9293055-D5CD-4B9E-7F64-64B2D2CA7A52}"/>
                </a:ext>
              </a:extLst>
            </p:cNvPr>
            <p:cNvCxnSpPr/>
            <p:nvPr/>
          </p:nvCxnSpPr>
          <p:spPr>
            <a:xfrm>
              <a:off x="703268" y="31285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8" name="직선 연결선 67">
              <a:extLst>
                <a:ext uri="{FF2B5EF4-FFF2-40B4-BE49-F238E27FC236}">
                  <a16:creationId xmlns:a16="http://schemas.microsoft.com/office/drawing/2014/main" id="{E9293055-D5CD-4B9E-7F64-64B2D2CA7A52}"/>
                </a:ext>
              </a:extLst>
            </p:cNvPr>
            <p:cNvCxnSpPr/>
            <p:nvPr/>
          </p:nvCxnSpPr>
          <p:spPr>
            <a:xfrm>
              <a:off x="703268" y="3343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9" name="직선 연결선 68">
              <a:extLst>
                <a:ext uri="{FF2B5EF4-FFF2-40B4-BE49-F238E27FC236}">
                  <a16:creationId xmlns:a16="http://schemas.microsoft.com/office/drawing/2014/main" id="{E9293055-D5CD-4B9E-7F64-64B2D2CA7A52}"/>
                </a:ext>
              </a:extLst>
            </p:cNvPr>
            <p:cNvCxnSpPr/>
            <p:nvPr/>
          </p:nvCxnSpPr>
          <p:spPr>
            <a:xfrm>
              <a:off x="703268" y="35580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0" name="직선 연결선 69">
              <a:extLst>
                <a:ext uri="{FF2B5EF4-FFF2-40B4-BE49-F238E27FC236}">
                  <a16:creationId xmlns:a16="http://schemas.microsoft.com/office/drawing/2014/main" id="{E9293055-D5CD-4B9E-7F64-64B2D2CA7A52}"/>
                </a:ext>
              </a:extLst>
            </p:cNvPr>
            <p:cNvCxnSpPr/>
            <p:nvPr/>
          </p:nvCxnSpPr>
          <p:spPr>
            <a:xfrm>
              <a:off x="703268" y="3772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1" name="직선 연결선 70">
              <a:extLst>
                <a:ext uri="{FF2B5EF4-FFF2-40B4-BE49-F238E27FC236}">
                  <a16:creationId xmlns:a16="http://schemas.microsoft.com/office/drawing/2014/main" id="{E9293055-D5CD-4B9E-7F64-64B2D2CA7A52}"/>
                </a:ext>
              </a:extLst>
            </p:cNvPr>
            <p:cNvCxnSpPr/>
            <p:nvPr/>
          </p:nvCxnSpPr>
          <p:spPr>
            <a:xfrm>
              <a:off x="703268" y="39875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3" name="직선 연결선 72">
              <a:extLst>
                <a:ext uri="{FF2B5EF4-FFF2-40B4-BE49-F238E27FC236}">
                  <a16:creationId xmlns:a16="http://schemas.microsoft.com/office/drawing/2014/main" id="{E9293055-D5CD-4B9E-7F64-64B2D2CA7A52}"/>
                </a:ext>
              </a:extLst>
            </p:cNvPr>
            <p:cNvCxnSpPr/>
            <p:nvPr/>
          </p:nvCxnSpPr>
          <p:spPr>
            <a:xfrm>
              <a:off x="703268" y="42006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3" name="직선 연결선 82">
              <a:extLst>
                <a:ext uri="{FF2B5EF4-FFF2-40B4-BE49-F238E27FC236}">
                  <a16:creationId xmlns:a16="http://schemas.microsoft.com/office/drawing/2014/main" id="{E9293055-D5CD-4B9E-7F64-64B2D2CA7A52}"/>
                </a:ext>
              </a:extLst>
            </p:cNvPr>
            <p:cNvCxnSpPr/>
            <p:nvPr/>
          </p:nvCxnSpPr>
          <p:spPr>
            <a:xfrm>
              <a:off x="703268" y="44153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46301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48448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50595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76" name="직사각형 75"/>
          <p:cNvSpPr/>
          <p:nvPr/>
        </p:nvSpPr>
        <p:spPr>
          <a:xfrm>
            <a:off x="3823603" y="1500106"/>
            <a:ext cx="792000" cy="1938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6" y="1500106"/>
            <a:ext cx="811272" cy="1938992"/>
          </a:xfrm>
          <a:prstGeom prst="rect">
            <a:avLst/>
          </a:prstGeom>
          <a:noFill/>
        </p:spPr>
        <p:txBody>
          <a:bodyPr wrap="square" lIns="0" tIns="0" rIns="0" bIns="0" rtlCol="0">
            <a:spAutoFit/>
          </a:bodyPr>
          <a:lstStyle/>
          <a:p>
            <a:pPr>
              <a:lnSpc>
                <a:spcPct val="200000"/>
              </a:lnSpc>
            </a:pPr>
            <a:r>
              <a:rPr lang="ko-KR" altLang="en-US" sz="700" dirty="0">
                <a:latin typeface="+mn-ea"/>
              </a:rPr>
              <a:t>산업안전보건관리비</a:t>
            </a:r>
            <a:endParaRPr lang="en-US" altLang="ko-KR" sz="700" dirty="0">
              <a:latin typeface="+mn-ea"/>
            </a:endParaRPr>
          </a:p>
          <a:p>
            <a:pPr>
              <a:lnSpc>
                <a:spcPct val="200000"/>
              </a:lnSpc>
            </a:pPr>
            <a:r>
              <a:rPr lang="ko-KR" altLang="en-US" sz="700" dirty="0">
                <a:latin typeface="+mn-ea"/>
              </a:rPr>
              <a:t>퇴직급여충당금</a:t>
            </a:r>
            <a:endParaRPr lang="en-US" altLang="ko-KR" sz="700" dirty="0">
              <a:latin typeface="+mn-ea"/>
            </a:endParaRPr>
          </a:p>
          <a:p>
            <a:pPr>
              <a:lnSpc>
                <a:spcPct val="200000"/>
              </a:lnSpc>
            </a:pPr>
            <a:r>
              <a:rPr lang="ko-KR" altLang="en-US" sz="700" dirty="0">
                <a:latin typeface="+mn-ea"/>
              </a:rPr>
              <a:t>퇴직공제부금</a:t>
            </a:r>
            <a:endParaRPr lang="en-US" altLang="ko-KR" sz="700" dirty="0">
              <a:latin typeface="+mn-ea"/>
            </a:endParaRPr>
          </a:p>
          <a:p>
            <a:pPr>
              <a:lnSpc>
                <a:spcPct val="200000"/>
              </a:lnSpc>
            </a:pPr>
            <a:r>
              <a:rPr lang="ko-KR" altLang="en-US" sz="700" dirty="0">
                <a:latin typeface="+mn-ea"/>
              </a:rPr>
              <a:t>안전관리비</a:t>
            </a:r>
            <a:endParaRPr lang="en-US" altLang="ko-KR" sz="700" dirty="0">
              <a:latin typeface="+mn-ea"/>
            </a:endParaRPr>
          </a:p>
          <a:p>
            <a:pPr>
              <a:lnSpc>
                <a:spcPct val="200000"/>
              </a:lnSpc>
            </a:pPr>
            <a:r>
              <a:rPr lang="ko-KR" altLang="en-US" sz="700" dirty="0">
                <a:latin typeface="+mn-ea"/>
              </a:rPr>
              <a:t>재료비</a:t>
            </a:r>
            <a:endParaRPr lang="en-US" altLang="ko-KR" sz="700" dirty="0">
              <a:latin typeface="+mn-ea"/>
            </a:endParaRPr>
          </a:p>
          <a:p>
            <a:pPr>
              <a:lnSpc>
                <a:spcPct val="200000"/>
              </a:lnSpc>
            </a:pPr>
            <a:r>
              <a:rPr lang="ko-KR" altLang="en-US" sz="700" dirty="0" err="1">
                <a:latin typeface="+mn-ea"/>
              </a:rPr>
              <a:t>노무비</a:t>
            </a:r>
            <a:endParaRPr lang="en-US" altLang="ko-KR" sz="700" dirty="0">
              <a:latin typeface="+mn-ea"/>
            </a:endParaRPr>
          </a:p>
          <a:p>
            <a:pPr>
              <a:lnSpc>
                <a:spcPct val="200000"/>
              </a:lnSpc>
            </a:pPr>
            <a:r>
              <a:rPr lang="ko-KR" altLang="en-US" sz="700" dirty="0">
                <a:latin typeface="+mn-ea"/>
              </a:rPr>
              <a:t>경비</a:t>
            </a:r>
            <a:endParaRPr lang="en-US" altLang="ko-KR" sz="700" dirty="0">
              <a:latin typeface="+mn-ea"/>
            </a:endParaRPr>
          </a:p>
          <a:p>
            <a:pPr>
              <a:lnSpc>
                <a:spcPct val="200000"/>
              </a:lnSpc>
            </a:pPr>
            <a:r>
              <a:rPr lang="ko-KR" altLang="en-US" sz="700" dirty="0" err="1">
                <a:latin typeface="+mn-ea"/>
              </a:rPr>
              <a:t>무가가치세</a:t>
            </a:r>
            <a:endParaRPr lang="en-US" altLang="ko-KR" sz="700" dirty="0">
              <a:latin typeface="+mn-ea"/>
            </a:endParaRPr>
          </a:p>
          <a:p>
            <a:pPr>
              <a:lnSpc>
                <a:spcPct val="200000"/>
              </a:lnSpc>
            </a:pPr>
            <a:r>
              <a:rPr lang="ko-KR" altLang="en-US" sz="700" dirty="0" err="1">
                <a:latin typeface="+mn-ea"/>
              </a:rPr>
              <a:t>품질관리비</a:t>
            </a:r>
            <a:endParaRPr lang="en-US" altLang="ko-KR" sz="700" dirty="0">
              <a:latin typeface="+mn-ea"/>
            </a:endParaRPr>
          </a:p>
        </p:txBody>
      </p:sp>
      <p:sp>
        <p:nvSpPr>
          <p:cNvPr id="78" name="TextBox 77">
            <a:extLst>
              <a:ext uri="{FF2B5EF4-FFF2-40B4-BE49-F238E27FC236}">
                <a16:creationId xmlns:a16="http://schemas.microsoft.com/office/drawing/2014/main" id="{FFC49AEA-2A8F-250C-A86A-A7751D9706C3}"/>
              </a:ext>
            </a:extLst>
          </p:cNvPr>
          <p:cNvSpPr txBox="1"/>
          <p:nvPr/>
        </p:nvSpPr>
        <p:spPr>
          <a:xfrm>
            <a:off x="4667515" y="1500106"/>
            <a:ext cx="1784088" cy="1938992"/>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79" name="그룹 78"/>
          <p:cNvGrpSpPr/>
          <p:nvPr/>
        </p:nvGrpSpPr>
        <p:grpSpPr>
          <a:xfrm>
            <a:off x="3821510" y="1500106"/>
            <a:ext cx="2630093" cy="1941480"/>
            <a:chOff x="701175" y="1835481"/>
            <a:chExt cx="2630093" cy="1941480"/>
          </a:xfrm>
        </p:grpSpPr>
        <p:cxnSp>
          <p:nvCxnSpPr>
            <p:cNvPr id="80" name="직선 연결선 7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1175" y="35622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3268" y="3776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5734" y="36095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Box 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61" name="모서리가 둥근 직사각형 60"/>
          <p:cNvSpPr/>
          <p:nvPr/>
        </p:nvSpPr>
        <p:spPr>
          <a:xfrm>
            <a:off x="705041" y="1785561"/>
            <a:ext cx="2652743" cy="1033314"/>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FC49AEA-2A8F-250C-A86A-A7751D9706C3}"/>
              </a:ext>
            </a:extLst>
          </p:cNvPr>
          <p:cNvSpPr txBox="1"/>
          <p:nvPr/>
        </p:nvSpPr>
        <p:spPr>
          <a:xfrm>
            <a:off x="793811" y="1883844"/>
            <a:ext cx="2475203" cy="861774"/>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a:t>
            </a:r>
            <a:r>
              <a:rPr lang="ko-KR" altLang="en-US" sz="700" dirty="0" smtClean="0">
                <a:solidFill>
                  <a:schemeClr val="tx1">
                    <a:lumMod val="85000"/>
                    <a:lumOff val="15000"/>
                  </a:schemeClr>
                </a:solidFill>
                <a:latin typeface="맑은 고딕" panose="020B0503020000020004" pitchFamily="50" charset="-127"/>
              </a:rPr>
              <a:t>유의사항 </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기획재정부</a:t>
            </a:r>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계약예규</a:t>
            </a:r>
            <a:r>
              <a:rPr lang="ko-KR" altLang="en-US" sz="700" dirty="0">
                <a:solidFill>
                  <a:schemeClr val="tx1">
                    <a:lumMod val="85000"/>
                    <a:lumOff val="15000"/>
                  </a:schemeClr>
                </a:solidFill>
                <a:latin typeface="맑은 고딕" panose="020B0503020000020004" pitchFamily="50" charset="-127"/>
              </a:rPr>
              <a:t> 정부 입찰</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계약 집행기준 제</a:t>
            </a:r>
            <a:r>
              <a:rPr lang="en-US" altLang="ko-KR" sz="700" dirty="0">
                <a:solidFill>
                  <a:schemeClr val="tx1">
                    <a:lumMod val="85000"/>
                    <a:lumOff val="15000"/>
                  </a:schemeClr>
                </a:solidFill>
                <a:latin typeface="맑은 고딕" panose="020B0503020000020004" pitchFamily="50" charset="-127"/>
              </a:rPr>
              <a:t>2</a:t>
            </a:r>
            <a:r>
              <a:rPr lang="ko-KR" altLang="en-US" sz="700" dirty="0">
                <a:solidFill>
                  <a:schemeClr val="tx1">
                    <a:lumMod val="85000"/>
                    <a:lumOff val="15000"/>
                  </a:schemeClr>
                </a:solidFill>
                <a:latin typeface="맑은 고딕" panose="020B0503020000020004" pitchFamily="50" charset="-127"/>
              </a:rPr>
              <a:t>조의</a:t>
            </a:r>
            <a:r>
              <a:rPr lang="en-US" altLang="ko-KR" sz="700" dirty="0">
                <a:solidFill>
                  <a:schemeClr val="tx1">
                    <a:lumMod val="85000"/>
                    <a:lumOff val="15000"/>
                  </a:schemeClr>
                </a:solidFill>
                <a:latin typeface="맑은 고딕" panose="020B0503020000020004" pitchFamily="50" charset="-127"/>
              </a:rPr>
              <a:t>5(</a:t>
            </a:r>
            <a:r>
              <a:rPr lang="ko-KR" altLang="en-US" sz="700" dirty="0" err="1">
                <a:solidFill>
                  <a:schemeClr val="tx1">
                    <a:lumMod val="85000"/>
                    <a:lumOff val="15000"/>
                  </a:schemeClr>
                </a:solidFill>
                <a:latin typeface="맑은 고딕" panose="020B0503020000020004" pitchFamily="50" charset="-127"/>
              </a:rPr>
              <a:t>순공사원가</a:t>
            </a:r>
            <a:r>
              <a:rPr lang="ko-KR" altLang="en-US" sz="700" dirty="0">
                <a:solidFill>
                  <a:schemeClr val="tx1">
                    <a:lumMod val="85000"/>
                    <a:lumOff val="15000"/>
                  </a:schemeClr>
                </a:solidFill>
                <a:latin typeface="맑은 고딕" panose="020B0503020000020004" pitchFamily="50" charset="-127"/>
              </a:rPr>
              <a:t> 기준 등의 공고</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및 적격심사기준 제</a:t>
            </a:r>
            <a:r>
              <a:rPr lang="en-US" altLang="ko-KR" sz="700" dirty="0">
                <a:solidFill>
                  <a:schemeClr val="tx1">
                    <a:lumMod val="85000"/>
                    <a:lumOff val="15000"/>
                  </a:schemeClr>
                </a:solidFill>
                <a:latin typeface="맑은 고딕" panose="020B0503020000020004" pitchFamily="50" charset="-127"/>
              </a:rPr>
              <a:t>7</a:t>
            </a:r>
            <a:r>
              <a:rPr lang="ko-KR" altLang="en-US" sz="700" dirty="0">
                <a:solidFill>
                  <a:schemeClr val="tx1">
                    <a:lumMod val="85000"/>
                    <a:lumOff val="15000"/>
                  </a:schemeClr>
                </a:solidFill>
                <a:latin typeface="맑은 고딕" panose="020B0503020000020004" pitchFamily="50" charset="-127"/>
              </a:rPr>
              <a:t>조</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심사방법</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에 따라 예정가격이 </a:t>
            </a:r>
            <a:r>
              <a:rPr lang="en-US" altLang="ko-KR" sz="700" dirty="0">
                <a:solidFill>
                  <a:schemeClr val="tx1">
                    <a:lumMod val="85000"/>
                    <a:lumOff val="15000"/>
                  </a:schemeClr>
                </a:solidFill>
                <a:latin typeface="맑은 고딕" panose="020B0503020000020004" pitchFamily="50" charset="-127"/>
              </a:rPr>
              <a:t>100</a:t>
            </a:r>
            <a:r>
              <a:rPr lang="ko-KR" altLang="en-US" sz="700" dirty="0">
                <a:solidFill>
                  <a:schemeClr val="tx1">
                    <a:lumMod val="85000"/>
                    <a:lumOff val="15000"/>
                  </a:schemeClr>
                </a:solidFill>
                <a:latin typeface="맑은 고딕" panose="020B0503020000020004" pitchFamily="50" charset="-127"/>
              </a:rPr>
              <a:t>억원 미만인 공사의 경우 예정가격 중 재료비</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노무비</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경비 및 이에 대한 부가가치세를 합산한 금액의 </a:t>
            </a:r>
            <a:r>
              <a:rPr lang="en-US" altLang="ko-KR" sz="700" dirty="0">
                <a:solidFill>
                  <a:schemeClr val="tx1">
                    <a:lumMod val="85000"/>
                    <a:lumOff val="15000"/>
                  </a:schemeClr>
                </a:solidFill>
                <a:latin typeface="맑은 고딕" panose="020B0503020000020004" pitchFamily="50" charset="-127"/>
              </a:rPr>
              <a:t>100</a:t>
            </a:r>
            <a:r>
              <a:rPr lang="ko-KR" altLang="en-US" sz="700" dirty="0">
                <a:solidFill>
                  <a:schemeClr val="tx1">
                    <a:lumMod val="85000"/>
                    <a:lumOff val="15000"/>
                  </a:schemeClr>
                </a:solidFill>
                <a:latin typeface="맑은 고딕" panose="020B0503020000020004" pitchFamily="50" charset="-127"/>
              </a:rPr>
              <a:t>분의 </a:t>
            </a:r>
            <a:r>
              <a:rPr lang="en-US" altLang="ko-KR" sz="700" dirty="0">
                <a:solidFill>
                  <a:schemeClr val="tx1">
                    <a:lumMod val="85000"/>
                    <a:lumOff val="15000"/>
                  </a:schemeClr>
                </a:solidFill>
                <a:latin typeface="맑은 고딕" panose="020B0503020000020004" pitchFamily="50" charset="-127"/>
              </a:rPr>
              <a:t>98</a:t>
            </a:r>
            <a:r>
              <a:rPr lang="ko-KR" altLang="en-US" sz="700" dirty="0">
                <a:solidFill>
                  <a:schemeClr val="tx1">
                    <a:lumMod val="85000"/>
                    <a:lumOff val="15000"/>
                  </a:schemeClr>
                </a:solidFill>
                <a:latin typeface="맑은 고딕" panose="020B0503020000020004" pitchFamily="50" charset="-127"/>
              </a:rPr>
              <a:t>미만으로 입찰한 자는 낙찰자로 결정하지 않습니다</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단서신설</a:t>
            </a:r>
            <a:r>
              <a:rPr lang="ko-KR" altLang="en-US" sz="700" dirty="0">
                <a:solidFill>
                  <a:schemeClr val="tx1">
                    <a:lumMod val="85000"/>
                    <a:lumOff val="15000"/>
                  </a:schemeClr>
                </a:solidFill>
                <a:latin typeface="맑은 고딕" panose="020B0503020000020004" pitchFamily="50" charset="-127"/>
              </a:rPr>
              <a:t> ＇</a:t>
            </a:r>
            <a:r>
              <a:rPr lang="en-US" altLang="ko-KR" sz="700" dirty="0">
                <a:solidFill>
                  <a:schemeClr val="tx1">
                    <a:lumMod val="85000"/>
                    <a:lumOff val="15000"/>
                  </a:schemeClr>
                </a:solidFill>
                <a:latin typeface="맑은 고딕" panose="020B0503020000020004" pitchFamily="50" charset="-127"/>
              </a:rPr>
              <a:t>20.4.7.〉</a:t>
            </a:r>
          </a:p>
        </p:txBody>
      </p:sp>
      <p:sp>
        <p:nvSpPr>
          <p:cNvPr id="63" name="타원 62"/>
          <p:cNvSpPr/>
          <p:nvPr/>
        </p:nvSpPr>
        <p:spPr>
          <a:xfrm>
            <a:off x="789853" y="187419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p:cNvGrpSpPr/>
          <p:nvPr/>
        </p:nvGrpSpPr>
        <p:grpSpPr>
          <a:xfrm flipV="1">
            <a:off x="3138674" y="1922691"/>
            <a:ext cx="94010" cy="47005"/>
            <a:chOff x="6812560" y="3297172"/>
            <a:chExt cx="94010" cy="47005"/>
          </a:xfrm>
        </p:grpSpPr>
        <p:cxnSp>
          <p:nvCxnSpPr>
            <p:cNvPr id="65" name="직선 연결선 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9" name="타원 98">
            <a:extLst>
              <a:ext uri="{FF2B5EF4-FFF2-40B4-BE49-F238E27FC236}">
                <a16:creationId xmlns:a16="http://schemas.microsoft.com/office/drawing/2014/main" id="{37A7FF4F-0EAA-1463-560A-D5EC24416103}"/>
              </a:ext>
            </a:extLst>
          </p:cNvPr>
          <p:cNvSpPr/>
          <p:nvPr/>
        </p:nvSpPr>
        <p:spPr>
          <a:xfrm>
            <a:off x="646322" y="187211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3193315993"/>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59</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 name="TextBox 1">
            <a:extLst>
              <a:ext uri="{FF2B5EF4-FFF2-40B4-BE49-F238E27FC236}">
                <a16:creationId xmlns:a16="http://schemas.microsoft.com/office/drawing/2014/main" id="{D2898AB1-8736-AB97-26CD-6A60F05FD8FF}"/>
              </a:ext>
            </a:extLst>
          </p:cNvPr>
          <p:cNvSpPr txBox="1"/>
          <p:nvPr/>
        </p:nvSpPr>
        <p:spPr>
          <a:xfrm>
            <a:off x="458117" y="811270"/>
            <a:ext cx="299658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기초예비가격</a:t>
            </a:r>
            <a:r>
              <a:rPr lang="en-US" altLang="ko-KR" sz="900" b="1" dirty="0">
                <a:solidFill>
                  <a:prstClr val="black"/>
                </a:solidFill>
              </a:rPr>
              <a:t>(</a:t>
            </a:r>
            <a:r>
              <a:rPr lang="ko-KR" altLang="en-US" sz="900" b="1" dirty="0" err="1">
                <a:solidFill>
                  <a:prstClr val="black"/>
                </a:solidFill>
              </a:rPr>
              <a:t>총액제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dmt_BrprcInfo</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95024"/>
          <a:ext cx="8994883" cy="1407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449152">
                  <a:extLst>
                    <a:ext uri="{9D8B030D-6E8A-4147-A177-3AD203B41FA5}">
                      <a16:colId xmlns:a16="http://schemas.microsoft.com/office/drawing/2014/main" val="20004"/>
                    </a:ext>
                  </a:extLst>
                </a:gridCol>
                <a:gridCol w="232427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기초예비가격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57920">
                <a:tc rowSpan="2">
                  <a:txBody>
                    <a:bodyPr/>
                    <a:lstStyle/>
                    <a:p>
                      <a:pPr latinLnBrk="1"/>
                      <a:r>
                        <a:rPr lang="ko-KR" altLang="en-US" sz="800" dirty="0" err="1">
                          <a:latin typeface="+mn-ea"/>
                          <a:ea typeface="+mn-ea"/>
                        </a:rPr>
                        <a:t>사정율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assmLlmtRt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latinLnBrk="1"/>
                      <a:r>
                        <a:rPr lang="ko-KR" altLang="en-US" sz="800" dirty="0" err="1">
                          <a:latin typeface="+mn-ea"/>
                          <a:ea typeface="+mn-ea"/>
                        </a:rPr>
                        <a:t>사정율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낙찰하한율이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0%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이상일 경우</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lang="en-US" altLang="ko-KR" sz="800" dirty="0" err="1">
                          <a:latin typeface="+mn-ea"/>
                          <a:ea typeface="+mn-ea"/>
                        </a:rPr>
                        <a:t>assmLlmtRt</a:t>
                      </a:r>
                      <a:r>
                        <a:rPr lang="en-US" altLang="ko-KR" sz="800" dirty="0">
                          <a:latin typeface="+mn-ea"/>
                          <a:ea typeface="+mn-ea"/>
                        </a:rPr>
                        <a:t> ~ </a:t>
                      </a:r>
                      <a:r>
                        <a:rPr lang="en-US" altLang="ko-KR" sz="800" dirty="0" err="1">
                          <a:latin typeface="+mn-ea"/>
                          <a:ea typeface="+mn-ea"/>
                        </a:rPr>
                        <a:t>brprcCmpttnScpRt</a:t>
                      </a:r>
                      <a:r>
                        <a:rPr lang="en-US" altLang="ko-KR" sz="800" dirty="0">
                          <a:latin typeface="+mn-ea"/>
                          <a:ea typeface="+mn-ea"/>
                        </a:rPr>
                        <a:t>”</a:t>
                      </a:r>
                      <a:r>
                        <a:rPr lang="ko-KR" altLang="en-US" sz="800" dirty="0">
                          <a:latin typeface="+mn-ea"/>
                          <a:ea typeface="+mn-ea"/>
                        </a:rPr>
                        <a:t>로 표기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vMerge="1">
                  <a:txBody>
                    <a:bodyPr/>
                    <a:lstStyle/>
                    <a:p>
                      <a:pPr latinLnBrk="1"/>
                      <a:endParaRPr lang="ko-KR" altLang="en-US"/>
                    </a:p>
                  </a:txBody>
                  <a:tcPr/>
                </a:tc>
                <a:tc>
                  <a:txBody>
                    <a:bodyPr/>
                    <a:lstStyle/>
                    <a:p>
                      <a:pPr latinLnBrk="1"/>
                      <a:r>
                        <a:rPr lang="en-US" altLang="ko-KR" sz="800" dirty="0" err="1">
                          <a:latin typeface="+mn-ea"/>
                          <a:ea typeface="+mn-ea"/>
                        </a:rPr>
                        <a:t>brprcCmpttnScpRt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vMerge="1">
                  <a:txBody>
                    <a:bodyPr/>
                    <a:lstStyle/>
                    <a:p>
                      <a:pPr latinLnBrk="1"/>
                      <a:endParaRPr lang="ko-KR" altLang="en-US"/>
                    </a:p>
                  </a:txBody>
                  <a:tcPr/>
                </a:tc>
                <a:extLst>
                  <a:ext uri="{0D108BD9-81ED-4DB2-BD59-A6C34878D82A}">
                    <a16:rowId xmlns:a16="http://schemas.microsoft.com/office/drawing/2014/main" val="2949790473"/>
                  </a:ext>
                </a:extLst>
              </a:tr>
              <a:tr h="0">
                <a:tc>
                  <a:txBody>
                    <a:bodyPr/>
                    <a:lstStyle/>
                    <a:p>
                      <a:pPr latinLnBrk="1"/>
                      <a:r>
                        <a:rPr lang="ko-KR" altLang="en-US" sz="800">
                          <a:latin typeface="+mn-ea"/>
                          <a:ea typeface="+mn-ea"/>
                        </a:rPr>
                        <a:t>낙찰하한율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낙찰하안율</a:t>
                      </a:r>
                      <a:r>
                        <a:rPr lang="en-US" altLang="ko-KR" sz="800">
                          <a:latin typeface="+mn-ea"/>
                          <a:ea typeface="+mn-ea"/>
                        </a:rPr>
                        <a:t>(%)</a:t>
                      </a:r>
                      <a:r>
                        <a:rPr lang="ko-KR" altLang="en-US" sz="800">
                          <a:latin typeface="+mn-ea"/>
                          <a:ea typeface="+mn-ea"/>
                        </a:rPr>
                        <a:t>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a:latin typeface="+mn-ea"/>
                          <a:ea typeface="+mn-ea"/>
                        </a:rPr>
                        <a:t>확정비목비율</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cfmtnItmexpRt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확정비목비율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dirty="0" err="1">
                          <a:latin typeface="+mn-ea"/>
                          <a:ea typeface="+mn-ea"/>
                        </a:rPr>
                        <a:t>불확정비목비율</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indtmnItmexpRt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불확정비목비율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sp>
        <p:nvSpPr>
          <p:cNvPr id="6" name="TextBox 5">
            <a:extLst>
              <a:ext uri="{FF2B5EF4-FFF2-40B4-BE49-F238E27FC236}">
                <a16:creationId xmlns:a16="http://schemas.microsoft.com/office/drawing/2014/main" id="{B096DA34-FEDD-CFEA-8271-D1A2E345E966}"/>
              </a:ext>
            </a:extLst>
          </p:cNvPr>
          <p:cNvSpPr txBox="1"/>
          <p:nvPr/>
        </p:nvSpPr>
        <p:spPr>
          <a:xfrm>
            <a:off x="458117" y="2745984"/>
            <a:ext cx="315848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기초예비가격</a:t>
            </a:r>
            <a:r>
              <a:rPr lang="en-US" altLang="ko-KR" sz="900" b="1" dirty="0">
                <a:solidFill>
                  <a:prstClr val="black"/>
                </a:solidFill>
              </a:rPr>
              <a:t>(</a:t>
            </a:r>
            <a:r>
              <a:rPr lang="ko-KR" altLang="en-US" sz="900" b="1" dirty="0" err="1">
                <a:solidFill>
                  <a:prstClr val="black"/>
                </a:solidFill>
              </a:rPr>
              <a:t>단가제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dlt_BrprcInfoItitb</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BA69F1E6-A082-F4FD-F602-FB1F894A2CB6}"/>
              </a:ext>
            </a:extLst>
          </p:cNvPr>
          <p:cNvGraphicFramePr>
            <a:graphicFrameLocks noGrp="1"/>
          </p:cNvGraphicFramePr>
          <p:nvPr/>
        </p:nvGraphicFramePr>
        <p:xfrm>
          <a:off x="452999" y="3029738"/>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항목번호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계약유형</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재고번호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계약유형</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품명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계약유형</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규격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계약유형</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a:latin typeface="+mn-ea"/>
                          <a:ea typeface="+mn-ea"/>
                        </a:rPr>
                        <a:t>기초예비가격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기초예비가격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계약유형</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a:latin typeface="+mn-ea"/>
                          <a:ea typeface="+mn-ea"/>
                        </a:rPr>
                        <a:t>사정율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assmLlmtRt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사정율</a:t>
                      </a:r>
                      <a:r>
                        <a:rPr lang="en-US" altLang="ko-KR" sz="800">
                          <a:latin typeface="+mn-ea"/>
                          <a:ea typeface="+mn-ea"/>
                        </a:rPr>
                        <a:t>(%)</a:t>
                      </a:r>
                      <a:r>
                        <a:rPr lang="ko-KR" altLang="en-US" sz="800">
                          <a:latin typeface="+mn-ea"/>
                          <a:ea typeface="+mn-ea"/>
                        </a:rPr>
                        <a:t>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계약유형</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6417053"/>
                  </a:ext>
                </a:extLst>
              </a:tr>
              <a:tr h="0">
                <a:tc>
                  <a:txBody>
                    <a:bodyPr/>
                    <a:lstStyle/>
                    <a:p>
                      <a:pPr latinLnBrk="1"/>
                      <a:r>
                        <a:rPr lang="ko-KR" altLang="en-US" sz="800">
                          <a:latin typeface="+mn-ea"/>
                          <a:ea typeface="+mn-ea"/>
                        </a:rPr>
                        <a:t>낙찰하한율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낙찰하한율</a:t>
                      </a:r>
                      <a:r>
                        <a:rPr lang="en-US" altLang="ko-KR" sz="800">
                          <a:latin typeface="+mn-ea"/>
                          <a:ea typeface="+mn-ea"/>
                        </a:rPr>
                        <a:t>(%)</a:t>
                      </a:r>
                      <a:r>
                        <a:rPr lang="ko-KR" altLang="en-US" sz="800">
                          <a:latin typeface="+mn-ea"/>
                          <a:ea typeface="+mn-ea"/>
                        </a:rPr>
                        <a:t>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1684842"/>
                  </a:ext>
                </a:extLst>
              </a:tr>
            </a:tbl>
          </a:graphicData>
        </a:graphic>
      </p:graphicFrame>
      <p:sp>
        <p:nvSpPr>
          <p:cNvPr id="14" name="Text Box 73">
            <a:extLst>
              <a:ext uri="{FF2B5EF4-FFF2-40B4-BE49-F238E27FC236}">
                <a16:creationId xmlns:a16="http://schemas.microsoft.com/office/drawing/2014/main" id="{3F4C11C5-FAE2-202D-5180-0A92672DE98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293641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60</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292124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기초예비가격</a:t>
            </a:r>
            <a:r>
              <a:rPr lang="en-US" altLang="ko-KR" sz="900" b="1" dirty="0">
                <a:solidFill>
                  <a:prstClr val="black"/>
                </a:solidFill>
              </a:rPr>
              <a:t>(</a:t>
            </a:r>
            <a:r>
              <a:rPr lang="ko-KR" altLang="en-US" sz="900" b="1" dirty="0">
                <a:solidFill>
                  <a:prstClr val="black"/>
                </a:solidFill>
              </a:rPr>
              <a:t>공사</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a:t>
            </a:r>
            <a:r>
              <a:rPr lang="en-US" altLang="ko-KR" sz="900" b="1" dirty="0">
                <a:solidFill>
                  <a:prstClr val="black"/>
                </a:solidFill>
              </a:rPr>
              <a:t>_ </a:t>
            </a:r>
            <a:r>
              <a:rPr lang="en-US" altLang="ko-KR" sz="900" b="1" dirty="0" err="1">
                <a:solidFill>
                  <a:prstClr val="black"/>
                </a:solidFill>
              </a:rPr>
              <a:t>BrprcInfo</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nvGraphicFramePr>
        <p:xfrm>
          <a:off x="452999" y="1095176"/>
          <a:ext cx="8994883" cy="48480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기초예비가격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입찰참가자격이 </a:t>
                      </a:r>
                      <a:r>
                        <a:rPr lang="en-US" altLang="ko-KR" sz="800" dirty="0">
                          <a:latin typeface="+mn-ea"/>
                          <a:ea typeface="+mn-ea"/>
                        </a:rPr>
                        <a:t>‘Y‘</a:t>
                      </a:r>
                      <a:r>
                        <a:rPr lang="ko-KR" altLang="en-US" sz="800" dirty="0">
                          <a:latin typeface="+mn-ea"/>
                          <a:ea typeface="+mn-ea"/>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하한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llmtAmtRt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하한</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입찰참가자격이 </a:t>
                      </a:r>
                      <a:r>
                        <a:rPr lang="en-US" altLang="ko-KR" sz="800" dirty="0">
                          <a:latin typeface="+mn-ea"/>
                          <a:ea typeface="+mn-ea"/>
                        </a:rPr>
                        <a:t>‘Y‘</a:t>
                      </a:r>
                      <a:r>
                        <a:rPr lang="ko-KR" altLang="en-US" sz="800" dirty="0">
                          <a:latin typeface="+mn-ea"/>
                          <a:ea typeface="+mn-ea"/>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상한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ulprcRt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상한</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낙찰하한율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낙찰하한율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국민건강보험료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nthtIspm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국민건강보험료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국민연금보험료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npnIspm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국민연금보험료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평가기준금액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evlCrtrAmt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평가기준금액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토목기초금액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pbwksBscsAmt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토목기초금액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a:latin typeface="+mn-ea"/>
                          <a:ea typeface="+mn-ea"/>
                        </a:rPr>
                        <a:t>건축기초금액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archBscsAmt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건출기초금액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노무기준율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lbcoStdrt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노구기준율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2034400"/>
                  </a:ext>
                </a:extLst>
              </a:tr>
              <a:tr h="0">
                <a:tc>
                  <a:txBody>
                    <a:bodyPr/>
                    <a:lstStyle/>
                    <a:p>
                      <a:pPr latinLnBrk="1"/>
                      <a:r>
                        <a:rPr lang="ko-KR" altLang="en-US" sz="800" dirty="0">
                          <a:latin typeface="+mn-ea"/>
                          <a:ea typeface="+mn-ea"/>
                        </a:rPr>
                        <a:t>기타경비기준율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etcEpsStdrt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기타경비기준율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일반관리비기준비</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gnadcoCrtrRt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일반관리비기준비</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이윤기준율</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pfStdrt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이윤기준율</a:t>
                      </a:r>
                      <a:r>
                        <a:rPr lang="en-US" altLang="ko-KR" sz="800" dirty="0">
                          <a:latin typeface="+mn-ea"/>
                          <a:ea typeface="+mn-ea"/>
                        </a:rPr>
                        <a:t>(%)</a:t>
                      </a:r>
                      <a:r>
                        <a:rPr lang="ko-KR" altLang="en-US" sz="800" dirty="0">
                          <a:latin typeface="+mn-ea"/>
                          <a:ea typeface="+mn-ea"/>
                        </a:rPr>
                        <a:t>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095439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적용난이도계수</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aplcnLvdffCfc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적용난이도계수</a:t>
                      </a:r>
                      <a:r>
                        <a:rPr lang="ko-KR" altLang="en-US" sz="800" dirty="0">
                          <a:latin typeface="+mn-ea"/>
                          <a:ea typeface="+mn-ea"/>
                        </a:rPr>
                        <a:t>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287360"/>
                  </a:ext>
                </a:extLst>
              </a:tr>
              <a:tr h="0">
                <a:tc>
                  <a:txBody>
                    <a:bodyPr/>
                    <a:lstStyle/>
                    <a:p>
                      <a:pPr latinLnBrk="1"/>
                      <a:r>
                        <a:rPr lang="ko-KR" altLang="en-US" sz="800" dirty="0">
                          <a:latin typeface="+mn-ea"/>
                          <a:ea typeface="+mn-ea"/>
                        </a:rPr>
                        <a:t>요양보험료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rcprIspm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요양보험료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0003859"/>
                  </a:ext>
                </a:extLst>
              </a:tr>
              <a:tr h="0">
                <a:tc>
                  <a:txBody>
                    <a:bodyPr/>
                    <a:lstStyle/>
                    <a:p>
                      <a:pPr latinLnBrk="1"/>
                      <a:r>
                        <a:rPr lang="ko-KR" altLang="en-US" sz="800" dirty="0">
                          <a:latin typeface="+mn-ea"/>
                          <a:ea typeface="+mn-ea"/>
                        </a:rPr>
                        <a:t>산업안전보건관리비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oshmco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산업안전보건관리비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130161"/>
                  </a:ext>
                </a:extLst>
              </a:tr>
              <a:tr h="0">
                <a:tc>
                  <a:txBody>
                    <a:bodyPr/>
                    <a:lstStyle/>
                    <a:p>
                      <a:pPr latinLnBrk="1"/>
                      <a:r>
                        <a:rPr lang="ko-KR" altLang="en-US" sz="800" dirty="0">
                          <a:latin typeface="+mn-ea"/>
                          <a:ea typeface="+mn-ea"/>
                        </a:rPr>
                        <a:t>퇴직급여충당금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rtrmSlryApamt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퇴직급여충당금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6973415"/>
                  </a:ext>
                </a:extLst>
              </a:tr>
              <a:tr h="0">
                <a:tc>
                  <a:txBody>
                    <a:bodyPr/>
                    <a:lstStyle/>
                    <a:p>
                      <a:pPr latinLnBrk="1"/>
                      <a:r>
                        <a:rPr lang="ko-KR" altLang="en-US" sz="800" dirty="0">
                          <a:latin typeface="+mn-ea"/>
                          <a:ea typeface="+mn-ea"/>
                        </a:rPr>
                        <a:t>퇴직공제부금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rmcfe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퇴직공제부금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583308"/>
                  </a:ext>
                </a:extLst>
              </a:tr>
              <a:tr h="0">
                <a:tc>
                  <a:txBody>
                    <a:bodyPr/>
                    <a:lstStyle/>
                    <a:p>
                      <a:pPr latinLnBrk="1"/>
                      <a:r>
                        <a:rPr lang="ko-KR" altLang="en-US" sz="800" dirty="0">
                          <a:latin typeface="+mn-ea"/>
                          <a:ea typeface="+mn-ea"/>
                        </a:rPr>
                        <a:t>안전관리비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sftyMnco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안전관리비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838714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재료비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mtco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재료비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6183695"/>
                  </a:ext>
                </a:extLst>
              </a:tr>
              <a:tr h="0">
                <a:tc>
                  <a:txBody>
                    <a:bodyPr/>
                    <a:lstStyle/>
                    <a:p>
                      <a:pPr latinLnBrk="1"/>
                      <a:r>
                        <a:rPr lang="ko-KR" altLang="en-US" sz="800" dirty="0">
                          <a:latin typeface="+mn-ea"/>
                          <a:ea typeface="+mn-ea"/>
                        </a:rPr>
                        <a:t>노무비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노무비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7272096"/>
                  </a:ext>
                </a:extLst>
              </a:tr>
              <a:tr h="0">
                <a:tc>
                  <a:txBody>
                    <a:bodyPr/>
                    <a:lstStyle/>
                    <a:p>
                      <a:pPr latinLnBrk="1"/>
                      <a:r>
                        <a:rPr lang="ko-KR" altLang="en-US" sz="800" dirty="0">
                          <a:latin typeface="+mn-ea"/>
                          <a:ea typeface="+mn-ea"/>
                        </a:rPr>
                        <a:t>경비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gnadcoUseAmt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101295"/>
                  </a:ext>
                </a:extLst>
              </a:tr>
              <a:tr h="0">
                <a:tc>
                  <a:txBody>
                    <a:bodyPr/>
                    <a:lstStyle/>
                    <a:p>
                      <a:pPr latinLnBrk="1"/>
                      <a:r>
                        <a:rPr lang="ko-KR" altLang="en-US" sz="800" dirty="0">
                          <a:latin typeface="+mn-ea"/>
                          <a:ea typeface="+mn-ea"/>
                        </a:rPr>
                        <a:t>부가가치세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vatAmt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부가가치세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80594"/>
                  </a:ext>
                </a:extLst>
              </a:tr>
              <a:tr h="0">
                <a:tc>
                  <a:txBody>
                    <a:bodyPr/>
                    <a:lstStyle/>
                    <a:p>
                      <a:pPr latinLnBrk="1"/>
                      <a:r>
                        <a:rPr lang="ko-KR" altLang="en-US" sz="800" dirty="0">
                          <a:latin typeface="+mn-ea"/>
                          <a:ea typeface="+mn-ea"/>
                        </a:rPr>
                        <a:t>품질관리비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qltyMnco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7572541"/>
                  </a:ext>
                </a:extLst>
              </a:tr>
            </a:tbl>
          </a:graphicData>
        </a:graphic>
      </p:graphicFrame>
      <p:sp>
        <p:nvSpPr>
          <p:cNvPr id="2" name="TextBox 1">
            <a:extLst>
              <a:ext uri="{FF2B5EF4-FFF2-40B4-BE49-F238E27FC236}">
                <a16:creationId xmlns:a16="http://schemas.microsoft.com/office/drawing/2014/main" id="{5E87C575-0A06-02EE-4755-8816A726AD9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589DF149-1642-7B44-4475-F8010FDDA29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03562567"/>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smtClean="0"/>
              <a:t>업무구분</a:t>
            </a:r>
            <a:r>
              <a:rPr lang="ko-KR" altLang="en-US" dirty="0" smtClean="0"/>
              <a:t> 물품</a:t>
            </a:r>
            <a:r>
              <a:rPr lang="en-US" altLang="ko-KR" dirty="0" smtClean="0"/>
              <a:t>/</a:t>
            </a:r>
            <a:r>
              <a:rPr lang="ko-KR" altLang="en-US" dirty="0" smtClean="0"/>
              <a:t>용역 </a:t>
            </a:r>
            <a:r>
              <a:rPr lang="en-US" altLang="ko-KR" dirty="0" smtClean="0"/>
              <a:t>, </a:t>
            </a:r>
            <a:r>
              <a:rPr lang="ko-KR" altLang="en-US" dirty="0" smtClean="0"/>
              <a:t>입찰방법 </a:t>
            </a:r>
            <a:r>
              <a:rPr lang="ko-KR" altLang="en-US" dirty="0" err="1" smtClean="0"/>
              <a:t>총액제일</a:t>
            </a:r>
            <a:r>
              <a:rPr lang="ko-KR" altLang="en-US" dirty="0" smtClean="0"/>
              <a:t> 때 노출 항목</a:t>
            </a:r>
            <a:r>
              <a:rPr lang="en-US" altLang="ko-KR" dirty="0" smtClean="0"/>
              <a:t/>
            </a:r>
            <a:br>
              <a:rPr lang="en-US" altLang="ko-KR" dirty="0" smtClean="0"/>
            </a:br>
            <a:r>
              <a:rPr lang="en-US" altLang="ko-KR" dirty="0" smtClean="0"/>
              <a:t>- </a:t>
            </a:r>
            <a:r>
              <a:rPr lang="ko-KR" altLang="en-US" dirty="0" err="1">
                <a:solidFill>
                  <a:prstClr val="black"/>
                </a:solidFill>
              </a:rPr>
              <a:t>항</a:t>
            </a:r>
            <a:r>
              <a:rPr lang="ko-KR" altLang="en-US" dirty="0" err="1" smtClean="0">
                <a:solidFill>
                  <a:prstClr val="black"/>
                </a:solidFill>
              </a:rPr>
              <a:t>목명세서</a:t>
            </a:r>
            <a:r>
              <a:rPr lang="en-US" altLang="ko-KR" dirty="0">
                <a:solidFill>
                  <a:prstClr val="black"/>
                </a:solidFill>
              </a:rPr>
              <a:t>(</a:t>
            </a:r>
            <a:r>
              <a:rPr lang="ko-KR" altLang="en-US" dirty="0" err="1">
                <a:solidFill>
                  <a:prstClr val="black"/>
                </a:solidFill>
              </a:rPr>
              <a:t>총액제</a:t>
            </a:r>
            <a:r>
              <a:rPr lang="en-US" altLang="ko-KR" dirty="0">
                <a:solidFill>
                  <a:prstClr val="black"/>
                </a:solidFill>
              </a:rPr>
              <a:t>) </a:t>
            </a:r>
            <a:r>
              <a:rPr lang="ko-KR" altLang="en-US" dirty="0">
                <a:solidFill>
                  <a:prstClr val="black"/>
                </a:solidFill>
              </a:rPr>
              <a:t>데이터 영역 </a:t>
            </a:r>
            <a:r>
              <a:rPr lang="en-US" altLang="ko-KR" dirty="0">
                <a:solidFill>
                  <a:prstClr val="black"/>
                </a:solidFill>
              </a:rPr>
              <a:t>(</a:t>
            </a:r>
            <a:r>
              <a:rPr lang="en-US" altLang="ko-KR" dirty="0" err="1">
                <a:solidFill>
                  <a:prstClr val="black"/>
                </a:solidFill>
              </a:rPr>
              <a:t>dlt_ItemDtst</a:t>
            </a:r>
            <a:r>
              <a:rPr lang="en-US" altLang="ko-KR" dirty="0" smtClean="0">
                <a:solidFill>
                  <a:prstClr val="black"/>
                </a:solidFill>
              </a:rPr>
              <a:t>)</a:t>
            </a:r>
            <a:endParaRPr lang="en-US" altLang="ko-KR" dirty="0">
              <a:solidFill>
                <a:prstClr val="black"/>
              </a:solidFill>
            </a:endParaRPr>
          </a:p>
          <a:p>
            <a:pPr>
              <a:buFont typeface="+mj-lt"/>
              <a:buAutoNum type="arabicPeriod"/>
            </a:pPr>
            <a:r>
              <a:rPr lang="ko-KR" altLang="en-US" dirty="0" err="1" smtClean="0"/>
              <a:t>업무구분이</a:t>
            </a:r>
            <a:r>
              <a:rPr lang="ko-KR" altLang="en-US" dirty="0" smtClean="0"/>
              <a:t> 물품</a:t>
            </a:r>
            <a:r>
              <a:rPr lang="en-US" altLang="ko-KR" dirty="0" smtClean="0"/>
              <a:t>/</a:t>
            </a:r>
            <a:r>
              <a:rPr lang="ko-KR" altLang="en-US" dirty="0" smtClean="0"/>
              <a:t>용역</a:t>
            </a:r>
            <a:r>
              <a:rPr lang="en-US" altLang="ko-KR" dirty="0" smtClean="0"/>
              <a:t>, </a:t>
            </a:r>
            <a:r>
              <a:rPr lang="ko-KR" altLang="en-US" dirty="0" smtClean="0"/>
              <a:t>입찰방법</a:t>
            </a:r>
            <a:r>
              <a:rPr lang="en-US" altLang="ko-KR" dirty="0" smtClean="0"/>
              <a:t> </a:t>
            </a:r>
            <a:r>
              <a:rPr lang="ko-KR" altLang="en-US" dirty="0" err="1" smtClean="0"/>
              <a:t>단가제일</a:t>
            </a:r>
            <a:r>
              <a:rPr lang="ko-KR" altLang="en-US" dirty="0" smtClean="0"/>
              <a:t> 때 노출 항목 </a:t>
            </a:r>
            <a:r>
              <a:rPr lang="en-US" altLang="ko-KR" dirty="0"/>
              <a:t/>
            </a:r>
            <a:br>
              <a:rPr lang="en-US" altLang="ko-KR" dirty="0"/>
            </a:br>
            <a:r>
              <a:rPr lang="en-US" altLang="ko-KR" dirty="0"/>
              <a:t>- </a:t>
            </a:r>
            <a:r>
              <a:rPr lang="ko-KR" altLang="en-US" dirty="0" err="1">
                <a:solidFill>
                  <a:prstClr val="black"/>
                </a:solidFill>
              </a:rPr>
              <a:t>품목명세서</a:t>
            </a:r>
            <a:r>
              <a:rPr lang="en-US" altLang="ko-KR" dirty="0">
                <a:solidFill>
                  <a:prstClr val="black"/>
                </a:solidFill>
              </a:rPr>
              <a:t>(</a:t>
            </a:r>
            <a:r>
              <a:rPr lang="ko-KR" altLang="en-US" dirty="0" err="1">
                <a:solidFill>
                  <a:prstClr val="black"/>
                </a:solidFill>
              </a:rPr>
              <a:t>단가제</a:t>
            </a:r>
            <a:r>
              <a:rPr lang="en-US" altLang="ko-KR" dirty="0">
                <a:solidFill>
                  <a:prstClr val="black"/>
                </a:solidFill>
              </a:rPr>
              <a:t>) </a:t>
            </a:r>
            <a:r>
              <a:rPr lang="ko-KR" altLang="en-US" dirty="0">
                <a:solidFill>
                  <a:prstClr val="black"/>
                </a:solidFill>
              </a:rPr>
              <a:t>데이터 영역 </a:t>
            </a:r>
            <a:r>
              <a:rPr lang="en-US" altLang="ko-KR" dirty="0">
                <a:solidFill>
                  <a:prstClr val="black"/>
                </a:solidFill>
              </a:rPr>
              <a:t>(</a:t>
            </a:r>
            <a:r>
              <a:rPr lang="en-US" altLang="ko-KR" dirty="0" err="1">
                <a:solidFill>
                  <a:prstClr val="black"/>
                </a:solidFill>
              </a:rPr>
              <a:t>dlt_ItemDtst</a:t>
            </a:r>
            <a:r>
              <a:rPr lang="en-US" altLang="ko-KR" dirty="0">
                <a:solidFill>
                  <a:prstClr val="black"/>
                </a:solidFill>
              </a:rPr>
              <a:t>)</a:t>
            </a:r>
            <a:endParaRPr lang="ko-KR" altLang="en-US" dirty="0">
              <a:solidFill>
                <a:prstClr val="black"/>
              </a:solidFill>
            </a:endParaRPr>
          </a:p>
          <a:p>
            <a:pPr>
              <a:buFont typeface="+mj-lt"/>
              <a:buAutoNum type="arabicPeriod"/>
            </a:pPr>
            <a:r>
              <a:rPr lang="ko-KR" altLang="en-US" dirty="0" err="1" smtClean="0"/>
              <a:t>군급</a:t>
            </a:r>
            <a:r>
              <a:rPr lang="en-US" altLang="ko-KR" dirty="0"/>
              <a:t>-</a:t>
            </a:r>
            <a:r>
              <a:rPr lang="ko-KR" altLang="en-US" dirty="0" err="1"/>
              <a:t>재고번호</a:t>
            </a:r>
            <a:r>
              <a:rPr lang="ko-KR" altLang="en-US" dirty="0"/>
              <a:t> 클릭</a:t>
            </a:r>
            <a:r>
              <a:rPr lang="en-US" altLang="ko-KR" dirty="0"/>
              <a:t/>
            </a:r>
            <a:br>
              <a:rPr lang="en-US" altLang="ko-KR" dirty="0"/>
            </a:br>
            <a:r>
              <a:rPr lang="en-US" altLang="ko-KR" dirty="0"/>
              <a:t>- </a:t>
            </a:r>
            <a:r>
              <a:rPr lang="ko-KR" altLang="en-US" dirty="0" smtClean="0"/>
              <a:t>목록정보조회</a:t>
            </a:r>
            <a:r>
              <a:rPr lang="en-US" altLang="ko-KR" dirty="0" smtClean="0"/>
              <a:t>(</a:t>
            </a:r>
            <a:r>
              <a:rPr lang="en-US" altLang="ko-KR" dirty="0">
                <a:solidFill>
                  <a:srgbClr val="FF0000"/>
                </a:solidFill>
                <a:latin typeface="맑은 고딕" panose="020B0503020000020004" pitchFamily="50" charset="-127"/>
              </a:rPr>
              <a:t>MUI-OP-01-P78</a:t>
            </a:r>
            <a:r>
              <a:rPr lang="en-US" altLang="ko-KR" dirty="0" smtClean="0"/>
              <a:t>)</a:t>
            </a:r>
            <a:r>
              <a:rPr lang="ko-KR" altLang="en-US" dirty="0" smtClean="0"/>
              <a:t>팝업을 호출</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en-US" altLang="ko-KR" dirty="0">
                <a:solidFill>
                  <a:srgbClr val="000000"/>
                </a:solidFill>
                <a:latin typeface="맑은 고딕" panose="020B0503020000020004" pitchFamily="50" charset="-127"/>
              </a:rPr>
              <a:t>PC) </a:t>
            </a:r>
            <a:r>
              <a:rPr lang="ko-KR" altLang="en-US" dirty="0">
                <a:solidFill>
                  <a:srgbClr val="000000"/>
                </a:solidFill>
                <a:latin typeface="맑은 고딕" panose="020B0503020000020004" pitchFamily="50" charset="-127"/>
              </a:rPr>
              <a:t>팝업 </a:t>
            </a:r>
            <a:r>
              <a:rPr lang="ko-KR" altLang="en-US" dirty="0" err="1">
                <a:solidFill>
                  <a:srgbClr val="000000"/>
                </a:solidFill>
                <a:latin typeface="맑은 고딕" panose="020B0503020000020004" pitchFamily="50" charset="-127"/>
              </a:rPr>
              <a:t>호출시</a:t>
            </a:r>
            <a:r>
              <a:rPr lang="ko-KR" altLang="en-US" dirty="0">
                <a:solidFill>
                  <a:srgbClr val="000000"/>
                </a:solidFill>
                <a:latin typeface="맑은 고딕" panose="020B0503020000020004" pitchFamily="50" charset="-127"/>
              </a:rPr>
              <a:t> </a:t>
            </a:r>
            <a:r>
              <a:rPr lang="en-US" altLang="ko-KR" dirty="0">
                <a:solidFill>
                  <a:srgbClr val="000000"/>
                </a:solidFill>
                <a:latin typeface="맑은 고딕" panose="020B0503020000020004" pitchFamily="50" charset="-127"/>
              </a:rPr>
              <a:t>parameter</a:t>
            </a:r>
            <a:r>
              <a:rPr lang="ko-KR" altLang="en-US" dirty="0">
                <a:solidFill>
                  <a:srgbClr val="000000"/>
                </a:solidFill>
                <a:latin typeface="맑은 고딕" panose="020B0503020000020004" pitchFamily="50" charset="-127"/>
              </a:rPr>
              <a:t>값이 없어 조회가 안되는 경우 에러메세지가 나오고 있음</a:t>
            </a:r>
            <a:r>
              <a:rPr lang="en-US" altLang="ko-KR" dirty="0" smtClean="0">
                <a:solidFill>
                  <a:srgbClr val="000000"/>
                </a:solidFill>
                <a:latin typeface="맑은 고딕" panose="020B0503020000020004" pitchFamily="50" charset="-127"/>
              </a:rPr>
              <a:t>.</a:t>
            </a:r>
            <a:br>
              <a:rPr lang="en-US" altLang="ko-KR" dirty="0" smtClean="0">
                <a:solidFill>
                  <a:srgbClr val="000000"/>
                </a:solidFill>
                <a:latin typeface="맑은 고딕" panose="020B0503020000020004" pitchFamily="50" charset="-127"/>
              </a:rPr>
            </a:br>
            <a:r>
              <a:rPr lang="en-US" altLang="ko-KR" dirty="0" smtClean="0">
                <a:solidFill>
                  <a:srgbClr val="FF0000"/>
                </a:solidFill>
                <a:latin typeface="맑은 고딕" panose="020B0503020000020004" pitchFamily="50" charset="-127"/>
              </a:rPr>
              <a:t>  &gt; </a:t>
            </a:r>
            <a:r>
              <a:rPr lang="ko-KR" altLang="en-US" dirty="0" smtClean="0">
                <a:solidFill>
                  <a:srgbClr val="FF0000"/>
                </a:solidFill>
                <a:latin typeface="맑은 고딕" panose="020B0503020000020004" pitchFamily="50" charset="-127"/>
              </a:rPr>
              <a:t>오류로 정보 조회가 되지 않는 경우 토스트 메시지</a:t>
            </a:r>
            <a:r>
              <a:rPr lang="en-US" altLang="ko-KR" dirty="0" smtClean="0">
                <a:solidFill>
                  <a:srgbClr val="FF0000"/>
                </a:solidFill>
                <a:latin typeface="맑은 고딕" panose="020B0503020000020004" pitchFamily="50" charset="-127"/>
              </a:rPr>
              <a:t/>
            </a:r>
            <a:br>
              <a:rPr lang="en-US" altLang="ko-KR" dirty="0" smtClean="0">
                <a:solidFill>
                  <a:srgbClr val="FF0000"/>
                </a:solidFill>
                <a:latin typeface="맑은 고딕" panose="020B0503020000020004" pitchFamily="50" charset="-127"/>
              </a:rPr>
            </a:br>
            <a:r>
              <a:rPr lang="en-US" altLang="ko-KR" dirty="0" smtClean="0">
                <a:solidFill>
                  <a:srgbClr val="FF0000"/>
                </a:solidFill>
                <a:latin typeface="맑은 고딕" panose="020B0503020000020004" pitchFamily="50" charset="-127"/>
              </a:rPr>
              <a:t>  &gt; </a:t>
            </a:r>
            <a:r>
              <a:rPr lang="ko-KR" altLang="en-US" dirty="0" smtClean="0">
                <a:solidFill>
                  <a:srgbClr val="FF0000"/>
                </a:solidFill>
                <a:latin typeface="맑은 고딕" panose="020B0503020000020004" pitchFamily="50" charset="-127"/>
              </a:rPr>
              <a:t>조회된 정보가 없습니다</a:t>
            </a:r>
            <a:r>
              <a:rPr lang="en-US" altLang="ko-KR" dirty="0" smtClean="0">
                <a:solidFill>
                  <a:srgbClr val="FF0000"/>
                </a:solidFill>
                <a:latin typeface="맑은 고딕" panose="020B0503020000020004" pitchFamily="50" charset="-127"/>
              </a:rPr>
              <a:t>. </a:t>
            </a:r>
            <a:r>
              <a:rPr lang="ko-KR" altLang="en-US" dirty="0" smtClean="0">
                <a:solidFill>
                  <a:srgbClr val="FF0000"/>
                </a:solidFill>
                <a:latin typeface="맑은 고딕" panose="020B0503020000020004" pitchFamily="50" charset="-127"/>
              </a:rPr>
              <a:t>나중에 다시 시도해주세요</a:t>
            </a:r>
            <a:r>
              <a:rPr lang="en-US" altLang="ko-KR" dirty="0" smtClean="0">
                <a:solidFill>
                  <a:srgbClr val="FF0000"/>
                </a:solidFill>
                <a:latin typeface="맑은 고딕" panose="020B0503020000020004" pitchFamily="50" charset="-127"/>
              </a:rPr>
              <a:t>.</a:t>
            </a:r>
            <a:endParaRPr lang="en-US" altLang="ko-KR" dirty="0">
              <a:solidFill>
                <a:srgbClr val="FF0000"/>
              </a:solidFill>
            </a:endParaRPr>
          </a:p>
          <a:p>
            <a:pPr>
              <a:buFont typeface="+mj-lt"/>
              <a:buAutoNum type="arabicPeriod"/>
            </a:pPr>
            <a:r>
              <a:rPr lang="ko-KR" altLang="en-US" dirty="0" smtClean="0"/>
              <a:t>조달요구번호 </a:t>
            </a:r>
            <a:r>
              <a:rPr lang="ko-KR" altLang="en-US" dirty="0"/>
              <a:t>클릭</a:t>
            </a:r>
            <a:r>
              <a:rPr lang="en-US" altLang="ko-KR" dirty="0"/>
              <a:t/>
            </a:r>
            <a:br>
              <a:rPr lang="en-US" altLang="ko-KR" dirty="0"/>
            </a:br>
            <a:r>
              <a:rPr lang="en-US" altLang="ko-KR" dirty="0"/>
              <a:t>- </a:t>
            </a:r>
            <a:r>
              <a:rPr lang="ko-KR" altLang="en-US" dirty="0" smtClean="0"/>
              <a:t>목록정보조회</a:t>
            </a:r>
            <a:r>
              <a:rPr lang="en-US" altLang="ko-KR" dirty="0" smtClean="0"/>
              <a:t>(</a:t>
            </a:r>
            <a:r>
              <a:rPr lang="en-US" altLang="ko-KR" dirty="0">
                <a:solidFill>
                  <a:srgbClr val="FF0000"/>
                </a:solidFill>
                <a:latin typeface="맑은 고딕" panose="020B0503020000020004" pitchFamily="50" charset="-127"/>
              </a:rPr>
              <a:t>MUI-OP-01-P78</a:t>
            </a:r>
            <a:r>
              <a:rPr lang="en-US" altLang="ko-KR" dirty="0">
                <a:solidFill>
                  <a:srgbClr val="000000"/>
                </a:solidFill>
                <a:latin typeface="맑은 고딕" panose="020B0503020000020004" pitchFamily="50" charset="-127"/>
              </a:rPr>
              <a:t>)</a:t>
            </a:r>
            <a:r>
              <a:rPr lang="en-US" altLang="ko-KR" dirty="0" smtClean="0"/>
              <a:t> </a:t>
            </a:r>
            <a:r>
              <a:rPr lang="ko-KR" altLang="en-US" dirty="0"/>
              <a:t>팝업을 </a:t>
            </a:r>
            <a:r>
              <a:rPr lang="ko-KR" altLang="en-US" dirty="0" smtClean="0"/>
              <a:t>호출</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a:solidFill>
                  <a:srgbClr val="000000"/>
                </a:solidFill>
                <a:latin typeface="맑은 고딕" panose="020B0503020000020004" pitchFamily="50" charset="-127"/>
              </a:rPr>
              <a:t>- </a:t>
            </a:r>
            <a:r>
              <a:rPr lang="en-US" altLang="ko-KR" dirty="0" smtClean="0">
                <a:solidFill>
                  <a:srgbClr val="000000"/>
                </a:solidFill>
                <a:latin typeface="맑은 고딕" panose="020B0503020000020004" pitchFamily="50" charset="-127"/>
              </a:rPr>
              <a:t>PC) </a:t>
            </a:r>
            <a:r>
              <a:rPr lang="ko-KR" altLang="en-US" dirty="0" smtClean="0">
                <a:solidFill>
                  <a:srgbClr val="000000"/>
                </a:solidFill>
                <a:latin typeface="맑은 고딕" panose="020B0503020000020004" pitchFamily="50" charset="-127"/>
              </a:rPr>
              <a:t>팝업 </a:t>
            </a:r>
            <a:r>
              <a:rPr lang="ko-KR" altLang="en-US" dirty="0" err="1" smtClean="0">
                <a:solidFill>
                  <a:srgbClr val="000000"/>
                </a:solidFill>
                <a:latin typeface="맑은 고딕" panose="020B0503020000020004" pitchFamily="50" charset="-127"/>
              </a:rPr>
              <a:t>호출시</a:t>
            </a:r>
            <a:r>
              <a:rPr lang="ko-KR" altLang="en-US" dirty="0" smtClean="0">
                <a:solidFill>
                  <a:srgbClr val="000000"/>
                </a:solidFill>
                <a:latin typeface="맑은 고딕" panose="020B0503020000020004" pitchFamily="50" charset="-127"/>
              </a:rPr>
              <a:t> </a:t>
            </a:r>
            <a:r>
              <a:rPr lang="en-US" altLang="ko-KR" dirty="0">
                <a:solidFill>
                  <a:srgbClr val="000000"/>
                </a:solidFill>
                <a:latin typeface="맑은 고딕" panose="020B0503020000020004" pitchFamily="50" charset="-127"/>
              </a:rPr>
              <a:t>p</a:t>
            </a:r>
            <a:r>
              <a:rPr lang="en-US" altLang="ko-KR" dirty="0" smtClean="0">
                <a:solidFill>
                  <a:srgbClr val="000000"/>
                </a:solidFill>
                <a:latin typeface="맑은 고딕" panose="020B0503020000020004" pitchFamily="50" charset="-127"/>
              </a:rPr>
              <a:t>arameter</a:t>
            </a:r>
            <a:r>
              <a:rPr lang="ko-KR" altLang="en-US" dirty="0" smtClean="0">
                <a:solidFill>
                  <a:srgbClr val="000000"/>
                </a:solidFill>
                <a:latin typeface="맑은 고딕" panose="020B0503020000020004" pitchFamily="50" charset="-127"/>
              </a:rPr>
              <a:t>값이 없어 조회가 안되는 </a:t>
            </a:r>
            <a:r>
              <a:rPr lang="ko-KR" altLang="en-US" dirty="0">
                <a:solidFill>
                  <a:srgbClr val="000000"/>
                </a:solidFill>
                <a:latin typeface="맑은 고딕" panose="020B0503020000020004" pitchFamily="50" charset="-127"/>
              </a:rPr>
              <a:t>경우 에러메세지가 나오고 있음</a:t>
            </a:r>
            <a:r>
              <a:rPr lang="en-US" altLang="ko-KR" dirty="0">
                <a:solidFill>
                  <a:srgbClr val="000000"/>
                </a:solidFill>
                <a:latin typeface="맑은 고딕" panose="020B0503020000020004" pitchFamily="50" charset="-127"/>
              </a:rPr>
              <a:t>. </a:t>
            </a:r>
            <a:br>
              <a:rPr lang="en-US" altLang="ko-KR" dirty="0">
                <a:solidFill>
                  <a:srgbClr val="000000"/>
                </a:solidFill>
                <a:latin typeface="맑은 고딕" panose="020B0503020000020004" pitchFamily="50" charset="-127"/>
              </a:rPr>
            </a:br>
            <a:r>
              <a:rPr lang="en-US" altLang="ko-KR" dirty="0">
                <a:solidFill>
                  <a:srgbClr val="FF0000"/>
                </a:solidFill>
                <a:latin typeface="맑은 고딕" panose="020B0503020000020004" pitchFamily="50" charset="-127"/>
              </a:rPr>
              <a:t>  &gt; </a:t>
            </a:r>
            <a:r>
              <a:rPr lang="ko-KR" altLang="en-US" dirty="0">
                <a:solidFill>
                  <a:srgbClr val="FF0000"/>
                </a:solidFill>
                <a:latin typeface="맑은 고딕" panose="020B0503020000020004" pitchFamily="50" charset="-127"/>
              </a:rPr>
              <a:t>오류로 정보 조회가 되지 않는 경우 토스트 메시지</a:t>
            </a:r>
            <a:r>
              <a:rPr lang="en-US" altLang="ko-KR" dirty="0">
                <a:solidFill>
                  <a:srgbClr val="FF0000"/>
                </a:solidFill>
                <a:latin typeface="맑은 고딕" panose="020B0503020000020004" pitchFamily="50" charset="-127"/>
              </a:rPr>
              <a:t/>
            </a:r>
            <a:br>
              <a:rPr lang="en-US" altLang="ko-KR" dirty="0">
                <a:solidFill>
                  <a:srgbClr val="FF0000"/>
                </a:solidFill>
                <a:latin typeface="맑은 고딕" panose="020B0503020000020004" pitchFamily="50" charset="-127"/>
              </a:rPr>
            </a:br>
            <a:r>
              <a:rPr lang="en-US" altLang="ko-KR" dirty="0">
                <a:solidFill>
                  <a:srgbClr val="FF0000"/>
                </a:solidFill>
                <a:latin typeface="맑은 고딕" panose="020B0503020000020004" pitchFamily="50" charset="-127"/>
              </a:rPr>
              <a:t>  &gt; </a:t>
            </a:r>
            <a:r>
              <a:rPr lang="ko-KR" altLang="en-US" dirty="0">
                <a:solidFill>
                  <a:srgbClr val="FF0000"/>
                </a:solidFill>
                <a:latin typeface="맑은 고딕" panose="020B0503020000020004" pitchFamily="50" charset="-127"/>
              </a:rPr>
              <a:t>조회된 정보가 없습니다</a:t>
            </a:r>
            <a:r>
              <a:rPr lang="en-US" altLang="ko-KR" dirty="0">
                <a:solidFill>
                  <a:srgbClr val="FF0000"/>
                </a:solidFill>
                <a:latin typeface="맑은 고딕" panose="020B0503020000020004" pitchFamily="50" charset="-127"/>
              </a:rPr>
              <a:t>. </a:t>
            </a:r>
            <a:r>
              <a:rPr lang="ko-KR" altLang="en-US" dirty="0">
                <a:solidFill>
                  <a:srgbClr val="FF0000"/>
                </a:solidFill>
                <a:latin typeface="맑은 고딕" panose="020B0503020000020004" pitchFamily="50" charset="-127"/>
              </a:rPr>
              <a:t>나중에 다시 시도해주세요</a:t>
            </a:r>
            <a:r>
              <a:rPr lang="en-US" altLang="ko-KR" dirty="0">
                <a:solidFill>
                  <a:srgbClr val="FF0000"/>
                </a:solidFill>
                <a:latin typeface="맑은 고딕" panose="020B0503020000020004" pitchFamily="50" charset="-127"/>
              </a:rPr>
              <a:t>.</a:t>
            </a:r>
            <a:endParaRPr lang="en-US" altLang="ko-KR" dirty="0">
              <a:solidFill>
                <a:srgbClr val="FF0000"/>
              </a:solidFill>
            </a:endParaRPr>
          </a:p>
          <a:p>
            <a:pPr>
              <a:buFont typeface="+mj-lt"/>
              <a:buAutoNum type="arabicPeriod"/>
            </a:pPr>
            <a:endParaRPr lang="en-US" altLang="ko-KR" dirty="0"/>
          </a:p>
          <a:p>
            <a:pPr>
              <a:buFont typeface="+mj-lt"/>
              <a:buAutoNum type="arabicPeriod"/>
            </a:pPr>
            <a:endParaRPr lang="en-US" altLang="ko-KR" dirty="0"/>
          </a:p>
          <a:p>
            <a:pPr marL="0" indent="0">
              <a:buNone/>
            </a:pPr>
            <a:r>
              <a:rPr lang="en-US" altLang="ko-KR" dirty="0"/>
              <a:t/>
            </a:r>
            <a:br>
              <a:rPr lang="en-US" altLang="ko-KR" dirty="0"/>
            </a:br>
            <a:endParaRPr lang="en-US" altLang="ko-KR" dirty="0" smtClean="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61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입찰공고상세 </a:t>
            </a:r>
            <a:r>
              <a:rPr lang="en-US" altLang="ko-KR" dirty="0">
                <a:latin typeface="+mn-ea"/>
              </a:rPr>
              <a:t>- </a:t>
            </a:r>
            <a:r>
              <a:rPr lang="ko-KR" altLang="en-US" dirty="0" err="1" smtClean="0">
                <a:latin typeface="+mn-ea"/>
              </a:rPr>
              <a:t>품목명세서</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err="1"/>
              <a:t>품목명세서</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err="1">
                <a:latin typeface="+mn-ea"/>
              </a:rPr>
              <a:t>품목명세서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3970026"/>
            <a:chOff x="701175" y="1527996"/>
            <a:chExt cx="2660475" cy="3970026"/>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364780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3662541"/>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규격번호</a:t>
              </a:r>
              <a:endParaRPr lang="en-US" altLang="ko-KR" sz="700" dirty="0">
                <a:latin typeface="+mn-ea"/>
              </a:endParaRPr>
            </a:p>
            <a:p>
              <a:pPr>
                <a:lnSpc>
                  <a:spcPct val="200000"/>
                </a:lnSpc>
              </a:pPr>
              <a:r>
                <a:rPr lang="ko-KR" altLang="en-US" sz="700" dirty="0" err="1">
                  <a:latin typeface="+mn-ea"/>
                </a:rPr>
                <a:t>규격종류</a:t>
              </a:r>
              <a:endParaRPr lang="ko-KR" altLang="en-US" sz="700" dirty="0">
                <a:latin typeface="+mn-ea"/>
              </a:endParaRP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군급</a:t>
              </a:r>
              <a:r>
                <a:rPr lang="en-US" altLang="ko-KR" sz="700" dirty="0">
                  <a:latin typeface="+mn-ea"/>
                </a:rPr>
                <a:t>-</a:t>
              </a: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적용장비명</a:t>
              </a:r>
              <a:endParaRPr lang="ko-KR" altLang="en-US" sz="700" dirty="0">
                <a:latin typeface="+mn-ea"/>
              </a:endParaRPr>
            </a:p>
            <a:p>
              <a:pPr>
                <a:lnSpc>
                  <a:spcPct val="200000"/>
                </a:lnSpc>
              </a:pPr>
              <a:r>
                <a:rPr lang="ko-KR" altLang="en-US" sz="700" dirty="0" err="1">
                  <a:latin typeface="+mn-ea"/>
                </a:rPr>
                <a:t>납지</a:t>
              </a:r>
              <a:endParaRPr lang="ko-KR" altLang="en-US" sz="700" dirty="0">
                <a:latin typeface="+mn-ea"/>
              </a:endParaRPr>
            </a:p>
            <a:p>
              <a:pPr>
                <a:lnSpc>
                  <a:spcPct val="200000"/>
                </a:lnSpc>
              </a:pPr>
              <a:r>
                <a:rPr lang="ko-KR" altLang="en-US" sz="700" dirty="0">
                  <a:latin typeface="+mn-ea"/>
                </a:rPr>
                <a:t>단가</a:t>
              </a:r>
            </a:p>
            <a:p>
              <a:pPr>
                <a:lnSpc>
                  <a:spcPct val="200000"/>
                </a:lnSpc>
              </a:pPr>
              <a:r>
                <a:rPr lang="ko-KR" altLang="en-US" sz="700" dirty="0">
                  <a:latin typeface="+mn-ea"/>
                </a:rPr>
                <a:t>품명</a:t>
              </a:r>
            </a:p>
            <a:p>
              <a:pPr>
                <a:lnSpc>
                  <a:spcPct val="200000"/>
                </a:lnSpc>
              </a:pPr>
              <a:r>
                <a:rPr lang="ko-KR" altLang="en-US" sz="700" dirty="0" err="1">
                  <a:latin typeface="+mn-ea"/>
                </a:rPr>
                <a:t>참조번호</a:t>
              </a:r>
              <a:endParaRPr lang="ko-KR" altLang="en-US" sz="700" dirty="0">
                <a:latin typeface="+mn-ea"/>
              </a:endParaRPr>
            </a:p>
            <a:p>
              <a:pPr>
                <a:lnSpc>
                  <a:spcPct val="200000"/>
                </a:lnSpc>
              </a:pPr>
              <a:r>
                <a:rPr lang="ko-KR" altLang="en-US" sz="700" dirty="0" err="1">
                  <a:latin typeface="+mn-ea"/>
                </a:rPr>
                <a:t>예산구분</a:t>
              </a:r>
              <a:endParaRPr lang="ko-KR" altLang="en-US" sz="700" dirty="0">
                <a:latin typeface="+mn-ea"/>
              </a:endParaRPr>
            </a:p>
            <a:p>
              <a:pPr>
                <a:lnSpc>
                  <a:spcPct val="200000"/>
                </a:lnSpc>
              </a:pPr>
              <a:r>
                <a:rPr lang="ko-KR" altLang="en-US" sz="700" dirty="0">
                  <a:latin typeface="+mn-ea"/>
                </a:rPr>
                <a:t>납기</a:t>
              </a:r>
            </a:p>
            <a:p>
              <a:pPr>
                <a:lnSpc>
                  <a:spcPct val="200000"/>
                </a:lnSpc>
              </a:pPr>
              <a:r>
                <a:rPr lang="ko-KR" altLang="en-US" sz="700" dirty="0">
                  <a:latin typeface="+mn-ea"/>
                </a:rPr>
                <a:t>금액</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814470" cy="362823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ko-KR" altLang="en-US" sz="700" dirty="0" err="1">
                  <a:latin typeface="+mn-ea"/>
                </a:rPr>
                <a:t>소요군검사</a:t>
              </a:r>
              <a:endParaRPr lang="ko-KR" altLang="en-US" sz="700" dirty="0">
                <a:latin typeface="+mn-ea"/>
              </a:endParaRPr>
            </a:p>
            <a:p>
              <a:pPr>
                <a:lnSpc>
                  <a:spcPct val="200000"/>
                </a:lnSpc>
              </a:pPr>
              <a:r>
                <a:rPr lang="en-US" altLang="ko-KR" sz="700" dirty="0">
                  <a:latin typeface="+mn-ea"/>
                </a:rPr>
                <a:t>MB201639962A001</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31,608,000.00 </a:t>
              </a:r>
              <a:r>
                <a:rPr lang="ko-KR" altLang="en-US" sz="700" dirty="0">
                  <a:latin typeface="+mn-ea"/>
                </a:rPr>
                <a:t>원</a:t>
              </a:r>
            </a:p>
            <a:p>
              <a:pPr>
                <a:lnSpc>
                  <a:spcPct val="200000"/>
                </a:lnSpc>
              </a:pPr>
              <a:r>
                <a:rPr lang="ko-KR" altLang="en-US" sz="700" dirty="0" err="1">
                  <a:latin typeface="+mn-ea"/>
                </a:rPr>
                <a:t>풋살경기장</a:t>
              </a:r>
              <a:r>
                <a:rPr lang="ko-KR" altLang="en-US" sz="700" dirty="0">
                  <a:latin typeface="+mn-ea"/>
                </a:rPr>
                <a:t> 인조잔디 제조</a:t>
              </a:r>
              <a:r>
                <a:rPr lang="en-US" altLang="ko-KR" sz="700" dirty="0">
                  <a:latin typeface="+mn-ea"/>
                </a:rPr>
                <a:t>-</a:t>
              </a:r>
              <a:r>
                <a:rPr lang="ko-KR" altLang="en-US" sz="700" dirty="0" err="1">
                  <a:latin typeface="+mn-ea"/>
                </a:rPr>
                <a:t>설치납품</a:t>
              </a:r>
              <a:endParaRPr lang="ko-KR" altLang="en-US" sz="700" dirty="0">
                <a:latin typeface="+mn-ea"/>
              </a:endParaRP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2016-11-25</a:t>
              </a:r>
            </a:p>
            <a:p>
              <a:pPr algn="r">
                <a:lnSpc>
                  <a:spcPct val="200000"/>
                </a:lnSpc>
              </a:pPr>
              <a:r>
                <a:rPr lang="en-US" altLang="ko-KR" sz="700" dirty="0">
                  <a:latin typeface="+mn-ea"/>
                </a:rPr>
                <a:t>31,608,000 </a:t>
              </a:r>
              <a:r>
                <a:rPr lang="ko-KR" altLang="en-US" sz="700" dirty="0">
                  <a:latin typeface="+mn-ea"/>
                </a:rPr>
                <a:t>원</a:t>
              </a:r>
              <a:endParaRPr lang="en-US" altLang="ko-KR" sz="700" dirty="0">
                <a:latin typeface="+mn-ea"/>
              </a:endParaRPr>
            </a:p>
          </p:txBody>
        </p:sp>
        <p:grpSp>
          <p:nvGrpSpPr>
            <p:cNvPr id="17" name="그룹 16"/>
            <p:cNvGrpSpPr/>
            <p:nvPr/>
          </p:nvGrpSpPr>
          <p:grpSpPr>
            <a:xfrm>
              <a:off x="701175" y="1835481"/>
              <a:ext cx="2630093" cy="3650578"/>
              <a:chOff x="701175" y="1835481"/>
              <a:chExt cx="2630093" cy="3650578"/>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3689399"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58" name="타원 257">
            <a:extLst>
              <a:ext uri="{FF2B5EF4-FFF2-40B4-BE49-F238E27FC236}">
                <a16:creationId xmlns:a16="http://schemas.microsoft.com/office/drawing/2014/main" id="{37A7FF4F-0EAA-1463-560A-D5EC24416103}"/>
              </a:ext>
            </a:extLst>
          </p:cNvPr>
          <p:cNvSpPr/>
          <p:nvPr/>
        </p:nvSpPr>
        <p:spPr>
          <a:xfrm>
            <a:off x="571127" y="335857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74" name="TextBox 73">
            <a:extLst>
              <a:ext uri="{FF2B5EF4-FFF2-40B4-BE49-F238E27FC236}">
                <a16:creationId xmlns:a16="http://schemas.microsoft.com/office/drawing/2014/main" id="{FFC49AEA-2A8F-250C-A86A-A7751D9706C3}"/>
              </a:ext>
            </a:extLst>
          </p:cNvPr>
          <p:cNvSpPr txBox="1"/>
          <p:nvPr/>
        </p:nvSpPr>
        <p:spPr>
          <a:xfrm>
            <a:off x="3882481" y="1527996"/>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endParaRPr lang="ko-KR" altLang="en-US" sz="700" dirty="0">
              <a:latin typeface="+mn-ea"/>
            </a:endParaRPr>
          </a:p>
        </p:txBody>
      </p:sp>
      <p:grpSp>
        <p:nvGrpSpPr>
          <p:cNvPr id="75" name="그룹 74"/>
          <p:cNvGrpSpPr/>
          <p:nvPr/>
        </p:nvGrpSpPr>
        <p:grpSpPr>
          <a:xfrm flipV="1">
            <a:off x="6244568" y="1641327"/>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6" name="직사각형 75"/>
          <p:cNvSpPr/>
          <p:nvPr/>
        </p:nvSpPr>
        <p:spPr>
          <a:xfrm>
            <a:off x="3823603" y="1835481"/>
            <a:ext cx="792000" cy="25853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6" y="1835481"/>
            <a:ext cx="725552" cy="2585323"/>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군급</a:t>
            </a:r>
            <a:r>
              <a:rPr lang="en-US" altLang="ko-KR" sz="700" dirty="0">
                <a:latin typeface="+mn-ea"/>
              </a:rPr>
              <a:t>-</a:t>
            </a: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규격번호</a:t>
            </a:r>
            <a:endParaRPr lang="en-US" altLang="ko-KR" sz="700" dirty="0">
              <a:latin typeface="+mn-ea"/>
            </a:endParaRPr>
          </a:p>
          <a:p>
            <a:pPr>
              <a:lnSpc>
                <a:spcPct val="200000"/>
              </a:lnSpc>
            </a:pPr>
            <a:r>
              <a:rPr lang="ko-KR" altLang="en-US" sz="700" dirty="0" err="1">
                <a:latin typeface="+mn-ea"/>
              </a:rPr>
              <a:t>규격종류</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품명</a:t>
            </a: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참조번호</a:t>
            </a:r>
            <a:endParaRPr lang="ko-KR" altLang="en-US" sz="700" dirty="0">
              <a:latin typeface="+mn-ea"/>
            </a:endParaRPr>
          </a:p>
          <a:p>
            <a:pPr>
              <a:lnSpc>
                <a:spcPct val="200000"/>
              </a:lnSpc>
            </a:pPr>
            <a:r>
              <a:rPr lang="ko-KR" altLang="en-US" sz="700" dirty="0" err="1">
                <a:latin typeface="+mn-ea"/>
              </a:rPr>
              <a:t>적용장비명</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err="1">
                <a:latin typeface="+mn-ea"/>
              </a:rPr>
              <a:t>총금액</a:t>
            </a:r>
            <a:endParaRPr lang="ko-KR" altLang="en-US" sz="700" dirty="0">
              <a:latin typeface="+mn-ea"/>
            </a:endParaRPr>
          </a:p>
        </p:txBody>
      </p:sp>
      <p:sp>
        <p:nvSpPr>
          <p:cNvPr id="78" name="TextBox 77">
            <a:extLst>
              <a:ext uri="{FF2B5EF4-FFF2-40B4-BE49-F238E27FC236}">
                <a16:creationId xmlns:a16="http://schemas.microsoft.com/office/drawing/2014/main" id="{FFC49AEA-2A8F-250C-A86A-A7751D9706C3}"/>
              </a:ext>
            </a:extLst>
          </p:cNvPr>
          <p:cNvSpPr txBox="1"/>
          <p:nvPr/>
        </p:nvSpPr>
        <p:spPr>
          <a:xfrm>
            <a:off x="4667515" y="1835481"/>
            <a:ext cx="1814470" cy="2585323"/>
          </a:xfrm>
          <a:prstGeom prst="rect">
            <a:avLst/>
          </a:prstGeom>
          <a:noFill/>
        </p:spPr>
        <p:txBody>
          <a:bodyPr wrap="square" lIns="0" tIns="0" rIns="0" bIns="0" rtlCol="0">
            <a:spAutoFit/>
          </a:bodyPr>
          <a:lstStyle/>
          <a:p>
            <a:pPr>
              <a:lnSpc>
                <a:spcPct val="200000"/>
              </a:lnSpc>
            </a:pPr>
            <a:r>
              <a:rPr lang="en-US" altLang="ko-KR" sz="700" dirty="0">
                <a:latin typeface="+mn-ea"/>
              </a:rPr>
              <a:t>11111 11111</a:t>
            </a: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5</a:t>
            </a:r>
            <a:endParaRPr lang="ko-KR" altLang="en-US" sz="700" dirty="0">
              <a:latin typeface="+mn-ea"/>
            </a:endParaRPr>
          </a:p>
          <a:p>
            <a:pPr>
              <a:lnSpc>
                <a:spcPct val="200000"/>
              </a:lnSpc>
            </a:pPr>
            <a:r>
              <a:rPr lang="ko-KR" altLang="en-US" sz="700" dirty="0" err="1">
                <a:latin typeface="+mn-ea"/>
              </a:rPr>
              <a:t>풋살경기장</a:t>
            </a:r>
            <a:r>
              <a:rPr lang="ko-KR" altLang="en-US" sz="700" dirty="0">
                <a:latin typeface="+mn-ea"/>
              </a:rPr>
              <a:t> 인조잔디 제조</a:t>
            </a:r>
            <a:r>
              <a:rPr lang="en-US" altLang="ko-KR" sz="700" dirty="0">
                <a:latin typeface="+mn-ea"/>
              </a:rPr>
              <a:t>-</a:t>
            </a:r>
            <a:r>
              <a:rPr lang="ko-KR" altLang="en-US" sz="700" dirty="0" err="1">
                <a:latin typeface="+mn-ea"/>
              </a:rPr>
              <a:t>설치납품</a:t>
            </a:r>
            <a:endParaRPr lang="en-US" altLang="ko-KR" sz="700" dirty="0">
              <a:latin typeface="+mn-ea"/>
            </a:endParaRP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ko-KR" altLang="en-US" sz="700" dirty="0" err="1">
                <a:latin typeface="+mn-ea"/>
              </a:rPr>
              <a:t>가나다라마바사아자차카타파하</a:t>
            </a:r>
            <a:endParaRPr lang="en-US" altLang="ko-KR" sz="700" dirty="0">
              <a:latin typeface="+mn-ea"/>
            </a:endParaRPr>
          </a:p>
          <a:p>
            <a:pPr algn="r">
              <a:lnSpc>
                <a:spcPct val="200000"/>
              </a:lnSpc>
            </a:pPr>
            <a:r>
              <a:rPr lang="en-US" altLang="ko-KR" sz="700" dirty="0">
                <a:latin typeface="+mn-ea"/>
              </a:rPr>
              <a:t>31,608,000 </a:t>
            </a:r>
            <a:r>
              <a:rPr lang="ko-KR" altLang="en-US" sz="700" dirty="0">
                <a:latin typeface="+mn-ea"/>
              </a:rPr>
              <a:t>원</a:t>
            </a:r>
          </a:p>
          <a:p>
            <a:pPr algn="r">
              <a:lnSpc>
                <a:spcPct val="200000"/>
              </a:lnSpc>
            </a:pPr>
            <a:r>
              <a:rPr lang="en-US" altLang="ko-KR" sz="700" dirty="0">
                <a:latin typeface="+mn-ea"/>
              </a:rPr>
              <a:t>- </a:t>
            </a:r>
            <a:r>
              <a:rPr lang="ko-KR" altLang="en-US" sz="700" dirty="0">
                <a:latin typeface="+mn-ea"/>
              </a:rPr>
              <a:t>원</a:t>
            </a:r>
            <a:endParaRPr lang="en-US" altLang="ko-KR" sz="700" dirty="0">
              <a:latin typeface="+mn-ea"/>
            </a:endParaRPr>
          </a:p>
        </p:txBody>
      </p:sp>
      <p:grpSp>
        <p:nvGrpSpPr>
          <p:cNvPr id="79" name="그룹 78"/>
          <p:cNvGrpSpPr/>
          <p:nvPr/>
        </p:nvGrpSpPr>
        <p:grpSpPr>
          <a:xfrm>
            <a:off x="3821510" y="1835481"/>
            <a:ext cx="2630093" cy="2576880"/>
            <a:chOff x="701175" y="1835481"/>
            <a:chExt cx="2630093" cy="2576880"/>
          </a:xfrm>
        </p:grpSpPr>
        <p:cxnSp>
          <p:nvCxnSpPr>
            <p:cNvPr id="80" name="직선 연결선 7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65" name="TextBox 64">
            <a:extLst>
              <a:ext uri="{FF2B5EF4-FFF2-40B4-BE49-F238E27FC236}">
                <a16:creationId xmlns:a16="http://schemas.microsoft.com/office/drawing/2014/main" id="{FFC49AEA-2A8F-250C-A86A-A7751D9706C3}"/>
              </a:ext>
            </a:extLst>
          </p:cNvPr>
          <p:cNvSpPr txBox="1"/>
          <p:nvPr/>
        </p:nvSpPr>
        <p:spPr>
          <a:xfrm>
            <a:off x="3882481" y="4581218"/>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r>
              <a:rPr lang="ko-KR" altLang="en-US" sz="700" dirty="0">
                <a:latin typeface="+mn-ea"/>
              </a:rPr>
              <a:t> 상세</a:t>
            </a:r>
          </a:p>
        </p:txBody>
      </p:sp>
      <p:grpSp>
        <p:nvGrpSpPr>
          <p:cNvPr id="66" name="그룹 65"/>
          <p:cNvGrpSpPr/>
          <p:nvPr/>
        </p:nvGrpSpPr>
        <p:grpSpPr>
          <a:xfrm flipV="1">
            <a:off x="6244568" y="4694549"/>
            <a:ext cx="94010" cy="47005"/>
            <a:chOff x="6812560" y="3297172"/>
            <a:chExt cx="94010" cy="47005"/>
          </a:xfrm>
        </p:grpSpPr>
        <p:cxnSp>
          <p:nvCxnSpPr>
            <p:cNvPr id="67" name="직선 연결선 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9" name="직사각형 68"/>
          <p:cNvSpPr/>
          <p:nvPr/>
        </p:nvSpPr>
        <p:spPr>
          <a:xfrm>
            <a:off x="3823603" y="4888704"/>
            <a:ext cx="792000" cy="134359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TextBox 69">
            <a:extLst>
              <a:ext uri="{FF2B5EF4-FFF2-40B4-BE49-F238E27FC236}">
                <a16:creationId xmlns:a16="http://schemas.microsoft.com/office/drawing/2014/main" id="{FFC49AEA-2A8F-250C-A86A-A7751D9706C3}"/>
              </a:ext>
            </a:extLst>
          </p:cNvPr>
          <p:cNvSpPr txBox="1"/>
          <p:nvPr/>
        </p:nvSpPr>
        <p:spPr>
          <a:xfrm>
            <a:off x="3910666" y="4888703"/>
            <a:ext cx="725552" cy="129266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적용장비명</a:t>
            </a:r>
            <a:endParaRPr lang="en-US" altLang="ko-KR" sz="700" dirty="0">
              <a:latin typeface="+mn-ea"/>
            </a:endParaRPr>
          </a:p>
          <a:p>
            <a:pPr>
              <a:lnSpc>
                <a:spcPct val="200000"/>
              </a:lnSpc>
            </a:pPr>
            <a:r>
              <a:rPr lang="ko-KR" altLang="en-US" sz="700" dirty="0">
                <a:latin typeface="+mn-ea"/>
              </a:rPr>
              <a:t>예산항목</a:t>
            </a:r>
            <a:endParaRPr lang="en-US" altLang="ko-KR" sz="700" dirty="0">
              <a:latin typeface="+mn-ea"/>
            </a:endParaRPr>
          </a:p>
          <a:p>
            <a:pPr>
              <a:lnSpc>
                <a:spcPct val="200000"/>
              </a:lnSpc>
            </a:pPr>
            <a:r>
              <a:rPr lang="ko-KR" altLang="en-US" sz="700" dirty="0">
                <a:latin typeface="+mn-ea"/>
              </a:rPr>
              <a:t>단위</a:t>
            </a:r>
          </a:p>
        </p:txBody>
      </p:sp>
      <p:sp>
        <p:nvSpPr>
          <p:cNvPr id="71" name="TextBox 70">
            <a:extLst>
              <a:ext uri="{FF2B5EF4-FFF2-40B4-BE49-F238E27FC236}">
                <a16:creationId xmlns:a16="http://schemas.microsoft.com/office/drawing/2014/main" id="{FFC49AEA-2A8F-250C-A86A-A7751D9706C3}"/>
              </a:ext>
            </a:extLst>
          </p:cNvPr>
          <p:cNvSpPr txBox="1"/>
          <p:nvPr/>
        </p:nvSpPr>
        <p:spPr>
          <a:xfrm>
            <a:off x="4667515" y="4888703"/>
            <a:ext cx="1814470" cy="1292662"/>
          </a:xfrm>
          <a:prstGeom prst="rect">
            <a:avLst/>
          </a:prstGeom>
          <a:noFill/>
        </p:spPr>
        <p:txBody>
          <a:bodyPr wrap="square" lIns="0" tIns="0" rIns="0" bIns="0" rtlCol="0">
            <a:spAutoFit/>
          </a:bodyPr>
          <a:lstStyle/>
          <a:p>
            <a:pPr>
              <a:lnSpc>
                <a:spcPct val="200000"/>
              </a:lnSpc>
            </a:pPr>
            <a:r>
              <a:rPr lang="en-US" altLang="ko-KR" sz="700" dirty="0">
                <a:latin typeface="+mn-ea"/>
              </a:rPr>
              <a:t>11111 11111</a:t>
            </a:r>
          </a:p>
          <a:p>
            <a:pPr>
              <a:lnSpc>
                <a:spcPct val="200000"/>
              </a:lnSpc>
            </a:pPr>
            <a:endParaRPr lang="en-US" altLang="ko-KR" sz="700" dirty="0">
              <a:solidFill>
                <a:srgbClr val="0070C0"/>
              </a:solidFill>
              <a:latin typeface="+mn-ea"/>
            </a:endParaRP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73" name="그룹 72"/>
          <p:cNvGrpSpPr/>
          <p:nvPr/>
        </p:nvGrpSpPr>
        <p:grpSpPr>
          <a:xfrm>
            <a:off x="3821510" y="4888703"/>
            <a:ext cx="2630093" cy="1288440"/>
            <a:chOff x="701175" y="1835481"/>
            <a:chExt cx="2630093" cy="1288440"/>
          </a:xfrm>
        </p:grpSpPr>
        <p:cxnSp>
          <p:nvCxnSpPr>
            <p:cNvPr id="83" name="직선 연결선 8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5734" y="453767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2" name="타원 101">
            <a:extLst>
              <a:ext uri="{FF2B5EF4-FFF2-40B4-BE49-F238E27FC236}">
                <a16:creationId xmlns:a16="http://schemas.microsoft.com/office/drawing/2014/main" id="{37A7FF4F-0EAA-1463-560A-D5EC24416103}"/>
              </a:ext>
            </a:extLst>
          </p:cNvPr>
          <p:cNvSpPr/>
          <p:nvPr/>
        </p:nvSpPr>
        <p:spPr>
          <a:xfrm>
            <a:off x="3689399" y="533307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56034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사각형: 둥근 모서리 15">
            <a:extLst>
              <a:ext uri="{FF2B5EF4-FFF2-40B4-BE49-F238E27FC236}">
                <a16:creationId xmlns:a16="http://schemas.microsoft.com/office/drawing/2014/main" id="{E2B61CFB-AD16-68D0-8752-50D9C5E01971}"/>
              </a:ext>
            </a:extLst>
          </p:cNvPr>
          <p:cNvSpPr/>
          <p:nvPr/>
        </p:nvSpPr>
        <p:spPr>
          <a:xfrm>
            <a:off x="2836921" y="3368709"/>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5" name="사각형: 둥근 모서리 15">
            <a:extLst>
              <a:ext uri="{FF2B5EF4-FFF2-40B4-BE49-F238E27FC236}">
                <a16:creationId xmlns:a16="http://schemas.microsoft.com/office/drawing/2014/main" id="{E2B61CFB-AD16-68D0-8752-50D9C5E01971}"/>
              </a:ext>
            </a:extLst>
          </p:cNvPr>
          <p:cNvSpPr/>
          <p:nvPr/>
        </p:nvSpPr>
        <p:spPr>
          <a:xfrm>
            <a:off x="5957256" y="208002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6" name="사각형: 둥근 모서리 15">
            <a:extLst>
              <a:ext uri="{FF2B5EF4-FFF2-40B4-BE49-F238E27FC236}">
                <a16:creationId xmlns:a16="http://schemas.microsoft.com/office/drawing/2014/main" id="{E2B61CFB-AD16-68D0-8752-50D9C5E01971}"/>
              </a:ext>
            </a:extLst>
          </p:cNvPr>
          <p:cNvSpPr/>
          <p:nvPr/>
        </p:nvSpPr>
        <p:spPr>
          <a:xfrm>
            <a:off x="5957256" y="534320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1195064102"/>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en-US" altLang="ko-KR" dirty="0"/>
              <a:t>‘</a:t>
            </a:r>
            <a:r>
              <a:rPr lang="ko-KR" altLang="en-US" b="1" dirty="0">
                <a:solidFill>
                  <a:srgbClr val="FF0000"/>
                </a:solidFill>
              </a:rPr>
              <a:t>통합사업관리시스템</a:t>
            </a:r>
            <a:r>
              <a:rPr lang="en-US" altLang="ko-KR" dirty="0"/>
              <a:t>’</a:t>
            </a:r>
            <a:r>
              <a:rPr lang="ko-KR" altLang="en-US" dirty="0"/>
              <a:t>을 통해 인터페이스 수신 받은 공고일 경우 노출되는 상세 목록 그리드 </a:t>
            </a:r>
            <a:r>
              <a:rPr lang="en-US" altLang="ko-KR" dirty="0" smtClean="0"/>
              <a:t>(</a:t>
            </a:r>
            <a:r>
              <a:rPr lang="ko-KR" altLang="en-US" dirty="0" err="1" smtClean="0"/>
              <a:t>방위사업청</a:t>
            </a:r>
            <a:r>
              <a:rPr lang="en-US" altLang="ko-KR" dirty="0"/>
              <a:t>, </a:t>
            </a:r>
            <a:r>
              <a:rPr lang="ko-KR" altLang="en-US" dirty="0"/>
              <a:t>조달본부</a:t>
            </a:r>
            <a:r>
              <a:rPr lang="en-US" altLang="ko-KR" dirty="0"/>
              <a:t>)</a:t>
            </a:r>
            <a:br>
              <a:rPr lang="en-US" altLang="ko-KR" dirty="0"/>
            </a:br>
            <a:r>
              <a:rPr lang="en-US" altLang="ko-KR" dirty="0" smtClean="0"/>
              <a:t>- </a:t>
            </a:r>
            <a:r>
              <a:rPr lang="ko-KR" altLang="en-US" dirty="0">
                <a:solidFill>
                  <a:prstClr val="black"/>
                </a:solidFill>
              </a:rPr>
              <a:t>품목명세서상세</a:t>
            </a:r>
            <a:r>
              <a:rPr lang="en-US" altLang="ko-KR" dirty="0">
                <a:solidFill>
                  <a:prstClr val="black"/>
                </a:solidFill>
              </a:rPr>
              <a:t>(</a:t>
            </a:r>
            <a:r>
              <a:rPr lang="ko-KR" altLang="en-US" dirty="0">
                <a:solidFill>
                  <a:prstClr val="black"/>
                </a:solidFill>
              </a:rPr>
              <a:t>통합사업관리시스템</a:t>
            </a:r>
            <a:r>
              <a:rPr lang="en-US" altLang="ko-KR" dirty="0">
                <a:solidFill>
                  <a:prstClr val="black"/>
                </a:solidFill>
              </a:rPr>
              <a:t>) </a:t>
            </a:r>
            <a:r>
              <a:rPr lang="ko-KR" altLang="en-US" dirty="0">
                <a:solidFill>
                  <a:prstClr val="black"/>
                </a:solidFill>
              </a:rPr>
              <a:t>데이터 영역 </a:t>
            </a:r>
            <a:r>
              <a:rPr lang="en-US" altLang="ko-KR" dirty="0">
                <a:solidFill>
                  <a:prstClr val="black"/>
                </a:solidFill>
              </a:rPr>
              <a:t>(</a:t>
            </a:r>
            <a:r>
              <a:rPr lang="en-US" altLang="ko-KR" dirty="0" err="1" smtClean="0">
                <a:solidFill>
                  <a:prstClr val="black"/>
                </a:solidFill>
              </a:rPr>
              <a:t>dmt_ItemDtstDtl</a:t>
            </a:r>
            <a:r>
              <a:rPr lang="en-US" altLang="ko-KR" dirty="0">
                <a:solidFill>
                  <a:prstClr val="black"/>
                </a:solidFill>
              </a:rPr>
              <a:t>)</a:t>
            </a:r>
            <a:endParaRPr lang="en-US" altLang="ko-KR" dirty="0" smtClean="0"/>
          </a:p>
          <a:p>
            <a:pPr>
              <a:buFont typeface="+mj-lt"/>
              <a:buAutoNum type="arabicPeriod"/>
            </a:pPr>
            <a:r>
              <a:rPr lang="ko-KR" altLang="en-US" dirty="0" smtClean="0"/>
              <a:t>’</a:t>
            </a:r>
            <a:r>
              <a:rPr lang="ko-KR" altLang="en-US" b="1" dirty="0" err="1" smtClean="0">
                <a:solidFill>
                  <a:srgbClr val="FF0000"/>
                </a:solidFill>
              </a:rPr>
              <a:t>부대조달정보체계</a:t>
            </a:r>
            <a:r>
              <a:rPr lang="ko-KR" altLang="en-US" b="1" dirty="0" err="1" smtClean="0"/>
              <a:t>‘</a:t>
            </a:r>
            <a:r>
              <a:rPr lang="ko-KR" altLang="en-US" dirty="0" err="1" smtClean="0"/>
              <a:t>를</a:t>
            </a:r>
            <a:r>
              <a:rPr lang="ko-KR" altLang="en-US" dirty="0" smtClean="0"/>
              <a:t> 통해 인터페이스 수신 받은 공고일 경우 노출되는 상세 목록 그리드</a:t>
            </a:r>
            <a:endParaRPr lang="en-US" altLang="ko-KR" dirty="0" smtClean="0"/>
          </a:p>
          <a:p>
            <a:pPr>
              <a:buFont typeface="+mj-lt"/>
              <a:buAutoNum type="arabicPeriod"/>
            </a:pPr>
            <a:r>
              <a:rPr lang="ko-KR" altLang="en-US" dirty="0" err="1" smtClean="0"/>
              <a:t>품보형태</a:t>
            </a:r>
            <a:r>
              <a:rPr lang="ko-KR" altLang="en-US" dirty="0" smtClean="0"/>
              <a:t> </a:t>
            </a:r>
            <a:r>
              <a:rPr lang="ko-KR" altLang="en-US" dirty="0"/>
              <a:t>클릭</a:t>
            </a:r>
            <a:r>
              <a:rPr lang="en-US" altLang="ko-KR" dirty="0"/>
              <a:t/>
            </a:r>
            <a:br>
              <a:rPr lang="en-US" altLang="ko-KR" dirty="0"/>
            </a:br>
            <a:r>
              <a:rPr lang="en-US" altLang="ko-KR" dirty="0"/>
              <a:t>- </a:t>
            </a:r>
            <a:r>
              <a:rPr lang="ko-KR" altLang="en-US" dirty="0" smtClean="0"/>
              <a:t>목록정보조회</a:t>
            </a:r>
            <a:r>
              <a:rPr lang="en-US" altLang="ko-KR" dirty="0" smtClean="0"/>
              <a:t>(</a:t>
            </a:r>
            <a:r>
              <a:rPr lang="en-US" altLang="ko-KR" dirty="0" smtClean="0">
                <a:solidFill>
                  <a:srgbClr val="000000"/>
                </a:solidFill>
                <a:latin typeface="맑은 고딕" panose="020B0503020000020004" pitchFamily="50" charset="-127"/>
              </a:rPr>
              <a:t>MUI-OP-01-T73)</a:t>
            </a:r>
            <a:r>
              <a:rPr lang="en-US" altLang="ko-KR" dirty="0" smtClean="0"/>
              <a:t> </a:t>
            </a:r>
            <a:r>
              <a:rPr lang="ko-KR" altLang="en-US" dirty="0"/>
              <a:t>팝업을 </a:t>
            </a:r>
            <a:r>
              <a:rPr lang="ko-KR" altLang="en-US" dirty="0" smtClean="0"/>
              <a:t>호출</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sz="700" dirty="0" smtClean="0">
                <a:solidFill>
                  <a:srgbClr val="FF0000"/>
                </a:solidFill>
                <a:latin typeface="맑은 고딕" panose="020B0503020000020004" pitchFamily="50" charset="-127"/>
              </a:rPr>
              <a:t>- </a:t>
            </a:r>
            <a:r>
              <a:rPr lang="en-US" altLang="ko-KR" sz="700" dirty="0">
                <a:solidFill>
                  <a:srgbClr val="FF0000"/>
                </a:solidFill>
                <a:latin typeface="맑은 고딕" panose="020B0503020000020004" pitchFamily="50" charset="-127"/>
              </a:rPr>
              <a:t>PC) </a:t>
            </a:r>
            <a:r>
              <a:rPr lang="ko-KR" altLang="en-US" sz="700" dirty="0">
                <a:solidFill>
                  <a:srgbClr val="FF0000"/>
                </a:solidFill>
                <a:latin typeface="맑은 고딕" panose="020B0503020000020004" pitchFamily="50" charset="-127"/>
              </a:rPr>
              <a:t>팝업 </a:t>
            </a:r>
            <a:r>
              <a:rPr lang="ko-KR" altLang="en-US" sz="700" dirty="0" err="1">
                <a:solidFill>
                  <a:srgbClr val="FF0000"/>
                </a:solidFill>
                <a:latin typeface="맑은 고딕" panose="020B0503020000020004" pitchFamily="50" charset="-127"/>
              </a:rPr>
              <a:t>호출시</a:t>
            </a:r>
            <a:r>
              <a:rPr lang="ko-KR" altLang="en-US" sz="700" dirty="0">
                <a:solidFill>
                  <a:srgbClr val="FF0000"/>
                </a:solidFill>
                <a:latin typeface="맑은 고딕" panose="020B0503020000020004" pitchFamily="50" charset="-127"/>
              </a:rPr>
              <a:t> </a:t>
            </a:r>
            <a:r>
              <a:rPr lang="en-US" altLang="ko-KR" sz="700" dirty="0">
                <a:solidFill>
                  <a:srgbClr val="FF0000"/>
                </a:solidFill>
                <a:latin typeface="맑은 고딕" panose="020B0503020000020004" pitchFamily="50" charset="-127"/>
              </a:rPr>
              <a:t>parameter</a:t>
            </a:r>
            <a:r>
              <a:rPr lang="ko-KR" altLang="en-US" sz="700" dirty="0">
                <a:solidFill>
                  <a:srgbClr val="FF0000"/>
                </a:solidFill>
                <a:latin typeface="맑은 고딕" panose="020B0503020000020004" pitchFamily="50" charset="-127"/>
              </a:rPr>
              <a:t>값이 없어 조회가 안되는 경우 에러메세지가 나오고 있음</a:t>
            </a:r>
            <a:r>
              <a:rPr lang="en-US" altLang="ko-KR" sz="700" dirty="0" smtClean="0">
                <a:solidFill>
                  <a:srgbClr val="FF0000"/>
                </a:solidFill>
                <a:latin typeface="맑은 고딕" panose="020B0503020000020004" pitchFamily="50" charset="-127"/>
              </a:rPr>
              <a:t>.</a:t>
            </a:r>
            <a:r>
              <a:rPr lang="en-US" altLang="ko-KR" sz="800" dirty="0">
                <a:solidFill>
                  <a:srgbClr val="000000"/>
                </a:solidFill>
                <a:latin typeface="맑은 고딕" panose="020B0503020000020004" pitchFamily="50" charset="-127"/>
              </a:rPr>
              <a:t> </a:t>
            </a:r>
            <a:br>
              <a:rPr lang="en-US" altLang="ko-KR" sz="800" dirty="0">
                <a:solidFill>
                  <a:srgbClr val="000000"/>
                </a:solidFill>
                <a:latin typeface="맑은 고딕" panose="020B0503020000020004" pitchFamily="50" charset="-127"/>
              </a:rPr>
            </a:br>
            <a:r>
              <a:rPr lang="en-US" altLang="ko-KR" sz="800" dirty="0">
                <a:solidFill>
                  <a:srgbClr val="FF0000"/>
                </a:solidFill>
                <a:latin typeface="맑은 고딕" panose="020B0503020000020004" pitchFamily="50" charset="-127"/>
              </a:rPr>
              <a:t>  &gt; </a:t>
            </a:r>
            <a:r>
              <a:rPr lang="ko-KR" altLang="en-US" sz="800" dirty="0">
                <a:solidFill>
                  <a:srgbClr val="FF0000"/>
                </a:solidFill>
                <a:latin typeface="맑은 고딕" panose="020B0503020000020004" pitchFamily="50" charset="-127"/>
              </a:rPr>
              <a:t>오류로 정보 조회가 되지 않는 경우 토스트 메시지</a:t>
            </a:r>
            <a:r>
              <a:rPr lang="en-US" altLang="ko-KR" sz="800" dirty="0">
                <a:solidFill>
                  <a:srgbClr val="FF0000"/>
                </a:solidFill>
                <a:latin typeface="맑은 고딕" panose="020B0503020000020004" pitchFamily="50" charset="-127"/>
              </a:rPr>
              <a:t/>
            </a:r>
            <a:br>
              <a:rPr lang="en-US" altLang="ko-KR" sz="800" dirty="0">
                <a:solidFill>
                  <a:srgbClr val="FF0000"/>
                </a:solidFill>
                <a:latin typeface="맑은 고딕" panose="020B0503020000020004" pitchFamily="50" charset="-127"/>
              </a:rPr>
            </a:br>
            <a:r>
              <a:rPr lang="en-US" altLang="ko-KR" sz="800" dirty="0">
                <a:solidFill>
                  <a:srgbClr val="FF0000"/>
                </a:solidFill>
                <a:latin typeface="맑은 고딕" panose="020B0503020000020004" pitchFamily="50" charset="-127"/>
              </a:rPr>
              <a:t>  &gt; </a:t>
            </a:r>
            <a:r>
              <a:rPr lang="ko-KR" altLang="en-US" sz="800" dirty="0">
                <a:solidFill>
                  <a:srgbClr val="FF0000"/>
                </a:solidFill>
                <a:latin typeface="맑은 고딕" panose="020B0503020000020004" pitchFamily="50" charset="-127"/>
              </a:rPr>
              <a:t>조회된 정보가 없습니다</a:t>
            </a:r>
            <a:r>
              <a:rPr lang="en-US" altLang="ko-KR" sz="800" dirty="0">
                <a:solidFill>
                  <a:srgbClr val="FF0000"/>
                </a:solidFill>
                <a:latin typeface="맑은 고딕" panose="020B0503020000020004" pitchFamily="50" charset="-127"/>
              </a:rPr>
              <a:t>. </a:t>
            </a:r>
            <a:r>
              <a:rPr lang="ko-KR" altLang="en-US" sz="800" dirty="0">
                <a:solidFill>
                  <a:srgbClr val="FF0000"/>
                </a:solidFill>
                <a:latin typeface="맑은 고딕" panose="020B0503020000020004" pitchFamily="50" charset="-127"/>
              </a:rPr>
              <a:t>나중에 다시 시도해주세요</a:t>
            </a:r>
            <a:r>
              <a:rPr lang="en-US" altLang="ko-KR" sz="800" dirty="0">
                <a:solidFill>
                  <a:srgbClr val="FF0000"/>
                </a:solidFill>
                <a:latin typeface="맑은 고딕" panose="020B0503020000020004" pitchFamily="50" charset="-127"/>
              </a:rPr>
              <a:t>.</a:t>
            </a:r>
            <a:endParaRPr lang="en-US" altLang="ko-KR" sz="800" dirty="0">
              <a:solidFill>
                <a:srgbClr val="FF0000"/>
              </a:solidFill>
            </a:endParaRPr>
          </a:p>
          <a:p>
            <a:pPr>
              <a:buFont typeface="+mj-lt"/>
              <a:buAutoNum type="arabicPeriod"/>
            </a:pPr>
            <a:endParaRPr lang="en-US" altLang="ko-KR" sz="700" dirty="0">
              <a:solidFill>
                <a:srgbClr val="FF0000"/>
              </a:solidFill>
            </a:endParaRPr>
          </a:p>
          <a:p>
            <a:pPr>
              <a:buFont typeface="+mj-lt"/>
              <a:buAutoNum type="arabicPeriod"/>
            </a:pPr>
            <a:endParaRPr lang="en-US" altLang="ko-KR" dirty="0"/>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62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입찰공고상세 </a:t>
            </a:r>
            <a:r>
              <a:rPr lang="en-US" altLang="ko-KR" dirty="0">
                <a:latin typeface="+mn-ea"/>
              </a:rPr>
              <a:t>- </a:t>
            </a:r>
            <a:r>
              <a:rPr lang="ko-KR" altLang="en-US" dirty="0" err="1" smtClean="0">
                <a:latin typeface="+mn-ea"/>
              </a:rPr>
              <a:t>품목명세서</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err="1"/>
              <a:t>품목명세서</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err="1">
                <a:latin typeface="+mn-ea"/>
              </a:rPr>
              <a:t>품목명세서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5" name="TextBox 64">
            <a:extLst>
              <a:ext uri="{FF2B5EF4-FFF2-40B4-BE49-F238E27FC236}">
                <a16:creationId xmlns:a16="http://schemas.microsoft.com/office/drawing/2014/main" id="{FFC49AEA-2A8F-250C-A86A-A7751D9706C3}"/>
              </a:ext>
            </a:extLst>
          </p:cNvPr>
          <p:cNvSpPr txBox="1"/>
          <p:nvPr/>
        </p:nvSpPr>
        <p:spPr>
          <a:xfrm>
            <a:off x="762146" y="1527996"/>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r>
              <a:rPr lang="ko-KR" altLang="en-US" sz="700" dirty="0">
                <a:latin typeface="+mn-ea"/>
              </a:rPr>
              <a:t> 상세</a:t>
            </a:r>
          </a:p>
        </p:txBody>
      </p:sp>
      <p:grpSp>
        <p:nvGrpSpPr>
          <p:cNvPr id="66" name="그룹 65"/>
          <p:cNvGrpSpPr/>
          <p:nvPr/>
        </p:nvGrpSpPr>
        <p:grpSpPr>
          <a:xfrm flipV="1">
            <a:off x="3124233" y="1641327"/>
            <a:ext cx="94010" cy="47005"/>
            <a:chOff x="6812560" y="3297172"/>
            <a:chExt cx="94010" cy="47005"/>
          </a:xfrm>
        </p:grpSpPr>
        <p:cxnSp>
          <p:nvCxnSpPr>
            <p:cNvPr id="67" name="직선 연결선 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9" name="직사각형 68"/>
          <p:cNvSpPr/>
          <p:nvPr/>
        </p:nvSpPr>
        <p:spPr>
          <a:xfrm>
            <a:off x="703268" y="1835481"/>
            <a:ext cx="792000" cy="2791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TextBox 69">
            <a:extLst>
              <a:ext uri="{FF2B5EF4-FFF2-40B4-BE49-F238E27FC236}">
                <a16:creationId xmlns:a16="http://schemas.microsoft.com/office/drawing/2014/main" id="{FFC49AEA-2A8F-250C-A86A-A7751D9706C3}"/>
              </a:ext>
            </a:extLst>
          </p:cNvPr>
          <p:cNvSpPr txBox="1"/>
          <p:nvPr/>
        </p:nvSpPr>
        <p:spPr>
          <a:xfrm>
            <a:off x="790331" y="1835481"/>
            <a:ext cx="725552" cy="2800767"/>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적용장비명</a:t>
            </a:r>
            <a:endParaRPr lang="en-US" altLang="ko-KR" sz="700" dirty="0">
              <a:latin typeface="+mn-ea"/>
            </a:endParaRPr>
          </a:p>
          <a:p>
            <a:pPr fontAlgn="ctr"/>
            <a:endParaRPr lang="en-US" altLang="ko-KR" sz="700" dirty="0" smtClean="0"/>
          </a:p>
          <a:p>
            <a:pPr fontAlgn="ctr"/>
            <a:r>
              <a:rPr lang="ko-KR" altLang="ko-KR" sz="700" dirty="0" err="1" smtClean="0"/>
              <a:t>납지</a:t>
            </a:r>
            <a:endParaRPr lang="en-US" altLang="ko-KR" sz="700" dirty="0" smtClean="0"/>
          </a:p>
          <a:p>
            <a:pPr fontAlgn="ctr"/>
            <a:endParaRPr lang="ko-KR" altLang="ko-KR" sz="700" dirty="0"/>
          </a:p>
          <a:p>
            <a:pPr fontAlgn="ctr"/>
            <a:r>
              <a:rPr lang="ko-KR" altLang="ko-KR" sz="700" dirty="0"/>
              <a:t>납기</a:t>
            </a:r>
          </a:p>
          <a:p>
            <a:pPr>
              <a:lnSpc>
                <a:spcPct val="200000"/>
              </a:lnSpc>
            </a:pPr>
            <a:r>
              <a:rPr lang="ko-KR" altLang="en-US" sz="700" dirty="0" smtClean="0">
                <a:latin typeface="+mn-ea"/>
              </a:rPr>
              <a:t>수량</a:t>
            </a:r>
            <a:endParaRPr lang="en-US" altLang="ko-KR" sz="700" dirty="0">
              <a:latin typeface="+mn-ea"/>
            </a:endParaRPr>
          </a:p>
          <a:p>
            <a:pPr>
              <a:lnSpc>
                <a:spcPct val="200000"/>
              </a:lnSpc>
            </a:pPr>
            <a:r>
              <a:rPr lang="ko-KR" altLang="en-US" sz="700" dirty="0" err="1">
                <a:latin typeface="+mn-ea"/>
              </a:rPr>
              <a:t>예산구분</a:t>
            </a:r>
            <a:endParaRPr lang="en-US" altLang="ko-KR" sz="700" dirty="0">
              <a:latin typeface="+mn-ea"/>
            </a:endParaRPr>
          </a:p>
          <a:p>
            <a:pPr>
              <a:lnSpc>
                <a:spcPct val="200000"/>
              </a:lnSpc>
            </a:pPr>
            <a:r>
              <a:rPr lang="ko-KR" altLang="en-US" sz="700" dirty="0" err="1">
                <a:latin typeface="+mn-ea"/>
              </a:rPr>
              <a:t>군구분</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적용장비명</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err="1">
                <a:latin typeface="+mn-ea"/>
              </a:rPr>
              <a:t>총금액</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1547180" y="1835481"/>
            <a:ext cx="1814470" cy="2800767"/>
          </a:xfrm>
          <a:prstGeom prst="rect">
            <a:avLst/>
          </a:prstGeom>
          <a:noFill/>
        </p:spPr>
        <p:txBody>
          <a:bodyPr wrap="square" lIns="0" tIns="0" rIns="0" bIns="0" rtlCol="0">
            <a:spAutoFit/>
          </a:bodyPr>
          <a:lstStyle/>
          <a:p>
            <a:pPr>
              <a:lnSpc>
                <a:spcPct val="200000"/>
              </a:lnSpc>
            </a:pPr>
            <a:r>
              <a:rPr lang="en-US" altLang="ko-KR" sz="700" dirty="0">
                <a:latin typeface="+mn-ea"/>
              </a:rPr>
              <a:t>11111 11111</a:t>
            </a:r>
          </a:p>
          <a:p>
            <a:pPr>
              <a:lnSpc>
                <a:spcPct val="200000"/>
              </a:lnSpc>
            </a:pPr>
            <a:endParaRPr lang="en-US" altLang="ko-KR" sz="700" dirty="0">
              <a:solidFill>
                <a:srgbClr val="0070C0"/>
              </a:solidFill>
              <a:latin typeface="+mn-ea"/>
            </a:endParaRP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5</a:t>
            </a:r>
          </a:p>
          <a:p>
            <a:pPr>
              <a:lnSpc>
                <a:spcPct val="200000"/>
              </a:lnSpc>
            </a:pPr>
            <a:r>
              <a:rPr lang="ko-KR" altLang="en-US" sz="700" dirty="0" err="1">
                <a:latin typeface="+mn-ea"/>
              </a:rPr>
              <a:t>풋살경기장</a:t>
            </a:r>
            <a:r>
              <a:rPr lang="ko-KR" altLang="en-US" sz="700" dirty="0">
                <a:latin typeface="+mn-ea"/>
              </a:rPr>
              <a:t> 인조잔디 제조</a:t>
            </a:r>
            <a:r>
              <a:rPr lang="en-US" altLang="ko-KR" sz="700" dirty="0">
                <a:latin typeface="+mn-ea"/>
              </a:rPr>
              <a:t>-</a:t>
            </a:r>
            <a:r>
              <a:rPr lang="ko-KR" altLang="en-US" sz="700" dirty="0" err="1">
                <a:latin typeface="+mn-ea"/>
              </a:rPr>
              <a:t>설치납품</a:t>
            </a:r>
            <a:endParaRPr lang="en-US" altLang="ko-KR" sz="700" dirty="0">
              <a:solidFill>
                <a:srgbClr val="0070C0"/>
              </a:solidFill>
              <a:latin typeface="+mn-ea"/>
            </a:endParaRP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ko-KR" altLang="en-US" sz="700" dirty="0" err="1">
                <a:latin typeface="+mn-ea"/>
              </a:rPr>
              <a:t>가나다라마바사아자차카타파하</a:t>
            </a:r>
            <a:endParaRPr lang="en-US" altLang="ko-KR" sz="700" dirty="0">
              <a:latin typeface="+mn-ea"/>
            </a:endParaRPr>
          </a:p>
          <a:p>
            <a:pPr algn="r">
              <a:lnSpc>
                <a:spcPct val="200000"/>
              </a:lnSpc>
            </a:pPr>
            <a:r>
              <a:rPr lang="en-US" altLang="ko-KR" sz="700" dirty="0">
                <a:latin typeface="+mn-ea"/>
              </a:rPr>
              <a:t>31,608,000 </a:t>
            </a:r>
            <a:r>
              <a:rPr lang="ko-KR" altLang="en-US" sz="700" dirty="0">
                <a:latin typeface="+mn-ea"/>
              </a:rPr>
              <a:t>원</a:t>
            </a:r>
          </a:p>
          <a:p>
            <a:pPr algn="r">
              <a:lnSpc>
                <a:spcPct val="200000"/>
              </a:lnSpc>
            </a:pPr>
            <a:r>
              <a:rPr lang="en-US" altLang="ko-KR" sz="700" dirty="0">
                <a:latin typeface="+mn-ea"/>
              </a:rPr>
              <a:t>- </a:t>
            </a:r>
            <a:r>
              <a:rPr lang="ko-KR" altLang="en-US" sz="700" dirty="0">
                <a:latin typeface="+mn-ea"/>
              </a:rPr>
              <a:t>원</a:t>
            </a:r>
            <a:endParaRPr lang="en-US" altLang="ko-KR" sz="700" dirty="0">
              <a:latin typeface="+mn-ea"/>
            </a:endParaRPr>
          </a:p>
        </p:txBody>
      </p:sp>
      <p:grpSp>
        <p:nvGrpSpPr>
          <p:cNvPr id="73" name="그룹 72"/>
          <p:cNvGrpSpPr/>
          <p:nvPr/>
        </p:nvGrpSpPr>
        <p:grpSpPr>
          <a:xfrm>
            <a:off x="701175" y="1835481"/>
            <a:ext cx="2630093" cy="2791401"/>
            <a:chOff x="701175" y="1835481"/>
            <a:chExt cx="2630093" cy="2791401"/>
          </a:xfrm>
        </p:grpSpPr>
        <p:cxnSp>
          <p:nvCxnSpPr>
            <p:cNvPr id="83" name="직선 연결선 8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3268" y="3334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549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7639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3268" y="39786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1175" y="41934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44121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1175" y="462688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2" name="TextBox 101">
            <a:extLst>
              <a:ext uri="{FF2B5EF4-FFF2-40B4-BE49-F238E27FC236}">
                <a16:creationId xmlns:a16="http://schemas.microsoft.com/office/drawing/2014/main" id="{FFC49AEA-2A8F-250C-A86A-A7751D9706C3}"/>
              </a:ext>
            </a:extLst>
          </p:cNvPr>
          <p:cNvSpPr txBox="1"/>
          <p:nvPr/>
        </p:nvSpPr>
        <p:spPr>
          <a:xfrm>
            <a:off x="3882481" y="1527996"/>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r>
              <a:rPr lang="ko-KR" altLang="en-US" sz="700" dirty="0">
                <a:latin typeface="+mn-ea"/>
              </a:rPr>
              <a:t> 상세</a:t>
            </a:r>
          </a:p>
        </p:txBody>
      </p:sp>
      <p:grpSp>
        <p:nvGrpSpPr>
          <p:cNvPr id="103" name="그룹 102"/>
          <p:cNvGrpSpPr/>
          <p:nvPr/>
        </p:nvGrpSpPr>
        <p:grpSpPr>
          <a:xfrm flipV="1">
            <a:off x="6244568" y="1641327"/>
            <a:ext cx="94010" cy="47005"/>
            <a:chOff x="6812560" y="3297172"/>
            <a:chExt cx="94010" cy="47005"/>
          </a:xfrm>
        </p:grpSpPr>
        <p:cxnSp>
          <p:nvCxnSpPr>
            <p:cNvPr id="104" name="직선 연결선 1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5" name="직선 연결선 1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2" name="직사각형 121"/>
          <p:cNvSpPr/>
          <p:nvPr/>
        </p:nvSpPr>
        <p:spPr>
          <a:xfrm>
            <a:off x="3823603" y="1835482"/>
            <a:ext cx="792000" cy="173150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3910666" y="1835481"/>
            <a:ext cx="725552" cy="1723549"/>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예산구분</a:t>
            </a:r>
            <a:endParaRPr lang="en-US" altLang="ko-KR" sz="700" dirty="0">
              <a:latin typeface="+mn-ea"/>
            </a:endParaRPr>
          </a:p>
          <a:p>
            <a:pPr>
              <a:lnSpc>
                <a:spcPct val="200000"/>
              </a:lnSpc>
            </a:pPr>
            <a:r>
              <a:rPr lang="ko-KR" altLang="en-US" sz="700" dirty="0" err="1">
                <a:latin typeface="+mn-ea"/>
              </a:rPr>
              <a:t>납지</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667515" y="1835481"/>
            <a:ext cx="1814470"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5</a:t>
            </a:r>
          </a:p>
          <a:p>
            <a:pPr algn="r">
              <a:lnSpc>
                <a:spcPct val="200000"/>
              </a:lnSpc>
            </a:pPr>
            <a:r>
              <a:rPr lang="en-US" altLang="ko-KR" sz="700" dirty="0">
                <a:latin typeface="+mn-ea"/>
              </a:rPr>
              <a:t>31,608,000 </a:t>
            </a:r>
            <a:r>
              <a:rPr lang="ko-KR" altLang="en-US" sz="700" dirty="0">
                <a:latin typeface="+mn-ea"/>
              </a:rPr>
              <a:t>원</a:t>
            </a:r>
          </a:p>
          <a:p>
            <a:pPr algn="r">
              <a:lnSpc>
                <a:spcPct val="200000"/>
              </a:lnSpc>
            </a:pPr>
            <a:r>
              <a:rPr lang="en-US" altLang="ko-KR" sz="700" dirty="0">
                <a:latin typeface="+mn-ea"/>
              </a:rPr>
              <a:t>- </a:t>
            </a:r>
            <a:r>
              <a:rPr lang="ko-KR" altLang="en-US" sz="700" dirty="0">
                <a:latin typeface="+mn-ea"/>
              </a:rPr>
              <a:t>원</a:t>
            </a:r>
            <a:endParaRPr lang="en-US" altLang="ko-KR" sz="700" dirty="0">
              <a:latin typeface="+mn-ea"/>
            </a:endParaRPr>
          </a:p>
        </p:txBody>
      </p:sp>
      <p:grpSp>
        <p:nvGrpSpPr>
          <p:cNvPr id="125" name="그룹 124"/>
          <p:cNvGrpSpPr/>
          <p:nvPr/>
        </p:nvGrpSpPr>
        <p:grpSpPr>
          <a:xfrm>
            <a:off x="3821510" y="1835481"/>
            <a:ext cx="2630093" cy="1731507"/>
            <a:chOff x="701175" y="1835481"/>
            <a:chExt cx="2630093" cy="1731507"/>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3334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356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3689399"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55" name="직선 연결선 54">
            <a:extLst>
              <a:ext uri="{FF2B5EF4-FFF2-40B4-BE49-F238E27FC236}">
                <a16:creationId xmlns:a16="http://schemas.microsoft.com/office/drawing/2014/main" id="{E9293055-D5CD-4B9E-7F64-64B2D2CA7A52}"/>
              </a:ext>
            </a:extLst>
          </p:cNvPr>
          <p:cNvCxnSpPr/>
          <p:nvPr/>
        </p:nvCxnSpPr>
        <p:spPr>
          <a:xfrm>
            <a:off x="675399" y="47773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6" name="직선 연결선 55">
            <a:extLst>
              <a:ext uri="{FF2B5EF4-FFF2-40B4-BE49-F238E27FC236}">
                <a16:creationId xmlns:a16="http://schemas.microsoft.com/office/drawing/2014/main" id="{E9293055-D5CD-4B9E-7F64-64B2D2CA7A52}"/>
              </a:ext>
            </a:extLst>
          </p:cNvPr>
          <p:cNvCxnSpPr/>
          <p:nvPr/>
        </p:nvCxnSpPr>
        <p:spPr>
          <a:xfrm>
            <a:off x="3795734" y="374854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7" name="사각형: 둥근 모서리 15">
            <a:extLst>
              <a:ext uri="{FF2B5EF4-FFF2-40B4-BE49-F238E27FC236}">
                <a16:creationId xmlns:a16="http://schemas.microsoft.com/office/drawing/2014/main" id="{E2B61CFB-AD16-68D0-8752-50D9C5E01971}"/>
              </a:ext>
            </a:extLst>
          </p:cNvPr>
          <p:cNvSpPr/>
          <p:nvPr/>
        </p:nvSpPr>
        <p:spPr>
          <a:xfrm>
            <a:off x="2836921" y="2296014"/>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5957256" y="208002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59" name="직사각형 58"/>
          <p:cNvSpPr/>
          <p:nvPr/>
        </p:nvSpPr>
        <p:spPr>
          <a:xfrm>
            <a:off x="8228548"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특이사항수정</a:t>
            </a:r>
            <a:endParaRPr lang="ko-KR" altLang="en-US" dirty="0"/>
          </a:p>
        </p:txBody>
      </p:sp>
      <p:sp>
        <p:nvSpPr>
          <p:cNvPr id="54" name="타원 53">
            <a:extLst>
              <a:ext uri="{FF2B5EF4-FFF2-40B4-BE49-F238E27FC236}">
                <a16:creationId xmlns:a16="http://schemas.microsoft.com/office/drawing/2014/main" id="{37A7FF4F-0EAA-1463-560A-D5EC24416103}"/>
              </a:ext>
            </a:extLst>
          </p:cNvPr>
          <p:cNvSpPr/>
          <p:nvPr/>
        </p:nvSpPr>
        <p:spPr>
          <a:xfrm>
            <a:off x="5871191" y="19899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20895652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63</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(1/4)</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41F184BE-29FB-6417-8CB3-7896BA9DCC9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D2898AB1-8736-AB97-26CD-6A60F05FD8FF}"/>
              </a:ext>
            </a:extLst>
          </p:cNvPr>
          <p:cNvSpPr txBox="1"/>
          <p:nvPr/>
        </p:nvSpPr>
        <p:spPr>
          <a:xfrm>
            <a:off x="458117" y="811270"/>
            <a:ext cx="2780176"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품목명세서</a:t>
            </a:r>
            <a:r>
              <a:rPr lang="en-US" altLang="ko-KR" sz="900" b="1" dirty="0">
                <a:solidFill>
                  <a:prstClr val="black"/>
                </a:solidFill>
              </a:rPr>
              <a:t>(</a:t>
            </a:r>
            <a:r>
              <a:rPr lang="ko-KR" altLang="en-US" sz="900" b="1" dirty="0" err="1">
                <a:solidFill>
                  <a:prstClr val="black"/>
                </a:solidFill>
              </a:rPr>
              <a:t>총액제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dlt_ItemDtst</a:t>
            </a:r>
            <a:r>
              <a:rPr lang="en-US" altLang="ko-KR" sz="900" b="1" dirty="0">
                <a:solidFill>
                  <a:prstClr val="black"/>
                </a:solidFill>
              </a:rPr>
              <a:t>)</a:t>
            </a:r>
            <a:endParaRPr lang="ko-KR" altLang="en-US" sz="900" b="1" dirty="0">
              <a:solidFill>
                <a:prstClr val="black"/>
              </a:solidFill>
            </a:endParaRPr>
          </a:p>
        </p:txBody>
      </p:sp>
      <p:graphicFrame>
        <p:nvGraphicFramePr>
          <p:cNvPr id="11" name="표 10">
            <a:extLst>
              <a:ext uri="{FF2B5EF4-FFF2-40B4-BE49-F238E27FC236}">
                <a16:creationId xmlns:a16="http://schemas.microsoft.com/office/drawing/2014/main" id="{8158A3C8-3B6B-4404-B962-72EAD2CB9801}"/>
              </a:ext>
            </a:extLst>
          </p:cNvPr>
          <p:cNvGraphicFramePr>
            <a:graphicFrameLocks noGrp="1"/>
          </p:cNvGraphicFramePr>
          <p:nvPr>
            <p:extLst/>
          </p:nvPr>
        </p:nvGraphicFramePr>
        <p:xfrm>
          <a:off x="452999" y="1095024"/>
          <a:ext cx="8994883" cy="4853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889184">
                  <a:extLst>
                    <a:ext uri="{9D8B030D-6E8A-4147-A177-3AD203B41FA5}">
                      <a16:colId xmlns:a16="http://schemas.microsoft.com/office/drawing/2014/main" val="20001"/>
                    </a:ext>
                  </a:extLst>
                </a:gridCol>
                <a:gridCol w="409303">
                  <a:extLst>
                    <a:ext uri="{9D8B030D-6E8A-4147-A177-3AD203B41FA5}">
                      <a16:colId xmlns:a16="http://schemas.microsoft.com/office/drawing/2014/main" val="20002"/>
                    </a:ext>
                  </a:extLst>
                </a:gridCol>
                <a:gridCol w="505097">
                  <a:extLst>
                    <a:ext uri="{9D8B030D-6E8A-4147-A177-3AD203B41FA5}">
                      <a16:colId xmlns:a16="http://schemas.microsoft.com/office/drawing/2014/main" val="20003"/>
                    </a:ext>
                  </a:extLst>
                </a:gridCol>
                <a:gridCol w="435428">
                  <a:extLst>
                    <a:ext uri="{9D8B030D-6E8A-4147-A177-3AD203B41FA5}">
                      <a16:colId xmlns:a16="http://schemas.microsoft.com/office/drawing/2014/main" val="20004"/>
                    </a:ext>
                  </a:extLst>
                </a:gridCol>
                <a:gridCol w="250715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품목명세서 목록의 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ROWNUM</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dirty="0" err="1">
                          <a:latin typeface="+mn-ea"/>
                          <a:ea typeface="+mn-ea"/>
                        </a:rPr>
                        <a:t>군급분류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WTB_PVB166.FSC_CODE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취급품목명세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.FSC</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3371819"/>
                  </a:ext>
                </a:extLst>
              </a:tr>
              <a:tr h="0">
                <a:tc>
                  <a:txBody>
                    <a:bodyPr/>
                    <a:lstStyle/>
                    <a:p>
                      <a:pPr latinLnBrk="1"/>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0081124"/>
                  </a:ext>
                </a:extLst>
              </a:tr>
              <a:tr h="0">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628599"/>
                  </a:ext>
                </a:extLst>
              </a:tr>
              <a:tr h="0">
                <a:tc>
                  <a:txBody>
                    <a:bodyPr/>
                    <a:lstStyle/>
                    <a:p>
                      <a:pPr latinLnBrk="1"/>
                      <a:r>
                        <a:rPr lang="ko-KR" altLang="en-US" sz="800" dirty="0">
                          <a:latin typeface="+mn-ea"/>
                          <a:ea typeface="+mn-ea"/>
                        </a:rPr>
                        <a:t>규격종류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spcfctKndCd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규격종류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:CSC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2502729"/>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:UI</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0552881"/>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0406556"/>
                  </a:ext>
                </a:extLst>
              </a:tr>
              <a:tr h="0">
                <a:tc>
                  <a:txBody>
                    <a:bodyPr/>
                    <a:lstStyle/>
                    <a:p>
                      <a:pPr latinLnBrk="1"/>
                      <a:r>
                        <a:rPr lang="ko-KR" altLang="en-US" sz="800" dirty="0">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prtsNo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157412"/>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8627936"/>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7679206"/>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3754778"/>
                  </a:ext>
                </a:extLst>
              </a:tr>
              <a:tr h="0">
                <a:tc>
                  <a:txBody>
                    <a:bodyPr/>
                    <a:lstStyle/>
                    <a:p>
                      <a:pPr latinLnBrk="1"/>
                      <a:r>
                        <a:rPr lang="ko-KR" altLang="en-US" sz="800" dirty="0">
                          <a:latin typeface="+mn-ea"/>
                          <a:ea typeface="+mn-ea"/>
                        </a:rPr>
                        <a:t>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7703084"/>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9082383"/>
                  </a:ext>
                </a:extLst>
              </a:tr>
              <a:tr h="0">
                <a:tc>
                  <a:txBody>
                    <a:bodyPr/>
                    <a:lstStyle/>
                    <a:p>
                      <a:pPr latinLnBrk="1"/>
                      <a:r>
                        <a:rPr lang="ko-KR" altLang="en-US" sz="800" dirty="0">
                          <a:latin typeface="+mn-ea"/>
                          <a:ea typeface="+mn-ea"/>
                        </a:rPr>
                        <a:t>납기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dudtYmd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5251317"/>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5084264"/>
                  </a:ext>
                </a:extLst>
              </a:tr>
            </a:tbl>
          </a:graphicData>
        </a:graphic>
      </p:graphicFrame>
      <p:grpSp>
        <p:nvGrpSpPr>
          <p:cNvPr id="7" name="그룹 6"/>
          <p:cNvGrpSpPr/>
          <p:nvPr/>
        </p:nvGrpSpPr>
        <p:grpSpPr>
          <a:xfrm>
            <a:off x="8223250" y="569392"/>
            <a:ext cx="3365500" cy="634511"/>
            <a:chOff x="8223250" y="569392"/>
            <a:chExt cx="3365500" cy="634511"/>
          </a:xfrm>
        </p:grpSpPr>
        <p:sp>
          <p:nvSpPr>
            <p:cNvPr id="9" name="직사각형 8"/>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12" name="직사각형 1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항목 설명 누락으로 화면 추가</a:t>
              </a:r>
              <a:endParaRPr lang="en-US" altLang="ko-KR" sz="700" dirty="0"/>
            </a:p>
          </p:txBody>
        </p:sp>
      </p:grpSp>
    </p:spTree>
    <p:extLst>
      <p:ext uri="{BB962C8B-B14F-4D97-AF65-F5344CB8AC3E}">
        <p14:creationId xmlns:p14="http://schemas.microsoft.com/office/powerpoint/2010/main" val="9760122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64</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277376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품목명세서</a:t>
            </a:r>
            <a:r>
              <a:rPr lang="en-US" altLang="ko-KR" sz="900" b="1" dirty="0">
                <a:solidFill>
                  <a:prstClr val="black"/>
                </a:solidFill>
              </a:rPr>
              <a:t>(</a:t>
            </a:r>
            <a:r>
              <a:rPr lang="ko-KR" altLang="en-US" sz="900" b="1" dirty="0" err="1">
                <a:solidFill>
                  <a:prstClr val="black"/>
                </a:solidFill>
              </a:rPr>
              <a:t>단가제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dlt_ItemDtst</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extLst/>
          </p:nvPr>
        </p:nvGraphicFramePr>
        <p:xfrm>
          <a:off x="452999" y="1095176"/>
          <a:ext cx="8994883" cy="35184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395987">
                  <a:extLst>
                    <a:ext uri="{9D8B030D-6E8A-4147-A177-3AD203B41FA5}">
                      <a16:colId xmlns:a16="http://schemas.microsoft.com/office/drawing/2014/main" val="20002"/>
                    </a:ext>
                  </a:extLst>
                </a:gridCol>
                <a:gridCol w="496389">
                  <a:extLst>
                    <a:ext uri="{9D8B030D-6E8A-4147-A177-3AD203B41FA5}">
                      <a16:colId xmlns:a16="http://schemas.microsoft.com/office/drawing/2014/main" val="20003"/>
                    </a:ext>
                  </a:extLst>
                </a:gridCol>
                <a:gridCol w="444137">
                  <a:extLst>
                    <a:ext uri="{9D8B030D-6E8A-4147-A177-3AD203B41FA5}">
                      <a16:colId xmlns:a16="http://schemas.microsoft.com/office/drawing/2014/main" val="20004"/>
                    </a:ext>
                  </a:extLst>
                </a:gridCol>
                <a:gridCol w="2411356">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군급분류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WTB_PVB166.FSC_CODE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취급품목명세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.FSC</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7030752"/>
                  </a:ext>
                </a:extLst>
              </a:tr>
              <a:tr h="0">
                <a:tc>
                  <a:txBody>
                    <a:bodyPr/>
                    <a:lstStyle/>
                    <a:p>
                      <a:pPr latinLnBrk="1"/>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1928661"/>
                  </a:ext>
                </a:extLst>
              </a:tr>
              <a:tr h="0">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규격종류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spcfctKndCd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규격종류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:CSC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:UI</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prtsNo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a:latin typeface="+mn-ea"/>
                          <a:ea typeface="+mn-ea"/>
                        </a:rPr>
                        <a:t>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6737147"/>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0519030"/>
                  </a:ext>
                </a:extLst>
              </a:tr>
              <a:tr h="0">
                <a:tc>
                  <a:txBody>
                    <a:bodyPr/>
                    <a:lstStyle/>
                    <a:p>
                      <a:pPr latinLnBrk="1"/>
                      <a:r>
                        <a:rPr lang="ko-KR" altLang="en-US" sz="800" dirty="0" err="1">
                          <a:latin typeface="+mn-ea"/>
                          <a:ea typeface="+mn-ea"/>
                        </a:rPr>
                        <a:t>총금액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총금액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7917182"/>
                  </a:ext>
                </a:extLst>
              </a:tr>
            </a:tbl>
          </a:graphicData>
        </a:graphic>
      </p:graphicFrame>
      <p:sp>
        <p:nvSpPr>
          <p:cNvPr id="2" name="TextBox 1">
            <a:extLst>
              <a:ext uri="{FF2B5EF4-FFF2-40B4-BE49-F238E27FC236}">
                <a16:creationId xmlns:a16="http://schemas.microsoft.com/office/drawing/2014/main" id="{14FFD3C4-48A8-9572-1C49-25F68DC3BD31}"/>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(2/4)</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451C4F42-7186-1C0A-1597-341F2803A36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grpSp>
        <p:nvGrpSpPr>
          <p:cNvPr id="7" name="그룹 6"/>
          <p:cNvGrpSpPr/>
          <p:nvPr/>
        </p:nvGrpSpPr>
        <p:grpSpPr>
          <a:xfrm>
            <a:off x="8223250" y="569392"/>
            <a:ext cx="3365500" cy="634511"/>
            <a:chOff x="8223250" y="569392"/>
            <a:chExt cx="3365500" cy="634511"/>
          </a:xfrm>
        </p:grpSpPr>
        <p:sp>
          <p:nvSpPr>
            <p:cNvPr id="8" name="직사각형 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9" name="직사각형 8"/>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항목 설명 누락으로 화면 추가</a:t>
              </a:r>
              <a:endParaRPr lang="en-US" altLang="ko-KR" sz="700" dirty="0"/>
            </a:p>
          </p:txBody>
        </p:sp>
      </p:grpSp>
    </p:spTree>
    <p:extLst>
      <p:ext uri="{BB962C8B-B14F-4D97-AF65-F5344CB8AC3E}">
        <p14:creationId xmlns:p14="http://schemas.microsoft.com/office/powerpoint/2010/main" val="11593856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65</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3902278"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err="1">
                <a:solidFill>
                  <a:prstClr val="black"/>
                </a:solidFill>
              </a:rPr>
              <a:t>품목명세서상세</a:t>
            </a:r>
            <a:r>
              <a:rPr lang="en-US" altLang="ko-KR" sz="900" b="1" dirty="0">
                <a:solidFill>
                  <a:prstClr val="black"/>
                </a:solidFill>
              </a:rPr>
              <a:t>(</a:t>
            </a:r>
            <a:r>
              <a:rPr lang="ko-KR" altLang="en-US" sz="900" b="1" dirty="0">
                <a:solidFill>
                  <a:prstClr val="black"/>
                </a:solidFill>
              </a:rPr>
              <a:t>통합사업관리시스템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dmt_ItemDtstDtl</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extLst/>
          </p:nvPr>
        </p:nvGraphicFramePr>
        <p:xfrm>
          <a:off x="452999" y="1095176"/>
          <a:ext cx="8994883" cy="32524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ROWNUM</a:t>
                      </a:r>
                    </a:p>
                    <a:p>
                      <a:pPr algn="l" latinLnBrk="1"/>
                      <a:r>
                        <a:rPr lang="en-US" altLang="ko-KR" sz="800" dirty="0">
                          <a:latin typeface="+mn-ea"/>
                          <a:ea typeface="+mn-ea"/>
                        </a:rPr>
                        <a:t>- </a:t>
                      </a:r>
                      <a:r>
                        <a:rPr lang="ko-KR" altLang="en-US" sz="800" dirty="0">
                          <a:latin typeface="+mn-ea"/>
                          <a:ea typeface="+mn-ea"/>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:AC</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err="1">
                          <a:latin typeface="+mn-ea"/>
                          <a:ea typeface="+mn-ea"/>
                        </a:rPr>
                        <a:t>군구분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prcmRqtInstCd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군구분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:RS</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busiName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매핑영문명이</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없음</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Asis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로 작성</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추후 수정</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납기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dudtYmd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5530222"/>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1122618"/>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3762317"/>
                  </a:ext>
                </a:extLst>
              </a:tr>
              <a:tr h="0">
                <a:tc>
                  <a:txBody>
                    <a:bodyPr/>
                    <a:lstStyle/>
                    <a:p>
                      <a:pPr latinLnBrk="1"/>
                      <a:r>
                        <a:rPr lang="ko-KR" altLang="en-US" sz="800" dirty="0" err="1">
                          <a:latin typeface="+mn-ea"/>
                          <a:ea typeface="+mn-ea"/>
                        </a:rPr>
                        <a:t>총금액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총금액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0664758"/>
                  </a:ext>
                </a:extLst>
              </a:tr>
            </a:tbl>
          </a:graphicData>
        </a:graphic>
      </p:graphicFrame>
      <p:sp>
        <p:nvSpPr>
          <p:cNvPr id="8" name="TextBox 7">
            <a:extLst>
              <a:ext uri="{FF2B5EF4-FFF2-40B4-BE49-F238E27FC236}">
                <a16:creationId xmlns:a16="http://schemas.microsoft.com/office/drawing/2014/main" id="{A99DC3EC-FEB0-3897-369B-556B07609FD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(3/4)</a:t>
            </a:r>
            <a:endParaRPr lang="ko-KR" altLang="en-US" sz="1000" b="1" dirty="0">
              <a:solidFill>
                <a:prstClr val="black"/>
              </a:solidFill>
            </a:endParaRPr>
          </a:p>
        </p:txBody>
      </p:sp>
      <p:sp>
        <p:nvSpPr>
          <p:cNvPr id="9" name="Text Box 73">
            <a:extLst>
              <a:ext uri="{FF2B5EF4-FFF2-40B4-BE49-F238E27FC236}">
                <a16:creationId xmlns:a16="http://schemas.microsoft.com/office/drawing/2014/main" id="{4A4A6CA4-5F2F-1032-8987-FF62233AA3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grpSp>
        <p:nvGrpSpPr>
          <p:cNvPr id="7" name="그룹 6"/>
          <p:cNvGrpSpPr/>
          <p:nvPr/>
        </p:nvGrpSpPr>
        <p:grpSpPr>
          <a:xfrm>
            <a:off x="8223250" y="569392"/>
            <a:ext cx="3365500" cy="634511"/>
            <a:chOff x="8223250" y="569392"/>
            <a:chExt cx="3365500" cy="634511"/>
          </a:xfrm>
        </p:grpSpPr>
        <p:sp>
          <p:nvSpPr>
            <p:cNvPr id="10" name="직사각형 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12" name="직사각형 1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항목 설명 누락으로 화면 추가</a:t>
              </a:r>
              <a:endParaRPr lang="en-US" altLang="ko-KR" sz="700" dirty="0"/>
            </a:p>
          </p:txBody>
        </p:sp>
      </p:grpSp>
    </p:spTree>
    <p:extLst>
      <p:ext uri="{BB962C8B-B14F-4D97-AF65-F5344CB8AC3E}">
        <p14:creationId xmlns:p14="http://schemas.microsoft.com/office/powerpoint/2010/main" val="22532848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66</a:t>
            </a:fld>
            <a:endParaRPr lang="ko-KR" altLang="en-US" dirty="0"/>
          </a:p>
        </p:txBody>
      </p:sp>
      <p:sp>
        <p:nvSpPr>
          <p:cNvPr id="10" name="Text Box 73">
            <a:extLst>
              <a:ext uri="{FF2B5EF4-FFF2-40B4-BE49-F238E27FC236}">
                <a16:creationId xmlns:a16="http://schemas.microsoft.com/office/drawing/2014/main" id="{796FF3F0-E8FC-C55A-2F77-C5CEF1203745}"/>
              </a:ext>
            </a:extLst>
          </p:cNvPr>
          <p:cNvSpPr txBox="1">
            <a:spLocks noChangeArrowheads="1"/>
          </p:cNvSpPr>
          <p:nvPr/>
        </p:nvSpPr>
        <p:spPr bwMode="auto">
          <a:xfrm>
            <a:off x="7769866" y="3615778"/>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2" name="TextBox 11">
            <a:extLst>
              <a:ext uri="{FF2B5EF4-FFF2-40B4-BE49-F238E27FC236}">
                <a16:creationId xmlns:a16="http://schemas.microsoft.com/office/drawing/2014/main" id="{C24F1A0C-392E-45F9-4145-F8DD2A3A911D}"/>
              </a:ext>
            </a:extLst>
          </p:cNvPr>
          <p:cNvSpPr txBox="1"/>
          <p:nvPr/>
        </p:nvSpPr>
        <p:spPr>
          <a:xfrm>
            <a:off x="458117" y="355716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F4BDD1B7-C6C6-7D80-62BD-6F529F0AEAB9}"/>
              </a:ext>
            </a:extLst>
          </p:cNvPr>
          <p:cNvGraphicFramePr>
            <a:graphicFrameLocks noGrp="1"/>
          </p:cNvGraphicFramePr>
          <p:nvPr>
            <p:extLst>
              <p:ext uri="{D42A27DB-BD31-4B8C-83A1-F6EECF244321}">
                <p14:modId xmlns:p14="http://schemas.microsoft.com/office/powerpoint/2010/main" val="1541656528"/>
              </p:ext>
            </p:extLst>
          </p:nvPr>
        </p:nvGraphicFramePr>
        <p:xfrm>
          <a:off x="453000" y="3835294"/>
          <a:ext cx="8995591" cy="8256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출력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scwin.btn_itemListOtpt_onclick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품목명세서 </a:t>
                      </a:r>
                      <a:r>
                        <a:rPr lang="en-US" altLang="ko-KR" sz="800" dirty="0">
                          <a:latin typeface="+mn-ea"/>
                        </a:rPr>
                        <a:t>Tab</a:t>
                      </a:r>
                      <a:r>
                        <a:rPr lang="ko-KR" altLang="en-US" sz="800" dirty="0">
                          <a:latin typeface="+mn-ea"/>
                        </a:rPr>
                        <a:t>화면의 내용을 </a:t>
                      </a:r>
                      <a:r>
                        <a:rPr lang="en-US" altLang="ko-KR" sz="800" dirty="0">
                          <a:latin typeface="+mn-ea"/>
                        </a:rPr>
                        <a:t>Report</a:t>
                      </a:r>
                      <a:r>
                        <a:rPr lang="ko-KR" altLang="en-US" sz="800" dirty="0">
                          <a:latin typeface="+mn-ea"/>
                        </a:rPr>
                        <a:t>로 출력 및 파일저장 처리를 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1. </a:t>
                      </a:r>
                      <a:r>
                        <a:rPr lang="ko-KR" altLang="en-US" sz="800" dirty="0">
                          <a:latin typeface="+mn-ea"/>
                          <a:ea typeface="+mn-ea"/>
                        </a:rPr>
                        <a:t>부서코드</a:t>
                      </a:r>
                      <a:r>
                        <a:rPr lang="en-US" altLang="ko-KR" sz="800" dirty="0">
                          <a:latin typeface="+mn-ea"/>
                          <a:ea typeface="+mn-ea"/>
                        </a:rPr>
                        <a:t>.substring(0.1) </a:t>
                      </a:r>
                    </a:p>
                    <a:p>
                      <a:pPr marL="0" indent="0" algn="l" latinLnBrk="1">
                        <a:buFont typeface="Arial" panose="020B0604020202020204" pitchFamily="34" charset="0"/>
                        <a:buNone/>
                      </a:pPr>
                      <a:r>
                        <a:rPr lang="en-US" altLang="ko-KR" sz="800" dirty="0">
                          <a:latin typeface="+mn-ea"/>
                          <a:ea typeface="+mn-ea"/>
                        </a:rPr>
                        <a:t>- ‘E :</a:t>
                      </a:r>
                      <a:r>
                        <a:rPr lang="ko-KR" altLang="en-US" sz="800" dirty="0">
                          <a:latin typeface="+mn-ea"/>
                          <a:ea typeface="+mn-ea"/>
                        </a:rPr>
                        <a:t>방위사업청</a:t>
                      </a:r>
                      <a:r>
                        <a:rPr lang="en-US" altLang="ko-KR" sz="800" dirty="0">
                          <a:latin typeface="+mn-ea"/>
                          <a:ea typeface="+mn-ea"/>
                        </a:rPr>
                        <a:t>‘  / ‘J:</a:t>
                      </a:r>
                      <a:r>
                        <a:rPr lang="ko-KR" altLang="en-US" sz="800" dirty="0">
                          <a:latin typeface="+mn-ea"/>
                          <a:ea typeface="+mn-ea"/>
                        </a:rPr>
                        <a:t>국방조달본부</a:t>
                      </a:r>
                      <a:r>
                        <a:rPr lang="en-US" altLang="ko-KR" sz="800" dirty="0">
                          <a:latin typeface="+mn-ea"/>
                          <a:ea typeface="+mn-ea"/>
                        </a:rPr>
                        <a:t>‘ :</a:t>
                      </a:r>
                      <a:r>
                        <a:rPr lang="ko-KR" altLang="en-US" sz="800" dirty="0">
                          <a:latin typeface="+mn-ea"/>
                          <a:ea typeface="+mn-ea"/>
                        </a:rPr>
                        <a:t> 품목명세서 </a:t>
                      </a:r>
                      <a:r>
                        <a:rPr lang="en-US" altLang="ko-KR" sz="800" dirty="0">
                          <a:latin typeface="+mn-ea"/>
                          <a:ea typeface="+mn-ea"/>
                        </a:rPr>
                        <a:t>(PDB025BC.ozr)</a:t>
                      </a: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 </a:t>
                      </a:r>
                      <a:r>
                        <a:rPr lang="ko-KR" altLang="en-US" sz="800" dirty="0">
                          <a:latin typeface="+mn-ea"/>
                          <a:ea typeface="+mn-ea"/>
                        </a:rPr>
                        <a:t>그 외 </a:t>
                      </a:r>
                      <a:r>
                        <a:rPr lang="en-US" altLang="ko-KR" sz="800" dirty="0">
                          <a:latin typeface="+mn-ea"/>
                          <a:ea typeface="+mn-ea"/>
                        </a:rPr>
                        <a:t>:</a:t>
                      </a:r>
                      <a:r>
                        <a:rPr lang="ko-KR" altLang="en-US" sz="800" dirty="0">
                          <a:latin typeface="+mn-ea"/>
                          <a:ea typeface="+mn-ea"/>
                        </a:rPr>
                        <a:t> 품목명세서 </a:t>
                      </a:r>
                      <a:r>
                        <a:rPr lang="en-US" altLang="ko-KR" sz="800" dirty="0">
                          <a:latin typeface="+mn-ea"/>
                          <a:ea typeface="+mn-ea"/>
                        </a:rPr>
                        <a:t>(PDB025BD.ozr)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bl>
          </a:graphicData>
        </a:graphic>
      </p:graphicFrame>
      <p:sp>
        <p:nvSpPr>
          <p:cNvPr id="8" name="TextBox 7">
            <a:extLst>
              <a:ext uri="{FF2B5EF4-FFF2-40B4-BE49-F238E27FC236}">
                <a16:creationId xmlns:a16="http://schemas.microsoft.com/office/drawing/2014/main" id="{1AB17BD7-28F4-C680-69D6-3B26D8F19914}"/>
              </a:ext>
            </a:extLst>
          </p:cNvPr>
          <p:cNvSpPr txBox="1"/>
          <p:nvPr/>
        </p:nvSpPr>
        <p:spPr>
          <a:xfrm>
            <a:off x="458117" y="805938"/>
            <a:ext cx="381892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품목명세서상세</a:t>
            </a:r>
            <a:r>
              <a:rPr lang="en-US" altLang="ko-KR" sz="900" b="1" dirty="0">
                <a:solidFill>
                  <a:prstClr val="black"/>
                </a:solidFill>
              </a:rPr>
              <a:t>(</a:t>
            </a:r>
            <a:r>
              <a:rPr lang="ko-KR" altLang="en-US" sz="900" b="1" dirty="0">
                <a:solidFill>
                  <a:prstClr val="black"/>
                </a:solidFill>
              </a:rPr>
              <a:t>부대조달정보체계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dmt_ItemDtstDtl</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6508B470-D95E-FC7E-EE5F-E89DC172522A}"/>
              </a:ext>
            </a:extLst>
          </p:cNvPr>
          <p:cNvGraphicFramePr>
            <a:graphicFrameLocks noGrp="1"/>
          </p:cNvGraphicFramePr>
          <p:nvPr>
            <p:extLst/>
          </p:nvPr>
        </p:nvGraphicFramePr>
        <p:xfrm>
          <a:off x="452999" y="1089692"/>
          <a:ext cx="8994883" cy="2111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ROWNUM</a:t>
                      </a:r>
                    </a:p>
                    <a:p>
                      <a:pPr algn="l" latinLnBrk="1"/>
                      <a:r>
                        <a:rPr lang="en-US" altLang="ko-KR" sz="800" dirty="0">
                          <a:latin typeface="+mn-ea"/>
                          <a:ea typeface="+mn-ea"/>
                        </a:rPr>
                        <a:t>- </a:t>
                      </a:r>
                      <a:r>
                        <a:rPr lang="ko-KR" altLang="en-US" sz="800" dirty="0">
                          <a:latin typeface="+mn-ea"/>
                          <a:ea typeface="+mn-ea"/>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bl>
          </a:graphicData>
        </a:graphic>
      </p:graphicFrame>
      <p:sp>
        <p:nvSpPr>
          <p:cNvPr id="2" name="TextBox 1">
            <a:extLst>
              <a:ext uri="{FF2B5EF4-FFF2-40B4-BE49-F238E27FC236}">
                <a16:creationId xmlns:a16="http://schemas.microsoft.com/office/drawing/2014/main" id="{A1D1CD89-055D-B692-F5FC-33A69863615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(4/4)</a:t>
            </a:r>
            <a:endParaRPr lang="ko-KR" altLang="en-US" sz="1000" b="1" dirty="0">
              <a:solidFill>
                <a:prstClr val="black"/>
              </a:solidFill>
            </a:endParaRPr>
          </a:p>
        </p:txBody>
      </p:sp>
      <p:grpSp>
        <p:nvGrpSpPr>
          <p:cNvPr id="11" name="그룹 10"/>
          <p:cNvGrpSpPr/>
          <p:nvPr/>
        </p:nvGrpSpPr>
        <p:grpSpPr>
          <a:xfrm>
            <a:off x="8223250" y="569392"/>
            <a:ext cx="3365500" cy="634511"/>
            <a:chOff x="8223250" y="569392"/>
            <a:chExt cx="3365500" cy="634511"/>
          </a:xfrm>
        </p:grpSpPr>
        <p:sp>
          <p:nvSpPr>
            <p:cNvPr id="14" name="직사각형 1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15" name="직사각형 14"/>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항목 설명 누락으로 화면 추가</a:t>
              </a:r>
              <a:endParaRPr lang="en-US" altLang="ko-KR" sz="700" dirty="0"/>
            </a:p>
          </p:txBody>
        </p:sp>
      </p:grpSp>
    </p:spTree>
    <p:extLst>
      <p:ext uri="{BB962C8B-B14F-4D97-AF65-F5344CB8AC3E}">
        <p14:creationId xmlns:p14="http://schemas.microsoft.com/office/powerpoint/2010/main" val="38759499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계약 특수 조건 항목 정보 표시</a:t>
            </a:r>
            <a:endParaRPr lang="en-US" altLang="ko-KR" dirty="0"/>
          </a:p>
          <a:p>
            <a:pPr marL="0" indent="0">
              <a:buNone/>
            </a:pPr>
            <a:r>
              <a:rPr lang="en-US" altLang="ko-KR" dirty="0"/>
              <a:t>- </a:t>
            </a:r>
            <a:r>
              <a:rPr lang="ko-KR" altLang="en-US" dirty="0" err="1"/>
              <a:t>계약방법이</a:t>
            </a:r>
            <a:r>
              <a:rPr lang="ko-KR" altLang="en-US" dirty="0"/>
              <a:t> ‘경쟁입찰‘ 중 계약특수조건 내용이 있는 경우 탭 표시</a:t>
            </a:r>
            <a:endParaRPr lang="en-US" altLang="ko-KR" dirty="0"/>
          </a:p>
          <a:p>
            <a:pPr marL="0" indent="0">
              <a:buNone/>
            </a:pPr>
            <a:r>
              <a:rPr lang="en-US" altLang="ko-KR" dirty="0" smtClean="0"/>
              <a:t>2</a:t>
            </a:r>
            <a:r>
              <a:rPr lang="en-US" altLang="ko-KR" dirty="0"/>
              <a:t>.</a:t>
            </a:r>
            <a:r>
              <a:rPr lang="ko-KR" altLang="en-US" dirty="0">
                <a:solidFill>
                  <a:srgbClr val="C00000"/>
                </a:solidFill>
              </a:rPr>
              <a:t>계약 특수 조건 입력 항목 </a:t>
            </a:r>
            <a:r>
              <a:rPr lang="en-US" altLang="ko-KR" dirty="0" smtClean="0">
                <a:solidFill>
                  <a:srgbClr val="C00000"/>
                </a:solidFill>
              </a:rPr>
              <a:t>(</a:t>
            </a:r>
            <a:r>
              <a:rPr lang="ko-KR" altLang="en-US" dirty="0" smtClean="0">
                <a:solidFill>
                  <a:srgbClr val="C00000"/>
                </a:solidFill>
              </a:rPr>
              <a:t>없음</a:t>
            </a:r>
            <a:r>
              <a:rPr lang="en-US" altLang="ko-KR" dirty="0" smtClean="0">
                <a:solidFill>
                  <a:srgbClr val="C00000"/>
                </a:solidFill>
              </a:rPr>
              <a:t>) </a:t>
            </a:r>
            <a:r>
              <a:rPr lang="ko-KR" altLang="en-US" dirty="0" smtClean="0">
                <a:solidFill>
                  <a:srgbClr val="C00000"/>
                </a:solidFill>
              </a:rPr>
              <a:t>표시</a:t>
            </a:r>
            <a:endParaRPr lang="en-US" altLang="ko-KR" dirty="0">
              <a:solidFill>
                <a:srgbClr val="C00000"/>
              </a:solidFill>
            </a:endParaRPr>
          </a:p>
          <a:p>
            <a:pPr marL="0" indent="0">
              <a:buNone/>
            </a:pPr>
            <a:r>
              <a:rPr lang="ko-KR" altLang="en-US" dirty="0"/>
              <a:t>전문 내용은 축약하지 않고 내용에 맞춰 확장하여 전체 스크롤 </a:t>
            </a:r>
            <a:r>
              <a:rPr lang="ko-KR" altLang="en-US" dirty="0" smtClean="0"/>
              <a:t>처리</a:t>
            </a:r>
            <a:endParaRPr lang="en-US" altLang="ko-KR" dirty="0" smtClean="0"/>
          </a:p>
          <a:p>
            <a:pPr marL="0" indent="0">
              <a:buNone/>
            </a:pPr>
            <a:endParaRPr lang="en-US" altLang="ko-KR" dirty="0"/>
          </a:p>
          <a:p>
            <a:pPr marL="0" indent="0">
              <a:buNone/>
            </a:pPr>
            <a:endParaRPr lang="en-US" altLang="ko-KR" dirty="0"/>
          </a:p>
          <a:p>
            <a:pPr>
              <a:buFontTx/>
              <a:buChar char="-"/>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67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입찰공고상세 </a:t>
            </a:r>
            <a:r>
              <a:rPr lang="en-US" altLang="ko-KR" dirty="0">
                <a:latin typeface="+mn-ea"/>
              </a:rPr>
              <a:t>- </a:t>
            </a:r>
            <a:r>
              <a:rPr lang="ko-KR" altLang="en-US" dirty="0" smtClean="0">
                <a:latin typeface="+mn-ea"/>
              </a:rPr>
              <a:t>계약특수조건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계약특수조건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계약특수조건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400" y="1493927"/>
            <a:ext cx="2660468"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015417" cy="215444"/>
          </a:xfrm>
          <a:prstGeom prst="rect">
            <a:avLst/>
          </a:prstGeom>
          <a:noFill/>
        </p:spPr>
        <p:txBody>
          <a:bodyPr wrap="square" lIns="0" tIns="0" rIns="0" bIns="0" rtlCol="0">
            <a:spAutoFit/>
          </a:bodyPr>
          <a:lstStyle/>
          <a:p>
            <a:pPr>
              <a:lnSpc>
                <a:spcPct val="200000"/>
              </a:lnSpc>
            </a:pPr>
            <a:r>
              <a:rPr lang="ko-KR" altLang="en-US" sz="700" dirty="0">
                <a:latin typeface="+mn-ea"/>
              </a:rPr>
              <a:t>계약특수조건</a:t>
            </a:r>
          </a:p>
        </p:txBody>
      </p:sp>
      <p:grpSp>
        <p:nvGrpSpPr>
          <p:cNvPr id="157" name="그룹 156"/>
          <p:cNvGrpSpPr/>
          <p:nvPr/>
        </p:nvGrpSpPr>
        <p:grpSpPr>
          <a:xfrm flipV="1">
            <a:off x="3124233" y="1641326"/>
            <a:ext cx="92223"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76943" cy="1288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11758" cy="1292662"/>
          </a:xfrm>
          <a:prstGeom prst="rect">
            <a:avLst/>
          </a:prstGeom>
          <a:noFill/>
        </p:spPr>
        <p:txBody>
          <a:bodyPr wrap="square" lIns="0" tIns="0" rIns="0" bIns="0" rtlCol="0">
            <a:spAutoFit/>
          </a:bodyPr>
          <a:lstStyle/>
          <a:p>
            <a:pPr>
              <a:lnSpc>
                <a:spcPct val="200000"/>
              </a:lnSpc>
            </a:pPr>
            <a:r>
              <a:rPr lang="ko-KR" altLang="en-US" sz="700" dirty="0" err="1">
                <a:latin typeface="+mn-ea"/>
              </a:rPr>
              <a:t>요구년도</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집행예정일</a:t>
            </a:r>
            <a:endParaRPr lang="en-US" altLang="ko-KR" sz="700" dirty="0">
              <a:latin typeface="+mn-ea"/>
            </a:endParaRPr>
          </a:p>
          <a:p>
            <a:pPr>
              <a:lnSpc>
                <a:spcPct val="200000"/>
              </a:lnSpc>
            </a:pPr>
            <a:r>
              <a:rPr lang="ko-KR" altLang="en-US" sz="700" dirty="0" err="1">
                <a:latin typeface="+mn-ea"/>
              </a:rPr>
              <a:t>계약예정일</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대표품명</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9975" cy="1292662"/>
          </a:xfrm>
          <a:prstGeom prst="rect">
            <a:avLst/>
          </a:prstGeom>
          <a:noFill/>
        </p:spPr>
        <p:txBody>
          <a:bodyPr wrap="square" lIns="0" tIns="0" rIns="0" bIns="0" rtlCol="0">
            <a:spAutoFit/>
          </a:bodyPr>
          <a:lstStyle/>
          <a:p>
            <a:pPr>
              <a:lnSpc>
                <a:spcPct val="200000"/>
              </a:lnSpc>
            </a:pPr>
            <a:r>
              <a:rPr lang="en-US" altLang="ko-KR" sz="700" dirty="0">
                <a:latin typeface="+mn-ea"/>
              </a:rPr>
              <a:t>0000</a:t>
            </a:r>
            <a:r>
              <a:rPr lang="ko-KR" altLang="en-US" sz="700" dirty="0">
                <a:latin typeface="+mn-ea"/>
              </a:rPr>
              <a:t>년도</a:t>
            </a:r>
            <a:endParaRPr lang="en-US" altLang="ko-KR" sz="700" dirty="0">
              <a:latin typeface="+mn-ea"/>
            </a:endParaRPr>
          </a:p>
          <a:p>
            <a:pPr>
              <a:lnSpc>
                <a:spcPct val="200000"/>
              </a:lnSpc>
            </a:pPr>
            <a:r>
              <a:rPr lang="en-US" altLang="ko-KR" sz="700" dirty="0">
                <a:latin typeface="+mn-ea"/>
              </a:rPr>
              <a:t>000 000 000</a:t>
            </a:r>
          </a:p>
          <a:p>
            <a:pPr>
              <a:lnSpc>
                <a:spcPct val="200000"/>
              </a:lnSpc>
            </a:pPr>
            <a:r>
              <a:rPr lang="en-US" altLang="ko-KR" sz="700" dirty="0">
                <a:latin typeface="+mn-ea"/>
              </a:rPr>
              <a:t>0000-00-00</a:t>
            </a:r>
          </a:p>
          <a:p>
            <a:pPr>
              <a:lnSpc>
                <a:spcPct val="200000"/>
              </a:lnSpc>
            </a:pPr>
            <a:r>
              <a:rPr lang="en-US" altLang="ko-KR" sz="700" dirty="0">
                <a:latin typeface="+mn-ea"/>
              </a:rPr>
              <a:t>0000-00-00</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7" name="그룹 16"/>
          <p:cNvGrpSpPr/>
          <p:nvPr/>
        </p:nvGrpSpPr>
        <p:grpSpPr>
          <a:xfrm>
            <a:off x="701176" y="1835481"/>
            <a:ext cx="2580092" cy="1288440"/>
            <a:chOff x="701175" y="1835481"/>
            <a:chExt cx="2630093" cy="12884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68858"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223671"/>
            <a:ext cx="266046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TextBox 103">
            <a:extLst>
              <a:ext uri="{FF2B5EF4-FFF2-40B4-BE49-F238E27FC236}">
                <a16:creationId xmlns:a16="http://schemas.microsoft.com/office/drawing/2014/main" id="{FFC49AEA-2A8F-250C-A86A-A7751D9706C3}"/>
              </a:ext>
            </a:extLst>
          </p:cNvPr>
          <p:cNvSpPr txBox="1"/>
          <p:nvPr/>
        </p:nvSpPr>
        <p:spPr>
          <a:xfrm>
            <a:off x="762146" y="3273753"/>
            <a:ext cx="1015417" cy="215444"/>
          </a:xfrm>
          <a:prstGeom prst="rect">
            <a:avLst/>
          </a:prstGeom>
          <a:noFill/>
        </p:spPr>
        <p:txBody>
          <a:bodyPr wrap="square" lIns="0" tIns="0" rIns="0" bIns="0" rtlCol="0">
            <a:spAutoFit/>
          </a:bodyPr>
          <a:lstStyle/>
          <a:p>
            <a:pPr>
              <a:lnSpc>
                <a:spcPct val="200000"/>
              </a:lnSpc>
            </a:pPr>
            <a:r>
              <a:rPr lang="ko-KR" altLang="en-US" sz="700" dirty="0">
                <a:latin typeface="+mn-ea"/>
              </a:rPr>
              <a:t>계약특수조건</a:t>
            </a:r>
          </a:p>
        </p:txBody>
      </p:sp>
      <p:grpSp>
        <p:nvGrpSpPr>
          <p:cNvPr id="105" name="그룹 104"/>
          <p:cNvGrpSpPr/>
          <p:nvPr/>
        </p:nvGrpSpPr>
        <p:grpSpPr>
          <a:xfrm flipV="1">
            <a:off x="3124233" y="3387083"/>
            <a:ext cx="92223"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5435959"/>
            <a:ext cx="266046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TextBox 109">
            <a:extLst>
              <a:ext uri="{FF2B5EF4-FFF2-40B4-BE49-F238E27FC236}">
                <a16:creationId xmlns:a16="http://schemas.microsoft.com/office/drawing/2014/main" id="{FFC49AEA-2A8F-250C-A86A-A7751D9706C3}"/>
              </a:ext>
            </a:extLst>
          </p:cNvPr>
          <p:cNvSpPr txBox="1"/>
          <p:nvPr/>
        </p:nvSpPr>
        <p:spPr>
          <a:xfrm>
            <a:off x="790331" y="3565226"/>
            <a:ext cx="2484538" cy="1508105"/>
          </a:xfrm>
          <a:prstGeom prst="rect">
            <a:avLst/>
          </a:prstGeom>
          <a:noFill/>
        </p:spPr>
        <p:txBody>
          <a:bodyPr wrap="square" lIns="0" tIns="0" rIns="0" bIns="0" rtlCol="0">
            <a:spAutoFit/>
          </a:bodyPr>
          <a:lstStyle/>
          <a:p>
            <a:pPr>
              <a:lnSpc>
                <a:spcPct val="200000"/>
              </a:lnSpc>
            </a:pPr>
            <a:r>
              <a:rPr lang="en-US" altLang="ko-KR" sz="700" dirty="0">
                <a:latin typeface="+mn-ea"/>
              </a:rPr>
              <a:t>1. </a:t>
            </a:r>
            <a:r>
              <a:rPr lang="ko-KR" altLang="en-US" sz="700" dirty="0">
                <a:latin typeface="+mn-ea"/>
              </a:rPr>
              <a:t>계약특수조건 </a:t>
            </a:r>
            <a:r>
              <a:rPr lang="en-US" altLang="ko-KR" sz="700" dirty="0">
                <a:latin typeface="+mn-ea"/>
              </a:rPr>
              <a:t>1</a:t>
            </a:r>
          </a:p>
          <a:p>
            <a:pPr>
              <a:lnSpc>
                <a:spcPct val="200000"/>
              </a:lnSpc>
            </a:pPr>
            <a:r>
              <a:rPr lang="en-US" altLang="ko-KR" sz="700" dirty="0">
                <a:latin typeface="+mn-ea"/>
              </a:rPr>
              <a:t>2. </a:t>
            </a:r>
            <a:r>
              <a:rPr lang="ko-KR" altLang="en-US" sz="700" dirty="0">
                <a:latin typeface="+mn-ea"/>
              </a:rPr>
              <a:t>계약특수조건 </a:t>
            </a:r>
            <a:r>
              <a:rPr lang="en-US" altLang="ko-KR" sz="700" dirty="0">
                <a:latin typeface="+mn-ea"/>
              </a:rPr>
              <a:t>2</a:t>
            </a:r>
          </a:p>
          <a:p>
            <a:pPr>
              <a:lnSpc>
                <a:spcPct val="200000"/>
              </a:lnSpc>
            </a:pPr>
            <a:r>
              <a:rPr lang="en-US" altLang="ko-KR" sz="700" dirty="0">
                <a:latin typeface="+mn-ea"/>
              </a:rPr>
              <a:t>3. </a:t>
            </a:r>
            <a:r>
              <a:rPr lang="ko-KR" altLang="en-US" sz="700" dirty="0">
                <a:latin typeface="+mn-ea"/>
              </a:rPr>
              <a:t>계약특수조건 </a:t>
            </a:r>
            <a:r>
              <a:rPr lang="en-US" altLang="ko-KR" sz="700" dirty="0">
                <a:latin typeface="+mn-ea"/>
              </a:rPr>
              <a:t>3</a:t>
            </a:r>
          </a:p>
          <a:p>
            <a:pPr>
              <a:lnSpc>
                <a:spcPct val="200000"/>
              </a:lnSpc>
            </a:pPr>
            <a:r>
              <a:rPr lang="en-US" altLang="ko-KR" sz="700" dirty="0">
                <a:latin typeface="+mn-ea"/>
              </a:rPr>
              <a:t>4. </a:t>
            </a:r>
            <a:r>
              <a:rPr lang="ko-KR" altLang="en-US" sz="700" dirty="0">
                <a:latin typeface="+mn-ea"/>
              </a:rPr>
              <a:t>계약특수조건 </a:t>
            </a:r>
            <a:r>
              <a:rPr lang="en-US" altLang="ko-KR" sz="700" dirty="0">
                <a:latin typeface="+mn-ea"/>
              </a:rPr>
              <a:t>4</a:t>
            </a:r>
          </a:p>
          <a:p>
            <a:pPr>
              <a:lnSpc>
                <a:spcPct val="200000"/>
              </a:lnSpc>
            </a:pPr>
            <a:r>
              <a:rPr lang="en-US" altLang="ko-KR" sz="700" dirty="0">
                <a:latin typeface="+mn-ea"/>
              </a:rPr>
              <a:t>5. </a:t>
            </a:r>
            <a:r>
              <a:rPr lang="ko-KR" altLang="en-US" sz="700" dirty="0">
                <a:latin typeface="+mn-ea"/>
              </a:rPr>
              <a:t>계약특수조건 </a:t>
            </a:r>
            <a:r>
              <a:rPr lang="en-US" altLang="ko-KR" sz="700" dirty="0">
                <a:latin typeface="+mn-ea"/>
              </a:rPr>
              <a:t>5</a:t>
            </a:r>
          </a:p>
          <a:p>
            <a:pPr>
              <a:lnSpc>
                <a:spcPct val="200000"/>
              </a:lnSpc>
            </a:pPr>
            <a:r>
              <a:rPr lang="en-US" altLang="ko-KR" sz="700" dirty="0">
                <a:latin typeface="+mn-ea"/>
              </a:rPr>
              <a:t>6. </a:t>
            </a:r>
            <a:r>
              <a:rPr lang="ko-KR" altLang="en-US" sz="700" dirty="0">
                <a:latin typeface="+mn-ea"/>
              </a:rPr>
              <a:t>계약특수조건 </a:t>
            </a:r>
            <a:r>
              <a:rPr lang="en-US" altLang="ko-KR" sz="700" dirty="0">
                <a:latin typeface="+mn-ea"/>
              </a:rPr>
              <a:t>6</a:t>
            </a:r>
          </a:p>
          <a:p>
            <a:pPr>
              <a:lnSpc>
                <a:spcPct val="200000"/>
              </a:lnSpc>
            </a:pPr>
            <a:r>
              <a:rPr lang="en-US" altLang="ko-KR" sz="700" dirty="0">
                <a:latin typeface="+mn-ea"/>
              </a:rPr>
              <a:t>⁞</a:t>
            </a:r>
            <a:endParaRPr lang="ko-KR" altLang="en-US"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20490" y="3544731"/>
            <a:ext cx="2571999"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타원 111">
            <a:extLst>
              <a:ext uri="{FF2B5EF4-FFF2-40B4-BE49-F238E27FC236}">
                <a16:creationId xmlns:a16="http://schemas.microsoft.com/office/drawing/2014/main" id="{37A7FF4F-0EAA-1463-560A-D5EC24416103}"/>
              </a:ext>
            </a:extLst>
          </p:cNvPr>
          <p:cNvSpPr/>
          <p:nvPr/>
        </p:nvSpPr>
        <p:spPr>
          <a:xfrm>
            <a:off x="571127" y="3306387"/>
            <a:ext cx="168858"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42" name="직사각형 41"/>
          <p:cNvSpPr/>
          <p:nvPr/>
        </p:nvSpPr>
        <p:spPr>
          <a:xfrm>
            <a:off x="712377" y="3269723"/>
            <a:ext cx="2655869" cy="1795283"/>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1306134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68</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7" name="TextBox 6">
            <a:extLst>
              <a:ext uri="{FF2B5EF4-FFF2-40B4-BE49-F238E27FC236}">
                <a16:creationId xmlns:a16="http://schemas.microsoft.com/office/drawing/2014/main" id="{D2898AB1-8736-AB97-26CD-6A60F05FD8FF}"/>
              </a:ext>
            </a:extLst>
          </p:cNvPr>
          <p:cNvSpPr txBox="1"/>
          <p:nvPr/>
        </p:nvSpPr>
        <p:spPr>
          <a:xfrm>
            <a:off x="458117" y="809361"/>
            <a:ext cx="235858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계약특수조건정보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ko-KR" altLang="en-US" sz="900" b="1" dirty="0">
                <a:solidFill>
                  <a:prstClr val="black"/>
                </a:solidFill>
              </a:rPr>
              <a:t>영문명</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93115"/>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요구년도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drctnYr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요구년도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a:txBody>
                    <a:bodyPr/>
                    <a:lstStyle/>
                    <a:p>
                      <a:pPr latinLnBrk="1"/>
                      <a:r>
                        <a:rPr lang="ko-KR" altLang="en-US" sz="800" dirty="0">
                          <a:latin typeface="+mn-ea"/>
                          <a:ea typeface="+mn-ea"/>
                        </a:rPr>
                        <a:t>집행예정월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bidPrnmntYm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집행예정월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YYYYMM</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dirty="0">
                          <a:latin typeface="+mn-ea"/>
                          <a:ea typeface="+mn-ea"/>
                        </a:rPr>
                        <a:t>계약예정월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ctrtPrnmntYm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계약예정월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YYYYMM</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집행유형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:ETC</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err="1">
                          <a:latin typeface="+mn-ea"/>
                          <a:ea typeface="+mn-ea"/>
                        </a:rPr>
                        <a:t>대표품명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대표품명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0140306"/>
                  </a:ext>
                </a:extLst>
              </a:tr>
            </a:tbl>
          </a:graphicData>
        </a:graphic>
      </p:graphicFrame>
      <p:sp>
        <p:nvSpPr>
          <p:cNvPr id="14" name="Text Box 73">
            <a:extLst>
              <a:ext uri="{FF2B5EF4-FFF2-40B4-BE49-F238E27FC236}">
                <a16:creationId xmlns:a16="http://schemas.microsoft.com/office/drawing/2014/main" id="{E8583043-26C0-3245-7098-315B27674F5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531429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lvl="0" indent="-228600">
              <a:buFont typeface="+mj-lt"/>
              <a:buAutoNum type="arabicPeriod"/>
              <a:defRPr/>
            </a:pPr>
            <a:r>
              <a:rPr lang="ko-KR" altLang="en-US" dirty="0" err="1" smtClean="0"/>
              <a:t>공고문안</a:t>
            </a:r>
            <a:r>
              <a:rPr lang="ko-KR" altLang="en-US" dirty="0" smtClean="0"/>
              <a:t> 항목 정보 표시</a:t>
            </a:r>
            <a:r>
              <a:rPr lang="en-US" altLang="ko-KR" dirty="0" smtClean="0"/>
              <a:t/>
            </a:r>
            <a:br>
              <a:rPr lang="en-US" altLang="ko-KR" dirty="0" smtClean="0"/>
            </a:br>
            <a:r>
              <a:rPr lang="en-US" altLang="ko-KR" dirty="0" smtClean="0"/>
              <a:t>- </a:t>
            </a:r>
            <a:r>
              <a:rPr lang="ko-KR" altLang="en-US" dirty="0" smtClean="0"/>
              <a:t>작성된 내용이 있는 경우 탭 표시</a:t>
            </a:r>
            <a:r>
              <a:rPr lang="en-US" altLang="ko-KR" dirty="0"/>
              <a:t/>
            </a:r>
            <a:br>
              <a:rPr lang="en-US" altLang="ko-KR" dirty="0"/>
            </a:br>
            <a:r>
              <a:rPr lang="en-US" altLang="ko-KR" dirty="0" smtClean="0"/>
              <a:t>- </a:t>
            </a:r>
            <a:r>
              <a:rPr lang="ko-KR" altLang="en-US" dirty="0" smtClean="0"/>
              <a:t>자료구분값이 </a:t>
            </a:r>
            <a:r>
              <a:rPr lang="ko-KR" altLang="en-US" dirty="0" err="1" smtClean="0"/>
              <a:t>구자료</a:t>
            </a:r>
            <a:r>
              <a:rPr lang="en-US" altLang="ko-KR" dirty="0" smtClean="0"/>
              <a:t>(‘N’)</a:t>
            </a:r>
            <a:r>
              <a:rPr lang="ko-KR" altLang="en-US" dirty="0" smtClean="0"/>
              <a:t>일 경우 탭 표시</a:t>
            </a:r>
            <a:r>
              <a:rPr lang="en-US" altLang="ko-KR" dirty="0" smtClean="0"/>
              <a:t/>
            </a:r>
            <a:br>
              <a:rPr lang="en-US" altLang="ko-KR" dirty="0" smtClean="0"/>
            </a:br>
            <a:r>
              <a:rPr lang="en-US" altLang="ko-KR" dirty="0" smtClean="0"/>
              <a:t/>
            </a:r>
            <a:br>
              <a:rPr lang="en-US" altLang="ko-KR" dirty="0" smtClean="0"/>
            </a:br>
            <a:r>
              <a:rPr lang="en-US" altLang="ko-KR" dirty="0" smtClean="0"/>
              <a:t>- </a:t>
            </a:r>
            <a:r>
              <a:rPr lang="ko-KR" altLang="en-US" dirty="0" smtClean="0"/>
              <a:t>자료구분값이 </a:t>
            </a:r>
            <a:r>
              <a:rPr lang="ko-KR" altLang="en-US" dirty="0" err="1" smtClean="0"/>
              <a:t>신자료</a:t>
            </a:r>
            <a:r>
              <a:rPr lang="en-US" altLang="ko-KR" dirty="0" smtClean="0"/>
              <a:t>(‘Y’)</a:t>
            </a:r>
            <a:r>
              <a:rPr lang="ko-KR" altLang="en-US" dirty="0" smtClean="0"/>
              <a:t>일 경우 </a:t>
            </a:r>
            <a:r>
              <a:rPr lang="en-US" altLang="ko-KR" dirty="0" smtClean="0"/>
              <a:t>Tab</a:t>
            </a:r>
            <a:r>
              <a:rPr lang="ko-KR" altLang="en-US" dirty="0" smtClean="0"/>
              <a:t>은 노출되지 않고 첨부파일로 대체되어 일반정보 </a:t>
            </a:r>
            <a:r>
              <a:rPr lang="en-US" altLang="ko-KR" dirty="0" smtClean="0"/>
              <a:t>Tab</a:t>
            </a:r>
            <a:r>
              <a:rPr lang="ko-KR" altLang="en-US" dirty="0" smtClean="0"/>
              <a:t>의 첨부서류 항목에 조회된다</a:t>
            </a:r>
            <a:r>
              <a:rPr lang="en-US" altLang="ko-KR" dirty="0" smtClean="0"/>
              <a:t>.</a:t>
            </a:r>
            <a:br>
              <a:rPr lang="en-US" altLang="ko-KR" dirty="0" smtClean="0"/>
            </a:br>
            <a:r>
              <a:rPr lang="en-US" altLang="ko-KR" dirty="0" smtClean="0"/>
              <a:t/>
            </a:r>
            <a:br>
              <a:rPr lang="en-US" altLang="ko-KR" dirty="0" smtClean="0"/>
            </a:br>
            <a:r>
              <a:rPr lang="en-US" altLang="ko-KR" dirty="0" smtClean="0"/>
              <a:t>- </a:t>
            </a:r>
            <a:r>
              <a:rPr lang="ko-KR" altLang="en-US" dirty="0" err="1">
                <a:solidFill>
                  <a:prstClr val="black"/>
                </a:solidFill>
                <a:latin typeface="맑은 고딕" panose="020B0503020000020004" pitchFamily="50" charset="-127"/>
              </a:rPr>
              <a:t>업무구분이</a:t>
            </a:r>
            <a:r>
              <a:rPr lang="ko-KR" altLang="en-US" dirty="0">
                <a:solidFill>
                  <a:prstClr val="black"/>
                </a:solidFill>
                <a:latin typeface="맑은 고딕" panose="020B0503020000020004" pitchFamily="50" charset="-127"/>
              </a:rPr>
              <a:t> </a:t>
            </a:r>
            <a:r>
              <a:rPr lang="en-US" altLang="ko-KR" dirty="0">
                <a:solidFill>
                  <a:prstClr val="black"/>
                </a:solidFill>
                <a:latin typeface="맑은 고딕" panose="020B0503020000020004" pitchFamily="50" charset="-127"/>
              </a:rPr>
              <a:t>‘</a:t>
            </a:r>
            <a:r>
              <a:rPr lang="ko-KR" altLang="en-US" dirty="0">
                <a:solidFill>
                  <a:prstClr val="black"/>
                </a:solidFill>
                <a:latin typeface="맑은 고딕" panose="020B0503020000020004" pitchFamily="50" charset="-127"/>
              </a:rPr>
              <a:t>물품</a:t>
            </a:r>
            <a:r>
              <a:rPr lang="en-US" altLang="ko-KR" dirty="0">
                <a:solidFill>
                  <a:prstClr val="black"/>
                </a:solidFill>
                <a:latin typeface="맑은 고딕" panose="020B0503020000020004" pitchFamily="50" charset="-127"/>
              </a:rPr>
              <a:t>/</a:t>
            </a:r>
            <a:r>
              <a:rPr lang="ko-KR" altLang="en-US" dirty="0">
                <a:solidFill>
                  <a:prstClr val="black"/>
                </a:solidFill>
                <a:latin typeface="맑은 고딕" panose="020B0503020000020004" pitchFamily="50" charset="-127"/>
              </a:rPr>
              <a:t>용역</a:t>
            </a:r>
            <a:r>
              <a:rPr lang="en-US" altLang="ko-KR" dirty="0">
                <a:solidFill>
                  <a:prstClr val="black"/>
                </a:solidFill>
                <a:latin typeface="맑은 고딕" panose="020B0503020000020004" pitchFamily="50" charset="-127"/>
              </a:rPr>
              <a:t>‘ </a:t>
            </a:r>
            <a:r>
              <a:rPr lang="ko-KR" altLang="en-US" dirty="0">
                <a:solidFill>
                  <a:prstClr val="black"/>
                </a:solidFill>
                <a:latin typeface="맑은 고딕" panose="020B0503020000020004" pitchFamily="50" charset="-127"/>
              </a:rPr>
              <a:t>이고 </a:t>
            </a:r>
            <a:r>
              <a:rPr lang="ko-KR" altLang="en-US" dirty="0" err="1">
                <a:solidFill>
                  <a:prstClr val="black"/>
                </a:solidFill>
                <a:latin typeface="맑은 고딕" panose="020B0503020000020004" pitchFamily="50" charset="-127"/>
              </a:rPr>
              <a:t>계약방법이</a:t>
            </a:r>
            <a:r>
              <a:rPr lang="ko-KR" altLang="en-US" dirty="0">
                <a:solidFill>
                  <a:prstClr val="black"/>
                </a:solidFill>
                <a:latin typeface="맑은 고딕" panose="020B0503020000020004" pitchFamily="50" charset="-127"/>
              </a:rPr>
              <a:t> </a:t>
            </a:r>
            <a:r>
              <a:rPr lang="en-US" altLang="ko-KR" dirty="0">
                <a:solidFill>
                  <a:prstClr val="black"/>
                </a:solidFill>
                <a:latin typeface="맑은 고딕" panose="020B0503020000020004" pitchFamily="50" charset="-127"/>
              </a:rPr>
              <a:t>‘</a:t>
            </a:r>
            <a:r>
              <a:rPr lang="ko-KR" altLang="en-US" dirty="0" err="1">
                <a:solidFill>
                  <a:srgbClr val="C00000"/>
                </a:solidFill>
                <a:latin typeface="맑은 고딕" panose="020B0503020000020004" pitchFamily="50" charset="-127"/>
              </a:rPr>
              <a:t>협상에의한계약</a:t>
            </a:r>
            <a:r>
              <a:rPr lang="en-US" altLang="ko-KR" dirty="0">
                <a:solidFill>
                  <a:srgbClr val="C00000"/>
                </a:solidFill>
                <a:latin typeface="맑은 고딕" panose="020B0503020000020004" pitchFamily="50" charset="-127"/>
              </a:rPr>
              <a:t>(</a:t>
            </a:r>
            <a:r>
              <a:rPr lang="ko-KR" altLang="en-US" dirty="0">
                <a:solidFill>
                  <a:srgbClr val="C00000"/>
                </a:solidFill>
                <a:latin typeface="맑은 고딕" panose="020B0503020000020004" pitchFamily="50" charset="-127"/>
              </a:rPr>
              <a:t>서류</a:t>
            </a:r>
            <a:r>
              <a:rPr lang="en-US" altLang="ko-KR" dirty="0">
                <a:solidFill>
                  <a:srgbClr val="C00000"/>
                </a:solidFill>
                <a:latin typeface="맑은 고딕" panose="020B0503020000020004" pitchFamily="50" charset="-127"/>
              </a:rPr>
              <a:t>)</a:t>
            </a:r>
            <a:r>
              <a:rPr lang="en-US" altLang="ko-KR" dirty="0">
                <a:solidFill>
                  <a:prstClr val="black"/>
                </a:solidFill>
                <a:latin typeface="맑은 고딕" panose="020B0503020000020004" pitchFamily="50" charset="-127"/>
              </a:rPr>
              <a:t>’</a:t>
            </a:r>
            <a:r>
              <a:rPr lang="ko-KR" altLang="en-US" dirty="0">
                <a:solidFill>
                  <a:prstClr val="black"/>
                </a:solidFill>
                <a:latin typeface="맑은 고딕" panose="020B0503020000020004" pitchFamily="50" charset="-127"/>
              </a:rPr>
              <a:t>일 경우 노출되는 </a:t>
            </a:r>
            <a:r>
              <a:rPr lang="ko-KR" altLang="en-US" dirty="0" smtClean="0">
                <a:solidFill>
                  <a:prstClr val="black"/>
                </a:solidFill>
                <a:latin typeface="맑은 고딕" panose="020B0503020000020004" pitchFamily="50" charset="-127"/>
              </a:rPr>
              <a:t>영역</a:t>
            </a:r>
            <a:r>
              <a:rPr lang="en-US" altLang="ko-KR" dirty="0" smtClean="0">
                <a:solidFill>
                  <a:prstClr val="black"/>
                </a:solidFill>
                <a:latin typeface="맑은 고딕" panose="020B0503020000020004" pitchFamily="50" charset="-127"/>
              </a:rPr>
              <a:t/>
            </a:r>
            <a:br>
              <a:rPr lang="en-US" altLang="ko-KR" dirty="0" smtClean="0">
                <a:solidFill>
                  <a:prstClr val="black"/>
                </a:solidFill>
                <a:latin typeface="맑은 고딕" panose="020B0503020000020004" pitchFamily="50" charset="-127"/>
              </a:rPr>
            </a:br>
            <a:r>
              <a:rPr lang="en-US" altLang="ko-KR" dirty="0" smtClean="0">
                <a:solidFill>
                  <a:prstClr val="black"/>
                </a:solidFill>
                <a:latin typeface="맑은 고딕" panose="020B0503020000020004" pitchFamily="50" charset="-127"/>
              </a:rPr>
              <a:t>- </a:t>
            </a:r>
            <a:r>
              <a:rPr lang="ko-KR" altLang="en-US" dirty="0" smtClean="0">
                <a:solidFill>
                  <a:prstClr val="black"/>
                </a:solidFill>
                <a:latin typeface="맑은 고딕" panose="020B0503020000020004" pitchFamily="50" charset="-127"/>
              </a:rPr>
              <a:t>로그인 </a:t>
            </a:r>
            <a:r>
              <a:rPr lang="ko-KR" altLang="en-US" dirty="0">
                <a:solidFill>
                  <a:prstClr val="black"/>
                </a:solidFill>
                <a:latin typeface="맑은 고딕" panose="020B0503020000020004" pitchFamily="50" charset="-127"/>
              </a:rPr>
              <a:t>이용자가 해당 </a:t>
            </a:r>
            <a:r>
              <a:rPr lang="ko-KR" altLang="en-US" b="1" dirty="0">
                <a:solidFill>
                  <a:prstClr val="black"/>
                </a:solidFill>
                <a:latin typeface="맑은 고딕" panose="020B0503020000020004" pitchFamily="50" charset="-127"/>
              </a:rPr>
              <a:t>공고의 등록자</a:t>
            </a:r>
            <a:r>
              <a:rPr lang="en-US" altLang="ko-KR" b="1" dirty="0">
                <a:solidFill>
                  <a:prstClr val="black"/>
                </a:solidFill>
                <a:latin typeface="맑은 고딕" panose="020B0503020000020004" pitchFamily="50" charset="-127"/>
              </a:rPr>
              <a:t>/</a:t>
            </a:r>
            <a:r>
              <a:rPr lang="ko-KR" altLang="en-US" b="1" dirty="0" err="1">
                <a:solidFill>
                  <a:prstClr val="black"/>
                </a:solidFill>
                <a:latin typeface="맑은 고딕" panose="020B0503020000020004" pitchFamily="50" charset="-127"/>
              </a:rPr>
              <a:t>방위사업청</a:t>
            </a:r>
            <a:r>
              <a:rPr lang="ko-KR" altLang="en-US" b="1" dirty="0">
                <a:solidFill>
                  <a:prstClr val="black"/>
                </a:solidFill>
                <a:latin typeface="맑은 고딕" panose="020B0503020000020004" pitchFamily="50" charset="-127"/>
              </a:rPr>
              <a:t> </a:t>
            </a:r>
            <a:r>
              <a:rPr lang="ko-KR" altLang="en-US" b="1" dirty="0" smtClean="0">
                <a:solidFill>
                  <a:prstClr val="black"/>
                </a:solidFill>
                <a:latin typeface="맑은 고딕" panose="020B0503020000020004" pitchFamily="50" charset="-127"/>
              </a:rPr>
              <a:t>소속</a:t>
            </a:r>
            <a:r>
              <a:rPr lang="en-US" altLang="ko-KR" b="1" dirty="0" smtClean="0">
                <a:solidFill>
                  <a:prstClr val="black"/>
                </a:solidFill>
                <a:latin typeface="맑은 고딕" panose="020B0503020000020004" pitchFamily="50" charset="-127"/>
              </a:rPr>
              <a:t>(</a:t>
            </a:r>
            <a:r>
              <a:rPr lang="ko-KR" altLang="en-US" b="1" dirty="0" smtClean="0">
                <a:solidFill>
                  <a:prstClr val="black"/>
                </a:solidFill>
                <a:latin typeface="맑은 고딕" panose="020B0503020000020004" pitchFamily="50" charset="-127"/>
              </a:rPr>
              <a:t>관리자</a:t>
            </a:r>
            <a:r>
              <a:rPr lang="en-US" altLang="ko-KR" b="1" dirty="0" smtClean="0">
                <a:solidFill>
                  <a:prstClr val="black"/>
                </a:solidFill>
                <a:latin typeface="맑은 고딕" panose="020B0503020000020004" pitchFamily="50" charset="-127"/>
              </a:rPr>
              <a:t>) </a:t>
            </a:r>
            <a:r>
              <a:rPr lang="ko-KR" altLang="en-US" dirty="0" smtClean="0">
                <a:solidFill>
                  <a:prstClr val="black"/>
                </a:solidFill>
                <a:latin typeface="맑은 고딕" panose="020B0503020000020004" pitchFamily="50" charset="-127"/>
              </a:rPr>
              <a:t>일 경우는 </a:t>
            </a:r>
            <a:r>
              <a:rPr lang="ko-KR" altLang="en-US" dirty="0">
                <a:solidFill>
                  <a:prstClr val="black"/>
                </a:solidFill>
                <a:latin typeface="맑은 고딕" panose="020B0503020000020004" pitchFamily="50" charset="-127"/>
              </a:rPr>
              <a:t>노출되는 </a:t>
            </a:r>
            <a:r>
              <a:rPr lang="ko-KR" altLang="en-US" dirty="0" smtClean="0">
                <a:solidFill>
                  <a:prstClr val="black"/>
                </a:solidFill>
                <a:latin typeface="맑은 고딕" panose="020B0503020000020004" pitchFamily="50" charset="-127"/>
              </a:rPr>
              <a:t>영역이나</a:t>
            </a:r>
            <a:r>
              <a:rPr lang="en-US" altLang="ko-KR" dirty="0" smtClean="0">
                <a:solidFill>
                  <a:prstClr val="black"/>
                </a:solidFill>
                <a:latin typeface="맑은 고딕" panose="020B0503020000020004" pitchFamily="50" charset="-127"/>
              </a:rPr>
              <a:t>, </a:t>
            </a:r>
            <a:r>
              <a:rPr lang="ko-KR" altLang="en-US" dirty="0" smtClean="0">
                <a:solidFill>
                  <a:prstClr val="black"/>
                </a:solidFill>
                <a:latin typeface="맑은 고딕" panose="020B0503020000020004" pitchFamily="50" charset="-127"/>
              </a:rPr>
              <a:t>모바일에서는 관리자 기능이 없으므로 사용자와 동일하게 처리함</a:t>
            </a:r>
            <a:r>
              <a:rPr lang="en-US" altLang="ko-KR" dirty="0" smtClean="0">
                <a:solidFill>
                  <a:prstClr val="black"/>
                </a:solidFill>
                <a:latin typeface="맑은 고딕" panose="020B0503020000020004" pitchFamily="50" charset="-127"/>
              </a:rPr>
              <a:t>.</a:t>
            </a:r>
            <a:endParaRPr lang="en-US" altLang="ko-KR" dirty="0">
              <a:solidFill>
                <a:prstClr val="black"/>
              </a:solidFill>
              <a:latin typeface="맑은 고딕" panose="020B0503020000020004" pitchFamily="50" charset="-127"/>
            </a:endParaRPr>
          </a:p>
          <a:p>
            <a:pPr marL="228600" lvl="0" indent="-228600">
              <a:buFont typeface="+mj-lt"/>
              <a:buAutoNum type="arabicPeriod"/>
              <a:defRPr/>
            </a:pPr>
            <a:endParaRPr lang="en-US" altLang="ko-KR" dirty="0">
              <a:solidFill>
                <a:prstClr val="black"/>
              </a:solidFill>
              <a:latin typeface="맑은 고딕" panose="020B0503020000020004" pitchFamily="50" charset="-127"/>
            </a:endParaRPr>
          </a:p>
          <a:p>
            <a:pPr marL="228600" lvl="0" indent="-228600">
              <a:buFont typeface="+mj-lt"/>
              <a:buAutoNum type="arabicPeriod"/>
              <a:defRPr/>
            </a:pPr>
            <a:r>
              <a:rPr lang="ko-KR" altLang="en-US" dirty="0" err="1" smtClean="0">
                <a:solidFill>
                  <a:srgbClr val="C00000"/>
                </a:solidFill>
              </a:rPr>
              <a:t>공고문안</a:t>
            </a:r>
            <a:r>
              <a:rPr lang="ko-KR" altLang="en-US" dirty="0" smtClean="0"/>
              <a:t> 입력 항목 표시</a:t>
            </a:r>
            <a:r>
              <a:rPr lang="en-US" altLang="ko-KR" dirty="0" smtClean="0"/>
              <a:t/>
            </a:r>
            <a:br>
              <a:rPr lang="en-US" altLang="ko-KR" dirty="0" smtClean="0"/>
            </a:br>
            <a:r>
              <a:rPr lang="en-US" altLang="ko-KR" dirty="0" smtClean="0"/>
              <a:t>- </a:t>
            </a:r>
            <a:r>
              <a:rPr lang="ko-KR" altLang="en-US" dirty="0" smtClean="0"/>
              <a:t>전문 내용은 축약하지 않고 내용에 맞춰 확장하여 전체 스크롤 처리</a:t>
            </a:r>
            <a:endParaRPr lang="en-US" altLang="ko-KR" dirty="0" smtClean="0"/>
          </a:p>
          <a:p>
            <a:pPr marL="228600" lvl="0" indent="-228600">
              <a:buFont typeface="+mj-lt"/>
              <a:buAutoNum type="arabicPeriod"/>
              <a:defRPr/>
            </a:pPr>
            <a:endParaRPr lang="en-US" altLang="ko-KR" dirty="0"/>
          </a:p>
          <a:p>
            <a:pPr marL="228600" lvl="0" indent="-228600">
              <a:buFont typeface="+mj-lt"/>
              <a:buAutoNum type="arabicPeriod"/>
              <a:defRPr/>
            </a:pPr>
            <a:r>
              <a:rPr lang="ko-KR" altLang="en-US" dirty="0" smtClean="0"/>
              <a:t>규격자료지원방법 링크 추후 업데이트</a:t>
            </a:r>
            <a:endParaRPr lang="en-US" altLang="ko-KR" dirty="0" smtClean="0"/>
          </a:p>
          <a:p>
            <a:pPr marL="228600" lvl="0" indent="-228600">
              <a:buFont typeface="+mj-lt"/>
              <a:buAutoNum type="arabicPeriod"/>
              <a:defRPr/>
            </a:pPr>
            <a:endParaRPr lang="en-US" altLang="ko-KR" dirty="0"/>
          </a:p>
          <a:p>
            <a:pPr marL="228600" lvl="0" indent="-228600">
              <a:buFont typeface="+mj-lt"/>
              <a:buAutoNum type="arabicPeriod"/>
              <a:defRPr/>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69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공고문안</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err="1"/>
              <a:t>공고문안</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err="1">
                <a:latin typeface="+mn-ea"/>
              </a:rPr>
              <a:t>공고문안</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035095" cy="181140"/>
          </a:xfrm>
          <a:prstGeom prst="rect">
            <a:avLst/>
          </a:prstGeom>
          <a:noFill/>
        </p:spPr>
        <p:txBody>
          <a:bodyPr wrap="square" lIns="0" tIns="0" rIns="0" bIns="0" rtlCol="0">
            <a:spAutoFit/>
          </a:bodyPr>
          <a:lstStyle/>
          <a:p>
            <a:pPr>
              <a:lnSpc>
                <a:spcPct val="200000"/>
              </a:lnSpc>
            </a:pPr>
            <a:r>
              <a:rPr lang="ko-KR" altLang="en-US" sz="700" dirty="0" err="1">
                <a:latin typeface="+mn-ea"/>
              </a:rPr>
              <a:t>공고문안</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37272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TextBox 109">
            <a:extLst>
              <a:ext uri="{FF2B5EF4-FFF2-40B4-BE49-F238E27FC236}">
                <a16:creationId xmlns:a16="http://schemas.microsoft.com/office/drawing/2014/main" id="{FFC49AEA-2A8F-250C-A86A-A7751D9706C3}"/>
              </a:ext>
            </a:extLst>
          </p:cNvPr>
          <p:cNvSpPr txBox="1"/>
          <p:nvPr/>
        </p:nvSpPr>
        <p:spPr>
          <a:xfrm>
            <a:off x="790331" y="1856536"/>
            <a:ext cx="2532688"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en-US" altLang="ko-KR" sz="700" dirty="0">
                <a:latin typeface="+mn-ea"/>
              </a:rPr>
              <a:t>⁞</a:t>
            </a:r>
            <a:endParaRPr lang="ko-KR" altLang="en-US"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20490" y="18360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5" name="모서리가 둥근 직사각형 34"/>
          <p:cNvSpPr/>
          <p:nvPr/>
        </p:nvSpPr>
        <p:spPr>
          <a:xfrm>
            <a:off x="705041" y="3820536"/>
            <a:ext cx="2652743" cy="1324633"/>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TextBox 35">
            <a:extLst>
              <a:ext uri="{FF2B5EF4-FFF2-40B4-BE49-F238E27FC236}">
                <a16:creationId xmlns:a16="http://schemas.microsoft.com/office/drawing/2014/main" id="{FFC49AEA-2A8F-250C-A86A-A7751D9706C3}"/>
              </a:ext>
            </a:extLst>
          </p:cNvPr>
          <p:cNvSpPr txBox="1"/>
          <p:nvPr/>
        </p:nvSpPr>
        <p:spPr>
          <a:xfrm>
            <a:off x="793811" y="3918820"/>
            <a:ext cx="2475203" cy="1077218"/>
          </a:xfrm>
          <a:prstGeom prst="rect">
            <a:avLst/>
          </a:prstGeom>
          <a:noFill/>
        </p:spPr>
        <p:txBody>
          <a:bodyPr wrap="square" lIns="0" tIns="0" rIns="0" bIns="0" rtlCol="0">
            <a:spAutoFit/>
          </a:bodyPr>
          <a:lstStyle/>
          <a:p>
            <a:r>
              <a:rPr lang="ko-KR" altLang="en-US" sz="700" dirty="0" smtClean="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규격자료</a:t>
            </a:r>
            <a:r>
              <a:rPr lang="ko-KR" altLang="en-US" sz="700" dirty="0">
                <a:solidFill>
                  <a:schemeClr val="tx1">
                    <a:lumMod val="85000"/>
                    <a:lumOff val="15000"/>
                  </a:schemeClr>
                </a:solidFill>
                <a:latin typeface="맑은 고딕" panose="020B0503020000020004" pitchFamily="50" charset="-127"/>
              </a:rPr>
              <a:t> 중 </a:t>
            </a:r>
            <a:r>
              <a:rPr lang="ko-KR" altLang="en-US" sz="700" dirty="0" err="1">
                <a:solidFill>
                  <a:schemeClr val="tx1">
                    <a:lumMod val="85000"/>
                    <a:lumOff val="15000"/>
                  </a:schemeClr>
                </a:solidFill>
                <a:latin typeface="맑은 고딕" panose="020B0503020000020004" pitchFamily="50" charset="-127"/>
              </a:rPr>
              <a:t>공개자료와</a:t>
            </a:r>
            <a:r>
              <a:rPr lang="ko-KR" altLang="en-US" sz="700" dirty="0">
                <a:solidFill>
                  <a:schemeClr val="tx1">
                    <a:lumMod val="85000"/>
                    <a:lumOff val="15000"/>
                  </a:schemeClr>
                </a:solidFill>
                <a:latin typeface="맑은 고딕" panose="020B0503020000020004" pitchFamily="50" charset="-127"/>
              </a:rPr>
              <a:t> 비공개자료는 열람 방식이 </a:t>
            </a:r>
            <a:r>
              <a:rPr lang="ko-KR" altLang="en-US" sz="700" dirty="0" err="1">
                <a:solidFill>
                  <a:schemeClr val="tx1">
                    <a:lumMod val="85000"/>
                    <a:lumOff val="15000"/>
                  </a:schemeClr>
                </a:solidFill>
                <a:latin typeface="맑은 고딕" panose="020B0503020000020004" pitchFamily="50" charset="-127"/>
              </a:rPr>
              <a:t>다름니다</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규격자료</a:t>
            </a:r>
            <a:r>
              <a:rPr lang="ko-KR" altLang="en-US" sz="700" dirty="0">
                <a:solidFill>
                  <a:schemeClr val="tx1">
                    <a:lumMod val="85000"/>
                    <a:lumOff val="15000"/>
                  </a:schemeClr>
                </a:solidFill>
                <a:latin typeface="맑은 고딕" panose="020B0503020000020004" pitchFamily="50" charset="-127"/>
              </a:rPr>
              <a:t> 지원 방법을 꼭 확인 하시기 바랍니다</a:t>
            </a:r>
            <a:r>
              <a:rPr lang="en-US" altLang="ko-KR" sz="700" dirty="0">
                <a:solidFill>
                  <a:schemeClr val="tx1">
                    <a:lumMod val="85000"/>
                    <a:lumOff val="15000"/>
                  </a:schemeClr>
                </a:solidFill>
                <a:latin typeface="맑은 고딕" panose="020B0503020000020004" pitchFamily="50" charset="-127"/>
              </a:rPr>
              <a:t>. </a:t>
            </a:r>
            <a:r>
              <a:rPr lang="en-US" altLang="ko-KR" sz="700" b="1" u="sng" dirty="0">
                <a:solidFill>
                  <a:srgbClr val="0070C0"/>
                </a:solidFill>
                <a:latin typeface="맑은 고딕" panose="020B0503020000020004" pitchFamily="50" charset="-127"/>
              </a:rPr>
              <a:t>(</a:t>
            </a:r>
            <a:r>
              <a:rPr lang="ko-KR" altLang="en-US" sz="700" b="1" u="sng" dirty="0">
                <a:solidFill>
                  <a:srgbClr val="0070C0"/>
                </a:solidFill>
                <a:latin typeface="맑은 고딕" panose="020B0503020000020004" pitchFamily="50" charset="-127"/>
              </a:rPr>
              <a:t>규격자료지원방법</a:t>
            </a:r>
            <a:r>
              <a:rPr lang="en-US" altLang="ko-KR" sz="700" b="1" u="sng" dirty="0">
                <a:solidFill>
                  <a:srgbClr val="0070C0"/>
                </a:solidFill>
                <a:latin typeface="맑은 고딕" panose="020B0503020000020004" pitchFamily="50" charset="-127"/>
              </a:rPr>
              <a:t>)</a:t>
            </a: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규격서상</a:t>
            </a:r>
            <a:r>
              <a:rPr lang="ko-KR" altLang="en-US" sz="700" dirty="0">
                <a:solidFill>
                  <a:schemeClr val="tx1">
                    <a:lumMod val="85000"/>
                    <a:lumOff val="15000"/>
                  </a:schemeClr>
                </a:solidFill>
                <a:latin typeface="맑은 고딕" panose="020B0503020000020004" pitchFamily="50" charset="-127"/>
              </a:rPr>
              <a:t> 각종 성능시험 요건을 입찰 전에 확인 하시기 바랍니다</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성능시험을 수행할 책임은 </a:t>
            </a:r>
            <a:r>
              <a:rPr lang="ko-KR" altLang="en-US" sz="700" dirty="0" err="1">
                <a:solidFill>
                  <a:schemeClr val="tx1">
                    <a:lumMod val="85000"/>
                    <a:lumOff val="15000"/>
                  </a:schemeClr>
                </a:solidFill>
                <a:latin typeface="맑은 고딕" panose="020B0503020000020004" pitchFamily="50" charset="-127"/>
              </a:rPr>
              <a:t>계약업체에</a:t>
            </a:r>
            <a:r>
              <a:rPr lang="ko-KR" altLang="en-US" sz="700" dirty="0">
                <a:solidFill>
                  <a:schemeClr val="tx1">
                    <a:lumMod val="85000"/>
                    <a:lumOff val="15000"/>
                  </a:schemeClr>
                </a:solidFill>
                <a:latin typeface="맑은 고딕" panose="020B0503020000020004" pitchFamily="50" charset="-127"/>
              </a:rPr>
              <a:t> 있습니다</a:t>
            </a:r>
            <a:r>
              <a:rPr lang="en-US" altLang="ko-KR" sz="700" dirty="0">
                <a:solidFill>
                  <a:schemeClr val="tx1">
                    <a:lumMod val="85000"/>
                    <a:lumOff val="15000"/>
                  </a:schemeClr>
                </a:solidFill>
                <a:latin typeface="맑은 고딕" panose="020B0503020000020004" pitchFamily="50" charset="-127"/>
              </a:rPr>
              <a:t>.</a:t>
            </a:r>
          </a:p>
          <a:p>
            <a:pPr marL="87313" indent="-87313">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계약서의 납기와 품질보증형태를 확인 하시기 바랍니다</a:t>
            </a:r>
            <a:r>
              <a:rPr lang="en-US" altLang="ko-KR" sz="700" dirty="0">
                <a:solidFill>
                  <a:schemeClr val="tx1">
                    <a:lumMod val="85000"/>
                    <a:lumOff val="15000"/>
                  </a:schemeClr>
                </a:solidFill>
                <a:latin typeface="맑은 고딕" panose="020B0503020000020004" pitchFamily="50" charset="-127"/>
              </a:rPr>
              <a:t>.</a:t>
            </a:r>
          </a:p>
          <a:p>
            <a:pPr marL="87313" indent="-87313">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계약특수조건의 품질보증기간을 꼭 확인 하시기 바랍니다</a:t>
            </a:r>
            <a:r>
              <a:rPr lang="en-US" altLang="ko-KR" sz="700" dirty="0">
                <a:solidFill>
                  <a:schemeClr val="tx1">
                    <a:lumMod val="85000"/>
                    <a:lumOff val="15000"/>
                  </a:schemeClr>
                </a:solidFill>
                <a:latin typeface="맑은 고딕" panose="020B0503020000020004" pitchFamily="50" charset="-127"/>
              </a:rPr>
              <a:t>.</a:t>
            </a:r>
            <a:endParaRPr lang="en-US" altLang="ko-KR" sz="700" b="1" u="sng" dirty="0">
              <a:solidFill>
                <a:srgbClr val="0070C0"/>
              </a:solidFill>
              <a:latin typeface="맑은 고딕" panose="020B0503020000020004" pitchFamily="50" charset="-127"/>
            </a:endParaRPr>
          </a:p>
        </p:txBody>
      </p:sp>
      <p:sp>
        <p:nvSpPr>
          <p:cNvPr id="37" name="타원 36"/>
          <p:cNvSpPr/>
          <p:nvPr/>
        </p:nvSpPr>
        <p:spPr>
          <a:xfrm>
            <a:off x="789853" y="390916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8" name="그룹 37"/>
          <p:cNvGrpSpPr/>
          <p:nvPr/>
        </p:nvGrpSpPr>
        <p:grpSpPr>
          <a:xfrm flipV="1">
            <a:off x="3138674" y="3957667"/>
            <a:ext cx="94010" cy="47005"/>
            <a:chOff x="6812560" y="3297172"/>
            <a:chExt cx="94010" cy="47005"/>
          </a:xfrm>
        </p:grpSpPr>
        <p:cxnSp>
          <p:nvCxnSpPr>
            <p:cNvPr id="39" name="직선 연결선 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0" name="직선 연결선 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1" name="타원 40">
            <a:extLst>
              <a:ext uri="{FF2B5EF4-FFF2-40B4-BE49-F238E27FC236}">
                <a16:creationId xmlns:a16="http://schemas.microsoft.com/office/drawing/2014/main" id="{37A7FF4F-0EAA-1463-560A-D5EC24416103}"/>
              </a:ext>
            </a:extLst>
          </p:cNvPr>
          <p:cNvSpPr/>
          <p:nvPr/>
        </p:nvSpPr>
        <p:spPr>
          <a:xfrm>
            <a:off x="571127" y="188017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8" name="타원 27">
            <a:extLst>
              <a:ext uri="{FF2B5EF4-FFF2-40B4-BE49-F238E27FC236}">
                <a16:creationId xmlns:a16="http://schemas.microsoft.com/office/drawing/2014/main" id="{37A7FF4F-0EAA-1463-560A-D5EC24416103}"/>
              </a:ext>
            </a:extLst>
          </p:cNvPr>
          <p:cNvSpPr/>
          <p:nvPr/>
        </p:nvSpPr>
        <p:spPr>
          <a:xfrm>
            <a:off x="571127" y="439678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grpSp>
        <p:nvGrpSpPr>
          <p:cNvPr id="29" name="그룹 28"/>
          <p:cNvGrpSpPr/>
          <p:nvPr/>
        </p:nvGrpSpPr>
        <p:grpSpPr>
          <a:xfrm>
            <a:off x="8223250" y="569392"/>
            <a:ext cx="3365500" cy="634511"/>
            <a:chOff x="8223250" y="569392"/>
            <a:chExt cx="3365500" cy="634511"/>
          </a:xfrm>
        </p:grpSpPr>
        <p:sp>
          <p:nvSpPr>
            <p:cNvPr id="30" name="직사각형 2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2026-08-13 </a:t>
              </a:r>
              <a:r>
                <a:rPr lang="ko-KR" altLang="en-US" dirty="0" smtClean="0"/>
                <a:t>화면 </a:t>
              </a:r>
              <a:r>
                <a:rPr lang="ko-KR" altLang="en-US" dirty="0"/>
                <a:t>수정</a:t>
              </a:r>
            </a:p>
          </p:txBody>
        </p:sp>
        <p:sp>
          <p:nvSpPr>
            <p:cNvPr id="31" name="직사각형 3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FontTx/>
                <a:buAutoNum type="arabicPeriod"/>
              </a:pPr>
              <a:r>
                <a:rPr lang="ko-KR" altLang="en-US" sz="700" dirty="0" smtClean="0"/>
                <a:t>화면 복구</a:t>
              </a:r>
              <a:endParaRPr lang="en-US" altLang="ko-KR" sz="700" dirty="0" smtClean="0"/>
            </a:p>
            <a:p>
              <a:pPr marL="228600" indent="-228600">
                <a:buFontTx/>
                <a:buAutoNum type="arabicPeriod"/>
              </a:pPr>
              <a:r>
                <a:rPr lang="ko-KR" altLang="en-US" sz="700" dirty="0" smtClean="0"/>
                <a:t>이전에 작성된 내용</a:t>
              </a:r>
              <a:r>
                <a:rPr lang="en-US" altLang="ko-KR" sz="700" dirty="0" smtClean="0"/>
                <a:t>, </a:t>
              </a:r>
              <a:r>
                <a:rPr lang="ko-KR" altLang="en-US" sz="700" dirty="0" smtClean="0"/>
                <a:t>신규 작성 중 일부에서 사용됨</a:t>
              </a:r>
              <a:r>
                <a:rPr lang="en-US" altLang="ko-KR" sz="700" dirty="0" smtClean="0"/>
                <a:t>.</a:t>
              </a:r>
              <a:endParaRPr lang="en-US" altLang="ko-KR" sz="700" dirty="0"/>
            </a:p>
          </p:txBody>
        </p:sp>
      </p:grpSp>
    </p:spTree>
    <p:extLst>
      <p:ext uri="{BB962C8B-B14F-4D97-AF65-F5344CB8AC3E}">
        <p14:creationId xmlns:p14="http://schemas.microsoft.com/office/powerpoint/2010/main" val="24951348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70</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6" name="Text Box 73">
            <a:extLst>
              <a:ext uri="{FF2B5EF4-FFF2-40B4-BE49-F238E27FC236}">
                <a16:creationId xmlns:a16="http://schemas.microsoft.com/office/drawing/2014/main" id="{0F472CB0-E797-B018-37D5-B76A0434B3A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D2898AB1-8736-AB97-26CD-6A60F05FD8FF}"/>
              </a:ext>
            </a:extLst>
          </p:cNvPr>
          <p:cNvSpPr txBox="1"/>
          <p:nvPr/>
        </p:nvSpPr>
        <p:spPr>
          <a:xfrm>
            <a:off x="458117" y="803387"/>
            <a:ext cx="2127753"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공고문안정보</a:t>
            </a:r>
            <a:r>
              <a:rPr lang="ko-KR" altLang="en-US" sz="900" dirty="0">
                <a:latin typeface="+mn-ea"/>
                <a:ea typeface="+mn-ea"/>
              </a:rPr>
              <a:t> </a:t>
            </a:r>
            <a:r>
              <a:rPr lang="ko-KR" altLang="en-US" sz="900" b="1" dirty="0">
                <a:solidFill>
                  <a:prstClr val="black"/>
                </a:solidFill>
              </a:rPr>
              <a:t>데이터 영역 </a:t>
            </a:r>
            <a:r>
              <a:rPr lang="en-US" altLang="ko-KR" sz="900" b="1" dirty="0">
                <a:solidFill>
                  <a:prstClr val="black"/>
                </a:solidFill>
              </a:rPr>
              <a:t>(</a:t>
            </a:r>
            <a:r>
              <a:rPr lang="ko-KR" altLang="en-US" sz="900" b="1" dirty="0">
                <a:solidFill>
                  <a:prstClr val="black"/>
                </a:solidFill>
              </a:rPr>
              <a:t>영문명</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8158A3C8-3B6B-4404-B962-72EAD2CB9801}"/>
              </a:ext>
            </a:extLst>
          </p:cNvPr>
          <p:cNvGraphicFramePr>
            <a:graphicFrameLocks noGrp="1"/>
          </p:cNvGraphicFramePr>
          <p:nvPr>
            <p:extLst/>
          </p:nvPr>
        </p:nvGraphicFramePr>
        <p:xfrm>
          <a:off x="452999" y="1087141"/>
          <a:ext cx="8994883" cy="753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공고문안 내용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1.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이고 계약방법이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srgbClr val="C00000"/>
                          </a:solidFill>
                          <a:effectLst/>
                          <a:uLnTx/>
                          <a:uFillTx/>
                          <a:latin typeface="맑은 고딕" panose="020B0503020000020004" pitchFamily="50" charset="-127"/>
                          <a:ea typeface="맑은 고딕" panose="020B0503020000020004" pitchFamily="50" charset="-127"/>
                          <a:cs typeface="+mn-cs"/>
                        </a:rPr>
                        <a:t>협상에의한계약</a:t>
                      </a:r>
                      <a:r>
                        <a:rPr kumimoji="0" lang="en-US" altLang="ko-KR" sz="800" b="0" i="0" u="none" strike="noStrike" kern="1200" cap="none" spc="0" normalizeH="0" baseline="0" noProof="0" dirty="0">
                          <a:ln>
                            <a:noFill/>
                          </a:ln>
                          <a:solidFill>
                            <a:srgbClr val="C00000"/>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srgbClr val="C00000"/>
                          </a:solidFill>
                          <a:effectLst/>
                          <a:uLnTx/>
                          <a:uFillTx/>
                          <a:latin typeface="맑은 고딕" panose="020B0503020000020004" pitchFamily="50" charset="-127"/>
                          <a:ea typeface="맑은 고딕" panose="020B0503020000020004" pitchFamily="50" charset="-127"/>
                          <a:cs typeface="+mn-cs"/>
                        </a:rPr>
                        <a:t>서류</a:t>
                      </a:r>
                      <a:r>
                        <a:rPr kumimoji="0" lang="en-US" altLang="ko-KR" sz="800" b="0" i="0" u="none" strike="noStrike" kern="1200" cap="none" spc="0" normalizeH="0" baseline="0" noProof="0" dirty="0">
                          <a:ln>
                            <a:noFill/>
                          </a:ln>
                          <a:solidFill>
                            <a:srgbClr val="C00000"/>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노출되는 영역</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2.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로그인 이용자가 해당 공고의 등록자</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방위사업청 소속일 경우 노출되는 영역</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7" name="표 16">
            <a:extLst>
              <a:ext uri="{FF2B5EF4-FFF2-40B4-BE49-F238E27FC236}">
                <a16:creationId xmlns:a16="http://schemas.microsoft.com/office/drawing/2014/main" id="{DA8ADA3F-B9DA-2E61-D10A-0A023381A65A}"/>
              </a:ext>
            </a:extLst>
          </p:cNvPr>
          <p:cNvGraphicFramePr>
            <a:graphicFrameLocks noGrp="1"/>
          </p:cNvGraphicFramePr>
          <p:nvPr/>
        </p:nvGraphicFramePr>
        <p:xfrm>
          <a:off x="453000" y="2316997"/>
          <a:ext cx="8995591" cy="703680"/>
        </p:xfrm>
        <a:graphic>
          <a:graphicData uri="http://schemas.openxmlformats.org/drawingml/2006/table">
            <a:tbl>
              <a:tblPr>
                <a:tableStyleId>{616DA210-FB5B-4158-B5E0-FEB733F419BA}</a:tableStyleId>
              </a:tblPr>
              <a:tblGrid>
                <a:gridCol w="1114543">
                  <a:extLst>
                    <a:ext uri="{9D8B030D-6E8A-4147-A177-3AD203B41FA5}">
                      <a16:colId xmlns:a16="http://schemas.microsoft.com/office/drawing/2014/main" val="20000"/>
                    </a:ext>
                  </a:extLst>
                </a:gridCol>
                <a:gridCol w="1140031">
                  <a:extLst>
                    <a:ext uri="{9D8B030D-6E8A-4147-A177-3AD203B41FA5}">
                      <a16:colId xmlns:a16="http://schemas.microsoft.com/office/drawing/2014/main" val="624624882"/>
                    </a:ext>
                  </a:extLst>
                </a:gridCol>
                <a:gridCol w="3954483">
                  <a:extLst>
                    <a:ext uri="{9D8B030D-6E8A-4147-A177-3AD203B41FA5}">
                      <a16:colId xmlns:a16="http://schemas.microsoft.com/office/drawing/2014/main" val="20001"/>
                    </a:ext>
                  </a:extLst>
                </a:gridCol>
                <a:gridCol w="2786534">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rPr>
                        <a:t>출력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Scwin.btn_pbancCnOtpt_onclick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공고문안내용을 </a:t>
                      </a:r>
                      <a:r>
                        <a:rPr lang="en-US" altLang="ko-KR" sz="800" dirty="0">
                          <a:latin typeface="+mn-ea"/>
                        </a:rPr>
                        <a:t>Report</a:t>
                      </a:r>
                      <a:r>
                        <a:rPr lang="ko-KR" altLang="en-US" sz="800" dirty="0">
                          <a:latin typeface="+mn-ea"/>
                        </a:rPr>
                        <a:t>로 출력한다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1. </a:t>
                      </a:r>
                      <a:r>
                        <a:rPr lang="ko-KR" altLang="en-US" sz="800" dirty="0">
                          <a:latin typeface="+mn-ea"/>
                          <a:ea typeface="+mn-ea"/>
                        </a:rPr>
                        <a:t>업무구분이 </a:t>
                      </a:r>
                      <a:r>
                        <a:rPr lang="en-US" altLang="ko-KR" sz="800" dirty="0">
                          <a:latin typeface="+mn-ea"/>
                          <a:ea typeface="+mn-ea"/>
                        </a:rPr>
                        <a:t>‘</a:t>
                      </a:r>
                      <a:r>
                        <a:rPr lang="ko-KR" altLang="en-US" sz="800" dirty="0">
                          <a:latin typeface="+mn-ea"/>
                          <a:ea typeface="+mn-ea"/>
                        </a:rPr>
                        <a:t>물품</a:t>
                      </a:r>
                      <a:r>
                        <a:rPr lang="en-US" altLang="ko-KR" sz="800" dirty="0">
                          <a:latin typeface="+mn-ea"/>
                          <a:ea typeface="+mn-ea"/>
                        </a:rPr>
                        <a:t>/</a:t>
                      </a:r>
                      <a:r>
                        <a:rPr lang="ko-KR" altLang="en-US" sz="800" dirty="0">
                          <a:latin typeface="+mn-ea"/>
                          <a:ea typeface="+mn-ea"/>
                        </a:rPr>
                        <a:t>용역</a:t>
                      </a:r>
                      <a:r>
                        <a:rPr lang="en-US" altLang="ko-KR" sz="800" dirty="0">
                          <a:latin typeface="+mn-ea"/>
                          <a:ea typeface="+mn-ea"/>
                        </a:rPr>
                        <a:t>‘ </a:t>
                      </a:r>
                      <a:r>
                        <a:rPr lang="ko-KR" altLang="en-US" sz="800" dirty="0">
                          <a:latin typeface="+mn-ea"/>
                          <a:ea typeface="+mn-ea"/>
                        </a:rPr>
                        <a:t>일 경우 버튼 노출</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2. </a:t>
                      </a:r>
                      <a:r>
                        <a:rPr lang="ko-KR" altLang="en-US" sz="800" dirty="0">
                          <a:latin typeface="+mn-ea"/>
                          <a:ea typeface="+mn-ea"/>
                        </a:rPr>
                        <a:t>공고문안</a:t>
                      </a:r>
                      <a:r>
                        <a:rPr lang="en-US" altLang="ko-KR" sz="800" dirty="0">
                          <a:latin typeface="+mn-ea"/>
                          <a:ea typeface="+mn-ea"/>
                        </a:rPr>
                        <a:t>Report : PDB014.ozr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bl>
          </a:graphicData>
        </a:graphic>
      </p:graphicFrame>
      <p:sp>
        <p:nvSpPr>
          <p:cNvPr id="18" name="TextBox 17">
            <a:extLst>
              <a:ext uri="{FF2B5EF4-FFF2-40B4-BE49-F238E27FC236}">
                <a16:creationId xmlns:a16="http://schemas.microsoft.com/office/drawing/2014/main" id="{E266FB11-CB16-9C5B-5D0E-672EECE6BED6}"/>
              </a:ext>
            </a:extLst>
          </p:cNvPr>
          <p:cNvSpPr txBox="1"/>
          <p:nvPr/>
        </p:nvSpPr>
        <p:spPr>
          <a:xfrm>
            <a:off x="458117" y="203886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Tree>
    <p:extLst>
      <p:ext uri="{BB962C8B-B14F-4D97-AF65-F5344CB8AC3E}">
        <p14:creationId xmlns:p14="http://schemas.microsoft.com/office/powerpoint/2010/main" val="96591181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입찰진행현황 항목 정보 표시</a:t>
            </a:r>
            <a:r>
              <a:rPr lang="en-US" altLang="ko-KR" dirty="0"/>
              <a:t/>
            </a:r>
            <a:br>
              <a:rPr lang="en-US" altLang="ko-KR" dirty="0"/>
            </a:br>
            <a:r>
              <a:rPr lang="en-US" altLang="ko-KR" dirty="0"/>
              <a:t>- </a:t>
            </a:r>
            <a:r>
              <a:rPr lang="ko-KR" altLang="en-US" dirty="0" err="1"/>
              <a:t>현재일자가</a:t>
            </a:r>
            <a:r>
              <a:rPr lang="ko-KR" altLang="en-US" dirty="0"/>
              <a:t> </a:t>
            </a:r>
            <a:r>
              <a:rPr lang="ko-KR" altLang="en-US" dirty="0" err="1"/>
              <a:t>개찰일시</a:t>
            </a:r>
            <a:r>
              <a:rPr lang="ko-KR" altLang="en-US" dirty="0"/>
              <a:t> 이후일 경우 입찰진행현황 탭 표시</a:t>
            </a:r>
            <a:r>
              <a:rPr lang="en-US" altLang="ko-KR" dirty="0"/>
              <a:t/>
            </a:r>
            <a:br>
              <a:rPr lang="en-US" altLang="ko-KR" dirty="0"/>
            </a:br>
            <a:r>
              <a:rPr lang="en-US" altLang="ko-KR" dirty="0"/>
              <a:t>- </a:t>
            </a:r>
            <a:r>
              <a:rPr lang="ko-KR" altLang="en-US" dirty="0"/>
              <a:t>물품</a:t>
            </a:r>
            <a:r>
              <a:rPr lang="en-US" altLang="ko-KR" dirty="0"/>
              <a:t>/</a:t>
            </a:r>
            <a:r>
              <a:rPr lang="ko-KR" altLang="en-US" dirty="0"/>
              <a:t>용역 공고일 경우 </a:t>
            </a:r>
            <a:r>
              <a:rPr lang="ko-KR" altLang="en-US" dirty="0" err="1"/>
              <a:t>무효처리된</a:t>
            </a:r>
            <a:r>
              <a:rPr lang="ko-KR" altLang="en-US" dirty="0"/>
              <a:t> 공고 </a:t>
            </a:r>
            <a:r>
              <a:rPr lang="en-US" altLang="ko-KR" dirty="0"/>
              <a:t/>
            </a:r>
            <a:br>
              <a:rPr lang="en-US" altLang="ko-KR" dirty="0"/>
            </a:br>
            <a:r>
              <a:rPr lang="en-US" altLang="ko-KR" dirty="0" smtClean="0"/>
              <a:t>-</a:t>
            </a:r>
            <a:r>
              <a:rPr lang="ko-KR" altLang="en-US" dirty="0" err="1" smtClean="0"/>
              <a:t>계약방법이</a:t>
            </a:r>
            <a:r>
              <a:rPr lang="ko-KR" altLang="en-US" dirty="0" smtClean="0"/>
              <a:t> </a:t>
            </a:r>
            <a:r>
              <a:rPr lang="ko-KR" altLang="en-US" dirty="0"/>
              <a:t>‘</a:t>
            </a:r>
            <a:r>
              <a:rPr lang="ko-KR" altLang="en-US" dirty="0" err="1"/>
              <a:t>협상에의한계약</a:t>
            </a:r>
            <a:r>
              <a:rPr lang="en-US" altLang="ko-KR" dirty="0"/>
              <a:t>(</a:t>
            </a:r>
            <a:r>
              <a:rPr lang="ko-KR" altLang="en-US" dirty="0"/>
              <a:t>서류</a:t>
            </a:r>
            <a:r>
              <a:rPr lang="en-US" altLang="ko-KR" dirty="0"/>
              <a:t>)’</a:t>
            </a:r>
            <a:r>
              <a:rPr lang="ko-KR" altLang="en-US" dirty="0"/>
              <a:t>일 경우 탭 숨김</a:t>
            </a:r>
            <a:r>
              <a:rPr lang="en-US" altLang="ko-KR" dirty="0"/>
              <a:t/>
            </a:r>
            <a:br>
              <a:rPr lang="en-US" altLang="ko-KR" dirty="0"/>
            </a:br>
            <a:r>
              <a:rPr lang="en-US" altLang="ko-KR" dirty="0"/>
              <a:t>- </a:t>
            </a:r>
            <a:r>
              <a:rPr lang="ko-KR" altLang="en-US" dirty="0"/>
              <a:t>공사 공고일 경우 </a:t>
            </a:r>
            <a:r>
              <a:rPr lang="ko-KR" altLang="en-US" dirty="0" err="1"/>
              <a:t>무효처리된</a:t>
            </a:r>
            <a:r>
              <a:rPr lang="ko-KR" altLang="en-US" dirty="0"/>
              <a:t> 공고일 경우 탭 숨김</a:t>
            </a:r>
            <a:r>
              <a:rPr lang="en-US" altLang="ko-KR" dirty="0"/>
              <a:t/>
            </a:r>
            <a:br>
              <a:rPr lang="en-US" altLang="ko-KR" dirty="0"/>
            </a:br>
            <a:r>
              <a:rPr lang="en-US" altLang="ko-KR" dirty="0"/>
              <a:t>- </a:t>
            </a:r>
            <a:r>
              <a:rPr lang="ko-KR" altLang="en-US" dirty="0"/>
              <a:t>자료구분값이 </a:t>
            </a:r>
            <a:r>
              <a:rPr lang="ko-KR" altLang="en-US" dirty="0" err="1"/>
              <a:t>신자료</a:t>
            </a:r>
            <a:r>
              <a:rPr lang="en-US" altLang="ko-KR" dirty="0"/>
              <a:t>(‘Y’)</a:t>
            </a:r>
            <a:r>
              <a:rPr lang="ko-KR" altLang="en-US" dirty="0"/>
              <a:t>일 경우 </a:t>
            </a:r>
            <a:r>
              <a:rPr lang="en-US" altLang="ko-KR" dirty="0"/>
              <a:t>Tab</a:t>
            </a:r>
            <a:r>
              <a:rPr lang="ko-KR" altLang="en-US" dirty="0"/>
              <a:t>은 노출되지 않고 첨부파일로 대체되어 일반정보 </a:t>
            </a:r>
            <a:r>
              <a:rPr lang="en-US" altLang="ko-KR" dirty="0"/>
              <a:t>Tab</a:t>
            </a:r>
            <a:r>
              <a:rPr lang="ko-KR" altLang="en-US" dirty="0"/>
              <a:t>의 첨부서류 항목에서 조회</a:t>
            </a:r>
            <a:endParaRPr lang="en-US" altLang="ko-KR" dirty="0"/>
          </a:p>
          <a:p>
            <a:pPr>
              <a:buFont typeface="+mj-lt"/>
              <a:buAutoNum type="arabicPeriod"/>
            </a:pPr>
            <a:r>
              <a:rPr lang="ko-KR" altLang="en-US" dirty="0"/>
              <a:t>클릭 시 입찰결과상세화면으로 </a:t>
            </a:r>
            <a:r>
              <a:rPr lang="ko-KR" altLang="en-US" dirty="0" smtClean="0"/>
              <a:t>화면이동</a:t>
            </a:r>
            <a:r>
              <a:rPr lang="en-US" altLang="ko-KR" dirty="0" smtClean="0"/>
              <a:t>(MUI-BD-09-M01)</a:t>
            </a:r>
            <a:r>
              <a:rPr lang="en-US" altLang="ko-KR" dirty="0"/>
              <a:t/>
            </a:r>
            <a:br>
              <a:rPr lang="en-US" altLang="ko-KR" dirty="0"/>
            </a:br>
            <a:r>
              <a:rPr lang="en-US" altLang="ko-KR" dirty="0"/>
              <a:t>- </a:t>
            </a:r>
            <a:r>
              <a:rPr lang="ko-KR" altLang="en-US" dirty="0"/>
              <a:t>버튼 활성화 상태 </a:t>
            </a:r>
            <a:r>
              <a:rPr lang="en-US" altLang="ko-KR" dirty="0"/>
              <a:t>: </a:t>
            </a:r>
            <a:r>
              <a:rPr lang="ko-KR" altLang="en-US" dirty="0" err="1"/>
              <a:t>개찰완료</a:t>
            </a:r>
            <a:r>
              <a:rPr lang="en-US" altLang="ko-KR" dirty="0"/>
              <a:t>, </a:t>
            </a:r>
            <a:r>
              <a:rPr lang="ko-KR" altLang="en-US" dirty="0"/>
              <a:t>유찰</a:t>
            </a:r>
            <a:r>
              <a:rPr lang="en-US" altLang="ko-KR" dirty="0"/>
              <a:t/>
            </a:r>
            <a:br>
              <a:rPr lang="en-US" altLang="ko-KR" dirty="0"/>
            </a:br>
            <a:r>
              <a:rPr lang="en-US" altLang="ko-KR" dirty="0"/>
              <a:t>- </a:t>
            </a:r>
            <a:r>
              <a:rPr lang="ko-KR" altLang="en-US" dirty="0"/>
              <a:t>나머지 상태에서 버튼 </a:t>
            </a:r>
            <a:r>
              <a:rPr lang="ko-KR" altLang="en-US" dirty="0" smtClean="0"/>
              <a:t>비활성화</a:t>
            </a:r>
            <a:r>
              <a:rPr lang="en-US" altLang="ko-KR" dirty="0"/>
              <a:t/>
            </a:r>
            <a:br>
              <a:rPr lang="en-US" altLang="ko-KR" dirty="0"/>
            </a:br>
            <a:r>
              <a:rPr lang="en-US" altLang="ko-KR" dirty="0"/>
              <a:t>- </a:t>
            </a:r>
            <a:r>
              <a:rPr lang="ko-KR" altLang="en-US" dirty="0" smtClean="0"/>
              <a:t>입찰결과상세</a:t>
            </a:r>
            <a:r>
              <a:rPr lang="en-US" altLang="ko-KR" dirty="0" smtClean="0"/>
              <a:t>-&gt;</a:t>
            </a:r>
            <a:r>
              <a:rPr lang="ko-KR" altLang="en-US" dirty="0" smtClean="0"/>
              <a:t>일반정보 탭으로 이동</a:t>
            </a:r>
            <a:r>
              <a:rPr lang="en-US" altLang="ko-KR" dirty="0"/>
              <a:t>(MUI-BD-09-M01)</a:t>
            </a:r>
            <a:endParaRPr lang="ko-KR" altLang="en-US" dirty="0"/>
          </a:p>
          <a:p>
            <a:pPr>
              <a:buFont typeface="+mj-lt"/>
              <a:buAutoNum type="arabicPeriod"/>
            </a:pPr>
            <a:r>
              <a:rPr lang="ko-KR" altLang="en-US" dirty="0"/>
              <a:t>항목이 더 있는 경우</a:t>
            </a:r>
            <a:r>
              <a:rPr lang="en-US" altLang="ko-KR" dirty="0"/>
              <a:t/>
            </a:r>
            <a:br>
              <a:rPr lang="en-US" altLang="ko-KR" dirty="0"/>
            </a:br>
            <a:r>
              <a:rPr lang="en-US" altLang="ko-KR" dirty="0"/>
              <a:t>- </a:t>
            </a:r>
            <a:r>
              <a:rPr lang="ko-KR" altLang="en-US" dirty="0"/>
              <a:t>항목이 여러 개인 경우 하단으로 테이블 추가하여 </a:t>
            </a:r>
            <a:r>
              <a:rPr lang="ko-KR" altLang="en-US" dirty="0" smtClean="0"/>
              <a:t>노출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입찰공고상세 </a:t>
            </a:r>
            <a:r>
              <a:rPr lang="en-US" altLang="ko-KR" dirty="0">
                <a:latin typeface="+mn-ea"/>
              </a:rPr>
              <a:t>- </a:t>
            </a:r>
            <a:r>
              <a:rPr lang="ko-KR" altLang="en-US" dirty="0" smtClean="0">
                <a:latin typeface="+mn-ea"/>
              </a:rPr>
              <a:t>입찰진행현황</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입찰진행현황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입찰진행현황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MUI-BD-01-T06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035095" cy="181140"/>
          </a:xfrm>
          <a:prstGeom prst="rect">
            <a:avLst/>
          </a:prstGeom>
          <a:noFill/>
        </p:spPr>
        <p:txBody>
          <a:bodyPr wrap="square" lIns="0" tIns="0" rIns="0" bIns="0" rtlCol="0">
            <a:spAutoFit/>
          </a:bodyPr>
          <a:lstStyle/>
          <a:p>
            <a:pPr>
              <a:lnSpc>
                <a:spcPct val="200000"/>
              </a:lnSpc>
            </a:pPr>
            <a:r>
              <a:rPr lang="ko-KR" altLang="en-US" sz="700" dirty="0">
                <a:latin typeface="+mn-ea"/>
              </a:rPr>
              <a:t>입찰진행현황</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43" name="사각형: 둥근 모서리 15">
            <a:extLst>
              <a:ext uri="{FF2B5EF4-FFF2-40B4-BE49-F238E27FC236}">
                <a16:creationId xmlns:a16="http://schemas.microsoft.com/office/drawing/2014/main" id="{E2B61CFB-AD16-68D0-8752-50D9C5E01971}"/>
              </a:ext>
            </a:extLst>
          </p:cNvPr>
          <p:cNvSpPr/>
          <p:nvPr/>
        </p:nvSpPr>
        <p:spPr>
          <a:xfrm>
            <a:off x="711214" y="3181432"/>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입찰결과 </a:t>
            </a:r>
            <a:r>
              <a:rPr kumimoji="1" lang="ko-KR" altLang="en-US" sz="800" kern="0" dirty="0" err="1">
                <a:latin typeface="맑은 고딕"/>
                <a:ea typeface="맑은 고딕" panose="020B0503020000020004" pitchFamily="50" charset="-127"/>
              </a:rPr>
              <a:t>바로가기</a:t>
            </a:r>
            <a:endParaRPr kumimoji="1" lang="en-US" sz="800" b="0" i="0" u="none" strike="noStrike" kern="0" cap="none" spc="0" normalizeH="0" baseline="0" noProof="0" dirty="0">
              <a:ln>
                <a:noFill/>
              </a:ln>
              <a:effectLst/>
              <a:uLnTx/>
              <a:uFillTx/>
              <a:latin typeface="맑은 고딕"/>
            </a:endParaRPr>
          </a:p>
        </p:txBody>
      </p:sp>
      <p:cxnSp>
        <p:nvCxnSpPr>
          <p:cNvPr id="45" name="직선 연결선 44">
            <a:extLst>
              <a:ext uri="{FF2B5EF4-FFF2-40B4-BE49-F238E27FC236}">
                <a16:creationId xmlns:a16="http://schemas.microsoft.com/office/drawing/2014/main" id="{E9293055-D5CD-4B9E-7F64-64B2D2CA7A52}"/>
              </a:ext>
            </a:extLst>
          </p:cNvPr>
          <p:cNvCxnSpPr/>
          <p:nvPr/>
        </p:nvCxnSpPr>
        <p:spPr>
          <a:xfrm>
            <a:off x="675400" y="5361569"/>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835481"/>
            <a:ext cx="2630093" cy="1615535"/>
            <a:chOff x="3821510" y="1835481"/>
            <a:chExt cx="2630093" cy="1615535"/>
          </a:xfrm>
        </p:grpSpPr>
        <p:sp>
          <p:nvSpPr>
            <p:cNvPr id="53" name="직사각형 52"/>
            <p:cNvSpPr/>
            <p:nvPr/>
          </p:nvSpPr>
          <p:spPr>
            <a:xfrm>
              <a:off x="3823603" y="1835482"/>
              <a:ext cx="792000" cy="12926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TextBox 53">
              <a:extLst>
                <a:ext uri="{FF2B5EF4-FFF2-40B4-BE49-F238E27FC236}">
                  <a16:creationId xmlns:a16="http://schemas.microsoft.com/office/drawing/2014/main" id="{FFC49AEA-2A8F-250C-A86A-A7751D9706C3}"/>
                </a:ext>
              </a:extLst>
            </p:cNvPr>
            <p:cNvSpPr txBox="1"/>
            <p:nvPr/>
          </p:nvSpPr>
          <p:spPr>
            <a:xfrm>
              <a:off x="3910665" y="1835481"/>
              <a:ext cx="823463"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재입찰자수</a:t>
              </a:r>
              <a:endParaRPr lang="en-US" altLang="ko-KR" sz="700" dirty="0">
                <a:latin typeface="+mn-ea"/>
              </a:endParaRPr>
            </a:p>
            <a:p>
              <a:pPr>
                <a:lnSpc>
                  <a:spcPct val="200000"/>
                </a:lnSpc>
              </a:pPr>
              <a:r>
                <a:rPr lang="ko-KR" altLang="en-US" sz="700" dirty="0" err="1" smtClean="0">
                  <a:latin typeface="+mn-ea"/>
                </a:rPr>
                <a:t>항목번호</a:t>
              </a:r>
              <a:endParaRPr lang="en-US" altLang="ko-KR" sz="700" dirty="0" smtClean="0">
                <a:latin typeface="+mn-ea"/>
              </a:endParaRPr>
            </a:p>
            <a:p>
              <a:pPr>
                <a:lnSpc>
                  <a:spcPct val="200000"/>
                </a:lnSpc>
              </a:pPr>
              <a:r>
                <a:rPr lang="ko-KR" altLang="en-US" sz="700" dirty="0" smtClean="0">
                  <a:latin typeface="+mn-ea"/>
                </a:rPr>
                <a:t>입찰서제출마감일시</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진행상태</a:t>
              </a:r>
            </a:p>
          </p:txBody>
        </p:sp>
        <p:sp>
          <p:nvSpPr>
            <p:cNvPr id="55" name="TextBox 54">
              <a:extLst>
                <a:ext uri="{FF2B5EF4-FFF2-40B4-BE49-F238E27FC236}">
                  <a16:creationId xmlns:a16="http://schemas.microsoft.com/office/drawing/2014/main" id="{FFC49AEA-2A8F-250C-A86A-A7751D9706C3}"/>
                </a:ext>
              </a:extLst>
            </p:cNvPr>
            <p:cNvSpPr txBox="1"/>
            <p:nvPr/>
          </p:nvSpPr>
          <p:spPr>
            <a:xfrm>
              <a:off x="4667515" y="1835481"/>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1234</a:t>
              </a:r>
            </a:p>
            <a:p>
              <a:pPr>
                <a:lnSpc>
                  <a:spcPct val="200000"/>
                </a:lnSpc>
              </a:pPr>
              <a:r>
                <a:rPr lang="en-US" altLang="ko-KR" sz="700" dirty="0">
                  <a:latin typeface="+mn-ea"/>
                </a:rPr>
                <a:t>50 </a:t>
              </a:r>
              <a:r>
                <a:rPr lang="ko-KR" altLang="en-US" sz="700" dirty="0">
                  <a:latin typeface="+mn-ea"/>
                </a:rPr>
                <a:t>명</a:t>
              </a:r>
              <a:endParaRPr lang="en-US" altLang="ko-KR" sz="700" dirty="0">
                <a:latin typeface="+mn-ea"/>
              </a:endParaRPr>
            </a:p>
            <a:p>
              <a:pPr>
                <a:lnSpc>
                  <a:spcPct val="200000"/>
                </a:lnSpc>
              </a:pPr>
              <a:r>
                <a:rPr lang="en-US" altLang="ko-KR" sz="700" dirty="0">
                  <a:latin typeface="+mn-ea"/>
                </a:rPr>
                <a:t>000 000 </a:t>
              </a:r>
              <a:r>
                <a:rPr lang="en-US" altLang="ko-KR" sz="700" dirty="0" smtClean="0">
                  <a:latin typeface="+mn-ea"/>
                </a:rPr>
                <a:t>0000</a:t>
              </a:r>
            </a:p>
            <a:p>
              <a:pPr>
                <a:lnSpc>
                  <a:spcPct val="200000"/>
                </a:lnSpc>
              </a:pPr>
              <a:r>
                <a:rPr lang="en-US" altLang="ko-KR" sz="700" dirty="0" smtClean="0">
                  <a:solidFill>
                    <a:schemeClr val="tx1">
                      <a:lumMod val="85000"/>
                      <a:lumOff val="15000"/>
                    </a:schemeClr>
                  </a:solidFill>
                  <a:latin typeface="맑은 고딕" panose="020B0503020000020004" pitchFamily="50" charset="-127"/>
                </a:rPr>
                <a:t>2025-12-25 </a:t>
              </a:r>
              <a:r>
                <a:rPr lang="en-US" altLang="ko-KR" sz="700" dirty="0">
                  <a:solidFill>
                    <a:schemeClr val="tx1">
                      <a:lumMod val="85000"/>
                      <a:lumOff val="15000"/>
                    </a:schemeClr>
                  </a:solidFill>
                  <a:latin typeface="맑은 고딕" panose="020B0503020000020004" pitchFamily="50" charset="-127"/>
                </a:rPr>
                <a:t>10:30</a:t>
              </a:r>
            </a:p>
            <a:p>
              <a:pPr>
                <a:lnSpc>
                  <a:spcPct val="200000"/>
                </a:lnSpc>
              </a:pPr>
              <a:r>
                <a:rPr lang="en-US" altLang="ko-KR" sz="700" dirty="0">
                  <a:solidFill>
                    <a:schemeClr val="tx1">
                      <a:lumMod val="85000"/>
                      <a:lumOff val="15000"/>
                    </a:schemeClr>
                  </a:solidFill>
                  <a:latin typeface="맑은 고딕" panose="020B0503020000020004" pitchFamily="50" charset="-127"/>
                </a:rPr>
                <a:t>2025-12-25 10:30</a:t>
              </a:r>
            </a:p>
            <a:p>
              <a:pPr>
                <a:lnSpc>
                  <a:spcPct val="200000"/>
                </a:lnSpc>
              </a:pPr>
              <a:r>
                <a:rPr lang="ko-KR" altLang="en-US" sz="700" dirty="0" err="1">
                  <a:latin typeface="+mn-ea"/>
                </a:rPr>
                <a:t>개찰완료</a:t>
              </a:r>
              <a:endParaRPr lang="en-US" altLang="ko-KR" sz="700" dirty="0">
                <a:latin typeface="+mn-ea"/>
              </a:endParaRPr>
            </a:p>
          </p:txBody>
        </p:sp>
        <p:grpSp>
          <p:nvGrpSpPr>
            <p:cNvPr id="56" name="그룹 55"/>
            <p:cNvGrpSpPr/>
            <p:nvPr/>
          </p:nvGrpSpPr>
          <p:grpSpPr>
            <a:xfrm>
              <a:off x="3821510" y="1835481"/>
              <a:ext cx="2630093" cy="1615535"/>
              <a:chOff x="701175" y="1835481"/>
              <a:chExt cx="2630093" cy="1615535"/>
            </a:xfrm>
          </p:grpSpPr>
          <p:cxnSp>
            <p:nvCxnSpPr>
              <p:cNvPr id="57" name="직선 연결선 5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직선 연결선 5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9" name="직선 연결선 5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0" name="직선 연결선 5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1" name="직선 연결선 6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3" name="직선 연결선 6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4" name="직선 연결선 63">
                <a:extLst>
                  <a:ext uri="{FF2B5EF4-FFF2-40B4-BE49-F238E27FC236}">
                    <a16:creationId xmlns:a16="http://schemas.microsoft.com/office/drawing/2014/main" id="{E9293055-D5CD-4B9E-7F64-64B2D2CA7A52}"/>
                  </a:ext>
                </a:extLst>
              </p:cNvPr>
              <p:cNvCxnSpPr/>
              <p:nvPr/>
            </p:nvCxnSpPr>
            <p:spPr>
              <a:xfrm>
                <a:off x="703268" y="34510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41" name="타원 40">
            <a:extLst>
              <a:ext uri="{FF2B5EF4-FFF2-40B4-BE49-F238E27FC236}">
                <a16:creationId xmlns:a16="http://schemas.microsoft.com/office/drawing/2014/main" id="{37A7FF4F-0EAA-1463-560A-D5EC24416103}"/>
              </a:ext>
            </a:extLst>
          </p:cNvPr>
          <p:cNvSpPr/>
          <p:nvPr/>
        </p:nvSpPr>
        <p:spPr>
          <a:xfrm>
            <a:off x="571127" y="343032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82" name="사각형: 둥근 모서리 15">
            <a:extLst>
              <a:ext uri="{FF2B5EF4-FFF2-40B4-BE49-F238E27FC236}">
                <a16:creationId xmlns:a16="http://schemas.microsoft.com/office/drawing/2014/main" id="{E2B61CFB-AD16-68D0-8752-50D9C5E01971}"/>
              </a:ext>
            </a:extLst>
          </p:cNvPr>
          <p:cNvSpPr/>
          <p:nvPr/>
        </p:nvSpPr>
        <p:spPr>
          <a:xfrm>
            <a:off x="711214" y="509628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입찰결과 </a:t>
            </a:r>
            <a:r>
              <a:rPr kumimoji="1" lang="ko-KR" altLang="en-US" sz="800" kern="0" dirty="0" err="1">
                <a:latin typeface="맑은 고딕"/>
                <a:ea typeface="맑은 고딕" panose="020B0503020000020004" pitchFamily="50" charset="-127"/>
              </a:rPr>
              <a:t>바로가기</a:t>
            </a:r>
            <a:endParaRPr kumimoji="1" lang="en-US" sz="800" b="0" i="0" u="none" strike="noStrike" kern="0" cap="none" spc="0" normalizeH="0" baseline="0" noProof="0" dirty="0">
              <a:ln>
                <a:noFill/>
              </a:ln>
              <a:effectLst/>
              <a:uLnTx/>
              <a:uFillTx/>
              <a:latin typeface="맑은 고딕"/>
            </a:endParaRPr>
          </a:p>
        </p:txBody>
      </p:sp>
      <p:grpSp>
        <p:nvGrpSpPr>
          <p:cNvPr id="83" name="그룹 82"/>
          <p:cNvGrpSpPr/>
          <p:nvPr/>
        </p:nvGrpSpPr>
        <p:grpSpPr>
          <a:xfrm>
            <a:off x="716366" y="3757452"/>
            <a:ext cx="2630093" cy="1292662"/>
            <a:chOff x="3821510" y="1835481"/>
            <a:chExt cx="2630093" cy="1292662"/>
          </a:xfrm>
        </p:grpSpPr>
        <p:sp>
          <p:nvSpPr>
            <p:cNvPr id="84" name="직사각형 83"/>
            <p:cNvSpPr/>
            <p:nvPr/>
          </p:nvSpPr>
          <p:spPr>
            <a:xfrm>
              <a:off x="3823603" y="1835482"/>
              <a:ext cx="792000" cy="12926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5" name="TextBox 84">
              <a:extLst>
                <a:ext uri="{FF2B5EF4-FFF2-40B4-BE49-F238E27FC236}">
                  <a16:creationId xmlns:a16="http://schemas.microsoft.com/office/drawing/2014/main" id="{FFC49AEA-2A8F-250C-A86A-A7751D9706C3}"/>
                </a:ext>
              </a:extLst>
            </p:cNvPr>
            <p:cNvSpPr txBox="1"/>
            <p:nvPr/>
          </p:nvSpPr>
          <p:spPr>
            <a:xfrm>
              <a:off x="3910665" y="1835481"/>
              <a:ext cx="823463"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재입찰자수</a:t>
              </a:r>
              <a:endParaRPr lang="en-US" altLang="ko-KR" sz="700" dirty="0">
                <a:latin typeface="+mn-ea"/>
              </a:endParaRPr>
            </a:p>
            <a:p>
              <a:pPr>
                <a:lnSpc>
                  <a:spcPct val="200000"/>
                </a:lnSpc>
              </a:pPr>
              <a:r>
                <a:rPr lang="ko-KR" altLang="en-US" sz="700" dirty="0" err="1" smtClean="0">
                  <a:latin typeface="+mn-ea"/>
                </a:rPr>
                <a:t>항목번호</a:t>
              </a:r>
              <a:endParaRPr lang="en-US" altLang="ko-KR" sz="700" dirty="0">
                <a:latin typeface="+mn-ea"/>
              </a:endParaRPr>
            </a:p>
            <a:p>
              <a:pPr>
                <a:lnSpc>
                  <a:spcPct val="200000"/>
                </a:lnSpc>
              </a:pPr>
              <a:r>
                <a:rPr lang="ko-KR" altLang="en-US" sz="700" dirty="0">
                  <a:latin typeface="+mn-ea"/>
                </a:rPr>
                <a:t>입찰서제출마감일시</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진행상태</a:t>
              </a:r>
            </a:p>
          </p:txBody>
        </p:sp>
        <p:sp>
          <p:nvSpPr>
            <p:cNvPr id="86" name="TextBox 85">
              <a:extLst>
                <a:ext uri="{FF2B5EF4-FFF2-40B4-BE49-F238E27FC236}">
                  <a16:creationId xmlns:a16="http://schemas.microsoft.com/office/drawing/2014/main" id="{FFC49AEA-2A8F-250C-A86A-A7751D9706C3}"/>
                </a:ext>
              </a:extLst>
            </p:cNvPr>
            <p:cNvSpPr txBox="1"/>
            <p:nvPr/>
          </p:nvSpPr>
          <p:spPr>
            <a:xfrm>
              <a:off x="4667515" y="1835481"/>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5678</a:t>
              </a:r>
            </a:p>
            <a:p>
              <a:pPr>
                <a:lnSpc>
                  <a:spcPct val="200000"/>
                </a:lnSpc>
              </a:pPr>
              <a:r>
                <a:rPr lang="en-US" altLang="ko-KR" sz="700" dirty="0">
                  <a:latin typeface="+mn-ea"/>
                </a:rPr>
                <a:t>100 </a:t>
              </a:r>
              <a:r>
                <a:rPr lang="ko-KR" altLang="en-US" sz="700" dirty="0">
                  <a:latin typeface="+mn-ea"/>
                </a:rPr>
                <a:t>명</a:t>
              </a:r>
              <a:endParaRPr lang="en-US" altLang="ko-KR" sz="700" dirty="0">
                <a:latin typeface="+mn-ea"/>
              </a:endParaRPr>
            </a:p>
            <a:p>
              <a:pPr>
                <a:lnSpc>
                  <a:spcPct val="200000"/>
                </a:lnSpc>
              </a:pPr>
              <a:r>
                <a:rPr lang="en-US" altLang="ko-KR" sz="700" dirty="0">
                  <a:latin typeface="+mn-ea"/>
                </a:rPr>
                <a:t>000 000 0000</a:t>
              </a:r>
            </a:p>
            <a:p>
              <a:pPr>
                <a:lnSpc>
                  <a:spcPct val="200000"/>
                </a:lnSpc>
              </a:pPr>
              <a:r>
                <a:rPr lang="en-US" altLang="ko-KR" sz="700" dirty="0" smtClean="0">
                  <a:solidFill>
                    <a:schemeClr val="tx1">
                      <a:lumMod val="85000"/>
                      <a:lumOff val="15000"/>
                    </a:schemeClr>
                  </a:solidFill>
                  <a:latin typeface="맑은 고딕" panose="020B0503020000020004" pitchFamily="50" charset="-127"/>
                </a:rPr>
                <a:t>2025-12-25 </a:t>
              </a:r>
              <a:r>
                <a:rPr lang="en-US" altLang="ko-KR" sz="700" dirty="0">
                  <a:solidFill>
                    <a:schemeClr val="tx1">
                      <a:lumMod val="85000"/>
                      <a:lumOff val="15000"/>
                    </a:schemeClr>
                  </a:solidFill>
                  <a:latin typeface="맑은 고딕" panose="020B0503020000020004" pitchFamily="50" charset="-127"/>
                </a:rPr>
                <a:t>10:30</a:t>
              </a:r>
            </a:p>
            <a:p>
              <a:pPr>
                <a:lnSpc>
                  <a:spcPct val="200000"/>
                </a:lnSpc>
              </a:pPr>
              <a:r>
                <a:rPr lang="en-US" altLang="ko-KR" sz="700" dirty="0">
                  <a:solidFill>
                    <a:schemeClr val="tx1">
                      <a:lumMod val="85000"/>
                      <a:lumOff val="15000"/>
                    </a:schemeClr>
                  </a:solidFill>
                  <a:latin typeface="맑은 고딕" panose="020B0503020000020004" pitchFamily="50" charset="-127"/>
                </a:rPr>
                <a:t>2025-12-25 10:30</a:t>
              </a:r>
            </a:p>
            <a:p>
              <a:pPr>
                <a:lnSpc>
                  <a:spcPct val="200000"/>
                </a:lnSpc>
              </a:pPr>
              <a:r>
                <a:rPr lang="ko-KR" altLang="en-US" sz="700" dirty="0">
                  <a:latin typeface="+mn-ea"/>
                </a:rPr>
                <a:t>유찰</a:t>
              </a:r>
              <a:endParaRPr lang="en-US" altLang="ko-KR" sz="700" dirty="0">
                <a:latin typeface="+mn-ea"/>
              </a:endParaRPr>
            </a:p>
          </p:txBody>
        </p:sp>
        <p:grpSp>
          <p:nvGrpSpPr>
            <p:cNvPr id="87" name="그룹 86"/>
            <p:cNvGrpSpPr/>
            <p:nvPr/>
          </p:nvGrpSpPr>
          <p:grpSpPr>
            <a:xfrm>
              <a:off x="3821510" y="1835481"/>
              <a:ext cx="2630093" cy="1288440"/>
              <a:chOff x="701175" y="1835481"/>
              <a:chExt cx="2630093" cy="1288440"/>
            </a:xfrm>
          </p:grpSpPr>
          <p:cxnSp>
            <p:nvCxnSpPr>
              <p:cNvPr id="88" name="직선 연결선 8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96" name="타원 95">
            <a:extLst>
              <a:ext uri="{FF2B5EF4-FFF2-40B4-BE49-F238E27FC236}">
                <a16:creationId xmlns:a16="http://schemas.microsoft.com/office/drawing/2014/main" id="{37A7FF4F-0EAA-1463-560A-D5EC24416103}"/>
              </a:ext>
            </a:extLst>
          </p:cNvPr>
          <p:cNvSpPr/>
          <p:nvPr/>
        </p:nvSpPr>
        <p:spPr>
          <a:xfrm>
            <a:off x="571127" y="36641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22506320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72</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6" name="Text Box 73">
            <a:extLst>
              <a:ext uri="{FF2B5EF4-FFF2-40B4-BE49-F238E27FC236}">
                <a16:creationId xmlns:a16="http://schemas.microsoft.com/office/drawing/2014/main" id="{46580F3C-298C-6A2D-A867-6791062FB12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D2898AB1-8736-AB97-26CD-6A60F05FD8FF}"/>
              </a:ext>
            </a:extLst>
          </p:cNvPr>
          <p:cNvSpPr txBox="1"/>
          <p:nvPr/>
        </p:nvSpPr>
        <p:spPr>
          <a:xfrm>
            <a:off x="458117" y="804907"/>
            <a:ext cx="2663156"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입찰진행현황</a:t>
            </a:r>
            <a:r>
              <a:rPr lang="ko-KR" altLang="en-US" sz="900" dirty="0">
                <a:latin typeface="+mn-ea"/>
                <a:ea typeface="+mn-ea"/>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dlt_BidPrgrsPrst</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88661"/>
          <a:ext cx="8994883" cy="1723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15310">
                  <a:extLst>
                    <a:ext uri="{9D8B030D-6E8A-4147-A177-3AD203B41FA5}">
                      <a16:colId xmlns:a16="http://schemas.microsoft.com/office/drawing/2014/main" val="20001"/>
                    </a:ext>
                  </a:extLst>
                </a:gridCol>
                <a:gridCol w="383177">
                  <a:extLst>
                    <a:ext uri="{9D8B030D-6E8A-4147-A177-3AD203B41FA5}">
                      <a16:colId xmlns:a16="http://schemas.microsoft.com/office/drawing/2014/main" val="20002"/>
                    </a:ext>
                  </a:extLst>
                </a:gridCol>
                <a:gridCol w="505097">
                  <a:extLst>
                    <a:ext uri="{9D8B030D-6E8A-4147-A177-3AD203B41FA5}">
                      <a16:colId xmlns:a16="http://schemas.microsoft.com/office/drawing/2014/main" val="20003"/>
                    </a:ext>
                  </a:extLst>
                </a:gridCol>
                <a:gridCol w="496388">
                  <a:extLst>
                    <a:ext uri="{9D8B030D-6E8A-4147-A177-3AD203B41FA5}">
                      <a16:colId xmlns:a16="http://schemas.microsoft.com/office/drawing/2014/main" val="20004"/>
                    </a:ext>
                  </a:extLst>
                </a:gridCol>
                <a:gridCol w="244619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재입찰차수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rebidCycl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재입찰차수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748862"/>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4891604"/>
                  </a:ext>
                </a:extLst>
              </a:tr>
              <a:tr h="0">
                <a:tc>
                  <a:txBody>
                    <a:bodyPr/>
                    <a:lstStyle/>
                    <a:p>
                      <a:pPr latinLnBrk="1"/>
                      <a:r>
                        <a:rPr lang="ko-KR" altLang="en-US" sz="800" dirty="0">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yyyy</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-mm-dd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hh:mm</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9603275"/>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yyyy</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-mm-dd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hh:mm</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9705551"/>
                  </a:ext>
                </a:extLst>
              </a:tr>
              <a:tr h="0">
                <a:tc>
                  <a:txBody>
                    <a:bodyPr/>
                    <a:lstStyle/>
                    <a:p>
                      <a:pPr latinLnBrk="1"/>
                      <a:r>
                        <a:rPr lang="ko-KR" altLang="en-US" sz="800" dirty="0">
                          <a:latin typeface="+mn-ea"/>
                          <a:ea typeface="+mn-ea"/>
                        </a:rPr>
                        <a:t>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bidStatNm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진행상태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 </a:t>
                      </a:r>
                      <a:r>
                        <a:rPr lang="en-US" altLang="ko-KR" sz="800" dirty="0">
                          <a:latin typeface="+mn-ea"/>
                          <a:ea typeface="+mn-ea"/>
                        </a:rPr>
                        <a:t>As-Is Alias </a:t>
                      </a:r>
                      <a:r>
                        <a:rPr lang="ko-KR" altLang="en-US" sz="800" dirty="0">
                          <a:latin typeface="+mn-ea"/>
                          <a:ea typeface="+mn-ea"/>
                        </a:rPr>
                        <a:t>항목 </a:t>
                      </a:r>
                      <a:endParaRPr lang="en-US" altLang="ko-KR" sz="800" dirty="0">
                        <a:latin typeface="+mn-ea"/>
                        <a:ea typeface="+mn-ea"/>
                      </a:endParaRPr>
                    </a:p>
                    <a:p>
                      <a:pPr marL="0" indent="0" algn="l" latinLnBrk="1">
                        <a:buFontTx/>
                        <a:buNone/>
                      </a:pPr>
                      <a:r>
                        <a:rPr lang="en-US" altLang="ko-KR" sz="800" dirty="0">
                          <a:latin typeface="+mn-ea"/>
                          <a:ea typeface="+mn-ea"/>
                        </a:rPr>
                        <a:t>- WTB_PDB316.</a:t>
                      </a:r>
                      <a:r>
                        <a:rPr lang="ko-KR" altLang="en-US" sz="800" dirty="0" err="1">
                          <a:latin typeface="+mn-ea"/>
                          <a:ea typeface="+mn-ea"/>
                        </a:rPr>
                        <a:t>입찰철</a:t>
                      </a:r>
                      <a:r>
                        <a:rPr lang="ko-KR" altLang="en-US" sz="800" dirty="0">
                          <a:latin typeface="+mn-ea"/>
                          <a:ea typeface="+mn-ea"/>
                        </a:rPr>
                        <a:t>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err="1">
                          <a:latin typeface="+mn-ea"/>
                          <a:ea typeface="+mn-ea"/>
                        </a:rPr>
                        <a:t>개찰전</a:t>
                      </a:r>
                      <a:r>
                        <a:rPr lang="en-US" altLang="ko-KR" sz="800" dirty="0">
                          <a:latin typeface="+mn-ea"/>
                          <a:ea typeface="+mn-ea"/>
                        </a:rPr>
                        <a:t>’, ‘</a:t>
                      </a:r>
                      <a:r>
                        <a:rPr lang="ko-KR" altLang="en-US" sz="800" dirty="0">
                          <a:latin typeface="+mn-ea"/>
                          <a:ea typeface="+mn-ea"/>
                        </a:rPr>
                        <a:t>개찰완료</a:t>
                      </a:r>
                      <a:r>
                        <a:rPr lang="en-US" altLang="ko-KR" sz="800" dirty="0">
                          <a:latin typeface="+mn-ea"/>
                          <a:ea typeface="+mn-ea"/>
                        </a:rPr>
                        <a:t>’</a:t>
                      </a:r>
                    </a:p>
                    <a:p>
                      <a:pPr marL="0" indent="0" algn="l" latinLnBrk="1">
                        <a:buFontTx/>
                        <a:buNone/>
                      </a:pPr>
                      <a:r>
                        <a:rPr lang="en-US" altLang="ko-KR" sz="800" dirty="0">
                          <a:latin typeface="+mn-ea"/>
                          <a:ea typeface="+mn-ea"/>
                        </a:rPr>
                        <a:t>- WTB_PDB905.</a:t>
                      </a:r>
                      <a:r>
                        <a:rPr lang="ko-KR" altLang="en-US" sz="800" dirty="0">
                          <a:latin typeface="+mn-ea"/>
                          <a:ea typeface="+mn-ea"/>
                        </a:rPr>
                        <a:t>재입찰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a:latin typeface="+mn-ea"/>
                          <a:ea typeface="+mn-ea"/>
                        </a:rPr>
                        <a:t>재입찰</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7760235"/>
                  </a:ext>
                </a:extLst>
              </a:tr>
            </a:tbl>
          </a:graphicData>
        </a:graphic>
      </p:graphicFrame>
      <p:graphicFrame>
        <p:nvGraphicFramePr>
          <p:cNvPr id="17" name="표 16">
            <a:extLst>
              <a:ext uri="{FF2B5EF4-FFF2-40B4-BE49-F238E27FC236}">
                <a16:creationId xmlns:a16="http://schemas.microsoft.com/office/drawing/2014/main" id="{DA8ADA3F-B9DA-2E61-D10A-0A023381A65A}"/>
              </a:ext>
            </a:extLst>
          </p:cNvPr>
          <p:cNvGraphicFramePr>
            <a:graphicFrameLocks noGrp="1"/>
          </p:cNvGraphicFramePr>
          <p:nvPr/>
        </p:nvGraphicFramePr>
        <p:xfrm>
          <a:off x="453000" y="3468049"/>
          <a:ext cx="8995591" cy="703680"/>
        </p:xfrm>
        <a:graphic>
          <a:graphicData uri="http://schemas.openxmlformats.org/drawingml/2006/table">
            <a:tbl>
              <a:tblPr>
                <a:tableStyleId>{616DA210-FB5B-4158-B5E0-FEB733F419BA}</a:tableStyleId>
              </a:tblPr>
              <a:tblGrid>
                <a:gridCol w="1114543">
                  <a:extLst>
                    <a:ext uri="{9D8B030D-6E8A-4147-A177-3AD203B41FA5}">
                      <a16:colId xmlns:a16="http://schemas.microsoft.com/office/drawing/2014/main" val="20000"/>
                    </a:ext>
                  </a:extLst>
                </a:gridCol>
                <a:gridCol w="1140031">
                  <a:extLst>
                    <a:ext uri="{9D8B030D-6E8A-4147-A177-3AD203B41FA5}">
                      <a16:colId xmlns:a16="http://schemas.microsoft.com/office/drawing/2014/main" val="624624882"/>
                    </a:ext>
                  </a:extLst>
                </a:gridCol>
                <a:gridCol w="3876106">
                  <a:extLst>
                    <a:ext uri="{9D8B030D-6E8A-4147-A177-3AD203B41FA5}">
                      <a16:colId xmlns:a16="http://schemas.microsoft.com/office/drawing/2014/main" val="20001"/>
                    </a:ext>
                  </a:extLst>
                </a:gridCol>
                <a:gridCol w="2864911">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rPr>
                        <a:t>바로가기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Scwin.btn_BidPrgrsPrstRslt_onclick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입찰결과상세화면으로 이동 처리한다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 </a:t>
                      </a:r>
                      <a:r>
                        <a:rPr lang="ko-KR" altLang="en-US" sz="800" dirty="0">
                          <a:latin typeface="+mn-ea"/>
                          <a:ea typeface="+mn-ea"/>
                        </a:rPr>
                        <a:t>입찰진행상태가 </a:t>
                      </a:r>
                      <a:r>
                        <a:rPr lang="en-US" altLang="ko-KR" sz="800" dirty="0">
                          <a:latin typeface="+mn-ea"/>
                          <a:ea typeface="+mn-ea"/>
                        </a:rPr>
                        <a:t>‘</a:t>
                      </a:r>
                      <a:r>
                        <a:rPr lang="ko-KR" altLang="en-US" sz="800" dirty="0">
                          <a:latin typeface="+mn-ea"/>
                          <a:ea typeface="+mn-ea"/>
                        </a:rPr>
                        <a:t>개찰완료</a:t>
                      </a:r>
                      <a:r>
                        <a:rPr lang="en-US" altLang="ko-KR" sz="800" dirty="0">
                          <a:latin typeface="+mn-ea"/>
                          <a:ea typeface="+mn-ea"/>
                        </a:rPr>
                        <a:t>‘, ‘</a:t>
                      </a:r>
                      <a:r>
                        <a:rPr lang="ko-KR" altLang="en-US" sz="800" dirty="0">
                          <a:latin typeface="+mn-ea"/>
                          <a:ea typeface="+mn-ea"/>
                        </a:rPr>
                        <a:t>유찰</a:t>
                      </a:r>
                      <a:r>
                        <a:rPr lang="en-US" altLang="ko-KR" sz="800" dirty="0">
                          <a:latin typeface="+mn-ea"/>
                          <a:ea typeface="+mn-ea"/>
                        </a:rPr>
                        <a:t>‘ </a:t>
                      </a:r>
                      <a:r>
                        <a:rPr lang="ko-KR" altLang="en-US" sz="800" dirty="0">
                          <a:latin typeface="+mn-ea"/>
                          <a:ea typeface="+mn-ea"/>
                        </a:rPr>
                        <a:t>상태일 경우 활성화처리</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a:t>
                      </a:r>
                      <a:r>
                        <a:rPr lang="en-US" altLang="ko-KR" sz="800" dirty="0"/>
                        <a:t>UI-BD-09-M01 </a:t>
                      </a:r>
                      <a:r>
                        <a:rPr lang="ko-KR" altLang="en-US" sz="800" dirty="0" err="1"/>
                        <a:t>입찰결과상세</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bl>
          </a:graphicData>
        </a:graphic>
      </p:graphicFrame>
      <p:sp>
        <p:nvSpPr>
          <p:cNvPr id="18" name="TextBox 17">
            <a:extLst>
              <a:ext uri="{FF2B5EF4-FFF2-40B4-BE49-F238E27FC236}">
                <a16:creationId xmlns:a16="http://schemas.microsoft.com/office/drawing/2014/main" id="{E266FB11-CB16-9C5B-5D0E-672EECE6BED6}"/>
              </a:ext>
            </a:extLst>
          </p:cNvPr>
          <p:cNvSpPr txBox="1"/>
          <p:nvPr/>
        </p:nvSpPr>
        <p:spPr>
          <a:xfrm>
            <a:off x="458117" y="318991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Tree>
    <p:extLst>
      <p:ext uri="{BB962C8B-B14F-4D97-AF65-F5344CB8AC3E}">
        <p14:creationId xmlns:p14="http://schemas.microsoft.com/office/powerpoint/2010/main" val="258061386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73</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3. </a:t>
            </a:r>
            <a:r>
              <a:rPr lang="ko-KR" altLang="en-US" dirty="0" smtClean="0"/>
              <a:t>입찰서</a:t>
            </a:r>
            <a:r>
              <a:rPr lang="en-US" altLang="ko-KR" dirty="0" smtClean="0"/>
              <a:t>(</a:t>
            </a:r>
            <a:r>
              <a:rPr lang="ko-KR" altLang="en-US" dirty="0" smtClean="0"/>
              <a:t>견적서 작성</a:t>
            </a:r>
            <a:r>
              <a:rPr lang="en-US" altLang="ko-KR" dirty="0" smtClean="0"/>
              <a:t>)</a:t>
            </a:r>
          </a:p>
          <a:p>
            <a:r>
              <a:rPr lang="en-US" altLang="ko-KR" dirty="0" smtClean="0"/>
              <a:t>3.1 </a:t>
            </a:r>
            <a:r>
              <a:rPr lang="ko-KR" altLang="en-US" dirty="0" smtClean="0"/>
              <a:t>화면 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492270606"/>
              </p:ext>
            </p:extLst>
          </p:nvPr>
        </p:nvGraphicFramePr>
        <p:xfrm>
          <a:off x="635474" y="1413419"/>
          <a:ext cx="8701200" cy="303838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MUI-BD-06-M01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 </a:t>
                      </a:r>
                      <a:r>
                        <a:rPr lang="ko-KR" altLang="en-US" sz="800" kern="1200" dirty="0">
                          <a:solidFill>
                            <a:schemeClr val="tx1"/>
                          </a:solidFill>
                          <a:latin typeface="+mn-ea"/>
                          <a:ea typeface="+mn-ea"/>
                          <a:cs typeface="+mn-cs"/>
                        </a:rPr>
                        <a:t>일반정보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TndrWrt_Stp1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a:t>
                      </a:r>
                      <a:r>
                        <a:rPr lang="ko-KR" altLang="en-US" sz="800" kern="1200" dirty="0">
                          <a:solidFill>
                            <a:schemeClr val="tx1"/>
                          </a:solidFill>
                          <a:latin typeface="+mn-ea"/>
                          <a:ea typeface="+mn-ea"/>
                          <a:cs typeface="+mn-cs"/>
                        </a:rPr>
                        <a:t>일반정보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/Stp1.tsx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l" fontAlgn="ctr"/>
                      <a:r>
                        <a:rPr lang="en-US" altLang="ko-KR" sz="700" kern="1200" dirty="0">
                          <a:solidFill>
                            <a:schemeClr val="tx1"/>
                          </a:solidFill>
                          <a:latin typeface="+mn-ea"/>
                          <a:ea typeface="+mn-ea"/>
                          <a:cs typeface="+mn-cs"/>
                        </a:rPr>
                        <a:t>MUI-BD-06-M02</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 </a:t>
                      </a:r>
                      <a:r>
                        <a:rPr lang="ko-KR" altLang="en-US" sz="800" kern="1200" dirty="0" err="1">
                          <a:solidFill>
                            <a:schemeClr val="tx1"/>
                          </a:solidFill>
                          <a:latin typeface="+mn-ea"/>
                          <a:ea typeface="+mn-ea"/>
                          <a:cs typeface="+mn-cs"/>
                        </a:rPr>
                        <a:t>품목내역</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a:t>
                      </a:r>
                      <a:r>
                        <a:rPr lang="ko-KR" altLang="en-US" sz="800" kern="1200" dirty="0" err="1">
                          <a:solidFill>
                            <a:schemeClr val="tx1"/>
                          </a:solidFill>
                          <a:latin typeface="+mn-ea"/>
                          <a:ea typeface="+mn-ea"/>
                          <a:cs typeface="+mn-cs"/>
                        </a:rPr>
                        <a:t>품목내역</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365685885"/>
                  </a:ext>
                </a:extLst>
              </a:tr>
              <a:tr h="180000">
                <a:tc>
                  <a:txBody>
                    <a:bodyPr/>
                    <a:lstStyle/>
                    <a:p>
                      <a:pPr algn="l" fontAlgn="ctr"/>
                      <a:r>
                        <a:rPr lang="en-US" altLang="ko-KR" sz="700" kern="1200" dirty="0">
                          <a:solidFill>
                            <a:schemeClr val="tx1"/>
                          </a:solidFill>
                          <a:latin typeface="+mn-ea"/>
                          <a:ea typeface="+mn-ea"/>
                          <a:cs typeface="+mn-cs"/>
                        </a:rPr>
                        <a:t>MUI-BD-06-M03</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 </a:t>
                      </a:r>
                      <a:r>
                        <a:rPr lang="ko-KR" altLang="en-US" sz="800" kern="1200" dirty="0" err="1">
                          <a:solidFill>
                            <a:schemeClr val="tx1"/>
                          </a:solidFill>
                          <a:latin typeface="+mn-ea"/>
                          <a:ea typeface="+mn-ea"/>
                          <a:cs typeface="+mn-cs"/>
                        </a:rPr>
                        <a:t>투찰내역</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TndrWrt_Stp3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a:t>
                      </a:r>
                      <a:r>
                        <a:rPr lang="ko-KR" altLang="en-US" sz="800" kern="1200" dirty="0" err="1">
                          <a:solidFill>
                            <a:schemeClr val="tx1"/>
                          </a:solidFill>
                          <a:latin typeface="+mn-ea"/>
                          <a:ea typeface="+mn-ea"/>
                          <a:cs typeface="+mn-cs"/>
                        </a:rPr>
                        <a:t>투찰내역</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/Stp3.tsx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845524264"/>
                  </a:ext>
                </a:extLst>
              </a:tr>
              <a:tr h="180000">
                <a:tc>
                  <a:txBody>
                    <a:bodyPr/>
                    <a:lstStyle/>
                    <a:p>
                      <a:pPr algn="l" fontAlgn="ctr"/>
                      <a:r>
                        <a:rPr lang="en-US" altLang="ko-KR" sz="700" kern="1200" dirty="0">
                          <a:solidFill>
                            <a:schemeClr val="tx1"/>
                          </a:solidFill>
                          <a:latin typeface="+mn-ea"/>
                          <a:ea typeface="+mn-ea"/>
                          <a:cs typeface="+mn-cs"/>
                        </a:rPr>
                        <a:t>MUI-BD-06-M04</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 </a:t>
                      </a:r>
                      <a:r>
                        <a:rPr lang="ko-KR" altLang="en-US" sz="800" kern="1200" dirty="0">
                          <a:solidFill>
                            <a:schemeClr val="tx1"/>
                          </a:solidFill>
                          <a:latin typeface="+mn-ea"/>
                          <a:ea typeface="+mn-ea"/>
                          <a:cs typeface="+mn-cs"/>
                        </a:rPr>
                        <a:t>복수예비가격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TndrWrt_Stp4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a:t>
                      </a:r>
                      <a:r>
                        <a:rPr lang="ko-KR" altLang="en-US" sz="800" kern="1200" dirty="0">
                          <a:solidFill>
                            <a:schemeClr val="tx1"/>
                          </a:solidFill>
                          <a:latin typeface="+mn-ea"/>
                          <a:ea typeface="+mn-ea"/>
                          <a:cs typeface="+mn-cs"/>
                        </a:rPr>
                        <a:t>복수예비가격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/Stp4.tsx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464168277"/>
                  </a:ext>
                </a:extLst>
              </a:tr>
              <a:tr h="180000">
                <a:tc>
                  <a:txBody>
                    <a:bodyPr/>
                    <a:lstStyle/>
                    <a:p>
                      <a:pPr algn="l" fontAlgn="ctr"/>
                      <a:r>
                        <a:rPr lang="en-US" altLang="ko-KR" sz="700" kern="1200" dirty="0">
                          <a:solidFill>
                            <a:schemeClr val="tx1"/>
                          </a:solidFill>
                          <a:latin typeface="+mn-ea"/>
                          <a:ea typeface="+mn-ea"/>
                          <a:cs typeface="+mn-cs"/>
                        </a:rPr>
                        <a:t>MUI-BD-06-M05</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5 - </a:t>
                      </a:r>
                      <a:r>
                        <a:rPr lang="ko-KR" altLang="en-US" sz="800" kern="1200" dirty="0">
                          <a:solidFill>
                            <a:schemeClr val="tx1"/>
                          </a:solidFill>
                          <a:latin typeface="+mn-ea"/>
                          <a:ea typeface="+mn-ea"/>
                          <a:cs typeface="+mn-cs"/>
                        </a:rPr>
                        <a:t>파일첨부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TndrWrt_Stp5</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5 </a:t>
                      </a:r>
                      <a:r>
                        <a:rPr lang="ko-KR" altLang="en-US" sz="800" kern="1200" dirty="0">
                          <a:solidFill>
                            <a:schemeClr val="tx1"/>
                          </a:solidFill>
                          <a:latin typeface="+mn-ea"/>
                          <a:ea typeface="+mn-ea"/>
                          <a:cs typeface="+mn-cs"/>
                        </a:rPr>
                        <a:t>파일첨부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/Stp5.tsx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929804228"/>
                  </a:ext>
                </a:extLst>
              </a:tr>
              <a:tr h="180000">
                <a:tc>
                  <a:txBody>
                    <a:bodyPr/>
                    <a:lstStyle/>
                    <a:p>
                      <a:pPr algn="l" fontAlgn="ctr"/>
                      <a:r>
                        <a:rPr lang="en-US" altLang="ko-KR" sz="700" kern="1200" dirty="0">
                          <a:solidFill>
                            <a:schemeClr val="tx1"/>
                          </a:solidFill>
                          <a:latin typeface="+mn-ea"/>
                          <a:ea typeface="+mn-ea"/>
                          <a:cs typeface="+mn-cs"/>
                        </a:rPr>
                        <a:t>MUI-BD-06-M06</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6 - </a:t>
                      </a:r>
                      <a:r>
                        <a:rPr lang="ko-KR" altLang="en-US" sz="800" kern="1200" dirty="0" err="1">
                          <a:solidFill>
                            <a:schemeClr val="tx1"/>
                          </a:solidFill>
                          <a:latin typeface="+mn-ea"/>
                          <a:ea typeface="+mn-ea"/>
                          <a:cs typeface="+mn-cs"/>
                        </a:rPr>
                        <a:t>동가낙찰</a:t>
                      </a:r>
                      <a:r>
                        <a:rPr lang="ko-KR" altLang="en-US"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선추첨</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TndrWrt_Stp6</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6 </a:t>
                      </a:r>
                      <a:r>
                        <a:rPr lang="ko-KR" altLang="en-US" sz="800" kern="1200" dirty="0" err="1">
                          <a:solidFill>
                            <a:schemeClr val="tx1"/>
                          </a:solidFill>
                          <a:latin typeface="+mn-ea"/>
                          <a:ea typeface="+mn-ea"/>
                          <a:cs typeface="+mn-cs"/>
                        </a:rPr>
                        <a:t>동가낙찰</a:t>
                      </a:r>
                      <a:r>
                        <a:rPr lang="ko-KR" altLang="en-US"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선추첨</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/Stp6.tsx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50524329"/>
                  </a:ext>
                </a:extLst>
              </a:tr>
              <a:tr h="180000">
                <a:tc>
                  <a:txBody>
                    <a:bodyPr/>
                    <a:lstStyle/>
                    <a:p>
                      <a:pPr algn="l" fontAlgn="ctr"/>
                      <a:r>
                        <a:rPr lang="en-US" altLang="ko-KR" sz="700" kern="1200" dirty="0">
                          <a:solidFill>
                            <a:schemeClr val="tx1"/>
                          </a:solidFill>
                          <a:latin typeface="+mn-ea"/>
                          <a:ea typeface="+mn-ea"/>
                          <a:cs typeface="+mn-cs"/>
                        </a:rPr>
                        <a:t>MUI-BD-06-M07</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7 - </a:t>
                      </a:r>
                      <a:r>
                        <a:rPr lang="ko-KR" altLang="en-US" sz="800" kern="1200" dirty="0">
                          <a:solidFill>
                            <a:schemeClr val="tx1"/>
                          </a:solidFill>
                          <a:latin typeface="+mn-ea"/>
                          <a:ea typeface="+mn-ea"/>
                          <a:cs typeface="+mn-cs"/>
                        </a:rPr>
                        <a:t>약관동의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TndrWrt_Stp7</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7 </a:t>
                      </a:r>
                      <a:r>
                        <a:rPr lang="ko-KR" altLang="en-US" sz="800" kern="1200" dirty="0">
                          <a:solidFill>
                            <a:schemeClr val="tx1"/>
                          </a:solidFill>
                          <a:latin typeface="+mn-ea"/>
                          <a:ea typeface="+mn-ea"/>
                          <a:cs typeface="+mn-cs"/>
                        </a:rPr>
                        <a:t>약관동의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/Stp7.tsx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320180331"/>
                  </a:ext>
                </a:extLst>
              </a:tr>
              <a:tr h="180000">
                <a:tc>
                  <a:txBody>
                    <a:bodyPr/>
                    <a:lstStyle/>
                    <a:p>
                      <a:pPr algn="l" fontAlgn="ctr"/>
                      <a:r>
                        <a:rPr lang="en-US" altLang="ko-KR" sz="700" kern="1200" dirty="0">
                          <a:solidFill>
                            <a:schemeClr val="tx1"/>
                          </a:solidFill>
                          <a:latin typeface="+mn-ea"/>
                          <a:ea typeface="+mn-ea"/>
                          <a:cs typeface="+mn-cs"/>
                        </a:rPr>
                        <a:t>MUI-BD-06-M08</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신청 완료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err="1">
                          <a:solidFill>
                            <a:srgbClr val="000000"/>
                          </a:solidFill>
                          <a:effectLst/>
                          <a:latin typeface="맑은 고딕" panose="020B0503020000020004" pitchFamily="50" charset="-127"/>
                          <a:ea typeface="+mn-ea"/>
                          <a:cs typeface="+mn-cs"/>
                        </a:rPr>
                        <a:t>AplyCmptn</a:t>
                      </a:r>
                      <a:endParaRPr lang="ko-KR" altLang="en-US" sz="8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 참가</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입찰서</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사전심사</a:t>
                      </a:r>
                      <a:r>
                        <a:rPr lang="en-US" altLang="ko-KR" sz="800" kern="1200" dirty="0">
                          <a:solidFill>
                            <a:schemeClr val="tx1"/>
                          </a:solidFill>
                          <a:latin typeface="+mn-ea"/>
                          <a:ea typeface="+mn-ea"/>
                          <a:cs typeface="+mn-cs"/>
                        </a:rPr>
                        <a:t>(PQ) </a:t>
                      </a:r>
                      <a:r>
                        <a:rPr lang="ko-KR" altLang="en-US" sz="800" kern="1200" dirty="0">
                          <a:solidFill>
                            <a:schemeClr val="tx1"/>
                          </a:solidFill>
                          <a:latin typeface="+mn-ea"/>
                          <a:ea typeface="+mn-ea"/>
                          <a:cs typeface="+mn-cs"/>
                        </a:rPr>
                        <a:t>작성 완료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t>
                      </a:r>
                      <a:r>
                        <a:rPr lang="en-US" altLang="ko-KR" sz="800" dirty="0" err="1">
                          <a:solidFill>
                            <a:schemeClr val="tx1"/>
                          </a:solidFill>
                          <a:latin typeface="+mn-ea"/>
                          <a:ea typeface="+mn-ea"/>
                        </a:rPr>
                        <a:t>AplyCmptn.tsx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sz="700" b="0" i="0" u="none" strike="noStrike" kern="1200" dirty="0" smtClean="0">
                          <a:solidFill>
                            <a:srgbClr val="000000"/>
                          </a:solidFill>
                          <a:effectLst/>
                          <a:latin typeface="맑은 고딕" panose="020B0503020000020004" pitchFamily="50" charset="-127"/>
                          <a:ea typeface="+mn-ea"/>
                          <a:cs typeface="+mn-cs"/>
                        </a:rPr>
                        <a:t>MUI-BD-04-M21</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전자서명</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rgbClr val="000000"/>
                          </a:solidFill>
                          <a:effectLst/>
                          <a:latin typeface="맑은 고딕" panose="020B0503020000020004" pitchFamily="50" charset="-127"/>
                          <a:ea typeface="+mn-ea"/>
                          <a:cs typeface="+mn-cs"/>
                        </a:rPr>
                        <a:t>Elsgn</a:t>
                      </a:r>
                      <a:endParaRPr lang="en-US" sz="800" b="0" i="0" u="none" strike="noStrike" kern="1200" dirty="0">
                        <a:solidFill>
                          <a:srgbClr val="000000"/>
                        </a:solidFill>
                        <a:effectLst/>
                        <a:latin typeface="맑은 고딕" panose="020B0503020000020004" pitchFamily="50" charset="-127"/>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입찰 참가신청</a:t>
                      </a:r>
                      <a:r>
                        <a:rPr lang="en-US" altLang="ko-KR" sz="800" kern="1200" dirty="0" smtClean="0">
                          <a:solidFill>
                            <a:schemeClr val="tx1"/>
                          </a:solidFill>
                          <a:latin typeface="+mn-ea"/>
                          <a:ea typeface="+mn-ea"/>
                          <a:cs typeface="+mn-cs"/>
                        </a:rPr>
                        <a:t>, </a:t>
                      </a:r>
                      <a:r>
                        <a:rPr lang="ko-KR" altLang="en-US" sz="800" kern="1200" dirty="0" smtClean="0">
                          <a:solidFill>
                            <a:schemeClr val="tx1"/>
                          </a:solidFill>
                          <a:latin typeface="+mn-ea"/>
                          <a:ea typeface="+mn-ea"/>
                          <a:cs typeface="+mn-cs"/>
                        </a:rPr>
                        <a:t>입찰서 작성 이후 전자서명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bidPrgsDtlInq</a:t>
                      </a:r>
                      <a:r>
                        <a:rPr lang="en-US" altLang="ko-KR" sz="800" dirty="0" smtClean="0">
                          <a:solidFill>
                            <a:schemeClr val="tx1"/>
                          </a:solidFill>
                          <a:latin typeface="+mn-ea"/>
                          <a:ea typeface="+mn-ea"/>
                        </a:rPr>
                        <a:t>/</a:t>
                      </a:r>
                      <a:r>
                        <a:rPr lang="en-US" altLang="ko-KR" sz="800" b="0" i="0" u="none" strike="noStrike" dirty="0" err="1" smtClean="0">
                          <a:solidFill>
                            <a:srgbClr val="000000"/>
                          </a:solidFill>
                          <a:effectLst/>
                          <a:latin typeface="맑은 고딕" panose="020B0503020000020004" pitchFamily="50" charset="-127"/>
                          <a:ea typeface="+mn-ea"/>
                        </a:rPr>
                        <a:t>Elsgn</a:t>
                      </a:r>
                      <a:r>
                        <a:rPr lang="en-US" altLang="ko-KR" sz="800" dirty="0" err="1" smtClean="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336373"/>
                  </a:ext>
                </a:extLst>
              </a:tr>
            </a:tbl>
          </a:graphicData>
        </a:graphic>
      </p:graphicFrame>
      <p:sp>
        <p:nvSpPr>
          <p:cNvPr id="6"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432969682"/>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74</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5.2. </a:t>
            </a:r>
            <a:r>
              <a:rPr lang="ko-KR" altLang="en-US" dirty="0"/>
              <a:t>화면 흐름도 </a:t>
            </a:r>
            <a:r>
              <a:rPr lang="en-US" altLang="ko-KR" dirty="0"/>
              <a:t>– </a:t>
            </a:r>
            <a:r>
              <a:rPr lang="ko-KR" altLang="en-US" dirty="0" smtClean="0"/>
              <a:t>입찰서</a:t>
            </a:r>
            <a:r>
              <a:rPr lang="en-US" altLang="ko-KR" dirty="0" smtClean="0"/>
              <a:t>(</a:t>
            </a:r>
            <a:r>
              <a:rPr lang="ko-KR" altLang="en-US" dirty="0" smtClean="0"/>
              <a:t>견적서</a:t>
            </a:r>
            <a:r>
              <a:rPr lang="en-US" altLang="ko-KR" dirty="0" smtClean="0"/>
              <a:t>)</a:t>
            </a:r>
            <a:r>
              <a:rPr lang="ko-KR" altLang="en-US" dirty="0" smtClean="0"/>
              <a:t> </a:t>
            </a:r>
            <a:r>
              <a:rPr lang="ko-KR" altLang="en-US" dirty="0"/>
              <a:t>작성</a:t>
            </a:r>
          </a:p>
        </p:txBody>
      </p: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7381858" y="5229115"/>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7410855" y="5040016"/>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38" name="사각형: 둥근 모서리 5">
            <a:extLst>
              <a:ext uri="{FF2B5EF4-FFF2-40B4-BE49-F238E27FC236}">
                <a16:creationId xmlns:a16="http://schemas.microsoft.com/office/drawing/2014/main" id="{410E5459-200D-7630-863C-88E5109259DF}"/>
              </a:ext>
            </a:extLst>
          </p:cNvPr>
          <p:cNvSpPr/>
          <p:nvPr/>
        </p:nvSpPr>
        <p:spPr>
          <a:xfrm>
            <a:off x="4030749"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1-</a:t>
            </a:r>
            <a:r>
              <a:rPr lang="ko-KR" altLang="en-US" sz="800" dirty="0">
                <a:solidFill>
                  <a:schemeClr val="tx1"/>
                </a:solidFill>
              </a:rPr>
              <a:t>일반정보</a:t>
            </a:r>
          </a:p>
        </p:txBody>
      </p:sp>
      <p:sp>
        <p:nvSpPr>
          <p:cNvPr id="40" name="사각형: 둥근 모서리 5">
            <a:extLst>
              <a:ext uri="{FF2B5EF4-FFF2-40B4-BE49-F238E27FC236}">
                <a16:creationId xmlns:a16="http://schemas.microsoft.com/office/drawing/2014/main" id="{410E5459-200D-7630-863C-88E5109259DF}"/>
              </a:ext>
            </a:extLst>
          </p:cNvPr>
          <p:cNvSpPr/>
          <p:nvPr/>
        </p:nvSpPr>
        <p:spPr>
          <a:xfrm>
            <a:off x="5539941"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2-</a:t>
            </a:r>
            <a:r>
              <a:rPr lang="ko-KR" altLang="en-US" sz="800" dirty="0" err="1">
                <a:solidFill>
                  <a:schemeClr val="tx1"/>
                </a:solidFill>
              </a:rPr>
              <a:t>품목내역</a:t>
            </a:r>
            <a:endParaRPr lang="ko-KR" altLang="en-US" sz="800" dirty="0">
              <a:solidFill>
                <a:schemeClr val="tx1"/>
              </a:solidFill>
            </a:endParaRPr>
          </a:p>
        </p:txBody>
      </p:sp>
      <p:cxnSp>
        <p:nvCxnSpPr>
          <p:cNvPr id="100" name="직선 화살표 연결선 99">
            <a:extLst>
              <a:ext uri="{FF2B5EF4-FFF2-40B4-BE49-F238E27FC236}">
                <a16:creationId xmlns:a16="http://schemas.microsoft.com/office/drawing/2014/main" id="{9A519F08-B829-E35F-09D8-DFCD1F68B911}"/>
              </a:ext>
            </a:extLst>
          </p:cNvPr>
          <p:cNvCxnSpPr>
            <a:cxnSpLocks/>
            <a:stCxn id="38" idx="3"/>
            <a:endCxn id="40" idx="1"/>
          </p:cNvCxnSpPr>
          <p:nvPr/>
        </p:nvCxnSpPr>
        <p:spPr>
          <a:xfrm>
            <a:off x="4930749" y="2454859"/>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사각형: 둥근 모서리 5">
            <a:extLst>
              <a:ext uri="{FF2B5EF4-FFF2-40B4-BE49-F238E27FC236}">
                <a16:creationId xmlns:a16="http://schemas.microsoft.com/office/drawing/2014/main" id="{410E5459-200D-7630-863C-88E5109259DF}"/>
              </a:ext>
            </a:extLst>
          </p:cNvPr>
          <p:cNvSpPr/>
          <p:nvPr/>
        </p:nvSpPr>
        <p:spPr>
          <a:xfrm>
            <a:off x="5539941"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7-</a:t>
            </a:r>
            <a:r>
              <a:rPr lang="ko-KR" altLang="en-US" sz="800" dirty="0">
                <a:solidFill>
                  <a:schemeClr val="tx1"/>
                </a:solidFill>
              </a:rPr>
              <a:t>약관동의</a:t>
            </a:r>
          </a:p>
        </p:txBody>
      </p:sp>
      <p:sp>
        <p:nvSpPr>
          <p:cNvPr id="122" name="사각형: 둥근 모서리 5">
            <a:extLst>
              <a:ext uri="{FF2B5EF4-FFF2-40B4-BE49-F238E27FC236}">
                <a16:creationId xmlns:a16="http://schemas.microsoft.com/office/drawing/2014/main" id="{410E5459-200D-7630-863C-88E5109259DF}"/>
              </a:ext>
            </a:extLst>
          </p:cNvPr>
          <p:cNvSpPr/>
          <p:nvPr/>
        </p:nvSpPr>
        <p:spPr>
          <a:xfrm>
            <a:off x="2521557"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서약서동의목록</a:t>
            </a:r>
          </a:p>
        </p:txBody>
      </p:sp>
      <p:cxnSp>
        <p:nvCxnSpPr>
          <p:cNvPr id="123" name="직선 화살표 연결선 122">
            <a:extLst>
              <a:ext uri="{FF2B5EF4-FFF2-40B4-BE49-F238E27FC236}">
                <a16:creationId xmlns:a16="http://schemas.microsoft.com/office/drawing/2014/main" id="{9A519F08-B829-E35F-09D8-DFCD1F68B911}"/>
              </a:ext>
            </a:extLst>
          </p:cNvPr>
          <p:cNvCxnSpPr>
            <a:cxnSpLocks/>
            <a:stCxn id="77" idx="3"/>
            <a:endCxn id="122" idx="1"/>
          </p:cNvCxnSpPr>
          <p:nvPr/>
        </p:nvCxnSpPr>
        <p:spPr>
          <a:xfrm>
            <a:off x="1912365" y="2451594"/>
            <a:ext cx="609192" cy="326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직선 화살표 연결선 132">
            <a:extLst>
              <a:ext uri="{FF2B5EF4-FFF2-40B4-BE49-F238E27FC236}">
                <a16:creationId xmlns:a16="http://schemas.microsoft.com/office/drawing/2014/main" id="{9A519F08-B829-E35F-09D8-DFCD1F68B911}"/>
              </a:ext>
            </a:extLst>
          </p:cNvPr>
          <p:cNvCxnSpPr>
            <a:cxnSpLocks/>
            <a:stCxn id="122" idx="3"/>
            <a:endCxn id="38" idx="1"/>
          </p:cNvCxnSpPr>
          <p:nvPr/>
        </p:nvCxnSpPr>
        <p:spPr>
          <a:xfrm>
            <a:off x="3421557" y="2454859"/>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7" name="사각형: 둥근 모서리 5">
            <a:extLst>
              <a:ext uri="{FF2B5EF4-FFF2-40B4-BE49-F238E27FC236}">
                <a16:creationId xmlns:a16="http://schemas.microsoft.com/office/drawing/2014/main" id="{410E5459-200D-7630-863C-88E5109259DF}"/>
              </a:ext>
            </a:extLst>
          </p:cNvPr>
          <p:cNvSpPr/>
          <p:nvPr/>
        </p:nvSpPr>
        <p:spPr>
          <a:xfrm>
            <a:off x="7049133"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6-</a:t>
            </a:r>
            <a:r>
              <a:rPr lang="ko-KR" altLang="en-US" sz="800" dirty="0">
                <a:solidFill>
                  <a:schemeClr val="tx1"/>
                </a:solidFill>
              </a:rPr>
              <a:t>동가낙찰선추첨</a:t>
            </a:r>
          </a:p>
        </p:txBody>
      </p:sp>
      <p:cxnSp>
        <p:nvCxnSpPr>
          <p:cNvPr id="269" name="직선 화살표 연결선 268">
            <a:extLst>
              <a:ext uri="{FF2B5EF4-FFF2-40B4-BE49-F238E27FC236}">
                <a16:creationId xmlns:a16="http://schemas.microsoft.com/office/drawing/2014/main" id="{9A519F08-B829-E35F-09D8-DFCD1F68B911}"/>
              </a:ext>
            </a:extLst>
          </p:cNvPr>
          <p:cNvCxnSpPr>
            <a:cxnSpLocks/>
            <a:stCxn id="267" idx="1"/>
            <a:endCxn id="101" idx="3"/>
          </p:cNvCxnSpPr>
          <p:nvPr/>
        </p:nvCxnSpPr>
        <p:spPr>
          <a:xfrm flipH="1">
            <a:off x="6439941" y="3142931"/>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직선 화살표 연결선 271">
            <a:extLst>
              <a:ext uri="{FF2B5EF4-FFF2-40B4-BE49-F238E27FC236}">
                <a16:creationId xmlns:a16="http://schemas.microsoft.com/office/drawing/2014/main" id="{9A519F08-B829-E35F-09D8-DFCD1F68B911}"/>
              </a:ext>
            </a:extLst>
          </p:cNvPr>
          <p:cNvCxnSpPr>
            <a:cxnSpLocks/>
            <a:stCxn id="74" idx="1"/>
            <a:endCxn id="267" idx="3"/>
          </p:cNvCxnSpPr>
          <p:nvPr/>
        </p:nvCxnSpPr>
        <p:spPr>
          <a:xfrm flipH="1">
            <a:off x="7949133" y="3142931"/>
            <a:ext cx="60919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4" name="사각형: 둥근 모서리 5">
            <a:extLst>
              <a:ext uri="{FF2B5EF4-FFF2-40B4-BE49-F238E27FC236}">
                <a16:creationId xmlns:a16="http://schemas.microsoft.com/office/drawing/2014/main" id="{410E5459-200D-7630-863C-88E5109259DF}"/>
              </a:ext>
            </a:extLst>
          </p:cNvPr>
          <p:cNvSpPr/>
          <p:nvPr/>
        </p:nvSpPr>
        <p:spPr>
          <a:xfrm>
            <a:off x="8558324"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5-</a:t>
            </a:r>
            <a:r>
              <a:rPr lang="ko-KR" altLang="en-US" sz="800" dirty="0">
                <a:solidFill>
                  <a:schemeClr val="tx1"/>
                </a:solidFill>
              </a:rPr>
              <a:t>파일첨부</a:t>
            </a: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1012365" y="230759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입찰서</a:t>
            </a:r>
            <a:endParaRPr lang="en-US" altLang="ko-KR" sz="800" dirty="0">
              <a:solidFill>
                <a:schemeClr val="tx1"/>
              </a:solidFill>
            </a:endParaRPr>
          </a:p>
          <a:p>
            <a:pPr algn="ctr"/>
            <a:r>
              <a:rPr lang="en-US" altLang="ko-KR" sz="800" dirty="0">
                <a:solidFill>
                  <a:schemeClr val="tx1"/>
                </a:solidFill>
              </a:rPr>
              <a:t>(</a:t>
            </a:r>
            <a:r>
              <a:rPr lang="ko-KR" altLang="en-US" sz="800" dirty="0">
                <a:solidFill>
                  <a:schemeClr val="tx1"/>
                </a:solidFill>
              </a:rPr>
              <a:t>견적서</a:t>
            </a:r>
            <a:r>
              <a:rPr lang="en-US" altLang="ko-KR" sz="800" dirty="0">
                <a:solidFill>
                  <a:schemeClr val="tx1"/>
                </a:solidFill>
              </a:rPr>
              <a:t>)</a:t>
            </a:r>
            <a:r>
              <a:rPr lang="ko-KR" altLang="en-US" sz="800" dirty="0">
                <a:solidFill>
                  <a:schemeClr val="tx1"/>
                </a:solidFill>
              </a:rPr>
              <a:t> 작성</a:t>
            </a:r>
          </a:p>
        </p:txBody>
      </p:sp>
      <p:grpSp>
        <p:nvGrpSpPr>
          <p:cNvPr id="82" name="그룹 81"/>
          <p:cNvGrpSpPr/>
          <p:nvPr/>
        </p:nvGrpSpPr>
        <p:grpSpPr>
          <a:xfrm>
            <a:off x="492190" y="5392498"/>
            <a:ext cx="1063310" cy="783216"/>
            <a:chOff x="492190" y="5392498"/>
            <a:chExt cx="1063310" cy="783216"/>
          </a:xfrm>
        </p:grpSpPr>
        <p:grpSp>
          <p:nvGrpSpPr>
            <p:cNvPr id="85" name="그룹 84"/>
            <p:cNvGrpSpPr/>
            <p:nvPr/>
          </p:nvGrpSpPr>
          <p:grpSpPr>
            <a:xfrm>
              <a:off x="492190" y="5624092"/>
              <a:ext cx="235869" cy="548293"/>
              <a:chOff x="669822" y="4927621"/>
              <a:chExt cx="912149" cy="1378059"/>
            </a:xfrm>
          </p:grpSpPr>
          <p:sp>
            <p:nvSpPr>
              <p:cNvPr id="95" name="사각형: 둥근 모서리 5">
                <a:extLst>
                  <a:ext uri="{FF2B5EF4-FFF2-40B4-BE49-F238E27FC236}">
                    <a16:creationId xmlns:a16="http://schemas.microsoft.com/office/drawing/2014/main" id="{410E5459-200D-7630-863C-88E5109259DF}"/>
                  </a:ext>
                </a:extLst>
              </p:cNvPr>
              <p:cNvSpPr/>
              <p:nvPr/>
            </p:nvSpPr>
            <p:spPr>
              <a:xfrm>
                <a:off x="669822" y="5466998"/>
                <a:ext cx="899998"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96" name="사각형: 둥근 모서리 5">
                <a:extLst>
                  <a:ext uri="{FF2B5EF4-FFF2-40B4-BE49-F238E27FC236}">
                    <a16:creationId xmlns:a16="http://schemas.microsoft.com/office/drawing/2014/main" id="{410E5459-200D-7630-863C-88E5109259DF}"/>
                  </a:ext>
                </a:extLst>
              </p:cNvPr>
              <p:cNvSpPr/>
              <p:nvPr/>
            </p:nvSpPr>
            <p:spPr>
              <a:xfrm>
                <a:off x="669822" y="4927621"/>
                <a:ext cx="899998"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102" name="사각형: 둥근 모서리 5">
                <a:extLst>
                  <a:ext uri="{FF2B5EF4-FFF2-40B4-BE49-F238E27FC236}">
                    <a16:creationId xmlns:a16="http://schemas.microsoft.com/office/drawing/2014/main" id="{410E5459-200D-7630-863C-88E5109259DF}"/>
                  </a:ext>
                </a:extLst>
              </p:cNvPr>
              <p:cNvSpPr/>
              <p:nvPr/>
            </p:nvSpPr>
            <p:spPr>
              <a:xfrm>
                <a:off x="681971" y="6006377"/>
                <a:ext cx="900000" cy="299303"/>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endParaRPr lang="ko-KR" altLang="en-US" sz="800" b="1" dirty="0">
                  <a:solidFill>
                    <a:schemeClr val="tx1"/>
                  </a:solidFill>
                </a:endParaRPr>
              </a:p>
            </p:txBody>
          </p:sp>
        </p:grpSp>
        <p:sp>
          <p:nvSpPr>
            <p:cNvPr id="86" name="직사각형 85">
              <a:extLst>
                <a:ext uri="{FF2B5EF4-FFF2-40B4-BE49-F238E27FC236}">
                  <a16:creationId xmlns:a16="http://schemas.microsoft.com/office/drawing/2014/main" id="{F249990F-1DE5-C694-BDBD-2DE7009D57EA}"/>
                </a:ext>
              </a:extLst>
            </p:cNvPr>
            <p:cNvSpPr/>
            <p:nvPr/>
          </p:nvSpPr>
          <p:spPr>
            <a:xfrm>
              <a:off x="499695" y="5392498"/>
              <a:ext cx="20518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범례</a:t>
              </a:r>
              <a:endParaRPr lang="ko-KR" altLang="en-US" sz="800" dirty="0">
                <a:solidFill>
                  <a:schemeClr val="tx1"/>
                </a:solidFill>
              </a:endParaRPr>
            </a:p>
          </p:txBody>
        </p:sp>
        <p:sp>
          <p:nvSpPr>
            <p:cNvPr id="87" name="직사각형 86">
              <a:extLst>
                <a:ext uri="{FF2B5EF4-FFF2-40B4-BE49-F238E27FC236}">
                  <a16:creationId xmlns:a16="http://schemas.microsoft.com/office/drawing/2014/main" id="{F249990F-1DE5-C694-BDBD-2DE7009D57EA}"/>
                </a:ext>
              </a:extLst>
            </p:cNvPr>
            <p:cNvSpPr/>
            <p:nvPr/>
          </p:nvSpPr>
          <p:spPr>
            <a:xfrm>
              <a:off x="829339" y="5617943"/>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화면목록</a:t>
              </a:r>
              <a:r>
                <a:rPr lang="ko-KR" altLang="en-US" sz="800" dirty="0">
                  <a:solidFill>
                    <a:schemeClr val="tx1"/>
                  </a:solidFill>
                </a:rPr>
                <a:t> 항목</a:t>
              </a:r>
            </a:p>
          </p:txBody>
        </p:sp>
        <p:sp>
          <p:nvSpPr>
            <p:cNvPr id="91" name="직사각형 90">
              <a:extLst>
                <a:ext uri="{FF2B5EF4-FFF2-40B4-BE49-F238E27FC236}">
                  <a16:creationId xmlns:a16="http://schemas.microsoft.com/office/drawing/2014/main" id="{F249990F-1DE5-C694-BDBD-2DE7009D57EA}"/>
                </a:ext>
              </a:extLst>
            </p:cNvPr>
            <p:cNvSpPr/>
            <p:nvPr/>
          </p:nvSpPr>
          <p:spPr>
            <a:xfrm>
              <a:off x="829339" y="5834434"/>
              <a:ext cx="6892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흐름 참고 항목</a:t>
              </a:r>
              <a:endParaRPr lang="ko-KR" altLang="en-US" sz="800" dirty="0">
                <a:solidFill>
                  <a:schemeClr val="tx1"/>
                </a:solidFill>
              </a:endParaRPr>
            </a:p>
          </p:txBody>
        </p:sp>
        <p:sp>
          <p:nvSpPr>
            <p:cNvPr id="94" name="직사각형 93">
              <a:extLst>
                <a:ext uri="{FF2B5EF4-FFF2-40B4-BE49-F238E27FC236}">
                  <a16:creationId xmlns:a16="http://schemas.microsoft.com/office/drawing/2014/main" id="{F249990F-1DE5-C694-BDBD-2DE7009D57EA}"/>
                </a:ext>
              </a:extLst>
            </p:cNvPr>
            <p:cNvSpPr/>
            <p:nvPr/>
          </p:nvSpPr>
          <p:spPr>
            <a:xfrm>
              <a:off x="829339" y="6052603"/>
              <a:ext cx="72616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탭 등 그룹 항목</a:t>
              </a:r>
              <a:endParaRPr lang="ko-KR" altLang="en-US" sz="800" dirty="0">
                <a:solidFill>
                  <a:schemeClr val="tx1"/>
                </a:solidFill>
              </a:endParaRPr>
            </a:p>
          </p:txBody>
        </p:sp>
      </p:grpSp>
      <p:grpSp>
        <p:nvGrpSpPr>
          <p:cNvPr id="103" name="그룹 102">
            <a:extLst>
              <a:ext uri="{FF2B5EF4-FFF2-40B4-BE49-F238E27FC236}">
                <a16:creationId xmlns:a16="http://schemas.microsoft.com/office/drawing/2014/main" id="{4256C95A-5B12-C9E0-F2B5-BC9D5BAB5422}"/>
              </a:ext>
            </a:extLst>
          </p:cNvPr>
          <p:cNvGrpSpPr/>
          <p:nvPr/>
        </p:nvGrpSpPr>
        <p:grpSpPr>
          <a:xfrm>
            <a:off x="493266" y="1682964"/>
            <a:ext cx="237994" cy="316983"/>
            <a:chOff x="4762389" y="1663914"/>
            <a:chExt cx="237994" cy="316983"/>
          </a:xfrm>
        </p:grpSpPr>
        <p:sp>
          <p:nvSpPr>
            <p:cNvPr id="104" name="타원 103">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직사각형 104">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sp>
        <p:nvSpPr>
          <p:cNvPr id="106" name="직사각형 105">
            <a:extLst>
              <a:ext uri="{FF2B5EF4-FFF2-40B4-BE49-F238E27FC236}">
                <a16:creationId xmlns:a16="http://schemas.microsoft.com/office/drawing/2014/main" id="{23C86455-E84C-0CEA-5C6B-05BE50ADCEF5}"/>
              </a:ext>
            </a:extLst>
          </p:cNvPr>
          <p:cNvSpPr/>
          <p:nvPr/>
        </p:nvSpPr>
        <p:spPr>
          <a:xfrm>
            <a:off x="456237"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cxnSp>
        <p:nvCxnSpPr>
          <p:cNvPr id="107" name="연결선: 꺾임 7">
            <a:extLst>
              <a:ext uri="{FF2B5EF4-FFF2-40B4-BE49-F238E27FC236}">
                <a16:creationId xmlns:a16="http://schemas.microsoft.com/office/drawing/2014/main" id="{89A2D828-4C18-4F90-6B31-722E89773AA8}"/>
              </a:ext>
            </a:extLst>
          </p:cNvPr>
          <p:cNvCxnSpPr>
            <a:cxnSpLocks/>
            <a:stCxn id="104" idx="6"/>
            <a:endCxn id="77" idx="1"/>
          </p:cNvCxnSpPr>
          <p:nvPr/>
        </p:nvCxnSpPr>
        <p:spPr>
          <a:xfrm>
            <a:off x="700126" y="1772964"/>
            <a:ext cx="312239" cy="67863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사각형: 둥근 모서리 5">
            <a:extLst>
              <a:ext uri="{FF2B5EF4-FFF2-40B4-BE49-F238E27FC236}">
                <a16:creationId xmlns:a16="http://schemas.microsoft.com/office/drawing/2014/main" id="{410E5459-200D-7630-863C-88E5109259DF}"/>
              </a:ext>
            </a:extLst>
          </p:cNvPr>
          <p:cNvSpPr/>
          <p:nvPr/>
        </p:nvSpPr>
        <p:spPr>
          <a:xfrm>
            <a:off x="3082907" y="38670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서약서</a:t>
            </a:r>
            <a:r>
              <a:rPr lang="en-US" altLang="ko-KR" sz="800" dirty="0">
                <a:solidFill>
                  <a:schemeClr val="tx1"/>
                </a:solidFill>
              </a:rPr>
              <a:t>1</a:t>
            </a:r>
            <a:endParaRPr lang="ko-KR" altLang="en-US" sz="800" dirty="0">
              <a:solidFill>
                <a:schemeClr val="tx1"/>
              </a:solidFill>
            </a:endParaRPr>
          </a:p>
        </p:txBody>
      </p:sp>
      <p:sp>
        <p:nvSpPr>
          <p:cNvPr id="83" name="사각형: 둥근 모서리 5">
            <a:extLst>
              <a:ext uri="{FF2B5EF4-FFF2-40B4-BE49-F238E27FC236}">
                <a16:creationId xmlns:a16="http://schemas.microsoft.com/office/drawing/2014/main" id="{410E5459-200D-7630-863C-88E5109259DF}"/>
              </a:ext>
            </a:extLst>
          </p:cNvPr>
          <p:cNvSpPr/>
          <p:nvPr/>
        </p:nvSpPr>
        <p:spPr>
          <a:xfrm>
            <a:off x="3082907" y="437915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서약서</a:t>
            </a:r>
            <a:r>
              <a:rPr lang="en-US" altLang="ko-KR" sz="800" dirty="0" smtClean="0">
                <a:solidFill>
                  <a:schemeClr val="tx1"/>
                </a:solidFill>
              </a:rPr>
              <a:t>2</a:t>
            </a:r>
            <a:endParaRPr lang="ko-KR" altLang="en-US" sz="800" dirty="0">
              <a:solidFill>
                <a:schemeClr val="tx1"/>
              </a:solidFill>
            </a:endParaRPr>
          </a:p>
        </p:txBody>
      </p:sp>
      <p:sp>
        <p:nvSpPr>
          <p:cNvPr id="88" name="사각형: 둥근 모서리 5">
            <a:extLst>
              <a:ext uri="{FF2B5EF4-FFF2-40B4-BE49-F238E27FC236}">
                <a16:creationId xmlns:a16="http://schemas.microsoft.com/office/drawing/2014/main" id="{410E5459-200D-7630-863C-88E5109259DF}"/>
              </a:ext>
            </a:extLst>
          </p:cNvPr>
          <p:cNvSpPr/>
          <p:nvPr/>
        </p:nvSpPr>
        <p:spPr>
          <a:xfrm>
            <a:off x="3082907" y="48886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서약서</a:t>
            </a:r>
            <a:r>
              <a:rPr lang="en-US" altLang="ko-KR" sz="800" dirty="0" smtClean="0">
                <a:solidFill>
                  <a:schemeClr val="tx1"/>
                </a:solidFill>
              </a:rPr>
              <a:t>3</a:t>
            </a:r>
            <a:endParaRPr lang="ko-KR" altLang="en-US" sz="800" dirty="0">
              <a:solidFill>
                <a:schemeClr val="tx1"/>
              </a:solidFill>
            </a:endParaRPr>
          </a:p>
        </p:txBody>
      </p:sp>
      <p:cxnSp>
        <p:nvCxnSpPr>
          <p:cNvPr id="109" name="연결선: 꺾임 7">
            <a:extLst>
              <a:ext uri="{FF2B5EF4-FFF2-40B4-BE49-F238E27FC236}">
                <a16:creationId xmlns:a16="http://schemas.microsoft.com/office/drawing/2014/main" id="{89A2D828-4C18-4F90-6B31-722E89773AA8}"/>
              </a:ext>
            </a:extLst>
          </p:cNvPr>
          <p:cNvCxnSpPr>
            <a:cxnSpLocks/>
            <a:endCxn id="113" idx="1"/>
          </p:cNvCxnSpPr>
          <p:nvPr/>
        </p:nvCxnSpPr>
        <p:spPr>
          <a:xfrm rot="16200000" flipH="1">
            <a:off x="1868530" y="3454230"/>
            <a:ext cx="1996707" cy="2794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직사각형 109">
            <a:extLst>
              <a:ext uri="{FF2B5EF4-FFF2-40B4-BE49-F238E27FC236}">
                <a16:creationId xmlns:a16="http://schemas.microsoft.com/office/drawing/2014/main" id="{F249990F-1DE5-C694-BDBD-2DE7009D57EA}"/>
              </a:ext>
            </a:extLst>
          </p:cNvPr>
          <p:cNvSpPr/>
          <p:nvPr/>
        </p:nvSpPr>
        <p:spPr>
          <a:xfrm>
            <a:off x="3099180" y="4166288"/>
            <a:ext cx="1239122"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조세포탈 사실 없음 서약서</a:t>
            </a:r>
          </a:p>
        </p:txBody>
      </p:sp>
      <p:sp>
        <p:nvSpPr>
          <p:cNvPr id="111" name="직사각형 110">
            <a:extLst>
              <a:ext uri="{FF2B5EF4-FFF2-40B4-BE49-F238E27FC236}">
                <a16:creationId xmlns:a16="http://schemas.microsoft.com/office/drawing/2014/main" id="{F249990F-1DE5-C694-BDBD-2DE7009D57EA}"/>
              </a:ext>
            </a:extLst>
          </p:cNvPr>
          <p:cNvSpPr/>
          <p:nvPr/>
        </p:nvSpPr>
        <p:spPr>
          <a:xfrm>
            <a:off x="3099180" y="4675130"/>
            <a:ext cx="718145"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청렴이행서약서</a:t>
            </a:r>
          </a:p>
        </p:txBody>
      </p:sp>
      <p:sp>
        <p:nvSpPr>
          <p:cNvPr id="112" name="직사각형 111">
            <a:extLst>
              <a:ext uri="{FF2B5EF4-FFF2-40B4-BE49-F238E27FC236}">
                <a16:creationId xmlns:a16="http://schemas.microsoft.com/office/drawing/2014/main" id="{F249990F-1DE5-C694-BDBD-2DE7009D57EA}"/>
              </a:ext>
            </a:extLst>
          </p:cNvPr>
          <p:cNvSpPr/>
          <p:nvPr/>
        </p:nvSpPr>
        <p:spPr>
          <a:xfrm>
            <a:off x="3099180" y="5177734"/>
            <a:ext cx="997068"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하도급대금 </a:t>
            </a:r>
            <a:r>
              <a:rPr lang="ko-KR" altLang="en-US" sz="800" dirty="0" smtClean="0">
                <a:solidFill>
                  <a:schemeClr val="tx1"/>
                </a:solidFill>
              </a:rPr>
              <a:t>지급 관련</a:t>
            </a:r>
            <a:endParaRPr lang="en-US" altLang="ko-KR" sz="800" dirty="0" smtClean="0">
              <a:solidFill>
                <a:schemeClr val="tx1"/>
              </a:solidFill>
            </a:endParaRPr>
          </a:p>
          <a:p>
            <a:r>
              <a:rPr lang="ko-KR" altLang="en-US" sz="800" dirty="0" smtClean="0">
                <a:solidFill>
                  <a:schemeClr val="tx1"/>
                </a:solidFill>
              </a:rPr>
              <a:t>확인 </a:t>
            </a:r>
            <a:r>
              <a:rPr lang="ko-KR" altLang="en-US" sz="800" dirty="0">
                <a:solidFill>
                  <a:schemeClr val="tx1"/>
                </a:solidFill>
              </a:rPr>
              <a:t>및 확약서</a:t>
            </a:r>
          </a:p>
        </p:txBody>
      </p:sp>
      <p:sp>
        <p:nvSpPr>
          <p:cNvPr id="113" name="사각형: 둥근 모서리 5">
            <a:extLst>
              <a:ext uri="{FF2B5EF4-FFF2-40B4-BE49-F238E27FC236}">
                <a16:creationId xmlns:a16="http://schemas.microsoft.com/office/drawing/2014/main" id="{410E5459-200D-7630-863C-88E5109259DF}"/>
              </a:ext>
            </a:extLst>
          </p:cNvPr>
          <p:cNvSpPr/>
          <p:nvPr/>
        </p:nvSpPr>
        <p:spPr>
          <a:xfrm>
            <a:off x="3006602" y="3650796"/>
            <a:ext cx="1364267" cy="1883014"/>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r>
              <a:rPr lang="ko-KR" altLang="en-US" sz="800" b="1" dirty="0" smtClean="0">
                <a:solidFill>
                  <a:schemeClr val="tx1"/>
                </a:solidFill>
              </a:rPr>
              <a:t>서약서 목록</a:t>
            </a:r>
            <a:endParaRPr lang="ko-KR" altLang="en-US" sz="800" b="1" dirty="0">
              <a:solidFill>
                <a:schemeClr val="tx1"/>
              </a:solidFill>
            </a:endParaRPr>
          </a:p>
        </p:txBody>
      </p:sp>
      <p:cxnSp>
        <p:nvCxnSpPr>
          <p:cNvPr id="114" name="연결선: 꺾임 7">
            <a:extLst>
              <a:ext uri="{FF2B5EF4-FFF2-40B4-BE49-F238E27FC236}">
                <a16:creationId xmlns:a16="http://schemas.microsoft.com/office/drawing/2014/main" id="{89A2D828-4C18-4F90-6B31-722E89773AA8}"/>
              </a:ext>
            </a:extLst>
          </p:cNvPr>
          <p:cNvCxnSpPr>
            <a:cxnSpLocks/>
            <a:stCxn id="113" idx="0"/>
            <a:endCxn id="122" idx="2"/>
          </p:cNvCxnSpPr>
          <p:nvPr/>
        </p:nvCxnSpPr>
        <p:spPr>
          <a:xfrm rot="16200000" flipV="1">
            <a:off x="2804179" y="2766238"/>
            <a:ext cx="1051937" cy="717179"/>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5" name="사각형: 둥근 모서리 5">
            <a:extLst>
              <a:ext uri="{FF2B5EF4-FFF2-40B4-BE49-F238E27FC236}">
                <a16:creationId xmlns:a16="http://schemas.microsoft.com/office/drawing/2014/main" id="{410E5459-200D-7630-863C-88E5109259DF}"/>
              </a:ext>
            </a:extLst>
          </p:cNvPr>
          <p:cNvSpPr/>
          <p:nvPr/>
        </p:nvSpPr>
        <p:spPr>
          <a:xfrm>
            <a:off x="7049133"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3-</a:t>
            </a:r>
            <a:r>
              <a:rPr lang="ko-KR" altLang="en-US" sz="800" dirty="0" err="1">
                <a:solidFill>
                  <a:schemeClr val="tx1"/>
                </a:solidFill>
              </a:rPr>
              <a:t>투찰내역</a:t>
            </a:r>
            <a:endParaRPr lang="ko-KR" altLang="en-US" sz="800" dirty="0">
              <a:solidFill>
                <a:schemeClr val="tx1"/>
              </a:solidFill>
            </a:endParaRPr>
          </a:p>
        </p:txBody>
      </p:sp>
      <p:sp>
        <p:nvSpPr>
          <p:cNvPr id="116" name="사각형: 둥근 모서리 5">
            <a:extLst>
              <a:ext uri="{FF2B5EF4-FFF2-40B4-BE49-F238E27FC236}">
                <a16:creationId xmlns:a16="http://schemas.microsoft.com/office/drawing/2014/main" id="{410E5459-200D-7630-863C-88E5109259DF}"/>
              </a:ext>
            </a:extLst>
          </p:cNvPr>
          <p:cNvSpPr/>
          <p:nvPr/>
        </p:nvSpPr>
        <p:spPr>
          <a:xfrm>
            <a:off x="8558324"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4-</a:t>
            </a:r>
            <a:r>
              <a:rPr lang="ko-KR" altLang="en-US" sz="800" dirty="0">
                <a:solidFill>
                  <a:schemeClr val="tx1"/>
                </a:solidFill>
              </a:rPr>
              <a:t>복수예비가격</a:t>
            </a: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40" idx="3"/>
            <a:endCxn id="115" idx="1"/>
          </p:cNvCxnSpPr>
          <p:nvPr/>
        </p:nvCxnSpPr>
        <p:spPr>
          <a:xfrm>
            <a:off x="6439941" y="2454859"/>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직선 화살표 연결선 123">
            <a:extLst>
              <a:ext uri="{FF2B5EF4-FFF2-40B4-BE49-F238E27FC236}">
                <a16:creationId xmlns:a16="http://schemas.microsoft.com/office/drawing/2014/main" id="{9A519F08-B829-E35F-09D8-DFCD1F68B911}"/>
              </a:ext>
            </a:extLst>
          </p:cNvPr>
          <p:cNvCxnSpPr>
            <a:cxnSpLocks/>
            <a:stCxn id="115" idx="3"/>
            <a:endCxn id="116" idx="1"/>
          </p:cNvCxnSpPr>
          <p:nvPr/>
        </p:nvCxnSpPr>
        <p:spPr>
          <a:xfrm>
            <a:off x="7949133" y="2454859"/>
            <a:ext cx="60919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직선 화살표 연결선 128">
            <a:extLst>
              <a:ext uri="{FF2B5EF4-FFF2-40B4-BE49-F238E27FC236}">
                <a16:creationId xmlns:a16="http://schemas.microsoft.com/office/drawing/2014/main" id="{9A519F08-B829-E35F-09D8-DFCD1F68B911}"/>
              </a:ext>
            </a:extLst>
          </p:cNvPr>
          <p:cNvCxnSpPr>
            <a:cxnSpLocks/>
            <a:stCxn id="116" idx="2"/>
            <a:endCxn id="74" idx="0"/>
          </p:cNvCxnSpPr>
          <p:nvPr/>
        </p:nvCxnSpPr>
        <p:spPr>
          <a:xfrm>
            <a:off x="9008324" y="2598859"/>
            <a:ext cx="0" cy="4000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0" name="사각형: 둥근 모서리 5">
            <a:extLst>
              <a:ext uri="{FF2B5EF4-FFF2-40B4-BE49-F238E27FC236}">
                <a16:creationId xmlns:a16="http://schemas.microsoft.com/office/drawing/2014/main" id="{410E5459-200D-7630-863C-88E5109259DF}"/>
              </a:ext>
            </a:extLst>
          </p:cNvPr>
          <p:cNvSpPr/>
          <p:nvPr/>
        </p:nvSpPr>
        <p:spPr>
          <a:xfrm>
            <a:off x="8558324" y="36247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캐비닛 연결</a:t>
            </a:r>
          </a:p>
        </p:txBody>
      </p:sp>
      <p:cxnSp>
        <p:nvCxnSpPr>
          <p:cNvPr id="131" name="직선 화살표 연결선 130">
            <a:extLst>
              <a:ext uri="{FF2B5EF4-FFF2-40B4-BE49-F238E27FC236}">
                <a16:creationId xmlns:a16="http://schemas.microsoft.com/office/drawing/2014/main" id="{9A519F08-B829-E35F-09D8-DFCD1F68B911}"/>
              </a:ext>
            </a:extLst>
          </p:cNvPr>
          <p:cNvCxnSpPr>
            <a:cxnSpLocks/>
            <a:stCxn id="74" idx="2"/>
            <a:endCxn id="130" idx="0"/>
          </p:cNvCxnSpPr>
          <p:nvPr/>
        </p:nvCxnSpPr>
        <p:spPr>
          <a:xfrm>
            <a:off x="9008324" y="3286931"/>
            <a:ext cx="0" cy="3378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연결선: 꺾임 7">
            <a:extLst>
              <a:ext uri="{FF2B5EF4-FFF2-40B4-BE49-F238E27FC236}">
                <a16:creationId xmlns:a16="http://schemas.microsoft.com/office/drawing/2014/main" id="{89A2D828-4C18-4F90-6B31-722E89773AA8}"/>
              </a:ext>
            </a:extLst>
          </p:cNvPr>
          <p:cNvCxnSpPr>
            <a:cxnSpLocks/>
            <a:stCxn id="130" idx="3"/>
            <a:endCxn id="74" idx="3"/>
          </p:cNvCxnSpPr>
          <p:nvPr/>
        </p:nvCxnSpPr>
        <p:spPr>
          <a:xfrm flipV="1">
            <a:off x="9458324" y="3142931"/>
            <a:ext cx="12700" cy="625824"/>
          </a:xfrm>
          <a:prstGeom prst="bentConnector3">
            <a:avLst>
              <a:gd name="adj1" fmla="val 180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1" name="사각형: 둥근 모서리 5">
            <a:extLst>
              <a:ext uri="{FF2B5EF4-FFF2-40B4-BE49-F238E27FC236}">
                <a16:creationId xmlns:a16="http://schemas.microsoft.com/office/drawing/2014/main" id="{410E5459-200D-7630-863C-88E5109259DF}"/>
              </a:ext>
            </a:extLst>
          </p:cNvPr>
          <p:cNvSpPr/>
          <p:nvPr/>
        </p:nvSpPr>
        <p:spPr>
          <a:xfrm>
            <a:off x="4574693" y="3651922"/>
            <a:ext cx="1323741" cy="1146319"/>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r>
              <a:rPr lang="ko-KR" altLang="en-US" sz="800" b="1" dirty="0" smtClean="0">
                <a:solidFill>
                  <a:schemeClr val="tx1"/>
                </a:solidFill>
              </a:rPr>
              <a:t>동의서 목록</a:t>
            </a:r>
            <a:endParaRPr lang="ko-KR" altLang="en-US" sz="800" b="1" dirty="0">
              <a:solidFill>
                <a:schemeClr val="tx1"/>
              </a:solidFill>
            </a:endParaRPr>
          </a:p>
        </p:txBody>
      </p:sp>
      <p:cxnSp>
        <p:nvCxnSpPr>
          <p:cNvPr id="142" name="연결선: 꺾임 7">
            <a:extLst>
              <a:ext uri="{FF2B5EF4-FFF2-40B4-BE49-F238E27FC236}">
                <a16:creationId xmlns:a16="http://schemas.microsoft.com/office/drawing/2014/main" id="{89A2D828-4C18-4F90-6B31-722E89773AA8}"/>
              </a:ext>
            </a:extLst>
          </p:cNvPr>
          <p:cNvCxnSpPr>
            <a:cxnSpLocks/>
            <a:stCxn id="101" idx="1"/>
          </p:cNvCxnSpPr>
          <p:nvPr/>
        </p:nvCxnSpPr>
        <p:spPr>
          <a:xfrm rot="10800000" flipV="1">
            <a:off x="5215247" y="3142931"/>
            <a:ext cx="324694" cy="50786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직선 화살표 연결선 143">
            <a:extLst>
              <a:ext uri="{FF2B5EF4-FFF2-40B4-BE49-F238E27FC236}">
                <a16:creationId xmlns:a16="http://schemas.microsoft.com/office/drawing/2014/main" id="{9A519F08-B829-E35F-09D8-DFCD1F68B911}"/>
              </a:ext>
            </a:extLst>
          </p:cNvPr>
          <p:cNvCxnSpPr>
            <a:cxnSpLocks/>
          </p:cNvCxnSpPr>
          <p:nvPr/>
        </p:nvCxnSpPr>
        <p:spPr>
          <a:xfrm flipV="1">
            <a:off x="5779380" y="3286931"/>
            <a:ext cx="0" cy="36386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1" name="사각형: 둥근 모서리 5">
            <a:extLst>
              <a:ext uri="{FF2B5EF4-FFF2-40B4-BE49-F238E27FC236}">
                <a16:creationId xmlns:a16="http://schemas.microsoft.com/office/drawing/2014/main" id="{410E5459-200D-7630-863C-88E5109259DF}"/>
              </a:ext>
            </a:extLst>
          </p:cNvPr>
          <p:cNvSpPr/>
          <p:nvPr/>
        </p:nvSpPr>
        <p:spPr>
          <a:xfrm>
            <a:off x="4685328" y="399225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동의서</a:t>
            </a:r>
            <a:r>
              <a:rPr lang="en-US" altLang="ko-KR" sz="800" dirty="0" smtClean="0">
                <a:solidFill>
                  <a:schemeClr val="tx1"/>
                </a:solidFill>
              </a:rPr>
              <a:t>4</a:t>
            </a:r>
            <a:endParaRPr lang="ko-KR" altLang="en-US" sz="800" dirty="0">
              <a:solidFill>
                <a:schemeClr val="tx1"/>
              </a:solidFill>
            </a:endParaRPr>
          </a:p>
        </p:txBody>
      </p:sp>
      <p:sp>
        <p:nvSpPr>
          <p:cNvPr id="158" name="직사각형 157">
            <a:extLst>
              <a:ext uri="{FF2B5EF4-FFF2-40B4-BE49-F238E27FC236}">
                <a16:creationId xmlns:a16="http://schemas.microsoft.com/office/drawing/2014/main" id="{F249990F-1DE5-C694-BDBD-2DE7009D57EA}"/>
              </a:ext>
            </a:extLst>
          </p:cNvPr>
          <p:cNvSpPr/>
          <p:nvPr/>
        </p:nvSpPr>
        <p:spPr>
          <a:xfrm>
            <a:off x="4685328" y="4303845"/>
            <a:ext cx="1062791"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입찰보증금 </a:t>
            </a:r>
            <a:r>
              <a:rPr lang="ko-KR" altLang="en-US" sz="800" dirty="0" err="1" smtClean="0">
                <a:solidFill>
                  <a:schemeClr val="tx1"/>
                </a:solidFill>
              </a:rPr>
              <a:t>지급확약서</a:t>
            </a:r>
            <a:endParaRPr lang="en-US" altLang="ko-KR" sz="800" dirty="0" smtClean="0">
              <a:solidFill>
                <a:schemeClr val="tx1"/>
              </a:solidFill>
            </a:endParaRPr>
          </a:p>
          <a:p>
            <a:r>
              <a:rPr lang="ko-KR" altLang="en-US" sz="800" dirty="0" err="1" smtClean="0">
                <a:solidFill>
                  <a:schemeClr val="tx1"/>
                </a:solidFill>
              </a:rPr>
              <a:t>동의문</a:t>
            </a:r>
            <a:endParaRPr lang="ko-KR" altLang="en-US" sz="800" dirty="0">
              <a:solidFill>
                <a:schemeClr val="tx1"/>
              </a:solidFill>
            </a:endParaRPr>
          </a:p>
        </p:txBody>
      </p:sp>
      <p:cxnSp>
        <p:nvCxnSpPr>
          <p:cNvPr id="161" name="연결선: 꺾임 7">
            <a:extLst>
              <a:ext uri="{FF2B5EF4-FFF2-40B4-BE49-F238E27FC236}">
                <a16:creationId xmlns:a16="http://schemas.microsoft.com/office/drawing/2014/main" id="{89A2D828-4C18-4F90-6B31-722E89773AA8}"/>
              </a:ext>
            </a:extLst>
          </p:cNvPr>
          <p:cNvCxnSpPr>
            <a:cxnSpLocks/>
            <a:stCxn id="101" idx="2"/>
            <a:endCxn id="162" idx="0"/>
          </p:cNvCxnSpPr>
          <p:nvPr/>
        </p:nvCxnSpPr>
        <p:spPr>
          <a:xfrm rot="16200000" flipH="1">
            <a:off x="6576486" y="2700386"/>
            <a:ext cx="337824" cy="151091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2" name="사각형: 둥근 모서리 5">
            <a:extLst>
              <a:ext uri="{FF2B5EF4-FFF2-40B4-BE49-F238E27FC236}">
                <a16:creationId xmlns:a16="http://schemas.microsoft.com/office/drawing/2014/main" id="{410E5459-200D-7630-863C-88E5109259DF}"/>
              </a:ext>
            </a:extLst>
          </p:cNvPr>
          <p:cNvSpPr/>
          <p:nvPr/>
        </p:nvSpPr>
        <p:spPr>
          <a:xfrm>
            <a:off x="7050855" y="4250579"/>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신청 </a:t>
            </a:r>
            <a:r>
              <a:rPr lang="ko-KR" altLang="en-US" sz="800" dirty="0">
                <a:solidFill>
                  <a:schemeClr val="tx1"/>
                </a:solidFill>
              </a:rPr>
              <a:t>완료</a:t>
            </a:r>
          </a:p>
        </p:txBody>
      </p:sp>
      <p:cxnSp>
        <p:nvCxnSpPr>
          <p:cNvPr id="164" name="직선 화살표 연결선 163">
            <a:extLst>
              <a:ext uri="{FF2B5EF4-FFF2-40B4-BE49-F238E27FC236}">
                <a16:creationId xmlns:a16="http://schemas.microsoft.com/office/drawing/2014/main" id="{9A519F08-B829-E35F-09D8-DFCD1F68B911}"/>
              </a:ext>
            </a:extLst>
          </p:cNvPr>
          <p:cNvCxnSpPr>
            <a:cxnSpLocks/>
            <a:stCxn id="162" idx="2"/>
            <a:endCxn id="80" idx="0"/>
          </p:cNvCxnSpPr>
          <p:nvPr/>
        </p:nvCxnSpPr>
        <p:spPr>
          <a:xfrm>
            <a:off x="7500855" y="4538579"/>
            <a:ext cx="0" cy="50143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3" name="사각형: 둥근 모서리 5">
            <a:extLst>
              <a:ext uri="{FF2B5EF4-FFF2-40B4-BE49-F238E27FC236}">
                <a16:creationId xmlns:a16="http://schemas.microsoft.com/office/drawing/2014/main" id="{410E5459-200D-7630-863C-88E5109259DF}"/>
              </a:ext>
            </a:extLst>
          </p:cNvPr>
          <p:cNvSpPr/>
          <p:nvPr/>
        </p:nvSpPr>
        <p:spPr>
          <a:xfrm>
            <a:off x="7049133" y="3624755"/>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전자서명</a:t>
            </a:r>
            <a:endParaRPr lang="ko-KR" altLang="en-US" sz="800" dirty="0">
              <a:solidFill>
                <a:schemeClr val="tx1"/>
              </a:solidFill>
            </a:endParaRPr>
          </a:p>
        </p:txBody>
      </p:sp>
      <p:cxnSp>
        <p:nvCxnSpPr>
          <p:cNvPr id="75" name="직선 화살표 연결선 74">
            <a:extLst>
              <a:ext uri="{FF2B5EF4-FFF2-40B4-BE49-F238E27FC236}">
                <a16:creationId xmlns:a16="http://schemas.microsoft.com/office/drawing/2014/main" id="{9A519F08-B829-E35F-09D8-DFCD1F68B911}"/>
              </a:ext>
            </a:extLst>
          </p:cNvPr>
          <p:cNvCxnSpPr>
            <a:cxnSpLocks/>
            <a:stCxn id="73" idx="2"/>
            <a:endCxn id="162" idx="0"/>
          </p:cNvCxnSpPr>
          <p:nvPr/>
        </p:nvCxnSpPr>
        <p:spPr>
          <a:xfrm>
            <a:off x="7499133" y="3912755"/>
            <a:ext cx="1722" cy="3378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00436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진행단계</a:t>
            </a:r>
            <a:r>
              <a:rPr lang="ko-KR" altLang="en-US" dirty="0"/>
              <a:t>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신청 시에는 </a:t>
            </a:r>
            <a:r>
              <a:rPr lang="ko-KR" altLang="en-US" dirty="0" err="1"/>
              <a:t>진행단계</a:t>
            </a:r>
            <a:r>
              <a:rPr lang="ko-KR" altLang="en-US" dirty="0"/>
              <a:t> </a:t>
            </a:r>
            <a:r>
              <a:rPr lang="ko-KR" altLang="en-US" dirty="0" err="1"/>
              <a:t>미표시</a:t>
            </a:r>
            <a:endParaRPr lang="en-US" altLang="ko-KR" dirty="0"/>
          </a:p>
          <a:p>
            <a:pPr marL="228600" indent="-228600">
              <a:buFont typeface="+mj-lt"/>
              <a:buAutoNum type="arabicPeriod"/>
            </a:pPr>
            <a:r>
              <a:rPr lang="ko-KR" altLang="en-US" dirty="0"/>
              <a:t>서약서 </a:t>
            </a:r>
            <a:r>
              <a:rPr lang="ko-KR" altLang="en-US" dirty="0" smtClean="0"/>
              <a:t>동의 </a:t>
            </a:r>
            <a:r>
              <a:rPr lang="en-US" altLang="ko-KR" dirty="0" smtClean="0"/>
              <a:t>(</a:t>
            </a:r>
            <a:r>
              <a:rPr lang="en-US" altLang="ko-KR" dirty="0" smtClean="0">
                <a:solidFill>
                  <a:srgbClr val="000000"/>
                </a:solidFill>
                <a:latin typeface="맑은 고딕" panose="020B0503020000020004" pitchFamily="50" charset="-127"/>
              </a:rPr>
              <a:t>MUI-BD-04-P02)</a:t>
            </a:r>
            <a:r>
              <a:rPr lang="en-US" altLang="ko-KR" dirty="0"/>
              <a:t/>
            </a:r>
            <a:br>
              <a:rPr lang="en-US" altLang="ko-KR" dirty="0"/>
            </a:br>
            <a:r>
              <a:rPr lang="en-US" altLang="ko-KR" dirty="0"/>
              <a:t>- </a:t>
            </a:r>
            <a:r>
              <a:rPr lang="ko-KR" altLang="en-US" dirty="0"/>
              <a:t>팝업을 통해 내용 확인 및 동의</a:t>
            </a:r>
            <a:endParaRPr lang="en-US" altLang="ko-KR" dirty="0"/>
          </a:p>
          <a:p>
            <a:pPr marL="228600" indent="-228600">
              <a:buFont typeface="+mj-lt"/>
              <a:buAutoNum type="arabicPeriod"/>
            </a:pPr>
            <a:r>
              <a:rPr lang="ko-KR" altLang="en-US" dirty="0"/>
              <a:t>사후심사대상인 경우 추가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서약서동의목록</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서약서 동의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6267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91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300302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5433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46851"/>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7819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60182"/>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571127" y="370060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3" name="그룹 2"/>
          <p:cNvGrpSpPr/>
          <p:nvPr/>
        </p:nvGrpSpPr>
        <p:grpSpPr>
          <a:xfrm>
            <a:off x="747926" y="3354509"/>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11" name="그룹 110"/>
            <p:cNvGrpSpPr/>
            <p:nvPr/>
          </p:nvGrpSpPr>
          <p:grpSpPr>
            <a:xfrm>
              <a:off x="747926" y="2310331"/>
              <a:ext cx="601001" cy="187961"/>
              <a:chOff x="747925" y="3237230"/>
              <a:chExt cx="601001" cy="187961"/>
            </a:xfrm>
          </p:grpSpPr>
          <p:grpSp>
            <p:nvGrpSpPr>
              <p:cNvPr id="112" name="그룹 111"/>
              <p:cNvGrpSpPr/>
              <p:nvPr/>
            </p:nvGrpSpPr>
            <p:grpSpPr>
              <a:xfrm>
                <a:off x="747925" y="3237230"/>
                <a:ext cx="187961" cy="187961"/>
                <a:chOff x="747925" y="3237230"/>
                <a:chExt cx="187961" cy="187961"/>
              </a:xfrm>
            </p:grpSpPr>
            <p:sp>
              <p:nvSpPr>
                <p:cNvPr id="114" name="타원 113"/>
                <p:cNvSpPr/>
                <p:nvPr/>
              </p:nvSpPr>
              <p:spPr>
                <a:xfrm>
                  <a:off x="747925"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3728734"/>
            <a:ext cx="2522014" cy="342712"/>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3838535"/>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7" y="3776980"/>
            <a:ext cx="1631857" cy="24622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latin typeface="맑은 고딕" panose="020B0503020000020004" pitchFamily="50" charset="-127"/>
              </a:rPr>
              <a:t>‘</a:t>
            </a:r>
            <a:r>
              <a:rPr lang="ko-KR" altLang="en-US" sz="800" dirty="0">
                <a:latin typeface="맑은 고딕" panose="020B0503020000020004" pitchFamily="50" charset="-127"/>
              </a:rPr>
              <a:t>조세포탈</a:t>
            </a:r>
            <a:r>
              <a:rPr lang="en-US" altLang="ko-KR" sz="800" dirty="0">
                <a:latin typeface="맑은 고딕" panose="020B0503020000020004" pitchFamily="50" charset="-127"/>
              </a:rPr>
              <a:t>’ </a:t>
            </a:r>
            <a:r>
              <a:rPr lang="ko-KR" altLang="en-US" sz="800" dirty="0">
                <a:latin typeface="맑은 고딕" panose="020B0503020000020004" pitchFamily="50" charset="-127"/>
              </a:rPr>
              <a:t>사실이 없음을 확약하는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서약서</a:t>
            </a:r>
            <a:endParaRPr lang="en-US" altLang="ko-KR" sz="800" dirty="0">
              <a:latin typeface="맑은 고딕" panose="020B0503020000020004" pitchFamily="50" charset="-127"/>
            </a:endParaRPr>
          </a:p>
        </p:txBody>
      </p:sp>
      <p:sp>
        <p:nvSpPr>
          <p:cNvPr id="132" name="모서리가 둥근 직사각형 131"/>
          <p:cNvSpPr/>
          <p:nvPr/>
        </p:nvSpPr>
        <p:spPr>
          <a:xfrm>
            <a:off x="2958909" y="3840390"/>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40" name="사각형: 둥근 모서리 15">
            <a:extLst>
              <a:ext uri="{FF2B5EF4-FFF2-40B4-BE49-F238E27FC236}">
                <a16:creationId xmlns:a16="http://schemas.microsoft.com/office/drawing/2014/main" id="{E2B61CFB-AD16-68D0-8752-50D9C5E01971}"/>
              </a:ext>
            </a:extLst>
          </p:cNvPr>
          <p:cNvSpPr/>
          <p:nvPr/>
        </p:nvSpPr>
        <p:spPr>
          <a:xfrm>
            <a:off x="767702" y="4162253"/>
            <a:ext cx="2522014" cy="2946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TextBox 58">
            <a:extLst>
              <a:ext uri="{FF2B5EF4-FFF2-40B4-BE49-F238E27FC236}">
                <a16:creationId xmlns:a16="http://schemas.microsoft.com/office/drawing/2014/main" id="{02FC114B-B48B-345F-BD70-2B5A196F5B3E}"/>
              </a:ext>
            </a:extLst>
          </p:cNvPr>
          <p:cNvSpPr txBox="1"/>
          <p:nvPr/>
        </p:nvSpPr>
        <p:spPr>
          <a:xfrm>
            <a:off x="865539" y="4243179"/>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2</a:t>
            </a:r>
            <a:endParaRPr lang="ko-KR" altLang="en-US" sz="800" b="1" dirty="0"/>
          </a:p>
        </p:txBody>
      </p:sp>
      <p:sp>
        <p:nvSpPr>
          <p:cNvPr id="142" name="TextBox 58">
            <a:extLst>
              <a:ext uri="{FF2B5EF4-FFF2-40B4-BE49-F238E27FC236}">
                <a16:creationId xmlns:a16="http://schemas.microsoft.com/office/drawing/2014/main" id="{02FC114B-B48B-345F-BD70-2B5A196F5B3E}"/>
              </a:ext>
            </a:extLst>
          </p:cNvPr>
          <p:cNvSpPr txBox="1"/>
          <p:nvPr/>
        </p:nvSpPr>
        <p:spPr>
          <a:xfrm>
            <a:off x="981277" y="4243179"/>
            <a:ext cx="1033937"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t>청렴 계약 이행 서약서</a:t>
            </a:r>
          </a:p>
        </p:txBody>
      </p:sp>
      <p:sp>
        <p:nvSpPr>
          <p:cNvPr id="143" name="모서리가 둥근 직사각형 142"/>
          <p:cNvSpPr/>
          <p:nvPr/>
        </p:nvSpPr>
        <p:spPr>
          <a:xfrm>
            <a:off x="2958909" y="4245034"/>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3842233"/>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99" name="사각형: 둥근 모서리 15">
            <a:extLst>
              <a:ext uri="{FF2B5EF4-FFF2-40B4-BE49-F238E27FC236}">
                <a16:creationId xmlns:a16="http://schemas.microsoft.com/office/drawing/2014/main" id="{E2B61CFB-AD16-68D0-8752-50D9C5E01971}"/>
              </a:ext>
            </a:extLst>
          </p:cNvPr>
          <p:cNvSpPr/>
          <p:nvPr/>
        </p:nvSpPr>
        <p:spPr>
          <a:xfrm>
            <a:off x="767702" y="4548833"/>
            <a:ext cx="2522014" cy="34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0" name="TextBox 58">
            <a:extLst>
              <a:ext uri="{FF2B5EF4-FFF2-40B4-BE49-F238E27FC236}">
                <a16:creationId xmlns:a16="http://schemas.microsoft.com/office/drawing/2014/main" id="{02FC114B-B48B-345F-BD70-2B5A196F5B3E}"/>
              </a:ext>
            </a:extLst>
          </p:cNvPr>
          <p:cNvSpPr txBox="1"/>
          <p:nvPr/>
        </p:nvSpPr>
        <p:spPr>
          <a:xfrm>
            <a:off x="865539" y="4658278"/>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3</a:t>
            </a:r>
            <a:endParaRPr lang="ko-KR" altLang="en-US" sz="800" b="1" dirty="0"/>
          </a:p>
        </p:txBody>
      </p:sp>
      <p:sp>
        <p:nvSpPr>
          <p:cNvPr id="202" name="TextBox 58">
            <a:extLst>
              <a:ext uri="{FF2B5EF4-FFF2-40B4-BE49-F238E27FC236}">
                <a16:creationId xmlns:a16="http://schemas.microsoft.com/office/drawing/2014/main" id="{02FC114B-B48B-345F-BD70-2B5A196F5B3E}"/>
              </a:ext>
            </a:extLst>
          </p:cNvPr>
          <p:cNvSpPr txBox="1"/>
          <p:nvPr/>
        </p:nvSpPr>
        <p:spPr>
          <a:xfrm>
            <a:off x="981277" y="4596723"/>
            <a:ext cx="16318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하도급대금의 지급관련 확인 및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확약서</a:t>
            </a:r>
            <a:endParaRPr lang="en-US" altLang="ko-KR" sz="800" dirty="0">
              <a:latin typeface="맑은 고딕" panose="020B0503020000020004" pitchFamily="50" charset="-127"/>
            </a:endParaRPr>
          </a:p>
        </p:txBody>
      </p:sp>
      <p:sp>
        <p:nvSpPr>
          <p:cNvPr id="203" name="모서리가 둥근 직사각형 202"/>
          <p:cNvSpPr/>
          <p:nvPr/>
        </p:nvSpPr>
        <p:spPr>
          <a:xfrm>
            <a:off x="2958909" y="466013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675399" y="49811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5399" y="2358876"/>
            <a:ext cx="2712027" cy="508898"/>
            <a:chOff x="3795734" y="1602341"/>
            <a:chExt cx="2712027" cy="508898"/>
          </a:xfrm>
        </p:grpSpPr>
        <p:sp>
          <p:nvSpPr>
            <p:cNvPr id="14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51" name="모서리가 둥근 직사각형 150"/>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52" name="모서리가 둥근 직사각형 151"/>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7" name="직사각형 126">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795733"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3825414" y="1677657"/>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4184" y="1775941"/>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sp>
        <p:nvSpPr>
          <p:cNvPr id="194" name="타원 193"/>
          <p:cNvSpPr/>
          <p:nvPr/>
        </p:nvSpPr>
        <p:spPr>
          <a:xfrm>
            <a:off x="3910226" y="176629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6259047" y="1814788"/>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0" name="직선 연결선 209">
            <a:extLst>
              <a:ext uri="{FF2B5EF4-FFF2-40B4-BE49-F238E27FC236}">
                <a16:creationId xmlns:a16="http://schemas.microsoft.com/office/drawing/2014/main" id="{E9293055-D5CD-4B9E-7F64-64B2D2CA7A52}"/>
              </a:ext>
            </a:extLst>
          </p:cNvPr>
          <p:cNvCxnSpPr/>
          <p:nvPr/>
        </p:nvCxnSpPr>
        <p:spPr>
          <a:xfrm>
            <a:off x="3795734" y="156227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2" name="타원 211">
            <a:extLst>
              <a:ext uri="{FF2B5EF4-FFF2-40B4-BE49-F238E27FC236}">
                <a16:creationId xmlns:a16="http://schemas.microsoft.com/office/drawing/2014/main" id="{37A7FF4F-0EAA-1463-560A-D5EC24416103}"/>
              </a:ext>
            </a:extLst>
          </p:cNvPr>
          <p:cNvSpPr/>
          <p:nvPr/>
        </p:nvSpPr>
        <p:spPr>
          <a:xfrm>
            <a:off x="3709669" y="167510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93" name="그룹 92"/>
          <p:cNvGrpSpPr/>
          <p:nvPr/>
        </p:nvGrpSpPr>
        <p:grpSpPr>
          <a:xfrm>
            <a:off x="677960" y="1582647"/>
            <a:ext cx="2714637" cy="686386"/>
            <a:chOff x="677960" y="1582647"/>
            <a:chExt cx="2714637" cy="686386"/>
          </a:xfrm>
        </p:grpSpPr>
        <p:sp>
          <p:nvSpPr>
            <p:cNvPr id="94" name="TextBox 93">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입찰참가신청서 작성</a:t>
              </a:r>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6" name="그룹 95"/>
            <p:cNvGrpSpPr/>
            <p:nvPr/>
          </p:nvGrpSpPr>
          <p:grpSpPr>
            <a:xfrm rot="5400000">
              <a:off x="852159" y="2062596"/>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677960" y="1582647"/>
              <a:ext cx="2712027" cy="324286"/>
              <a:chOff x="677960" y="1582647"/>
              <a:chExt cx="2712027" cy="324286"/>
            </a:xfrm>
          </p:grpSpPr>
          <p:pic>
            <p:nvPicPr>
              <p:cNvPr id="129"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5" name="직선 연결선 13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타원 135"/>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타원 136"/>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타원 137"/>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133" name="그룹 132"/>
          <p:cNvGrpSpPr/>
          <p:nvPr/>
        </p:nvGrpSpPr>
        <p:grpSpPr>
          <a:xfrm>
            <a:off x="8223250" y="569392"/>
            <a:ext cx="3365500" cy="634511"/>
            <a:chOff x="8223250" y="569392"/>
            <a:chExt cx="3365500" cy="634511"/>
          </a:xfrm>
        </p:grpSpPr>
        <p:sp>
          <p:nvSpPr>
            <p:cNvPr id="139" name="직사각형 138"/>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147" name="직사각형 14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입찰참가신청 화면과 동일함</a:t>
              </a:r>
              <a:endParaRPr lang="en-US" altLang="ko-KR" sz="700" dirty="0"/>
            </a:p>
          </p:txBody>
        </p:sp>
      </p:grpSp>
    </p:spTree>
    <p:extLst>
      <p:ext uri="{BB962C8B-B14F-4D97-AF65-F5344CB8AC3E}">
        <p14:creationId xmlns:p14="http://schemas.microsoft.com/office/powerpoint/2010/main" val="421104048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서약서</a:t>
            </a:r>
            <a:r>
              <a:rPr lang="en-US" altLang="ko-KR" dirty="0" smtClean="0">
                <a:latin typeface="+mn-ea"/>
              </a:rPr>
              <a:t>1</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a:t>
            </a:r>
            <a:r>
              <a:rPr lang="en-US" altLang="ko-KR" dirty="0">
                <a:latin typeface="+mn-ea"/>
              </a:rPr>
              <a:t>‘</a:t>
            </a:r>
            <a:r>
              <a:rPr lang="ko-KR" altLang="en-US" dirty="0">
                <a:latin typeface="+mn-ea"/>
              </a:rPr>
              <a:t>조세포탈</a:t>
            </a:r>
            <a:r>
              <a:rPr lang="en-US" altLang="ko-KR" dirty="0">
                <a:latin typeface="+mn-ea"/>
              </a:rPr>
              <a:t>’ </a:t>
            </a:r>
            <a:r>
              <a:rPr lang="ko-KR" altLang="en-US" dirty="0">
                <a:latin typeface="+mn-ea"/>
              </a:rPr>
              <a:t>사실이 없음을 확약하는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949252" cy="123111"/>
          </a:xfrm>
          <a:prstGeom prst="rect">
            <a:avLst/>
          </a:prstGeom>
          <a:noFill/>
        </p:spPr>
        <p:txBody>
          <a:bodyPr wrap="none" lIns="0" tIns="0" rIns="0" bIns="0" rtlCol="0">
            <a:spAutoFit/>
          </a:bodyPr>
          <a:lstStyle/>
          <a:p>
            <a:r>
              <a:rPr lang="en-US" altLang="ko-KR" sz="800" b="1" dirty="0">
                <a:latin typeface="맑은 고딕" panose="020B0503020000020004" pitchFamily="50" charset="-127"/>
              </a:rPr>
              <a:t>‘</a:t>
            </a:r>
            <a:r>
              <a:rPr lang="ko-KR" altLang="en-US" sz="800" b="1" dirty="0">
                <a:latin typeface="맑은 고딕" panose="020B0503020000020004" pitchFamily="50" charset="-127"/>
              </a:rPr>
              <a:t>조세포탈</a:t>
            </a:r>
            <a:r>
              <a:rPr lang="en-US" altLang="ko-KR" sz="800" b="1" dirty="0">
                <a:latin typeface="맑은 고딕" panose="020B0503020000020004" pitchFamily="50" charset="-127"/>
              </a:rPr>
              <a:t>’ </a:t>
            </a:r>
            <a:r>
              <a:rPr lang="ko-KR" altLang="en-US" sz="800" b="1" dirty="0">
                <a:latin typeface="맑은 고딕" panose="020B0503020000020004" pitchFamily="50" charset="-127"/>
              </a:rPr>
              <a:t>사실이 없음을 확약하는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646331"/>
          </a:xfrm>
          <a:prstGeom prst="rect">
            <a:avLst/>
          </a:prstGeom>
          <a:noFill/>
        </p:spPr>
        <p:txBody>
          <a:bodyPr wrap="square" lIns="0" tIns="0" rIns="0" bIns="0" rtlCol="0">
            <a:spAutoFit/>
          </a:bodyPr>
          <a:lstStyle/>
          <a:p>
            <a:r>
              <a:rPr lang="ko-KR" altLang="en-US" sz="700" dirty="0"/>
              <a:t>당사는 </a:t>
            </a:r>
            <a:r>
              <a:rPr lang="en-US" altLang="ko-KR" sz="700" dirty="0"/>
              <a:t>[</a:t>
            </a:r>
            <a:r>
              <a:rPr lang="ko-KR" altLang="en-US" sz="700" dirty="0"/>
              <a:t>국가계약법</a:t>
            </a:r>
            <a:r>
              <a:rPr lang="en-US" altLang="ko-KR" sz="700" dirty="0"/>
              <a:t>] </a:t>
            </a:r>
            <a:r>
              <a:rPr lang="ko-KR" altLang="en-US" sz="700" dirty="0">
                <a:solidFill>
                  <a:srgbClr val="000000"/>
                </a:solidFill>
              </a:rPr>
              <a:t>제</a:t>
            </a:r>
            <a:r>
              <a:rPr lang="en-US" altLang="ko-KR" sz="700" dirty="0">
                <a:solidFill>
                  <a:srgbClr val="000000"/>
                </a:solidFill>
              </a:rPr>
              <a:t>27</a:t>
            </a:r>
            <a:r>
              <a:rPr lang="ko-KR" altLang="en-US" sz="700" dirty="0">
                <a:solidFill>
                  <a:srgbClr val="000000"/>
                </a:solidFill>
              </a:rPr>
              <a:t>조의</a:t>
            </a:r>
            <a:r>
              <a:rPr lang="en-US" altLang="ko-KR" sz="700" dirty="0">
                <a:solidFill>
                  <a:srgbClr val="000000"/>
                </a:solidFill>
              </a:rPr>
              <a:t>5</a:t>
            </a:r>
            <a:r>
              <a:rPr lang="ko-KR" altLang="en-US" sz="700" dirty="0">
                <a:solidFill>
                  <a:srgbClr val="000000"/>
                </a:solidFill>
              </a:rPr>
              <a:t>제</a:t>
            </a:r>
            <a:r>
              <a:rPr lang="en-US" altLang="ko-KR" sz="700" dirty="0">
                <a:solidFill>
                  <a:srgbClr val="000000"/>
                </a:solidFill>
              </a:rPr>
              <a:t>1</a:t>
            </a:r>
            <a:r>
              <a:rPr lang="ko-KR" altLang="en-US" sz="700" dirty="0">
                <a:solidFill>
                  <a:srgbClr val="000000"/>
                </a:solidFill>
              </a:rPr>
              <a:t>항에 따른 조세포탈 등을 한 자가 아님을 서약합니다</a:t>
            </a:r>
            <a:r>
              <a:rPr lang="en-US" altLang="ko-KR" sz="700" dirty="0">
                <a:solidFill>
                  <a:srgbClr val="000000"/>
                </a:solidFill>
              </a:rPr>
              <a:t>. </a:t>
            </a:r>
            <a:r>
              <a:rPr lang="ko-KR" altLang="en-US" sz="700" dirty="0">
                <a:solidFill>
                  <a:srgbClr val="000000"/>
                </a:solidFill>
              </a:rPr>
              <a:t>만일 다음 각 호의 사유에 해당되어 유죄판결이 확정된 날부터 </a:t>
            </a:r>
            <a:r>
              <a:rPr lang="en-US" altLang="ko-KR" sz="700" dirty="0">
                <a:solidFill>
                  <a:srgbClr val="000000"/>
                </a:solidFill>
              </a:rPr>
              <a:t>2</a:t>
            </a:r>
            <a:r>
              <a:rPr lang="ko-KR" altLang="en-US" sz="700" dirty="0">
                <a:solidFill>
                  <a:srgbClr val="000000"/>
                </a:solidFill>
              </a:rPr>
              <a:t>년이 지나지 않은 사실이 발견된 때에는 계약의 </a:t>
            </a:r>
            <a:r>
              <a:rPr lang="ko-KR" altLang="en-US" sz="700" dirty="0" err="1">
                <a:solidFill>
                  <a:srgbClr val="000000"/>
                </a:solidFill>
              </a:rPr>
              <a:t>해제ㆍ해지를</a:t>
            </a:r>
            <a:r>
              <a:rPr lang="ko-KR" altLang="en-US" sz="700" dirty="0">
                <a:solidFill>
                  <a:srgbClr val="000000"/>
                </a:solidFill>
              </a:rPr>
              <a:t> 당하는 등의 불이익을 감수하겠으며</a:t>
            </a:r>
            <a:r>
              <a:rPr lang="en-US" altLang="ko-KR" sz="700" dirty="0">
                <a:solidFill>
                  <a:srgbClr val="000000"/>
                </a:solidFill>
              </a:rPr>
              <a:t>, </a:t>
            </a:r>
            <a:r>
              <a:rPr lang="ko-KR" altLang="en-US" sz="700" dirty="0">
                <a:solidFill>
                  <a:srgbClr val="000000"/>
                </a:solidFill>
              </a:rPr>
              <a:t>「국가계약법 </a:t>
            </a:r>
            <a:r>
              <a:rPr lang="ko-KR" altLang="en-US" sz="700" dirty="0" err="1">
                <a:solidFill>
                  <a:srgbClr val="000000"/>
                </a:solidFill>
              </a:rPr>
              <a:t>시행령」제</a:t>
            </a:r>
            <a:r>
              <a:rPr lang="en-US" altLang="ko-KR" sz="700" dirty="0">
                <a:solidFill>
                  <a:srgbClr val="000000"/>
                </a:solidFill>
              </a:rPr>
              <a:t>76</a:t>
            </a:r>
            <a:r>
              <a:rPr lang="ko-KR" altLang="en-US" sz="700" dirty="0">
                <a:solidFill>
                  <a:srgbClr val="000000"/>
                </a:solidFill>
              </a:rPr>
              <a:t>조제</a:t>
            </a:r>
            <a:r>
              <a:rPr lang="en-US" altLang="ko-KR" sz="700" dirty="0">
                <a:solidFill>
                  <a:srgbClr val="000000"/>
                </a:solidFill>
              </a:rPr>
              <a:t>1</a:t>
            </a:r>
            <a:r>
              <a:rPr lang="ko-KR" altLang="en-US" sz="700" dirty="0" err="1">
                <a:solidFill>
                  <a:srgbClr val="000000"/>
                </a:solidFill>
              </a:rPr>
              <a:t>항제</a:t>
            </a:r>
            <a:r>
              <a:rPr lang="en-US" altLang="ko-KR" sz="700" dirty="0">
                <a:solidFill>
                  <a:srgbClr val="000000"/>
                </a:solidFill>
              </a:rPr>
              <a:t>1</a:t>
            </a:r>
            <a:r>
              <a:rPr lang="ko-KR" altLang="en-US" sz="700" dirty="0" err="1">
                <a:solidFill>
                  <a:srgbClr val="000000"/>
                </a:solidFill>
              </a:rPr>
              <a:t>호가목에</a:t>
            </a:r>
            <a:r>
              <a:rPr lang="ko-KR" altLang="en-US" sz="700" dirty="0">
                <a:solidFill>
                  <a:srgbClr val="000000"/>
                </a:solidFill>
              </a:rPr>
              <a:t> 따라 부정당업자의 입찰참가자격제한 처분을 받겠습니다</a:t>
            </a:r>
            <a:r>
              <a:rPr lang="en-US" altLang="ko-KR" sz="700" dirty="0">
                <a:solidFill>
                  <a:srgbClr val="000000"/>
                </a:solidFill>
              </a:rPr>
              <a:t>.</a:t>
            </a:r>
            <a:endParaRPr lang="en-US" altLang="ko-KR" sz="700" dirty="0"/>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138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17412" y="46469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17412" y="51029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17412" y="5343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56917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180219"/>
            <a:ext cx="2473940" cy="1400383"/>
          </a:xfrm>
          <a:prstGeom prst="rect">
            <a:avLst/>
          </a:prstGeom>
          <a:noFill/>
        </p:spPr>
        <p:txBody>
          <a:bodyPr wrap="square" lIns="0" tIns="0" rIns="0" bIns="0" rtlCol="0">
            <a:spAutoFit/>
          </a:bodyPr>
          <a:lstStyle/>
          <a:p>
            <a:pPr marL="228600" indent="-228600">
              <a:buAutoNum type="arabicPeriod"/>
            </a:pPr>
            <a:r>
              <a:rPr lang="en-US" altLang="ko-KR" sz="700" dirty="0">
                <a:latin typeface="맑은 고딕" panose="020B0503020000020004" pitchFamily="50" charset="-127"/>
              </a:rPr>
              <a:t>[</a:t>
            </a:r>
            <a:r>
              <a:rPr lang="ko-KR" altLang="en-US" sz="700" dirty="0">
                <a:latin typeface="맑은 고딕" panose="020B0503020000020004" pitchFamily="50" charset="-127"/>
              </a:rPr>
              <a:t>조세범처벌법</a:t>
            </a:r>
            <a:r>
              <a:rPr lang="en-US" altLang="ko-KR" sz="700" dirty="0">
                <a:latin typeface="맑은 고딕" panose="020B0503020000020004" pitchFamily="50" charset="-127"/>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조에 따른 조세 포탈세액이나 환급</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공제받은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맑은 고딕" panose="020B0503020000020004" pitchFamily="50" charset="-127"/>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관세법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270</a:t>
            </a:r>
            <a:r>
              <a:rPr lang="ko-KR" altLang="en-US" sz="700" dirty="0">
                <a:solidFill>
                  <a:srgbClr val="000000"/>
                </a:solidFill>
                <a:latin typeface="Consolas" panose="020B0609020204030204" pitchFamily="49" charset="0"/>
              </a:rPr>
              <a:t>조에 다른 부정한 방법으로 관세를 </a:t>
            </a:r>
            <a:r>
              <a:rPr lang="ko-KR" altLang="en-US" sz="700" dirty="0" err="1">
                <a:solidFill>
                  <a:srgbClr val="000000"/>
                </a:solidFill>
                <a:latin typeface="Consolas" panose="020B0609020204030204" pitchFamily="49" charset="0"/>
              </a:rPr>
              <a:t>감면받거나</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면탈하거나</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환급받은</a:t>
            </a:r>
            <a:r>
              <a:rPr lang="ko-KR" altLang="en-US" sz="700" dirty="0">
                <a:solidFill>
                  <a:srgbClr val="000000"/>
                </a:solidFill>
                <a:latin typeface="Consolas" panose="020B0609020204030204" pitchFamily="49" charset="0"/>
              </a:rPr>
              <a:t>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지방세기본법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102</a:t>
            </a:r>
            <a:r>
              <a:rPr lang="ko-KR" altLang="en-US" sz="700" dirty="0">
                <a:solidFill>
                  <a:srgbClr val="000000"/>
                </a:solidFill>
                <a:latin typeface="Consolas" panose="020B0609020204030204" pitchFamily="49" charset="0"/>
              </a:rPr>
              <a:t>조에 따른 지방세 포탈세액이나 환급</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공제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국제조세조정에 관한 법률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53</a:t>
            </a:r>
            <a:r>
              <a:rPr lang="ko-KR" altLang="en-US" sz="700" dirty="0">
                <a:solidFill>
                  <a:srgbClr val="000000"/>
                </a:solidFill>
                <a:latin typeface="Consolas" panose="020B0609020204030204" pitchFamily="49" charset="0"/>
              </a:rPr>
              <a:t>조에 따른 해외금융계좌의 신고의무를 위반하고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그 신고의무 </a:t>
            </a:r>
            <a:r>
              <a:rPr lang="ko-KR" altLang="en-US" sz="700" dirty="0" err="1">
                <a:solidFill>
                  <a:srgbClr val="000000"/>
                </a:solidFill>
                <a:latin typeface="Consolas" panose="020B0609020204030204" pitchFamily="49" charset="0"/>
              </a:rPr>
              <a:t>위반금액이</a:t>
            </a:r>
            <a:r>
              <a:rPr lang="ko-KR" altLang="en-US" sz="700" dirty="0">
                <a:solidFill>
                  <a:srgbClr val="000000"/>
                </a:solidFill>
                <a:latin typeface="Consolas" panose="020B0609020204030204" pitchFamily="49" charset="0"/>
              </a:rPr>
              <a:t> 같은 법 제 </a:t>
            </a:r>
            <a:r>
              <a:rPr lang="en-US" altLang="ko-KR" sz="700" dirty="0">
                <a:solidFill>
                  <a:srgbClr val="000000"/>
                </a:solidFill>
                <a:latin typeface="Consolas" panose="020B0609020204030204" pitchFamily="49" charset="0"/>
              </a:rPr>
              <a:t>16</a:t>
            </a:r>
            <a:r>
              <a:rPr lang="ko-KR" altLang="en-US" sz="700" dirty="0">
                <a:solidFill>
                  <a:srgbClr val="000000"/>
                </a:solidFill>
                <a:latin typeface="Consolas" panose="020B0609020204030204" pitchFamily="49" charset="0"/>
              </a:rPr>
              <a:t>조제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금액을 초과하는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외국환거래법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18</a:t>
            </a:r>
            <a:r>
              <a:rPr lang="ko-KR" altLang="en-US" sz="700" dirty="0">
                <a:solidFill>
                  <a:srgbClr val="000000"/>
                </a:solidFill>
                <a:latin typeface="Consolas" panose="020B0609020204030204" pitchFamily="49" charset="0"/>
              </a:rPr>
              <a:t>조에 따른 자본거래의 신고의무를 위반하고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그 신고의무 </a:t>
            </a:r>
            <a:r>
              <a:rPr lang="ko-KR" altLang="en-US" sz="700" dirty="0" err="1">
                <a:solidFill>
                  <a:srgbClr val="000000"/>
                </a:solidFill>
                <a:latin typeface="Consolas" panose="020B0609020204030204" pitchFamily="49" charset="0"/>
              </a:rPr>
              <a:t>위반금액이</a:t>
            </a:r>
            <a:r>
              <a:rPr lang="ko-KR" altLang="en-US" sz="700" dirty="0">
                <a:solidFill>
                  <a:srgbClr val="000000"/>
                </a:solidFill>
                <a:latin typeface="Consolas" panose="020B0609020204030204" pitchFamily="49" charset="0"/>
              </a:rPr>
              <a:t> 같은 법 제</a:t>
            </a:r>
            <a:r>
              <a:rPr lang="en-US" altLang="ko-KR" sz="700" dirty="0">
                <a:solidFill>
                  <a:srgbClr val="000000"/>
                </a:solidFill>
                <a:latin typeface="Consolas" panose="020B0609020204030204" pitchFamily="49" charset="0"/>
              </a:rPr>
              <a:t>29</a:t>
            </a:r>
            <a:r>
              <a:rPr lang="ko-KR" altLang="en-US" sz="700" dirty="0">
                <a:solidFill>
                  <a:srgbClr val="000000"/>
                </a:solidFill>
                <a:latin typeface="Consolas" panose="020B0609020204030204" pitchFamily="49" charset="0"/>
              </a:rPr>
              <a:t>조제</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항제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호에 해당하는 자</a:t>
            </a:r>
            <a:endParaRPr lang="en-US" altLang="ko-KR" sz="700" dirty="0">
              <a:latin typeface="맑은 고딕" panose="020B0503020000020004" pitchFamily="50" charset="-127"/>
            </a:endParaRPr>
          </a:p>
        </p:txBody>
      </p:sp>
      <p:sp>
        <p:nvSpPr>
          <p:cNvPr id="255" name="TextBox 254">
            <a:extLst>
              <a:ext uri="{FF2B5EF4-FFF2-40B4-BE49-F238E27FC236}">
                <a16:creationId xmlns:a16="http://schemas.microsoft.com/office/drawing/2014/main" id="{FFC49AEA-2A8F-250C-A86A-A7751D9706C3}"/>
              </a:ext>
            </a:extLst>
          </p:cNvPr>
          <p:cNvSpPr txBox="1"/>
          <p:nvPr/>
        </p:nvSpPr>
        <p:spPr>
          <a:xfrm>
            <a:off x="804476" y="4713394"/>
            <a:ext cx="2473940" cy="323165"/>
          </a:xfrm>
          <a:prstGeom prst="rect">
            <a:avLst/>
          </a:prstGeom>
          <a:noFill/>
        </p:spPr>
        <p:txBody>
          <a:bodyPr wrap="square" lIns="0" tIns="0" rIns="0" bIns="0" rtlCol="0">
            <a:spAutoFit/>
          </a:bodyPr>
          <a:lstStyle/>
          <a:p>
            <a:r>
              <a:rPr lang="ko-KR" altLang="en-US" sz="700" dirty="0">
                <a:latin typeface="맑은 고딕" panose="020B0503020000020004" pitchFamily="50" charset="-127"/>
              </a:rPr>
              <a:t>또한</a:t>
            </a:r>
            <a:r>
              <a:rPr lang="en-US" altLang="ko-KR" sz="700" dirty="0">
                <a:latin typeface="맑은 고딕" panose="020B0503020000020004" pitchFamily="50" charset="-127"/>
              </a:rPr>
              <a:t>, </a:t>
            </a:r>
            <a:r>
              <a:rPr lang="ko-KR" altLang="en-US" sz="700" dirty="0">
                <a:latin typeface="맑은 고딕" panose="020B0503020000020004" pitchFamily="50" charset="-127"/>
              </a:rPr>
              <a:t>당사는 계약담당공무원이 요구할 경우 </a:t>
            </a:r>
            <a:r>
              <a:rPr lang="en-US" altLang="ko-KR" sz="700" dirty="0">
                <a:latin typeface="맑은 고딕" panose="020B0503020000020004" pitchFamily="50" charset="-127"/>
              </a:rPr>
              <a:t>‘</a:t>
            </a:r>
            <a:r>
              <a:rPr lang="ko-KR" altLang="en-US" sz="700" dirty="0">
                <a:latin typeface="맑은 고딕" panose="020B0503020000020004" pitchFamily="50" charset="-127"/>
              </a:rPr>
              <a:t>조세포탈</a:t>
            </a:r>
            <a:r>
              <a:rPr lang="en-US" altLang="ko-KR" sz="700" dirty="0">
                <a:latin typeface="맑은 고딕" panose="020B0503020000020004" pitchFamily="50" charset="-127"/>
              </a:rPr>
              <a:t>’</a:t>
            </a:r>
            <a:r>
              <a:rPr lang="ko-KR" altLang="en-US" sz="700" dirty="0">
                <a:solidFill>
                  <a:srgbClr val="000000"/>
                </a:solidFill>
                <a:latin typeface="Consolas" panose="020B0609020204030204" pitchFamily="49" charset="0"/>
              </a:rPr>
              <a:t>을 한 사실이 없음을 입증하는 증빙서류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범죄경력자료 </a:t>
            </a:r>
            <a:r>
              <a:rPr lang="ko-KR" altLang="en-US" sz="700" dirty="0" err="1">
                <a:solidFill>
                  <a:srgbClr val="000000"/>
                </a:solidFill>
                <a:latin typeface="Consolas" panose="020B0609020204030204" pitchFamily="49" charset="0"/>
              </a:rPr>
              <a:t>회보서나</a:t>
            </a:r>
            <a:r>
              <a:rPr lang="ko-KR" altLang="en-US" sz="700" dirty="0">
                <a:solidFill>
                  <a:srgbClr val="000000"/>
                </a:solidFill>
                <a:latin typeface="Consolas" panose="020B0609020204030204" pitchFamily="49" charset="0"/>
              </a:rPr>
              <a:t> 판결문 등</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를 즉시 제출할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804476" y="5169351"/>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57" name="TextBox 256">
            <a:extLst>
              <a:ext uri="{FF2B5EF4-FFF2-40B4-BE49-F238E27FC236}">
                <a16:creationId xmlns:a16="http://schemas.microsoft.com/office/drawing/2014/main" id="{FFC49AEA-2A8F-250C-A86A-A7751D9706C3}"/>
              </a:ext>
            </a:extLst>
          </p:cNvPr>
          <p:cNvSpPr txBox="1"/>
          <p:nvPr/>
        </p:nvSpPr>
        <p:spPr>
          <a:xfrm>
            <a:off x="804476" y="5409865"/>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 [</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ko-KR" altLang="en-US" sz="700" dirty="0">
                <a:latin typeface="맑은 고딕" panose="020B0503020000020004" pitchFamily="50" charset="-127"/>
              </a:rPr>
              <a:t>방위사업청장 귀하 </a:t>
            </a:r>
            <a:r>
              <a:rPr lang="en-US" altLang="ko-KR" sz="700" dirty="0">
                <a:latin typeface="맑은 고딕" panose="020B0503020000020004" pitchFamily="50" charset="-127"/>
              </a:rPr>
              <a:t>OR ####</a:t>
            </a:r>
            <a:r>
              <a:rPr lang="ko-KR" altLang="en-US" sz="700" dirty="0">
                <a:latin typeface="맑은 고딕" panose="020B0503020000020004" pitchFamily="50" charset="-127"/>
              </a:rPr>
              <a:t>부대 귀하</a:t>
            </a:r>
            <a:endParaRPr lang="en-US" altLang="ko-KR" sz="700" dirty="0">
              <a:latin typeface="맑은 고딕" panose="020B0503020000020004" pitchFamily="50" charset="-127"/>
            </a:endParaRPr>
          </a:p>
        </p:txBody>
      </p:sp>
      <p:grpSp>
        <p:nvGrpSpPr>
          <p:cNvPr id="7" name="그룹 6"/>
          <p:cNvGrpSpPr/>
          <p:nvPr/>
        </p:nvGrpSpPr>
        <p:grpSpPr>
          <a:xfrm>
            <a:off x="1432789" y="5769652"/>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949967"/>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95" name="타원 194">
            <a:extLst>
              <a:ext uri="{FF2B5EF4-FFF2-40B4-BE49-F238E27FC236}">
                <a16:creationId xmlns:a16="http://schemas.microsoft.com/office/drawing/2014/main" id="{37A7FF4F-0EAA-1463-560A-D5EC24416103}"/>
              </a:ext>
            </a:extLst>
          </p:cNvPr>
          <p:cNvSpPr/>
          <p:nvPr/>
        </p:nvSpPr>
        <p:spPr>
          <a:xfrm>
            <a:off x="571127" y="51224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3" name="타원 202">
            <a:extLst>
              <a:ext uri="{FF2B5EF4-FFF2-40B4-BE49-F238E27FC236}">
                <a16:creationId xmlns:a16="http://schemas.microsoft.com/office/drawing/2014/main" id="{37A7FF4F-0EAA-1463-560A-D5EC24416103}"/>
              </a:ext>
            </a:extLst>
          </p:cNvPr>
          <p:cNvSpPr/>
          <p:nvPr/>
        </p:nvSpPr>
        <p:spPr>
          <a:xfrm>
            <a:off x="571127" y="541963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57374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grpSp>
        <p:nvGrpSpPr>
          <p:cNvPr id="43" name="그룹 42"/>
          <p:cNvGrpSpPr/>
          <p:nvPr/>
        </p:nvGrpSpPr>
        <p:grpSpPr>
          <a:xfrm>
            <a:off x="8223250" y="569392"/>
            <a:ext cx="3365500" cy="634511"/>
            <a:chOff x="8223250" y="569392"/>
            <a:chExt cx="3365500" cy="634511"/>
          </a:xfrm>
        </p:grpSpPr>
        <p:sp>
          <p:nvSpPr>
            <p:cNvPr id="44" name="직사각형 4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45" name="직사각형 44"/>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입찰참가신청 화면과 동일함</a:t>
              </a:r>
              <a:endParaRPr lang="en-US" altLang="ko-KR" sz="700" dirty="0"/>
            </a:p>
          </p:txBody>
        </p:sp>
      </p:grpSp>
    </p:spTree>
    <p:extLst>
      <p:ext uri="{BB962C8B-B14F-4D97-AF65-F5344CB8AC3E}">
        <p14:creationId xmlns:p14="http://schemas.microsoft.com/office/powerpoint/2010/main" val="397961123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서약서</a:t>
            </a:r>
            <a:r>
              <a:rPr lang="en-US" altLang="ko-KR" dirty="0" smtClean="0">
                <a:latin typeface="+mn-ea"/>
              </a:rPr>
              <a:t>2</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청렴 계약 이행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033936"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청렴 계약 이행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754053"/>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우리회사는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부패없는</a:t>
            </a:r>
            <a:r>
              <a:rPr lang="ko-KR" altLang="en-US" sz="700" dirty="0">
                <a:solidFill>
                  <a:srgbClr val="000000"/>
                </a:solidFill>
                <a:latin typeface="Consolas" panose="020B0609020204030204" pitchFamily="49" charset="0"/>
              </a:rPr>
              <a:t> 투명한 기업경영과 공정한 행정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 사회발전과 국가 경쟁력에 중요한 관건이 됨을 깊이 인식하며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국제적으로도 </a:t>
            </a:r>
            <a:r>
              <a:rPr lang="en-US" altLang="ko-KR" sz="700" dirty="0">
                <a:solidFill>
                  <a:srgbClr val="000000"/>
                </a:solidFill>
                <a:latin typeface="Consolas" panose="020B0609020204030204" pitchFamily="49" charset="0"/>
              </a:rPr>
              <a:t>OECD</a:t>
            </a:r>
            <a:r>
              <a:rPr lang="ko-KR" altLang="en-US" sz="700" dirty="0">
                <a:solidFill>
                  <a:srgbClr val="000000"/>
                </a:solidFill>
                <a:latin typeface="Consolas" panose="020B0609020204030204" pitchFamily="49" charset="0"/>
              </a:rPr>
              <a:t>뇌물방지 협약이 발효되고 </a:t>
            </a:r>
            <a:r>
              <a:rPr lang="ko-KR" altLang="en-US" sz="700" dirty="0" err="1">
                <a:solidFill>
                  <a:srgbClr val="000000"/>
                </a:solidFill>
                <a:latin typeface="Consolas" panose="020B0609020204030204" pitchFamily="49" charset="0"/>
              </a:rPr>
              <a:t>부패기업</a:t>
            </a:r>
            <a:r>
              <a:rPr lang="ko-KR" altLang="en-US" sz="700" dirty="0">
                <a:solidFill>
                  <a:srgbClr val="000000"/>
                </a:solidFill>
                <a:latin typeface="Consolas" panose="020B0609020204030204" pitchFamily="49" charset="0"/>
              </a:rPr>
              <a:t> 및 국가에 대한 제재가 강화되는 추세에 맞추어 청렴계약 취지에 적극적으로 호응하여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가</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발주하는 모든 공사</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용역</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물품구매 등의 입찰에 참여함에 있어 우리 회사의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직원과 대리인은</a:t>
            </a:r>
            <a:endParaRPr lang="en-US" altLang="ko-KR" sz="700" dirty="0">
              <a:latin typeface="맑은 고딕" panose="020B0503020000020004" pitchFamily="50" charset="-127"/>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975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263926"/>
            <a:ext cx="2473940" cy="2477601"/>
          </a:xfrm>
          <a:prstGeom prst="rect">
            <a:avLst/>
          </a:prstGeom>
          <a:noFill/>
        </p:spPr>
        <p:txBody>
          <a:bodyPr wrap="square" lIns="0" tIns="0" rIns="0" bIns="0" rtlCol="0">
            <a:spAutoFit/>
          </a:bodyPr>
          <a:lstStyle/>
          <a:p>
            <a:pPr marL="228600" indent="-228600">
              <a:buAutoNum type="arabicPeriod"/>
            </a:pPr>
            <a:r>
              <a:rPr lang="ko-KR" altLang="en-US" sz="700" dirty="0">
                <a:solidFill>
                  <a:srgbClr val="000000"/>
                </a:solidFill>
                <a:latin typeface="Consolas" panose="020B0609020204030204" pitchFamily="49" charset="0"/>
              </a:rPr>
              <a:t>입찰가격의 사전협의나 특정인의 낙찰을 위한 담합 및 </a:t>
            </a:r>
            <a:r>
              <a:rPr lang="ko-KR" altLang="en-US" sz="700" dirty="0" err="1">
                <a:solidFill>
                  <a:srgbClr val="000000"/>
                </a:solidFill>
                <a:latin typeface="Consolas" panose="020B0609020204030204" pitchFamily="49" charset="0"/>
              </a:rPr>
              <a:t>다른업체와</a:t>
            </a:r>
            <a:r>
              <a:rPr lang="ko-KR" altLang="en-US" sz="700" dirty="0">
                <a:solidFill>
                  <a:srgbClr val="000000"/>
                </a:solidFill>
                <a:latin typeface="Consolas" panose="020B0609020204030204" pitchFamily="49" charset="0"/>
              </a:rPr>
              <a:t> 협정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결의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협의하여 입찰의 자유경쟁을 부당하게 저해하는 일체의 불공정한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a:t>
            </a:r>
            <a:r>
              <a:rPr lang="en-US" altLang="ko-KR" sz="700" dirty="0">
                <a:solidFill>
                  <a:srgbClr val="2A00FF"/>
                </a:solidFill>
                <a:latin typeface="Consolas" panose="020B0609020204030204" pitchFamily="49" charset="0"/>
              </a:rPr>
              <a:t>‘</a:t>
            </a:r>
            <a:r>
              <a:rPr lang="ko-KR" altLang="en-US" sz="700" dirty="0" err="1">
                <a:solidFill>
                  <a:srgbClr val="000000"/>
                </a:solidFill>
                <a:latin typeface="Consolas" panose="020B0609020204030204" pitchFamily="49" charset="0"/>
              </a:rPr>
              <a:t>독점규제및공정거래에관한법률</a:t>
            </a:r>
            <a:r>
              <a:rPr lang="en-US" altLang="ko-KR" sz="700" dirty="0">
                <a:solidFill>
                  <a:srgbClr val="2A00FF"/>
                </a:solidFill>
                <a:latin typeface="Consolas" panose="020B0609020204030204" pitchFamily="49" charset="0"/>
              </a:rPr>
              <a:t>’</a:t>
            </a:r>
            <a:r>
              <a:rPr lang="ko-KR" altLang="en-US" sz="700" dirty="0">
                <a:solidFill>
                  <a:srgbClr val="000000"/>
                </a:solidFill>
                <a:latin typeface="Consolas" panose="020B0609020204030204" pitchFamily="49" charset="0"/>
              </a:rPr>
              <a:t>에 따른 공정거래위원회고발 및 형사고발과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입찰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계약체결 및 계약이행과정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준공</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납품이후를</a:t>
            </a:r>
            <a:r>
              <a:rPr lang="ko-KR" altLang="en-US" sz="700" dirty="0">
                <a:solidFill>
                  <a:srgbClr val="000000"/>
                </a:solidFill>
                <a:latin typeface="Consolas" panose="020B0609020204030204" pitchFamily="49" charset="0"/>
              </a:rPr>
              <a:t> 포함</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에서 관계공무원에게 직</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간접적으로 금품</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향응 등의 뇌물을 제공하거나 제공함을 약속하지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a:t>
            </a:r>
            <a:endParaRPr lang="en-US" altLang="ko-KR" sz="700" dirty="0">
              <a:latin typeface="맑은 고딕" panose="020B0503020000020004" pitchFamily="50" charset="-127"/>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46" name="양쪽 모서리가 둥근 사각형 145"/>
          <p:cNvSpPr/>
          <p:nvPr/>
        </p:nvSpPr>
        <p:spPr>
          <a:xfrm>
            <a:off x="3793783"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9" name="모서리가 둥근 직사각형 198"/>
          <p:cNvSpPr/>
          <p:nvPr/>
        </p:nvSpPr>
        <p:spPr>
          <a:xfrm>
            <a:off x="4879796"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00" name="그룹 199"/>
          <p:cNvGrpSpPr/>
          <p:nvPr/>
        </p:nvGrpSpPr>
        <p:grpSpPr>
          <a:xfrm>
            <a:off x="6282722" y="1773925"/>
            <a:ext cx="94010" cy="94010"/>
            <a:chOff x="6812560" y="3297172"/>
            <a:chExt cx="94010" cy="94010"/>
          </a:xfrm>
        </p:grpSpPr>
        <p:cxnSp>
          <p:nvCxnSpPr>
            <p:cNvPr id="202" name="직선 연결선 20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04" name="TextBox 203">
            <a:extLst>
              <a:ext uri="{FF2B5EF4-FFF2-40B4-BE49-F238E27FC236}">
                <a16:creationId xmlns:a16="http://schemas.microsoft.com/office/drawing/2014/main" id="{FFC49AEA-2A8F-250C-A86A-A7751D9706C3}"/>
              </a:ext>
            </a:extLst>
          </p:cNvPr>
          <p:cNvSpPr txBox="1"/>
          <p:nvPr/>
        </p:nvSpPr>
        <p:spPr>
          <a:xfrm>
            <a:off x="3922860"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3783"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2860" y="2033176"/>
            <a:ext cx="2473940" cy="1508105"/>
          </a:xfrm>
          <a:prstGeom prst="rect">
            <a:avLst/>
          </a:prstGeom>
          <a:noFill/>
        </p:spPr>
        <p:txBody>
          <a:bodyPr wrap="square" lIns="0" tIns="0" rIns="0" bIns="0" rtlCol="0">
            <a:spAutoFit/>
          </a:bodyPr>
          <a:lstStyle/>
          <a:p>
            <a:pPr marL="228600" indent="-228600">
              <a:buFont typeface="+mj-lt"/>
              <a:buAutoNum type="arabicPeriod" startAt="3"/>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우리회사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직원이 관계공무원에게 뇌물을 제공하거나 담합 등 불공정 행위를 하지 않도록 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내부 비리 제보자에 대해서도 일체의 불이익을 받지 않도록 노력하겠습니다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본 건과 관련한 하도급 계약의 체결 및 이행에 있어서 </a:t>
            </a:r>
            <a:r>
              <a:rPr lang="ko-KR" altLang="en-US" sz="700" dirty="0" err="1">
                <a:solidFill>
                  <a:srgbClr val="000000"/>
                </a:solidFill>
                <a:latin typeface="Consolas" panose="020B0609020204030204" pitchFamily="49" charset="0"/>
              </a:rPr>
              <a:t>원도급자로서의</a:t>
            </a:r>
            <a:r>
              <a:rPr lang="ko-KR" altLang="en-US" sz="700" dirty="0">
                <a:solidFill>
                  <a:srgbClr val="000000"/>
                </a:solidFill>
                <a:latin typeface="Consolas" panose="020B0609020204030204" pitchFamily="49" charset="0"/>
              </a:rPr>
              <a:t> 우월한 지위를 이용하여 </a:t>
            </a:r>
            <a:r>
              <a:rPr lang="ko-KR" altLang="en-US" sz="700" dirty="0" err="1">
                <a:solidFill>
                  <a:srgbClr val="000000"/>
                </a:solidFill>
                <a:latin typeface="Consolas" panose="020B0609020204030204" pitchFamily="49" charset="0"/>
              </a:rPr>
              <a:t>하도급자에게로부터</a:t>
            </a:r>
            <a:r>
              <a:rPr lang="ko-KR" altLang="en-US" sz="700" dirty="0">
                <a:solidFill>
                  <a:srgbClr val="000000"/>
                </a:solidFill>
                <a:latin typeface="Consolas" panose="020B0609020204030204" pitchFamily="49" charset="0"/>
              </a:rPr>
              <a:t> 금품을 수수하거나 부당 또는 불공정한 행위를 하지 아니하겠습니다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grpSp>
        <p:nvGrpSpPr>
          <p:cNvPr id="211" name="그룹 210"/>
          <p:cNvGrpSpPr/>
          <p:nvPr/>
        </p:nvGrpSpPr>
        <p:grpSpPr>
          <a:xfrm>
            <a:off x="3793783" y="5614711"/>
            <a:ext cx="2712027" cy="617588"/>
            <a:chOff x="675399" y="5614711"/>
            <a:chExt cx="2712027" cy="617588"/>
          </a:xfrm>
        </p:grpSpPr>
        <p:sp>
          <p:nvSpPr>
            <p:cNvPr id="213" name="직사각형 2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6"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17" name="직선 연결선 216">
            <a:extLst>
              <a:ext uri="{FF2B5EF4-FFF2-40B4-BE49-F238E27FC236}">
                <a16:creationId xmlns:a16="http://schemas.microsoft.com/office/drawing/2014/main" id="{E9293055-D5CD-4B9E-7F64-64B2D2CA7A52}"/>
              </a:ext>
            </a:extLst>
          </p:cNvPr>
          <p:cNvCxnSpPr/>
          <p:nvPr/>
        </p:nvCxnSpPr>
        <p:spPr>
          <a:xfrm>
            <a:off x="3835796" y="3573476"/>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FFC49AEA-2A8F-250C-A86A-A7751D9706C3}"/>
              </a:ext>
            </a:extLst>
          </p:cNvPr>
          <p:cNvSpPr txBox="1"/>
          <p:nvPr/>
        </p:nvSpPr>
        <p:spPr>
          <a:xfrm>
            <a:off x="3922860" y="3639872"/>
            <a:ext cx="2473940" cy="861774"/>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위 청렴계약이행 서약은 상호 신뢰를 바탕으로 한 </a:t>
            </a:r>
            <a:r>
              <a:rPr lang="ko-KR" altLang="en-US" sz="700" dirty="0" err="1">
                <a:solidFill>
                  <a:srgbClr val="000000"/>
                </a:solidFill>
                <a:latin typeface="Consolas" panose="020B0609020204030204" pitchFamily="49" charset="0"/>
              </a:rPr>
              <a:t>약속으로서</a:t>
            </a:r>
            <a:r>
              <a:rPr lang="ko-KR" altLang="en-US" sz="700" dirty="0">
                <a:solidFill>
                  <a:srgbClr val="000000"/>
                </a:solidFill>
                <a:latin typeface="Consolas" panose="020B0609020204030204" pitchFamily="49" charset="0"/>
              </a:rPr>
              <a:t> 반드시 지킬 것이며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우리회사가 낙찰자로 결정될 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이 서약 내용을 그대로 계약특수조건으로 계약하여 이행하고</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불이행시</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귀부대가</a:t>
            </a:r>
            <a:r>
              <a:rPr lang="ko-KR" altLang="en-US" sz="700" dirty="0">
                <a:solidFill>
                  <a:srgbClr val="000000"/>
                </a:solidFill>
                <a:latin typeface="Consolas" panose="020B0609020204030204" pitchFamily="49" charset="0"/>
              </a:rPr>
              <a:t> 입찰참가 자격제한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입찰 및 낙찰 취소</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계약해제</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해지</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등의 조치 또는 우리 회사를 배제하는 입찰에 관한 조치를 하더라도 우리 회사는 </a:t>
            </a:r>
            <a:r>
              <a:rPr lang="ko-KR" altLang="en-US" sz="700" dirty="0" err="1">
                <a:solidFill>
                  <a:srgbClr val="000000"/>
                </a:solidFill>
                <a:latin typeface="Consolas" panose="020B0609020204030204" pitchFamily="49" charset="0"/>
              </a:rPr>
              <a:t>귀부대를</a:t>
            </a:r>
            <a:r>
              <a:rPr lang="ko-KR" altLang="en-US" sz="700" dirty="0">
                <a:solidFill>
                  <a:srgbClr val="000000"/>
                </a:solidFill>
                <a:latin typeface="Consolas" panose="020B0609020204030204" pitchFamily="49" charset="0"/>
              </a:rPr>
              <a:t> 상대로 손해배상을 청구하거나 민</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형사상 이의를 제기하지 않을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35796" y="4558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5796" y="48025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5796" y="515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2" name="TextBox 221">
            <a:extLst>
              <a:ext uri="{FF2B5EF4-FFF2-40B4-BE49-F238E27FC236}">
                <a16:creationId xmlns:a16="http://schemas.microsoft.com/office/drawing/2014/main" id="{FFC49AEA-2A8F-250C-A86A-A7751D9706C3}"/>
              </a:ext>
            </a:extLst>
          </p:cNvPr>
          <p:cNvSpPr txBox="1"/>
          <p:nvPr/>
        </p:nvSpPr>
        <p:spPr>
          <a:xfrm>
            <a:off x="3922860" y="4628442"/>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860" y="4868956"/>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latin typeface="맑은 고딕" panose="020B0503020000020004" pitchFamily="50" charset="-127"/>
              </a:rPr>
              <a:t> 귀하</a:t>
            </a:r>
            <a:endParaRPr lang="en-US" altLang="ko-KR" sz="700" dirty="0">
              <a:latin typeface="맑은 고딕" panose="020B0503020000020004" pitchFamily="50" charset="-127"/>
            </a:endParaRPr>
          </a:p>
        </p:txBody>
      </p:sp>
      <p:grpSp>
        <p:nvGrpSpPr>
          <p:cNvPr id="224" name="그룹 223"/>
          <p:cNvGrpSpPr/>
          <p:nvPr/>
        </p:nvGrpSpPr>
        <p:grpSpPr>
          <a:xfrm>
            <a:off x="4551173" y="5228743"/>
            <a:ext cx="1197246" cy="107722"/>
            <a:chOff x="4526323" y="5902014"/>
            <a:chExt cx="1197246" cy="107722"/>
          </a:xfrm>
        </p:grpSpPr>
        <p:sp>
          <p:nvSpPr>
            <p:cNvPr id="225" name="타원 224"/>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6" name="타원 225"/>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sp>
        <p:nvSpPr>
          <p:cNvPr id="229" name="TextBox 22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54" name="타원 53">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타원 54">
            <a:extLst>
              <a:ext uri="{FF2B5EF4-FFF2-40B4-BE49-F238E27FC236}">
                <a16:creationId xmlns:a16="http://schemas.microsoft.com/office/drawing/2014/main" id="{37A7FF4F-0EAA-1463-560A-D5EC24416103}"/>
              </a:ext>
            </a:extLst>
          </p:cNvPr>
          <p:cNvSpPr/>
          <p:nvPr/>
        </p:nvSpPr>
        <p:spPr>
          <a:xfrm>
            <a:off x="3701811" y="46156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56" name="타원 55">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3701811" y="49128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58" name="타원 57">
            <a:extLst>
              <a:ext uri="{FF2B5EF4-FFF2-40B4-BE49-F238E27FC236}">
                <a16:creationId xmlns:a16="http://schemas.microsoft.com/office/drawing/2014/main" id="{37A7FF4F-0EAA-1463-560A-D5EC24416103}"/>
              </a:ext>
            </a:extLst>
          </p:cNvPr>
          <p:cNvSpPr/>
          <p:nvPr/>
        </p:nvSpPr>
        <p:spPr>
          <a:xfrm>
            <a:off x="3701811" y="52307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grpSp>
        <p:nvGrpSpPr>
          <p:cNvPr id="59" name="그룹 58"/>
          <p:cNvGrpSpPr/>
          <p:nvPr/>
        </p:nvGrpSpPr>
        <p:grpSpPr>
          <a:xfrm>
            <a:off x="8223250" y="569392"/>
            <a:ext cx="3365500" cy="634511"/>
            <a:chOff x="8223250" y="569392"/>
            <a:chExt cx="3365500" cy="634511"/>
          </a:xfrm>
        </p:grpSpPr>
        <p:sp>
          <p:nvSpPr>
            <p:cNvPr id="60" name="직사각형 5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61" name="직사각형 6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입찰참가신청 화면과 동일함</a:t>
              </a:r>
              <a:endParaRPr lang="en-US" altLang="ko-KR" sz="700" dirty="0"/>
            </a:p>
          </p:txBody>
        </p:sp>
      </p:grpSp>
    </p:spTree>
    <p:extLst>
      <p:ext uri="{BB962C8B-B14F-4D97-AF65-F5344CB8AC3E}">
        <p14:creationId xmlns:p14="http://schemas.microsoft.com/office/powerpoint/2010/main" val="36500428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선택한 내역은 입찰 마지막에 동일한 내용으로 재 안내 됨</a:t>
            </a:r>
            <a:r>
              <a:rPr lang="en-US" altLang="ko-KR" dirty="0"/>
              <a:t>.</a:t>
            </a:r>
          </a:p>
          <a:p>
            <a:pPr marL="0" indent="0">
              <a:buNone/>
            </a:pPr>
            <a:endParaRPr lang="en-US" altLang="ko-KR" dirty="0"/>
          </a:p>
          <a:p>
            <a:pPr marL="0" indent="0">
              <a:buNone/>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서약서</a:t>
            </a:r>
            <a:r>
              <a:rPr lang="en-US" altLang="ko-KR" dirty="0" smtClean="0">
                <a:latin typeface="+mn-ea"/>
              </a:rPr>
              <a:t>3</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하도급대금의 지급관련 확인 및 확약서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78895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하도급대금의 지급관련 확인 및 확약서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538609"/>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1]</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없습니다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7412" y="29914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TextBox 230">
            <a:extLst>
              <a:ext uri="{FF2B5EF4-FFF2-40B4-BE49-F238E27FC236}">
                <a16:creationId xmlns:a16="http://schemas.microsoft.com/office/drawing/2014/main" id="{FFC49AEA-2A8F-250C-A86A-A7751D9706C3}"/>
              </a:ext>
            </a:extLst>
          </p:cNvPr>
          <p:cNvSpPr txBox="1"/>
          <p:nvPr/>
        </p:nvSpPr>
        <p:spPr>
          <a:xfrm>
            <a:off x="804476" y="3054889"/>
            <a:ext cx="2473940" cy="861774"/>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2]</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있으므로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본 입찰에 계약상대자로 결정되어 </a:t>
            </a:r>
            <a:r>
              <a:rPr lang="ko-KR" altLang="en-US" sz="700" dirty="0" err="1">
                <a:solidFill>
                  <a:srgbClr val="000000"/>
                </a:solidFill>
                <a:latin typeface="Consolas" panose="020B0609020204030204" pitchFamily="49" charset="0"/>
              </a:rPr>
              <a:t>계약시</a:t>
            </a:r>
            <a:r>
              <a:rPr lang="ko-KR" altLang="en-US" sz="700" dirty="0">
                <a:solidFill>
                  <a:srgbClr val="000000"/>
                </a:solidFill>
                <a:latin typeface="Consolas" panose="020B0609020204030204" pitchFamily="49" charset="0"/>
              </a:rPr>
              <a:t> 「국가계약법」 제</a:t>
            </a:r>
            <a:r>
              <a:rPr lang="en-US" altLang="ko-KR" sz="700" dirty="0">
                <a:solidFill>
                  <a:srgbClr val="000000"/>
                </a:solidFill>
                <a:latin typeface="Consolas" panose="020B0609020204030204" pitchFamily="49" charset="0"/>
              </a:rPr>
              <a:t>15</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대가 지급 시 하도급대금은 발주기관이 하수급인에게 직접 지급하는 것을 합의할 것을 확약합니다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32" name="직선 연결선 231">
            <a:extLst>
              <a:ext uri="{FF2B5EF4-FFF2-40B4-BE49-F238E27FC236}">
                <a16:creationId xmlns:a16="http://schemas.microsoft.com/office/drawing/2014/main" id="{E9293055-D5CD-4B9E-7F64-64B2D2CA7A52}"/>
              </a:ext>
            </a:extLst>
          </p:cNvPr>
          <p:cNvCxnSpPr/>
          <p:nvPr/>
        </p:nvCxnSpPr>
        <p:spPr>
          <a:xfrm>
            <a:off x="717412" y="39736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33" name="그룹 232"/>
          <p:cNvGrpSpPr/>
          <p:nvPr/>
        </p:nvGrpSpPr>
        <p:grpSpPr>
          <a:xfrm>
            <a:off x="1432789" y="4135294"/>
            <a:ext cx="1189232" cy="107722"/>
            <a:chOff x="4526323" y="5902014"/>
            <a:chExt cx="1189232" cy="107722"/>
          </a:xfrm>
        </p:grpSpPr>
        <p:sp>
          <p:nvSpPr>
            <p:cNvPr id="234" name="타원 233"/>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타원 234"/>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6" name="TextBox 235">
              <a:extLst>
                <a:ext uri="{FF2B5EF4-FFF2-40B4-BE49-F238E27FC236}">
                  <a16:creationId xmlns:a16="http://schemas.microsoft.com/office/drawing/2014/main" id="{FFC49AEA-2A8F-250C-A86A-A7751D9706C3}"/>
                </a:ext>
              </a:extLst>
            </p:cNvPr>
            <p:cNvSpPr txBox="1"/>
            <p:nvPr/>
          </p:nvSpPr>
          <p:spPr>
            <a:xfrm>
              <a:off x="4694755" y="5902014"/>
              <a:ext cx="261290" cy="107722"/>
            </a:xfrm>
            <a:prstGeom prst="rect">
              <a:avLst/>
            </a:prstGeom>
            <a:noFill/>
          </p:spPr>
          <p:txBody>
            <a:bodyPr wrap="none" lIns="0" tIns="0" rIns="0" bIns="0" rtlCol="0">
              <a:spAutoFit/>
            </a:bodyPr>
            <a:lstStyle/>
            <a:p>
              <a:r>
                <a:rPr lang="ko-KR" altLang="en-US" sz="700" dirty="0">
                  <a:latin typeface="+mn-ea"/>
                </a:rPr>
                <a:t>선택 </a:t>
              </a:r>
              <a:r>
                <a:rPr lang="en-US" altLang="ko-KR" sz="700" dirty="0">
                  <a:latin typeface="+mn-ea"/>
                </a:rPr>
                <a:t>1</a:t>
              </a:r>
              <a:endParaRPr lang="ko-KR" altLang="en-US"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5454265" y="5902014"/>
              <a:ext cx="261290" cy="107722"/>
            </a:xfrm>
            <a:prstGeom prst="rect">
              <a:avLst/>
            </a:prstGeom>
            <a:noFill/>
          </p:spPr>
          <p:txBody>
            <a:bodyPr wrap="none" lIns="0" tIns="0" rIns="0" bIns="0" rtlCol="0">
              <a:spAutoFit/>
            </a:bodyPr>
            <a:lstStyle/>
            <a:p>
              <a:r>
                <a:rPr lang="ko-KR" altLang="en-US" sz="700" dirty="0">
                  <a:latin typeface="+mn-ea"/>
                </a:rPr>
                <a:t>선택 </a:t>
              </a:r>
              <a:r>
                <a:rPr lang="en-US" altLang="ko-KR" sz="700" dirty="0">
                  <a:latin typeface="+mn-ea"/>
                </a:rPr>
                <a:t>2</a:t>
              </a:r>
              <a:endParaRPr lang="ko-KR" altLang="en-US" sz="700" dirty="0">
                <a:latin typeface="+mn-ea"/>
              </a:endParaRPr>
            </a:p>
          </p:txBody>
        </p:sp>
      </p:grpSp>
      <p:sp>
        <p:nvSpPr>
          <p:cNvPr id="34" name="타원 33">
            <a:extLst>
              <a:ext uri="{FF2B5EF4-FFF2-40B4-BE49-F238E27FC236}">
                <a16:creationId xmlns:a16="http://schemas.microsoft.com/office/drawing/2014/main" id="{37A7FF4F-0EAA-1463-560A-D5EC24416103}"/>
              </a:ext>
            </a:extLst>
          </p:cNvPr>
          <p:cNvSpPr/>
          <p:nvPr/>
        </p:nvSpPr>
        <p:spPr>
          <a:xfrm>
            <a:off x="571127" y="409156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33" name="그룹 32"/>
          <p:cNvGrpSpPr/>
          <p:nvPr/>
        </p:nvGrpSpPr>
        <p:grpSpPr>
          <a:xfrm>
            <a:off x="8223250" y="569392"/>
            <a:ext cx="3365500" cy="634511"/>
            <a:chOff x="8223250" y="569392"/>
            <a:chExt cx="3365500" cy="634511"/>
          </a:xfrm>
        </p:grpSpPr>
        <p:sp>
          <p:nvSpPr>
            <p:cNvPr id="35" name="직사각형 3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36" name="직사각형 35"/>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입찰참가신청 화면과 동일함</a:t>
              </a:r>
              <a:endParaRPr lang="en-US" altLang="ko-KR" sz="700" dirty="0"/>
            </a:p>
          </p:txBody>
        </p:sp>
      </p:grpSp>
    </p:spTree>
    <p:extLst>
      <p:ext uri="{BB962C8B-B14F-4D97-AF65-F5344CB8AC3E}">
        <p14:creationId xmlns:p14="http://schemas.microsoft.com/office/powerpoint/2010/main" val="28089846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79</a:t>
            </a:fld>
            <a:endParaRPr lang="ko-KR" altLang="en-US" dirty="0"/>
          </a:p>
        </p:txBody>
      </p:sp>
      <p:sp>
        <p:nvSpPr>
          <p:cNvPr id="2" name="TextBox 1">
            <a:extLst>
              <a:ext uri="{FF2B5EF4-FFF2-40B4-BE49-F238E27FC236}">
                <a16:creationId xmlns:a16="http://schemas.microsoft.com/office/drawing/2014/main" id="{07D6A41E-0D94-47F3-F9FC-FDE27FFC3AEA}"/>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1.</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14BA5116-CE16-A86C-DFE1-E004134F9825}"/>
              </a:ext>
            </a:extLst>
          </p:cNvPr>
          <p:cNvGraphicFramePr>
            <a:graphicFrameLocks noGrp="1"/>
          </p:cNvGraphicFramePr>
          <p:nvPr/>
        </p:nvGraphicFramePr>
        <p:xfrm>
          <a:off x="453000" y="1039042"/>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동의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scwin.btn_arge_onclick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서약서동의 팝업 화면 종료 후 입찰참가신청서 팝업 화면 또는 견적서제출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8752916"/>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서약서동의 팝업 화면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Box 73">
            <a:extLst>
              <a:ext uri="{FF2B5EF4-FFF2-40B4-BE49-F238E27FC236}">
                <a16:creationId xmlns:a16="http://schemas.microsoft.com/office/drawing/2014/main" id="{48E2A323-D605-C365-9B90-5C67461FBA1F}"/>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1841932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공지사항이 있는 경우 표시</a:t>
            </a:r>
            <a:endParaRPr lang="en-US" altLang="ko-KR" dirty="0"/>
          </a:p>
          <a:p>
            <a:pPr marL="228600" indent="-228600">
              <a:buFont typeface="+mj-lt"/>
              <a:buAutoNum type="arabicPeriod"/>
            </a:pPr>
            <a:r>
              <a:rPr lang="ko-KR" altLang="en-US" dirty="0"/>
              <a:t>업무 도움 표시</a:t>
            </a:r>
            <a:endParaRPr lang="en-US" altLang="ko-KR" dirty="0"/>
          </a:p>
          <a:p>
            <a:pPr marL="228600" indent="-228600">
              <a:buFont typeface="+mj-lt"/>
              <a:buAutoNum type="arabicPeriod"/>
            </a:pPr>
            <a:r>
              <a:rPr lang="ko-KR" altLang="en-US" dirty="0" smtClean="0"/>
              <a:t>공고 </a:t>
            </a:r>
            <a:r>
              <a:rPr lang="ko-KR" altLang="en-US" dirty="0"/>
              <a:t>일반정보 표시</a:t>
            </a:r>
            <a:r>
              <a:rPr lang="en-US" altLang="ko-KR" dirty="0"/>
              <a:t/>
            </a:r>
            <a:br>
              <a:rPr lang="en-US" altLang="ko-KR" dirty="0"/>
            </a:br>
            <a:r>
              <a:rPr lang="ko-KR" altLang="en-US" dirty="0" err="1"/>
              <a:t>업무구분에</a:t>
            </a:r>
            <a:r>
              <a:rPr lang="ko-KR" altLang="en-US" dirty="0"/>
              <a:t> 따라 </a:t>
            </a:r>
            <a:r>
              <a:rPr lang="en-US" altLang="ko-KR" dirty="0"/>
              <a:t>(</a:t>
            </a:r>
            <a:r>
              <a:rPr lang="ko-KR" altLang="en-US" dirty="0"/>
              <a:t>물품 </a:t>
            </a:r>
            <a:r>
              <a:rPr lang="en-US" altLang="ko-KR" dirty="0"/>
              <a:t>/ </a:t>
            </a:r>
            <a:r>
              <a:rPr lang="ko-KR" altLang="en-US" dirty="0"/>
              <a:t>공사</a:t>
            </a:r>
            <a:r>
              <a:rPr lang="en-US" altLang="ko-KR" dirty="0"/>
              <a:t>) </a:t>
            </a:r>
            <a:r>
              <a:rPr lang="ko-KR" altLang="en-US" dirty="0"/>
              <a:t>정보</a:t>
            </a:r>
            <a:r>
              <a:rPr lang="en-US" altLang="ko-KR" dirty="0"/>
              <a:t/>
            </a:r>
            <a:br>
              <a:rPr lang="en-US" altLang="ko-KR" dirty="0"/>
            </a:br>
            <a:r>
              <a:rPr lang="en-US" altLang="ko-KR" dirty="0"/>
              <a:t>- </a:t>
            </a:r>
            <a:r>
              <a:rPr lang="ko-KR" altLang="en-US" dirty="0" err="1"/>
              <a:t>입찰건명</a:t>
            </a:r>
            <a:r>
              <a:rPr lang="ko-KR" altLang="en-US" dirty="0"/>
              <a:t> </a:t>
            </a:r>
            <a:r>
              <a:rPr lang="en-US" altLang="ko-KR" dirty="0"/>
              <a:t>/ </a:t>
            </a:r>
            <a:r>
              <a:rPr lang="ko-KR" altLang="en-US" dirty="0" err="1"/>
              <a:t>공사명</a:t>
            </a:r>
            <a:r>
              <a:rPr lang="en-US" altLang="ko-KR" dirty="0"/>
              <a:t/>
            </a:r>
            <a:br>
              <a:rPr lang="en-US" altLang="ko-KR" dirty="0"/>
            </a:br>
            <a:r>
              <a:rPr lang="en-US" altLang="ko-KR" dirty="0"/>
              <a:t>- </a:t>
            </a:r>
            <a:r>
              <a:rPr lang="ko-KR" altLang="en-US" dirty="0" err="1"/>
              <a:t>판단번호</a:t>
            </a:r>
            <a:r>
              <a:rPr lang="ko-KR" altLang="en-US" dirty="0"/>
              <a:t> </a:t>
            </a:r>
            <a:r>
              <a:rPr lang="en-US" altLang="ko-KR" dirty="0"/>
              <a:t>/ </a:t>
            </a:r>
            <a:r>
              <a:rPr lang="ko-KR" altLang="en-US" dirty="0" err="1"/>
              <a:t>공사번호</a:t>
            </a:r>
            <a:r>
              <a:rPr lang="en-US" altLang="ko-KR" dirty="0"/>
              <a:t/>
            </a:r>
            <a:br>
              <a:rPr lang="en-US" altLang="ko-KR" dirty="0"/>
            </a:br>
            <a:r>
              <a:rPr lang="en-US" altLang="ko-KR" dirty="0"/>
              <a:t>- </a:t>
            </a:r>
            <a:r>
              <a:rPr lang="ko-KR" altLang="en-US" dirty="0" err="1"/>
              <a:t>집행유형</a:t>
            </a:r>
            <a:r>
              <a:rPr lang="ko-KR" altLang="en-US" dirty="0"/>
              <a:t> </a:t>
            </a:r>
            <a:r>
              <a:rPr lang="en-US" altLang="ko-KR" dirty="0"/>
              <a:t>/ </a:t>
            </a:r>
            <a:r>
              <a:rPr lang="ko-KR" altLang="en-US" dirty="0" err="1"/>
              <a:t>공사구분</a:t>
            </a:r>
            <a:r>
              <a:rPr lang="en-US" altLang="ko-KR" dirty="0"/>
              <a:t/>
            </a:r>
            <a:br>
              <a:rPr lang="en-US" altLang="ko-KR" dirty="0"/>
            </a:br>
            <a:r>
              <a:rPr lang="en-US" altLang="ko-KR" dirty="0"/>
              <a:t>- </a:t>
            </a:r>
            <a:r>
              <a:rPr lang="ko-KR" altLang="en-US" dirty="0" err="1"/>
              <a:t>개찰일시</a:t>
            </a:r>
            <a:r>
              <a:rPr lang="ko-KR" altLang="en-US" dirty="0"/>
              <a:t> </a:t>
            </a:r>
            <a:r>
              <a:rPr lang="en-US" altLang="ko-KR" dirty="0"/>
              <a:t>/ </a:t>
            </a:r>
            <a:r>
              <a:rPr lang="ko-KR" altLang="en-US" dirty="0" err="1"/>
              <a:t>입찰일시</a:t>
            </a:r>
            <a:r>
              <a:rPr lang="en-US" altLang="ko-KR" dirty="0"/>
              <a:t/>
            </a:r>
            <a:br>
              <a:rPr lang="en-US" altLang="ko-KR" dirty="0"/>
            </a:br>
            <a:r>
              <a:rPr lang="en-US" altLang="ko-KR" dirty="0"/>
              <a:t>- (</a:t>
            </a:r>
            <a:r>
              <a:rPr lang="ko-KR" altLang="en-US" dirty="0"/>
              <a:t>총수량</a:t>
            </a:r>
            <a:r>
              <a:rPr lang="en-US" altLang="ko-KR" dirty="0"/>
              <a:t>/</a:t>
            </a:r>
            <a:r>
              <a:rPr lang="ko-KR" altLang="en-US" dirty="0" err="1"/>
              <a:t>단가제유형</a:t>
            </a:r>
            <a:r>
              <a:rPr lang="en-US" altLang="ko-KR" dirty="0"/>
              <a:t>) / </a:t>
            </a:r>
            <a:r>
              <a:rPr lang="ko-KR" altLang="en-US" dirty="0"/>
              <a:t>사전심사</a:t>
            </a:r>
            <a:r>
              <a:rPr lang="en-US" altLang="ko-KR" dirty="0"/>
              <a:t/>
            </a:r>
            <a:br>
              <a:rPr lang="en-US" altLang="ko-KR" dirty="0"/>
            </a:br>
            <a:r>
              <a:rPr lang="en-US" altLang="ko-KR" dirty="0"/>
              <a:t>- </a:t>
            </a:r>
            <a:r>
              <a:rPr lang="ko-KR" altLang="en-US" dirty="0" err="1"/>
              <a:t>입찰방법이</a:t>
            </a:r>
            <a:r>
              <a:rPr lang="ko-KR" altLang="en-US" dirty="0"/>
              <a:t> </a:t>
            </a:r>
            <a:r>
              <a:rPr lang="en-US" altLang="ko-KR" dirty="0"/>
              <a:t>‘B(</a:t>
            </a:r>
            <a:r>
              <a:rPr lang="ko-KR" altLang="en-US" dirty="0" err="1"/>
              <a:t>단가제</a:t>
            </a:r>
            <a:r>
              <a:rPr lang="en-US" altLang="ko-KR" dirty="0"/>
              <a:t>)’</a:t>
            </a:r>
            <a:r>
              <a:rPr lang="ko-KR" altLang="en-US" dirty="0"/>
              <a:t>인 경우 </a:t>
            </a:r>
            <a:r>
              <a:rPr lang="ko-KR" altLang="en-US" dirty="0" err="1"/>
              <a:t>단가제유형</a:t>
            </a:r>
            <a:r>
              <a:rPr lang="en-US" altLang="ko-KR" dirty="0"/>
              <a:t>, </a:t>
            </a:r>
            <a:r>
              <a:rPr lang="ko-KR" altLang="en-US" dirty="0"/>
              <a:t>그 외 총수량</a:t>
            </a:r>
            <a:r>
              <a:rPr lang="en-US" altLang="ko-KR" dirty="0"/>
              <a:t/>
            </a:r>
            <a:br>
              <a:rPr lang="en-US" altLang="ko-KR" dirty="0"/>
            </a:br>
            <a:r>
              <a:rPr lang="en-US" altLang="ko-KR" dirty="0"/>
              <a:t>- </a:t>
            </a:r>
            <a:r>
              <a:rPr lang="ko-KR" altLang="en-US" dirty="0"/>
              <a:t>입찰방법</a:t>
            </a:r>
            <a:r>
              <a:rPr lang="en-US" altLang="ko-KR" dirty="0"/>
              <a:t>(BDTC)</a:t>
            </a:r>
            <a:r>
              <a:rPr lang="ko-KR" altLang="en-US" dirty="0"/>
              <a:t>이 </a:t>
            </a:r>
            <a:r>
              <a:rPr lang="en-US" altLang="ko-KR" dirty="0"/>
              <a:t>‘H(</a:t>
            </a:r>
            <a:r>
              <a:rPr lang="ko-KR" altLang="en-US" dirty="0" err="1"/>
              <a:t>내역입찰</a:t>
            </a:r>
            <a:r>
              <a:rPr lang="en-US" altLang="ko-KR" dirty="0"/>
              <a:t>(</a:t>
            </a:r>
            <a:r>
              <a:rPr lang="ko-KR" altLang="en-US" dirty="0"/>
              <a:t>설계시공일괄입찰</a:t>
            </a:r>
            <a:r>
              <a:rPr lang="en-US" altLang="ko-KR" dirty="0"/>
              <a:t>))’</a:t>
            </a:r>
            <a:r>
              <a:rPr lang="ko-KR" altLang="en-US" dirty="0"/>
              <a:t>인 경우 </a:t>
            </a:r>
            <a:r>
              <a:rPr lang="en-US" altLang="ko-KR" dirty="0"/>
              <a:t>‘</a:t>
            </a:r>
            <a:r>
              <a:rPr lang="ko-KR" altLang="en-US" dirty="0" err="1"/>
              <a:t>낙찰자기준</a:t>
            </a:r>
            <a:r>
              <a:rPr lang="en-US" altLang="ko-KR" dirty="0"/>
              <a:t>’ </a:t>
            </a:r>
            <a:r>
              <a:rPr lang="ko-KR" altLang="en-US" dirty="0"/>
              <a:t>보이기</a:t>
            </a:r>
            <a:r>
              <a:rPr lang="en-US" altLang="ko-KR" dirty="0"/>
              <a:t>, </a:t>
            </a:r>
            <a:r>
              <a:rPr lang="ko-KR" altLang="en-US" dirty="0"/>
              <a:t>그 외 숨기기</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a:t>
            </a:r>
            <a:r>
              <a:rPr lang="ko-KR" altLang="en-US" dirty="0" smtClean="0"/>
              <a:t>표기</a:t>
            </a:r>
            <a:r>
              <a:rPr lang="en-US" altLang="ko-KR" dirty="0"/>
              <a:t/>
            </a:r>
            <a:br>
              <a:rPr lang="en-US" altLang="ko-KR" dirty="0"/>
            </a:br>
            <a:r>
              <a:rPr lang="en-US" altLang="ko-KR" dirty="0" smtClean="0"/>
              <a:t>-4-1]</a:t>
            </a:r>
            <a:r>
              <a:rPr lang="ko-KR" altLang="en-US" dirty="0">
                <a:latin typeface="+mn-ea"/>
              </a:rPr>
              <a:t> 총수량</a:t>
            </a:r>
            <a:r>
              <a:rPr lang="en-US" altLang="ko-KR" dirty="0">
                <a:latin typeface="+mn-ea"/>
              </a:rPr>
              <a:t>/</a:t>
            </a:r>
            <a:r>
              <a:rPr lang="ko-KR" altLang="en-US" dirty="0" err="1" smtClean="0">
                <a:latin typeface="+mn-ea"/>
              </a:rPr>
              <a:t>단가제유형</a:t>
            </a:r>
            <a:r>
              <a:rPr lang="en-US" altLang="ko-KR" dirty="0" smtClean="0">
                <a:latin typeface="+mn-ea"/>
              </a:rPr>
              <a:t>/</a:t>
            </a:r>
            <a:r>
              <a:rPr lang="ko-KR" altLang="en-US" dirty="0" smtClean="0">
                <a:latin typeface="+mn-ea"/>
              </a:rPr>
              <a:t>사전심사</a:t>
            </a:r>
            <a:endParaRPr lang="en-US" altLang="ko-KR" dirty="0"/>
          </a:p>
          <a:p>
            <a:pPr marL="228600" indent="-228600">
              <a:buFont typeface="+mj-lt"/>
              <a:buAutoNum type="arabicPeriod"/>
            </a:pPr>
            <a:r>
              <a:rPr lang="ko-KR" altLang="en-US" dirty="0"/>
              <a:t>신청서 작성 내역 탭</a:t>
            </a:r>
            <a:r>
              <a:rPr lang="en-US" altLang="ko-KR" dirty="0"/>
              <a:t/>
            </a:r>
            <a:br>
              <a:rPr lang="en-US" altLang="ko-KR" dirty="0"/>
            </a:br>
            <a:r>
              <a:rPr lang="en-US" altLang="ko-KR" dirty="0"/>
              <a:t>1- </a:t>
            </a:r>
            <a:r>
              <a:rPr lang="ko-KR" altLang="en-US" dirty="0"/>
              <a:t>일반정보</a:t>
            </a:r>
            <a:r>
              <a:rPr lang="en-US" altLang="ko-KR" dirty="0"/>
              <a:t/>
            </a:r>
            <a:br>
              <a:rPr lang="en-US" altLang="ko-KR" dirty="0"/>
            </a:br>
            <a:r>
              <a:rPr lang="en-US" altLang="ko-KR" dirty="0"/>
              <a:t>2- </a:t>
            </a:r>
            <a:r>
              <a:rPr lang="ko-KR" altLang="en-US" dirty="0" err="1"/>
              <a:t>품목내역</a:t>
            </a:r>
            <a:r>
              <a:rPr lang="ko-KR" altLang="en-US" dirty="0"/>
              <a:t> </a:t>
            </a:r>
            <a:r>
              <a:rPr lang="en-US" altLang="ko-KR" dirty="0"/>
              <a:t>(</a:t>
            </a:r>
            <a:r>
              <a:rPr lang="ko-KR" altLang="en-US" dirty="0" err="1"/>
              <a:t>단가제인</a:t>
            </a:r>
            <a:r>
              <a:rPr lang="ko-KR" altLang="en-US" dirty="0"/>
              <a:t> 경우 표시</a:t>
            </a:r>
            <a:r>
              <a:rPr lang="en-US" altLang="ko-KR" dirty="0"/>
              <a:t>)</a:t>
            </a:r>
            <a:br>
              <a:rPr lang="en-US" altLang="ko-KR" dirty="0"/>
            </a:br>
            <a:r>
              <a:rPr lang="en-US" altLang="ko-KR" dirty="0"/>
              <a:t>3- </a:t>
            </a:r>
            <a:r>
              <a:rPr lang="ko-KR" altLang="en-US" dirty="0" err="1"/>
              <a:t>투찰내역</a:t>
            </a:r>
            <a:r>
              <a:rPr lang="ko-KR" altLang="en-US" dirty="0"/>
              <a:t> </a:t>
            </a:r>
            <a:r>
              <a:rPr lang="en-US" altLang="ko-KR" dirty="0"/>
              <a:t>(</a:t>
            </a:r>
            <a:r>
              <a:rPr lang="ko-KR" altLang="en-US" dirty="0" err="1"/>
              <a:t>금액정보</a:t>
            </a:r>
            <a:r>
              <a:rPr lang="en-US" altLang="ko-KR" dirty="0"/>
              <a:t>)</a:t>
            </a:r>
            <a:br>
              <a:rPr lang="en-US" altLang="ko-KR" dirty="0"/>
            </a:br>
            <a:r>
              <a:rPr lang="en-US" altLang="ko-KR" dirty="0"/>
              <a:t>4- </a:t>
            </a:r>
            <a:r>
              <a:rPr lang="ko-KR" altLang="en-US" dirty="0"/>
              <a:t>복수예비가격</a:t>
            </a:r>
            <a:r>
              <a:rPr lang="en-US" altLang="ko-KR" dirty="0"/>
              <a:t/>
            </a:r>
            <a:br>
              <a:rPr lang="en-US" altLang="ko-KR" dirty="0"/>
            </a:br>
            <a:r>
              <a:rPr lang="en-US" altLang="ko-KR" dirty="0"/>
              <a:t>5- </a:t>
            </a:r>
            <a:r>
              <a:rPr lang="ko-KR" altLang="en-US" dirty="0"/>
              <a:t>파일첨부</a:t>
            </a:r>
            <a:r>
              <a:rPr lang="en-US" altLang="ko-KR" dirty="0"/>
              <a:t/>
            </a:r>
            <a:br>
              <a:rPr lang="en-US" altLang="ko-KR" dirty="0"/>
            </a:br>
            <a:r>
              <a:rPr lang="en-US" altLang="ko-KR" dirty="0"/>
              <a:t>6- </a:t>
            </a:r>
            <a:r>
              <a:rPr lang="ko-KR" altLang="en-US" dirty="0" err="1"/>
              <a:t>동가낙찰</a:t>
            </a:r>
            <a:r>
              <a:rPr lang="ko-KR" altLang="en-US" dirty="0"/>
              <a:t> </a:t>
            </a:r>
            <a:r>
              <a:rPr lang="ko-KR" altLang="en-US" dirty="0" err="1"/>
              <a:t>선추첨</a:t>
            </a:r>
            <a:r>
              <a:rPr lang="en-US" altLang="ko-KR" dirty="0"/>
              <a:t/>
            </a:r>
            <a:br>
              <a:rPr lang="en-US" altLang="ko-KR" dirty="0"/>
            </a:br>
            <a:r>
              <a:rPr lang="en-US" altLang="ko-KR" dirty="0"/>
              <a:t>7- </a:t>
            </a:r>
            <a:r>
              <a:rPr lang="ko-KR" altLang="en-US" dirty="0" smtClean="0"/>
              <a:t>약관동의</a:t>
            </a:r>
            <a:endParaRPr lang="en-US" altLang="ko-KR" dirty="0"/>
          </a:p>
          <a:p>
            <a:pPr marL="228600" indent="-228600">
              <a:buFont typeface="+mj-lt"/>
              <a:buAutoNum type="arabicPeriod"/>
            </a:pPr>
            <a:endParaRPr lang="ko-KR" altLang="en-US" dirty="0">
              <a:latin typeface="+mn-ea"/>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입찰서</a:t>
            </a:r>
            <a:r>
              <a:rPr lang="en-US" altLang="ko-KR" dirty="0"/>
              <a:t>(</a:t>
            </a:r>
            <a:r>
              <a:rPr lang="ko-KR" altLang="en-US" dirty="0"/>
              <a:t>견적서</a:t>
            </a:r>
            <a:r>
              <a:rPr lang="en-US" altLang="ko-KR" dirty="0"/>
              <a:t>)</a:t>
            </a:r>
            <a:r>
              <a:rPr lang="ko-KR" altLang="en-US" dirty="0"/>
              <a:t>작성 </a:t>
            </a:r>
            <a:r>
              <a:rPr lang="en-US" altLang="ko-KR" dirty="0" smtClean="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smtClean="0">
                <a:latin typeface="+mn-ea"/>
              </a:rPr>
              <a:t>)</a:t>
            </a:r>
            <a:r>
              <a:rPr lang="ko-KR" altLang="en-US" dirty="0">
                <a:latin typeface="+mn-ea"/>
              </a:rPr>
              <a:t> 공개수의계약공고 </a:t>
            </a:r>
            <a:r>
              <a:rPr lang="ko-KR" altLang="en-US" dirty="0" smtClean="0">
                <a:latin typeface="+mn-ea"/>
              </a:rPr>
              <a:t>작성 </a:t>
            </a:r>
            <a:r>
              <a:rPr lang="ko-KR" altLang="en-US" dirty="0" err="1">
                <a:latin typeface="+mn-ea"/>
              </a:rPr>
              <a:t>스탭</a:t>
            </a:r>
            <a:r>
              <a:rPr lang="ko-KR" altLang="en-US" dirty="0">
                <a:latin typeface="+mn-ea"/>
              </a:rPr>
              <a:t> 중 일반정보 </a:t>
            </a:r>
            <a:r>
              <a:rPr lang="ko-KR" altLang="en-US" dirty="0"/>
              <a:t>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252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타원 194">
            <a:extLst>
              <a:ext uri="{FF2B5EF4-FFF2-40B4-BE49-F238E27FC236}">
                <a16:creationId xmlns:a16="http://schemas.microsoft.com/office/drawing/2014/main" id="{37A7FF4F-0EAA-1463-560A-D5EC24416103}"/>
              </a:ext>
            </a:extLst>
          </p:cNvPr>
          <p:cNvSpPr/>
          <p:nvPr/>
        </p:nvSpPr>
        <p:spPr>
          <a:xfrm>
            <a:off x="571127" y="293648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39" name="TextBox 138">
            <a:extLst>
              <a:ext uri="{FF2B5EF4-FFF2-40B4-BE49-F238E27FC236}">
                <a16:creationId xmlns:a16="http://schemas.microsoft.com/office/drawing/2014/main" id="{FFC49AEA-2A8F-250C-A86A-A7751D9706C3}"/>
              </a:ext>
            </a:extLst>
          </p:cNvPr>
          <p:cNvSpPr txBox="1"/>
          <p:nvPr/>
        </p:nvSpPr>
        <p:spPr>
          <a:xfrm>
            <a:off x="781461" y="399180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4299292"/>
            <a:ext cx="792000" cy="23585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42992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4299292"/>
            <a:ext cx="756848"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smtClean="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4299292"/>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530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4744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957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51715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53852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55989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9448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728214"/>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25085" y="3728214"/>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73046" y="3728214"/>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2432834" y="3728214"/>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944821"/>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90091"/>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21796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1019814" y="3300175"/>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204" name="타원 203"/>
          <p:cNvSpPr/>
          <p:nvPr/>
        </p:nvSpPr>
        <p:spPr>
          <a:xfrm>
            <a:off x="783686" y="333152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a:off x="3143548" y="3413506"/>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6076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62206"/>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57939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290991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94125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023244"/>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3" name="타원 322">
            <a:extLst>
              <a:ext uri="{FF2B5EF4-FFF2-40B4-BE49-F238E27FC236}">
                <a16:creationId xmlns:a16="http://schemas.microsoft.com/office/drawing/2014/main" id="{37A7FF4F-0EAA-1463-560A-D5EC24416103}"/>
              </a:ext>
            </a:extLst>
          </p:cNvPr>
          <p:cNvSpPr/>
          <p:nvPr/>
        </p:nvSpPr>
        <p:spPr>
          <a:xfrm>
            <a:off x="571127" y="334475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4" name="타원 323">
            <a:extLst>
              <a:ext uri="{FF2B5EF4-FFF2-40B4-BE49-F238E27FC236}">
                <a16:creationId xmlns:a16="http://schemas.microsoft.com/office/drawing/2014/main" id="{37A7FF4F-0EAA-1463-560A-D5EC24416103}"/>
              </a:ext>
            </a:extLst>
          </p:cNvPr>
          <p:cNvSpPr/>
          <p:nvPr/>
        </p:nvSpPr>
        <p:spPr>
          <a:xfrm>
            <a:off x="571127" y="368662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404780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51" name="모서리가 둥근 직사각형 150"/>
          <p:cNvSpPr/>
          <p:nvPr/>
        </p:nvSpPr>
        <p:spPr>
          <a:xfrm rot="5400000">
            <a:off x="2662242" y="317295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60069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62206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6434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66293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직사각형 116"/>
          <p:cNvSpPr/>
          <p:nvPr/>
        </p:nvSpPr>
        <p:spPr>
          <a:xfrm>
            <a:off x="8223250" y="-25229"/>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화면 추가</a:t>
            </a:r>
            <a:endParaRPr lang="ko-KR" altLang="en-US" dirty="0"/>
          </a:p>
        </p:txBody>
      </p:sp>
      <p:grpSp>
        <p:nvGrpSpPr>
          <p:cNvPr id="119" name="그룹 118"/>
          <p:cNvGrpSpPr/>
          <p:nvPr/>
        </p:nvGrpSpPr>
        <p:grpSpPr>
          <a:xfrm>
            <a:off x="677960" y="1582647"/>
            <a:ext cx="2714637" cy="686386"/>
            <a:chOff x="677960" y="1582647"/>
            <a:chExt cx="2714637" cy="686386"/>
          </a:xfrm>
        </p:grpSpPr>
        <p:sp>
          <p:nvSpPr>
            <p:cNvPr id="120" name="TextBox 119">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입찰서 작성</a:t>
              </a:r>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2" name="그룹 121"/>
            <p:cNvGrpSpPr/>
            <p:nvPr/>
          </p:nvGrpSpPr>
          <p:grpSpPr>
            <a:xfrm rot="5400000">
              <a:off x="852159" y="2062596"/>
              <a:ext cx="94010" cy="47005"/>
              <a:chOff x="6812560" y="3297172"/>
              <a:chExt cx="94010" cy="47005"/>
            </a:xfrm>
          </p:grpSpPr>
          <p:cxnSp>
            <p:nvCxnSpPr>
              <p:cNvPr id="130" name="직선 연결선 12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3" name="그룹 122"/>
            <p:cNvGrpSpPr/>
            <p:nvPr/>
          </p:nvGrpSpPr>
          <p:grpSpPr>
            <a:xfrm>
              <a:off x="677960" y="1582647"/>
              <a:ext cx="2712027" cy="324286"/>
              <a:chOff x="677960" y="1582647"/>
              <a:chExt cx="2712027" cy="324286"/>
            </a:xfrm>
          </p:grpSpPr>
          <p:pic>
            <p:nvPicPr>
              <p:cNvPr id="12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25" name="직선 연결선 12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타원 12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타원 12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타원 12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33" name="타원 132">
            <a:extLst>
              <a:ext uri="{FF2B5EF4-FFF2-40B4-BE49-F238E27FC236}">
                <a16:creationId xmlns:a16="http://schemas.microsoft.com/office/drawing/2014/main" id="{37A7FF4F-0EAA-1463-560A-D5EC24416103}"/>
              </a:ext>
            </a:extLst>
          </p:cNvPr>
          <p:cNvSpPr/>
          <p:nvPr/>
        </p:nvSpPr>
        <p:spPr>
          <a:xfrm>
            <a:off x="676432" y="597108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4-1</a:t>
            </a:r>
            <a:endParaRPr lang="ko-KR" altLang="en-US" sz="600" b="1" dirty="0"/>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5734" y="150185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137" name="직사각형 136">
            <a:extLst>
              <a:ext uri="{FF2B5EF4-FFF2-40B4-BE49-F238E27FC236}">
                <a16:creationId xmlns:a16="http://schemas.microsoft.com/office/drawing/2014/main" id="{F56F1743-11A0-EA94-9184-4E42C0A37F9C}"/>
              </a:ext>
            </a:extLst>
          </p:cNvPr>
          <p:cNvSpPr/>
          <p:nvPr/>
        </p:nvSpPr>
        <p:spPr>
          <a:xfrm>
            <a:off x="3797016" y="1488949"/>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3797016" y="14967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3825304" y="18527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3868983" y="1636146"/>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25304" y="1852753"/>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3" name="그룹 142"/>
          <p:cNvGrpSpPr/>
          <p:nvPr/>
        </p:nvGrpSpPr>
        <p:grpSpPr>
          <a:xfrm>
            <a:off x="6028900" y="1598023"/>
            <a:ext cx="422853" cy="187961"/>
            <a:chOff x="3641308" y="2234886"/>
            <a:chExt cx="422853" cy="187961"/>
          </a:xfrm>
        </p:grpSpPr>
        <p:sp>
          <p:nvSpPr>
            <p:cNvPr id="144" name="타원 14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5" name="그룹 144"/>
            <p:cNvGrpSpPr/>
            <p:nvPr/>
          </p:nvGrpSpPr>
          <p:grpSpPr>
            <a:xfrm rot="5400000" flipH="1">
              <a:off x="3679895" y="2305364"/>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6" name="타원 14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7" name="그룹 146"/>
            <p:cNvGrpSpPr/>
            <p:nvPr/>
          </p:nvGrpSpPr>
          <p:grpSpPr>
            <a:xfrm rot="16200000">
              <a:off x="3931564"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61" name="그룹 160"/>
          <p:cNvGrpSpPr/>
          <p:nvPr/>
        </p:nvGrpSpPr>
        <p:grpSpPr>
          <a:xfrm>
            <a:off x="3886275" y="2018353"/>
            <a:ext cx="2456097" cy="181140"/>
            <a:chOff x="712467" y="1964062"/>
            <a:chExt cx="2456097" cy="181140"/>
          </a:xfrm>
        </p:grpSpPr>
        <p:sp>
          <p:nvSpPr>
            <p:cNvPr id="165" name="TextBox 164">
              <a:extLst>
                <a:ext uri="{FF2B5EF4-FFF2-40B4-BE49-F238E27FC236}">
                  <a16:creationId xmlns:a16="http://schemas.microsoft.com/office/drawing/2014/main" id="{FFC49AEA-2A8F-250C-A86A-A7751D9706C3}"/>
                </a:ext>
              </a:extLst>
            </p:cNvPr>
            <p:cNvSpPr txBox="1"/>
            <p:nvPr/>
          </p:nvSpPr>
          <p:spPr>
            <a:xfrm>
              <a:off x="712467" y="196406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70" name="그룹 169"/>
            <p:cNvGrpSpPr/>
            <p:nvPr/>
          </p:nvGrpSpPr>
          <p:grpSpPr>
            <a:xfrm flipV="1">
              <a:off x="3074554" y="2077393"/>
              <a:ext cx="94010" cy="47005"/>
              <a:chOff x="6812560" y="3297172"/>
              <a:chExt cx="94010" cy="47005"/>
            </a:xfrm>
          </p:grpSpPr>
          <p:cxnSp>
            <p:nvCxnSpPr>
              <p:cNvPr id="173" name="직선 연결선 1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1" name="직선 연결선 19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92" name="그룹 191"/>
          <p:cNvGrpSpPr/>
          <p:nvPr/>
        </p:nvGrpSpPr>
        <p:grpSpPr>
          <a:xfrm>
            <a:off x="3886275" y="2477737"/>
            <a:ext cx="2456097" cy="181140"/>
            <a:chOff x="712467" y="2404329"/>
            <a:chExt cx="2456097" cy="181140"/>
          </a:xfrm>
        </p:grpSpPr>
        <p:sp>
          <p:nvSpPr>
            <p:cNvPr id="193" name="TextBox 192">
              <a:extLst>
                <a:ext uri="{FF2B5EF4-FFF2-40B4-BE49-F238E27FC236}">
                  <a16:creationId xmlns:a16="http://schemas.microsoft.com/office/drawing/2014/main" id="{FFC49AEA-2A8F-250C-A86A-A7751D9706C3}"/>
                </a:ext>
              </a:extLst>
            </p:cNvPr>
            <p:cNvSpPr txBox="1"/>
            <p:nvPr/>
          </p:nvSpPr>
          <p:spPr>
            <a:xfrm>
              <a:off x="712467" y="2404329"/>
              <a:ext cx="452259"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업체내역</a:t>
              </a:r>
              <a:endParaRPr lang="ko-KR" altLang="en-US" sz="700" dirty="0">
                <a:latin typeface="+mn-ea"/>
              </a:endParaRPr>
            </a:p>
          </p:txBody>
        </p:sp>
        <p:grpSp>
          <p:nvGrpSpPr>
            <p:cNvPr id="194" name="그룹 193"/>
            <p:cNvGrpSpPr/>
            <p:nvPr/>
          </p:nvGrpSpPr>
          <p:grpSpPr>
            <a:xfrm flipV="1">
              <a:off x="3074554" y="2517660"/>
              <a:ext cx="94010" cy="47005"/>
              <a:chOff x="6812560" y="3297172"/>
              <a:chExt cx="94010" cy="47005"/>
            </a:xfrm>
          </p:grpSpPr>
          <p:cxnSp>
            <p:nvCxnSpPr>
              <p:cNvPr id="196" name="직선 연결선 19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7" name="직선 연결선 19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98" name="그룹 197"/>
          <p:cNvGrpSpPr/>
          <p:nvPr/>
        </p:nvGrpSpPr>
        <p:grpSpPr>
          <a:xfrm>
            <a:off x="3886275" y="2937121"/>
            <a:ext cx="2456097" cy="181140"/>
            <a:chOff x="712467" y="2404329"/>
            <a:chExt cx="2456097" cy="181140"/>
          </a:xfrm>
        </p:grpSpPr>
        <p:sp>
          <p:nvSpPr>
            <p:cNvPr id="199" name="TextBox 198">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품목내역</a:t>
              </a:r>
              <a:endParaRPr lang="ko-KR" altLang="en-US" sz="700" dirty="0">
                <a:latin typeface="+mn-ea"/>
              </a:endParaRPr>
            </a:p>
          </p:txBody>
        </p:sp>
        <p:grpSp>
          <p:nvGrpSpPr>
            <p:cNvPr id="200" name="그룹 199"/>
            <p:cNvGrpSpPr/>
            <p:nvPr/>
          </p:nvGrpSpPr>
          <p:grpSpPr>
            <a:xfrm flipV="1">
              <a:off x="3074554" y="2517660"/>
              <a:ext cx="94010" cy="47005"/>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08" name="그룹 207"/>
          <p:cNvGrpSpPr/>
          <p:nvPr/>
        </p:nvGrpSpPr>
        <p:grpSpPr>
          <a:xfrm>
            <a:off x="3886275" y="3430809"/>
            <a:ext cx="2456097" cy="181140"/>
            <a:chOff x="712467" y="2404329"/>
            <a:chExt cx="2456097" cy="181140"/>
          </a:xfrm>
        </p:grpSpPr>
        <p:sp>
          <p:nvSpPr>
            <p:cNvPr id="209" name="TextBox 208">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투찰내역</a:t>
              </a:r>
              <a:endParaRPr lang="ko-KR" altLang="en-US" sz="700" dirty="0">
                <a:latin typeface="+mn-ea"/>
              </a:endParaRPr>
            </a:p>
          </p:txBody>
        </p:sp>
        <p:grpSp>
          <p:nvGrpSpPr>
            <p:cNvPr id="210" name="그룹 209"/>
            <p:cNvGrpSpPr/>
            <p:nvPr/>
          </p:nvGrpSpPr>
          <p:grpSpPr>
            <a:xfrm flipV="1">
              <a:off x="3074554" y="2517660"/>
              <a:ext cx="94010" cy="47005"/>
              <a:chOff x="6812560" y="3297172"/>
              <a:chExt cx="94010" cy="47005"/>
            </a:xfrm>
          </p:grpSpPr>
          <p:cxnSp>
            <p:nvCxnSpPr>
              <p:cNvPr id="211" name="직선 연결선 2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13" name="그룹 212"/>
          <p:cNvGrpSpPr/>
          <p:nvPr/>
        </p:nvGrpSpPr>
        <p:grpSpPr>
          <a:xfrm>
            <a:off x="3886275" y="3890193"/>
            <a:ext cx="2456097" cy="181140"/>
            <a:chOff x="712467" y="2404329"/>
            <a:chExt cx="2456097" cy="181140"/>
          </a:xfrm>
        </p:grpSpPr>
        <p:sp>
          <p:nvSpPr>
            <p:cNvPr id="214" name="TextBox 213">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복수예비가격</a:t>
              </a:r>
              <a:endParaRPr lang="ko-KR" altLang="en-US" sz="700" dirty="0">
                <a:latin typeface="+mn-ea"/>
              </a:endParaRPr>
            </a:p>
          </p:txBody>
        </p:sp>
        <p:grpSp>
          <p:nvGrpSpPr>
            <p:cNvPr id="215" name="그룹 214"/>
            <p:cNvGrpSpPr/>
            <p:nvPr/>
          </p:nvGrpSpPr>
          <p:grpSpPr>
            <a:xfrm flipV="1">
              <a:off x="3074554" y="2517660"/>
              <a:ext cx="94010" cy="47005"/>
              <a:chOff x="6812560" y="3297172"/>
              <a:chExt cx="94010" cy="47005"/>
            </a:xfrm>
          </p:grpSpPr>
          <p:cxnSp>
            <p:nvCxnSpPr>
              <p:cNvPr id="216" name="직선 연결선 21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7" name="직선 연결선 21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18" name="그룹 217"/>
          <p:cNvGrpSpPr/>
          <p:nvPr/>
        </p:nvGrpSpPr>
        <p:grpSpPr>
          <a:xfrm>
            <a:off x="3886275" y="4349577"/>
            <a:ext cx="2456097" cy="181140"/>
            <a:chOff x="712467" y="2404329"/>
            <a:chExt cx="2456097" cy="181140"/>
          </a:xfrm>
        </p:grpSpPr>
        <p:sp>
          <p:nvSpPr>
            <p:cNvPr id="219" name="TextBox 218">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첨부서류</a:t>
              </a:r>
              <a:endParaRPr lang="ko-KR" altLang="en-US" sz="700" dirty="0">
                <a:latin typeface="+mn-ea"/>
              </a:endParaRPr>
            </a:p>
          </p:txBody>
        </p:sp>
        <p:grpSp>
          <p:nvGrpSpPr>
            <p:cNvPr id="220" name="그룹 219"/>
            <p:cNvGrpSpPr/>
            <p:nvPr/>
          </p:nvGrpSpPr>
          <p:grpSpPr>
            <a:xfrm flipV="1">
              <a:off x="3074554" y="2517660"/>
              <a:ext cx="94010" cy="47005"/>
              <a:chOff x="6812560" y="3297172"/>
              <a:chExt cx="94010" cy="47005"/>
            </a:xfrm>
          </p:grpSpPr>
          <p:cxnSp>
            <p:nvCxnSpPr>
              <p:cNvPr id="221" name="직선 연결선 2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2" name="직선 연결선 2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5" name="그룹 224"/>
          <p:cNvGrpSpPr/>
          <p:nvPr/>
        </p:nvGrpSpPr>
        <p:grpSpPr>
          <a:xfrm>
            <a:off x="3886275" y="4808960"/>
            <a:ext cx="2456097" cy="181140"/>
            <a:chOff x="712467" y="2404329"/>
            <a:chExt cx="2456097" cy="181140"/>
          </a:xfrm>
        </p:grpSpPr>
        <p:sp>
          <p:nvSpPr>
            <p:cNvPr id="245" name="TextBox 244">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동가낙찰선추첨</a:t>
              </a:r>
              <a:endParaRPr lang="ko-KR" altLang="en-US" sz="700" dirty="0">
                <a:latin typeface="+mn-ea"/>
              </a:endParaRPr>
            </a:p>
          </p:txBody>
        </p:sp>
        <p:grpSp>
          <p:nvGrpSpPr>
            <p:cNvPr id="246" name="그룹 245"/>
            <p:cNvGrpSpPr/>
            <p:nvPr/>
          </p:nvGrpSpPr>
          <p:grpSpPr>
            <a:xfrm flipV="1">
              <a:off x="3074554" y="2517660"/>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49" name="직선 연결선 248">
            <a:extLst>
              <a:ext uri="{FF2B5EF4-FFF2-40B4-BE49-F238E27FC236}">
                <a16:creationId xmlns:a16="http://schemas.microsoft.com/office/drawing/2014/main" id="{E9293055-D5CD-4B9E-7F64-64B2D2CA7A52}"/>
              </a:ext>
            </a:extLst>
          </p:cNvPr>
          <p:cNvCxnSpPr/>
          <p:nvPr/>
        </p:nvCxnSpPr>
        <p:spPr>
          <a:xfrm>
            <a:off x="3868983" y="228341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3868983" y="27527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3868983" y="3222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3" name="직선 연결선 252">
            <a:extLst>
              <a:ext uri="{FF2B5EF4-FFF2-40B4-BE49-F238E27FC236}">
                <a16:creationId xmlns:a16="http://schemas.microsoft.com/office/drawing/2014/main" id="{E9293055-D5CD-4B9E-7F64-64B2D2CA7A52}"/>
              </a:ext>
            </a:extLst>
          </p:cNvPr>
          <p:cNvCxnSpPr/>
          <p:nvPr/>
        </p:nvCxnSpPr>
        <p:spPr>
          <a:xfrm>
            <a:off x="3868983" y="36915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4" name="직선 연결선 253">
            <a:extLst>
              <a:ext uri="{FF2B5EF4-FFF2-40B4-BE49-F238E27FC236}">
                <a16:creationId xmlns:a16="http://schemas.microsoft.com/office/drawing/2014/main" id="{E9293055-D5CD-4B9E-7F64-64B2D2CA7A52}"/>
              </a:ext>
            </a:extLst>
          </p:cNvPr>
          <p:cNvCxnSpPr/>
          <p:nvPr/>
        </p:nvCxnSpPr>
        <p:spPr>
          <a:xfrm>
            <a:off x="3868983" y="41609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5" name="직선 연결선 254">
            <a:extLst>
              <a:ext uri="{FF2B5EF4-FFF2-40B4-BE49-F238E27FC236}">
                <a16:creationId xmlns:a16="http://schemas.microsoft.com/office/drawing/2014/main" id="{E9293055-D5CD-4B9E-7F64-64B2D2CA7A52}"/>
              </a:ext>
            </a:extLst>
          </p:cNvPr>
          <p:cNvCxnSpPr/>
          <p:nvPr/>
        </p:nvCxnSpPr>
        <p:spPr>
          <a:xfrm>
            <a:off x="3868983" y="463032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6" name="타원 255">
            <a:extLst>
              <a:ext uri="{FF2B5EF4-FFF2-40B4-BE49-F238E27FC236}">
                <a16:creationId xmlns:a16="http://schemas.microsoft.com/office/drawing/2014/main" id="{37A7FF4F-0EAA-1463-560A-D5EC24416103}"/>
              </a:ext>
            </a:extLst>
          </p:cNvPr>
          <p:cNvSpPr/>
          <p:nvPr/>
        </p:nvSpPr>
        <p:spPr>
          <a:xfrm>
            <a:off x="3685093" y="160565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smtClean="0"/>
              <a:t>5</a:t>
            </a:r>
            <a:endParaRPr lang="ko-KR" altLang="en-US" sz="900" b="1" dirty="0"/>
          </a:p>
        </p:txBody>
      </p:sp>
      <p:sp>
        <p:nvSpPr>
          <p:cNvPr id="257" name="타원 256">
            <a:extLst>
              <a:ext uri="{FF2B5EF4-FFF2-40B4-BE49-F238E27FC236}">
                <a16:creationId xmlns:a16="http://schemas.microsoft.com/office/drawing/2014/main" id="{37A7FF4F-0EAA-1463-560A-D5EC24416103}"/>
              </a:ext>
            </a:extLst>
          </p:cNvPr>
          <p:cNvSpPr/>
          <p:nvPr/>
        </p:nvSpPr>
        <p:spPr>
          <a:xfrm>
            <a:off x="6587950" y="565181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68983" y="51666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87" name="그룹 286"/>
          <p:cNvGrpSpPr/>
          <p:nvPr/>
        </p:nvGrpSpPr>
        <p:grpSpPr>
          <a:xfrm>
            <a:off x="3886275" y="5252656"/>
            <a:ext cx="2456097" cy="181140"/>
            <a:chOff x="712467" y="2404329"/>
            <a:chExt cx="2456097" cy="181140"/>
          </a:xfrm>
        </p:grpSpPr>
        <p:sp>
          <p:nvSpPr>
            <p:cNvPr id="288" name="TextBox 287">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약관동의</a:t>
              </a:r>
              <a:endParaRPr lang="ko-KR" altLang="en-US" sz="700" dirty="0">
                <a:latin typeface="+mn-ea"/>
              </a:endParaRPr>
            </a:p>
          </p:txBody>
        </p:sp>
        <p:grpSp>
          <p:nvGrpSpPr>
            <p:cNvPr id="289" name="그룹 288"/>
            <p:cNvGrpSpPr/>
            <p:nvPr/>
          </p:nvGrpSpPr>
          <p:grpSpPr>
            <a:xfrm flipV="1">
              <a:off x="3074554" y="2517660"/>
              <a:ext cx="94010" cy="47005"/>
              <a:chOff x="6812560" y="3297172"/>
              <a:chExt cx="94010" cy="47005"/>
            </a:xfrm>
          </p:grpSpPr>
          <p:cxnSp>
            <p:nvCxnSpPr>
              <p:cNvPr id="290" name="직선 연결선 28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91" name="직선 연결선 29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92" name="직선 연결선 291">
            <a:extLst>
              <a:ext uri="{FF2B5EF4-FFF2-40B4-BE49-F238E27FC236}">
                <a16:creationId xmlns:a16="http://schemas.microsoft.com/office/drawing/2014/main" id="{E9293055-D5CD-4B9E-7F64-64B2D2CA7A52}"/>
              </a:ext>
            </a:extLst>
          </p:cNvPr>
          <p:cNvCxnSpPr/>
          <p:nvPr/>
        </p:nvCxnSpPr>
        <p:spPr>
          <a:xfrm>
            <a:off x="3868983" y="56103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3006586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공지사항이 있는 경우 표시</a:t>
            </a:r>
            <a:endParaRPr lang="en-US" altLang="ko-KR" dirty="0"/>
          </a:p>
          <a:p>
            <a:pPr marL="228600" indent="-228600">
              <a:buFont typeface="+mj-lt"/>
              <a:buAutoNum type="arabicPeriod"/>
            </a:pPr>
            <a:r>
              <a:rPr lang="ko-KR" altLang="en-US" dirty="0"/>
              <a:t>업무 도움 표시</a:t>
            </a:r>
            <a:endParaRPr lang="en-US" altLang="ko-KR" dirty="0"/>
          </a:p>
          <a:p>
            <a:pPr marL="228600" indent="-228600">
              <a:buFont typeface="+mj-lt"/>
              <a:buAutoNum type="arabicPeriod"/>
            </a:pPr>
            <a:r>
              <a:rPr lang="ko-KR" altLang="en-US" dirty="0"/>
              <a:t>신청서 작성 내역 탭</a:t>
            </a:r>
            <a:r>
              <a:rPr lang="en-US" altLang="ko-KR" dirty="0"/>
              <a:t/>
            </a:r>
            <a:br>
              <a:rPr lang="en-US" altLang="ko-KR" dirty="0"/>
            </a:br>
            <a:r>
              <a:rPr lang="en-US" altLang="ko-KR" dirty="0"/>
              <a:t>1- </a:t>
            </a:r>
            <a:r>
              <a:rPr lang="ko-KR" altLang="en-US" dirty="0"/>
              <a:t>일반정보</a:t>
            </a:r>
            <a:r>
              <a:rPr lang="en-US" altLang="ko-KR" dirty="0"/>
              <a:t/>
            </a:r>
            <a:br>
              <a:rPr lang="en-US" altLang="ko-KR" dirty="0"/>
            </a:br>
            <a:r>
              <a:rPr lang="en-US" altLang="ko-KR" dirty="0"/>
              <a:t>2- </a:t>
            </a:r>
            <a:r>
              <a:rPr lang="ko-KR" altLang="en-US" dirty="0" err="1"/>
              <a:t>품목내역</a:t>
            </a:r>
            <a:r>
              <a:rPr lang="ko-KR" altLang="en-US" dirty="0"/>
              <a:t> </a:t>
            </a:r>
            <a:r>
              <a:rPr lang="en-US" altLang="ko-KR" dirty="0"/>
              <a:t>(</a:t>
            </a:r>
            <a:r>
              <a:rPr lang="ko-KR" altLang="en-US" dirty="0" err="1"/>
              <a:t>단가제인</a:t>
            </a:r>
            <a:r>
              <a:rPr lang="ko-KR" altLang="en-US" dirty="0"/>
              <a:t> 경우 표시</a:t>
            </a:r>
            <a:r>
              <a:rPr lang="en-US" altLang="ko-KR" dirty="0"/>
              <a:t>)</a:t>
            </a:r>
            <a:br>
              <a:rPr lang="en-US" altLang="ko-KR" dirty="0"/>
            </a:br>
            <a:r>
              <a:rPr lang="en-US" altLang="ko-KR" dirty="0"/>
              <a:t>3- </a:t>
            </a:r>
            <a:r>
              <a:rPr lang="ko-KR" altLang="en-US" dirty="0" err="1"/>
              <a:t>투찰내역</a:t>
            </a:r>
            <a:r>
              <a:rPr lang="ko-KR" altLang="en-US" dirty="0"/>
              <a:t> </a:t>
            </a:r>
            <a:r>
              <a:rPr lang="en-US" altLang="ko-KR" dirty="0"/>
              <a:t>(</a:t>
            </a:r>
            <a:r>
              <a:rPr lang="ko-KR" altLang="en-US" dirty="0" err="1"/>
              <a:t>금액정보</a:t>
            </a:r>
            <a:r>
              <a:rPr lang="en-US" altLang="ko-KR" dirty="0"/>
              <a:t>)</a:t>
            </a:r>
            <a:br>
              <a:rPr lang="en-US" altLang="ko-KR" dirty="0"/>
            </a:br>
            <a:r>
              <a:rPr lang="en-US" altLang="ko-KR" dirty="0"/>
              <a:t>4- </a:t>
            </a:r>
            <a:r>
              <a:rPr lang="ko-KR" altLang="en-US" dirty="0"/>
              <a:t>복수예비가격</a:t>
            </a:r>
            <a:r>
              <a:rPr lang="en-US" altLang="ko-KR" dirty="0"/>
              <a:t/>
            </a:r>
            <a:br>
              <a:rPr lang="en-US" altLang="ko-KR" dirty="0"/>
            </a:br>
            <a:r>
              <a:rPr lang="en-US" altLang="ko-KR" dirty="0"/>
              <a:t>5- </a:t>
            </a:r>
            <a:r>
              <a:rPr lang="ko-KR" altLang="en-US" dirty="0"/>
              <a:t>파일첨부</a:t>
            </a:r>
            <a:r>
              <a:rPr lang="en-US" altLang="ko-KR" dirty="0"/>
              <a:t/>
            </a:r>
            <a:br>
              <a:rPr lang="en-US" altLang="ko-KR" dirty="0"/>
            </a:br>
            <a:r>
              <a:rPr lang="en-US" altLang="ko-KR" dirty="0"/>
              <a:t>6- </a:t>
            </a:r>
            <a:r>
              <a:rPr lang="ko-KR" altLang="en-US" dirty="0" err="1"/>
              <a:t>동가낙찰</a:t>
            </a:r>
            <a:r>
              <a:rPr lang="ko-KR" altLang="en-US" dirty="0"/>
              <a:t> </a:t>
            </a:r>
            <a:r>
              <a:rPr lang="ko-KR" altLang="en-US" dirty="0" err="1"/>
              <a:t>선추첨</a:t>
            </a:r>
            <a:r>
              <a:rPr lang="en-US" altLang="ko-KR" dirty="0"/>
              <a:t/>
            </a:r>
            <a:br>
              <a:rPr lang="en-US" altLang="ko-KR" dirty="0"/>
            </a:br>
            <a:r>
              <a:rPr lang="en-US" altLang="ko-KR" dirty="0"/>
              <a:t>7- </a:t>
            </a:r>
            <a:r>
              <a:rPr lang="ko-KR" altLang="en-US" dirty="0"/>
              <a:t>문의 및 동의</a:t>
            </a:r>
            <a:endParaRPr lang="en-US" altLang="ko-KR" dirty="0"/>
          </a:p>
          <a:p>
            <a:pPr marL="228600" indent="-228600">
              <a:buFont typeface="+mj-lt"/>
              <a:buAutoNum type="arabicPeriod"/>
            </a:pPr>
            <a:r>
              <a:rPr lang="ko-KR" altLang="en-US" dirty="0"/>
              <a:t>공고 일반정보 표시</a:t>
            </a:r>
            <a:r>
              <a:rPr lang="en-US" altLang="ko-KR" dirty="0"/>
              <a:t/>
            </a:r>
            <a:br>
              <a:rPr lang="en-US" altLang="ko-KR" dirty="0"/>
            </a:br>
            <a:r>
              <a:rPr lang="ko-KR" altLang="en-US" dirty="0" err="1"/>
              <a:t>업무구분에</a:t>
            </a:r>
            <a:r>
              <a:rPr lang="ko-KR" altLang="en-US" dirty="0"/>
              <a:t> 따라 </a:t>
            </a:r>
            <a:r>
              <a:rPr lang="en-US" altLang="ko-KR" dirty="0"/>
              <a:t>(</a:t>
            </a:r>
            <a:r>
              <a:rPr lang="ko-KR" altLang="en-US" dirty="0"/>
              <a:t>물품 </a:t>
            </a:r>
            <a:r>
              <a:rPr lang="en-US" altLang="ko-KR" dirty="0"/>
              <a:t>/ </a:t>
            </a:r>
            <a:r>
              <a:rPr lang="ko-KR" altLang="en-US" dirty="0"/>
              <a:t>공사</a:t>
            </a:r>
            <a:r>
              <a:rPr lang="en-US" altLang="ko-KR" dirty="0"/>
              <a:t>) </a:t>
            </a:r>
            <a:r>
              <a:rPr lang="ko-KR" altLang="en-US" dirty="0"/>
              <a:t>정보</a:t>
            </a:r>
            <a:r>
              <a:rPr lang="en-US" altLang="ko-KR" dirty="0"/>
              <a:t/>
            </a:r>
            <a:br>
              <a:rPr lang="en-US" altLang="ko-KR" dirty="0"/>
            </a:br>
            <a:r>
              <a:rPr lang="en-US" altLang="ko-KR" dirty="0"/>
              <a:t>- </a:t>
            </a:r>
            <a:r>
              <a:rPr lang="ko-KR" altLang="en-US" dirty="0" err="1"/>
              <a:t>입찰건명</a:t>
            </a:r>
            <a:r>
              <a:rPr lang="ko-KR" altLang="en-US" dirty="0"/>
              <a:t> </a:t>
            </a:r>
            <a:r>
              <a:rPr lang="en-US" altLang="ko-KR" dirty="0"/>
              <a:t>/ </a:t>
            </a:r>
            <a:r>
              <a:rPr lang="ko-KR" altLang="en-US" dirty="0" err="1"/>
              <a:t>공사명</a:t>
            </a:r>
            <a:r>
              <a:rPr lang="en-US" altLang="ko-KR" dirty="0"/>
              <a:t/>
            </a:r>
            <a:br>
              <a:rPr lang="en-US" altLang="ko-KR" dirty="0"/>
            </a:br>
            <a:r>
              <a:rPr lang="en-US" altLang="ko-KR" dirty="0"/>
              <a:t>- </a:t>
            </a:r>
            <a:r>
              <a:rPr lang="ko-KR" altLang="en-US" dirty="0" err="1"/>
              <a:t>판단번호</a:t>
            </a:r>
            <a:r>
              <a:rPr lang="ko-KR" altLang="en-US" dirty="0"/>
              <a:t> </a:t>
            </a:r>
            <a:r>
              <a:rPr lang="en-US" altLang="ko-KR" dirty="0"/>
              <a:t>/ </a:t>
            </a:r>
            <a:r>
              <a:rPr lang="ko-KR" altLang="en-US" dirty="0" err="1"/>
              <a:t>공사번호</a:t>
            </a:r>
            <a:r>
              <a:rPr lang="en-US" altLang="ko-KR" dirty="0"/>
              <a:t/>
            </a:r>
            <a:br>
              <a:rPr lang="en-US" altLang="ko-KR" dirty="0"/>
            </a:br>
            <a:r>
              <a:rPr lang="en-US" altLang="ko-KR" dirty="0"/>
              <a:t>- </a:t>
            </a:r>
            <a:r>
              <a:rPr lang="ko-KR" altLang="en-US" dirty="0" err="1"/>
              <a:t>집행유형</a:t>
            </a:r>
            <a:r>
              <a:rPr lang="ko-KR" altLang="en-US" dirty="0"/>
              <a:t> </a:t>
            </a:r>
            <a:r>
              <a:rPr lang="en-US" altLang="ko-KR" dirty="0"/>
              <a:t>/ </a:t>
            </a:r>
            <a:r>
              <a:rPr lang="ko-KR" altLang="en-US" dirty="0" err="1"/>
              <a:t>공사구분</a:t>
            </a:r>
            <a:r>
              <a:rPr lang="en-US" altLang="ko-KR" dirty="0"/>
              <a:t/>
            </a:r>
            <a:br>
              <a:rPr lang="en-US" altLang="ko-KR" dirty="0"/>
            </a:br>
            <a:r>
              <a:rPr lang="en-US" altLang="ko-KR" dirty="0"/>
              <a:t>- </a:t>
            </a:r>
            <a:r>
              <a:rPr lang="ko-KR" altLang="en-US" dirty="0" err="1"/>
              <a:t>개찰일시</a:t>
            </a:r>
            <a:r>
              <a:rPr lang="ko-KR" altLang="en-US" dirty="0"/>
              <a:t> </a:t>
            </a:r>
            <a:r>
              <a:rPr lang="en-US" altLang="ko-KR" dirty="0"/>
              <a:t>/ </a:t>
            </a:r>
            <a:r>
              <a:rPr lang="ko-KR" altLang="en-US" dirty="0" err="1"/>
              <a:t>입찰일시</a:t>
            </a:r>
            <a:r>
              <a:rPr lang="en-US" altLang="ko-KR" dirty="0"/>
              <a:t/>
            </a:r>
            <a:br>
              <a:rPr lang="en-US" altLang="ko-KR" dirty="0"/>
            </a:br>
            <a:r>
              <a:rPr lang="en-US" altLang="ko-KR" dirty="0"/>
              <a:t>- (</a:t>
            </a:r>
            <a:r>
              <a:rPr lang="ko-KR" altLang="en-US" dirty="0"/>
              <a:t>총수량</a:t>
            </a:r>
            <a:r>
              <a:rPr lang="en-US" altLang="ko-KR" dirty="0"/>
              <a:t>/</a:t>
            </a:r>
            <a:r>
              <a:rPr lang="ko-KR" altLang="en-US" dirty="0" err="1"/>
              <a:t>단가제유형</a:t>
            </a:r>
            <a:r>
              <a:rPr lang="en-US" altLang="ko-KR" dirty="0"/>
              <a:t>) / </a:t>
            </a:r>
            <a:r>
              <a:rPr lang="ko-KR" altLang="en-US" dirty="0"/>
              <a:t>사전심사</a:t>
            </a:r>
            <a:r>
              <a:rPr lang="en-US" altLang="ko-KR" dirty="0"/>
              <a:t/>
            </a:r>
            <a:br>
              <a:rPr lang="en-US" altLang="ko-KR" dirty="0"/>
            </a:br>
            <a:r>
              <a:rPr lang="en-US" altLang="ko-KR" dirty="0"/>
              <a:t>- </a:t>
            </a:r>
            <a:r>
              <a:rPr lang="ko-KR" altLang="en-US" dirty="0" err="1"/>
              <a:t>입찰방법이</a:t>
            </a:r>
            <a:r>
              <a:rPr lang="ko-KR" altLang="en-US" dirty="0"/>
              <a:t> </a:t>
            </a:r>
            <a:r>
              <a:rPr lang="en-US" altLang="ko-KR" dirty="0"/>
              <a:t>‘B(</a:t>
            </a:r>
            <a:r>
              <a:rPr lang="ko-KR" altLang="en-US" dirty="0" err="1"/>
              <a:t>단가제</a:t>
            </a:r>
            <a:r>
              <a:rPr lang="en-US" altLang="ko-KR" dirty="0"/>
              <a:t>)’</a:t>
            </a:r>
            <a:r>
              <a:rPr lang="ko-KR" altLang="en-US" dirty="0"/>
              <a:t>인 경우 </a:t>
            </a:r>
            <a:r>
              <a:rPr lang="ko-KR" altLang="en-US" dirty="0" err="1"/>
              <a:t>단가제유형</a:t>
            </a:r>
            <a:r>
              <a:rPr lang="en-US" altLang="ko-KR" dirty="0"/>
              <a:t>, </a:t>
            </a:r>
            <a:r>
              <a:rPr lang="ko-KR" altLang="en-US" dirty="0"/>
              <a:t>그 외 총수량</a:t>
            </a:r>
            <a:r>
              <a:rPr lang="en-US" altLang="ko-KR" dirty="0"/>
              <a:t/>
            </a:r>
            <a:br>
              <a:rPr lang="en-US" altLang="ko-KR" dirty="0"/>
            </a:br>
            <a:r>
              <a:rPr lang="en-US" altLang="ko-KR" dirty="0"/>
              <a:t>- </a:t>
            </a:r>
            <a:r>
              <a:rPr lang="ko-KR" altLang="en-US" dirty="0"/>
              <a:t>입찰방법</a:t>
            </a:r>
            <a:r>
              <a:rPr lang="en-US" altLang="ko-KR" dirty="0"/>
              <a:t>(BDTC)</a:t>
            </a:r>
            <a:r>
              <a:rPr lang="ko-KR" altLang="en-US" dirty="0"/>
              <a:t>이 </a:t>
            </a:r>
            <a:r>
              <a:rPr lang="en-US" altLang="ko-KR" dirty="0"/>
              <a:t>‘H(</a:t>
            </a:r>
            <a:r>
              <a:rPr lang="ko-KR" altLang="en-US" dirty="0" err="1"/>
              <a:t>내역입찰</a:t>
            </a:r>
            <a:r>
              <a:rPr lang="en-US" altLang="ko-KR" dirty="0"/>
              <a:t>(</a:t>
            </a:r>
            <a:r>
              <a:rPr lang="ko-KR" altLang="en-US" dirty="0"/>
              <a:t>설계시공일괄입찰</a:t>
            </a:r>
            <a:r>
              <a:rPr lang="en-US" altLang="ko-KR" dirty="0"/>
              <a:t>))’</a:t>
            </a:r>
            <a:r>
              <a:rPr lang="ko-KR" altLang="en-US" dirty="0"/>
              <a:t>인 경우 </a:t>
            </a:r>
            <a:r>
              <a:rPr lang="en-US" altLang="ko-KR" dirty="0"/>
              <a:t>‘</a:t>
            </a:r>
            <a:r>
              <a:rPr lang="ko-KR" altLang="en-US" dirty="0" err="1"/>
              <a:t>낙찰자기준</a:t>
            </a:r>
            <a:r>
              <a:rPr lang="en-US" altLang="ko-KR" dirty="0"/>
              <a:t>’ </a:t>
            </a:r>
            <a:r>
              <a:rPr lang="ko-KR" altLang="en-US" dirty="0"/>
              <a:t>보이기</a:t>
            </a:r>
            <a:r>
              <a:rPr lang="en-US" altLang="ko-KR" dirty="0"/>
              <a:t>, </a:t>
            </a:r>
            <a:r>
              <a:rPr lang="ko-KR" altLang="en-US" dirty="0"/>
              <a:t>그 외 숨기기</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a:t>
            </a:r>
            <a:r>
              <a:rPr lang="ko-KR" altLang="en-US" dirty="0" smtClean="0"/>
              <a:t>표기</a:t>
            </a:r>
            <a:r>
              <a:rPr lang="en-US" altLang="ko-KR" dirty="0"/>
              <a:t/>
            </a:r>
            <a:br>
              <a:rPr lang="en-US" altLang="ko-KR" dirty="0"/>
            </a:br>
            <a:r>
              <a:rPr lang="en-US" altLang="ko-KR" dirty="0" smtClean="0"/>
              <a:t>-4-1]</a:t>
            </a:r>
            <a:r>
              <a:rPr lang="ko-KR" altLang="en-US" dirty="0">
                <a:latin typeface="+mn-ea"/>
              </a:rPr>
              <a:t> 총수량</a:t>
            </a:r>
            <a:r>
              <a:rPr lang="en-US" altLang="ko-KR" dirty="0">
                <a:latin typeface="+mn-ea"/>
              </a:rPr>
              <a:t>/</a:t>
            </a:r>
            <a:r>
              <a:rPr lang="ko-KR" altLang="en-US" dirty="0" err="1" smtClean="0">
                <a:latin typeface="+mn-ea"/>
              </a:rPr>
              <a:t>단가제유형</a:t>
            </a:r>
            <a:r>
              <a:rPr lang="en-US" altLang="ko-KR" dirty="0" smtClean="0">
                <a:latin typeface="+mn-ea"/>
              </a:rPr>
              <a:t>/</a:t>
            </a:r>
            <a:r>
              <a:rPr lang="ko-KR" altLang="en-US" dirty="0">
                <a:latin typeface="+mn-ea"/>
              </a:rPr>
              <a:t>사전심사</a:t>
            </a:r>
          </a:p>
          <a:p>
            <a:pPr marL="0" indent="0">
              <a:buNone/>
            </a:pP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입찰서</a:t>
            </a:r>
            <a:r>
              <a:rPr lang="en-US" altLang="ko-KR" dirty="0"/>
              <a:t>(</a:t>
            </a:r>
            <a:r>
              <a:rPr lang="ko-KR" altLang="en-US" dirty="0"/>
              <a:t>견적서</a:t>
            </a:r>
            <a:r>
              <a:rPr lang="en-US" altLang="ko-KR" dirty="0"/>
              <a:t>)</a:t>
            </a:r>
            <a:r>
              <a:rPr lang="ko-KR" altLang="en-US" dirty="0"/>
              <a:t>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smtClean="0">
                <a:latin typeface="+mn-ea"/>
              </a:rPr>
              <a:t>)</a:t>
            </a:r>
            <a:r>
              <a:rPr lang="ko-KR" altLang="en-US" dirty="0">
                <a:latin typeface="+mn-ea"/>
              </a:rPr>
              <a:t> 공개수의계약공고 </a:t>
            </a:r>
            <a:r>
              <a:rPr lang="ko-KR" altLang="en-US" dirty="0" smtClean="0">
                <a:latin typeface="+mn-ea"/>
              </a:rPr>
              <a:t>작성 </a:t>
            </a:r>
            <a:r>
              <a:rPr lang="ko-KR" altLang="en-US" dirty="0" err="1">
                <a:latin typeface="+mn-ea"/>
              </a:rPr>
              <a:t>스탭</a:t>
            </a:r>
            <a:r>
              <a:rPr lang="ko-KR" altLang="en-US" dirty="0">
                <a:latin typeface="+mn-ea"/>
              </a:rPr>
              <a:t> 중 일반정보 </a:t>
            </a:r>
            <a:r>
              <a:rPr lang="ko-KR" altLang="en-US" dirty="0"/>
              <a:t>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252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타원 194">
            <a:extLst>
              <a:ext uri="{FF2B5EF4-FFF2-40B4-BE49-F238E27FC236}">
                <a16:creationId xmlns:a16="http://schemas.microsoft.com/office/drawing/2014/main" id="{37A7FF4F-0EAA-1463-560A-D5EC24416103}"/>
              </a:ext>
            </a:extLst>
          </p:cNvPr>
          <p:cNvSpPr/>
          <p:nvPr/>
        </p:nvSpPr>
        <p:spPr>
          <a:xfrm>
            <a:off x="571127" y="293648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FFC49AEA-2A8F-250C-A86A-A7751D9706C3}"/>
              </a:ext>
            </a:extLst>
          </p:cNvPr>
          <p:cNvSpPr txBox="1"/>
          <p:nvPr/>
        </p:nvSpPr>
        <p:spPr>
          <a:xfrm>
            <a:off x="781461" y="399180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4299292"/>
            <a:ext cx="792000" cy="23585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42992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4299292"/>
            <a:ext cx="756848"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smtClean="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4299292"/>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530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4744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957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51715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53852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55989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9448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728214"/>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25085" y="3728214"/>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73046" y="3728214"/>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2432834" y="3728214"/>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944821"/>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90091"/>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21796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1019814" y="3300175"/>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204" name="타원 203"/>
          <p:cNvSpPr/>
          <p:nvPr/>
        </p:nvSpPr>
        <p:spPr>
          <a:xfrm>
            <a:off x="783686" y="333152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a:off x="3143548" y="3413506"/>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6076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62206"/>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57939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직사각형 281"/>
          <p:cNvSpPr/>
          <p:nvPr/>
        </p:nvSpPr>
        <p:spPr>
          <a:xfrm>
            <a:off x="3840473" y="1842542"/>
            <a:ext cx="792000" cy="12146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8380" y="21884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4" name="TextBox 283">
            <a:extLst>
              <a:ext uri="{FF2B5EF4-FFF2-40B4-BE49-F238E27FC236}">
                <a16:creationId xmlns:a16="http://schemas.microsoft.com/office/drawing/2014/main" id="{FFC49AEA-2A8F-250C-A86A-A7751D9706C3}"/>
              </a:ext>
            </a:extLst>
          </p:cNvPr>
          <p:cNvSpPr txBox="1"/>
          <p:nvPr/>
        </p:nvSpPr>
        <p:spPr>
          <a:xfrm>
            <a:off x="3927536" y="1768247"/>
            <a:ext cx="819573" cy="1292662"/>
          </a:xfrm>
          <a:prstGeom prst="rect">
            <a:avLst/>
          </a:prstGeom>
          <a:noFill/>
        </p:spPr>
        <p:txBody>
          <a:bodyPr wrap="square" lIns="0" tIns="0" rIns="0" bIns="0" rtlCol="0">
            <a:spAutoFit/>
          </a:bodyPr>
          <a:lstStyle/>
          <a:p>
            <a:pPr>
              <a:lnSpc>
                <a:spcPct val="200000"/>
              </a:lnSpc>
            </a:pPr>
            <a:r>
              <a:rPr lang="ko-KR" altLang="en-US" sz="700" dirty="0">
                <a:latin typeface="+mn-ea"/>
              </a:rPr>
              <a:t>적격심사 여부</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사정률</a:t>
            </a:r>
            <a:r>
              <a:rPr lang="en-US" altLang="ko-KR" sz="700" dirty="0">
                <a:latin typeface="+mn-ea"/>
              </a:rPr>
              <a:t>(%)</a:t>
            </a:r>
          </a:p>
          <a:p>
            <a:pPr>
              <a:lnSpc>
                <a:spcPct val="200000"/>
              </a:lnSpc>
            </a:pPr>
            <a:r>
              <a:rPr lang="ko-KR" altLang="en-US" sz="700" dirty="0">
                <a:latin typeface="+mn-ea"/>
              </a:rPr>
              <a:t>업체입찰보증금</a:t>
            </a:r>
            <a:endParaRPr lang="en-US" altLang="ko-KR" sz="700" dirty="0">
              <a:latin typeface="+mn-ea"/>
            </a:endParaRPr>
          </a:p>
          <a:p>
            <a:pPr>
              <a:lnSpc>
                <a:spcPct val="200000"/>
              </a:lnSpc>
            </a:pPr>
            <a:r>
              <a:rPr lang="en-US" altLang="ko-KR" sz="700" dirty="0">
                <a:latin typeface="+mn-ea"/>
              </a:rPr>
              <a:t>2</a:t>
            </a:r>
            <a:r>
              <a:rPr lang="ko-KR" altLang="en-US" sz="700" dirty="0" err="1">
                <a:latin typeface="+mn-ea"/>
              </a:rPr>
              <a:t>단계경쟁</a:t>
            </a:r>
            <a:endParaRPr lang="en-US" altLang="ko-KR" sz="700" dirty="0">
              <a:latin typeface="+mn-ea"/>
            </a:endParaRPr>
          </a:p>
          <a:p>
            <a:pPr>
              <a:lnSpc>
                <a:spcPct val="200000"/>
              </a:lnSpc>
            </a:pPr>
            <a:r>
              <a:rPr lang="ko-KR" altLang="en-US" sz="700" dirty="0">
                <a:latin typeface="+mn-ea"/>
              </a:rPr>
              <a:t>전자파일 제출 가능</a:t>
            </a:r>
            <a:endParaRPr lang="en-US" altLang="ko-KR" sz="700" dirty="0">
              <a:latin typeface="+mn-ea"/>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4684385" y="1768247"/>
            <a:ext cx="1770899" cy="1077218"/>
          </a:xfrm>
          <a:prstGeom prst="rect">
            <a:avLst/>
          </a:prstGeom>
          <a:noFill/>
        </p:spPr>
        <p:txBody>
          <a:bodyPr wrap="square" lIns="0" tIns="0" rIns="0" bIns="0" rtlCol="0">
            <a:spAutoFit/>
          </a:bodyPr>
          <a:lstStyle/>
          <a:p>
            <a:pPr>
              <a:lnSpc>
                <a:spcPct val="200000"/>
              </a:lnSpc>
            </a:pPr>
            <a:r>
              <a:rPr lang="ko-KR" altLang="en-US" sz="700" dirty="0">
                <a:latin typeface="+mn-ea"/>
              </a:rPr>
              <a:t>대상</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3905603" y="3247933"/>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300" name="직사각형 299"/>
          <p:cNvSpPr/>
          <p:nvPr/>
        </p:nvSpPr>
        <p:spPr>
          <a:xfrm>
            <a:off x="3846725" y="3555419"/>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3844632" y="355541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3933789" y="3555418"/>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4690637" y="355541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3846725" y="37865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3846725" y="40002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6725" y="42139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46725" y="44276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46725" y="46413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846725" y="485505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32009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846725" y="50501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290991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94125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023244"/>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3" name="타원 322">
            <a:extLst>
              <a:ext uri="{FF2B5EF4-FFF2-40B4-BE49-F238E27FC236}">
                <a16:creationId xmlns:a16="http://schemas.microsoft.com/office/drawing/2014/main" id="{37A7FF4F-0EAA-1463-560A-D5EC24416103}"/>
              </a:ext>
            </a:extLst>
          </p:cNvPr>
          <p:cNvSpPr/>
          <p:nvPr/>
        </p:nvSpPr>
        <p:spPr>
          <a:xfrm>
            <a:off x="571127" y="334475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4" name="타원 323">
            <a:extLst>
              <a:ext uri="{FF2B5EF4-FFF2-40B4-BE49-F238E27FC236}">
                <a16:creationId xmlns:a16="http://schemas.microsoft.com/office/drawing/2014/main" id="{37A7FF4F-0EAA-1463-560A-D5EC24416103}"/>
              </a:ext>
            </a:extLst>
          </p:cNvPr>
          <p:cNvSpPr/>
          <p:nvPr/>
        </p:nvSpPr>
        <p:spPr>
          <a:xfrm>
            <a:off x="571127" y="368662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325" name="직선 연결선 324">
            <a:extLst>
              <a:ext uri="{FF2B5EF4-FFF2-40B4-BE49-F238E27FC236}">
                <a16:creationId xmlns:a16="http://schemas.microsoft.com/office/drawing/2014/main" id="{E9293055-D5CD-4B9E-7F64-64B2D2CA7A52}"/>
              </a:ext>
            </a:extLst>
          </p:cNvPr>
          <p:cNvCxnSpPr/>
          <p:nvPr/>
        </p:nvCxnSpPr>
        <p:spPr>
          <a:xfrm>
            <a:off x="3840473" y="19725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6" name="타원 325">
            <a:extLst>
              <a:ext uri="{FF2B5EF4-FFF2-40B4-BE49-F238E27FC236}">
                <a16:creationId xmlns:a16="http://schemas.microsoft.com/office/drawing/2014/main" id="{37A7FF4F-0EAA-1463-560A-D5EC24416103}"/>
              </a:ext>
            </a:extLst>
          </p:cNvPr>
          <p:cNvSpPr/>
          <p:nvPr/>
        </p:nvSpPr>
        <p:spPr>
          <a:xfrm>
            <a:off x="571127" y="404780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51" name="모서리가 둥근 직사각형 150"/>
          <p:cNvSpPr/>
          <p:nvPr/>
        </p:nvSpPr>
        <p:spPr>
          <a:xfrm rot="5400000">
            <a:off x="2662242" y="317295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426831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60069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62206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6434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66293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8380" y="2634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840473" y="24189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840473" y="30571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840824" y="183927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FFC49AEA-2A8F-250C-A86A-A7751D9706C3}"/>
              </a:ext>
            </a:extLst>
          </p:cNvPr>
          <p:cNvSpPr txBox="1"/>
          <p:nvPr/>
        </p:nvSpPr>
        <p:spPr>
          <a:xfrm>
            <a:off x="3884502" y="1622666"/>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45419" y="1622666"/>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4993380" y="1622666"/>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79" name="TextBox 178">
            <a:extLst>
              <a:ext uri="{FF2B5EF4-FFF2-40B4-BE49-F238E27FC236}">
                <a16:creationId xmlns:a16="http://schemas.microsoft.com/office/drawing/2014/main" id="{FFC49AEA-2A8F-250C-A86A-A7751D9706C3}"/>
              </a:ext>
            </a:extLst>
          </p:cNvPr>
          <p:cNvSpPr txBox="1"/>
          <p:nvPr/>
        </p:nvSpPr>
        <p:spPr>
          <a:xfrm>
            <a:off x="5553168" y="162266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0824" y="183927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1" name="그룹 180"/>
          <p:cNvGrpSpPr/>
          <p:nvPr/>
        </p:nvGrpSpPr>
        <p:grpSpPr>
          <a:xfrm>
            <a:off x="6044420" y="1584543"/>
            <a:ext cx="422853" cy="187961"/>
            <a:chOff x="3641308" y="2234886"/>
            <a:chExt cx="422853" cy="187961"/>
          </a:xfrm>
        </p:grpSpPr>
        <p:sp>
          <p:nvSpPr>
            <p:cNvPr id="182" name="타원 18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5400000" flipH="1">
              <a:off x="3679895" y="2305364"/>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4" name="타원 18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rot="16200000">
              <a:off x="3931564" y="2305364"/>
              <a:ext cx="94010" cy="47005"/>
              <a:chOff x="6812560" y="3297172"/>
              <a:chExt cx="94010" cy="47005"/>
            </a:xfrm>
          </p:grpSpPr>
          <p:cxnSp>
            <p:nvCxnSpPr>
              <p:cNvPr id="187" name="직선 연결선 1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19" name="그룹 118"/>
          <p:cNvGrpSpPr/>
          <p:nvPr/>
        </p:nvGrpSpPr>
        <p:grpSpPr>
          <a:xfrm>
            <a:off x="677960" y="1582647"/>
            <a:ext cx="2714637" cy="686386"/>
            <a:chOff x="677960" y="1582647"/>
            <a:chExt cx="2714637" cy="686386"/>
          </a:xfrm>
        </p:grpSpPr>
        <p:sp>
          <p:nvSpPr>
            <p:cNvPr id="120" name="TextBox 119">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입찰서 작성</a:t>
              </a:r>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2" name="그룹 121"/>
            <p:cNvGrpSpPr/>
            <p:nvPr/>
          </p:nvGrpSpPr>
          <p:grpSpPr>
            <a:xfrm rot="5400000">
              <a:off x="852159" y="2062596"/>
              <a:ext cx="94010" cy="47005"/>
              <a:chOff x="6812560" y="3297172"/>
              <a:chExt cx="94010" cy="47005"/>
            </a:xfrm>
          </p:grpSpPr>
          <p:cxnSp>
            <p:nvCxnSpPr>
              <p:cNvPr id="130" name="직선 연결선 12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3" name="그룹 122"/>
            <p:cNvGrpSpPr/>
            <p:nvPr/>
          </p:nvGrpSpPr>
          <p:grpSpPr>
            <a:xfrm>
              <a:off x="677960" y="1582647"/>
              <a:ext cx="2712027" cy="324286"/>
              <a:chOff x="677960" y="1582647"/>
              <a:chExt cx="2712027" cy="324286"/>
            </a:xfrm>
          </p:grpSpPr>
          <p:pic>
            <p:nvPicPr>
              <p:cNvPr id="12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25" name="직선 연결선 12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타원 12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타원 12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타원 12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33" name="타원 132">
            <a:extLst>
              <a:ext uri="{FF2B5EF4-FFF2-40B4-BE49-F238E27FC236}">
                <a16:creationId xmlns:a16="http://schemas.microsoft.com/office/drawing/2014/main" id="{37A7FF4F-0EAA-1463-560A-D5EC24416103}"/>
              </a:ext>
            </a:extLst>
          </p:cNvPr>
          <p:cNvSpPr/>
          <p:nvPr/>
        </p:nvSpPr>
        <p:spPr>
          <a:xfrm>
            <a:off x="676432" y="597108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4-1</a:t>
            </a:r>
            <a:endParaRPr lang="ko-KR" altLang="en-US" sz="600" b="1" dirty="0"/>
          </a:p>
        </p:txBody>
      </p:sp>
      <p:sp>
        <p:nvSpPr>
          <p:cNvPr id="132" name="직사각형 131"/>
          <p:cNvSpPr/>
          <p:nvPr/>
        </p:nvSpPr>
        <p:spPr>
          <a:xfrm>
            <a:off x="8223250"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135" name="직사각형 134"/>
          <p:cNvSpPr/>
          <p:nvPr/>
        </p:nvSpPr>
        <p:spPr>
          <a:xfrm>
            <a:off x="9906000"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spTree>
    <p:extLst>
      <p:ext uri="{BB962C8B-B14F-4D97-AF65-F5344CB8AC3E}">
        <p14:creationId xmlns:p14="http://schemas.microsoft.com/office/powerpoint/2010/main" val="381725525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4810391"/>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3807552"/>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집행유형</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5606574"/>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총수량</a:t>
                      </a:r>
                      <a:r>
                        <a:rPr lang="en-US" altLang="ko-KR" sz="800" dirty="0">
                          <a:latin typeface="+mn-ea"/>
                          <a:ea typeface="+mn-ea"/>
                        </a:rPr>
                        <a:t>/</a:t>
                      </a:r>
                      <a:r>
                        <a:rPr lang="ko-KR" altLang="en-US" sz="800" dirty="0">
                          <a:latin typeface="+mn-ea"/>
                          <a:ea typeface="+mn-ea"/>
                        </a:rPr>
                        <a:t>단가제유형</a:t>
                      </a:r>
                      <a:r>
                        <a:rPr lang="en-US" altLang="ko-KR" sz="800" dirty="0">
                          <a:latin typeface="+mn-ea"/>
                          <a:ea typeface="+mn-ea"/>
                        </a:rPr>
                        <a:t>)/</a:t>
                      </a:r>
                      <a:r>
                        <a:rPr lang="ko-KR" altLang="en-US" sz="800" dirty="0">
                          <a:latin typeface="+mn-ea"/>
                          <a:ea typeface="+mn-ea"/>
                        </a:rPr>
                        <a:t>사전심사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낙찰방법명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7916429"/>
                  </a:ext>
                </a:extLst>
              </a:tr>
              <a:tr h="0">
                <a:tc>
                  <a:txBody>
                    <a:bodyPr/>
                    <a:lstStyle/>
                    <a:p>
                      <a:pPr latinLnBrk="1"/>
                      <a:r>
                        <a:rPr lang="ko-KR" altLang="en-US" sz="800" dirty="0">
                          <a:latin typeface="+mn-ea"/>
                          <a:ea typeface="+mn-ea"/>
                        </a:rPr>
                        <a:t>적격심사여부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기초예비가격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981706"/>
                  </a:ext>
                </a:extLst>
              </a:tr>
              <a:tr h="0">
                <a:tc>
                  <a:txBody>
                    <a:bodyPr/>
                    <a:lstStyle/>
                    <a:p>
                      <a:pPr latinLnBrk="1"/>
                      <a:r>
                        <a:rPr lang="ko-KR" altLang="en-US" sz="800" dirty="0" err="1">
                          <a:latin typeface="+mn-ea"/>
                          <a:ea typeface="+mn-ea"/>
                        </a:rPr>
                        <a:t>사정률</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assmLlmtRt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사정하한비율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업체입찰보증금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en-US" altLang="ko-KR" sz="800" dirty="0">
                          <a:latin typeface="+mn-ea"/>
                          <a:ea typeface="+mn-ea"/>
                        </a:rPr>
                        <a:t>2</a:t>
                      </a:r>
                      <a:r>
                        <a:rPr lang="ko-KR" altLang="en-US" sz="800" dirty="0">
                          <a:latin typeface="+mn-ea"/>
                          <a:ea typeface="+mn-ea"/>
                        </a:rPr>
                        <a:t>단계경쟁 전자파일 제출 가능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stp2CmptFileSbmsnYn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2</a:t>
                      </a:r>
                      <a:r>
                        <a:rPr lang="ko-KR" altLang="en-US" sz="800" dirty="0" err="1">
                          <a:latin typeface="+mn-ea"/>
                          <a:ea typeface="+mn-ea"/>
                        </a:rPr>
                        <a:t>단계경쟁파일제출여부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2</a:t>
                      </a:r>
                      <a:r>
                        <a:rPr lang="ko-KR" altLang="en-US" sz="720" dirty="0">
                          <a:latin typeface="+mn-ea"/>
                          <a:ea typeface="+mn-ea"/>
                        </a:rPr>
                        <a:t>단계경쟁 전자파일 제출 가능</a:t>
                      </a:r>
                      <a:r>
                        <a:rPr lang="en-US" altLang="ko-KR" sz="720" dirty="0">
                          <a:latin typeface="+mn-ea"/>
                          <a:ea typeface="+mn-ea"/>
                        </a:rPr>
                        <a:t>/</a:t>
                      </a:r>
                      <a:r>
                        <a:rPr lang="ko-KR" altLang="en-US" sz="720" dirty="0">
                          <a:latin typeface="+mn-ea"/>
                          <a:ea typeface="+mn-ea"/>
                        </a:rPr>
                        <a:t>낙찰자기준</a:t>
                      </a:r>
                      <a:endParaRPr lang="en-US" altLang="ko-KR" sz="72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  - 2</a:t>
                      </a:r>
                      <a:r>
                        <a:rPr lang="ko-KR" altLang="en-US" sz="720" dirty="0">
                          <a:latin typeface="+mn-ea"/>
                          <a:ea typeface="+mn-ea"/>
                        </a:rPr>
                        <a:t>단계 </a:t>
                      </a:r>
                      <a:r>
                        <a:rPr lang="en-US" altLang="ko-KR" sz="720" dirty="0">
                          <a:latin typeface="+mn-ea"/>
                          <a:ea typeface="+mn-ea"/>
                        </a:rPr>
                        <a:t>: </a:t>
                      </a:r>
                      <a:r>
                        <a:rPr lang="ko-KR" altLang="en-US" sz="720" dirty="0">
                          <a:latin typeface="+mn-ea"/>
                          <a:ea typeface="+mn-ea"/>
                        </a:rPr>
                        <a:t>물품이고</a:t>
                      </a:r>
                      <a:r>
                        <a:rPr lang="en-US" altLang="ko-KR" sz="720" dirty="0">
                          <a:latin typeface="+mn-ea"/>
                          <a:ea typeface="+mn-ea"/>
                        </a:rPr>
                        <a:t>, 2</a:t>
                      </a:r>
                      <a:r>
                        <a:rPr lang="ko-KR" altLang="en-US" sz="720" dirty="0">
                          <a:latin typeface="+mn-ea"/>
                          <a:ea typeface="+mn-ea"/>
                        </a:rPr>
                        <a:t>단계경쟁</a:t>
                      </a:r>
                      <a:r>
                        <a:rPr lang="en-US" altLang="ko-KR" sz="720" dirty="0"/>
                        <a:t>(</a:t>
                      </a:r>
                      <a:r>
                        <a:rPr lang="ko-KR" altLang="en-US" sz="720" dirty="0"/>
                        <a:t>분리</a:t>
                      </a:r>
                      <a:r>
                        <a:rPr lang="en-US" altLang="ko-KR" sz="720" dirty="0"/>
                        <a:t>/</a:t>
                      </a:r>
                      <a:r>
                        <a:rPr lang="ko-KR" altLang="en-US" sz="720" dirty="0"/>
                        <a:t>동시</a:t>
                      </a:r>
                      <a:r>
                        <a:rPr lang="en-US" altLang="ko-KR" sz="720" dirty="0"/>
                        <a:t>)</a:t>
                      </a:r>
                      <a:r>
                        <a:rPr lang="ko-KR" altLang="en-US" sz="720" dirty="0">
                          <a:latin typeface="+mn-ea"/>
                          <a:ea typeface="+mn-ea"/>
                        </a:rPr>
                        <a:t>인</a:t>
                      </a:r>
                      <a:r>
                        <a:rPr lang="en-US" altLang="ko-KR" sz="720" dirty="0">
                          <a:latin typeface="+mn-ea"/>
                          <a:ea typeface="+mn-ea"/>
                        </a:rPr>
                        <a:t> </a:t>
                      </a:r>
                      <a:r>
                        <a:rPr lang="ko-KR" altLang="en-US" sz="720" dirty="0">
                          <a:latin typeface="+mn-ea"/>
                          <a:ea typeface="+mn-ea"/>
                        </a:rPr>
                        <a:t>경우</a:t>
                      </a:r>
                      <a:endParaRPr lang="en-US" altLang="ko-KR" sz="72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  - </a:t>
                      </a:r>
                      <a:r>
                        <a:rPr lang="ko-KR" altLang="en-US" sz="720" dirty="0">
                          <a:latin typeface="+mn-ea"/>
                          <a:ea typeface="+mn-ea"/>
                        </a:rPr>
                        <a:t>낙찰자 </a:t>
                      </a:r>
                      <a:r>
                        <a:rPr lang="en-US" altLang="ko-KR" sz="720" dirty="0">
                          <a:latin typeface="+mn-ea"/>
                          <a:ea typeface="+mn-ea"/>
                        </a:rPr>
                        <a:t>: </a:t>
                      </a:r>
                      <a:r>
                        <a:rPr lang="ko-KR" altLang="en-US" sz="720" dirty="0">
                          <a:latin typeface="+mn-ea"/>
                          <a:ea typeface="+mn-ea"/>
                        </a:rPr>
                        <a:t>공사이고</a:t>
                      </a:r>
                      <a:r>
                        <a:rPr lang="en-US" altLang="ko-KR" sz="720" dirty="0">
                          <a:latin typeface="+mn-ea"/>
                          <a:ea typeface="+mn-ea"/>
                        </a:rPr>
                        <a:t>, </a:t>
                      </a:r>
                      <a:r>
                        <a:rPr lang="ko-KR" altLang="en-US" sz="720" dirty="0">
                          <a:latin typeface="+mn-ea"/>
                          <a:ea typeface="+mn-ea"/>
                        </a:rPr>
                        <a:t>내역입찰</a:t>
                      </a:r>
                      <a:r>
                        <a:rPr lang="en-US" altLang="ko-KR" sz="720" dirty="0">
                          <a:latin typeface="+mn-ea"/>
                          <a:ea typeface="+mn-ea"/>
                        </a:rPr>
                        <a:t>(</a:t>
                      </a:r>
                      <a:r>
                        <a:rPr lang="ko-KR" altLang="en-US" sz="720" dirty="0" err="1">
                          <a:latin typeface="+mn-ea"/>
                          <a:ea typeface="+mn-ea"/>
                        </a:rPr>
                        <a:t>설계시공일괄입찰</a:t>
                      </a:r>
                      <a:r>
                        <a:rPr lang="en-US" altLang="ko-KR" sz="720" dirty="0">
                          <a:latin typeface="+mn-ea"/>
                          <a:ea typeface="+mn-ea"/>
                        </a:rPr>
                        <a:t>)</a:t>
                      </a:r>
                      <a:r>
                        <a:rPr lang="ko-KR" altLang="en-US" sz="720" dirty="0">
                          <a:latin typeface="+mn-ea"/>
                          <a:ea typeface="+mn-ea"/>
                        </a:rPr>
                        <a:t>인 </a:t>
                      </a:r>
                      <a:endParaRPr lang="en-US" altLang="ko-KR" sz="72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               </a:t>
                      </a:r>
                      <a:r>
                        <a:rPr lang="ko-KR" altLang="en-US" sz="720" dirty="0">
                          <a:latin typeface="+mn-ea"/>
                          <a:ea typeface="+mn-ea"/>
                        </a:rPr>
                        <a:t>경우</a:t>
                      </a:r>
                      <a:r>
                        <a:rPr lang="en-US" altLang="ko-KR" sz="720" dirty="0">
                          <a:latin typeface="+mn-ea"/>
                          <a:ea typeface="+mn-ea"/>
                        </a:rPr>
                        <a:t> </a:t>
                      </a:r>
                      <a:endParaRPr lang="ko-KR" altLang="en-US" sz="72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319563"/>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입찰건명</a:t>
                      </a:r>
                      <a:r>
                        <a:rPr lang="en-US" altLang="ko-KR" sz="800" dirty="0">
                          <a:latin typeface="+mn-ea"/>
                          <a:ea typeface="+mn-ea"/>
                        </a:rPr>
                        <a:t>/</a:t>
                      </a:r>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6087276"/>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5022882"/>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BB24F8B0-C6FE-F96C-8103-04B4B6A9CC7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4181BC9A-F38E-0760-F39F-9876EBA171F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Tree>
    <p:extLst>
      <p:ext uri="{BB962C8B-B14F-4D97-AF65-F5344CB8AC3E}">
        <p14:creationId xmlns:p14="http://schemas.microsoft.com/office/powerpoint/2010/main" val="269192689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품목 내역 총 건수 표시</a:t>
            </a:r>
            <a:r>
              <a:rPr lang="en-US" altLang="ko-KR" dirty="0"/>
              <a:t/>
            </a:r>
            <a:br>
              <a:rPr lang="en-US" altLang="ko-KR" dirty="0"/>
            </a:br>
            <a:r>
              <a:rPr lang="en-US" altLang="ko-KR" dirty="0"/>
              <a:t>- </a:t>
            </a:r>
            <a:r>
              <a:rPr lang="ko-KR" altLang="en-US" dirty="0"/>
              <a:t>입찰참가신청서작성 </a:t>
            </a:r>
            <a:r>
              <a:rPr lang="en-US" altLang="ko-KR" dirty="0"/>
              <a:t>– </a:t>
            </a:r>
            <a:r>
              <a:rPr lang="ko-KR" altLang="en-US" dirty="0" err="1"/>
              <a:t>품목내역과</a:t>
            </a:r>
            <a:r>
              <a:rPr lang="ko-KR" altLang="en-US" dirty="0"/>
              <a:t> 같은 </a:t>
            </a:r>
            <a:r>
              <a:rPr lang="ko-KR" altLang="en-US" dirty="0" err="1"/>
              <a:t>구성임</a:t>
            </a:r>
            <a:r>
              <a:rPr lang="en-US" altLang="ko-KR" dirty="0"/>
              <a:t/>
            </a:r>
            <a:br>
              <a:rPr lang="en-US" altLang="ko-KR" dirty="0"/>
            </a:br>
            <a:r>
              <a:rPr lang="en-US" altLang="ko-KR" dirty="0"/>
              <a:t>- </a:t>
            </a:r>
            <a:r>
              <a:rPr lang="ko-KR" altLang="en-US" dirty="0"/>
              <a:t>신청서 작성은 탭으로 구분하여 세부 </a:t>
            </a:r>
            <a:r>
              <a:rPr lang="ko-KR" altLang="en-US" dirty="0" err="1"/>
              <a:t>스탭</a:t>
            </a:r>
            <a:r>
              <a:rPr lang="ko-KR" altLang="en-US" dirty="0"/>
              <a:t> 구분</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표시</a:t>
            </a:r>
          </a:p>
          <a:p>
            <a:pPr marL="228600" indent="-228600">
              <a:buFont typeface="+mj-lt"/>
              <a:buAutoNum type="arabicPeriod"/>
            </a:pPr>
            <a:r>
              <a:rPr lang="ko-KR" altLang="en-US" dirty="0" err="1"/>
              <a:t>더보기</a:t>
            </a:r>
            <a:r>
              <a:rPr lang="ko-KR" altLang="en-US" dirty="0"/>
              <a:t> 버튼 클릭을 통한 추가 항목 로드</a:t>
            </a:r>
            <a:r>
              <a:rPr lang="en-US" altLang="ko-KR" dirty="0"/>
              <a:t/>
            </a:r>
            <a:br>
              <a:rPr lang="en-US" altLang="ko-KR" dirty="0"/>
            </a:br>
            <a:r>
              <a:rPr lang="en-US" altLang="ko-KR" dirty="0"/>
              <a:t>- </a:t>
            </a:r>
            <a:r>
              <a:rPr lang="ko-KR" altLang="en-US" dirty="0" err="1"/>
              <a:t>더보기</a:t>
            </a:r>
            <a:r>
              <a:rPr lang="ko-KR" altLang="en-US" dirty="0"/>
              <a:t> 버튼이 추가 건수 표시</a:t>
            </a:r>
            <a:r>
              <a:rPr lang="en-US" altLang="ko-KR" dirty="0"/>
              <a:t/>
            </a:r>
            <a:br>
              <a:rPr lang="en-US" altLang="ko-KR" dirty="0"/>
            </a:br>
            <a:r>
              <a:rPr lang="en-US" altLang="ko-KR" dirty="0"/>
              <a:t>- </a:t>
            </a:r>
            <a:r>
              <a:rPr lang="ko-KR" altLang="en-US" dirty="0"/>
              <a:t>추가 항목이 없는 경우 </a:t>
            </a:r>
            <a:r>
              <a:rPr lang="ko-KR" altLang="en-US" dirty="0" err="1"/>
              <a:t>더보기</a:t>
            </a:r>
            <a:r>
              <a:rPr lang="ko-KR" altLang="en-US" dirty="0"/>
              <a:t> 버튼 숨김</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품목내역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품목내역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MUI-BD-06-M02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24681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2775674"/>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775674"/>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77567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2775674"/>
            <a:ext cx="2630093" cy="1723549"/>
            <a:chOff x="701175" y="1835481"/>
            <a:chExt cx="2630093" cy="1723549"/>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8" name="직사각형 207"/>
          <p:cNvSpPr/>
          <p:nvPr/>
        </p:nvSpPr>
        <p:spPr>
          <a:xfrm>
            <a:off x="722232" y="459058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TextBox 208">
            <a:extLst>
              <a:ext uri="{FF2B5EF4-FFF2-40B4-BE49-F238E27FC236}">
                <a16:creationId xmlns:a16="http://schemas.microsoft.com/office/drawing/2014/main" id="{FFC49AEA-2A8F-250C-A86A-A7751D9706C3}"/>
              </a:ext>
            </a:extLst>
          </p:cNvPr>
          <p:cNvSpPr txBox="1"/>
          <p:nvPr/>
        </p:nvSpPr>
        <p:spPr>
          <a:xfrm>
            <a:off x="809295" y="459058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1566144" y="459058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11" name="그룹 210"/>
          <p:cNvGrpSpPr/>
          <p:nvPr/>
        </p:nvGrpSpPr>
        <p:grpSpPr>
          <a:xfrm>
            <a:off x="720139" y="4590582"/>
            <a:ext cx="2630093" cy="1723549"/>
            <a:chOff x="701175" y="1835481"/>
            <a:chExt cx="2630093" cy="1723549"/>
          </a:xfrm>
        </p:grpSpPr>
        <p:cxnSp>
          <p:nvCxnSpPr>
            <p:cNvPr id="212" name="직선 연결선 2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3" name="직선 연결선 2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4" name="직선 연결선 2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7" name="직선 연결선 216">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30062" y="4551592"/>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46" name="직사각형 345"/>
          <p:cNvSpPr/>
          <p:nvPr/>
        </p:nvSpPr>
        <p:spPr>
          <a:xfrm>
            <a:off x="3834318" y="236823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7" name="TextBox 346">
            <a:extLst>
              <a:ext uri="{FF2B5EF4-FFF2-40B4-BE49-F238E27FC236}">
                <a16:creationId xmlns:a16="http://schemas.microsoft.com/office/drawing/2014/main" id="{FFC49AEA-2A8F-250C-A86A-A7751D9706C3}"/>
              </a:ext>
            </a:extLst>
          </p:cNvPr>
          <p:cNvSpPr txBox="1"/>
          <p:nvPr/>
        </p:nvSpPr>
        <p:spPr>
          <a:xfrm>
            <a:off x="3921381" y="236823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348" name="TextBox 347">
            <a:extLst>
              <a:ext uri="{FF2B5EF4-FFF2-40B4-BE49-F238E27FC236}">
                <a16:creationId xmlns:a16="http://schemas.microsoft.com/office/drawing/2014/main" id="{FFC49AEA-2A8F-250C-A86A-A7751D9706C3}"/>
              </a:ext>
            </a:extLst>
          </p:cNvPr>
          <p:cNvSpPr txBox="1"/>
          <p:nvPr/>
        </p:nvSpPr>
        <p:spPr>
          <a:xfrm>
            <a:off x="4678230" y="236823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349" name="그룹 348"/>
          <p:cNvGrpSpPr/>
          <p:nvPr/>
        </p:nvGrpSpPr>
        <p:grpSpPr>
          <a:xfrm>
            <a:off x="3832225" y="2368232"/>
            <a:ext cx="2630093" cy="1723549"/>
            <a:chOff x="701175" y="1835481"/>
            <a:chExt cx="2630093" cy="1723549"/>
          </a:xfrm>
        </p:grpSpPr>
        <p:cxnSp>
          <p:nvCxnSpPr>
            <p:cNvPr id="350" name="직선 연결선 3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1" name="직선 연결선 3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2" name="직선 연결선 3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3" name="직선 연결선 35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4" name="직선 연결선 35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5" name="직선 연결선 35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6" name="직선 연결선 35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7" name="직선 연결선 35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8" name="직선 연결선 357">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024" y="419057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360" name="타원 359">
            <a:extLst>
              <a:ext uri="{FF2B5EF4-FFF2-40B4-BE49-F238E27FC236}">
                <a16:creationId xmlns:a16="http://schemas.microsoft.com/office/drawing/2014/main" id="{37A7FF4F-0EAA-1463-560A-D5EC24416103}"/>
              </a:ext>
            </a:extLst>
          </p:cNvPr>
          <p:cNvSpPr/>
          <p:nvPr/>
        </p:nvSpPr>
        <p:spPr>
          <a:xfrm>
            <a:off x="3712022" y="417159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1943074"/>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모서리가 둥근 직사각형 109"/>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3840824" y="18240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3884502" y="1607478"/>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13" name="TextBox 112">
            <a:extLst>
              <a:ext uri="{FF2B5EF4-FFF2-40B4-BE49-F238E27FC236}">
                <a16:creationId xmlns:a16="http://schemas.microsoft.com/office/drawing/2014/main" id="{FFC49AEA-2A8F-250C-A86A-A7751D9706C3}"/>
              </a:ext>
            </a:extLst>
          </p:cNvPr>
          <p:cNvSpPr txBox="1"/>
          <p:nvPr/>
        </p:nvSpPr>
        <p:spPr>
          <a:xfrm>
            <a:off x="4445419" y="1607478"/>
            <a:ext cx="464719"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4993380" y="1607478"/>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5553168" y="1607478"/>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4421849" y="1824085"/>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17" name="그룹 116"/>
          <p:cNvGrpSpPr/>
          <p:nvPr/>
        </p:nvGrpSpPr>
        <p:grpSpPr>
          <a:xfrm>
            <a:off x="6044420" y="1569355"/>
            <a:ext cx="422853" cy="187961"/>
            <a:chOff x="3641308" y="2234886"/>
            <a:chExt cx="422853" cy="187961"/>
          </a:xfrm>
        </p:grpSpPr>
        <p:sp>
          <p:nvSpPr>
            <p:cNvPr id="118" name="타원 11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p:cNvGrpSpPr/>
            <p:nvPr/>
          </p:nvGrpSpPr>
          <p:grpSpPr>
            <a:xfrm rot="5400000" flipH="1">
              <a:off x="3679895" y="2305364"/>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0" name="타원 119"/>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1" name="그룹 120"/>
            <p:cNvGrpSpPr/>
            <p:nvPr/>
          </p:nvGrpSpPr>
          <p:grpSpPr>
            <a:xfrm rot="16200000">
              <a:off x="3931564" y="2305364"/>
              <a:ext cx="94010" cy="47005"/>
              <a:chOff x="6812560" y="3297172"/>
              <a:chExt cx="94010" cy="47005"/>
            </a:xfrm>
          </p:grpSpPr>
          <p:cxnSp>
            <p:nvCxnSpPr>
              <p:cNvPr id="122" name="직선 연결선 12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759212" y="2207916"/>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1320129" y="2207916"/>
            <a:ext cx="464719"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1868090" y="2207916"/>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42787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1296559"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2919130" y="2169793"/>
            <a:ext cx="422853" cy="187961"/>
            <a:chOff x="3641308" y="2234886"/>
            <a:chExt cx="422853" cy="187961"/>
          </a:xfrm>
        </p:grpSpPr>
        <p:sp>
          <p:nvSpPr>
            <p:cNvPr id="134" name="타원 13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5" name="그룹 134"/>
            <p:cNvGrpSpPr/>
            <p:nvPr/>
          </p:nvGrpSpPr>
          <p:grpSpPr>
            <a:xfrm rot="5400000" flipH="1">
              <a:off x="3679895" y="2305364"/>
              <a:ext cx="94010" cy="47005"/>
              <a:chOff x="6812560" y="3297172"/>
              <a:chExt cx="94010" cy="47005"/>
            </a:xfrm>
          </p:grpSpPr>
          <p:cxnSp>
            <p:nvCxnSpPr>
              <p:cNvPr id="140" name="직선 연결선 13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1" name="직선 연결선 14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6" name="타원 13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7" name="그룹 136"/>
            <p:cNvGrpSpPr/>
            <p:nvPr/>
          </p:nvGrpSpPr>
          <p:grpSpPr>
            <a:xfrm rot="16200000">
              <a:off x="3931564" y="2305364"/>
              <a:ext cx="94010" cy="47005"/>
              <a:chOff x="6812560" y="3297172"/>
              <a:chExt cx="94010" cy="47005"/>
            </a:xfrm>
          </p:grpSpPr>
          <p:cxnSp>
            <p:nvCxnSpPr>
              <p:cNvPr id="138" name="직선 연결선 1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9" name="직선 연결선 1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18205821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투찰내역</a:t>
            </a:r>
            <a:r>
              <a:rPr lang="en-US" altLang="ko-KR" dirty="0"/>
              <a:t/>
            </a:r>
            <a:br>
              <a:rPr lang="en-US" altLang="ko-KR" dirty="0"/>
            </a:br>
            <a:r>
              <a:rPr lang="en-US" altLang="ko-KR" dirty="0"/>
              <a:t>- </a:t>
            </a:r>
            <a:r>
              <a:rPr lang="ko-KR" altLang="en-US" dirty="0"/>
              <a:t>입찰참가신청서작성 </a:t>
            </a:r>
            <a:r>
              <a:rPr lang="en-US" altLang="ko-KR" dirty="0"/>
              <a:t>– </a:t>
            </a:r>
            <a:r>
              <a:rPr lang="ko-KR" altLang="en-US" dirty="0" err="1"/>
              <a:t>품목내역과</a:t>
            </a:r>
            <a:r>
              <a:rPr lang="ko-KR" altLang="en-US" dirty="0"/>
              <a:t> 같은 </a:t>
            </a:r>
            <a:r>
              <a:rPr lang="ko-KR" altLang="en-US" dirty="0" err="1"/>
              <a:t>구성임</a:t>
            </a:r>
            <a:r>
              <a:rPr lang="en-US" altLang="ko-KR" dirty="0"/>
              <a:t/>
            </a:r>
            <a:br>
              <a:rPr lang="en-US" altLang="ko-KR" dirty="0"/>
            </a:br>
            <a:r>
              <a:rPr lang="en-US" altLang="ko-KR" dirty="0"/>
              <a:t>- </a:t>
            </a:r>
            <a:r>
              <a:rPr lang="ko-KR" altLang="en-US" dirty="0"/>
              <a:t>신청서 작성은 탭으로 구분하여 세부 </a:t>
            </a:r>
            <a:r>
              <a:rPr lang="ko-KR" altLang="en-US" dirty="0" err="1"/>
              <a:t>스탭</a:t>
            </a:r>
            <a:r>
              <a:rPr lang="ko-KR" altLang="en-US" dirty="0"/>
              <a:t> 구분</a:t>
            </a:r>
            <a:r>
              <a:rPr lang="en-US" altLang="ko-KR" dirty="0"/>
              <a:t/>
            </a:r>
            <a:br>
              <a:rPr lang="en-US" altLang="ko-KR" dirty="0"/>
            </a:br>
            <a:r>
              <a:rPr lang="en-US" altLang="ko-KR" dirty="0"/>
              <a:t>- </a:t>
            </a:r>
            <a:r>
              <a:rPr lang="ko-KR" altLang="en-US" dirty="0"/>
              <a:t>입찰금액 입력 시 한글금액으로 변환되어 입력됨</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소수점 둘째자리까지 입력 가능</a:t>
            </a:r>
            <a:endParaRPr lang="en-US" altLang="ko-KR" dirty="0"/>
          </a:p>
          <a:p>
            <a:pPr marL="228600" indent="-228600">
              <a:buFont typeface="+mj-lt"/>
              <a:buAutoNum type="arabicPeriod"/>
            </a:pPr>
            <a:r>
              <a:rPr lang="ko-KR" altLang="en-US" dirty="0" err="1"/>
              <a:t>더보기</a:t>
            </a:r>
            <a:r>
              <a:rPr lang="ko-KR" altLang="en-US" dirty="0"/>
              <a:t> 버튼 클릭을 통한 추가 항목 로드</a:t>
            </a:r>
            <a:r>
              <a:rPr lang="en-US" altLang="ko-KR" dirty="0"/>
              <a:t/>
            </a:r>
            <a:br>
              <a:rPr lang="en-US" altLang="ko-KR" dirty="0"/>
            </a:br>
            <a:r>
              <a:rPr lang="en-US" altLang="ko-KR" dirty="0"/>
              <a:t>- </a:t>
            </a:r>
            <a:r>
              <a:rPr lang="ko-KR" altLang="en-US" dirty="0" err="1"/>
              <a:t>더보기</a:t>
            </a:r>
            <a:r>
              <a:rPr lang="ko-KR" altLang="en-US" dirty="0"/>
              <a:t> 버튼이 추가 건수 표시</a:t>
            </a:r>
            <a:r>
              <a:rPr lang="en-US" altLang="ko-KR" dirty="0"/>
              <a:t/>
            </a:r>
            <a:br>
              <a:rPr lang="en-US" altLang="ko-KR" dirty="0"/>
            </a:br>
            <a:r>
              <a:rPr lang="en-US" altLang="ko-KR" dirty="0"/>
              <a:t>- </a:t>
            </a:r>
            <a:r>
              <a:rPr lang="ko-KR" altLang="en-US" dirty="0"/>
              <a:t>추가 항목이 없는 경우 </a:t>
            </a:r>
            <a:r>
              <a:rPr lang="ko-KR" altLang="en-US" dirty="0" err="1"/>
              <a:t>더보기</a:t>
            </a:r>
            <a:r>
              <a:rPr lang="ko-KR" altLang="en-US" dirty="0"/>
              <a:t> 버튼 숨김</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투찰내역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투찰내역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24681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투찰내역</a:t>
            </a:r>
            <a:endParaRPr lang="ko-KR" altLang="en-US" sz="700" dirty="0">
              <a:latin typeface="+mn-ea"/>
            </a:endParaRPr>
          </a:p>
        </p:txBody>
      </p:sp>
      <p:sp>
        <p:nvSpPr>
          <p:cNvPr id="169" name="직사각형 168"/>
          <p:cNvSpPr/>
          <p:nvPr/>
        </p:nvSpPr>
        <p:spPr>
          <a:xfrm>
            <a:off x="722232" y="2775674"/>
            <a:ext cx="792000" cy="10701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775674"/>
            <a:ext cx="725552" cy="1077218"/>
          </a:xfrm>
          <a:prstGeom prst="rect">
            <a:avLst/>
          </a:prstGeom>
          <a:noFill/>
        </p:spPr>
        <p:txBody>
          <a:bodyPr wrap="square" lIns="0" tIns="0" rIns="0" bIns="0" rtlCol="0">
            <a:spAutoFit/>
          </a:bodyPr>
          <a:lstStyle/>
          <a:p>
            <a:pPr>
              <a:lnSpc>
                <a:spcPct val="200000"/>
              </a:lnSpc>
            </a:pPr>
            <a:r>
              <a:rPr lang="ko-KR" altLang="en-US" sz="700" dirty="0">
                <a:latin typeface="+mn-ea"/>
              </a:rPr>
              <a:t>입찰금액</a:t>
            </a:r>
            <a:r>
              <a:rPr lang="en-US" altLang="ko-KR" sz="700" dirty="0">
                <a:latin typeface="+mn-ea"/>
              </a:rPr>
              <a:t>(\) </a:t>
            </a:r>
            <a:r>
              <a:rPr lang="en-US" altLang="ko-KR" sz="700" dirty="0">
                <a:solidFill>
                  <a:srgbClr val="FF0000"/>
                </a:solidFill>
                <a:latin typeface="+mn-ea"/>
              </a:rPr>
              <a:t>*</a:t>
            </a:r>
          </a:p>
          <a:p>
            <a:pPr>
              <a:lnSpc>
                <a:spcPct val="200000"/>
              </a:lnSpc>
            </a:pPr>
            <a:r>
              <a:rPr lang="ko-KR" altLang="en-US" sz="700" dirty="0">
                <a:latin typeface="+mn-ea"/>
              </a:rPr>
              <a:t>입찰금액</a:t>
            </a:r>
            <a:r>
              <a:rPr lang="en-US" altLang="ko-KR" sz="700" dirty="0">
                <a:latin typeface="+mn-ea"/>
              </a:rPr>
              <a:t>(</a:t>
            </a:r>
            <a:r>
              <a:rPr lang="ko-KR" altLang="en-US" sz="700" dirty="0">
                <a:latin typeface="+mn-ea"/>
              </a:rPr>
              <a:t>원</a:t>
            </a:r>
            <a:r>
              <a:rPr lang="en-US" altLang="ko-KR" sz="700" dirty="0">
                <a:latin typeface="+mn-ea"/>
              </a:rPr>
              <a:t>)</a:t>
            </a:r>
            <a:endParaRPr lang="en-US" altLang="ko-KR" sz="700" dirty="0">
              <a:solidFill>
                <a:srgbClr val="FF0000"/>
              </a:solidFill>
              <a:latin typeface="+mn-ea"/>
            </a:endParaRPr>
          </a:p>
          <a:p>
            <a:pPr>
              <a:lnSpc>
                <a:spcPct val="200000"/>
              </a:lnSpc>
            </a:pPr>
            <a:r>
              <a:rPr lang="ko-KR" altLang="en-US" sz="700" dirty="0" err="1">
                <a:latin typeface="+mn-ea"/>
              </a:rPr>
              <a:t>입찰단가</a:t>
            </a:r>
            <a:r>
              <a:rPr lang="en-US" altLang="ko-KR" sz="700" dirty="0">
                <a:latin typeface="+mn-ea"/>
              </a:rPr>
              <a:t>(\) </a:t>
            </a:r>
            <a:r>
              <a:rPr lang="en-US" altLang="ko-KR" sz="700" dirty="0">
                <a:solidFill>
                  <a:srgbClr val="FF0000"/>
                </a:solidFill>
                <a:latin typeface="+mn-ea"/>
              </a:rPr>
              <a:t>*</a:t>
            </a:r>
          </a:p>
          <a:p>
            <a:pPr>
              <a:lnSpc>
                <a:spcPct val="200000"/>
              </a:lnSpc>
            </a:pPr>
            <a:r>
              <a:rPr lang="ko-KR" altLang="en-US" sz="700" dirty="0" err="1">
                <a:latin typeface="+mn-ea"/>
              </a:rPr>
              <a:t>입찰단가</a:t>
            </a:r>
            <a:r>
              <a:rPr lang="en-US" altLang="ko-KR" sz="700" dirty="0">
                <a:latin typeface="+mn-ea"/>
              </a:rPr>
              <a:t>(</a:t>
            </a:r>
            <a:r>
              <a:rPr lang="ko-KR" altLang="en-US" sz="700" dirty="0">
                <a:latin typeface="+mn-ea"/>
              </a:rPr>
              <a:t>원</a:t>
            </a:r>
            <a:r>
              <a:rPr lang="en-US" altLang="ko-KR" sz="700" dirty="0">
                <a:latin typeface="+mn-ea"/>
              </a:rPr>
              <a:t>)</a:t>
            </a:r>
            <a:endParaRPr lang="en-US" altLang="ko-KR" sz="700" dirty="0">
              <a:solidFill>
                <a:srgbClr val="FF0000"/>
              </a:solidFill>
              <a:latin typeface="+mn-ea"/>
            </a:endParaRPr>
          </a:p>
          <a:p>
            <a:pPr>
              <a:lnSpc>
                <a:spcPct val="200000"/>
              </a:lnSpc>
            </a:pPr>
            <a:r>
              <a:rPr lang="ko-KR" altLang="en-US" sz="700" dirty="0" err="1">
                <a:latin typeface="+mn-ea"/>
              </a:rPr>
              <a:t>입찰수량</a:t>
            </a:r>
            <a:endParaRPr lang="en-US" altLang="ko-KR" sz="700" dirty="0">
              <a:solidFill>
                <a:srgbClr val="FF0000"/>
              </a:solidFill>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775674"/>
            <a:ext cx="1784088" cy="1077218"/>
          </a:xfrm>
          <a:prstGeom prst="rect">
            <a:avLst/>
          </a:prstGeom>
          <a:noFill/>
        </p:spPr>
        <p:txBody>
          <a:bodyPr wrap="square" lIns="0" tIns="0" rIns="0" bIns="0" rtlCol="0">
            <a:spAutoFit/>
          </a:bodyPr>
          <a:lstStyle/>
          <a:p>
            <a:pPr algn="r">
              <a:lnSpc>
                <a:spcPct val="200000"/>
              </a:lnSpc>
            </a:pPr>
            <a:endParaRPr lang="en-US" altLang="ko-KR" sz="700" dirty="0">
              <a:latin typeface="+mn-ea"/>
            </a:endParaRPr>
          </a:p>
          <a:p>
            <a:pPr>
              <a:lnSpc>
                <a:spcPct val="200000"/>
              </a:lnSpc>
            </a:pPr>
            <a:r>
              <a:rPr lang="ko-KR" altLang="en-US" sz="700" dirty="0">
                <a:latin typeface="+mn-ea"/>
              </a:rPr>
              <a:t>금 일백억 원</a:t>
            </a:r>
            <a:endParaRPr lang="en-US" altLang="ko-KR" sz="700" dirty="0">
              <a:latin typeface="+mn-ea"/>
            </a:endParaRPr>
          </a:p>
          <a:p>
            <a:pPr algn="r">
              <a:lnSpc>
                <a:spcPct val="200000"/>
              </a:lnSpc>
            </a:pPr>
            <a:endParaRPr lang="en-US" altLang="ko-KR" sz="700" dirty="0">
              <a:latin typeface="+mn-ea"/>
            </a:endParaRPr>
          </a:p>
          <a:p>
            <a:pPr>
              <a:lnSpc>
                <a:spcPct val="200000"/>
              </a:lnSpc>
            </a:pPr>
            <a:r>
              <a:rPr lang="en-US" altLang="ko-KR" sz="700" dirty="0">
                <a:latin typeface="+mn-ea"/>
              </a:rPr>
              <a:t>-</a:t>
            </a:r>
          </a:p>
          <a:p>
            <a:pPr>
              <a:lnSpc>
                <a:spcPct val="200000"/>
              </a:lnSpc>
            </a:pPr>
            <a:endParaRPr lang="en-US" altLang="ko-KR" sz="700" dirty="0">
              <a:latin typeface="+mn-ea"/>
            </a:endParaRPr>
          </a:p>
        </p:txBody>
      </p:sp>
      <p:grpSp>
        <p:nvGrpSpPr>
          <p:cNvPr id="172" name="그룹 171"/>
          <p:cNvGrpSpPr/>
          <p:nvPr/>
        </p:nvGrpSpPr>
        <p:grpSpPr>
          <a:xfrm>
            <a:off x="720139" y="2775674"/>
            <a:ext cx="2630093" cy="1073700"/>
            <a:chOff x="701175" y="1835481"/>
            <a:chExt cx="2630093" cy="107370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759212" y="2207916"/>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1320129" y="2207916"/>
            <a:ext cx="464719"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1868090" y="2207916"/>
            <a:ext cx="468423"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투찰내역</a:t>
            </a:r>
            <a:endParaRPr lang="ko-KR" altLang="en-US" sz="700" b="1"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42787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1868090"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2919130" y="2169793"/>
            <a:ext cx="422853" cy="187961"/>
            <a:chOff x="3641308" y="2234886"/>
            <a:chExt cx="422853" cy="187961"/>
          </a:xfrm>
        </p:grpSpPr>
        <p:sp>
          <p:nvSpPr>
            <p:cNvPr id="134" name="타원 13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5" name="그룹 134"/>
            <p:cNvGrpSpPr/>
            <p:nvPr/>
          </p:nvGrpSpPr>
          <p:grpSpPr>
            <a:xfrm rot="5400000" flipH="1">
              <a:off x="3679895" y="2305364"/>
              <a:ext cx="94010" cy="47005"/>
              <a:chOff x="6812560" y="3297172"/>
              <a:chExt cx="94010" cy="47005"/>
            </a:xfrm>
          </p:grpSpPr>
          <p:cxnSp>
            <p:nvCxnSpPr>
              <p:cNvPr id="140" name="직선 연결선 13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1" name="직선 연결선 14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6" name="타원 13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7" name="그룹 136"/>
            <p:cNvGrpSpPr/>
            <p:nvPr/>
          </p:nvGrpSpPr>
          <p:grpSpPr>
            <a:xfrm rot="16200000">
              <a:off x="3931564" y="2305364"/>
              <a:ext cx="94010" cy="47005"/>
              <a:chOff x="6812560" y="3297172"/>
              <a:chExt cx="94010" cy="47005"/>
            </a:xfrm>
          </p:grpSpPr>
          <p:cxnSp>
            <p:nvCxnSpPr>
              <p:cNvPr id="138" name="직선 연결선 1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9" name="직선 연결선 1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2" name="사각형: 둥근 모서리 15">
            <a:extLst>
              <a:ext uri="{FF2B5EF4-FFF2-40B4-BE49-F238E27FC236}">
                <a16:creationId xmlns:a16="http://schemas.microsoft.com/office/drawing/2014/main" id="{E2B61CFB-AD16-68D0-8752-50D9C5E01971}"/>
              </a:ext>
            </a:extLst>
          </p:cNvPr>
          <p:cNvSpPr/>
          <p:nvPr/>
        </p:nvSpPr>
        <p:spPr>
          <a:xfrm>
            <a:off x="1561065" y="2806809"/>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43" name="사각형: 둥근 모서리 15">
            <a:extLst>
              <a:ext uri="{FF2B5EF4-FFF2-40B4-BE49-F238E27FC236}">
                <a16:creationId xmlns:a16="http://schemas.microsoft.com/office/drawing/2014/main" id="{E2B61CFB-AD16-68D0-8752-50D9C5E01971}"/>
              </a:ext>
            </a:extLst>
          </p:cNvPr>
          <p:cNvSpPr/>
          <p:nvPr/>
        </p:nvSpPr>
        <p:spPr>
          <a:xfrm>
            <a:off x="1561065" y="3234752"/>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kumimoji="1" lang="ko-KR" altLang="en-US" sz="700" kern="0" dirty="0">
                <a:solidFill>
                  <a:schemeClr val="bg1">
                    <a:lumMod val="75000"/>
                  </a:schemeClr>
                </a:solidFill>
              </a:rPr>
              <a:t>입력해주세요</a:t>
            </a:r>
            <a:r>
              <a:rPr kumimoji="1" lang="en-US" altLang="ko-KR" sz="700" kern="0" dirty="0">
                <a:solidFill>
                  <a:schemeClr val="bg1">
                    <a:lumMod val="75000"/>
                  </a:schemeClr>
                </a:solidFill>
              </a:rPr>
              <a:t>.</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336513" y="2768911"/>
            <a:ext cx="964854" cy="861774"/>
          </a:xfrm>
          <a:prstGeom prst="rect">
            <a:avLst/>
          </a:prstGeom>
          <a:noFill/>
        </p:spPr>
        <p:txBody>
          <a:bodyPr wrap="square" lIns="0" tIns="0" rIns="0" bIns="0" rtlCol="0">
            <a:spAutoFit/>
          </a:bodyPr>
          <a:lstStyle/>
          <a:p>
            <a:pPr algn="r">
              <a:lnSpc>
                <a:spcPct val="200000"/>
              </a:lnSpc>
            </a:pPr>
            <a:r>
              <a:rPr lang="en-US" altLang="ko-KR" sz="700" dirty="0">
                <a:latin typeface="+mn-ea"/>
              </a:rPr>
              <a:t>10,000,000,000 </a:t>
            </a:r>
            <a:r>
              <a:rPr lang="ko-KR" altLang="en-US" sz="700" dirty="0">
                <a:latin typeface="+mn-ea"/>
              </a:rPr>
              <a:t>원</a:t>
            </a:r>
            <a:endParaRPr lang="en-US" altLang="ko-KR" sz="700" dirty="0">
              <a:latin typeface="+mn-ea"/>
            </a:endParaRPr>
          </a:p>
          <a:p>
            <a:pPr algn="r">
              <a:lnSpc>
                <a:spcPct val="200000"/>
              </a:lnSpc>
            </a:pPr>
            <a:endParaRPr lang="en-US" altLang="ko-KR" sz="700" dirty="0">
              <a:latin typeface="+mn-ea"/>
            </a:endParaRPr>
          </a:p>
          <a:p>
            <a:pPr algn="r">
              <a:lnSpc>
                <a:spcPct val="200000"/>
              </a:lnSpc>
            </a:pPr>
            <a:r>
              <a:rPr lang="ko-KR" altLang="en-US" sz="700" dirty="0">
                <a:latin typeface="+mn-ea"/>
              </a:rPr>
              <a:t>원</a:t>
            </a:r>
            <a:endParaRPr lang="en-US" altLang="ko-KR" sz="700" dirty="0">
              <a:latin typeface="+mn-ea"/>
            </a:endParaRPr>
          </a:p>
          <a:p>
            <a:pPr algn="r">
              <a:lnSpc>
                <a:spcPct val="200000"/>
              </a:lnSpc>
            </a:pPr>
            <a:endParaRPr lang="en-US" altLang="ko-KR" sz="700" dirty="0">
              <a:latin typeface="+mn-ea"/>
            </a:endParaRPr>
          </a:p>
        </p:txBody>
      </p:sp>
      <p:sp>
        <p:nvSpPr>
          <p:cNvPr id="156" name="사각형: 둥근 모서리 15">
            <a:extLst>
              <a:ext uri="{FF2B5EF4-FFF2-40B4-BE49-F238E27FC236}">
                <a16:creationId xmlns:a16="http://schemas.microsoft.com/office/drawing/2014/main" id="{E2B61CFB-AD16-68D0-8752-50D9C5E01971}"/>
              </a:ext>
            </a:extLst>
          </p:cNvPr>
          <p:cNvSpPr/>
          <p:nvPr/>
        </p:nvSpPr>
        <p:spPr>
          <a:xfrm>
            <a:off x="1561065" y="366269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kumimoji="1" lang="ko-KR" altLang="en-US" sz="700" kern="0" dirty="0">
                <a:solidFill>
                  <a:schemeClr val="bg1">
                    <a:lumMod val="75000"/>
                  </a:schemeClr>
                </a:solidFill>
              </a:rPr>
              <a:t>입력해주세요</a:t>
            </a:r>
            <a:r>
              <a:rPr kumimoji="1" lang="en-US" altLang="ko-KR" sz="700" kern="0" dirty="0">
                <a:solidFill>
                  <a:schemeClr val="bg1">
                    <a:lumMod val="75000"/>
                  </a:schemeClr>
                </a:solidFill>
              </a:rPr>
              <a:t>.</a:t>
            </a:r>
          </a:p>
        </p:txBody>
      </p:sp>
      <p:sp>
        <p:nvSpPr>
          <p:cNvPr id="49" name="타원 48">
            <a:extLst>
              <a:ext uri="{FF2B5EF4-FFF2-40B4-BE49-F238E27FC236}">
                <a16:creationId xmlns:a16="http://schemas.microsoft.com/office/drawing/2014/main" id="{37A7FF4F-0EAA-1463-560A-D5EC24416103}"/>
              </a:ext>
            </a:extLst>
          </p:cNvPr>
          <p:cNvSpPr/>
          <p:nvPr/>
        </p:nvSpPr>
        <p:spPr>
          <a:xfrm>
            <a:off x="589334" y="581329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378607506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56369"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품목내역 목록 데이터 영역 </a:t>
            </a:r>
            <a:r>
              <a:rPr lang="en-US" altLang="ko-KR" sz="900" b="1" dirty="0">
                <a:solidFill>
                  <a:prstClr val="black"/>
                </a:solidFill>
              </a:rPr>
              <a:t>(</a:t>
            </a:r>
            <a:r>
              <a:rPr lang="en-US" altLang="ko-KR" sz="900" b="1" dirty="0" err="1">
                <a:solidFill>
                  <a:prstClr val="black"/>
                </a:solidFill>
              </a:rPr>
              <a:t>dlt_itemList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008481"/>
            <a:ext cx="2342555"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투찰내역</a:t>
            </a:r>
            <a:r>
              <a:rPr lang="ko-KR" altLang="en-US" sz="900" b="1" dirty="0">
                <a:solidFill>
                  <a:prstClr val="black"/>
                </a:solidFill>
              </a:rPr>
              <a:t> 데이터 영역 </a:t>
            </a:r>
            <a:r>
              <a:rPr lang="en-US" altLang="ko-KR" sz="900" b="1" dirty="0">
                <a:solidFill>
                  <a:prstClr val="black"/>
                </a:solidFill>
              </a:rPr>
              <a:t>(</a:t>
            </a:r>
            <a:r>
              <a:rPr lang="en-US" altLang="ko-KR" sz="900" b="1" dirty="0" err="1">
                <a:solidFill>
                  <a:prstClr val="black"/>
                </a:solidFill>
              </a:rPr>
              <a:t>dmt_bdngAmt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입찰방법이 단가제인 경우 보이기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군급분류코드</a:t>
                      </a:r>
                      <a:r>
                        <a:rPr lang="en-US" altLang="ko-KR" sz="800" dirty="0">
                          <a:latin typeface="+mn-ea"/>
                          <a:ea typeface="+mn-ea"/>
                        </a:rPr>
                        <a:t>, </a:t>
                      </a:r>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군급분류코드</a:t>
                      </a:r>
                      <a:r>
                        <a:rPr lang="en-US" altLang="ko-KR" sz="800" dirty="0">
                          <a:latin typeface="+mn-ea"/>
                          <a:ea typeface="+mn-ea"/>
                        </a:rPr>
                        <a:t>+</a:t>
                      </a:r>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a:latin typeface="+mn-ea"/>
                          <a:ea typeface="+mn-ea"/>
                        </a:rPr>
                        <a:t>단위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a:latin typeface="+mn-ea"/>
                          <a:ea typeface="+mn-ea"/>
                        </a:rPr>
                        <a:t>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a:latin typeface="+mn-ea"/>
                          <a:ea typeface="+mn-ea"/>
                        </a:rPr>
                        <a:t>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220972"/>
          <a:ext cx="8995589" cy="116352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입찰금액</a:t>
                      </a:r>
                      <a:r>
                        <a:rPr lang="en-US" altLang="ko-KR" sz="800" dirty="0">
                          <a:latin typeface="+mn-ea"/>
                          <a:ea typeface="+mn-ea"/>
                        </a:rPr>
                        <a:t>(</a:t>
                      </a:r>
                      <a:r>
                        <a:rPr lang="ko-KR" altLang="en-US" sz="800" dirty="0">
                          <a:latin typeface="+mn-ea"/>
                          <a:ea typeface="+mn-ea"/>
                        </a:rPr>
                        <a:t>￦</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투찰금액을</a:t>
                      </a:r>
                      <a:r>
                        <a:rPr lang="ko-KR" altLang="en-US" sz="800" dirty="0">
                          <a:latin typeface="+mn-ea"/>
                          <a:ea typeface="+mn-ea"/>
                        </a:rPr>
                        <a:t> 숫자로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단가제인 경우 소수점 둘째자리까지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입찰금액</a:t>
                      </a:r>
                      <a:r>
                        <a:rPr lang="en-US" altLang="ko-KR" sz="800" dirty="0">
                          <a:latin typeface="+mn-ea"/>
                          <a:ea typeface="+mn-ea"/>
                        </a:rPr>
                        <a:t>(</a:t>
                      </a:r>
                      <a:r>
                        <a:rPr lang="ko-KR" altLang="en-US" sz="800" dirty="0">
                          <a:latin typeface="+mn-ea"/>
                          <a:ea typeface="+mn-ea"/>
                        </a:rPr>
                        <a:t>원</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bdngAmtKor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입력된 </a:t>
                      </a:r>
                      <a:r>
                        <a:rPr lang="ko-KR" altLang="en-US" sz="800" dirty="0" err="1">
                          <a:latin typeface="+mn-ea"/>
                          <a:ea typeface="+mn-ea"/>
                        </a:rPr>
                        <a:t>투락금액을</a:t>
                      </a:r>
                      <a:r>
                        <a:rPr lang="ko-KR" altLang="en-US" sz="800" dirty="0">
                          <a:latin typeface="+mn-ea"/>
                          <a:ea typeface="+mn-ea"/>
                        </a:rPr>
                        <a:t> 한글금액으로 변환하여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입찰수량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단가제인 경우 </a:t>
                      </a:r>
                      <a:r>
                        <a:rPr lang="ko-KR" altLang="en-US" sz="800" dirty="0" err="1">
                          <a:latin typeface="+mn-ea"/>
                          <a:ea typeface="+mn-ea"/>
                        </a:rPr>
                        <a:t>투찰수량을</a:t>
                      </a:r>
                      <a:r>
                        <a:rPr lang="ko-KR" altLang="en-US" sz="800" dirty="0">
                          <a:latin typeface="+mn-ea"/>
                          <a:ea typeface="+mn-ea"/>
                        </a:rPr>
                        <a:t> 숫자로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입찰단가</a:t>
                      </a:r>
                      <a:r>
                        <a:rPr lang="en-US" altLang="ko-KR" sz="800" dirty="0">
                          <a:latin typeface="+mn-ea"/>
                          <a:ea typeface="+mn-ea"/>
                        </a:rPr>
                        <a:t>(</a:t>
                      </a:r>
                      <a:r>
                        <a:rPr lang="ko-KR" altLang="en-US" sz="800" dirty="0">
                          <a:latin typeface="+mn-ea"/>
                          <a:ea typeface="+mn-ea"/>
                        </a:rPr>
                        <a:t>￦</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투찰단가를</a:t>
                      </a:r>
                      <a:r>
                        <a:rPr lang="ko-KR" altLang="en-US" sz="800" dirty="0">
                          <a:latin typeface="+mn-ea"/>
                          <a:ea typeface="+mn-ea"/>
                        </a:rPr>
                        <a:t> 숫자로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단가제인 경우 소수점 둘째자리까지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4610569"/>
                  </a:ext>
                </a:extLst>
              </a:tr>
              <a:tr h="0">
                <a:tc>
                  <a:txBody>
                    <a:bodyPr/>
                    <a:lstStyle/>
                    <a:p>
                      <a:pPr latinLnBrk="1"/>
                      <a:r>
                        <a:rPr lang="ko-KR" altLang="en-US" sz="800" dirty="0">
                          <a:latin typeface="+mn-ea"/>
                          <a:ea typeface="+mn-ea"/>
                        </a:rPr>
                        <a:t>입찰단가</a:t>
                      </a:r>
                      <a:r>
                        <a:rPr lang="en-US" altLang="ko-KR" sz="800" dirty="0">
                          <a:latin typeface="+mn-ea"/>
                          <a:ea typeface="+mn-ea"/>
                        </a:rPr>
                        <a:t>(</a:t>
                      </a:r>
                      <a:r>
                        <a:rPr lang="ko-KR" altLang="en-US" sz="800" dirty="0">
                          <a:latin typeface="+mn-ea"/>
                          <a:ea typeface="+mn-ea"/>
                        </a:rPr>
                        <a:t>원</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bdngUntprcKor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입력된 </a:t>
                      </a:r>
                      <a:r>
                        <a:rPr lang="ko-KR" altLang="en-US" sz="800" dirty="0" err="1">
                          <a:latin typeface="+mn-ea"/>
                          <a:ea typeface="+mn-ea"/>
                        </a:rPr>
                        <a:t>투찰단가를</a:t>
                      </a:r>
                      <a:r>
                        <a:rPr lang="ko-KR" altLang="en-US" sz="800" dirty="0">
                          <a:latin typeface="+mn-ea"/>
                          <a:ea typeface="+mn-ea"/>
                        </a:rPr>
                        <a:t> 한글금액으로 변환하여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4051878"/>
                  </a:ext>
                </a:extLst>
              </a:tr>
            </a:tbl>
          </a:graphicData>
        </a:graphic>
      </p:graphicFrame>
      <p:sp>
        <p:nvSpPr>
          <p:cNvPr id="4" name="TextBox 3">
            <a:extLst>
              <a:ext uri="{FF2B5EF4-FFF2-40B4-BE49-F238E27FC236}">
                <a16:creationId xmlns:a16="http://schemas.microsoft.com/office/drawing/2014/main" id="{3640B13D-584B-8416-67F8-3DBDF632D167}"/>
              </a:ext>
            </a:extLst>
          </p:cNvPr>
          <p:cNvSpPr txBox="1"/>
          <p:nvPr/>
        </p:nvSpPr>
        <p:spPr>
          <a:xfrm>
            <a:off x="453832" y="4693594"/>
            <a:ext cx="2868340"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복수예비가격선택 데이터 영역 </a:t>
            </a:r>
            <a:r>
              <a:rPr lang="en-US" altLang="ko-KR" sz="900" b="1" dirty="0">
                <a:solidFill>
                  <a:prstClr val="black"/>
                </a:solidFill>
              </a:rPr>
              <a:t>(</a:t>
            </a:r>
            <a:r>
              <a:rPr lang="en-US" altLang="ko-KR" sz="900" b="1" dirty="0" err="1">
                <a:solidFill>
                  <a:prstClr val="black"/>
                </a:solidFill>
              </a:rPr>
              <a:t>dmt_rsrbPrcChc</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9A5F43F4-CB5F-C531-B843-B6D2FC2FA0D8}"/>
              </a:ext>
            </a:extLst>
          </p:cNvPr>
          <p:cNvGraphicFramePr>
            <a:graphicFrameLocks noGrp="1"/>
          </p:cNvGraphicFramePr>
          <p:nvPr/>
        </p:nvGraphicFramePr>
        <p:xfrm>
          <a:off x="452293" y="4906085"/>
          <a:ext cx="8995589" cy="775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복수예비가격선택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rsrvPrcChcNo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2</a:t>
                      </a:r>
                      <a:r>
                        <a:rPr lang="ko-KR" altLang="en-US" sz="800" dirty="0">
                          <a:latin typeface="+mn-ea"/>
                          <a:ea typeface="+mn-ea"/>
                        </a:rPr>
                        <a:t>개의 추첨번호를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en-US" altLang="ko-KR" sz="800" dirty="0">
                          <a:latin typeface="+mn-ea"/>
                          <a:ea typeface="+mn-ea"/>
                        </a:rPr>
                        <a:t>1</a:t>
                      </a:r>
                      <a:r>
                        <a:rPr lang="ko-KR" altLang="en-US" sz="800" dirty="0">
                          <a:latin typeface="+mn-ea"/>
                          <a:ea typeface="+mn-ea"/>
                        </a:rPr>
                        <a:t>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rsrvPrcChcNo1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첫번째 추첨번호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예정가격생성 후 랜덤으로 변경 된 번호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en-US" altLang="ko-KR" sz="800" dirty="0">
                          <a:latin typeface="+mn-ea"/>
                          <a:ea typeface="+mn-ea"/>
                        </a:rPr>
                        <a:t>2</a:t>
                      </a:r>
                      <a:r>
                        <a:rPr lang="ko-KR" altLang="en-US" sz="800" dirty="0">
                          <a:latin typeface="+mn-ea"/>
                          <a:ea typeface="+mn-ea"/>
                        </a:rPr>
                        <a:t>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rsrvPrcChcNo2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두번째 추첨번호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예정가격생성 후 랜덤으로 변경 된 번호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7" name="Text Box 73">
            <a:extLst>
              <a:ext uri="{FF2B5EF4-FFF2-40B4-BE49-F238E27FC236}">
                <a16:creationId xmlns:a16="http://schemas.microsoft.com/office/drawing/2014/main" id="{DEDBDEAA-0101-5D22-5B6B-0B88D173F36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B5E792CA-774B-3F68-CA58-BB0078F984A4}"/>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Tree>
    <p:extLst>
      <p:ext uri="{BB962C8B-B14F-4D97-AF65-F5344CB8AC3E}">
        <p14:creationId xmlns:p14="http://schemas.microsoft.com/office/powerpoint/2010/main" val="90955363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복수예비가격 선택 화면</a:t>
            </a:r>
            <a:r>
              <a:rPr lang="en-US" altLang="ko-KR" dirty="0"/>
              <a:t/>
            </a:r>
            <a:br>
              <a:rPr lang="en-US" altLang="ko-KR" dirty="0"/>
            </a:br>
            <a:r>
              <a:rPr lang="en-US" altLang="ko-KR" dirty="0"/>
              <a:t>- </a:t>
            </a:r>
            <a:r>
              <a:rPr lang="ko-KR" altLang="en-US" dirty="0"/>
              <a:t>제목 표시</a:t>
            </a:r>
            <a:endParaRPr lang="en-US" altLang="ko-KR" dirty="0"/>
          </a:p>
          <a:p>
            <a:pPr marL="228600" indent="-228600">
              <a:buFont typeface="+mj-lt"/>
              <a:buAutoNum type="arabicPeriod"/>
            </a:pPr>
            <a:r>
              <a:rPr lang="en-US" altLang="ko-KR" dirty="0"/>
              <a:t>1</a:t>
            </a:r>
            <a:r>
              <a:rPr lang="ko-KR" altLang="en-US" dirty="0" err="1"/>
              <a:t>회차</a:t>
            </a:r>
            <a:r>
              <a:rPr lang="ko-KR" altLang="en-US" dirty="0"/>
              <a:t> 선택은 기본값 열림으로 표시</a:t>
            </a:r>
            <a:r>
              <a:rPr lang="en-US" altLang="ko-KR" dirty="0"/>
              <a:t/>
            </a:r>
            <a:br>
              <a:rPr lang="en-US" altLang="ko-KR" dirty="0"/>
            </a:br>
            <a:r>
              <a:rPr lang="en-US" altLang="ko-KR" dirty="0"/>
              <a:t>- </a:t>
            </a:r>
            <a:r>
              <a:rPr lang="ko-KR" altLang="en-US" dirty="0" smtClean="0"/>
              <a:t>사용자 </a:t>
            </a:r>
            <a:r>
              <a:rPr lang="ko-KR" altLang="en-US" dirty="0"/>
              <a:t>선택 버튼을 통해 아코디언 처리</a:t>
            </a:r>
            <a:r>
              <a:rPr lang="en-US" altLang="ko-KR" dirty="0"/>
              <a:t/>
            </a:r>
            <a:br>
              <a:rPr lang="en-US" altLang="ko-KR" dirty="0"/>
            </a:br>
            <a:r>
              <a:rPr lang="en-US" altLang="ko-KR" dirty="0"/>
              <a:t>- </a:t>
            </a:r>
            <a:r>
              <a:rPr lang="ko-KR" altLang="en-US" dirty="0"/>
              <a:t>선택 버튼으로 </a:t>
            </a:r>
            <a:r>
              <a:rPr lang="en-US" altLang="ko-KR" dirty="0"/>
              <a:t>1</a:t>
            </a:r>
            <a:r>
              <a:rPr lang="ko-KR" altLang="en-US" dirty="0"/>
              <a:t>회</a:t>
            </a:r>
            <a:r>
              <a:rPr lang="en-US" altLang="ko-KR" dirty="0"/>
              <a:t>, 2</a:t>
            </a:r>
            <a:r>
              <a:rPr lang="ko-KR" altLang="en-US" dirty="0"/>
              <a:t>회 각각 아코디언 동작</a:t>
            </a:r>
            <a:endParaRPr lang="en-US" altLang="ko-KR" dirty="0"/>
          </a:p>
          <a:p>
            <a:pPr marL="228600" indent="-228600">
              <a:buFont typeface="+mj-lt"/>
              <a:buAutoNum type="arabicPeriod"/>
            </a:pPr>
            <a:r>
              <a:rPr lang="ko-KR" altLang="en-US" dirty="0"/>
              <a:t>항목 선택 시 상단에 선택 번호 표시</a:t>
            </a:r>
            <a:r>
              <a:rPr lang="en-US" altLang="ko-KR" dirty="0"/>
              <a:t/>
            </a:r>
            <a:br>
              <a:rPr lang="en-US" altLang="ko-KR" dirty="0"/>
            </a:br>
            <a:r>
              <a:rPr lang="en-US" altLang="ko-KR" dirty="0"/>
              <a:t>- </a:t>
            </a:r>
            <a:r>
              <a:rPr lang="ko-KR" altLang="en-US" dirty="0"/>
              <a:t>선택 시 닫힘으로 변경</a:t>
            </a:r>
            <a:r>
              <a:rPr lang="en-US" altLang="ko-KR" dirty="0"/>
              <a:t/>
            </a:r>
            <a:br>
              <a:rPr lang="en-US" altLang="ko-KR" dirty="0"/>
            </a:br>
            <a:r>
              <a:rPr lang="en-US" altLang="ko-KR" dirty="0"/>
              <a:t>- 1</a:t>
            </a:r>
            <a:r>
              <a:rPr lang="ko-KR" altLang="en-US" dirty="0" err="1"/>
              <a:t>회차</a:t>
            </a:r>
            <a:r>
              <a:rPr lang="ko-KR" altLang="en-US" dirty="0"/>
              <a:t> 선택 후 </a:t>
            </a:r>
            <a:r>
              <a:rPr lang="en-US" altLang="ko-KR" dirty="0"/>
              <a:t>2</a:t>
            </a:r>
            <a:r>
              <a:rPr lang="ko-KR" altLang="en-US" dirty="0" err="1"/>
              <a:t>회차가</a:t>
            </a:r>
            <a:r>
              <a:rPr lang="ko-KR" altLang="en-US" dirty="0"/>
              <a:t> 선택되지 않은 경우 </a:t>
            </a:r>
            <a:r>
              <a:rPr lang="en-US" altLang="ko-KR" dirty="0"/>
              <a:t>2</a:t>
            </a:r>
            <a:r>
              <a:rPr lang="ko-KR" altLang="en-US" dirty="0" err="1"/>
              <a:t>회차</a:t>
            </a:r>
            <a:r>
              <a:rPr lang="ko-KR" altLang="en-US" dirty="0"/>
              <a:t> 선택 자동 열림</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복수예비가격</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복수예비가격 입력</a:t>
            </a:r>
            <a:r>
              <a:rPr lang="ko-KR" altLang="en-US" dirty="0"/>
              <a:t> </a:t>
            </a:r>
            <a:r>
              <a:rPr lang="ko-KR" altLang="en-US" dirty="0" smtClean="0"/>
              <a:t>화면</a:t>
            </a:r>
            <a:r>
              <a:rPr lang="en-US" altLang="ko-KR" dirty="0" smtClean="0"/>
              <a:t>, </a:t>
            </a:r>
            <a:r>
              <a:rPr lang="ko-KR" altLang="en-US" dirty="0" smtClean="0"/>
              <a:t>복수예비가격은 해당 견적 </a:t>
            </a:r>
            <a:r>
              <a:rPr lang="ko-KR" altLang="en-US" dirty="0" err="1" smtClean="0"/>
              <a:t>진행시</a:t>
            </a:r>
            <a:r>
              <a:rPr lang="ko-KR" altLang="en-US" dirty="0"/>
              <a:t> </a:t>
            </a:r>
            <a:r>
              <a:rPr lang="ko-KR" altLang="en-US" dirty="0" smtClean="0"/>
              <a:t>동가가 있을 경우를 대비한 시스템</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복수예비가격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31652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131028"/>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복수예비가격 선택</a:t>
            </a:r>
          </a:p>
        </p:txBody>
      </p:sp>
      <p:sp>
        <p:nvSpPr>
          <p:cNvPr id="169" name="직사각형 168"/>
          <p:cNvSpPr/>
          <p:nvPr/>
        </p:nvSpPr>
        <p:spPr>
          <a:xfrm>
            <a:off x="722232" y="3422270"/>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22269"/>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회</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22269"/>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15</a:t>
            </a:r>
            <a:r>
              <a:rPr lang="ko-KR" altLang="en-US" sz="700" dirty="0">
                <a:latin typeface="+mn-ea"/>
              </a:rPr>
              <a:t>번</a:t>
            </a:r>
            <a:endParaRPr lang="en-US" altLang="ko-KR" sz="700" dirty="0">
              <a:latin typeface="+mn-ea"/>
            </a:endParaRPr>
          </a:p>
        </p:txBody>
      </p:sp>
      <p:grpSp>
        <p:nvGrpSpPr>
          <p:cNvPr id="172" name="그룹 171"/>
          <p:cNvGrpSpPr/>
          <p:nvPr/>
        </p:nvGrpSpPr>
        <p:grpSpPr>
          <a:xfrm>
            <a:off x="720139" y="3422269"/>
            <a:ext cx="2630093" cy="214740"/>
            <a:chOff x="701175" y="1835481"/>
            <a:chExt cx="2630093" cy="21474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61" name="직선 연결선 160">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복수예비가격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715534" y="2424523"/>
            <a:ext cx="6966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8" name="그룹 167"/>
          <p:cNvGrpSpPr/>
          <p:nvPr/>
        </p:nvGrpSpPr>
        <p:grpSpPr>
          <a:xfrm>
            <a:off x="2919130" y="2169793"/>
            <a:ext cx="422853" cy="187961"/>
            <a:chOff x="3641308" y="2234886"/>
            <a:chExt cx="422853" cy="187961"/>
          </a:xfrm>
        </p:grpSpPr>
        <p:sp>
          <p:nvSpPr>
            <p:cNvPr id="180" name="타원 17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3" name="그룹 2"/>
          <p:cNvGrpSpPr/>
          <p:nvPr/>
        </p:nvGrpSpPr>
        <p:grpSpPr>
          <a:xfrm>
            <a:off x="715534" y="3696437"/>
            <a:ext cx="2621844" cy="1440000"/>
            <a:chOff x="715534" y="3647256"/>
            <a:chExt cx="2621844" cy="1633032"/>
          </a:xfrm>
        </p:grpSpPr>
        <p:sp>
          <p:nvSpPr>
            <p:cNvPr id="109" name="모서리가 둥근 직사각형 108"/>
            <p:cNvSpPr/>
            <p:nvPr/>
          </p:nvSpPr>
          <p:spPr>
            <a:xfrm>
              <a:off x="715534"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1</a:t>
              </a:r>
              <a:r>
                <a:rPr lang="ko-KR" altLang="en-US" sz="800" dirty="0">
                  <a:solidFill>
                    <a:schemeClr val="tx1"/>
                  </a:solidFill>
                </a:rPr>
                <a:t>번</a:t>
              </a:r>
            </a:p>
          </p:txBody>
        </p:sp>
        <p:sp>
          <p:nvSpPr>
            <p:cNvPr id="188" name="모서리가 둥근 직사각형 187"/>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2</a:t>
              </a:r>
              <a:r>
                <a:rPr lang="ko-KR" altLang="en-US" sz="800" dirty="0">
                  <a:solidFill>
                    <a:prstClr val="black"/>
                  </a:solidFill>
                </a:rPr>
                <a:t>번</a:t>
              </a:r>
            </a:p>
          </p:txBody>
        </p:sp>
        <p:sp>
          <p:nvSpPr>
            <p:cNvPr id="189" name="모서리가 둥근 직사각형 188"/>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3</a:t>
              </a:r>
              <a:r>
                <a:rPr lang="ko-KR" altLang="en-US" sz="800" dirty="0">
                  <a:solidFill>
                    <a:prstClr val="black"/>
                  </a:solidFill>
                </a:rPr>
                <a:t>번</a:t>
              </a:r>
            </a:p>
          </p:txBody>
        </p:sp>
        <p:sp>
          <p:nvSpPr>
            <p:cNvPr id="190" name="모서리가 둥근 직사각형 189"/>
            <p:cNvSpPr/>
            <p:nvPr/>
          </p:nvSpPr>
          <p:spPr>
            <a:xfrm>
              <a:off x="715534" y="398481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4</a:t>
              </a:r>
              <a:r>
                <a:rPr lang="ko-KR" altLang="en-US" sz="800" dirty="0">
                  <a:solidFill>
                    <a:schemeClr val="tx1"/>
                  </a:solidFill>
                </a:rPr>
                <a:t>번</a:t>
              </a:r>
            </a:p>
          </p:txBody>
        </p:sp>
        <p:sp>
          <p:nvSpPr>
            <p:cNvPr id="191" name="모서리가 둥근 직사각형 190"/>
            <p:cNvSpPr/>
            <p:nvPr/>
          </p:nvSpPr>
          <p:spPr>
            <a:xfrm>
              <a:off x="1611553" y="398481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5</a:t>
              </a:r>
              <a:r>
                <a:rPr lang="ko-KR" altLang="en-US" sz="800" dirty="0">
                  <a:solidFill>
                    <a:prstClr val="black"/>
                  </a:solidFill>
                </a:rPr>
                <a:t>번</a:t>
              </a:r>
            </a:p>
          </p:txBody>
        </p:sp>
        <p:sp>
          <p:nvSpPr>
            <p:cNvPr id="192" name="모서리가 둥근 직사각형 191"/>
            <p:cNvSpPr/>
            <p:nvPr/>
          </p:nvSpPr>
          <p:spPr>
            <a:xfrm>
              <a:off x="2507572" y="398481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6</a:t>
              </a:r>
              <a:r>
                <a:rPr lang="ko-KR" altLang="en-US" sz="800" dirty="0">
                  <a:solidFill>
                    <a:prstClr val="black"/>
                  </a:solidFill>
                </a:rPr>
                <a:t>번</a:t>
              </a:r>
            </a:p>
          </p:txBody>
        </p:sp>
        <p:sp>
          <p:nvSpPr>
            <p:cNvPr id="193" name="모서리가 둥근 직사각형 192"/>
            <p:cNvSpPr/>
            <p:nvPr/>
          </p:nvSpPr>
          <p:spPr>
            <a:xfrm>
              <a:off x="715534" y="432016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7</a:t>
              </a:r>
              <a:r>
                <a:rPr lang="ko-KR" altLang="en-US" sz="800" dirty="0">
                  <a:solidFill>
                    <a:schemeClr val="tx1"/>
                  </a:solidFill>
                </a:rPr>
                <a:t>번</a:t>
              </a:r>
            </a:p>
          </p:txBody>
        </p:sp>
        <p:sp>
          <p:nvSpPr>
            <p:cNvPr id="194" name="모서리가 둥근 직사각형 193"/>
            <p:cNvSpPr/>
            <p:nvPr/>
          </p:nvSpPr>
          <p:spPr>
            <a:xfrm>
              <a:off x="1611553" y="432016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8</a:t>
              </a:r>
              <a:r>
                <a:rPr lang="ko-KR" altLang="en-US" sz="800" dirty="0">
                  <a:solidFill>
                    <a:prstClr val="black"/>
                  </a:solidFill>
                </a:rPr>
                <a:t>번</a:t>
              </a:r>
            </a:p>
          </p:txBody>
        </p:sp>
        <p:sp>
          <p:nvSpPr>
            <p:cNvPr id="195" name="모서리가 둥근 직사각형 194"/>
            <p:cNvSpPr/>
            <p:nvPr/>
          </p:nvSpPr>
          <p:spPr>
            <a:xfrm>
              <a:off x="2507572" y="432016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9</a:t>
              </a:r>
              <a:r>
                <a:rPr lang="ko-KR" altLang="en-US" sz="800" dirty="0">
                  <a:solidFill>
                    <a:prstClr val="black"/>
                  </a:solidFill>
                </a:rPr>
                <a:t>번</a:t>
              </a:r>
            </a:p>
          </p:txBody>
        </p:sp>
        <p:sp>
          <p:nvSpPr>
            <p:cNvPr id="196" name="모서리가 둥근 직사각형 195"/>
            <p:cNvSpPr/>
            <p:nvPr/>
          </p:nvSpPr>
          <p:spPr>
            <a:xfrm>
              <a:off x="715534" y="465772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10</a:t>
              </a:r>
              <a:r>
                <a:rPr lang="ko-KR" altLang="en-US" sz="800" dirty="0">
                  <a:solidFill>
                    <a:schemeClr val="tx1"/>
                  </a:solidFill>
                </a:rPr>
                <a:t>번</a:t>
              </a:r>
            </a:p>
          </p:txBody>
        </p:sp>
        <p:sp>
          <p:nvSpPr>
            <p:cNvPr id="197" name="모서리가 둥근 직사각형 196"/>
            <p:cNvSpPr/>
            <p:nvPr/>
          </p:nvSpPr>
          <p:spPr>
            <a:xfrm>
              <a:off x="1611553" y="465772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11</a:t>
              </a:r>
              <a:r>
                <a:rPr lang="ko-KR" altLang="en-US" sz="800" dirty="0">
                  <a:solidFill>
                    <a:prstClr val="black"/>
                  </a:solidFill>
                </a:rPr>
                <a:t>번</a:t>
              </a:r>
            </a:p>
          </p:txBody>
        </p:sp>
        <p:sp>
          <p:nvSpPr>
            <p:cNvPr id="198" name="모서리가 둥근 직사각형 197"/>
            <p:cNvSpPr/>
            <p:nvPr/>
          </p:nvSpPr>
          <p:spPr>
            <a:xfrm>
              <a:off x="2507572" y="465772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12</a:t>
              </a:r>
              <a:r>
                <a:rPr lang="ko-KR" altLang="en-US" sz="800" dirty="0">
                  <a:solidFill>
                    <a:prstClr val="black"/>
                  </a:solidFill>
                </a:rPr>
                <a:t>번</a:t>
              </a:r>
            </a:p>
          </p:txBody>
        </p:sp>
        <p:sp>
          <p:nvSpPr>
            <p:cNvPr id="199" name="모서리가 둥근 직사각형 198"/>
            <p:cNvSpPr/>
            <p:nvPr/>
          </p:nvSpPr>
          <p:spPr>
            <a:xfrm>
              <a:off x="715534" y="4992288"/>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13</a:t>
              </a:r>
              <a:r>
                <a:rPr lang="ko-KR" altLang="en-US" sz="800" dirty="0">
                  <a:solidFill>
                    <a:schemeClr val="tx1"/>
                  </a:solidFill>
                </a:rPr>
                <a:t>번</a:t>
              </a:r>
            </a:p>
          </p:txBody>
        </p:sp>
        <p:sp>
          <p:nvSpPr>
            <p:cNvPr id="200" name="모서리가 둥근 직사각형 199"/>
            <p:cNvSpPr/>
            <p:nvPr/>
          </p:nvSpPr>
          <p:spPr>
            <a:xfrm>
              <a:off x="1611553" y="4992288"/>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14</a:t>
              </a:r>
              <a:r>
                <a:rPr lang="ko-KR" altLang="en-US" sz="800" dirty="0">
                  <a:solidFill>
                    <a:prstClr val="black"/>
                  </a:solidFill>
                </a:rPr>
                <a:t>번</a:t>
              </a:r>
            </a:p>
          </p:txBody>
        </p:sp>
        <p:sp>
          <p:nvSpPr>
            <p:cNvPr id="201" name="모서리가 둥근 직사각형 200"/>
            <p:cNvSpPr/>
            <p:nvPr/>
          </p:nvSpPr>
          <p:spPr>
            <a:xfrm>
              <a:off x="2507572" y="4992288"/>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srgbClr val="0070C0"/>
                  </a:solidFill>
                </a:rPr>
                <a:t>15</a:t>
              </a:r>
              <a:r>
                <a:rPr lang="ko-KR" altLang="en-US" sz="800" dirty="0">
                  <a:solidFill>
                    <a:srgbClr val="0070C0"/>
                  </a:solidFill>
                </a:rPr>
                <a:t>번</a:t>
              </a:r>
            </a:p>
          </p:txBody>
        </p:sp>
      </p:grpSp>
      <p:sp>
        <p:nvSpPr>
          <p:cNvPr id="203" name="직사각형 202"/>
          <p:cNvSpPr/>
          <p:nvPr/>
        </p:nvSpPr>
        <p:spPr>
          <a:xfrm>
            <a:off x="722232" y="5193811"/>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4" name="TextBox 203">
            <a:extLst>
              <a:ext uri="{FF2B5EF4-FFF2-40B4-BE49-F238E27FC236}">
                <a16:creationId xmlns:a16="http://schemas.microsoft.com/office/drawing/2014/main" id="{FFC49AEA-2A8F-250C-A86A-A7751D9706C3}"/>
              </a:ext>
            </a:extLst>
          </p:cNvPr>
          <p:cNvSpPr txBox="1"/>
          <p:nvPr/>
        </p:nvSpPr>
        <p:spPr>
          <a:xfrm>
            <a:off x="809295" y="5193810"/>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2</a:t>
            </a:r>
            <a:r>
              <a:rPr lang="ko-KR" altLang="en-US" sz="700" dirty="0">
                <a:latin typeface="+mn-ea"/>
              </a:rPr>
              <a:t>회</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1566144" y="5193810"/>
            <a:ext cx="1784088" cy="215444"/>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grpSp>
        <p:nvGrpSpPr>
          <p:cNvPr id="206" name="그룹 205"/>
          <p:cNvGrpSpPr/>
          <p:nvPr/>
        </p:nvGrpSpPr>
        <p:grpSpPr>
          <a:xfrm>
            <a:off x="720139" y="5193810"/>
            <a:ext cx="2630093" cy="214740"/>
            <a:chOff x="701175" y="1835481"/>
            <a:chExt cx="2630093" cy="214740"/>
          </a:xfrm>
        </p:grpSpPr>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9" name="그룹 128"/>
          <p:cNvGrpSpPr/>
          <p:nvPr/>
        </p:nvGrpSpPr>
        <p:grpSpPr>
          <a:xfrm>
            <a:off x="3190451" y="5278356"/>
            <a:ext cx="94010" cy="47005"/>
            <a:chOff x="6812560" y="3297172"/>
            <a:chExt cx="94010" cy="47005"/>
          </a:xfrm>
        </p:grpSpPr>
        <p:cxnSp>
          <p:nvCxnSpPr>
            <p:cNvPr id="130" name="직선 연결선 129"/>
            <p:cNvCxnSpPr/>
            <p:nvPr/>
          </p:nvCxnSpPr>
          <p:spPr>
            <a:xfrm>
              <a:off x="6812560"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a:off x="6859565"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grpSp>
      <p:sp>
        <p:nvSpPr>
          <p:cNvPr id="202" name="사각형: 둥근 모서리 15">
            <a:extLst>
              <a:ext uri="{FF2B5EF4-FFF2-40B4-BE49-F238E27FC236}">
                <a16:creationId xmlns:a16="http://schemas.microsoft.com/office/drawing/2014/main" id="{E2B61CFB-AD16-68D0-8752-50D9C5E01971}"/>
              </a:ext>
            </a:extLst>
          </p:cNvPr>
          <p:cNvSpPr/>
          <p:nvPr/>
        </p:nvSpPr>
        <p:spPr>
          <a:xfrm>
            <a:off x="2507572" y="3449317"/>
            <a:ext cx="81679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선택</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9" name="사각형: 둥근 모서리 15">
            <a:extLst>
              <a:ext uri="{FF2B5EF4-FFF2-40B4-BE49-F238E27FC236}">
                <a16:creationId xmlns:a16="http://schemas.microsoft.com/office/drawing/2014/main" id="{E2B61CFB-AD16-68D0-8752-50D9C5E01971}"/>
              </a:ext>
            </a:extLst>
          </p:cNvPr>
          <p:cNvSpPr/>
          <p:nvPr/>
        </p:nvSpPr>
        <p:spPr>
          <a:xfrm>
            <a:off x="2507572" y="5220858"/>
            <a:ext cx="81679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선택</a:t>
            </a:r>
            <a:endParaRPr kumimoji="1" lang="en-US" sz="700" b="0" i="0" u="none" strike="noStrike" kern="0" cap="none" spc="0" normalizeH="0" baseline="0" noProof="0" dirty="0">
              <a:ln>
                <a:noFill/>
              </a:ln>
              <a:solidFill>
                <a:srgbClr val="0070C0"/>
              </a:solidFill>
              <a:effectLst/>
              <a:uLnTx/>
              <a:uFillTx/>
              <a:latin typeface="맑은 고딕"/>
            </a:endParaRPr>
          </a:p>
        </p:txBody>
      </p:sp>
      <p:grpSp>
        <p:nvGrpSpPr>
          <p:cNvPr id="210" name="그룹 209"/>
          <p:cNvGrpSpPr/>
          <p:nvPr/>
        </p:nvGrpSpPr>
        <p:grpSpPr>
          <a:xfrm flipV="1">
            <a:off x="3190451" y="3506815"/>
            <a:ext cx="94010" cy="47005"/>
            <a:chOff x="6812560" y="3297172"/>
            <a:chExt cx="94010" cy="47005"/>
          </a:xfrm>
        </p:grpSpPr>
        <p:cxnSp>
          <p:nvCxnSpPr>
            <p:cNvPr id="211" name="직선 연결선 210"/>
            <p:cNvCxnSpPr/>
            <p:nvPr/>
          </p:nvCxnSpPr>
          <p:spPr>
            <a:xfrm>
              <a:off x="6812560"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grpSp>
      <p:sp>
        <p:nvSpPr>
          <p:cNvPr id="213" name="모서리가 둥근 직사각형 212"/>
          <p:cNvSpPr/>
          <p:nvPr/>
        </p:nvSpPr>
        <p:spPr>
          <a:xfrm>
            <a:off x="714576" y="2538293"/>
            <a:ext cx="2652743" cy="537711"/>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TextBox 213">
            <a:extLst>
              <a:ext uri="{FF2B5EF4-FFF2-40B4-BE49-F238E27FC236}">
                <a16:creationId xmlns:a16="http://schemas.microsoft.com/office/drawing/2014/main" id="{FFC49AEA-2A8F-250C-A86A-A7751D9706C3}"/>
              </a:ext>
            </a:extLst>
          </p:cNvPr>
          <p:cNvSpPr txBox="1"/>
          <p:nvPr/>
        </p:nvSpPr>
        <p:spPr>
          <a:xfrm>
            <a:off x="803346" y="2636577"/>
            <a:ext cx="2475203" cy="323165"/>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a:latin typeface="맑은 고딕" panose="020B0503020000020004" pitchFamily="50" charset="-127"/>
              </a:rPr>
              <a:t>예정가격 결정을 위한 복수예비가격 </a:t>
            </a:r>
            <a:r>
              <a:rPr lang="en-US" altLang="ko-KR" sz="700" dirty="0">
                <a:latin typeface="맑은 고딕" panose="020B0503020000020004" pitchFamily="50" charset="-127"/>
              </a:rPr>
              <a:t>2</a:t>
            </a:r>
            <a:r>
              <a:rPr lang="ko-KR" altLang="en-US" sz="700" dirty="0">
                <a:latin typeface="맑은 고딕" panose="020B0503020000020004" pitchFamily="50" charset="-127"/>
              </a:rPr>
              <a:t>개를 추첨합니다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p:txBody>
      </p:sp>
      <p:sp>
        <p:nvSpPr>
          <p:cNvPr id="215" name="타원 214"/>
          <p:cNvSpPr/>
          <p:nvPr/>
        </p:nvSpPr>
        <p:spPr>
          <a:xfrm>
            <a:off x="799388" y="262692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6" name="그룹 215"/>
          <p:cNvGrpSpPr/>
          <p:nvPr/>
        </p:nvGrpSpPr>
        <p:grpSpPr>
          <a:xfrm flipV="1">
            <a:off x="3148209" y="2675424"/>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31876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31" name="타원 230">
            <a:extLst>
              <a:ext uri="{FF2B5EF4-FFF2-40B4-BE49-F238E27FC236}">
                <a16:creationId xmlns:a16="http://schemas.microsoft.com/office/drawing/2014/main" id="{37A7FF4F-0EAA-1463-560A-D5EC24416103}"/>
              </a:ext>
            </a:extLst>
          </p:cNvPr>
          <p:cNvSpPr/>
          <p:nvPr/>
        </p:nvSpPr>
        <p:spPr>
          <a:xfrm>
            <a:off x="589334" y="343502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32" name="타원 231">
            <a:extLst>
              <a:ext uri="{FF2B5EF4-FFF2-40B4-BE49-F238E27FC236}">
                <a16:creationId xmlns:a16="http://schemas.microsoft.com/office/drawing/2014/main" id="{37A7FF4F-0EAA-1463-560A-D5EC24416103}"/>
              </a:ext>
            </a:extLst>
          </p:cNvPr>
          <p:cNvSpPr/>
          <p:nvPr/>
        </p:nvSpPr>
        <p:spPr>
          <a:xfrm>
            <a:off x="589334" y="43170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357607203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latin typeface="+mn-ea"/>
              </a:rPr>
              <a:t>입찰참가신청서작성 </a:t>
            </a:r>
            <a:r>
              <a:rPr lang="en-US" altLang="ko-KR" dirty="0">
                <a:latin typeface="+mn-ea"/>
              </a:rPr>
              <a:t>– </a:t>
            </a:r>
            <a:r>
              <a:rPr lang="ko-KR" altLang="en-US" dirty="0" err="1">
                <a:latin typeface="+mn-ea"/>
              </a:rPr>
              <a:t>파일첨부와</a:t>
            </a:r>
            <a:r>
              <a:rPr lang="ko-KR" altLang="en-US" dirty="0">
                <a:latin typeface="+mn-ea"/>
              </a:rPr>
              <a:t> 같은 </a:t>
            </a:r>
            <a:r>
              <a:rPr lang="ko-KR" altLang="en-US" dirty="0" err="1">
                <a:latin typeface="+mn-ea"/>
              </a:rPr>
              <a:t>구성임</a:t>
            </a:r>
            <a:r>
              <a:rPr lang="ko-KR" altLang="en-US" dirty="0">
                <a:latin typeface="+mn-ea"/>
              </a:rPr>
              <a:t> </a:t>
            </a:r>
            <a:r>
              <a:rPr lang="en-US" altLang="ko-KR" dirty="0">
                <a:latin typeface="+mn-ea"/>
              </a:rPr>
              <a:t>(</a:t>
            </a:r>
            <a:r>
              <a:rPr lang="ko-KR" altLang="en-US" dirty="0" err="1">
                <a:latin typeface="+mn-ea"/>
              </a:rPr>
              <a:t>서류항목이</a:t>
            </a:r>
            <a:r>
              <a:rPr lang="ko-KR" altLang="en-US" dirty="0">
                <a:latin typeface="+mn-ea"/>
              </a:rPr>
              <a:t> 다름</a:t>
            </a:r>
            <a:r>
              <a:rPr lang="en-US" altLang="ko-KR" dirty="0">
                <a:latin typeface="+mn-ea"/>
              </a:rPr>
              <a:t>)</a:t>
            </a:r>
            <a:br>
              <a:rPr lang="en-US" altLang="ko-KR" dirty="0">
                <a:latin typeface="+mn-ea"/>
              </a:rPr>
            </a:br>
            <a:r>
              <a:rPr lang="en-US" altLang="ko-KR" dirty="0">
                <a:latin typeface="+mn-ea"/>
              </a:rPr>
              <a:t>- </a:t>
            </a:r>
            <a:r>
              <a:rPr lang="ko-KR" altLang="en-US" dirty="0"/>
              <a:t>입찰 서류가 있는 경우 </a:t>
            </a:r>
            <a:r>
              <a:rPr lang="ko-KR" altLang="en-US" dirty="0" err="1"/>
              <a:t>파일선택을</a:t>
            </a:r>
            <a:r>
              <a:rPr lang="ko-KR" altLang="en-US" dirty="0"/>
              <a:t> 클릭하여 입찰참가 서류를 </a:t>
            </a:r>
            <a:r>
              <a:rPr lang="ko-KR" altLang="en-US" dirty="0" smtClean="0"/>
              <a:t>첨부</a:t>
            </a:r>
            <a:endParaRPr lang="en-US" altLang="ko-KR" dirty="0" smtClean="0"/>
          </a:p>
          <a:p>
            <a:pPr marL="228600" indent="-228600">
              <a:buFont typeface="+mj-lt"/>
              <a:buAutoNum type="arabicPeriod"/>
            </a:pPr>
            <a:r>
              <a:rPr lang="ko-KR" altLang="en-US" dirty="0" smtClean="0"/>
              <a:t>파일 선택 </a:t>
            </a:r>
            <a:r>
              <a:rPr lang="ko-KR" altLang="en-US" dirty="0" err="1" smtClean="0"/>
              <a:t>바텀시트</a:t>
            </a:r>
            <a:r>
              <a:rPr lang="ko-KR" altLang="en-US" dirty="0" smtClean="0"/>
              <a:t> 호출 </a:t>
            </a:r>
            <a:r>
              <a:rPr lang="en-US" altLang="ko-KR" dirty="0" smtClean="0"/>
              <a:t>(</a:t>
            </a:r>
            <a:r>
              <a:rPr lang="en-US" altLang="ko-KR" dirty="0" smtClean="0">
                <a:solidFill>
                  <a:srgbClr val="000000"/>
                </a:solidFill>
                <a:latin typeface="맑은 고딕" panose="020B0503020000020004" pitchFamily="50" charset="-127"/>
              </a:rPr>
              <a:t>MUI-BD-04-P13)</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2-1] </a:t>
            </a:r>
            <a:r>
              <a:rPr lang="ko-KR" altLang="en-US" dirty="0" smtClean="0">
                <a:solidFill>
                  <a:srgbClr val="000000"/>
                </a:solidFill>
                <a:latin typeface="맑은 고딕" panose="020B0503020000020004" pitchFamily="50" charset="-127"/>
              </a:rPr>
              <a:t>목록에서 삭제 진행</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2-2] </a:t>
            </a:r>
            <a:r>
              <a:rPr lang="ko-KR" altLang="en-US" dirty="0" smtClean="0">
                <a:solidFill>
                  <a:srgbClr val="000000"/>
                </a:solidFill>
                <a:latin typeface="맑은 고딕" panose="020B0503020000020004" pitchFamily="50" charset="-127"/>
              </a:rPr>
              <a:t>기술평가를 받는 공고의 경우</a:t>
            </a: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기술평가 서류 업로드 필요</a:t>
            </a:r>
            <a:r>
              <a:rPr lang="en-US" altLang="ko-KR" dirty="0" smtClean="0">
                <a:solidFill>
                  <a:srgbClr val="000000"/>
                </a:solidFill>
                <a:latin typeface="맑은 고딕" panose="020B0503020000020004" pitchFamily="50" charset="-127"/>
              </a:rPr>
              <a:t>.</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파일첨부</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2452467"/>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312311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319763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규격제안서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25149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52979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60431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공종별</a:t>
            </a:r>
            <a:r>
              <a:rPr lang="ko-KR" altLang="en-US" sz="700" dirty="0">
                <a:solidFill>
                  <a:schemeClr val="tx1">
                    <a:lumMod val="85000"/>
                    <a:lumOff val="15000"/>
                  </a:schemeClr>
                </a:solidFill>
                <a:latin typeface="맑은 고딕" panose="020B0503020000020004" pitchFamily="50" charset="-127"/>
              </a:rPr>
              <a:t> 산출내역서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65818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702249"/>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98799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49559" y="298799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98799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73838" y="365774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73838" y="3240955"/>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cxnSp>
        <p:nvCxnSpPr>
          <p:cNvPr id="55" name="직선 연결선 54">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TextBox 55">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sp>
        <p:nvSpPr>
          <p:cNvPr id="57" name="TextBox 56">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b="1" dirty="0">
                <a:latin typeface="+mn-ea"/>
              </a:rPr>
              <a:t>5.</a:t>
            </a:r>
            <a:r>
              <a:rPr lang="ko-KR" altLang="en-US" sz="700" b="1" dirty="0">
                <a:latin typeface="+mn-ea"/>
              </a:rPr>
              <a:t> 파일첨부</a:t>
            </a:r>
          </a:p>
        </p:txBody>
      </p:sp>
      <p:sp>
        <p:nvSpPr>
          <p:cNvPr id="58" name="TextBox 57">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cxnSp>
        <p:nvCxnSpPr>
          <p:cNvPr id="59" name="직선 연결선 58">
            <a:extLst>
              <a:ext uri="{FF2B5EF4-FFF2-40B4-BE49-F238E27FC236}">
                <a16:creationId xmlns:a16="http://schemas.microsoft.com/office/drawing/2014/main" id="{E9293055-D5CD-4B9E-7F64-64B2D2CA7A52}"/>
              </a:ext>
            </a:extLst>
          </p:cNvPr>
          <p:cNvCxnSpPr/>
          <p:nvPr/>
        </p:nvCxnSpPr>
        <p:spPr>
          <a:xfrm>
            <a:off x="1533063"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0" name="그룹 59"/>
          <p:cNvGrpSpPr/>
          <p:nvPr/>
        </p:nvGrpSpPr>
        <p:grpSpPr>
          <a:xfrm>
            <a:off x="2919130" y="2169793"/>
            <a:ext cx="422853" cy="187961"/>
            <a:chOff x="3641308" y="2234886"/>
            <a:chExt cx="422853" cy="187961"/>
          </a:xfrm>
        </p:grpSpPr>
        <p:sp>
          <p:nvSpPr>
            <p:cNvPr id="61" name="타원 6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2" name="그룹 61"/>
            <p:cNvGrpSpPr/>
            <p:nvPr/>
          </p:nvGrpSpPr>
          <p:grpSpPr>
            <a:xfrm rot="5400000" flipH="1">
              <a:off x="3679895" y="2305364"/>
              <a:ext cx="94010" cy="47005"/>
              <a:chOff x="6812560" y="3297172"/>
              <a:chExt cx="94010" cy="47005"/>
            </a:xfrm>
          </p:grpSpPr>
          <p:cxnSp>
            <p:nvCxnSpPr>
              <p:cNvPr id="67" name="직선 연결선 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3" name="타원 6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p:cNvGrpSpPr/>
            <p:nvPr/>
          </p:nvGrpSpPr>
          <p:grpSpPr>
            <a:xfrm rot="16200000">
              <a:off x="3931564" y="2305364"/>
              <a:ext cx="94010" cy="47005"/>
              <a:chOff x="6812560" y="3297172"/>
              <a:chExt cx="94010" cy="47005"/>
            </a:xfrm>
          </p:grpSpPr>
          <p:cxnSp>
            <p:nvCxnSpPr>
              <p:cNvPr id="65" name="직선 연결선 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70" name="모서리가 둥근 직사각형 69"/>
          <p:cNvSpPr/>
          <p:nvPr/>
        </p:nvSpPr>
        <p:spPr>
          <a:xfrm>
            <a:off x="710315" y="393180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TextBox 70">
            <a:extLst>
              <a:ext uri="{FF2B5EF4-FFF2-40B4-BE49-F238E27FC236}">
                <a16:creationId xmlns:a16="http://schemas.microsoft.com/office/drawing/2014/main" id="{FFC49AEA-2A8F-250C-A86A-A7751D9706C3}"/>
              </a:ext>
            </a:extLst>
          </p:cNvPr>
          <p:cNvSpPr txBox="1"/>
          <p:nvPr/>
        </p:nvSpPr>
        <p:spPr>
          <a:xfrm>
            <a:off x="1210983" y="4006330"/>
            <a:ext cx="1682738" cy="215444"/>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자기평가기술서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2" name="TextBox 71">
            <a:extLst>
              <a:ext uri="{FF2B5EF4-FFF2-40B4-BE49-F238E27FC236}">
                <a16:creationId xmlns:a16="http://schemas.microsoft.com/office/drawing/2014/main" id="{FFC49AEA-2A8F-250C-A86A-A7751D9706C3}"/>
              </a:ext>
            </a:extLst>
          </p:cNvPr>
          <p:cNvSpPr txBox="1"/>
          <p:nvPr/>
        </p:nvSpPr>
        <p:spPr>
          <a:xfrm>
            <a:off x="788511" y="406019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74" name="모서리가 둥근 직사각형 73"/>
          <p:cNvSpPr/>
          <p:nvPr/>
        </p:nvSpPr>
        <p:spPr>
          <a:xfrm>
            <a:off x="710315" y="433849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TextBox 74">
            <a:extLst>
              <a:ext uri="{FF2B5EF4-FFF2-40B4-BE49-F238E27FC236}">
                <a16:creationId xmlns:a16="http://schemas.microsoft.com/office/drawing/2014/main" id="{FFC49AEA-2A8F-250C-A86A-A7751D9706C3}"/>
              </a:ext>
            </a:extLst>
          </p:cNvPr>
          <p:cNvSpPr txBox="1"/>
          <p:nvPr/>
        </p:nvSpPr>
        <p:spPr>
          <a:xfrm>
            <a:off x="1210983" y="4413016"/>
            <a:ext cx="1682738" cy="215444"/>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기타참조서류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6" name="TextBox 75">
            <a:extLst>
              <a:ext uri="{FF2B5EF4-FFF2-40B4-BE49-F238E27FC236}">
                <a16:creationId xmlns:a16="http://schemas.microsoft.com/office/drawing/2014/main" id="{FFC49AEA-2A8F-250C-A86A-A7751D9706C3}"/>
              </a:ext>
            </a:extLst>
          </p:cNvPr>
          <p:cNvSpPr txBox="1"/>
          <p:nvPr/>
        </p:nvSpPr>
        <p:spPr>
          <a:xfrm>
            <a:off x="788511" y="446687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2973838" y="4466444"/>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2973838" y="404965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9" name="타원 108">
            <a:extLst>
              <a:ext uri="{FF2B5EF4-FFF2-40B4-BE49-F238E27FC236}">
                <a16:creationId xmlns:a16="http://schemas.microsoft.com/office/drawing/2014/main" id="{37A7FF4F-0EAA-1463-560A-D5EC24416103}"/>
              </a:ext>
            </a:extLst>
          </p:cNvPr>
          <p:cNvSpPr/>
          <p:nvPr/>
        </p:nvSpPr>
        <p:spPr>
          <a:xfrm>
            <a:off x="589334" y="249129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2" name="타원 51">
            <a:extLst>
              <a:ext uri="{FF2B5EF4-FFF2-40B4-BE49-F238E27FC236}">
                <a16:creationId xmlns:a16="http://schemas.microsoft.com/office/drawing/2014/main" id="{37A7FF4F-0EAA-1463-560A-D5EC24416103}"/>
              </a:ext>
            </a:extLst>
          </p:cNvPr>
          <p:cNvSpPr/>
          <p:nvPr/>
        </p:nvSpPr>
        <p:spPr>
          <a:xfrm>
            <a:off x="741734" y="264369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53" name="타원 52">
            <a:extLst>
              <a:ext uri="{FF2B5EF4-FFF2-40B4-BE49-F238E27FC236}">
                <a16:creationId xmlns:a16="http://schemas.microsoft.com/office/drawing/2014/main" id="{37A7FF4F-0EAA-1463-560A-D5EC24416103}"/>
              </a:ext>
            </a:extLst>
          </p:cNvPr>
          <p:cNvSpPr/>
          <p:nvPr/>
        </p:nvSpPr>
        <p:spPr>
          <a:xfrm>
            <a:off x="2895154" y="314626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2-1</a:t>
            </a:r>
            <a:endParaRPr lang="ko-KR" altLang="en-US" sz="600" b="1" dirty="0"/>
          </a:p>
        </p:txBody>
      </p:sp>
      <p:sp>
        <p:nvSpPr>
          <p:cNvPr id="69" name="직사각형 68"/>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260723 </a:t>
            </a:r>
            <a:r>
              <a:rPr lang="ko-KR" altLang="en-US" sz="700" dirty="0" err="1" smtClean="0"/>
              <a:t>화면수정</a:t>
            </a:r>
            <a:endParaRPr lang="ko-KR" altLang="en-US" sz="700" dirty="0"/>
          </a:p>
        </p:txBody>
      </p:sp>
      <p:sp>
        <p:nvSpPr>
          <p:cNvPr id="73" name="TextBox 72">
            <a:extLst>
              <a:ext uri="{FF2B5EF4-FFF2-40B4-BE49-F238E27FC236}">
                <a16:creationId xmlns:a16="http://schemas.microsoft.com/office/drawing/2014/main" id="{FFC49AEA-2A8F-250C-A86A-A7751D9706C3}"/>
              </a:ext>
            </a:extLst>
          </p:cNvPr>
          <p:cNvSpPr txBox="1"/>
          <p:nvPr/>
        </p:nvSpPr>
        <p:spPr>
          <a:xfrm>
            <a:off x="756845" y="4813703"/>
            <a:ext cx="1384615" cy="215444"/>
          </a:xfrm>
          <a:prstGeom prst="rect">
            <a:avLst/>
          </a:prstGeom>
          <a:noFill/>
        </p:spPr>
        <p:txBody>
          <a:bodyPr wrap="square" lIns="0" tIns="0" rIns="0" bIns="0" rtlCol="0">
            <a:spAutoFit/>
          </a:bodyPr>
          <a:lstStyle/>
          <a:p>
            <a:pPr>
              <a:lnSpc>
                <a:spcPct val="200000"/>
              </a:lnSpc>
            </a:pPr>
            <a:r>
              <a:rPr lang="ko-KR" altLang="en-US" sz="700" dirty="0" smtClean="0">
                <a:latin typeface="+mn-ea"/>
              </a:rPr>
              <a:t>기술평가서류</a:t>
            </a:r>
            <a:r>
              <a:rPr lang="ko-KR" altLang="en-US" sz="700" spc="-52" dirty="0" smtClean="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77" name="사각형: 둥근 모서리 15">
            <a:extLst>
              <a:ext uri="{FF2B5EF4-FFF2-40B4-BE49-F238E27FC236}">
                <a16:creationId xmlns:a16="http://schemas.microsoft.com/office/drawing/2014/main" id="{E2B61CFB-AD16-68D0-8752-50D9C5E01971}"/>
              </a:ext>
            </a:extLst>
          </p:cNvPr>
          <p:cNvSpPr/>
          <p:nvPr/>
        </p:nvSpPr>
        <p:spPr>
          <a:xfrm>
            <a:off x="710315" y="5063485"/>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80" name="모서리가 둥근 직사각형 79"/>
          <p:cNvSpPr/>
          <p:nvPr/>
        </p:nvSpPr>
        <p:spPr>
          <a:xfrm>
            <a:off x="710315" y="549899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FFC49AEA-2A8F-250C-A86A-A7751D9706C3}"/>
              </a:ext>
            </a:extLst>
          </p:cNvPr>
          <p:cNvSpPr txBox="1"/>
          <p:nvPr/>
        </p:nvSpPr>
        <p:spPr>
          <a:xfrm>
            <a:off x="1210983" y="5640416"/>
            <a:ext cx="1682738" cy="107722"/>
          </a:xfrm>
          <a:prstGeom prst="rect">
            <a:avLst/>
          </a:prstGeom>
          <a:noFill/>
        </p:spPr>
        <p:txBody>
          <a:bodyPr wrap="square" lIns="0" tIns="0" rIns="0" bIns="0" rtlCol="0">
            <a:spAutoFit/>
          </a:bodyPr>
          <a:lstStyle/>
          <a:p>
            <a:r>
              <a:rPr lang="ko-KR" altLang="en-US" sz="700" dirty="0" smtClean="0">
                <a:solidFill>
                  <a:schemeClr val="tx1">
                    <a:lumMod val="85000"/>
                    <a:lumOff val="15000"/>
                  </a:schemeClr>
                </a:solidFill>
                <a:latin typeface="맑은 고딕" panose="020B0503020000020004" pitchFamily="50" charset="-127"/>
              </a:rPr>
              <a:t>기술평가서류</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82" name="TextBox 81">
            <a:extLst>
              <a:ext uri="{FF2B5EF4-FFF2-40B4-BE49-F238E27FC236}">
                <a16:creationId xmlns:a16="http://schemas.microsoft.com/office/drawing/2014/main" id="{FFC49AEA-2A8F-250C-A86A-A7751D9706C3}"/>
              </a:ext>
            </a:extLst>
          </p:cNvPr>
          <p:cNvSpPr txBox="1"/>
          <p:nvPr/>
        </p:nvSpPr>
        <p:spPr>
          <a:xfrm>
            <a:off x="788511" y="564041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83" name="TextBox 82">
            <a:extLst>
              <a:ext uri="{FF2B5EF4-FFF2-40B4-BE49-F238E27FC236}">
                <a16:creationId xmlns:a16="http://schemas.microsoft.com/office/drawing/2014/main" id="{FFC49AEA-2A8F-250C-A86A-A7751D9706C3}"/>
              </a:ext>
            </a:extLst>
          </p:cNvPr>
          <p:cNvSpPr txBox="1"/>
          <p:nvPr/>
        </p:nvSpPr>
        <p:spPr>
          <a:xfrm>
            <a:off x="1210983" y="536387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4" name="TextBox 83">
            <a:extLst>
              <a:ext uri="{FF2B5EF4-FFF2-40B4-BE49-F238E27FC236}">
                <a16:creationId xmlns:a16="http://schemas.microsoft.com/office/drawing/2014/main" id="{FFC49AEA-2A8F-250C-A86A-A7751D9706C3}"/>
              </a:ext>
            </a:extLst>
          </p:cNvPr>
          <p:cNvSpPr txBox="1"/>
          <p:nvPr/>
        </p:nvSpPr>
        <p:spPr>
          <a:xfrm>
            <a:off x="2949559" y="536387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717079" y="536387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2973838" y="5616835"/>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87" name="타원 86">
            <a:extLst>
              <a:ext uri="{FF2B5EF4-FFF2-40B4-BE49-F238E27FC236}">
                <a16:creationId xmlns:a16="http://schemas.microsoft.com/office/drawing/2014/main" id="{37A7FF4F-0EAA-1463-560A-D5EC24416103}"/>
              </a:ext>
            </a:extLst>
          </p:cNvPr>
          <p:cNvSpPr/>
          <p:nvPr/>
        </p:nvSpPr>
        <p:spPr>
          <a:xfrm>
            <a:off x="670780" y="548004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2-2</a:t>
            </a:r>
            <a:endParaRPr lang="ko-KR" altLang="en-US" sz="600" b="1" dirty="0"/>
          </a:p>
        </p:txBody>
      </p:sp>
      <p:sp>
        <p:nvSpPr>
          <p:cNvPr id="5" name="직사각형 4"/>
          <p:cNvSpPr/>
          <p:nvPr/>
        </p:nvSpPr>
        <p:spPr>
          <a:xfrm>
            <a:off x="650542" y="4813703"/>
            <a:ext cx="2751792" cy="1243715"/>
          </a:xfrm>
          <a:prstGeom prst="rect">
            <a:avLst/>
          </a:prstGeom>
          <a:noFill/>
          <a:ln w="19050">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01696380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파일첨부</a:t>
            </a:r>
            <a:r>
              <a:rPr lang="en-US" altLang="ko-KR" dirty="0"/>
              <a:t>(</a:t>
            </a:r>
            <a:r>
              <a:rPr lang="ko-KR" altLang="en-US" dirty="0"/>
              <a:t>추가</a:t>
            </a:r>
            <a:r>
              <a:rPr lang="en-US" altLang="ko-KR" dirty="0"/>
              <a:t>) </a:t>
            </a:r>
            <a:r>
              <a:rPr lang="ko-KR" altLang="en-US" dirty="0"/>
              <a:t>방식 </a:t>
            </a:r>
            <a:r>
              <a:rPr lang="ko-KR" altLang="en-US" dirty="0" smtClean="0"/>
              <a:t>선택</a:t>
            </a:r>
            <a:r>
              <a:rPr lang="en-US" altLang="ko-KR" dirty="0" smtClean="0"/>
              <a:t/>
            </a:r>
            <a:br>
              <a:rPr lang="en-US" altLang="ko-KR" dirty="0" smtClean="0"/>
            </a:br>
            <a:r>
              <a:rPr lang="en-US" altLang="ko-KR" dirty="0" smtClean="0"/>
              <a:t>1-1] </a:t>
            </a:r>
            <a:r>
              <a:rPr lang="ko-KR" altLang="en-US" dirty="0" err="1" smtClean="0"/>
              <a:t>직접업로드</a:t>
            </a:r>
            <a:r>
              <a:rPr lang="en-US" altLang="ko-KR" dirty="0" smtClean="0"/>
              <a:t/>
            </a:r>
            <a:br>
              <a:rPr lang="en-US" altLang="ko-KR" dirty="0" smtClean="0"/>
            </a:br>
            <a:r>
              <a:rPr lang="en-US" altLang="ko-KR" dirty="0" smtClean="0"/>
              <a:t>- </a:t>
            </a:r>
            <a:r>
              <a:rPr lang="ko-KR" altLang="en-US" dirty="0" smtClean="0"/>
              <a:t>시스템 파일 </a:t>
            </a:r>
            <a:r>
              <a:rPr lang="ko-KR" altLang="en-US" dirty="0" err="1" smtClean="0"/>
              <a:t>선택기</a:t>
            </a:r>
            <a:r>
              <a:rPr lang="ko-KR" altLang="en-US" dirty="0" smtClean="0"/>
              <a:t> 호출</a:t>
            </a:r>
            <a:r>
              <a:rPr lang="en-US" altLang="ko-KR" dirty="0" smtClean="0"/>
              <a:t/>
            </a:r>
            <a:br>
              <a:rPr lang="en-US" altLang="ko-KR" dirty="0" smtClean="0"/>
            </a:br>
            <a:r>
              <a:rPr lang="en-US" altLang="ko-KR" dirty="0" smtClean="0"/>
              <a:t>- </a:t>
            </a:r>
            <a:r>
              <a:rPr lang="ko-KR" altLang="en-US" dirty="0" smtClean="0"/>
              <a:t>사용자 단말기에 저장된 파일을 선택하여 업로드 </a:t>
            </a:r>
            <a:r>
              <a:rPr lang="en-US" altLang="ko-KR" dirty="0" smtClean="0">
                <a:solidFill>
                  <a:schemeClr val="bg1">
                    <a:lumMod val="75000"/>
                  </a:schemeClr>
                </a:solidFill>
              </a:rPr>
              <a:t>(</a:t>
            </a:r>
            <a:r>
              <a:rPr lang="ko-KR" altLang="en-US" dirty="0" smtClean="0">
                <a:solidFill>
                  <a:schemeClr val="bg1">
                    <a:lumMod val="75000"/>
                  </a:schemeClr>
                </a:solidFill>
              </a:rPr>
              <a:t>현재 정확한정보없음</a:t>
            </a:r>
            <a:r>
              <a:rPr lang="en-US" altLang="ko-KR" dirty="0" smtClean="0">
                <a:solidFill>
                  <a:schemeClr val="bg1">
                    <a:lumMod val="75000"/>
                  </a:schemeClr>
                </a:solidFill>
              </a:rPr>
              <a:t>)</a:t>
            </a:r>
            <a:r>
              <a:rPr lang="en-US" altLang="ko-KR" dirty="0" smtClean="0"/>
              <a:t/>
            </a:r>
            <a:br>
              <a:rPr lang="en-US" altLang="ko-KR" dirty="0" smtClean="0"/>
            </a:br>
            <a:r>
              <a:rPr lang="en-US" altLang="ko-KR" dirty="0" smtClean="0">
                <a:solidFill>
                  <a:schemeClr val="bg1">
                    <a:lumMod val="75000"/>
                  </a:schemeClr>
                </a:solidFill>
              </a:rPr>
              <a:t>- </a:t>
            </a:r>
            <a:r>
              <a:rPr lang="ko-KR" altLang="en-US" dirty="0" smtClean="0">
                <a:solidFill>
                  <a:schemeClr val="bg1">
                    <a:lumMod val="75000"/>
                  </a:schemeClr>
                </a:solidFill>
              </a:rPr>
              <a:t>가능한 </a:t>
            </a:r>
            <a:r>
              <a:rPr lang="ko-KR" altLang="en-US" dirty="0" err="1" smtClean="0">
                <a:solidFill>
                  <a:schemeClr val="bg1">
                    <a:lumMod val="75000"/>
                  </a:schemeClr>
                </a:solidFill>
              </a:rPr>
              <a:t>확장자</a:t>
            </a:r>
            <a:r>
              <a:rPr lang="ko-KR" altLang="en-US" dirty="0" smtClean="0">
                <a:solidFill>
                  <a:schemeClr val="bg1">
                    <a:lumMod val="75000"/>
                  </a:schemeClr>
                </a:solidFill>
              </a:rPr>
              <a:t>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a:t>
            </a:r>
            <a:r>
              <a:rPr lang="ko-KR" altLang="en-US" dirty="0" err="1" smtClean="0">
                <a:solidFill>
                  <a:schemeClr val="bg1">
                    <a:lumMod val="75000"/>
                  </a:schemeClr>
                </a:solidFill>
              </a:rPr>
              <a:t>파일크기</a:t>
            </a:r>
            <a:r>
              <a:rPr lang="ko-KR" altLang="en-US" dirty="0" smtClean="0">
                <a:solidFill>
                  <a:schemeClr val="bg1">
                    <a:lumMod val="75000"/>
                  </a:schemeClr>
                </a:solidFill>
              </a:rPr>
              <a:t> </a:t>
            </a:r>
            <a:r>
              <a:rPr lang="en-US" altLang="ko-KR" dirty="0" smtClean="0">
                <a:solidFill>
                  <a:schemeClr val="bg1">
                    <a:lumMod val="75000"/>
                  </a:schemeClr>
                </a:solidFill>
              </a:rPr>
              <a:t>: 2G</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첨부 개수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err="1" smtClean="0">
                <a:solidFill>
                  <a:schemeClr val="bg1">
                    <a:lumMod val="75000"/>
                  </a:schemeClr>
                </a:solidFill>
              </a:rPr>
              <a:t>중복파일</a:t>
            </a:r>
            <a:r>
              <a:rPr lang="ko-KR" altLang="en-US" dirty="0" smtClean="0">
                <a:solidFill>
                  <a:schemeClr val="bg1">
                    <a:lumMod val="75000"/>
                  </a:schemeClr>
                </a:solidFill>
              </a:rPr>
              <a:t> 처리여부 </a:t>
            </a:r>
            <a:r>
              <a:rPr lang="en-US" altLang="ko-KR" dirty="0" smtClean="0">
                <a:solidFill>
                  <a:schemeClr val="bg1">
                    <a:lumMod val="75000"/>
                  </a:schemeClr>
                </a:solidFill>
              </a:rPr>
              <a:t>: ? </a:t>
            </a:r>
            <a:r>
              <a:rPr lang="en-US" altLang="ko-KR" dirty="0" smtClean="0"/>
              <a:t/>
            </a:r>
            <a:br>
              <a:rPr lang="en-US" altLang="ko-KR" dirty="0" smtClean="0"/>
            </a:br>
            <a:r>
              <a:rPr lang="en-US" altLang="ko-KR" dirty="0" smtClean="0"/>
              <a:t>- </a:t>
            </a:r>
            <a:r>
              <a:rPr lang="ko-KR" altLang="en-US" dirty="0" smtClean="0"/>
              <a:t>파일 </a:t>
            </a:r>
            <a:r>
              <a:rPr lang="ko-KR" altLang="en-US" dirty="0" err="1" smtClean="0"/>
              <a:t>취소한경우</a:t>
            </a:r>
            <a:r>
              <a:rPr lang="ko-KR" altLang="en-US" dirty="0" smtClean="0"/>
              <a:t> </a:t>
            </a:r>
            <a:r>
              <a:rPr lang="ko-KR" altLang="en-US" dirty="0" err="1" smtClean="0"/>
              <a:t>이전화면</a:t>
            </a:r>
            <a:r>
              <a:rPr lang="ko-KR" altLang="en-US" dirty="0" smtClean="0"/>
              <a:t> 유지</a:t>
            </a:r>
            <a:r>
              <a:rPr lang="en-US" altLang="ko-KR" dirty="0" smtClean="0"/>
              <a:t/>
            </a:r>
            <a:br>
              <a:rPr lang="en-US" altLang="ko-KR" dirty="0" smtClean="0"/>
            </a:br>
            <a:r>
              <a:rPr lang="ko-KR" altLang="en-US" dirty="0" smtClean="0"/>
              <a:t>캐비닛 목록 호출</a:t>
            </a:r>
            <a:r>
              <a:rPr lang="en-US" altLang="ko-KR" dirty="0" smtClean="0"/>
              <a:t>:</a:t>
            </a:r>
            <a:r>
              <a:rPr lang="en-US" altLang="ko-KR" dirty="0">
                <a:solidFill>
                  <a:srgbClr val="000000"/>
                </a:solidFill>
                <a:latin typeface="맑은 고딕" panose="020B0503020000020004" pitchFamily="50" charset="-127"/>
              </a:rPr>
              <a:t> </a:t>
            </a:r>
            <a:r>
              <a:rPr lang="en-US" altLang="ko-KR" dirty="0" smtClean="0">
                <a:solidFill>
                  <a:srgbClr val="000000"/>
                </a:solidFill>
                <a:latin typeface="맑은 고딕" panose="020B0503020000020004" pitchFamily="50" charset="-127"/>
              </a:rPr>
              <a:t>MUI-CM-06-M14</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캐비닛 목록화면으로 이동</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사용자가 선택한 파일을 </a:t>
            </a:r>
            <a:r>
              <a:rPr lang="ko-KR" altLang="en-US" dirty="0" err="1" smtClean="0">
                <a:solidFill>
                  <a:srgbClr val="000000"/>
                </a:solidFill>
                <a:latin typeface="맑은 고딕" panose="020B0503020000020004" pitchFamily="50" charset="-127"/>
              </a:rPr>
              <a:t>첨부목록에</a:t>
            </a:r>
            <a:r>
              <a:rPr lang="ko-KR" altLang="en-US" dirty="0" smtClean="0">
                <a:solidFill>
                  <a:srgbClr val="000000"/>
                </a:solidFill>
                <a:latin typeface="맑은 고딕" panose="020B0503020000020004" pitchFamily="50" charset="-127"/>
              </a:rPr>
              <a:t> 추가</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a:t>
            </a:r>
            <a:r>
              <a:rPr lang="ko-KR" altLang="en-US" dirty="0" smtClean="0"/>
              <a:t> </a:t>
            </a:r>
            <a:r>
              <a:rPr lang="ko-KR" altLang="en-US" dirty="0"/>
              <a:t>선택 완료 후 이전화면으로 복귀</a:t>
            </a:r>
            <a:r>
              <a:rPr lang="en-US" altLang="ko-KR" dirty="0"/>
              <a:t>.(</a:t>
            </a:r>
            <a:r>
              <a:rPr lang="ko-KR" altLang="en-US" dirty="0"/>
              <a:t>파일첨부목록</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smtClean="0">
                <a:latin typeface="+mn-ea"/>
              </a:rPr>
              <a:t>캐비닛연결</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첨부 파일</a:t>
            </a:r>
            <a:r>
              <a:rPr lang="en-US" altLang="ko-KR" dirty="0">
                <a:latin typeface="+mn-ea"/>
              </a:rPr>
              <a:t>, </a:t>
            </a:r>
            <a:r>
              <a:rPr lang="ko-KR" altLang="en-US" dirty="0">
                <a:latin typeface="+mn-ea"/>
              </a:rPr>
              <a:t>캐비닛 선택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Autofit/>
          </a:bodyPr>
          <a:lstStyle/>
          <a:p>
            <a:r>
              <a:rPr lang="ko-KR" altLang="en-US" sz="700" dirty="0"/>
              <a:t>홈 </a:t>
            </a:r>
            <a:r>
              <a:rPr lang="en-US" altLang="ko-KR" sz="700" dirty="0"/>
              <a:t>&gt; </a:t>
            </a:r>
            <a:r>
              <a:rPr lang="ko-KR" altLang="en-US" sz="700" dirty="0">
                <a:latin typeface="+mn-ea"/>
              </a:rPr>
              <a:t>입찰 진행 </a:t>
            </a:r>
            <a:r>
              <a:rPr lang="en-US" altLang="ko-KR" sz="700" dirty="0">
                <a:latin typeface="+mn-ea"/>
              </a:rPr>
              <a:t>&gt; </a:t>
            </a:r>
            <a:r>
              <a:rPr lang="ko-KR" altLang="en-US" sz="700" dirty="0">
                <a:latin typeface="+mn-ea"/>
              </a:rPr>
              <a:t>입찰서</a:t>
            </a:r>
            <a:r>
              <a:rPr lang="en-US" altLang="ko-KR" sz="700" dirty="0">
                <a:latin typeface="+mn-ea"/>
              </a:rPr>
              <a:t>(</a:t>
            </a:r>
            <a:r>
              <a:rPr lang="ko-KR" altLang="en-US" sz="700" dirty="0">
                <a:latin typeface="+mn-ea"/>
              </a:rPr>
              <a:t>견적서</a:t>
            </a:r>
            <a:r>
              <a:rPr lang="en-US" altLang="ko-KR" sz="700" dirty="0">
                <a:latin typeface="+mn-ea"/>
              </a:rPr>
              <a:t>)</a:t>
            </a:r>
            <a:r>
              <a:rPr lang="ko-KR" altLang="en-US" sz="700" dirty="0">
                <a:latin typeface="+mn-ea"/>
              </a:rPr>
              <a:t>작성 </a:t>
            </a:r>
            <a:r>
              <a:rPr lang="en-US" altLang="ko-KR" sz="700" dirty="0" smtClean="0">
                <a:latin typeface="+mn-ea"/>
              </a:rPr>
              <a:t>– </a:t>
            </a:r>
            <a:r>
              <a:rPr lang="ko-KR" altLang="en-US" sz="700" dirty="0" smtClean="0">
                <a:latin typeface="+mn-ea"/>
              </a:rPr>
              <a:t>파일첨부</a:t>
            </a:r>
            <a:r>
              <a:rPr lang="en-US" altLang="ko-KR" sz="700" dirty="0" smtClean="0">
                <a:latin typeface="+mn-ea"/>
              </a:rPr>
              <a:t>&gt;</a:t>
            </a:r>
            <a:r>
              <a:rPr lang="ko-KR" altLang="en-US" sz="700" dirty="0" smtClean="0">
                <a:latin typeface="+mn-ea"/>
              </a:rPr>
              <a:t>파일첨부 </a:t>
            </a:r>
            <a:r>
              <a:rPr lang="ko-KR" altLang="en-US" sz="700" dirty="0">
                <a:latin typeface="+mn-ea"/>
              </a:rPr>
              <a:t>방식 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4622157"/>
            <a:ext cx="2712027" cy="1610141"/>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470655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484097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4821654"/>
            <a:ext cx="1798758" cy="138499"/>
          </a:xfrm>
          <a:prstGeom prst="rect">
            <a:avLst/>
          </a:prstGeom>
          <a:noFill/>
        </p:spPr>
        <p:txBody>
          <a:bodyPr wrap="square" lIns="0" tIns="0" rIns="0" bIns="0" rtlCol="0">
            <a:spAutoFit/>
          </a:bodyPr>
          <a:lstStyle/>
          <a:p>
            <a:r>
              <a:rPr lang="ko-KR" altLang="en-US" sz="900" dirty="0">
                <a:latin typeface="+mn-ea"/>
              </a:rPr>
              <a:t>파일첨부 방식 선택</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508305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사각형: 둥근 모서리 15">
            <a:extLst>
              <a:ext uri="{FF2B5EF4-FFF2-40B4-BE49-F238E27FC236}">
                <a16:creationId xmlns:a16="http://schemas.microsoft.com/office/drawing/2014/main" id="{E2B61CFB-AD16-68D0-8752-50D9C5E01971}"/>
              </a:ext>
            </a:extLst>
          </p:cNvPr>
          <p:cNvSpPr/>
          <p:nvPr/>
        </p:nvSpPr>
        <p:spPr>
          <a:xfrm>
            <a:off x="767703" y="5296114"/>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직접 </a:t>
            </a:r>
            <a:r>
              <a:rPr kumimoji="1" lang="ko-KR" altLang="en-US" sz="1000" kern="0" dirty="0">
                <a:solidFill>
                  <a:srgbClr val="0070C0"/>
                </a:solidFill>
                <a:latin typeface="맑은 고딕"/>
                <a:ea typeface="맑은 고딕" panose="020B0503020000020004" pitchFamily="50" charset="-127"/>
              </a:rPr>
              <a:t>업로드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3" y="5744634"/>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캐비닛 선택 업로드</a:t>
            </a:r>
            <a:endParaRPr kumimoji="1" lang="en-US" sz="1000" b="0" i="0" u="none" strike="noStrike" kern="0" cap="none" spc="0" normalizeH="0" baseline="0" noProof="0" dirty="0">
              <a:ln>
                <a:noFill/>
              </a:ln>
              <a:effectLst/>
              <a:uLnTx/>
              <a:uFillTx/>
              <a:latin typeface="맑은 고딕"/>
            </a:endParaRPr>
          </a:p>
        </p:txBody>
      </p:sp>
      <p:sp>
        <p:nvSpPr>
          <p:cNvPr id="161" name="타원 160">
            <a:extLst>
              <a:ext uri="{FF2B5EF4-FFF2-40B4-BE49-F238E27FC236}">
                <a16:creationId xmlns:a16="http://schemas.microsoft.com/office/drawing/2014/main" id="{37A7FF4F-0EAA-1463-560A-D5EC24416103}"/>
              </a:ext>
            </a:extLst>
          </p:cNvPr>
          <p:cNvSpPr/>
          <p:nvPr/>
        </p:nvSpPr>
        <p:spPr>
          <a:xfrm>
            <a:off x="571127" y="53681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571127" y="582540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8" name="직사각형 57"/>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9" name="직사각형 58"/>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Tree>
    <p:extLst>
      <p:ext uri="{BB962C8B-B14F-4D97-AF65-F5344CB8AC3E}">
        <p14:creationId xmlns:p14="http://schemas.microsoft.com/office/powerpoint/2010/main" val="352883705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a:t>
            </a:r>
            <a:r>
              <a:rPr lang="ko-KR" altLang="en-US" dirty="0"/>
              <a:t>사용자가 </a:t>
            </a:r>
            <a:r>
              <a:rPr lang="ko-KR" altLang="en-US" dirty="0" err="1"/>
              <a:t>접근가능한</a:t>
            </a:r>
            <a:r>
              <a:rPr lang="ko-KR" altLang="en-US" dirty="0"/>
              <a:t> 폴더 목록 조</a:t>
            </a:r>
            <a:r>
              <a:rPr lang="en-US" altLang="ko-KR" dirty="0"/>
              <a:t/>
            </a:r>
            <a:br>
              <a:rPr lang="en-US" altLang="ko-KR" dirty="0"/>
            </a:br>
            <a:r>
              <a:rPr lang="ko-KR" altLang="en-US" dirty="0" smtClean="0"/>
              <a:t>회</a:t>
            </a:r>
            <a:r>
              <a:rPr lang="en-US" altLang="ko-KR" dirty="0" smtClean="0"/>
              <a:t/>
            </a:r>
            <a:br>
              <a:rPr lang="en-US" altLang="ko-KR" dirty="0" smtClean="0"/>
            </a:br>
            <a:r>
              <a:rPr lang="en-US" altLang="ko-KR" dirty="0" smtClean="0"/>
              <a:t>- </a:t>
            </a:r>
            <a:r>
              <a:rPr lang="ko-KR" altLang="en-US" dirty="0" smtClean="0"/>
              <a:t>폴더 </a:t>
            </a:r>
            <a:r>
              <a:rPr lang="ko-KR" altLang="en-US" dirty="0" err="1" smtClean="0"/>
              <a:t>선택시</a:t>
            </a:r>
            <a:r>
              <a:rPr lang="ko-KR" altLang="en-US" dirty="0" smtClean="0"/>
              <a:t> 하위 파일 목록 화면으로 이동</a:t>
            </a:r>
            <a:r>
              <a:rPr lang="en-US" altLang="ko-KR" dirty="0" smtClean="0"/>
              <a:t/>
            </a:r>
            <a:br>
              <a:rPr lang="en-US" altLang="ko-KR" dirty="0" smtClean="0"/>
            </a:br>
            <a:r>
              <a:rPr lang="en-US" altLang="ko-KR" dirty="0" smtClean="0"/>
              <a:t>- </a:t>
            </a:r>
            <a:r>
              <a:rPr lang="ko-KR" altLang="en-US" dirty="0"/>
              <a:t>폴더의</a:t>
            </a:r>
            <a:r>
              <a:rPr lang="en-US" altLang="ko-KR" dirty="0"/>
              <a:t> </a:t>
            </a:r>
            <a:r>
              <a:rPr lang="ko-KR" altLang="en-US" dirty="0"/>
              <a:t>생성</a:t>
            </a:r>
            <a:r>
              <a:rPr lang="en-US" altLang="ko-KR" dirty="0"/>
              <a:t>, </a:t>
            </a:r>
            <a:r>
              <a:rPr lang="ko-KR" altLang="en-US" dirty="0"/>
              <a:t>삭제는 </a:t>
            </a:r>
            <a:r>
              <a:rPr lang="en-US" altLang="ko-KR" dirty="0"/>
              <a:t>PC</a:t>
            </a:r>
            <a:r>
              <a:rPr lang="ko-KR" altLang="en-US" dirty="0"/>
              <a:t>에서 제공</a:t>
            </a:r>
            <a:endParaRPr lang="en-US" altLang="ko-KR" dirty="0"/>
          </a:p>
          <a:p>
            <a:pPr marL="228600" indent="-228600">
              <a:buFont typeface="+mj-lt"/>
              <a:buAutoNum type="arabicPeriod"/>
            </a:pPr>
            <a:endParaRPr lang="en-US" altLang="ko-KR" dirty="0" smtClean="0"/>
          </a:p>
          <a:p>
            <a:pPr marL="228600" indent="-228600">
              <a:buFont typeface="+mj-lt"/>
              <a:buAutoNum type="arabicPeriod"/>
            </a:pPr>
            <a:r>
              <a:rPr lang="ko-KR" altLang="en-US" dirty="0"/>
              <a:t>권한 관리는 업체 대표자에게만 표시됨</a:t>
            </a:r>
            <a:r>
              <a:rPr lang="en-US" altLang="ko-KR" dirty="0"/>
              <a:t>.</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 업로드로 진입하는 경우</a:t>
            </a:r>
            <a:r>
              <a:rPr lang="en-US" altLang="ko-KR" dirty="0"/>
              <a:t/>
            </a:r>
            <a:br>
              <a:rPr lang="en-US" altLang="ko-KR" dirty="0"/>
            </a:br>
            <a:r>
              <a:rPr lang="en-US" altLang="ko-KR" dirty="0"/>
              <a:t>- </a:t>
            </a:r>
            <a:r>
              <a:rPr lang="ko-KR" altLang="en-US" dirty="0"/>
              <a:t>권한 버튼 숨김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solidFill>
                  <a:srgbClr val="FF0000"/>
                </a:solidFill>
              </a:rPr>
              <a:t>- </a:t>
            </a:r>
            <a:r>
              <a:rPr lang="ko-KR" altLang="en-US" dirty="0">
                <a:solidFill>
                  <a:srgbClr val="FF0000"/>
                </a:solidFill>
              </a:rPr>
              <a:t>폴더의 권한은 표시하지 </a:t>
            </a:r>
            <a:r>
              <a:rPr lang="ko-KR" altLang="en-US" dirty="0" smtClean="0">
                <a:solidFill>
                  <a:srgbClr val="FF0000"/>
                </a:solidFill>
              </a:rPr>
              <a:t>않음</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solidFill>
                  <a:prstClr val="black"/>
                </a:solidFill>
                <a:latin typeface="맑은 고딕" panose="020B0503020000020004" pitchFamily="50" charset="-127"/>
              </a:rPr>
              <a:t>디지털캐비닛</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nSpc>
                <a:spcPct val="100000"/>
              </a:lnSpc>
              <a:spcBef>
                <a:spcPts val="0"/>
              </a:spcBef>
              <a:defRPr/>
            </a:pPr>
            <a:r>
              <a:rPr lang="ko-KR" altLang="en-US" dirty="0">
                <a:solidFill>
                  <a:prstClr val="black"/>
                </a:solidFill>
                <a:latin typeface="맑은 고딕" panose="020B0503020000020004" pitchFamily="50" charset="-127"/>
              </a:rPr>
              <a:t>디지털 캐비닛</a:t>
            </a:r>
            <a:r>
              <a:rPr lang="en-US" altLang="ko-KR" dirty="0">
                <a:solidFill>
                  <a:prstClr val="black"/>
                </a:solidFill>
                <a:latin typeface="맑은 고딕" panose="020B0503020000020004" pitchFamily="50" charset="-127"/>
              </a:rPr>
              <a:t>, </a:t>
            </a:r>
            <a:r>
              <a:rPr lang="ko-KR" altLang="en-US" dirty="0">
                <a:solidFill>
                  <a:prstClr val="black"/>
                </a:solidFill>
                <a:latin typeface="맑은 고딕" panose="020B0503020000020004" pitchFamily="50" charset="-127"/>
              </a:rPr>
              <a:t>사용자가 등록한 자료 폴더 목록</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smtClean="0">
                <a:latin typeface="+mn-ea"/>
              </a:rPr>
              <a:t>메인 홈 </a:t>
            </a:r>
            <a:r>
              <a:rPr lang="en-US" altLang="ko-KR" dirty="0" smtClean="0">
                <a:latin typeface="+mn-ea"/>
              </a:rPr>
              <a:t>&gt; </a:t>
            </a:r>
            <a:r>
              <a:rPr lang="ko-KR" altLang="en-US" dirty="0" err="1" smtClean="0">
                <a:latin typeface="+mn-ea"/>
              </a:rPr>
              <a:t>마이페이지</a:t>
            </a:r>
            <a:r>
              <a:rPr lang="ko-KR" altLang="en-US" dirty="0" smtClean="0">
                <a:latin typeface="+mn-ea"/>
              </a:rPr>
              <a:t> </a:t>
            </a:r>
            <a:r>
              <a:rPr lang="en-US" altLang="ko-KR" dirty="0" smtClean="0">
                <a:latin typeface="+mn-ea"/>
              </a:rPr>
              <a:t>&gt; </a:t>
            </a:r>
            <a:r>
              <a:rPr lang="ko-KR" altLang="en-US" dirty="0" smtClean="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MUI-CM-06-M14</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8757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4" name="TextBox 58">
            <a:extLst>
              <a:ext uri="{FF2B5EF4-FFF2-40B4-BE49-F238E27FC236}">
                <a16:creationId xmlns:a16="http://schemas.microsoft.com/office/drawing/2014/main" id="{02FC114B-B48B-345F-BD70-2B5A196F5B3E}"/>
              </a:ext>
            </a:extLst>
          </p:cNvPr>
          <p:cNvSpPr txBox="1"/>
          <p:nvPr/>
        </p:nvSpPr>
        <p:spPr>
          <a:xfrm>
            <a:off x="772625" y="26035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3" name="직선 연결선 72">
            <a:extLst>
              <a:ext uri="{FF2B5EF4-FFF2-40B4-BE49-F238E27FC236}">
                <a16:creationId xmlns:a16="http://schemas.microsoft.com/office/drawing/2014/main" id="{E9293055-D5CD-4B9E-7F64-64B2D2CA7A52}"/>
              </a:ext>
            </a:extLst>
          </p:cNvPr>
          <p:cNvCxnSpPr/>
          <p:nvPr/>
        </p:nvCxnSpPr>
        <p:spPr>
          <a:xfrm>
            <a:off x="675399" y="28745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3333470" y="25670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1" name="TextBox 58">
            <a:extLst>
              <a:ext uri="{FF2B5EF4-FFF2-40B4-BE49-F238E27FC236}">
                <a16:creationId xmlns:a16="http://schemas.microsoft.com/office/drawing/2014/main" id="{02FC114B-B48B-345F-BD70-2B5A196F5B3E}"/>
              </a:ext>
            </a:extLst>
          </p:cNvPr>
          <p:cNvSpPr txBox="1"/>
          <p:nvPr/>
        </p:nvSpPr>
        <p:spPr>
          <a:xfrm>
            <a:off x="1019814" y="25356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 |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53" name="사각형: 둥근 모서리 31">
            <a:extLst>
              <a:ext uri="{FF2B5EF4-FFF2-40B4-BE49-F238E27FC236}">
                <a16:creationId xmlns:a16="http://schemas.microsoft.com/office/drawing/2014/main" id="{2AC143EE-93CF-3518-F0CB-8469E98507E0}"/>
              </a:ext>
            </a:extLst>
          </p:cNvPr>
          <p:cNvSpPr/>
          <p:nvPr/>
        </p:nvSpPr>
        <p:spPr>
          <a:xfrm>
            <a:off x="2993286" y="25866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2" name="TextBox 58">
            <a:extLst>
              <a:ext uri="{FF2B5EF4-FFF2-40B4-BE49-F238E27FC236}">
                <a16:creationId xmlns:a16="http://schemas.microsoft.com/office/drawing/2014/main" id="{02FC114B-B48B-345F-BD70-2B5A196F5B3E}"/>
              </a:ext>
            </a:extLst>
          </p:cNvPr>
          <p:cNvSpPr txBox="1"/>
          <p:nvPr/>
        </p:nvSpPr>
        <p:spPr>
          <a:xfrm>
            <a:off x="772625" y="30257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296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TextBox 58">
            <a:extLst>
              <a:ext uri="{FF2B5EF4-FFF2-40B4-BE49-F238E27FC236}">
                <a16:creationId xmlns:a16="http://schemas.microsoft.com/office/drawing/2014/main" id="{02FC114B-B48B-345F-BD70-2B5A196F5B3E}"/>
              </a:ext>
            </a:extLst>
          </p:cNvPr>
          <p:cNvSpPr txBox="1"/>
          <p:nvPr/>
        </p:nvSpPr>
        <p:spPr>
          <a:xfrm>
            <a:off x="1019814" y="29578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06" name="사각형: 둥근 모서리 31">
            <a:extLst>
              <a:ext uri="{FF2B5EF4-FFF2-40B4-BE49-F238E27FC236}">
                <a16:creationId xmlns:a16="http://schemas.microsoft.com/office/drawing/2014/main" id="{2AC143EE-93CF-3518-F0CB-8469E98507E0}"/>
              </a:ext>
            </a:extLst>
          </p:cNvPr>
          <p:cNvSpPr/>
          <p:nvPr/>
        </p:nvSpPr>
        <p:spPr>
          <a:xfrm>
            <a:off x="2993286" y="30088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7" name="TextBox 58">
            <a:extLst>
              <a:ext uri="{FF2B5EF4-FFF2-40B4-BE49-F238E27FC236}">
                <a16:creationId xmlns:a16="http://schemas.microsoft.com/office/drawing/2014/main" id="{02FC114B-B48B-345F-BD70-2B5A196F5B3E}"/>
              </a:ext>
            </a:extLst>
          </p:cNvPr>
          <p:cNvSpPr txBox="1"/>
          <p:nvPr/>
        </p:nvSpPr>
        <p:spPr>
          <a:xfrm>
            <a:off x="772625" y="343912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75399" y="371007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58">
            <a:extLst>
              <a:ext uri="{FF2B5EF4-FFF2-40B4-BE49-F238E27FC236}">
                <a16:creationId xmlns:a16="http://schemas.microsoft.com/office/drawing/2014/main" id="{02FC114B-B48B-345F-BD70-2B5A196F5B3E}"/>
              </a:ext>
            </a:extLst>
          </p:cNvPr>
          <p:cNvSpPr txBox="1"/>
          <p:nvPr/>
        </p:nvSpPr>
        <p:spPr>
          <a:xfrm>
            <a:off x="1019814" y="337122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25" name="사각형: 둥근 모서리 31">
            <a:extLst>
              <a:ext uri="{FF2B5EF4-FFF2-40B4-BE49-F238E27FC236}">
                <a16:creationId xmlns:a16="http://schemas.microsoft.com/office/drawing/2014/main" id="{2AC143EE-93CF-3518-F0CB-8469E98507E0}"/>
              </a:ext>
            </a:extLst>
          </p:cNvPr>
          <p:cNvSpPr/>
          <p:nvPr/>
        </p:nvSpPr>
        <p:spPr>
          <a:xfrm>
            <a:off x="2993286" y="342221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26" name="TextBox 58">
            <a:extLst>
              <a:ext uri="{FF2B5EF4-FFF2-40B4-BE49-F238E27FC236}">
                <a16:creationId xmlns:a16="http://schemas.microsoft.com/office/drawing/2014/main" id="{02FC114B-B48B-345F-BD70-2B5A196F5B3E}"/>
              </a:ext>
            </a:extLst>
          </p:cNvPr>
          <p:cNvSpPr txBox="1"/>
          <p:nvPr/>
        </p:nvSpPr>
        <p:spPr>
          <a:xfrm>
            <a:off x="772625" y="386037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4131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58">
            <a:extLst>
              <a:ext uri="{FF2B5EF4-FFF2-40B4-BE49-F238E27FC236}">
                <a16:creationId xmlns:a16="http://schemas.microsoft.com/office/drawing/2014/main" id="{02FC114B-B48B-345F-BD70-2B5A196F5B3E}"/>
              </a:ext>
            </a:extLst>
          </p:cNvPr>
          <p:cNvSpPr txBox="1"/>
          <p:nvPr/>
        </p:nvSpPr>
        <p:spPr>
          <a:xfrm>
            <a:off x="1019814" y="3792480"/>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2" name="사각형: 둥근 모서리 31">
            <a:extLst>
              <a:ext uri="{FF2B5EF4-FFF2-40B4-BE49-F238E27FC236}">
                <a16:creationId xmlns:a16="http://schemas.microsoft.com/office/drawing/2014/main" id="{2AC143EE-93CF-3518-F0CB-8469E98507E0}"/>
              </a:ext>
            </a:extLst>
          </p:cNvPr>
          <p:cNvSpPr/>
          <p:nvPr/>
        </p:nvSpPr>
        <p:spPr>
          <a:xfrm>
            <a:off x="2993286" y="3843470"/>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58">
            <a:extLst>
              <a:ext uri="{FF2B5EF4-FFF2-40B4-BE49-F238E27FC236}">
                <a16:creationId xmlns:a16="http://schemas.microsoft.com/office/drawing/2014/main" id="{02FC114B-B48B-345F-BD70-2B5A196F5B3E}"/>
              </a:ext>
            </a:extLst>
          </p:cNvPr>
          <p:cNvSpPr txBox="1"/>
          <p:nvPr/>
        </p:nvSpPr>
        <p:spPr>
          <a:xfrm>
            <a:off x="772625" y="4280031"/>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45509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58">
            <a:extLst>
              <a:ext uri="{FF2B5EF4-FFF2-40B4-BE49-F238E27FC236}">
                <a16:creationId xmlns:a16="http://schemas.microsoft.com/office/drawing/2014/main" id="{02FC114B-B48B-345F-BD70-2B5A196F5B3E}"/>
              </a:ext>
            </a:extLst>
          </p:cNvPr>
          <p:cNvSpPr txBox="1"/>
          <p:nvPr/>
        </p:nvSpPr>
        <p:spPr>
          <a:xfrm>
            <a:off x="1019814" y="4212136"/>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7" name="사각형: 둥근 모서리 31">
            <a:extLst>
              <a:ext uri="{FF2B5EF4-FFF2-40B4-BE49-F238E27FC236}">
                <a16:creationId xmlns:a16="http://schemas.microsoft.com/office/drawing/2014/main" id="{2AC143EE-93CF-3518-F0CB-8469E98507E0}"/>
              </a:ext>
            </a:extLst>
          </p:cNvPr>
          <p:cNvSpPr/>
          <p:nvPr/>
        </p:nvSpPr>
        <p:spPr>
          <a:xfrm>
            <a:off x="2993286" y="4263126"/>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40" name="타원 139"/>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a:off x="3143548" y="2279636"/>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24553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직사각형 50"/>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2" name="직사각형 51"/>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55" name="직사각형 54"/>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9" name="직사각형 58"/>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Tree>
    <p:extLst>
      <p:ext uri="{BB962C8B-B14F-4D97-AF65-F5344CB8AC3E}">
        <p14:creationId xmlns:p14="http://schemas.microsoft.com/office/powerpoint/2010/main" val="164793140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 </a:t>
            </a:r>
            <a:r>
              <a:rPr lang="ko-KR" altLang="en-US" dirty="0"/>
              <a:t>클릭 시 상위 폴더 이동</a:t>
            </a:r>
            <a:endParaRPr lang="en-US" altLang="ko-KR" dirty="0"/>
          </a:p>
          <a:p>
            <a:pPr marL="228600" indent="-228600">
              <a:buFont typeface="+mj-lt"/>
              <a:buAutoNum type="arabicPeriod"/>
            </a:pPr>
            <a:r>
              <a:rPr lang="ko-KR" altLang="en-US" dirty="0"/>
              <a:t>파일 표시</a:t>
            </a:r>
            <a:r>
              <a:rPr lang="en-US" altLang="ko-KR" dirty="0"/>
              <a:t/>
            </a:r>
            <a:br>
              <a:rPr lang="en-US" altLang="ko-KR" dirty="0"/>
            </a:br>
            <a:r>
              <a:rPr lang="en-US" altLang="ko-KR" dirty="0"/>
              <a:t>- </a:t>
            </a:r>
            <a:r>
              <a:rPr lang="ko-KR" altLang="en-US" dirty="0"/>
              <a:t>파일 등록</a:t>
            </a:r>
            <a:r>
              <a:rPr lang="en-US" altLang="ko-KR" dirty="0"/>
              <a:t>, </a:t>
            </a:r>
            <a:r>
              <a:rPr lang="ko-KR" altLang="en-US" dirty="0"/>
              <a:t>삭제 </a:t>
            </a:r>
            <a:r>
              <a:rPr lang="en-US" altLang="ko-KR" dirty="0"/>
              <a:t>PC</a:t>
            </a:r>
            <a:r>
              <a:rPr lang="ko-KR" altLang="en-US" dirty="0"/>
              <a:t>에서 제공</a:t>
            </a:r>
            <a:r>
              <a:rPr lang="en-US" altLang="ko-KR" dirty="0"/>
              <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선택으로 진입하는 경우</a:t>
            </a:r>
            <a:r>
              <a:rPr lang="en-US" altLang="ko-KR" dirty="0"/>
              <a:t/>
            </a:r>
            <a:br>
              <a:rPr lang="en-US" altLang="ko-KR" dirty="0"/>
            </a:br>
            <a:r>
              <a:rPr lang="en-US" altLang="ko-KR" dirty="0"/>
              <a:t>- </a:t>
            </a:r>
            <a:r>
              <a:rPr lang="ko-KR" altLang="en-US" dirty="0"/>
              <a:t>선택 시 하이라이트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t>- </a:t>
            </a:r>
            <a:r>
              <a:rPr lang="ko-KR" altLang="en-US" dirty="0"/>
              <a:t>선택 파일 첨부 버튼 표시</a:t>
            </a:r>
            <a:r>
              <a:rPr lang="en-US" altLang="ko-KR" dirty="0"/>
              <a:t/>
            </a:r>
            <a:br>
              <a:rPr lang="en-US" altLang="ko-KR" dirty="0"/>
            </a:br>
            <a:r>
              <a:rPr lang="en-US" altLang="ko-KR" dirty="0"/>
              <a:t/>
            </a:r>
            <a:br>
              <a:rPr lang="en-US" altLang="ko-KR" dirty="0"/>
            </a:br>
            <a:r>
              <a:rPr lang="en-US" altLang="ko-KR" dirty="0">
                <a:solidFill>
                  <a:srgbClr val="FF0000"/>
                </a:solidFill>
              </a:rPr>
              <a:t>- </a:t>
            </a:r>
            <a:r>
              <a:rPr lang="ko-KR" altLang="en-US" dirty="0">
                <a:solidFill>
                  <a:srgbClr val="FF0000"/>
                </a:solidFill>
              </a:rPr>
              <a:t>입찰참가</a:t>
            </a:r>
            <a:r>
              <a:rPr lang="en-US" altLang="ko-KR" dirty="0">
                <a:solidFill>
                  <a:srgbClr val="FF0000"/>
                </a:solidFill>
              </a:rPr>
              <a:t>, </a:t>
            </a:r>
            <a:r>
              <a:rPr lang="ko-KR" altLang="en-US" dirty="0">
                <a:solidFill>
                  <a:srgbClr val="FF0000"/>
                </a:solidFill>
              </a:rPr>
              <a:t>입찰서 등에서 파일을 업로드</a:t>
            </a:r>
            <a:r>
              <a:rPr lang="en-US" altLang="ko-KR" dirty="0">
                <a:solidFill>
                  <a:srgbClr val="FF0000"/>
                </a:solidFill>
              </a:rPr>
              <a:t>(</a:t>
            </a:r>
            <a:r>
              <a:rPr lang="ko-KR" altLang="en-US" dirty="0">
                <a:solidFill>
                  <a:srgbClr val="FF0000"/>
                </a:solidFill>
              </a:rPr>
              <a:t>파일 첨부</a:t>
            </a:r>
            <a:r>
              <a:rPr lang="en-US" altLang="ko-KR" dirty="0">
                <a:solidFill>
                  <a:srgbClr val="FF0000"/>
                </a:solidFill>
              </a:rPr>
              <a:t>)</a:t>
            </a:r>
            <a:r>
              <a:rPr lang="ko-KR" altLang="en-US" dirty="0">
                <a:solidFill>
                  <a:srgbClr val="FF0000"/>
                </a:solidFill>
              </a:rPr>
              <a:t>할 때</a:t>
            </a:r>
            <a:r>
              <a:rPr lang="en-US" altLang="ko-KR" dirty="0">
                <a:solidFill>
                  <a:srgbClr val="FF0000"/>
                </a:solidFill>
              </a:rPr>
              <a:t>, </a:t>
            </a:r>
            <a:r>
              <a:rPr lang="ko-KR" altLang="en-US" dirty="0">
                <a:solidFill>
                  <a:srgbClr val="FF0000"/>
                </a:solidFill>
              </a:rPr>
              <a:t>사용자에게 </a:t>
            </a:r>
            <a:r>
              <a:rPr lang="ko-KR" altLang="en-US" dirty="0" err="1">
                <a:solidFill>
                  <a:srgbClr val="FF0000"/>
                </a:solidFill>
              </a:rPr>
              <a:t>직접업로드</a:t>
            </a:r>
            <a:r>
              <a:rPr lang="en-US" altLang="ko-KR" dirty="0">
                <a:solidFill>
                  <a:srgbClr val="FF0000"/>
                </a:solidFill>
              </a:rPr>
              <a:t>, </a:t>
            </a:r>
            <a:r>
              <a:rPr lang="ko-KR" altLang="en-US" dirty="0">
                <a:solidFill>
                  <a:srgbClr val="FF0000"/>
                </a:solidFill>
              </a:rPr>
              <a:t>캐비닛 업로드를 할 수 있는 팝업 선택지가 노출됨</a:t>
            </a:r>
            <a:r>
              <a:rPr lang="en-US" altLang="ko-KR" dirty="0">
                <a:solidFill>
                  <a:srgbClr val="FF0000"/>
                </a:solidFill>
              </a:rPr>
              <a:t>. </a:t>
            </a:r>
            <a:br>
              <a:rPr lang="en-US" altLang="ko-KR" dirty="0">
                <a:solidFill>
                  <a:srgbClr val="FF0000"/>
                </a:solidFill>
              </a:rPr>
            </a:br>
            <a:r>
              <a:rPr lang="en-US" altLang="ko-KR" dirty="0">
                <a:solidFill>
                  <a:srgbClr val="FF0000"/>
                </a:solidFill>
              </a:rPr>
              <a:t>- </a:t>
            </a:r>
            <a:r>
              <a:rPr lang="ko-KR" altLang="en-US" dirty="0">
                <a:solidFill>
                  <a:srgbClr val="FF0000"/>
                </a:solidFill>
              </a:rPr>
              <a:t>사용자가 디지털 캐비닛 업로드 선택 시 캐비닛의 파일을 선택하여 업로드할 수 있는 체크박스와 </a:t>
            </a:r>
            <a:r>
              <a:rPr lang="ko-KR" altLang="en-US" dirty="0" err="1">
                <a:solidFill>
                  <a:srgbClr val="FF0000"/>
                </a:solidFill>
              </a:rPr>
              <a:t>선택파일</a:t>
            </a:r>
            <a:r>
              <a:rPr lang="ko-KR" altLang="en-US" dirty="0">
                <a:solidFill>
                  <a:srgbClr val="FF0000"/>
                </a:solidFill>
              </a:rPr>
              <a:t> 첨부 버튼을 표시함</a:t>
            </a:r>
            <a:r>
              <a:rPr lang="en-US" altLang="ko-KR" dirty="0">
                <a:solidFill>
                  <a:srgbClr val="FF0000"/>
                </a:solidFill>
              </a:rPr>
              <a:t>.</a:t>
            </a:r>
            <a:br>
              <a:rPr lang="en-US" altLang="ko-KR" dirty="0">
                <a:solidFill>
                  <a:srgbClr val="FF0000"/>
                </a:solidFill>
              </a:rPr>
            </a:br>
            <a:r>
              <a:rPr lang="en-US" altLang="ko-KR" dirty="0">
                <a:solidFill>
                  <a:srgbClr val="FF0000"/>
                </a:solidFill>
              </a:rPr>
              <a:t>- </a:t>
            </a:r>
            <a:r>
              <a:rPr lang="ko-KR" altLang="en-US" dirty="0">
                <a:solidFill>
                  <a:srgbClr val="FF0000"/>
                </a:solidFill>
              </a:rPr>
              <a:t>캐비닛 업로드 선택 시 최초 진입은 목록 화면으로 진입하며</a:t>
            </a:r>
            <a:r>
              <a:rPr lang="en-US" altLang="ko-KR" dirty="0">
                <a:solidFill>
                  <a:srgbClr val="FF0000"/>
                </a:solidFill>
              </a:rPr>
              <a:t>, </a:t>
            </a:r>
            <a:r>
              <a:rPr lang="ko-KR" altLang="en-US" dirty="0">
                <a:solidFill>
                  <a:srgbClr val="FF0000"/>
                </a:solidFill>
              </a:rPr>
              <a:t>권한 버튼은 숨김 처리됨</a:t>
            </a:r>
            <a:r>
              <a:rPr lang="en-US" altLang="ko-KR" dirty="0">
                <a:solidFill>
                  <a:srgbClr val="FF0000"/>
                </a:solidFill>
              </a:rPr>
              <a:t>.</a:t>
            </a:r>
          </a:p>
          <a:p>
            <a:pPr marL="228600" indent="-228600">
              <a:buFont typeface="+mj-lt"/>
              <a:buAutoNum type="arabicPeriod"/>
            </a:pPr>
            <a:endParaRPr lang="en-US" altLang="ko-KR" dirty="0"/>
          </a:p>
          <a:p>
            <a:pPr marL="228600" indent="-228600">
              <a:buFont typeface="+mj-lt"/>
              <a:buAutoNum type="arabicPeriod"/>
            </a:pPr>
            <a:r>
              <a:rPr lang="ko-KR" altLang="en-US" dirty="0"/>
              <a:t>사용자가 선택 여부를 확인할 수 있는 체크박스 추가 표시</a:t>
            </a:r>
            <a:r>
              <a:rPr lang="en-US" altLang="ko-KR" dirty="0"/>
              <a:t/>
            </a:r>
            <a:br>
              <a:rPr lang="en-US" altLang="ko-KR" dirty="0"/>
            </a:br>
            <a:endParaRPr lang="en-US" altLang="ko-KR" dirty="0"/>
          </a:p>
          <a:p>
            <a:pPr marL="228600" indent="-228600">
              <a:buFont typeface="+mj-lt"/>
              <a:buAutoNum type="arabicPeriod"/>
            </a:pPr>
            <a:r>
              <a:rPr lang="ko-KR" altLang="en-US" dirty="0"/>
              <a:t>선택 파일 첨부를 통해 신청서 작성 등의 파일 </a:t>
            </a:r>
            <a:r>
              <a:rPr lang="ko-KR" altLang="en-US" dirty="0" err="1"/>
              <a:t>첨부항목에</a:t>
            </a:r>
            <a:r>
              <a:rPr lang="ko-KR" altLang="en-US" dirty="0"/>
              <a:t> 선택된 캐비닛 자료 업로드</a:t>
            </a:r>
            <a:r>
              <a:rPr lang="en-US" altLang="ko-KR" dirty="0"/>
              <a:t/>
            </a:r>
            <a:br>
              <a:rPr lang="en-US" altLang="ko-KR" dirty="0"/>
            </a:br>
            <a:r>
              <a:rPr lang="en-US" altLang="ko-KR" dirty="0"/>
              <a:t>- </a:t>
            </a:r>
            <a:r>
              <a:rPr lang="ko-KR" altLang="en-US" dirty="0"/>
              <a:t>이전 </a:t>
            </a:r>
            <a:r>
              <a:rPr lang="ko-KR" altLang="en-US" dirty="0" err="1"/>
              <a:t>파일첨부하던</a:t>
            </a:r>
            <a:r>
              <a:rPr lang="ko-KR" altLang="en-US" dirty="0"/>
              <a:t> 화면으로 복귀</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lvl="0">
              <a:defRPr/>
            </a:pPr>
            <a:r>
              <a:rPr lang="ko-KR" altLang="en-US" dirty="0" smtClean="0">
                <a:solidFill>
                  <a:prstClr val="black"/>
                </a:solidFill>
                <a:latin typeface="맑은 고딕" panose="020B0503020000020004" pitchFamily="50" charset="-127"/>
              </a:rPr>
              <a:t>폴더내파일목록</a:t>
            </a:r>
            <a:endParaRPr lang="ko-KR" altLang="en-US" dirty="0">
              <a:solidFill>
                <a:prstClr val="black"/>
              </a:solidFill>
              <a:latin typeface="맑은 고딕" panose="020B0503020000020004" pitchFamily="50" charset="-127"/>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디지털캐비닛 파일 목록 화면</a:t>
            </a:r>
            <a:endParaRPr lang="en-US" altLang="ko-KR"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latin typeface="+mn-ea"/>
              </a:rPr>
              <a:t>메인 홈 </a:t>
            </a:r>
            <a:r>
              <a:rPr lang="en-US" altLang="ko-KR" dirty="0">
                <a:latin typeface="+mn-ea"/>
              </a:rPr>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MUI-CM-06-M16</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9242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0" name="TextBox 58">
            <a:extLst>
              <a:ext uri="{FF2B5EF4-FFF2-40B4-BE49-F238E27FC236}">
                <a16:creationId xmlns:a16="http://schemas.microsoft.com/office/drawing/2014/main" id="{02FC114B-B48B-345F-BD70-2B5A196F5B3E}"/>
              </a:ext>
            </a:extLst>
          </p:cNvPr>
          <p:cNvSpPr txBox="1"/>
          <p:nvPr/>
        </p:nvSpPr>
        <p:spPr>
          <a:xfrm>
            <a:off x="772625"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51" name="직선 연결선 50">
            <a:extLst>
              <a:ext uri="{FF2B5EF4-FFF2-40B4-BE49-F238E27FC236}">
                <a16:creationId xmlns:a16="http://schemas.microsoft.com/office/drawing/2014/main" id="{E9293055-D5CD-4B9E-7F64-64B2D2CA7A52}"/>
              </a:ext>
            </a:extLst>
          </p:cNvPr>
          <p:cNvCxnSpPr/>
          <p:nvPr/>
        </p:nvCxnSpPr>
        <p:spPr>
          <a:xfrm>
            <a:off x="675399"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2" name="TextBox 58">
            <a:extLst>
              <a:ext uri="{FF2B5EF4-FFF2-40B4-BE49-F238E27FC236}">
                <a16:creationId xmlns:a16="http://schemas.microsoft.com/office/drawing/2014/main" id="{02FC114B-B48B-345F-BD70-2B5A196F5B3E}"/>
              </a:ext>
            </a:extLst>
          </p:cNvPr>
          <p:cNvSpPr txBox="1"/>
          <p:nvPr/>
        </p:nvSpPr>
        <p:spPr>
          <a:xfrm>
            <a:off x="980620"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59" name="TextBox 58">
            <a:extLst>
              <a:ext uri="{FF2B5EF4-FFF2-40B4-BE49-F238E27FC236}">
                <a16:creationId xmlns:a16="http://schemas.microsoft.com/office/drawing/2014/main" id="{02FC114B-B48B-345F-BD70-2B5A196F5B3E}"/>
              </a:ext>
            </a:extLst>
          </p:cNvPr>
          <p:cNvSpPr txBox="1"/>
          <p:nvPr/>
        </p:nvSpPr>
        <p:spPr>
          <a:xfrm>
            <a:off x="772625"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75399"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TextBox 58">
            <a:extLst>
              <a:ext uri="{FF2B5EF4-FFF2-40B4-BE49-F238E27FC236}">
                <a16:creationId xmlns:a16="http://schemas.microsoft.com/office/drawing/2014/main" id="{02FC114B-B48B-345F-BD70-2B5A196F5B3E}"/>
              </a:ext>
            </a:extLst>
          </p:cNvPr>
          <p:cNvSpPr txBox="1"/>
          <p:nvPr/>
        </p:nvSpPr>
        <p:spPr>
          <a:xfrm>
            <a:off x="1019814"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67" name="TextBox 58">
            <a:extLst>
              <a:ext uri="{FF2B5EF4-FFF2-40B4-BE49-F238E27FC236}">
                <a16:creationId xmlns:a16="http://schemas.microsoft.com/office/drawing/2014/main" id="{02FC114B-B48B-345F-BD70-2B5A196F5B3E}"/>
              </a:ext>
            </a:extLst>
          </p:cNvPr>
          <p:cNvSpPr txBox="1"/>
          <p:nvPr/>
        </p:nvSpPr>
        <p:spPr>
          <a:xfrm>
            <a:off x="772625"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75399"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5" name="TextBox 58">
            <a:extLst>
              <a:ext uri="{FF2B5EF4-FFF2-40B4-BE49-F238E27FC236}">
                <a16:creationId xmlns:a16="http://schemas.microsoft.com/office/drawing/2014/main" id="{02FC114B-B48B-345F-BD70-2B5A196F5B3E}"/>
              </a:ext>
            </a:extLst>
          </p:cNvPr>
          <p:cNvSpPr txBox="1"/>
          <p:nvPr/>
        </p:nvSpPr>
        <p:spPr>
          <a:xfrm>
            <a:off x="1019814"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81" name="TextBox 58">
            <a:extLst>
              <a:ext uri="{FF2B5EF4-FFF2-40B4-BE49-F238E27FC236}">
                <a16:creationId xmlns:a16="http://schemas.microsoft.com/office/drawing/2014/main" id="{02FC114B-B48B-345F-BD70-2B5A196F5B3E}"/>
              </a:ext>
            </a:extLst>
          </p:cNvPr>
          <p:cNvSpPr txBox="1"/>
          <p:nvPr/>
        </p:nvSpPr>
        <p:spPr>
          <a:xfrm>
            <a:off x="772625"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58">
            <a:extLst>
              <a:ext uri="{FF2B5EF4-FFF2-40B4-BE49-F238E27FC236}">
                <a16:creationId xmlns:a16="http://schemas.microsoft.com/office/drawing/2014/main" id="{02FC114B-B48B-345F-BD70-2B5A196F5B3E}"/>
              </a:ext>
            </a:extLst>
          </p:cNvPr>
          <p:cNvSpPr txBox="1"/>
          <p:nvPr/>
        </p:nvSpPr>
        <p:spPr>
          <a:xfrm>
            <a:off x="1019814"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8" name="TextBox 58">
            <a:extLst>
              <a:ext uri="{FF2B5EF4-FFF2-40B4-BE49-F238E27FC236}">
                <a16:creationId xmlns:a16="http://schemas.microsoft.com/office/drawing/2014/main" id="{02FC114B-B48B-345F-BD70-2B5A196F5B3E}"/>
              </a:ext>
            </a:extLst>
          </p:cNvPr>
          <p:cNvSpPr txBox="1"/>
          <p:nvPr/>
        </p:nvSpPr>
        <p:spPr>
          <a:xfrm>
            <a:off x="772625"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675399"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58">
            <a:extLst>
              <a:ext uri="{FF2B5EF4-FFF2-40B4-BE49-F238E27FC236}">
                <a16:creationId xmlns:a16="http://schemas.microsoft.com/office/drawing/2014/main" id="{02FC114B-B48B-345F-BD70-2B5A196F5B3E}"/>
              </a:ext>
            </a:extLst>
          </p:cNvPr>
          <p:cNvSpPr txBox="1"/>
          <p:nvPr/>
        </p:nvSpPr>
        <p:spPr>
          <a:xfrm>
            <a:off x="1019814"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04" name="타원 103"/>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a:off x="3143548" y="2279636"/>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6" name="타원 115">
            <a:extLst>
              <a:ext uri="{FF2B5EF4-FFF2-40B4-BE49-F238E27FC236}">
                <a16:creationId xmlns:a16="http://schemas.microsoft.com/office/drawing/2014/main" id="{37A7FF4F-0EAA-1463-560A-D5EC24416103}"/>
              </a:ext>
            </a:extLst>
          </p:cNvPr>
          <p:cNvSpPr/>
          <p:nvPr/>
        </p:nvSpPr>
        <p:spPr>
          <a:xfrm>
            <a:off x="571127" y="301368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46" name="직사각형 45"/>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47" name="직사각형 46"/>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49" name="직사각형 48"/>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3" name="직사각형 52"/>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선택 파일 첨부</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5" name="직사각형 5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FC49AEA-2A8F-250C-A86A-A7751D9706C3}"/>
              </a:ext>
            </a:extLst>
          </p:cNvPr>
          <p:cNvSpPr txBox="1"/>
          <p:nvPr/>
        </p:nvSpPr>
        <p:spPr>
          <a:xfrm>
            <a:off x="4062763"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69" name="직선 연결선 68">
            <a:extLst>
              <a:ext uri="{FF2B5EF4-FFF2-40B4-BE49-F238E27FC236}">
                <a16:creationId xmlns:a16="http://schemas.microsoft.com/office/drawing/2014/main" id="{E9293055-D5CD-4B9E-7F64-64B2D2CA7A52}"/>
              </a:ext>
            </a:extLst>
          </p:cNvPr>
          <p:cNvCxnSpPr/>
          <p:nvPr/>
        </p:nvCxnSpPr>
        <p:spPr>
          <a:xfrm>
            <a:off x="3807261"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0" name="그룹 69"/>
          <p:cNvGrpSpPr/>
          <p:nvPr/>
        </p:nvGrpSpPr>
        <p:grpSpPr>
          <a:xfrm rot="5400000">
            <a:off x="3881704" y="1640499"/>
            <a:ext cx="94010" cy="47005"/>
            <a:chOff x="6812560" y="3297172"/>
            <a:chExt cx="94010" cy="47005"/>
          </a:xfrm>
        </p:grpSpPr>
        <p:cxnSp>
          <p:nvCxnSpPr>
            <p:cNvPr id="71" name="직선 연결선 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2" name="직선 연결선 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3" name="타원 72"/>
          <p:cNvSpPr/>
          <p:nvPr/>
        </p:nvSpPr>
        <p:spPr>
          <a:xfrm>
            <a:off x="6171228"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TextBox 73"/>
          <p:cNvSpPr txBox="1"/>
          <p:nvPr/>
        </p:nvSpPr>
        <p:spPr>
          <a:xfrm>
            <a:off x="6119977" y="1515996"/>
            <a:ext cx="290464" cy="276999"/>
          </a:xfrm>
          <a:prstGeom prst="rect">
            <a:avLst/>
          </a:prstGeom>
          <a:noFill/>
        </p:spPr>
        <p:txBody>
          <a:bodyPr wrap="none" rtlCol="0" anchor="ctr">
            <a:spAutoFit/>
          </a:bodyPr>
          <a:lstStyle/>
          <a:p>
            <a:pPr algn="ctr"/>
            <a:r>
              <a:rPr lang="ko-KR" altLang="en-US" sz="1200" dirty="0"/>
              <a:t>≡</a:t>
            </a:r>
          </a:p>
        </p:txBody>
      </p:sp>
      <p:grpSp>
        <p:nvGrpSpPr>
          <p:cNvPr id="76" name="그룹 75">
            <a:extLst>
              <a:ext uri="{FF2B5EF4-FFF2-40B4-BE49-F238E27FC236}">
                <a16:creationId xmlns:a16="http://schemas.microsoft.com/office/drawing/2014/main" id="{22BC05EE-C648-7CA2-4CCC-6E1C1A7E9BDA}"/>
              </a:ext>
            </a:extLst>
          </p:cNvPr>
          <p:cNvGrpSpPr/>
          <p:nvPr/>
        </p:nvGrpSpPr>
        <p:grpSpPr>
          <a:xfrm>
            <a:off x="5119672" y="4874158"/>
            <a:ext cx="76863" cy="292489"/>
            <a:chOff x="3750067" y="4683795"/>
            <a:chExt cx="76863" cy="292489"/>
          </a:xfrm>
        </p:grpSpPr>
        <p:sp>
          <p:nvSpPr>
            <p:cNvPr id="77" name="타원 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8" name="타원 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9" name="타원 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80" name="모서리가 둥근 직사각형 79"/>
          <p:cNvSpPr/>
          <p:nvPr/>
        </p:nvSpPr>
        <p:spPr>
          <a:xfrm>
            <a:off x="3908152"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82" name="TextBox 58">
            <a:extLst>
              <a:ext uri="{FF2B5EF4-FFF2-40B4-BE49-F238E27FC236}">
                <a16:creationId xmlns:a16="http://schemas.microsoft.com/office/drawing/2014/main" id="{02FC114B-B48B-345F-BD70-2B5A196F5B3E}"/>
              </a:ext>
            </a:extLst>
          </p:cNvPr>
          <p:cNvSpPr txBox="1"/>
          <p:nvPr/>
        </p:nvSpPr>
        <p:spPr>
          <a:xfrm>
            <a:off x="4209534"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3802090"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4" name="TextBox 58">
            <a:extLst>
              <a:ext uri="{FF2B5EF4-FFF2-40B4-BE49-F238E27FC236}">
                <a16:creationId xmlns:a16="http://schemas.microsoft.com/office/drawing/2014/main" id="{02FC114B-B48B-345F-BD70-2B5A196F5B3E}"/>
              </a:ext>
            </a:extLst>
          </p:cNvPr>
          <p:cNvSpPr txBox="1"/>
          <p:nvPr/>
        </p:nvSpPr>
        <p:spPr>
          <a:xfrm>
            <a:off x="3899316"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85" name="직선 연결선 84">
            <a:extLst>
              <a:ext uri="{FF2B5EF4-FFF2-40B4-BE49-F238E27FC236}">
                <a16:creationId xmlns:a16="http://schemas.microsoft.com/office/drawing/2014/main" id="{E9293055-D5CD-4B9E-7F64-64B2D2CA7A52}"/>
              </a:ext>
            </a:extLst>
          </p:cNvPr>
          <p:cNvCxnSpPr/>
          <p:nvPr/>
        </p:nvCxnSpPr>
        <p:spPr>
          <a:xfrm>
            <a:off x="3802090"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58">
            <a:extLst>
              <a:ext uri="{FF2B5EF4-FFF2-40B4-BE49-F238E27FC236}">
                <a16:creationId xmlns:a16="http://schemas.microsoft.com/office/drawing/2014/main" id="{02FC114B-B48B-345F-BD70-2B5A196F5B3E}"/>
              </a:ext>
            </a:extLst>
          </p:cNvPr>
          <p:cNvSpPr txBox="1"/>
          <p:nvPr/>
        </p:nvSpPr>
        <p:spPr>
          <a:xfrm>
            <a:off x="4107311"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87" name="TextBox 86">
            <a:extLst>
              <a:ext uri="{FF2B5EF4-FFF2-40B4-BE49-F238E27FC236}">
                <a16:creationId xmlns:a16="http://schemas.microsoft.com/office/drawing/2014/main" id="{02FC114B-B48B-345F-BD70-2B5A196F5B3E}"/>
              </a:ext>
            </a:extLst>
          </p:cNvPr>
          <p:cNvSpPr txBox="1"/>
          <p:nvPr/>
        </p:nvSpPr>
        <p:spPr>
          <a:xfrm>
            <a:off x="4089407"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88" name="직선 연결선 87">
            <a:extLst>
              <a:ext uri="{FF2B5EF4-FFF2-40B4-BE49-F238E27FC236}">
                <a16:creationId xmlns:a16="http://schemas.microsoft.com/office/drawing/2014/main" id="{E9293055-D5CD-4B9E-7F64-64B2D2CA7A52}"/>
              </a:ext>
            </a:extLst>
          </p:cNvPr>
          <p:cNvCxnSpPr/>
          <p:nvPr/>
        </p:nvCxnSpPr>
        <p:spPr>
          <a:xfrm>
            <a:off x="3802090"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9" name="TextBox 58">
            <a:extLst>
              <a:ext uri="{FF2B5EF4-FFF2-40B4-BE49-F238E27FC236}">
                <a16:creationId xmlns:a16="http://schemas.microsoft.com/office/drawing/2014/main" id="{02FC114B-B48B-345F-BD70-2B5A196F5B3E}"/>
              </a:ext>
            </a:extLst>
          </p:cNvPr>
          <p:cNvSpPr txBox="1"/>
          <p:nvPr/>
        </p:nvSpPr>
        <p:spPr>
          <a:xfrm>
            <a:off x="4336596"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0" name="TextBox 58">
            <a:extLst>
              <a:ext uri="{FF2B5EF4-FFF2-40B4-BE49-F238E27FC236}">
                <a16:creationId xmlns:a16="http://schemas.microsoft.com/office/drawing/2014/main" id="{02FC114B-B48B-345F-BD70-2B5A196F5B3E}"/>
              </a:ext>
            </a:extLst>
          </p:cNvPr>
          <p:cNvSpPr txBox="1"/>
          <p:nvPr/>
        </p:nvSpPr>
        <p:spPr>
          <a:xfrm>
            <a:off x="4089407"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3802090"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TextBox 58">
            <a:extLst>
              <a:ext uri="{FF2B5EF4-FFF2-40B4-BE49-F238E27FC236}">
                <a16:creationId xmlns:a16="http://schemas.microsoft.com/office/drawing/2014/main" id="{02FC114B-B48B-345F-BD70-2B5A196F5B3E}"/>
              </a:ext>
            </a:extLst>
          </p:cNvPr>
          <p:cNvSpPr txBox="1"/>
          <p:nvPr/>
        </p:nvSpPr>
        <p:spPr>
          <a:xfrm>
            <a:off x="4336596"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5" name="TextBox 58">
            <a:extLst>
              <a:ext uri="{FF2B5EF4-FFF2-40B4-BE49-F238E27FC236}">
                <a16:creationId xmlns:a16="http://schemas.microsoft.com/office/drawing/2014/main" id="{02FC114B-B48B-345F-BD70-2B5A196F5B3E}"/>
              </a:ext>
            </a:extLst>
          </p:cNvPr>
          <p:cNvSpPr txBox="1"/>
          <p:nvPr/>
        </p:nvSpPr>
        <p:spPr>
          <a:xfrm>
            <a:off x="4089407"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3802090"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TextBox 58">
            <a:extLst>
              <a:ext uri="{FF2B5EF4-FFF2-40B4-BE49-F238E27FC236}">
                <a16:creationId xmlns:a16="http://schemas.microsoft.com/office/drawing/2014/main" id="{02FC114B-B48B-345F-BD70-2B5A196F5B3E}"/>
              </a:ext>
            </a:extLst>
          </p:cNvPr>
          <p:cNvSpPr txBox="1"/>
          <p:nvPr/>
        </p:nvSpPr>
        <p:spPr>
          <a:xfrm>
            <a:off x="4336596"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101" name="TextBox 58">
            <a:extLst>
              <a:ext uri="{FF2B5EF4-FFF2-40B4-BE49-F238E27FC236}">
                <a16:creationId xmlns:a16="http://schemas.microsoft.com/office/drawing/2014/main" id="{02FC114B-B48B-345F-BD70-2B5A196F5B3E}"/>
              </a:ext>
            </a:extLst>
          </p:cNvPr>
          <p:cNvSpPr txBox="1"/>
          <p:nvPr/>
        </p:nvSpPr>
        <p:spPr>
          <a:xfrm>
            <a:off x="4089407"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8" name="직선 연결선 107">
            <a:extLst>
              <a:ext uri="{FF2B5EF4-FFF2-40B4-BE49-F238E27FC236}">
                <a16:creationId xmlns:a16="http://schemas.microsoft.com/office/drawing/2014/main" id="{E9293055-D5CD-4B9E-7F64-64B2D2CA7A52}"/>
              </a:ext>
            </a:extLst>
          </p:cNvPr>
          <p:cNvCxnSpPr/>
          <p:nvPr/>
        </p:nvCxnSpPr>
        <p:spPr>
          <a:xfrm>
            <a:off x="3802090"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58">
            <a:extLst>
              <a:ext uri="{FF2B5EF4-FFF2-40B4-BE49-F238E27FC236}">
                <a16:creationId xmlns:a16="http://schemas.microsoft.com/office/drawing/2014/main" id="{02FC114B-B48B-345F-BD70-2B5A196F5B3E}"/>
              </a:ext>
            </a:extLst>
          </p:cNvPr>
          <p:cNvSpPr txBox="1"/>
          <p:nvPr/>
        </p:nvSpPr>
        <p:spPr>
          <a:xfrm>
            <a:off x="4336596"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802090"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1" name="TextBox 110">
            <a:extLst>
              <a:ext uri="{FF2B5EF4-FFF2-40B4-BE49-F238E27FC236}">
                <a16:creationId xmlns:a16="http://schemas.microsoft.com/office/drawing/2014/main" id="{FFC49AEA-2A8F-250C-A86A-A7751D9706C3}"/>
              </a:ext>
            </a:extLst>
          </p:cNvPr>
          <p:cNvSpPr txBox="1"/>
          <p:nvPr/>
        </p:nvSpPr>
        <p:spPr>
          <a:xfrm>
            <a:off x="4146505"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12" name="타원 111"/>
          <p:cNvSpPr/>
          <p:nvPr/>
        </p:nvSpPr>
        <p:spPr>
          <a:xfrm>
            <a:off x="3910377"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a:off x="6270239" y="2279636"/>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7" name="사각형: 둥근 모서리 31">
            <a:extLst>
              <a:ext uri="{FF2B5EF4-FFF2-40B4-BE49-F238E27FC236}">
                <a16:creationId xmlns:a16="http://schemas.microsoft.com/office/drawing/2014/main" id="{2AC143EE-93CF-3518-F0CB-8469E98507E0}"/>
              </a:ext>
            </a:extLst>
          </p:cNvPr>
          <p:cNvSpPr/>
          <p:nvPr/>
        </p:nvSpPr>
        <p:spPr>
          <a:xfrm>
            <a:off x="3912489" y="3028158"/>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18" name="사각형: 둥근 모서리 31">
            <a:extLst>
              <a:ext uri="{FF2B5EF4-FFF2-40B4-BE49-F238E27FC236}">
                <a16:creationId xmlns:a16="http://schemas.microsoft.com/office/drawing/2014/main" id="{2AC143EE-93CF-3518-F0CB-8469E98507E0}"/>
              </a:ext>
            </a:extLst>
          </p:cNvPr>
          <p:cNvSpPr/>
          <p:nvPr/>
        </p:nvSpPr>
        <p:spPr>
          <a:xfrm>
            <a:off x="3912489" y="3444097"/>
            <a:ext cx="108000" cy="108000"/>
          </a:xfrm>
          <a:prstGeom prst="roundRect">
            <a:avLst/>
          </a:prstGeom>
          <a:solidFill>
            <a:srgbClr val="0070C0"/>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en-US" sz="700" b="1" i="0" u="none" strike="noStrike" kern="0" cap="none" spc="0" normalizeH="0" baseline="0" noProof="0" dirty="0" smtClean="0">
                <a:ln>
                  <a:noFill/>
                </a:ln>
                <a:solidFill>
                  <a:schemeClr val="bg1"/>
                </a:solidFill>
                <a:effectLst/>
                <a:uLnTx/>
                <a:uFillTx/>
                <a:latin typeface="맑은 고딕"/>
              </a:rPr>
              <a:t>V</a:t>
            </a:r>
            <a:endParaRPr kumimoji="1" lang="en-US" sz="700" b="1" i="0" u="none" strike="noStrike" kern="0" cap="none" spc="0" normalizeH="0" baseline="0" noProof="0" dirty="0">
              <a:ln>
                <a:noFill/>
              </a:ln>
              <a:solidFill>
                <a:schemeClr val="bg1"/>
              </a:solidFill>
              <a:effectLst/>
              <a:uLnTx/>
              <a:uFillTx/>
              <a:latin typeface="맑은 고딕"/>
            </a:endParaRPr>
          </a:p>
        </p:txBody>
      </p:sp>
      <p:sp>
        <p:nvSpPr>
          <p:cNvPr id="119" name="사각형: 둥근 모서리 31">
            <a:extLst>
              <a:ext uri="{FF2B5EF4-FFF2-40B4-BE49-F238E27FC236}">
                <a16:creationId xmlns:a16="http://schemas.microsoft.com/office/drawing/2014/main" id="{2AC143EE-93CF-3518-F0CB-8469E98507E0}"/>
              </a:ext>
            </a:extLst>
          </p:cNvPr>
          <p:cNvSpPr/>
          <p:nvPr/>
        </p:nvSpPr>
        <p:spPr>
          <a:xfrm>
            <a:off x="3912489" y="3861946"/>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0" name="사각형: 둥근 모서리 31">
            <a:extLst>
              <a:ext uri="{FF2B5EF4-FFF2-40B4-BE49-F238E27FC236}">
                <a16:creationId xmlns:a16="http://schemas.microsoft.com/office/drawing/2014/main" id="{2AC143EE-93CF-3518-F0CB-8469E98507E0}"/>
              </a:ext>
            </a:extLst>
          </p:cNvPr>
          <p:cNvSpPr/>
          <p:nvPr/>
        </p:nvSpPr>
        <p:spPr>
          <a:xfrm>
            <a:off x="3912489" y="4277885"/>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1" name="타원 120">
            <a:extLst>
              <a:ext uri="{FF2B5EF4-FFF2-40B4-BE49-F238E27FC236}">
                <a16:creationId xmlns:a16="http://schemas.microsoft.com/office/drawing/2014/main" id="{37A7FF4F-0EAA-1463-560A-D5EC24416103}"/>
              </a:ext>
            </a:extLst>
          </p:cNvPr>
          <p:cNvSpPr/>
          <p:nvPr/>
        </p:nvSpPr>
        <p:spPr>
          <a:xfrm>
            <a:off x="3726896" y="141389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22" name="타원 121">
            <a:extLst>
              <a:ext uri="{FF2B5EF4-FFF2-40B4-BE49-F238E27FC236}">
                <a16:creationId xmlns:a16="http://schemas.microsoft.com/office/drawing/2014/main" id="{37A7FF4F-0EAA-1463-560A-D5EC24416103}"/>
              </a:ext>
            </a:extLst>
          </p:cNvPr>
          <p:cNvSpPr/>
          <p:nvPr/>
        </p:nvSpPr>
        <p:spPr>
          <a:xfrm>
            <a:off x="3726896" y="278359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23" name="타원 122">
            <a:extLst>
              <a:ext uri="{FF2B5EF4-FFF2-40B4-BE49-F238E27FC236}">
                <a16:creationId xmlns:a16="http://schemas.microsoft.com/office/drawing/2014/main" id="{37A7FF4F-0EAA-1463-560A-D5EC24416103}"/>
              </a:ext>
            </a:extLst>
          </p:cNvPr>
          <p:cNvSpPr/>
          <p:nvPr/>
        </p:nvSpPr>
        <p:spPr>
          <a:xfrm>
            <a:off x="3726896"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376152539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복수예비가격 선택 화면</a:t>
            </a:r>
            <a:r>
              <a:rPr lang="en-US" altLang="ko-KR" dirty="0"/>
              <a:t/>
            </a:r>
            <a:br>
              <a:rPr lang="en-US" altLang="ko-KR" dirty="0"/>
            </a:br>
            <a:r>
              <a:rPr lang="en-US" altLang="ko-KR" dirty="0"/>
              <a:t>- </a:t>
            </a:r>
            <a:r>
              <a:rPr lang="ko-KR" altLang="en-US" dirty="0"/>
              <a:t>제목 표시</a:t>
            </a:r>
            <a:r>
              <a:rPr lang="en-US" altLang="ko-KR" dirty="0"/>
              <a:t/>
            </a:r>
            <a:br>
              <a:rPr lang="en-US" altLang="ko-KR" dirty="0"/>
            </a:br>
            <a:r>
              <a:rPr lang="en-US" altLang="ko-KR" dirty="0"/>
              <a:t>- </a:t>
            </a:r>
            <a:r>
              <a:rPr lang="ko-KR" altLang="en-US" dirty="0" err="1"/>
              <a:t>적격심사가</a:t>
            </a:r>
            <a:r>
              <a:rPr lang="ko-KR" altLang="en-US" dirty="0"/>
              <a:t> ‘</a:t>
            </a:r>
            <a:r>
              <a:rPr lang="en-US" altLang="ko-KR" dirty="0"/>
              <a:t>Y’ </a:t>
            </a:r>
            <a:r>
              <a:rPr lang="ko-KR" altLang="en-US" dirty="0"/>
              <a:t>또는 </a:t>
            </a:r>
            <a:r>
              <a:rPr lang="ko-KR" altLang="en-US" dirty="0" err="1"/>
              <a:t>계약방법이</a:t>
            </a:r>
            <a:r>
              <a:rPr lang="ko-KR" altLang="en-US" dirty="0"/>
              <a:t> ‘</a:t>
            </a:r>
            <a:r>
              <a:rPr lang="en-US" altLang="ko-KR" dirty="0"/>
              <a:t>F(</a:t>
            </a:r>
            <a:r>
              <a:rPr lang="ko-KR" altLang="en-US" dirty="0" err="1"/>
              <a:t>협상에의한계약</a:t>
            </a:r>
            <a:r>
              <a:rPr lang="en-US" altLang="ko-KR" dirty="0"/>
              <a:t>(</a:t>
            </a:r>
            <a:r>
              <a:rPr lang="ko-KR" altLang="en-US" dirty="0"/>
              <a:t>서류</a:t>
            </a:r>
            <a:r>
              <a:rPr lang="en-US" altLang="ko-KR" dirty="0"/>
              <a:t>))’</a:t>
            </a:r>
            <a:r>
              <a:rPr lang="ko-KR" altLang="en-US" dirty="0"/>
              <a:t>또는’</a:t>
            </a:r>
            <a:r>
              <a:rPr lang="en-US" altLang="ko-KR" dirty="0"/>
              <a:t>J(</a:t>
            </a:r>
            <a:r>
              <a:rPr lang="ko-KR" altLang="en-US" dirty="0" err="1"/>
              <a:t>종합낙찰제</a:t>
            </a:r>
            <a:r>
              <a:rPr lang="en-US" altLang="ko-KR" dirty="0"/>
              <a:t>)’</a:t>
            </a:r>
            <a:r>
              <a:rPr lang="ko-KR" altLang="en-US" dirty="0"/>
              <a:t>또는’</a:t>
            </a:r>
            <a:r>
              <a:rPr lang="en-US" altLang="ko-KR" dirty="0"/>
              <a:t>P(</a:t>
            </a:r>
            <a:r>
              <a:rPr lang="ko-KR" altLang="en-US" dirty="0" err="1"/>
              <a:t>협상에의한계약</a:t>
            </a:r>
            <a:r>
              <a:rPr lang="en-US" altLang="ko-KR" dirty="0"/>
              <a:t>(</a:t>
            </a:r>
            <a:r>
              <a:rPr lang="ko-KR" altLang="en-US" dirty="0"/>
              <a:t>전자</a:t>
            </a:r>
            <a:r>
              <a:rPr lang="en-US" altLang="ko-KR" dirty="0"/>
              <a:t>))’</a:t>
            </a:r>
            <a:r>
              <a:rPr lang="ko-KR" altLang="en-US" dirty="0"/>
              <a:t>이지 않고</a:t>
            </a:r>
            <a:r>
              <a:rPr lang="en-US" altLang="ko-KR" dirty="0"/>
              <a:t>, </a:t>
            </a:r>
            <a:r>
              <a:rPr lang="ko-KR" altLang="en-US" dirty="0" err="1"/>
              <a:t>공고일자가</a:t>
            </a:r>
            <a:r>
              <a:rPr lang="ko-KR" altLang="en-US" dirty="0"/>
              <a:t> </a:t>
            </a:r>
            <a:r>
              <a:rPr lang="en-US" altLang="ko-KR" dirty="0"/>
              <a:t>20210415 </a:t>
            </a:r>
            <a:r>
              <a:rPr lang="ko-KR" altLang="en-US" dirty="0"/>
              <a:t>이전인 경우</a:t>
            </a:r>
            <a:r>
              <a:rPr lang="en-US" altLang="ko-KR" dirty="0"/>
              <a:t>, </a:t>
            </a:r>
            <a:r>
              <a:rPr lang="ko-KR" altLang="en-US" dirty="0"/>
              <a:t>경우에 따라 </a:t>
            </a:r>
            <a:r>
              <a:rPr lang="ko-KR" altLang="en-US" dirty="0" err="1"/>
              <a:t>동가낙찰</a:t>
            </a:r>
            <a:r>
              <a:rPr lang="ko-KR" altLang="en-US" dirty="0"/>
              <a:t> </a:t>
            </a:r>
            <a:r>
              <a:rPr lang="ko-KR" altLang="en-US" dirty="0" err="1"/>
              <a:t>선추첨</a:t>
            </a:r>
            <a:r>
              <a:rPr lang="ko-KR" altLang="en-US" dirty="0"/>
              <a:t> 보이기</a:t>
            </a:r>
            <a:r>
              <a:rPr lang="en-US" altLang="ko-KR" dirty="0"/>
              <a:t/>
            </a:r>
            <a:br>
              <a:rPr lang="en-US" altLang="ko-KR" dirty="0"/>
            </a:br>
            <a:r>
              <a:rPr lang="en-US" altLang="ko-KR" dirty="0"/>
              <a:t>- </a:t>
            </a:r>
            <a:r>
              <a:rPr lang="ko-KR" altLang="en-US" dirty="0" err="1"/>
              <a:t>계약방법이</a:t>
            </a:r>
            <a:r>
              <a:rPr lang="ko-KR" altLang="en-US" dirty="0"/>
              <a:t> ‘</a:t>
            </a:r>
            <a:r>
              <a:rPr lang="en-US" altLang="ko-KR" dirty="0"/>
              <a:t>G’</a:t>
            </a:r>
            <a:r>
              <a:rPr lang="ko-KR" altLang="en-US" dirty="0"/>
              <a:t>또는‘</a:t>
            </a:r>
            <a:r>
              <a:rPr lang="en-US" altLang="ko-KR" dirty="0"/>
              <a:t>H’</a:t>
            </a:r>
            <a:r>
              <a:rPr lang="ko-KR" altLang="en-US" dirty="0"/>
              <a:t>이고 </a:t>
            </a:r>
            <a:r>
              <a:rPr lang="ko-KR" altLang="en-US" dirty="0" err="1"/>
              <a:t>공고일자가</a:t>
            </a:r>
            <a:r>
              <a:rPr lang="ko-KR" altLang="en-US" dirty="0"/>
              <a:t> </a:t>
            </a:r>
            <a:r>
              <a:rPr lang="en-US" altLang="ko-KR" dirty="0"/>
              <a:t>2020111 </a:t>
            </a:r>
            <a:r>
              <a:rPr lang="ko-KR" altLang="en-US" dirty="0"/>
              <a:t>이전인 경우 </a:t>
            </a:r>
            <a:r>
              <a:rPr lang="ko-KR" altLang="en-US" dirty="0" err="1"/>
              <a:t>동가낙찰</a:t>
            </a:r>
            <a:r>
              <a:rPr lang="ko-KR" altLang="en-US" dirty="0"/>
              <a:t> </a:t>
            </a:r>
            <a:r>
              <a:rPr lang="ko-KR" altLang="en-US" dirty="0" err="1"/>
              <a:t>선추첨</a:t>
            </a:r>
            <a:r>
              <a:rPr lang="ko-KR" altLang="en-US" dirty="0"/>
              <a:t> 숨기기</a:t>
            </a:r>
            <a:endParaRPr lang="en-US" altLang="ko-KR" dirty="0"/>
          </a:p>
          <a:p>
            <a:pPr marL="228600" indent="-228600">
              <a:buFont typeface="+mj-lt"/>
              <a:buAutoNum type="arabicPeriod"/>
            </a:pPr>
            <a:r>
              <a:rPr lang="ko-KR" altLang="en-US" dirty="0" err="1"/>
              <a:t>회차</a:t>
            </a:r>
            <a:r>
              <a:rPr lang="ko-KR" altLang="en-US" dirty="0"/>
              <a:t> 선택 값 표시</a:t>
            </a:r>
            <a:r>
              <a:rPr lang="en-US" altLang="ko-KR" dirty="0"/>
              <a:t/>
            </a:r>
            <a:br>
              <a:rPr lang="en-US" altLang="ko-KR" dirty="0"/>
            </a:br>
            <a:r>
              <a:rPr lang="en-US" altLang="ko-KR" dirty="0"/>
              <a:t>- </a:t>
            </a:r>
            <a:r>
              <a:rPr lang="ko-KR" altLang="en-US" dirty="0"/>
              <a:t>기본값 </a:t>
            </a:r>
            <a:r>
              <a:rPr lang="en-US" altLang="ko-KR" dirty="0"/>
              <a:t>: </a:t>
            </a:r>
            <a:r>
              <a:rPr lang="ko-KR" altLang="en-US" dirty="0" err="1"/>
              <a:t>미선택</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smtClean="0">
                <a:latin typeface="+mn-ea"/>
              </a:rPr>
              <a:t>동가낙찰선추첨</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a:t>
            </a:r>
            <a:r>
              <a:rPr lang="ko-KR" altLang="en-US" dirty="0" err="1">
                <a:latin typeface="+mn-ea"/>
              </a:rPr>
              <a:t>동가낙찰</a:t>
            </a:r>
            <a:r>
              <a:rPr lang="ko-KR" altLang="en-US" dirty="0">
                <a:latin typeface="+mn-ea"/>
              </a:rPr>
              <a:t> </a:t>
            </a:r>
            <a:r>
              <a:rPr lang="ko-KR" altLang="en-US" dirty="0" err="1">
                <a:latin typeface="+mn-ea"/>
              </a:rPr>
              <a:t>선추첨</a:t>
            </a:r>
            <a:r>
              <a:rPr lang="ko-KR" altLang="en-US" dirty="0">
                <a:latin typeface="+mn-ea"/>
              </a:rPr>
              <a:t>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동가낙찰</a:t>
            </a:r>
            <a:r>
              <a:rPr lang="ko-KR" altLang="en-US" dirty="0">
                <a:latin typeface="+mn-ea"/>
              </a:rPr>
              <a:t> </a:t>
            </a:r>
            <a:r>
              <a:rPr lang="ko-KR" altLang="en-US" dirty="0" err="1">
                <a:latin typeface="+mn-ea"/>
              </a:rPr>
              <a:t>선추첨</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MUI-BD-06-M06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323792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203671"/>
            <a:ext cx="2451575" cy="181140"/>
          </a:xfrm>
          <a:prstGeom prst="rect">
            <a:avLst/>
          </a:prstGeom>
          <a:noFill/>
        </p:spPr>
        <p:txBody>
          <a:bodyPr wrap="square" lIns="0" tIns="0" rIns="0" bIns="0" rtlCol="0">
            <a:spAutoFit/>
          </a:bodyPr>
          <a:lstStyle/>
          <a:p>
            <a:pPr>
              <a:lnSpc>
                <a:spcPct val="200000"/>
              </a:lnSpc>
            </a:pP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sp>
        <p:nvSpPr>
          <p:cNvPr id="169" name="직사각형 168"/>
          <p:cNvSpPr/>
          <p:nvPr/>
        </p:nvSpPr>
        <p:spPr>
          <a:xfrm>
            <a:off x="722232" y="3494913"/>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94912"/>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차</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94912"/>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가위</a:t>
            </a:r>
            <a:endParaRPr lang="en-US" altLang="ko-KR" sz="700" dirty="0">
              <a:latin typeface="+mn-ea"/>
            </a:endParaRPr>
          </a:p>
        </p:txBody>
      </p:sp>
      <p:grpSp>
        <p:nvGrpSpPr>
          <p:cNvPr id="172" name="그룹 171"/>
          <p:cNvGrpSpPr/>
          <p:nvPr/>
        </p:nvGrpSpPr>
        <p:grpSpPr>
          <a:xfrm>
            <a:off x="720139" y="3494912"/>
            <a:ext cx="2630093" cy="214740"/>
            <a:chOff x="701175" y="1835481"/>
            <a:chExt cx="2630093" cy="21474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61" name="직선 연결선 160">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b="1" dirty="0">
                <a:latin typeface="+mn-ea"/>
              </a:rPr>
              <a:t>6. </a:t>
            </a:r>
            <a:r>
              <a:rPr lang="ko-KR" altLang="en-US" sz="700" b="1" dirty="0" err="1">
                <a:latin typeface="+mn-ea"/>
              </a:rPr>
              <a:t>동가낙찰</a:t>
            </a:r>
            <a:r>
              <a:rPr lang="ko-KR" altLang="en-US" sz="700" b="1" dirty="0">
                <a:latin typeface="+mn-ea"/>
              </a:rPr>
              <a:t> </a:t>
            </a:r>
            <a:r>
              <a:rPr lang="ko-KR" altLang="en-US" sz="700" b="1" dirty="0" err="1">
                <a:latin typeface="+mn-ea"/>
              </a:rPr>
              <a:t>선추첨</a:t>
            </a:r>
            <a:endParaRPr lang="ko-KR" altLang="en-US" sz="700" b="1" dirty="0">
              <a:latin typeface="+mn-ea"/>
            </a:endParaRP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2125944" y="2424523"/>
            <a:ext cx="793186"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8" name="그룹 167"/>
          <p:cNvGrpSpPr/>
          <p:nvPr/>
        </p:nvGrpSpPr>
        <p:grpSpPr>
          <a:xfrm>
            <a:off x="2919130" y="2169793"/>
            <a:ext cx="422853" cy="187961"/>
            <a:chOff x="3641308" y="2234886"/>
            <a:chExt cx="422853" cy="187961"/>
          </a:xfrm>
        </p:grpSpPr>
        <p:sp>
          <p:nvSpPr>
            <p:cNvPr id="180" name="타원 17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3" name="그룹 2"/>
          <p:cNvGrpSpPr/>
          <p:nvPr/>
        </p:nvGrpSpPr>
        <p:grpSpPr>
          <a:xfrm>
            <a:off x="715534" y="3769079"/>
            <a:ext cx="2621844" cy="253957"/>
            <a:chOff x="715534" y="3647256"/>
            <a:chExt cx="2621844" cy="288000"/>
          </a:xfrm>
        </p:grpSpPr>
        <p:sp>
          <p:nvSpPr>
            <p:cNvPr id="109" name="모서리가 둥근 직사각형 108"/>
            <p:cNvSpPr/>
            <p:nvPr/>
          </p:nvSpPr>
          <p:spPr>
            <a:xfrm>
              <a:off x="715534" y="3647256"/>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rgbClr val="0070C0"/>
                  </a:solidFill>
                </a:rPr>
                <a:t>가위</a:t>
              </a:r>
            </a:p>
          </p:txBody>
        </p:sp>
        <p:sp>
          <p:nvSpPr>
            <p:cNvPr id="188" name="모서리가 둥근 직사각형 187"/>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바위</a:t>
              </a:r>
            </a:p>
          </p:txBody>
        </p:sp>
        <p:sp>
          <p:nvSpPr>
            <p:cNvPr id="189" name="모서리가 둥근 직사각형 188"/>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보</a:t>
              </a:r>
            </a:p>
          </p:txBody>
        </p:sp>
      </p:grpSp>
      <p:sp>
        <p:nvSpPr>
          <p:cNvPr id="213" name="모서리가 둥근 직사각형 212"/>
          <p:cNvSpPr/>
          <p:nvPr/>
        </p:nvSpPr>
        <p:spPr>
          <a:xfrm>
            <a:off x="714576" y="2538293"/>
            <a:ext cx="2652743" cy="626289"/>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TextBox 213">
            <a:extLst>
              <a:ext uri="{FF2B5EF4-FFF2-40B4-BE49-F238E27FC236}">
                <a16:creationId xmlns:a16="http://schemas.microsoft.com/office/drawing/2014/main" id="{FFC49AEA-2A8F-250C-A86A-A7751D9706C3}"/>
              </a:ext>
            </a:extLst>
          </p:cNvPr>
          <p:cNvSpPr txBox="1"/>
          <p:nvPr/>
        </p:nvSpPr>
        <p:spPr>
          <a:xfrm>
            <a:off x="803346" y="2636577"/>
            <a:ext cx="2475203" cy="430887"/>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err="1">
                <a:latin typeface="맑은 고딕" panose="020B0503020000020004" pitchFamily="50" charset="-127"/>
              </a:rPr>
              <a:t>동가입찰시</a:t>
            </a:r>
            <a:r>
              <a:rPr lang="ko-KR" altLang="en-US" sz="700" dirty="0">
                <a:latin typeface="맑은 고딕" panose="020B0503020000020004" pitchFamily="50" charset="-127"/>
              </a:rPr>
              <a:t> 낙찰자 결정을 위해 </a:t>
            </a:r>
            <a:r>
              <a:rPr lang="en-US" altLang="ko-KR" sz="700" dirty="0">
                <a:latin typeface="맑은 고딕" panose="020B0503020000020004" pitchFamily="50" charset="-127"/>
              </a:rPr>
              <a:t>[</a:t>
            </a:r>
            <a:r>
              <a:rPr lang="ko-KR" altLang="en-US" sz="700" dirty="0">
                <a:latin typeface="맑은 고딕" panose="020B0503020000020004" pitchFamily="50" charset="-127"/>
              </a:rPr>
              <a:t>가위</a:t>
            </a:r>
            <a:r>
              <a:rPr lang="en-US" altLang="ko-KR" sz="700" dirty="0">
                <a:latin typeface="맑은 고딕" panose="020B0503020000020004" pitchFamily="50" charset="-127"/>
              </a:rPr>
              <a:t>, </a:t>
            </a:r>
            <a:r>
              <a:rPr lang="ko-KR" altLang="en-US" sz="700" dirty="0">
                <a:latin typeface="맑은 고딕" panose="020B0503020000020004" pitchFamily="50" charset="-127"/>
              </a:rPr>
              <a:t>바위</a:t>
            </a:r>
            <a:r>
              <a:rPr lang="en-US" altLang="ko-KR" sz="700" dirty="0">
                <a:latin typeface="맑은 고딕" panose="020B0503020000020004" pitchFamily="50" charset="-127"/>
              </a:rPr>
              <a:t>, </a:t>
            </a:r>
            <a:r>
              <a:rPr lang="ko-KR" altLang="en-US" sz="700" dirty="0">
                <a:latin typeface="맑은 고딕" panose="020B0503020000020004" pitchFamily="50" charset="-127"/>
              </a:rPr>
              <a:t>보</a:t>
            </a:r>
            <a:r>
              <a:rPr lang="en-US" altLang="ko-KR" sz="700" dirty="0">
                <a:latin typeface="맑은 고딕" panose="020B0503020000020004" pitchFamily="50" charset="-127"/>
              </a:rPr>
              <a:t>]</a:t>
            </a:r>
            <a:r>
              <a:rPr lang="ko-KR" altLang="en-US" sz="700" dirty="0">
                <a:latin typeface="맑은 고딕" panose="020B0503020000020004" pitchFamily="50" charset="-127"/>
              </a:rPr>
              <a:t>를 </a:t>
            </a:r>
            <a:r>
              <a:rPr lang="en-US" altLang="ko-KR" sz="700" dirty="0">
                <a:latin typeface="맑은 고딕" panose="020B0503020000020004" pitchFamily="50" charset="-127"/>
              </a:rPr>
              <a:t>5</a:t>
            </a:r>
            <a:r>
              <a:rPr lang="ko-KR" altLang="en-US" sz="700" dirty="0">
                <a:latin typeface="맑은 고딕" panose="020B0503020000020004" pitchFamily="50" charset="-127"/>
              </a:rPr>
              <a:t>차까지 선택합니다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p:txBody>
      </p:sp>
      <p:sp>
        <p:nvSpPr>
          <p:cNvPr id="215" name="타원 214"/>
          <p:cNvSpPr/>
          <p:nvPr/>
        </p:nvSpPr>
        <p:spPr>
          <a:xfrm>
            <a:off x="799388" y="262692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6" name="그룹 215"/>
          <p:cNvGrpSpPr/>
          <p:nvPr/>
        </p:nvGrpSpPr>
        <p:grpSpPr>
          <a:xfrm flipV="1">
            <a:off x="3148209" y="2675424"/>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31876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31" name="타원 230">
            <a:extLst>
              <a:ext uri="{FF2B5EF4-FFF2-40B4-BE49-F238E27FC236}">
                <a16:creationId xmlns:a16="http://schemas.microsoft.com/office/drawing/2014/main" id="{37A7FF4F-0EAA-1463-560A-D5EC24416103}"/>
              </a:ext>
            </a:extLst>
          </p:cNvPr>
          <p:cNvSpPr/>
          <p:nvPr/>
        </p:nvSpPr>
        <p:spPr>
          <a:xfrm>
            <a:off x="589334" y="35076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79" name="직사각형 78"/>
          <p:cNvSpPr/>
          <p:nvPr/>
        </p:nvSpPr>
        <p:spPr>
          <a:xfrm>
            <a:off x="722232" y="4079653"/>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0" name="TextBox 79">
            <a:extLst>
              <a:ext uri="{FF2B5EF4-FFF2-40B4-BE49-F238E27FC236}">
                <a16:creationId xmlns:a16="http://schemas.microsoft.com/office/drawing/2014/main" id="{FFC49AEA-2A8F-250C-A86A-A7751D9706C3}"/>
              </a:ext>
            </a:extLst>
          </p:cNvPr>
          <p:cNvSpPr txBox="1"/>
          <p:nvPr/>
        </p:nvSpPr>
        <p:spPr>
          <a:xfrm>
            <a:off x="809295" y="4079652"/>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2</a:t>
            </a:r>
            <a:r>
              <a:rPr lang="ko-KR" altLang="en-US" sz="700" dirty="0">
                <a:latin typeface="+mn-ea"/>
              </a:rPr>
              <a:t>차</a:t>
            </a:r>
            <a:endParaRPr lang="en-US" altLang="ko-KR" sz="700" dirty="0">
              <a:latin typeface="+mn-ea"/>
            </a:endParaRPr>
          </a:p>
        </p:txBody>
      </p:sp>
      <p:sp>
        <p:nvSpPr>
          <p:cNvPr id="81" name="TextBox 80">
            <a:extLst>
              <a:ext uri="{FF2B5EF4-FFF2-40B4-BE49-F238E27FC236}">
                <a16:creationId xmlns:a16="http://schemas.microsoft.com/office/drawing/2014/main" id="{FFC49AEA-2A8F-250C-A86A-A7751D9706C3}"/>
              </a:ext>
            </a:extLst>
          </p:cNvPr>
          <p:cNvSpPr txBox="1"/>
          <p:nvPr/>
        </p:nvSpPr>
        <p:spPr>
          <a:xfrm>
            <a:off x="1566144" y="4079652"/>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바위</a:t>
            </a:r>
            <a:endParaRPr lang="en-US" altLang="ko-KR" sz="700" dirty="0">
              <a:latin typeface="+mn-ea"/>
            </a:endParaRPr>
          </a:p>
        </p:txBody>
      </p:sp>
      <p:grpSp>
        <p:nvGrpSpPr>
          <p:cNvPr id="82" name="그룹 81"/>
          <p:cNvGrpSpPr/>
          <p:nvPr/>
        </p:nvGrpSpPr>
        <p:grpSpPr>
          <a:xfrm>
            <a:off x="720139" y="4079652"/>
            <a:ext cx="2630093" cy="214740"/>
            <a:chOff x="701175" y="1835481"/>
            <a:chExt cx="2630093" cy="214740"/>
          </a:xfrm>
        </p:grpSpPr>
        <p:cxnSp>
          <p:nvCxnSpPr>
            <p:cNvPr id="83" name="직선 연결선 8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85" name="그룹 84"/>
          <p:cNvGrpSpPr/>
          <p:nvPr/>
        </p:nvGrpSpPr>
        <p:grpSpPr>
          <a:xfrm>
            <a:off x="715534" y="4353819"/>
            <a:ext cx="2621844" cy="253957"/>
            <a:chOff x="715534" y="3647256"/>
            <a:chExt cx="2621844" cy="288000"/>
          </a:xfrm>
        </p:grpSpPr>
        <p:sp>
          <p:nvSpPr>
            <p:cNvPr id="86" name="모서리가 둥근 직사각형 85"/>
            <p:cNvSpPr/>
            <p:nvPr/>
          </p:nvSpPr>
          <p:spPr>
            <a:xfrm>
              <a:off x="715534"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가위</a:t>
              </a:r>
            </a:p>
          </p:txBody>
        </p:sp>
        <p:sp>
          <p:nvSpPr>
            <p:cNvPr id="87" name="모서리가 둥근 직사각형 86"/>
            <p:cNvSpPr/>
            <p:nvPr/>
          </p:nvSpPr>
          <p:spPr>
            <a:xfrm>
              <a:off x="1611553" y="3647256"/>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rgbClr val="0070C0"/>
                  </a:solidFill>
                </a:rPr>
                <a:t>바위</a:t>
              </a:r>
            </a:p>
          </p:txBody>
        </p:sp>
        <p:sp>
          <p:nvSpPr>
            <p:cNvPr id="88" name="모서리가 둥근 직사각형 87"/>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보</a:t>
              </a:r>
            </a:p>
          </p:txBody>
        </p:sp>
      </p:grpSp>
      <p:sp>
        <p:nvSpPr>
          <p:cNvPr id="89" name="직사각형 88"/>
          <p:cNvSpPr/>
          <p:nvPr/>
        </p:nvSpPr>
        <p:spPr>
          <a:xfrm>
            <a:off x="722232" y="4644760"/>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809295" y="4644759"/>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3</a:t>
            </a:r>
            <a:r>
              <a:rPr lang="ko-KR" altLang="en-US" sz="700" dirty="0">
                <a:latin typeface="+mn-ea"/>
              </a:rPr>
              <a:t>차</a:t>
            </a:r>
            <a:endParaRPr lang="en-US" altLang="ko-KR" sz="7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1566144" y="4644759"/>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가위</a:t>
            </a:r>
            <a:endParaRPr lang="en-US" altLang="ko-KR" sz="700" dirty="0">
              <a:latin typeface="+mn-ea"/>
            </a:endParaRPr>
          </a:p>
        </p:txBody>
      </p:sp>
      <p:grpSp>
        <p:nvGrpSpPr>
          <p:cNvPr id="92" name="그룹 91"/>
          <p:cNvGrpSpPr/>
          <p:nvPr/>
        </p:nvGrpSpPr>
        <p:grpSpPr>
          <a:xfrm>
            <a:off x="720139" y="4644759"/>
            <a:ext cx="2630093" cy="214740"/>
            <a:chOff x="701175" y="1835481"/>
            <a:chExt cx="2630093" cy="214740"/>
          </a:xfrm>
        </p:grpSpPr>
        <p:cxnSp>
          <p:nvCxnSpPr>
            <p:cNvPr id="93" name="직선 연결선 9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5" name="그룹 94"/>
          <p:cNvGrpSpPr/>
          <p:nvPr/>
        </p:nvGrpSpPr>
        <p:grpSpPr>
          <a:xfrm>
            <a:off x="715534" y="4918926"/>
            <a:ext cx="2621844" cy="253957"/>
            <a:chOff x="715534" y="3647256"/>
            <a:chExt cx="2621844" cy="288000"/>
          </a:xfrm>
        </p:grpSpPr>
        <p:sp>
          <p:nvSpPr>
            <p:cNvPr id="96" name="모서리가 둥근 직사각형 95"/>
            <p:cNvSpPr/>
            <p:nvPr/>
          </p:nvSpPr>
          <p:spPr>
            <a:xfrm>
              <a:off x="715534" y="3647256"/>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rgbClr val="0070C0"/>
                  </a:solidFill>
                </a:rPr>
                <a:t>가위</a:t>
              </a:r>
            </a:p>
          </p:txBody>
        </p:sp>
        <p:sp>
          <p:nvSpPr>
            <p:cNvPr id="97" name="모서리가 둥근 직사각형 96"/>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바위</a:t>
              </a:r>
            </a:p>
          </p:txBody>
        </p:sp>
        <p:sp>
          <p:nvSpPr>
            <p:cNvPr id="98" name="모서리가 둥근 직사각형 97"/>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보</a:t>
              </a:r>
            </a:p>
          </p:txBody>
        </p:sp>
      </p:grpSp>
      <p:sp>
        <p:nvSpPr>
          <p:cNvPr id="99" name="직사각형 98"/>
          <p:cNvSpPr/>
          <p:nvPr/>
        </p:nvSpPr>
        <p:spPr>
          <a:xfrm>
            <a:off x="722232" y="5229500"/>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TextBox 99">
            <a:extLst>
              <a:ext uri="{FF2B5EF4-FFF2-40B4-BE49-F238E27FC236}">
                <a16:creationId xmlns:a16="http://schemas.microsoft.com/office/drawing/2014/main" id="{FFC49AEA-2A8F-250C-A86A-A7751D9706C3}"/>
              </a:ext>
            </a:extLst>
          </p:cNvPr>
          <p:cNvSpPr txBox="1"/>
          <p:nvPr/>
        </p:nvSpPr>
        <p:spPr>
          <a:xfrm>
            <a:off x="809295" y="5229499"/>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4</a:t>
            </a:r>
            <a:r>
              <a:rPr lang="ko-KR" altLang="en-US" sz="700" dirty="0">
                <a:latin typeface="+mn-ea"/>
              </a:rPr>
              <a:t>차</a:t>
            </a:r>
            <a:endParaRPr lang="en-US" altLang="ko-KR"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1566144" y="5229499"/>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a:t>
            </a:r>
          </a:p>
        </p:txBody>
      </p:sp>
      <p:grpSp>
        <p:nvGrpSpPr>
          <p:cNvPr id="102" name="그룹 101"/>
          <p:cNvGrpSpPr/>
          <p:nvPr/>
        </p:nvGrpSpPr>
        <p:grpSpPr>
          <a:xfrm>
            <a:off x="720139" y="5229499"/>
            <a:ext cx="2630093" cy="214740"/>
            <a:chOff x="701175" y="1835481"/>
            <a:chExt cx="2630093" cy="214740"/>
          </a:xfrm>
        </p:grpSpPr>
        <p:cxnSp>
          <p:nvCxnSpPr>
            <p:cNvPr id="103" name="직선 연결선 10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5" name="그룹 104"/>
          <p:cNvGrpSpPr/>
          <p:nvPr/>
        </p:nvGrpSpPr>
        <p:grpSpPr>
          <a:xfrm>
            <a:off x="715534" y="5503666"/>
            <a:ext cx="2621844" cy="253957"/>
            <a:chOff x="715534" y="3647256"/>
            <a:chExt cx="2621844" cy="288000"/>
          </a:xfrm>
        </p:grpSpPr>
        <p:sp>
          <p:nvSpPr>
            <p:cNvPr id="106" name="모서리가 둥근 직사각형 105"/>
            <p:cNvSpPr/>
            <p:nvPr/>
          </p:nvSpPr>
          <p:spPr>
            <a:xfrm>
              <a:off x="715534"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가위</a:t>
              </a:r>
            </a:p>
          </p:txBody>
        </p:sp>
        <p:sp>
          <p:nvSpPr>
            <p:cNvPr id="107" name="모서리가 둥근 직사각형 106"/>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바위</a:t>
              </a:r>
            </a:p>
          </p:txBody>
        </p:sp>
        <p:sp>
          <p:nvSpPr>
            <p:cNvPr id="108" name="모서리가 둥근 직사각형 107"/>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보</a:t>
              </a:r>
            </a:p>
          </p:txBody>
        </p:sp>
      </p:gr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135298005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endParaRPr lang="en-US" altLang="ko-KR" dirty="0"/>
          </a:p>
          <a:p>
            <a:pPr marL="228600" indent="-228600">
              <a:buFont typeface="+mj-lt"/>
              <a:buAutoNum type="arabicPeriod"/>
            </a:pPr>
            <a:r>
              <a:rPr lang="ko-KR" altLang="en-US" dirty="0"/>
              <a:t>약관 동의 항목 필요에 따라 노출</a:t>
            </a:r>
            <a:r>
              <a:rPr lang="en-US" altLang="ko-KR" dirty="0"/>
              <a:t/>
            </a:r>
            <a:br>
              <a:rPr lang="en-US" altLang="ko-KR" dirty="0"/>
            </a:br>
            <a:r>
              <a:rPr lang="en-US" altLang="ko-KR" dirty="0"/>
              <a:t>- </a:t>
            </a:r>
            <a:r>
              <a:rPr lang="ko-KR" altLang="en-US" dirty="0"/>
              <a:t>팝업에서 동의는 서약서와 </a:t>
            </a:r>
            <a:r>
              <a:rPr lang="ko-KR" altLang="en-US" dirty="0" smtClean="0"/>
              <a:t>동일</a:t>
            </a:r>
            <a:r>
              <a:rPr lang="en-US" altLang="ko-KR" dirty="0" smtClean="0"/>
              <a:t/>
            </a:r>
            <a:br>
              <a:rPr lang="en-US" altLang="ko-KR" dirty="0" smtClean="0"/>
            </a:br>
            <a:r>
              <a:rPr lang="en-US" altLang="ko-KR" dirty="0" smtClean="0"/>
              <a:t>1-1] </a:t>
            </a:r>
            <a:r>
              <a:rPr lang="ko-KR" altLang="en-US" dirty="0" smtClean="0"/>
              <a:t>보기 </a:t>
            </a:r>
            <a:r>
              <a:rPr lang="ko-KR" altLang="en-US" dirty="0" err="1" smtClean="0"/>
              <a:t>클릭시</a:t>
            </a:r>
            <a:r>
              <a:rPr lang="ko-KR" altLang="en-US" dirty="0" smtClean="0"/>
              <a:t> 동의서 상세 </a:t>
            </a:r>
            <a:r>
              <a:rPr lang="ko-KR" altLang="en-US" dirty="0" err="1" smtClean="0"/>
              <a:t>바텀시트</a:t>
            </a:r>
            <a:r>
              <a:rPr lang="ko-KR" altLang="en-US" dirty="0" smtClean="0"/>
              <a:t> 노출</a:t>
            </a:r>
            <a:endParaRPr lang="en-US" altLang="ko-KR" dirty="0" smtClean="0"/>
          </a:p>
          <a:p>
            <a:pPr marL="228600" indent="-228600">
              <a:buFont typeface="+mj-lt"/>
              <a:buAutoNum type="arabicPeriod"/>
            </a:pPr>
            <a:r>
              <a:rPr lang="ko-KR" altLang="en-US" dirty="0" smtClean="0"/>
              <a:t>제출하기 클릭 시 전자서명 호출</a:t>
            </a:r>
            <a:r>
              <a:rPr lang="en-US" altLang="ko-KR" dirty="0" smtClean="0"/>
              <a:t/>
            </a:r>
            <a:br>
              <a:rPr lang="en-US" altLang="ko-KR" dirty="0" smtClean="0"/>
            </a:br>
            <a:r>
              <a:rPr lang="en-US" altLang="ko-KR" dirty="0" smtClean="0"/>
              <a:t>- (</a:t>
            </a:r>
            <a:r>
              <a:rPr lang="en-US" altLang="ko-KR" dirty="0">
                <a:solidFill>
                  <a:srgbClr val="000000"/>
                </a:solidFill>
                <a:latin typeface="맑은 고딕" panose="020B0503020000020004" pitchFamily="50" charset="-127"/>
              </a:rPr>
              <a:t>MUI-BD-04-M21</a:t>
            </a:r>
            <a:r>
              <a:rPr lang="en-US" altLang="ko-KR" dirty="0" smtClean="0"/>
              <a:t>)</a:t>
            </a:r>
            <a:br>
              <a:rPr lang="en-US" altLang="ko-KR" dirty="0" smtClean="0"/>
            </a:br>
            <a:r>
              <a:rPr lang="en-US" altLang="ko-KR" sz="700" dirty="0" smtClean="0"/>
              <a:t>- </a:t>
            </a:r>
            <a:r>
              <a:rPr lang="ko-KR" altLang="en-US" sz="700" dirty="0"/>
              <a:t>인증센터는 한국정보인증 스마트 </a:t>
            </a:r>
            <a:r>
              <a:rPr lang="en-US" altLang="ko-KR" sz="700" dirty="0"/>
              <a:t>PKI </a:t>
            </a:r>
            <a:r>
              <a:rPr lang="ko-KR" altLang="en-US" sz="700" dirty="0"/>
              <a:t>솔루션을 사용함</a:t>
            </a:r>
            <a:r>
              <a:rPr lang="en-US" altLang="ko-KR" sz="700" dirty="0"/>
              <a:t>.  </a:t>
            </a:r>
            <a:r>
              <a:rPr lang="en-US" altLang="ko-KR" sz="700" dirty="0" smtClean="0"/>
              <a:t/>
            </a:r>
            <a:br>
              <a:rPr lang="en-US" altLang="ko-KR" sz="700" dirty="0" smtClean="0"/>
            </a:br>
            <a:r>
              <a:rPr lang="en-US" altLang="ko-KR" sz="700" dirty="0" err="1" smtClean="0"/>
              <a:t>SmartPKI</a:t>
            </a:r>
            <a:r>
              <a:rPr lang="en-US" altLang="ko-KR" sz="700" dirty="0" smtClean="0"/>
              <a:t> </a:t>
            </a:r>
            <a:r>
              <a:rPr lang="en-US" altLang="ko-KR" sz="700" dirty="0"/>
              <a:t>v2.2.5_AOS  </a:t>
            </a:r>
            <a:r>
              <a:rPr lang="en-US" altLang="ko-KR" sz="700" dirty="0" smtClean="0"/>
              <a:t/>
            </a:r>
            <a:br>
              <a:rPr lang="en-US" altLang="ko-KR" sz="700" dirty="0" smtClean="0"/>
            </a:br>
            <a:r>
              <a:rPr lang="ko-KR" altLang="en-US" sz="700" dirty="0" smtClean="0"/>
              <a:t>개발자 </a:t>
            </a:r>
            <a:r>
              <a:rPr lang="en-US" altLang="ko-KR" sz="700" dirty="0"/>
              <a:t>SDK http://developer.android.com/sdk/index.html  &gt; SmartPKI_v2.3.2_iOS </a:t>
            </a:r>
            <a:endParaRPr lang="en-US" altLang="ko-KR" sz="700" dirty="0" smtClean="0"/>
          </a:p>
          <a:p>
            <a:pPr marL="0" indent="0">
              <a:buNone/>
            </a:pPr>
            <a:endParaRPr lang="en-US" altLang="ko-KR" sz="700"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smtClean="0">
                <a:latin typeface="+mn-ea"/>
              </a:rPr>
              <a:t>약관동의</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a:t>
            </a:r>
            <a:r>
              <a:rPr lang="ko-KR" altLang="en-US" dirty="0"/>
              <a:t> 화면으로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a:t>프로세스 중 </a:t>
            </a:r>
            <a:r>
              <a:rPr lang="ko-KR" altLang="en-US" dirty="0">
                <a:latin typeface="+mn-ea"/>
              </a:rPr>
              <a:t>약관 동의</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약관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27313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2759439"/>
            <a:ext cx="2522014" cy="295200"/>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2845484"/>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6" y="2845484"/>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endParaRPr lang="en-US" altLang="ko-KR" sz="800" dirty="0">
              <a:latin typeface="맑은 고딕" panose="020B0503020000020004" pitchFamily="50" charset="-127"/>
            </a:endParaRPr>
          </a:p>
        </p:txBody>
      </p:sp>
      <p:sp>
        <p:nvSpPr>
          <p:cNvPr id="132" name="모서리가 둥근 직사각형 131"/>
          <p:cNvSpPr/>
          <p:nvPr/>
        </p:nvSpPr>
        <p:spPr>
          <a:xfrm>
            <a:off x="2958909" y="2847339"/>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2849182"/>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nvGrpSpPr>
          <p:cNvPr id="162" name="그룹 161"/>
          <p:cNvGrpSpPr/>
          <p:nvPr/>
        </p:nvGrpSpPr>
        <p:grpSpPr>
          <a:xfrm>
            <a:off x="675399"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698357" y="3332260"/>
            <a:ext cx="2652743" cy="1302029"/>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787127" y="3430544"/>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본인은 국가를 당사자로 하는 계약에 관한 법률시행규칙에 의한 공사 입찰유의서에 따라 응찰하여 이 입찰이 귀 기관에 의하여 수락되면 공사 계약일반조건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계약특수조건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설계서 및 현장 설명 사항에 따라 위의 입찰금액으로 준공기한내에 공사를 완공할 것을 </a:t>
            </a:r>
            <a:r>
              <a:rPr lang="ko-KR" altLang="en-US" sz="700" dirty="0" err="1">
                <a:solidFill>
                  <a:schemeClr val="tx1">
                    <a:lumMod val="85000"/>
                    <a:lumOff val="15000"/>
                  </a:schemeClr>
                </a:solidFill>
                <a:latin typeface="맑은 고딕" panose="020B0503020000020004" pitchFamily="50" charset="-127"/>
              </a:rPr>
              <a:t>확약하오며</a:t>
            </a:r>
            <a:r>
              <a:rPr lang="ko-KR" altLang="en-US" sz="700" dirty="0">
                <a:solidFill>
                  <a:schemeClr val="tx1">
                    <a:lumMod val="85000"/>
                    <a:lumOff val="15000"/>
                  </a:schemeClr>
                </a:solidFill>
                <a:latin typeface="맑은 고딕" panose="020B0503020000020004" pitchFamily="50" charset="-127"/>
              </a:rPr>
              <a:t> 입찰서를 제출합니다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입찰서는 포기 또는 취소 후 재입찰이 불가하니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입찰포기</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또는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입찰취소</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시 유의하시기 바랍니다</a:t>
            </a:r>
            <a:r>
              <a:rPr lang="en-US" altLang="ko-KR" sz="700" dirty="0">
                <a:solidFill>
                  <a:schemeClr val="tx1">
                    <a:lumMod val="85000"/>
                    <a:lumOff val="15000"/>
                  </a:schemeClr>
                </a:solidFill>
                <a:latin typeface="맑은 고딕" panose="020B0503020000020004" pitchFamily="50" charset="-127"/>
              </a:rPr>
              <a:t>.</a:t>
            </a:r>
            <a:endParaRPr lang="en-US" altLang="ko-KR" sz="700" dirty="0">
              <a:latin typeface="+mn-ea"/>
            </a:endParaRPr>
          </a:p>
        </p:txBody>
      </p:sp>
      <p:sp>
        <p:nvSpPr>
          <p:cNvPr id="194" name="타원 193"/>
          <p:cNvSpPr/>
          <p:nvPr/>
        </p:nvSpPr>
        <p:spPr>
          <a:xfrm>
            <a:off x="783169" y="342089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3131990" y="3469391"/>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29" name="직선 연결선 128">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2425310" y="2417854"/>
            <a:ext cx="5335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4" name="그룹 143"/>
          <p:cNvGrpSpPr/>
          <p:nvPr/>
        </p:nvGrpSpPr>
        <p:grpSpPr>
          <a:xfrm>
            <a:off x="2923735" y="2163124"/>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7" name="그룹 146"/>
            <p:cNvGrpSpPr/>
            <p:nvPr/>
          </p:nvGrpSpPr>
          <p:grpSpPr>
            <a:xfrm rot="5400000" flipH="1">
              <a:off x="3679895" y="2305364"/>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5" name="타원 16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7" name="그룹 166"/>
            <p:cNvGrpSpPr/>
            <p:nvPr/>
          </p:nvGrpSpPr>
          <p:grpSpPr>
            <a:xfrm rot="16200000">
              <a:off x="3931564" y="2305364"/>
              <a:ext cx="94010" cy="47005"/>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79" name="TextBox 178">
            <a:extLst>
              <a:ext uri="{FF2B5EF4-FFF2-40B4-BE49-F238E27FC236}">
                <a16:creationId xmlns:a16="http://schemas.microsoft.com/office/drawing/2014/main" id="{FFC49AEA-2A8F-250C-A86A-A7751D9706C3}"/>
              </a:ext>
            </a:extLst>
          </p:cNvPr>
          <p:cNvSpPr txBox="1"/>
          <p:nvPr/>
        </p:nvSpPr>
        <p:spPr>
          <a:xfrm>
            <a:off x="756845" y="2473452"/>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약관 동의</a:t>
            </a:r>
          </a:p>
        </p:txBody>
      </p:sp>
      <p:sp>
        <p:nvSpPr>
          <p:cNvPr id="238" name="모서리가 둥근 직사각형 23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00" name="직선 연결선 99">
            <a:extLst>
              <a:ext uri="{FF2B5EF4-FFF2-40B4-BE49-F238E27FC236}">
                <a16:creationId xmlns:a16="http://schemas.microsoft.com/office/drawing/2014/main" id="{E9293055-D5CD-4B9E-7F64-64B2D2CA7A52}"/>
              </a:ext>
            </a:extLst>
          </p:cNvPr>
          <p:cNvCxnSpPr/>
          <p:nvPr/>
        </p:nvCxnSpPr>
        <p:spPr>
          <a:xfrm>
            <a:off x="3837207" y="41938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1" name="그룹 100"/>
          <p:cNvGrpSpPr/>
          <p:nvPr/>
        </p:nvGrpSpPr>
        <p:grpSpPr>
          <a:xfrm>
            <a:off x="4552584" y="4271810"/>
            <a:ext cx="1197246" cy="107722"/>
            <a:chOff x="4526323" y="5902014"/>
            <a:chExt cx="1197246" cy="107722"/>
          </a:xfrm>
        </p:grpSpPr>
        <p:sp>
          <p:nvSpPr>
            <p:cNvPr id="102" name="타원 101"/>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106" name="그룹 105"/>
          <p:cNvGrpSpPr/>
          <p:nvPr/>
        </p:nvGrpSpPr>
        <p:grpSpPr>
          <a:xfrm>
            <a:off x="3795194" y="5614711"/>
            <a:ext cx="2712027" cy="617588"/>
            <a:chOff x="675399" y="5614711"/>
            <a:chExt cx="2712027" cy="617588"/>
          </a:xfrm>
        </p:grpSpPr>
        <p:sp>
          <p:nvSpPr>
            <p:cNvPr id="107" name="직사각형 10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0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10" name="직사각형 109">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양쪽 모서리가 둥근 사각형 110"/>
          <p:cNvSpPr/>
          <p:nvPr/>
        </p:nvSpPr>
        <p:spPr>
          <a:xfrm>
            <a:off x="3795464" y="2701900"/>
            <a:ext cx="2712027" cy="353039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2" name="모서리가 둥근 직사각형 111"/>
          <p:cNvSpPr/>
          <p:nvPr/>
        </p:nvSpPr>
        <p:spPr>
          <a:xfrm>
            <a:off x="4881477" y="273229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13" name="그룹 112"/>
          <p:cNvGrpSpPr/>
          <p:nvPr/>
        </p:nvGrpSpPr>
        <p:grpSpPr>
          <a:xfrm>
            <a:off x="6284403" y="2866714"/>
            <a:ext cx="94010" cy="94010"/>
            <a:chOff x="6812560" y="3297172"/>
            <a:chExt cx="94010" cy="94010"/>
          </a:xfrm>
        </p:grpSpPr>
        <p:cxnSp>
          <p:nvCxnSpPr>
            <p:cNvPr id="114" name="직선 연결선 11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16" name="TextBox 115">
            <a:extLst>
              <a:ext uri="{FF2B5EF4-FFF2-40B4-BE49-F238E27FC236}">
                <a16:creationId xmlns:a16="http://schemas.microsoft.com/office/drawing/2014/main" id="{FFC49AEA-2A8F-250C-A86A-A7751D9706C3}"/>
              </a:ext>
            </a:extLst>
          </p:cNvPr>
          <p:cNvSpPr txBox="1"/>
          <p:nvPr/>
        </p:nvSpPr>
        <p:spPr>
          <a:xfrm>
            <a:off x="3924541" y="2847393"/>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3795464" y="31087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3914777" y="3564893"/>
            <a:ext cx="2473940" cy="430887"/>
          </a:xfrm>
          <a:prstGeom prst="rect">
            <a:avLst/>
          </a:prstGeom>
          <a:noFill/>
        </p:spPr>
        <p:txBody>
          <a:bodyPr wrap="square" lIns="0" tIns="0" rIns="0" bIns="0" rtlCol="0">
            <a:spAutoFit/>
          </a:bodyPr>
          <a:lstStyle/>
          <a:p>
            <a:r>
              <a:rPr lang="ko-KR" altLang="en-US" sz="700" dirty="0">
                <a:latin typeface="+mn-ea"/>
              </a:rPr>
              <a:t>입찰보증금 </a:t>
            </a:r>
            <a:r>
              <a:rPr lang="en-US" altLang="ko-KR" sz="700" dirty="0">
                <a:latin typeface="+mn-ea"/>
              </a:rPr>
              <a:t>\ 000,000,000 (</a:t>
            </a:r>
            <a:r>
              <a:rPr lang="ko-KR" altLang="en-US" sz="700" dirty="0">
                <a:latin typeface="+mn-ea"/>
              </a:rPr>
              <a:t>금 </a:t>
            </a:r>
            <a:r>
              <a:rPr lang="ko-KR" altLang="en-US" sz="700" dirty="0" err="1">
                <a:latin typeface="+mn-ea"/>
              </a:rPr>
              <a:t>일억구천구백구십만</a:t>
            </a:r>
            <a:r>
              <a:rPr lang="ko-KR" altLang="en-US" sz="700" dirty="0">
                <a:latin typeface="+mn-ea"/>
              </a:rPr>
              <a:t> 원</a:t>
            </a:r>
            <a:r>
              <a:rPr lang="en-US" altLang="ko-KR" sz="700" dirty="0">
                <a:latin typeface="+mn-ea"/>
              </a:rPr>
              <a:t>)</a:t>
            </a:r>
          </a:p>
          <a:p>
            <a:endParaRPr lang="en-US" altLang="ko-KR" sz="700" dirty="0">
              <a:latin typeface="+mn-ea"/>
            </a:endParaRPr>
          </a:p>
          <a:p>
            <a:r>
              <a:rPr lang="ko-KR" altLang="en-US" sz="700" dirty="0">
                <a:latin typeface="+mn-ea"/>
              </a:rPr>
              <a:t>본인은 낙찰 후 계약 </a:t>
            </a:r>
            <a:r>
              <a:rPr lang="ko-KR" altLang="en-US" sz="700" dirty="0" err="1">
                <a:latin typeface="+mn-ea"/>
              </a:rPr>
              <a:t>미체결시</a:t>
            </a:r>
            <a:r>
              <a:rPr lang="ko-KR" altLang="en-US" sz="700" dirty="0">
                <a:latin typeface="+mn-ea"/>
              </a:rPr>
              <a:t> </a:t>
            </a:r>
            <a:r>
              <a:rPr lang="ko-KR" altLang="en-US" sz="700" dirty="0" err="1">
                <a:latin typeface="+mn-ea"/>
              </a:rPr>
              <a:t>귀부대</a:t>
            </a:r>
            <a:r>
              <a:rPr lang="en-US" altLang="ko-KR" sz="700" dirty="0">
                <a:latin typeface="+mn-ea"/>
              </a:rPr>
              <a:t>(</a:t>
            </a:r>
            <a:r>
              <a:rPr lang="ko-KR" altLang="en-US" sz="700" dirty="0">
                <a:latin typeface="+mn-ea"/>
              </a:rPr>
              <a:t>기관</a:t>
            </a:r>
            <a:r>
              <a:rPr lang="en-US" altLang="ko-KR" sz="700" dirty="0">
                <a:latin typeface="+mn-ea"/>
              </a:rPr>
              <a:t>)</a:t>
            </a:r>
            <a:r>
              <a:rPr lang="ko-KR" altLang="en-US" sz="700" dirty="0">
                <a:latin typeface="+mn-ea"/>
              </a:rPr>
              <a:t>에 상기의 입찰보증금을 현금으로 납부할 것을 확약합니다</a:t>
            </a:r>
            <a:r>
              <a:rPr lang="en-US" altLang="ko-KR" sz="700" dirty="0">
                <a:latin typeface="+mn-ea"/>
              </a:rPr>
              <a:t>.</a:t>
            </a:r>
          </a:p>
        </p:txBody>
      </p:sp>
      <p:grpSp>
        <p:nvGrpSpPr>
          <p:cNvPr id="3" name="그룹 2"/>
          <p:cNvGrpSpPr/>
          <p:nvPr/>
        </p:nvGrpSpPr>
        <p:grpSpPr>
          <a:xfrm>
            <a:off x="3837207" y="3222050"/>
            <a:ext cx="2603018" cy="205439"/>
            <a:chOff x="3911972" y="3222050"/>
            <a:chExt cx="2603018" cy="205439"/>
          </a:xfrm>
        </p:grpSpPr>
        <p:sp>
          <p:nvSpPr>
            <p:cNvPr id="122" name="TextBox 121">
              <a:extLst>
                <a:ext uri="{FF2B5EF4-FFF2-40B4-BE49-F238E27FC236}">
                  <a16:creationId xmlns:a16="http://schemas.microsoft.com/office/drawing/2014/main" id="{FFC49AEA-2A8F-250C-A86A-A7751D9706C3}"/>
                </a:ext>
              </a:extLst>
            </p:cNvPr>
            <p:cNvSpPr txBox="1"/>
            <p:nvPr/>
          </p:nvSpPr>
          <p:spPr>
            <a:xfrm>
              <a:off x="3999036" y="3222050"/>
              <a:ext cx="997068" cy="123111"/>
            </a:xfrm>
            <a:prstGeom prst="rect">
              <a:avLst/>
            </a:prstGeom>
            <a:noFill/>
          </p:spPr>
          <p:txBody>
            <a:bodyPr wrap="none" lIns="0" tIns="0" rIns="0" bIns="0" rtlCol="0">
              <a:spAutoFit/>
            </a:bodyPr>
            <a:lstStyle/>
            <a:p>
              <a:r>
                <a:rPr lang="ko-KR" altLang="en-US" sz="800" b="1" dirty="0" err="1">
                  <a:latin typeface="맑은 고딕" panose="020B0503020000020004" pitchFamily="50" charset="-127"/>
                </a:rPr>
                <a:t>입찰보증</a:t>
              </a:r>
              <a:r>
                <a:rPr lang="ko-KR" altLang="en-US" sz="800" b="1" dirty="0">
                  <a:latin typeface="맑은 고딕" panose="020B0503020000020004" pitchFamily="50" charset="-127"/>
                </a:rPr>
                <a:t> 지급 확약서</a:t>
              </a:r>
              <a:endParaRPr lang="en-US" altLang="ko-KR" sz="800" b="1" dirty="0">
                <a:latin typeface="맑은 고딕" panose="020B0503020000020004" pitchFamily="50" charset="-127"/>
              </a:endParaRP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3911972" y="3427489"/>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5" name="TextBox 124">
            <a:extLst>
              <a:ext uri="{FF2B5EF4-FFF2-40B4-BE49-F238E27FC236}">
                <a16:creationId xmlns:a16="http://schemas.microsoft.com/office/drawing/2014/main" id="{FFC49AEA-2A8F-250C-A86A-A7751D9706C3}"/>
              </a:ext>
            </a:extLst>
          </p:cNvPr>
          <p:cNvSpPr txBox="1"/>
          <p:nvPr/>
        </p:nvSpPr>
        <p:spPr>
          <a:xfrm>
            <a:off x="759212" y="2207916"/>
            <a:ext cx="485388"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450280" y="2207916"/>
            <a:ext cx="772916"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2428875" y="2207916"/>
            <a:ext cx="492571" cy="107722"/>
          </a:xfrm>
          <a:prstGeom prst="rect">
            <a:avLst/>
          </a:prstGeom>
          <a:noFill/>
        </p:spPr>
        <p:txBody>
          <a:bodyPr wrap="square" lIns="0" tIns="0" rIns="0" bIns="0" rtlCol="0">
            <a:spAutoFit/>
          </a:bodyPr>
          <a:lstStyle/>
          <a:p>
            <a:pPr algn="ctr"/>
            <a:r>
              <a:rPr lang="en-US" altLang="ko-KR" sz="700" dirty="0">
                <a:latin typeface="+mn-ea"/>
              </a:rPr>
              <a:t>7. </a:t>
            </a:r>
            <a:r>
              <a:rPr lang="ko-KR" altLang="en-US" sz="700" dirty="0">
                <a:latin typeface="+mn-ea"/>
              </a:rPr>
              <a:t>약관동의</a:t>
            </a:r>
          </a:p>
        </p:txBody>
      </p:sp>
      <p:grpSp>
        <p:nvGrpSpPr>
          <p:cNvPr id="68" name="그룹 67"/>
          <p:cNvGrpSpPr/>
          <p:nvPr/>
        </p:nvGrpSpPr>
        <p:grpSpPr>
          <a:xfrm>
            <a:off x="8223250" y="569392"/>
            <a:ext cx="3365500" cy="219465"/>
            <a:chOff x="8223250" y="569392"/>
            <a:chExt cx="3365500" cy="219465"/>
          </a:xfrm>
        </p:grpSpPr>
        <p:sp>
          <p:nvSpPr>
            <p:cNvPr id="69" name="직사각형 68"/>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화면 수정</a:t>
              </a:r>
              <a:endParaRPr lang="ko-KR" altLang="en-US" dirty="0"/>
            </a:p>
          </p:txBody>
        </p:sp>
        <p:sp>
          <p:nvSpPr>
            <p:cNvPr id="70" name="직사각형 69"/>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전자서명 </a:t>
              </a:r>
              <a:r>
                <a:rPr lang="en-US" altLang="ko-KR" sz="700" dirty="0" smtClean="0">
                  <a:sym typeface="Wingdings" panose="05000000000000000000" pitchFamily="2" charset="2"/>
                </a:rPr>
                <a:t> </a:t>
              </a:r>
              <a:r>
                <a:rPr lang="ko-KR" altLang="en-US" sz="700" dirty="0" smtClean="0">
                  <a:sym typeface="Wingdings" panose="05000000000000000000" pitchFamily="2" charset="2"/>
                </a:rPr>
                <a:t>제출하기 버튼 변경</a:t>
              </a:r>
              <a:endParaRPr lang="ko-KR" altLang="en-US" sz="700" dirty="0"/>
            </a:p>
          </p:txBody>
        </p:sp>
      </p:grpSp>
      <p:sp>
        <p:nvSpPr>
          <p:cNvPr id="71" name="타원 70">
            <a:extLst>
              <a:ext uri="{FF2B5EF4-FFF2-40B4-BE49-F238E27FC236}">
                <a16:creationId xmlns:a16="http://schemas.microsoft.com/office/drawing/2014/main" id="{37A7FF4F-0EAA-1463-560A-D5EC24416103}"/>
              </a:ext>
            </a:extLst>
          </p:cNvPr>
          <p:cNvSpPr/>
          <p:nvPr/>
        </p:nvSpPr>
        <p:spPr>
          <a:xfrm>
            <a:off x="571127" y="578526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72" name="타원 71">
            <a:extLst>
              <a:ext uri="{FF2B5EF4-FFF2-40B4-BE49-F238E27FC236}">
                <a16:creationId xmlns:a16="http://schemas.microsoft.com/office/drawing/2014/main" id="{37A7FF4F-0EAA-1463-560A-D5EC24416103}"/>
              </a:ext>
            </a:extLst>
          </p:cNvPr>
          <p:cNvSpPr/>
          <p:nvPr/>
        </p:nvSpPr>
        <p:spPr>
          <a:xfrm>
            <a:off x="3837207" y="270472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1-1</a:t>
            </a:r>
            <a:endParaRPr lang="ko-KR" altLang="en-US" sz="600" b="1" dirty="0"/>
          </a:p>
        </p:txBody>
      </p:sp>
      <p:sp>
        <p:nvSpPr>
          <p:cNvPr id="76" name="직사각형 75"/>
          <p:cNvSpPr/>
          <p:nvPr/>
        </p:nvSpPr>
        <p:spPr>
          <a:xfrm>
            <a:off x="8223250" y="791546"/>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2026-07-23 </a:t>
            </a:r>
            <a:r>
              <a:rPr lang="ko-KR" altLang="en-US" dirty="0" smtClean="0"/>
              <a:t>특이사항수정</a:t>
            </a:r>
            <a:endParaRPr lang="ko-KR" altLang="en-US" dirty="0"/>
          </a:p>
        </p:txBody>
      </p:sp>
    </p:spTree>
    <p:extLst>
      <p:ext uri="{BB962C8B-B14F-4D97-AF65-F5344CB8AC3E}">
        <p14:creationId xmlns:p14="http://schemas.microsoft.com/office/powerpoint/2010/main" val="297172387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93</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999786"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입찰서 첨부파일 데이터 영역 </a:t>
            </a:r>
            <a:r>
              <a:rPr lang="en-US" altLang="ko-KR" sz="900" b="1" dirty="0">
                <a:solidFill>
                  <a:prstClr val="black"/>
                </a:solidFill>
              </a:rPr>
              <a:t>(</a:t>
            </a:r>
            <a:r>
              <a:rPr lang="en-US" altLang="ko-KR" sz="900" b="1" dirty="0" err="1">
                <a:solidFill>
                  <a:prstClr val="black"/>
                </a:solidFill>
              </a:rPr>
              <a:t>dlt_tndrAtchFileList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30422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구분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규격제안서</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t>부서부호가 </a:t>
                      </a:r>
                      <a:r>
                        <a:rPr lang="en-US" altLang="ko-KR" sz="800" dirty="0"/>
                        <a:t>‘E’</a:t>
                      </a:r>
                      <a:r>
                        <a:rPr lang="ko-KR" altLang="en-US" sz="800" dirty="0"/>
                        <a:t>로 시작하고</a:t>
                      </a:r>
                      <a:r>
                        <a:rPr lang="en-US" altLang="ko-KR" sz="800" dirty="0"/>
                        <a:t>, </a:t>
                      </a:r>
                      <a:r>
                        <a:rPr lang="ko-KR" altLang="en-US" sz="800" dirty="0"/>
                        <a:t>계약방법이 </a:t>
                      </a:r>
                      <a:r>
                        <a:rPr lang="en-US" altLang="ko-KR" sz="800" dirty="0"/>
                        <a:t>‘G’</a:t>
                      </a:r>
                    </a:p>
                    <a:p>
                      <a:pPr marL="0" indent="0" algn="l" latinLnBrk="1">
                        <a:buFont typeface="Arial" panose="020B0604020202020204" pitchFamily="34" charset="0"/>
                        <a:buNone/>
                      </a:pPr>
                      <a:r>
                        <a:rPr lang="en-US" altLang="ko-KR" sz="800" dirty="0"/>
                        <a:t>    </a:t>
                      </a:r>
                      <a:r>
                        <a:rPr lang="ko-KR" altLang="en-US" sz="800" dirty="0"/>
                        <a:t>또는</a:t>
                      </a:r>
                      <a:r>
                        <a:rPr lang="en-US" altLang="ko-KR" sz="800" dirty="0"/>
                        <a:t>‘H’</a:t>
                      </a:r>
                      <a:r>
                        <a:rPr lang="ko-KR" altLang="en-US" sz="800" dirty="0"/>
                        <a:t>이고</a:t>
                      </a:r>
                      <a:r>
                        <a:rPr lang="en-US" altLang="ko-KR" sz="800" dirty="0"/>
                        <a:t>, 2</a:t>
                      </a:r>
                      <a:r>
                        <a:rPr lang="ko-KR" altLang="en-US" sz="800" dirty="0"/>
                        <a:t>단계경쟁</a:t>
                      </a:r>
                      <a:r>
                        <a:rPr lang="en-US" altLang="ko-KR" sz="800" dirty="0"/>
                        <a:t>(</a:t>
                      </a:r>
                      <a:r>
                        <a:rPr lang="ko-KR" altLang="en-US" sz="800" dirty="0"/>
                        <a:t>분리</a:t>
                      </a:r>
                      <a:r>
                        <a:rPr lang="en-US" altLang="ko-KR" sz="800" dirty="0"/>
                        <a:t>/</a:t>
                      </a:r>
                      <a:r>
                        <a:rPr lang="ko-KR" altLang="en-US" sz="800" dirty="0"/>
                        <a:t>동시</a:t>
                      </a:r>
                      <a:r>
                        <a:rPr lang="en-US" altLang="ko-KR" sz="800" dirty="0"/>
                        <a:t>)</a:t>
                      </a:r>
                      <a:r>
                        <a:rPr lang="ko-KR" altLang="en-US" sz="800" dirty="0"/>
                        <a:t>첨부파일</a:t>
                      </a:r>
                      <a:endParaRPr lang="en-US" altLang="ko-KR" sz="800" dirty="0"/>
                    </a:p>
                    <a:p>
                      <a:pPr marL="0" indent="0" algn="l" latinLnBrk="1">
                        <a:buFont typeface="Arial" panose="020B0604020202020204" pitchFamily="34" charset="0"/>
                        <a:buNone/>
                      </a:pPr>
                      <a:r>
                        <a:rPr lang="en-US" altLang="ko-KR" sz="800" dirty="0"/>
                        <a:t>    </a:t>
                      </a:r>
                      <a:r>
                        <a:rPr lang="ko-KR" altLang="en-US" sz="800" dirty="0"/>
                        <a:t>제출여부가 </a:t>
                      </a:r>
                      <a:r>
                        <a:rPr lang="en-US" altLang="ko-KR" sz="800" dirty="0"/>
                        <a:t>‘Y’</a:t>
                      </a:r>
                      <a:r>
                        <a:rPr lang="ko-KR" altLang="en-US" sz="800" dirty="0"/>
                        <a:t>인 경우</a:t>
                      </a:r>
                      <a:endParaRPr lang="en-US" altLang="ko-KR" sz="800" dirty="0"/>
                    </a:p>
                    <a:p>
                      <a:pPr marL="0" indent="0" algn="l" latinLnBrk="1">
                        <a:buFont typeface="Arial" panose="020B0604020202020204" pitchFamily="34" charset="0"/>
                        <a:buNone/>
                      </a:pPr>
                      <a:r>
                        <a:rPr lang="ko-KR" altLang="en-US" sz="800" dirty="0" err="1"/>
                        <a:t>공종별</a:t>
                      </a:r>
                      <a:r>
                        <a:rPr lang="ko-KR" altLang="en-US" sz="800" dirty="0"/>
                        <a:t> 산출내역서</a:t>
                      </a:r>
                      <a:r>
                        <a:rPr lang="en-US" altLang="ko-KR" sz="800" dirty="0"/>
                        <a:t>, </a:t>
                      </a:r>
                      <a:r>
                        <a:rPr lang="ko-KR" altLang="en-US" sz="800" dirty="0"/>
                        <a:t>자기평가기술서</a:t>
                      </a:r>
                      <a:endParaRPr lang="en-US" altLang="ko-KR" sz="800" dirty="0"/>
                    </a:p>
                    <a:p>
                      <a:pPr marL="0" indent="0" algn="l" latinLnBrk="1">
                        <a:buFont typeface="Arial" panose="020B0604020202020204" pitchFamily="34" charset="0"/>
                        <a:buNone/>
                      </a:pPr>
                      <a:r>
                        <a:rPr lang="en-US" altLang="ko-KR" sz="800" dirty="0">
                          <a:latin typeface="+mn-ea"/>
                          <a:ea typeface="+mn-ea"/>
                        </a:rPr>
                        <a:t>  - </a:t>
                      </a:r>
                      <a:r>
                        <a:rPr lang="ko-KR" altLang="en-US" sz="800" dirty="0"/>
                        <a:t>입찰방법이 내역입찰</a:t>
                      </a:r>
                      <a:r>
                        <a:rPr lang="en-US" altLang="ko-KR" sz="800" dirty="0"/>
                        <a:t>(</a:t>
                      </a:r>
                      <a:r>
                        <a:rPr lang="ko-KR" altLang="en-US" sz="800" dirty="0"/>
                        <a:t>최저가</a:t>
                      </a:r>
                      <a:r>
                        <a:rPr lang="en-US" altLang="ko-KR" sz="800" dirty="0"/>
                        <a:t>) </a:t>
                      </a:r>
                      <a:r>
                        <a:rPr lang="ko-KR" altLang="en-US" sz="800" dirty="0"/>
                        <a:t>또는</a:t>
                      </a:r>
                      <a:r>
                        <a:rPr lang="en-US" altLang="ko-KR" sz="800" dirty="0"/>
                        <a:t> </a:t>
                      </a:r>
                      <a:r>
                        <a:rPr lang="ko-KR" altLang="en-US" sz="800" dirty="0"/>
                        <a:t>내역입찰</a:t>
                      </a:r>
                      <a:endParaRPr lang="en-US" altLang="ko-KR" sz="800" dirty="0"/>
                    </a:p>
                    <a:p>
                      <a:pPr marL="0" indent="0" algn="l" latinLnBrk="1">
                        <a:buFont typeface="Arial" panose="020B0604020202020204" pitchFamily="34" charset="0"/>
                        <a:buNone/>
                      </a:pPr>
                      <a:r>
                        <a:rPr lang="en-US" altLang="ko-KR" sz="800" dirty="0"/>
                        <a:t>    (</a:t>
                      </a:r>
                      <a:r>
                        <a:rPr lang="ko-KR" altLang="en-US" sz="800" dirty="0"/>
                        <a:t>적격심사</a:t>
                      </a:r>
                      <a:r>
                        <a:rPr lang="en-US" altLang="ko-KR" sz="800" dirty="0"/>
                        <a:t>)</a:t>
                      </a:r>
                      <a:r>
                        <a:rPr lang="ko-KR" altLang="en-US" sz="800" dirty="0"/>
                        <a:t>이고</a:t>
                      </a:r>
                      <a:r>
                        <a:rPr lang="en-US" altLang="ko-KR" sz="800" dirty="0"/>
                        <a:t>, TBEPPP30.CALC_YSNO</a:t>
                      </a:r>
                    </a:p>
                    <a:p>
                      <a:pPr marL="0" indent="0" algn="l" latinLnBrk="1">
                        <a:buFont typeface="Arial" panose="020B0604020202020204" pitchFamily="34" charset="0"/>
                        <a:buNone/>
                      </a:pPr>
                      <a:r>
                        <a:rPr lang="en-US" altLang="ko-KR" sz="800" dirty="0"/>
                        <a:t>    (</a:t>
                      </a:r>
                      <a:r>
                        <a:rPr lang="ko-KR" altLang="en-US" sz="800" dirty="0"/>
                        <a:t>산출내역서적용여부</a:t>
                      </a:r>
                      <a:r>
                        <a:rPr lang="en-US" altLang="ko-KR" sz="800" dirty="0"/>
                        <a:t>)</a:t>
                      </a:r>
                      <a:r>
                        <a:rPr lang="ko-KR" altLang="en-US" sz="800" dirty="0"/>
                        <a:t>인 경우</a:t>
                      </a:r>
                      <a:endParaRPr lang="en-US" altLang="ko-KR" sz="800" dirty="0"/>
                    </a:p>
                    <a:p>
                      <a:pPr marL="0" indent="0" algn="l" latinLnBrk="1">
                        <a:buFont typeface="Arial" panose="020B0604020202020204" pitchFamily="34" charset="0"/>
                        <a:buNone/>
                      </a:pPr>
                      <a:r>
                        <a:rPr lang="en-US" altLang="ko-KR" sz="800" dirty="0">
                          <a:latin typeface="+mn-ea"/>
                          <a:ea typeface="+mn-ea"/>
                        </a:rPr>
                        <a:t>  - </a:t>
                      </a:r>
                      <a:r>
                        <a:rPr lang="ko-KR" altLang="en-US" sz="800" dirty="0"/>
                        <a:t>입찰방법이 내역입찰</a:t>
                      </a:r>
                      <a:r>
                        <a:rPr lang="en-US" altLang="ko-KR" sz="800" dirty="0"/>
                        <a:t>(</a:t>
                      </a:r>
                      <a:r>
                        <a:rPr lang="ko-KR" altLang="en-US" sz="800" dirty="0"/>
                        <a:t>종합심사</a:t>
                      </a:r>
                      <a:r>
                        <a:rPr lang="en-US" altLang="ko-KR" sz="800" dirty="0"/>
                        <a:t>)</a:t>
                      </a:r>
                      <a:r>
                        <a:rPr lang="ko-KR" altLang="en-US" sz="800" dirty="0"/>
                        <a:t>이고</a:t>
                      </a:r>
                      <a:r>
                        <a:rPr lang="en-US" altLang="ko-KR" sz="800" dirty="0"/>
                        <a:t> </a:t>
                      </a:r>
                      <a:r>
                        <a:rPr lang="ko-KR" altLang="en-US" sz="800" dirty="0"/>
                        <a:t>공사</a:t>
                      </a:r>
                      <a:endParaRPr lang="en-US" altLang="ko-KR" sz="800" dirty="0"/>
                    </a:p>
                    <a:p>
                      <a:pPr marL="0" indent="0" algn="l" latinLnBrk="1">
                        <a:buFont typeface="Arial" panose="020B0604020202020204" pitchFamily="34" charset="0"/>
                        <a:buNone/>
                      </a:pPr>
                      <a:r>
                        <a:rPr lang="en-US" altLang="ko-KR" sz="800" dirty="0"/>
                        <a:t>    </a:t>
                      </a:r>
                      <a:r>
                        <a:rPr lang="ko-KR" altLang="en-US" sz="800" dirty="0"/>
                        <a:t>구분이 감리용역이 아닌 경우</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err="1"/>
                        <a:t>공종별</a:t>
                      </a:r>
                      <a:r>
                        <a:rPr lang="ko-KR" altLang="en-US" sz="800" dirty="0"/>
                        <a:t> 산출내역서</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  - </a:t>
                      </a:r>
                      <a:r>
                        <a:rPr lang="ko-KR" altLang="en-US" sz="800" dirty="0"/>
                        <a:t>입찰방법이 내역입찰</a:t>
                      </a:r>
                      <a:r>
                        <a:rPr lang="en-US" altLang="ko-KR" sz="800" dirty="0"/>
                        <a:t>(</a:t>
                      </a:r>
                      <a:r>
                        <a:rPr lang="ko-KR" altLang="en-US" sz="800" dirty="0"/>
                        <a:t>종합심사</a:t>
                      </a:r>
                      <a:r>
                        <a:rPr lang="en-US" altLang="ko-KR" sz="800" dirty="0"/>
                        <a:t>)</a:t>
                      </a:r>
                      <a:r>
                        <a:rPr lang="ko-KR" altLang="en-US" sz="800" dirty="0"/>
                        <a:t>이고</a:t>
                      </a:r>
                      <a:r>
                        <a:rPr lang="en-US" altLang="ko-KR" sz="800" dirty="0"/>
                        <a:t> </a:t>
                      </a:r>
                      <a:r>
                        <a:rPr lang="ko-KR" altLang="en-US" sz="800" dirty="0"/>
                        <a:t>공사</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구분이 </a:t>
                      </a:r>
                      <a:r>
                        <a:rPr lang="ko-KR" altLang="en-US" sz="800" dirty="0" err="1"/>
                        <a:t>감리용역이고</a:t>
                      </a:r>
                      <a:r>
                        <a:rPr lang="en-US" altLang="ko-KR" sz="800" dirty="0"/>
                        <a:t>,</a:t>
                      </a:r>
                      <a:r>
                        <a:rPr lang="ko-KR" altLang="en-US" sz="800" dirty="0"/>
                        <a:t> 산출내역서 적용인 </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경우</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t>기타 참조서류</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  - </a:t>
                      </a:r>
                      <a:r>
                        <a:rPr lang="ko-KR" altLang="en-US" sz="800" dirty="0"/>
                        <a:t>입찰방법이 내역입찰</a:t>
                      </a:r>
                      <a:r>
                        <a:rPr lang="en-US" altLang="ko-KR" sz="800" dirty="0"/>
                        <a:t>(</a:t>
                      </a:r>
                      <a:r>
                        <a:rPr lang="ko-KR" altLang="en-US" sz="800" dirty="0"/>
                        <a:t>종합심사</a:t>
                      </a:r>
                      <a:r>
                        <a:rPr lang="en-US" altLang="ko-KR" sz="800" dirty="0"/>
                        <a:t>)</a:t>
                      </a:r>
                      <a:r>
                        <a:rPr lang="ko-KR" altLang="en-US" sz="800" dirty="0"/>
                        <a:t>이고</a:t>
                      </a:r>
                      <a:r>
                        <a:rPr lang="en-US" altLang="ko-KR" sz="800" dirty="0"/>
                        <a:t> </a:t>
                      </a:r>
                      <a:r>
                        <a:rPr lang="ko-KR" altLang="en-US" sz="800" dirty="0"/>
                        <a:t>공사</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구분이 </a:t>
                      </a:r>
                      <a:r>
                        <a:rPr lang="ko-KR" altLang="en-US" sz="800" dirty="0" err="1"/>
                        <a:t>감리용역이고</a:t>
                      </a:r>
                      <a:r>
                        <a:rPr lang="en-US" altLang="ko-KR" sz="800" dirty="0"/>
                        <a:t>,</a:t>
                      </a:r>
                      <a:r>
                        <a:rPr lang="ko-KR" altLang="en-US" sz="800" dirty="0"/>
                        <a:t> 산출내역서 비적용인 </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경우</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파일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 크기 계산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a:t>
                      </a:r>
                      <a:r>
                        <a:rPr lang="ko-KR" altLang="en-US" sz="800" dirty="0">
                          <a:latin typeface="+mn-ea"/>
                          <a:ea typeface="+mn-ea"/>
                        </a:rPr>
                        <a:t> </a:t>
                      </a:r>
                      <a:r>
                        <a:rPr lang="en-US" altLang="ko-KR" sz="800" dirty="0">
                          <a:latin typeface="+mn-ea"/>
                          <a:ea typeface="+mn-ea"/>
                        </a:rPr>
                        <a:t>300MB,</a:t>
                      </a:r>
                      <a:r>
                        <a:rPr lang="ko-KR" altLang="en-US" sz="800" dirty="0">
                          <a:latin typeface="+mn-ea"/>
                          <a:ea typeface="+mn-ea"/>
                        </a:rPr>
                        <a:t> </a:t>
                      </a:r>
                      <a:r>
                        <a:rPr lang="en-US" altLang="ko-KR" sz="800" dirty="0">
                          <a:latin typeface="+mn-ea"/>
                          <a:ea typeface="+mn-ea"/>
                        </a:rPr>
                        <a:t>TOBE </a:t>
                      </a:r>
                      <a:r>
                        <a:rPr lang="ko-KR" altLang="en-US" sz="800" dirty="0">
                          <a:latin typeface="+mn-ea"/>
                          <a:ea typeface="+mn-ea"/>
                        </a:rPr>
                        <a:t>현행 유지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bl>
          </a:graphicData>
        </a:graphic>
      </p:graphicFrame>
      <p:sp>
        <p:nvSpPr>
          <p:cNvPr id="2" name="Text Box 73">
            <a:extLst>
              <a:ext uri="{FF2B5EF4-FFF2-40B4-BE49-F238E27FC236}">
                <a16:creationId xmlns:a16="http://schemas.microsoft.com/office/drawing/2014/main" id="{BD264276-4D60-CD16-4DCB-41E6AD75E4F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A69356F7-984F-4573-5E63-1763C014F4FA}"/>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7" name="TextBox 6">
            <a:extLst>
              <a:ext uri="{FF2B5EF4-FFF2-40B4-BE49-F238E27FC236}">
                <a16:creationId xmlns:a16="http://schemas.microsoft.com/office/drawing/2014/main" id="{B2656C1E-8F73-A3F2-DAAE-17ED7B6CF23C}"/>
              </a:ext>
            </a:extLst>
          </p:cNvPr>
          <p:cNvSpPr txBox="1"/>
          <p:nvPr/>
        </p:nvSpPr>
        <p:spPr>
          <a:xfrm>
            <a:off x="458117" y="4093161"/>
            <a:ext cx="3057495"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동가낙찰 </a:t>
            </a:r>
            <a:r>
              <a:rPr lang="ko-KR" altLang="en-US" sz="900" b="1" dirty="0" err="1">
                <a:solidFill>
                  <a:prstClr val="black"/>
                </a:solidFill>
              </a:rPr>
              <a:t>선추첨</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dmt_smprcScsbdChc</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33D4CD51-6869-553B-FA32-D6F27916ED31}"/>
              </a:ext>
            </a:extLst>
          </p:cNvPr>
          <p:cNvGraphicFramePr>
            <a:graphicFrameLocks noGrp="1"/>
          </p:cNvGraphicFramePr>
          <p:nvPr/>
        </p:nvGraphicFramePr>
        <p:xfrm>
          <a:off x="452999" y="4306979"/>
          <a:ext cx="8994883" cy="2260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en-US" altLang="ko-KR" sz="800" dirty="0">
                          <a:latin typeface="+mn-ea"/>
                          <a:ea typeface="+mn-ea"/>
                        </a:rPr>
                        <a:t>1</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보이기</a:t>
                      </a:r>
                      <a:endParaRPr lang="en-US" altLang="ko-KR" sz="800" dirty="0">
                        <a:latin typeface="+mn-ea"/>
                        <a:ea typeface="+mn-ea"/>
                      </a:endParaRPr>
                    </a:p>
                    <a:p>
                      <a:pPr algn="l" latinLnBrk="1"/>
                      <a:r>
                        <a:rPr lang="en-US" altLang="ko-KR" sz="800" dirty="0">
                          <a:latin typeface="+mn-ea"/>
                          <a:ea typeface="+mn-ea"/>
                        </a:rPr>
                        <a:t>  - 20210415 </a:t>
                      </a:r>
                      <a:r>
                        <a:rPr lang="ko-KR" altLang="en-US" sz="800" dirty="0">
                          <a:latin typeface="+mn-ea"/>
                          <a:ea typeface="+mn-ea"/>
                        </a:rPr>
                        <a:t>이전 공고이고</a:t>
                      </a:r>
                      <a:r>
                        <a:rPr lang="en-US" altLang="ko-KR" sz="800" dirty="0">
                          <a:latin typeface="+mn-ea"/>
                          <a:ea typeface="+mn-ea"/>
                        </a:rPr>
                        <a:t>, </a:t>
                      </a:r>
                      <a:r>
                        <a:rPr lang="ko-KR" altLang="en-US" sz="800" dirty="0"/>
                        <a:t>적격심사가 </a:t>
                      </a:r>
                      <a:r>
                        <a:rPr lang="en-US" altLang="ko-KR" sz="800" dirty="0"/>
                        <a:t>‘Y’ </a:t>
                      </a:r>
                    </a:p>
                    <a:p>
                      <a:pPr algn="l" latinLnBrk="1"/>
                      <a:r>
                        <a:rPr lang="en-US" altLang="ko-KR" sz="800" dirty="0"/>
                        <a:t>    </a:t>
                      </a:r>
                      <a:r>
                        <a:rPr lang="ko-KR" altLang="en-US" sz="800" dirty="0"/>
                        <a:t>또는</a:t>
                      </a:r>
                      <a:r>
                        <a:rPr lang="en-US" altLang="ko-KR" sz="800" dirty="0"/>
                        <a:t> </a:t>
                      </a:r>
                      <a:r>
                        <a:rPr lang="ko-KR" altLang="en-US" sz="800" dirty="0"/>
                        <a:t>계약방법이 </a:t>
                      </a:r>
                      <a:r>
                        <a:rPr lang="en-US" altLang="ko-KR" sz="800" dirty="0"/>
                        <a:t>‘F(</a:t>
                      </a:r>
                      <a:r>
                        <a:rPr lang="ko-KR" altLang="en-US" sz="800" dirty="0" err="1"/>
                        <a:t>협상에의한계약</a:t>
                      </a:r>
                      <a:r>
                        <a:rPr lang="en-US" altLang="ko-KR" sz="800" dirty="0"/>
                        <a:t>(</a:t>
                      </a:r>
                      <a:r>
                        <a:rPr lang="ko-KR" altLang="en-US" sz="800" dirty="0"/>
                        <a:t>서류</a:t>
                      </a:r>
                      <a:r>
                        <a:rPr lang="en-US" altLang="ko-KR" sz="800" dirty="0"/>
                        <a:t>))’</a:t>
                      </a:r>
                    </a:p>
                    <a:p>
                      <a:pPr algn="l" latinLnBrk="1"/>
                      <a:r>
                        <a:rPr lang="en-US" altLang="ko-KR" sz="800" dirty="0"/>
                        <a:t>    </a:t>
                      </a:r>
                      <a:r>
                        <a:rPr lang="ko-KR" altLang="en-US" sz="800" dirty="0"/>
                        <a:t>또는 </a:t>
                      </a:r>
                      <a:r>
                        <a:rPr lang="en-US" altLang="ko-KR" sz="800" dirty="0"/>
                        <a:t>’J(</a:t>
                      </a:r>
                      <a:r>
                        <a:rPr lang="ko-KR" altLang="en-US" sz="800" dirty="0"/>
                        <a:t>종합낙찰제</a:t>
                      </a:r>
                      <a:r>
                        <a:rPr lang="en-US" altLang="ko-KR" sz="800" dirty="0"/>
                        <a:t>)’ </a:t>
                      </a:r>
                      <a:r>
                        <a:rPr lang="ko-KR" altLang="en-US" sz="800" dirty="0"/>
                        <a:t>또는 </a:t>
                      </a:r>
                      <a:endParaRPr lang="en-US" altLang="ko-KR" sz="800" dirty="0"/>
                    </a:p>
                    <a:p>
                      <a:pPr algn="l" latinLnBrk="1"/>
                      <a:r>
                        <a:rPr lang="en-US" altLang="ko-KR" sz="800" dirty="0"/>
                        <a:t>    ’P(</a:t>
                      </a:r>
                      <a:r>
                        <a:rPr lang="ko-KR" altLang="en-US" sz="800" dirty="0" err="1"/>
                        <a:t>협상에의한계약</a:t>
                      </a:r>
                      <a:r>
                        <a:rPr lang="en-US" altLang="ko-KR" sz="800" dirty="0"/>
                        <a:t>(</a:t>
                      </a:r>
                      <a:r>
                        <a:rPr lang="ko-KR" altLang="en-US" sz="800" dirty="0"/>
                        <a:t>전자</a:t>
                      </a:r>
                      <a:r>
                        <a:rPr lang="en-US" altLang="ko-KR" sz="800" dirty="0"/>
                        <a:t>))’</a:t>
                      </a:r>
                      <a:r>
                        <a:rPr lang="ko-KR" altLang="en-US" sz="800" dirty="0"/>
                        <a:t>이지 않은 경우 </a:t>
                      </a:r>
                      <a:endParaRPr lang="en-US" altLang="ko-KR" sz="800" dirty="0"/>
                    </a:p>
                    <a:p>
                      <a:pPr algn="l" latinLnBrk="1"/>
                      <a:endParaRPr lang="en-US" altLang="ko-KR" sz="800" dirty="0">
                        <a:latin typeface="+mn-ea"/>
                        <a:ea typeface="+mn-ea"/>
                      </a:endParaRPr>
                    </a:p>
                    <a:p>
                      <a:pPr algn="l" latinLnBrk="1"/>
                      <a:r>
                        <a:rPr lang="ko-KR" altLang="en-US" sz="800" dirty="0">
                          <a:latin typeface="+mn-ea"/>
                          <a:ea typeface="+mn-ea"/>
                        </a:rPr>
                        <a:t>숨기기</a:t>
                      </a:r>
                      <a:endParaRPr lang="en-US" altLang="ko-KR" sz="800" dirty="0">
                        <a:latin typeface="+mn-ea"/>
                        <a:ea typeface="+mn-ea"/>
                      </a:endParaRPr>
                    </a:p>
                    <a:p>
                      <a:pPr algn="l" latinLnBrk="1"/>
                      <a:r>
                        <a:rPr lang="ko-KR" altLang="en-US" sz="800" dirty="0"/>
                        <a:t>  </a:t>
                      </a:r>
                      <a:r>
                        <a:rPr lang="en-US" altLang="ko-KR" sz="800" dirty="0"/>
                        <a:t>- </a:t>
                      </a:r>
                      <a:r>
                        <a:rPr lang="ko-KR" altLang="en-US" sz="800" dirty="0"/>
                        <a:t>계약방법이 </a:t>
                      </a:r>
                      <a:r>
                        <a:rPr lang="en-US" altLang="ko-KR" sz="800" dirty="0"/>
                        <a:t>‘G’</a:t>
                      </a:r>
                      <a:r>
                        <a:rPr lang="ko-KR" altLang="en-US" sz="800" dirty="0"/>
                        <a:t>또는</a:t>
                      </a:r>
                      <a:r>
                        <a:rPr lang="en-US" altLang="ko-KR" sz="800" dirty="0"/>
                        <a:t>‘H’</a:t>
                      </a:r>
                      <a:r>
                        <a:rPr lang="ko-KR" altLang="en-US" sz="800" dirty="0"/>
                        <a:t>이고</a:t>
                      </a:r>
                      <a:r>
                        <a:rPr lang="en-US" altLang="ko-KR" sz="800" dirty="0"/>
                        <a:t> </a:t>
                      </a:r>
                      <a:r>
                        <a:rPr lang="ko-KR" altLang="en-US" sz="800" dirty="0"/>
                        <a:t>공고일자가 </a:t>
                      </a:r>
                      <a:endParaRPr lang="en-US" altLang="ko-KR" sz="800" dirty="0"/>
                    </a:p>
                    <a:p>
                      <a:pPr algn="l" latinLnBrk="1"/>
                      <a:r>
                        <a:rPr lang="en-US" altLang="ko-KR" sz="800" dirty="0"/>
                        <a:t>    2020111 </a:t>
                      </a:r>
                      <a:r>
                        <a:rPr lang="ko-KR" altLang="en-US" sz="800" dirty="0"/>
                        <a:t>이전인 경우 </a:t>
                      </a:r>
                      <a:endParaRPr lang="en-US" altLang="ko-KR" sz="800" dirty="0"/>
                    </a:p>
                    <a:p>
                      <a:pPr algn="l" latinLnBrk="1"/>
                      <a:r>
                        <a:rPr lang="en-US" altLang="ko-KR" sz="800" dirty="0">
                          <a:latin typeface="+mn-ea"/>
                          <a:ea typeface="+mn-ea"/>
                        </a:rPr>
                        <a:t>  - </a:t>
                      </a:r>
                      <a:r>
                        <a:rPr lang="ko-KR" altLang="en-US" sz="800" dirty="0">
                          <a:latin typeface="+mn-ea"/>
                          <a:ea typeface="+mn-ea"/>
                        </a:rPr>
                        <a:t>그 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en-US" altLang="ko-KR" sz="800" dirty="0">
                          <a:latin typeface="+mn-ea"/>
                          <a:ea typeface="+mn-ea"/>
                        </a:rPr>
                        <a:t>2</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smprcScsbdChcCd2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2</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en-US" altLang="ko-KR" sz="800" dirty="0">
                          <a:latin typeface="+mn-ea"/>
                          <a:ea typeface="+mn-ea"/>
                        </a:rPr>
                        <a:t>3</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en-US" altLang="ko-KR" sz="800" dirty="0">
                          <a:latin typeface="+mn-ea"/>
                          <a:ea typeface="+mn-ea"/>
                        </a:rPr>
                        <a:t>4</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4</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en-US" altLang="ko-KR" sz="800" dirty="0">
                          <a:latin typeface="+mn-ea"/>
                          <a:ea typeface="+mn-ea"/>
                        </a:rPr>
                        <a:t>5</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5</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bl>
          </a:graphicData>
        </a:graphic>
      </p:graphicFrame>
    </p:spTree>
    <p:extLst>
      <p:ext uri="{BB962C8B-B14F-4D97-AF65-F5344CB8AC3E}">
        <p14:creationId xmlns:p14="http://schemas.microsoft.com/office/powerpoint/2010/main" val="234020649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94</a:t>
            </a:fld>
            <a:endParaRPr lang="ko-KR" altLang="en-US" dirty="0"/>
          </a:p>
        </p:txBody>
      </p:sp>
      <p:sp>
        <p:nvSpPr>
          <p:cNvPr id="8" name="TextBox 7">
            <a:extLst>
              <a:ext uri="{FF2B5EF4-FFF2-40B4-BE49-F238E27FC236}">
                <a16:creationId xmlns:a16="http://schemas.microsoft.com/office/drawing/2014/main" id="{BE64A40E-36E5-D82E-982F-57A33FB9CD0D}"/>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9" name="표 8">
            <a:extLst>
              <a:ext uri="{FF2B5EF4-FFF2-40B4-BE49-F238E27FC236}">
                <a16:creationId xmlns:a16="http://schemas.microsoft.com/office/drawing/2014/main" id="{15AC88EF-EABE-8FA0-2ABC-A28F9B4F62F2}"/>
              </a:ext>
            </a:extLst>
          </p:cNvPr>
          <p:cNvGraphicFramePr>
            <a:graphicFrameLocks noGrp="1"/>
          </p:cNvGraphicFramePr>
          <p:nvPr>
            <p:extLst>
              <p:ext uri="{D42A27DB-BD31-4B8C-83A1-F6EECF244321}">
                <p14:modId xmlns:p14="http://schemas.microsoft.com/office/powerpoint/2010/main" val="1634971863"/>
              </p:ext>
            </p:extLst>
          </p:nvPr>
        </p:nvGraphicFramePr>
        <p:xfrm>
          <a:off x="453000" y="1039042"/>
          <a:ext cx="8995591" cy="27705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a:latin typeface="+mn-ea"/>
                          <a:ea typeface="+mn-ea"/>
                        </a:rPr>
                        <a:t>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입찰서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err="1">
                          <a:latin typeface="+mn-ea"/>
                          <a:ea typeface="+mn-ea"/>
                        </a:rPr>
                        <a:t>pdb</a:t>
                      </a:r>
                      <a:r>
                        <a:rPr lang="en-US" altLang="ko-KR" sz="800" dirty="0">
                          <a:latin typeface="+mn-ea"/>
                          <a:ea typeface="+mn-ea"/>
                        </a:rPr>
                        <a:t> : </a:t>
                      </a:r>
                      <a:r>
                        <a:rPr lang="en-US" altLang="ko-KR" sz="800" dirty="0" err="1">
                          <a:latin typeface="+mn-ea"/>
                          <a:ea typeface="+mn-ea"/>
                        </a:rPr>
                        <a:t>bidInfoRebidRegi.jsp</a:t>
                      </a:r>
                      <a:r>
                        <a:rPr lang="en-US" altLang="ko-KR" sz="800" dirty="0">
                          <a:latin typeface="+mn-ea"/>
                          <a:ea typeface="+mn-ea"/>
                        </a:rPr>
                        <a:t>, </a:t>
                      </a:r>
                      <a:r>
                        <a:rPr lang="en-US" altLang="ko-KR" sz="800" dirty="0" err="1">
                          <a:latin typeface="+mn-ea"/>
                          <a:ea typeface="+mn-ea"/>
                        </a:rPr>
                        <a:t>bidInfoRebidView.jsp</a:t>
                      </a:r>
                      <a:endParaRPr lang="en-US" altLang="ko-KR" sz="800" dirty="0">
                        <a:latin typeface="+mn-ea"/>
                        <a:ea typeface="+mn-ea"/>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a:t>
                      </a:r>
                      <a:r>
                        <a:rPr lang="en-US" altLang="ko-KR" sz="800" kern="1200" dirty="0" err="1">
                          <a:solidFill>
                            <a:schemeClr val="tx1"/>
                          </a:solidFill>
                          <a:latin typeface="+mn-ea"/>
                          <a:ea typeface="+mn-ea"/>
                          <a:cs typeface="+mn-cs"/>
                        </a:rPr>
                        <a:t>bidInfoUnitRebidRegi.jsp</a:t>
                      </a:r>
                      <a:r>
                        <a:rPr lang="en-US" altLang="ko-KR" sz="800" kern="1200" dirty="0">
                          <a:solidFill>
                            <a:schemeClr val="tx1"/>
                          </a:solidFill>
                          <a:latin typeface="+mn-ea"/>
                          <a:ea typeface="+mn-ea"/>
                          <a:cs typeface="+mn-cs"/>
                        </a:rPr>
                        <a:t>, </a:t>
                      </a:r>
                      <a:r>
                        <a:rPr lang="en-US" altLang="ko-KR" sz="800" kern="1200" dirty="0" err="1">
                          <a:solidFill>
                            <a:schemeClr val="tx1"/>
                          </a:solidFill>
                          <a:latin typeface="+mn-ea"/>
                          <a:ea typeface="+mn-ea"/>
                          <a:cs typeface="+mn-cs"/>
                        </a:rPr>
                        <a:t>bidInfoUnitRebidView.jsp</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dirty="0" err="1">
                          <a:latin typeface="+mn-ea"/>
                          <a:ea typeface="+mn-ea"/>
                        </a:rPr>
                        <a:t>peb</a:t>
                      </a:r>
                      <a:r>
                        <a:rPr lang="en-US" altLang="ko-KR" sz="800" dirty="0">
                          <a:latin typeface="+mn-ea"/>
                          <a:ea typeface="+mn-ea"/>
                        </a:rPr>
                        <a:t> : </a:t>
                      </a:r>
                      <a:r>
                        <a:rPr lang="en-US" altLang="ko-KR" sz="800" kern="1200" dirty="0" err="1">
                          <a:solidFill>
                            <a:schemeClr val="tx1"/>
                          </a:solidFill>
                          <a:latin typeface="+mn-ea"/>
                          <a:ea typeface="+mn-ea"/>
                          <a:cs typeface="+mn-cs"/>
                        </a:rPr>
                        <a:t>bidInfoRebidRegi.jsp</a:t>
                      </a:r>
                      <a:r>
                        <a:rPr lang="en-US" altLang="ko-KR" sz="800" kern="1200" dirty="0">
                          <a:solidFill>
                            <a:schemeClr val="tx1"/>
                          </a:solidFill>
                          <a:latin typeface="+mn-ea"/>
                          <a:ea typeface="+mn-ea"/>
                          <a:cs typeface="+mn-cs"/>
                        </a:rPr>
                        <a:t>, </a:t>
                      </a:r>
                      <a:r>
                        <a:rPr lang="en-US" altLang="ko-KR" sz="800" kern="1200" dirty="0" err="1">
                          <a:solidFill>
                            <a:schemeClr val="tx1"/>
                          </a:solidFill>
                          <a:latin typeface="+mn-ea"/>
                          <a:ea typeface="+mn-ea"/>
                          <a:cs typeface="+mn-cs"/>
                        </a:rPr>
                        <a:t>bidInfoView.jsp</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scwin.btn_tndrSbmsn_onclick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err="1">
                          <a:latin typeface="+mn-ea"/>
                          <a:ea typeface="+mn-ea"/>
                        </a:rPr>
                        <a:t>중복투찰제한</a:t>
                      </a:r>
                      <a:endParaRPr lang="en-US" altLang="ko-KR" sz="800" dirty="0">
                        <a:latin typeface="+mn-ea"/>
                        <a:ea typeface="+mn-ea"/>
                      </a:endParaRPr>
                    </a:p>
                    <a:p>
                      <a:pPr marL="0" indent="0" algn="l" latinLnBrk="1">
                        <a:buFont typeface="Arial" panose="020B0604020202020204" pitchFamily="34" charset="0"/>
                        <a:buNone/>
                      </a:pPr>
                      <a:r>
                        <a:rPr lang="ko-KR" altLang="en-US" sz="800" dirty="0" err="1">
                          <a:latin typeface="+mn-ea"/>
                          <a:ea typeface="+mn-ea"/>
                        </a:rPr>
                        <a:t>투찰금액</a:t>
                      </a:r>
                      <a:r>
                        <a:rPr lang="ko-KR" altLang="en-US" sz="800" dirty="0">
                          <a:latin typeface="+mn-ea"/>
                          <a:ea typeface="+mn-ea"/>
                        </a:rPr>
                        <a:t> 검증</a:t>
                      </a:r>
                      <a:endParaRPr lang="en-US" altLang="ko-KR" sz="800" dirty="0">
                        <a:latin typeface="+mn-ea"/>
                        <a:ea typeface="+mn-ea"/>
                      </a:endParaRPr>
                    </a:p>
                    <a:p>
                      <a:pPr marL="0" indent="0" algn="l" latinLnBrk="1">
                        <a:buFont typeface="Arial" panose="020B0604020202020204" pitchFamily="34" charset="0"/>
                        <a:buNone/>
                      </a:pPr>
                      <a:r>
                        <a:rPr lang="ko-KR" altLang="en-US" sz="800" dirty="0" err="1">
                          <a:latin typeface="+mn-ea"/>
                          <a:ea typeface="+mn-ea"/>
                        </a:rPr>
                        <a:t>투찰금액</a:t>
                      </a:r>
                      <a:r>
                        <a:rPr lang="ko-KR" altLang="en-US" sz="800" dirty="0">
                          <a:latin typeface="+mn-ea"/>
                          <a:ea typeface="+mn-ea"/>
                        </a:rPr>
                        <a:t> 암호화</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입찰차수별 키 생성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1905917"/>
                  </a:ext>
                </a:extLst>
              </a:tr>
              <a:tr h="0">
                <a:tc>
                  <a:txBody>
                    <a:bodyPr/>
                    <a:lstStyle/>
                    <a:p>
                      <a:r>
                        <a:rPr lang="ko-KR" altLang="en-US" sz="800" dirty="0"/>
                        <a:t>입찰포기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scwin.btn_bidAbndAply_onclick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입찰포기신청서 작성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입찰서 제출 전</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smtClean="0">
                          <a:solidFill>
                            <a:schemeClr val="tx1"/>
                          </a:solidFill>
                          <a:effectLst/>
                          <a:latin typeface="+mn-ea"/>
                          <a:ea typeface="+mn-ea"/>
                          <a:cs typeface="+mn-cs"/>
                        </a:rPr>
                        <a:t>(MUI-BD-03-P03) </a:t>
                      </a:r>
                      <a:r>
                        <a:rPr lang="ko-KR" altLang="en-US" sz="800" b="0" i="0" kern="1200" dirty="0">
                          <a:solidFill>
                            <a:schemeClr val="tx1"/>
                          </a:solidFill>
                          <a:effectLst/>
                          <a:latin typeface="+mn-ea"/>
                          <a:ea typeface="+mn-ea"/>
                          <a:cs typeface="+mn-cs"/>
                        </a:rPr>
                        <a:t>입찰포기신청서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0911127"/>
                  </a:ext>
                </a:extLst>
              </a:tr>
              <a:tr h="0">
                <a:tc>
                  <a:txBody>
                    <a:bodyPr/>
                    <a:lstStyle/>
                    <a:p>
                      <a:r>
                        <a:rPr lang="ko-KR" altLang="en-US" sz="800" dirty="0" err="1"/>
                        <a:t>입찰포기신청서조회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scwin.btn_bidAbndApfrInq_onclick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입찰포기신청서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smtClean="0">
                          <a:solidFill>
                            <a:schemeClr val="tx1"/>
                          </a:solidFill>
                          <a:effectLst/>
                          <a:latin typeface="+mn-ea"/>
                          <a:ea typeface="+mn-ea"/>
                          <a:cs typeface="+mn-cs"/>
                        </a:rPr>
                        <a:t>(MUI-BD-03-P03) </a:t>
                      </a:r>
                      <a:r>
                        <a:rPr lang="ko-KR" altLang="en-US" sz="800" b="0" i="0" kern="1200" dirty="0">
                          <a:solidFill>
                            <a:schemeClr val="tx1"/>
                          </a:solidFill>
                          <a:effectLst/>
                          <a:latin typeface="+mn-ea"/>
                          <a:ea typeface="+mn-ea"/>
                          <a:cs typeface="+mn-cs"/>
                        </a:rPr>
                        <a:t>입찰포기신청서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6854654"/>
                  </a:ext>
                </a:extLst>
              </a:tr>
              <a:tr h="0">
                <a:tc>
                  <a:txBody>
                    <a:bodyPr/>
                    <a:lstStyle/>
                    <a:p>
                      <a:r>
                        <a:rPr lang="ko-KR" altLang="en-US" sz="800" dirty="0"/>
                        <a:t>입찰취소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scwin.btn_bidRtrcnAply_onclick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입찰취소신청서 작성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t>입찰서 제출 후</a:t>
                      </a:r>
                      <a:r>
                        <a:rPr lang="en-US" altLang="ko-KR" sz="800" dirty="0"/>
                        <a:t>, </a:t>
                      </a:r>
                      <a:r>
                        <a:rPr lang="ko-KR" altLang="en-US" sz="800" dirty="0"/>
                        <a:t>개찰예정일시 전</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smtClean="0">
                          <a:solidFill>
                            <a:schemeClr val="tx1"/>
                          </a:solidFill>
                          <a:effectLst/>
                          <a:latin typeface="+mn-ea"/>
                          <a:ea typeface="+mn-ea"/>
                          <a:cs typeface="+mn-cs"/>
                        </a:rPr>
                        <a:t>(MUI-BD-03-P04) </a:t>
                      </a:r>
                      <a:r>
                        <a:rPr lang="ko-KR" altLang="en-US" sz="800" b="0" i="0" kern="1200" dirty="0">
                          <a:solidFill>
                            <a:schemeClr val="tx1"/>
                          </a:solidFill>
                          <a:effectLst/>
                          <a:latin typeface="+mn-ea"/>
                          <a:ea typeface="+mn-ea"/>
                          <a:cs typeface="+mn-cs"/>
                        </a:rPr>
                        <a:t>입찰취소신청서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2868905"/>
                  </a:ext>
                </a:extLst>
              </a:tr>
              <a:tr h="0">
                <a:tc>
                  <a:txBody>
                    <a:bodyPr/>
                    <a:lstStyle/>
                    <a:p>
                      <a:r>
                        <a:rPr lang="ko-KR" altLang="en-US" sz="800" dirty="0" err="1"/>
                        <a:t>입찰취소신청서조회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scwin.btn_bidRtrcnApfrInq_onclick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입찰취소신청서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b="0" i="0" kern="1200" dirty="0" smtClean="0">
                          <a:solidFill>
                            <a:schemeClr val="tx1"/>
                          </a:solidFill>
                          <a:effectLst/>
                          <a:latin typeface="+mn-ea"/>
                          <a:ea typeface="+mn-ea"/>
                          <a:cs typeface="+mn-cs"/>
                        </a:rPr>
                        <a:t>(MUI-BD-03-P04) </a:t>
                      </a:r>
                      <a:r>
                        <a:rPr lang="ko-KR" altLang="en-US" sz="800" b="0" i="0" kern="1200" dirty="0">
                          <a:solidFill>
                            <a:schemeClr val="tx1"/>
                          </a:solidFill>
                          <a:effectLst/>
                          <a:latin typeface="+mn-ea"/>
                          <a:ea typeface="+mn-ea"/>
                          <a:cs typeface="+mn-cs"/>
                        </a:rPr>
                        <a:t>입찰취소신청서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19856"/>
                  </a:ext>
                </a:extLst>
              </a:tr>
              <a:tr h="0">
                <a:tc>
                  <a:txBody>
                    <a:bodyPr/>
                    <a:lstStyle/>
                    <a:p>
                      <a:r>
                        <a:rPr lang="ko-KR" altLang="en-US" sz="800" dirty="0" err="1"/>
                        <a:t>다시쓰기</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scwin.btn_reset_onclick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입찰금액</a:t>
                      </a:r>
                      <a:r>
                        <a:rPr lang="en-US" altLang="ko-KR" sz="800" dirty="0">
                          <a:latin typeface="+mn-ea"/>
                          <a:ea typeface="+mn-ea"/>
                        </a:rPr>
                        <a:t>, </a:t>
                      </a:r>
                      <a:r>
                        <a:rPr lang="ko-KR" altLang="en-US" sz="800" dirty="0">
                          <a:latin typeface="+mn-ea"/>
                          <a:ea typeface="+mn-ea"/>
                        </a:rPr>
                        <a:t>복수예비가격 선택 초기화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3052272"/>
                  </a:ext>
                </a:extLst>
              </a:tr>
            </a:tbl>
          </a:graphicData>
        </a:graphic>
      </p:graphicFrame>
      <p:sp>
        <p:nvSpPr>
          <p:cNvPr id="10" name="Text Box 73">
            <a:extLst>
              <a:ext uri="{FF2B5EF4-FFF2-40B4-BE49-F238E27FC236}">
                <a16:creationId xmlns:a16="http://schemas.microsoft.com/office/drawing/2014/main" id="{DC7AE4E9-B4EB-D6F6-15F8-76DA74F8CD94}"/>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344438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endParaRPr lang="en-US" altLang="ko-KR" dirty="0"/>
          </a:p>
          <a:p>
            <a:pPr marL="228600" indent="-228600">
              <a:buFont typeface="+mj-lt"/>
              <a:buAutoNum type="arabicPeriod"/>
            </a:pPr>
            <a:r>
              <a:rPr lang="ko-KR" altLang="en-US" dirty="0"/>
              <a:t>전자서명 진행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입찰참가신청</a:t>
            </a:r>
            <a:r>
              <a:rPr lang="en-US" altLang="ko-KR" dirty="0"/>
              <a:t>, </a:t>
            </a:r>
            <a:r>
              <a:rPr lang="ko-KR" altLang="en-US" dirty="0"/>
              <a:t>입찰서에 전자서명 처리 </a:t>
            </a:r>
            <a:r>
              <a:rPr lang="ko-KR" altLang="en-US" dirty="0" smtClean="0"/>
              <a:t>화면</a:t>
            </a:r>
            <a:r>
              <a:rPr lang="en-US" altLang="ko-KR" dirty="0" smtClean="0"/>
              <a:t/>
            </a:r>
            <a:br>
              <a:rPr lang="en-US" altLang="ko-KR" dirty="0" smtClean="0"/>
            </a:br>
            <a:r>
              <a:rPr lang="en-US" altLang="ko-KR" dirty="0" smtClean="0"/>
              <a:t>-</a:t>
            </a:r>
            <a:r>
              <a:rPr lang="en-US" altLang="ko-KR" sz="800" dirty="0" smtClean="0"/>
              <a:t> </a:t>
            </a:r>
            <a:r>
              <a:rPr lang="ko-KR" altLang="en-US" sz="800" dirty="0" smtClean="0"/>
              <a:t>인증서 </a:t>
            </a:r>
            <a:r>
              <a:rPr lang="ko-KR" altLang="en-US" sz="800" dirty="0"/>
              <a:t>한국정보인증 스마트 </a:t>
            </a:r>
            <a:r>
              <a:rPr lang="en-US" altLang="ko-KR" sz="800" dirty="0"/>
              <a:t>PKI </a:t>
            </a:r>
            <a:r>
              <a:rPr lang="ko-KR" altLang="en-US" sz="800" dirty="0"/>
              <a:t>솔루션을 사용함</a:t>
            </a:r>
            <a:r>
              <a:rPr lang="en-US" altLang="ko-KR" sz="800" dirty="0"/>
              <a:t>.  </a:t>
            </a:r>
            <a:br>
              <a:rPr lang="en-US" altLang="ko-KR" sz="800" dirty="0"/>
            </a:br>
            <a:r>
              <a:rPr lang="en-US" altLang="ko-KR" sz="800" dirty="0" err="1"/>
              <a:t>SmartPKI</a:t>
            </a:r>
            <a:r>
              <a:rPr lang="en-US" altLang="ko-KR" sz="800" dirty="0"/>
              <a:t> v2.2.5_AOS  </a:t>
            </a:r>
            <a:br>
              <a:rPr lang="en-US" altLang="ko-KR" sz="800" dirty="0"/>
            </a:br>
            <a:r>
              <a:rPr lang="ko-KR" altLang="en-US" sz="800" dirty="0"/>
              <a:t>개발자 </a:t>
            </a:r>
            <a:r>
              <a:rPr lang="en-US" altLang="ko-KR" sz="800" dirty="0"/>
              <a:t>SDK http://developer.android.com/sdk/index.html  &gt; SmartPKI_v2.3.2_iOS </a:t>
            </a:r>
            <a:endParaRPr lang="en-US" altLang="ko-KR" sz="800" dirty="0" smtClean="0"/>
          </a:p>
          <a:p>
            <a:pPr marL="0" indent="0">
              <a:buNone/>
            </a:pPr>
            <a:endParaRPr lang="en-US" altLang="ko-KR" sz="800"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smtClean="0">
                <a:latin typeface="+mn-ea"/>
              </a:rPr>
              <a:t>전자서명</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신청 </a:t>
            </a:r>
            <a:r>
              <a:rPr lang="ko-KR" altLang="en-US" dirty="0"/>
              <a:t>프로세스 중 </a:t>
            </a:r>
            <a:r>
              <a:rPr lang="ko-KR" altLang="en-US" dirty="0">
                <a:latin typeface="+mn-ea"/>
              </a:rPr>
              <a:t>전자서명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전자서명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MUI-BD-04-M21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27313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9" name="TextBox 178">
            <a:extLst>
              <a:ext uri="{FF2B5EF4-FFF2-40B4-BE49-F238E27FC236}">
                <a16:creationId xmlns:a16="http://schemas.microsoft.com/office/drawing/2014/main" id="{FFC49AEA-2A8F-250C-A86A-A7751D9706C3}"/>
              </a:ext>
            </a:extLst>
          </p:cNvPr>
          <p:cNvSpPr txBox="1"/>
          <p:nvPr/>
        </p:nvSpPr>
        <p:spPr>
          <a:xfrm>
            <a:off x="764658" y="3127233"/>
            <a:ext cx="2497672" cy="396583"/>
          </a:xfrm>
          <a:prstGeom prst="rect">
            <a:avLst/>
          </a:prstGeom>
          <a:noFill/>
        </p:spPr>
        <p:txBody>
          <a:bodyPr wrap="square" lIns="0" tIns="0" rIns="0" bIns="0" rtlCol="0">
            <a:spAutoFit/>
          </a:bodyPr>
          <a:lstStyle/>
          <a:p>
            <a:pPr algn="ctr">
              <a:lnSpc>
                <a:spcPct val="200000"/>
              </a:lnSpc>
            </a:pPr>
            <a:r>
              <a:rPr lang="ko-KR" altLang="en-US" sz="700" dirty="0">
                <a:latin typeface="+mn-ea"/>
              </a:rPr>
              <a:t>전자서명 창이 닫혔을 경우 아래 버튼을 통해</a:t>
            </a:r>
            <a:endParaRPr lang="en-US" altLang="ko-KR" sz="700" dirty="0">
              <a:latin typeface="+mn-ea"/>
            </a:endParaRPr>
          </a:p>
          <a:p>
            <a:pPr algn="ctr">
              <a:lnSpc>
                <a:spcPct val="200000"/>
              </a:lnSpc>
            </a:pPr>
            <a:r>
              <a:rPr lang="ko-KR" altLang="en-US" sz="700" dirty="0">
                <a:latin typeface="+mn-ea"/>
              </a:rPr>
              <a:t>전자 서명을 다시 띄울 수 있습니다</a:t>
            </a:r>
            <a:r>
              <a:rPr lang="en-US" altLang="ko-KR" sz="700" dirty="0">
                <a:latin typeface="+mn-ea"/>
              </a:rPr>
              <a:t>.</a:t>
            </a:r>
            <a:endParaRPr lang="ko-KR" altLang="en-US" sz="700" dirty="0">
              <a:latin typeface="+mn-ea"/>
            </a:endParaRPr>
          </a:p>
        </p:txBody>
      </p:sp>
      <p:sp>
        <p:nvSpPr>
          <p:cNvPr id="238" name="모서리가 둥근 직사각형 23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68" name="TextBox 67">
            <a:extLst>
              <a:ext uri="{FF2B5EF4-FFF2-40B4-BE49-F238E27FC236}">
                <a16:creationId xmlns:a16="http://schemas.microsoft.com/office/drawing/2014/main" id="{FFC49AEA-2A8F-250C-A86A-A7751D9706C3}"/>
              </a:ext>
            </a:extLst>
          </p:cNvPr>
          <p:cNvSpPr txBox="1"/>
          <p:nvPr/>
        </p:nvSpPr>
        <p:spPr>
          <a:xfrm>
            <a:off x="764658" y="2690414"/>
            <a:ext cx="2497672" cy="258789"/>
          </a:xfrm>
          <a:prstGeom prst="rect">
            <a:avLst/>
          </a:prstGeom>
          <a:noFill/>
        </p:spPr>
        <p:txBody>
          <a:bodyPr wrap="square" lIns="0" tIns="0" rIns="0" bIns="0" rtlCol="0">
            <a:spAutoFit/>
          </a:bodyPr>
          <a:lstStyle/>
          <a:p>
            <a:pPr algn="ctr">
              <a:lnSpc>
                <a:spcPct val="200000"/>
              </a:lnSpc>
            </a:pPr>
            <a:r>
              <a:rPr lang="ko-KR" altLang="en-US" sz="1000" b="1" dirty="0">
                <a:latin typeface="+mn-ea"/>
              </a:rPr>
              <a:t>전자서명을 진행합니다</a:t>
            </a:r>
            <a:r>
              <a:rPr lang="en-US" altLang="ko-KR" sz="1000" b="1" dirty="0">
                <a:latin typeface="+mn-ea"/>
              </a:rPr>
              <a:t>.</a:t>
            </a:r>
            <a:endParaRPr lang="ko-KR" altLang="en-US" sz="1000" b="1" dirty="0">
              <a:latin typeface="+mn-ea"/>
            </a:endParaRPr>
          </a:p>
        </p:txBody>
      </p:sp>
      <p:sp>
        <p:nvSpPr>
          <p:cNvPr id="75" name="사각형: 둥근 모서리 15">
            <a:extLst>
              <a:ext uri="{FF2B5EF4-FFF2-40B4-BE49-F238E27FC236}">
                <a16:creationId xmlns:a16="http://schemas.microsoft.com/office/drawing/2014/main" id="{E2B61CFB-AD16-68D0-8752-50D9C5E01971}"/>
              </a:ext>
            </a:extLst>
          </p:cNvPr>
          <p:cNvSpPr/>
          <p:nvPr/>
        </p:nvSpPr>
        <p:spPr>
          <a:xfrm>
            <a:off x="1072005" y="4794205"/>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전자서명 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76" name="직사각형 7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7" name="직선 연결선 76">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8" name="그룹 77"/>
          <p:cNvGrpSpPr/>
          <p:nvPr/>
        </p:nvGrpSpPr>
        <p:grpSpPr>
          <a:xfrm>
            <a:off x="6258712" y="1650089"/>
            <a:ext cx="94010" cy="94010"/>
            <a:chOff x="6812560" y="3297172"/>
            <a:chExt cx="94010" cy="94010"/>
          </a:xfrm>
        </p:grpSpPr>
        <p:cxnSp>
          <p:nvCxnSpPr>
            <p:cNvPr id="79" name="직선 연결선 7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81" name="TextBox 80">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a:latin typeface="+mn-ea"/>
              </a:rPr>
              <a:t>전자서명</a:t>
            </a:r>
          </a:p>
        </p:txBody>
      </p:sp>
      <p:sp>
        <p:nvSpPr>
          <p:cNvPr id="82" name="TextBox 81">
            <a:extLst>
              <a:ext uri="{FF2B5EF4-FFF2-40B4-BE49-F238E27FC236}">
                <a16:creationId xmlns:a16="http://schemas.microsoft.com/office/drawing/2014/main" id="{FFC49AEA-2A8F-250C-A86A-A7751D9706C3}"/>
              </a:ext>
            </a:extLst>
          </p:cNvPr>
          <p:cNvSpPr txBox="1"/>
          <p:nvPr/>
        </p:nvSpPr>
        <p:spPr>
          <a:xfrm>
            <a:off x="3898850" y="1956832"/>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인증서 목록</a:t>
            </a:r>
          </a:p>
        </p:txBody>
      </p:sp>
      <p:sp>
        <p:nvSpPr>
          <p:cNvPr id="83" name="TextBox 82">
            <a:extLst>
              <a:ext uri="{FF2B5EF4-FFF2-40B4-BE49-F238E27FC236}">
                <a16:creationId xmlns:a16="http://schemas.microsoft.com/office/drawing/2014/main" id="{FFC49AEA-2A8F-250C-A86A-A7751D9706C3}"/>
              </a:ext>
            </a:extLst>
          </p:cNvPr>
          <p:cNvSpPr txBox="1"/>
          <p:nvPr/>
        </p:nvSpPr>
        <p:spPr>
          <a:xfrm>
            <a:off x="3898850" y="2185197"/>
            <a:ext cx="670770" cy="678647"/>
          </a:xfrm>
          <a:prstGeom prst="rect">
            <a:avLst/>
          </a:prstGeom>
          <a:noFill/>
        </p:spPr>
        <p:txBody>
          <a:bodyPr wrap="square" lIns="0" tIns="0" rIns="0" bIns="0" rtlCol="0">
            <a:spAutoFit/>
          </a:bodyPr>
          <a:lstStyle/>
          <a:p>
            <a:pPr>
              <a:lnSpc>
                <a:spcPct val="210000"/>
              </a:lnSpc>
            </a:pPr>
            <a:r>
              <a:rPr lang="ko-KR" altLang="en-US" sz="700" dirty="0">
                <a:latin typeface="+mn-ea"/>
              </a:rPr>
              <a:t>인증서 </a:t>
            </a:r>
            <a:r>
              <a:rPr lang="en-US" altLang="ko-KR" sz="700" dirty="0">
                <a:latin typeface="+mn-ea"/>
              </a:rPr>
              <a:t>1</a:t>
            </a:r>
          </a:p>
          <a:p>
            <a:pPr>
              <a:lnSpc>
                <a:spcPct val="210000"/>
              </a:lnSpc>
            </a:pPr>
            <a:r>
              <a:rPr lang="ko-KR" altLang="en-US" sz="700" dirty="0">
                <a:latin typeface="+mn-ea"/>
              </a:rPr>
              <a:t>인증서 </a:t>
            </a:r>
            <a:r>
              <a:rPr lang="en-US" altLang="ko-KR" sz="700" dirty="0">
                <a:latin typeface="+mn-ea"/>
              </a:rPr>
              <a:t>2</a:t>
            </a:r>
          </a:p>
          <a:p>
            <a:pPr>
              <a:lnSpc>
                <a:spcPct val="210000"/>
              </a:lnSpc>
            </a:pPr>
            <a:r>
              <a:rPr lang="ko-KR" altLang="en-US" sz="700" dirty="0">
                <a:latin typeface="+mn-ea"/>
              </a:rPr>
              <a:t>인증서 </a:t>
            </a:r>
            <a:r>
              <a:rPr lang="en-US" altLang="ko-KR" sz="700" dirty="0">
                <a:latin typeface="+mn-ea"/>
              </a:rPr>
              <a:t>3</a:t>
            </a:r>
          </a:p>
        </p:txBody>
      </p:sp>
      <p:sp>
        <p:nvSpPr>
          <p:cNvPr id="84" name="TextBox 83">
            <a:extLst>
              <a:ext uri="{FF2B5EF4-FFF2-40B4-BE49-F238E27FC236}">
                <a16:creationId xmlns:a16="http://schemas.microsoft.com/office/drawing/2014/main" id="{FFC49AEA-2A8F-250C-A86A-A7751D9706C3}"/>
              </a:ext>
            </a:extLst>
          </p:cNvPr>
          <p:cNvSpPr txBox="1"/>
          <p:nvPr/>
        </p:nvSpPr>
        <p:spPr>
          <a:xfrm>
            <a:off x="5114610" y="2185197"/>
            <a:ext cx="1238112" cy="678647"/>
          </a:xfrm>
          <a:prstGeom prst="rect">
            <a:avLst/>
          </a:prstGeom>
          <a:noFill/>
        </p:spPr>
        <p:txBody>
          <a:bodyPr wrap="square" lIns="0" tIns="0" rIns="0" bIns="0" rtlCol="0">
            <a:spAutoFit/>
          </a:bodyPr>
          <a:lstStyle/>
          <a:p>
            <a:pPr algn="r">
              <a:lnSpc>
                <a:spcPct val="210000"/>
              </a:lnSpc>
            </a:pPr>
            <a:r>
              <a:rPr lang="ko-KR" altLang="en-US" sz="700" dirty="0">
                <a:latin typeface="+mn-ea"/>
              </a:rPr>
              <a:t>유효기간</a:t>
            </a:r>
            <a:r>
              <a:rPr lang="en-US" altLang="ko-KR" sz="700" dirty="0">
                <a:latin typeface="+mn-ea"/>
              </a:rPr>
              <a:t>: 2025-10-30</a:t>
            </a:r>
          </a:p>
          <a:p>
            <a:pPr algn="r">
              <a:lnSpc>
                <a:spcPct val="210000"/>
              </a:lnSpc>
            </a:pPr>
            <a:r>
              <a:rPr lang="ko-KR" altLang="en-US" sz="700" dirty="0">
                <a:latin typeface="+mn-ea"/>
              </a:rPr>
              <a:t>유효기간</a:t>
            </a:r>
            <a:r>
              <a:rPr lang="en-US" altLang="ko-KR" sz="700" dirty="0">
                <a:latin typeface="+mn-ea"/>
              </a:rPr>
              <a:t>: 2025-10-30</a:t>
            </a:r>
          </a:p>
          <a:p>
            <a:pPr algn="r">
              <a:lnSpc>
                <a:spcPct val="210000"/>
              </a:lnSpc>
            </a:pPr>
            <a:r>
              <a:rPr lang="ko-KR" altLang="en-US" sz="700" dirty="0">
                <a:latin typeface="+mn-ea"/>
              </a:rPr>
              <a:t>유효기간</a:t>
            </a:r>
            <a:r>
              <a:rPr lang="en-US" altLang="ko-KR" sz="700" dirty="0">
                <a:latin typeface="+mn-ea"/>
              </a:rPr>
              <a:t>: 2025-10-30</a:t>
            </a:r>
          </a:p>
        </p:txBody>
      </p:sp>
      <p:sp>
        <p:nvSpPr>
          <p:cNvPr id="85" name="사각형: 둥근 모서리 15">
            <a:extLst>
              <a:ext uri="{FF2B5EF4-FFF2-40B4-BE49-F238E27FC236}">
                <a16:creationId xmlns:a16="http://schemas.microsoft.com/office/drawing/2014/main" id="{E2B61CFB-AD16-68D0-8752-50D9C5E01971}"/>
              </a:ext>
            </a:extLst>
          </p:cNvPr>
          <p:cNvSpPr/>
          <p:nvPr/>
        </p:nvSpPr>
        <p:spPr>
          <a:xfrm>
            <a:off x="4567958" y="4020146"/>
            <a:ext cx="1845838" cy="244350"/>
          </a:xfrm>
          <a:prstGeom prst="roundRect">
            <a:avLst/>
          </a:prstGeom>
          <a:solidFill>
            <a:srgbClr val="0070C0"/>
          </a:solid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chemeClr val="bg1"/>
                </a:solidFill>
                <a:latin typeface="맑은 고딕"/>
                <a:ea typeface="맑은 고딕" panose="020B0503020000020004" pitchFamily="50" charset="-127"/>
              </a:rPr>
              <a:t>전자서명</a:t>
            </a:r>
            <a:endParaRPr kumimoji="1" lang="en-US" sz="800" b="0" i="0" u="none" strike="noStrike" kern="0" cap="none" spc="0" normalizeH="0" baseline="0" noProof="0" dirty="0">
              <a:ln>
                <a:noFill/>
              </a:ln>
              <a:solidFill>
                <a:schemeClr val="bg1"/>
              </a:solidFill>
              <a:effectLst/>
              <a:uLnTx/>
              <a:uFillTx/>
              <a:latin typeface="맑은 고딕"/>
            </a:endParaRPr>
          </a:p>
        </p:txBody>
      </p:sp>
      <p:sp>
        <p:nvSpPr>
          <p:cNvPr id="86" name="직사각형 85">
            <a:extLst>
              <a:ext uri="{FF2B5EF4-FFF2-40B4-BE49-F238E27FC236}">
                <a16:creationId xmlns:a16="http://schemas.microsoft.com/office/drawing/2014/main" id="{F56F1743-11A0-EA94-9184-4E42C0A37F9C}"/>
              </a:ext>
            </a:extLst>
          </p:cNvPr>
          <p:cNvSpPr/>
          <p:nvPr/>
        </p:nvSpPr>
        <p:spPr>
          <a:xfrm>
            <a:off x="380204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87" name="사각형: 둥근 모서리 15">
            <a:extLst>
              <a:ext uri="{FF2B5EF4-FFF2-40B4-BE49-F238E27FC236}">
                <a16:creationId xmlns:a16="http://schemas.microsoft.com/office/drawing/2014/main" id="{E2B61CFB-AD16-68D0-8752-50D9C5E01971}"/>
              </a:ext>
            </a:extLst>
          </p:cNvPr>
          <p:cNvSpPr/>
          <p:nvPr/>
        </p:nvSpPr>
        <p:spPr>
          <a:xfrm>
            <a:off x="3928556" y="4020146"/>
            <a:ext cx="586688" cy="24435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a:latin typeface="맑은 고딕"/>
                <a:ea typeface="맑은 고딕" panose="020B0503020000020004" pitchFamily="50" charset="-127"/>
              </a:rPr>
              <a:t>취소</a:t>
            </a:r>
            <a:endParaRPr kumimoji="1" lang="en-US" sz="800" b="0" i="0" u="none" strike="noStrike" kern="0" cap="none" spc="0" normalizeH="0" baseline="0" noProof="0" dirty="0">
              <a:ln>
                <a:noFill/>
              </a:ln>
              <a:effectLst/>
              <a:uLnTx/>
              <a:uFillTx/>
              <a:latin typeface="맑은 고딕"/>
            </a:endParaRPr>
          </a:p>
        </p:txBody>
      </p:sp>
      <p:sp>
        <p:nvSpPr>
          <p:cNvPr id="88" name="사각형: 둥근 모서리 15">
            <a:extLst>
              <a:ext uri="{FF2B5EF4-FFF2-40B4-BE49-F238E27FC236}">
                <a16:creationId xmlns:a16="http://schemas.microsoft.com/office/drawing/2014/main" id="{E2B61CFB-AD16-68D0-8752-50D9C5E01971}"/>
              </a:ext>
            </a:extLst>
          </p:cNvPr>
          <p:cNvSpPr/>
          <p:nvPr/>
        </p:nvSpPr>
        <p:spPr>
          <a:xfrm>
            <a:off x="3868242" y="2207142"/>
            <a:ext cx="2567010"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3898850" y="3055173"/>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비밀번호 입력</a:t>
            </a:r>
          </a:p>
        </p:txBody>
      </p:sp>
      <p:sp>
        <p:nvSpPr>
          <p:cNvPr id="90" name="사각형: 둥근 모서리 15">
            <a:extLst>
              <a:ext uri="{FF2B5EF4-FFF2-40B4-BE49-F238E27FC236}">
                <a16:creationId xmlns:a16="http://schemas.microsoft.com/office/drawing/2014/main" id="{E2B61CFB-AD16-68D0-8752-50D9C5E01971}"/>
              </a:ext>
            </a:extLst>
          </p:cNvPr>
          <p:cNvSpPr/>
          <p:nvPr/>
        </p:nvSpPr>
        <p:spPr>
          <a:xfrm>
            <a:off x="3868242" y="3305483"/>
            <a:ext cx="2567010" cy="244350"/>
          </a:xfrm>
          <a:prstGeom prst="roundRect">
            <a:avLst/>
          </a:prstGeom>
          <a:noFill/>
          <a:ln w="12700" cap="flat" cmpd="sng" algn="ctr">
            <a:solidFill>
              <a:schemeClr val="bg1">
                <a:lumMod val="75000"/>
              </a:schemeClr>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35" name="직사각형 34"/>
          <p:cNvSpPr/>
          <p:nvPr/>
        </p:nvSpPr>
        <p:spPr>
          <a:xfrm>
            <a:off x="7056784" y="6395830"/>
            <a:ext cx="2378816" cy="6914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500" dirty="0"/>
              <a:t>감리 추가 사항 </a:t>
            </a:r>
            <a:r>
              <a:rPr lang="en-US" altLang="ko-KR" sz="500" dirty="0"/>
              <a:t>2026-04-08</a:t>
            </a:r>
            <a:endParaRPr lang="ko-KR" altLang="en-US" sz="500" dirty="0"/>
          </a:p>
        </p:txBody>
      </p:sp>
    </p:spTree>
    <p:extLst>
      <p:ext uri="{BB962C8B-B14F-4D97-AF65-F5344CB8AC3E}">
        <p14:creationId xmlns:p14="http://schemas.microsoft.com/office/powerpoint/2010/main" val="410684400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endParaRPr lang="en-US" altLang="ko-KR" dirty="0"/>
          </a:p>
          <a:p>
            <a:pPr marL="228600" indent="-228600">
              <a:buFont typeface="+mj-lt"/>
              <a:buAutoNum type="arabicPeriod"/>
            </a:pPr>
            <a:r>
              <a:rPr lang="ko-KR" altLang="en-US" dirty="0" err="1"/>
              <a:t>신청완료</a:t>
            </a:r>
            <a:r>
              <a:rPr lang="ko-KR" altLang="en-US" dirty="0"/>
              <a:t> 정보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입찰참가신청</a:t>
            </a:r>
            <a:r>
              <a:rPr lang="en-US" altLang="ko-KR" dirty="0"/>
              <a:t>, </a:t>
            </a:r>
            <a:r>
              <a:rPr lang="ko-KR" altLang="en-US" dirty="0"/>
              <a:t>입찰서에 따라 표시 텍스트 </a:t>
            </a:r>
            <a:r>
              <a:rPr lang="ko-KR" altLang="en-US" dirty="0" smtClean="0"/>
              <a:t>변경</a:t>
            </a:r>
            <a:endParaRPr lang="en-US" altLang="ko-KR" dirty="0" smtClean="0"/>
          </a:p>
          <a:p>
            <a:pPr marL="0" indent="0">
              <a:buNone/>
            </a:pPr>
            <a:r>
              <a:rPr lang="en-US" altLang="ko-KR" dirty="0" smtClean="0"/>
              <a:t>2. </a:t>
            </a:r>
            <a:r>
              <a:rPr lang="ko-KR" altLang="en-US" dirty="0" err="1" smtClean="0"/>
              <a:t>입찰서조회</a:t>
            </a:r>
            <a:r>
              <a:rPr lang="en-US" altLang="ko-KR" dirty="0" smtClean="0"/>
              <a:t>(</a:t>
            </a:r>
            <a:r>
              <a:rPr lang="en-US" altLang="ko-KR" dirty="0"/>
              <a:t>MUI-BD-06-M09 </a:t>
            </a:r>
            <a:r>
              <a:rPr lang="en-US" altLang="ko-KR" dirty="0" smtClean="0"/>
              <a:t>)</a:t>
            </a:r>
            <a:r>
              <a:rPr lang="ko-KR" altLang="en-US" dirty="0" smtClean="0"/>
              <a:t>화면으로 이동</a:t>
            </a:r>
            <a:r>
              <a:rPr lang="en-US" altLang="ko-KR" dirty="0" smtClean="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신청완료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a:t>
            </a:r>
            <a:r>
              <a:rPr lang="ko-KR" altLang="en-US" dirty="0"/>
              <a:t> 화면으로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a:t>프로세스 중 </a:t>
            </a:r>
            <a:r>
              <a:rPr lang="ko-KR" altLang="en-US" dirty="0">
                <a:latin typeface="+mn-ea"/>
              </a:rPr>
              <a:t>약관 동의</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smtClean="0">
                <a:latin typeface="+mn-ea"/>
              </a:rPr>
              <a:t>신청완료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27313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62" name="그룹 161"/>
          <p:cNvGrpSpPr/>
          <p:nvPr/>
        </p:nvGrpSpPr>
        <p:grpSpPr>
          <a:xfrm>
            <a:off x="675399"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작성 내용 확인</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목록</a:t>
              </a:r>
              <a:endParaRPr kumimoji="1" lang="en-US" sz="1000" b="0" i="0" u="none" strike="noStrike" kern="0" cap="none" spc="0" normalizeH="0" baseline="0" noProof="0" dirty="0">
                <a:ln>
                  <a:noFill/>
                </a:ln>
                <a:effectLst/>
                <a:uLnTx/>
                <a:uFillTx/>
                <a:latin typeface="맑은 고딕"/>
              </a:endParaRPr>
            </a:p>
          </p:txBody>
        </p:sp>
      </p:gr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9" name="TextBox 178">
            <a:extLst>
              <a:ext uri="{FF2B5EF4-FFF2-40B4-BE49-F238E27FC236}">
                <a16:creationId xmlns:a16="http://schemas.microsoft.com/office/drawing/2014/main" id="{FFC49AEA-2A8F-250C-A86A-A7751D9706C3}"/>
              </a:ext>
            </a:extLst>
          </p:cNvPr>
          <p:cNvSpPr txBox="1"/>
          <p:nvPr/>
        </p:nvSpPr>
        <p:spPr>
          <a:xfrm>
            <a:off x="764658" y="3304378"/>
            <a:ext cx="2497672" cy="430887"/>
          </a:xfrm>
          <a:prstGeom prst="rect">
            <a:avLst/>
          </a:prstGeom>
          <a:noFill/>
        </p:spPr>
        <p:txBody>
          <a:bodyPr wrap="square" lIns="0" tIns="0" rIns="0" bIns="0" rtlCol="0">
            <a:spAutoFit/>
          </a:bodyPr>
          <a:lstStyle/>
          <a:p>
            <a:pPr algn="ctr">
              <a:lnSpc>
                <a:spcPct val="200000"/>
              </a:lnSpc>
            </a:pPr>
            <a:r>
              <a:rPr lang="ko-KR" altLang="en-US" sz="700" dirty="0">
                <a:latin typeface="+mn-ea"/>
              </a:rPr>
              <a:t>신청 번호 </a:t>
            </a:r>
            <a:r>
              <a:rPr lang="en-US" altLang="ko-KR" sz="700" dirty="0">
                <a:latin typeface="+mn-ea"/>
              </a:rPr>
              <a:t>0000 000 0000</a:t>
            </a:r>
          </a:p>
          <a:p>
            <a:pPr algn="ctr">
              <a:lnSpc>
                <a:spcPct val="200000"/>
              </a:lnSpc>
            </a:pPr>
            <a:r>
              <a:rPr lang="ko-KR" altLang="en-US" sz="700" dirty="0">
                <a:latin typeface="+mn-ea"/>
              </a:rPr>
              <a:t>신청 완료 일시 </a:t>
            </a:r>
            <a:r>
              <a:rPr lang="en-US" altLang="ko-KR" sz="700" dirty="0">
                <a:latin typeface="+mn-ea"/>
              </a:rPr>
              <a:t>2025-10-31 12:30</a:t>
            </a:r>
            <a:endParaRPr lang="ko-KR" altLang="en-US" sz="700" dirty="0">
              <a:latin typeface="+mn-ea"/>
            </a:endParaRPr>
          </a:p>
        </p:txBody>
      </p:sp>
      <p:sp>
        <p:nvSpPr>
          <p:cNvPr id="238" name="모서리가 둥근 직사각형 23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68" name="TextBox 67">
            <a:extLst>
              <a:ext uri="{FF2B5EF4-FFF2-40B4-BE49-F238E27FC236}">
                <a16:creationId xmlns:a16="http://schemas.microsoft.com/office/drawing/2014/main" id="{FFC49AEA-2A8F-250C-A86A-A7751D9706C3}"/>
              </a:ext>
            </a:extLst>
          </p:cNvPr>
          <p:cNvSpPr txBox="1"/>
          <p:nvPr/>
        </p:nvSpPr>
        <p:spPr>
          <a:xfrm>
            <a:off x="764658" y="2867559"/>
            <a:ext cx="2497672" cy="258789"/>
          </a:xfrm>
          <a:prstGeom prst="rect">
            <a:avLst/>
          </a:prstGeom>
          <a:noFill/>
        </p:spPr>
        <p:txBody>
          <a:bodyPr wrap="square" lIns="0" tIns="0" rIns="0" bIns="0" rtlCol="0">
            <a:spAutoFit/>
          </a:bodyPr>
          <a:lstStyle/>
          <a:p>
            <a:pPr algn="ctr">
              <a:lnSpc>
                <a:spcPct val="200000"/>
              </a:lnSpc>
            </a:pPr>
            <a:r>
              <a:rPr lang="ko-KR" altLang="en-US" sz="1000" b="1" dirty="0">
                <a:latin typeface="+mn-ea"/>
              </a:rPr>
              <a:t>입찰서</a:t>
            </a:r>
            <a:r>
              <a:rPr lang="en-US" altLang="ko-KR" sz="1000" b="1" dirty="0">
                <a:latin typeface="+mn-ea"/>
              </a:rPr>
              <a:t>(</a:t>
            </a:r>
            <a:r>
              <a:rPr lang="ko-KR" altLang="en-US" sz="1000" b="1" dirty="0">
                <a:latin typeface="+mn-ea"/>
              </a:rPr>
              <a:t>견적서</a:t>
            </a:r>
            <a:r>
              <a:rPr lang="en-US" altLang="ko-KR" sz="1000" b="1" dirty="0">
                <a:latin typeface="+mn-ea"/>
              </a:rPr>
              <a:t>) </a:t>
            </a:r>
            <a:r>
              <a:rPr lang="ko-KR" altLang="en-US" sz="1000" b="1" dirty="0">
                <a:latin typeface="+mn-ea"/>
              </a:rPr>
              <a:t>신청 완료</a:t>
            </a:r>
          </a:p>
        </p:txBody>
      </p:sp>
      <p:sp>
        <p:nvSpPr>
          <p:cNvPr id="69" name="모서리가 둥근 직사각형 68"/>
          <p:cNvSpPr/>
          <p:nvPr/>
        </p:nvSpPr>
        <p:spPr>
          <a:xfrm>
            <a:off x="698357" y="4218736"/>
            <a:ext cx="2652743" cy="1302029"/>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TextBox 69">
            <a:extLst>
              <a:ext uri="{FF2B5EF4-FFF2-40B4-BE49-F238E27FC236}">
                <a16:creationId xmlns:a16="http://schemas.microsoft.com/office/drawing/2014/main" id="{FFC49AEA-2A8F-250C-A86A-A7751D9706C3}"/>
              </a:ext>
            </a:extLst>
          </p:cNvPr>
          <p:cNvSpPr txBox="1"/>
          <p:nvPr/>
        </p:nvSpPr>
        <p:spPr>
          <a:xfrm>
            <a:off x="787127" y="4317020"/>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본인은 국가를 당사자로 하는 계약에 관한 법률시행규칙에 의한 공사 입찰유의서에 따라 응찰하여 이 입찰이 귀 기관에 의하여 수락되면 공사 계약일반조건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계약특수조건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설계서 및 현장 설명 사항에 따라 위의 입찰금액으로 준공기한내에 공사를 완공할 것을 </a:t>
            </a:r>
            <a:r>
              <a:rPr lang="ko-KR" altLang="en-US" sz="700" dirty="0" err="1">
                <a:solidFill>
                  <a:schemeClr val="tx1">
                    <a:lumMod val="85000"/>
                    <a:lumOff val="15000"/>
                  </a:schemeClr>
                </a:solidFill>
                <a:latin typeface="맑은 고딕" panose="020B0503020000020004" pitchFamily="50" charset="-127"/>
              </a:rPr>
              <a:t>확약하오며</a:t>
            </a:r>
            <a:r>
              <a:rPr lang="ko-KR" altLang="en-US" sz="700" dirty="0">
                <a:solidFill>
                  <a:schemeClr val="tx1">
                    <a:lumMod val="85000"/>
                    <a:lumOff val="15000"/>
                  </a:schemeClr>
                </a:solidFill>
                <a:latin typeface="맑은 고딕" panose="020B0503020000020004" pitchFamily="50" charset="-127"/>
              </a:rPr>
              <a:t> 입찰서를 제출합니다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입찰서는 포기 또는 취소 후 재입찰이 불가하니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입찰포기</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또는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입찰취소</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시 유의하시기 바랍니다</a:t>
            </a:r>
            <a:r>
              <a:rPr lang="en-US" altLang="ko-KR" sz="700" dirty="0">
                <a:solidFill>
                  <a:schemeClr val="tx1">
                    <a:lumMod val="85000"/>
                    <a:lumOff val="15000"/>
                  </a:schemeClr>
                </a:solidFill>
                <a:latin typeface="맑은 고딕" panose="020B0503020000020004" pitchFamily="50" charset="-127"/>
              </a:rPr>
              <a:t>.</a:t>
            </a:r>
            <a:endParaRPr lang="en-US" altLang="ko-KR" sz="700" dirty="0">
              <a:latin typeface="+mn-ea"/>
            </a:endParaRPr>
          </a:p>
        </p:txBody>
      </p:sp>
      <p:sp>
        <p:nvSpPr>
          <p:cNvPr id="71" name="타원 70"/>
          <p:cNvSpPr/>
          <p:nvPr/>
        </p:nvSpPr>
        <p:spPr>
          <a:xfrm>
            <a:off x="783169" y="430736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2" name="그룹 71"/>
          <p:cNvGrpSpPr/>
          <p:nvPr/>
        </p:nvGrpSpPr>
        <p:grpSpPr>
          <a:xfrm flipV="1">
            <a:off x="3131990" y="4355867"/>
            <a:ext cx="94010" cy="47005"/>
            <a:chOff x="6812560" y="3297172"/>
            <a:chExt cx="94010" cy="47005"/>
          </a:xfrm>
        </p:grpSpPr>
        <p:cxnSp>
          <p:nvCxnSpPr>
            <p:cNvPr id="73" name="직선 연결선 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4" name="직선 연결선 7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0" name="직사각형 29"/>
          <p:cNvSpPr/>
          <p:nvPr/>
        </p:nvSpPr>
        <p:spPr>
          <a:xfrm>
            <a:off x="7056784" y="6395830"/>
            <a:ext cx="2378816" cy="6914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500" dirty="0"/>
              <a:t>감리 추가 사항 </a:t>
            </a:r>
            <a:r>
              <a:rPr lang="en-US" altLang="ko-KR" sz="500" dirty="0"/>
              <a:t>2026-04-08</a:t>
            </a:r>
            <a:endParaRPr lang="ko-KR" altLang="en-US" sz="500" dirty="0"/>
          </a:p>
        </p:txBody>
      </p:sp>
      <p:sp>
        <p:nvSpPr>
          <p:cNvPr id="29" name="타원 28"/>
          <p:cNvSpPr/>
          <p:nvPr/>
        </p:nvSpPr>
        <p:spPr>
          <a:xfrm>
            <a:off x="1821809" y="2349399"/>
            <a:ext cx="419206" cy="419206"/>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타원 30">
            <a:extLst>
              <a:ext uri="{FF2B5EF4-FFF2-40B4-BE49-F238E27FC236}">
                <a16:creationId xmlns:a16="http://schemas.microsoft.com/office/drawing/2014/main" id="{37A7FF4F-0EAA-1463-560A-D5EC24416103}"/>
              </a:ext>
            </a:extLst>
          </p:cNvPr>
          <p:cNvSpPr/>
          <p:nvPr/>
        </p:nvSpPr>
        <p:spPr>
          <a:xfrm>
            <a:off x="1366344" y="56878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ko-KR" altLang="en-US" sz="900" b="1" dirty="0" smtClean="0"/>
              <a:t>２</a:t>
            </a:r>
            <a:endParaRPr lang="ko-KR" altLang="en-US" sz="900" b="1" dirty="0"/>
          </a:p>
        </p:txBody>
      </p:sp>
    </p:spTree>
    <p:extLst>
      <p:ext uri="{BB962C8B-B14F-4D97-AF65-F5344CB8AC3E}">
        <p14:creationId xmlns:p14="http://schemas.microsoft.com/office/powerpoint/2010/main" val="342837775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97</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4. </a:t>
            </a:r>
            <a:r>
              <a:rPr lang="ko-KR" altLang="en-US" dirty="0" err="1" smtClean="0"/>
              <a:t>플로팅버튼</a:t>
            </a:r>
            <a:r>
              <a:rPr lang="ko-KR" altLang="en-US" dirty="0" smtClean="0"/>
              <a:t> 환율정보조회 </a:t>
            </a:r>
            <a:endParaRPr lang="en-US" altLang="ko-KR" dirty="0" smtClean="0"/>
          </a:p>
          <a:p>
            <a:r>
              <a:rPr lang="en-US" altLang="ko-KR" dirty="0" smtClean="0"/>
              <a:t>4.1 </a:t>
            </a:r>
            <a:r>
              <a:rPr lang="ko-KR" altLang="en-US" dirty="0" smtClean="0"/>
              <a:t>화면 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1683786838"/>
              </p:ext>
            </p:extLst>
          </p:nvPr>
        </p:nvGraphicFramePr>
        <p:xfrm>
          <a:off x="635474" y="1413419"/>
          <a:ext cx="8701200" cy="24475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t" latinLnBrk="1" hangingPunct="1">
                        <a:lnSpc>
                          <a:spcPct val="100000"/>
                        </a:lnSpc>
                        <a:spcBef>
                          <a:spcPts val="0"/>
                        </a:spcBef>
                        <a:spcAft>
                          <a:spcPts val="0"/>
                        </a:spcAft>
                        <a:buClrTx/>
                        <a:buSzTx/>
                        <a:buFontTx/>
                        <a:buNone/>
                        <a:tabLst/>
                        <a:defRPr/>
                      </a:pPr>
                      <a:r>
                        <a:rPr lang="en-US" altLang="ko-KR" sz="700" b="0" i="0" u="none" strike="noStrike" dirty="0">
                          <a:solidFill>
                            <a:srgbClr val="000000"/>
                          </a:solidFill>
                          <a:effectLst/>
                          <a:latin typeface="+mn-ea"/>
                          <a:ea typeface="+mn-ea"/>
                        </a:rPr>
                        <a:t>MUI-BD-01-P17</a:t>
                      </a:r>
                      <a:endParaRPr lang="ko-KR" altLang="en-US" sz="7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플로팅</a:t>
                      </a:r>
                      <a:r>
                        <a:rPr lang="ko-KR" altLang="en-US" sz="800" kern="1200" dirty="0">
                          <a:solidFill>
                            <a:schemeClr val="tx1"/>
                          </a:solidFill>
                          <a:latin typeface="+mn-ea"/>
                          <a:ea typeface="+mn-ea"/>
                          <a:cs typeface="+mn-cs"/>
                        </a:rPr>
                        <a:t>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err="1">
                          <a:latin typeface="+mn-ea"/>
                          <a:ea typeface="+mn-ea"/>
                        </a:rPr>
                        <a:t>FloatBtn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공고 버튼을 호출하기 위한 </a:t>
                      </a:r>
                      <a:r>
                        <a:rPr lang="ko-KR" altLang="en-US" sz="800" dirty="0" err="1">
                          <a:latin typeface="+mn-ea"/>
                        </a:rPr>
                        <a:t>플로팅</a:t>
                      </a:r>
                      <a:r>
                        <a:rPr lang="ko-KR" altLang="en-US" sz="800" dirty="0">
                          <a:latin typeface="+mn-ea"/>
                        </a:rPr>
                        <a:t>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FloatBtn</a:t>
                      </a:r>
                      <a:r>
                        <a:rPr lang="en-US" altLang="ko-KR" sz="800" dirty="0">
                          <a:solidFill>
                            <a:schemeClr val="tx1"/>
                          </a:solidFill>
                          <a:latin typeface="+mn-ea"/>
                          <a:ea typeface="+mn-ea"/>
                        </a:rPr>
                        <a:t>/</a:t>
                      </a:r>
                      <a:r>
                        <a:rPr lang="en-US" altLang="ko-KR" sz="800" dirty="0" err="1">
                          <a:solidFill>
                            <a:schemeClr val="tx1"/>
                          </a:solidFill>
                          <a:latin typeface="+mn-ea"/>
                          <a:ea typeface="+mn-ea"/>
                        </a:rPr>
                        <a:t>FloatBtn.tsx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l" fontAlgn="ctr"/>
                      <a:r>
                        <a:rPr lang="en-US" altLang="ko-KR" sz="700" b="0" i="0" u="none" strike="noStrike" dirty="0">
                          <a:solidFill>
                            <a:srgbClr val="000000"/>
                          </a:solidFill>
                          <a:effectLst/>
                          <a:latin typeface="+mn-ea"/>
                          <a:ea typeface="+mn-ea"/>
                        </a:rPr>
                        <a:t>MUI-BD-01-M74</a:t>
                      </a:r>
                      <a:endParaRPr lang="en-US" sz="7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환율정보조회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ea"/>
                          <a:ea typeface="+mn-ea"/>
                        </a:rPr>
                        <a:t>ovsExchrtListPopup</a:t>
                      </a:r>
                      <a:endParaRPr lang="en-US" sz="800" b="0" i="0" u="none" strike="noStrike" dirty="0">
                        <a:solidFill>
                          <a:srgbClr val="000000"/>
                        </a:solidFill>
                        <a:effectLst/>
                        <a:latin typeface="+mn-ea"/>
                        <a:ea typeface="+mn-ea"/>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환율 정보 조회</a:t>
                      </a:r>
                      <a:r>
                        <a:rPr lang="ko-KR" altLang="en-US" sz="800" kern="1200" baseline="0" dirty="0">
                          <a:solidFill>
                            <a:schemeClr val="tx1"/>
                          </a:solidFill>
                          <a:latin typeface="+mn-ea"/>
                          <a:ea typeface="+mn-ea"/>
                          <a:cs typeface="+mn-cs"/>
                        </a:rPr>
                        <a:t>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ea typeface="+mn-ea"/>
                        </a:rPr>
                        <a:t>ovsExchrtList</a:t>
                      </a:r>
                      <a:r>
                        <a:rPr lang="en-US" altLang="ko-KR" sz="800" b="0" i="0" u="none" strike="noStrike" dirty="0">
                          <a:solidFill>
                            <a:schemeClr val="tx1"/>
                          </a:solidFill>
                          <a:effectLst/>
                          <a:latin typeface="+mn-ea"/>
                          <a:ea typeface="+mn-ea"/>
                        </a:rPr>
                        <a:t>/</a:t>
                      </a:r>
                      <a:r>
                        <a:rPr lang="en-US" altLang="ko-KR" sz="800" b="0" i="0" u="none" strike="noStrike" dirty="0" err="1">
                          <a:solidFill>
                            <a:schemeClr val="tx1"/>
                          </a:solidFill>
                          <a:effectLst/>
                          <a:latin typeface="+mn-ea"/>
                          <a:ea typeface="+mn-ea"/>
                        </a:rPr>
                        <a:t>OvsExchrtListPage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365685885"/>
                  </a:ext>
                </a:extLst>
              </a:tr>
              <a:tr h="180000">
                <a:tc>
                  <a:txBody>
                    <a:bodyPr/>
                    <a:lstStyle/>
                    <a:p>
                      <a:pPr algn="l" fontAlgn="ct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fontAlgn="ct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endParaRPr lang="ko-KR" alt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845524264"/>
                  </a:ext>
                </a:extLst>
              </a:tr>
              <a:tr h="180000">
                <a:tc>
                  <a:txBody>
                    <a:bodyPr/>
                    <a:lstStyle/>
                    <a:p>
                      <a:pPr algn="l" fontAlgn="ct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fontAlgn="ct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endParaRPr lang="ko-KR" alt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464168277"/>
                  </a:ext>
                </a:extLst>
              </a:tr>
              <a:tr h="180000">
                <a:tc>
                  <a:txBody>
                    <a:bodyPr/>
                    <a:lstStyle/>
                    <a:p>
                      <a:pPr algn="l" fontAlgn="ctr"/>
                      <a:endParaRPr lang="en-US"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endParaRPr lang="en-US" sz="7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endParaRPr lang="ko-KR" altLang="en-US" sz="700" kern="1200" dirty="0" smtClean="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7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929804228"/>
                  </a:ext>
                </a:extLst>
              </a:tr>
              <a:tr h="180000">
                <a:tc>
                  <a:txBody>
                    <a:bodyPr/>
                    <a:lstStyle/>
                    <a:p>
                      <a:pPr algn="l" fontAlgn="ctr"/>
                      <a:endParaRPr lang="en-US"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endParaRPr lang="ko-KR" altLang="en-US" sz="700" dirty="0" smtClean="0">
                        <a:latin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endParaRPr lang="en-US" sz="7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endParaRPr lang="ko-KR" altLang="en-US" sz="700" kern="1200" dirty="0" smtClean="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7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50524329"/>
                  </a:ext>
                </a:extLst>
              </a:tr>
              <a:tr h="180000">
                <a:tc>
                  <a:txBody>
                    <a:bodyPr/>
                    <a:lstStyle/>
                    <a:p>
                      <a:pPr algn="l" fontAlgn="ctr"/>
                      <a:endParaRPr lang="en-US"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endParaRPr lang="ko-KR" altLang="en-US" sz="700" dirty="0" smtClean="0">
                        <a:latin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endParaRPr lang="en-US" sz="7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endParaRPr lang="ko-KR" altLang="en-US" sz="700" kern="1200" dirty="0" smtClean="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7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320180331"/>
                  </a:ext>
                </a:extLst>
              </a:tr>
              <a:tr h="180000">
                <a:tc>
                  <a:txBody>
                    <a:bodyPr/>
                    <a:lstStyle/>
                    <a:p>
                      <a:pPr marL="0" marR="0" indent="0" algn="l" defTabSz="914400" rtl="0" eaLnBrk="1" fontAlgn="t" latinLnBrk="1" hangingPunct="1">
                        <a:lnSpc>
                          <a:spcPct val="100000"/>
                        </a:lnSpc>
                        <a:spcBef>
                          <a:spcPts val="0"/>
                        </a:spcBef>
                        <a:spcAft>
                          <a:spcPts val="0"/>
                        </a:spcAft>
                        <a:buClrTx/>
                        <a:buSzTx/>
                        <a:buFontTx/>
                        <a:buNone/>
                        <a:tabLst/>
                        <a:defRPr/>
                      </a:pPr>
                      <a:endParaRPr lang="ko-KR" altLang="en-US"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endParaRPr lang="en-US" sz="7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endParaRPr lang="ko-KR" altLang="en-US" sz="700" dirty="0">
                        <a:latin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endParaRPr lang="en-US"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endParaRPr lang="en-US" sz="700" b="0" i="0" u="none" strike="noStrike" dirty="0">
                        <a:solidFill>
                          <a:schemeClr val="tx1"/>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solidFill>
                  </a:tcPr>
                </a:tc>
                <a:tc>
                  <a:txBody>
                    <a:bodyPr/>
                    <a:lstStyle/>
                    <a:p>
                      <a:pPr latinLnBrk="1">
                        <a:defRPr/>
                      </a:pP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solidFill>
                  </a:tcPr>
                </a:tc>
                <a:tc>
                  <a:txBody>
                    <a:bodyPr/>
                    <a:lstStyle/>
                    <a:p>
                      <a:pPr latinLnBrk="1">
                        <a:defRPr/>
                      </a:pP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86965223"/>
                  </a:ext>
                </a:extLst>
              </a:tr>
              <a:tr h="180000">
                <a:tc>
                  <a:txBody>
                    <a:bodyPr/>
                    <a:lstStyle/>
                    <a:p>
                      <a:pPr algn="l" fontAlgn="ctr"/>
                      <a:endParaRPr lang="en-US"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endParaRPr lang="ko-KR" altLang="en-US" sz="700" b="0" i="0" u="none" strike="noStrike" dirty="0">
                        <a:solidFill>
                          <a:srgbClr val="000000"/>
                        </a:solidFill>
                        <a:effectLst/>
                        <a:latin typeface="Calibri" panose="020F0502020204030204" pitchFamily="34" charset="0"/>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endParaRPr lang="en-US" sz="700" b="0" i="0" u="none" strike="noStrike" dirty="0">
                        <a:solidFill>
                          <a:schemeClr val="tx1"/>
                        </a:solidFill>
                        <a:effectLst/>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atinLnBrk="1">
                        <a:defRPr/>
                      </a:pP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atinLnBrk="1">
                        <a:defRPr/>
                      </a:pP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4713719"/>
                  </a:ext>
                </a:extLst>
              </a:tr>
              <a:tr h="180000">
                <a:tc>
                  <a:txBody>
                    <a:bodyPr/>
                    <a:lstStyle/>
                    <a:p>
                      <a:pPr algn="l" fontAlgn="ctr"/>
                      <a:endParaRPr lang="en-US" altLang="ko-KR" sz="700" b="0" i="0" u="none" strike="noStrike" kern="1200" dirty="0">
                        <a:solidFill>
                          <a:srgbClr val="000000"/>
                        </a:solidFill>
                        <a:effectLst/>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solidFill>
                      <a:schemeClr val="bg1"/>
                    </a:solidFill>
                  </a:tcPr>
                </a:tc>
                <a:tc>
                  <a:txBody>
                    <a:bodyPr/>
                    <a:lstStyle/>
                    <a:p>
                      <a:pPr algn="l" fontAlgn="ct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solidFill>
                      <a:schemeClr val="bg1"/>
                    </a:solidFill>
                  </a:tcPr>
                </a:tc>
                <a:tc>
                  <a:txBody>
                    <a:bodyPr/>
                    <a:lstStyle/>
                    <a:p>
                      <a:pPr algn="l" fontAlgn="ctr"/>
                      <a:endParaRPr lang="en-US" sz="700" b="0" i="0" u="none" strike="noStrike" dirty="0">
                        <a:solidFill>
                          <a:schemeClr val="tx1"/>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solidFill>
                      <a:schemeClr val="bg1"/>
                    </a:solidFill>
                  </a:tcPr>
                </a:tc>
                <a:tc>
                  <a:txBody>
                    <a:bodyPr/>
                    <a:lstStyle/>
                    <a:p>
                      <a:pPr algn="l" fontAlgn="ct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solidFill>
                      <a:schemeClr val="bg1"/>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solidFill>
                      <a:schemeClr val="bg1"/>
                    </a:solidFill>
                  </a:tcPr>
                </a:tc>
                <a:tc>
                  <a:txBody>
                    <a:bodyPr/>
                    <a:lstStyle/>
                    <a:p>
                      <a:pPr latinLnBrk="1">
                        <a:defRPr/>
                      </a:pP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solidFill>
                      <a:schemeClr val="bg1"/>
                    </a:solidFill>
                  </a:tcPr>
                </a:tc>
                <a:extLst>
                  <a:ext uri="{0D108BD9-81ED-4DB2-BD59-A6C34878D82A}">
                    <a16:rowId xmlns:a16="http://schemas.microsoft.com/office/drawing/2014/main" val="3451902935"/>
                  </a:ext>
                </a:extLst>
              </a:tr>
            </a:tbl>
          </a:graphicData>
        </a:graphic>
      </p:graphicFrame>
      <p:sp>
        <p:nvSpPr>
          <p:cNvPr id="6"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43992388"/>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조회일자</a:t>
            </a:r>
            <a:r>
              <a:rPr lang="ko-KR" altLang="en-US" dirty="0"/>
              <a:t> 정보 표시</a:t>
            </a:r>
            <a:r>
              <a:rPr lang="en-US" altLang="ko-KR" dirty="0"/>
              <a:t/>
            </a:r>
            <a:br>
              <a:rPr lang="en-US" altLang="ko-KR" dirty="0"/>
            </a:br>
            <a:r>
              <a:rPr lang="en-US" altLang="ko-KR" dirty="0"/>
              <a:t>- </a:t>
            </a:r>
            <a:r>
              <a:rPr lang="ko-KR" altLang="en-US" dirty="0"/>
              <a:t>직접입력</a:t>
            </a:r>
            <a:r>
              <a:rPr lang="en-US" altLang="ko-KR" dirty="0"/>
              <a:t>, </a:t>
            </a:r>
            <a:r>
              <a:rPr lang="ko-KR" altLang="en-US" dirty="0"/>
              <a:t>날짜 설정을 통한 검색</a:t>
            </a:r>
            <a:endParaRPr lang="en-US" altLang="ko-KR" dirty="0"/>
          </a:p>
          <a:p>
            <a:pPr marL="228600" indent="-228600">
              <a:buFont typeface="+mj-lt"/>
              <a:buAutoNum type="arabicPeriod"/>
            </a:pPr>
            <a:r>
              <a:rPr lang="ko-KR" altLang="en-US" dirty="0"/>
              <a:t>총 건수 표시</a:t>
            </a:r>
            <a:endParaRPr lang="en-US" altLang="ko-KR" dirty="0"/>
          </a:p>
          <a:p>
            <a:pPr marL="228600" indent="-228600">
              <a:buFont typeface="+mj-lt"/>
              <a:buAutoNum type="arabicPeriod"/>
            </a:pPr>
            <a:r>
              <a:rPr lang="ko-KR" altLang="en-US" dirty="0"/>
              <a:t>목록에서 기준이 되는 </a:t>
            </a:r>
            <a:r>
              <a:rPr lang="ko-KR" altLang="en-US" dirty="0" err="1"/>
              <a:t>미국환</a:t>
            </a:r>
            <a:r>
              <a:rPr lang="ko-KR" altLang="en-US" dirty="0"/>
              <a:t> 정보 </a:t>
            </a:r>
            <a:r>
              <a:rPr lang="ko-KR" altLang="en-US" dirty="0" err="1"/>
              <a:t>최상단</a:t>
            </a:r>
            <a:r>
              <a:rPr lang="ko-KR" altLang="en-US" dirty="0"/>
              <a:t> 표시</a:t>
            </a:r>
            <a:r>
              <a:rPr lang="en-US" altLang="ko-KR" dirty="0"/>
              <a:t/>
            </a:r>
            <a:br>
              <a:rPr lang="en-US" altLang="ko-KR" dirty="0"/>
            </a:br>
            <a:r>
              <a:rPr lang="en-US" altLang="ko-KR" dirty="0"/>
              <a:t>- </a:t>
            </a:r>
            <a:r>
              <a:rPr lang="ko-KR" altLang="en-US" dirty="0"/>
              <a:t>이후 </a:t>
            </a:r>
            <a:r>
              <a:rPr lang="en-US" altLang="ko-KR" dirty="0"/>
              <a:t>DB</a:t>
            </a:r>
            <a:r>
              <a:rPr lang="ko-KR" altLang="en-US" dirty="0"/>
              <a:t>상에 존재하는 순서대로 표시</a:t>
            </a:r>
            <a:r>
              <a:rPr lang="en-US" altLang="ko-KR" dirty="0"/>
              <a:t/>
            </a:r>
            <a:br>
              <a:rPr lang="en-US" altLang="ko-KR" dirty="0"/>
            </a:br>
            <a:r>
              <a:rPr lang="en-US" altLang="ko-KR" dirty="0"/>
              <a:t>- </a:t>
            </a:r>
            <a:r>
              <a:rPr lang="ko-KR" altLang="en-US" dirty="0" err="1"/>
              <a:t>매도율</a:t>
            </a:r>
            <a:r>
              <a:rPr lang="en-US" altLang="ko-KR" dirty="0"/>
              <a:t>, </a:t>
            </a:r>
            <a:r>
              <a:rPr lang="ko-KR" altLang="en-US" dirty="0"/>
              <a:t>기준율</a:t>
            </a:r>
            <a:r>
              <a:rPr lang="en-US" altLang="ko-KR" dirty="0"/>
              <a:t>, </a:t>
            </a:r>
            <a:r>
              <a:rPr lang="ko-KR" altLang="en-US" dirty="0"/>
              <a:t>달러환산율에서 기준율</a:t>
            </a:r>
            <a:r>
              <a:rPr lang="en-US" altLang="ko-KR" dirty="0"/>
              <a:t>, </a:t>
            </a:r>
            <a:r>
              <a:rPr lang="ko-KR" altLang="en-US" dirty="0" err="1"/>
              <a:t>달러환산율</a:t>
            </a:r>
            <a:r>
              <a:rPr lang="ko-KR" altLang="en-US" dirty="0"/>
              <a:t> 뒤 </a:t>
            </a:r>
            <a:r>
              <a:rPr lang="en-US" altLang="ko-KR" dirty="0"/>
              <a:t>KRW, USD </a:t>
            </a:r>
            <a:r>
              <a:rPr lang="ko-KR" altLang="en-US" dirty="0"/>
              <a:t>표시를 고정하여 추가 노출</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환율정보조회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환율정보</a:t>
            </a:r>
            <a:r>
              <a:rPr lang="ko-KR" altLang="en-US" dirty="0">
                <a:latin typeface="+mn-ea"/>
              </a:rPr>
              <a:t> 조회</a:t>
            </a:r>
            <a:r>
              <a:rPr lang="ko-KR" altLang="en-US" dirty="0"/>
              <a:t> 화면</a:t>
            </a:r>
            <a:endParaRPr lang="ko-KR" altLang="en-US"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latin typeface="+mn-ea"/>
              </a:rPr>
              <a:t>&gt; </a:t>
            </a:r>
            <a:r>
              <a:rPr lang="ko-KR" altLang="en-US" dirty="0">
                <a:latin typeface="+mn-ea"/>
              </a:rPr>
              <a:t>입찰 공고 </a:t>
            </a:r>
            <a:r>
              <a:rPr lang="en-US" altLang="ko-KR" dirty="0">
                <a:latin typeface="+mn-ea"/>
              </a:rPr>
              <a:t>&gt; </a:t>
            </a:r>
            <a:r>
              <a:rPr lang="ko-KR" altLang="en-US" dirty="0" err="1">
                <a:latin typeface="+mn-ea"/>
              </a:rPr>
              <a:t>환율정보</a:t>
            </a:r>
            <a:r>
              <a:rPr lang="ko-KR" altLang="en-US" dirty="0">
                <a:latin typeface="+mn-ea"/>
              </a:rPr>
              <a:t>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MUI-BD-01-M74</a:t>
            </a:r>
            <a:endParaRPr lang="ko-KR" altLang="en-US" dirty="0">
              <a:solidFill>
                <a:srgbClr val="000000"/>
              </a:solidFill>
              <a:latin typeface="맑은 고딕" panose="020B0503020000020004" pitchFamily="50" charset="-127"/>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356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23" name="직사각형 12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748417" y="3224184"/>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순번</a:t>
            </a:r>
            <a:endParaRPr lang="en-US" altLang="ko-KR" sz="600" dirty="0">
              <a:solidFill>
                <a:schemeClr val="tx1">
                  <a:lumMod val="85000"/>
                  <a:lumOff val="15000"/>
                </a:schemeClr>
              </a:solidFill>
              <a:latin typeface="맑은 고딕" panose="020B0503020000020004" pitchFamily="50" charset="-127"/>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1041640" y="3224184"/>
            <a:ext cx="498650"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국가 및 화폐</a:t>
            </a:r>
            <a:endParaRPr lang="en-US" altLang="ko-KR" sz="600" dirty="0">
              <a:solidFill>
                <a:schemeClr val="tx1">
                  <a:lumMod val="85000"/>
                  <a:lumOff val="15000"/>
                </a:schemeClr>
              </a:solidFill>
              <a:latin typeface="맑은 고딕" panose="020B0503020000020004" pitchFamily="50" charset="-127"/>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2289144" y="3224184"/>
            <a:ext cx="979869" cy="92333"/>
          </a:xfrm>
          <a:prstGeom prst="rect">
            <a:avLst/>
          </a:prstGeom>
          <a:noFill/>
        </p:spPr>
        <p:txBody>
          <a:bodyPr wrap="square" lIns="0" tIns="0" rIns="0" bIns="0" rtlCol="0">
            <a:spAutoFit/>
          </a:bodyPr>
          <a:lstStyle/>
          <a:p>
            <a:pPr algn="r"/>
            <a:r>
              <a:rPr lang="ko-KR" altLang="en-US" sz="600" dirty="0" err="1">
                <a:solidFill>
                  <a:schemeClr val="tx1">
                    <a:lumMod val="85000"/>
                    <a:lumOff val="15000"/>
                  </a:schemeClr>
                </a:solidFill>
                <a:latin typeface="맑은 고딕" panose="020B0503020000020004" pitchFamily="50" charset="-127"/>
              </a:rPr>
              <a:t>매도율</a:t>
            </a:r>
            <a:r>
              <a:rPr lang="en-US" altLang="ko-KR" sz="600" dirty="0">
                <a:solidFill>
                  <a:schemeClr val="tx1">
                    <a:lumMod val="85000"/>
                    <a:lumOff val="15000"/>
                  </a:schemeClr>
                </a:solidFill>
                <a:latin typeface="맑은 고딕" panose="020B0503020000020004" pitchFamily="50" charset="-127"/>
              </a:rPr>
              <a:t>, </a:t>
            </a:r>
            <a:r>
              <a:rPr lang="ko-KR" altLang="en-US" sz="600" dirty="0">
                <a:solidFill>
                  <a:schemeClr val="tx1">
                    <a:lumMod val="85000"/>
                    <a:lumOff val="15000"/>
                  </a:schemeClr>
                </a:solidFill>
                <a:latin typeface="맑은 고딕" panose="020B0503020000020004" pitchFamily="50" charset="-127"/>
              </a:rPr>
              <a:t>기준율</a:t>
            </a:r>
            <a:r>
              <a:rPr lang="en-US" altLang="ko-KR" sz="600" dirty="0">
                <a:solidFill>
                  <a:schemeClr val="tx1">
                    <a:lumMod val="85000"/>
                    <a:lumOff val="15000"/>
                  </a:schemeClr>
                </a:solidFill>
                <a:latin typeface="맑은 고딕" panose="020B0503020000020004" pitchFamily="50" charset="-127"/>
              </a:rPr>
              <a:t>, </a:t>
            </a:r>
            <a:r>
              <a:rPr lang="ko-KR" altLang="en-US" sz="600" dirty="0" err="1">
                <a:solidFill>
                  <a:schemeClr val="tx1">
                    <a:lumMod val="85000"/>
                    <a:lumOff val="15000"/>
                  </a:schemeClr>
                </a:solidFill>
                <a:latin typeface="맑은 고딕" panose="020B0503020000020004" pitchFamily="50" charset="-127"/>
              </a:rPr>
              <a:t>달러환산율</a:t>
            </a:r>
            <a:endParaRPr lang="en-US" altLang="ko-KR" sz="600" dirty="0">
              <a:solidFill>
                <a:schemeClr val="tx1">
                  <a:lumMod val="85000"/>
                  <a:lumOff val="15000"/>
                </a:schemeClr>
              </a:solidFill>
              <a:latin typeface="맑은 고딕" panose="020B0503020000020004" pitchFamily="50" charset="-127"/>
            </a:endParaRPr>
          </a:p>
        </p:txBody>
      </p:sp>
      <p:grpSp>
        <p:nvGrpSpPr>
          <p:cNvPr id="6" name="그룹 5"/>
          <p:cNvGrpSpPr/>
          <p:nvPr/>
        </p:nvGrpSpPr>
        <p:grpSpPr>
          <a:xfrm>
            <a:off x="715616" y="3388538"/>
            <a:ext cx="2652743" cy="467510"/>
            <a:chOff x="715616" y="3407067"/>
            <a:chExt cx="2652743" cy="467510"/>
          </a:xfrm>
        </p:grpSpPr>
        <p:sp>
          <p:nvSpPr>
            <p:cNvPr id="136" name="모서리가 둥근 직사각형 135"/>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TextBox 136">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US-</a:t>
              </a:r>
              <a:r>
                <a:rPr lang="ko-KR" altLang="en-US" sz="700" dirty="0">
                  <a:solidFill>
                    <a:schemeClr val="tx1">
                      <a:lumMod val="85000"/>
                      <a:lumOff val="15000"/>
                    </a:schemeClr>
                  </a:solidFill>
                  <a:latin typeface="맑은 고딕" panose="020B0503020000020004" pitchFamily="50" charset="-127"/>
                </a:rPr>
                <a:t>미국</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USD-</a:t>
              </a:r>
              <a:r>
                <a:rPr lang="ko-KR" altLang="en-US" sz="700" dirty="0">
                  <a:solidFill>
                    <a:schemeClr val="tx1">
                      <a:lumMod val="85000"/>
                      <a:lumOff val="15000"/>
                    </a:schemeClr>
                  </a:solidFill>
                  <a:latin typeface="맑은 고딕" panose="020B0503020000020004" pitchFamily="50" charset="-127"/>
                </a:rPr>
                <a:t>미 달러</a:t>
              </a:r>
              <a:endParaRPr lang="en-US" altLang="ko-KR" sz="700" dirty="0">
                <a:solidFill>
                  <a:schemeClr val="tx1">
                    <a:lumMod val="85000"/>
                    <a:lumOff val="15000"/>
                  </a:schemeClr>
                </a:solidFill>
                <a:latin typeface="맑은 고딕" panose="020B0503020000020004" pitchFamily="50" charset="-127"/>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1,464.30 KRW</a:t>
              </a:r>
            </a:p>
            <a:p>
              <a:pPr algn="r"/>
              <a:r>
                <a:rPr lang="en-US" altLang="ko-KR" sz="700" dirty="0">
                  <a:solidFill>
                    <a:schemeClr val="tx1">
                      <a:lumMod val="85000"/>
                      <a:lumOff val="15000"/>
                    </a:schemeClr>
                  </a:solidFill>
                  <a:latin typeface="맑은 고딕" panose="020B0503020000020004" pitchFamily="50" charset="-127"/>
                </a:rPr>
                <a:t>1.0000 USD</a:t>
              </a:r>
            </a:p>
          </p:txBody>
        </p:sp>
      </p:grpSp>
      <p:grpSp>
        <p:nvGrpSpPr>
          <p:cNvPr id="145" name="그룹 144"/>
          <p:cNvGrpSpPr/>
          <p:nvPr/>
        </p:nvGrpSpPr>
        <p:grpSpPr>
          <a:xfrm>
            <a:off x="715616" y="3912045"/>
            <a:ext cx="2652743" cy="467510"/>
            <a:chOff x="715616" y="3407067"/>
            <a:chExt cx="2652743" cy="467510"/>
          </a:xfrm>
        </p:grpSpPr>
        <p:sp>
          <p:nvSpPr>
            <p:cNvPr id="147" name="모서리가 둥근 직사각형 146"/>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8" name="TextBox 147">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NO-</a:t>
              </a:r>
              <a:r>
                <a:rPr lang="ko-KR" altLang="en-US" sz="700" dirty="0">
                  <a:solidFill>
                    <a:schemeClr val="tx1">
                      <a:lumMod val="85000"/>
                      <a:lumOff val="15000"/>
                    </a:schemeClr>
                  </a:solidFill>
                  <a:latin typeface="맑은 고딕" panose="020B0503020000020004" pitchFamily="50" charset="-127"/>
                </a:rPr>
                <a:t>노르웨이</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NOK-</a:t>
              </a:r>
              <a:r>
                <a:rPr lang="ko-KR" altLang="en-US" sz="700" dirty="0">
                  <a:solidFill>
                    <a:schemeClr val="tx1">
                      <a:lumMod val="85000"/>
                      <a:lumOff val="15000"/>
                    </a:schemeClr>
                  </a:solidFill>
                  <a:latin typeface="맑은 고딕" panose="020B0503020000020004" pitchFamily="50" charset="-127"/>
                </a:rPr>
                <a:t>노르웨이 </a:t>
              </a:r>
              <a:r>
                <a:rPr lang="ko-KR" altLang="en-US" sz="700" dirty="0" err="1">
                  <a:solidFill>
                    <a:schemeClr val="tx1">
                      <a:lumMod val="85000"/>
                      <a:lumOff val="15000"/>
                    </a:schemeClr>
                  </a:solidFill>
                  <a:latin typeface="맑은 고딕" panose="020B0503020000020004" pitchFamily="50" charset="-127"/>
                </a:rPr>
                <a:t>크로네</a:t>
              </a:r>
              <a:endParaRPr lang="en-US" altLang="ko-KR" sz="700" dirty="0">
                <a:solidFill>
                  <a:schemeClr val="tx1">
                    <a:lumMod val="85000"/>
                    <a:lumOff val="15000"/>
                  </a:schemeClr>
                </a:solidFill>
                <a:latin typeface="맑은 고딕" panose="020B0503020000020004" pitchFamily="50" charset="-127"/>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151.33 KRW</a:t>
              </a:r>
            </a:p>
            <a:p>
              <a:pPr algn="r"/>
              <a:r>
                <a:rPr lang="en-US" altLang="ko-KR" sz="700" dirty="0">
                  <a:solidFill>
                    <a:schemeClr val="tx1">
                      <a:lumMod val="85000"/>
                      <a:lumOff val="15000"/>
                    </a:schemeClr>
                  </a:solidFill>
                  <a:latin typeface="맑은 고딕" panose="020B0503020000020004" pitchFamily="50" charset="-127"/>
                </a:rPr>
                <a:t>0.1033 USD</a:t>
              </a:r>
            </a:p>
          </p:txBody>
        </p:sp>
      </p:grpSp>
      <p:sp>
        <p:nvSpPr>
          <p:cNvPr id="153" name="양쪽 모서리가 둥근 사각형 152"/>
          <p:cNvSpPr/>
          <p:nvPr/>
        </p:nvSpPr>
        <p:spPr>
          <a:xfrm>
            <a:off x="3795734"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4" name="모서리가 둥근 직사각형 153"/>
          <p:cNvSpPr/>
          <p:nvPr/>
        </p:nvSpPr>
        <p:spPr>
          <a:xfrm>
            <a:off x="4881747"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1" name="그룹 160"/>
          <p:cNvGrpSpPr/>
          <p:nvPr/>
        </p:nvGrpSpPr>
        <p:grpSpPr>
          <a:xfrm>
            <a:off x="6284673" y="3182696"/>
            <a:ext cx="94010" cy="94010"/>
            <a:chOff x="6812560" y="3297172"/>
            <a:chExt cx="94010" cy="94010"/>
          </a:xfrm>
        </p:grpSpPr>
        <p:cxnSp>
          <p:nvCxnSpPr>
            <p:cNvPr id="162" name="직선 연결선 16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4" name="TextBox 163">
            <a:extLst>
              <a:ext uri="{FF2B5EF4-FFF2-40B4-BE49-F238E27FC236}">
                <a16:creationId xmlns:a16="http://schemas.microsoft.com/office/drawing/2014/main" id="{FFC49AEA-2A8F-250C-A86A-A7751D9706C3}"/>
              </a:ext>
            </a:extLst>
          </p:cNvPr>
          <p:cNvSpPr txBox="1"/>
          <p:nvPr/>
        </p:nvSpPr>
        <p:spPr>
          <a:xfrm>
            <a:off x="3924811"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3795734"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6" name="그룹 165"/>
          <p:cNvGrpSpPr/>
          <p:nvPr/>
        </p:nvGrpSpPr>
        <p:grpSpPr>
          <a:xfrm>
            <a:off x="3949297" y="3591898"/>
            <a:ext cx="2404900" cy="1793599"/>
            <a:chOff x="853448" y="3591898"/>
            <a:chExt cx="2404900" cy="1793599"/>
          </a:xfrm>
        </p:grpSpPr>
        <p:grpSp>
          <p:nvGrpSpPr>
            <p:cNvPr id="167" name="그룹 166">
              <a:extLst>
                <a:ext uri="{FF2B5EF4-FFF2-40B4-BE49-F238E27FC236}">
                  <a16:creationId xmlns:a16="http://schemas.microsoft.com/office/drawing/2014/main" id="{88B5F951-FD18-C7AD-4712-954CD1C500E7}"/>
                </a:ext>
              </a:extLst>
            </p:cNvPr>
            <p:cNvGrpSpPr/>
            <p:nvPr/>
          </p:nvGrpSpPr>
          <p:grpSpPr>
            <a:xfrm>
              <a:off x="853448" y="3591898"/>
              <a:ext cx="2404900" cy="1793599"/>
              <a:chOff x="6330232" y="1877976"/>
              <a:chExt cx="1507175" cy="1793599"/>
            </a:xfrm>
          </p:grpSpPr>
          <p:sp>
            <p:nvSpPr>
              <p:cNvPr id="169" name="자유형: 도형 138">
                <a:extLst>
                  <a:ext uri="{FF2B5EF4-FFF2-40B4-BE49-F238E27FC236}">
                    <a16:creationId xmlns:a16="http://schemas.microsoft.com/office/drawing/2014/main" id="{22B087CA-85B4-CEE4-100E-D11384B46CD9}"/>
                  </a:ext>
                </a:extLst>
              </p:cNvPr>
              <p:cNvSpPr/>
              <p:nvPr/>
            </p:nvSpPr>
            <p:spPr>
              <a:xfrm>
                <a:off x="6330232" y="2230424"/>
                <a:ext cx="1507175" cy="1441151"/>
              </a:xfrm>
              <a:custGeom>
                <a:avLst/>
                <a:gdLst>
                  <a:gd name="connsiteX0" fmla="*/ 0 w 1598734"/>
                  <a:gd name="connsiteY0" fmla="*/ 0 h 1380106"/>
                  <a:gd name="connsiteX1" fmla="*/ 1598734 w 1598734"/>
                  <a:gd name="connsiteY1" fmla="*/ 0 h 1380106"/>
                  <a:gd name="connsiteX2" fmla="*/ 1598734 w 1598734"/>
                  <a:gd name="connsiteY2" fmla="*/ 102684 h 1380106"/>
                  <a:gd name="connsiteX3" fmla="*/ 1598734 w 1598734"/>
                  <a:gd name="connsiteY3" fmla="*/ 146050 h 1380106"/>
                  <a:gd name="connsiteX4" fmla="*/ 1598734 w 1598734"/>
                  <a:gd name="connsiteY4" fmla="*/ 1321871 h 1380106"/>
                  <a:gd name="connsiteX5" fmla="*/ 1540499 w 1598734"/>
                  <a:gd name="connsiteY5" fmla="*/ 1380106 h 1380106"/>
                  <a:gd name="connsiteX6" fmla="*/ 58235 w 1598734"/>
                  <a:gd name="connsiteY6" fmla="*/ 1380106 h 1380106"/>
                  <a:gd name="connsiteX7" fmla="*/ 0 w 1598734"/>
                  <a:gd name="connsiteY7" fmla="*/ 1321871 h 1380106"/>
                  <a:gd name="connsiteX8" fmla="*/ 0 w 1598734"/>
                  <a:gd name="connsiteY8" fmla="*/ 146050 h 1380106"/>
                  <a:gd name="connsiteX9" fmla="*/ 0 w 1598734"/>
                  <a:gd name="connsiteY9" fmla="*/ 102684 h 1380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734" h="1380106">
                    <a:moveTo>
                      <a:pt x="0" y="0"/>
                    </a:moveTo>
                    <a:lnTo>
                      <a:pt x="1598734" y="0"/>
                    </a:lnTo>
                    <a:lnTo>
                      <a:pt x="1598734" y="102684"/>
                    </a:lnTo>
                    <a:lnTo>
                      <a:pt x="1598734" y="146050"/>
                    </a:lnTo>
                    <a:lnTo>
                      <a:pt x="1598734" y="1321871"/>
                    </a:lnTo>
                    <a:cubicBezTo>
                      <a:pt x="1598734" y="1354033"/>
                      <a:pt x="1572661" y="1380106"/>
                      <a:pt x="1540499" y="1380106"/>
                    </a:cubicBezTo>
                    <a:lnTo>
                      <a:pt x="58235" y="1380106"/>
                    </a:lnTo>
                    <a:cubicBezTo>
                      <a:pt x="26073" y="1380106"/>
                      <a:pt x="0" y="1354033"/>
                      <a:pt x="0" y="1321871"/>
                    </a:cubicBezTo>
                    <a:lnTo>
                      <a:pt x="0" y="146050"/>
                    </a:lnTo>
                    <a:lnTo>
                      <a:pt x="0" y="102684"/>
                    </a:lnTo>
                    <a:close/>
                  </a:path>
                </a:pathLst>
              </a:custGeom>
              <a:solidFill>
                <a:sysClr val="window" lastClr="FFFFFF"/>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black">
                      <a:lumMod val="50000"/>
                      <a:lumOff val="50000"/>
                    </a:prstClr>
                  </a:solidFill>
                  <a:effectLst/>
                  <a:uLnTx/>
                  <a:uFillTx/>
                  <a:latin typeface="맑은 고딕"/>
                  <a:ea typeface="+mn-ea"/>
                  <a:cs typeface="+mn-cs"/>
                </a:endParaRPr>
              </a:p>
            </p:txBody>
          </p:sp>
          <p:sp>
            <p:nvSpPr>
              <p:cNvPr id="170" name="자유형: 도형 139">
                <a:extLst>
                  <a:ext uri="{FF2B5EF4-FFF2-40B4-BE49-F238E27FC236}">
                    <a16:creationId xmlns:a16="http://schemas.microsoft.com/office/drawing/2014/main" id="{3A3F8C14-4350-473F-BE56-A3F310114A55}"/>
                  </a:ext>
                </a:extLst>
              </p:cNvPr>
              <p:cNvSpPr/>
              <p:nvPr/>
            </p:nvSpPr>
            <p:spPr>
              <a:xfrm>
                <a:off x="6330232" y="1877976"/>
                <a:ext cx="1507174" cy="352448"/>
              </a:xfrm>
              <a:custGeom>
                <a:avLst/>
                <a:gdLst>
                  <a:gd name="connsiteX0" fmla="*/ 68452 w 1598734"/>
                  <a:gd name="connsiteY0" fmla="*/ 0 h 306657"/>
                  <a:gd name="connsiteX1" fmla="*/ 1530282 w 1598734"/>
                  <a:gd name="connsiteY1" fmla="*/ 0 h 306657"/>
                  <a:gd name="connsiteX2" fmla="*/ 1598734 w 1598734"/>
                  <a:gd name="connsiteY2" fmla="*/ 68452 h 306657"/>
                  <a:gd name="connsiteX3" fmla="*/ 1598734 w 1598734"/>
                  <a:gd name="connsiteY3" fmla="*/ 160607 h 306657"/>
                  <a:gd name="connsiteX4" fmla="*/ 1598734 w 1598734"/>
                  <a:gd name="connsiteY4" fmla="*/ 193756 h 306657"/>
                  <a:gd name="connsiteX5" fmla="*/ 1598734 w 1598734"/>
                  <a:gd name="connsiteY5" fmla="*/ 306657 h 306657"/>
                  <a:gd name="connsiteX6" fmla="*/ 0 w 1598734"/>
                  <a:gd name="connsiteY6" fmla="*/ 306657 h 306657"/>
                  <a:gd name="connsiteX7" fmla="*/ 0 w 1598734"/>
                  <a:gd name="connsiteY7" fmla="*/ 193756 h 306657"/>
                  <a:gd name="connsiteX8" fmla="*/ 0 w 1598734"/>
                  <a:gd name="connsiteY8" fmla="*/ 160607 h 306657"/>
                  <a:gd name="connsiteX9" fmla="*/ 0 w 1598734"/>
                  <a:gd name="connsiteY9" fmla="*/ 68452 h 306657"/>
                  <a:gd name="connsiteX10" fmla="*/ 68452 w 1598734"/>
                  <a:gd name="connsiteY10" fmla="*/ 0 h 306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98734" h="306657">
                    <a:moveTo>
                      <a:pt x="68452" y="0"/>
                    </a:moveTo>
                    <a:lnTo>
                      <a:pt x="1530282" y="0"/>
                    </a:lnTo>
                    <a:cubicBezTo>
                      <a:pt x="1568087" y="0"/>
                      <a:pt x="1598734" y="30647"/>
                      <a:pt x="1598734" y="68452"/>
                    </a:cubicBezTo>
                    <a:lnTo>
                      <a:pt x="1598734" y="160607"/>
                    </a:lnTo>
                    <a:lnTo>
                      <a:pt x="1598734" y="193756"/>
                    </a:lnTo>
                    <a:lnTo>
                      <a:pt x="1598734" y="306657"/>
                    </a:lnTo>
                    <a:lnTo>
                      <a:pt x="0" y="306657"/>
                    </a:lnTo>
                    <a:lnTo>
                      <a:pt x="0" y="193756"/>
                    </a:lnTo>
                    <a:lnTo>
                      <a:pt x="0" y="160607"/>
                    </a:lnTo>
                    <a:lnTo>
                      <a:pt x="0" y="68452"/>
                    </a:lnTo>
                    <a:cubicBezTo>
                      <a:pt x="0" y="30647"/>
                      <a:pt x="30647" y="0"/>
                      <a:pt x="68452" y="0"/>
                    </a:cubicBezTo>
                    <a:close/>
                  </a:path>
                </a:pathLst>
              </a:custGeom>
              <a:solidFill>
                <a:schemeClr val="bg1"/>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900" b="1" i="0" u="none" strike="noStrike" kern="0" cap="none" spc="0" normalizeH="0" baseline="0" noProof="0">
                  <a:ln>
                    <a:noFill/>
                  </a:ln>
                  <a:effectLst/>
                  <a:uLnTx/>
                  <a:uFillTx/>
                  <a:latin typeface="맑은 고딕"/>
                  <a:ea typeface="+mn-ea"/>
                  <a:cs typeface="+mn-cs"/>
                </a:endParaRPr>
              </a:p>
            </p:txBody>
          </p:sp>
          <p:grpSp>
            <p:nvGrpSpPr>
              <p:cNvPr id="171" name="그룹 170">
                <a:extLst>
                  <a:ext uri="{FF2B5EF4-FFF2-40B4-BE49-F238E27FC236}">
                    <a16:creationId xmlns:a16="http://schemas.microsoft.com/office/drawing/2014/main" id="{A137B8AF-CE16-FE87-200C-9B7042587058}"/>
                  </a:ext>
                </a:extLst>
              </p:cNvPr>
              <p:cNvGrpSpPr/>
              <p:nvPr/>
            </p:nvGrpSpPr>
            <p:grpSpPr>
              <a:xfrm>
                <a:off x="6585805" y="1935304"/>
                <a:ext cx="996029" cy="251744"/>
                <a:chOff x="6656745" y="1935304"/>
                <a:chExt cx="996029" cy="251744"/>
              </a:xfrm>
            </p:grpSpPr>
            <p:grpSp>
              <p:nvGrpSpPr>
                <p:cNvPr id="176" name="그룹 175">
                  <a:extLst>
                    <a:ext uri="{FF2B5EF4-FFF2-40B4-BE49-F238E27FC236}">
                      <a16:creationId xmlns:a16="http://schemas.microsoft.com/office/drawing/2014/main" id="{A87E2622-4B77-D690-F5F9-A7024A74E708}"/>
                    </a:ext>
                  </a:extLst>
                </p:cNvPr>
                <p:cNvGrpSpPr/>
                <p:nvPr/>
              </p:nvGrpSpPr>
              <p:grpSpPr>
                <a:xfrm>
                  <a:off x="6656745" y="1935304"/>
                  <a:ext cx="391505" cy="251744"/>
                  <a:chOff x="14465912" y="2621448"/>
                  <a:chExt cx="373142" cy="251744"/>
                </a:xfrm>
              </p:grpSpPr>
              <p:sp>
                <p:nvSpPr>
                  <p:cNvPr id="182" name="사각형: 둥근 모서리 144">
                    <a:extLst>
                      <a:ext uri="{FF2B5EF4-FFF2-40B4-BE49-F238E27FC236}">
                        <a16:creationId xmlns:a16="http://schemas.microsoft.com/office/drawing/2014/main" id="{D1B5AE77-5D23-E70D-56C2-4B07B89912D6}"/>
                      </a:ext>
                    </a:extLst>
                  </p:cNvPr>
                  <p:cNvSpPr/>
                  <p:nvPr/>
                </p:nvSpPr>
                <p:spPr>
                  <a:xfrm>
                    <a:off x="14465912" y="2621448"/>
                    <a:ext cx="373142"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2026</a:t>
                    </a:r>
                    <a:endParaRPr kumimoji="1" lang="en-US" sz="800" b="0" i="0" u="none" strike="noStrike" kern="0" cap="none" spc="0" normalizeH="0" baseline="0" noProof="0">
                      <a:ln>
                        <a:noFill/>
                      </a:ln>
                      <a:effectLst/>
                      <a:uLnTx/>
                      <a:uFillTx/>
                      <a:latin typeface="맑은 고딕"/>
                      <a:ea typeface="+mn-ea"/>
                      <a:cs typeface="+mn-cs"/>
                    </a:endParaRPr>
                  </a:p>
                </p:txBody>
              </p:sp>
              <p:sp>
                <p:nvSpPr>
                  <p:cNvPr id="183" name="이등변 삼각형 182">
                    <a:extLst>
                      <a:ext uri="{FF2B5EF4-FFF2-40B4-BE49-F238E27FC236}">
                        <a16:creationId xmlns:a16="http://schemas.microsoft.com/office/drawing/2014/main" id="{3B4ED1E8-ADBF-6251-5AE2-8AA6EED0EC85}"/>
                      </a:ext>
                    </a:extLst>
                  </p:cNvPr>
                  <p:cNvSpPr/>
                  <p:nvPr/>
                </p:nvSpPr>
                <p:spPr>
                  <a:xfrm flipV="1">
                    <a:off x="14730144" y="2724461"/>
                    <a:ext cx="85725"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grpSp>
              <p:nvGrpSpPr>
                <p:cNvPr id="177" name="그룹 176">
                  <a:extLst>
                    <a:ext uri="{FF2B5EF4-FFF2-40B4-BE49-F238E27FC236}">
                      <a16:creationId xmlns:a16="http://schemas.microsoft.com/office/drawing/2014/main" id="{EA122917-E998-AFF8-0017-87D415E2F4C1}"/>
                    </a:ext>
                  </a:extLst>
                </p:cNvPr>
                <p:cNvGrpSpPr/>
                <p:nvPr/>
              </p:nvGrpSpPr>
              <p:grpSpPr>
                <a:xfrm>
                  <a:off x="7227970" y="1935304"/>
                  <a:ext cx="283649" cy="251744"/>
                  <a:chOff x="6204909" y="3981827"/>
                  <a:chExt cx="283649" cy="251744"/>
                </a:xfrm>
              </p:grpSpPr>
              <p:sp>
                <p:nvSpPr>
                  <p:cNvPr id="180" name="사각형: 둥근 모서리 147">
                    <a:extLst>
                      <a:ext uri="{FF2B5EF4-FFF2-40B4-BE49-F238E27FC236}">
                        <a16:creationId xmlns:a16="http://schemas.microsoft.com/office/drawing/2014/main" id="{4D308691-DE94-C033-764E-E5D1F0BF3524}"/>
                      </a:ext>
                    </a:extLst>
                  </p:cNvPr>
                  <p:cNvSpPr/>
                  <p:nvPr/>
                </p:nvSpPr>
                <p:spPr>
                  <a:xfrm>
                    <a:off x="6204909" y="3981827"/>
                    <a:ext cx="283649"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1</a:t>
                    </a:r>
                    <a:endParaRPr kumimoji="1" lang="en-US" sz="800" b="0" i="0" u="none" strike="noStrike" kern="0" cap="none" spc="0" normalizeH="0" baseline="0" noProof="0">
                      <a:ln>
                        <a:noFill/>
                      </a:ln>
                      <a:effectLst/>
                      <a:uLnTx/>
                      <a:uFillTx/>
                      <a:latin typeface="맑은 고딕"/>
                      <a:ea typeface="+mn-ea"/>
                      <a:cs typeface="+mn-cs"/>
                    </a:endParaRPr>
                  </a:p>
                </p:txBody>
              </p:sp>
              <p:sp>
                <p:nvSpPr>
                  <p:cNvPr id="181" name="이등변 삼각형 180">
                    <a:extLst>
                      <a:ext uri="{FF2B5EF4-FFF2-40B4-BE49-F238E27FC236}">
                        <a16:creationId xmlns:a16="http://schemas.microsoft.com/office/drawing/2014/main" id="{21A750D1-1A64-CDE6-935B-2CDA4AF0C094}"/>
                      </a:ext>
                    </a:extLst>
                  </p:cNvPr>
                  <p:cNvSpPr/>
                  <p:nvPr/>
                </p:nvSpPr>
                <p:spPr>
                  <a:xfrm flipV="1">
                    <a:off x="6372421" y="4084840"/>
                    <a:ext cx="89944"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sp>
              <p:nvSpPr>
                <p:cNvPr id="178" name="TextBox 149">
                  <a:extLst>
                    <a:ext uri="{FF2B5EF4-FFF2-40B4-BE49-F238E27FC236}">
                      <a16:creationId xmlns:a16="http://schemas.microsoft.com/office/drawing/2014/main" id="{B5390AFF-87C5-1EB0-E4C9-DFE8DE8D1A0A}"/>
                    </a:ext>
                  </a:extLst>
                </p:cNvPr>
                <p:cNvSpPr txBox="1"/>
                <p:nvPr/>
              </p:nvSpPr>
              <p:spPr>
                <a:xfrm>
                  <a:off x="7086814"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년</a:t>
                  </a:r>
                </a:p>
              </p:txBody>
            </p:sp>
            <p:sp>
              <p:nvSpPr>
                <p:cNvPr id="179" name="TextBox 152">
                  <a:extLst>
                    <a:ext uri="{FF2B5EF4-FFF2-40B4-BE49-F238E27FC236}">
                      <a16:creationId xmlns:a16="http://schemas.microsoft.com/office/drawing/2014/main" id="{A6C09F56-B1D3-B9C4-043F-21D7BB9E7303}"/>
                    </a:ext>
                  </a:extLst>
                </p:cNvPr>
                <p:cNvSpPr txBox="1"/>
                <p:nvPr/>
              </p:nvSpPr>
              <p:spPr>
                <a:xfrm>
                  <a:off x="7550182"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월</a:t>
                  </a:r>
                </a:p>
              </p:txBody>
            </p:sp>
          </p:grpSp>
          <p:pic>
            <p:nvPicPr>
              <p:cNvPr id="172" name="그래픽 159">
                <a:extLst>
                  <a:ext uri="{FF2B5EF4-FFF2-40B4-BE49-F238E27FC236}">
                    <a16:creationId xmlns:a16="http://schemas.microsoft.com/office/drawing/2014/main" id="{3F60CD29-6457-57CE-2207-590D5C49DC6F}"/>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6443575" y="2011321"/>
                <a:ext cx="124829" cy="124829"/>
              </a:xfrm>
              <a:prstGeom prst="rect">
                <a:avLst/>
              </a:prstGeom>
            </p:spPr>
          </p:pic>
          <p:pic>
            <p:nvPicPr>
              <p:cNvPr id="173" name="그래픽 161">
                <a:extLst>
                  <a:ext uri="{FF2B5EF4-FFF2-40B4-BE49-F238E27FC236}">
                    <a16:creationId xmlns:a16="http://schemas.microsoft.com/office/drawing/2014/main" id="{B3146EC9-2E57-C788-18FF-97995F8296C4}"/>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a:off x="6337510" y="2006235"/>
                <a:ext cx="135001" cy="135001"/>
              </a:xfrm>
              <a:prstGeom prst="rect">
                <a:avLst/>
              </a:prstGeom>
            </p:spPr>
          </p:pic>
          <p:pic>
            <p:nvPicPr>
              <p:cNvPr id="174" name="그래픽 166">
                <a:extLst>
                  <a:ext uri="{FF2B5EF4-FFF2-40B4-BE49-F238E27FC236}">
                    <a16:creationId xmlns:a16="http://schemas.microsoft.com/office/drawing/2014/main" id="{13D2C4D0-FC1C-780E-EBE1-F1214DFD963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flipH="1">
                <a:off x="7582427" y="2011321"/>
                <a:ext cx="124829" cy="124829"/>
              </a:xfrm>
              <a:prstGeom prst="rect">
                <a:avLst/>
              </a:prstGeom>
            </p:spPr>
          </p:pic>
          <p:pic>
            <p:nvPicPr>
              <p:cNvPr id="175" name="그래픽 167">
                <a:extLst>
                  <a:ext uri="{FF2B5EF4-FFF2-40B4-BE49-F238E27FC236}">
                    <a16:creationId xmlns:a16="http://schemas.microsoft.com/office/drawing/2014/main" id="{AD93A727-98BC-1CD1-0745-64C3352C25E0}"/>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flipH="1">
                <a:off x="7685706" y="2006235"/>
                <a:ext cx="135001" cy="135001"/>
              </a:xfrm>
              <a:prstGeom prst="rect">
                <a:avLst/>
              </a:prstGeom>
            </p:spPr>
          </p:pic>
        </p:grpSp>
        <p:pic>
          <p:nvPicPr>
            <p:cNvPr id="168" name="table"/>
            <p:cNvPicPr>
              <a:picLocks noChangeAspect="1"/>
            </p:cNvPicPr>
            <p:nvPr/>
          </p:nvPicPr>
          <p:blipFill>
            <a:blip r:embed="rId6"/>
            <a:stretch>
              <a:fillRect/>
            </a:stretch>
          </p:blipFill>
          <p:spPr>
            <a:xfrm>
              <a:off x="871664" y="3994890"/>
              <a:ext cx="2346766" cy="1352526"/>
            </a:xfrm>
            <a:prstGeom prst="rect">
              <a:avLst/>
            </a:prstGeom>
          </p:spPr>
        </p:pic>
      </p:grpSp>
      <p:grpSp>
        <p:nvGrpSpPr>
          <p:cNvPr id="184" name="그룹 183"/>
          <p:cNvGrpSpPr/>
          <p:nvPr/>
        </p:nvGrpSpPr>
        <p:grpSpPr>
          <a:xfrm>
            <a:off x="3795734" y="5614711"/>
            <a:ext cx="2712027" cy="617588"/>
            <a:chOff x="675399" y="5614711"/>
            <a:chExt cx="2712027" cy="617588"/>
          </a:xfrm>
        </p:grpSpPr>
        <p:sp>
          <p:nvSpPr>
            <p:cNvPr id="185" name="직사각형 18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88" name="TextBox 187">
            <a:extLst>
              <a:ext uri="{FF2B5EF4-FFF2-40B4-BE49-F238E27FC236}">
                <a16:creationId xmlns:a16="http://schemas.microsoft.com/office/drawing/2014/main" id="{FFC49AEA-2A8F-250C-A86A-A7751D9706C3}"/>
              </a:ext>
            </a:extLst>
          </p:cNvPr>
          <p:cNvSpPr txBox="1"/>
          <p:nvPr/>
        </p:nvSpPr>
        <p:spPr>
          <a:xfrm>
            <a:off x="3795734" y="1352885"/>
            <a:ext cx="1338241" cy="138499"/>
          </a:xfrm>
          <a:prstGeom prst="rect">
            <a:avLst/>
          </a:prstGeom>
          <a:noFill/>
        </p:spPr>
        <p:txBody>
          <a:bodyPr wrap="square" lIns="0" tIns="0" rIns="0" bIns="0" rtlCol="0">
            <a:spAutoFit/>
          </a:bodyPr>
          <a:lstStyle/>
          <a:p>
            <a:r>
              <a:rPr lang="en-US" altLang="ko-KR" sz="900" dirty="0">
                <a:solidFill>
                  <a:srgbClr val="000000"/>
                </a:solidFill>
                <a:latin typeface="맑은 고딕" panose="020B0503020000020004" pitchFamily="50" charset="-127"/>
              </a:rPr>
              <a:t>MUI-BD-01-P06</a:t>
            </a:r>
            <a:endParaRPr lang="ko-KR" altLang="en-US" sz="9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5169520" y="1352885"/>
            <a:ext cx="1338241" cy="138499"/>
          </a:xfrm>
          <a:prstGeom prst="rect">
            <a:avLst/>
          </a:prstGeom>
          <a:noFill/>
        </p:spPr>
        <p:txBody>
          <a:bodyPr wrap="square" lIns="0" tIns="0" rIns="0" bIns="0" rtlCol="0">
            <a:spAutoFit/>
          </a:bodyPr>
          <a:lstStyle/>
          <a:p>
            <a:pPr algn="r"/>
            <a:r>
              <a:rPr lang="ko-KR" altLang="en-US" sz="900" dirty="0">
                <a:solidFill>
                  <a:srgbClr val="000000"/>
                </a:solidFill>
                <a:latin typeface="맑은 고딕" panose="020B0503020000020004" pitchFamily="50" charset="-127"/>
              </a:rPr>
              <a:t>날짜 설정</a:t>
            </a:r>
            <a:endParaRPr lang="ko-KR" altLang="en-US" sz="900" dirty="0">
              <a:latin typeface="+mn-ea"/>
            </a:endParaRPr>
          </a:p>
        </p:txBody>
      </p:sp>
      <p:sp>
        <p:nvSpPr>
          <p:cNvPr id="216" name="타원 215">
            <a:extLst>
              <a:ext uri="{FF2B5EF4-FFF2-40B4-BE49-F238E27FC236}">
                <a16:creationId xmlns:a16="http://schemas.microsoft.com/office/drawing/2014/main" id="{37A7FF4F-0EAA-1463-560A-D5EC24416103}"/>
              </a:ext>
            </a:extLst>
          </p:cNvPr>
          <p:cNvSpPr/>
          <p:nvPr/>
        </p:nvSpPr>
        <p:spPr>
          <a:xfrm>
            <a:off x="573754" y="237713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778515" y="2359374"/>
            <a:ext cx="2305144" cy="181140"/>
          </a:xfrm>
          <a:prstGeom prst="rect">
            <a:avLst/>
          </a:prstGeom>
          <a:noFill/>
        </p:spPr>
        <p:txBody>
          <a:bodyPr wrap="square" lIns="0" tIns="0" rIns="0" bIns="0" rtlCol="0">
            <a:spAutoFit/>
          </a:bodyPr>
          <a:lstStyle/>
          <a:p>
            <a:pPr>
              <a:lnSpc>
                <a:spcPct val="200000"/>
              </a:lnSpc>
            </a:pPr>
            <a:r>
              <a:rPr lang="ko-KR" altLang="en-US" sz="700" b="1">
                <a:latin typeface="+mn-ea"/>
              </a:rPr>
              <a:t>조회일자</a:t>
            </a:r>
            <a:endParaRPr lang="ko-KR" altLang="en-US" sz="700" b="1" dirty="0">
              <a:latin typeface="+mn-ea"/>
            </a:endParaRPr>
          </a:p>
        </p:txBody>
      </p:sp>
      <p:grpSp>
        <p:nvGrpSpPr>
          <p:cNvPr id="223" name="그룹 222">
            <a:extLst>
              <a:ext uri="{FF2B5EF4-FFF2-40B4-BE49-F238E27FC236}">
                <a16:creationId xmlns:a16="http://schemas.microsoft.com/office/drawing/2014/main" id="{8F2F56C4-B606-212C-F131-A4A30AE19BC8}"/>
              </a:ext>
            </a:extLst>
          </p:cNvPr>
          <p:cNvGrpSpPr/>
          <p:nvPr/>
        </p:nvGrpSpPr>
        <p:grpSpPr>
          <a:xfrm>
            <a:off x="1464780" y="2381808"/>
            <a:ext cx="1845146" cy="188244"/>
            <a:chOff x="5613534" y="2854836"/>
            <a:chExt cx="1727805" cy="188244"/>
          </a:xfrm>
        </p:grpSpPr>
        <p:sp>
          <p:nvSpPr>
            <p:cNvPr id="224" name="사각형: 둥근 모서리 86">
              <a:extLst>
                <a:ext uri="{FF2B5EF4-FFF2-40B4-BE49-F238E27FC236}">
                  <a16:creationId xmlns:a16="http://schemas.microsoft.com/office/drawing/2014/main" id="{C84908FA-11D4-E687-3603-3EA5852F6FAE}"/>
                </a:ext>
              </a:extLst>
            </p:cNvPr>
            <p:cNvSpPr/>
            <p:nvPr/>
          </p:nvSpPr>
          <p:spPr>
            <a:xfrm>
              <a:off x="5613534" y="2854836"/>
              <a:ext cx="1727805"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2026-03-06</a:t>
              </a:r>
              <a:endParaRPr kumimoji="1" lang="en-US" sz="700" b="0" i="0" u="none" strike="noStrike" kern="0" cap="none" spc="0" normalizeH="0" baseline="0" noProof="0" dirty="0">
                <a:ln>
                  <a:noFill/>
                </a:ln>
                <a:effectLst/>
                <a:uLnTx/>
                <a:uFillTx/>
                <a:latin typeface="맑은 고딕"/>
              </a:endParaRPr>
            </a:p>
          </p:txBody>
        </p:sp>
        <p:pic>
          <p:nvPicPr>
            <p:cNvPr id="225" name="그림 224">
              <a:extLst>
                <a:ext uri="{FF2B5EF4-FFF2-40B4-BE49-F238E27FC236}">
                  <a16:creationId xmlns:a16="http://schemas.microsoft.com/office/drawing/2014/main" id="{B217D5BC-8335-EED4-D47A-F3F41108453E}"/>
                </a:ext>
              </a:extLst>
            </p:cNvPr>
            <p:cNvPicPr>
              <a:picLocks noChangeAspect="1"/>
            </p:cNvPicPr>
            <p:nvPr/>
          </p:nvPicPr>
          <p:blipFill>
            <a:blip r:embed="rId7"/>
            <a:stretch>
              <a:fillRect/>
            </a:stretch>
          </p:blipFill>
          <p:spPr>
            <a:xfrm>
              <a:off x="7115110" y="2876004"/>
              <a:ext cx="126296" cy="137278"/>
            </a:xfrm>
            <a:prstGeom prst="rect">
              <a:avLst/>
            </a:prstGeom>
          </p:spPr>
        </p:pic>
      </p:grpSp>
      <p:sp>
        <p:nvSpPr>
          <p:cNvPr id="227" name="사각형: 둥근 모서리 169">
            <a:extLst>
              <a:ext uri="{FF2B5EF4-FFF2-40B4-BE49-F238E27FC236}">
                <a16:creationId xmlns:a16="http://schemas.microsoft.com/office/drawing/2014/main" id="{A28DD831-0E4B-31EE-CB08-9E188754698D}"/>
              </a:ext>
            </a:extLst>
          </p:cNvPr>
          <p:cNvSpPr/>
          <p:nvPr/>
        </p:nvSpPr>
        <p:spPr>
          <a:xfrm>
            <a:off x="1464781" y="2612477"/>
            <a:ext cx="1845145"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검색</a:t>
            </a:r>
            <a:endParaRPr kumimoji="1" lang="en-US" sz="700" kern="0" dirty="0">
              <a:solidFill>
                <a:srgbClr val="0070C0"/>
              </a:solidFill>
              <a:latin typeface="맑은 고딕"/>
              <a:ea typeface="맑은 고딕" panose="020B0503020000020004" pitchFamily="50" charset="-127"/>
            </a:endParaRPr>
          </a:p>
        </p:txBody>
      </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4149" y="2932595"/>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(10/43)</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232" name="그룹 231">
            <a:extLst>
              <a:ext uri="{FF2B5EF4-FFF2-40B4-BE49-F238E27FC236}">
                <a16:creationId xmlns:a16="http://schemas.microsoft.com/office/drawing/2014/main" id="{22BC05EE-C648-7CA2-4CCC-6E1C1A7E9BDA}"/>
              </a:ext>
            </a:extLst>
          </p:cNvPr>
          <p:cNvGrpSpPr/>
          <p:nvPr/>
        </p:nvGrpSpPr>
        <p:grpSpPr>
          <a:xfrm>
            <a:off x="1992981" y="5428880"/>
            <a:ext cx="76863" cy="292489"/>
            <a:chOff x="3750067" y="4683795"/>
            <a:chExt cx="76863" cy="292489"/>
          </a:xfrm>
        </p:grpSpPr>
        <p:sp>
          <p:nvSpPr>
            <p:cNvPr id="233" name="타원 232">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4" name="타원 23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5" name="타원 23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36" name="그룹 235"/>
          <p:cNvGrpSpPr/>
          <p:nvPr/>
        </p:nvGrpSpPr>
        <p:grpSpPr>
          <a:xfrm>
            <a:off x="715616" y="4428310"/>
            <a:ext cx="2652743" cy="467510"/>
            <a:chOff x="715616" y="3407067"/>
            <a:chExt cx="2652743" cy="467510"/>
          </a:xfrm>
        </p:grpSpPr>
        <p:sp>
          <p:nvSpPr>
            <p:cNvPr id="237" name="모서리가 둥근 직사각형 236"/>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8" name="TextBox 237">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NZ-</a:t>
              </a:r>
              <a:r>
                <a:rPr lang="ko-KR" altLang="en-US" sz="700" dirty="0">
                  <a:solidFill>
                    <a:schemeClr val="tx1">
                      <a:lumMod val="85000"/>
                      <a:lumOff val="15000"/>
                    </a:schemeClr>
                  </a:solidFill>
                  <a:latin typeface="맑은 고딕" panose="020B0503020000020004" pitchFamily="50" charset="-127"/>
                </a:rPr>
                <a:t>뉴질랜드</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NZD-</a:t>
              </a:r>
              <a:r>
                <a:rPr lang="ko-KR" altLang="en-US" sz="700" dirty="0">
                  <a:solidFill>
                    <a:schemeClr val="tx1">
                      <a:lumMod val="85000"/>
                      <a:lumOff val="15000"/>
                    </a:schemeClr>
                  </a:solidFill>
                  <a:latin typeface="맑은 고딕" panose="020B0503020000020004" pitchFamily="50" charset="-127"/>
                </a:rPr>
                <a:t>뉴질랜드 달러</a:t>
              </a:r>
              <a:endParaRPr lang="en-US" altLang="ko-KR" sz="700" dirty="0">
                <a:solidFill>
                  <a:schemeClr val="tx1">
                    <a:lumMod val="85000"/>
                    <a:lumOff val="15000"/>
                  </a:schemeClr>
                </a:solidFill>
                <a:latin typeface="맑은 고딕" panose="020B0503020000020004" pitchFamily="50" charset="-127"/>
              </a:endParaRPr>
            </a:p>
          </p:txBody>
        </p:sp>
        <p:sp>
          <p:nvSpPr>
            <p:cNvPr id="240" name="TextBox 239">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863.28 KRW</a:t>
              </a:r>
            </a:p>
            <a:p>
              <a:pPr algn="r"/>
              <a:r>
                <a:rPr lang="en-US" altLang="ko-KR" sz="700" dirty="0">
                  <a:solidFill>
                    <a:schemeClr val="tx1">
                      <a:lumMod val="85000"/>
                      <a:lumOff val="15000"/>
                    </a:schemeClr>
                  </a:solidFill>
                  <a:latin typeface="맑은 고딕" panose="020B0503020000020004" pitchFamily="50" charset="-127"/>
                </a:rPr>
                <a:t>0.5896 USD</a:t>
              </a:r>
            </a:p>
          </p:txBody>
        </p:sp>
      </p:grpSp>
      <p:grpSp>
        <p:nvGrpSpPr>
          <p:cNvPr id="241" name="그룹 240"/>
          <p:cNvGrpSpPr/>
          <p:nvPr/>
        </p:nvGrpSpPr>
        <p:grpSpPr>
          <a:xfrm>
            <a:off x="715616" y="4934269"/>
            <a:ext cx="2652743" cy="467510"/>
            <a:chOff x="715616" y="3407067"/>
            <a:chExt cx="2652743" cy="467510"/>
          </a:xfrm>
        </p:grpSpPr>
        <p:sp>
          <p:nvSpPr>
            <p:cNvPr id="242" name="모서리가 둥근 직사각형 241"/>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TextBox 242">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TW-</a:t>
              </a:r>
              <a:r>
                <a:rPr lang="ko-KR" altLang="en-US" sz="700" dirty="0">
                  <a:solidFill>
                    <a:schemeClr val="tx1">
                      <a:lumMod val="85000"/>
                      <a:lumOff val="15000"/>
                    </a:schemeClr>
                  </a:solidFill>
                  <a:latin typeface="맑은 고딕" panose="020B0503020000020004" pitchFamily="50" charset="-127"/>
                </a:rPr>
                <a:t>대만</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TWD-</a:t>
              </a:r>
              <a:r>
                <a:rPr lang="ko-KR" altLang="en-US" sz="700" dirty="0">
                  <a:solidFill>
                    <a:schemeClr val="tx1">
                      <a:lumMod val="85000"/>
                      <a:lumOff val="15000"/>
                    </a:schemeClr>
                  </a:solidFill>
                  <a:latin typeface="맑은 고딕" panose="020B0503020000020004" pitchFamily="50" charset="-127"/>
                </a:rPr>
                <a:t>뉴 타이완 달러</a:t>
              </a:r>
              <a:endParaRPr lang="en-US" altLang="ko-KR" sz="700" dirty="0">
                <a:solidFill>
                  <a:schemeClr val="tx1">
                    <a:lumMod val="85000"/>
                    <a:lumOff val="15000"/>
                  </a:schemeClr>
                </a:solidFill>
                <a:latin typeface="맑은 고딕" panose="020B0503020000020004" pitchFamily="50" charset="-127"/>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46.08 KRW</a:t>
              </a:r>
            </a:p>
            <a:p>
              <a:pPr algn="r"/>
              <a:r>
                <a:rPr lang="en-US" altLang="ko-KR" sz="700" dirty="0">
                  <a:solidFill>
                    <a:schemeClr val="tx1">
                      <a:lumMod val="85000"/>
                      <a:lumOff val="15000"/>
                    </a:schemeClr>
                  </a:solidFill>
                  <a:latin typeface="맑은 고딕" panose="020B0503020000020004" pitchFamily="50" charset="-127"/>
                </a:rPr>
                <a:t>0.0315 USD</a:t>
              </a:r>
            </a:p>
          </p:txBody>
        </p:sp>
      </p:grpSp>
      <p:cxnSp>
        <p:nvCxnSpPr>
          <p:cNvPr id="246" name="직선 연결선 245">
            <a:extLst>
              <a:ext uri="{FF2B5EF4-FFF2-40B4-BE49-F238E27FC236}">
                <a16:creationId xmlns:a16="http://schemas.microsoft.com/office/drawing/2014/main" id="{E9293055-D5CD-4B9E-7F64-64B2D2CA7A52}"/>
              </a:ext>
            </a:extLst>
          </p:cNvPr>
          <p:cNvCxnSpPr/>
          <p:nvPr/>
        </p:nvCxnSpPr>
        <p:spPr>
          <a:xfrm>
            <a:off x="714149" y="3166058"/>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7" name="TextBox 246">
            <a:extLst>
              <a:ext uri="{FF2B5EF4-FFF2-40B4-BE49-F238E27FC236}">
                <a16:creationId xmlns:a16="http://schemas.microsoft.com/office/drawing/2014/main" id="{FFC49AEA-2A8F-250C-A86A-A7751D9706C3}"/>
              </a:ext>
            </a:extLst>
          </p:cNvPr>
          <p:cNvSpPr txBox="1"/>
          <p:nvPr/>
        </p:nvSpPr>
        <p:spPr>
          <a:xfrm>
            <a:off x="748417" y="3003160"/>
            <a:ext cx="989592"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총 </a:t>
            </a:r>
            <a:r>
              <a:rPr lang="en-US" altLang="ko-KR" sz="600" dirty="0">
                <a:solidFill>
                  <a:srgbClr val="0070C0"/>
                </a:solidFill>
                <a:latin typeface="맑은 고딕" panose="020B0503020000020004" pitchFamily="50" charset="-127"/>
              </a:rPr>
              <a:t>43</a:t>
            </a:r>
            <a:r>
              <a:rPr lang="ko-KR" altLang="en-US" sz="600" dirty="0">
                <a:solidFill>
                  <a:schemeClr val="tx1">
                    <a:lumMod val="85000"/>
                    <a:lumOff val="15000"/>
                  </a:schemeClr>
                </a:solidFill>
                <a:latin typeface="맑은 고딕" panose="020B0503020000020004" pitchFamily="50" charset="-127"/>
              </a:rPr>
              <a:t>건</a:t>
            </a:r>
            <a:endParaRPr lang="en-US" altLang="ko-KR" sz="600" dirty="0">
              <a:solidFill>
                <a:schemeClr val="tx1">
                  <a:lumMod val="85000"/>
                  <a:lumOff val="15000"/>
                </a:schemeClr>
              </a:solidFill>
              <a:latin typeface="맑은 고딕" panose="020B0503020000020004" pitchFamily="50" charset="-127"/>
            </a:endParaRPr>
          </a:p>
        </p:txBody>
      </p:sp>
      <p:sp>
        <p:nvSpPr>
          <p:cNvPr id="249" name="타원 248">
            <a:extLst>
              <a:ext uri="{FF2B5EF4-FFF2-40B4-BE49-F238E27FC236}">
                <a16:creationId xmlns:a16="http://schemas.microsoft.com/office/drawing/2014/main" id="{37A7FF4F-0EAA-1463-560A-D5EC24416103}"/>
              </a:ext>
            </a:extLst>
          </p:cNvPr>
          <p:cNvSpPr/>
          <p:nvPr/>
        </p:nvSpPr>
        <p:spPr>
          <a:xfrm>
            <a:off x="573754" y="35190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0" name="타원 249">
            <a:extLst>
              <a:ext uri="{FF2B5EF4-FFF2-40B4-BE49-F238E27FC236}">
                <a16:creationId xmlns:a16="http://schemas.microsoft.com/office/drawing/2014/main" id="{37A7FF4F-0EAA-1463-560A-D5EC24416103}"/>
              </a:ext>
            </a:extLst>
          </p:cNvPr>
          <p:cNvSpPr/>
          <p:nvPr/>
        </p:nvSpPr>
        <p:spPr>
          <a:xfrm>
            <a:off x="573754" y="295448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51" name="타원 250">
            <a:extLst>
              <a:ext uri="{FF2B5EF4-FFF2-40B4-BE49-F238E27FC236}">
                <a16:creationId xmlns:a16="http://schemas.microsoft.com/office/drawing/2014/main" id="{37A7FF4F-0EAA-1463-560A-D5EC24416103}"/>
              </a:ext>
            </a:extLst>
          </p:cNvPr>
          <p:cNvSpPr/>
          <p:nvPr/>
        </p:nvSpPr>
        <p:spPr>
          <a:xfrm>
            <a:off x="573754" y="58807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grpSp>
        <p:nvGrpSpPr>
          <p:cNvPr id="89" name="그룹 88"/>
          <p:cNvGrpSpPr/>
          <p:nvPr/>
        </p:nvGrpSpPr>
        <p:grpSpPr>
          <a:xfrm>
            <a:off x="677960" y="1582647"/>
            <a:ext cx="2714637" cy="686386"/>
            <a:chOff x="677960" y="1582647"/>
            <a:chExt cx="2714637" cy="686386"/>
          </a:xfrm>
        </p:grpSpPr>
        <p:sp>
          <p:nvSpPr>
            <p:cNvPr id="90" name="TextBox 89">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err="1">
                  <a:latin typeface="+mn-ea"/>
                </a:rPr>
                <a:t>환율정보</a:t>
              </a:r>
              <a:r>
                <a:rPr lang="ko-KR" altLang="en-US" sz="800" dirty="0">
                  <a:latin typeface="+mn-ea"/>
                </a:rPr>
                <a:t> 조회</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2" name="그룹 91"/>
            <p:cNvGrpSpPr/>
            <p:nvPr/>
          </p:nvGrpSpPr>
          <p:grpSpPr>
            <a:xfrm rot="5400000">
              <a:off x="852159" y="2062596"/>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3" name="그룹 92"/>
            <p:cNvGrpSpPr/>
            <p:nvPr/>
          </p:nvGrpSpPr>
          <p:grpSpPr>
            <a:xfrm>
              <a:off x="677960" y="1582647"/>
              <a:ext cx="2712027" cy="324286"/>
              <a:chOff x="677960" y="1582647"/>
              <a:chExt cx="2712027" cy="324286"/>
            </a:xfrm>
          </p:grpSpPr>
          <p:pic>
            <p:nvPicPr>
              <p:cNvPr id="9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95" name="직선 연결선 9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295859184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99</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196424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환율</a:t>
            </a:r>
            <a:r>
              <a:rPr lang="en-US" altLang="ko-KR" sz="900" b="1" dirty="0">
                <a:solidFill>
                  <a:prstClr val="black"/>
                </a:solidFill>
              </a:rPr>
              <a:t> </a:t>
            </a:r>
            <a:r>
              <a:rPr lang="ko-KR" altLang="en-US" sz="900" b="1">
                <a:solidFill>
                  <a:prstClr val="black"/>
                </a:solidFill>
              </a:rPr>
              <a:t>검색조건 </a:t>
            </a:r>
            <a:r>
              <a:rPr lang="en-US" altLang="ko-KR" sz="900" b="1">
                <a:solidFill>
                  <a:prstClr val="black"/>
                </a:solidFill>
              </a:rPr>
              <a:t>(dm_searchInfo)</a:t>
            </a:r>
            <a:endParaRPr lang="ko-KR" altLang="en-US" sz="900" b="1" dirty="0">
              <a:solidFill>
                <a:prstClr val="black"/>
              </a:solidFill>
            </a:endParaRPr>
          </a:p>
        </p:txBody>
      </p:sp>
      <p:sp>
        <p:nvSpPr>
          <p:cNvPr id="10" name="TextBox 9">
            <a:extLst>
              <a:ext uri="{FF2B5EF4-FFF2-40B4-BE49-F238E27FC236}">
                <a16:creationId xmlns:a16="http://schemas.microsoft.com/office/drawing/2014/main" id="{7F545FD0-B8C5-4B98-203E-A36908FB8DD4}"/>
              </a:ext>
            </a:extLst>
          </p:cNvPr>
          <p:cNvSpPr txBox="1"/>
          <p:nvPr/>
        </p:nvSpPr>
        <p:spPr>
          <a:xfrm>
            <a:off x="458117" y="41506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11" name="TextBox 10">
            <a:extLst>
              <a:ext uri="{FF2B5EF4-FFF2-40B4-BE49-F238E27FC236}">
                <a16:creationId xmlns:a16="http://schemas.microsoft.com/office/drawing/2014/main" id="{83358D31-792E-1F31-CE2A-A2AE122E42CC}"/>
              </a:ext>
            </a:extLst>
          </p:cNvPr>
          <p:cNvSpPr txBox="1"/>
          <p:nvPr/>
        </p:nvSpPr>
        <p:spPr>
          <a:xfrm>
            <a:off x="458117" y="1970468"/>
            <a:ext cx="224316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조회결과</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조회일자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crtrYmd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조회기준일자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초기값을 당일일자로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6" name="표 15">
            <a:extLst>
              <a:ext uri="{FF2B5EF4-FFF2-40B4-BE49-F238E27FC236}">
                <a16:creationId xmlns:a16="http://schemas.microsoft.com/office/drawing/2014/main" id="{A31F6A43-1297-CF99-ABFA-B1F80565E966}"/>
              </a:ext>
            </a:extLst>
          </p:cNvPr>
          <p:cNvGraphicFramePr>
            <a:graphicFrameLocks noGrp="1"/>
          </p:cNvGraphicFramePr>
          <p:nvPr>
            <p:extLst>
              <p:ext uri="{D42A27DB-BD31-4B8C-83A1-F6EECF244321}">
                <p14:modId xmlns:p14="http://schemas.microsoft.com/office/powerpoint/2010/main" val="68454699"/>
              </p:ext>
            </p:extLst>
          </p:nvPr>
        </p:nvGraphicFramePr>
        <p:xfrm>
          <a:off x="453000" y="442878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환율정보조회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algn="l"/>
                      <a:r>
                        <a:rPr lang="ko-KR" altLang="en-US" sz="800" dirty="0"/>
                        <a:t>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환율정보조회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4083906"/>
                  </a:ext>
                </a:extLst>
              </a:tr>
            </a:tbl>
          </a:graphicData>
        </a:graphic>
      </p:graphicFrame>
      <p:graphicFrame>
        <p:nvGraphicFramePr>
          <p:cNvPr id="2" name="표 1">
            <a:extLst>
              <a:ext uri="{FF2B5EF4-FFF2-40B4-BE49-F238E27FC236}">
                <a16:creationId xmlns:a16="http://schemas.microsoft.com/office/drawing/2014/main" id="{3969C2BD-BAE7-E4E1-6BA5-91005212D745}"/>
              </a:ext>
            </a:extLst>
          </p:cNvPr>
          <p:cNvGraphicFramePr>
            <a:graphicFrameLocks noGrp="1"/>
          </p:cNvGraphicFramePr>
          <p:nvPr/>
        </p:nvGraphicFramePr>
        <p:xfrm>
          <a:off x="452999" y="2254222"/>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화폐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화페구분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416773"/>
                  </a:ext>
                </a:extLst>
              </a:tr>
              <a:tr h="0">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ntnNm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0907113"/>
                  </a:ext>
                </a:extLst>
              </a:tr>
              <a:tr h="0">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ttsrt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3152709"/>
                  </a:ext>
                </a:extLst>
              </a:tr>
              <a:tr h="0">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trdStdrt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5" name="Text Box 73">
            <a:extLst>
              <a:ext uri="{FF2B5EF4-FFF2-40B4-BE49-F238E27FC236}">
                <a16:creationId xmlns:a16="http://schemas.microsoft.com/office/drawing/2014/main" id="{620EE0D2-F5DA-2FDD-3DE6-6D0785641F1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9972967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100</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4.2. </a:t>
            </a:r>
            <a:r>
              <a:rPr lang="ko-KR" altLang="en-US" dirty="0"/>
              <a:t>화면 흐름도 </a:t>
            </a:r>
            <a:r>
              <a:rPr lang="en-US" altLang="ko-KR" dirty="0"/>
              <a:t>– </a:t>
            </a:r>
            <a:r>
              <a:rPr lang="ko-KR" altLang="en-US" dirty="0"/>
              <a:t>입찰 공고 상세 </a:t>
            </a:r>
            <a:r>
              <a:rPr lang="ko-KR" altLang="en-US" dirty="0" err="1"/>
              <a:t>플로팅</a:t>
            </a:r>
            <a:r>
              <a:rPr lang="ko-KR" altLang="en-US" dirty="0"/>
              <a:t> 버튼</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공고 상세</a:t>
            </a: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4197742"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사전심사</a:t>
            </a:r>
            <a:r>
              <a:rPr lang="en-US" altLang="ko-KR" sz="800" dirty="0">
                <a:solidFill>
                  <a:schemeClr val="tx1"/>
                </a:solidFill>
              </a:rPr>
              <a:t>(PQ)</a:t>
            </a:r>
          </a:p>
          <a:p>
            <a:pPr algn="ctr"/>
            <a:r>
              <a:rPr lang="ko-KR" altLang="en-US" sz="800" dirty="0">
                <a:solidFill>
                  <a:schemeClr val="tx1"/>
                </a:solidFill>
              </a:rPr>
              <a:t>신청 버튼</a:t>
            </a:r>
          </a:p>
        </p:txBody>
      </p:sp>
      <p:sp>
        <p:nvSpPr>
          <p:cNvPr id="106" name="TextBox 105">
            <a:extLst>
              <a:ext uri="{FF2B5EF4-FFF2-40B4-BE49-F238E27FC236}">
                <a16:creationId xmlns:a16="http://schemas.microsoft.com/office/drawing/2014/main" id="{6619C48D-7E22-9D49-50C5-2404458A47CE}"/>
              </a:ext>
            </a:extLst>
          </p:cNvPr>
          <p:cNvSpPr txBox="1"/>
          <p:nvPr/>
        </p:nvSpPr>
        <p:spPr>
          <a:xfrm>
            <a:off x="777742" y="5837255"/>
            <a:ext cx="8640000" cy="663634"/>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입찰 공고 상세에서 입찰조건에 따른 버튼</a:t>
            </a:r>
            <a:r>
              <a:rPr lang="en-US" altLang="ko-KR" sz="800" kern="0" dirty="0">
                <a:solidFill>
                  <a:srgbClr val="0000FF"/>
                </a:solidFill>
                <a:latin typeface="+mn-ea"/>
              </a:rPr>
              <a:t>(</a:t>
            </a:r>
            <a:r>
              <a:rPr lang="ko-KR" altLang="en-US" sz="800" kern="0" dirty="0">
                <a:solidFill>
                  <a:srgbClr val="0000FF"/>
                </a:solidFill>
                <a:latin typeface="+mn-ea"/>
              </a:rPr>
              <a:t>입찰서</a:t>
            </a:r>
            <a:r>
              <a:rPr lang="en-US" altLang="ko-KR" sz="800" kern="0" dirty="0">
                <a:solidFill>
                  <a:srgbClr val="0000FF"/>
                </a:solidFill>
                <a:latin typeface="+mn-ea"/>
              </a:rPr>
              <a:t>(</a:t>
            </a:r>
            <a:r>
              <a:rPr lang="ko-KR" altLang="en-US" sz="800" kern="0" dirty="0">
                <a:solidFill>
                  <a:srgbClr val="0000FF"/>
                </a:solidFill>
                <a:latin typeface="+mn-ea"/>
              </a:rPr>
              <a:t>견적서</a:t>
            </a:r>
            <a:r>
              <a:rPr lang="en-US" altLang="ko-KR" sz="800" kern="0" dirty="0">
                <a:solidFill>
                  <a:srgbClr val="0000FF"/>
                </a:solidFill>
                <a:latin typeface="+mn-ea"/>
              </a:rPr>
              <a:t>), </a:t>
            </a:r>
            <a:r>
              <a:rPr lang="ko-KR" altLang="en-US" sz="800" kern="0" dirty="0">
                <a:solidFill>
                  <a:srgbClr val="0000FF"/>
                </a:solidFill>
                <a:latin typeface="+mn-ea"/>
              </a:rPr>
              <a:t>입찰참가 신청서</a:t>
            </a:r>
            <a:r>
              <a:rPr lang="en-US" altLang="ko-KR" sz="800" kern="0" dirty="0">
                <a:solidFill>
                  <a:srgbClr val="0000FF"/>
                </a:solidFill>
                <a:latin typeface="+mn-ea"/>
              </a:rPr>
              <a:t>, </a:t>
            </a:r>
            <a:r>
              <a:rPr lang="ko-KR" altLang="en-US" sz="800" kern="0" dirty="0">
                <a:solidFill>
                  <a:srgbClr val="0000FF"/>
                </a:solidFill>
                <a:latin typeface="+mn-ea"/>
              </a:rPr>
              <a:t>사전심사</a:t>
            </a:r>
            <a:r>
              <a:rPr lang="en-US" altLang="ko-KR" sz="800" kern="0" dirty="0">
                <a:solidFill>
                  <a:srgbClr val="0000FF"/>
                </a:solidFill>
                <a:latin typeface="+mn-ea"/>
              </a:rPr>
              <a:t>(PQ) </a:t>
            </a:r>
            <a:r>
              <a:rPr lang="ko-KR" altLang="en-US" sz="800" kern="0" dirty="0">
                <a:solidFill>
                  <a:srgbClr val="0000FF"/>
                </a:solidFill>
                <a:latin typeface="+mn-ea"/>
              </a:rPr>
              <a:t>신청서</a:t>
            </a:r>
            <a:r>
              <a:rPr lang="en-US" altLang="ko-KR" sz="800" kern="0" dirty="0">
                <a:solidFill>
                  <a:srgbClr val="0000FF"/>
                </a:solidFill>
                <a:latin typeface="+mn-ea"/>
              </a:rPr>
              <a:t>)</a:t>
            </a:r>
            <a:r>
              <a:rPr lang="ko-KR" altLang="en-US" sz="800" kern="0" dirty="0">
                <a:solidFill>
                  <a:srgbClr val="0000FF"/>
                </a:solidFill>
                <a:latin typeface="+mn-ea"/>
              </a:rPr>
              <a:t>과 </a:t>
            </a:r>
            <a:r>
              <a:rPr lang="ko-KR" altLang="en-US" sz="800" kern="0" dirty="0" err="1">
                <a:solidFill>
                  <a:srgbClr val="0000FF"/>
                </a:solidFill>
                <a:latin typeface="+mn-ea"/>
              </a:rPr>
              <a:t>관심공고</a:t>
            </a:r>
            <a:r>
              <a:rPr lang="ko-KR" altLang="en-US" sz="800" kern="0" dirty="0">
                <a:solidFill>
                  <a:srgbClr val="0000FF"/>
                </a:solidFill>
                <a:latin typeface="+mn-ea"/>
              </a:rPr>
              <a:t> 등록</a:t>
            </a:r>
            <a:r>
              <a:rPr lang="en-US" altLang="ko-KR" sz="800" kern="0" dirty="0">
                <a:solidFill>
                  <a:srgbClr val="0000FF"/>
                </a:solidFill>
                <a:latin typeface="+mn-ea"/>
              </a:rPr>
              <a:t>, </a:t>
            </a:r>
            <a:r>
              <a:rPr lang="ko-KR" altLang="en-US" sz="800" kern="0" dirty="0" err="1">
                <a:solidFill>
                  <a:srgbClr val="0000FF"/>
                </a:solidFill>
                <a:latin typeface="+mn-ea"/>
              </a:rPr>
              <a:t>환율정보</a:t>
            </a:r>
            <a:r>
              <a:rPr lang="ko-KR" altLang="en-US" sz="800" kern="0" dirty="0">
                <a:solidFill>
                  <a:srgbClr val="0000FF"/>
                </a:solidFill>
                <a:latin typeface="+mn-ea"/>
              </a:rPr>
              <a:t> 조회 버튼은 조건에 따라 노출합니다</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입찰공고 상세에서 입찰 가능 조건에 따라 </a:t>
            </a:r>
            <a:r>
              <a:rPr lang="ko-KR" altLang="en-US" sz="800" kern="0" dirty="0" err="1">
                <a:solidFill>
                  <a:srgbClr val="0000FF"/>
                </a:solidFill>
                <a:latin typeface="+mn-ea"/>
              </a:rPr>
              <a:t>플로팅</a:t>
            </a:r>
            <a:r>
              <a:rPr lang="ko-KR" altLang="en-US" sz="800" kern="0" dirty="0">
                <a:solidFill>
                  <a:srgbClr val="0000FF"/>
                </a:solidFill>
                <a:latin typeface="+mn-ea"/>
              </a:rPr>
              <a:t> 버튼 화면상에 표시되는 버튼이 변동됩니다</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로그인 여부에 따라 입찰 작성 페이지 이동을 하거나</a:t>
            </a:r>
            <a:r>
              <a:rPr lang="en-US" altLang="ko-KR" sz="800" kern="0" dirty="0">
                <a:solidFill>
                  <a:srgbClr val="0000FF"/>
                </a:solidFill>
                <a:latin typeface="+mn-ea"/>
              </a:rPr>
              <a:t>, </a:t>
            </a:r>
            <a:r>
              <a:rPr lang="ko-KR" altLang="en-US" sz="800" kern="0" dirty="0">
                <a:solidFill>
                  <a:srgbClr val="0000FF"/>
                </a:solidFill>
                <a:latin typeface="+mn-ea"/>
              </a:rPr>
              <a:t>공고 상세 페이지에서 로그인 안내가 노출됩니다</a:t>
            </a:r>
            <a:r>
              <a:rPr lang="en-US" altLang="ko-KR" sz="800" kern="0" dirty="0">
                <a:solidFill>
                  <a:srgbClr val="0000FF"/>
                </a:solidFill>
                <a:latin typeface="+mn-ea"/>
              </a:rPr>
              <a:t>.</a:t>
            </a:r>
            <a:endParaRPr lang="ko-KR" altLang="en-US" sz="800" kern="0" dirty="0">
              <a:solidFill>
                <a:srgbClr val="0000FF"/>
              </a:solidFill>
              <a:latin typeface="+mn-ea"/>
            </a:endParaRP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2"/>
            <a:endCxn id="38" idx="0"/>
          </p:cNvCxnSpPr>
          <p:nvPr/>
        </p:nvCxnSpPr>
        <p:spPr>
          <a:xfrm>
            <a:off x="2816608" y="1916964"/>
            <a:ext cx="0" cy="393895"/>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147" name="사각형: 둥근 모서리 5">
            <a:extLst>
              <a:ext uri="{FF2B5EF4-FFF2-40B4-BE49-F238E27FC236}">
                <a16:creationId xmlns:a16="http://schemas.microsoft.com/office/drawing/2014/main" id="{410E5459-200D-7630-863C-88E5109259DF}"/>
              </a:ext>
            </a:extLst>
          </p:cNvPr>
          <p:cNvSpPr/>
          <p:nvPr/>
        </p:nvSpPr>
        <p:spPr>
          <a:xfrm>
            <a:off x="7856934"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페이지 이동</a:t>
            </a:r>
          </a:p>
        </p:txBody>
      </p:sp>
      <p:cxnSp>
        <p:nvCxnSpPr>
          <p:cNvPr id="66" name="연결선: 꺾임 7">
            <a:extLst>
              <a:ext uri="{FF2B5EF4-FFF2-40B4-BE49-F238E27FC236}">
                <a16:creationId xmlns:a16="http://schemas.microsoft.com/office/drawing/2014/main" id="{89A2D828-4C18-4F90-6B31-722E89773AA8}"/>
              </a:ext>
            </a:extLst>
          </p:cNvPr>
          <p:cNvCxnSpPr>
            <a:cxnSpLocks/>
            <a:stCxn id="38" idx="3"/>
            <a:endCxn id="41" idx="1"/>
          </p:cNvCxnSpPr>
          <p:nvPr/>
        </p:nvCxnSpPr>
        <p:spPr>
          <a:xfrm>
            <a:off x="3266608" y="2454859"/>
            <a:ext cx="931134" cy="68189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3" name="직사각형 72">
            <a:extLst>
              <a:ext uri="{FF2B5EF4-FFF2-40B4-BE49-F238E27FC236}">
                <a16:creationId xmlns:a16="http://schemas.microsoft.com/office/drawing/2014/main" id="{F249990F-1DE5-C694-BDBD-2DE7009D57EA}"/>
              </a:ext>
            </a:extLst>
          </p:cNvPr>
          <p:cNvSpPr/>
          <p:nvPr/>
        </p:nvSpPr>
        <p:spPr>
          <a:xfrm>
            <a:off x="6797071" y="1470813"/>
            <a:ext cx="5770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Y</a:t>
            </a:r>
            <a:endParaRPr lang="ko-KR" altLang="en-US" sz="800" dirty="0">
              <a:solidFill>
                <a:schemeClr val="tx1"/>
              </a:solidFill>
            </a:endParaRPr>
          </a:p>
        </p:txBody>
      </p:sp>
      <p:sp>
        <p:nvSpPr>
          <p:cNvPr id="72" name="다이아몬드 71"/>
          <p:cNvSpPr/>
          <p:nvPr/>
        </p:nvSpPr>
        <p:spPr>
          <a:xfrm>
            <a:off x="5993499" y="1628964"/>
            <a:ext cx="900000" cy="288000"/>
          </a:xfrm>
          <a:prstGeom prst="diamond">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로그인</a:t>
            </a:r>
          </a:p>
        </p:txBody>
      </p:sp>
      <p:sp>
        <p:nvSpPr>
          <p:cNvPr id="74" name="사각형: 둥근 모서리 5">
            <a:extLst>
              <a:ext uri="{FF2B5EF4-FFF2-40B4-BE49-F238E27FC236}">
                <a16:creationId xmlns:a16="http://schemas.microsoft.com/office/drawing/2014/main" id="{410E5459-200D-7630-863C-88E5109259DF}"/>
              </a:ext>
            </a:extLst>
          </p:cNvPr>
          <p:cNvSpPr/>
          <p:nvPr/>
        </p:nvSpPr>
        <p:spPr>
          <a:xfrm>
            <a:off x="5993499" y="2307750"/>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a:solidFill>
                  <a:schemeClr val="tx1"/>
                </a:solidFill>
              </a:rPr>
              <a:t>로그인 안내</a:t>
            </a:r>
            <a:endParaRPr lang="ko-KR" altLang="en-US" sz="800" dirty="0">
              <a:solidFill>
                <a:schemeClr val="tx1"/>
              </a:solidFill>
            </a:endParaRPr>
          </a:p>
        </p:txBody>
      </p:sp>
      <p:cxnSp>
        <p:nvCxnSpPr>
          <p:cNvPr id="75" name="직선 화살표 연결선 74">
            <a:extLst>
              <a:ext uri="{FF2B5EF4-FFF2-40B4-BE49-F238E27FC236}">
                <a16:creationId xmlns:a16="http://schemas.microsoft.com/office/drawing/2014/main" id="{9A519F08-B829-E35F-09D8-DFCD1F68B911}"/>
              </a:ext>
            </a:extLst>
          </p:cNvPr>
          <p:cNvCxnSpPr>
            <a:cxnSpLocks/>
            <a:stCxn id="72" idx="2"/>
            <a:endCxn id="74" idx="0"/>
          </p:cNvCxnSpPr>
          <p:nvPr/>
        </p:nvCxnSpPr>
        <p:spPr>
          <a:xfrm>
            <a:off x="6443499" y="1916964"/>
            <a:ext cx="0" cy="3907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직사각형 75">
            <a:extLst>
              <a:ext uri="{FF2B5EF4-FFF2-40B4-BE49-F238E27FC236}">
                <a16:creationId xmlns:a16="http://schemas.microsoft.com/office/drawing/2014/main" id="{F249990F-1DE5-C694-BDBD-2DE7009D57EA}"/>
              </a:ext>
            </a:extLst>
          </p:cNvPr>
          <p:cNvSpPr/>
          <p:nvPr/>
        </p:nvSpPr>
        <p:spPr>
          <a:xfrm>
            <a:off x="6536938" y="2141147"/>
            <a:ext cx="7854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N</a:t>
            </a:r>
            <a:endParaRPr lang="ko-KR" altLang="en-US" sz="800"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6324502" y="3239492"/>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6353499" y="3038338"/>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85" name="직선 화살표 연결선 84">
            <a:extLst>
              <a:ext uri="{FF2B5EF4-FFF2-40B4-BE49-F238E27FC236}">
                <a16:creationId xmlns:a16="http://schemas.microsoft.com/office/drawing/2014/main" id="{9A519F08-B829-E35F-09D8-DFCD1F68B911}"/>
              </a:ext>
            </a:extLst>
          </p:cNvPr>
          <p:cNvCxnSpPr>
            <a:cxnSpLocks/>
            <a:stCxn id="74" idx="2"/>
            <a:endCxn id="80" idx="0"/>
          </p:cNvCxnSpPr>
          <p:nvPr/>
        </p:nvCxnSpPr>
        <p:spPr>
          <a:xfrm>
            <a:off x="6443499" y="2595750"/>
            <a:ext cx="0" cy="44258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연결선: 꺾임 7">
            <a:extLst>
              <a:ext uri="{FF2B5EF4-FFF2-40B4-BE49-F238E27FC236}">
                <a16:creationId xmlns:a16="http://schemas.microsoft.com/office/drawing/2014/main" id="{89A2D828-4C18-4F90-6B31-722E89773AA8}"/>
              </a:ext>
            </a:extLst>
          </p:cNvPr>
          <p:cNvCxnSpPr>
            <a:cxnSpLocks/>
            <a:stCxn id="38" idx="3"/>
            <a:endCxn id="77" idx="1"/>
          </p:cNvCxnSpPr>
          <p:nvPr/>
        </p:nvCxnSpPr>
        <p:spPr>
          <a:xfrm flipV="1">
            <a:off x="3266608" y="1772964"/>
            <a:ext cx="931134" cy="68189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직선 화살표 연결선 86">
            <a:extLst>
              <a:ext uri="{FF2B5EF4-FFF2-40B4-BE49-F238E27FC236}">
                <a16:creationId xmlns:a16="http://schemas.microsoft.com/office/drawing/2014/main" id="{9A519F08-B829-E35F-09D8-DFCD1F68B911}"/>
              </a:ext>
            </a:extLst>
          </p:cNvPr>
          <p:cNvCxnSpPr>
            <a:cxnSpLocks/>
            <a:stCxn id="72" idx="3"/>
            <a:endCxn id="147" idx="1"/>
          </p:cNvCxnSpPr>
          <p:nvPr/>
        </p:nvCxnSpPr>
        <p:spPr>
          <a:xfrm>
            <a:off x="6893499" y="1772964"/>
            <a:ext cx="963435"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8" name="사각형: 둥근 모서리 5">
            <a:extLst>
              <a:ext uri="{FF2B5EF4-FFF2-40B4-BE49-F238E27FC236}">
                <a16:creationId xmlns:a16="http://schemas.microsoft.com/office/drawing/2014/main" id="{410E5459-200D-7630-863C-88E5109259DF}"/>
              </a:ext>
            </a:extLst>
          </p:cNvPr>
          <p:cNvSpPr/>
          <p:nvPr/>
        </p:nvSpPr>
        <p:spPr>
          <a:xfrm>
            <a:off x="2366608"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플로팅</a:t>
            </a:r>
            <a:r>
              <a:rPr lang="ko-KR" altLang="en-US" sz="800" dirty="0">
                <a:solidFill>
                  <a:schemeClr val="tx1"/>
                </a:solidFill>
              </a:rPr>
              <a:t> 버튼</a:t>
            </a:r>
          </a:p>
        </p:txBody>
      </p:sp>
      <p:sp>
        <p:nvSpPr>
          <p:cNvPr id="40" name="사각형: 둥근 모서리 5">
            <a:extLst>
              <a:ext uri="{FF2B5EF4-FFF2-40B4-BE49-F238E27FC236}">
                <a16:creationId xmlns:a16="http://schemas.microsoft.com/office/drawing/2014/main" id="{410E5459-200D-7630-863C-88E5109259DF}"/>
              </a:ext>
            </a:extLst>
          </p:cNvPr>
          <p:cNvSpPr/>
          <p:nvPr/>
        </p:nvSpPr>
        <p:spPr>
          <a:xfrm>
            <a:off x="4197742"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견적서 작성</a:t>
            </a:r>
            <a:endParaRPr lang="en-US" altLang="ko-KR" sz="800" dirty="0">
              <a:solidFill>
                <a:schemeClr val="tx1"/>
              </a:solidFill>
            </a:endParaRPr>
          </a:p>
          <a:p>
            <a:pPr algn="ctr"/>
            <a:r>
              <a:rPr lang="ko-KR" altLang="en-US" sz="800" dirty="0">
                <a:solidFill>
                  <a:schemeClr val="tx1"/>
                </a:solidFill>
              </a:rPr>
              <a:t>입찰서 작성 버튼</a:t>
            </a:r>
          </a:p>
        </p:txBody>
      </p:sp>
      <p:sp>
        <p:nvSpPr>
          <p:cNvPr id="41" name="사각형: 둥근 모서리 5">
            <a:extLst>
              <a:ext uri="{FF2B5EF4-FFF2-40B4-BE49-F238E27FC236}">
                <a16:creationId xmlns:a16="http://schemas.microsoft.com/office/drawing/2014/main" id="{410E5459-200D-7630-863C-88E5109259DF}"/>
              </a:ext>
            </a:extLst>
          </p:cNvPr>
          <p:cNvSpPr/>
          <p:nvPr/>
        </p:nvSpPr>
        <p:spPr>
          <a:xfrm>
            <a:off x="4197742" y="299275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 작성 버튼</a:t>
            </a:r>
          </a:p>
        </p:txBody>
      </p:sp>
      <p:cxnSp>
        <p:nvCxnSpPr>
          <p:cNvPr id="48" name="직선 화살표 연결선 47">
            <a:extLst>
              <a:ext uri="{FF2B5EF4-FFF2-40B4-BE49-F238E27FC236}">
                <a16:creationId xmlns:a16="http://schemas.microsoft.com/office/drawing/2014/main" id="{9A519F08-B829-E35F-09D8-DFCD1F68B911}"/>
              </a:ext>
            </a:extLst>
          </p:cNvPr>
          <p:cNvCxnSpPr>
            <a:cxnSpLocks/>
            <a:stCxn id="38" idx="3"/>
            <a:endCxn id="40" idx="1"/>
          </p:cNvCxnSpPr>
          <p:nvPr/>
        </p:nvCxnSpPr>
        <p:spPr>
          <a:xfrm>
            <a:off x="3266608" y="2454859"/>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A519F08-B829-E35F-09D8-DFCD1F68B911}"/>
              </a:ext>
            </a:extLst>
          </p:cNvPr>
          <p:cNvCxnSpPr>
            <a:cxnSpLocks/>
            <a:stCxn id="77" idx="3"/>
            <a:endCxn id="72" idx="1"/>
          </p:cNvCxnSpPr>
          <p:nvPr/>
        </p:nvCxnSpPr>
        <p:spPr>
          <a:xfrm>
            <a:off x="5097742" y="1772964"/>
            <a:ext cx="89575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연결선: 꺾임 7">
            <a:extLst>
              <a:ext uri="{FF2B5EF4-FFF2-40B4-BE49-F238E27FC236}">
                <a16:creationId xmlns:a16="http://schemas.microsoft.com/office/drawing/2014/main" id="{89A2D828-4C18-4F90-6B31-722E89773AA8}"/>
              </a:ext>
            </a:extLst>
          </p:cNvPr>
          <p:cNvCxnSpPr>
            <a:cxnSpLocks/>
            <a:stCxn id="41" idx="3"/>
            <a:endCxn id="72" idx="1"/>
          </p:cNvCxnSpPr>
          <p:nvPr/>
        </p:nvCxnSpPr>
        <p:spPr>
          <a:xfrm flipV="1">
            <a:off x="5097742" y="1772964"/>
            <a:ext cx="895757" cy="136379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연결선: 꺾임 7">
            <a:extLst>
              <a:ext uri="{FF2B5EF4-FFF2-40B4-BE49-F238E27FC236}">
                <a16:creationId xmlns:a16="http://schemas.microsoft.com/office/drawing/2014/main" id="{89A2D828-4C18-4F90-6B31-722E89773AA8}"/>
              </a:ext>
            </a:extLst>
          </p:cNvPr>
          <p:cNvCxnSpPr>
            <a:cxnSpLocks/>
            <a:stCxn id="40" idx="3"/>
            <a:endCxn id="72" idx="1"/>
          </p:cNvCxnSpPr>
          <p:nvPr/>
        </p:nvCxnSpPr>
        <p:spPr>
          <a:xfrm flipV="1">
            <a:off x="5097742" y="1772964"/>
            <a:ext cx="895757" cy="68189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연결선: 꺾임 7">
            <a:extLst>
              <a:ext uri="{FF2B5EF4-FFF2-40B4-BE49-F238E27FC236}">
                <a16:creationId xmlns:a16="http://schemas.microsoft.com/office/drawing/2014/main" id="{89A2D828-4C18-4F90-6B31-722E89773AA8}"/>
              </a:ext>
            </a:extLst>
          </p:cNvPr>
          <p:cNvCxnSpPr>
            <a:cxnSpLocks/>
            <a:stCxn id="147" idx="2"/>
            <a:endCxn id="80" idx="6"/>
          </p:cNvCxnSpPr>
          <p:nvPr/>
        </p:nvCxnSpPr>
        <p:spPr>
          <a:xfrm rot="5400000">
            <a:off x="6814530" y="1635934"/>
            <a:ext cx="1211374" cy="1773435"/>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사각형: 둥근 모서리 5">
            <a:extLst>
              <a:ext uri="{FF2B5EF4-FFF2-40B4-BE49-F238E27FC236}">
                <a16:creationId xmlns:a16="http://schemas.microsoft.com/office/drawing/2014/main" id="{410E5459-200D-7630-863C-88E5109259DF}"/>
              </a:ext>
            </a:extLst>
          </p:cNvPr>
          <p:cNvSpPr/>
          <p:nvPr/>
        </p:nvSpPr>
        <p:spPr>
          <a:xfrm>
            <a:off x="4197742" y="367464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입찰포기</a:t>
            </a:r>
            <a:endParaRPr lang="en-US" altLang="ko-KR" sz="800" dirty="0">
              <a:solidFill>
                <a:schemeClr val="tx1"/>
              </a:solidFill>
            </a:endParaRPr>
          </a:p>
          <a:p>
            <a:pPr algn="ctr"/>
            <a:r>
              <a:rPr lang="ko-KR" altLang="en-US" sz="800" dirty="0">
                <a:solidFill>
                  <a:schemeClr val="tx1"/>
                </a:solidFill>
              </a:rPr>
              <a:t>신청 버튼</a:t>
            </a:r>
          </a:p>
        </p:txBody>
      </p:sp>
      <p:cxnSp>
        <p:nvCxnSpPr>
          <p:cNvPr id="68" name="연결선: 꺾임 7">
            <a:extLst>
              <a:ext uri="{FF2B5EF4-FFF2-40B4-BE49-F238E27FC236}">
                <a16:creationId xmlns:a16="http://schemas.microsoft.com/office/drawing/2014/main" id="{89A2D828-4C18-4F90-6B31-722E89773AA8}"/>
              </a:ext>
            </a:extLst>
          </p:cNvPr>
          <p:cNvCxnSpPr>
            <a:cxnSpLocks/>
            <a:stCxn id="38" idx="3"/>
            <a:endCxn id="67" idx="1"/>
          </p:cNvCxnSpPr>
          <p:nvPr/>
        </p:nvCxnSpPr>
        <p:spPr>
          <a:xfrm>
            <a:off x="3266608" y="2454859"/>
            <a:ext cx="931134" cy="136379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1" name="사각형: 둥근 모서리 5">
            <a:extLst>
              <a:ext uri="{FF2B5EF4-FFF2-40B4-BE49-F238E27FC236}">
                <a16:creationId xmlns:a16="http://schemas.microsoft.com/office/drawing/2014/main" id="{410E5459-200D-7630-863C-88E5109259DF}"/>
              </a:ext>
            </a:extLst>
          </p:cNvPr>
          <p:cNvSpPr/>
          <p:nvPr/>
        </p:nvSpPr>
        <p:spPr>
          <a:xfrm>
            <a:off x="5993499" y="50404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환율정보조회</a:t>
            </a:r>
          </a:p>
        </p:txBody>
      </p:sp>
      <p:cxnSp>
        <p:nvCxnSpPr>
          <p:cNvPr id="82" name="직선 화살표 연결선 81">
            <a:extLst>
              <a:ext uri="{FF2B5EF4-FFF2-40B4-BE49-F238E27FC236}">
                <a16:creationId xmlns:a16="http://schemas.microsoft.com/office/drawing/2014/main" id="{9A519F08-B829-E35F-09D8-DFCD1F68B911}"/>
              </a:ext>
            </a:extLst>
          </p:cNvPr>
          <p:cNvCxnSpPr>
            <a:cxnSpLocks/>
            <a:stCxn id="47" idx="3"/>
            <a:endCxn id="81" idx="1"/>
          </p:cNvCxnSpPr>
          <p:nvPr/>
        </p:nvCxnSpPr>
        <p:spPr>
          <a:xfrm>
            <a:off x="5097742" y="5184438"/>
            <a:ext cx="895757"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3" name="연결선: 꺾임 7">
            <a:extLst>
              <a:ext uri="{FF2B5EF4-FFF2-40B4-BE49-F238E27FC236}">
                <a16:creationId xmlns:a16="http://schemas.microsoft.com/office/drawing/2014/main" id="{89A2D828-4C18-4F90-6B31-722E89773AA8}"/>
              </a:ext>
            </a:extLst>
          </p:cNvPr>
          <p:cNvCxnSpPr>
            <a:cxnSpLocks/>
            <a:stCxn id="81" idx="3"/>
            <a:endCxn id="80" idx="6"/>
          </p:cNvCxnSpPr>
          <p:nvPr/>
        </p:nvCxnSpPr>
        <p:spPr>
          <a:xfrm flipH="1" flipV="1">
            <a:off x="6533499" y="3128338"/>
            <a:ext cx="360000" cy="2056100"/>
          </a:xfrm>
          <a:prstGeom prst="bentConnector3">
            <a:avLst>
              <a:gd name="adj1" fmla="val -635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F249990F-1DE5-C694-BDBD-2DE7009D57EA}"/>
              </a:ext>
            </a:extLst>
          </p:cNvPr>
          <p:cNvSpPr/>
          <p:nvPr/>
        </p:nvSpPr>
        <p:spPr>
          <a:xfrm>
            <a:off x="4197742" y="1496403"/>
            <a:ext cx="1019510"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100</a:t>
            </a:r>
            <a:r>
              <a:rPr lang="ko-KR" altLang="en-US" sz="800" dirty="0">
                <a:solidFill>
                  <a:schemeClr val="tx1"/>
                </a:solidFill>
              </a:rPr>
              <a:t>억 이상 용역</a:t>
            </a:r>
            <a:r>
              <a:rPr lang="en-US" altLang="ko-KR" sz="800" dirty="0">
                <a:solidFill>
                  <a:schemeClr val="tx1"/>
                </a:solidFill>
              </a:rPr>
              <a:t>, </a:t>
            </a:r>
            <a:r>
              <a:rPr lang="ko-KR" altLang="en-US" sz="800" dirty="0">
                <a:solidFill>
                  <a:schemeClr val="tx1"/>
                </a:solidFill>
              </a:rPr>
              <a:t>공사</a:t>
            </a:r>
          </a:p>
        </p:txBody>
      </p:sp>
      <p:sp>
        <p:nvSpPr>
          <p:cNvPr id="95" name="직사각형 94">
            <a:extLst>
              <a:ext uri="{FF2B5EF4-FFF2-40B4-BE49-F238E27FC236}">
                <a16:creationId xmlns:a16="http://schemas.microsoft.com/office/drawing/2014/main" id="{F249990F-1DE5-C694-BDBD-2DE7009D57EA}"/>
              </a:ext>
            </a:extLst>
          </p:cNvPr>
          <p:cNvSpPr/>
          <p:nvPr/>
        </p:nvSpPr>
        <p:spPr>
          <a:xfrm>
            <a:off x="4197742" y="2863988"/>
            <a:ext cx="41036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경쟁계약</a:t>
            </a:r>
          </a:p>
        </p:txBody>
      </p:sp>
      <p:sp>
        <p:nvSpPr>
          <p:cNvPr id="96" name="직사각형 95">
            <a:extLst>
              <a:ext uri="{FF2B5EF4-FFF2-40B4-BE49-F238E27FC236}">
                <a16:creationId xmlns:a16="http://schemas.microsoft.com/office/drawing/2014/main" id="{F249990F-1DE5-C694-BDBD-2DE7009D57EA}"/>
              </a:ext>
            </a:extLst>
          </p:cNvPr>
          <p:cNvSpPr/>
          <p:nvPr/>
        </p:nvSpPr>
        <p:spPr>
          <a:xfrm>
            <a:off x="4197742" y="2184639"/>
            <a:ext cx="61555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공개수의협상</a:t>
            </a:r>
          </a:p>
        </p:txBody>
      </p:sp>
      <p:sp>
        <p:nvSpPr>
          <p:cNvPr id="46" name="사각형: 둥근 모서리 5">
            <a:extLst>
              <a:ext uri="{FF2B5EF4-FFF2-40B4-BE49-F238E27FC236}">
                <a16:creationId xmlns:a16="http://schemas.microsoft.com/office/drawing/2014/main" id="{410E5459-200D-7630-863C-88E5109259DF}"/>
              </a:ext>
            </a:extLst>
          </p:cNvPr>
          <p:cNvSpPr/>
          <p:nvPr/>
        </p:nvSpPr>
        <p:spPr>
          <a:xfrm>
            <a:off x="4197742" y="435654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입찰취소</a:t>
            </a:r>
            <a:endParaRPr lang="en-US" altLang="ko-KR" sz="800" dirty="0">
              <a:solidFill>
                <a:schemeClr val="tx1"/>
              </a:solidFill>
            </a:endParaRPr>
          </a:p>
          <a:p>
            <a:pPr algn="ctr"/>
            <a:r>
              <a:rPr lang="ko-KR" altLang="en-US" sz="800" dirty="0">
                <a:solidFill>
                  <a:schemeClr val="tx1"/>
                </a:solidFill>
              </a:rPr>
              <a:t>신청 버튼</a:t>
            </a:r>
          </a:p>
        </p:txBody>
      </p:sp>
      <p:sp>
        <p:nvSpPr>
          <p:cNvPr id="47" name="사각형: 둥근 모서리 5">
            <a:extLst>
              <a:ext uri="{FF2B5EF4-FFF2-40B4-BE49-F238E27FC236}">
                <a16:creationId xmlns:a16="http://schemas.microsoft.com/office/drawing/2014/main" id="{410E5459-200D-7630-863C-88E5109259DF}"/>
              </a:ext>
            </a:extLst>
          </p:cNvPr>
          <p:cNvSpPr/>
          <p:nvPr/>
        </p:nvSpPr>
        <p:spPr>
          <a:xfrm>
            <a:off x="4197742" y="50404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환율정보</a:t>
            </a:r>
            <a:r>
              <a:rPr lang="ko-KR" altLang="en-US" sz="800" dirty="0">
                <a:solidFill>
                  <a:schemeClr val="tx1"/>
                </a:solidFill>
              </a:rPr>
              <a:t> 버튼</a:t>
            </a:r>
          </a:p>
        </p:txBody>
      </p:sp>
      <p:cxnSp>
        <p:nvCxnSpPr>
          <p:cNvPr id="49" name="연결선: 꺾임 7">
            <a:extLst>
              <a:ext uri="{FF2B5EF4-FFF2-40B4-BE49-F238E27FC236}">
                <a16:creationId xmlns:a16="http://schemas.microsoft.com/office/drawing/2014/main" id="{89A2D828-4C18-4F90-6B31-722E89773AA8}"/>
              </a:ext>
            </a:extLst>
          </p:cNvPr>
          <p:cNvCxnSpPr>
            <a:cxnSpLocks/>
            <a:stCxn id="38" idx="3"/>
            <a:endCxn id="46" idx="1"/>
          </p:cNvCxnSpPr>
          <p:nvPr/>
        </p:nvCxnSpPr>
        <p:spPr>
          <a:xfrm>
            <a:off x="3266608" y="2454859"/>
            <a:ext cx="931134" cy="204568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연결선: 꺾임 7">
            <a:extLst>
              <a:ext uri="{FF2B5EF4-FFF2-40B4-BE49-F238E27FC236}">
                <a16:creationId xmlns:a16="http://schemas.microsoft.com/office/drawing/2014/main" id="{89A2D828-4C18-4F90-6B31-722E89773AA8}"/>
              </a:ext>
            </a:extLst>
          </p:cNvPr>
          <p:cNvCxnSpPr>
            <a:cxnSpLocks/>
            <a:stCxn id="38" idx="3"/>
            <a:endCxn id="47" idx="1"/>
          </p:cNvCxnSpPr>
          <p:nvPr/>
        </p:nvCxnSpPr>
        <p:spPr>
          <a:xfrm>
            <a:off x="3266608" y="2454859"/>
            <a:ext cx="931134" cy="2729579"/>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직사각형 62">
            <a:extLst>
              <a:ext uri="{FF2B5EF4-FFF2-40B4-BE49-F238E27FC236}">
                <a16:creationId xmlns:a16="http://schemas.microsoft.com/office/drawing/2014/main" id="{F249990F-1DE5-C694-BDBD-2DE7009D57EA}"/>
              </a:ext>
            </a:extLst>
          </p:cNvPr>
          <p:cNvSpPr/>
          <p:nvPr/>
        </p:nvSpPr>
        <p:spPr>
          <a:xfrm>
            <a:off x="4197742" y="3545607"/>
            <a:ext cx="1275990"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기로그인</a:t>
            </a:r>
            <a:r>
              <a:rPr lang="ko-KR" altLang="en-US" sz="800" dirty="0">
                <a:solidFill>
                  <a:schemeClr val="tx1"/>
                </a:solidFill>
              </a:rPr>
              <a:t> 및 신청한 공고 有</a:t>
            </a:r>
          </a:p>
        </p:txBody>
      </p:sp>
      <p:sp>
        <p:nvSpPr>
          <p:cNvPr id="65" name="직사각형 64">
            <a:extLst>
              <a:ext uri="{FF2B5EF4-FFF2-40B4-BE49-F238E27FC236}">
                <a16:creationId xmlns:a16="http://schemas.microsoft.com/office/drawing/2014/main" id="{F249990F-1DE5-C694-BDBD-2DE7009D57EA}"/>
              </a:ext>
            </a:extLst>
          </p:cNvPr>
          <p:cNvSpPr/>
          <p:nvPr/>
        </p:nvSpPr>
        <p:spPr>
          <a:xfrm>
            <a:off x="4197742" y="4233081"/>
            <a:ext cx="1275990"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기로그인</a:t>
            </a:r>
            <a:r>
              <a:rPr lang="ko-KR" altLang="en-US" sz="800" dirty="0">
                <a:solidFill>
                  <a:schemeClr val="tx1"/>
                </a:solidFill>
              </a:rPr>
              <a:t> 및 신청한 공고 有</a:t>
            </a:r>
          </a:p>
        </p:txBody>
      </p:sp>
      <p:sp>
        <p:nvSpPr>
          <p:cNvPr id="50" name="직사각형 49">
            <a:extLst>
              <a:ext uri="{FF2B5EF4-FFF2-40B4-BE49-F238E27FC236}">
                <a16:creationId xmlns:a16="http://schemas.microsoft.com/office/drawing/2014/main" id="{F249990F-1DE5-C694-BDBD-2DE7009D57EA}"/>
              </a:ext>
            </a:extLst>
          </p:cNvPr>
          <p:cNvSpPr/>
          <p:nvPr/>
        </p:nvSpPr>
        <p:spPr>
          <a:xfrm>
            <a:off x="4197742" y="4893555"/>
            <a:ext cx="44723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국외 공고</a:t>
            </a:r>
          </a:p>
        </p:txBody>
      </p:sp>
    </p:spTree>
    <p:extLst>
      <p:ext uri="{BB962C8B-B14F-4D97-AF65-F5344CB8AC3E}">
        <p14:creationId xmlns:p14="http://schemas.microsoft.com/office/powerpoint/2010/main" val="43291696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101</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4.3 </a:t>
            </a:r>
            <a:r>
              <a:rPr lang="ko-KR" altLang="en-US" dirty="0"/>
              <a:t>앱 구성 다이어그램</a:t>
            </a: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2270143"/>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err="1">
                <a:solidFill>
                  <a:schemeClr val="tx1"/>
                </a:solidFill>
              </a:rPr>
              <a:t>플로팅</a:t>
            </a:r>
            <a:r>
              <a:rPr lang="ko-KR" altLang="en-US" sz="1100" dirty="0">
                <a:solidFill>
                  <a:schemeClr val="tx1"/>
                </a:solidFill>
              </a:rPr>
              <a:t> 버튼</a:t>
            </a:r>
            <a:endParaRPr lang="en-US" altLang="ko-KR" sz="1100" dirty="0">
              <a:solidFill>
                <a:schemeClr val="tx1"/>
              </a:solidFill>
            </a:endParaRPr>
          </a:p>
          <a:p>
            <a:pPr algn="ctr"/>
            <a:r>
              <a:rPr lang="en-US" altLang="ko-KR" sz="1100" dirty="0">
                <a:solidFill>
                  <a:schemeClr val="tx1"/>
                </a:solidFill>
                <a:latin typeface="+mn-ea"/>
              </a:rPr>
              <a:t>FloatBtn</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3104191"/>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a:solidFill>
                  <a:schemeClr val="tx1"/>
                </a:solidFill>
              </a:rPr>
              <a:t>환율정보조회</a:t>
            </a:r>
            <a:endParaRPr lang="en-US" altLang="ko-KR" sz="1100" dirty="0">
              <a:solidFill>
                <a:schemeClr val="tx1"/>
              </a:solidFill>
            </a:endParaRPr>
          </a:p>
          <a:p>
            <a:pPr algn="ctr"/>
            <a:r>
              <a:rPr lang="en-US" altLang="ko-KR" sz="1100" dirty="0">
                <a:solidFill>
                  <a:schemeClr val="tx1"/>
                </a:solidFill>
                <a:latin typeface="+mn-ea"/>
              </a:rPr>
              <a:t>OvsExchrtListPage</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588527"/>
            <a:ext cx="967509" cy="4016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flipV="1">
            <a:off x="2992582" y="2990174"/>
            <a:ext cx="967509" cy="4324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3570592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사전심사요청</a:t>
            </a:r>
            <a:r>
              <a:rPr lang="en-US" altLang="ko-KR" dirty="0" smtClean="0"/>
              <a:t>, </a:t>
            </a:r>
            <a:r>
              <a:rPr lang="ko-KR" altLang="en-US" dirty="0" smtClean="0"/>
              <a:t>입찰참가신청요청이 있는 공고인 경우 해당 기간에 맞는 버튼만 노출됨</a:t>
            </a:r>
            <a:r>
              <a:rPr lang="en-US" altLang="ko-KR" dirty="0" smtClean="0"/>
              <a:t/>
            </a:r>
            <a:br>
              <a:rPr lang="en-US" altLang="ko-KR" dirty="0" smtClean="0"/>
            </a:br>
            <a:r>
              <a:rPr lang="en-US" altLang="ko-KR" dirty="0" smtClean="0"/>
              <a:t>(</a:t>
            </a:r>
            <a:r>
              <a:rPr lang="ko-KR" altLang="en-US" dirty="0" smtClean="0"/>
              <a:t>일정 중복 여부는 </a:t>
            </a:r>
            <a:r>
              <a:rPr lang="ko-KR" altLang="en-US" dirty="0" err="1" smtClean="0"/>
              <a:t>알수없음</a:t>
            </a:r>
            <a:r>
              <a:rPr lang="en-US" altLang="ko-KR" dirty="0" smtClean="0"/>
              <a:t>)</a:t>
            </a:r>
            <a:br>
              <a:rPr lang="en-US" altLang="ko-KR" dirty="0" smtClean="0"/>
            </a:br>
            <a:r>
              <a:rPr lang="en-US" altLang="ko-KR" dirty="0" smtClean="0"/>
              <a:t>- </a:t>
            </a:r>
            <a:r>
              <a:rPr lang="ko-KR" altLang="en-US" dirty="0" smtClean="0"/>
              <a:t>국외 입찰인 경우 </a:t>
            </a:r>
            <a:r>
              <a:rPr lang="ko-KR" altLang="en-US" dirty="0" err="1" smtClean="0"/>
              <a:t>환율정보</a:t>
            </a:r>
            <a:r>
              <a:rPr lang="ko-KR" altLang="en-US" dirty="0" smtClean="0"/>
              <a:t> 버튼 노출</a:t>
            </a:r>
            <a:r>
              <a:rPr lang="en-US" altLang="ko-KR" dirty="0" smtClean="0"/>
              <a:t/>
            </a:r>
            <a:br>
              <a:rPr lang="en-US" altLang="ko-KR" dirty="0" smtClean="0"/>
            </a:br>
            <a:r>
              <a:rPr lang="en-US" altLang="ko-KR" dirty="0" smtClean="0"/>
              <a:t>- </a:t>
            </a:r>
            <a:r>
              <a:rPr lang="ko-KR" altLang="en-US" dirty="0" smtClean="0">
                <a:latin typeface="맑은 고딕" panose="020B0503020000020004" pitchFamily="50" charset="-127"/>
              </a:rPr>
              <a:t>사전심사</a:t>
            </a:r>
            <a:r>
              <a:rPr lang="en-US" altLang="ko-KR" dirty="0" smtClean="0">
                <a:latin typeface="맑은 고딕" panose="020B0503020000020004" pitchFamily="50" charset="-127"/>
              </a:rPr>
              <a:t>(PQ)</a:t>
            </a:r>
            <a:r>
              <a:rPr lang="ko-KR" altLang="en-US" dirty="0" smtClean="0">
                <a:latin typeface="맑은 고딕" panose="020B0503020000020004" pitchFamily="50" charset="-127"/>
              </a:rPr>
              <a:t>신청서 작성하기</a:t>
            </a:r>
            <a:r>
              <a:rPr lang="en-US" altLang="ko-KR" dirty="0" smtClean="0">
                <a:latin typeface="맑은 고딕" panose="020B0503020000020004" pitchFamily="50" charset="-127"/>
              </a:rPr>
              <a:t/>
            </a:r>
            <a:br>
              <a:rPr lang="en-US" altLang="ko-KR" dirty="0" smtClean="0">
                <a:latin typeface="맑은 고딕" panose="020B0503020000020004" pitchFamily="50" charset="-127"/>
              </a:rPr>
            </a:br>
            <a:r>
              <a:rPr lang="en-US" altLang="ko-KR" dirty="0" smtClean="0">
                <a:latin typeface="맑은 고딕" panose="020B0503020000020004" pitchFamily="50" charset="-127"/>
              </a:rPr>
              <a:t>MUI-BD-02-M01</a:t>
            </a:r>
            <a:br>
              <a:rPr lang="en-US" altLang="ko-KR" dirty="0" smtClean="0">
                <a:latin typeface="맑은 고딕" panose="020B0503020000020004" pitchFamily="50" charset="-127"/>
              </a:rPr>
            </a:br>
            <a:r>
              <a:rPr lang="en-US" altLang="ko-KR" dirty="0" smtClean="0">
                <a:latin typeface="맑은 고딕" panose="020B0503020000020004" pitchFamily="50" charset="-127"/>
              </a:rPr>
              <a:t>- </a:t>
            </a:r>
            <a:r>
              <a:rPr lang="ko-KR" altLang="en-US" dirty="0" smtClean="0">
                <a:latin typeface="맑은 고딕" panose="020B0503020000020004" pitchFamily="50" charset="-127"/>
              </a:rPr>
              <a:t>입찰참가신청서 작성하기</a:t>
            </a:r>
            <a:r>
              <a:rPr lang="en-US" altLang="ko-KR" dirty="0" smtClean="0">
                <a:latin typeface="맑은 고딕" panose="020B0503020000020004" pitchFamily="50" charset="-127"/>
              </a:rPr>
              <a:t/>
            </a:r>
            <a:br>
              <a:rPr lang="en-US" altLang="ko-KR" dirty="0" smtClean="0">
                <a:latin typeface="맑은 고딕" panose="020B0503020000020004" pitchFamily="50" charset="-127"/>
              </a:rPr>
            </a:br>
            <a:r>
              <a:rPr lang="en-US" altLang="ko-KR" dirty="0" smtClean="0">
                <a:latin typeface="맑은 고딕" panose="020B0503020000020004" pitchFamily="50" charset="-127"/>
              </a:rPr>
              <a:t>MUI-BD-04-M01</a:t>
            </a:r>
            <a:br>
              <a:rPr lang="en-US" altLang="ko-KR" dirty="0" smtClean="0">
                <a:latin typeface="맑은 고딕" panose="020B0503020000020004" pitchFamily="50" charset="-127"/>
              </a:rPr>
            </a:br>
            <a:r>
              <a:rPr lang="en-US" altLang="ko-KR" dirty="0" smtClean="0">
                <a:latin typeface="맑은 고딕" panose="020B0503020000020004" pitchFamily="50" charset="-127"/>
              </a:rPr>
              <a:t>- </a:t>
            </a:r>
            <a:r>
              <a:rPr lang="ko-KR" altLang="en-US" dirty="0" smtClean="0">
                <a:latin typeface="맑은 고딕" panose="020B0503020000020004" pitchFamily="50" charset="-127"/>
              </a:rPr>
              <a:t>입찰서</a:t>
            </a:r>
            <a:r>
              <a:rPr lang="en-US" altLang="ko-KR" dirty="0" smtClean="0">
                <a:latin typeface="맑은 고딕" panose="020B0503020000020004" pitchFamily="50" charset="-127"/>
              </a:rPr>
              <a:t>(</a:t>
            </a:r>
            <a:r>
              <a:rPr lang="ko-KR" altLang="en-US" dirty="0" smtClean="0">
                <a:latin typeface="맑은 고딕" panose="020B0503020000020004" pitchFamily="50" charset="-127"/>
              </a:rPr>
              <a:t>견적서</a:t>
            </a:r>
            <a:r>
              <a:rPr lang="en-US" altLang="ko-KR" dirty="0" smtClean="0">
                <a:latin typeface="맑은 고딕" panose="020B0503020000020004" pitchFamily="50" charset="-127"/>
              </a:rPr>
              <a:t>)</a:t>
            </a:r>
            <a:r>
              <a:rPr lang="ko-KR" altLang="en-US" dirty="0" smtClean="0">
                <a:latin typeface="맑은 고딕" panose="020B0503020000020004" pitchFamily="50" charset="-127"/>
              </a:rPr>
              <a:t> 작성하기</a:t>
            </a:r>
            <a:r>
              <a:rPr lang="en-US" altLang="ko-KR" dirty="0" smtClean="0">
                <a:latin typeface="맑은 고딕" panose="020B0503020000020004" pitchFamily="50" charset="-127"/>
              </a:rPr>
              <a:t/>
            </a:r>
            <a:br>
              <a:rPr lang="en-US" altLang="ko-KR" dirty="0" smtClean="0">
                <a:latin typeface="맑은 고딕" panose="020B0503020000020004" pitchFamily="50" charset="-127"/>
              </a:rPr>
            </a:br>
            <a:r>
              <a:rPr lang="en-US" altLang="ko-KR" dirty="0" smtClean="0">
                <a:latin typeface="맑은 고딕" panose="020B0503020000020004" pitchFamily="50" charset="-127"/>
              </a:rPr>
              <a:t>MUI-BD-06-M01</a:t>
            </a:r>
            <a:br>
              <a:rPr lang="en-US" altLang="ko-KR" dirty="0" smtClean="0">
                <a:latin typeface="맑은 고딕" panose="020B0503020000020004" pitchFamily="50" charset="-127"/>
              </a:rPr>
            </a:br>
            <a:r>
              <a:rPr lang="en-US" altLang="ko-KR" dirty="0" smtClean="0">
                <a:latin typeface="맑은 고딕" panose="020B0503020000020004" pitchFamily="50" charset="-127"/>
              </a:rPr>
              <a:t>- </a:t>
            </a:r>
            <a:r>
              <a:rPr lang="ko-KR" altLang="en-US" dirty="0" err="1" smtClean="0">
                <a:latin typeface="맑은 고딕" panose="020B0503020000020004" pitchFamily="50" charset="-127"/>
              </a:rPr>
              <a:t>환율정보바로가기</a:t>
            </a:r>
            <a:r>
              <a:rPr lang="ko-KR" altLang="en-US" dirty="0" smtClean="0">
                <a:latin typeface="맑은 고딕" panose="020B0503020000020004" pitchFamily="50" charset="-127"/>
              </a:rPr>
              <a:t> </a:t>
            </a:r>
            <a:r>
              <a:rPr lang="en-US" altLang="ko-KR" dirty="0" smtClean="0">
                <a:latin typeface="맑은 고딕" panose="020B0503020000020004" pitchFamily="50" charset="-127"/>
              </a:rPr>
              <a:t/>
            </a:r>
            <a:br>
              <a:rPr lang="en-US" altLang="ko-KR" dirty="0" smtClean="0">
                <a:latin typeface="맑은 고딕" panose="020B0503020000020004" pitchFamily="50" charset="-127"/>
              </a:rPr>
            </a:br>
            <a:r>
              <a:rPr lang="en-US" altLang="ko-KR" dirty="0" smtClean="0">
                <a:solidFill>
                  <a:srgbClr val="000000"/>
                </a:solidFill>
                <a:latin typeface="맑은 고딕" panose="020B0503020000020004" pitchFamily="50" charset="-127"/>
              </a:rPr>
              <a:t>MUI-BD-01-M74</a:t>
            </a:r>
            <a:r>
              <a:rPr lang="en-US" altLang="ko-KR" sz="700" dirty="0" smtClean="0">
                <a:solidFill>
                  <a:srgbClr val="000000"/>
                </a:solidFill>
                <a:latin typeface="맑은 고딕" panose="020B0503020000020004" pitchFamily="50" charset="-127"/>
              </a:rPr>
              <a:t/>
            </a:r>
            <a:br>
              <a:rPr lang="en-US" altLang="ko-KR" sz="700" dirty="0" smtClean="0">
                <a:solidFill>
                  <a:srgbClr val="000000"/>
                </a:solidFill>
                <a:latin typeface="맑은 고딕" panose="020B0503020000020004" pitchFamily="50" charset="-127"/>
              </a:rPr>
            </a:br>
            <a:r>
              <a:rPr lang="en-US" altLang="ko-KR" dirty="0" smtClean="0"/>
              <a:t/>
            </a:r>
            <a:br>
              <a:rPr lang="en-US" altLang="ko-KR" dirty="0" smtClean="0"/>
            </a:b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1097653" y="6596721"/>
            <a:ext cx="1258128" cy="216000"/>
          </a:xfrm>
        </p:spPr>
        <p:txBody>
          <a:bodyPr/>
          <a:lstStyle/>
          <a:p>
            <a:fld id="{34C8E023-7346-48FC-AB24-9A3388C53208}" type="slidenum">
              <a:rPr lang="ko-KR" altLang="en-US" smtClean="0"/>
              <a:pPr/>
              <a:t>102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t>플로팅버튼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smtClean="0"/>
              <a:t>입찰공고 </a:t>
            </a:r>
            <a:r>
              <a:rPr lang="ko-KR" altLang="en-US" dirty="0" err="1" smtClean="0"/>
              <a:t>상태별</a:t>
            </a:r>
            <a:r>
              <a:rPr lang="ko-KR" altLang="en-US" dirty="0"/>
              <a:t> </a:t>
            </a:r>
            <a:r>
              <a:rPr lang="ko-KR" altLang="en-US" dirty="0" err="1" smtClean="0"/>
              <a:t>버튼노출</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a:latin typeface="+mn-ea"/>
              </a:rPr>
              <a:t>플로팅</a:t>
            </a:r>
            <a:r>
              <a:rPr lang="ko-KR" altLang="en-US" dirty="0">
                <a:latin typeface="+mn-ea"/>
              </a:rPr>
              <a:t> 버튼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MUI-BD-01-P17</a:t>
            </a:r>
            <a:endParaRPr lang="ko-KR" altLang="en-US" dirty="0">
              <a:solidFill>
                <a:srgbClr val="000000"/>
              </a:solidFill>
              <a:latin typeface="맑은 고딕" panose="020B0503020000020004" pitchFamily="50" charset="-127"/>
            </a:endParaRPr>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grpSp>
        <p:nvGrpSpPr>
          <p:cNvPr id="16" name="그룹 15"/>
          <p:cNvGrpSpPr/>
          <p:nvPr/>
        </p:nvGrpSpPr>
        <p:grpSpPr>
          <a:xfrm>
            <a:off x="545640" y="1493927"/>
            <a:ext cx="6427734" cy="3844306"/>
            <a:chOff x="554673" y="1493927"/>
            <a:chExt cx="7156789" cy="4280340"/>
          </a:xfrm>
        </p:grpSpPr>
        <p:sp>
          <p:nvSpPr>
            <p:cNvPr id="123" name="직사각형 122">
              <a:extLst>
                <a:ext uri="{FF2B5EF4-FFF2-40B4-BE49-F238E27FC236}">
                  <a16:creationId xmlns:a16="http://schemas.microsoft.com/office/drawing/2014/main" id="{F56F1743-11A0-EA94-9184-4E42C0A37F9C}"/>
                </a:ext>
              </a:extLst>
            </p:cNvPr>
            <p:cNvSpPr/>
            <p:nvPr/>
          </p:nvSpPr>
          <p:spPr>
            <a:xfrm>
              <a:off x="557234" y="1493927"/>
              <a:ext cx="2330045" cy="4070985"/>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양쪽 모서리가 둥근 사각형 138"/>
            <p:cNvSpPr/>
            <p:nvPr/>
          </p:nvSpPr>
          <p:spPr>
            <a:xfrm>
              <a:off x="554673" y="3011653"/>
              <a:ext cx="2330045" cy="2762614"/>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40" name="모서리가 둥근 직사각형 139"/>
            <p:cNvSpPr/>
            <p:nvPr/>
          </p:nvSpPr>
          <p:spPr>
            <a:xfrm>
              <a:off x="1640686"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41" name="그룹 140"/>
            <p:cNvGrpSpPr/>
            <p:nvPr/>
          </p:nvGrpSpPr>
          <p:grpSpPr>
            <a:xfrm>
              <a:off x="2737959" y="3182696"/>
              <a:ext cx="80769" cy="80769"/>
              <a:chOff x="6812560" y="3297172"/>
              <a:chExt cx="94010" cy="94010"/>
            </a:xfrm>
          </p:grpSpPr>
          <p:cxnSp>
            <p:nvCxnSpPr>
              <p:cNvPr id="151" name="직선 연결선 15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42" name="TextBox 141">
              <a:extLst>
                <a:ext uri="{FF2B5EF4-FFF2-40B4-BE49-F238E27FC236}">
                  <a16:creationId xmlns:a16="http://schemas.microsoft.com/office/drawing/2014/main" id="{FFC49AEA-2A8F-250C-A86A-A7751D9706C3}"/>
                </a:ext>
              </a:extLst>
            </p:cNvPr>
            <p:cNvSpPr txBox="1"/>
            <p:nvPr/>
          </p:nvSpPr>
          <p:spPr>
            <a:xfrm>
              <a:off x="683750" y="3163376"/>
              <a:ext cx="1545411"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554673" y="3424775"/>
              <a:ext cx="2284252" cy="1"/>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모서리가 둥근 직사각형 40">
              <a:extLst>
                <a:ext uri="{FF2B5EF4-FFF2-40B4-BE49-F238E27FC236}">
                  <a16:creationId xmlns:a16="http://schemas.microsoft.com/office/drawing/2014/main" id="{3BE5C28A-F0C3-8BA2-3AC1-EFA405ADE137}"/>
                </a:ext>
              </a:extLst>
            </p:cNvPr>
            <p:cNvSpPr/>
            <p:nvPr/>
          </p:nvSpPr>
          <p:spPr bwMode="auto">
            <a:xfrm>
              <a:off x="646976" y="3537066"/>
              <a:ext cx="2166796" cy="209934"/>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사전심사</a:t>
              </a:r>
              <a:r>
                <a:rPr lang="en-US" altLang="ko-KR" sz="800" dirty="0">
                  <a:solidFill>
                    <a:schemeClr val="bg1"/>
                  </a:solidFill>
                  <a:latin typeface="맑은 고딕" panose="020B0503020000020004" pitchFamily="50" charset="-127"/>
                  <a:ea typeface="맑은 고딕" panose="020B0503020000020004" pitchFamily="50" charset="-127"/>
                </a:rPr>
                <a:t>(PQ)</a:t>
              </a:r>
              <a:r>
                <a:rPr lang="ko-KR" altLang="en-US" sz="800" dirty="0">
                  <a:solidFill>
                    <a:schemeClr val="bg1"/>
                  </a:solidFill>
                  <a:latin typeface="맑은 고딕" panose="020B0503020000020004" pitchFamily="50" charset="-127"/>
                  <a:ea typeface="맑은 고딕" panose="020B0503020000020004" pitchFamily="50" charset="-127"/>
                </a:rPr>
                <a:t>신청서 작성하기</a:t>
              </a:r>
            </a:p>
          </p:txBody>
        </p:sp>
        <p:sp>
          <p:nvSpPr>
            <p:cNvPr id="158" name="모서리가 둥근 직사각형 40">
              <a:extLst>
                <a:ext uri="{FF2B5EF4-FFF2-40B4-BE49-F238E27FC236}">
                  <a16:creationId xmlns:a16="http://schemas.microsoft.com/office/drawing/2014/main" id="{3BE5C28A-F0C3-8BA2-3AC1-EFA405ADE137}"/>
                </a:ext>
              </a:extLst>
            </p:cNvPr>
            <p:cNvSpPr/>
            <p:nvPr/>
          </p:nvSpPr>
          <p:spPr bwMode="auto">
            <a:xfrm>
              <a:off x="646976" y="4166426"/>
              <a:ext cx="2166796" cy="209934"/>
            </a:xfrm>
            <a:prstGeom prst="roundRect">
              <a:avLst/>
            </a:prstGeom>
            <a:solidFill>
              <a:schemeClr val="bg1">
                <a:lumMod val="75000"/>
              </a:schemeClr>
            </a:solidFill>
            <a:ln w="6350">
              <a:solidFill>
                <a:srgbClr val="BFBFBF"/>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입찰서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ea typeface="맑은 고딕" panose="020B0503020000020004" pitchFamily="50" charset="-127"/>
                </a:rPr>
                <a:t>견적서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rPr>
                <a:t>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59" name="모서리가 둥근 직사각형 40">
              <a:extLst>
                <a:ext uri="{FF2B5EF4-FFF2-40B4-BE49-F238E27FC236}">
                  <a16:creationId xmlns:a16="http://schemas.microsoft.com/office/drawing/2014/main" id="{3BE5C28A-F0C3-8BA2-3AC1-EFA405ADE137}"/>
                </a:ext>
              </a:extLst>
            </p:cNvPr>
            <p:cNvSpPr/>
            <p:nvPr/>
          </p:nvSpPr>
          <p:spPr bwMode="auto">
            <a:xfrm>
              <a:off x="646976" y="3851143"/>
              <a:ext cx="2166796" cy="209934"/>
            </a:xfrm>
            <a:prstGeom prst="roundRect">
              <a:avLst/>
            </a:prstGeom>
            <a:solidFill>
              <a:schemeClr val="bg1">
                <a:lumMod val="75000"/>
              </a:schemeClr>
            </a:solidFill>
            <a:ln w="6350">
              <a:solidFill>
                <a:srgbClr val="BFBFBF"/>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입찰참가신청서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0" name="사각형: 둥근 모서리 15">
              <a:extLst>
                <a:ext uri="{FF2B5EF4-FFF2-40B4-BE49-F238E27FC236}">
                  <a16:creationId xmlns:a16="http://schemas.microsoft.com/office/drawing/2014/main" id="{E2B61CFB-AD16-68D0-8752-50D9C5E01971}"/>
                </a:ext>
              </a:extLst>
            </p:cNvPr>
            <p:cNvSpPr/>
            <p:nvPr/>
          </p:nvSpPr>
          <p:spPr>
            <a:xfrm>
              <a:off x="646976" y="4459915"/>
              <a:ext cx="2166796" cy="209934"/>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10" name="그룹 109">
              <a:extLst>
                <a:ext uri="{FF2B5EF4-FFF2-40B4-BE49-F238E27FC236}">
                  <a16:creationId xmlns:a16="http://schemas.microsoft.com/office/drawing/2014/main" id="{22BC05EE-C648-7CA2-4CCC-6E1C1A7E9BDA}"/>
                </a:ext>
              </a:extLst>
            </p:cNvPr>
            <p:cNvGrpSpPr/>
            <p:nvPr/>
          </p:nvGrpSpPr>
          <p:grpSpPr>
            <a:xfrm>
              <a:off x="1686676" y="4918503"/>
              <a:ext cx="66037" cy="251293"/>
              <a:chOff x="3750067" y="4683795"/>
              <a:chExt cx="76863" cy="292489"/>
            </a:xfrm>
          </p:grpSpPr>
          <p:sp>
            <p:nvSpPr>
              <p:cNvPr id="111" name="타원 11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5" name="타원 12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56" name="직사각형 155">
              <a:extLst>
                <a:ext uri="{FF2B5EF4-FFF2-40B4-BE49-F238E27FC236}">
                  <a16:creationId xmlns:a16="http://schemas.microsoft.com/office/drawing/2014/main" id="{F56F1743-11A0-EA94-9184-4E42C0A37F9C}"/>
                </a:ext>
              </a:extLst>
            </p:cNvPr>
            <p:cNvSpPr/>
            <p:nvPr/>
          </p:nvSpPr>
          <p:spPr>
            <a:xfrm>
              <a:off x="2985229" y="1493927"/>
              <a:ext cx="2330045" cy="4070985"/>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9" name="양쪽 모서리가 둥근 사각형 168"/>
            <p:cNvSpPr/>
            <p:nvPr/>
          </p:nvSpPr>
          <p:spPr>
            <a:xfrm>
              <a:off x="2982668" y="3011653"/>
              <a:ext cx="2330045" cy="2762614"/>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70" name="모서리가 둥근 직사각형 169"/>
            <p:cNvSpPr/>
            <p:nvPr/>
          </p:nvSpPr>
          <p:spPr>
            <a:xfrm>
              <a:off x="4068681"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71" name="그룹 170"/>
            <p:cNvGrpSpPr/>
            <p:nvPr/>
          </p:nvGrpSpPr>
          <p:grpSpPr>
            <a:xfrm>
              <a:off x="5113673" y="3182696"/>
              <a:ext cx="80769" cy="80769"/>
              <a:chOff x="6812560" y="3297172"/>
              <a:chExt cx="94010" cy="94010"/>
            </a:xfrm>
          </p:grpSpPr>
          <p:cxnSp>
            <p:nvCxnSpPr>
              <p:cNvPr id="172" name="직선 연결선 17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73" name="직선 연결선 17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74" name="TextBox 173">
              <a:extLst>
                <a:ext uri="{FF2B5EF4-FFF2-40B4-BE49-F238E27FC236}">
                  <a16:creationId xmlns:a16="http://schemas.microsoft.com/office/drawing/2014/main" id="{FFC49AEA-2A8F-250C-A86A-A7751D9706C3}"/>
                </a:ext>
              </a:extLst>
            </p:cNvPr>
            <p:cNvSpPr txBox="1"/>
            <p:nvPr/>
          </p:nvSpPr>
          <p:spPr>
            <a:xfrm>
              <a:off x="3111745" y="3163376"/>
              <a:ext cx="1545411"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2982668" y="3424775"/>
              <a:ext cx="2284252" cy="1"/>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7" name="모서리가 둥근 직사각형 40">
              <a:extLst>
                <a:ext uri="{FF2B5EF4-FFF2-40B4-BE49-F238E27FC236}">
                  <a16:creationId xmlns:a16="http://schemas.microsoft.com/office/drawing/2014/main" id="{3BE5C28A-F0C3-8BA2-3AC1-EFA405ADE137}"/>
                </a:ext>
              </a:extLst>
            </p:cNvPr>
            <p:cNvSpPr/>
            <p:nvPr/>
          </p:nvSpPr>
          <p:spPr bwMode="auto">
            <a:xfrm>
              <a:off x="3074971" y="3537066"/>
              <a:ext cx="2166796" cy="209934"/>
            </a:xfrm>
            <a:prstGeom prst="roundRect">
              <a:avLst/>
            </a:prstGeom>
            <a:solidFill>
              <a:schemeClr val="bg1">
                <a:lumMod val="75000"/>
              </a:schemeClr>
            </a:solidFill>
            <a:ln w="6350">
              <a:solidFill>
                <a:srgbClr val="BFBFBF"/>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사전심사</a:t>
              </a:r>
              <a:r>
                <a:rPr lang="en-US" altLang="ko-KR" sz="800" dirty="0">
                  <a:solidFill>
                    <a:schemeClr val="bg1"/>
                  </a:solidFill>
                  <a:latin typeface="맑은 고딕" panose="020B0503020000020004" pitchFamily="50" charset="-127"/>
                  <a:ea typeface="맑은 고딕" panose="020B0503020000020004" pitchFamily="50" charset="-127"/>
                </a:rPr>
                <a:t>(PQ)</a:t>
              </a:r>
              <a:r>
                <a:rPr lang="ko-KR" altLang="en-US" sz="800" dirty="0">
                  <a:solidFill>
                    <a:schemeClr val="bg1"/>
                  </a:solidFill>
                  <a:latin typeface="맑은 고딕" panose="020B0503020000020004" pitchFamily="50" charset="-127"/>
                  <a:ea typeface="맑은 고딕" panose="020B0503020000020004" pitchFamily="50" charset="-127"/>
                </a:rPr>
                <a:t>신청서 작성하기</a:t>
              </a:r>
            </a:p>
          </p:txBody>
        </p:sp>
        <p:sp>
          <p:nvSpPr>
            <p:cNvPr id="178" name="모서리가 둥근 직사각형 40">
              <a:extLst>
                <a:ext uri="{FF2B5EF4-FFF2-40B4-BE49-F238E27FC236}">
                  <a16:creationId xmlns:a16="http://schemas.microsoft.com/office/drawing/2014/main" id="{3BE5C28A-F0C3-8BA2-3AC1-EFA405ADE137}"/>
                </a:ext>
              </a:extLst>
            </p:cNvPr>
            <p:cNvSpPr/>
            <p:nvPr/>
          </p:nvSpPr>
          <p:spPr bwMode="auto">
            <a:xfrm>
              <a:off x="3074971" y="4166426"/>
              <a:ext cx="2166796" cy="209934"/>
            </a:xfrm>
            <a:prstGeom prst="roundRect">
              <a:avLst/>
            </a:prstGeom>
            <a:solidFill>
              <a:schemeClr val="bg1">
                <a:lumMod val="75000"/>
              </a:schemeClr>
            </a:solidFill>
            <a:ln w="6350">
              <a:solidFill>
                <a:srgbClr val="BFBFBF"/>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입찰서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ea typeface="맑은 고딕" panose="020B0503020000020004" pitchFamily="50" charset="-127"/>
                </a:rPr>
                <a:t>견적서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rPr>
                <a:t>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79" name="모서리가 둥근 직사각형 40">
              <a:extLst>
                <a:ext uri="{FF2B5EF4-FFF2-40B4-BE49-F238E27FC236}">
                  <a16:creationId xmlns:a16="http://schemas.microsoft.com/office/drawing/2014/main" id="{3BE5C28A-F0C3-8BA2-3AC1-EFA405ADE137}"/>
                </a:ext>
              </a:extLst>
            </p:cNvPr>
            <p:cNvSpPr/>
            <p:nvPr/>
          </p:nvSpPr>
          <p:spPr bwMode="auto">
            <a:xfrm>
              <a:off x="3074971" y="3851143"/>
              <a:ext cx="2166796" cy="209934"/>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입찰참가신청서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3074971" y="4459915"/>
              <a:ext cx="2166796" cy="209934"/>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81" name="그룹 180">
              <a:extLst>
                <a:ext uri="{FF2B5EF4-FFF2-40B4-BE49-F238E27FC236}">
                  <a16:creationId xmlns:a16="http://schemas.microsoft.com/office/drawing/2014/main" id="{22BC05EE-C648-7CA2-4CCC-6E1C1A7E9BDA}"/>
                </a:ext>
              </a:extLst>
            </p:cNvPr>
            <p:cNvGrpSpPr/>
            <p:nvPr/>
          </p:nvGrpSpPr>
          <p:grpSpPr>
            <a:xfrm>
              <a:off x="4114671" y="4885406"/>
              <a:ext cx="66037" cy="251293"/>
              <a:chOff x="3750067" y="4683795"/>
              <a:chExt cx="76863" cy="292489"/>
            </a:xfrm>
          </p:grpSpPr>
          <p:sp>
            <p:nvSpPr>
              <p:cNvPr id="182" name="타원 18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83" name="타원 182">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84" name="타원 183">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85" name="직사각형 184">
              <a:extLst>
                <a:ext uri="{FF2B5EF4-FFF2-40B4-BE49-F238E27FC236}">
                  <a16:creationId xmlns:a16="http://schemas.microsoft.com/office/drawing/2014/main" id="{F56F1743-11A0-EA94-9184-4E42C0A37F9C}"/>
                </a:ext>
              </a:extLst>
            </p:cNvPr>
            <p:cNvSpPr/>
            <p:nvPr/>
          </p:nvSpPr>
          <p:spPr>
            <a:xfrm>
              <a:off x="5382580" y="1493927"/>
              <a:ext cx="2328882" cy="4068953"/>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양쪽 모서리가 둥근 사각형 185"/>
            <p:cNvSpPr/>
            <p:nvPr/>
          </p:nvSpPr>
          <p:spPr>
            <a:xfrm>
              <a:off x="5380019" y="3011653"/>
              <a:ext cx="2328882" cy="2761235"/>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87" name="모서리가 둥근 직사각형 186"/>
            <p:cNvSpPr/>
            <p:nvPr/>
          </p:nvSpPr>
          <p:spPr>
            <a:xfrm>
              <a:off x="6466031"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88" name="그룹 187"/>
            <p:cNvGrpSpPr/>
            <p:nvPr/>
          </p:nvGrpSpPr>
          <p:grpSpPr>
            <a:xfrm>
              <a:off x="7466790" y="3182696"/>
              <a:ext cx="80729" cy="80729"/>
              <a:chOff x="6812560" y="3297172"/>
              <a:chExt cx="94010" cy="94010"/>
            </a:xfrm>
          </p:grpSpPr>
          <p:cxnSp>
            <p:nvCxnSpPr>
              <p:cNvPr id="189" name="직선 연결선 18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91" name="TextBox 190">
              <a:extLst>
                <a:ext uri="{FF2B5EF4-FFF2-40B4-BE49-F238E27FC236}">
                  <a16:creationId xmlns:a16="http://schemas.microsoft.com/office/drawing/2014/main" id="{FFC49AEA-2A8F-250C-A86A-A7751D9706C3}"/>
                </a:ext>
              </a:extLst>
            </p:cNvPr>
            <p:cNvSpPr txBox="1"/>
            <p:nvPr/>
          </p:nvSpPr>
          <p:spPr>
            <a:xfrm>
              <a:off x="5509095" y="3163376"/>
              <a:ext cx="1544636"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5380018" y="3424775"/>
              <a:ext cx="2328882" cy="1"/>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모서리가 둥근 직사각형 40">
              <a:extLst>
                <a:ext uri="{FF2B5EF4-FFF2-40B4-BE49-F238E27FC236}">
                  <a16:creationId xmlns:a16="http://schemas.microsoft.com/office/drawing/2014/main" id="{3BE5C28A-F0C3-8BA2-3AC1-EFA405ADE137}"/>
                </a:ext>
              </a:extLst>
            </p:cNvPr>
            <p:cNvSpPr/>
            <p:nvPr/>
          </p:nvSpPr>
          <p:spPr bwMode="auto">
            <a:xfrm>
              <a:off x="5472321" y="3537066"/>
              <a:ext cx="2165713" cy="209829"/>
            </a:xfrm>
            <a:prstGeom prst="roundRect">
              <a:avLst/>
            </a:prstGeom>
            <a:solidFill>
              <a:srgbClr val="BFBFBF"/>
            </a:solidFill>
            <a:ln w="6350">
              <a:no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사전심사</a:t>
              </a:r>
              <a:r>
                <a:rPr lang="en-US" altLang="ko-KR" sz="800" dirty="0">
                  <a:solidFill>
                    <a:schemeClr val="bg1"/>
                  </a:solidFill>
                  <a:latin typeface="맑은 고딕" panose="020B0503020000020004" pitchFamily="50" charset="-127"/>
                  <a:ea typeface="맑은 고딕" panose="020B0503020000020004" pitchFamily="50" charset="-127"/>
                </a:rPr>
                <a:t>(PQ)</a:t>
              </a:r>
              <a:r>
                <a:rPr lang="ko-KR" altLang="en-US" sz="800" dirty="0">
                  <a:solidFill>
                    <a:schemeClr val="bg1"/>
                  </a:solidFill>
                  <a:latin typeface="맑은 고딕" panose="020B0503020000020004" pitchFamily="50" charset="-127"/>
                  <a:ea typeface="맑은 고딕" panose="020B0503020000020004" pitchFamily="50" charset="-127"/>
                </a:rPr>
                <a:t>신청서 작성하기</a:t>
              </a:r>
            </a:p>
          </p:txBody>
        </p:sp>
        <p:sp>
          <p:nvSpPr>
            <p:cNvPr id="195" name="모서리가 둥근 직사각형 40">
              <a:extLst>
                <a:ext uri="{FF2B5EF4-FFF2-40B4-BE49-F238E27FC236}">
                  <a16:creationId xmlns:a16="http://schemas.microsoft.com/office/drawing/2014/main" id="{3BE5C28A-F0C3-8BA2-3AC1-EFA405ADE137}"/>
                </a:ext>
              </a:extLst>
            </p:cNvPr>
            <p:cNvSpPr/>
            <p:nvPr/>
          </p:nvSpPr>
          <p:spPr bwMode="auto">
            <a:xfrm>
              <a:off x="5472321" y="4166426"/>
              <a:ext cx="2165713" cy="209829"/>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입찰서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ea typeface="맑은 고딕" panose="020B0503020000020004" pitchFamily="50" charset="-127"/>
                </a:rPr>
                <a:t>견적서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rPr>
                <a:t>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96" name="모서리가 둥근 직사각형 40">
              <a:extLst>
                <a:ext uri="{FF2B5EF4-FFF2-40B4-BE49-F238E27FC236}">
                  <a16:creationId xmlns:a16="http://schemas.microsoft.com/office/drawing/2014/main" id="{3BE5C28A-F0C3-8BA2-3AC1-EFA405ADE137}"/>
                </a:ext>
              </a:extLst>
            </p:cNvPr>
            <p:cNvSpPr/>
            <p:nvPr/>
          </p:nvSpPr>
          <p:spPr bwMode="auto">
            <a:xfrm>
              <a:off x="5472321" y="3851143"/>
              <a:ext cx="2165713" cy="209829"/>
            </a:xfrm>
            <a:prstGeom prst="roundRect">
              <a:avLst/>
            </a:prstGeom>
            <a:solidFill>
              <a:schemeClr val="bg1">
                <a:lumMod val="75000"/>
              </a:schemeClr>
            </a:solidFill>
            <a:ln w="6350">
              <a:solidFill>
                <a:srgbClr val="BFBFBF"/>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입찰참가신청서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97" name="사각형: 둥근 모서리 15">
              <a:extLst>
                <a:ext uri="{FF2B5EF4-FFF2-40B4-BE49-F238E27FC236}">
                  <a16:creationId xmlns:a16="http://schemas.microsoft.com/office/drawing/2014/main" id="{E2B61CFB-AD16-68D0-8752-50D9C5E01971}"/>
                </a:ext>
              </a:extLst>
            </p:cNvPr>
            <p:cNvSpPr/>
            <p:nvPr/>
          </p:nvSpPr>
          <p:spPr>
            <a:xfrm>
              <a:off x="5472321" y="4459915"/>
              <a:ext cx="2165713" cy="209829"/>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98" name="그룹 197">
              <a:extLst>
                <a:ext uri="{FF2B5EF4-FFF2-40B4-BE49-F238E27FC236}">
                  <a16:creationId xmlns:a16="http://schemas.microsoft.com/office/drawing/2014/main" id="{22BC05EE-C648-7CA2-4CCC-6E1C1A7E9BDA}"/>
                </a:ext>
              </a:extLst>
            </p:cNvPr>
            <p:cNvGrpSpPr/>
            <p:nvPr/>
          </p:nvGrpSpPr>
          <p:grpSpPr>
            <a:xfrm>
              <a:off x="6544459" y="4874860"/>
              <a:ext cx="66004" cy="251167"/>
              <a:chOff x="3750067" y="4683795"/>
              <a:chExt cx="76863" cy="292489"/>
            </a:xfrm>
          </p:grpSpPr>
          <p:sp>
            <p:nvSpPr>
              <p:cNvPr id="199" name="타원 198">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00" name="타원 199">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01" name="타원 200">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sp>
        <p:nvSpPr>
          <p:cNvPr id="203" name="타원 202">
            <a:extLst>
              <a:ext uri="{FF2B5EF4-FFF2-40B4-BE49-F238E27FC236}">
                <a16:creationId xmlns:a16="http://schemas.microsoft.com/office/drawing/2014/main" id="{37A7FF4F-0EAA-1463-560A-D5EC24416103}"/>
              </a:ext>
            </a:extLst>
          </p:cNvPr>
          <p:cNvSpPr/>
          <p:nvPr/>
        </p:nvSpPr>
        <p:spPr>
          <a:xfrm>
            <a:off x="564821" y="322130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59" name="직사각형 58"/>
          <p:cNvSpPr/>
          <p:nvPr/>
        </p:nvSpPr>
        <p:spPr>
          <a:xfrm>
            <a:off x="8253616"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2026-07-13 </a:t>
            </a:r>
            <a:r>
              <a:rPr lang="ko-KR" altLang="en-US" dirty="0" smtClean="0"/>
              <a:t>특이사항수정</a:t>
            </a:r>
            <a:endParaRPr lang="ko-KR" altLang="en-US" dirty="0"/>
          </a:p>
        </p:txBody>
      </p:sp>
    </p:spTree>
    <p:extLst>
      <p:ext uri="{BB962C8B-B14F-4D97-AF65-F5344CB8AC3E}">
        <p14:creationId xmlns:p14="http://schemas.microsoft.com/office/powerpoint/2010/main" val="340724467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입찰참가신청서 </a:t>
            </a:r>
            <a:r>
              <a:rPr lang="ko-KR" altLang="en-US" dirty="0"/>
              <a:t>작성 </a:t>
            </a:r>
            <a:r>
              <a:rPr lang="en-US" altLang="ko-KR" dirty="0" smtClean="0"/>
              <a:t/>
            </a:r>
            <a:br>
              <a:rPr lang="en-US" altLang="ko-KR" dirty="0" smtClean="0"/>
            </a:br>
            <a:r>
              <a:rPr lang="ko-KR" altLang="en-US" dirty="0" err="1" smtClean="0"/>
              <a:t>작성완료한</a:t>
            </a:r>
            <a:r>
              <a:rPr lang="ko-KR" altLang="en-US" dirty="0" smtClean="0"/>
              <a:t> 공고인 경우</a:t>
            </a:r>
            <a:r>
              <a:rPr lang="en-US" altLang="ko-KR" dirty="0" smtClean="0"/>
              <a:t>, </a:t>
            </a:r>
            <a:br>
              <a:rPr lang="en-US" altLang="ko-KR" dirty="0" smtClean="0"/>
            </a:br>
            <a:r>
              <a:rPr lang="ko-KR" altLang="en-US" dirty="0" err="1" smtClean="0"/>
              <a:t>ㄴ입찰포기</a:t>
            </a:r>
            <a:r>
              <a:rPr lang="en-US" altLang="ko-KR" dirty="0"/>
              <a:t>, </a:t>
            </a:r>
            <a:r>
              <a:rPr lang="ko-KR" altLang="en-US" dirty="0" err="1" smtClean="0"/>
              <a:t>입찰취소</a:t>
            </a:r>
            <a:r>
              <a:rPr lang="ko-KR" altLang="en-US" dirty="0" smtClean="0"/>
              <a:t> 버튼 노출</a:t>
            </a:r>
            <a:r>
              <a:rPr lang="en-US" altLang="ko-KR" dirty="0"/>
              <a:t/>
            </a:r>
            <a:br>
              <a:rPr lang="en-US" altLang="ko-KR" dirty="0"/>
            </a:br>
            <a:r>
              <a:rPr lang="en-US" altLang="ko-KR" dirty="0" smtClean="0"/>
              <a:t>-</a:t>
            </a:r>
            <a:r>
              <a:rPr lang="ko-KR" altLang="en-US" dirty="0" smtClean="0"/>
              <a:t>국외 입찰인 경우 </a:t>
            </a:r>
            <a:r>
              <a:rPr lang="ko-KR" altLang="en-US" dirty="0" err="1" smtClean="0"/>
              <a:t>환율정보</a:t>
            </a:r>
            <a:r>
              <a:rPr lang="ko-KR" altLang="en-US" dirty="0" smtClean="0"/>
              <a:t> 버튼 노출</a:t>
            </a:r>
            <a:r>
              <a:rPr lang="en-US" altLang="ko-KR" dirty="0" smtClean="0"/>
              <a:t/>
            </a:r>
            <a:br>
              <a:rPr lang="en-US" altLang="ko-KR" dirty="0" smtClean="0"/>
            </a:br>
            <a:r>
              <a:rPr lang="en-US" altLang="ko-KR" dirty="0" smtClean="0"/>
              <a:t>- </a:t>
            </a:r>
            <a:r>
              <a:rPr lang="ko-KR" altLang="en-US" dirty="0" smtClean="0"/>
              <a:t>입찰서</a:t>
            </a:r>
            <a:r>
              <a:rPr lang="en-US" altLang="ko-KR" dirty="0" smtClean="0"/>
              <a:t>(</a:t>
            </a:r>
            <a:r>
              <a:rPr lang="ko-KR" altLang="en-US" dirty="0" smtClean="0"/>
              <a:t>견적서</a:t>
            </a:r>
            <a:r>
              <a:rPr lang="en-US" altLang="ko-KR" dirty="0" smtClean="0"/>
              <a:t>)</a:t>
            </a:r>
            <a:r>
              <a:rPr lang="ko-KR" altLang="en-US" dirty="0" smtClean="0"/>
              <a:t>포기</a:t>
            </a:r>
            <a:r>
              <a:rPr lang="en-US" altLang="ko-KR" dirty="0" smtClean="0"/>
              <a:t>(</a:t>
            </a:r>
            <a:r>
              <a:rPr lang="en-US" altLang="ko-KR" dirty="0" smtClean="0">
                <a:latin typeface="+mn-ea"/>
              </a:rPr>
              <a:t>MUI-BD-03-P03</a:t>
            </a:r>
            <a:r>
              <a:rPr lang="en-US" altLang="ko-KR" dirty="0" smtClean="0"/>
              <a:t/>
            </a:r>
            <a:br>
              <a:rPr lang="en-US" altLang="ko-KR" dirty="0" smtClean="0"/>
            </a:br>
            <a:r>
              <a:rPr lang="en-US" altLang="ko-KR" dirty="0" smtClean="0"/>
              <a:t>- </a:t>
            </a:r>
            <a:r>
              <a:rPr lang="ko-KR" altLang="en-US" dirty="0" smtClean="0"/>
              <a:t>입찰서</a:t>
            </a:r>
            <a:r>
              <a:rPr lang="en-US" altLang="ko-KR" dirty="0" smtClean="0"/>
              <a:t>(</a:t>
            </a:r>
            <a:r>
              <a:rPr lang="ko-KR" altLang="en-US" dirty="0" smtClean="0"/>
              <a:t>견적서</a:t>
            </a:r>
            <a:r>
              <a:rPr lang="en-US" altLang="ko-KR" dirty="0" smtClean="0"/>
              <a:t>)</a:t>
            </a:r>
            <a:r>
              <a:rPr lang="ko-KR" altLang="en-US" dirty="0" smtClean="0"/>
              <a:t>취소</a:t>
            </a:r>
            <a:r>
              <a:rPr lang="en-US" altLang="ko-KR" dirty="0" smtClean="0"/>
              <a:t>(</a:t>
            </a:r>
            <a:r>
              <a:rPr lang="en-US" altLang="ko-KR" dirty="0" smtClean="0">
                <a:latin typeface="+mn-ea"/>
              </a:rPr>
              <a:t>MUI-BD-03-P04)</a:t>
            </a:r>
            <a:r>
              <a:rPr lang="en-US" altLang="ko-KR" dirty="0"/>
              <a:t/>
            </a:r>
            <a:br>
              <a:rPr lang="en-US" altLang="ko-KR" dirty="0"/>
            </a:br>
            <a:r>
              <a:rPr lang="en-US" altLang="ko-KR" dirty="0" smtClean="0"/>
              <a:t>- </a:t>
            </a:r>
            <a:r>
              <a:rPr lang="ko-KR" altLang="en-US" dirty="0" smtClean="0"/>
              <a:t>생산능력서류제출</a:t>
            </a:r>
            <a:r>
              <a:rPr lang="en-US" altLang="ko-KR" dirty="0" smtClean="0"/>
              <a:t>(</a:t>
            </a:r>
            <a:r>
              <a:rPr lang="en-US" altLang="ko-KR" dirty="0">
                <a:latin typeface="+mn-ea"/>
              </a:rPr>
              <a:t>MUI-BD-03-P06</a:t>
            </a:r>
            <a:r>
              <a:rPr lang="en-US" altLang="ko-KR" dirty="0" smtClean="0"/>
              <a:t>)</a:t>
            </a:r>
            <a:r>
              <a:rPr lang="en-US" altLang="ko-KR" dirty="0"/>
              <a:t/>
            </a:r>
            <a:br>
              <a:rPr lang="en-US" altLang="ko-KR" dirty="0"/>
            </a:br>
            <a:r>
              <a:rPr lang="en-US" altLang="ko-KR" dirty="0"/>
              <a:t/>
            </a:r>
            <a:br>
              <a:rPr lang="en-US" altLang="ko-KR" dirty="0"/>
            </a:br>
            <a:r>
              <a:rPr lang="en-US" altLang="ko-KR" dirty="0" smtClean="0"/>
              <a:t/>
            </a:r>
            <a:br>
              <a:rPr lang="en-US" altLang="ko-KR" dirty="0" smtClean="0"/>
            </a:br>
            <a:r>
              <a:rPr lang="en-US" altLang="ko-KR" dirty="0" smtClean="0"/>
              <a:t>* </a:t>
            </a:r>
            <a:r>
              <a:rPr lang="ko-KR" altLang="en-US" dirty="0" smtClean="0"/>
              <a:t>시점 </a:t>
            </a:r>
            <a:r>
              <a:rPr lang="ko-KR" altLang="en-US" dirty="0" err="1" smtClean="0"/>
              <a:t>확인필요</a:t>
            </a:r>
            <a:r>
              <a:rPr lang="en-US" altLang="ko-KR" dirty="0" smtClean="0"/>
              <a:t/>
            </a:r>
            <a:br>
              <a:rPr lang="en-US" altLang="ko-KR" dirty="0" smtClean="0"/>
            </a:br>
            <a:r>
              <a:rPr lang="en-US" altLang="ko-KR" dirty="0" smtClean="0"/>
              <a:t>- </a:t>
            </a:r>
            <a:r>
              <a:rPr lang="ko-KR" altLang="en-US" dirty="0" smtClean="0"/>
              <a:t>완료 전 후로 입찰 포기와 입찰 취소 가능 여부</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t>플로팅버튼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smtClean="0"/>
              <a:t>입찰서제출후 노출되는 버튼</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a:latin typeface="+mn-ea"/>
              </a:rPr>
              <a:t>플로팅</a:t>
            </a:r>
            <a:r>
              <a:rPr lang="ko-KR" altLang="en-US" dirty="0">
                <a:latin typeface="+mn-ea"/>
              </a:rPr>
              <a:t> 버튼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MUI-BD-01-P17</a:t>
            </a:r>
            <a:endParaRPr lang="ko-KR" altLang="en-US" dirty="0">
              <a:solidFill>
                <a:srgbClr val="000000"/>
              </a:solidFill>
              <a:latin typeface="맑은 고딕" panose="020B0503020000020004" pitchFamily="50" charset="-127"/>
            </a:endParaRPr>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123" name="직사각형 122">
            <a:extLst>
              <a:ext uri="{FF2B5EF4-FFF2-40B4-BE49-F238E27FC236}">
                <a16:creationId xmlns:a16="http://schemas.microsoft.com/office/drawing/2014/main" id="{F56F1743-11A0-EA94-9184-4E42C0A37F9C}"/>
              </a:ext>
            </a:extLst>
          </p:cNvPr>
          <p:cNvSpPr/>
          <p:nvPr/>
        </p:nvSpPr>
        <p:spPr>
          <a:xfrm>
            <a:off x="65127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양쪽 모서리가 둥근 사각형 138"/>
          <p:cNvSpPr/>
          <p:nvPr/>
        </p:nvSpPr>
        <p:spPr>
          <a:xfrm>
            <a:off x="648717"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40" name="모서리가 둥근 직사각형 139"/>
          <p:cNvSpPr/>
          <p:nvPr/>
        </p:nvSpPr>
        <p:spPr>
          <a:xfrm>
            <a:off x="1734730"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41" name="그룹 140"/>
          <p:cNvGrpSpPr/>
          <p:nvPr/>
        </p:nvGrpSpPr>
        <p:grpSpPr>
          <a:xfrm>
            <a:off x="3137656" y="3182696"/>
            <a:ext cx="94010" cy="94010"/>
            <a:chOff x="6812560" y="3297172"/>
            <a:chExt cx="94010" cy="94010"/>
          </a:xfrm>
        </p:grpSpPr>
        <p:cxnSp>
          <p:nvCxnSpPr>
            <p:cNvPr id="151" name="직선 연결선 15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42" name="TextBox 141">
            <a:extLst>
              <a:ext uri="{FF2B5EF4-FFF2-40B4-BE49-F238E27FC236}">
                <a16:creationId xmlns:a16="http://schemas.microsoft.com/office/drawing/2014/main" id="{FFC49AEA-2A8F-250C-A86A-A7751D9706C3}"/>
              </a:ext>
            </a:extLst>
          </p:cNvPr>
          <p:cNvSpPr txBox="1"/>
          <p:nvPr/>
        </p:nvSpPr>
        <p:spPr>
          <a:xfrm>
            <a:off x="777794"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648717"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타원 154">
            <a:extLst>
              <a:ext uri="{FF2B5EF4-FFF2-40B4-BE49-F238E27FC236}">
                <a16:creationId xmlns:a16="http://schemas.microsoft.com/office/drawing/2014/main" id="{37A7FF4F-0EAA-1463-560A-D5EC24416103}"/>
              </a:ext>
            </a:extLst>
          </p:cNvPr>
          <p:cNvSpPr/>
          <p:nvPr/>
        </p:nvSpPr>
        <p:spPr>
          <a:xfrm>
            <a:off x="605664" y="29232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159" name="모서리가 둥근 직사각형 40">
            <a:extLst>
              <a:ext uri="{FF2B5EF4-FFF2-40B4-BE49-F238E27FC236}">
                <a16:creationId xmlns:a16="http://schemas.microsoft.com/office/drawing/2014/main" id="{3BE5C28A-F0C3-8BA2-3AC1-EFA405ADE137}"/>
              </a:ext>
            </a:extLst>
          </p:cNvPr>
          <p:cNvSpPr/>
          <p:nvPr/>
        </p:nvSpPr>
        <p:spPr bwMode="auto">
          <a:xfrm>
            <a:off x="741020" y="3516109"/>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입찰서</a:t>
            </a:r>
            <a:r>
              <a:rPr lang="en-US" altLang="ko-KR" sz="800" dirty="0" smtClean="0">
                <a:solidFill>
                  <a:schemeClr val="bg1"/>
                </a:solidFill>
                <a:latin typeface="맑은 고딕" panose="020B0503020000020004" pitchFamily="50" charset="-127"/>
              </a:rPr>
              <a:t>(</a:t>
            </a:r>
            <a:r>
              <a:rPr lang="ko-KR" altLang="en-US" sz="800" dirty="0">
                <a:solidFill>
                  <a:schemeClr val="bg1"/>
                </a:solidFill>
                <a:latin typeface="맑은 고딕" panose="020B0503020000020004" pitchFamily="50" charset="-127"/>
              </a:rPr>
              <a:t>견적서</a:t>
            </a:r>
            <a:r>
              <a:rPr lang="en-US" altLang="ko-KR" sz="800" dirty="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 포기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0" name="사각형: 둥근 모서리 15">
            <a:extLst>
              <a:ext uri="{FF2B5EF4-FFF2-40B4-BE49-F238E27FC236}">
                <a16:creationId xmlns:a16="http://schemas.microsoft.com/office/drawing/2014/main" id="{E2B61CFB-AD16-68D0-8752-50D9C5E01971}"/>
              </a:ext>
            </a:extLst>
          </p:cNvPr>
          <p:cNvSpPr/>
          <p:nvPr/>
        </p:nvSpPr>
        <p:spPr>
          <a:xfrm>
            <a:off x="741020" y="4299853"/>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10" name="그룹 109">
            <a:extLst>
              <a:ext uri="{FF2B5EF4-FFF2-40B4-BE49-F238E27FC236}">
                <a16:creationId xmlns:a16="http://schemas.microsoft.com/office/drawing/2014/main" id="{22BC05EE-C648-7CA2-4CCC-6E1C1A7E9BDA}"/>
              </a:ext>
            </a:extLst>
          </p:cNvPr>
          <p:cNvGrpSpPr/>
          <p:nvPr/>
        </p:nvGrpSpPr>
        <p:grpSpPr>
          <a:xfrm>
            <a:off x="1985606" y="5693123"/>
            <a:ext cx="76863" cy="292489"/>
            <a:chOff x="3750067" y="4683795"/>
            <a:chExt cx="76863" cy="292489"/>
          </a:xfrm>
        </p:grpSpPr>
        <p:sp>
          <p:nvSpPr>
            <p:cNvPr id="111" name="타원 11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5" name="타원 12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46" name="모서리가 둥근 직사각형 40">
            <a:extLst>
              <a:ext uri="{FF2B5EF4-FFF2-40B4-BE49-F238E27FC236}">
                <a16:creationId xmlns:a16="http://schemas.microsoft.com/office/drawing/2014/main" id="{3BE5C28A-F0C3-8BA2-3AC1-EFA405ADE137}"/>
              </a:ext>
            </a:extLst>
          </p:cNvPr>
          <p:cNvSpPr/>
          <p:nvPr/>
        </p:nvSpPr>
        <p:spPr bwMode="auto">
          <a:xfrm>
            <a:off x="741020" y="3813193"/>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입찰서</a:t>
            </a:r>
            <a:r>
              <a:rPr lang="en-US" altLang="ko-KR" sz="800" dirty="0" smtClean="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견적서</a:t>
            </a:r>
            <a:r>
              <a:rPr lang="en-US" altLang="ko-KR" sz="800" dirty="0" smtClean="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 취소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27" name="직사각형 26">
            <a:extLst>
              <a:ext uri="{FF2B5EF4-FFF2-40B4-BE49-F238E27FC236}">
                <a16:creationId xmlns:a16="http://schemas.microsoft.com/office/drawing/2014/main" id="{F56F1743-11A0-EA94-9184-4E42C0A37F9C}"/>
              </a:ext>
            </a:extLst>
          </p:cNvPr>
          <p:cNvSpPr/>
          <p:nvPr/>
        </p:nvSpPr>
        <p:spPr>
          <a:xfrm>
            <a:off x="3538412"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양쪽 모서리가 둥근 사각형 27"/>
          <p:cNvSpPr/>
          <p:nvPr/>
        </p:nvSpPr>
        <p:spPr>
          <a:xfrm>
            <a:off x="3535851"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 name="모서리가 둥근 직사각형 28"/>
          <p:cNvSpPr/>
          <p:nvPr/>
        </p:nvSpPr>
        <p:spPr>
          <a:xfrm>
            <a:off x="4621864"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0" name="그룹 29"/>
          <p:cNvGrpSpPr/>
          <p:nvPr/>
        </p:nvGrpSpPr>
        <p:grpSpPr>
          <a:xfrm>
            <a:off x="6024790" y="3182696"/>
            <a:ext cx="94010" cy="94010"/>
            <a:chOff x="6812560" y="3297172"/>
            <a:chExt cx="94010" cy="94010"/>
          </a:xfrm>
        </p:grpSpPr>
        <p:cxnSp>
          <p:nvCxnSpPr>
            <p:cNvPr id="31" name="직선 연결선 3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 name="직선 연결선 3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 name="TextBox 32">
            <a:extLst>
              <a:ext uri="{FF2B5EF4-FFF2-40B4-BE49-F238E27FC236}">
                <a16:creationId xmlns:a16="http://schemas.microsoft.com/office/drawing/2014/main" id="{FFC49AEA-2A8F-250C-A86A-A7751D9706C3}"/>
              </a:ext>
            </a:extLst>
          </p:cNvPr>
          <p:cNvSpPr txBox="1"/>
          <p:nvPr/>
        </p:nvSpPr>
        <p:spPr>
          <a:xfrm>
            <a:off x="3664928"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34" name="직선 연결선 33">
            <a:extLst>
              <a:ext uri="{FF2B5EF4-FFF2-40B4-BE49-F238E27FC236}">
                <a16:creationId xmlns:a16="http://schemas.microsoft.com/office/drawing/2014/main" id="{E9293055-D5CD-4B9E-7F64-64B2D2CA7A52}"/>
              </a:ext>
            </a:extLst>
          </p:cNvPr>
          <p:cNvCxnSpPr/>
          <p:nvPr/>
        </p:nvCxnSpPr>
        <p:spPr>
          <a:xfrm>
            <a:off x="3535851"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6" name="모서리가 둥근 직사각형 40">
            <a:extLst>
              <a:ext uri="{FF2B5EF4-FFF2-40B4-BE49-F238E27FC236}">
                <a16:creationId xmlns:a16="http://schemas.microsoft.com/office/drawing/2014/main" id="{3BE5C28A-F0C3-8BA2-3AC1-EFA405ADE137}"/>
              </a:ext>
            </a:extLst>
          </p:cNvPr>
          <p:cNvSpPr/>
          <p:nvPr/>
        </p:nvSpPr>
        <p:spPr bwMode="auto">
          <a:xfrm>
            <a:off x="3628154" y="3516109"/>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입찰서</a:t>
            </a:r>
            <a:r>
              <a:rPr lang="en-US" altLang="ko-KR" sz="800" dirty="0" smtClean="0">
                <a:solidFill>
                  <a:schemeClr val="bg1"/>
                </a:solidFill>
                <a:latin typeface="맑은 고딕" panose="020B0503020000020004" pitchFamily="50" charset="-127"/>
              </a:rPr>
              <a:t>(</a:t>
            </a:r>
            <a:r>
              <a:rPr lang="ko-KR" altLang="en-US" sz="800" dirty="0">
                <a:solidFill>
                  <a:schemeClr val="bg1"/>
                </a:solidFill>
                <a:latin typeface="맑은 고딕" panose="020B0503020000020004" pitchFamily="50" charset="-127"/>
              </a:rPr>
              <a:t>견적서</a:t>
            </a:r>
            <a:r>
              <a:rPr lang="en-US" altLang="ko-KR" sz="800" dirty="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 취소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37" name="사각형: 둥근 모서리 15">
            <a:extLst>
              <a:ext uri="{FF2B5EF4-FFF2-40B4-BE49-F238E27FC236}">
                <a16:creationId xmlns:a16="http://schemas.microsoft.com/office/drawing/2014/main" id="{E2B61CFB-AD16-68D0-8752-50D9C5E01971}"/>
              </a:ext>
            </a:extLst>
          </p:cNvPr>
          <p:cNvSpPr/>
          <p:nvPr/>
        </p:nvSpPr>
        <p:spPr>
          <a:xfrm>
            <a:off x="3628154" y="4299853"/>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38" name="그룹 37">
            <a:extLst>
              <a:ext uri="{FF2B5EF4-FFF2-40B4-BE49-F238E27FC236}">
                <a16:creationId xmlns:a16="http://schemas.microsoft.com/office/drawing/2014/main" id="{22BC05EE-C648-7CA2-4CCC-6E1C1A7E9BDA}"/>
              </a:ext>
            </a:extLst>
          </p:cNvPr>
          <p:cNvGrpSpPr/>
          <p:nvPr/>
        </p:nvGrpSpPr>
        <p:grpSpPr>
          <a:xfrm>
            <a:off x="4872740" y="5693123"/>
            <a:ext cx="76863" cy="292489"/>
            <a:chOff x="3750067" y="4683795"/>
            <a:chExt cx="76863" cy="292489"/>
          </a:xfrm>
        </p:grpSpPr>
        <p:sp>
          <p:nvSpPr>
            <p:cNvPr id="39" name="타원 38">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40" name="타원 39">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41" name="타원 40">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43" name="직사각형 42"/>
          <p:cNvSpPr/>
          <p:nvPr/>
        </p:nvSpPr>
        <p:spPr>
          <a:xfrm>
            <a:off x="8090704" y="0"/>
            <a:ext cx="1815296" cy="66342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900" dirty="0" smtClean="0"/>
              <a:t>입찰서 </a:t>
            </a:r>
            <a:r>
              <a:rPr lang="ko-KR" altLang="en-US" sz="900" dirty="0" err="1" smtClean="0"/>
              <a:t>제출후</a:t>
            </a:r>
            <a:r>
              <a:rPr lang="ko-KR" altLang="en-US" sz="900" dirty="0" smtClean="0"/>
              <a:t> 완료 전</a:t>
            </a:r>
            <a:r>
              <a:rPr lang="en-US" altLang="ko-KR" sz="900" dirty="0" smtClean="0"/>
              <a:t>, </a:t>
            </a:r>
            <a:r>
              <a:rPr lang="ko-KR" altLang="en-US" sz="900" dirty="0" smtClean="0"/>
              <a:t>완료 후 </a:t>
            </a:r>
            <a:r>
              <a:rPr lang="en-US" altLang="ko-KR" sz="900" dirty="0" smtClean="0"/>
              <a:t/>
            </a:r>
            <a:br>
              <a:rPr lang="en-US" altLang="ko-KR" sz="900" dirty="0" smtClean="0"/>
            </a:br>
            <a:r>
              <a:rPr lang="ko-KR" altLang="en-US" sz="900" dirty="0" smtClean="0"/>
              <a:t>입찰포기시점</a:t>
            </a:r>
            <a:r>
              <a:rPr lang="en-US" altLang="ko-KR" sz="900" dirty="0" smtClean="0"/>
              <a:t>, </a:t>
            </a:r>
            <a:r>
              <a:rPr lang="ko-KR" altLang="en-US" sz="900" dirty="0" smtClean="0"/>
              <a:t>입찰취소시점이 있는지 확인 필요</a:t>
            </a:r>
            <a:endParaRPr lang="ko-KR" altLang="en-US" sz="900" dirty="0"/>
          </a:p>
        </p:txBody>
      </p:sp>
      <p:sp>
        <p:nvSpPr>
          <p:cNvPr id="44" name="직사각형 43"/>
          <p:cNvSpPr/>
          <p:nvPr/>
        </p:nvSpPr>
        <p:spPr>
          <a:xfrm>
            <a:off x="8253616"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2026-07-13 </a:t>
            </a:r>
            <a:r>
              <a:rPr lang="ko-KR" altLang="en-US" dirty="0" smtClean="0"/>
              <a:t>특이사항수정</a:t>
            </a:r>
            <a:endParaRPr lang="ko-KR" altLang="en-US" dirty="0"/>
          </a:p>
        </p:txBody>
      </p:sp>
    </p:spTree>
    <p:extLst>
      <p:ext uri="{BB962C8B-B14F-4D97-AF65-F5344CB8AC3E}">
        <p14:creationId xmlns:p14="http://schemas.microsoft.com/office/powerpoint/2010/main" val="86019864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최상단</a:t>
            </a:r>
            <a:r>
              <a:rPr lang="ko-KR" altLang="en-US" dirty="0"/>
              <a:t> 이동 버튼</a:t>
            </a:r>
            <a:r>
              <a:rPr lang="en-US" altLang="ko-KR" dirty="0"/>
              <a:t/>
            </a:r>
            <a:br>
              <a:rPr lang="en-US" altLang="ko-KR" dirty="0"/>
            </a:br>
            <a:r>
              <a:rPr lang="ko-KR" altLang="en-US" dirty="0" err="1"/>
              <a:t>플로팅</a:t>
            </a:r>
            <a:r>
              <a:rPr lang="ko-KR" altLang="en-US" dirty="0"/>
              <a:t> 버튼</a:t>
            </a:r>
            <a:endParaRPr lang="en-US" altLang="ko-KR" dirty="0"/>
          </a:p>
          <a:p>
            <a:pPr marL="228600" indent="-228600">
              <a:buFont typeface="+mj-lt"/>
              <a:buAutoNum type="arabicPeriod"/>
            </a:pPr>
            <a:r>
              <a:rPr lang="ko-KR" altLang="en-US" dirty="0" err="1" smtClean="0"/>
              <a:t>플로팅</a:t>
            </a:r>
            <a:r>
              <a:rPr lang="ko-KR" altLang="en-US" dirty="0" smtClean="0"/>
              <a:t> 버튼 클릭 시</a:t>
            </a:r>
            <a:r>
              <a:rPr lang="en-US" altLang="ko-KR" dirty="0" smtClean="0"/>
              <a:t/>
            </a:r>
            <a:br>
              <a:rPr lang="en-US" altLang="ko-KR" dirty="0" smtClean="0"/>
            </a:br>
            <a:r>
              <a:rPr lang="en-US" altLang="ko-KR" dirty="0" smtClean="0"/>
              <a:t>- </a:t>
            </a:r>
            <a:r>
              <a:rPr lang="ko-KR" altLang="en-US" dirty="0" smtClean="0"/>
              <a:t>조건에 맞는 버튼 표시</a:t>
            </a:r>
            <a:r>
              <a:rPr lang="en-US" altLang="ko-KR" dirty="0" smtClean="0"/>
              <a:t/>
            </a:r>
            <a:br>
              <a:rPr lang="en-US" altLang="ko-KR" dirty="0" smtClean="0"/>
            </a:br>
            <a:r>
              <a:rPr lang="en-US" altLang="ko-KR" dirty="0" smtClean="0"/>
              <a:t>- </a:t>
            </a:r>
            <a:r>
              <a:rPr lang="ko-KR" altLang="en-US" dirty="0" smtClean="0"/>
              <a:t>클릭 시 각각의 페이지 이동</a:t>
            </a:r>
            <a:endParaRPr lang="en-US" altLang="ko-KR" dirty="0" smtClean="0"/>
          </a:p>
          <a:p>
            <a:pPr marL="228600" indent="-228600">
              <a:buFont typeface="+mj-lt"/>
              <a:buAutoNum type="arabicPeriod"/>
            </a:pPr>
            <a:r>
              <a:rPr lang="ko-KR" altLang="en-US" dirty="0" smtClean="0"/>
              <a:t>입찰공고상세에 </a:t>
            </a:r>
            <a:r>
              <a:rPr lang="ko-KR" altLang="en-US" dirty="0"/>
              <a:t>연결된 </a:t>
            </a:r>
            <a:r>
              <a:rPr lang="ko-KR" altLang="en-US" dirty="0" smtClean="0"/>
              <a:t>이벤트</a:t>
            </a:r>
            <a:r>
              <a:rPr lang="en-US" altLang="ko-KR" dirty="0" smtClean="0"/>
              <a:t/>
            </a:r>
            <a:br>
              <a:rPr lang="en-US" altLang="ko-KR" dirty="0" smtClean="0"/>
            </a:br>
            <a:r>
              <a:rPr lang="en-US" altLang="ko-KR" dirty="0" smtClean="0"/>
              <a:t>- </a:t>
            </a:r>
            <a:r>
              <a:rPr lang="ko-KR" altLang="en-US" dirty="0" smtClean="0"/>
              <a:t>사전심사</a:t>
            </a:r>
            <a:r>
              <a:rPr lang="en-US" altLang="ko-KR" dirty="0"/>
              <a:t>PQ </a:t>
            </a:r>
            <a:r>
              <a:rPr lang="ko-KR" altLang="en-US" dirty="0" err="1"/>
              <a:t>신청버튼</a:t>
            </a:r>
            <a:r>
              <a:rPr lang="en-US" altLang="ko-KR" dirty="0"/>
              <a:t/>
            </a:r>
            <a:br>
              <a:rPr lang="en-US" altLang="ko-KR" dirty="0"/>
            </a:br>
            <a:r>
              <a:rPr lang="ko-KR" altLang="en-US" dirty="0"/>
              <a:t>ㄴ </a:t>
            </a:r>
            <a:r>
              <a:rPr lang="en-US" altLang="ko-KR" dirty="0"/>
              <a:t>100</a:t>
            </a:r>
            <a:r>
              <a:rPr lang="ko-KR" altLang="en-US" dirty="0" err="1"/>
              <a:t>억이상</a:t>
            </a:r>
            <a:r>
              <a:rPr lang="en-US" altLang="ko-KR" dirty="0"/>
              <a:t>, </a:t>
            </a:r>
            <a:r>
              <a:rPr lang="ko-KR" altLang="en-US" dirty="0"/>
              <a:t>용역 공고</a:t>
            </a:r>
            <a:r>
              <a:rPr lang="en-US" altLang="ko-KR" dirty="0"/>
              <a:t/>
            </a:r>
            <a:br>
              <a:rPr lang="en-US" altLang="ko-KR" dirty="0"/>
            </a:br>
            <a:r>
              <a:rPr lang="ko-KR" altLang="en-US" dirty="0"/>
              <a:t>ㄴ 공사 공고</a:t>
            </a:r>
            <a:r>
              <a:rPr lang="en-US" altLang="ko-KR" dirty="0"/>
              <a:t/>
            </a:r>
            <a:br>
              <a:rPr lang="en-US" altLang="ko-KR" dirty="0"/>
            </a:br>
            <a:r>
              <a:rPr lang="en-US" altLang="ko-KR" dirty="0" smtClean="0"/>
              <a:t>- </a:t>
            </a:r>
            <a:r>
              <a:rPr lang="ko-KR" altLang="en-US" dirty="0" smtClean="0"/>
              <a:t>견적서 </a:t>
            </a:r>
            <a:r>
              <a:rPr lang="ko-KR" altLang="en-US" dirty="0"/>
              <a:t>작성</a:t>
            </a:r>
            <a:r>
              <a:rPr lang="en-US" altLang="ko-KR" dirty="0"/>
              <a:t/>
            </a:r>
            <a:br>
              <a:rPr lang="en-US" altLang="ko-KR" dirty="0"/>
            </a:br>
            <a:r>
              <a:rPr lang="ko-KR" altLang="en-US" dirty="0"/>
              <a:t>ㄴ 공개수의협상 공고인 경우</a:t>
            </a:r>
            <a:r>
              <a:rPr lang="en-US" altLang="ko-KR" dirty="0"/>
              <a:t/>
            </a:r>
            <a:br>
              <a:rPr lang="en-US" altLang="ko-KR" dirty="0"/>
            </a:br>
            <a:r>
              <a:rPr lang="en-US" altLang="ko-KR" dirty="0" smtClean="0"/>
              <a:t>- </a:t>
            </a:r>
            <a:r>
              <a:rPr lang="ko-KR" altLang="en-US" dirty="0" smtClean="0"/>
              <a:t>입찰서 </a:t>
            </a:r>
            <a:r>
              <a:rPr lang="ko-KR" altLang="en-US" dirty="0"/>
              <a:t>작성</a:t>
            </a:r>
            <a:r>
              <a:rPr lang="en-US" altLang="ko-KR" dirty="0"/>
              <a:t/>
            </a:r>
            <a:br>
              <a:rPr lang="en-US" altLang="ko-KR" dirty="0"/>
            </a:br>
            <a:r>
              <a:rPr lang="ko-KR" altLang="en-US" dirty="0" err="1"/>
              <a:t>ㄴ경쟁계약공고인</a:t>
            </a:r>
            <a:r>
              <a:rPr lang="ko-KR" altLang="en-US" dirty="0"/>
              <a:t> 경우</a:t>
            </a:r>
            <a:r>
              <a:rPr lang="en-US" altLang="ko-KR" dirty="0"/>
              <a:t/>
            </a:r>
            <a:br>
              <a:rPr lang="en-US" altLang="ko-KR" dirty="0"/>
            </a:br>
            <a:r>
              <a:rPr lang="en-US" altLang="ko-KR" dirty="0"/>
              <a:t>-</a:t>
            </a:r>
            <a:r>
              <a:rPr lang="ko-KR" altLang="en-US" dirty="0"/>
              <a:t>입찰참가신청서 작성 </a:t>
            </a:r>
            <a:r>
              <a:rPr lang="en-US" altLang="ko-KR" dirty="0" smtClean="0"/>
              <a:t/>
            </a:r>
            <a:br>
              <a:rPr lang="en-US" altLang="ko-KR" dirty="0" smtClean="0"/>
            </a:br>
            <a:r>
              <a:rPr lang="ko-KR" altLang="en-US" dirty="0" err="1" smtClean="0"/>
              <a:t>작성완료한</a:t>
            </a:r>
            <a:r>
              <a:rPr lang="ko-KR" altLang="en-US" dirty="0" smtClean="0"/>
              <a:t> 공고인 경우</a:t>
            </a:r>
            <a:r>
              <a:rPr lang="en-US" altLang="ko-KR" dirty="0" smtClean="0"/>
              <a:t>, </a:t>
            </a:r>
            <a:br>
              <a:rPr lang="en-US" altLang="ko-KR" dirty="0" smtClean="0"/>
            </a:br>
            <a:r>
              <a:rPr lang="ko-KR" altLang="en-US" dirty="0" err="1" smtClean="0"/>
              <a:t>ㄴ입찰포기</a:t>
            </a:r>
            <a:r>
              <a:rPr lang="en-US" altLang="ko-KR" dirty="0"/>
              <a:t>, </a:t>
            </a:r>
            <a:r>
              <a:rPr lang="ko-KR" altLang="en-US" dirty="0" err="1" smtClean="0"/>
              <a:t>입찰취소</a:t>
            </a:r>
            <a:r>
              <a:rPr lang="ko-KR" altLang="en-US" dirty="0" smtClean="0"/>
              <a:t> 버튼 노출</a:t>
            </a:r>
            <a:r>
              <a:rPr lang="en-US" altLang="ko-KR" dirty="0"/>
              <a:t/>
            </a:r>
            <a:br>
              <a:rPr lang="en-US" altLang="ko-KR" dirty="0"/>
            </a:br>
            <a:r>
              <a:rPr lang="en-US" altLang="ko-KR" dirty="0" smtClean="0"/>
              <a:t>- </a:t>
            </a:r>
            <a:r>
              <a:rPr lang="ko-KR" altLang="en-US" dirty="0" err="1" smtClean="0"/>
              <a:t>환율정보</a:t>
            </a:r>
            <a:r>
              <a:rPr lang="en-US" altLang="ko-KR" dirty="0" smtClean="0"/>
              <a:t/>
            </a:r>
            <a:br>
              <a:rPr lang="en-US" altLang="ko-KR" dirty="0" smtClean="0"/>
            </a:br>
            <a:r>
              <a:rPr lang="ko-KR" altLang="en-US" dirty="0" err="1" smtClean="0"/>
              <a:t>ㄴ국외</a:t>
            </a:r>
            <a:r>
              <a:rPr lang="ko-KR" altLang="en-US" dirty="0" smtClean="0"/>
              <a:t> 공고인 경우</a:t>
            </a:r>
            <a:endParaRPr lang="en-US" altLang="ko-KR" dirty="0"/>
          </a:p>
          <a:p>
            <a:pPr marL="228600" indent="-228600">
              <a:buFont typeface="+mj-lt"/>
              <a:buAutoNum type="arabicPeriod"/>
            </a:pPr>
            <a:r>
              <a:rPr lang="ko-KR" altLang="en-US" dirty="0" smtClean="0"/>
              <a:t>입찰참가신청서 작성하기</a:t>
            </a:r>
            <a:r>
              <a:rPr lang="en-US" altLang="ko-KR" dirty="0" smtClean="0"/>
              <a:t>(</a:t>
            </a:r>
            <a:r>
              <a:rPr lang="en-US" altLang="ko-KR" dirty="0" smtClean="0">
                <a:solidFill>
                  <a:srgbClr val="000000"/>
                </a:solidFill>
                <a:latin typeface="맑은 고딕" panose="020B0503020000020004" pitchFamily="50" charset="-127"/>
              </a:rPr>
              <a:t>MUI-BD-02-M01</a:t>
            </a:r>
            <a:r>
              <a:rPr lang="en-US" altLang="ko-KR" dirty="0" smtClean="0"/>
              <a:t>)</a:t>
            </a:r>
            <a:br>
              <a:rPr lang="en-US" altLang="ko-KR" dirty="0" smtClean="0"/>
            </a:br>
            <a:endParaRPr lang="en-US" altLang="ko-KR" dirty="0"/>
          </a:p>
          <a:p>
            <a:pPr marL="0" indent="0">
              <a:buNone/>
            </a:pP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t>플로팅버튼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입찰 공고 신청</a:t>
            </a:r>
            <a:r>
              <a:rPr lang="en-US" altLang="ko-KR" dirty="0"/>
              <a:t>, </a:t>
            </a:r>
            <a:r>
              <a:rPr lang="ko-KR" altLang="en-US" dirty="0"/>
              <a:t>취소</a:t>
            </a:r>
            <a:r>
              <a:rPr lang="en-US" altLang="ko-KR" dirty="0"/>
              <a:t>, </a:t>
            </a:r>
            <a:r>
              <a:rPr lang="ko-KR" altLang="en-US" dirty="0" err="1"/>
              <a:t>환율정보를</a:t>
            </a:r>
            <a:r>
              <a:rPr lang="ko-KR" altLang="en-US" dirty="0"/>
              <a:t> 볼 수 있는 따라다니는 </a:t>
            </a:r>
            <a:r>
              <a:rPr lang="ko-KR" altLang="en-US" dirty="0" err="1"/>
              <a:t>플로팅</a:t>
            </a:r>
            <a:r>
              <a:rPr lang="ko-KR" altLang="en-US" dirty="0"/>
              <a:t> 버튼</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a:latin typeface="+mn-ea"/>
              </a:rPr>
              <a:t>플로팅</a:t>
            </a:r>
            <a:r>
              <a:rPr lang="ko-KR" altLang="en-US" dirty="0">
                <a:latin typeface="+mn-ea"/>
              </a:rPr>
              <a:t> 버튼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MUI-BD-01-P17</a:t>
            </a:r>
            <a:endParaRPr lang="ko-KR" altLang="en-US" dirty="0">
              <a:solidFill>
                <a:srgbClr val="000000"/>
              </a:solidFill>
              <a:latin typeface="맑은 고딕" panose="020B0503020000020004" pitchFamily="50" charset="-127"/>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29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5" name="TextBox 58">
            <a:extLst>
              <a:ext uri="{FF2B5EF4-FFF2-40B4-BE49-F238E27FC236}">
                <a16:creationId xmlns:a16="http://schemas.microsoft.com/office/drawing/2014/main" id="{02FC114B-B48B-345F-BD70-2B5A196F5B3E}"/>
              </a:ext>
            </a:extLst>
          </p:cNvPr>
          <p:cNvSpPr txBox="1"/>
          <p:nvPr/>
        </p:nvSpPr>
        <p:spPr>
          <a:xfrm>
            <a:off x="781461" y="2584455"/>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19520"/>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904131"/>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2400124"/>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400124"/>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9386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427984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972362"/>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400370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4085693"/>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3078167" y="2376021"/>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6342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4417653"/>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18545" y="4417653"/>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760915" y="4417653"/>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399469" y="4417653"/>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63426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437953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74059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956338"/>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58093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733754"/>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663275"/>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733754"/>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733754"/>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663275"/>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663275"/>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901131" y="5895922"/>
            <a:ext cx="2305144"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관심공고에서 제외 되었습니다</a:t>
            </a:r>
            <a:r>
              <a:rPr lang="en-US" altLang="ko-KR" sz="700" dirty="0">
                <a:solidFill>
                  <a:schemeClr val="bg1"/>
                </a:solidFill>
                <a:latin typeface="+mn-ea"/>
              </a:rPr>
              <a:t>.</a:t>
            </a:r>
            <a:endParaRPr lang="ko-KR" altLang="en-US" sz="700" dirty="0">
              <a:solidFill>
                <a:schemeClr val="bg1"/>
              </a:solidFill>
              <a:latin typeface="+mn-ea"/>
            </a:endParaRPr>
          </a:p>
        </p:txBody>
      </p:sp>
      <p:sp>
        <p:nvSpPr>
          <p:cNvPr id="112" name="타원 111"/>
          <p:cNvSpPr/>
          <p:nvPr/>
        </p:nvSpPr>
        <p:spPr>
          <a:xfrm>
            <a:off x="2871641" y="515396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a:off x="3001107" y="5271034"/>
            <a:ext cx="124144" cy="148935"/>
            <a:chOff x="161606" y="5392781"/>
            <a:chExt cx="97885" cy="117432"/>
          </a:xfrm>
        </p:grpSpPr>
        <p:cxnSp>
          <p:nvCxnSpPr>
            <p:cNvPr id="114" name="직선 연결선 113"/>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6" name="직선 연결선 115"/>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17" name="직선 연결선 116"/>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18" name="타원 117"/>
          <p:cNvSpPr/>
          <p:nvPr/>
        </p:nvSpPr>
        <p:spPr>
          <a:xfrm>
            <a:off x="2871641" y="563921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p:cNvGrpSpPr/>
          <p:nvPr/>
        </p:nvGrpSpPr>
        <p:grpSpPr>
          <a:xfrm>
            <a:off x="3001108" y="5768679"/>
            <a:ext cx="124144" cy="124144"/>
            <a:chOff x="162544" y="5299917"/>
            <a:chExt cx="124144" cy="124144"/>
          </a:xfrm>
        </p:grpSpPr>
        <p:cxnSp>
          <p:nvCxnSpPr>
            <p:cNvPr id="120" name="직선 연결선 119"/>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22" name="타원 121">
            <a:extLst>
              <a:ext uri="{FF2B5EF4-FFF2-40B4-BE49-F238E27FC236}">
                <a16:creationId xmlns:a16="http://schemas.microsoft.com/office/drawing/2014/main" id="{37A7FF4F-0EAA-1463-560A-D5EC24416103}"/>
              </a:ext>
            </a:extLst>
          </p:cNvPr>
          <p:cNvSpPr/>
          <p:nvPr/>
        </p:nvSpPr>
        <p:spPr>
          <a:xfrm>
            <a:off x="2860679" y="56278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23" name="직사각형 12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양쪽 모서리가 둥근 사각형 138"/>
          <p:cNvSpPr/>
          <p:nvPr/>
        </p:nvSpPr>
        <p:spPr>
          <a:xfrm>
            <a:off x="3793173"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40" name="모서리가 둥근 직사각형 139"/>
          <p:cNvSpPr/>
          <p:nvPr/>
        </p:nvSpPr>
        <p:spPr>
          <a:xfrm>
            <a:off x="4879186"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41" name="그룹 140"/>
          <p:cNvGrpSpPr/>
          <p:nvPr/>
        </p:nvGrpSpPr>
        <p:grpSpPr>
          <a:xfrm>
            <a:off x="6282112" y="3182696"/>
            <a:ext cx="94010" cy="94010"/>
            <a:chOff x="6812560" y="3297172"/>
            <a:chExt cx="94010" cy="94010"/>
          </a:xfrm>
        </p:grpSpPr>
        <p:cxnSp>
          <p:nvCxnSpPr>
            <p:cNvPr id="151" name="직선 연결선 15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42" name="TextBox 141">
            <a:extLst>
              <a:ext uri="{FF2B5EF4-FFF2-40B4-BE49-F238E27FC236}">
                <a16:creationId xmlns:a16="http://schemas.microsoft.com/office/drawing/2014/main" id="{FFC49AEA-2A8F-250C-A86A-A7751D9706C3}"/>
              </a:ext>
            </a:extLst>
          </p:cNvPr>
          <p:cNvSpPr txBox="1"/>
          <p:nvPr/>
        </p:nvSpPr>
        <p:spPr>
          <a:xfrm>
            <a:off x="3922250"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3793173"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타원 154">
            <a:extLst>
              <a:ext uri="{FF2B5EF4-FFF2-40B4-BE49-F238E27FC236}">
                <a16:creationId xmlns:a16="http://schemas.microsoft.com/office/drawing/2014/main" id="{37A7FF4F-0EAA-1463-560A-D5EC24416103}"/>
              </a:ext>
            </a:extLst>
          </p:cNvPr>
          <p:cNvSpPr/>
          <p:nvPr/>
        </p:nvSpPr>
        <p:spPr>
          <a:xfrm>
            <a:off x="3704498" y="302156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57" name="모서리가 둥근 직사각형 40">
            <a:extLst>
              <a:ext uri="{FF2B5EF4-FFF2-40B4-BE49-F238E27FC236}">
                <a16:creationId xmlns:a16="http://schemas.microsoft.com/office/drawing/2014/main" id="{3BE5C28A-F0C3-8BA2-3AC1-EFA405ADE137}"/>
              </a:ext>
            </a:extLst>
          </p:cNvPr>
          <p:cNvSpPr/>
          <p:nvPr/>
        </p:nvSpPr>
        <p:spPr bwMode="auto">
          <a:xfrm>
            <a:off x="3885476" y="3537066"/>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사전심사</a:t>
            </a:r>
            <a:r>
              <a:rPr lang="en-US" altLang="ko-KR" sz="800" dirty="0">
                <a:solidFill>
                  <a:schemeClr val="bg1"/>
                </a:solidFill>
                <a:latin typeface="맑은 고딕" panose="020B0503020000020004" pitchFamily="50" charset="-127"/>
                <a:ea typeface="맑은 고딕" panose="020B0503020000020004" pitchFamily="50" charset="-127"/>
              </a:rPr>
              <a:t>(PQ)</a:t>
            </a:r>
            <a:r>
              <a:rPr lang="ko-KR" altLang="en-US" sz="800" dirty="0">
                <a:solidFill>
                  <a:schemeClr val="bg1"/>
                </a:solidFill>
                <a:latin typeface="맑은 고딕" panose="020B0503020000020004" pitchFamily="50" charset="-127"/>
                <a:ea typeface="맑은 고딕" panose="020B0503020000020004" pitchFamily="50" charset="-127"/>
              </a:rPr>
              <a:t>신청서 작성하기</a:t>
            </a:r>
          </a:p>
        </p:txBody>
      </p:sp>
      <p:sp>
        <p:nvSpPr>
          <p:cNvPr id="158" name="모서리가 둥근 직사각형 40">
            <a:extLst>
              <a:ext uri="{FF2B5EF4-FFF2-40B4-BE49-F238E27FC236}">
                <a16:creationId xmlns:a16="http://schemas.microsoft.com/office/drawing/2014/main" id="{3BE5C28A-F0C3-8BA2-3AC1-EFA405ADE137}"/>
              </a:ext>
            </a:extLst>
          </p:cNvPr>
          <p:cNvSpPr/>
          <p:nvPr/>
        </p:nvSpPr>
        <p:spPr bwMode="auto">
          <a:xfrm>
            <a:off x="3885476" y="3874879"/>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입찰참가신청서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59" name="모서리가 둥근 직사각형 40">
            <a:extLst>
              <a:ext uri="{FF2B5EF4-FFF2-40B4-BE49-F238E27FC236}">
                <a16:creationId xmlns:a16="http://schemas.microsoft.com/office/drawing/2014/main" id="{3BE5C28A-F0C3-8BA2-3AC1-EFA405ADE137}"/>
              </a:ext>
            </a:extLst>
          </p:cNvPr>
          <p:cNvSpPr/>
          <p:nvPr/>
        </p:nvSpPr>
        <p:spPr bwMode="auto">
          <a:xfrm>
            <a:off x="3885476" y="4207385"/>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입찰서</a:t>
            </a:r>
            <a:r>
              <a:rPr lang="en-US" altLang="ko-KR" sz="800" dirty="0">
                <a:solidFill>
                  <a:schemeClr val="bg1"/>
                </a:solidFill>
                <a:latin typeface="맑은 고딕" panose="020B0503020000020004" pitchFamily="50" charset="-127"/>
              </a:rPr>
              <a:t>(</a:t>
            </a:r>
            <a:r>
              <a:rPr lang="ko-KR" altLang="en-US" sz="800" dirty="0">
                <a:solidFill>
                  <a:schemeClr val="bg1"/>
                </a:solidFill>
                <a:latin typeface="맑은 고딕" panose="020B0503020000020004" pitchFamily="50" charset="-127"/>
              </a:rPr>
              <a:t>견적서</a:t>
            </a:r>
            <a:r>
              <a:rPr lang="en-US" altLang="ko-KR" sz="800" dirty="0">
                <a:solidFill>
                  <a:schemeClr val="bg1"/>
                </a:solidFill>
                <a:latin typeface="맑은 고딕" panose="020B0503020000020004" pitchFamily="50" charset="-127"/>
              </a:rPr>
              <a:t>)</a:t>
            </a:r>
            <a:r>
              <a:rPr lang="ko-KR" altLang="en-US" sz="800" dirty="0">
                <a:solidFill>
                  <a:schemeClr val="bg1"/>
                </a:solidFill>
                <a:latin typeface="맑은 고딕" panose="020B0503020000020004" pitchFamily="50" charset="-127"/>
              </a:rPr>
              <a:t> </a:t>
            </a:r>
            <a:r>
              <a:rPr lang="ko-KR" altLang="en-US" sz="800" dirty="0" smtClean="0">
                <a:solidFill>
                  <a:schemeClr val="bg1"/>
                </a:solidFill>
                <a:latin typeface="맑은 고딕" panose="020B0503020000020004" pitchFamily="50" charset="-127"/>
              </a:rPr>
              <a:t>작성하기</a:t>
            </a:r>
          </a:p>
        </p:txBody>
      </p:sp>
      <p:sp>
        <p:nvSpPr>
          <p:cNvPr id="160" name="사각형: 둥근 모서리 15">
            <a:extLst>
              <a:ext uri="{FF2B5EF4-FFF2-40B4-BE49-F238E27FC236}">
                <a16:creationId xmlns:a16="http://schemas.microsoft.com/office/drawing/2014/main" id="{E2B61CFB-AD16-68D0-8752-50D9C5E01971}"/>
              </a:ext>
            </a:extLst>
          </p:cNvPr>
          <p:cNvSpPr/>
          <p:nvPr/>
        </p:nvSpPr>
        <p:spPr>
          <a:xfrm>
            <a:off x="3885476" y="4501141"/>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10" name="그룹 109">
            <a:extLst>
              <a:ext uri="{FF2B5EF4-FFF2-40B4-BE49-F238E27FC236}">
                <a16:creationId xmlns:a16="http://schemas.microsoft.com/office/drawing/2014/main" id="{22BC05EE-C648-7CA2-4CCC-6E1C1A7E9BDA}"/>
              </a:ext>
            </a:extLst>
          </p:cNvPr>
          <p:cNvGrpSpPr/>
          <p:nvPr/>
        </p:nvGrpSpPr>
        <p:grpSpPr>
          <a:xfrm>
            <a:off x="5130062" y="5693123"/>
            <a:ext cx="76863" cy="292489"/>
            <a:chOff x="3750067" y="4683795"/>
            <a:chExt cx="76863" cy="292489"/>
          </a:xfrm>
        </p:grpSpPr>
        <p:sp>
          <p:nvSpPr>
            <p:cNvPr id="111" name="타원 11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5" name="타원 12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126" name="그룹 125"/>
          <p:cNvGrpSpPr/>
          <p:nvPr/>
        </p:nvGrpSpPr>
        <p:grpSpPr>
          <a:xfrm>
            <a:off x="2714860" y="3663275"/>
            <a:ext cx="603798" cy="187961"/>
            <a:chOff x="2714860" y="3237230"/>
            <a:chExt cx="603798" cy="187961"/>
          </a:xfrm>
        </p:grpSpPr>
        <p:grpSp>
          <p:nvGrpSpPr>
            <p:cNvPr id="133" name="그룹 132"/>
            <p:cNvGrpSpPr/>
            <p:nvPr/>
          </p:nvGrpSpPr>
          <p:grpSpPr>
            <a:xfrm>
              <a:off x="2714860" y="3237230"/>
              <a:ext cx="187961" cy="187961"/>
              <a:chOff x="2714860" y="3237230"/>
              <a:chExt cx="187961" cy="187961"/>
            </a:xfrm>
          </p:grpSpPr>
          <p:sp>
            <p:nvSpPr>
              <p:cNvPr id="135" name="타원 134"/>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6" name="TextBox 135">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34" name="TextBox 133">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37" name="그룹 136"/>
          <p:cNvGrpSpPr/>
          <p:nvPr/>
        </p:nvGrpSpPr>
        <p:grpSpPr>
          <a:xfrm rot="5400000">
            <a:off x="3158978" y="3658640"/>
            <a:ext cx="187961" cy="187961"/>
            <a:chOff x="3876200" y="2234886"/>
            <a:chExt cx="187961" cy="187961"/>
          </a:xfrm>
        </p:grpSpPr>
        <p:sp>
          <p:nvSpPr>
            <p:cNvPr id="138" name="타원 137"/>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16200000">
              <a:off x="3931564" y="2305364"/>
              <a:ext cx="94010" cy="47005"/>
              <a:chOff x="6812560" y="3297172"/>
              <a:chExt cx="94010" cy="47005"/>
            </a:xfrm>
          </p:grpSpPr>
          <p:cxnSp>
            <p:nvCxnSpPr>
              <p:cNvPr id="145" name="직선 연결선 1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48" name="그룹 147"/>
          <p:cNvGrpSpPr/>
          <p:nvPr/>
        </p:nvGrpSpPr>
        <p:grpSpPr>
          <a:xfrm>
            <a:off x="677960" y="1582647"/>
            <a:ext cx="2714637" cy="686386"/>
            <a:chOff x="677960" y="1582647"/>
            <a:chExt cx="2714637" cy="686386"/>
          </a:xfrm>
        </p:grpSpPr>
        <p:sp>
          <p:nvSpPr>
            <p:cNvPr id="149" name="TextBox 148">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a:latin typeface="+mn-ea"/>
                </a:rPr>
                <a:t>입찰공고 상세</a:t>
              </a: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3" name="그룹 152"/>
            <p:cNvGrpSpPr/>
            <p:nvPr/>
          </p:nvGrpSpPr>
          <p:grpSpPr>
            <a:xfrm rot="5400000">
              <a:off x="852159" y="2062596"/>
              <a:ext cx="94010" cy="47005"/>
              <a:chOff x="6812560" y="3297172"/>
              <a:chExt cx="94010" cy="47005"/>
            </a:xfrm>
          </p:grpSpPr>
          <p:cxnSp>
            <p:nvCxnSpPr>
              <p:cNvPr id="166" name="직선 연결선 16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7" name="직선 연결선 1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4" name="그룹 153"/>
            <p:cNvGrpSpPr/>
            <p:nvPr/>
          </p:nvGrpSpPr>
          <p:grpSpPr>
            <a:xfrm>
              <a:off x="677960" y="1582647"/>
              <a:ext cx="2712027" cy="324286"/>
              <a:chOff x="677960" y="1582647"/>
              <a:chExt cx="2712027" cy="324286"/>
            </a:xfrm>
          </p:grpSpPr>
          <p:pic>
            <p:nvPicPr>
              <p:cNvPr id="161"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62" name="직선 연결선 161">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3" name="타원 162"/>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타원 163"/>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5" name="타원 164"/>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68" name="타원 167">
            <a:extLst>
              <a:ext uri="{FF2B5EF4-FFF2-40B4-BE49-F238E27FC236}">
                <a16:creationId xmlns:a16="http://schemas.microsoft.com/office/drawing/2014/main" id="{37A7FF4F-0EAA-1463-560A-D5EC24416103}"/>
              </a:ext>
            </a:extLst>
          </p:cNvPr>
          <p:cNvSpPr/>
          <p:nvPr/>
        </p:nvSpPr>
        <p:spPr>
          <a:xfrm>
            <a:off x="2851029" y="513857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146" name="직사각형 145"/>
          <p:cNvSpPr/>
          <p:nvPr/>
        </p:nvSpPr>
        <p:spPr>
          <a:xfrm>
            <a:off x="8253616"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2026-07-13 </a:t>
            </a:r>
            <a:r>
              <a:rPr lang="ko-KR" altLang="en-US" dirty="0" smtClean="0"/>
              <a:t>특이사항수정</a:t>
            </a:r>
            <a:endParaRPr lang="ko-KR" altLang="en-US" dirty="0"/>
          </a:p>
        </p:txBody>
      </p:sp>
    </p:spTree>
    <p:extLst>
      <p:ext uri="{BB962C8B-B14F-4D97-AF65-F5344CB8AC3E}">
        <p14:creationId xmlns:p14="http://schemas.microsoft.com/office/powerpoint/2010/main" val="412544375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입찰참가신청서 </a:t>
            </a:r>
            <a:r>
              <a:rPr lang="ko-KR" altLang="en-US" dirty="0"/>
              <a:t>작성 </a:t>
            </a:r>
            <a:r>
              <a:rPr lang="en-US" altLang="ko-KR" dirty="0" smtClean="0"/>
              <a:t/>
            </a:r>
            <a:br>
              <a:rPr lang="en-US" altLang="ko-KR" dirty="0" smtClean="0"/>
            </a:br>
            <a:r>
              <a:rPr lang="ko-KR" altLang="en-US" dirty="0" err="1" smtClean="0"/>
              <a:t>작성완료한</a:t>
            </a:r>
            <a:r>
              <a:rPr lang="ko-KR" altLang="en-US" dirty="0" smtClean="0"/>
              <a:t> 공고인 경우</a:t>
            </a:r>
            <a:r>
              <a:rPr lang="en-US" altLang="ko-KR" dirty="0" smtClean="0"/>
              <a:t>, </a:t>
            </a:r>
            <a:br>
              <a:rPr lang="en-US" altLang="ko-KR" dirty="0" smtClean="0"/>
            </a:br>
            <a:r>
              <a:rPr lang="ko-KR" altLang="en-US" dirty="0" err="1" smtClean="0"/>
              <a:t>ㄴ입찰포기</a:t>
            </a:r>
            <a:r>
              <a:rPr lang="en-US" altLang="ko-KR" dirty="0"/>
              <a:t>, </a:t>
            </a:r>
            <a:r>
              <a:rPr lang="ko-KR" altLang="en-US" dirty="0" err="1" smtClean="0"/>
              <a:t>입찰취소</a:t>
            </a:r>
            <a:r>
              <a:rPr lang="ko-KR" altLang="en-US" dirty="0" smtClean="0"/>
              <a:t> 버튼 노출</a:t>
            </a:r>
            <a:r>
              <a:rPr lang="en-US" altLang="ko-KR" dirty="0"/>
              <a:t/>
            </a:r>
            <a:br>
              <a:rPr lang="en-US" altLang="ko-KR" dirty="0"/>
            </a:br>
            <a:r>
              <a:rPr lang="en-US" altLang="ko-KR" dirty="0"/>
              <a:t>- </a:t>
            </a:r>
            <a:r>
              <a:rPr lang="ko-KR" altLang="en-US" dirty="0" err="1"/>
              <a:t>환율정보</a:t>
            </a:r>
            <a:r>
              <a:rPr lang="ko-KR" altLang="en-US" dirty="0"/>
              <a:t> </a:t>
            </a:r>
            <a:r>
              <a:rPr lang="en-US" altLang="ko-KR" dirty="0"/>
              <a:t/>
            </a:r>
            <a:br>
              <a:rPr lang="en-US" altLang="ko-KR" dirty="0"/>
            </a:br>
            <a:r>
              <a:rPr lang="en-US" altLang="ko-KR" dirty="0"/>
              <a:t/>
            </a:r>
            <a:br>
              <a:rPr lang="en-US" altLang="ko-KR" dirty="0"/>
            </a:br>
            <a:endParaRPr lang="ko-KR" altLang="en-US"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t>플로팅버튼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입찰 공고 신청</a:t>
            </a:r>
            <a:r>
              <a:rPr lang="en-US" altLang="ko-KR" dirty="0"/>
              <a:t>, </a:t>
            </a:r>
            <a:r>
              <a:rPr lang="ko-KR" altLang="en-US" dirty="0"/>
              <a:t>취소</a:t>
            </a:r>
            <a:r>
              <a:rPr lang="en-US" altLang="ko-KR" dirty="0"/>
              <a:t>, </a:t>
            </a:r>
            <a:r>
              <a:rPr lang="ko-KR" altLang="en-US" dirty="0" err="1"/>
              <a:t>환율정보를</a:t>
            </a:r>
            <a:r>
              <a:rPr lang="ko-KR" altLang="en-US" dirty="0"/>
              <a:t> 볼 수 있는 따라다니는 </a:t>
            </a:r>
            <a:r>
              <a:rPr lang="ko-KR" altLang="en-US" dirty="0" err="1"/>
              <a:t>플로팅</a:t>
            </a:r>
            <a:r>
              <a:rPr lang="ko-KR" altLang="en-US" dirty="0"/>
              <a:t> 버튼</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a:latin typeface="+mn-ea"/>
              </a:rPr>
              <a:t>플로팅</a:t>
            </a:r>
            <a:r>
              <a:rPr lang="ko-KR" altLang="en-US" dirty="0">
                <a:latin typeface="+mn-ea"/>
              </a:rPr>
              <a:t> 버튼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MUI-BD-01-P17</a:t>
            </a:r>
            <a:endParaRPr lang="ko-KR" altLang="en-US" dirty="0">
              <a:solidFill>
                <a:srgbClr val="000000"/>
              </a:solidFill>
              <a:latin typeface="맑은 고딕" panose="020B0503020000020004" pitchFamily="50" charset="-127"/>
            </a:endParaRPr>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123" name="직사각형 122">
            <a:extLst>
              <a:ext uri="{FF2B5EF4-FFF2-40B4-BE49-F238E27FC236}">
                <a16:creationId xmlns:a16="http://schemas.microsoft.com/office/drawing/2014/main" id="{F56F1743-11A0-EA94-9184-4E42C0A37F9C}"/>
              </a:ext>
            </a:extLst>
          </p:cNvPr>
          <p:cNvSpPr/>
          <p:nvPr/>
        </p:nvSpPr>
        <p:spPr>
          <a:xfrm>
            <a:off x="65127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양쪽 모서리가 둥근 사각형 138"/>
          <p:cNvSpPr/>
          <p:nvPr/>
        </p:nvSpPr>
        <p:spPr>
          <a:xfrm>
            <a:off x="648717"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40" name="모서리가 둥근 직사각형 139"/>
          <p:cNvSpPr/>
          <p:nvPr/>
        </p:nvSpPr>
        <p:spPr>
          <a:xfrm>
            <a:off x="1734730"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41" name="그룹 140"/>
          <p:cNvGrpSpPr/>
          <p:nvPr/>
        </p:nvGrpSpPr>
        <p:grpSpPr>
          <a:xfrm>
            <a:off x="3137656" y="3182696"/>
            <a:ext cx="94010" cy="94010"/>
            <a:chOff x="6812560" y="3297172"/>
            <a:chExt cx="94010" cy="94010"/>
          </a:xfrm>
        </p:grpSpPr>
        <p:cxnSp>
          <p:nvCxnSpPr>
            <p:cNvPr id="151" name="직선 연결선 15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42" name="TextBox 141">
            <a:extLst>
              <a:ext uri="{FF2B5EF4-FFF2-40B4-BE49-F238E27FC236}">
                <a16:creationId xmlns:a16="http://schemas.microsoft.com/office/drawing/2014/main" id="{FFC49AEA-2A8F-250C-A86A-A7751D9706C3}"/>
              </a:ext>
            </a:extLst>
          </p:cNvPr>
          <p:cNvSpPr txBox="1"/>
          <p:nvPr/>
        </p:nvSpPr>
        <p:spPr>
          <a:xfrm>
            <a:off x="777794"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648717"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타원 154">
            <a:extLst>
              <a:ext uri="{FF2B5EF4-FFF2-40B4-BE49-F238E27FC236}">
                <a16:creationId xmlns:a16="http://schemas.microsoft.com/office/drawing/2014/main" id="{37A7FF4F-0EAA-1463-560A-D5EC24416103}"/>
              </a:ext>
            </a:extLst>
          </p:cNvPr>
          <p:cNvSpPr/>
          <p:nvPr/>
        </p:nvSpPr>
        <p:spPr>
          <a:xfrm>
            <a:off x="605664" y="29232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159" name="모서리가 둥근 직사각형 40">
            <a:extLst>
              <a:ext uri="{FF2B5EF4-FFF2-40B4-BE49-F238E27FC236}">
                <a16:creationId xmlns:a16="http://schemas.microsoft.com/office/drawing/2014/main" id="{3BE5C28A-F0C3-8BA2-3AC1-EFA405ADE137}"/>
              </a:ext>
            </a:extLst>
          </p:cNvPr>
          <p:cNvSpPr/>
          <p:nvPr/>
        </p:nvSpPr>
        <p:spPr bwMode="auto">
          <a:xfrm>
            <a:off x="741020" y="3567653"/>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입찰서</a:t>
            </a:r>
            <a:r>
              <a:rPr lang="en-US" altLang="ko-KR" sz="800" dirty="0" smtClean="0">
                <a:solidFill>
                  <a:schemeClr val="bg1"/>
                </a:solidFill>
                <a:latin typeface="맑은 고딕" panose="020B0503020000020004" pitchFamily="50" charset="-127"/>
              </a:rPr>
              <a:t>(</a:t>
            </a:r>
            <a:r>
              <a:rPr lang="ko-KR" altLang="en-US" sz="800" dirty="0">
                <a:solidFill>
                  <a:schemeClr val="bg1"/>
                </a:solidFill>
                <a:latin typeface="맑은 고딕" panose="020B0503020000020004" pitchFamily="50" charset="-127"/>
              </a:rPr>
              <a:t>견적서</a:t>
            </a:r>
            <a:r>
              <a:rPr lang="en-US" altLang="ko-KR" sz="800" dirty="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 포기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0" name="사각형: 둥근 모서리 15">
            <a:extLst>
              <a:ext uri="{FF2B5EF4-FFF2-40B4-BE49-F238E27FC236}">
                <a16:creationId xmlns:a16="http://schemas.microsoft.com/office/drawing/2014/main" id="{E2B61CFB-AD16-68D0-8752-50D9C5E01971}"/>
              </a:ext>
            </a:extLst>
          </p:cNvPr>
          <p:cNvSpPr/>
          <p:nvPr/>
        </p:nvSpPr>
        <p:spPr>
          <a:xfrm>
            <a:off x="741020" y="4351397"/>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10" name="그룹 109">
            <a:extLst>
              <a:ext uri="{FF2B5EF4-FFF2-40B4-BE49-F238E27FC236}">
                <a16:creationId xmlns:a16="http://schemas.microsoft.com/office/drawing/2014/main" id="{22BC05EE-C648-7CA2-4CCC-6E1C1A7E9BDA}"/>
              </a:ext>
            </a:extLst>
          </p:cNvPr>
          <p:cNvGrpSpPr/>
          <p:nvPr/>
        </p:nvGrpSpPr>
        <p:grpSpPr>
          <a:xfrm>
            <a:off x="1985606" y="5693123"/>
            <a:ext cx="76863" cy="292489"/>
            <a:chOff x="3750067" y="4683795"/>
            <a:chExt cx="76863" cy="292489"/>
          </a:xfrm>
        </p:grpSpPr>
        <p:sp>
          <p:nvSpPr>
            <p:cNvPr id="111" name="타원 11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5" name="타원 12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46" name="모서리가 둥근 직사각형 40">
            <a:extLst>
              <a:ext uri="{FF2B5EF4-FFF2-40B4-BE49-F238E27FC236}">
                <a16:creationId xmlns:a16="http://schemas.microsoft.com/office/drawing/2014/main" id="{3BE5C28A-F0C3-8BA2-3AC1-EFA405ADE137}"/>
              </a:ext>
            </a:extLst>
          </p:cNvPr>
          <p:cNvSpPr/>
          <p:nvPr/>
        </p:nvSpPr>
        <p:spPr bwMode="auto">
          <a:xfrm>
            <a:off x="741020" y="3864737"/>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입찰서</a:t>
            </a:r>
            <a:r>
              <a:rPr lang="en-US" altLang="ko-KR" sz="800" dirty="0" smtClean="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견적서</a:t>
            </a:r>
            <a:r>
              <a:rPr lang="en-US" altLang="ko-KR" sz="800" dirty="0" smtClean="0">
                <a:solidFill>
                  <a:schemeClr val="bg1"/>
                </a:solidFill>
                <a:latin typeface="맑은 고딕" panose="020B0503020000020004" pitchFamily="50" charset="-127"/>
              </a:rPr>
              <a:t>)</a:t>
            </a:r>
            <a:r>
              <a:rPr lang="ko-KR" altLang="en-US" sz="800" dirty="0" smtClean="0">
                <a:solidFill>
                  <a:schemeClr val="bg1"/>
                </a:solidFill>
                <a:latin typeface="맑은 고딕" panose="020B0503020000020004" pitchFamily="50" charset="-127"/>
              </a:rPr>
              <a:t> 취소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12099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106</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5. </a:t>
            </a:r>
            <a:r>
              <a:rPr lang="ko-KR" altLang="en-US" dirty="0" err="1" smtClean="0"/>
              <a:t>입찰포기</a:t>
            </a:r>
            <a:r>
              <a:rPr lang="ko-KR" altLang="en-US" dirty="0" smtClean="0"/>
              <a:t> 및 </a:t>
            </a:r>
            <a:r>
              <a:rPr lang="ko-KR" altLang="en-US" dirty="0" err="1" smtClean="0"/>
              <a:t>입찰취소</a:t>
            </a:r>
            <a:r>
              <a:rPr lang="ko-KR" altLang="en-US" dirty="0" smtClean="0"/>
              <a:t> 신청서 작성</a:t>
            </a:r>
            <a:endParaRPr lang="en-US" altLang="ko-KR" dirty="0" smtClean="0"/>
          </a:p>
          <a:p>
            <a:r>
              <a:rPr lang="en-US" altLang="ko-KR" dirty="0" smtClean="0"/>
              <a:t>5.1 </a:t>
            </a:r>
            <a:r>
              <a:rPr lang="ko-KR" altLang="en-US" dirty="0" smtClean="0"/>
              <a:t>화면 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814667752"/>
              </p:ext>
            </p:extLst>
          </p:nvPr>
        </p:nvGraphicFramePr>
        <p:xfrm>
          <a:off x="635474" y="1413419"/>
          <a:ext cx="8701200" cy="133726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MUI-BD-03-P03</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700" b="0" i="0" u="none" strike="noStrike" kern="1200" dirty="0" smtClean="0">
                          <a:solidFill>
                            <a:srgbClr val="000000"/>
                          </a:solidFill>
                          <a:effectLst/>
                          <a:latin typeface="맑은 고딕" panose="020B0503020000020004" pitchFamily="50" charset="-127"/>
                          <a:ea typeface="+mn-ea"/>
                          <a:cs typeface="+mn-cs"/>
                        </a:rPr>
                        <a:t>입찰포기신청서</a:t>
                      </a:r>
                      <a:endParaRPr lang="ko-KR" altLang="en-US" sz="7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700" dirty="0" err="1">
                          <a:solidFill>
                            <a:schemeClr val="tx1"/>
                          </a:solidFill>
                          <a:latin typeface="+mn-ea"/>
                          <a:ea typeface="+mn-ea"/>
                        </a:rPr>
                        <a:t>BidAbndAperWrt</a:t>
                      </a: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입찰참가신청 후 입찰서 제출 포기</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bidPrgsDtlInqPage</a:t>
                      </a:r>
                      <a:r>
                        <a:rPr lang="en-US" altLang="ko-KR" sz="700" dirty="0">
                          <a:solidFill>
                            <a:schemeClr val="tx1"/>
                          </a:solidFill>
                          <a:latin typeface="+mn-ea"/>
                          <a:ea typeface="+mn-ea"/>
                        </a:rPr>
                        <a:t>/</a:t>
                      </a:r>
                      <a:r>
                        <a:rPr lang="en-US" altLang="ko-KR" sz="700" dirty="0" err="1">
                          <a:solidFill>
                            <a:schemeClr val="tx1"/>
                          </a:solidFill>
                          <a:latin typeface="+mn-ea"/>
                          <a:ea typeface="+mn-ea"/>
                        </a:rPr>
                        <a:t>BidAbndAperWrt.tsx</a:t>
                      </a: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700" dirty="0">
                          <a:latin typeface="+mn-ea"/>
                          <a:ea typeface="+mn-ea"/>
                        </a:rPr>
                        <a:t>UC-BD-04-01</a:t>
                      </a: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dirty="0" smtClean="0"/>
                        <a:t>MUI-BD-03-P09</a:t>
                      </a:r>
                      <a:endParaRPr lang="ko-KR" altLang="en-US" sz="700" dirty="0" smtClean="0">
                        <a:latin typeface="+mn-ea"/>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b="0" i="0" u="none" strike="noStrike" kern="1200" dirty="0" smtClean="0">
                          <a:solidFill>
                            <a:srgbClr val="000000"/>
                          </a:solidFill>
                          <a:effectLst/>
                          <a:latin typeface="맑은 고딕" panose="020B0503020000020004" pitchFamily="50" charset="-127"/>
                          <a:ea typeface="+mn-ea"/>
                          <a:cs typeface="+mn-cs"/>
                        </a:rPr>
                        <a:t>입찰포기신청서조회</a:t>
                      </a:r>
                      <a:endParaRPr lang="ko-KR" altLang="en-US" sz="7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700" dirty="0" err="1" smtClean="0">
                          <a:solidFill>
                            <a:schemeClr val="tx1"/>
                          </a:solidFill>
                          <a:latin typeface="+mn-ea"/>
                          <a:ea typeface="+mn-ea"/>
                        </a:rPr>
                        <a:t>BidAbndAperDtl</a:t>
                      </a:r>
                      <a:endParaRPr lang="en-US" sz="700" b="0" i="0" u="none" strike="noStrike" dirty="0">
                        <a:solidFill>
                          <a:srgbClr val="000000"/>
                        </a:solidFill>
                        <a:effectLst/>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700" kern="1200" dirty="0" smtClean="0">
                          <a:solidFill>
                            <a:schemeClr val="tx1"/>
                          </a:solidFill>
                          <a:latin typeface="+mn-ea"/>
                          <a:ea typeface="+mn-ea"/>
                          <a:cs typeface="+mn-cs"/>
                        </a:rPr>
                        <a:t> </a:t>
                      </a:r>
                      <a:r>
                        <a:rPr lang="ko-KR" altLang="en-US" sz="700" kern="1200" dirty="0" smtClean="0">
                          <a:solidFill>
                            <a:schemeClr val="tx1"/>
                          </a:solidFill>
                          <a:latin typeface="+mn-ea"/>
                          <a:ea typeface="+mn-ea"/>
                          <a:cs typeface="+mn-cs"/>
                        </a:rPr>
                        <a:t>입찰 </a:t>
                      </a:r>
                      <a:r>
                        <a:rPr lang="ko-KR" altLang="en-US" sz="700" kern="1200" dirty="0" err="1" smtClean="0">
                          <a:solidFill>
                            <a:schemeClr val="tx1"/>
                          </a:solidFill>
                          <a:latin typeface="+mn-ea"/>
                          <a:ea typeface="+mn-ea"/>
                          <a:cs typeface="+mn-cs"/>
                        </a:rPr>
                        <a:t>참가신청후</a:t>
                      </a:r>
                      <a:r>
                        <a:rPr lang="ko-KR" altLang="en-US" sz="700" kern="1200" dirty="0" smtClean="0">
                          <a:solidFill>
                            <a:schemeClr val="tx1"/>
                          </a:solidFill>
                          <a:latin typeface="+mn-ea"/>
                          <a:ea typeface="+mn-ea"/>
                          <a:cs typeface="+mn-cs"/>
                        </a:rPr>
                        <a:t> 입찰서 제출 포기 신청 내용 </a:t>
                      </a:r>
                      <a:r>
                        <a:rPr lang="ko-KR" altLang="en-US" sz="700" kern="1200" dirty="0" err="1" smtClean="0">
                          <a:solidFill>
                            <a:schemeClr val="tx1"/>
                          </a:solidFill>
                          <a:latin typeface="+mn-ea"/>
                          <a:ea typeface="+mn-ea"/>
                          <a:cs typeface="+mn-cs"/>
                        </a:rPr>
                        <a:t>조회화면</a:t>
                      </a: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700" dirty="0" err="1" smtClean="0">
                          <a:solidFill>
                            <a:schemeClr val="tx1"/>
                          </a:solidFill>
                          <a:latin typeface="+mn-ea"/>
                          <a:ea typeface="+mn-ea"/>
                        </a:rPr>
                        <a:t>src</a:t>
                      </a:r>
                      <a:r>
                        <a:rPr lang="en-US" altLang="ko-KR" sz="700" dirty="0" smtClean="0">
                          <a:solidFill>
                            <a:schemeClr val="tx1"/>
                          </a:solidFill>
                          <a:latin typeface="+mn-ea"/>
                          <a:ea typeface="+mn-ea"/>
                        </a:rPr>
                        <a:t>/</a:t>
                      </a:r>
                      <a:r>
                        <a:rPr lang="en-US" altLang="ko-KR" sz="700" dirty="0" err="1" smtClean="0">
                          <a:solidFill>
                            <a:schemeClr val="tx1"/>
                          </a:solidFill>
                          <a:latin typeface="+mn-ea"/>
                          <a:ea typeface="+mn-ea"/>
                        </a:rPr>
                        <a:t>ui</a:t>
                      </a:r>
                      <a:r>
                        <a:rPr lang="en-US" altLang="ko-KR" sz="700" dirty="0" smtClean="0">
                          <a:solidFill>
                            <a:schemeClr val="tx1"/>
                          </a:solidFill>
                          <a:latin typeface="+mn-ea"/>
                          <a:ea typeface="+mn-ea"/>
                        </a:rPr>
                        <a:t>/biz/</a:t>
                      </a:r>
                      <a:r>
                        <a:rPr lang="en-US" altLang="ko-KR" sz="700" dirty="0" err="1" smtClean="0">
                          <a:solidFill>
                            <a:schemeClr val="tx1"/>
                          </a:solidFill>
                          <a:latin typeface="+mn-ea"/>
                          <a:ea typeface="+mn-ea"/>
                        </a:rPr>
                        <a:t>bd</a:t>
                      </a:r>
                      <a:r>
                        <a:rPr lang="en-US" altLang="ko-KR" sz="700" dirty="0" smtClean="0">
                          <a:solidFill>
                            <a:schemeClr val="tx1"/>
                          </a:solidFill>
                          <a:latin typeface="+mn-ea"/>
                          <a:ea typeface="+mn-ea"/>
                        </a:rPr>
                        <a:t>/</a:t>
                      </a:r>
                      <a:r>
                        <a:rPr lang="en-US" altLang="ko-KR" sz="700" dirty="0" err="1" smtClean="0">
                          <a:solidFill>
                            <a:schemeClr val="tx1"/>
                          </a:solidFill>
                          <a:latin typeface="+mn-ea"/>
                          <a:ea typeface="+mn-ea"/>
                        </a:rPr>
                        <a:t>bidPrgsDtlInqPage</a:t>
                      </a:r>
                      <a:r>
                        <a:rPr lang="en-US" altLang="ko-KR" sz="700" dirty="0" smtClean="0">
                          <a:solidFill>
                            <a:schemeClr val="tx1"/>
                          </a:solidFill>
                          <a:latin typeface="+mn-ea"/>
                          <a:ea typeface="+mn-ea"/>
                        </a:rPr>
                        <a:t>/</a:t>
                      </a:r>
                      <a:r>
                        <a:rPr lang="en-US" altLang="ko-KR" sz="700" dirty="0" err="1" smtClean="0">
                          <a:solidFill>
                            <a:schemeClr val="tx1"/>
                          </a:solidFill>
                          <a:latin typeface="+mn-ea"/>
                          <a:ea typeface="+mn-ea"/>
                        </a:rPr>
                        <a:t>BidAbndAperDtl.tsx</a:t>
                      </a: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smtClean="0">
                          <a:latin typeface="+mn-ea"/>
                          <a:ea typeface="+mn-ea"/>
                        </a:rPr>
                        <a:t>UC-BD-04-01</a:t>
                      </a: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5685885"/>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MUI-BD-03-P04</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700" b="0" i="0" u="none" strike="noStrike" kern="1200" dirty="0" smtClean="0">
                          <a:solidFill>
                            <a:srgbClr val="000000"/>
                          </a:solidFill>
                          <a:effectLst/>
                          <a:latin typeface="맑은 고딕" panose="020B0503020000020004" pitchFamily="50" charset="-127"/>
                          <a:ea typeface="+mn-ea"/>
                          <a:cs typeface="+mn-cs"/>
                        </a:rPr>
                        <a:t>입찰취소신청서</a:t>
                      </a:r>
                      <a:endParaRPr lang="ko-KR" altLang="en-US" sz="7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err="1">
                          <a:solidFill>
                            <a:schemeClr val="tx1"/>
                          </a:solidFill>
                          <a:latin typeface="+mn-ea"/>
                          <a:ea typeface="+mn-ea"/>
                        </a:rPr>
                        <a:t>BidRtrcnAperInq</a:t>
                      </a: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작성한 입찰서 취소 및 취소 신청서 작성</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bidPrgsDtlInqPage</a:t>
                      </a:r>
                      <a:r>
                        <a:rPr lang="en-US" altLang="ko-KR" sz="700" dirty="0">
                          <a:solidFill>
                            <a:schemeClr val="tx1"/>
                          </a:solidFill>
                          <a:latin typeface="+mn-ea"/>
                          <a:ea typeface="+mn-ea"/>
                        </a:rPr>
                        <a:t>/</a:t>
                      </a:r>
                      <a:r>
                        <a:rPr lang="en-US" altLang="ko-KR" sz="700" dirty="0" err="1">
                          <a:solidFill>
                            <a:schemeClr val="tx1"/>
                          </a:solidFill>
                          <a:latin typeface="+mn-ea"/>
                          <a:ea typeface="+mn-ea"/>
                        </a:rPr>
                        <a:t>BidRtrcnAperInq.tsx</a:t>
                      </a: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700" dirty="0" smtClean="0">
                          <a:latin typeface="+mn-ea"/>
                          <a:ea typeface="+mn-ea"/>
                        </a:rPr>
                        <a:t>UC-BD-04-01</a:t>
                      </a: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845524264"/>
                  </a:ext>
                </a:extLst>
              </a:tr>
              <a:tr h="180000">
                <a:tc>
                  <a:txBody>
                    <a:bodyPr/>
                    <a:lstStyle/>
                    <a:p>
                      <a:pPr algn="l" fontAlgn="ctr"/>
                      <a:r>
                        <a:rPr lang="en-US" altLang="ko-KR" sz="700" dirty="0" smtClean="0"/>
                        <a:t>MUI-BD-03-P10</a:t>
                      </a:r>
                      <a:endParaRPr 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700" b="0" i="0" u="none" strike="noStrike" kern="1200" dirty="0" smtClean="0">
                          <a:solidFill>
                            <a:srgbClr val="000000"/>
                          </a:solidFill>
                          <a:effectLst/>
                          <a:latin typeface="맑은 고딕" panose="020B0503020000020004" pitchFamily="50" charset="-127"/>
                          <a:ea typeface="+mn-ea"/>
                          <a:cs typeface="+mn-cs"/>
                        </a:rPr>
                        <a:t>입찰취소신청서조회</a:t>
                      </a:r>
                      <a:endParaRPr lang="ko-KR" altLang="en-US" sz="7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700" dirty="0" err="1" smtClean="0">
                          <a:solidFill>
                            <a:schemeClr val="tx1"/>
                          </a:solidFill>
                          <a:latin typeface="+mn-ea"/>
                          <a:ea typeface="+mn-ea"/>
                        </a:rPr>
                        <a:t>BidRtrcnAperInqDtl</a:t>
                      </a:r>
                      <a:endParaRPr lang="en-US" sz="700" b="0" i="0" u="none" strike="noStrike" dirty="0">
                        <a:solidFill>
                          <a:srgbClr val="000000"/>
                        </a:solidFill>
                        <a:effectLst/>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700" kern="1200" dirty="0" smtClean="0">
                          <a:solidFill>
                            <a:schemeClr val="tx1"/>
                          </a:solidFill>
                          <a:latin typeface="+mn-ea"/>
                          <a:ea typeface="+mn-ea"/>
                          <a:cs typeface="+mn-cs"/>
                        </a:rPr>
                        <a:t> </a:t>
                      </a:r>
                      <a:r>
                        <a:rPr lang="ko-KR" altLang="en-US" sz="700" kern="1200" dirty="0" smtClean="0">
                          <a:solidFill>
                            <a:schemeClr val="tx1"/>
                          </a:solidFill>
                          <a:latin typeface="+mn-ea"/>
                          <a:ea typeface="+mn-ea"/>
                          <a:cs typeface="+mn-cs"/>
                        </a:rPr>
                        <a:t>입찰 참가 취소 신청서 조회 화면</a:t>
                      </a:r>
                      <a:endParaRPr lang="ko-KR" altLang="en-US" sz="7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700" dirty="0" err="1" smtClean="0">
                          <a:solidFill>
                            <a:schemeClr val="tx1"/>
                          </a:solidFill>
                          <a:latin typeface="+mn-ea"/>
                          <a:ea typeface="+mn-ea"/>
                        </a:rPr>
                        <a:t>src</a:t>
                      </a:r>
                      <a:r>
                        <a:rPr lang="en-US" altLang="ko-KR" sz="700" dirty="0" smtClean="0">
                          <a:solidFill>
                            <a:schemeClr val="tx1"/>
                          </a:solidFill>
                          <a:latin typeface="+mn-ea"/>
                          <a:ea typeface="+mn-ea"/>
                        </a:rPr>
                        <a:t>/</a:t>
                      </a:r>
                      <a:r>
                        <a:rPr lang="en-US" altLang="ko-KR" sz="700" dirty="0" err="1" smtClean="0">
                          <a:solidFill>
                            <a:schemeClr val="tx1"/>
                          </a:solidFill>
                          <a:latin typeface="+mn-ea"/>
                          <a:ea typeface="+mn-ea"/>
                        </a:rPr>
                        <a:t>ui</a:t>
                      </a:r>
                      <a:r>
                        <a:rPr lang="en-US" altLang="ko-KR" sz="700" dirty="0" smtClean="0">
                          <a:solidFill>
                            <a:schemeClr val="tx1"/>
                          </a:solidFill>
                          <a:latin typeface="+mn-ea"/>
                          <a:ea typeface="+mn-ea"/>
                        </a:rPr>
                        <a:t>/biz/</a:t>
                      </a:r>
                      <a:r>
                        <a:rPr lang="en-US" altLang="ko-KR" sz="700" dirty="0" err="1" smtClean="0">
                          <a:solidFill>
                            <a:schemeClr val="tx1"/>
                          </a:solidFill>
                          <a:latin typeface="+mn-ea"/>
                          <a:ea typeface="+mn-ea"/>
                        </a:rPr>
                        <a:t>bd</a:t>
                      </a:r>
                      <a:r>
                        <a:rPr lang="en-US" altLang="ko-KR" sz="700" dirty="0" smtClean="0">
                          <a:solidFill>
                            <a:schemeClr val="tx1"/>
                          </a:solidFill>
                          <a:latin typeface="+mn-ea"/>
                          <a:ea typeface="+mn-ea"/>
                        </a:rPr>
                        <a:t>/</a:t>
                      </a:r>
                      <a:r>
                        <a:rPr lang="en-US" altLang="ko-KR" sz="700" dirty="0" err="1" smtClean="0">
                          <a:solidFill>
                            <a:schemeClr val="tx1"/>
                          </a:solidFill>
                          <a:latin typeface="+mn-ea"/>
                          <a:ea typeface="+mn-ea"/>
                        </a:rPr>
                        <a:t>bidPrgsDtlInqPage</a:t>
                      </a:r>
                      <a:r>
                        <a:rPr lang="en-US" altLang="ko-KR" sz="700" dirty="0" smtClean="0">
                          <a:solidFill>
                            <a:schemeClr val="tx1"/>
                          </a:solidFill>
                          <a:latin typeface="+mn-ea"/>
                          <a:ea typeface="+mn-ea"/>
                        </a:rPr>
                        <a:t>/</a:t>
                      </a:r>
                      <a:r>
                        <a:rPr lang="en-US" altLang="ko-KR" sz="700" dirty="0" err="1" smtClean="0">
                          <a:solidFill>
                            <a:schemeClr val="tx1"/>
                          </a:solidFill>
                          <a:latin typeface="+mn-ea"/>
                          <a:ea typeface="+mn-ea"/>
                        </a:rPr>
                        <a:t>BidRtrcnAperInqDtl.tsx</a:t>
                      </a:r>
                      <a:endParaRPr lang="ko-KR" altLang="en-US" sz="7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700" dirty="0" smtClean="0">
                          <a:latin typeface="+mn-ea"/>
                          <a:ea typeface="+mn-ea"/>
                        </a:rPr>
                        <a:t>UC-BD-04-01</a:t>
                      </a:r>
                      <a:endParaRPr lang="ko-KR" altLang="en-US" sz="7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464168277"/>
                  </a:ext>
                </a:extLst>
              </a:tr>
            </a:tbl>
          </a:graphicData>
        </a:graphic>
      </p:graphicFrame>
      <p:sp>
        <p:nvSpPr>
          <p:cNvPr id="6"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56595811"/>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입찰서</a:t>
            </a:r>
            <a:r>
              <a:rPr lang="en-US" altLang="ko-KR" dirty="0" smtClean="0"/>
              <a:t>(</a:t>
            </a:r>
            <a:r>
              <a:rPr lang="ko-KR" altLang="en-US" dirty="0" smtClean="0"/>
              <a:t>견적서</a:t>
            </a:r>
            <a:r>
              <a:rPr lang="en-US" altLang="ko-KR" dirty="0" smtClean="0"/>
              <a:t>) </a:t>
            </a:r>
            <a:r>
              <a:rPr lang="ko-KR" altLang="en-US" dirty="0" smtClean="0"/>
              <a:t>작성 이후 포기하는 화면</a:t>
            </a:r>
            <a:r>
              <a:rPr lang="en-US" altLang="ko-KR" dirty="0" smtClean="0"/>
              <a:t/>
            </a:r>
            <a:br>
              <a:rPr lang="en-US" altLang="ko-KR" dirty="0" smtClean="0"/>
            </a:br>
            <a:r>
              <a:rPr lang="en-US" altLang="ko-KR" dirty="0" smtClean="0"/>
              <a:t>- </a:t>
            </a:r>
            <a:r>
              <a:rPr lang="ko-KR" altLang="en-US" dirty="0" smtClean="0"/>
              <a:t>제출하면 되돌릴 수 없음</a:t>
            </a:r>
            <a:r>
              <a:rPr lang="en-US" altLang="ko-KR" dirty="0" smtClean="0"/>
              <a:t>.</a:t>
            </a:r>
          </a:p>
          <a:p>
            <a:pPr marL="228600" indent="-228600">
              <a:buFont typeface="+mj-lt"/>
              <a:buAutoNum type="arabicPeriod"/>
            </a:pPr>
            <a:r>
              <a:rPr lang="ko-KR" altLang="en-US" dirty="0" smtClean="0"/>
              <a:t>제출하는 날짜 정보 표시</a:t>
            </a:r>
            <a:r>
              <a:rPr lang="en-US" altLang="ko-KR" dirty="0" smtClean="0"/>
              <a:t/>
            </a:r>
            <a:br>
              <a:rPr lang="en-US" altLang="ko-KR" dirty="0" smtClean="0"/>
            </a:br>
            <a:r>
              <a:rPr lang="ko-KR" altLang="en-US" dirty="0" err="1" smtClean="0"/>
              <a:t>공고주체</a:t>
            </a:r>
            <a:r>
              <a:rPr lang="ko-KR" altLang="en-US" dirty="0" smtClean="0"/>
              <a:t> 정보 표시</a:t>
            </a:r>
            <a:endParaRPr lang="en-US" altLang="ko-KR" dirty="0" smtClean="0"/>
          </a:p>
          <a:p>
            <a:pPr marL="228600" indent="-228600">
              <a:buFont typeface="+mj-lt"/>
              <a:buAutoNum type="arabicPeriod"/>
            </a:pPr>
            <a:r>
              <a:rPr lang="ko-KR" altLang="en-US" dirty="0" err="1" smtClean="0"/>
              <a:t>입찰방법이</a:t>
            </a:r>
            <a:r>
              <a:rPr lang="ko-KR" altLang="en-US" dirty="0" smtClean="0"/>
              <a:t> </a:t>
            </a:r>
            <a:r>
              <a:rPr lang="ko-KR" altLang="en-US" dirty="0" err="1" smtClean="0"/>
              <a:t>단가제인</a:t>
            </a:r>
            <a:r>
              <a:rPr lang="ko-KR" altLang="en-US" dirty="0" smtClean="0"/>
              <a:t> 경우 번호 노출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입찰포기신청서작성</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입찰포기신청서 작성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입찰포기신청서작성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pPr fontAlgn="ctr"/>
            <a:r>
              <a:rPr lang="en-US" altLang="ko-KR" dirty="0" smtClean="0">
                <a:latin typeface="+mn-ea"/>
              </a:rPr>
              <a:t>MUI-BD-03-P03</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1604667"/>
            <a:ext cx="2712027" cy="4637202"/>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1635065"/>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1769481"/>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1750160"/>
            <a:ext cx="1798758" cy="138499"/>
          </a:xfrm>
          <a:prstGeom prst="rect">
            <a:avLst/>
          </a:prstGeom>
          <a:noFill/>
        </p:spPr>
        <p:txBody>
          <a:bodyPr wrap="square" lIns="0" tIns="0" rIns="0" bIns="0" rtlCol="0">
            <a:spAutoFit/>
          </a:bodyPr>
          <a:lstStyle/>
          <a:p>
            <a:r>
              <a:rPr lang="ko-KR" altLang="en-US" sz="900" dirty="0">
                <a:latin typeface="+mn-ea"/>
              </a:rPr>
              <a:t>입찰포기신청서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0115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88933" y="2241679"/>
            <a:ext cx="1798758" cy="138499"/>
          </a:xfrm>
          <a:prstGeom prst="rect">
            <a:avLst/>
          </a:prstGeom>
          <a:noFill/>
        </p:spPr>
        <p:txBody>
          <a:bodyPr wrap="square" lIns="0" tIns="0" rIns="0" bIns="0" rtlCol="0">
            <a:spAutoFit/>
          </a:bodyPr>
          <a:lstStyle/>
          <a:p>
            <a:r>
              <a:rPr lang="ko-KR" altLang="en-US" sz="900" dirty="0">
                <a:latin typeface="+mn-ea"/>
              </a:rPr>
              <a:t>입찰포기신청서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r>
              <a:rPr lang="en-US" altLang="ko-KR" sz="700" dirty="0">
                <a:latin typeface="+mn-ea"/>
              </a:rPr>
              <a:t>/</a:t>
            </a:r>
            <a:r>
              <a:rPr lang="ko-KR" altLang="en-US" sz="700" dirty="0" err="1">
                <a:latin typeface="+mn-ea"/>
              </a:rPr>
              <a:t>공사번호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76" name="그룹 175">
            <a:extLst>
              <a:ext uri="{FF2B5EF4-FFF2-40B4-BE49-F238E27FC236}">
                <a16:creationId xmlns:a16="http://schemas.microsoft.com/office/drawing/2014/main" id="{22BC05EE-C648-7CA2-4CCC-6E1C1A7E9BDA}"/>
              </a:ext>
            </a:extLst>
          </p:cNvPr>
          <p:cNvGrpSpPr/>
          <p:nvPr/>
        </p:nvGrpSpPr>
        <p:grpSpPr>
          <a:xfrm>
            <a:off x="5132807" y="4022293"/>
            <a:ext cx="76863" cy="292489"/>
            <a:chOff x="3750067" y="4683795"/>
            <a:chExt cx="76863" cy="292489"/>
          </a:xfrm>
        </p:grpSpPr>
        <p:sp>
          <p:nvSpPr>
            <p:cNvPr id="177" name="타원 1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8" name="타원 1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9" name="타원 1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3843514" y="4378191"/>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81" name="모서리가 둥근 직사각형 180"/>
          <p:cNvSpPr/>
          <p:nvPr/>
        </p:nvSpPr>
        <p:spPr>
          <a:xfrm>
            <a:off x="3859820" y="4658117"/>
            <a:ext cx="2579992" cy="886075"/>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4831850"/>
            <a:ext cx="2305144" cy="538609"/>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포기합니다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197" name="직사각형 196"/>
          <p:cNvSpPr/>
          <p:nvPr/>
        </p:nvSpPr>
        <p:spPr>
          <a:xfrm>
            <a:off x="3837494" y="2275947"/>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275947"/>
            <a:ext cx="725552" cy="1723549"/>
          </a:xfrm>
          <a:prstGeom prst="rect">
            <a:avLst/>
          </a:prstGeom>
          <a:noFill/>
        </p:spPr>
        <p:txBody>
          <a:bodyPr wrap="square" lIns="0" tIns="0" rIns="0" bIns="0" rtlCol="0">
            <a:spAutoFit/>
          </a:bodyPr>
          <a:lstStyle/>
          <a:p>
            <a:pPr>
              <a:lnSpc>
                <a:spcPct val="200000"/>
              </a:lnSpc>
            </a:pPr>
            <a:r>
              <a:rPr lang="ko-KR" altLang="en-US" sz="700" dirty="0" smtClean="0">
                <a:latin typeface="+mn-ea"/>
              </a:rPr>
              <a:t>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681406" y="2275947"/>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00" name="그룹 199"/>
          <p:cNvGrpSpPr/>
          <p:nvPr/>
        </p:nvGrpSpPr>
        <p:grpSpPr>
          <a:xfrm>
            <a:off x="3835401" y="2275947"/>
            <a:ext cx="2630093" cy="1723549"/>
            <a:chOff x="701175" y="1835481"/>
            <a:chExt cx="2630093" cy="1723549"/>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8" name="모서리가 둥근 직사각형 357"/>
          <p:cNvSpPr/>
          <p:nvPr/>
        </p:nvSpPr>
        <p:spPr>
          <a:xfrm rot="5400000">
            <a:off x="5782577" y="4393865"/>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01840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80" name="타원 79">
            <a:extLst>
              <a:ext uri="{FF2B5EF4-FFF2-40B4-BE49-F238E27FC236}">
                <a16:creationId xmlns:a16="http://schemas.microsoft.com/office/drawing/2014/main" id="{37A7FF4F-0EAA-1463-560A-D5EC24416103}"/>
              </a:ext>
            </a:extLst>
          </p:cNvPr>
          <p:cNvSpPr/>
          <p:nvPr/>
        </p:nvSpPr>
        <p:spPr>
          <a:xfrm>
            <a:off x="3701232" y="50654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82" name="타원 81">
            <a:extLst>
              <a:ext uri="{FF2B5EF4-FFF2-40B4-BE49-F238E27FC236}">
                <a16:creationId xmlns:a16="http://schemas.microsoft.com/office/drawing/2014/main" id="{37A7FF4F-0EAA-1463-560A-D5EC24416103}"/>
              </a:ext>
            </a:extLst>
          </p:cNvPr>
          <p:cNvSpPr/>
          <p:nvPr/>
        </p:nvSpPr>
        <p:spPr>
          <a:xfrm>
            <a:off x="3784439" y="228610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Tree>
    <p:extLst>
      <p:ext uri="{BB962C8B-B14F-4D97-AF65-F5344CB8AC3E}">
        <p14:creationId xmlns:p14="http://schemas.microsoft.com/office/powerpoint/2010/main" val="232927717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smtClean="0"/>
              <a:t>상태값이</a:t>
            </a:r>
            <a:r>
              <a:rPr lang="ko-KR" altLang="en-US" dirty="0" smtClean="0"/>
              <a:t> 입찰 포기 인 경우</a:t>
            </a:r>
            <a:r>
              <a:rPr lang="en-US" altLang="ko-KR" dirty="0"/>
              <a:t/>
            </a:r>
            <a:br>
              <a:rPr lang="en-US" altLang="ko-KR" dirty="0"/>
            </a:br>
            <a:r>
              <a:rPr lang="en-US" altLang="ko-KR" dirty="0" smtClean="0"/>
              <a:t>- </a:t>
            </a:r>
            <a:r>
              <a:rPr lang="ko-KR" altLang="en-US" dirty="0" smtClean="0"/>
              <a:t>작성한 입찰포기신청서를 호출하여</a:t>
            </a:r>
            <a:r>
              <a:rPr lang="en-US" altLang="ko-KR" dirty="0" smtClean="0"/>
              <a:t/>
            </a:r>
            <a:br>
              <a:rPr lang="en-US" altLang="ko-KR" dirty="0" smtClean="0"/>
            </a:br>
            <a:r>
              <a:rPr lang="ko-KR" altLang="en-US" dirty="0" smtClean="0"/>
              <a:t>팝업으로 노출</a:t>
            </a:r>
            <a:endParaRPr lang="en-US" altLang="ko-KR" dirty="0" smtClean="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입찰포기신청서조회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입찰포기신청서 </a:t>
            </a:r>
            <a:r>
              <a:rPr lang="ko-KR" altLang="en-US" dirty="0" smtClean="0"/>
              <a:t>조회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smtClean="0">
                <a:latin typeface="+mn-ea"/>
              </a:rPr>
              <a:t>입찰포기신청서조회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pPr fontAlgn="ctr"/>
            <a:r>
              <a:rPr lang="en-US" altLang="ko-KR" dirty="0"/>
              <a:t>MUI-BD-03-P09</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1604667"/>
            <a:ext cx="2712027" cy="4637202"/>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1635065"/>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1769481"/>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1750160"/>
            <a:ext cx="1798758" cy="138499"/>
          </a:xfrm>
          <a:prstGeom prst="rect">
            <a:avLst/>
          </a:prstGeom>
          <a:noFill/>
        </p:spPr>
        <p:txBody>
          <a:bodyPr wrap="square" lIns="0" tIns="0" rIns="0" bIns="0" rtlCol="0">
            <a:spAutoFit/>
          </a:bodyPr>
          <a:lstStyle/>
          <a:p>
            <a:r>
              <a:rPr lang="ko-KR" altLang="en-US" sz="900" dirty="0">
                <a:latin typeface="+mn-ea"/>
              </a:rPr>
              <a:t>입찰포기신청서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0115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88933" y="2241679"/>
            <a:ext cx="1798758" cy="138499"/>
          </a:xfrm>
          <a:prstGeom prst="rect">
            <a:avLst/>
          </a:prstGeom>
          <a:noFill/>
        </p:spPr>
        <p:txBody>
          <a:bodyPr wrap="square" lIns="0" tIns="0" rIns="0" bIns="0" rtlCol="0">
            <a:spAutoFit/>
          </a:bodyPr>
          <a:lstStyle/>
          <a:p>
            <a:r>
              <a:rPr lang="ko-KR" altLang="en-US" sz="900" dirty="0">
                <a:latin typeface="+mn-ea"/>
              </a:rPr>
              <a:t>입찰포기신청서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r>
              <a:rPr lang="en-US" altLang="ko-KR" sz="700" dirty="0">
                <a:latin typeface="+mn-ea"/>
              </a:rPr>
              <a:t>/</a:t>
            </a:r>
            <a:r>
              <a:rPr lang="ko-KR" altLang="en-US" sz="700" dirty="0" err="1">
                <a:latin typeface="+mn-ea"/>
              </a:rPr>
              <a:t>공사번호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76" name="그룹 175">
            <a:extLst>
              <a:ext uri="{FF2B5EF4-FFF2-40B4-BE49-F238E27FC236}">
                <a16:creationId xmlns:a16="http://schemas.microsoft.com/office/drawing/2014/main" id="{22BC05EE-C648-7CA2-4CCC-6E1C1A7E9BDA}"/>
              </a:ext>
            </a:extLst>
          </p:cNvPr>
          <p:cNvGrpSpPr/>
          <p:nvPr/>
        </p:nvGrpSpPr>
        <p:grpSpPr>
          <a:xfrm>
            <a:off x="5132807" y="4319804"/>
            <a:ext cx="76863" cy="292489"/>
            <a:chOff x="3750067" y="4683795"/>
            <a:chExt cx="76863" cy="292489"/>
          </a:xfrm>
        </p:grpSpPr>
        <p:sp>
          <p:nvSpPr>
            <p:cNvPr id="177" name="타원 1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8" name="타원 1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9" name="타원 1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3843514" y="5021451"/>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81" name="모서리가 둥근 직사각형 180"/>
          <p:cNvSpPr/>
          <p:nvPr/>
        </p:nvSpPr>
        <p:spPr>
          <a:xfrm>
            <a:off x="3859820" y="5301377"/>
            <a:ext cx="2579992" cy="886075"/>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5475110"/>
            <a:ext cx="2305144" cy="538609"/>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포기합니다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197" name="직사각형 196"/>
          <p:cNvSpPr/>
          <p:nvPr/>
        </p:nvSpPr>
        <p:spPr>
          <a:xfrm>
            <a:off x="3837494" y="2275947"/>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275947"/>
            <a:ext cx="725552" cy="1723549"/>
          </a:xfrm>
          <a:prstGeom prst="rect">
            <a:avLst/>
          </a:prstGeom>
          <a:noFill/>
        </p:spPr>
        <p:txBody>
          <a:bodyPr wrap="square" lIns="0" tIns="0" rIns="0" bIns="0" rtlCol="0">
            <a:spAutoFit/>
          </a:bodyPr>
          <a:lstStyle/>
          <a:p>
            <a:pPr>
              <a:lnSpc>
                <a:spcPct val="200000"/>
              </a:lnSpc>
            </a:pPr>
            <a:r>
              <a:rPr lang="ko-KR" altLang="en-US" sz="700" dirty="0" smtClean="0">
                <a:latin typeface="+mn-ea"/>
              </a:rPr>
              <a:t>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681406" y="2275947"/>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00" name="그룹 199"/>
          <p:cNvGrpSpPr/>
          <p:nvPr/>
        </p:nvGrpSpPr>
        <p:grpSpPr>
          <a:xfrm>
            <a:off x="3835401" y="2275947"/>
            <a:ext cx="2630093" cy="1723549"/>
            <a:chOff x="701175" y="1835481"/>
            <a:chExt cx="2630093" cy="1723549"/>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8" name="모서리가 둥근 직사각형 357"/>
          <p:cNvSpPr/>
          <p:nvPr/>
        </p:nvSpPr>
        <p:spPr>
          <a:xfrm rot="5400000">
            <a:off x="5782577" y="4393865"/>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01840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76" name="직사각형 75"/>
          <p:cNvSpPr/>
          <p:nvPr/>
        </p:nvSpPr>
        <p:spPr>
          <a:xfrm>
            <a:off x="8223250"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2026-07-15 </a:t>
            </a:r>
            <a:r>
              <a:rPr lang="ko-KR" altLang="en-US" dirty="0" err="1" smtClean="0"/>
              <a:t>화면추가</a:t>
            </a:r>
            <a:endParaRPr lang="ko-KR" altLang="en-US" dirty="0"/>
          </a:p>
        </p:txBody>
      </p:sp>
    </p:spTree>
    <p:extLst>
      <p:ext uri="{BB962C8B-B14F-4D97-AF65-F5344CB8AC3E}">
        <p14:creationId xmlns:p14="http://schemas.microsoft.com/office/powerpoint/2010/main" val="214647009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109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bl>
          </a:graphicData>
        </a:graphic>
      </p:graphicFrame>
      <p:sp>
        <p:nvSpPr>
          <p:cNvPr id="4" name="TextBox 3">
            <a:extLst>
              <a:ext uri="{FF2B5EF4-FFF2-40B4-BE49-F238E27FC236}">
                <a16:creationId xmlns:a16="http://schemas.microsoft.com/office/drawing/2014/main" id="{7E629CCF-A9E0-CB28-6B33-88629597C422}"/>
              </a:ext>
            </a:extLst>
          </p:cNvPr>
          <p:cNvSpPr txBox="1"/>
          <p:nvPr/>
        </p:nvSpPr>
        <p:spPr>
          <a:xfrm>
            <a:off x="452291" y="5118062"/>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5" name="표 4">
            <a:extLst>
              <a:ext uri="{FF2B5EF4-FFF2-40B4-BE49-F238E27FC236}">
                <a16:creationId xmlns:a16="http://schemas.microsoft.com/office/drawing/2014/main" id="{FB5D07D1-0B08-23C2-B52D-CACE42A3CDAA}"/>
              </a:ext>
            </a:extLst>
          </p:cNvPr>
          <p:cNvGraphicFramePr>
            <a:graphicFrameLocks noGrp="1"/>
          </p:cNvGraphicFramePr>
          <p:nvPr/>
        </p:nvGraphicFramePr>
        <p:xfrm>
          <a:off x="452292" y="5352172"/>
          <a:ext cx="8996300" cy="114144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입찰포기신청서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scwin.btn_bidAbndApfrSbmsn_onclick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입찰포기신청서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해당 입찰공고에 다시 입찰 불가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032434"/>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입찰포기신청서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3057026"/>
                  </a:ext>
                </a:extLst>
              </a:tr>
            </a:tbl>
          </a:graphicData>
        </a:graphic>
      </p:graphicFrame>
      <p:sp>
        <p:nvSpPr>
          <p:cNvPr id="2" name="TextBox 1">
            <a:extLst>
              <a:ext uri="{FF2B5EF4-FFF2-40B4-BE49-F238E27FC236}">
                <a16:creationId xmlns:a16="http://schemas.microsoft.com/office/drawing/2014/main" id="{6D9151FA-A795-8400-BA33-6B3FDBFB02D4}"/>
              </a:ext>
            </a:extLst>
          </p:cNvPr>
          <p:cNvSpPr txBox="1"/>
          <p:nvPr/>
        </p:nvSpPr>
        <p:spPr>
          <a:xfrm>
            <a:off x="458115" y="2820173"/>
            <a:ext cx="245636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품목내역 목록 데이터 영역 </a:t>
            </a:r>
            <a:r>
              <a:rPr lang="en-US" altLang="ko-KR" sz="900" b="1" dirty="0">
                <a:solidFill>
                  <a:prstClr val="black"/>
                </a:solidFill>
              </a:rPr>
              <a:t>(</a:t>
            </a:r>
            <a:r>
              <a:rPr lang="en-US" altLang="ko-KR" sz="900" b="1" dirty="0" err="1">
                <a:solidFill>
                  <a:prstClr val="black"/>
                </a:solidFill>
              </a:rPr>
              <a:t>dlt_itemList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D1A28356-E450-23EB-9D48-0512C61174E4}"/>
              </a:ext>
            </a:extLst>
          </p:cNvPr>
          <p:cNvGraphicFramePr>
            <a:graphicFrameLocks noGrp="1"/>
          </p:cNvGraphicFramePr>
          <p:nvPr/>
        </p:nvGraphicFramePr>
        <p:xfrm>
          <a:off x="452997" y="3033991"/>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입찰방법이 단가제인 경우 보이기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군급분류코드</a:t>
                      </a:r>
                      <a:r>
                        <a:rPr lang="en-US" altLang="ko-KR" sz="800" dirty="0">
                          <a:latin typeface="+mn-ea"/>
                          <a:ea typeface="+mn-ea"/>
                        </a:rPr>
                        <a:t>, </a:t>
                      </a:r>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군급분류코드</a:t>
                      </a:r>
                      <a:r>
                        <a:rPr lang="en-US" altLang="ko-KR" sz="800" dirty="0">
                          <a:latin typeface="+mn-ea"/>
                          <a:ea typeface="+mn-ea"/>
                        </a:rPr>
                        <a:t>+</a:t>
                      </a:r>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a:latin typeface="+mn-ea"/>
                          <a:ea typeface="+mn-ea"/>
                        </a:rPr>
                        <a:t>단위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a:latin typeface="+mn-ea"/>
                          <a:ea typeface="+mn-ea"/>
                        </a:rPr>
                        <a:t>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a:latin typeface="+mn-ea"/>
                          <a:ea typeface="+mn-ea"/>
                        </a:rPr>
                        <a:t>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sp>
        <p:nvSpPr>
          <p:cNvPr id="8" name="Text Box 73">
            <a:extLst>
              <a:ext uri="{FF2B5EF4-FFF2-40B4-BE49-F238E27FC236}">
                <a16:creationId xmlns:a16="http://schemas.microsoft.com/office/drawing/2014/main" id="{CF2BB7F5-E2DF-3D20-92BA-884705E8C6B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49F10F53-A8AD-9ADD-420D-F397D72AC277}"/>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4403849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입찰서</a:t>
            </a:r>
            <a:r>
              <a:rPr lang="en-US" altLang="ko-KR" dirty="0"/>
              <a:t>(</a:t>
            </a:r>
            <a:r>
              <a:rPr lang="ko-KR" altLang="en-US" dirty="0"/>
              <a:t>견적서</a:t>
            </a:r>
            <a:r>
              <a:rPr lang="en-US" altLang="ko-KR" dirty="0"/>
              <a:t>) </a:t>
            </a:r>
            <a:r>
              <a:rPr lang="ko-KR" altLang="en-US" dirty="0"/>
              <a:t>작성 이후 </a:t>
            </a:r>
            <a:r>
              <a:rPr lang="ko-KR" altLang="en-US" dirty="0" smtClean="0"/>
              <a:t>취소하는 </a:t>
            </a:r>
            <a:r>
              <a:rPr lang="ko-KR" altLang="en-US" dirty="0"/>
              <a:t>화면</a:t>
            </a:r>
            <a:r>
              <a:rPr lang="en-US" altLang="ko-KR" dirty="0"/>
              <a:t/>
            </a:r>
            <a:br>
              <a:rPr lang="en-US" altLang="ko-KR" dirty="0"/>
            </a:br>
            <a:r>
              <a:rPr lang="en-US" altLang="ko-KR" dirty="0"/>
              <a:t>- </a:t>
            </a:r>
            <a:r>
              <a:rPr lang="ko-KR" altLang="en-US" dirty="0"/>
              <a:t>제출하면 되돌릴 수 없음</a:t>
            </a:r>
            <a:r>
              <a:rPr lang="en-US" altLang="ko-KR" dirty="0" smtClean="0"/>
              <a:t>.</a:t>
            </a:r>
          </a:p>
          <a:p>
            <a:pPr marL="228600" indent="-228600">
              <a:buFont typeface="+mj-lt"/>
              <a:buAutoNum type="arabicPeriod"/>
            </a:pPr>
            <a:r>
              <a:rPr lang="ko-KR" altLang="en-US" dirty="0" smtClean="0"/>
              <a:t>입력 영역</a:t>
            </a:r>
            <a:endParaRPr lang="en-US" altLang="ko-KR" dirty="0"/>
          </a:p>
          <a:p>
            <a:pPr marL="228600" indent="-228600">
              <a:buFont typeface="+mj-lt"/>
              <a:buAutoNum type="arabicPeriod"/>
            </a:pPr>
            <a:r>
              <a:rPr lang="ko-KR" altLang="en-US" dirty="0"/>
              <a:t>제출하는 날짜 정보 표시</a:t>
            </a:r>
            <a:r>
              <a:rPr lang="en-US" altLang="ko-KR" dirty="0"/>
              <a:t/>
            </a:r>
            <a:br>
              <a:rPr lang="en-US" altLang="ko-KR" dirty="0"/>
            </a:br>
            <a:r>
              <a:rPr lang="ko-KR" altLang="en-US" dirty="0" err="1"/>
              <a:t>공고주체</a:t>
            </a:r>
            <a:r>
              <a:rPr lang="ko-KR" altLang="en-US" dirty="0"/>
              <a:t>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입찰취소신청서</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입찰취소신청서 작성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입찰취소신청서작성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MUI-BD-03-P04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입찰취소신청서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입찰취소신청서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r>
              <a:rPr lang="en-US" altLang="ko-KR" sz="700" dirty="0">
                <a:latin typeface="+mn-ea"/>
              </a:rPr>
              <a:t>/</a:t>
            </a:r>
            <a:r>
              <a:rPr lang="ko-KR" altLang="en-US" sz="700" dirty="0" err="1">
                <a:latin typeface="+mn-ea"/>
              </a:rPr>
              <a:t>공사번호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1" name="모서리가 둥근 직사각형 180"/>
          <p:cNvSpPr/>
          <p:nvPr/>
        </p:nvSpPr>
        <p:spPr>
          <a:xfrm>
            <a:off x="3859820" y="4503918"/>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4674698"/>
            <a:ext cx="2305144" cy="646331"/>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779801"/>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grpSp>
        <p:nvGrpSpPr>
          <p:cNvPr id="200" name="그룹 199"/>
          <p:cNvGrpSpPr/>
          <p:nvPr/>
        </p:nvGrpSpPr>
        <p:grpSpPr>
          <a:xfrm>
            <a:off x="3835401" y="2778927"/>
            <a:ext cx="2630093" cy="1553280"/>
            <a:chOff x="701175" y="1835481"/>
            <a:chExt cx="2630093" cy="1553280"/>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3388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522263"/>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sp>
        <p:nvSpPr>
          <p:cNvPr id="66" name="타원 65">
            <a:extLst>
              <a:ext uri="{FF2B5EF4-FFF2-40B4-BE49-F238E27FC236}">
                <a16:creationId xmlns:a16="http://schemas.microsoft.com/office/drawing/2014/main" id="{37A7FF4F-0EAA-1463-560A-D5EC24416103}"/>
              </a:ext>
            </a:extLst>
          </p:cNvPr>
          <p:cNvSpPr/>
          <p:nvPr/>
        </p:nvSpPr>
        <p:spPr>
          <a:xfrm>
            <a:off x="3689671" y="49468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67" name="타원 66">
            <a:extLst>
              <a:ext uri="{FF2B5EF4-FFF2-40B4-BE49-F238E27FC236}">
                <a16:creationId xmlns:a16="http://schemas.microsoft.com/office/drawing/2014/main" id="{37A7FF4F-0EAA-1463-560A-D5EC24416103}"/>
              </a:ext>
            </a:extLst>
          </p:cNvPr>
          <p:cNvSpPr/>
          <p:nvPr/>
        </p:nvSpPr>
        <p:spPr>
          <a:xfrm>
            <a:off x="3689671" y="324963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82264093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입찰서</a:t>
            </a:r>
            <a:r>
              <a:rPr lang="en-US" altLang="ko-KR" dirty="0"/>
              <a:t>(</a:t>
            </a:r>
            <a:r>
              <a:rPr lang="ko-KR" altLang="en-US" dirty="0"/>
              <a:t>견적서</a:t>
            </a:r>
            <a:r>
              <a:rPr lang="en-US" altLang="ko-KR" dirty="0"/>
              <a:t>) </a:t>
            </a:r>
            <a:r>
              <a:rPr lang="ko-KR" altLang="en-US" dirty="0"/>
              <a:t>작성 이후 </a:t>
            </a:r>
            <a:r>
              <a:rPr lang="ko-KR" altLang="en-US" dirty="0" smtClean="0"/>
              <a:t>취소하는 </a:t>
            </a:r>
            <a:r>
              <a:rPr lang="ko-KR" altLang="en-US" dirty="0"/>
              <a:t>화면</a:t>
            </a:r>
            <a:r>
              <a:rPr lang="en-US" altLang="ko-KR" dirty="0"/>
              <a:t/>
            </a:r>
            <a:br>
              <a:rPr lang="en-US" altLang="ko-KR" dirty="0"/>
            </a:br>
            <a:r>
              <a:rPr lang="en-US" altLang="ko-KR" dirty="0"/>
              <a:t>- </a:t>
            </a:r>
            <a:r>
              <a:rPr lang="ko-KR" altLang="en-US" dirty="0"/>
              <a:t>제출하면 되돌릴 수 없음</a:t>
            </a:r>
            <a:r>
              <a:rPr lang="en-US" altLang="ko-KR" dirty="0" smtClean="0"/>
              <a:t>.</a:t>
            </a:r>
          </a:p>
          <a:p>
            <a:pPr marL="228600" indent="-228600">
              <a:buFont typeface="+mj-lt"/>
              <a:buAutoNum type="arabicPeriod"/>
            </a:pPr>
            <a:r>
              <a:rPr lang="ko-KR" altLang="en-US" dirty="0" smtClean="0"/>
              <a:t>입력 영역</a:t>
            </a:r>
            <a:endParaRPr lang="en-US" altLang="ko-KR" dirty="0"/>
          </a:p>
          <a:p>
            <a:pPr marL="228600" indent="-228600">
              <a:buFont typeface="+mj-lt"/>
              <a:buAutoNum type="arabicPeriod"/>
            </a:pPr>
            <a:r>
              <a:rPr lang="ko-KR" altLang="en-US" dirty="0"/>
              <a:t>제출하는 날짜 정보 표시</a:t>
            </a:r>
            <a:r>
              <a:rPr lang="en-US" altLang="ko-KR" dirty="0"/>
              <a:t/>
            </a:r>
            <a:br>
              <a:rPr lang="en-US" altLang="ko-KR" dirty="0"/>
            </a:br>
            <a:r>
              <a:rPr lang="ko-KR" altLang="en-US" dirty="0" err="1"/>
              <a:t>공고주체</a:t>
            </a:r>
            <a:r>
              <a:rPr lang="ko-KR" altLang="en-US" dirty="0"/>
              <a:t>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입찰취소신청서조회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입찰취소신청서 </a:t>
            </a:r>
            <a:r>
              <a:rPr lang="ko-KR" altLang="en-US" dirty="0" smtClean="0"/>
              <a:t>조회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smtClean="0">
                <a:latin typeface="+mn-ea"/>
              </a:rPr>
              <a:t>입찰취소신청서조회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MUI-BD-03-P10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입찰취소신청서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입찰취소신청서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r>
              <a:rPr lang="en-US" altLang="ko-KR" sz="700" dirty="0">
                <a:latin typeface="+mn-ea"/>
              </a:rPr>
              <a:t>/</a:t>
            </a:r>
            <a:r>
              <a:rPr lang="ko-KR" altLang="en-US" sz="700" dirty="0" err="1">
                <a:latin typeface="+mn-ea"/>
              </a:rPr>
              <a:t>공사번호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1" name="모서리가 둥근 직사각형 180"/>
          <p:cNvSpPr/>
          <p:nvPr/>
        </p:nvSpPr>
        <p:spPr>
          <a:xfrm>
            <a:off x="3859820" y="5106423"/>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5277203"/>
            <a:ext cx="2305144" cy="646331"/>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779801"/>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grpSp>
        <p:nvGrpSpPr>
          <p:cNvPr id="200" name="그룹 199"/>
          <p:cNvGrpSpPr/>
          <p:nvPr/>
        </p:nvGrpSpPr>
        <p:grpSpPr>
          <a:xfrm>
            <a:off x="3835401" y="2778926"/>
            <a:ext cx="2630093" cy="2289609"/>
            <a:chOff x="701175" y="1835481"/>
            <a:chExt cx="2630093" cy="1553280"/>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3388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8" name="모서리가 둥근 직사각형 357"/>
          <p:cNvSpPr/>
          <p:nvPr/>
        </p:nvSpPr>
        <p:spPr>
          <a:xfrm rot="5400000">
            <a:off x="5782577" y="550022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522263"/>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sp>
        <p:nvSpPr>
          <p:cNvPr id="66" name="타원 65">
            <a:extLst>
              <a:ext uri="{FF2B5EF4-FFF2-40B4-BE49-F238E27FC236}">
                <a16:creationId xmlns:a16="http://schemas.microsoft.com/office/drawing/2014/main" id="{37A7FF4F-0EAA-1463-560A-D5EC24416103}"/>
              </a:ext>
            </a:extLst>
          </p:cNvPr>
          <p:cNvSpPr/>
          <p:nvPr/>
        </p:nvSpPr>
        <p:spPr>
          <a:xfrm>
            <a:off x="3689671" y="554930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67" name="타원 66">
            <a:extLst>
              <a:ext uri="{FF2B5EF4-FFF2-40B4-BE49-F238E27FC236}">
                <a16:creationId xmlns:a16="http://schemas.microsoft.com/office/drawing/2014/main" id="{37A7FF4F-0EAA-1463-560A-D5EC24416103}"/>
              </a:ext>
            </a:extLst>
          </p:cNvPr>
          <p:cNvSpPr/>
          <p:nvPr/>
        </p:nvSpPr>
        <p:spPr>
          <a:xfrm>
            <a:off x="3689671" y="324963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65" name="직사각형 64"/>
          <p:cNvSpPr/>
          <p:nvPr/>
        </p:nvSpPr>
        <p:spPr>
          <a:xfrm>
            <a:off x="8223250"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2026-07-15 </a:t>
            </a:r>
            <a:r>
              <a:rPr lang="ko-KR" altLang="en-US" dirty="0" err="1" smtClean="0"/>
              <a:t>화면추가</a:t>
            </a:r>
            <a:endParaRPr lang="ko-KR" altLang="en-US" dirty="0"/>
          </a:p>
        </p:txBody>
      </p:sp>
    </p:spTree>
    <p:extLst>
      <p:ext uri="{BB962C8B-B14F-4D97-AF65-F5344CB8AC3E}">
        <p14:creationId xmlns:p14="http://schemas.microsoft.com/office/powerpoint/2010/main" val="4554109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112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bl>
          </a:graphicData>
        </a:graphic>
      </p:graphicFrame>
      <p:sp>
        <p:nvSpPr>
          <p:cNvPr id="4" name="TextBox 3">
            <a:extLst>
              <a:ext uri="{FF2B5EF4-FFF2-40B4-BE49-F238E27FC236}">
                <a16:creationId xmlns:a16="http://schemas.microsoft.com/office/drawing/2014/main" id="{7E629CCF-A9E0-CB28-6B33-88629597C422}"/>
              </a:ext>
            </a:extLst>
          </p:cNvPr>
          <p:cNvSpPr txBox="1"/>
          <p:nvPr/>
        </p:nvSpPr>
        <p:spPr>
          <a:xfrm>
            <a:off x="452291" y="3827144"/>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5" name="표 4">
            <a:extLst>
              <a:ext uri="{FF2B5EF4-FFF2-40B4-BE49-F238E27FC236}">
                <a16:creationId xmlns:a16="http://schemas.microsoft.com/office/drawing/2014/main" id="{FB5D07D1-0B08-23C2-B52D-CACE42A3CDAA}"/>
              </a:ext>
            </a:extLst>
          </p:cNvPr>
          <p:cNvGraphicFramePr>
            <a:graphicFrameLocks noGrp="1"/>
          </p:cNvGraphicFramePr>
          <p:nvPr/>
        </p:nvGraphicFramePr>
        <p:xfrm>
          <a:off x="452292" y="4061254"/>
          <a:ext cx="8996300" cy="114144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입찰취소신청서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scwin.btn_bidRtrcnApfrSbmsn_onclick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입찰취소신청서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해당 입찰공고에 다시 입찰 불가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032434"/>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입찰취소신청서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3057026"/>
                  </a:ext>
                </a:extLst>
              </a:tr>
            </a:tbl>
          </a:graphicData>
        </a:graphic>
      </p:graphicFrame>
      <p:sp>
        <p:nvSpPr>
          <p:cNvPr id="2" name="TextBox 1">
            <a:extLst>
              <a:ext uri="{FF2B5EF4-FFF2-40B4-BE49-F238E27FC236}">
                <a16:creationId xmlns:a16="http://schemas.microsoft.com/office/drawing/2014/main" id="{6D9151FA-A795-8400-BA33-6B3FDBFB02D4}"/>
              </a:ext>
            </a:extLst>
          </p:cNvPr>
          <p:cNvSpPr txBox="1"/>
          <p:nvPr/>
        </p:nvSpPr>
        <p:spPr>
          <a:xfrm>
            <a:off x="458115" y="2820173"/>
            <a:ext cx="2738498"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영역 </a:t>
            </a:r>
            <a:r>
              <a:rPr lang="en-US" altLang="ko-KR" sz="900" b="1" dirty="0">
                <a:solidFill>
                  <a:prstClr val="black"/>
                </a:solidFill>
              </a:rPr>
              <a:t>(</a:t>
            </a:r>
            <a:r>
              <a:rPr lang="en-US" altLang="ko-KR" sz="900" b="1" dirty="0" err="1">
                <a:solidFill>
                  <a:prstClr val="black"/>
                </a:solidFill>
              </a:rPr>
              <a:t>dmt_bidRtrcnAplyRsn</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D1A28356-E450-23EB-9D48-0512C61174E4}"/>
              </a:ext>
            </a:extLst>
          </p:cNvPr>
          <p:cNvGraphicFramePr>
            <a:graphicFrameLocks noGrp="1"/>
          </p:cNvGraphicFramePr>
          <p:nvPr/>
        </p:nvGraphicFramePr>
        <p:xfrm>
          <a:off x="452997" y="3033991"/>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bidRtrcnAplyRsn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입찰취소신청 취소사유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8" name="Text Box 73">
            <a:extLst>
              <a:ext uri="{FF2B5EF4-FFF2-40B4-BE49-F238E27FC236}">
                <a16:creationId xmlns:a16="http://schemas.microsoft.com/office/drawing/2014/main" id="{3BC7F79D-55A4-3267-AD34-4BB9D76D0A0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849D03C3-295D-A535-628D-D64D33CAFED4}"/>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176854080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113</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6</a:t>
            </a:r>
            <a:r>
              <a:rPr lang="en-US" altLang="ko-KR" dirty="0" smtClean="0"/>
              <a:t>. </a:t>
            </a:r>
            <a:r>
              <a:rPr lang="ko-KR" altLang="en-US" dirty="0">
                <a:latin typeface="+mn-ea"/>
              </a:rPr>
              <a:t>입찰참가신청서작성</a:t>
            </a:r>
            <a:endParaRPr lang="en-US" altLang="ko-KR" dirty="0"/>
          </a:p>
          <a:p>
            <a:r>
              <a:rPr lang="en-US" altLang="ko-KR" dirty="0"/>
              <a:t>6</a:t>
            </a:r>
            <a:r>
              <a:rPr lang="en-US" altLang="ko-KR" dirty="0" smtClean="0"/>
              <a:t>.1 </a:t>
            </a:r>
            <a:r>
              <a:rPr lang="ko-KR" altLang="en-US" dirty="0"/>
              <a:t>화면 목록 </a:t>
            </a:r>
            <a:r>
              <a:rPr lang="en-US" altLang="ko-KR" dirty="0"/>
              <a:t>(1/4)</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334095150"/>
              </p:ext>
            </p:extLst>
          </p:nvPr>
        </p:nvGraphicFramePr>
        <p:xfrm>
          <a:off x="635474" y="1413419"/>
          <a:ext cx="8701200" cy="40815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서약서동의</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WrotAgrePage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서약서 동의 목록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wrotAgrePage</a:t>
                      </a:r>
                      <a:r>
                        <a:rPr lang="en-US" altLang="ko-KR" sz="900" dirty="0">
                          <a:solidFill>
                            <a:schemeClr val="tx1"/>
                          </a:solidFill>
                          <a:latin typeface="+mn-ea"/>
                          <a:ea typeface="+mn-ea"/>
                        </a:rPr>
                        <a:t>/</a:t>
                      </a:r>
                      <a:r>
                        <a:rPr lang="en-US" altLang="ko-KR" sz="900" dirty="0" err="1">
                          <a:solidFill>
                            <a:schemeClr val="tx1"/>
                          </a:solidFill>
                          <a:latin typeface="+mn-ea"/>
                          <a:ea typeface="+mn-ea"/>
                        </a:rPr>
                        <a:t>WrotAgrePage.tsx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MUI-BD-04-P02</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서약서</a:t>
                      </a:r>
                      <a:r>
                        <a:rPr lang="en-US" altLang="ko-KR" sz="800" kern="1200" dirty="0">
                          <a:solidFill>
                            <a:schemeClr val="tx1"/>
                          </a:solidFill>
                          <a:latin typeface="+mn-ea"/>
                          <a:ea typeface="+mn-ea"/>
                          <a:cs typeface="+mn-cs"/>
                        </a:rPr>
                        <a:t>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WrotAgrePage_Wrot1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조세포탈 사실 없음 서약서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/wrot1/Wrot1.tsx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3402361"/>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MUI-BD-04-P03</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서약서</a:t>
                      </a:r>
                      <a:r>
                        <a:rPr lang="en-US" altLang="ko-KR" sz="800" kern="1200" dirty="0">
                          <a:solidFill>
                            <a:schemeClr val="tx1"/>
                          </a:solidFill>
                          <a:latin typeface="+mn-ea"/>
                          <a:ea typeface="+mn-ea"/>
                          <a:cs typeface="+mn-cs"/>
                        </a:rPr>
                        <a:t>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WrotAgrePage_Wrot2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청렴이행서약서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/wrot1/Wrot2.tsx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113193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MUI-BD-04-P04</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서약서</a:t>
                      </a:r>
                      <a:r>
                        <a:rPr lang="en-US" altLang="ko-KR" sz="800" kern="1200" dirty="0">
                          <a:solidFill>
                            <a:schemeClr val="tx1"/>
                          </a:solidFill>
                          <a:latin typeface="+mn-ea"/>
                          <a:ea typeface="+mn-ea"/>
                          <a:cs typeface="+mn-cs"/>
                        </a:rPr>
                        <a:t>3</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WrotAgrePage_Wrot3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행정정보공동이용 동의서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/wrot1/Wrot3.tsx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8999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MUI-BD-04-M05</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latin typeface="+mn-ea"/>
                        </a:rPr>
                        <a:t>입찰참가신청서작성 </a:t>
                      </a:r>
                      <a:r>
                        <a:rPr lang="en-US" altLang="ko-KR" sz="800" dirty="0" smtClean="0">
                          <a:latin typeface="+mn-ea"/>
                        </a:rPr>
                        <a:t>- </a:t>
                      </a:r>
                      <a:r>
                        <a:rPr lang="ko-KR" altLang="en-US" sz="800" dirty="0" smtClean="0">
                          <a:latin typeface="+mn-ea"/>
                        </a:rPr>
                        <a:t>일반정보</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a:t>
                      </a:r>
                      <a:r>
                        <a:rPr lang="ko-KR" altLang="en-US" sz="800" kern="1200" dirty="0">
                          <a:solidFill>
                            <a:schemeClr val="tx1"/>
                          </a:solidFill>
                          <a:latin typeface="+mn-ea"/>
                          <a:ea typeface="+mn-ea"/>
                          <a:cs typeface="+mn-cs"/>
                        </a:rPr>
                        <a:t>일반정보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/stp1/Stp1.tsx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145050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MUI-BD-04-M06</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latin typeface="+mn-ea"/>
                        </a:rPr>
                        <a:t>입찰참가신청서작성 </a:t>
                      </a:r>
                      <a:r>
                        <a:rPr lang="en-US" altLang="ko-KR" sz="800" dirty="0" smtClean="0">
                          <a:latin typeface="+mn-ea"/>
                        </a:rPr>
                        <a:t>- </a:t>
                      </a:r>
                      <a:r>
                        <a:rPr lang="ko-KR" altLang="en-US" sz="800" dirty="0" err="1" smtClean="0">
                          <a:latin typeface="+mn-ea"/>
                        </a:rPr>
                        <a:t>품목내역</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a:t>
                      </a:r>
                      <a:r>
                        <a:rPr lang="ko-KR" altLang="en-US" sz="800" kern="1200" dirty="0" err="1">
                          <a:solidFill>
                            <a:schemeClr val="tx1"/>
                          </a:solidFill>
                          <a:latin typeface="+mn-ea"/>
                          <a:ea typeface="+mn-ea"/>
                          <a:cs typeface="+mn-cs"/>
                        </a:rPr>
                        <a:t>품목내역</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/stp2/Stp2.tsx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5404555"/>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MUI-BD-04-M07</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latin typeface="+mn-ea"/>
                        </a:rPr>
                        <a:t>입찰참가신청서작성 </a:t>
                      </a:r>
                      <a:r>
                        <a:rPr lang="en-US" altLang="ko-KR" sz="800" dirty="0" smtClean="0">
                          <a:latin typeface="+mn-ea"/>
                        </a:rPr>
                        <a:t>– </a:t>
                      </a:r>
                      <a:r>
                        <a:rPr lang="ko-KR" altLang="en-US" sz="800" dirty="0" err="1" smtClean="0">
                          <a:latin typeface="+mn-ea"/>
                        </a:rPr>
                        <a:t>공종및면허</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a:t>
                      </a:r>
                      <a:r>
                        <a:rPr lang="ko-KR" altLang="en-US" sz="800" kern="1200" dirty="0" err="1">
                          <a:solidFill>
                            <a:schemeClr val="tx1"/>
                          </a:solidFill>
                          <a:latin typeface="+mn-ea"/>
                          <a:ea typeface="+mn-ea"/>
                          <a:cs typeface="+mn-cs"/>
                        </a:rPr>
                        <a:t>공종</a:t>
                      </a:r>
                      <a:r>
                        <a:rPr lang="ko-KR" altLang="en-US" sz="800" kern="1200" dirty="0">
                          <a:solidFill>
                            <a:schemeClr val="tx1"/>
                          </a:solidFill>
                          <a:latin typeface="+mn-ea"/>
                          <a:ea typeface="+mn-ea"/>
                          <a:cs typeface="+mn-cs"/>
                        </a:rPr>
                        <a:t> 및 면허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/stp3/Stp3.tsx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170475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MUI-BD-04-M08</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latin typeface="+mn-ea"/>
                        </a:rPr>
                        <a:t>입찰참가신청서작성 </a:t>
                      </a:r>
                      <a:r>
                        <a:rPr lang="en-US" altLang="ko-KR" sz="800" dirty="0" smtClean="0">
                          <a:latin typeface="+mn-ea"/>
                        </a:rPr>
                        <a:t>– </a:t>
                      </a:r>
                      <a:r>
                        <a:rPr lang="ko-KR" altLang="en-US" sz="800" dirty="0" smtClean="0">
                          <a:latin typeface="+mn-ea"/>
                        </a:rPr>
                        <a:t>입찰보증금</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a:t>
                      </a:r>
                      <a:r>
                        <a:rPr lang="ko-KR" altLang="en-US" sz="800" kern="1200" dirty="0">
                          <a:solidFill>
                            <a:schemeClr val="tx1"/>
                          </a:solidFill>
                          <a:latin typeface="+mn-ea"/>
                          <a:ea typeface="+mn-ea"/>
                          <a:cs typeface="+mn-cs"/>
                        </a:rPr>
                        <a:t>입찰보증금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/stp4/Stp4.tsx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645890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MUI-BD-04-P09</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latin typeface="+mn-ea"/>
                        </a:rPr>
                        <a:t>입찰참가신청서작성 </a:t>
                      </a:r>
                      <a:r>
                        <a:rPr lang="en-US" altLang="ko-KR" sz="800" dirty="0" smtClean="0">
                          <a:latin typeface="+mn-ea"/>
                        </a:rPr>
                        <a:t>– </a:t>
                      </a:r>
                      <a:r>
                        <a:rPr lang="ko-KR" altLang="en-US" sz="800" dirty="0" smtClean="0">
                          <a:latin typeface="+mn-ea"/>
                        </a:rPr>
                        <a:t>면제여부상세</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ExmptnYnDtl</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면제여부</a:t>
                      </a:r>
                      <a:r>
                        <a:rPr lang="ko-KR" altLang="en-US" sz="800" kern="1200" dirty="0">
                          <a:solidFill>
                            <a:schemeClr val="tx1"/>
                          </a:solidFill>
                          <a:latin typeface="+mn-ea"/>
                          <a:ea typeface="+mn-ea"/>
                          <a:cs typeface="+mn-cs"/>
                        </a:rPr>
                        <a:t> 설명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exmptnYnDtl</a:t>
                      </a:r>
                      <a:r>
                        <a:rPr lang="en-US" altLang="ko-KR" sz="900" dirty="0">
                          <a:solidFill>
                            <a:schemeClr val="tx1"/>
                          </a:solidFill>
                          <a:latin typeface="+mn-ea"/>
                          <a:ea typeface="+mn-ea"/>
                        </a:rPr>
                        <a:t>/</a:t>
                      </a:r>
                      <a:r>
                        <a:rPr lang="en-US" altLang="ko-KR" sz="900" dirty="0" err="1">
                          <a:solidFill>
                            <a:schemeClr val="tx1"/>
                          </a:solidFill>
                          <a:latin typeface="+mn-ea"/>
                          <a:ea typeface="+mn-ea"/>
                        </a:rPr>
                        <a:t>ExmptnYnDtl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4316780"/>
                  </a:ext>
                </a:extLst>
              </a:tr>
              <a:tr h="180000">
                <a:tc>
                  <a:txBody>
                    <a:bodyPr/>
                    <a:lstStyle/>
                    <a:p>
                      <a:pPr algn="l" fontAlgn="ctr"/>
                      <a:r>
                        <a:rPr lang="en-US" altLang="ko-KR" sz="700" kern="1200" dirty="0">
                          <a:solidFill>
                            <a:schemeClr val="tx1"/>
                          </a:solidFill>
                          <a:latin typeface="+mn-ea"/>
                          <a:ea typeface="+mn-ea"/>
                          <a:cs typeface="+mn-cs"/>
                        </a:rPr>
                        <a:t>MUI-BD-04-P11</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smtClean="0">
                          <a:latin typeface="+mn-ea"/>
                        </a:rPr>
                        <a:t>입찰참가신청서작성 </a:t>
                      </a:r>
                      <a:r>
                        <a:rPr lang="en-US" altLang="ko-KR" sz="800" dirty="0" smtClean="0">
                          <a:latin typeface="+mn-ea"/>
                        </a:rPr>
                        <a:t>– </a:t>
                      </a:r>
                      <a:r>
                        <a:rPr lang="ko-KR" altLang="en-US" sz="800" dirty="0" err="1" smtClean="0">
                          <a:latin typeface="+mn-ea"/>
                        </a:rPr>
                        <a:t>업체검색</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RegBzentySrch</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등록업체 검색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t>
                      </a:r>
                      <a:r>
                        <a:rPr lang="en-US" altLang="ko-KR" sz="800" dirty="0" err="1">
                          <a:solidFill>
                            <a:schemeClr val="tx1"/>
                          </a:solidFill>
                          <a:latin typeface="+mn-ea"/>
                          <a:ea typeface="+mn-ea"/>
                        </a:rPr>
                        <a:t>RegBzentySrch.tsx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4509018"/>
                  </a:ext>
                </a:extLst>
              </a:tr>
              <a:tr h="180000">
                <a:tc>
                  <a:txBody>
                    <a:bodyPr/>
                    <a:lstStyle/>
                    <a:p>
                      <a:pPr algn="l" fontAlgn="ctr"/>
                      <a:r>
                        <a:rPr lang="en-US" altLang="ko-KR" sz="700" kern="1200" dirty="0">
                          <a:solidFill>
                            <a:schemeClr val="tx1"/>
                          </a:solidFill>
                          <a:latin typeface="+mn-ea"/>
                          <a:ea typeface="+mn-ea"/>
                          <a:cs typeface="+mn-cs"/>
                        </a:rPr>
                        <a:t>MUI-BD-04-M12</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smtClean="0">
                          <a:solidFill>
                            <a:schemeClr val="tx1"/>
                          </a:solidFill>
                          <a:latin typeface="+mn-ea"/>
                          <a:ea typeface="+mn-ea"/>
                          <a:cs typeface="+mn-cs"/>
                        </a:rPr>
                        <a:t>스탭 </a:t>
                      </a:r>
                      <a:r>
                        <a:rPr lang="en-US" altLang="ko-KR" sz="800" kern="1200" smtClean="0">
                          <a:solidFill>
                            <a:schemeClr val="tx1"/>
                          </a:solidFill>
                          <a:latin typeface="+mn-ea"/>
                          <a:ea typeface="+mn-ea"/>
                          <a:cs typeface="+mn-cs"/>
                        </a:rPr>
                        <a:t>6 - </a:t>
                      </a:r>
                      <a:r>
                        <a:rPr lang="ko-KR" altLang="en-US" sz="800" kern="1200" smtClean="0">
                          <a:solidFill>
                            <a:schemeClr val="tx1"/>
                          </a:solidFill>
                          <a:latin typeface="+mn-ea"/>
                          <a:ea typeface="+mn-ea"/>
                          <a:cs typeface="+mn-cs"/>
                        </a:rPr>
                        <a:t>파일첨부</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BidPrtcpAperWrtPage_Stp6</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6 </a:t>
                      </a:r>
                      <a:r>
                        <a:rPr lang="ko-KR" altLang="en-US" sz="800" kern="1200" dirty="0">
                          <a:solidFill>
                            <a:schemeClr val="tx1"/>
                          </a:solidFill>
                          <a:latin typeface="+mn-ea"/>
                          <a:ea typeface="+mn-ea"/>
                          <a:cs typeface="+mn-cs"/>
                        </a:rPr>
                        <a:t>파일첨부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/Stp6Page.tsx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8757815"/>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1362783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114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6. </a:t>
            </a:r>
            <a:r>
              <a:rPr lang="ko-KR" altLang="en-US" dirty="0">
                <a:latin typeface="+mn-ea"/>
              </a:rPr>
              <a:t>입찰참가신청서작성</a:t>
            </a:r>
            <a:endParaRPr lang="en-US" altLang="ko-KR" dirty="0"/>
          </a:p>
          <a:p>
            <a:r>
              <a:rPr lang="en-US" altLang="ko-KR" dirty="0"/>
              <a:t>6.1 </a:t>
            </a:r>
            <a:r>
              <a:rPr lang="ko-KR" altLang="en-US" dirty="0"/>
              <a:t>화면 목록 </a:t>
            </a:r>
            <a:r>
              <a:rPr lang="en-US" altLang="ko-KR" dirty="0"/>
              <a:t>(1/4)</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560802419"/>
              </p:ext>
            </p:extLst>
          </p:nvPr>
        </p:nvGraphicFramePr>
        <p:xfrm>
          <a:off x="635474" y="1413419"/>
          <a:ext cx="8701200" cy="34041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700" kern="1200" dirty="0">
                          <a:solidFill>
                            <a:schemeClr val="tx1"/>
                          </a:solidFill>
                          <a:latin typeface="+mn-ea"/>
                          <a:ea typeface="+mn-ea"/>
                          <a:cs typeface="+mn-cs"/>
                        </a:rPr>
                        <a:t>MUI-BD-04-P13</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캐비닛 연결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err="1">
                          <a:solidFill>
                            <a:schemeClr val="tx1"/>
                          </a:solidFill>
                          <a:latin typeface="+mn-ea"/>
                          <a:ea typeface="+mn-ea"/>
                        </a:rPr>
                        <a:t>CabinetLink</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err="1">
                          <a:solidFill>
                            <a:schemeClr val="tx1"/>
                          </a:solidFill>
                          <a:latin typeface="+mn-ea"/>
                          <a:ea typeface="+mn-ea"/>
                          <a:cs typeface="+mn-cs"/>
                        </a:rPr>
                        <a:t>클라우드</a:t>
                      </a:r>
                      <a:r>
                        <a:rPr lang="ko-KR" altLang="en-US" sz="700" kern="1200" dirty="0">
                          <a:solidFill>
                            <a:schemeClr val="tx1"/>
                          </a:solidFill>
                          <a:latin typeface="+mn-ea"/>
                          <a:ea typeface="+mn-ea"/>
                          <a:cs typeface="+mn-cs"/>
                        </a:rPr>
                        <a:t> 파일 캐비닛 연결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a:t>
                      </a:r>
                      <a:r>
                        <a:rPr lang="en-US" altLang="ko-KR" sz="700" dirty="0" err="1">
                          <a:solidFill>
                            <a:schemeClr val="tx1"/>
                          </a:solidFill>
                          <a:latin typeface="+mn-ea"/>
                          <a:ea typeface="+mn-ea"/>
                        </a:rPr>
                        <a:t>CabinetLink.tsx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MUI-BD-04-M10</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공동수급업체</a:t>
                      </a: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latin typeface="+mn-ea"/>
                          <a:ea typeface="+mn-ea"/>
                        </a:rPr>
                        <a:t>BidPrtcpAperWrtPage_Stp5</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입찰참가신청서 </a:t>
                      </a:r>
                      <a:r>
                        <a:rPr lang="en-US" altLang="ko-KR" sz="700" kern="1200" dirty="0">
                          <a:solidFill>
                            <a:schemeClr val="tx1"/>
                          </a:solidFill>
                          <a:latin typeface="+mn-ea"/>
                          <a:ea typeface="+mn-ea"/>
                          <a:cs typeface="+mn-cs"/>
                        </a:rPr>
                        <a:t>– </a:t>
                      </a:r>
                      <a:r>
                        <a:rPr lang="ko-KR" altLang="en-US" sz="700" kern="1200" dirty="0" err="1">
                          <a:solidFill>
                            <a:schemeClr val="tx1"/>
                          </a:solidFill>
                          <a:latin typeface="+mn-ea"/>
                          <a:ea typeface="+mn-ea"/>
                          <a:cs typeface="+mn-cs"/>
                        </a:rPr>
                        <a:t>스탭</a:t>
                      </a:r>
                      <a:r>
                        <a:rPr lang="ko-KR" altLang="en-US" sz="700" kern="1200" dirty="0">
                          <a:solidFill>
                            <a:schemeClr val="tx1"/>
                          </a:solidFill>
                          <a:latin typeface="+mn-ea"/>
                          <a:ea typeface="+mn-ea"/>
                          <a:cs typeface="+mn-cs"/>
                        </a:rPr>
                        <a:t> </a:t>
                      </a:r>
                      <a:r>
                        <a:rPr lang="en-US" altLang="ko-KR" sz="700" kern="1200" dirty="0">
                          <a:solidFill>
                            <a:schemeClr val="tx1"/>
                          </a:solidFill>
                          <a:latin typeface="+mn-ea"/>
                          <a:ea typeface="+mn-ea"/>
                          <a:cs typeface="+mn-cs"/>
                        </a:rPr>
                        <a:t>5 </a:t>
                      </a:r>
                      <a:r>
                        <a:rPr lang="ko-KR" altLang="en-US" sz="700" kern="1200" dirty="0">
                          <a:solidFill>
                            <a:schemeClr val="tx1"/>
                          </a:solidFill>
                          <a:latin typeface="+mn-ea"/>
                          <a:ea typeface="+mn-ea"/>
                          <a:cs typeface="+mn-cs"/>
                        </a:rPr>
                        <a:t>공동수급업체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/stp5/Stp5</a:t>
                      </a:r>
                      <a:endParaRPr lang="ko-KR" altLang="en-US" sz="7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latin typeface="+mn-ea"/>
                          <a:ea typeface="+mn-ea"/>
                        </a:rPr>
                        <a:t>.</a:t>
                      </a:r>
                      <a:r>
                        <a:rPr lang="en-US" altLang="ko-KR" sz="700" dirty="0" err="1">
                          <a:solidFill>
                            <a:schemeClr val="tx1"/>
                          </a:solidFill>
                          <a:latin typeface="+mn-ea"/>
                          <a:ea typeface="+mn-ea"/>
                        </a:rPr>
                        <a:t>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l" fontAlgn="ctr"/>
                      <a:r>
                        <a:rPr lang="en-US" altLang="ko-KR" sz="700" kern="1200" dirty="0">
                          <a:solidFill>
                            <a:schemeClr val="tx1"/>
                          </a:solidFill>
                          <a:latin typeface="+mn-ea"/>
                          <a:ea typeface="+mn-ea"/>
                          <a:cs typeface="+mn-cs"/>
                        </a:rPr>
                        <a:t>MUI-BD-04-M14</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문의 및 동의</a:t>
                      </a: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a:solidFill>
                            <a:schemeClr val="tx1"/>
                          </a:solidFill>
                          <a:latin typeface="+mn-ea"/>
                          <a:ea typeface="+mn-ea"/>
                        </a:rPr>
                        <a:t>BidPrtcpAperWrtPage_Stp7</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입찰참가신청서 </a:t>
                      </a:r>
                      <a:r>
                        <a:rPr lang="en-US" altLang="ko-KR" sz="700" kern="1200" dirty="0">
                          <a:solidFill>
                            <a:schemeClr val="tx1"/>
                          </a:solidFill>
                          <a:latin typeface="+mn-ea"/>
                          <a:ea typeface="+mn-ea"/>
                          <a:cs typeface="+mn-cs"/>
                        </a:rPr>
                        <a:t>– </a:t>
                      </a:r>
                      <a:r>
                        <a:rPr lang="ko-KR" altLang="en-US" sz="700" kern="1200" dirty="0" err="1">
                          <a:solidFill>
                            <a:schemeClr val="tx1"/>
                          </a:solidFill>
                          <a:latin typeface="+mn-ea"/>
                          <a:ea typeface="+mn-ea"/>
                          <a:cs typeface="+mn-cs"/>
                        </a:rPr>
                        <a:t>스탭</a:t>
                      </a:r>
                      <a:r>
                        <a:rPr lang="ko-KR" altLang="en-US" sz="700" kern="1200" dirty="0">
                          <a:solidFill>
                            <a:schemeClr val="tx1"/>
                          </a:solidFill>
                          <a:latin typeface="+mn-ea"/>
                          <a:ea typeface="+mn-ea"/>
                          <a:cs typeface="+mn-cs"/>
                        </a:rPr>
                        <a:t> </a:t>
                      </a:r>
                      <a:r>
                        <a:rPr lang="en-US" altLang="ko-KR" sz="700" kern="1200" dirty="0">
                          <a:solidFill>
                            <a:schemeClr val="tx1"/>
                          </a:solidFill>
                          <a:latin typeface="+mn-ea"/>
                          <a:ea typeface="+mn-ea"/>
                          <a:cs typeface="+mn-cs"/>
                        </a:rPr>
                        <a:t>7 </a:t>
                      </a:r>
                      <a:r>
                        <a:rPr lang="ko-KR" altLang="en-US" sz="700" kern="1200" dirty="0">
                          <a:solidFill>
                            <a:schemeClr val="tx1"/>
                          </a:solidFill>
                          <a:latin typeface="+mn-ea"/>
                          <a:ea typeface="+mn-ea"/>
                          <a:cs typeface="+mn-cs"/>
                        </a:rPr>
                        <a:t>문의 및 동의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/Stp7.tsx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3402361"/>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dirty="0" smtClean="0">
                          <a:solidFill>
                            <a:srgbClr val="000000"/>
                          </a:solidFill>
                          <a:latin typeface="맑은 고딕" panose="020B0503020000020004" pitchFamily="50" charset="-127"/>
                        </a:rPr>
                        <a:t>MUI-BD-04-P15</a:t>
                      </a:r>
                      <a:endParaRPr lang="ko-KR" altLang="en-US" sz="700" dirty="0" smtClean="0">
                        <a:solidFill>
                          <a:srgbClr val="000000"/>
                        </a:solidFill>
                        <a:latin typeface="맑은 고딕" panose="020B0503020000020004" pitchFamily="50" charset="-127"/>
                      </a:endParaRPr>
                    </a:p>
                    <a:p>
                      <a:pPr marL="0" marR="0" indent="0" algn="l" defTabSz="914400" rtl="0" eaLnBrk="1" fontAlgn="ctr" latinLnBrk="1" hangingPunct="1">
                        <a:lnSpc>
                          <a:spcPct val="100000"/>
                        </a:lnSpc>
                        <a:spcBef>
                          <a:spcPts val="0"/>
                        </a:spcBef>
                        <a:spcAft>
                          <a:spcPts val="0"/>
                        </a:spcAft>
                        <a:buClrTx/>
                        <a:buSzTx/>
                        <a:buFontTx/>
                        <a:buNone/>
                        <a:tabLst/>
                        <a:defRPr/>
                      </a:pPr>
                      <a:endParaRPr lang="en-US" altLang="ko-KR"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동의서</a:t>
                      </a:r>
                      <a:r>
                        <a:rPr lang="en-US" altLang="ko-KR" sz="700" dirty="0" smtClean="0">
                          <a:latin typeface="+mn-ea"/>
                        </a:rPr>
                        <a:t>1</a:t>
                      </a:r>
                      <a:endParaRPr lang="ko-KR" altLang="en-US" sz="700" dirty="0" smtClean="0">
                        <a:latin typeface="+mn-ea"/>
                      </a:endParaRPr>
                    </a:p>
                    <a:p>
                      <a:pPr marL="0" marR="0" indent="0" algn="l" defTabSz="914400" rtl="0" eaLnBrk="1" fontAlgn="ctr" latinLnBrk="1" hangingPunct="1">
                        <a:lnSpc>
                          <a:spcPct val="100000"/>
                        </a:lnSpc>
                        <a:spcBef>
                          <a:spcPts val="0"/>
                        </a:spcBef>
                        <a:spcAft>
                          <a:spcPts val="0"/>
                        </a:spcAft>
                        <a:buClrTx/>
                        <a:buSzTx/>
                        <a:buFontTx/>
                        <a:buNone/>
                        <a:tabLst/>
                        <a:defRPr/>
                      </a:pPr>
                      <a:endParaRPr lang="ko-KR" alt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a:solidFill>
                            <a:schemeClr val="tx1"/>
                          </a:solidFill>
                          <a:latin typeface="+mn-ea"/>
                          <a:ea typeface="+mn-ea"/>
                        </a:rPr>
                        <a:t>AgreementForm1</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/AgreementForm1.tsx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113193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dirty="0" smtClean="0">
                          <a:solidFill>
                            <a:srgbClr val="000000"/>
                          </a:solidFill>
                          <a:latin typeface="맑은 고딕" panose="020B0503020000020004" pitchFamily="50" charset="-127"/>
                        </a:rPr>
                        <a:t>MUI-BD-04-P16</a:t>
                      </a:r>
                      <a:endParaRPr lang="en-US" altLang="ko-KR"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동의서</a:t>
                      </a:r>
                      <a:r>
                        <a:rPr lang="en-US" altLang="ko-KR" sz="700" dirty="0" smtClean="0">
                          <a:latin typeface="+mn-ea"/>
                        </a:rPr>
                        <a:t>2</a:t>
                      </a:r>
                      <a:endParaRPr lang="ko-KR" altLang="en-US" sz="700" dirty="0" smtClean="0">
                        <a:latin typeface="+mn-ea"/>
                      </a:endParaRPr>
                    </a:p>
                    <a:p>
                      <a:pPr marL="0" marR="0" indent="0" algn="l" defTabSz="914400" rtl="0" eaLnBrk="1" fontAlgn="ctr" latinLnBrk="1" hangingPunct="1">
                        <a:lnSpc>
                          <a:spcPct val="100000"/>
                        </a:lnSpc>
                        <a:spcBef>
                          <a:spcPts val="0"/>
                        </a:spcBef>
                        <a:spcAft>
                          <a:spcPts val="0"/>
                        </a:spcAft>
                        <a:buClrTx/>
                        <a:buSzTx/>
                        <a:buFontTx/>
                        <a:buNone/>
                        <a:tabLst/>
                        <a:defRPr/>
                      </a:pPr>
                      <a:endParaRPr lang="ko-KR" alt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a:solidFill>
                            <a:schemeClr val="tx1"/>
                          </a:solidFill>
                          <a:latin typeface="+mn-ea"/>
                          <a:ea typeface="+mn-ea"/>
                        </a:rPr>
                        <a:t>AgreementForm2</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/AgreementForm2.tsx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8999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dirty="0" smtClean="0"/>
                        <a:t>MUI-BD-04-P17 </a:t>
                      </a:r>
                      <a:endParaRPr lang="ko-KR" altLang="en-US" sz="700" dirty="0" smtClean="0">
                        <a:solidFill>
                          <a:srgbClr val="000000"/>
                        </a:solidFill>
                        <a:latin typeface="맑은 고딕" panose="020B0503020000020004" pitchFamily="50" charset="-127"/>
                      </a:endParaRPr>
                    </a:p>
                    <a:p>
                      <a:pPr marL="0" marR="0" indent="0" algn="l" defTabSz="914400" rtl="0" eaLnBrk="1" fontAlgn="ctr" latinLnBrk="1" hangingPunct="1">
                        <a:lnSpc>
                          <a:spcPct val="100000"/>
                        </a:lnSpc>
                        <a:spcBef>
                          <a:spcPts val="0"/>
                        </a:spcBef>
                        <a:spcAft>
                          <a:spcPts val="0"/>
                        </a:spcAft>
                        <a:buClrTx/>
                        <a:buSzTx/>
                        <a:buFontTx/>
                        <a:buNone/>
                        <a:tabLst/>
                        <a:defRPr/>
                      </a:pPr>
                      <a:endParaRPr lang="en-US" altLang="ko-KR"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동의서</a:t>
                      </a:r>
                      <a:r>
                        <a:rPr lang="en-US" altLang="ko-KR" sz="700" dirty="0" smtClean="0">
                          <a:latin typeface="+mn-ea"/>
                        </a:rPr>
                        <a:t>3</a:t>
                      </a:r>
                      <a:endParaRPr lang="ko-KR" altLang="en-US" sz="700" dirty="0" smtClean="0">
                        <a:latin typeface="+mn-ea"/>
                      </a:endParaRPr>
                    </a:p>
                    <a:p>
                      <a:pPr fontAlgn="ct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a:solidFill>
                            <a:schemeClr val="tx1"/>
                          </a:solidFill>
                          <a:latin typeface="+mn-ea"/>
                          <a:ea typeface="+mn-ea"/>
                        </a:rPr>
                        <a:t>AgreementForm3</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/AgreementForm3.tsx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145050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dirty="0" smtClean="0">
                          <a:solidFill>
                            <a:srgbClr val="000000"/>
                          </a:solidFill>
                          <a:latin typeface="맑은 고딕" panose="020B0503020000020004" pitchFamily="50" charset="-127"/>
                        </a:rPr>
                        <a:t>MUI-BD-04-P18</a:t>
                      </a:r>
                      <a:endParaRPr lang="ko-KR" altLang="en-US" sz="700" dirty="0" smtClean="0">
                        <a:solidFill>
                          <a:srgbClr val="000000"/>
                        </a:solidFill>
                        <a:latin typeface="맑은 고딕" panose="020B0503020000020004" pitchFamily="50" charset="-127"/>
                      </a:endParaRPr>
                    </a:p>
                    <a:p>
                      <a:pPr marL="0" marR="0" indent="0" algn="l" defTabSz="914400" rtl="0" eaLnBrk="1" fontAlgn="ctr" latinLnBrk="1" hangingPunct="1">
                        <a:lnSpc>
                          <a:spcPct val="100000"/>
                        </a:lnSpc>
                        <a:spcBef>
                          <a:spcPts val="0"/>
                        </a:spcBef>
                        <a:spcAft>
                          <a:spcPts val="0"/>
                        </a:spcAft>
                        <a:buClrTx/>
                        <a:buSzTx/>
                        <a:buFontTx/>
                        <a:buNone/>
                        <a:tabLst/>
                        <a:defRPr/>
                      </a:pPr>
                      <a:endParaRPr lang="en-US" altLang="ko-KR"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동의서</a:t>
                      </a:r>
                      <a:r>
                        <a:rPr lang="en-US" altLang="ko-KR" sz="700" dirty="0" smtClean="0">
                          <a:latin typeface="+mn-ea"/>
                        </a:rPr>
                        <a:t>4</a:t>
                      </a:r>
                      <a:endParaRPr lang="ko-KR" altLang="en-US" sz="700" dirty="0" smtClean="0">
                        <a:latin typeface="+mn-ea"/>
                      </a:endParaRPr>
                    </a:p>
                    <a:p>
                      <a:pPr fontAlgn="ct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a:solidFill>
                            <a:schemeClr val="tx1"/>
                          </a:solidFill>
                          <a:latin typeface="+mn-ea"/>
                          <a:ea typeface="+mn-ea"/>
                        </a:rPr>
                        <a:t>AgreementForm4</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/AgreementForm4.tsx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5404555"/>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dirty="0" smtClean="0">
                          <a:solidFill>
                            <a:srgbClr val="000000"/>
                          </a:solidFill>
                          <a:latin typeface="맑은 고딕" panose="020B0503020000020004" pitchFamily="50" charset="-127"/>
                        </a:rPr>
                        <a:t>MUI-BD-04-P19</a:t>
                      </a:r>
                      <a:endParaRPr lang="ko-KR" altLang="en-US" sz="700" dirty="0" smtClean="0">
                        <a:solidFill>
                          <a:srgbClr val="000000"/>
                        </a:solidFill>
                        <a:latin typeface="맑은 고딕" panose="020B0503020000020004" pitchFamily="50" charset="-127"/>
                      </a:endParaRPr>
                    </a:p>
                    <a:p>
                      <a:pPr marL="0" marR="0" indent="0" algn="l" defTabSz="914400" rtl="0" eaLnBrk="1" fontAlgn="ctr" latinLnBrk="1" hangingPunct="1">
                        <a:lnSpc>
                          <a:spcPct val="100000"/>
                        </a:lnSpc>
                        <a:spcBef>
                          <a:spcPts val="0"/>
                        </a:spcBef>
                        <a:spcAft>
                          <a:spcPts val="0"/>
                        </a:spcAft>
                        <a:buClrTx/>
                        <a:buSzTx/>
                        <a:buFontTx/>
                        <a:buNone/>
                        <a:tabLst/>
                        <a:defRPr/>
                      </a:pPr>
                      <a:endParaRPr lang="en-US" altLang="ko-KR"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동의서</a:t>
                      </a:r>
                      <a:r>
                        <a:rPr lang="en-US" altLang="ko-KR" sz="700" dirty="0" smtClean="0">
                          <a:latin typeface="+mn-ea"/>
                        </a:rPr>
                        <a:t>5</a:t>
                      </a:r>
                      <a:endParaRPr lang="ko-KR" altLang="en-US" sz="700" dirty="0" smtClean="0">
                        <a:latin typeface="+mn-ea"/>
                      </a:endParaRPr>
                    </a:p>
                    <a:p>
                      <a:pPr fontAlgn="ct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a:solidFill>
                            <a:schemeClr val="tx1"/>
                          </a:solidFill>
                          <a:latin typeface="+mn-ea"/>
                          <a:ea typeface="+mn-ea"/>
                        </a:rPr>
                        <a:t>AgreementForm5</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/AgreementForm5.tsx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170475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dirty="0" smtClean="0">
                          <a:solidFill>
                            <a:srgbClr val="000000"/>
                          </a:solidFill>
                          <a:latin typeface="맑은 고딕" panose="020B0503020000020004" pitchFamily="50" charset="-127"/>
                        </a:rPr>
                        <a:t>MUI-BD-04-P20</a:t>
                      </a:r>
                      <a:endParaRPr lang="ko-KR" altLang="en-US" sz="700" dirty="0" smtClean="0">
                        <a:solidFill>
                          <a:srgbClr val="000000"/>
                        </a:solidFill>
                        <a:latin typeface="맑은 고딕" panose="020B0503020000020004" pitchFamily="50" charset="-127"/>
                      </a:endParaRPr>
                    </a:p>
                    <a:p>
                      <a:pPr marL="0" marR="0" indent="0" algn="l" defTabSz="914400" rtl="0" eaLnBrk="1" fontAlgn="ctr" latinLnBrk="1" hangingPunct="1">
                        <a:lnSpc>
                          <a:spcPct val="100000"/>
                        </a:lnSpc>
                        <a:spcBef>
                          <a:spcPts val="0"/>
                        </a:spcBef>
                        <a:spcAft>
                          <a:spcPts val="0"/>
                        </a:spcAft>
                        <a:buClrTx/>
                        <a:buSzTx/>
                        <a:buFontTx/>
                        <a:buNone/>
                        <a:tabLst/>
                        <a:defRPr/>
                      </a:pPr>
                      <a:endParaRPr lang="en-US" altLang="ko-KR"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700" dirty="0" smtClean="0">
                          <a:latin typeface="+mn-ea"/>
                        </a:rPr>
                        <a:t>입찰참가신청서작성 </a:t>
                      </a:r>
                      <a:r>
                        <a:rPr lang="en-US" altLang="ko-KR" sz="700" dirty="0" smtClean="0">
                          <a:latin typeface="+mn-ea"/>
                        </a:rPr>
                        <a:t>– </a:t>
                      </a:r>
                      <a:r>
                        <a:rPr lang="ko-KR" altLang="en-US" sz="700" dirty="0" smtClean="0">
                          <a:latin typeface="+mn-ea"/>
                        </a:rPr>
                        <a:t>동의서</a:t>
                      </a:r>
                      <a:r>
                        <a:rPr lang="en-US" altLang="ko-KR" sz="700" dirty="0" smtClean="0">
                          <a:latin typeface="+mn-ea"/>
                        </a:rPr>
                        <a:t>6</a:t>
                      </a:r>
                    </a:p>
                    <a:p>
                      <a:pPr fontAlgn="ctr"/>
                      <a:endParaRPr lang="ko-KR" altLang="en-US" sz="7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700" dirty="0">
                          <a:solidFill>
                            <a:schemeClr val="tx1"/>
                          </a:solidFill>
                          <a:latin typeface="+mn-ea"/>
                          <a:ea typeface="+mn-ea"/>
                        </a:rPr>
                        <a:t>AgreementForm6</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7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err="1">
                          <a:solidFill>
                            <a:schemeClr val="tx1"/>
                          </a:solidFill>
                          <a:latin typeface="+mn-ea"/>
                          <a:ea typeface="+mn-ea"/>
                        </a:rPr>
                        <a:t>src</a:t>
                      </a:r>
                      <a:r>
                        <a:rPr lang="en-US" altLang="ko-KR" sz="700" dirty="0">
                          <a:solidFill>
                            <a:schemeClr val="tx1"/>
                          </a:solidFill>
                          <a:latin typeface="+mn-ea"/>
                          <a:ea typeface="+mn-ea"/>
                        </a:rPr>
                        <a:t>/</a:t>
                      </a:r>
                      <a:r>
                        <a:rPr lang="en-US" altLang="ko-KR" sz="700" dirty="0" err="1">
                          <a:solidFill>
                            <a:schemeClr val="tx1"/>
                          </a:solidFill>
                          <a:latin typeface="+mn-ea"/>
                          <a:ea typeface="+mn-ea"/>
                        </a:rPr>
                        <a:t>ui</a:t>
                      </a:r>
                      <a:r>
                        <a:rPr lang="en-US" altLang="ko-KR" sz="700" dirty="0">
                          <a:solidFill>
                            <a:schemeClr val="tx1"/>
                          </a:solidFill>
                          <a:latin typeface="+mn-ea"/>
                          <a:ea typeface="+mn-ea"/>
                        </a:rPr>
                        <a:t>/biz/</a:t>
                      </a:r>
                      <a:r>
                        <a:rPr lang="en-US" altLang="ko-KR" sz="700" dirty="0" err="1">
                          <a:solidFill>
                            <a:schemeClr val="tx1"/>
                          </a:solidFill>
                          <a:latin typeface="+mn-ea"/>
                          <a:ea typeface="+mn-ea"/>
                        </a:rPr>
                        <a:t>bd</a:t>
                      </a:r>
                      <a:r>
                        <a:rPr lang="en-US" altLang="ko-KR" sz="700" dirty="0">
                          <a:solidFill>
                            <a:schemeClr val="tx1"/>
                          </a:solidFill>
                          <a:latin typeface="+mn-ea"/>
                          <a:ea typeface="+mn-ea"/>
                        </a:rPr>
                        <a:t>/</a:t>
                      </a:r>
                      <a:r>
                        <a:rPr lang="en-US" altLang="ko-KR" sz="700" dirty="0" err="1">
                          <a:solidFill>
                            <a:schemeClr val="tx1"/>
                          </a:solidFill>
                          <a:latin typeface="+mn-ea"/>
                          <a:ea typeface="+mn-ea"/>
                        </a:rPr>
                        <a:t>bidPrgsDtlInq</a:t>
                      </a:r>
                      <a:r>
                        <a:rPr lang="en-US" altLang="ko-KR" sz="700" dirty="0">
                          <a:solidFill>
                            <a:schemeClr val="tx1"/>
                          </a:solidFill>
                          <a:latin typeface="+mn-ea"/>
                          <a:ea typeface="+mn-ea"/>
                        </a:rPr>
                        <a:t>/AgreementForm6.tsx</a:t>
                      </a:r>
                      <a:endParaRPr lang="ko-KR" altLang="en-US" sz="7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700" dirty="0">
                          <a:latin typeface="+mn-ea"/>
                          <a:ea typeface="+mn-ea"/>
                        </a:rPr>
                        <a:t>UC-BD-02-01</a:t>
                      </a:r>
                      <a:endParaRPr lang="ko-KR" altLang="en-US"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6458903"/>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367958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115</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smtClean="0"/>
              <a:t>6.2</a:t>
            </a:r>
            <a:r>
              <a:rPr lang="en-US" altLang="ko-KR" dirty="0"/>
              <a:t>. </a:t>
            </a:r>
            <a:r>
              <a:rPr lang="ko-KR" altLang="en-US" dirty="0"/>
              <a:t>화면 흐름도 </a:t>
            </a:r>
            <a:r>
              <a:rPr lang="en-US" altLang="ko-KR" dirty="0"/>
              <a:t>– </a:t>
            </a:r>
            <a:r>
              <a:rPr lang="ko-KR" altLang="en-US" dirty="0" smtClean="0"/>
              <a:t>입찰참가신청서 </a:t>
            </a:r>
            <a:r>
              <a:rPr lang="ko-KR" altLang="en-US" dirty="0"/>
              <a:t>작성</a:t>
            </a:r>
          </a:p>
        </p:txBody>
      </p: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6485767" y="5229115"/>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6514764" y="5040016"/>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38" name="사각형: 둥근 모서리 5">
            <a:extLst>
              <a:ext uri="{FF2B5EF4-FFF2-40B4-BE49-F238E27FC236}">
                <a16:creationId xmlns:a16="http://schemas.microsoft.com/office/drawing/2014/main" id="{410E5459-200D-7630-863C-88E5109259DF}"/>
              </a:ext>
            </a:extLst>
          </p:cNvPr>
          <p:cNvSpPr/>
          <p:nvPr/>
        </p:nvSpPr>
        <p:spPr>
          <a:xfrm>
            <a:off x="4030749"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1-</a:t>
            </a:r>
            <a:r>
              <a:rPr lang="ko-KR" altLang="en-US" sz="800" dirty="0">
                <a:solidFill>
                  <a:schemeClr val="tx1"/>
                </a:solidFill>
              </a:rPr>
              <a:t>일반정보</a:t>
            </a:r>
          </a:p>
        </p:txBody>
      </p:sp>
      <p:sp>
        <p:nvSpPr>
          <p:cNvPr id="40" name="사각형: 둥근 모서리 5">
            <a:extLst>
              <a:ext uri="{FF2B5EF4-FFF2-40B4-BE49-F238E27FC236}">
                <a16:creationId xmlns:a16="http://schemas.microsoft.com/office/drawing/2014/main" id="{410E5459-200D-7630-863C-88E5109259DF}"/>
              </a:ext>
            </a:extLst>
          </p:cNvPr>
          <p:cNvSpPr/>
          <p:nvPr/>
        </p:nvSpPr>
        <p:spPr>
          <a:xfrm>
            <a:off x="5539941"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2-</a:t>
            </a:r>
            <a:r>
              <a:rPr lang="ko-KR" altLang="en-US" sz="800" dirty="0" err="1">
                <a:solidFill>
                  <a:schemeClr val="tx1"/>
                </a:solidFill>
              </a:rPr>
              <a:t>품목내역</a:t>
            </a:r>
            <a:endParaRPr lang="ko-KR" altLang="en-US" sz="800" dirty="0">
              <a:solidFill>
                <a:schemeClr val="tx1"/>
              </a:solidFill>
            </a:endParaRPr>
          </a:p>
        </p:txBody>
      </p:sp>
      <p:cxnSp>
        <p:nvCxnSpPr>
          <p:cNvPr id="100" name="직선 화살표 연결선 99">
            <a:extLst>
              <a:ext uri="{FF2B5EF4-FFF2-40B4-BE49-F238E27FC236}">
                <a16:creationId xmlns:a16="http://schemas.microsoft.com/office/drawing/2014/main" id="{9A519F08-B829-E35F-09D8-DFCD1F68B911}"/>
              </a:ext>
            </a:extLst>
          </p:cNvPr>
          <p:cNvCxnSpPr>
            <a:cxnSpLocks/>
            <a:stCxn id="38" idx="3"/>
            <a:endCxn id="40" idx="1"/>
          </p:cNvCxnSpPr>
          <p:nvPr/>
        </p:nvCxnSpPr>
        <p:spPr>
          <a:xfrm>
            <a:off x="4930749" y="2454859"/>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사각형: 둥근 모서리 5">
            <a:extLst>
              <a:ext uri="{FF2B5EF4-FFF2-40B4-BE49-F238E27FC236}">
                <a16:creationId xmlns:a16="http://schemas.microsoft.com/office/drawing/2014/main" id="{410E5459-200D-7630-863C-88E5109259DF}"/>
              </a:ext>
            </a:extLst>
          </p:cNvPr>
          <p:cNvSpPr/>
          <p:nvPr/>
        </p:nvSpPr>
        <p:spPr>
          <a:xfrm>
            <a:off x="5539941"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7-</a:t>
            </a:r>
            <a:r>
              <a:rPr lang="ko-KR" altLang="en-US" sz="800" dirty="0" err="1">
                <a:solidFill>
                  <a:schemeClr val="tx1"/>
                </a:solidFill>
              </a:rPr>
              <a:t>문의및동의</a:t>
            </a:r>
            <a:endParaRPr lang="ko-KR" altLang="en-US" sz="800" dirty="0">
              <a:solidFill>
                <a:schemeClr val="tx1"/>
              </a:solidFill>
            </a:endParaRPr>
          </a:p>
        </p:txBody>
      </p:sp>
      <p:sp>
        <p:nvSpPr>
          <p:cNvPr id="122" name="사각형: 둥근 모서리 5">
            <a:extLst>
              <a:ext uri="{FF2B5EF4-FFF2-40B4-BE49-F238E27FC236}">
                <a16:creationId xmlns:a16="http://schemas.microsoft.com/office/drawing/2014/main" id="{410E5459-200D-7630-863C-88E5109259DF}"/>
              </a:ext>
            </a:extLst>
          </p:cNvPr>
          <p:cNvSpPr/>
          <p:nvPr/>
        </p:nvSpPr>
        <p:spPr>
          <a:xfrm>
            <a:off x="2521557"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서약서동의목록</a:t>
            </a:r>
          </a:p>
        </p:txBody>
      </p:sp>
      <p:cxnSp>
        <p:nvCxnSpPr>
          <p:cNvPr id="123" name="직선 화살표 연결선 122">
            <a:extLst>
              <a:ext uri="{FF2B5EF4-FFF2-40B4-BE49-F238E27FC236}">
                <a16:creationId xmlns:a16="http://schemas.microsoft.com/office/drawing/2014/main" id="{9A519F08-B829-E35F-09D8-DFCD1F68B911}"/>
              </a:ext>
            </a:extLst>
          </p:cNvPr>
          <p:cNvCxnSpPr>
            <a:cxnSpLocks/>
            <a:stCxn id="77" idx="3"/>
            <a:endCxn id="122" idx="1"/>
          </p:cNvCxnSpPr>
          <p:nvPr/>
        </p:nvCxnSpPr>
        <p:spPr>
          <a:xfrm>
            <a:off x="1912365" y="2451594"/>
            <a:ext cx="609192" cy="326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직선 화살표 연결선 132">
            <a:extLst>
              <a:ext uri="{FF2B5EF4-FFF2-40B4-BE49-F238E27FC236}">
                <a16:creationId xmlns:a16="http://schemas.microsoft.com/office/drawing/2014/main" id="{9A519F08-B829-E35F-09D8-DFCD1F68B911}"/>
              </a:ext>
            </a:extLst>
          </p:cNvPr>
          <p:cNvCxnSpPr>
            <a:cxnSpLocks/>
            <a:stCxn id="122" idx="3"/>
            <a:endCxn id="38" idx="1"/>
          </p:cNvCxnSpPr>
          <p:nvPr/>
        </p:nvCxnSpPr>
        <p:spPr>
          <a:xfrm>
            <a:off x="3421557" y="2454859"/>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7" name="사각형: 둥근 모서리 5">
            <a:extLst>
              <a:ext uri="{FF2B5EF4-FFF2-40B4-BE49-F238E27FC236}">
                <a16:creationId xmlns:a16="http://schemas.microsoft.com/office/drawing/2014/main" id="{410E5459-200D-7630-863C-88E5109259DF}"/>
              </a:ext>
            </a:extLst>
          </p:cNvPr>
          <p:cNvSpPr/>
          <p:nvPr/>
        </p:nvSpPr>
        <p:spPr>
          <a:xfrm>
            <a:off x="7049133"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6-</a:t>
            </a:r>
            <a:r>
              <a:rPr lang="ko-KR" altLang="en-US" sz="800" dirty="0">
                <a:solidFill>
                  <a:schemeClr val="tx1"/>
                </a:solidFill>
              </a:rPr>
              <a:t>파일첨부</a:t>
            </a:r>
          </a:p>
        </p:txBody>
      </p:sp>
      <p:cxnSp>
        <p:nvCxnSpPr>
          <p:cNvPr id="269" name="직선 화살표 연결선 268">
            <a:extLst>
              <a:ext uri="{FF2B5EF4-FFF2-40B4-BE49-F238E27FC236}">
                <a16:creationId xmlns:a16="http://schemas.microsoft.com/office/drawing/2014/main" id="{9A519F08-B829-E35F-09D8-DFCD1F68B911}"/>
              </a:ext>
            </a:extLst>
          </p:cNvPr>
          <p:cNvCxnSpPr>
            <a:cxnSpLocks/>
            <a:stCxn id="267" idx="1"/>
            <a:endCxn id="101" idx="3"/>
          </p:cNvCxnSpPr>
          <p:nvPr/>
        </p:nvCxnSpPr>
        <p:spPr>
          <a:xfrm flipH="1">
            <a:off x="6439941" y="3142931"/>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직선 화살표 연결선 271">
            <a:extLst>
              <a:ext uri="{FF2B5EF4-FFF2-40B4-BE49-F238E27FC236}">
                <a16:creationId xmlns:a16="http://schemas.microsoft.com/office/drawing/2014/main" id="{9A519F08-B829-E35F-09D8-DFCD1F68B911}"/>
              </a:ext>
            </a:extLst>
          </p:cNvPr>
          <p:cNvCxnSpPr>
            <a:cxnSpLocks/>
            <a:stCxn id="74" idx="1"/>
            <a:endCxn id="267" idx="3"/>
          </p:cNvCxnSpPr>
          <p:nvPr/>
        </p:nvCxnSpPr>
        <p:spPr>
          <a:xfrm flipH="1">
            <a:off x="7949133" y="3142931"/>
            <a:ext cx="60919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4" name="사각형: 둥근 모서리 5">
            <a:extLst>
              <a:ext uri="{FF2B5EF4-FFF2-40B4-BE49-F238E27FC236}">
                <a16:creationId xmlns:a16="http://schemas.microsoft.com/office/drawing/2014/main" id="{410E5459-200D-7630-863C-88E5109259DF}"/>
              </a:ext>
            </a:extLst>
          </p:cNvPr>
          <p:cNvSpPr/>
          <p:nvPr/>
        </p:nvSpPr>
        <p:spPr>
          <a:xfrm>
            <a:off x="8558324"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5-</a:t>
            </a:r>
            <a:r>
              <a:rPr lang="ko-KR" altLang="en-US" sz="800" dirty="0">
                <a:solidFill>
                  <a:schemeClr val="tx1"/>
                </a:solidFill>
              </a:rPr>
              <a:t>공동수급업체</a:t>
            </a: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1012365" y="230759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 신청서</a:t>
            </a:r>
            <a:endParaRPr lang="en-US" altLang="ko-KR" sz="800" dirty="0">
              <a:solidFill>
                <a:schemeClr val="tx1"/>
              </a:solidFill>
            </a:endParaRPr>
          </a:p>
          <a:p>
            <a:pPr algn="ctr"/>
            <a:r>
              <a:rPr lang="ko-KR" altLang="en-US" sz="800" dirty="0">
                <a:solidFill>
                  <a:schemeClr val="tx1"/>
                </a:solidFill>
              </a:rPr>
              <a:t>작성 </a:t>
            </a:r>
            <a:r>
              <a:rPr lang="en-US" altLang="ko-KR" sz="800" dirty="0">
                <a:solidFill>
                  <a:schemeClr val="tx1"/>
                </a:solidFill>
              </a:rPr>
              <a:t>step</a:t>
            </a:r>
            <a:endParaRPr lang="ko-KR" altLang="en-US" sz="800" dirty="0">
              <a:solidFill>
                <a:schemeClr val="tx1"/>
              </a:solidFill>
            </a:endParaRPr>
          </a:p>
        </p:txBody>
      </p:sp>
      <p:grpSp>
        <p:nvGrpSpPr>
          <p:cNvPr id="82" name="그룹 81"/>
          <p:cNvGrpSpPr/>
          <p:nvPr/>
        </p:nvGrpSpPr>
        <p:grpSpPr>
          <a:xfrm>
            <a:off x="492190" y="5392498"/>
            <a:ext cx="1063310" cy="783216"/>
            <a:chOff x="492190" y="5392498"/>
            <a:chExt cx="1063310" cy="783216"/>
          </a:xfrm>
        </p:grpSpPr>
        <p:grpSp>
          <p:nvGrpSpPr>
            <p:cNvPr id="85" name="그룹 84"/>
            <p:cNvGrpSpPr/>
            <p:nvPr/>
          </p:nvGrpSpPr>
          <p:grpSpPr>
            <a:xfrm>
              <a:off x="492190" y="5624092"/>
              <a:ext cx="235869" cy="548293"/>
              <a:chOff x="669822" y="4927621"/>
              <a:chExt cx="912149" cy="1378059"/>
            </a:xfrm>
          </p:grpSpPr>
          <p:sp>
            <p:nvSpPr>
              <p:cNvPr id="95" name="사각형: 둥근 모서리 5">
                <a:extLst>
                  <a:ext uri="{FF2B5EF4-FFF2-40B4-BE49-F238E27FC236}">
                    <a16:creationId xmlns:a16="http://schemas.microsoft.com/office/drawing/2014/main" id="{410E5459-200D-7630-863C-88E5109259DF}"/>
                  </a:ext>
                </a:extLst>
              </p:cNvPr>
              <p:cNvSpPr/>
              <p:nvPr/>
            </p:nvSpPr>
            <p:spPr>
              <a:xfrm>
                <a:off x="669822" y="5466998"/>
                <a:ext cx="899998"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96" name="사각형: 둥근 모서리 5">
                <a:extLst>
                  <a:ext uri="{FF2B5EF4-FFF2-40B4-BE49-F238E27FC236}">
                    <a16:creationId xmlns:a16="http://schemas.microsoft.com/office/drawing/2014/main" id="{410E5459-200D-7630-863C-88E5109259DF}"/>
                  </a:ext>
                </a:extLst>
              </p:cNvPr>
              <p:cNvSpPr/>
              <p:nvPr/>
            </p:nvSpPr>
            <p:spPr>
              <a:xfrm>
                <a:off x="669822" y="4927621"/>
                <a:ext cx="899998"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102" name="사각형: 둥근 모서리 5">
                <a:extLst>
                  <a:ext uri="{FF2B5EF4-FFF2-40B4-BE49-F238E27FC236}">
                    <a16:creationId xmlns:a16="http://schemas.microsoft.com/office/drawing/2014/main" id="{410E5459-200D-7630-863C-88E5109259DF}"/>
                  </a:ext>
                </a:extLst>
              </p:cNvPr>
              <p:cNvSpPr/>
              <p:nvPr/>
            </p:nvSpPr>
            <p:spPr>
              <a:xfrm>
                <a:off x="681971" y="6006377"/>
                <a:ext cx="900000" cy="299303"/>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endParaRPr lang="ko-KR" altLang="en-US" sz="800" b="1" dirty="0">
                  <a:solidFill>
                    <a:schemeClr val="tx1"/>
                  </a:solidFill>
                </a:endParaRPr>
              </a:p>
            </p:txBody>
          </p:sp>
        </p:grpSp>
        <p:sp>
          <p:nvSpPr>
            <p:cNvPr id="86" name="직사각형 85">
              <a:extLst>
                <a:ext uri="{FF2B5EF4-FFF2-40B4-BE49-F238E27FC236}">
                  <a16:creationId xmlns:a16="http://schemas.microsoft.com/office/drawing/2014/main" id="{F249990F-1DE5-C694-BDBD-2DE7009D57EA}"/>
                </a:ext>
              </a:extLst>
            </p:cNvPr>
            <p:cNvSpPr/>
            <p:nvPr/>
          </p:nvSpPr>
          <p:spPr>
            <a:xfrm>
              <a:off x="499695" y="5392498"/>
              <a:ext cx="20518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범례</a:t>
              </a:r>
              <a:endParaRPr lang="ko-KR" altLang="en-US" sz="800" dirty="0">
                <a:solidFill>
                  <a:schemeClr val="tx1"/>
                </a:solidFill>
              </a:endParaRPr>
            </a:p>
          </p:txBody>
        </p:sp>
        <p:sp>
          <p:nvSpPr>
            <p:cNvPr id="87" name="직사각형 86">
              <a:extLst>
                <a:ext uri="{FF2B5EF4-FFF2-40B4-BE49-F238E27FC236}">
                  <a16:creationId xmlns:a16="http://schemas.microsoft.com/office/drawing/2014/main" id="{F249990F-1DE5-C694-BDBD-2DE7009D57EA}"/>
                </a:ext>
              </a:extLst>
            </p:cNvPr>
            <p:cNvSpPr/>
            <p:nvPr/>
          </p:nvSpPr>
          <p:spPr>
            <a:xfrm>
              <a:off x="829339" y="5617943"/>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화면목록</a:t>
              </a:r>
              <a:r>
                <a:rPr lang="ko-KR" altLang="en-US" sz="800" dirty="0">
                  <a:solidFill>
                    <a:schemeClr val="tx1"/>
                  </a:solidFill>
                </a:rPr>
                <a:t> 항목</a:t>
              </a:r>
            </a:p>
          </p:txBody>
        </p:sp>
        <p:sp>
          <p:nvSpPr>
            <p:cNvPr id="91" name="직사각형 90">
              <a:extLst>
                <a:ext uri="{FF2B5EF4-FFF2-40B4-BE49-F238E27FC236}">
                  <a16:creationId xmlns:a16="http://schemas.microsoft.com/office/drawing/2014/main" id="{F249990F-1DE5-C694-BDBD-2DE7009D57EA}"/>
                </a:ext>
              </a:extLst>
            </p:cNvPr>
            <p:cNvSpPr/>
            <p:nvPr/>
          </p:nvSpPr>
          <p:spPr>
            <a:xfrm>
              <a:off x="829339" y="5834434"/>
              <a:ext cx="6892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흐름 참고 항목</a:t>
              </a:r>
              <a:endParaRPr lang="ko-KR" altLang="en-US" sz="800" dirty="0">
                <a:solidFill>
                  <a:schemeClr val="tx1"/>
                </a:solidFill>
              </a:endParaRPr>
            </a:p>
          </p:txBody>
        </p:sp>
        <p:sp>
          <p:nvSpPr>
            <p:cNvPr id="94" name="직사각형 93">
              <a:extLst>
                <a:ext uri="{FF2B5EF4-FFF2-40B4-BE49-F238E27FC236}">
                  <a16:creationId xmlns:a16="http://schemas.microsoft.com/office/drawing/2014/main" id="{F249990F-1DE5-C694-BDBD-2DE7009D57EA}"/>
                </a:ext>
              </a:extLst>
            </p:cNvPr>
            <p:cNvSpPr/>
            <p:nvPr/>
          </p:nvSpPr>
          <p:spPr>
            <a:xfrm>
              <a:off x="829339" y="6052603"/>
              <a:ext cx="72616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탭 등 그룹 항목</a:t>
              </a:r>
              <a:endParaRPr lang="ko-KR" altLang="en-US" sz="800" dirty="0">
                <a:solidFill>
                  <a:schemeClr val="tx1"/>
                </a:solidFill>
              </a:endParaRPr>
            </a:p>
          </p:txBody>
        </p:sp>
      </p:grpSp>
      <p:grpSp>
        <p:nvGrpSpPr>
          <p:cNvPr id="103" name="그룹 102">
            <a:extLst>
              <a:ext uri="{FF2B5EF4-FFF2-40B4-BE49-F238E27FC236}">
                <a16:creationId xmlns:a16="http://schemas.microsoft.com/office/drawing/2014/main" id="{4256C95A-5B12-C9E0-F2B5-BC9D5BAB5422}"/>
              </a:ext>
            </a:extLst>
          </p:cNvPr>
          <p:cNvGrpSpPr/>
          <p:nvPr/>
        </p:nvGrpSpPr>
        <p:grpSpPr>
          <a:xfrm>
            <a:off x="493266" y="1682964"/>
            <a:ext cx="237994" cy="316983"/>
            <a:chOff x="4762389" y="1663914"/>
            <a:chExt cx="237994" cy="316983"/>
          </a:xfrm>
        </p:grpSpPr>
        <p:sp>
          <p:nvSpPr>
            <p:cNvPr id="104" name="타원 103">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직사각형 104">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sp>
        <p:nvSpPr>
          <p:cNvPr id="106" name="직사각형 105">
            <a:extLst>
              <a:ext uri="{FF2B5EF4-FFF2-40B4-BE49-F238E27FC236}">
                <a16:creationId xmlns:a16="http://schemas.microsoft.com/office/drawing/2014/main" id="{23C86455-E84C-0CEA-5C6B-05BE50ADCEF5}"/>
              </a:ext>
            </a:extLst>
          </p:cNvPr>
          <p:cNvSpPr/>
          <p:nvPr/>
        </p:nvSpPr>
        <p:spPr>
          <a:xfrm>
            <a:off x="456237"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cxnSp>
        <p:nvCxnSpPr>
          <p:cNvPr id="107" name="연결선: 꺾임 7">
            <a:extLst>
              <a:ext uri="{FF2B5EF4-FFF2-40B4-BE49-F238E27FC236}">
                <a16:creationId xmlns:a16="http://schemas.microsoft.com/office/drawing/2014/main" id="{89A2D828-4C18-4F90-6B31-722E89773AA8}"/>
              </a:ext>
            </a:extLst>
          </p:cNvPr>
          <p:cNvCxnSpPr>
            <a:cxnSpLocks/>
            <a:stCxn id="104" idx="6"/>
            <a:endCxn id="77" idx="1"/>
          </p:cNvCxnSpPr>
          <p:nvPr/>
        </p:nvCxnSpPr>
        <p:spPr>
          <a:xfrm>
            <a:off x="700126" y="1772964"/>
            <a:ext cx="312239" cy="67863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사각형: 둥근 모서리 5">
            <a:extLst>
              <a:ext uri="{FF2B5EF4-FFF2-40B4-BE49-F238E27FC236}">
                <a16:creationId xmlns:a16="http://schemas.microsoft.com/office/drawing/2014/main" id="{410E5459-200D-7630-863C-88E5109259DF}"/>
              </a:ext>
            </a:extLst>
          </p:cNvPr>
          <p:cNvSpPr/>
          <p:nvPr/>
        </p:nvSpPr>
        <p:spPr>
          <a:xfrm>
            <a:off x="2213130" y="38670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서약서</a:t>
            </a:r>
            <a:r>
              <a:rPr lang="en-US" altLang="ko-KR" sz="800" dirty="0">
                <a:solidFill>
                  <a:schemeClr val="tx1"/>
                </a:solidFill>
              </a:rPr>
              <a:t>1</a:t>
            </a:r>
            <a:endParaRPr lang="ko-KR" altLang="en-US" sz="800" dirty="0">
              <a:solidFill>
                <a:schemeClr val="tx1"/>
              </a:solidFill>
            </a:endParaRPr>
          </a:p>
        </p:txBody>
      </p:sp>
      <p:sp>
        <p:nvSpPr>
          <p:cNvPr id="83" name="사각형: 둥근 모서리 5">
            <a:extLst>
              <a:ext uri="{FF2B5EF4-FFF2-40B4-BE49-F238E27FC236}">
                <a16:creationId xmlns:a16="http://schemas.microsoft.com/office/drawing/2014/main" id="{410E5459-200D-7630-863C-88E5109259DF}"/>
              </a:ext>
            </a:extLst>
          </p:cNvPr>
          <p:cNvSpPr/>
          <p:nvPr/>
        </p:nvSpPr>
        <p:spPr>
          <a:xfrm>
            <a:off x="2213130" y="437915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서약서</a:t>
            </a:r>
            <a:r>
              <a:rPr lang="en-US" altLang="ko-KR" sz="800" dirty="0" smtClean="0">
                <a:solidFill>
                  <a:schemeClr val="tx1"/>
                </a:solidFill>
              </a:rPr>
              <a:t>2</a:t>
            </a:r>
            <a:endParaRPr lang="ko-KR" altLang="en-US" sz="800" dirty="0">
              <a:solidFill>
                <a:schemeClr val="tx1"/>
              </a:solidFill>
            </a:endParaRPr>
          </a:p>
        </p:txBody>
      </p:sp>
      <p:sp>
        <p:nvSpPr>
          <p:cNvPr id="88" name="사각형: 둥근 모서리 5">
            <a:extLst>
              <a:ext uri="{FF2B5EF4-FFF2-40B4-BE49-F238E27FC236}">
                <a16:creationId xmlns:a16="http://schemas.microsoft.com/office/drawing/2014/main" id="{410E5459-200D-7630-863C-88E5109259DF}"/>
              </a:ext>
            </a:extLst>
          </p:cNvPr>
          <p:cNvSpPr/>
          <p:nvPr/>
        </p:nvSpPr>
        <p:spPr>
          <a:xfrm>
            <a:off x="2213130" y="48886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서약서</a:t>
            </a:r>
            <a:r>
              <a:rPr lang="en-US" altLang="ko-KR" sz="800" dirty="0" smtClean="0">
                <a:solidFill>
                  <a:schemeClr val="tx1"/>
                </a:solidFill>
              </a:rPr>
              <a:t>3</a:t>
            </a:r>
            <a:endParaRPr lang="ko-KR" altLang="en-US" sz="800" dirty="0">
              <a:solidFill>
                <a:schemeClr val="tx1"/>
              </a:solidFill>
            </a:endParaRPr>
          </a:p>
        </p:txBody>
      </p:sp>
      <p:sp>
        <p:nvSpPr>
          <p:cNvPr id="110" name="직사각형 109">
            <a:extLst>
              <a:ext uri="{FF2B5EF4-FFF2-40B4-BE49-F238E27FC236}">
                <a16:creationId xmlns:a16="http://schemas.microsoft.com/office/drawing/2014/main" id="{F249990F-1DE5-C694-BDBD-2DE7009D57EA}"/>
              </a:ext>
            </a:extLst>
          </p:cNvPr>
          <p:cNvSpPr/>
          <p:nvPr/>
        </p:nvSpPr>
        <p:spPr>
          <a:xfrm>
            <a:off x="2229403" y="4166288"/>
            <a:ext cx="1239122"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조세포탈 사실 없음 서약서</a:t>
            </a:r>
          </a:p>
        </p:txBody>
      </p:sp>
      <p:sp>
        <p:nvSpPr>
          <p:cNvPr id="111" name="직사각형 110">
            <a:extLst>
              <a:ext uri="{FF2B5EF4-FFF2-40B4-BE49-F238E27FC236}">
                <a16:creationId xmlns:a16="http://schemas.microsoft.com/office/drawing/2014/main" id="{F249990F-1DE5-C694-BDBD-2DE7009D57EA}"/>
              </a:ext>
            </a:extLst>
          </p:cNvPr>
          <p:cNvSpPr/>
          <p:nvPr/>
        </p:nvSpPr>
        <p:spPr>
          <a:xfrm>
            <a:off x="2229403" y="4675130"/>
            <a:ext cx="718145"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청렴이행서약서</a:t>
            </a:r>
          </a:p>
        </p:txBody>
      </p:sp>
      <p:sp>
        <p:nvSpPr>
          <p:cNvPr id="112" name="직사각형 111">
            <a:extLst>
              <a:ext uri="{FF2B5EF4-FFF2-40B4-BE49-F238E27FC236}">
                <a16:creationId xmlns:a16="http://schemas.microsoft.com/office/drawing/2014/main" id="{F249990F-1DE5-C694-BDBD-2DE7009D57EA}"/>
              </a:ext>
            </a:extLst>
          </p:cNvPr>
          <p:cNvSpPr/>
          <p:nvPr/>
        </p:nvSpPr>
        <p:spPr>
          <a:xfrm>
            <a:off x="2229403" y="5177734"/>
            <a:ext cx="997068"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하도급대금 </a:t>
            </a:r>
            <a:r>
              <a:rPr lang="ko-KR" altLang="en-US" sz="800" dirty="0" smtClean="0">
                <a:solidFill>
                  <a:schemeClr val="tx1"/>
                </a:solidFill>
              </a:rPr>
              <a:t>지급 관련</a:t>
            </a:r>
            <a:endParaRPr lang="en-US" altLang="ko-KR" sz="800" dirty="0" smtClean="0">
              <a:solidFill>
                <a:schemeClr val="tx1"/>
              </a:solidFill>
            </a:endParaRPr>
          </a:p>
          <a:p>
            <a:r>
              <a:rPr lang="ko-KR" altLang="en-US" sz="800" dirty="0" smtClean="0">
                <a:solidFill>
                  <a:schemeClr val="tx1"/>
                </a:solidFill>
              </a:rPr>
              <a:t>확인 </a:t>
            </a:r>
            <a:r>
              <a:rPr lang="ko-KR" altLang="en-US" sz="800" dirty="0">
                <a:solidFill>
                  <a:schemeClr val="tx1"/>
                </a:solidFill>
              </a:rPr>
              <a:t>및 확약서</a:t>
            </a:r>
          </a:p>
        </p:txBody>
      </p:sp>
      <p:sp>
        <p:nvSpPr>
          <p:cNvPr id="113" name="사각형: 둥근 모서리 5">
            <a:extLst>
              <a:ext uri="{FF2B5EF4-FFF2-40B4-BE49-F238E27FC236}">
                <a16:creationId xmlns:a16="http://schemas.microsoft.com/office/drawing/2014/main" id="{410E5459-200D-7630-863C-88E5109259DF}"/>
              </a:ext>
            </a:extLst>
          </p:cNvPr>
          <p:cNvSpPr/>
          <p:nvPr/>
        </p:nvSpPr>
        <p:spPr>
          <a:xfrm>
            <a:off x="2136825" y="3650796"/>
            <a:ext cx="1364267" cy="1883014"/>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r>
              <a:rPr lang="ko-KR" altLang="en-US" sz="800" b="1" dirty="0" smtClean="0">
                <a:solidFill>
                  <a:schemeClr val="tx1"/>
                </a:solidFill>
              </a:rPr>
              <a:t>서약서 목록</a:t>
            </a:r>
            <a:endParaRPr lang="ko-KR" altLang="en-US" sz="800" b="1" dirty="0">
              <a:solidFill>
                <a:schemeClr val="tx1"/>
              </a:solidFill>
            </a:endParaRPr>
          </a:p>
        </p:txBody>
      </p:sp>
      <p:cxnSp>
        <p:nvCxnSpPr>
          <p:cNvPr id="114" name="연결선: 꺾임 7">
            <a:extLst>
              <a:ext uri="{FF2B5EF4-FFF2-40B4-BE49-F238E27FC236}">
                <a16:creationId xmlns:a16="http://schemas.microsoft.com/office/drawing/2014/main" id="{89A2D828-4C18-4F90-6B31-722E89773AA8}"/>
              </a:ext>
            </a:extLst>
          </p:cNvPr>
          <p:cNvCxnSpPr>
            <a:cxnSpLocks/>
            <a:stCxn id="113" idx="0"/>
            <a:endCxn id="122" idx="2"/>
          </p:cNvCxnSpPr>
          <p:nvPr/>
        </p:nvCxnSpPr>
        <p:spPr>
          <a:xfrm rot="5400000" flipH="1" flipV="1">
            <a:off x="2369290" y="3048529"/>
            <a:ext cx="1051937" cy="15259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5" name="사각형: 둥근 모서리 5">
            <a:extLst>
              <a:ext uri="{FF2B5EF4-FFF2-40B4-BE49-F238E27FC236}">
                <a16:creationId xmlns:a16="http://schemas.microsoft.com/office/drawing/2014/main" id="{410E5459-200D-7630-863C-88E5109259DF}"/>
              </a:ext>
            </a:extLst>
          </p:cNvPr>
          <p:cNvSpPr/>
          <p:nvPr/>
        </p:nvSpPr>
        <p:spPr>
          <a:xfrm>
            <a:off x="7049133"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3-</a:t>
            </a:r>
            <a:r>
              <a:rPr lang="ko-KR" altLang="en-US" sz="800" dirty="0" err="1">
                <a:solidFill>
                  <a:schemeClr val="tx1"/>
                </a:solidFill>
              </a:rPr>
              <a:t>공종및면허</a:t>
            </a:r>
            <a:endParaRPr lang="ko-KR" altLang="en-US" sz="800" dirty="0">
              <a:solidFill>
                <a:schemeClr val="tx1"/>
              </a:solidFill>
            </a:endParaRPr>
          </a:p>
        </p:txBody>
      </p:sp>
      <p:sp>
        <p:nvSpPr>
          <p:cNvPr id="116" name="사각형: 둥근 모서리 5">
            <a:extLst>
              <a:ext uri="{FF2B5EF4-FFF2-40B4-BE49-F238E27FC236}">
                <a16:creationId xmlns:a16="http://schemas.microsoft.com/office/drawing/2014/main" id="{410E5459-200D-7630-863C-88E5109259DF}"/>
              </a:ext>
            </a:extLst>
          </p:cNvPr>
          <p:cNvSpPr/>
          <p:nvPr/>
        </p:nvSpPr>
        <p:spPr>
          <a:xfrm>
            <a:off x="8558324"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스탭</a:t>
            </a:r>
            <a:r>
              <a:rPr lang="en-US" altLang="ko-KR" sz="800" dirty="0">
                <a:solidFill>
                  <a:schemeClr val="tx1"/>
                </a:solidFill>
              </a:rPr>
              <a:t>4-</a:t>
            </a:r>
            <a:r>
              <a:rPr lang="ko-KR" altLang="en-US" sz="800" dirty="0">
                <a:solidFill>
                  <a:schemeClr val="tx1"/>
                </a:solidFill>
              </a:rPr>
              <a:t>입찰보증금</a:t>
            </a:r>
          </a:p>
        </p:txBody>
      </p:sp>
      <p:sp>
        <p:nvSpPr>
          <p:cNvPr id="117" name="사각형: 둥근 모서리 5">
            <a:extLst>
              <a:ext uri="{FF2B5EF4-FFF2-40B4-BE49-F238E27FC236}">
                <a16:creationId xmlns:a16="http://schemas.microsoft.com/office/drawing/2014/main" id="{410E5459-200D-7630-863C-88E5109259DF}"/>
              </a:ext>
            </a:extLst>
          </p:cNvPr>
          <p:cNvSpPr/>
          <p:nvPr/>
        </p:nvSpPr>
        <p:spPr>
          <a:xfrm>
            <a:off x="8558324" y="168067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면제여부상세</a:t>
            </a: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40" idx="3"/>
            <a:endCxn id="115" idx="1"/>
          </p:cNvCxnSpPr>
          <p:nvPr/>
        </p:nvCxnSpPr>
        <p:spPr>
          <a:xfrm>
            <a:off x="6439941" y="2454859"/>
            <a:ext cx="60919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직선 화살표 연결선 123">
            <a:extLst>
              <a:ext uri="{FF2B5EF4-FFF2-40B4-BE49-F238E27FC236}">
                <a16:creationId xmlns:a16="http://schemas.microsoft.com/office/drawing/2014/main" id="{9A519F08-B829-E35F-09D8-DFCD1F68B911}"/>
              </a:ext>
            </a:extLst>
          </p:cNvPr>
          <p:cNvCxnSpPr>
            <a:cxnSpLocks/>
            <a:stCxn id="115" idx="3"/>
            <a:endCxn id="116" idx="1"/>
          </p:cNvCxnSpPr>
          <p:nvPr/>
        </p:nvCxnSpPr>
        <p:spPr>
          <a:xfrm>
            <a:off x="7949133" y="2454859"/>
            <a:ext cx="60919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직선 화살표 연결선 124">
            <a:extLst>
              <a:ext uri="{FF2B5EF4-FFF2-40B4-BE49-F238E27FC236}">
                <a16:creationId xmlns:a16="http://schemas.microsoft.com/office/drawing/2014/main" id="{9A519F08-B829-E35F-09D8-DFCD1F68B911}"/>
              </a:ext>
            </a:extLst>
          </p:cNvPr>
          <p:cNvCxnSpPr>
            <a:cxnSpLocks/>
            <a:stCxn id="116" idx="0"/>
            <a:endCxn id="117" idx="2"/>
          </p:cNvCxnSpPr>
          <p:nvPr/>
        </p:nvCxnSpPr>
        <p:spPr>
          <a:xfrm flipV="1">
            <a:off x="9008324" y="1968675"/>
            <a:ext cx="0" cy="34218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연결선: 꺾임 7">
            <a:extLst>
              <a:ext uri="{FF2B5EF4-FFF2-40B4-BE49-F238E27FC236}">
                <a16:creationId xmlns:a16="http://schemas.microsoft.com/office/drawing/2014/main" id="{89A2D828-4C18-4F90-6B31-722E89773AA8}"/>
              </a:ext>
            </a:extLst>
          </p:cNvPr>
          <p:cNvCxnSpPr>
            <a:cxnSpLocks/>
          </p:cNvCxnSpPr>
          <p:nvPr/>
        </p:nvCxnSpPr>
        <p:spPr>
          <a:xfrm rot="10800000" flipV="1">
            <a:off x="8558324" y="1763712"/>
            <a:ext cx="12700" cy="630184"/>
          </a:xfrm>
          <a:prstGeom prst="bentConnector3">
            <a:avLst>
              <a:gd name="adj1" fmla="val 180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직선 화살표 연결선 128">
            <a:extLst>
              <a:ext uri="{FF2B5EF4-FFF2-40B4-BE49-F238E27FC236}">
                <a16:creationId xmlns:a16="http://schemas.microsoft.com/office/drawing/2014/main" id="{9A519F08-B829-E35F-09D8-DFCD1F68B911}"/>
              </a:ext>
            </a:extLst>
          </p:cNvPr>
          <p:cNvCxnSpPr>
            <a:cxnSpLocks/>
            <a:stCxn id="116" idx="2"/>
            <a:endCxn id="74" idx="0"/>
          </p:cNvCxnSpPr>
          <p:nvPr/>
        </p:nvCxnSpPr>
        <p:spPr>
          <a:xfrm>
            <a:off x="9008324" y="2598859"/>
            <a:ext cx="0" cy="4000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0" name="사각형: 둥근 모서리 5">
            <a:extLst>
              <a:ext uri="{FF2B5EF4-FFF2-40B4-BE49-F238E27FC236}">
                <a16:creationId xmlns:a16="http://schemas.microsoft.com/office/drawing/2014/main" id="{410E5459-200D-7630-863C-88E5109259DF}"/>
              </a:ext>
            </a:extLst>
          </p:cNvPr>
          <p:cNvSpPr/>
          <p:nvPr/>
        </p:nvSpPr>
        <p:spPr>
          <a:xfrm>
            <a:off x="8558324" y="36247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등록업체검색</a:t>
            </a:r>
          </a:p>
        </p:txBody>
      </p:sp>
      <p:cxnSp>
        <p:nvCxnSpPr>
          <p:cNvPr id="131" name="직선 화살표 연결선 130">
            <a:extLst>
              <a:ext uri="{FF2B5EF4-FFF2-40B4-BE49-F238E27FC236}">
                <a16:creationId xmlns:a16="http://schemas.microsoft.com/office/drawing/2014/main" id="{9A519F08-B829-E35F-09D8-DFCD1F68B911}"/>
              </a:ext>
            </a:extLst>
          </p:cNvPr>
          <p:cNvCxnSpPr>
            <a:cxnSpLocks/>
            <a:stCxn id="74" idx="2"/>
            <a:endCxn id="130" idx="0"/>
          </p:cNvCxnSpPr>
          <p:nvPr/>
        </p:nvCxnSpPr>
        <p:spPr>
          <a:xfrm>
            <a:off x="9008324" y="3286931"/>
            <a:ext cx="0" cy="3378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연결선: 꺾임 7">
            <a:extLst>
              <a:ext uri="{FF2B5EF4-FFF2-40B4-BE49-F238E27FC236}">
                <a16:creationId xmlns:a16="http://schemas.microsoft.com/office/drawing/2014/main" id="{89A2D828-4C18-4F90-6B31-722E89773AA8}"/>
              </a:ext>
            </a:extLst>
          </p:cNvPr>
          <p:cNvCxnSpPr>
            <a:cxnSpLocks/>
            <a:stCxn id="130" idx="3"/>
            <a:endCxn id="74" idx="3"/>
          </p:cNvCxnSpPr>
          <p:nvPr/>
        </p:nvCxnSpPr>
        <p:spPr>
          <a:xfrm flipV="1">
            <a:off x="9458324" y="3142931"/>
            <a:ext cx="12700" cy="625824"/>
          </a:xfrm>
          <a:prstGeom prst="bentConnector3">
            <a:avLst>
              <a:gd name="adj1" fmla="val 180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4" name="사각형: 둥근 모서리 5">
            <a:extLst>
              <a:ext uri="{FF2B5EF4-FFF2-40B4-BE49-F238E27FC236}">
                <a16:creationId xmlns:a16="http://schemas.microsoft.com/office/drawing/2014/main" id="{410E5459-200D-7630-863C-88E5109259DF}"/>
              </a:ext>
            </a:extLst>
          </p:cNvPr>
          <p:cNvSpPr/>
          <p:nvPr/>
        </p:nvSpPr>
        <p:spPr>
          <a:xfrm>
            <a:off x="3781221" y="38681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동의서</a:t>
            </a:r>
            <a:r>
              <a:rPr lang="en-US" altLang="ko-KR" sz="800" dirty="0">
                <a:solidFill>
                  <a:schemeClr val="tx1"/>
                </a:solidFill>
              </a:rPr>
              <a:t>1</a:t>
            </a:r>
            <a:endParaRPr lang="ko-KR" altLang="en-US" sz="800" dirty="0">
              <a:solidFill>
                <a:schemeClr val="tx1"/>
              </a:solidFill>
            </a:endParaRPr>
          </a:p>
        </p:txBody>
      </p:sp>
      <p:sp>
        <p:nvSpPr>
          <p:cNvPr id="135" name="사각형: 둥근 모서리 5">
            <a:extLst>
              <a:ext uri="{FF2B5EF4-FFF2-40B4-BE49-F238E27FC236}">
                <a16:creationId xmlns:a16="http://schemas.microsoft.com/office/drawing/2014/main" id="{410E5459-200D-7630-863C-88E5109259DF}"/>
              </a:ext>
            </a:extLst>
          </p:cNvPr>
          <p:cNvSpPr/>
          <p:nvPr/>
        </p:nvSpPr>
        <p:spPr>
          <a:xfrm>
            <a:off x="3781221" y="445981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동의서</a:t>
            </a:r>
            <a:r>
              <a:rPr lang="en-US" altLang="ko-KR" sz="800" dirty="0" smtClean="0">
                <a:solidFill>
                  <a:schemeClr val="tx1"/>
                </a:solidFill>
              </a:rPr>
              <a:t>3</a:t>
            </a:r>
            <a:endParaRPr lang="ko-KR" altLang="en-US" sz="800" dirty="0">
              <a:solidFill>
                <a:schemeClr val="tx1"/>
              </a:solidFill>
            </a:endParaRPr>
          </a:p>
        </p:txBody>
      </p:sp>
      <p:sp>
        <p:nvSpPr>
          <p:cNvPr id="136" name="사각형: 둥근 모서리 5">
            <a:extLst>
              <a:ext uri="{FF2B5EF4-FFF2-40B4-BE49-F238E27FC236}">
                <a16:creationId xmlns:a16="http://schemas.microsoft.com/office/drawing/2014/main" id="{410E5459-200D-7630-863C-88E5109259DF}"/>
              </a:ext>
            </a:extLst>
          </p:cNvPr>
          <p:cNvSpPr/>
          <p:nvPr/>
        </p:nvSpPr>
        <p:spPr>
          <a:xfrm>
            <a:off x="3781221" y="50464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동의서</a:t>
            </a:r>
            <a:r>
              <a:rPr lang="en-US" altLang="ko-KR" sz="800" dirty="0" smtClean="0">
                <a:solidFill>
                  <a:schemeClr val="tx1"/>
                </a:solidFill>
              </a:rPr>
              <a:t>5</a:t>
            </a:r>
            <a:endParaRPr lang="ko-KR" altLang="en-US" sz="800" dirty="0">
              <a:solidFill>
                <a:schemeClr val="tx1"/>
              </a:solidFill>
            </a:endParaRPr>
          </a:p>
        </p:txBody>
      </p:sp>
      <p:sp>
        <p:nvSpPr>
          <p:cNvPr id="137" name="직사각형 136">
            <a:extLst>
              <a:ext uri="{FF2B5EF4-FFF2-40B4-BE49-F238E27FC236}">
                <a16:creationId xmlns:a16="http://schemas.microsoft.com/office/drawing/2014/main" id="{F249990F-1DE5-C694-BDBD-2DE7009D57EA}"/>
              </a:ext>
            </a:extLst>
          </p:cNvPr>
          <p:cNvSpPr/>
          <p:nvPr/>
        </p:nvSpPr>
        <p:spPr>
          <a:xfrm>
            <a:off x="3797494" y="4167971"/>
            <a:ext cx="997068"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국방규격</a:t>
            </a:r>
            <a:r>
              <a:rPr lang="ko-KR" altLang="en-US" sz="800" dirty="0">
                <a:solidFill>
                  <a:schemeClr val="tx1"/>
                </a:solidFill>
              </a:rPr>
              <a:t> 및 </a:t>
            </a:r>
            <a:r>
              <a:rPr lang="ko-KR" altLang="en-US" sz="800" dirty="0" smtClean="0">
                <a:solidFill>
                  <a:schemeClr val="tx1"/>
                </a:solidFill>
              </a:rPr>
              <a:t>계약이행</a:t>
            </a:r>
            <a:endParaRPr lang="en-US" altLang="ko-KR" sz="800" dirty="0" smtClean="0">
              <a:solidFill>
                <a:schemeClr val="tx1"/>
              </a:solidFill>
            </a:endParaRPr>
          </a:p>
          <a:p>
            <a:r>
              <a:rPr lang="ko-KR" altLang="en-US" sz="800" dirty="0" smtClean="0">
                <a:solidFill>
                  <a:schemeClr val="tx1"/>
                </a:solidFill>
              </a:rPr>
              <a:t>가능성 </a:t>
            </a:r>
            <a:r>
              <a:rPr lang="ko-KR" altLang="en-US" sz="800" dirty="0">
                <a:solidFill>
                  <a:schemeClr val="tx1"/>
                </a:solidFill>
              </a:rPr>
              <a:t>확인 동의</a:t>
            </a:r>
          </a:p>
        </p:txBody>
      </p:sp>
      <p:sp>
        <p:nvSpPr>
          <p:cNvPr id="139" name="직사각형 138">
            <a:extLst>
              <a:ext uri="{FF2B5EF4-FFF2-40B4-BE49-F238E27FC236}">
                <a16:creationId xmlns:a16="http://schemas.microsoft.com/office/drawing/2014/main" id="{F249990F-1DE5-C694-BDBD-2DE7009D57EA}"/>
              </a:ext>
            </a:extLst>
          </p:cNvPr>
          <p:cNvSpPr/>
          <p:nvPr/>
        </p:nvSpPr>
        <p:spPr>
          <a:xfrm>
            <a:off x="3797494" y="4771406"/>
            <a:ext cx="1062791"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하도급대금의 </a:t>
            </a:r>
            <a:r>
              <a:rPr lang="ko-KR" altLang="en-US" sz="800" dirty="0" smtClean="0">
                <a:solidFill>
                  <a:schemeClr val="tx1"/>
                </a:solidFill>
              </a:rPr>
              <a:t>지급관련</a:t>
            </a:r>
            <a:endParaRPr lang="en-US" altLang="ko-KR" sz="800" dirty="0" smtClean="0">
              <a:solidFill>
                <a:schemeClr val="tx1"/>
              </a:solidFill>
            </a:endParaRPr>
          </a:p>
          <a:p>
            <a:r>
              <a:rPr lang="ko-KR" altLang="en-US" sz="800" dirty="0" smtClean="0">
                <a:solidFill>
                  <a:schemeClr val="tx1"/>
                </a:solidFill>
              </a:rPr>
              <a:t>확인 </a:t>
            </a:r>
            <a:r>
              <a:rPr lang="ko-KR" altLang="en-US" sz="800" dirty="0">
                <a:solidFill>
                  <a:schemeClr val="tx1"/>
                </a:solidFill>
              </a:rPr>
              <a:t>및 확약서</a:t>
            </a:r>
          </a:p>
        </p:txBody>
      </p:sp>
      <p:sp>
        <p:nvSpPr>
          <p:cNvPr id="140" name="직사각형 139">
            <a:extLst>
              <a:ext uri="{FF2B5EF4-FFF2-40B4-BE49-F238E27FC236}">
                <a16:creationId xmlns:a16="http://schemas.microsoft.com/office/drawing/2014/main" id="{F249990F-1DE5-C694-BDBD-2DE7009D57EA}"/>
              </a:ext>
            </a:extLst>
          </p:cNvPr>
          <p:cNvSpPr/>
          <p:nvPr/>
        </p:nvSpPr>
        <p:spPr>
          <a:xfrm>
            <a:off x="3797494" y="5335565"/>
            <a:ext cx="1062791"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입찰보증금 </a:t>
            </a:r>
            <a:r>
              <a:rPr lang="ko-KR" altLang="en-US" sz="800" dirty="0" err="1">
                <a:solidFill>
                  <a:schemeClr val="tx1"/>
                </a:solidFill>
              </a:rPr>
              <a:t>지급확약서</a:t>
            </a:r>
            <a:endParaRPr lang="en-US" altLang="ko-KR" sz="800" dirty="0">
              <a:solidFill>
                <a:schemeClr val="tx1"/>
              </a:solidFill>
            </a:endParaRPr>
          </a:p>
          <a:p>
            <a:r>
              <a:rPr lang="ko-KR" altLang="en-US" sz="800" dirty="0">
                <a:solidFill>
                  <a:schemeClr val="tx1"/>
                </a:solidFill>
              </a:rPr>
              <a:t>관련 경고문</a:t>
            </a:r>
          </a:p>
        </p:txBody>
      </p:sp>
      <p:sp>
        <p:nvSpPr>
          <p:cNvPr id="141" name="사각형: 둥근 모서리 5">
            <a:extLst>
              <a:ext uri="{FF2B5EF4-FFF2-40B4-BE49-F238E27FC236}">
                <a16:creationId xmlns:a16="http://schemas.microsoft.com/office/drawing/2014/main" id="{410E5459-200D-7630-863C-88E5109259DF}"/>
              </a:ext>
            </a:extLst>
          </p:cNvPr>
          <p:cNvSpPr/>
          <p:nvPr/>
        </p:nvSpPr>
        <p:spPr>
          <a:xfrm>
            <a:off x="3704916" y="3651922"/>
            <a:ext cx="2390322" cy="2086758"/>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r>
              <a:rPr lang="ko-KR" altLang="en-US" sz="800" b="1" dirty="0" smtClean="0">
                <a:solidFill>
                  <a:schemeClr val="tx1"/>
                </a:solidFill>
              </a:rPr>
              <a:t>동의서 목록</a:t>
            </a:r>
            <a:endParaRPr lang="ko-KR" altLang="en-US" sz="800" b="1" dirty="0">
              <a:solidFill>
                <a:schemeClr val="tx1"/>
              </a:solidFill>
            </a:endParaRPr>
          </a:p>
        </p:txBody>
      </p:sp>
      <p:cxnSp>
        <p:nvCxnSpPr>
          <p:cNvPr id="142" name="연결선: 꺾임 7">
            <a:extLst>
              <a:ext uri="{FF2B5EF4-FFF2-40B4-BE49-F238E27FC236}">
                <a16:creationId xmlns:a16="http://schemas.microsoft.com/office/drawing/2014/main" id="{89A2D828-4C18-4F90-6B31-722E89773AA8}"/>
              </a:ext>
            </a:extLst>
          </p:cNvPr>
          <p:cNvCxnSpPr>
            <a:cxnSpLocks/>
            <a:stCxn id="101" idx="1"/>
            <a:endCxn id="141" idx="0"/>
          </p:cNvCxnSpPr>
          <p:nvPr/>
        </p:nvCxnSpPr>
        <p:spPr>
          <a:xfrm rot="10800000" flipV="1">
            <a:off x="4900077" y="3142930"/>
            <a:ext cx="639864" cy="50899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직선 화살표 연결선 143">
            <a:extLst>
              <a:ext uri="{FF2B5EF4-FFF2-40B4-BE49-F238E27FC236}">
                <a16:creationId xmlns:a16="http://schemas.microsoft.com/office/drawing/2014/main" id="{9A519F08-B829-E35F-09D8-DFCD1F68B911}"/>
              </a:ext>
            </a:extLst>
          </p:cNvPr>
          <p:cNvCxnSpPr>
            <a:cxnSpLocks/>
          </p:cNvCxnSpPr>
          <p:nvPr/>
        </p:nvCxnSpPr>
        <p:spPr>
          <a:xfrm flipV="1">
            <a:off x="5779380" y="3286931"/>
            <a:ext cx="0" cy="36386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사각형: 둥근 모서리 5">
            <a:extLst>
              <a:ext uri="{FF2B5EF4-FFF2-40B4-BE49-F238E27FC236}">
                <a16:creationId xmlns:a16="http://schemas.microsoft.com/office/drawing/2014/main" id="{410E5459-200D-7630-863C-88E5109259DF}"/>
              </a:ext>
            </a:extLst>
          </p:cNvPr>
          <p:cNvSpPr/>
          <p:nvPr/>
        </p:nvSpPr>
        <p:spPr>
          <a:xfrm>
            <a:off x="4999395" y="38681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동의서</a:t>
            </a:r>
            <a:r>
              <a:rPr lang="en-US" altLang="ko-KR" sz="800" dirty="0" smtClean="0">
                <a:solidFill>
                  <a:schemeClr val="tx1"/>
                </a:solidFill>
              </a:rPr>
              <a:t>2</a:t>
            </a:r>
            <a:endParaRPr lang="ko-KR" altLang="en-US" sz="800" dirty="0">
              <a:solidFill>
                <a:schemeClr val="tx1"/>
              </a:solidFill>
            </a:endParaRPr>
          </a:p>
        </p:txBody>
      </p:sp>
      <p:sp>
        <p:nvSpPr>
          <p:cNvPr id="151" name="사각형: 둥근 모서리 5">
            <a:extLst>
              <a:ext uri="{FF2B5EF4-FFF2-40B4-BE49-F238E27FC236}">
                <a16:creationId xmlns:a16="http://schemas.microsoft.com/office/drawing/2014/main" id="{410E5459-200D-7630-863C-88E5109259DF}"/>
              </a:ext>
            </a:extLst>
          </p:cNvPr>
          <p:cNvSpPr/>
          <p:nvPr/>
        </p:nvSpPr>
        <p:spPr>
          <a:xfrm>
            <a:off x="4999395" y="445981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동의서</a:t>
            </a:r>
            <a:r>
              <a:rPr lang="en-US" altLang="ko-KR" sz="800" dirty="0" smtClean="0">
                <a:solidFill>
                  <a:schemeClr val="tx1"/>
                </a:solidFill>
              </a:rPr>
              <a:t>4</a:t>
            </a:r>
            <a:endParaRPr lang="ko-KR" altLang="en-US" sz="800" dirty="0">
              <a:solidFill>
                <a:schemeClr val="tx1"/>
              </a:solidFill>
            </a:endParaRPr>
          </a:p>
        </p:txBody>
      </p:sp>
      <p:sp>
        <p:nvSpPr>
          <p:cNvPr id="155" name="사각형: 둥근 모서리 5">
            <a:extLst>
              <a:ext uri="{FF2B5EF4-FFF2-40B4-BE49-F238E27FC236}">
                <a16:creationId xmlns:a16="http://schemas.microsoft.com/office/drawing/2014/main" id="{410E5459-200D-7630-863C-88E5109259DF}"/>
              </a:ext>
            </a:extLst>
          </p:cNvPr>
          <p:cNvSpPr/>
          <p:nvPr/>
        </p:nvSpPr>
        <p:spPr>
          <a:xfrm>
            <a:off x="4999395" y="50464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동의서</a:t>
            </a:r>
            <a:r>
              <a:rPr lang="en-US" altLang="ko-KR" sz="800" dirty="0" smtClean="0">
                <a:solidFill>
                  <a:schemeClr val="tx1"/>
                </a:solidFill>
              </a:rPr>
              <a:t>6</a:t>
            </a:r>
            <a:endParaRPr lang="ko-KR" altLang="en-US" sz="800" dirty="0">
              <a:solidFill>
                <a:schemeClr val="tx1"/>
              </a:solidFill>
            </a:endParaRPr>
          </a:p>
        </p:txBody>
      </p:sp>
      <p:sp>
        <p:nvSpPr>
          <p:cNvPr id="156" name="직사각형 155">
            <a:extLst>
              <a:ext uri="{FF2B5EF4-FFF2-40B4-BE49-F238E27FC236}">
                <a16:creationId xmlns:a16="http://schemas.microsoft.com/office/drawing/2014/main" id="{F249990F-1DE5-C694-BDBD-2DE7009D57EA}"/>
              </a:ext>
            </a:extLst>
          </p:cNvPr>
          <p:cNvSpPr/>
          <p:nvPr/>
        </p:nvSpPr>
        <p:spPr>
          <a:xfrm>
            <a:off x="4999395" y="4167971"/>
            <a:ext cx="41036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약관동의</a:t>
            </a:r>
          </a:p>
        </p:txBody>
      </p:sp>
      <p:sp>
        <p:nvSpPr>
          <p:cNvPr id="158" name="직사각형 157">
            <a:extLst>
              <a:ext uri="{FF2B5EF4-FFF2-40B4-BE49-F238E27FC236}">
                <a16:creationId xmlns:a16="http://schemas.microsoft.com/office/drawing/2014/main" id="{F249990F-1DE5-C694-BDBD-2DE7009D57EA}"/>
              </a:ext>
            </a:extLst>
          </p:cNvPr>
          <p:cNvSpPr/>
          <p:nvPr/>
        </p:nvSpPr>
        <p:spPr>
          <a:xfrm>
            <a:off x="4999395" y="4771406"/>
            <a:ext cx="1062791"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입찰보증금 </a:t>
            </a:r>
            <a:r>
              <a:rPr lang="ko-KR" altLang="en-US" sz="800" dirty="0" err="1" smtClean="0">
                <a:solidFill>
                  <a:schemeClr val="tx1"/>
                </a:solidFill>
              </a:rPr>
              <a:t>지급확약서</a:t>
            </a:r>
            <a:endParaRPr lang="en-US" altLang="ko-KR" sz="800" dirty="0" smtClean="0">
              <a:solidFill>
                <a:schemeClr val="tx1"/>
              </a:solidFill>
            </a:endParaRPr>
          </a:p>
          <a:p>
            <a:r>
              <a:rPr lang="ko-KR" altLang="en-US" sz="800" dirty="0" err="1" smtClean="0">
                <a:solidFill>
                  <a:schemeClr val="tx1"/>
                </a:solidFill>
              </a:rPr>
              <a:t>동의문</a:t>
            </a:r>
            <a:endParaRPr lang="ko-KR" altLang="en-US" sz="800" dirty="0">
              <a:solidFill>
                <a:schemeClr val="tx1"/>
              </a:solidFill>
            </a:endParaRPr>
          </a:p>
        </p:txBody>
      </p:sp>
      <p:sp>
        <p:nvSpPr>
          <p:cNvPr id="159" name="직사각형 158">
            <a:extLst>
              <a:ext uri="{FF2B5EF4-FFF2-40B4-BE49-F238E27FC236}">
                <a16:creationId xmlns:a16="http://schemas.microsoft.com/office/drawing/2014/main" id="{F249990F-1DE5-C694-BDBD-2DE7009D57EA}"/>
              </a:ext>
            </a:extLst>
          </p:cNvPr>
          <p:cNvSpPr/>
          <p:nvPr/>
        </p:nvSpPr>
        <p:spPr>
          <a:xfrm>
            <a:off x="4999395" y="5335565"/>
            <a:ext cx="96019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입찰보증금 </a:t>
            </a:r>
            <a:r>
              <a:rPr lang="ko-KR" altLang="en-US" sz="800" dirty="0" smtClean="0">
                <a:solidFill>
                  <a:schemeClr val="tx1"/>
                </a:solidFill>
              </a:rPr>
              <a:t>면제사유</a:t>
            </a:r>
            <a:endParaRPr lang="en-US" altLang="ko-KR" sz="800" dirty="0" smtClean="0">
              <a:solidFill>
                <a:schemeClr val="tx1"/>
              </a:solidFill>
            </a:endParaRPr>
          </a:p>
          <a:p>
            <a:r>
              <a:rPr lang="ko-KR" altLang="en-US" sz="800" dirty="0" smtClean="0">
                <a:solidFill>
                  <a:schemeClr val="tx1"/>
                </a:solidFill>
              </a:rPr>
              <a:t>확약서</a:t>
            </a:r>
            <a:endParaRPr lang="ko-KR" altLang="en-US" sz="800" dirty="0">
              <a:solidFill>
                <a:schemeClr val="tx1"/>
              </a:solidFill>
            </a:endParaRPr>
          </a:p>
        </p:txBody>
      </p:sp>
      <p:cxnSp>
        <p:nvCxnSpPr>
          <p:cNvPr id="161" name="연결선: 꺾임 7">
            <a:extLst>
              <a:ext uri="{FF2B5EF4-FFF2-40B4-BE49-F238E27FC236}">
                <a16:creationId xmlns:a16="http://schemas.microsoft.com/office/drawing/2014/main" id="{89A2D828-4C18-4F90-6B31-722E89773AA8}"/>
              </a:ext>
            </a:extLst>
          </p:cNvPr>
          <p:cNvCxnSpPr>
            <a:cxnSpLocks/>
            <a:stCxn id="101" idx="2"/>
            <a:endCxn id="162" idx="0"/>
          </p:cNvCxnSpPr>
          <p:nvPr/>
        </p:nvCxnSpPr>
        <p:spPr>
          <a:xfrm rot="16200000" flipH="1">
            <a:off x="5815528" y="3461343"/>
            <a:ext cx="963648" cy="614823"/>
          </a:xfrm>
          <a:prstGeom prst="bentConnector3">
            <a:avLst>
              <a:gd name="adj1" fmla="val 2108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2" name="사각형: 둥근 모서리 5">
            <a:extLst>
              <a:ext uri="{FF2B5EF4-FFF2-40B4-BE49-F238E27FC236}">
                <a16:creationId xmlns:a16="http://schemas.microsoft.com/office/drawing/2014/main" id="{410E5459-200D-7630-863C-88E5109259DF}"/>
              </a:ext>
            </a:extLst>
          </p:cNvPr>
          <p:cNvSpPr/>
          <p:nvPr/>
        </p:nvSpPr>
        <p:spPr>
          <a:xfrm>
            <a:off x="6154764" y="4250579"/>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smtClean="0">
                <a:solidFill>
                  <a:schemeClr val="tx1"/>
                </a:solidFill>
              </a:rPr>
              <a:t>신청 </a:t>
            </a:r>
            <a:r>
              <a:rPr lang="ko-KR" altLang="en-US" sz="800" dirty="0">
                <a:solidFill>
                  <a:schemeClr val="tx1"/>
                </a:solidFill>
              </a:rPr>
              <a:t>완료</a:t>
            </a:r>
          </a:p>
        </p:txBody>
      </p:sp>
      <p:cxnSp>
        <p:nvCxnSpPr>
          <p:cNvPr id="164" name="직선 화살표 연결선 163">
            <a:extLst>
              <a:ext uri="{FF2B5EF4-FFF2-40B4-BE49-F238E27FC236}">
                <a16:creationId xmlns:a16="http://schemas.microsoft.com/office/drawing/2014/main" id="{9A519F08-B829-E35F-09D8-DFCD1F68B911}"/>
              </a:ext>
            </a:extLst>
          </p:cNvPr>
          <p:cNvCxnSpPr>
            <a:cxnSpLocks/>
            <a:stCxn id="162" idx="2"/>
            <a:endCxn id="80" idx="0"/>
          </p:cNvCxnSpPr>
          <p:nvPr/>
        </p:nvCxnSpPr>
        <p:spPr>
          <a:xfrm>
            <a:off x="6604764" y="4538579"/>
            <a:ext cx="0" cy="50143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9" name="사각형: 둥근 모서리 5">
            <a:extLst>
              <a:ext uri="{FF2B5EF4-FFF2-40B4-BE49-F238E27FC236}">
                <a16:creationId xmlns:a16="http://schemas.microsoft.com/office/drawing/2014/main" id="{410E5459-200D-7630-863C-88E5109259DF}"/>
              </a:ext>
            </a:extLst>
          </p:cNvPr>
          <p:cNvSpPr/>
          <p:nvPr/>
        </p:nvSpPr>
        <p:spPr>
          <a:xfrm>
            <a:off x="7049133" y="36247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캐비닛 연결</a:t>
            </a:r>
          </a:p>
        </p:txBody>
      </p:sp>
      <p:cxnSp>
        <p:nvCxnSpPr>
          <p:cNvPr id="171" name="직선 화살표 연결선 170">
            <a:extLst>
              <a:ext uri="{FF2B5EF4-FFF2-40B4-BE49-F238E27FC236}">
                <a16:creationId xmlns:a16="http://schemas.microsoft.com/office/drawing/2014/main" id="{9A519F08-B829-E35F-09D8-DFCD1F68B911}"/>
              </a:ext>
            </a:extLst>
          </p:cNvPr>
          <p:cNvCxnSpPr>
            <a:cxnSpLocks/>
          </p:cNvCxnSpPr>
          <p:nvPr/>
        </p:nvCxnSpPr>
        <p:spPr>
          <a:xfrm flipH="1">
            <a:off x="2699238" y="2598859"/>
            <a:ext cx="1" cy="104672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직선 화살표 연결선 176">
            <a:extLst>
              <a:ext uri="{FF2B5EF4-FFF2-40B4-BE49-F238E27FC236}">
                <a16:creationId xmlns:a16="http://schemas.microsoft.com/office/drawing/2014/main" id="{9A519F08-B829-E35F-09D8-DFCD1F68B911}"/>
              </a:ext>
            </a:extLst>
          </p:cNvPr>
          <p:cNvCxnSpPr>
            <a:cxnSpLocks/>
          </p:cNvCxnSpPr>
          <p:nvPr/>
        </p:nvCxnSpPr>
        <p:spPr>
          <a:xfrm>
            <a:off x="7430977" y="3286931"/>
            <a:ext cx="0" cy="3378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직선 화살표 연결선 177">
            <a:extLst>
              <a:ext uri="{FF2B5EF4-FFF2-40B4-BE49-F238E27FC236}">
                <a16:creationId xmlns:a16="http://schemas.microsoft.com/office/drawing/2014/main" id="{9A519F08-B829-E35F-09D8-DFCD1F68B911}"/>
              </a:ext>
            </a:extLst>
          </p:cNvPr>
          <p:cNvCxnSpPr>
            <a:cxnSpLocks/>
          </p:cNvCxnSpPr>
          <p:nvPr/>
        </p:nvCxnSpPr>
        <p:spPr>
          <a:xfrm flipV="1">
            <a:off x="7547199" y="3286931"/>
            <a:ext cx="0" cy="3378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21747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116</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5.3 </a:t>
            </a:r>
            <a:r>
              <a:rPr lang="ko-KR" altLang="en-US" dirty="0"/>
              <a:t>앱 구성 다이어그램 </a:t>
            </a:r>
            <a:r>
              <a:rPr lang="en-US" altLang="ko-KR" dirty="0"/>
              <a:t>(2/2)</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72934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사전심사</a:t>
            </a:r>
            <a:r>
              <a:rPr lang="en-US" altLang="ko-KR" sz="1050" dirty="0">
                <a:solidFill>
                  <a:schemeClr val="tx1"/>
                </a:solidFill>
                <a:latin typeface="+mn-ea"/>
              </a:rPr>
              <a:t>(PQ)</a:t>
            </a:r>
            <a:r>
              <a:rPr lang="ko-KR" altLang="en-US" sz="1050" dirty="0">
                <a:solidFill>
                  <a:schemeClr val="tx1"/>
                </a:solidFill>
                <a:latin typeface="+mn-ea"/>
              </a:rPr>
              <a:t>신청</a:t>
            </a:r>
            <a:endParaRPr lang="en-US" altLang="ko-KR" sz="1050" dirty="0">
              <a:solidFill>
                <a:schemeClr val="tx1"/>
              </a:solidFill>
            </a:endParaRPr>
          </a:p>
          <a:p>
            <a:pPr algn="ctr"/>
            <a:r>
              <a:rPr lang="en-US" altLang="ko-KR" sz="1050" dirty="0">
                <a:solidFill>
                  <a:schemeClr val="tx1"/>
                </a:solidFill>
                <a:latin typeface="+mn-ea"/>
              </a:rPr>
              <a:t>BfhdSrngAplyPage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5260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입찰참가신청서작성</a:t>
            </a:r>
            <a:endParaRPr lang="en-US" altLang="ko-KR" sz="1050" dirty="0">
              <a:solidFill>
                <a:schemeClr val="tx1"/>
              </a:solidFill>
            </a:endParaRPr>
          </a:p>
          <a:p>
            <a:pPr algn="ctr"/>
            <a:r>
              <a:rPr lang="en-US" altLang="ko-KR" sz="1050" dirty="0">
                <a:solidFill>
                  <a:schemeClr val="tx1"/>
                </a:solidFill>
                <a:latin typeface="+mn-ea"/>
              </a:rPr>
              <a:t>BidPrtcpAperWrtPage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277586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입찰참가신청 </a:t>
            </a:r>
            <a:r>
              <a:rPr lang="en-US" altLang="ko-KR" sz="1050" dirty="0">
                <a:solidFill>
                  <a:schemeClr val="tx1"/>
                </a:solidFill>
                <a:latin typeface="+mn-ea"/>
              </a:rPr>
              <a:t>- </a:t>
            </a:r>
            <a:r>
              <a:rPr lang="ko-KR" altLang="en-US" sz="1050" dirty="0" err="1">
                <a:solidFill>
                  <a:schemeClr val="tx1"/>
                </a:solidFill>
                <a:latin typeface="+mn-ea"/>
              </a:rPr>
              <a:t>스탭</a:t>
            </a:r>
            <a:endParaRPr lang="en-US" altLang="ko-KR" sz="1050" dirty="0">
              <a:solidFill>
                <a:schemeClr val="tx1"/>
              </a:solidFill>
            </a:endParaRPr>
          </a:p>
          <a:p>
            <a:pPr algn="ctr"/>
            <a:r>
              <a:rPr lang="en-US" altLang="ko-KR" sz="1050" dirty="0">
                <a:solidFill>
                  <a:schemeClr val="tx1"/>
                </a:solidFill>
                <a:latin typeface="+mn-ea"/>
              </a:rPr>
              <a:t>BidPrtcpAperWrtPage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38115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사전심사</a:t>
            </a:r>
            <a:r>
              <a:rPr lang="en-US" altLang="ko-KR" sz="1100" dirty="0"/>
              <a:t>Controller&gt;&gt;</a:t>
            </a:r>
          </a:p>
          <a:p>
            <a:pPr algn="ctr"/>
            <a:r>
              <a:rPr lang="en-US" altLang="ko-KR" sz="1100" dirty="0" err="1">
                <a:solidFill>
                  <a:srgbClr val="000000"/>
                </a:solidFill>
                <a:latin typeface="+mn-ea"/>
              </a:rPr>
              <a:t>bfhdSrngCo</a:t>
            </a:r>
            <a:r>
              <a:rPr lang="en-US" altLang="ko-KR" sz="1100" dirty="0" err="1"/>
              <a:t>ntroller</a:t>
            </a:r>
            <a:endParaRPr lang="en-US" altLang="ko-KR" sz="1100" dirty="0"/>
          </a:p>
        </p:txBody>
      </p:sp>
      <p:sp>
        <p:nvSpPr>
          <p:cNvPr id="11" name="직사각형 10">
            <a:extLst>
              <a:ext uri="{FF2B5EF4-FFF2-40B4-BE49-F238E27FC236}">
                <a16:creationId xmlns:a16="http://schemas.microsoft.com/office/drawing/2014/main" id="{015A331E-505A-57E3-A763-CB0C8D48EC9A}"/>
              </a:ext>
            </a:extLst>
          </p:cNvPr>
          <p:cNvSpPr/>
          <p:nvPr/>
        </p:nvSpPr>
        <p:spPr>
          <a:xfrm>
            <a:off x="6913418" y="302701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949750"/>
            <a:ext cx="967509" cy="104042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3010"/>
            <a:ext cx="967509" cy="5171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6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flipV="1">
            <a:off x="5687291" y="2624138"/>
            <a:ext cx="1226127" cy="366036"/>
          </a:xfrm>
          <a:prstGeom prst="line">
            <a:avLst/>
          </a:prstGeom>
        </p:spPr>
        <p:style>
          <a:lnRef idx="1">
            <a:schemeClr val="dk1"/>
          </a:lnRef>
          <a:fillRef idx="0">
            <a:schemeClr val="dk1"/>
          </a:fillRef>
          <a:effectRef idx="0">
            <a:schemeClr val="dk1"/>
          </a:effectRef>
          <a:fontRef idx="minor">
            <a:schemeClr val="tx1"/>
          </a:fontRef>
        </p:style>
      </p:cxnSp>
      <p:cxnSp>
        <p:nvCxnSpPr>
          <p:cNvPr id="22" name="직선 연결선 21">
            <a:extLst>
              <a:ext uri="{FF2B5EF4-FFF2-40B4-BE49-F238E27FC236}">
                <a16:creationId xmlns:a16="http://schemas.microsoft.com/office/drawing/2014/main" id="{DB16E99B-0703-15BA-41A8-6D7E6BF1498E}"/>
              </a:ext>
            </a:extLst>
          </p:cNvPr>
          <p:cNvCxnSpPr>
            <a:cxnSpLocks/>
            <a:stCxn id="9" idx="3"/>
            <a:endCxn id="11" idx="1"/>
          </p:cNvCxnSpPr>
          <p:nvPr/>
        </p:nvCxnSpPr>
        <p:spPr>
          <a:xfrm>
            <a:off x="5687291" y="2990174"/>
            <a:ext cx="1226127" cy="27982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265382" y="3305110"/>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입찰서</a:t>
            </a:r>
            <a:r>
              <a:rPr lang="en-US" altLang="ko-KR" sz="1050" dirty="0">
                <a:solidFill>
                  <a:schemeClr val="tx1"/>
                </a:solidFill>
                <a:latin typeface="+mn-ea"/>
              </a:rPr>
              <a:t>(</a:t>
            </a:r>
            <a:r>
              <a:rPr lang="ko-KR" altLang="en-US" sz="1050" dirty="0">
                <a:solidFill>
                  <a:schemeClr val="tx1"/>
                </a:solidFill>
                <a:latin typeface="+mn-ea"/>
              </a:rPr>
              <a:t>견적서</a:t>
            </a:r>
            <a:r>
              <a:rPr lang="en-US" altLang="ko-KR" sz="1050" dirty="0">
                <a:solidFill>
                  <a:schemeClr val="tx1"/>
                </a:solidFill>
                <a:latin typeface="+mn-ea"/>
              </a:rPr>
              <a:t>)</a:t>
            </a:r>
            <a:r>
              <a:rPr lang="ko-KR" altLang="en-US" sz="1050" dirty="0">
                <a:solidFill>
                  <a:schemeClr val="tx1"/>
                </a:solidFill>
                <a:latin typeface="+mn-ea"/>
              </a:rPr>
              <a:t>작성</a:t>
            </a:r>
            <a:endParaRPr lang="en-US" altLang="ko-KR" sz="1050" dirty="0">
              <a:solidFill>
                <a:schemeClr val="tx1"/>
              </a:solidFill>
            </a:endParaRPr>
          </a:p>
          <a:p>
            <a:pPr algn="ctr"/>
            <a:r>
              <a:rPr lang="en-US" altLang="ko-KR" sz="1050" dirty="0">
                <a:solidFill>
                  <a:schemeClr val="tx1"/>
                </a:solidFill>
                <a:latin typeface="+mn-ea"/>
              </a:rPr>
              <a:t>TndrWrt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0" name="직사각형 29">
            <a:extLst>
              <a:ext uri="{FF2B5EF4-FFF2-40B4-BE49-F238E27FC236}">
                <a16:creationId xmlns:a16="http://schemas.microsoft.com/office/drawing/2014/main" id="{326CB017-8967-4DC4-0EAD-ADB3B9EAB841}"/>
              </a:ext>
            </a:extLst>
          </p:cNvPr>
          <p:cNvSpPr/>
          <p:nvPr/>
        </p:nvSpPr>
        <p:spPr>
          <a:xfrm>
            <a:off x="1265382" y="3834358"/>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입찰서</a:t>
            </a:r>
            <a:r>
              <a:rPr lang="en-US" altLang="ko-KR" sz="1050" dirty="0">
                <a:solidFill>
                  <a:schemeClr val="tx1"/>
                </a:solidFill>
                <a:latin typeface="+mn-ea"/>
              </a:rPr>
              <a:t>(</a:t>
            </a:r>
            <a:r>
              <a:rPr lang="ko-KR" altLang="en-US" sz="1050" dirty="0">
                <a:solidFill>
                  <a:schemeClr val="tx1"/>
                </a:solidFill>
                <a:latin typeface="+mn-ea"/>
              </a:rPr>
              <a:t>견적서</a:t>
            </a:r>
            <a:r>
              <a:rPr lang="en-US" altLang="ko-KR" sz="1050" dirty="0">
                <a:solidFill>
                  <a:schemeClr val="tx1"/>
                </a:solidFill>
                <a:latin typeface="+mn-ea"/>
              </a:rPr>
              <a:t>)</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endParaRPr lang="en-US" altLang="ko-KR" sz="1050" dirty="0">
              <a:solidFill>
                <a:schemeClr val="tx1"/>
              </a:solidFill>
            </a:endParaRPr>
          </a:p>
          <a:p>
            <a:pPr algn="ctr"/>
            <a:r>
              <a:rPr lang="en-US" altLang="ko-KR" sz="1050" dirty="0">
                <a:solidFill>
                  <a:schemeClr val="tx1"/>
                </a:solidFill>
                <a:latin typeface="+mn-ea"/>
              </a:rPr>
              <a:t>Stp1~7</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992582" y="2990174"/>
            <a:ext cx="967509" cy="5353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직선 화살표 연결선 37">
            <a:extLst>
              <a:ext uri="{FF2B5EF4-FFF2-40B4-BE49-F238E27FC236}">
                <a16:creationId xmlns:a16="http://schemas.microsoft.com/office/drawing/2014/main" id="{418E1257-E5C2-5705-1378-45505004ABAF}"/>
              </a:ext>
            </a:extLst>
          </p:cNvPr>
          <p:cNvCxnSpPr>
            <a:cxnSpLocks/>
            <a:stCxn id="30" idx="3"/>
            <a:endCxn id="9" idx="1"/>
          </p:cNvCxnSpPr>
          <p:nvPr/>
        </p:nvCxnSpPr>
        <p:spPr>
          <a:xfrm flipV="1">
            <a:off x="2992582" y="2990174"/>
            <a:ext cx="967509" cy="106459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6" name="직사각형 35">
            <a:extLst>
              <a:ext uri="{FF2B5EF4-FFF2-40B4-BE49-F238E27FC236}">
                <a16:creationId xmlns:a16="http://schemas.microsoft.com/office/drawing/2014/main" id="{015A331E-505A-57E3-A763-CB0C8D48EC9A}"/>
              </a:ext>
            </a:extLst>
          </p:cNvPr>
          <p:cNvSpPr/>
          <p:nvPr/>
        </p:nvSpPr>
        <p:spPr>
          <a:xfrm>
            <a:off x="6913418" y="3641291"/>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spTree>
    <p:extLst>
      <p:ext uri="{BB962C8B-B14F-4D97-AF65-F5344CB8AC3E}">
        <p14:creationId xmlns:p14="http://schemas.microsoft.com/office/powerpoint/2010/main" val="81670004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진행단계</a:t>
            </a:r>
            <a:r>
              <a:rPr lang="ko-KR" altLang="en-US" dirty="0"/>
              <a:t>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신청 시에는 </a:t>
            </a:r>
            <a:r>
              <a:rPr lang="ko-KR" altLang="en-US" dirty="0" err="1"/>
              <a:t>진행단계</a:t>
            </a:r>
            <a:r>
              <a:rPr lang="ko-KR" altLang="en-US" dirty="0"/>
              <a:t> </a:t>
            </a:r>
            <a:r>
              <a:rPr lang="ko-KR" altLang="en-US" dirty="0" err="1"/>
              <a:t>미표시</a:t>
            </a:r>
            <a:endParaRPr lang="en-US" altLang="ko-KR" dirty="0"/>
          </a:p>
          <a:p>
            <a:pPr marL="228600" indent="-228600">
              <a:buFont typeface="+mj-lt"/>
              <a:buAutoNum type="arabicPeriod"/>
            </a:pPr>
            <a:r>
              <a:rPr lang="ko-KR" altLang="en-US" dirty="0"/>
              <a:t>서약서 </a:t>
            </a:r>
            <a:r>
              <a:rPr lang="ko-KR" altLang="en-US" dirty="0" smtClean="0"/>
              <a:t>동의 </a:t>
            </a:r>
            <a:r>
              <a:rPr lang="en-US" altLang="ko-KR" dirty="0" smtClean="0"/>
              <a:t>(</a:t>
            </a:r>
            <a:r>
              <a:rPr lang="en-US" altLang="ko-KR" dirty="0" smtClean="0">
                <a:solidFill>
                  <a:srgbClr val="000000"/>
                </a:solidFill>
                <a:latin typeface="맑은 고딕" panose="020B0503020000020004" pitchFamily="50" charset="-127"/>
              </a:rPr>
              <a:t>MUI-BD-04-P02)</a:t>
            </a:r>
            <a:r>
              <a:rPr lang="en-US" altLang="ko-KR" dirty="0"/>
              <a:t/>
            </a:r>
            <a:br>
              <a:rPr lang="en-US" altLang="ko-KR" dirty="0"/>
            </a:br>
            <a:r>
              <a:rPr lang="en-US" altLang="ko-KR" dirty="0"/>
              <a:t>- </a:t>
            </a:r>
            <a:r>
              <a:rPr lang="ko-KR" altLang="en-US" dirty="0"/>
              <a:t>팝업을 통해 내용 확인 및 동의</a:t>
            </a:r>
            <a:endParaRPr lang="en-US" altLang="ko-KR" dirty="0"/>
          </a:p>
          <a:p>
            <a:pPr marL="228600" indent="-228600">
              <a:buFont typeface="+mj-lt"/>
              <a:buAutoNum type="arabicPeriod"/>
            </a:pPr>
            <a:r>
              <a:rPr lang="ko-KR" altLang="en-US" dirty="0"/>
              <a:t>사후심사대상인 경우 추가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서약서동의목록</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서약서 동의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6267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91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300302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5433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46851"/>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7819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60182"/>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571127" y="370060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3" name="그룹 2"/>
          <p:cNvGrpSpPr/>
          <p:nvPr/>
        </p:nvGrpSpPr>
        <p:grpSpPr>
          <a:xfrm>
            <a:off x="747926" y="3354509"/>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11" name="그룹 110"/>
            <p:cNvGrpSpPr/>
            <p:nvPr/>
          </p:nvGrpSpPr>
          <p:grpSpPr>
            <a:xfrm>
              <a:off x="747926" y="2310331"/>
              <a:ext cx="601001" cy="187961"/>
              <a:chOff x="747925" y="3237230"/>
              <a:chExt cx="601001" cy="187961"/>
            </a:xfrm>
          </p:grpSpPr>
          <p:grpSp>
            <p:nvGrpSpPr>
              <p:cNvPr id="112" name="그룹 111"/>
              <p:cNvGrpSpPr/>
              <p:nvPr/>
            </p:nvGrpSpPr>
            <p:grpSpPr>
              <a:xfrm>
                <a:off x="747925" y="3237230"/>
                <a:ext cx="187961" cy="187961"/>
                <a:chOff x="747925" y="3237230"/>
                <a:chExt cx="187961" cy="187961"/>
              </a:xfrm>
            </p:grpSpPr>
            <p:sp>
              <p:nvSpPr>
                <p:cNvPr id="114" name="타원 113"/>
                <p:cNvSpPr/>
                <p:nvPr/>
              </p:nvSpPr>
              <p:spPr>
                <a:xfrm>
                  <a:off x="747925"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3728734"/>
            <a:ext cx="2522014" cy="342712"/>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3838535"/>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7" y="3776980"/>
            <a:ext cx="1631857" cy="24622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latin typeface="맑은 고딕" panose="020B0503020000020004" pitchFamily="50" charset="-127"/>
              </a:rPr>
              <a:t>‘</a:t>
            </a:r>
            <a:r>
              <a:rPr lang="ko-KR" altLang="en-US" sz="800" dirty="0">
                <a:latin typeface="맑은 고딕" panose="020B0503020000020004" pitchFamily="50" charset="-127"/>
              </a:rPr>
              <a:t>조세포탈</a:t>
            </a:r>
            <a:r>
              <a:rPr lang="en-US" altLang="ko-KR" sz="800" dirty="0">
                <a:latin typeface="맑은 고딕" panose="020B0503020000020004" pitchFamily="50" charset="-127"/>
              </a:rPr>
              <a:t>’ </a:t>
            </a:r>
            <a:r>
              <a:rPr lang="ko-KR" altLang="en-US" sz="800" dirty="0">
                <a:latin typeface="맑은 고딕" panose="020B0503020000020004" pitchFamily="50" charset="-127"/>
              </a:rPr>
              <a:t>사실이 없음을 확약하는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서약서</a:t>
            </a:r>
            <a:endParaRPr lang="en-US" altLang="ko-KR" sz="800" dirty="0">
              <a:latin typeface="맑은 고딕" panose="020B0503020000020004" pitchFamily="50" charset="-127"/>
            </a:endParaRPr>
          </a:p>
        </p:txBody>
      </p:sp>
      <p:sp>
        <p:nvSpPr>
          <p:cNvPr id="132" name="모서리가 둥근 직사각형 131"/>
          <p:cNvSpPr/>
          <p:nvPr/>
        </p:nvSpPr>
        <p:spPr>
          <a:xfrm>
            <a:off x="2958909" y="3840390"/>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40" name="사각형: 둥근 모서리 15">
            <a:extLst>
              <a:ext uri="{FF2B5EF4-FFF2-40B4-BE49-F238E27FC236}">
                <a16:creationId xmlns:a16="http://schemas.microsoft.com/office/drawing/2014/main" id="{E2B61CFB-AD16-68D0-8752-50D9C5E01971}"/>
              </a:ext>
            </a:extLst>
          </p:cNvPr>
          <p:cNvSpPr/>
          <p:nvPr/>
        </p:nvSpPr>
        <p:spPr>
          <a:xfrm>
            <a:off x="767702" y="4162253"/>
            <a:ext cx="2522014" cy="2946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TextBox 58">
            <a:extLst>
              <a:ext uri="{FF2B5EF4-FFF2-40B4-BE49-F238E27FC236}">
                <a16:creationId xmlns:a16="http://schemas.microsoft.com/office/drawing/2014/main" id="{02FC114B-B48B-345F-BD70-2B5A196F5B3E}"/>
              </a:ext>
            </a:extLst>
          </p:cNvPr>
          <p:cNvSpPr txBox="1"/>
          <p:nvPr/>
        </p:nvSpPr>
        <p:spPr>
          <a:xfrm>
            <a:off x="865539" y="4243179"/>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2</a:t>
            </a:r>
            <a:endParaRPr lang="ko-KR" altLang="en-US" sz="800" b="1" dirty="0"/>
          </a:p>
        </p:txBody>
      </p:sp>
      <p:sp>
        <p:nvSpPr>
          <p:cNvPr id="142" name="TextBox 58">
            <a:extLst>
              <a:ext uri="{FF2B5EF4-FFF2-40B4-BE49-F238E27FC236}">
                <a16:creationId xmlns:a16="http://schemas.microsoft.com/office/drawing/2014/main" id="{02FC114B-B48B-345F-BD70-2B5A196F5B3E}"/>
              </a:ext>
            </a:extLst>
          </p:cNvPr>
          <p:cNvSpPr txBox="1"/>
          <p:nvPr/>
        </p:nvSpPr>
        <p:spPr>
          <a:xfrm>
            <a:off x="981277" y="4243179"/>
            <a:ext cx="1033937"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t>청렴 계약 이행 서약서</a:t>
            </a:r>
          </a:p>
        </p:txBody>
      </p:sp>
      <p:sp>
        <p:nvSpPr>
          <p:cNvPr id="143" name="모서리가 둥근 직사각형 142"/>
          <p:cNvSpPr/>
          <p:nvPr/>
        </p:nvSpPr>
        <p:spPr>
          <a:xfrm>
            <a:off x="2958909" y="4245034"/>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3842233"/>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99" name="사각형: 둥근 모서리 15">
            <a:extLst>
              <a:ext uri="{FF2B5EF4-FFF2-40B4-BE49-F238E27FC236}">
                <a16:creationId xmlns:a16="http://schemas.microsoft.com/office/drawing/2014/main" id="{E2B61CFB-AD16-68D0-8752-50D9C5E01971}"/>
              </a:ext>
            </a:extLst>
          </p:cNvPr>
          <p:cNvSpPr/>
          <p:nvPr/>
        </p:nvSpPr>
        <p:spPr>
          <a:xfrm>
            <a:off x="767702" y="4548833"/>
            <a:ext cx="2522014" cy="34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0" name="TextBox 58">
            <a:extLst>
              <a:ext uri="{FF2B5EF4-FFF2-40B4-BE49-F238E27FC236}">
                <a16:creationId xmlns:a16="http://schemas.microsoft.com/office/drawing/2014/main" id="{02FC114B-B48B-345F-BD70-2B5A196F5B3E}"/>
              </a:ext>
            </a:extLst>
          </p:cNvPr>
          <p:cNvSpPr txBox="1"/>
          <p:nvPr/>
        </p:nvSpPr>
        <p:spPr>
          <a:xfrm>
            <a:off x="865539" y="4658278"/>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3</a:t>
            </a:r>
            <a:endParaRPr lang="ko-KR" altLang="en-US" sz="800" b="1" dirty="0"/>
          </a:p>
        </p:txBody>
      </p:sp>
      <p:sp>
        <p:nvSpPr>
          <p:cNvPr id="202" name="TextBox 58">
            <a:extLst>
              <a:ext uri="{FF2B5EF4-FFF2-40B4-BE49-F238E27FC236}">
                <a16:creationId xmlns:a16="http://schemas.microsoft.com/office/drawing/2014/main" id="{02FC114B-B48B-345F-BD70-2B5A196F5B3E}"/>
              </a:ext>
            </a:extLst>
          </p:cNvPr>
          <p:cNvSpPr txBox="1"/>
          <p:nvPr/>
        </p:nvSpPr>
        <p:spPr>
          <a:xfrm>
            <a:off x="981277" y="4596723"/>
            <a:ext cx="16318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하도급대금의 지급관련 확인 및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확약서</a:t>
            </a:r>
            <a:endParaRPr lang="en-US" altLang="ko-KR" sz="800" dirty="0">
              <a:latin typeface="맑은 고딕" panose="020B0503020000020004" pitchFamily="50" charset="-127"/>
            </a:endParaRPr>
          </a:p>
        </p:txBody>
      </p:sp>
      <p:sp>
        <p:nvSpPr>
          <p:cNvPr id="203" name="모서리가 둥근 직사각형 202"/>
          <p:cNvSpPr/>
          <p:nvPr/>
        </p:nvSpPr>
        <p:spPr>
          <a:xfrm>
            <a:off x="2958909" y="466013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675399" y="49811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5399" y="2358876"/>
            <a:ext cx="2712027" cy="508898"/>
            <a:chOff x="3795734" y="1602341"/>
            <a:chExt cx="2712027" cy="508898"/>
          </a:xfrm>
        </p:grpSpPr>
        <p:sp>
          <p:nvSpPr>
            <p:cNvPr id="14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51" name="모서리가 둥근 직사각형 150"/>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52" name="모서리가 둥근 직사각형 151"/>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7" name="직사각형 126">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795733"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3825414" y="1677657"/>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4184" y="1775941"/>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sp>
        <p:nvSpPr>
          <p:cNvPr id="194" name="타원 193"/>
          <p:cNvSpPr/>
          <p:nvPr/>
        </p:nvSpPr>
        <p:spPr>
          <a:xfrm>
            <a:off x="3910226" y="176629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6259047" y="1814788"/>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0" name="직선 연결선 209">
            <a:extLst>
              <a:ext uri="{FF2B5EF4-FFF2-40B4-BE49-F238E27FC236}">
                <a16:creationId xmlns:a16="http://schemas.microsoft.com/office/drawing/2014/main" id="{E9293055-D5CD-4B9E-7F64-64B2D2CA7A52}"/>
              </a:ext>
            </a:extLst>
          </p:cNvPr>
          <p:cNvCxnSpPr/>
          <p:nvPr/>
        </p:nvCxnSpPr>
        <p:spPr>
          <a:xfrm>
            <a:off x="3795734" y="156227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2" name="타원 211">
            <a:extLst>
              <a:ext uri="{FF2B5EF4-FFF2-40B4-BE49-F238E27FC236}">
                <a16:creationId xmlns:a16="http://schemas.microsoft.com/office/drawing/2014/main" id="{37A7FF4F-0EAA-1463-560A-D5EC24416103}"/>
              </a:ext>
            </a:extLst>
          </p:cNvPr>
          <p:cNvSpPr/>
          <p:nvPr/>
        </p:nvSpPr>
        <p:spPr>
          <a:xfrm>
            <a:off x="3709669" y="167510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93" name="그룹 92"/>
          <p:cNvGrpSpPr/>
          <p:nvPr/>
        </p:nvGrpSpPr>
        <p:grpSpPr>
          <a:xfrm>
            <a:off x="677960" y="1582647"/>
            <a:ext cx="2714637" cy="686386"/>
            <a:chOff x="677960" y="1582647"/>
            <a:chExt cx="2714637" cy="686386"/>
          </a:xfrm>
        </p:grpSpPr>
        <p:sp>
          <p:nvSpPr>
            <p:cNvPr id="94" name="TextBox 93">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입찰참가신청서 작성</a:t>
              </a:r>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6" name="그룹 95"/>
            <p:cNvGrpSpPr/>
            <p:nvPr/>
          </p:nvGrpSpPr>
          <p:grpSpPr>
            <a:xfrm rot="5400000">
              <a:off x="852159" y="2062596"/>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677960" y="1582647"/>
              <a:ext cx="2712027" cy="324286"/>
              <a:chOff x="677960" y="1582647"/>
              <a:chExt cx="2712027" cy="324286"/>
            </a:xfrm>
          </p:grpSpPr>
          <p:pic>
            <p:nvPicPr>
              <p:cNvPr id="129"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5" name="직선 연결선 13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타원 135"/>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타원 136"/>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타원 137"/>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9122967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서약서</a:t>
            </a:r>
            <a:r>
              <a:rPr lang="en-US" altLang="ko-KR" dirty="0" smtClean="0">
                <a:latin typeface="+mn-ea"/>
              </a:rPr>
              <a:t>1</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a:t>
            </a:r>
            <a:r>
              <a:rPr lang="en-US" altLang="ko-KR" dirty="0">
                <a:latin typeface="+mn-ea"/>
              </a:rPr>
              <a:t>‘</a:t>
            </a:r>
            <a:r>
              <a:rPr lang="ko-KR" altLang="en-US" dirty="0">
                <a:latin typeface="+mn-ea"/>
              </a:rPr>
              <a:t>조세포탈</a:t>
            </a:r>
            <a:r>
              <a:rPr lang="en-US" altLang="ko-KR" dirty="0">
                <a:latin typeface="+mn-ea"/>
              </a:rPr>
              <a:t>’ </a:t>
            </a:r>
            <a:r>
              <a:rPr lang="ko-KR" altLang="en-US" dirty="0">
                <a:latin typeface="+mn-ea"/>
              </a:rPr>
              <a:t>사실이 없음을 확약하는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949252" cy="123111"/>
          </a:xfrm>
          <a:prstGeom prst="rect">
            <a:avLst/>
          </a:prstGeom>
          <a:noFill/>
        </p:spPr>
        <p:txBody>
          <a:bodyPr wrap="none" lIns="0" tIns="0" rIns="0" bIns="0" rtlCol="0">
            <a:spAutoFit/>
          </a:bodyPr>
          <a:lstStyle/>
          <a:p>
            <a:r>
              <a:rPr lang="en-US" altLang="ko-KR" sz="800" b="1" dirty="0">
                <a:latin typeface="맑은 고딕" panose="020B0503020000020004" pitchFamily="50" charset="-127"/>
              </a:rPr>
              <a:t>‘</a:t>
            </a:r>
            <a:r>
              <a:rPr lang="ko-KR" altLang="en-US" sz="800" b="1" dirty="0">
                <a:latin typeface="맑은 고딕" panose="020B0503020000020004" pitchFamily="50" charset="-127"/>
              </a:rPr>
              <a:t>조세포탈</a:t>
            </a:r>
            <a:r>
              <a:rPr lang="en-US" altLang="ko-KR" sz="800" b="1" dirty="0">
                <a:latin typeface="맑은 고딕" panose="020B0503020000020004" pitchFamily="50" charset="-127"/>
              </a:rPr>
              <a:t>’ </a:t>
            </a:r>
            <a:r>
              <a:rPr lang="ko-KR" altLang="en-US" sz="800" b="1" dirty="0">
                <a:latin typeface="맑은 고딕" panose="020B0503020000020004" pitchFamily="50" charset="-127"/>
              </a:rPr>
              <a:t>사실이 없음을 확약하는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646331"/>
          </a:xfrm>
          <a:prstGeom prst="rect">
            <a:avLst/>
          </a:prstGeom>
          <a:noFill/>
        </p:spPr>
        <p:txBody>
          <a:bodyPr wrap="square" lIns="0" tIns="0" rIns="0" bIns="0" rtlCol="0">
            <a:spAutoFit/>
          </a:bodyPr>
          <a:lstStyle/>
          <a:p>
            <a:r>
              <a:rPr lang="ko-KR" altLang="en-US" sz="700" dirty="0"/>
              <a:t>당사는 </a:t>
            </a:r>
            <a:r>
              <a:rPr lang="en-US" altLang="ko-KR" sz="700" dirty="0"/>
              <a:t>[</a:t>
            </a:r>
            <a:r>
              <a:rPr lang="ko-KR" altLang="en-US" sz="700" dirty="0"/>
              <a:t>국가계약법</a:t>
            </a:r>
            <a:r>
              <a:rPr lang="en-US" altLang="ko-KR" sz="700" dirty="0"/>
              <a:t>] </a:t>
            </a:r>
            <a:r>
              <a:rPr lang="ko-KR" altLang="en-US" sz="700" dirty="0">
                <a:solidFill>
                  <a:srgbClr val="000000"/>
                </a:solidFill>
              </a:rPr>
              <a:t>제</a:t>
            </a:r>
            <a:r>
              <a:rPr lang="en-US" altLang="ko-KR" sz="700" dirty="0">
                <a:solidFill>
                  <a:srgbClr val="000000"/>
                </a:solidFill>
              </a:rPr>
              <a:t>27</a:t>
            </a:r>
            <a:r>
              <a:rPr lang="ko-KR" altLang="en-US" sz="700" dirty="0">
                <a:solidFill>
                  <a:srgbClr val="000000"/>
                </a:solidFill>
              </a:rPr>
              <a:t>조의</a:t>
            </a:r>
            <a:r>
              <a:rPr lang="en-US" altLang="ko-KR" sz="700" dirty="0">
                <a:solidFill>
                  <a:srgbClr val="000000"/>
                </a:solidFill>
              </a:rPr>
              <a:t>5</a:t>
            </a:r>
            <a:r>
              <a:rPr lang="ko-KR" altLang="en-US" sz="700" dirty="0">
                <a:solidFill>
                  <a:srgbClr val="000000"/>
                </a:solidFill>
              </a:rPr>
              <a:t>제</a:t>
            </a:r>
            <a:r>
              <a:rPr lang="en-US" altLang="ko-KR" sz="700" dirty="0">
                <a:solidFill>
                  <a:srgbClr val="000000"/>
                </a:solidFill>
              </a:rPr>
              <a:t>1</a:t>
            </a:r>
            <a:r>
              <a:rPr lang="ko-KR" altLang="en-US" sz="700" dirty="0">
                <a:solidFill>
                  <a:srgbClr val="000000"/>
                </a:solidFill>
              </a:rPr>
              <a:t>항에 따른 조세포탈 등을 한 자가 아님을 서약합니다</a:t>
            </a:r>
            <a:r>
              <a:rPr lang="en-US" altLang="ko-KR" sz="700" dirty="0">
                <a:solidFill>
                  <a:srgbClr val="000000"/>
                </a:solidFill>
              </a:rPr>
              <a:t>. </a:t>
            </a:r>
            <a:r>
              <a:rPr lang="ko-KR" altLang="en-US" sz="700" dirty="0">
                <a:solidFill>
                  <a:srgbClr val="000000"/>
                </a:solidFill>
              </a:rPr>
              <a:t>만일 다음 각 호의 사유에 해당되어 유죄판결이 확정된 날부터 </a:t>
            </a:r>
            <a:r>
              <a:rPr lang="en-US" altLang="ko-KR" sz="700" dirty="0">
                <a:solidFill>
                  <a:srgbClr val="000000"/>
                </a:solidFill>
              </a:rPr>
              <a:t>2</a:t>
            </a:r>
            <a:r>
              <a:rPr lang="ko-KR" altLang="en-US" sz="700" dirty="0">
                <a:solidFill>
                  <a:srgbClr val="000000"/>
                </a:solidFill>
              </a:rPr>
              <a:t>년이 지나지 않은 사실이 발견된 때에는 계약의 </a:t>
            </a:r>
            <a:r>
              <a:rPr lang="ko-KR" altLang="en-US" sz="700" dirty="0" err="1">
                <a:solidFill>
                  <a:srgbClr val="000000"/>
                </a:solidFill>
              </a:rPr>
              <a:t>해제ㆍ해지를</a:t>
            </a:r>
            <a:r>
              <a:rPr lang="ko-KR" altLang="en-US" sz="700" dirty="0">
                <a:solidFill>
                  <a:srgbClr val="000000"/>
                </a:solidFill>
              </a:rPr>
              <a:t> 당하는 등의 불이익을 감수하겠으며</a:t>
            </a:r>
            <a:r>
              <a:rPr lang="en-US" altLang="ko-KR" sz="700" dirty="0">
                <a:solidFill>
                  <a:srgbClr val="000000"/>
                </a:solidFill>
              </a:rPr>
              <a:t>, </a:t>
            </a:r>
            <a:r>
              <a:rPr lang="ko-KR" altLang="en-US" sz="700" dirty="0">
                <a:solidFill>
                  <a:srgbClr val="000000"/>
                </a:solidFill>
              </a:rPr>
              <a:t>「국가계약법 </a:t>
            </a:r>
            <a:r>
              <a:rPr lang="ko-KR" altLang="en-US" sz="700" dirty="0" err="1">
                <a:solidFill>
                  <a:srgbClr val="000000"/>
                </a:solidFill>
              </a:rPr>
              <a:t>시행령」제</a:t>
            </a:r>
            <a:r>
              <a:rPr lang="en-US" altLang="ko-KR" sz="700" dirty="0">
                <a:solidFill>
                  <a:srgbClr val="000000"/>
                </a:solidFill>
              </a:rPr>
              <a:t>76</a:t>
            </a:r>
            <a:r>
              <a:rPr lang="ko-KR" altLang="en-US" sz="700" dirty="0">
                <a:solidFill>
                  <a:srgbClr val="000000"/>
                </a:solidFill>
              </a:rPr>
              <a:t>조제</a:t>
            </a:r>
            <a:r>
              <a:rPr lang="en-US" altLang="ko-KR" sz="700" dirty="0">
                <a:solidFill>
                  <a:srgbClr val="000000"/>
                </a:solidFill>
              </a:rPr>
              <a:t>1</a:t>
            </a:r>
            <a:r>
              <a:rPr lang="ko-KR" altLang="en-US" sz="700" dirty="0" err="1">
                <a:solidFill>
                  <a:srgbClr val="000000"/>
                </a:solidFill>
              </a:rPr>
              <a:t>항제</a:t>
            </a:r>
            <a:r>
              <a:rPr lang="en-US" altLang="ko-KR" sz="700" dirty="0">
                <a:solidFill>
                  <a:srgbClr val="000000"/>
                </a:solidFill>
              </a:rPr>
              <a:t>1</a:t>
            </a:r>
            <a:r>
              <a:rPr lang="ko-KR" altLang="en-US" sz="700" dirty="0" err="1">
                <a:solidFill>
                  <a:srgbClr val="000000"/>
                </a:solidFill>
              </a:rPr>
              <a:t>호가목에</a:t>
            </a:r>
            <a:r>
              <a:rPr lang="ko-KR" altLang="en-US" sz="700" dirty="0">
                <a:solidFill>
                  <a:srgbClr val="000000"/>
                </a:solidFill>
              </a:rPr>
              <a:t> 따라 부정당업자의 입찰참가자격제한 처분을 받겠습니다</a:t>
            </a:r>
            <a:r>
              <a:rPr lang="en-US" altLang="ko-KR" sz="700" dirty="0">
                <a:solidFill>
                  <a:srgbClr val="000000"/>
                </a:solidFill>
              </a:rPr>
              <a:t>.</a:t>
            </a:r>
            <a:endParaRPr lang="en-US" altLang="ko-KR" sz="700" dirty="0"/>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138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17412" y="46469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17412" y="51029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17412" y="5343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56917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180219"/>
            <a:ext cx="2473940" cy="1400383"/>
          </a:xfrm>
          <a:prstGeom prst="rect">
            <a:avLst/>
          </a:prstGeom>
          <a:noFill/>
        </p:spPr>
        <p:txBody>
          <a:bodyPr wrap="square" lIns="0" tIns="0" rIns="0" bIns="0" rtlCol="0">
            <a:spAutoFit/>
          </a:bodyPr>
          <a:lstStyle/>
          <a:p>
            <a:pPr marL="228600" indent="-228600">
              <a:buAutoNum type="arabicPeriod"/>
            </a:pPr>
            <a:r>
              <a:rPr lang="en-US" altLang="ko-KR" sz="700" dirty="0">
                <a:latin typeface="맑은 고딕" panose="020B0503020000020004" pitchFamily="50" charset="-127"/>
              </a:rPr>
              <a:t>[</a:t>
            </a:r>
            <a:r>
              <a:rPr lang="ko-KR" altLang="en-US" sz="700" dirty="0">
                <a:latin typeface="맑은 고딕" panose="020B0503020000020004" pitchFamily="50" charset="-127"/>
              </a:rPr>
              <a:t>조세범처벌법</a:t>
            </a:r>
            <a:r>
              <a:rPr lang="en-US" altLang="ko-KR" sz="700" dirty="0">
                <a:latin typeface="맑은 고딕" panose="020B0503020000020004" pitchFamily="50" charset="-127"/>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조에 따른 조세 포탈세액이나 환급</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공제받은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맑은 고딕" panose="020B0503020000020004" pitchFamily="50" charset="-127"/>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관세법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270</a:t>
            </a:r>
            <a:r>
              <a:rPr lang="ko-KR" altLang="en-US" sz="700" dirty="0">
                <a:solidFill>
                  <a:srgbClr val="000000"/>
                </a:solidFill>
                <a:latin typeface="Consolas" panose="020B0609020204030204" pitchFamily="49" charset="0"/>
              </a:rPr>
              <a:t>조에 다른 부정한 방법으로 관세를 </a:t>
            </a:r>
            <a:r>
              <a:rPr lang="ko-KR" altLang="en-US" sz="700" dirty="0" err="1">
                <a:solidFill>
                  <a:srgbClr val="000000"/>
                </a:solidFill>
                <a:latin typeface="Consolas" panose="020B0609020204030204" pitchFamily="49" charset="0"/>
              </a:rPr>
              <a:t>감면받거나</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면탈하거나</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환급받은</a:t>
            </a:r>
            <a:r>
              <a:rPr lang="ko-KR" altLang="en-US" sz="700" dirty="0">
                <a:solidFill>
                  <a:srgbClr val="000000"/>
                </a:solidFill>
                <a:latin typeface="Consolas" panose="020B0609020204030204" pitchFamily="49" charset="0"/>
              </a:rPr>
              <a:t>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지방세기본법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102</a:t>
            </a:r>
            <a:r>
              <a:rPr lang="ko-KR" altLang="en-US" sz="700" dirty="0">
                <a:solidFill>
                  <a:srgbClr val="000000"/>
                </a:solidFill>
                <a:latin typeface="Consolas" panose="020B0609020204030204" pitchFamily="49" charset="0"/>
              </a:rPr>
              <a:t>조에 따른 지방세 포탈세액이나 환급</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공제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국제조세조정에 관한 법률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53</a:t>
            </a:r>
            <a:r>
              <a:rPr lang="ko-KR" altLang="en-US" sz="700" dirty="0">
                <a:solidFill>
                  <a:srgbClr val="000000"/>
                </a:solidFill>
                <a:latin typeface="Consolas" panose="020B0609020204030204" pitchFamily="49" charset="0"/>
              </a:rPr>
              <a:t>조에 따른 해외금융계좌의 신고의무를 위반하고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그 신고의무 </a:t>
            </a:r>
            <a:r>
              <a:rPr lang="ko-KR" altLang="en-US" sz="700" dirty="0" err="1">
                <a:solidFill>
                  <a:srgbClr val="000000"/>
                </a:solidFill>
                <a:latin typeface="Consolas" panose="020B0609020204030204" pitchFamily="49" charset="0"/>
              </a:rPr>
              <a:t>위반금액이</a:t>
            </a:r>
            <a:r>
              <a:rPr lang="ko-KR" altLang="en-US" sz="700" dirty="0">
                <a:solidFill>
                  <a:srgbClr val="000000"/>
                </a:solidFill>
                <a:latin typeface="Consolas" panose="020B0609020204030204" pitchFamily="49" charset="0"/>
              </a:rPr>
              <a:t> 같은 법 제 </a:t>
            </a:r>
            <a:r>
              <a:rPr lang="en-US" altLang="ko-KR" sz="700" dirty="0">
                <a:solidFill>
                  <a:srgbClr val="000000"/>
                </a:solidFill>
                <a:latin typeface="Consolas" panose="020B0609020204030204" pitchFamily="49" charset="0"/>
              </a:rPr>
              <a:t>16</a:t>
            </a:r>
            <a:r>
              <a:rPr lang="ko-KR" altLang="en-US" sz="700" dirty="0">
                <a:solidFill>
                  <a:srgbClr val="000000"/>
                </a:solidFill>
                <a:latin typeface="Consolas" panose="020B0609020204030204" pitchFamily="49" charset="0"/>
              </a:rPr>
              <a:t>조제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금액을 초과하는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외국환거래법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18</a:t>
            </a:r>
            <a:r>
              <a:rPr lang="ko-KR" altLang="en-US" sz="700" dirty="0">
                <a:solidFill>
                  <a:srgbClr val="000000"/>
                </a:solidFill>
                <a:latin typeface="Consolas" panose="020B0609020204030204" pitchFamily="49" charset="0"/>
              </a:rPr>
              <a:t>조에 따른 자본거래의 신고의무를 위반하고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그 신고의무 </a:t>
            </a:r>
            <a:r>
              <a:rPr lang="ko-KR" altLang="en-US" sz="700" dirty="0" err="1">
                <a:solidFill>
                  <a:srgbClr val="000000"/>
                </a:solidFill>
                <a:latin typeface="Consolas" panose="020B0609020204030204" pitchFamily="49" charset="0"/>
              </a:rPr>
              <a:t>위반금액이</a:t>
            </a:r>
            <a:r>
              <a:rPr lang="ko-KR" altLang="en-US" sz="700" dirty="0">
                <a:solidFill>
                  <a:srgbClr val="000000"/>
                </a:solidFill>
                <a:latin typeface="Consolas" panose="020B0609020204030204" pitchFamily="49" charset="0"/>
              </a:rPr>
              <a:t> 같은 법 제</a:t>
            </a:r>
            <a:r>
              <a:rPr lang="en-US" altLang="ko-KR" sz="700" dirty="0">
                <a:solidFill>
                  <a:srgbClr val="000000"/>
                </a:solidFill>
                <a:latin typeface="Consolas" panose="020B0609020204030204" pitchFamily="49" charset="0"/>
              </a:rPr>
              <a:t>29</a:t>
            </a:r>
            <a:r>
              <a:rPr lang="ko-KR" altLang="en-US" sz="700" dirty="0">
                <a:solidFill>
                  <a:srgbClr val="000000"/>
                </a:solidFill>
                <a:latin typeface="Consolas" panose="020B0609020204030204" pitchFamily="49" charset="0"/>
              </a:rPr>
              <a:t>조제</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항제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호에 해당하는 자</a:t>
            </a:r>
            <a:endParaRPr lang="en-US" altLang="ko-KR" sz="700" dirty="0">
              <a:latin typeface="맑은 고딕" panose="020B0503020000020004" pitchFamily="50" charset="-127"/>
            </a:endParaRPr>
          </a:p>
        </p:txBody>
      </p:sp>
      <p:sp>
        <p:nvSpPr>
          <p:cNvPr id="255" name="TextBox 254">
            <a:extLst>
              <a:ext uri="{FF2B5EF4-FFF2-40B4-BE49-F238E27FC236}">
                <a16:creationId xmlns:a16="http://schemas.microsoft.com/office/drawing/2014/main" id="{FFC49AEA-2A8F-250C-A86A-A7751D9706C3}"/>
              </a:ext>
            </a:extLst>
          </p:cNvPr>
          <p:cNvSpPr txBox="1"/>
          <p:nvPr/>
        </p:nvSpPr>
        <p:spPr>
          <a:xfrm>
            <a:off x="804476" y="4713394"/>
            <a:ext cx="2473940" cy="323165"/>
          </a:xfrm>
          <a:prstGeom prst="rect">
            <a:avLst/>
          </a:prstGeom>
          <a:noFill/>
        </p:spPr>
        <p:txBody>
          <a:bodyPr wrap="square" lIns="0" tIns="0" rIns="0" bIns="0" rtlCol="0">
            <a:spAutoFit/>
          </a:bodyPr>
          <a:lstStyle/>
          <a:p>
            <a:r>
              <a:rPr lang="ko-KR" altLang="en-US" sz="700" dirty="0">
                <a:latin typeface="맑은 고딕" panose="020B0503020000020004" pitchFamily="50" charset="-127"/>
              </a:rPr>
              <a:t>또한</a:t>
            </a:r>
            <a:r>
              <a:rPr lang="en-US" altLang="ko-KR" sz="700" dirty="0">
                <a:latin typeface="맑은 고딕" panose="020B0503020000020004" pitchFamily="50" charset="-127"/>
              </a:rPr>
              <a:t>, </a:t>
            </a:r>
            <a:r>
              <a:rPr lang="ko-KR" altLang="en-US" sz="700" dirty="0">
                <a:latin typeface="맑은 고딕" panose="020B0503020000020004" pitchFamily="50" charset="-127"/>
              </a:rPr>
              <a:t>당사는 계약담당공무원이 요구할 경우 </a:t>
            </a:r>
            <a:r>
              <a:rPr lang="en-US" altLang="ko-KR" sz="700" dirty="0">
                <a:latin typeface="맑은 고딕" panose="020B0503020000020004" pitchFamily="50" charset="-127"/>
              </a:rPr>
              <a:t>‘</a:t>
            </a:r>
            <a:r>
              <a:rPr lang="ko-KR" altLang="en-US" sz="700" dirty="0">
                <a:latin typeface="맑은 고딕" panose="020B0503020000020004" pitchFamily="50" charset="-127"/>
              </a:rPr>
              <a:t>조세포탈</a:t>
            </a:r>
            <a:r>
              <a:rPr lang="en-US" altLang="ko-KR" sz="700" dirty="0">
                <a:latin typeface="맑은 고딕" panose="020B0503020000020004" pitchFamily="50" charset="-127"/>
              </a:rPr>
              <a:t>’</a:t>
            </a:r>
            <a:r>
              <a:rPr lang="ko-KR" altLang="en-US" sz="700" dirty="0">
                <a:solidFill>
                  <a:srgbClr val="000000"/>
                </a:solidFill>
                <a:latin typeface="Consolas" panose="020B0609020204030204" pitchFamily="49" charset="0"/>
              </a:rPr>
              <a:t>을 한 사실이 없음을 입증하는 증빙서류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범죄경력자료 </a:t>
            </a:r>
            <a:r>
              <a:rPr lang="ko-KR" altLang="en-US" sz="700" dirty="0" err="1">
                <a:solidFill>
                  <a:srgbClr val="000000"/>
                </a:solidFill>
                <a:latin typeface="Consolas" panose="020B0609020204030204" pitchFamily="49" charset="0"/>
              </a:rPr>
              <a:t>회보서나</a:t>
            </a:r>
            <a:r>
              <a:rPr lang="ko-KR" altLang="en-US" sz="700" dirty="0">
                <a:solidFill>
                  <a:srgbClr val="000000"/>
                </a:solidFill>
                <a:latin typeface="Consolas" panose="020B0609020204030204" pitchFamily="49" charset="0"/>
              </a:rPr>
              <a:t> 판결문 등</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를 즉시 제출할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804476" y="5169351"/>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57" name="TextBox 256">
            <a:extLst>
              <a:ext uri="{FF2B5EF4-FFF2-40B4-BE49-F238E27FC236}">
                <a16:creationId xmlns:a16="http://schemas.microsoft.com/office/drawing/2014/main" id="{FFC49AEA-2A8F-250C-A86A-A7751D9706C3}"/>
              </a:ext>
            </a:extLst>
          </p:cNvPr>
          <p:cNvSpPr txBox="1"/>
          <p:nvPr/>
        </p:nvSpPr>
        <p:spPr>
          <a:xfrm>
            <a:off x="804476" y="5409865"/>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 [</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ko-KR" altLang="en-US" sz="700" dirty="0">
                <a:latin typeface="맑은 고딕" panose="020B0503020000020004" pitchFamily="50" charset="-127"/>
              </a:rPr>
              <a:t>방위사업청장 귀하 </a:t>
            </a:r>
            <a:r>
              <a:rPr lang="en-US" altLang="ko-KR" sz="700" dirty="0">
                <a:latin typeface="맑은 고딕" panose="020B0503020000020004" pitchFamily="50" charset="-127"/>
              </a:rPr>
              <a:t>OR ####</a:t>
            </a:r>
            <a:r>
              <a:rPr lang="ko-KR" altLang="en-US" sz="700" dirty="0">
                <a:latin typeface="맑은 고딕" panose="020B0503020000020004" pitchFamily="50" charset="-127"/>
              </a:rPr>
              <a:t>부대 귀하</a:t>
            </a:r>
            <a:endParaRPr lang="en-US" altLang="ko-KR" sz="700" dirty="0">
              <a:latin typeface="맑은 고딕" panose="020B0503020000020004" pitchFamily="50" charset="-127"/>
            </a:endParaRPr>
          </a:p>
        </p:txBody>
      </p:sp>
      <p:grpSp>
        <p:nvGrpSpPr>
          <p:cNvPr id="7" name="그룹 6"/>
          <p:cNvGrpSpPr/>
          <p:nvPr/>
        </p:nvGrpSpPr>
        <p:grpSpPr>
          <a:xfrm>
            <a:off x="1432789" y="5769652"/>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949967"/>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95" name="타원 194">
            <a:extLst>
              <a:ext uri="{FF2B5EF4-FFF2-40B4-BE49-F238E27FC236}">
                <a16:creationId xmlns:a16="http://schemas.microsoft.com/office/drawing/2014/main" id="{37A7FF4F-0EAA-1463-560A-D5EC24416103}"/>
              </a:ext>
            </a:extLst>
          </p:cNvPr>
          <p:cNvSpPr/>
          <p:nvPr/>
        </p:nvSpPr>
        <p:spPr>
          <a:xfrm>
            <a:off x="571127" y="51224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3" name="타원 202">
            <a:extLst>
              <a:ext uri="{FF2B5EF4-FFF2-40B4-BE49-F238E27FC236}">
                <a16:creationId xmlns:a16="http://schemas.microsoft.com/office/drawing/2014/main" id="{37A7FF4F-0EAA-1463-560A-D5EC24416103}"/>
              </a:ext>
            </a:extLst>
          </p:cNvPr>
          <p:cNvSpPr/>
          <p:nvPr/>
        </p:nvSpPr>
        <p:spPr>
          <a:xfrm>
            <a:off x="571127" y="541963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57374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70758237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서약서</a:t>
            </a:r>
            <a:r>
              <a:rPr lang="en-US" altLang="ko-KR" dirty="0" smtClean="0">
                <a:latin typeface="+mn-ea"/>
              </a:rPr>
              <a:t>2</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청렴 계약 이행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033936"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청렴 계약 이행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754053"/>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우리회사는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부패없는</a:t>
            </a:r>
            <a:r>
              <a:rPr lang="ko-KR" altLang="en-US" sz="700" dirty="0">
                <a:solidFill>
                  <a:srgbClr val="000000"/>
                </a:solidFill>
                <a:latin typeface="Consolas" panose="020B0609020204030204" pitchFamily="49" charset="0"/>
              </a:rPr>
              <a:t> 투명한 기업경영과 공정한 행정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 사회발전과 국가 경쟁력에 중요한 관건이 됨을 깊이 인식하며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국제적으로도 </a:t>
            </a:r>
            <a:r>
              <a:rPr lang="en-US" altLang="ko-KR" sz="700" dirty="0">
                <a:solidFill>
                  <a:srgbClr val="000000"/>
                </a:solidFill>
                <a:latin typeface="Consolas" panose="020B0609020204030204" pitchFamily="49" charset="0"/>
              </a:rPr>
              <a:t>OECD</a:t>
            </a:r>
            <a:r>
              <a:rPr lang="ko-KR" altLang="en-US" sz="700" dirty="0">
                <a:solidFill>
                  <a:srgbClr val="000000"/>
                </a:solidFill>
                <a:latin typeface="Consolas" panose="020B0609020204030204" pitchFamily="49" charset="0"/>
              </a:rPr>
              <a:t>뇌물방지 협약이 발효되고 </a:t>
            </a:r>
            <a:r>
              <a:rPr lang="ko-KR" altLang="en-US" sz="700" dirty="0" err="1">
                <a:solidFill>
                  <a:srgbClr val="000000"/>
                </a:solidFill>
                <a:latin typeface="Consolas" panose="020B0609020204030204" pitchFamily="49" charset="0"/>
              </a:rPr>
              <a:t>부패기업</a:t>
            </a:r>
            <a:r>
              <a:rPr lang="ko-KR" altLang="en-US" sz="700" dirty="0">
                <a:solidFill>
                  <a:srgbClr val="000000"/>
                </a:solidFill>
                <a:latin typeface="Consolas" panose="020B0609020204030204" pitchFamily="49" charset="0"/>
              </a:rPr>
              <a:t> 및 국가에 대한 제재가 강화되는 추세에 맞추어 청렴계약 취지에 적극적으로 호응하여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가</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발주하는 모든 공사</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용역</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물품구매 등의 입찰에 참여함에 있어 우리 회사의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직원과 대리인은</a:t>
            </a:r>
            <a:endParaRPr lang="en-US" altLang="ko-KR" sz="700" dirty="0">
              <a:latin typeface="맑은 고딕" panose="020B0503020000020004" pitchFamily="50" charset="-127"/>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975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263926"/>
            <a:ext cx="2473940" cy="2477601"/>
          </a:xfrm>
          <a:prstGeom prst="rect">
            <a:avLst/>
          </a:prstGeom>
          <a:noFill/>
        </p:spPr>
        <p:txBody>
          <a:bodyPr wrap="square" lIns="0" tIns="0" rIns="0" bIns="0" rtlCol="0">
            <a:spAutoFit/>
          </a:bodyPr>
          <a:lstStyle/>
          <a:p>
            <a:pPr marL="228600" indent="-228600">
              <a:buAutoNum type="arabicPeriod"/>
            </a:pPr>
            <a:r>
              <a:rPr lang="ko-KR" altLang="en-US" sz="700" dirty="0">
                <a:solidFill>
                  <a:srgbClr val="000000"/>
                </a:solidFill>
                <a:latin typeface="Consolas" panose="020B0609020204030204" pitchFamily="49" charset="0"/>
              </a:rPr>
              <a:t>입찰가격의 사전협의나 특정인의 낙찰을 위한 담합 및 </a:t>
            </a:r>
            <a:r>
              <a:rPr lang="ko-KR" altLang="en-US" sz="700" dirty="0" err="1">
                <a:solidFill>
                  <a:srgbClr val="000000"/>
                </a:solidFill>
                <a:latin typeface="Consolas" panose="020B0609020204030204" pitchFamily="49" charset="0"/>
              </a:rPr>
              <a:t>다른업체와</a:t>
            </a:r>
            <a:r>
              <a:rPr lang="ko-KR" altLang="en-US" sz="700" dirty="0">
                <a:solidFill>
                  <a:srgbClr val="000000"/>
                </a:solidFill>
                <a:latin typeface="Consolas" panose="020B0609020204030204" pitchFamily="49" charset="0"/>
              </a:rPr>
              <a:t> 협정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결의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협의하여 입찰의 자유경쟁을 부당하게 저해하는 일체의 불공정한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a:t>
            </a:r>
            <a:r>
              <a:rPr lang="en-US" altLang="ko-KR" sz="700" dirty="0">
                <a:solidFill>
                  <a:srgbClr val="2A00FF"/>
                </a:solidFill>
                <a:latin typeface="Consolas" panose="020B0609020204030204" pitchFamily="49" charset="0"/>
              </a:rPr>
              <a:t>‘</a:t>
            </a:r>
            <a:r>
              <a:rPr lang="ko-KR" altLang="en-US" sz="700" dirty="0" err="1">
                <a:solidFill>
                  <a:srgbClr val="000000"/>
                </a:solidFill>
                <a:latin typeface="Consolas" panose="020B0609020204030204" pitchFamily="49" charset="0"/>
              </a:rPr>
              <a:t>독점규제및공정거래에관한법률</a:t>
            </a:r>
            <a:r>
              <a:rPr lang="en-US" altLang="ko-KR" sz="700" dirty="0">
                <a:solidFill>
                  <a:srgbClr val="2A00FF"/>
                </a:solidFill>
                <a:latin typeface="Consolas" panose="020B0609020204030204" pitchFamily="49" charset="0"/>
              </a:rPr>
              <a:t>’</a:t>
            </a:r>
            <a:r>
              <a:rPr lang="ko-KR" altLang="en-US" sz="700" dirty="0">
                <a:solidFill>
                  <a:srgbClr val="000000"/>
                </a:solidFill>
                <a:latin typeface="Consolas" panose="020B0609020204030204" pitchFamily="49" charset="0"/>
              </a:rPr>
              <a:t>에 따른 공정거래위원회고발 및 형사고발과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입찰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계약체결 및 계약이행과정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준공</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납품이후를</a:t>
            </a:r>
            <a:r>
              <a:rPr lang="ko-KR" altLang="en-US" sz="700" dirty="0">
                <a:solidFill>
                  <a:srgbClr val="000000"/>
                </a:solidFill>
                <a:latin typeface="Consolas" panose="020B0609020204030204" pitchFamily="49" charset="0"/>
              </a:rPr>
              <a:t> 포함</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에서 관계공무원에게 직</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간접적으로 금품</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향응 등의 뇌물을 제공하거나 제공함을 약속하지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a:t>
            </a:r>
            <a:endParaRPr lang="en-US" altLang="ko-KR" sz="700" dirty="0">
              <a:latin typeface="맑은 고딕" panose="020B0503020000020004" pitchFamily="50" charset="-127"/>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46" name="양쪽 모서리가 둥근 사각형 145"/>
          <p:cNvSpPr/>
          <p:nvPr/>
        </p:nvSpPr>
        <p:spPr>
          <a:xfrm>
            <a:off x="3793783"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9" name="모서리가 둥근 직사각형 198"/>
          <p:cNvSpPr/>
          <p:nvPr/>
        </p:nvSpPr>
        <p:spPr>
          <a:xfrm>
            <a:off x="4879796"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00" name="그룹 199"/>
          <p:cNvGrpSpPr/>
          <p:nvPr/>
        </p:nvGrpSpPr>
        <p:grpSpPr>
          <a:xfrm>
            <a:off x="6282722" y="1773925"/>
            <a:ext cx="94010" cy="94010"/>
            <a:chOff x="6812560" y="3297172"/>
            <a:chExt cx="94010" cy="94010"/>
          </a:xfrm>
        </p:grpSpPr>
        <p:cxnSp>
          <p:nvCxnSpPr>
            <p:cNvPr id="202" name="직선 연결선 20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04" name="TextBox 203">
            <a:extLst>
              <a:ext uri="{FF2B5EF4-FFF2-40B4-BE49-F238E27FC236}">
                <a16:creationId xmlns:a16="http://schemas.microsoft.com/office/drawing/2014/main" id="{FFC49AEA-2A8F-250C-A86A-A7751D9706C3}"/>
              </a:ext>
            </a:extLst>
          </p:cNvPr>
          <p:cNvSpPr txBox="1"/>
          <p:nvPr/>
        </p:nvSpPr>
        <p:spPr>
          <a:xfrm>
            <a:off x="3922860"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3783"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2860" y="2033176"/>
            <a:ext cx="2473940" cy="1508105"/>
          </a:xfrm>
          <a:prstGeom prst="rect">
            <a:avLst/>
          </a:prstGeom>
          <a:noFill/>
        </p:spPr>
        <p:txBody>
          <a:bodyPr wrap="square" lIns="0" tIns="0" rIns="0" bIns="0" rtlCol="0">
            <a:spAutoFit/>
          </a:bodyPr>
          <a:lstStyle/>
          <a:p>
            <a:pPr marL="228600" indent="-228600">
              <a:buFont typeface="+mj-lt"/>
              <a:buAutoNum type="arabicPeriod" startAt="3"/>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우리회사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직원이 관계공무원에게 뇌물을 제공하거나 담합 등 불공정 행위를 하지 않도록 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내부 비리 제보자에 대해서도 일체의 불이익을 받지 않도록 노력하겠습니다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본 건과 관련한 하도급 계약의 체결 및 이행에 있어서 </a:t>
            </a:r>
            <a:r>
              <a:rPr lang="ko-KR" altLang="en-US" sz="700" dirty="0" err="1">
                <a:solidFill>
                  <a:srgbClr val="000000"/>
                </a:solidFill>
                <a:latin typeface="Consolas" panose="020B0609020204030204" pitchFamily="49" charset="0"/>
              </a:rPr>
              <a:t>원도급자로서의</a:t>
            </a:r>
            <a:r>
              <a:rPr lang="ko-KR" altLang="en-US" sz="700" dirty="0">
                <a:solidFill>
                  <a:srgbClr val="000000"/>
                </a:solidFill>
                <a:latin typeface="Consolas" panose="020B0609020204030204" pitchFamily="49" charset="0"/>
              </a:rPr>
              <a:t> 우월한 지위를 이용하여 </a:t>
            </a:r>
            <a:r>
              <a:rPr lang="ko-KR" altLang="en-US" sz="700" dirty="0" err="1">
                <a:solidFill>
                  <a:srgbClr val="000000"/>
                </a:solidFill>
                <a:latin typeface="Consolas" panose="020B0609020204030204" pitchFamily="49" charset="0"/>
              </a:rPr>
              <a:t>하도급자에게로부터</a:t>
            </a:r>
            <a:r>
              <a:rPr lang="ko-KR" altLang="en-US" sz="700" dirty="0">
                <a:solidFill>
                  <a:srgbClr val="000000"/>
                </a:solidFill>
                <a:latin typeface="Consolas" panose="020B0609020204030204" pitchFamily="49" charset="0"/>
              </a:rPr>
              <a:t> 금품을 수수하거나 부당 또는 불공정한 행위를 하지 아니하겠습니다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grpSp>
        <p:nvGrpSpPr>
          <p:cNvPr id="211" name="그룹 210"/>
          <p:cNvGrpSpPr/>
          <p:nvPr/>
        </p:nvGrpSpPr>
        <p:grpSpPr>
          <a:xfrm>
            <a:off x="3793783" y="5614711"/>
            <a:ext cx="2712027" cy="617588"/>
            <a:chOff x="675399" y="5614711"/>
            <a:chExt cx="2712027" cy="617588"/>
          </a:xfrm>
        </p:grpSpPr>
        <p:sp>
          <p:nvSpPr>
            <p:cNvPr id="213" name="직사각형 2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6"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17" name="직선 연결선 216">
            <a:extLst>
              <a:ext uri="{FF2B5EF4-FFF2-40B4-BE49-F238E27FC236}">
                <a16:creationId xmlns:a16="http://schemas.microsoft.com/office/drawing/2014/main" id="{E9293055-D5CD-4B9E-7F64-64B2D2CA7A52}"/>
              </a:ext>
            </a:extLst>
          </p:cNvPr>
          <p:cNvCxnSpPr/>
          <p:nvPr/>
        </p:nvCxnSpPr>
        <p:spPr>
          <a:xfrm>
            <a:off x="3835796" y="3573476"/>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FFC49AEA-2A8F-250C-A86A-A7751D9706C3}"/>
              </a:ext>
            </a:extLst>
          </p:cNvPr>
          <p:cNvSpPr txBox="1"/>
          <p:nvPr/>
        </p:nvSpPr>
        <p:spPr>
          <a:xfrm>
            <a:off x="3922860" y="3639872"/>
            <a:ext cx="2473940" cy="861774"/>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위 청렴계약이행 서약은 상호 신뢰를 바탕으로 한 </a:t>
            </a:r>
            <a:r>
              <a:rPr lang="ko-KR" altLang="en-US" sz="700" dirty="0" err="1">
                <a:solidFill>
                  <a:srgbClr val="000000"/>
                </a:solidFill>
                <a:latin typeface="Consolas" panose="020B0609020204030204" pitchFamily="49" charset="0"/>
              </a:rPr>
              <a:t>약속으로서</a:t>
            </a:r>
            <a:r>
              <a:rPr lang="ko-KR" altLang="en-US" sz="700" dirty="0">
                <a:solidFill>
                  <a:srgbClr val="000000"/>
                </a:solidFill>
                <a:latin typeface="Consolas" panose="020B0609020204030204" pitchFamily="49" charset="0"/>
              </a:rPr>
              <a:t> 반드시 지킬 것이며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우리회사가 낙찰자로 결정될 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이 서약 내용을 그대로 계약특수조건으로 계약하여 이행하고</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불이행시</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귀부대가</a:t>
            </a:r>
            <a:r>
              <a:rPr lang="ko-KR" altLang="en-US" sz="700" dirty="0">
                <a:solidFill>
                  <a:srgbClr val="000000"/>
                </a:solidFill>
                <a:latin typeface="Consolas" panose="020B0609020204030204" pitchFamily="49" charset="0"/>
              </a:rPr>
              <a:t> 입찰참가 자격제한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입찰 및 낙찰 취소</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계약해제</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해지</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등의 조치 또는 우리 회사를 배제하는 입찰에 관한 조치를 하더라도 우리 회사는 </a:t>
            </a:r>
            <a:r>
              <a:rPr lang="ko-KR" altLang="en-US" sz="700" dirty="0" err="1">
                <a:solidFill>
                  <a:srgbClr val="000000"/>
                </a:solidFill>
                <a:latin typeface="Consolas" panose="020B0609020204030204" pitchFamily="49" charset="0"/>
              </a:rPr>
              <a:t>귀부대를</a:t>
            </a:r>
            <a:r>
              <a:rPr lang="ko-KR" altLang="en-US" sz="700" dirty="0">
                <a:solidFill>
                  <a:srgbClr val="000000"/>
                </a:solidFill>
                <a:latin typeface="Consolas" panose="020B0609020204030204" pitchFamily="49" charset="0"/>
              </a:rPr>
              <a:t> 상대로 손해배상을 청구하거나 민</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형사상 이의를 제기하지 않을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35796" y="4558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5796" y="48025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5796" y="515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2" name="TextBox 221">
            <a:extLst>
              <a:ext uri="{FF2B5EF4-FFF2-40B4-BE49-F238E27FC236}">
                <a16:creationId xmlns:a16="http://schemas.microsoft.com/office/drawing/2014/main" id="{FFC49AEA-2A8F-250C-A86A-A7751D9706C3}"/>
              </a:ext>
            </a:extLst>
          </p:cNvPr>
          <p:cNvSpPr txBox="1"/>
          <p:nvPr/>
        </p:nvSpPr>
        <p:spPr>
          <a:xfrm>
            <a:off x="3922860" y="4628442"/>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860" y="4868956"/>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latin typeface="맑은 고딕" panose="020B0503020000020004" pitchFamily="50" charset="-127"/>
              </a:rPr>
              <a:t> 귀하</a:t>
            </a:r>
            <a:endParaRPr lang="en-US" altLang="ko-KR" sz="700" dirty="0">
              <a:latin typeface="맑은 고딕" panose="020B0503020000020004" pitchFamily="50" charset="-127"/>
            </a:endParaRPr>
          </a:p>
        </p:txBody>
      </p:sp>
      <p:grpSp>
        <p:nvGrpSpPr>
          <p:cNvPr id="224" name="그룹 223"/>
          <p:cNvGrpSpPr/>
          <p:nvPr/>
        </p:nvGrpSpPr>
        <p:grpSpPr>
          <a:xfrm>
            <a:off x="4551173" y="5228743"/>
            <a:ext cx="1197246" cy="107722"/>
            <a:chOff x="4526323" y="5902014"/>
            <a:chExt cx="1197246" cy="107722"/>
          </a:xfrm>
        </p:grpSpPr>
        <p:sp>
          <p:nvSpPr>
            <p:cNvPr id="225" name="타원 224"/>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6" name="타원 225"/>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sp>
        <p:nvSpPr>
          <p:cNvPr id="229" name="TextBox 22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54" name="타원 53">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타원 54">
            <a:extLst>
              <a:ext uri="{FF2B5EF4-FFF2-40B4-BE49-F238E27FC236}">
                <a16:creationId xmlns:a16="http://schemas.microsoft.com/office/drawing/2014/main" id="{37A7FF4F-0EAA-1463-560A-D5EC24416103}"/>
              </a:ext>
            </a:extLst>
          </p:cNvPr>
          <p:cNvSpPr/>
          <p:nvPr/>
        </p:nvSpPr>
        <p:spPr>
          <a:xfrm>
            <a:off x="3701811" y="46156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56" name="타원 55">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3701811" y="49128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58" name="타원 57">
            <a:extLst>
              <a:ext uri="{FF2B5EF4-FFF2-40B4-BE49-F238E27FC236}">
                <a16:creationId xmlns:a16="http://schemas.microsoft.com/office/drawing/2014/main" id="{37A7FF4F-0EAA-1463-560A-D5EC24416103}"/>
              </a:ext>
            </a:extLst>
          </p:cNvPr>
          <p:cNvSpPr/>
          <p:nvPr/>
        </p:nvSpPr>
        <p:spPr>
          <a:xfrm>
            <a:off x="3701811" y="52307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223393069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선택한 내역은 입찰 마지막에 동일한 내용으로 재 안내 됨</a:t>
            </a:r>
            <a:r>
              <a:rPr lang="en-US" altLang="ko-KR" dirty="0"/>
              <a:t>.</a:t>
            </a:r>
          </a:p>
          <a:p>
            <a:pPr marL="0" indent="0">
              <a:buNone/>
            </a:pPr>
            <a:endParaRPr lang="en-US" altLang="ko-KR" dirty="0"/>
          </a:p>
          <a:p>
            <a:pPr marL="0" indent="0">
              <a:buNone/>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latin typeface="+mn-ea"/>
              </a:rPr>
              <a:t>서약서</a:t>
            </a:r>
            <a:r>
              <a:rPr lang="en-US" altLang="ko-KR" dirty="0" smtClean="0">
                <a:latin typeface="+mn-ea"/>
              </a:rPr>
              <a:t>3</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하도급대금의 지급관련 확인 및 확약서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78895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하도급대금의 지급관련 확인 및 확약서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538609"/>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1]</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없습니다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7412" y="29914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TextBox 230">
            <a:extLst>
              <a:ext uri="{FF2B5EF4-FFF2-40B4-BE49-F238E27FC236}">
                <a16:creationId xmlns:a16="http://schemas.microsoft.com/office/drawing/2014/main" id="{FFC49AEA-2A8F-250C-A86A-A7751D9706C3}"/>
              </a:ext>
            </a:extLst>
          </p:cNvPr>
          <p:cNvSpPr txBox="1"/>
          <p:nvPr/>
        </p:nvSpPr>
        <p:spPr>
          <a:xfrm>
            <a:off x="804476" y="3054889"/>
            <a:ext cx="2473940" cy="861774"/>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2]</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있으므로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본 입찰에 계약상대자로 결정되어 </a:t>
            </a:r>
            <a:r>
              <a:rPr lang="ko-KR" altLang="en-US" sz="700" dirty="0" err="1">
                <a:solidFill>
                  <a:srgbClr val="000000"/>
                </a:solidFill>
                <a:latin typeface="Consolas" panose="020B0609020204030204" pitchFamily="49" charset="0"/>
              </a:rPr>
              <a:t>계약시</a:t>
            </a:r>
            <a:r>
              <a:rPr lang="ko-KR" altLang="en-US" sz="700" dirty="0">
                <a:solidFill>
                  <a:srgbClr val="000000"/>
                </a:solidFill>
                <a:latin typeface="Consolas" panose="020B0609020204030204" pitchFamily="49" charset="0"/>
              </a:rPr>
              <a:t> 「국가계약법」 제</a:t>
            </a:r>
            <a:r>
              <a:rPr lang="en-US" altLang="ko-KR" sz="700" dirty="0">
                <a:solidFill>
                  <a:srgbClr val="000000"/>
                </a:solidFill>
                <a:latin typeface="Consolas" panose="020B0609020204030204" pitchFamily="49" charset="0"/>
              </a:rPr>
              <a:t>15</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대가 지급 시 하도급대금은 발주기관이 하수급인에게 직접 지급하는 것을 합의할 것을 확약합니다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32" name="직선 연결선 231">
            <a:extLst>
              <a:ext uri="{FF2B5EF4-FFF2-40B4-BE49-F238E27FC236}">
                <a16:creationId xmlns:a16="http://schemas.microsoft.com/office/drawing/2014/main" id="{E9293055-D5CD-4B9E-7F64-64B2D2CA7A52}"/>
              </a:ext>
            </a:extLst>
          </p:cNvPr>
          <p:cNvCxnSpPr/>
          <p:nvPr/>
        </p:nvCxnSpPr>
        <p:spPr>
          <a:xfrm>
            <a:off x="717412" y="39736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33" name="그룹 232"/>
          <p:cNvGrpSpPr/>
          <p:nvPr/>
        </p:nvGrpSpPr>
        <p:grpSpPr>
          <a:xfrm>
            <a:off x="1432789" y="4135294"/>
            <a:ext cx="1189232" cy="107722"/>
            <a:chOff x="4526323" y="5902014"/>
            <a:chExt cx="1189232" cy="107722"/>
          </a:xfrm>
        </p:grpSpPr>
        <p:sp>
          <p:nvSpPr>
            <p:cNvPr id="234" name="타원 233"/>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타원 234"/>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6" name="TextBox 235">
              <a:extLst>
                <a:ext uri="{FF2B5EF4-FFF2-40B4-BE49-F238E27FC236}">
                  <a16:creationId xmlns:a16="http://schemas.microsoft.com/office/drawing/2014/main" id="{FFC49AEA-2A8F-250C-A86A-A7751D9706C3}"/>
                </a:ext>
              </a:extLst>
            </p:cNvPr>
            <p:cNvSpPr txBox="1"/>
            <p:nvPr/>
          </p:nvSpPr>
          <p:spPr>
            <a:xfrm>
              <a:off x="4694755" y="5902014"/>
              <a:ext cx="261290" cy="107722"/>
            </a:xfrm>
            <a:prstGeom prst="rect">
              <a:avLst/>
            </a:prstGeom>
            <a:noFill/>
          </p:spPr>
          <p:txBody>
            <a:bodyPr wrap="none" lIns="0" tIns="0" rIns="0" bIns="0" rtlCol="0">
              <a:spAutoFit/>
            </a:bodyPr>
            <a:lstStyle/>
            <a:p>
              <a:r>
                <a:rPr lang="ko-KR" altLang="en-US" sz="700" dirty="0">
                  <a:latin typeface="+mn-ea"/>
                </a:rPr>
                <a:t>선택 </a:t>
              </a:r>
              <a:r>
                <a:rPr lang="en-US" altLang="ko-KR" sz="700" dirty="0">
                  <a:latin typeface="+mn-ea"/>
                </a:rPr>
                <a:t>1</a:t>
              </a:r>
              <a:endParaRPr lang="ko-KR" altLang="en-US"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5454265" y="5902014"/>
              <a:ext cx="261290" cy="107722"/>
            </a:xfrm>
            <a:prstGeom prst="rect">
              <a:avLst/>
            </a:prstGeom>
            <a:noFill/>
          </p:spPr>
          <p:txBody>
            <a:bodyPr wrap="none" lIns="0" tIns="0" rIns="0" bIns="0" rtlCol="0">
              <a:spAutoFit/>
            </a:bodyPr>
            <a:lstStyle/>
            <a:p>
              <a:r>
                <a:rPr lang="ko-KR" altLang="en-US" sz="700" dirty="0">
                  <a:latin typeface="+mn-ea"/>
                </a:rPr>
                <a:t>선택 </a:t>
              </a:r>
              <a:r>
                <a:rPr lang="en-US" altLang="ko-KR" sz="700" dirty="0">
                  <a:latin typeface="+mn-ea"/>
                </a:rPr>
                <a:t>2</a:t>
              </a:r>
              <a:endParaRPr lang="ko-KR" altLang="en-US" sz="700" dirty="0">
                <a:latin typeface="+mn-ea"/>
              </a:endParaRPr>
            </a:p>
          </p:txBody>
        </p:sp>
      </p:grpSp>
      <p:sp>
        <p:nvSpPr>
          <p:cNvPr id="34" name="타원 33">
            <a:extLst>
              <a:ext uri="{FF2B5EF4-FFF2-40B4-BE49-F238E27FC236}">
                <a16:creationId xmlns:a16="http://schemas.microsoft.com/office/drawing/2014/main" id="{37A7FF4F-0EAA-1463-560A-D5EC24416103}"/>
              </a:ext>
            </a:extLst>
          </p:cNvPr>
          <p:cNvSpPr/>
          <p:nvPr/>
        </p:nvSpPr>
        <p:spPr>
          <a:xfrm>
            <a:off x="571127" y="409156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9730250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121</a:t>
            </a:fld>
            <a:endParaRPr lang="ko-KR" altLang="en-US" dirty="0"/>
          </a:p>
        </p:txBody>
      </p:sp>
      <p:sp>
        <p:nvSpPr>
          <p:cNvPr id="2" name="TextBox 1">
            <a:extLst>
              <a:ext uri="{FF2B5EF4-FFF2-40B4-BE49-F238E27FC236}">
                <a16:creationId xmlns:a16="http://schemas.microsoft.com/office/drawing/2014/main" id="{07D6A41E-0D94-47F3-F9FC-FDE27FFC3AEA}"/>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1.</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14BA5116-CE16-A86C-DFE1-E004134F9825}"/>
              </a:ext>
            </a:extLst>
          </p:cNvPr>
          <p:cNvGraphicFramePr>
            <a:graphicFrameLocks noGrp="1"/>
          </p:cNvGraphicFramePr>
          <p:nvPr/>
        </p:nvGraphicFramePr>
        <p:xfrm>
          <a:off x="453000" y="1039042"/>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동의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scwin.btn_arge_onclick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서약서동의 팝업 화면 종료 후 입찰참가신청서 팝업 화면 또는 견적서제출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8752916"/>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서약서동의 팝업 화면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Box 73">
            <a:extLst>
              <a:ext uri="{FF2B5EF4-FFF2-40B4-BE49-F238E27FC236}">
                <a16:creationId xmlns:a16="http://schemas.microsoft.com/office/drawing/2014/main" id="{48E2A323-D605-C365-9B90-5C67461FBA1F}"/>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1170692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공지사항이 있는 경우 표시</a:t>
            </a:r>
            <a:r>
              <a:rPr lang="en-US" altLang="ko-KR" dirty="0"/>
              <a:t/>
            </a:r>
            <a:br>
              <a:rPr lang="en-US" altLang="ko-KR" dirty="0"/>
            </a:br>
            <a:r>
              <a:rPr lang="en-US" altLang="ko-KR" dirty="0"/>
              <a:t>- </a:t>
            </a:r>
            <a:r>
              <a:rPr lang="ko-KR" altLang="en-US" dirty="0"/>
              <a:t>공지사항은 입찰참가신청서 조회</a:t>
            </a:r>
            <a:r>
              <a:rPr lang="en-US" altLang="ko-KR" dirty="0"/>
              <a:t>/</a:t>
            </a:r>
            <a:r>
              <a:rPr lang="ko-KR" altLang="en-US" dirty="0"/>
              <a:t>수정 시</a:t>
            </a:r>
            <a:r>
              <a:rPr lang="en-US" altLang="ko-KR" dirty="0"/>
              <a:t> </a:t>
            </a:r>
            <a:r>
              <a:rPr lang="ko-KR" altLang="en-US" dirty="0" err="1"/>
              <a:t>연기공고</a:t>
            </a:r>
            <a:r>
              <a:rPr lang="ko-KR" altLang="en-US" dirty="0"/>
              <a:t> 처리 된 경우 보이기</a:t>
            </a:r>
            <a:endParaRPr lang="en-US" altLang="ko-KR" dirty="0"/>
          </a:p>
          <a:p>
            <a:pPr marL="228600" indent="-228600">
              <a:buFont typeface="+mj-lt"/>
              <a:buAutoNum type="arabicPeriod"/>
            </a:pPr>
            <a:r>
              <a:rPr lang="ko-KR" altLang="en-US" dirty="0"/>
              <a:t>업무 도움 </a:t>
            </a:r>
            <a:r>
              <a:rPr lang="ko-KR" altLang="en-US" dirty="0" smtClean="0"/>
              <a:t>표시</a:t>
            </a:r>
            <a:r>
              <a:rPr lang="en-US" altLang="ko-KR" dirty="0"/>
              <a:t/>
            </a:r>
            <a:br>
              <a:rPr lang="en-US" altLang="ko-KR" dirty="0"/>
            </a:br>
            <a:r>
              <a:rPr lang="en-US" altLang="ko-KR" dirty="0" smtClean="0"/>
              <a:t>- </a:t>
            </a:r>
            <a:r>
              <a:rPr lang="ko-KR" altLang="en-US" dirty="0" smtClean="0"/>
              <a:t>입찰의 경우 공지</a:t>
            </a:r>
            <a:r>
              <a:rPr lang="en-US" altLang="ko-KR" dirty="0" smtClean="0"/>
              <a:t>,</a:t>
            </a:r>
            <a:r>
              <a:rPr lang="ko-KR" altLang="en-US" dirty="0" err="1" smtClean="0"/>
              <a:t>업무도움</a:t>
            </a:r>
            <a:r>
              <a:rPr lang="ko-KR" altLang="en-US" dirty="0" smtClean="0"/>
              <a:t> 둘다 노출 가능</a:t>
            </a:r>
            <a:endParaRPr lang="en-US" altLang="ko-KR" dirty="0"/>
          </a:p>
          <a:p>
            <a:pPr marL="228600" indent="-228600">
              <a:buFont typeface="+mj-lt"/>
              <a:buAutoNum type="arabicPeriod"/>
            </a:pPr>
            <a:r>
              <a:rPr lang="ko-KR" altLang="en-US" dirty="0"/>
              <a:t>신청서 작성 내역 </a:t>
            </a:r>
            <a:r>
              <a:rPr lang="ko-KR" altLang="en-US" dirty="0" smtClean="0"/>
              <a:t>탭</a:t>
            </a:r>
            <a:r>
              <a:rPr lang="en-US" altLang="ko-KR" dirty="0" smtClean="0"/>
              <a:t/>
            </a:r>
            <a:br>
              <a:rPr lang="en-US" altLang="ko-KR" dirty="0" smtClean="0"/>
            </a:br>
            <a:r>
              <a:rPr lang="en-US" altLang="ko-KR" dirty="0" smtClean="0"/>
              <a:t>- </a:t>
            </a:r>
            <a:r>
              <a:rPr lang="ko-KR" altLang="en-US" dirty="0" smtClean="0"/>
              <a:t>일반정보</a:t>
            </a:r>
            <a:r>
              <a:rPr lang="en-US" altLang="ko-KR" dirty="0" smtClean="0"/>
              <a:t/>
            </a:r>
            <a:br>
              <a:rPr lang="en-US" altLang="ko-KR" dirty="0" smtClean="0"/>
            </a:br>
            <a:r>
              <a:rPr lang="ko-KR" altLang="en-US" dirty="0"/>
              <a:t>공고 일반정보 표시</a:t>
            </a:r>
            <a:r>
              <a:rPr lang="en-US" altLang="ko-KR" dirty="0"/>
              <a:t/>
            </a:r>
            <a:br>
              <a:rPr lang="en-US" altLang="ko-KR" dirty="0"/>
            </a:br>
            <a:r>
              <a:rPr lang="ko-KR" altLang="en-US" dirty="0" err="1"/>
              <a:t>업무구분에</a:t>
            </a:r>
            <a:r>
              <a:rPr lang="ko-KR" altLang="en-US" dirty="0"/>
              <a:t> 따라 </a:t>
            </a:r>
            <a:r>
              <a:rPr lang="en-US" altLang="ko-KR" dirty="0"/>
              <a:t>(</a:t>
            </a:r>
            <a:r>
              <a:rPr lang="ko-KR" altLang="en-US" dirty="0"/>
              <a:t>물품 </a:t>
            </a:r>
            <a:r>
              <a:rPr lang="en-US" altLang="ko-KR" dirty="0"/>
              <a:t>/ </a:t>
            </a:r>
            <a:r>
              <a:rPr lang="ko-KR" altLang="en-US" dirty="0"/>
              <a:t>공사</a:t>
            </a:r>
            <a:r>
              <a:rPr lang="en-US" altLang="ko-KR" dirty="0"/>
              <a:t>) </a:t>
            </a:r>
            <a:r>
              <a:rPr lang="ko-KR" altLang="en-US" dirty="0" smtClean="0"/>
              <a:t>정보</a:t>
            </a:r>
            <a:r>
              <a:rPr lang="en-US" altLang="ko-KR" dirty="0" smtClean="0"/>
              <a:t/>
            </a:r>
            <a:br>
              <a:rPr lang="en-US" altLang="ko-KR" dirty="0" smtClean="0"/>
            </a:br>
            <a:r>
              <a:rPr lang="ko-KR" altLang="en-US" dirty="0" err="1" smtClean="0"/>
              <a:t>업체내역</a:t>
            </a:r>
            <a:r>
              <a:rPr lang="en-US" altLang="ko-KR" dirty="0" smtClean="0"/>
              <a:t/>
            </a:r>
            <a:br>
              <a:rPr lang="en-US" altLang="ko-KR" dirty="0" smtClean="0"/>
            </a:br>
            <a:r>
              <a:rPr lang="ko-KR" altLang="en-US" dirty="0"/>
              <a:t>입찰공고첨부파일</a:t>
            </a:r>
            <a:r>
              <a:rPr lang="en-US" altLang="ko-KR" dirty="0"/>
              <a:t/>
            </a:r>
            <a:br>
              <a:rPr lang="en-US" altLang="ko-KR" dirty="0"/>
            </a:br>
            <a:r>
              <a:rPr lang="en-US" altLang="ko-KR" dirty="0" smtClean="0"/>
              <a:t>- </a:t>
            </a:r>
            <a:r>
              <a:rPr lang="ko-KR" altLang="en-US" dirty="0" err="1" smtClean="0"/>
              <a:t>품목내역</a:t>
            </a:r>
            <a:r>
              <a:rPr lang="en-US" altLang="ko-KR" dirty="0"/>
              <a:t>(</a:t>
            </a:r>
            <a:r>
              <a:rPr lang="ko-KR" altLang="en-US" dirty="0" err="1"/>
              <a:t>단가제인</a:t>
            </a:r>
            <a:r>
              <a:rPr lang="ko-KR" altLang="en-US" dirty="0"/>
              <a:t> 경우 표시</a:t>
            </a:r>
            <a:r>
              <a:rPr lang="en-US" altLang="ko-KR" dirty="0" smtClean="0"/>
              <a:t>)</a:t>
            </a:r>
            <a:br>
              <a:rPr lang="en-US" altLang="ko-KR" dirty="0" smtClean="0"/>
            </a:br>
            <a:r>
              <a:rPr lang="en-US" altLang="ko-KR" dirty="0" smtClean="0"/>
              <a:t>- </a:t>
            </a:r>
            <a:r>
              <a:rPr lang="ko-KR" altLang="en-US" dirty="0" err="1" smtClean="0"/>
              <a:t>공종및면허정보</a:t>
            </a:r>
            <a:r>
              <a:rPr lang="en-US" altLang="ko-KR" dirty="0"/>
              <a:t>(</a:t>
            </a:r>
            <a:r>
              <a:rPr lang="ko-KR" altLang="en-US" dirty="0" err="1"/>
              <a:t>업무구분</a:t>
            </a:r>
            <a:r>
              <a:rPr lang="ko-KR" altLang="en-US" dirty="0"/>
              <a:t> </a:t>
            </a:r>
            <a:r>
              <a:rPr lang="en-US" altLang="ko-KR" dirty="0"/>
              <a:t>– </a:t>
            </a:r>
            <a:r>
              <a:rPr lang="ko-KR" altLang="en-US" dirty="0"/>
              <a:t>공사</a:t>
            </a:r>
            <a:r>
              <a:rPr lang="en-US" altLang="ko-KR" dirty="0"/>
              <a:t>, </a:t>
            </a:r>
            <a:r>
              <a:rPr lang="ko-KR" altLang="en-US" dirty="0" err="1" smtClean="0"/>
              <a:t>공종정보</a:t>
            </a:r>
            <a:r>
              <a:rPr lang="ko-KR" altLang="en-US" dirty="0" smtClean="0"/>
              <a:t> </a:t>
            </a:r>
            <a:r>
              <a:rPr lang="ko-KR" altLang="en-US" dirty="0"/>
              <a:t>있는 경우 표시</a:t>
            </a:r>
            <a:r>
              <a:rPr lang="en-US" altLang="ko-KR" dirty="0" smtClean="0"/>
              <a:t>)</a:t>
            </a:r>
            <a:br>
              <a:rPr lang="en-US" altLang="ko-KR" dirty="0" smtClean="0"/>
            </a:br>
            <a:r>
              <a:rPr lang="en-US" altLang="ko-KR" dirty="0" smtClean="0"/>
              <a:t>-</a:t>
            </a:r>
            <a:br>
              <a:rPr lang="en-US" altLang="ko-KR" dirty="0" smtClean="0"/>
            </a:br>
            <a:r>
              <a:rPr lang="en-US" altLang="ko-KR" dirty="0" smtClean="0"/>
              <a:t>- </a:t>
            </a:r>
            <a:r>
              <a:rPr lang="ko-KR" altLang="en-US" dirty="0" smtClean="0"/>
              <a:t>입찰보증금</a:t>
            </a:r>
            <a:r>
              <a:rPr lang="en-US" altLang="ko-KR" dirty="0" smtClean="0"/>
              <a:t>(</a:t>
            </a:r>
            <a:r>
              <a:rPr lang="ko-KR" altLang="en-US" dirty="0" err="1"/>
              <a:t>분담이행</a:t>
            </a:r>
            <a:r>
              <a:rPr lang="ko-KR" altLang="en-US" dirty="0"/>
              <a:t> 방식인 경우 </a:t>
            </a:r>
            <a:r>
              <a:rPr lang="ko-KR" altLang="en-US" dirty="0" smtClean="0"/>
              <a:t>표시</a:t>
            </a:r>
            <a:r>
              <a:rPr lang="en-US" altLang="ko-KR" dirty="0" smtClean="0"/>
              <a:t>)</a:t>
            </a:r>
            <a:br>
              <a:rPr lang="en-US" altLang="ko-KR" dirty="0" smtClean="0"/>
            </a:br>
            <a:r>
              <a:rPr lang="en-US" altLang="ko-KR" dirty="0" smtClean="0"/>
              <a:t>- </a:t>
            </a:r>
            <a:r>
              <a:rPr lang="ko-KR" altLang="en-US" dirty="0" smtClean="0"/>
              <a:t>공동수급업체</a:t>
            </a:r>
            <a:r>
              <a:rPr lang="en-US" altLang="ko-KR" dirty="0" smtClean="0"/>
              <a:t>(</a:t>
            </a:r>
            <a:r>
              <a:rPr lang="ko-KR" altLang="en-US" dirty="0" smtClean="0"/>
              <a:t>공동인 경우 표시</a:t>
            </a:r>
            <a:r>
              <a:rPr lang="en-US" altLang="ko-KR" dirty="0" smtClean="0"/>
              <a:t>)</a:t>
            </a:r>
            <a:br>
              <a:rPr lang="en-US" altLang="ko-KR" dirty="0" smtClean="0"/>
            </a:br>
            <a:r>
              <a:rPr lang="en-US" altLang="ko-KR" dirty="0" smtClean="0"/>
              <a:t>- </a:t>
            </a:r>
            <a:r>
              <a:rPr lang="ko-KR" altLang="en-US" dirty="0" smtClean="0"/>
              <a:t>입찰참가첨부파일</a:t>
            </a:r>
            <a:r>
              <a:rPr lang="en-US" altLang="ko-KR" dirty="0" smtClean="0"/>
              <a:t/>
            </a:r>
            <a:br>
              <a:rPr lang="en-US" altLang="ko-KR" dirty="0" smtClean="0"/>
            </a:br>
            <a:r>
              <a:rPr lang="en-US" altLang="ko-KR" dirty="0" smtClean="0"/>
              <a:t>- </a:t>
            </a:r>
            <a:r>
              <a:rPr lang="ko-KR" altLang="en-US" dirty="0" err="1" smtClean="0"/>
              <a:t>문의처및</a:t>
            </a:r>
            <a:r>
              <a:rPr lang="ko-KR" altLang="en-US" dirty="0" smtClean="0"/>
              <a:t> 동의</a:t>
            </a:r>
            <a:endParaRPr lang="en-US" altLang="ko-KR" dirty="0"/>
          </a:p>
          <a:p>
            <a:pPr marL="0" indent="0">
              <a:buNone/>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869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679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192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1172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4307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25060"/>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571127" y="370041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8" name="그룹 7"/>
          <p:cNvGrpSpPr/>
          <p:nvPr/>
        </p:nvGrpSpPr>
        <p:grpSpPr>
          <a:xfrm>
            <a:off x="747926" y="3319387"/>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7" name="그룹 6"/>
            <p:cNvGrpSpPr/>
            <p:nvPr/>
          </p:nvGrpSpPr>
          <p:grpSpPr>
            <a:xfrm>
              <a:off x="747926" y="2310331"/>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sp>
        <p:nvSpPr>
          <p:cNvPr id="139" name="TextBox 138">
            <a:extLst>
              <a:ext uri="{FF2B5EF4-FFF2-40B4-BE49-F238E27FC236}">
                <a16:creationId xmlns:a16="http://schemas.microsoft.com/office/drawing/2014/main" id="{FFC49AEA-2A8F-250C-A86A-A7751D9706C3}"/>
              </a:ext>
            </a:extLst>
          </p:cNvPr>
          <p:cNvSpPr txBox="1"/>
          <p:nvPr/>
        </p:nvSpPr>
        <p:spPr>
          <a:xfrm>
            <a:off x="781461" y="475573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5063219"/>
            <a:ext cx="792000" cy="15908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5063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5063219"/>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5063219"/>
            <a:ext cx="1784088"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529432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5080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57217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59354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61491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63628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47087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4492141"/>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4492141"/>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4492141"/>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4492141"/>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4708748"/>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4454018"/>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98189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1019814" y="4064102"/>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204" name="타원 203"/>
          <p:cNvSpPr/>
          <p:nvPr/>
        </p:nvSpPr>
        <p:spPr>
          <a:xfrm>
            <a:off x="783686" y="409544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a:off x="3143548" y="417743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43715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58377"/>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65579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59163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67384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705185"/>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787171"/>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20" name="직선 연결선 319">
            <a:extLst>
              <a:ext uri="{FF2B5EF4-FFF2-40B4-BE49-F238E27FC236}">
                <a16:creationId xmlns:a16="http://schemas.microsoft.com/office/drawing/2014/main" id="{E9293055-D5CD-4B9E-7F64-64B2D2CA7A52}"/>
              </a:ext>
            </a:extLst>
          </p:cNvPr>
          <p:cNvCxnSpPr/>
          <p:nvPr/>
        </p:nvCxnSpPr>
        <p:spPr>
          <a:xfrm>
            <a:off x="675399" y="3981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3" name="타원 322">
            <a:extLst>
              <a:ext uri="{FF2B5EF4-FFF2-40B4-BE49-F238E27FC236}">
                <a16:creationId xmlns:a16="http://schemas.microsoft.com/office/drawing/2014/main" id="{37A7FF4F-0EAA-1463-560A-D5EC24416103}"/>
              </a:ext>
            </a:extLst>
          </p:cNvPr>
          <p:cNvSpPr/>
          <p:nvPr/>
        </p:nvSpPr>
        <p:spPr>
          <a:xfrm>
            <a:off x="571127" y="410868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24" name="타원 323">
            <a:extLst>
              <a:ext uri="{FF2B5EF4-FFF2-40B4-BE49-F238E27FC236}">
                <a16:creationId xmlns:a16="http://schemas.microsoft.com/office/drawing/2014/main" id="{37A7FF4F-0EAA-1463-560A-D5EC24416103}"/>
              </a:ext>
            </a:extLst>
          </p:cNvPr>
          <p:cNvSpPr/>
          <p:nvPr/>
        </p:nvSpPr>
        <p:spPr>
          <a:xfrm>
            <a:off x="571127" y="445055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51" name="모서리가 둥근 직사각형 150"/>
          <p:cNvSpPr/>
          <p:nvPr/>
        </p:nvSpPr>
        <p:spPr>
          <a:xfrm rot="5400000">
            <a:off x="2662242" y="316913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5" name="그룹 164"/>
          <p:cNvGrpSpPr/>
          <p:nvPr/>
        </p:nvGrpSpPr>
        <p:grpSpPr>
          <a:xfrm>
            <a:off x="8223250" y="569392"/>
            <a:ext cx="3365500" cy="219465"/>
            <a:chOff x="8223250" y="569392"/>
            <a:chExt cx="3365500" cy="219465"/>
          </a:xfrm>
        </p:grpSpPr>
        <p:sp>
          <p:nvSpPr>
            <p:cNvPr id="166" name="직사각형 16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167" name="직사각형 16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grpSp>
        <p:nvGrpSpPr>
          <p:cNvPr id="168" name="그룹 167"/>
          <p:cNvGrpSpPr/>
          <p:nvPr/>
        </p:nvGrpSpPr>
        <p:grpSpPr>
          <a:xfrm>
            <a:off x="677960" y="1582647"/>
            <a:ext cx="2714637" cy="686386"/>
            <a:chOff x="677960" y="1582647"/>
            <a:chExt cx="2714637" cy="686386"/>
          </a:xfrm>
        </p:grpSpPr>
        <p:sp>
          <p:nvSpPr>
            <p:cNvPr id="169" name="TextBox 168">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입찰참가신청서 작성</a:t>
              </a: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1" name="그룹 170"/>
            <p:cNvGrpSpPr/>
            <p:nvPr/>
          </p:nvGrpSpPr>
          <p:grpSpPr>
            <a:xfrm rot="5400000">
              <a:off x="852159" y="2062596"/>
              <a:ext cx="94010" cy="47005"/>
              <a:chOff x="6812560" y="3297172"/>
              <a:chExt cx="94010" cy="47005"/>
            </a:xfrm>
          </p:grpSpPr>
          <p:cxnSp>
            <p:nvCxnSpPr>
              <p:cNvPr id="178" name="직선 연결선 1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9" name="직선 연결선 1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2" name="그룹 171"/>
            <p:cNvGrpSpPr/>
            <p:nvPr/>
          </p:nvGrpSpPr>
          <p:grpSpPr>
            <a:xfrm>
              <a:off x="677960" y="1582647"/>
              <a:ext cx="2712027" cy="324286"/>
              <a:chOff x="677960" y="1582647"/>
              <a:chExt cx="2712027" cy="324286"/>
            </a:xfrm>
          </p:grpSpPr>
          <p:pic>
            <p:nvPicPr>
              <p:cNvPr id="173"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74" name="직선 연결선 173">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타원 174"/>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타원 175"/>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7" name="타원 176"/>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cxnSp>
        <p:nvCxnSpPr>
          <p:cNvPr id="184" name="직선 연결선 183">
            <a:extLst>
              <a:ext uri="{FF2B5EF4-FFF2-40B4-BE49-F238E27FC236}">
                <a16:creationId xmlns:a16="http://schemas.microsoft.com/office/drawing/2014/main" id="{E9293055-D5CD-4B9E-7F64-64B2D2CA7A52}"/>
              </a:ext>
            </a:extLst>
          </p:cNvPr>
          <p:cNvCxnSpPr/>
          <p:nvPr/>
        </p:nvCxnSpPr>
        <p:spPr>
          <a:xfrm>
            <a:off x="3795734" y="150185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6"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187" name="직사각형 186">
            <a:extLst>
              <a:ext uri="{FF2B5EF4-FFF2-40B4-BE49-F238E27FC236}">
                <a16:creationId xmlns:a16="http://schemas.microsoft.com/office/drawing/2014/main" id="{F56F1743-11A0-EA94-9184-4E42C0A37F9C}"/>
              </a:ext>
            </a:extLst>
          </p:cNvPr>
          <p:cNvSpPr/>
          <p:nvPr/>
        </p:nvSpPr>
        <p:spPr>
          <a:xfrm>
            <a:off x="3797016" y="1488949"/>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797016" y="14967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3825304" y="18527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7" name="TextBox 196">
            <a:extLst>
              <a:ext uri="{FF2B5EF4-FFF2-40B4-BE49-F238E27FC236}">
                <a16:creationId xmlns:a16="http://schemas.microsoft.com/office/drawing/2014/main" id="{FFC49AEA-2A8F-250C-A86A-A7751D9706C3}"/>
              </a:ext>
            </a:extLst>
          </p:cNvPr>
          <p:cNvSpPr txBox="1"/>
          <p:nvPr/>
        </p:nvSpPr>
        <p:spPr>
          <a:xfrm>
            <a:off x="3868983" y="1636146"/>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cxnSp>
        <p:nvCxnSpPr>
          <p:cNvPr id="198" name="직선 연결선 197">
            <a:extLst>
              <a:ext uri="{FF2B5EF4-FFF2-40B4-BE49-F238E27FC236}">
                <a16:creationId xmlns:a16="http://schemas.microsoft.com/office/drawing/2014/main" id="{E9293055-D5CD-4B9E-7F64-64B2D2CA7A52}"/>
              </a:ext>
            </a:extLst>
          </p:cNvPr>
          <p:cNvCxnSpPr/>
          <p:nvPr/>
        </p:nvCxnSpPr>
        <p:spPr>
          <a:xfrm>
            <a:off x="3825304" y="1852753"/>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99" name="그룹 198"/>
          <p:cNvGrpSpPr/>
          <p:nvPr/>
        </p:nvGrpSpPr>
        <p:grpSpPr>
          <a:xfrm>
            <a:off x="6028900" y="1598023"/>
            <a:ext cx="422853" cy="187961"/>
            <a:chOff x="3641308" y="2234886"/>
            <a:chExt cx="422853" cy="187961"/>
          </a:xfrm>
        </p:grpSpPr>
        <p:sp>
          <p:nvSpPr>
            <p:cNvPr id="200" name="타원 19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2" name="그룹 201"/>
            <p:cNvGrpSpPr/>
            <p:nvPr/>
          </p:nvGrpSpPr>
          <p:grpSpPr>
            <a:xfrm rot="5400000" flipH="1">
              <a:off x="3679895" y="2305364"/>
              <a:ext cx="94010" cy="47005"/>
              <a:chOff x="6812560" y="3297172"/>
              <a:chExt cx="94010" cy="47005"/>
            </a:xfrm>
          </p:grpSpPr>
          <p:cxnSp>
            <p:nvCxnSpPr>
              <p:cNvPr id="211" name="직선 연결선 2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3" name="타원 20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8" name="그룹 207"/>
            <p:cNvGrpSpPr/>
            <p:nvPr/>
          </p:nvGrpSpPr>
          <p:grpSpPr>
            <a:xfrm rot="16200000">
              <a:off x="3931564" y="2305364"/>
              <a:ext cx="94010" cy="47005"/>
              <a:chOff x="6812560" y="3297172"/>
              <a:chExt cx="94010" cy="47005"/>
            </a:xfrm>
          </p:grpSpPr>
          <p:cxnSp>
            <p:nvCxnSpPr>
              <p:cNvPr id="209" name="직선 연결선 2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0" name="직선 연결선 2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13" name="그룹 212"/>
          <p:cNvGrpSpPr/>
          <p:nvPr/>
        </p:nvGrpSpPr>
        <p:grpSpPr>
          <a:xfrm>
            <a:off x="3886275" y="2018353"/>
            <a:ext cx="2456097" cy="181140"/>
            <a:chOff x="712467" y="1964062"/>
            <a:chExt cx="2456097" cy="181140"/>
          </a:xfrm>
        </p:grpSpPr>
        <p:sp>
          <p:nvSpPr>
            <p:cNvPr id="214" name="TextBox 213">
              <a:extLst>
                <a:ext uri="{FF2B5EF4-FFF2-40B4-BE49-F238E27FC236}">
                  <a16:creationId xmlns:a16="http://schemas.microsoft.com/office/drawing/2014/main" id="{FFC49AEA-2A8F-250C-A86A-A7751D9706C3}"/>
                </a:ext>
              </a:extLst>
            </p:cNvPr>
            <p:cNvSpPr txBox="1"/>
            <p:nvPr/>
          </p:nvSpPr>
          <p:spPr>
            <a:xfrm>
              <a:off x="712467" y="196406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5" name="그룹 214"/>
            <p:cNvGrpSpPr/>
            <p:nvPr/>
          </p:nvGrpSpPr>
          <p:grpSpPr>
            <a:xfrm flipV="1">
              <a:off x="3074554" y="2077393"/>
              <a:ext cx="94010" cy="47005"/>
              <a:chOff x="6812560" y="3297172"/>
              <a:chExt cx="94010" cy="47005"/>
            </a:xfrm>
          </p:grpSpPr>
          <p:cxnSp>
            <p:nvCxnSpPr>
              <p:cNvPr id="216" name="직선 연결선 21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7" name="직선 연결선 21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5" name="그룹 224"/>
          <p:cNvGrpSpPr/>
          <p:nvPr/>
        </p:nvGrpSpPr>
        <p:grpSpPr>
          <a:xfrm>
            <a:off x="3886275" y="2274522"/>
            <a:ext cx="2456097" cy="181140"/>
            <a:chOff x="712467" y="2404329"/>
            <a:chExt cx="2456097" cy="181140"/>
          </a:xfrm>
        </p:grpSpPr>
        <p:sp>
          <p:nvSpPr>
            <p:cNvPr id="245" name="TextBox 244">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품목내역</a:t>
              </a:r>
              <a:endParaRPr lang="ko-KR" altLang="en-US" sz="700" dirty="0">
                <a:latin typeface="+mn-ea"/>
              </a:endParaRPr>
            </a:p>
          </p:txBody>
        </p:sp>
        <p:grpSp>
          <p:nvGrpSpPr>
            <p:cNvPr id="246" name="그룹 245"/>
            <p:cNvGrpSpPr/>
            <p:nvPr/>
          </p:nvGrpSpPr>
          <p:grpSpPr>
            <a:xfrm flipV="1">
              <a:off x="3074554" y="2517660"/>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49" name="그룹 248"/>
          <p:cNvGrpSpPr/>
          <p:nvPr/>
        </p:nvGrpSpPr>
        <p:grpSpPr>
          <a:xfrm>
            <a:off x="3886275" y="2640535"/>
            <a:ext cx="2456097" cy="181140"/>
            <a:chOff x="712467" y="2404329"/>
            <a:chExt cx="2456097" cy="181140"/>
          </a:xfrm>
        </p:grpSpPr>
        <p:sp>
          <p:nvSpPr>
            <p:cNvPr id="251" name="TextBox 250">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공종및면허정보</a:t>
              </a:r>
              <a:endParaRPr lang="ko-KR" altLang="en-US" sz="700" dirty="0">
                <a:latin typeface="+mn-ea"/>
              </a:endParaRPr>
            </a:p>
          </p:txBody>
        </p:sp>
        <p:grpSp>
          <p:nvGrpSpPr>
            <p:cNvPr id="252" name="그룹 251"/>
            <p:cNvGrpSpPr/>
            <p:nvPr/>
          </p:nvGrpSpPr>
          <p:grpSpPr>
            <a:xfrm flipV="1">
              <a:off x="3074554" y="2517660"/>
              <a:ext cx="94010" cy="47005"/>
              <a:chOff x="6812560" y="3297172"/>
              <a:chExt cx="94010" cy="47005"/>
            </a:xfrm>
          </p:grpSpPr>
          <p:cxnSp>
            <p:nvCxnSpPr>
              <p:cNvPr id="253" name="직선 연결선 2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4" name="직선 연결선 2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60" name="그룹 259"/>
          <p:cNvGrpSpPr/>
          <p:nvPr/>
        </p:nvGrpSpPr>
        <p:grpSpPr>
          <a:xfrm>
            <a:off x="3886275" y="2933367"/>
            <a:ext cx="2456097" cy="181140"/>
            <a:chOff x="712467" y="2404329"/>
            <a:chExt cx="2456097" cy="181140"/>
          </a:xfrm>
        </p:grpSpPr>
        <p:sp>
          <p:nvSpPr>
            <p:cNvPr id="261" name="TextBox 260">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입찰보증금</a:t>
              </a:r>
              <a:endParaRPr lang="ko-KR" altLang="en-US" sz="700" dirty="0">
                <a:latin typeface="+mn-ea"/>
              </a:endParaRPr>
            </a:p>
          </p:txBody>
        </p:sp>
        <p:grpSp>
          <p:nvGrpSpPr>
            <p:cNvPr id="262" name="그룹 261"/>
            <p:cNvGrpSpPr/>
            <p:nvPr/>
          </p:nvGrpSpPr>
          <p:grpSpPr>
            <a:xfrm flipV="1">
              <a:off x="3074554" y="2517660"/>
              <a:ext cx="94010" cy="47005"/>
              <a:chOff x="6812560" y="3297172"/>
              <a:chExt cx="94010" cy="47005"/>
            </a:xfrm>
          </p:grpSpPr>
          <p:cxnSp>
            <p:nvCxnSpPr>
              <p:cNvPr id="263" name="직선 연결선 26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4" name="직선 연결선 26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65" name="그룹 264"/>
          <p:cNvGrpSpPr/>
          <p:nvPr/>
        </p:nvGrpSpPr>
        <p:grpSpPr>
          <a:xfrm>
            <a:off x="3886275" y="3299380"/>
            <a:ext cx="2456097" cy="181140"/>
            <a:chOff x="712467" y="2404329"/>
            <a:chExt cx="2456097" cy="181140"/>
          </a:xfrm>
        </p:grpSpPr>
        <p:sp>
          <p:nvSpPr>
            <p:cNvPr id="266" name="TextBox 265">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공동수급업체</a:t>
              </a:r>
              <a:endParaRPr lang="ko-KR" altLang="en-US" sz="700" dirty="0">
                <a:latin typeface="+mn-ea"/>
              </a:endParaRPr>
            </a:p>
          </p:txBody>
        </p:sp>
        <p:grpSp>
          <p:nvGrpSpPr>
            <p:cNvPr id="267" name="그룹 266"/>
            <p:cNvGrpSpPr/>
            <p:nvPr/>
          </p:nvGrpSpPr>
          <p:grpSpPr>
            <a:xfrm flipV="1">
              <a:off x="3074554" y="2517660"/>
              <a:ext cx="94010" cy="47005"/>
              <a:chOff x="6812560" y="3297172"/>
              <a:chExt cx="94010" cy="47005"/>
            </a:xfrm>
          </p:grpSpPr>
          <p:cxnSp>
            <p:nvCxnSpPr>
              <p:cNvPr id="268" name="직선 연결선 2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3" name="직선 연결선 27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6" name="직선 연결선 275">
            <a:extLst>
              <a:ext uri="{FF2B5EF4-FFF2-40B4-BE49-F238E27FC236}">
                <a16:creationId xmlns:a16="http://schemas.microsoft.com/office/drawing/2014/main" id="{E9293055-D5CD-4B9E-7F64-64B2D2CA7A52}"/>
              </a:ext>
            </a:extLst>
          </p:cNvPr>
          <p:cNvCxnSpPr/>
          <p:nvPr/>
        </p:nvCxnSpPr>
        <p:spPr>
          <a:xfrm>
            <a:off x="3868983" y="255191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7" name="직선 연결선 276">
            <a:extLst>
              <a:ext uri="{FF2B5EF4-FFF2-40B4-BE49-F238E27FC236}">
                <a16:creationId xmlns:a16="http://schemas.microsoft.com/office/drawing/2014/main" id="{E9293055-D5CD-4B9E-7F64-64B2D2CA7A52}"/>
              </a:ext>
            </a:extLst>
          </p:cNvPr>
          <p:cNvCxnSpPr/>
          <p:nvPr/>
        </p:nvCxnSpPr>
        <p:spPr>
          <a:xfrm>
            <a:off x="3868983" y="292410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9" name="직선 연결선 278">
            <a:extLst>
              <a:ext uri="{FF2B5EF4-FFF2-40B4-BE49-F238E27FC236}">
                <a16:creationId xmlns:a16="http://schemas.microsoft.com/office/drawing/2014/main" id="{E9293055-D5CD-4B9E-7F64-64B2D2CA7A52}"/>
              </a:ext>
            </a:extLst>
          </p:cNvPr>
          <p:cNvCxnSpPr/>
          <p:nvPr/>
        </p:nvCxnSpPr>
        <p:spPr>
          <a:xfrm>
            <a:off x="3868983" y="322927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타원 280">
            <a:extLst>
              <a:ext uri="{FF2B5EF4-FFF2-40B4-BE49-F238E27FC236}">
                <a16:creationId xmlns:a16="http://schemas.microsoft.com/office/drawing/2014/main" id="{37A7FF4F-0EAA-1463-560A-D5EC24416103}"/>
              </a:ext>
            </a:extLst>
          </p:cNvPr>
          <p:cNvSpPr/>
          <p:nvPr/>
        </p:nvSpPr>
        <p:spPr>
          <a:xfrm>
            <a:off x="6587950" y="517596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cxnSp>
        <p:nvCxnSpPr>
          <p:cNvPr id="290" name="직선 연결선 289">
            <a:extLst>
              <a:ext uri="{FF2B5EF4-FFF2-40B4-BE49-F238E27FC236}">
                <a16:creationId xmlns:a16="http://schemas.microsoft.com/office/drawing/2014/main" id="{E9293055-D5CD-4B9E-7F64-64B2D2CA7A52}"/>
              </a:ext>
            </a:extLst>
          </p:cNvPr>
          <p:cNvCxnSpPr/>
          <p:nvPr/>
        </p:nvCxnSpPr>
        <p:spPr>
          <a:xfrm>
            <a:off x="3868983" y="360145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1" name="그룹 290"/>
          <p:cNvGrpSpPr/>
          <p:nvPr/>
        </p:nvGrpSpPr>
        <p:grpSpPr>
          <a:xfrm>
            <a:off x="3886275" y="3665393"/>
            <a:ext cx="2456097" cy="181140"/>
            <a:chOff x="712467" y="2404329"/>
            <a:chExt cx="2456097" cy="181140"/>
          </a:xfrm>
        </p:grpSpPr>
        <p:sp>
          <p:nvSpPr>
            <p:cNvPr id="292" name="TextBox 291">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입찰참가첨부파일</a:t>
              </a:r>
              <a:endParaRPr lang="ko-KR" altLang="en-US" sz="700" dirty="0">
                <a:latin typeface="+mn-ea"/>
              </a:endParaRPr>
            </a:p>
          </p:txBody>
        </p:sp>
        <p:grpSp>
          <p:nvGrpSpPr>
            <p:cNvPr id="293" name="그룹 292"/>
            <p:cNvGrpSpPr/>
            <p:nvPr/>
          </p:nvGrpSpPr>
          <p:grpSpPr>
            <a:xfrm flipV="1">
              <a:off x="3074554" y="2517660"/>
              <a:ext cx="94010" cy="47005"/>
              <a:chOff x="6812560" y="3297172"/>
              <a:chExt cx="94010" cy="47005"/>
            </a:xfrm>
          </p:grpSpPr>
          <p:cxnSp>
            <p:nvCxnSpPr>
              <p:cNvPr id="294" name="직선 연결선 2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97" name="직선 연결선 29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98" name="직선 연결선 297">
            <a:extLst>
              <a:ext uri="{FF2B5EF4-FFF2-40B4-BE49-F238E27FC236}">
                <a16:creationId xmlns:a16="http://schemas.microsoft.com/office/drawing/2014/main" id="{E9293055-D5CD-4B9E-7F64-64B2D2CA7A52}"/>
              </a:ext>
            </a:extLst>
          </p:cNvPr>
          <p:cNvCxnSpPr/>
          <p:nvPr/>
        </p:nvCxnSpPr>
        <p:spPr>
          <a:xfrm>
            <a:off x="3868983" y="50901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9" name="그룹 298"/>
          <p:cNvGrpSpPr/>
          <p:nvPr/>
        </p:nvGrpSpPr>
        <p:grpSpPr>
          <a:xfrm>
            <a:off x="3886275" y="4397419"/>
            <a:ext cx="2456097" cy="181140"/>
            <a:chOff x="712467" y="2404329"/>
            <a:chExt cx="2456097" cy="181140"/>
          </a:xfrm>
        </p:grpSpPr>
        <p:sp>
          <p:nvSpPr>
            <p:cNvPr id="311" name="TextBox 310">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입찰보증금</a:t>
              </a:r>
              <a:endParaRPr lang="ko-KR" altLang="en-US" sz="700" dirty="0">
                <a:latin typeface="+mn-ea"/>
              </a:endParaRPr>
            </a:p>
          </p:txBody>
        </p:sp>
        <p:grpSp>
          <p:nvGrpSpPr>
            <p:cNvPr id="312" name="그룹 311"/>
            <p:cNvGrpSpPr/>
            <p:nvPr/>
          </p:nvGrpSpPr>
          <p:grpSpPr>
            <a:xfrm flipV="1">
              <a:off x="3074554" y="2517660"/>
              <a:ext cx="94010" cy="47005"/>
              <a:chOff x="6812560" y="3297172"/>
              <a:chExt cx="94010" cy="47005"/>
            </a:xfrm>
          </p:grpSpPr>
          <p:cxnSp>
            <p:nvCxnSpPr>
              <p:cNvPr id="313" name="직선 연결선 3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343" name="그룹 342"/>
          <p:cNvGrpSpPr/>
          <p:nvPr/>
        </p:nvGrpSpPr>
        <p:grpSpPr>
          <a:xfrm>
            <a:off x="3886275" y="4031406"/>
            <a:ext cx="2456097" cy="181140"/>
            <a:chOff x="712467" y="2404329"/>
            <a:chExt cx="2456097" cy="181140"/>
          </a:xfrm>
        </p:grpSpPr>
        <p:sp>
          <p:nvSpPr>
            <p:cNvPr id="344" name="TextBox 343">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공동수급업체</a:t>
              </a:r>
              <a:endParaRPr lang="ko-KR" altLang="en-US" sz="700" dirty="0">
                <a:latin typeface="+mn-ea"/>
              </a:endParaRPr>
            </a:p>
          </p:txBody>
        </p:sp>
        <p:grpSp>
          <p:nvGrpSpPr>
            <p:cNvPr id="345" name="그룹 344"/>
            <p:cNvGrpSpPr/>
            <p:nvPr/>
          </p:nvGrpSpPr>
          <p:grpSpPr>
            <a:xfrm flipV="1">
              <a:off x="3074554" y="2517660"/>
              <a:ext cx="94010" cy="47005"/>
              <a:chOff x="6812560" y="3297172"/>
              <a:chExt cx="94010" cy="47005"/>
            </a:xfrm>
          </p:grpSpPr>
          <p:cxnSp>
            <p:nvCxnSpPr>
              <p:cNvPr id="346" name="직선 연결선 3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7" name="직선 연결선 3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349" name="그룹 348"/>
          <p:cNvGrpSpPr/>
          <p:nvPr/>
        </p:nvGrpSpPr>
        <p:grpSpPr>
          <a:xfrm>
            <a:off x="3886275" y="4763436"/>
            <a:ext cx="2456097" cy="181140"/>
            <a:chOff x="712467" y="2404329"/>
            <a:chExt cx="2456097" cy="181140"/>
          </a:xfrm>
        </p:grpSpPr>
        <p:sp>
          <p:nvSpPr>
            <p:cNvPr id="350" name="TextBox 349">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문의및동의</a:t>
              </a:r>
              <a:endParaRPr lang="ko-KR" altLang="en-US" sz="700" dirty="0">
                <a:latin typeface="+mn-ea"/>
              </a:endParaRPr>
            </a:p>
          </p:txBody>
        </p:sp>
        <p:grpSp>
          <p:nvGrpSpPr>
            <p:cNvPr id="351" name="그룹 350"/>
            <p:cNvGrpSpPr/>
            <p:nvPr/>
          </p:nvGrpSpPr>
          <p:grpSpPr>
            <a:xfrm flipV="1">
              <a:off x="3074554" y="2517660"/>
              <a:ext cx="94010" cy="47005"/>
              <a:chOff x="6812560" y="3297172"/>
              <a:chExt cx="94010" cy="47005"/>
            </a:xfrm>
          </p:grpSpPr>
          <p:cxnSp>
            <p:nvCxnSpPr>
              <p:cNvPr id="352" name="직선 연결선 35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53" name="직선 연결선 3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355" name="직선 연결선 354">
            <a:extLst>
              <a:ext uri="{FF2B5EF4-FFF2-40B4-BE49-F238E27FC236}">
                <a16:creationId xmlns:a16="http://schemas.microsoft.com/office/drawing/2014/main" id="{E9293055-D5CD-4B9E-7F64-64B2D2CA7A52}"/>
              </a:ext>
            </a:extLst>
          </p:cNvPr>
          <p:cNvCxnSpPr/>
          <p:nvPr/>
        </p:nvCxnSpPr>
        <p:spPr>
          <a:xfrm>
            <a:off x="3868983" y="434581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6" name="직선 연결선 355">
            <a:extLst>
              <a:ext uri="{FF2B5EF4-FFF2-40B4-BE49-F238E27FC236}">
                <a16:creationId xmlns:a16="http://schemas.microsoft.com/office/drawing/2014/main" id="{E9293055-D5CD-4B9E-7F64-64B2D2CA7A52}"/>
              </a:ext>
            </a:extLst>
          </p:cNvPr>
          <p:cNvCxnSpPr/>
          <p:nvPr/>
        </p:nvCxnSpPr>
        <p:spPr>
          <a:xfrm>
            <a:off x="3868983" y="397363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7" name="직선 연결선 356">
            <a:extLst>
              <a:ext uri="{FF2B5EF4-FFF2-40B4-BE49-F238E27FC236}">
                <a16:creationId xmlns:a16="http://schemas.microsoft.com/office/drawing/2014/main" id="{E9293055-D5CD-4B9E-7F64-64B2D2CA7A52}"/>
              </a:ext>
            </a:extLst>
          </p:cNvPr>
          <p:cNvCxnSpPr/>
          <p:nvPr/>
        </p:nvCxnSpPr>
        <p:spPr>
          <a:xfrm>
            <a:off x="3868983" y="471799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04545761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a:t>
            </a:r>
            <a:r>
              <a:rPr lang="ko-KR" altLang="en-US" dirty="0" smtClean="0"/>
              <a:t>표시</a:t>
            </a:r>
            <a:r>
              <a:rPr lang="en-US" altLang="ko-KR" dirty="0" smtClean="0"/>
              <a:t/>
            </a:r>
            <a:br>
              <a:rPr lang="en-US" altLang="ko-KR" dirty="0" smtClean="0"/>
            </a:br>
            <a:r>
              <a:rPr lang="en-US" altLang="ko-KR" dirty="0" smtClean="0"/>
              <a:t>- </a:t>
            </a:r>
            <a:r>
              <a:rPr lang="ko-KR" altLang="en-US" dirty="0" smtClean="0"/>
              <a:t>신청서 작성 화면</a:t>
            </a:r>
            <a:r>
              <a:rPr lang="en-US" altLang="ko-KR" dirty="0" smtClean="0"/>
              <a:t/>
            </a:r>
            <a:br>
              <a:rPr lang="en-US" altLang="ko-KR" dirty="0" smtClean="0"/>
            </a:br>
            <a:r>
              <a:rPr lang="en-US" altLang="ko-KR" dirty="0" smtClean="0"/>
              <a:t>- </a:t>
            </a:r>
            <a:r>
              <a:rPr lang="ko-KR" altLang="en-US" dirty="0" err="1" smtClean="0"/>
              <a:t>입찰시</a:t>
            </a:r>
            <a:r>
              <a:rPr lang="ko-KR" altLang="en-US" dirty="0" smtClean="0"/>
              <a:t> 기본정보는 자동으로 </a:t>
            </a:r>
            <a:r>
              <a:rPr lang="ko-KR" altLang="en-US" dirty="0" err="1" smtClean="0"/>
              <a:t>인입됨</a:t>
            </a:r>
            <a:endParaRPr lang="en-US" altLang="ko-KR" dirty="0"/>
          </a:p>
          <a:p>
            <a:pPr marL="228600" indent="-228600">
              <a:buFont typeface="+mj-lt"/>
              <a:buAutoNum type="arabicPeriod"/>
            </a:pPr>
            <a:r>
              <a:rPr lang="ko-KR" altLang="en-US" dirty="0" smtClean="0"/>
              <a:t>신청서 </a:t>
            </a:r>
            <a:r>
              <a:rPr lang="ko-KR" altLang="en-US" dirty="0"/>
              <a:t>작성 내역 </a:t>
            </a:r>
            <a:r>
              <a:rPr lang="ko-KR" altLang="en-US" dirty="0" smtClean="0"/>
              <a:t>탭</a:t>
            </a:r>
            <a:r>
              <a:rPr lang="en-US" altLang="ko-KR" dirty="0" smtClean="0"/>
              <a:t/>
            </a:r>
            <a:br>
              <a:rPr lang="en-US" altLang="ko-KR" dirty="0" smtClean="0"/>
            </a:br>
            <a:r>
              <a:rPr lang="en-US" altLang="ko-KR" dirty="0" smtClean="0"/>
              <a:t>- </a:t>
            </a:r>
            <a:r>
              <a:rPr lang="ko-KR" altLang="en-US" dirty="0" smtClean="0"/>
              <a:t>일반정보</a:t>
            </a:r>
            <a:r>
              <a:rPr lang="en-US" altLang="ko-KR" dirty="0" smtClean="0"/>
              <a:t/>
            </a:r>
            <a:br>
              <a:rPr lang="en-US" altLang="ko-KR" dirty="0" smtClean="0"/>
            </a:br>
            <a:r>
              <a:rPr lang="en-US" altLang="ko-KR" dirty="0" smtClean="0"/>
              <a:t>2-1] </a:t>
            </a:r>
            <a:r>
              <a:rPr lang="ko-KR" altLang="en-US" dirty="0" err="1"/>
              <a:t>입찰건명</a:t>
            </a:r>
            <a:r>
              <a:rPr lang="ko-KR" altLang="en-US" dirty="0"/>
              <a:t> </a:t>
            </a:r>
            <a:r>
              <a:rPr lang="en-US" altLang="ko-KR" dirty="0"/>
              <a:t>/ </a:t>
            </a:r>
            <a:r>
              <a:rPr lang="ko-KR" altLang="en-US" dirty="0" err="1"/>
              <a:t>공사명</a:t>
            </a:r>
            <a:r>
              <a:rPr lang="en-US" altLang="ko-KR" dirty="0"/>
              <a:t/>
            </a:r>
            <a:br>
              <a:rPr lang="en-US" altLang="ko-KR" dirty="0"/>
            </a:br>
            <a:r>
              <a:rPr lang="en-US" altLang="ko-KR" dirty="0"/>
              <a:t>2</a:t>
            </a:r>
            <a:r>
              <a:rPr lang="en-US" altLang="ko-KR" dirty="0" smtClean="0"/>
              <a:t>-2] </a:t>
            </a:r>
            <a:r>
              <a:rPr lang="ko-KR" altLang="en-US" dirty="0" err="1"/>
              <a:t>판단번호</a:t>
            </a:r>
            <a:r>
              <a:rPr lang="ko-KR" altLang="en-US" dirty="0"/>
              <a:t> </a:t>
            </a:r>
            <a:r>
              <a:rPr lang="en-US" altLang="ko-KR" dirty="0"/>
              <a:t>/ </a:t>
            </a:r>
            <a:r>
              <a:rPr lang="ko-KR" altLang="en-US" dirty="0" err="1"/>
              <a:t>공사번호</a:t>
            </a:r>
            <a:r>
              <a:rPr lang="en-US" altLang="ko-KR" dirty="0"/>
              <a:t/>
            </a:r>
            <a:br>
              <a:rPr lang="en-US" altLang="ko-KR" dirty="0"/>
            </a:br>
            <a:r>
              <a:rPr lang="en-US" altLang="ko-KR" dirty="0"/>
              <a:t>2</a:t>
            </a:r>
            <a:r>
              <a:rPr lang="en-US" altLang="ko-KR" dirty="0" smtClean="0"/>
              <a:t>-3] </a:t>
            </a:r>
            <a:r>
              <a:rPr lang="ko-KR" altLang="en-US" dirty="0" err="1"/>
              <a:t>집행유형</a:t>
            </a:r>
            <a:r>
              <a:rPr lang="ko-KR" altLang="en-US" dirty="0"/>
              <a:t> </a:t>
            </a:r>
            <a:r>
              <a:rPr lang="en-US" altLang="ko-KR" dirty="0"/>
              <a:t>/ </a:t>
            </a:r>
            <a:r>
              <a:rPr lang="ko-KR" altLang="en-US" dirty="0" err="1"/>
              <a:t>공사구분</a:t>
            </a:r>
            <a:r>
              <a:rPr lang="en-US" altLang="ko-KR" dirty="0"/>
              <a:t/>
            </a:r>
            <a:br>
              <a:rPr lang="en-US" altLang="ko-KR" dirty="0"/>
            </a:br>
            <a:r>
              <a:rPr lang="en-US" altLang="ko-KR" dirty="0"/>
              <a:t>2</a:t>
            </a:r>
            <a:r>
              <a:rPr lang="en-US" altLang="ko-KR" dirty="0" smtClean="0"/>
              <a:t>-4] </a:t>
            </a:r>
            <a:r>
              <a:rPr lang="ko-KR" altLang="en-US" dirty="0" err="1"/>
              <a:t>개찰일시</a:t>
            </a:r>
            <a:r>
              <a:rPr lang="ko-KR" altLang="en-US" dirty="0"/>
              <a:t> </a:t>
            </a:r>
            <a:r>
              <a:rPr lang="en-US" altLang="ko-KR" dirty="0"/>
              <a:t>/ </a:t>
            </a:r>
            <a:r>
              <a:rPr lang="ko-KR" altLang="en-US" dirty="0" err="1"/>
              <a:t>입찰일시</a:t>
            </a:r>
            <a:r>
              <a:rPr lang="en-US" altLang="ko-KR" dirty="0"/>
              <a:t/>
            </a:r>
            <a:br>
              <a:rPr lang="en-US" altLang="ko-KR" dirty="0"/>
            </a:br>
            <a:r>
              <a:rPr lang="en-US" altLang="ko-KR" dirty="0" smtClean="0"/>
              <a:t>2-5] </a:t>
            </a:r>
            <a:r>
              <a:rPr lang="en-US" altLang="ko-KR" dirty="0"/>
              <a:t/>
            </a:r>
            <a:br>
              <a:rPr lang="en-US" altLang="ko-KR" dirty="0"/>
            </a:br>
            <a:r>
              <a:rPr lang="en-US" altLang="ko-KR" dirty="0" smtClean="0"/>
              <a:t>- </a:t>
            </a:r>
            <a:r>
              <a:rPr lang="ko-KR" altLang="en-US" dirty="0" err="1"/>
              <a:t>입찰방법이</a:t>
            </a:r>
            <a:r>
              <a:rPr lang="ko-KR" altLang="en-US" dirty="0"/>
              <a:t> </a:t>
            </a:r>
            <a:r>
              <a:rPr lang="en-US" altLang="ko-KR" dirty="0"/>
              <a:t>‘B(</a:t>
            </a:r>
            <a:r>
              <a:rPr lang="ko-KR" altLang="en-US" dirty="0" err="1"/>
              <a:t>단가제</a:t>
            </a:r>
            <a:r>
              <a:rPr lang="en-US" altLang="ko-KR" dirty="0"/>
              <a:t>)’</a:t>
            </a:r>
            <a:r>
              <a:rPr lang="ko-KR" altLang="en-US" dirty="0"/>
              <a:t>인 경우 </a:t>
            </a:r>
            <a:r>
              <a:rPr lang="ko-KR" altLang="en-US" dirty="0" err="1"/>
              <a:t>단가제유형</a:t>
            </a:r>
            <a:r>
              <a:rPr lang="en-US" altLang="ko-KR" dirty="0"/>
              <a:t>, </a:t>
            </a:r>
            <a:r>
              <a:rPr lang="ko-KR" altLang="en-US" dirty="0"/>
              <a:t>그 외 총수량</a:t>
            </a:r>
            <a:r>
              <a:rPr lang="en-US" altLang="ko-KR" dirty="0"/>
              <a:t/>
            </a:r>
            <a:br>
              <a:rPr lang="en-US" altLang="ko-KR" dirty="0"/>
            </a:br>
            <a:r>
              <a:rPr lang="en-US" altLang="ko-KR" dirty="0"/>
              <a:t>- </a:t>
            </a:r>
            <a:r>
              <a:rPr lang="ko-KR" altLang="en-US" dirty="0"/>
              <a:t>입찰방법</a:t>
            </a:r>
            <a:r>
              <a:rPr lang="en-US" altLang="ko-KR" dirty="0"/>
              <a:t>(BDTC)</a:t>
            </a:r>
            <a:r>
              <a:rPr lang="ko-KR" altLang="en-US" dirty="0"/>
              <a:t>이 </a:t>
            </a:r>
            <a:r>
              <a:rPr lang="en-US" altLang="ko-KR" dirty="0"/>
              <a:t>‘H(</a:t>
            </a:r>
            <a:r>
              <a:rPr lang="ko-KR" altLang="en-US" dirty="0" err="1"/>
              <a:t>내역입찰</a:t>
            </a:r>
            <a:r>
              <a:rPr lang="en-US" altLang="ko-KR" dirty="0"/>
              <a:t>(</a:t>
            </a:r>
            <a:r>
              <a:rPr lang="ko-KR" altLang="en-US" dirty="0"/>
              <a:t>설계시공일괄입찰</a:t>
            </a:r>
            <a:r>
              <a:rPr lang="en-US" altLang="ko-KR" dirty="0"/>
              <a:t>))’</a:t>
            </a:r>
            <a:r>
              <a:rPr lang="ko-KR" altLang="en-US" dirty="0"/>
              <a:t>인 경우 </a:t>
            </a:r>
            <a:r>
              <a:rPr lang="en-US" altLang="ko-KR" dirty="0"/>
              <a:t>‘</a:t>
            </a:r>
            <a:r>
              <a:rPr lang="ko-KR" altLang="en-US" dirty="0" err="1"/>
              <a:t>낙찰자기준</a:t>
            </a:r>
            <a:r>
              <a:rPr lang="en-US" altLang="ko-KR" dirty="0"/>
              <a:t>’ </a:t>
            </a:r>
            <a:r>
              <a:rPr lang="ko-KR" altLang="en-US" dirty="0"/>
              <a:t>보이기</a:t>
            </a:r>
            <a:r>
              <a:rPr lang="en-US" altLang="ko-KR" dirty="0"/>
              <a:t>, </a:t>
            </a:r>
            <a:r>
              <a:rPr lang="ko-KR" altLang="en-US" dirty="0"/>
              <a:t>그 외 숨기기</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a:t>
            </a:r>
            <a:r>
              <a:rPr lang="ko-KR" altLang="en-US" dirty="0" smtClean="0"/>
              <a:t>표기</a:t>
            </a:r>
            <a:r>
              <a:rPr lang="en-US" altLang="ko-KR" dirty="0"/>
              <a:t/>
            </a:r>
            <a:br>
              <a:rPr lang="en-US" altLang="ko-KR" dirty="0"/>
            </a:br>
            <a:r>
              <a:rPr lang="en-US" altLang="ko-KR" dirty="0" smtClean="0"/>
              <a:t>2-6] </a:t>
            </a:r>
            <a:r>
              <a:rPr lang="en-US" altLang="ko-KR" dirty="0"/>
              <a:t>(</a:t>
            </a:r>
            <a:r>
              <a:rPr lang="ko-KR" altLang="en-US" dirty="0"/>
              <a:t>총수량</a:t>
            </a:r>
            <a:r>
              <a:rPr lang="en-US" altLang="ko-KR" dirty="0"/>
              <a:t>/</a:t>
            </a:r>
            <a:r>
              <a:rPr lang="ko-KR" altLang="en-US" dirty="0" err="1"/>
              <a:t>단가제유형</a:t>
            </a:r>
            <a:r>
              <a:rPr lang="en-US" altLang="ko-KR" dirty="0"/>
              <a:t>) / </a:t>
            </a:r>
            <a:r>
              <a:rPr lang="ko-KR" altLang="en-US" dirty="0"/>
              <a:t>사전심사</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869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679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192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1172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4307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25060"/>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 name="그룹 7"/>
          <p:cNvGrpSpPr/>
          <p:nvPr/>
        </p:nvGrpSpPr>
        <p:grpSpPr>
          <a:xfrm>
            <a:off x="747926" y="3319387"/>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7" name="그룹 6"/>
            <p:cNvGrpSpPr/>
            <p:nvPr/>
          </p:nvGrpSpPr>
          <p:grpSpPr>
            <a:xfrm>
              <a:off x="747926" y="2310331"/>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81461" y="475573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5063219"/>
            <a:ext cx="792000" cy="15908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5063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5063219"/>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5063219"/>
            <a:ext cx="1784088"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529432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5080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57217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59354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61491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63628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47087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4492141"/>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4492141"/>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smtClean="0">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4492141"/>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smtClean="0">
                <a:latin typeface="+mn-ea"/>
              </a:rPr>
              <a:t>공종및</a:t>
            </a:r>
            <a:r>
              <a:rPr lang="ko-KR" altLang="en-US" sz="700" dirty="0" smtClean="0">
                <a:latin typeface="+mn-ea"/>
              </a:rPr>
              <a:t> 면허</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4492141"/>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smtClean="0">
                <a:latin typeface="+mn-ea"/>
              </a:rPr>
              <a:t>입찰보증금</a:t>
            </a:r>
            <a:endParaRPr lang="ko-KR" altLang="en-US" sz="700" dirty="0">
              <a:latin typeface="+mn-ea"/>
            </a:endParaRP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4708748"/>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4454018"/>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98189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1019814" y="4064102"/>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204" name="타원 203"/>
          <p:cNvSpPr/>
          <p:nvPr/>
        </p:nvSpPr>
        <p:spPr>
          <a:xfrm>
            <a:off x="783686" y="409544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a:off x="3143548" y="417743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43715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58377"/>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65579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직사각형 281"/>
          <p:cNvSpPr/>
          <p:nvPr/>
        </p:nvSpPr>
        <p:spPr>
          <a:xfrm>
            <a:off x="3840473" y="1817010"/>
            <a:ext cx="792000" cy="121811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8380" y="21629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4" name="TextBox 283">
            <a:extLst>
              <a:ext uri="{FF2B5EF4-FFF2-40B4-BE49-F238E27FC236}">
                <a16:creationId xmlns:a16="http://schemas.microsoft.com/office/drawing/2014/main" id="{FFC49AEA-2A8F-250C-A86A-A7751D9706C3}"/>
              </a:ext>
            </a:extLst>
          </p:cNvPr>
          <p:cNvSpPr txBox="1"/>
          <p:nvPr/>
        </p:nvSpPr>
        <p:spPr>
          <a:xfrm>
            <a:off x="3927537" y="1742715"/>
            <a:ext cx="756848" cy="1292662"/>
          </a:xfrm>
          <a:prstGeom prst="rect">
            <a:avLst/>
          </a:prstGeom>
          <a:noFill/>
        </p:spPr>
        <p:txBody>
          <a:bodyPr wrap="square" lIns="0" tIns="0" rIns="0" bIns="0" rtlCol="0">
            <a:spAutoFit/>
          </a:bodyPr>
          <a:lstStyle/>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smtClean="0">
                <a:latin typeface="+mn-ea"/>
              </a:rPr>
              <a:t>총수량</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낙찰자결정방법</a:t>
            </a:r>
            <a:endParaRPr lang="en-US" altLang="ko-KR" sz="700" dirty="0" smtClean="0">
              <a:latin typeface="+mn-ea"/>
            </a:endParaRPr>
          </a:p>
          <a:p>
            <a:pPr>
              <a:lnSpc>
                <a:spcPct val="200000"/>
              </a:lnSpc>
            </a:pPr>
            <a:r>
              <a:rPr lang="ko-KR" altLang="en-US" sz="700" dirty="0" smtClean="0">
                <a:latin typeface="+mn-ea"/>
              </a:rPr>
              <a:t>적격심사 </a:t>
            </a:r>
            <a:r>
              <a:rPr lang="ko-KR" altLang="en-US" sz="700" dirty="0">
                <a:latin typeface="+mn-ea"/>
              </a:rPr>
              <a:t>여부</a:t>
            </a:r>
            <a:endParaRPr lang="en-US" altLang="ko-KR" sz="700" dirty="0">
              <a:latin typeface="+mn-ea"/>
            </a:endParaRPr>
          </a:p>
          <a:p>
            <a:pPr>
              <a:lnSpc>
                <a:spcPct val="200000"/>
              </a:lnSpc>
            </a:pPr>
            <a:r>
              <a:rPr lang="ko-KR" altLang="en-US" sz="700" dirty="0">
                <a:latin typeface="+mn-ea"/>
              </a:rPr>
              <a:t>낙찰자 기준</a:t>
            </a:r>
            <a:endParaRPr lang="en-US" altLang="ko-KR" sz="700" dirty="0">
              <a:latin typeface="+mn-ea"/>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4684385" y="1742715"/>
            <a:ext cx="1770899" cy="1292662"/>
          </a:xfrm>
          <a:prstGeom prst="rect">
            <a:avLst/>
          </a:prstGeom>
          <a:noFill/>
        </p:spPr>
        <p:txBody>
          <a:bodyPr wrap="square" lIns="0" tIns="0" rIns="0" bIns="0" rtlCol="0">
            <a:spAutoFit/>
          </a:bodyPr>
          <a:lstStyle/>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a:p>
            <a:pPr>
              <a:lnSpc>
                <a:spcPct val="200000"/>
              </a:lnSpc>
            </a:pPr>
            <a:r>
              <a:rPr lang="ko-KR" altLang="en-US" sz="700" dirty="0">
                <a:latin typeface="+mn-ea"/>
              </a:rPr>
              <a:t>대상</a:t>
            </a:r>
            <a:endParaRPr lang="en-US" altLang="ko-KR" sz="700" dirty="0">
              <a:latin typeface="+mn-ea"/>
            </a:endParaRPr>
          </a:p>
          <a:p>
            <a:pPr>
              <a:lnSpc>
                <a:spcPct val="200000"/>
              </a:lnSpc>
            </a:pPr>
            <a:endParaRPr lang="en-US" altLang="ko-KR"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40473" y="2394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7" name="직선 연결선 286">
            <a:extLst>
              <a:ext uri="{FF2B5EF4-FFF2-40B4-BE49-F238E27FC236}">
                <a16:creationId xmlns:a16="http://schemas.microsoft.com/office/drawing/2014/main" id="{E9293055-D5CD-4B9E-7F64-64B2D2CA7A52}"/>
              </a:ext>
            </a:extLst>
          </p:cNvPr>
          <p:cNvCxnSpPr/>
          <p:nvPr/>
        </p:nvCxnSpPr>
        <p:spPr>
          <a:xfrm>
            <a:off x="3840473" y="26077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8" name="직선 연결선 287">
            <a:extLst>
              <a:ext uri="{FF2B5EF4-FFF2-40B4-BE49-F238E27FC236}">
                <a16:creationId xmlns:a16="http://schemas.microsoft.com/office/drawing/2014/main" id="{E9293055-D5CD-4B9E-7F64-64B2D2CA7A52}"/>
              </a:ext>
            </a:extLst>
          </p:cNvPr>
          <p:cNvCxnSpPr/>
          <p:nvPr/>
        </p:nvCxnSpPr>
        <p:spPr>
          <a:xfrm>
            <a:off x="3840473" y="28214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9" name="직선 연결선 288">
            <a:extLst>
              <a:ext uri="{FF2B5EF4-FFF2-40B4-BE49-F238E27FC236}">
                <a16:creationId xmlns:a16="http://schemas.microsoft.com/office/drawing/2014/main" id="{E9293055-D5CD-4B9E-7F64-64B2D2CA7A52}"/>
              </a:ext>
            </a:extLst>
          </p:cNvPr>
          <p:cNvCxnSpPr/>
          <p:nvPr/>
        </p:nvCxnSpPr>
        <p:spPr>
          <a:xfrm>
            <a:off x="3840473" y="30351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95" name="TextBox 294">
            <a:extLst>
              <a:ext uri="{FF2B5EF4-FFF2-40B4-BE49-F238E27FC236}">
                <a16:creationId xmlns:a16="http://schemas.microsoft.com/office/drawing/2014/main" id="{FFC49AEA-2A8F-250C-A86A-A7751D9706C3}"/>
              </a:ext>
            </a:extLst>
          </p:cNvPr>
          <p:cNvSpPr txBox="1"/>
          <p:nvPr/>
        </p:nvSpPr>
        <p:spPr>
          <a:xfrm>
            <a:off x="3905603" y="3163904"/>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300" name="직사각형 299"/>
          <p:cNvSpPr/>
          <p:nvPr/>
        </p:nvSpPr>
        <p:spPr>
          <a:xfrm>
            <a:off x="3846725" y="3471390"/>
            <a:ext cx="792000" cy="12996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3844632" y="347138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3933789" y="3471389"/>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4690637" y="3471389"/>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3846725" y="37024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3846725" y="39162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6725" y="41299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46725" y="43436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46725" y="4557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846725" y="47710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31169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59163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67384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705185"/>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787171"/>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20" name="직선 연결선 319">
            <a:extLst>
              <a:ext uri="{FF2B5EF4-FFF2-40B4-BE49-F238E27FC236}">
                <a16:creationId xmlns:a16="http://schemas.microsoft.com/office/drawing/2014/main" id="{E9293055-D5CD-4B9E-7F64-64B2D2CA7A52}"/>
              </a:ext>
            </a:extLst>
          </p:cNvPr>
          <p:cNvCxnSpPr/>
          <p:nvPr/>
        </p:nvCxnSpPr>
        <p:spPr>
          <a:xfrm>
            <a:off x="675399" y="3981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타원 323">
            <a:extLst>
              <a:ext uri="{FF2B5EF4-FFF2-40B4-BE49-F238E27FC236}">
                <a16:creationId xmlns:a16="http://schemas.microsoft.com/office/drawing/2014/main" id="{37A7FF4F-0EAA-1463-560A-D5EC24416103}"/>
              </a:ext>
            </a:extLst>
          </p:cNvPr>
          <p:cNvSpPr/>
          <p:nvPr/>
        </p:nvSpPr>
        <p:spPr>
          <a:xfrm>
            <a:off x="571127" y="445055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cxnSp>
        <p:nvCxnSpPr>
          <p:cNvPr id="325" name="직선 연결선 324">
            <a:extLst>
              <a:ext uri="{FF2B5EF4-FFF2-40B4-BE49-F238E27FC236}">
                <a16:creationId xmlns:a16="http://schemas.microsoft.com/office/drawing/2014/main" id="{E9293055-D5CD-4B9E-7F64-64B2D2CA7A52}"/>
              </a:ext>
            </a:extLst>
          </p:cNvPr>
          <p:cNvCxnSpPr/>
          <p:nvPr/>
        </p:nvCxnSpPr>
        <p:spPr>
          <a:xfrm>
            <a:off x="3840473" y="19469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6" name="타원 325">
            <a:extLst>
              <a:ext uri="{FF2B5EF4-FFF2-40B4-BE49-F238E27FC236}">
                <a16:creationId xmlns:a16="http://schemas.microsoft.com/office/drawing/2014/main" id="{37A7FF4F-0EAA-1463-560A-D5EC24416103}"/>
              </a:ext>
            </a:extLst>
          </p:cNvPr>
          <p:cNvSpPr/>
          <p:nvPr/>
        </p:nvSpPr>
        <p:spPr>
          <a:xfrm>
            <a:off x="718613" y="258616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2-1</a:t>
            </a:r>
            <a:endParaRPr lang="ko-KR" altLang="en-US" sz="6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3840473" y="180707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3884151" y="159046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4438614" y="1590465"/>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4980121" y="159046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5681515" y="1590465"/>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3840473" y="180707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6044069" y="1552342"/>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51" name="모서리가 둥근 직사각형 150"/>
          <p:cNvSpPr/>
          <p:nvPr/>
        </p:nvSpPr>
        <p:spPr>
          <a:xfrm rot="5400000">
            <a:off x="2662242" y="316913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22360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5" name="그룹 164"/>
          <p:cNvGrpSpPr/>
          <p:nvPr/>
        </p:nvGrpSpPr>
        <p:grpSpPr>
          <a:xfrm>
            <a:off x="8223250" y="0"/>
            <a:ext cx="3365500" cy="219465"/>
            <a:chOff x="8223250" y="569392"/>
            <a:chExt cx="3365500" cy="219465"/>
          </a:xfrm>
        </p:grpSpPr>
        <p:sp>
          <p:nvSpPr>
            <p:cNvPr id="166" name="직사각형 16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167" name="직사각형 16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grpSp>
        <p:nvGrpSpPr>
          <p:cNvPr id="168" name="그룹 167"/>
          <p:cNvGrpSpPr/>
          <p:nvPr/>
        </p:nvGrpSpPr>
        <p:grpSpPr>
          <a:xfrm>
            <a:off x="677960" y="1582647"/>
            <a:ext cx="2714637" cy="686386"/>
            <a:chOff x="677960" y="1582647"/>
            <a:chExt cx="2714637" cy="686386"/>
          </a:xfrm>
        </p:grpSpPr>
        <p:sp>
          <p:nvSpPr>
            <p:cNvPr id="169" name="TextBox 168">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입찰참가신청서 작성</a:t>
              </a: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1" name="그룹 170"/>
            <p:cNvGrpSpPr/>
            <p:nvPr/>
          </p:nvGrpSpPr>
          <p:grpSpPr>
            <a:xfrm rot="5400000">
              <a:off x="852159" y="2062596"/>
              <a:ext cx="94010" cy="47005"/>
              <a:chOff x="6812560" y="3297172"/>
              <a:chExt cx="94010" cy="47005"/>
            </a:xfrm>
          </p:grpSpPr>
          <p:cxnSp>
            <p:nvCxnSpPr>
              <p:cNvPr id="178" name="직선 연결선 1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9" name="직선 연결선 1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2" name="그룹 171"/>
            <p:cNvGrpSpPr/>
            <p:nvPr/>
          </p:nvGrpSpPr>
          <p:grpSpPr>
            <a:xfrm>
              <a:off x="677960" y="1582647"/>
              <a:ext cx="2712027" cy="324286"/>
              <a:chOff x="677960" y="1582647"/>
              <a:chExt cx="2712027" cy="324286"/>
            </a:xfrm>
          </p:grpSpPr>
          <p:pic>
            <p:nvPicPr>
              <p:cNvPr id="173"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74" name="직선 연결선 173">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타원 174"/>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타원 175"/>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7" name="타원 176"/>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80" name="타원 179">
            <a:extLst>
              <a:ext uri="{FF2B5EF4-FFF2-40B4-BE49-F238E27FC236}">
                <a16:creationId xmlns:a16="http://schemas.microsoft.com/office/drawing/2014/main" id="{37A7FF4F-0EAA-1463-560A-D5EC24416103}"/>
              </a:ext>
            </a:extLst>
          </p:cNvPr>
          <p:cNvSpPr/>
          <p:nvPr/>
        </p:nvSpPr>
        <p:spPr>
          <a:xfrm>
            <a:off x="685740" y="53244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2-2</a:t>
            </a:r>
            <a:endParaRPr lang="ko-KR" altLang="en-US" sz="600" b="1" dirty="0"/>
          </a:p>
        </p:txBody>
      </p:sp>
      <p:sp>
        <p:nvSpPr>
          <p:cNvPr id="181" name="타원 180">
            <a:extLst>
              <a:ext uri="{FF2B5EF4-FFF2-40B4-BE49-F238E27FC236}">
                <a16:creationId xmlns:a16="http://schemas.microsoft.com/office/drawing/2014/main" id="{37A7FF4F-0EAA-1463-560A-D5EC24416103}"/>
              </a:ext>
            </a:extLst>
          </p:cNvPr>
          <p:cNvSpPr/>
          <p:nvPr/>
        </p:nvSpPr>
        <p:spPr>
          <a:xfrm>
            <a:off x="685740" y="59316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2-3</a:t>
            </a:r>
            <a:endParaRPr lang="ko-KR" altLang="en-US" sz="600" b="1" dirty="0"/>
          </a:p>
        </p:txBody>
      </p:sp>
      <p:sp>
        <p:nvSpPr>
          <p:cNvPr id="182" name="타원 181">
            <a:extLst>
              <a:ext uri="{FF2B5EF4-FFF2-40B4-BE49-F238E27FC236}">
                <a16:creationId xmlns:a16="http://schemas.microsoft.com/office/drawing/2014/main" id="{37A7FF4F-0EAA-1463-560A-D5EC24416103}"/>
              </a:ext>
            </a:extLst>
          </p:cNvPr>
          <p:cNvSpPr/>
          <p:nvPr/>
        </p:nvSpPr>
        <p:spPr>
          <a:xfrm>
            <a:off x="685740" y="61753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2-4</a:t>
            </a:r>
            <a:endParaRPr lang="ko-KR" altLang="en-US" sz="600" b="1" dirty="0"/>
          </a:p>
        </p:txBody>
      </p:sp>
      <p:sp>
        <p:nvSpPr>
          <p:cNvPr id="183" name="타원 182">
            <a:extLst>
              <a:ext uri="{FF2B5EF4-FFF2-40B4-BE49-F238E27FC236}">
                <a16:creationId xmlns:a16="http://schemas.microsoft.com/office/drawing/2014/main" id="{37A7FF4F-0EAA-1463-560A-D5EC24416103}"/>
              </a:ext>
            </a:extLst>
          </p:cNvPr>
          <p:cNvSpPr/>
          <p:nvPr/>
        </p:nvSpPr>
        <p:spPr>
          <a:xfrm>
            <a:off x="3695262" y="17207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2-5</a:t>
            </a:r>
            <a:endParaRPr lang="ko-KR" altLang="en-US" sz="600" b="1" dirty="0"/>
          </a:p>
        </p:txBody>
      </p:sp>
      <p:sp>
        <p:nvSpPr>
          <p:cNvPr id="184" name="타원 183">
            <a:extLst>
              <a:ext uri="{FF2B5EF4-FFF2-40B4-BE49-F238E27FC236}">
                <a16:creationId xmlns:a16="http://schemas.microsoft.com/office/drawing/2014/main" id="{37A7FF4F-0EAA-1463-560A-D5EC24416103}"/>
              </a:ext>
            </a:extLst>
          </p:cNvPr>
          <p:cNvSpPr/>
          <p:nvPr/>
        </p:nvSpPr>
        <p:spPr>
          <a:xfrm>
            <a:off x="3695262" y="20205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2-6</a:t>
            </a:r>
            <a:endParaRPr lang="ko-KR" altLang="en-US" sz="600" b="1" dirty="0"/>
          </a:p>
        </p:txBody>
      </p:sp>
      <p:sp>
        <p:nvSpPr>
          <p:cNvPr id="186" name="직사각형 185"/>
          <p:cNvSpPr/>
          <p:nvPr/>
        </p:nvSpPr>
        <p:spPr>
          <a:xfrm>
            <a:off x="8223250" y="214338"/>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특이사항수정</a:t>
            </a:r>
            <a:endParaRPr lang="ko-KR" altLang="en-US" dirty="0"/>
          </a:p>
        </p:txBody>
      </p:sp>
    </p:spTree>
    <p:extLst>
      <p:ext uri="{BB962C8B-B14F-4D97-AF65-F5344CB8AC3E}">
        <p14:creationId xmlns:p14="http://schemas.microsoft.com/office/powerpoint/2010/main" val="147956334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입찰공고에 첨부된 서류 항목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00" name="직사각형 299"/>
          <p:cNvSpPr/>
          <p:nvPr/>
        </p:nvSpPr>
        <p:spPr>
          <a:xfrm>
            <a:off x="728046" y="2457339"/>
            <a:ext cx="792000" cy="12859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725953" y="245733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815110" y="2457338"/>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1571958" y="245733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728046" y="26884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728046" y="29021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728046" y="31158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28046" y="33295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28046" y="35432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728046" y="37569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5" name="그룹 164"/>
          <p:cNvGrpSpPr/>
          <p:nvPr/>
        </p:nvGrpSpPr>
        <p:grpSpPr>
          <a:xfrm>
            <a:off x="675399" y="1578465"/>
            <a:ext cx="2712027" cy="508898"/>
            <a:chOff x="3795734" y="1602341"/>
            <a:chExt cx="2712027" cy="508898"/>
          </a:xfrm>
        </p:grpSpPr>
        <p:sp>
          <p:nvSpPr>
            <p:cNvPr id="16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67" name="모서리가 둥근 직사각형 166"/>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68" name="모서리가 둥근 직사각형 167"/>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6" name="TextBox 195">
            <a:extLst>
              <a:ext uri="{FF2B5EF4-FFF2-40B4-BE49-F238E27FC236}">
                <a16:creationId xmlns:a16="http://schemas.microsoft.com/office/drawing/2014/main" id="{FFC49AEA-2A8F-250C-A86A-A7751D9706C3}"/>
              </a:ext>
            </a:extLst>
          </p:cNvPr>
          <p:cNvSpPr txBox="1"/>
          <p:nvPr/>
        </p:nvSpPr>
        <p:spPr>
          <a:xfrm>
            <a:off x="764551" y="4096050"/>
            <a:ext cx="1298086" cy="215444"/>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입찰공고 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200" name="모서리가 둥근 직사각형 199"/>
          <p:cNvSpPr/>
          <p:nvPr/>
        </p:nvSpPr>
        <p:spPr>
          <a:xfrm>
            <a:off x="718021" y="449443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1218689" y="456895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제안요청서</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796217" y="462281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08" name="타원 207"/>
          <p:cNvSpPr/>
          <p:nvPr/>
        </p:nvSpPr>
        <p:spPr>
          <a:xfrm>
            <a:off x="3078140" y="460467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모서리가 둥근 직사각형 208"/>
          <p:cNvSpPr/>
          <p:nvPr/>
        </p:nvSpPr>
        <p:spPr>
          <a:xfrm>
            <a:off x="718021" y="49011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0" name="TextBox 209">
            <a:extLst>
              <a:ext uri="{FF2B5EF4-FFF2-40B4-BE49-F238E27FC236}">
                <a16:creationId xmlns:a16="http://schemas.microsoft.com/office/drawing/2014/main" id="{FFC49AEA-2A8F-250C-A86A-A7751D9706C3}"/>
              </a:ext>
            </a:extLst>
          </p:cNvPr>
          <p:cNvSpPr txBox="1"/>
          <p:nvPr/>
        </p:nvSpPr>
        <p:spPr>
          <a:xfrm>
            <a:off x="1218689" y="497564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공고문</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11" name="TextBox 210">
            <a:extLst>
              <a:ext uri="{FF2B5EF4-FFF2-40B4-BE49-F238E27FC236}">
                <a16:creationId xmlns:a16="http://schemas.microsoft.com/office/drawing/2014/main" id="{FFC49AEA-2A8F-250C-A86A-A7751D9706C3}"/>
              </a:ext>
            </a:extLst>
          </p:cNvPr>
          <p:cNvSpPr txBox="1"/>
          <p:nvPr/>
        </p:nvSpPr>
        <p:spPr>
          <a:xfrm>
            <a:off x="796217" y="502950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12" name="타원 211"/>
          <p:cNvSpPr/>
          <p:nvPr/>
        </p:nvSpPr>
        <p:spPr>
          <a:xfrm>
            <a:off x="3078140" y="50113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682206" y="405739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TextBox 215">
            <a:extLst>
              <a:ext uri="{FF2B5EF4-FFF2-40B4-BE49-F238E27FC236}">
                <a16:creationId xmlns:a16="http://schemas.microsoft.com/office/drawing/2014/main" id="{FFC49AEA-2A8F-250C-A86A-A7751D9706C3}"/>
              </a:ext>
            </a:extLst>
          </p:cNvPr>
          <p:cNvSpPr txBox="1"/>
          <p:nvPr/>
        </p:nvSpPr>
        <p:spPr>
          <a:xfrm>
            <a:off x="1218689" y="435931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2987656" y="435931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724785" y="435931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19" name="타원 218">
            <a:extLst>
              <a:ext uri="{FF2B5EF4-FFF2-40B4-BE49-F238E27FC236}">
                <a16:creationId xmlns:a16="http://schemas.microsoft.com/office/drawing/2014/main" id="{37A7FF4F-0EAA-1463-560A-D5EC24416103}"/>
              </a:ext>
            </a:extLst>
          </p:cNvPr>
          <p:cNvSpPr/>
          <p:nvPr/>
        </p:nvSpPr>
        <p:spPr>
          <a:xfrm>
            <a:off x="571127" y="413283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721348"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765026" y="2201247"/>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1319489" y="2201247"/>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1860996"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2562390"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cxnSp>
        <p:nvCxnSpPr>
          <p:cNvPr id="253" name="직선 연결선 252">
            <a:extLst>
              <a:ext uri="{FF2B5EF4-FFF2-40B4-BE49-F238E27FC236}">
                <a16:creationId xmlns:a16="http://schemas.microsoft.com/office/drawing/2014/main" id="{E9293055-D5CD-4B9E-7F64-64B2D2CA7A52}"/>
              </a:ext>
            </a:extLst>
          </p:cNvPr>
          <p:cNvCxnSpPr/>
          <p:nvPr/>
        </p:nvCxnSpPr>
        <p:spPr>
          <a:xfrm>
            <a:off x="721348"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0" name="그룹 289"/>
          <p:cNvGrpSpPr/>
          <p:nvPr/>
        </p:nvGrpSpPr>
        <p:grpSpPr>
          <a:xfrm>
            <a:off x="2924944" y="2163124"/>
            <a:ext cx="422853" cy="187961"/>
            <a:chOff x="3641308" y="2234886"/>
            <a:chExt cx="422853" cy="187961"/>
          </a:xfrm>
        </p:grpSpPr>
        <p:sp>
          <p:nvSpPr>
            <p:cNvPr id="291" name="타원 29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2" name="그룹 291"/>
            <p:cNvGrpSpPr/>
            <p:nvPr/>
          </p:nvGrpSpPr>
          <p:grpSpPr>
            <a:xfrm rot="5400000" flipH="1">
              <a:off x="3679895"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6" name="직선 연결선 31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3" name="타원 29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16200000">
              <a:off x="3931564" y="2305364"/>
              <a:ext cx="94010" cy="47005"/>
              <a:chOff x="6812560" y="3297172"/>
              <a:chExt cx="94010" cy="47005"/>
            </a:xfrm>
          </p:grpSpPr>
          <p:cxnSp>
            <p:nvCxnSpPr>
              <p:cNvPr id="312" name="직선 연결선 3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60" name="모서리가 둥근 직사각형 59"/>
          <p:cNvSpPr/>
          <p:nvPr/>
        </p:nvSpPr>
        <p:spPr>
          <a:xfrm rot="5400000">
            <a:off x="2662242" y="487708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59" name="그룹 58"/>
          <p:cNvGrpSpPr/>
          <p:nvPr/>
        </p:nvGrpSpPr>
        <p:grpSpPr>
          <a:xfrm>
            <a:off x="8223250" y="569392"/>
            <a:ext cx="3365500" cy="634511"/>
            <a:chOff x="8223250" y="569392"/>
            <a:chExt cx="3365500" cy="634511"/>
          </a:xfrm>
        </p:grpSpPr>
        <p:sp>
          <p:nvSpPr>
            <p:cNvPr id="61" name="직사각형 60"/>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62" name="직사각형 6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128028970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품목 내역 총 건수 표시</a:t>
            </a:r>
            <a:r>
              <a:rPr lang="en-US" altLang="ko-KR" dirty="0"/>
              <a:t/>
            </a:r>
            <a:br>
              <a:rPr lang="en-US" altLang="ko-KR" dirty="0"/>
            </a:br>
            <a:r>
              <a:rPr lang="en-US" altLang="ko-KR" dirty="0"/>
              <a:t>- </a:t>
            </a:r>
            <a:r>
              <a:rPr lang="ko-KR" altLang="en-US" dirty="0"/>
              <a:t>최초 </a:t>
            </a:r>
            <a:r>
              <a:rPr lang="en-US" altLang="ko-KR" dirty="0"/>
              <a:t>10</a:t>
            </a:r>
            <a:r>
              <a:rPr lang="ko-KR" altLang="en-US" dirty="0"/>
              <a:t>개 로드</a:t>
            </a:r>
            <a:endParaRPr lang="en-US" altLang="ko-KR" dirty="0"/>
          </a:p>
          <a:p>
            <a:pPr marL="228600" indent="-228600">
              <a:buFont typeface="+mj-lt"/>
              <a:buAutoNum type="arabicPeriod"/>
            </a:pPr>
            <a:r>
              <a:rPr lang="ko-KR" altLang="en-US" dirty="0" err="1"/>
              <a:t>더보기</a:t>
            </a:r>
            <a:r>
              <a:rPr lang="ko-KR" altLang="en-US" dirty="0"/>
              <a:t> 버튼 클릭을 통한 추가 항목 </a:t>
            </a:r>
            <a:r>
              <a:rPr lang="ko-KR" altLang="en-US" dirty="0" smtClean="0"/>
              <a:t>로드</a:t>
            </a:r>
            <a:r>
              <a:rPr lang="en-US" altLang="ko-KR" dirty="0"/>
              <a:t/>
            </a:r>
            <a:br>
              <a:rPr lang="en-US" altLang="ko-KR" dirty="0"/>
            </a:br>
            <a:r>
              <a:rPr lang="en-US" altLang="ko-KR" dirty="0"/>
              <a:t>- </a:t>
            </a:r>
            <a:r>
              <a:rPr lang="ko-KR" altLang="en-US" dirty="0" err="1"/>
              <a:t>더보기</a:t>
            </a:r>
            <a:r>
              <a:rPr lang="ko-KR" altLang="en-US" dirty="0"/>
              <a:t> 버튼이 추가 건수 </a:t>
            </a:r>
            <a:r>
              <a:rPr lang="ko-KR" altLang="en-US" dirty="0" smtClean="0"/>
              <a:t>표시</a:t>
            </a:r>
            <a:r>
              <a:rPr lang="en-US" altLang="ko-KR" dirty="0" smtClean="0"/>
              <a:t/>
            </a:r>
            <a:br>
              <a:rPr lang="en-US" altLang="ko-KR" dirty="0" smtClean="0"/>
            </a:br>
            <a:r>
              <a:rPr lang="en-US" altLang="ko-KR" dirty="0" smtClean="0"/>
              <a:t>- 10</a:t>
            </a:r>
            <a:r>
              <a:rPr lang="ko-KR" altLang="en-US" dirty="0" smtClean="0"/>
              <a:t>건씩 추가 로드</a:t>
            </a:r>
            <a:r>
              <a:rPr lang="en-US" altLang="ko-KR" dirty="0"/>
              <a:t/>
            </a:r>
            <a:br>
              <a:rPr lang="en-US" altLang="ko-KR" dirty="0"/>
            </a:br>
            <a:r>
              <a:rPr lang="en-US" altLang="ko-KR" dirty="0"/>
              <a:t>- </a:t>
            </a:r>
            <a:r>
              <a:rPr lang="ko-KR" altLang="en-US" dirty="0"/>
              <a:t>추가 항목이 없는 경우 </a:t>
            </a:r>
            <a:r>
              <a:rPr lang="ko-KR" altLang="en-US" dirty="0" err="1"/>
              <a:t>더보기</a:t>
            </a:r>
            <a:r>
              <a:rPr lang="ko-KR" altLang="en-US" dirty="0"/>
              <a:t> 버튼 숨김</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err="1">
                <a:latin typeface="+mn-ea"/>
              </a:rPr>
              <a:t>품목내역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err="1">
                <a:latin typeface="+mn-ea"/>
              </a:rPr>
              <a:t>품목내역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27" name="타원 326">
            <a:extLst>
              <a:ext uri="{FF2B5EF4-FFF2-40B4-BE49-F238E27FC236}">
                <a16:creationId xmlns:a16="http://schemas.microsoft.com/office/drawing/2014/main" id="{37A7FF4F-0EAA-1463-560A-D5EC24416103}"/>
              </a:ext>
            </a:extLst>
          </p:cNvPr>
          <p:cNvSpPr/>
          <p:nvPr/>
        </p:nvSpPr>
        <p:spPr>
          <a:xfrm>
            <a:off x="589334" y="19593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685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519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16519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16519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16519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01324" y="18685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6138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19188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2226374"/>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226374"/>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22637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2226374"/>
            <a:ext cx="2630093" cy="1723549"/>
            <a:chOff x="701175" y="1835481"/>
            <a:chExt cx="2630093" cy="1723549"/>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8" name="직사각형 207"/>
          <p:cNvSpPr/>
          <p:nvPr/>
        </p:nvSpPr>
        <p:spPr>
          <a:xfrm>
            <a:off x="722232" y="404128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TextBox 208">
            <a:extLst>
              <a:ext uri="{FF2B5EF4-FFF2-40B4-BE49-F238E27FC236}">
                <a16:creationId xmlns:a16="http://schemas.microsoft.com/office/drawing/2014/main" id="{FFC49AEA-2A8F-250C-A86A-A7751D9706C3}"/>
              </a:ext>
            </a:extLst>
          </p:cNvPr>
          <p:cNvSpPr txBox="1"/>
          <p:nvPr/>
        </p:nvSpPr>
        <p:spPr>
          <a:xfrm>
            <a:off x="809295" y="404128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1566144" y="404128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11" name="그룹 210"/>
          <p:cNvGrpSpPr/>
          <p:nvPr/>
        </p:nvGrpSpPr>
        <p:grpSpPr>
          <a:xfrm>
            <a:off x="720139" y="4041282"/>
            <a:ext cx="2630093" cy="1723549"/>
            <a:chOff x="701175" y="1835481"/>
            <a:chExt cx="2630093" cy="1723549"/>
          </a:xfrm>
        </p:grpSpPr>
        <p:cxnSp>
          <p:nvCxnSpPr>
            <p:cNvPr id="212" name="직선 연결선 2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3" name="직선 연결선 2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4" name="직선 연결선 2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7" name="직선 연결선 216">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30062" y="4602730"/>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278" name="직선 연결선 277">
            <a:extLst>
              <a:ext uri="{FF2B5EF4-FFF2-40B4-BE49-F238E27FC236}">
                <a16:creationId xmlns:a16="http://schemas.microsoft.com/office/drawing/2014/main" id="{E9293055-D5CD-4B9E-7F64-64B2D2CA7A52}"/>
              </a:ext>
            </a:extLst>
          </p:cNvPr>
          <p:cNvCxnSpPr/>
          <p:nvPr/>
        </p:nvCxnSpPr>
        <p:spPr>
          <a:xfrm>
            <a:off x="3840474" y="18685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3884152" y="16519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4438615" y="16519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281" name="TextBox 280">
            <a:extLst>
              <a:ext uri="{FF2B5EF4-FFF2-40B4-BE49-F238E27FC236}">
                <a16:creationId xmlns:a16="http://schemas.microsoft.com/office/drawing/2014/main" id="{FFC49AEA-2A8F-250C-A86A-A7751D9706C3}"/>
              </a:ext>
            </a:extLst>
          </p:cNvPr>
          <p:cNvSpPr txBox="1"/>
          <p:nvPr/>
        </p:nvSpPr>
        <p:spPr>
          <a:xfrm>
            <a:off x="4980122" y="16519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90" name="TextBox 289">
            <a:extLst>
              <a:ext uri="{FF2B5EF4-FFF2-40B4-BE49-F238E27FC236}">
                <a16:creationId xmlns:a16="http://schemas.microsoft.com/office/drawing/2014/main" id="{FFC49AEA-2A8F-250C-A86A-A7751D9706C3}"/>
              </a:ext>
            </a:extLst>
          </p:cNvPr>
          <p:cNvSpPr txBox="1"/>
          <p:nvPr/>
        </p:nvSpPr>
        <p:spPr>
          <a:xfrm>
            <a:off x="5681516" y="16519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4421659" y="18685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2" name="그룹 291"/>
          <p:cNvGrpSpPr/>
          <p:nvPr/>
        </p:nvGrpSpPr>
        <p:grpSpPr>
          <a:xfrm>
            <a:off x="6044070" y="1613824"/>
            <a:ext cx="422853" cy="187961"/>
            <a:chOff x="3641308" y="2234886"/>
            <a:chExt cx="422853" cy="187961"/>
          </a:xfrm>
        </p:grpSpPr>
        <p:sp>
          <p:nvSpPr>
            <p:cNvPr id="293" name="타원 29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5400000" flipH="1">
              <a:off x="3679895" y="2305364"/>
              <a:ext cx="94010" cy="47005"/>
              <a:chOff x="6812560" y="3297172"/>
              <a:chExt cx="94010" cy="47005"/>
            </a:xfrm>
          </p:grpSpPr>
          <p:cxnSp>
            <p:nvCxnSpPr>
              <p:cNvPr id="344" name="직선 연결선 3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5" name="직선 연결선 3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12" name="타원 3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3" name="그룹 312"/>
            <p:cNvGrpSpPr/>
            <p:nvPr/>
          </p:nvGrpSpPr>
          <p:grpSpPr>
            <a:xfrm rot="16200000">
              <a:off x="3931564"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3" name="직선 연결선 3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46" name="직사각형 345"/>
          <p:cNvSpPr/>
          <p:nvPr/>
        </p:nvSpPr>
        <p:spPr>
          <a:xfrm>
            <a:off x="3834318" y="2419370"/>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7" name="TextBox 346">
            <a:extLst>
              <a:ext uri="{FF2B5EF4-FFF2-40B4-BE49-F238E27FC236}">
                <a16:creationId xmlns:a16="http://schemas.microsoft.com/office/drawing/2014/main" id="{FFC49AEA-2A8F-250C-A86A-A7751D9706C3}"/>
              </a:ext>
            </a:extLst>
          </p:cNvPr>
          <p:cNvSpPr txBox="1"/>
          <p:nvPr/>
        </p:nvSpPr>
        <p:spPr>
          <a:xfrm>
            <a:off x="3921381" y="2419370"/>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348" name="TextBox 347">
            <a:extLst>
              <a:ext uri="{FF2B5EF4-FFF2-40B4-BE49-F238E27FC236}">
                <a16:creationId xmlns:a16="http://schemas.microsoft.com/office/drawing/2014/main" id="{FFC49AEA-2A8F-250C-A86A-A7751D9706C3}"/>
              </a:ext>
            </a:extLst>
          </p:cNvPr>
          <p:cNvSpPr txBox="1"/>
          <p:nvPr/>
        </p:nvSpPr>
        <p:spPr>
          <a:xfrm>
            <a:off x="4678230" y="2419370"/>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349" name="그룹 348"/>
          <p:cNvGrpSpPr/>
          <p:nvPr/>
        </p:nvGrpSpPr>
        <p:grpSpPr>
          <a:xfrm>
            <a:off x="3832225" y="2419370"/>
            <a:ext cx="2630093" cy="1723549"/>
            <a:chOff x="701175" y="1835481"/>
            <a:chExt cx="2630093" cy="1723549"/>
          </a:xfrm>
        </p:grpSpPr>
        <p:cxnSp>
          <p:nvCxnSpPr>
            <p:cNvPr id="350" name="직선 연결선 3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1" name="직선 연결선 3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2" name="직선 연결선 3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3" name="직선 연결선 35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4" name="직선 연결선 35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5" name="직선 연결선 35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6" name="직선 연결선 35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7" name="직선 연결선 35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8" name="직선 연결선 357">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024" y="5077339"/>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360" name="타원 359">
            <a:extLst>
              <a:ext uri="{FF2B5EF4-FFF2-40B4-BE49-F238E27FC236}">
                <a16:creationId xmlns:a16="http://schemas.microsoft.com/office/drawing/2014/main" id="{37A7FF4F-0EAA-1463-560A-D5EC24416103}"/>
              </a:ext>
            </a:extLst>
          </p:cNvPr>
          <p:cNvSpPr/>
          <p:nvPr/>
        </p:nvSpPr>
        <p:spPr>
          <a:xfrm>
            <a:off x="3712022" y="505836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1994212"/>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rot="5400000">
            <a:off x="2662242" y="25857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모서리가 둥근 직사각형 109"/>
          <p:cNvSpPr/>
          <p:nvPr/>
        </p:nvSpPr>
        <p:spPr>
          <a:xfrm rot="5400000">
            <a:off x="5780626" y="41796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31741002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공종및</a:t>
            </a:r>
            <a:r>
              <a:rPr lang="ko-KR" altLang="en-US" dirty="0"/>
              <a:t> </a:t>
            </a:r>
            <a:r>
              <a:rPr lang="ko-KR" altLang="en-US" dirty="0" err="1"/>
              <a:t>면허정보</a:t>
            </a:r>
            <a:r>
              <a:rPr lang="ko-KR" altLang="en-US" dirty="0"/>
              <a:t> 표시</a:t>
            </a:r>
            <a:r>
              <a:rPr lang="en-US" altLang="ko-KR" dirty="0"/>
              <a:t/>
            </a:r>
            <a:br>
              <a:rPr lang="en-US" altLang="ko-KR" dirty="0"/>
            </a:br>
            <a:r>
              <a:rPr lang="en-US" altLang="ko-KR" dirty="0"/>
              <a:t>- </a:t>
            </a:r>
            <a:r>
              <a:rPr lang="ko-KR" altLang="en-US" dirty="0" err="1"/>
              <a:t>업무구분이</a:t>
            </a:r>
            <a:r>
              <a:rPr lang="ko-KR" altLang="en-US" dirty="0"/>
              <a:t> 공사이고</a:t>
            </a:r>
            <a:r>
              <a:rPr lang="en-US" altLang="ko-KR" dirty="0"/>
              <a:t>, </a:t>
            </a:r>
            <a:r>
              <a:rPr lang="ko-KR" altLang="en-US" dirty="0" err="1"/>
              <a:t>공종정보가</a:t>
            </a:r>
            <a:r>
              <a:rPr lang="ko-KR" altLang="en-US" dirty="0"/>
              <a:t> 있는 경우 </a:t>
            </a:r>
            <a:r>
              <a:rPr lang="ko-KR" altLang="en-US" dirty="0" err="1"/>
              <a:t>공종</a:t>
            </a:r>
            <a:r>
              <a:rPr lang="ko-KR" altLang="en-US" dirty="0"/>
              <a:t> 및 </a:t>
            </a:r>
            <a:r>
              <a:rPr lang="ko-KR" altLang="en-US" dirty="0" err="1"/>
              <a:t>면허정보</a:t>
            </a:r>
            <a:r>
              <a:rPr lang="ko-KR" altLang="en-US" dirty="0"/>
              <a:t> 목록 보이기</a:t>
            </a:r>
            <a:r>
              <a:rPr lang="en-US" altLang="ko-KR" dirty="0"/>
              <a:t/>
            </a:r>
            <a:br>
              <a:rPr lang="en-US" altLang="ko-KR" dirty="0"/>
            </a:br>
            <a:r>
              <a:rPr lang="en-US" altLang="ko-KR" dirty="0"/>
              <a:t>- </a:t>
            </a:r>
            <a:r>
              <a:rPr lang="ko-KR" altLang="en-US" dirty="0" err="1"/>
              <a:t>나라장터바로가기는</a:t>
            </a:r>
            <a:r>
              <a:rPr lang="ko-KR" altLang="en-US" dirty="0"/>
              <a:t> </a:t>
            </a:r>
            <a:r>
              <a:rPr lang="en-US" altLang="ko-KR" dirty="0">
                <a:hlinkClick r:id="rId2"/>
              </a:rPr>
              <a:t>http://www.g2b.go.kr</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err="1" smtClean="0">
                <a:latin typeface="+mn-ea"/>
              </a:rPr>
              <a:t>공종및면허</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latin typeface="+mn-ea"/>
              </a:rPr>
              <a:t>공종</a:t>
            </a:r>
            <a:r>
              <a:rPr lang="ko-KR" altLang="en-US" dirty="0">
                <a:latin typeface="+mn-ea"/>
              </a:rPr>
              <a:t> 및 면허</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err="1">
                <a:latin typeface="+mn-ea"/>
              </a:rPr>
              <a:t>공종</a:t>
            </a:r>
            <a:r>
              <a:rPr lang="ko-KR" altLang="en-US" dirty="0">
                <a:latin typeface="+mn-ea"/>
              </a:rPr>
              <a:t> 및 면허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27" name="타원 326">
            <a:extLst>
              <a:ext uri="{FF2B5EF4-FFF2-40B4-BE49-F238E27FC236}">
                <a16:creationId xmlns:a16="http://schemas.microsoft.com/office/drawing/2014/main" id="{37A7FF4F-0EAA-1463-560A-D5EC24416103}"/>
              </a:ext>
            </a:extLst>
          </p:cNvPr>
          <p:cNvSpPr/>
          <p:nvPr/>
        </p:nvSpPr>
        <p:spPr>
          <a:xfrm>
            <a:off x="589334" y="313434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369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20371"/>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1620371"/>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1620371"/>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공종</a:t>
            </a:r>
            <a:r>
              <a:rPr lang="ko-KR" altLang="en-US" sz="700" b="1"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1620371"/>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1836978"/>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82248"/>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3093860"/>
            <a:ext cx="1757861" cy="215444"/>
          </a:xfrm>
          <a:prstGeom prst="rect">
            <a:avLst/>
          </a:prstGeom>
          <a:noFill/>
        </p:spPr>
        <p:txBody>
          <a:bodyPr wrap="square" lIns="0" tIns="0" rIns="0" bIns="0" rtlCol="0">
            <a:spAutoFit/>
          </a:bodyPr>
          <a:lstStyle/>
          <a:p>
            <a:pPr>
              <a:lnSpc>
                <a:spcPct val="200000"/>
              </a:lnSpc>
            </a:pPr>
            <a:r>
              <a:rPr lang="ko-KR" altLang="en-US" sz="700" dirty="0" err="1">
                <a:latin typeface="+mn-ea"/>
              </a:rPr>
              <a:t>공종</a:t>
            </a:r>
            <a:r>
              <a:rPr lang="ko-KR" altLang="en-US" sz="700" dirty="0">
                <a:latin typeface="+mn-ea"/>
              </a:rPr>
              <a:t> 및 </a:t>
            </a:r>
            <a:r>
              <a:rPr lang="ko-KR" altLang="en-US" sz="700" dirty="0" err="1">
                <a:latin typeface="+mn-ea"/>
              </a:rPr>
              <a:t>면허정보</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3401346"/>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01345"/>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공종명</a:t>
            </a:r>
            <a:r>
              <a:rPr lang="en-US" altLang="ko-KR" sz="700" dirty="0">
                <a:latin typeface="+mn-ea"/>
              </a:rPr>
              <a:t>/</a:t>
            </a:r>
            <a:r>
              <a:rPr lang="ko-KR" altLang="en-US" sz="700" dirty="0" err="1">
                <a:latin typeface="+mn-ea"/>
              </a:rPr>
              <a:t>업종코드</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행정처분기관구분</a:t>
            </a:r>
            <a:endParaRPr lang="en-US" altLang="ko-KR" sz="700" dirty="0">
              <a:latin typeface="+mn-ea"/>
            </a:endParaRPr>
          </a:p>
          <a:p>
            <a:pPr>
              <a:lnSpc>
                <a:spcPct val="200000"/>
              </a:lnSpc>
            </a:pPr>
            <a:r>
              <a:rPr lang="ko-KR" altLang="en-US" sz="700" dirty="0">
                <a:latin typeface="+mn-ea"/>
              </a:rPr>
              <a:t>등록일자</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기준년도</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01345"/>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a:t>
            </a:r>
          </a:p>
          <a:p>
            <a:pPr>
              <a:lnSpc>
                <a:spcPct val="200000"/>
              </a:lnSpc>
            </a:pPr>
            <a:r>
              <a:rPr lang="ko-KR" altLang="en-US" sz="700" dirty="0" err="1">
                <a:latin typeface="+mn-ea"/>
              </a:rPr>
              <a:t>면허명</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a:p>
            <a:pPr>
              <a:lnSpc>
                <a:spcPct val="200000"/>
              </a:lnSpc>
            </a:pPr>
            <a:r>
              <a:rPr lang="en-US" altLang="ko-KR" sz="700" dirty="0">
                <a:latin typeface="+mn-ea"/>
              </a:rPr>
              <a:t>2025-11-25</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2025</a:t>
            </a:r>
          </a:p>
        </p:txBody>
      </p:sp>
      <p:grpSp>
        <p:nvGrpSpPr>
          <p:cNvPr id="172" name="그룹 171"/>
          <p:cNvGrpSpPr/>
          <p:nvPr/>
        </p:nvGrpSpPr>
        <p:grpSpPr>
          <a:xfrm>
            <a:off x="720139" y="3401345"/>
            <a:ext cx="2630093" cy="1503180"/>
            <a:chOff x="701175" y="1835481"/>
            <a:chExt cx="2630093" cy="150318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4220681"/>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1962636"/>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a:off x="705041" y="1953534"/>
            <a:ext cx="2652743" cy="1076517"/>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51818"/>
            <a:ext cx="2475203" cy="969496"/>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latin typeface="맑은 고딕" panose="020B0503020000020004" pitchFamily="50" charset="-127"/>
              </a:rPr>
              <a:t>상기 시공능력 </a:t>
            </a:r>
            <a:r>
              <a:rPr lang="ko-KR" altLang="en-US" sz="700" dirty="0" err="1">
                <a:latin typeface="맑은 고딕" panose="020B0503020000020004" pitchFamily="50" charset="-127"/>
              </a:rPr>
              <a:t>평가액은</a:t>
            </a:r>
            <a:r>
              <a:rPr lang="ko-KR" altLang="en-US" sz="700" dirty="0">
                <a:latin typeface="맑은 고딕" panose="020B0503020000020004" pitchFamily="50" charset="-127"/>
              </a:rPr>
              <a:t> </a:t>
            </a:r>
            <a:r>
              <a:rPr lang="en-US" altLang="ko-KR" sz="700" dirty="0">
                <a:latin typeface="맑은 고딕" panose="020B0503020000020004" pitchFamily="50" charset="-127"/>
              </a:rPr>
              <a:t>G2B(</a:t>
            </a:r>
            <a:r>
              <a:rPr lang="ko-KR" altLang="en-US" sz="700" dirty="0">
                <a:latin typeface="맑은 고딕" panose="020B0503020000020004" pitchFamily="50" charset="-127"/>
              </a:rPr>
              <a:t>나라장터</a:t>
            </a:r>
            <a:r>
              <a:rPr lang="en-US" altLang="ko-KR" sz="700" dirty="0">
                <a:latin typeface="맑은 고딕" panose="020B0503020000020004" pitchFamily="50" charset="-127"/>
              </a:rPr>
              <a:t>)</a:t>
            </a:r>
            <a:r>
              <a:rPr lang="ko-KR" altLang="en-US" sz="700" dirty="0">
                <a:latin typeface="맑은 고딕" panose="020B0503020000020004" pitchFamily="50" charset="-127"/>
              </a:rPr>
              <a:t>에서 제공하는 자료입니다</a:t>
            </a:r>
            <a:r>
              <a:rPr lang="en-US" altLang="ko-KR" sz="700" dirty="0">
                <a:latin typeface="맑은 고딕" panose="020B0503020000020004" pitchFamily="50" charset="-127"/>
              </a:rPr>
              <a:t>.</a:t>
            </a:r>
          </a:p>
          <a:p>
            <a:pPr marL="92075" indent="-92075">
              <a:buFont typeface="Arial" panose="020B0604020202020204" pitchFamily="34" charset="0"/>
              <a:buChar char="•"/>
            </a:pPr>
            <a:r>
              <a:rPr lang="ko-KR" altLang="en-US" sz="700" dirty="0">
                <a:latin typeface="맑은 고딕" panose="020B0503020000020004" pitchFamily="50" charset="-127"/>
              </a:rPr>
              <a:t>시공능력평가액이 틀릴 경우 먼저 </a:t>
            </a:r>
            <a:r>
              <a:rPr lang="en-US" altLang="ko-KR" sz="700" dirty="0">
                <a:latin typeface="맑은 고딕" panose="020B0503020000020004" pitchFamily="50" charset="-127"/>
              </a:rPr>
              <a:t>G2B(</a:t>
            </a:r>
            <a:r>
              <a:rPr lang="en-US" altLang="ko-KR" sz="700" dirty="0">
                <a:latin typeface="맑은 고딕" panose="020B0503020000020004" pitchFamily="50" charset="-127"/>
                <a:hlinkClick r:id="rId2"/>
              </a:rPr>
              <a:t>www.g2b.go.kr</a:t>
            </a:r>
            <a:r>
              <a:rPr lang="en-US" altLang="ko-KR" sz="700" dirty="0">
                <a:latin typeface="맑은 고딕" panose="020B0503020000020004" pitchFamily="50" charset="-127"/>
              </a:rPr>
              <a:t>)</a:t>
            </a:r>
            <a:r>
              <a:rPr lang="ko-KR" altLang="en-US" sz="700" dirty="0">
                <a:latin typeface="맑은 고딕" panose="020B0503020000020004" pitchFamily="50" charset="-127"/>
              </a:rPr>
              <a:t>에서 확인 후 수정 </a:t>
            </a:r>
            <a:r>
              <a:rPr lang="ko-KR" altLang="en-US" sz="700" dirty="0">
                <a:solidFill>
                  <a:srgbClr val="000000"/>
                </a:solidFill>
                <a:latin typeface="Consolas" panose="020B0609020204030204" pitchFamily="49" charset="0"/>
              </a:rPr>
              <a:t>☞</a:t>
            </a:r>
            <a:r>
              <a:rPr lang="ko-KR" altLang="en-US" sz="700" dirty="0">
                <a:latin typeface="맑은 고딕" panose="020B0503020000020004" pitchFamily="50" charset="-127"/>
              </a:rPr>
              <a:t> 방위사업청은 익일 반영 </a:t>
            </a:r>
            <a:r>
              <a:rPr lang="ko-KR" altLang="en-US" sz="700" dirty="0" err="1">
                <a:solidFill>
                  <a:schemeClr val="accent5">
                    <a:lumMod val="75000"/>
                  </a:schemeClr>
                </a:solidFill>
                <a:latin typeface="맑은 고딕" panose="020B0503020000020004" pitchFamily="50" charset="-127"/>
              </a:rPr>
              <a:t>나라장터바로가기</a:t>
            </a:r>
            <a:endParaRPr lang="en-US" altLang="ko-KR" sz="700" dirty="0">
              <a:solidFill>
                <a:schemeClr val="accent5">
                  <a:lumMod val="75000"/>
                </a:schemeClr>
              </a:solidFill>
              <a:latin typeface="맑은 고딕" panose="020B0503020000020004" pitchFamily="50" charset="-127"/>
            </a:endParaRPr>
          </a:p>
          <a:p>
            <a:pPr marL="92075" indent="-92075">
              <a:buFont typeface="Arial" panose="020B0604020202020204" pitchFamily="34" charset="0"/>
              <a:buChar char="•"/>
            </a:pPr>
            <a:r>
              <a:rPr lang="en-US" altLang="ko-KR" sz="700" dirty="0">
                <a:solidFill>
                  <a:srgbClr val="000000"/>
                </a:solidFill>
                <a:latin typeface="+mn-ea"/>
              </a:rPr>
              <a:t>G2B(</a:t>
            </a:r>
            <a:r>
              <a:rPr lang="ko-KR" altLang="en-US" sz="700" dirty="0">
                <a:solidFill>
                  <a:srgbClr val="000000"/>
                </a:solidFill>
                <a:latin typeface="+mn-ea"/>
              </a:rPr>
              <a:t>나라장터</a:t>
            </a:r>
            <a:r>
              <a:rPr lang="en-US" altLang="ko-KR" sz="700" dirty="0">
                <a:solidFill>
                  <a:srgbClr val="000000"/>
                </a:solidFill>
                <a:latin typeface="+mn-ea"/>
              </a:rPr>
              <a:t>)</a:t>
            </a:r>
            <a:r>
              <a:rPr lang="ko-KR" altLang="en-US" sz="700" dirty="0">
                <a:solidFill>
                  <a:srgbClr val="000000"/>
                </a:solidFill>
                <a:latin typeface="+mn-ea"/>
              </a:rPr>
              <a:t>와 방위사업청이 틀릴 경우 </a:t>
            </a:r>
            <a:r>
              <a:rPr lang="ko-KR" altLang="en-US" sz="700" dirty="0" err="1">
                <a:solidFill>
                  <a:srgbClr val="000000"/>
                </a:solidFill>
                <a:latin typeface="+mn-ea"/>
              </a:rPr>
              <a:t>방위사업청</a:t>
            </a:r>
            <a:r>
              <a:rPr lang="en-US" altLang="ko-KR" sz="700" dirty="0">
                <a:solidFill>
                  <a:srgbClr val="000000"/>
                </a:solidFill>
                <a:latin typeface="+mn-ea"/>
              </a:rPr>
              <a:t>(1577-1118(①))</a:t>
            </a:r>
            <a:r>
              <a:rPr lang="ko-KR" altLang="en-US" sz="700" dirty="0">
                <a:solidFill>
                  <a:srgbClr val="000000"/>
                </a:solidFill>
                <a:latin typeface="+mn-ea"/>
              </a:rPr>
              <a:t>으로 연락 해 주시기 바랍니다</a:t>
            </a:r>
            <a:r>
              <a:rPr lang="en-US" altLang="ko-KR" sz="700" dirty="0">
                <a:solidFill>
                  <a:srgbClr val="000000"/>
                </a:solidFill>
                <a:latin typeface="+mn-ea"/>
              </a:rPr>
              <a:t>.</a:t>
            </a:r>
            <a:endParaRPr lang="en-US" altLang="ko-KR" sz="700" dirty="0">
              <a:latin typeface="+mn-ea"/>
            </a:endParaRPr>
          </a:p>
          <a:p>
            <a:pPr marL="92075" indent="-92075">
              <a:buFont typeface="Arial" panose="020B0604020202020204" pitchFamily="34" charset="0"/>
              <a:buChar char="•"/>
            </a:pPr>
            <a:endParaRPr lang="en-US" altLang="ko-KR" sz="700" dirty="0">
              <a:latin typeface="+mn-ea"/>
            </a:endParaRPr>
          </a:p>
        </p:txBody>
      </p:sp>
      <p:sp>
        <p:nvSpPr>
          <p:cNvPr id="111" name="타원 110"/>
          <p:cNvSpPr/>
          <p:nvPr/>
        </p:nvSpPr>
        <p:spPr>
          <a:xfrm>
            <a:off x="789853" y="2042167"/>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90665"/>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5" name="직사각형 114"/>
          <p:cNvSpPr/>
          <p:nvPr/>
        </p:nvSpPr>
        <p:spPr>
          <a:xfrm>
            <a:off x="3835468" y="2382591"/>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22531" y="2382590"/>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공종명</a:t>
            </a:r>
            <a:r>
              <a:rPr lang="en-US" altLang="ko-KR" sz="700" dirty="0">
                <a:latin typeface="+mn-ea"/>
              </a:rPr>
              <a:t>/</a:t>
            </a:r>
            <a:r>
              <a:rPr lang="ko-KR" altLang="en-US" sz="700" dirty="0" err="1">
                <a:latin typeface="+mn-ea"/>
              </a:rPr>
              <a:t>업종코드</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행정처분기관구분</a:t>
            </a:r>
            <a:endParaRPr lang="en-US" altLang="ko-KR" sz="700" dirty="0">
              <a:latin typeface="+mn-ea"/>
            </a:endParaRPr>
          </a:p>
          <a:p>
            <a:pPr>
              <a:lnSpc>
                <a:spcPct val="200000"/>
              </a:lnSpc>
            </a:pPr>
            <a:r>
              <a:rPr lang="ko-KR" altLang="en-US" sz="700" dirty="0">
                <a:latin typeface="+mn-ea"/>
              </a:rPr>
              <a:t>등록일자</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기준년도</a:t>
            </a:r>
            <a:endParaRPr lang="en-US" altLang="ko-KR"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4679380" y="2382590"/>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0000</a:t>
            </a:r>
          </a:p>
          <a:p>
            <a:pPr>
              <a:lnSpc>
                <a:spcPct val="200000"/>
              </a:lnSpc>
            </a:pPr>
            <a:r>
              <a:rPr lang="ko-KR" altLang="en-US" sz="700" dirty="0" err="1">
                <a:latin typeface="+mn-ea"/>
              </a:rPr>
              <a:t>면허명</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a:p>
            <a:pPr>
              <a:lnSpc>
                <a:spcPct val="200000"/>
              </a:lnSpc>
            </a:pPr>
            <a:r>
              <a:rPr lang="en-US" altLang="ko-KR" sz="700" dirty="0">
                <a:latin typeface="+mn-ea"/>
              </a:rPr>
              <a:t>2025-11-25</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2025</a:t>
            </a:r>
          </a:p>
        </p:txBody>
      </p:sp>
      <p:grpSp>
        <p:nvGrpSpPr>
          <p:cNvPr id="118" name="그룹 117"/>
          <p:cNvGrpSpPr/>
          <p:nvPr/>
        </p:nvGrpSpPr>
        <p:grpSpPr>
          <a:xfrm>
            <a:off x="3833375" y="2382590"/>
            <a:ext cx="2630093" cy="1503180"/>
            <a:chOff x="701175" y="1835481"/>
            <a:chExt cx="2630093" cy="1503180"/>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모서리가 둥근 직사각형 127"/>
          <p:cNvSpPr/>
          <p:nvPr/>
        </p:nvSpPr>
        <p:spPr>
          <a:xfrm rot="5400000">
            <a:off x="2662242" y="25541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14807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18369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1620371"/>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1620371"/>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1620371"/>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공종</a:t>
            </a:r>
            <a:r>
              <a:rPr lang="ko-KR" altLang="en-US" sz="700" b="1" dirty="0">
                <a:latin typeface="+mn-ea"/>
              </a:rPr>
              <a:t> 및 면허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1620371"/>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1836978"/>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1582248"/>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423444615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a:ln>
            <a:solidFill>
              <a:srgbClr val="FF0000"/>
            </a:solidFill>
          </a:ln>
        </p:spPr>
        <p:txBody>
          <a:bodyPr/>
          <a:lstStyle/>
          <a:p>
            <a:pPr marL="228600" indent="-228600">
              <a:buFont typeface="+mj-lt"/>
              <a:buAutoNum type="arabicPeriod"/>
            </a:pPr>
            <a:r>
              <a:rPr lang="ko-KR" altLang="en-US" dirty="0" smtClean="0"/>
              <a:t>보증금납부방법 선택</a:t>
            </a:r>
            <a:r>
              <a:rPr lang="en-US" altLang="ko-KR" dirty="0"/>
              <a:t/>
            </a:r>
            <a:br>
              <a:rPr lang="en-US" altLang="ko-KR" dirty="0"/>
            </a:br>
            <a:r>
              <a:rPr lang="en-US" altLang="ko-KR" dirty="0" smtClean="0"/>
              <a:t>[1-1]</a:t>
            </a:r>
            <a:r>
              <a:rPr lang="ko-KR" altLang="en-US" dirty="0" smtClean="0"/>
              <a:t>보증금납부방법을 </a:t>
            </a:r>
            <a:r>
              <a:rPr lang="en-US" altLang="ko-KR" dirty="0"/>
              <a:t>‘</a:t>
            </a:r>
            <a:r>
              <a:rPr lang="ko-KR" altLang="en-US" dirty="0" err="1"/>
              <a:t>보증금면제</a:t>
            </a:r>
            <a:r>
              <a:rPr lang="en-US" altLang="ko-KR" dirty="0"/>
              <a:t>’</a:t>
            </a:r>
            <a:r>
              <a:rPr lang="ko-KR" altLang="en-US" dirty="0"/>
              <a:t>로 선택할 경우 보증금면제사유가 활성화되고 선택 </a:t>
            </a:r>
            <a:r>
              <a:rPr lang="ko-KR" altLang="en-US" dirty="0" smtClean="0"/>
              <a:t>가능</a:t>
            </a:r>
            <a:r>
              <a:rPr lang="en-US" altLang="ko-KR" dirty="0" smtClean="0"/>
              <a:t/>
            </a:r>
            <a:br>
              <a:rPr lang="en-US" altLang="ko-KR" dirty="0" smtClean="0"/>
            </a:br>
            <a:r>
              <a:rPr lang="en-US" altLang="ko-KR" dirty="0" smtClean="0"/>
              <a:t>[1-2]</a:t>
            </a:r>
            <a:r>
              <a:rPr lang="en-US" altLang="ko-KR" dirty="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면제여부상세 </a:t>
            </a:r>
            <a:r>
              <a:rPr lang="en-US" altLang="ko-KR" dirty="0" smtClean="0">
                <a:solidFill>
                  <a:srgbClr val="000000"/>
                </a:solidFill>
                <a:latin typeface="맑은 고딕" panose="020B0503020000020004" pitchFamily="50" charset="-127"/>
              </a:rPr>
              <a:t>MUI-BD-04-P09</a:t>
            </a:r>
            <a:endParaRPr lang="en-US" altLang="ko-KR" dirty="0" smtClean="0"/>
          </a:p>
          <a:p>
            <a:pPr marL="228600" indent="-228600">
              <a:buFont typeface="+mj-lt"/>
              <a:buAutoNum type="arabicPeriod"/>
            </a:pPr>
            <a:r>
              <a:rPr lang="ko-KR" altLang="en-US" dirty="0"/>
              <a:t>조회된 </a:t>
            </a:r>
            <a:r>
              <a:rPr lang="ko-KR" altLang="en-US" dirty="0" err="1"/>
              <a:t>증권번호가</a:t>
            </a:r>
            <a:r>
              <a:rPr lang="ko-KR" altLang="en-US" dirty="0"/>
              <a:t> </a:t>
            </a:r>
            <a:r>
              <a:rPr lang="en-US" altLang="ko-KR" dirty="0"/>
              <a:t>1</a:t>
            </a:r>
            <a:r>
              <a:rPr lang="ko-KR" altLang="en-US" dirty="0"/>
              <a:t>개인 </a:t>
            </a:r>
            <a:r>
              <a:rPr lang="ko-KR" altLang="en-US" dirty="0" smtClean="0"/>
              <a:t>경우 </a:t>
            </a:r>
            <a:r>
              <a:rPr lang="ko-KR" altLang="en-US" dirty="0" err="1" smtClean="0"/>
              <a:t>증권번호</a:t>
            </a:r>
            <a:r>
              <a:rPr lang="ko-KR" altLang="en-US" dirty="0" smtClean="0"/>
              <a:t> </a:t>
            </a:r>
            <a:r>
              <a:rPr lang="ko-KR" altLang="en-US" dirty="0"/>
              <a:t>자동 입력</a:t>
            </a:r>
            <a:r>
              <a:rPr lang="en-US" altLang="ko-KR" dirty="0"/>
              <a:t>, </a:t>
            </a:r>
            <a:r>
              <a:rPr lang="en-US" altLang="ko-KR" dirty="0" smtClean="0"/>
              <a:t/>
            </a:r>
            <a:br>
              <a:rPr lang="en-US" altLang="ko-KR" dirty="0" smtClean="0"/>
            </a:br>
            <a:r>
              <a:rPr lang="en-US" altLang="ko-KR" dirty="0" smtClean="0"/>
              <a:t>- </a:t>
            </a:r>
            <a:r>
              <a:rPr lang="ko-KR" altLang="en-US" dirty="0"/>
              <a:t>조회된 </a:t>
            </a:r>
            <a:r>
              <a:rPr lang="ko-KR" altLang="en-US" dirty="0" err="1"/>
              <a:t>증권번호가</a:t>
            </a:r>
            <a:r>
              <a:rPr lang="ko-KR" altLang="en-US" dirty="0"/>
              <a:t> </a:t>
            </a:r>
            <a:r>
              <a:rPr lang="en-US" altLang="ko-KR" dirty="0"/>
              <a:t>1</a:t>
            </a:r>
            <a:r>
              <a:rPr lang="ko-KR" altLang="en-US" dirty="0"/>
              <a:t>개 이상인 경우 </a:t>
            </a:r>
            <a:r>
              <a:rPr lang="ko-KR" altLang="en-US" dirty="0" err="1"/>
              <a:t>개찰일자</a:t>
            </a:r>
            <a:r>
              <a:rPr lang="en-US" altLang="ko-KR" dirty="0"/>
              <a:t>/</a:t>
            </a:r>
            <a:r>
              <a:rPr lang="ko-KR" altLang="en-US" dirty="0" err="1"/>
              <a:t>입찰일자</a:t>
            </a:r>
            <a:r>
              <a:rPr lang="en-US" altLang="ko-KR" dirty="0"/>
              <a:t>, </a:t>
            </a:r>
            <a:r>
              <a:rPr lang="ko-KR" altLang="en-US" dirty="0"/>
              <a:t>보증금액</a:t>
            </a:r>
            <a:r>
              <a:rPr lang="en-US" altLang="ko-KR" dirty="0"/>
              <a:t>, </a:t>
            </a:r>
            <a:r>
              <a:rPr lang="ko-KR" altLang="en-US" dirty="0"/>
              <a:t>계약자</a:t>
            </a:r>
            <a:r>
              <a:rPr lang="en-US" altLang="ko-KR" dirty="0"/>
              <a:t>, </a:t>
            </a:r>
            <a:r>
              <a:rPr lang="ko-KR" altLang="en-US" dirty="0"/>
              <a:t>발행자 보이기</a:t>
            </a:r>
            <a:r>
              <a:rPr lang="en-US" altLang="ko-KR" dirty="0" smtClean="0"/>
              <a:t/>
            </a:r>
            <a:br>
              <a:rPr lang="en-US" altLang="ko-KR" dirty="0" smtClean="0"/>
            </a:br>
            <a:r>
              <a:rPr lang="en-US" altLang="ko-KR" dirty="0" smtClean="0"/>
              <a:t>-  2</a:t>
            </a:r>
            <a:r>
              <a:rPr lang="ko-KR" altLang="en-US" dirty="0"/>
              <a:t>개 이상인 경우 </a:t>
            </a:r>
            <a:r>
              <a:rPr lang="ko-KR" altLang="en-US" dirty="0" err="1"/>
              <a:t>셀렉트박스로</a:t>
            </a:r>
            <a:r>
              <a:rPr lang="ko-KR" altLang="en-US" dirty="0"/>
              <a:t> </a:t>
            </a:r>
            <a:r>
              <a:rPr lang="ko-KR" altLang="en-US" dirty="0" err="1"/>
              <a:t>증권번호</a:t>
            </a:r>
            <a:r>
              <a:rPr lang="ko-KR" altLang="en-US" dirty="0"/>
              <a:t> </a:t>
            </a:r>
            <a:r>
              <a:rPr lang="ko-KR" altLang="en-US" dirty="0" smtClean="0"/>
              <a:t>선택</a:t>
            </a:r>
            <a:r>
              <a:rPr lang="en-US" altLang="ko-KR" dirty="0"/>
              <a:t/>
            </a:r>
            <a:br>
              <a:rPr lang="en-US" altLang="ko-KR" dirty="0"/>
            </a:br>
            <a:r>
              <a:rPr lang="en-US" altLang="ko-KR" dirty="0" smtClean="0"/>
              <a:t>- </a:t>
            </a:r>
            <a:r>
              <a:rPr lang="ko-KR" altLang="en-US" dirty="0" smtClean="0"/>
              <a:t>없는 </a:t>
            </a:r>
            <a:r>
              <a:rPr lang="ko-KR" altLang="en-US" dirty="0"/>
              <a:t>경우 직접 </a:t>
            </a:r>
            <a:r>
              <a:rPr lang="ko-KR" altLang="en-US" dirty="0" smtClean="0"/>
              <a:t>입력</a:t>
            </a:r>
            <a:endParaRPr lang="en-US" altLang="ko-KR" dirty="0"/>
          </a:p>
          <a:p>
            <a:pPr marL="228600" indent="-228600">
              <a:buFont typeface="+mj-lt"/>
              <a:buAutoNum type="arabicPeriod"/>
            </a:pPr>
            <a:r>
              <a:rPr lang="ko-KR" altLang="en-US" dirty="0" smtClean="0"/>
              <a:t>입찰보증금을 입력하면 </a:t>
            </a:r>
            <a:r>
              <a:rPr lang="en-US" altLang="ko-KR" dirty="0" smtClean="0"/>
              <a:t>[2-1]</a:t>
            </a:r>
            <a:r>
              <a:rPr lang="ko-KR" altLang="en-US" dirty="0" err="1" smtClean="0"/>
              <a:t>투찰</a:t>
            </a:r>
            <a:r>
              <a:rPr lang="ko-KR" altLang="en-US" dirty="0" smtClean="0"/>
              <a:t> </a:t>
            </a:r>
            <a:r>
              <a:rPr lang="ko-KR" altLang="en-US" dirty="0" err="1" smtClean="0"/>
              <a:t>가능금액이</a:t>
            </a:r>
            <a:r>
              <a:rPr lang="ko-KR" altLang="en-US" dirty="0" smtClean="0"/>
              <a:t> 계산 됨</a:t>
            </a:r>
            <a:endParaRPr lang="en-US" altLang="ko-KR" dirty="0"/>
          </a:p>
          <a:p>
            <a:pPr marL="228600" indent="-228600">
              <a:buFont typeface="+mj-lt"/>
              <a:buAutoNum type="arabicPeriod"/>
            </a:pPr>
            <a:endParaRPr lang="en-US" altLang="ko-KR" dirty="0" smtClean="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입찰보증금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입찰보증금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2305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06448"/>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88487" y="1606448"/>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입찰보증금</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956375" y="1606448"/>
            <a:ext cx="655640"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624138" y="1606448"/>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88487" y="1823055"/>
            <a:ext cx="555764"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68325"/>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4014504"/>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a:t>
            </a:r>
          </a:p>
        </p:txBody>
      </p:sp>
      <p:sp>
        <p:nvSpPr>
          <p:cNvPr id="169" name="직사각형 168"/>
          <p:cNvSpPr/>
          <p:nvPr/>
        </p:nvSpPr>
        <p:spPr>
          <a:xfrm>
            <a:off x="722232" y="4321990"/>
            <a:ext cx="792000" cy="13113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4321989"/>
            <a:ext cx="725552" cy="1292662"/>
          </a:xfrm>
          <a:prstGeom prst="rect">
            <a:avLst/>
          </a:prstGeom>
          <a:noFill/>
        </p:spPr>
        <p:txBody>
          <a:bodyPr wrap="square" lIns="0" tIns="0" rIns="0" bIns="0" rtlCol="0">
            <a:spAutoFit/>
          </a:bodyPr>
          <a:lstStyle/>
          <a:p>
            <a:pPr>
              <a:lnSpc>
                <a:spcPct val="200000"/>
              </a:lnSpc>
            </a:pPr>
            <a:r>
              <a:rPr lang="ko-KR" altLang="en-US" sz="700" dirty="0">
                <a:latin typeface="+mn-ea"/>
              </a:rPr>
              <a:t>보증금 납부방법</a:t>
            </a:r>
            <a:endParaRPr lang="en-US" altLang="ko-KR" sz="700" dirty="0">
              <a:latin typeface="+mn-ea"/>
            </a:endParaRPr>
          </a:p>
          <a:p>
            <a:pPr>
              <a:lnSpc>
                <a:spcPct val="200000"/>
              </a:lnSpc>
            </a:pPr>
            <a:r>
              <a:rPr lang="ko-KR" altLang="en-US" sz="700" dirty="0" err="1">
                <a:latin typeface="+mn-ea"/>
              </a:rPr>
              <a:t>증권번호</a:t>
            </a:r>
            <a:endParaRPr lang="en-US" altLang="ko-KR" sz="700" dirty="0">
              <a:latin typeface="+mn-ea"/>
            </a:endParaRPr>
          </a:p>
          <a:p>
            <a:pPr>
              <a:lnSpc>
                <a:spcPct val="200000"/>
              </a:lnSpc>
            </a:pPr>
            <a:r>
              <a:rPr lang="ko-KR" altLang="en-US" sz="700" dirty="0" err="1">
                <a:latin typeface="+mn-ea"/>
              </a:rPr>
              <a:t>개찰일자</a:t>
            </a:r>
            <a:endParaRPr lang="en-US" altLang="ko-KR" sz="700" dirty="0">
              <a:latin typeface="+mn-ea"/>
            </a:endParaRPr>
          </a:p>
          <a:p>
            <a:pPr>
              <a:lnSpc>
                <a:spcPct val="200000"/>
              </a:lnSpc>
            </a:pPr>
            <a:r>
              <a:rPr lang="ko-KR" altLang="en-US" sz="700" dirty="0">
                <a:latin typeface="+mn-ea"/>
              </a:rPr>
              <a:t>보증금액</a:t>
            </a:r>
            <a:endParaRPr lang="en-US" altLang="ko-KR" sz="700" dirty="0">
              <a:latin typeface="+mn-ea"/>
            </a:endParaRPr>
          </a:p>
          <a:p>
            <a:pPr>
              <a:lnSpc>
                <a:spcPct val="200000"/>
              </a:lnSpc>
            </a:pPr>
            <a:r>
              <a:rPr lang="ko-KR" altLang="en-US" sz="700" dirty="0">
                <a:latin typeface="+mn-ea"/>
              </a:rPr>
              <a:t>계약자</a:t>
            </a:r>
            <a:endParaRPr lang="en-US" altLang="ko-KR" sz="700" dirty="0">
              <a:latin typeface="+mn-ea"/>
            </a:endParaRPr>
          </a:p>
          <a:p>
            <a:pPr>
              <a:lnSpc>
                <a:spcPct val="200000"/>
              </a:lnSpc>
            </a:pPr>
            <a:r>
              <a:rPr lang="ko-KR" altLang="en-US" sz="700" dirty="0">
                <a:latin typeface="+mn-ea"/>
              </a:rPr>
              <a:t>발행자</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4321989"/>
            <a:ext cx="1784088" cy="1292662"/>
          </a:xfrm>
          <a:prstGeom prst="rect">
            <a:avLst/>
          </a:prstGeom>
          <a:noFill/>
        </p:spPr>
        <p:txBody>
          <a:bodyPr wrap="square" lIns="0" tIns="0" rIns="0" bIns="0" rtlCol="0">
            <a:spAutoFit/>
          </a:bodyPr>
          <a:lstStyle/>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2025-11-25 13:00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p:txBody>
      </p:sp>
      <p:grpSp>
        <p:nvGrpSpPr>
          <p:cNvPr id="172" name="그룹 171"/>
          <p:cNvGrpSpPr/>
          <p:nvPr/>
        </p:nvGrpSpPr>
        <p:grpSpPr>
          <a:xfrm>
            <a:off x="720139" y="4321989"/>
            <a:ext cx="2630093" cy="1288440"/>
            <a:chOff x="701175" y="1835481"/>
            <a:chExt cx="2630093" cy="128844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9" name="모서리가 둥근 직사각형 108"/>
          <p:cNvSpPr/>
          <p:nvPr/>
        </p:nvSpPr>
        <p:spPr>
          <a:xfrm>
            <a:off x="705041" y="1939611"/>
            <a:ext cx="2652743" cy="2026741"/>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37895"/>
            <a:ext cx="2475203" cy="193899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r>
              <a:rPr lang="ko-KR" altLang="en-US" sz="700" dirty="0">
                <a:latin typeface="맑은 고딕" panose="020B0503020000020004" pitchFamily="50" charset="-127"/>
              </a:rPr>
              <a:t>보증금면제사유는 발주기관으로 문의하시기 바랍니다。</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전자보증서를 신청하신 경우</a:t>
            </a:r>
            <a:r>
              <a:rPr lang="en-US" altLang="ko-KR" sz="700" dirty="0">
                <a:latin typeface="맑은 고딕" panose="020B0503020000020004" pitchFamily="50" charset="-127"/>
              </a:rPr>
              <a:t>, </a:t>
            </a:r>
            <a:r>
              <a:rPr lang="ko-KR" altLang="en-US" sz="700" dirty="0">
                <a:latin typeface="맑은 고딕" panose="020B0503020000020004" pitchFamily="50" charset="-127"/>
              </a:rPr>
              <a:t>납부방법을 전자보증서로 선택하면 전자보증서가 자동으로 입력됩니다</a:t>
            </a:r>
            <a:r>
              <a:rPr lang="en-US" altLang="ko-KR" sz="700" dirty="0">
                <a:latin typeface="맑은 고딕" panose="020B0503020000020004" pitchFamily="50" charset="-127"/>
              </a:rPr>
              <a:t>.</a:t>
            </a:r>
          </a:p>
          <a:p>
            <a:r>
              <a:rPr lang="en-US" altLang="ko-KR" sz="700" dirty="0">
                <a:latin typeface="맑은 고딕" panose="020B0503020000020004" pitchFamily="50" charset="-127"/>
              </a:rPr>
              <a:t>(</a:t>
            </a:r>
            <a:r>
              <a:rPr lang="ko-KR" altLang="en-US" sz="700" dirty="0">
                <a:latin typeface="맑은 고딕" panose="020B0503020000020004" pitchFamily="50" charset="-127"/>
              </a:rPr>
              <a:t>여러 개의 보증서를 신청하신 경우 그 중 한 개를 선택하셔야 합니다</a:t>
            </a:r>
            <a:r>
              <a:rPr lang="en-US" altLang="ko-KR" sz="700" dirty="0">
                <a:latin typeface="맑은 고딕" panose="020B0503020000020004" pitchFamily="50" charset="-127"/>
              </a:rPr>
              <a:t>.)</a:t>
            </a:r>
          </a:p>
          <a:p>
            <a:r>
              <a:rPr lang="ko-KR" altLang="en-US" sz="700" dirty="0" err="1">
                <a:latin typeface="맑은 고딕" panose="020B0503020000020004" pitchFamily="50" charset="-127"/>
              </a:rPr>
              <a:t>전자보증서</a:t>
            </a:r>
            <a:r>
              <a:rPr lang="ko-KR" altLang="en-US" sz="700" dirty="0">
                <a:latin typeface="맑은 고딕" panose="020B0503020000020004" pitchFamily="50" charset="-127"/>
              </a:rPr>
              <a:t> 발급 이후</a:t>
            </a:r>
            <a:r>
              <a:rPr lang="en-US" altLang="ko-KR" sz="700" dirty="0">
                <a:latin typeface="맑은 고딕" panose="020B0503020000020004" pitchFamily="50" charset="-127"/>
              </a:rPr>
              <a:t>, </a:t>
            </a:r>
            <a:r>
              <a:rPr lang="ko-KR" altLang="en-US" sz="700" dirty="0">
                <a:latin typeface="맑은 고딕" panose="020B0503020000020004" pitchFamily="50" charset="-127"/>
              </a:rPr>
              <a:t>해당 </a:t>
            </a:r>
            <a:r>
              <a:rPr lang="ko-KR" altLang="en-US" sz="700" dirty="0" err="1">
                <a:latin typeface="맑은 고딕" panose="020B0503020000020004" pitchFamily="50" charset="-127"/>
              </a:rPr>
              <a:t>전자보증서</a:t>
            </a:r>
            <a:r>
              <a:rPr lang="ko-KR" altLang="en-US" sz="700" dirty="0">
                <a:latin typeface="맑은 고딕" panose="020B0503020000020004" pitchFamily="50" charset="-127"/>
              </a:rPr>
              <a:t> 정보에 대한 수신은 약 </a:t>
            </a:r>
            <a:r>
              <a:rPr lang="en-US" altLang="ko-KR" sz="700" dirty="0">
                <a:latin typeface="맑은 고딕" panose="020B0503020000020004" pitchFamily="50" charset="-127"/>
              </a:rPr>
              <a:t>15</a:t>
            </a:r>
            <a:r>
              <a:rPr lang="ko-KR" altLang="en-US" sz="700" dirty="0">
                <a:latin typeface="맑은 고딕" panose="020B0503020000020004" pitchFamily="50" charset="-127"/>
              </a:rPr>
              <a:t>분 정도 소요됩니다</a:t>
            </a:r>
            <a:r>
              <a:rPr lang="en-US" altLang="ko-KR" sz="700" dirty="0">
                <a:latin typeface="맑은 고딕" panose="020B0503020000020004" pitchFamily="50" charset="-127"/>
              </a:rPr>
              <a:t>.</a:t>
            </a:r>
          </a:p>
          <a:p>
            <a:r>
              <a:rPr lang="ko-KR" altLang="en-US" sz="700" dirty="0">
                <a:latin typeface="맑은 고딕" panose="020B0503020000020004" pitchFamily="50" charset="-127"/>
              </a:rPr>
              <a:t>전자보증서가 아닌 경우에는 보증금 납부방법을 보증보험으로 선택하시고 </a:t>
            </a:r>
            <a:r>
              <a:rPr lang="ko-KR" altLang="en-US" sz="700" dirty="0" err="1">
                <a:latin typeface="맑은 고딕" panose="020B0503020000020004" pitchFamily="50" charset="-127"/>
              </a:rPr>
              <a:t>증권번호와</a:t>
            </a:r>
            <a:r>
              <a:rPr lang="ko-KR" altLang="en-US" sz="700" dirty="0">
                <a:latin typeface="맑은 고딕" panose="020B0503020000020004" pitchFamily="50" charset="-127"/>
              </a:rPr>
              <a:t> 입찰보증급을 직접 입력하시면 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a:p>
            <a:pPr marL="92075" indent="-92075">
              <a:buFont typeface="Arial" panose="020B0604020202020204" pitchFamily="34" charset="0"/>
              <a:buChar char="•"/>
            </a:pPr>
            <a:endParaRPr lang="en-US" altLang="ko-KR" sz="700" dirty="0">
              <a:latin typeface="+mn-ea"/>
            </a:endParaRPr>
          </a:p>
          <a:p>
            <a:r>
              <a:rPr lang="ko-KR" altLang="en-US" sz="700" dirty="0" err="1">
                <a:latin typeface="+mn-ea"/>
              </a:rPr>
              <a:t>분담이행</a:t>
            </a:r>
            <a:r>
              <a:rPr lang="ko-KR" altLang="en-US" sz="700" dirty="0">
                <a:latin typeface="+mn-ea"/>
              </a:rPr>
              <a:t> 방식 입찰보증금 </a:t>
            </a:r>
            <a:r>
              <a:rPr lang="ko-KR" altLang="en-US" sz="700" dirty="0" err="1">
                <a:latin typeface="+mn-ea"/>
              </a:rPr>
              <a:t>입력방법</a:t>
            </a:r>
            <a:endParaRPr lang="en-US" altLang="ko-KR" sz="700" dirty="0">
              <a:latin typeface="+mn-ea"/>
            </a:endParaRPr>
          </a:p>
          <a:p>
            <a:r>
              <a:rPr lang="ko-KR" altLang="en-US" sz="700" dirty="0" err="1">
                <a:latin typeface="+mn-ea"/>
              </a:rPr>
              <a:t>업체명</a:t>
            </a:r>
            <a:r>
              <a:rPr lang="en-US" altLang="ko-KR" sz="700" dirty="0">
                <a:latin typeface="+mn-ea"/>
              </a:rPr>
              <a:t>, </a:t>
            </a:r>
            <a:r>
              <a:rPr lang="ko-KR" altLang="en-US" sz="700" dirty="0" err="1">
                <a:latin typeface="+mn-ea"/>
              </a:rPr>
              <a:t>분담비율</a:t>
            </a:r>
            <a:r>
              <a:rPr lang="en-US" altLang="ko-KR" sz="700" dirty="0">
                <a:latin typeface="+mn-ea"/>
              </a:rPr>
              <a:t>, </a:t>
            </a:r>
            <a:r>
              <a:rPr lang="ko-KR" altLang="en-US" sz="700" dirty="0">
                <a:latin typeface="+mn-ea"/>
              </a:rPr>
              <a:t>입찰보증금이 각각 아래와 같은 경우</a:t>
            </a:r>
            <a:endParaRPr lang="en-US" altLang="ko-KR" sz="700" dirty="0">
              <a:latin typeface="+mn-ea"/>
            </a:endParaRPr>
          </a:p>
          <a:p>
            <a:r>
              <a:rPr lang="en-US" altLang="ko-KR" sz="700" dirty="0">
                <a:solidFill>
                  <a:srgbClr val="000000"/>
                </a:solidFill>
                <a:latin typeface="+mn-ea"/>
              </a:rPr>
              <a:t>A</a:t>
            </a:r>
            <a:r>
              <a:rPr lang="ko-KR" altLang="en-US" sz="700" dirty="0">
                <a:solidFill>
                  <a:srgbClr val="000000"/>
                </a:solidFill>
                <a:latin typeface="+mn-ea"/>
              </a:rPr>
              <a:t>업체 </a:t>
            </a:r>
            <a:r>
              <a:rPr lang="en-US" altLang="ko-KR" sz="700" dirty="0">
                <a:solidFill>
                  <a:srgbClr val="000000"/>
                </a:solidFill>
                <a:latin typeface="+mn-ea"/>
              </a:rPr>
              <a:t>20%(1,000</a:t>
            </a:r>
            <a:r>
              <a:rPr lang="ko-KR" altLang="en-US" sz="700" dirty="0">
                <a:solidFill>
                  <a:srgbClr val="000000"/>
                </a:solidFill>
                <a:latin typeface="+mn-ea"/>
              </a:rPr>
              <a:t>원</a:t>
            </a:r>
            <a:r>
              <a:rPr lang="en-US" altLang="ko-KR" sz="700" dirty="0">
                <a:solidFill>
                  <a:srgbClr val="000000"/>
                </a:solidFill>
                <a:latin typeface="+mn-ea"/>
              </a:rPr>
              <a:t>), B</a:t>
            </a:r>
            <a:r>
              <a:rPr lang="ko-KR" altLang="en-US" sz="700" dirty="0">
                <a:solidFill>
                  <a:srgbClr val="000000"/>
                </a:solidFill>
                <a:latin typeface="+mn-ea"/>
              </a:rPr>
              <a:t>업체 </a:t>
            </a:r>
            <a:r>
              <a:rPr lang="en-US" altLang="ko-KR" sz="700" dirty="0">
                <a:solidFill>
                  <a:srgbClr val="000000"/>
                </a:solidFill>
                <a:latin typeface="+mn-ea"/>
              </a:rPr>
              <a:t>30%(1,500</a:t>
            </a:r>
            <a:r>
              <a:rPr lang="ko-KR" altLang="en-US" sz="700" dirty="0">
                <a:solidFill>
                  <a:srgbClr val="000000"/>
                </a:solidFill>
                <a:latin typeface="+mn-ea"/>
              </a:rPr>
              <a:t>원</a:t>
            </a:r>
            <a:r>
              <a:rPr lang="en-US" altLang="ko-KR" sz="700" dirty="0">
                <a:solidFill>
                  <a:srgbClr val="000000"/>
                </a:solidFill>
                <a:latin typeface="+mn-ea"/>
              </a:rPr>
              <a:t>), C</a:t>
            </a:r>
            <a:r>
              <a:rPr lang="ko-KR" altLang="en-US" sz="700" dirty="0">
                <a:solidFill>
                  <a:srgbClr val="000000"/>
                </a:solidFill>
                <a:latin typeface="+mn-ea"/>
              </a:rPr>
              <a:t>업체 </a:t>
            </a:r>
            <a:r>
              <a:rPr lang="en-US" altLang="ko-KR" sz="700" dirty="0">
                <a:solidFill>
                  <a:srgbClr val="000000"/>
                </a:solidFill>
                <a:latin typeface="+mn-ea"/>
              </a:rPr>
              <a:t>50%(2,500</a:t>
            </a:r>
            <a:r>
              <a:rPr lang="ko-KR" altLang="en-US" sz="700" dirty="0">
                <a:solidFill>
                  <a:srgbClr val="000000"/>
                </a:solidFill>
                <a:latin typeface="+mn-ea"/>
              </a:rPr>
              <a:t>원</a:t>
            </a:r>
            <a:r>
              <a:rPr lang="en-US" altLang="ko-KR" sz="700" dirty="0">
                <a:solidFill>
                  <a:srgbClr val="000000"/>
                </a:solidFill>
                <a:latin typeface="+mn-ea"/>
              </a:rPr>
              <a:t>)</a:t>
            </a:r>
            <a:r>
              <a:rPr lang="ko-KR" altLang="en-US" sz="700" dirty="0">
                <a:solidFill>
                  <a:srgbClr val="000000"/>
                </a:solidFill>
                <a:latin typeface="+mn-ea"/>
              </a:rPr>
              <a:t>의 입찰보증금을 등록하면</a:t>
            </a:r>
            <a:r>
              <a:rPr lang="en-US" altLang="ko-KR" sz="700" dirty="0">
                <a:solidFill>
                  <a:srgbClr val="000000"/>
                </a:solidFill>
                <a:latin typeface="+mn-ea"/>
              </a:rPr>
              <a:t> </a:t>
            </a:r>
            <a:r>
              <a:rPr lang="ko-KR" altLang="en-US" sz="700" dirty="0">
                <a:solidFill>
                  <a:srgbClr val="000000"/>
                </a:solidFill>
                <a:latin typeface="+mn-ea"/>
              </a:rPr>
              <a:t>합계인 </a:t>
            </a:r>
            <a:r>
              <a:rPr lang="en-US" altLang="ko-KR" sz="700" dirty="0">
                <a:solidFill>
                  <a:srgbClr val="000000"/>
                </a:solidFill>
                <a:latin typeface="+mn-ea"/>
              </a:rPr>
              <a:t>5,000</a:t>
            </a:r>
            <a:r>
              <a:rPr lang="ko-KR" altLang="en-US" sz="700" dirty="0">
                <a:solidFill>
                  <a:srgbClr val="000000"/>
                </a:solidFill>
                <a:latin typeface="+mn-ea"/>
              </a:rPr>
              <a:t>원의 </a:t>
            </a:r>
            <a:r>
              <a:rPr lang="en-US" altLang="ko-KR" sz="700" dirty="0">
                <a:solidFill>
                  <a:srgbClr val="000000"/>
                </a:solidFill>
                <a:latin typeface="+mn-ea"/>
              </a:rPr>
              <a:t>20</a:t>
            </a:r>
            <a:r>
              <a:rPr lang="ko-KR" altLang="en-US" sz="700" dirty="0">
                <a:solidFill>
                  <a:srgbClr val="000000"/>
                </a:solidFill>
                <a:latin typeface="+mn-ea"/>
              </a:rPr>
              <a:t>배 </a:t>
            </a:r>
            <a:r>
              <a:rPr lang="en-US" altLang="ko-KR" sz="700" dirty="0">
                <a:solidFill>
                  <a:srgbClr val="000000"/>
                </a:solidFill>
                <a:latin typeface="+mn-ea"/>
              </a:rPr>
              <a:t>100,000</a:t>
            </a:r>
            <a:r>
              <a:rPr lang="ko-KR" altLang="en-US" sz="700" dirty="0">
                <a:solidFill>
                  <a:srgbClr val="000000"/>
                </a:solidFill>
                <a:latin typeface="+mn-ea"/>
              </a:rPr>
              <a:t>원까지 </a:t>
            </a:r>
            <a:r>
              <a:rPr lang="ko-KR" altLang="en-US" sz="700" dirty="0" err="1">
                <a:solidFill>
                  <a:srgbClr val="000000"/>
                </a:solidFill>
                <a:latin typeface="+mn-ea"/>
              </a:rPr>
              <a:t>투찰</a:t>
            </a:r>
            <a:r>
              <a:rPr lang="ko-KR" altLang="en-US" sz="700" dirty="0">
                <a:solidFill>
                  <a:srgbClr val="000000"/>
                </a:solidFill>
                <a:latin typeface="+mn-ea"/>
              </a:rPr>
              <a:t> 가능 합니다</a:t>
            </a:r>
            <a:r>
              <a:rPr lang="en-US" altLang="ko-KR" sz="700" dirty="0">
                <a:solidFill>
                  <a:srgbClr val="000000"/>
                </a:solidFill>
                <a:latin typeface="+mn-ea"/>
              </a:rPr>
              <a:t>.</a:t>
            </a:r>
            <a:endParaRPr lang="en-US" altLang="ko-KR" sz="700" dirty="0">
              <a:latin typeface="+mn-ea"/>
            </a:endParaRPr>
          </a:p>
          <a:p>
            <a:pPr marL="92075" indent="-92075">
              <a:buFont typeface="Arial" panose="020B0604020202020204" pitchFamily="34" charset="0"/>
              <a:buChar char="•"/>
            </a:pPr>
            <a:endParaRPr lang="en-US" altLang="ko-KR" sz="700" dirty="0">
              <a:latin typeface="+mn-ea"/>
            </a:endParaRPr>
          </a:p>
        </p:txBody>
      </p:sp>
      <p:sp>
        <p:nvSpPr>
          <p:cNvPr id="111" name="타원 110"/>
          <p:cNvSpPr/>
          <p:nvPr/>
        </p:nvSpPr>
        <p:spPr>
          <a:xfrm>
            <a:off x="789853" y="202824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76742"/>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5" name="직사각형 114"/>
          <p:cNvSpPr/>
          <p:nvPr/>
        </p:nvSpPr>
        <p:spPr>
          <a:xfrm>
            <a:off x="3835468" y="1889826"/>
            <a:ext cx="792000" cy="8761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22531" y="1889825"/>
            <a:ext cx="725552" cy="861774"/>
          </a:xfrm>
          <a:prstGeom prst="rect">
            <a:avLst/>
          </a:prstGeom>
          <a:noFill/>
        </p:spPr>
        <p:txBody>
          <a:bodyPr wrap="square" lIns="0" tIns="0" rIns="0" bIns="0" rtlCol="0">
            <a:spAutoFit/>
          </a:bodyPr>
          <a:lstStyle/>
          <a:p>
            <a:pPr>
              <a:lnSpc>
                <a:spcPct val="200000"/>
              </a:lnSpc>
            </a:pPr>
            <a:r>
              <a:rPr lang="ko-KR" altLang="en-US" sz="700" dirty="0">
                <a:latin typeface="+mn-ea"/>
              </a:rPr>
              <a:t>보증금면제사유</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err="1">
                <a:latin typeface="+mn-ea"/>
              </a:rPr>
              <a:t>투찰가능금액</a:t>
            </a:r>
            <a:endParaRPr lang="en-US" altLang="ko-KR"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4679380" y="1889825"/>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grpSp>
        <p:nvGrpSpPr>
          <p:cNvPr id="118" name="그룹 117"/>
          <p:cNvGrpSpPr/>
          <p:nvPr/>
        </p:nvGrpSpPr>
        <p:grpSpPr>
          <a:xfrm>
            <a:off x="3833375" y="1889825"/>
            <a:ext cx="2630093" cy="858960"/>
            <a:chOff x="701175" y="1835481"/>
            <a:chExt cx="2630093" cy="858960"/>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97" name="사각형: 둥근 모서리 15">
            <a:extLst>
              <a:ext uri="{FF2B5EF4-FFF2-40B4-BE49-F238E27FC236}">
                <a16:creationId xmlns:a16="http://schemas.microsoft.com/office/drawing/2014/main" id="{E2B61CFB-AD16-68D0-8752-50D9C5E01971}"/>
              </a:ext>
            </a:extLst>
          </p:cNvPr>
          <p:cNvSpPr/>
          <p:nvPr/>
        </p:nvSpPr>
        <p:spPr>
          <a:xfrm>
            <a:off x="1561065" y="435307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98" name="그룹 97"/>
          <p:cNvGrpSpPr/>
          <p:nvPr/>
        </p:nvGrpSpPr>
        <p:grpSpPr>
          <a:xfrm>
            <a:off x="3138674" y="4410572"/>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1" name="사각형: 둥근 모서리 15">
            <a:extLst>
              <a:ext uri="{FF2B5EF4-FFF2-40B4-BE49-F238E27FC236}">
                <a16:creationId xmlns:a16="http://schemas.microsoft.com/office/drawing/2014/main" id="{E2B61CFB-AD16-68D0-8752-50D9C5E01971}"/>
              </a:ext>
            </a:extLst>
          </p:cNvPr>
          <p:cNvSpPr/>
          <p:nvPr/>
        </p:nvSpPr>
        <p:spPr>
          <a:xfrm>
            <a:off x="1561065" y="456521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02" name="그룹 101"/>
          <p:cNvGrpSpPr/>
          <p:nvPr/>
        </p:nvGrpSpPr>
        <p:grpSpPr>
          <a:xfrm>
            <a:off x="3138674" y="4622708"/>
            <a:ext cx="94010" cy="47005"/>
            <a:chOff x="6812560" y="3297172"/>
            <a:chExt cx="94010" cy="47005"/>
          </a:xfrm>
        </p:grpSpPr>
        <p:cxnSp>
          <p:nvCxnSpPr>
            <p:cNvPr id="103" name="직선 연결선 1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4" name="직선 연결선 1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8" name="사각형: 둥근 모서리 15">
            <a:extLst>
              <a:ext uri="{FF2B5EF4-FFF2-40B4-BE49-F238E27FC236}">
                <a16:creationId xmlns:a16="http://schemas.microsoft.com/office/drawing/2014/main" id="{E2B61CFB-AD16-68D0-8752-50D9C5E01971}"/>
              </a:ext>
            </a:extLst>
          </p:cNvPr>
          <p:cNvSpPr/>
          <p:nvPr/>
        </p:nvSpPr>
        <p:spPr>
          <a:xfrm>
            <a:off x="4681400" y="1925492"/>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29" name="그룹 128"/>
          <p:cNvGrpSpPr/>
          <p:nvPr/>
        </p:nvGrpSpPr>
        <p:grpSpPr>
          <a:xfrm>
            <a:off x="6259009" y="1982990"/>
            <a:ext cx="94010" cy="47005"/>
            <a:chOff x="6812560" y="3297172"/>
            <a:chExt cx="94010" cy="47005"/>
          </a:xfrm>
        </p:grpSpPr>
        <p:cxnSp>
          <p:nvCxnSpPr>
            <p:cNvPr id="130" name="직선 연결선 12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2" name="사각형: 둥근 모서리 15">
            <a:extLst>
              <a:ext uri="{FF2B5EF4-FFF2-40B4-BE49-F238E27FC236}">
                <a16:creationId xmlns:a16="http://schemas.microsoft.com/office/drawing/2014/main" id="{E2B61CFB-AD16-68D0-8752-50D9C5E01971}"/>
              </a:ext>
            </a:extLst>
          </p:cNvPr>
          <p:cNvSpPr/>
          <p:nvPr/>
        </p:nvSpPr>
        <p:spPr>
          <a:xfrm>
            <a:off x="4681400" y="2129459"/>
            <a:ext cx="1780918"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err="1">
                <a:solidFill>
                  <a:srgbClr val="0070C0"/>
                </a:solidFill>
                <a:latin typeface="맑은 고딕"/>
                <a:ea typeface="맑은 고딕" panose="020B0503020000020004" pitchFamily="50" charset="-127"/>
              </a:rPr>
              <a:t>면제여부</a:t>
            </a:r>
            <a:r>
              <a:rPr kumimoji="1" lang="ko-KR" altLang="en-US" sz="700" kern="0" dirty="0">
                <a:solidFill>
                  <a:srgbClr val="0070C0"/>
                </a:solidFill>
                <a:latin typeface="맑은 고딕"/>
                <a:ea typeface="맑은 고딕" panose="020B0503020000020004" pitchFamily="50" charset="-127"/>
              </a:rPr>
              <a:t> 상세설명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4679380" y="230384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34" name="사각형: 둥근 모서리 15">
            <a:extLst>
              <a:ext uri="{FF2B5EF4-FFF2-40B4-BE49-F238E27FC236}">
                <a16:creationId xmlns:a16="http://schemas.microsoft.com/office/drawing/2014/main" id="{E2B61CFB-AD16-68D0-8752-50D9C5E01971}"/>
              </a:ext>
            </a:extLst>
          </p:cNvPr>
          <p:cNvSpPr/>
          <p:nvPr/>
        </p:nvSpPr>
        <p:spPr>
          <a:xfrm>
            <a:off x="4681400" y="233951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38" name="사각형: 둥근 모서리 15">
            <a:extLst>
              <a:ext uri="{FF2B5EF4-FFF2-40B4-BE49-F238E27FC236}">
                <a16:creationId xmlns:a16="http://schemas.microsoft.com/office/drawing/2014/main" id="{E2B61CFB-AD16-68D0-8752-50D9C5E01971}"/>
              </a:ext>
            </a:extLst>
          </p:cNvPr>
          <p:cNvSpPr/>
          <p:nvPr/>
        </p:nvSpPr>
        <p:spPr>
          <a:xfrm>
            <a:off x="4681400" y="255425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kumimoji="1" lang="ko-KR" altLang="en-US" sz="700" kern="0" dirty="0">
                <a:solidFill>
                  <a:schemeClr val="bg1">
                    <a:lumMod val="75000"/>
                  </a:schemeClr>
                </a:solidFill>
              </a:rPr>
              <a:t>입력해주세요</a:t>
            </a:r>
            <a:r>
              <a:rPr kumimoji="1" lang="en-US" altLang="ko-KR" sz="700" kern="0" dirty="0">
                <a:solidFill>
                  <a:schemeClr val="bg1">
                    <a:lumMod val="75000"/>
                  </a:schemeClr>
                </a:solidFill>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6106160" y="2297902"/>
            <a:ext cx="298674" cy="430887"/>
          </a:xfrm>
          <a:prstGeom prst="rect">
            <a:avLst/>
          </a:prstGeom>
          <a:noFill/>
        </p:spPr>
        <p:txBody>
          <a:bodyPr wrap="square" lIns="0" tIns="0" rIns="0" bIns="0" rtlCol="0">
            <a:spAutoFit/>
          </a:bodyPr>
          <a:lstStyle/>
          <a:p>
            <a:pPr algn="r">
              <a:lnSpc>
                <a:spcPct val="200000"/>
              </a:lnSpc>
            </a:pPr>
            <a:r>
              <a:rPr lang="ko-KR" altLang="en-US" sz="700" dirty="0">
                <a:latin typeface="+mn-ea"/>
              </a:rPr>
              <a:t>원</a:t>
            </a:r>
            <a:endParaRPr lang="en-US" altLang="ko-KR" sz="700" dirty="0">
              <a:latin typeface="+mn-ea"/>
            </a:endParaRPr>
          </a:p>
          <a:p>
            <a:pPr algn="r">
              <a:lnSpc>
                <a:spcPct val="200000"/>
              </a:lnSpc>
            </a:pPr>
            <a:r>
              <a:rPr lang="ko-KR" altLang="en-US" sz="700" dirty="0">
                <a:latin typeface="+mn-ea"/>
              </a:rPr>
              <a:t>원</a:t>
            </a:r>
            <a:endParaRPr lang="en-US" altLang="ko-KR" sz="700" dirty="0">
              <a:latin typeface="+mn-ea"/>
            </a:endParaRPr>
          </a:p>
        </p:txBody>
      </p:sp>
      <p:sp>
        <p:nvSpPr>
          <p:cNvPr id="140" name="모서리가 둥근 직사각형 139"/>
          <p:cNvSpPr/>
          <p:nvPr/>
        </p:nvSpPr>
        <p:spPr>
          <a:xfrm rot="5400000">
            <a:off x="2662242" y="254025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41" name="모서리가 둥근 직사각형 140"/>
          <p:cNvSpPr/>
          <p:nvPr/>
        </p:nvSpPr>
        <p:spPr>
          <a:xfrm rot="5400000">
            <a:off x="5780626" y="413414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29664" y="182305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3" name="TextBox 142">
            <a:extLst>
              <a:ext uri="{FF2B5EF4-FFF2-40B4-BE49-F238E27FC236}">
                <a16:creationId xmlns:a16="http://schemas.microsoft.com/office/drawing/2014/main" id="{FFC49AEA-2A8F-250C-A86A-A7751D9706C3}"/>
              </a:ext>
            </a:extLst>
          </p:cNvPr>
          <p:cNvSpPr txBox="1"/>
          <p:nvPr/>
        </p:nvSpPr>
        <p:spPr>
          <a:xfrm>
            <a:off x="3873342" y="1606448"/>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4498012" y="1606448"/>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입찰보증금</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5065900" y="1606448"/>
            <a:ext cx="655640"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5733663" y="1606448"/>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4498012" y="1823055"/>
            <a:ext cx="555764"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8" name="그룹 147"/>
          <p:cNvGrpSpPr/>
          <p:nvPr/>
        </p:nvGrpSpPr>
        <p:grpSpPr>
          <a:xfrm>
            <a:off x="6033260" y="1568325"/>
            <a:ext cx="422853" cy="187961"/>
            <a:chOff x="3641308" y="2234886"/>
            <a:chExt cx="422853" cy="187961"/>
          </a:xfrm>
        </p:grpSpPr>
        <p:sp>
          <p:nvSpPr>
            <p:cNvPr id="149" name="타원 148"/>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0" name="그룹 149"/>
            <p:cNvGrpSpPr/>
            <p:nvPr/>
          </p:nvGrpSpPr>
          <p:grpSpPr>
            <a:xfrm rot="5400000" flipH="1">
              <a:off x="3679895" y="2305364"/>
              <a:ext cx="94010" cy="47005"/>
              <a:chOff x="6812560" y="3297172"/>
              <a:chExt cx="94010" cy="47005"/>
            </a:xfrm>
          </p:grpSpPr>
          <p:cxnSp>
            <p:nvCxnSpPr>
              <p:cNvPr id="155" name="직선 연결선 15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6" name="직선 연결선 15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2" name="그룹 151"/>
            <p:cNvGrpSpPr/>
            <p:nvPr/>
          </p:nvGrpSpPr>
          <p:grpSpPr>
            <a:xfrm rot="16200000">
              <a:off x="3931564" y="2305364"/>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27" name="타원 326">
            <a:extLst>
              <a:ext uri="{FF2B5EF4-FFF2-40B4-BE49-F238E27FC236}">
                <a16:creationId xmlns:a16="http://schemas.microsoft.com/office/drawing/2014/main" id="{37A7FF4F-0EAA-1463-560A-D5EC24416103}"/>
              </a:ext>
            </a:extLst>
          </p:cNvPr>
          <p:cNvSpPr/>
          <p:nvPr/>
        </p:nvSpPr>
        <p:spPr>
          <a:xfrm>
            <a:off x="1483315" y="42728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92" name="타원 91">
            <a:extLst>
              <a:ext uri="{FF2B5EF4-FFF2-40B4-BE49-F238E27FC236}">
                <a16:creationId xmlns:a16="http://schemas.microsoft.com/office/drawing/2014/main" id="{37A7FF4F-0EAA-1463-560A-D5EC24416103}"/>
              </a:ext>
            </a:extLst>
          </p:cNvPr>
          <p:cNvSpPr/>
          <p:nvPr/>
        </p:nvSpPr>
        <p:spPr>
          <a:xfrm>
            <a:off x="4560669" y="232650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3" name="직사각형 2"/>
          <p:cNvSpPr/>
          <p:nvPr/>
        </p:nvSpPr>
        <p:spPr>
          <a:xfrm>
            <a:off x="3873342" y="1925492"/>
            <a:ext cx="2588976" cy="372410"/>
          </a:xfrm>
          <a:prstGeom prst="rect">
            <a:avLst/>
          </a:prstGeom>
          <a:noFill/>
          <a:ln w="190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a:extLst>
              <a:ext uri="{FF2B5EF4-FFF2-40B4-BE49-F238E27FC236}">
                <a16:creationId xmlns:a16="http://schemas.microsoft.com/office/drawing/2014/main" id="{37A7FF4F-0EAA-1463-560A-D5EC24416103}"/>
              </a:ext>
            </a:extLst>
          </p:cNvPr>
          <p:cNvSpPr/>
          <p:nvPr/>
        </p:nvSpPr>
        <p:spPr>
          <a:xfrm>
            <a:off x="4635957" y="254102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3-1</a:t>
            </a:r>
            <a:endParaRPr lang="ko-KR" altLang="en-US" sz="600" b="1" dirty="0"/>
          </a:p>
        </p:txBody>
      </p:sp>
      <p:sp>
        <p:nvSpPr>
          <p:cNvPr id="91" name="타원 90">
            <a:extLst>
              <a:ext uri="{FF2B5EF4-FFF2-40B4-BE49-F238E27FC236}">
                <a16:creationId xmlns:a16="http://schemas.microsoft.com/office/drawing/2014/main" id="{37A7FF4F-0EAA-1463-560A-D5EC24416103}"/>
              </a:ext>
            </a:extLst>
          </p:cNvPr>
          <p:cNvSpPr/>
          <p:nvPr/>
        </p:nvSpPr>
        <p:spPr>
          <a:xfrm>
            <a:off x="4569166" y="184904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1-1</a:t>
            </a:r>
            <a:endParaRPr lang="ko-KR" altLang="en-US" sz="600" b="1" dirty="0"/>
          </a:p>
        </p:txBody>
      </p:sp>
      <p:sp>
        <p:nvSpPr>
          <p:cNvPr id="94" name="타원 93">
            <a:extLst>
              <a:ext uri="{FF2B5EF4-FFF2-40B4-BE49-F238E27FC236}">
                <a16:creationId xmlns:a16="http://schemas.microsoft.com/office/drawing/2014/main" id="{37A7FF4F-0EAA-1463-560A-D5EC24416103}"/>
              </a:ext>
            </a:extLst>
          </p:cNvPr>
          <p:cNvSpPr/>
          <p:nvPr/>
        </p:nvSpPr>
        <p:spPr>
          <a:xfrm>
            <a:off x="1483315" y="455508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95" name="타원 94">
            <a:extLst>
              <a:ext uri="{FF2B5EF4-FFF2-40B4-BE49-F238E27FC236}">
                <a16:creationId xmlns:a16="http://schemas.microsoft.com/office/drawing/2014/main" id="{37A7FF4F-0EAA-1463-560A-D5EC24416103}"/>
              </a:ext>
            </a:extLst>
          </p:cNvPr>
          <p:cNvSpPr/>
          <p:nvPr/>
        </p:nvSpPr>
        <p:spPr>
          <a:xfrm>
            <a:off x="4554893" y="209012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1-2</a:t>
            </a:r>
            <a:endParaRPr lang="ko-KR" altLang="en-US" sz="600" b="1" dirty="0"/>
          </a:p>
        </p:txBody>
      </p:sp>
    </p:spTree>
    <p:extLst>
      <p:ext uri="{BB962C8B-B14F-4D97-AF65-F5344CB8AC3E}">
        <p14:creationId xmlns:p14="http://schemas.microsoft.com/office/powerpoint/2010/main" val="349272812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보증금면제사유 데이터</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800" dirty="0">
                <a:latin typeface="+mn-ea"/>
              </a:rPr>
              <a:t>입찰참가신청서작성 </a:t>
            </a:r>
            <a:r>
              <a:rPr lang="en-US" altLang="ko-KR" sz="800" dirty="0">
                <a:latin typeface="+mn-ea"/>
              </a:rPr>
              <a:t>– </a:t>
            </a:r>
            <a:r>
              <a:rPr lang="ko-KR" altLang="en-US" sz="800" dirty="0" smtClean="0">
                <a:latin typeface="+mn-ea"/>
              </a:rPr>
              <a:t>보증금면제사유상세</a:t>
            </a:r>
            <a:endParaRPr lang="ko-KR" altLang="en-US" sz="8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보증금면제사유 설명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보증금면제사유</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275990"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보증금 면제 사유 상세 설명</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2401096"/>
            <a:ext cx="2473940" cy="4201150"/>
          </a:xfrm>
          <a:prstGeom prst="rect">
            <a:avLst/>
          </a:prstGeom>
          <a:noFill/>
        </p:spPr>
        <p:txBody>
          <a:bodyPr wrap="square" lIns="0" tIns="0" rIns="0" bIns="0" rtlCol="0">
            <a:spAutoFit/>
          </a:bodyPr>
          <a:lstStyle/>
          <a:p>
            <a:pPr marL="228600" indent="-228600">
              <a:buFontTx/>
              <a:buAutoNum type="arabicPeriod"/>
            </a:pPr>
            <a:r>
              <a:rPr lang="en-US" altLang="ko-KR" sz="700" b="1" dirty="0"/>
              <a:t>1</a:t>
            </a:r>
            <a:r>
              <a:rPr lang="ko-KR" altLang="en-US" sz="700" b="1" dirty="0"/>
              <a:t>호 </a:t>
            </a:r>
            <a:r>
              <a:rPr lang="en-US" altLang="ko-KR" sz="700" b="1" dirty="0"/>
              <a:t>: </a:t>
            </a:r>
            <a:r>
              <a:rPr lang="ko-KR" altLang="en-US" sz="700" b="1" dirty="0" err="1"/>
              <a:t>국가기관및지방자치단체</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1</a:t>
            </a:r>
            <a:r>
              <a:rPr lang="ko-KR" altLang="en-US" sz="700" dirty="0"/>
              <a:t>호 </a:t>
            </a:r>
            <a:r>
              <a:rPr lang="en-US" altLang="ko-KR" sz="700" dirty="0"/>
              <a:t>: </a:t>
            </a:r>
            <a:r>
              <a:rPr lang="ko-KR" altLang="en-US" sz="700" dirty="0"/>
              <a:t>국가기관 및 지방자치단체</a:t>
            </a:r>
          </a:p>
          <a:p>
            <a:pPr marL="228600" indent="-228600">
              <a:buAutoNum type="arabicPeriod"/>
            </a:pPr>
            <a:endParaRPr lang="en-US" altLang="ko-KR" sz="700" dirty="0">
              <a:solidFill>
                <a:srgbClr val="000000"/>
              </a:solidFill>
              <a:latin typeface="Consolas" panose="020B0609020204030204" pitchFamily="49" charset="0"/>
            </a:endParaRPr>
          </a:p>
          <a:p>
            <a:pPr marL="228600" indent="-228600">
              <a:buAutoNum type="arabicPeriod"/>
            </a:pPr>
            <a:r>
              <a:rPr lang="en-US" altLang="ko-KR" sz="700" b="1" dirty="0"/>
              <a:t>2</a:t>
            </a:r>
            <a:r>
              <a:rPr lang="ko-KR" altLang="en-US" sz="700" b="1" dirty="0"/>
              <a:t>호 </a:t>
            </a:r>
            <a:r>
              <a:rPr lang="en-US" altLang="ko-KR" sz="700" b="1" dirty="0"/>
              <a:t>: </a:t>
            </a:r>
            <a:r>
              <a:rPr lang="ko-KR" altLang="en-US" sz="700" b="1" dirty="0"/>
              <a:t>공공기관</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2</a:t>
            </a:r>
            <a:r>
              <a:rPr lang="ko-KR" altLang="en-US" sz="700" dirty="0"/>
              <a:t>호 </a:t>
            </a:r>
            <a:r>
              <a:rPr lang="en-US" altLang="ko-KR" sz="700" dirty="0"/>
              <a:t>: </a:t>
            </a:r>
            <a:r>
              <a:rPr lang="ko-KR" altLang="en-US" sz="700" dirty="0"/>
              <a:t>「공공기관의 운영에 관한 </a:t>
            </a:r>
            <a:r>
              <a:rPr lang="ko-KR" altLang="en-US" sz="700" dirty="0" err="1"/>
              <a:t>법률」에</a:t>
            </a:r>
            <a:r>
              <a:rPr lang="ko-KR" altLang="en-US" sz="700" dirty="0"/>
              <a:t> 따른 공공기관</a:t>
            </a:r>
            <a:endParaRPr lang="en-US" altLang="ko-KR" sz="700" dirty="0"/>
          </a:p>
          <a:p>
            <a:pPr marL="228600" indent="-228600">
              <a:buAutoNum type="arabicPeriod"/>
            </a:pPr>
            <a:endParaRPr lang="en-US" altLang="ko-KR" sz="700" dirty="0"/>
          </a:p>
          <a:p>
            <a:pPr marL="228600" indent="-228600">
              <a:buFontTx/>
              <a:buAutoNum type="arabicPeriod"/>
            </a:pPr>
            <a:r>
              <a:rPr lang="en-US" altLang="ko-KR" sz="700" b="1" dirty="0"/>
              <a:t>3</a:t>
            </a:r>
            <a:r>
              <a:rPr lang="ko-KR" altLang="en-US" sz="700" b="1" dirty="0"/>
              <a:t>호 </a:t>
            </a:r>
            <a:r>
              <a:rPr lang="en-US" altLang="ko-KR" sz="700" b="1" dirty="0"/>
              <a:t>: </a:t>
            </a:r>
            <a:r>
              <a:rPr lang="ko-KR" altLang="en-US" sz="700" b="1" dirty="0"/>
              <a:t>정부출연법인</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3</a:t>
            </a:r>
            <a:r>
              <a:rPr lang="ko-KR" altLang="en-US" sz="700" dirty="0"/>
              <a:t>호 </a:t>
            </a:r>
            <a:r>
              <a:rPr lang="en-US" altLang="ko-KR" sz="700" dirty="0"/>
              <a:t>: </a:t>
            </a:r>
            <a:r>
              <a:rPr lang="ko-KR" altLang="en-US" sz="700" dirty="0"/>
              <a:t>정부가 기본재산의 </a:t>
            </a:r>
            <a:r>
              <a:rPr lang="en-US" altLang="ko-KR" sz="700" dirty="0"/>
              <a:t>100</a:t>
            </a:r>
            <a:r>
              <a:rPr lang="ko-KR" altLang="en-US" sz="700" dirty="0"/>
              <a:t>분의 </a:t>
            </a:r>
            <a:r>
              <a:rPr lang="en-US" altLang="ko-KR" sz="700" dirty="0"/>
              <a:t>50</a:t>
            </a:r>
            <a:r>
              <a:rPr lang="ko-KR" altLang="en-US" sz="700" dirty="0"/>
              <a:t>이상을 출연</a:t>
            </a:r>
            <a:r>
              <a:rPr lang="en-US" altLang="ko-KR" sz="700" dirty="0"/>
              <a:t>(</a:t>
            </a:r>
            <a:r>
              <a:rPr lang="ko-KR" altLang="en-US" sz="700" dirty="0"/>
              <a:t>법률의 규정에 의하여 귀속시킨 경우를 포함한다</a:t>
            </a:r>
            <a:r>
              <a:rPr lang="en-US" altLang="ko-KR" sz="700" dirty="0"/>
              <a:t>. </a:t>
            </a:r>
            <a:r>
              <a:rPr lang="ko-KR" altLang="en-US" sz="700" dirty="0"/>
              <a:t>이하 같다</a:t>
            </a:r>
            <a:r>
              <a:rPr lang="en-US" altLang="ko-KR" sz="700" dirty="0"/>
              <a:t>)</a:t>
            </a:r>
            <a:r>
              <a:rPr lang="ko-KR" altLang="en-US" sz="700" dirty="0"/>
              <a:t>한 법인</a:t>
            </a:r>
            <a:endParaRPr lang="en-US" altLang="ko-KR" sz="700" dirty="0"/>
          </a:p>
          <a:p>
            <a:pPr marL="228600" indent="-228600">
              <a:buAutoNum type="arabicPeriod"/>
            </a:pPr>
            <a:endParaRPr lang="en-US" altLang="ko-KR" sz="700" dirty="0">
              <a:latin typeface="맑은 고딕" panose="020B0503020000020004" pitchFamily="50" charset="-127"/>
            </a:endParaRPr>
          </a:p>
          <a:p>
            <a:pPr marL="228600" indent="-228600">
              <a:buFontTx/>
              <a:buAutoNum type="arabicPeriod"/>
            </a:pPr>
            <a:r>
              <a:rPr lang="en-US" altLang="ko-KR" sz="700" b="1" dirty="0"/>
              <a:t>4</a:t>
            </a:r>
            <a:r>
              <a:rPr lang="ko-KR" altLang="en-US" sz="700" b="1" dirty="0"/>
              <a:t>호 </a:t>
            </a:r>
            <a:r>
              <a:rPr lang="en-US" altLang="ko-KR" sz="700" b="1" dirty="0"/>
              <a:t>: </a:t>
            </a:r>
            <a:r>
              <a:rPr lang="ko-KR" altLang="en-US" sz="700" b="1" dirty="0" err="1"/>
              <a:t>농협수협</a:t>
            </a:r>
            <a:r>
              <a:rPr lang="en-US" altLang="ko-KR" sz="700" b="1" dirty="0"/>
              <a:t>,</a:t>
            </a:r>
            <a:r>
              <a:rPr lang="ko-KR" altLang="en-US" sz="700" b="1" dirty="0"/>
              <a:t>산림조합</a:t>
            </a:r>
            <a:r>
              <a:rPr lang="en-US" altLang="ko-KR" sz="700" b="1" dirty="0"/>
              <a:t>,</a:t>
            </a:r>
            <a:r>
              <a:rPr lang="ko-KR" altLang="en-US" sz="700" b="1" dirty="0" err="1"/>
              <a:t>중소기업협동조합및중앙회</a:t>
            </a:r>
            <a:r>
              <a:rPr lang="en-US" altLang="ko-KR" sz="700" b="1" dirty="0"/>
              <a:t>,</a:t>
            </a:r>
            <a:r>
              <a:rPr lang="ko-KR" altLang="en-US" sz="700" b="1" dirty="0"/>
              <a:t>한국농어촌공사</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4</a:t>
            </a:r>
            <a:r>
              <a:rPr lang="ko-KR" altLang="en-US" sz="700" dirty="0"/>
              <a:t>호 </a:t>
            </a:r>
            <a:r>
              <a:rPr lang="en-US" altLang="ko-KR" sz="700" dirty="0"/>
              <a:t>: </a:t>
            </a:r>
            <a:r>
              <a:rPr lang="ko-KR" altLang="en-US" sz="700" dirty="0"/>
              <a:t>「</a:t>
            </a:r>
            <a:r>
              <a:rPr lang="ko-KR" altLang="en-US" sz="700" dirty="0" err="1"/>
              <a:t>농업협동조합법」에</a:t>
            </a:r>
            <a:r>
              <a:rPr lang="ko-KR" altLang="en-US" sz="700" dirty="0"/>
              <a:t> 의한 조합</a:t>
            </a:r>
            <a:r>
              <a:rPr lang="en-US" altLang="ko-KR" sz="700" dirty="0"/>
              <a:t>·</a:t>
            </a:r>
            <a:r>
              <a:rPr lang="ko-KR" altLang="en-US" sz="700" dirty="0"/>
              <a:t>조합공동사업법인 및 그 중앙회</a:t>
            </a:r>
            <a:r>
              <a:rPr lang="en-US" altLang="ko-KR" sz="700" dirty="0"/>
              <a:t>, </a:t>
            </a:r>
            <a:r>
              <a:rPr lang="ko-KR" altLang="en-US" sz="700" dirty="0"/>
              <a:t>「</a:t>
            </a:r>
            <a:r>
              <a:rPr lang="ko-KR" altLang="en-US" sz="700" dirty="0" err="1"/>
              <a:t>수산업협동조합법」에</a:t>
            </a:r>
            <a:r>
              <a:rPr lang="ko-KR" altLang="en-US" sz="700" dirty="0"/>
              <a:t> 의한 </a:t>
            </a:r>
            <a:r>
              <a:rPr lang="ko-KR" altLang="en-US" sz="700" dirty="0" err="1"/>
              <a:t>어촌계</a:t>
            </a:r>
            <a:r>
              <a:rPr lang="en-US" altLang="ko-KR" sz="700" dirty="0"/>
              <a:t>·</a:t>
            </a:r>
            <a:r>
              <a:rPr lang="ko-KR" altLang="en-US" sz="700" dirty="0"/>
              <a:t>수산업협동조합 및 그 중앙회</a:t>
            </a:r>
            <a:r>
              <a:rPr lang="en-US" altLang="ko-KR" sz="700" dirty="0"/>
              <a:t>, </a:t>
            </a:r>
            <a:r>
              <a:rPr lang="ko-KR" altLang="en-US" sz="700" dirty="0"/>
              <a:t>「</a:t>
            </a:r>
            <a:r>
              <a:rPr lang="ko-KR" altLang="en-US" sz="700" dirty="0" err="1"/>
              <a:t>산림조합법」에</a:t>
            </a:r>
            <a:r>
              <a:rPr lang="ko-KR" altLang="en-US" sz="700" dirty="0"/>
              <a:t> 의한 산림조합 및 그 중앙회</a:t>
            </a:r>
            <a:r>
              <a:rPr lang="en-US" altLang="ko-KR" sz="700" dirty="0"/>
              <a:t>, </a:t>
            </a:r>
            <a:r>
              <a:rPr lang="ko-KR" altLang="en-US" sz="700" dirty="0"/>
              <a:t>「</a:t>
            </a:r>
            <a:r>
              <a:rPr lang="ko-KR" altLang="en-US" sz="700" dirty="0" err="1"/>
              <a:t>중소기업협동조합법」에</a:t>
            </a:r>
            <a:r>
              <a:rPr lang="ko-KR" altLang="en-US" sz="700" dirty="0"/>
              <a:t> 의한 중소기업협동조합 및 그 중앙회와 「한국농어촌공사 및 </a:t>
            </a:r>
            <a:r>
              <a:rPr lang="ko-KR" altLang="en-US" sz="700" dirty="0" err="1"/>
              <a:t>농지관리기금법」에</a:t>
            </a:r>
            <a:r>
              <a:rPr lang="ko-KR" altLang="en-US" sz="700" dirty="0"/>
              <a:t> 따른 한국농어촌공사</a:t>
            </a:r>
          </a:p>
          <a:p>
            <a:pPr marL="228600" indent="-228600">
              <a:buAutoNum type="arabicPeriod"/>
            </a:pPr>
            <a:endParaRPr lang="en-US" altLang="ko-KR" sz="700" dirty="0">
              <a:latin typeface="맑은 고딕" panose="020B0503020000020004" pitchFamily="50" charset="-127"/>
            </a:endParaRPr>
          </a:p>
          <a:p>
            <a:pPr marL="228600" indent="-228600">
              <a:buFontTx/>
              <a:buAutoNum type="arabicPeriod"/>
            </a:pPr>
            <a:r>
              <a:rPr lang="en-US" altLang="ko-KR" sz="700" b="1" dirty="0"/>
              <a:t>5</a:t>
            </a:r>
            <a:r>
              <a:rPr lang="ko-KR" altLang="en-US" sz="700" b="1" dirty="0"/>
              <a:t>호 </a:t>
            </a:r>
            <a:r>
              <a:rPr lang="en-US" altLang="ko-KR" sz="700" b="1" dirty="0"/>
              <a:t>: </a:t>
            </a:r>
            <a:r>
              <a:rPr lang="ko-KR" altLang="en-US" sz="700" b="1" dirty="0"/>
              <a:t>건설산업기본법 등에 따른 등록법인</a:t>
            </a:r>
            <a:r>
              <a:rPr lang="en-US" altLang="ko-KR" sz="700" b="1" dirty="0"/>
              <a:t>,</a:t>
            </a:r>
            <a:r>
              <a:rPr lang="ko-KR" altLang="en-US" sz="700" b="1" dirty="0"/>
              <a:t>저탄소녹색성장기본법 해당</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5</a:t>
            </a:r>
            <a:r>
              <a:rPr lang="ko-KR" altLang="en-US" sz="700" dirty="0"/>
              <a:t>호 </a:t>
            </a:r>
            <a:r>
              <a:rPr lang="en-US" altLang="ko-KR" sz="700" dirty="0"/>
              <a:t>: </a:t>
            </a:r>
            <a:r>
              <a:rPr lang="ko-KR" altLang="en-US" sz="700" dirty="0"/>
              <a:t>「건설산업기본법」</a:t>
            </a:r>
            <a:r>
              <a:rPr lang="en-US" altLang="ko-KR" sz="700" dirty="0"/>
              <a:t>·</a:t>
            </a:r>
            <a:r>
              <a:rPr lang="ko-KR" altLang="en-US" sz="700" dirty="0"/>
              <a:t>「전기공사업법」</a:t>
            </a:r>
            <a:r>
              <a:rPr lang="en-US" altLang="ko-KR" sz="700" dirty="0"/>
              <a:t>·</a:t>
            </a:r>
            <a:r>
              <a:rPr lang="ko-KR" altLang="en-US" sz="700" dirty="0"/>
              <a:t>「정보통신공사업법」</a:t>
            </a:r>
            <a:r>
              <a:rPr lang="en-US" altLang="ko-KR" sz="700" dirty="0"/>
              <a:t>·</a:t>
            </a:r>
            <a:r>
              <a:rPr lang="ko-KR" altLang="en-US" sz="700" dirty="0"/>
              <a:t>「건설폐기물의 재활용촉진에 관한 법률」</a:t>
            </a:r>
            <a:r>
              <a:rPr lang="en-US" altLang="ko-KR" sz="700" dirty="0"/>
              <a:t>·</a:t>
            </a:r>
            <a:r>
              <a:rPr lang="ko-KR" altLang="en-US" sz="700" dirty="0"/>
              <a:t>「</a:t>
            </a:r>
            <a:r>
              <a:rPr lang="ko-KR" altLang="en-US" sz="700" dirty="0" err="1"/>
              <a:t>골재채취법</a:t>
            </a:r>
            <a:r>
              <a:rPr lang="ko-KR" altLang="en-US" sz="700" dirty="0"/>
              <a:t>」 또는 「문화재수리 등에 관한 법률」 등의 법령에 의하여 </a:t>
            </a:r>
            <a:r>
              <a:rPr lang="ko-KR" altLang="en-US" sz="700" dirty="0" err="1"/>
              <a:t>등록등을</a:t>
            </a:r>
            <a:r>
              <a:rPr lang="ko-KR" altLang="en-US" sz="700" dirty="0"/>
              <a:t> 한 법인으로서 기획재정부장관이 정하는 기준에 해당되는 자</a:t>
            </a:r>
            <a:r>
              <a:rPr lang="en-US" altLang="ko-KR" sz="700" dirty="0"/>
              <a:t/>
            </a:r>
            <a:br>
              <a:rPr lang="en-US" altLang="ko-KR" sz="700" dirty="0"/>
            </a:br>
            <a:r>
              <a:rPr lang="en-US" altLang="ko-KR" sz="700" dirty="0"/>
              <a:t>5</a:t>
            </a:r>
            <a:r>
              <a:rPr lang="ko-KR" altLang="en-US" sz="700" dirty="0"/>
              <a:t>의</a:t>
            </a:r>
            <a:r>
              <a:rPr lang="en-US" altLang="ko-KR" sz="700" dirty="0"/>
              <a:t>2. </a:t>
            </a:r>
            <a:r>
              <a:rPr lang="ko-KR" altLang="en-US" sz="700" dirty="0"/>
              <a:t>「</a:t>
            </a:r>
            <a:r>
              <a:rPr lang="ko-KR" altLang="en-US" sz="700" dirty="0" err="1"/>
              <a:t>저탄소</a:t>
            </a:r>
            <a:r>
              <a:rPr lang="ko-KR" altLang="en-US" sz="700" dirty="0"/>
              <a:t> 녹색성장 기본법」 제</a:t>
            </a:r>
            <a:r>
              <a:rPr lang="en-US" altLang="ko-KR" sz="700" dirty="0"/>
              <a:t>32</a:t>
            </a:r>
            <a:r>
              <a:rPr lang="ko-KR" altLang="en-US" sz="700" dirty="0"/>
              <a:t>조제</a:t>
            </a:r>
            <a:r>
              <a:rPr lang="en-US" altLang="ko-KR" sz="700" dirty="0"/>
              <a:t>2</a:t>
            </a:r>
            <a:r>
              <a:rPr lang="ko-KR" altLang="en-US" sz="700" dirty="0"/>
              <a:t>항에 따라 녹색기술</a:t>
            </a:r>
            <a:r>
              <a:rPr lang="en-US" altLang="ko-KR" sz="700" dirty="0"/>
              <a:t>·</a:t>
            </a:r>
            <a:r>
              <a:rPr lang="ko-KR" altLang="en-US" sz="700" dirty="0" err="1"/>
              <a:t>녹색사업에</a:t>
            </a:r>
            <a:r>
              <a:rPr lang="ko-KR" altLang="en-US" sz="700" dirty="0"/>
              <a:t> 대한 적합성 인증을 받거나 녹색전문기업으로 확인을 받은 자 중 기획재정부장관이 정하는 기준에 해당하는 자</a:t>
            </a:r>
          </a:p>
          <a:p>
            <a:pPr marL="228600" indent="-228600">
              <a:buAutoNum type="arabicPeriod"/>
            </a:pPr>
            <a:endParaRPr lang="en-US" altLang="ko-KR" sz="700" dirty="0">
              <a:latin typeface="맑은 고딕" panose="020B0503020000020004" pitchFamily="50" charset="-127"/>
            </a:endParaRPr>
          </a:p>
        </p:txBody>
      </p:sp>
      <p:sp>
        <p:nvSpPr>
          <p:cNvPr id="146" name="양쪽 모서리가 둥근 사각형 145"/>
          <p:cNvSpPr/>
          <p:nvPr/>
        </p:nvSpPr>
        <p:spPr>
          <a:xfrm>
            <a:off x="3793783"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9" name="모서리가 둥근 직사각형 198"/>
          <p:cNvSpPr/>
          <p:nvPr/>
        </p:nvSpPr>
        <p:spPr>
          <a:xfrm>
            <a:off x="4879796"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00" name="그룹 199"/>
          <p:cNvGrpSpPr/>
          <p:nvPr/>
        </p:nvGrpSpPr>
        <p:grpSpPr>
          <a:xfrm>
            <a:off x="6282722" y="1773925"/>
            <a:ext cx="94010" cy="94010"/>
            <a:chOff x="6812560" y="3297172"/>
            <a:chExt cx="94010" cy="94010"/>
          </a:xfrm>
        </p:grpSpPr>
        <p:cxnSp>
          <p:nvCxnSpPr>
            <p:cNvPr id="202" name="직선 연결선 20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04" name="TextBox 203">
            <a:extLst>
              <a:ext uri="{FF2B5EF4-FFF2-40B4-BE49-F238E27FC236}">
                <a16:creationId xmlns:a16="http://schemas.microsoft.com/office/drawing/2014/main" id="{FFC49AEA-2A8F-250C-A86A-A7751D9706C3}"/>
              </a:ext>
            </a:extLst>
          </p:cNvPr>
          <p:cNvSpPr txBox="1"/>
          <p:nvPr/>
        </p:nvSpPr>
        <p:spPr>
          <a:xfrm>
            <a:off x="3922860" y="1754604"/>
            <a:ext cx="1798758" cy="138499"/>
          </a:xfrm>
          <a:prstGeom prst="rect">
            <a:avLst/>
          </a:prstGeom>
          <a:noFill/>
        </p:spPr>
        <p:txBody>
          <a:bodyPr wrap="square" lIns="0" tIns="0" rIns="0" bIns="0" rtlCol="0">
            <a:spAutoFit/>
          </a:bodyPr>
          <a:lstStyle/>
          <a:p>
            <a:r>
              <a:rPr lang="ko-KR" altLang="en-US" sz="900" dirty="0">
                <a:latin typeface="+mn-ea"/>
              </a:rPr>
              <a:t>보증금면제사유</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3783"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2860" y="2033176"/>
            <a:ext cx="2473940" cy="4201150"/>
          </a:xfrm>
          <a:prstGeom prst="rect">
            <a:avLst/>
          </a:prstGeom>
          <a:noFill/>
        </p:spPr>
        <p:txBody>
          <a:bodyPr wrap="square" lIns="0" tIns="0" rIns="0" bIns="0" rtlCol="0">
            <a:spAutoFit/>
          </a:bodyPr>
          <a:lstStyle/>
          <a:p>
            <a:pPr marL="228600" indent="-228600">
              <a:buFont typeface="+mj-lt"/>
              <a:buAutoNum type="arabicPeriod" startAt="6"/>
            </a:pPr>
            <a:r>
              <a:rPr lang="en-US" altLang="ko-KR" sz="700" b="1" dirty="0"/>
              <a:t>6</a:t>
            </a:r>
            <a:r>
              <a:rPr lang="ko-KR" altLang="en-US" sz="700" b="1" dirty="0"/>
              <a:t>호 </a:t>
            </a:r>
            <a:r>
              <a:rPr lang="en-US" altLang="ko-KR" sz="700" b="1" dirty="0"/>
              <a:t>: </a:t>
            </a:r>
            <a:r>
              <a:rPr lang="ko-KR" altLang="en-US" sz="700" b="1" dirty="0"/>
              <a:t>낙찰자로 결정된 후 계약체결을 기피할 우려가 없다고 인정되는 자</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6</a:t>
            </a:r>
            <a:r>
              <a:rPr lang="ko-KR" altLang="en-US" sz="700" dirty="0"/>
              <a:t>호 </a:t>
            </a:r>
            <a:r>
              <a:rPr lang="en-US" altLang="ko-KR" sz="700" dirty="0"/>
              <a:t>: </a:t>
            </a:r>
            <a:r>
              <a:rPr lang="ko-KR" altLang="en-US" sz="700" dirty="0"/>
              <a:t>기타 경쟁입찰에서 낙찰자로 결정된 후 계약체결을 기피할 우려가 없다고 인정되는 자</a:t>
            </a:r>
            <a:endParaRPr lang="en-US" altLang="ko-KR" sz="700" dirty="0"/>
          </a:p>
          <a:p>
            <a:pPr marL="228600" indent="-228600">
              <a:buFont typeface="+mj-lt"/>
              <a:buAutoNum type="arabicPeriod" startAt="6"/>
            </a:pPr>
            <a:endParaRPr lang="en-US" altLang="ko-KR" sz="700" dirty="0">
              <a:latin typeface="맑은 고딕" panose="020B0503020000020004" pitchFamily="50" charset="-127"/>
            </a:endParaRPr>
          </a:p>
          <a:p>
            <a:pPr marL="228600" indent="-228600">
              <a:buFont typeface="+mj-lt"/>
              <a:buAutoNum type="arabicPeriod" startAt="6"/>
            </a:pPr>
            <a:r>
              <a:rPr lang="ko-KR" altLang="en-US" sz="700" b="1" dirty="0"/>
              <a:t>물품구매</a:t>
            </a:r>
            <a:r>
              <a:rPr lang="en-US" altLang="ko-KR" sz="700" b="1" dirty="0"/>
              <a:t>(</a:t>
            </a:r>
            <a:r>
              <a:rPr lang="ko-KR" altLang="en-US" sz="700" b="1" dirty="0"/>
              <a:t>제조</a:t>
            </a:r>
            <a:r>
              <a:rPr lang="en-US" altLang="ko-KR" sz="700" b="1" dirty="0"/>
              <a:t>)</a:t>
            </a:r>
            <a:r>
              <a:rPr lang="ko-KR" altLang="en-US" sz="700" b="1" dirty="0"/>
              <a:t>입찰유의서 제</a:t>
            </a:r>
            <a:r>
              <a:rPr lang="en-US" altLang="ko-KR" sz="700" b="1" dirty="0"/>
              <a:t>6</a:t>
            </a:r>
            <a:r>
              <a:rPr lang="ko-KR" altLang="en-US" sz="700" b="1" dirty="0"/>
              <a:t>조 ④항 </a:t>
            </a:r>
            <a:r>
              <a:rPr lang="en-US" altLang="ko-KR" sz="700" b="1" dirty="0"/>
              <a:t>2</a:t>
            </a:r>
            <a:r>
              <a:rPr lang="ko-KR" altLang="en-US" sz="700" b="1" dirty="0"/>
              <a:t>호에 해당하는 법인</a:t>
            </a:r>
            <a:r>
              <a:rPr lang="en-US" altLang="ko-KR" sz="700" dirty="0"/>
              <a:t/>
            </a:r>
            <a:br>
              <a:rPr lang="en-US" altLang="ko-KR" sz="700" dirty="0"/>
            </a:br>
            <a:r>
              <a:rPr lang="ko-KR" altLang="en-US" sz="700" dirty="0" err="1"/>
              <a:t>계약예규</a:t>
            </a:r>
            <a:r>
              <a:rPr lang="ko-KR" altLang="en-US" sz="700" dirty="0"/>
              <a:t> 물품구매</a:t>
            </a:r>
            <a:r>
              <a:rPr lang="en-US" altLang="ko-KR" sz="700" dirty="0"/>
              <a:t>(</a:t>
            </a:r>
            <a:r>
              <a:rPr lang="ko-KR" altLang="en-US" sz="700" dirty="0"/>
              <a:t>제조</a:t>
            </a:r>
            <a:r>
              <a:rPr lang="en-US" altLang="ko-KR" sz="700" dirty="0"/>
              <a:t>)</a:t>
            </a:r>
            <a:r>
              <a:rPr lang="ko-KR" altLang="en-US" sz="700" dirty="0"/>
              <a:t>입찰유의서 제</a:t>
            </a:r>
            <a:r>
              <a:rPr lang="en-US" altLang="ko-KR" sz="700" dirty="0"/>
              <a:t>6</a:t>
            </a:r>
            <a:r>
              <a:rPr lang="ko-KR" altLang="en-US" sz="700" dirty="0"/>
              <a:t>조 ④항 </a:t>
            </a:r>
            <a:r>
              <a:rPr lang="en-US" altLang="ko-KR" sz="700" dirty="0"/>
              <a:t>2. </a:t>
            </a:r>
            <a:r>
              <a:rPr lang="ko-KR" altLang="en-US" sz="700" dirty="0"/>
              <a:t>「식품위생법」 또는 「</a:t>
            </a:r>
            <a:r>
              <a:rPr lang="ko-KR" altLang="en-US" sz="700" dirty="0" err="1"/>
              <a:t>약사법」등</a:t>
            </a:r>
            <a:r>
              <a:rPr lang="ko-KR" altLang="en-US" sz="700" dirty="0"/>
              <a:t> </a:t>
            </a:r>
            <a:r>
              <a:rPr lang="ko-KR" altLang="en-US" sz="700" dirty="0" err="1"/>
              <a:t>제조업관련</a:t>
            </a:r>
            <a:r>
              <a:rPr lang="ko-KR" altLang="en-US" sz="700" dirty="0"/>
              <a:t> 법령에 의하여 국가기관 등으로부터 면허</a:t>
            </a:r>
            <a:r>
              <a:rPr lang="en-US" altLang="ko-KR" sz="700" dirty="0"/>
              <a:t>·</a:t>
            </a:r>
            <a:r>
              <a:rPr lang="ko-KR" altLang="en-US" sz="700" dirty="0"/>
              <a:t>허가 등을 받았거나 등록</a:t>
            </a:r>
            <a:r>
              <a:rPr lang="en-US" altLang="ko-KR" sz="700" dirty="0"/>
              <a:t>·</a:t>
            </a:r>
            <a:r>
              <a:rPr lang="ko-KR" altLang="en-US" sz="700" dirty="0"/>
              <a:t>신고 등을 마친 자로서 입찰참가신청마감일 현재 해당 제조업을 영위하고 있는 법인이 입찰에 참가하는 경우</a:t>
            </a:r>
            <a:r>
              <a:rPr lang="en-US" altLang="ko-KR" sz="700" dirty="0"/>
              <a:t>. </a:t>
            </a:r>
            <a:r>
              <a:rPr lang="ko-KR" altLang="en-US" sz="700" dirty="0"/>
              <a:t>단</a:t>
            </a:r>
            <a:r>
              <a:rPr lang="en-US" altLang="ko-KR" sz="700" dirty="0"/>
              <a:t>, </a:t>
            </a:r>
            <a:r>
              <a:rPr lang="ko-KR" altLang="en-US" sz="700" dirty="0"/>
              <a:t>입찰신청마감일 현재 사업영위기간이 </a:t>
            </a:r>
            <a:r>
              <a:rPr lang="en-US" altLang="ko-KR" sz="700" dirty="0"/>
              <a:t>1</a:t>
            </a:r>
            <a:r>
              <a:rPr lang="ko-KR" altLang="en-US" sz="700" dirty="0"/>
              <a:t>년 미만인 법인은 입찰참가자격제한 조치를 받은 사실이 없어야 함</a:t>
            </a:r>
            <a:endParaRPr lang="en-US" altLang="ko-KR" sz="700" dirty="0"/>
          </a:p>
          <a:p>
            <a:pPr marL="228600" indent="-228600">
              <a:buFont typeface="+mj-lt"/>
              <a:buAutoNum type="arabicPeriod" startAt="6"/>
            </a:pPr>
            <a:endParaRPr lang="en-US" altLang="ko-KR" sz="700" dirty="0">
              <a:latin typeface="맑은 고딕" panose="020B0503020000020004" pitchFamily="50" charset="-127"/>
            </a:endParaRPr>
          </a:p>
          <a:p>
            <a:pPr marL="228600" indent="-228600">
              <a:buFont typeface="+mj-lt"/>
              <a:buAutoNum type="arabicPeriod" startAt="6"/>
            </a:pPr>
            <a:r>
              <a:rPr lang="ko-KR" altLang="en-US" sz="700" b="1" dirty="0"/>
              <a:t>공사입찰유의서 제</a:t>
            </a:r>
            <a:r>
              <a:rPr lang="en-US" altLang="ko-KR" sz="700" b="1" dirty="0"/>
              <a:t>7</a:t>
            </a:r>
            <a:r>
              <a:rPr lang="ko-KR" altLang="en-US" sz="700" b="1" dirty="0"/>
              <a:t>조 ⑤항 </a:t>
            </a:r>
            <a:r>
              <a:rPr lang="en-US" altLang="ko-KR" sz="700" b="1" dirty="0"/>
              <a:t>2</a:t>
            </a:r>
            <a:r>
              <a:rPr lang="ko-KR" altLang="en-US" sz="700" b="1" dirty="0"/>
              <a:t>호에 해당하는 법인</a:t>
            </a:r>
            <a:r>
              <a:rPr lang="en-US" altLang="ko-KR" sz="700" dirty="0"/>
              <a:t/>
            </a:r>
            <a:br>
              <a:rPr lang="en-US" altLang="ko-KR" sz="700" dirty="0"/>
            </a:br>
            <a:r>
              <a:rPr lang="ko-KR" altLang="en-US" sz="700" dirty="0" err="1"/>
              <a:t>계약예규</a:t>
            </a:r>
            <a:r>
              <a:rPr lang="ko-KR" altLang="en-US" sz="700" dirty="0"/>
              <a:t> 공사입찰유의서 제</a:t>
            </a:r>
            <a:r>
              <a:rPr lang="en-US" altLang="ko-KR" sz="700" dirty="0"/>
              <a:t>7</a:t>
            </a:r>
            <a:r>
              <a:rPr lang="ko-KR" altLang="en-US" sz="700" dirty="0"/>
              <a:t>조 ⑤항 </a:t>
            </a:r>
            <a:r>
              <a:rPr lang="en-US" altLang="ko-KR" sz="700" dirty="0"/>
              <a:t>2. </a:t>
            </a:r>
            <a:r>
              <a:rPr lang="ko-KR" altLang="en-US" sz="700" dirty="0"/>
              <a:t>「건설산업기본법」</a:t>
            </a:r>
            <a:r>
              <a:rPr lang="en-US" altLang="ko-KR" sz="700" dirty="0"/>
              <a:t>·</a:t>
            </a:r>
            <a:r>
              <a:rPr lang="ko-KR" altLang="en-US" sz="700" dirty="0"/>
              <a:t>「전기공사업법」</a:t>
            </a:r>
            <a:r>
              <a:rPr lang="en-US" altLang="ko-KR" sz="700" dirty="0"/>
              <a:t>·</a:t>
            </a:r>
            <a:r>
              <a:rPr lang="ko-KR" altLang="en-US" sz="700" dirty="0"/>
              <a:t>「정보통신공사업법」 또는 「</a:t>
            </a:r>
            <a:r>
              <a:rPr lang="ko-KR" altLang="en-US" sz="700" dirty="0" err="1"/>
              <a:t>소방시설공사업법」등에</a:t>
            </a:r>
            <a:r>
              <a:rPr lang="ko-KR" altLang="en-US" sz="700" dirty="0"/>
              <a:t> 의하여 국가 또는 지방자치단체</a:t>
            </a:r>
            <a:r>
              <a:rPr lang="en-US" altLang="ko-KR" sz="700" dirty="0"/>
              <a:t>(</a:t>
            </a:r>
            <a:r>
              <a:rPr lang="ko-KR" altLang="en-US" sz="700" dirty="0"/>
              <a:t>이하 </a:t>
            </a:r>
            <a:r>
              <a:rPr lang="en-US" altLang="ko-KR" sz="700" dirty="0"/>
              <a:t>"</a:t>
            </a:r>
            <a:r>
              <a:rPr lang="ko-KR" altLang="en-US" sz="700" dirty="0"/>
              <a:t>국가기관 등</a:t>
            </a:r>
            <a:r>
              <a:rPr lang="en-US" altLang="ko-KR" sz="700" dirty="0"/>
              <a:t>"</a:t>
            </a:r>
            <a:r>
              <a:rPr lang="ko-KR" altLang="en-US" sz="700" dirty="0"/>
              <a:t>이라 한다</a:t>
            </a:r>
            <a:r>
              <a:rPr lang="en-US" altLang="ko-KR" sz="700" dirty="0"/>
              <a:t>)</a:t>
            </a:r>
            <a:r>
              <a:rPr lang="ko-KR" altLang="en-US" sz="700" dirty="0"/>
              <a:t>로부터 등록 등을 받아 입찰신청마감일 현재 해당 공사관련법령에 의한 사업을 영위하고 있는 법인이 입찰에 참가하는 경우 단</a:t>
            </a:r>
            <a:r>
              <a:rPr lang="en-US" altLang="ko-KR" sz="700" dirty="0"/>
              <a:t>, </a:t>
            </a:r>
            <a:r>
              <a:rPr lang="ko-KR" altLang="en-US" sz="700" dirty="0"/>
              <a:t>입찰신청마감일 현재 사업영위기간이 </a:t>
            </a:r>
            <a:r>
              <a:rPr lang="en-US" altLang="ko-KR" sz="700" dirty="0"/>
              <a:t>1</a:t>
            </a:r>
            <a:r>
              <a:rPr lang="ko-KR" altLang="en-US" sz="700" dirty="0"/>
              <a:t>년 미만인 법인은 입찰참가자격제한 조치를 받은 사실이 없어야 함</a:t>
            </a:r>
            <a:r>
              <a:rPr lang="en-US" altLang="ko-KR" sz="700" dirty="0"/>
              <a:t>.</a:t>
            </a:r>
            <a:endParaRPr lang="ko-KR" altLang="en-US" sz="700" dirty="0"/>
          </a:p>
          <a:p>
            <a:pPr marL="228600" indent="-228600">
              <a:buFont typeface="+mj-lt"/>
              <a:buAutoNum type="arabicPeriod" startAt="6"/>
            </a:pPr>
            <a:endParaRPr lang="en-US" altLang="ko-KR" sz="700" dirty="0">
              <a:latin typeface="맑은 고딕" panose="020B0503020000020004" pitchFamily="50" charset="-127"/>
            </a:endParaRPr>
          </a:p>
          <a:p>
            <a:pPr marL="228600" indent="-228600">
              <a:buFont typeface="+mj-lt"/>
              <a:buAutoNum type="arabicPeriod" startAt="6"/>
            </a:pPr>
            <a:r>
              <a:rPr lang="ko-KR" altLang="en-US" sz="700" b="1" dirty="0"/>
              <a:t>용역입찰유의서 제</a:t>
            </a:r>
            <a:r>
              <a:rPr lang="en-US" altLang="ko-KR" sz="700" b="1" dirty="0"/>
              <a:t>6</a:t>
            </a:r>
            <a:r>
              <a:rPr lang="ko-KR" altLang="en-US" sz="700" b="1" dirty="0"/>
              <a:t>조 ④항 </a:t>
            </a:r>
            <a:r>
              <a:rPr lang="en-US" altLang="ko-KR" sz="700" b="1" dirty="0"/>
              <a:t>2</a:t>
            </a:r>
            <a:r>
              <a:rPr lang="ko-KR" altLang="en-US" sz="700" b="1" dirty="0"/>
              <a:t>호에 해당하는 법인</a:t>
            </a:r>
            <a:r>
              <a:rPr lang="en-US" altLang="ko-KR" sz="700" dirty="0"/>
              <a:t/>
            </a:r>
            <a:br>
              <a:rPr lang="en-US" altLang="ko-KR" sz="700" dirty="0"/>
            </a:br>
            <a:r>
              <a:rPr lang="ko-KR" altLang="en-US" sz="700" dirty="0" err="1"/>
              <a:t>계약예규</a:t>
            </a:r>
            <a:r>
              <a:rPr lang="ko-KR" altLang="en-US" sz="700" dirty="0"/>
              <a:t> 용역입찰유의서 제</a:t>
            </a:r>
            <a:r>
              <a:rPr lang="en-US" altLang="ko-KR" sz="700" dirty="0"/>
              <a:t>6</a:t>
            </a:r>
            <a:r>
              <a:rPr lang="ko-KR" altLang="en-US" sz="700" dirty="0"/>
              <a:t>조 ④항 </a:t>
            </a:r>
            <a:r>
              <a:rPr lang="en-US" altLang="ko-KR" sz="700" dirty="0"/>
              <a:t>2.</a:t>
            </a:r>
            <a:r>
              <a:rPr lang="ko-KR" altLang="en-US" sz="700" dirty="0"/>
              <a:t>「건설기술관리법」</a:t>
            </a:r>
            <a:r>
              <a:rPr lang="en-US" altLang="ko-KR" sz="700" dirty="0"/>
              <a:t>·</a:t>
            </a:r>
            <a:r>
              <a:rPr lang="ko-KR" altLang="en-US" sz="700" dirty="0"/>
              <a:t>「엔지니어링기술진흥법」 또는 「건설폐기물의 재활용촉진에 관한 법률」 등 해당 용역관련법령에 의하여 국가기관 등으로부터 면허</a:t>
            </a:r>
            <a:r>
              <a:rPr lang="en-US" altLang="ko-KR" sz="700" dirty="0"/>
              <a:t>·</a:t>
            </a:r>
            <a:r>
              <a:rPr lang="ko-KR" altLang="en-US" sz="700" dirty="0"/>
              <a:t>허가 등을 받았거나 등록</a:t>
            </a:r>
            <a:r>
              <a:rPr lang="en-US" altLang="ko-KR" sz="700" dirty="0"/>
              <a:t>·</a:t>
            </a:r>
            <a:r>
              <a:rPr lang="ko-KR" altLang="en-US" sz="700" dirty="0"/>
              <a:t>신고 등을 하고 해당 용역관련법령상의 사업</a:t>
            </a:r>
            <a:r>
              <a:rPr lang="en-US" altLang="ko-KR" sz="700" dirty="0"/>
              <a:t>(</a:t>
            </a:r>
            <a:r>
              <a:rPr lang="ko-KR" altLang="en-US" sz="700" dirty="0"/>
              <a:t>해당 용역과 관계없는 면허</a:t>
            </a:r>
            <a:r>
              <a:rPr lang="en-US" altLang="ko-KR" sz="700" dirty="0"/>
              <a:t>·</a:t>
            </a:r>
            <a:r>
              <a:rPr lang="ko-KR" altLang="en-US" sz="700" dirty="0"/>
              <a:t>허가</a:t>
            </a:r>
            <a:r>
              <a:rPr lang="en-US" altLang="ko-KR" sz="700" dirty="0"/>
              <a:t>·</a:t>
            </a:r>
            <a:r>
              <a:rPr lang="ko-KR" altLang="en-US" sz="700" dirty="0"/>
              <a:t>등록</a:t>
            </a:r>
            <a:r>
              <a:rPr lang="en-US" altLang="ko-KR" sz="700" dirty="0"/>
              <a:t>·</a:t>
            </a:r>
            <a:r>
              <a:rPr lang="ko-KR" altLang="en-US" sz="700" dirty="0"/>
              <a:t>신고 등도 해당 용역관련법령상의 면허</a:t>
            </a:r>
            <a:r>
              <a:rPr lang="en-US" altLang="ko-KR" sz="700" dirty="0"/>
              <a:t>·</a:t>
            </a:r>
            <a:r>
              <a:rPr lang="ko-KR" altLang="en-US" sz="700" dirty="0"/>
              <a:t>허가</a:t>
            </a:r>
            <a:r>
              <a:rPr lang="en-US" altLang="ko-KR" sz="700" dirty="0"/>
              <a:t>·</a:t>
            </a:r>
            <a:r>
              <a:rPr lang="ko-KR" altLang="en-US" sz="700" dirty="0"/>
              <a:t>등록</a:t>
            </a:r>
            <a:r>
              <a:rPr lang="en-US" altLang="ko-KR" sz="700" dirty="0"/>
              <a:t>·</a:t>
            </a:r>
            <a:r>
              <a:rPr lang="ko-KR" altLang="en-US" sz="700" dirty="0"/>
              <a:t>신고 등은 포함</a:t>
            </a:r>
            <a:r>
              <a:rPr lang="en-US" altLang="ko-KR" sz="700" dirty="0"/>
              <a:t>)</a:t>
            </a:r>
            <a:r>
              <a:rPr lang="ko-KR" altLang="en-US" sz="700" dirty="0"/>
              <a:t>을 입찰참가신청마감일 현재 영위하고 있는 법인이 입찰에 참가하는 경우</a:t>
            </a:r>
            <a:r>
              <a:rPr lang="en-US" altLang="ko-KR" sz="700" dirty="0"/>
              <a:t>. </a:t>
            </a:r>
            <a:r>
              <a:rPr lang="ko-KR" altLang="en-US" sz="700" dirty="0"/>
              <a:t>단</a:t>
            </a:r>
            <a:r>
              <a:rPr lang="en-US" altLang="ko-KR" sz="700" dirty="0"/>
              <a:t>, </a:t>
            </a:r>
            <a:r>
              <a:rPr lang="ko-KR" altLang="en-US" sz="700" dirty="0"/>
              <a:t>입찰신청마감일 현재 사업영위기간이 </a:t>
            </a:r>
            <a:r>
              <a:rPr lang="en-US" altLang="ko-KR" sz="700" dirty="0"/>
              <a:t>1</a:t>
            </a:r>
            <a:r>
              <a:rPr lang="ko-KR" altLang="en-US" sz="700" dirty="0"/>
              <a:t>년 미만인 법인은 입찰참가자격제한 조치를 받은 사실이 없어야 함</a:t>
            </a:r>
          </a:p>
          <a:p>
            <a:pPr marL="228600" indent="-228600">
              <a:buFont typeface="+mj-lt"/>
              <a:buAutoNum type="arabicPeriod" startAt="6"/>
            </a:pPr>
            <a:endParaRPr lang="ko-KR" altLang="en-US" sz="700" dirty="0"/>
          </a:p>
          <a:p>
            <a:pPr marL="228600" indent="-228600">
              <a:buFont typeface="+mj-lt"/>
              <a:buAutoNum type="arabicPeriod" startAt="6"/>
            </a:pPr>
            <a:endParaRPr lang="en-US" altLang="ko-KR" sz="700" dirty="0">
              <a:latin typeface="맑은 고딕" panose="020B0503020000020004" pitchFamily="50" charset="-127"/>
            </a:endParaRPr>
          </a:p>
        </p:txBody>
      </p:sp>
      <p:grpSp>
        <p:nvGrpSpPr>
          <p:cNvPr id="211" name="그룹 210"/>
          <p:cNvGrpSpPr/>
          <p:nvPr/>
        </p:nvGrpSpPr>
        <p:grpSpPr>
          <a:xfrm>
            <a:off x="3793783" y="5614711"/>
            <a:ext cx="2712027" cy="617588"/>
            <a:chOff x="675399" y="5614711"/>
            <a:chExt cx="2712027" cy="617588"/>
          </a:xfrm>
        </p:grpSpPr>
        <p:sp>
          <p:nvSpPr>
            <p:cNvPr id="213" name="직사각형 2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9" name="TextBox 22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34" name="타원 33">
            <a:extLst>
              <a:ext uri="{FF2B5EF4-FFF2-40B4-BE49-F238E27FC236}">
                <a16:creationId xmlns:a16="http://schemas.microsoft.com/office/drawing/2014/main" id="{37A7FF4F-0EAA-1463-560A-D5EC24416103}"/>
              </a:ext>
            </a:extLst>
          </p:cNvPr>
          <p:cNvSpPr/>
          <p:nvPr/>
        </p:nvSpPr>
        <p:spPr>
          <a:xfrm>
            <a:off x="589334" y="17306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63046477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공동수급업체 정보 입력</a:t>
            </a:r>
            <a:r>
              <a:rPr lang="en-US" altLang="ko-KR" dirty="0"/>
              <a:t/>
            </a:r>
            <a:br>
              <a:rPr lang="en-US" altLang="ko-KR" dirty="0"/>
            </a:br>
            <a:r>
              <a:rPr lang="ko-KR" altLang="en-US" dirty="0" err="1"/>
              <a:t>입력항목은</a:t>
            </a:r>
            <a:r>
              <a:rPr lang="ko-KR" altLang="en-US" dirty="0"/>
              <a:t> </a:t>
            </a:r>
            <a:r>
              <a:rPr lang="en-US" altLang="ko-KR" dirty="0"/>
              <a:t>input</a:t>
            </a:r>
            <a:r>
              <a:rPr lang="ko-KR" altLang="en-US" dirty="0"/>
              <a:t>으로 처리</a:t>
            </a:r>
            <a:r>
              <a:rPr lang="en-US" altLang="ko-KR" dirty="0"/>
              <a:t/>
            </a:r>
            <a:br>
              <a:rPr lang="en-US" altLang="ko-KR" dirty="0"/>
            </a:br>
            <a:r>
              <a:rPr lang="ko-KR" altLang="en-US" dirty="0"/>
              <a:t>대표 업체는 업체 삭제 불가</a:t>
            </a:r>
            <a:r>
              <a:rPr lang="en-US" altLang="ko-KR" dirty="0"/>
              <a:t/>
            </a:r>
            <a:br>
              <a:rPr lang="en-US" altLang="ko-KR" dirty="0"/>
            </a:br>
            <a:r>
              <a:rPr lang="en-US" altLang="ko-KR" dirty="0"/>
              <a:t>- </a:t>
            </a:r>
            <a:r>
              <a:rPr lang="ko-KR" altLang="en-US" dirty="0"/>
              <a:t>단일 업체는 동의</a:t>
            </a:r>
            <a:r>
              <a:rPr lang="en-US" altLang="ko-KR" dirty="0"/>
              <a:t>, </a:t>
            </a:r>
            <a:r>
              <a:rPr lang="ko-KR" altLang="en-US" dirty="0"/>
              <a:t>업체 삭제 숨김</a:t>
            </a:r>
            <a:r>
              <a:rPr lang="en-US" altLang="ko-KR" dirty="0"/>
              <a:t/>
            </a:r>
            <a:br>
              <a:rPr lang="en-US" altLang="ko-KR" dirty="0"/>
            </a:br>
            <a:r>
              <a:rPr lang="ko-KR" altLang="en-US" dirty="0"/>
              <a:t>앞서 입력된 항목이 있는 경우 그 값 표시 </a:t>
            </a:r>
            <a:r>
              <a:rPr lang="en-US" altLang="ko-KR" dirty="0"/>
              <a:t>(</a:t>
            </a:r>
            <a:r>
              <a:rPr lang="ko-KR" altLang="en-US" dirty="0"/>
              <a:t>입찰보증금 등</a:t>
            </a:r>
            <a:r>
              <a:rPr lang="en-US" altLang="ko-KR" dirty="0" smtClean="0"/>
              <a:t>)</a:t>
            </a:r>
          </a:p>
          <a:p>
            <a:pPr marL="228600" indent="-228600">
              <a:buFont typeface="+mj-lt"/>
              <a:buAutoNum type="arabicPeriod"/>
            </a:pPr>
            <a:r>
              <a:rPr lang="ko-KR" altLang="en-US" dirty="0" smtClean="0"/>
              <a:t>공통수급업체가 있는 경우 검색하여 추가 </a:t>
            </a:r>
            <a:r>
              <a:rPr lang="en-US" altLang="ko-KR" dirty="0" smtClean="0"/>
              <a:t>(</a:t>
            </a:r>
            <a:r>
              <a:rPr lang="en-US" altLang="ko-KR" dirty="0" smtClean="0">
                <a:solidFill>
                  <a:srgbClr val="000000"/>
                </a:solidFill>
                <a:latin typeface="맑은 고딕" panose="020B0503020000020004" pitchFamily="50" charset="-127"/>
              </a:rPr>
              <a:t>MUI-BD-04-P11 </a:t>
            </a:r>
            <a:r>
              <a:rPr lang="ko-KR" altLang="en-US" dirty="0">
                <a:latin typeface="+mn-ea"/>
              </a:rPr>
              <a:t>업체 </a:t>
            </a:r>
            <a:r>
              <a:rPr lang="ko-KR" altLang="en-US" dirty="0" smtClean="0">
                <a:latin typeface="+mn-ea"/>
              </a:rPr>
              <a:t>검색</a:t>
            </a:r>
            <a:r>
              <a:rPr lang="en-US" altLang="ko-KR" dirty="0" smtClean="0"/>
              <a:t>)</a:t>
            </a:r>
          </a:p>
          <a:p>
            <a:pPr marL="228600" indent="-228600">
              <a:buFont typeface="+mj-lt"/>
              <a:buAutoNum type="arabicPeriod"/>
            </a:pPr>
            <a:r>
              <a:rPr lang="ko-KR" altLang="en-US" dirty="0" smtClean="0"/>
              <a:t>신청서 작성 이후 공동수급업체가 신청서에 진입하여 동의여부를 선택</a:t>
            </a:r>
            <a:r>
              <a:rPr lang="en-US" altLang="ko-KR" dirty="0"/>
              <a:t/>
            </a:r>
            <a:br>
              <a:rPr lang="en-US" altLang="ko-KR" dirty="0"/>
            </a:br>
            <a:r>
              <a:rPr lang="ko-KR" altLang="en-US" dirty="0" smtClean="0"/>
              <a:t>입력 필드 추가</a:t>
            </a:r>
            <a:r>
              <a:rPr lang="en-US" altLang="ko-KR" dirty="0" smtClean="0"/>
              <a:t>, </a:t>
            </a:r>
            <a:r>
              <a:rPr lang="ko-KR" altLang="en-US" dirty="0" smtClean="0"/>
              <a:t>삭제</a:t>
            </a:r>
            <a:endParaRPr lang="en-US" altLang="ko-KR" dirty="0"/>
          </a:p>
          <a:p>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공동수급업체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공동수급업체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공동수급업체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MUI-BD-04-M10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27" name="타원 326">
            <a:extLst>
              <a:ext uri="{FF2B5EF4-FFF2-40B4-BE49-F238E27FC236}">
                <a16:creationId xmlns:a16="http://schemas.microsoft.com/office/drawing/2014/main" id="{37A7FF4F-0EAA-1463-560A-D5EC24416103}"/>
              </a:ext>
            </a:extLst>
          </p:cNvPr>
          <p:cNvSpPr/>
          <p:nvPr/>
        </p:nvSpPr>
        <p:spPr>
          <a:xfrm>
            <a:off x="542329" y="33750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448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28224"/>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88487" y="1628224"/>
            <a:ext cx="555764"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956375" y="1628224"/>
            <a:ext cx="655640" cy="107722"/>
          </a:xfrm>
          <a:prstGeom prst="rect">
            <a:avLst/>
          </a:prstGeom>
          <a:noFill/>
        </p:spPr>
        <p:txBody>
          <a:bodyPr wrap="square" lIns="0" tIns="0" rIns="0" bIns="0" rtlCol="0">
            <a:spAutoFit/>
          </a:bodyPr>
          <a:lstStyle/>
          <a:p>
            <a:pPr algn="ctr"/>
            <a:r>
              <a:rPr lang="en-US" altLang="ko-KR" sz="700" b="1" dirty="0">
                <a:latin typeface="+mn-ea"/>
              </a:rPr>
              <a:t>5. </a:t>
            </a:r>
            <a:r>
              <a:rPr lang="ko-KR" altLang="en-US" sz="700" b="1" dirty="0">
                <a:latin typeface="+mn-ea"/>
              </a:rPr>
              <a:t>공동수급업체</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624138" y="1628224"/>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944251" y="1844831"/>
            <a:ext cx="6798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90101"/>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34104" y="3334558"/>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공동수급업체 </a:t>
            </a:r>
            <a:r>
              <a:rPr lang="en-US" altLang="ko-KR" sz="700" dirty="0">
                <a:latin typeface="+mn-ea"/>
              </a:rPr>
              <a:t>– </a:t>
            </a:r>
            <a:r>
              <a:rPr lang="ko-KR" altLang="en-US" sz="700" dirty="0">
                <a:latin typeface="+mn-ea"/>
              </a:rPr>
              <a:t>최대 </a:t>
            </a:r>
            <a:r>
              <a:rPr lang="ko-KR" altLang="en-US" sz="700" dirty="0" err="1">
                <a:latin typeface="+mn-ea"/>
              </a:rPr>
              <a:t>협정업체</a:t>
            </a:r>
            <a:r>
              <a:rPr lang="ko-KR" altLang="en-US" sz="700" dirty="0">
                <a:latin typeface="+mn-ea"/>
              </a:rPr>
              <a:t> 수 </a:t>
            </a:r>
            <a:r>
              <a:rPr lang="en-US" altLang="ko-KR" sz="700" dirty="0">
                <a:latin typeface="+mn-ea"/>
              </a:rPr>
              <a:t>: </a:t>
            </a:r>
            <a:r>
              <a:rPr lang="en-US" altLang="ko-KR" sz="700" dirty="0">
                <a:solidFill>
                  <a:srgbClr val="FF0000"/>
                </a:solidFill>
                <a:latin typeface="+mn-ea"/>
              </a:rPr>
              <a:t>3</a:t>
            </a:r>
            <a:r>
              <a:rPr lang="en-US" altLang="ko-KR" sz="700" dirty="0">
                <a:latin typeface="+mn-ea"/>
              </a:rPr>
              <a:t> (</a:t>
            </a:r>
            <a:r>
              <a:rPr lang="ko-KR" altLang="en-US" sz="700" dirty="0" err="1">
                <a:latin typeface="+mn-ea"/>
              </a:rPr>
              <a:t>대표업체</a:t>
            </a:r>
            <a:r>
              <a:rPr lang="en-US" altLang="ko-KR" sz="700" dirty="0">
                <a:latin typeface="+mn-ea"/>
              </a:rPr>
              <a:t>+</a:t>
            </a:r>
            <a:r>
              <a:rPr lang="ko-KR" altLang="en-US" sz="700" dirty="0" err="1">
                <a:latin typeface="+mn-ea"/>
              </a:rPr>
              <a:t>구성업체수</a:t>
            </a:r>
            <a:r>
              <a:rPr lang="en-US" altLang="ko-KR" sz="700" dirty="0">
                <a:latin typeface="+mn-ea"/>
              </a:rPr>
              <a:t>) </a:t>
            </a:r>
            <a:endParaRPr lang="ko-KR" altLang="en-US" sz="700" dirty="0">
              <a:latin typeface="+mn-ea"/>
            </a:endParaRPr>
          </a:p>
        </p:txBody>
      </p:sp>
      <p:sp>
        <p:nvSpPr>
          <p:cNvPr id="169" name="직사각형 168"/>
          <p:cNvSpPr/>
          <p:nvPr/>
        </p:nvSpPr>
        <p:spPr>
          <a:xfrm>
            <a:off x="722232" y="3633240"/>
            <a:ext cx="792000" cy="2136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633239"/>
            <a:ext cx="725552" cy="2154436"/>
          </a:xfrm>
          <a:prstGeom prst="rect">
            <a:avLst/>
          </a:prstGeom>
          <a:noFill/>
        </p:spPr>
        <p:txBody>
          <a:bodyPr wrap="square" lIns="0" tIns="0" rIns="0" bIns="0" rtlCol="0">
            <a:spAutoFit/>
          </a:bodyPr>
          <a:lstStyle/>
          <a:p>
            <a:pPr>
              <a:lnSpc>
                <a:spcPct val="200000"/>
              </a:lnSpc>
            </a:pPr>
            <a:r>
              <a:rPr lang="ko-KR" altLang="en-US" sz="700" dirty="0" smtClean="0">
                <a:latin typeface="+mn-ea"/>
              </a:rPr>
              <a:t>구분</a:t>
            </a:r>
            <a:endParaRPr lang="en-US" altLang="ko-KR" sz="700" dirty="0">
              <a:latin typeface="+mn-ea"/>
            </a:endParaRPr>
          </a:p>
          <a:p>
            <a:pPr>
              <a:lnSpc>
                <a:spcPct val="200000"/>
              </a:lnSpc>
            </a:pPr>
            <a:r>
              <a:rPr lang="ko-KR" altLang="en-US" sz="700" dirty="0">
                <a:latin typeface="+mn-ea"/>
              </a:rPr>
              <a:t>공동수급업체</a:t>
            </a:r>
            <a:endParaRPr lang="en-US" altLang="ko-KR" sz="700" dirty="0">
              <a:latin typeface="+mn-ea"/>
            </a:endParaRPr>
          </a:p>
          <a:p>
            <a:pPr>
              <a:lnSpc>
                <a:spcPct val="200000"/>
              </a:lnSpc>
            </a:pPr>
            <a:r>
              <a:rPr lang="ko-KR" altLang="en-US" sz="700" dirty="0" err="1">
                <a:latin typeface="+mn-ea"/>
              </a:rPr>
              <a:t>이행방식</a:t>
            </a:r>
            <a:endParaRPr lang="en-US" altLang="ko-KR" sz="700" dirty="0">
              <a:latin typeface="+mn-ea"/>
            </a:endParaRPr>
          </a:p>
          <a:p>
            <a:pPr>
              <a:lnSpc>
                <a:spcPct val="200000"/>
              </a:lnSpc>
            </a:pPr>
            <a:r>
              <a:rPr lang="ko-KR" altLang="en-US" sz="700" dirty="0">
                <a:latin typeface="+mn-ea"/>
              </a:rPr>
              <a:t>공동분담업종</a:t>
            </a:r>
            <a:endParaRPr lang="en-US" altLang="ko-KR" sz="700" dirty="0">
              <a:latin typeface="+mn-ea"/>
            </a:endParaRPr>
          </a:p>
          <a:p>
            <a:pPr>
              <a:lnSpc>
                <a:spcPct val="200000"/>
              </a:lnSpc>
            </a:pPr>
            <a:r>
              <a:rPr lang="ko-KR" altLang="en-US" sz="700" dirty="0">
                <a:latin typeface="+mn-ea"/>
              </a:rPr>
              <a:t>출자비율</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a:latin typeface="+mn-ea"/>
              </a:rPr>
              <a:t>납부방법</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동의여부</a:t>
            </a:r>
            <a:endParaRPr lang="en-US" altLang="ko-KR" sz="700" dirty="0">
              <a:latin typeface="+mn-ea"/>
            </a:endParaRPr>
          </a:p>
          <a:p>
            <a:pPr>
              <a:lnSpc>
                <a:spcPct val="200000"/>
              </a:lnSpc>
            </a:pPr>
            <a:r>
              <a:rPr lang="ko-KR" altLang="en-US" sz="700" dirty="0">
                <a:latin typeface="+mn-ea"/>
              </a:rPr>
              <a:t>업체 삭제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633239"/>
            <a:ext cx="1784088" cy="1723549"/>
          </a:xfrm>
          <a:prstGeom prst="rect">
            <a:avLst/>
          </a:prstGeom>
          <a:noFill/>
        </p:spPr>
        <p:txBody>
          <a:bodyPr wrap="square" lIns="0" tIns="0" rIns="0" bIns="0" rtlCol="0">
            <a:spAutoFit/>
          </a:bodyPr>
          <a:lstStyle/>
          <a:p>
            <a:pPr>
              <a:lnSpc>
                <a:spcPct val="200000"/>
              </a:lnSpc>
            </a:pPr>
            <a:r>
              <a:rPr lang="ko-KR" altLang="en-US" sz="700" dirty="0">
                <a:latin typeface="+mn-ea"/>
              </a:rPr>
              <a:t>대표</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b="1"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3633239"/>
            <a:ext cx="2630093" cy="2145714"/>
            <a:chOff x="701175" y="1835481"/>
            <a:chExt cx="2630093" cy="214571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1175" y="3360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01175" y="35715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3770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1175" y="3981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9" name="모서리가 둥근 직사각형 108"/>
          <p:cNvSpPr/>
          <p:nvPr/>
        </p:nvSpPr>
        <p:spPr>
          <a:xfrm>
            <a:off x="705041" y="1961387"/>
            <a:ext cx="2652743" cy="829567"/>
          </a:xfrm>
          <a:prstGeom prst="roundRect">
            <a:avLst>
              <a:gd name="adj" fmla="val 12550"/>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59671"/>
            <a:ext cx="2475203" cy="646331"/>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r>
              <a:rPr lang="ko-KR" altLang="en-US" sz="700" dirty="0" err="1">
                <a:latin typeface="맑은 고딕" panose="020B0503020000020004" pitchFamily="50" charset="-127"/>
              </a:rPr>
              <a:t>공동수급인</a:t>
            </a:r>
            <a:r>
              <a:rPr lang="ko-KR" altLang="en-US" sz="700" dirty="0">
                <a:latin typeface="맑은 고딕" panose="020B0503020000020004" pitchFamily="50" charset="-127"/>
              </a:rPr>
              <a:t> 경우 공동수급업체란에 입찰참가신청업체</a:t>
            </a:r>
            <a:r>
              <a:rPr lang="en-US" altLang="ko-KR" sz="700" dirty="0">
                <a:latin typeface="맑은 고딕" panose="020B0503020000020004" pitchFamily="50" charset="-127"/>
              </a:rPr>
              <a:t>(</a:t>
            </a:r>
            <a:r>
              <a:rPr lang="ko-KR" altLang="en-US" sz="700" dirty="0" err="1">
                <a:latin typeface="맑은 고딕" panose="020B0503020000020004" pitchFamily="50" charset="-127"/>
              </a:rPr>
              <a:t>대표업체</a:t>
            </a:r>
            <a:r>
              <a:rPr lang="ko-KR" altLang="en-US" sz="700" dirty="0">
                <a:latin typeface="맑은 고딕" panose="020B0503020000020004" pitchFamily="50" charset="-127"/>
              </a:rPr>
              <a:t> 및 </a:t>
            </a:r>
            <a:r>
              <a:rPr lang="ko-KR" altLang="en-US" sz="700" dirty="0" err="1">
                <a:latin typeface="맑은 고딕" panose="020B0503020000020004" pitchFamily="50" charset="-127"/>
              </a:rPr>
              <a:t>구성업체</a:t>
            </a:r>
            <a:r>
              <a:rPr lang="en-US" altLang="ko-KR" sz="700" dirty="0">
                <a:latin typeface="맑은 고딕" panose="020B0503020000020004" pitchFamily="50" charset="-127"/>
              </a:rPr>
              <a:t>)</a:t>
            </a:r>
            <a:r>
              <a:rPr lang="ko-KR" altLang="en-US" sz="700" dirty="0">
                <a:latin typeface="맑은 고딕" panose="020B0503020000020004" pitchFamily="50" charset="-127"/>
              </a:rPr>
              <a:t>도 </a:t>
            </a:r>
            <a:r>
              <a:rPr lang="en-US" altLang="ko-KR" sz="700" dirty="0">
                <a:latin typeface="맑은 고딕" panose="020B0503020000020004" pitchFamily="50" charset="-127"/>
              </a:rPr>
              <a:t>[</a:t>
            </a:r>
            <a:r>
              <a:rPr lang="ko-KR" altLang="en-US" sz="700" dirty="0">
                <a:latin typeface="맑은 고딕" panose="020B0503020000020004" pitchFamily="50" charset="-127"/>
              </a:rPr>
              <a:t>추가</a:t>
            </a:r>
            <a:r>
              <a:rPr lang="en-US" altLang="ko-KR" sz="700" dirty="0">
                <a:latin typeface="맑은 고딕" panose="020B0503020000020004" pitchFamily="50" charset="-127"/>
              </a:rPr>
              <a:t>] </a:t>
            </a:r>
            <a:r>
              <a:rPr lang="ko-KR" altLang="en-US" sz="700" dirty="0">
                <a:latin typeface="맑은 고딕" panose="020B0503020000020004" pitchFamily="50" charset="-127"/>
              </a:rPr>
              <a:t>시켜야 합니다</a:t>
            </a:r>
            <a:r>
              <a:rPr lang="en-US" altLang="ko-KR" sz="700" dirty="0">
                <a:latin typeface="맑은 고딕" panose="020B0503020000020004" pitchFamily="50" charset="-127"/>
              </a:rPr>
              <a:t>.</a:t>
            </a:r>
          </a:p>
          <a:p>
            <a:r>
              <a:rPr lang="ko-KR" altLang="en-US" sz="700" dirty="0" err="1">
                <a:solidFill>
                  <a:srgbClr val="FF0000"/>
                </a:solidFill>
                <a:latin typeface="+mn-ea"/>
              </a:rPr>
              <a:t>구성업체</a:t>
            </a:r>
            <a:r>
              <a:rPr lang="ko-KR" altLang="en-US" sz="700" dirty="0">
                <a:solidFill>
                  <a:srgbClr val="FF0000"/>
                </a:solidFill>
                <a:latin typeface="+mn-ea"/>
              </a:rPr>
              <a:t> 제출서류는 </a:t>
            </a:r>
            <a:r>
              <a:rPr lang="ko-KR" altLang="en-US" sz="700" dirty="0" err="1">
                <a:solidFill>
                  <a:srgbClr val="FF0000"/>
                </a:solidFill>
                <a:latin typeface="+mn-ea"/>
              </a:rPr>
              <a:t>대표업체가</a:t>
            </a:r>
            <a:r>
              <a:rPr lang="ko-KR" altLang="en-US" sz="700" dirty="0">
                <a:solidFill>
                  <a:srgbClr val="FF0000"/>
                </a:solidFill>
                <a:latin typeface="+mn-ea"/>
              </a:rPr>
              <a:t> 참가신청서 제출시 </a:t>
            </a:r>
            <a:r>
              <a:rPr lang="ko-KR" altLang="en-US" sz="700" dirty="0" err="1">
                <a:solidFill>
                  <a:srgbClr val="FF0000"/>
                </a:solidFill>
                <a:latin typeface="+mn-ea"/>
              </a:rPr>
              <a:t>첨부해야합니다</a:t>
            </a:r>
            <a:r>
              <a:rPr lang="en-US" altLang="ko-KR" sz="700" dirty="0">
                <a:solidFill>
                  <a:srgbClr val="FF0000"/>
                </a:solidFill>
                <a:latin typeface="+mn-ea"/>
              </a:rPr>
              <a:t>. </a:t>
            </a:r>
          </a:p>
        </p:txBody>
      </p:sp>
      <p:sp>
        <p:nvSpPr>
          <p:cNvPr id="111" name="타원 110"/>
          <p:cNvSpPr/>
          <p:nvPr/>
        </p:nvSpPr>
        <p:spPr>
          <a:xfrm>
            <a:off x="789853" y="205002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98518"/>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1" name="사각형: 둥근 모서리 15">
            <a:extLst>
              <a:ext uri="{FF2B5EF4-FFF2-40B4-BE49-F238E27FC236}">
                <a16:creationId xmlns:a16="http://schemas.microsoft.com/office/drawing/2014/main" id="{E2B61CFB-AD16-68D0-8752-50D9C5E01971}"/>
              </a:ext>
            </a:extLst>
          </p:cNvPr>
          <p:cNvSpPr/>
          <p:nvPr/>
        </p:nvSpPr>
        <p:spPr>
          <a:xfrm>
            <a:off x="1561065" y="387646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1561065" y="559099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256202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6" name="타원 105"/>
          <p:cNvSpPr/>
          <p:nvPr/>
        </p:nvSpPr>
        <p:spPr>
          <a:xfrm>
            <a:off x="3124518" y="388546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8" name="사각형: 둥근 모서리 15">
            <a:extLst>
              <a:ext uri="{FF2B5EF4-FFF2-40B4-BE49-F238E27FC236}">
                <a16:creationId xmlns:a16="http://schemas.microsoft.com/office/drawing/2014/main" id="{E2B61CFB-AD16-68D0-8752-50D9C5E01971}"/>
              </a:ext>
            </a:extLst>
          </p:cNvPr>
          <p:cNvSpPr/>
          <p:nvPr/>
        </p:nvSpPr>
        <p:spPr>
          <a:xfrm>
            <a:off x="3825376" y="4126164"/>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en-US" altLang="ko-KR" sz="800" kern="0" dirty="0">
                <a:latin typeface="맑은 고딕"/>
                <a:ea typeface="맑은 고딕" panose="020B0503020000020004" pitchFamily="50" charset="-127"/>
              </a:rPr>
              <a:t>+ </a:t>
            </a:r>
            <a:r>
              <a:rPr kumimoji="1" lang="ko-KR" altLang="en-US" sz="800" kern="0" dirty="0">
                <a:latin typeface="맑은 고딕"/>
                <a:ea typeface="맑은 고딕" panose="020B0503020000020004" pitchFamily="50" charset="-127"/>
              </a:rPr>
              <a:t>추가하기</a:t>
            </a:r>
            <a:endParaRPr kumimoji="1" lang="en-US" sz="800" b="0" i="0" u="none" strike="noStrike" kern="0" cap="none" spc="0" normalizeH="0" baseline="0" noProof="0" dirty="0">
              <a:ln>
                <a:noFill/>
              </a:ln>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561065" y="452309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51" name="사각형: 둥근 모서리 15">
            <a:extLst>
              <a:ext uri="{FF2B5EF4-FFF2-40B4-BE49-F238E27FC236}">
                <a16:creationId xmlns:a16="http://schemas.microsoft.com/office/drawing/2014/main" id="{E2B61CFB-AD16-68D0-8752-50D9C5E01971}"/>
              </a:ext>
            </a:extLst>
          </p:cNvPr>
          <p:cNvSpPr/>
          <p:nvPr/>
        </p:nvSpPr>
        <p:spPr>
          <a:xfrm>
            <a:off x="1561065" y="5382052"/>
            <a:ext cx="1780918"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동의하기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55" name="직사각형 154"/>
          <p:cNvSpPr/>
          <p:nvPr/>
        </p:nvSpPr>
        <p:spPr>
          <a:xfrm>
            <a:off x="3837098" y="1915645"/>
            <a:ext cx="792000" cy="2136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3924161" y="1915644"/>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공동수급업체</a:t>
            </a:r>
            <a:endParaRPr lang="en-US" altLang="ko-KR" sz="700" dirty="0">
              <a:latin typeface="+mn-ea"/>
            </a:endParaRPr>
          </a:p>
          <a:p>
            <a:pPr>
              <a:lnSpc>
                <a:spcPct val="200000"/>
              </a:lnSpc>
            </a:pPr>
            <a:r>
              <a:rPr lang="ko-KR" altLang="en-US" sz="700" dirty="0" err="1">
                <a:latin typeface="+mn-ea"/>
              </a:rPr>
              <a:t>이행방식</a:t>
            </a:r>
            <a:endParaRPr lang="en-US" altLang="ko-KR" sz="700" dirty="0">
              <a:latin typeface="+mn-ea"/>
            </a:endParaRPr>
          </a:p>
          <a:p>
            <a:pPr>
              <a:lnSpc>
                <a:spcPct val="200000"/>
              </a:lnSpc>
            </a:pPr>
            <a:r>
              <a:rPr lang="ko-KR" altLang="en-US" sz="700" dirty="0">
                <a:latin typeface="+mn-ea"/>
              </a:rPr>
              <a:t>공동분담업종</a:t>
            </a:r>
            <a:endParaRPr lang="en-US" altLang="ko-KR" sz="700" dirty="0">
              <a:latin typeface="+mn-ea"/>
            </a:endParaRPr>
          </a:p>
          <a:p>
            <a:pPr>
              <a:lnSpc>
                <a:spcPct val="200000"/>
              </a:lnSpc>
            </a:pPr>
            <a:r>
              <a:rPr lang="ko-KR" altLang="en-US" sz="700" dirty="0">
                <a:latin typeface="+mn-ea"/>
              </a:rPr>
              <a:t>출자비율</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a:latin typeface="+mn-ea"/>
              </a:rPr>
              <a:t>납부방법</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동의여부</a:t>
            </a:r>
            <a:endParaRPr lang="en-US" altLang="ko-KR" sz="700" dirty="0">
              <a:latin typeface="+mn-ea"/>
            </a:endParaRPr>
          </a:p>
          <a:p>
            <a:pPr>
              <a:lnSpc>
                <a:spcPct val="200000"/>
              </a:lnSpc>
            </a:pPr>
            <a:r>
              <a:rPr lang="ko-KR" altLang="en-US" sz="700" dirty="0">
                <a:latin typeface="+mn-ea"/>
              </a:rPr>
              <a:t>업체 삭제</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4681010" y="1915644"/>
            <a:ext cx="1784088" cy="1723549"/>
          </a:xfrm>
          <a:prstGeom prst="rect">
            <a:avLst/>
          </a:prstGeom>
          <a:noFill/>
        </p:spPr>
        <p:txBody>
          <a:bodyPr wrap="square" lIns="0" tIns="0" rIns="0" bIns="0" rtlCol="0">
            <a:spAutoFit/>
          </a:bodyPr>
          <a:lstStyle/>
          <a:p>
            <a:pPr>
              <a:lnSpc>
                <a:spcPct val="200000"/>
              </a:lnSpc>
            </a:pPr>
            <a:r>
              <a:rPr lang="ko-KR" altLang="en-US" sz="700" dirty="0">
                <a:latin typeface="+mn-ea"/>
              </a:rPr>
              <a:t>구성</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b="1"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58" name="그룹 157"/>
          <p:cNvGrpSpPr/>
          <p:nvPr/>
        </p:nvGrpSpPr>
        <p:grpSpPr>
          <a:xfrm>
            <a:off x="3835005" y="1915644"/>
            <a:ext cx="2630093" cy="2145714"/>
            <a:chOff x="701175" y="1835481"/>
            <a:chExt cx="2630093" cy="2145714"/>
          </a:xfrm>
        </p:grpSpPr>
        <p:cxnSp>
          <p:nvCxnSpPr>
            <p:cNvPr id="159" name="직선 연결선 1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3360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1175" y="35715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1175" y="3770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3981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2" name="사각형: 둥근 모서리 15">
            <a:extLst>
              <a:ext uri="{FF2B5EF4-FFF2-40B4-BE49-F238E27FC236}">
                <a16:creationId xmlns:a16="http://schemas.microsoft.com/office/drawing/2014/main" id="{E2B61CFB-AD16-68D0-8752-50D9C5E01971}"/>
              </a:ext>
            </a:extLst>
          </p:cNvPr>
          <p:cNvSpPr/>
          <p:nvPr/>
        </p:nvSpPr>
        <p:spPr>
          <a:xfrm>
            <a:off x="4675931" y="215886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4675931" y="387340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84" name="타원 183"/>
          <p:cNvSpPr/>
          <p:nvPr/>
        </p:nvSpPr>
        <p:spPr>
          <a:xfrm>
            <a:off x="6239384" y="21678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사각형: 둥근 모서리 15">
            <a:extLst>
              <a:ext uri="{FF2B5EF4-FFF2-40B4-BE49-F238E27FC236}">
                <a16:creationId xmlns:a16="http://schemas.microsoft.com/office/drawing/2014/main" id="{E2B61CFB-AD16-68D0-8752-50D9C5E01971}"/>
              </a:ext>
            </a:extLst>
          </p:cNvPr>
          <p:cNvSpPr/>
          <p:nvPr/>
        </p:nvSpPr>
        <p:spPr>
          <a:xfrm>
            <a:off x="4675931" y="280549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4675931" y="3664457"/>
            <a:ext cx="1780918"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a:solidFill>
                  <a:srgbClr val="0070C0"/>
                </a:solidFill>
                <a:latin typeface="맑은 고딕"/>
                <a:ea typeface="맑은 고딕" panose="020B0503020000020004" pitchFamily="50" charset="-127"/>
              </a:rPr>
              <a:t>동의하기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모서리가 둥근 직사각형 140"/>
          <p:cNvSpPr/>
          <p:nvPr/>
        </p:nvSpPr>
        <p:spPr>
          <a:xfrm rot="5400000">
            <a:off x="5780626" y="415592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3835005" y="18448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3878683" y="1628224"/>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4503353" y="1628224"/>
            <a:ext cx="555764"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5071241" y="1628224"/>
            <a:ext cx="655640" cy="107722"/>
          </a:xfrm>
          <a:prstGeom prst="rect">
            <a:avLst/>
          </a:prstGeom>
          <a:noFill/>
        </p:spPr>
        <p:txBody>
          <a:bodyPr wrap="square" lIns="0" tIns="0" rIns="0" bIns="0" rtlCol="0">
            <a:spAutoFit/>
          </a:bodyPr>
          <a:lstStyle/>
          <a:p>
            <a:pPr algn="ctr"/>
            <a:r>
              <a:rPr lang="en-US" altLang="ko-KR" sz="700" b="1" dirty="0">
                <a:latin typeface="+mn-ea"/>
              </a:rPr>
              <a:t>5. </a:t>
            </a:r>
            <a:r>
              <a:rPr lang="ko-KR" altLang="en-US" sz="700" b="1" dirty="0">
                <a:latin typeface="+mn-ea"/>
              </a:rPr>
              <a:t>공동수급업체</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5739004" y="1628224"/>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5059117" y="1844831"/>
            <a:ext cx="6798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93" name="그룹 192"/>
          <p:cNvGrpSpPr/>
          <p:nvPr/>
        </p:nvGrpSpPr>
        <p:grpSpPr>
          <a:xfrm>
            <a:off x="6038601" y="1590101"/>
            <a:ext cx="422853" cy="187961"/>
            <a:chOff x="3641308" y="2234886"/>
            <a:chExt cx="422853" cy="187961"/>
          </a:xfrm>
        </p:grpSpPr>
        <p:sp>
          <p:nvSpPr>
            <p:cNvPr id="194" name="타원 19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5" name="그룹 194"/>
            <p:cNvGrpSpPr/>
            <p:nvPr/>
          </p:nvGrpSpPr>
          <p:grpSpPr>
            <a:xfrm rot="5400000" flipH="1">
              <a:off x="3679895" y="2305364"/>
              <a:ext cx="94010" cy="47005"/>
              <a:chOff x="6812560" y="3297172"/>
              <a:chExt cx="94010" cy="47005"/>
            </a:xfrm>
          </p:grpSpPr>
          <p:cxnSp>
            <p:nvCxnSpPr>
              <p:cNvPr id="200" name="직선 연결선 19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1" name="직선 연결선 20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6" name="타원 19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7" name="그룹 196"/>
            <p:cNvGrpSpPr/>
            <p:nvPr/>
          </p:nvGrpSpPr>
          <p:grpSpPr>
            <a:xfrm rot="16200000">
              <a:off x="3931564" y="2305364"/>
              <a:ext cx="94010" cy="47005"/>
              <a:chOff x="6812560" y="3297172"/>
              <a:chExt cx="94010" cy="47005"/>
            </a:xfrm>
          </p:grpSpPr>
          <p:cxnSp>
            <p:nvCxnSpPr>
              <p:cNvPr id="198" name="직선 연결선 1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9" name="직선 연결선 1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7" name="타원 106">
            <a:extLst>
              <a:ext uri="{FF2B5EF4-FFF2-40B4-BE49-F238E27FC236}">
                <a16:creationId xmlns:a16="http://schemas.microsoft.com/office/drawing/2014/main" id="{37A7FF4F-0EAA-1463-560A-D5EC24416103}"/>
              </a:ext>
            </a:extLst>
          </p:cNvPr>
          <p:cNvSpPr/>
          <p:nvPr/>
        </p:nvSpPr>
        <p:spPr>
          <a:xfrm>
            <a:off x="589334" y="389931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15" name="타원 114">
            <a:extLst>
              <a:ext uri="{FF2B5EF4-FFF2-40B4-BE49-F238E27FC236}">
                <a16:creationId xmlns:a16="http://schemas.microsoft.com/office/drawing/2014/main" id="{37A7FF4F-0EAA-1463-560A-D5EC24416103}"/>
              </a:ext>
            </a:extLst>
          </p:cNvPr>
          <p:cNvSpPr/>
          <p:nvPr/>
        </p:nvSpPr>
        <p:spPr>
          <a:xfrm>
            <a:off x="3687818" y="4014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grpSp>
        <p:nvGrpSpPr>
          <p:cNvPr id="6" name="그룹 5"/>
          <p:cNvGrpSpPr/>
          <p:nvPr/>
        </p:nvGrpSpPr>
        <p:grpSpPr>
          <a:xfrm>
            <a:off x="718889" y="2764257"/>
            <a:ext cx="2630862" cy="830997"/>
            <a:chOff x="718889" y="2996857"/>
            <a:chExt cx="2630862" cy="830997"/>
          </a:xfrm>
        </p:grpSpPr>
        <p:grpSp>
          <p:nvGrpSpPr>
            <p:cNvPr id="5" name="그룹 4"/>
            <p:cNvGrpSpPr/>
            <p:nvPr/>
          </p:nvGrpSpPr>
          <p:grpSpPr>
            <a:xfrm>
              <a:off x="718889" y="3083033"/>
              <a:ext cx="2630862" cy="622606"/>
              <a:chOff x="718889" y="3083033"/>
              <a:chExt cx="2630862" cy="622606"/>
            </a:xfrm>
          </p:grpSpPr>
          <p:sp>
            <p:nvSpPr>
              <p:cNvPr id="123" name="직사각형 122"/>
              <p:cNvSpPr/>
              <p:nvPr/>
            </p:nvSpPr>
            <p:spPr>
              <a:xfrm>
                <a:off x="718889" y="3083033"/>
                <a:ext cx="792000" cy="4356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TextBox 97">
                <a:extLst>
                  <a:ext uri="{FF2B5EF4-FFF2-40B4-BE49-F238E27FC236}">
                    <a16:creationId xmlns:a16="http://schemas.microsoft.com/office/drawing/2014/main" id="{FFC49AEA-2A8F-250C-A86A-A7751D9706C3}"/>
                  </a:ext>
                </a:extLst>
              </p:cNvPr>
              <p:cNvSpPr txBox="1"/>
              <p:nvPr/>
            </p:nvSpPr>
            <p:spPr>
              <a:xfrm>
                <a:off x="753785" y="3093612"/>
                <a:ext cx="725552" cy="612027"/>
              </a:xfrm>
              <a:prstGeom prst="rect">
                <a:avLst/>
              </a:prstGeom>
              <a:noFill/>
            </p:spPr>
            <p:txBody>
              <a:bodyPr wrap="square" lIns="0" tIns="0" rIns="0" bIns="0" rtlCol="0">
                <a:spAutoFit/>
              </a:bodyPr>
              <a:lstStyle/>
              <a:p>
                <a:pPr>
                  <a:lnSpc>
                    <a:spcPct val="200000"/>
                  </a:lnSpc>
                </a:pPr>
                <a:r>
                  <a:rPr lang="ko-KR" altLang="en-US" sz="700" dirty="0" smtClean="0">
                    <a:latin typeface="+mn-ea"/>
                  </a:rPr>
                  <a:t>입찰보증금액</a:t>
                </a:r>
                <a:endParaRPr lang="en-US" altLang="ko-KR" sz="700" dirty="0" smtClean="0">
                  <a:latin typeface="+mn-ea"/>
                </a:endParaRPr>
              </a:p>
              <a:p>
                <a:pPr>
                  <a:lnSpc>
                    <a:spcPct val="200000"/>
                  </a:lnSpc>
                </a:pPr>
                <a:r>
                  <a:rPr lang="ko-KR" altLang="en-US" sz="700" dirty="0" err="1" smtClean="0">
                    <a:latin typeface="+mn-ea"/>
                  </a:rPr>
                  <a:t>투찰금액</a:t>
                </a:r>
                <a:endParaRPr lang="en-US" altLang="ko-KR" sz="700" dirty="0" smtClean="0">
                  <a:latin typeface="+mn-ea"/>
                </a:endParaRPr>
              </a:p>
              <a:p>
                <a:pPr>
                  <a:lnSpc>
                    <a:spcPct val="200000"/>
                  </a:lnSpc>
                </a:pPr>
                <a:endParaRPr lang="en-US" altLang="ko-KR" sz="700" dirty="0">
                  <a:latin typeface="+mn-ea"/>
                </a:endParaRPr>
              </a:p>
            </p:txBody>
          </p:sp>
          <p:grpSp>
            <p:nvGrpSpPr>
              <p:cNvPr id="99" name="그룹 98"/>
              <p:cNvGrpSpPr/>
              <p:nvPr/>
            </p:nvGrpSpPr>
            <p:grpSpPr>
              <a:xfrm>
                <a:off x="719658" y="3093612"/>
                <a:ext cx="2630093" cy="429480"/>
                <a:chOff x="701175" y="1835481"/>
                <a:chExt cx="2630093" cy="429480"/>
              </a:xfrm>
            </p:grpSpPr>
            <p:cxnSp>
              <p:nvCxnSpPr>
                <p:cNvPr id="100" name="직선 연결선 9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3" name="직사각형 2"/>
            <p:cNvSpPr/>
            <p:nvPr/>
          </p:nvSpPr>
          <p:spPr>
            <a:xfrm>
              <a:off x="2281802" y="2996857"/>
              <a:ext cx="1064779" cy="830997"/>
            </a:xfrm>
            <a:prstGeom prst="rect">
              <a:avLst/>
            </a:prstGeom>
          </p:spPr>
          <p:txBody>
            <a:bodyPr wrap="none">
              <a:spAutoFit/>
            </a:bodyPr>
            <a:lstStyle/>
            <a:p>
              <a:pPr algn="r">
                <a:lnSpc>
                  <a:spcPct val="200000"/>
                </a:lnSpc>
              </a:pPr>
              <a:r>
                <a:rPr lang="en-US" altLang="ko-KR" sz="800" dirty="0">
                  <a:latin typeface="+mn-ea"/>
                </a:rPr>
                <a:t>000,000,000,000 </a:t>
              </a:r>
              <a:r>
                <a:rPr lang="ko-KR" altLang="en-US" sz="800" dirty="0" smtClean="0">
                  <a:latin typeface="+mn-ea"/>
                </a:rPr>
                <a:t>원</a:t>
              </a:r>
              <a:endParaRPr lang="en-US" altLang="ko-KR" sz="800" dirty="0" smtClean="0">
                <a:latin typeface="+mn-ea"/>
              </a:endParaRPr>
            </a:p>
            <a:p>
              <a:pPr algn="r">
                <a:lnSpc>
                  <a:spcPct val="200000"/>
                </a:lnSpc>
              </a:pPr>
              <a:r>
                <a:rPr lang="en-US" altLang="ko-KR" sz="800" dirty="0">
                  <a:latin typeface="+mn-ea"/>
                </a:rPr>
                <a:t>000,000,000,000 </a:t>
              </a:r>
              <a:r>
                <a:rPr lang="ko-KR" altLang="en-US" sz="800" dirty="0">
                  <a:latin typeface="+mn-ea"/>
                </a:rPr>
                <a:t>원</a:t>
              </a:r>
              <a:endParaRPr lang="en-US" altLang="ko-KR" sz="800" dirty="0">
                <a:latin typeface="+mn-ea"/>
              </a:endParaRPr>
            </a:p>
            <a:p>
              <a:pPr algn="r">
                <a:lnSpc>
                  <a:spcPct val="200000"/>
                </a:lnSpc>
              </a:pPr>
              <a:endParaRPr lang="en-US" altLang="ko-KR" sz="800" dirty="0">
                <a:latin typeface="+mn-ea"/>
              </a:endParaRPr>
            </a:p>
          </p:txBody>
        </p:sp>
      </p:grpSp>
      <p:sp>
        <p:nvSpPr>
          <p:cNvPr id="7" name="직사각형 6"/>
          <p:cNvSpPr/>
          <p:nvPr/>
        </p:nvSpPr>
        <p:spPr>
          <a:xfrm>
            <a:off x="7702197" y="0"/>
            <a:ext cx="2203803"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1000" dirty="0" smtClean="0">
                <a:solidFill>
                  <a:schemeClr val="bg1"/>
                </a:solidFill>
              </a:rPr>
              <a:t>대표 </a:t>
            </a:r>
            <a:r>
              <a:rPr lang="ko-KR" altLang="en-US" sz="1000" dirty="0">
                <a:solidFill>
                  <a:schemeClr val="bg1"/>
                </a:solidFill>
              </a:rPr>
              <a:t>업체도 </a:t>
            </a:r>
            <a:r>
              <a:rPr lang="ko-KR" altLang="en-US" sz="1000" dirty="0" err="1">
                <a:solidFill>
                  <a:schemeClr val="bg1"/>
                </a:solidFill>
              </a:rPr>
              <a:t>동의여부와</a:t>
            </a:r>
            <a:r>
              <a:rPr lang="ko-KR" altLang="en-US" sz="1000" dirty="0">
                <a:solidFill>
                  <a:schemeClr val="bg1"/>
                </a:solidFill>
              </a:rPr>
              <a:t> 업체삭제사용 하는지 </a:t>
            </a:r>
            <a:r>
              <a:rPr lang="ko-KR" altLang="en-US" sz="1000" dirty="0" err="1">
                <a:solidFill>
                  <a:schemeClr val="bg1"/>
                </a:solidFill>
              </a:rPr>
              <a:t>확인필요</a:t>
            </a:r>
            <a:r>
              <a:rPr lang="en-US" altLang="ko-KR" sz="1000" dirty="0" smtClean="0">
                <a:solidFill>
                  <a:schemeClr val="bg1"/>
                </a:solidFill>
              </a:rPr>
              <a:t>.</a:t>
            </a:r>
          </a:p>
        </p:txBody>
      </p:sp>
      <p:sp>
        <p:nvSpPr>
          <p:cNvPr id="8" name="직사각형 7"/>
          <p:cNvSpPr/>
          <p:nvPr/>
        </p:nvSpPr>
        <p:spPr>
          <a:xfrm>
            <a:off x="675399" y="5329312"/>
            <a:ext cx="2682385" cy="489581"/>
          </a:xfrm>
          <a:prstGeom prst="rect">
            <a:avLst/>
          </a:prstGeom>
          <a:noFill/>
          <a:ln w="190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타원 107">
            <a:extLst>
              <a:ext uri="{FF2B5EF4-FFF2-40B4-BE49-F238E27FC236}">
                <a16:creationId xmlns:a16="http://schemas.microsoft.com/office/drawing/2014/main" id="{37A7FF4F-0EAA-1463-560A-D5EC24416103}"/>
              </a:ext>
            </a:extLst>
          </p:cNvPr>
          <p:cNvSpPr/>
          <p:nvPr/>
        </p:nvSpPr>
        <p:spPr>
          <a:xfrm>
            <a:off x="589334" y="540817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25" name="직사각형 12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화면 </a:t>
            </a:r>
            <a:r>
              <a:rPr lang="ko-KR" altLang="en-US" dirty="0"/>
              <a:t>수정</a:t>
            </a:r>
          </a:p>
        </p:txBody>
      </p:sp>
      <p:sp>
        <p:nvSpPr>
          <p:cNvPr id="127" name="직사각형 12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입찰보증금、투찰금액추가</a:t>
            </a:r>
            <a:endParaRPr lang="ko-KR" altLang="en-US" sz="700" dirty="0"/>
          </a:p>
        </p:txBody>
      </p:sp>
    </p:spTree>
    <p:extLst>
      <p:ext uri="{BB962C8B-B14F-4D97-AF65-F5344CB8AC3E}">
        <p14:creationId xmlns:p14="http://schemas.microsoft.com/office/powerpoint/2010/main" val="60577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130</a:t>
            </a:fld>
            <a:endParaRPr lang="ko-KR" altLang="en-US" dirty="0"/>
          </a:p>
        </p:txBody>
      </p:sp>
      <p:sp>
        <p:nvSpPr>
          <p:cNvPr id="2" name="TextBox 1">
            <a:extLst>
              <a:ext uri="{FF2B5EF4-FFF2-40B4-BE49-F238E27FC236}">
                <a16:creationId xmlns:a16="http://schemas.microsoft.com/office/drawing/2014/main" id="{CD839BCC-0B82-C9C8-B72C-43CB65CE08CA}"/>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1.</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A426CE47-88B3-C60D-B868-5ED3F63FB2D4}"/>
              </a:ext>
            </a:extLst>
          </p:cNvPr>
          <p:cNvGraphicFramePr>
            <a:graphicFrameLocks noGrp="1"/>
          </p:cNvGraphicFramePr>
          <p:nvPr/>
        </p:nvGraphicFramePr>
        <p:xfrm>
          <a:off x="453000" y="1039042"/>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t>보증금면제사유상세설명</a:t>
                      </a:r>
                      <a:r>
                        <a:rPr lang="ko-KR" altLang="en-US" sz="800" dirty="0">
                          <a:latin typeface="+mn-ea"/>
                          <a:ea typeface="+mn-ea"/>
                        </a:rPr>
                        <a:t> 팝업 화면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Box 73">
            <a:extLst>
              <a:ext uri="{FF2B5EF4-FFF2-40B4-BE49-F238E27FC236}">
                <a16:creationId xmlns:a16="http://schemas.microsoft.com/office/drawing/2014/main" id="{3D34012B-4E55-6917-169D-4D32D7A384FC}"/>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558334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드롭다운</a:t>
            </a:r>
            <a:r>
              <a:rPr lang="ko-KR" altLang="en-US" dirty="0"/>
              <a:t> </a:t>
            </a:r>
            <a:r>
              <a:rPr lang="en-US" altLang="ko-KR" dirty="0"/>
              <a:t>2</a:t>
            </a:r>
            <a:r>
              <a:rPr lang="ko-KR" altLang="en-US" dirty="0"/>
              <a:t>가지 구성</a:t>
            </a:r>
            <a:r>
              <a:rPr lang="en-US" altLang="ko-KR" dirty="0"/>
              <a:t/>
            </a:r>
            <a:br>
              <a:rPr lang="en-US" altLang="ko-KR" dirty="0"/>
            </a:br>
            <a:r>
              <a:rPr lang="en-US" altLang="ko-KR" dirty="0"/>
              <a:t>- </a:t>
            </a:r>
            <a:r>
              <a:rPr lang="ko-KR" altLang="en-US" dirty="0" err="1"/>
              <a:t>업체명</a:t>
            </a:r>
            <a:r>
              <a:rPr lang="en-US" altLang="ko-KR" dirty="0"/>
              <a:t>, </a:t>
            </a:r>
            <a:r>
              <a:rPr lang="ko-KR" altLang="en-US" dirty="0" err="1"/>
              <a:t>사업자번호</a:t>
            </a:r>
            <a:r>
              <a:rPr lang="en-US" altLang="ko-KR" dirty="0"/>
              <a:t/>
            </a:r>
            <a:br>
              <a:rPr lang="en-US" altLang="ko-KR" dirty="0"/>
            </a:br>
            <a:r>
              <a:rPr lang="en-US" altLang="ko-KR" dirty="0"/>
              <a:t>- </a:t>
            </a:r>
            <a:r>
              <a:rPr lang="ko-KR" altLang="en-US" dirty="0"/>
              <a:t>기본값</a:t>
            </a:r>
            <a:r>
              <a:rPr lang="en-US" altLang="ko-KR" dirty="0"/>
              <a:t>: </a:t>
            </a:r>
            <a:r>
              <a:rPr lang="ko-KR" altLang="en-US" dirty="0" err="1"/>
              <a:t>업체명</a:t>
            </a:r>
            <a:endParaRPr lang="en-US" altLang="ko-KR" dirty="0"/>
          </a:p>
          <a:p>
            <a:pPr marL="228600" indent="-228600">
              <a:buFont typeface="+mj-lt"/>
              <a:buAutoNum type="arabicPeriod"/>
            </a:pPr>
            <a:r>
              <a:rPr lang="ko-KR" altLang="en-US" dirty="0" err="1"/>
              <a:t>업체명</a:t>
            </a:r>
            <a:r>
              <a:rPr lang="ko-KR" altLang="en-US" dirty="0"/>
              <a:t> </a:t>
            </a:r>
            <a:r>
              <a:rPr lang="en-US" altLang="ko-KR" dirty="0"/>
              <a:t>input</a:t>
            </a:r>
            <a:r>
              <a:rPr lang="ko-KR" altLang="en-US" dirty="0"/>
              <a:t>으로 포커스 </a:t>
            </a:r>
            <a:r>
              <a:rPr lang="ko-KR" altLang="en-US" dirty="0" err="1"/>
              <a:t>자동이동</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활성화</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동작</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스크롤</a:t>
            </a:r>
            <a:endParaRPr lang="en-US" altLang="ko-KR" dirty="0"/>
          </a:p>
          <a:p>
            <a:pPr marL="228600" indent="-228600">
              <a:buFont typeface="+mj-lt"/>
              <a:buAutoNum type="arabicPeriod"/>
            </a:pPr>
            <a:r>
              <a:rPr lang="ko-KR" altLang="en-US" dirty="0"/>
              <a:t>결과 클릭을 통해 검색 필터에 </a:t>
            </a:r>
            <a:r>
              <a:rPr lang="ko-KR" altLang="en-US" dirty="0" err="1"/>
              <a:t>지역명</a:t>
            </a:r>
            <a:r>
              <a:rPr lang="ko-KR" altLang="en-US" dirty="0"/>
              <a:t> 반영</a:t>
            </a:r>
            <a:r>
              <a:rPr lang="en-US" altLang="ko-KR" dirty="0"/>
              <a:t/>
            </a:r>
            <a:br>
              <a:rPr lang="en-US" altLang="ko-KR" dirty="0"/>
            </a:br>
            <a:r>
              <a:rPr lang="en-US" altLang="ko-KR" dirty="0"/>
              <a:t>- </a:t>
            </a:r>
            <a:r>
              <a:rPr lang="ko-KR" altLang="en-US" dirty="0"/>
              <a:t>사용자 선택 시 </a:t>
            </a:r>
            <a:r>
              <a:rPr lang="ko-KR" altLang="en-US" dirty="0" err="1"/>
              <a:t>바텀</a:t>
            </a:r>
            <a:r>
              <a:rPr lang="ko-KR" altLang="en-US" dirty="0"/>
              <a:t> 시트 닫힘</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입찰참가신청서작성 </a:t>
            </a:r>
            <a:r>
              <a:rPr lang="en-US" altLang="ko-KR" dirty="0">
                <a:latin typeface="+mn-ea"/>
              </a:rPr>
              <a:t>– </a:t>
            </a:r>
            <a:r>
              <a:rPr lang="ko-KR" altLang="en-US" dirty="0" err="1" smtClean="0">
                <a:latin typeface="+mn-ea"/>
              </a:rPr>
              <a:t>업체검색</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공동수급업체 입력화면에서 </a:t>
            </a:r>
            <a:r>
              <a:rPr lang="ko-KR" altLang="en-US" dirty="0"/>
              <a:t>업체 검색을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공동수급업체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MUI-BD-04-P11</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3011654"/>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3042051"/>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3176467"/>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3157146"/>
            <a:ext cx="1798758" cy="138499"/>
          </a:xfrm>
          <a:prstGeom prst="rect">
            <a:avLst/>
          </a:prstGeom>
          <a:noFill/>
        </p:spPr>
        <p:txBody>
          <a:bodyPr wrap="square" lIns="0" tIns="0" rIns="0" bIns="0" rtlCol="0">
            <a:spAutoFit/>
          </a:bodyPr>
          <a:lstStyle/>
          <a:p>
            <a:r>
              <a:rPr lang="ko-KR" altLang="en-US" sz="900" dirty="0">
                <a:latin typeface="+mn-ea"/>
              </a:rPr>
              <a:t>업체 검색</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341854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3557095"/>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업체</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3625408"/>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3890810"/>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a:latin typeface="+mn-ea"/>
              </a:rPr>
              <a:t>업체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타원 313"/>
          <p:cNvSpPr/>
          <p:nvPr/>
        </p:nvSpPr>
        <p:spPr>
          <a:xfrm>
            <a:off x="6240768" y="359991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3643820"/>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427422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4381244"/>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5669385" y="4670045"/>
            <a:ext cx="670770" cy="107722"/>
          </a:xfrm>
          <a:prstGeom prst="rect">
            <a:avLst/>
          </a:prstGeom>
          <a:noFill/>
        </p:spPr>
        <p:txBody>
          <a:bodyPr wrap="square" lIns="0" tIns="0" rIns="0" bIns="0" rtlCol="0">
            <a:spAutoFit/>
          </a:bodyPr>
          <a:lstStyle/>
          <a:p>
            <a:pPr algn="r"/>
            <a:r>
              <a:rPr lang="ko-KR" altLang="en-US" sz="700" b="1" dirty="0" err="1">
                <a:latin typeface="+mn-ea"/>
              </a:rPr>
              <a:t>사업자번호</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3924811" y="4670045"/>
            <a:ext cx="670770" cy="107722"/>
          </a:xfrm>
          <a:prstGeom prst="rect">
            <a:avLst/>
          </a:prstGeom>
          <a:noFill/>
        </p:spPr>
        <p:txBody>
          <a:bodyPr wrap="square" lIns="0" tIns="0" rIns="0" bIns="0" rtlCol="0">
            <a:spAutoFit/>
          </a:bodyPr>
          <a:lstStyle/>
          <a:p>
            <a:r>
              <a:rPr lang="ko-KR" altLang="en-US" sz="700" b="1" dirty="0" err="1">
                <a:latin typeface="+mn-ea"/>
              </a:rPr>
              <a:t>업체명</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455678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48754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5669385" y="4886876"/>
            <a:ext cx="670770" cy="612027"/>
          </a:xfrm>
          <a:prstGeom prst="rect">
            <a:avLst/>
          </a:prstGeom>
          <a:noFill/>
        </p:spPr>
        <p:txBody>
          <a:bodyPr wrap="square" lIns="0" tIns="0" rIns="0" bIns="0" rtlCol="0">
            <a:spAutoFit/>
          </a:bodyPr>
          <a:lstStyle/>
          <a:p>
            <a:pPr algn="r">
              <a:lnSpc>
                <a:spcPct val="200000"/>
              </a:lnSpc>
            </a:pPr>
            <a:r>
              <a:rPr lang="en-US" altLang="ko-KR" sz="700" dirty="0">
                <a:latin typeface="+mn-ea"/>
              </a:rPr>
              <a:t>123-45-67890</a:t>
            </a:r>
          </a:p>
          <a:p>
            <a:pPr algn="r">
              <a:lnSpc>
                <a:spcPct val="200000"/>
              </a:lnSpc>
            </a:pPr>
            <a:r>
              <a:rPr lang="en-US" altLang="ko-KR" sz="700" dirty="0">
                <a:latin typeface="+mn-ea"/>
              </a:rPr>
              <a:t>234-56-78901</a:t>
            </a:r>
          </a:p>
          <a:p>
            <a:pPr algn="r">
              <a:lnSpc>
                <a:spcPct val="200000"/>
              </a:lnSpc>
            </a:pPr>
            <a:r>
              <a:rPr lang="en-US" altLang="ko-KR" sz="700" dirty="0">
                <a:latin typeface="+mn-ea"/>
              </a:rPr>
              <a:t>345-67-89012</a:t>
            </a:r>
          </a:p>
        </p:txBody>
      </p:sp>
      <p:sp>
        <p:nvSpPr>
          <p:cNvPr id="325" name="TextBox 324">
            <a:extLst>
              <a:ext uri="{FF2B5EF4-FFF2-40B4-BE49-F238E27FC236}">
                <a16:creationId xmlns:a16="http://schemas.microsoft.com/office/drawing/2014/main" id="{FFC49AEA-2A8F-250C-A86A-A7751D9706C3}"/>
              </a:ext>
            </a:extLst>
          </p:cNvPr>
          <p:cNvSpPr txBox="1"/>
          <p:nvPr/>
        </p:nvSpPr>
        <p:spPr>
          <a:xfrm>
            <a:off x="3924811" y="4886876"/>
            <a:ext cx="1814470" cy="646331"/>
          </a:xfrm>
          <a:prstGeom prst="rect">
            <a:avLst/>
          </a:prstGeom>
          <a:noFill/>
        </p:spPr>
        <p:txBody>
          <a:bodyPr wrap="square" lIns="0" tIns="0" rIns="0" bIns="0" rtlCol="0">
            <a:spAutoFit/>
          </a:bodyPr>
          <a:lstStyle/>
          <a:p>
            <a:pPr>
              <a:lnSpc>
                <a:spcPct val="200000"/>
              </a:lnSpc>
            </a:pPr>
            <a:r>
              <a:rPr lang="ko-KR" altLang="en-US" sz="700" dirty="0">
                <a:latin typeface="+mn-ea"/>
              </a:rPr>
              <a:t>㈜</a:t>
            </a:r>
            <a:r>
              <a:rPr lang="ko-KR" altLang="en-US" sz="700" dirty="0" err="1">
                <a:latin typeface="+mn-ea"/>
              </a:rPr>
              <a:t>업체명</a:t>
            </a:r>
            <a:r>
              <a:rPr lang="ko-KR" altLang="en-US" sz="700" dirty="0">
                <a:latin typeface="+mn-ea"/>
              </a:rPr>
              <a:t> 표시 영역</a:t>
            </a:r>
            <a:endParaRPr lang="en-US" altLang="ko-KR" sz="700" dirty="0">
              <a:latin typeface="+mn-ea"/>
            </a:endParaRPr>
          </a:p>
          <a:p>
            <a:pPr>
              <a:lnSpc>
                <a:spcPct val="200000"/>
              </a:lnSpc>
            </a:pPr>
            <a:r>
              <a:rPr lang="ko-KR" altLang="en-US" sz="700" dirty="0">
                <a:latin typeface="+mn-ea"/>
              </a:rPr>
              <a:t>㈜</a:t>
            </a:r>
            <a:r>
              <a:rPr lang="ko-KR" altLang="en-US" sz="700" dirty="0" err="1">
                <a:latin typeface="+mn-ea"/>
              </a:rPr>
              <a:t>업체명</a:t>
            </a:r>
            <a:r>
              <a:rPr lang="ko-KR" altLang="en-US" sz="700" dirty="0">
                <a:latin typeface="+mn-ea"/>
              </a:rPr>
              <a:t> 표시 영역</a:t>
            </a:r>
            <a:endParaRPr lang="en-US" altLang="ko-KR" sz="700" dirty="0">
              <a:latin typeface="+mn-ea"/>
            </a:endParaRPr>
          </a:p>
          <a:p>
            <a:pPr>
              <a:lnSpc>
                <a:spcPct val="200000"/>
              </a:lnSpc>
            </a:pPr>
            <a:r>
              <a:rPr lang="ko-KR" altLang="en-US" sz="700" dirty="0">
                <a:latin typeface="+mn-ea"/>
              </a:rPr>
              <a:t>㈜</a:t>
            </a:r>
            <a:r>
              <a:rPr lang="ko-KR" altLang="en-US" sz="700" dirty="0" err="1">
                <a:latin typeface="+mn-ea"/>
              </a:rPr>
              <a:t>업체명</a:t>
            </a:r>
            <a:r>
              <a:rPr lang="ko-KR" altLang="en-US" sz="700" dirty="0">
                <a:latin typeface="+mn-ea"/>
              </a:rPr>
              <a:t> 표시 영역</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51179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53316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55453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4149915"/>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91074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423529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434459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510695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84" name="모서리가 둥근 직사각형 83"/>
          <p:cNvSpPr/>
          <p:nvPr/>
        </p:nvSpPr>
        <p:spPr>
          <a:xfrm>
            <a:off x="1443878" y="3862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정보를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804476" y="3930637"/>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89" name="사각형: 둥근 모서리 15">
            <a:extLst>
              <a:ext uri="{FF2B5EF4-FFF2-40B4-BE49-F238E27FC236}">
                <a16:creationId xmlns:a16="http://schemas.microsoft.com/office/drawing/2014/main" id="{E2B61CFB-AD16-68D0-8752-50D9C5E01971}"/>
              </a:ext>
            </a:extLst>
          </p:cNvPr>
          <p:cNvSpPr/>
          <p:nvPr/>
        </p:nvSpPr>
        <p:spPr>
          <a:xfrm>
            <a:off x="767702" y="4196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90" name="그룹 89"/>
          <p:cNvGrpSpPr/>
          <p:nvPr/>
        </p:nvGrpSpPr>
        <p:grpSpPr>
          <a:xfrm>
            <a:off x="3112794" y="3900610"/>
            <a:ext cx="145884" cy="145882"/>
            <a:chOff x="3112794" y="3984500"/>
            <a:chExt cx="145884" cy="145882"/>
          </a:xfrm>
        </p:grpSpPr>
        <p:sp>
          <p:nvSpPr>
            <p:cNvPr id="91" name="타원 90"/>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2" name="그룹 91"/>
            <p:cNvGrpSpPr/>
            <p:nvPr/>
          </p:nvGrpSpPr>
          <p:grpSpPr>
            <a:xfrm>
              <a:off x="3156699" y="4028404"/>
              <a:ext cx="58075" cy="58074"/>
              <a:chOff x="6812560" y="3297172"/>
              <a:chExt cx="94010" cy="94010"/>
            </a:xfrm>
          </p:grpSpPr>
          <p:cxnSp>
            <p:nvCxnSpPr>
              <p:cNvPr id="93" name="직선 연결선 92"/>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4" name="직선 연결선 93"/>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95" name="모서리가 둥근 직사각형 94"/>
          <p:cNvSpPr/>
          <p:nvPr/>
        </p:nvSpPr>
        <p:spPr>
          <a:xfrm>
            <a:off x="1443878" y="3560849"/>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tx1"/>
                </a:solidFill>
              </a:rPr>
              <a:t>업체명</a:t>
            </a:r>
            <a:endParaRPr lang="ko-KR" altLang="en-US" sz="700" dirty="0">
              <a:solidFill>
                <a:schemeClr val="tx1"/>
              </a:solidFill>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804476" y="3629162"/>
            <a:ext cx="670770" cy="107722"/>
          </a:xfrm>
          <a:prstGeom prst="rect">
            <a:avLst/>
          </a:prstGeom>
          <a:noFill/>
        </p:spPr>
        <p:txBody>
          <a:bodyPr wrap="square" lIns="0" tIns="0" rIns="0" bIns="0" rtlCol="0">
            <a:spAutoFit/>
          </a:bodyPr>
          <a:lstStyle/>
          <a:p>
            <a:r>
              <a:rPr lang="ko-KR" altLang="en-US" sz="700" dirty="0">
                <a:latin typeface="+mn-ea"/>
              </a:rPr>
              <a:t>구분</a:t>
            </a:r>
            <a:endParaRPr lang="en-US" altLang="ko-KR" sz="700" dirty="0">
              <a:latin typeface="+mn-ea"/>
            </a:endParaRPr>
          </a:p>
        </p:txBody>
      </p:sp>
      <p:grpSp>
        <p:nvGrpSpPr>
          <p:cNvPr id="97" name="그룹 96"/>
          <p:cNvGrpSpPr/>
          <p:nvPr/>
        </p:nvGrpSpPr>
        <p:grpSpPr>
          <a:xfrm>
            <a:off x="3112794" y="3666333"/>
            <a:ext cx="91438" cy="45719"/>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0" name="타원 99">
            <a:extLst>
              <a:ext uri="{FF2B5EF4-FFF2-40B4-BE49-F238E27FC236}">
                <a16:creationId xmlns:a16="http://schemas.microsoft.com/office/drawing/2014/main" id="{37A7FF4F-0EAA-1463-560A-D5EC24416103}"/>
              </a:ext>
            </a:extLst>
          </p:cNvPr>
          <p:cNvSpPr/>
          <p:nvPr/>
        </p:nvSpPr>
        <p:spPr>
          <a:xfrm>
            <a:off x="573754" y="358618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4892701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입찰참가용</a:t>
            </a:r>
            <a:r>
              <a:rPr lang="ko-KR" altLang="en-US" dirty="0"/>
              <a:t> 서류가 있는 경우 </a:t>
            </a:r>
            <a:r>
              <a:rPr lang="ko-KR" altLang="en-US" dirty="0" err="1"/>
              <a:t>파일선택을</a:t>
            </a:r>
            <a:r>
              <a:rPr lang="ko-KR" altLang="en-US" dirty="0"/>
              <a:t> 클릭하여 입찰참가 서류를 첨부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파일첨부</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MUI-BD-04-M12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2832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11715"/>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430194" y="1611715"/>
            <a:ext cx="555764" cy="107722"/>
          </a:xfrm>
          <a:prstGeom prst="rect">
            <a:avLst/>
          </a:prstGeom>
          <a:noFill/>
        </p:spPr>
        <p:txBody>
          <a:bodyPr wrap="square" lIns="0" tIns="0" rIns="0" bIns="0" rtlCol="0">
            <a:spAutoFit/>
          </a:bodyPr>
          <a:lstStyle/>
          <a:p>
            <a:pPr algn="ctr"/>
            <a:r>
              <a:rPr lang="en-US" altLang="ko-KR" sz="700" b="1" dirty="0">
                <a:latin typeface="+mn-ea"/>
              </a:rPr>
              <a:t>6. </a:t>
            </a:r>
            <a:r>
              <a:rPr lang="ko-KR" altLang="en-US" sz="700" b="1" dirty="0">
                <a:latin typeface="+mn-ea"/>
              </a:rPr>
              <a:t>파일첨부</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2007623" y="1611715"/>
            <a:ext cx="655640" cy="107722"/>
          </a:xfrm>
          <a:prstGeom prst="rect">
            <a:avLst/>
          </a:prstGeom>
          <a:noFill/>
        </p:spPr>
        <p:txBody>
          <a:bodyPr wrap="square" lIns="0" tIns="0" rIns="0" bIns="0" rtlCol="0">
            <a:spAutoFit/>
          </a:bodyPr>
          <a:lstStyle/>
          <a:p>
            <a:pPr algn="ctr"/>
            <a:r>
              <a:rPr lang="en-US" altLang="ko-KR" sz="700" dirty="0">
                <a:latin typeface="+mn-ea"/>
              </a:rPr>
              <a:t>7. </a:t>
            </a:r>
            <a:r>
              <a:rPr lang="ko-KR" altLang="en-US" sz="700" dirty="0">
                <a:latin typeface="+mn-ea"/>
              </a:rPr>
              <a:t>문의 및 동의</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455271" y="1828322"/>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73592"/>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9" name="모서리가 둥근 직사각형 108"/>
          <p:cNvSpPr/>
          <p:nvPr/>
        </p:nvSpPr>
        <p:spPr>
          <a:xfrm>
            <a:off x="705041" y="1944878"/>
            <a:ext cx="2652743" cy="1293707"/>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43162"/>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a:solidFill>
                  <a:srgbClr val="FF0000"/>
                </a:solidFill>
                <a:latin typeface="맑은 고딕" panose="020B0503020000020004" pitchFamily="50" charset="-127"/>
              </a:rPr>
              <a:t>대표 및 </a:t>
            </a:r>
            <a:r>
              <a:rPr lang="ko-KR" altLang="en-US" sz="700" dirty="0" err="1">
                <a:solidFill>
                  <a:srgbClr val="FF0000"/>
                </a:solidFill>
                <a:latin typeface="맑은 고딕" panose="020B0503020000020004" pitchFamily="50" charset="-127"/>
              </a:rPr>
              <a:t>등기임원의</a:t>
            </a:r>
            <a:r>
              <a:rPr lang="ko-KR" altLang="en-US" sz="700" dirty="0">
                <a:solidFill>
                  <a:srgbClr val="FF0000"/>
                </a:solidFill>
                <a:latin typeface="맑은 고딕" panose="020B0503020000020004" pitchFamily="50" charset="-127"/>
              </a:rPr>
              <a:t> 청렴서약서를 반드시 첨부하시기 바랍니다</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r>
              <a:rPr lang="ko-KR" altLang="en-US" sz="700" dirty="0">
                <a:solidFill>
                  <a:srgbClr val="FF0000"/>
                </a:solidFill>
                <a:latin typeface="맑은 고딕" panose="020B0503020000020004" pitchFamily="50" charset="-127"/>
              </a:rPr>
              <a:t>법인등기부등본</a:t>
            </a:r>
            <a:r>
              <a:rPr lang="en-US" altLang="ko-KR" sz="700" dirty="0">
                <a:solidFill>
                  <a:srgbClr val="FF0000"/>
                </a:solidFill>
                <a:latin typeface="맑은 고딕" panose="020B0503020000020004" pitchFamily="50" charset="-127"/>
              </a:rPr>
              <a:t>(</a:t>
            </a:r>
            <a:r>
              <a:rPr lang="ko-KR" altLang="en-US" sz="700" dirty="0">
                <a:solidFill>
                  <a:srgbClr val="FF0000"/>
                </a:solidFill>
                <a:latin typeface="맑은 고딕" panose="020B0503020000020004" pitchFamily="50" charset="-127"/>
              </a:rPr>
              <a:t>등기사항 </a:t>
            </a:r>
            <a:r>
              <a:rPr lang="ko-KR" altLang="en-US" sz="700" dirty="0" err="1">
                <a:solidFill>
                  <a:srgbClr val="FF0000"/>
                </a:solidFill>
                <a:latin typeface="맑은 고딕" panose="020B0503020000020004" pitchFamily="50" charset="-127"/>
              </a:rPr>
              <a:t>전부증명서</a:t>
            </a:r>
            <a:r>
              <a:rPr lang="en-US" altLang="ko-KR" sz="700" dirty="0">
                <a:solidFill>
                  <a:srgbClr val="FF0000"/>
                </a:solidFill>
                <a:latin typeface="맑은 고딕" panose="020B0503020000020004" pitchFamily="50" charset="-127"/>
              </a:rPr>
              <a:t>)</a:t>
            </a:r>
            <a:r>
              <a:rPr lang="ko-KR" altLang="en-US" sz="700" dirty="0">
                <a:solidFill>
                  <a:srgbClr val="FF0000"/>
                </a:solidFill>
                <a:latin typeface="맑은 고딕" panose="020B0503020000020004" pitchFamily="50" charset="-127"/>
              </a:rPr>
              <a:t>을 반드시 첨부하시기 바랍니다</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r>
              <a:rPr lang="ko-KR" altLang="en-US" sz="700" dirty="0">
                <a:latin typeface="맑은 고딕" panose="020B0503020000020004" pitchFamily="50" charset="-127"/>
              </a:rPr>
              <a:t>건당 크기 </a:t>
            </a:r>
            <a:r>
              <a:rPr lang="en-US" altLang="ko-KR" sz="700" dirty="0">
                <a:latin typeface="맑은 고딕" panose="020B0503020000020004" pitchFamily="50" charset="-127"/>
              </a:rPr>
              <a:t>10MB </a:t>
            </a:r>
            <a:r>
              <a:rPr lang="ko-KR" altLang="en-US" sz="700" dirty="0">
                <a:latin typeface="맑은 고딕" panose="020B0503020000020004" pitchFamily="50" charset="-127"/>
              </a:rPr>
              <a:t>미만 파일만 </a:t>
            </a:r>
            <a:r>
              <a:rPr lang="ko-KR" altLang="en-US" sz="700" dirty="0" err="1">
                <a:latin typeface="맑은 고딕" panose="020B0503020000020004" pitchFamily="50" charset="-127"/>
              </a:rPr>
              <a:t>첨부가능합니다</a:t>
            </a:r>
            <a:r>
              <a:rPr lang="en-US" altLang="ko-KR" sz="700" dirty="0">
                <a:latin typeface="맑은 고딕" panose="020B0503020000020004" pitchFamily="50" charset="-127"/>
              </a:rPr>
              <a:t>.</a:t>
            </a:r>
          </a:p>
          <a:p>
            <a:pPr marL="88900" indent="-88900">
              <a:buFont typeface="Arial" panose="020B0604020202020204" pitchFamily="34" charset="0"/>
              <a:buChar char="•"/>
            </a:pPr>
            <a:r>
              <a:rPr lang="ko-KR" altLang="en-US" sz="700" dirty="0">
                <a:latin typeface="맑은 고딕" panose="020B0503020000020004" pitchFamily="50" charset="-127"/>
              </a:rPr>
              <a:t>스캔 파일은 파일압축해서 업로드 부탁드립니다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a:p>
            <a:pPr marL="88900" indent="-88900">
              <a:buFont typeface="Arial" panose="020B0604020202020204" pitchFamily="34" charset="0"/>
              <a:buChar char="•"/>
            </a:pPr>
            <a:r>
              <a:rPr lang="ko-KR" altLang="en-US" sz="700" dirty="0" err="1">
                <a:solidFill>
                  <a:srgbClr val="FF0000"/>
                </a:solidFill>
                <a:latin typeface="맑은 고딕" panose="020B0503020000020004" pitchFamily="50" charset="-127"/>
              </a:rPr>
              <a:t>규격입찰서</a:t>
            </a:r>
            <a:r>
              <a:rPr lang="ko-KR" altLang="en-US" sz="700" dirty="0">
                <a:solidFill>
                  <a:srgbClr val="FF0000"/>
                </a:solidFill>
                <a:latin typeface="맑은 고딕" panose="020B0503020000020004" pitchFamily="50" charset="-127"/>
              </a:rPr>
              <a:t> 관련 </a:t>
            </a:r>
            <a:r>
              <a:rPr lang="ko-KR" altLang="en-US" sz="700" dirty="0" err="1">
                <a:solidFill>
                  <a:srgbClr val="FF0000"/>
                </a:solidFill>
                <a:latin typeface="맑은 고딕" panose="020B0503020000020004" pitchFamily="50" charset="-127"/>
              </a:rPr>
              <a:t>전자파일은</a:t>
            </a:r>
            <a:r>
              <a:rPr lang="ko-KR" altLang="en-US" sz="700" dirty="0">
                <a:solidFill>
                  <a:srgbClr val="FF0000"/>
                </a:solidFill>
                <a:latin typeface="맑은 고딕" panose="020B0503020000020004" pitchFamily="50" charset="-127"/>
              </a:rPr>
              <a:t> 입찰서 작성 시 제출해 주시기 바랍니다</a:t>
            </a:r>
            <a:r>
              <a:rPr lang="en-US" altLang="ko-KR" sz="700" dirty="0">
                <a:solidFill>
                  <a:srgbClr val="FF0000"/>
                </a:solidFill>
                <a:latin typeface="맑은 고딕" panose="020B0503020000020004" pitchFamily="50" charset="-127"/>
              </a:rPr>
              <a:t>.</a:t>
            </a:r>
            <a:endParaRPr lang="ko-KR" altLang="en-US" sz="700" dirty="0">
              <a:solidFill>
                <a:srgbClr val="FF0000"/>
              </a:solidFill>
              <a:latin typeface="맑은 고딕" panose="020B0503020000020004" pitchFamily="50" charset="-127"/>
            </a:endParaRPr>
          </a:p>
        </p:txBody>
      </p:sp>
      <p:sp>
        <p:nvSpPr>
          <p:cNvPr id="111" name="타원 110"/>
          <p:cNvSpPr/>
          <p:nvPr/>
        </p:nvSpPr>
        <p:spPr>
          <a:xfrm>
            <a:off x="789853" y="203351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82009"/>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254551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3292713"/>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401758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409210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414596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442426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449878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455264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3575096"/>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388246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388246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332358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6" name="TextBox 55">
            <a:extLst>
              <a:ext uri="{FF2B5EF4-FFF2-40B4-BE49-F238E27FC236}">
                <a16:creationId xmlns:a16="http://schemas.microsoft.com/office/drawing/2014/main" id="{FFC49AEA-2A8F-250C-A86A-A7751D9706C3}"/>
              </a:ext>
            </a:extLst>
          </p:cNvPr>
          <p:cNvSpPr txBox="1"/>
          <p:nvPr/>
        </p:nvSpPr>
        <p:spPr>
          <a:xfrm>
            <a:off x="2965403" y="388246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57" name="사각형: 둥근 모서리 15">
            <a:extLst>
              <a:ext uri="{FF2B5EF4-FFF2-40B4-BE49-F238E27FC236}">
                <a16:creationId xmlns:a16="http://schemas.microsoft.com/office/drawing/2014/main" id="{E2B61CFB-AD16-68D0-8752-50D9C5E01971}"/>
              </a:ext>
            </a:extLst>
          </p:cNvPr>
          <p:cNvSpPr/>
          <p:nvPr/>
        </p:nvSpPr>
        <p:spPr>
          <a:xfrm>
            <a:off x="2985824" y="4529068"/>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2985824" y="412238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19274435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파일첨부</a:t>
            </a:r>
            <a:r>
              <a:rPr lang="en-US" altLang="ko-KR" dirty="0"/>
              <a:t>(</a:t>
            </a:r>
            <a:r>
              <a:rPr lang="ko-KR" altLang="en-US" dirty="0"/>
              <a:t>추가</a:t>
            </a:r>
            <a:r>
              <a:rPr lang="en-US" altLang="ko-KR" dirty="0"/>
              <a:t>) </a:t>
            </a:r>
            <a:r>
              <a:rPr lang="ko-KR" altLang="en-US" dirty="0"/>
              <a:t>방식 </a:t>
            </a:r>
            <a:r>
              <a:rPr lang="ko-KR" altLang="en-US" dirty="0" smtClean="0"/>
              <a:t>선택</a:t>
            </a:r>
            <a:r>
              <a:rPr lang="en-US" altLang="ko-KR" dirty="0" smtClean="0"/>
              <a:t/>
            </a:r>
            <a:br>
              <a:rPr lang="en-US" altLang="ko-KR" dirty="0" smtClean="0"/>
            </a:br>
            <a:r>
              <a:rPr lang="en-US" altLang="ko-KR" dirty="0" smtClean="0"/>
              <a:t>1-1] </a:t>
            </a:r>
            <a:r>
              <a:rPr lang="ko-KR" altLang="en-US" dirty="0" err="1" smtClean="0"/>
              <a:t>직접업로드</a:t>
            </a:r>
            <a:r>
              <a:rPr lang="en-US" altLang="ko-KR" dirty="0" smtClean="0"/>
              <a:t/>
            </a:r>
            <a:br>
              <a:rPr lang="en-US" altLang="ko-KR" dirty="0" smtClean="0"/>
            </a:br>
            <a:r>
              <a:rPr lang="en-US" altLang="ko-KR" dirty="0" smtClean="0"/>
              <a:t>- </a:t>
            </a:r>
            <a:r>
              <a:rPr lang="ko-KR" altLang="en-US" dirty="0" smtClean="0"/>
              <a:t>시스템 파일 </a:t>
            </a:r>
            <a:r>
              <a:rPr lang="ko-KR" altLang="en-US" dirty="0" err="1" smtClean="0"/>
              <a:t>선택기</a:t>
            </a:r>
            <a:r>
              <a:rPr lang="ko-KR" altLang="en-US" dirty="0" smtClean="0"/>
              <a:t> 호출</a:t>
            </a:r>
            <a:r>
              <a:rPr lang="en-US" altLang="ko-KR" dirty="0" smtClean="0"/>
              <a:t/>
            </a:r>
            <a:br>
              <a:rPr lang="en-US" altLang="ko-KR" dirty="0" smtClean="0"/>
            </a:br>
            <a:r>
              <a:rPr lang="en-US" altLang="ko-KR" dirty="0" smtClean="0"/>
              <a:t>- </a:t>
            </a:r>
            <a:r>
              <a:rPr lang="ko-KR" altLang="en-US" dirty="0" smtClean="0"/>
              <a:t>사용자 단말기에 저장된 파일을 선택하여 업로드 </a:t>
            </a:r>
            <a:r>
              <a:rPr lang="en-US" altLang="ko-KR" dirty="0" smtClean="0">
                <a:solidFill>
                  <a:schemeClr val="bg1">
                    <a:lumMod val="75000"/>
                  </a:schemeClr>
                </a:solidFill>
              </a:rPr>
              <a:t>(</a:t>
            </a:r>
            <a:r>
              <a:rPr lang="ko-KR" altLang="en-US" dirty="0" smtClean="0">
                <a:solidFill>
                  <a:schemeClr val="bg1">
                    <a:lumMod val="75000"/>
                  </a:schemeClr>
                </a:solidFill>
              </a:rPr>
              <a:t>현재 정확한정보없음</a:t>
            </a:r>
            <a:r>
              <a:rPr lang="en-US" altLang="ko-KR" dirty="0" smtClean="0">
                <a:solidFill>
                  <a:schemeClr val="bg1">
                    <a:lumMod val="75000"/>
                  </a:schemeClr>
                </a:solidFill>
              </a:rPr>
              <a:t>)</a:t>
            </a:r>
            <a:r>
              <a:rPr lang="en-US" altLang="ko-KR" dirty="0" smtClean="0"/>
              <a:t/>
            </a:r>
            <a:br>
              <a:rPr lang="en-US" altLang="ko-KR" dirty="0" smtClean="0"/>
            </a:br>
            <a:r>
              <a:rPr lang="en-US" altLang="ko-KR" dirty="0" smtClean="0">
                <a:solidFill>
                  <a:schemeClr val="bg1">
                    <a:lumMod val="75000"/>
                  </a:schemeClr>
                </a:solidFill>
              </a:rPr>
              <a:t>- </a:t>
            </a:r>
            <a:r>
              <a:rPr lang="ko-KR" altLang="en-US" dirty="0" smtClean="0">
                <a:solidFill>
                  <a:schemeClr val="bg1">
                    <a:lumMod val="75000"/>
                  </a:schemeClr>
                </a:solidFill>
              </a:rPr>
              <a:t>가능한 </a:t>
            </a:r>
            <a:r>
              <a:rPr lang="ko-KR" altLang="en-US" dirty="0" err="1" smtClean="0">
                <a:solidFill>
                  <a:schemeClr val="bg1">
                    <a:lumMod val="75000"/>
                  </a:schemeClr>
                </a:solidFill>
              </a:rPr>
              <a:t>확장자</a:t>
            </a:r>
            <a:r>
              <a:rPr lang="ko-KR" altLang="en-US" dirty="0" smtClean="0">
                <a:solidFill>
                  <a:schemeClr val="bg1">
                    <a:lumMod val="75000"/>
                  </a:schemeClr>
                </a:solidFill>
              </a:rPr>
              <a:t>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a:t>
            </a:r>
            <a:r>
              <a:rPr lang="ko-KR" altLang="en-US" dirty="0" err="1" smtClean="0">
                <a:solidFill>
                  <a:schemeClr val="bg1">
                    <a:lumMod val="75000"/>
                  </a:schemeClr>
                </a:solidFill>
              </a:rPr>
              <a:t>파일크기</a:t>
            </a:r>
            <a:r>
              <a:rPr lang="ko-KR" altLang="en-US" dirty="0" smtClean="0">
                <a:solidFill>
                  <a:schemeClr val="bg1">
                    <a:lumMod val="75000"/>
                  </a:schemeClr>
                </a:solidFill>
              </a:rPr>
              <a:t> </a:t>
            </a:r>
            <a:r>
              <a:rPr lang="en-US" altLang="ko-KR" dirty="0" smtClean="0">
                <a:solidFill>
                  <a:schemeClr val="bg1">
                    <a:lumMod val="75000"/>
                  </a:schemeClr>
                </a:solidFill>
              </a:rPr>
              <a:t>: 2G</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첨부 개수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err="1" smtClean="0">
                <a:solidFill>
                  <a:schemeClr val="bg1">
                    <a:lumMod val="75000"/>
                  </a:schemeClr>
                </a:solidFill>
              </a:rPr>
              <a:t>중복파일</a:t>
            </a:r>
            <a:r>
              <a:rPr lang="ko-KR" altLang="en-US" dirty="0" smtClean="0">
                <a:solidFill>
                  <a:schemeClr val="bg1">
                    <a:lumMod val="75000"/>
                  </a:schemeClr>
                </a:solidFill>
              </a:rPr>
              <a:t> 처리여부 </a:t>
            </a:r>
            <a:r>
              <a:rPr lang="en-US" altLang="ko-KR" dirty="0" smtClean="0">
                <a:solidFill>
                  <a:schemeClr val="bg1">
                    <a:lumMod val="75000"/>
                  </a:schemeClr>
                </a:solidFill>
              </a:rPr>
              <a:t>: ? </a:t>
            </a:r>
            <a:r>
              <a:rPr lang="en-US" altLang="ko-KR" dirty="0" smtClean="0"/>
              <a:t/>
            </a:r>
            <a:br>
              <a:rPr lang="en-US" altLang="ko-KR" dirty="0" smtClean="0"/>
            </a:br>
            <a:r>
              <a:rPr lang="en-US" altLang="ko-KR" dirty="0" smtClean="0"/>
              <a:t>- </a:t>
            </a:r>
            <a:r>
              <a:rPr lang="ko-KR" altLang="en-US" dirty="0" smtClean="0"/>
              <a:t>파일 </a:t>
            </a:r>
            <a:r>
              <a:rPr lang="ko-KR" altLang="en-US" dirty="0" err="1" smtClean="0"/>
              <a:t>취소한경우</a:t>
            </a:r>
            <a:r>
              <a:rPr lang="ko-KR" altLang="en-US" dirty="0" smtClean="0"/>
              <a:t> </a:t>
            </a:r>
            <a:r>
              <a:rPr lang="ko-KR" altLang="en-US" dirty="0" err="1" smtClean="0"/>
              <a:t>이전화면</a:t>
            </a:r>
            <a:r>
              <a:rPr lang="ko-KR" altLang="en-US" dirty="0" smtClean="0"/>
              <a:t> 유지</a:t>
            </a:r>
            <a:r>
              <a:rPr lang="en-US" altLang="ko-KR" dirty="0" smtClean="0"/>
              <a:t/>
            </a:r>
            <a:br>
              <a:rPr lang="en-US" altLang="ko-KR" dirty="0" smtClean="0"/>
            </a:br>
            <a:r>
              <a:rPr lang="ko-KR" altLang="en-US" dirty="0" smtClean="0"/>
              <a:t>캐비닛 목록 호출</a:t>
            </a:r>
            <a:r>
              <a:rPr lang="en-US" altLang="ko-KR" dirty="0" smtClean="0"/>
              <a:t>:</a:t>
            </a:r>
            <a:r>
              <a:rPr lang="en-US" altLang="ko-KR" dirty="0">
                <a:solidFill>
                  <a:srgbClr val="000000"/>
                </a:solidFill>
                <a:latin typeface="맑은 고딕" panose="020B0503020000020004" pitchFamily="50" charset="-127"/>
              </a:rPr>
              <a:t> </a:t>
            </a:r>
            <a:r>
              <a:rPr lang="en-US" altLang="ko-KR" dirty="0" smtClean="0">
                <a:solidFill>
                  <a:srgbClr val="000000"/>
                </a:solidFill>
                <a:latin typeface="맑은 고딕" panose="020B0503020000020004" pitchFamily="50" charset="-127"/>
              </a:rPr>
              <a:t>MUI-CM-06-M14</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캐비닛 목록화면으로 이동</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사용자가 선택한 파일을 </a:t>
            </a:r>
            <a:r>
              <a:rPr lang="ko-KR" altLang="en-US" dirty="0" err="1" smtClean="0">
                <a:solidFill>
                  <a:srgbClr val="000000"/>
                </a:solidFill>
                <a:latin typeface="맑은 고딕" panose="020B0503020000020004" pitchFamily="50" charset="-127"/>
              </a:rPr>
              <a:t>첨부목록에</a:t>
            </a:r>
            <a:r>
              <a:rPr lang="ko-KR" altLang="en-US" dirty="0" smtClean="0">
                <a:solidFill>
                  <a:srgbClr val="000000"/>
                </a:solidFill>
                <a:latin typeface="맑은 고딕" panose="020B0503020000020004" pitchFamily="50" charset="-127"/>
              </a:rPr>
              <a:t> 추가</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a:t>
            </a:r>
            <a:r>
              <a:rPr lang="ko-KR" altLang="en-US" dirty="0" smtClean="0"/>
              <a:t> </a:t>
            </a:r>
            <a:r>
              <a:rPr lang="ko-KR" altLang="en-US" dirty="0"/>
              <a:t>선택 완료 후 이전화면으로 복귀</a:t>
            </a:r>
            <a:r>
              <a:rPr lang="en-US" altLang="ko-KR" dirty="0"/>
              <a:t>.(</a:t>
            </a:r>
            <a:r>
              <a:rPr lang="ko-KR" altLang="en-US" dirty="0"/>
              <a:t>파일첨부목록</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smtClean="0">
                <a:latin typeface="+mn-ea"/>
              </a:rPr>
              <a:t>캐비닛연결</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첨부 파일</a:t>
            </a:r>
            <a:r>
              <a:rPr lang="en-US" altLang="ko-KR" dirty="0">
                <a:latin typeface="+mn-ea"/>
              </a:rPr>
              <a:t>, </a:t>
            </a:r>
            <a:r>
              <a:rPr lang="ko-KR" altLang="en-US" dirty="0">
                <a:latin typeface="+mn-ea"/>
              </a:rPr>
              <a:t>캐비닛 선택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Autofit/>
          </a:bodyPr>
          <a:lstStyle/>
          <a:p>
            <a:r>
              <a:rPr lang="ko-KR" altLang="en-US" sz="700" dirty="0"/>
              <a:t>홈 </a:t>
            </a:r>
            <a:r>
              <a:rPr lang="en-US" altLang="ko-KR" sz="700" dirty="0"/>
              <a:t>&gt; </a:t>
            </a:r>
            <a:r>
              <a:rPr lang="ko-KR" altLang="en-US" sz="700" dirty="0">
                <a:latin typeface="+mn-ea"/>
              </a:rPr>
              <a:t>입찰 진행 </a:t>
            </a:r>
            <a:r>
              <a:rPr lang="en-US" altLang="ko-KR" sz="700" dirty="0">
                <a:latin typeface="+mn-ea"/>
              </a:rPr>
              <a:t>&gt; </a:t>
            </a:r>
            <a:r>
              <a:rPr lang="ko-KR" altLang="en-US" sz="700" dirty="0">
                <a:latin typeface="+mn-ea"/>
              </a:rPr>
              <a:t>입찰서</a:t>
            </a:r>
            <a:r>
              <a:rPr lang="en-US" altLang="ko-KR" sz="700" dirty="0">
                <a:latin typeface="+mn-ea"/>
              </a:rPr>
              <a:t>(</a:t>
            </a:r>
            <a:r>
              <a:rPr lang="ko-KR" altLang="en-US" sz="700" dirty="0">
                <a:latin typeface="+mn-ea"/>
              </a:rPr>
              <a:t>견적서</a:t>
            </a:r>
            <a:r>
              <a:rPr lang="en-US" altLang="ko-KR" sz="700" dirty="0">
                <a:latin typeface="+mn-ea"/>
              </a:rPr>
              <a:t>)</a:t>
            </a:r>
            <a:r>
              <a:rPr lang="ko-KR" altLang="en-US" sz="700" dirty="0">
                <a:latin typeface="+mn-ea"/>
              </a:rPr>
              <a:t>작성 </a:t>
            </a:r>
            <a:r>
              <a:rPr lang="en-US" altLang="ko-KR" sz="700" dirty="0" smtClean="0">
                <a:latin typeface="+mn-ea"/>
              </a:rPr>
              <a:t>– </a:t>
            </a:r>
            <a:r>
              <a:rPr lang="ko-KR" altLang="en-US" sz="700" dirty="0" smtClean="0">
                <a:latin typeface="+mn-ea"/>
              </a:rPr>
              <a:t>파일첨부</a:t>
            </a:r>
            <a:r>
              <a:rPr lang="en-US" altLang="ko-KR" sz="700" dirty="0" smtClean="0">
                <a:latin typeface="+mn-ea"/>
              </a:rPr>
              <a:t>&gt;</a:t>
            </a:r>
            <a:r>
              <a:rPr lang="ko-KR" altLang="en-US" sz="700" dirty="0" smtClean="0">
                <a:latin typeface="+mn-ea"/>
              </a:rPr>
              <a:t>파일첨부 </a:t>
            </a:r>
            <a:r>
              <a:rPr lang="ko-KR" altLang="en-US" sz="700" dirty="0">
                <a:latin typeface="+mn-ea"/>
              </a:rPr>
              <a:t>방식 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4622157"/>
            <a:ext cx="2712027" cy="1610141"/>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470655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484097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4821654"/>
            <a:ext cx="1798758" cy="138499"/>
          </a:xfrm>
          <a:prstGeom prst="rect">
            <a:avLst/>
          </a:prstGeom>
          <a:noFill/>
        </p:spPr>
        <p:txBody>
          <a:bodyPr wrap="square" lIns="0" tIns="0" rIns="0" bIns="0" rtlCol="0">
            <a:spAutoFit/>
          </a:bodyPr>
          <a:lstStyle/>
          <a:p>
            <a:r>
              <a:rPr lang="ko-KR" altLang="en-US" sz="900" dirty="0">
                <a:latin typeface="+mn-ea"/>
              </a:rPr>
              <a:t>파일첨부 방식 선택</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508305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사각형: 둥근 모서리 15">
            <a:extLst>
              <a:ext uri="{FF2B5EF4-FFF2-40B4-BE49-F238E27FC236}">
                <a16:creationId xmlns:a16="http://schemas.microsoft.com/office/drawing/2014/main" id="{E2B61CFB-AD16-68D0-8752-50D9C5E01971}"/>
              </a:ext>
            </a:extLst>
          </p:cNvPr>
          <p:cNvSpPr/>
          <p:nvPr/>
        </p:nvSpPr>
        <p:spPr>
          <a:xfrm>
            <a:off x="767703" y="5296114"/>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직접 </a:t>
            </a:r>
            <a:r>
              <a:rPr kumimoji="1" lang="ko-KR" altLang="en-US" sz="1000" kern="0" dirty="0">
                <a:solidFill>
                  <a:srgbClr val="0070C0"/>
                </a:solidFill>
                <a:latin typeface="맑은 고딕"/>
                <a:ea typeface="맑은 고딕" panose="020B0503020000020004" pitchFamily="50" charset="-127"/>
              </a:rPr>
              <a:t>업로드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3" y="5744634"/>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캐비닛 선택 업로드</a:t>
            </a:r>
            <a:endParaRPr kumimoji="1" lang="en-US" sz="1000" b="0" i="0" u="none" strike="noStrike" kern="0" cap="none" spc="0" normalizeH="0" baseline="0" noProof="0" dirty="0">
              <a:ln>
                <a:noFill/>
              </a:ln>
              <a:effectLst/>
              <a:uLnTx/>
              <a:uFillTx/>
              <a:latin typeface="맑은 고딕"/>
            </a:endParaRPr>
          </a:p>
        </p:txBody>
      </p:sp>
      <p:sp>
        <p:nvSpPr>
          <p:cNvPr id="161" name="타원 160">
            <a:extLst>
              <a:ext uri="{FF2B5EF4-FFF2-40B4-BE49-F238E27FC236}">
                <a16:creationId xmlns:a16="http://schemas.microsoft.com/office/drawing/2014/main" id="{37A7FF4F-0EAA-1463-560A-D5EC24416103}"/>
              </a:ext>
            </a:extLst>
          </p:cNvPr>
          <p:cNvSpPr/>
          <p:nvPr/>
        </p:nvSpPr>
        <p:spPr>
          <a:xfrm>
            <a:off x="571127" y="53681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571127" y="582540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8" name="직사각형 57"/>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9" name="직사각형 58"/>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Tree>
    <p:extLst>
      <p:ext uri="{BB962C8B-B14F-4D97-AF65-F5344CB8AC3E}">
        <p14:creationId xmlns:p14="http://schemas.microsoft.com/office/powerpoint/2010/main" val="365744299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a:t>
            </a:r>
            <a:r>
              <a:rPr lang="ko-KR" altLang="en-US" dirty="0"/>
              <a:t>사용자가 </a:t>
            </a:r>
            <a:r>
              <a:rPr lang="ko-KR" altLang="en-US" dirty="0" err="1"/>
              <a:t>접근가능한</a:t>
            </a:r>
            <a:r>
              <a:rPr lang="ko-KR" altLang="en-US" dirty="0"/>
              <a:t> 폴더 목록 조</a:t>
            </a:r>
            <a:r>
              <a:rPr lang="en-US" altLang="ko-KR" dirty="0"/>
              <a:t/>
            </a:r>
            <a:br>
              <a:rPr lang="en-US" altLang="ko-KR" dirty="0"/>
            </a:br>
            <a:r>
              <a:rPr lang="ko-KR" altLang="en-US" dirty="0" smtClean="0"/>
              <a:t>회</a:t>
            </a:r>
            <a:r>
              <a:rPr lang="en-US" altLang="ko-KR" dirty="0" smtClean="0"/>
              <a:t/>
            </a:r>
            <a:br>
              <a:rPr lang="en-US" altLang="ko-KR" dirty="0" smtClean="0"/>
            </a:br>
            <a:r>
              <a:rPr lang="en-US" altLang="ko-KR" dirty="0" smtClean="0"/>
              <a:t>- </a:t>
            </a:r>
            <a:r>
              <a:rPr lang="ko-KR" altLang="en-US" dirty="0" smtClean="0"/>
              <a:t>폴더 </a:t>
            </a:r>
            <a:r>
              <a:rPr lang="ko-KR" altLang="en-US" dirty="0" err="1" smtClean="0"/>
              <a:t>선택시</a:t>
            </a:r>
            <a:r>
              <a:rPr lang="ko-KR" altLang="en-US" dirty="0" smtClean="0"/>
              <a:t> 하위 파일 목록 화면으로 이동</a:t>
            </a:r>
            <a:r>
              <a:rPr lang="en-US" altLang="ko-KR" dirty="0" smtClean="0"/>
              <a:t/>
            </a:r>
            <a:br>
              <a:rPr lang="en-US" altLang="ko-KR" dirty="0" smtClean="0"/>
            </a:br>
            <a:r>
              <a:rPr lang="en-US" altLang="ko-KR" dirty="0" smtClean="0"/>
              <a:t>- </a:t>
            </a:r>
            <a:r>
              <a:rPr lang="ko-KR" altLang="en-US" dirty="0"/>
              <a:t>폴더의</a:t>
            </a:r>
            <a:r>
              <a:rPr lang="en-US" altLang="ko-KR" dirty="0"/>
              <a:t> </a:t>
            </a:r>
            <a:r>
              <a:rPr lang="ko-KR" altLang="en-US" dirty="0"/>
              <a:t>생성</a:t>
            </a:r>
            <a:r>
              <a:rPr lang="en-US" altLang="ko-KR" dirty="0"/>
              <a:t>, </a:t>
            </a:r>
            <a:r>
              <a:rPr lang="ko-KR" altLang="en-US" dirty="0"/>
              <a:t>삭제는 </a:t>
            </a:r>
            <a:r>
              <a:rPr lang="en-US" altLang="ko-KR" dirty="0"/>
              <a:t>PC</a:t>
            </a:r>
            <a:r>
              <a:rPr lang="ko-KR" altLang="en-US" dirty="0"/>
              <a:t>에서 제공</a:t>
            </a:r>
            <a:endParaRPr lang="en-US" altLang="ko-KR" dirty="0"/>
          </a:p>
          <a:p>
            <a:pPr marL="228600" indent="-228600">
              <a:buFont typeface="+mj-lt"/>
              <a:buAutoNum type="arabicPeriod"/>
            </a:pPr>
            <a:endParaRPr lang="en-US" altLang="ko-KR" dirty="0" smtClean="0"/>
          </a:p>
          <a:p>
            <a:pPr marL="228600" indent="-228600">
              <a:buFont typeface="+mj-lt"/>
              <a:buAutoNum type="arabicPeriod"/>
            </a:pPr>
            <a:r>
              <a:rPr lang="ko-KR" altLang="en-US" dirty="0"/>
              <a:t>권한 관리는 업체 대표자에게만 표시됨</a:t>
            </a:r>
            <a:r>
              <a:rPr lang="en-US" altLang="ko-KR" dirty="0"/>
              <a:t>.</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 업로드로 진입하는 경우</a:t>
            </a:r>
            <a:r>
              <a:rPr lang="en-US" altLang="ko-KR" dirty="0"/>
              <a:t/>
            </a:r>
            <a:br>
              <a:rPr lang="en-US" altLang="ko-KR" dirty="0"/>
            </a:br>
            <a:r>
              <a:rPr lang="en-US" altLang="ko-KR" dirty="0"/>
              <a:t>- </a:t>
            </a:r>
            <a:r>
              <a:rPr lang="ko-KR" altLang="en-US" dirty="0"/>
              <a:t>권한 버튼 숨김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solidFill>
                  <a:srgbClr val="FF0000"/>
                </a:solidFill>
              </a:rPr>
              <a:t>- </a:t>
            </a:r>
            <a:r>
              <a:rPr lang="ko-KR" altLang="en-US" dirty="0">
                <a:solidFill>
                  <a:srgbClr val="FF0000"/>
                </a:solidFill>
              </a:rPr>
              <a:t>폴더의 권한은 표시하지 </a:t>
            </a:r>
            <a:r>
              <a:rPr lang="ko-KR" altLang="en-US" dirty="0" smtClean="0">
                <a:solidFill>
                  <a:srgbClr val="FF0000"/>
                </a:solidFill>
              </a:rPr>
              <a:t>않음</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solidFill>
                  <a:prstClr val="black"/>
                </a:solidFill>
                <a:latin typeface="맑은 고딕" panose="020B0503020000020004" pitchFamily="50" charset="-127"/>
              </a:rPr>
              <a:t>디지털캐비닛</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nSpc>
                <a:spcPct val="100000"/>
              </a:lnSpc>
              <a:spcBef>
                <a:spcPts val="0"/>
              </a:spcBef>
              <a:defRPr/>
            </a:pPr>
            <a:r>
              <a:rPr lang="ko-KR" altLang="en-US" dirty="0">
                <a:solidFill>
                  <a:prstClr val="black"/>
                </a:solidFill>
                <a:latin typeface="맑은 고딕" panose="020B0503020000020004" pitchFamily="50" charset="-127"/>
              </a:rPr>
              <a:t>디지털 캐비닛</a:t>
            </a:r>
            <a:r>
              <a:rPr lang="en-US" altLang="ko-KR" dirty="0">
                <a:solidFill>
                  <a:prstClr val="black"/>
                </a:solidFill>
                <a:latin typeface="맑은 고딕" panose="020B0503020000020004" pitchFamily="50" charset="-127"/>
              </a:rPr>
              <a:t>, </a:t>
            </a:r>
            <a:r>
              <a:rPr lang="ko-KR" altLang="en-US" dirty="0">
                <a:solidFill>
                  <a:prstClr val="black"/>
                </a:solidFill>
                <a:latin typeface="맑은 고딕" panose="020B0503020000020004" pitchFamily="50" charset="-127"/>
              </a:rPr>
              <a:t>사용자가 등록한 자료 폴더 목록</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smtClean="0">
                <a:latin typeface="+mn-ea"/>
              </a:rPr>
              <a:t>메인 홈 </a:t>
            </a:r>
            <a:r>
              <a:rPr lang="en-US" altLang="ko-KR" dirty="0" smtClean="0">
                <a:latin typeface="+mn-ea"/>
              </a:rPr>
              <a:t>&gt; </a:t>
            </a:r>
            <a:r>
              <a:rPr lang="ko-KR" altLang="en-US" dirty="0" err="1" smtClean="0">
                <a:latin typeface="+mn-ea"/>
              </a:rPr>
              <a:t>마이페이지</a:t>
            </a:r>
            <a:r>
              <a:rPr lang="ko-KR" altLang="en-US" dirty="0" smtClean="0">
                <a:latin typeface="+mn-ea"/>
              </a:rPr>
              <a:t> </a:t>
            </a:r>
            <a:r>
              <a:rPr lang="en-US" altLang="ko-KR" dirty="0" smtClean="0">
                <a:latin typeface="+mn-ea"/>
              </a:rPr>
              <a:t>&gt; </a:t>
            </a:r>
            <a:r>
              <a:rPr lang="ko-KR" altLang="en-US" dirty="0" smtClean="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MUI-CM-06-M14</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8757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4" name="TextBox 58">
            <a:extLst>
              <a:ext uri="{FF2B5EF4-FFF2-40B4-BE49-F238E27FC236}">
                <a16:creationId xmlns:a16="http://schemas.microsoft.com/office/drawing/2014/main" id="{02FC114B-B48B-345F-BD70-2B5A196F5B3E}"/>
              </a:ext>
            </a:extLst>
          </p:cNvPr>
          <p:cNvSpPr txBox="1"/>
          <p:nvPr/>
        </p:nvSpPr>
        <p:spPr>
          <a:xfrm>
            <a:off x="772625" y="26035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3" name="직선 연결선 72">
            <a:extLst>
              <a:ext uri="{FF2B5EF4-FFF2-40B4-BE49-F238E27FC236}">
                <a16:creationId xmlns:a16="http://schemas.microsoft.com/office/drawing/2014/main" id="{E9293055-D5CD-4B9E-7F64-64B2D2CA7A52}"/>
              </a:ext>
            </a:extLst>
          </p:cNvPr>
          <p:cNvCxnSpPr/>
          <p:nvPr/>
        </p:nvCxnSpPr>
        <p:spPr>
          <a:xfrm>
            <a:off x="675399" y="28745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3333470" y="25670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1" name="TextBox 58">
            <a:extLst>
              <a:ext uri="{FF2B5EF4-FFF2-40B4-BE49-F238E27FC236}">
                <a16:creationId xmlns:a16="http://schemas.microsoft.com/office/drawing/2014/main" id="{02FC114B-B48B-345F-BD70-2B5A196F5B3E}"/>
              </a:ext>
            </a:extLst>
          </p:cNvPr>
          <p:cNvSpPr txBox="1"/>
          <p:nvPr/>
        </p:nvSpPr>
        <p:spPr>
          <a:xfrm>
            <a:off x="1019814" y="25356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 |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53" name="사각형: 둥근 모서리 31">
            <a:extLst>
              <a:ext uri="{FF2B5EF4-FFF2-40B4-BE49-F238E27FC236}">
                <a16:creationId xmlns:a16="http://schemas.microsoft.com/office/drawing/2014/main" id="{2AC143EE-93CF-3518-F0CB-8469E98507E0}"/>
              </a:ext>
            </a:extLst>
          </p:cNvPr>
          <p:cNvSpPr/>
          <p:nvPr/>
        </p:nvSpPr>
        <p:spPr>
          <a:xfrm>
            <a:off x="2993286" y="25866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2" name="TextBox 58">
            <a:extLst>
              <a:ext uri="{FF2B5EF4-FFF2-40B4-BE49-F238E27FC236}">
                <a16:creationId xmlns:a16="http://schemas.microsoft.com/office/drawing/2014/main" id="{02FC114B-B48B-345F-BD70-2B5A196F5B3E}"/>
              </a:ext>
            </a:extLst>
          </p:cNvPr>
          <p:cNvSpPr txBox="1"/>
          <p:nvPr/>
        </p:nvSpPr>
        <p:spPr>
          <a:xfrm>
            <a:off x="772625" y="30257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296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TextBox 58">
            <a:extLst>
              <a:ext uri="{FF2B5EF4-FFF2-40B4-BE49-F238E27FC236}">
                <a16:creationId xmlns:a16="http://schemas.microsoft.com/office/drawing/2014/main" id="{02FC114B-B48B-345F-BD70-2B5A196F5B3E}"/>
              </a:ext>
            </a:extLst>
          </p:cNvPr>
          <p:cNvSpPr txBox="1"/>
          <p:nvPr/>
        </p:nvSpPr>
        <p:spPr>
          <a:xfrm>
            <a:off x="1019814" y="29578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06" name="사각형: 둥근 모서리 31">
            <a:extLst>
              <a:ext uri="{FF2B5EF4-FFF2-40B4-BE49-F238E27FC236}">
                <a16:creationId xmlns:a16="http://schemas.microsoft.com/office/drawing/2014/main" id="{2AC143EE-93CF-3518-F0CB-8469E98507E0}"/>
              </a:ext>
            </a:extLst>
          </p:cNvPr>
          <p:cNvSpPr/>
          <p:nvPr/>
        </p:nvSpPr>
        <p:spPr>
          <a:xfrm>
            <a:off x="2993286" y="30088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7" name="TextBox 58">
            <a:extLst>
              <a:ext uri="{FF2B5EF4-FFF2-40B4-BE49-F238E27FC236}">
                <a16:creationId xmlns:a16="http://schemas.microsoft.com/office/drawing/2014/main" id="{02FC114B-B48B-345F-BD70-2B5A196F5B3E}"/>
              </a:ext>
            </a:extLst>
          </p:cNvPr>
          <p:cNvSpPr txBox="1"/>
          <p:nvPr/>
        </p:nvSpPr>
        <p:spPr>
          <a:xfrm>
            <a:off x="772625" y="343912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75399" y="371007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58">
            <a:extLst>
              <a:ext uri="{FF2B5EF4-FFF2-40B4-BE49-F238E27FC236}">
                <a16:creationId xmlns:a16="http://schemas.microsoft.com/office/drawing/2014/main" id="{02FC114B-B48B-345F-BD70-2B5A196F5B3E}"/>
              </a:ext>
            </a:extLst>
          </p:cNvPr>
          <p:cNvSpPr txBox="1"/>
          <p:nvPr/>
        </p:nvSpPr>
        <p:spPr>
          <a:xfrm>
            <a:off x="1019814" y="337122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25" name="사각형: 둥근 모서리 31">
            <a:extLst>
              <a:ext uri="{FF2B5EF4-FFF2-40B4-BE49-F238E27FC236}">
                <a16:creationId xmlns:a16="http://schemas.microsoft.com/office/drawing/2014/main" id="{2AC143EE-93CF-3518-F0CB-8469E98507E0}"/>
              </a:ext>
            </a:extLst>
          </p:cNvPr>
          <p:cNvSpPr/>
          <p:nvPr/>
        </p:nvSpPr>
        <p:spPr>
          <a:xfrm>
            <a:off x="2993286" y="342221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26" name="TextBox 58">
            <a:extLst>
              <a:ext uri="{FF2B5EF4-FFF2-40B4-BE49-F238E27FC236}">
                <a16:creationId xmlns:a16="http://schemas.microsoft.com/office/drawing/2014/main" id="{02FC114B-B48B-345F-BD70-2B5A196F5B3E}"/>
              </a:ext>
            </a:extLst>
          </p:cNvPr>
          <p:cNvSpPr txBox="1"/>
          <p:nvPr/>
        </p:nvSpPr>
        <p:spPr>
          <a:xfrm>
            <a:off x="772625" y="386037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4131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58">
            <a:extLst>
              <a:ext uri="{FF2B5EF4-FFF2-40B4-BE49-F238E27FC236}">
                <a16:creationId xmlns:a16="http://schemas.microsoft.com/office/drawing/2014/main" id="{02FC114B-B48B-345F-BD70-2B5A196F5B3E}"/>
              </a:ext>
            </a:extLst>
          </p:cNvPr>
          <p:cNvSpPr txBox="1"/>
          <p:nvPr/>
        </p:nvSpPr>
        <p:spPr>
          <a:xfrm>
            <a:off x="1019814" y="3792480"/>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2" name="사각형: 둥근 모서리 31">
            <a:extLst>
              <a:ext uri="{FF2B5EF4-FFF2-40B4-BE49-F238E27FC236}">
                <a16:creationId xmlns:a16="http://schemas.microsoft.com/office/drawing/2014/main" id="{2AC143EE-93CF-3518-F0CB-8469E98507E0}"/>
              </a:ext>
            </a:extLst>
          </p:cNvPr>
          <p:cNvSpPr/>
          <p:nvPr/>
        </p:nvSpPr>
        <p:spPr>
          <a:xfrm>
            <a:off x="2993286" y="3843470"/>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58">
            <a:extLst>
              <a:ext uri="{FF2B5EF4-FFF2-40B4-BE49-F238E27FC236}">
                <a16:creationId xmlns:a16="http://schemas.microsoft.com/office/drawing/2014/main" id="{02FC114B-B48B-345F-BD70-2B5A196F5B3E}"/>
              </a:ext>
            </a:extLst>
          </p:cNvPr>
          <p:cNvSpPr txBox="1"/>
          <p:nvPr/>
        </p:nvSpPr>
        <p:spPr>
          <a:xfrm>
            <a:off x="772625" y="4280031"/>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45509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58">
            <a:extLst>
              <a:ext uri="{FF2B5EF4-FFF2-40B4-BE49-F238E27FC236}">
                <a16:creationId xmlns:a16="http://schemas.microsoft.com/office/drawing/2014/main" id="{02FC114B-B48B-345F-BD70-2B5A196F5B3E}"/>
              </a:ext>
            </a:extLst>
          </p:cNvPr>
          <p:cNvSpPr txBox="1"/>
          <p:nvPr/>
        </p:nvSpPr>
        <p:spPr>
          <a:xfrm>
            <a:off x="1019814" y="4212136"/>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7" name="사각형: 둥근 모서리 31">
            <a:extLst>
              <a:ext uri="{FF2B5EF4-FFF2-40B4-BE49-F238E27FC236}">
                <a16:creationId xmlns:a16="http://schemas.microsoft.com/office/drawing/2014/main" id="{2AC143EE-93CF-3518-F0CB-8469E98507E0}"/>
              </a:ext>
            </a:extLst>
          </p:cNvPr>
          <p:cNvSpPr/>
          <p:nvPr/>
        </p:nvSpPr>
        <p:spPr>
          <a:xfrm>
            <a:off x="2993286" y="4263126"/>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40" name="타원 139"/>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a:off x="3143548" y="2279636"/>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24553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직사각형 50"/>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2" name="직사각형 51"/>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55" name="직사각형 54"/>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9" name="직사각형 58"/>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Tree>
    <p:extLst>
      <p:ext uri="{BB962C8B-B14F-4D97-AF65-F5344CB8AC3E}">
        <p14:creationId xmlns:p14="http://schemas.microsoft.com/office/powerpoint/2010/main" val="89565116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 </a:t>
            </a:r>
            <a:r>
              <a:rPr lang="ko-KR" altLang="en-US" dirty="0"/>
              <a:t>클릭 시 상위 폴더 이동</a:t>
            </a:r>
            <a:endParaRPr lang="en-US" altLang="ko-KR" dirty="0"/>
          </a:p>
          <a:p>
            <a:pPr marL="228600" indent="-228600">
              <a:buFont typeface="+mj-lt"/>
              <a:buAutoNum type="arabicPeriod"/>
            </a:pPr>
            <a:r>
              <a:rPr lang="ko-KR" altLang="en-US" dirty="0"/>
              <a:t>파일 표시</a:t>
            </a:r>
            <a:r>
              <a:rPr lang="en-US" altLang="ko-KR" dirty="0"/>
              <a:t/>
            </a:r>
            <a:br>
              <a:rPr lang="en-US" altLang="ko-KR" dirty="0"/>
            </a:br>
            <a:r>
              <a:rPr lang="en-US" altLang="ko-KR" dirty="0"/>
              <a:t>- </a:t>
            </a:r>
            <a:r>
              <a:rPr lang="ko-KR" altLang="en-US" dirty="0"/>
              <a:t>파일 등록</a:t>
            </a:r>
            <a:r>
              <a:rPr lang="en-US" altLang="ko-KR" dirty="0"/>
              <a:t>, </a:t>
            </a:r>
            <a:r>
              <a:rPr lang="ko-KR" altLang="en-US" dirty="0"/>
              <a:t>삭제 </a:t>
            </a:r>
            <a:r>
              <a:rPr lang="en-US" altLang="ko-KR" dirty="0"/>
              <a:t>PC</a:t>
            </a:r>
            <a:r>
              <a:rPr lang="ko-KR" altLang="en-US" dirty="0"/>
              <a:t>에서 제공</a:t>
            </a:r>
            <a:r>
              <a:rPr lang="en-US" altLang="ko-KR" dirty="0"/>
              <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선택으로 진입하는 경우</a:t>
            </a:r>
            <a:r>
              <a:rPr lang="en-US" altLang="ko-KR" dirty="0"/>
              <a:t/>
            </a:r>
            <a:br>
              <a:rPr lang="en-US" altLang="ko-KR" dirty="0"/>
            </a:br>
            <a:r>
              <a:rPr lang="en-US" altLang="ko-KR" dirty="0"/>
              <a:t>- </a:t>
            </a:r>
            <a:r>
              <a:rPr lang="ko-KR" altLang="en-US" dirty="0"/>
              <a:t>선택 시 하이라이트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t>- </a:t>
            </a:r>
            <a:r>
              <a:rPr lang="ko-KR" altLang="en-US" dirty="0"/>
              <a:t>선택 파일 첨부 버튼 표시</a:t>
            </a:r>
            <a:r>
              <a:rPr lang="en-US" altLang="ko-KR" dirty="0"/>
              <a:t/>
            </a:r>
            <a:br>
              <a:rPr lang="en-US" altLang="ko-KR" dirty="0"/>
            </a:br>
            <a:r>
              <a:rPr lang="en-US" altLang="ko-KR" dirty="0"/>
              <a:t/>
            </a:r>
            <a:br>
              <a:rPr lang="en-US" altLang="ko-KR" dirty="0"/>
            </a:br>
            <a:r>
              <a:rPr lang="en-US" altLang="ko-KR" dirty="0">
                <a:solidFill>
                  <a:srgbClr val="FF0000"/>
                </a:solidFill>
              </a:rPr>
              <a:t>- </a:t>
            </a:r>
            <a:r>
              <a:rPr lang="ko-KR" altLang="en-US" dirty="0">
                <a:solidFill>
                  <a:srgbClr val="FF0000"/>
                </a:solidFill>
              </a:rPr>
              <a:t>입찰참가</a:t>
            </a:r>
            <a:r>
              <a:rPr lang="en-US" altLang="ko-KR" dirty="0">
                <a:solidFill>
                  <a:srgbClr val="FF0000"/>
                </a:solidFill>
              </a:rPr>
              <a:t>, </a:t>
            </a:r>
            <a:r>
              <a:rPr lang="ko-KR" altLang="en-US" dirty="0">
                <a:solidFill>
                  <a:srgbClr val="FF0000"/>
                </a:solidFill>
              </a:rPr>
              <a:t>입찰서 등에서 파일을 업로드</a:t>
            </a:r>
            <a:r>
              <a:rPr lang="en-US" altLang="ko-KR" dirty="0">
                <a:solidFill>
                  <a:srgbClr val="FF0000"/>
                </a:solidFill>
              </a:rPr>
              <a:t>(</a:t>
            </a:r>
            <a:r>
              <a:rPr lang="ko-KR" altLang="en-US" dirty="0">
                <a:solidFill>
                  <a:srgbClr val="FF0000"/>
                </a:solidFill>
              </a:rPr>
              <a:t>파일 첨부</a:t>
            </a:r>
            <a:r>
              <a:rPr lang="en-US" altLang="ko-KR" dirty="0">
                <a:solidFill>
                  <a:srgbClr val="FF0000"/>
                </a:solidFill>
              </a:rPr>
              <a:t>)</a:t>
            </a:r>
            <a:r>
              <a:rPr lang="ko-KR" altLang="en-US" dirty="0">
                <a:solidFill>
                  <a:srgbClr val="FF0000"/>
                </a:solidFill>
              </a:rPr>
              <a:t>할 때</a:t>
            </a:r>
            <a:r>
              <a:rPr lang="en-US" altLang="ko-KR" dirty="0">
                <a:solidFill>
                  <a:srgbClr val="FF0000"/>
                </a:solidFill>
              </a:rPr>
              <a:t>, </a:t>
            </a:r>
            <a:r>
              <a:rPr lang="ko-KR" altLang="en-US" dirty="0">
                <a:solidFill>
                  <a:srgbClr val="FF0000"/>
                </a:solidFill>
              </a:rPr>
              <a:t>사용자에게 </a:t>
            </a:r>
            <a:r>
              <a:rPr lang="ko-KR" altLang="en-US" dirty="0" err="1">
                <a:solidFill>
                  <a:srgbClr val="FF0000"/>
                </a:solidFill>
              </a:rPr>
              <a:t>직접업로드</a:t>
            </a:r>
            <a:r>
              <a:rPr lang="en-US" altLang="ko-KR" dirty="0">
                <a:solidFill>
                  <a:srgbClr val="FF0000"/>
                </a:solidFill>
              </a:rPr>
              <a:t>, </a:t>
            </a:r>
            <a:r>
              <a:rPr lang="ko-KR" altLang="en-US" dirty="0">
                <a:solidFill>
                  <a:srgbClr val="FF0000"/>
                </a:solidFill>
              </a:rPr>
              <a:t>캐비닛 업로드를 할 수 있는 팝업 선택지가 노출됨</a:t>
            </a:r>
            <a:r>
              <a:rPr lang="en-US" altLang="ko-KR" dirty="0">
                <a:solidFill>
                  <a:srgbClr val="FF0000"/>
                </a:solidFill>
              </a:rPr>
              <a:t>. </a:t>
            </a:r>
            <a:br>
              <a:rPr lang="en-US" altLang="ko-KR" dirty="0">
                <a:solidFill>
                  <a:srgbClr val="FF0000"/>
                </a:solidFill>
              </a:rPr>
            </a:br>
            <a:r>
              <a:rPr lang="en-US" altLang="ko-KR" dirty="0">
                <a:solidFill>
                  <a:srgbClr val="FF0000"/>
                </a:solidFill>
              </a:rPr>
              <a:t>- </a:t>
            </a:r>
            <a:r>
              <a:rPr lang="ko-KR" altLang="en-US" dirty="0">
                <a:solidFill>
                  <a:srgbClr val="FF0000"/>
                </a:solidFill>
              </a:rPr>
              <a:t>사용자가 디지털 캐비닛 업로드 선택 시 캐비닛의 파일을 선택하여 업로드할 수 있는 체크박스와 </a:t>
            </a:r>
            <a:r>
              <a:rPr lang="ko-KR" altLang="en-US" dirty="0" err="1">
                <a:solidFill>
                  <a:srgbClr val="FF0000"/>
                </a:solidFill>
              </a:rPr>
              <a:t>선택파일</a:t>
            </a:r>
            <a:r>
              <a:rPr lang="ko-KR" altLang="en-US" dirty="0">
                <a:solidFill>
                  <a:srgbClr val="FF0000"/>
                </a:solidFill>
              </a:rPr>
              <a:t> 첨부 버튼을 표시함</a:t>
            </a:r>
            <a:r>
              <a:rPr lang="en-US" altLang="ko-KR" dirty="0">
                <a:solidFill>
                  <a:srgbClr val="FF0000"/>
                </a:solidFill>
              </a:rPr>
              <a:t>.</a:t>
            </a:r>
            <a:br>
              <a:rPr lang="en-US" altLang="ko-KR" dirty="0">
                <a:solidFill>
                  <a:srgbClr val="FF0000"/>
                </a:solidFill>
              </a:rPr>
            </a:br>
            <a:r>
              <a:rPr lang="en-US" altLang="ko-KR" dirty="0">
                <a:solidFill>
                  <a:srgbClr val="FF0000"/>
                </a:solidFill>
              </a:rPr>
              <a:t>- </a:t>
            </a:r>
            <a:r>
              <a:rPr lang="ko-KR" altLang="en-US" dirty="0">
                <a:solidFill>
                  <a:srgbClr val="FF0000"/>
                </a:solidFill>
              </a:rPr>
              <a:t>캐비닛 업로드 선택 시 최초 진입은 목록 화면으로 진입하며</a:t>
            </a:r>
            <a:r>
              <a:rPr lang="en-US" altLang="ko-KR" dirty="0">
                <a:solidFill>
                  <a:srgbClr val="FF0000"/>
                </a:solidFill>
              </a:rPr>
              <a:t>, </a:t>
            </a:r>
            <a:r>
              <a:rPr lang="ko-KR" altLang="en-US" dirty="0">
                <a:solidFill>
                  <a:srgbClr val="FF0000"/>
                </a:solidFill>
              </a:rPr>
              <a:t>권한 버튼은 숨김 처리됨</a:t>
            </a:r>
            <a:r>
              <a:rPr lang="en-US" altLang="ko-KR" dirty="0">
                <a:solidFill>
                  <a:srgbClr val="FF0000"/>
                </a:solidFill>
              </a:rPr>
              <a:t>.</a:t>
            </a:r>
          </a:p>
          <a:p>
            <a:pPr marL="228600" indent="-228600">
              <a:buFont typeface="+mj-lt"/>
              <a:buAutoNum type="arabicPeriod"/>
            </a:pPr>
            <a:endParaRPr lang="en-US" altLang="ko-KR" dirty="0"/>
          </a:p>
          <a:p>
            <a:pPr marL="228600" indent="-228600">
              <a:buFont typeface="+mj-lt"/>
              <a:buAutoNum type="arabicPeriod"/>
            </a:pPr>
            <a:r>
              <a:rPr lang="ko-KR" altLang="en-US" dirty="0"/>
              <a:t>사용자가 선택 여부를 확인할 수 있는 체크박스 추가 표시</a:t>
            </a:r>
            <a:r>
              <a:rPr lang="en-US" altLang="ko-KR" dirty="0"/>
              <a:t/>
            </a:r>
            <a:br>
              <a:rPr lang="en-US" altLang="ko-KR" dirty="0"/>
            </a:br>
            <a:endParaRPr lang="en-US" altLang="ko-KR" dirty="0"/>
          </a:p>
          <a:p>
            <a:pPr marL="228600" indent="-228600">
              <a:buFont typeface="+mj-lt"/>
              <a:buAutoNum type="arabicPeriod"/>
            </a:pPr>
            <a:r>
              <a:rPr lang="ko-KR" altLang="en-US" dirty="0"/>
              <a:t>선택 파일 첨부를 통해 신청서 작성 등의 파일 </a:t>
            </a:r>
            <a:r>
              <a:rPr lang="ko-KR" altLang="en-US" dirty="0" err="1"/>
              <a:t>첨부항목에</a:t>
            </a:r>
            <a:r>
              <a:rPr lang="ko-KR" altLang="en-US" dirty="0"/>
              <a:t> 선택된 캐비닛 자료 업로드</a:t>
            </a:r>
            <a:r>
              <a:rPr lang="en-US" altLang="ko-KR" dirty="0"/>
              <a:t/>
            </a:r>
            <a:br>
              <a:rPr lang="en-US" altLang="ko-KR" dirty="0"/>
            </a:br>
            <a:r>
              <a:rPr lang="en-US" altLang="ko-KR" dirty="0"/>
              <a:t>- </a:t>
            </a:r>
            <a:r>
              <a:rPr lang="ko-KR" altLang="en-US" dirty="0"/>
              <a:t>이전 </a:t>
            </a:r>
            <a:r>
              <a:rPr lang="ko-KR" altLang="en-US" dirty="0" err="1"/>
              <a:t>파일첨부하던</a:t>
            </a:r>
            <a:r>
              <a:rPr lang="ko-KR" altLang="en-US" dirty="0"/>
              <a:t> 화면으로 복귀</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lvl="0">
              <a:defRPr/>
            </a:pPr>
            <a:r>
              <a:rPr lang="ko-KR" altLang="en-US" dirty="0" smtClean="0">
                <a:solidFill>
                  <a:prstClr val="black"/>
                </a:solidFill>
                <a:latin typeface="맑은 고딕" panose="020B0503020000020004" pitchFamily="50" charset="-127"/>
              </a:rPr>
              <a:t>폴더내파일목록</a:t>
            </a:r>
            <a:endParaRPr lang="ko-KR" altLang="en-US" dirty="0">
              <a:solidFill>
                <a:prstClr val="black"/>
              </a:solidFill>
              <a:latin typeface="맑은 고딕" panose="020B0503020000020004" pitchFamily="50" charset="-127"/>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디지털캐비닛 파일 목록 화면</a:t>
            </a:r>
            <a:endParaRPr lang="en-US" altLang="ko-KR"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latin typeface="+mn-ea"/>
              </a:rPr>
              <a:t>메인 홈 </a:t>
            </a:r>
            <a:r>
              <a:rPr lang="en-US" altLang="ko-KR" dirty="0">
                <a:latin typeface="+mn-ea"/>
              </a:rPr>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MUI-CM-06-M16</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9242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0" name="TextBox 58">
            <a:extLst>
              <a:ext uri="{FF2B5EF4-FFF2-40B4-BE49-F238E27FC236}">
                <a16:creationId xmlns:a16="http://schemas.microsoft.com/office/drawing/2014/main" id="{02FC114B-B48B-345F-BD70-2B5A196F5B3E}"/>
              </a:ext>
            </a:extLst>
          </p:cNvPr>
          <p:cNvSpPr txBox="1"/>
          <p:nvPr/>
        </p:nvSpPr>
        <p:spPr>
          <a:xfrm>
            <a:off x="772625"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51" name="직선 연결선 50">
            <a:extLst>
              <a:ext uri="{FF2B5EF4-FFF2-40B4-BE49-F238E27FC236}">
                <a16:creationId xmlns:a16="http://schemas.microsoft.com/office/drawing/2014/main" id="{E9293055-D5CD-4B9E-7F64-64B2D2CA7A52}"/>
              </a:ext>
            </a:extLst>
          </p:cNvPr>
          <p:cNvCxnSpPr/>
          <p:nvPr/>
        </p:nvCxnSpPr>
        <p:spPr>
          <a:xfrm>
            <a:off x="675399"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2" name="TextBox 58">
            <a:extLst>
              <a:ext uri="{FF2B5EF4-FFF2-40B4-BE49-F238E27FC236}">
                <a16:creationId xmlns:a16="http://schemas.microsoft.com/office/drawing/2014/main" id="{02FC114B-B48B-345F-BD70-2B5A196F5B3E}"/>
              </a:ext>
            </a:extLst>
          </p:cNvPr>
          <p:cNvSpPr txBox="1"/>
          <p:nvPr/>
        </p:nvSpPr>
        <p:spPr>
          <a:xfrm>
            <a:off x="980620"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59" name="TextBox 58">
            <a:extLst>
              <a:ext uri="{FF2B5EF4-FFF2-40B4-BE49-F238E27FC236}">
                <a16:creationId xmlns:a16="http://schemas.microsoft.com/office/drawing/2014/main" id="{02FC114B-B48B-345F-BD70-2B5A196F5B3E}"/>
              </a:ext>
            </a:extLst>
          </p:cNvPr>
          <p:cNvSpPr txBox="1"/>
          <p:nvPr/>
        </p:nvSpPr>
        <p:spPr>
          <a:xfrm>
            <a:off x="772625"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75399"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TextBox 58">
            <a:extLst>
              <a:ext uri="{FF2B5EF4-FFF2-40B4-BE49-F238E27FC236}">
                <a16:creationId xmlns:a16="http://schemas.microsoft.com/office/drawing/2014/main" id="{02FC114B-B48B-345F-BD70-2B5A196F5B3E}"/>
              </a:ext>
            </a:extLst>
          </p:cNvPr>
          <p:cNvSpPr txBox="1"/>
          <p:nvPr/>
        </p:nvSpPr>
        <p:spPr>
          <a:xfrm>
            <a:off x="1019814"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67" name="TextBox 58">
            <a:extLst>
              <a:ext uri="{FF2B5EF4-FFF2-40B4-BE49-F238E27FC236}">
                <a16:creationId xmlns:a16="http://schemas.microsoft.com/office/drawing/2014/main" id="{02FC114B-B48B-345F-BD70-2B5A196F5B3E}"/>
              </a:ext>
            </a:extLst>
          </p:cNvPr>
          <p:cNvSpPr txBox="1"/>
          <p:nvPr/>
        </p:nvSpPr>
        <p:spPr>
          <a:xfrm>
            <a:off x="772625"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75399"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5" name="TextBox 58">
            <a:extLst>
              <a:ext uri="{FF2B5EF4-FFF2-40B4-BE49-F238E27FC236}">
                <a16:creationId xmlns:a16="http://schemas.microsoft.com/office/drawing/2014/main" id="{02FC114B-B48B-345F-BD70-2B5A196F5B3E}"/>
              </a:ext>
            </a:extLst>
          </p:cNvPr>
          <p:cNvSpPr txBox="1"/>
          <p:nvPr/>
        </p:nvSpPr>
        <p:spPr>
          <a:xfrm>
            <a:off x="1019814"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81" name="TextBox 58">
            <a:extLst>
              <a:ext uri="{FF2B5EF4-FFF2-40B4-BE49-F238E27FC236}">
                <a16:creationId xmlns:a16="http://schemas.microsoft.com/office/drawing/2014/main" id="{02FC114B-B48B-345F-BD70-2B5A196F5B3E}"/>
              </a:ext>
            </a:extLst>
          </p:cNvPr>
          <p:cNvSpPr txBox="1"/>
          <p:nvPr/>
        </p:nvSpPr>
        <p:spPr>
          <a:xfrm>
            <a:off x="772625"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58">
            <a:extLst>
              <a:ext uri="{FF2B5EF4-FFF2-40B4-BE49-F238E27FC236}">
                <a16:creationId xmlns:a16="http://schemas.microsoft.com/office/drawing/2014/main" id="{02FC114B-B48B-345F-BD70-2B5A196F5B3E}"/>
              </a:ext>
            </a:extLst>
          </p:cNvPr>
          <p:cNvSpPr txBox="1"/>
          <p:nvPr/>
        </p:nvSpPr>
        <p:spPr>
          <a:xfrm>
            <a:off x="1019814"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8" name="TextBox 58">
            <a:extLst>
              <a:ext uri="{FF2B5EF4-FFF2-40B4-BE49-F238E27FC236}">
                <a16:creationId xmlns:a16="http://schemas.microsoft.com/office/drawing/2014/main" id="{02FC114B-B48B-345F-BD70-2B5A196F5B3E}"/>
              </a:ext>
            </a:extLst>
          </p:cNvPr>
          <p:cNvSpPr txBox="1"/>
          <p:nvPr/>
        </p:nvSpPr>
        <p:spPr>
          <a:xfrm>
            <a:off x="772625"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675399"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58">
            <a:extLst>
              <a:ext uri="{FF2B5EF4-FFF2-40B4-BE49-F238E27FC236}">
                <a16:creationId xmlns:a16="http://schemas.microsoft.com/office/drawing/2014/main" id="{02FC114B-B48B-345F-BD70-2B5A196F5B3E}"/>
              </a:ext>
            </a:extLst>
          </p:cNvPr>
          <p:cNvSpPr txBox="1"/>
          <p:nvPr/>
        </p:nvSpPr>
        <p:spPr>
          <a:xfrm>
            <a:off x="1019814"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04" name="타원 103"/>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a:off x="3143548" y="2279636"/>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6" name="타원 115">
            <a:extLst>
              <a:ext uri="{FF2B5EF4-FFF2-40B4-BE49-F238E27FC236}">
                <a16:creationId xmlns:a16="http://schemas.microsoft.com/office/drawing/2014/main" id="{37A7FF4F-0EAA-1463-560A-D5EC24416103}"/>
              </a:ext>
            </a:extLst>
          </p:cNvPr>
          <p:cNvSpPr/>
          <p:nvPr/>
        </p:nvSpPr>
        <p:spPr>
          <a:xfrm>
            <a:off x="571127" y="301368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46" name="직사각형 45"/>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47" name="직사각형 46"/>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49" name="직사각형 48"/>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3" name="직사각형 52"/>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선택 파일 첨부</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5" name="직사각형 5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FC49AEA-2A8F-250C-A86A-A7751D9706C3}"/>
              </a:ext>
            </a:extLst>
          </p:cNvPr>
          <p:cNvSpPr txBox="1"/>
          <p:nvPr/>
        </p:nvSpPr>
        <p:spPr>
          <a:xfrm>
            <a:off x="4062763"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69" name="직선 연결선 68">
            <a:extLst>
              <a:ext uri="{FF2B5EF4-FFF2-40B4-BE49-F238E27FC236}">
                <a16:creationId xmlns:a16="http://schemas.microsoft.com/office/drawing/2014/main" id="{E9293055-D5CD-4B9E-7F64-64B2D2CA7A52}"/>
              </a:ext>
            </a:extLst>
          </p:cNvPr>
          <p:cNvCxnSpPr/>
          <p:nvPr/>
        </p:nvCxnSpPr>
        <p:spPr>
          <a:xfrm>
            <a:off x="3807261"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0" name="그룹 69"/>
          <p:cNvGrpSpPr/>
          <p:nvPr/>
        </p:nvGrpSpPr>
        <p:grpSpPr>
          <a:xfrm rot="5400000">
            <a:off x="3881704" y="1640499"/>
            <a:ext cx="94010" cy="47005"/>
            <a:chOff x="6812560" y="3297172"/>
            <a:chExt cx="94010" cy="47005"/>
          </a:xfrm>
        </p:grpSpPr>
        <p:cxnSp>
          <p:nvCxnSpPr>
            <p:cNvPr id="71" name="직선 연결선 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2" name="직선 연결선 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3" name="타원 72"/>
          <p:cNvSpPr/>
          <p:nvPr/>
        </p:nvSpPr>
        <p:spPr>
          <a:xfrm>
            <a:off x="6171228"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TextBox 73"/>
          <p:cNvSpPr txBox="1"/>
          <p:nvPr/>
        </p:nvSpPr>
        <p:spPr>
          <a:xfrm>
            <a:off x="6119977" y="1515996"/>
            <a:ext cx="290464" cy="276999"/>
          </a:xfrm>
          <a:prstGeom prst="rect">
            <a:avLst/>
          </a:prstGeom>
          <a:noFill/>
        </p:spPr>
        <p:txBody>
          <a:bodyPr wrap="none" rtlCol="0" anchor="ctr">
            <a:spAutoFit/>
          </a:bodyPr>
          <a:lstStyle/>
          <a:p>
            <a:pPr algn="ctr"/>
            <a:r>
              <a:rPr lang="ko-KR" altLang="en-US" sz="1200" dirty="0"/>
              <a:t>≡</a:t>
            </a:r>
          </a:p>
        </p:txBody>
      </p:sp>
      <p:grpSp>
        <p:nvGrpSpPr>
          <p:cNvPr id="76" name="그룹 75">
            <a:extLst>
              <a:ext uri="{FF2B5EF4-FFF2-40B4-BE49-F238E27FC236}">
                <a16:creationId xmlns:a16="http://schemas.microsoft.com/office/drawing/2014/main" id="{22BC05EE-C648-7CA2-4CCC-6E1C1A7E9BDA}"/>
              </a:ext>
            </a:extLst>
          </p:cNvPr>
          <p:cNvGrpSpPr/>
          <p:nvPr/>
        </p:nvGrpSpPr>
        <p:grpSpPr>
          <a:xfrm>
            <a:off x="5119672" y="4874158"/>
            <a:ext cx="76863" cy="292489"/>
            <a:chOff x="3750067" y="4683795"/>
            <a:chExt cx="76863" cy="292489"/>
          </a:xfrm>
        </p:grpSpPr>
        <p:sp>
          <p:nvSpPr>
            <p:cNvPr id="77" name="타원 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8" name="타원 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9" name="타원 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80" name="모서리가 둥근 직사각형 79"/>
          <p:cNvSpPr/>
          <p:nvPr/>
        </p:nvSpPr>
        <p:spPr>
          <a:xfrm>
            <a:off x="3908152"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82" name="TextBox 58">
            <a:extLst>
              <a:ext uri="{FF2B5EF4-FFF2-40B4-BE49-F238E27FC236}">
                <a16:creationId xmlns:a16="http://schemas.microsoft.com/office/drawing/2014/main" id="{02FC114B-B48B-345F-BD70-2B5A196F5B3E}"/>
              </a:ext>
            </a:extLst>
          </p:cNvPr>
          <p:cNvSpPr txBox="1"/>
          <p:nvPr/>
        </p:nvSpPr>
        <p:spPr>
          <a:xfrm>
            <a:off x="4209534"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3802090"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4" name="TextBox 58">
            <a:extLst>
              <a:ext uri="{FF2B5EF4-FFF2-40B4-BE49-F238E27FC236}">
                <a16:creationId xmlns:a16="http://schemas.microsoft.com/office/drawing/2014/main" id="{02FC114B-B48B-345F-BD70-2B5A196F5B3E}"/>
              </a:ext>
            </a:extLst>
          </p:cNvPr>
          <p:cNvSpPr txBox="1"/>
          <p:nvPr/>
        </p:nvSpPr>
        <p:spPr>
          <a:xfrm>
            <a:off x="3899316"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85" name="직선 연결선 84">
            <a:extLst>
              <a:ext uri="{FF2B5EF4-FFF2-40B4-BE49-F238E27FC236}">
                <a16:creationId xmlns:a16="http://schemas.microsoft.com/office/drawing/2014/main" id="{E9293055-D5CD-4B9E-7F64-64B2D2CA7A52}"/>
              </a:ext>
            </a:extLst>
          </p:cNvPr>
          <p:cNvCxnSpPr/>
          <p:nvPr/>
        </p:nvCxnSpPr>
        <p:spPr>
          <a:xfrm>
            <a:off x="3802090"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58">
            <a:extLst>
              <a:ext uri="{FF2B5EF4-FFF2-40B4-BE49-F238E27FC236}">
                <a16:creationId xmlns:a16="http://schemas.microsoft.com/office/drawing/2014/main" id="{02FC114B-B48B-345F-BD70-2B5A196F5B3E}"/>
              </a:ext>
            </a:extLst>
          </p:cNvPr>
          <p:cNvSpPr txBox="1"/>
          <p:nvPr/>
        </p:nvSpPr>
        <p:spPr>
          <a:xfrm>
            <a:off x="4107311"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87" name="TextBox 86">
            <a:extLst>
              <a:ext uri="{FF2B5EF4-FFF2-40B4-BE49-F238E27FC236}">
                <a16:creationId xmlns:a16="http://schemas.microsoft.com/office/drawing/2014/main" id="{02FC114B-B48B-345F-BD70-2B5A196F5B3E}"/>
              </a:ext>
            </a:extLst>
          </p:cNvPr>
          <p:cNvSpPr txBox="1"/>
          <p:nvPr/>
        </p:nvSpPr>
        <p:spPr>
          <a:xfrm>
            <a:off x="4089407"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88" name="직선 연결선 87">
            <a:extLst>
              <a:ext uri="{FF2B5EF4-FFF2-40B4-BE49-F238E27FC236}">
                <a16:creationId xmlns:a16="http://schemas.microsoft.com/office/drawing/2014/main" id="{E9293055-D5CD-4B9E-7F64-64B2D2CA7A52}"/>
              </a:ext>
            </a:extLst>
          </p:cNvPr>
          <p:cNvCxnSpPr/>
          <p:nvPr/>
        </p:nvCxnSpPr>
        <p:spPr>
          <a:xfrm>
            <a:off x="3802090"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9" name="TextBox 58">
            <a:extLst>
              <a:ext uri="{FF2B5EF4-FFF2-40B4-BE49-F238E27FC236}">
                <a16:creationId xmlns:a16="http://schemas.microsoft.com/office/drawing/2014/main" id="{02FC114B-B48B-345F-BD70-2B5A196F5B3E}"/>
              </a:ext>
            </a:extLst>
          </p:cNvPr>
          <p:cNvSpPr txBox="1"/>
          <p:nvPr/>
        </p:nvSpPr>
        <p:spPr>
          <a:xfrm>
            <a:off x="4336596"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0" name="TextBox 58">
            <a:extLst>
              <a:ext uri="{FF2B5EF4-FFF2-40B4-BE49-F238E27FC236}">
                <a16:creationId xmlns:a16="http://schemas.microsoft.com/office/drawing/2014/main" id="{02FC114B-B48B-345F-BD70-2B5A196F5B3E}"/>
              </a:ext>
            </a:extLst>
          </p:cNvPr>
          <p:cNvSpPr txBox="1"/>
          <p:nvPr/>
        </p:nvSpPr>
        <p:spPr>
          <a:xfrm>
            <a:off x="4089407"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3802090"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TextBox 58">
            <a:extLst>
              <a:ext uri="{FF2B5EF4-FFF2-40B4-BE49-F238E27FC236}">
                <a16:creationId xmlns:a16="http://schemas.microsoft.com/office/drawing/2014/main" id="{02FC114B-B48B-345F-BD70-2B5A196F5B3E}"/>
              </a:ext>
            </a:extLst>
          </p:cNvPr>
          <p:cNvSpPr txBox="1"/>
          <p:nvPr/>
        </p:nvSpPr>
        <p:spPr>
          <a:xfrm>
            <a:off x="4336596"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5" name="TextBox 58">
            <a:extLst>
              <a:ext uri="{FF2B5EF4-FFF2-40B4-BE49-F238E27FC236}">
                <a16:creationId xmlns:a16="http://schemas.microsoft.com/office/drawing/2014/main" id="{02FC114B-B48B-345F-BD70-2B5A196F5B3E}"/>
              </a:ext>
            </a:extLst>
          </p:cNvPr>
          <p:cNvSpPr txBox="1"/>
          <p:nvPr/>
        </p:nvSpPr>
        <p:spPr>
          <a:xfrm>
            <a:off x="4089407"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3802090"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TextBox 58">
            <a:extLst>
              <a:ext uri="{FF2B5EF4-FFF2-40B4-BE49-F238E27FC236}">
                <a16:creationId xmlns:a16="http://schemas.microsoft.com/office/drawing/2014/main" id="{02FC114B-B48B-345F-BD70-2B5A196F5B3E}"/>
              </a:ext>
            </a:extLst>
          </p:cNvPr>
          <p:cNvSpPr txBox="1"/>
          <p:nvPr/>
        </p:nvSpPr>
        <p:spPr>
          <a:xfrm>
            <a:off x="4336596"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101" name="TextBox 58">
            <a:extLst>
              <a:ext uri="{FF2B5EF4-FFF2-40B4-BE49-F238E27FC236}">
                <a16:creationId xmlns:a16="http://schemas.microsoft.com/office/drawing/2014/main" id="{02FC114B-B48B-345F-BD70-2B5A196F5B3E}"/>
              </a:ext>
            </a:extLst>
          </p:cNvPr>
          <p:cNvSpPr txBox="1"/>
          <p:nvPr/>
        </p:nvSpPr>
        <p:spPr>
          <a:xfrm>
            <a:off x="4089407"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8" name="직선 연결선 107">
            <a:extLst>
              <a:ext uri="{FF2B5EF4-FFF2-40B4-BE49-F238E27FC236}">
                <a16:creationId xmlns:a16="http://schemas.microsoft.com/office/drawing/2014/main" id="{E9293055-D5CD-4B9E-7F64-64B2D2CA7A52}"/>
              </a:ext>
            </a:extLst>
          </p:cNvPr>
          <p:cNvCxnSpPr/>
          <p:nvPr/>
        </p:nvCxnSpPr>
        <p:spPr>
          <a:xfrm>
            <a:off x="3802090"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58">
            <a:extLst>
              <a:ext uri="{FF2B5EF4-FFF2-40B4-BE49-F238E27FC236}">
                <a16:creationId xmlns:a16="http://schemas.microsoft.com/office/drawing/2014/main" id="{02FC114B-B48B-345F-BD70-2B5A196F5B3E}"/>
              </a:ext>
            </a:extLst>
          </p:cNvPr>
          <p:cNvSpPr txBox="1"/>
          <p:nvPr/>
        </p:nvSpPr>
        <p:spPr>
          <a:xfrm>
            <a:off x="4336596"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802090"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1" name="TextBox 110">
            <a:extLst>
              <a:ext uri="{FF2B5EF4-FFF2-40B4-BE49-F238E27FC236}">
                <a16:creationId xmlns:a16="http://schemas.microsoft.com/office/drawing/2014/main" id="{FFC49AEA-2A8F-250C-A86A-A7751D9706C3}"/>
              </a:ext>
            </a:extLst>
          </p:cNvPr>
          <p:cNvSpPr txBox="1"/>
          <p:nvPr/>
        </p:nvSpPr>
        <p:spPr>
          <a:xfrm>
            <a:off x="4146505"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12" name="타원 111"/>
          <p:cNvSpPr/>
          <p:nvPr/>
        </p:nvSpPr>
        <p:spPr>
          <a:xfrm>
            <a:off x="3910377"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a:off x="6270239" y="2279636"/>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7" name="사각형: 둥근 모서리 31">
            <a:extLst>
              <a:ext uri="{FF2B5EF4-FFF2-40B4-BE49-F238E27FC236}">
                <a16:creationId xmlns:a16="http://schemas.microsoft.com/office/drawing/2014/main" id="{2AC143EE-93CF-3518-F0CB-8469E98507E0}"/>
              </a:ext>
            </a:extLst>
          </p:cNvPr>
          <p:cNvSpPr/>
          <p:nvPr/>
        </p:nvSpPr>
        <p:spPr>
          <a:xfrm>
            <a:off x="3912489" y="3028158"/>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18" name="사각형: 둥근 모서리 31">
            <a:extLst>
              <a:ext uri="{FF2B5EF4-FFF2-40B4-BE49-F238E27FC236}">
                <a16:creationId xmlns:a16="http://schemas.microsoft.com/office/drawing/2014/main" id="{2AC143EE-93CF-3518-F0CB-8469E98507E0}"/>
              </a:ext>
            </a:extLst>
          </p:cNvPr>
          <p:cNvSpPr/>
          <p:nvPr/>
        </p:nvSpPr>
        <p:spPr>
          <a:xfrm>
            <a:off x="3912489" y="3444097"/>
            <a:ext cx="108000" cy="108000"/>
          </a:xfrm>
          <a:prstGeom prst="roundRect">
            <a:avLst/>
          </a:prstGeom>
          <a:solidFill>
            <a:srgbClr val="0070C0"/>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en-US" sz="700" b="1" i="0" u="none" strike="noStrike" kern="0" cap="none" spc="0" normalizeH="0" baseline="0" noProof="0" dirty="0" smtClean="0">
                <a:ln>
                  <a:noFill/>
                </a:ln>
                <a:solidFill>
                  <a:schemeClr val="bg1"/>
                </a:solidFill>
                <a:effectLst/>
                <a:uLnTx/>
                <a:uFillTx/>
                <a:latin typeface="맑은 고딕"/>
              </a:rPr>
              <a:t>V</a:t>
            </a:r>
            <a:endParaRPr kumimoji="1" lang="en-US" sz="700" b="1" i="0" u="none" strike="noStrike" kern="0" cap="none" spc="0" normalizeH="0" baseline="0" noProof="0" dirty="0">
              <a:ln>
                <a:noFill/>
              </a:ln>
              <a:solidFill>
                <a:schemeClr val="bg1"/>
              </a:solidFill>
              <a:effectLst/>
              <a:uLnTx/>
              <a:uFillTx/>
              <a:latin typeface="맑은 고딕"/>
            </a:endParaRPr>
          </a:p>
        </p:txBody>
      </p:sp>
      <p:sp>
        <p:nvSpPr>
          <p:cNvPr id="119" name="사각형: 둥근 모서리 31">
            <a:extLst>
              <a:ext uri="{FF2B5EF4-FFF2-40B4-BE49-F238E27FC236}">
                <a16:creationId xmlns:a16="http://schemas.microsoft.com/office/drawing/2014/main" id="{2AC143EE-93CF-3518-F0CB-8469E98507E0}"/>
              </a:ext>
            </a:extLst>
          </p:cNvPr>
          <p:cNvSpPr/>
          <p:nvPr/>
        </p:nvSpPr>
        <p:spPr>
          <a:xfrm>
            <a:off x="3912489" y="3861946"/>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0" name="사각형: 둥근 모서리 31">
            <a:extLst>
              <a:ext uri="{FF2B5EF4-FFF2-40B4-BE49-F238E27FC236}">
                <a16:creationId xmlns:a16="http://schemas.microsoft.com/office/drawing/2014/main" id="{2AC143EE-93CF-3518-F0CB-8469E98507E0}"/>
              </a:ext>
            </a:extLst>
          </p:cNvPr>
          <p:cNvSpPr/>
          <p:nvPr/>
        </p:nvSpPr>
        <p:spPr>
          <a:xfrm>
            <a:off x="3912489" y="4277885"/>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1" name="타원 120">
            <a:extLst>
              <a:ext uri="{FF2B5EF4-FFF2-40B4-BE49-F238E27FC236}">
                <a16:creationId xmlns:a16="http://schemas.microsoft.com/office/drawing/2014/main" id="{37A7FF4F-0EAA-1463-560A-D5EC24416103}"/>
              </a:ext>
            </a:extLst>
          </p:cNvPr>
          <p:cNvSpPr/>
          <p:nvPr/>
        </p:nvSpPr>
        <p:spPr>
          <a:xfrm>
            <a:off x="3726896" y="141389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22" name="타원 121">
            <a:extLst>
              <a:ext uri="{FF2B5EF4-FFF2-40B4-BE49-F238E27FC236}">
                <a16:creationId xmlns:a16="http://schemas.microsoft.com/office/drawing/2014/main" id="{37A7FF4F-0EAA-1463-560A-D5EC24416103}"/>
              </a:ext>
            </a:extLst>
          </p:cNvPr>
          <p:cNvSpPr/>
          <p:nvPr/>
        </p:nvSpPr>
        <p:spPr>
          <a:xfrm>
            <a:off x="3726896" y="278359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23" name="타원 122">
            <a:extLst>
              <a:ext uri="{FF2B5EF4-FFF2-40B4-BE49-F238E27FC236}">
                <a16:creationId xmlns:a16="http://schemas.microsoft.com/office/drawing/2014/main" id="{37A7FF4F-0EAA-1463-560A-D5EC24416103}"/>
              </a:ext>
            </a:extLst>
          </p:cNvPr>
          <p:cNvSpPr/>
          <p:nvPr/>
        </p:nvSpPr>
        <p:spPr>
          <a:xfrm>
            <a:off x="3726896"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272074480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문의처 담당자 연락처 정보 표시</a:t>
            </a:r>
            <a:endParaRPr lang="en-US" altLang="ko-KR" dirty="0"/>
          </a:p>
          <a:p>
            <a:pPr marL="228600" indent="-228600">
              <a:buFont typeface="+mj-lt"/>
              <a:buAutoNum type="arabicPeriod"/>
            </a:pPr>
            <a:r>
              <a:rPr lang="ko-KR" altLang="en-US" dirty="0"/>
              <a:t>약관 동의 항목 필요에 따라 노출</a:t>
            </a:r>
            <a:r>
              <a:rPr lang="en-US" altLang="ko-KR" dirty="0"/>
              <a:t/>
            </a:r>
            <a:br>
              <a:rPr lang="en-US" altLang="ko-KR" dirty="0"/>
            </a:br>
            <a:r>
              <a:rPr lang="en-US" altLang="ko-KR" dirty="0"/>
              <a:t>- </a:t>
            </a:r>
            <a:r>
              <a:rPr lang="ko-KR" altLang="en-US" dirty="0"/>
              <a:t>팝업에서 동의는 서약서와 동일</a:t>
            </a:r>
            <a:endParaRPr lang="en-US" altLang="ko-KR" dirty="0"/>
          </a:p>
          <a:p>
            <a:pPr marL="228600" indent="-228600">
              <a:buFont typeface="+mj-lt"/>
              <a:buAutoNum type="arabicPeriod"/>
            </a:pPr>
            <a:r>
              <a:rPr lang="ko-KR" altLang="en-US" dirty="0"/>
              <a:t>사후심사대상인 경우 안내 </a:t>
            </a:r>
            <a:r>
              <a:rPr lang="ko-KR" altLang="en-US" dirty="0" smtClean="0"/>
              <a:t>표시</a:t>
            </a:r>
            <a:endParaRPr lang="en-US" altLang="ko-KR" dirty="0" smtClean="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smtClean="0">
                <a:latin typeface="+mn-ea"/>
              </a:rPr>
              <a:t>문의 </a:t>
            </a:r>
            <a:r>
              <a:rPr lang="ko-KR" altLang="en-US" dirty="0">
                <a:latin typeface="+mn-ea"/>
              </a:rPr>
              <a:t>및 동의</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문의 및 동의</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문의 및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MUI-BD-04-M14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337422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3402359"/>
            <a:ext cx="2522014" cy="342712"/>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3512160"/>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6" y="3450605"/>
            <a:ext cx="1681986"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err="1">
                <a:latin typeface="맑은 고딕" panose="020B0503020000020004" pitchFamily="50" charset="-127"/>
              </a:rPr>
              <a:t>국방규격</a:t>
            </a:r>
            <a:r>
              <a:rPr lang="ko-KR" altLang="en-US" sz="800" dirty="0">
                <a:latin typeface="맑은 고딕" panose="020B0503020000020004" pitchFamily="50" charset="-127"/>
              </a:rPr>
              <a:t> 및 계약이행 가능성</a:t>
            </a:r>
            <a:r>
              <a:rPr lang="en-US" altLang="ko-KR" sz="800" dirty="0">
                <a:latin typeface="맑은 고딕" panose="020B0503020000020004" pitchFamily="50" charset="-127"/>
              </a:rPr>
              <a:t> </a:t>
            </a:r>
            <a:r>
              <a:rPr lang="ko-KR" altLang="en-US" sz="800" dirty="0">
                <a:latin typeface="맑은 고딕" panose="020B0503020000020004" pitchFamily="50" charset="-127"/>
              </a:rPr>
              <a:t>확인 동의</a:t>
            </a:r>
            <a:endParaRPr lang="en-US" altLang="ko-KR" sz="800" dirty="0">
              <a:latin typeface="맑은 고딕" panose="020B0503020000020004" pitchFamily="50" charset="-127"/>
            </a:endParaRPr>
          </a:p>
        </p:txBody>
      </p:sp>
      <p:sp>
        <p:nvSpPr>
          <p:cNvPr id="132" name="모서리가 둥근 직사각형 131"/>
          <p:cNvSpPr/>
          <p:nvPr/>
        </p:nvSpPr>
        <p:spPr>
          <a:xfrm>
            <a:off x="2958909" y="3514015"/>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40" name="사각형: 둥근 모서리 15">
            <a:extLst>
              <a:ext uri="{FF2B5EF4-FFF2-40B4-BE49-F238E27FC236}">
                <a16:creationId xmlns:a16="http://schemas.microsoft.com/office/drawing/2014/main" id="{E2B61CFB-AD16-68D0-8752-50D9C5E01971}"/>
              </a:ext>
            </a:extLst>
          </p:cNvPr>
          <p:cNvSpPr/>
          <p:nvPr/>
        </p:nvSpPr>
        <p:spPr>
          <a:xfrm>
            <a:off x="767702" y="3835878"/>
            <a:ext cx="2522014" cy="2946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TextBox 58">
            <a:extLst>
              <a:ext uri="{FF2B5EF4-FFF2-40B4-BE49-F238E27FC236}">
                <a16:creationId xmlns:a16="http://schemas.microsoft.com/office/drawing/2014/main" id="{02FC114B-B48B-345F-BD70-2B5A196F5B3E}"/>
              </a:ext>
            </a:extLst>
          </p:cNvPr>
          <p:cNvSpPr txBox="1"/>
          <p:nvPr/>
        </p:nvSpPr>
        <p:spPr>
          <a:xfrm>
            <a:off x="865539" y="3916804"/>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2</a:t>
            </a:r>
            <a:endParaRPr lang="ko-KR" altLang="en-US" sz="800" b="1" dirty="0"/>
          </a:p>
        </p:txBody>
      </p:sp>
      <p:sp>
        <p:nvSpPr>
          <p:cNvPr id="142" name="TextBox 58">
            <a:extLst>
              <a:ext uri="{FF2B5EF4-FFF2-40B4-BE49-F238E27FC236}">
                <a16:creationId xmlns:a16="http://schemas.microsoft.com/office/drawing/2014/main" id="{02FC114B-B48B-345F-BD70-2B5A196F5B3E}"/>
              </a:ext>
            </a:extLst>
          </p:cNvPr>
          <p:cNvSpPr txBox="1"/>
          <p:nvPr/>
        </p:nvSpPr>
        <p:spPr>
          <a:xfrm>
            <a:off x="981276" y="3916804"/>
            <a:ext cx="168198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약관동의</a:t>
            </a:r>
            <a:endParaRPr lang="ko-KR" altLang="en-US" sz="800" dirty="0"/>
          </a:p>
        </p:txBody>
      </p:sp>
      <p:sp>
        <p:nvSpPr>
          <p:cNvPr id="143" name="모서리가 둥근 직사각형 142"/>
          <p:cNvSpPr/>
          <p:nvPr/>
        </p:nvSpPr>
        <p:spPr>
          <a:xfrm>
            <a:off x="2958909" y="3918659"/>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3515858"/>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99" name="사각형: 둥근 모서리 15">
            <a:extLst>
              <a:ext uri="{FF2B5EF4-FFF2-40B4-BE49-F238E27FC236}">
                <a16:creationId xmlns:a16="http://schemas.microsoft.com/office/drawing/2014/main" id="{E2B61CFB-AD16-68D0-8752-50D9C5E01971}"/>
              </a:ext>
            </a:extLst>
          </p:cNvPr>
          <p:cNvSpPr/>
          <p:nvPr/>
        </p:nvSpPr>
        <p:spPr>
          <a:xfrm>
            <a:off x="767702" y="4222458"/>
            <a:ext cx="2522014" cy="34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0" name="TextBox 58">
            <a:extLst>
              <a:ext uri="{FF2B5EF4-FFF2-40B4-BE49-F238E27FC236}">
                <a16:creationId xmlns:a16="http://schemas.microsoft.com/office/drawing/2014/main" id="{02FC114B-B48B-345F-BD70-2B5A196F5B3E}"/>
              </a:ext>
            </a:extLst>
          </p:cNvPr>
          <p:cNvSpPr txBox="1"/>
          <p:nvPr/>
        </p:nvSpPr>
        <p:spPr>
          <a:xfrm>
            <a:off x="865539" y="4331903"/>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3</a:t>
            </a:r>
            <a:endParaRPr lang="ko-KR" altLang="en-US" sz="800" b="1" dirty="0"/>
          </a:p>
        </p:txBody>
      </p:sp>
      <p:sp>
        <p:nvSpPr>
          <p:cNvPr id="202" name="TextBox 58">
            <a:extLst>
              <a:ext uri="{FF2B5EF4-FFF2-40B4-BE49-F238E27FC236}">
                <a16:creationId xmlns:a16="http://schemas.microsoft.com/office/drawing/2014/main" id="{02FC114B-B48B-345F-BD70-2B5A196F5B3E}"/>
              </a:ext>
            </a:extLst>
          </p:cNvPr>
          <p:cNvSpPr txBox="1"/>
          <p:nvPr/>
        </p:nvSpPr>
        <p:spPr>
          <a:xfrm>
            <a:off x="981277" y="4270348"/>
            <a:ext cx="1681986"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하도급대금의 지급관련 확인 및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확약서</a:t>
            </a:r>
            <a:endParaRPr lang="en-US" altLang="ko-KR" sz="800" dirty="0">
              <a:latin typeface="맑은 고딕" panose="020B0503020000020004" pitchFamily="50" charset="-127"/>
            </a:endParaRPr>
          </a:p>
        </p:txBody>
      </p:sp>
      <p:sp>
        <p:nvSpPr>
          <p:cNvPr id="203" name="모서리가 둥근 직사각형 202"/>
          <p:cNvSpPr/>
          <p:nvPr/>
        </p:nvSpPr>
        <p:spPr>
          <a:xfrm>
            <a:off x="2958909" y="4333758"/>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27" name="직사각형 126">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795733"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solidFill>
                    <a:srgbClr val="0070C0"/>
                  </a:solidFill>
                </a:rPr>
                <a:t>신청하기</a:t>
              </a:r>
              <a:endParaRPr kumimoji="1" lang="en-US" altLang="ko-KR" sz="1000" kern="0" dirty="0">
                <a:solidFill>
                  <a:srgbClr val="0070C0"/>
                </a:solidFill>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altLang="ko-KR" sz="1000" kern="0" dirty="0"/>
            </a:p>
          </p:txBody>
        </p:sp>
      </p:grpSp>
      <p:sp>
        <p:nvSpPr>
          <p:cNvPr id="185" name="모서리가 둥근 직사각형 184"/>
          <p:cNvSpPr/>
          <p:nvPr/>
        </p:nvSpPr>
        <p:spPr>
          <a:xfrm>
            <a:off x="3825414" y="2022946"/>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4184" y="2121230"/>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sp>
        <p:nvSpPr>
          <p:cNvPr id="194" name="타원 193"/>
          <p:cNvSpPr/>
          <p:nvPr/>
        </p:nvSpPr>
        <p:spPr>
          <a:xfrm>
            <a:off x="3910226" y="211157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6259047" y="2160077"/>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2" name="타원 211">
            <a:extLst>
              <a:ext uri="{FF2B5EF4-FFF2-40B4-BE49-F238E27FC236}">
                <a16:creationId xmlns:a16="http://schemas.microsoft.com/office/drawing/2014/main" id="{37A7FF4F-0EAA-1463-560A-D5EC24416103}"/>
              </a:ext>
            </a:extLst>
          </p:cNvPr>
          <p:cNvSpPr/>
          <p:nvPr/>
        </p:nvSpPr>
        <p:spPr>
          <a:xfrm>
            <a:off x="3709669" y="202039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129" name="직선 연결선 128">
            <a:extLst>
              <a:ext uri="{FF2B5EF4-FFF2-40B4-BE49-F238E27FC236}">
                <a16:creationId xmlns:a16="http://schemas.microsoft.com/office/drawing/2014/main" id="{E9293055-D5CD-4B9E-7F64-64B2D2CA7A52}"/>
              </a:ext>
            </a:extLst>
          </p:cNvPr>
          <p:cNvCxnSpPr/>
          <p:nvPr/>
        </p:nvCxnSpPr>
        <p:spPr>
          <a:xfrm>
            <a:off x="720139" y="185312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763817" y="1636521"/>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1430194" y="1636521"/>
            <a:ext cx="555764"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007623" y="1636521"/>
            <a:ext cx="655640" cy="107722"/>
          </a:xfrm>
          <a:prstGeom prst="rect">
            <a:avLst/>
          </a:prstGeom>
          <a:noFill/>
        </p:spPr>
        <p:txBody>
          <a:bodyPr wrap="square" lIns="0" tIns="0" rIns="0" bIns="0" rtlCol="0">
            <a:spAutoFit/>
          </a:bodyPr>
          <a:lstStyle/>
          <a:p>
            <a:pPr algn="ctr"/>
            <a:r>
              <a:rPr lang="en-US" altLang="ko-KR" sz="700" b="1" dirty="0">
                <a:latin typeface="+mn-ea"/>
              </a:rPr>
              <a:t>7. </a:t>
            </a:r>
            <a:r>
              <a:rPr lang="ko-KR" altLang="en-US" sz="700" b="1" dirty="0">
                <a:latin typeface="+mn-ea"/>
              </a:rPr>
              <a:t>문의 및 동의</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1985958" y="1853128"/>
            <a:ext cx="67730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4" name="그룹 143"/>
          <p:cNvGrpSpPr/>
          <p:nvPr/>
        </p:nvGrpSpPr>
        <p:grpSpPr>
          <a:xfrm>
            <a:off x="2923735" y="1598398"/>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7" name="그룹 146"/>
            <p:cNvGrpSpPr/>
            <p:nvPr/>
          </p:nvGrpSpPr>
          <p:grpSpPr>
            <a:xfrm rot="5400000" flipH="1">
              <a:off x="3679895" y="2305364"/>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5" name="타원 16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7" name="그룹 166"/>
            <p:cNvGrpSpPr/>
            <p:nvPr/>
          </p:nvGrpSpPr>
          <p:grpSpPr>
            <a:xfrm rot="16200000">
              <a:off x="3931564" y="2305364"/>
              <a:ext cx="94010" cy="47005"/>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72" name="TextBox 171">
            <a:extLst>
              <a:ext uri="{FF2B5EF4-FFF2-40B4-BE49-F238E27FC236}">
                <a16:creationId xmlns:a16="http://schemas.microsoft.com/office/drawing/2014/main" id="{FFC49AEA-2A8F-250C-A86A-A7751D9706C3}"/>
              </a:ext>
            </a:extLst>
          </p:cNvPr>
          <p:cNvSpPr txBox="1"/>
          <p:nvPr/>
        </p:nvSpPr>
        <p:spPr>
          <a:xfrm>
            <a:off x="756845" y="1912136"/>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문의처</a:t>
            </a:r>
          </a:p>
        </p:txBody>
      </p:sp>
      <p:sp>
        <p:nvSpPr>
          <p:cNvPr id="173" name="사각형: 둥근 모서리 15">
            <a:extLst>
              <a:ext uri="{FF2B5EF4-FFF2-40B4-BE49-F238E27FC236}">
                <a16:creationId xmlns:a16="http://schemas.microsoft.com/office/drawing/2014/main" id="{E2B61CFB-AD16-68D0-8752-50D9C5E01971}"/>
              </a:ext>
            </a:extLst>
          </p:cNvPr>
          <p:cNvSpPr/>
          <p:nvPr/>
        </p:nvSpPr>
        <p:spPr>
          <a:xfrm>
            <a:off x="767702" y="2300127"/>
            <a:ext cx="2522014" cy="295200"/>
          </a:xfrm>
          <a:prstGeom prst="round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175" name="TextBox 58">
            <a:extLst>
              <a:ext uri="{FF2B5EF4-FFF2-40B4-BE49-F238E27FC236}">
                <a16:creationId xmlns:a16="http://schemas.microsoft.com/office/drawing/2014/main" id="{02FC114B-B48B-345F-BD70-2B5A196F5B3E}"/>
              </a:ext>
            </a:extLst>
          </p:cNvPr>
          <p:cNvSpPr txBox="1"/>
          <p:nvPr/>
        </p:nvSpPr>
        <p:spPr>
          <a:xfrm>
            <a:off x="919250" y="2173394"/>
            <a:ext cx="230832" cy="92333"/>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600" dirty="0">
                <a:latin typeface="맑은 고딕" panose="020B0503020000020004" pitchFamily="50" charset="-127"/>
              </a:rPr>
              <a:t>담당자</a:t>
            </a:r>
            <a:endParaRPr lang="en-US" altLang="ko-KR" sz="600" dirty="0">
              <a:latin typeface="맑은 고딕" panose="020B0503020000020004" pitchFamily="50" charset="-127"/>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675399" y="30688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756845" y="3116372"/>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약관 동의</a:t>
            </a: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767702" y="4651224"/>
            <a:ext cx="2522014" cy="2952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81" name="TextBox 58">
            <a:extLst>
              <a:ext uri="{FF2B5EF4-FFF2-40B4-BE49-F238E27FC236}">
                <a16:creationId xmlns:a16="http://schemas.microsoft.com/office/drawing/2014/main" id="{02FC114B-B48B-345F-BD70-2B5A196F5B3E}"/>
              </a:ext>
            </a:extLst>
          </p:cNvPr>
          <p:cNvSpPr txBox="1"/>
          <p:nvPr/>
        </p:nvSpPr>
        <p:spPr>
          <a:xfrm>
            <a:off x="865539" y="4737269"/>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4</a:t>
            </a:r>
            <a:endParaRPr lang="ko-KR" altLang="en-US" sz="800" b="1" dirty="0"/>
          </a:p>
        </p:txBody>
      </p:sp>
      <p:sp>
        <p:nvSpPr>
          <p:cNvPr id="182" name="TextBox 58">
            <a:extLst>
              <a:ext uri="{FF2B5EF4-FFF2-40B4-BE49-F238E27FC236}">
                <a16:creationId xmlns:a16="http://schemas.microsoft.com/office/drawing/2014/main" id="{02FC114B-B48B-345F-BD70-2B5A196F5B3E}"/>
              </a:ext>
            </a:extLst>
          </p:cNvPr>
          <p:cNvSpPr txBox="1"/>
          <p:nvPr/>
        </p:nvSpPr>
        <p:spPr>
          <a:xfrm>
            <a:off x="981277" y="4737269"/>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r>
              <a:rPr lang="ko-KR" altLang="en-US" sz="800" dirty="0">
                <a:latin typeface="맑은 고딕" panose="020B0503020000020004" pitchFamily="50" charset="-127"/>
              </a:rPr>
              <a:t> </a:t>
            </a:r>
            <a:r>
              <a:rPr lang="ko-KR" altLang="en-US" sz="800" dirty="0" err="1">
                <a:latin typeface="맑은 고딕" panose="020B0503020000020004" pitchFamily="50" charset="-127"/>
              </a:rPr>
              <a:t>동의문</a:t>
            </a:r>
            <a:endParaRPr lang="en-US" altLang="ko-KR" sz="800" dirty="0">
              <a:latin typeface="맑은 고딕" panose="020B0503020000020004" pitchFamily="50" charset="-127"/>
            </a:endParaRPr>
          </a:p>
        </p:txBody>
      </p:sp>
      <p:sp>
        <p:nvSpPr>
          <p:cNvPr id="184" name="모서리가 둥근 직사각형 183"/>
          <p:cNvSpPr/>
          <p:nvPr/>
        </p:nvSpPr>
        <p:spPr>
          <a:xfrm>
            <a:off x="2958909" y="4739124"/>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767702" y="5032469"/>
            <a:ext cx="2522014" cy="2952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96" name="TextBox 58">
            <a:extLst>
              <a:ext uri="{FF2B5EF4-FFF2-40B4-BE49-F238E27FC236}">
                <a16:creationId xmlns:a16="http://schemas.microsoft.com/office/drawing/2014/main" id="{02FC114B-B48B-345F-BD70-2B5A196F5B3E}"/>
              </a:ext>
            </a:extLst>
          </p:cNvPr>
          <p:cNvSpPr txBox="1"/>
          <p:nvPr/>
        </p:nvSpPr>
        <p:spPr>
          <a:xfrm>
            <a:off x="865539" y="5118514"/>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5</a:t>
            </a:r>
            <a:endParaRPr lang="ko-KR" altLang="en-US" sz="800" b="1" dirty="0"/>
          </a:p>
        </p:txBody>
      </p:sp>
      <p:sp>
        <p:nvSpPr>
          <p:cNvPr id="197" name="TextBox 58">
            <a:extLst>
              <a:ext uri="{FF2B5EF4-FFF2-40B4-BE49-F238E27FC236}">
                <a16:creationId xmlns:a16="http://schemas.microsoft.com/office/drawing/2014/main" id="{02FC114B-B48B-345F-BD70-2B5A196F5B3E}"/>
              </a:ext>
            </a:extLst>
          </p:cNvPr>
          <p:cNvSpPr txBox="1"/>
          <p:nvPr/>
        </p:nvSpPr>
        <p:spPr>
          <a:xfrm>
            <a:off x="981277" y="5118514"/>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r>
              <a:rPr lang="ko-KR" altLang="en-US" sz="800" dirty="0">
                <a:latin typeface="맑은 고딕" panose="020B0503020000020004" pitchFamily="50" charset="-127"/>
              </a:rPr>
              <a:t> 관련 경고문</a:t>
            </a:r>
            <a:endParaRPr lang="en-US" altLang="ko-KR" sz="800" dirty="0">
              <a:latin typeface="맑은 고딕" panose="020B0503020000020004" pitchFamily="50" charset="-127"/>
            </a:endParaRPr>
          </a:p>
        </p:txBody>
      </p:sp>
      <p:sp>
        <p:nvSpPr>
          <p:cNvPr id="206" name="모서리가 둥근 직사각형 205"/>
          <p:cNvSpPr/>
          <p:nvPr/>
        </p:nvSpPr>
        <p:spPr>
          <a:xfrm>
            <a:off x="2958909" y="5120369"/>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207" name="사각형: 둥근 모서리 15">
            <a:extLst>
              <a:ext uri="{FF2B5EF4-FFF2-40B4-BE49-F238E27FC236}">
                <a16:creationId xmlns:a16="http://schemas.microsoft.com/office/drawing/2014/main" id="{E2B61CFB-AD16-68D0-8752-50D9C5E01971}"/>
              </a:ext>
            </a:extLst>
          </p:cNvPr>
          <p:cNvSpPr/>
          <p:nvPr/>
        </p:nvSpPr>
        <p:spPr>
          <a:xfrm>
            <a:off x="767702" y="5414933"/>
            <a:ext cx="2522014" cy="2952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8" name="TextBox 58">
            <a:extLst>
              <a:ext uri="{FF2B5EF4-FFF2-40B4-BE49-F238E27FC236}">
                <a16:creationId xmlns:a16="http://schemas.microsoft.com/office/drawing/2014/main" id="{02FC114B-B48B-345F-BD70-2B5A196F5B3E}"/>
              </a:ext>
            </a:extLst>
          </p:cNvPr>
          <p:cNvSpPr txBox="1"/>
          <p:nvPr/>
        </p:nvSpPr>
        <p:spPr>
          <a:xfrm>
            <a:off x="865539" y="5500978"/>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6</a:t>
            </a:r>
            <a:endParaRPr lang="ko-KR" altLang="en-US" sz="800" b="1" dirty="0"/>
          </a:p>
        </p:txBody>
      </p:sp>
      <p:sp>
        <p:nvSpPr>
          <p:cNvPr id="209" name="TextBox 58">
            <a:extLst>
              <a:ext uri="{FF2B5EF4-FFF2-40B4-BE49-F238E27FC236}">
                <a16:creationId xmlns:a16="http://schemas.microsoft.com/office/drawing/2014/main" id="{02FC114B-B48B-345F-BD70-2B5A196F5B3E}"/>
              </a:ext>
            </a:extLst>
          </p:cNvPr>
          <p:cNvSpPr txBox="1"/>
          <p:nvPr/>
        </p:nvSpPr>
        <p:spPr>
          <a:xfrm>
            <a:off x="981277" y="5500978"/>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면제사유 확약서</a:t>
            </a:r>
            <a:endParaRPr lang="en-US" altLang="ko-KR" sz="800" dirty="0">
              <a:latin typeface="맑은 고딕" panose="020B0503020000020004" pitchFamily="50" charset="-127"/>
            </a:endParaRPr>
          </a:p>
        </p:txBody>
      </p:sp>
      <p:sp>
        <p:nvSpPr>
          <p:cNvPr id="213" name="모서리가 둥근 직사각형 212"/>
          <p:cNvSpPr/>
          <p:nvPr/>
        </p:nvSpPr>
        <p:spPr>
          <a:xfrm>
            <a:off x="2958909" y="550283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214" name="TextBox 58">
            <a:extLst>
              <a:ext uri="{FF2B5EF4-FFF2-40B4-BE49-F238E27FC236}">
                <a16:creationId xmlns:a16="http://schemas.microsoft.com/office/drawing/2014/main" id="{02FC114B-B48B-345F-BD70-2B5A196F5B3E}"/>
              </a:ext>
            </a:extLst>
          </p:cNvPr>
          <p:cNvSpPr txBox="1"/>
          <p:nvPr/>
        </p:nvSpPr>
        <p:spPr>
          <a:xfrm>
            <a:off x="919250" y="2340005"/>
            <a:ext cx="570669"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rPr>
              <a:t>방위사업청</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홍길동 </a:t>
            </a:r>
            <a:r>
              <a:rPr lang="ko-KR" altLang="en-US" sz="700" dirty="0" err="1">
                <a:latin typeface="맑은 고딕" panose="020B0503020000020004" pitchFamily="50" charset="-127"/>
              </a:rPr>
              <a:t>주무관</a:t>
            </a:r>
            <a:endParaRPr lang="en-US" altLang="ko-KR" sz="700" dirty="0">
              <a:latin typeface="맑은 고딕" panose="020B0503020000020004" pitchFamily="50" charset="-127"/>
            </a:endParaRPr>
          </a:p>
        </p:txBody>
      </p:sp>
      <p:sp>
        <p:nvSpPr>
          <p:cNvPr id="215" name="TextBox 58">
            <a:extLst>
              <a:ext uri="{FF2B5EF4-FFF2-40B4-BE49-F238E27FC236}">
                <a16:creationId xmlns:a16="http://schemas.microsoft.com/office/drawing/2014/main" id="{02FC114B-B48B-345F-BD70-2B5A196F5B3E}"/>
              </a:ext>
            </a:extLst>
          </p:cNvPr>
          <p:cNvSpPr txBox="1"/>
          <p:nvPr/>
        </p:nvSpPr>
        <p:spPr>
          <a:xfrm>
            <a:off x="1919484" y="2173394"/>
            <a:ext cx="230832" cy="92333"/>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600" dirty="0">
                <a:latin typeface="맑은 고딕" panose="020B0503020000020004" pitchFamily="50" charset="-127"/>
              </a:rPr>
              <a:t>연락처</a:t>
            </a:r>
            <a:endParaRPr lang="en-US" altLang="ko-KR" sz="600" dirty="0">
              <a:latin typeface="맑은 고딕" panose="020B0503020000020004" pitchFamily="50" charset="-127"/>
            </a:endParaRPr>
          </a:p>
        </p:txBody>
      </p:sp>
      <p:sp>
        <p:nvSpPr>
          <p:cNvPr id="216" name="TextBox 58">
            <a:extLst>
              <a:ext uri="{FF2B5EF4-FFF2-40B4-BE49-F238E27FC236}">
                <a16:creationId xmlns:a16="http://schemas.microsoft.com/office/drawing/2014/main" id="{02FC114B-B48B-345F-BD70-2B5A196F5B3E}"/>
              </a:ext>
            </a:extLst>
          </p:cNvPr>
          <p:cNvSpPr txBox="1"/>
          <p:nvPr/>
        </p:nvSpPr>
        <p:spPr>
          <a:xfrm>
            <a:off x="1919484" y="2340005"/>
            <a:ext cx="819135"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맑은 고딕" panose="020B0503020000020004" pitchFamily="50" charset="-127"/>
              </a:rPr>
              <a:t>02-1234-5678</a:t>
            </a:r>
          </a:p>
          <a:p>
            <a:r>
              <a:rPr lang="en-US" altLang="ko-KR" sz="700" dirty="0">
                <a:latin typeface="맑은 고딕" panose="020B0503020000020004" pitchFamily="50" charset="-127"/>
              </a:rPr>
              <a:t>kukbang@g2b.go.kr</a:t>
            </a: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43358" y="185312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887036" y="1636521"/>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553413" y="1636521"/>
            <a:ext cx="555764"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5130842" y="1636521"/>
            <a:ext cx="655640" cy="107722"/>
          </a:xfrm>
          <a:prstGeom prst="rect">
            <a:avLst/>
          </a:prstGeom>
          <a:noFill/>
        </p:spPr>
        <p:txBody>
          <a:bodyPr wrap="square" lIns="0" tIns="0" rIns="0" bIns="0" rtlCol="0">
            <a:spAutoFit/>
          </a:bodyPr>
          <a:lstStyle/>
          <a:p>
            <a:pPr algn="ctr"/>
            <a:r>
              <a:rPr lang="en-US" altLang="ko-KR" sz="700" b="1" dirty="0">
                <a:latin typeface="+mn-ea"/>
              </a:rPr>
              <a:t>7. </a:t>
            </a:r>
            <a:r>
              <a:rPr lang="ko-KR" altLang="en-US" sz="700" b="1" dirty="0">
                <a:latin typeface="+mn-ea"/>
              </a:rPr>
              <a:t>문의 및 동의</a:t>
            </a: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5109177" y="1853128"/>
            <a:ext cx="67730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29" name="그룹 228"/>
          <p:cNvGrpSpPr/>
          <p:nvPr/>
        </p:nvGrpSpPr>
        <p:grpSpPr>
          <a:xfrm>
            <a:off x="6046954" y="1598398"/>
            <a:ext cx="422853" cy="187961"/>
            <a:chOff x="3641308" y="2234886"/>
            <a:chExt cx="422853" cy="187961"/>
          </a:xfrm>
        </p:grpSpPr>
        <p:sp>
          <p:nvSpPr>
            <p:cNvPr id="230" name="타원 22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1" name="그룹 230"/>
            <p:cNvGrpSpPr/>
            <p:nvPr/>
          </p:nvGrpSpPr>
          <p:grpSpPr>
            <a:xfrm rot="5400000" flipH="1">
              <a:off x="3679895" y="2305364"/>
              <a:ext cx="94010" cy="47005"/>
              <a:chOff x="6812560" y="3297172"/>
              <a:chExt cx="94010" cy="47005"/>
            </a:xfrm>
          </p:grpSpPr>
          <p:cxnSp>
            <p:nvCxnSpPr>
              <p:cNvPr id="236" name="직선 연결선 23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7" name="직선 연결선 23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2" name="타원 23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16200000">
              <a:off x="3931564" y="2305364"/>
              <a:ext cx="94010" cy="47005"/>
              <a:chOff x="6812560" y="3297172"/>
              <a:chExt cx="94010" cy="47005"/>
            </a:xfrm>
          </p:grpSpPr>
          <p:cxnSp>
            <p:nvCxnSpPr>
              <p:cNvPr id="234" name="직선 연결선 2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5" name="직선 연결선 2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38" name="모서리가 둥근 직사각형 237"/>
          <p:cNvSpPr/>
          <p:nvPr/>
        </p:nvSpPr>
        <p:spPr>
          <a:xfrm rot="5400000">
            <a:off x="2662242" y="257032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39" name="모서리가 둥근 직사각형 238"/>
          <p:cNvSpPr/>
          <p:nvPr/>
        </p:nvSpPr>
        <p:spPr>
          <a:xfrm rot="5400000">
            <a:off x="5781678" y="415298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40" name="타원 239">
            <a:extLst>
              <a:ext uri="{FF2B5EF4-FFF2-40B4-BE49-F238E27FC236}">
                <a16:creationId xmlns:a16="http://schemas.microsoft.com/office/drawing/2014/main" id="{37A7FF4F-0EAA-1463-560A-D5EC24416103}"/>
              </a:ext>
            </a:extLst>
          </p:cNvPr>
          <p:cNvSpPr/>
          <p:nvPr/>
        </p:nvSpPr>
        <p:spPr>
          <a:xfrm>
            <a:off x="571127" y="229046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41" name="사각형: 둥근 모서리 15">
            <a:extLst>
              <a:ext uri="{FF2B5EF4-FFF2-40B4-BE49-F238E27FC236}">
                <a16:creationId xmlns:a16="http://schemas.microsoft.com/office/drawing/2014/main" id="{E2B61CFB-AD16-68D0-8752-50D9C5E01971}"/>
              </a:ext>
            </a:extLst>
          </p:cNvPr>
          <p:cNvSpPr/>
          <p:nvPr/>
        </p:nvSpPr>
        <p:spPr>
          <a:xfrm>
            <a:off x="767702" y="2678426"/>
            <a:ext cx="2522014" cy="295200"/>
          </a:xfrm>
          <a:prstGeom prst="round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242" name="TextBox 58">
            <a:extLst>
              <a:ext uri="{FF2B5EF4-FFF2-40B4-BE49-F238E27FC236}">
                <a16:creationId xmlns:a16="http://schemas.microsoft.com/office/drawing/2014/main" id="{02FC114B-B48B-345F-BD70-2B5A196F5B3E}"/>
              </a:ext>
            </a:extLst>
          </p:cNvPr>
          <p:cNvSpPr txBox="1"/>
          <p:nvPr/>
        </p:nvSpPr>
        <p:spPr>
          <a:xfrm>
            <a:off x="919250" y="2718304"/>
            <a:ext cx="570669"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rPr>
              <a:t>방위사업청</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홍길순 사무관</a:t>
            </a:r>
            <a:endParaRPr lang="en-US" altLang="ko-KR" sz="700" dirty="0">
              <a:latin typeface="맑은 고딕" panose="020B0503020000020004" pitchFamily="50" charset="-127"/>
            </a:endParaRPr>
          </a:p>
        </p:txBody>
      </p:sp>
      <p:sp>
        <p:nvSpPr>
          <p:cNvPr id="243" name="TextBox 58">
            <a:extLst>
              <a:ext uri="{FF2B5EF4-FFF2-40B4-BE49-F238E27FC236}">
                <a16:creationId xmlns:a16="http://schemas.microsoft.com/office/drawing/2014/main" id="{02FC114B-B48B-345F-BD70-2B5A196F5B3E}"/>
              </a:ext>
            </a:extLst>
          </p:cNvPr>
          <p:cNvSpPr txBox="1"/>
          <p:nvPr/>
        </p:nvSpPr>
        <p:spPr>
          <a:xfrm>
            <a:off x="1919484" y="2718304"/>
            <a:ext cx="819135"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맑은 고딕" panose="020B0503020000020004" pitchFamily="50" charset="-127"/>
              </a:rPr>
              <a:t>02-5678-4321</a:t>
            </a:r>
          </a:p>
          <a:p>
            <a:r>
              <a:rPr lang="en-US" altLang="ko-KR" sz="700" dirty="0">
                <a:latin typeface="맑은 고딕" panose="020B0503020000020004" pitchFamily="50" charset="-127"/>
              </a:rPr>
              <a:t>kukbang@g2b.go.kr</a:t>
            </a:r>
          </a:p>
        </p:txBody>
      </p:sp>
      <p:grpSp>
        <p:nvGrpSpPr>
          <p:cNvPr id="100" name="그룹 99"/>
          <p:cNvGrpSpPr/>
          <p:nvPr/>
        </p:nvGrpSpPr>
        <p:grpSpPr>
          <a:xfrm>
            <a:off x="8223250" y="569392"/>
            <a:ext cx="3365500" cy="634511"/>
            <a:chOff x="8223250" y="569392"/>
            <a:chExt cx="3365500" cy="634511"/>
          </a:xfrm>
        </p:grpSpPr>
        <p:sp>
          <p:nvSpPr>
            <p:cNvPr id="101" name="직사각형 100"/>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화면 수정</a:t>
              </a:r>
              <a:endParaRPr lang="ko-KR" altLang="en-US" dirty="0"/>
            </a:p>
          </p:txBody>
        </p:sp>
        <p:sp>
          <p:nvSpPr>
            <p:cNvPr id="102" name="직사각형 10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전자서명하기 </a:t>
              </a:r>
              <a:r>
                <a:rPr lang="en-US" altLang="ko-KR" sz="700" dirty="0" smtClean="0">
                  <a:sym typeface="Wingdings" panose="05000000000000000000" pitchFamily="2" charset="2"/>
                </a:rPr>
                <a:t> </a:t>
              </a:r>
              <a:r>
                <a:rPr lang="ko-KR" altLang="en-US" sz="700" dirty="0" smtClean="0">
                  <a:sym typeface="Wingdings" panose="05000000000000000000" pitchFamily="2" charset="2"/>
                </a:rPr>
                <a:t>신청하기로 변경</a:t>
              </a:r>
              <a:endParaRPr lang="ko-KR" altLang="en-US" sz="700" dirty="0"/>
            </a:p>
          </p:txBody>
        </p:sp>
      </p:grpSp>
    </p:spTree>
    <p:extLst>
      <p:ext uri="{BB962C8B-B14F-4D97-AF65-F5344CB8AC3E}">
        <p14:creationId xmlns:p14="http://schemas.microsoft.com/office/powerpoint/2010/main" val="399379259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137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4801420"/>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37470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700" dirty="0">
                          <a:latin typeface="+mn-ea"/>
                          <a:ea typeface="+mn-ea"/>
                        </a:rPr>
                        <a:t>공고구분</a:t>
                      </a:r>
                      <a:r>
                        <a:rPr lang="en-US" altLang="ko-KR" sz="700" dirty="0">
                          <a:latin typeface="+mn-ea"/>
                          <a:ea typeface="+mn-ea"/>
                        </a:rPr>
                        <a:t>(ANTC(</a:t>
                      </a:r>
                      <a:r>
                        <a:rPr lang="ko-KR" altLang="en-US" sz="700" dirty="0">
                          <a:latin typeface="+mn-ea"/>
                          <a:ea typeface="+mn-ea"/>
                        </a:rPr>
                        <a:t>공고유형부호</a:t>
                      </a:r>
                      <a:r>
                        <a:rPr lang="en-US" altLang="ko-KR" sz="700" dirty="0">
                          <a:latin typeface="+mn-ea"/>
                          <a:ea typeface="+mn-ea"/>
                        </a:rPr>
                        <a:t>))+</a:t>
                      </a:r>
                      <a:r>
                        <a:rPr lang="ko-KR" altLang="en-US" sz="700" dirty="0">
                          <a:latin typeface="+mn-ea"/>
                          <a:ea typeface="+mn-ea"/>
                        </a:rPr>
                        <a:t>공고번호</a:t>
                      </a:r>
                      <a:r>
                        <a:rPr lang="en-US" altLang="ko-KR" sz="700" dirty="0">
                          <a:latin typeface="+mn-ea"/>
                          <a:ea typeface="+mn-ea"/>
                        </a:rPr>
                        <a:t>+</a:t>
                      </a:r>
                      <a:r>
                        <a:rPr lang="ko-KR" altLang="en-US" sz="700" dirty="0" err="1">
                          <a:latin typeface="+mn-ea"/>
                          <a:ea typeface="+mn-ea"/>
                        </a:rPr>
                        <a:t>공고차수</a:t>
                      </a:r>
                      <a:endParaRPr lang="en-US" altLang="ko-KR" sz="700" dirty="0">
                        <a:latin typeface="+mn-ea"/>
                        <a:ea typeface="+mn-ea"/>
                      </a:endParaRPr>
                    </a:p>
                    <a:p>
                      <a:pPr algn="l" latinLnBrk="1"/>
                      <a:r>
                        <a:rPr lang="ko-KR" altLang="en-US" sz="800" dirty="0">
                          <a:latin typeface="+mn-ea"/>
                          <a:ea typeface="+mn-ea"/>
                        </a:rPr>
                        <a:t>조회</a:t>
                      </a:r>
                      <a:r>
                        <a:rPr lang="en-US" altLang="ko-KR" sz="800" dirty="0">
                          <a:latin typeface="+mn-ea"/>
                          <a:ea typeface="+mn-ea"/>
                        </a:rPr>
                        <a:t>/</a:t>
                      </a:r>
                      <a:r>
                        <a:rPr lang="ko-KR" altLang="en-US" sz="800" dirty="0">
                          <a:latin typeface="+mn-ea"/>
                          <a:ea typeface="+mn-ea"/>
                        </a:rPr>
                        <a:t>수정 시 연기공고</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집행유형</a:t>
                      </a:r>
                      <a:r>
                        <a:rPr lang="en-US" altLang="ko-KR" sz="800" dirty="0">
                          <a:latin typeface="+mn-ea"/>
                          <a:ea typeface="+mn-ea"/>
                        </a:rPr>
                        <a:t>/</a:t>
                      </a:r>
                      <a:r>
                        <a:rPr lang="ko-KR" altLang="en-US" sz="800" dirty="0">
                          <a:latin typeface="+mn-ea"/>
                          <a:ea typeface="+mn-ea"/>
                        </a:rPr>
                        <a:t>공사구분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a:t>
                      </a:r>
                      <a:r>
                        <a:rPr lang="en-US" altLang="ko-KR" sz="800" dirty="0">
                          <a:latin typeface="+mn-ea"/>
                          <a:ea typeface="+mn-ea"/>
                        </a:rPr>
                        <a:t>/ </a:t>
                      </a:r>
                      <a:r>
                        <a:rPr lang="ko-KR" altLang="en-US" sz="800" dirty="0">
                          <a:latin typeface="+mn-ea"/>
                          <a:ea typeface="+mn-ea"/>
                        </a:rPr>
                        <a:t>입찰일시</a:t>
                      </a:r>
                      <a:r>
                        <a:rPr lang="en-US" altLang="ko-KR" sz="800" dirty="0">
                          <a:latin typeface="+mn-ea"/>
                          <a:ea typeface="+mn-ea"/>
                        </a:rPr>
                        <a:t>, </a:t>
                      </a:r>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조회</a:t>
                      </a:r>
                      <a:r>
                        <a:rPr lang="en-US" altLang="ko-KR" sz="800" dirty="0">
                          <a:latin typeface="+mn-ea"/>
                          <a:ea typeface="+mn-ea"/>
                        </a:rPr>
                        <a:t>/</a:t>
                      </a:r>
                      <a:r>
                        <a:rPr lang="ko-KR" altLang="en-US" sz="800" dirty="0">
                          <a:latin typeface="+mn-ea"/>
                          <a:ea typeface="+mn-ea"/>
                        </a:rPr>
                        <a:t>수정 시 연기공고</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t>
                      </a:r>
                      <a:r>
                        <a:rPr lang="ko-KR" altLang="en-US" sz="800" dirty="0">
                          <a:latin typeface="+mn-ea"/>
                          <a:ea typeface="+mn-ea"/>
                        </a:rPr>
                        <a:t>총수량</a:t>
                      </a:r>
                      <a:r>
                        <a:rPr lang="en-US" altLang="ko-KR" sz="800" dirty="0">
                          <a:latin typeface="+mn-ea"/>
                          <a:ea typeface="+mn-ea"/>
                        </a:rPr>
                        <a:t>/</a:t>
                      </a:r>
                      <a:r>
                        <a:rPr lang="ko-KR" altLang="en-US" sz="800" dirty="0">
                          <a:latin typeface="+mn-ea"/>
                          <a:ea typeface="+mn-ea"/>
                        </a:rPr>
                        <a:t>단가제유형</a:t>
                      </a:r>
                      <a:r>
                        <a:rPr lang="en-US" altLang="ko-KR" sz="800" dirty="0">
                          <a:latin typeface="+mn-ea"/>
                          <a:ea typeface="+mn-ea"/>
                        </a:rPr>
                        <a:t>)/</a:t>
                      </a:r>
                      <a:r>
                        <a:rPr lang="ko-KR" altLang="en-US" sz="800" dirty="0">
                          <a:latin typeface="+mn-ea"/>
                          <a:ea typeface="+mn-ea"/>
                        </a:rPr>
                        <a:t>사전심사</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  </a:t>
                      </a:r>
                      <a:r>
                        <a:rPr lang="en-US" altLang="ko-KR" sz="800" dirty="0">
                          <a:latin typeface="+mn-ea"/>
                          <a:ea typeface="+mn-ea"/>
                        </a:rPr>
                        <a:t>- </a:t>
                      </a:r>
                      <a:r>
                        <a:rPr lang="ko-KR" altLang="en-US" sz="800" dirty="0">
                          <a:latin typeface="+mn-ea"/>
                          <a:ea typeface="+mn-ea"/>
                        </a:rPr>
                        <a:t>입찰방법이 </a:t>
                      </a:r>
                      <a:r>
                        <a:rPr lang="en-US" altLang="ko-KR" sz="800" dirty="0">
                          <a:latin typeface="+mn-ea"/>
                          <a:ea typeface="+mn-ea"/>
                        </a:rPr>
                        <a:t>‘B(</a:t>
                      </a:r>
                      <a:r>
                        <a:rPr lang="ko-KR" altLang="en-US" sz="800" dirty="0" err="1">
                          <a:latin typeface="+mn-ea"/>
                          <a:ea typeface="+mn-ea"/>
                        </a:rPr>
                        <a:t>단가제</a:t>
                      </a:r>
                      <a:r>
                        <a:rPr lang="en-US" altLang="ko-KR" sz="800" dirty="0">
                          <a:latin typeface="+mn-ea"/>
                          <a:ea typeface="+mn-ea"/>
                        </a:rPr>
                        <a:t>)’</a:t>
                      </a:r>
                      <a:r>
                        <a:rPr lang="ko-KR" altLang="en-US" sz="800" dirty="0">
                          <a:latin typeface="+mn-ea"/>
                          <a:ea typeface="+mn-ea"/>
                        </a:rPr>
                        <a:t>인 경우 단가제유형</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  - </a:t>
                      </a:r>
                      <a:r>
                        <a:rPr lang="ko-KR" altLang="en-US" sz="800" dirty="0">
                          <a:latin typeface="+mn-ea"/>
                          <a:ea typeface="+mn-ea"/>
                        </a:rPr>
                        <a:t>사전심사 대상 공고인 경우 사전심사</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    - </a:t>
                      </a:r>
                      <a:r>
                        <a:rPr lang="ko-KR" altLang="en-US" sz="800" dirty="0">
                          <a:latin typeface="+mn-ea"/>
                          <a:ea typeface="+mn-ea"/>
                        </a:rPr>
                        <a:t>대상</a:t>
                      </a:r>
                      <a:r>
                        <a:rPr lang="en-US" altLang="ko-KR" sz="800" dirty="0">
                          <a:latin typeface="+mn-ea"/>
                          <a:ea typeface="+mn-ea"/>
                        </a:rPr>
                        <a:t>/</a:t>
                      </a:r>
                      <a:r>
                        <a:rPr lang="ko-KR" altLang="en-US" sz="800" dirty="0">
                          <a:latin typeface="+mn-ea"/>
                          <a:ea typeface="+mn-ea"/>
                        </a:rPr>
                        <a:t>비대상</a:t>
                      </a:r>
                      <a:r>
                        <a:rPr lang="en-US" altLang="ko-KR" sz="800" dirty="0">
                          <a:latin typeface="+mn-ea"/>
                          <a:ea typeface="+mn-ea"/>
                        </a:rPr>
                        <a:t>/</a:t>
                      </a:r>
                      <a:r>
                        <a:rPr lang="ko-KR" altLang="en-US" sz="800" dirty="0">
                          <a:latin typeface="+mn-ea"/>
                          <a:ea typeface="+mn-ea"/>
                        </a:rPr>
                        <a:t>대상</a:t>
                      </a:r>
                      <a:r>
                        <a:rPr lang="en-US" altLang="ko-KR" sz="800" dirty="0">
                          <a:latin typeface="+mn-ea"/>
                          <a:ea typeface="+mn-ea"/>
                        </a:rPr>
                        <a:t>(</a:t>
                      </a:r>
                      <a:r>
                        <a:rPr lang="ko-KR" altLang="en-US" sz="800" dirty="0">
                          <a:latin typeface="+mn-ea"/>
                          <a:ea typeface="+mn-ea"/>
                        </a:rPr>
                        <a:t>가격입찰 후</a:t>
                      </a:r>
                      <a:r>
                        <a:rPr lang="en-US" altLang="ko-KR" sz="800" dirty="0">
                          <a:latin typeface="+mn-ea"/>
                          <a:ea typeface="+mn-ea"/>
                        </a:rPr>
                        <a:t>)</a:t>
                      </a:r>
                      <a:endParaRPr lang="ko-KR" altLang="en-US"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  </a:t>
                      </a:r>
                      <a:r>
                        <a:rPr lang="en-US" altLang="ko-KR" sz="800" dirty="0">
                          <a:latin typeface="+mn-ea"/>
                          <a:ea typeface="+mn-ea"/>
                        </a:rPr>
                        <a:t>- </a:t>
                      </a:r>
                      <a:r>
                        <a:rPr lang="ko-KR" altLang="en-US" sz="800" dirty="0">
                          <a:latin typeface="+mn-ea"/>
                          <a:ea typeface="+mn-ea"/>
                        </a:rPr>
                        <a:t>그 외 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낙찰방법명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적격심사 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대상</a:t>
                      </a:r>
                      <a:r>
                        <a:rPr lang="en-US" altLang="ko-KR" sz="800" dirty="0">
                          <a:latin typeface="+mn-ea"/>
                          <a:ea typeface="+mn-ea"/>
                        </a:rPr>
                        <a:t>/</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ko-KR" altLang="en-US" sz="800" dirty="0">
                          <a:latin typeface="+mn-ea"/>
                          <a:ea typeface="+mn-ea"/>
                        </a:rPr>
                        <a:t>낙찰자기준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jsdShNm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공동수급형태명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입찰방법</a:t>
                      </a:r>
                      <a:r>
                        <a:rPr lang="en-US" altLang="ko-KR" sz="800" dirty="0"/>
                        <a:t>(BDTC)</a:t>
                      </a:r>
                      <a:r>
                        <a:rPr lang="ko-KR" altLang="en-US" sz="800" dirty="0"/>
                        <a:t>이 </a:t>
                      </a:r>
                      <a:r>
                        <a:rPr lang="en-US" altLang="ko-KR" sz="800" dirty="0"/>
                        <a:t>‘H(</a:t>
                      </a:r>
                      <a:r>
                        <a:rPr lang="ko-KR" altLang="en-US" sz="800" dirty="0"/>
                        <a:t>내역입찰</a:t>
                      </a:r>
                      <a:r>
                        <a:rPr lang="en-US" altLang="ko-KR" sz="800" dirty="0"/>
                        <a:t>(</a:t>
                      </a:r>
                      <a:r>
                        <a:rPr lang="ko-KR" altLang="en-US" sz="800" dirty="0" err="1"/>
                        <a:t>설계시공일괄입찰</a:t>
                      </a:r>
                      <a:r>
                        <a:rPr lang="en-US" altLang="ko-KR" sz="800" dirty="0"/>
                        <a:t>))’</a:t>
                      </a:r>
                      <a:r>
                        <a:rPr lang="ko-KR" altLang="en-US" sz="800" dirty="0"/>
                        <a:t>인 경우 </a:t>
                      </a:r>
                      <a:r>
                        <a:rPr lang="en-US" altLang="ko-KR" sz="800" dirty="0"/>
                        <a:t>‘</a:t>
                      </a:r>
                      <a:r>
                        <a:rPr lang="ko-KR" altLang="en-US" sz="800" dirty="0"/>
                        <a:t>낙찰자기준</a:t>
                      </a:r>
                      <a:r>
                        <a:rPr lang="en-US" altLang="ko-KR" sz="800" dirty="0"/>
                        <a:t>(CMCT)’ </a:t>
                      </a:r>
                      <a:r>
                        <a:rPr lang="ko-KR" altLang="en-US" sz="800" dirty="0"/>
                        <a:t>보이기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입찰건명</a:t>
                      </a:r>
                      <a:r>
                        <a:rPr lang="en-US" altLang="ko-KR" sz="800" dirty="0">
                          <a:latin typeface="+mn-ea"/>
                          <a:ea typeface="+mn-ea"/>
                        </a:rPr>
                        <a:t>/</a:t>
                      </a:r>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5013911"/>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EFB9A8D6-6B6D-6ADF-2FF7-0A9EB13C668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76E74D0B-76EB-6E56-C46D-EB0E2B06E04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(1/4)</a:t>
            </a:r>
            <a:endParaRPr lang="ko-KR" altLang="en-US" sz="1000" b="1" dirty="0">
              <a:solidFill>
                <a:prstClr val="black"/>
              </a:solidFill>
            </a:endParaRPr>
          </a:p>
        </p:txBody>
      </p:sp>
    </p:spTree>
    <p:extLst>
      <p:ext uri="{BB962C8B-B14F-4D97-AF65-F5344CB8AC3E}">
        <p14:creationId xmlns:p14="http://schemas.microsoft.com/office/powerpoint/2010/main" val="159269405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138</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5957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품목내역 목록 데이터 영역 </a:t>
            </a:r>
            <a:r>
              <a:rPr lang="en-US" altLang="ko-KR" sz="900" b="1" dirty="0">
                <a:solidFill>
                  <a:prstClr val="black"/>
                </a:solidFill>
              </a:rPr>
              <a:t>(</a:t>
            </a:r>
            <a:r>
              <a:rPr lang="en-US" altLang="ko-KR" sz="900" b="1" dirty="0" err="1">
                <a:solidFill>
                  <a:prstClr val="black"/>
                </a:solidFill>
              </a:rPr>
              <a:t>dlt_itemList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999516"/>
            <a:ext cx="318733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공종</a:t>
            </a:r>
            <a:r>
              <a:rPr lang="ko-KR" altLang="en-US" sz="900" b="1" dirty="0">
                <a:solidFill>
                  <a:prstClr val="black"/>
                </a:solidFill>
              </a:rPr>
              <a:t> 및 면허정보 목록 데이터 영역 </a:t>
            </a:r>
            <a:r>
              <a:rPr lang="en-US" altLang="ko-KR" sz="900" b="1" dirty="0">
                <a:solidFill>
                  <a:prstClr val="black"/>
                </a:solidFill>
              </a:rPr>
              <a:t>(</a:t>
            </a:r>
            <a:r>
              <a:rPr lang="en-US" altLang="ko-KR" sz="900" b="1" dirty="0" err="1">
                <a:solidFill>
                  <a:prstClr val="black"/>
                </a:solidFill>
              </a:rPr>
              <a:t>dlt_gongJongList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입찰방법이 단가제인 경우 보이기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군급분류코드</a:t>
                      </a:r>
                      <a:r>
                        <a:rPr lang="en-US" altLang="ko-KR" sz="800" dirty="0">
                          <a:latin typeface="+mn-ea"/>
                          <a:ea typeface="+mn-ea"/>
                        </a:rPr>
                        <a:t>, </a:t>
                      </a:r>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군급분류코드</a:t>
                      </a:r>
                      <a:r>
                        <a:rPr lang="en-US" altLang="ko-KR" sz="800" dirty="0">
                          <a:latin typeface="+mn-ea"/>
                          <a:ea typeface="+mn-ea"/>
                        </a:rPr>
                        <a:t>+</a:t>
                      </a:r>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a:latin typeface="+mn-ea"/>
                          <a:ea typeface="+mn-ea"/>
                        </a:rPr>
                        <a:t>단위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a:latin typeface="+mn-ea"/>
                          <a:ea typeface="+mn-ea"/>
                        </a:rPr>
                        <a:t>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a:latin typeface="+mn-ea"/>
                          <a:ea typeface="+mn-ea"/>
                        </a:rPr>
                        <a:t>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212007"/>
          <a:ext cx="8995589" cy="17452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조회 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700" dirty="0">
                          <a:latin typeface="+mn-ea"/>
                          <a:ea typeface="+mn-ea"/>
                        </a:rPr>
                        <a:t>업무구분이 공사이고</a:t>
                      </a:r>
                      <a:r>
                        <a:rPr lang="en-US" altLang="ko-KR" sz="700" dirty="0">
                          <a:latin typeface="+mn-ea"/>
                          <a:ea typeface="+mn-ea"/>
                        </a:rPr>
                        <a:t>, </a:t>
                      </a:r>
                      <a:r>
                        <a:rPr lang="ko-KR" altLang="en-US" sz="700" dirty="0">
                          <a:latin typeface="+mn-ea"/>
                          <a:ea typeface="+mn-ea"/>
                        </a:rPr>
                        <a:t>공종정보가 있는 경우 보이기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공종명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공종명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업종코드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공종코드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:GU9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면허정보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lcnsNo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행정처분기관구분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업체상태명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:J11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등록일자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lcnsAcqsYmd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면허취득일자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시공능력평가액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cnstAbltEvlAmt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시공능력평가금액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기준년도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evlAmtCrtrYr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평가금액기준년도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Box 3">
            <a:extLst>
              <a:ext uri="{FF2B5EF4-FFF2-40B4-BE49-F238E27FC236}">
                <a16:creationId xmlns:a16="http://schemas.microsoft.com/office/drawing/2014/main" id="{3640B13D-584B-8416-67F8-3DBDF632D167}"/>
              </a:ext>
            </a:extLst>
          </p:cNvPr>
          <p:cNvSpPr txBox="1"/>
          <p:nvPr/>
        </p:nvSpPr>
        <p:spPr>
          <a:xfrm>
            <a:off x="453832" y="5016580"/>
            <a:ext cx="345343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입찰공고 첨부파일 데이터 영역 </a:t>
            </a:r>
            <a:r>
              <a:rPr lang="en-US" altLang="ko-KR" sz="900" b="1" dirty="0">
                <a:solidFill>
                  <a:prstClr val="black"/>
                </a:solidFill>
              </a:rPr>
              <a:t>(</a:t>
            </a:r>
            <a:r>
              <a:rPr lang="en-US" altLang="ko-KR" sz="900" b="1" dirty="0" err="1">
                <a:solidFill>
                  <a:prstClr val="black"/>
                </a:solidFill>
              </a:rPr>
              <a:t>dlt_bidPbancAtchFileList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9A5F43F4-CB5F-C531-B843-B6D2FC2FA0D8}"/>
              </a:ext>
            </a:extLst>
          </p:cNvPr>
          <p:cNvGraphicFramePr>
            <a:graphicFrameLocks noGrp="1"/>
          </p:cNvGraphicFramePr>
          <p:nvPr/>
        </p:nvGraphicFramePr>
        <p:xfrm>
          <a:off x="452293" y="5229071"/>
          <a:ext cx="8995589" cy="9696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파일크기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bl>
          </a:graphicData>
        </a:graphic>
      </p:graphicFrame>
      <p:sp>
        <p:nvSpPr>
          <p:cNvPr id="7" name="Text Box 73">
            <a:extLst>
              <a:ext uri="{FF2B5EF4-FFF2-40B4-BE49-F238E27FC236}">
                <a16:creationId xmlns:a16="http://schemas.microsoft.com/office/drawing/2014/main" id="{53B56817-5B68-77AB-0BCE-E7C56C84D49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3C68C4AD-A85D-BB9C-6B07-373B1D2B5C3F}"/>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(2/4)</a:t>
            </a:r>
            <a:endParaRPr lang="ko-KR" altLang="en-US" sz="1000" b="1" dirty="0">
              <a:solidFill>
                <a:prstClr val="black"/>
              </a:solidFill>
            </a:endParaRPr>
          </a:p>
        </p:txBody>
      </p:sp>
    </p:spTree>
    <p:extLst>
      <p:ext uri="{BB962C8B-B14F-4D97-AF65-F5344CB8AC3E}">
        <p14:creationId xmlns:p14="http://schemas.microsoft.com/office/powerpoint/2010/main" val="33000754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139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2270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입찰보증금 데이터 영역 </a:t>
            </a:r>
            <a:r>
              <a:rPr lang="en-US" altLang="ko-KR" sz="900" b="1" dirty="0">
                <a:solidFill>
                  <a:prstClr val="black"/>
                </a:solidFill>
              </a:rPr>
              <a:t>(</a:t>
            </a:r>
            <a:r>
              <a:rPr lang="en-US" altLang="ko-KR" sz="900" b="1" dirty="0" err="1">
                <a:solidFill>
                  <a:prstClr val="black"/>
                </a:solidFill>
              </a:rPr>
              <a:t>dmt_bidGrnte</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591197"/>
            <a:ext cx="2698422"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공동수급업체 데이터 영역 </a:t>
            </a:r>
            <a:r>
              <a:rPr lang="en-US" altLang="ko-KR" sz="900" b="1" dirty="0">
                <a:solidFill>
                  <a:prstClr val="black"/>
                </a:solidFill>
              </a:rPr>
              <a:t>(</a:t>
            </a:r>
            <a:r>
              <a:rPr lang="en-US" altLang="ko-KR" sz="900" b="1" dirty="0" err="1">
                <a:solidFill>
                  <a:prstClr val="black"/>
                </a:solidFill>
              </a:rPr>
              <a:t>dlt_jsdBzentyList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6402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보증금납부방법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depsPayMthdCd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보증금납부방법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:GMCB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증권번호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scrtNo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증권번호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조회 된 증권번호가 </a:t>
                      </a:r>
                      <a:r>
                        <a:rPr lang="en-US" altLang="ko-KR" sz="800" dirty="0">
                          <a:latin typeface="+mn-ea"/>
                          <a:ea typeface="+mn-ea"/>
                        </a:rPr>
                        <a:t>1</a:t>
                      </a:r>
                      <a:r>
                        <a:rPr lang="ko-KR" altLang="en-US" sz="800" dirty="0">
                          <a:latin typeface="+mn-ea"/>
                          <a:ea typeface="+mn-ea"/>
                        </a:rPr>
                        <a:t>개인 경우 증권번호 자동 입력</a:t>
                      </a:r>
                      <a:r>
                        <a:rPr lang="en-US" altLang="ko-KR" sz="800" dirty="0">
                          <a:latin typeface="+mn-ea"/>
                          <a:ea typeface="+mn-ea"/>
                        </a:rPr>
                        <a:t>, 2</a:t>
                      </a:r>
                      <a:r>
                        <a:rPr lang="ko-KR" altLang="en-US" sz="800" dirty="0">
                          <a:latin typeface="+mn-ea"/>
                          <a:ea typeface="+mn-ea"/>
                        </a:rPr>
                        <a:t>개 이상인 경우 </a:t>
                      </a:r>
                      <a:r>
                        <a:rPr lang="ko-KR" altLang="en-US" sz="800" dirty="0" err="1">
                          <a:latin typeface="+mn-ea"/>
                          <a:ea typeface="+mn-ea"/>
                        </a:rPr>
                        <a:t>셀렉트박스로</a:t>
                      </a:r>
                      <a:r>
                        <a:rPr lang="ko-KR" altLang="en-US" sz="800" dirty="0">
                          <a:latin typeface="+mn-ea"/>
                          <a:ea typeface="+mn-ea"/>
                        </a:rPr>
                        <a:t> 증권번호 선택</a:t>
                      </a:r>
                      <a:r>
                        <a:rPr lang="en-US" altLang="ko-KR" sz="800" dirty="0">
                          <a:latin typeface="+mn-ea"/>
                          <a:ea typeface="+mn-ea"/>
                        </a:rPr>
                        <a:t>, </a:t>
                      </a:r>
                      <a:r>
                        <a:rPr lang="ko-KR" altLang="en-US" sz="800" dirty="0">
                          <a:latin typeface="+mn-ea"/>
                          <a:ea typeface="+mn-ea"/>
                        </a:rPr>
                        <a:t>없는 경우 직접 입력</a:t>
                      </a:r>
                      <a:r>
                        <a:rPr lang="en-US" altLang="ko-KR" sz="800" dirty="0">
                          <a:latin typeface="+mn-ea"/>
                          <a:ea typeface="+mn-ea"/>
                        </a:rPr>
                        <a:t>.</a:t>
                      </a:r>
                    </a:p>
                    <a:p>
                      <a:pPr algn="l" latinLnBrk="1"/>
                      <a:r>
                        <a:rPr lang="ko-KR" altLang="en-US" sz="800" dirty="0">
                          <a:latin typeface="+mn-ea"/>
                          <a:ea typeface="+mn-ea"/>
                        </a:rPr>
                        <a:t>조회 된 증권번호가 </a:t>
                      </a:r>
                      <a:r>
                        <a:rPr lang="en-US" altLang="ko-KR" sz="800" dirty="0">
                          <a:latin typeface="+mn-ea"/>
                          <a:ea typeface="+mn-ea"/>
                        </a:rPr>
                        <a:t>1</a:t>
                      </a:r>
                      <a:r>
                        <a:rPr lang="ko-KR" altLang="en-US" sz="800" dirty="0">
                          <a:latin typeface="+mn-ea"/>
                          <a:ea typeface="+mn-ea"/>
                        </a:rPr>
                        <a:t>개 이상인 경우 개찰일자</a:t>
                      </a:r>
                      <a:r>
                        <a:rPr lang="en-US" altLang="ko-KR" sz="800" dirty="0">
                          <a:latin typeface="+mn-ea"/>
                          <a:ea typeface="+mn-ea"/>
                        </a:rPr>
                        <a:t>/</a:t>
                      </a:r>
                      <a:r>
                        <a:rPr lang="ko-KR" altLang="en-US" sz="800" dirty="0">
                          <a:latin typeface="+mn-ea"/>
                          <a:ea typeface="+mn-ea"/>
                        </a:rPr>
                        <a:t>입찰일자</a:t>
                      </a:r>
                      <a:r>
                        <a:rPr lang="en-US" altLang="ko-KR" sz="800" dirty="0">
                          <a:latin typeface="+mn-ea"/>
                          <a:ea typeface="+mn-ea"/>
                        </a:rPr>
                        <a:t>, </a:t>
                      </a:r>
                      <a:r>
                        <a:rPr lang="ko-KR" altLang="en-US" sz="800" dirty="0">
                          <a:latin typeface="+mn-ea"/>
                          <a:ea typeface="+mn-ea"/>
                        </a:rPr>
                        <a:t>보증금액</a:t>
                      </a:r>
                      <a:r>
                        <a:rPr lang="en-US" altLang="ko-KR" sz="800" dirty="0">
                          <a:latin typeface="+mn-ea"/>
                          <a:ea typeface="+mn-ea"/>
                        </a:rPr>
                        <a:t>, </a:t>
                      </a:r>
                      <a:r>
                        <a:rPr lang="ko-KR" altLang="en-US" sz="800" dirty="0">
                          <a:latin typeface="+mn-ea"/>
                          <a:ea typeface="+mn-ea"/>
                        </a:rPr>
                        <a:t>계약자</a:t>
                      </a:r>
                      <a:r>
                        <a:rPr lang="en-US" altLang="ko-KR" sz="800" dirty="0">
                          <a:latin typeface="+mn-ea"/>
                          <a:ea typeface="+mn-ea"/>
                        </a:rPr>
                        <a:t>, </a:t>
                      </a:r>
                      <a:r>
                        <a:rPr lang="ko-KR" altLang="en-US" sz="800" dirty="0">
                          <a:latin typeface="+mn-ea"/>
                          <a:ea typeface="+mn-ea"/>
                        </a:rPr>
                        <a:t>발행자 보이기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개찰일자</a:t>
                      </a:r>
                      <a:r>
                        <a:rPr lang="en-US" altLang="ko-KR" sz="800" dirty="0">
                          <a:latin typeface="+mn-ea"/>
                          <a:ea typeface="+mn-ea"/>
                        </a:rPr>
                        <a:t>/</a:t>
                      </a:r>
                      <a:r>
                        <a:rPr lang="ko-KR" altLang="en-US" sz="800" dirty="0">
                          <a:latin typeface="+mn-ea"/>
                          <a:ea typeface="+mn-ea"/>
                        </a:rPr>
                        <a:t>입찰일자</a:t>
                      </a:r>
                      <a:r>
                        <a:rPr lang="en-US" altLang="ko-KR" sz="800" dirty="0">
                          <a:latin typeface="+mn-ea"/>
                          <a:ea typeface="+mn-ea"/>
                        </a:rPr>
                        <a:t>. </a:t>
                      </a:r>
                    </a:p>
                    <a:p>
                      <a:pPr algn="l" latinLnBrk="1"/>
                      <a:r>
                        <a:rPr lang="ko-KR" altLang="en-US" sz="800" dirty="0">
                          <a:latin typeface="+mn-ea"/>
                          <a:ea typeface="+mn-ea"/>
                        </a:rPr>
                        <a:t>같은 컬럼</a:t>
                      </a:r>
                      <a:r>
                        <a:rPr lang="en-US" altLang="ko-KR" sz="800" dirty="0">
                          <a:latin typeface="+mn-ea"/>
                          <a:ea typeface="+mn-ea"/>
                        </a:rPr>
                        <a:t>, </a:t>
                      </a:r>
                      <a:r>
                        <a:rPr lang="ko-KR" altLang="en-US" sz="800" dirty="0">
                          <a:latin typeface="+mn-ea"/>
                          <a:ea typeface="+mn-ea"/>
                        </a:rPr>
                        <a:t>업무구분별 표기 다름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보증금액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계약자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ctrtrBzentyNm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계약자업체명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발행자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isrBzentyNm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발행자업체명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보증금면제사유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depsExmptnRncd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보증금면제사유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700" dirty="0">
                          <a:latin typeface="+mn-ea"/>
                          <a:ea typeface="+mn-ea"/>
                        </a:rPr>
                        <a:t>상위코드</a:t>
                      </a:r>
                      <a:r>
                        <a:rPr lang="en-US" altLang="ko-KR" sz="700" dirty="0">
                          <a:latin typeface="+mn-ea"/>
                          <a:ea typeface="+mn-ea"/>
                        </a:rPr>
                        <a:t>:ERGA</a:t>
                      </a:r>
                    </a:p>
                    <a:p>
                      <a:pPr algn="l" latinLnBrk="1"/>
                      <a:r>
                        <a:rPr lang="ko-KR" altLang="en-US" sz="700" dirty="0">
                          <a:latin typeface="+mn-ea"/>
                          <a:ea typeface="+mn-ea"/>
                        </a:rPr>
                        <a:t>보증금납부방법이 보증금면제인 경우 활성화</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입찰보증금액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err="1">
                          <a:latin typeface="+mn-ea"/>
                          <a:ea typeface="+mn-ea"/>
                        </a:rPr>
                        <a:t>투찰가능금액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bdngPsbltyAmt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 기준으로 계산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입찰보증금 입력 시 계산 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803688"/>
          <a:ext cx="8995589" cy="274272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이행방식이 단독인 경우 해당 영역 숨기기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공동수급업체 설정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대표</a:t>
                      </a:r>
                      <a:r>
                        <a:rPr lang="en-US" altLang="ko-KR" sz="800" dirty="0">
                          <a:latin typeface="+mn-ea"/>
                          <a:ea typeface="+mn-ea"/>
                        </a:rPr>
                        <a:t>/</a:t>
                      </a:r>
                      <a:r>
                        <a:rPr lang="ko-KR" altLang="en-US" sz="800" dirty="0">
                          <a:latin typeface="+mn-ea"/>
                          <a:ea typeface="+mn-ea"/>
                        </a:rPr>
                        <a:t>구성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공동수급업체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검색하여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이행방식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jsdShNm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공동수급형태명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:UB13</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a:t>
                      </a:r>
                      <a:r>
                        <a:rPr lang="ko-KR" altLang="en-US" sz="800" dirty="0">
                          <a:latin typeface="+mn-ea"/>
                          <a:ea typeface="+mn-ea"/>
                        </a:rPr>
                        <a:t>분담</a:t>
                      </a:r>
                      <a:r>
                        <a:rPr lang="en-US" altLang="ko-KR" sz="800" dirty="0">
                          <a:latin typeface="+mn-ea"/>
                          <a:ea typeface="+mn-ea"/>
                        </a:rPr>
                        <a:t>), B(</a:t>
                      </a:r>
                      <a:r>
                        <a:rPr lang="ko-KR" altLang="en-US" sz="800" dirty="0">
                          <a:latin typeface="+mn-ea"/>
                          <a:ea typeface="+mn-ea"/>
                        </a:rPr>
                        <a:t>공동</a:t>
                      </a:r>
                      <a:r>
                        <a:rPr lang="en-US" altLang="ko-KR" sz="800" dirty="0">
                          <a:latin typeface="+mn-ea"/>
                          <a:ea typeface="+mn-ea"/>
                        </a:rPr>
                        <a:t>), C(</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공동</a:t>
                      </a:r>
                      <a:r>
                        <a:rPr lang="en-US" altLang="ko-KR" sz="800" dirty="0">
                          <a:latin typeface="+mn-ea"/>
                          <a:ea typeface="+mn-ea"/>
                        </a:rPr>
                        <a:t>), D(</a:t>
                      </a:r>
                      <a:r>
                        <a:rPr lang="ko-KR" altLang="en-US" sz="800" dirty="0">
                          <a:latin typeface="+mn-ea"/>
                          <a:ea typeface="+mn-ea"/>
                        </a:rPr>
                        <a:t>주계약자관리</a:t>
                      </a:r>
                      <a:r>
                        <a:rPr lang="en-US" altLang="ko-KR" sz="800" dirty="0">
                          <a:latin typeface="+mn-ea"/>
                          <a:ea typeface="+mn-ea"/>
                        </a:rPr>
                        <a:t>), N(</a:t>
                      </a:r>
                      <a:r>
                        <a:rPr lang="ko-KR" altLang="en-US" sz="800" dirty="0">
                          <a:latin typeface="+mn-ea"/>
                          <a:ea typeface="+mn-ea"/>
                        </a:rPr>
                        <a:t>단독</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공동분담업종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공종명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:GU9</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공사 </a:t>
                      </a:r>
                      <a:r>
                        <a:rPr lang="en-US" altLang="ko-KR" sz="800" dirty="0">
                          <a:latin typeface="+mn-ea"/>
                          <a:ea typeface="+mn-ea"/>
                        </a:rPr>
                        <a:t>: A, C, D | </a:t>
                      </a:r>
                      <a:r>
                        <a:rPr lang="ko-KR" altLang="en-US" sz="800" dirty="0">
                          <a:latin typeface="+mn-ea"/>
                          <a:ea typeface="+mn-ea"/>
                        </a:rPr>
                        <a:t>물품 </a:t>
                      </a:r>
                      <a:r>
                        <a:rPr lang="en-US" altLang="ko-KR" sz="800" dirty="0">
                          <a:latin typeface="+mn-ea"/>
                          <a:ea typeface="+mn-ea"/>
                        </a:rPr>
                        <a:t>: </a:t>
                      </a:r>
                      <a:r>
                        <a:rPr lang="ko-KR" altLang="en-US" sz="800" dirty="0">
                          <a:latin typeface="+mn-ea"/>
                          <a:ea typeface="+mn-ea"/>
                        </a:rPr>
                        <a:t>숨기기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출자비율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invstRt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공동수급협정 출자비율</a:t>
                      </a:r>
                      <a:r>
                        <a:rPr lang="en-US" altLang="ko-KR" sz="800" dirty="0">
                          <a:latin typeface="+mn-ea"/>
                          <a:ea typeface="+mn-ea"/>
                        </a:rPr>
                        <a:t>/</a:t>
                      </a:r>
                      <a:r>
                        <a:rPr lang="ko-KR" altLang="en-US" sz="800" dirty="0">
                          <a:latin typeface="+mn-ea"/>
                          <a:ea typeface="+mn-ea"/>
                        </a:rPr>
                        <a:t>분담비율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공사 </a:t>
                      </a:r>
                      <a:r>
                        <a:rPr lang="en-US" altLang="ko-KR" sz="800" dirty="0">
                          <a:latin typeface="+mn-ea"/>
                          <a:ea typeface="+mn-ea"/>
                        </a:rPr>
                        <a:t>: B, C, D</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물품 </a:t>
                      </a:r>
                      <a:r>
                        <a:rPr lang="en-US" altLang="ko-KR" sz="800" dirty="0">
                          <a:latin typeface="+mn-ea"/>
                          <a:ea typeface="+mn-ea"/>
                        </a:rPr>
                        <a:t>: B-</a:t>
                      </a:r>
                      <a:r>
                        <a:rPr lang="ko-KR" altLang="en-US" sz="800" dirty="0">
                          <a:latin typeface="+mn-ea"/>
                          <a:ea typeface="+mn-ea"/>
                        </a:rPr>
                        <a:t>출자비율</a:t>
                      </a:r>
                      <a:r>
                        <a:rPr lang="en-US" altLang="ko-KR" sz="800" dirty="0">
                          <a:latin typeface="+mn-ea"/>
                          <a:ea typeface="+mn-ea"/>
                        </a:rPr>
                        <a:t> / A-</a:t>
                      </a:r>
                      <a:r>
                        <a:rPr lang="ko-KR" altLang="en-US" sz="800" dirty="0">
                          <a:latin typeface="+mn-ea"/>
                          <a:ea typeface="+mn-ea"/>
                        </a:rPr>
                        <a:t>분담비율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0505831"/>
                  </a:ext>
                </a:extLst>
              </a:tr>
              <a:tr h="0">
                <a:tc>
                  <a:txBody>
                    <a:bodyPr/>
                    <a:lstStyle/>
                    <a:p>
                      <a:pPr latinLnBrk="1"/>
                      <a:r>
                        <a:rPr lang="ko-KR" altLang="en-US" sz="800" dirty="0">
                          <a:latin typeface="+mn-ea"/>
                          <a:ea typeface="+mn-ea"/>
                        </a:rPr>
                        <a:t>납부방법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depsPayMthdCd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납부방법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1408958"/>
                  </a:ext>
                </a:extLst>
              </a:tr>
              <a:tr h="0">
                <a:tc>
                  <a:txBody>
                    <a:bodyPr/>
                    <a:lstStyle/>
                    <a:p>
                      <a:pPr latinLnBrk="1"/>
                      <a:r>
                        <a:rPr lang="ko-KR" altLang="en-US" sz="800" dirty="0">
                          <a:latin typeface="+mn-ea"/>
                          <a:ea typeface="+mn-ea"/>
                        </a:rPr>
                        <a:t>시공능력평가액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cnstAbltEvlAmt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시공능력평가금액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공사</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물품 </a:t>
                      </a:r>
                      <a:r>
                        <a:rPr lang="en-US" altLang="ko-KR" sz="800" dirty="0">
                          <a:latin typeface="+mn-ea"/>
                          <a:ea typeface="+mn-ea"/>
                        </a:rPr>
                        <a:t>: </a:t>
                      </a:r>
                      <a:r>
                        <a:rPr lang="ko-KR" altLang="en-US" sz="800" dirty="0">
                          <a:latin typeface="+mn-ea"/>
                          <a:ea typeface="+mn-ea"/>
                        </a:rPr>
                        <a:t>숨기기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동의여부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argeYn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동의여부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7017933"/>
                  </a:ext>
                </a:extLst>
              </a:tr>
            </a:tbl>
          </a:graphicData>
        </a:graphic>
      </p:graphicFrame>
      <p:sp>
        <p:nvSpPr>
          <p:cNvPr id="4" name="Text Box 73">
            <a:extLst>
              <a:ext uri="{FF2B5EF4-FFF2-40B4-BE49-F238E27FC236}">
                <a16:creationId xmlns:a16="http://schemas.microsoft.com/office/drawing/2014/main" id="{1F9F1A68-05C9-37BF-F460-624EF6674B9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28F00CCC-08F7-4A4E-DDEB-BD864956DBA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(3/4)</a:t>
            </a:r>
            <a:endParaRPr lang="ko-KR" altLang="en-US" sz="1000" b="1" dirty="0">
              <a:solidFill>
                <a:prstClr val="black"/>
              </a:solidFill>
            </a:endParaRPr>
          </a:p>
        </p:txBody>
      </p:sp>
    </p:spTree>
    <p:extLst>
      <p:ext uri="{BB962C8B-B14F-4D97-AF65-F5344CB8AC3E}">
        <p14:creationId xmlns:p14="http://schemas.microsoft.com/office/powerpoint/2010/main" val="222877911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140</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3347639"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입찰참가 첨부파일 데이터 영역 </a:t>
            </a:r>
            <a:r>
              <a:rPr lang="en-US" altLang="ko-KR" sz="900" b="1" dirty="0">
                <a:solidFill>
                  <a:prstClr val="black"/>
                </a:solidFill>
              </a:rPr>
              <a:t>(</a:t>
            </a:r>
            <a:r>
              <a:rPr lang="en-US" altLang="ko-KR" sz="900" b="1" dirty="0" err="1">
                <a:solidFill>
                  <a:prstClr val="black"/>
                </a:solidFill>
              </a:rPr>
              <a:t>dlt_bidPrtcpAtchFileList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264413"/>
            <a:ext cx="2246375" cy="211203"/>
          </a:xfrm>
          <a:prstGeom prst="rect">
            <a:avLst/>
          </a:prstGeom>
          <a:noFill/>
        </p:spPr>
        <p:txBody>
          <a:bodyPr wrap="none" lIns="36000" tIns="36000" rIns="36000" bIns="36000" rtlCol="0">
            <a:spAutoFit/>
          </a:bodyPr>
          <a:lstStyle/>
          <a:p>
            <a:r>
              <a:rPr lang="en-US" altLang="ko-KR" sz="900" b="1" dirty="0">
                <a:solidFill>
                  <a:prstClr val="black"/>
                </a:solidFill>
              </a:rPr>
              <a:t>1.9. </a:t>
            </a:r>
            <a:r>
              <a:rPr lang="ko-KR" altLang="en-US" sz="900" b="1" dirty="0">
                <a:solidFill>
                  <a:prstClr val="black"/>
                </a:solidFill>
              </a:rPr>
              <a:t>문의처 데이터 영역 </a:t>
            </a:r>
            <a:r>
              <a:rPr lang="en-US" altLang="ko-KR" sz="900" b="1" dirty="0">
                <a:solidFill>
                  <a:prstClr val="black"/>
                </a:solidFill>
              </a:rPr>
              <a:t>(</a:t>
            </a:r>
            <a:r>
              <a:rPr lang="en-US" altLang="ko-KR" sz="900" b="1" dirty="0" err="1">
                <a:solidFill>
                  <a:prstClr val="black"/>
                </a:solidFill>
              </a:rPr>
              <a:t>dmt_ofcctrInfo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213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부서부호가 </a:t>
                      </a:r>
                      <a:r>
                        <a:rPr lang="en-US" altLang="ko-KR" sz="800" dirty="0">
                          <a:latin typeface="+mn-ea"/>
                          <a:ea typeface="+mn-ea"/>
                        </a:rPr>
                        <a:t>‘E’ </a:t>
                      </a:r>
                      <a:r>
                        <a:rPr lang="ko-KR" altLang="en-US" sz="800" dirty="0">
                          <a:latin typeface="+mn-ea"/>
                          <a:ea typeface="+mn-ea"/>
                        </a:rPr>
                        <a:t>또는 </a:t>
                      </a:r>
                      <a:r>
                        <a:rPr lang="en-US" altLang="ko-KR" sz="800" dirty="0">
                          <a:latin typeface="+mn-ea"/>
                          <a:ea typeface="+mn-ea"/>
                        </a:rPr>
                        <a:t>‘P’</a:t>
                      </a:r>
                      <a:r>
                        <a:rPr lang="ko-KR" altLang="en-US" sz="800" dirty="0">
                          <a:latin typeface="+mn-ea"/>
                          <a:ea typeface="+mn-ea"/>
                        </a:rPr>
                        <a:t>로 시작하는 경우 </a:t>
                      </a:r>
                      <a:endParaRPr lang="en-US" altLang="ko-KR" sz="800" dirty="0">
                        <a:latin typeface="+mn-ea"/>
                        <a:ea typeface="+mn-ea"/>
                      </a:endParaRPr>
                    </a:p>
                    <a:p>
                      <a:pPr algn="l" latinLnBrk="1"/>
                      <a:r>
                        <a:rPr lang="en-US" altLang="ko-KR" sz="800" dirty="0">
                          <a:latin typeface="+mn-ea"/>
                          <a:ea typeface="+mn-ea"/>
                        </a:rPr>
                        <a:t>  - </a:t>
                      </a:r>
                      <a:r>
                        <a:rPr lang="ko-KR" altLang="en-US" sz="800" dirty="0">
                          <a:latin typeface="+mn-ea"/>
                          <a:ea typeface="+mn-ea"/>
                        </a:rPr>
                        <a:t>청렴서약서</a:t>
                      </a:r>
                      <a:r>
                        <a:rPr lang="en-US" altLang="ko-KR" sz="800" dirty="0">
                          <a:latin typeface="+mn-ea"/>
                          <a:ea typeface="+mn-ea"/>
                        </a:rPr>
                        <a:t>, </a:t>
                      </a:r>
                      <a:r>
                        <a:rPr lang="ko-KR" altLang="en-US" sz="800" dirty="0">
                          <a:latin typeface="+mn-ea"/>
                          <a:ea typeface="+mn-ea"/>
                        </a:rPr>
                        <a:t>법인등기부등본</a:t>
                      </a:r>
                      <a:r>
                        <a:rPr lang="en-US" altLang="ko-KR" sz="800" dirty="0">
                          <a:latin typeface="+mn-ea"/>
                          <a:ea typeface="+mn-ea"/>
                        </a:rPr>
                        <a:t>(</a:t>
                      </a:r>
                      <a:r>
                        <a:rPr lang="ko-KR" altLang="en-US" sz="800" dirty="0">
                          <a:latin typeface="+mn-ea"/>
                          <a:ea typeface="+mn-ea"/>
                        </a:rPr>
                        <a:t>등기사항 전부</a:t>
                      </a:r>
                      <a:endParaRPr lang="en-US" altLang="ko-KR" sz="800" dirty="0">
                        <a:latin typeface="+mn-ea"/>
                        <a:ea typeface="+mn-ea"/>
                      </a:endParaRPr>
                    </a:p>
                    <a:p>
                      <a:pPr algn="l" latinLnBrk="1"/>
                      <a:r>
                        <a:rPr lang="en-US" altLang="ko-KR" sz="800" dirty="0">
                          <a:latin typeface="+mn-ea"/>
                          <a:ea typeface="+mn-ea"/>
                        </a:rPr>
                        <a:t>    </a:t>
                      </a:r>
                      <a:r>
                        <a:rPr lang="ko-KR" altLang="en-US" sz="800" dirty="0">
                          <a:latin typeface="+mn-ea"/>
                          <a:ea typeface="+mn-ea"/>
                        </a:rPr>
                        <a:t>증명서</a:t>
                      </a:r>
                      <a:r>
                        <a:rPr lang="en-US" altLang="ko-KR" sz="800" dirty="0">
                          <a:latin typeface="+mn-ea"/>
                          <a:ea typeface="+mn-ea"/>
                        </a:rPr>
                        <a:t>) </a:t>
                      </a:r>
                      <a:r>
                        <a:rPr lang="ko-KR" altLang="en-US" sz="800" dirty="0">
                          <a:latin typeface="+mn-ea"/>
                          <a:ea typeface="+mn-ea"/>
                        </a:rPr>
                        <a:t>필수 첨부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 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a:t>
                      </a:r>
                      <a:r>
                        <a:rPr lang="ko-KR" altLang="en-US" sz="800" dirty="0">
                          <a:latin typeface="+mn-ea"/>
                          <a:ea typeface="+mn-ea"/>
                        </a:rPr>
                        <a:t> </a:t>
                      </a:r>
                      <a:r>
                        <a:rPr lang="en-US" altLang="ko-KR" sz="800" dirty="0">
                          <a:latin typeface="+mn-ea"/>
                          <a:ea typeface="+mn-ea"/>
                        </a:rPr>
                        <a:t>10MB</a:t>
                      </a:r>
                      <a:r>
                        <a:rPr lang="ko-KR" altLang="en-US" sz="800" dirty="0">
                          <a:latin typeface="+mn-ea"/>
                          <a:ea typeface="+mn-ea"/>
                        </a:rPr>
                        <a:t> 제한</a:t>
                      </a:r>
                      <a:r>
                        <a:rPr lang="en-US" altLang="ko-KR" sz="800" dirty="0">
                          <a:latin typeface="+mn-ea"/>
                          <a:ea typeface="+mn-ea"/>
                        </a:rPr>
                        <a:t>, TOBE </a:t>
                      </a:r>
                      <a:r>
                        <a:rPr lang="ko-KR" altLang="en-US" sz="800" dirty="0">
                          <a:latin typeface="+mn-ea"/>
                          <a:ea typeface="+mn-ea"/>
                        </a:rPr>
                        <a:t>제한 해제 또는 </a:t>
                      </a:r>
                      <a:r>
                        <a:rPr lang="en-US" altLang="ko-KR" sz="800" dirty="0">
                          <a:latin typeface="+mn-ea"/>
                          <a:ea typeface="+mn-ea"/>
                        </a:rPr>
                        <a:t>200MB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2476904"/>
          <a:ext cx="8995589" cy="703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ofcctrNm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ofcctrTelno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계약관전화번호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사용자구분이 </a:t>
                      </a:r>
                      <a:r>
                        <a:rPr lang="en-US" altLang="ko-KR" sz="800" dirty="0">
                          <a:latin typeface="+mn-ea"/>
                          <a:ea typeface="+mn-ea"/>
                        </a:rPr>
                        <a:t>21</a:t>
                      </a:r>
                      <a:r>
                        <a:rPr lang="ko-KR" altLang="en-US" sz="800" dirty="0">
                          <a:latin typeface="+mn-ea"/>
                          <a:ea typeface="+mn-ea"/>
                        </a:rPr>
                        <a:t>인 경우 </a:t>
                      </a:r>
                      <a:r>
                        <a:rPr lang="en-US" altLang="ko-KR" sz="800" dirty="0">
                          <a:latin typeface="+mn-ea"/>
                          <a:ea typeface="+mn-ea"/>
                        </a:rPr>
                        <a:t>02-2079-####, </a:t>
                      </a:r>
                      <a:r>
                        <a:rPr lang="ko-KR" altLang="en-US" sz="800" dirty="0">
                          <a:latin typeface="+mn-ea"/>
                          <a:ea typeface="+mn-ea"/>
                        </a:rPr>
                        <a:t>그 외는 형식 없음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4" name="Text Box 73">
            <a:extLst>
              <a:ext uri="{FF2B5EF4-FFF2-40B4-BE49-F238E27FC236}">
                <a16:creationId xmlns:a16="http://schemas.microsoft.com/office/drawing/2014/main" id="{410652AA-2885-80E3-1C2D-798295E11A9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452B1109-BD50-A274-B42D-8BDE00FC33F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(4/4)</a:t>
            </a:r>
            <a:endParaRPr lang="ko-KR" altLang="en-US" sz="1000" b="1" dirty="0">
              <a:solidFill>
                <a:prstClr val="black"/>
              </a:solidFill>
            </a:endParaRPr>
          </a:p>
        </p:txBody>
      </p:sp>
    </p:spTree>
    <p:extLst>
      <p:ext uri="{BB962C8B-B14F-4D97-AF65-F5344CB8AC3E}">
        <p14:creationId xmlns:p14="http://schemas.microsoft.com/office/powerpoint/2010/main" val="195241269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141</a:t>
            </a:fld>
            <a:endParaRPr lang="ko-KR" altLang="en-US" dirty="0"/>
          </a:p>
        </p:txBody>
      </p:sp>
      <p:sp>
        <p:nvSpPr>
          <p:cNvPr id="6" name="TextBox 5">
            <a:extLst>
              <a:ext uri="{FF2B5EF4-FFF2-40B4-BE49-F238E27FC236}">
                <a16:creationId xmlns:a16="http://schemas.microsoft.com/office/drawing/2014/main" id="{9F3F3328-0E21-2B50-B957-D9B40649B859}"/>
              </a:ext>
            </a:extLst>
          </p:cNvPr>
          <p:cNvSpPr txBox="1"/>
          <p:nvPr/>
        </p:nvSpPr>
        <p:spPr>
          <a:xfrm>
            <a:off x="458117" y="689193"/>
            <a:ext cx="1207629"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r>
              <a:rPr lang="en-US" altLang="ko-KR" sz="1000" b="1" dirty="0">
                <a:solidFill>
                  <a:prstClr val="black"/>
                </a:solidFill>
                <a:latin typeface="+mn-ea"/>
              </a:rPr>
              <a:t>(1/2)</a:t>
            </a:r>
            <a:endParaRPr lang="ko-KR" altLang="en-US" sz="1000" b="1" dirty="0">
              <a:solidFill>
                <a:prstClr val="black"/>
              </a:solidFill>
              <a:latin typeface="+mn-ea"/>
            </a:endParaRPr>
          </a:p>
        </p:txBody>
      </p:sp>
      <p:graphicFrame>
        <p:nvGraphicFramePr>
          <p:cNvPr id="7" name="표 6">
            <a:extLst>
              <a:ext uri="{FF2B5EF4-FFF2-40B4-BE49-F238E27FC236}">
                <a16:creationId xmlns:a16="http://schemas.microsoft.com/office/drawing/2014/main" id="{B0DB02E6-4804-7B4E-E539-112783DC5994}"/>
              </a:ext>
            </a:extLst>
          </p:cNvPr>
          <p:cNvGraphicFramePr>
            <a:graphicFrameLocks noGrp="1"/>
          </p:cNvGraphicFramePr>
          <p:nvPr>
            <p:extLst>
              <p:ext uri="{D42A27DB-BD31-4B8C-83A1-F6EECF244321}">
                <p14:modId xmlns:p14="http://schemas.microsoft.com/office/powerpoint/2010/main" val="575514492"/>
              </p:ext>
            </p:extLst>
          </p:nvPr>
        </p:nvGraphicFramePr>
        <p:xfrm>
          <a:off x="453000" y="967324"/>
          <a:ext cx="8995591" cy="49296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err="1">
                          <a:latin typeface="+mn-ea"/>
                          <a:ea typeface="+mn-ea"/>
                        </a:rPr>
                        <a:t>입찰공고첨부서류</a:t>
                      </a:r>
                      <a:r>
                        <a:rPr lang="en-US" altLang="ko-KR" sz="800" dirty="0">
                          <a:latin typeface="+mn-ea"/>
                          <a:ea typeface="+mn-ea"/>
                        </a:rPr>
                        <a:t>, </a:t>
                      </a:r>
                      <a:r>
                        <a:rPr lang="ko-KR" altLang="en-US" sz="800" dirty="0">
                          <a:latin typeface="+mn-ea"/>
                          <a:ea typeface="+mn-ea"/>
                        </a:rPr>
                        <a:t>문의처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입찰참가신청서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연기공고 여부</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TBEPBP34(</a:t>
                      </a:r>
                      <a:r>
                        <a:rPr lang="ko-KR" altLang="en-US" sz="800" dirty="0">
                          <a:latin typeface="+mn-ea"/>
                          <a:ea typeface="+mn-ea"/>
                        </a:rPr>
                        <a:t>연기정정처리이력</a:t>
                      </a:r>
                      <a:r>
                        <a:rPr lang="en-US" altLang="ko-KR" sz="800" dirty="0">
                          <a:latin typeface="+mn-ea"/>
                          <a:ea typeface="+mn-ea"/>
                        </a:rPr>
                        <a:t>).</a:t>
                      </a:r>
                      <a:r>
                        <a:rPr lang="en-US" altLang="ko-KR" sz="800" kern="1200" dirty="0">
                          <a:solidFill>
                            <a:schemeClr val="tx1"/>
                          </a:solidFill>
                          <a:latin typeface="+mn-ea"/>
                          <a:ea typeface="+mn-ea"/>
                          <a:cs typeface="+mn-cs"/>
                        </a:rPr>
                        <a:t>PTCP_POPN_SEQN(</a:t>
                      </a:r>
                      <a:r>
                        <a:rPr lang="ko-KR" altLang="en-US" sz="800" kern="1200" dirty="0">
                          <a:solidFill>
                            <a:schemeClr val="tx1"/>
                          </a:solidFill>
                          <a:latin typeface="+mn-ea"/>
                          <a:ea typeface="+mn-ea"/>
                          <a:cs typeface="+mn-cs"/>
                        </a:rPr>
                        <a:t>입찰참가신청연</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기정정이력순번</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가 </a:t>
                      </a:r>
                      <a:r>
                        <a:rPr lang="en-US" altLang="ko-KR" sz="800" kern="1200" dirty="0">
                          <a:solidFill>
                            <a:schemeClr val="tx1"/>
                          </a:solidFill>
                          <a:latin typeface="+mn-ea"/>
                          <a:ea typeface="+mn-ea"/>
                          <a:cs typeface="+mn-cs"/>
                        </a:rPr>
                        <a:t>‘N’</a:t>
                      </a:r>
                      <a:r>
                        <a:rPr lang="ko-KR" altLang="en-US" sz="800" kern="1200" dirty="0">
                          <a:solidFill>
                            <a:schemeClr val="tx1"/>
                          </a:solidFill>
                          <a:latin typeface="+mn-ea"/>
                          <a:ea typeface="+mn-ea"/>
                          <a:cs typeface="+mn-cs"/>
                        </a:rPr>
                        <a:t>이 아니고</a:t>
                      </a:r>
                      <a:r>
                        <a:rPr lang="en-US" altLang="ko-KR" sz="800" kern="1200" dirty="0">
                          <a:solidFill>
                            <a:schemeClr val="tx1"/>
                          </a:solidFill>
                          <a:latin typeface="+mn-ea"/>
                          <a:ea typeface="+mn-ea"/>
                          <a:cs typeface="+mn-cs"/>
                        </a:rPr>
                        <a:t>, </a:t>
                      </a:r>
                      <a:r>
                        <a:rPr lang="en-US" altLang="ko-KR" sz="800" dirty="0">
                          <a:latin typeface="+mn-ea"/>
                          <a:ea typeface="+mn-ea"/>
                        </a:rPr>
                        <a:t>TBEPBP34(</a:t>
                      </a:r>
                      <a:r>
                        <a:rPr lang="ko-KR" altLang="en-US" sz="800" dirty="0" err="1">
                          <a:latin typeface="+mn-ea"/>
                          <a:ea typeface="+mn-ea"/>
                        </a:rPr>
                        <a:t>연기정정처이</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a:t>
                      </a:r>
                      <a:r>
                        <a:rPr lang="ko-KR" altLang="en-US" sz="800" dirty="0">
                          <a:latin typeface="+mn-ea"/>
                          <a:ea typeface="+mn-ea"/>
                        </a:rPr>
                        <a:t>력</a:t>
                      </a:r>
                      <a:r>
                        <a:rPr lang="en-US" altLang="ko-KR" sz="800" dirty="0">
                          <a:latin typeface="+mn-ea"/>
                          <a:ea typeface="+mn-ea"/>
                        </a:rPr>
                        <a:t>).</a:t>
                      </a:r>
                      <a:r>
                        <a:rPr lang="en-US" altLang="ko-KR" sz="800" kern="1200" dirty="0">
                          <a:solidFill>
                            <a:schemeClr val="tx1"/>
                          </a:solidFill>
                          <a:latin typeface="+mn-ea"/>
                          <a:ea typeface="+mn-ea"/>
                          <a:cs typeface="+mn-cs"/>
                        </a:rPr>
                        <a:t>PTCP_BIDX_DATE(</a:t>
                      </a:r>
                      <a:r>
                        <a:rPr lang="ko-KR" altLang="en-US" sz="800" kern="1200" dirty="0" err="1">
                          <a:solidFill>
                            <a:schemeClr val="tx1"/>
                          </a:solidFill>
                          <a:latin typeface="+mn-ea"/>
                          <a:ea typeface="+mn-ea"/>
                          <a:cs typeface="+mn-cs"/>
                        </a:rPr>
                        <a:t>이전입찰참가신청입찰일자</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가 </a:t>
                      </a:r>
                      <a:r>
                        <a:rPr lang="en-US" altLang="ko-KR" sz="800" kern="1200" dirty="0">
                          <a:solidFill>
                            <a:schemeClr val="tx1"/>
                          </a:solidFill>
                          <a:latin typeface="+mn-ea"/>
                          <a:ea typeface="+mn-ea"/>
                          <a:cs typeface="+mn-cs"/>
                        </a:rPr>
                        <a:t>TBEPBA11 (</a:t>
                      </a:r>
                      <a:r>
                        <a:rPr lang="ko-KR" altLang="en-US" sz="800" kern="1200" dirty="0">
                          <a:solidFill>
                            <a:schemeClr val="tx1"/>
                          </a:solidFill>
                          <a:latin typeface="+mn-ea"/>
                          <a:ea typeface="+mn-ea"/>
                          <a:cs typeface="+mn-cs"/>
                        </a:rPr>
                        <a:t>공</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고의뢰철</a:t>
                      </a:r>
                      <a:r>
                        <a:rPr lang="en-US" altLang="ko-KR" sz="800" kern="1200" dirty="0">
                          <a:solidFill>
                            <a:schemeClr val="tx1"/>
                          </a:solidFill>
                          <a:latin typeface="+mn-ea"/>
                          <a:ea typeface="+mn-ea"/>
                          <a:cs typeface="+mn-cs"/>
                        </a:rPr>
                        <a:t>).BIDX_DATE(</a:t>
                      </a:r>
                      <a:r>
                        <a:rPr lang="ko-KR" altLang="en-US" sz="800" kern="1200" dirty="0">
                          <a:solidFill>
                            <a:schemeClr val="tx1"/>
                          </a:solidFill>
                          <a:latin typeface="+mn-ea"/>
                          <a:ea typeface="+mn-ea"/>
                          <a:cs typeface="+mn-cs"/>
                        </a:rPr>
                        <a:t>개찰일자</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와 다른 경우</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ko-KR" altLang="en-US" sz="800" kern="1200" dirty="0">
                          <a:solidFill>
                            <a:schemeClr val="tx1"/>
                          </a:solidFill>
                          <a:latin typeface="+mn-ea"/>
                          <a:ea typeface="+mn-ea"/>
                          <a:cs typeface="+mn-cs"/>
                        </a:rPr>
                        <a:t>공지사항 보이기</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 </a:t>
                      </a:r>
                      <a:r>
                        <a:rPr lang="ko-KR" altLang="en-US" sz="800" kern="1200" dirty="0">
                          <a:solidFill>
                            <a:schemeClr val="tx1"/>
                          </a:solidFill>
                          <a:latin typeface="+mn-ea"/>
                          <a:ea typeface="+mn-ea"/>
                          <a:cs typeface="+mn-cs"/>
                        </a:rPr>
                        <a:t>입찰참가신청서 조회</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수정 시 연기공고 처리 된 경우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err="1">
                          <a:latin typeface="+mn-ea"/>
                          <a:ea typeface="+mn-ea"/>
                        </a:rPr>
                        <a:t>pdb</a:t>
                      </a:r>
                      <a:r>
                        <a:rPr lang="en-US" altLang="ko-KR" sz="800" dirty="0">
                          <a:latin typeface="+mn-ea"/>
                          <a:ea typeface="+mn-ea"/>
                        </a:rPr>
                        <a:t> : </a:t>
                      </a:r>
                      <a:r>
                        <a:rPr lang="en-US" altLang="ko-KR" sz="800" dirty="0" err="1">
                          <a:latin typeface="+mn-ea"/>
                          <a:ea typeface="+mn-ea"/>
                        </a:rPr>
                        <a:t>bidApplyRegi.jsp</a:t>
                      </a:r>
                      <a:r>
                        <a:rPr lang="en-US" altLang="ko-KR" sz="800" dirty="0">
                          <a:latin typeface="+mn-ea"/>
                          <a:ea typeface="+mn-ea"/>
                        </a:rPr>
                        <a:t>, </a:t>
                      </a:r>
                      <a:r>
                        <a:rPr lang="en-US" altLang="ko-KR" sz="800" dirty="0" err="1">
                          <a:latin typeface="+mn-ea"/>
                          <a:ea typeface="+mn-ea"/>
                        </a:rPr>
                        <a:t>bidApplyMdf.jsp</a:t>
                      </a:r>
                      <a:r>
                        <a:rPr lang="en-US" altLang="ko-KR" sz="800" dirty="0">
                          <a:latin typeface="+mn-ea"/>
                          <a:ea typeface="+mn-ea"/>
                        </a:rPr>
                        <a:t>, </a:t>
                      </a:r>
                      <a:r>
                        <a:rPr lang="en-US" altLang="ko-KR" sz="800" dirty="0" err="1">
                          <a:latin typeface="+mn-ea"/>
                          <a:ea typeface="+mn-ea"/>
                        </a:rPr>
                        <a:t>bidApplyInfo.jsp</a:t>
                      </a:r>
                      <a:endParaRPr lang="ko-KR" altLang="en-US" sz="800" dirty="0">
                        <a:latin typeface="+mn-ea"/>
                        <a:ea typeface="+mn-ea"/>
                      </a:endParaRPr>
                    </a:p>
                    <a:p>
                      <a:pPr marL="0" indent="0" algn="l" latinLnBrk="1">
                        <a:buFont typeface="Arial" panose="020B0604020202020204" pitchFamily="34" charset="0"/>
                        <a:buNone/>
                      </a:pPr>
                      <a:r>
                        <a:rPr lang="en-US" altLang="ko-KR" sz="800" dirty="0" err="1">
                          <a:latin typeface="+mn-ea"/>
                          <a:ea typeface="+mn-ea"/>
                        </a:rPr>
                        <a:t>peb</a:t>
                      </a:r>
                      <a:r>
                        <a:rPr lang="en-US" altLang="ko-KR" sz="800" dirty="0">
                          <a:latin typeface="+mn-ea"/>
                          <a:ea typeface="+mn-ea"/>
                        </a:rPr>
                        <a:t> : </a:t>
                      </a:r>
                      <a:r>
                        <a:rPr lang="en-US" altLang="ko-KR" sz="800" dirty="0" err="1">
                          <a:latin typeface="+mn-ea"/>
                          <a:ea typeface="+mn-ea"/>
                        </a:rPr>
                        <a:t>bidApplyRegi.jsp</a:t>
                      </a:r>
                      <a:r>
                        <a:rPr lang="en-US" altLang="ko-KR" sz="800" dirty="0">
                          <a:latin typeface="+mn-ea"/>
                          <a:ea typeface="+mn-ea"/>
                        </a:rPr>
                        <a:t>, </a:t>
                      </a:r>
                      <a:r>
                        <a:rPr lang="en-US" altLang="ko-KR" sz="800" dirty="0" err="1">
                          <a:latin typeface="+mn-ea"/>
                          <a:ea typeface="+mn-ea"/>
                        </a:rPr>
                        <a:t>bidApplyMdf.jsp</a:t>
                      </a:r>
                      <a:r>
                        <a:rPr lang="en-US" altLang="ko-KR" sz="800" dirty="0">
                          <a:latin typeface="+mn-ea"/>
                          <a:ea typeface="+mn-ea"/>
                        </a:rPr>
                        <a:t>, </a:t>
                      </a:r>
                      <a:r>
                        <a:rPr lang="en-US" altLang="ko-KR" sz="800" dirty="0" err="1">
                          <a:latin typeface="+mn-ea"/>
                          <a:ea typeface="+mn-ea"/>
                        </a:rPr>
                        <a:t>bidApplyInfo.jsp</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ea typeface="+mn-ea"/>
                        </a:rPr>
                        <a:t>보증금납부방법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scwin.sbx_</a:t>
                      </a:r>
                      <a:r>
                        <a:rPr lang="en-US" altLang="ko-KR" sz="800" dirty="0" err="1">
                          <a:latin typeface="+mn-ea"/>
                          <a:ea typeface="+mn-ea"/>
                        </a:rPr>
                        <a:t>depsPayMthd</a:t>
                      </a:r>
                      <a:r>
                        <a:rPr lang="en-US" altLang="ko-KR" sz="800" dirty="0" err="1"/>
                        <a:t>_onchange</a:t>
                      </a:r>
                      <a:endParaRPr lang="en-US" altLang="ko-KR" sz="800" dirty="0"/>
                    </a:p>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보증금 면제 선택 시 보증금 지급확약서 </a:t>
                      </a:r>
                      <a:r>
                        <a:rPr lang="ko-KR" altLang="en-US" sz="800" dirty="0" err="1">
                          <a:latin typeface="+mn-ea"/>
                          <a:ea typeface="+mn-ea"/>
                        </a:rPr>
                        <a:t>동의문</a:t>
                      </a:r>
                      <a:r>
                        <a:rPr lang="en-US" altLang="ko-KR" sz="800" dirty="0">
                          <a:latin typeface="+mn-ea"/>
                          <a:ea typeface="+mn-ea"/>
                        </a:rPr>
                        <a:t>(</a:t>
                      </a:r>
                      <a:r>
                        <a:rPr lang="ko-KR" altLang="en-US" sz="800" dirty="0">
                          <a:latin typeface="+mn-ea"/>
                          <a:ea typeface="+mn-ea"/>
                        </a:rPr>
                        <a:t>보증금 </a:t>
                      </a:r>
                      <a:r>
                        <a:rPr lang="ko-KR" altLang="en-US" sz="800" dirty="0" err="1">
                          <a:latin typeface="+mn-ea"/>
                          <a:ea typeface="+mn-ea"/>
                        </a:rPr>
                        <a:t>동의문</a:t>
                      </a:r>
                      <a:r>
                        <a:rPr lang="en-US" altLang="ko-KR" sz="800" dirty="0">
                          <a:latin typeface="+mn-ea"/>
                          <a:ea typeface="+mn-ea"/>
                        </a:rPr>
                        <a:t>) </a:t>
                      </a:r>
                      <a:r>
                        <a:rPr lang="ko-KR" altLang="en-US" sz="800" dirty="0">
                          <a:latin typeface="+mn-ea"/>
                          <a:ea typeface="+mn-ea"/>
                        </a:rPr>
                        <a:t>알림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물품</a:t>
                      </a:r>
                      <a:r>
                        <a:rPr lang="en-US" altLang="ko-KR" sz="800" dirty="0">
                          <a:latin typeface="+mn-ea"/>
                          <a:ea typeface="+mn-ea"/>
                        </a:rPr>
                        <a:t>, </a:t>
                      </a:r>
                      <a:r>
                        <a:rPr lang="ko-KR" altLang="en-US" sz="800" dirty="0">
                          <a:latin typeface="+mn-ea"/>
                          <a:ea typeface="+mn-ea"/>
                        </a:rPr>
                        <a:t>부서부호가 </a:t>
                      </a:r>
                      <a:r>
                        <a:rPr lang="en-US" altLang="ko-KR" sz="800" dirty="0">
                          <a:latin typeface="+mn-ea"/>
                          <a:ea typeface="+mn-ea"/>
                        </a:rPr>
                        <a:t>‘E’ </a:t>
                      </a:r>
                      <a:r>
                        <a:rPr lang="ko-KR" altLang="en-US" sz="800" dirty="0">
                          <a:latin typeface="+mn-ea"/>
                          <a:ea typeface="+mn-ea"/>
                        </a:rPr>
                        <a:t>또는 </a:t>
                      </a:r>
                      <a:r>
                        <a:rPr lang="en-US" altLang="ko-KR" sz="800" dirty="0">
                          <a:latin typeface="+mn-ea"/>
                          <a:ea typeface="+mn-ea"/>
                        </a:rPr>
                        <a:t>‘P’</a:t>
                      </a:r>
                      <a:r>
                        <a:rPr lang="ko-KR" altLang="en-US" sz="800" dirty="0">
                          <a:latin typeface="+mn-ea"/>
                          <a:ea typeface="+mn-ea"/>
                        </a:rPr>
                        <a:t>로 시작하는 경우 </a:t>
                      </a:r>
                      <a:r>
                        <a:rPr lang="en-US" altLang="ko-KR" sz="800" dirty="0">
                          <a:latin typeface="+mn-ea"/>
                          <a:ea typeface="+mn-ea"/>
                        </a:rPr>
                        <a:t>‘</a:t>
                      </a:r>
                      <a:r>
                        <a:rPr lang="ko-KR" altLang="en-US" sz="800" dirty="0">
                          <a:latin typeface="+mn-ea"/>
                          <a:ea typeface="+mn-ea"/>
                        </a:rPr>
                        <a:t>보증금 지급확약서 </a:t>
                      </a:r>
                      <a:r>
                        <a:rPr lang="ko-KR" altLang="en-US" sz="800" dirty="0" err="1">
                          <a:latin typeface="+mn-ea"/>
                          <a:ea typeface="+mn-ea"/>
                        </a:rPr>
                        <a:t>동의문</a:t>
                      </a:r>
                      <a:r>
                        <a:rPr lang="en-US" altLang="ko-KR" sz="800" dirty="0">
                          <a:latin typeface="+mn-ea"/>
                          <a:ea typeface="+mn-ea"/>
                        </a:rPr>
                        <a:t>‘, </a:t>
                      </a:r>
                      <a:r>
                        <a:rPr lang="ko-KR" altLang="en-US" sz="800" dirty="0">
                          <a:latin typeface="+mn-ea"/>
                          <a:ea typeface="+mn-ea"/>
                        </a:rPr>
                        <a:t>그 외의 경우 </a:t>
                      </a:r>
                      <a:r>
                        <a:rPr lang="en-US" altLang="ko-KR" sz="800" dirty="0">
                          <a:latin typeface="+mn-ea"/>
                          <a:ea typeface="+mn-ea"/>
                        </a:rPr>
                        <a:t>‘</a:t>
                      </a:r>
                      <a:r>
                        <a:rPr lang="ko-KR" altLang="en-US" sz="800" dirty="0">
                          <a:latin typeface="+mn-ea"/>
                          <a:ea typeface="+mn-ea"/>
                        </a:rPr>
                        <a:t>보증금 </a:t>
                      </a:r>
                      <a:r>
                        <a:rPr lang="ko-KR" altLang="en-US" sz="800" dirty="0" err="1">
                          <a:latin typeface="+mn-ea"/>
                          <a:ea typeface="+mn-ea"/>
                        </a:rPr>
                        <a:t>동의문</a:t>
                      </a:r>
                      <a:r>
                        <a:rPr lang="en-US" altLang="ko-KR" sz="800" dirty="0">
                          <a:latin typeface="+mn-ea"/>
                          <a:ea typeface="+mn-ea"/>
                        </a:rPr>
                        <a:t>‘</a:t>
                      </a:r>
                      <a:r>
                        <a:rPr lang="ko-KR" altLang="en-US" sz="800" dirty="0">
                          <a:latin typeface="+mn-ea"/>
                          <a:ea typeface="+mn-ea"/>
                        </a:rPr>
                        <a:t> 알림</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공사인 경우 </a:t>
                      </a:r>
                      <a:r>
                        <a:rPr lang="en-US" altLang="ko-KR" sz="800" dirty="0">
                          <a:latin typeface="+mn-ea"/>
                          <a:ea typeface="+mn-ea"/>
                        </a:rPr>
                        <a:t>‘</a:t>
                      </a:r>
                      <a:r>
                        <a:rPr lang="ko-KR" altLang="en-US" sz="800" dirty="0">
                          <a:latin typeface="+mn-ea"/>
                          <a:ea typeface="+mn-ea"/>
                        </a:rPr>
                        <a:t>보증금 </a:t>
                      </a:r>
                      <a:r>
                        <a:rPr lang="ko-KR" altLang="en-US" sz="800" dirty="0" err="1">
                          <a:latin typeface="+mn-ea"/>
                          <a:ea typeface="+mn-ea"/>
                        </a:rPr>
                        <a:t>동의문</a:t>
                      </a:r>
                      <a:r>
                        <a:rPr lang="en-US" altLang="ko-KR" sz="800" dirty="0">
                          <a:latin typeface="+mn-ea"/>
                          <a:ea typeface="+mn-ea"/>
                        </a:rPr>
                        <a:t>‘</a:t>
                      </a:r>
                      <a:r>
                        <a:rPr lang="ko-KR" altLang="en-US" sz="800" dirty="0">
                          <a:latin typeface="+mn-ea"/>
                          <a:ea typeface="+mn-ea"/>
                        </a:rPr>
                        <a:t> 알림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7005836"/>
                  </a:ext>
                </a:extLst>
              </a:tr>
              <a:tr h="0">
                <a:tc>
                  <a:txBody>
                    <a:bodyPr/>
                    <a:lstStyle/>
                    <a:p>
                      <a:r>
                        <a:rPr lang="ko-KR" altLang="en-US" sz="800" dirty="0">
                          <a:latin typeface="+mn-ea"/>
                          <a:ea typeface="+mn-ea"/>
                        </a:rPr>
                        <a:t>면제여부상세설명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scwin.btn_depsExmptnRsnDtlExpls_onclick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kern="1200" dirty="0" err="1">
                          <a:solidFill>
                            <a:schemeClr val="tx1"/>
                          </a:solidFill>
                          <a:latin typeface="+mn-ea"/>
                          <a:ea typeface="+mn-ea"/>
                          <a:cs typeface="+mn-cs"/>
                        </a:rPr>
                        <a:t>보증금면제사유상세설명</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(UI-BD-04-P03) </a:t>
                      </a:r>
                      <a:r>
                        <a:rPr lang="ko-KR" altLang="en-US" sz="800" b="0" i="0" kern="1200" dirty="0">
                          <a:solidFill>
                            <a:schemeClr val="tx1"/>
                          </a:solidFill>
                          <a:effectLst/>
                          <a:latin typeface="+mn-ea"/>
                          <a:ea typeface="+mn-ea"/>
                          <a:cs typeface="+mn-cs"/>
                        </a:rPr>
                        <a:t>보증금면제사유상세설명</a:t>
                      </a:r>
                      <a:endParaRPr lang="ko-KR" altLang="ko-KR" sz="800" dirty="0">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01782484"/>
                  </a:ext>
                </a:extLst>
              </a:tr>
              <a:tr h="0">
                <a:tc>
                  <a:txBody>
                    <a:bodyPr/>
                    <a:lstStyle/>
                    <a:p>
                      <a:r>
                        <a:rPr lang="ko-KR" altLang="en-US" sz="800" dirty="0">
                          <a:latin typeface="+mn-ea"/>
                          <a:ea typeface="+mn-ea"/>
                        </a:rPr>
                        <a:t>신청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scwin.btn_bidPrtcpAply_onclick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입찰참가신청서 저장 또는 수정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중복 신청 확인</a:t>
                      </a:r>
                      <a:endParaRPr lang="en-US" altLang="ko-KR" sz="800" dirty="0">
                        <a:latin typeface="+mn-ea"/>
                        <a:ea typeface="+mn-ea"/>
                      </a:endParaRPr>
                    </a:p>
                    <a:p>
                      <a:pPr marL="0" indent="0" algn="l" latinLnBrk="1">
                        <a:buFont typeface="Arial" panose="020B0604020202020204" pitchFamily="34" charset="0"/>
                        <a:buNone/>
                      </a:pPr>
                      <a:r>
                        <a:rPr lang="ko-KR" altLang="en-US" sz="750" dirty="0">
                          <a:latin typeface="+mn-ea"/>
                          <a:ea typeface="+mn-ea"/>
                        </a:rPr>
                        <a:t>입찰참가신청 완료 후 입찰등록심사 시점이 사후등록심사인 경우 알림</a:t>
                      </a:r>
                      <a:r>
                        <a:rPr lang="en-US" altLang="ko-KR" sz="750" dirty="0">
                          <a:latin typeface="+mn-ea"/>
                          <a:ea typeface="+mn-ea"/>
                        </a:rPr>
                        <a:t>(alert)</a:t>
                      </a: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입찰서제출 시점</a:t>
                      </a:r>
                      <a:r>
                        <a:rPr lang="en-US" altLang="ko-KR" sz="800" dirty="0">
                          <a:latin typeface="+mn-ea"/>
                          <a:ea typeface="+mn-ea"/>
                        </a:rPr>
                        <a:t>(TBEPBA11.APPL_INSP)</a:t>
                      </a:r>
                    </a:p>
                    <a:p>
                      <a:pPr marL="0" indent="0" algn="l" latinLnBrk="1">
                        <a:buFont typeface="Arial" panose="020B0604020202020204" pitchFamily="34" charset="0"/>
                        <a:buNone/>
                      </a:pPr>
                      <a:r>
                        <a:rPr lang="en-US" altLang="ko-KR" sz="800" dirty="0">
                          <a:latin typeface="+mn-ea"/>
                          <a:ea typeface="+mn-ea"/>
                        </a:rPr>
                        <a:t>    - Y : </a:t>
                      </a:r>
                      <a:r>
                        <a:rPr lang="ko-KR" altLang="en-US" sz="800" dirty="0">
                          <a:latin typeface="+mn-ea"/>
                          <a:ea typeface="+mn-ea"/>
                        </a:rPr>
                        <a:t>입찰참가신청</a:t>
                      </a:r>
                      <a:r>
                        <a:rPr lang="en-US" altLang="ko-KR" sz="800" dirty="0">
                          <a:latin typeface="+mn-ea"/>
                          <a:ea typeface="+mn-ea"/>
                        </a:rPr>
                        <a:t>, </a:t>
                      </a:r>
                      <a:r>
                        <a:rPr lang="ko-KR" altLang="en-US" sz="800" dirty="0">
                          <a:latin typeface="+mn-ea"/>
                          <a:ea typeface="+mn-ea"/>
                        </a:rPr>
                        <a:t>입찰서제출</a:t>
                      </a:r>
                      <a:r>
                        <a:rPr lang="en-US" altLang="ko-KR" sz="800" dirty="0">
                          <a:latin typeface="+mn-ea"/>
                          <a:ea typeface="+mn-ea"/>
                        </a:rPr>
                        <a:t> </a:t>
                      </a:r>
                      <a:r>
                        <a:rPr lang="ko-KR" altLang="en-US" sz="800" dirty="0">
                          <a:latin typeface="+mn-ea"/>
                          <a:ea typeface="+mn-ea"/>
                        </a:rPr>
                        <a:t>후</a:t>
                      </a:r>
                      <a:r>
                        <a:rPr lang="en-US" altLang="ko-KR" sz="800" dirty="0">
                          <a:latin typeface="+mn-ea"/>
                          <a:ea typeface="+mn-ea"/>
                        </a:rPr>
                        <a:t> </a:t>
                      </a:r>
                      <a:r>
                        <a:rPr lang="ko-KR" altLang="en-US" sz="800" dirty="0">
                          <a:latin typeface="+mn-ea"/>
                          <a:ea typeface="+mn-ea"/>
                        </a:rPr>
                        <a:t>입찰등록심사</a:t>
                      </a:r>
                      <a:r>
                        <a:rPr lang="en-US" altLang="ko-KR" sz="800" dirty="0">
                          <a:latin typeface="+mn-ea"/>
                          <a:ea typeface="+mn-ea"/>
                        </a:rPr>
                        <a:t>(</a:t>
                      </a:r>
                      <a:r>
                        <a:rPr lang="ko-KR" altLang="en-US" sz="800" dirty="0">
                          <a:latin typeface="+mn-ea"/>
                          <a:ea typeface="+mn-ea"/>
                        </a:rPr>
                        <a:t>사후등록심사</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    - </a:t>
                      </a:r>
                      <a:r>
                        <a:rPr lang="en-US" altLang="ko-KR" sz="750" dirty="0">
                          <a:latin typeface="+mn-ea"/>
                          <a:ea typeface="+mn-ea"/>
                        </a:rPr>
                        <a:t>N : </a:t>
                      </a:r>
                      <a:r>
                        <a:rPr lang="ko-KR" altLang="en-US" sz="750" dirty="0">
                          <a:latin typeface="+mn-ea"/>
                          <a:ea typeface="+mn-ea"/>
                        </a:rPr>
                        <a:t>입찰참가신청</a:t>
                      </a:r>
                      <a:r>
                        <a:rPr lang="en-US" altLang="ko-KR" sz="750" dirty="0">
                          <a:latin typeface="+mn-ea"/>
                          <a:ea typeface="+mn-ea"/>
                        </a:rPr>
                        <a:t>, </a:t>
                      </a:r>
                      <a:r>
                        <a:rPr lang="ko-KR" altLang="en-US" sz="750" dirty="0">
                          <a:latin typeface="+mn-ea"/>
                          <a:ea typeface="+mn-ea"/>
                        </a:rPr>
                        <a:t>입찰등록심사 등록확정 후 입찰서 제출</a:t>
                      </a:r>
                      <a:r>
                        <a:rPr lang="en-US" altLang="ko-KR" sz="750" dirty="0">
                          <a:latin typeface="+mn-ea"/>
                          <a:ea typeface="+mn-ea"/>
                        </a:rPr>
                        <a:t>(</a:t>
                      </a:r>
                      <a:r>
                        <a:rPr lang="ko-KR" altLang="en-US" sz="750" dirty="0">
                          <a:latin typeface="+mn-ea"/>
                          <a:ea typeface="+mn-ea"/>
                        </a:rPr>
                        <a:t>사전등록심사</a:t>
                      </a:r>
                      <a:r>
                        <a:rPr lang="en-US" altLang="ko-KR" sz="75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8272934"/>
                  </a:ext>
                </a:extLst>
              </a:tr>
              <a:tr h="0">
                <a:tc>
                  <a:txBody>
                    <a:bodyPr/>
                    <a:lstStyle/>
                    <a:p>
                      <a:r>
                        <a:rPr lang="ko-KR" altLang="en-US" sz="800" dirty="0">
                          <a:latin typeface="+mn-ea"/>
                          <a:ea typeface="+mn-ea"/>
                        </a:rPr>
                        <a:t>협정서제출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모든 구성업체 동의 후 대표업체가 협정서제출</a:t>
                      </a:r>
                      <a:r>
                        <a:rPr lang="en-US" altLang="ko-KR" sz="800" dirty="0">
                          <a:latin typeface="+mn-ea"/>
                          <a:ea typeface="+mn-ea"/>
                        </a:rPr>
                        <a:t>(</a:t>
                      </a:r>
                      <a:r>
                        <a:rPr lang="ko-KR" altLang="en-US" sz="800" dirty="0">
                          <a:latin typeface="+mn-ea"/>
                          <a:ea typeface="+mn-ea"/>
                        </a:rPr>
                        <a:t>입찰참가신청 완료</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1187369"/>
                  </a:ext>
                </a:extLst>
              </a:tr>
              <a:tr h="0">
                <a:tc>
                  <a:txBody>
                    <a:bodyPr/>
                    <a:lstStyle/>
                    <a:p>
                      <a:r>
                        <a:rPr lang="ko-KR" altLang="en-US" sz="800" dirty="0" err="1">
                          <a:latin typeface="+mn-ea"/>
                          <a:ea typeface="+mn-ea"/>
                        </a:rPr>
                        <a:t>등록반려</a:t>
                      </a:r>
                      <a:r>
                        <a:rPr lang="ko-KR" altLang="en-US" sz="800" dirty="0">
                          <a:latin typeface="+mn-ea"/>
                          <a:ea typeface="+mn-ea"/>
                        </a:rPr>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scwin.btn_bidPrtcpRegRjctAply_onclick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입찰등록심사 전 가능</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(UI-BD-04-P04) </a:t>
                      </a:r>
                      <a:r>
                        <a:rPr lang="ko-KR" altLang="en-US" sz="800" b="0" i="0" kern="1200" dirty="0">
                          <a:solidFill>
                            <a:schemeClr val="tx1"/>
                          </a:solidFill>
                          <a:effectLst/>
                          <a:latin typeface="+mn-ea"/>
                          <a:ea typeface="+mn-ea"/>
                          <a:cs typeface="+mn-cs"/>
                        </a:rPr>
                        <a:t>입찰참가등록반려</a:t>
                      </a:r>
                      <a:endParaRPr lang="ko-KR" altLang="ko-KR" sz="800" dirty="0">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1084790"/>
                  </a:ext>
                </a:extLst>
              </a:tr>
              <a:tr h="0">
                <a:tc>
                  <a:txBody>
                    <a:bodyPr/>
                    <a:lstStyle/>
                    <a:p>
                      <a:r>
                        <a:rPr lang="ko-KR" altLang="en-US" sz="800" dirty="0">
                          <a:latin typeface="+mn-ea"/>
                          <a:ea typeface="+mn-ea"/>
                        </a:rPr>
                        <a:t>반려신청조회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scwin.btn_bidPrtcpRegRjctInc_onclick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입찰참가등록반려</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입찰참가등록반려 신청 후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(UI-BD-04-P04) </a:t>
                      </a:r>
                      <a:r>
                        <a:rPr lang="ko-KR" altLang="en-US" sz="800" b="0" i="0" kern="1200" dirty="0">
                          <a:solidFill>
                            <a:schemeClr val="tx1"/>
                          </a:solidFill>
                          <a:effectLst/>
                          <a:latin typeface="+mn-ea"/>
                          <a:ea typeface="+mn-ea"/>
                          <a:cs typeface="+mn-cs"/>
                        </a:rPr>
                        <a:t>입찰참가등록반려</a:t>
                      </a:r>
                      <a:endParaRPr lang="ko-KR" altLang="ko-KR" sz="800" dirty="0">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015457"/>
                  </a:ext>
                </a:extLst>
              </a:tr>
              <a:tr h="0">
                <a:tc>
                  <a:txBody>
                    <a:bodyPr/>
                    <a:lstStyle/>
                    <a:p>
                      <a:r>
                        <a:rPr lang="ko-KR" altLang="en-US" sz="800" dirty="0">
                          <a:latin typeface="+mn-ea"/>
                          <a:ea typeface="+mn-ea"/>
                        </a:rPr>
                        <a:t>공동수급동의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scwin.btn_jtngpAgre_onclick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해당 입찰공고에 구성업체로 협정 맺은 경우 버튼이 보이고</a:t>
                      </a:r>
                      <a:r>
                        <a:rPr lang="en-US" altLang="ko-KR" sz="800" dirty="0">
                          <a:latin typeface="+mn-ea"/>
                          <a:ea typeface="+mn-ea"/>
                        </a:rPr>
                        <a:t>, </a:t>
                      </a:r>
                      <a:r>
                        <a:rPr lang="ko-KR" altLang="en-US" sz="800" dirty="0">
                          <a:latin typeface="+mn-ea"/>
                          <a:ea typeface="+mn-ea"/>
                        </a:rPr>
                        <a:t>협정에 동의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603420"/>
                  </a:ext>
                </a:extLst>
              </a:tr>
              <a:tr h="0">
                <a:tc>
                  <a:txBody>
                    <a:bodyPr/>
                    <a:lstStyle/>
                    <a:p>
                      <a:r>
                        <a:rPr lang="ko-KR" altLang="en-US" sz="800" dirty="0">
                          <a:latin typeface="+mn-ea"/>
                          <a:ea typeface="+mn-ea"/>
                        </a:rPr>
                        <a:t>동의거부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scwin.btn_jtngpDsag_onclick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해당 입찰공고에 구성업체로 협정 맺은 경우 버튼이 보이고</a:t>
                      </a:r>
                      <a:r>
                        <a:rPr lang="en-US" altLang="ko-KR" sz="800" dirty="0">
                          <a:latin typeface="+mn-ea"/>
                          <a:ea typeface="+mn-ea"/>
                        </a:rPr>
                        <a:t>, </a:t>
                      </a:r>
                      <a:r>
                        <a:rPr lang="ko-KR" altLang="en-US" sz="800" dirty="0">
                          <a:latin typeface="+mn-ea"/>
                          <a:ea typeface="+mn-ea"/>
                        </a:rPr>
                        <a:t>협정 거부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49702224"/>
                  </a:ext>
                </a:extLst>
              </a:tr>
              <a:tr h="0">
                <a:tc>
                  <a:txBody>
                    <a:bodyPr/>
                    <a:lstStyle/>
                    <a:p>
                      <a:r>
                        <a:rPr lang="ko-KR" altLang="en-US" sz="800" dirty="0" err="1">
                          <a:latin typeface="+mn-ea"/>
                          <a:ea typeface="+mn-ea"/>
                        </a:rPr>
                        <a:t>공동수급협정서출력</a:t>
                      </a:r>
                      <a:r>
                        <a:rPr lang="ko-KR" altLang="en-US" sz="800" dirty="0">
                          <a:latin typeface="+mn-ea"/>
                          <a:ea typeface="+mn-ea"/>
                        </a:rPr>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scwin.btn_jtngpReport_onclick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공동수급협정서 출력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811346"/>
                  </a:ext>
                </a:extLst>
              </a:tr>
            </a:tbl>
          </a:graphicData>
        </a:graphic>
      </p:graphicFrame>
      <p:sp>
        <p:nvSpPr>
          <p:cNvPr id="8" name="Text Box 73">
            <a:extLst>
              <a:ext uri="{FF2B5EF4-FFF2-40B4-BE49-F238E27FC236}">
                <a16:creationId xmlns:a16="http://schemas.microsoft.com/office/drawing/2014/main" id="{1E80178B-A725-CAFD-DD9D-52D30EE7E405}"/>
              </a:ext>
            </a:extLst>
          </p:cNvPr>
          <p:cNvSpPr txBox="1">
            <a:spLocks noChangeArrowheads="1"/>
          </p:cNvSpPr>
          <p:nvPr/>
        </p:nvSpPr>
        <p:spPr bwMode="auto">
          <a:xfrm>
            <a:off x="7769866" y="756308"/>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349046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smtClean="0">
                <a:latin typeface="+mn-ea"/>
              </a:rPr>
              <a:t>동의서</a:t>
            </a:r>
            <a:r>
              <a:rPr lang="en-US" altLang="ko-KR" dirty="0" smtClean="0">
                <a:latin typeface="+mn-ea"/>
              </a:rPr>
              <a:t>1</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a:t>
            </a:r>
            <a:r>
              <a:rPr lang="ko-KR" altLang="en-US" dirty="0" err="1">
                <a:latin typeface="+mn-ea"/>
              </a:rPr>
              <a:t>국방규격</a:t>
            </a:r>
            <a:r>
              <a:rPr lang="ko-KR" altLang="en-US" dirty="0">
                <a:latin typeface="+mn-ea"/>
              </a:rPr>
              <a:t> 및 계약이행 가능성 확인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825821" cy="123111"/>
          </a:xfrm>
          <a:prstGeom prst="rect">
            <a:avLst/>
          </a:prstGeom>
          <a:noFill/>
        </p:spPr>
        <p:txBody>
          <a:bodyPr wrap="none" lIns="0" tIns="0" rIns="0" bIns="0" rtlCol="0">
            <a:spAutoFit/>
          </a:bodyPr>
          <a:lstStyle/>
          <a:p>
            <a:r>
              <a:rPr lang="ko-KR" altLang="en-US" sz="800" b="1" dirty="0" err="1">
                <a:latin typeface="맑은 고딕" panose="020B0503020000020004" pitchFamily="50" charset="-127"/>
              </a:rPr>
              <a:t>국방규격</a:t>
            </a:r>
            <a:r>
              <a:rPr lang="ko-KR" altLang="en-US" sz="800" b="1" dirty="0">
                <a:latin typeface="맑은 고딕" panose="020B0503020000020004" pitchFamily="50" charset="-127"/>
              </a:rPr>
              <a:t> 및 계약이행 가능성 확인 동의</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754053"/>
          </a:xfrm>
          <a:prstGeom prst="rect">
            <a:avLst/>
          </a:prstGeom>
          <a:noFill/>
        </p:spPr>
        <p:txBody>
          <a:bodyPr wrap="square" lIns="0" tIns="0" rIns="0" bIns="0" rtlCol="0">
            <a:spAutoFit/>
          </a:bodyPr>
          <a:lstStyle/>
          <a:p>
            <a:r>
              <a:rPr lang="ko-KR" altLang="en-US" sz="700" dirty="0">
                <a:latin typeface="맑은 고딕" panose="020B0503020000020004" pitchFamily="50" charset="-127"/>
                <a:sym typeface="Wingdings 2" panose="05020102010507070707" pitchFamily="18" charset="2"/>
              </a:rPr>
              <a:t>본 입찰에 참여 시 계약목적물에 대한 규격</a:t>
            </a:r>
            <a:r>
              <a:rPr lang="en-US" altLang="ko-KR" sz="700" dirty="0">
                <a:latin typeface="맑은 고딕" panose="020B0503020000020004" pitchFamily="50" charset="-127"/>
                <a:sym typeface="Wingdings 2" panose="05020102010507070707" pitchFamily="18" charset="2"/>
              </a:rPr>
              <a:t>(</a:t>
            </a:r>
            <a:r>
              <a:rPr lang="ko-KR" altLang="en-US" sz="700" dirty="0" err="1">
                <a:latin typeface="맑은 고딕" panose="020B0503020000020004" pitchFamily="50" charset="-127"/>
                <a:sym typeface="Wingdings 2" panose="05020102010507070707" pitchFamily="18" charset="2"/>
              </a:rPr>
              <a:t>구매요구서</a:t>
            </a:r>
            <a:r>
              <a:rPr lang="ko-KR" altLang="en-US" sz="700" dirty="0">
                <a:latin typeface="맑은 고딕" panose="020B0503020000020004" pitchFamily="50" charset="-127"/>
                <a:sym typeface="Wingdings 2" panose="05020102010507070707" pitchFamily="18" charset="2"/>
              </a:rPr>
              <a:t> 포함</a:t>
            </a:r>
            <a:r>
              <a:rPr lang="en-US" altLang="ko-KR" sz="700" dirty="0">
                <a:latin typeface="맑은 고딕" panose="020B0503020000020004" pitchFamily="50" charset="-127"/>
                <a:sym typeface="Wingdings 2" panose="05020102010507070707" pitchFamily="18" charset="2"/>
              </a:rPr>
              <a:t>)</a:t>
            </a:r>
            <a:r>
              <a:rPr lang="ko-KR" altLang="en-US" sz="700" dirty="0">
                <a:latin typeface="맑은 고딕" panose="020B0503020000020004" pitchFamily="50" charset="-127"/>
                <a:sym typeface="Wingdings 2" panose="05020102010507070707" pitchFamily="18" charset="2"/>
              </a:rPr>
              <a:t>을 반드시 열람하여 </a:t>
            </a:r>
            <a:r>
              <a:rPr lang="ko-KR" altLang="en-US" sz="700" dirty="0" err="1">
                <a:latin typeface="맑은 고딕" panose="020B0503020000020004" pitchFamily="50" charset="-127"/>
                <a:sym typeface="Wingdings 2" panose="05020102010507070707" pitchFamily="18" charset="2"/>
              </a:rPr>
              <a:t>규격서상</a:t>
            </a:r>
            <a:r>
              <a:rPr lang="ko-KR" altLang="en-US" sz="700" dirty="0">
                <a:latin typeface="맑은 고딕" panose="020B0503020000020004" pitchFamily="50" charset="-127"/>
                <a:sym typeface="Wingdings 2" panose="05020102010507070707" pitchFamily="18" charset="2"/>
              </a:rPr>
              <a:t> 각종 성능시험 요건을 확인하고</a:t>
            </a:r>
            <a:r>
              <a:rPr lang="en-US" altLang="ko-KR" sz="700" dirty="0">
                <a:latin typeface="맑은 고딕" panose="020B0503020000020004" pitchFamily="50" charset="-127"/>
                <a:sym typeface="Wingdings 2" panose="05020102010507070707" pitchFamily="18" charset="2"/>
              </a:rPr>
              <a:t>, </a:t>
            </a:r>
          </a:p>
          <a:p>
            <a:r>
              <a:rPr lang="ko-KR" altLang="en-US" sz="700" dirty="0">
                <a:solidFill>
                  <a:srgbClr val="0070C0"/>
                </a:solidFill>
                <a:latin typeface="맑은 고딕" panose="020B0503020000020004" pitchFamily="50" charset="-127"/>
                <a:sym typeface="Wingdings 2" panose="05020102010507070707" pitchFamily="18" charset="2"/>
              </a:rPr>
              <a:t>납기 내 </a:t>
            </a:r>
            <a:r>
              <a:rPr lang="ko-KR" altLang="en-US" sz="700" dirty="0" err="1">
                <a:solidFill>
                  <a:srgbClr val="0070C0"/>
                </a:solidFill>
                <a:latin typeface="맑은 고딕" panose="020B0503020000020004" pitchFamily="50" charset="-127"/>
                <a:sym typeface="Wingdings 2" panose="05020102010507070707" pitchFamily="18" charset="2"/>
              </a:rPr>
              <a:t>납품가능</a:t>
            </a:r>
            <a:r>
              <a:rPr lang="ko-KR" altLang="en-US" sz="700" dirty="0">
                <a:solidFill>
                  <a:srgbClr val="0070C0"/>
                </a:solidFill>
                <a:latin typeface="맑은 고딕" panose="020B0503020000020004" pitchFamily="50" charset="-127"/>
                <a:sym typeface="Wingdings 2" panose="05020102010507070707" pitchFamily="18" charset="2"/>
              </a:rPr>
              <a:t> 여부 및 계약특수조건 등 확인하여 계약이행 가능성</a:t>
            </a:r>
            <a:r>
              <a:rPr lang="ko-KR" altLang="en-US" sz="700" dirty="0">
                <a:latin typeface="맑은 고딕" panose="020B0503020000020004" pitchFamily="50" charset="-127"/>
                <a:sym typeface="Wingdings 2" panose="05020102010507070707" pitchFamily="18" charset="2"/>
              </a:rPr>
              <a:t>을 사전에 주의 깊게 판단 후 입찰에 참가하시기 바랍니다</a:t>
            </a:r>
            <a:r>
              <a:rPr lang="en-US" altLang="ko-KR" sz="700" dirty="0">
                <a:latin typeface="맑은 고딕" panose="020B0503020000020004" pitchFamily="50" charset="-127"/>
                <a:sym typeface="Wingdings 2" panose="05020102010507070707" pitchFamily="18" charset="2"/>
              </a:rPr>
              <a:t>. </a:t>
            </a:r>
          </a:p>
          <a:p>
            <a:r>
              <a:rPr lang="ko-KR" altLang="en-US" sz="700" dirty="0">
                <a:latin typeface="맑은 고딕" panose="020B0503020000020004" pitchFamily="50" charset="-127"/>
                <a:sym typeface="Wingdings 2" panose="05020102010507070707" pitchFamily="18" charset="2"/>
              </a:rPr>
              <a:t>본 유의사항에도 불구하고 규격 </a:t>
            </a:r>
            <a:r>
              <a:rPr lang="ko-KR" altLang="en-US" sz="700" dirty="0" err="1">
                <a:latin typeface="맑은 고딕" panose="020B0503020000020004" pitchFamily="50" charset="-127"/>
                <a:sym typeface="Wingdings 2" panose="05020102010507070707" pitchFamily="18" charset="2"/>
              </a:rPr>
              <a:t>미열람</a:t>
            </a:r>
            <a:r>
              <a:rPr lang="ko-KR" altLang="en-US" sz="700" dirty="0">
                <a:latin typeface="맑은 고딕" panose="020B0503020000020004" pitchFamily="50" charset="-127"/>
                <a:sym typeface="Wingdings 2" panose="05020102010507070707" pitchFamily="18" charset="2"/>
              </a:rPr>
              <a:t> 등에 따라 발생하는 모든 책임은 입찰자에게 있습니다</a:t>
            </a:r>
            <a:r>
              <a:rPr lang="en-US" altLang="ko-KR" sz="700" dirty="0">
                <a:latin typeface="맑은 고딕" panose="020B0503020000020004" pitchFamily="50" charset="-127"/>
                <a:sym typeface="Wingdings 2" panose="05020102010507070707" pitchFamily="18" charset="2"/>
              </a:rPr>
              <a:t>.</a:t>
            </a:r>
            <a:endParaRPr lang="ko-KR" altLang="en-US" sz="700" dirty="0">
              <a:latin typeface="맑은 고딕" panose="020B0503020000020004" pitchFamily="50" charset="-127"/>
            </a:endParaRP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3699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7" name="그룹 6"/>
          <p:cNvGrpSpPr/>
          <p:nvPr/>
        </p:nvGrpSpPr>
        <p:grpSpPr>
          <a:xfrm>
            <a:off x="1432789" y="3777379"/>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374517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44" name="사각형: 둥근 모서리 15">
            <a:extLst>
              <a:ext uri="{FF2B5EF4-FFF2-40B4-BE49-F238E27FC236}">
                <a16:creationId xmlns:a16="http://schemas.microsoft.com/office/drawing/2014/main" id="{E2B61CFB-AD16-68D0-8752-50D9C5E01971}"/>
              </a:ext>
            </a:extLst>
          </p:cNvPr>
          <p:cNvSpPr/>
          <p:nvPr/>
        </p:nvSpPr>
        <p:spPr>
          <a:xfrm>
            <a:off x="710315" y="3306967"/>
            <a:ext cx="2652742" cy="207774"/>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a:t>국방표준종합정보시스템</a:t>
            </a:r>
            <a:r>
              <a:rPr kumimoji="1" lang="ko-KR" altLang="en-US" sz="800" kern="0" dirty="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38139785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smtClean="0">
                <a:latin typeface="+mn-ea"/>
              </a:rPr>
              <a:t>동의서</a:t>
            </a:r>
            <a:r>
              <a:rPr lang="en-US" altLang="ko-KR" dirty="0" smtClean="0">
                <a:latin typeface="+mn-ea"/>
              </a:rPr>
              <a:t>2</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약관 동의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410369"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약관동의</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323165"/>
          </a:xfrm>
          <a:prstGeom prst="rect">
            <a:avLst/>
          </a:prstGeom>
          <a:noFill/>
        </p:spPr>
        <p:txBody>
          <a:bodyPr wrap="square" lIns="0" tIns="0" rIns="0" bIns="0" rtlCol="0">
            <a:spAutoFit/>
          </a:bodyPr>
          <a:lstStyle/>
          <a:p>
            <a:r>
              <a:rPr lang="ko-KR" altLang="en-US" sz="700" b="1" dirty="0">
                <a:solidFill>
                  <a:schemeClr val="accent5"/>
                </a:solidFill>
                <a:latin typeface="맑은 고딕" panose="020B0503020000020004" pitchFamily="50" charset="-127"/>
              </a:rPr>
              <a:t>국방전자조달시스템 이용에 관한 약관</a:t>
            </a:r>
            <a:r>
              <a:rPr lang="en-US" altLang="ko-KR" sz="700" dirty="0">
                <a:latin typeface="맑은 고딕" panose="020B0503020000020004" pitchFamily="50" charset="-127"/>
              </a:rPr>
              <a:t>, </a:t>
            </a:r>
            <a:r>
              <a:rPr lang="ko-KR" altLang="en-US" sz="700" b="1" dirty="0">
                <a:solidFill>
                  <a:schemeClr val="accent5"/>
                </a:solidFill>
                <a:latin typeface="맑은 고딕" panose="020B0503020000020004" pitchFamily="50" charset="-127"/>
              </a:rPr>
              <a:t>국방전자조달시스템 전자입찰 </a:t>
            </a:r>
            <a:r>
              <a:rPr lang="ko-KR" altLang="en-US" sz="700" b="1" dirty="0" err="1">
                <a:solidFill>
                  <a:schemeClr val="accent5"/>
                </a:solidFill>
                <a:latin typeface="맑은 고딕" panose="020B0503020000020004" pitchFamily="50" charset="-127"/>
              </a:rPr>
              <a:t>특별유의서</a:t>
            </a:r>
            <a:r>
              <a:rPr lang="en-US" altLang="ko-KR" sz="700" dirty="0">
                <a:latin typeface="맑은 고딕" panose="020B0503020000020004" pitchFamily="50" charset="-127"/>
              </a:rPr>
              <a:t>, </a:t>
            </a:r>
            <a:r>
              <a:rPr lang="ko-KR" altLang="en-US" sz="700" b="1" dirty="0">
                <a:solidFill>
                  <a:schemeClr val="accent5"/>
                </a:solidFill>
                <a:latin typeface="맑은 고딕" panose="020B0503020000020004" pitchFamily="50" charset="-127"/>
              </a:rPr>
              <a:t>행정정보 공동이용 사전동의서</a:t>
            </a:r>
            <a:r>
              <a:rPr lang="ko-KR" altLang="en-US" sz="700" dirty="0">
                <a:latin typeface="맑은 고딕" panose="020B0503020000020004" pitchFamily="50" charset="-127"/>
              </a:rPr>
              <a:t>에 동의함</a:t>
            </a: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44674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1432789" y="4545370"/>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451316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 name="모서리가 둥근 직사각형 33"/>
          <p:cNvSpPr/>
          <p:nvPr/>
        </p:nvSpPr>
        <p:spPr>
          <a:xfrm>
            <a:off x="703688" y="2894960"/>
            <a:ext cx="2652743" cy="1392050"/>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FFC49AEA-2A8F-250C-A86A-A7751D9706C3}"/>
              </a:ext>
            </a:extLst>
          </p:cNvPr>
          <p:cNvSpPr txBox="1"/>
          <p:nvPr/>
        </p:nvSpPr>
        <p:spPr>
          <a:xfrm>
            <a:off x="792458" y="2993244"/>
            <a:ext cx="2475203" cy="1184940"/>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err="1">
                <a:solidFill>
                  <a:srgbClr val="0070C0"/>
                </a:solidFill>
                <a:latin typeface="맑은 고딕" panose="020B0503020000020004" pitchFamily="50" charset="-127"/>
              </a:rPr>
              <a:t>인증확인은</a:t>
            </a:r>
            <a:r>
              <a:rPr lang="ko-KR" altLang="en-US" sz="700" dirty="0">
                <a:solidFill>
                  <a:schemeClr val="tx2">
                    <a:lumMod val="75000"/>
                    <a:lumOff val="25000"/>
                  </a:schemeClr>
                </a:solidFill>
                <a:latin typeface="맑은 고딕" panose="020B0503020000020004" pitchFamily="50" charset="-127"/>
              </a:rPr>
              <a:t> </a:t>
            </a:r>
            <a:r>
              <a:rPr lang="ko-KR" altLang="en-US" sz="700" dirty="0">
                <a:solidFill>
                  <a:srgbClr val="FF0000"/>
                </a:solidFill>
                <a:latin typeface="맑은 고딕" panose="020B0503020000020004" pitchFamily="50" charset="-127"/>
              </a:rPr>
              <a:t>법인인증서</a:t>
            </a:r>
            <a:r>
              <a:rPr lang="ko-KR" altLang="en-US" sz="700" dirty="0">
                <a:solidFill>
                  <a:srgbClr val="0070C0"/>
                </a:solidFill>
                <a:latin typeface="맑은 고딕" panose="020B0503020000020004" pitchFamily="50" charset="-127"/>
              </a:rPr>
              <a:t>만 사용 가능합니다</a:t>
            </a:r>
            <a:r>
              <a:rPr lang="en-US" altLang="ko-KR" sz="700" dirty="0">
                <a:solidFill>
                  <a:srgbClr val="0070C0"/>
                </a:solidFill>
                <a:latin typeface="맑은 고딕" panose="020B0503020000020004" pitchFamily="50" charset="-127"/>
              </a:rPr>
              <a:t>.(</a:t>
            </a:r>
            <a:r>
              <a:rPr lang="ko-KR" altLang="en-US" sz="700" dirty="0">
                <a:solidFill>
                  <a:srgbClr val="0070C0"/>
                </a:solidFill>
                <a:latin typeface="맑은 고딕" panose="020B0503020000020004" pitchFamily="50" charset="-127"/>
              </a:rPr>
              <a:t>로그인 시 사용</a:t>
            </a:r>
            <a:r>
              <a:rPr lang="ko-KR" altLang="en-US" sz="700" dirty="0">
                <a:solidFill>
                  <a:schemeClr val="tx2">
                    <a:lumMod val="75000"/>
                    <a:lumOff val="25000"/>
                  </a:schemeClr>
                </a:solidFill>
                <a:latin typeface="맑은 고딕" panose="020B0503020000020004" pitchFamily="50" charset="-127"/>
              </a:rPr>
              <a:t> </a:t>
            </a:r>
            <a:r>
              <a:rPr lang="ko-KR" altLang="en-US" sz="700" dirty="0">
                <a:solidFill>
                  <a:srgbClr val="FF0000"/>
                </a:solidFill>
                <a:latin typeface="맑은 고딕" panose="020B0503020000020004" pitchFamily="50" charset="-127"/>
              </a:rPr>
              <a:t>인증서</a:t>
            </a:r>
            <a:r>
              <a:rPr lang="en-US" altLang="ko-KR" sz="700" dirty="0">
                <a:solidFill>
                  <a:srgbClr val="FF0000"/>
                </a:solidFill>
                <a:latin typeface="맑은 고딕" panose="020B0503020000020004" pitchFamily="50" charset="-127"/>
              </a:rPr>
              <a:t>(</a:t>
            </a:r>
            <a:r>
              <a:rPr lang="ko-KR" altLang="en-US" sz="700" dirty="0" err="1">
                <a:solidFill>
                  <a:srgbClr val="FF0000"/>
                </a:solidFill>
                <a:latin typeface="맑은 고딕" panose="020B0503020000020004" pitchFamily="50" charset="-127"/>
              </a:rPr>
              <a:t>법인인증서</a:t>
            </a:r>
            <a:r>
              <a:rPr lang="en-US" altLang="ko-KR" sz="700" dirty="0">
                <a:solidFill>
                  <a:srgbClr val="FF0000"/>
                </a:solidFill>
                <a:latin typeface="맑은 고딕" panose="020B0503020000020004" pitchFamily="50" charset="-127"/>
              </a:rPr>
              <a:t>)</a:t>
            </a:r>
            <a:r>
              <a:rPr lang="ko-KR" altLang="en-US" sz="700" dirty="0">
                <a:solidFill>
                  <a:srgbClr val="0070C0"/>
                </a:solidFill>
                <a:latin typeface="맑은 고딕" panose="020B0503020000020004" pitchFamily="50" charset="-127"/>
              </a:rPr>
              <a:t>로 모든 인증을 하셔야 합니다</a:t>
            </a:r>
            <a:r>
              <a:rPr lang="en-US" altLang="ko-KR" sz="700" dirty="0">
                <a:solidFill>
                  <a:srgbClr val="0070C0"/>
                </a:solidFill>
                <a:latin typeface="맑은 고딕" panose="020B0503020000020004" pitchFamily="50" charset="-127"/>
              </a:rPr>
              <a:t>.)</a:t>
            </a:r>
          </a:p>
          <a:p>
            <a:pPr marL="88900" indent="-88900">
              <a:buFont typeface="Arial" panose="020B0604020202020204" pitchFamily="34" charset="0"/>
              <a:buChar char="•"/>
            </a:pPr>
            <a:endParaRPr lang="en-US" altLang="ko-KR" sz="700" dirty="0">
              <a:solidFill>
                <a:srgbClr val="0070C0"/>
              </a:solidFill>
              <a:latin typeface="맑은 고딕" panose="020B0503020000020004" pitchFamily="50" charset="-127"/>
            </a:endParaRPr>
          </a:p>
          <a:p>
            <a:pPr marL="88900" indent="-88900">
              <a:buFont typeface="Arial" panose="020B0604020202020204" pitchFamily="34" charset="0"/>
              <a:buChar char="•"/>
            </a:pPr>
            <a:r>
              <a:rPr lang="en-US" altLang="ko-KR" sz="700" dirty="0">
                <a:solidFill>
                  <a:srgbClr val="FF0000"/>
                </a:solidFill>
                <a:latin typeface="맑은 고딕" panose="020B0503020000020004" pitchFamily="50" charset="-127"/>
              </a:rPr>
              <a:t>** </a:t>
            </a:r>
            <a:r>
              <a:rPr lang="ko-KR" altLang="en-US" sz="700" dirty="0">
                <a:solidFill>
                  <a:srgbClr val="FF0000"/>
                </a:solidFill>
                <a:latin typeface="맑은 고딕" panose="020B0503020000020004" pitchFamily="50" charset="-127"/>
              </a:rPr>
              <a:t>입찰참가신청이 되지 않거나 문의 사항은 도움말버튼을 클릭하세요</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endParaRPr lang="en-US" altLang="ko-KR" sz="700" dirty="0">
              <a:solidFill>
                <a:srgbClr val="FF0000"/>
              </a:solidFill>
              <a:latin typeface="맑은 고딕" panose="020B0503020000020004" pitchFamily="50" charset="-127"/>
            </a:endParaRPr>
          </a:p>
          <a:p>
            <a:pPr marL="88900" indent="-88900">
              <a:buFont typeface="Arial" panose="020B0604020202020204" pitchFamily="34" charset="0"/>
              <a:buChar char="•"/>
            </a:pPr>
            <a:r>
              <a:rPr lang="en-US" altLang="ko-KR" sz="700" dirty="0">
                <a:solidFill>
                  <a:srgbClr val="FF0000"/>
                </a:solidFill>
                <a:latin typeface="맑은 고딕" panose="020B0503020000020004" pitchFamily="50" charset="-127"/>
              </a:rPr>
              <a:t>** </a:t>
            </a:r>
            <a:r>
              <a:rPr lang="ko-KR" altLang="en-US" sz="700" dirty="0">
                <a:solidFill>
                  <a:srgbClr val="FF0000"/>
                </a:solidFill>
                <a:latin typeface="맑은 고딕" panose="020B0503020000020004" pitchFamily="50" charset="-127"/>
              </a:rPr>
              <a:t>신청 후 입찰진행화면에서 입찰참가신청서 조회를 누르셔서 신청하신 입찰보증금</a:t>
            </a:r>
            <a:r>
              <a:rPr lang="en-US" altLang="ko-KR" sz="700" dirty="0">
                <a:solidFill>
                  <a:srgbClr val="FF0000"/>
                </a:solidFill>
                <a:latin typeface="맑은 고딕" panose="020B0503020000020004" pitchFamily="50" charset="-127"/>
              </a:rPr>
              <a:t>, </a:t>
            </a:r>
            <a:r>
              <a:rPr lang="ko-KR" altLang="en-US" sz="700" dirty="0">
                <a:solidFill>
                  <a:srgbClr val="FF0000"/>
                </a:solidFill>
                <a:latin typeface="맑은 고딕" panose="020B0503020000020004" pitchFamily="50" charset="-127"/>
              </a:rPr>
              <a:t>첨부서류가 정상적으로 신청되었는지 확인하시기 바랍니다</a:t>
            </a:r>
            <a:r>
              <a:rPr lang="en-US" altLang="ko-KR" sz="700" dirty="0">
                <a:solidFill>
                  <a:srgbClr val="FF0000"/>
                </a:solidFill>
                <a:latin typeface="맑은 고딕" panose="020B0503020000020004" pitchFamily="50" charset="-127"/>
              </a:rPr>
              <a:t>.</a:t>
            </a:r>
            <a:endParaRPr lang="en-US" altLang="ko-KR" sz="700" dirty="0">
              <a:latin typeface="+mn-ea"/>
            </a:endParaRPr>
          </a:p>
        </p:txBody>
      </p:sp>
      <p:sp>
        <p:nvSpPr>
          <p:cNvPr id="36" name="타원 35"/>
          <p:cNvSpPr/>
          <p:nvPr/>
        </p:nvSpPr>
        <p:spPr>
          <a:xfrm>
            <a:off x="788500" y="298359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226213436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r>
              <a:rPr lang="en-US" altLang="ko-KR" dirty="0"/>
              <a:t/>
            </a:r>
            <a:br>
              <a:rPr lang="en-US" altLang="ko-KR" dirty="0"/>
            </a:br>
            <a:r>
              <a:rPr lang="en-US" altLang="ko-KR" dirty="0"/>
              <a:t>- </a:t>
            </a:r>
            <a:r>
              <a:rPr lang="ko-KR" altLang="en-US" dirty="0"/>
              <a:t>공동수급협정 대상 업체는 동의 버튼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smtClean="0">
                <a:latin typeface="+mn-ea"/>
              </a:rPr>
              <a:t>동의서</a:t>
            </a:r>
            <a:r>
              <a:rPr lang="en-US" altLang="ko-KR" dirty="0" smtClean="0">
                <a:latin typeface="+mn-ea"/>
              </a:rPr>
              <a:t>3</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하도급 대금의 지급관련 확인 및 확약서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MUI-BD-04-P17 </a:t>
            </a:r>
            <a:endParaRPr lang="ko-KR" altLang="en-US" dirty="0">
              <a:solidFill>
                <a:srgbClr val="000000"/>
              </a:solidFill>
              <a:latin typeface="맑은 고딕" panose="020B0503020000020004" pitchFamily="50" charset="-127"/>
            </a:endParaRPr>
          </a:p>
          <a:p>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37" name="TextBox 36">
            <a:extLst>
              <a:ext uri="{FF2B5EF4-FFF2-40B4-BE49-F238E27FC236}">
                <a16:creationId xmlns:a16="http://schemas.microsoft.com/office/drawing/2014/main" id="{FFC49AEA-2A8F-250C-A86A-A7751D9706C3}"/>
              </a:ext>
            </a:extLst>
          </p:cNvPr>
          <p:cNvSpPr txBox="1"/>
          <p:nvPr/>
        </p:nvSpPr>
        <p:spPr>
          <a:xfrm>
            <a:off x="804476" y="2129261"/>
            <a:ext cx="178895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하도급대금의 지급관련 확인 및 확약서</a:t>
            </a:r>
            <a:endParaRPr lang="en-US" altLang="ko-KR" sz="800" b="1" dirty="0">
              <a:latin typeface="맑은 고딕" panose="020B0503020000020004" pitchFamily="50" charset="-127"/>
            </a:endParaRPr>
          </a:p>
        </p:txBody>
      </p:sp>
      <p:cxnSp>
        <p:nvCxnSpPr>
          <p:cNvPr id="38" name="직선 연결선 37">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9" name="TextBox 38">
            <a:extLst>
              <a:ext uri="{FF2B5EF4-FFF2-40B4-BE49-F238E27FC236}">
                <a16:creationId xmlns:a16="http://schemas.microsoft.com/office/drawing/2014/main" id="{FFC49AEA-2A8F-250C-A86A-A7751D9706C3}"/>
              </a:ext>
            </a:extLst>
          </p:cNvPr>
          <p:cNvSpPr txBox="1"/>
          <p:nvPr/>
        </p:nvSpPr>
        <p:spPr>
          <a:xfrm>
            <a:off x="804476" y="2401096"/>
            <a:ext cx="2473940" cy="538609"/>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1]</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없습니다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40" name="모서리가 둥근 직사각형 39"/>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41" name="직선 연결선 40">
            <a:extLst>
              <a:ext uri="{FF2B5EF4-FFF2-40B4-BE49-F238E27FC236}">
                <a16:creationId xmlns:a16="http://schemas.microsoft.com/office/drawing/2014/main" id="{E9293055-D5CD-4B9E-7F64-64B2D2CA7A52}"/>
              </a:ext>
            </a:extLst>
          </p:cNvPr>
          <p:cNvCxnSpPr/>
          <p:nvPr/>
        </p:nvCxnSpPr>
        <p:spPr>
          <a:xfrm>
            <a:off x="717412" y="29914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2" name="TextBox 41">
            <a:extLst>
              <a:ext uri="{FF2B5EF4-FFF2-40B4-BE49-F238E27FC236}">
                <a16:creationId xmlns:a16="http://schemas.microsoft.com/office/drawing/2014/main" id="{FFC49AEA-2A8F-250C-A86A-A7751D9706C3}"/>
              </a:ext>
            </a:extLst>
          </p:cNvPr>
          <p:cNvSpPr txBox="1"/>
          <p:nvPr/>
        </p:nvSpPr>
        <p:spPr>
          <a:xfrm>
            <a:off x="804476" y="3054889"/>
            <a:ext cx="2473940" cy="861774"/>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2]</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있으므로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본 입찰에 계약상대자로 결정되어 </a:t>
            </a:r>
            <a:r>
              <a:rPr lang="ko-KR" altLang="en-US" sz="700" dirty="0" err="1">
                <a:solidFill>
                  <a:srgbClr val="000000"/>
                </a:solidFill>
                <a:latin typeface="Consolas" panose="020B0609020204030204" pitchFamily="49" charset="0"/>
              </a:rPr>
              <a:t>계약시</a:t>
            </a:r>
            <a:r>
              <a:rPr lang="ko-KR" altLang="en-US" sz="700" dirty="0">
                <a:solidFill>
                  <a:srgbClr val="000000"/>
                </a:solidFill>
                <a:latin typeface="Consolas" panose="020B0609020204030204" pitchFamily="49" charset="0"/>
              </a:rPr>
              <a:t> 「국가계약법」 제</a:t>
            </a:r>
            <a:r>
              <a:rPr lang="en-US" altLang="ko-KR" sz="700" dirty="0">
                <a:solidFill>
                  <a:srgbClr val="000000"/>
                </a:solidFill>
                <a:latin typeface="Consolas" panose="020B0609020204030204" pitchFamily="49" charset="0"/>
              </a:rPr>
              <a:t>15</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대가 지급 시 하도급대금은 발주기관이 하수급인에게 직접 지급하는 것을 합의할 것을 확약합니다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717412" y="3979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a:off x="1432789" y="4057160"/>
            <a:ext cx="1197246" cy="107722"/>
            <a:chOff x="4526323" y="5902014"/>
            <a:chExt cx="1197246" cy="107722"/>
          </a:xfrm>
        </p:grpSpPr>
        <p:sp>
          <p:nvSpPr>
            <p:cNvPr id="46" name="타원 45"/>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타원 46"/>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49" name="TextBox 48">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sp>
        <p:nvSpPr>
          <p:cNvPr id="50" name="타원 49">
            <a:extLst>
              <a:ext uri="{FF2B5EF4-FFF2-40B4-BE49-F238E27FC236}">
                <a16:creationId xmlns:a16="http://schemas.microsoft.com/office/drawing/2014/main" id="{37A7FF4F-0EAA-1463-560A-D5EC24416103}"/>
              </a:ext>
            </a:extLst>
          </p:cNvPr>
          <p:cNvSpPr/>
          <p:nvPr/>
        </p:nvSpPr>
        <p:spPr>
          <a:xfrm>
            <a:off x="571127" y="402495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51" name="그룹 50"/>
          <p:cNvGrpSpPr/>
          <p:nvPr/>
        </p:nvGrpSpPr>
        <p:grpSpPr>
          <a:xfrm>
            <a:off x="675399" y="5613954"/>
            <a:ext cx="2712027" cy="617588"/>
            <a:chOff x="675399" y="5614711"/>
            <a:chExt cx="2712027" cy="617588"/>
          </a:xfrm>
        </p:grpSpPr>
        <p:sp>
          <p:nvSpPr>
            <p:cNvPr id="52" name="직사각형 5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358808471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smtClean="0">
                <a:latin typeface="+mn-ea"/>
              </a:rPr>
              <a:t>동의서</a:t>
            </a:r>
            <a:r>
              <a:rPr lang="en-US" altLang="ko-KR" dirty="0" smtClean="0">
                <a:latin typeface="+mn-ea"/>
              </a:rPr>
              <a:t>4</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보증금 </a:t>
            </a:r>
            <a:r>
              <a:rPr lang="ko-KR" altLang="en-US" dirty="0" err="1">
                <a:latin typeface="+mn-ea"/>
              </a:rPr>
              <a:t>지급확약서</a:t>
            </a:r>
            <a:r>
              <a:rPr lang="ko-KR" altLang="en-US" dirty="0">
                <a:latin typeface="+mn-ea"/>
              </a:rPr>
              <a:t> </a:t>
            </a:r>
            <a:r>
              <a:rPr lang="ko-KR" altLang="en-US" dirty="0" err="1">
                <a:latin typeface="+mn-ea"/>
              </a:rPr>
              <a:t>동의문</a:t>
            </a:r>
            <a:r>
              <a:rPr lang="ko-KR" altLang="en-US" dirty="0">
                <a:latin typeface="+mn-ea"/>
              </a:rPr>
              <a:t> </a:t>
            </a:r>
            <a:r>
              <a:rPr lang="en-US" altLang="ko-KR" dirty="0">
                <a:latin typeface="+mn-ea"/>
              </a:rPr>
              <a:t>(1/3)</a:t>
            </a:r>
            <a:r>
              <a:rPr lang="ko-KR" altLang="en-US" dirty="0">
                <a:latin typeface="+mn-ea"/>
              </a:rPr>
              <a:t>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06279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입찰보증금 </a:t>
            </a:r>
            <a:r>
              <a:rPr lang="ko-KR" altLang="en-US" sz="800" b="1" dirty="0" err="1">
                <a:latin typeface="맑은 고딕" panose="020B0503020000020004" pitchFamily="50" charset="-127"/>
              </a:rPr>
              <a:t>지급확약서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969496"/>
          </a:xfrm>
          <a:prstGeom prst="rect">
            <a:avLst/>
          </a:prstGeom>
          <a:noFill/>
        </p:spPr>
        <p:txBody>
          <a:bodyPr wrap="square" lIns="0" tIns="0" rIns="0" bIns="0" rtlCol="0">
            <a:spAutoFit/>
          </a:bodyPr>
          <a:lstStyle/>
          <a:p>
            <a:pPr marL="88900" indent="-88900">
              <a:buFont typeface="Arial" panose="020B0604020202020204" pitchFamily="34" charset="0"/>
              <a:buChar char="•"/>
            </a:pPr>
            <a:r>
              <a:rPr lang="ko-KR" altLang="en-US" sz="700" dirty="0">
                <a:solidFill>
                  <a:srgbClr val="000000"/>
                </a:solidFill>
                <a:latin typeface="+mn-ea"/>
              </a:rPr>
              <a:t>상기 입찰에 참여함에 있어 낙찰된 이후 정당한 의무를 이행하지 못하여 입찰보증금을 국고에 귀속하여야 할 사유가 발생하였을 경우에는 국가를 당사자로 하는 계약에 관한 법률 시행령 제</a:t>
            </a:r>
            <a:r>
              <a:rPr lang="en-US" altLang="ko-KR" sz="700" dirty="0">
                <a:solidFill>
                  <a:srgbClr val="000000"/>
                </a:solidFill>
                <a:latin typeface="+mn-ea"/>
              </a:rPr>
              <a:t>38</a:t>
            </a:r>
            <a:r>
              <a:rPr lang="ko-KR" altLang="en-US" sz="700" dirty="0">
                <a:solidFill>
                  <a:srgbClr val="000000"/>
                </a:solidFill>
                <a:latin typeface="+mn-ea"/>
              </a:rPr>
              <a:t>조제</a:t>
            </a:r>
            <a:r>
              <a:rPr lang="en-US" altLang="ko-KR" sz="700" dirty="0">
                <a:solidFill>
                  <a:srgbClr val="000000"/>
                </a:solidFill>
                <a:latin typeface="+mn-ea"/>
              </a:rPr>
              <a:t>2</a:t>
            </a:r>
            <a:r>
              <a:rPr lang="ko-KR" altLang="en-US" sz="700" dirty="0">
                <a:solidFill>
                  <a:srgbClr val="000000"/>
                </a:solidFill>
                <a:latin typeface="+mn-ea"/>
              </a:rPr>
              <a:t>항에 의거 입찰보증금을 지체없이 현금으로 귀 부대</a:t>
            </a:r>
            <a:r>
              <a:rPr lang="en-US" altLang="ko-KR" sz="700" dirty="0">
                <a:solidFill>
                  <a:srgbClr val="000000"/>
                </a:solidFill>
                <a:latin typeface="+mn-ea"/>
              </a:rPr>
              <a:t>(</a:t>
            </a:r>
            <a:r>
              <a:rPr lang="ko-KR" altLang="en-US" sz="700" dirty="0">
                <a:solidFill>
                  <a:srgbClr val="000000"/>
                </a:solidFill>
                <a:latin typeface="+mn-ea"/>
              </a:rPr>
              <a:t>기관</a:t>
            </a:r>
            <a:r>
              <a:rPr lang="en-US" altLang="ko-KR" sz="700" dirty="0">
                <a:solidFill>
                  <a:srgbClr val="000000"/>
                </a:solidFill>
                <a:latin typeface="+mn-ea"/>
              </a:rPr>
              <a:t>)</a:t>
            </a:r>
            <a:r>
              <a:rPr lang="ko-KR" altLang="en-US" sz="700" dirty="0">
                <a:solidFill>
                  <a:srgbClr val="000000"/>
                </a:solidFill>
                <a:latin typeface="+mn-ea"/>
              </a:rPr>
              <a:t>에 납부할 것을 확약합니다</a:t>
            </a:r>
            <a:r>
              <a:rPr lang="en-US" altLang="ko-KR" sz="700" dirty="0">
                <a:solidFill>
                  <a:srgbClr val="000000"/>
                </a:solidFill>
                <a:latin typeface="+mn-ea"/>
              </a:rPr>
              <a:t>.</a:t>
            </a:r>
          </a:p>
          <a:p>
            <a:pPr marL="88900" indent="-88900">
              <a:buFont typeface="Arial" panose="020B0604020202020204" pitchFamily="34" charset="0"/>
              <a:buChar char="•"/>
            </a:pPr>
            <a:r>
              <a:rPr lang="ko-KR" altLang="en-US" sz="700" dirty="0">
                <a:solidFill>
                  <a:srgbClr val="000000"/>
                </a:solidFill>
                <a:latin typeface="+mn-ea"/>
              </a:rPr>
              <a:t>만일 귀 부대</a:t>
            </a:r>
            <a:r>
              <a:rPr lang="en-US" altLang="ko-KR" sz="700" dirty="0">
                <a:solidFill>
                  <a:srgbClr val="000000"/>
                </a:solidFill>
                <a:latin typeface="+mn-ea"/>
              </a:rPr>
              <a:t>(</a:t>
            </a:r>
            <a:r>
              <a:rPr lang="ko-KR" altLang="en-US" sz="700" dirty="0">
                <a:solidFill>
                  <a:srgbClr val="000000"/>
                </a:solidFill>
                <a:latin typeface="+mn-ea"/>
              </a:rPr>
              <a:t>기관</a:t>
            </a:r>
            <a:r>
              <a:rPr lang="en-US" altLang="ko-KR" sz="700" dirty="0">
                <a:solidFill>
                  <a:srgbClr val="000000"/>
                </a:solidFill>
                <a:latin typeface="+mn-ea"/>
              </a:rPr>
              <a:t>)</a:t>
            </a:r>
            <a:r>
              <a:rPr lang="ko-KR" altLang="en-US" sz="700" dirty="0">
                <a:solidFill>
                  <a:srgbClr val="000000"/>
                </a:solidFill>
                <a:latin typeface="+mn-ea"/>
              </a:rPr>
              <a:t>에서 지정하는 기일까지 입찰보증금을 납부하지 아니할 경우에는 귀 부대</a:t>
            </a:r>
            <a:r>
              <a:rPr lang="en-US" altLang="ko-KR" sz="700" dirty="0">
                <a:solidFill>
                  <a:srgbClr val="000000"/>
                </a:solidFill>
                <a:latin typeface="+mn-ea"/>
              </a:rPr>
              <a:t>(</a:t>
            </a:r>
            <a:r>
              <a:rPr lang="ko-KR" altLang="en-US" sz="700" dirty="0">
                <a:solidFill>
                  <a:srgbClr val="000000"/>
                </a:solidFill>
                <a:latin typeface="+mn-ea"/>
              </a:rPr>
              <a:t>기관</a:t>
            </a:r>
            <a:r>
              <a:rPr lang="en-US" altLang="ko-KR" sz="700" dirty="0">
                <a:solidFill>
                  <a:srgbClr val="000000"/>
                </a:solidFill>
                <a:latin typeface="+mn-ea"/>
              </a:rPr>
              <a:t>)</a:t>
            </a:r>
            <a:r>
              <a:rPr lang="ko-KR" altLang="en-US" sz="700" dirty="0">
                <a:solidFill>
                  <a:srgbClr val="000000"/>
                </a:solidFill>
                <a:latin typeface="+mn-ea"/>
              </a:rPr>
              <a:t>의 일방적인 </a:t>
            </a:r>
            <a:r>
              <a:rPr lang="ko-KR" altLang="en-US" sz="700" dirty="0" err="1">
                <a:solidFill>
                  <a:srgbClr val="000000"/>
                </a:solidFill>
                <a:latin typeface="+mn-ea"/>
              </a:rPr>
              <a:t>공제조치는</a:t>
            </a:r>
            <a:r>
              <a:rPr lang="ko-KR" altLang="en-US" sz="700" dirty="0">
                <a:solidFill>
                  <a:srgbClr val="000000"/>
                </a:solidFill>
                <a:latin typeface="+mn-ea"/>
              </a:rPr>
              <a:t> 물론 어떠한 법적 구상 및 제재 조치에도 하등의 이의가 없음을 확약합니다</a:t>
            </a:r>
            <a:r>
              <a:rPr lang="en-US" altLang="ko-KR" sz="700" dirty="0">
                <a:solidFill>
                  <a:srgbClr val="000000"/>
                </a:solidFill>
                <a:latin typeface="+mn-ea"/>
              </a:rPr>
              <a:t>.</a:t>
            </a:r>
            <a:endParaRPr lang="en-US" altLang="ko-KR" sz="700" dirty="0">
              <a:latin typeface="+mn-ea"/>
            </a:endParaRP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3460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1432789" y="3538781"/>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35065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21083388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smtClean="0">
                <a:latin typeface="+mn-ea"/>
              </a:rPr>
              <a:t>동의서</a:t>
            </a:r>
            <a:r>
              <a:rPr lang="en-US" altLang="ko-KR" dirty="0" smtClean="0">
                <a:latin typeface="+mn-ea"/>
              </a:rPr>
              <a:t>5</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보증금 </a:t>
            </a:r>
            <a:r>
              <a:rPr lang="ko-KR" altLang="en-US" dirty="0" err="1">
                <a:latin typeface="+mn-ea"/>
              </a:rPr>
              <a:t>지급확약서</a:t>
            </a:r>
            <a:r>
              <a:rPr lang="ko-KR" altLang="en-US" dirty="0">
                <a:latin typeface="+mn-ea"/>
              </a:rPr>
              <a:t> </a:t>
            </a:r>
            <a:r>
              <a:rPr lang="ko-KR" altLang="en-US" dirty="0" err="1">
                <a:latin typeface="+mn-ea"/>
              </a:rPr>
              <a:t>동의문</a:t>
            </a:r>
            <a:r>
              <a:rPr lang="ko-KR" altLang="en-US" dirty="0">
                <a:latin typeface="+mn-ea"/>
              </a:rPr>
              <a:t> 경고 </a:t>
            </a:r>
            <a:r>
              <a:rPr lang="en-US" altLang="ko-KR" dirty="0">
                <a:latin typeface="+mn-ea"/>
              </a:rPr>
              <a:t>(2/3)</a:t>
            </a:r>
            <a:r>
              <a:rPr lang="ko-KR" altLang="en-US" dirty="0">
                <a:latin typeface="+mn-ea"/>
              </a:rPr>
              <a:t>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64949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입찰보증금 </a:t>
            </a:r>
            <a:r>
              <a:rPr lang="ko-KR" altLang="en-US" sz="800" b="1" dirty="0" err="1">
                <a:latin typeface="맑은 고딕" panose="020B0503020000020004" pitchFamily="50" charset="-127"/>
              </a:rPr>
              <a:t>지급확약서</a:t>
            </a:r>
            <a:r>
              <a:rPr lang="ko-KR" altLang="en-US" sz="800" b="1" dirty="0">
                <a:latin typeface="맑은 고딕" panose="020B0503020000020004" pitchFamily="50" charset="-127"/>
              </a:rPr>
              <a:t> 관련 경고문</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969496"/>
          </a:xfrm>
          <a:prstGeom prst="rect">
            <a:avLst/>
          </a:prstGeom>
          <a:noFill/>
        </p:spPr>
        <p:txBody>
          <a:bodyPr wrap="square" lIns="0" tIns="0" rIns="0" bIns="0" rtlCol="0">
            <a:spAutoFit/>
          </a:bodyPr>
          <a:lstStyle/>
          <a:p>
            <a:pPr marL="88900" indent="-88900">
              <a:buFont typeface="Arial" panose="020B0604020202020204" pitchFamily="34" charset="0"/>
              <a:buChar char="•"/>
            </a:pPr>
            <a:r>
              <a:rPr lang="ko-KR" altLang="en-US" sz="700" dirty="0">
                <a:solidFill>
                  <a:srgbClr val="000000"/>
                </a:solidFill>
                <a:latin typeface="+mn-ea"/>
              </a:rPr>
              <a:t>입찰보증금 면제 등록 시 「국가계약법 </a:t>
            </a:r>
            <a:r>
              <a:rPr lang="ko-KR" altLang="en-US" sz="700" dirty="0" err="1">
                <a:solidFill>
                  <a:srgbClr val="000000"/>
                </a:solidFill>
                <a:latin typeface="+mn-ea"/>
              </a:rPr>
              <a:t>시행령」등에</a:t>
            </a:r>
            <a:r>
              <a:rPr lang="ko-KR" altLang="en-US" sz="700" dirty="0">
                <a:solidFill>
                  <a:srgbClr val="000000"/>
                </a:solidFill>
                <a:latin typeface="+mn-ea"/>
              </a:rPr>
              <a:t> 따른 면제사유 해당여부를 반드시 확인하여 주시기 바라며</a:t>
            </a:r>
            <a:r>
              <a:rPr lang="en-US" altLang="ko-KR" sz="700" dirty="0">
                <a:solidFill>
                  <a:srgbClr val="000000"/>
                </a:solidFill>
                <a:latin typeface="+mn-ea"/>
              </a:rPr>
              <a:t>, </a:t>
            </a:r>
            <a:r>
              <a:rPr lang="ko-KR" altLang="en-US" sz="700" dirty="0">
                <a:solidFill>
                  <a:srgbClr val="000000"/>
                </a:solidFill>
                <a:latin typeface="+mn-ea"/>
              </a:rPr>
              <a:t>방위사업관리규정 제</a:t>
            </a:r>
            <a:r>
              <a:rPr lang="en-US" altLang="ko-KR" sz="700" dirty="0">
                <a:solidFill>
                  <a:srgbClr val="000000"/>
                </a:solidFill>
                <a:latin typeface="+mn-ea"/>
              </a:rPr>
              <a:t>397</a:t>
            </a:r>
            <a:r>
              <a:rPr lang="ko-KR" altLang="en-US" sz="700" dirty="0" err="1">
                <a:solidFill>
                  <a:srgbClr val="000000"/>
                </a:solidFill>
                <a:latin typeface="+mn-ea"/>
              </a:rPr>
              <a:t>조②항에</a:t>
            </a:r>
            <a:r>
              <a:rPr lang="ko-KR" altLang="en-US" sz="700" dirty="0">
                <a:solidFill>
                  <a:srgbClr val="000000"/>
                </a:solidFill>
                <a:latin typeface="+mn-ea"/>
              </a:rPr>
              <a:t> 따라 아래 각 호의 입찰보증금 면제 </a:t>
            </a:r>
            <a:r>
              <a:rPr lang="ko-KR" altLang="en-US" sz="700" dirty="0" err="1">
                <a:solidFill>
                  <a:srgbClr val="000000"/>
                </a:solidFill>
                <a:latin typeface="+mn-ea"/>
              </a:rPr>
              <a:t>예외사유에</a:t>
            </a:r>
            <a:r>
              <a:rPr lang="ko-KR" altLang="en-US" sz="700" dirty="0">
                <a:solidFill>
                  <a:srgbClr val="000000"/>
                </a:solidFill>
                <a:latin typeface="+mn-ea"/>
              </a:rPr>
              <a:t> 해당함에도 면제 등록 시</a:t>
            </a:r>
            <a:r>
              <a:rPr lang="en-US" altLang="ko-KR" sz="700" dirty="0">
                <a:solidFill>
                  <a:srgbClr val="000000"/>
                </a:solidFill>
                <a:latin typeface="+mn-ea"/>
              </a:rPr>
              <a:t>, </a:t>
            </a:r>
            <a:r>
              <a:rPr lang="ko-KR" altLang="en-US" sz="700" dirty="0">
                <a:solidFill>
                  <a:srgbClr val="000000"/>
                </a:solidFill>
                <a:latin typeface="+mn-ea"/>
              </a:rPr>
              <a:t>입찰등록불가</a:t>
            </a:r>
            <a:r>
              <a:rPr lang="en-US" altLang="ko-KR" sz="700" dirty="0">
                <a:solidFill>
                  <a:srgbClr val="000000"/>
                </a:solidFill>
                <a:latin typeface="+mn-ea"/>
              </a:rPr>
              <a:t>(</a:t>
            </a:r>
            <a:r>
              <a:rPr lang="ko-KR" altLang="en-US" sz="700" dirty="0">
                <a:solidFill>
                  <a:srgbClr val="000000"/>
                </a:solidFill>
                <a:latin typeface="+mn-ea"/>
              </a:rPr>
              <a:t>부적격</a:t>
            </a:r>
            <a:r>
              <a:rPr lang="en-US" altLang="ko-KR" sz="700" dirty="0">
                <a:solidFill>
                  <a:srgbClr val="000000"/>
                </a:solidFill>
                <a:latin typeface="+mn-ea"/>
              </a:rPr>
              <a:t>) </a:t>
            </a:r>
            <a:r>
              <a:rPr lang="ko-KR" altLang="en-US" sz="700" dirty="0">
                <a:solidFill>
                  <a:srgbClr val="000000"/>
                </a:solidFill>
                <a:latin typeface="+mn-ea"/>
              </a:rPr>
              <a:t>처리 예정이니 입찰보증금 납부를 권장합니다</a:t>
            </a:r>
            <a:r>
              <a:rPr lang="en-US" altLang="ko-KR" sz="700" dirty="0">
                <a:solidFill>
                  <a:srgbClr val="000000"/>
                </a:solidFill>
                <a:latin typeface="+mn-ea"/>
              </a:rPr>
              <a:t>.</a:t>
            </a:r>
          </a:p>
          <a:p>
            <a:pPr marL="88900" indent="-88900">
              <a:buFont typeface="Arial" panose="020B0604020202020204" pitchFamily="34" charset="0"/>
              <a:buChar char="•"/>
            </a:pPr>
            <a:r>
              <a:rPr lang="en-US" altLang="ko-KR" sz="700" dirty="0">
                <a:solidFill>
                  <a:srgbClr val="000000"/>
                </a:solidFill>
                <a:latin typeface="+mn-ea"/>
              </a:rPr>
              <a:t>1. </a:t>
            </a:r>
            <a:r>
              <a:rPr lang="ko-KR" altLang="en-US" sz="700" dirty="0">
                <a:solidFill>
                  <a:srgbClr val="000000"/>
                </a:solidFill>
                <a:latin typeface="+mn-ea"/>
              </a:rPr>
              <a:t>방위사업청에 입찰보증금 등 국고귀속조치에 응하지 않고 있는 자</a:t>
            </a:r>
            <a:r>
              <a:rPr lang="en-US" altLang="ko-KR" sz="700" dirty="0">
                <a:solidFill>
                  <a:srgbClr val="000000"/>
                </a:solidFill>
                <a:latin typeface="+mn-ea"/>
              </a:rPr>
              <a:t>.</a:t>
            </a:r>
          </a:p>
          <a:p>
            <a:pPr marL="88900" indent="-88900">
              <a:buFont typeface="Arial" panose="020B0604020202020204" pitchFamily="34" charset="0"/>
              <a:buChar char="•"/>
            </a:pPr>
            <a:r>
              <a:rPr lang="en-US" altLang="ko-KR" sz="700" dirty="0">
                <a:solidFill>
                  <a:srgbClr val="000000"/>
                </a:solidFill>
                <a:latin typeface="+mn-ea"/>
              </a:rPr>
              <a:t>2. </a:t>
            </a:r>
            <a:r>
              <a:rPr lang="ko-KR" altLang="en-US" sz="700" dirty="0">
                <a:solidFill>
                  <a:srgbClr val="000000"/>
                </a:solidFill>
                <a:latin typeface="+mn-ea"/>
              </a:rPr>
              <a:t>부정당업자 </a:t>
            </a:r>
            <a:r>
              <a:rPr lang="ko-KR" altLang="en-US" sz="700" dirty="0" err="1">
                <a:solidFill>
                  <a:srgbClr val="000000"/>
                </a:solidFill>
                <a:latin typeface="+mn-ea"/>
              </a:rPr>
              <a:t>제재기간이</a:t>
            </a:r>
            <a:r>
              <a:rPr lang="ko-KR" altLang="en-US" sz="700" dirty="0">
                <a:solidFill>
                  <a:srgbClr val="000000"/>
                </a:solidFill>
                <a:latin typeface="+mn-ea"/>
              </a:rPr>
              <a:t> 만료된 날로부터 다시 그 제한처분기간에 해당하는 기간 중에 있는 자</a:t>
            </a:r>
            <a:endParaRPr lang="en-US" altLang="ko-KR" sz="700" dirty="0">
              <a:solidFill>
                <a:srgbClr val="000000"/>
              </a:solidFill>
              <a:latin typeface="+mn-ea"/>
            </a:endParaRP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3460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1432789" y="3538781"/>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35065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108903665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smtClean="0">
                <a:latin typeface="+mn-ea"/>
              </a:rPr>
              <a:t>동의서</a:t>
            </a:r>
            <a:r>
              <a:rPr lang="en-US" altLang="ko-KR" dirty="0" smtClean="0">
                <a:latin typeface="+mn-ea"/>
              </a:rPr>
              <a:t>6</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입찰 보증금 면제사유 확약서 </a:t>
            </a:r>
            <a:r>
              <a:rPr lang="en-US" altLang="ko-KR" dirty="0">
                <a:latin typeface="+mn-ea"/>
              </a:rPr>
              <a:t>(3/3)</a:t>
            </a:r>
            <a:r>
              <a:rPr lang="ko-KR" altLang="en-US" dirty="0">
                <a:latin typeface="+mn-ea"/>
              </a:rPr>
              <a:t>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MUI-BD-04-P20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2701900"/>
            <a:ext cx="2712027" cy="353039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273229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2866714"/>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847393"/>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1087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3222050"/>
            <a:ext cx="1304844"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입찰보증금 면제사유 확약서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3427489"/>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3493885"/>
            <a:ext cx="2473940" cy="2477601"/>
          </a:xfrm>
          <a:prstGeom prst="rect">
            <a:avLst/>
          </a:prstGeom>
          <a:noFill/>
        </p:spPr>
        <p:txBody>
          <a:bodyPr wrap="square" lIns="0" tIns="0" rIns="0" bIns="0" rtlCol="0">
            <a:spAutoFit/>
          </a:bodyPr>
          <a:lstStyle/>
          <a:p>
            <a:r>
              <a:rPr lang="ko-KR" altLang="en-US" sz="700" dirty="0">
                <a:latin typeface="+mn-ea"/>
              </a:rPr>
              <a:t>시행령 </a:t>
            </a:r>
            <a:r>
              <a:rPr lang="en-US" altLang="ko-KR" sz="700" dirty="0">
                <a:latin typeface="+mn-ea"/>
              </a:rPr>
              <a:t>37</a:t>
            </a:r>
            <a:r>
              <a:rPr lang="ko-KR" altLang="en-US" sz="700" dirty="0">
                <a:latin typeface="+mn-ea"/>
              </a:rPr>
              <a:t>조 </a:t>
            </a:r>
            <a:r>
              <a:rPr lang="en-US" altLang="ko-KR" sz="700" dirty="0">
                <a:latin typeface="+mn-ea"/>
              </a:rPr>
              <a:t>3</a:t>
            </a:r>
            <a:r>
              <a:rPr lang="ko-KR" altLang="en-US" sz="700" dirty="0">
                <a:latin typeface="+mn-ea"/>
              </a:rPr>
              <a:t>항</a:t>
            </a:r>
            <a:endParaRPr lang="en-US" altLang="ko-KR" sz="700" dirty="0">
              <a:latin typeface="+mn-ea"/>
            </a:endParaRPr>
          </a:p>
          <a:p>
            <a:endParaRPr lang="en-US" altLang="ko-KR" sz="700" dirty="0">
              <a:solidFill>
                <a:srgbClr val="000000"/>
              </a:solidFill>
              <a:latin typeface="+mn-ea"/>
            </a:endParaRPr>
          </a:p>
          <a:p>
            <a:pPr marL="88900" indent="-88900">
              <a:buFont typeface="+mj-lt"/>
              <a:buAutoNum type="arabicPeriod"/>
            </a:pPr>
            <a:r>
              <a:rPr lang="ko-KR" altLang="en-US" sz="700" dirty="0">
                <a:latin typeface="+mn-ea"/>
              </a:rPr>
              <a:t>국가기관 및 지방자치단체</a:t>
            </a:r>
            <a:endParaRPr lang="en-US" altLang="ko-KR" sz="700" dirty="0">
              <a:latin typeface="+mn-ea"/>
            </a:endParaRPr>
          </a:p>
          <a:p>
            <a:pPr marL="88900" indent="-88900">
              <a:buFont typeface="+mj-lt"/>
              <a:buAutoNum type="arabicPeriod"/>
            </a:pPr>
            <a:r>
              <a:rPr lang="ko-KR" altLang="en-US" sz="700" dirty="0">
                <a:latin typeface="+mn-ea"/>
              </a:rPr>
              <a:t>「공공기관의 운영에 관한 </a:t>
            </a:r>
            <a:r>
              <a:rPr lang="ko-KR" altLang="en-US" sz="700" dirty="0" err="1">
                <a:latin typeface="+mn-ea"/>
              </a:rPr>
              <a:t>법률」에</a:t>
            </a:r>
            <a:r>
              <a:rPr lang="ko-KR" altLang="en-US" sz="700" dirty="0">
                <a:latin typeface="+mn-ea"/>
              </a:rPr>
              <a:t> 따른 공공기관</a:t>
            </a:r>
            <a:endParaRPr lang="en-US" altLang="ko-KR" sz="700" dirty="0">
              <a:latin typeface="+mn-ea"/>
            </a:endParaRPr>
          </a:p>
          <a:p>
            <a:pPr marL="88900" indent="-88900">
              <a:buFont typeface="+mj-lt"/>
              <a:buAutoNum type="arabicPeriod"/>
            </a:pPr>
            <a:r>
              <a:rPr lang="ko-KR" altLang="en-US" sz="700" dirty="0">
                <a:latin typeface="+mn-ea"/>
              </a:rPr>
              <a:t>국가 또는 지방자치단체가 기본재산의 </a:t>
            </a:r>
            <a:r>
              <a:rPr lang="en-US" altLang="ko-KR" sz="700" dirty="0">
                <a:latin typeface="+mn-ea"/>
              </a:rPr>
              <a:t>100</a:t>
            </a:r>
            <a:r>
              <a:rPr lang="ko-KR" altLang="en-US" sz="700" dirty="0">
                <a:latin typeface="+mn-ea"/>
              </a:rPr>
              <a:t>분의 </a:t>
            </a:r>
            <a:r>
              <a:rPr lang="en-US" altLang="ko-KR" sz="700" dirty="0">
                <a:latin typeface="+mn-ea"/>
              </a:rPr>
              <a:t>50</a:t>
            </a:r>
            <a:r>
              <a:rPr lang="ko-KR" altLang="en-US" sz="700" dirty="0">
                <a:latin typeface="+mn-ea"/>
              </a:rPr>
              <a:t>이상을 출연 또는 출자</a:t>
            </a:r>
            <a:r>
              <a:rPr lang="en-US" altLang="ko-KR" sz="700" dirty="0">
                <a:latin typeface="+mn-ea"/>
              </a:rPr>
              <a:t>(</a:t>
            </a:r>
            <a:r>
              <a:rPr lang="ko-KR" altLang="en-US" sz="700" dirty="0">
                <a:latin typeface="+mn-ea"/>
              </a:rPr>
              <a:t>법률의 규정에 의하여 귀속시킨 경우를 포함한다</a:t>
            </a:r>
            <a:r>
              <a:rPr lang="en-US" altLang="ko-KR" sz="700" dirty="0">
                <a:latin typeface="+mn-ea"/>
              </a:rPr>
              <a:t>. </a:t>
            </a:r>
            <a:r>
              <a:rPr lang="ko-KR" altLang="en-US" sz="700" dirty="0">
                <a:latin typeface="+mn-ea"/>
              </a:rPr>
              <a:t>이하 같다</a:t>
            </a:r>
            <a:r>
              <a:rPr lang="en-US" altLang="ko-KR" sz="700" dirty="0">
                <a:latin typeface="+mn-ea"/>
              </a:rPr>
              <a:t>)</a:t>
            </a:r>
            <a:r>
              <a:rPr lang="ko-KR" altLang="en-US" sz="700" dirty="0">
                <a:latin typeface="+mn-ea"/>
              </a:rPr>
              <a:t>한 법인</a:t>
            </a:r>
            <a:endParaRPr lang="en-US" altLang="ko-KR" sz="700" dirty="0">
              <a:latin typeface="+mn-ea"/>
            </a:endParaRPr>
          </a:p>
          <a:p>
            <a:pPr marL="88900" indent="-88900">
              <a:buFont typeface="+mj-lt"/>
              <a:buAutoNum type="arabicPeriod"/>
            </a:pPr>
            <a:r>
              <a:rPr lang="ko-KR" altLang="en-US" sz="700" dirty="0">
                <a:latin typeface="+mn-ea"/>
              </a:rPr>
              <a:t>「</a:t>
            </a:r>
            <a:r>
              <a:rPr lang="ko-KR" altLang="en-US" sz="700" dirty="0" err="1">
                <a:latin typeface="+mn-ea"/>
              </a:rPr>
              <a:t>농업협동조합법」에</a:t>
            </a:r>
            <a:r>
              <a:rPr lang="ko-KR" altLang="en-US" sz="700" dirty="0">
                <a:latin typeface="+mn-ea"/>
              </a:rPr>
              <a:t> 의한 조합 </a:t>
            </a:r>
            <a:r>
              <a:rPr lang="en-US" altLang="ko-KR" sz="700" dirty="0">
                <a:latin typeface="+mn-ea"/>
              </a:rPr>
              <a:t>· </a:t>
            </a:r>
            <a:r>
              <a:rPr lang="ko-KR" altLang="en-US" sz="700" dirty="0">
                <a:latin typeface="+mn-ea"/>
              </a:rPr>
              <a:t>조합공동사업법인 및 그 중앙회</a:t>
            </a:r>
            <a:r>
              <a:rPr lang="en-US" altLang="ko-KR" sz="700" dirty="0">
                <a:latin typeface="+mn-ea"/>
              </a:rPr>
              <a:t>(</a:t>
            </a:r>
            <a:r>
              <a:rPr lang="ko-KR" altLang="en-US" sz="700" dirty="0">
                <a:latin typeface="+mn-ea"/>
              </a:rPr>
              <a:t>농협경제지주회사 및 그 자회사를 포함한다</a:t>
            </a:r>
            <a:r>
              <a:rPr lang="en-US" altLang="ko-KR" sz="700" dirty="0">
                <a:latin typeface="+mn-ea"/>
              </a:rPr>
              <a:t>), </a:t>
            </a:r>
            <a:r>
              <a:rPr lang="ko-KR" altLang="en-US" sz="700" dirty="0">
                <a:latin typeface="+mn-ea"/>
              </a:rPr>
              <a:t>「</a:t>
            </a:r>
            <a:r>
              <a:rPr lang="ko-KR" altLang="en-US" sz="700" dirty="0" err="1">
                <a:latin typeface="+mn-ea"/>
              </a:rPr>
              <a:t>수산업협동조합법」에</a:t>
            </a:r>
            <a:r>
              <a:rPr lang="ko-KR" altLang="en-US" sz="700" dirty="0">
                <a:latin typeface="+mn-ea"/>
              </a:rPr>
              <a:t> 따른 </a:t>
            </a:r>
            <a:r>
              <a:rPr lang="ko-KR" altLang="en-US" sz="700" dirty="0" err="1">
                <a:latin typeface="+mn-ea"/>
              </a:rPr>
              <a:t>어촌계</a:t>
            </a:r>
            <a:r>
              <a:rPr lang="ko-KR" altLang="en-US" sz="700" dirty="0">
                <a:latin typeface="+mn-ea"/>
              </a:rPr>
              <a:t> </a:t>
            </a:r>
            <a:r>
              <a:rPr lang="en-US" altLang="ko-KR" sz="700" dirty="0">
                <a:latin typeface="+mn-ea"/>
              </a:rPr>
              <a:t>· </a:t>
            </a:r>
            <a:r>
              <a:rPr lang="ko-KR" altLang="en-US" sz="700" dirty="0">
                <a:latin typeface="+mn-ea"/>
              </a:rPr>
              <a:t>수산업협동조합 및 그 중앙회</a:t>
            </a:r>
            <a:r>
              <a:rPr lang="en-US" altLang="ko-KR" sz="700" dirty="0">
                <a:latin typeface="+mn-ea"/>
              </a:rPr>
              <a:t>, </a:t>
            </a:r>
            <a:r>
              <a:rPr lang="ko-KR" altLang="en-US" sz="700" dirty="0">
                <a:latin typeface="+mn-ea"/>
              </a:rPr>
              <a:t>「</a:t>
            </a:r>
            <a:r>
              <a:rPr lang="ko-KR" altLang="en-US" sz="700" dirty="0" err="1">
                <a:latin typeface="+mn-ea"/>
              </a:rPr>
              <a:t>산림조합법」에</a:t>
            </a:r>
            <a:r>
              <a:rPr lang="ko-KR" altLang="en-US" sz="700" dirty="0">
                <a:latin typeface="+mn-ea"/>
              </a:rPr>
              <a:t> 따른 산림조합 및 그 중앙회</a:t>
            </a:r>
            <a:r>
              <a:rPr lang="en-US" altLang="ko-KR" sz="700" dirty="0">
                <a:latin typeface="+mn-ea"/>
              </a:rPr>
              <a:t>, </a:t>
            </a:r>
            <a:r>
              <a:rPr lang="ko-KR" altLang="en-US" sz="700" dirty="0">
                <a:latin typeface="+mn-ea"/>
              </a:rPr>
              <a:t>「</a:t>
            </a:r>
            <a:r>
              <a:rPr lang="ko-KR" altLang="en-US" sz="700" dirty="0" err="1">
                <a:latin typeface="+mn-ea"/>
              </a:rPr>
              <a:t>중소기업협동조합법」에</a:t>
            </a:r>
            <a:r>
              <a:rPr lang="ko-KR" altLang="en-US" sz="700" dirty="0">
                <a:latin typeface="+mn-ea"/>
              </a:rPr>
              <a:t> 따른 중소기업협동조합 및 그 중앙회</a:t>
            </a:r>
            <a:endParaRPr lang="en-US" altLang="ko-KR" sz="700" dirty="0">
              <a:latin typeface="+mn-ea"/>
            </a:endParaRPr>
          </a:p>
          <a:p>
            <a:pPr marL="88900" indent="-88900">
              <a:buFont typeface="+mj-lt"/>
              <a:buAutoNum type="arabicPeriod"/>
            </a:pPr>
            <a:r>
              <a:rPr lang="ko-KR" altLang="en-US" sz="700" dirty="0">
                <a:latin typeface="+mn-ea"/>
              </a:rPr>
              <a:t>「건설산업기본법」 </a:t>
            </a:r>
            <a:r>
              <a:rPr lang="en-US" altLang="ko-KR" sz="700" dirty="0">
                <a:latin typeface="+mn-ea"/>
              </a:rPr>
              <a:t>· </a:t>
            </a:r>
            <a:r>
              <a:rPr lang="ko-KR" altLang="en-US" sz="700" dirty="0">
                <a:latin typeface="+mn-ea"/>
              </a:rPr>
              <a:t>「전기공사업법」 </a:t>
            </a:r>
            <a:r>
              <a:rPr lang="en-US" altLang="ko-KR" sz="700" dirty="0">
                <a:latin typeface="+mn-ea"/>
              </a:rPr>
              <a:t>· </a:t>
            </a:r>
            <a:r>
              <a:rPr lang="ko-KR" altLang="en-US" sz="700" dirty="0">
                <a:latin typeface="+mn-ea"/>
              </a:rPr>
              <a:t>「정보통신공사업법」 </a:t>
            </a:r>
            <a:r>
              <a:rPr lang="en-US" altLang="ko-KR" sz="700" dirty="0">
                <a:latin typeface="+mn-ea"/>
              </a:rPr>
              <a:t>· </a:t>
            </a:r>
            <a:r>
              <a:rPr lang="ko-KR" altLang="en-US" sz="700" dirty="0">
                <a:latin typeface="+mn-ea"/>
              </a:rPr>
              <a:t>「건설폐기물의 재활용촉진에 관한 법률」 </a:t>
            </a:r>
            <a:r>
              <a:rPr lang="en-US" altLang="ko-KR" sz="700" dirty="0">
                <a:latin typeface="+mn-ea"/>
              </a:rPr>
              <a:t>· </a:t>
            </a:r>
            <a:r>
              <a:rPr lang="ko-KR" altLang="en-US" sz="700" dirty="0">
                <a:latin typeface="+mn-ea"/>
              </a:rPr>
              <a:t>「</a:t>
            </a:r>
            <a:r>
              <a:rPr lang="ko-KR" altLang="en-US" sz="700" dirty="0" err="1">
                <a:latin typeface="+mn-ea"/>
              </a:rPr>
              <a:t>골재채취법</a:t>
            </a:r>
            <a:r>
              <a:rPr lang="ko-KR" altLang="en-US" sz="700" dirty="0">
                <a:latin typeface="+mn-ea"/>
              </a:rPr>
              <a:t>」 또는 「문화재수리 등에 관한 법률」 등의 법령에 의하여 </a:t>
            </a:r>
            <a:r>
              <a:rPr lang="ko-KR" altLang="en-US" sz="700" dirty="0" err="1">
                <a:latin typeface="+mn-ea"/>
              </a:rPr>
              <a:t>등록등을</a:t>
            </a:r>
            <a:r>
              <a:rPr lang="ko-KR" altLang="en-US" sz="700" dirty="0">
                <a:latin typeface="+mn-ea"/>
              </a:rPr>
              <a:t> 한 자로서 기획재정부장관이 정하는 기준에 해당되는 자</a:t>
            </a:r>
            <a:r>
              <a:rPr lang="en-US" altLang="ko-KR" sz="700" dirty="0">
                <a:latin typeface="+mn-ea"/>
              </a:rPr>
              <a:t/>
            </a:r>
            <a:br>
              <a:rPr lang="en-US" altLang="ko-KR" sz="700" dirty="0">
                <a:latin typeface="+mn-ea"/>
              </a:rPr>
            </a:br>
            <a:r>
              <a:rPr lang="en-US" altLang="ko-KR" sz="700" dirty="0">
                <a:latin typeface="+mn-ea"/>
              </a:rPr>
              <a:t>5</a:t>
            </a:r>
            <a:r>
              <a:rPr lang="ko-KR" altLang="en-US" sz="700" dirty="0">
                <a:latin typeface="+mn-ea"/>
              </a:rPr>
              <a:t>의</a:t>
            </a:r>
            <a:r>
              <a:rPr lang="en-US" altLang="ko-KR" sz="700" dirty="0">
                <a:latin typeface="+mn-ea"/>
              </a:rPr>
              <a:t>2. </a:t>
            </a:r>
            <a:r>
              <a:rPr lang="ko-KR" altLang="en-US" sz="700" dirty="0">
                <a:latin typeface="+mn-ea"/>
              </a:rPr>
              <a:t>「</a:t>
            </a:r>
            <a:r>
              <a:rPr lang="ko-KR" altLang="en-US" sz="700" dirty="0" err="1">
                <a:latin typeface="+mn-ea"/>
              </a:rPr>
              <a:t>저탄소</a:t>
            </a:r>
            <a:r>
              <a:rPr lang="ko-KR" altLang="en-US" sz="700" dirty="0">
                <a:latin typeface="+mn-ea"/>
              </a:rPr>
              <a:t> 녹색성장 기본법」 제</a:t>
            </a:r>
            <a:r>
              <a:rPr lang="en-US" altLang="ko-KR" sz="700" dirty="0">
                <a:latin typeface="+mn-ea"/>
              </a:rPr>
              <a:t>32</a:t>
            </a:r>
            <a:r>
              <a:rPr lang="ko-KR" altLang="en-US" sz="700" dirty="0">
                <a:latin typeface="+mn-ea"/>
              </a:rPr>
              <a:t>조제</a:t>
            </a:r>
            <a:r>
              <a:rPr lang="en-US" altLang="ko-KR" sz="700" dirty="0">
                <a:latin typeface="+mn-ea"/>
              </a:rPr>
              <a:t>2</a:t>
            </a:r>
            <a:r>
              <a:rPr lang="ko-KR" altLang="en-US" sz="700" dirty="0">
                <a:latin typeface="+mn-ea"/>
              </a:rPr>
              <a:t>항에 따라 녹색기술 </a:t>
            </a:r>
            <a:r>
              <a:rPr lang="en-US" altLang="ko-KR" sz="700" dirty="0">
                <a:latin typeface="+mn-ea"/>
              </a:rPr>
              <a:t>· </a:t>
            </a:r>
            <a:r>
              <a:rPr lang="ko-KR" altLang="en-US" sz="700" dirty="0" err="1">
                <a:latin typeface="+mn-ea"/>
              </a:rPr>
              <a:t>녹색사업에</a:t>
            </a:r>
            <a:r>
              <a:rPr lang="ko-KR" altLang="en-US" sz="700" dirty="0">
                <a:latin typeface="+mn-ea"/>
              </a:rPr>
              <a:t> 대한 적합성 인증을 받거나 녹색전문업으로 확인을 받은 자 중 기획재정부장관이 정하는 기준에 해당하는 자</a:t>
            </a:r>
            <a:endParaRPr lang="en-US" altLang="ko-KR" sz="700" dirty="0">
              <a:latin typeface="+mn-ea"/>
            </a:endParaRPr>
          </a:p>
          <a:p>
            <a:pPr marL="88900" indent="-88900">
              <a:buFont typeface="+mj-lt"/>
              <a:buAutoNum type="arabicPeriod"/>
            </a:pPr>
            <a:r>
              <a:rPr lang="ko-KR" altLang="en-US" sz="700" dirty="0">
                <a:latin typeface="+mn-ea"/>
              </a:rPr>
              <a:t>기타 경쟁입찰에서 낙찰자로 결정된 후 계약체결을 기피할 우려가 없다고 인정되는 자</a:t>
            </a: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3837207" y="51731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4552584" y="5251058"/>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3795194"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319250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367447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14" name="모서리가 둥근 직사각형 213"/>
          <p:cNvSpPr/>
          <p:nvPr/>
        </p:nvSpPr>
        <p:spPr>
          <a:xfrm rot="5400000">
            <a:off x="2662242" y="384016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33" name="직사각형 3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양쪽 모서리가 둥근 사각형 33"/>
          <p:cNvSpPr/>
          <p:nvPr/>
        </p:nvSpPr>
        <p:spPr>
          <a:xfrm>
            <a:off x="3795464" y="2701900"/>
            <a:ext cx="2712027" cy="353039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5" name="모서리가 둥근 직사각형 34"/>
          <p:cNvSpPr/>
          <p:nvPr/>
        </p:nvSpPr>
        <p:spPr>
          <a:xfrm>
            <a:off x="4881477" y="273229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6" name="그룹 35"/>
          <p:cNvGrpSpPr/>
          <p:nvPr/>
        </p:nvGrpSpPr>
        <p:grpSpPr>
          <a:xfrm>
            <a:off x="6284403" y="2866714"/>
            <a:ext cx="94010" cy="94010"/>
            <a:chOff x="6812560" y="3297172"/>
            <a:chExt cx="94010" cy="94010"/>
          </a:xfrm>
        </p:grpSpPr>
        <p:cxnSp>
          <p:nvCxnSpPr>
            <p:cNvPr id="37" name="직선 연결선 3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8" name="직선 연결선 3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9" name="TextBox 38">
            <a:extLst>
              <a:ext uri="{FF2B5EF4-FFF2-40B4-BE49-F238E27FC236}">
                <a16:creationId xmlns:a16="http://schemas.microsoft.com/office/drawing/2014/main" id="{FFC49AEA-2A8F-250C-A86A-A7751D9706C3}"/>
              </a:ext>
            </a:extLst>
          </p:cNvPr>
          <p:cNvSpPr txBox="1"/>
          <p:nvPr/>
        </p:nvSpPr>
        <p:spPr>
          <a:xfrm>
            <a:off x="3924541" y="2847393"/>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40" name="직선 연결선 39">
            <a:extLst>
              <a:ext uri="{FF2B5EF4-FFF2-40B4-BE49-F238E27FC236}">
                <a16:creationId xmlns:a16="http://schemas.microsoft.com/office/drawing/2014/main" id="{E9293055-D5CD-4B9E-7F64-64B2D2CA7A52}"/>
              </a:ext>
            </a:extLst>
          </p:cNvPr>
          <p:cNvCxnSpPr/>
          <p:nvPr/>
        </p:nvCxnSpPr>
        <p:spPr>
          <a:xfrm>
            <a:off x="3795464" y="31087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타원 203">
            <a:extLst>
              <a:ext uri="{FF2B5EF4-FFF2-40B4-BE49-F238E27FC236}">
                <a16:creationId xmlns:a16="http://schemas.microsoft.com/office/drawing/2014/main" id="{37A7FF4F-0EAA-1463-560A-D5EC24416103}"/>
              </a:ext>
            </a:extLst>
          </p:cNvPr>
          <p:cNvSpPr/>
          <p:nvPr/>
        </p:nvSpPr>
        <p:spPr>
          <a:xfrm>
            <a:off x="3690922" y="521885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41" name="직선 연결선 40">
            <a:extLst>
              <a:ext uri="{FF2B5EF4-FFF2-40B4-BE49-F238E27FC236}">
                <a16:creationId xmlns:a16="http://schemas.microsoft.com/office/drawing/2014/main" id="{E9293055-D5CD-4B9E-7F64-64B2D2CA7A52}"/>
              </a:ext>
            </a:extLst>
          </p:cNvPr>
          <p:cNvCxnSpPr/>
          <p:nvPr/>
        </p:nvCxnSpPr>
        <p:spPr>
          <a:xfrm>
            <a:off x="717412" y="60669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2" name="직선 연결선 41">
            <a:extLst>
              <a:ext uri="{FF2B5EF4-FFF2-40B4-BE49-F238E27FC236}">
                <a16:creationId xmlns:a16="http://schemas.microsoft.com/office/drawing/2014/main" id="{E9293055-D5CD-4B9E-7F64-64B2D2CA7A52}"/>
              </a:ext>
            </a:extLst>
          </p:cNvPr>
          <p:cNvCxnSpPr/>
          <p:nvPr/>
        </p:nvCxnSpPr>
        <p:spPr>
          <a:xfrm>
            <a:off x="3837207" y="47127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3" name="TextBox 42">
            <a:extLst>
              <a:ext uri="{FF2B5EF4-FFF2-40B4-BE49-F238E27FC236}">
                <a16:creationId xmlns:a16="http://schemas.microsoft.com/office/drawing/2014/main" id="{FFC49AEA-2A8F-250C-A86A-A7751D9706C3}"/>
              </a:ext>
            </a:extLst>
          </p:cNvPr>
          <p:cNvSpPr txBox="1"/>
          <p:nvPr/>
        </p:nvSpPr>
        <p:spPr>
          <a:xfrm>
            <a:off x="3905672" y="4835193"/>
            <a:ext cx="2473940" cy="215444"/>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본사</a:t>
            </a:r>
            <a:r>
              <a:rPr lang="en-US" altLang="ko-KR" sz="700" dirty="0">
                <a:latin typeface="맑은 고딕" panose="020B0503020000020004" pitchFamily="50" charset="-127"/>
              </a:rPr>
              <a:t>(</a:t>
            </a:r>
            <a:r>
              <a:rPr lang="ko-KR" altLang="en-US" sz="700" dirty="0">
                <a:latin typeface="맑은 고딕" panose="020B0503020000020004" pitchFamily="50" charset="-127"/>
              </a:rPr>
              <a:t>인</a:t>
            </a:r>
            <a:r>
              <a:rPr lang="en-US" altLang="ko-KR" sz="700" dirty="0">
                <a:latin typeface="맑은 고딕" panose="020B0503020000020004" pitchFamily="50" charset="-127"/>
              </a:rPr>
              <a:t>)</a:t>
            </a:r>
            <a:r>
              <a:rPr lang="ko-KR" altLang="en-US" sz="700" dirty="0">
                <a:latin typeface="맑은 고딕" panose="020B0503020000020004" pitchFamily="50" charset="-127"/>
              </a:rPr>
              <a:t>은 위의 입찰보증금 면제 사유에 해당됨을</a:t>
            </a: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확인 및 서약합니다</a:t>
            </a:r>
            <a:r>
              <a:rPr lang="en-US" altLang="ko-KR" sz="700" dirty="0">
                <a:latin typeface="맑은 고딕" panose="020B0503020000020004" pitchFamily="50" charset="-127"/>
              </a:rPr>
              <a:t>.</a:t>
            </a:r>
            <a:endParaRPr lang="ko-KR" altLang="en-US" sz="700" dirty="0">
              <a:latin typeface="+mn-ea"/>
            </a:endParaRPr>
          </a:p>
        </p:txBody>
      </p:sp>
      <p:sp>
        <p:nvSpPr>
          <p:cNvPr id="44" name="모서리가 둥근 직사각형 43"/>
          <p:cNvSpPr/>
          <p:nvPr/>
        </p:nvSpPr>
        <p:spPr>
          <a:xfrm rot="5400000">
            <a:off x="5771019" y="476028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45" name="TextBox 44">
            <a:extLst>
              <a:ext uri="{FF2B5EF4-FFF2-40B4-BE49-F238E27FC236}">
                <a16:creationId xmlns:a16="http://schemas.microsoft.com/office/drawing/2014/main" id="{FFC49AEA-2A8F-250C-A86A-A7751D9706C3}"/>
              </a:ext>
            </a:extLst>
          </p:cNvPr>
          <p:cNvSpPr txBox="1"/>
          <p:nvPr/>
        </p:nvSpPr>
        <p:spPr>
          <a:xfrm>
            <a:off x="3914777" y="3439560"/>
            <a:ext cx="2473940" cy="1184940"/>
          </a:xfrm>
          <a:prstGeom prst="rect">
            <a:avLst/>
          </a:prstGeom>
          <a:noFill/>
        </p:spPr>
        <p:txBody>
          <a:bodyPr wrap="square" lIns="0" tIns="0" rIns="0" bIns="0" rtlCol="0">
            <a:spAutoFit/>
          </a:bodyPr>
          <a:lstStyle/>
          <a:p>
            <a:r>
              <a:rPr lang="ko-KR" altLang="en-US" sz="700" dirty="0" err="1">
                <a:latin typeface="+mn-ea"/>
              </a:rPr>
              <a:t>계약예규</a:t>
            </a:r>
            <a:r>
              <a:rPr lang="ko-KR" altLang="en-US" sz="700" dirty="0">
                <a:latin typeface="+mn-ea"/>
              </a:rPr>
              <a:t> </a:t>
            </a:r>
            <a:r>
              <a:rPr lang="en-US" altLang="ko-KR" sz="700" dirty="0">
                <a:latin typeface="+mn-ea"/>
              </a:rPr>
              <a:t>(</a:t>
            </a:r>
            <a:r>
              <a:rPr lang="ko-KR" altLang="en-US" sz="700" dirty="0">
                <a:latin typeface="+mn-ea"/>
              </a:rPr>
              <a:t>공사입찰유의서</a:t>
            </a:r>
            <a:r>
              <a:rPr lang="en-US" altLang="ko-KR" sz="700" dirty="0">
                <a:latin typeface="+mn-ea"/>
              </a:rPr>
              <a:t>)</a:t>
            </a:r>
          </a:p>
          <a:p>
            <a:endParaRPr lang="en-US" altLang="ko-KR" sz="700" dirty="0">
              <a:solidFill>
                <a:srgbClr val="000000"/>
              </a:solidFill>
              <a:latin typeface="+mn-ea"/>
            </a:endParaRPr>
          </a:p>
          <a:p>
            <a:pPr marL="88900" indent="-88900">
              <a:buFont typeface="+mj-lt"/>
              <a:buAutoNum type="arabicPeriod"/>
            </a:pPr>
            <a:r>
              <a:rPr lang="ko-KR" altLang="en-US" sz="700" dirty="0">
                <a:latin typeface="+mn-ea"/>
              </a:rPr>
              <a:t>시행령 제</a:t>
            </a:r>
            <a:r>
              <a:rPr lang="en-US" altLang="ko-KR" sz="700" dirty="0">
                <a:latin typeface="+mn-ea"/>
              </a:rPr>
              <a:t>37</a:t>
            </a:r>
            <a:r>
              <a:rPr lang="ko-KR" altLang="en-US" sz="700" dirty="0">
                <a:latin typeface="+mn-ea"/>
              </a:rPr>
              <a:t>조제</a:t>
            </a:r>
            <a:r>
              <a:rPr lang="en-US" altLang="ko-KR" sz="700" dirty="0">
                <a:latin typeface="+mn-ea"/>
              </a:rPr>
              <a:t>3</a:t>
            </a:r>
            <a:r>
              <a:rPr lang="ko-KR" altLang="en-US" sz="700" dirty="0" err="1">
                <a:latin typeface="+mn-ea"/>
              </a:rPr>
              <a:t>항제</a:t>
            </a:r>
            <a:r>
              <a:rPr lang="en-US" altLang="ko-KR" sz="700" dirty="0">
                <a:latin typeface="+mn-ea"/>
              </a:rPr>
              <a:t>1</a:t>
            </a:r>
            <a:r>
              <a:rPr lang="ko-KR" altLang="en-US" sz="700" dirty="0">
                <a:latin typeface="+mn-ea"/>
              </a:rPr>
              <a:t>호 내지 제</a:t>
            </a:r>
            <a:r>
              <a:rPr lang="en-US" altLang="ko-KR" sz="700" dirty="0">
                <a:latin typeface="+mn-ea"/>
              </a:rPr>
              <a:t>4</a:t>
            </a:r>
            <a:r>
              <a:rPr lang="ko-KR" altLang="en-US" sz="700" dirty="0">
                <a:latin typeface="+mn-ea"/>
              </a:rPr>
              <a:t>호 및 제</a:t>
            </a:r>
            <a:r>
              <a:rPr lang="en-US" altLang="ko-KR" sz="700" dirty="0">
                <a:latin typeface="+mn-ea"/>
              </a:rPr>
              <a:t>6</a:t>
            </a:r>
            <a:r>
              <a:rPr lang="ko-KR" altLang="en-US" sz="700" dirty="0">
                <a:latin typeface="+mn-ea"/>
              </a:rPr>
              <a:t>호에 정한 자가 입찰에 참가하는 경우</a:t>
            </a:r>
          </a:p>
          <a:p>
            <a:pPr marL="88900" indent="-88900">
              <a:buFont typeface="+mj-lt"/>
              <a:buAutoNum type="arabicPeriod"/>
            </a:pPr>
            <a:r>
              <a:rPr lang="ko-KR" altLang="en-US" sz="700" dirty="0">
                <a:latin typeface="+mn-ea"/>
              </a:rPr>
              <a:t>「건설산업기본법」</a:t>
            </a:r>
            <a:r>
              <a:rPr lang="en-US" altLang="ko-KR" sz="700" dirty="0">
                <a:latin typeface="+mn-ea"/>
              </a:rPr>
              <a:t>·</a:t>
            </a:r>
            <a:r>
              <a:rPr lang="ko-KR" altLang="en-US" sz="700" dirty="0">
                <a:latin typeface="+mn-ea"/>
              </a:rPr>
              <a:t>「전기공사업법」</a:t>
            </a:r>
            <a:r>
              <a:rPr lang="en-US" altLang="ko-KR" sz="700" dirty="0">
                <a:latin typeface="+mn-ea"/>
              </a:rPr>
              <a:t>·</a:t>
            </a:r>
            <a:r>
              <a:rPr lang="ko-KR" altLang="en-US" sz="700" dirty="0">
                <a:latin typeface="+mn-ea"/>
              </a:rPr>
              <a:t>「정보통신공사업법」 또는 「</a:t>
            </a:r>
            <a:r>
              <a:rPr lang="ko-KR" altLang="en-US" sz="700" dirty="0" err="1">
                <a:latin typeface="+mn-ea"/>
              </a:rPr>
              <a:t>소방시설공사업법」등에</a:t>
            </a:r>
            <a:r>
              <a:rPr lang="ko-KR" altLang="en-US" sz="700" dirty="0">
                <a:latin typeface="+mn-ea"/>
              </a:rPr>
              <a:t> 의하여 국가 또는 지방자치단체</a:t>
            </a:r>
            <a:r>
              <a:rPr lang="en-US" altLang="ko-KR" sz="700" dirty="0">
                <a:latin typeface="+mn-ea"/>
              </a:rPr>
              <a:t>(</a:t>
            </a:r>
            <a:r>
              <a:rPr lang="ko-KR" altLang="en-US" sz="700" dirty="0">
                <a:latin typeface="+mn-ea"/>
              </a:rPr>
              <a:t>이하 </a:t>
            </a:r>
            <a:r>
              <a:rPr lang="en-US" altLang="ko-KR" sz="700" dirty="0">
                <a:latin typeface="+mn-ea"/>
              </a:rPr>
              <a:t>"</a:t>
            </a:r>
            <a:r>
              <a:rPr lang="ko-KR" altLang="en-US" sz="700" dirty="0">
                <a:latin typeface="+mn-ea"/>
              </a:rPr>
              <a:t>국가기관 등</a:t>
            </a:r>
            <a:r>
              <a:rPr lang="en-US" altLang="ko-KR" sz="700" dirty="0">
                <a:latin typeface="+mn-ea"/>
              </a:rPr>
              <a:t>"</a:t>
            </a:r>
            <a:r>
              <a:rPr lang="ko-KR" altLang="en-US" sz="700" dirty="0">
                <a:latin typeface="+mn-ea"/>
              </a:rPr>
              <a:t>이라 한다</a:t>
            </a:r>
            <a:r>
              <a:rPr lang="en-US" altLang="ko-KR" sz="700" dirty="0">
                <a:latin typeface="+mn-ea"/>
              </a:rPr>
              <a:t>)</a:t>
            </a:r>
            <a:r>
              <a:rPr lang="ko-KR" altLang="en-US" sz="700" dirty="0">
                <a:latin typeface="+mn-ea"/>
              </a:rPr>
              <a:t>로부터 등록 등을 받아 입찰신청마감일 현재 해당 공사관련법령에 의한 사업을 영위하고 있는 법인이 입찰에 참가하는 경우 단</a:t>
            </a:r>
            <a:r>
              <a:rPr lang="en-US" altLang="ko-KR" sz="700" dirty="0">
                <a:latin typeface="+mn-ea"/>
              </a:rPr>
              <a:t>, </a:t>
            </a:r>
            <a:r>
              <a:rPr lang="ko-KR" altLang="en-US" sz="700" dirty="0">
                <a:latin typeface="+mn-ea"/>
              </a:rPr>
              <a:t>입찰신청마감일 현재 사업영위기간이 </a:t>
            </a:r>
            <a:r>
              <a:rPr lang="en-US" altLang="ko-KR" sz="700" dirty="0">
                <a:latin typeface="+mn-ea"/>
              </a:rPr>
              <a:t>1</a:t>
            </a:r>
            <a:r>
              <a:rPr lang="ko-KR" altLang="en-US" sz="700" dirty="0">
                <a:latin typeface="+mn-ea"/>
              </a:rPr>
              <a:t>년 미만인 법인은 입찰참가자격제한 조치를 받은 사실이 없어야 함</a:t>
            </a:r>
            <a:r>
              <a:rPr lang="en-US" altLang="ko-KR" sz="700" dirty="0">
                <a:latin typeface="+mn-ea"/>
              </a:rPr>
              <a:t>.</a:t>
            </a:r>
            <a:endParaRPr lang="ko-KR" altLang="en-US" sz="700" dirty="0">
              <a:latin typeface="+mn-ea"/>
            </a:endParaRPr>
          </a:p>
        </p:txBody>
      </p:sp>
      <p:sp>
        <p:nvSpPr>
          <p:cNvPr id="46" name="TextBox 4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302061952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148</a:t>
            </a:fld>
            <a:endParaRPr lang="ko-KR" altLang="en-US" dirty="0"/>
          </a:p>
        </p:txBody>
      </p:sp>
      <p:sp>
        <p:nvSpPr>
          <p:cNvPr id="6" name="TextBox 5">
            <a:extLst>
              <a:ext uri="{FF2B5EF4-FFF2-40B4-BE49-F238E27FC236}">
                <a16:creationId xmlns:a16="http://schemas.microsoft.com/office/drawing/2014/main" id="{9F3F3328-0E21-2B50-B957-D9B40649B859}"/>
              </a:ext>
            </a:extLst>
          </p:cNvPr>
          <p:cNvSpPr txBox="1"/>
          <p:nvPr/>
        </p:nvSpPr>
        <p:spPr>
          <a:xfrm>
            <a:off x="458117" y="689193"/>
            <a:ext cx="1252513"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r>
              <a:rPr lang="en-US" altLang="ko-KR" sz="1000" b="1" dirty="0">
                <a:solidFill>
                  <a:prstClr val="black"/>
                </a:solidFill>
                <a:latin typeface="+mn-ea"/>
              </a:rPr>
              <a:t> (2/2)</a:t>
            </a:r>
            <a:endParaRPr lang="ko-KR" altLang="en-US" sz="1000" b="1" dirty="0">
              <a:solidFill>
                <a:prstClr val="black"/>
              </a:solidFill>
              <a:latin typeface="+mn-ea"/>
            </a:endParaRPr>
          </a:p>
        </p:txBody>
      </p:sp>
      <p:graphicFrame>
        <p:nvGraphicFramePr>
          <p:cNvPr id="7" name="표 6">
            <a:extLst>
              <a:ext uri="{FF2B5EF4-FFF2-40B4-BE49-F238E27FC236}">
                <a16:creationId xmlns:a16="http://schemas.microsoft.com/office/drawing/2014/main" id="{B0DB02E6-4804-7B4E-E539-112783DC5994}"/>
              </a:ext>
            </a:extLst>
          </p:cNvPr>
          <p:cNvGraphicFramePr>
            <a:graphicFrameLocks noGrp="1"/>
          </p:cNvGraphicFramePr>
          <p:nvPr/>
        </p:nvGraphicFramePr>
        <p:xfrm>
          <a:off x="453000" y="967324"/>
          <a:ext cx="8995591" cy="14275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r>
                        <a:rPr lang="ko-KR" altLang="en-US" sz="800" dirty="0">
                          <a:latin typeface="+mn-ea"/>
                          <a:ea typeface="+mn-ea"/>
                        </a:rPr>
                        <a:t>동의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scwin.btn_arge_onclick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보증금 지급 확약서 </a:t>
                      </a:r>
                      <a:r>
                        <a:rPr lang="ko-KR" altLang="en-US" sz="800" dirty="0" err="1">
                          <a:latin typeface="+mn-ea"/>
                          <a:ea typeface="+mn-ea"/>
                        </a:rPr>
                        <a:t>동의문</a:t>
                      </a:r>
                      <a:r>
                        <a:rPr lang="ko-KR" altLang="en-US" sz="800" dirty="0">
                          <a:latin typeface="+mn-ea"/>
                          <a:ea typeface="+mn-ea"/>
                        </a:rPr>
                        <a:t> 동의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공통 </a:t>
                      </a:r>
                      <a:r>
                        <a:rPr lang="en-US" altLang="ko-KR" sz="800" dirty="0">
                          <a:latin typeface="+mn-ea"/>
                          <a:ea typeface="+mn-ea"/>
                        </a:rPr>
                        <a:t>- </a:t>
                      </a:r>
                      <a:r>
                        <a:rPr lang="ko-KR" altLang="en-US" sz="800" dirty="0">
                          <a:latin typeface="+mn-ea"/>
                          <a:ea typeface="+mn-ea"/>
                        </a:rPr>
                        <a:t>입찰보증금 지급확약서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물품이고 부서부호가 </a:t>
                      </a:r>
                      <a:r>
                        <a:rPr lang="en-US" altLang="ko-KR" sz="800" dirty="0">
                          <a:latin typeface="+mn-ea"/>
                          <a:ea typeface="+mn-ea"/>
                        </a:rPr>
                        <a:t>‘E’</a:t>
                      </a:r>
                      <a:r>
                        <a:rPr lang="ko-KR" altLang="en-US" sz="800" dirty="0">
                          <a:latin typeface="+mn-ea"/>
                          <a:ea typeface="+mn-ea"/>
                        </a:rPr>
                        <a:t>또는 </a:t>
                      </a:r>
                      <a:r>
                        <a:rPr lang="en-US" altLang="ko-KR" sz="800" dirty="0">
                          <a:latin typeface="+mn-ea"/>
                          <a:ea typeface="+mn-ea"/>
                        </a:rPr>
                        <a:t>‘P’</a:t>
                      </a:r>
                      <a:r>
                        <a:rPr lang="ko-KR" altLang="en-US" sz="800" dirty="0">
                          <a:latin typeface="+mn-ea"/>
                          <a:ea typeface="+mn-ea"/>
                        </a:rPr>
                        <a:t>인 경우</a:t>
                      </a:r>
                      <a:r>
                        <a:rPr lang="en-US" altLang="ko-KR" sz="800" dirty="0">
                          <a:latin typeface="+mn-ea"/>
                          <a:ea typeface="+mn-ea"/>
                        </a:rPr>
                        <a:t> </a:t>
                      </a:r>
                      <a:r>
                        <a:rPr lang="ko-KR" altLang="en-US" sz="800" dirty="0">
                          <a:latin typeface="+mn-ea"/>
                          <a:ea typeface="+mn-ea"/>
                        </a:rPr>
                        <a:t>경고 영역</a:t>
                      </a:r>
                      <a:r>
                        <a:rPr lang="en-US" altLang="ko-KR" sz="800" dirty="0">
                          <a:latin typeface="+mn-ea"/>
                          <a:ea typeface="+mn-ea"/>
                        </a:rPr>
                        <a:t> </a:t>
                      </a:r>
                      <a:r>
                        <a:rPr lang="ko-KR" altLang="en-US" sz="800" dirty="0">
                          <a:latin typeface="+mn-ea"/>
                          <a:ea typeface="+mn-ea"/>
                        </a:rPr>
                        <a:t>보이기</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타이틀 </a:t>
                      </a:r>
                      <a:r>
                        <a:rPr lang="en-US" altLang="ko-KR" sz="800" dirty="0">
                          <a:latin typeface="+mn-ea"/>
                          <a:ea typeface="+mn-ea"/>
                        </a:rPr>
                        <a:t>: </a:t>
                      </a:r>
                      <a:r>
                        <a:rPr lang="ko-KR" altLang="en-US" sz="800" dirty="0">
                          <a:latin typeface="+mn-ea"/>
                          <a:ea typeface="+mn-ea"/>
                        </a:rPr>
                        <a:t>보증금 지급확약서 </a:t>
                      </a:r>
                      <a:r>
                        <a:rPr lang="ko-KR" altLang="en-US" sz="800" dirty="0" err="1">
                          <a:latin typeface="+mn-ea"/>
                          <a:ea typeface="+mn-ea"/>
                        </a:rPr>
                        <a:t>동의문</a:t>
                      </a:r>
                      <a:endParaRPr lang="en-US" altLang="ko-KR" sz="800" dirty="0">
                        <a:latin typeface="+mn-ea"/>
                        <a:ea typeface="+mn-ea"/>
                      </a:endParaRPr>
                    </a:p>
                    <a:p>
                      <a:pPr marL="0" indent="0" algn="l" latinLnBrk="1">
                        <a:buFont typeface="Arial" panose="020B0604020202020204" pitchFamily="34" charset="0"/>
                        <a:buNone/>
                      </a:pPr>
                      <a:r>
                        <a:rPr lang="ko-KR" altLang="en-US" sz="750" dirty="0">
                          <a:latin typeface="+mn-ea"/>
                          <a:ea typeface="+mn-ea"/>
                        </a:rPr>
                        <a:t>물품이고 부서부호가 그 외인 경우 입찰보증금 면제사유 확약서 영역 보이기</a:t>
                      </a:r>
                      <a:endParaRPr lang="en-US" altLang="ko-KR" sz="75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타이틀 </a:t>
                      </a:r>
                      <a:r>
                        <a:rPr lang="en-US" altLang="ko-KR" sz="800" dirty="0">
                          <a:latin typeface="+mn-ea"/>
                          <a:ea typeface="+mn-ea"/>
                        </a:rPr>
                        <a:t>: </a:t>
                      </a:r>
                      <a:r>
                        <a:rPr lang="ko-KR" altLang="en-US" sz="800" dirty="0">
                          <a:latin typeface="+mn-ea"/>
                          <a:ea typeface="+mn-ea"/>
                        </a:rPr>
                        <a:t>보증금 </a:t>
                      </a:r>
                      <a:r>
                        <a:rPr lang="ko-KR" altLang="en-US" sz="800" dirty="0" err="1">
                          <a:latin typeface="+mn-ea"/>
                          <a:ea typeface="+mn-ea"/>
                        </a:rPr>
                        <a:t>동의문</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공사인 경우 입찰보증금 면제사유 확약서 영역 보이기</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타이틀 </a:t>
                      </a:r>
                      <a:r>
                        <a:rPr lang="en-US" altLang="ko-KR" sz="800" dirty="0">
                          <a:latin typeface="+mn-ea"/>
                          <a:ea typeface="+mn-ea"/>
                        </a:rPr>
                        <a:t>: </a:t>
                      </a:r>
                      <a:r>
                        <a:rPr lang="ko-KR" altLang="en-US" sz="800" dirty="0">
                          <a:latin typeface="+mn-ea"/>
                          <a:ea typeface="+mn-ea"/>
                        </a:rPr>
                        <a:t>보증금 </a:t>
                      </a:r>
                      <a:r>
                        <a:rPr lang="ko-KR" altLang="en-US" sz="800" dirty="0" err="1">
                          <a:latin typeface="+mn-ea"/>
                          <a:ea typeface="+mn-ea"/>
                        </a:rPr>
                        <a:t>동의문</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ea typeface="+mn-ea"/>
                        </a:rPr>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보증금 지급 확약서 동의문 닫기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7005836"/>
                  </a:ext>
                </a:extLst>
              </a:tr>
            </a:tbl>
          </a:graphicData>
        </a:graphic>
      </p:graphicFrame>
      <p:sp>
        <p:nvSpPr>
          <p:cNvPr id="8" name="Text Box 73">
            <a:extLst>
              <a:ext uri="{FF2B5EF4-FFF2-40B4-BE49-F238E27FC236}">
                <a16:creationId xmlns:a16="http://schemas.microsoft.com/office/drawing/2014/main" id="{1E80178B-A725-CAFD-DD9D-52D30EE7E405}"/>
              </a:ext>
            </a:extLst>
          </p:cNvPr>
          <p:cNvSpPr txBox="1">
            <a:spLocks noChangeArrowheads="1"/>
          </p:cNvSpPr>
          <p:nvPr/>
        </p:nvSpPr>
        <p:spPr bwMode="auto">
          <a:xfrm>
            <a:off x="7769866" y="756308"/>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0384081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149</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7. </a:t>
            </a:r>
            <a:r>
              <a:rPr lang="ko-KR" altLang="en-US" dirty="0" smtClean="0"/>
              <a:t>입찰참가등록 </a:t>
            </a:r>
            <a:r>
              <a:rPr lang="ko-KR" altLang="en-US" dirty="0"/>
              <a:t>신청서 작성</a:t>
            </a:r>
            <a:endParaRPr lang="en-US" altLang="ko-KR" dirty="0"/>
          </a:p>
          <a:p>
            <a:r>
              <a:rPr lang="en-US" altLang="ko-KR" dirty="0" smtClean="0"/>
              <a:t>7.1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986402724"/>
              </p:ext>
            </p:extLst>
          </p:nvPr>
        </p:nvGraphicFramePr>
        <p:xfrm>
          <a:off x="635474" y="1413419"/>
          <a:ext cx="8701200" cy="6793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MUI-BD-03-P07</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smtClean="0">
                          <a:solidFill>
                            <a:schemeClr val="tx1"/>
                          </a:solidFill>
                          <a:latin typeface="+mn-ea"/>
                          <a:ea typeface="+mn-ea"/>
                          <a:cs typeface="+mn-cs"/>
                        </a:rPr>
                        <a:t>입찰참가신청반려요청</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BidPrtcpAplyRjct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입찰참가신청반려 신청서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BidPrtcpAplyRjct.tsx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4393020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입찰참가등록 </a:t>
            </a:r>
            <a:r>
              <a:rPr lang="ko-KR" altLang="en-US" dirty="0" err="1" smtClean="0"/>
              <a:t>완료후</a:t>
            </a:r>
            <a:r>
              <a:rPr lang="ko-KR" altLang="en-US" dirty="0" smtClean="0"/>
              <a:t> </a:t>
            </a:r>
            <a:r>
              <a:rPr lang="ko-KR" altLang="en-US" dirty="0" err="1" smtClean="0"/>
              <a:t>플로팅버튼</a:t>
            </a:r>
            <a:r>
              <a:rPr lang="en-US" altLang="ko-KR" dirty="0" smtClean="0"/>
              <a:t/>
            </a:r>
            <a:br>
              <a:rPr lang="en-US" altLang="ko-KR" dirty="0" smtClean="0"/>
            </a:br>
            <a:r>
              <a:rPr lang="en-US" altLang="ko-KR" dirty="0" smtClean="0"/>
              <a:t>(</a:t>
            </a:r>
            <a:r>
              <a:rPr lang="ko-KR" altLang="en-US" dirty="0"/>
              <a:t>입찰진행목록중</a:t>
            </a:r>
            <a:r>
              <a:rPr lang="en-US" altLang="ko-KR" dirty="0"/>
              <a:t>, </a:t>
            </a:r>
            <a:r>
              <a:rPr lang="ko-KR" altLang="en-US" dirty="0"/>
              <a:t>내가 </a:t>
            </a:r>
            <a:r>
              <a:rPr lang="ko-KR" altLang="en-US" dirty="0" err="1"/>
              <a:t>입찰진</a:t>
            </a:r>
            <a:r>
              <a:rPr lang="ko-KR" altLang="en-US" dirty="0"/>
              <a:t> 행한 항목인 경우 해당 </a:t>
            </a:r>
            <a:r>
              <a:rPr lang="ko-KR" altLang="en-US" dirty="0" err="1"/>
              <a:t>플로팅</a:t>
            </a:r>
            <a:r>
              <a:rPr lang="ko-KR" altLang="en-US" dirty="0"/>
              <a:t> 버튼 </a:t>
            </a:r>
            <a:r>
              <a:rPr lang="ko-KR" altLang="en-US" dirty="0" smtClean="0"/>
              <a:t>노출</a:t>
            </a:r>
            <a:r>
              <a:rPr lang="en-US" altLang="ko-KR" dirty="0" smtClean="0"/>
              <a:t>)</a:t>
            </a:r>
            <a:br>
              <a:rPr lang="en-US" altLang="ko-KR" dirty="0" smtClean="0"/>
            </a:br>
            <a:r>
              <a:rPr lang="en-US" altLang="ko-KR" dirty="0" smtClean="0"/>
              <a:t>- </a:t>
            </a:r>
            <a:r>
              <a:rPr lang="ko-KR" altLang="en-US" dirty="0" err="1" smtClean="0"/>
              <a:t>입찰참가등록반려신청</a:t>
            </a:r>
            <a:r>
              <a:rPr lang="en-US" altLang="ko-KR" dirty="0" smtClean="0"/>
              <a:t>(</a:t>
            </a:r>
            <a:r>
              <a:rPr lang="en-US" altLang="ko-KR" dirty="0" smtClean="0">
                <a:latin typeface="+mn-ea"/>
              </a:rPr>
              <a:t>MUI-BD-03-P07)</a:t>
            </a:r>
            <a:r>
              <a:rPr lang="en-US" altLang="ko-KR" dirty="0" smtClean="0"/>
              <a:t/>
            </a:r>
            <a:br>
              <a:rPr lang="en-US" altLang="ko-KR" dirty="0" smtClean="0"/>
            </a:br>
            <a:r>
              <a:rPr lang="en-US" altLang="ko-KR" dirty="0" smtClean="0"/>
              <a:t>- </a:t>
            </a:r>
            <a:r>
              <a:rPr lang="ko-KR" altLang="en-US" dirty="0" smtClean="0"/>
              <a:t>입찰서 제출</a:t>
            </a:r>
            <a:r>
              <a:rPr lang="en-US" altLang="ko-KR" dirty="0" smtClean="0"/>
              <a:t>(</a:t>
            </a:r>
            <a:r>
              <a:rPr lang="en-US" altLang="ko-KR" dirty="0" smtClean="0">
                <a:solidFill>
                  <a:srgbClr val="000000"/>
                </a:solidFill>
                <a:latin typeface="맑은 고딕" panose="020B0503020000020004" pitchFamily="50" charset="-127"/>
              </a:rPr>
              <a:t>MUI-BD-06-M01)</a:t>
            </a:r>
            <a:endParaRPr lang="ko-KR" altLang="en-US" dirty="0" smtClean="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입찰참가등록반려신청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입찰참가등록반려신청</a:t>
            </a:r>
            <a:r>
              <a:rPr lang="ko-KR" altLang="en-US" dirty="0"/>
              <a:t> 작성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a:latin typeface="+mn-ea"/>
              </a:rPr>
              <a:t>입찰참가등록반려신청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MUI-BD-03-P07</a:t>
            </a:r>
            <a:endParaRPr lang="ko-KR" altLang="en-US" dirty="0">
              <a:latin typeface="+mn-ea"/>
            </a:endParaRPr>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123" name="직사각형 122">
            <a:extLst>
              <a:ext uri="{FF2B5EF4-FFF2-40B4-BE49-F238E27FC236}">
                <a16:creationId xmlns:a16="http://schemas.microsoft.com/office/drawing/2014/main" id="{F56F1743-11A0-EA94-9184-4E42C0A37F9C}"/>
              </a:ext>
            </a:extLst>
          </p:cNvPr>
          <p:cNvSpPr/>
          <p:nvPr/>
        </p:nvSpPr>
        <p:spPr>
          <a:xfrm>
            <a:off x="678613"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양쪽 모서리가 둥근 사각형 138"/>
          <p:cNvSpPr/>
          <p:nvPr/>
        </p:nvSpPr>
        <p:spPr>
          <a:xfrm>
            <a:off x="676052"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40" name="모서리가 둥근 직사각형 139"/>
          <p:cNvSpPr/>
          <p:nvPr/>
        </p:nvSpPr>
        <p:spPr>
          <a:xfrm>
            <a:off x="1762065"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41" name="그룹 140"/>
          <p:cNvGrpSpPr/>
          <p:nvPr/>
        </p:nvGrpSpPr>
        <p:grpSpPr>
          <a:xfrm>
            <a:off x="3164991" y="3182696"/>
            <a:ext cx="94010" cy="94010"/>
            <a:chOff x="6812560" y="3297172"/>
            <a:chExt cx="94010" cy="94010"/>
          </a:xfrm>
        </p:grpSpPr>
        <p:cxnSp>
          <p:nvCxnSpPr>
            <p:cNvPr id="151" name="직선 연결선 15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42" name="TextBox 141">
            <a:extLst>
              <a:ext uri="{FF2B5EF4-FFF2-40B4-BE49-F238E27FC236}">
                <a16:creationId xmlns:a16="http://schemas.microsoft.com/office/drawing/2014/main" id="{FFC49AEA-2A8F-250C-A86A-A7751D9706C3}"/>
              </a:ext>
            </a:extLst>
          </p:cNvPr>
          <p:cNvSpPr txBox="1"/>
          <p:nvPr/>
        </p:nvSpPr>
        <p:spPr>
          <a:xfrm>
            <a:off x="805129"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676052"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타원 154">
            <a:extLst>
              <a:ext uri="{FF2B5EF4-FFF2-40B4-BE49-F238E27FC236}">
                <a16:creationId xmlns:a16="http://schemas.microsoft.com/office/drawing/2014/main" id="{37A7FF4F-0EAA-1463-560A-D5EC24416103}"/>
              </a:ext>
            </a:extLst>
          </p:cNvPr>
          <p:cNvSpPr/>
          <p:nvPr/>
        </p:nvSpPr>
        <p:spPr>
          <a:xfrm>
            <a:off x="587377" y="302156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157" name="모서리가 둥근 직사각형 40">
            <a:extLst>
              <a:ext uri="{FF2B5EF4-FFF2-40B4-BE49-F238E27FC236}">
                <a16:creationId xmlns:a16="http://schemas.microsoft.com/office/drawing/2014/main" id="{3BE5C28A-F0C3-8BA2-3AC1-EFA405ADE137}"/>
              </a:ext>
            </a:extLst>
          </p:cNvPr>
          <p:cNvSpPr/>
          <p:nvPr/>
        </p:nvSpPr>
        <p:spPr bwMode="auto">
          <a:xfrm>
            <a:off x="768355" y="3537066"/>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a:solidFill>
                  <a:schemeClr val="bg1"/>
                </a:solidFill>
                <a:latin typeface="맑은 고딕" panose="020B0503020000020004" pitchFamily="50" charset="-127"/>
              </a:rPr>
              <a:t>입찰참가등록반려신청</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58" name="모서리가 둥근 직사각형 40">
            <a:extLst>
              <a:ext uri="{FF2B5EF4-FFF2-40B4-BE49-F238E27FC236}">
                <a16:creationId xmlns:a16="http://schemas.microsoft.com/office/drawing/2014/main" id="{3BE5C28A-F0C3-8BA2-3AC1-EFA405ADE137}"/>
              </a:ext>
            </a:extLst>
          </p:cNvPr>
          <p:cNvSpPr/>
          <p:nvPr/>
        </p:nvSpPr>
        <p:spPr bwMode="auto">
          <a:xfrm>
            <a:off x="768355" y="3874879"/>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rPr>
              <a:t>입찰서제출</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46" name="타원 145"/>
          <p:cNvSpPr/>
          <p:nvPr/>
        </p:nvSpPr>
        <p:spPr>
          <a:xfrm>
            <a:off x="2871641" y="563921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6" name="그룹 155"/>
          <p:cNvGrpSpPr/>
          <p:nvPr/>
        </p:nvGrpSpPr>
        <p:grpSpPr>
          <a:xfrm>
            <a:off x="3001108" y="5768679"/>
            <a:ext cx="124144" cy="124144"/>
            <a:chOff x="162544" y="5299917"/>
            <a:chExt cx="124144" cy="124144"/>
          </a:xfrm>
        </p:grpSpPr>
        <p:cxnSp>
          <p:nvCxnSpPr>
            <p:cNvPr id="169" name="직선 연결선 168"/>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70" name="직선 연결선 169"/>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26733686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입찰참가신청서</a:t>
            </a:r>
            <a:r>
              <a:rPr lang="en-US" altLang="ko-KR" dirty="0" smtClean="0"/>
              <a:t> </a:t>
            </a:r>
            <a:r>
              <a:rPr lang="ko-KR" altLang="en-US" dirty="0"/>
              <a:t>작성 이후 </a:t>
            </a:r>
            <a:r>
              <a:rPr lang="ko-KR" altLang="en-US" dirty="0" smtClean="0"/>
              <a:t>반려 요청하는 </a:t>
            </a:r>
            <a:r>
              <a:rPr lang="ko-KR" altLang="en-US" dirty="0"/>
              <a:t>화면</a:t>
            </a:r>
            <a:r>
              <a:rPr lang="en-US" altLang="ko-KR" dirty="0"/>
              <a:t/>
            </a:r>
            <a:br>
              <a:rPr lang="en-US" altLang="ko-KR" dirty="0"/>
            </a:br>
            <a:r>
              <a:rPr lang="en-US" altLang="ko-KR" dirty="0"/>
              <a:t>- </a:t>
            </a:r>
            <a:r>
              <a:rPr lang="ko-KR" altLang="en-US" dirty="0" smtClean="0"/>
              <a:t>신청하면 </a:t>
            </a:r>
            <a:r>
              <a:rPr lang="ko-KR" altLang="en-US" dirty="0"/>
              <a:t>되돌릴 수 없음</a:t>
            </a:r>
            <a:r>
              <a:rPr lang="en-US" altLang="ko-KR" dirty="0" smtClean="0"/>
              <a:t>.</a:t>
            </a:r>
            <a:br>
              <a:rPr lang="en-US" altLang="ko-KR" dirty="0" smtClean="0"/>
            </a:br>
            <a:r>
              <a:rPr lang="en-US" altLang="ko-KR" dirty="0" smtClean="0"/>
              <a:t>1-1] </a:t>
            </a:r>
            <a:r>
              <a:rPr lang="ko-KR" altLang="en-US" dirty="0" smtClean="0"/>
              <a:t>해당 공고가 공사인 경우 </a:t>
            </a:r>
            <a:r>
              <a:rPr lang="ko-KR" altLang="en-US" dirty="0" err="1" smtClean="0"/>
              <a:t>공사번호로</a:t>
            </a:r>
            <a:r>
              <a:rPr lang="ko-KR" altLang="en-US" dirty="0" smtClean="0"/>
              <a:t> 노출</a:t>
            </a:r>
            <a:endParaRPr lang="en-US" altLang="ko-KR" dirty="0"/>
          </a:p>
          <a:p>
            <a:pPr marL="228600" indent="-228600">
              <a:buFont typeface="+mj-lt"/>
              <a:buAutoNum type="arabicPeriod"/>
            </a:pPr>
            <a:r>
              <a:rPr lang="ko-KR" altLang="en-US" dirty="0" smtClean="0"/>
              <a:t>신청하는 </a:t>
            </a:r>
            <a:r>
              <a:rPr lang="ko-KR" altLang="en-US" dirty="0"/>
              <a:t>날짜 정보 표시</a:t>
            </a:r>
            <a:r>
              <a:rPr lang="en-US" altLang="ko-KR" dirty="0"/>
              <a:t/>
            </a:r>
            <a:br>
              <a:rPr lang="en-US" altLang="ko-KR" dirty="0"/>
            </a:br>
            <a:r>
              <a:rPr lang="ko-KR" altLang="en-US" dirty="0" err="1"/>
              <a:t>공고주체</a:t>
            </a:r>
            <a:r>
              <a:rPr lang="ko-KR" altLang="en-US" dirty="0"/>
              <a:t>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입찰참가등록반려신청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입찰참가등록반려신청</a:t>
            </a:r>
            <a:r>
              <a:rPr lang="ko-KR" altLang="en-US" dirty="0"/>
              <a:t> 작성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smtClean="0">
                <a:latin typeface="+mn-ea"/>
              </a:rPr>
              <a:t>입찰참가등록반려신청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MUI-BD-03-P07</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pPr fontAlgn="ctr"/>
            <a:r>
              <a:rPr lang="ko-KR" altLang="en-US" sz="900" dirty="0" smtClean="0">
                <a:latin typeface="+mn-ea"/>
              </a:rPr>
              <a:t>입찰참가등록 </a:t>
            </a:r>
            <a:r>
              <a:rPr lang="ko-KR" altLang="en-US" sz="900" dirty="0" err="1" smtClean="0">
                <a:latin typeface="+mn-ea"/>
              </a:rPr>
              <a:t>반려신청</a:t>
            </a:r>
            <a:endParaRPr lang="ko-KR" altLang="en-US" sz="900" dirty="0">
              <a:latin typeface="+mn-ea"/>
            </a:endParaRP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pPr fontAlgn="ctr"/>
            <a:r>
              <a:rPr lang="ko-KR" altLang="en-US" sz="900" dirty="0" smtClean="0">
                <a:latin typeface="+mn-ea"/>
              </a:rPr>
              <a:t>입찰참가등록 </a:t>
            </a:r>
            <a:r>
              <a:rPr lang="ko-KR" altLang="en-US" sz="900" dirty="0" err="1" smtClean="0">
                <a:latin typeface="+mn-ea"/>
              </a:rPr>
              <a:t>반려신청</a:t>
            </a:r>
            <a:endParaRPr lang="ko-KR" altLang="en-US" sz="900" dirty="0">
              <a:latin typeface="+mn-ea"/>
            </a:endParaRP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lang="ko-KR" altLang="en-US" sz="1000" dirty="0" err="1" smtClean="0">
                  <a:solidFill>
                    <a:srgbClr val="0070C0"/>
                  </a:solidFill>
                  <a:latin typeface="맑은 고딕" panose="020B0503020000020004" pitchFamily="50" charset="-127"/>
                </a:rPr>
                <a:t>반려신청</a:t>
              </a:r>
              <a:endParaRPr kumimoji="1" lang="en-US" sz="1000" b="0" i="0" u="none" strike="noStrike" kern="0" cap="none" spc="0" normalizeH="0" baseline="0" noProof="0" dirty="0">
                <a:ln>
                  <a:noFill/>
                </a:ln>
                <a:solidFill>
                  <a:srgbClr val="0070C0"/>
                </a:solidFill>
                <a:effectLst/>
                <a:uLnTx/>
                <a:uFillTx/>
                <a:latin typeface="맑은 고딕"/>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smtClean="0">
                <a:latin typeface="+mn-ea"/>
              </a:rPr>
              <a:t>판단번호</a:t>
            </a:r>
            <a:endParaRPr lang="en-US" altLang="ko-KR" sz="700" dirty="0" smtClean="0">
              <a:latin typeface="+mn-ea"/>
            </a:endParaRPr>
          </a:p>
          <a:p>
            <a:pPr>
              <a:lnSpc>
                <a:spcPct val="200000"/>
              </a:lnSpc>
            </a:pPr>
            <a:r>
              <a:rPr lang="ko-KR" altLang="en-US" sz="700" dirty="0" smtClean="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1" name="모서리가 둥근 직사각형 180"/>
          <p:cNvSpPr/>
          <p:nvPr/>
        </p:nvSpPr>
        <p:spPr>
          <a:xfrm>
            <a:off x="3859820" y="2621838"/>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2792618"/>
            <a:ext cx="2305144" cy="646331"/>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61" name="타원 60">
            <a:extLst>
              <a:ext uri="{FF2B5EF4-FFF2-40B4-BE49-F238E27FC236}">
                <a16:creationId xmlns:a16="http://schemas.microsoft.com/office/drawing/2014/main" id="{37A7FF4F-0EAA-1463-560A-D5EC24416103}"/>
              </a:ext>
            </a:extLst>
          </p:cNvPr>
          <p:cNvSpPr/>
          <p:nvPr/>
        </p:nvSpPr>
        <p:spPr>
          <a:xfrm>
            <a:off x="651564" y="426061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1-1</a:t>
            </a:r>
            <a:endParaRPr lang="ko-KR" altLang="en-US" sz="600" b="1" dirty="0"/>
          </a:p>
        </p:txBody>
      </p:sp>
    </p:spTree>
    <p:extLst>
      <p:ext uri="{BB962C8B-B14F-4D97-AF65-F5344CB8AC3E}">
        <p14:creationId xmlns:p14="http://schemas.microsoft.com/office/powerpoint/2010/main" val="201443292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bl>
          </a:graphicData>
        </a:graphic>
      </p:graphicFrame>
      <p:sp>
        <p:nvSpPr>
          <p:cNvPr id="4" name="TextBox 3">
            <a:extLst>
              <a:ext uri="{FF2B5EF4-FFF2-40B4-BE49-F238E27FC236}">
                <a16:creationId xmlns:a16="http://schemas.microsoft.com/office/drawing/2014/main" id="{7E629CCF-A9E0-CB28-6B33-88629597C422}"/>
              </a:ext>
            </a:extLst>
          </p:cNvPr>
          <p:cNvSpPr txBox="1"/>
          <p:nvPr/>
        </p:nvSpPr>
        <p:spPr>
          <a:xfrm>
            <a:off x="452291" y="2885851"/>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5" name="표 4">
            <a:extLst>
              <a:ext uri="{FF2B5EF4-FFF2-40B4-BE49-F238E27FC236}">
                <a16:creationId xmlns:a16="http://schemas.microsoft.com/office/drawing/2014/main" id="{FB5D07D1-0B08-23C2-B52D-CACE42A3CDAA}"/>
              </a:ext>
            </a:extLst>
          </p:cNvPr>
          <p:cNvGraphicFramePr>
            <a:graphicFrameLocks noGrp="1"/>
          </p:cNvGraphicFramePr>
          <p:nvPr/>
        </p:nvGraphicFramePr>
        <p:xfrm>
          <a:off x="452292" y="3119961"/>
          <a:ext cx="8996300" cy="157920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신청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scwin.btn_bidPrtcpRegRjctAply_onclick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649935"/>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출력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scwin.btn_print_onclick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신청서 출력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032434"/>
                  </a:ext>
                </a:extLst>
              </a:tr>
              <a:tr h="11517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입찰참가등록반려</a:t>
                      </a:r>
                      <a:r>
                        <a:rPr lang="ko-KR" altLang="en-US" sz="800" dirty="0">
                          <a:latin typeface="+mn-ea"/>
                          <a:ea typeface="+mn-ea"/>
                        </a:rPr>
                        <a:t>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2532704"/>
                  </a:ext>
                </a:extLst>
              </a:tr>
            </a:tbl>
          </a:graphicData>
        </a:graphic>
      </p:graphicFrame>
      <p:sp>
        <p:nvSpPr>
          <p:cNvPr id="2" name="Text Box 73">
            <a:extLst>
              <a:ext uri="{FF2B5EF4-FFF2-40B4-BE49-F238E27FC236}">
                <a16:creationId xmlns:a16="http://schemas.microsoft.com/office/drawing/2014/main" id="{963B2929-6FCD-AD10-AECD-B565B16C47A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9F9F76A9-DCCB-1744-CF12-5F6A3CAE9DAC}"/>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274597146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153</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8. </a:t>
            </a:r>
            <a:r>
              <a:rPr lang="ko-KR" altLang="en-US" dirty="0" smtClean="0"/>
              <a:t>사전심사 신청</a:t>
            </a:r>
            <a:endParaRPr lang="en-US" altLang="ko-KR" dirty="0" smtClean="0"/>
          </a:p>
          <a:p>
            <a:r>
              <a:rPr lang="en-US" altLang="ko-KR" dirty="0" smtClean="0"/>
              <a:t>8.1 </a:t>
            </a:r>
            <a:r>
              <a:rPr lang="ko-KR" altLang="en-US" dirty="0" smtClean="0"/>
              <a:t>화면 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1947700986"/>
              </p:ext>
            </p:extLst>
          </p:nvPr>
        </p:nvGraphicFramePr>
        <p:xfrm>
          <a:off x="635474" y="1413419"/>
          <a:ext cx="8701200" cy="51166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MUI-BD-02-M01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사전심사</a:t>
                      </a:r>
                      <a:r>
                        <a:rPr lang="en-US" altLang="ko-KR" sz="800" kern="1200" dirty="0">
                          <a:solidFill>
                            <a:schemeClr val="tx1"/>
                          </a:solidFill>
                          <a:latin typeface="+mn-lt"/>
                          <a:ea typeface="+mn-ea"/>
                          <a:cs typeface="+mn-cs"/>
                        </a:rPr>
                        <a:t>(PQ)</a:t>
                      </a:r>
                      <a:r>
                        <a:rPr lang="ko-KR" altLang="en-US" sz="800" kern="1200" dirty="0">
                          <a:solidFill>
                            <a:schemeClr val="tx1"/>
                          </a:solidFill>
                          <a:latin typeface="+mn-lt"/>
                          <a:ea typeface="+mn-ea"/>
                          <a:cs typeface="+mn-cs"/>
                        </a:rPr>
                        <a:t>신청</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BfhdSrngAplyPage</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lt"/>
                          <a:ea typeface="+mn-ea"/>
                          <a:cs typeface="+mn-cs"/>
                        </a:rPr>
                        <a:t>조달업체는</a:t>
                      </a:r>
                      <a:r>
                        <a:rPr lang="ko-KR" altLang="en-US" sz="800" kern="1200" dirty="0">
                          <a:solidFill>
                            <a:schemeClr val="tx1"/>
                          </a:solidFill>
                          <a:latin typeface="+mn-lt"/>
                          <a:ea typeface="+mn-ea"/>
                          <a:cs typeface="+mn-cs"/>
                        </a:rPr>
                        <a:t> 필요 서류를 첨부하여 사전심사신청서 제출</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dirty="0" err="1">
                          <a:solidFill>
                            <a:schemeClr val="tx1"/>
                          </a:solidFill>
                          <a:latin typeface="+mn-lt"/>
                          <a:ea typeface="+mn-ea"/>
                        </a:rPr>
                        <a:t>bfhdSrngAply</a:t>
                      </a:r>
                      <a:r>
                        <a:rPr lang="en-US" altLang="ko-KR" sz="800" dirty="0">
                          <a:solidFill>
                            <a:schemeClr val="tx1"/>
                          </a:solidFill>
                          <a:latin typeface="+mn-lt"/>
                          <a:ea typeface="+mn-ea"/>
                        </a:rPr>
                        <a:t>/</a:t>
                      </a:r>
                      <a:r>
                        <a:rPr lang="en-US" altLang="ko-KR" sz="800" dirty="0" err="1">
                          <a:solidFill>
                            <a:schemeClr val="tx1"/>
                          </a:solidFill>
                          <a:latin typeface="+mn-lt"/>
                          <a:ea typeface="+mn-ea"/>
                        </a:rPr>
                        <a:t>BfhdSrngAplyPage.tsx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UC-BD-08-02</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0149215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업무도움</a:t>
            </a:r>
            <a:r>
              <a:rPr lang="ko-KR" altLang="en-US" dirty="0"/>
              <a:t> 내용이 있는 경우 </a:t>
            </a:r>
            <a:r>
              <a:rPr lang="ko-KR" altLang="en-US" dirty="0" smtClean="0"/>
              <a:t>표시</a:t>
            </a:r>
            <a:endParaRPr lang="en-US" altLang="ko-KR" dirty="0"/>
          </a:p>
          <a:p>
            <a:pPr marL="228600" indent="-228600">
              <a:buFont typeface="+mj-lt"/>
              <a:buAutoNum type="arabicPeriod"/>
            </a:pPr>
            <a:r>
              <a:rPr lang="ko-KR" altLang="en-US" dirty="0"/>
              <a:t>공고 일반 내용 </a:t>
            </a:r>
            <a:r>
              <a:rPr lang="ko-KR" altLang="en-US" dirty="0" smtClean="0"/>
              <a:t>표시</a:t>
            </a:r>
            <a:r>
              <a:rPr lang="en-US" altLang="ko-KR" dirty="0" smtClean="0"/>
              <a:t/>
            </a:r>
            <a:br>
              <a:rPr lang="en-US" altLang="ko-KR" dirty="0" smtClean="0"/>
            </a:br>
            <a:r>
              <a:rPr lang="en-US" altLang="ko-KR" dirty="0" smtClean="0"/>
              <a:t>2-1] </a:t>
            </a:r>
            <a:r>
              <a:rPr lang="ko-KR" altLang="en-US" dirty="0" err="1" smtClean="0"/>
              <a:t>공사번호</a:t>
            </a:r>
            <a:r>
              <a:rPr lang="en-US" altLang="ko-KR" dirty="0" smtClean="0"/>
              <a:t>, </a:t>
            </a:r>
            <a:r>
              <a:rPr lang="ko-KR" altLang="en-US" dirty="0" err="1" smtClean="0"/>
              <a:t>조달번호</a:t>
            </a:r>
            <a:r>
              <a:rPr lang="ko-KR" altLang="en-US" dirty="0" smtClean="0"/>
              <a:t> 항목 조회결과</a:t>
            </a:r>
            <a:endParaRPr lang="en-US" altLang="ko-KR" dirty="0"/>
          </a:p>
          <a:p>
            <a:pPr marL="228600" indent="-228600">
              <a:buFont typeface="+mj-lt"/>
              <a:buAutoNum type="arabicPeriod"/>
            </a:pPr>
            <a:r>
              <a:rPr lang="ko-KR" altLang="en-US" dirty="0"/>
              <a:t>업체 내역 표시</a:t>
            </a:r>
            <a:endParaRPr lang="en-US" altLang="ko-KR" dirty="0"/>
          </a:p>
          <a:p>
            <a:pPr marL="228600" indent="-228600">
              <a:buFont typeface="+mj-lt"/>
              <a:buAutoNum type="arabicPeriod"/>
            </a:pPr>
            <a:r>
              <a:rPr lang="ko-KR" altLang="en-US" dirty="0"/>
              <a:t>첨부파일 내역 </a:t>
            </a:r>
            <a:r>
              <a:rPr lang="ko-KR" altLang="en-US" dirty="0" smtClean="0"/>
              <a:t>표시</a:t>
            </a:r>
            <a:r>
              <a:rPr lang="en-US" altLang="ko-KR" dirty="0" smtClean="0"/>
              <a:t/>
            </a:r>
            <a:br>
              <a:rPr lang="en-US" altLang="ko-KR" dirty="0" smtClean="0"/>
            </a:br>
            <a:r>
              <a:rPr lang="en-US" altLang="ko-KR" dirty="0" smtClean="0"/>
              <a:t>-</a:t>
            </a:r>
            <a:r>
              <a:rPr lang="ko-KR" altLang="en-US" dirty="0">
                <a:latin typeface="+mn-ea"/>
              </a:rPr>
              <a:t> 캐비닛 연결</a:t>
            </a:r>
            <a:r>
              <a:rPr lang="en-US" altLang="ko-KR" dirty="0" smtClean="0"/>
              <a:t>(</a:t>
            </a:r>
            <a:r>
              <a:rPr lang="en-US" altLang="ko-KR" dirty="0" smtClean="0">
                <a:solidFill>
                  <a:srgbClr val="000000"/>
                </a:solidFill>
                <a:latin typeface="맑은 고딕" panose="020B0503020000020004" pitchFamily="50" charset="-127"/>
              </a:rPr>
              <a:t>MUI-BD-04-P13)</a:t>
            </a:r>
            <a:endParaRPr lang="en-US" altLang="ko-KR" dirty="0"/>
          </a:p>
          <a:p>
            <a:pPr marL="228600" indent="-228600">
              <a:buFont typeface="+mj-lt"/>
              <a:buAutoNum type="arabicPeriod"/>
            </a:pPr>
            <a:r>
              <a:rPr lang="ko-KR" altLang="en-US" dirty="0"/>
              <a:t>동의서</a:t>
            </a:r>
            <a:r>
              <a:rPr lang="en-US" altLang="ko-KR" dirty="0"/>
              <a:t>, </a:t>
            </a:r>
            <a:r>
              <a:rPr lang="ko-KR" altLang="en-US" dirty="0"/>
              <a:t>확약서 내용 </a:t>
            </a:r>
            <a:r>
              <a:rPr lang="ko-KR" altLang="en-US" dirty="0" smtClean="0"/>
              <a:t>표시</a:t>
            </a:r>
            <a:endParaRPr lang="en-US" altLang="ko-KR" dirty="0"/>
          </a:p>
          <a:p>
            <a:pPr marL="228600" indent="-228600">
              <a:buFont typeface="+mj-lt"/>
              <a:buAutoNum type="arabicPeriod"/>
            </a:pPr>
            <a:r>
              <a:rPr lang="ko-KR" altLang="en-US" dirty="0" smtClean="0"/>
              <a:t>신청하기</a:t>
            </a:r>
            <a:r>
              <a:rPr lang="en-US" altLang="ko-KR" dirty="0" smtClean="0"/>
              <a:t/>
            </a:r>
            <a:br>
              <a:rPr lang="en-US" altLang="ko-KR" dirty="0" smtClean="0"/>
            </a:br>
            <a:r>
              <a:rPr lang="en-US" altLang="ko-KR" dirty="0" smtClean="0"/>
              <a:t> - alert </a:t>
            </a:r>
            <a:r>
              <a:rPr lang="ko-KR" altLang="en-US" dirty="0" smtClean="0"/>
              <a:t>팝업 노출 </a:t>
            </a:r>
            <a:r>
              <a:rPr lang="en-US" altLang="ko-KR" dirty="0" smtClean="0"/>
              <a:t/>
            </a:r>
            <a:br>
              <a:rPr lang="en-US" altLang="ko-KR" dirty="0" smtClean="0"/>
            </a:br>
            <a:r>
              <a:rPr lang="ko-KR" altLang="en-US" dirty="0" smtClean="0"/>
              <a:t>ㄴ</a:t>
            </a:r>
            <a:r>
              <a:rPr lang="ko-KR" altLang="en-US" sz="800" dirty="0">
                <a:latin typeface="+mn-ea"/>
              </a:rPr>
              <a:t> </a:t>
            </a:r>
            <a:r>
              <a:rPr lang="ko-KR" altLang="en-US" dirty="0">
                <a:latin typeface="+mn-ea"/>
              </a:rPr>
              <a:t>해당 정보로 사전심사 </a:t>
            </a:r>
            <a:r>
              <a:rPr lang="ko-KR" altLang="en-US" dirty="0" smtClean="0">
                <a:latin typeface="+mn-ea"/>
              </a:rPr>
              <a:t>신청을 진행하시겠습니까</a:t>
            </a:r>
            <a:r>
              <a:rPr lang="en-US" altLang="ko-KR" dirty="0">
                <a:latin typeface="+mn-ea"/>
              </a:rPr>
              <a:t>? </a:t>
            </a:r>
            <a:r>
              <a:rPr lang="ko-KR" altLang="en-US" dirty="0" smtClean="0"/>
              <a:t>확인</a:t>
            </a:r>
            <a:r>
              <a:rPr lang="en-US" altLang="ko-KR" dirty="0" smtClean="0"/>
              <a:t>,</a:t>
            </a:r>
            <a:r>
              <a:rPr lang="ko-KR" altLang="en-US" dirty="0" smtClean="0"/>
              <a:t>취소</a:t>
            </a:r>
            <a:endParaRPr lang="en-US" altLang="ko-KR" dirty="0" smtClean="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사전심사</a:t>
            </a:r>
            <a:r>
              <a:rPr lang="en-US" altLang="ko-KR" dirty="0"/>
              <a:t>(PQ)</a:t>
            </a:r>
            <a:r>
              <a:rPr lang="ko-KR" altLang="en-US" dirty="0"/>
              <a:t>신청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사전심사 대상인 공고에 사전심사를 신청하는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사전심사</a:t>
            </a:r>
            <a:r>
              <a:rPr lang="en-US" altLang="ko-KR" dirty="0">
                <a:latin typeface="+mn-ea"/>
              </a:rPr>
              <a:t> </a:t>
            </a:r>
            <a:r>
              <a:rPr lang="ko-KR" altLang="en-US" dirty="0">
                <a:latin typeface="+mn-ea"/>
              </a:rPr>
              <a:t>진행</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MUI-BD-02-M01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2691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2360647"/>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23016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2922678"/>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2954023"/>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036009"/>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914953"/>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273775"/>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581260"/>
            <a:ext cx="792000" cy="262269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581260"/>
            <a:ext cx="792000"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smtClean="0">
                <a:latin typeface="+mn-ea"/>
              </a:rPr>
              <a:t>공사번호</a:t>
            </a:r>
            <a:endParaRPr lang="en-US" altLang="ko-KR" sz="700" dirty="0" smtClean="0">
              <a:latin typeface="+mn-ea"/>
            </a:endParaRPr>
          </a:p>
          <a:p>
            <a:pPr>
              <a:lnSpc>
                <a:spcPct val="200000"/>
              </a:lnSpc>
            </a:pPr>
            <a:r>
              <a:rPr lang="ko-KR" altLang="en-US" sz="700" dirty="0" smtClean="0">
                <a:latin typeface="+mn-ea"/>
              </a:rPr>
              <a:t>발주기관</a:t>
            </a:r>
            <a:endParaRPr lang="en-US" altLang="ko-KR" sz="700" dirty="0" smtClean="0">
              <a:latin typeface="+mn-ea"/>
            </a:endParaRPr>
          </a:p>
          <a:p>
            <a:pPr>
              <a:lnSpc>
                <a:spcPct val="200000"/>
              </a:lnSpc>
            </a:pPr>
            <a:r>
              <a:rPr lang="ko-KR" altLang="en-US" sz="700" dirty="0" smtClean="0">
                <a:latin typeface="+mn-ea"/>
              </a:rPr>
              <a:t>통합참조번호</a:t>
            </a:r>
            <a:endParaRPr lang="en-US" altLang="ko-KR" sz="700" dirty="0">
              <a:latin typeface="+mn-ea"/>
            </a:endParaRPr>
          </a:p>
          <a:p>
            <a:pPr>
              <a:lnSpc>
                <a:spcPct val="200000"/>
              </a:lnSpc>
            </a:pPr>
            <a:r>
              <a:rPr lang="ko-KR" altLang="en-US" sz="700" dirty="0" err="1" smtClean="0">
                <a:latin typeface="+mn-ea"/>
              </a:rPr>
              <a:t>공사구분</a:t>
            </a:r>
            <a:endParaRPr lang="en-US" altLang="ko-KR" sz="700" dirty="0" smtClean="0">
              <a:latin typeface="+mn-ea"/>
            </a:endParaRPr>
          </a:p>
          <a:p>
            <a:pPr>
              <a:lnSpc>
                <a:spcPct val="200000"/>
              </a:lnSpc>
            </a:pPr>
            <a:r>
              <a:rPr lang="ko-KR" altLang="en-US" sz="700" dirty="0" smtClean="0">
                <a:latin typeface="+mn-ea"/>
              </a:rPr>
              <a:t>계약방법</a:t>
            </a:r>
            <a:endParaRPr lang="en-US" altLang="ko-KR" sz="700" dirty="0" smtClean="0">
              <a:latin typeface="+mn-ea"/>
            </a:endParaRPr>
          </a:p>
          <a:p>
            <a:pPr>
              <a:lnSpc>
                <a:spcPct val="200000"/>
              </a:lnSpc>
            </a:pPr>
            <a:r>
              <a:rPr lang="ko-KR" altLang="en-US" sz="700" dirty="0" smtClean="0">
                <a:latin typeface="+mn-ea"/>
              </a:rPr>
              <a:t>입찰방법</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사전심사</a:t>
            </a:r>
            <a:endParaRPr lang="en-US" altLang="ko-KR" sz="700" dirty="0" smtClean="0">
              <a:latin typeface="+mn-ea"/>
            </a:endParaRPr>
          </a:p>
          <a:p>
            <a:pPr>
              <a:lnSpc>
                <a:spcPct val="200000"/>
              </a:lnSpc>
            </a:pPr>
            <a:r>
              <a:rPr lang="ko-KR" altLang="en-US" sz="700" dirty="0" smtClean="0">
                <a:latin typeface="+mn-ea"/>
              </a:rPr>
              <a:t>적격심사</a:t>
            </a:r>
            <a:endParaRPr lang="en-US" altLang="ko-KR" sz="700" dirty="0" smtClean="0">
              <a:latin typeface="+mn-ea"/>
            </a:endParaRPr>
          </a:p>
          <a:p>
            <a:pPr>
              <a:lnSpc>
                <a:spcPct val="200000"/>
              </a:lnSpc>
            </a:pPr>
            <a:r>
              <a:rPr lang="ko-KR" altLang="en-US" sz="700" dirty="0" smtClean="0">
                <a:latin typeface="+mn-ea"/>
              </a:rPr>
              <a:t>신청마감일시</a:t>
            </a:r>
            <a:endParaRPr lang="en-US" altLang="ko-KR" sz="700" dirty="0" smtClean="0">
              <a:latin typeface="+mn-ea"/>
            </a:endParaRPr>
          </a:p>
          <a:p>
            <a:pPr>
              <a:lnSpc>
                <a:spcPct val="200000"/>
              </a:lnSpc>
            </a:pPr>
            <a:r>
              <a:rPr lang="ko-KR" altLang="en-US" sz="700" dirty="0" err="1" smtClean="0">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581260"/>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grpSp>
        <p:nvGrpSpPr>
          <p:cNvPr id="166" name="그룹 165"/>
          <p:cNvGrpSpPr/>
          <p:nvPr/>
        </p:nvGrpSpPr>
        <p:grpSpPr>
          <a:xfrm>
            <a:off x="720139" y="3581260"/>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59071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3878080" y="3420082"/>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3" name="모서리가 둥근 직사각형 102"/>
          <p:cNvSpPr/>
          <p:nvPr/>
        </p:nvSpPr>
        <p:spPr>
          <a:xfrm>
            <a:off x="3831550" y="411791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419244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424630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7" name="모서리가 둥근 직사각형 106"/>
          <p:cNvSpPr/>
          <p:nvPr/>
        </p:nvSpPr>
        <p:spPr>
          <a:xfrm>
            <a:off x="3831550" y="452460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TextBox 107">
            <a:extLst>
              <a:ext uri="{FF2B5EF4-FFF2-40B4-BE49-F238E27FC236}">
                <a16:creationId xmlns:a16="http://schemas.microsoft.com/office/drawing/2014/main" id="{FFC49AEA-2A8F-250C-A86A-A7751D9706C3}"/>
              </a:ext>
            </a:extLst>
          </p:cNvPr>
          <p:cNvSpPr txBox="1"/>
          <p:nvPr/>
        </p:nvSpPr>
        <p:spPr>
          <a:xfrm>
            <a:off x="4332218" y="4599126"/>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909746" y="465298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3831550" y="3689671"/>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4332218" y="3982801"/>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70642" y="3982801"/>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3838314" y="3982801"/>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18" name="사각형: 둥근 모서리 15">
            <a:extLst>
              <a:ext uri="{FF2B5EF4-FFF2-40B4-BE49-F238E27FC236}">
                <a16:creationId xmlns:a16="http://schemas.microsoft.com/office/drawing/2014/main" id="{E2B61CFB-AD16-68D0-8752-50D9C5E01971}"/>
              </a:ext>
            </a:extLst>
          </p:cNvPr>
          <p:cNvSpPr/>
          <p:nvPr/>
        </p:nvSpPr>
        <p:spPr>
          <a:xfrm>
            <a:off x="6091063" y="4629406"/>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 name="그룹 2"/>
          <p:cNvGrpSpPr/>
          <p:nvPr/>
        </p:nvGrpSpPr>
        <p:grpSpPr>
          <a:xfrm>
            <a:off x="3844632" y="1537723"/>
            <a:ext cx="2630093" cy="1607125"/>
            <a:chOff x="3844632" y="3774686"/>
            <a:chExt cx="2630093" cy="1607125"/>
          </a:xfrm>
        </p:grpSpPr>
        <p:sp>
          <p:nvSpPr>
            <p:cNvPr id="161" name="TextBox 160">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62" name="직사각형 161"/>
            <p:cNvSpPr/>
            <p:nvPr/>
          </p:nvSpPr>
          <p:spPr>
            <a:xfrm>
              <a:off x="3846725" y="4082172"/>
              <a:ext cx="792000" cy="12907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33789" y="4082171"/>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690637" y="4082171"/>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94" name="사각형: 둥근 모서리 15">
            <a:extLst>
              <a:ext uri="{FF2B5EF4-FFF2-40B4-BE49-F238E27FC236}">
                <a16:creationId xmlns:a16="http://schemas.microsoft.com/office/drawing/2014/main" id="{E2B61CFB-AD16-68D0-8752-50D9C5E01971}"/>
              </a:ext>
            </a:extLst>
          </p:cNvPr>
          <p:cNvSpPr/>
          <p:nvPr/>
        </p:nvSpPr>
        <p:spPr>
          <a:xfrm>
            <a:off x="6091063" y="4212614"/>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16" name="타원 115">
            <a:extLst>
              <a:ext uri="{FF2B5EF4-FFF2-40B4-BE49-F238E27FC236}">
                <a16:creationId xmlns:a16="http://schemas.microsoft.com/office/drawing/2014/main" id="{37A7FF4F-0EAA-1463-560A-D5EC24416103}"/>
              </a:ext>
            </a:extLst>
          </p:cNvPr>
          <p:cNvSpPr/>
          <p:nvPr/>
        </p:nvSpPr>
        <p:spPr>
          <a:xfrm>
            <a:off x="577700" y="29637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1" name="타원 150">
            <a:extLst>
              <a:ext uri="{FF2B5EF4-FFF2-40B4-BE49-F238E27FC236}">
                <a16:creationId xmlns:a16="http://schemas.microsoft.com/office/drawing/2014/main" id="{37A7FF4F-0EAA-1463-560A-D5EC24416103}"/>
              </a:ext>
            </a:extLst>
          </p:cNvPr>
          <p:cNvSpPr/>
          <p:nvPr/>
        </p:nvSpPr>
        <p:spPr>
          <a:xfrm>
            <a:off x="589334" y="331425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3837207" y="50142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3905672" y="5136703"/>
            <a:ext cx="2473940" cy="646331"/>
          </a:xfrm>
          <a:prstGeom prst="rect">
            <a:avLst/>
          </a:prstGeom>
          <a:noFill/>
        </p:spPr>
        <p:txBody>
          <a:bodyPr wrap="square" lIns="0" tIns="0" rIns="0" bIns="0" rtlCol="0">
            <a:spAutoFit/>
          </a:bodyPr>
          <a:lstStyle/>
          <a:p>
            <a:r>
              <a:rPr lang="ko-KR" altLang="en-US" sz="700" dirty="0">
                <a:latin typeface="맑은 고딕" panose="020B0503020000020004" pitchFamily="50" charset="-127"/>
              </a:rPr>
              <a:t>위 공사에 대한 </a:t>
            </a:r>
            <a:r>
              <a:rPr lang="ko-KR" altLang="en-US" sz="700" dirty="0" err="1">
                <a:latin typeface="맑은 고딕" panose="020B0503020000020004" pitchFamily="50" charset="-127"/>
              </a:rPr>
              <a:t>입찰참가자격심사서류를</a:t>
            </a:r>
            <a:r>
              <a:rPr lang="ko-KR" altLang="en-US" sz="700" dirty="0">
                <a:latin typeface="맑은 고딕" panose="020B0503020000020004" pitchFamily="50" charset="-127"/>
              </a:rPr>
              <a:t> 붙임과 같이 </a:t>
            </a:r>
            <a:r>
              <a:rPr lang="ko-KR" altLang="en-US" sz="700" dirty="0" err="1">
                <a:latin typeface="맑은 고딕" panose="020B0503020000020004" pitchFamily="50" charset="-127"/>
              </a:rPr>
              <a:t>제출하오니</a:t>
            </a:r>
            <a:r>
              <a:rPr lang="ko-KR" altLang="en-US" sz="700" dirty="0">
                <a:latin typeface="맑은 고딕" panose="020B0503020000020004" pitchFamily="50" charset="-127"/>
              </a:rPr>
              <a:t> 우리회사</a:t>
            </a:r>
            <a:r>
              <a:rPr lang="en-US" altLang="ko-KR" sz="700" dirty="0">
                <a:latin typeface="맑은 고딕" panose="020B0503020000020004" pitchFamily="50" charset="-127"/>
              </a:rPr>
              <a:t>(</a:t>
            </a:r>
            <a:r>
              <a:rPr lang="ko-KR" altLang="en-US" sz="700" dirty="0">
                <a:latin typeface="맑은 고딕" panose="020B0503020000020004" pitchFamily="50" charset="-127"/>
              </a:rPr>
              <a:t>공동수급체구성원 포함</a:t>
            </a:r>
            <a:r>
              <a:rPr lang="en-US" altLang="ko-KR" sz="700" dirty="0">
                <a:latin typeface="맑은 고딕" panose="020B0503020000020004" pitchFamily="50" charset="-127"/>
              </a:rPr>
              <a:t>)</a:t>
            </a:r>
            <a:r>
              <a:rPr lang="ko-KR" altLang="en-US" sz="700" dirty="0">
                <a:latin typeface="맑은 고딕" panose="020B0503020000020004" pitchFamily="50" charset="-127"/>
              </a:rPr>
              <a:t>에 대하여 붙임 자료에 의거 입찰참가자격을 심사</a:t>
            </a:r>
            <a:r>
              <a:rPr lang="en-US" altLang="ko-KR" sz="700" dirty="0">
                <a:latin typeface="맑은 고딕" panose="020B0503020000020004" pitchFamily="50" charset="-127"/>
              </a:rPr>
              <a:t>(</a:t>
            </a:r>
            <a:r>
              <a:rPr lang="ko-KR" altLang="en-US" sz="700" dirty="0">
                <a:latin typeface="맑은 고딕" panose="020B0503020000020004" pitchFamily="50" charset="-127"/>
              </a:rPr>
              <a:t>향후 적격심사 포함</a:t>
            </a:r>
            <a:r>
              <a:rPr lang="en-US" altLang="ko-KR" sz="700" dirty="0">
                <a:latin typeface="맑은 고딕" panose="020B0503020000020004" pitchFamily="50" charset="-127"/>
              </a:rPr>
              <a:t>)</a:t>
            </a:r>
            <a:r>
              <a:rPr lang="ko-KR" altLang="en-US" sz="700" dirty="0">
                <a:latin typeface="맑은 고딕" panose="020B0503020000020004" pitchFamily="50" charset="-127"/>
              </a:rPr>
              <a:t>하여 주시기 바라며</a:t>
            </a:r>
            <a:r>
              <a:rPr lang="en-US" altLang="ko-KR" sz="700" dirty="0">
                <a:latin typeface="맑은 고딕" panose="020B0503020000020004" pitchFamily="50" charset="-127"/>
              </a:rPr>
              <a:t>, </a:t>
            </a:r>
            <a:r>
              <a:rPr lang="ko-KR" altLang="en-US" sz="700" dirty="0">
                <a:latin typeface="맑은 고딕" panose="020B0503020000020004" pitchFamily="50" charset="-127"/>
              </a:rPr>
              <a:t>만일 제출 서류가 귀 부대 심사기준 제</a:t>
            </a:r>
            <a:r>
              <a:rPr lang="en-US" altLang="ko-KR" sz="700" dirty="0">
                <a:latin typeface="맑은 고딕" panose="020B0503020000020004" pitchFamily="50" charset="-127"/>
              </a:rPr>
              <a:t>10</a:t>
            </a:r>
            <a:r>
              <a:rPr lang="ko-KR" altLang="en-US" sz="700" dirty="0">
                <a:latin typeface="맑은 고딕" panose="020B0503020000020004" pitchFamily="50" charset="-127"/>
              </a:rPr>
              <a:t>조 제</a:t>
            </a:r>
            <a:r>
              <a:rPr lang="en-US" altLang="ko-KR" sz="700" dirty="0">
                <a:latin typeface="맑은 고딕" panose="020B0503020000020004" pitchFamily="50" charset="-127"/>
              </a:rPr>
              <a:t>2</a:t>
            </a:r>
            <a:r>
              <a:rPr lang="ko-KR" altLang="en-US" sz="700" dirty="0">
                <a:latin typeface="맑은 고딕" panose="020B0503020000020004" pitchFamily="50" charset="-127"/>
              </a:rPr>
              <a:t>항의 기준에 저촉되면 귀 부대 심사기준에 따라 조치하여도 아무런 이의를 제기하지 않겠음을 확약합니다</a:t>
            </a:r>
            <a:r>
              <a:rPr lang="en-US" altLang="ko-KR" sz="700" dirty="0">
                <a:latin typeface="맑은 고딕" panose="020B0503020000020004" pitchFamily="50" charset="-127"/>
              </a:rPr>
              <a:t>.</a:t>
            </a:r>
            <a:endParaRPr lang="ko-KR" altLang="en-US" sz="700" dirty="0">
              <a:latin typeface="+mn-ea"/>
            </a:endParaRPr>
          </a:p>
        </p:txBody>
      </p:sp>
      <p:sp>
        <p:nvSpPr>
          <p:cNvPr id="144" name="타원 143">
            <a:extLst>
              <a:ext uri="{FF2B5EF4-FFF2-40B4-BE49-F238E27FC236}">
                <a16:creationId xmlns:a16="http://schemas.microsoft.com/office/drawing/2014/main" id="{37A7FF4F-0EAA-1463-560A-D5EC24416103}"/>
              </a:ext>
            </a:extLst>
          </p:cNvPr>
          <p:cNvSpPr/>
          <p:nvPr/>
        </p:nvSpPr>
        <p:spPr>
          <a:xfrm>
            <a:off x="3711091" y="156639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45" name="타원 144">
            <a:extLst>
              <a:ext uri="{FF2B5EF4-FFF2-40B4-BE49-F238E27FC236}">
                <a16:creationId xmlns:a16="http://schemas.microsoft.com/office/drawing/2014/main" id="{37A7FF4F-0EAA-1463-560A-D5EC24416103}"/>
              </a:ext>
            </a:extLst>
          </p:cNvPr>
          <p:cNvSpPr/>
          <p:nvPr/>
        </p:nvSpPr>
        <p:spPr>
          <a:xfrm>
            <a:off x="3711091" y="346556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47" name="타원 146">
            <a:extLst>
              <a:ext uri="{FF2B5EF4-FFF2-40B4-BE49-F238E27FC236}">
                <a16:creationId xmlns:a16="http://schemas.microsoft.com/office/drawing/2014/main" id="{37A7FF4F-0EAA-1463-560A-D5EC24416103}"/>
              </a:ext>
            </a:extLst>
          </p:cNvPr>
          <p:cNvSpPr/>
          <p:nvPr/>
        </p:nvSpPr>
        <p:spPr>
          <a:xfrm>
            <a:off x="3711091" y="50351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cxnSp>
        <p:nvCxnSpPr>
          <p:cNvPr id="86" name="직선 연결선 85">
            <a:extLst>
              <a:ext uri="{FF2B5EF4-FFF2-40B4-BE49-F238E27FC236}">
                <a16:creationId xmlns:a16="http://schemas.microsoft.com/office/drawing/2014/main" id="{E9293055-D5CD-4B9E-7F64-64B2D2CA7A52}"/>
              </a:ext>
            </a:extLst>
          </p:cNvPr>
          <p:cNvCxnSpPr/>
          <p:nvPr/>
        </p:nvCxnSpPr>
        <p:spPr>
          <a:xfrm>
            <a:off x="3795734" y="32463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0" name="그룹 89"/>
          <p:cNvGrpSpPr/>
          <p:nvPr/>
        </p:nvGrpSpPr>
        <p:grpSpPr>
          <a:xfrm>
            <a:off x="8223250" y="569392"/>
            <a:ext cx="3365500" cy="219465"/>
            <a:chOff x="8223250" y="569392"/>
            <a:chExt cx="3365500" cy="219465"/>
          </a:xfrm>
        </p:grpSpPr>
        <p:sp>
          <p:nvSpPr>
            <p:cNvPr id="95" name="직사각형 9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96" name="직사각형 95"/>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en-US" altLang="ko-KR" sz="700" dirty="0" smtClean="0"/>
            </a:p>
          </p:txBody>
        </p:sp>
      </p:grpSp>
      <p:grpSp>
        <p:nvGrpSpPr>
          <p:cNvPr id="97" name="그룹 96"/>
          <p:cNvGrpSpPr/>
          <p:nvPr/>
        </p:nvGrpSpPr>
        <p:grpSpPr>
          <a:xfrm>
            <a:off x="677960" y="1582647"/>
            <a:ext cx="2714637" cy="686386"/>
            <a:chOff x="677960" y="1582647"/>
            <a:chExt cx="2714637" cy="686386"/>
          </a:xfrm>
        </p:grpSpPr>
        <p:sp>
          <p:nvSpPr>
            <p:cNvPr id="98" name="TextBox 97">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사전심사 신청</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rot="5400000">
              <a:off x="852159" y="2062596"/>
              <a:ext cx="94010" cy="47005"/>
              <a:chOff x="6812560" y="3297172"/>
              <a:chExt cx="94010" cy="47005"/>
            </a:xfrm>
          </p:grpSpPr>
          <p:cxnSp>
            <p:nvCxnSpPr>
              <p:cNvPr id="134" name="직선 연결선 1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8" name="직선 연결선 1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6" name="그룹 105"/>
            <p:cNvGrpSpPr/>
            <p:nvPr/>
          </p:nvGrpSpPr>
          <p:grpSpPr>
            <a:xfrm>
              <a:off x="677960" y="1582647"/>
              <a:ext cx="2712027" cy="324286"/>
              <a:chOff x="677960" y="1582647"/>
              <a:chExt cx="2712027" cy="324286"/>
            </a:xfrm>
          </p:grpSpPr>
          <p:pic>
            <p:nvPicPr>
              <p:cNvPr id="110"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12" name="직선 연결선 111">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타원 12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1" name="타원 130"/>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타원 132"/>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02" name="타원 101">
            <a:extLst>
              <a:ext uri="{FF2B5EF4-FFF2-40B4-BE49-F238E27FC236}">
                <a16:creationId xmlns:a16="http://schemas.microsoft.com/office/drawing/2014/main" id="{37A7FF4F-0EAA-1463-560A-D5EC24416103}"/>
              </a:ext>
            </a:extLst>
          </p:cNvPr>
          <p:cNvSpPr/>
          <p:nvPr/>
        </p:nvSpPr>
        <p:spPr>
          <a:xfrm>
            <a:off x="703532" y="382854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2-1</a:t>
            </a:r>
            <a:endParaRPr lang="ko-KR" altLang="en-US" sz="600" b="1" dirty="0"/>
          </a:p>
        </p:txBody>
      </p:sp>
      <p:sp>
        <p:nvSpPr>
          <p:cNvPr id="113" name="타원 112">
            <a:extLst>
              <a:ext uri="{FF2B5EF4-FFF2-40B4-BE49-F238E27FC236}">
                <a16:creationId xmlns:a16="http://schemas.microsoft.com/office/drawing/2014/main" id="{37A7FF4F-0EAA-1463-560A-D5EC24416103}"/>
              </a:ext>
            </a:extLst>
          </p:cNvPr>
          <p:cNvSpPr/>
          <p:nvPr/>
        </p:nvSpPr>
        <p:spPr>
          <a:xfrm>
            <a:off x="4515763" y="60011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grpSp>
        <p:nvGrpSpPr>
          <p:cNvPr id="6" name="그룹 5"/>
          <p:cNvGrpSpPr/>
          <p:nvPr/>
        </p:nvGrpSpPr>
        <p:grpSpPr>
          <a:xfrm>
            <a:off x="7114860" y="4381042"/>
            <a:ext cx="2275404" cy="1308122"/>
            <a:chOff x="7103286" y="3200775"/>
            <a:chExt cx="2579992" cy="1483229"/>
          </a:xfrm>
        </p:grpSpPr>
        <p:sp>
          <p:nvSpPr>
            <p:cNvPr id="123" name="모서리가 둥근 직사각형 122"/>
            <p:cNvSpPr/>
            <p:nvPr/>
          </p:nvSpPr>
          <p:spPr>
            <a:xfrm>
              <a:off x="7103286" y="3200775"/>
              <a:ext cx="2579992" cy="1483229"/>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사각형: 둥근 모서리 14">
              <a:extLst>
                <a:ext uri="{FF2B5EF4-FFF2-40B4-BE49-F238E27FC236}">
                  <a16:creationId xmlns:a16="http://schemas.microsoft.com/office/drawing/2014/main" id="{CB17FF57-D096-6A31-10F0-093EB170D38C}"/>
                </a:ext>
              </a:extLst>
            </p:cNvPr>
            <p:cNvSpPr/>
            <p:nvPr/>
          </p:nvSpPr>
          <p:spPr>
            <a:xfrm>
              <a:off x="8446124" y="4149150"/>
              <a:ext cx="1080000" cy="317083"/>
            </a:xfrm>
            <a:prstGeom prst="roundRect">
              <a:avLst/>
            </a:prstGeom>
            <a:solidFill>
              <a:srgbClr val="0070C0"/>
            </a:solidFill>
            <a:ln w="12700" cap="flat" cmpd="sng" algn="ctr">
              <a:noFill/>
              <a:prstDash val="solid"/>
            </a:ln>
            <a:effectLst/>
          </p:spPr>
          <p:txBody>
            <a:bodyPr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prstClr val="white"/>
                  </a:solidFill>
                  <a:latin typeface="맑은 고딕"/>
                </a:rPr>
                <a:t>확인</a:t>
              </a:r>
              <a:endParaRPr kumimoji="1" lang="en-US" sz="1000" b="0" i="0" u="none" strike="noStrike" kern="0" cap="none" spc="0" normalizeH="0" baseline="0" noProof="0" dirty="0">
                <a:ln>
                  <a:noFill/>
                </a:ln>
                <a:solidFill>
                  <a:prstClr val="white"/>
                </a:solidFill>
                <a:effectLst/>
                <a:uLnTx/>
                <a:uFillTx/>
                <a:latin typeface="맑은 고딕"/>
                <a:ea typeface="+mn-ea"/>
                <a:cs typeface="+mn-cs"/>
              </a:endParaRPr>
            </a:p>
          </p:txBody>
        </p:sp>
        <p:sp>
          <p:nvSpPr>
            <p:cNvPr id="148" name="사각형: 둥근 모서리 15">
              <a:extLst>
                <a:ext uri="{FF2B5EF4-FFF2-40B4-BE49-F238E27FC236}">
                  <a16:creationId xmlns:a16="http://schemas.microsoft.com/office/drawing/2014/main" id="{E2B61CFB-AD16-68D0-8752-50D9C5E01971}"/>
                </a:ext>
              </a:extLst>
            </p:cNvPr>
            <p:cNvSpPr/>
            <p:nvPr/>
          </p:nvSpPr>
          <p:spPr>
            <a:xfrm>
              <a:off x="7220980" y="4149150"/>
              <a:ext cx="1080000"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취소</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7220980" y="3347504"/>
              <a:ext cx="2305144" cy="138499"/>
            </a:xfrm>
            <a:prstGeom prst="rect">
              <a:avLst/>
            </a:prstGeom>
            <a:noFill/>
          </p:spPr>
          <p:txBody>
            <a:bodyPr wrap="square" lIns="0" tIns="0" rIns="0" bIns="0" rtlCol="0">
              <a:spAutoFit/>
            </a:bodyPr>
            <a:lstStyle/>
            <a:p>
              <a:r>
                <a:rPr lang="ko-KR" altLang="en-US" sz="900" b="1" dirty="0" err="1" smtClean="0">
                  <a:latin typeface="+mn-ea"/>
                </a:rPr>
                <a:t>제출확인</a:t>
              </a:r>
              <a:endParaRPr lang="ko-KR" altLang="en-US" sz="900" b="1"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7240710" y="3580013"/>
              <a:ext cx="2305144" cy="122142"/>
            </a:xfrm>
            <a:prstGeom prst="rect">
              <a:avLst/>
            </a:prstGeom>
            <a:noFill/>
          </p:spPr>
          <p:txBody>
            <a:bodyPr wrap="square" lIns="0" tIns="0" rIns="0" bIns="0" rtlCol="0">
              <a:spAutoFit/>
            </a:bodyPr>
            <a:lstStyle/>
            <a:p>
              <a:r>
                <a:rPr lang="ko-KR" altLang="en-US" sz="700" dirty="0" smtClean="0">
                  <a:latin typeface="+mn-ea"/>
                </a:rPr>
                <a:t>해당 정보로 사전심사 신청을</a:t>
              </a:r>
              <a:r>
                <a:rPr lang="en-US" altLang="ko-KR" sz="700" dirty="0">
                  <a:latin typeface="+mn-ea"/>
                </a:rPr>
                <a:t> </a:t>
              </a:r>
              <a:r>
                <a:rPr lang="ko-KR" altLang="en-US" sz="700" dirty="0" smtClean="0">
                  <a:latin typeface="+mn-ea"/>
                </a:rPr>
                <a:t>진행하시겠습니까</a:t>
              </a:r>
              <a:r>
                <a:rPr lang="en-US" altLang="ko-KR" sz="700" dirty="0" smtClean="0">
                  <a:latin typeface="+mn-ea"/>
                </a:rPr>
                <a:t>?</a:t>
              </a:r>
              <a:endParaRPr lang="ko-KR" altLang="en-US" sz="700" dirty="0">
                <a:latin typeface="+mn-ea"/>
              </a:endParaRPr>
            </a:p>
          </p:txBody>
        </p:sp>
      </p:grpSp>
      <p:sp>
        <p:nvSpPr>
          <p:cNvPr id="155" name="직사각형 154"/>
          <p:cNvSpPr/>
          <p:nvPr/>
        </p:nvSpPr>
        <p:spPr>
          <a:xfrm>
            <a:off x="8223250" y="7854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a:t>
            </a:r>
            <a:r>
              <a:rPr lang="ko-KR" altLang="en-US" dirty="0"/>
              <a:t>수정</a:t>
            </a:r>
          </a:p>
        </p:txBody>
      </p:sp>
      <p:sp>
        <p:nvSpPr>
          <p:cNvPr id="158" name="직사각형 157"/>
          <p:cNvSpPr/>
          <p:nvPr/>
        </p:nvSpPr>
        <p:spPr>
          <a:xfrm>
            <a:off x="9906000" y="7854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신청하기 </a:t>
            </a:r>
            <a:r>
              <a:rPr lang="ko-KR" altLang="en-US" sz="700" dirty="0" err="1" smtClean="0"/>
              <a:t>팝업추가</a:t>
            </a:r>
            <a:endParaRPr lang="en-US" altLang="ko-KR" sz="700" dirty="0" smtClean="0"/>
          </a:p>
        </p:txBody>
      </p:sp>
      <p:sp>
        <p:nvSpPr>
          <p:cNvPr id="119" name="타원 118">
            <a:extLst>
              <a:ext uri="{FF2B5EF4-FFF2-40B4-BE49-F238E27FC236}">
                <a16:creationId xmlns:a16="http://schemas.microsoft.com/office/drawing/2014/main" id="{37A7FF4F-0EAA-1463-560A-D5EC24416103}"/>
              </a:ext>
            </a:extLst>
          </p:cNvPr>
          <p:cNvSpPr/>
          <p:nvPr/>
        </p:nvSpPr>
        <p:spPr>
          <a:xfrm>
            <a:off x="7079818" y="43175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spTree>
    <p:extLst>
      <p:ext uri="{BB962C8B-B14F-4D97-AF65-F5344CB8AC3E}">
        <p14:creationId xmlns:p14="http://schemas.microsoft.com/office/powerpoint/2010/main" val="369698323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공사내역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555322"/>
            <a:ext cx="2501253"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발주기관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공사구분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cstrnSenm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981706"/>
                  </a:ext>
                </a:extLst>
              </a:tr>
              <a:tr h="0">
                <a:tc>
                  <a:txBody>
                    <a:bodyPr/>
                    <a:lstStyle/>
                    <a:p>
                      <a:pPr latinLnBrk="1"/>
                      <a:r>
                        <a:rPr lang="ko-KR" altLang="en-US" sz="800" dirty="0">
                          <a:latin typeface="+mn-ea"/>
                          <a:ea typeface="+mn-ea"/>
                        </a:rPr>
                        <a:t>사전심사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bfhdSrngEnfrcYn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대상</a:t>
                      </a:r>
                      <a:r>
                        <a:rPr lang="en-US" altLang="ko-KR" sz="800" dirty="0">
                          <a:latin typeface="+mn-ea"/>
                          <a:ea typeface="+mn-ea"/>
                        </a:rPr>
                        <a:t>/</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bfhdSrngAplyDdlnDt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사전심사신청마감일시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767813"/>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1D5B5A78-FE0E-8E59-A09D-B6F1C8A1678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A228B1F2-BAB0-1838-0B64-9AD1B2EB135E}"/>
              </a:ext>
            </a:extLst>
          </p:cNvPr>
          <p:cNvSpPr txBox="1"/>
          <p:nvPr/>
        </p:nvSpPr>
        <p:spPr>
          <a:xfrm>
            <a:off x="453831" y="5375164"/>
            <a:ext cx="236179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첨부파일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dlt_atchFileList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1C379D2-0A15-975F-1540-33D05BFDB741}"/>
              </a:ext>
            </a:extLst>
          </p:cNvPr>
          <p:cNvGraphicFramePr>
            <a:graphicFrameLocks noGrp="1"/>
          </p:cNvGraphicFramePr>
          <p:nvPr/>
        </p:nvGraphicFramePr>
        <p:xfrm>
          <a:off x="453000" y="5587655"/>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 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7" name="TextBox 6">
            <a:extLst>
              <a:ext uri="{FF2B5EF4-FFF2-40B4-BE49-F238E27FC236}">
                <a16:creationId xmlns:a16="http://schemas.microsoft.com/office/drawing/2014/main" id="{6F4353C2-F64F-6E1C-0936-80B45A6E8C76}"/>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10498812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156</a:t>
            </a:fld>
            <a:endParaRPr lang="ko-KR" altLang="en-US" dirty="0"/>
          </a:p>
        </p:txBody>
      </p:sp>
      <p:sp>
        <p:nvSpPr>
          <p:cNvPr id="6" name="TextBox 5">
            <a:extLst>
              <a:ext uri="{FF2B5EF4-FFF2-40B4-BE49-F238E27FC236}">
                <a16:creationId xmlns:a16="http://schemas.microsoft.com/office/drawing/2014/main" id="{5C58389F-61E2-5619-D9C6-D58513D49583}"/>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D7BFA1AA-8CA0-706E-80C6-61EAE92193D8}"/>
              </a:ext>
            </a:extLst>
          </p:cNvPr>
          <p:cNvGraphicFramePr>
            <a:graphicFrameLocks noGrp="1"/>
          </p:cNvGraphicFramePr>
          <p:nvPr>
            <p:extLst>
              <p:ext uri="{D42A27DB-BD31-4B8C-83A1-F6EECF244321}">
                <p14:modId xmlns:p14="http://schemas.microsoft.com/office/powerpoint/2010/main" val="509334996"/>
              </p:ext>
            </p:extLst>
          </p:nvPr>
        </p:nvGraphicFramePr>
        <p:xfrm>
          <a:off x="453000" y="1039042"/>
          <a:ext cx="8995591" cy="11414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공사내역</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a:latin typeface="+mn-ea"/>
                          <a:ea typeface="+mn-ea"/>
                        </a:rPr>
                        <a:t>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사전심사신청서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신청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scwin.btn_bfhdSrngAply_onclick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사전심사신청서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984890"/>
                  </a:ext>
                </a:extLst>
              </a:tr>
              <a:tr h="0">
                <a:tc>
                  <a:txBody>
                    <a:bodyPr/>
                    <a:lstStyle/>
                    <a:p>
                      <a:r>
                        <a:rPr lang="ko-KR" altLang="en-US" sz="800" dirty="0" smtClean="0"/>
                        <a:t>취소 </a:t>
                      </a:r>
                      <a:r>
                        <a:rPr lang="ko-KR" altLang="en-US" sz="800" dirty="0"/>
                        <a:t>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사전심사신청서 </a:t>
                      </a:r>
                      <a:r>
                        <a:rPr lang="ko-KR" altLang="en-US" sz="800" dirty="0" smtClean="0">
                          <a:latin typeface="+mn-ea"/>
                          <a:ea typeface="+mn-ea"/>
                        </a:rPr>
                        <a:t>화면 </a:t>
                      </a:r>
                      <a:r>
                        <a:rPr lang="ko-KR" altLang="en-US" sz="800" dirty="0">
                          <a:latin typeface="+mn-ea"/>
                          <a:ea typeface="+mn-ea"/>
                        </a:rPr>
                        <a:t>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Box 73">
            <a:extLst>
              <a:ext uri="{FF2B5EF4-FFF2-40B4-BE49-F238E27FC236}">
                <a16:creationId xmlns:a16="http://schemas.microsoft.com/office/drawing/2014/main" id="{9A2CE3B3-3D64-3D30-84A2-65970639BD3D}"/>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5793668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파일첨부</a:t>
            </a:r>
            <a:r>
              <a:rPr lang="en-US" altLang="ko-KR" dirty="0"/>
              <a:t>(</a:t>
            </a:r>
            <a:r>
              <a:rPr lang="ko-KR" altLang="en-US" dirty="0"/>
              <a:t>추가</a:t>
            </a:r>
            <a:r>
              <a:rPr lang="en-US" altLang="ko-KR" dirty="0"/>
              <a:t>) </a:t>
            </a:r>
            <a:r>
              <a:rPr lang="ko-KR" altLang="en-US" dirty="0"/>
              <a:t>방식 </a:t>
            </a:r>
            <a:r>
              <a:rPr lang="ko-KR" altLang="en-US" dirty="0" smtClean="0"/>
              <a:t>선택</a:t>
            </a:r>
            <a:r>
              <a:rPr lang="en-US" altLang="ko-KR" dirty="0" smtClean="0"/>
              <a:t/>
            </a:r>
            <a:br>
              <a:rPr lang="en-US" altLang="ko-KR" dirty="0" smtClean="0"/>
            </a:br>
            <a:r>
              <a:rPr lang="en-US" altLang="ko-KR" dirty="0" smtClean="0"/>
              <a:t>1-1] </a:t>
            </a:r>
            <a:r>
              <a:rPr lang="ko-KR" altLang="en-US" dirty="0" err="1" smtClean="0"/>
              <a:t>직접업로드</a:t>
            </a:r>
            <a:r>
              <a:rPr lang="en-US" altLang="ko-KR" dirty="0" smtClean="0"/>
              <a:t/>
            </a:r>
            <a:br>
              <a:rPr lang="en-US" altLang="ko-KR" dirty="0" smtClean="0"/>
            </a:br>
            <a:r>
              <a:rPr lang="en-US" altLang="ko-KR" dirty="0" smtClean="0"/>
              <a:t>- </a:t>
            </a:r>
            <a:r>
              <a:rPr lang="ko-KR" altLang="en-US" dirty="0" smtClean="0"/>
              <a:t>시스템 파일 </a:t>
            </a:r>
            <a:r>
              <a:rPr lang="ko-KR" altLang="en-US" dirty="0" err="1" smtClean="0"/>
              <a:t>선택기</a:t>
            </a:r>
            <a:r>
              <a:rPr lang="ko-KR" altLang="en-US" dirty="0" smtClean="0"/>
              <a:t> 호출</a:t>
            </a:r>
            <a:r>
              <a:rPr lang="en-US" altLang="ko-KR" dirty="0" smtClean="0"/>
              <a:t/>
            </a:r>
            <a:br>
              <a:rPr lang="en-US" altLang="ko-KR" dirty="0" smtClean="0"/>
            </a:br>
            <a:r>
              <a:rPr lang="en-US" altLang="ko-KR" dirty="0" smtClean="0"/>
              <a:t>- </a:t>
            </a:r>
            <a:r>
              <a:rPr lang="ko-KR" altLang="en-US" dirty="0" smtClean="0"/>
              <a:t>사용자 단말기에 저장된 파일을 선택하여 업로드 </a:t>
            </a:r>
            <a:r>
              <a:rPr lang="en-US" altLang="ko-KR" dirty="0" smtClean="0">
                <a:solidFill>
                  <a:schemeClr val="bg1">
                    <a:lumMod val="75000"/>
                  </a:schemeClr>
                </a:solidFill>
              </a:rPr>
              <a:t>(</a:t>
            </a:r>
            <a:r>
              <a:rPr lang="ko-KR" altLang="en-US" dirty="0" smtClean="0">
                <a:solidFill>
                  <a:schemeClr val="bg1">
                    <a:lumMod val="75000"/>
                  </a:schemeClr>
                </a:solidFill>
              </a:rPr>
              <a:t>현재 정확한정보없음</a:t>
            </a:r>
            <a:r>
              <a:rPr lang="en-US" altLang="ko-KR" dirty="0" smtClean="0">
                <a:solidFill>
                  <a:schemeClr val="bg1">
                    <a:lumMod val="75000"/>
                  </a:schemeClr>
                </a:solidFill>
              </a:rPr>
              <a:t>)</a:t>
            </a:r>
            <a:r>
              <a:rPr lang="en-US" altLang="ko-KR" dirty="0" smtClean="0"/>
              <a:t/>
            </a:r>
            <a:br>
              <a:rPr lang="en-US" altLang="ko-KR" dirty="0" smtClean="0"/>
            </a:br>
            <a:r>
              <a:rPr lang="en-US" altLang="ko-KR" dirty="0" smtClean="0">
                <a:solidFill>
                  <a:schemeClr val="bg1">
                    <a:lumMod val="75000"/>
                  </a:schemeClr>
                </a:solidFill>
              </a:rPr>
              <a:t>- </a:t>
            </a:r>
            <a:r>
              <a:rPr lang="ko-KR" altLang="en-US" dirty="0" smtClean="0">
                <a:solidFill>
                  <a:schemeClr val="bg1">
                    <a:lumMod val="75000"/>
                  </a:schemeClr>
                </a:solidFill>
              </a:rPr>
              <a:t>가능한 </a:t>
            </a:r>
            <a:r>
              <a:rPr lang="ko-KR" altLang="en-US" dirty="0" err="1" smtClean="0">
                <a:solidFill>
                  <a:schemeClr val="bg1">
                    <a:lumMod val="75000"/>
                  </a:schemeClr>
                </a:solidFill>
              </a:rPr>
              <a:t>확장자</a:t>
            </a:r>
            <a:r>
              <a:rPr lang="ko-KR" altLang="en-US" dirty="0" smtClean="0">
                <a:solidFill>
                  <a:schemeClr val="bg1">
                    <a:lumMod val="75000"/>
                  </a:schemeClr>
                </a:solidFill>
              </a:rPr>
              <a:t>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a:t>
            </a:r>
            <a:r>
              <a:rPr lang="ko-KR" altLang="en-US" dirty="0" err="1" smtClean="0">
                <a:solidFill>
                  <a:schemeClr val="bg1">
                    <a:lumMod val="75000"/>
                  </a:schemeClr>
                </a:solidFill>
              </a:rPr>
              <a:t>파일크기</a:t>
            </a:r>
            <a:r>
              <a:rPr lang="ko-KR" altLang="en-US" dirty="0" smtClean="0">
                <a:solidFill>
                  <a:schemeClr val="bg1">
                    <a:lumMod val="75000"/>
                  </a:schemeClr>
                </a:solidFill>
              </a:rPr>
              <a:t> </a:t>
            </a:r>
            <a:r>
              <a:rPr lang="en-US" altLang="ko-KR" dirty="0" smtClean="0">
                <a:solidFill>
                  <a:schemeClr val="bg1">
                    <a:lumMod val="75000"/>
                  </a:schemeClr>
                </a:solidFill>
              </a:rPr>
              <a:t>: 2G</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첨부 개수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err="1" smtClean="0">
                <a:solidFill>
                  <a:schemeClr val="bg1">
                    <a:lumMod val="75000"/>
                  </a:schemeClr>
                </a:solidFill>
              </a:rPr>
              <a:t>중복파일</a:t>
            </a:r>
            <a:r>
              <a:rPr lang="ko-KR" altLang="en-US" dirty="0" smtClean="0">
                <a:solidFill>
                  <a:schemeClr val="bg1">
                    <a:lumMod val="75000"/>
                  </a:schemeClr>
                </a:solidFill>
              </a:rPr>
              <a:t> 처리여부 </a:t>
            </a:r>
            <a:r>
              <a:rPr lang="en-US" altLang="ko-KR" dirty="0" smtClean="0">
                <a:solidFill>
                  <a:schemeClr val="bg1">
                    <a:lumMod val="75000"/>
                  </a:schemeClr>
                </a:solidFill>
              </a:rPr>
              <a:t>: ? </a:t>
            </a:r>
            <a:r>
              <a:rPr lang="en-US" altLang="ko-KR" dirty="0" smtClean="0"/>
              <a:t/>
            </a:r>
            <a:br>
              <a:rPr lang="en-US" altLang="ko-KR" dirty="0" smtClean="0"/>
            </a:br>
            <a:r>
              <a:rPr lang="en-US" altLang="ko-KR" dirty="0" smtClean="0"/>
              <a:t>- </a:t>
            </a:r>
            <a:r>
              <a:rPr lang="ko-KR" altLang="en-US" dirty="0" smtClean="0"/>
              <a:t>파일 </a:t>
            </a:r>
            <a:r>
              <a:rPr lang="ko-KR" altLang="en-US" dirty="0" err="1" smtClean="0"/>
              <a:t>취소한경우</a:t>
            </a:r>
            <a:r>
              <a:rPr lang="ko-KR" altLang="en-US" dirty="0" smtClean="0"/>
              <a:t> </a:t>
            </a:r>
            <a:r>
              <a:rPr lang="ko-KR" altLang="en-US" dirty="0" err="1" smtClean="0"/>
              <a:t>이전화면</a:t>
            </a:r>
            <a:r>
              <a:rPr lang="ko-KR" altLang="en-US" dirty="0" smtClean="0"/>
              <a:t> 유지</a:t>
            </a:r>
            <a:r>
              <a:rPr lang="en-US" altLang="ko-KR" dirty="0" smtClean="0"/>
              <a:t/>
            </a:r>
            <a:br>
              <a:rPr lang="en-US" altLang="ko-KR" dirty="0" smtClean="0"/>
            </a:br>
            <a:r>
              <a:rPr lang="ko-KR" altLang="en-US" dirty="0" smtClean="0"/>
              <a:t>캐비닛 목록 호출</a:t>
            </a:r>
            <a:r>
              <a:rPr lang="en-US" altLang="ko-KR" dirty="0" smtClean="0"/>
              <a:t>:</a:t>
            </a:r>
            <a:r>
              <a:rPr lang="en-US" altLang="ko-KR" dirty="0">
                <a:solidFill>
                  <a:srgbClr val="000000"/>
                </a:solidFill>
                <a:latin typeface="맑은 고딕" panose="020B0503020000020004" pitchFamily="50" charset="-127"/>
              </a:rPr>
              <a:t> </a:t>
            </a:r>
            <a:r>
              <a:rPr lang="en-US" altLang="ko-KR" dirty="0" smtClean="0">
                <a:solidFill>
                  <a:srgbClr val="000000"/>
                </a:solidFill>
                <a:latin typeface="맑은 고딕" panose="020B0503020000020004" pitchFamily="50" charset="-127"/>
              </a:rPr>
              <a:t>MUI-CM-06-M14</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캐비닛 목록화면으로 이동</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사용자가 선택한 파일을 </a:t>
            </a:r>
            <a:r>
              <a:rPr lang="ko-KR" altLang="en-US" dirty="0" err="1" smtClean="0">
                <a:solidFill>
                  <a:srgbClr val="000000"/>
                </a:solidFill>
                <a:latin typeface="맑은 고딕" panose="020B0503020000020004" pitchFamily="50" charset="-127"/>
              </a:rPr>
              <a:t>첨부목록에</a:t>
            </a:r>
            <a:r>
              <a:rPr lang="ko-KR" altLang="en-US" dirty="0" smtClean="0">
                <a:solidFill>
                  <a:srgbClr val="000000"/>
                </a:solidFill>
                <a:latin typeface="맑은 고딕" panose="020B0503020000020004" pitchFamily="50" charset="-127"/>
              </a:rPr>
              <a:t> 추가</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a:t>
            </a:r>
            <a:r>
              <a:rPr lang="ko-KR" altLang="en-US" dirty="0" smtClean="0"/>
              <a:t> </a:t>
            </a:r>
            <a:r>
              <a:rPr lang="ko-KR" altLang="en-US" dirty="0"/>
              <a:t>선택 완료 후 이전화면으로 복귀</a:t>
            </a:r>
            <a:r>
              <a:rPr lang="en-US" altLang="ko-KR" dirty="0"/>
              <a:t>.(</a:t>
            </a:r>
            <a:r>
              <a:rPr lang="ko-KR" altLang="en-US" dirty="0"/>
              <a:t>파일첨부목록</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smtClean="0">
                <a:latin typeface="+mn-ea"/>
              </a:rPr>
              <a:t>캐비닛연결</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첨부 파일</a:t>
            </a:r>
            <a:r>
              <a:rPr lang="en-US" altLang="ko-KR" dirty="0">
                <a:latin typeface="+mn-ea"/>
              </a:rPr>
              <a:t>, </a:t>
            </a:r>
            <a:r>
              <a:rPr lang="ko-KR" altLang="en-US" dirty="0">
                <a:latin typeface="+mn-ea"/>
              </a:rPr>
              <a:t>캐비닛 선택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Autofit/>
          </a:bodyPr>
          <a:lstStyle/>
          <a:p>
            <a:r>
              <a:rPr lang="ko-KR" altLang="en-US" sz="700" dirty="0"/>
              <a:t>홈 </a:t>
            </a:r>
            <a:r>
              <a:rPr lang="en-US" altLang="ko-KR" sz="700" dirty="0"/>
              <a:t>&gt; </a:t>
            </a:r>
            <a:r>
              <a:rPr lang="ko-KR" altLang="en-US" sz="700" dirty="0">
                <a:latin typeface="+mn-ea"/>
              </a:rPr>
              <a:t>입찰 진행 </a:t>
            </a:r>
            <a:r>
              <a:rPr lang="en-US" altLang="ko-KR" sz="700" dirty="0">
                <a:latin typeface="+mn-ea"/>
              </a:rPr>
              <a:t>&gt; </a:t>
            </a:r>
            <a:r>
              <a:rPr lang="ko-KR" altLang="en-US" sz="700" dirty="0">
                <a:latin typeface="+mn-ea"/>
              </a:rPr>
              <a:t>입찰서</a:t>
            </a:r>
            <a:r>
              <a:rPr lang="en-US" altLang="ko-KR" sz="700" dirty="0">
                <a:latin typeface="+mn-ea"/>
              </a:rPr>
              <a:t>(</a:t>
            </a:r>
            <a:r>
              <a:rPr lang="ko-KR" altLang="en-US" sz="700" dirty="0">
                <a:latin typeface="+mn-ea"/>
              </a:rPr>
              <a:t>견적서</a:t>
            </a:r>
            <a:r>
              <a:rPr lang="en-US" altLang="ko-KR" sz="700" dirty="0">
                <a:latin typeface="+mn-ea"/>
              </a:rPr>
              <a:t>)</a:t>
            </a:r>
            <a:r>
              <a:rPr lang="ko-KR" altLang="en-US" sz="700" dirty="0">
                <a:latin typeface="+mn-ea"/>
              </a:rPr>
              <a:t>작성 </a:t>
            </a:r>
            <a:r>
              <a:rPr lang="en-US" altLang="ko-KR" sz="700" dirty="0" smtClean="0">
                <a:latin typeface="+mn-ea"/>
              </a:rPr>
              <a:t>– </a:t>
            </a:r>
            <a:r>
              <a:rPr lang="ko-KR" altLang="en-US" sz="700" dirty="0" smtClean="0">
                <a:latin typeface="+mn-ea"/>
              </a:rPr>
              <a:t>파일첨부</a:t>
            </a:r>
            <a:r>
              <a:rPr lang="en-US" altLang="ko-KR" sz="700" dirty="0" smtClean="0">
                <a:latin typeface="+mn-ea"/>
              </a:rPr>
              <a:t>&gt;</a:t>
            </a:r>
            <a:r>
              <a:rPr lang="ko-KR" altLang="en-US" sz="700" dirty="0" smtClean="0">
                <a:latin typeface="+mn-ea"/>
              </a:rPr>
              <a:t>파일첨부 </a:t>
            </a:r>
            <a:r>
              <a:rPr lang="ko-KR" altLang="en-US" sz="700" dirty="0">
                <a:latin typeface="+mn-ea"/>
              </a:rPr>
              <a:t>방식 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4622157"/>
            <a:ext cx="2712027" cy="1610141"/>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470655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484097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4821654"/>
            <a:ext cx="1798758" cy="138499"/>
          </a:xfrm>
          <a:prstGeom prst="rect">
            <a:avLst/>
          </a:prstGeom>
          <a:noFill/>
        </p:spPr>
        <p:txBody>
          <a:bodyPr wrap="square" lIns="0" tIns="0" rIns="0" bIns="0" rtlCol="0">
            <a:spAutoFit/>
          </a:bodyPr>
          <a:lstStyle/>
          <a:p>
            <a:r>
              <a:rPr lang="ko-KR" altLang="en-US" sz="900" dirty="0">
                <a:latin typeface="+mn-ea"/>
              </a:rPr>
              <a:t>파일첨부 방식 선택</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508305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사각형: 둥근 모서리 15">
            <a:extLst>
              <a:ext uri="{FF2B5EF4-FFF2-40B4-BE49-F238E27FC236}">
                <a16:creationId xmlns:a16="http://schemas.microsoft.com/office/drawing/2014/main" id="{E2B61CFB-AD16-68D0-8752-50D9C5E01971}"/>
              </a:ext>
            </a:extLst>
          </p:cNvPr>
          <p:cNvSpPr/>
          <p:nvPr/>
        </p:nvSpPr>
        <p:spPr>
          <a:xfrm>
            <a:off x="767703" y="5296114"/>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직접 </a:t>
            </a:r>
            <a:r>
              <a:rPr kumimoji="1" lang="ko-KR" altLang="en-US" sz="1000" kern="0" dirty="0">
                <a:solidFill>
                  <a:srgbClr val="0070C0"/>
                </a:solidFill>
                <a:latin typeface="맑은 고딕"/>
                <a:ea typeface="맑은 고딕" panose="020B0503020000020004" pitchFamily="50" charset="-127"/>
              </a:rPr>
              <a:t>업로드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3" y="5744634"/>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캐비닛 선택 업로드</a:t>
            </a:r>
            <a:endParaRPr kumimoji="1" lang="en-US" sz="1000" b="0" i="0" u="none" strike="noStrike" kern="0" cap="none" spc="0" normalizeH="0" baseline="0" noProof="0" dirty="0">
              <a:ln>
                <a:noFill/>
              </a:ln>
              <a:effectLst/>
              <a:uLnTx/>
              <a:uFillTx/>
              <a:latin typeface="맑은 고딕"/>
            </a:endParaRPr>
          </a:p>
        </p:txBody>
      </p:sp>
      <p:sp>
        <p:nvSpPr>
          <p:cNvPr id="161" name="타원 160">
            <a:extLst>
              <a:ext uri="{FF2B5EF4-FFF2-40B4-BE49-F238E27FC236}">
                <a16:creationId xmlns:a16="http://schemas.microsoft.com/office/drawing/2014/main" id="{37A7FF4F-0EAA-1463-560A-D5EC24416103}"/>
              </a:ext>
            </a:extLst>
          </p:cNvPr>
          <p:cNvSpPr/>
          <p:nvPr/>
        </p:nvSpPr>
        <p:spPr>
          <a:xfrm>
            <a:off x="571127" y="53681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571127" y="582540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8" name="직사각형 57"/>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9" name="직사각형 58"/>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Tree>
    <p:extLst>
      <p:ext uri="{BB962C8B-B14F-4D97-AF65-F5344CB8AC3E}">
        <p14:creationId xmlns:p14="http://schemas.microsoft.com/office/powerpoint/2010/main" val="138212918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a:t>
            </a:r>
            <a:r>
              <a:rPr lang="ko-KR" altLang="en-US" dirty="0"/>
              <a:t>사용자가 </a:t>
            </a:r>
            <a:r>
              <a:rPr lang="ko-KR" altLang="en-US" dirty="0" err="1"/>
              <a:t>접근가능한</a:t>
            </a:r>
            <a:r>
              <a:rPr lang="ko-KR" altLang="en-US" dirty="0"/>
              <a:t> 폴더 목록 조</a:t>
            </a:r>
            <a:r>
              <a:rPr lang="en-US" altLang="ko-KR" dirty="0"/>
              <a:t/>
            </a:r>
            <a:br>
              <a:rPr lang="en-US" altLang="ko-KR" dirty="0"/>
            </a:br>
            <a:r>
              <a:rPr lang="ko-KR" altLang="en-US" dirty="0" smtClean="0"/>
              <a:t>회</a:t>
            </a:r>
            <a:r>
              <a:rPr lang="en-US" altLang="ko-KR" dirty="0" smtClean="0"/>
              <a:t/>
            </a:r>
            <a:br>
              <a:rPr lang="en-US" altLang="ko-KR" dirty="0" smtClean="0"/>
            </a:br>
            <a:r>
              <a:rPr lang="en-US" altLang="ko-KR" dirty="0" smtClean="0"/>
              <a:t>- </a:t>
            </a:r>
            <a:r>
              <a:rPr lang="ko-KR" altLang="en-US" dirty="0" smtClean="0"/>
              <a:t>폴더 </a:t>
            </a:r>
            <a:r>
              <a:rPr lang="ko-KR" altLang="en-US" dirty="0" err="1" smtClean="0"/>
              <a:t>선택시</a:t>
            </a:r>
            <a:r>
              <a:rPr lang="ko-KR" altLang="en-US" dirty="0" smtClean="0"/>
              <a:t> 하위 파일 목록 화면으로 이동</a:t>
            </a:r>
            <a:r>
              <a:rPr lang="en-US" altLang="ko-KR" dirty="0" smtClean="0"/>
              <a:t/>
            </a:r>
            <a:br>
              <a:rPr lang="en-US" altLang="ko-KR" dirty="0" smtClean="0"/>
            </a:br>
            <a:r>
              <a:rPr lang="en-US" altLang="ko-KR" dirty="0" smtClean="0"/>
              <a:t>- </a:t>
            </a:r>
            <a:r>
              <a:rPr lang="ko-KR" altLang="en-US" dirty="0"/>
              <a:t>폴더의</a:t>
            </a:r>
            <a:r>
              <a:rPr lang="en-US" altLang="ko-KR" dirty="0"/>
              <a:t> </a:t>
            </a:r>
            <a:r>
              <a:rPr lang="ko-KR" altLang="en-US" dirty="0"/>
              <a:t>생성</a:t>
            </a:r>
            <a:r>
              <a:rPr lang="en-US" altLang="ko-KR" dirty="0"/>
              <a:t>, </a:t>
            </a:r>
            <a:r>
              <a:rPr lang="ko-KR" altLang="en-US" dirty="0"/>
              <a:t>삭제는 </a:t>
            </a:r>
            <a:r>
              <a:rPr lang="en-US" altLang="ko-KR" dirty="0"/>
              <a:t>PC</a:t>
            </a:r>
            <a:r>
              <a:rPr lang="ko-KR" altLang="en-US" dirty="0"/>
              <a:t>에서 제공</a:t>
            </a:r>
            <a:endParaRPr lang="en-US" altLang="ko-KR" dirty="0"/>
          </a:p>
          <a:p>
            <a:pPr marL="228600" indent="-228600">
              <a:buFont typeface="+mj-lt"/>
              <a:buAutoNum type="arabicPeriod"/>
            </a:pPr>
            <a:endParaRPr lang="en-US" altLang="ko-KR" dirty="0" smtClean="0"/>
          </a:p>
          <a:p>
            <a:pPr marL="228600" indent="-228600">
              <a:buFont typeface="+mj-lt"/>
              <a:buAutoNum type="arabicPeriod"/>
            </a:pPr>
            <a:r>
              <a:rPr lang="ko-KR" altLang="en-US" dirty="0"/>
              <a:t>권한 관리는 업체 대표자에게만 표시됨</a:t>
            </a:r>
            <a:r>
              <a:rPr lang="en-US" altLang="ko-KR" dirty="0"/>
              <a:t>.</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 업로드로 진입하는 경우</a:t>
            </a:r>
            <a:r>
              <a:rPr lang="en-US" altLang="ko-KR" dirty="0"/>
              <a:t/>
            </a:r>
            <a:br>
              <a:rPr lang="en-US" altLang="ko-KR" dirty="0"/>
            </a:br>
            <a:r>
              <a:rPr lang="en-US" altLang="ko-KR" dirty="0"/>
              <a:t>- </a:t>
            </a:r>
            <a:r>
              <a:rPr lang="ko-KR" altLang="en-US" dirty="0"/>
              <a:t>권한 버튼 숨김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solidFill>
                  <a:srgbClr val="FF0000"/>
                </a:solidFill>
              </a:rPr>
              <a:t>- </a:t>
            </a:r>
            <a:r>
              <a:rPr lang="ko-KR" altLang="en-US" dirty="0">
                <a:solidFill>
                  <a:srgbClr val="FF0000"/>
                </a:solidFill>
              </a:rPr>
              <a:t>폴더의 권한은 표시하지 </a:t>
            </a:r>
            <a:r>
              <a:rPr lang="ko-KR" altLang="en-US" dirty="0" smtClean="0">
                <a:solidFill>
                  <a:srgbClr val="FF0000"/>
                </a:solidFill>
              </a:rPr>
              <a:t>않음</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solidFill>
                  <a:prstClr val="black"/>
                </a:solidFill>
                <a:latin typeface="맑은 고딕" panose="020B0503020000020004" pitchFamily="50" charset="-127"/>
              </a:rPr>
              <a:t>디지털캐비닛</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nSpc>
                <a:spcPct val="100000"/>
              </a:lnSpc>
              <a:spcBef>
                <a:spcPts val="0"/>
              </a:spcBef>
              <a:defRPr/>
            </a:pPr>
            <a:r>
              <a:rPr lang="ko-KR" altLang="en-US" dirty="0">
                <a:solidFill>
                  <a:prstClr val="black"/>
                </a:solidFill>
                <a:latin typeface="맑은 고딕" panose="020B0503020000020004" pitchFamily="50" charset="-127"/>
              </a:rPr>
              <a:t>디지털 캐비닛</a:t>
            </a:r>
            <a:r>
              <a:rPr lang="en-US" altLang="ko-KR" dirty="0">
                <a:solidFill>
                  <a:prstClr val="black"/>
                </a:solidFill>
                <a:latin typeface="맑은 고딕" panose="020B0503020000020004" pitchFamily="50" charset="-127"/>
              </a:rPr>
              <a:t>, </a:t>
            </a:r>
            <a:r>
              <a:rPr lang="ko-KR" altLang="en-US" dirty="0">
                <a:solidFill>
                  <a:prstClr val="black"/>
                </a:solidFill>
                <a:latin typeface="맑은 고딕" panose="020B0503020000020004" pitchFamily="50" charset="-127"/>
              </a:rPr>
              <a:t>사용자가 등록한 자료 폴더 목록</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smtClean="0">
                <a:latin typeface="+mn-ea"/>
              </a:rPr>
              <a:t>메인 홈 </a:t>
            </a:r>
            <a:r>
              <a:rPr lang="en-US" altLang="ko-KR" dirty="0" smtClean="0">
                <a:latin typeface="+mn-ea"/>
              </a:rPr>
              <a:t>&gt; </a:t>
            </a:r>
            <a:r>
              <a:rPr lang="ko-KR" altLang="en-US" dirty="0" err="1" smtClean="0">
                <a:latin typeface="+mn-ea"/>
              </a:rPr>
              <a:t>마이페이지</a:t>
            </a:r>
            <a:r>
              <a:rPr lang="ko-KR" altLang="en-US" dirty="0" smtClean="0">
                <a:latin typeface="+mn-ea"/>
              </a:rPr>
              <a:t> </a:t>
            </a:r>
            <a:r>
              <a:rPr lang="en-US" altLang="ko-KR" dirty="0" smtClean="0">
                <a:latin typeface="+mn-ea"/>
              </a:rPr>
              <a:t>&gt; </a:t>
            </a:r>
            <a:r>
              <a:rPr lang="ko-KR" altLang="en-US" dirty="0" smtClean="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MUI-CM-06-M14</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8757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4" name="TextBox 58">
            <a:extLst>
              <a:ext uri="{FF2B5EF4-FFF2-40B4-BE49-F238E27FC236}">
                <a16:creationId xmlns:a16="http://schemas.microsoft.com/office/drawing/2014/main" id="{02FC114B-B48B-345F-BD70-2B5A196F5B3E}"/>
              </a:ext>
            </a:extLst>
          </p:cNvPr>
          <p:cNvSpPr txBox="1"/>
          <p:nvPr/>
        </p:nvSpPr>
        <p:spPr>
          <a:xfrm>
            <a:off x="772625" y="26035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3" name="직선 연결선 72">
            <a:extLst>
              <a:ext uri="{FF2B5EF4-FFF2-40B4-BE49-F238E27FC236}">
                <a16:creationId xmlns:a16="http://schemas.microsoft.com/office/drawing/2014/main" id="{E9293055-D5CD-4B9E-7F64-64B2D2CA7A52}"/>
              </a:ext>
            </a:extLst>
          </p:cNvPr>
          <p:cNvCxnSpPr/>
          <p:nvPr/>
        </p:nvCxnSpPr>
        <p:spPr>
          <a:xfrm>
            <a:off x="675399" y="28745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3333470" y="25670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1" name="TextBox 58">
            <a:extLst>
              <a:ext uri="{FF2B5EF4-FFF2-40B4-BE49-F238E27FC236}">
                <a16:creationId xmlns:a16="http://schemas.microsoft.com/office/drawing/2014/main" id="{02FC114B-B48B-345F-BD70-2B5A196F5B3E}"/>
              </a:ext>
            </a:extLst>
          </p:cNvPr>
          <p:cNvSpPr txBox="1"/>
          <p:nvPr/>
        </p:nvSpPr>
        <p:spPr>
          <a:xfrm>
            <a:off x="1019814" y="25356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 |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53" name="사각형: 둥근 모서리 31">
            <a:extLst>
              <a:ext uri="{FF2B5EF4-FFF2-40B4-BE49-F238E27FC236}">
                <a16:creationId xmlns:a16="http://schemas.microsoft.com/office/drawing/2014/main" id="{2AC143EE-93CF-3518-F0CB-8469E98507E0}"/>
              </a:ext>
            </a:extLst>
          </p:cNvPr>
          <p:cNvSpPr/>
          <p:nvPr/>
        </p:nvSpPr>
        <p:spPr>
          <a:xfrm>
            <a:off x="2993286" y="25866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2" name="TextBox 58">
            <a:extLst>
              <a:ext uri="{FF2B5EF4-FFF2-40B4-BE49-F238E27FC236}">
                <a16:creationId xmlns:a16="http://schemas.microsoft.com/office/drawing/2014/main" id="{02FC114B-B48B-345F-BD70-2B5A196F5B3E}"/>
              </a:ext>
            </a:extLst>
          </p:cNvPr>
          <p:cNvSpPr txBox="1"/>
          <p:nvPr/>
        </p:nvSpPr>
        <p:spPr>
          <a:xfrm>
            <a:off x="772625" y="30257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296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TextBox 58">
            <a:extLst>
              <a:ext uri="{FF2B5EF4-FFF2-40B4-BE49-F238E27FC236}">
                <a16:creationId xmlns:a16="http://schemas.microsoft.com/office/drawing/2014/main" id="{02FC114B-B48B-345F-BD70-2B5A196F5B3E}"/>
              </a:ext>
            </a:extLst>
          </p:cNvPr>
          <p:cNvSpPr txBox="1"/>
          <p:nvPr/>
        </p:nvSpPr>
        <p:spPr>
          <a:xfrm>
            <a:off x="1019814" y="29578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06" name="사각형: 둥근 모서리 31">
            <a:extLst>
              <a:ext uri="{FF2B5EF4-FFF2-40B4-BE49-F238E27FC236}">
                <a16:creationId xmlns:a16="http://schemas.microsoft.com/office/drawing/2014/main" id="{2AC143EE-93CF-3518-F0CB-8469E98507E0}"/>
              </a:ext>
            </a:extLst>
          </p:cNvPr>
          <p:cNvSpPr/>
          <p:nvPr/>
        </p:nvSpPr>
        <p:spPr>
          <a:xfrm>
            <a:off x="2993286" y="30088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7" name="TextBox 58">
            <a:extLst>
              <a:ext uri="{FF2B5EF4-FFF2-40B4-BE49-F238E27FC236}">
                <a16:creationId xmlns:a16="http://schemas.microsoft.com/office/drawing/2014/main" id="{02FC114B-B48B-345F-BD70-2B5A196F5B3E}"/>
              </a:ext>
            </a:extLst>
          </p:cNvPr>
          <p:cNvSpPr txBox="1"/>
          <p:nvPr/>
        </p:nvSpPr>
        <p:spPr>
          <a:xfrm>
            <a:off x="772625" y="343912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75399" y="371007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58">
            <a:extLst>
              <a:ext uri="{FF2B5EF4-FFF2-40B4-BE49-F238E27FC236}">
                <a16:creationId xmlns:a16="http://schemas.microsoft.com/office/drawing/2014/main" id="{02FC114B-B48B-345F-BD70-2B5A196F5B3E}"/>
              </a:ext>
            </a:extLst>
          </p:cNvPr>
          <p:cNvSpPr txBox="1"/>
          <p:nvPr/>
        </p:nvSpPr>
        <p:spPr>
          <a:xfrm>
            <a:off x="1019814" y="337122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25" name="사각형: 둥근 모서리 31">
            <a:extLst>
              <a:ext uri="{FF2B5EF4-FFF2-40B4-BE49-F238E27FC236}">
                <a16:creationId xmlns:a16="http://schemas.microsoft.com/office/drawing/2014/main" id="{2AC143EE-93CF-3518-F0CB-8469E98507E0}"/>
              </a:ext>
            </a:extLst>
          </p:cNvPr>
          <p:cNvSpPr/>
          <p:nvPr/>
        </p:nvSpPr>
        <p:spPr>
          <a:xfrm>
            <a:off x="2993286" y="342221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26" name="TextBox 58">
            <a:extLst>
              <a:ext uri="{FF2B5EF4-FFF2-40B4-BE49-F238E27FC236}">
                <a16:creationId xmlns:a16="http://schemas.microsoft.com/office/drawing/2014/main" id="{02FC114B-B48B-345F-BD70-2B5A196F5B3E}"/>
              </a:ext>
            </a:extLst>
          </p:cNvPr>
          <p:cNvSpPr txBox="1"/>
          <p:nvPr/>
        </p:nvSpPr>
        <p:spPr>
          <a:xfrm>
            <a:off x="772625" y="386037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4131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58">
            <a:extLst>
              <a:ext uri="{FF2B5EF4-FFF2-40B4-BE49-F238E27FC236}">
                <a16:creationId xmlns:a16="http://schemas.microsoft.com/office/drawing/2014/main" id="{02FC114B-B48B-345F-BD70-2B5A196F5B3E}"/>
              </a:ext>
            </a:extLst>
          </p:cNvPr>
          <p:cNvSpPr txBox="1"/>
          <p:nvPr/>
        </p:nvSpPr>
        <p:spPr>
          <a:xfrm>
            <a:off x="1019814" y="3792480"/>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2" name="사각형: 둥근 모서리 31">
            <a:extLst>
              <a:ext uri="{FF2B5EF4-FFF2-40B4-BE49-F238E27FC236}">
                <a16:creationId xmlns:a16="http://schemas.microsoft.com/office/drawing/2014/main" id="{2AC143EE-93CF-3518-F0CB-8469E98507E0}"/>
              </a:ext>
            </a:extLst>
          </p:cNvPr>
          <p:cNvSpPr/>
          <p:nvPr/>
        </p:nvSpPr>
        <p:spPr>
          <a:xfrm>
            <a:off x="2993286" y="3843470"/>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58">
            <a:extLst>
              <a:ext uri="{FF2B5EF4-FFF2-40B4-BE49-F238E27FC236}">
                <a16:creationId xmlns:a16="http://schemas.microsoft.com/office/drawing/2014/main" id="{02FC114B-B48B-345F-BD70-2B5A196F5B3E}"/>
              </a:ext>
            </a:extLst>
          </p:cNvPr>
          <p:cNvSpPr txBox="1"/>
          <p:nvPr/>
        </p:nvSpPr>
        <p:spPr>
          <a:xfrm>
            <a:off x="772625" y="4280031"/>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45509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58">
            <a:extLst>
              <a:ext uri="{FF2B5EF4-FFF2-40B4-BE49-F238E27FC236}">
                <a16:creationId xmlns:a16="http://schemas.microsoft.com/office/drawing/2014/main" id="{02FC114B-B48B-345F-BD70-2B5A196F5B3E}"/>
              </a:ext>
            </a:extLst>
          </p:cNvPr>
          <p:cNvSpPr txBox="1"/>
          <p:nvPr/>
        </p:nvSpPr>
        <p:spPr>
          <a:xfrm>
            <a:off x="1019814" y="4212136"/>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7" name="사각형: 둥근 모서리 31">
            <a:extLst>
              <a:ext uri="{FF2B5EF4-FFF2-40B4-BE49-F238E27FC236}">
                <a16:creationId xmlns:a16="http://schemas.microsoft.com/office/drawing/2014/main" id="{2AC143EE-93CF-3518-F0CB-8469E98507E0}"/>
              </a:ext>
            </a:extLst>
          </p:cNvPr>
          <p:cNvSpPr/>
          <p:nvPr/>
        </p:nvSpPr>
        <p:spPr>
          <a:xfrm>
            <a:off x="2993286" y="4263126"/>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40" name="타원 139"/>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a:off x="3143548" y="2279636"/>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24553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직사각형 50"/>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2" name="직사각형 51"/>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55" name="직사각형 54"/>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9" name="직사각형 58"/>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Tree>
    <p:extLst>
      <p:ext uri="{BB962C8B-B14F-4D97-AF65-F5344CB8AC3E}">
        <p14:creationId xmlns:p14="http://schemas.microsoft.com/office/powerpoint/2010/main" val="73193783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 </a:t>
            </a:r>
            <a:r>
              <a:rPr lang="ko-KR" altLang="en-US" dirty="0"/>
              <a:t>클릭 시 상위 폴더 이동</a:t>
            </a:r>
            <a:endParaRPr lang="en-US" altLang="ko-KR" dirty="0"/>
          </a:p>
          <a:p>
            <a:pPr marL="228600" indent="-228600">
              <a:buFont typeface="+mj-lt"/>
              <a:buAutoNum type="arabicPeriod"/>
            </a:pPr>
            <a:r>
              <a:rPr lang="ko-KR" altLang="en-US" dirty="0"/>
              <a:t>파일 표시</a:t>
            </a:r>
            <a:r>
              <a:rPr lang="en-US" altLang="ko-KR" dirty="0"/>
              <a:t/>
            </a:r>
            <a:br>
              <a:rPr lang="en-US" altLang="ko-KR" dirty="0"/>
            </a:br>
            <a:r>
              <a:rPr lang="en-US" altLang="ko-KR" dirty="0"/>
              <a:t>- </a:t>
            </a:r>
            <a:r>
              <a:rPr lang="ko-KR" altLang="en-US" dirty="0"/>
              <a:t>파일 등록</a:t>
            </a:r>
            <a:r>
              <a:rPr lang="en-US" altLang="ko-KR" dirty="0"/>
              <a:t>, </a:t>
            </a:r>
            <a:r>
              <a:rPr lang="ko-KR" altLang="en-US" dirty="0"/>
              <a:t>삭제 </a:t>
            </a:r>
            <a:r>
              <a:rPr lang="en-US" altLang="ko-KR" dirty="0"/>
              <a:t>PC</a:t>
            </a:r>
            <a:r>
              <a:rPr lang="ko-KR" altLang="en-US" dirty="0"/>
              <a:t>에서 제공</a:t>
            </a:r>
            <a:r>
              <a:rPr lang="en-US" altLang="ko-KR" dirty="0"/>
              <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선택으로 진입하는 경우</a:t>
            </a:r>
            <a:r>
              <a:rPr lang="en-US" altLang="ko-KR" dirty="0"/>
              <a:t/>
            </a:r>
            <a:br>
              <a:rPr lang="en-US" altLang="ko-KR" dirty="0"/>
            </a:br>
            <a:r>
              <a:rPr lang="en-US" altLang="ko-KR" dirty="0"/>
              <a:t>- </a:t>
            </a:r>
            <a:r>
              <a:rPr lang="ko-KR" altLang="en-US" dirty="0"/>
              <a:t>선택 시 하이라이트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t>- </a:t>
            </a:r>
            <a:r>
              <a:rPr lang="ko-KR" altLang="en-US" dirty="0"/>
              <a:t>선택 파일 첨부 버튼 표시</a:t>
            </a:r>
            <a:r>
              <a:rPr lang="en-US" altLang="ko-KR" dirty="0"/>
              <a:t/>
            </a:r>
            <a:br>
              <a:rPr lang="en-US" altLang="ko-KR" dirty="0"/>
            </a:br>
            <a:r>
              <a:rPr lang="en-US" altLang="ko-KR" dirty="0"/>
              <a:t/>
            </a:r>
            <a:br>
              <a:rPr lang="en-US" altLang="ko-KR" dirty="0"/>
            </a:br>
            <a:r>
              <a:rPr lang="en-US" altLang="ko-KR" dirty="0">
                <a:solidFill>
                  <a:srgbClr val="FF0000"/>
                </a:solidFill>
              </a:rPr>
              <a:t>- </a:t>
            </a:r>
            <a:r>
              <a:rPr lang="ko-KR" altLang="en-US" dirty="0">
                <a:solidFill>
                  <a:srgbClr val="FF0000"/>
                </a:solidFill>
              </a:rPr>
              <a:t>입찰참가</a:t>
            </a:r>
            <a:r>
              <a:rPr lang="en-US" altLang="ko-KR" dirty="0">
                <a:solidFill>
                  <a:srgbClr val="FF0000"/>
                </a:solidFill>
              </a:rPr>
              <a:t>, </a:t>
            </a:r>
            <a:r>
              <a:rPr lang="ko-KR" altLang="en-US" dirty="0">
                <a:solidFill>
                  <a:srgbClr val="FF0000"/>
                </a:solidFill>
              </a:rPr>
              <a:t>입찰서 등에서 파일을 업로드</a:t>
            </a:r>
            <a:r>
              <a:rPr lang="en-US" altLang="ko-KR" dirty="0">
                <a:solidFill>
                  <a:srgbClr val="FF0000"/>
                </a:solidFill>
              </a:rPr>
              <a:t>(</a:t>
            </a:r>
            <a:r>
              <a:rPr lang="ko-KR" altLang="en-US" dirty="0">
                <a:solidFill>
                  <a:srgbClr val="FF0000"/>
                </a:solidFill>
              </a:rPr>
              <a:t>파일 첨부</a:t>
            </a:r>
            <a:r>
              <a:rPr lang="en-US" altLang="ko-KR" dirty="0">
                <a:solidFill>
                  <a:srgbClr val="FF0000"/>
                </a:solidFill>
              </a:rPr>
              <a:t>)</a:t>
            </a:r>
            <a:r>
              <a:rPr lang="ko-KR" altLang="en-US" dirty="0">
                <a:solidFill>
                  <a:srgbClr val="FF0000"/>
                </a:solidFill>
              </a:rPr>
              <a:t>할 때</a:t>
            </a:r>
            <a:r>
              <a:rPr lang="en-US" altLang="ko-KR" dirty="0">
                <a:solidFill>
                  <a:srgbClr val="FF0000"/>
                </a:solidFill>
              </a:rPr>
              <a:t>, </a:t>
            </a:r>
            <a:r>
              <a:rPr lang="ko-KR" altLang="en-US" dirty="0">
                <a:solidFill>
                  <a:srgbClr val="FF0000"/>
                </a:solidFill>
              </a:rPr>
              <a:t>사용자에게 </a:t>
            </a:r>
            <a:r>
              <a:rPr lang="ko-KR" altLang="en-US" dirty="0" err="1">
                <a:solidFill>
                  <a:srgbClr val="FF0000"/>
                </a:solidFill>
              </a:rPr>
              <a:t>직접업로드</a:t>
            </a:r>
            <a:r>
              <a:rPr lang="en-US" altLang="ko-KR" dirty="0">
                <a:solidFill>
                  <a:srgbClr val="FF0000"/>
                </a:solidFill>
              </a:rPr>
              <a:t>, </a:t>
            </a:r>
            <a:r>
              <a:rPr lang="ko-KR" altLang="en-US" dirty="0">
                <a:solidFill>
                  <a:srgbClr val="FF0000"/>
                </a:solidFill>
              </a:rPr>
              <a:t>캐비닛 업로드를 할 수 있는 팝업 선택지가 노출됨</a:t>
            </a:r>
            <a:r>
              <a:rPr lang="en-US" altLang="ko-KR" dirty="0">
                <a:solidFill>
                  <a:srgbClr val="FF0000"/>
                </a:solidFill>
              </a:rPr>
              <a:t>. </a:t>
            </a:r>
            <a:br>
              <a:rPr lang="en-US" altLang="ko-KR" dirty="0">
                <a:solidFill>
                  <a:srgbClr val="FF0000"/>
                </a:solidFill>
              </a:rPr>
            </a:br>
            <a:r>
              <a:rPr lang="en-US" altLang="ko-KR" dirty="0">
                <a:solidFill>
                  <a:srgbClr val="FF0000"/>
                </a:solidFill>
              </a:rPr>
              <a:t>- </a:t>
            </a:r>
            <a:r>
              <a:rPr lang="ko-KR" altLang="en-US" dirty="0">
                <a:solidFill>
                  <a:srgbClr val="FF0000"/>
                </a:solidFill>
              </a:rPr>
              <a:t>사용자가 디지털 캐비닛 업로드 선택 시 캐비닛의 파일을 선택하여 업로드할 수 있는 체크박스와 </a:t>
            </a:r>
            <a:r>
              <a:rPr lang="ko-KR" altLang="en-US" dirty="0" err="1">
                <a:solidFill>
                  <a:srgbClr val="FF0000"/>
                </a:solidFill>
              </a:rPr>
              <a:t>선택파일</a:t>
            </a:r>
            <a:r>
              <a:rPr lang="ko-KR" altLang="en-US" dirty="0">
                <a:solidFill>
                  <a:srgbClr val="FF0000"/>
                </a:solidFill>
              </a:rPr>
              <a:t> 첨부 버튼을 표시함</a:t>
            </a:r>
            <a:r>
              <a:rPr lang="en-US" altLang="ko-KR" dirty="0">
                <a:solidFill>
                  <a:srgbClr val="FF0000"/>
                </a:solidFill>
              </a:rPr>
              <a:t>.</a:t>
            </a:r>
            <a:br>
              <a:rPr lang="en-US" altLang="ko-KR" dirty="0">
                <a:solidFill>
                  <a:srgbClr val="FF0000"/>
                </a:solidFill>
              </a:rPr>
            </a:br>
            <a:r>
              <a:rPr lang="en-US" altLang="ko-KR" dirty="0">
                <a:solidFill>
                  <a:srgbClr val="FF0000"/>
                </a:solidFill>
              </a:rPr>
              <a:t>- </a:t>
            </a:r>
            <a:r>
              <a:rPr lang="ko-KR" altLang="en-US" dirty="0">
                <a:solidFill>
                  <a:srgbClr val="FF0000"/>
                </a:solidFill>
              </a:rPr>
              <a:t>캐비닛 업로드 선택 시 최초 진입은 목록 화면으로 진입하며</a:t>
            </a:r>
            <a:r>
              <a:rPr lang="en-US" altLang="ko-KR" dirty="0">
                <a:solidFill>
                  <a:srgbClr val="FF0000"/>
                </a:solidFill>
              </a:rPr>
              <a:t>, </a:t>
            </a:r>
            <a:r>
              <a:rPr lang="ko-KR" altLang="en-US" dirty="0">
                <a:solidFill>
                  <a:srgbClr val="FF0000"/>
                </a:solidFill>
              </a:rPr>
              <a:t>권한 버튼은 숨김 처리됨</a:t>
            </a:r>
            <a:r>
              <a:rPr lang="en-US" altLang="ko-KR" dirty="0">
                <a:solidFill>
                  <a:srgbClr val="FF0000"/>
                </a:solidFill>
              </a:rPr>
              <a:t>.</a:t>
            </a:r>
          </a:p>
          <a:p>
            <a:pPr marL="228600" indent="-228600">
              <a:buFont typeface="+mj-lt"/>
              <a:buAutoNum type="arabicPeriod"/>
            </a:pPr>
            <a:endParaRPr lang="en-US" altLang="ko-KR" dirty="0"/>
          </a:p>
          <a:p>
            <a:pPr marL="228600" indent="-228600">
              <a:buFont typeface="+mj-lt"/>
              <a:buAutoNum type="arabicPeriod"/>
            </a:pPr>
            <a:r>
              <a:rPr lang="ko-KR" altLang="en-US" dirty="0"/>
              <a:t>사용자가 선택 여부를 확인할 수 있는 체크박스 추가 표시</a:t>
            </a:r>
            <a:r>
              <a:rPr lang="en-US" altLang="ko-KR" dirty="0"/>
              <a:t/>
            </a:r>
            <a:br>
              <a:rPr lang="en-US" altLang="ko-KR" dirty="0"/>
            </a:br>
            <a:endParaRPr lang="en-US" altLang="ko-KR" dirty="0"/>
          </a:p>
          <a:p>
            <a:pPr marL="228600" indent="-228600">
              <a:buFont typeface="+mj-lt"/>
              <a:buAutoNum type="arabicPeriod"/>
            </a:pPr>
            <a:r>
              <a:rPr lang="ko-KR" altLang="en-US" dirty="0"/>
              <a:t>선택 파일 첨부를 통해 신청서 작성 등의 파일 </a:t>
            </a:r>
            <a:r>
              <a:rPr lang="ko-KR" altLang="en-US" dirty="0" err="1"/>
              <a:t>첨부항목에</a:t>
            </a:r>
            <a:r>
              <a:rPr lang="ko-KR" altLang="en-US" dirty="0"/>
              <a:t> 선택된 캐비닛 자료 업로드</a:t>
            </a:r>
            <a:r>
              <a:rPr lang="en-US" altLang="ko-KR" dirty="0"/>
              <a:t/>
            </a:r>
            <a:br>
              <a:rPr lang="en-US" altLang="ko-KR" dirty="0"/>
            </a:br>
            <a:r>
              <a:rPr lang="en-US" altLang="ko-KR" dirty="0"/>
              <a:t>- </a:t>
            </a:r>
            <a:r>
              <a:rPr lang="ko-KR" altLang="en-US" dirty="0"/>
              <a:t>이전 </a:t>
            </a:r>
            <a:r>
              <a:rPr lang="ko-KR" altLang="en-US" dirty="0" err="1"/>
              <a:t>파일첨부하던</a:t>
            </a:r>
            <a:r>
              <a:rPr lang="ko-KR" altLang="en-US" dirty="0"/>
              <a:t> 화면으로 복귀</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lvl="0">
              <a:defRPr/>
            </a:pPr>
            <a:r>
              <a:rPr lang="ko-KR" altLang="en-US" dirty="0" smtClean="0">
                <a:solidFill>
                  <a:prstClr val="black"/>
                </a:solidFill>
                <a:latin typeface="맑은 고딕" panose="020B0503020000020004" pitchFamily="50" charset="-127"/>
              </a:rPr>
              <a:t>폴더내파일목록</a:t>
            </a:r>
            <a:endParaRPr lang="ko-KR" altLang="en-US" dirty="0">
              <a:solidFill>
                <a:prstClr val="black"/>
              </a:solidFill>
              <a:latin typeface="맑은 고딕" panose="020B0503020000020004" pitchFamily="50" charset="-127"/>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디지털캐비닛 파일 목록 화면</a:t>
            </a:r>
            <a:endParaRPr lang="en-US" altLang="ko-KR"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latin typeface="+mn-ea"/>
              </a:rPr>
              <a:t>메인 홈 </a:t>
            </a:r>
            <a:r>
              <a:rPr lang="en-US" altLang="ko-KR" dirty="0">
                <a:latin typeface="+mn-ea"/>
              </a:rPr>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MUI-CM-06-M16</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9242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0" name="TextBox 58">
            <a:extLst>
              <a:ext uri="{FF2B5EF4-FFF2-40B4-BE49-F238E27FC236}">
                <a16:creationId xmlns:a16="http://schemas.microsoft.com/office/drawing/2014/main" id="{02FC114B-B48B-345F-BD70-2B5A196F5B3E}"/>
              </a:ext>
            </a:extLst>
          </p:cNvPr>
          <p:cNvSpPr txBox="1"/>
          <p:nvPr/>
        </p:nvSpPr>
        <p:spPr>
          <a:xfrm>
            <a:off x="772625"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51" name="직선 연결선 50">
            <a:extLst>
              <a:ext uri="{FF2B5EF4-FFF2-40B4-BE49-F238E27FC236}">
                <a16:creationId xmlns:a16="http://schemas.microsoft.com/office/drawing/2014/main" id="{E9293055-D5CD-4B9E-7F64-64B2D2CA7A52}"/>
              </a:ext>
            </a:extLst>
          </p:cNvPr>
          <p:cNvCxnSpPr/>
          <p:nvPr/>
        </p:nvCxnSpPr>
        <p:spPr>
          <a:xfrm>
            <a:off x="675399"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2" name="TextBox 58">
            <a:extLst>
              <a:ext uri="{FF2B5EF4-FFF2-40B4-BE49-F238E27FC236}">
                <a16:creationId xmlns:a16="http://schemas.microsoft.com/office/drawing/2014/main" id="{02FC114B-B48B-345F-BD70-2B5A196F5B3E}"/>
              </a:ext>
            </a:extLst>
          </p:cNvPr>
          <p:cNvSpPr txBox="1"/>
          <p:nvPr/>
        </p:nvSpPr>
        <p:spPr>
          <a:xfrm>
            <a:off x="980620"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59" name="TextBox 58">
            <a:extLst>
              <a:ext uri="{FF2B5EF4-FFF2-40B4-BE49-F238E27FC236}">
                <a16:creationId xmlns:a16="http://schemas.microsoft.com/office/drawing/2014/main" id="{02FC114B-B48B-345F-BD70-2B5A196F5B3E}"/>
              </a:ext>
            </a:extLst>
          </p:cNvPr>
          <p:cNvSpPr txBox="1"/>
          <p:nvPr/>
        </p:nvSpPr>
        <p:spPr>
          <a:xfrm>
            <a:off x="772625"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75399"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TextBox 58">
            <a:extLst>
              <a:ext uri="{FF2B5EF4-FFF2-40B4-BE49-F238E27FC236}">
                <a16:creationId xmlns:a16="http://schemas.microsoft.com/office/drawing/2014/main" id="{02FC114B-B48B-345F-BD70-2B5A196F5B3E}"/>
              </a:ext>
            </a:extLst>
          </p:cNvPr>
          <p:cNvSpPr txBox="1"/>
          <p:nvPr/>
        </p:nvSpPr>
        <p:spPr>
          <a:xfrm>
            <a:off x="1019814"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67" name="TextBox 58">
            <a:extLst>
              <a:ext uri="{FF2B5EF4-FFF2-40B4-BE49-F238E27FC236}">
                <a16:creationId xmlns:a16="http://schemas.microsoft.com/office/drawing/2014/main" id="{02FC114B-B48B-345F-BD70-2B5A196F5B3E}"/>
              </a:ext>
            </a:extLst>
          </p:cNvPr>
          <p:cNvSpPr txBox="1"/>
          <p:nvPr/>
        </p:nvSpPr>
        <p:spPr>
          <a:xfrm>
            <a:off x="772625"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75399"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5" name="TextBox 58">
            <a:extLst>
              <a:ext uri="{FF2B5EF4-FFF2-40B4-BE49-F238E27FC236}">
                <a16:creationId xmlns:a16="http://schemas.microsoft.com/office/drawing/2014/main" id="{02FC114B-B48B-345F-BD70-2B5A196F5B3E}"/>
              </a:ext>
            </a:extLst>
          </p:cNvPr>
          <p:cNvSpPr txBox="1"/>
          <p:nvPr/>
        </p:nvSpPr>
        <p:spPr>
          <a:xfrm>
            <a:off x="1019814"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81" name="TextBox 58">
            <a:extLst>
              <a:ext uri="{FF2B5EF4-FFF2-40B4-BE49-F238E27FC236}">
                <a16:creationId xmlns:a16="http://schemas.microsoft.com/office/drawing/2014/main" id="{02FC114B-B48B-345F-BD70-2B5A196F5B3E}"/>
              </a:ext>
            </a:extLst>
          </p:cNvPr>
          <p:cNvSpPr txBox="1"/>
          <p:nvPr/>
        </p:nvSpPr>
        <p:spPr>
          <a:xfrm>
            <a:off x="772625"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58">
            <a:extLst>
              <a:ext uri="{FF2B5EF4-FFF2-40B4-BE49-F238E27FC236}">
                <a16:creationId xmlns:a16="http://schemas.microsoft.com/office/drawing/2014/main" id="{02FC114B-B48B-345F-BD70-2B5A196F5B3E}"/>
              </a:ext>
            </a:extLst>
          </p:cNvPr>
          <p:cNvSpPr txBox="1"/>
          <p:nvPr/>
        </p:nvSpPr>
        <p:spPr>
          <a:xfrm>
            <a:off x="1019814"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8" name="TextBox 58">
            <a:extLst>
              <a:ext uri="{FF2B5EF4-FFF2-40B4-BE49-F238E27FC236}">
                <a16:creationId xmlns:a16="http://schemas.microsoft.com/office/drawing/2014/main" id="{02FC114B-B48B-345F-BD70-2B5A196F5B3E}"/>
              </a:ext>
            </a:extLst>
          </p:cNvPr>
          <p:cNvSpPr txBox="1"/>
          <p:nvPr/>
        </p:nvSpPr>
        <p:spPr>
          <a:xfrm>
            <a:off x="772625"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675399"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58">
            <a:extLst>
              <a:ext uri="{FF2B5EF4-FFF2-40B4-BE49-F238E27FC236}">
                <a16:creationId xmlns:a16="http://schemas.microsoft.com/office/drawing/2014/main" id="{02FC114B-B48B-345F-BD70-2B5A196F5B3E}"/>
              </a:ext>
            </a:extLst>
          </p:cNvPr>
          <p:cNvSpPr txBox="1"/>
          <p:nvPr/>
        </p:nvSpPr>
        <p:spPr>
          <a:xfrm>
            <a:off x="1019814"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04" name="타원 103"/>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a:off x="3143548" y="2279636"/>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6" name="타원 115">
            <a:extLst>
              <a:ext uri="{FF2B5EF4-FFF2-40B4-BE49-F238E27FC236}">
                <a16:creationId xmlns:a16="http://schemas.microsoft.com/office/drawing/2014/main" id="{37A7FF4F-0EAA-1463-560A-D5EC24416103}"/>
              </a:ext>
            </a:extLst>
          </p:cNvPr>
          <p:cNvSpPr/>
          <p:nvPr/>
        </p:nvSpPr>
        <p:spPr>
          <a:xfrm>
            <a:off x="571127" y="301368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46" name="직사각형 45"/>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47" name="직사각형 46"/>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49" name="직사각형 48"/>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3" name="직사각형 52"/>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선택 파일 첨부</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5" name="직사각형 5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FC49AEA-2A8F-250C-A86A-A7751D9706C3}"/>
              </a:ext>
            </a:extLst>
          </p:cNvPr>
          <p:cNvSpPr txBox="1"/>
          <p:nvPr/>
        </p:nvSpPr>
        <p:spPr>
          <a:xfrm>
            <a:off x="4062763"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69" name="직선 연결선 68">
            <a:extLst>
              <a:ext uri="{FF2B5EF4-FFF2-40B4-BE49-F238E27FC236}">
                <a16:creationId xmlns:a16="http://schemas.microsoft.com/office/drawing/2014/main" id="{E9293055-D5CD-4B9E-7F64-64B2D2CA7A52}"/>
              </a:ext>
            </a:extLst>
          </p:cNvPr>
          <p:cNvCxnSpPr/>
          <p:nvPr/>
        </p:nvCxnSpPr>
        <p:spPr>
          <a:xfrm>
            <a:off x="3807261"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0" name="그룹 69"/>
          <p:cNvGrpSpPr/>
          <p:nvPr/>
        </p:nvGrpSpPr>
        <p:grpSpPr>
          <a:xfrm rot="5400000">
            <a:off x="3881704" y="1640499"/>
            <a:ext cx="94010" cy="47005"/>
            <a:chOff x="6812560" y="3297172"/>
            <a:chExt cx="94010" cy="47005"/>
          </a:xfrm>
        </p:grpSpPr>
        <p:cxnSp>
          <p:nvCxnSpPr>
            <p:cNvPr id="71" name="직선 연결선 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2" name="직선 연결선 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3" name="타원 72"/>
          <p:cNvSpPr/>
          <p:nvPr/>
        </p:nvSpPr>
        <p:spPr>
          <a:xfrm>
            <a:off x="6171228"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TextBox 73"/>
          <p:cNvSpPr txBox="1"/>
          <p:nvPr/>
        </p:nvSpPr>
        <p:spPr>
          <a:xfrm>
            <a:off x="6119977" y="1515996"/>
            <a:ext cx="290464" cy="276999"/>
          </a:xfrm>
          <a:prstGeom prst="rect">
            <a:avLst/>
          </a:prstGeom>
          <a:noFill/>
        </p:spPr>
        <p:txBody>
          <a:bodyPr wrap="none" rtlCol="0" anchor="ctr">
            <a:spAutoFit/>
          </a:bodyPr>
          <a:lstStyle/>
          <a:p>
            <a:pPr algn="ctr"/>
            <a:r>
              <a:rPr lang="ko-KR" altLang="en-US" sz="1200" dirty="0"/>
              <a:t>≡</a:t>
            </a:r>
          </a:p>
        </p:txBody>
      </p:sp>
      <p:grpSp>
        <p:nvGrpSpPr>
          <p:cNvPr id="76" name="그룹 75">
            <a:extLst>
              <a:ext uri="{FF2B5EF4-FFF2-40B4-BE49-F238E27FC236}">
                <a16:creationId xmlns:a16="http://schemas.microsoft.com/office/drawing/2014/main" id="{22BC05EE-C648-7CA2-4CCC-6E1C1A7E9BDA}"/>
              </a:ext>
            </a:extLst>
          </p:cNvPr>
          <p:cNvGrpSpPr/>
          <p:nvPr/>
        </p:nvGrpSpPr>
        <p:grpSpPr>
          <a:xfrm>
            <a:off x="5119672" y="4874158"/>
            <a:ext cx="76863" cy="292489"/>
            <a:chOff x="3750067" y="4683795"/>
            <a:chExt cx="76863" cy="292489"/>
          </a:xfrm>
        </p:grpSpPr>
        <p:sp>
          <p:nvSpPr>
            <p:cNvPr id="77" name="타원 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8" name="타원 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9" name="타원 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80" name="모서리가 둥근 직사각형 79"/>
          <p:cNvSpPr/>
          <p:nvPr/>
        </p:nvSpPr>
        <p:spPr>
          <a:xfrm>
            <a:off x="3908152"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82" name="TextBox 58">
            <a:extLst>
              <a:ext uri="{FF2B5EF4-FFF2-40B4-BE49-F238E27FC236}">
                <a16:creationId xmlns:a16="http://schemas.microsoft.com/office/drawing/2014/main" id="{02FC114B-B48B-345F-BD70-2B5A196F5B3E}"/>
              </a:ext>
            </a:extLst>
          </p:cNvPr>
          <p:cNvSpPr txBox="1"/>
          <p:nvPr/>
        </p:nvSpPr>
        <p:spPr>
          <a:xfrm>
            <a:off x="4209534"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3802090"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4" name="TextBox 58">
            <a:extLst>
              <a:ext uri="{FF2B5EF4-FFF2-40B4-BE49-F238E27FC236}">
                <a16:creationId xmlns:a16="http://schemas.microsoft.com/office/drawing/2014/main" id="{02FC114B-B48B-345F-BD70-2B5A196F5B3E}"/>
              </a:ext>
            </a:extLst>
          </p:cNvPr>
          <p:cNvSpPr txBox="1"/>
          <p:nvPr/>
        </p:nvSpPr>
        <p:spPr>
          <a:xfrm>
            <a:off x="3899316"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85" name="직선 연결선 84">
            <a:extLst>
              <a:ext uri="{FF2B5EF4-FFF2-40B4-BE49-F238E27FC236}">
                <a16:creationId xmlns:a16="http://schemas.microsoft.com/office/drawing/2014/main" id="{E9293055-D5CD-4B9E-7F64-64B2D2CA7A52}"/>
              </a:ext>
            </a:extLst>
          </p:cNvPr>
          <p:cNvCxnSpPr/>
          <p:nvPr/>
        </p:nvCxnSpPr>
        <p:spPr>
          <a:xfrm>
            <a:off x="3802090"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58">
            <a:extLst>
              <a:ext uri="{FF2B5EF4-FFF2-40B4-BE49-F238E27FC236}">
                <a16:creationId xmlns:a16="http://schemas.microsoft.com/office/drawing/2014/main" id="{02FC114B-B48B-345F-BD70-2B5A196F5B3E}"/>
              </a:ext>
            </a:extLst>
          </p:cNvPr>
          <p:cNvSpPr txBox="1"/>
          <p:nvPr/>
        </p:nvSpPr>
        <p:spPr>
          <a:xfrm>
            <a:off x="4107311"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87" name="TextBox 86">
            <a:extLst>
              <a:ext uri="{FF2B5EF4-FFF2-40B4-BE49-F238E27FC236}">
                <a16:creationId xmlns:a16="http://schemas.microsoft.com/office/drawing/2014/main" id="{02FC114B-B48B-345F-BD70-2B5A196F5B3E}"/>
              </a:ext>
            </a:extLst>
          </p:cNvPr>
          <p:cNvSpPr txBox="1"/>
          <p:nvPr/>
        </p:nvSpPr>
        <p:spPr>
          <a:xfrm>
            <a:off x="4089407"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88" name="직선 연결선 87">
            <a:extLst>
              <a:ext uri="{FF2B5EF4-FFF2-40B4-BE49-F238E27FC236}">
                <a16:creationId xmlns:a16="http://schemas.microsoft.com/office/drawing/2014/main" id="{E9293055-D5CD-4B9E-7F64-64B2D2CA7A52}"/>
              </a:ext>
            </a:extLst>
          </p:cNvPr>
          <p:cNvCxnSpPr/>
          <p:nvPr/>
        </p:nvCxnSpPr>
        <p:spPr>
          <a:xfrm>
            <a:off x="3802090"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9" name="TextBox 58">
            <a:extLst>
              <a:ext uri="{FF2B5EF4-FFF2-40B4-BE49-F238E27FC236}">
                <a16:creationId xmlns:a16="http://schemas.microsoft.com/office/drawing/2014/main" id="{02FC114B-B48B-345F-BD70-2B5A196F5B3E}"/>
              </a:ext>
            </a:extLst>
          </p:cNvPr>
          <p:cNvSpPr txBox="1"/>
          <p:nvPr/>
        </p:nvSpPr>
        <p:spPr>
          <a:xfrm>
            <a:off x="4336596"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0" name="TextBox 58">
            <a:extLst>
              <a:ext uri="{FF2B5EF4-FFF2-40B4-BE49-F238E27FC236}">
                <a16:creationId xmlns:a16="http://schemas.microsoft.com/office/drawing/2014/main" id="{02FC114B-B48B-345F-BD70-2B5A196F5B3E}"/>
              </a:ext>
            </a:extLst>
          </p:cNvPr>
          <p:cNvSpPr txBox="1"/>
          <p:nvPr/>
        </p:nvSpPr>
        <p:spPr>
          <a:xfrm>
            <a:off x="4089407"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3802090"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TextBox 58">
            <a:extLst>
              <a:ext uri="{FF2B5EF4-FFF2-40B4-BE49-F238E27FC236}">
                <a16:creationId xmlns:a16="http://schemas.microsoft.com/office/drawing/2014/main" id="{02FC114B-B48B-345F-BD70-2B5A196F5B3E}"/>
              </a:ext>
            </a:extLst>
          </p:cNvPr>
          <p:cNvSpPr txBox="1"/>
          <p:nvPr/>
        </p:nvSpPr>
        <p:spPr>
          <a:xfrm>
            <a:off x="4336596"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5" name="TextBox 58">
            <a:extLst>
              <a:ext uri="{FF2B5EF4-FFF2-40B4-BE49-F238E27FC236}">
                <a16:creationId xmlns:a16="http://schemas.microsoft.com/office/drawing/2014/main" id="{02FC114B-B48B-345F-BD70-2B5A196F5B3E}"/>
              </a:ext>
            </a:extLst>
          </p:cNvPr>
          <p:cNvSpPr txBox="1"/>
          <p:nvPr/>
        </p:nvSpPr>
        <p:spPr>
          <a:xfrm>
            <a:off x="4089407"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3802090"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TextBox 58">
            <a:extLst>
              <a:ext uri="{FF2B5EF4-FFF2-40B4-BE49-F238E27FC236}">
                <a16:creationId xmlns:a16="http://schemas.microsoft.com/office/drawing/2014/main" id="{02FC114B-B48B-345F-BD70-2B5A196F5B3E}"/>
              </a:ext>
            </a:extLst>
          </p:cNvPr>
          <p:cNvSpPr txBox="1"/>
          <p:nvPr/>
        </p:nvSpPr>
        <p:spPr>
          <a:xfrm>
            <a:off x="4336596"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101" name="TextBox 58">
            <a:extLst>
              <a:ext uri="{FF2B5EF4-FFF2-40B4-BE49-F238E27FC236}">
                <a16:creationId xmlns:a16="http://schemas.microsoft.com/office/drawing/2014/main" id="{02FC114B-B48B-345F-BD70-2B5A196F5B3E}"/>
              </a:ext>
            </a:extLst>
          </p:cNvPr>
          <p:cNvSpPr txBox="1"/>
          <p:nvPr/>
        </p:nvSpPr>
        <p:spPr>
          <a:xfrm>
            <a:off x="4089407"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8" name="직선 연결선 107">
            <a:extLst>
              <a:ext uri="{FF2B5EF4-FFF2-40B4-BE49-F238E27FC236}">
                <a16:creationId xmlns:a16="http://schemas.microsoft.com/office/drawing/2014/main" id="{E9293055-D5CD-4B9E-7F64-64B2D2CA7A52}"/>
              </a:ext>
            </a:extLst>
          </p:cNvPr>
          <p:cNvCxnSpPr/>
          <p:nvPr/>
        </p:nvCxnSpPr>
        <p:spPr>
          <a:xfrm>
            <a:off x="3802090"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58">
            <a:extLst>
              <a:ext uri="{FF2B5EF4-FFF2-40B4-BE49-F238E27FC236}">
                <a16:creationId xmlns:a16="http://schemas.microsoft.com/office/drawing/2014/main" id="{02FC114B-B48B-345F-BD70-2B5A196F5B3E}"/>
              </a:ext>
            </a:extLst>
          </p:cNvPr>
          <p:cNvSpPr txBox="1"/>
          <p:nvPr/>
        </p:nvSpPr>
        <p:spPr>
          <a:xfrm>
            <a:off x="4336596"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802090"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1" name="TextBox 110">
            <a:extLst>
              <a:ext uri="{FF2B5EF4-FFF2-40B4-BE49-F238E27FC236}">
                <a16:creationId xmlns:a16="http://schemas.microsoft.com/office/drawing/2014/main" id="{FFC49AEA-2A8F-250C-A86A-A7751D9706C3}"/>
              </a:ext>
            </a:extLst>
          </p:cNvPr>
          <p:cNvSpPr txBox="1"/>
          <p:nvPr/>
        </p:nvSpPr>
        <p:spPr>
          <a:xfrm>
            <a:off x="4146505"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12" name="타원 111"/>
          <p:cNvSpPr/>
          <p:nvPr/>
        </p:nvSpPr>
        <p:spPr>
          <a:xfrm>
            <a:off x="3910377"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a:off x="6270239" y="2279636"/>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7" name="사각형: 둥근 모서리 31">
            <a:extLst>
              <a:ext uri="{FF2B5EF4-FFF2-40B4-BE49-F238E27FC236}">
                <a16:creationId xmlns:a16="http://schemas.microsoft.com/office/drawing/2014/main" id="{2AC143EE-93CF-3518-F0CB-8469E98507E0}"/>
              </a:ext>
            </a:extLst>
          </p:cNvPr>
          <p:cNvSpPr/>
          <p:nvPr/>
        </p:nvSpPr>
        <p:spPr>
          <a:xfrm>
            <a:off x="3912489" y="3028158"/>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18" name="사각형: 둥근 모서리 31">
            <a:extLst>
              <a:ext uri="{FF2B5EF4-FFF2-40B4-BE49-F238E27FC236}">
                <a16:creationId xmlns:a16="http://schemas.microsoft.com/office/drawing/2014/main" id="{2AC143EE-93CF-3518-F0CB-8469E98507E0}"/>
              </a:ext>
            </a:extLst>
          </p:cNvPr>
          <p:cNvSpPr/>
          <p:nvPr/>
        </p:nvSpPr>
        <p:spPr>
          <a:xfrm>
            <a:off x="3912489" y="3444097"/>
            <a:ext cx="108000" cy="108000"/>
          </a:xfrm>
          <a:prstGeom prst="roundRect">
            <a:avLst/>
          </a:prstGeom>
          <a:solidFill>
            <a:srgbClr val="0070C0"/>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en-US" sz="700" b="1" i="0" u="none" strike="noStrike" kern="0" cap="none" spc="0" normalizeH="0" baseline="0" noProof="0" dirty="0" smtClean="0">
                <a:ln>
                  <a:noFill/>
                </a:ln>
                <a:solidFill>
                  <a:schemeClr val="bg1"/>
                </a:solidFill>
                <a:effectLst/>
                <a:uLnTx/>
                <a:uFillTx/>
                <a:latin typeface="맑은 고딕"/>
              </a:rPr>
              <a:t>V</a:t>
            </a:r>
            <a:endParaRPr kumimoji="1" lang="en-US" sz="700" b="1" i="0" u="none" strike="noStrike" kern="0" cap="none" spc="0" normalizeH="0" baseline="0" noProof="0" dirty="0">
              <a:ln>
                <a:noFill/>
              </a:ln>
              <a:solidFill>
                <a:schemeClr val="bg1"/>
              </a:solidFill>
              <a:effectLst/>
              <a:uLnTx/>
              <a:uFillTx/>
              <a:latin typeface="맑은 고딕"/>
            </a:endParaRPr>
          </a:p>
        </p:txBody>
      </p:sp>
      <p:sp>
        <p:nvSpPr>
          <p:cNvPr id="119" name="사각형: 둥근 모서리 31">
            <a:extLst>
              <a:ext uri="{FF2B5EF4-FFF2-40B4-BE49-F238E27FC236}">
                <a16:creationId xmlns:a16="http://schemas.microsoft.com/office/drawing/2014/main" id="{2AC143EE-93CF-3518-F0CB-8469E98507E0}"/>
              </a:ext>
            </a:extLst>
          </p:cNvPr>
          <p:cNvSpPr/>
          <p:nvPr/>
        </p:nvSpPr>
        <p:spPr>
          <a:xfrm>
            <a:off x="3912489" y="3861946"/>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0" name="사각형: 둥근 모서리 31">
            <a:extLst>
              <a:ext uri="{FF2B5EF4-FFF2-40B4-BE49-F238E27FC236}">
                <a16:creationId xmlns:a16="http://schemas.microsoft.com/office/drawing/2014/main" id="{2AC143EE-93CF-3518-F0CB-8469E98507E0}"/>
              </a:ext>
            </a:extLst>
          </p:cNvPr>
          <p:cNvSpPr/>
          <p:nvPr/>
        </p:nvSpPr>
        <p:spPr>
          <a:xfrm>
            <a:off x="3912489" y="4277885"/>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1" name="타원 120">
            <a:extLst>
              <a:ext uri="{FF2B5EF4-FFF2-40B4-BE49-F238E27FC236}">
                <a16:creationId xmlns:a16="http://schemas.microsoft.com/office/drawing/2014/main" id="{37A7FF4F-0EAA-1463-560A-D5EC24416103}"/>
              </a:ext>
            </a:extLst>
          </p:cNvPr>
          <p:cNvSpPr/>
          <p:nvPr/>
        </p:nvSpPr>
        <p:spPr>
          <a:xfrm>
            <a:off x="3726896" y="141389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22" name="타원 121">
            <a:extLst>
              <a:ext uri="{FF2B5EF4-FFF2-40B4-BE49-F238E27FC236}">
                <a16:creationId xmlns:a16="http://schemas.microsoft.com/office/drawing/2014/main" id="{37A7FF4F-0EAA-1463-560A-D5EC24416103}"/>
              </a:ext>
            </a:extLst>
          </p:cNvPr>
          <p:cNvSpPr/>
          <p:nvPr/>
        </p:nvSpPr>
        <p:spPr>
          <a:xfrm>
            <a:off x="3726896" y="278359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23" name="타원 122">
            <a:extLst>
              <a:ext uri="{FF2B5EF4-FFF2-40B4-BE49-F238E27FC236}">
                <a16:creationId xmlns:a16="http://schemas.microsoft.com/office/drawing/2014/main" id="{37A7FF4F-0EAA-1463-560A-D5EC24416103}"/>
              </a:ext>
            </a:extLst>
          </p:cNvPr>
          <p:cNvSpPr/>
          <p:nvPr/>
        </p:nvSpPr>
        <p:spPr>
          <a:xfrm>
            <a:off x="3726896"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39852587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160</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9. </a:t>
            </a:r>
            <a:r>
              <a:rPr lang="ko-KR" altLang="en-US" dirty="0" smtClean="0"/>
              <a:t>기술평가결과 조회</a:t>
            </a:r>
            <a:endParaRPr lang="en-US" altLang="ko-KR" dirty="0"/>
          </a:p>
          <a:p>
            <a:r>
              <a:rPr lang="en-US" altLang="ko-KR" dirty="0" smtClean="0"/>
              <a:t>9.1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04039595"/>
              </p:ext>
            </p:extLst>
          </p:nvPr>
        </p:nvGraphicFramePr>
        <p:xfrm>
          <a:off x="635474" y="1413419"/>
          <a:ext cx="8701200" cy="5421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MUI-BD-07-P01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smtClean="0">
                          <a:solidFill>
                            <a:srgbClr val="000000"/>
                          </a:solidFill>
                          <a:effectLst/>
                          <a:latin typeface="맑은 고딕" panose="020B0503020000020004" pitchFamily="50" charset="-127"/>
                          <a:ea typeface="+mn-ea"/>
                          <a:cs typeface="+mn-cs"/>
                        </a:rPr>
                        <a:t>기술평가결과</a:t>
                      </a:r>
                      <a:endParaRPr lang="ko-KR" altLang="en-US" sz="8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TechEvlRsltInq</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기술평가 서류 제출 결과</a:t>
                      </a:r>
                      <a:endParaRPr lang="en-US" altLang="ko-KR"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TechEvlRsltInq.tsx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solidFill>
                            <a:schemeClr val="tx1"/>
                          </a:solidFill>
                          <a:latin typeface="+mn-ea"/>
                          <a:ea typeface="+mn-ea"/>
                        </a:rPr>
                        <a:t>UC-BD-09-03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1406962"/>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96287989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기술평가 결과를 조회</a:t>
            </a:r>
            <a:endParaRPr lang="en-US" altLang="ko-KR" dirty="0"/>
          </a:p>
          <a:p>
            <a:pPr marL="228600" indent="-228600">
              <a:buFont typeface="+mj-lt"/>
              <a:buAutoNum type="arabicPeriod"/>
            </a:pPr>
            <a:r>
              <a:rPr lang="ko-KR" altLang="en-US" dirty="0"/>
              <a:t>기술평가 결과를 내용 </a:t>
            </a:r>
            <a:r>
              <a:rPr lang="ko-KR" altLang="en-US" dirty="0" smtClean="0"/>
              <a:t>표시</a:t>
            </a:r>
            <a:r>
              <a:rPr lang="en-US" altLang="ko-KR" dirty="0" smtClean="0"/>
              <a:t/>
            </a:r>
            <a:br>
              <a:rPr lang="en-US" altLang="ko-KR" dirty="0" smtClean="0"/>
            </a:br>
            <a:r>
              <a:rPr lang="ko-KR" altLang="en-US" dirty="0" smtClean="0"/>
              <a:t>ㄴ 총건수</a:t>
            </a:r>
            <a:r>
              <a:rPr lang="en-US" altLang="ko-KR" dirty="0" smtClean="0"/>
              <a:t>, </a:t>
            </a:r>
            <a:r>
              <a:rPr lang="ko-KR" altLang="en-US" dirty="0" err="1" smtClean="0"/>
              <a:t>업체내역</a:t>
            </a:r>
            <a:r>
              <a:rPr lang="ko-KR" altLang="en-US" dirty="0" smtClean="0"/>
              <a:t> 정보 </a:t>
            </a:r>
            <a:r>
              <a:rPr lang="en-US" altLang="ko-KR" dirty="0" smtClean="0"/>
              <a:t>, </a:t>
            </a:r>
            <a:r>
              <a:rPr lang="ko-KR" altLang="en-US" dirty="0" smtClean="0"/>
              <a:t>기술평가 결과 노출</a:t>
            </a:r>
            <a:endParaRPr lang="en-US" altLang="ko-KR" dirty="0" smtClean="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a:t>기술평가결과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기술평가결과조회</a:t>
            </a:r>
            <a:r>
              <a:rPr lang="ko-KR" altLang="en-US" dirty="0"/>
              <a:t>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t>기술평가결과 </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MUI-BD-07-P01</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a:extLst>
              <a:ext uri="{FF2B5EF4-FFF2-40B4-BE49-F238E27FC236}">
                <a16:creationId xmlns:a16="http://schemas.microsoft.com/office/drawing/2014/main" id="{37A7FF4F-0EAA-1463-560A-D5EC24416103}"/>
              </a:ext>
            </a:extLst>
          </p:cNvPr>
          <p:cNvSpPr/>
          <p:nvPr/>
        </p:nvSpPr>
        <p:spPr>
          <a:xfrm>
            <a:off x="589334" y="356049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latin typeface="+mn-ea"/>
              </a:rPr>
              <a:t>00</a:t>
            </a:r>
            <a:r>
              <a:rPr lang="ko-KR" altLang="en-US" sz="700" dirty="0">
                <a:latin typeface="+mn-ea"/>
              </a:rPr>
              <a:t>건</a:t>
            </a:r>
          </a:p>
        </p:txBody>
      </p:sp>
      <p:sp>
        <p:nvSpPr>
          <p:cNvPr id="154" name="직사각형 153"/>
          <p:cNvSpPr/>
          <p:nvPr/>
        </p:nvSpPr>
        <p:spPr>
          <a:xfrm>
            <a:off x="722232" y="3827499"/>
            <a:ext cx="792000" cy="23698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4" y="3827499"/>
            <a:ext cx="808191" cy="2369880"/>
          </a:xfrm>
          <a:prstGeom prst="rect">
            <a:avLst/>
          </a:prstGeom>
          <a:noFill/>
        </p:spPr>
        <p:txBody>
          <a:bodyPr wrap="square" lIns="0" tIns="0" rIns="0" bIns="0" rtlCol="0">
            <a:spAutoFit/>
          </a:bodyPr>
          <a:lstStyle/>
          <a:p>
            <a:pPr>
              <a:lnSpc>
                <a:spcPct val="200000"/>
              </a:lnSpc>
            </a:pPr>
            <a:r>
              <a:rPr lang="ko-KR" altLang="en-US" sz="700" dirty="0" err="1" smtClean="0">
                <a:latin typeface="+mn-ea"/>
              </a:rPr>
              <a:t>공고번호</a:t>
            </a:r>
            <a:endParaRPr lang="en-US" altLang="ko-KR" sz="700" dirty="0" smtClean="0">
              <a:latin typeface="+mn-ea"/>
            </a:endParaRPr>
          </a:p>
          <a:p>
            <a:pPr>
              <a:lnSpc>
                <a:spcPct val="200000"/>
              </a:lnSpc>
            </a:pPr>
            <a:r>
              <a:rPr lang="ko-KR" altLang="en-US" sz="700" dirty="0" err="1" smtClean="0">
                <a:latin typeface="+mn-ea"/>
              </a:rPr>
              <a:t>판단번호</a:t>
            </a:r>
            <a:endParaRPr lang="en-US" altLang="ko-KR" sz="700" dirty="0" smtClean="0">
              <a:latin typeface="+mn-ea"/>
            </a:endParaRPr>
          </a:p>
          <a:p>
            <a:pPr>
              <a:lnSpc>
                <a:spcPct val="200000"/>
              </a:lnSpc>
            </a:pPr>
            <a:r>
              <a:rPr lang="ko-KR" altLang="en-US" sz="700" dirty="0" smtClean="0">
                <a:latin typeface="+mn-ea"/>
              </a:rPr>
              <a:t>통합참조번호</a:t>
            </a:r>
            <a:endParaRPr lang="en-US" altLang="ko-KR" sz="700" dirty="0" smtClean="0">
              <a:latin typeface="+mn-ea"/>
            </a:endParaRPr>
          </a:p>
          <a:p>
            <a:pPr>
              <a:lnSpc>
                <a:spcPct val="200000"/>
              </a:lnSpc>
            </a:pPr>
            <a:r>
              <a:rPr lang="ko-KR" altLang="en-US" sz="700" dirty="0" smtClean="0">
                <a:latin typeface="+mn-ea"/>
              </a:rPr>
              <a:t>발주기관</a:t>
            </a:r>
            <a:endParaRPr lang="en-US" altLang="ko-KR" sz="700" dirty="0" smtClean="0">
              <a:latin typeface="+mn-ea"/>
            </a:endParaRPr>
          </a:p>
          <a:p>
            <a:pPr>
              <a:lnSpc>
                <a:spcPct val="200000"/>
              </a:lnSpc>
            </a:pPr>
            <a:r>
              <a:rPr lang="ko-KR" altLang="en-US" sz="700" dirty="0" err="1" smtClean="0">
                <a:latin typeface="+mn-ea"/>
              </a:rPr>
              <a:t>집행유형</a:t>
            </a:r>
            <a:endParaRPr lang="en-US" altLang="ko-KR" sz="700" dirty="0" smtClean="0">
              <a:latin typeface="+mn-ea"/>
            </a:endParaRPr>
          </a:p>
          <a:p>
            <a:pPr>
              <a:lnSpc>
                <a:spcPct val="200000"/>
              </a:lnSpc>
            </a:pPr>
            <a:r>
              <a:rPr lang="ko-KR" altLang="en-US" sz="700" dirty="0" smtClean="0">
                <a:latin typeface="+mn-ea"/>
              </a:rPr>
              <a:t>계약방법</a:t>
            </a:r>
            <a:endParaRPr lang="en-US" altLang="ko-KR" sz="700" dirty="0" smtClean="0">
              <a:latin typeface="+mn-ea"/>
            </a:endParaRPr>
          </a:p>
          <a:p>
            <a:pPr>
              <a:lnSpc>
                <a:spcPct val="200000"/>
              </a:lnSpc>
            </a:pPr>
            <a:r>
              <a:rPr lang="ko-KR" altLang="en-US" sz="700" dirty="0" smtClean="0">
                <a:latin typeface="+mn-ea"/>
              </a:rPr>
              <a:t>입찰방법</a:t>
            </a:r>
            <a:endParaRPr lang="en-US" altLang="ko-KR" sz="700" dirty="0" smtClean="0">
              <a:latin typeface="+mn-ea"/>
            </a:endParaRPr>
          </a:p>
          <a:p>
            <a:pPr>
              <a:lnSpc>
                <a:spcPct val="200000"/>
              </a:lnSpc>
            </a:pPr>
            <a:r>
              <a:rPr lang="ko-KR" altLang="en-US" sz="700" dirty="0" smtClean="0">
                <a:latin typeface="+mn-ea"/>
              </a:rPr>
              <a:t>총수량</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적격심사</a:t>
            </a:r>
            <a:endParaRPr lang="en-US" altLang="ko-KR" sz="700" dirty="0" smtClean="0">
              <a:latin typeface="+mn-ea"/>
            </a:endParaRPr>
          </a:p>
          <a:p>
            <a:pPr>
              <a:lnSpc>
                <a:spcPct val="200000"/>
              </a:lnSpc>
            </a:pPr>
            <a:r>
              <a:rPr lang="ko-KR" altLang="en-US" sz="700" dirty="0" err="1" smtClean="0">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938992"/>
          </a:xfrm>
          <a:prstGeom prst="rect">
            <a:avLst/>
          </a:prstGeom>
          <a:noFill/>
        </p:spPr>
        <p:txBody>
          <a:bodyPr wrap="square" lIns="0" tIns="0" rIns="0" bIns="0" rtlCol="0">
            <a:spAutoFit/>
          </a:bodyPr>
          <a:lstStyle/>
          <a:p>
            <a:pPr>
              <a:lnSpc>
                <a:spcPct val="200000"/>
              </a:lnSpc>
            </a:pPr>
            <a:r>
              <a:rPr lang="en-US" altLang="ko-KR" sz="700" dirty="0">
                <a:latin typeface="+mn-ea"/>
              </a:rPr>
              <a:t>R0001-000</a:t>
            </a:r>
          </a:p>
          <a:p>
            <a:pPr>
              <a:lnSpc>
                <a:spcPct val="200000"/>
              </a:lnSpc>
            </a:pPr>
            <a:r>
              <a:rPr lang="en-US" altLang="ko-KR" sz="700" dirty="0">
                <a:latin typeface="+mn-ea"/>
              </a:rPr>
              <a:t>2025R0001-0001</a:t>
            </a:r>
          </a:p>
          <a:p>
            <a:pPr>
              <a:lnSpc>
                <a:spcPct val="200000"/>
              </a:lnSpc>
            </a:pPr>
            <a:r>
              <a:rPr lang="en-US" altLang="ko-KR" sz="700" dirty="0">
                <a:latin typeface="+mn-ea"/>
              </a:rPr>
              <a:t>2025-0001</a:t>
            </a:r>
          </a:p>
          <a:p>
            <a:pPr>
              <a:lnSpc>
                <a:spcPct val="200000"/>
              </a:lnSpc>
            </a:pPr>
            <a:r>
              <a:rPr lang="ko-KR" altLang="en-US" sz="700" dirty="0">
                <a:latin typeface="+mn-ea"/>
              </a:rPr>
              <a:t>국방전자조달시스템 테스트</a:t>
            </a:r>
            <a:endParaRPr lang="en-US" altLang="ko-KR" sz="700" dirty="0">
              <a:latin typeface="+mn-ea"/>
            </a:endParaRPr>
          </a:p>
          <a:p>
            <a:pPr>
              <a:lnSpc>
                <a:spcPct val="200000"/>
              </a:lnSpc>
            </a:pPr>
            <a:r>
              <a:rPr lang="ko-KR" altLang="en-US" sz="700" dirty="0" err="1">
                <a:latin typeface="+mn-ea"/>
              </a:rPr>
              <a:t>방위사업청</a:t>
            </a:r>
            <a:endParaRPr lang="en-US" altLang="ko-KR" sz="700" dirty="0">
              <a:latin typeface="+mn-ea"/>
            </a:endParaRPr>
          </a:p>
          <a:p>
            <a:pPr>
              <a:lnSpc>
                <a:spcPct val="200000"/>
              </a:lnSpc>
            </a:pPr>
            <a:r>
              <a:rPr lang="ko-KR" altLang="en-US" sz="700" dirty="0" err="1">
                <a:latin typeface="+mn-ea"/>
              </a:rPr>
              <a:t>총액제</a:t>
            </a:r>
            <a:endParaRPr lang="en-US" altLang="ko-KR" sz="700" dirty="0">
              <a:latin typeface="+mn-ea"/>
            </a:endParaRPr>
          </a:p>
          <a:p>
            <a:pPr>
              <a:lnSpc>
                <a:spcPct val="200000"/>
              </a:lnSpc>
            </a:pPr>
            <a:r>
              <a:rPr lang="en-US" altLang="ko-KR" sz="700" dirty="0">
                <a:latin typeface="+mn-ea"/>
              </a:rPr>
              <a:t>   2026-01-15 10:00:00</a:t>
            </a:r>
          </a:p>
          <a:p>
            <a:pPr>
              <a:lnSpc>
                <a:spcPct val="200000"/>
              </a:lnSpc>
            </a:pPr>
            <a:r>
              <a:rPr lang="en-US" altLang="ko-KR" sz="700" dirty="0">
                <a:latin typeface="+mn-ea"/>
              </a:rPr>
              <a:t>77.3</a:t>
            </a:r>
          </a:p>
          <a:p>
            <a:pPr>
              <a:lnSpc>
                <a:spcPct val="200000"/>
              </a:lnSpc>
            </a:pPr>
            <a:r>
              <a:rPr lang="ko-KR" altLang="en-US" sz="700" dirty="0">
                <a:latin typeface="+mn-ea"/>
              </a:rPr>
              <a:t>합격</a:t>
            </a:r>
            <a:endParaRPr lang="en-US" altLang="ko-KR" sz="700" dirty="0">
              <a:latin typeface="+mn-ea"/>
            </a:endParaRPr>
          </a:p>
        </p:txBody>
      </p:sp>
      <p:grpSp>
        <p:nvGrpSpPr>
          <p:cNvPr id="166" name="그룹 165"/>
          <p:cNvGrpSpPr/>
          <p:nvPr/>
        </p:nvGrpSpPr>
        <p:grpSpPr>
          <a:xfrm>
            <a:off x="720139" y="3827499"/>
            <a:ext cx="2630093" cy="2155060"/>
            <a:chOff x="701175" y="1835481"/>
            <a:chExt cx="2630093" cy="2155060"/>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01175" y="39905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82" name="그룹 81"/>
          <p:cNvGrpSpPr/>
          <p:nvPr/>
        </p:nvGrpSpPr>
        <p:grpSpPr>
          <a:xfrm>
            <a:off x="3800816" y="1942238"/>
            <a:ext cx="2690011" cy="2190400"/>
            <a:chOff x="3800816" y="1336107"/>
            <a:chExt cx="2690011" cy="2190400"/>
          </a:xfrm>
        </p:grpSpPr>
        <p:sp>
          <p:nvSpPr>
            <p:cNvPr id="84" name="TextBox 58">
              <a:extLst>
                <a:ext uri="{FF2B5EF4-FFF2-40B4-BE49-F238E27FC236}">
                  <a16:creationId xmlns:a16="http://schemas.microsoft.com/office/drawing/2014/main" id="{02FC114B-B48B-345F-BD70-2B5A196F5B3E}"/>
                </a:ext>
              </a:extLst>
            </p:cNvPr>
            <p:cNvSpPr txBox="1"/>
            <p:nvPr/>
          </p:nvSpPr>
          <p:spPr>
            <a:xfrm>
              <a:off x="3800816" y="1336107"/>
              <a:ext cx="2473257" cy="138499"/>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endParaRPr lang="ko-KR" altLang="en-US" sz="900" b="1" dirty="0"/>
            </a:p>
          </p:txBody>
        </p:sp>
        <p:grpSp>
          <p:nvGrpSpPr>
            <p:cNvPr id="103" name="그룹 102"/>
            <p:cNvGrpSpPr/>
            <p:nvPr/>
          </p:nvGrpSpPr>
          <p:grpSpPr>
            <a:xfrm>
              <a:off x="3886275" y="2018251"/>
              <a:ext cx="2456097" cy="181140"/>
              <a:chOff x="712467" y="1964062"/>
              <a:chExt cx="2456097" cy="181140"/>
            </a:xfrm>
          </p:grpSpPr>
          <p:sp>
            <p:nvSpPr>
              <p:cNvPr id="197" name="TextBox 196">
                <a:extLst>
                  <a:ext uri="{FF2B5EF4-FFF2-40B4-BE49-F238E27FC236}">
                    <a16:creationId xmlns:a16="http://schemas.microsoft.com/office/drawing/2014/main" id="{FFC49AEA-2A8F-250C-A86A-A7751D9706C3}"/>
                  </a:ext>
                </a:extLst>
              </p:cNvPr>
              <p:cNvSpPr txBox="1"/>
              <p:nvPr/>
            </p:nvSpPr>
            <p:spPr>
              <a:xfrm>
                <a:off x="712467" y="1964062"/>
                <a:ext cx="452259" cy="181140"/>
              </a:xfrm>
              <a:prstGeom prst="rect">
                <a:avLst/>
              </a:prstGeom>
              <a:noFill/>
            </p:spPr>
            <p:txBody>
              <a:bodyPr wrap="square" lIns="0" tIns="0" rIns="0" bIns="0" rtlCol="0">
                <a:spAutoFit/>
              </a:bodyPr>
              <a:lstStyle/>
              <a:p>
                <a:pPr>
                  <a:lnSpc>
                    <a:spcPct val="200000"/>
                  </a:lnSpc>
                </a:pPr>
                <a:r>
                  <a:rPr lang="ko-KR" altLang="en-US" sz="700" dirty="0" smtClean="0">
                    <a:latin typeface="+mn-ea"/>
                  </a:rPr>
                  <a:t>총</a:t>
                </a:r>
                <a:r>
                  <a:rPr lang="en-US" altLang="ko-KR" sz="700" dirty="0" smtClean="0">
                    <a:latin typeface="+mn-ea"/>
                  </a:rPr>
                  <a:t>00</a:t>
                </a:r>
                <a:r>
                  <a:rPr lang="ko-KR" altLang="en-US" sz="700" dirty="0" smtClean="0">
                    <a:latin typeface="+mn-ea"/>
                  </a:rPr>
                  <a:t>건</a:t>
                </a:r>
                <a:endParaRPr lang="ko-KR" altLang="en-US" sz="700" dirty="0">
                  <a:latin typeface="+mn-ea"/>
                </a:endParaRPr>
              </a:p>
            </p:txBody>
          </p:sp>
          <p:grpSp>
            <p:nvGrpSpPr>
              <p:cNvPr id="198" name="그룹 197"/>
              <p:cNvGrpSpPr/>
              <p:nvPr/>
            </p:nvGrpSpPr>
            <p:grpSpPr>
              <a:xfrm flipV="1">
                <a:off x="3074554" y="2077393"/>
                <a:ext cx="94010" cy="47005"/>
                <a:chOff x="6812560" y="3297172"/>
                <a:chExt cx="94010" cy="47005"/>
              </a:xfrm>
            </p:grpSpPr>
            <p:cxnSp>
              <p:nvCxnSpPr>
                <p:cNvPr id="199" name="직선 연결선 1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0" name="직선 연결선 1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04" name="그룹 103"/>
            <p:cNvGrpSpPr/>
            <p:nvPr/>
          </p:nvGrpSpPr>
          <p:grpSpPr>
            <a:xfrm>
              <a:off x="3886275" y="2566525"/>
              <a:ext cx="2456097" cy="181140"/>
              <a:chOff x="712467" y="2404329"/>
              <a:chExt cx="2456097" cy="181140"/>
            </a:xfrm>
          </p:grpSpPr>
          <p:sp>
            <p:nvSpPr>
              <p:cNvPr id="184" name="TextBox 183">
                <a:extLst>
                  <a:ext uri="{FF2B5EF4-FFF2-40B4-BE49-F238E27FC236}">
                    <a16:creationId xmlns:a16="http://schemas.microsoft.com/office/drawing/2014/main" id="{FFC49AEA-2A8F-250C-A86A-A7751D9706C3}"/>
                  </a:ext>
                </a:extLst>
              </p:cNvPr>
              <p:cNvSpPr txBox="1"/>
              <p:nvPr/>
            </p:nvSpPr>
            <p:spPr>
              <a:xfrm>
                <a:off x="712467" y="2404329"/>
                <a:ext cx="452259"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업체내역</a:t>
                </a:r>
                <a:endParaRPr lang="ko-KR" altLang="en-US" sz="700" dirty="0">
                  <a:latin typeface="+mn-ea"/>
                </a:endParaRPr>
              </a:p>
            </p:txBody>
          </p:sp>
          <p:grpSp>
            <p:nvGrpSpPr>
              <p:cNvPr id="185" name="그룹 184"/>
              <p:cNvGrpSpPr/>
              <p:nvPr/>
            </p:nvGrpSpPr>
            <p:grpSpPr>
              <a:xfrm flipV="1">
                <a:off x="3074554" y="2517660"/>
                <a:ext cx="94010" cy="47005"/>
                <a:chOff x="6812560" y="3297172"/>
                <a:chExt cx="94010" cy="47005"/>
              </a:xfrm>
            </p:grpSpPr>
            <p:cxnSp>
              <p:nvCxnSpPr>
                <p:cNvPr id="195" name="직선 연결선 19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6" name="직선 연결선 19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05" name="그룹 104"/>
            <p:cNvGrpSpPr/>
            <p:nvPr/>
          </p:nvGrpSpPr>
          <p:grpSpPr>
            <a:xfrm>
              <a:off x="3886275" y="3114799"/>
              <a:ext cx="2456097" cy="181140"/>
              <a:chOff x="712467" y="2404329"/>
              <a:chExt cx="2456097" cy="181140"/>
            </a:xfrm>
          </p:grpSpPr>
          <p:sp>
            <p:nvSpPr>
              <p:cNvPr id="178" name="TextBox 177">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기술평가결과</a:t>
                </a:r>
                <a:endParaRPr lang="ko-KR" altLang="en-US" sz="700" dirty="0">
                  <a:latin typeface="+mn-ea"/>
                </a:endParaRPr>
              </a:p>
            </p:txBody>
          </p:sp>
          <p:grpSp>
            <p:nvGrpSpPr>
              <p:cNvPr id="179" name="그룹 178"/>
              <p:cNvGrpSpPr/>
              <p:nvPr/>
            </p:nvGrpSpPr>
            <p:grpSpPr>
              <a:xfrm flipV="1">
                <a:off x="3074554" y="2517660"/>
                <a:ext cx="94010" cy="47005"/>
                <a:chOff x="6812560" y="3297172"/>
                <a:chExt cx="94010" cy="47005"/>
              </a:xfrm>
            </p:grpSpPr>
            <p:cxnSp>
              <p:nvCxnSpPr>
                <p:cNvPr id="180" name="직선 연결선 17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3" name="직선 연결선 18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10" name="직선 연결선 109">
              <a:extLst>
                <a:ext uri="{FF2B5EF4-FFF2-40B4-BE49-F238E27FC236}">
                  <a16:creationId xmlns:a16="http://schemas.microsoft.com/office/drawing/2014/main" id="{E9293055-D5CD-4B9E-7F64-64B2D2CA7A52}"/>
                </a:ext>
              </a:extLst>
            </p:cNvPr>
            <p:cNvCxnSpPr/>
            <p:nvPr/>
          </p:nvCxnSpPr>
          <p:spPr>
            <a:xfrm>
              <a:off x="3868983" y="24106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3868983" y="29685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3868983" y="352650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1" name="직사각형 210">
            <a:extLst>
              <a:ext uri="{FF2B5EF4-FFF2-40B4-BE49-F238E27FC236}">
                <a16:creationId xmlns:a16="http://schemas.microsoft.com/office/drawing/2014/main" id="{F56F1743-11A0-EA94-9184-4E42C0A37F9C}"/>
              </a:ext>
            </a:extLst>
          </p:cNvPr>
          <p:cNvSpPr/>
          <p:nvPr/>
        </p:nvSpPr>
        <p:spPr>
          <a:xfrm>
            <a:off x="3776732" y="1501751"/>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양쪽 모서리가 둥근 사각형 211"/>
          <p:cNvSpPr/>
          <p:nvPr/>
        </p:nvSpPr>
        <p:spPr>
          <a:xfrm>
            <a:off x="3782149" y="2116345"/>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grpSp>
        <p:nvGrpSpPr>
          <p:cNvPr id="213" name="그룹 212"/>
          <p:cNvGrpSpPr/>
          <p:nvPr/>
        </p:nvGrpSpPr>
        <p:grpSpPr>
          <a:xfrm>
            <a:off x="6285291" y="2273335"/>
            <a:ext cx="94010" cy="94010"/>
            <a:chOff x="6812560" y="3297172"/>
            <a:chExt cx="94010" cy="94010"/>
          </a:xfrm>
        </p:grpSpPr>
        <p:cxnSp>
          <p:nvCxnSpPr>
            <p:cNvPr id="214" name="직선 연결선 21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15" name="직선 연결선 21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16" name="TextBox 215">
            <a:extLst>
              <a:ext uri="{FF2B5EF4-FFF2-40B4-BE49-F238E27FC236}">
                <a16:creationId xmlns:a16="http://schemas.microsoft.com/office/drawing/2014/main" id="{FFC49AEA-2A8F-250C-A86A-A7751D9706C3}"/>
              </a:ext>
            </a:extLst>
          </p:cNvPr>
          <p:cNvSpPr txBox="1"/>
          <p:nvPr/>
        </p:nvSpPr>
        <p:spPr>
          <a:xfrm>
            <a:off x="3925429"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sp>
        <p:nvSpPr>
          <p:cNvPr id="217" name="모서리가 둥근 직사각형 216"/>
          <p:cNvSpPr/>
          <p:nvPr/>
        </p:nvSpPr>
        <p:spPr>
          <a:xfrm>
            <a:off x="4862745"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3795734" y="243260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9" name="직사각형 218"/>
          <p:cNvSpPr/>
          <p:nvPr/>
        </p:nvSpPr>
        <p:spPr>
          <a:xfrm>
            <a:off x="8223250" y="-159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a:bodyPr>
          <a:lstStyle/>
          <a:p>
            <a:pPr algn="ctr"/>
            <a:r>
              <a:rPr lang="en-US" altLang="ko-KR" sz="700" dirty="0" smtClean="0"/>
              <a:t>2026-07-13 </a:t>
            </a:r>
            <a:r>
              <a:rPr lang="ko-KR" altLang="en-US" sz="700" dirty="0" smtClean="0"/>
              <a:t>화면 </a:t>
            </a:r>
            <a:r>
              <a:rPr lang="ko-KR" altLang="en-US" sz="700" dirty="0"/>
              <a:t>수정</a:t>
            </a:r>
          </a:p>
        </p:txBody>
      </p:sp>
      <p:sp>
        <p:nvSpPr>
          <p:cNvPr id="220" name="직사각형 219"/>
          <p:cNvSpPr/>
          <p:nvPr/>
        </p:nvSpPr>
        <p:spPr>
          <a:xfrm>
            <a:off x="9906000" y="-1590"/>
            <a:ext cx="1682750" cy="459506"/>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업체내역</a:t>
            </a:r>
            <a:r>
              <a:rPr lang="en-US" altLang="ko-KR" sz="700" dirty="0" smtClean="0"/>
              <a:t>, </a:t>
            </a:r>
            <a:r>
              <a:rPr lang="ko-KR" altLang="en-US" sz="700" dirty="0" smtClean="0"/>
              <a:t>기술평가결과 </a:t>
            </a:r>
            <a:r>
              <a:rPr lang="ko-KR" altLang="en-US" sz="700" dirty="0" err="1" smtClean="0"/>
              <a:t>화면추가</a:t>
            </a:r>
            <a:endParaRPr lang="en-US" altLang="ko-KR" sz="700" dirty="0" smtClean="0"/>
          </a:p>
        </p:txBody>
      </p:sp>
    </p:spTree>
    <p:extLst>
      <p:ext uri="{BB962C8B-B14F-4D97-AF65-F5344CB8AC3E}">
        <p14:creationId xmlns:p14="http://schemas.microsoft.com/office/powerpoint/2010/main" val="362469535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기술평가 결과를 조회</a:t>
            </a:r>
            <a:endParaRPr lang="en-US" altLang="ko-KR" dirty="0"/>
          </a:p>
          <a:p>
            <a:pPr marL="228600" indent="-228600">
              <a:buFont typeface="+mj-lt"/>
              <a:buAutoNum type="arabicPeriod"/>
            </a:pPr>
            <a:r>
              <a:rPr lang="ko-KR" altLang="en-US" dirty="0"/>
              <a:t>기술평가 결과를 내용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기술평가결과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기술평가결과조회</a:t>
            </a:r>
            <a:r>
              <a:rPr lang="ko-KR" altLang="en-US" dirty="0"/>
              <a:t>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t>기술평가결과 </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MUI-BD-07-P01</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a:extLst>
              <a:ext uri="{FF2B5EF4-FFF2-40B4-BE49-F238E27FC236}">
                <a16:creationId xmlns:a16="http://schemas.microsoft.com/office/drawing/2014/main" id="{37A7FF4F-0EAA-1463-560A-D5EC24416103}"/>
              </a:ext>
            </a:extLst>
          </p:cNvPr>
          <p:cNvSpPr/>
          <p:nvPr/>
        </p:nvSpPr>
        <p:spPr>
          <a:xfrm>
            <a:off x="589334" y="356049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latin typeface="+mn-ea"/>
              </a:rPr>
              <a:t>00</a:t>
            </a:r>
            <a:r>
              <a:rPr lang="ko-KR" altLang="en-US" sz="700" dirty="0">
                <a:latin typeface="+mn-ea"/>
              </a:rPr>
              <a:t>건</a:t>
            </a:r>
          </a:p>
        </p:txBody>
      </p:sp>
      <p:sp>
        <p:nvSpPr>
          <p:cNvPr id="154" name="직사각형 153"/>
          <p:cNvSpPr/>
          <p:nvPr/>
        </p:nvSpPr>
        <p:spPr>
          <a:xfrm>
            <a:off x="722232" y="3827499"/>
            <a:ext cx="792000" cy="23698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4" y="3827499"/>
            <a:ext cx="808191" cy="2369880"/>
          </a:xfrm>
          <a:prstGeom prst="rect">
            <a:avLst/>
          </a:prstGeom>
          <a:noFill/>
        </p:spPr>
        <p:txBody>
          <a:bodyPr wrap="square" lIns="0" tIns="0" rIns="0" bIns="0" rtlCol="0">
            <a:spAutoFit/>
          </a:bodyPr>
          <a:lstStyle/>
          <a:p>
            <a:pPr>
              <a:lnSpc>
                <a:spcPct val="200000"/>
              </a:lnSpc>
            </a:pPr>
            <a:r>
              <a:rPr lang="ko-KR" altLang="en-US" sz="700" dirty="0" err="1" smtClean="0">
                <a:latin typeface="+mn-ea"/>
              </a:rPr>
              <a:t>공고번호</a:t>
            </a:r>
            <a:endParaRPr lang="en-US" altLang="ko-KR" sz="700" dirty="0" smtClean="0">
              <a:latin typeface="+mn-ea"/>
            </a:endParaRPr>
          </a:p>
          <a:p>
            <a:pPr>
              <a:lnSpc>
                <a:spcPct val="200000"/>
              </a:lnSpc>
            </a:pPr>
            <a:r>
              <a:rPr lang="ko-KR" altLang="en-US" sz="700" dirty="0" err="1" smtClean="0">
                <a:latin typeface="+mn-ea"/>
              </a:rPr>
              <a:t>판단번호</a:t>
            </a:r>
            <a:endParaRPr lang="en-US" altLang="ko-KR" sz="700" dirty="0" smtClean="0">
              <a:latin typeface="+mn-ea"/>
            </a:endParaRPr>
          </a:p>
          <a:p>
            <a:pPr>
              <a:lnSpc>
                <a:spcPct val="200000"/>
              </a:lnSpc>
            </a:pPr>
            <a:r>
              <a:rPr lang="ko-KR" altLang="en-US" sz="700" dirty="0" smtClean="0">
                <a:latin typeface="+mn-ea"/>
              </a:rPr>
              <a:t>통합참조번호</a:t>
            </a:r>
            <a:endParaRPr lang="en-US" altLang="ko-KR" sz="700" dirty="0" smtClean="0">
              <a:latin typeface="+mn-ea"/>
            </a:endParaRPr>
          </a:p>
          <a:p>
            <a:pPr>
              <a:lnSpc>
                <a:spcPct val="200000"/>
              </a:lnSpc>
            </a:pPr>
            <a:r>
              <a:rPr lang="ko-KR" altLang="en-US" sz="700" dirty="0" smtClean="0">
                <a:latin typeface="+mn-ea"/>
              </a:rPr>
              <a:t>발주기관</a:t>
            </a:r>
            <a:endParaRPr lang="en-US" altLang="ko-KR" sz="700" dirty="0" smtClean="0">
              <a:latin typeface="+mn-ea"/>
            </a:endParaRPr>
          </a:p>
          <a:p>
            <a:pPr>
              <a:lnSpc>
                <a:spcPct val="200000"/>
              </a:lnSpc>
            </a:pPr>
            <a:r>
              <a:rPr lang="ko-KR" altLang="en-US" sz="700" dirty="0" err="1" smtClean="0">
                <a:latin typeface="+mn-ea"/>
              </a:rPr>
              <a:t>집행유형</a:t>
            </a:r>
            <a:endParaRPr lang="en-US" altLang="ko-KR" sz="700" dirty="0" smtClean="0">
              <a:latin typeface="+mn-ea"/>
            </a:endParaRPr>
          </a:p>
          <a:p>
            <a:pPr>
              <a:lnSpc>
                <a:spcPct val="200000"/>
              </a:lnSpc>
            </a:pPr>
            <a:r>
              <a:rPr lang="ko-KR" altLang="en-US" sz="700" dirty="0" smtClean="0">
                <a:latin typeface="+mn-ea"/>
              </a:rPr>
              <a:t>계약방법</a:t>
            </a:r>
            <a:endParaRPr lang="en-US" altLang="ko-KR" sz="700" dirty="0" smtClean="0">
              <a:latin typeface="+mn-ea"/>
            </a:endParaRPr>
          </a:p>
          <a:p>
            <a:pPr>
              <a:lnSpc>
                <a:spcPct val="200000"/>
              </a:lnSpc>
            </a:pPr>
            <a:r>
              <a:rPr lang="ko-KR" altLang="en-US" sz="700" dirty="0" smtClean="0">
                <a:latin typeface="+mn-ea"/>
              </a:rPr>
              <a:t>입찰방법</a:t>
            </a:r>
            <a:endParaRPr lang="en-US" altLang="ko-KR" sz="700" dirty="0" smtClean="0">
              <a:latin typeface="+mn-ea"/>
            </a:endParaRPr>
          </a:p>
          <a:p>
            <a:pPr>
              <a:lnSpc>
                <a:spcPct val="200000"/>
              </a:lnSpc>
            </a:pPr>
            <a:r>
              <a:rPr lang="ko-KR" altLang="en-US" sz="700" dirty="0" smtClean="0">
                <a:latin typeface="+mn-ea"/>
              </a:rPr>
              <a:t>총수량</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적격심사</a:t>
            </a:r>
            <a:endParaRPr lang="en-US" altLang="ko-KR" sz="700" dirty="0" smtClean="0">
              <a:latin typeface="+mn-ea"/>
            </a:endParaRPr>
          </a:p>
          <a:p>
            <a:pPr>
              <a:lnSpc>
                <a:spcPct val="200000"/>
              </a:lnSpc>
            </a:pPr>
            <a:r>
              <a:rPr lang="ko-KR" altLang="en-US" sz="700" dirty="0" err="1" smtClean="0">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2369880"/>
          </a:xfrm>
          <a:prstGeom prst="rect">
            <a:avLst/>
          </a:prstGeom>
          <a:noFill/>
        </p:spPr>
        <p:txBody>
          <a:bodyPr wrap="square" lIns="0" tIns="0" rIns="0" bIns="0" rtlCol="0">
            <a:spAutoFit/>
          </a:bodyPr>
          <a:lstStyle/>
          <a:p>
            <a:pPr>
              <a:lnSpc>
                <a:spcPct val="200000"/>
              </a:lnSpc>
            </a:pPr>
            <a:r>
              <a:rPr lang="en-US" altLang="ko-KR" sz="700" dirty="0">
                <a:latin typeface="+mn-ea"/>
              </a:rPr>
              <a:t>R0001-000</a:t>
            </a:r>
          </a:p>
          <a:p>
            <a:pPr>
              <a:lnSpc>
                <a:spcPct val="200000"/>
              </a:lnSpc>
            </a:pPr>
            <a:r>
              <a:rPr lang="en-US" altLang="ko-KR" sz="700" dirty="0">
                <a:latin typeface="+mn-ea"/>
              </a:rPr>
              <a:t>2025R0001-0001</a:t>
            </a:r>
          </a:p>
          <a:p>
            <a:pPr>
              <a:lnSpc>
                <a:spcPct val="200000"/>
              </a:lnSpc>
            </a:pPr>
            <a:r>
              <a:rPr lang="en-US" altLang="ko-KR" sz="700" dirty="0">
                <a:latin typeface="+mn-ea"/>
              </a:rPr>
              <a:t>2025-0001</a:t>
            </a:r>
          </a:p>
          <a:p>
            <a:pPr>
              <a:lnSpc>
                <a:spcPct val="200000"/>
              </a:lnSpc>
            </a:pPr>
            <a:r>
              <a:rPr lang="ko-KR" altLang="en-US" sz="700" dirty="0" err="1">
                <a:latin typeface="+mn-ea"/>
              </a:rPr>
              <a:t>방위사업청</a:t>
            </a:r>
            <a:endParaRPr lang="en-US" altLang="ko-KR" sz="700" dirty="0">
              <a:latin typeface="+mn-ea"/>
            </a:endParaRPr>
          </a:p>
          <a:p>
            <a:pPr>
              <a:lnSpc>
                <a:spcPct val="200000"/>
              </a:lnSpc>
            </a:pPr>
            <a:r>
              <a:rPr lang="ko-KR" altLang="en-US" sz="700" dirty="0" smtClean="0">
                <a:latin typeface="+mn-ea"/>
              </a:rPr>
              <a:t>국방전자조달시스템 </a:t>
            </a:r>
            <a:r>
              <a:rPr lang="ko-KR" altLang="en-US" sz="700" dirty="0">
                <a:latin typeface="+mn-ea"/>
              </a:rPr>
              <a:t>테스트</a:t>
            </a:r>
            <a:endParaRPr lang="en-US" altLang="ko-KR" sz="700" dirty="0">
              <a:latin typeface="+mn-ea"/>
            </a:endParaRPr>
          </a:p>
          <a:p>
            <a:pPr>
              <a:lnSpc>
                <a:spcPct val="200000"/>
              </a:lnSpc>
            </a:pPr>
            <a:r>
              <a:rPr lang="ko-KR" altLang="en-US" sz="700" dirty="0" err="1" smtClean="0">
                <a:latin typeface="+mn-ea"/>
              </a:rPr>
              <a:t>총액제</a:t>
            </a:r>
            <a:endParaRPr lang="en-US" altLang="ko-KR" sz="700" dirty="0">
              <a:latin typeface="+mn-ea"/>
            </a:endParaRPr>
          </a:p>
          <a:p>
            <a:pPr>
              <a:lnSpc>
                <a:spcPct val="200000"/>
              </a:lnSpc>
            </a:pPr>
            <a:r>
              <a:rPr lang="en-US" altLang="ko-KR" sz="700" dirty="0">
                <a:latin typeface="+mn-ea"/>
              </a:rPr>
              <a:t>   2026-01-15 10:00:00</a:t>
            </a:r>
          </a:p>
          <a:p>
            <a:pPr>
              <a:lnSpc>
                <a:spcPct val="200000"/>
              </a:lnSpc>
            </a:pPr>
            <a:r>
              <a:rPr lang="en-US" altLang="ko-KR" sz="700" dirty="0">
                <a:latin typeface="+mn-ea"/>
              </a:rPr>
              <a:t>77.3</a:t>
            </a:r>
          </a:p>
          <a:p>
            <a:pPr>
              <a:lnSpc>
                <a:spcPct val="200000"/>
              </a:lnSpc>
            </a:pPr>
            <a:r>
              <a:rPr lang="en-US" altLang="ko-KR" sz="700" dirty="0" smtClean="0">
                <a:latin typeface="+mn-ea"/>
              </a:rPr>
              <a:t>100,000,000</a:t>
            </a:r>
          </a:p>
          <a:p>
            <a:pPr>
              <a:lnSpc>
                <a:spcPct val="200000"/>
              </a:lnSpc>
            </a:pPr>
            <a:r>
              <a:rPr lang="ko-KR" altLang="en-US" sz="700" dirty="0" smtClean="0">
                <a:latin typeface="+mn-ea"/>
              </a:rPr>
              <a:t>합격</a:t>
            </a:r>
            <a:endParaRPr lang="en-US" altLang="ko-KR" sz="700" dirty="0" smtClean="0">
              <a:latin typeface="+mn-ea"/>
            </a:endParaRPr>
          </a:p>
          <a:p>
            <a:pPr>
              <a:lnSpc>
                <a:spcPct val="200000"/>
              </a:lnSpc>
            </a:pPr>
            <a:r>
              <a:rPr lang="en-US" altLang="ko-KR" sz="700" dirty="0" smtClean="0">
                <a:latin typeface="+mn-ea"/>
              </a:rPr>
              <a:t>2026.07.13</a:t>
            </a:r>
            <a:endParaRPr lang="en-US" altLang="ko-KR" sz="700" dirty="0">
              <a:latin typeface="+mn-ea"/>
            </a:endParaRPr>
          </a:p>
        </p:txBody>
      </p:sp>
      <p:grpSp>
        <p:nvGrpSpPr>
          <p:cNvPr id="166" name="그룹 165"/>
          <p:cNvGrpSpPr/>
          <p:nvPr/>
        </p:nvGrpSpPr>
        <p:grpSpPr>
          <a:xfrm>
            <a:off x="720139" y="3827499"/>
            <a:ext cx="2630093" cy="2155060"/>
            <a:chOff x="701175" y="1835481"/>
            <a:chExt cx="2630093" cy="2155060"/>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01175" y="39905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4" name="그룹 93"/>
          <p:cNvGrpSpPr/>
          <p:nvPr/>
        </p:nvGrpSpPr>
        <p:grpSpPr>
          <a:xfrm>
            <a:off x="3795734" y="5614711"/>
            <a:ext cx="2712027" cy="617588"/>
            <a:chOff x="675399" y="5614711"/>
            <a:chExt cx="2712027" cy="617588"/>
          </a:xfrm>
        </p:grpSpPr>
        <p:sp>
          <p:nvSpPr>
            <p:cNvPr id="102" name="직사각형 10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3" name="사각형: 둥근 모서리 15">
              <a:extLst>
                <a:ext uri="{FF2B5EF4-FFF2-40B4-BE49-F238E27FC236}">
                  <a16:creationId xmlns:a16="http://schemas.microsoft.com/office/drawing/2014/main" id="{E2B61CFB-AD16-68D0-8752-50D9C5E01971}"/>
                </a:ext>
              </a:extLst>
            </p:cNvPr>
            <p:cNvSpPr/>
            <p:nvPr/>
          </p:nvSpPr>
          <p:spPr>
            <a:xfrm>
              <a:off x="767702" y="5745391"/>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sp>
        <p:nvSpPr>
          <p:cNvPr id="125" name="직사각형 12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7" name="그룹 126">
            <a:extLst>
              <a:ext uri="{FF2B5EF4-FFF2-40B4-BE49-F238E27FC236}">
                <a16:creationId xmlns:a16="http://schemas.microsoft.com/office/drawing/2014/main" id="{22BC05EE-C648-7CA2-4CCC-6E1C1A7E9BDA}"/>
              </a:ext>
            </a:extLst>
          </p:cNvPr>
          <p:cNvGrpSpPr/>
          <p:nvPr/>
        </p:nvGrpSpPr>
        <p:grpSpPr>
          <a:xfrm>
            <a:off x="5132807" y="4981706"/>
            <a:ext cx="76863" cy="292489"/>
            <a:chOff x="3750067" y="4683795"/>
            <a:chExt cx="76863" cy="292489"/>
          </a:xfrm>
        </p:grpSpPr>
        <p:sp>
          <p:nvSpPr>
            <p:cNvPr id="131" name="타원 13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3" name="타원 132">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4" name="타원 133">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38" name="사각형: 둥근 모서리 15">
            <a:extLst>
              <a:ext uri="{FF2B5EF4-FFF2-40B4-BE49-F238E27FC236}">
                <a16:creationId xmlns:a16="http://schemas.microsoft.com/office/drawing/2014/main" id="{E2B61CFB-AD16-68D0-8752-50D9C5E01971}"/>
              </a:ext>
            </a:extLst>
          </p:cNvPr>
          <p:cNvSpPr/>
          <p:nvPr/>
        </p:nvSpPr>
        <p:spPr>
          <a:xfrm>
            <a:off x="3843514" y="5316641"/>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39" name="직사각형 138"/>
          <p:cNvSpPr/>
          <p:nvPr/>
        </p:nvSpPr>
        <p:spPr>
          <a:xfrm>
            <a:off x="3855670" y="2792404"/>
            <a:ext cx="792000" cy="65447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3942732" y="2792403"/>
            <a:ext cx="808191" cy="612027"/>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업체코드</a:t>
            </a:r>
            <a:endParaRPr lang="en-US" altLang="ko-KR" sz="700" dirty="0" smtClean="0">
              <a:latin typeface="+mn-ea"/>
            </a:endParaRPr>
          </a:p>
          <a:p>
            <a:pPr>
              <a:lnSpc>
                <a:spcPct val="200000"/>
              </a:lnSpc>
            </a:pPr>
            <a:r>
              <a:rPr lang="ko-KR" altLang="en-US" sz="700" dirty="0" err="1" smtClean="0">
                <a:latin typeface="+mn-ea"/>
              </a:rPr>
              <a:t>업체명</a:t>
            </a:r>
            <a:endParaRPr lang="en-US" altLang="ko-KR" sz="700" dirty="0" smtClean="0">
              <a:latin typeface="+mn-ea"/>
            </a:endParaRPr>
          </a:p>
          <a:p>
            <a:pPr>
              <a:lnSpc>
                <a:spcPct val="200000"/>
              </a:lnSpc>
            </a:pPr>
            <a:r>
              <a:rPr lang="ko-KR" altLang="en-US" sz="700" dirty="0" smtClean="0">
                <a:latin typeface="+mn-ea"/>
              </a:rPr>
              <a:t>대표자</a:t>
            </a:r>
            <a:endParaRPr lang="en-US" altLang="ko-KR"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4699582" y="2792403"/>
            <a:ext cx="1784088" cy="646331"/>
          </a:xfrm>
          <a:prstGeom prst="rect">
            <a:avLst/>
          </a:prstGeom>
          <a:noFill/>
        </p:spPr>
        <p:txBody>
          <a:bodyPr wrap="square" lIns="0" tIns="0" rIns="0" bIns="0" rtlCol="0">
            <a:spAutoFit/>
          </a:bodyPr>
          <a:lstStyle/>
          <a:p>
            <a:pPr>
              <a:lnSpc>
                <a:spcPct val="200000"/>
              </a:lnSpc>
            </a:pPr>
            <a:r>
              <a:rPr lang="en-US" altLang="ko-KR" sz="700" dirty="0" smtClean="0">
                <a:latin typeface="+mn-ea"/>
              </a:rPr>
              <a:t>Ds145ae</a:t>
            </a:r>
          </a:p>
          <a:p>
            <a:pPr>
              <a:lnSpc>
                <a:spcPct val="200000"/>
              </a:lnSpc>
            </a:pPr>
            <a:r>
              <a:rPr lang="ko-KR" altLang="en-US" sz="700" dirty="0" err="1" smtClean="0">
                <a:latin typeface="+mn-ea"/>
              </a:rPr>
              <a:t>방위업체</a:t>
            </a:r>
            <a:endParaRPr lang="en-US" altLang="ko-KR" sz="700" dirty="0" smtClean="0">
              <a:latin typeface="+mn-ea"/>
            </a:endParaRPr>
          </a:p>
          <a:p>
            <a:pPr>
              <a:lnSpc>
                <a:spcPct val="200000"/>
              </a:lnSpc>
            </a:pPr>
            <a:r>
              <a:rPr lang="ko-KR" altLang="en-US" sz="700" dirty="0" err="1" smtClean="0">
                <a:latin typeface="+mn-ea"/>
              </a:rPr>
              <a:t>김방위</a:t>
            </a:r>
            <a:endParaRPr lang="en-US" altLang="ko-KR" sz="700" dirty="0">
              <a:latin typeface="+mn-ea"/>
            </a:endParaRPr>
          </a:p>
        </p:txBody>
      </p:sp>
      <p:grpSp>
        <p:nvGrpSpPr>
          <p:cNvPr id="145" name="그룹 144"/>
          <p:cNvGrpSpPr/>
          <p:nvPr/>
        </p:nvGrpSpPr>
        <p:grpSpPr>
          <a:xfrm>
            <a:off x="3853577" y="2792403"/>
            <a:ext cx="2630093" cy="644220"/>
            <a:chOff x="701175" y="1835481"/>
            <a:chExt cx="2630093" cy="644220"/>
          </a:xfrm>
        </p:grpSpPr>
        <p:cxnSp>
          <p:nvCxnSpPr>
            <p:cNvPr id="147" name="직선 연결선 14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8" name="양쪽 모서리가 둥근 사각형 187"/>
          <p:cNvSpPr/>
          <p:nvPr/>
        </p:nvSpPr>
        <p:spPr>
          <a:xfrm>
            <a:off x="3804197"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89" name="모서리가 둥근 직사각형 188"/>
          <p:cNvSpPr/>
          <p:nvPr/>
        </p:nvSpPr>
        <p:spPr>
          <a:xfrm>
            <a:off x="4890210"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90" name="그룹 189"/>
          <p:cNvGrpSpPr/>
          <p:nvPr/>
        </p:nvGrpSpPr>
        <p:grpSpPr>
          <a:xfrm>
            <a:off x="6293136" y="2273335"/>
            <a:ext cx="94010" cy="94010"/>
            <a:chOff x="6812560" y="3297172"/>
            <a:chExt cx="94010" cy="94010"/>
          </a:xfrm>
        </p:grpSpPr>
        <p:cxnSp>
          <p:nvCxnSpPr>
            <p:cNvPr id="191" name="직선 연결선 19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2" name="직선 연결선 19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93" name="TextBox 192">
            <a:extLst>
              <a:ext uri="{FF2B5EF4-FFF2-40B4-BE49-F238E27FC236}">
                <a16:creationId xmlns:a16="http://schemas.microsoft.com/office/drawing/2014/main" id="{FFC49AEA-2A8F-250C-A86A-A7751D9706C3}"/>
              </a:ext>
            </a:extLst>
          </p:cNvPr>
          <p:cNvSpPr txBox="1"/>
          <p:nvPr/>
        </p:nvSpPr>
        <p:spPr>
          <a:xfrm>
            <a:off x="3933274"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04197"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2" name="TextBox 81">
            <a:extLst>
              <a:ext uri="{FF2B5EF4-FFF2-40B4-BE49-F238E27FC236}">
                <a16:creationId xmlns:a16="http://schemas.microsoft.com/office/drawing/2014/main" id="{FFC49AEA-2A8F-250C-A86A-A7751D9706C3}"/>
              </a:ext>
            </a:extLst>
          </p:cNvPr>
          <p:cNvSpPr txBox="1"/>
          <p:nvPr/>
        </p:nvSpPr>
        <p:spPr>
          <a:xfrm>
            <a:off x="3878588" y="2557861"/>
            <a:ext cx="1757861"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업체내역</a:t>
            </a:r>
            <a:endParaRPr lang="ko-KR" altLang="en-US" sz="700" dirty="0">
              <a:latin typeface="+mn-ea"/>
            </a:endParaRPr>
          </a:p>
        </p:txBody>
      </p:sp>
      <p:sp>
        <p:nvSpPr>
          <p:cNvPr id="83" name="직사각형 82"/>
          <p:cNvSpPr/>
          <p:nvPr/>
        </p:nvSpPr>
        <p:spPr>
          <a:xfrm>
            <a:off x="3855670" y="3814429"/>
            <a:ext cx="792000" cy="4267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3942732" y="3814428"/>
            <a:ext cx="808191" cy="430887"/>
          </a:xfrm>
          <a:prstGeom prst="rect">
            <a:avLst/>
          </a:prstGeom>
          <a:noFill/>
        </p:spPr>
        <p:txBody>
          <a:bodyPr wrap="square" lIns="0" tIns="0" rIns="0" bIns="0" rtlCol="0">
            <a:spAutoFit/>
          </a:bodyPr>
          <a:lstStyle/>
          <a:p>
            <a:pPr>
              <a:lnSpc>
                <a:spcPct val="200000"/>
              </a:lnSpc>
            </a:pPr>
            <a:r>
              <a:rPr lang="ko-KR" altLang="en-US" sz="700" dirty="0" smtClean="0">
                <a:latin typeface="+mn-ea"/>
              </a:rPr>
              <a:t>기술평가점수</a:t>
            </a:r>
            <a:endParaRPr lang="en-US" altLang="ko-KR" sz="700" dirty="0" smtClean="0">
              <a:latin typeface="+mn-ea"/>
            </a:endParaRPr>
          </a:p>
          <a:p>
            <a:pPr>
              <a:lnSpc>
                <a:spcPct val="200000"/>
              </a:lnSpc>
            </a:pPr>
            <a:r>
              <a:rPr lang="ko-KR" altLang="en-US" sz="700" dirty="0" smtClean="0">
                <a:latin typeface="+mn-ea"/>
              </a:rPr>
              <a:t>기술평가결과</a:t>
            </a:r>
            <a:endParaRPr lang="en-US" altLang="ko-KR" sz="700" dirty="0">
              <a:latin typeface="+mn-ea"/>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4699582" y="3814428"/>
            <a:ext cx="1784088" cy="396583"/>
          </a:xfrm>
          <a:prstGeom prst="rect">
            <a:avLst/>
          </a:prstGeom>
          <a:noFill/>
        </p:spPr>
        <p:txBody>
          <a:bodyPr wrap="square" lIns="0" tIns="0" rIns="0" bIns="0" rtlCol="0">
            <a:spAutoFit/>
          </a:bodyPr>
          <a:lstStyle/>
          <a:p>
            <a:pPr>
              <a:lnSpc>
                <a:spcPct val="200000"/>
              </a:lnSpc>
            </a:pPr>
            <a:r>
              <a:rPr lang="en-US" altLang="ko-KR" sz="700" dirty="0" smtClean="0">
                <a:latin typeface="+mn-ea"/>
              </a:rPr>
              <a:t>85 </a:t>
            </a:r>
            <a:r>
              <a:rPr lang="ko-KR" altLang="en-US" sz="700" dirty="0" smtClean="0">
                <a:latin typeface="+mn-ea"/>
              </a:rPr>
              <a:t>점</a:t>
            </a:r>
            <a:endParaRPr lang="en-US" altLang="ko-KR" sz="700" dirty="0" smtClean="0">
              <a:latin typeface="+mn-ea"/>
            </a:endParaRPr>
          </a:p>
          <a:p>
            <a:pPr>
              <a:lnSpc>
                <a:spcPct val="200000"/>
              </a:lnSpc>
            </a:pPr>
            <a:r>
              <a:rPr lang="ko-KR" altLang="en-US" sz="700" dirty="0" smtClean="0">
                <a:latin typeface="+mn-ea"/>
              </a:rPr>
              <a:t>합격</a:t>
            </a:r>
            <a:endParaRPr lang="en-US" altLang="ko-KR" sz="700" dirty="0">
              <a:latin typeface="+mn-ea"/>
            </a:endParaRPr>
          </a:p>
        </p:txBody>
      </p:sp>
      <p:grpSp>
        <p:nvGrpSpPr>
          <p:cNvPr id="86" name="그룹 85"/>
          <p:cNvGrpSpPr/>
          <p:nvPr/>
        </p:nvGrpSpPr>
        <p:grpSpPr>
          <a:xfrm>
            <a:off x="3853577" y="3814428"/>
            <a:ext cx="2630093" cy="429480"/>
            <a:chOff x="701175" y="1835481"/>
            <a:chExt cx="2630093" cy="429480"/>
          </a:xfrm>
        </p:grpSpPr>
        <p:cxnSp>
          <p:nvCxnSpPr>
            <p:cNvPr id="87" name="직선 연결선 8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3" name="TextBox 102">
            <a:extLst>
              <a:ext uri="{FF2B5EF4-FFF2-40B4-BE49-F238E27FC236}">
                <a16:creationId xmlns:a16="http://schemas.microsoft.com/office/drawing/2014/main" id="{FFC49AEA-2A8F-250C-A86A-A7751D9706C3}"/>
              </a:ext>
            </a:extLst>
          </p:cNvPr>
          <p:cNvSpPr txBox="1"/>
          <p:nvPr/>
        </p:nvSpPr>
        <p:spPr>
          <a:xfrm>
            <a:off x="3878588" y="3579886"/>
            <a:ext cx="1757861" cy="181140"/>
          </a:xfrm>
          <a:prstGeom prst="rect">
            <a:avLst/>
          </a:prstGeom>
          <a:noFill/>
        </p:spPr>
        <p:txBody>
          <a:bodyPr wrap="square" lIns="0" tIns="0" rIns="0" bIns="0" rtlCol="0">
            <a:spAutoFit/>
          </a:bodyPr>
          <a:lstStyle/>
          <a:p>
            <a:pPr>
              <a:lnSpc>
                <a:spcPct val="200000"/>
              </a:lnSpc>
            </a:pPr>
            <a:r>
              <a:rPr lang="ko-KR" altLang="en-US" sz="700" dirty="0" smtClean="0">
                <a:latin typeface="+mn-ea"/>
              </a:rPr>
              <a:t>기술평가결과</a:t>
            </a:r>
            <a:endParaRPr lang="ko-KR" altLang="en-US" sz="700" dirty="0">
              <a:latin typeface="+mn-ea"/>
            </a:endParaRPr>
          </a:p>
        </p:txBody>
      </p:sp>
      <p:sp>
        <p:nvSpPr>
          <p:cNvPr id="104" name="직사각형 103"/>
          <p:cNvSpPr/>
          <p:nvPr/>
        </p:nvSpPr>
        <p:spPr>
          <a:xfrm>
            <a:off x="8223250" y="-159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a:bodyPr>
          <a:lstStyle/>
          <a:p>
            <a:pPr algn="ctr"/>
            <a:r>
              <a:rPr lang="en-US" altLang="ko-KR" sz="700" dirty="0" smtClean="0"/>
              <a:t>2026-07-13 </a:t>
            </a:r>
            <a:r>
              <a:rPr lang="ko-KR" altLang="en-US" sz="700" dirty="0" smtClean="0"/>
              <a:t>화면 </a:t>
            </a:r>
            <a:r>
              <a:rPr lang="ko-KR" altLang="en-US" sz="700" dirty="0"/>
              <a:t>수정</a:t>
            </a:r>
          </a:p>
        </p:txBody>
      </p:sp>
      <p:sp>
        <p:nvSpPr>
          <p:cNvPr id="105" name="직사각형 104"/>
          <p:cNvSpPr/>
          <p:nvPr/>
        </p:nvSpPr>
        <p:spPr>
          <a:xfrm>
            <a:off x="9906000" y="-1590"/>
            <a:ext cx="1682750" cy="459506"/>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업체내역</a:t>
            </a:r>
            <a:r>
              <a:rPr lang="en-US" altLang="ko-KR" sz="700" dirty="0" smtClean="0"/>
              <a:t>, </a:t>
            </a:r>
            <a:r>
              <a:rPr lang="ko-KR" altLang="en-US" sz="700" dirty="0" smtClean="0"/>
              <a:t>기술평가결과 </a:t>
            </a:r>
            <a:r>
              <a:rPr lang="ko-KR" altLang="en-US" sz="700" dirty="0" err="1" smtClean="0"/>
              <a:t>항목추가</a:t>
            </a:r>
            <a:endParaRPr lang="en-US" altLang="ko-KR" sz="700" dirty="0" smtClean="0"/>
          </a:p>
        </p:txBody>
      </p:sp>
    </p:spTree>
    <p:extLst>
      <p:ext uri="{BB962C8B-B14F-4D97-AF65-F5344CB8AC3E}">
        <p14:creationId xmlns:p14="http://schemas.microsoft.com/office/powerpoint/2010/main" val="118699843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163</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376036"/>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56065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7916429"/>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588527"/>
          <a:ext cx="8995589" cy="775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bl>
          </a:graphicData>
        </a:graphic>
      </p:graphicFrame>
      <p:sp>
        <p:nvSpPr>
          <p:cNvPr id="7" name="TextBox 6">
            <a:extLst>
              <a:ext uri="{FF2B5EF4-FFF2-40B4-BE49-F238E27FC236}">
                <a16:creationId xmlns:a16="http://schemas.microsoft.com/office/drawing/2014/main" id="{670C8401-924A-5371-0F87-C9E2F69E0022}"/>
              </a:ext>
            </a:extLst>
          </p:cNvPr>
          <p:cNvSpPr txBox="1"/>
          <p:nvPr/>
        </p:nvSpPr>
        <p:spPr>
          <a:xfrm>
            <a:off x="453829" y="4433877"/>
            <a:ext cx="2700025" cy="211203"/>
          </a:xfrm>
          <a:prstGeom prst="rect">
            <a:avLst/>
          </a:prstGeom>
          <a:noFill/>
        </p:spPr>
        <p:txBody>
          <a:bodyPr wrap="none" lIns="36000" tIns="36000" rIns="36000" bIns="36000" rtlCol="0">
            <a:spAutoFit/>
          </a:bodyPr>
          <a:lstStyle/>
          <a:p>
            <a:r>
              <a:rPr lang="en-US" altLang="ko-KR" sz="900" b="1" dirty="0">
                <a:solidFill>
                  <a:prstClr val="black"/>
                </a:solidFill>
              </a:rPr>
              <a:t>1.</a:t>
            </a:r>
            <a:r>
              <a:rPr lang="ko-KR" altLang="en-US" sz="900" b="1" dirty="0">
                <a:solidFill>
                  <a:prstClr val="black"/>
                </a:solidFill>
              </a:rPr>
              <a:t>３</a:t>
            </a:r>
            <a:r>
              <a:rPr lang="en-US" altLang="ko-KR" sz="900" b="1" dirty="0">
                <a:solidFill>
                  <a:prstClr val="black"/>
                </a:solidFill>
              </a:rPr>
              <a:t>. </a:t>
            </a:r>
            <a:r>
              <a:rPr lang="ko-KR" altLang="en-US" sz="900" b="1" dirty="0">
                <a:solidFill>
                  <a:prstClr val="black"/>
                </a:solidFill>
              </a:rPr>
              <a:t>기술평가결과 데이터 영역 </a:t>
            </a:r>
            <a:r>
              <a:rPr lang="en-US" altLang="ko-KR" sz="900" b="1" dirty="0">
                <a:solidFill>
                  <a:prstClr val="black"/>
                </a:solidFill>
              </a:rPr>
              <a:t>(</a:t>
            </a:r>
            <a:r>
              <a:rPr lang="en-US" altLang="ko-KR" sz="900" b="1" dirty="0" err="1">
                <a:solidFill>
                  <a:prstClr val="black"/>
                </a:solidFill>
              </a:rPr>
              <a:t>dmt_techEvlRslt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F2A930D0-DA63-4992-CA95-E67E946F7E43}"/>
              </a:ext>
            </a:extLst>
          </p:cNvPr>
          <p:cNvGraphicFramePr>
            <a:graphicFrameLocks noGrp="1"/>
          </p:cNvGraphicFramePr>
          <p:nvPr/>
        </p:nvGraphicFramePr>
        <p:xfrm>
          <a:off x="452290" y="4646368"/>
          <a:ext cx="8995589" cy="58176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기술평가점수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techEvlPasYn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기술평가통과여부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bl>
          </a:graphicData>
        </a:graphic>
      </p:graphicFrame>
      <p:sp>
        <p:nvSpPr>
          <p:cNvPr id="10" name="TextBox 9">
            <a:extLst>
              <a:ext uri="{FF2B5EF4-FFF2-40B4-BE49-F238E27FC236}">
                <a16:creationId xmlns:a16="http://schemas.microsoft.com/office/drawing/2014/main" id="{AFC191B0-9002-6F6F-0B28-C27403F5F797}"/>
              </a:ext>
            </a:extLst>
          </p:cNvPr>
          <p:cNvSpPr txBox="1"/>
          <p:nvPr/>
        </p:nvSpPr>
        <p:spPr>
          <a:xfrm>
            <a:off x="452291" y="5413897"/>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11" name="표 10">
            <a:extLst>
              <a:ext uri="{FF2B5EF4-FFF2-40B4-BE49-F238E27FC236}">
                <a16:creationId xmlns:a16="http://schemas.microsoft.com/office/drawing/2014/main" id="{20E495AB-10C0-2FDB-F956-51304922B582}"/>
              </a:ext>
            </a:extLst>
          </p:cNvPr>
          <p:cNvGraphicFramePr>
            <a:graphicFrameLocks noGrp="1"/>
          </p:cNvGraphicFramePr>
          <p:nvPr/>
        </p:nvGraphicFramePr>
        <p:xfrm>
          <a:off x="452292" y="5648009"/>
          <a:ext cx="8996300" cy="70368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기술평가결과조회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990108"/>
                  </a:ext>
                </a:extLst>
              </a:tr>
            </a:tbl>
          </a:graphicData>
        </a:graphic>
      </p:graphicFrame>
      <p:sp>
        <p:nvSpPr>
          <p:cNvPr id="4" name="Text Box 73">
            <a:extLst>
              <a:ext uri="{FF2B5EF4-FFF2-40B4-BE49-F238E27FC236}">
                <a16:creationId xmlns:a16="http://schemas.microsoft.com/office/drawing/2014/main" id="{0AA3DA4A-54C6-CDA6-E109-EF5C503E6DE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779A9BF7-5C75-69E5-A015-1A27D1328042}"/>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35919496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164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10. </a:t>
            </a:r>
            <a:r>
              <a:rPr lang="ko-KR" altLang="en-US" dirty="0" err="1"/>
              <a:t>입찰진행</a:t>
            </a:r>
            <a:r>
              <a:rPr lang="ko-KR" altLang="en-US" dirty="0"/>
              <a:t> 목록 및 신청서 작성</a:t>
            </a:r>
            <a:endParaRPr lang="en-US" altLang="ko-KR" dirty="0"/>
          </a:p>
          <a:p>
            <a:r>
              <a:rPr lang="en-US" altLang="ko-KR" dirty="0" smtClean="0"/>
              <a:t>10.1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122412760"/>
              </p:ext>
            </p:extLst>
          </p:nvPr>
        </p:nvGraphicFramePr>
        <p:xfrm>
          <a:off x="635474" y="1413419"/>
          <a:ext cx="8701200" cy="138718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lt"/>
                          <a:ea typeface="+mn-ea"/>
                        </a:rPr>
                        <a:t>화면 </a:t>
                      </a:r>
                      <a:r>
                        <a:rPr lang="en-US" altLang="ko-KR" sz="800" b="1" dirty="0">
                          <a:latin typeface="+mn-lt"/>
                          <a:ea typeface="+mn-ea"/>
                        </a:rPr>
                        <a:t>ID</a:t>
                      </a:r>
                      <a:endParaRPr lang="ko-KR" altLang="en-US" sz="800" b="1" dirty="0">
                        <a:latin typeface="+mn-lt"/>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화면명</a:t>
                      </a:r>
                      <a:r>
                        <a:rPr lang="en-US" altLang="ko-KR" sz="800" b="1" dirty="0">
                          <a:latin typeface="+mn-lt"/>
                          <a:ea typeface="+mn-ea"/>
                        </a:rPr>
                        <a:t>(</a:t>
                      </a:r>
                      <a:r>
                        <a:rPr lang="ko-KR" altLang="en-US" sz="800" b="1" dirty="0">
                          <a:latin typeface="+mn-lt"/>
                          <a:ea typeface="+mn-ea"/>
                        </a:rPr>
                        <a:t>한글</a:t>
                      </a:r>
                      <a:r>
                        <a:rPr lang="en-US" altLang="ko-KR" sz="800" b="1" dirty="0">
                          <a:latin typeface="+mn-lt"/>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화면명</a:t>
                      </a:r>
                      <a:r>
                        <a:rPr lang="en-US" altLang="ko-KR" sz="800" b="1" dirty="0">
                          <a:latin typeface="+mn-lt"/>
                          <a:ea typeface="+mn-ea"/>
                        </a:rPr>
                        <a:t>(</a:t>
                      </a:r>
                      <a:r>
                        <a:rPr lang="ko-KR" altLang="en-US" sz="800" b="1" dirty="0">
                          <a:latin typeface="+mn-lt"/>
                          <a:ea typeface="+mn-ea"/>
                        </a:rPr>
                        <a:t>영문</a:t>
                      </a:r>
                      <a:r>
                        <a:rPr lang="en-US" altLang="ko-KR" sz="800" b="1" dirty="0">
                          <a:latin typeface="+mn-lt"/>
                          <a:ea typeface="+mn-ea"/>
                        </a:rPr>
                        <a:t>)</a:t>
                      </a:r>
                      <a:r>
                        <a:rPr lang="en-US" altLang="ko-KR" sz="800" b="1" baseline="30000" dirty="0">
                          <a:latin typeface="+mn-lt"/>
                          <a:ea typeface="+mn-ea"/>
                        </a:rPr>
                        <a:t> 1)</a:t>
                      </a:r>
                      <a:endParaRPr lang="ko-KR" altLang="en-US" sz="800" b="1" dirty="0">
                        <a:latin typeface="+mn-lt"/>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lt"/>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웹페이지</a:t>
                      </a:r>
                      <a:r>
                        <a:rPr lang="ko-KR" altLang="en-US" sz="800" b="1" dirty="0">
                          <a:latin typeface="+mn-lt"/>
                          <a:ea typeface="+mn-ea"/>
                        </a:rPr>
                        <a:t> 경로</a:t>
                      </a:r>
                      <a:r>
                        <a:rPr lang="en-US" altLang="ko-KR" sz="800" b="1" baseline="30000" dirty="0">
                          <a:latin typeface="+mn-lt"/>
                          <a:ea typeface="+mn-ea"/>
                        </a:rPr>
                        <a:t> 1)</a:t>
                      </a:r>
                      <a:endParaRPr lang="ko-KR" altLang="en-US" sz="800" b="1" dirty="0">
                        <a:latin typeface="+mn-lt"/>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유스케이스</a:t>
                      </a:r>
                      <a:r>
                        <a:rPr lang="ko-KR" altLang="en-US" sz="800" b="1" dirty="0">
                          <a:latin typeface="+mn-lt"/>
                          <a:ea typeface="+mn-ea"/>
                        </a:rPr>
                        <a:t> </a:t>
                      </a:r>
                      <a:r>
                        <a:rPr lang="en-US" altLang="ko-KR" sz="800" b="1" dirty="0">
                          <a:latin typeface="+mn-lt"/>
                          <a:ea typeface="+mn-ea"/>
                        </a:rPr>
                        <a:t>ID</a:t>
                      </a:r>
                      <a:endParaRPr lang="ko-KR" altLang="en-US" sz="800" b="1" dirty="0">
                        <a:latin typeface="+mn-lt"/>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700" kern="1200" dirty="0">
                          <a:solidFill>
                            <a:schemeClr val="tx1"/>
                          </a:solidFill>
                          <a:latin typeface="+mn-lt"/>
                          <a:ea typeface="+mn-ea"/>
                          <a:cs typeface="+mn-cs"/>
                        </a:rPr>
                        <a:t>MUI-BD-03-M01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lt"/>
                          <a:ea typeface="+mn-ea"/>
                          <a:cs typeface="+mn-cs"/>
                        </a:rPr>
                        <a:t>입찰진행목록</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lt"/>
                          <a:ea typeface="+mn-ea"/>
                          <a:cs typeface="+mn-cs"/>
                        </a:rPr>
                        <a:t> </a:t>
                      </a:r>
                      <a:r>
                        <a:rPr lang="en-US" sz="800" kern="1200" dirty="0" err="1">
                          <a:solidFill>
                            <a:schemeClr val="tx1"/>
                          </a:solidFill>
                          <a:latin typeface="+mn-lt"/>
                          <a:ea typeface="+mn-ea"/>
                          <a:cs typeface="+mn-cs"/>
                        </a:rPr>
                        <a:t>BidPrgrsListForBzentyPage</a:t>
                      </a:r>
                      <a:endParaRPr lang="en-US" sz="800" kern="1200" dirty="0">
                        <a:solidFill>
                          <a:schemeClr val="tx1"/>
                        </a:solidFill>
                        <a:latin typeface="+mn-lt"/>
                        <a:ea typeface="+mn-ea"/>
                        <a:cs typeface="+mn-cs"/>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lt"/>
                        </a:rPr>
                        <a:t>신청한 입찰 내역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kern="1200" dirty="0" err="1">
                          <a:solidFill>
                            <a:schemeClr val="tx1"/>
                          </a:solidFill>
                          <a:effectLst/>
                          <a:latin typeface="+mn-lt"/>
                          <a:ea typeface="+mn-ea"/>
                          <a:cs typeface="+mn-cs"/>
                        </a:rPr>
                        <a:t>src</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ui</a:t>
                      </a:r>
                      <a:r>
                        <a:rPr lang="en-US" altLang="ko-KR" sz="800" b="0" i="0" u="none" strike="noStrike" kern="1200" dirty="0">
                          <a:solidFill>
                            <a:schemeClr val="tx1"/>
                          </a:solidFill>
                          <a:effectLst/>
                          <a:latin typeface="+mn-lt"/>
                          <a:ea typeface="+mn-ea"/>
                          <a:cs typeface="+mn-cs"/>
                        </a:rPr>
                        <a:t>/biz/</a:t>
                      </a:r>
                      <a:r>
                        <a:rPr lang="en-US" altLang="ko-KR" sz="800" b="0" i="0" u="none" strike="noStrike" kern="1200" dirty="0" err="1">
                          <a:solidFill>
                            <a:schemeClr val="tx1"/>
                          </a:solidFill>
                          <a:effectLst/>
                          <a:latin typeface="+mn-lt"/>
                          <a:ea typeface="+mn-ea"/>
                          <a:cs typeface="+mn-cs"/>
                        </a:rPr>
                        <a:t>bd</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bidPrgrsListForBzenty</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BidPrgrsListForBzentyPage.tsx</a:t>
                      </a:r>
                      <a:endParaRPr lang="ko-KR" altLang="en-US" sz="800" b="0" i="0" u="none" strike="noStrike"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UC-BD-02-01</a:t>
                      </a:r>
                      <a:endParaRPr lang="en-US" altLang="ko-KR" sz="800" dirty="0">
                        <a:solidFill>
                          <a:srgbClr val="FF0000"/>
                        </a:solidFill>
                        <a:latin typeface="+mn-lt"/>
                        <a:ea typeface="+mn-ea"/>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UC-BD-08-01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altLang="ko-KR" sz="700" kern="1200" dirty="0" smtClean="0">
                          <a:solidFill>
                            <a:schemeClr val="tx1"/>
                          </a:solidFill>
                          <a:latin typeface="+mn-lt"/>
                          <a:ea typeface="+mn-ea"/>
                          <a:cs typeface="+mn-cs"/>
                        </a:rPr>
                        <a:t>MUI-BD-03-P08</a:t>
                      </a:r>
                      <a:endParaRPr lang="en-US" altLang="ko-KR" sz="7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lt"/>
                          <a:ea typeface="+mn-ea"/>
                          <a:cs typeface="+mn-cs"/>
                        </a:rPr>
                        <a:t>검색필터</a:t>
                      </a:r>
                      <a:r>
                        <a:rPr lang="en-US" altLang="ko-KR" sz="800" kern="1200" dirty="0">
                          <a:solidFill>
                            <a:schemeClr val="tx1"/>
                          </a:solidFill>
                          <a:latin typeface="+mn-lt"/>
                          <a:ea typeface="+mn-ea"/>
                          <a:cs typeface="+mn-cs"/>
                        </a:rPr>
                        <a:t>-</a:t>
                      </a:r>
                      <a:r>
                        <a:rPr lang="ko-KR" altLang="en-US" sz="800" kern="1200" dirty="0" err="1">
                          <a:solidFill>
                            <a:schemeClr val="tx1"/>
                          </a:solidFill>
                          <a:latin typeface="+mn-lt"/>
                          <a:ea typeface="+mn-ea"/>
                          <a:cs typeface="+mn-cs"/>
                        </a:rPr>
                        <a:t>입찰진행</a:t>
                      </a:r>
                      <a:endParaRPr lang="ko-KR" altLang="en-US" sz="800" kern="1200" dirty="0">
                        <a:solidFill>
                          <a:schemeClr val="tx1"/>
                        </a:solidFill>
                        <a:latin typeface="+mn-lt"/>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BidPrgrsListForBzenty_SrchFilter</a:t>
                      </a:r>
                      <a:endParaRPr lang="en-US" sz="800" kern="1200" dirty="0">
                        <a:solidFill>
                          <a:schemeClr val="tx1"/>
                        </a:solidFill>
                        <a:latin typeface="+mn-lt"/>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smtClean="0">
                          <a:latin typeface="+mn-lt"/>
                        </a:rPr>
                        <a:t>검색필터</a:t>
                      </a:r>
                      <a:r>
                        <a:rPr lang="ko-KR" altLang="en-US" sz="800" dirty="0" smtClean="0">
                          <a:latin typeface="+mn-lt"/>
                        </a:rPr>
                        <a:t> 화면</a:t>
                      </a:r>
                      <a:endParaRPr lang="ko-KR" altLang="en-US" sz="800" dirty="0">
                        <a:latin typeface="+mn-lt"/>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kern="1200" dirty="0" err="1" smtClean="0">
                          <a:solidFill>
                            <a:schemeClr val="tx1"/>
                          </a:solidFill>
                          <a:effectLst/>
                          <a:latin typeface="+mn-lt"/>
                          <a:ea typeface="+mn-ea"/>
                          <a:cs typeface="+mn-cs"/>
                        </a:rPr>
                        <a:t>src</a:t>
                      </a:r>
                      <a:r>
                        <a:rPr lang="en-US" altLang="ko-KR" sz="800" b="0" i="0" u="none" strike="noStrike" kern="1200" dirty="0" smtClean="0">
                          <a:solidFill>
                            <a:schemeClr val="tx1"/>
                          </a:solidFill>
                          <a:effectLst/>
                          <a:latin typeface="+mn-lt"/>
                          <a:ea typeface="+mn-ea"/>
                          <a:cs typeface="+mn-cs"/>
                        </a:rPr>
                        <a:t>/</a:t>
                      </a:r>
                      <a:r>
                        <a:rPr lang="en-US" altLang="ko-KR" sz="800" b="0" i="0" u="none" strike="noStrike" kern="1200" dirty="0" err="1" smtClean="0">
                          <a:solidFill>
                            <a:schemeClr val="tx1"/>
                          </a:solidFill>
                          <a:effectLst/>
                          <a:latin typeface="+mn-lt"/>
                          <a:ea typeface="+mn-ea"/>
                          <a:cs typeface="+mn-cs"/>
                        </a:rPr>
                        <a:t>ui</a:t>
                      </a:r>
                      <a:r>
                        <a:rPr lang="en-US" altLang="ko-KR" sz="800" b="0" i="0" u="none" strike="noStrike" kern="1200" dirty="0" smtClean="0">
                          <a:solidFill>
                            <a:schemeClr val="tx1"/>
                          </a:solidFill>
                          <a:effectLst/>
                          <a:latin typeface="+mn-lt"/>
                          <a:ea typeface="+mn-ea"/>
                          <a:cs typeface="+mn-cs"/>
                        </a:rPr>
                        <a:t>/biz/</a:t>
                      </a:r>
                      <a:r>
                        <a:rPr lang="en-US" altLang="ko-KR" sz="800" b="0" i="0" u="none" strike="noStrike" kern="1200" dirty="0" err="1" smtClean="0">
                          <a:solidFill>
                            <a:schemeClr val="tx1"/>
                          </a:solidFill>
                          <a:effectLst/>
                          <a:latin typeface="+mn-lt"/>
                          <a:ea typeface="+mn-ea"/>
                          <a:cs typeface="+mn-cs"/>
                        </a:rPr>
                        <a:t>bd</a:t>
                      </a:r>
                      <a:r>
                        <a:rPr lang="en-US" altLang="ko-KR" sz="800" b="0" i="0" u="none" strike="noStrike" kern="1200" dirty="0" smtClean="0">
                          <a:solidFill>
                            <a:schemeClr val="tx1"/>
                          </a:solidFill>
                          <a:effectLst/>
                          <a:latin typeface="+mn-lt"/>
                          <a:ea typeface="+mn-ea"/>
                          <a:cs typeface="+mn-cs"/>
                        </a:rPr>
                        <a:t>/</a:t>
                      </a:r>
                      <a:r>
                        <a:rPr lang="en-US" altLang="ko-KR" sz="800" b="0" i="0" u="none" strike="noStrike" kern="1200" dirty="0" err="1" smtClean="0">
                          <a:solidFill>
                            <a:schemeClr val="tx1"/>
                          </a:solidFill>
                          <a:effectLst/>
                          <a:latin typeface="+mn-lt"/>
                          <a:ea typeface="+mn-ea"/>
                          <a:cs typeface="+mn-cs"/>
                        </a:rPr>
                        <a:t>bidPrgrsListForBzenty</a:t>
                      </a:r>
                      <a:r>
                        <a:rPr lang="en-US" altLang="ko-KR" sz="800" b="0" i="0" u="none" strike="noStrike" kern="1200" dirty="0" smtClean="0">
                          <a:solidFill>
                            <a:schemeClr val="tx1"/>
                          </a:solidFill>
                          <a:effectLst/>
                          <a:latin typeface="+mn-lt"/>
                          <a:ea typeface="+mn-ea"/>
                          <a:cs typeface="+mn-cs"/>
                        </a:rPr>
                        <a:t>/</a:t>
                      </a:r>
                      <a:r>
                        <a:rPr lang="en-US" altLang="ko-KR" sz="800" b="0" i="0" u="none" strike="noStrike" kern="1200" dirty="0" err="1" smtClean="0">
                          <a:solidFill>
                            <a:schemeClr val="tx1"/>
                          </a:solidFill>
                          <a:effectLst/>
                          <a:latin typeface="+mn-lt"/>
                          <a:ea typeface="+mn-ea"/>
                          <a:cs typeface="+mn-cs"/>
                        </a:rPr>
                        <a:t>BidPrgrsListForBzenty_SrchFilter.tsx</a:t>
                      </a:r>
                      <a:endParaRPr lang="ko-KR" altLang="en-US" sz="800" b="0" i="0" u="none" strike="noStrike"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UC-BD-02-01</a:t>
                      </a:r>
                      <a:endParaRPr lang="en-US" altLang="ko-KR" sz="800" dirty="0">
                        <a:solidFill>
                          <a:srgbClr val="FF0000"/>
                        </a:solidFill>
                        <a:latin typeface="+mn-lt"/>
                        <a:ea typeface="+mn-ea"/>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UC-BD-08-01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9207051"/>
                  </a:ext>
                </a:extLst>
              </a:tr>
              <a:tr h="180000">
                <a:tc>
                  <a:txBody>
                    <a:bodyPr/>
                    <a:lstStyle/>
                    <a:p>
                      <a:pPr algn="l" fontAlgn="ctr"/>
                      <a:r>
                        <a:rPr lang="en-US" altLang="ko-KR" sz="700" kern="1200" dirty="0">
                          <a:solidFill>
                            <a:schemeClr val="tx1"/>
                          </a:solidFill>
                          <a:latin typeface="+mn-lt"/>
                          <a:ea typeface="+mn-ea"/>
                          <a:cs typeface="+mn-cs"/>
                        </a:rPr>
                        <a:t>MUI-BD-03-M02</a:t>
                      </a:r>
                      <a:endParaRPr lang="en-US" sz="7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lt"/>
                          <a:ea typeface="+mn-ea"/>
                          <a:cs typeface="+mn-cs"/>
                        </a:rPr>
                        <a:t>입찰진행상세</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kern="1200" dirty="0" err="1">
                          <a:solidFill>
                            <a:schemeClr val="tx1"/>
                          </a:solidFill>
                          <a:latin typeface="+mn-lt"/>
                          <a:ea typeface="+mn-ea"/>
                          <a:cs typeface="+mn-cs"/>
                        </a:rPr>
                        <a:t>BidPrgsDtlInqPage</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신청한 입찰 상세 내역 조회</a:t>
                      </a:r>
                      <a:endParaRPr lang="en-US" altLang="ko-KR"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b="0" i="0" u="none" strike="noStrike" kern="1200" dirty="0" err="1">
                          <a:solidFill>
                            <a:schemeClr val="tx1"/>
                          </a:solidFill>
                          <a:effectLst/>
                          <a:latin typeface="+mn-lt"/>
                          <a:ea typeface="+mn-ea"/>
                          <a:cs typeface="+mn-cs"/>
                        </a:rPr>
                        <a:t>src</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ui</a:t>
                      </a:r>
                      <a:r>
                        <a:rPr lang="en-US" altLang="ko-KR" sz="800" b="0" i="0" u="none" strike="noStrike" kern="1200" dirty="0">
                          <a:solidFill>
                            <a:schemeClr val="tx1"/>
                          </a:solidFill>
                          <a:effectLst/>
                          <a:latin typeface="+mn-lt"/>
                          <a:ea typeface="+mn-ea"/>
                          <a:cs typeface="+mn-cs"/>
                        </a:rPr>
                        <a:t>/biz/</a:t>
                      </a:r>
                      <a:r>
                        <a:rPr lang="en-US" altLang="ko-KR" sz="800" b="0" i="0" u="none" strike="noStrike" kern="1200" dirty="0" err="1">
                          <a:solidFill>
                            <a:schemeClr val="tx1"/>
                          </a:solidFill>
                          <a:effectLst/>
                          <a:latin typeface="+mn-lt"/>
                          <a:ea typeface="+mn-ea"/>
                          <a:cs typeface="+mn-cs"/>
                        </a:rPr>
                        <a:t>bd</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bidPrgsDtlInq</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BidPrgsDtlInqPage.tsx</a:t>
                      </a:r>
                      <a:endParaRPr lang="ko-KR" altLang="en-US" sz="800" b="0" i="0" u="none" strike="noStrike"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UC-BD-02-01</a:t>
                      </a:r>
                      <a:endParaRPr lang="en-US" altLang="ko-KR" sz="800" dirty="0">
                        <a:solidFill>
                          <a:srgbClr val="FF0000"/>
                        </a:solidFill>
                        <a:latin typeface="+mn-lt"/>
                        <a:ea typeface="+mn-ea"/>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UC-BD-08-01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8825167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직선 화살표 연결선 99"/>
          <p:cNvCxnSpPr>
            <a:stCxn id="166" idx="3"/>
          </p:cNvCxnSpPr>
          <p:nvPr/>
        </p:nvCxnSpPr>
        <p:spPr>
          <a:xfrm>
            <a:off x="2776596" y="3345681"/>
            <a:ext cx="127926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꺾인 연결선 75"/>
          <p:cNvCxnSpPr/>
          <p:nvPr/>
        </p:nvCxnSpPr>
        <p:spPr>
          <a:xfrm rot="10800000" flipV="1">
            <a:off x="4258385" y="3169757"/>
            <a:ext cx="3692" cy="387376"/>
          </a:xfrm>
          <a:prstGeom prst="bentConnector3">
            <a:avLst>
              <a:gd name="adj1" fmla="val 1902681"/>
            </a:avLst>
          </a:prstGeom>
        </p:spPr>
        <p:style>
          <a:lnRef idx="1">
            <a:schemeClr val="dk1"/>
          </a:lnRef>
          <a:fillRef idx="0">
            <a:schemeClr val="dk1"/>
          </a:fillRef>
          <a:effectRef idx="0">
            <a:schemeClr val="dk1"/>
          </a:effectRef>
          <a:fontRef idx="minor">
            <a:schemeClr val="tx1"/>
          </a:fontRef>
        </p:style>
      </p:cxnSp>
      <p:cxnSp>
        <p:nvCxnSpPr>
          <p:cNvPr id="79" name="꺾인 연결선 78"/>
          <p:cNvCxnSpPr/>
          <p:nvPr/>
        </p:nvCxnSpPr>
        <p:spPr>
          <a:xfrm rot="10800000" flipV="1">
            <a:off x="4258386" y="3851518"/>
            <a:ext cx="12700" cy="385796"/>
          </a:xfrm>
          <a:prstGeom prst="bentConnector3">
            <a:avLst>
              <a:gd name="adj1" fmla="val 645567"/>
            </a:avLst>
          </a:prstGeom>
        </p:spPr>
        <p:style>
          <a:lnRef idx="1">
            <a:schemeClr val="dk1"/>
          </a:lnRef>
          <a:fillRef idx="0">
            <a:schemeClr val="dk1"/>
          </a:fillRef>
          <a:effectRef idx="0">
            <a:schemeClr val="dk1"/>
          </a:effectRef>
          <a:fontRef idx="minor">
            <a:schemeClr val="tx1"/>
          </a:fontRef>
        </p:style>
      </p:cxnSp>
      <p:cxnSp>
        <p:nvCxnSpPr>
          <p:cNvPr id="83" name="꺾인 연결선 82"/>
          <p:cNvCxnSpPr/>
          <p:nvPr/>
        </p:nvCxnSpPr>
        <p:spPr>
          <a:xfrm>
            <a:off x="4809034" y="3851518"/>
            <a:ext cx="12700" cy="385796"/>
          </a:xfrm>
          <a:prstGeom prst="bentConnector3">
            <a:avLst>
              <a:gd name="adj1" fmla="val 524047"/>
            </a:avLst>
          </a:prstGeom>
        </p:spPr>
        <p:style>
          <a:lnRef idx="1">
            <a:schemeClr val="dk1"/>
          </a:lnRef>
          <a:fillRef idx="0">
            <a:schemeClr val="dk1"/>
          </a:fillRef>
          <a:effectRef idx="0">
            <a:schemeClr val="dk1"/>
          </a:effectRef>
          <a:fontRef idx="minor">
            <a:schemeClr val="tx1"/>
          </a:fontRef>
        </p:style>
      </p:cxnSp>
      <p:cxnSp>
        <p:nvCxnSpPr>
          <p:cNvPr id="86" name="꺾인 연결선 85"/>
          <p:cNvCxnSpPr/>
          <p:nvPr/>
        </p:nvCxnSpPr>
        <p:spPr>
          <a:xfrm flipH="1">
            <a:off x="4818042" y="3169612"/>
            <a:ext cx="3692" cy="387376"/>
          </a:xfrm>
          <a:prstGeom prst="bentConnector3">
            <a:avLst>
              <a:gd name="adj1" fmla="val -1200704"/>
            </a:avLst>
          </a:prstGeom>
        </p:spPr>
        <p:style>
          <a:lnRef idx="1">
            <a:schemeClr val="dk1"/>
          </a:lnRef>
          <a:fillRef idx="0">
            <a:schemeClr val="dk1"/>
          </a:fillRef>
          <a:effectRef idx="0">
            <a:schemeClr val="dk1"/>
          </a:effectRef>
          <a:fontRef idx="minor">
            <a:schemeClr val="tx1"/>
          </a:fontRef>
        </p:style>
      </p:cxnSp>
      <p:cxnSp>
        <p:nvCxnSpPr>
          <p:cNvPr id="33" name="꺾인 연결선 32"/>
          <p:cNvCxnSpPr>
            <a:stCxn id="181" idx="1"/>
            <a:endCxn id="184" idx="1"/>
          </p:cNvCxnSpPr>
          <p:nvPr/>
        </p:nvCxnSpPr>
        <p:spPr>
          <a:xfrm rot="10800000" flipV="1">
            <a:off x="4248518" y="1983541"/>
            <a:ext cx="12700" cy="587207"/>
          </a:xfrm>
          <a:prstGeom prst="bentConnector3">
            <a:avLst>
              <a:gd name="adj1" fmla="val 767087"/>
            </a:avLst>
          </a:prstGeom>
        </p:spPr>
        <p:style>
          <a:lnRef idx="1">
            <a:schemeClr val="dk1"/>
          </a:lnRef>
          <a:fillRef idx="0">
            <a:schemeClr val="dk1"/>
          </a:fillRef>
          <a:effectRef idx="0">
            <a:schemeClr val="dk1"/>
          </a:effectRef>
          <a:fontRef idx="minor">
            <a:schemeClr val="tx1"/>
          </a:fontRef>
        </p:style>
      </p:cxnSp>
      <p:cxnSp>
        <p:nvCxnSpPr>
          <p:cNvPr id="36" name="직선 화살표 연결선 35"/>
          <p:cNvCxnSpPr>
            <a:stCxn id="196" idx="3"/>
          </p:cNvCxnSpPr>
          <p:nvPr/>
        </p:nvCxnSpPr>
        <p:spPr>
          <a:xfrm>
            <a:off x="2763566" y="2215614"/>
            <a:ext cx="128374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165</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9</a:t>
            </a:r>
            <a:r>
              <a:rPr lang="en-US" altLang="ko-KR" dirty="0" smtClean="0"/>
              <a:t>.2</a:t>
            </a:r>
            <a:r>
              <a:rPr lang="en-US" altLang="ko-KR" dirty="0"/>
              <a:t>. </a:t>
            </a:r>
            <a:r>
              <a:rPr lang="ko-KR" altLang="en-US" dirty="0"/>
              <a:t>화면 흐름도 </a:t>
            </a:r>
            <a:r>
              <a:rPr lang="en-US" altLang="ko-KR" dirty="0"/>
              <a:t>– </a:t>
            </a:r>
            <a:r>
              <a:rPr lang="ko-KR" altLang="en-US" dirty="0" smtClean="0"/>
              <a:t>입찰진행상세</a:t>
            </a:r>
            <a:endParaRPr lang="ko-KR" altLang="en-US" dirty="0"/>
          </a:p>
        </p:txBody>
      </p:sp>
      <p:grpSp>
        <p:nvGrpSpPr>
          <p:cNvPr id="109" name="그룹 108"/>
          <p:cNvGrpSpPr/>
          <p:nvPr/>
        </p:nvGrpSpPr>
        <p:grpSpPr>
          <a:xfrm>
            <a:off x="504889" y="5659198"/>
            <a:ext cx="853316" cy="729089"/>
            <a:chOff x="492190" y="5392498"/>
            <a:chExt cx="853316" cy="729089"/>
          </a:xfrm>
        </p:grpSpPr>
        <p:grpSp>
          <p:nvGrpSpPr>
            <p:cNvPr id="118" name="그룹 117"/>
            <p:cNvGrpSpPr/>
            <p:nvPr/>
          </p:nvGrpSpPr>
          <p:grpSpPr>
            <a:xfrm>
              <a:off x="492190" y="5629112"/>
              <a:ext cx="235869" cy="492475"/>
              <a:chOff x="669822" y="4940237"/>
              <a:chExt cx="912149" cy="1237769"/>
            </a:xfrm>
          </p:grpSpPr>
          <p:sp>
            <p:nvSpPr>
              <p:cNvPr id="138" name="사각형: 둥근 모서리 5">
                <a:extLst>
                  <a:ext uri="{FF2B5EF4-FFF2-40B4-BE49-F238E27FC236}">
                    <a16:creationId xmlns:a16="http://schemas.microsoft.com/office/drawing/2014/main" id="{410E5459-200D-7630-863C-88E5109259DF}"/>
                  </a:ext>
                </a:extLst>
              </p:cNvPr>
              <p:cNvSpPr/>
              <p:nvPr/>
            </p:nvSpPr>
            <p:spPr>
              <a:xfrm>
                <a:off x="669822" y="4940237"/>
                <a:ext cx="899998" cy="287999"/>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sp>
            <p:nvSpPr>
              <p:cNvPr id="143" name="사각형: 둥근 모서리 5">
                <a:extLst>
                  <a:ext uri="{FF2B5EF4-FFF2-40B4-BE49-F238E27FC236}">
                    <a16:creationId xmlns:a16="http://schemas.microsoft.com/office/drawing/2014/main" id="{410E5459-200D-7630-863C-88E5109259DF}"/>
                  </a:ext>
                </a:extLst>
              </p:cNvPr>
              <p:cNvSpPr/>
              <p:nvPr/>
            </p:nvSpPr>
            <p:spPr>
              <a:xfrm>
                <a:off x="681973" y="5878702"/>
                <a:ext cx="899998" cy="299304"/>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endParaRPr lang="ko-KR" altLang="en-US" sz="800" b="1" dirty="0">
                  <a:solidFill>
                    <a:schemeClr val="tx1"/>
                  </a:solidFill>
                </a:endParaRPr>
              </a:p>
            </p:txBody>
          </p:sp>
          <p:sp>
            <p:nvSpPr>
              <p:cNvPr id="145" name="사각형: 둥근 모서리 5">
                <a:extLst>
                  <a:ext uri="{FF2B5EF4-FFF2-40B4-BE49-F238E27FC236}">
                    <a16:creationId xmlns:a16="http://schemas.microsoft.com/office/drawing/2014/main" id="{410E5459-200D-7630-863C-88E5109259DF}"/>
                  </a:ext>
                </a:extLst>
              </p:cNvPr>
              <p:cNvSpPr/>
              <p:nvPr/>
            </p:nvSpPr>
            <p:spPr>
              <a:xfrm>
                <a:off x="669822" y="5387113"/>
                <a:ext cx="899998" cy="287999"/>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ko-KR" altLang="en-US" sz="800" dirty="0">
                  <a:solidFill>
                    <a:schemeClr val="tx1"/>
                  </a:solidFill>
                </a:endParaRPr>
              </a:p>
            </p:txBody>
          </p:sp>
        </p:grpSp>
        <p:sp>
          <p:nvSpPr>
            <p:cNvPr id="119" name="직사각형 118">
              <a:extLst>
                <a:ext uri="{FF2B5EF4-FFF2-40B4-BE49-F238E27FC236}">
                  <a16:creationId xmlns:a16="http://schemas.microsoft.com/office/drawing/2014/main" id="{F249990F-1DE5-C694-BDBD-2DE7009D57EA}"/>
                </a:ext>
              </a:extLst>
            </p:cNvPr>
            <p:cNvSpPr/>
            <p:nvPr/>
          </p:nvSpPr>
          <p:spPr>
            <a:xfrm>
              <a:off x="499695" y="5392498"/>
              <a:ext cx="20518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smtClean="0">
                  <a:solidFill>
                    <a:schemeClr val="tx1"/>
                  </a:solidFill>
                </a:rPr>
                <a:t>범례</a:t>
              </a:r>
              <a:endParaRPr lang="ko-KR" altLang="en-US" sz="800" dirty="0">
                <a:solidFill>
                  <a:schemeClr val="tx1"/>
                </a:solidFill>
              </a:endParaRPr>
            </a:p>
          </p:txBody>
        </p:sp>
        <p:sp>
          <p:nvSpPr>
            <p:cNvPr id="120" name="직사각형 119">
              <a:extLst>
                <a:ext uri="{FF2B5EF4-FFF2-40B4-BE49-F238E27FC236}">
                  <a16:creationId xmlns:a16="http://schemas.microsoft.com/office/drawing/2014/main" id="{F249990F-1DE5-C694-BDBD-2DE7009D57EA}"/>
                </a:ext>
              </a:extLst>
            </p:cNvPr>
            <p:cNvSpPr/>
            <p:nvPr/>
          </p:nvSpPr>
          <p:spPr>
            <a:xfrm>
              <a:off x="829339" y="5640239"/>
              <a:ext cx="516167" cy="923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600" dirty="0" smtClean="0">
                  <a:solidFill>
                    <a:schemeClr val="tx1"/>
                  </a:solidFill>
                </a:rPr>
                <a:t>흐름 참고 항목</a:t>
              </a:r>
              <a:endParaRPr lang="ko-KR" altLang="en-US" sz="600" dirty="0">
                <a:solidFill>
                  <a:schemeClr val="tx1"/>
                </a:solidFill>
              </a:endParaRPr>
            </a:p>
          </p:txBody>
        </p:sp>
        <p:sp>
          <p:nvSpPr>
            <p:cNvPr id="126" name="직사각형 125">
              <a:extLst>
                <a:ext uri="{FF2B5EF4-FFF2-40B4-BE49-F238E27FC236}">
                  <a16:creationId xmlns:a16="http://schemas.microsoft.com/office/drawing/2014/main" id="{F249990F-1DE5-C694-BDBD-2DE7009D57EA}"/>
                </a:ext>
              </a:extLst>
            </p:cNvPr>
            <p:cNvSpPr/>
            <p:nvPr/>
          </p:nvSpPr>
          <p:spPr>
            <a:xfrm>
              <a:off x="829339" y="6017194"/>
              <a:ext cx="307777" cy="923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600" dirty="0" err="1" smtClean="0">
                  <a:solidFill>
                    <a:schemeClr val="tx1"/>
                  </a:solidFill>
                </a:rPr>
                <a:t>상태항목</a:t>
              </a:r>
              <a:endParaRPr lang="ko-KR" altLang="en-US" sz="600" dirty="0">
                <a:solidFill>
                  <a:schemeClr val="tx1"/>
                </a:solidFill>
              </a:endParaRPr>
            </a:p>
          </p:txBody>
        </p:sp>
        <p:sp>
          <p:nvSpPr>
            <p:cNvPr id="127" name="직사각형 126">
              <a:extLst>
                <a:ext uri="{FF2B5EF4-FFF2-40B4-BE49-F238E27FC236}">
                  <a16:creationId xmlns:a16="http://schemas.microsoft.com/office/drawing/2014/main" id="{F249990F-1DE5-C694-BDBD-2DE7009D57EA}"/>
                </a:ext>
              </a:extLst>
            </p:cNvPr>
            <p:cNvSpPr/>
            <p:nvPr/>
          </p:nvSpPr>
          <p:spPr>
            <a:xfrm>
              <a:off x="829339" y="5771872"/>
              <a:ext cx="4103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600" dirty="0" smtClean="0">
                  <a:solidFill>
                    <a:schemeClr val="tx1"/>
                  </a:solidFill>
                </a:rPr>
                <a:t>float menu </a:t>
              </a:r>
            </a:p>
            <a:p>
              <a:r>
                <a:rPr lang="ko-KR" altLang="en-US" sz="600" dirty="0" err="1" smtClean="0">
                  <a:solidFill>
                    <a:schemeClr val="tx1"/>
                  </a:solidFill>
                </a:rPr>
                <a:t>이벤트항목</a:t>
              </a:r>
              <a:endParaRPr lang="ko-KR" altLang="en-US" sz="600" dirty="0">
                <a:solidFill>
                  <a:schemeClr val="tx1"/>
                </a:solidFill>
              </a:endParaRPr>
            </a:p>
          </p:txBody>
        </p:sp>
      </p:grpSp>
      <p:grpSp>
        <p:nvGrpSpPr>
          <p:cNvPr id="146" name="그룹 145">
            <a:extLst>
              <a:ext uri="{FF2B5EF4-FFF2-40B4-BE49-F238E27FC236}">
                <a16:creationId xmlns:a16="http://schemas.microsoft.com/office/drawing/2014/main" id="{4256C95A-5B12-C9E0-F2B5-BC9D5BAB5422}"/>
              </a:ext>
            </a:extLst>
          </p:cNvPr>
          <p:cNvGrpSpPr/>
          <p:nvPr/>
        </p:nvGrpSpPr>
        <p:grpSpPr>
          <a:xfrm>
            <a:off x="493266" y="1682964"/>
            <a:ext cx="237994" cy="316983"/>
            <a:chOff x="4762389" y="1663914"/>
            <a:chExt cx="237994" cy="316983"/>
          </a:xfrm>
        </p:grpSpPr>
        <p:sp>
          <p:nvSpPr>
            <p:cNvPr id="148" name="타원 147">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직사각형 148">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150" name="연결선: 꺾임 7">
            <a:extLst>
              <a:ext uri="{FF2B5EF4-FFF2-40B4-BE49-F238E27FC236}">
                <a16:creationId xmlns:a16="http://schemas.microsoft.com/office/drawing/2014/main" id="{89A2D828-4C18-4F90-6B31-722E89773AA8}"/>
              </a:ext>
            </a:extLst>
          </p:cNvPr>
          <p:cNvCxnSpPr>
            <a:cxnSpLocks/>
            <a:stCxn id="148" idx="6"/>
            <a:endCxn id="154" idx="1"/>
          </p:cNvCxnSpPr>
          <p:nvPr/>
        </p:nvCxnSpPr>
        <p:spPr>
          <a:xfrm>
            <a:off x="700126" y="1772964"/>
            <a:ext cx="149445" cy="654114"/>
          </a:xfrm>
          <a:prstGeom prst="bentConnector3">
            <a:avLst>
              <a:gd name="adj1" fmla="val 2908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2" name="사각형: 둥근 모서리 5">
            <a:extLst>
              <a:ext uri="{FF2B5EF4-FFF2-40B4-BE49-F238E27FC236}">
                <a16:creationId xmlns:a16="http://schemas.microsoft.com/office/drawing/2014/main" id="{410E5459-200D-7630-863C-88E5109259DF}"/>
              </a:ext>
            </a:extLst>
          </p:cNvPr>
          <p:cNvSpPr/>
          <p:nvPr/>
        </p:nvSpPr>
        <p:spPr>
          <a:xfrm>
            <a:off x="1876658" y="489906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사전심사요청완료</a:t>
            </a:r>
            <a:endParaRPr lang="ko-KR" altLang="en-US" sz="500" dirty="0">
              <a:solidFill>
                <a:schemeClr val="tx1"/>
              </a:solidFill>
            </a:endParaRPr>
          </a:p>
        </p:txBody>
      </p:sp>
      <p:sp>
        <p:nvSpPr>
          <p:cNvPr id="153" name="사각형: 둥근 모서리 5">
            <a:extLst>
              <a:ext uri="{FF2B5EF4-FFF2-40B4-BE49-F238E27FC236}">
                <a16:creationId xmlns:a16="http://schemas.microsoft.com/office/drawing/2014/main" id="{410E5459-200D-7630-863C-88E5109259DF}"/>
              </a:ext>
            </a:extLst>
          </p:cNvPr>
          <p:cNvSpPr/>
          <p:nvPr/>
        </p:nvSpPr>
        <p:spPr>
          <a:xfrm>
            <a:off x="1902060" y="5995336"/>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기술평가요청완료</a:t>
            </a:r>
            <a:endParaRPr lang="ko-KR" altLang="en-US" sz="500" dirty="0">
              <a:solidFill>
                <a:schemeClr val="tx1"/>
              </a:solidFill>
            </a:endParaRPr>
          </a:p>
        </p:txBody>
      </p:sp>
      <p:sp>
        <p:nvSpPr>
          <p:cNvPr id="154" name="다이아몬드 153"/>
          <p:cNvSpPr/>
          <p:nvPr/>
        </p:nvSpPr>
        <p:spPr>
          <a:xfrm>
            <a:off x="849571" y="2071614"/>
            <a:ext cx="710927" cy="710927"/>
          </a:xfrm>
          <a:prstGeom prst="diamond">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7" name="사각형: 둥근 모서리 5">
            <a:extLst>
              <a:ext uri="{FF2B5EF4-FFF2-40B4-BE49-F238E27FC236}">
                <a16:creationId xmlns:a16="http://schemas.microsoft.com/office/drawing/2014/main" id="{410E5459-200D-7630-863C-88E5109259DF}"/>
              </a:ext>
            </a:extLst>
          </p:cNvPr>
          <p:cNvSpPr/>
          <p:nvPr/>
        </p:nvSpPr>
        <p:spPr>
          <a:xfrm>
            <a:off x="827533" y="2341799"/>
            <a:ext cx="692825" cy="221704"/>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입찰진행목록</a:t>
            </a:r>
            <a:endParaRPr lang="en-US" altLang="ko-KR" sz="500" dirty="0" smtClean="0">
              <a:solidFill>
                <a:schemeClr val="tx1"/>
              </a:solidFill>
            </a:endParaRPr>
          </a:p>
          <a:p>
            <a:pPr algn="ctr"/>
            <a:r>
              <a:rPr lang="en-US" altLang="ko-KR" sz="500" dirty="0" smtClean="0">
                <a:solidFill>
                  <a:schemeClr val="tx1"/>
                </a:solidFill>
                <a:latin typeface="+mn-ea"/>
              </a:rPr>
              <a:t>MUI-BD-03-M01</a:t>
            </a:r>
            <a:endParaRPr lang="ko-KR" altLang="en-US" sz="200" dirty="0">
              <a:solidFill>
                <a:schemeClr val="tx1"/>
              </a:solidFill>
            </a:endParaRPr>
          </a:p>
        </p:txBody>
      </p:sp>
      <p:cxnSp>
        <p:nvCxnSpPr>
          <p:cNvPr id="160" name="꺾인 연결선 159"/>
          <p:cNvCxnSpPr>
            <a:stCxn id="154" idx="3"/>
            <a:endCxn id="196" idx="1"/>
          </p:cNvCxnSpPr>
          <p:nvPr/>
        </p:nvCxnSpPr>
        <p:spPr>
          <a:xfrm flipV="1">
            <a:off x="1560498" y="2215614"/>
            <a:ext cx="303068" cy="211464"/>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163" name="꺾인 연결선 162"/>
          <p:cNvCxnSpPr>
            <a:endCxn id="166" idx="1"/>
          </p:cNvCxnSpPr>
          <p:nvPr/>
        </p:nvCxnSpPr>
        <p:spPr>
          <a:xfrm rot="16200000" flipH="1">
            <a:off x="1337102" y="2806187"/>
            <a:ext cx="916076" cy="16291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65" name="꺾인 연결선 164"/>
          <p:cNvCxnSpPr/>
          <p:nvPr/>
        </p:nvCxnSpPr>
        <p:spPr>
          <a:xfrm rot="16200000" flipH="1">
            <a:off x="-61963" y="4193106"/>
            <a:ext cx="3712259" cy="1654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166" name="사각형: 둥근 모서리 5">
            <a:extLst>
              <a:ext uri="{FF2B5EF4-FFF2-40B4-BE49-F238E27FC236}">
                <a16:creationId xmlns:a16="http://schemas.microsoft.com/office/drawing/2014/main" id="{410E5459-200D-7630-863C-88E5109259DF}"/>
              </a:ext>
            </a:extLst>
          </p:cNvPr>
          <p:cNvSpPr/>
          <p:nvPr/>
        </p:nvSpPr>
        <p:spPr>
          <a:xfrm>
            <a:off x="1876596" y="3201681"/>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입찰참가신청완료</a:t>
            </a:r>
            <a:endParaRPr lang="ko-KR" altLang="en-US" sz="500" dirty="0">
              <a:solidFill>
                <a:schemeClr val="tx1"/>
              </a:solidFill>
            </a:endParaRPr>
          </a:p>
        </p:txBody>
      </p:sp>
      <p:cxnSp>
        <p:nvCxnSpPr>
          <p:cNvPr id="167" name="꺾인 연결선 166"/>
          <p:cNvCxnSpPr/>
          <p:nvPr/>
        </p:nvCxnSpPr>
        <p:spPr>
          <a:xfrm rot="16200000" flipH="1">
            <a:off x="484167" y="3654806"/>
            <a:ext cx="2615985" cy="160530"/>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168" name="사각형: 둥근 모서리 5">
            <a:extLst>
              <a:ext uri="{FF2B5EF4-FFF2-40B4-BE49-F238E27FC236}">
                <a16:creationId xmlns:a16="http://schemas.microsoft.com/office/drawing/2014/main" id="{410E5459-200D-7630-863C-88E5109259DF}"/>
              </a:ext>
            </a:extLst>
          </p:cNvPr>
          <p:cNvSpPr/>
          <p:nvPr/>
        </p:nvSpPr>
        <p:spPr>
          <a:xfrm>
            <a:off x="5005894" y="1888866"/>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입찰서조회</a:t>
            </a:r>
            <a:r>
              <a:rPr lang="en-US" altLang="ko-KR" sz="500" dirty="0" smtClean="0">
                <a:solidFill>
                  <a:schemeClr val="tx1"/>
                </a:solidFill>
              </a:rPr>
              <a:t/>
            </a:r>
            <a:br>
              <a:rPr lang="en-US" altLang="ko-KR" sz="500" dirty="0" smtClean="0">
                <a:solidFill>
                  <a:schemeClr val="tx1"/>
                </a:solidFill>
              </a:rPr>
            </a:br>
            <a:r>
              <a:rPr lang="en-US" altLang="ko-KR" sz="500" dirty="0">
                <a:solidFill>
                  <a:schemeClr val="tx1"/>
                </a:solidFill>
              </a:rPr>
              <a:t>MUI-BD-06-M09</a:t>
            </a:r>
            <a:endParaRPr lang="ko-KR" altLang="en-US" sz="500" dirty="0">
              <a:solidFill>
                <a:schemeClr val="tx1"/>
              </a:solidFill>
            </a:endParaRPr>
          </a:p>
        </p:txBody>
      </p:sp>
      <p:sp>
        <p:nvSpPr>
          <p:cNvPr id="170" name="사각형: 둥근 모서리 5">
            <a:extLst>
              <a:ext uri="{FF2B5EF4-FFF2-40B4-BE49-F238E27FC236}">
                <a16:creationId xmlns:a16="http://schemas.microsoft.com/office/drawing/2014/main" id="{410E5459-200D-7630-863C-88E5109259DF}"/>
              </a:ext>
            </a:extLst>
          </p:cNvPr>
          <p:cNvSpPr/>
          <p:nvPr/>
        </p:nvSpPr>
        <p:spPr>
          <a:xfrm>
            <a:off x="5447306" y="489906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심사결과조회</a:t>
            </a:r>
            <a:endParaRPr lang="en-US" altLang="ko-KR" sz="500" dirty="0" smtClean="0">
              <a:solidFill>
                <a:schemeClr val="tx1"/>
              </a:solidFill>
            </a:endParaRPr>
          </a:p>
          <a:p>
            <a:pPr algn="ctr"/>
            <a:r>
              <a:rPr lang="en-US" altLang="ko-KR" sz="500" dirty="0" smtClean="0">
                <a:solidFill>
                  <a:schemeClr val="tx1"/>
                </a:solidFill>
                <a:latin typeface="+mn-ea"/>
              </a:rPr>
              <a:t>MUI-BD-02-M02</a:t>
            </a:r>
            <a:endParaRPr lang="ko-KR" altLang="en-US" sz="500" dirty="0">
              <a:solidFill>
                <a:schemeClr val="tx1"/>
              </a:solidFill>
            </a:endParaRPr>
          </a:p>
        </p:txBody>
      </p:sp>
      <p:sp>
        <p:nvSpPr>
          <p:cNvPr id="172" name="사각형: 둥근 모서리 5">
            <a:extLst>
              <a:ext uri="{FF2B5EF4-FFF2-40B4-BE49-F238E27FC236}">
                <a16:creationId xmlns:a16="http://schemas.microsoft.com/office/drawing/2014/main" id="{410E5459-200D-7630-863C-88E5109259DF}"/>
              </a:ext>
            </a:extLst>
          </p:cNvPr>
          <p:cNvSpPr/>
          <p:nvPr/>
        </p:nvSpPr>
        <p:spPr>
          <a:xfrm>
            <a:off x="3597307" y="5995336"/>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기술평가결과조회</a:t>
            </a:r>
            <a:endParaRPr lang="en-US" altLang="ko-KR" sz="500" dirty="0" smtClean="0">
              <a:solidFill>
                <a:schemeClr val="tx1"/>
              </a:solidFill>
            </a:endParaRPr>
          </a:p>
          <a:p>
            <a:pPr algn="ctr"/>
            <a:r>
              <a:rPr lang="en-US" altLang="ko-KR" sz="500" dirty="0" smtClean="0">
                <a:solidFill>
                  <a:schemeClr val="tx1"/>
                </a:solidFill>
                <a:latin typeface="+mn-ea"/>
              </a:rPr>
              <a:t>MUI-BD-07-P01</a:t>
            </a:r>
            <a:endParaRPr lang="ko-KR" altLang="en-US" sz="500" dirty="0">
              <a:solidFill>
                <a:schemeClr val="tx1"/>
              </a:solidFill>
            </a:endParaRPr>
          </a:p>
        </p:txBody>
      </p:sp>
      <p:sp>
        <p:nvSpPr>
          <p:cNvPr id="173" name="사각형: 둥근 모서리 5">
            <a:extLst>
              <a:ext uri="{FF2B5EF4-FFF2-40B4-BE49-F238E27FC236}">
                <a16:creationId xmlns:a16="http://schemas.microsoft.com/office/drawing/2014/main" id="{410E5459-200D-7630-863C-88E5109259DF}"/>
              </a:ext>
            </a:extLst>
          </p:cNvPr>
          <p:cNvSpPr/>
          <p:nvPr/>
        </p:nvSpPr>
        <p:spPr>
          <a:xfrm>
            <a:off x="7038156" y="1698281"/>
            <a:ext cx="781632" cy="169085"/>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bg1"/>
                </a:solidFill>
              </a:rPr>
              <a:t>입찰포기</a:t>
            </a:r>
            <a:endParaRPr lang="en-US" altLang="ko-KR" sz="500" dirty="0" smtClean="0">
              <a:solidFill>
                <a:schemeClr val="bg1"/>
              </a:solidFill>
            </a:endParaRPr>
          </a:p>
          <a:p>
            <a:pPr algn="ctr"/>
            <a:r>
              <a:rPr lang="en-US" altLang="ko-KR" sz="500" dirty="0" smtClean="0">
                <a:latin typeface="+mn-ea"/>
              </a:rPr>
              <a:t>MUI-BD-03-P03</a:t>
            </a:r>
            <a:endParaRPr lang="ko-KR" altLang="en-US" sz="500" dirty="0">
              <a:solidFill>
                <a:schemeClr val="bg1"/>
              </a:solidFill>
            </a:endParaRPr>
          </a:p>
        </p:txBody>
      </p:sp>
      <p:sp>
        <p:nvSpPr>
          <p:cNvPr id="174" name="사각형: 둥근 모서리 5">
            <a:extLst>
              <a:ext uri="{FF2B5EF4-FFF2-40B4-BE49-F238E27FC236}">
                <a16:creationId xmlns:a16="http://schemas.microsoft.com/office/drawing/2014/main" id="{410E5459-200D-7630-863C-88E5109259DF}"/>
              </a:ext>
            </a:extLst>
          </p:cNvPr>
          <p:cNvSpPr/>
          <p:nvPr/>
        </p:nvSpPr>
        <p:spPr>
          <a:xfrm>
            <a:off x="7038156" y="1904261"/>
            <a:ext cx="781632" cy="14736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bg1"/>
                </a:solidFill>
              </a:rPr>
              <a:t>입찰취소</a:t>
            </a:r>
            <a:endParaRPr lang="en-US" altLang="ko-KR" sz="500" dirty="0" smtClean="0">
              <a:solidFill>
                <a:schemeClr val="bg1"/>
              </a:solidFill>
            </a:endParaRPr>
          </a:p>
          <a:p>
            <a:pPr algn="ctr"/>
            <a:r>
              <a:rPr lang="en-US" altLang="ko-KR" sz="500" dirty="0" smtClean="0">
                <a:latin typeface="+mn-ea"/>
              </a:rPr>
              <a:t>MUI-BD-03-P04</a:t>
            </a:r>
            <a:endParaRPr lang="ko-KR" altLang="en-US" sz="500" dirty="0">
              <a:solidFill>
                <a:schemeClr val="bg1"/>
              </a:solidFill>
            </a:endParaRPr>
          </a:p>
        </p:txBody>
      </p:sp>
      <p:cxnSp>
        <p:nvCxnSpPr>
          <p:cNvPr id="176" name="직선 화살표 연결선 175"/>
          <p:cNvCxnSpPr>
            <a:stCxn id="153" idx="3"/>
            <a:endCxn id="172" idx="1"/>
          </p:cNvCxnSpPr>
          <p:nvPr/>
        </p:nvCxnSpPr>
        <p:spPr>
          <a:xfrm>
            <a:off x="2802060" y="6139336"/>
            <a:ext cx="79524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1" name="사각형: 둥근 모서리 5">
            <a:extLst>
              <a:ext uri="{FF2B5EF4-FFF2-40B4-BE49-F238E27FC236}">
                <a16:creationId xmlns:a16="http://schemas.microsoft.com/office/drawing/2014/main" id="{410E5459-200D-7630-863C-88E5109259DF}"/>
              </a:ext>
            </a:extLst>
          </p:cNvPr>
          <p:cNvSpPr/>
          <p:nvPr/>
        </p:nvSpPr>
        <p:spPr>
          <a:xfrm>
            <a:off x="4248518" y="1896198"/>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제출완료</a:t>
            </a:r>
            <a:endParaRPr lang="ko-KR" altLang="en-US" sz="500" dirty="0">
              <a:solidFill>
                <a:schemeClr val="tx1"/>
              </a:solidFill>
            </a:endParaRPr>
          </a:p>
        </p:txBody>
      </p:sp>
      <p:sp>
        <p:nvSpPr>
          <p:cNvPr id="182" name="사각형: 둥근 모서리 5">
            <a:extLst>
              <a:ext uri="{FF2B5EF4-FFF2-40B4-BE49-F238E27FC236}">
                <a16:creationId xmlns:a16="http://schemas.microsoft.com/office/drawing/2014/main" id="{410E5459-200D-7630-863C-88E5109259DF}"/>
              </a:ext>
            </a:extLst>
          </p:cNvPr>
          <p:cNvSpPr/>
          <p:nvPr/>
        </p:nvSpPr>
        <p:spPr>
          <a:xfrm>
            <a:off x="4248518" y="2089866"/>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완료</a:t>
            </a:r>
            <a:endParaRPr lang="ko-KR" altLang="en-US" sz="500" dirty="0">
              <a:solidFill>
                <a:schemeClr val="tx1"/>
              </a:solidFill>
            </a:endParaRPr>
          </a:p>
        </p:txBody>
      </p:sp>
      <p:sp>
        <p:nvSpPr>
          <p:cNvPr id="183" name="사각형: 둥근 모서리 5">
            <a:extLst>
              <a:ext uri="{FF2B5EF4-FFF2-40B4-BE49-F238E27FC236}">
                <a16:creationId xmlns:a16="http://schemas.microsoft.com/office/drawing/2014/main" id="{410E5459-200D-7630-863C-88E5109259DF}"/>
              </a:ext>
            </a:extLst>
          </p:cNvPr>
          <p:cNvSpPr/>
          <p:nvPr/>
        </p:nvSpPr>
        <p:spPr>
          <a:xfrm>
            <a:off x="4248518" y="2286635"/>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ysClr val="windowText" lastClr="000000"/>
                </a:solidFill>
              </a:rPr>
              <a:t>입찰취소</a:t>
            </a:r>
            <a:endParaRPr lang="ko-KR" altLang="en-US" sz="500" dirty="0">
              <a:solidFill>
                <a:sysClr val="windowText" lastClr="000000"/>
              </a:solidFill>
            </a:endParaRPr>
          </a:p>
        </p:txBody>
      </p:sp>
      <p:sp>
        <p:nvSpPr>
          <p:cNvPr id="184" name="사각형: 둥근 모서리 5">
            <a:extLst>
              <a:ext uri="{FF2B5EF4-FFF2-40B4-BE49-F238E27FC236}">
                <a16:creationId xmlns:a16="http://schemas.microsoft.com/office/drawing/2014/main" id="{410E5459-200D-7630-863C-88E5109259DF}"/>
              </a:ext>
            </a:extLst>
          </p:cNvPr>
          <p:cNvSpPr/>
          <p:nvPr/>
        </p:nvSpPr>
        <p:spPr>
          <a:xfrm>
            <a:off x="4248518" y="2483405"/>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ysClr val="windowText" lastClr="000000"/>
                </a:solidFill>
              </a:rPr>
              <a:t>입찰포기</a:t>
            </a:r>
            <a:endParaRPr lang="ko-KR" altLang="en-US" sz="500" dirty="0">
              <a:solidFill>
                <a:sysClr val="windowText" lastClr="000000"/>
              </a:solidFill>
            </a:endParaRPr>
          </a:p>
        </p:txBody>
      </p:sp>
      <p:sp>
        <p:nvSpPr>
          <p:cNvPr id="189" name="사각형: 둥근 모서리 5">
            <a:extLst>
              <a:ext uri="{FF2B5EF4-FFF2-40B4-BE49-F238E27FC236}">
                <a16:creationId xmlns:a16="http://schemas.microsoft.com/office/drawing/2014/main" id="{410E5459-200D-7630-863C-88E5109259DF}"/>
              </a:ext>
            </a:extLst>
          </p:cNvPr>
          <p:cNvSpPr/>
          <p:nvPr/>
        </p:nvSpPr>
        <p:spPr>
          <a:xfrm>
            <a:off x="5005894" y="2086320"/>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결과조회</a:t>
            </a:r>
            <a:endParaRPr lang="en-US" altLang="ko-KR" sz="500" dirty="0" smtClean="0">
              <a:solidFill>
                <a:schemeClr val="tx1"/>
              </a:solidFill>
            </a:endParaRPr>
          </a:p>
          <a:p>
            <a:pPr algn="ctr"/>
            <a:r>
              <a:rPr lang="en-US" altLang="ko-KR" sz="500" dirty="0" smtClean="0">
                <a:solidFill>
                  <a:schemeClr val="tx1"/>
                </a:solidFill>
                <a:latin typeface="+mn-ea"/>
              </a:rPr>
              <a:t>MUI-BD-09-M01</a:t>
            </a:r>
            <a:endParaRPr lang="ko-KR" altLang="en-US" sz="500" dirty="0">
              <a:solidFill>
                <a:schemeClr val="tx1"/>
              </a:solidFill>
            </a:endParaRPr>
          </a:p>
        </p:txBody>
      </p:sp>
      <p:sp>
        <p:nvSpPr>
          <p:cNvPr id="190" name="사각형: 둥근 모서리 5">
            <a:extLst>
              <a:ext uri="{FF2B5EF4-FFF2-40B4-BE49-F238E27FC236}">
                <a16:creationId xmlns:a16="http://schemas.microsoft.com/office/drawing/2014/main" id="{410E5459-200D-7630-863C-88E5109259DF}"/>
              </a:ext>
            </a:extLst>
          </p:cNvPr>
          <p:cNvSpPr/>
          <p:nvPr/>
        </p:nvSpPr>
        <p:spPr>
          <a:xfrm>
            <a:off x="5005894" y="2280599"/>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입찰취소신청조회</a:t>
            </a:r>
            <a:r>
              <a:rPr lang="en-US" altLang="ko-KR" sz="500" dirty="0" smtClean="0">
                <a:solidFill>
                  <a:schemeClr val="tx1"/>
                </a:solidFill>
              </a:rPr>
              <a:t/>
            </a:r>
            <a:br>
              <a:rPr lang="en-US" altLang="ko-KR" sz="500" dirty="0" smtClean="0">
                <a:solidFill>
                  <a:schemeClr val="tx1"/>
                </a:solidFill>
              </a:rPr>
            </a:br>
            <a:r>
              <a:rPr lang="en-US" altLang="ko-KR" sz="500" dirty="0" smtClean="0">
                <a:solidFill>
                  <a:schemeClr val="tx1"/>
                </a:solidFill>
                <a:latin typeface="+mn-ea"/>
              </a:rPr>
              <a:t>MUI-BD-03-P05</a:t>
            </a:r>
            <a:endParaRPr lang="en-US" altLang="ko-KR" sz="500" dirty="0">
              <a:solidFill>
                <a:schemeClr val="tx1"/>
              </a:solidFill>
              <a:latin typeface="+mn-ea"/>
            </a:endParaRPr>
          </a:p>
        </p:txBody>
      </p:sp>
      <p:sp>
        <p:nvSpPr>
          <p:cNvPr id="191" name="사각형: 둥근 모서리 5">
            <a:extLst>
              <a:ext uri="{FF2B5EF4-FFF2-40B4-BE49-F238E27FC236}">
                <a16:creationId xmlns:a16="http://schemas.microsoft.com/office/drawing/2014/main" id="{410E5459-200D-7630-863C-88E5109259DF}"/>
              </a:ext>
            </a:extLst>
          </p:cNvPr>
          <p:cNvSpPr/>
          <p:nvPr/>
        </p:nvSpPr>
        <p:spPr>
          <a:xfrm>
            <a:off x="5005894" y="2476073"/>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입찰포기신청조회</a:t>
            </a:r>
            <a:r>
              <a:rPr lang="en-US" altLang="ko-KR" sz="500" dirty="0" smtClean="0">
                <a:solidFill>
                  <a:schemeClr val="tx1"/>
                </a:solidFill>
              </a:rPr>
              <a:t/>
            </a:r>
            <a:br>
              <a:rPr lang="en-US" altLang="ko-KR" sz="500" dirty="0" smtClean="0">
                <a:solidFill>
                  <a:schemeClr val="tx1"/>
                </a:solidFill>
              </a:rPr>
            </a:br>
            <a:r>
              <a:rPr lang="en-US" altLang="ko-KR" sz="500" dirty="0" smtClean="0">
                <a:solidFill>
                  <a:schemeClr val="tx1"/>
                </a:solidFill>
                <a:latin typeface="+mn-ea"/>
              </a:rPr>
              <a:t>MUI-BD-03-P08</a:t>
            </a:r>
            <a:endParaRPr lang="ko-KR" altLang="en-US" sz="500" dirty="0">
              <a:solidFill>
                <a:schemeClr val="tx1"/>
              </a:solidFill>
            </a:endParaRPr>
          </a:p>
        </p:txBody>
      </p:sp>
      <p:cxnSp>
        <p:nvCxnSpPr>
          <p:cNvPr id="192" name="직선 화살표 연결선 191"/>
          <p:cNvCxnSpPr>
            <a:stCxn id="181" idx="3"/>
            <a:endCxn id="168" idx="1"/>
          </p:cNvCxnSpPr>
          <p:nvPr/>
        </p:nvCxnSpPr>
        <p:spPr>
          <a:xfrm flipV="1">
            <a:off x="4809062" y="1979876"/>
            <a:ext cx="196832" cy="36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직선 화살표 연결선 192"/>
          <p:cNvCxnSpPr>
            <a:stCxn id="182" idx="3"/>
            <a:endCxn id="189" idx="1"/>
          </p:cNvCxnSpPr>
          <p:nvPr/>
        </p:nvCxnSpPr>
        <p:spPr>
          <a:xfrm>
            <a:off x="4809062" y="2177210"/>
            <a:ext cx="196832" cy="1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직선 화살표 연결선 193"/>
          <p:cNvCxnSpPr/>
          <p:nvPr/>
        </p:nvCxnSpPr>
        <p:spPr>
          <a:xfrm flipV="1">
            <a:off x="4806774" y="2371619"/>
            <a:ext cx="181958" cy="23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직선 화살표 연결선 194"/>
          <p:cNvCxnSpPr>
            <a:stCxn id="184" idx="3"/>
            <a:endCxn id="191" idx="1"/>
          </p:cNvCxnSpPr>
          <p:nvPr/>
        </p:nvCxnSpPr>
        <p:spPr>
          <a:xfrm flipV="1">
            <a:off x="4809062" y="2567083"/>
            <a:ext cx="196832" cy="36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6" name="사각형: 둥근 모서리 5">
            <a:extLst>
              <a:ext uri="{FF2B5EF4-FFF2-40B4-BE49-F238E27FC236}">
                <a16:creationId xmlns:a16="http://schemas.microsoft.com/office/drawing/2014/main" id="{410E5459-200D-7630-863C-88E5109259DF}"/>
              </a:ext>
            </a:extLst>
          </p:cNvPr>
          <p:cNvSpPr/>
          <p:nvPr/>
        </p:nvSpPr>
        <p:spPr>
          <a:xfrm>
            <a:off x="1863566" y="207161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일반입찰공고 </a:t>
            </a:r>
            <a:endParaRPr lang="en-US" altLang="ko-KR" sz="500" dirty="0" smtClean="0">
              <a:solidFill>
                <a:schemeClr val="tx1"/>
              </a:solidFill>
            </a:endParaRPr>
          </a:p>
          <a:p>
            <a:pPr algn="ctr"/>
            <a:r>
              <a:rPr lang="ko-KR" altLang="en-US" sz="500" dirty="0" smtClean="0">
                <a:solidFill>
                  <a:schemeClr val="tx1"/>
                </a:solidFill>
              </a:rPr>
              <a:t>입찰서제출완료</a:t>
            </a:r>
            <a:endParaRPr lang="ko-KR" altLang="en-US" sz="500" dirty="0">
              <a:solidFill>
                <a:schemeClr val="tx1"/>
              </a:solidFill>
            </a:endParaRPr>
          </a:p>
        </p:txBody>
      </p:sp>
      <p:sp>
        <p:nvSpPr>
          <p:cNvPr id="197" name="사각형: 둥근 모서리 5">
            <a:extLst>
              <a:ext uri="{FF2B5EF4-FFF2-40B4-BE49-F238E27FC236}">
                <a16:creationId xmlns:a16="http://schemas.microsoft.com/office/drawing/2014/main" id="{410E5459-200D-7630-863C-88E5109259DF}"/>
              </a:ext>
            </a:extLst>
          </p:cNvPr>
          <p:cNvSpPr/>
          <p:nvPr/>
        </p:nvSpPr>
        <p:spPr>
          <a:xfrm>
            <a:off x="4255728" y="2825647"/>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신청</a:t>
            </a:r>
            <a:endParaRPr lang="ko-KR" altLang="en-US" sz="500" dirty="0">
              <a:solidFill>
                <a:schemeClr val="tx1"/>
              </a:solidFill>
            </a:endParaRPr>
          </a:p>
        </p:txBody>
      </p:sp>
      <p:sp>
        <p:nvSpPr>
          <p:cNvPr id="198" name="사각형: 둥근 모서리 5">
            <a:extLst>
              <a:ext uri="{FF2B5EF4-FFF2-40B4-BE49-F238E27FC236}">
                <a16:creationId xmlns:a16="http://schemas.microsoft.com/office/drawing/2014/main" id="{410E5459-200D-7630-863C-88E5109259DF}"/>
              </a:ext>
            </a:extLst>
          </p:cNvPr>
          <p:cNvSpPr/>
          <p:nvPr/>
        </p:nvSpPr>
        <p:spPr>
          <a:xfrm>
            <a:off x="4255728" y="3764174"/>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등록불가</a:t>
            </a:r>
            <a:endParaRPr lang="ko-KR" altLang="en-US" sz="500" dirty="0">
              <a:solidFill>
                <a:schemeClr val="tx1"/>
              </a:solidFill>
            </a:endParaRPr>
          </a:p>
        </p:txBody>
      </p:sp>
      <p:sp>
        <p:nvSpPr>
          <p:cNvPr id="199" name="사각형: 둥근 모서리 5">
            <a:extLst>
              <a:ext uri="{FF2B5EF4-FFF2-40B4-BE49-F238E27FC236}">
                <a16:creationId xmlns:a16="http://schemas.microsoft.com/office/drawing/2014/main" id="{410E5459-200D-7630-863C-88E5109259DF}"/>
              </a:ext>
            </a:extLst>
          </p:cNvPr>
          <p:cNvSpPr/>
          <p:nvPr/>
        </p:nvSpPr>
        <p:spPr>
          <a:xfrm>
            <a:off x="4255728" y="3957728"/>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등록확정</a:t>
            </a:r>
            <a:endParaRPr lang="ko-KR" altLang="en-US" sz="500" dirty="0">
              <a:solidFill>
                <a:schemeClr val="tx1"/>
              </a:solidFill>
            </a:endParaRPr>
          </a:p>
        </p:txBody>
      </p:sp>
      <p:sp>
        <p:nvSpPr>
          <p:cNvPr id="200" name="사각형: 둥근 모서리 5">
            <a:extLst>
              <a:ext uri="{FF2B5EF4-FFF2-40B4-BE49-F238E27FC236}">
                <a16:creationId xmlns:a16="http://schemas.microsoft.com/office/drawing/2014/main" id="{410E5459-200D-7630-863C-88E5109259DF}"/>
              </a:ext>
            </a:extLst>
          </p:cNvPr>
          <p:cNvSpPr/>
          <p:nvPr/>
        </p:nvSpPr>
        <p:spPr>
          <a:xfrm>
            <a:off x="4255728" y="4149970"/>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반려</a:t>
            </a:r>
            <a:endParaRPr lang="ko-KR" altLang="en-US" sz="500" dirty="0">
              <a:solidFill>
                <a:schemeClr val="tx1"/>
              </a:solidFill>
            </a:endParaRPr>
          </a:p>
        </p:txBody>
      </p:sp>
      <p:sp>
        <p:nvSpPr>
          <p:cNvPr id="201" name="사각형: 둥근 모서리 5">
            <a:extLst>
              <a:ext uri="{FF2B5EF4-FFF2-40B4-BE49-F238E27FC236}">
                <a16:creationId xmlns:a16="http://schemas.microsoft.com/office/drawing/2014/main" id="{410E5459-200D-7630-863C-88E5109259DF}"/>
              </a:ext>
            </a:extLst>
          </p:cNvPr>
          <p:cNvSpPr/>
          <p:nvPr/>
        </p:nvSpPr>
        <p:spPr>
          <a:xfrm>
            <a:off x="4252036" y="3275504"/>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미동의</a:t>
            </a:r>
            <a:endParaRPr lang="ko-KR" altLang="en-US" sz="500" dirty="0">
              <a:solidFill>
                <a:schemeClr val="tx1"/>
              </a:solidFill>
            </a:endParaRPr>
          </a:p>
        </p:txBody>
      </p:sp>
      <p:sp>
        <p:nvSpPr>
          <p:cNvPr id="202" name="사각형: 둥근 모서리 5">
            <a:extLst>
              <a:ext uri="{FF2B5EF4-FFF2-40B4-BE49-F238E27FC236}">
                <a16:creationId xmlns:a16="http://schemas.microsoft.com/office/drawing/2014/main" id="{410E5459-200D-7630-863C-88E5109259DF}"/>
              </a:ext>
            </a:extLst>
          </p:cNvPr>
          <p:cNvSpPr/>
          <p:nvPr/>
        </p:nvSpPr>
        <p:spPr>
          <a:xfrm>
            <a:off x="4252036" y="3469789"/>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동의완료</a:t>
            </a:r>
            <a:endParaRPr lang="ko-KR" altLang="en-US" sz="500" dirty="0">
              <a:solidFill>
                <a:schemeClr val="tx1"/>
              </a:solidFill>
            </a:endParaRPr>
          </a:p>
        </p:txBody>
      </p:sp>
      <p:sp>
        <p:nvSpPr>
          <p:cNvPr id="203" name="사각형: 둥근 모서리 5">
            <a:extLst>
              <a:ext uri="{FF2B5EF4-FFF2-40B4-BE49-F238E27FC236}">
                <a16:creationId xmlns:a16="http://schemas.microsoft.com/office/drawing/2014/main" id="{410E5459-200D-7630-863C-88E5109259DF}"/>
              </a:ext>
            </a:extLst>
          </p:cNvPr>
          <p:cNvSpPr/>
          <p:nvPr/>
        </p:nvSpPr>
        <p:spPr>
          <a:xfrm>
            <a:off x="4255728" y="4371727"/>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bg1">
                    <a:lumMod val="65000"/>
                  </a:schemeClr>
                </a:solidFill>
              </a:rPr>
              <a:t>사후심사</a:t>
            </a:r>
            <a:r>
              <a:rPr lang="en-US" altLang="ko-KR" sz="500" dirty="0" smtClean="0">
                <a:solidFill>
                  <a:schemeClr val="bg1">
                    <a:lumMod val="65000"/>
                  </a:schemeClr>
                </a:solidFill>
              </a:rPr>
              <a:t/>
            </a:r>
            <a:br>
              <a:rPr lang="en-US" altLang="ko-KR" sz="500" dirty="0" smtClean="0">
                <a:solidFill>
                  <a:schemeClr val="bg1">
                    <a:lumMod val="65000"/>
                  </a:schemeClr>
                </a:solidFill>
              </a:rPr>
            </a:br>
            <a:r>
              <a:rPr lang="en-US" altLang="ko-KR" sz="500" dirty="0" smtClean="0">
                <a:solidFill>
                  <a:schemeClr val="bg1">
                    <a:lumMod val="65000"/>
                  </a:schemeClr>
                </a:solidFill>
              </a:rPr>
              <a:t>(</a:t>
            </a:r>
            <a:r>
              <a:rPr lang="ko-KR" altLang="en-US" sz="500" dirty="0" smtClean="0">
                <a:solidFill>
                  <a:schemeClr val="bg1">
                    <a:lumMod val="65000"/>
                  </a:schemeClr>
                </a:solidFill>
              </a:rPr>
              <a:t>모름</a:t>
            </a:r>
            <a:r>
              <a:rPr lang="en-US" altLang="ko-KR" sz="500" dirty="0" smtClean="0">
                <a:solidFill>
                  <a:schemeClr val="bg1">
                    <a:lumMod val="65000"/>
                  </a:schemeClr>
                </a:solidFill>
              </a:rPr>
              <a:t>)</a:t>
            </a:r>
            <a:endParaRPr lang="ko-KR" altLang="en-US" sz="500" dirty="0">
              <a:solidFill>
                <a:schemeClr val="bg1">
                  <a:lumMod val="65000"/>
                </a:schemeClr>
              </a:solidFill>
            </a:endParaRPr>
          </a:p>
        </p:txBody>
      </p:sp>
      <p:sp>
        <p:nvSpPr>
          <p:cNvPr id="204" name="사각형: 둥근 모서리 5">
            <a:extLst>
              <a:ext uri="{FF2B5EF4-FFF2-40B4-BE49-F238E27FC236}">
                <a16:creationId xmlns:a16="http://schemas.microsoft.com/office/drawing/2014/main" id="{410E5459-200D-7630-863C-88E5109259DF}"/>
              </a:ext>
            </a:extLst>
          </p:cNvPr>
          <p:cNvSpPr/>
          <p:nvPr/>
        </p:nvSpPr>
        <p:spPr>
          <a:xfrm>
            <a:off x="5005894" y="3960260"/>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400" dirty="0" smtClean="0">
                <a:solidFill>
                  <a:schemeClr val="tx1"/>
                </a:solidFill>
              </a:rPr>
              <a:t>입찰등록심사결과조회</a:t>
            </a:r>
            <a:endParaRPr lang="en-US" altLang="ko-KR" sz="400" dirty="0" smtClean="0">
              <a:solidFill>
                <a:schemeClr val="tx1"/>
              </a:solidFill>
            </a:endParaRPr>
          </a:p>
          <a:p>
            <a:pPr algn="ctr"/>
            <a:r>
              <a:rPr lang="en-US" altLang="ko-KR" sz="400" dirty="0" smtClean="0">
                <a:solidFill>
                  <a:schemeClr val="tx1"/>
                </a:solidFill>
                <a:latin typeface="+mn-ea"/>
              </a:rPr>
              <a:t>MUI-BD-03-M05</a:t>
            </a:r>
            <a:endParaRPr lang="ko-KR" altLang="en-US" sz="400" dirty="0">
              <a:solidFill>
                <a:schemeClr val="tx1"/>
              </a:solidFill>
            </a:endParaRPr>
          </a:p>
        </p:txBody>
      </p:sp>
      <p:sp>
        <p:nvSpPr>
          <p:cNvPr id="205" name="사각형: 둥근 모서리 5">
            <a:extLst>
              <a:ext uri="{FF2B5EF4-FFF2-40B4-BE49-F238E27FC236}">
                <a16:creationId xmlns:a16="http://schemas.microsoft.com/office/drawing/2014/main" id="{410E5459-200D-7630-863C-88E5109259DF}"/>
              </a:ext>
            </a:extLst>
          </p:cNvPr>
          <p:cNvSpPr/>
          <p:nvPr/>
        </p:nvSpPr>
        <p:spPr>
          <a:xfrm>
            <a:off x="5005894" y="2821490"/>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신청서작성</a:t>
            </a:r>
            <a:endParaRPr lang="en-US" altLang="ko-KR" sz="500" dirty="0" smtClean="0">
              <a:solidFill>
                <a:schemeClr val="tx1"/>
              </a:solidFill>
            </a:endParaRPr>
          </a:p>
          <a:p>
            <a:pPr algn="ctr"/>
            <a:r>
              <a:rPr lang="en-US" altLang="ko-KR" sz="500" dirty="0" smtClean="0">
                <a:solidFill>
                  <a:srgbClr val="000000"/>
                </a:solidFill>
                <a:latin typeface="맑은 고딕" panose="020B0503020000020004" pitchFamily="50" charset="-127"/>
              </a:rPr>
              <a:t>MUI-BD-04-M01</a:t>
            </a:r>
            <a:endParaRPr lang="ko-KR" altLang="en-US" sz="500" dirty="0"/>
          </a:p>
        </p:txBody>
      </p:sp>
      <p:cxnSp>
        <p:nvCxnSpPr>
          <p:cNvPr id="206" name="꺾인 연결선 205"/>
          <p:cNvCxnSpPr>
            <a:stCxn id="197" idx="3"/>
          </p:cNvCxnSpPr>
          <p:nvPr/>
        </p:nvCxnSpPr>
        <p:spPr>
          <a:xfrm flipV="1">
            <a:off x="4816272" y="2912500"/>
            <a:ext cx="189622" cy="49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직선 화살표 연결선 206"/>
          <p:cNvCxnSpPr>
            <a:stCxn id="152" idx="3"/>
            <a:endCxn id="170" idx="1"/>
          </p:cNvCxnSpPr>
          <p:nvPr/>
        </p:nvCxnSpPr>
        <p:spPr>
          <a:xfrm>
            <a:off x="2776658" y="5043064"/>
            <a:ext cx="267064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8" name="직사각형 207"/>
          <p:cNvSpPr/>
          <p:nvPr/>
        </p:nvSpPr>
        <p:spPr>
          <a:xfrm>
            <a:off x="2726625" y="5997367"/>
            <a:ext cx="569387" cy="169277"/>
          </a:xfrm>
          <a:prstGeom prst="rect">
            <a:avLst/>
          </a:prstGeom>
        </p:spPr>
        <p:txBody>
          <a:bodyPr wrap="none">
            <a:spAutoFit/>
          </a:bodyPr>
          <a:lstStyle/>
          <a:p>
            <a:pPr algn="ctr"/>
            <a:r>
              <a:rPr lang="ko-KR" altLang="en-US" sz="500" dirty="0" smtClean="0"/>
              <a:t>기술평가진행</a:t>
            </a:r>
            <a:endParaRPr lang="ko-KR" altLang="en-US" sz="500" dirty="0"/>
          </a:p>
        </p:txBody>
      </p:sp>
      <p:sp>
        <p:nvSpPr>
          <p:cNvPr id="210" name="사각형: 둥근 모서리 5">
            <a:extLst>
              <a:ext uri="{FF2B5EF4-FFF2-40B4-BE49-F238E27FC236}">
                <a16:creationId xmlns:a16="http://schemas.microsoft.com/office/drawing/2014/main" id="{410E5459-200D-7630-863C-88E5109259DF}"/>
              </a:ext>
            </a:extLst>
          </p:cNvPr>
          <p:cNvSpPr/>
          <p:nvPr/>
        </p:nvSpPr>
        <p:spPr>
          <a:xfrm>
            <a:off x="7416688" y="4781265"/>
            <a:ext cx="690969" cy="15907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bg1"/>
                </a:solidFill>
              </a:rPr>
              <a:t>입찰참가신청서제출</a:t>
            </a:r>
            <a:endParaRPr lang="en-US" altLang="ko-KR" sz="500" dirty="0" smtClean="0">
              <a:solidFill>
                <a:schemeClr val="bg1"/>
              </a:solidFill>
            </a:endParaRPr>
          </a:p>
          <a:p>
            <a:pPr algn="ctr"/>
            <a:r>
              <a:rPr lang="en-US" altLang="ko-KR" sz="500" dirty="0" smtClean="0">
                <a:solidFill>
                  <a:schemeClr val="bg1"/>
                </a:solidFill>
                <a:latin typeface="맑은 고딕" panose="020B0503020000020004" pitchFamily="50" charset="-127"/>
              </a:rPr>
              <a:t>MUI-BD-02-M01</a:t>
            </a:r>
            <a:endParaRPr lang="ko-KR" altLang="en-US" sz="500" dirty="0">
              <a:solidFill>
                <a:schemeClr val="bg1"/>
              </a:solidFill>
            </a:endParaRPr>
          </a:p>
        </p:txBody>
      </p:sp>
      <p:sp>
        <p:nvSpPr>
          <p:cNvPr id="212" name="사각형: 둥근 모서리 5">
            <a:extLst>
              <a:ext uri="{FF2B5EF4-FFF2-40B4-BE49-F238E27FC236}">
                <a16:creationId xmlns:a16="http://schemas.microsoft.com/office/drawing/2014/main" id="{410E5459-200D-7630-863C-88E5109259DF}"/>
              </a:ext>
            </a:extLst>
          </p:cNvPr>
          <p:cNvSpPr/>
          <p:nvPr/>
        </p:nvSpPr>
        <p:spPr>
          <a:xfrm>
            <a:off x="7416688" y="4984284"/>
            <a:ext cx="690969" cy="15907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bg1"/>
                </a:solidFill>
              </a:rPr>
              <a:t>입찰서제출</a:t>
            </a:r>
            <a:endParaRPr lang="en-US" altLang="ko-KR" sz="500" dirty="0" smtClean="0">
              <a:solidFill>
                <a:schemeClr val="bg1"/>
              </a:solidFill>
            </a:endParaRPr>
          </a:p>
          <a:p>
            <a:pPr algn="ctr"/>
            <a:r>
              <a:rPr lang="en-US" altLang="ko-KR" sz="500" dirty="0" smtClean="0">
                <a:solidFill>
                  <a:schemeClr val="bg1"/>
                </a:solidFill>
                <a:latin typeface="맑은 고딕" panose="020B0503020000020004" pitchFamily="50" charset="-127"/>
              </a:rPr>
              <a:t>MUI-BD-06-M01</a:t>
            </a:r>
            <a:endParaRPr lang="ko-KR" altLang="en-US" sz="500" dirty="0">
              <a:solidFill>
                <a:schemeClr val="bg1"/>
              </a:solidFill>
            </a:endParaRPr>
          </a:p>
        </p:txBody>
      </p:sp>
      <p:sp>
        <p:nvSpPr>
          <p:cNvPr id="213" name="사각형: 둥근 모서리 5">
            <a:extLst>
              <a:ext uri="{FF2B5EF4-FFF2-40B4-BE49-F238E27FC236}">
                <a16:creationId xmlns:a16="http://schemas.microsoft.com/office/drawing/2014/main" id="{410E5459-200D-7630-863C-88E5109259DF}"/>
              </a:ext>
            </a:extLst>
          </p:cNvPr>
          <p:cNvSpPr/>
          <p:nvPr/>
        </p:nvSpPr>
        <p:spPr>
          <a:xfrm>
            <a:off x="5788683" y="3078349"/>
            <a:ext cx="787475" cy="16817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bg1"/>
                </a:solidFill>
              </a:rPr>
              <a:t>입찰서제출</a:t>
            </a:r>
            <a:endParaRPr lang="en-US" altLang="ko-KR" sz="500" dirty="0" smtClean="0">
              <a:solidFill>
                <a:schemeClr val="bg1"/>
              </a:solidFill>
            </a:endParaRPr>
          </a:p>
          <a:p>
            <a:pPr algn="ctr"/>
            <a:r>
              <a:rPr lang="en-US" altLang="ko-KR" sz="500" dirty="0" smtClean="0">
                <a:solidFill>
                  <a:schemeClr val="bg1"/>
                </a:solidFill>
                <a:latin typeface="맑은 고딕" panose="020B0503020000020004" pitchFamily="50" charset="-127"/>
              </a:rPr>
              <a:t>MUI-BD-06-M01</a:t>
            </a:r>
            <a:endParaRPr lang="ko-KR" altLang="en-US" sz="500" dirty="0">
              <a:solidFill>
                <a:schemeClr val="bg1"/>
              </a:solidFill>
            </a:endParaRPr>
          </a:p>
        </p:txBody>
      </p:sp>
      <p:sp>
        <p:nvSpPr>
          <p:cNvPr id="215" name="사각형: 둥근 모서리 5">
            <a:extLst>
              <a:ext uri="{FF2B5EF4-FFF2-40B4-BE49-F238E27FC236}">
                <a16:creationId xmlns:a16="http://schemas.microsoft.com/office/drawing/2014/main" id="{410E5459-200D-7630-863C-88E5109259DF}"/>
              </a:ext>
            </a:extLst>
          </p:cNvPr>
          <p:cNvSpPr/>
          <p:nvPr/>
        </p:nvSpPr>
        <p:spPr>
          <a:xfrm>
            <a:off x="7038156" y="2088517"/>
            <a:ext cx="781632" cy="189819"/>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bg1"/>
                </a:solidFill>
              </a:rPr>
              <a:t>국외</a:t>
            </a:r>
            <a:r>
              <a:rPr lang="en-US" altLang="ko-KR" sz="500" dirty="0" smtClean="0">
                <a:solidFill>
                  <a:schemeClr val="bg1"/>
                </a:solidFill>
              </a:rPr>
              <a:t>) </a:t>
            </a:r>
            <a:r>
              <a:rPr lang="ko-KR" altLang="en-US" sz="500" dirty="0" err="1" smtClean="0">
                <a:solidFill>
                  <a:schemeClr val="bg1"/>
                </a:solidFill>
              </a:rPr>
              <a:t>환율정보바로가기</a:t>
            </a:r>
            <a:endParaRPr lang="en-US" altLang="ko-KR" sz="500" dirty="0" smtClean="0">
              <a:solidFill>
                <a:schemeClr val="bg1"/>
              </a:solidFill>
            </a:endParaRPr>
          </a:p>
          <a:p>
            <a:pPr algn="ctr"/>
            <a:r>
              <a:rPr lang="en-US" altLang="ko-KR" sz="500" dirty="0" smtClean="0">
                <a:solidFill>
                  <a:schemeClr val="bg1"/>
                </a:solidFill>
                <a:latin typeface="맑은 고딕" panose="020B0503020000020004" pitchFamily="50" charset="-127"/>
              </a:rPr>
              <a:t>MUI-BD-01-M74</a:t>
            </a:r>
            <a:endParaRPr lang="ko-KR" altLang="en-US" sz="500" dirty="0">
              <a:solidFill>
                <a:schemeClr val="bg1"/>
              </a:solidFill>
            </a:endParaRPr>
          </a:p>
        </p:txBody>
      </p:sp>
      <p:sp>
        <p:nvSpPr>
          <p:cNvPr id="217" name="사각형: 둥근 모서리 5">
            <a:extLst>
              <a:ext uri="{FF2B5EF4-FFF2-40B4-BE49-F238E27FC236}">
                <a16:creationId xmlns:a16="http://schemas.microsoft.com/office/drawing/2014/main" id="{410E5459-200D-7630-863C-88E5109259DF}"/>
              </a:ext>
            </a:extLst>
          </p:cNvPr>
          <p:cNvSpPr/>
          <p:nvPr/>
        </p:nvSpPr>
        <p:spPr>
          <a:xfrm>
            <a:off x="3600100" y="4885984"/>
            <a:ext cx="900000" cy="2880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사전심사신청조회</a:t>
            </a:r>
            <a:endParaRPr lang="ko-KR" altLang="en-US" sz="500" dirty="0">
              <a:solidFill>
                <a:schemeClr val="tx1"/>
              </a:solidFill>
            </a:endParaRPr>
          </a:p>
        </p:txBody>
      </p:sp>
      <p:sp>
        <p:nvSpPr>
          <p:cNvPr id="223" name="사각형: 둥근 모서리 5">
            <a:extLst>
              <a:ext uri="{FF2B5EF4-FFF2-40B4-BE49-F238E27FC236}">
                <a16:creationId xmlns:a16="http://schemas.microsoft.com/office/drawing/2014/main" id="{410E5459-200D-7630-863C-88E5109259DF}"/>
              </a:ext>
            </a:extLst>
          </p:cNvPr>
          <p:cNvSpPr/>
          <p:nvPr/>
        </p:nvSpPr>
        <p:spPr>
          <a:xfrm>
            <a:off x="5005894" y="1536188"/>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입찰서작성</a:t>
            </a:r>
            <a:r>
              <a:rPr lang="en-US" altLang="ko-KR" sz="500" dirty="0" smtClean="0">
                <a:solidFill>
                  <a:schemeClr val="tx1"/>
                </a:solidFill>
              </a:rPr>
              <a:t/>
            </a:r>
            <a:br>
              <a:rPr lang="en-US" altLang="ko-KR" sz="500" dirty="0" smtClean="0">
                <a:solidFill>
                  <a:schemeClr val="tx1"/>
                </a:solidFill>
              </a:rPr>
            </a:br>
            <a:r>
              <a:rPr lang="en-US" altLang="ko-KR" sz="500" dirty="0" smtClean="0">
                <a:solidFill>
                  <a:schemeClr val="tx1"/>
                </a:solidFill>
                <a:latin typeface="맑은 고딕" panose="020B0503020000020004" pitchFamily="50" charset="-127"/>
              </a:rPr>
              <a:t>MUI-BD-06-M01</a:t>
            </a:r>
            <a:endParaRPr lang="ko-KR" altLang="en-US" sz="500" dirty="0">
              <a:solidFill>
                <a:schemeClr val="tx1"/>
              </a:solidFill>
            </a:endParaRPr>
          </a:p>
        </p:txBody>
      </p:sp>
      <p:sp>
        <p:nvSpPr>
          <p:cNvPr id="224" name="사각형: 둥근 모서리 5">
            <a:extLst>
              <a:ext uri="{FF2B5EF4-FFF2-40B4-BE49-F238E27FC236}">
                <a16:creationId xmlns:a16="http://schemas.microsoft.com/office/drawing/2014/main" id="{410E5459-200D-7630-863C-88E5109259DF}"/>
              </a:ext>
            </a:extLst>
          </p:cNvPr>
          <p:cNvSpPr/>
          <p:nvPr/>
        </p:nvSpPr>
        <p:spPr>
          <a:xfrm>
            <a:off x="4248518" y="1543520"/>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제출</a:t>
            </a:r>
            <a:endParaRPr lang="ko-KR" altLang="en-US" sz="500" dirty="0">
              <a:solidFill>
                <a:schemeClr val="tx1"/>
              </a:solidFill>
            </a:endParaRPr>
          </a:p>
        </p:txBody>
      </p:sp>
      <p:sp>
        <p:nvSpPr>
          <p:cNvPr id="232" name="사각형: 둥근 모서리 5">
            <a:extLst>
              <a:ext uri="{FF2B5EF4-FFF2-40B4-BE49-F238E27FC236}">
                <a16:creationId xmlns:a16="http://schemas.microsoft.com/office/drawing/2014/main" id="{410E5459-200D-7630-863C-88E5109259DF}"/>
              </a:ext>
            </a:extLst>
          </p:cNvPr>
          <p:cNvSpPr/>
          <p:nvPr/>
        </p:nvSpPr>
        <p:spPr>
          <a:xfrm>
            <a:off x="4255728" y="3082413"/>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신청완료</a:t>
            </a:r>
            <a:endParaRPr lang="ko-KR" altLang="en-US" sz="500" dirty="0">
              <a:solidFill>
                <a:schemeClr val="tx1"/>
              </a:solidFill>
            </a:endParaRPr>
          </a:p>
        </p:txBody>
      </p:sp>
      <p:sp>
        <p:nvSpPr>
          <p:cNvPr id="235" name="사각형: 둥근 모서리 5">
            <a:extLst>
              <a:ext uri="{FF2B5EF4-FFF2-40B4-BE49-F238E27FC236}">
                <a16:creationId xmlns:a16="http://schemas.microsoft.com/office/drawing/2014/main" id="{410E5459-200D-7630-863C-88E5109259DF}"/>
              </a:ext>
            </a:extLst>
          </p:cNvPr>
          <p:cNvSpPr/>
          <p:nvPr/>
        </p:nvSpPr>
        <p:spPr>
          <a:xfrm>
            <a:off x="5005894" y="3250527"/>
            <a:ext cx="615705" cy="18202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tx1"/>
                </a:solidFill>
              </a:rPr>
              <a:t>신청서상세</a:t>
            </a:r>
            <a:endParaRPr lang="en-US" altLang="ko-KR" sz="500" dirty="0" smtClean="0">
              <a:solidFill>
                <a:schemeClr val="tx1"/>
              </a:solidFill>
            </a:endParaRPr>
          </a:p>
          <a:p>
            <a:pPr algn="ctr"/>
            <a:r>
              <a:rPr lang="en-US" altLang="ko-KR" sz="500" dirty="0" smtClean="0">
                <a:solidFill>
                  <a:schemeClr val="tx1"/>
                </a:solidFill>
              </a:rPr>
              <a:t>MUI-BD-04-M22</a:t>
            </a:r>
            <a:endParaRPr lang="ko-KR" altLang="en-US" sz="500" dirty="0">
              <a:solidFill>
                <a:schemeClr val="tx1"/>
              </a:solidFill>
            </a:endParaRPr>
          </a:p>
        </p:txBody>
      </p:sp>
      <p:sp>
        <p:nvSpPr>
          <p:cNvPr id="237" name="사각형: 둥근 모서리 5">
            <a:extLst>
              <a:ext uri="{FF2B5EF4-FFF2-40B4-BE49-F238E27FC236}">
                <a16:creationId xmlns:a16="http://schemas.microsoft.com/office/drawing/2014/main" id="{410E5459-200D-7630-863C-88E5109259DF}"/>
              </a:ext>
            </a:extLst>
          </p:cNvPr>
          <p:cNvSpPr/>
          <p:nvPr/>
        </p:nvSpPr>
        <p:spPr>
          <a:xfrm>
            <a:off x="5788683" y="2087449"/>
            <a:ext cx="787475" cy="181217"/>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bg1"/>
                </a:solidFill>
              </a:rPr>
              <a:t>생산능력서류제출</a:t>
            </a:r>
            <a:endParaRPr lang="en-US" altLang="ko-KR" sz="500" dirty="0" smtClean="0">
              <a:solidFill>
                <a:schemeClr val="bg1"/>
              </a:solidFill>
            </a:endParaRPr>
          </a:p>
          <a:p>
            <a:pPr algn="ctr"/>
            <a:r>
              <a:rPr lang="en-US" altLang="ko-KR" sz="500" dirty="0" smtClean="0">
                <a:solidFill>
                  <a:schemeClr val="bg1"/>
                </a:solidFill>
                <a:latin typeface="+mn-ea"/>
              </a:rPr>
              <a:t>MUI-BD-03-P06</a:t>
            </a:r>
            <a:endParaRPr lang="ko-KR" altLang="en-US" sz="500" dirty="0">
              <a:solidFill>
                <a:schemeClr val="bg1"/>
              </a:solidFill>
            </a:endParaRPr>
          </a:p>
        </p:txBody>
      </p:sp>
      <p:sp>
        <p:nvSpPr>
          <p:cNvPr id="241" name="직사각형 240"/>
          <p:cNvSpPr/>
          <p:nvPr/>
        </p:nvSpPr>
        <p:spPr>
          <a:xfrm>
            <a:off x="2692681" y="4899064"/>
            <a:ext cx="569387" cy="169277"/>
          </a:xfrm>
          <a:prstGeom prst="rect">
            <a:avLst/>
          </a:prstGeom>
        </p:spPr>
        <p:txBody>
          <a:bodyPr wrap="none">
            <a:spAutoFit/>
          </a:bodyPr>
          <a:lstStyle/>
          <a:p>
            <a:pPr algn="ctr"/>
            <a:r>
              <a:rPr lang="ko-KR" altLang="en-US" sz="500" dirty="0" smtClean="0"/>
              <a:t>심사신청제출</a:t>
            </a:r>
            <a:endParaRPr lang="ko-KR" altLang="en-US" sz="500" dirty="0"/>
          </a:p>
        </p:txBody>
      </p:sp>
      <p:sp>
        <p:nvSpPr>
          <p:cNvPr id="245" name="다이아몬드 244"/>
          <p:cNvSpPr/>
          <p:nvPr/>
        </p:nvSpPr>
        <p:spPr>
          <a:xfrm>
            <a:off x="2917141" y="2988917"/>
            <a:ext cx="710927" cy="710927"/>
          </a:xfrm>
          <a:prstGeom prst="diamond">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500" dirty="0"/>
          </a:p>
        </p:txBody>
      </p:sp>
      <p:sp>
        <p:nvSpPr>
          <p:cNvPr id="246" name="직사각형 245"/>
          <p:cNvSpPr/>
          <p:nvPr/>
        </p:nvSpPr>
        <p:spPr>
          <a:xfrm>
            <a:off x="2942698" y="3254607"/>
            <a:ext cx="667170" cy="246221"/>
          </a:xfrm>
          <a:prstGeom prst="rect">
            <a:avLst/>
          </a:prstGeom>
        </p:spPr>
        <p:txBody>
          <a:bodyPr wrap="none">
            <a:spAutoFit/>
          </a:bodyPr>
          <a:lstStyle/>
          <a:p>
            <a:pPr algn="ctr"/>
            <a:r>
              <a:rPr lang="ko-KR" altLang="en-US" sz="500" dirty="0" smtClean="0"/>
              <a:t>입찰진행상세</a:t>
            </a:r>
            <a:endParaRPr lang="en-US" altLang="ko-KR" sz="500" dirty="0" smtClean="0"/>
          </a:p>
          <a:p>
            <a:pPr algn="ctr"/>
            <a:r>
              <a:rPr lang="en-US" altLang="ko-KR" sz="500" dirty="0" smtClean="0">
                <a:latin typeface="+mn-ea"/>
              </a:rPr>
              <a:t>MUI-BD-03-M02</a:t>
            </a:r>
            <a:endParaRPr lang="ko-KR" altLang="en-US" sz="500" dirty="0"/>
          </a:p>
        </p:txBody>
      </p:sp>
      <p:cxnSp>
        <p:nvCxnSpPr>
          <p:cNvPr id="252" name="직선 화살표 연결선 251"/>
          <p:cNvCxnSpPr/>
          <p:nvPr/>
        </p:nvCxnSpPr>
        <p:spPr>
          <a:xfrm flipV="1">
            <a:off x="4816880" y="1639892"/>
            <a:ext cx="181958" cy="36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직선 화살표 연결선 252"/>
          <p:cNvCxnSpPr>
            <a:endCxn id="235" idx="1"/>
          </p:cNvCxnSpPr>
          <p:nvPr/>
        </p:nvCxnSpPr>
        <p:spPr>
          <a:xfrm>
            <a:off x="4867275" y="3341537"/>
            <a:ext cx="13861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직선 화살표 연결선 257"/>
          <p:cNvCxnSpPr>
            <a:endCxn id="204" idx="1"/>
          </p:cNvCxnSpPr>
          <p:nvPr/>
        </p:nvCxnSpPr>
        <p:spPr>
          <a:xfrm>
            <a:off x="4874702" y="4051270"/>
            <a:ext cx="13119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9" name="그룹 8"/>
          <p:cNvGrpSpPr/>
          <p:nvPr/>
        </p:nvGrpSpPr>
        <p:grpSpPr>
          <a:xfrm>
            <a:off x="2911427" y="1867409"/>
            <a:ext cx="710927" cy="710927"/>
            <a:chOff x="2911427" y="1867409"/>
            <a:chExt cx="710927" cy="710927"/>
          </a:xfrm>
        </p:grpSpPr>
        <p:sp>
          <p:nvSpPr>
            <p:cNvPr id="108" name="다이아몬드 107"/>
            <p:cNvSpPr/>
            <p:nvPr/>
          </p:nvSpPr>
          <p:spPr>
            <a:xfrm>
              <a:off x="2911427" y="1867409"/>
              <a:ext cx="710927" cy="710927"/>
            </a:xfrm>
            <a:prstGeom prst="diamond">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500" dirty="0"/>
            </a:p>
          </p:txBody>
        </p:sp>
        <p:sp>
          <p:nvSpPr>
            <p:cNvPr id="179" name="직사각형 178"/>
            <p:cNvSpPr/>
            <p:nvPr/>
          </p:nvSpPr>
          <p:spPr>
            <a:xfrm>
              <a:off x="2934751" y="2124661"/>
              <a:ext cx="667170" cy="323165"/>
            </a:xfrm>
            <a:prstGeom prst="rect">
              <a:avLst/>
            </a:prstGeom>
          </p:spPr>
          <p:txBody>
            <a:bodyPr wrap="none">
              <a:spAutoFit/>
            </a:bodyPr>
            <a:lstStyle/>
            <a:p>
              <a:pPr algn="ctr"/>
              <a:r>
                <a:rPr lang="ko-KR" altLang="en-US" sz="500" dirty="0" smtClean="0"/>
                <a:t>입찰진행상세</a:t>
              </a:r>
              <a:endParaRPr lang="en-US" altLang="ko-KR" sz="500" dirty="0" smtClean="0"/>
            </a:p>
            <a:p>
              <a:pPr algn="ctr"/>
              <a:r>
                <a:rPr lang="en-US" altLang="ko-KR" sz="500" dirty="0">
                  <a:latin typeface="+mn-ea"/>
                </a:rPr>
                <a:t>MUI-BD-03-M02</a:t>
              </a:r>
              <a:endParaRPr lang="ko-KR" altLang="en-US" sz="500" dirty="0"/>
            </a:p>
            <a:p>
              <a:pPr algn="ctr"/>
              <a:endParaRPr lang="ko-KR" altLang="en-US" sz="500" dirty="0"/>
            </a:p>
          </p:txBody>
        </p:sp>
      </p:grpSp>
      <p:cxnSp>
        <p:nvCxnSpPr>
          <p:cNvPr id="40" name="직선 화살표 연결선 39"/>
          <p:cNvCxnSpPr>
            <a:stCxn id="189" idx="3"/>
            <a:endCxn id="237" idx="1"/>
          </p:cNvCxnSpPr>
          <p:nvPr/>
        </p:nvCxnSpPr>
        <p:spPr>
          <a:xfrm>
            <a:off x="5621599" y="2177330"/>
            <a:ext cx="167084" cy="728"/>
          </a:xfrm>
          <a:prstGeom prst="straightConnector1">
            <a:avLst/>
          </a:prstGeom>
          <a:ln>
            <a:solidFill>
              <a:schemeClr val="accent1"/>
            </a:solidFill>
            <a:tailEnd type="triangle"/>
          </a:ln>
        </p:spPr>
        <p:style>
          <a:lnRef idx="1">
            <a:schemeClr val="dk1"/>
          </a:lnRef>
          <a:fillRef idx="0">
            <a:schemeClr val="dk1"/>
          </a:fillRef>
          <a:effectRef idx="0">
            <a:schemeClr val="dk1"/>
          </a:effectRef>
          <a:fontRef idx="minor">
            <a:schemeClr val="tx1"/>
          </a:fontRef>
        </p:style>
      </p:cxnSp>
      <p:cxnSp>
        <p:nvCxnSpPr>
          <p:cNvPr id="51" name="꺾인 연결선 50"/>
          <p:cNvCxnSpPr>
            <a:stCxn id="173" idx="1"/>
            <a:endCxn id="215" idx="1"/>
          </p:cNvCxnSpPr>
          <p:nvPr/>
        </p:nvCxnSpPr>
        <p:spPr>
          <a:xfrm rot="10800000" flipV="1">
            <a:off x="7038156" y="1782823"/>
            <a:ext cx="12700" cy="400603"/>
          </a:xfrm>
          <a:prstGeom prst="bentConnector3">
            <a:avLst>
              <a:gd name="adj1" fmla="val 1556961"/>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54" name="직선 화살표 연결선 53"/>
          <p:cNvCxnSpPr>
            <a:stCxn id="168" idx="3"/>
          </p:cNvCxnSpPr>
          <p:nvPr/>
        </p:nvCxnSpPr>
        <p:spPr>
          <a:xfrm>
            <a:off x="5621599" y="1979876"/>
            <a:ext cx="1232249" cy="0"/>
          </a:xfrm>
          <a:prstGeom prst="straightConnector1">
            <a:avLst/>
          </a:prstGeom>
          <a:ln>
            <a:solidFill>
              <a:schemeClr val="accent1"/>
            </a:solidFill>
            <a:tailEnd type="triangle"/>
          </a:ln>
        </p:spPr>
        <p:style>
          <a:lnRef idx="1">
            <a:schemeClr val="dk1"/>
          </a:lnRef>
          <a:fillRef idx="0">
            <a:schemeClr val="dk1"/>
          </a:fillRef>
          <a:effectRef idx="0">
            <a:schemeClr val="dk1"/>
          </a:effectRef>
          <a:fontRef idx="minor">
            <a:schemeClr val="tx1"/>
          </a:fontRef>
        </p:style>
      </p:cxnSp>
      <p:cxnSp>
        <p:nvCxnSpPr>
          <p:cNvPr id="66" name="꺾인 연결선 65"/>
          <p:cNvCxnSpPr>
            <a:stCxn id="224" idx="1"/>
          </p:cNvCxnSpPr>
          <p:nvPr/>
        </p:nvCxnSpPr>
        <p:spPr>
          <a:xfrm rot="10800000" flipV="1">
            <a:off x="4062484" y="1630864"/>
            <a:ext cx="186034" cy="663074"/>
          </a:xfrm>
          <a:prstGeom prst="bentConnector2">
            <a:avLst/>
          </a:prstGeom>
        </p:spPr>
        <p:style>
          <a:lnRef idx="1">
            <a:schemeClr val="dk1"/>
          </a:lnRef>
          <a:fillRef idx="0">
            <a:schemeClr val="dk1"/>
          </a:fillRef>
          <a:effectRef idx="0">
            <a:schemeClr val="dk1"/>
          </a:effectRef>
          <a:fontRef idx="minor">
            <a:schemeClr val="tx1"/>
          </a:fontRef>
        </p:style>
      </p:cxnSp>
      <p:sp>
        <p:nvSpPr>
          <p:cNvPr id="262" name="사각형: 둥근 모서리 5">
            <a:extLst>
              <a:ext uri="{FF2B5EF4-FFF2-40B4-BE49-F238E27FC236}">
                <a16:creationId xmlns:a16="http://schemas.microsoft.com/office/drawing/2014/main" id="{410E5459-200D-7630-863C-88E5109259DF}"/>
              </a:ext>
            </a:extLst>
          </p:cNvPr>
          <p:cNvSpPr/>
          <p:nvPr/>
        </p:nvSpPr>
        <p:spPr>
          <a:xfrm>
            <a:off x="3363569" y="3580103"/>
            <a:ext cx="660656" cy="160670"/>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bg1"/>
                </a:solidFill>
              </a:rPr>
              <a:t>입찰참가신청서 </a:t>
            </a:r>
            <a:endParaRPr lang="en-US" altLang="ko-KR" sz="500" dirty="0" smtClean="0">
              <a:solidFill>
                <a:schemeClr val="bg1"/>
              </a:solidFill>
            </a:endParaRPr>
          </a:p>
          <a:p>
            <a:pPr algn="ctr"/>
            <a:r>
              <a:rPr lang="ko-KR" altLang="en-US" sz="500" dirty="0" smtClean="0">
                <a:solidFill>
                  <a:schemeClr val="bg1"/>
                </a:solidFill>
              </a:rPr>
              <a:t>입찰반려요청</a:t>
            </a:r>
            <a:endParaRPr lang="en-US" altLang="ko-KR" sz="500" dirty="0" smtClean="0">
              <a:solidFill>
                <a:schemeClr val="bg1"/>
              </a:solidFill>
            </a:endParaRPr>
          </a:p>
          <a:p>
            <a:pPr algn="ctr"/>
            <a:r>
              <a:rPr lang="en-US" altLang="ko-KR" sz="500" dirty="0">
                <a:latin typeface="+mn-ea"/>
              </a:rPr>
              <a:t>MUI-BD-03-P07</a:t>
            </a:r>
            <a:endParaRPr lang="ko-KR" altLang="en-US" sz="500" dirty="0"/>
          </a:p>
          <a:p>
            <a:pPr algn="ctr"/>
            <a:endParaRPr lang="ko-KR" altLang="en-US" sz="500" dirty="0">
              <a:solidFill>
                <a:schemeClr val="bg1"/>
              </a:solidFill>
            </a:endParaRPr>
          </a:p>
        </p:txBody>
      </p:sp>
      <p:cxnSp>
        <p:nvCxnSpPr>
          <p:cNvPr id="263" name="직선 화살표 연결선 262"/>
          <p:cNvCxnSpPr/>
          <p:nvPr/>
        </p:nvCxnSpPr>
        <p:spPr>
          <a:xfrm>
            <a:off x="3759725" y="3345681"/>
            <a:ext cx="0" cy="23442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꺾인 연결선 101"/>
          <p:cNvCxnSpPr/>
          <p:nvPr/>
        </p:nvCxnSpPr>
        <p:spPr>
          <a:xfrm rot="10800000" flipV="1">
            <a:off x="4257845" y="2912991"/>
            <a:ext cx="12700" cy="1546080"/>
          </a:xfrm>
          <a:prstGeom prst="bentConnector3">
            <a:avLst>
              <a:gd name="adj1" fmla="val 1580378"/>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a:off x="4062484" y="3320971"/>
            <a:ext cx="124923" cy="0"/>
          </a:xfrm>
          <a:prstGeom prst="line">
            <a:avLst/>
          </a:prstGeom>
        </p:spPr>
        <p:style>
          <a:lnRef idx="1">
            <a:schemeClr val="dk1"/>
          </a:lnRef>
          <a:fillRef idx="0">
            <a:schemeClr val="dk1"/>
          </a:fillRef>
          <a:effectRef idx="0">
            <a:schemeClr val="dk1"/>
          </a:effectRef>
          <a:fontRef idx="minor">
            <a:schemeClr val="tx1"/>
          </a:fontRef>
        </p:style>
      </p:cxnSp>
      <p:cxnSp>
        <p:nvCxnSpPr>
          <p:cNvPr id="265" name="직선 연결선 264"/>
          <p:cNvCxnSpPr/>
          <p:nvPr/>
        </p:nvCxnSpPr>
        <p:spPr>
          <a:xfrm>
            <a:off x="4062484" y="4045694"/>
            <a:ext cx="124923" cy="0"/>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a:off x="4062484" y="2291399"/>
            <a:ext cx="94415" cy="0"/>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화살표 연결선 146"/>
          <p:cNvCxnSpPr>
            <a:stCxn id="232" idx="3"/>
          </p:cNvCxnSpPr>
          <p:nvPr/>
        </p:nvCxnSpPr>
        <p:spPr>
          <a:xfrm>
            <a:off x="4816272" y="3169757"/>
            <a:ext cx="97241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9" name="직사각형 268"/>
          <p:cNvSpPr/>
          <p:nvPr/>
        </p:nvSpPr>
        <p:spPr>
          <a:xfrm>
            <a:off x="5007831" y="3401796"/>
            <a:ext cx="553357" cy="523220"/>
          </a:xfrm>
          <a:prstGeom prst="rect">
            <a:avLst/>
          </a:prstGeom>
        </p:spPr>
        <p:txBody>
          <a:bodyPr wrap="none">
            <a:spAutoFit/>
          </a:bodyPr>
          <a:lstStyle/>
          <a:p>
            <a:r>
              <a:rPr lang="fr-FR" altLang="ko-KR" sz="400" dirty="0"/>
              <a:t>MUI-BD-04-T01</a:t>
            </a:r>
          </a:p>
          <a:p>
            <a:r>
              <a:rPr lang="fr-FR" altLang="ko-KR" sz="400" dirty="0"/>
              <a:t>MUI-BD-04-T02</a:t>
            </a:r>
          </a:p>
          <a:p>
            <a:r>
              <a:rPr lang="fr-FR" altLang="ko-KR" sz="400" dirty="0"/>
              <a:t>MUI-BD-04-T03</a:t>
            </a:r>
          </a:p>
          <a:p>
            <a:r>
              <a:rPr lang="fr-FR" altLang="ko-KR" sz="400" dirty="0"/>
              <a:t>MUI-BD-04-T04</a:t>
            </a:r>
          </a:p>
          <a:p>
            <a:r>
              <a:rPr lang="fr-FR" altLang="ko-KR" sz="400" dirty="0"/>
              <a:t>MUI-BD-04-T05</a:t>
            </a:r>
          </a:p>
          <a:p>
            <a:r>
              <a:rPr lang="fr-FR" altLang="ko-KR" sz="400" dirty="0"/>
              <a:t>MUI-BD-04-T06</a:t>
            </a:r>
          </a:p>
          <a:p>
            <a:r>
              <a:rPr lang="fr-FR" altLang="ko-KR" sz="400" dirty="0"/>
              <a:t>MUI-BD-04-T07</a:t>
            </a:r>
          </a:p>
        </p:txBody>
      </p:sp>
      <p:sp>
        <p:nvSpPr>
          <p:cNvPr id="270" name="직사각형 269"/>
          <p:cNvSpPr/>
          <p:nvPr/>
        </p:nvSpPr>
        <p:spPr>
          <a:xfrm>
            <a:off x="5938414" y="1571998"/>
            <a:ext cx="782927" cy="461665"/>
          </a:xfrm>
          <a:prstGeom prst="rect">
            <a:avLst/>
          </a:prstGeom>
        </p:spPr>
        <p:txBody>
          <a:bodyPr wrap="square">
            <a:spAutoFit/>
          </a:bodyPr>
          <a:lstStyle/>
          <a:p>
            <a:r>
              <a:rPr lang="fr-FR" altLang="ko-KR" sz="400" dirty="0"/>
              <a:t>MUI-BD-06-T02</a:t>
            </a:r>
          </a:p>
          <a:p>
            <a:r>
              <a:rPr lang="fr-FR" altLang="ko-KR" sz="400" dirty="0"/>
              <a:t>MUI-BD-06-T03</a:t>
            </a:r>
          </a:p>
          <a:p>
            <a:r>
              <a:rPr lang="fr-FR" altLang="ko-KR" sz="400" dirty="0"/>
              <a:t>MUI-BD-06-T04</a:t>
            </a:r>
          </a:p>
          <a:p>
            <a:r>
              <a:rPr lang="fr-FR" altLang="ko-KR" sz="400" dirty="0"/>
              <a:t>MUI-BD-06-T05</a:t>
            </a:r>
          </a:p>
          <a:p>
            <a:r>
              <a:rPr lang="fr-FR" altLang="ko-KR" sz="400" dirty="0"/>
              <a:t>MUI-BD-06-T06</a:t>
            </a:r>
          </a:p>
          <a:p>
            <a:r>
              <a:rPr lang="fr-FR" altLang="ko-KR" sz="400" dirty="0"/>
              <a:t>MUI-BD-06-T07</a:t>
            </a:r>
          </a:p>
        </p:txBody>
      </p:sp>
      <p:sp>
        <p:nvSpPr>
          <p:cNvPr id="271" name="사각형: 둥근 모서리 5">
            <a:extLst>
              <a:ext uri="{FF2B5EF4-FFF2-40B4-BE49-F238E27FC236}">
                <a16:creationId xmlns:a16="http://schemas.microsoft.com/office/drawing/2014/main" id="{410E5459-200D-7630-863C-88E5109259DF}"/>
              </a:ext>
            </a:extLst>
          </p:cNvPr>
          <p:cNvSpPr/>
          <p:nvPr/>
        </p:nvSpPr>
        <p:spPr>
          <a:xfrm>
            <a:off x="6545294" y="5082815"/>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불합격</a:t>
            </a:r>
            <a:endParaRPr lang="ko-KR" altLang="en-US" sz="600" dirty="0">
              <a:solidFill>
                <a:schemeClr val="tx1"/>
              </a:solidFill>
            </a:endParaRPr>
          </a:p>
        </p:txBody>
      </p:sp>
      <p:sp>
        <p:nvSpPr>
          <p:cNvPr id="272" name="사각형: 둥근 모서리 5">
            <a:extLst>
              <a:ext uri="{FF2B5EF4-FFF2-40B4-BE49-F238E27FC236}">
                <a16:creationId xmlns:a16="http://schemas.microsoft.com/office/drawing/2014/main" id="{410E5459-200D-7630-863C-88E5109259DF}"/>
              </a:ext>
            </a:extLst>
          </p:cNvPr>
          <p:cNvSpPr/>
          <p:nvPr/>
        </p:nvSpPr>
        <p:spPr>
          <a:xfrm>
            <a:off x="6545294" y="4885984"/>
            <a:ext cx="560544" cy="174688"/>
          </a:xfrm>
          <a:prstGeom prst="roundRect">
            <a:avLst/>
          </a:prstGeom>
          <a:solidFill>
            <a:schemeClr val="bg1"/>
          </a:solidFill>
          <a:ln w="1270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합격</a:t>
            </a:r>
            <a:endParaRPr lang="ko-KR" altLang="en-US" sz="600" dirty="0">
              <a:solidFill>
                <a:schemeClr val="tx1"/>
              </a:solidFill>
            </a:endParaRPr>
          </a:p>
        </p:txBody>
      </p:sp>
      <p:cxnSp>
        <p:nvCxnSpPr>
          <p:cNvPr id="177" name="직선 화살표 연결선 176"/>
          <p:cNvCxnSpPr/>
          <p:nvPr/>
        </p:nvCxnSpPr>
        <p:spPr>
          <a:xfrm>
            <a:off x="6347306" y="5043064"/>
            <a:ext cx="1693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7" name="꺾인 연결선 276"/>
          <p:cNvCxnSpPr>
            <a:stCxn id="210" idx="1"/>
            <a:endCxn id="212" idx="1"/>
          </p:cNvCxnSpPr>
          <p:nvPr/>
        </p:nvCxnSpPr>
        <p:spPr>
          <a:xfrm rot="10800000" flipV="1">
            <a:off x="7416688" y="4860801"/>
            <a:ext cx="12700" cy="203019"/>
          </a:xfrm>
          <a:prstGeom prst="bentConnector3">
            <a:avLst>
              <a:gd name="adj1" fmla="val 888606"/>
            </a:avLst>
          </a:prstGeom>
        </p:spPr>
        <p:style>
          <a:lnRef idx="1">
            <a:schemeClr val="accent1"/>
          </a:lnRef>
          <a:fillRef idx="0">
            <a:schemeClr val="accent1"/>
          </a:fillRef>
          <a:effectRef idx="0">
            <a:schemeClr val="accent1"/>
          </a:effectRef>
          <a:fontRef idx="minor">
            <a:schemeClr val="tx1"/>
          </a:fontRef>
        </p:style>
      </p:cxnSp>
      <p:cxnSp>
        <p:nvCxnSpPr>
          <p:cNvPr id="280" name="직선 화살표 연결선 279"/>
          <p:cNvCxnSpPr>
            <a:stCxn id="272" idx="3"/>
          </p:cNvCxnSpPr>
          <p:nvPr/>
        </p:nvCxnSpPr>
        <p:spPr>
          <a:xfrm flipV="1">
            <a:off x="7105838" y="4968875"/>
            <a:ext cx="211855" cy="44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9241717"/>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166</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5.3 </a:t>
            </a:r>
            <a:r>
              <a:rPr lang="ko-KR" altLang="en-US" dirty="0"/>
              <a:t>앱 구성 다이어그램 </a:t>
            </a:r>
            <a:r>
              <a:rPr lang="en-US" altLang="ko-KR" dirty="0"/>
              <a:t>(1/2)</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72934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err="1">
                <a:solidFill>
                  <a:schemeClr val="tx1"/>
                </a:solidFill>
              </a:rPr>
              <a:t>입찰진행</a:t>
            </a:r>
            <a:r>
              <a:rPr lang="ko-KR" altLang="en-US" sz="1050" dirty="0">
                <a:solidFill>
                  <a:schemeClr val="tx1"/>
                </a:solidFill>
              </a:rPr>
              <a:t> 목록</a:t>
            </a:r>
            <a:endParaRPr lang="en-US" altLang="ko-KR" sz="1050" dirty="0">
              <a:solidFill>
                <a:schemeClr val="tx1"/>
              </a:solidFill>
            </a:endParaRPr>
          </a:p>
          <a:p>
            <a:pPr algn="ctr"/>
            <a:r>
              <a:rPr lang="en-US" altLang="ko-KR" sz="1050" dirty="0">
                <a:solidFill>
                  <a:schemeClr val="tx1"/>
                </a:solidFill>
                <a:latin typeface="Calibri" panose="020F0502020204030204" pitchFamily="34" charset="0"/>
              </a:rPr>
              <a:t>BidPrgrsListForBzentyPage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5260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err="1">
                <a:solidFill>
                  <a:schemeClr val="tx1"/>
                </a:solidFill>
              </a:rPr>
              <a:t>입찰진행</a:t>
            </a:r>
            <a:r>
              <a:rPr lang="ko-KR" altLang="en-US" sz="1050" dirty="0">
                <a:solidFill>
                  <a:schemeClr val="tx1"/>
                </a:solidFill>
              </a:rPr>
              <a:t> 상세</a:t>
            </a:r>
            <a:endParaRPr lang="en-US" altLang="ko-KR" sz="1050" dirty="0">
              <a:solidFill>
                <a:schemeClr val="tx1"/>
              </a:solidFill>
            </a:endParaRPr>
          </a:p>
          <a:p>
            <a:pPr algn="ctr"/>
            <a:r>
              <a:rPr lang="en-US" altLang="ko-KR" sz="1050" dirty="0">
                <a:solidFill>
                  <a:schemeClr val="tx1"/>
                </a:solidFill>
                <a:latin typeface="+mn-ea"/>
              </a:rPr>
              <a:t>BidPrgsDtlInqPage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277586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입찰포기신청서 작성</a:t>
            </a:r>
            <a:endParaRPr lang="en-US" altLang="ko-KR" sz="1050" dirty="0">
              <a:solidFill>
                <a:schemeClr val="tx1"/>
              </a:solidFill>
            </a:endParaRPr>
          </a:p>
          <a:p>
            <a:pPr algn="ctr"/>
            <a:r>
              <a:rPr lang="en-US" altLang="ko-KR" sz="1050" dirty="0">
                <a:solidFill>
                  <a:schemeClr val="tx1"/>
                </a:solidFill>
                <a:latin typeface="+mn-ea"/>
              </a:rPr>
              <a:t>BidAbndAperWrt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38115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입찰진행</a:t>
            </a:r>
            <a:r>
              <a:rPr lang="en-US" altLang="ko-KR" sz="1100" dirty="0"/>
              <a:t>Controller&gt;&gt;</a:t>
            </a:r>
          </a:p>
          <a:p>
            <a:pPr algn="ctr"/>
            <a:r>
              <a:rPr lang="en-US" altLang="ko-KR" sz="1100" kern="0" dirty="0" err="1">
                <a:solidFill>
                  <a:srgbClr val="000000"/>
                </a:solidFill>
                <a:latin typeface="+mn-ea"/>
              </a:rPr>
              <a:t>BidPrgrsController</a:t>
            </a:r>
            <a:endParaRPr lang="en-US" altLang="ko-KR" sz="1100" kern="0" dirty="0">
              <a:solidFill>
                <a:srgbClr val="000000"/>
              </a:solidFill>
              <a:latin typeface="+mn-ea"/>
            </a:endParaRPr>
          </a:p>
        </p:txBody>
      </p:sp>
      <p:sp>
        <p:nvSpPr>
          <p:cNvPr id="11" name="직사각형 10">
            <a:extLst>
              <a:ext uri="{FF2B5EF4-FFF2-40B4-BE49-F238E27FC236}">
                <a16:creationId xmlns:a16="http://schemas.microsoft.com/office/drawing/2014/main" id="{015A331E-505A-57E3-A763-CB0C8D48EC9A}"/>
              </a:ext>
            </a:extLst>
          </p:cNvPr>
          <p:cNvSpPr/>
          <p:nvPr/>
        </p:nvSpPr>
        <p:spPr>
          <a:xfrm>
            <a:off x="6913418" y="302701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사전심사</a:t>
            </a:r>
            <a:r>
              <a:rPr lang="en-US" altLang="ko-KR" sz="1100" dirty="0"/>
              <a:t>Controller&gt;&gt;</a:t>
            </a:r>
          </a:p>
          <a:p>
            <a:pPr algn="ctr"/>
            <a:r>
              <a:rPr lang="en-US" altLang="ko-KR" sz="1100" dirty="0" err="1">
                <a:solidFill>
                  <a:srgbClr val="000000"/>
                </a:solidFill>
                <a:latin typeface="+mn-ea"/>
              </a:rPr>
              <a:t>bfhdSrngCo</a:t>
            </a:r>
            <a:r>
              <a:rPr lang="en-US" altLang="ko-KR" sz="1100" dirty="0" err="1"/>
              <a:t>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949750"/>
            <a:ext cx="967509" cy="104042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3010"/>
            <a:ext cx="967509" cy="5171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6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flipV="1">
            <a:off x="5687291" y="2624138"/>
            <a:ext cx="1226127" cy="366036"/>
          </a:xfrm>
          <a:prstGeom prst="line">
            <a:avLst/>
          </a:prstGeom>
        </p:spPr>
        <p:style>
          <a:lnRef idx="1">
            <a:schemeClr val="dk1"/>
          </a:lnRef>
          <a:fillRef idx="0">
            <a:schemeClr val="dk1"/>
          </a:fillRef>
          <a:effectRef idx="0">
            <a:schemeClr val="dk1"/>
          </a:effectRef>
          <a:fontRef idx="minor">
            <a:schemeClr val="tx1"/>
          </a:fontRef>
        </p:style>
      </p:cxnSp>
      <p:cxnSp>
        <p:nvCxnSpPr>
          <p:cNvPr id="22" name="직선 연결선 21">
            <a:extLst>
              <a:ext uri="{FF2B5EF4-FFF2-40B4-BE49-F238E27FC236}">
                <a16:creationId xmlns:a16="http://schemas.microsoft.com/office/drawing/2014/main" id="{DB16E99B-0703-15BA-41A8-6D7E6BF1498E}"/>
              </a:ext>
            </a:extLst>
          </p:cNvPr>
          <p:cNvCxnSpPr>
            <a:cxnSpLocks/>
            <a:stCxn id="9" idx="3"/>
            <a:endCxn id="11" idx="1"/>
          </p:cNvCxnSpPr>
          <p:nvPr/>
        </p:nvCxnSpPr>
        <p:spPr>
          <a:xfrm>
            <a:off x="5687291" y="2990174"/>
            <a:ext cx="1226127" cy="27982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265382" y="3305110"/>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입찰취소신청서 작성</a:t>
            </a:r>
            <a:endParaRPr lang="en-US" altLang="ko-KR" sz="1050" dirty="0">
              <a:solidFill>
                <a:schemeClr val="tx1"/>
              </a:solidFill>
            </a:endParaRPr>
          </a:p>
          <a:p>
            <a:pPr algn="ctr"/>
            <a:r>
              <a:rPr lang="en-US" altLang="ko-KR" sz="1050" dirty="0">
                <a:solidFill>
                  <a:schemeClr val="tx1"/>
                </a:solidFill>
                <a:latin typeface="+mn-ea"/>
              </a:rPr>
              <a:t>BidRtrcnAperInq</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0" name="직사각형 29">
            <a:extLst>
              <a:ext uri="{FF2B5EF4-FFF2-40B4-BE49-F238E27FC236}">
                <a16:creationId xmlns:a16="http://schemas.microsoft.com/office/drawing/2014/main" id="{326CB017-8967-4DC4-0EAD-ADB3B9EAB841}"/>
              </a:ext>
            </a:extLst>
          </p:cNvPr>
          <p:cNvSpPr/>
          <p:nvPr/>
        </p:nvSpPr>
        <p:spPr>
          <a:xfrm>
            <a:off x="1265382" y="3834358"/>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입찰등록결과조회</a:t>
            </a:r>
            <a:endParaRPr lang="en-US" altLang="ko-KR" sz="1050" dirty="0">
              <a:solidFill>
                <a:schemeClr val="tx1"/>
              </a:solidFill>
            </a:endParaRPr>
          </a:p>
          <a:p>
            <a:pPr algn="ctr"/>
            <a:r>
              <a:rPr lang="en-US" altLang="ko-KR" sz="1050" dirty="0">
                <a:solidFill>
                  <a:schemeClr val="tx1"/>
                </a:solidFill>
                <a:latin typeface="+mn-ea"/>
              </a:rPr>
              <a:t>BidRegRsltInqPage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1" name="직사각형 30">
            <a:extLst>
              <a:ext uri="{FF2B5EF4-FFF2-40B4-BE49-F238E27FC236}">
                <a16:creationId xmlns:a16="http://schemas.microsoft.com/office/drawing/2014/main" id="{326CB017-8967-4DC4-0EAD-ADB3B9EAB841}"/>
              </a:ext>
            </a:extLst>
          </p:cNvPr>
          <p:cNvSpPr/>
          <p:nvPr/>
        </p:nvSpPr>
        <p:spPr>
          <a:xfrm>
            <a:off x="1265382" y="4360394"/>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사전심사</a:t>
            </a:r>
            <a:r>
              <a:rPr lang="en-US" altLang="ko-KR" sz="1050" dirty="0">
                <a:solidFill>
                  <a:schemeClr val="tx1"/>
                </a:solidFill>
              </a:rPr>
              <a:t>(PQ)</a:t>
            </a:r>
            <a:r>
              <a:rPr lang="ko-KR" altLang="en-US" sz="1050" dirty="0" err="1">
                <a:solidFill>
                  <a:schemeClr val="tx1"/>
                </a:solidFill>
              </a:rPr>
              <a:t>결과조회</a:t>
            </a:r>
            <a:endParaRPr lang="en-US" altLang="ko-KR" sz="1050" dirty="0">
              <a:solidFill>
                <a:schemeClr val="tx1"/>
              </a:solidFill>
            </a:endParaRPr>
          </a:p>
          <a:p>
            <a:pPr algn="ctr"/>
            <a:r>
              <a:rPr lang="en-US" altLang="ko-KR" sz="1050" dirty="0">
                <a:solidFill>
                  <a:schemeClr val="tx1"/>
                </a:solidFill>
                <a:latin typeface="+mn-ea"/>
              </a:rPr>
              <a:t>BfhdSrngRsltInqPage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2" name="직사각형 31">
            <a:extLst>
              <a:ext uri="{FF2B5EF4-FFF2-40B4-BE49-F238E27FC236}">
                <a16:creationId xmlns:a16="http://schemas.microsoft.com/office/drawing/2014/main" id="{326CB017-8967-4DC4-0EAD-ADB3B9EAB841}"/>
              </a:ext>
            </a:extLst>
          </p:cNvPr>
          <p:cNvSpPr/>
          <p:nvPr/>
        </p:nvSpPr>
        <p:spPr>
          <a:xfrm>
            <a:off x="1265382" y="4886430"/>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맑은 고딕" panose="020B0503020000020004" pitchFamily="50" charset="-127"/>
              </a:rPr>
              <a:t>기술평가결과조회</a:t>
            </a:r>
            <a:endParaRPr lang="en-US" altLang="ko-KR" sz="1050" dirty="0">
              <a:solidFill>
                <a:schemeClr val="tx1"/>
              </a:solidFill>
            </a:endParaRPr>
          </a:p>
          <a:p>
            <a:pPr algn="ctr"/>
            <a:r>
              <a:rPr lang="en-US" altLang="ko-KR" sz="1050" dirty="0">
                <a:solidFill>
                  <a:schemeClr val="tx1"/>
                </a:solidFill>
                <a:latin typeface="+mn-ea"/>
              </a:rPr>
              <a:t>TechEvlRsltInq</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3" name="직사각형 32">
            <a:extLst>
              <a:ext uri="{FF2B5EF4-FFF2-40B4-BE49-F238E27FC236}">
                <a16:creationId xmlns:a16="http://schemas.microsoft.com/office/drawing/2014/main" id="{326CB017-8967-4DC4-0EAD-ADB3B9EAB841}"/>
              </a:ext>
            </a:extLst>
          </p:cNvPr>
          <p:cNvSpPr/>
          <p:nvPr/>
        </p:nvSpPr>
        <p:spPr>
          <a:xfrm>
            <a:off x="1265382" y="5412466"/>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맑은 고딕" panose="020B0503020000020004" pitchFamily="50" charset="-127"/>
              </a:rPr>
              <a:t>생산능력서류제출</a:t>
            </a:r>
            <a:endParaRPr lang="en-US" altLang="ko-KR" sz="1050" dirty="0">
              <a:solidFill>
                <a:schemeClr val="tx1"/>
              </a:solidFill>
            </a:endParaRPr>
          </a:p>
          <a:p>
            <a:pPr algn="ctr"/>
            <a:r>
              <a:rPr lang="en-US" altLang="ko-KR" sz="1050" dirty="0">
                <a:solidFill>
                  <a:schemeClr val="tx1"/>
                </a:solidFill>
                <a:latin typeface="+mn-ea"/>
              </a:rPr>
              <a:t>PrdctnAbltDcmntSbmsn</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4" name="직사각형 33">
            <a:extLst>
              <a:ext uri="{FF2B5EF4-FFF2-40B4-BE49-F238E27FC236}">
                <a16:creationId xmlns:a16="http://schemas.microsoft.com/office/drawing/2014/main" id="{326CB017-8967-4DC4-0EAD-ADB3B9EAB841}"/>
              </a:ext>
            </a:extLst>
          </p:cNvPr>
          <p:cNvSpPr/>
          <p:nvPr/>
        </p:nvSpPr>
        <p:spPr>
          <a:xfrm>
            <a:off x="1265382" y="593850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입찰참가신청반려</a:t>
            </a:r>
            <a:endParaRPr lang="en-US" altLang="ko-KR" sz="1050" dirty="0">
              <a:solidFill>
                <a:schemeClr val="tx1"/>
              </a:solidFill>
            </a:endParaRPr>
          </a:p>
          <a:p>
            <a:pPr algn="ctr"/>
            <a:r>
              <a:rPr lang="en-US" altLang="ko-KR" sz="1050" dirty="0">
                <a:solidFill>
                  <a:schemeClr val="tx1"/>
                </a:solidFill>
                <a:latin typeface="+mn-ea"/>
              </a:rPr>
              <a:t>BidPrtcpAplyRjct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992582" y="2990174"/>
            <a:ext cx="967509" cy="5353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직선 화살표 연결선 37">
            <a:extLst>
              <a:ext uri="{FF2B5EF4-FFF2-40B4-BE49-F238E27FC236}">
                <a16:creationId xmlns:a16="http://schemas.microsoft.com/office/drawing/2014/main" id="{418E1257-E5C2-5705-1378-45505004ABAF}"/>
              </a:ext>
            </a:extLst>
          </p:cNvPr>
          <p:cNvCxnSpPr>
            <a:cxnSpLocks/>
            <a:stCxn id="30" idx="3"/>
            <a:endCxn id="9" idx="1"/>
          </p:cNvCxnSpPr>
          <p:nvPr/>
        </p:nvCxnSpPr>
        <p:spPr>
          <a:xfrm flipV="1">
            <a:off x="2992582" y="2990174"/>
            <a:ext cx="967509" cy="106459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직선 화살표 연결선 40">
            <a:extLst>
              <a:ext uri="{FF2B5EF4-FFF2-40B4-BE49-F238E27FC236}">
                <a16:creationId xmlns:a16="http://schemas.microsoft.com/office/drawing/2014/main" id="{418E1257-E5C2-5705-1378-45505004ABAF}"/>
              </a:ext>
            </a:extLst>
          </p:cNvPr>
          <p:cNvCxnSpPr>
            <a:cxnSpLocks/>
            <a:stCxn id="31" idx="3"/>
            <a:endCxn id="9" idx="1"/>
          </p:cNvCxnSpPr>
          <p:nvPr/>
        </p:nvCxnSpPr>
        <p:spPr>
          <a:xfrm flipV="1">
            <a:off x="2992582" y="2990174"/>
            <a:ext cx="967509" cy="15906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4" name="직선 화살표 연결선 43">
            <a:extLst>
              <a:ext uri="{FF2B5EF4-FFF2-40B4-BE49-F238E27FC236}">
                <a16:creationId xmlns:a16="http://schemas.microsoft.com/office/drawing/2014/main" id="{418E1257-E5C2-5705-1378-45505004ABAF}"/>
              </a:ext>
            </a:extLst>
          </p:cNvPr>
          <p:cNvCxnSpPr>
            <a:cxnSpLocks/>
            <a:stCxn id="32" idx="3"/>
            <a:endCxn id="9" idx="1"/>
          </p:cNvCxnSpPr>
          <p:nvPr/>
        </p:nvCxnSpPr>
        <p:spPr>
          <a:xfrm flipV="1">
            <a:off x="2992582" y="2990174"/>
            <a:ext cx="967509" cy="21166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7" name="직선 화살표 연결선 46">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992582" y="2990174"/>
            <a:ext cx="967509" cy="26427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직선 화살표 연결선 50">
            <a:extLst>
              <a:ext uri="{FF2B5EF4-FFF2-40B4-BE49-F238E27FC236}">
                <a16:creationId xmlns:a16="http://schemas.microsoft.com/office/drawing/2014/main" id="{418E1257-E5C2-5705-1378-45505004ABAF}"/>
              </a:ext>
            </a:extLst>
          </p:cNvPr>
          <p:cNvCxnSpPr>
            <a:cxnSpLocks/>
            <a:endCxn id="9" idx="1"/>
          </p:cNvCxnSpPr>
          <p:nvPr/>
        </p:nvCxnSpPr>
        <p:spPr>
          <a:xfrm flipV="1">
            <a:off x="2992582" y="2990174"/>
            <a:ext cx="967509" cy="29483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5" name="직사각형 54">
            <a:extLst>
              <a:ext uri="{FF2B5EF4-FFF2-40B4-BE49-F238E27FC236}">
                <a16:creationId xmlns:a16="http://schemas.microsoft.com/office/drawing/2014/main" id="{015A331E-505A-57E3-A763-CB0C8D48EC9A}"/>
              </a:ext>
            </a:extLst>
          </p:cNvPr>
          <p:cNvSpPr/>
          <p:nvPr/>
        </p:nvSpPr>
        <p:spPr>
          <a:xfrm>
            <a:off x="6913418" y="3636030"/>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56" name="직선 연결선 55">
            <a:extLst>
              <a:ext uri="{FF2B5EF4-FFF2-40B4-BE49-F238E27FC236}">
                <a16:creationId xmlns:a16="http://schemas.microsoft.com/office/drawing/2014/main" id="{DB16E99B-0703-15BA-41A8-6D7E6BF1498E}"/>
              </a:ext>
            </a:extLst>
          </p:cNvPr>
          <p:cNvCxnSpPr>
            <a:cxnSpLocks/>
            <a:stCxn id="9" idx="3"/>
            <a:endCxn id="55" idx="1"/>
          </p:cNvCxnSpPr>
          <p:nvPr/>
        </p:nvCxnSpPr>
        <p:spPr>
          <a:xfrm>
            <a:off x="5687291" y="2990174"/>
            <a:ext cx="1226127" cy="888836"/>
          </a:xfrm>
          <a:prstGeom prst="line">
            <a:avLst/>
          </a:prstGeom>
        </p:spPr>
        <p:style>
          <a:lnRef idx="1">
            <a:schemeClr val="dk1"/>
          </a:lnRef>
          <a:fillRef idx="0">
            <a:schemeClr val="dk1"/>
          </a:fillRef>
          <a:effectRef idx="0">
            <a:schemeClr val="dk1"/>
          </a:effectRef>
          <a:fontRef idx="minor">
            <a:schemeClr val="tx1"/>
          </a:fontRef>
        </p:style>
      </p:cxnSp>
      <p:sp>
        <p:nvSpPr>
          <p:cNvPr id="61" name="직사각형 60">
            <a:extLst>
              <a:ext uri="{FF2B5EF4-FFF2-40B4-BE49-F238E27FC236}">
                <a16:creationId xmlns:a16="http://schemas.microsoft.com/office/drawing/2014/main" id="{015A331E-505A-57E3-A763-CB0C8D48EC9A}"/>
              </a:ext>
            </a:extLst>
          </p:cNvPr>
          <p:cNvSpPr/>
          <p:nvPr/>
        </p:nvSpPr>
        <p:spPr>
          <a:xfrm>
            <a:off x="6913418" y="4246636"/>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sp>
        <p:nvSpPr>
          <p:cNvPr id="62" name="직사각형 61">
            <a:extLst>
              <a:ext uri="{FF2B5EF4-FFF2-40B4-BE49-F238E27FC236}">
                <a16:creationId xmlns:a16="http://schemas.microsoft.com/office/drawing/2014/main" id="{015A331E-505A-57E3-A763-CB0C8D48EC9A}"/>
              </a:ext>
            </a:extLst>
          </p:cNvPr>
          <p:cNvSpPr/>
          <p:nvPr/>
        </p:nvSpPr>
        <p:spPr>
          <a:xfrm>
            <a:off x="6913418" y="4857242"/>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기술평가</a:t>
            </a:r>
            <a:r>
              <a:rPr lang="en-US" altLang="ko-KR" sz="1100" dirty="0"/>
              <a:t>Controller&gt;&gt;</a:t>
            </a:r>
          </a:p>
          <a:p>
            <a:pPr algn="ctr"/>
            <a:r>
              <a:rPr lang="en-US" altLang="ko-KR" sz="1100" dirty="0" err="1"/>
              <a:t>TechEvlController</a:t>
            </a:r>
            <a:endParaRPr lang="en-US" altLang="ko-KR" sz="1100" dirty="0"/>
          </a:p>
        </p:txBody>
      </p:sp>
      <p:cxnSp>
        <p:nvCxnSpPr>
          <p:cNvPr id="63" name="직선 연결선 62">
            <a:extLst>
              <a:ext uri="{FF2B5EF4-FFF2-40B4-BE49-F238E27FC236}">
                <a16:creationId xmlns:a16="http://schemas.microsoft.com/office/drawing/2014/main" id="{DB16E99B-0703-15BA-41A8-6D7E6BF1498E}"/>
              </a:ext>
            </a:extLst>
          </p:cNvPr>
          <p:cNvCxnSpPr>
            <a:cxnSpLocks/>
            <a:stCxn id="9" idx="3"/>
            <a:endCxn id="61" idx="1"/>
          </p:cNvCxnSpPr>
          <p:nvPr/>
        </p:nvCxnSpPr>
        <p:spPr>
          <a:xfrm>
            <a:off x="5687291" y="2990174"/>
            <a:ext cx="1226127" cy="1499442"/>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a:extLst>
              <a:ext uri="{FF2B5EF4-FFF2-40B4-BE49-F238E27FC236}">
                <a16:creationId xmlns:a16="http://schemas.microsoft.com/office/drawing/2014/main" id="{DB16E99B-0703-15BA-41A8-6D7E6BF1498E}"/>
              </a:ext>
            </a:extLst>
          </p:cNvPr>
          <p:cNvCxnSpPr>
            <a:cxnSpLocks/>
            <a:stCxn id="9" idx="3"/>
            <a:endCxn id="62" idx="1"/>
          </p:cNvCxnSpPr>
          <p:nvPr/>
        </p:nvCxnSpPr>
        <p:spPr>
          <a:xfrm>
            <a:off x="5687291" y="2990174"/>
            <a:ext cx="1226127" cy="211004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8687670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p:txBody>
          <a:bodyPr/>
          <a:lstStyle/>
          <a:p>
            <a:pPr marL="228600" indent="-228600">
              <a:buFont typeface="+mj-lt"/>
              <a:buAutoNum type="arabicPeriod"/>
            </a:pPr>
            <a:r>
              <a:rPr lang="ko-KR" altLang="en-US" dirty="0"/>
              <a:t>업무 도움말 </a:t>
            </a:r>
            <a:r>
              <a:rPr lang="ko-KR" altLang="en-US" dirty="0" smtClean="0"/>
              <a:t>표시</a:t>
            </a:r>
            <a:endParaRPr lang="en-US" altLang="ko-KR" dirty="0"/>
          </a:p>
          <a:p>
            <a:pPr marL="228600" indent="-228600">
              <a:buFont typeface="+mj-lt"/>
              <a:buAutoNum type="arabicPeriod"/>
            </a:pPr>
            <a:r>
              <a:rPr lang="ko-KR" altLang="en-US" dirty="0" smtClean="0"/>
              <a:t>공고 </a:t>
            </a:r>
            <a:r>
              <a:rPr lang="ko-KR" altLang="en-US" dirty="0" err="1" smtClean="0"/>
              <a:t>목록중</a:t>
            </a:r>
            <a:r>
              <a:rPr lang="ko-KR" altLang="en-US" dirty="0" smtClean="0"/>
              <a:t> 로그인한 사용자가 신청서를 작성한 입찰 항목을 노출함</a:t>
            </a:r>
            <a:r>
              <a:rPr lang="en-US" altLang="ko-KR" dirty="0"/>
              <a:t/>
            </a:r>
            <a:br>
              <a:rPr lang="en-US" altLang="ko-KR" dirty="0"/>
            </a:br>
            <a:r>
              <a:rPr lang="en-US" altLang="ko-KR" dirty="0" smtClean="0"/>
              <a:t>(</a:t>
            </a:r>
            <a:r>
              <a:rPr lang="ko-KR" altLang="en-US" dirty="0" smtClean="0"/>
              <a:t>개인화된 목록</a:t>
            </a:r>
            <a:r>
              <a:rPr lang="en-US" altLang="ko-KR" dirty="0" smtClean="0"/>
              <a:t>)</a:t>
            </a:r>
            <a:endParaRPr lang="en-US" altLang="ko-KR" dirty="0"/>
          </a:p>
          <a:p>
            <a:pPr marL="0" indent="0">
              <a:buNone/>
            </a:pPr>
            <a:endParaRPr lang="en-US" altLang="ko-KR" sz="600" dirty="0"/>
          </a:p>
          <a:p>
            <a:pPr marL="228600" indent="-228600">
              <a:buFont typeface="+mj-lt"/>
              <a:buAutoNum type="arabicPeriod"/>
            </a:pPr>
            <a:r>
              <a:rPr lang="ko-KR" altLang="en-US" sz="600" strike="sngStrike" dirty="0" smtClean="0">
                <a:solidFill>
                  <a:srgbClr val="FF0000"/>
                </a:solidFill>
              </a:rPr>
              <a:t>공고 전체 </a:t>
            </a:r>
            <a:r>
              <a:rPr lang="ko-KR" altLang="en-US" sz="600" strike="sngStrike" dirty="0">
                <a:solidFill>
                  <a:srgbClr val="FF0000"/>
                </a:solidFill>
              </a:rPr>
              <a:t>목록 </a:t>
            </a:r>
            <a:r>
              <a:rPr lang="ko-KR" altLang="en-US" sz="600" strike="sngStrike" dirty="0" smtClean="0">
                <a:solidFill>
                  <a:srgbClr val="FF0000"/>
                </a:solidFill>
              </a:rPr>
              <a:t>표시</a:t>
            </a:r>
            <a:r>
              <a:rPr lang="en-US" altLang="ko-KR" sz="600" strike="sngStrike" dirty="0" smtClean="0">
                <a:solidFill>
                  <a:srgbClr val="FF0000"/>
                </a:solidFill>
              </a:rPr>
              <a:t/>
            </a:r>
            <a:br>
              <a:rPr lang="en-US" altLang="ko-KR" sz="600" strike="sngStrike" dirty="0" smtClean="0">
                <a:solidFill>
                  <a:srgbClr val="FF0000"/>
                </a:solidFill>
              </a:rPr>
            </a:br>
            <a:r>
              <a:rPr lang="en-US" altLang="ko-KR" sz="600" strike="sngStrike" dirty="0" smtClean="0">
                <a:solidFill>
                  <a:srgbClr val="FF0000"/>
                </a:solidFill>
              </a:rPr>
              <a:t>- </a:t>
            </a:r>
            <a:r>
              <a:rPr lang="ko-KR" altLang="en-US" sz="600" strike="sngStrike" dirty="0" smtClean="0">
                <a:solidFill>
                  <a:srgbClr val="FF0000"/>
                </a:solidFill>
              </a:rPr>
              <a:t>입찰 진행 일시가 도래하지 않은 경우 진입할 수 없음</a:t>
            </a:r>
            <a:r>
              <a:rPr lang="en-US" altLang="ko-KR" sz="600" strike="sngStrike" dirty="0" smtClean="0">
                <a:solidFill>
                  <a:srgbClr val="FF0000"/>
                </a:solidFill>
              </a:rPr>
              <a:t/>
            </a:r>
            <a:br>
              <a:rPr lang="en-US" altLang="ko-KR" sz="600" strike="sngStrike" dirty="0" smtClean="0">
                <a:solidFill>
                  <a:srgbClr val="FF0000"/>
                </a:solidFill>
              </a:rPr>
            </a:br>
            <a:r>
              <a:rPr lang="en-US" altLang="ko-KR" sz="600" strike="sngStrike" dirty="0" smtClean="0">
                <a:solidFill>
                  <a:srgbClr val="FF0000"/>
                </a:solidFill>
              </a:rPr>
              <a:t>  &gt; </a:t>
            </a:r>
            <a:r>
              <a:rPr lang="ko-KR" altLang="en-US" sz="600" strike="sngStrike" dirty="0" smtClean="0">
                <a:solidFill>
                  <a:srgbClr val="FF0000"/>
                </a:solidFill>
              </a:rPr>
              <a:t>토스트 메시지 </a:t>
            </a:r>
            <a:r>
              <a:rPr lang="en-US" altLang="ko-KR" sz="600" strike="sngStrike" dirty="0" smtClean="0">
                <a:solidFill>
                  <a:srgbClr val="FF0000"/>
                </a:solidFill>
              </a:rPr>
              <a:t>– </a:t>
            </a:r>
            <a:r>
              <a:rPr lang="ko-KR" altLang="en-US" sz="600" strike="sngStrike" dirty="0" smtClean="0">
                <a:solidFill>
                  <a:srgbClr val="FF0000"/>
                </a:solidFill>
              </a:rPr>
              <a:t>입찰 진행 일이 아닙니다</a:t>
            </a:r>
            <a:r>
              <a:rPr lang="en-US" altLang="ko-KR" sz="600" strike="sngStrike" dirty="0" smtClean="0">
                <a:solidFill>
                  <a:srgbClr val="FF0000"/>
                </a:solidFill>
              </a:rPr>
              <a:t>.</a:t>
            </a:r>
            <a:br>
              <a:rPr lang="en-US" altLang="ko-KR" sz="600" strike="sngStrike" dirty="0" smtClean="0">
                <a:solidFill>
                  <a:srgbClr val="FF0000"/>
                </a:solidFill>
              </a:rPr>
            </a:br>
            <a:r>
              <a:rPr lang="en-US" altLang="ko-KR" sz="600" strike="sngStrike" dirty="0" smtClean="0">
                <a:solidFill>
                  <a:srgbClr val="FF0000"/>
                </a:solidFill>
              </a:rPr>
              <a:t>- </a:t>
            </a:r>
            <a:r>
              <a:rPr lang="ko-KR" altLang="en-US" sz="600" strike="sngStrike" dirty="0" smtClean="0">
                <a:solidFill>
                  <a:srgbClr val="FF0000"/>
                </a:solidFill>
              </a:rPr>
              <a:t>입찰한 내역이 있어야 진입할 수 있음</a:t>
            </a:r>
            <a:r>
              <a:rPr lang="en-US" altLang="ko-KR" sz="600" strike="sngStrike" dirty="0" smtClean="0">
                <a:solidFill>
                  <a:srgbClr val="FF0000"/>
                </a:solidFill>
              </a:rPr>
              <a:t>.</a:t>
            </a:r>
            <a:br>
              <a:rPr lang="en-US" altLang="ko-KR" sz="600" strike="sngStrike" dirty="0" smtClean="0">
                <a:solidFill>
                  <a:srgbClr val="FF0000"/>
                </a:solidFill>
              </a:rPr>
            </a:br>
            <a:r>
              <a:rPr lang="en-US" altLang="ko-KR" sz="600" strike="sngStrike" dirty="0" smtClean="0">
                <a:solidFill>
                  <a:srgbClr val="FF0000"/>
                </a:solidFill>
              </a:rPr>
              <a:t>  &gt; </a:t>
            </a:r>
            <a:r>
              <a:rPr lang="ko-KR" altLang="en-US" sz="600" strike="sngStrike" dirty="0" smtClean="0">
                <a:solidFill>
                  <a:srgbClr val="FF0000"/>
                </a:solidFill>
              </a:rPr>
              <a:t>토스트 메시지</a:t>
            </a:r>
            <a:r>
              <a:rPr lang="en-US" altLang="ko-KR" sz="600" strike="sngStrike" dirty="0" smtClean="0">
                <a:solidFill>
                  <a:srgbClr val="FF0000"/>
                </a:solidFill>
              </a:rPr>
              <a:t> – </a:t>
            </a:r>
            <a:r>
              <a:rPr lang="ko-KR" altLang="en-US" sz="600" strike="sngStrike" dirty="0" smtClean="0">
                <a:solidFill>
                  <a:srgbClr val="FF0000"/>
                </a:solidFill>
              </a:rPr>
              <a:t>입찰 진행 이력이 없습니다</a:t>
            </a:r>
            <a:r>
              <a:rPr lang="en-US" altLang="ko-KR" sz="600" strike="sngStrike" dirty="0" smtClean="0">
                <a:solidFill>
                  <a:srgbClr val="FF0000"/>
                </a:solidFill>
              </a:rPr>
              <a:t>.</a:t>
            </a:r>
            <a:br>
              <a:rPr lang="en-US" altLang="ko-KR" sz="600" strike="sngStrike" dirty="0" smtClean="0">
                <a:solidFill>
                  <a:srgbClr val="FF0000"/>
                </a:solidFill>
              </a:rPr>
            </a:br>
            <a:endParaRPr lang="en-US" altLang="ko-KR" strike="sngStrike" dirty="0" smtClean="0">
              <a:solidFill>
                <a:srgbClr val="FF0000"/>
              </a:solidFill>
            </a:endParaRPr>
          </a:p>
          <a:p>
            <a:pPr marL="0" indent="0">
              <a:buNone/>
            </a:pPr>
            <a:endParaRPr lang="en-US" altLang="ko-KR" strike="sngStrike" dirty="0">
              <a:solidFill>
                <a:srgbClr val="FF0000"/>
              </a:solidFill>
            </a:endParaRPr>
          </a:p>
        </p:txBody>
      </p:sp>
      <p:sp>
        <p:nvSpPr>
          <p:cNvPr id="2" name="슬라이드 번호 개체 틀 1"/>
          <p:cNvSpPr>
            <a:spLocks noGrp="1"/>
          </p:cNvSpPr>
          <p:nvPr>
            <p:ph type="sldNum" sz="quarter" idx="4"/>
          </p:nvPr>
        </p:nvSpPr>
        <p:spPr/>
        <p:txBody>
          <a:bodyPr/>
          <a:lstStyle/>
          <a:p>
            <a:fld id="{34C8E023-7346-48FC-AB24-9A3388C53208}" type="slidenum">
              <a:rPr lang="ko-KR" altLang="en-US" smtClean="0"/>
              <a:pPr/>
              <a:t>167</a:t>
            </a:fld>
            <a:endParaRPr lang="ko-KR" altLang="en-US" dirty="0"/>
          </a:p>
        </p:txBody>
      </p:sp>
      <p:sp>
        <p:nvSpPr>
          <p:cNvPr id="5" name="텍스트 개체 틀 4"/>
          <p:cNvSpPr>
            <a:spLocks noGrp="1"/>
          </p:cNvSpPr>
          <p:nvPr>
            <p:ph type="body" sz="quarter" idx="12"/>
          </p:nvPr>
        </p:nvSpPr>
        <p:spPr/>
        <p:txBody>
          <a:bodyPr/>
          <a:lstStyle/>
          <a:p>
            <a:pPr fontAlgn="ctr"/>
            <a:r>
              <a:rPr lang="ko-KR" altLang="en-US" dirty="0" smtClean="0">
                <a:latin typeface="+mn-ea"/>
              </a:rPr>
              <a:t>입찰진행목록</a:t>
            </a:r>
            <a:endParaRPr lang="ko-KR" altLang="en-US" dirty="0">
              <a:latin typeface="+mn-ea"/>
            </a:endParaRPr>
          </a:p>
        </p:txBody>
      </p:sp>
      <p:sp>
        <p:nvSpPr>
          <p:cNvPr id="6" name="텍스트 개체 틀 5"/>
          <p:cNvSpPr>
            <a:spLocks noGrp="1"/>
          </p:cNvSpPr>
          <p:nvPr>
            <p:ph type="body" sz="quarter" idx="13"/>
          </p:nvPr>
        </p:nvSpPr>
        <p:spPr/>
        <p:txBody>
          <a:bodyPr/>
          <a:lstStyle/>
          <a:p>
            <a:r>
              <a:rPr lang="ko-KR" altLang="en-US" dirty="0"/>
              <a:t>입찰 진행 목록 화면 </a:t>
            </a:r>
            <a:r>
              <a:rPr lang="en-US" altLang="ko-KR" dirty="0"/>
              <a:t>– </a:t>
            </a:r>
            <a:r>
              <a:rPr lang="ko-KR" altLang="en-US" dirty="0"/>
              <a:t>조달업체에서 신청서를 작성한 목록</a:t>
            </a:r>
          </a:p>
        </p:txBody>
      </p:sp>
      <p:sp>
        <p:nvSpPr>
          <p:cNvPr id="7" name="텍스트 개체 틀 6"/>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a:t>
            </a:r>
          </a:p>
        </p:txBody>
      </p:sp>
      <p:sp>
        <p:nvSpPr>
          <p:cNvPr id="8" name="텍스트 개체 틀 7"/>
          <p:cNvSpPr>
            <a:spLocks noGrp="1"/>
          </p:cNvSpPr>
          <p:nvPr>
            <p:ph type="body" sz="quarter" idx="15"/>
          </p:nvPr>
        </p:nvSpPr>
        <p:spPr/>
        <p:txBody>
          <a:bodyPr/>
          <a:lstStyle/>
          <a:p>
            <a:r>
              <a:rPr lang="en-US" altLang="ko-KR" dirty="0">
                <a:latin typeface="+mn-ea"/>
              </a:rPr>
              <a:t>MUI-BD-03-M01</a:t>
            </a:r>
            <a:endParaRPr lang="ko-KR" altLang="en-US" dirty="0">
              <a:latin typeface="+mn-ea"/>
            </a:endParaRPr>
          </a:p>
        </p:txBody>
      </p:sp>
      <p:sp>
        <p:nvSpPr>
          <p:cNvPr id="9" name="직사각형 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 name="직선 연결선 18">
            <a:extLst>
              <a:ext uri="{FF2B5EF4-FFF2-40B4-BE49-F238E27FC236}">
                <a16:creationId xmlns:a16="http://schemas.microsoft.com/office/drawing/2014/main" id="{E9293055-D5CD-4B9E-7F64-64B2D2CA7A52}"/>
              </a:ext>
            </a:extLst>
          </p:cNvPr>
          <p:cNvCxnSpPr/>
          <p:nvPr/>
        </p:nvCxnSpPr>
        <p:spPr>
          <a:xfrm>
            <a:off x="680570" y="226901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 name="타원 23">
            <a:extLst>
              <a:ext uri="{FF2B5EF4-FFF2-40B4-BE49-F238E27FC236}">
                <a16:creationId xmlns:a16="http://schemas.microsoft.com/office/drawing/2014/main" id="{37A7FF4F-0EAA-1463-560A-D5EC24416103}"/>
              </a:ext>
            </a:extLst>
          </p:cNvPr>
          <p:cNvSpPr/>
          <p:nvPr/>
        </p:nvSpPr>
        <p:spPr>
          <a:xfrm>
            <a:off x="571127" y="23809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5" name="그룹 24"/>
          <p:cNvGrpSpPr/>
          <p:nvPr/>
        </p:nvGrpSpPr>
        <p:grpSpPr>
          <a:xfrm>
            <a:off x="781461" y="3706883"/>
            <a:ext cx="2473257" cy="1098561"/>
            <a:chOff x="781461" y="2610063"/>
            <a:chExt cx="2473257" cy="1098561"/>
          </a:xfrm>
        </p:grpSpPr>
        <p:sp>
          <p:nvSpPr>
            <p:cNvPr id="26"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27"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28"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29" name="모서리가 둥근 직사각형 28"/>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30" name="모서리가 둥근 직사각형 29"/>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31" name="모서리가 둥근 직사각형 30"/>
            <p:cNvSpPr/>
            <p:nvPr/>
          </p:nvSpPr>
          <p:spPr>
            <a:xfrm>
              <a:off x="1522790"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32" name="모서리가 둥근 직사각형 31"/>
            <p:cNvSpPr/>
            <p:nvPr/>
          </p:nvSpPr>
          <p:spPr>
            <a:xfrm>
              <a:off x="1964204"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grpSp>
        <p:nvGrpSpPr>
          <p:cNvPr id="33" name="그룹 32">
            <a:extLst>
              <a:ext uri="{FF2B5EF4-FFF2-40B4-BE49-F238E27FC236}">
                <a16:creationId xmlns:a16="http://schemas.microsoft.com/office/drawing/2014/main" id="{22BC05EE-C648-7CA2-4CCC-6E1C1A7E9BDA}"/>
              </a:ext>
            </a:extLst>
          </p:cNvPr>
          <p:cNvGrpSpPr/>
          <p:nvPr/>
        </p:nvGrpSpPr>
        <p:grpSpPr>
          <a:xfrm>
            <a:off x="1992981" y="5915412"/>
            <a:ext cx="76863" cy="292489"/>
            <a:chOff x="3750067" y="4683795"/>
            <a:chExt cx="76863" cy="292489"/>
          </a:xfrm>
        </p:grpSpPr>
        <p:sp>
          <p:nvSpPr>
            <p:cNvPr id="34" name="타원 3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5" name="타원 3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6" name="타원 3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37" name="그룹 36"/>
          <p:cNvGrpSpPr/>
          <p:nvPr/>
        </p:nvGrpSpPr>
        <p:grpSpPr>
          <a:xfrm>
            <a:off x="778515" y="5037401"/>
            <a:ext cx="2476203" cy="1098561"/>
            <a:chOff x="778515" y="2610063"/>
            <a:chExt cx="2476203" cy="1098561"/>
          </a:xfrm>
        </p:grpSpPr>
        <p:sp>
          <p:nvSpPr>
            <p:cNvPr id="38"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39"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40"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41" name="모서리가 둥근 직사각형 40"/>
            <p:cNvSpPr/>
            <p:nvPr/>
          </p:nvSpPr>
          <p:spPr>
            <a:xfrm>
              <a:off x="778515" y="261006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42" name="모서리가 둥근 직사각형 41"/>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공개수의</a:t>
              </a:r>
              <a:endParaRPr lang="ko-KR" altLang="en-US" sz="600" dirty="0"/>
            </a:p>
          </p:txBody>
        </p:sp>
        <p:sp>
          <p:nvSpPr>
            <p:cNvPr id="43" name="모서리가 둥근 직사각형 42"/>
            <p:cNvSpPr/>
            <p:nvPr/>
          </p:nvSpPr>
          <p:spPr>
            <a:xfrm>
              <a:off x="1534668"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취소공고</a:t>
              </a:r>
              <a:endParaRPr lang="ko-KR" altLang="en-US" sz="600" dirty="0"/>
            </a:p>
          </p:txBody>
        </p:sp>
        <p:sp>
          <p:nvSpPr>
            <p:cNvPr id="44" name="모서리가 둥근 직사각형 43"/>
            <p:cNvSpPr/>
            <p:nvPr/>
          </p:nvSpPr>
          <p:spPr>
            <a:xfrm>
              <a:off x="1992981" y="2610063"/>
              <a:ext cx="319213"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견적서</a:t>
              </a:r>
            </a:p>
          </p:txBody>
        </p:sp>
      </p:grpSp>
      <p:cxnSp>
        <p:nvCxnSpPr>
          <p:cNvPr id="45" name="직선 연결선 44">
            <a:extLst>
              <a:ext uri="{FF2B5EF4-FFF2-40B4-BE49-F238E27FC236}">
                <a16:creationId xmlns:a16="http://schemas.microsoft.com/office/drawing/2014/main" id="{E9293055-D5CD-4B9E-7F64-64B2D2CA7A52}"/>
              </a:ext>
            </a:extLst>
          </p:cNvPr>
          <p:cNvCxnSpPr/>
          <p:nvPr/>
        </p:nvCxnSpPr>
        <p:spPr>
          <a:xfrm>
            <a:off x="720490" y="49188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6" name="직선 연결선 45">
            <a:extLst>
              <a:ext uri="{FF2B5EF4-FFF2-40B4-BE49-F238E27FC236}">
                <a16:creationId xmlns:a16="http://schemas.microsoft.com/office/drawing/2014/main" id="{E9293055-D5CD-4B9E-7F64-64B2D2CA7A52}"/>
              </a:ext>
            </a:extLst>
          </p:cNvPr>
          <p:cNvCxnSpPr/>
          <p:nvPr/>
        </p:nvCxnSpPr>
        <p:spPr>
          <a:xfrm>
            <a:off x="720490" y="358232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8" name="직선 연결선 47">
            <a:extLst>
              <a:ext uri="{FF2B5EF4-FFF2-40B4-BE49-F238E27FC236}">
                <a16:creationId xmlns:a16="http://schemas.microsoft.com/office/drawing/2014/main" id="{E9293055-D5CD-4B9E-7F64-64B2D2CA7A52}"/>
              </a:ext>
            </a:extLst>
          </p:cNvPr>
          <p:cNvCxnSpPr/>
          <p:nvPr/>
        </p:nvCxnSpPr>
        <p:spPr>
          <a:xfrm>
            <a:off x="675399" y="26322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9" name="TextBox 48">
            <a:extLst>
              <a:ext uri="{FF2B5EF4-FFF2-40B4-BE49-F238E27FC236}">
                <a16:creationId xmlns:a16="http://schemas.microsoft.com/office/drawing/2014/main" id="{FFC49AEA-2A8F-250C-A86A-A7751D9706C3}"/>
              </a:ext>
            </a:extLst>
          </p:cNvPr>
          <p:cNvSpPr txBox="1"/>
          <p:nvPr/>
        </p:nvSpPr>
        <p:spPr>
          <a:xfrm>
            <a:off x="1019814" y="232474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50" name="타원 49"/>
          <p:cNvSpPr/>
          <p:nvPr/>
        </p:nvSpPr>
        <p:spPr>
          <a:xfrm>
            <a:off x="783686" y="235609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1" name="그룹 50"/>
          <p:cNvGrpSpPr/>
          <p:nvPr/>
        </p:nvGrpSpPr>
        <p:grpSpPr>
          <a:xfrm>
            <a:off x="3143548" y="2438078"/>
            <a:ext cx="94010" cy="47005"/>
            <a:chOff x="6812560" y="3297172"/>
            <a:chExt cx="94010" cy="47005"/>
          </a:xfrm>
        </p:grpSpPr>
        <p:cxnSp>
          <p:nvCxnSpPr>
            <p:cNvPr id="52" name="직선 연결선 5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3" name="직선 연결선 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4" name="타원 53">
            <a:extLst>
              <a:ext uri="{FF2B5EF4-FFF2-40B4-BE49-F238E27FC236}">
                <a16:creationId xmlns:a16="http://schemas.microsoft.com/office/drawing/2014/main" id="{37A7FF4F-0EAA-1463-560A-D5EC24416103}"/>
              </a:ext>
            </a:extLst>
          </p:cNvPr>
          <p:cNvSpPr/>
          <p:nvPr/>
        </p:nvSpPr>
        <p:spPr>
          <a:xfrm>
            <a:off x="571127" y="40727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322781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9" name="TextBox 58">
            <a:extLst>
              <a:ext uri="{FF2B5EF4-FFF2-40B4-BE49-F238E27FC236}">
                <a16:creationId xmlns:a16="http://schemas.microsoft.com/office/drawing/2014/main" id="{FFC49AEA-2A8F-250C-A86A-A7751D9706C3}"/>
              </a:ext>
            </a:extLst>
          </p:cNvPr>
          <p:cNvSpPr txBox="1"/>
          <p:nvPr/>
        </p:nvSpPr>
        <p:spPr>
          <a:xfrm>
            <a:off x="778515" y="3296796"/>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2,010</a:t>
            </a:r>
            <a:r>
              <a:rPr lang="en-US" altLang="ko-KR" sz="700" dirty="0">
                <a:latin typeface="+mn-ea"/>
              </a:rPr>
              <a:t> </a:t>
            </a:r>
            <a:r>
              <a:rPr lang="ko-KR" altLang="en-US" sz="700" dirty="0">
                <a:latin typeface="+mn-ea"/>
              </a:rPr>
              <a:t>건</a:t>
            </a:r>
          </a:p>
        </p:txBody>
      </p:sp>
      <p:sp>
        <p:nvSpPr>
          <p:cNvPr id="60" name="TextBox 59">
            <a:extLst>
              <a:ext uri="{FF2B5EF4-FFF2-40B4-BE49-F238E27FC236}">
                <a16:creationId xmlns:a16="http://schemas.microsoft.com/office/drawing/2014/main" id="{FFC49AEA-2A8F-250C-A86A-A7751D9706C3}"/>
              </a:ext>
            </a:extLst>
          </p:cNvPr>
          <p:cNvSpPr txBox="1"/>
          <p:nvPr/>
        </p:nvSpPr>
        <p:spPr>
          <a:xfrm>
            <a:off x="2278206" y="3292742"/>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61" name="TextBox 60">
            <a:extLst>
              <a:ext uri="{FF2B5EF4-FFF2-40B4-BE49-F238E27FC236}">
                <a16:creationId xmlns:a16="http://schemas.microsoft.com/office/drawing/2014/main" id="{FFC49AEA-2A8F-250C-A86A-A7751D9706C3}"/>
              </a:ext>
            </a:extLst>
          </p:cNvPr>
          <p:cNvSpPr txBox="1"/>
          <p:nvPr/>
        </p:nvSpPr>
        <p:spPr>
          <a:xfrm>
            <a:off x="2727990" y="3292742"/>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62" name="그룹 61"/>
          <p:cNvGrpSpPr/>
          <p:nvPr/>
        </p:nvGrpSpPr>
        <p:grpSpPr>
          <a:xfrm>
            <a:off x="3143548" y="3394565"/>
            <a:ext cx="94010" cy="47005"/>
            <a:chOff x="6812560" y="3297172"/>
            <a:chExt cx="94010" cy="47005"/>
          </a:xfrm>
        </p:grpSpPr>
        <p:cxnSp>
          <p:nvCxnSpPr>
            <p:cNvPr id="63" name="직선 연결선 6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4" name="직선 연결선 6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65" name="그룹 64"/>
          <p:cNvGrpSpPr/>
          <p:nvPr/>
        </p:nvGrpSpPr>
        <p:grpSpPr>
          <a:xfrm>
            <a:off x="767702" y="2692353"/>
            <a:ext cx="2527420" cy="477995"/>
            <a:chOff x="786326" y="2270279"/>
            <a:chExt cx="2527420" cy="477995"/>
          </a:xfrm>
        </p:grpSpPr>
        <p:sp>
          <p:nvSpPr>
            <p:cNvPr id="66" name="모서리가 둥근 직사각형 65"/>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TextBox 67">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69" name="그룹 68"/>
            <p:cNvGrpSpPr/>
            <p:nvPr/>
          </p:nvGrpSpPr>
          <p:grpSpPr>
            <a:xfrm>
              <a:off x="795624" y="2274581"/>
              <a:ext cx="1299303" cy="155984"/>
              <a:chOff x="808107" y="2288229"/>
              <a:chExt cx="1189739" cy="168318"/>
            </a:xfrm>
          </p:grpSpPr>
          <p:sp>
            <p:nvSpPr>
              <p:cNvPr id="76"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공고명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77"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공고번호</a:t>
                </a:r>
                <a:endParaRPr kumimoji="1" lang="en-US" sz="800" b="0" i="0" u="none" strike="noStrike" kern="0" cap="none" spc="0" normalizeH="0" baseline="0" noProof="0" dirty="0">
                  <a:ln>
                    <a:noFill/>
                  </a:ln>
                  <a:effectLst/>
                  <a:uLnTx/>
                  <a:uFillTx/>
                  <a:latin typeface="맑은 고딕"/>
                </a:endParaRPr>
              </a:p>
            </p:txBody>
          </p:sp>
        </p:grpSp>
        <p:sp>
          <p:nvSpPr>
            <p:cNvPr id="70" name="타원 69"/>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71"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72" name="타원 71"/>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2901631" y="2585953"/>
              <a:ext cx="58075" cy="58074"/>
              <a:chOff x="6812560" y="3297172"/>
              <a:chExt cx="94010" cy="94010"/>
            </a:xfrm>
          </p:grpSpPr>
          <p:cxnSp>
            <p:nvCxnSpPr>
              <p:cNvPr id="74" name="직선 연결선 7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75" name="직선 연결선 7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78" name="TextBox 77"/>
          <p:cNvSpPr txBox="1"/>
          <p:nvPr/>
        </p:nvSpPr>
        <p:spPr>
          <a:xfrm flipH="1">
            <a:off x="3000338" y="2938525"/>
            <a:ext cx="274434" cy="200055"/>
          </a:xfrm>
          <a:prstGeom prst="rect">
            <a:avLst/>
          </a:prstGeom>
          <a:noFill/>
        </p:spPr>
        <p:txBody>
          <a:bodyPr wrap="none" rtlCol="0">
            <a:spAutoFit/>
          </a:bodyPr>
          <a:lstStyle/>
          <a:p>
            <a:r>
              <a:rPr lang="ko-KR" altLang="en-US" sz="700" dirty="0"/>
              <a:t>🔎</a:t>
            </a:r>
          </a:p>
        </p:txBody>
      </p:sp>
      <p:grpSp>
        <p:nvGrpSpPr>
          <p:cNvPr id="79" name="그룹 78"/>
          <p:cNvGrpSpPr/>
          <p:nvPr/>
        </p:nvGrpSpPr>
        <p:grpSpPr>
          <a:xfrm>
            <a:off x="8223250" y="569392"/>
            <a:ext cx="3365500" cy="219465"/>
            <a:chOff x="8223250" y="569392"/>
            <a:chExt cx="3365500" cy="219465"/>
          </a:xfrm>
        </p:grpSpPr>
        <p:sp>
          <p:nvSpPr>
            <p:cNvPr id="80" name="직사각형 7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2026-06-18 </a:t>
              </a:r>
              <a:r>
                <a:rPr lang="ko-KR" altLang="en-US" dirty="0" smtClean="0"/>
                <a:t>설명 </a:t>
              </a:r>
              <a:r>
                <a:rPr lang="ko-KR" altLang="en-US" dirty="0"/>
                <a:t>수정</a:t>
              </a:r>
            </a:p>
          </p:txBody>
        </p:sp>
        <p:sp>
          <p:nvSpPr>
            <p:cNvPr id="81" name="직사각형 80"/>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공고 목록 설명 변경</a:t>
              </a:r>
              <a:endParaRPr lang="ko-KR" altLang="en-US" sz="700" dirty="0"/>
            </a:p>
          </p:txBody>
        </p:sp>
      </p:grpSp>
      <p:grpSp>
        <p:nvGrpSpPr>
          <p:cNvPr id="82" name="그룹 81"/>
          <p:cNvGrpSpPr/>
          <p:nvPr/>
        </p:nvGrpSpPr>
        <p:grpSpPr>
          <a:xfrm>
            <a:off x="677960" y="1582647"/>
            <a:ext cx="2714637" cy="686386"/>
            <a:chOff x="677960" y="1582647"/>
            <a:chExt cx="2714637" cy="686386"/>
          </a:xfrm>
        </p:grpSpPr>
        <p:sp>
          <p:nvSpPr>
            <p:cNvPr id="83" name="TextBox 82">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smtClean="0">
                  <a:latin typeface="+mn-ea"/>
                </a:rPr>
                <a:t>입찰진행목록</a:t>
              </a:r>
              <a:endParaRPr lang="ko-KR" altLang="en-US" sz="800" dirty="0">
                <a:latin typeface="+mn-ea"/>
              </a:endParaRPr>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5" name="그룹 84"/>
            <p:cNvGrpSpPr/>
            <p:nvPr/>
          </p:nvGrpSpPr>
          <p:grpSpPr>
            <a:xfrm rot="5400000">
              <a:off x="852159" y="2062596"/>
              <a:ext cx="94010" cy="47005"/>
              <a:chOff x="6812560" y="3297172"/>
              <a:chExt cx="94010" cy="47005"/>
            </a:xfrm>
          </p:grpSpPr>
          <p:cxnSp>
            <p:nvCxnSpPr>
              <p:cNvPr id="92" name="직선 연결선 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3" name="직선 연결선 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86" name="그룹 85"/>
            <p:cNvGrpSpPr/>
            <p:nvPr/>
          </p:nvGrpSpPr>
          <p:grpSpPr>
            <a:xfrm>
              <a:off x="677960" y="1582647"/>
              <a:ext cx="2712027" cy="324286"/>
              <a:chOff x="677960" y="1582647"/>
              <a:chExt cx="2712027" cy="324286"/>
            </a:xfrm>
          </p:grpSpPr>
          <p:pic>
            <p:nvPicPr>
              <p:cNvPr id="87"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88" name="직선 연결선 87">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9" name="타원 88"/>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타원 90"/>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94" name="TextBox 93">
            <a:extLst>
              <a:ext uri="{FF2B5EF4-FFF2-40B4-BE49-F238E27FC236}">
                <a16:creationId xmlns:a16="http://schemas.microsoft.com/office/drawing/2014/main" id="{FFC49AEA-2A8F-250C-A86A-A7751D9706C3}"/>
              </a:ext>
            </a:extLst>
          </p:cNvPr>
          <p:cNvSpPr txBox="1"/>
          <p:nvPr/>
        </p:nvSpPr>
        <p:spPr>
          <a:xfrm>
            <a:off x="3810036" y="1349367"/>
            <a:ext cx="547346" cy="107722"/>
          </a:xfrm>
          <a:prstGeom prst="rect">
            <a:avLst/>
          </a:prstGeom>
          <a:noFill/>
        </p:spPr>
        <p:txBody>
          <a:bodyPr wrap="square" lIns="0" tIns="0" rIns="0" bIns="0" rtlCol="0">
            <a:spAutoFit/>
          </a:bodyPr>
          <a:lstStyle/>
          <a:p>
            <a:r>
              <a:rPr lang="ko-KR" altLang="en-US" sz="700" dirty="0" smtClean="0">
                <a:latin typeface="+mn-ea"/>
              </a:rPr>
              <a:t>표시 레이블</a:t>
            </a:r>
            <a:endParaRPr lang="ko-KR" altLang="en-US" sz="700" dirty="0">
              <a:latin typeface="+mn-ea"/>
            </a:endParaRPr>
          </a:p>
        </p:txBody>
      </p:sp>
      <p:graphicFrame>
        <p:nvGraphicFramePr>
          <p:cNvPr id="95" name="표 94"/>
          <p:cNvGraphicFramePr>
            <a:graphicFrameLocks noGrp="1"/>
          </p:cNvGraphicFramePr>
          <p:nvPr>
            <p:extLst>
              <p:ext uri="{D42A27DB-BD31-4B8C-83A1-F6EECF244321}">
                <p14:modId xmlns:p14="http://schemas.microsoft.com/office/powerpoint/2010/main" val="948481055"/>
              </p:ext>
            </p:extLst>
          </p:nvPr>
        </p:nvGraphicFramePr>
        <p:xfrm>
          <a:off x="3801286" y="1542277"/>
          <a:ext cx="3069778" cy="4988560"/>
        </p:xfrm>
        <a:graphic>
          <a:graphicData uri="http://schemas.openxmlformats.org/drawingml/2006/table">
            <a:tbl>
              <a:tblPr firstRow="1" bandRow="1">
                <a:tableStyleId>{7E9639D4-E3E2-4D34-9284-5A2195B3D0D7}</a:tableStyleId>
              </a:tblPr>
              <a:tblGrid>
                <a:gridCol w="1534889">
                  <a:extLst>
                    <a:ext uri="{9D8B030D-6E8A-4147-A177-3AD203B41FA5}">
                      <a16:colId xmlns:a16="http://schemas.microsoft.com/office/drawing/2014/main" val="3115782702"/>
                    </a:ext>
                  </a:extLst>
                </a:gridCol>
                <a:gridCol w="1534889">
                  <a:extLst>
                    <a:ext uri="{9D8B030D-6E8A-4147-A177-3AD203B41FA5}">
                      <a16:colId xmlns:a16="http://schemas.microsoft.com/office/drawing/2014/main" val="393582204"/>
                    </a:ext>
                  </a:extLst>
                </a:gridCol>
              </a:tblGrid>
              <a:tr h="370840">
                <a:tc>
                  <a:txBody>
                    <a:bodyPr/>
                    <a:lstStyle/>
                    <a:p>
                      <a:pPr algn="ctr" latinLnBrk="1"/>
                      <a:r>
                        <a:rPr lang="ko-KR" altLang="en-US" sz="700" dirty="0" smtClean="0"/>
                        <a:t>항목명</a:t>
                      </a:r>
                      <a:endParaRPr lang="ko-KR" altLang="en-US" sz="700" dirty="0"/>
                    </a:p>
                  </a:txBody>
                  <a:tcPr anchor="ctr"/>
                </a:tc>
                <a:tc>
                  <a:txBody>
                    <a:bodyPr/>
                    <a:lstStyle/>
                    <a:p>
                      <a:pPr algn="ctr" latinLnBrk="1"/>
                      <a:r>
                        <a:rPr lang="ko-KR" altLang="en-US" sz="700" dirty="0" smtClean="0"/>
                        <a:t>표시 값</a:t>
                      </a:r>
                      <a:endParaRPr lang="ko-KR" altLang="en-US" sz="700" dirty="0"/>
                    </a:p>
                  </a:txBody>
                  <a:tcPr anchor="ctr"/>
                </a:tc>
                <a:extLst>
                  <a:ext uri="{0D108BD9-81ED-4DB2-BD59-A6C34878D82A}">
                    <a16:rowId xmlns:a16="http://schemas.microsoft.com/office/drawing/2014/main" val="139709430"/>
                  </a:ext>
                </a:extLst>
              </a:tr>
              <a:tr h="370840">
                <a:tc>
                  <a:txBody>
                    <a:bodyPr/>
                    <a:lstStyle/>
                    <a:p>
                      <a:pPr algn="ctr" latinLnBrk="1"/>
                      <a:r>
                        <a:rPr lang="ko-KR" altLang="en-US" sz="700" dirty="0" err="1" smtClean="0">
                          <a:latin typeface="+mn-ea"/>
                        </a:rPr>
                        <a:t>업무구분</a:t>
                      </a:r>
                      <a:r>
                        <a:rPr lang="ko-KR" altLang="en-US" sz="700" dirty="0" smtClean="0"/>
                        <a:t> </a:t>
                      </a:r>
                      <a:r>
                        <a:rPr lang="en-US" altLang="ko-KR" sz="700" dirty="0" smtClean="0"/>
                        <a:t>(</a:t>
                      </a:r>
                      <a:r>
                        <a:rPr lang="en-US" altLang="ko-KR" sz="700" b="0" i="0" u="none" strike="noStrike" dirty="0" err="1" smtClean="0">
                          <a:solidFill>
                            <a:srgbClr val="000000"/>
                          </a:solidFill>
                          <a:effectLst/>
                          <a:latin typeface="+mn-lt"/>
                          <a:ea typeface="+mn-ea"/>
                        </a:rPr>
                        <a:t>taskSecd</a:t>
                      </a:r>
                      <a:r>
                        <a:rPr lang="en-US" altLang="ko-KR" sz="700" dirty="0" smtClean="0"/>
                        <a:t>)</a:t>
                      </a:r>
                      <a:endParaRPr lang="ko-KR" altLang="en-US" sz="700" dirty="0"/>
                    </a:p>
                  </a:txBody>
                  <a:tcPr anchor="ctr"/>
                </a:tc>
                <a:tc>
                  <a:txBody>
                    <a:bodyPr/>
                    <a:lstStyle/>
                    <a:p>
                      <a:pPr algn="ctr" latinLnBrk="1"/>
                      <a:r>
                        <a:rPr lang="ko-KR" altLang="en-US" sz="700" dirty="0" smtClean="0"/>
                        <a:t>물품</a:t>
                      </a:r>
                      <a:r>
                        <a:rPr lang="en-US" altLang="ko-KR" sz="700" dirty="0" smtClean="0"/>
                        <a:t>, </a:t>
                      </a:r>
                      <a:r>
                        <a:rPr lang="ko-KR" altLang="en-US" sz="700" dirty="0" smtClean="0"/>
                        <a:t>용역</a:t>
                      </a:r>
                      <a:r>
                        <a:rPr lang="en-US" altLang="ko-KR" sz="700" dirty="0" smtClean="0"/>
                        <a:t>, </a:t>
                      </a:r>
                      <a:r>
                        <a:rPr lang="ko-KR" altLang="en-US" sz="700" dirty="0" smtClean="0"/>
                        <a:t>공사</a:t>
                      </a:r>
                      <a:r>
                        <a:rPr lang="en-US" altLang="ko-KR" sz="700" dirty="0" smtClean="0"/>
                        <a:t>, </a:t>
                      </a:r>
                      <a:r>
                        <a:rPr lang="ko-KR" altLang="en-US" sz="700" dirty="0" smtClean="0"/>
                        <a:t>국외</a:t>
                      </a:r>
                      <a:endParaRPr lang="ko-KR" altLang="en-US" sz="700" dirty="0"/>
                    </a:p>
                  </a:txBody>
                  <a:tcPr anchor="ctr"/>
                </a:tc>
                <a:extLst>
                  <a:ext uri="{0D108BD9-81ED-4DB2-BD59-A6C34878D82A}">
                    <a16:rowId xmlns:a16="http://schemas.microsoft.com/office/drawing/2014/main" val="1160468422"/>
                  </a:ext>
                </a:extLst>
              </a:tr>
              <a:tr h="370840">
                <a:tc>
                  <a:txBody>
                    <a:bodyPr/>
                    <a:lstStyle/>
                    <a:p>
                      <a:pPr algn="ctr" latinLnBrk="1"/>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As-Is</a:t>
                      </a:r>
                      <a:endParaRPr lang="ko-KR" altLang="en-US" sz="700" dirty="0"/>
                    </a:p>
                  </a:txBody>
                  <a:tcPr anchor="ctr"/>
                </a:tc>
                <a:tc>
                  <a:txBody>
                    <a:bodyPr/>
                    <a:lstStyle/>
                    <a:p>
                      <a:pPr algn="ctr" latinLnBrk="1"/>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r>
                        <a:rPr lang="en-US" altLang="ko-KR" sz="700" dirty="0" smtClean="0"/>
                        <a:t>, </a:t>
                      </a:r>
                      <a:r>
                        <a:rPr lang="ko-KR" altLang="en-US" sz="700" dirty="0" err="1" smtClean="0"/>
                        <a:t>역경매</a:t>
                      </a:r>
                      <a:r>
                        <a:rPr lang="en-US" altLang="ko-KR" sz="700" dirty="0" smtClean="0"/>
                        <a:t>, </a:t>
                      </a:r>
                      <a:r>
                        <a:rPr lang="ko-KR" altLang="en-US" sz="700" dirty="0" err="1" smtClean="0"/>
                        <a:t>복수경쟁</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endParaRPr lang="ko-KR" altLang="en-US" sz="700" dirty="0"/>
                    </a:p>
                  </a:txBody>
                  <a:tcPr anchor="ctr"/>
                </a:tc>
                <a:extLst>
                  <a:ext uri="{0D108BD9-81ED-4DB2-BD59-A6C34878D82A}">
                    <a16:rowId xmlns:a16="http://schemas.microsoft.com/office/drawing/2014/main" val="729087243"/>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To-Be</a:t>
                      </a:r>
                      <a:endParaRPr lang="ko-KR" altLang="en-US" sz="700" dirty="0" smtClean="0"/>
                    </a:p>
                  </a:txBody>
                  <a:tcPr anchor="ct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p>
                  </a:txBody>
                  <a:tcPr anchor="ctr"/>
                </a:tc>
                <a:extLst>
                  <a:ext uri="{0D108BD9-81ED-4DB2-BD59-A6C34878D82A}">
                    <a16:rowId xmlns:a16="http://schemas.microsoft.com/office/drawing/2014/main" val="1753565295"/>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r>
                        <a:rPr lang="en-US" altLang="ko-KR" sz="700" dirty="0" smtClean="0"/>
                        <a:t>, </a:t>
                      </a:r>
                      <a:r>
                        <a:rPr lang="ko-KR" altLang="en-US" sz="700" dirty="0" err="1" smtClean="0"/>
                        <a:t>단가제</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적격심사</a:t>
                      </a:r>
                      <a:r>
                        <a:rPr lang="en-US" altLang="ko-KR" sz="700" dirty="0" smtClean="0"/>
                        <a:t>), </a:t>
                      </a:r>
                      <a:r>
                        <a:rPr lang="ko-KR" altLang="en-US" sz="700" dirty="0" err="1" smtClean="0"/>
                        <a:t>내역입찰</a:t>
                      </a:r>
                      <a:r>
                        <a:rPr lang="en-US" altLang="ko-KR" sz="700" dirty="0" smtClean="0"/>
                        <a:t>(</a:t>
                      </a:r>
                      <a:r>
                        <a:rPr lang="ko-KR" altLang="en-US" sz="700" dirty="0" err="1" smtClean="0"/>
                        <a:t>종합심사</a:t>
                      </a:r>
                      <a:r>
                        <a:rPr lang="en-US" altLang="ko-KR" sz="700" dirty="0" smtClean="0"/>
                        <a:t>), </a:t>
                      </a:r>
                      <a:r>
                        <a:rPr lang="ko-KR" altLang="en-US" sz="700" dirty="0" err="1" smtClean="0"/>
                        <a:t>내역입찰</a:t>
                      </a:r>
                      <a:r>
                        <a:rPr lang="en-US" altLang="ko-KR" sz="700" dirty="0" smtClean="0"/>
                        <a:t>(</a:t>
                      </a:r>
                      <a:r>
                        <a:rPr lang="ko-KR" altLang="en-US" sz="700" dirty="0" smtClean="0"/>
                        <a:t>설계시공일괄입찰</a:t>
                      </a:r>
                      <a:r>
                        <a:rPr lang="en-US" altLang="ko-KR" sz="700" dirty="0" smtClean="0"/>
                        <a:t>)</a:t>
                      </a:r>
                      <a:endParaRPr lang="ko-KR" altLang="en-US" sz="700" dirty="0"/>
                    </a:p>
                  </a:txBody>
                  <a:tcPr anchor="ctr"/>
                </a:tc>
                <a:extLst>
                  <a:ext uri="{0D108BD9-81ED-4DB2-BD59-A6C34878D82A}">
                    <a16:rowId xmlns:a16="http://schemas.microsoft.com/office/drawing/2014/main" val="2357552286"/>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endParaRPr lang="ko-KR" altLang="en-US" sz="700" dirty="0"/>
                    </a:p>
                  </a:txBody>
                  <a:tcPr anchor="ctr"/>
                </a:tc>
                <a:extLst>
                  <a:ext uri="{0D108BD9-81ED-4DB2-BD59-A6C34878D82A}">
                    <a16:rowId xmlns:a16="http://schemas.microsoft.com/office/drawing/2014/main" val="1157640162"/>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a:t>
                      </a:r>
                      <a:r>
                        <a:rPr lang="ko-KR" altLang="en-US" sz="700" dirty="0" smtClean="0"/>
                        <a:t>협상</a:t>
                      </a:r>
                      <a:r>
                        <a:rPr lang="en-US" altLang="ko-KR" sz="700" dirty="0" smtClean="0"/>
                        <a:t>, </a:t>
                      </a:r>
                      <a:r>
                        <a:rPr lang="ko-KR" altLang="en-US" sz="700" dirty="0" err="1" smtClean="0"/>
                        <a:t>최저가격제</a:t>
                      </a:r>
                      <a:endParaRPr lang="ko-KR" altLang="en-US" sz="700" dirty="0"/>
                    </a:p>
                  </a:txBody>
                  <a:tcPr anchor="ctr"/>
                </a:tc>
                <a:extLst>
                  <a:ext uri="{0D108BD9-81ED-4DB2-BD59-A6C34878D82A}">
                    <a16:rowId xmlns:a16="http://schemas.microsoft.com/office/drawing/2014/main" val="3907289756"/>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역경매</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r>
                        <a:rPr lang="en-US" altLang="ko-KR" sz="700" dirty="0" smtClean="0"/>
                        <a:t>, </a:t>
                      </a:r>
                      <a:r>
                        <a:rPr lang="ko-KR" altLang="en-US" sz="700" dirty="0" err="1" smtClean="0"/>
                        <a:t>종합심사제</a:t>
                      </a:r>
                      <a:r>
                        <a:rPr lang="en-US" altLang="ko-KR" sz="700" dirty="0" smtClean="0"/>
                        <a:t>, </a:t>
                      </a:r>
                      <a:r>
                        <a:rPr lang="ko-KR" altLang="en-US" sz="700" dirty="0" smtClean="0"/>
                        <a:t>설계시공일괄입찰</a:t>
                      </a:r>
                      <a:r>
                        <a:rPr lang="en-US" altLang="ko-KR" sz="700" dirty="0" smtClean="0"/>
                        <a:t>, </a:t>
                      </a:r>
                      <a:r>
                        <a:rPr lang="ko-KR" altLang="en-US" sz="700" dirty="0" smtClean="0"/>
                        <a:t>공개수의협상</a:t>
                      </a:r>
                      <a:r>
                        <a:rPr lang="en-US" altLang="ko-KR" sz="700" dirty="0" smtClean="0"/>
                        <a:t>(</a:t>
                      </a:r>
                      <a:r>
                        <a:rPr lang="ko-KR" altLang="en-US" sz="700" dirty="0" smtClean="0"/>
                        <a:t>가칭</a:t>
                      </a:r>
                      <a:r>
                        <a:rPr lang="en-US" altLang="ko-KR" sz="700" dirty="0" smtClean="0"/>
                        <a:t>)</a:t>
                      </a:r>
                      <a:endParaRPr lang="ko-KR" altLang="en-US" sz="700" dirty="0"/>
                    </a:p>
                  </a:txBody>
                  <a:tcPr anchor="ctr"/>
                </a:tc>
                <a:extLst>
                  <a:ext uri="{0D108BD9-81ED-4DB2-BD59-A6C34878D82A}">
                    <a16:rowId xmlns:a16="http://schemas.microsoft.com/office/drawing/2014/main" val="1494051991"/>
                  </a:ext>
                </a:extLst>
              </a:tr>
              <a:tr h="370840">
                <a:tc>
                  <a:txBody>
                    <a:bodyPr/>
                    <a:lstStyle/>
                    <a:p>
                      <a:pPr algn="ctr" latinLnBrk="1"/>
                      <a:r>
                        <a:rPr lang="ko-KR" altLang="en-US" sz="700" dirty="0" err="1" smtClean="0">
                          <a:latin typeface="+mn-ea"/>
                          <a:ea typeface="+mn-ea"/>
                        </a:rPr>
                        <a:t>진행상태명</a:t>
                      </a:r>
                      <a:r>
                        <a:rPr lang="ko-KR" altLang="en-US" sz="700" dirty="0" smtClean="0">
                          <a:latin typeface="+mn-ea"/>
                          <a:ea typeface="+mn-ea"/>
                        </a:rPr>
                        <a:t> </a:t>
                      </a:r>
                      <a:r>
                        <a:rPr lang="en-US" altLang="ko-KR" sz="700" dirty="0" smtClean="0">
                          <a:latin typeface="+mn-ea"/>
                          <a:ea typeface="+mn-ea"/>
                        </a:rPr>
                        <a:t>(</a:t>
                      </a:r>
                      <a:r>
                        <a:rPr lang="en-US" altLang="ko-KR" sz="700" dirty="0" err="1" smtClean="0">
                          <a:latin typeface="+mn-ea"/>
                          <a:ea typeface="+mn-ea"/>
                        </a:rPr>
                        <a:t>bidStatNm</a:t>
                      </a:r>
                      <a:r>
                        <a:rPr lang="en-US" altLang="ko-KR" sz="700" dirty="0" smtClean="0">
                          <a:latin typeface="+mn-ea"/>
                          <a:ea typeface="+mn-ea"/>
                        </a:rPr>
                        <a:t>)</a:t>
                      </a:r>
                      <a:endParaRPr lang="ko-KR" altLang="en-US" sz="700" dirty="0"/>
                    </a:p>
                  </a:txBody>
                  <a:tcPr anchor="ctr"/>
                </a:tc>
                <a:tc>
                  <a:txBody>
                    <a:bodyPr/>
                    <a:lstStyle/>
                    <a:p>
                      <a:pPr algn="ctr" latinLnBrk="1"/>
                      <a:r>
                        <a:rPr lang="ko-KR" altLang="en-US" sz="700" dirty="0" err="1" smtClean="0"/>
                        <a:t>서류요청</a:t>
                      </a:r>
                      <a:r>
                        <a:rPr lang="en-US" altLang="ko-KR" sz="700" dirty="0" smtClean="0"/>
                        <a:t>, </a:t>
                      </a:r>
                      <a:r>
                        <a:rPr lang="ko-KR" altLang="en-US" sz="700" dirty="0" err="1" smtClean="0"/>
                        <a:t>서류등록</a:t>
                      </a:r>
                      <a:r>
                        <a:rPr lang="en-US" altLang="ko-KR" sz="700" dirty="0" smtClean="0"/>
                        <a:t>, </a:t>
                      </a:r>
                      <a:r>
                        <a:rPr lang="ko-KR" altLang="en-US" sz="700" dirty="0" err="1" smtClean="0"/>
                        <a:t>서류반려</a:t>
                      </a:r>
                      <a:r>
                        <a:rPr lang="en-US" altLang="ko-KR" sz="700" dirty="0" smtClean="0"/>
                        <a:t>, </a:t>
                      </a:r>
                      <a:r>
                        <a:rPr lang="ko-KR" altLang="en-US" sz="700" dirty="0" err="1" smtClean="0"/>
                        <a:t>체결의뢰</a:t>
                      </a:r>
                      <a:r>
                        <a:rPr lang="ko-KR" altLang="en-US" sz="700" dirty="0" smtClean="0"/>
                        <a:t> 등</a:t>
                      </a:r>
                      <a:endParaRPr lang="ko-KR" altLang="en-US" sz="700" dirty="0"/>
                    </a:p>
                  </a:txBody>
                  <a:tcPr anchor="ctr"/>
                </a:tc>
                <a:extLst>
                  <a:ext uri="{0D108BD9-81ED-4DB2-BD59-A6C34878D82A}">
                    <a16:rowId xmlns:a16="http://schemas.microsoft.com/office/drawing/2014/main" val="2086675074"/>
                  </a:ext>
                </a:extLst>
              </a:tr>
              <a:tr h="370840">
                <a:tc>
                  <a:txBody>
                    <a:bodyPr/>
                    <a:lstStyle/>
                    <a:p>
                      <a:pPr algn="ctr" latinLnBrk="1"/>
                      <a:r>
                        <a:rPr lang="ko-KR" altLang="en-US" sz="700" dirty="0" err="1" smtClean="0">
                          <a:latin typeface="+mn-ea"/>
                          <a:ea typeface="+mn-ea"/>
                        </a:rPr>
                        <a:t>공고구분</a:t>
                      </a:r>
                      <a:endParaRPr lang="ko-KR" altLang="en-US" sz="700" dirty="0"/>
                    </a:p>
                  </a:txBody>
                  <a:tcPr anchor="ctr"/>
                </a:tc>
                <a:tc>
                  <a:txBody>
                    <a:bodyPr/>
                    <a:lstStyle/>
                    <a:p>
                      <a:pPr algn="ctr" latinLnBrk="1"/>
                      <a:r>
                        <a:rPr lang="ko-KR" altLang="en-US" sz="700" dirty="0" err="1" smtClean="0"/>
                        <a:t>정상공고</a:t>
                      </a:r>
                      <a:r>
                        <a:rPr lang="en-US" altLang="ko-KR" sz="700" dirty="0" smtClean="0"/>
                        <a:t>, </a:t>
                      </a:r>
                      <a:r>
                        <a:rPr lang="ko-KR" altLang="en-US" sz="700" dirty="0" err="1" smtClean="0"/>
                        <a:t>긴급공고</a:t>
                      </a:r>
                      <a:r>
                        <a:rPr lang="en-US" altLang="ko-KR" sz="700" dirty="0" smtClean="0"/>
                        <a:t>, </a:t>
                      </a:r>
                      <a:r>
                        <a:rPr lang="ko-KR" altLang="en-US" sz="700" dirty="0" err="1" smtClean="0"/>
                        <a:t>재공고</a:t>
                      </a:r>
                      <a:r>
                        <a:rPr lang="en-US" altLang="ko-KR" sz="700" dirty="0" smtClean="0"/>
                        <a:t>, </a:t>
                      </a:r>
                      <a:r>
                        <a:rPr lang="ko-KR" altLang="en-US" sz="700" dirty="0" err="1" smtClean="0"/>
                        <a:t>긴급갱신</a:t>
                      </a:r>
                      <a:r>
                        <a:rPr lang="en-US" altLang="ko-KR" sz="700" dirty="0" smtClean="0"/>
                        <a:t>, </a:t>
                      </a:r>
                      <a:r>
                        <a:rPr lang="ko-KR" altLang="en-US" sz="700" dirty="0" err="1" smtClean="0"/>
                        <a:t>재공고</a:t>
                      </a:r>
                      <a:r>
                        <a:rPr lang="en-US" altLang="ko-KR" sz="700" dirty="0" smtClean="0"/>
                        <a:t>(3</a:t>
                      </a:r>
                      <a:r>
                        <a:rPr lang="ko-KR" altLang="en-US" sz="700" dirty="0" smtClean="0"/>
                        <a:t>차</a:t>
                      </a:r>
                      <a:r>
                        <a:rPr lang="en-US" altLang="ko-KR" sz="700" dirty="0" smtClean="0"/>
                        <a:t>),</a:t>
                      </a:r>
                      <a:r>
                        <a:rPr lang="ko-KR" altLang="en-US" sz="700" dirty="0" smtClean="0"/>
                        <a:t>긴급갱신재공고</a:t>
                      </a:r>
                      <a:r>
                        <a:rPr lang="en-US" altLang="ko-KR" sz="700" dirty="0" smtClean="0"/>
                        <a:t>, </a:t>
                      </a:r>
                      <a:r>
                        <a:rPr lang="ko-KR" altLang="en-US" sz="700" dirty="0" err="1" smtClean="0"/>
                        <a:t>정정공고</a:t>
                      </a:r>
                      <a:r>
                        <a:rPr lang="en-US" altLang="ko-KR" sz="700" dirty="0" smtClean="0"/>
                        <a:t>, </a:t>
                      </a:r>
                      <a:r>
                        <a:rPr lang="ko-KR" altLang="en-US" sz="700" dirty="0" err="1" smtClean="0"/>
                        <a:t>취소공고</a:t>
                      </a:r>
                      <a:r>
                        <a:rPr lang="en-US" altLang="ko-KR" sz="700" dirty="0" smtClean="0"/>
                        <a:t>, </a:t>
                      </a:r>
                      <a:r>
                        <a:rPr lang="ko-KR" altLang="en-US" sz="700" dirty="0" err="1" smtClean="0"/>
                        <a:t>연기공고</a:t>
                      </a:r>
                      <a:r>
                        <a:rPr lang="en-US" altLang="ko-KR" sz="700" dirty="0" smtClean="0"/>
                        <a:t>, </a:t>
                      </a:r>
                      <a:r>
                        <a:rPr lang="ko-KR" altLang="en-US" sz="700" dirty="0" smtClean="0"/>
                        <a:t>게시</a:t>
                      </a:r>
                      <a:r>
                        <a:rPr lang="en-US" altLang="ko-KR" sz="700" dirty="0" smtClean="0"/>
                        <a:t>, </a:t>
                      </a:r>
                      <a:r>
                        <a:rPr lang="ko-KR" altLang="en-US" sz="700" dirty="0" smtClean="0"/>
                        <a:t>모의입찰코드</a:t>
                      </a:r>
                      <a:endParaRPr lang="ko-KR" altLang="en-US" sz="700" dirty="0"/>
                    </a:p>
                  </a:txBody>
                  <a:tcPr anchor="ctr"/>
                </a:tc>
                <a:extLst>
                  <a:ext uri="{0D108BD9-81ED-4DB2-BD59-A6C34878D82A}">
                    <a16:rowId xmlns:a16="http://schemas.microsoft.com/office/drawing/2014/main" val="3252512344"/>
                  </a:ext>
                </a:extLst>
              </a:tr>
              <a:tr h="370840">
                <a:tc>
                  <a:txBody>
                    <a:bodyPr/>
                    <a:lstStyle/>
                    <a:p>
                      <a:pPr algn="ctr" latinLnBrk="1"/>
                      <a:r>
                        <a:rPr lang="ko-KR" altLang="en-US" sz="700" dirty="0" err="1" smtClean="0">
                          <a:latin typeface="+mn-ea"/>
                          <a:ea typeface="+mn-ea"/>
                        </a:rPr>
                        <a:t>입찰형태</a:t>
                      </a:r>
                      <a:endParaRPr lang="ko-KR" altLang="en-US" sz="700" dirty="0" smtClean="0"/>
                    </a:p>
                  </a:txBody>
                  <a:tcPr anchor="ctr"/>
                </a:tc>
                <a:tc>
                  <a:txBody>
                    <a:bodyPr/>
                    <a:lstStyle/>
                    <a:p>
                      <a:pPr algn="ctr" latinLnBrk="1"/>
                      <a:r>
                        <a:rPr lang="ko-KR" altLang="en-US" sz="700" dirty="0" err="1" smtClean="0">
                          <a:latin typeface="+mn-ea"/>
                          <a:ea typeface="+mn-ea"/>
                        </a:rPr>
                        <a:t>일반입찰</a:t>
                      </a:r>
                      <a:r>
                        <a:rPr lang="en-US" altLang="ko-KR" sz="700" dirty="0" smtClean="0">
                          <a:latin typeface="+mn-ea"/>
                          <a:ea typeface="+mn-ea"/>
                        </a:rPr>
                        <a:t>, </a:t>
                      </a:r>
                      <a:r>
                        <a:rPr lang="ko-KR" altLang="en-US" sz="700" dirty="0" smtClean="0">
                          <a:latin typeface="+mn-ea"/>
                          <a:ea typeface="+mn-ea"/>
                        </a:rPr>
                        <a:t>전자입찰</a:t>
                      </a:r>
                      <a:r>
                        <a:rPr lang="en-US" altLang="ko-KR" sz="700" dirty="0" smtClean="0">
                          <a:latin typeface="+mn-ea"/>
                          <a:ea typeface="+mn-ea"/>
                        </a:rPr>
                        <a:t>, OMR</a:t>
                      </a:r>
                      <a:r>
                        <a:rPr lang="ko-KR" altLang="en-US" sz="700" dirty="0" smtClean="0">
                          <a:latin typeface="+mn-ea"/>
                          <a:ea typeface="+mn-ea"/>
                        </a:rPr>
                        <a:t>입찰</a:t>
                      </a:r>
                      <a:r>
                        <a:rPr lang="en-US" altLang="ko-KR" sz="700" dirty="0" smtClean="0">
                          <a:latin typeface="+mn-ea"/>
                          <a:ea typeface="+mn-ea"/>
                        </a:rPr>
                        <a:t>, OCR </a:t>
                      </a:r>
                      <a:r>
                        <a:rPr lang="ko-KR" altLang="en-US" sz="700" dirty="0" smtClean="0">
                          <a:latin typeface="+mn-ea"/>
                          <a:ea typeface="+mn-ea"/>
                        </a:rPr>
                        <a:t>입찰</a:t>
                      </a:r>
                      <a:r>
                        <a:rPr lang="en-US" altLang="ko-KR" sz="700" dirty="0" smtClean="0">
                          <a:latin typeface="+mn-ea"/>
                          <a:ea typeface="+mn-ea"/>
                        </a:rPr>
                        <a:t>, </a:t>
                      </a:r>
                      <a:r>
                        <a:rPr lang="ko-KR" altLang="en-US" sz="700" dirty="0" err="1" smtClean="0">
                          <a:latin typeface="+mn-ea"/>
                          <a:ea typeface="+mn-ea"/>
                        </a:rPr>
                        <a:t>역경매</a:t>
                      </a:r>
                      <a:r>
                        <a:rPr lang="en-US" altLang="ko-KR" sz="700" dirty="0" smtClean="0">
                          <a:latin typeface="+mn-ea"/>
                          <a:ea typeface="+mn-ea"/>
                        </a:rPr>
                        <a:t>, </a:t>
                      </a:r>
                      <a:r>
                        <a:rPr lang="ko-KR" altLang="en-US" sz="700" dirty="0" err="1" smtClean="0">
                          <a:latin typeface="+mn-ea"/>
                          <a:ea typeface="+mn-ea"/>
                        </a:rPr>
                        <a:t>전산입찰</a:t>
                      </a:r>
                      <a:endParaRPr lang="ko-KR" altLang="en-US" sz="700" dirty="0"/>
                    </a:p>
                  </a:txBody>
                  <a:tcPr anchor="ctr"/>
                </a:tc>
                <a:extLst>
                  <a:ext uri="{0D108BD9-81ED-4DB2-BD59-A6C34878D82A}">
                    <a16:rowId xmlns:a16="http://schemas.microsoft.com/office/drawing/2014/main" val="1300407882"/>
                  </a:ext>
                </a:extLst>
              </a:tr>
            </a:tbl>
          </a:graphicData>
        </a:graphic>
      </p:graphicFrame>
      <p:grpSp>
        <p:nvGrpSpPr>
          <p:cNvPr id="96" name="그룹 95"/>
          <p:cNvGrpSpPr/>
          <p:nvPr/>
        </p:nvGrpSpPr>
        <p:grpSpPr>
          <a:xfrm>
            <a:off x="8223250" y="807554"/>
            <a:ext cx="3365500" cy="634511"/>
            <a:chOff x="8223250" y="569392"/>
            <a:chExt cx="3365500" cy="634511"/>
          </a:xfrm>
        </p:grpSpPr>
        <p:sp>
          <p:nvSpPr>
            <p:cNvPr id="97" name="직사각형 96"/>
            <p:cNvSpPr/>
            <p:nvPr/>
          </p:nvSpPr>
          <p:spPr>
            <a:xfrm>
              <a:off x="8223250" y="569392"/>
              <a:ext cx="1682750" cy="2194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98" name="직사각형 97"/>
            <p:cNvSpPr/>
            <p:nvPr/>
          </p:nvSpPr>
          <p:spPr>
            <a:xfrm>
              <a:off x="9906000" y="569392"/>
              <a:ext cx="1682750" cy="63451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t">
              <a:noAutofit/>
            </a:bodyPr>
            <a:lstStyle/>
            <a:p>
              <a:pPr marL="228600" indent="-228600">
                <a:buAutoNum type="arabicPeriod"/>
              </a:pPr>
              <a:r>
                <a:rPr lang="ko-KR" altLang="en-US" sz="700" dirty="0" smtClean="0"/>
                <a:t>표시 레이블 항목 추가</a:t>
              </a:r>
              <a:endParaRPr lang="en-US" altLang="ko-KR" sz="700" dirty="0" smtClean="0"/>
            </a:p>
          </p:txBody>
        </p:sp>
      </p:grpSp>
    </p:spTree>
    <p:extLst>
      <p:ext uri="{BB962C8B-B14F-4D97-AF65-F5344CB8AC3E}">
        <p14:creationId xmlns:p14="http://schemas.microsoft.com/office/powerpoint/2010/main" val="370112058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a:xfrm>
            <a:off x="7090845" y="1497761"/>
            <a:ext cx="2300284" cy="4981517"/>
          </a:xfrm>
        </p:spPr>
        <p:txBody>
          <a:bodyPr/>
          <a:lstStyle/>
          <a:p>
            <a:pPr marL="228600" indent="-228600">
              <a:buFont typeface="+mj-lt"/>
              <a:buAutoNum type="arabicPeriod"/>
            </a:pPr>
            <a:r>
              <a:rPr lang="ko-KR" altLang="en-US" sz="800" dirty="0"/>
              <a:t>상세정보 화면</a:t>
            </a:r>
            <a:r>
              <a:rPr lang="en-US" altLang="ko-KR" sz="800" dirty="0"/>
              <a:t> </a:t>
            </a:r>
            <a:r>
              <a:rPr lang="ko-KR" altLang="en-US" sz="800" dirty="0" smtClean="0"/>
              <a:t>세부 </a:t>
            </a:r>
            <a:r>
              <a:rPr lang="ko-KR" altLang="en-US" sz="800" dirty="0"/>
              <a:t>내역 표시</a:t>
            </a:r>
            <a:r>
              <a:rPr lang="en-US" altLang="ko-KR" sz="800" dirty="0"/>
              <a:t/>
            </a:r>
            <a:br>
              <a:rPr lang="en-US" altLang="ko-KR" sz="800" dirty="0"/>
            </a:br>
            <a:r>
              <a:rPr lang="en-US" altLang="ko-KR" sz="800" dirty="0"/>
              <a:t>- </a:t>
            </a:r>
            <a:r>
              <a:rPr lang="ko-KR" altLang="en-US" sz="800" dirty="0"/>
              <a:t>표시 내역이 없는 항목은 숨김</a:t>
            </a:r>
            <a:endParaRPr lang="en-US" altLang="ko-KR" sz="800" dirty="0"/>
          </a:p>
          <a:p>
            <a:pPr marL="228600" indent="-228600">
              <a:buFont typeface="+mj-lt"/>
              <a:buAutoNum type="arabicPeriod"/>
            </a:pPr>
            <a:r>
              <a:rPr lang="ko-KR" altLang="en-US" sz="800" dirty="0"/>
              <a:t>버튼 노출 및 클릭 시 해당 내역 </a:t>
            </a:r>
            <a:r>
              <a:rPr lang="ko-KR" altLang="en-US" sz="800" dirty="0" smtClean="0"/>
              <a:t>표시</a:t>
            </a:r>
            <a:r>
              <a:rPr lang="en-US" altLang="ko-KR" sz="800" dirty="0" smtClean="0"/>
              <a:t/>
            </a:r>
            <a:br>
              <a:rPr lang="en-US" altLang="ko-KR" sz="800" dirty="0" smtClean="0"/>
            </a:br>
            <a:r>
              <a:rPr lang="en-US" altLang="ko-KR" sz="800" dirty="0" smtClean="0"/>
              <a:t>-</a:t>
            </a:r>
            <a:r>
              <a:rPr lang="en-US" altLang="ko-KR" sz="800" dirty="0">
                <a:solidFill>
                  <a:srgbClr val="000000"/>
                </a:solidFill>
                <a:latin typeface="맑은 고딕" panose="020B0503020000020004" pitchFamily="50" charset="-127"/>
              </a:rPr>
              <a:t> </a:t>
            </a:r>
            <a:r>
              <a:rPr lang="en-US" altLang="ko-KR" sz="800" dirty="0" smtClean="0">
                <a:solidFill>
                  <a:srgbClr val="000000"/>
                </a:solidFill>
                <a:latin typeface="맑은 고딕" panose="020B0503020000020004" pitchFamily="50" charset="-127"/>
              </a:rPr>
              <a:t>MUI-BD-01-M07 </a:t>
            </a:r>
            <a:r>
              <a:rPr lang="ko-KR" altLang="en-US" sz="800" dirty="0" smtClean="0">
                <a:solidFill>
                  <a:srgbClr val="000000"/>
                </a:solidFill>
                <a:latin typeface="맑은 고딕" panose="020B0503020000020004" pitchFamily="50" charset="-127"/>
              </a:rPr>
              <a:t>화면이동</a:t>
            </a:r>
            <a:endParaRPr lang="en-US" altLang="ko-KR" sz="800" dirty="0" smtClean="0">
              <a:solidFill>
                <a:srgbClr val="000000"/>
              </a:solidFill>
              <a:latin typeface="맑은 고딕" panose="020B0503020000020004" pitchFamily="50" charset="-127"/>
            </a:endParaRPr>
          </a:p>
          <a:p>
            <a:pPr marL="228600" indent="-228600">
              <a:buFont typeface="+mj-lt"/>
              <a:buAutoNum type="arabicPeriod"/>
            </a:pPr>
            <a:r>
              <a:rPr lang="ko-KR" altLang="en-US" sz="800" dirty="0" smtClean="0"/>
              <a:t>작성한 입찰의 진행 상태 확인</a:t>
            </a:r>
            <a:r>
              <a:rPr lang="en-US" altLang="ko-KR" sz="800" dirty="0" smtClean="0"/>
              <a:t>.</a:t>
            </a:r>
            <a:br>
              <a:rPr lang="en-US" altLang="ko-KR" sz="800" dirty="0" smtClean="0"/>
            </a:br>
            <a:r>
              <a:rPr lang="en-US" altLang="ko-KR" sz="800" dirty="0" smtClean="0"/>
              <a:t>- 3-1] </a:t>
            </a:r>
            <a:r>
              <a:rPr lang="ko-KR" altLang="en-US" sz="800" dirty="0" smtClean="0"/>
              <a:t>입찰참가신청서 </a:t>
            </a:r>
            <a:r>
              <a:rPr lang="ko-KR" altLang="en-US" sz="800" dirty="0" err="1" smtClean="0"/>
              <a:t>상태값</a:t>
            </a:r>
            <a:r>
              <a:rPr lang="en-US" altLang="ko-KR" sz="800" dirty="0" smtClean="0"/>
              <a:t/>
            </a:r>
            <a:br>
              <a:rPr lang="en-US" altLang="ko-KR" sz="800" dirty="0" smtClean="0"/>
            </a:br>
            <a:r>
              <a:rPr lang="en-US" altLang="ko-KR" sz="800" dirty="0" smtClean="0"/>
              <a:t>:</a:t>
            </a:r>
            <a:r>
              <a:rPr lang="ko-KR" altLang="en-US" sz="800" dirty="0" smtClean="0"/>
              <a:t>신청</a:t>
            </a:r>
            <a:r>
              <a:rPr lang="en-US" altLang="ko-KR" sz="800" dirty="0" smtClean="0"/>
              <a:t>(</a:t>
            </a:r>
            <a:r>
              <a:rPr lang="en-US" altLang="ko-KR" sz="800" dirty="0" smtClean="0">
                <a:solidFill>
                  <a:srgbClr val="000000"/>
                </a:solidFill>
                <a:latin typeface="맑은 고딕" panose="020B0503020000020004" pitchFamily="50" charset="-127"/>
              </a:rPr>
              <a:t>MUI-BD-04-M01)</a:t>
            </a:r>
            <a:r>
              <a:rPr lang="en-US" altLang="ko-KR" sz="800" dirty="0" smtClean="0"/>
              <a:t/>
            </a:r>
            <a:br>
              <a:rPr lang="en-US" altLang="ko-KR" sz="800" dirty="0" smtClean="0"/>
            </a:br>
            <a:r>
              <a:rPr lang="en-US" altLang="ko-KR" sz="800" dirty="0" smtClean="0"/>
              <a:t>:</a:t>
            </a:r>
            <a:r>
              <a:rPr lang="ko-KR" altLang="en-US" sz="800" dirty="0" err="1" smtClean="0"/>
              <a:t>등록불가</a:t>
            </a:r>
            <a:r>
              <a:rPr lang="en-US" altLang="ko-KR" sz="800" dirty="0" smtClean="0"/>
              <a:t>, </a:t>
            </a:r>
            <a:r>
              <a:rPr lang="ko-KR" altLang="en-US" sz="800" dirty="0" err="1" smtClean="0"/>
              <a:t>등록확정</a:t>
            </a:r>
            <a:r>
              <a:rPr lang="en-US" altLang="ko-KR" sz="800" dirty="0" smtClean="0"/>
              <a:t>, </a:t>
            </a:r>
            <a:r>
              <a:rPr lang="ko-KR" altLang="en-US" sz="800" dirty="0" smtClean="0"/>
              <a:t>반려</a:t>
            </a:r>
            <a:r>
              <a:rPr lang="en-US" altLang="ko-KR" sz="800" dirty="0" smtClean="0"/>
              <a:t>(</a:t>
            </a:r>
            <a:r>
              <a:rPr lang="en-US" altLang="ko-KR" sz="800" dirty="0" smtClean="0">
                <a:latin typeface="+mn-ea"/>
              </a:rPr>
              <a:t>MUI-BD-03-M05</a:t>
            </a:r>
            <a:r>
              <a:rPr lang="en-US" altLang="ko-KR" sz="800" dirty="0" smtClean="0"/>
              <a:t>)</a:t>
            </a:r>
            <a:br>
              <a:rPr lang="en-US" altLang="ko-KR" sz="800" dirty="0" smtClean="0"/>
            </a:br>
            <a:r>
              <a:rPr lang="en-US" altLang="ko-KR" sz="800" dirty="0" smtClean="0"/>
              <a:t>:</a:t>
            </a:r>
            <a:r>
              <a:rPr lang="ko-KR" altLang="en-US" sz="800" dirty="0" err="1" smtClean="0"/>
              <a:t>신청완료</a:t>
            </a:r>
            <a:r>
              <a:rPr lang="en-US" altLang="ko-KR" sz="800" dirty="0" smtClean="0"/>
              <a:t>, </a:t>
            </a:r>
            <a:r>
              <a:rPr lang="ko-KR" altLang="en-US" sz="800" dirty="0" smtClean="0"/>
              <a:t>미동의</a:t>
            </a:r>
            <a:r>
              <a:rPr lang="en-US" altLang="ko-KR" sz="800" dirty="0" smtClean="0"/>
              <a:t>,  </a:t>
            </a:r>
            <a:r>
              <a:rPr lang="ko-KR" altLang="en-US" sz="800" dirty="0" err="1" smtClean="0"/>
              <a:t>동의완료</a:t>
            </a:r>
            <a:r>
              <a:rPr lang="en-US" altLang="ko-KR" sz="800" dirty="0" smtClean="0"/>
              <a:t>(MUI-BD-04-M22)</a:t>
            </a:r>
            <a:br>
              <a:rPr lang="en-US" altLang="ko-KR" sz="800" dirty="0" smtClean="0"/>
            </a:br>
            <a:r>
              <a:rPr lang="en-US" altLang="ko-KR" sz="800" dirty="0" smtClean="0"/>
              <a:t/>
            </a:r>
            <a:br>
              <a:rPr lang="en-US" altLang="ko-KR" sz="800" dirty="0" smtClean="0"/>
            </a:br>
            <a:r>
              <a:rPr lang="en-US" altLang="ko-KR" sz="800" dirty="0" smtClean="0"/>
              <a:t>- 3-2] </a:t>
            </a:r>
            <a:r>
              <a:rPr lang="ko-KR" altLang="en-US" sz="800" dirty="0" smtClean="0"/>
              <a:t>입찰서 </a:t>
            </a:r>
            <a:r>
              <a:rPr lang="ko-KR" altLang="en-US" sz="800" dirty="0" err="1" smtClean="0"/>
              <a:t>상태값</a:t>
            </a:r>
            <a:r>
              <a:rPr lang="en-US" altLang="ko-KR" sz="800" dirty="0" smtClean="0"/>
              <a:t/>
            </a:r>
            <a:br>
              <a:rPr lang="en-US" altLang="ko-KR" sz="800" dirty="0" smtClean="0"/>
            </a:br>
            <a:r>
              <a:rPr lang="en-US" altLang="ko-KR" sz="800" dirty="0" smtClean="0"/>
              <a:t>:</a:t>
            </a:r>
            <a:r>
              <a:rPr lang="ko-KR" altLang="en-US" sz="800" dirty="0" smtClean="0"/>
              <a:t>제출</a:t>
            </a:r>
            <a:r>
              <a:rPr lang="en-US" altLang="ko-KR" sz="800" dirty="0" smtClean="0"/>
              <a:t> (</a:t>
            </a:r>
            <a:r>
              <a:rPr lang="en-US" altLang="ko-KR" sz="800" dirty="0" smtClean="0">
                <a:solidFill>
                  <a:srgbClr val="000000"/>
                </a:solidFill>
                <a:latin typeface="맑은 고딕" panose="020B0503020000020004" pitchFamily="50" charset="-127"/>
              </a:rPr>
              <a:t>MUI-BD-06-M01)</a:t>
            </a:r>
            <a:r>
              <a:rPr lang="en-US" altLang="ko-KR" sz="800" dirty="0" smtClean="0"/>
              <a:t/>
            </a:r>
            <a:br>
              <a:rPr lang="en-US" altLang="ko-KR" sz="800" dirty="0" smtClean="0"/>
            </a:br>
            <a:r>
              <a:rPr lang="en-US" altLang="ko-KR" sz="800" dirty="0" smtClean="0"/>
              <a:t>:</a:t>
            </a:r>
            <a:r>
              <a:rPr lang="ko-KR" altLang="en-US" sz="800" dirty="0" err="1" smtClean="0"/>
              <a:t>신청완료</a:t>
            </a:r>
            <a:r>
              <a:rPr lang="en-US" altLang="ko-KR" sz="800" dirty="0"/>
              <a:t>(MUI-BD-04-M22</a:t>
            </a:r>
            <a:r>
              <a:rPr lang="en-US" altLang="ko-KR" sz="800" dirty="0" smtClean="0"/>
              <a:t>)</a:t>
            </a:r>
            <a:br>
              <a:rPr lang="en-US" altLang="ko-KR" sz="800" dirty="0" smtClean="0"/>
            </a:br>
            <a:r>
              <a:rPr lang="en-US" altLang="ko-KR" sz="800" dirty="0" smtClean="0"/>
              <a:t>:</a:t>
            </a:r>
            <a:r>
              <a:rPr lang="ko-KR" altLang="en-US" sz="800" dirty="0" smtClean="0"/>
              <a:t>완료</a:t>
            </a:r>
            <a:r>
              <a:rPr lang="en-US" altLang="ko-KR" sz="800" dirty="0" smtClean="0"/>
              <a:t>(</a:t>
            </a:r>
            <a:r>
              <a:rPr lang="en-US" altLang="ko-KR" sz="800" dirty="0" smtClean="0">
                <a:latin typeface="+mn-ea"/>
              </a:rPr>
              <a:t>MUI-BD-09-M01)</a:t>
            </a:r>
            <a:r>
              <a:rPr lang="en-US" altLang="ko-KR" sz="800" dirty="0" smtClean="0"/>
              <a:t/>
            </a:r>
            <a:br>
              <a:rPr lang="en-US" altLang="ko-KR" sz="800" dirty="0" smtClean="0"/>
            </a:br>
            <a:r>
              <a:rPr lang="en-US" altLang="ko-KR" sz="800" dirty="0" smtClean="0"/>
              <a:t>:</a:t>
            </a:r>
            <a:r>
              <a:rPr lang="ko-KR" altLang="en-US" sz="800" dirty="0" err="1" smtClean="0"/>
              <a:t>입찰취소</a:t>
            </a:r>
            <a:r>
              <a:rPr lang="en-US" altLang="ko-KR" sz="800" dirty="0" smtClean="0"/>
              <a:t>(</a:t>
            </a:r>
            <a:r>
              <a:rPr lang="en-US" altLang="ko-KR" sz="800" dirty="0" smtClean="0">
                <a:latin typeface="+mn-ea"/>
              </a:rPr>
              <a:t>MUI-BD-03-P05)</a:t>
            </a:r>
            <a:r>
              <a:rPr lang="en-US" altLang="ko-KR" sz="800" dirty="0" smtClean="0"/>
              <a:t/>
            </a:r>
            <a:br>
              <a:rPr lang="en-US" altLang="ko-KR" sz="800" dirty="0" smtClean="0"/>
            </a:br>
            <a:r>
              <a:rPr lang="en-US" altLang="ko-KR" sz="800" dirty="0" smtClean="0"/>
              <a:t>:</a:t>
            </a:r>
            <a:r>
              <a:rPr lang="ko-KR" altLang="en-US" sz="800" dirty="0" err="1" smtClean="0"/>
              <a:t>입찰포기</a:t>
            </a:r>
            <a:r>
              <a:rPr lang="en-US" altLang="ko-KR" sz="800" dirty="0" smtClean="0"/>
              <a:t>(</a:t>
            </a:r>
            <a:r>
              <a:rPr lang="en-US" altLang="ko-KR" sz="800" dirty="0" smtClean="0">
                <a:latin typeface="+mn-ea"/>
              </a:rPr>
              <a:t>MUI-BD-03-P08</a:t>
            </a:r>
            <a:r>
              <a:rPr lang="en-US" altLang="ko-KR" sz="800" dirty="0" smtClean="0"/>
              <a:t>)</a:t>
            </a:r>
            <a:br>
              <a:rPr lang="en-US" altLang="ko-KR" sz="800" dirty="0" smtClean="0"/>
            </a:br>
            <a:r>
              <a:rPr lang="en-US" altLang="ko-KR" sz="800" dirty="0" smtClean="0"/>
              <a:t/>
            </a:r>
            <a:br>
              <a:rPr lang="en-US" altLang="ko-KR" sz="800" dirty="0" smtClean="0"/>
            </a:br>
            <a:r>
              <a:rPr lang="en-US" altLang="ko-KR" sz="800" dirty="0" smtClean="0"/>
              <a:t>- 3-3] </a:t>
            </a:r>
            <a:r>
              <a:rPr lang="ko-KR" altLang="en-US" sz="800" dirty="0" smtClean="0"/>
              <a:t>사전심사 </a:t>
            </a:r>
            <a:r>
              <a:rPr lang="ko-KR" altLang="en-US" sz="800" dirty="0" err="1" smtClean="0"/>
              <a:t>상태값</a:t>
            </a:r>
            <a:r>
              <a:rPr lang="en-US" altLang="ko-KR" sz="800" dirty="0" smtClean="0"/>
              <a:t/>
            </a:r>
            <a:br>
              <a:rPr lang="en-US" altLang="ko-KR" sz="800" dirty="0" smtClean="0"/>
            </a:br>
            <a:r>
              <a:rPr lang="en-US" altLang="ko-KR" sz="800" dirty="0" smtClean="0"/>
              <a:t>: </a:t>
            </a:r>
            <a:r>
              <a:rPr lang="ko-KR" altLang="en-US" sz="800" dirty="0" smtClean="0"/>
              <a:t>신청 </a:t>
            </a:r>
            <a:r>
              <a:rPr lang="en-US" altLang="ko-KR" sz="800" dirty="0" smtClean="0"/>
              <a:t>(</a:t>
            </a:r>
            <a:r>
              <a:rPr lang="en-US" altLang="ko-KR" sz="800" dirty="0" smtClean="0">
                <a:solidFill>
                  <a:srgbClr val="000000"/>
                </a:solidFill>
                <a:latin typeface="맑은 고딕" panose="020B0503020000020004" pitchFamily="50" charset="-127"/>
              </a:rPr>
              <a:t>MUI-BD-02-M01)</a:t>
            </a:r>
            <a:r>
              <a:rPr lang="en-US" altLang="ko-KR" sz="800" dirty="0" smtClean="0"/>
              <a:t/>
            </a:r>
            <a:br>
              <a:rPr lang="en-US" altLang="ko-KR" sz="800" dirty="0" smtClean="0"/>
            </a:br>
            <a:r>
              <a:rPr lang="en-US" altLang="ko-KR" sz="800" dirty="0" smtClean="0"/>
              <a:t>:</a:t>
            </a:r>
            <a:r>
              <a:rPr lang="ko-KR" altLang="en-US" sz="800" dirty="0"/>
              <a:t> </a:t>
            </a:r>
            <a:r>
              <a:rPr lang="ko-KR" altLang="en-US" sz="800" dirty="0" err="1" smtClean="0"/>
              <a:t>신청중</a:t>
            </a:r>
            <a:r>
              <a:rPr lang="ko-KR" altLang="en-US" sz="800" dirty="0" smtClean="0"/>
              <a:t> </a:t>
            </a:r>
            <a:r>
              <a:rPr lang="en-US" altLang="ko-KR" sz="800" dirty="0" smtClean="0"/>
              <a:t>(</a:t>
            </a:r>
            <a:r>
              <a:rPr lang="en-US" altLang="ko-KR" sz="800" dirty="0">
                <a:solidFill>
                  <a:srgbClr val="000000"/>
                </a:solidFill>
                <a:latin typeface="맑은 고딕" panose="020B0503020000020004" pitchFamily="50" charset="-127"/>
              </a:rPr>
              <a:t>MUI-BD-02-M01</a:t>
            </a:r>
            <a:r>
              <a:rPr lang="en-US" altLang="ko-KR" sz="800" dirty="0" smtClean="0"/>
              <a:t>) – </a:t>
            </a:r>
            <a:r>
              <a:rPr lang="ko-KR" altLang="en-US" sz="800" dirty="0" smtClean="0"/>
              <a:t>작성된 내용을 불러와서 표시</a:t>
            </a:r>
            <a:r>
              <a:rPr lang="en-US" altLang="ko-KR" sz="800" dirty="0" smtClean="0"/>
              <a:t>. </a:t>
            </a:r>
            <a:r>
              <a:rPr lang="ko-KR" altLang="en-US" sz="800" dirty="0" smtClean="0"/>
              <a:t>수정 불가</a:t>
            </a:r>
            <a:r>
              <a:rPr lang="en-US" altLang="ko-KR" sz="800" dirty="0" smtClean="0"/>
              <a:t/>
            </a:r>
            <a:br>
              <a:rPr lang="en-US" altLang="ko-KR" sz="800" dirty="0" smtClean="0"/>
            </a:br>
            <a:r>
              <a:rPr lang="en-US" altLang="ko-KR" sz="800" dirty="0" smtClean="0"/>
              <a:t>: </a:t>
            </a:r>
            <a:r>
              <a:rPr lang="ko-KR" altLang="en-US" sz="800" dirty="0" smtClean="0"/>
              <a:t>결과 </a:t>
            </a:r>
            <a:r>
              <a:rPr lang="en-US" altLang="ko-KR" sz="800" dirty="0" smtClean="0"/>
              <a:t>(</a:t>
            </a:r>
            <a:r>
              <a:rPr lang="en-US" altLang="ko-KR" sz="800" dirty="0">
                <a:solidFill>
                  <a:srgbClr val="000000"/>
                </a:solidFill>
                <a:latin typeface="맑은 고딕" panose="020B0503020000020004" pitchFamily="50" charset="-127"/>
              </a:rPr>
              <a:t>MUI-BD-02-M03</a:t>
            </a:r>
            <a:r>
              <a:rPr lang="en-US" altLang="ko-KR" sz="800" dirty="0" smtClean="0">
                <a:latin typeface="+mn-ea"/>
              </a:rPr>
              <a:t>)</a:t>
            </a:r>
            <a:r>
              <a:rPr lang="en-US" altLang="ko-KR" sz="800" dirty="0" smtClean="0"/>
              <a:t/>
            </a:r>
            <a:br>
              <a:rPr lang="en-US" altLang="ko-KR" sz="800" dirty="0" smtClean="0"/>
            </a:br>
            <a:r>
              <a:rPr lang="en-US" altLang="ko-KR" sz="800" dirty="0" smtClean="0"/>
              <a:t/>
            </a:r>
            <a:br>
              <a:rPr lang="en-US" altLang="ko-KR" sz="800" dirty="0" smtClean="0"/>
            </a:br>
            <a:r>
              <a:rPr lang="en-US" altLang="ko-KR" sz="800" dirty="0" smtClean="0"/>
              <a:t>- 3-4] </a:t>
            </a:r>
            <a:r>
              <a:rPr lang="ko-KR" altLang="en-US" sz="800" dirty="0" smtClean="0"/>
              <a:t>기술평가 </a:t>
            </a:r>
            <a:r>
              <a:rPr lang="ko-KR" altLang="en-US" sz="800" dirty="0" err="1" smtClean="0"/>
              <a:t>상태값</a:t>
            </a:r>
            <a:r>
              <a:rPr lang="en-US" altLang="ko-KR" sz="800" dirty="0" smtClean="0"/>
              <a:t/>
            </a:r>
            <a:br>
              <a:rPr lang="en-US" altLang="ko-KR" sz="800" dirty="0" smtClean="0"/>
            </a:br>
            <a:r>
              <a:rPr lang="en-US" altLang="ko-KR" sz="800" dirty="0" smtClean="0"/>
              <a:t>: </a:t>
            </a:r>
            <a:r>
              <a:rPr lang="ko-KR" altLang="en-US" sz="800" dirty="0" smtClean="0"/>
              <a:t>신청</a:t>
            </a:r>
            <a:r>
              <a:rPr lang="en-US" altLang="ko-KR" sz="800" dirty="0" smtClean="0"/>
              <a:t/>
            </a:r>
            <a:br>
              <a:rPr lang="en-US" altLang="ko-KR" sz="800" dirty="0" smtClean="0"/>
            </a:br>
            <a:r>
              <a:rPr lang="en-US" altLang="ko-KR" sz="800" dirty="0" smtClean="0"/>
              <a:t>: </a:t>
            </a:r>
            <a:r>
              <a:rPr lang="ko-KR" altLang="en-US" sz="800" dirty="0" smtClean="0"/>
              <a:t>결과 </a:t>
            </a:r>
            <a:r>
              <a:rPr lang="en-US" altLang="ko-KR" sz="800" dirty="0" smtClean="0"/>
              <a:t>(</a:t>
            </a:r>
            <a:r>
              <a:rPr lang="en-US" altLang="ko-KR" sz="800" dirty="0" smtClean="0">
                <a:latin typeface="+mn-ea"/>
              </a:rPr>
              <a:t>MUI-BD-07-P01)</a:t>
            </a:r>
            <a:r>
              <a:rPr lang="en-US" altLang="ko-KR" sz="800" dirty="0"/>
              <a:t/>
            </a:r>
            <a:br>
              <a:rPr lang="en-US" altLang="ko-KR" sz="800" dirty="0"/>
            </a:br>
            <a:r>
              <a:rPr lang="en-US" altLang="ko-KR" sz="800" dirty="0" smtClean="0"/>
              <a:t/>
            </a:r>
            <a:br>
              <a:rPr lang="en-US" altLang="ko-KR" sz="800" dirty="0" smtClean="0"/>
            </a:br>
            <a:r>
              <a:rPr lang="en-US" altLang="ko-KR" sz="800" dirty="0" smtClean="0"/>
              <a:t>- 3-5] </a:t>
            </a:r>
            <a:r>
              <a:rPr lang="ko-KR" altLang="en-US" sz="800" dirty="0" smtClean="0"/>
              <a:t>생산능력서류 </a:t>
            </a:r>
            <a:r>
              <a:rPr lang="ko-KR" altLang="en-US" sz="800" dirty="0" err="1" smtClean="0"/>
              <a:t>상태값</a:t>
            </a:r>
            <a:r>
              <a:rPr lang="en-US" altLang="ko-KR" sz="800" dirty="0" smtClean="0"/>
              <a:t/>
            </a:r>
            <a:br>
              <a:rPr lang="en-US" altLang="ko-KR" sz="800" dirty="0" smtClean="0"/>
            </a:br>
            <a:r>
              <a:rPr lang="en-US" altLang="ko-KR" sz="800" dirty="0" smtClean="0"/>
              <a:t>: </a:t>
            </a:r>
            <a:r>
              <a:rPr lang="ko-KR" altLang="en-US" sz="800" dirty="0" smtClean="0"/>
              <a:t>신청</a:t>
            </a:r>
            <a:r>
              <a:rPr lang="en-US" altLang="ko-KR" sz="800" dirty="0" smtClean="0"/>
              <a:t/>
            </a:r>
            <a:br>
              <a:rPr lang="en-US" altLang="ko-KR" sz="800" dirty="0" smtClean="0"/>
            </a:br>
            <a:r>
              <a:rPr lang="en-US" altLang="ko-KR" sz="800" dirty="0" smtClean="0"/>
              <a:t>: </a:t>
            </a:r>
            <a:r>
              <a:rPr lang="ko-KR" altLang="en-US" sz="800" dirty="0" smtClean="0"/>
              <a:t>제출 </a:t>
            </a:r>
            <a:r>
              <a:rPr lang="en-US" altLang="ko-KR" sz="800" dirty="0" smtClean="0"/>
              <a:t>(</a:t>
            </a:r>
            <a:r>
              <a:rPr lang="en-US" altLang="ko-KR" sz="800" dirty="0" smtClean="0">
                <a:latin typeface="+mn-ea"/>
              </a:rPr>
              <a:t>MUI-BD-03-P06)</a:t>
            </a:r>
            <a:r>
              <a:rPr lang="en-US" altLang="ko-KR" sz="800" dirty="0"/>
              <a:t/>
            </a:r>
            <a:br>
              <a:rPr lang="en-US" altLang="ko-KR" sz="800" dirty="0"/>
            </a:br>
            <a:r>
              <a:rPr lang="en-US" altLang="ko-KR" sz="800" dirty="0"/>
              <a:t/>
            </a:r>
            <a:br>
              <a:rPr lang="en-US" altLang="ko-KR" sz="800" dirty="0"/>
            </a:br>
            <a:r>
              <a:rPr lang="en-US" altLang="ko-KR" sz="800" dirty="0" smtClean="0">
                <a:latin typeface="+mn-ea"/>
              </a:rPr>
              <a:t/>
            </a:r>
            <a:br>
              <a:rPr lang="en-US" altLang="ko-KR" sz="800" dirty="0" smtClean="0">
                <a:latin typeface="+mn-ea"/>
              </a:rPr>
            </a:br>
            <a:endParaRPr lang="en-US" altLang="ko-KR" sz="800" dirty="0" smtClean="0">
              <a:latin typeface="+mn-ea"/>
            </a:endParaRPr>
          </a:p>
          <a:p>
            <a:pPr marL="228600" indent="-228600">
              <a:buFont typeface="+mj-lt"/>
              <a:buAutoNum type="arabicPeriod"/>
            </a:pPr>
            <a:r>
              <a:rPr lang="ko-KR" altLang="en-US" sz="800" dirty="0" err="1" smtClean="0"/>
              <a:t>플로팅버튼영역</a:t>
            </a:r>
            <a:r>
              <a:rPr lang="en-US" altLang="ko-KR" sz="800" dirty="0" smtClean="0"/>
              <a:t/>
            </a:r>
            <a:br>
              <a:rPr lang="en-US" altLang="ko-KR" sz="800" dirty="0" smtClean="0"/>
            </a:br>
            <a:r>
              <a:rPr lang="en-US" altLang="ko-KR" sz="800" dirty="0" smtClean="0"/>
              <a:t>- 3</a:t>
            </a:r>
            <a:r>
              <a:rPr lang="ko-KR" altLang="en-US" sz="800" dirty="0" smtClean="0"/>
              <a:t>번 </a:t>
            </a:r>
            <a:r>
              <a:rPr lang="ko-KR" altLang="en-US" sz="800" dirty="0" err="1" smtClean="0"/>
              <a:t>상태값에</a:t>
            </a:r>
            <a:r>
              <a:rPr lang="ko-KR" altLang="en-US" sz="800" dirty="0" smtClean="0"/>
              <a:t> 따라 버튼 노출 </a:t>
            </a:r>
            <a:r>
              <a:rPr lang="ko-KR" altLang="en-US" sz="800" dirty="0" err="1" smtClean="0"/>
              <a:t>여부결정</a:t>
            </a:r>
            <a:r>
              <a:rPr lang="en-US" altLang="ko-KR" sz="800" dirty="0" smtClean="0"/>
              <a:t/>
            </a:r>
            <a:br>
              <a:rPr lang="en-US" altLang="ko-KR" sz="800" dirty="0" smtClean="0"/>
            </a:br>
            <a:r>
              <a:rPr lang="en-US" altLang="ko-KR" sz="800" dirty="0" smtClean="0"/>
              <a:t>- </a:t>
            </a:r>
            <a:r>
              <a:rPr lang="ko-KR" altLang="en-US" sz="800" dirty="0" smtClean="0"/>
              <a:t>현재 명확한 조건은 알 수 없음</a:t>
            </a:r>
            <a:endParaRPr lang="ko-KR" altLang="en-US" sz="800" dirty="0"/>
          </a:p>
          <a:p>
            <a:pPr marL="228600" indent="-228600">
              <a:buFont typeface="+mj-lt"/>
              <a:buAutoNum type="arabicPeriod"/>
            </a:pPr>
            <a:endParaRPr lang="en-US" altLang="ko-KR" sz="800" dirty="0" smtClean="0"/>
          </a:p>
        </p:txBody>
      </p:sp>
      <p:sp>
        <p:nvSpPr>
          <p:cNvPr id="2" name="슬라이드 번호 개체 틀 1"/>
          <p:cNvSpPr>
            <a:spLocks noGrp="1"/>
          </p:cNvSpPr>
          <p:nvPr>
            <p:ph type="sldNum" sz="quarter" idx="4"/>
          </p:nvPr>
        </p:nvSpPr>
        <p:spPr/>
        <p:txBody>
          <a:bodyPr/>
          <a:lstStyle/>
          <a:p>
            <a:fld id="{34C8E023-7346-48FC-AB24-9A3388C53208}" type="slidenum">
              <a:rPr lang="ko-KR" altLang="en-US" smtClean="0"/>
              <a:pPr/>
              <a:t>168</a:t>
            </a:fld>
            <a:endParaRPr lang="ko-KR" altLang="en-US" dirty="0"/>
          </a:p>
        </p:txBody>
      </p:sp>
      <p:sp>
        <p:nvSpPr>
          <p:cNvPr id="5" name="텍스트 개체 틀 4"/>
          <p:cNvSpPr>
            <a:spLocks noGrp="1"/>
          </p:cNvSpPr>
          <p:nvPr>
            <p:ph type="body" sz="quarter" idx="12"/>
          </p:nvPr>
        </p:nvSpPr>
        <p:spPr/>
        <p:txBody>
          <a:bodyPr/>
          <a:lstStyle/>
          <a:p>
            <a:pPr fontAlgn="ctr"/>
            <a:r>
              <a:rPr lang="ko-KR" altLang="en-US" dirty="0"/>
              <a:t>입찰진행상세</a:t>
            </a:r>
            <a:endParaRPr lang="ko-KR" altLang="en-US" dirty="0">
              <a:latin typeface="+mn-ea"/>
            </a:endParaRPr>
          </a:p>
        </p:txBody>
      </p:sp>
      <p:sp>
        <p:nvSpPr>
          <p:cNvPr id="6" name="텍스트 개체 틀 5"/>
          <p:cNvSpPr>
            <a:spLocks noGrp="1"/>
          </p:cNvSpPr>
          <p:nvPr>
            <p:ph type="body" sz="quarter" idx="13"/>
          </p:nvPr>
        </p:nvSpPr>
        <p:spPr>
          <a:xfrm>
            <a:off x="956623" y="1010025"/>
            <a:ext cx="8434506" cy="193878"/>
          </a:xfrm>
        </p:spPr>
        <p:txBody>
          <a:bodyPr/>
          <a:lstStyle/>
          <a:p>
            <a:r>
              <a:rPr lang="ko-KR" altLang="en-US" dirty="0" smtClean="0"/>
              <a:t>입찰 진행 상세 화면 </a:t>
            </a:r>
            <a:r>
              <a:rPr lang="en-US" altLang="ko-KR" dirty="0" smtClean="0"/>
              <a:t>– </a:t>
            </a:r>
            <a:r>
              <a:rPr lang="ko-KR" altLang="en-US" dirty="0" smtClean="0"/>
              <a:t>입찰</a:t>
            </a:r>
            <a:r>
              <a:rPr lang="en-US" altLang="ko-KR" dirty="0" smtClean="0"/>
              <a:t>, </a:t>
            </a:r>
            <a:r>
              <a:rPr lang="ko-KR" altLang="en-US" dirty="0" smtClean="0"/>
              <a:t>사전심사를 진행한 상세 정보 표시</a:t>
            </a:r>
            <a:endParaRPr lang="ko-KR" altLang="en-US" dirty="0"/>
          </a:p>
        </p:txBody>
      </p:sp>
      <p:sp>
        <p:nvSpPr>
          <p:cNvPr id="7" name="텍스트 개체 틀 6"/>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a:t>
            </a:r>
          </a:p>
        </p:txBody>
      </p:sp>
      <p:sp>
        <p:nvSpPr>
          <p:cNvPr id="8" name="텍스트 개체 틀 7"/>
          <p:cNvSpPr>
            <a:spLocks noGrp="1"/>
          </p:cNvSpPr>
          <p:nvPr>
            <p:ph type="body" sz="quarter" idx="15"/>
          </p:nvPr>
        </p:nvSpPr>
        <p:spPr/>
        <p:txBody>
          <a:bodyPr lIns="72000" tIns="36000" rIns="72000" bIns="36000"/>
          <a:lstStyle/>
          <a:p>
            <a:pPr fontAlgn="ctr"/>
            <a:r>
              <a:rPr lang="en-US" altLang="ko-KR" dirty="0">
                <a:latin typeface="+mn-ea"/>
              </a:rPr>
              <a:t>MUI-BD-03-M02</a:t>
            </a:r>
            <a:endParaRPr lang="ko-KR" altLang="en-US" dirty="0">
              <a:latin typeface="+mn-ea"/>
            </a:endParaRPr>
          </a:p>
        </p:txBody>
      </p:sp>
      <p:sp>
        <p:nvSpPr>
          <p:cNvPr id="58" name="직사각형 5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80570" y="227612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타원 64">
            <a:extLst>
              <a:ext uri="{FF2B5EF4-FFF2-40B4-BE49-F238E27FC236}">
                <a16:creationId xmlns:a16="http://schemas.microsoft.com/office/drawing/2014/main" id="{37A7FF4F-0EAA-1463-560A-D5EC24416103}"/>
              </a:ext>
            </a:extLst>
          </p:cNvPr>
          <p:cNvSpPr/>
          <p:nvPr/>
        </p:nvSpPr>
        <p:spPr>
          <a:xfrm>
            <a:off x="571127" y="238803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66" name="TextBox 65">
            <a:extLst>
              <a:ext uri="{FF2B5EF4-FFF2-40B4-BE49-F238E27FC236}">
                <a16:creationId xmlns:a16="http://schemas.microsoft.com/office/drawing/2014/main" id="{FFC49AEA-2A8F-250C-A86A-A7751D9706C3}"/>
              </a:ext>
            </a:extLst>
          </p:cNvPr>
          <p:cNvSpPr txBox="1"/>
          <p:nvPr/>
        </p:nvSpPr>
        <p:spPr>
          <a:xfrm>
            <a:off x="817932" y="2994848"/>
            <a:ext cx="670770" cy="107722"/>
          </a:xfrm>
          <a:prstGeom prst="rect">
            <a:avLst/>
          </a:prstGeom>
          <a:noFill/>
        </p:spPr>
        <p:txBody>
          <a:bodyPr wrap="square" lIns="0" tIns="0" rIns="0" bIns="0" rtlCol="0">
            <a:spAutoFit/>
          </a:bodyPr>
          <a:lstStyle/>
          <a:p>
            <a:r>
              <a:rPr lang="ko-KR" altLang="en-US" sz="700" b="1" dirty="0">
                <a:latin typeface="+mn-ea"/>
              </a:rPr>
              <a:t>구분</a:t>
            </a:r>
            <a:endParaRPr lang="en-US" altLang="ko-KR" sz="700" b="1"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1510284" y="2994848"/>
            <a:ext cx="670770" cy="107722"/>
          </a:xfrm>
          <a:prstGeom prst="rect">
            <a:avLst/>
          </a:prstGeom>
          <a:noFill/>
        </p:spPr>
        <p:txBody>
          <a:bodyPr wrap="square" lIns="0" tIns="0" rIns="0" bIns="0" rtlCol="0">
            <a:spAutoFit/>
          </a:bodyPr>
          <a:lstStyle/>
          <a:p>
            <a:r>
              <a:rPr lang="ko-KR" altLang="en-US" sz="700" b="1" dirty="0">
                <a:latin typeface="+mn-ea"/>
              </a:rPr>
              <a:t>내용</a:t>
            </a:r>
            <a:endParaRPr lang="en-US" altLang="ko-KR" sz="700" b="1"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88855" y="32002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817932" y="3211679"/>
            <a:ext cx="963760" cy="2800767"/>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업무구분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 연락처</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err="1">
                <a:latin typeface="+mn-ea"/>
              </a:rPr>
              <a:t>업체구분</a:t>
            </a:r>
            <a:endParaRPr lang="en-US" altLang="ko-KR" sz="700" dirty="0">
              <a:latin typeface="+mn-ea"/>
            </a:endParaRPr>
          </a:p>
          <a:p>
            <a:pPr>
              <a:lnSpc>
                <a:spcPct val="200000"/>
              </a:lnSpc>
            </a:pPr>
            <a:r>
              <a:rPr lang="ko-KR" altLang="en-US" sz="700" dirty="0">
                <a:latin typeface="+mn-ea"/>
              </a:rPr>
              <a:t>입찰참가신청서</a:t>
            </a:r>
            <a:endParaRPr lang="en-US" altLang="ko-KR" sz="700" dirty="0">
              <a:latin typeface="+mn-ea"/>
            </a:endParaRPr>
          </a:p>
          <a:p>
            <a:pPr>
              <a:lnSpc>
                <a:spcPct val="200000"/>
              </a:lnSpc>
            </a:pPr>
            <a:r>
              <a:rPr lang="ko-KR" altLang="en-US" sz="700" dirty="0">
                <a:latin typeface="+mn-ea"/>
              </a:rPr>
              <a:t>입찰서</a:t>
            </a:r>
            <a:endParaRPr lang="en-US" altLang="ko-KR" sz="700" dirty="0">
              <a:latin typeface="+mn-ea"/>
            </a:endParaRPr>
          </a:p>
        </p:txBody>
      </p:sp>
      <p:sp>
        <p:nvSpPr>
          <p:cNvPr id="70" name="TextBox 69">
            <a:extLst>
              <a:ext uri="{FF2B5EF4-FFF2-40B4-BE49-F238E27FC236}">
                <a16:creationId xmlns:a16="http://schemas.microsoft.com/office/drawing/2014/main" id="{FFC49AEA-2A8F-250C-A86A-A7751D9706C3}"/>
              </a:ext>
            </a:extLst>
          </p:cNvPr>
          <p:cNvSpPr txBox="1"/>
          <p:nvPr/>
        </p:nvSpPr>
        <p:spPr>
          <a:xfrm>
            <a:off x="1510284" y="3211679"/>
            <a:ext cx="1814470" cy="280076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ko-KR" altLang="en-US" sz="700" dirty="0">
                <a:latin typeface="+mn-ea"/>
              </a:rPr>
              <a:t>물품</a:t>
            </a:r>
            <a:endParaRPr lang="en-US" altLang="ko-KR" sz="700" dirty="0">
              <a:latin typeface="+mn-ea"/>
            </a:endParaRPr>
          </a:p>
          <a:p>
            <a:pPr>
              <a:lnSpc>
                <a:spcPct val="200000"/>
              </a:lnSpc>
            </a:pPr>
            <a:r>
              <a:rPr lang="en-US" altLang="ko-KR" sz="700" dirty="0">
                <a:latin typeface="+mn-ea"/>
              </a:rPr>
              <a:t>000 000 0000</a:t>
            </a:r>
          </a:p>
          <a:p>
            <a:pPr>
              <a:lnSpc>
                <a:spcPct val="200000"/>
              </a:lnSpc>
            </a:pPr>
            <a:r>
              <a:rPr lang="en-US" altLang="ko-KR" sz="700" dirty="0">
                <a:latin typeface="+mn-ea"/>
              </a:rPr>
              <a:t>00 00 00 00</a:t>
            </a:r>
          </a:p>
          <a:p>
            <a:pPr>
              <a:lnSpc>
                <a:spcPct val="200000"/>
              </a:lnSpc>
            </a:pPr>
            <a:r>
              <a:rPr lang="en-US" altLang="ko-KR" sz="700" dirty="0">
                <a:latin typeface="+mn-ea"/>
              </a:rPr>
              <a:t>00 00 00000</a:t>
            </a:r>
          </a:p>
          <a:p>
            <a:pPr>
              <a:lnSpc>
                <a:spcPct val="200000"/>
              </a:lnSpc>
            </a:pPr>
            <a:r>
              <a:rPr lang="ko-KR" altLang="en-US" sz="700" dirty="0">
                <a:latin typeface="+mn-ea"/>
              </a:rPr>
              <a:t>간편한 </a:t>
            </a:r>
            <a:r>
              <a:rPr lang="ko-KR" altLang="en-US" sz="700" dirty="0" err="1">
                <a:latin typeface="+mn-ea"/>
              </a:rPr>
              <a:t>아침식</a:t>
            </a:r>
            <a:r>
              <a:rPr lang="ko-KR" altLang="en-US" sz="700" dirty="0">
                <a:latin typeface="+mn-ea"/>
              </a:rPr>
              <a:t> 제조 및 납품</a:t>
            </a:r>
            <a:endParaRPr lang="en-US" altLang="ko-KR" sz="700" dirty="0">
              <a:latin typeface="+mn-ea"/>
            </a:endParaRPr>
          </a:p>
          <a:p>
            <a:pPr>
              <a:lnSpc>
                <a:spcPct val="200000"/>
              </a:lnSpc>
            </a:pPr>
            <a:r>
              <a:rPr lang="en-US" altLang="ko-KR" sz="700" dirty="0">
                <a:latin typeface="+mn-ea"/>
              </a:rPr>
              <a:t>0000 0000</a:t>
            </a:r>
          </a:p>
          <a:p>
            <a:pPr>
              <a:lnSpc>
                <a:spcPct val="200000"/>
              </a:lnSpc>
            </a:pPr>
            <a:r>
              <a:rPr lang="en-US" altLang="ko-KR" sz="700" dirty="0">
                <a:latin typeface="+mn-ea"/>
              </a:rPr>
              <a:t>000-0000-0000</a:t>
            </a:r>
          </a:p>
          <a:p>
            <a:pPr>
              <a:lnSpc>
                <a:spcPct val="200000"/>
              </a:lnSpc>
            </a:pPr>
            <a:r>
              <a:rPr lang="ko-KR" altLang="en-US" sz="700" dirty="0">
                <a:latin typeface="+mn-ea"/>
              </a:rPr>
              <a:t>경쟁입찰</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대표</a:t>
            </a:r>
            <a:endParaRPr lang="en-US" altLang="ko-KR" sz="700" dirty="0">
              <a:latin typeface="+mn-ea"/>
            </a:endParaRPr>
          </a:p>
          <a:p>
            <a:pPr>
              <a:lnSpc>
                <a:spcPct val="200000"/>
              </a:lnSpc>
            </a:pPr>
            <a:r>
              <a:rPr lang="ko-KR" altLang="en-US" sz="700" dirty="0">
                <a:latin typeface="+mn-ea"/>
              </a:rPr>
              <a:t>신청 </a:t>
            </a:r>
            <a:r>
              <a:rPr lang="en-US" altLang="ko-KR" sz="700" dirty="0">
                <a:latin typeface="+mn-ea"/>
              </a:rPr>
              <a:t>/ </a:t>
            </a:r>
            <a:r>
              <a:rPr lang="ko-KR" altLang="en-US" sz="700" dirty="0">
                <a:latin typeface="+mn-ea"/>
              </a:rPr>
              <a:t>미동의 </a:t>
            </a:r>
            <a:r>
              <a:rPr lang="en-US" altLang="ko-KR" sz="700" dirty="0">
                <a:latin typeface="+mn-ea"/>
              </a:rPr>
              <a:t>/ </a:t>
            </a:r>
            <a:r>
              <a:rPr lang="ko-KR" altLang="en-US" sz="700" dirty="0" err="1">
                <a:latin typeface="+mn-ea"/>
              </a:rPr>
              <a:t>등록확정</a:t>
            </a:r>
            <a:r>
              <a:rPr lang="ko-KR" altLang="en-US" sz="700" dirty="0">
                <a:latin typeface="+mn-ea"/>
              </a:rPr>
              <a:t> </a:t>
            </a:r>
            <a:r>
              <a:rPr lang="en-US" altLang="ko-KR" sz="700" dirty="0">
                <a:latin typeface="+mn-ea"/>
              </a:rPr>
              <a:t>/ </a:t>
            </a:r>
            <a:r>
              <a:rPr lang="ko-KR" altLang="en-US" sz="700" dirty="0">
                <a:latin typeface="+mn-ea"/>
              </a:rPr>
              <a:t>등</a:t>
            </a:r>
            <a:r>
              <a:rPr lang="en-US" altLang="ko-KR" sz="700" dirty="0">
                <a:latin typeface="+mn-ea"/>
              </a:rPr>
              <a:t>…</a:t>
            </a:r>
          </a:p>
          <a:p>
            <a:pPr>
              <a:lnSpc>
                <a:spcPct val="200000"/>
              </a:lnSpc>
            </a:pPr>
            <a:r>
              <a:rPr lang="ko-KR" altLang="en-US" sz="700" dirty="0">
                <a:latin typeface="+mn-ea"/>
              </a:rPr>
              <a:t>제출 </a:t>
            </a:r>
            <a:r>
              <a:rPr lang="en-US" altLang="ko-KR" sz="700" dirty="0">
                <a:latin typeface="+mn-ea"/>
              </a:rPr>
              <a:t>/ </a:t>
            </a:r>
            <a:r>
              <a:rPr lang="ko-KR" altLang="en-US" sz="700" dirty="0">
                <a:latin typeface="+mn-ea"/>
              </a:rPr>
              <a:t>완료 </a:t>
            </a:r>
            <a:r>
              <a:rPr lang="en-US" altLang="ko-KR" sz="700" dirty="0">
                <a:latin typeface="+mn-ea"/>
              </a:rPr>
              <a:t>/ </a:t>
            </a:r>
            <a:r>
              <a:rPr lang="ko-KR" altLang="en-US" sz="700" dirty="0" err="1">
                <a:latin typeface="+mn-ea"/>
              </a:rPr>
              <a:t>입찰취소</a:t>
            </a:r>
            <a:endParaRPr lang="en-US" altLang="ko-KR" sz="700" dirty="0">
              <a:latin typeface="+mn-ea"/>
            </a:endParaRPr>
          </a:p>
        </p:txBody>
      </p:sp>
      <p:cxnSp>
        <p:nvCxnSpPr>
          <p:cNvPr id="71" name="직선 연결선 70">
            <a:extLst>
              <a:ext uri="{FF2B5EF4-FFF2-40B4-BE49-F238E27FC236}">
                <a16:creationId xmlns:a16="http://schemas.microsoft.com/office/drawing/2014/main" id="{E9293055-D5CD-4B9E-7F64-64B2D2CA7A52}"/>
              </a:ext>
            </a:extLst>
          </p:cNvPr>
          <p:cNvCxnSpPr/>
          <p:nvPr/>
        </p:nvCxnSpPr>
        <p:spPr>
          <a:xfrm>
            <a:off x="730868" y="34427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2" name="직선 연결선 71">
            <a:extLst>
              <a:ext uri="{FF2B5EF4-FFF2-40B4-BE49-F238E27FC236}">
                <a16:creationId xmlns:a16="http://schemas.microsoft.com/office/drawing/2014/main" id="{E9293055-D5CD-4B9E-7F64-64B2D2CA7A52}"/>
              </a:ext>
            </a:extLst>
          </p:cNvPr>
          <p:cNvCxnSpPr/>
          <p:nvPr/>
        </p:nvCxnSpPr>
        <p:spPr>
          <a:xfrm>
            <a:off x="730868" y="36564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3" name="직선 연결선 72">
            <a:extLst>
              <a:ext uri="{FF2B5EF4-FFF2-40B4-BE49-F238E27FC236}">
                <a16:creationId xmlns:a16="http://schemas.microsoft.com/office/drawing/2014/main" id="{E9293055-D5CD-4B9E-7F64-64B2D2CA7A52}"/>
              </a:ext>
            </a:extLst>
          </p:cNvPr>
          <p:cNvCxnSpPr/>
          <p:nvPr/>
        </p:nvCxnSpPr>
        <p:spPr>
          <a:xfrm>
            <a:off x="730868" y="3870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4" name="직선 연결선 73">
            <a:extLst>
              <a:ext uri="{FF2B5EF4-FFF2-40B4-BE49-F238E27FC236}">
                <a16:creationId xmlns:a16="http://schemas.microsoft.com/office/drawing/2014/main" id="{E9293055-D5CD-4B9E-7F64-64B2D2CA7A52}"/>
              </a:ext>
            </a:extLst>
          </p:cNvPr>
          <p:cNvCxnSpPr/>
          <p:nvPr/>
        </p:nvCxnSpPr>
        <p:spPr>
          <a:xfrm>
            <a:off x="730868" y="40839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5" name="직선 연결선 74">
            <a:extLst>
              <a:ext uri="{FF2B5EF4-FFF2-40B4-BE49-F238E27FC236}">
                <a16:creationId xmlns:a16="http://schemas.microsoft.com/office/drawing/2014/main" id="{E9293055-D5CD-4B9E-7F64-64B2D2CA7A52}"/>
              </a:ext>
            </a:extLst>
          </p:cNvPr>
          <p:cNvCxnSpPr/>
          <p:nvPr/>
        </p:nvCxnSpPr>
        <p:spPr>
          <a:xfrm>
            <a:off x="730868" y="42976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30868" y="45113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7" name="직선 연결선 76">
            <a:extLst>
              <a:ext uri="{FF2B5EF4-FFF2-40B4-BE49-F238E27FC236}">
                <a16:creationId xmlns:a16="http://schemas.microsoft.com/office/drawing/2014/main" id="{E9293055-D5CD-4B9E-7F64-64B2D2CA7A52}"/>
              </a:ext>
            </a:extLst>
          </p:cNvPr>
          <p:cNvCxnSpPr/>
          <p:nvPr/>
        </p:nvCxnSpPr>
        <p:spPr>
          <a:xfrm>
            <a:off x="730868" y="47250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30868" y="49387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9" name="직선 연결선 78">
            <a:extLst>
              <a:ext uri="{FF2B5EF4-FFF2-40B4-BE49-F238E27FC236}">
                <a16:creationId xmlns:a16="http://schemas.microsoft.com/office/drawing/2014/main" id="{E9293055-D5CD-4B9E-7F64-64B2D2CA7A52}"/>
              </a:ext>
            </a:extLst>
          </p:cNvPr>
          <p:cNvCxnSpPr/>
          <p:nvPr/>
        </p:nvCxnSpPr>
        <p:spPr>
          <a:xfrm>
            <a:off x="730868" y="53661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730868" y="55808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30868" y="57945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30868" y="60082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3" name="사각형: 둥근 모서리 15">
            <a:extLst>
              <a:ext uri="{FF2B5EF4-FFF2-40B4-BE49-F238E27FC236}">
                <a16:creationId xmlns:a16="http://schemas.microsoft.com/office/drawing/2014/main" id="{E2B61CFB-AD16-68D0-8752-50D9C5E01971}"/>
              </a:ext>
            </a:extLst>
          </p:cNvPr>
          <p:cNvSpPr/>
          <p:nvPr/>
        </p:nvSpPr>
        <p:spPr>
          <a:xfrm>
            <a:off x="2864521" y="3682345"/>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공고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4" name="모서리가 둥근 직사각형 83"/>
          <p:cNvSpPr/>
          <p:nvPr/>
        </p:nvSpPr>
        <p:spPr>
          <a:xfrm rot="5400000">
            <a:off x="2675698" y="361296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85" name="사각형: 둥근 모서리 15">
            <a:extLst>
              <a:ext uri="{FF2B5EF4-FFF2-40B4-BE49-F238E27FC236}">
                <a16:creationId xmlns:a16="http://schemas.microsoft.com/office/drawing/2014/main" id="{E2B61CFB-AD16-68D0-8752-50D9C5E01971}"/>
              </a:ext>
            </a:extLst>
          </p:cNvPr>
          <p:cNvSpPr/>
          <p:nvPr/>
        </p:nvSpPr>
        <p:spPr>
          <a:xfrm>
            <a:off x="2864521" y="5606713"/>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2864521" y="5820817"/>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7" name="타원 86">
            <a:extLst>
              <a:ext uri="{FF2B5EF4-FFF2-40B4-BE49-F238E27FC236}">
                <a16:creationId xmlns:a16="http://schemas.microsoft.com/office/drawing/2014/main" id="{37A7FF4F-0EAA-1463-560A-D5EC24416103}"/>
              </a:ext>
            </a:extLst>
          </p:cNvPr>
          <p:cNvSpPr/>
          <p:nvPr/>
        </p:nvSpPr>
        <p:spPr>
          <a:xfrm>
            <a:off x="3327015" y="36039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89" name="그룹 88"/>
          <p:cNvGrpSpPr/>
          <p:nvPr/>
        </p:nvGrpSpPr>
        <p:grpSpPr>
          <a:xfrm>
            <a:off x="677935" y="2382893"/>
            <a:ext cx="2712027" cy="508898"/>
            <a:chOff x="697390" y="2606886"/>
            <a:chExt cx="2712027" cy="508898"/>
          </a:xfrm>
        </p:grpSpPr>
        <p:sp>
          <p:nvSpPr>
            <p:cNvPr id="90"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1" name="모서리가 둥근 직사각형 90"/>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2" name="모서리가 둥근 직사각형 91"/>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모서리가 둥근 직사각형 9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97" name="모서리가 둥근 직사각형 9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sp>
        <p:nvSpPr>
          <p:cNvPr id="98" name="직사각형 9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3924811" y="1492793"/>
            <a:ext cx="963760"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업체구분</a:t>
            </a:r>
            <a:endParaRPr lang="en-US" altLang="ko-KR" sz="700" dirty="0">
              <a:latin typeface="+mn-ea"/>
            </a:endParaRPr>
          </a:p>
          <a:p>
            <a:pPr>
              <a:lnSpc>
                <a:spcPct val="200000"/>
              </a:lnSpc>
            </a:pPr>
            <a:r>
              <a:rPr lang="ko-KR" altLang="en-US" sz="700" dirty="0">
                <a:latin typeface="+mn-ea"/>
              </a:rPr>
              <a:t>입찰참가신청서</a:t>
            </a:r>
            <a:endParaRPr lang="en-US" altLang="ko-KR" sz="700" dirty="0">
              <a:latin typeface="+mn-ea"/>
            </a:endParaRPr>
          </a:p>
          <a:p>
            <a:pPr>
              <a:lnSpc>
                <a:spcPct val="200000"/>
              </a:lnSpc>
            </a:pPr>
            <a:r>
              <a:rPr lang="ko-KR" altLang="en-US" sz="700" dirty="0">
                <a:latin typeface="+mn-ea"/>
              </a:rPr>
              <a:t>입찰서</a:t>
            </a:r>
            <a:endParaRPr lang="en-US" altLang="ko-KR" sz="700" dirty="0">
              <a:latin typeface="+mn-ea"/>
            </a:endParaRPr>
          </a:p>
          <a:p>
            <a:pPr>
              <a:lnSpc>
                <a:spcPct val="200000"/>
              </a:lnSpc>
            </a:pPr>
            <a:r>
              <a:rPr lang="ko-KR" altLang="en-US" sz="700" dirty="0">
                <a:latin typeface="+mn-ea"/>
              </a:rPr>
              <a:t>사전심사</a:t>
            </a:r>
            <a:r>
              <a:rPr lang="en-US" altLang="ko-KR" sz="700" dirty="0">
                <a:latin typeface="+mn-ea"/>
              </a:rPr>
              <a:t>(PQ)</a:t>
            </a:r>
          </a:p>
          <a:p>
            <a:pPr>
              <a:lnSpc>
                <a:spcPct val="200000"/>
              </a:lnSpc>
            </a:pPr>
            <a:r>
              <a:rPr lang="ko-KR" altLang="en-US" sz="700" dirty="0">
                <a:latin typeface="+mn-ea"/>
              </a:rPr>
              <a:t>기술평가</a:t>
            </a:r>
            <a:endParaRPr lang="en-US" altLang="ko-KR" sz="700" dirty="0">
              <a:latin typeface="+mn-ea"/>
            </a:endParaRPr>
          </a:p>
          <a:p>
            <a:pPr>
              <a:lnSpc>
                <a:spcPct val="200000"/>
              </a:lnSpc>
            </a:pPr>
            <a:r>
              <a:rPr lang="ko-KR" altLang="en-US" sz="700" dirty="0">
                <a:latin typeface="+mn-ea"/>
              </a:rPr>
              <a:t>생산능력서류</a:t>
            </a:r>
            <a:endParaRPr lang="en-US" altLang="ko-KR" sz="700" dirty="0">
              <a:latin typeface="+mn-ea"/>
            </a:endParaRPr>
          </a:p>
          <a:p>
            <a:pPr>
              <a:lnSpc>
                <a:spcPct val="200000"/>
              </a:lnSpc>
            </a:pPr>
            <a:r>
              <a:rPr lang="ko-KR" altLang="en-US" sz="700" dirty="0">
                <a:latin typeface="+mn-ea"/>
              </a:rPr>
              <a:t>입찰참가등록 </a:t>
            </a:r>
            <a:r>
              <a:rPr lang="ko-KR" altLang="en-US" sz="700" dirty="0" err="1">
                <a:latin typeface="+mn-ea"/>
              </a:rPr>
              <a:t>마감일시</a:t>
            </a:r>
            <a:endParaRPr lang="en-US" altLang="ko-KR" sz="700" dirty="0">
              <a:latin typeface="+mn-ea"/>
            </a:endParaRPr>
          </a:p>
          <a:p>
            <a:pPr>
              <a:lnSpc>
                <a:spcPct val="200000"/>
              </a:lnSpc>
            </a:pPr>
            <a:r>
              <a:rPr lang="ko-KR" altLang="en-US" sz="700" dirty="0" err="1">
                <a:latin typeface="+mn-ea"/>
              </a:rPr>
              <a:t>입찰서제출</a:t>
            </a:r>
            <a:r>
              <a:rPr lang="ko-KR" altLang="en-US" sz="700" dirty="0">
                <a:latin typeface="+mn-ea"/>
              </a:rPr>
              <a:t> </a:t>
            </a:r>
            <a:r>
              <a:rPr lang="ko-KR" altLang="en-US" sz="700" dirty="0" err="1">
                <a:latin typeface="+mn-ea"/>
              </a:rPr>
              <a:t>마감일시</a:t>
            </a:r>
            <a:endParaRPr lang="en-US" altLang="ko-KR" sz="700" dirty="0">
              <a:latin typeface="+mn-ea"/>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4617163" y="1492793"/>
            <a:ext cx="1814470" cy="1723549"/>
          </a:xfrm>
          <a:prstGeom prst="rect">
            <a:avLst/>
          </a:prstGeom>
          <a:noFill/>
        </p:spPr>
        <p:txBody>
          <a:bodyPr wrap="square" lIns="0" tIns="0" rIns="0" bIns="0" rtlCol="0">
            <a:spAutoFit/>
          </a:bodyPr>
          <a:lstStyle/>
          <a:p>
            <a:pPr>
              <a:lnSpc>
                <a:spcPct val="200000"/>
              </a:lnSpc>
            </a:pPr>
            <a:r>
              <a:rPr lang="ko-KR" altLang="en-US" sz="700" dirty="0">
                <a:latin typeface="+mn-ea"/>
              </a:rPr>
              <a:t>대표</a:t>
            </a:r>
            <a:endParaRPr lang="en-US" altLang="ko-KR" sz="700" dirty="0">
              <a:latin typeface="+mn-ea"/>
            </a:endParaRPr>
          </a:p>
          <a:p>
            <a:pPr>
              <a:lnSpc>
                <a:spcPct val="200000"/>
              </a:lnSpc>
            </a:pPr>
            <a:r>
              <a:rPr lang="ko-KR" altLang="en-US" sz="700" dirty="0" err="1" smtClean="0">
                <a:latin typeface="+mn-ea"/>
              </a:rPr>
              <a:t>신청완료</a:t>
            </a:r>
            <a:r>
              <a:rPr lang="ko-KR" altLang="en-US" sz="700" dirty="0" smtClean="0">
                <a:latin typeface="+mn-ea"/>
              </a:rPr>
              <a:t> </a:t>
            </a:r>
            <a:r>
              <a:rPr lang="en-US" altLang="ko-KR" sz="700" dirty="0">
                <a:latin typeface="+mn-ea"/>
              </a:rPr>
              <a:t>/ </a:t>
            </a:r>
            <a:r>
              <a:rPr lang="ko-KR" altLang="en-US" sz="700" dirty="0">
                <a:latin typeface="+mn-ea"/>
              </a:rPr>
              <a:t>미동의 </a:t>
            </a:r>
            <a:r>
              <a:rPr lang="en-US" altLang="ko-KR" sz="700" dirty="0">
                <a:latin typeface="+mn-ea"/>
              </a:rPr>
              <a:t>/ </a:t>
            </a:r>
            <a:r>
              <a:rPr lang="ko-KR" altLang="en-US" sz="700" dirty="0" err="1">
                <a:latin typeface="+mn-ea"/>
              </a:rPr>
              <a:t>등록확정</a:t>
            </a:r>
            <a:r>
              <a:rPr lang="ko-KR" altLang="en-US" sz="700" dirty="0">
                <a:latin typeface="+mn-ea"/>
              </a:rPr>
              <a:t> </a:t>
            </a:r>
            <a:r>
              <a:rPr lang="en-US" altLang="ko-KR" sz="700" dirty="0">
                <a:latin typeface="+mn-ea"/>
              </a:rPr>
              <a:t>/ </a:t>
            </a:r>
            <a:r>
              <a:rPr lang="ko-KR" altLang="en-US" sz="700" dirty="0">
                <a:latin typeface="+mn-ea"/>
              </a:rPr>
              <a:t>등</a:t>
            </a:r>
            <a:r>
              <a:rPr lang="en-US" altLang="ko-KR" sz="700" dirty="0">
                <a:latin typeface="+mn-ea"/>
              </a:rPr>
              <a:t>…</a:t>
            </a:r>
          </a:p>
          <a:p>
            <a:pPr>
              <a:lnSpc>
                <a:spcPct val="200000"/>
              </a:lnSpc>
            </a:pPr>
            <a:r>
              <a:rPr lang="ko-KR" altLang="en-US" sz="700" dirty="0">
                <a:latin typeface="+mn-ea"/>
              </a:rPr>
              <a:t>제출 </a:t>
            </a:r>
            <a:r>
              <a:rPr lang="en-US" altLang="ko-KR" sz="700" dirty="0">
                <a:latin typeface="+mn-ea"/>
              </a:rPr>
              <a:t>/ </a:t>
            </a:r>
            <a:r>
              <a:rPr lang="ko-KR" altLang="en-US" sz="700" dirty="0" err="1" smtClean="0">
                <a:latin typeface="+mn-ea"/>
              </a:rPr>
              <a:t>제출완료</a:t>
            </a:r>
            <a:r>
              <a:rPr lang="ko-KR" altLang="en-US" sz="700" dirty="0" smtClean="0">
                <a:latin typeface="+mn-ea"/>
              </a:rPr>
              <a:t> </a:t>
            </a:r>
            <a:r>
              <a:rPr lang="en-US" altLang="ko-KR" sz="700" dirty="0">
                <a:latin typeface="+mn-ea"/>
              </a:rPr>
              <a:t>/ </a:t>
            </a:r>
            <a:r>
              <a:rPr lang="ko-KR" altLang="en-US" sz="700" dirty="0" err="1" smtClean="0">
                <a:latin typeface="+mn-ea"/>
              </a:rPr>
              <a:t>입찰취소</a:t>
            </a:r>
            <a:r>
              <a:rPr lang="ko-KR" altLang="en-US" sz="700" dirty="0" smtClean="0">
                <a:latin typeface="+mn-ea"/>
              </a:rPr>
              <a:t> </a:t>
            </a:r>
            <a:r>
              <a:rPr lang="en-US" altLang="ko-KR" sz="700" dirty="0" smtClean="0">
                <a:latin typeface="+mn-ea"/>
              </a:rPr>
              <a:t>/ </a:t>
            </a:r>
            <a:r>
              <a:rPr lang="ko-KR" altLang="en-US" sz="700" dirty="0" err="1" smtClean="0">
                <a:latin typeface="+mn-ea"/>
              </a:rPr>
              <a:t>입찰포기</a:t>
            </a:r>
            <a:r>
              <a:rPr lang="ko-KR" altLang="en-US" sz="700" dirty="0" smtClean="0">
                <a:latin typeface="+mn-ea"/>
              </a:rPr>
              <a:t> </a:t>
            </a:r>
            <a:endParaRPr lang="en-US" altLang="ko-KR" sz="700" dirty="0">
              <a:latin typeface="+mn-ea"/>
            </a:endParaRPr>
          </a:p>
          <a:p>
            <a:pPr>
              <a:lnSpc>
                <a:spcPct val="200000"/>
              </a:lnSpc>
            </a:pPr>
            <a:r>
              <a:rPr lang="ko-KR" altLang="en-US" sz="700" dirty="0">
                <a:latin typeface="+mn-ea"/>
              </a:rPr>
              <a:t>결과</a:t>
            </a:r>
            <a:endParaRPr lang="en-US" altLang="ko-KR" sz="700" dirty="0">
              <a:latin typeface="+mn-ea"/>
            </a:endParaRPr>
          </a:p>
          <a:p>
            <a:pPr>
              <a:lnSpc>
                <a:spcPct val="200000"/>
              </a:lnSpc>
            </a:pPr>
            <a:r>
              <a:rPr lang="ko-KR" altLang="en-US" sz="700" dirty="0">
                <a:latin typeface="+mn-ea"/>
              </a:rPr>
              <a:t>결과</a:t>
            </a:r>
            <a:endParaRPr lang="en-US" altLang="ko-KR" sz="700" dirty="0">
              <a:latin typeface="+mn-ea"/>
            </a:endParaRPr>
          </a:p>
          <a:p>
            <a:pPr>
              <a:lnSpc>
                <a:spcPct val="200000"/>
              </a:lnSpc>
            </a:pPr>
            <a:r>
              <a:rPr lang="ko-KR" altLang="en-US" sz="700" dirty="0">
                <a:latin typeface="+mn-ea"/>
              </a:rPr>
              <a:t>제출</a:t>
            </a:r>
            <a:endParaRPr lang="en-US" altLang="ko-KR" sz="700" dirty="0">
              <a:latin typeface="+mn-ea"/>
            </a:endParaRPr>
          </a:p>
          <a:p>
            <a:pPr>
              <a:lnSpc>
                <a:spcPct val="200000"/>
              </a:lnSpc>
            </a:pPr>
            <a:r>
              <a:rPr lang="en-US" altLang="ko-KR" sz="700" dirty="0">
                <a:latin typeface="+mn-ea"/>
              </a:rPr>
              <a:t>              2026-03-16 15:00</a:t>
            </a:r>
          </a:p>
          <a:p>
            <a:pPr>
              <a:lnSpc>
                <a:spcPct val="200000"/>
              </a:lnSpc>
            </a:pPr>
            <a:r>
              <a:rPr lang="en-US" altLang="ko-KR" sz="700" dirty="0">
                <a:latin typeface="+mn-ea"/>
              </a:rPr>
              <a:t>              2026-03-17 15:00</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3837747" y="17238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837747" y="19376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837747" y="21513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837747" y="2365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837747" y="25787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3837747" y="27924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3837747" y="30061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3837747" y="321984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사각형: 둥근 모서리 15">
            <a:extLst>
              <a:ext uri="{FF2B5EF4-FFF2-40B4-BE49-F238E27FC236}">
                <a16:creationId xmlns:a16="http://schemas.microsoft.com/office/drawing/2014/main" id="{E2B61CFB-AD16-68D0-8752-50D9C5E01971}"/>
              </a:ext>
            </a:extLst>
          </p:cNvPr>
          <p:cNvSpPr/>
          <p:nvPr/>
        </p:nvSpPr>
        <p:spPr>
          <a:xfrm>
            <a:off x="5971400" y="1753703"/>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0" name="사각형: 둥근 모서리 15">
            <a:extLst>
              <a:ext uri="{FF2B5EF4-FFF2-40B4-BE49-F238E27FC236}">
                <a16:creationId xmlns:a16="http://schemas.microsoft.com/office/drawing/2014/main" id="{E2B61CFB-AD16-68D0-8752-50D9C5E01971}"/>
              </a:ext>
            </a:extLst>
          </p:cNvPr>
          <p:cNvSpPr/>
          <p:nvPr/>
        </p:nvSpPr>
        <p:spPr>
          <a:xfrm>
            <a:off x="5971400" y="1967807"/>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5971400" y="2184734"/>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2" name="사각형: 둥근 모서리 15">
            <a:extLst>
              <a:ext uri="{FF2B5EF4-FFF2-40B4-BE49-F238E27FC236}">
                <a16:creationId xmlns:a16="http://schemas.microsoft.com/office/drawing/2014/main" id="{E2B61CFB-AD16-68D0-8752-50D9C5E01971}"/>
              </a:ext>
            </a:extLst>
          </p:cNvPr>
          <p:cNvSpPr/>
          <p:nvPr/>
        </p:nvSpPr>
        <p:spPr>
          <a:xfrm>
            <a:off x="5971400" y="239376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3" name="사각형: 둥근 모서리 15">
            <a:extLst>
              <a:ext uri="{FF2B5EF4-FFF2-40B4-BE49-F238E27FC236}">
                <a16:creationId xmlns:a16="http://schemas.microsoft.com/office/drawing/2014/main" id="{E2B61CFB-AD16-68D0-8752-50D9C5E01971}"/>
              </a:ext>
            </a:extLst>
          </p:cNvPr>
          <p:cNvSpPr/>
          <p:nvPr/>
        </p:nvSpPr>
        <p:spPr>
          <a:xfrm>
            <a:off x="5971400" y="260455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4" name="타원 113">
            <a:extLst>
              <a:ext uri="{FF2B5EF4-FFF2-40B4-BE49-F238E27FC236}">
                <a16:creationId xmlns:a16="http://schemas.microsoft.com/office/drawing/2014/main" id="{37A7FF4F-0EAA-1463-560A-D5EC24416103}"/>
              </a:ext>
            </a:extLst>
          </p:cNvPr>
          <p:cNvSpPr/>
          <p:nvPr/>
        </p:nvSpPr>
        <p:spPr>
          <a:xfrm>
            <a:off x="3772314" y="15338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8851" y="14938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타원 120"/>
          <p:cNvSpPr/>
          <p:nvPr/>
        </p:nvSpPr>
        <p:spPr>
          <a:xfrm>
            <a:off x="6616821" y="515396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2" name="그룹 121"/>
          <p:cNvGrpSpPr/>
          <p:nvPr/>
        </p:nvGrpSpPr>
        <p:grpSpPr>
          <a:xfrm>
            <a:off x="6746287" y="5271034"/>
            <a:ext cx="124144" cy="148935"/>
            <a:chOff x="161606" y="5392781"/>
            <a:chExt cx="97885" cy="117432"/>
          </a:xfrm>
        </p:grpSpPr>
        <p:cxnSp>
          <p:nvCxnSpPr>
            <p:cNvPr id="123" name="직선 연결선 122"/>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4" name="직선 연결선 123"/>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26" name="직선 연결선 125"/>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6616821" y="563921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8" name="그룹 127"/>
          <p:cNvGrpSpPr/>
          <p:nvPr/>
        </p:nvGrpSpPr>
        <p:grpSpPr>
          <a:xfrm>
            <a:off x="6746288" y="5768679"/>
            <a:ext cx="124144" cy="124144"/>
            <a:chOff x="162544" y="5299917"/>
            <a:chExt cx="124144" cy="124144"/>
          </a:xfrm>
        </p:grpSpPr>
        <p:cxnSp>
          <p:nvCxnSpPr>
            <p:cNvPr id="129" name="직선 연결선 128"/>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30" name="직선 연결선 129"/>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36" name="TextBox 135">
            <a:extLst>
              <a:ext uri="{FF2B5EF4-FFF2-40B4-BE49-F238E27FC236}">
                <a16:creationId xmlns:a16="http://schemas.microsoft.com/office/drawing/2014/main" id="{FFC49AEA-2A8F-250C-A86A-A7751D9706C3}"/>
              </a:ext>
            </a:extLst>
          </p:cNvPr>
          <p:cNvSpPr txBox="1"/>
          <p:nvPr/>
        </p:nvSpPr>
        <p:spPr>
          <a:xfrm>
            <a:off x="3927928" y="3860460"/>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sp>
        <p:nvSpPr>
          <p:cNvPr id="148" name="모서리가 둥근 직사각형 147"/>
          <p:cNvSpPr/>
          <p:nvPr/>
        </p:nvSpPr>
        <p:spPr>
          <a:xfrm rot="5400000">
            <a:off x="5782577" y="281776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0" name="TextBox 14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40" name="그룹 139"/>
          <p:cNvGrpSpPr/>
          <p:nvPr/>
        </p:nvGrpSpPr>
        <p:grpSpPr>
          <a:xfrm>
            <a:off x="677960" y="1582647"/>
            <a:ext cx="2714637" cy="686386"/>
            <a:chOff x="677960" y="1582647"/>
            <a:chExt cx="2714637" cy="686386"/>
          </a:xfrm>
        </p:grpSpPr>
        <p:sp>
          <p:nvSpPr>
            <p:cNvPr id="151" name="TextBox 15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err="1">
                  <a:latin typeface="+mn-ea"/>
                </a:rPr>
                <a:t>입찰진행</a:t>
              </a:r>
              <a:r>
                <a:rPr lang="ko-KR" altLang="en-US" sz="800" dirty="0">
                  <a:latin typeface="+mn-ea"/>
                </a:rPr>
                <a:t> </a:t>
              </a:r>
              <a:r>
                <a:rPr lang="ko-KR" altLang="en-US" sz="800" dirty="0" smtClean="0">
                  <a:latin typeface="+mn-ea"/>
                </a:rPr>
                <a:t>상세</a:t>
              </a:r>
              <a:endParaRPr lang="ko-KR" altLang="en-US" sz="800" dirty="0">
                <a:latin typeface="+mn-ea"/>
              </a:endParaRPr>
            </a:p>
          </p:txBody>
        </p:sp>
        <p:cxnSp>
          <p:nvCxnSpPr>
            <p:cNvPr id="152" name="직선 연결선 151">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3" name="그룹 152"/>
            <p:cNvGrpSpPr/>
            <p:nvPr/>
          </p:nvGrpSpPr>
          <p:grpSpPr>
            <a:xfrm rot="5400000">
              <a:off x="852159" y="2062596"/>
              <a:ext cx="94010" cy="47005"/>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4" name="그룹 153"/>
            <p:cNvGrpSpPr/>
            <p:nvPr/>
          </p:nvGrpSpPr>
          <p:grpSpPr>
            <a:xfrm>
              <a:off x="677960" y="1582647"/>
              <a:ext cx="2712027" cy="324286"/>
              <a:chOff x="677960" y="1582647"/>
              <a:chExt cx="2712027" cy="324286"/>
            </a:xfrm>
          </p:grpSpPr>
          <p:pic>
            <p:nvPicPr>
              <p:cNvPr id="155"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56" name="직선 연결선 155">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타원 15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8" name="타원 15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타원 15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17" name="타원 116">
            <a:extLst>
              <a:ext uri="{FF2B5EF4-FFF2-40B4-BE49-F238E27FC236}">
                <a16:creationId xmlns:a16="http://schemas.microsoft.com/office/drawing/2014/main" id="{37A7FF4F-0EAA-1463-560A-D5EC24416103}"/>
              </a:ext>
            </a:extLst>
          </p:cNvPr>
          <p:cNvSpPr/>
          <p:nvPr/>
        </p:nvSpPr>
        <p:spPr>
          <a:xfrm>
            <a:off x="5882218" y="167570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3-1</a:t>
            </a:r>
            <a:endParaRPr lang="ko-KR" altLang="en-US" sz="600" b="1" dirty="0"/>
          </a:p>
        </p:txBody>
      </p:sp>
      <p:sp>
        <p:nvSpPr>
          <p:cNvPr id="118" name="타원 117">
            <a:extLst>
              <a:ext uri="{FF2B5EF4-FFF2-40B4-BE49-F238E27FC236}">
                <a16:creationId xmlns:a16="http://schemas.microsoft.com/office/drawing/2014/main" id="{37A7FF4F-0EAA-1463-560A-D5EC24416103}"/>
              </a:ext>
            </a:extLst>
          </p:cNvPr>
          <p:cNvSpPr/>
          <p:nvPr/>
        </p:nvSpPr>
        <p:spPr>
          <a:xfrm>
            <a:off x="5882218" y="190982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3-2</a:t>
            </a:r>
            <a:endParaRPr lang="ko-KR" altLang="en-US" sz="600" b="1" dirty="0"/>
          </a:p>
        </p:txBody>
      </p:sp>
      <p:sp>
        <p:nvSpPr>
          <p:cNvPr id="119" name="타원 118">
            <a:extLst>
              <a:ext uri="{FF2B5EF4-FFF2-40B4-BE49-F238E27FC236}">
                <a16:creationId xmlns:a16="http://schemas.microsoft.com/office/drawing/2014/main" id="{37A7FF4F-0EAA-1463-560A-D5EC24416103}"/>
              </a:ext>
            </a:extLst>
          </p:cNvPr>
          <p:cNvSpPr/>
          <p:nvPr/>
        </p:nvSpPr>
        <p:spPr>
          <a:xfrm>
            <a:off x="5882218" y="215059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3-3</a:t>
            </a:r>
            <a:endParaRPr lang="ko-KR" altLang="en-US" sz="600" b="1" dirty="0"/>
          </a:p>
        </p:txBody>
      </p:sp>
      <p:sp>
        <p:nvSpPr>
          <p:cNvPr id="120" name="타원 119">
            <a:extLst>
              <a:ext uri="{FF2B5EF4-FFF2-40B4-BE49-F238E27FC236}">
                <a16:creationId xmlns:a16="http://schemas.microsoft.com/office/drawing/2014/main" id="{37A7FF4F-0EAA-1463-560A-D5EC24416103}"/>
              </a:ext>
            </a:extLst>
          </p:cNvPr>
          <p:cNvSpPr/>
          <p:nvPr/>
        </p:nvSpPr>
        <p:spPr>
          <a:xfrm>
            <a:off x="5882218" y="23708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3-4</a:t>
            </a:r>
            <a:endParaRPr lang="ko-KR" altLang="en-US" sz="600" b="1" dirty="0"/>
          </a:p>
        </p:txBody>
      </p:sp>
      <p:sp>
        <p:nvSpPr>
          <p:cNvPr id="138" name="타원 137">
            <a:extLst>
              <a:ext uri="{FF2B5EF4-FFF2-40B4-BE49-F238E27FC236}">
                <a16:creationId xmlns:a16="http://schemas.microsoft.com/office/drawing/2014/main" id="{37A7FF4F-0EAA-1463-560A-D5EC24416103}"/>
              </a:ext>
            </a:extLst>
          </p:cNvPr>
          <p:cNvSpPr/>
          <p:nvPr/>
        </p:nvSpPr>
        <p:spPr>
          <a:xfrm>
            <a:off x="5882218" y="256650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3-5</a:t>
            </a:r>
            <a:endParaRPr lang="ko-KR" altLang="en-US" sz="600" b="1" dirty="0"/>
          </a:p>
        </p:txBody>
      </p:sp>
      <p:sp>
        <p:nvSpPr>
          <p:cNvPr id="95" name="양쪽 모서리가 둥근 사각형 94"/>
          <p:cNvSpPr/>
          <p:nvPr/>
        </p:nvSpPr>
        <p:spPr>
          <a:xfrm>
            <a:off x="3795734" y="3683975"/>
            <a:ext cx="2712027" cy="2548324"/>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5" name="모서리가 둥근 직사각형 114"/>
          <p:cNvSpPr/>
          <p:nvPr/>
        </p:nvSpPr>
        <p:spPr>
          <a:xfrm>
            <a:off x="4881747" y="3720602"/>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31" name="그룹 130"/>
          <p:cNvGrpSpPr/>
          <p:nvPr/>
        </p:nvGrpSpPr>
        <p:grpSpPr>
          <a:xfrm>
            <a:off x="6284673" y="3855018"/>
            <a:ext cx="94010" cy="94010"/>
            <a:chOff x="6812560" y="3297172"/>
            <a:chExt cx="94010" cy="94010"/>
          </a:xfrm>
        </p:grpSpPr>
        <p:cxnSp>
          <p:nvCxnSpPr>
            <p:cNvPr id="132" name="직선 연결선 13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33" name="직선 연결선 13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3924811" y="3835697"/>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5734" y="40970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모서리가 둥근 직사각형 40">
            <a:extLst>
              <a:ext uri="{FF2B5EF4-FFF2-40B4-BE49-F238E27FC236}">
                <a16:creationId xmlns:a16="http://schemas.microsoft.com/office/drawing/2014/main" id="{3BE5C28A-F0C3-8BA2-3AC1-EFA405ADE137}"/>
              </a:ext>
            </a:extLst>
          </p:cNvPr>
          <p:cNvSpPr/>
          <p:nvPr/>
        </p:nvSpPr>
        <p:spPr bwMode="auto">
          <a:xfrm>
            <a:off x="3888037" y="420938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ea typeface="맑은 고딕" panose="020B0503020000020004" pitchFamily="50" charset="-127"/>
              </a:rPr>
              <a:t>생산능력서류제출</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nvGrpSpPr>
          <p:cNvPr id="143" name="그룹 142"/>
          <p:cNvGrpSpPr/>
          <p:nvPr/>
        </p:nvGrpSpPr>
        <p:grpSpPr>
          <a:xfrm>
            <a:off x="6120790" y="6441001"/>
            <a:ext cx="124144" cy="124144"/>
            <a:chOff x="162544" y="5299917"/>
            <a:chExt cx="124144" cy="124144"/>
          </a:xfrm>
        </p:grpSpPr>
        <p:cxnSp>
          <p:nvCxnSpPr>
            <p:cNvPr id="144" name="직선 연결선 143"/>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46" name="모서리가 둥근 직사각형 40">
            <a:extLst>
              <a:ext uri="{FF2B5EF4-FFF2-40B4-BE49-F238E27FC236}">
                <a16:creationId xmlns:a16="http://schemas.microsoft.com/office/drawing/2014/main" id="{3BE5C28A-F0C3-8BA2-3AC1-EFA405ADE137}"/>
              </a:ext>
            </a:extLst>
          </p:cNvPr>
          <p:cNvSpPr/>
          <p:nvPr/>
        </p:nvSpPr>
        <p:spPr bwMode="auto">
          <a:xfrm>
            <a:off x="3888037" y="450863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입찰참가등록반려신청</a:t>
            </a:r>
            <a:r>
              <a:rPr lang="ko-KR" altLang="en-US" sz="800" dirty="0" smtClean="0">
                <a:solidFill>
                  <a:schemeClr val="bg1"/>
                </a:solidFill>
                <a:latin typeface="맑은 고딕" panose="020B0503020000020004" pitchFamily="50" charset="-127"/>
                <a:ea typeface="맑은 고딕" panose="020B0503020000020004" pitchFamily="50" charset="-127"/>
              </a:rPr>
              <a:t> </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47" name="모서리가 둥근 직사각형 40">
            <a:extLst>
              <a:ext uri="{FF2B5EF4-FFF2-40B4-BE49-F238E27FC236}">
                <a16:creationId xmlns:a16="http://schemas.microsoft.com/office/drawing/2014/main" id="{3BE5C28A-F0C3-8BA2-3AC1-EFA405ADE137}"/>
              </a:ext>
            </a:extLst>
          </p:cNvPr>
          <p:cNvSpPr/>
          <p:nvPr/>
        </p:nvSpPr>
        <p:spPr bwMode="auto">
          <a:xfrm>
            <a:off x="3888037" y="480788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입찰포기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2" name="모서리가 둥근 직사각형 40">
            <a:extLst>
              <a:ext uri="{FF2B5EF4-FFF2-40B4-BE49-F238E27FC236}">
                <a16:creationId xmlns:a16="http://schemas.microsoft.com/office/drawing/2014/main" id="{3BE5C28A-F0C3-8BA2-3AC1-EFA405ADE137}"/>
              </a:ext>
            </a:extLst>
          </p:cNvPr>
          <p:cNvSpPr/>
          <p:nvPr/>
        </p:nvSpPr>
        <p:spPr bwMode="auto">
          <a:xfrm>
            <a:off x="3888037" y="510713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입찰취소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3885476" y="5406390"/>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sp>
        <p:nvSpPr>
          <p:cNvPr id="165" name="타원 164">
            <a:extLst>
              <a:ext uri="{FF2B5EF4-FFF2-40B4-BE49-F238E27FC236}">
                <a16:creationId xmlns:a16="http://schemas.microsoft.com/office/drawing/2014/main" id="{37A7FF4F-0EAA-1463-560A-D5EC24416103}"/>
              </a:ext>
            </a:extLst>
          </p:cNvPr>
          <p:cNvSpPr/>
          <p:nvPr/>
        </p:nvSpPr>
        <p:spPr>
          <a:xfrm>
            <a:off x="3762005" y="364444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37" name="직사각형 13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특이사항수정</a:t>
            </a:r>
            <a:endParaRPr lang="ko-KR" altLang="en-US" dirty="0"/>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30868" y="51506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201547780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169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3954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입찰진행</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dmt</a:t>
            </a:r>
            <a:r>
              <a:rPr lang="en-US" altLang="ko-KR" sz="900" b="1" dirty="0">
                <a:solidFill>
                  <a:prstClr val="black"/>
                </a:solidFill>
              </a:rPr>
              <a:t>_ </a:t>
            </a:r>
            <a:r>
              <a:rPr lang="en-US" altLang="ko-KR" sz="900" b="1" dirty="0" err="1">
                <a:solidFill>
                  <a:prstClr val="black"/>
                </a:solidFill>
              </a:rPr>
              <a:t>srchBidPrgrs</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237512"/>
            <a:ext cx="267117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입찰진행 목록 데이터 영역 </a:t>
            </a:r>
            <a:r>
              <a:rPr lang="en-US" altLang="ko-KR" sz="900" b="1" dirty="0">
                <a:solidFill>
                  <a:prstClr val="black"/>
                </a:solidFill>
              </a:rPr>
              <a:t>(</a:t>
            </a:r>
            <a:r>
              <a:rPr lang="en-US" altLang="ko-KR" sz="900" b="1" dirty="0" err="1">
                <a:solidFill>
                  <a:prstClr val="black"/>
                </a:solidFill>
              </a:rPr>
              <a:t>dlt_bidPrgrsList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taskSecd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업무구분 선택</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물품</a:t>
                      </a:r>
                      <a:r>
                        <a:rPr lang="en-US" altLang="ko-KR" sz="800" dirty="0">
                          <a:latin typeface="+mn-ea"/>
                          <a:ea typeface="+mn-ea"/>
                        </a:rPr>
                        <a:t>, </a:t>
                      </a:r>
                      <a:r>
                        <a:rPr lang="ko-KR" altLang="en-US" sz="800" dirty="0">
                          <a:latin typeface="+mn-ea"/>
                          <a:ea typeface="+mn-ea"/>
                        </a:rPr>
                        <a:t>용역</a:t>
                      </a:r>
                      <a:r>
                        <a:rPr lang="en-US" altLang="ko-KR" sz="800" dirty="0">
                          <a:latin typeface="+mn-ea"/>
                          <a:ea typeface="+mn-ea"/>
                        </a:rPr>
                        <a:t>, </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국외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22533">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rPr>
                        <a:t>입찰명</a:t>
                      </a:r>
                      <a:r>
                        <a:rPr lang="ko-KR" altLang="en-US" sz="800" dirty="0">
                          <a:latin typeface="+mn-ea"/>
                        </a:rPr>
                        <a:t> 입력</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발주기관명 선택</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b="0" i="0" kern="1200" dirty="0">
                          <a:solidFill>
                            <a:schemeClr val="tx1"/>
                          </a:solidFill>
                          <a:effectLst/>
                          <a:latin typeface="+mn-lt"/>
                          <a:ea typeface="+mn-ea"/>
                          <a:cs typeface="+mn-cs"/>
                        </a:rPr>
                        <a:t>발주기관검색 </a:t>
                      </a:r>
                      <a:r>
                        <a:rPr lang="ko-KR" altLang="en-US" sz="800" b="0" i="0" kern="1200" dirty="0" err="1">
                          <a:solidFill>
                            <a:schemeClr val="tx1"/>
                          </a:solidFill>
                          <a:effectLst/>
                          <a:latin typeface="+mn-lt"/>
                          <a:ea typeface="+mn-ea"/>
                          <a:cs typeface="+mn-cs"/>
                        </a:rPr>
                        <a:t>공통팝업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참조번호 입력</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개찰일자 시작</a:t>
                      </a:r>
                      <a:r>
                        <a:rPr lang="en-US" altLang="ko-KR" sz="800" dirty="0">
                          <a:latin typeface="+mn-ea"/>
                        </a:rPr>
                        <a:t>~</a:t>
                      </a:r>
                      <a:r>
                        <a:rPr lang="ko-KR" altLang="en-US" sz="800" dirty="0">
                          <a:latin typeface="+mn-ea"/>
                        </a:rPr>
                        <a:t>종료 선택</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2450003"/>
          <a:ext cx="8995589" cy="38784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taskSeNm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r>
                        <a:rPr lang="en-US" altLang="ko-KR" sz="800" dirty="0">
                          <a:latin typeface="+mn-ea"/>
                          <a:ea typeface="+mn-ea"/>
                        </a:rPr>
                        <a:t>, </a:t>
                      </a:r>
                      <a:r>
                        <a:rPr lang="ko-KR" altLang="en-US" sz="800" dirty="0">
                          <a:latin typeface="+mn-ea"/>
                          <a:ea typeface="+mn-ea"/>
                        </a:rPr>
                        <a:t>용역</a:t>
                      </a:r>
                      <a:r>
                        <a:rPr lang="en-US" altLang="ko-KR" sz="800" dirty="0">
                          <a:latin typeface="+mn-ea"/>
                          <a:ea typeface="+mn-ea"/>
                        </a:rPr>
                        <a:t>, </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국외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0374552"/>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49003667"/>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r>
                        <a:rPr lang="en-US" altLang="ko-KR" sz="800" dirty="0">
                          <a:latin typeface="+mn-ea"/>
                          <a:ea typeface="+mn-ea"/>
                        </a:rPr>
                        <a:t>, </a:t>
                      </a:r>
                      <a:r>
                        <a:rPr lang="ko-KR" altLang="en-US" sz="800" dirty="0">
                          <a:latin typeface="+mn-ea"/>
                          <a:ea typeface="+mn-ea"/>
                        </a:rPr>
                        <a:t>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228499"/>
                  </a:ext>
                </a:extLst>
              </a:tr>
              <a:tr h="0">
                <a:tc>
                  <a:txBody>
                    <a:bodyPr/>
                    <a:lstStyle/>
                    <a:p>
                      <a:pPr latinLnBrk="1"/>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공사</a:t>
                      </a:r>
                      <a:r>
                        <a:rPr lang="en-US" altLang="ko-KR" sz="800" dirty="0">
                          <a:latin typeface="+mn-ea"/>
                          <a:ea typeface="+mn-ea"/>
                        </a:rPr>
                        <a:t>, </a:t>
                      </a:r>
                      <a:r>
                        <a:rPr lang="ko-KR" altLang="en-US" sz="800" dirty="0">
                          <a:latin typeface="+mn-ea"/>
                          <a:ea typeface="+mn-ea"/>
                        </a:rPr>
                        <a:t>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0853279"/>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물품의 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8820378"/>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5916761"/>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3429797"/>
                  </a:ext>
                </a:extLst>
              </a:tr>
              <a:tr h="0">
                <a:tc>
                  <a:txBody>
                    <a:bodyPr/>
                    <a:lstStyle/>
                    <a:p>
                      <a:pPr latinLnBrk="1"/>
                      <a:r>
                        <a:rPr lang="ko-KR" altLang="en-US" sz="800" dirty="0">
                          <a:latin typeface="+mn-ea"/>
                          <a:ea typeface="+mn-ea"/>
                        </a:rPr>
                        <a:t>발주기관연락처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 발주기관명과 발주기관의 연락처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2454742"/>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3708982"/>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1771616"/>
                  </a:ext>
                </a:extLst>
              </a:tr>
              <a:tr h="0">
                <a:tc>
                  <a:txBody>
                    <a:bodyPr/>
                    <a:lstStyle/>
                    <a:p>
                      <a:pPr latinLnBrk="1"/>
                      <a:r>
                        <a:rPr lang="ko-KR" altLang="en-US" sz="800" dirty="0" err="1">
                          <a:latin typeface="+mn-ea"/>
                          <a:ea typeface="+mn-ea"/>
                        </a:rPr>
                        <a:t>입찰참가등록마감일시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bidClrsDt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입찰등록마감일시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7055041"/>
                  </a:ext>
                </a:extLst>
              </a:tr>
              <a:tr h="0">
                <a:tc>
                  <a:txBody>
                    <a:bodyPr/>
                    <a:lstStyle/>
                    <a:p>
                      <a:pPr latinLnBrk="1"/>
                      <a:r>
                        <a:rPr lang="ko-KR" altLang="en-US" sz="800" dirty="0">
                          <a:latin typeface="+mn-ea"/>
                          <a:ea typeface="+mn-ea"/>
                        </a:rPr>
                        <a:t>입찰서접수마감일시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1996039"/>
                  </a:ext>
                </a:extLst>
              </a:tr>
              <a:tr h="0">
                <a:tc>
                  <a:txBody>
                    <a:bodyPr/>
                    <a:lstStyle/>
                    <a:p>
                      <a:pPr latinLnBrk="1"/>
                      <a:r>
                        <a:rPr lang="ko-KR" altLang="en-US" sz="800" dirty="0">
                          <a:latin typeface="+mn-ea"/>
                          <a:ea typeface="+mn-ea"/>
                        </a:rPr>
                        <a:t>업체구분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대표</a:t>
                      </a:r>
                      <a:r>
                        <a:rPr lang="en-US" altLang="ko-KR" sz="800" dirty="0">
                          <a:latin typeface="+mn-ea"/>
                          <a:ea typeface="+mn-ea"/>
                        </a:rPr>
                        <a:t>/</a:t>
                      </a:r>
                      <a:r>
                        <a:rPr lang="ko-KR" altLang="en-US" sz="800" dirty="0">
                          <a:latin typeface="+mn-ea"/>
                          <a:ea typeface="+mn-ea"/>
                        </a:rPr>
                        <a:t>구성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입찰참가신청서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bidPrgrsApfr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입찰참가신청서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입찰서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입찰서 제출 가능한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사전심사</a:t>
                      </a:r>
                      <a:r>
                        <a:rPr lang="en-US" altLang="ko-KR" sz="800" dirty="0">
                          <a:latin typeface="+mn-ea"/>
                          <a:ea typeface="+mn-ea"/>
                        </a:rPr>
                        <a:t>(PQ)</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사전심사 공고인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기술평가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techEvl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기술평가 공고인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생산능력서류제출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prdcpDcmntSbms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생산능력서류 제출 공고인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툴팁</a:t>
                      </a:r>
                      <a:r>
                        <a:rPr lang="ko-KR" altLang="en-US" sz="800" dirty="0">
                          <a:latin typeface="+mn-ea"/>
                          <a:ea typeface="+mn-ea"/>
                        </a:rPr>
                        <a:t> </a:t>
                      </a:r>
                      <a:r>
                        <a:rPr lang="en-US" altLang="ko-KR" sz="800" dirty="0">
                          <a:latin typeface="+mn-ea"/>
                          <a:ea typeface="+mn-ea"/>
                        </a:rPr>
                        <a:t>-</a:t>
                      </a:r>
                      <a:r>
                        <a:rPr lang="ko-KR" altLang="en-US" sz="800" dirty="0">
                          <a:latin typeface="+mn-ea"/>
                          <a:ea typeface="+mn-ea"/>
                        </a:rPr>
                        <a:t> </a:t>
                      </a:r>
                      <a:r>
                        <a:rPr lang="ko-KR" altLang="en-US" sz="800" dirty="0" err="1">
                          <a:latin typeface="+mn-ea"/>
                          <a:ea typeface="+mn-ea"/>
                        </a:rPr>
                        <a:t>생산능력서류제출마감일시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6B88C83A-DE60-8803-FED3-369A363CED0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4A2E38E8-E9B2-DCEC-7D42-0092B57EF2BD}"/>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endParaRPr lang="en-US" altLang="ko-KR" sz="1000" b="1" dirty="0">
              <a:solidFill>
                <a:prstClr val="black"/>
              </a:solidFill>
            </a:endParaRPr>
          </a:p>
        </p:txBody>
      </p:sp>
    </p:spTree>
    <p:extLst>
      <p:ext uri="{BB962C8B-B14F-4D97-AF65-F5344CB8AC3E}">
        <p14:creationId xmlns:p14="http://schemas.microsoft.com/office/powerpoint/2010/main" val="203367147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170</a:t>
            </a:fld>
            <a:endParaRPr lang="ko-KR" altLang="en-US" dirty="0"/>
          </a:p>
        </p:txBody>
      </p:sp>
      <p:sp>
        <p:nvSpPr>
          <p:cNvPr id="2" name="TextBox 1">
            <a:extLst>
              <a:ext uri="{FF2B5EF4-FFF2-40B4-BE49-F238E27FC236}">
                <a16:creationId xmlns:a16="http://schemas.microsoft.com/office/drawing/2014/main" id="{4C4E7A82-A9A4-FEAB-0A5B-333AFCB96112}"/>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5BF6FF23-2554-009C-F0B9-CBB7F0A8619F}"/>
              </a:ext>
            </a:extLst>
          </p:cNvPr>
          <p:cNvGraphicFramePr>
            <a:graphicFrameLocks noGrp="1"/>
          </p:cNvGraphicFramePr>
          <p:nvPr/>
        </p:nvGraphicFramePr>
        <p:xfrm>
          <a:off x="453000" y="1039042"/>
          <a:ext cx="8995591" cy="43776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개찰일자 초기화</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 신청 건</a:t>
                      </a:r>
                      <a:r>
                        <a:rPr lang="en-US" altLang="ko-KR" sz="800" dirty="0">
                          <a:latin typeface="+mn-ea"/>
                          <a:ea typeface="+mn-ea"/>
                        </a:rPr>
                        <a:t>, </a:t>
                      </a:r>
                      <a:r>
                        <a:rPr lang="ko-KR" altLang="en-US" sz="800" dirty="0">
                          <a:latin typeface="+mn-ea"/>
                          <a:ea typeface="+mn-ea"/>
                        </a:rPr>
                        <a:t>사전심사 신청 건</a:t>
                      </a:r>
                      <a:r>
                        <a:rPr lang="en-US" altLang="ko-KR" sz="800" dirty="0">
                          <a:latin typeface="+mn-ea"/>
                          <a:ea typeface="+mn-ea"/>
                        </a:rPr>
                        <a:t>, </a:t>
                      </a:r>
                      <a:r>
                        <a:rPr lang="ko-KR" altLang="en-US" sz="800" dirty="0">
                          <a:latin typeface="+mn-ea"/>
                          <a:ea typeface="+mn-ea"/>
                        </a:rPr>
                        <a:t>구성업체로 진행 건</a:t>
                      </a:r>
                      <a:r>
                        <a:rPr lang="en-US" altLang="ko-KR" sz="800" dirty="0">
                          <a:latin typeface="+mn-ea"/>
                          <a:ea typeface="+mn-ea"/>
                        </a:rPr>
                        <a:t>, </a:t>
                      </a:r>
                      <a:r>
                        <a:rPr lang="ko-KR" altLang="en-US" sz="800" dirty="0">
                          <a:latin typeface="+mn-ea"/>
                          <a:ea typeface="+mn-ea"/>
                        </a:rPr>
                        <a:t>견적서 제출</a:t>
                      </a:r>
                      <a:r>
                        <a:rPr lang="en-US" altLang="ko-KR" sz="800" dirty="0">
                          <a:latin typeface="+mn-ea"/>
                          <a:ea typeface="+mn-ea"/>
                        </a:rPr>
                        <a:t>(</a:t>
                      </a:r>
                      <a:r>
                        <a:rPr lang="ko-KR" altLang="en-US" sz="800" dirty="0">
                          <a:latin typeface="+mn-ea"/>
                          <a:ea typeface="+mn-ea"/>
                        </a:rPr>
                        <a:t>공개수의협상</a:t>
                      </a:r>
                      <a:r>
                        <a:rPr lang="en-US" altLang="ko-KR" sz="800" dirty="0">
                          <a:latin typeface="+mn-ea"/>
                          <a:ea typeface="+mn-ea"/>
                        </a:rPr>
                        <a:t>)</a:t>
                      </a:r>
                      <a:r>
                        <a:rPr lang="ko-KR" altLang="en-US" sz="800" dirty="0">
                          <a:latin typeface="+mn-ea"/>
                          <a:ea typeface="+mn-ea"/>
                        </a:rPr>
                        <a:t> 건</a:t>
                      </a:r>
                      <a:r>
                        <a:rPr lang="en-US" altLang="ko-KR" sz="800" dirty="0">
                          <a:latin typeface="+mn-ea"/>
                          <a:ea typeface="+mn-ea"/>
                        </a:rPr>
                        <a:t>, </a:t>
                      </a:r>
                      <a:r>
                        <a:rPr lang="ko-KR" altLang="en-US" sz="800" dirty="0">
                          <a:latin typeface="+mn-ea"/>
                          <a:ea typeface="+mn-ea"/>
                        </a:rPr>
                        <a:t>재입찰</a:t>
                      </a:r>
                      <a:r>
                        <a:rPr lang="en-US" altLang="ko-KR" sz="800" dirty="0">
                          <a:latin typeface="+mn-ea"/>
                          <a:ea typeface="+mn-ea"/>
                        </a:rPr>
                        <a:t>, </a:t>
                      </a:r>
                      <a:r>
                        <a:rPr lang="ko-KR" altLang="en-US" sz="800" dirty="0">
                          <a:latin typeface="+mn-ea"/>
                          <a:ea typeface="+mn-ea"/>
                        </a:rPr>
                        <a:t>연기공고 건으로 입찰진행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입찰참가신청</a:t>
                      </a:r>
                      <a:r>
                        <a:rPr lang="en-US" altLang="ko-KR" sz="800" dirty="0">
                          <a:latin typeface="+mn-ea"/>
                          <a:ea typeface="+mn-ea"/>
                        </a:rPr>
                        <a:t>, </a:t>
                      </a:r>
                      <a:r>
                        <a:rPr lang="ko-KR" altLang="en-US" sz="800" dirty="0">
                          <a:latin typeface="+mn-ea"/>
                          <a:ea typeface="+mn-ea"/>
                        </a:rPr>
                        <a:t>사전심사신청은 입찰공고상세화면에서 신청</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공개수의 견적서 제출은  입찰공고상세화면에서 제출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scwin.btn_srch_onclick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 신청 건</a:t>
                      </a:r>
                      <a:r>
                        <a:rPr lang="en-US" altLang="ko-KR" sz="800" dirty="0">
                          <a:latin typeface="+mn-ea"/>
                          <a:ea typeface="+mn-ea"/>
                        </a:rPr>
                        <a:t>, </a:t>
                      </a:r>
                      <a:r>
                        <a:rPr lang="ko-KR" altLang="en-US" sz="800" dirty="0">
                          <a:latin typeface="+mn-ea"/>
                          <a:ea typeface="+mn-ea"/>
                        </a:rPr>
                        <a:t>사전심사 신청 건</a:t>
                      </a:r>
                      <a:r>
                        <a:rPr lang="en-US" altLang="ko-KR" sz="800" dirty="0">
                          <a:latin typeface="+mn-ea"/>
                          <a:ea typeface="+mn-ea"/>
                        </a:rPr>
                        <a:t>, </a:t>
                      </a:r>
                      <a:r>
                        <a:rPr lang="ko-KR" altLang="en-US" sz="800" dirty="0">
                          <a:latin typeface="+mn-ea"/>
                          <a:ea typeface="+mn-ea"/>
                        </a:rPr>
                        <a:t>구성업체로 진행 건</a:t>
                      </a:r>
                      <a:r>
                        <a:rPr lang="en-US" altLang="ko-KR" sz="800" dirty="0">
                          <a:latin typeface="+mn-ea"/>
                          <a:ea typeface="+mn-ea"/>
                        </a:rPr>
                        <a:t>, </a:t>
                      </a:r>
                      <a:r>
                        <a:rPr lang="ko-KR" altLang="en-US" sz="800" dirty="0">
                          <a:latin typeface="+mn-ea"/>
                          <a:ea typeface="+mn-ea"/>
                        </a:rPr>
                        <a:t>견적서 제출</a:t>
                      </a:r>
                      <a:r>
                        <a:rPr lang="en-US" altLang="ko-KR" sz="800" dirty="0">
                          <a:latin typeface="+mn-ea"/>
                          <a:ea typeface="+mn-ea"/>
                        </a:rPr>
                        <a:t>(</a:t>
                      </a:r>
                      <a:r>
                        <a:rPr lang="ko-KR" altLang="en-US" sz="800" dirty="0">
                          <a:latin typeface="+mn-ea"/>
                          <a:ea typeface="+mn-ea"/>
                        </a:rPr>
                        <a:t>공개수의협상</a:t>
                      </a:r>
                      <a:r>
                        <a:rPr lang="en-US" altLang="ko-KR" sz="800" dirty="0">
                          <a:latin typeface="+mn-ea"/>
                          <a:ea typeface="+mn-ea"/>
                        </a:rPr>
                        <a:t>)</a:t>
                      </a:r>
                      <a:r>
                        <a:rPr lang="ko-KR" altLang="en-US" sz="800" dirty="0">
                          <a:latin typeface="+mn-ea"/>
                          <a:ea typeface="+mn-ea"/>
                        </a:rPr>
                        <a:t> 건</a:t>
                      </a:r>
                      <a:r>
                        <a:rPr lang="en-US" altLang="ko-KR" sz="800" dirty="0">
                          <a:latin typeface="+mn-ea"/>
                          <a:ea typeface="+mn-ea"/>
                        </a:rPr>
                        <a:t>, </a:t>
                      </a:r>
                      <a:r>
                        <a:rPr lang="ko-KR" altLang="en-US" sz="800" dirty="0">
                          <a:latin typeface="+mn-ea"/>
                          <a:ea typeface="+mn-ea"/>
                        </a:rPr>
                        <a:t>재입찰</a:t>
                      </a:r>
                      <a:r>
                        <a:rPr lang="en-US" altLang="ko-KR" sz="800" dirty="0">
                          <a:latin typeface="+mn-ea"/>
                          <a:ea typeface="+mn-ea"/>
                        </a:rPr>
                        <a:t>, </a:t>
                      </a:r>
                      <a:r>
                        <a:rPr lang="ko-KR" altLang="en-US" sz="800" dirty="0">
                          <a:latin typeface="+mn-ea"/>
                          <a:ea typeface="+mn-ea"/>
                        </a:rPr>
                        <a:t>연기공고 건으로 입찰진행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668250"/>
                  </a:ext>
                </a:extLst>
              </a:tr>
              <a:tr h="0">
                <a:tc>
                  <a:txBody>
                    <a:bodyPr/>
                    <a:lstStyle/>
                    <a:p>
                      <a:r>
                        <a:rPr lang="ko-KR" altLang="en-US" sz="800" dirty="0" err="1"/>
                        <a:t>입찰건명</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입찰공고상세</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(UI-BD-01-M03) </a:t>
                      </a:r>
                      <a:r>
                        <a:rPr lang="ko-KR" altLang="en-US" sz="800" b="0" i="0" kern="1200" dirty="0" err="1">
                          <a:solidFill>
                            <a:schemeClr val="tx1"/>
                          </a:solidFill>
                          <a:effectLst/>
                          <a:latin typeface="+mn-lt"/>
                          <a:ea typeface="+mn-ea"/>
                          <a:cs typeface="+mn-cs"/>
                        </a:rPr>
                        <a:t>입찰공고상세</a:t>
                      </a:r>
                      <a:endParaRPr lang="en-US" altLang="ko-KR" sz="800" b="0" i="0" kern="1200" dirty="0">
                        <a:solidFill>
                          <a:schemeClr val="tx1"/>
                        </a:solidFill>
                        <a:effectLst/>
                        <a:latin typeface="+mn-lt"/>
                        <a:ea typeface="+mn-ea"/>
                        <a:cs typeface="+mn-cs"/>
                      </a:endParaRPr>
                    </a:p>
                    <a:p>
                      <a:pPr marL="0" indent="0" algn="l" latinLnBrk="1">
                        <a:buFont typeface="Arial" panose="020B0604020202020204" pitchFamily="34" charset="0"/>
                        <a:buNone/>
                      </a:pPr>
                      <a:r>
                        <a:rPr lang="en-US" altLang="ko-KR" sz="800" b="0" i="0" kern="1200" dirty="0">
                          <a:solidFill>
                            <a:schemeClr val="tx1"/>
                          </a:solidFill>
                          <a:effectLst/>
                          <a:latin typeface="+mn-lt"/>
                          <a:ea typeface="+mn-ea"/>
                          <a:cs typeface="+mn-cs"/>
                        </a:rPr>
                        <a:t>(UI-BD-01-M71)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입찰공고상세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0613206"/>
                  </a:ext>
                </a:extLst>
              </a:tr>
              <a:tr h="0">
                <a:tc>
                  <a:txBody>
                    <a:bodyPr/>
                    <a:lstStyle/>
                    <a:p>
                      <a:r>
                        <a:rPr lang="ko-KR" altLang="en-US" sz="800" dirty="0"/>
                        <a:t>입찰참가신청서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a:t>
                      </a:r>
                      <a:r>
                        <a:rPr lang="en-US" altLang="ko-KR" sz="800" dirty="0">
                          <a:latin typeface="+mn-ea"/>
                          <a:ea typeface="+mn-ea"/>
                        </a:rPr>
                        <a:t> </a:t>
                      </a:r>
                      <a:r>
                        <a:rPr lang="ko-KR" altLang="en-US" sz="800" dirty="0">
                          <a:latin typeface="+mn-ea"/>
                          <a:ea typeface="+mn-ea"/>
                        </a:rPr>
                        <a:t>동의 팝업 화면 호출</a:t>
                      </a:r>
                      <a:endParaRPr lang="en-US" altLang="ko-KR" sz="800" dirty="0">
                        <a:latin typeface="+mn-ea"/>
                        <a:ea typeface="+mn-ea"/>
                      </a:endParaRPr>
                    </a:p>
                    <a:p>
                      <a:r>
                        <a:rPr lang="ko-KR" altLang="en-US" sz="800" dirty="0">
                          <a:latin typeface="+mn-ea"/>
                          <a:ea typeface="+mn-ea"/>
                        </a:rPr>
                        <a:t>입찰참가신청서 작성</a:t>
                      </a:r>
                      <a:r>
                        <a:rPr lang="en-US" altLang="ko-KR" sz="800" dirty="0">
                          <a:latin typeface="+mn-ea"/>
                          <a:ea typeface="+mn-ea"/>
                        </a:rPr>
                        <a:t>/</a:t>
                      </a:r>
                      <a:r>
                        <a:rPr lang="ko-KR" altLang="en-US" sz="800" dirty="0">
                          <a:latin typeface="+mn-ea"/>
                          <a:ea typeface="+mn-ea"/>
                        </a:rPr>
                        <a:t>수정</a:t>
                      </a:r>
                      <a:r>
                        <a:rPr lang="en-US" altLang="ko-KR" sz="800" dirty="0">
                          <a:latin typeface="+mn-ea"/>
                          <a:ea typeface="+mn-ea"/>
                        </a:rPr>
                        <a:t>/</a:t>
                      </a:r>
                      <a:r>
                        <a:rPr lang="ko-KR" altLang="en-US" sz="800" dirty="0">
                          <a:latin typeface="+mn-ea"/>
                          <a:ea typeface="+mn-ea"/>
                        </a:rPr>
                        <a:t>조회 화면 호출</a:t>
                      </a:r>
                      <a:endParaRPr lang="en-US" altLang="ko-KR" sz="800" dirty="0">
                        <a:latin typeface="+mn-ea"/>
                        <a:ea typeface="+mn-ea"/>
                      </a:endParaRPr>
                    </a:p>
                    <a:p>
                      <a:r>
                        <a:rPr lang="ko-KR" altLang="en-US" sz="800" dirty="0">
                          <a:latin typeface="+mn-ea"/>
                          <a:ea typeface="+mn-ea"/>
                        </a:rPr>
                        <a:t>입찰등록결과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err="1">
                          <a:latin typeface="+mn-ea"/>
                          <a:ea typeface="+mn-ea"/>
                        </a:rPr>
                        <a:t>중복투찰제한</a:t>
                      </a:r>
                      <a:r>
                        <a:rPr lang="ko-KR" altLang="en-US" sz="800" dirty="0">
                          <a:latin typeface="+mn-ea"/>
                          <a:ea typeface="+mn-ea"/>
                        </a:rPr>
                        <a:t> </a:t>
                      </a:r>
                      <a:r>
                        <a:rPr lang="en-US" altLang="ko-KR" sz="800" dirty="0">
                          <a:latin typeface="+mn-ea"/>
                          <a:ea typeface="+mn-ea"/>
                        </a:rPr>
                        <a:t>: </a:t>
                      </a:r>
                      <a:r>
                        <a:rPr lang="ko-KR" altLang="en-US" sz="800" dirty="0">
                          <a:latin typeface="+mn-ea"/>
                          <a:ea typeface="+mn-ea"/>
                        </a:rPr>
                        <a:t>동일공고 동일</a:t>
                      </a:r>
                      <a:r>
                        <a:rPr lang="en-US" altLang="ko-KR" sz="800" dirty="0">
                          <a:latin typeface="+mn-ea"/>
                          <a:ea typeface="+mn-ea"/>
                        </a:rPr>
                        <a:t>IP </a:t>
                      </a:r>
                      <a:r>
                        <a:rPr lang="ko-KR" altLang="en-US" sz="800" dirty="0">
                          <a:latin typeface="+mn-ea"/>
                          <a:ea typeface="+mn-ea"/>
                        </a:rPr>
                        <a:t>중복</a:t>
                      </a:r>
                      <a:r>
                        <a:rPr lang="en-US" altLang="ko-KR" sz="800" dirty="0">
                          <a:latin typeface="+mn-ea"/>
                          <a:ea typeface="+mn-ea"/>
                        </a:rPr>
                        <a:t>, </a:t>
                      </a:r>
                      <a:r>
                        <a:rPr lang="ko-KR" altLang="en-US" sz="800" dirty="0">
                          <a:latin typeface="+mn-ea"/>
                          <a:ea typeface="+mn-ea"/>
                        </a:rPr>
                        <a:t>동일공고 동일업체 중복</a:t>
                      </a:r>
                      <a:endParaRPr lang="en-US" altLang="ko-KR" sz="800" dirty="0">
                        <a:latin typeface="+mn-ea"/>
                        <a:ea typeface="+mn-ea"/>
                      </a:endParaRPr>
                    </a:p>
                    <a:p>
                      <a:pPr marL="0" indent="0" algn="l" latinLnBrk="1">
                        <a:buFont typeface="Arial" panose="020B0604020202020204" pitchFamily="34" charset="0"/>
                        <a:buNone/>
                      </a:pPr>
                      <a:r>
                        <a:rPr lang="ko-KR" altLang="en-US" sz="800" dirty="0" err="1">
                          <a:latin typeface="+mn-ea"/>
                          <a:ea typeface="+mn-ea"/>
                        </a:rPr>
                        <a:t>투찰제한</a:t>
                      </a:r>
                      <a:r>
                        <a:rPr lang="ko-KR" altLang="en-US" sz="800" dirty="0">
                          <a:latin typeface="+mn-ea"/>
                          <a:ea typeface="+mn-ea"/>
                        </a:rPr>
                        <a:t> </a:t>
                      </a:r>
                      <a:r>
                        <a:rPr lang="en-US" altLang="ko-KR" sz="800" dirty="0">
                          <a:latin typeface="+mn-ea"/>
                          <a:ea typeface="+mn-ea"/>
                        </a:rPr>
                        <a:t>: </a:t>
                      </a:r>
                      <a:r>
                        <a:rPr lang="ko-KR" altLang="en-US" sz="800" dirty="0">
                          <a:latin typeface="+mn-ea"/>
                          <a:ea typeface="+mn-ea"/>
                        </a:rPr>
                        <a:t>직접생산증명</a:t>
                      </a:r>
                      <a:r>
                        <a:rPr lang="en-US" altLang="ko-KR" sz="800" dirty="0">
                          <a:latin typeface="+mn-ea"/>
                          <a:ea typeface="+mn-ea"/>
                        </a:rPr>
                        <a:t>(</a:t>
                      </a:r>
                      <a:r>
                        <a:rPr lang="ko-KR" altLang="en-US" sz="800" dirty="0">
                          <a:latin typeface="+mn-ea"/>
                          <a:ea typeface="+mn-ea"/>
                        </a:rPr>
                        <a:t>신규</a:t>
                      </a:r>
                      <a:r>
                        <a:rPr lang="en-US" altLang="ko-KR" sz="800" dirty="0">
                          <a:latin typeface="+mn-ea"/>
                          <a:ea typeface="+mn-ea"/>
                        </a:rPr>
                        <a:t>) </a:t>
                      </a:r>
                      <a:r>
                        <a:rPr lang="ko-KR" altLang="en-US" sz="800" dirty="0">
                          <a:latin typeface="+mn-ea"/>
                          <a:ea typeface="+mn-ea"/>
                        </a:rPr>
                        <a:t>등</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(UI-BD-04-P01) </a:t>
                      </a:r>
                      <a:r>
                        <a:rPr lang="ko-KR" altLang="en-US" sz="800" b="0" i="0" kern="1200" dirty="0">
                          <a:solidFill>
                            <a:schemeClr val="tx1"/>
                          </a:solidFill>
                          <a:effectLst/>
                          <a:latin typeface="+mn-lt"/>
                          <a:ea typeface="+mn-ea"/>
                          <a:cs typeface="+mn-cs"/>
                        </a:rPr>
                        <a:t>서약서동의</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(UI-BD-04-M02) </a:t>
                      </a:r>
                      <a:r>
                        <a:rPr lang="ko-KR" altLang="en-US" sz="800" b="0" i="0" kern="1200" dirty="0">
                          <a:solidFill>
                            <a:schemeClr val="tx1"/>
                          </a:solidFill>
                          <a:effectLst/>
                          <a:latin typeface="+mn-lt"/>
                          <a:ea typeface="+mn-ea"/>
                          <a:cs typeface="+mn-cs"/>
                        </a:rPr>
                        <a:t>입찰참가신청서 </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(UI-BD-05-M02) </a:t>
                      </a:r>
                      <a:r>
                        <a:rPr lang="ko-KR" altLang="en-US" sz="800" b="0" i="0" kern="1200" dirty="0">
                          <a:solidFill>
                            <a:schemeClr val="tx1"/>
                          </a:solidFill>
                          <a:effectLst/>
                          <a:latin typeface="+mn-lt"/>
                          <a:ea typeface="+mn-ea"/>
                          <a:cs typeface="+mn-cs"/>
                        </a:rPr>
                        <a:t>입찰등록심사결과조회</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(UI-BD-04-M77)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입찰참가신청서상세</a:t>
                      </a:r>
                      <a:r>
                        <a:rPr lang="en-US" altLang="ko-KR" sz="800" b="0" i="0" kern="1200" dirty="0">
                          <a:solidFill>
                            <a:schemeClr val="tx1"/>
                          </a:solidFill>
                          <a:effectLst/>
                          <a:latin typeface="+mn-lt"/>
                          <a:ea typeface="+mn-ea"/>
                          <a:cs typeface="+mn-cs"/>
                        </a:rPr>
                        <a:t> </a:t>
                      </a: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(UI-BD-04-M79)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a:solidFill>
                            <a:schemeClr val="tx1"/>
                          </a:solidFill>
                          <a:effectLst/>
                          <a:latin typeface="+mn-lt"/>
                          <a:ea typeface="+mn-ea"/>
                          <a:cs typeface="+mn-cs"/>
                        </a:rPr>
                        <a:t>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68684852"/>
                  </a:ext>
                </a:extLst>
              </a:tr>
              <a:tr h="0">
                <a:tc>
                  <a:txBody>
                    <a:bodyPr/>
                    <a:lstStyle/>
                    <a:p>
                      <a:r>
                        <a:rPr lang="ko-KR" altLang="en-US" sz="800" dirty="0"/>
                        <a:t>입찰서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투찰제한</a:t>
                      </a:r>
                      <a:r>
                        <a:rPr lang="ko-KR" altLang="en-US" sz="800" dirty="0">
                          <a:latin typeface="+mn-ea"/>
                          <a:ea typeface="+mn-ea"/>
                        </a:rPr>
                        <a:t> 및 </a:t>
                      </a:r>
                      <a:r>
                        <a:rPr lang="ko-KR" altLang="en-US" sz="800" dirty="0" err="1">
                          <a:latin typeface="+mn-ea"/>
                          <a:ea typeface="+mn-ea"/>
                        </a:rPr>
                        <a:t>중복투찰제한</a:t>
                      </a:r>
                      <a:r>
                        <a:rPr lang="ko-KR" altLang="en-US" sz="800" dirty="0">
                          <a:latin typeface="+mn-ea"/>
                          <a:ea typeface="+mn-ea"/>
                        </a:rPr>
                        <a:t> 후 입찰서제출 화면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입찰참가신청 상태가 등록확정 또는 입찰등록심사 시점이 사후심사인 경우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(UI-BD-06-M01) </a:t>
                      </a:r>
                      <a:r>
                        <a:rPr lang="ko-KR" altLang="en-US" sz="800" b="0" i="0" kern="1200" dirty="0">
                          <a:solidFill>
                            <a:schemeClr val="tx1"/>
                          </a:solidFill>
                          <a:effectLst/>
                          <a:latin typeface="+mn-lt"/>
                          <a:ea typeface="+mn-ea"/>
                          <a:cs typeface="+mn-cs"/>
                        </a:rPr>
                        <a:t>입찰서제출</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(UI-BD-06-M71)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a:solidFill>
                            <a:schemeClr val="tx1"/>
                          </a:solidFill>
                          <a:effectLst/>
                          <a:latin typeface="+mn-lt"/>
                          <a:ea typeface="+mn-ea"/>
                          <a:cs typeface="+mn-cs"/>
                        </a:rPr>
                        <a:t>입찰서제출</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(UI-BD-06-M72)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역경매입찰서제출</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(UI-BD-06-M73)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입찰서상세</a:t>
                      </a:r>
                      <a:endParaRPr lang="en-US" altLang="ko-KR" sz="800" b="0" i="0"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5114332"/>
                  </a:ext>
                </a:extLst>
              </a:tr>
              <a:tr h="0">
                <a:tc>
                  <a:txBody>
                    <a:bodyPr/>
                    <a:lstStyle/>
                    <a:p>
                      <a:r>
                        <a:rPr lang="ko-KR" altLang="en-US" sz="800" dirty="0"/>
                        <a:t>사전심사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사전심사</a:t>
                      </a:r>
                      <a:r>
                        <a:rPr lang="en-US" altLang="ko-KR" sz="800" dirty="0">
                          <a:latin typeface="+mn-ea"/>
                          <a:ea typeface="+mn-ea"/>
                        </a:rPr>
                        <a:t>(PQ)</a:t>
                      </a:r>
                      <a:r>
                        <a:rPr lang="ko-KR" altLang="en-US" sz="800" dirty="0">
                          <a:latin typeface="+mn-ea"/>
                          <a:ea typeface="+mn-ea"/>
                        </a:rPr>
                        <a:t>결과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사전심사 대상 입찰공고이고</a:t>
                      </a:r>
                      <a:r>
                        <a:rPr lang="en-US" altLang="ko-KR" sz="800" dirty="0">
                          <a:latin typeface="+mn-ea"/>
                          <a:ea typeface="+mn-ea"/>
                        </a:rPr>
                        <a:t>, </a:t>
                      </a:r>
                      <a:r>
                        <a:rPr lang="ko-KR" altLang="en-US" sz="800" dirty="0">
                          <a:latin typeface="+mn-ea"/>
                          <a:ea typeface="+mn-ea"/>
                        </a:rPr>
                        <a:t>사전심사결과가 있는 경우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(UI-BD-02-P04) </a:t>
                      </a:r>
                      <a:r>
                        <a:rPr lang="ko-KR" altLang="en-US" sz="800" b="0" i="0" kern="1200" dirty="0">
                          <a:solidFill>
                            <a:schemeClr val="tx1"/>
                          </a:solidFill>
                          <a:effectLst/>
                          <a:latin typeface="+mn-lt"/>
                          <a:ea typeface="+mn-ea"/>
                          <a:cs typeface="+mn-cs"/>
                        </a:rPr>
                        <a:t>사전심사결과상세</a:t>
                      </a:r>
                      <a:endParaRPr lang="en-US" altLang="ko-KR" sz="800" b="0" i="0"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944359"/>
                  </a:ext>
                </a:extLst>
              </a:tr>
              <a:tr h="0">
                <a:tc>
                  <a:txBody>
                    <a:bodyPr/>
                    <a:lstStyle/>
                    <a:p>
                      <a:r>
                        <a:rPr lang="ko-KR" altLang="en-US" sz="800" dirty="0"/>
                        <a:t>기술평가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기술평가결과조회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기술평가 대상 입찰공고이고</a:t>
                      </a:r>
                      <a:r>
                        <a:rPr lang="en-US" altLang="ko-KR" sz="800" dirty="0">
                          <a:latin typeface="+mn-ea"/>
                          <a:ea typeface="+mn-ea"/>
                        </a:rPr>
                        <a:t>, </a:t>
                      </a:r>
                      <a:r>
                        <a:rPr lang="ko-KR" altLang="en-US" sz="800" dirty="0">
                          <a:latin typeface="+mn-ea"/>
                          <a:ea typeface="+mn-ea"/>
                        </a:rPr>
                        <a:t>기술평가결과가 있는 경우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(UI-BD-07-P03) </a:t>
                      </a:r>
                      <a:r>
                        <a:rPr lang="ko-KR" altLang="en-US" sz="800" b="0" i="0" kern="1200" dirty="0">
                          <a:solidFill>
                            <a:schemeClr val="tx1"/>
                          </a:solidFill>
                          <a:effectLst/>
                          <a:latin typeface="+mn-lt"/>
                          <a:ea typeface="+mn-ea"/>
                          <a:cs typeface="+mn-cs"/>
                        </a:rPr>
                        <a:t>기술평가결과조회</a:t>
                      </a:r>
                      <a:endParaRPr lang="en-US" altLang="ko-KR" sz="800" b="0" i="0"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413864"/>
                  </a:ext>
                </a:extLst>
              </a:tr>
              <a:tr h="0">
                <a:tc>
                  <a:txBody>
                    <a:bodyPr/>
                    <a:lstStyle/>
                    <a:p>
                      <a:r>
                        <a:rPr lang="ko-KR" altLang="en-US" sz="800" dirty="0"/>
                        <a:t>생산능력서류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생산능력서류제출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생산능력서류제출 대상 입찰공고인 경우 버튼 보이기</a:t>
                      </a:r>
                      <a:endParaRPr lang="en-US" altLang="ko-KR" sz="800" dirty="0">
                        <a:latin typeface="+mn-ea"/>
                        <a:ea typeface="+mn-ea"/>
                      </a:endParaRPr>
                    </a:p>
                    <a:p>
                      <a:pPr marL="0" indent="0" algn="l" latinLnBrk="1">
                        <a:buFont typeface="Arial" panose="020B0604020202020204" pitchFamily="34" charset="0"/>
                        <a:buNone/>
                      </a:pPr>
                      <a:r>
                        <a:rPr lang="en-US" altLang="ko-KR" sz="800" b="0" i="0" kern="1200" dirty="0">
                          <a:solidFill>
                            <a:schemeClr val="tx1"/>
                          </a:solidFill>
                          <a:effectLst/>
                          <a:latin typeface="+mn-lt"/>
                          <a:ea typeface="+mn-ea"/>
                          <a:cs typeface="+mn-cs"/>
                        </a:rPr>
                        <a:t>(UI-BD-04-P07) </a:t>
                      </a:r>
                      <a:r>
                        <a:rPr lang="ko-KR" altLang="en-US" sz="800" b="0" i="0" kern="1200" dirty="0">
                          <a:solidFill>
                            <a:schemeClr val="tx1"/>
                          </a:solidFill>
                          <a:effectLst/>
                          <a:latin typeface="+mn-lt"/>
                          <a:ea typeface="+mn-ea"/>
                          <a:cs typeface="+mn-cs"/>
                        </a:rPr>
                        <a:t>생산능력서류제출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r>
                        <a:rPr lang="ko-KR" altLang="en-US" sz="800" dirty="0" err="1"/>
                        <a:t>모의투찰</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scwin.btn_simtBdng_onclick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모의투찰</a:t>
                      </a:r>
                      <a:r>
                        <a:rPr lang="ko-KR" altLang="en-US" sz="800" dirty="0">
                          <a:latin typeface="+mn-ea"/>
                          <a:ea typeface="+mn-ea"/>
                        </a:rPr>
                        <a:t> 상태로 변경되며</a:t>
                      </a:r>
                      <a:r>
                        <a:rPr lang="en-US" altLang="ko-KR" sz="800" dirty="0">
                          <a:latin typeface="+mn-ea"/>
                          <a:ea typeface="+mn-ea"/>
                        </a:rPr>
                        <a:t>, </a:t>
                      </a:r>
                      <a:r>
                        <a:rPr lang="ko-KR" altLang="en-US" sz="800" dirty="0" err="1">
                          <a:latin typeface="+mn-ea"/>
                          <a:ea typeface="+mn-ea"/>
                        </a:rPr>
                        <a:t>모의투찰용</a:t>
                      </a:r>
                      <a:r>
                        <a:rPr lang="ko-KR" altLang="en-US" sz="800" dirty="0">
                          <a:latin typeface="+mn-ea"/>
                          <a:ea typeface="+mn-ea"/>
                        </a:rPr>
                        <a:t> 입찰진행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입찰참가신청 시 입찰등록심사결과를 바로 등록확정 처리</a:t>
                      </a:r>
                      <a:r>
                        <a:rPr lang="en-US" altLang="ko-KR" sz="800" dirty="0">
                          <a:latin typeface="+mn-ea"/>
                          <a:ea typeface="+mn-ea"/>
                        </a:rPr>
                        <a:t>.</a:t>
                      </a:r>
                    </a:p>
                    <a:p>
                      <a:pPr marL="0" indent="0" algn="l" latinLnBrk="1">
                        <a:buFont typeface="Arial" panose="020B0604020202020204" pitchFamily="34" charset="0"/>
                        <a:buNone/>
                      </a:pPr>
                      <a:r>
                        <a:rPr lang="ko-KR" altLang="en-US" sz="800" dirty="0">
                          <a:latin typeface="+mn-ea"/>
                          <a:ea typeface="+mn-ea"/>
                        </a:rPr>
                        <a:t>입찰서제출 후 입찰취소신청 가능</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다시 </a:t>
                      </a:r>
                      <a:r>
                        <a:rPr lang="ko-KR" altLang="en-US" sz="800" dirty="0" err="1">
                          <a:latin typeface="+mn-ea"/>
                          <a:ea typeface="+mn-ea"/>
                        </a:rPr>
                        <a:t>모의투찰</a:t>
                      </a:r>
                      <a:r>
                        <a:rPr lang="ko-KR" altLang="en-US" sz="800" dirty="0">
                          <a:latin typeface="+mn-ea"/>
                          <a:ea typeface="+mn-ea"/>
                        </a:rPr>
                        <a:t> 상태 진입 시 기존 </a:t>
                      </a:r>
                      <a:r>
                        <a:rPr lang="ko-KR" altLang="en-US" sz="800" dirty="0" err="1">
                          <a:latin typeface="+mn-ea"/>
                          <a:ea typeface="+mn-ea"/>
                        </a:rPr>
                        <a:t>모의투찰</a:t>
                      </a:r>
                      <a:r>
                        <a:rPr lang="ko-KR" altLang="en-US" sz="800" dirty="0">
                          <a:latin typeface="+mn-ea"/>
                          <a:ea typeface="+mn-ea"/>
                        </a:rPr>
                        <a:t> </a:t>
                      </a:r>
                      <a:r>
                        <a:rPr lang="ko-KR" altLang="en-US" sz="800" dirty="0" err="1">
                          <a:latin typeface="+mn-ea"/>
                          <a:ea typeface="+mn-ea"/>
                        </a:rPr>
                        <a:t>진행건</a:t>
                      </a:r>
                      <a:r>
                        <a:rPr lang="ko-KR" altLang="en-US" sz="800" dirty="0">
                          <a:latin typeface="+mn-ea"/>
                          <a:ea typeface="+mn-ea"/>
                        </a:rPr>
                        <a:t>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3317343"/>
                  </a:ext>
                </a:extLst>
              </a:tr>
            </a:tbl>
          </a:graphicData>
        </a:graphic>
      </p:graphicFrame>
      <p:sp>
        <p:nvSpPr>
          <p:cNvPr id="5" name="Text Box 73">
            <a:extLst>
              <a:ext uri="{FF2B5EF4-FFF2-40B4-BE49-F238E27FC236}">
                <a16:creationId xmlns:a16="http://schemas.microsoft.com/office/drawing/2014/main" id="{EE08407E-3A29-07B8-92E2-A37609B553A0}"/>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4718959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171</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11. </a:t>
            </a:r>
            <a:r>
              <a:rPr lang="ko-KR" altLang="en-US" dirty="0" err="1"/>
              <a:t>입찰진행</a:t>
            </a:r>
            <a:r>
              <a:rPr lang="ko-KR" altLang="en-US" dirty="0"/>
              <a:t> </a:t>
            </a:r>
            <a:r>
              <a:rPr lang="ko-KR" altLang="en-US" dirty="0" smtClean="0"/>
              <a:t>상세 </a:t>
            </a:r>
            <a:r>
              <a:rPr lang="en-US" altLang="ko-KR" dirty="0" smtClean="0"/>
              <a:t>- </a:t>
            </a:r>
            <a:r>
              <a:rPr lang="ko-KR" altLang="en-US" dirty="0" err="1" smtClean="0"/>
              <a:t>입찰서조회</a:t>
            </a:r>
            <a:endParaRPr lang="en-US" altLang="ko-KR" dirty="0"/>
          </a:p>
          <a:p>
            <a:r>
              <a:rPr lang="en-US" altLang="ko-KR" dirty="0" smtClean="0"/>
              <a:t>11.1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507702137"/>
              </p:ext>
            </p:extLst>
          </p:nvPr>
        </p:nvGraphicFramePr>
        <p:xfrm>
          <a:off x="635474" y="1413419"/>
          <a:ext cx="8701200" cy="2435637"/>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700" dirty="0" smtClean="0">
                          <a:latin typeface="+mn-lt"/>
                        </a:rPr>
                        <a:t>MUI-BD-06-M09</a:t>
                      </a:r>
                      <a:endParaRPr lang="en-US" altLang="ko-KR" sz="7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latin typeface="+mn-lt"/>
                        </a:rPr>
                        <a:t>입찰서</a:t>
                      </a:r>
                      <a:r>
                        <a:rPr lang="en-US" altLang="ko-KR" sz="800" dirty="0" smtClean="0">
                          <a:latin typeface="+mn-lt"/>
                        </a:rPr>
                        <a:t>(</a:t>
                      </a:r>
                      <a:r>
                        <a:rPr lang="ko-KR" altLang="en-US" sz="800" dirty="0" smtClean="0">
                          <a:latin typeface="+mn-lt"/>
                        </a:rPr>
                        <a:t>견적서</a:t>
                      </a:r>
                      <a:r>
                        <a:rPr lang="en-US" altLang="ko-KR" sz="800" dirty="0" smtClean="0">
                          <a:latin typeface="+mn-lt"/>
                        </a:rPr>
                        <a:t>)</a:t>
                      </a:r>
                      <a:r>
                        <a:rPr lang="ko-KR" altLang="en-US" sz="800" dirty="0" smtClean="0">
                          <a:latin typeface="+mn-lt"/>
                        </a:rPr>
                        <a:t>조회 </a:t>
                      </a:r>
                      <a:r>
                        <a:rPr lang="en-US" altLang="ko-KR" sz="800" dirty="0" smtClean="0">
                          <a:latin typeface="+mn-lt"/>
                        </a:rPr>
                        <a:t>- </a:t>
                      </a:r>
                      <a:r>
                        <a:rPr lang="ko-KR" altLang="en-US" sz="800" dirty="0" err="1" smtClean="0">
                          <a:latin typeface="+mn-lt"/>
                        </a:rPr>
                        <a:t>신청완료</a:t>
                      </a:r>
                      <a:endParaRPr lang="ko-KR" altLang="en-US" sz="800" dirty="0">
                        <a:latin typeface="+mn-lt"/>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맑은 고딕" panose="020B0503020000020004" pitchFamily="50" charset="-127"/>
                          <a:ea typeface="맑은 고딕" panose="020B0503020000020004" pitchFamily="50" charset="-127"/>
                        </a:rPr>
                        <a:t>TndrInqPage</a:t>
                      </a:r>
                      <a:endParaRPr 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lt"/>
                        </a:rPr>
                        <a:t>신청한 </a:t>
                      </a:r>
                      <a:r>
                        <a:rPr lang="ko-KR" altLang="en-US" sz="800" dirty="0" smtClean="0">
                          <a:latin typeface="+mn-lt"/>
                        </a:rPr>
                        <a:t>입찰서 </a:t>
                      </a:r>
                      <a:r>
                        <a:rPr lang="ko-KR" altLang="en-US" sz="800" dirty="0">
                          <a:latin typeface="+mn-lt"/>
                        </a:rPr>
                        <a:t>내역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err="1" smtClean="0">
                          <a:solidFill>
                            <a:schemeClr val="tx1"/>
                          </a:solidFill>
                          <a:latin typeface="+mn-lt"/>
                          <a:ea typeface="+mn-ea"/>
                        </a:rPr>
                        <a:t>.tsx</a:t>
                      </a:r>
                      <a:endParaRPr lang="ko-KR" altLang="en-US" sz="800" dirty="0" smtClean="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UC-BD-02-01</a:t>
                      </a:r>
                      <a:endParaRPr lang="en-US" altLang="ko-KR" sz="800" dirty="0">
                        <a:solidFill>
                          <a:srgbClr val="FF0000"/>
                        </a:solidFill>
                        <a:latin typeface="+mn-lt"/>
                        <a:ea typeface="+mn-ea"/>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UC-BD-08-01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r>
                        <a:rPr lang="en-US" altLang="ko-KR" sz="700" dirty="0" smtClean="0">
                          <a:latin typeface="+mn-lt"/>
                        </a:rPr>
                        <a:t>MUI-BD-06-T02 </a:t>
                      </a:r>
                      <a:endParaRPr lang="ko-KR" altLang="en-US" sz="700" dirty="0">
                        <a:solidFill>
                          <a:srgbClr val="000000"/>
                        </a:solidFill>
                        <a:latin typeface="+mn-lt"/>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lt"/>
                        </a:rPr>
                        <a:t>입찰진행상세</a:t>
                      </a:r>
                      <a:r>
                        <a:rPr lang="en-US" altLang="ko-KR" sz="800" dirty="0" smtClean="0">
                          <a:latin typeface="+mn-lt"/>
                        </a:rPr>
                        <a:t>- </a:t>
                      </a:r>
                      <a:r>
                        <a:rPr lang="ko-KR" altLang="en-US" sz="800" dirty="0" smtClean="0">
                          <a:latin typeface="+mn-lt"/>
                        </a:rPr>
                        <a:t>입찰서</a:t>
                      </a:r>
                      <a:r>
                        <a:rPr lang="en-US" altLang="ko-KR" sz="800" dirty="0" smtClean="0">
                          <a:latin typeface="+mn-lt"/>
                        </a:rPr>
                        <a:t>(</a:t>
                      </a:r>
                      <a:r>
                        <a:rPr lang="ko-KR" altLang="en-US" sz="800" dirty="0" smtClean="0">
                          <a:latin typeface="+mn-lt"/>
                        </a:rPr>
                        <a:t>견적서</a:t>
                      </a:r>
                      <a:r>
                        <a:rPr lang="en-US" altLang="ko-KR" sz="800" dirty="0" smtClean="0">
                          <a:latin typeface="+mn-lt"/>
                        </a:rPr>
                        <a:t>)</a:t>
                      </a:r>
                      <a:r>
                        <a:rPr lang="ko-KR" altLang="en-US" sz="800" dirty="0" smtClean="0">
                          <a:latin typeface="+mn-lt"/>
                        </a:rPr>
                        <a:t>조회품목내역</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TndrInq_tab2</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입찰서 </a:t>
                      </a:r>
                      <a:r>
                        <a:rPr lang="en-US" altLang="ko-KR" sz="800" kern="1200" dirty="0">
                          <a:solidFill>
                            <a:schemeClr val="tx1"/>
                          </a:solidFill>
                          <a:latin typeface="+mn-lt"/>
                          <a:ea typeface="+mn-ea"/>
                          <a:cs typeface="+mn-cs"/>
                        </a:rPr>
                        <a:t>– </a:t>
                      </a:r>
                      <a:r>
                        <a:rPr lang="ko-KR" altLang="en-US" sz="800" kern="1200" dirty="0" err="1">
                          <a:solidFill>
                            <a:schemeClr val="tx1"/>
                          </a:solidFill>
                          <a:latin typeface="+mn-lt"/>
                          <a:ea typeface="+mn-ea"/>
                          <a:cs typeface="+mn-cs"/>
                        </a:rPr>
                        <a:t>스탭</a:t>
                      </a:r>
                      <a:r>
                        <a:rPr lang="ko-KR" altLang="en-US" sz="800" kern="1200" dirty="0">
                          <a:solidFill>
                            <a:schemeClr val="tx1"/>
                          </a:solidFill>
                          <a:latin typeface="+mn-lt"/>
                          <a:ea typeface="+mn-ea"/>
                          <a:cs typeface="+mn-cs"/>
                        </a:rPr>
                        <a:t> </a:t>
                      </a:r>
                      <a:r>
                        <a:rPr lang="en-US" altLang="ko-KR" sz="800" kern="1200" dirty="0">
                          <a:solidFill>
                            <a:schemeClr val="tx1"/>
                          </a:solidFill>
                          <a:latin typeface="+mn-lt"/>
                          <a:ea typeface="+mn-ea"/>
                          <a:cs typeface="+mn-cs"/>
                        </a:rPr>
                        <a:t>2 </a:t>
                      </a:r>
                      <a:r>
                        <a:rPr lang="ko-KR" altLang="en-US" sz="800" kern="1200" dirty="0" err="1">
                          <a:solidFill>
                            <a:schemeClr val="tx1"/>
                          </a:solidFill>
                          <a:latin typeface="+mn-lt"/>
                          <a:ea typeface="+mn-ea"/>
                          <a:cs typeface="+mn-cs"/>
                        </a:rPr>
                        <a:t>품목내역</a:t>
                      </a:r>
                      <a:r>
                        <a:rPr lang="ko-KR" altLang="en-US" sz="800" kern="1200" dirty="0">
                          <a:solidFill>
                            <a:schemeClr val="tx1"/>
                          </a:solidFill>
                          <a:latin typeface="+mn-lt"/>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smtClean="0">
                          <a:solidFill>
                            <a:schemeClr val="tx1"/>
                          </a:solidFill>
                          <a:latin typeface="+mn-lt"/>
                          <a:ea typeface="+mn-ea"/>
                        </a:rPr>
                        <a:t>/</a:t>
                      </a:r>
                      <a:r>
                        <a:rPr lang="en-US" altLang="ko-KR" sz="800" b="0" i="0" u="none" strike="noStrike" dirty="0" smtClean="0">
                          <a:solidFill>
                            <a:schemeClr val="tx1"/>
                          </a:solidFill>
                          <a:effectLst/>
                          <a:latin typeface="맑은 고딕" panose="020B0503020000020004" pitchFamily="50" charset="-127"/>
                          <a:ea typeface="+mn-ea"/>
                        </a:rPr>
                        <a:t>TndrInq_tab2</a:t>
                      </a:r>
                      <a:r>
                        <a:rPr kumimoji="0" lang="en-US" altLang="ko-KR" sz="800" b="0" i="0" u="none" strike="noStrike" kern="1200" cap="none" spc="0" normalizeH="0" baseline="0" noProof="0" dirty="0" smtClean="0">
                          <a:ln>
                            <a:noFill/>
                          </a:ln>
                          <a:solidFill>
                            <a:prstClr val="black"/>
                          </a:solidFill>
                          <a:effectLst/>
                          <a:uLnTx/>
                          <a:uFillTx/>
                          <a:latin typeface="+mn-lt"/>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mn-lt"/>
                          <a:ea typeface="맑은 고딕" panose="020B0503020000020004" pitchFamily="50" charset="-127"/>
                          <a:cs typeface="+mn-cs"/>
                        </a:rPr>
                        <a:t>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UC-BD-04-01</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lt"/>
                        </a:rPr>
                        <a:t>MUI-BD-06-T03</a:t>
                      </a:r>
                      <a:endParaRPr lang="ko-KR" altLang="en-US" sz="700" dirty="0" smtClean="0">
                        <a:solidFill>
                          <a:srgbClr val="000000"/>
                        </a:solidFill>
                        <a:latin typeface="+mn-lt"/>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lt"/>
                        </a:rPr>
                        <a:t>입찰진행상세</a:t>
                      </a:r>
                      <a:r>
                        <a:rPr lang="en-US" altLang="ko-KR" sz="800" dirty="0" smtClean="0">
                          <a:latin typeface="+mn-lt"/>
                        </a:rPr>
                        <a:t>- </a:t>
                      </a:r>
                      <a:r>
                        <a:rPr lang="ko-KR" altLang="en-US" sz="800" dirty="0" smtClean="0">
                          <a:latin typeface="+mn-lt"/>
                        </a:rPr>
                        <a:t>입찰서</a:t>
                      </a:r>
                      <a:r>
                        <a:rPr lang="en-US" altLang="ko-KR" sz="800" dirty="0" smtClean="0">
                          <a:latin typeface="+mn-lt"/>
                        </a:rPr>
                        <a:t>(</a:t>
                      </a:r>
                      <a:r>
                        <a:rPr lang="ko-KR" altLang="en-US" sz="800" dirty="0" smtClean="0">
                          <a:latin typeface="+mn-lt"/>
                        </a:rPr>
                        <a:t>견적서</a:t>
                      </a:r>
                      <a:r>
                        <a:rPr lang="en-US" altLang="ko-KR" sz="800" dirty="0" smtClean="0">
                          <a:latin typeface="+mn-lt"/>
                        </a:rPr>
                        <a:t>)</a:t>
                      </a:r>
                      <a:r>
                        <a:rPr lang="ko-KR" altLang="en-US" sz="800" dirty="0" smtClean="0">
                          <a:latin typeface="+mn-lt"/>
                        </a:rPr>
                        <a:t>조회투찰내역</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TndrInq_tab3</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입찰서 </a:t>
                      </a:r>
                      <a:r>
                        <a:rPr lang="en-US" altLang="ko-KR" sz="800" kern="1200" dirty="0">
                          <a:solidFill>
                            <a:schemeClr val="tx1"/>
                          </a:solidFill>
                          <a:latin typeface="+mn-lt"/>
                          <a:ea typeface="+mn-ea"/>
                          <a:cs typeface="+mn-cs"/>
                        </a:rPr>
                        <a:t>– </a:t>
                      </a:r>
                      <a:r>
                        <a:rPr lang="ko-KR" altLang="en-US" sz="800" kern="1200" dirty="0" err="1">
                          <a:solidFill>
                            <a:schemeClr val="tx1"/>
                          </a:solidFill>
                          <a:latin typeface="+mn-lt"/>
                          <a:ea typeface="+mn-ea"/>
                          <a:cs typeface="+mn-cs"/>
                        </a:rPr>
                        <a:t>스탭</a:t>
                      </a:r>
                      <a:r>
                        <a:rPr lang="ko-KR" altLang="en-US" sz="800" kern="1200" dirty="0">
                          <a:solidFill>
                            <a:schemeClr val="tx1"/>
                          </a:solidFill>
                          <a:latin typeface="+mn-lt"/>
                          <a:ea typeface="+mn-ea"/>
                          <a:cs typeface="+mn-cs"/>
                        </a:rPr>
                        <a:t> </a:t>
                      </a:r>
                      <a:r>
                        <a:rPr lang="en-US" altLang="ko-KR" sz="800" kern="1200" dirty="0">
                          <a:solidFill>
                            <a:schemeClr val="tx1"/>
                          </a:solidFill>
                          <a:latin typeface="+mn-lt"/>
                          <a:ea typeface="+mn-ea"/>
                          <a:cs typeface="+mn-cs"/>
                        </a:rPr>
                        <a:t>3 </a:t>
                      </a:r>
                      <a:r>
                        <a:rPr lang="ko-KR" altLang="en-US" sz="800" kern="1200" dirty="0" err="1">
                          <a:solidFill>
                            <a:schemeClr val="tx1"/>
                          </a:solidFill>
                          <a:latin typeface="+mn-lt"/>
                          <a:ea typeface="+mn-ea"/>
                          <a:cs typeface="+mn-cs"/>
                        </a:rPr>
                        <a:t>투찰내역</a:t>
                      </a:r>
                      <a:r>
                        <a:rPr lang="ko-KR" altLang="en-US" sz="800" kern="1200" dirty="0">
                          <a:solidFill>
                            <a:schemeClr val="tx1"/>
                          </a:solidFill>
                          <a:latin typeface="+mn-lt"/>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smtClean="0">
                          <a:solidFill>
                            <a:schemeClr val="tx1"/>
                          </a:solidFill>
                          <a:latin typeface="+mn-lt"/>
                          <a:ea typeface="+mn-ea"/>
                        </a:rPr>
                        <a:t>/</a:t>
                      </a:r>
                      <a:r>
                        <a:rPr lang="en-US" altLang="ko-KR" sz="800" b="0" i="0" u="none" strike="noStrike" dirty="0" smtClean="0">
                          <a:solidFill>
                            <a:schemeClr val="tx1"/>
                          </a:solidFill>
                          <a:effectLst/>
                          <a:latin typeface="맑은 고딕" panose="020B0503020000020004" pitchFamily="50" charset="-127"/>
                          <a:ea typeface="+mn-ea"/>
                        </a:rPr>
                        <a:t>TndrInq_tab3</a:t>
                      </a:r>
                      <a:r>
                        <a:rPr kumimoji="0" lang="en-US" altLang="ko-KR" sz="800" b="0" i="0" u="none" strike="noStrike" kern="1200" cap="none" spc="0" normalizeH="0" baseline="0" noProof="0" dirty="0" smtClean="0">
                          <a:ln>
                            <a:noFill/>
                          </a:ln>
                          <a:solidFill>
                            <a:prstClr val="black"/>
                          </a:solidFill>
                          <a:effectLst/>
                          <a:uLnTx/>
                          <a:uFillTx/>
                          <a:latin typeface="+mn-lt"/>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mn-lt"/>
                          <a:ea typeface="맑은 고딕" panose="020B0503020000020004" pitchFamily="50" charset="-127"/>
                          <a:cs typeface="+mn-cs"/>
                        </a:rPr>
                        <a:t>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UC-BD-04-01</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8292094"/>
                  </a:ext>
                </a:extLst>
              </a:tr>
              <a:tr h="180000">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lt"/>
                        </a:rPr>
                        <a:t>MUI-BD-06-T04</a:t>
                      </a:r>
                      <a:endParaRPr lang="ko-KR" altLang="en-US" sz="700" dirty="0" smtClean="0">
                        <a:solidFill>
                          <a:srgbClr val="000000"/>
                        </a:solidFill>
                        <a:latin typeface="+mn-lt"/>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lt"/>
                        </a:rPr>
                        <a:t>입찰진행상세</a:t>
                      </a:r>
                      <a:r>
                        <a:rPr lang="en-US" altLang="ko-KR" sz="800" dirty="0" smtClean="0">
                          <a:latin typeface="+mn-lt"/>
                        </a:rPr>
                        <a:t>- </a:t>
                      </a:r>
                      <a:r>
                        <a:rPr lang="ko-KR" altLang="en-US" sz="800" dirty="0" smtClean="0">
                          <a:latin typeface="+mn-lt"/>
                        </a:rPr>
                        <a:t>입찰서</a:t>
                      </a:r>
                      <a:r>
                        <a:rPr lang="en-US" altLang="ko-KR" sz="800" dirty="0" smtClean="0">
                          <a:latin typeface="+mn-lt"/>
                        </a:rPr>
                        <a:t>(</a:t>
                      </a:r>
                      <a:r>
                        <a:rPr lang="ko-KR" altLang="en-US" sz="800" dirty="0" smtClean="0">
                          <a:latin typeface="+mn-lt"/>
                        </a:rPr>
                        <a:t>견적서</a:t>
                      </a:r>
                      <a:r>
                        <a:rPr lang="en-US" altLang="ko-KR" sz="800" dirty="0" smtClean="0">
                          <a:latin typeface="+mn-lt"/>
                        </a:rPr>
                        <a:t>)</a:t>
                      </a:r>
                      <a:r>
                        <a:rPr lang="ko-KR" altLang="en-US" sz="800" dirty="0" smtClean="0">
                          <a:latin typeface="+mn-lt"/>
                        </a:rPr>
                        <a:t>조회복수예비가격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TndrInq_tab4</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입찰서 </a:t>
                      </a:r>
                      <a:r>
                        <a:rPr lang="en-US" altLang="ko-KR" sz="800" kern="1200" dirty="0">
                          <a:solidFill>
                            <a:schemeClr val="tx1"/>
                          </a:solidFill>
                          <a:latin typeface="+mn-lt"/>
                          <a:ea typeface="+mn-ea"/>
                          <a:cs typeface="+mn-cs"/>
                        </a:rPr>
                        <a:t>– </a:t>
                      </a:r>
                      <a:r>
                        <a:rPr lang="ko-KR" altLang="en-US" sz="800" kern="1200" dirty="0" err="1">
                          <a:solidFill>
                            <a:schemeClr val="tx1"/>
                          </a:solidFill>
                          <a:latin typeface="+mn-lt"/>
                          <a:ea typeface="+mn-ea"/>
                          <a:cs typeface="+mn-cs"/>
                        </a:rPr>
                        <a:t>스탭</a:t>
                      </a:r>
                      <a:r>
                        <a:rPr lang="ko-KR" altLang="en-US" sz="800" kern="1200" dirty="0">
                          <a:solidFill>
                            <a:schemeClr val="tx1"/>
                          </a:solidFill>
                          <a:latin typeface="+mn-lt"/>
                          <a:ea typeface="+mn-ea"/>
                          <a:cs typeface="+mn-cs"/>
                        </a:rPr>
                        <a:t> </a:t>
                      </a:r>
                      <a:r>
                        <a:rPr lang="en-US" altLang="ko-KR" sz="800" kern="1200" dirty="0">
                          <a:solidFill>
                            <a:schemeClr val="tx1"/>
                          </a:solidFill>
                          <a:latin typeface="+mn-lt"/>
                          <a:ea typeface="+mn-ea"/>
                          <a:cs typeface="+mn-cs"/>
                        </a:rPr>
                        <a:t>4 </a:t>
                      </a:r>
                      <a:r>
                        <a:rPr lang="ko-KR" altLang="en-US" sz="800" kern="1200" dirty="0">
                          <a:solidFill>
                            <a:schemeClr val="tx1"/>
                          </a:solidFill>
                          <a:latin typeface="+mn-lt"/>
                          <a:ea typeface="+mn-ea"/>
                          <a:cs typeface="+mn-cs"/>
                        </a:rPr>
                        <a:t>복수예비가격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smtClean="0">
                          <a:solidFill>
                            <a:schemeClr val="tx1"/>
                          </a:solidFill>
                          <a:latin typeface="+mn-lt"/>
                          <a:ea typeface="+mn-ea"/>
                        </a:rPr>
                        <a:t>/</a:t>
                      </a:r>
                      <a:r>
                        <a:rPr lang="en-US" altLang="ko-KR" sz="800" b="0" i="0" u="none" strike="noStrike" dirty="0" smtClean="0">
                          <a:solidFill>
                            <a:schemeClr val="tx1"/>
                          </a:solidFill>
                          <a:effectLst/>
                          <a:latin typeface="맑은 고딕" panose="020B0503020000020004" pitchFamily="50" charset="-127"/>
                          <a:ea typeface="+mn-ea"/>
                        </a:rPr>
                        <a:t>TndrInq_tab4</a:t>
                      </a:r>
                      <a:r>
                        <a:rPr kumimoji="0" lang="en-US" altLang="ko-KR" sz="800" b="0" i="0" u="none" strike="noStrike" kern="1200" cap="none" spc="0" normalizeH="0" baseline="0" noProof="0" dirty="0" smtClean="0">
                          <a:ln>
                            <a:noFill/>
                          </a:ln>
                          <a:solidFill>
                            <a:prstClr val="black"/>
                          </a:solidFill>
                          <a:effectLst/>
                          <a:uLnTx/>
                          <a:uFillTx/>
                          <a:latin typeface="+mn-lt"/>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mn-lt"/>
                          <a:ea typeface="맑은 고딕" panose="020B0503020000020004" pitchFamily="50" charset="-127"/>
                          <a:cs typeface="+mn-cs"/>
                        </a:rPr>
                        <a:t>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UC-BD-04-01</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6077400"/>
                  </a:ext>
                </a:extLst>
              </a:tr>
              <a:tr h="344772">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lt"/>
                        </a:rPr>
                        <a:t>MUI-BD-06-T05</a:t>
                      </a:r>
                      <a:endParaRPr lang="ko-KR" altLang="en-US" sz="700" dirty="0" smtClean="0">
                        <a:solidFill>
                          <a:srgbClr val="000000"/>
                        </a:solidFill>
                        <a:latin typeface="+mn-lt"/>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lt"/>
                        </a:rPr>
                        <a:t>입찰진행상세</a:t>
                      </a:r>
                      <a:r>
                        <a:rPr lang="en-US" altLang="ko-KR" sz="800" dirty="0" smtClean="0">
                          <a:latin typeface="+mn-lt"/>
                        </a:rPr>
                        <a:t>- </a:t>
                      </a:r>
                      <a:r>
                        <a:rPr lang="ko-KR" altLang="en-US" sz="800" dirty="0" smtClean="0">
                          <a:latin typeface="+mn-lt"/>
                        </a:rPr>
                        <a:t>입찰서</a:t>
                      </a:r>
                      <a:r>
                        <a:rPr lang="en-US" altLang="ko-KR" sz="800" dirty="0" smtClean="0">
                          <a:latin typeface="+mn-lt"/>
                        </a:rPr>
                        <a:t>(</a:t>
                      </a:r>
                      <a:r>
                        <a:rPr lang="ko-KR" altLang="en-US" sz="800" dirty="0" smtClean="0">
                          <a:latin typeface="+mn-lt"/>
                        </a:rPr>
                        <a:t>견적서</a:t>
                      </a:r>
                      <a:r>
                        <a:rPr lang="en-US" altLang="ko-KR" sz="800" dirty="0" smtClean="0">
                          <a:latin typeface="+mn-lt"/>
                        </a:rPr>
                        <a:t>)</a:t>
                      </a:r>
                      <a:r>
                        <a:rPr lang="ko-KR" altLang="en-US" sz="800" dirty="0" smtClean="0">
                          <a:latin typeface="+mn-lt"/>
                        </a:rPr>
                        <a:t>조회파일첨부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TndrInq_tab5</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입찰서 </a:t>
                      </a:r>
                      <a:r>
                        <a:rPr lang="en-US" altLang="ko-KR" sz="800" kern="1200" dirty="0">
                          <a:solidFill>
                            <a:schemeClr val="tx1"/>
                          </a:solidFill>
                          <a:latin typeface="+mn-lt"/>
                          <a:ea typeface="+mn-ea"/>
                          <a:cs typeface="+mn-cs"/>
                        </a:rPr>
                        <a:t>– </a:t>
                      </a:r>
                      <a:r>
                        <a:rPr lang="ko-KR" altLang="en-US" sz="800" kern="1200" dirty="0" err="1">
                          <a:solidFill>
                            <a:schemeClr val="tx1"/>
                          </a:solidFill>
                          <a:latin typeface="+mn-lt"/>
                          <a:ea typeface="+mn-ea"/>
                          <a:cs typeface="+mn-cs"/>
                        </a:rPr>
                        <a:t>스탭</a:t>
                      </a:r>
                      <a:r>
                        <a:rPr lang="ko-KR" altLang="en-US" sz="800" kern="1200" dirty="0">
                          <a:solidFill>
                            <a:schemeClr val="tx1"/>
                          </a:solidFill>
                          <a:latin typeface="+mn-lt"/>
                          <a:ea typeface="+mn-ea"/>
                          <a:cs typeface="+mn-cs"/>
                        </a:rPr>
                        <a:t> </a:t>
                      </a:r>
                      <a:r>
                        <a:rPr lang="en-US" altLang="ko-KR" sz="800" kern="1200" dirty="0">
                          <a:solidFill>
                            <a:schemeClr val="tx1"/>
                          </a:solidFill>
                          <a:latin typeface="+mn-lt"/>
                          <a:ea typeface="+mn-ea"/>
                          <a:cs typeface="+mn-cs"/>
                        </a:rPr>
                        <a:t>5 </a:t>
                      </a:r>
                      <a:r>
                        <a:rPr lang="ko-KR" altLang="en-US" sz="800" kern="1200" dirty="0">
                          <a:solidFill>
                            <a:schemeClr val="tx1"/>
                          </a:solidFill>
                          <a:latin typeface="+mn-lt"/>
                          <a:ea typeface="+mn-ea"/>
                          <a:cs typeface="+mn-cs"/>
                        </a:rPr>
                        <a:t>파일첨부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smtClean="0">
                          <a:solidFill>
                            <a:schemeClr val="tx1"/>
                          </a:solidFill>
                          <a:latin typeface="+mn-lt"/>
                          <a:ea typeface="+mn-ea"/>
                        </a:rPr>
                        <a:t>/</a:t>
                      </a:r>
                      <a:r>
                        <a:rPr lang="en-US" altLang="ko-KR" sz="800" b="0" i="0" u="none" strike="noStrike" dirty="0" smtClean="0">
                          <a:solidFill>
                            <a:schemeClr val="tx1"/>
                          </a:solidFill>
                          <a:effectLst/>
                          <a:latin typeface="맑은 고딕" panose="020B0503020000020004" pitchFamily="50" charset="-127"/>
                          <a:ea typeface="+mn-ea"/>
                        </a:rPr>
                        <a:t>TndrInq_tab5</a:t>
                      </a:r>
                      <a:r>
                        <a:rPr kumimoji="0" lang="en-US" altLang="ko-KR" sz="800" b="0" i="0" u="none" strike="noStrike" kern="1200" cap="none" spc="0" normalizeH="0" baseline="0" noProof="0" dirty="0" smtClean="0">
                          <a:ln>
                            <a:noFill/>
                          </a:ln>
                          <a:solidFill>
                            <a:prstClr val="black"/>
                          </a:solidFill>
                          <a:effectLst/>
                          <a:uLnTx/>
                          <a:uFillTx/>
                          <a:latin typeface="+mn-lt"/>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mn-lt"/>
                          <a:ea typeface="맑은 고딕" panose="020B0503020000020004" pitchFamily="50" charset="-127"/>
                          <a:cs typeface="+mn-cs"/>
                        </a:rPr>
                        <a:t>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UC-BD-04-01</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2019190"/>
                  </a:ext>
                </a:extLst>
              </a:tr>
              <a:tr h="180000">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lt"/>
                        </a:rPr>
                        <a:t>MUI-BD-06-T06</a:t>
                      </a:r>
                      <a:endParaRPr lang="ko-KR" altLang="en-US" sz="700" dirty="0" smtClean="0">
                        <a:solidFill>
                          <a:srgbClr val="000000"/>
                        </a:solidFill>
                        <a:latin typeface="+mn-lt"/>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lt"/>
                        </a:rPr>
                        <a:t>입찰진행상세</a:t>
                      </a:r>
                      <a:r>
                        <a:rPr lang="en-US" altLang="ko-KR" sz="800" dirty="0" smtClean="0">
                          <a:latin typeface="+mn-lt"/>
                        </a:rPr>
                        <a:t>- </a:t>
                      </a:r>
                      <a:r>
                        <a:rPr lang="ko-KR" altLang="en-US" sz="800" dirty="0" smtClean="0">
                          <a:latin typeface="+mn-lt"/>
                        </a:rPr>
                        <a:t>입찰서</a:t>
                      </a:r>
                      <a:r>
                        <a:rPr lang="en-US" altLang="ko-KR" sz="800" dirty="0" smtClean="0">
                          <a:latin typeface="+mn-lt"/>
                        </a:rPr>
                        <a:t>(</a:t>
                      </a:r>
                      <a:r>
                        <a:rPr lang="ko-KR" altLang="en-US" sz="800" dirty="0" smtClean="0">
                          <a:latin typeface="+mn-lt"/>
                        </a:rPr>
                        <a:t>견적서</a:t>
                      </a:r>
                      <a:r>
                        <a:rPr lang="en-US" altLang="ko-KR" sz="800" dirty="0" smtClean="0">
                          <a:latin typeface="+mn-lt"/>
                        </a:rPr>
                        <a:t>)</a:t>
                      </a:r>
                      <a:r>
                        <a:rPr lang="ko-KR" altLang="en-US" sz="800" dirty="0" err="1" smtClean="0">
                          <a:latin typeface="+mn-lt"/>
                        </a:rPr>
                        <a:t>조회동가낙찰선추첨</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TndrInq_tab6</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입찰서 </a:t>
                      </a:r>
                      <a:r>
                        <a:rPr lang="en-US" altLang="ko-KR" sz="800" kern="1200" dirty="0">
                          <a:solidFill>
                            <a:schemeClr val="tx1"/>
                          </a:solidFill>
                          <a:latin typeface="+mn-lt"/>
                          <a:ea typeface="+mn-ea"/>
                          <a:cs typeface="+mn-cs"/>
                        </a:rPr>
                        <a:t>– </a:t>
                      </a:r>
                      <a:r>
                        <a:rPr lang="ko-KR" altLang="en-US" sz="800" kern="1200" dirty="0" err="1">
                          <a:solidFill>
                            <a:schemeClr val="tx1"/>
                          </a:solidFill>
                          <a:latin typeface="+mn-lt"/>
                          <a:ea typeface="+mn-ea"/>
                          <a:cs typeface="+mn-cs"/>
                        </a:rPr>
                        <a:t>스탭</a:t>
                      </a:r>
                      <a:r>
                        <a:rPr lang="ko-KR" altLang="en-US" sz="800" kern="1200" dirty="0">
                          <a:solidFill>
                            <a:schemeClr val="tx1"/>
                          </a:solidFill>
                          <a:latin typeface="+mn-lt"/>
                          <a:ea typeface="+mn-ea"/>
                          <a:cs typeface="+mn-cs"/>
                        </a:rPr>
                        <a:t> </a:t>
                      </a:r>
                      <a:r>
                        <a:rPr lang="en-US" altLang="ko-KR" sz="800" kern="1200" dirty="0">
                          <a:solidFill>
                            <a:schemeClr val="tx1"/>
                          </a:solidFill>
                          <a:latin typeface="+mn-lt"/>
                          <a:ea typeface="+mn-ea"/>
                          <a:cs typeface="+mn-cs"/>
                        </a:rPr>
                        <a:t>6 </a:t>
                      </a:r>
                      <a:r>
                        <a:rPr lang="ko-KR" altLang="en-US" sz="800" kern="1200" dirty="0" err="1">
                          <a:solidFill>
                            <a:schemeClr val="tx1"/>
                          </a:solidFill>
                          <a:latin typeface="+mn-lt"/>
                          <a:ea typeface="+mn-ea"/>
                          <a:cs typeface="+mn-cs"/>
                        </a:rPr>
                        <a:t>동가낙찰</a:t>
                      </a:r>
                      <a:r>
                        <a:rPr lang="ko-KR" altLang="en-US" sz="800" kern="1200" dirty="0">
                          <a:solidFill>
                            <a:schemeClr val="tx1"/>
                          </a:solidFill>
                          <a:latin typeface="+mn-lt"/>
                          <a:ea typeface="+mn-ea"/>
                          <a:cs typeface="+mn-cs"/>
                        </a:rPr>
                        <a:t> </a:t>
                      </a:r>
                      <a:r>
                        <a:rPr lang="ko-KR" altLang="en-US" sz="800" kern="1200" dirty="0" err="1">
                          <a:solidFill>
                            <a:schemeClr val="tx1"/>
                          </a:solidFill>
                          <a:latin typeface="+mn-lt"/>
                          <a:ea typeface="+mn-ea"/>
                          <a:cs typeface="+mn-cs"/>
                        </a:rPr>
                        <a:t>선추첨</a:t>
                      </a:r>
                      <a:r>
                        <a:rPr lang="ko-KR" altLang="en-US" sz="800" kern="1200" dirty="0">
                          <a:solidFill>
                            <a:schemeClr val="tx1"/>
                          </a:solidFill>
                          <a:latin typeface="+mn-lt"/>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smtClean="0">
                          <a:solidFill>
                            <a:schemeClr val="tx1"/>
                          </a:solidFill>
                          <a:latin typeface="+mn-lt"/>
                          <a:ea typeface="+mn-ea"/>
                        </a:rPr>
                        <a:t>/</a:t>
                      </a:r>
                      <a:r>
                        <a:rPr lang="en-US" altLang="ko-KR" sz="800" b="0" i="0" u="none" strike="noStrike" dirty="0" smtClean="0">
                          <a:solidFill>
                            <a:schemeClr val="tx1"/>
                          </a:solidFill>
                          <a:effectLst/>
                          <a:latin typeface="맑은 고딕" panose="020B0503020000020004" pitchFamily="50" charset="-127"/>
                          <a:ea typeface="+mn-ea"/>
                        </a:rPr>
                        <a:t>TndrInq_tab6</a:t>
                      </a:r>
                      <a:r>
                        <a:rPr kumimoji="0" lang="en-US" altLang="ko-KR" sz="800" b="0" i="0" u="none" strike="noStrike" kern="1200" cap="none" spc="0" normalizeH="0" baseline="0" noProof="0" dirty="0" smtClean="0">
                          <a:ln>
                            <a:noFill/>
                          </a:ln>
                          <a:solidFill>
                            <a:prstClr val="black"/>
                          </a:solidFill>
                          <a:effectLst/>
                          <a:uLnTx/>
                          <a:uFillTx/>
                          <a:latin typeface="+mn-lt"/>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mn-lt"/>
                          <a:ea typeface="맑은 고딕" panose="020B0503020000020004" pitchFamily="50" charset="-127"/>
                          <a:cs typeface="+mn-cs"/>
                        </a:rPr>
                        <a:t>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UC-BD-04-01</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1858826"/>
                  </a:ext>
                </a:extLst>
              </a:tr>
              <a:tr h="180000">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lt"/>
                        </a:rPr>
                        <a:t>MUI-BD-06-T07</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lt"/>
                        </a:rPr>
                        <a:t>입찰진행상세</a:t>
                      </a:r>
                      <a:r>
                        <a:rPr lang="en-US" altLang="ko-KR" sz="800" dirty="0" smtClean="0">
                          <a:latin typeface="+mn-lt"/>
                        </a:rPr>
                        <a:t>- </a:t>
                      </a:r>
                      <a:r>
                        <a:rPr lang="ko-KR" altLang="en-US" sz="800" dirty="0" smtClean="0">
                          <a:latin typeface="+mn-lt"/>
                        </a:rPr>
                        <a:t>입찰서</a:t>
                      </a:r>
                      <a:r>
                        <a:rPr lang="en-US" altLang="ko-KR" sz="800" dirty="0" smtClean="0">
                          <a:latin typeface="+mn-lt"/>
                        </a:rPr>
                        <a:t>(</a:t>
                      </a:r>
                      <a:r>
                        <a:rPr lang="ko-KR" altLang="en-US" sz="800" dirty="0" smtClean="0">
                          <a:latin typeface="+mn-lt"/>
                        </a:rPr>
                        <a:t>견적서</a:t>
                      </a:r>
                      <a:r>
                        <a:rPr lang="en-US" altLang="ko-KR" sz="800" dirty="0" smtClean="0">
                          <a:latin typeface="+mn-lt"/>
                        </a:rPr>
                        <a:t>)</a:t>
                      </a:r>
                      <a:r>
                        <a:rPr lang="ko-KR" altLang="en-US" sz="800" dirty="0" smtClean="0">
                          <a:latin typeface="+mn-lt"/>
                        </a:rPr>
                        <a:t>조회약관동의</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TndrInq_tab7</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입찰서 </a:t>
                      </a:r>
                      <a:r>
                        <a:rPr lang="en-US" altLang="ko-KR" sz="800" kern="1200" dirty="0">
                          <a:solidFill>
                            <a:schemeClr val="tx1"/>
                          </a:solidFill>
                          <a:latin typeface="+mn-lt"/>
                          <a:ea typeface="+mn-ea"/>
                          <a:cs typeface="+mn-cs"/>
                        </a:rPr>
                        <a:t>– </a:t>
                      </a:r>
                      <a:r>
                        <a:rPr lang="ko-KR" altLang="en-US" sz="800" kern="1200" dirty="0" err="1">
                          <a:solidFill>
                            <a:schemeClr val="tx1"/>
                          </a:solidFill>
                          <a:latin typeface="+mn-lt"/>
                          <a:ea typeface="+mn-ea"/>
                          <a:cs typeface="+mn-cs"/>
                        </a:rPr>
                        <a:t>스탭</a:t>
                      </a:r>
                      <a:r>
                        <a:rPr lang="ko-KR" altLang="en-US" sz="800" kern="1200" dirty="0">
                          <a:solidFill>
                            <a:schemeClr val="tx1"/>
                          </a:solidFill>
                          <a:latin typeface="+mn-lt"/>
                          <a:ea typeface="+mn-ea"/>
                          <a:cs typeface="+mn-cs"/>
                        </a:rPr>
                        <a:t> </a:t>
                      </a:r>
                      <a:r>
                        <a:rPr lang="en-US" altLang="ko-KR" sz="800" kern="1200" dirty="0">
                          <a:solidFill>
                            <a:schemeClr val="tx1"/>
                          </a:solidFill>
                          <a:latin typeface="+mn-lt"/>
                          <a:ea typeface="+mn-ea"/>
                          <a:cs typeface="+mn-cs"/>
                        </a:rPr>
                        <a:t>7 </a:t>
                      </a:r>
                      <a:r>
                        <a:rPr lang="ko-KR" altLang="en-US" sz="800" kern="1200" dirty="0">
                          <a:solidFill>
                            <a:schemeClr val="tx1"/>
                          </a:solidFill>
                          <a:latin typeface="+mn-lt"/>
                          <a:ea typeface="+mn-ea"/>
                          <a:cs typeface="+mn-cs"/>
                        </a:rPr>
                        <a:t>약관동의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맑은 고딕" panose="020B0503020000020004" pitchFamily="50" charset="-127"/>
                          <a:ea typeface="+mn-ea"/>
                        </a:rPr>
                        <a:t>TndrInqPage</a:t>
                      </a:r>
                      <a:r>
                        <a:rPr lang="en-US" altLang="ko-KR" sz="800" dirty="0" smtClean="0">
                          <a:solidFill>
                            <a:schemeClr val="tx1"/>
                          </a:solidFill>
                          <a:latin typeface="+mn-lt"/>
                          <a:ea typeface="+mn-ea"/>
                        </a:rPr>
                        <a:t>/</a:t>
                      </a:r>
                      <a:r>
                        <a:rPr lang="en-US" altLang="ko-KR" sz="800" b="0" i="0" u="none" strike="noStrike" dirty="0" smtClean="0">
                          <a:solidFill>
                            <a:schemeClr val="tx1"/>
                          </a:solidFill>
                          <a:effectLst/>
                          <a:latin typeface="맑은 고딕" panose="020B0503020000020004" pitchFamily="50" charset="-127"/>
                          <a:ea typeface="+mn-ea"/>
                        </a:rPr>
                        <a:t>TndrInq_tab7</a:t>
                      </a:r>
                      <a:r>
                        <a:rPr kumimoji="0" lang="en-US" altLang="ko-KR" sz="800" b="0" i="0" u="none" strike="noStrike" kern="1200" cap="none" spc="0" normalizeH="0" baseline="0" noProof="0" dirty="0" smtClean="0">
                          <a:ln>
                            <a:noFill/>
                          </a:ln>
                          <a:solidFill>
                            <a:prstClr val="black"/>
                          </a:solidFill>
                          <a:effectLst/>
                          <a:uLnTx/>
                          <a:uFillTx/>
                          <a:latin typeface="+mn-lt"/>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mn-lt"/>
                          <a:ea typeface="맑은 고딕" panose="020B0503020000020004" pitchFamily="50" charset="-127"/>
                          <a:cs typeface="+mn-cs"/>
                        </a:rPr>
                        <a:t>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UC-BD-04-01</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2246441"/>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03129524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직사각형 135"/>
          <p:cNvSpPr/>
          <p:nvPr/>
        </p:nvSpPr>
        <p:spPr>
          <a:xfrm>
            <a:off x="683512" y="2882995"/>
            <a:ext cx="792000" cy="6104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r>
              <a:rPr lang="en-US" altLang="ko-KR" dirty="0" smtClean="0"/>
              <a:t>1. </a:t>
            </a:r>
            <a:r>
              <a:rPr lang="ko-KR" altLang="en-US" dirty="0" smtClean="0"/>
              <a:t>입찰을 위해 작성한 입찰서 내용을 조회할 수 있다</a:t>
            </a:r>
            <a:r>
              <a:rPr lang="en-US" altLang="ko-KR" dirty="0" smtClean="0"/>
              <a:t>.</a:t>
            </a:r>
            <a:br>
              <a:rPr lang="en-US" altLang="ko-KR" dirty="0" smtClean="0"/>
            </a:br>
            <a:r>
              <a:rPr lang="en-US" altLang="ko-KR" dirty="0" smtClean="0"/>
              <a:t>- </a:t>
            </a:r>
            <a:r>
              <a:rPr lang="ko-KR" altLang="en-US" dirty="0" smtClean="0"/>
              <a:t>입찰 신청 번호와</a:t>
            </a:r>
            <a:r>
              <a:rPr lang="en-US" altLang="ko-KR" dirty="0" smtClean="0"/>
              <a:t>, </a:t>
            </a:r>
            <a:r>
              <a:rPr lang="ko-KR" altLang="en-US" dirty="0" smtClean="0"/>
              <a:t>신청서 제출 일시를 노출한다</a:t>
            </a:r>
            <a:r>
              <a:rPr lang="en-US" altLang="ko-KR" dirty="0" smtClean="0"/>
              <a:t>.</a:t>
            </a:r>
            <a:br>
              <a:rPr lang="en-US" altLang="ko-KR" dirty="0" smtClean="0"/>
            </a:br>
            <a:r>
              <a:rPr lang="en-US" altLang="ko-KR" dirty="0" smtClean="0"/>
              <a:t>- </a:t>
            </a:r>
            <a:r>
              <a:rPr lang="ko-KR" altLang="en-US" dirty="0"/>
              <a:t>입찰서작성중 </a:t>
            </a:r>
            <a:r>
              <a:rPr lang="ko-KR" altLang="en-US" dirty="0" smtClean="0"/>
              <a:t>일반정보</a:t>
            </a:r>
            <a:r>
              <a:rPr lang="en-US" altLang="ko-KR" dirty="0" smtClean="0"/>
              <a:t>(</a:t>
            </a:r>
            <a:r>
              <a:rPr lang="en-US" altLang="ko-KR" dirty="0" smtClean="0">
                <a:solidFill>
                  <a:srgbClr val="000000"/>
                </a:solidFill>
                <a:latin typeface="맑은 고딕" panose="020B0503020000020004" pitchFamily="50" charset="-127"/>
              </a:rPr>
              <a:t>MUI-BD-06-M01)</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smtClean="0">
                <a:latin typeface="+mn-ea"/>
              </a:rPr>
              <a:t>입찰진행상세</a:t>
            </a:r>
            <a:r>
              <a:rPr lang="en-US" altLang="ko-KR" sz="700" dirty="0">
                <a:latin typeface="+mn-ea"/>
              </a:rPr>
              <a:t>- </a:t>
            </a:r>
            <a:r>
              <a:rPr lang="ko-KR" altLang="en-US" sz="700" dirty="0" smtClean="0"/>
              <a:t>입찰서</a:t>
            </a:r>
            <a:r>
              <a:rPr lang="en-US" altLang="ko-KR" sz="700" dirty="0"/>
              <a:t>(</a:t>
            </a:r>
            <a:r>
              <a:rPr lang="ko-KR" altLang="en-US" sz="700" dirty="0"/>
              <a:t>견적서</a:t>
            </a:r>
            <a:r>
              <a:rPr lang="en-US" altLang="ko-KR" sz="700" dirty="0"/>
              <a:t>)</a:t>
            </a:r>
            <a:r>
              <a:rPr lang="ko-KR" altLang="en-US" sz="700" dirty="0"/>
              <a:t>조회일반정보</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입찰서 제출 완료 후 입찰서 조회 페이지</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smtClean="0">
                <a:latin typeface="+mn-ea"/>
              </a:rPr>
              <a:t>상세 </a:t>
            </a:r>
            <a:r>
              <a:rPr lang="en-US" altLang="ko-KR" dirty="0" smtClean="0">
                <a:latin typeface="+mn-ea"/>
              </a:rPr>
              <a:t>&gt; </a:t>
            </a:r>
            <a:r>
              <a:rPr lang="ko-KR" altLang="en-US" dirty="0" smtClean="0">
                <a:latin typeface="+mn-ea"/>
              </a:rPr>
              <a:t>입찰서 제출완료상태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MUI-BD-06-M09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252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FFC49AEA-2A8F-250C-A86A-A7751D9706C3}"/>
              </a:ext>
            </a:extLst>
          </p:cNvPr>
          <p:cNvSpPr txBox="1"/>
          <p:nvPr/>
        </p:nvSpPr>
        <p:spPr>
          <a:xfrm>
            <a:off x="781461" y="399180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4299292"/>
            <a:ext cx="792000" cy="23585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42992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4299292"/>
            <a:ext cx="756848"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smtClean="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4299292"/>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530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4744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957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51715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53852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55989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9448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728214"/>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25085" y="3728214"/>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73046" y="3728214"/>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2432834" y="3728214"/>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944821"/>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90091"/>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6076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62206"/>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57939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직사각형 281"/>
          <p:cNvSpPr/>
          <p:nvPr/>
        </p:nvSpPr>
        <p:spPr>
          <a:xfrm>
            <a:off x="3840473" y="1842542"/>
            <a:ext cx="792000" cy="12146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8380" y="21884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4" name="TextBox 283">
            <a:extLst>
              <a:ext uri="{FF2B5EF4-FFF2-40B4-BE49-F238E27FC236}">
                <a16:creationId xmlns:a16="http://schemas.microsoft.com/office/drawing/2014/main" id="{FFC49AEA-2A8F-250C-A86A-A7751D9706C3}"/>
              </a:ext>
            </a:extLst>
          </p:cNvPr>
          <p:cNvSpPr txBox="1"/>
          <p:nvPr/>
        </p:nvSpPr>
        <p:spPr>
          <a:xfrm>
            <a:off x="3927536" y="1768247"/>
            <a:ext cx="819573" cy="1292662"/>
          </a:xfrm>
          <a:prstGeom prst="rect">
            <a:avLst/>
          </a:prstGeom>
          <a:noFill/>
        </p:spPr>
        <p:txBody>
          <a:bodyPr wrap="square" lIns="0" tIns="0" rIns="0" bIns="0" rtlCol="0">
            <a:spAutoFit/>
          </a:bodyPr>
          <a:lstStyle/>
          <a:p>
            <a:pPr>
              <a:lnSpc>
                <a:spcPct val="200000"/>
              </a:lnSpc>
            </a:pPr>
            <a:r>
              <a:rPr lang="ko-KR" altLang="en-US" sz="700" dirty="0">
                <a:latin typeface="+mn-ea"/>
              </a:rPr>
              <a:t>적격심사 여부</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사정률</a:t>
            </a:r>
            <a:r>
              <a:rPr lang="en-US" altLang="ko-KR" sz="700" dirty="0">
                <a:latin typeface="+mn-ea"/>
              </a:rPr>
              <a:t>(%)</a:t>
            </a:r>
          </a:p>
          <a:p>
            <a:pPr>
              <a:lnSpc>
                <a:spcPct val="200000"/>
              </a:lnSpc>
            </a:pPr>
            <a:r>
              <a:rPr lang="ko-KR" altLang="en-US" sz="700" dirty="0">
                <a:latin typeface="+mn-ea"/>
              </a:rPr>
              <a:t>업체입찰보증금</a:t>
            </a:r>
            <a:endParaRPr lang="en-US" altLang="ko-KR" sz="700" dirty="0">
              <a:latin typeface="+mn-ea"/>
            </a:endParaRPr>
          </a:p>
          <a:p>
            <a:pPr>
              <a:lnSpc>
                <a:spcPct val="200000"/>
              </a:lnSpc>
            </a:pPr>
            <a:r>
              <a:rPr lang="en-US" altLang="ko-KR" sz="700" dirty="0">
                <a:latin typeface="+mn-ea"/>
              </a:rPr>
              <a:t>2</a:t>
            </a:r>
            <a:r>
              <a:rPr lang="ko-KR" altLang="en-US" sz="700" dirty="0" err="1">
                <a:latin typeface="+mn-ea"/>
              </a:rPr>
              <a:t>단계경쟁</a:t>
            </a:r>
            <a:endParaRPr lang="en-US" altLang="ko-KR" sz="700" dirty="0">
              <a:latin typeface="+mn-ea"/>
            </a:endParaRPr>
          </a:p>
          <a:p>
            <a:pPr>
              <a:lnSpc>
                <a:spcPct val="200000"/>
              </a:lnSpc>
            </a:pPr>
            <a:r>
              <a:rPr lang="ko-KR" altLang="en-US" sz="700" dirty="0">
                <a:latin typeface="+mn-ea"/>
              </a:rPr>
              <a:t>전자파일 제출 가능</a:t>
            </a:r>
            <a:endParaRPr lang="en-US" altLang="ko-KR" sz="700" dirty="0">
              <a:latin typeface="+mn-ea"/>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4684385" y="1768247"/>
            <a:ext cx="1770899" cy="1077218"/>
          </a:xfrm>
          <a:prstGeom prst="rect">
            <a:avLst/>
          </a:prstGeom>
          <a:noFill/>
        </p:spPr>
        <p:txBody>
          <a:bodyPr wrap="square" lIns="0" tIns="0" rIns="0" bIns="0" rtlCol="0">
            <a:spAutoFit/>
          </a:bodyPr>
          <a:lstStyle/>
          <a:p>
            <a:pPr>
              <a:lnSpc>
                <a:spcPct val="200000"/>
              </a:lnSpc>
            </a:pPr>
            <a:r>
              <a:rPr lang="ko-KR" altLang="en-US" sz="700" dirty="0">
                <a:latin typeface="+mn-ea"/>
              </a:rPr>
              <a:t>대상</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3905603" y="3247933"/>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300" name="직사각형 299"/>
          <p:cNvSpPr/>
          <p:nvPr/>
        </p:nvSpPr>
        <p:spPr>
          <a:xfrm>
            <a:off x="3846725" y="3555419"/>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3844632" y="355541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3933789" y="3555418"/>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4690637" y="355541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3846725" y="37865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3846725" y="40002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6725" y="42139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46725" y="44276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46725" y="46413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846725" y="485505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32009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846725" y="50501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5" name="직선 연결선 324">
            <a:extLst>
              <a:ext uri="{FF2B5EF4-FFF2-40B4-BE49-F238E27FC236}">
                <a16:creationId xmlns:a16="http://schemas.microsoft.com/office/drawing/2014/main" id="{E9293055-D5CD-4B9E-7F64-64B2D2CA7A52}"/>
              </a:ext>
            </a:extLst>
          </p:cNvPr>
          <p:cNvCxnSpPr/>
          <p:nvPr/>
        </p:nvCxnSpPr>
        <p:spPr>
          <a:xfrm>
            <a:off x="3840473" y="19725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모서리가 둥근 직사각형 150"/>
          <p:cNvSpPr/>
          <p:nvPr/>
        </p:nvSpPr>
        <p:spPr>
          <a:xfrm rot="5400000">
            <a:off x="2662242" y="317295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426831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60069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62206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6434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66293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764168" y="5745391"/>
              <a:ext cx="2530954"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8380" y="2634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840473" y="24189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840473" y="30571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840824" y="183927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FFC49AEA-2A8F-250C-A86A-A7751D9706C3}"/>
              </a:ext>
            </a:extLst>
          </p:cNvPr>
          <p:cNvSpPr txBox="1"/>
          <p:nvPr/>
        </p:nvSpPr>
        <p:spPr>
          <a:xfrm>
            <a:off x="3884502" y="1622666"/>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45419" y="1622666"/>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4993380" y="1622666"/>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79" name="TextBox 178">
            <a:extLst>
              <a:ext uri="{FF2B5EF4-FFF2-40B4-BE49-F238E27FC236}">
                <a16:creationId xmlns:a16="http://schemas.microsoft.com/office/drawing/2014/main" id="{FFC49AEA-2A8F-250C-A86A-A7751D9706C3}"/>
              </a:ext>
            </a:extLst>
          </p:cNvPr>
          <p:cNvSpPr txBox="1"/>
          <p:nvPr/>
        </p:nvSpPr>
        <p:spPr>
          <a:xfrm>
            <a:off x="5553168" y="162266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0824" y="183927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1" name="그룹 180"/>
          <p:cNvGrpSpPr/>
          <p:nvPr/>
        </p:nvGrpSpPr>
        <p:grpSpPr>
          <a:xfrm>
            <a:off x="6044420" y="1584543"/>
            <a:ext cx="422853" cy="187961"/>
            <a:chOff x="3641308" y="2234886"/>
            <a:chExt cx="422853" cy="187961"/>
          </a:xfrm>
        </p:grpSpPr>
        <p:sp>
          <p:nvSpPr>
            <p:cNvPr id="182" name="타원 18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5400000" flipH="1">
              <a:off x="3679895" y="2305364"/>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4" name="타원 18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rot="16200000">
              <a:off x="3931564" y="2305364"/>
              <a:ext cx="94010" cy="47005"/>
              <a:chOff x="6812560" y="3297172"/>
              <a:chExt cx="94010" cy="47005"/>
            </a:xfrm>
          </p:grpSpPr>
          <p:cxnSp>
            <p:nvCxnSpPr>
              <p:cNvPr id="187" name="직선 연결선 1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19" name="그룹 118"/>
          <p:cNvGrpSpPr/>
          <p:nvPr/>
        </p:nvGrpSpPr>
        <p:grpSpPr>
          <a:xfrm>
            <a:off x="677960" y="1582647"/>
            <a:ext cx="2714637" cy="686386"/>
            <a:chOff x="677960" y="1582647"/>
            <a:chExt cx="2714637" cy="686386"/>
          </a:xfrm>
        </p:grpSpPr>
        <p:sp>
          <p:nvSpPr>
            <p:cNvPr id="120" name="TextBox 119">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입찰서 </a:t>
              </a:r>
              <a:r>
                <a:rPr lang="ko-KR" altLang="en-US" sz="800" dirty="0" smtClean="0">
                  <a:latin typeface="+mn-ea"/>
                </a:rPr>
                <a:t>조회</a:t>
              </a:r>
              <a:endParaRPr lang="ko-KR" altLang="en-US" sz="800" dirty="0">
                <a:latin typeface="+mn-ea"/>
              </a:endParaRPr>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2" name="그룹 121"/>
            <p:cNvGrpSpPr/>
            <p:nvPr/>
          </p:nvGrpSpPr>
          <p:grpSpPr>
            <a:xfrm rot="5400000">
              <a:off x="852159" y="2062596"/>
              <a:ext cx="94010" cy="47005"/>
              <a:chOff x="6812560" y="3297172"/>
              <a:chExt cx="94010" cy="47005"/>
            </a:xfrm>
          </p:grpSpPr>
          <p:cxnSp>
            <p:nvCxnSpPr>
              <p:cNvPr id="130" name="직선 연결선 12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3" name="그룹 122"/>
            <p:cNvGrpSpPr/>
            <p:nvPr/>
          </p:nvGrpSpPr>
          <p:grpSpPr>
            <a:xfrm>
              <a:off x="677960" y="1582647"/>
              <a:ext cx="2712027" cy="324286"/>
              <a:chOff x="677960" y="1582647"/>
              <a:chExt cx="2712027" cy="324286"/>
            </a:xfrm>
          </p:grpSpPr>
          <p:pic>
            <p:nvPicPr>
              <p:cNvPr id="12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25" name="직선 연결선 12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타원 12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타원 12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타원 12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3" name="직사각형 2"/>
          <p:cNvSpPr/>
          <p:nvPr/>
        </p:nvSpPr>
        <p:spPr>
          <a:xfrm>
            <a:off x="636111" y="2898572"/>
            <a:ext cx="2227273" cy="307777"/>
          </a:xfrm>
          <a:prstGeom prst="rect">
            <a:avLst/>
          </a:prstGeom>
        </p:spPr>
        <p:txBody>
          <a:bodyPr wrap="square">
            <a:spAutoFit/>
          </a:bodyPr>
          <a:lstStyle/>
          <a:p>
            <a:pPr>
              <a:lnSpc>
                <a:spcPct val="200000"/>
              </a:lnSpc>
            </a:pPr>
            <a:r>
              <a:rPr lang="ko-KR" altLang="en-US" sz="700" dirty="0">
                <a:latin typeface="+mn-ea"/>
              </a:rPr>
              <a:t>신청 </a:t>
            </a:r>
            <a:r>
              <a:rPr lang="ko-KR" altLang="en-US" sz="700" dirty="0" smtClean="0">
                <a:latin typeface="+mn-ea"/>
              </a:rPr>
              <a:t>번호</a:t>
            </a:r>
            <a:endParaRPr lang="en-US" altLang="ko-KR" sz="700" dirty="0">
              <a:latin typeface="+mn-ea"/>
            </a:endParaRPr>
          </a:p>
        </p:txBody>
      </p:sp>
      <p:sp>
        <p:nvSpPr>
          <p:cNvPr id="5" name="직사각형 4"/>
          <p:cNvSpPr/>
          <p:nvPr/>
        </p:nvSpPr>
        <p:spPr>
          <a:xfrm>
            <a:off x="1354090" y="2929757"/>
            <a:ext cx="859531" cy="200055"/>
          </a:xfrm>
          <a:prstGeom prst="rect">
            <a:avLst/>
          </a:prstGeom>
        </p:spPr>
        <p:txBody>
          <a:bodyPr wrap="none">
            <a:spAutoFit/>
          </a:bodyPr>
          <a:lstStyle/>
          <a:p>
            <a:r>
              <a:rPr lang="ko-KR" altLang="en-US" sz="700" dirty="0">
                <a:latin typeface="+mn-ea"/>
              </a:rPr>
              <a:t> </a:t>
            </a:r>
            <a:r>
              <a:rPr lang="ko-KR" altLang="en-US" sz="700" dirty="0" smtClean="0">
                <a:latin typeface="+mn-ea"/>
              </a:rPr>
              <a:t> </a:t>
            </a:r>
            <a:r>
              <a:rPr lang="en-US" altLang="ko-KR" sz="700" dirty="0" smtClean="0">
                <a:latin typeface="+mn-ea"/>
              </a:rPr>
              <a:t>0000 </a:t>
            </a:r>
            <a:r>
              <a:rPr lang="en-US" altLang="ko-KR" sz="700" dirty="0">
                <a:latin typeface="+mn-ea"/>
              </a:rPr>
              <a:t>000 0000</a:t>
            </a:r>
            <a:endParaRPr lang="ko-KR" altLang="en-US" sz="1600" dirty="0"/>
          </a:p>
        </p:txBody>
      </p:sp>
      <p:sp>
        <p:nvSpPr>
          <p:cNvPr id="6" name="직사각형 5"/>
          <p:cNvSpPr/>
          <p:nvPr/>
        </p:nvSpPr>
        <p:spPr>
          <a:xfrm>
            <a:off x="1430578" y="3145201"/>
            <a:ext cx="906017" cy="273473"/>
          </a:xfrm>
          <a:prstGeom prst="rect">
            <a:avLst/>
          </a:prstGeom>
        </p:spPr>
        <p:txBody>
          <a:bodyPr wrap="none">
            <a:spAutoFit/>
          </a:bodyPr>
          <a:lstStyle/>
          <a:p>
            <a:pPr>
              <a:lnSpc>
                <a:spcPct val="200000"/>
              </a:lnSpc>
            </a:pPr>
            <a:r>
              <a:rPr lang="en-US" altLang="ko-KR" sz="700" dirty="0">
                <a:latin typeface="+mn-ea"/>
              </a:rPr>
              <a:t>2025-10-31 12:30</a:t>
            </a:r>
            <a:endParaRPr lang="ko-KR" altLang="en-US" sz="700" dirty="0">
              <a:latin typeface="+mn-ea"/>
            </a:endParaRP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684368" y="318820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684368" y="349341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 name="직사각형 6"/>
          <p:cNvSpPr/>
          <p:nvPr/>
        </p:nvSpPr>
        <p:spPr>
          <a:xfrm>
            <a:off x="626868" y="3145202"/>
            <a:ext cx="787395" cy="307777"/>
          </a:xfrm>
          <a:prstGeom prst="rect">
            <a:avLst/>
          </a:prstGeom>
        </p:spPr>
        <p:txBody>
          <a:bodyPr wrap="none">
            <a:spAutoFit/>
          </a:bodyPr>
          <a:lstStyle/>
          <a:p>
            <a:pPr>
              <a:lnSpc>
                <a:spcPct val="200000"/>
              </a:lnSpc>
            </a:pPr>
            <a:r>
              <a:rPr lang="ko-KR" altLang="en-US" sz="700" dirty="0">
                <a:latin typeface="+mn-ea"/>
              </a:rPr>
              <a:t>신청 완료 일시</a:t>
            </a:r>
          </a:p>
        </p:txBody>
      </p:sp>
      <p:sp>
        <p:nvSpPr>
          <p:cNvPr id="14" name="직사각형 13"/>
          <p:cNvSpPr/>
          <p:nvPr/>
        </p:nvSpPr>
        <p:spPr>
          <a:xfrm>
            <a:off x="573619" y="2829905"/>
            <a:ext cx="2843689" cy="709953"/>
          </a:xfrm>
          <a:prstGeom prst="rect">
            <a:avLst/>
          </a:prstGeom>
          <a:noFill/>
          <a:ln w="19050">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타원 110">
            <a:extLst>
              <a:ext uri="{FF2B5EF4-FFF2-40B4-BE49-F238E27FC236}">
                <a16:creationId xmlns:a16="http://schemas.microsoft.com/office/drawing/2014/main" id="{37A7FF4F-0EAA-1463-560A-D5EC24416103}"/>
              </a:ext>
            </a:extLst>
          </p:cNvPr>
          <p:cNvSpPr/>
          <p:nvPr/>
        </p:nvSpPr>
        <p:spPr>
          <a:xfrm>
            <a:off x="497569" y="275762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12" name="직사각형 111"/>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2026-07-21 </a:t>
            </a:r>
            <a:r>
              <a:rPr lang="ko-KR" altLang="en-US" dirty="0" smtClean="0"/>
              <a:t>화면 추가</a:t>
            </a:r>
            <a:endParaRPr lang="ko-KR" altLang="en-US" dirty="0"/>
          </a:p>
        </p:txBody>
      </p:sp>
    </p:spTree>
    <p:extLst>
      <p:ext uri="{BB962C8B-B14F-4D97-AF65-F5344CB8AC3E}">
        <p14:creationId xmlns:p14="http://schemas.microsoft.com/office/powerpoint/2010/main" val="151276772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입찰서작성중 </a:t>
            </a:r>
            <a:r>
              <a:rPr lang="ko-KR" altLang="en-US" dirty="0" err="1" smtClean="0"/>
              <a:t>품목내역</a:t>
            </a:r>
            <a:r>
              <a:rPr lang="ko-KR" altLang="en-US" dirty="0" smtClean="0"/>
              <a:t> </a:t>
            </a:r>
            <a:r>
              <a:rPr lang="en-US" altLang="ko-KR" dirty="0" smtClean="0"/>
              <a:t>(</a:t>
            </a:r>
            <a:r>
              <a:rPr lang="en-US" altLang="ko-KR" dirty="0" smtClean="0">
                <a:solidFill>
                  <a:srgbClr val="000000"/>
                </a:solidFill>
                <a:latin typeface="맑은 고딕" panose="020B0503020000020004" pitchFamily="50" charset="-127"/>
              </a:rPr>
              <a:t>MUI-BD-06-M02</a:t>
            </a:r>
            <a:r>
              <a:rPr lang="en-US" altLang="ko-KR" dirty="0" smtClean="0"/>
              <a:t>) </a:t>
            </a:r>
            <a:r>
              <a:rPr lang="ko-KR" altLang="en-US" dirty="0" smtClean="0"/>
              <a:t>화면 내용</a:t>
            </a:r>
            <a:endParaRPr lang="ko-KR" altLang="en-US" dirty="0">
              <a:solidFill>
                <a:srgbClr val="000000"/>
              </a:solidFill>
              <a:latin typeface="맑은 고딕" panose="020B0503020000020004" pitchFamily="50" charset="-127"/>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a:t>
            </a:r>
            <a:r>
              <a:rPr lang="en-US" altLang="ko-KR" sz="700" dirty="0">
                <a:latin typeface="+mn-ea"/>
              </a:rPr>
              <a:t>- </a:t>
            </a:r>
            <a:r>
              <a:rPr lang="ko-KR" altLang="en-US" sz="700" dirty="0"/>
              <a:t>입찰서</a:t>
            </a:r>
            <a:r>
              <a:rPr lang="en-US" altLang="ko-KR" sz="700" dirty="0"/>
              <a:t>(</a:t>
            </a:r>
            <a:r>
              <a:rPr lang="ko-KR" altLang="en-US" sz="700" dirty="0"/>
              <a:t>견적서</a:t>
            </a:r>
            <a:r>
              <a:rPr lang="en-US" altLang="ko-KR" sz="700" dirty="0"/>
              <a:t>)</a:t>
            </a:r>
            <a:r>
              <a:rPr lang="ko-KR" altLang="en-US" sz="700" dirty="0" smtClean="0"/>
              <a:t>조회품목내역</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입찰서 제출 완료 후 입찰서 조회 페이지</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입찰서 제출완료상태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MUI-BD-06-T02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24681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2775674"/>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775674"/>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77567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2775674"/>
            <a:ext cx="2630093" cy="1723549"/>
            <a:chOff x="701175" y="1835481"/>
            <a:chExt cx="2630093" cy="1723549"/>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8" name="직사각형 207"/>
          <p:cNvSpPr/>
          <p:nvPr/>
        </p:nvSpPr>
        <p:spPr>
          <a:xfrm>
            <a:off x="722232" y="459058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TextBox 208">
            <a:extLst>
              <a:ext uri="{FF2B5EF4-FFF2-40B4-BE49-F238E27FC236}">
                <a16:creationId xmlns:a16="http://schemas.microsoft.com/office/drawing/2014/main" id="{FFC49AEA-2A8F-250C-A86A-A7751D9706C3}"/>
              </a:ext>
            </a:extLst>
          </p:cNvPr>
          <p:cNvSpPr txBox="1"/>
          <p:nvPr/>
        </p:nvSpPr>
        <p:spPr>
          <a:xfrm>
            <a:off x="809295" y="459058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1566144" y="459058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11" name="그룹 210"/>
          <p:cNvGrpSpPr/>
          <p:nvPr/>
        </p:nvGrpSpPr>
        <p:grpSpPr>
          <a:xfrm>
            <a:off x="720139" y="4590582"/>
            <a:ext cx="2630093" cy="1723549"/>
            <a:chOff x="701175" y="1835481"/>
            <a:chExt cx="2630093" cy="1723549"/>
          </a:xfrm>
        </p:grpSpPr>
        <p:cxnSp>
          <p:nvCxnSpPr>
            <p:cNvPr id="212" name="직선 연결선 2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3" name="직선 연결선 2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4" name="직선 연결선 2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7" name="직선 연결선 216">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30062" y="4551592"/>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46" name="직사각형 345"/>
          <p:cNvSpPr/>
          <p:nvPr/>
        </p:nvSpPr>
        <p:spPr>
          <a:xfrm>
            <a:off x="3834318" y="236823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7" name="TextBox 346">
            <a:extLst>
              <a:ext uri="{FF2B5EF4-FFF2-40B4-BE49-F238E27FC236}">
                <a16:creationId xmlns:a16="http://schemas.microsoft.com/office/drawing/2014/main" id="{FFC49AEA-2A8F-250C-A86A-A7751D9706C3}"/>
              </a:ext>
            </a:extLst>
          </p:cNvPr>
          <p:cNvSpPr txBox="1"/>
          <p:nvPr/>
        </p:nvSpPr>
        <p:spPr>
          <a:xfrm>
            <a:off x="3921381" y="236823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348" name="TextBox 347">
            <a:extLst>
              <a:ext uri="{FF2B5EF4-FFF2-40B4-BE49-F238E27FC236}">
                <a16:creationId xmlns:a16="http://schemas.microsoft.com/office/drawing/2014/main" id="{FFC49AEA-2A8F-250C-A86A-A7751D9706C3}"/>
              </a:ext>
            </a:extLst>
          </p:cNvPr>
          <p:cNvSpPr txBox="1"/>
          <p:nvPr/>
        </p:nvSpPr>
        <p:spPr>
          <a:xfrm>
            <a:off x="4678230" y="236823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349" name="그룹 348"/>
          <p:cNvGrpSpPr/>
          <p:nvPr/>
        </p:nvGrpSpPr>
        <p:grpSpPr>
          <a:xfrm>
            <a:off x="3832225" y="2368232"/>
            <a:ext cx="2630093" cy="1723549"/>
            <a:chOff x="701175" y="1835481"/>
            <a:chExt cx="2630093" cy="1723549"/>
          </a:xfrm>
        </p:grpSpPr>
        <p:cxnSp>
          <p:nvCxnSpPr>
            <p:cNvPr id="350" name="직선 연결선 3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1" name="직선 연결선 3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2" name="직선 연결선 3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3" name="직선 연결선 35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4" name="직선 연결선 35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5" name="직선 연결선 35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6" name="직선 연결선 35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7" name="직선 연결선 35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8" name="직선 연결선 357">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024" y="419057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360" name="타원 359">
            <a:extLst>
              <a:ext uri="{FF2B5EF4-FFF2-40B4-BE49-F238E27FC236}">
                <a16:creationId xmlns:a16="http://schemas.microsoft.com/office/drawing/2014/main" id="{37A7FF4F-0EAA-1463-560A-D5EC24416103}"/>
              </a:ext>
            </a:extLst>
          </p:cNvPr>
          <p:cNvSpPr/>
          <p:nvPr/>
        </p:nvSpPr>
        <p:spPr>
          <a:xfrm>
            <a:off x="3712022" y="417159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1943074"/>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모서리가 둥근 직사각형 109"/>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3840824" y="18240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3884502" y="1607478"/>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13" name="TextBox 112">
            <a:extLst>
              <a:ext uri="{FF2B5EF4-FFF2-40B4-BE49-F238E27FC236}">
                <a16:creationId xmlns:a16="http://schemas.microsoft.com/office/drawing/2014/main" id="{FFC49AEA-2A8F-250C-A86A-A7751D9706C3}"/>
              </a:ext>
            </a:extLst>
          </p:cNvPr>
          <p:cNvSpPr txBox="1"/>
          <p:nvPr/>
        </p:nvSpPr>
        <p:spPr>
          <a:xfrm>
            <a:off x="4445419" y="1607478"/>
            <a:ext cx="464719"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4993380" y="1607478"/>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5553168" y="1607478"/>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4421849" y="1824085"/>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17" name="그룹 116"/>
          <p:cNvGrpSpPr/>
          <p:nvPr/>
        </p:nvGrpSpPr>
        <p:grpSpPr>
          <a:xfrm>
            <a:off x="6044420" y="1569355"/>
            <a:ext cx="422853" cy="187961"/>
            <a:chOff x="3641308" y="2234886"/>
            <a:chExt cx="422853" cy="187961"/>
          </a:xfrm>
        </p:grpSpPr>
        <p:sp>
          <p:nvSpPr>
            <p:cNvPr id="118" name="타원 11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p:cNvGrpSpPr/>
            <p:nvPr/>
          </p:nvGrpSpPr>
          <p:grpSpPr>
            <a:xfrm rot="5400000" flipH="1">
              <a:off x="3679895" y="2305364"/>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0" name="타원 119"/>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1" name="그룹 120"/>
            <p:cNvGrpSpPr/>
            <p:nvPr/>
          </p:nvGrpSpPr>
          <p:grpSpPr>
            <a:xfrm rot="16200000">
              <a:off x="3931564" y="2305364"/>
              <a:ext cx="94010" cy="47005"/>
              <a:chOff x="6812560" y="3297172"/>
              <a:chExt cx="94010" cy="47005"/>
            </a:xfrm>
          </p:grpSpPr>
          <p:cxnSp>
            <p:nvCxnSpPr>
              <p:cNvPr id="122" name="직선 연결선 12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759212" y="2207916"/>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1320129" y="2207916"/>
            <a:ext cx="464719"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1868090" y="2207916"/>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42787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1296559"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2919130" y="2169793"/>
            <a:ext cx="422853" cy="187961"/>
            <a:chOff x="3641308" y="2234886"/>
            <a:chExt cx="422853" cy="187961"/>
          </a:xfrm>
        </p:grpSpPr>
        <p:sp>
          <p:nvSpPr>
            <p:cNvPr id="134" name="타원 13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5" name="그룹 134"/>
            <p:cNvGrpSpPr/>
            <p:nvPr/>
          </p:nvGrpSpPr>
          <p:grpSpPr>
            <a:xfrm rot="5400000" flipH="1">
              <a:off x="3679895" y="2305364"/>
              <a:ext cx="94010" cy="47005"/>
              <a:chOff x="6812560" y="3297172"/>
              <a:chExt cx="94010" cy="47005"/>
            </a:xfrm>
          </p:grpSpPr>
          <p:cxnSp>
            <p:nvCxnSpPr>
              <p:cNvPr id="140" name="직선 연결선 13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1" name="직선 연결선 14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6" name="타원 13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7" name="그룹 136"/>
            <p:cNvGrpSpPr/>
            <p:nvPr/>
          </p:nvGrpSpPr>
          <p:grpSpPr>
            <a:xfrm rot="16200000">
              <a:off x="3931564" y="2305364"/>
              <a:ext cx="94010" cy="47005"/>
              <a:chOff x="6812560" y="3297172"/>
              <a:chExt cx="94010" cy="47005"/>
            </a:xfrm>
          </p:grpSpPr>
          <p:cxnSp>
            <p:nvCxnSpPr>
              <p:cNvPr id="138" name="직선 연결선 1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9" name="직선 연결선 1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3" name="직사각형 102"/>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2026-07-21 </a:t>
            </a:r>
            <a:r>
              <a:rPr lang="ko-KR" altLang="en-US" dirty="0" smtClean="0"/>
              <a:t>화면 추가</a:t>
            </a:r>
            <a:endParaRPr lang="ko-KR" altLang="en-US" dirty="0"/>
          </a:p>
        </p:txBody>
      </p:sp>
    </p:spTree>
    <p:extLst>
      <p:ext uri="{BB962C8B-B14F-4D97-AF65-F5344CB8AC3E}">
        <p14:creationId xmlns:p14="http://schemas.microsoft.com/office/powerpoint/2010/main" val="309625539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입찰서작성중 </a:t>
            </a:r>
            <a:r>
              <a:rPr lang="ko-KR" altLang="en-US" dirty="0" err="1" smtClean="0"/>
              <a:t>투찰내역</a:t>
            </a:r>
            <a:r>
              <a:rPr lang="ko-KR" altLang="en-US" dirty="0" smtClean="0"/>
              <a:t> </a:t>
            </a:r>
            <a:r>
              <a:rPr lang="en-US" altLang="ko-KR" dirty="0" smtClean="0"/>
              <a:t>(MUI-BD-06-M03) </a:t>
            </a:r>
            <a:r>
              <a:rPr lang="ko-KR" altLang="en-US" dirty="0"/>
              <a:t>화면 내용</a:t>
            </a:r>
            <a:endParaRPr lang="ko-KR" altLang="en-US" dirty="0">
              <a:solidFill>
                <a:srgbClr val="000000"/>
              </a:solidFill>
              <a:latin typeface="맑은 고딕" panose="020B0503020000020004" pitchFamily="50" charset="-127"/>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a:t>
            </a:r>
            <a:r>
              <a:rPr lang="en-US" altLang="ko-KR" sz="700" dirty="0">
                <a:latin typeface="+mn-ea"/>
              </a:rPr>
              <a:t>- </a:t>
            </a:r>
            <a:r>
              <a:rPr lang="ko-KR" altLang="en-US" sz="700" dirty="0"/>
              <a:t>입찰서</a:t>
            </a:r>
            <a:r>
              <a:rPr lang="en-US" altLang="ko-KR" sz="700" dirty="0"/>
              <a:t>(</a:t>
            </a:r>
            <a:r>
              <a:rPr lang="ko-KR" altLang="en-US" sz="700" dirty="0"/>
              <a:t>견적서</a:t>
            </a:r>
            <a:r>
              <a:rPr lang="en-US" altLang="ko-KR" sz="700" dirty="0"/>
              <a:t>)</a:t>
            </a:r>
            <a:r>
              <a:rPr lang="ko-KR" altLang="en-US" sz="700" dirty="0"/>
              <a:t>조회</a:t>
            </a:r>
            <a:r>
              <a:rPr lang="ko-KR" altLang="en-US" sz="700" dirty="0" smtClean="0">
                <a:latin typeface="+mn-ea"/>
              </a:rPr>
              <a:t>투찰내역</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입찰서 제출 완료 후 입찰서 조회 페이지</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입찰서 제출완료상태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MUI-BD-06-T03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24681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투찰내역</a:t>
            </a:r>
            <a:endParaRPr lang="ko-KR" altLang="en-US" sz="700" dirty="0">
              <a:latin typeface="+mn-ea"/>
            </a:endParaRPr>
          </a:p>
        </p:txBody>
      </p:sp>
      <p:sp>
        <p:nvSpPr>
          <p:cNvPr id="169" name="직사각형 168"/>
          <p:cNvSpPr/>
          <p:nvPr/>
        </p:nvSpPr>
        <p:spPr>
          <a:xfrm>
            <a:off x="722232" y="2775674"/>
            <a:ext cx="792000" cy="10701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775674"/>
            <a:ext cx="725552" cy="1077218"/>
          </a:xfrm>
          <a:prstGeom prst="rect">
            <a:avLst/>
          </a:prstGeom>
          <a:noFill/>
        </p:spPr>
        <p:txBody>
          <a:bodyPr wrap="square" lIns="0" tIns="0" rIns="0" bIns="0" rtlCol="0">
            <a:spAutoFit/>
          </a:bodyPr>
          <a:lstStyle/>
          <a:p>
            <a:pPr>
              <a:lnSpc>
                <a:spcPct val="200000"/>
              </a:lnSpc>
            </a:pPr>
            <a:r>
              <a:rPr lang="ko-KR" altLang="en-US" sz="700" dirty="0">
                <a:latin typeface="+mn-ea"/>
              </a:rPr>
              <a:t>입찰금액</a:t>
            </a:r>
            <a:r>
              <a:rPr lang="en-US" altLang="ko-KR" sz="700" dirty="0">
                <a:latin typeface="+mn-ea"/>
              </a:rPr>
              <a:t>(\) </a:t>
            </a:r>
            <a:r>
              <a:rPr lang="en-US" altLang="ko-KR" sz="700" dirty="0">
                <a:solidFill>
                  <a:srgbClr val="FF0000"/>
                </a:solidFill>
                <a:latin typeface="+mn-ea"/>
              </a:rPr>
              <a:t>*</a:t>
            </a:r>
          </a:p>
          <a:p>
            <a:pPr>
              <a:lnSpc>
                <a:spcPct val="200000"/>
              </a:lnSpc>
            </a:pPr>
            <a:r>
              <a:rPr lang="ko-KR" altLang="en-US" sz="700" dirty="0">
                <a:latin typeface="+mn-ea"/>
              </a:rPr>
              <a:t>입찰금액</a:t>
            </a:r>
            <a:r>
              <a:rPr lang="en-US" altLang="ko-KR" sz="700" dirty="0">
                <a:latin typeface="+mn-ea"/>
              </a:rPr>
              <a:t>(</a:t>
            </a:r>
            <a:r>
              <a:rPr lang="ko-KR" altLang="en-US" sz="700" dirty="0">
                <a:latin typeface="+mn-ea"/>
              </a:rPr>
              <a:t>원</a:t>
            </a:r>
            <a:r>
              <a:rPr lang="en-US" altLang="ko-KR" sz="700" dirty="0">
                <a:latin typeface="+mn-ea"/>
              </a:rPr>
              <a:t>)</a:t>
            </a:r>
            <a:endParaRPr lang="en-US" altLang="ko-KR" sz="700" dirty="0">
              <a:solidFill>
                <a:srgbClr val="FF0000"/>
              </a:solidFill>
              <a:latin typeface="+mn-ea"/>
            </a:endParaRPr>
          </a:p>
          <a:p>
            <a:pPr>
              <a:lnSpc>
                <a:spcPct val="200000"/>
              </a:lnSpc>
            </a:pPr>
            <a:r>
              <a:rPr lang="ko-KR" altLang="en-US" sz="700" dirty="0" err="1">
                <a:latin typeface="+mn-ea"/>
              </a:rPr>
              <a:t>입찰단가</a:t>
            </a:r>
            <a:r>
              <a:rPr lang="en-US" altLang="ko-KR" sz="700" dirty="0">
                <a:latin typeface="+mn-ea"/>
              </a:rPr>
              <a:t>(\) </a:t>
            </a:r>
            <a:r>
              <a:rPr lang="en-US" altLang="ko-KR" sz="700" dirty="0">
                <a:solidFill>
                  <a:srgbClr val="FF0000"/>
                </a:solidFill>
                <a:latin typeface="+mn-ea"/>
              </a:rPr>
              <a:t>*</a:t>
            </a:r>
          </a:p>
          <a:p>
            <a:pPr>
              <a:lnSpc>
                <a:spcPct val="200000"/>
              </a:lnSpc>
            </a:pPr>
            <a:r>
              <a:rPr lang="ko-KR" altLang="en-US" sz="700" dirty="0" err="1">
                <a:latin typeface="+mn-ea"/>
              </a:rPr>
              <a:t>입찰단가</a:t>
            </a:r>
            <a:r>
              <a:rPr lang="en-US" altLang="ko-KR" sz="700" dirty="0">
                <a:latin typeface="+mn-ea"/>
              </a:rPr>
              <a:t>(</a:t>
            </a:r>
            <a:r>
              <a:rPr lang="ko-KR" altLang="en-US" sz="700" dirty="0">
                <a:latin typeface="+mn-ea"/>
              </a:rPr>
              <a:t>원</a:t>
            </a:r>
            <a:r>
              <a:rPr lang="en-US" altLang="ko-KR" sz="700" dirty="0">
                <a:latin typeface="+mn-ea"/>
              </a:rPr>
              <a:t>)</a:t>
            </a:r>
            <a:endParaRPr lang="en-US" altLang="ko-KR" sz="700" dirty="0">
              <a:solidFill>
                <a:srgbClr val="FF0000"/>
              </a:solidFill>
              <a:latin typeface="+mn-ea"/>
            </a:endParaRPr>
          </a:p>
          <a:p>
            <a:pPr>
              <a:lnSpc>
                <a:spcPct val="200000"/>
              </a:lnSpc>
            </a:pPr>
            <a:r>
              <a:rPr lang="ko-KR" altLang="en-US" sz="700" dirty="0" err="1">
                <a:latin typeface="+mn-ea"/>
              </a:rPr>
              <a:t>입찰수량</a:t>
            </a:r>
            <a:endParaRPr lang="en-US" altLang="ko-KR" sz="700" dirty="0">
              <a:solidFill>
                <a:srgbClr val="FF0000"/>
              </a:solidFill>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775674"/>
            <a:ext cx="1784088" cy="1077218"/>
          </a:xfrm>
          <a:prstGeom prst="rect">
            <a:avLst/>
          </a:prstGeom>
          <a:noFill/>
        </p:spPr>
        <p:txBody>
          <a:bodyPr wrap="square" lIns="0" tIns="0" rIns="0" bIns="0" rtlCol="0">
            <a:spAutoFit/>
          </a:bodyPr>
          <a:lstStyle/>
          <a:p>
            <a:pPr algn="r">
              <a:lnSpc>
                <a:spcPct val="200000"/>
              </a:lnSpc>
            </a:pPr>
            <a:endParaRPr lang="en-US" altLang="ko-KR" sz="700" dirty="0">
              <a:latin typeface="+mn-ea"/>
            </a:endParaRPr>
          </a:p>
          <a:p>
            <a:pPr>
              <a:lnSpc>
                <a:spcPct val="200000"/>
              </a:lnSpc>
            </a:pPr>
            <a:r>
              <a:rPr lang="ko-KR" altLang="en-US" sz="700" dirty="0">
                <a:latin typeface="+mn-ea"/>
              </a:rPr>
              <a:t>금 일백억 원</a:t>
            </a:r>
            <a:endParaRPr lang="en-US" altLang="ko-KR" sz="700" dirty="0">
              <a:latin typeface="+mn-ea"/>
            </a:endParaRPr>
          </a:p>
          <a:p>
            <a:pPr algn="r">
              <a:lnSpc>
                <a:spcPct val="200000"/>
              </a:lnSpc>
            </a:pPr>
            <a:endParaRPr lang="en-US" altLang="ko-KR" sz="700" dirty="0">
              <a:latin typeface="+mn-ea"/>
            </a:endParaRPr>
          </a:p>
          <a:p>
            <a:pPr>
              <a:lnSpc>
                <a:spcPct val="200000"/>
              </a:lnSpc>
            </a:pPr>
            <a:r>
              <a:rPr lang="en-US" altLang="ko-KR" sz="700" dirty="0">
                <a:latin typeface="+mn-ea"/>
              </a:rPr>
              <a:t>-</a:t>
            </a:r>
          </a:p>
          <a:p>
            <a:pPr>
              <a:lnSpc>
                <a:spcPct val="200000"/>
              </a:lnSpc>
            </a:pPr>
            <a:endParaRPr lang="en-US" altLang="ko-KR" sz="700" dirty="0">
              <a:latin typeface="+mn-ea"/>
            </a:endParaRPr>
          </a:p>
        </p:txBody>
      </p:sp>
      <p:grpSp>
        <p:nvGrpSpPr>
          <p:cNvPr id="172" name="그룹 171"/>
          <p:cNvGrpSpPr/>
          <p:nvPr/>
        </p:nvGrpSpPr>
        <p:grpSpPr>
          <a:xfrm>
            <a:off x="720139" y="2775674"/>
            <a:ext cx="2630093" cy="1073700"/>
            <a:chOff x="701175" y="1835481"/>
            <a:chExt cx="2630093" cy="107370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759212" y="2207916"/>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1320129" y="2207916"/>
            <a:ext cx="464719"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1868090" y="2207916"/>
            <a:ext cx="468423"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투찰내역</a:t>
            </a:r>
            <a:endParaRPr lang="ko-KR" altLang="en-US" sz="700" b="1"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42787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1868090"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2919130" y="2169793"/>
            <a:ext cx="422853" cy="187961"/>
            <a:chOff x="3641308" y="2234886"/>
            <a:chExt cx="422853" cy="187961"/>
          </a:xfrm>
        </p:grpSpPr>
        <p:sp>
          <p:nvSpPr>
            <p:cNvPr id="134" name="타원 13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5" name="그룹 134"/>
            <p:cNvGrpSpPr/>
            <p:nvPr/>
          </p:nvGrpSpPr>
          <p:grpSpPr>
            <a:xfrm rot="5400000" flipH="1">
              <a:off x="3679895" y="2305364"/>
              <a:ext cx="94010" cy="47005"/>
              <a:chOff x="6812560" y="3297172"/>
              <a:chExt cx="94010" cy="47005"/>
            </a:xfrm>
          </p:grpSpPr>
          <p:cxnSp>
            <p:nvCxnSpPr>
              <p:cNvPr id="140" name="직선 연결선 13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1" name="직선 연결선 14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6" name="타원 13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7" name="그룹 136"/>
            <p:cNvGrpSpPr/>
            <p:nvPr/>
          </p:nvGrpSpPr>
          <p:grpSpPr>
            <a:xfrm rot="16200000">
              <a:off x="3931564" y="2305364"/>
              <a:ext cx="94010" cy="47005"/>
              <a:chOff x="6812560" y="3297172"/>
              <a:chExt cx="94010" cy="47005"/>
            </a:xfrm>
          </p:grpSpPr>
          <p:cxnSp>
            <p:nvCxnSpPr>
              <p:cNvPr id="138" name="직선 연결선 1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9" name="직선 연결선 1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4" name="TextBox 143">
            <a:extLst>
              <a:ext uri="{FF2B5EF4-FFF2-40B4-BE49-F238E27FC236}">
                <a16:creationId xmlns:a16="http://schemas.microsoft.com/office/drawing/2014/main" id="{FFC49AEA-2A8F-250C-A86A-A7751D9706C3}"/>
              </a:ext>
            </a:extLst>
          </p:cNvPr>
          <p:cNvSpPr txBox="1"/>
          <p:nvPr/>
        </p:nvSpPr>
        <p:spPr>
          <a:xfrm>
            <a:off x="2336513" y="2768911"/>
            <a:ext cx="964854" cy="1292662"/>
          </a:xfrm>
          <a:prstGeom prst="rect">
            <a:avLst/>
          </a:prstGeom>
          <a:noFill/>
        </p:spPr>
        <p:txBody>
          <a:bodyPr wrap="square" lIns="0" tIns="0" rIns="0" bIns="0" rtlCol="0">
            <a:spAutoFit/>
          </a:bodyPr>
          <a:lstStyle/>
          <a:p>
            <a:pPr algn="r">
              <a:lnSpc>
                <a:spcPct val="200000"/>
              </a:lnSpc>
            </a:pPr>
            <a:r>
              <a:rPr lang="en-US" altLang="ko-KR" sz="700" dirty="0">
                <a:latin typeface="+mn-ea"/>
              </a:rPr>
              <a:t>10,000,000,000 </a:t>
            </a:r>
            <a:r>
              <a:rPr lang="ko-KR" altLang="en-US" sz="700" dirty="0">
                <a:latin typeface="+mn-ea"/>
              </a:rPr>
              <a:t>원</a:t>
            </a:r>
            <a:endParaRPr lang="en-US" altLang="ko-KR" sz="700" dirty="0">
              <a:latin typeface="+mn-ea"/>
            </a:endParaRPr>
          </a:p>
          <a:p>
            <a:pPr algn="r">
              <a:lnSpc>
                <a:spcPct val="200000"/>
              </a:lnSpc>
            </a:pPr>
            <a:endParaRPr lang="en-US" altLang="ko-KR" sz="700" dirty="0">
              <a:latin typeface="+mn-ea"/>
            </a:endParaRPr>
          </a:p>
          <a:p>
            <a:pPr algn="r">
              <a:lnSpc>
                <a:spcPct val="200000"/>
              </a:lnSpc>
            </a:pPr>
            <a:r>
              <a:rPr lang="en-US" altLang="ko-KR" sz="700" dirty="0">
                <a:latin typeface="+mn-ea"/>
              </a:rPr>
              <a:t>10,000,000,000 </a:t>
            </a:r>
            <a:r>
              <a:rPr lang="ko-KR" altLang="en-US" sz="700" dirty="0" smtClean="0">
                <a:latin typeface="+mn-ea"/>
              </a:rPr>
              <a:t>원</a:t>
            </a:r>
            <a:endParaRPr lang="en-US" altLang="ko-KR" sz="700" dirty="0">
              <a:latin typeface="+mn-ea"/>
            </a:endParaRPr>
          </a:p>
          <a:p>
            <a:pPr algn="r">
              <a:lnSpc>
                <a:spcPct val="200000"/>
              </a:lnSpc>
            </a:pPr>
            <a:endParaRPr lang="en-US" altLang="ko-KR" sz="700" dirty="0" smtClean="0">
              <a:latin typeface="+mn-ea"/>
            </a:endParaRPr>
          </a:p>
          <a:p>
            <a:pPr algn="r">
              <a:lnSpc>
                <a:spcPct val="200000"/>
              </a:lnSpc>
            </a:pPr>
            <a:r>
              <a:rPr lang="en-US" altLang="ko-KR" sz="700" dirty="0">
                <a:latin typeface="+mn-ea"/>
              </a:rPr>
              <a:t>10,000,000,000 </a:t>
            </a:r>
            <a:r>
              <a:rPr lang="ko-KR" altLang="en-US" sz="700" dirty="0">
                <a:latin typeface="+mn-ea"/>
              </a:rPr>
              <a:t>원</a:t>
            </a:r>
            <a:endParaRPr lang="en-US" altLang="ko-KR" sz="700" dirty="0">
              <a:latin typeface="+mn-ea"/>
            </a:endParaRPr>
          </a:p>
          <a:p>
            <a:pPr algn="r">
              <a:lnSpc>
                <a:spcPct val="200000"/>
              </a:lnSpc>
            </a:pPr>
            <a:endParaRPr lang="en-US" altLang="ko-KR" sz="700" dirty="0">
              <a:latin typeface="+mn-ea"/>
            </a:endParaRPr>
          </a:p>
        </p:txBody>
      </p:sp>
      <p:sp>
        <p:nvSpPr>
          <p:cNvPr id="49" name="타원 48">
            <a:extLst>
              <a:ext uri="{FF2B5EF4-FFF2-40B4-BE49-F238E27FC236}">
                <a16:creationId xmlns:a16="http://schemas.microsoft.com/office/drawing/2014/main" id="{37A7FF4F-0EAA-1463-560A-D5EC24416103}"/>
              </a:ext>
            </a:extLst>
          </p:cNvPr>
          <p:cNvSpPr/>
          <p:nvPr/>
        </p:nvSpPr>
        <p:spPr>
          <a:xfrm>
            <a:off x="589334" y="581329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48" name="직사각형 47"/>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2026-07-21 </a:t>
            </a:r>
            <a:r>
              <a:rPr lang="ko-KR" altLang="en-US" dirty="0" smtClean="0"/>
              <a:t>화면 추가</a:t>
            </a:r>
            <a:endParaRPr lang="ko-KR" altLang="en-US" dirty="0"/>
          </a:p>
        </p:txBody>
      </p:sp>
    </p:spTree>
    <p:extLst>
      <p:ext uri="{BB962C8B-B14F-4D97-AF65-F5344CB8AC3E}">
        <p14:creationId xmlns:p14="http://schemas.microsoft.com/office/powerpoint/2010/main" val="116814248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입찰서작성중 </a:t>
            </a:r>
            <a:r>
              <a:rPr lang="ko-KR" altLang="en-US" dirty="0" smtClean="0"/>
              <a:t>복수예비가격 </a:t>
            </a:r>
            <a:r>
              <a:rPr lang="en-US" altLang="ko-KR" dirty="0" smtClean="0"/>
              <a:t>(MUI-BD-06-M04) </a:t>
            </a:r>
            <a:r>
              <a:rPr lang="ko-KR" altLang="en-US" dirty="0"/>
              <a:t>화면 내용</a:t>
            </a:r>
            <a:endParaRPr lang="ko-KR" altLang="en-US" dirty="0">
              <a:solidFill>
                <a:srgbClr val="000000"/>
              </a:solidFill>
              <a:latin typeface="맑은 고딕" panose="020B0503020000020004" pitchFamily="50" charset="-127"/>
            </a:endParaRP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a:t>
            </a:r>
            <a:r>
              <a:rPr lang="en-US" altLang="ko-KR" sz="700" dirty="0">
                <a:latin typeface="+mn-ea"/>
              </a:rPr>
              <a:t>- </a:t>
            </a:r>
            <a:r>
              <a:rPr lang="ko-KR" altLang="en-US" sz="700" dirty="0"/>
              <a:t>입찰서</a:t>
            </a:r>
            <a:r>
              <a:rPr lang="en-US" altLang="ko-KR" sz="700" dirty="0"/>
              <a:t>(</a:t>
            </a:r>
            <a:r>
              <a:rPr lang="ko-KR" altLang="en-US" sz="700" dirty="0"/>
              <a:t>견적서</a:t>
            </a:r>
            <a:r>
              <a:rPr lang="en-US" altLang="ko-KR" sz="700" dirty="0"/>
              <a:t>)</a:t>
            </a:r>
            <a:r>
              <a:rPr lang="ko-KR" altLang="en-US" sz="700" dirty="0" smtClean="0"/>
              <a:t>조회</a:t>
            </a:r>
            <a:r>
              <a:rPr lang="ko-KR" altLang="en-US" sz="700" dirty="0" smtClean="0">
                <a:latin typeface="+mn-ea"/>
              </a:rPr>
              <a:t>복수예비가격</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입찰서 제출 완료 후 입찰서 조회 페이지</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입찰서 제출완료상태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MUI-BD-06-T04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5" name="TextBox 164">
            <a:extLst>
              <a:ext uri="{FF2B5EF4-FFF2-40B4-BE49-F238E27FC236}">
                <a16:creationId xmlns:a16="http://schemas.microsoft.com/office/drawing/2014/main" id="{FFC49AEA-2A8F-250C-A86A-A7751D9706C3}"/>
              </a:ext>
            </a:extLst>
          </p:cNvPr>
          <p:cNvSpPr txBox="1"/>
          <p:nvPr/>
        </p:nvSpPr>
        <p:spPr>
          <a:xfrm>
            <a:off x="781109" y="3131028"/>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복수예비가격 선택</a:t>
            </a:r>
          </a:p>
        </p:txBody>
      </p:sp>
      <p:sp>
        <p:nvSpPr>
          <p:cNvPr id="169" name="직사각형 168"/>
          <p:cNvSpPr/>
          <p:nvPr/>
        </p:nvSpPr>
        <p:spPr>
          <a:xfrm>
            <a:off x="722232" y="3422270"/>
            <a:ext cx="792000" cy="4265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22269"/>
            <a:ext cx="725552" cy="430887"/>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smtClean="0">
                <a:latin typeface="+mn-ea"/>
              </a:rPr>
              <a:t>회</a:t>
            </a:r>
            <a:endParaRPr lang="en-US" altLang="ko-KR" sz="700" dirty="0" smtClean="0">
              <a:latin typeface="+mn-ea"/>
            </a:endParaRPr>
          </a:p>
          <a:p>
            <a:pPr>
              <a:lnSpc>
                <a:spcPct val="200000"/>
              </a:lnSpc>
            </a:pPr>
            <a:r>
              <a:rPr lang="en-US" altLang="ko-KR" sz="700" dirty="0" smtClean="0">
                <a:latin typeface="+mn-ea"/>
              </a:rPr>
              <a:t>2</a:t>
            </a:r>
            <a:r>
              <a:rPr lang="ko-KR" altLang="en-US" sz="700" dirty="0" smtClean="0">
                <a:latin typeface="+mn-ea"/>
              </a:rPr>
              <a:t>회</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22269"/>
            <a:ext cx="1784088" cy="430887"/>
          </a:xfrm>
          <a:prstGeom prst="rect">
            <a:avLst/>
          </a:prstGeom>
          <a:noFill/>
        </p:spPr>
        <p:txBody>
          <a:bodyPr wrap="square" lIns="0" tIns="0" rIns="0" bIns="0" rtlCol="0">
            <a:spAutoFit/>
          </a:bodyPr>
          <a:lstStyle/>
          <a:p>
            <a:pPr>
              <a:lnSpc>
                <a:spcPct val="200000"/>
              </a:lnSpc>
            </a:pPr>
            <a:r>
              <a:rPr lang="en-US" altLang="ko-KR" sz="700" dirty="0">
                <a:latin typeface="+mn-ea"/>
              </a:rPr>
              <a:t>15</a:t>
            </a:r>
            <a:r>
              <a:rPr lang="ko-KR" altLang="en-US" sz="700" dirty="0" smtClean="0">
                <a:latin typeface="+mn-ea"/>
              </a:rPr>
              <a:t>번</a:t>
            </a:r>
            <a:endParaRPr lang="en-US" altLang="ko-KR" sz="700" dirty="0" smtClean="0">
              <a:latin typeface="+mn-ea"/>
            </a:endParaRPr>
          </a:p>
          <a:p>
            <a:pPr>
              <a:lnSpc>
                <a:spcPct val="200000"/>
              </a:lnSpc>
            </a:pPr>
            <a:r>
              <a:rPr lang="en-US" altLang="ko-KR" sz="700" dirty="0" smtClean="0">
                <a:latin typeface="+mn-ea"/>
              </a:rPr>
              <a:t>1</a:t>
            </a:r>
            <a:endParaRPr lang="en-US" altLang="ko-KR" sz="700" dirty="0">
              <a:latin typeface="+mn-ea"/>
            </a:endParaRPr>
          </a:p>
        </p:txBody>
      </p:sp>
      <p:grpSp>
        <p:nvGrpSpPr>
          <p:cNvPr id="172" name="그룹 171"/>
          <p:cNvGrpSpPr/>
          <p:nvPr/>
        </p:nvGrpSpPr>
        <p:grpSpPr>
          <a:xfrm>
            <a:off x="720139" y="3422269"/>
            <a:ext cx="2630093" cy="426578"/>
            <a:chOff x="701175" y="1835481"/>
            <a:chExt cx="2630093" cy="426578"/>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2262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61" name="직선 연결선 160">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복수예비가격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715534" y="2424523"/>
            <a:ext cx="6966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8" name="그룹 167"/>
          <p:cNvGrpSpPr/>
          <p:nvPr/>
        </p:nvGrpSpPr>
        <p:grpSpPr>
          <a:xfrm>
            <a:off x="2919130" y="2169793"/>
            <a:ext cx="422853" cy="187961"/>
            <a:chOff x="3641308" y="2234886"/>
            <a:chExt cx="422853" cy="187961"/>
          </a:xfrm>
        </p:grpSpPr>
        <p:sp>
          <p:nvSpPr>
            <p:cNvPr id="180" name="타원 17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13" name="모서리가 둥근 직사각형 212"/>
          <p:cNvSpPr/>
          <p:nvPr/>
        </p:nvSpPr>
        <p:spPr>
          <a:xfrm>
            <a:off x="714576" y="2538293"/>
            <a:ext cx="2652743" cy="537711"/>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TextBox 213">
            <a:extLst>
              <a:ext uri="{FF2B5EF4-FFF2-40B4-BE49-F238E27FC236}">
                <a16:creationId xmlns:a16="http://schemas.microsoft.com/office/drawing/2014/main" id="{FFC49AEA-2A8F-250C-A86A-A7751D9706C3}"/>
              </a:ext>
            </a:extLst>
          </p:cNvPr>
          <p:cNvSpPr txBox="1"/>
          <p:nvPr/>
        </p:nvSpPr>
        <p:spPr>
          <a:xfrm>
            <a:off x="803346" y="2636577"/>
            <a:ext cx="2475203" cy="323165"/>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a:latin typeface="맑은 고딕" panose="020B0503020000020004" pitchFamily="50" charset="-127"/>
              </a:rPr>
              <a:t>예정가격 결정을 위한 복수예비가격 </a:t>
            </a:r>
            <a:r>
              <a:rPr lang="en-US" altLang="ko-KR" sz="700" dirty="0">
                <a:latin typeface="맑은 고딕" panose="020B0503020000020004" pitchFamily="50" charset="-127"/>
              </a:rPr>
              <a:t>2</a:t>
            </a:r>
            <a:r>
              <a:rPr lang="ko-KR" altLang="en-US" sz="700" dirty="0">
                <a:latin typeface="맑은 고딕" panose="020B0503020000020004" pitchFamily="50" charset="-127"/>
              </a:rPr>
              <a:t>개를 추첨합니다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p:txBody>
      </p:sp>
      <p:sp>
        <p:nvSpPr>
          <p:cNvPr id="215" name="타원 214"/>
          <p:cNvSpPr/>
          <p:nvPr/>
        </p:nvSpPr>
        <p:spPr>
          <a:xfrm>
            <a:off x="799388" y="262692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6" name="그룹 215"/>
          <p:cNvGrpSpPr/>
          <p:nvPr/>
        </p:nvGrpSpPr>
        <p:grpSpPr>
          <a:xfrm flipV="1">
            <a:off x="3148209" y="2675424"/>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31876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48" name="직사각형 47"/>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2026-07-21 </a:t>
            </a:r>
            <a:r>
              <a:rPr lang="ko-KR" altLang="en-US" dirty="0" smtClean="0"/>
              <a:t>화면 추가</a:t>
            </a:r>
            <a:endParaRPr lang="ko-KR" altLang="en-US" dirty="0"/>
          </a:p>
        </p:txBody>
      </p:sp>
    </p:spTree>
    <p:extLst>
      <p:ext uri="{BB962C8B-B14F-4D97-AF65-F5344CB8AC3E}">
        <p14:creationId xmlns:p14="http://schemas.microsoft.com/office/powerpoint/2010/main" val="151629765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입찰서작성중 </a:t>
            </a:r>
            <a:r>
              <a:rPr lang="ko-KR" altLang="en-US" dirty="0" smtClean="0"/>
              <a:t>파일첨부 </a:t>
            </a:r>
            <a:r>
              <a:rPr lang="en-US" altLang="ko-KR" dirty="0" smtClean="0"/>
              <a:t>(MUI-BD-06-M05) </a:t>
            </a:r>
            <a:r>
              <a:rPr lang="ko-KR" altLang="en-US" dirty="0"/>
              <a:t>화면 </a:t>
            </a:r>
            <a:r>
              <a:rPr lang="ko-KR" altLang="en-US" dirty="0" smtClean="0"/>
              <a:t>내용</a:t>
            </a:r>
            <a:endParaRPr lang="ko-KR" altLang="en-US" dirty="0">
              <a:solidFill>
                <a:srgbClr val="000000"/>
              </a:solidFill>
              <a:latin typeface="맑은 고딕" panose="020B0503020000020004" pitchFamily="50" charset="-127"/>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a:t>
            </a:r>
            <a:r>
              <a:rPr lang="en-US" altLang="ko-KR" sz="700" dirty="0">
                <a:latin typeface="+mn-ea"/>
              </a:rPr>
              <a:t>- </a:t>
            </a:r>
            <a:r>
              <a:rPr lang="ko-KR" altLang="en-US" sz="700" dirty="0"/>
              <a:t>입찰서</a:t>
            </a:r>
            <a:r>
              <a:rPr lang="en-US" altLang="ko-KR" sz="700" dirty="0"/>
              <a:t>(</a:t>
            </a:r>
            <a:r>
              <a:rPr lang="ko-KR" altLang="en-US" sz="700" dirty="0"/>
              <a:t>견적서</a:t>
            </a:r>
            <a:r>
              <a:rPr lang="en-US" altLang="ko-KR" sz="700" dirty="0"/>
              <a:t>)</a:t>
            </a:r>
            <a:r>
              <a:rPr lang="ko-KR" altLang="en-US" sz="700" dirty="0"/>
              <a:t>조회</a:t>
            </a:r>
            <a:r>
              <a:rPr lang="ko-KR" altLang="en-US" sz="700" dirty="0" smtClean="0">
                <a:latin typeface="+mn-ea"/>
              </a:rPr>
              <a:t>파일첨부</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입찰서 제출 완료 후 입찰서 조회 페이지</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입찰서 제출완료상태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MUI-BD-06-T05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2452467"/>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4</a:t>
            </a:r>
            <a:r>
              <a:rPr lang="ko-KR" altLang="en-US" sz="700" spc="-52" dirty="0" smtClean="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83003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904552"/>
            <a:ext cx="214544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규격제안서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smtClean="0">
                <a:solidFill>
                  <a:schemeClr val="tx1">
                    <a:lumMod val="85000"/>
                    <a:lumOff val="15000"/>
                  </a:schemeClr>
                </a:solidFill>
                <a:latin typeface="맑은 고딕" panose="020B0503020000020004" pitchFamily="50" charset="-127"/>
              </a:rPr>
              <a:t>hwp</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295841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23671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2" y="3311238"/>
            <a:ext cx="2068911"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공종별</a:t>
            </a:r>
            <a:r>
              <a:rPr lang="ko-KR" altLang="en-US" sz="700" dirty="0">
                <a:solidFill>
                  <a:schemeClr val="tx1">
                    <a:lumMod val="85000"/>
                    <a:lumOff val="15000"/>
                  </a:schemeClr>
                </a:solidFill>
                <a:latin typeface="맑은 고딕" panose="020B0503020000020004" pitchFamily="50" charset="-127"/>
              </a:rPr>
              <a:t> 산출내역서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smtClean="0">
                <a:solidFill>
                  <a:schemeClr val="tx1">
                    <a:lumMod val="85000"/>
                    <a:lumOff val="15000"/>
                  </a:schemeClr>
                </a:solidFill>
                <a:latin typeface="맑은 고딕" panose="020B0503020000020004" pitchFamily="50" charset="-127"/>
              </a:rPr>
              <a:t>]</a:t>
            </a:r>
            <a:endParaRPr lang="en-US" altLang="ko-KR" sz="700" dirty="0">
              <a:solidFill>
                <a:schemeClr val="tx1">
                  <a:lumMod val="85000"/>
                  <a:lumOff val="15000"/>
                </a:schemeClr>
              </a:solidFill>
              <a:latin typeface="맑은 고딕" panose="020B0503020000020004" pitchFamily="50" charset="-127"/>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36509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69491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69491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55" name="직선 연결선 54">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TextBox 55">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sp>
        <p:nvSpPr>
          <p:cNvPr id="57" name="TextBox 56">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b="1" dirty="0">
                <a:latin typeface="+mn-ea"/>
              </a:rPr>
              <a:t>5.</a:t>
            </a:r>
            <a:r>
              <a:rPr lang="ko-KR" altLang="en-US" sz="700" b="1" dirty="0">
                <a:latin typeface="+mn-ea"/>
              </a:rPr>
              <a:t> 파일첨부</a:t>
            </a:r>
          </a:p>
        </p:txBody>
      </p:sp>
      <p:sp>
        <p:nvSpPr>
          <p:cNvPr id="58" name="TextBox 57">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cxnSp>
        <p:nvCxnSpPr>
          <p:cNvPr id="59" name="직선 연결선 58">
            <a:extLst>
              <a:ext uri="{FF2B5EF4-FFF2-40B4-BE49-F238E27FC236}">
                <a16:creationId xmlns:a16="http://schemas.microsoft.com/office/drawing/2014/main" id="{E9293055-D5CD-4B9E-7F64-64B2D2CA7A52}"/>
              </a:ext>
            </a:extLst>
          </p:cNvPr>
          <p:cNvCxnSpPr/>
          <p:nvPr/>
        </p:nvCxnSpPr>
        <p:spPr>
          <a:xfrm>
            <a:off x="1533063"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0" name="그룹 59"/>
          <p:cNvGrpSpPr/>
          <p:nvPr/>
        </p:nvGrpSpPr>
        <p:grpSpPr>
          <a:xfrm>
            <a:off x="2919130" y="2169793"/>
            <a:ext cx="422853" cy="187961"/>
            <a:chOff x="3641308" y="2234886"/>
            <a:chExt cx="422853" cy="187961"/>
          </a:xfrm>
        </p:grpSpPr>
        <p:sp>
          <p:nvSpPr>
            <p:cNvPr id="61" name="타원 6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2" name="그룹 61"/>
            <p:cNvGrpSpPr/>
            <p:nvPr/>
          </p:nvGrpSpPr>
          <p:grpSpPr>
            <a:xfrm rot="5400000" flipH="1">
              <a:off x="3679895" y="2305364"/>
              <a:ext cx="94010" cy="47005"/>
              <a:chOff x="6812560" y="3297172"/>
              <a:chExt cx="94010" cy="47005"/>
            </a:xfrm>
          </p:grpSpPr>
          <p:cxnSp>
            <p:nvCxnSpPr>
              <p:cNvPr id="67" name="직선 연결선 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3" name="타원 6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p:cNvGrpSpPr/>
            <p:nvPr/>
          </p:nvGrpSpPr>
          <p:grpSpPr>
            <a:xfrm rot="16200000">
              <a:off x="3931564" y="2305364"/>
              <a:ext cx="94010" cy="47005"/>
              <a:chOff x="6812560" y="3297172"/>
              <a:chExt cx="94010" cy="47005"/>
            </a:xfrm>
          </p:grpSpPr>
          <p:cxnSp>
            <p:nvCxnSpPr>
              <p:cNvPr id="65" name="직선 연결선 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70" name="모서리가 둥근 직사각형 69"/>
          <p:cNvSpPr/>
          <p:nvPr/>
        </p:nvSpPr>
        <p:spPr>
          <a:xfrm>
            <a:off x="710315" y="363872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TextBox 70">
            <a:extLst>
              <a:ext uri="{FF2B5EF4-FFF2-40B4-BE49-F238E27FC236}">
                <a16:creationId xmlns:a16="http://schemas.microsoft.com/office/drawing/2014/main" id="{FFC49AEA-2A8F-250C-A86A-A7751D9706C3}"/>
              </a:ext>
            </a:extLst>
          </p:cNvPr>
          <p:cNvSpPr txBox="1"/>
          <p:nvPr/>
        </p:nvSpPr>
        <p:spPr>
          <a:xfrm>
            <a:off x="1210982" y="3713249"/>
            <a:ext cx="2126395" cy="215444"/>
          </a:xfrm>
          <a:prstGeom prst="rect">
            <a:avLst/>
          </a:prstGeom>
          <a:noFill/>
        </p:spPr>
        <p:txBody>
          <a:bodyPr wrap="square" lIns="0" tIns="0" rIns="0" bIns="0" rtlCol="0">
            <a:spAutoFit/>
          </a:bodyPr>
          <a:lstStyle/>
          <a:p>
            <a:r>
              <a:rPr lang="ko-KR" altLang="en-US" sz="700" dirty="0" err="1" smtClean="0">
                <a:solidFill>
                  <a:schemeClr val="tx1">
                    <a:lumMod val="85000"/>
                    <a:lumOff val="15000"/>
                  </a:schemeClr>
                </a:solidFill>
                <a:latin typeface="맑은 고딕" panose="020B0503020000020004" pitchFamily="50" charset="-127"/>
              </a:rPr>
              <a:t>공종별</a:t>
            </a:r>
            <a:r>
              <a:rPr lang="ko-KR" altLang="en-US" sz="700" dirty="0" smtClean="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산출내역서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2" name="TextBox 71">
            <a:extLst>
              <a:ext uri="{FF2B5EF4-FFF2-40B4-BE49-F238E27FC236}">
                <a16:creationId xmlns:a16="http://schemas.microsoft.com/office/drawing/2014/main" id="{FFC49AEA-2A8F-250C-A86A-A7751D9706C3}"/>
              </a:ext>
            </a:extLst>
          </p:cNvPr>
          <p:cNvSpPr txBox="1"/>
          <p:nvPr/>
        </p:nvSpPr>
        <p:spPr>
          <a:xfrm>
            <a:off x="788511" y="376711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74" name="모서리가 둥근 직사각형 73"/>
          <p:cNvSpPr/>
          <p:nvPr/>
        </p:nvSpPr>
        <p:spPr>
          <a:xfrm>
            <a:off x="710315" y="4045414"/>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TextBox 74">
            <a:extLst>
              <a:ext uri="{FF2B5EF4-FFF2-40B4-BE49-F238E27FC236}">
                <a16:creationId xmlns:a16="http://schemas.microsoft.com/office/drawing/2014/main" id="{FFC49AEA-2A8F-250C-A86A-A7751D9706C3}"/>
              </a:ext>
            </a:extLst>
          </p:cNvPr>
          <p:cNvSpPr txBox="1"/>
          <p:nvPr/>
        </p:nvSpPr>
        <p:spPr>
          <a:xfrm>
            <a:off x="1210983" y="4119935"/>
            <a:ext cx="2126394" cy="215444"/>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기타참조서류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smtClean="0">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6" name="TextBox 75">
            <a:extLst>
              <a:ext uri="{FF2B5EF4-FFF2-40B4-BE49-F238E27FC236}">
                <a16:creationId xmlns:a16="http://schemas.microsoft.com/office/drawing/2014/main" id="{FFC49AEA-2A8F-250C-A86A-A7751D9706C3}"/>
              </a:ext>
            </a:extLst>
          </p:cNvPr>
          <p:cNvSpPr txBox="1"/>
          <p:nvPr/>
        </p:nvSpPr>
        <p:spPr>
          <a:xfrm>
            <a:off x="788511" y="417379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9" name="타원 108">
            <a:extLst>
              <a:ext uri="{FF2B5EF4-FFF2-40B4-BE49-F238E27FC236}">
                <a16:creationId xmlns:a16="http://schemas.microsoft.com/office/drawing/2014/main" id="{37A7FF4F-0EAA-1463-560A-D5EC24416103}"/>
              </a:ext>
            </a:extLst>
          </p:cNvPr>
          <p:cNvSpPr/>
          <p:nvPr/>
        </p:nvSpPr>
        <p:spPr>
          <a:xfrm>
            <a:off x="589334" y="249129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47" name="직사각형 46"/>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2026-07-21 </a:t>
            </a:r>
            <a:r>
              <a:rPr lang="ko-KR" altLang="en-US" dirty="0" smtClean="0"/>
              <a:t>화면 추가</a:t>
            </a:r>
            <a:endParaRPr lang="ko-KR" altLang="en-US" dirty="0"/>
          </a:p>
        </p:txBody>
      </p:sp>
    </p:spTree>
    <p:extLst>
      <p:ext uri="{BB962C8B-B14F-4D97-AF65-F5344CB8AC3E}">
        <p14:creationId xmlns:p14="http://schemas.microsoft.com/office/powerpoint/2010/main" val="48382070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입찰서작성중 </a:t>
            </a:r>
            <a:r>
              <a:rPr lang="ko-KR" altLang="en-US" dirty="0" smtClean="0"/>
              <a:t>동가낙찰선추첨 </a:t>
            </a:r>
            <a:r>
              <a:rPr lang="en-US" altLang="ko-KR" dirty="0" smtClean="0"/>
              <a:t>(</a:t>
            </a:r>
            <a:r>
              <a:rPr lang="en-US" altLang="ko-KR" dirty="0"/>
              <a:t>MUI-BD-06-M06 ) </a:t>
            </a:r>
            <a:r>
              <a:rPr lang="ko-KR" altLang="en-US" dirty="0"/>
              <a:t>화면 내용</a:t>
            </a:r>
            <a:endParaRPr lang="ko-KR" altLang="en-US" dirty="0">
              <a:solidFill>
                <a:srgbClr val="000000"/>
              </a:solidFill>
              <a:latin typeface="맑은 고딕" panose="020B0503020000020004" pitchFamily="50" charset="-127"/>
            </a:endParaRP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600" dirty="0">
                <a:latin typeface="+mn-ea"/>
              </a:rPr>
              <a:t>입찰진행상세</a:t>
            </a:r>
            <a:r>
              <a:rPr lang="en-US" altLang="ko-KR" sz="600" dirty="0">
                <a:latin typeface="+mn-ea"/>
              </a:rPr>
              <a:t>- </a:t>
            </a:r>
            <a:r>
              <a:rPr lang="ko-KR" altLang="en-US" sz="600" dirty="0"/>
              <a:t>입찰서</a:t>
            </a:r>
            <a:r>
              <a:rPr lang="en-US" altLang="ko-KR" sz="600" dirty="0"/>
              <a:t>(</a:t>
            </a:r>
            <a:r>
              <a:rPr lang="ko-KR" altLang="en-US" sz="600" dirty="0"/>
              <a:t>견적서</a:t>
            </a:r>
            <a:r>
              <a:rPr lang="en-US" altLang="ko-KR" sz="600" dirty="0"/>
              <a:t>)</a:t>
            </a:r>
            <a:r>
              <a:rPr lang="ko-KR" altLang="en-US" sz="600" dirty="0" err="1"/>
              <a:t>조회</a:t>
            </a:r>
            <a:r>
              <a:rPr lang="ko-KR" altLang="en-US" sz="600" dirty="0" err="1" smtClean="0">
                <a:latin typeface="+mn-ea"/>
              </a:rPr>
              <a:t>동가낙찰선추첨</a:t>
            </a:r>
            <a:endParaRPr lang="ko-KR" altLang="en-US" sz="6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입찰서 제출 완료 후 입찰서 조회 페이지</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입찰서 제출완료상태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MUI-BD-06-T06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5" name="TextBox 164">
            <a:extLst>
              <a:ext uri="{FF2B5EF4-FFF2-40B4-BE49-F238E27FC236}">
                <a16:creationId xmlns:a16="http://schemas.microsoft.com/office/drawing/2014/main" id="{FFC49AEA-2A8F-250C-A86A-A7751D9706C3}"/>
              </a:ext>
            </a:extLst>
          </p:cNvPr>
          <p:cNvSpPr txBox="1"/>
          <p:nvPr/>
        </p:nvSpPr>
        <p:spPr>
          <a:xfrm>
            <a:off x="781109" y="3203671"/>
            <a:ext cx="2451575" cy="181140"/>
          </a:xfrm>
          <a:prstGeom prst="rect">
            <a:avLst/>
          </a:prstGeom>
          <a:noFill/>
        </p:spPr>
        <p:txBody>
          <a:bodyPr wrap="square" lIns="0" tIns="0" rIns="0" bIns="0" rtlCol="0">
            <a:spAutoFit/>
          </a:bodyPr>
          <a:lstStyle/>
          <a:p>
            <a:pPr>
              <a:lnSpc>
                <a:spcPct val="200000"/>
              </a:lnSpc>
            </a:pP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sp>
        <p:nvSpPr>
          <p:cNvPr id="169" name="직사각형 168"/>
          <p:cNvSpPr/>
          <p:nvPr/>
        </p:nvSpPr>
        <p:spPr>
          <a:xfrm>
            <a:off x="722232" y="3494913"/>
            <a:ext cx="792000" cy="107721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94912"/>
            <a:ext cx="725552" cy="1077218"/>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2</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3</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4</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5</a:t>
            </a:r>
            <a:r>
              <a:rPr lang="ko-KR" altLang="en-US" sz="700" dirty="0" smtClean="0">
                <a:latin typeface="+mn-ea"/>
              </a:rPr>
              <a:t>차</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94912"/>
            <a:ext cx="1784088" cy="1077218"/>
          </a:xfrm>
          <a:prstGeom prst="rect">
            <a:avLst/>
          </a:prstGeom>
          <a:noFill/>
        </p:spPr>
        <p:txBody>
          <a:bodyPr wrap="square" lIns="0" tIns="0" rIns="0" bIns="0" rtlCol="0">
            <a:spAutoFit/>
          </a:bodyPr>
          <a:lstStyle/>
          <a:p>
            <a:pPr>
              <a:lnSpc>
                <a:spcPct val="200000"/>
              </a:lnSpc>
            </a:pPr>
            <a:r>
              <a:rPr lang="ko-KR" altLang="en-US" sz="700" dirty="0" smtClean="0">
                <a:latin typeface="+mn-ea"/>
              </a:rPr>
              <a:t>가위</a:t>
            </a:r>
            <a:endParaRPr lang="en-US" altLang="ko-KR" sz="700" dirty="0" smtClean="0">
              <a:latin typeface="+mn-ea"/>
            </a:endParaRPr>
          </a:p>
          <a:p>
            <a:pPr>
              <a:lnSpc>
                <a:spcPct val="200000"/>
              </a:lnSpc>
            </a:pPr>
            <a:r>
              <a:rPr lang="ko-KR" altLang="en-US" sz="700" dirty="0" smtClean="0">
                <a:latin typeface="+mn-ea"/>
              </a:rPr>
              <a:t>바위</a:t>
            </a:r>
            <a:endParaRPr lang="en-US" altLang="ko-KR" sz="700" dirty="0" smtClean="0">
              <a:latin typeface="+mn-ea"/>
            </a:endParaRPr>
          </a:p>
          <a:p>
            <a:pPr>
              <a:lnSpc>
                <a:spcPct val="200000"/>
              </a:lnSpc>
            </a:pPr>
            <a:r>
              <a:rPr lang="ko-KR" altLang="en-US" sz="700" dirty="0" smtClean="0">
                <a:latin typeface="+mn-ea"/>
              </a:rPr>
              <a:t>가위</a:t>
            </a:r>
            <a:endParaRPr lang="en-US" altLang="ko-KR" sz="700" dirty="0">
              <a:latin typeface="+mn-ea"/>
            </a:endParaRPr>
          </a:p>
          <a:p>
            <a:pPr>
              <a:lnSpc>
                <a:spcPct val="200000"/>
              </a:lnSpc>
            </a:pPr>
            <a:r>
              <a:rPr lang="ko-KR" altLang="en-US" sz="700" dirty="0">
                <a:latin typeface="+mn-ea"/>
              </a:rPr>
              <a:t>바위</a:t>
            </a:r>
            <a:endParaRPr lang="en-US" altLang="ko-KR" sz="700" dirty="0">
              <a:latin typeface="+mn-ea"/>
            </a:endParaRPr>
          </a:p>
          <a:p>
            <a:pPr>
              <a:lnSpc>
                <a:spcPct val="200000"/>
              </a:lnSpc>
            </a:pPr>
            <a:r>
              <a:rPr lang="ko-KR" altLang="en-US" sz="700" dirty="0">
                <a:latin typeface="+mn-ea"/>
              </a:rPr>
              <a:t>가위</a:t>
            </a:r>
            <a:endParaRPr lang="en-US" altLang="ko-KR" sz="700" dirty="0">
              <a:latin typeface="+mn-ea"/>
            </a:endParaRPr>
          </a:p>
        </p:txBody>
      </p:sp>
      <p:grpSp>
        <p:nvGrpSpPr>
          <p:cNvPr id="172" name="그룹 171"/>
          <p:cNvGrpSpPr/>
          <p:nvPr/>
        </p:nvGrpSpPr>
        <p:grpSpPr>
          <a:xfrm>
            <a:off x="720139" y="3494912"/>
            <a:ext cx="2668193" cy="1077218"/>
            <a:chOff x="701175" y="1835481"/>
            <a:chExt cx="2668193" cy="1077218"/>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0" name="직선 연결선 109">
              <a:extLst>
                <a:ext uri="{FF2B5EF4-FFF2-40B4-BE49-F238E27FC236}">
                  <a16:creationId xmlns:a16="http://schemas.microsoft.com/office/drawing/2014/main" id="{E9293055-D5CD-4B9E-7F64-64B2D2CA7A52}"/>
                </a:ext>
              </a:extLst>
            </p:cNvPr>
            <p:cNvCxnSpPr/>
            <p:nvPr/>
          </p:nvCxnSpPr>
          <p:spPr>
            <a:xfrm>
              <a:off x="741368" y="22788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35018" y="25137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0" name="직선 연결선 49">
              <a:extLst>
                <a:ext uri="{FF2B5EF4-FFF2-40B4-BE49-F238E27FC236}">
                  <a16:creationId xmlns:a16="http://schemas.microsoft.com/office/drawing/2014/main" id="{E9293055-D5CD-4B9E-7F64-64B2D2CA7A52}"/>
                </a:ext>
              </a:extLst>
            </p:cNvPr>
            <p:cNvCxnSpPr/>
            <p:nvPr/>
          </p:nvCxnSpPr>
          <p:spPr>
            <a:xfrm>
              <a:off x="735018" y="27233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1" name="직선 연결선 50">
              <a:extLst>
                <a:ext uri="{FF2B5EF4-FFF2-40B4-BE49-F238E27FC236}">
                  <a16:creationId xmlns:a16="http://schemas.microsoft.com/office/drawing/2014/main" id="{E9293055-D5CD-4B9E-7F64-64B2D2CA7A52}"/>
                </a:ext>
              </a:extLst>
            </p:cNvPr>
            <p:cNvCxnSpPr/>
            <p:nvPr/>
          </p:nvCxnSpPr>
          <p:spPr>
            <a:xfrm>
              <a:off x="735018" y="29126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61" name="직선 연결선 160">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b="1" dirty="0">
                <a:latin typeface="+mn-ea"/>
              </a:rPr>
              <a:t>6. </a:t>
            </a:r>
            <a:r>
              <a:rPr lang="ko-KR" altLang="en-US" sz="700" b="1" dirty="0" err="1">
                <a:latin typeface="+mn-ea"/>
              </a:rPr>
              <a:t>동가낙찰</a:t>
            </a:r>
            <a:r>
              <a:rPr lang="ko-KR" altLang="en-US" sz="700" b="1" dirty="0">
                <a:latin typeface="+mn-ea"/>
              </a:rPr>
              <a:t> </a:t>
            </a:r>
            <a:r>
              <a:rPr lang="ko-KR" altLang="en-US" sz="700" b="1" dirty="0" err="1">
                <a:latin typeface="+mn-ea"/>
              </a:rPr>
              <a:t>선추첨</a:t>
            </a:r>
            <a:endParaRPr lang="ko-KR" altLang="en-US" sz="700" b="1" dirty="0">
              <a:latin typeface="+mn-ea"/>
            </a:endParaRP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2125944" y="2424523"/>
            <a:ext cx="793186"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8" name="그룹 167"/>
          <p:cNvGrpSpPr/>
          <p:nvPr/>
        </p:nvGrpSpPr>
        <p:grpSpPr>
          <a:xfrm>
            <a:off x="2919130" y="2169793"/>
            <a:ext cx="422853" cy="187961"/>
            <a:chOff x="3641308" y="2234886"/>
            <a:chExt cx="422853" cy="187961"/>
          </a:xfrm>
        </p:grpSpPr>
        <p:sp>
          <p:nvSpPr>
            <p:cNvPr id="180" name="타원 17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13" name="모서리가 둥근 직사각형 212"/>
          <p:cNvSpPr/>
          <p:nvPr/>
        </p:nvSpPr>
        <p:spPr>
          <a:xfrm>
            <a:off x="714576" y="2538293"/>
            <a:ext cx="2652743" cy="626289"/>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TextBox 213">
            <a:extLst>
              <a:ext uri="{FF2B5EF4-FFF2-40B4-BE49-F238E27FC236}">
                <a16:creationId xmlns:a16="http://schemas.microsoft.com/office/drawing/2014/main" id="{FFC49AEA-2A8F-250C-A86A-A7751D9706C3}"/>
              </a:ext>
            </a:extLst>
          </p:cNvPr>
          <p:cNvSpPr txBox="1"/>
          <p:nvPr/>
        </p:nvSpPr>
        <p:spPr>
          <a:xfrm>
            <a:off x="803346" y="2636577"/>
            <a:ext cx="2475203" cy="430887"/>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err="1">
                <a:latin typeface="맑은 고딕" panose="020B0503020000020004" pitchFamily="50" charset="-127"/>
              </a:rPr>
              <a:t>동가입찰시</a:t>
            </a:r>
            <a:r>
              <a:rPr lang="ko-KR" altLang="en-US" sz="700" dirty="0">
                <a:latin typeface="맑은 고딕" panose="020B0503020000020004" pitchFamily="50" charset="-127"/>
              </a:rPr>
              <a:t> 낙찰자 결정을 위해 </a:t>
            </a:r>
            <a:r>
              <a:rPr lang="en-US" altLang="ko-KR" sz="700" dirty="0">
                <a:latin typeface="맑은 고딕" panose="020B0503020000020004" pitchFamily="50" charset="-127"/>
              </a:rPr>
              <a:t>[</a:t>
            </a:r>
            <a:r>
              <a:rPr lang="ko-KR" altLang="en-US" sz="700" dirty="0">
                <a:latin typeface="맑은 고딕" panose="020B0503020000020004" pitchFamily="50" charset="-127"/>
              </a:rPr>
              <a:t>가위</a:t>
            </a:r>
            <a:r>
              <a:rPr lang="en-US" altLang="ko-KR" sz="700" dirty="0">
                <a:latin typeface="맑은 고딕" panose="020B0503020000020004" pitchFamily="50" charset="-127"/>
              </a:rPr>
              <a:t>, </a:t>
            </a:r>
            <a:r>
              <a:rPr lang="ko-KR" altLang="en-US" sz="700" dirty="0">
                <a:latin typeface="맑은 고딕" panose="020B0503020000020004" pitchFamily="50" charset="-127"/>
              </a:rPr>
              <a:t>바위</a:t>
            </a:r>
            <a:r>
              <a:rPr lang="en-US" altLang="ko-KR" sz="700" dirty="0">
                <a:latin typeface="맑은 고딕" panose="020B0503020000020004" pitchFamily="50" charset="-127"/>
              </a:rPr>
              <a:t>, </a:t>
            </a:r>
            <a:r>
              <a:rPr lang="ko-KR" altLang="en-US" sz="700" dirty="0">
                <a:latin typeface="맑은 고딕" panose="020B0503020000020004" pitchFamily="50" charset="-127"/>
              </a:rPr>
              <a:t>보</a:t>
            </a:r>
            <a:r>
              <a:rPr lang="en-US" altLang="ko-KR" sz="700" dirty="0">
                <a:latin typeface="맑은 고딕" panose="020B0503020000020004" pitchFamily="50" charset="-127"/>
              </a:rPr>
              <a:t>]</a:t>
            </a:r>
            <a:r>
              <a:rPr lang="ko-KR" altLang="en-US" sz="700" dirty="0">
                <a:latin typeface="맑은 고딕" panose="020B0503020000020004" pitchFamily="50" charset="-127"/>
              </a:rPr>
              <a:t>를 </a:t>
            </a:r>
            <a:r>
              <a:rPr lang="en-US" altLang="ko-KR" sz="700" dirty="0">
                <a:latin typeface="맑은 고딕" panose="020B0503020000020004" pitchFamily="50" charset="-127"/>
              </a:rPr>
              <a:t>5</a:t>
            </a:r>
            <a:r>
              <a:rPr lang="ko-KR" altLang="en-US" sz="700" dirty="0">
                <a:latin typeface="맑은 고딕" panose="020B0503020000020004" pitchFamily="50" charset="-127"/>
              </a:rPr>
              <a:t>차까지 선택합니다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p:txBody>
      </p:sp>
      <p:sp>
        <p:nvSpPr>
          <p:cNvPr id="215" name="타원 214"/>
          <p:cNvSpPr/>
          <p:nvPr/>
        </p:nvSpPr>
        <p:spPr>
          <a:xfrm>
            <a:off x="799388" y="262692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6" name="그룹 215"/>
          <p:cNvGrpSpPr/>
          <p:nvPr/>
        </p:nvGrpSpPr>
        <p:grpSpPr>
          <a:xfrm flipV="1">
            <a:off x="3148209" y="2675424"/>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31876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49" name="직사각형 48"/>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2026-07-21 </a:t>
            </a:r>
            <a:r>
              <a:rPr lang="ko-KR" altLang="en-US" dirty="0" smtClean="0"/>
              <a:t>화면 추가</a:t>
            </a:r>
            <a:endParaRPr lang="ko-KR" altLang="en-US" dirty="0"/>
          </a:p>
        </p:txBody>
      </p:sp>
    </p:spTree>
    <p:extLst>
      <p:ext uri="{BB962C8B-B14F-4D97-AF65-F5344CB8AC3E}">
        <p14:creationId xmlns:p14="http://schemas.microsoft.com/office/powerpoint/2010/main" val="75804667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입찰서작성중 </a:t>
            </a:r>
            <a:r>
              <a:rPr lang="ko-KR" altLang="en-US" dirty="0" smtClean="0"/>
              <a:t>약관동의 </a:t>
            </a:r>
            <a:r>
              <a:rPr lang="en-US" altLang="ko-KR" dirty="0" smtClean="0"/>
              <a:t>(MUI-BD-06-M07) </a:t>
            </a:r>
            <a:r>
              <a:rPr lang="ko-KR" altLang="en-US" dirty="0"/>
              <a:t>화면 내용</a:t>
            </a:r>
            <a:endParaRPr lang="ko-KR" altLang="en-US" dirty="0">
              <a:solidFill>
                <a:srgbClr val="000000"/>
              </a:solidFill>
              <a:latin typeface="맑은 고딕" panose="020B0503020000020004" pitchFamily="50" charset="-127"/>
            </a:endParaRPr>
          </a:p>
          <a:p>
            <a:pPr marL="228600" indent="-228600">
              <a:buFont typeface="+mj-lt"/>
              <a:buAutoNum type="arabicPeriod"/>
            </a:pPr>
            <a:endParaRPr lang="en-US" altLang="ko-KR" dirty="0"/>
          </a:p>
          <a:p>
            <a:pPr marL="0" indent="0">
              <a:buNone/>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a:t>
            </a:r>
            <a:r>
              <a:rPr lang="en-US" altLang="ko-KR" sz="700" dirty="0">
                <a:latin typeface="+mn-ea"/>
              </a:rPr>
              <a:t>- </a:t>
            </a:r>
            <a:r>
              <a:rPr lang="ko-KR" altLang="en-US" sz="700" dirty="0"/>
              <a:t>입찰서</a:t>
            </a:r>
            <a:r>
              <a:rPr lang="en-US" altLang="ko-KR" sz="700" dirty="0"/>
              <a:t>(</a:t>
            </a:r>
            <a:r>
              <a:rPr lang="ko-KR" altLang="en-US" sz="700" dirty="0"/>
              <a:t>견적서</a:t>
            </a:r>
            <a:r>
              <a:rPr lang="en-US" altLang="ko-KR" sz="700" dirty="0"/>
              <a:t>)</a:t>
            </a:r>
            <a:r>
              <a:rPr lang="ko-KR" altLang="en-US" sz="700" dirty="0"/>
              <a:t>조회</a:t>
            </a:r>
            <a:r>
              <a:rPr lang="ko-KR" altLang="en-US" sz="700" dirty="0" smtClean="0">
                <a:latin typeface="+mn-ea"/>
              </a:rPr>
              <a:t>약관동의</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입찰서 제출 완료 후 입찰서 조회 페이지</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입찰서 제출완료상태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MUI-BD-06-T07</a:t>
            </a:r>
            <a:endParaRPr lang="en-US" altLang="ko-KR" dirty="0" smtClean="0"/>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2770611"/>
            <a:ext cx="2522014" cy="295200"/>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2856656"/>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6" y="2856656"/>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endParaRPr lang="en-US" altLang="ko-KR" sz="800" dirty="0">
              <a:latin typeface="맑은 고딕" panose="020B0503020000020004" pitchFamily="50" charset="-127"/>
            </a:endParaRPr>
          </a:p>
        </p:txBody>
      </p:sp>
      <p:sp>
        <p:nvSpPr>
          <p:cNvPr id="198" name="타원 197"/>
          <p:cNvSpPr/>
          <p:nvPr/>
        </p:nvSpPr>
        <p:spPr>
          <a:xfrm>
            <a:off x="3094722" y="2860354"/>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85" name="모서리가 둥근 직사각형 184"/>
          <p:cNvSpPr/>
          <p:nvPr/>
        </p:nvSpPr>
        <p:spPr>
          <a:xfrm>
            <a:off x="703688" y="4544713"/>
            <a:ext cx="2652743" cy="1302029"/>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792458" y="4642997"/>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본인은 국가를 당사자로 하는 계약에 관한 법률시행규칙에 의한 공사 입찰유의서에 따라 응찰하여 이 입찰이 귀 기관에 의하여 수락되면 공사 계약일반조건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계약특수조건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설계서 및 현장 설명 사항에 따라 위의 입찰금액으로 준공기한내에 공사를 완공할 것을 </a:t>
            </a:r>
            <a:r>
              <a:rPr lang="ko-KR" altLang="en-US" sz="700" dirty="0" err="1">
                <a:solidFill>
                  <a:schemeClr val="tx1">
                    <a:lumMod val="85000"/>
                    <a:lumOff val="15000"/>
                  </a:schemeClr>
                </a:solidFill>
                <a:latin typeface="맑은 고딕" panose="020B0503020000020004" pitchFamily="50" charset="-127"/>
              </a:rPr>
              <a:t>확약하오며</a:t>
            </a:r>
            <a:r>
              <a:rPr lang="ko-KR" altLang="en-US" sz="700" dirty="0">
                <a:solidFill>
                  <a:schemeClr val="tx1">
                    <a:lumMod val="85000"/>
                    <a:lumOff val="15000"/>
                  </a:schemeClr>
                </a:solidFill>
                <a:latin typeface="맑은 고딕" panose="020B0503020000020004" pitchFamily="50" charset="-127"/>
              </a:rPr>
              <a:t> 입찰서를 제출합니다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입찰서는 포기 또는 취소 후 재입찰이 불가하니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입찰포기</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또는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입찰취소</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시 유의하시기 바랍니다</a:t>
            </a:r>
            <a:r>
              <a:rPr lang="en-US" altLang="ko-KR" sz="700" dirty="0">
                <a:solidFill>
                  <a:schemeClr val="tx1">
                    <a:lumMod val="85000"/>
                    <a:lumOff val="15000"/>
                  </a:schemeClr>
                </a:solidFill>
                <a:latin typeface="맑은 고딕" panose="020B0503020000020004" pitchFamily="50" charset="-127"/>
              </a:rPr>
              <a:t>.</a:t>
            </a:r>
            <a:endParaRPr lang="en-US" altLang="ko-KR" sz="700" dirty="0">
              <a:latin typeface="+mn-ea"/>
            </a:endParaRPr>
          </a:p>
        </p:txBody>
      </p:sp>
      <p:sp>
        <p:nvSpPr>
          <p:cNvPr id="194" name="타원 193"/>
          <p:cNvSpPr/>
          <p:nvPr/>
        </p:nvSpPr>
        <p:spPr>
          <a:xfrm>
            <a:off x="788500" y="463334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3137321" y="4681844"/>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29" name="직선 연결선 128">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2425310" y="2417854"/>
            <a:ext cx="5335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4" name="그룹 143"/>
          <p:cNvGrpSpPr/>
          <p:nvPr/>
        </p:nvGrpSpPr>
        <p:grpSpPr>
          <a:xfrm>
            <a:off x="2923735" y="2163124"/>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7" name="그룹 146"/>
            <p:cNvGrpSpPr/>
            <p:nvPr/>
          </p:nvGrpSpPr>
          <p:grpSpPr>
            <a:xfrm rot="5400000" flipH="1">
              <a:off x="3679895" y="2305364"/>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5" name="타원 16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7" name="그룹 166"/>
            <p:cNvGrpSpPr/>
            <p:nvPr/>
          </p:nvGrpSpPr>
          <p:grpSpPr>
            <a:xfrm rot="16200000">
              <a:off x="3931564" y="2305364"/>
              <a:ext cx="94010" cy="47005"/>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79" name="TextBox 178">
            <a:extLst>
              <a:ext uri="{FF2B5EF4-FFF2-40B4-BE49-F238E27FC236}">
                <a16:creationId xmlns:a16="http://schemas.microsoft.com/office/drawing/2014/main" id="{FFC49AEA-2A8F-250C-A86A-A7751D9706C3}"/>
              </a:ext>
            </a:extLst>
          </p:cNvPr>
          <p:cNvSpPr txBox="1"/>
          <p:nvPr/>
        </p:nvSpPr>
        <p:spPr>
          <a:xfrm>
            <a:off x="756845" y="2484624"/>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약관 동의</a:t>
            </a:r>
          </a:p>
        </p:txBody>
      </p:sp>
      <p:sp>
        <p:nvSpPr>
          <p:cNvPr id="238" name="모서리가 둥근 직사각형 237"/>
          <p:cNvSpPr/>
          <p:nvPr/>
        </p:nvSpPr>
        <p:spPr>
          <a:xfrm rot="5400000">
            <a:off x="2662242" y="314622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59212" y="2207916"/>
            <a:ext cx="485388"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450280" y="2207916"/>
            <a:ext cx="772916"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2428875" y="2207916"/>
            <a:ext cx="492571" cy="107722"/>
          </a:xfrm>
          <a:prstGeom prst="rect">
            <a:avLst/>
          </a:prstGeom>
          <a:noFill/>
        </p:spPr>
        <p:txBody>
          <a:bodyPr wrap="square" lIns="0" tIns="0" rIns="0" bIns="0" rtlCol="0">
            <a:spAutoFit/>
          </a:bodyPr>
          <a:lstStyle/>
          <a:p>
            <a:pPr algn="ctr"/>
            <a:r>
              <a:rPr lang="en-US" altLang="ko-KR" sz="700" dirty="0">
                <a:latin typeface="+mn-ea"/>
              </a:rPr>
              <a:t>7. </a:t>
            </a:r>
            <a:r>
              <a:rPr lang="ko-KR" altLang="en-US" sz="700" dirty="0">
                <a:latin typeface="+mn-ea"/>
              </a:rPr>
              <a:t>약관동의</a:t>
            </a:r>
          </a:p>
        </p:txBody>
      </p:sp>
      <p:sp>
        <p:nvSpPr>
          <p:cNvPr id="72" name="사각형: 둥근 모서리 15">
            <a:extLst>
              <a:ext uri="{FF2B5EF4-FFF2-40B4-BE49-F238E27FC236}">
                <a16:creationId xmlns:a16="http://schemas.microsoft.com/office/drawing/2014/main" id="{E2B61CFB-AD16-68D0-8752-50D9C5E01971}"/>
              </a:ext>
            </a:extLst>
          </p:cNvPr>
          <p:cNvSpPr/>
          <p:nvPr/>
        </p:nvSpPr>
        <p:spPr>
          <a:xfrm>
            <a:off x="767702" y="3372754"/>
            <a:ext cx="2522014" cy="295200"/>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74" name="TextBox 58">
            <a:extLst>
              <a:ext uri="{FF2B5EF4-FFF2-40B4-BE49-F238E27FC236}">
                <a16:creationId xmlns:a16="http://schemas.microsoft.com/office/drawing/2014/main" id="{02FC114B-B48B-345F-BD70-2B5A196F5B3E}"/>
              </a:ext>
            </a:extLst>
          </p:cNvPr>
          <p:cNvSpPr txBox="1"/>
          <p:nvPr/>
        </p:nvSpPr>
        <p:spPr>
          <a:xfrm>
            <a:off x="865539" y="3458799"/>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smtClean="0">
                <a:latin typeface="맑은 고딕" panose="020B0503020000020004" pitchFamily="50" charset="-127"/>
              </a:rPr>
              <a:t>인증서 </a:t>
            </a:r>
            <a:r>
              <a:rPr lang="en-US" altLang="ko-KR" sz="800" dirty="0" smtClean="0">
                <a:latin typeface="맑은 고딕" panose="020B0503020000020004" pitchFamily="50" charset="-127"/>
              </a:rPr>
              <a:t>1</a:t>
            </a:r>
            <a:endParaRPr lang="en-US" altLang="ko-KR" sz="800" dirty="0">
              <a:latin typeface="맑은 고딕" panose="020B0503020000020004" pitchFamily="50" charset="-127"/>
            </a:endParaRPr>
          </a:p>
        </p:txBody>
      </p:sp>
      <p:sp>
        <p:nvSpPr>
          <p:cNvPr id="75" name="타원 74"/>
          <p:cNvSpPr/>
          <p:nvPr/>
        </p:nvSpPr>
        <p:spPr>
          <a:xfrm>
            <a:off x="3094722" y="3462497"/>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77" name="TextBox 76">
            <a:extLst>
              <a:ext uri="{FF2B5EF4-FFF2-40B4-BE49-F238E27FC236}">
                <a16:creationId xmlns:a16="http://schemas.microsoft.com/office/drawing/2014/main" id="{FFC49AEA-2A8F-250C-A86A-A7751D9706C3}"/>
              </a:ext>
            </a:extLst>
          </p:cNvPr>
          <p:cNvSpPr txBox="1"/>
          <p:nvPr/>
        </p:nvSpPr>
        <p:spPr>
          <a:xfrm>
            <a:off x="756845" y="3154340"/>
            <a:ext cx="1384615" cy="181140"/>
          </a:xfrm>
          <a:prstGeom prst="rect">
            <a:avLst/>
          </a:prstGeom>
          <a:noFill/>
        </p:spPr>
        <p:txBody>
          <a:bodyPr wrap="square" lIns="0" tIns="0" rIns="0" bIns="0" rtlCol="0">
            <a:spAutoFit/>
          </a:bodyPr>
          <a:lstStyle/>
          <a:p>
            <a:pPr>
              <a:lnSpc>
                <a:spcPct val="200000"/>
              </a:lnSpc>
            </a:pPr>
            <a:r>
              <a:rPr lang="ko-KR" altLang="en-US" sz="700" dirty="0" smtClean="0">
                <a:latin typeface="+mn-ea"/>
              </a:rPr>
              <a:t>전자 서명 완료</a:t>
            </a:r>
            <a:endParaRPr lang="ko-KR" altLang="en-US" sz="700" dirty="0">
              <a:latin typeface="+mn-ea"/>
            </a:endParaRPr>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767702" y="3705228"/>
            <a:ext cx="2522014" cy="295200"/>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79" name="TextBox 58">
            <a:extLst>
              <a:ext uri="{FF2B5EF4-FFF2-40B4-BE49-F238E27FC236}">
                <a16:creationId xmlns:a16="http://schemas.microsoft.com/office/drawing/2014/main" id="{02FC114B-B48B-345F-BD70-2B5A196F5B3E}"/>
              </a:ext>
            </a:extLst>
          </p:cNvPr>
          <p:cNvSpPr txBox="1"/>
          <p:nvPr/>
        </p:nvSpPr>
        <p:spPr>
          <a:xfrm>
            <a:off x="865539" y="3791273"/>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smtClean="0">
                <a:latin typeface="맑은 고딕" panose="020B0503020000020004" pitchFamily="50" charset="-127"/>
              </a:rPr>
              <a:t>인증서 </a:t>
            </a:r>
            <a:r>
              <a:rPr lang="en-US" altLang="ko-KR" sz="800" dirty="0" smtClean="0">
                <a:latin typeface="맑은 고딕" panose="020B0503020000020004" pitchFamily="50" charset="-127"/>
              </a:rPr>
              <a:t>2</a:t>
            </a:r>
            <a:endParaRPr lang="en-US" altLang="ko-KR" sz="800" dirty="0">
              <a:latin typeface="맑은 고딕" panose="020B0503020000020004" pitchFamily="50" charset="-127"/>
            </a:endParaRPr>
          </a:p>
        </p:txBody>
      </p:sp>
      <p:sp>
        <p:nvSpPr>
          <p:cNvPr id="80" name="타원 79"/>
          <p:cNvSpPr/>
          <p:nvPr/>
        </p:nvSpPr>
        <p:spPr>
          <a:xfrm>
            <a:off x="3094722" y="3794971"/>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81" name="사각형: 둥근 모서리 15">
            <a:extLst>
              <a:ext uri="{FF2B5EF4-FFF2-40B4-BE49-F238E27FC236}">
                <a16:creationId xmlns:a16="http://schemas.microsoft.com/office/drawing/2014/main" id="{E2B61CFB-AD16-68D0-8752-50D9C5E01971}"/>
              </a:ext>
            </a:extLst>
          </p:cNvPr>
          <p:cNvSpPr/>
          <p:nvPr/>
        </p:nvSpPr>
        <p:spPr>
          <a:xfrm>
            <a:off x="767702" y="4033445"/>
            <a:ext cx="2522014" cy="295200"/>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82" name="TextBox 58">
            <a:extLst>
              <a:ext uri="{FF2B5EF4-FFF2-40B4-BE49-F238E27FC236}">
                <a16:creationId xmlns:a16="http://schemas.microsoft.com/office/drawing/2014/main" id="{02FC114B-B48B-345F-BD70-2B5A196F5B3E}"/>
              </a:ext>
            </a:extLst>
          </p:cNvPr>
          <p:cNvSpPr txBox="1"/>
          <p:nvPr/>
        </p:nvSpPr>
        <p:spPr>
          <a:xfrm>
            <a:off x="865539" y="4119490"/>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smtClean="0">
                <a:latin typeface="맑은 고딕" panose="020B0503020000020004" pitchFamily="50" charset="-127"/>
              </a:rPr>
              <a:t>인증서 </a:t>
            </a:r>
            <a:r>
              <a:rPr lang="en-US" altLang="ko-KR" sz="800" dirty="0" smtClean="0">
                <a:latin typeface="맑은 고딕" panose="020B0503020000020004" pitchFamily="50" charset="-127"/>
              </a:rPr>
              <a:t>3</a:t>
            </a:r>
            <a:endParaRPr lang="en-US" altLang="ko-KR" sz="800" dirty="0">
              <a:latin typeface="맑은 고딕" panose="020B0503020000020004" pitchFamily="50" charset="-127"/>
            </a:endParaRPr>
          </a:p>
        </p:txBody>
      </p:sp>
      <p:sp>
        <p:nvSpPr>
          <p:cNvPr id="83" name="타원 82"/>
          <p:cNvSpPr/>
          <p:nvPr/>
        </p:nvSpPr>
        <p:spPr>
          <a:xfrm>
            <a:off x="3094722" y="4123188"/>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55" name="직사각형 54"/>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2026-07-21 </a:t>
            </a:r>
            <a:r>
              <a:rPr lang="ko-KR" altLang="en-US" dirty="0" smtClean="0"/>
              <a:t>화면 추가</a:t>
            </a:r>
            <a:endParaRPr lang="ko-KR" altLang="en-US" dirty="0"/>
          </a:p>
        </p:txBody>
      </p:sp>
    </p:spTree>
    <p:extLst>
      <p:ext uri="{BB962C8B-B14F-4D97-AF65-F5344CB8AC3E}">
        <p14:creationId xmlns:p14="http://schemas.microsoft.com/office/powerpoint/2010/main" val="100630398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179</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11. </a:t>
            </a:r>
            <a:r>
              <a:rPr lang="ko-KR" altLang="en-US" dirty="0" err="1"/>
              <a:t>입찰진행</a:t>
            </a:r>
            <a:r>
              <a:rPr lang="ko-KR" altLang="en-US" dirty="0"/>
              <a:t> </a:t>
            </a:r>
            <a:r>
              <a:rPr lang="ko-KR" altLang="en-US" dirty="0" smtClean="0"/>
              <a:t>상세 </a:t>
            </a:r>
            <a:r>
              <a:rPr lang="en-US" altLang="ko-KR" dirty="0" smtClean="0"/>
              <a:t>– </a:t>
            </a:r>
            <a:r>
              <a:rPr lang="ko-KR" altLang="en-US" dirty="0" smtClean="0"/>
              <a:t>입찰 참가 신청서 조회</a:t>
            </a:r>
            <a:endParaRPr lang="en-US" altLang="ko-KR" dirty="0"/>
          </a:p>
          <a:p>
            <a:r>
              <a:rPr lang="en-US" altLang="ko-KR" dirty="0" smtClean="0"/>
              <a:t>11.1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1831402508"/>
              </p:ext>
            </p:extLst>
          </p:nvPr>
        </p:nvGraphicFramePr>
        <p:xfrm>
          <a:off x="635474" y="1413419"/>
          <a:ext cx="8701200" cy="36979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sz="750" b="0" i="0" u="none" strike="noStrike" dirty="0">
                          <a:solidFill>
                            <a:schemeClr val="tx1"/>
                          </a:solidFill>
                          <a:effectLst/>
                          <a:latin typeface="맑은 고딕" panose="020B0503020000020004" pitchFamily="50" charset="-127"/>
                          <a:ea typeface="맑은 고딕" panose="020B0503020000020004" pitchFamily="50" charset="-127"/>
                        </a:rPr>
                        <a:t>MUI-BD-04-M22</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rtl="0"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입찰참가신청조회서약서</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맑은 고딕" panose="020B0503020000020004" pitchFamily="50" charset="-127"/>
                          <a:ea typeface="맑은 고딕" panose="020B0503020000020004" pitchFamily="50" charset="-127"/>
                        </a:rPr>
                        <a:t>BidPrtcpAperDtl_WrotAgre</a:t>
                      </a:r>
                      <a:endParaRPr 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smtClean="0">
                          <a:solidFill>
                            <a:schemeClr val="tx1"/>
                          </a:solidFill>
                          <a:latin typeface="+mn-ea"/>
                        </a:rPr>
                        <a:t>입찰참가신청서 조회 화면</a:t>
                      </a:r>
                      <a:endParaRPr lang="ko-KR" altLang="en-US" sz="800" dirty="0">
                        <a:solidFill>
                          <a:schemeClr val="tx1"/>
                        </a:solidFill>
                        <a:latin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BidPrtcpAperDtl_WrotAgre</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BidPrtcpAperDtl_WrotAgre</a:t>
                      </a:r>
                      <a:r>
                        <a:rPr lang="en-US" altLang="ko-KR" sz="800" dirty="0" err="1" smtClean="0">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en-US" altLang="ko-KR"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sz="750" b="0" i="0" u="none" strike="noStrike">
                          <a:solidFill>
                            <a:schemeClr val="tx1"/>
                          </a:solidFill>
                          <a:effectLst/>
                          <a:latin typeface="맑은 고딕" panose="020B0503020000020004" pitchFamily="50" charset="-127"/>
                          <a:ea typeface="맑은 고딕" panose="020B0503020000020004" pitchFamily="50" charset="-127"/>
                        </a:rPr>
                        <a:t>MUI-BD-04-T01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rtl="0"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입찰참가신청조회일반정보</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BidPrtcpAperDtl_Tab1</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solidFill>
                            <a:schemeClr val="tx1"/>
                          </a:solidFill>
                          <a:latin typeface="+mn-ea"/>
                        </a:rPr>
                        <a:t>입찰참가신청서 탭 조회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BidPrtcpAperDtl_WrotAgre</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dirty="0" smtClean="0">
                          <a:solidFill>
                            <a:schemeClr val="tx1"/>
                          </a:solidFill>
                          <a:effectLst/>
                          <a:latin typeface="맑은 고딕" panose="020B0503020000020004" pitchFamily="50" charset="-127"/>
                          <a:ea typeface="+mn-ea"/>
                        </a:rPr>
                        <a:t>BidPrtcpAperDtl_Tab1</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l" fontAlgn="ctr"/>
                      <a:r>
                        <a:rPr lang="en-US" sz="750" b="0" i="0" u="none" strike="noStrike">
                          <a:solidFill>
                            <a:schemeClr val="tx1"/>
                          </a:solidFill>
                          <a:effectLst/>
                          <a:latin typeface="맑은 고딕" panose="020B0503020000020004" pitchFamily="50" charset="-127"/>
                          <a:ea typeface="맑은 고딕" panose="020B0503020000020004" pitchFamily="50" charset="-127"/>
                        </a:rPr>
                        <a:t>MUI-BD-04-T02</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rtl="0"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입찰참가신청조회품목내역</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chemeClr val="tx1"/>
                          </a:solidFill>
                          <a:effectLst/>
                          <a:latin typeface="맑은 고딕" panose="020B0503020000020004" pitchFamily="50" charset="-127"/>
                          <a:ea typeface="맑은 고딕" panose="020B0503020000020004" pitchFamily="50" charset="-127"/>
                        </a:rPr>
                        <a:t>BidPrtcpAperDtl_Tab2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입찰참가신청서 탭 조회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BidPrtcpAperDtl_WrotAgre</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dirty="0" smtClean="0">
                          <a:solidFill>
                            <a:schemeClr val="tx1"/>
                          </a:solidFill>
                          <a:effectLst/>
                          <a:latin typeface="맑은 고딕" panose="020B0503020000020004" pitchFamily="50" charset="-127"/>
                          <a:ea typeface="+mn-ea"/>
                        </a:rPr>
                        <a:t>BidPrtcpAperDtl_Tab2</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8292094"/>
                  </a:ext>
                </a:extLst>
              </a:tr>
              <a:tr h="180000">
                <a:tc>
                  <a:txBody>
                    <a:bodyPr/>
                    <a:lstStyle/>
                    <a:p>
                      <a:pPr algn="l" fontAlgn="ctr"/>
                      <a:r>
                        <a:rPr lang="en-US" sz="750" b="0" i="0" u="none" strike="noStrike">
                          <a:solidFill>
                            <a:schemeClr val="tx1"/>
                          </a:solidFill>
                          <a:effectLst/>
                          <a:latin typeface="맑은 고딕" panose="020B0503020000020004" pitchFamily="50" charset="-127"/>
                          <a:ea typeface="맑은 고딕" panose="020B0503020000020004" pitchFamily="50" charset="-127"/>
                        </a:rPr>
                        <a:t>MUI-BD-04-T03</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입찰참가신청조회공종및면허</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chemeClr val="tx1"/>
                          </a:solidFill>
                          <a:effectLst/>
                          <a:latin typeface="맑은 고딕" panose="020B0503020000020004" pitchFamily="50" charset="-127"/>
                          <a:ea typeface="맑은 고딕" panose="020B0503020000020004" pitchFamily="50" charset="-127"/>
                        </a:rPr>
                        <a:t>BidPrtcpAperDtl_Tab3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입찰참가신청서 탭 조회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BidPrtcpAperDtl_WrotAgre</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dirty="0" smtClean="0">
                          <a:solidFill>
                            <a:schemeClr val="tx1"/>
                          </a:solidFill>
                          <a:effectLst/>
                          <a:latin typeface="맑은 고딕" panose="020B0503020000020004" pitchFamily="50" charset="-127"/>
                          <a:ea typeface="+mn-ea"/>
                        </a:rPr>
                        <a:t>BidPrtcpAperDtl_Tab3</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6077400"/>
                  </a:ext>
                </a:extLst>
              </a:tr>
              <a:tr h="344772">
                <a:tc>
                  <a:txBody>
                    <a:bodyPr/>
                    <a:lstStyle/>
                    <a:p>
                      <a:pPr algn="l" fontAlgn="ctr"/>
                      <a:r>
                        <a:rPr lang="en-US" sz="750" b="0" i="0" u="none" strike="noStrike">
                          <a:solidFill>
                            <a:schemeClr val="tx1"/>
                          </a:solidFill>
                          <a:effectLst/>
                          <a:latin typeface="맑은 고딕" panose="020B0503020000020004" pitchFamily="50" charset="-127"/>
                          <a:ea typeface="맑은 고딕" panose="020B0503020000020004" pitchFamily="50" charset="-127"/>
                        </a:rPr>
                        <a:t>MUI-BD-04-T04</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입찰참가신청조회입찰보증금</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chemeClr val="tx1"/>
                          </a:solidFill>
                          <a:effectLst/>
                          <a:latin typeface="맑은 고딕" panose="020B0503020000020004" pitchFamily="50" charset="-127"/>
                          <a:ea typeface="맑은 고딕" panose="020B0503020000020004" pitchFamily="50" charset="-127"/>
                        </a:rPr>
                        <a:t>BidPrtcpAperDtl_Tab4</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입찰참가신청서 탭 조회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BidPrtcpAperDtl_WrotAgre</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dirty="0" smtClean="0">
                          <a:solidFill>
                            <a:schemeClr val="tx1"/>
                          </a:solidFill>
                          <a:effectLst/>
                          <a:latin typeface="맑은 고딕" panose="020B0503020000020004" pitchFamily="50" charset="-127"/>
                          <a:ea typeface="+mn-ea"/>
                        </a:rPr>
                        <a:t>BidPrtcpAperDtl_Tab4</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2019190"/>
                  </a:ext>
                </a:extLst>
              </a:tr>
              <a:tr h="180000">
                <a:tc>
                  <a:txBody>
                    <a:bodyPr/>
                    <a:lstStyle/>
                    <a:p>
                      <a:pPr algn="l" fontAlgn="ctr"/>
                      <a:r>
                        <a:rPr lang="en-US" sz="750" b="0" i="0" u="none" strike="noStrike">
                          <a:solidFill>
                            <a:schemeClr val="tx1"/>
                          </a:solidFill>
                          <a:effectLst/>
                          <a:latin typeface="맑은 고딕" panose="020B0503020000020004" pitchFamily="50" charset="-127"/>
                          <a:ea typeface="맑은 고딕" panose="020B0503020000020004" pitchFamily="50" charset="-127"/>
                        </a:rPr>
                        <a:t>MUI-BD-04-T05</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입찰참가신청조회공동수급업체</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chemeClr val="tx1"/>
                          </a:solidFill>
                          <a:effectLst/>
                          <a:latin typeface="맑은 고딕" panose="020B0503020000020004" pitchFamily="50" charset="-127"/>
                          <a:ea typeface="맑은 고딕" panose="020B0503020000020004" pitchFamily="50" charset="-127"/>
                        </a:rPr>
                        <a:t>BidPrtcpAperDtl_Tab5</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입찰참가신청서 탭 조회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BidPrtcpAperDtl_WrotAgre</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dirty="0" smtClean="0">
                          <a:solidFill>
                            <a:schemeClr val="tx1"/>
                          </a:solidFill>
                          <a:effectLst/>
                          <a:latin typeface="맑은 고딕" panose="020B0503020000020004" pitchFamily="50" charset="-127"/>
                          <a:ea typeface="+mn-ea"/>
                        </a:rPr>
                        <a:t>BidPrtcpAperDtl_Tab5</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1858826"/>
                  </a:ext>
                </a:extLst>
              </a:tr>
              <a:tr h="180000">
                <a:tc>
                  <a:txBody>
                    <a:bodyPr/>
                    <a:lstStyle/>
                    <a:p>
                      <a:pPr algn="l" fontAlgn="ctr"/>
                      <a:r>
                        <a:rPr lang="en-US" sz="750" b="0" i="0" u="none" strike="noStrike">
                          <a:solidFill>
                            <a:schemeClr val="tx1"/>
                          </a:solidFill>
                          <a:effectLst/>
                          <a:latin typeface="맑은 고딕" panose="020B0503020000020004" pitchFamily="50" charset="-127"/>
                          <a:ea typeface="맑은 고딕" panose="020B0503020000020004" pitchFamily="50" charset="-127"/>
                        </a:rPr>
                        <a:t>MUI-BD-04-T06</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입찰참가신청조회파일첨부</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chemeClr val="tx1"/>
                          </a:solidFill>
                          <a:effectLst/>
                          <a:latin typeface="맑은 고딕" panose="020B0503020000020004" pitchFamily="50" charset="-127"/>
                          <a:ea typeface="맑은 고딕" panose="020B0503020000020004" pitchFamily="50" charset="-127"/>
                        </a:rPr>
                        <a:t>BidPrtcpAperDtl_Tab6</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입찰참가신청서 탭 조회 화면</a:t>
                      </a:r>
                      <a:endPar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BidPrtcpAperDtl_WrotAgre</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dirty="0" smtClean="0">
                          <a:solidFill>
                            <a:schemeClr val="tx1"/>
                          </a:solidFill>
                          <a:effectLst/>
                          <a:latin typeface="맑은 고딕" panose="020B0503020000020004" pitchFamily="50" charset="-127"/>
                          <a:ea typeface="+mn-ea"/>
                        </a:rPr>
                        <a:t>BidPrtcpAperDtl_Tab6</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dirty="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2246441"/>
                  </a:ext>
                </a:extLst>
              </a:tr>
              <a:tr h="180000">
                <a:tc>
                  <a:txBody>
                    <a:bodyPr/>
                    <a:lstStyle/>
                    <a:p>
                      <a:pPr algn="l" fontAlgn="ctr"/>
                      <a:r>
                        <a:rPr lang="en-US" sz="750" b="0" i="0" u="none" strike="noStrike" dirty="0">
                          <a:solidFill>
                            <a:schemeClr val="tx1"/>
                          </a:solidFill>
                          <a:effectLst/>
                          <a:latin typeface="맑은 고딕" panose="020B0503020000020004" pitchFamily="50" charset="-127"/>
                          <a:ea typeface="맑은 고딕" panose="020B0503020000020004" pitchFamily="50" charset="-127"/>
                        </a:rPr>
                        <a:t>MUI-BD-04-T07</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chemeClr val="tx1"/>
                          </a:solidFill>
                          <a:effectLst/>
                          <a:latin typeface="맑은 고딕" panose="020B0503020000020004" pitchFamily="50" charset="-127"/>
                          <a:ea typeface="맑은 고딕" panose="020B0503020000020004" pitchFamily="50" charset="-127"/>
                        </a:rPr>
                        <a:t>-</a:t>
                      </a:r>
                      <a:r>
                        <a:rPr lang="ko-KR" altLang="en-US" sz="800" b="0" i="0" u="none" strike="noStrike" dirty="0" err="1">
                          <a:solidFill>
                            <a:schemeClr val="tx1"/>
                          </a:solidFill>
                          <a:effectLst/>
                          <a:latin typeface="맑은 고딕" panose="020B0503020000020004" pitchFamily="50" charset="-127"/>
                          <a:ea typeface="맑은 고딕" panose="020B0503020000020004" pitchFamily="50" charset="-127"/>
                        </a:rPr>
                        <a:t>입찰참가신청조회문의및동의</a:t>
                      </a:r>
                      <a:endParaRPr lang="ko-KR" alt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맑은 고딕" panose="020B0503020000020004" pitchFamily="50" charset="-127"/>
                          <a:ea typeface="맑은 고딕" panose="020B0503020000020004" pitchFamily="50" charset="-127"/>
                        </a:rPr>
                        <a:t>BidPrtcpAperDtl_Tab7</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입찰참가신청서 탭 조회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BidPrtcpAperDtl_WrotAgre</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lang="en-US" altLang="ko-KR" sz="800" b="0" i="0" u="none" strike="noStrike" dirty="0" smtClean="0">
                          <a:solidFill>
                            <a:schemeClr val="tx1"/>
                          </a:solidFill>
                          <a:effectLst/>
                          <a:latin typeface="맑은 고딕" panose="020B0503020000020004" pitchFamily="50" charset="-127"/>
                          <a:ea typeface="+mn-ea"/>
                        </a:rPr>
                        <a:t>BidPrtcpAperDtl_Tab7</a:t>
                      </a: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8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schemeClr val="tx1"/>
                          </a:solidFill>
                          <a:effectLst/>
                          <a:uLnTx/>
                          <a:uFillTx/>
                          <a:latin typeface="맑은 고딕" panose="020B0503020000020004" pitchFamily="50" charset="-127"/>
                          <a:ea typeface="맑은 고딕" panose="020B0503020000020004" pitchFamily="50" charset="-127"/>
                          <a:cs typeface="+mn-cs"/>
                        </a:rPr>
                        <a:t>UC-BD-02-01</a:t>
                      </a:r>
                      <a:endParaRPr lang="en-US" altLang="ko-KR"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5498286"/>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2792907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strike="sngStrike" dirty="0" err="1"/>
              <a:t>진행단계</a:t>
            </a:r>
            <a:r>
              <a:rPr lang="ko-KR" altLang="en-US" strike="sngStrike" dirty="0"/>
              <a:t> 표시</a:t>
            </a:r>
            <a:r>
              <a:rPr lang="en-US" altLang="ko-KR" strike="sngStrike" dirty="0"/>
              <a:t/>
            </a:r>
            <a:br>
              <a:rPr lang="en-US" altLang="ko-KR" strike="sngStrike" dirty="0"/>
            </a:br>
            <a:r>
              <a:rPr lang="en-US" altLang="ko-KR" strike="sngStrike" dirty="0"/>
              <a:t>- </a:t>
            </a:r>
            <a:r>
              <a:rPr lang="ko-KR" altLang="en-US" strike="sngStrike" dirty="0"/>
              <a:t>사전심사</a:t>
            </a:r>
            <a:r>
              <a:rPr lang="en-US" altLang="ko-KR" strike="sngStrike" dirty="0"/>
              <a:t>(PQ) </a:t>
            </a:r>
            <a:r>
              <a:rPr lang="ko-KR" altLang="en-US" strike="sngStrike" dirty="0"/>
              <a:t>신청 시에는 </a:t>
            </a:r>
            <a:r>
              <a:rPr lang="ko-KR" altLang="en-US" strike="sngStrike" dirty="0" err="1"/>
              <a:t>진행단계</a:t>
            </a:r>
            <a:r>
              <a:rPr lang="ko-KR" altLang="en-US" strike="sngStrike" dirty="0"/>
              <a:t> </a:t>
            </a:r>
            <a:r>
              <a:rPr lang="ko-KR" altLang="en-US" strike="sngStrike" dirty="0" err="1"/>
              <a:t>미표시</a:t>
            </a:r>
            <a:endParaRPr lang="en-US" altLang="ko-KR" strike="sngStrike" dirty="0"/>
          </a:p>
          <a:p>
            <a:pPr marL="228600" indent="-228600">
              <a:buFont typeface="+mj-lt"/>
              <a:buAutoNum type="arabicPeriod"/>
            </a:pPr>
            <a:r>
              <a:rPr lang="ko-KR" altLang="en-US" dirty="0"/>
              <a:t>서약서 </a:t>
            </a:r>
            <a:r>
              <a:rPr lang="ko-KR" altLang="en-US" dirty="0" smtClean="0"/>
              <a:t>동의 </a:t>
            </a:r>
            <a:r>
              <a:rPr lang="en-US" altLang="ko-KR" dirty="0" smtClean="0"/>
              <a:t>(</a:t>
            </a:r>
            <a:r>
              <a:rPr lang="en-US" altLang="ko-KR" dirty="0" smtClean="0">
                <a:solidFill>
                  <a:srgbClr val="000000"/>
                </a:solidFill>
                <a:latin typeface="맑은 고딕" panose="020B0503020000020004" pitchFamily="50" charset="-127"/>
              </a:rPr>
              <a:t>MUI-BD-04-P02)</a:t>
            </a:r>
            <a:r>
              <a:rPr lang="en-US" altLang="ko-KR" dirty="0"/>
              <a:t/>
            </a:r>
            <a:br>
              <a:rPr lang="en-US" altLang="ko-KR" dirty="0"/>
            </a:br>
            <a:r>
              <a:rPr lang="en-US" altLang="ko-KR" dirty="0"/>
              <a:t>- </a:t>
            </a:r>
            <a:r>
              <a:rPr lang="ko-KR" altLang="en-US" dirty="0"/>
              <a:t>팝업을 통해 내용 확인 및 동의</a:t>
            </a:r>
            <a:endParaRPr lang="en-US" altLang="ko-KR" dirty="0"/>
          </a:p>
          <a:p>
            <a:pPr marL="228600" indent="-228600">
              <a:buFont typeface="+mj-lt"/>
              <a:buAutoNum type="arabicPeriod"/>
            </a:pPr>
            <a:r>
              <a:rPr lang="ko-KR" altLang="en-US" dirty="0"/>
              <a:t>사후심사대상인 경우 추가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800" dirty="0">
                <a:latin typeface="+mn-ea"/>
              </a:rPr>
              <a:t>입찰진행상세 </a:t>
            </a:r>
            <a:r>
              <a:rPr lang="en-US" altLang="ko-KR" sz="800" dirty="0"/>
              <a:t>- </a:t>
            </a:r>
            <a:r>
              <a:rPr lang="ko-KR" altLang="en-US" sz="800" dirty="0" err="1">
                <a:latin typeface="+mn-ea"/>
              </a:rPr>
              <a:t>입찰참가신청서조회</a:t>
            </a:r>
            <a:r>
              <a:rPr lang="ko-KR" altLang="en-US" sz="800" dirty="0" err="1" smtClean="0">
                <a:latin typeface="+mn-ea"/>
              </a:rPr>
              <a:t>서약서</a:t>
            </a:r>
            <a:endParaRPr lang="ko-KR" altLang="en-US" sz="8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smtClean="0">
                <a:latin typeface="+mn-ea"/>
              </a:rPr>
              <a:t>입찰참가신청서조회</a:t>
            </a:r>
            <a:r>
              <a:rPr lang="ko-KR" altLang="en-US" dirty="0" smtClean="0"/>
              <a:t> </a:t>
            </a:r>
            <a:r>
              <a:rPr lang="ko-KR" altLang="en-US" dirty="0"/>
              <a:t>화면으로 입찰 참가 신청 프로세스 중 서약서 동의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ko-KR" altLang="en-US" dirty="0" smtClean="0">
                <a:latin typeface="+mn-ea"/>
              </a:rPr>
              <a:t>상세</a:t>
            </a:r>
            <a:r>
              <a:rPr lang="en-US" altLang="ko-KR" dirty="0" smtClean="0">
                <a:latin typeface="+mn-ea"/>
              </a:rPr>
              <a:t>&gt; </a:t>
            </a:r>
            <a:r>
              <a:rPr lang="ko-KR" altLang="en-US" dirty="0" smtClean="0">
                <a:latin typeface="+mn-ea"/>
              </a:rPr>
              <a:t>입찰참가신청서</a:t>
            </a:r>
            <a:r>
              <a:rPr lang="en-US" altLang="ko-KR" dirty="0" smtClean="0">
                <a:latin typeface="+mn-ea"/>
              </a:rPr>
              <a:t>&gt;</a:t>
            </a:r>
            <a:r>
              <a:rPr lang="ko-KR" altLang="en-US" dirty="0" smtClean="0">
                <a:latin typeface="+mn-ea"/>
              </a:rPr>
              <a:t>서약서 </a:t>
            </a:r>
            <a:r>
              <a:rPr lang="ko-KR" altLang="en-US" dirty="0">
                <a:latin typeface="+mn-ea"/>
              </a:rPr>
              <a:t>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MUI-BD-04-M22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98978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91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37355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4111539"/>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7" y="4111539"/>
            <a:ext cx="2122744"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latin typeface="맑은 고딕" panose="020B0503020000020004" pitchFamily="50" charset="-127"/>
              </a:rPr>
              <a:t>‘</a:t>
            </a:r>
            <a:r>
              <a:rPr lang="ko-KR" altLang="en-US" sz="800" dirty="0">
                <a:latin typeface="맑은 고딕" panose="020B0503020000020004" pitchFamily="50" charset="-127"/>
              </a:rPr>
              <a:t>조세포탈</a:t>
            </a:r>
            <a:r>
              <a:rPr lang="en-US" altLang="ko-KR" sz="800" dirty="0">
                <a:latin typeface="맑은 고딕" panose="020B0503020000020004" pitchFamily="50" charset="-127"/>
              </a:rPr>
              <a:t>’ </a:t>
            </a:r>
            <a:r>
              <a:rPr lang="ko-KR" altLang="en-US" sz="800" dirty="0">
                <a:latin typeface="맑은 고딕" panose="020B0503020000020004" pitchFamily="50" charset="-127"/>
              </a:rPr>
              <a:t>사실이 없음을 </a:t>
            </a:r>
            <a:r>
              <a:rPr lang="ko-KR" altLang="en-US" sz="800" dirty="0" err="1" smtClean="0">
                <a:latin typeface="맑은 고딕" panose="020B0503020000020004" pitchFamily="50" charset="-127"/>
              </a:rPr>
              <a:t>확약하는서약서</a:t>
            </a:r>
            <a:endParaRPr lang="en-US" altLang="ko-KR" sz="800" dirty="0">
              <a:latin typeface="맑은 고딕" panose="020B0503020000020004" pitchFamily="50" charset="-127"/>
            </a:endParaRPr>
          </a:p>
        </p:txBody>
      </p:sp>
      <p:sp>
        <p:nvSpPr>
          <p:cNvPr id="141" name="TextBox 58">
            <a:extLst>
              <a:ext uri="{FF2B5EF4-FFF2-40B4-BE49-F238E27FC236}">
                <a16:creationId xmlns:a16="http://schemas.microsoft.com/office/drawing/2014/main" id="{02FC114B-B48B-345F-BD70-2B5A196F5B3E}"/>
              </a:ext>
            </a:extLst>
          </p:cNvPr>
          <p:cNvSpPr txBox="1"/>
          <p:nvPr/>
        </p:nvSpPr>
        <p:spPr>
          <a:xfrm>
            <a:off x="865539" y="4295080"/>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2</a:t>
            </a:r>
            <a:endParaRPr lang="ko-KR" altLang="en-US" sz="800" b="1" dirty="0"/>
          </a:p>
        </p:txBody>
      </p:sp>
      <p:sp>
        <p:nvSpPr>
          <p:cNvPr id="142" name="TextBox 58">
            <a:extLst>
              <a:ext uri="{FF2B5EF4-FFF2-40B4-BE49-F238E27FC236}">
                <a16:creationId xmlns:a16="http://schemas.microsoft.com/office/drawing/2014/main" id="{02FC114B-B48B-345F-BD70-2B5A196F5B3E}"/>
              </a:ext>
            </a:extLst>
          </p:cNvPr>
          <p:cNvSpPr txBox="1"/>
          <p:nvPr/>
        </p:nvSpPr>
        <p:spPr>
          <a:xfrm>
            <a:off x="981277" y="4295080"/>
            <a:ext cx="1033937"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t>청렴 계약 이행 서약서</a:t>
            </a:r>
          </a:p>
        </p:txBody>
      </p:sp>
      <p:sp>
        <p:nvSpPr>
          <p:cNvPr id="198" name="타원 197"/>
          <p:cNvSpPr/>
          <p:nvPr/>
        </p:nvSpPr>
        <p:spPr>
          <a:xfrm>
            <a:off x="3109192" y="4115237"/>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200" name="TextBox 58">
            <a:extLst>
              <a:ext uri="{FF2B5EF4-FFF2-40B4-BE49-F238E27FC236}">
                <a16:creationId xmlns:a16="http://schemas.microsoft.com/office/drawing/2014/main" id="{02FC114B-B48B-345F-BD70-2B5A196F5B3E}"/>
              </a:ext>
            </a:extLst>
          </p:cNvPr>
          <p:cNvSpPr txBox="1"/>
          <p:nvPr/>
        </p:nvSpPr>
        <p:spPr>
          <a:xfrm>
            <a:off x="865539" y="4468866"/>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3</a:t>
            </a:r>
            <a:endParaRPr lang="ko-KR" altLang="en-US" sz="800" b="1" dirty="0"/>
          </a:p>
        </p:txBody>
      </p:sp>
      <p:sp>
        <p:nvSpPr>
          <p:cNvPr id="202" name="TextBox 58">
            <a:extLst>
              <a:ext uri="{FF2B5EF4-FFF2-40B4-BE49-F238E27FC236}">
                <a16:creationId xmlns:a16="http://schemas.microsoft.com/office/drawing/2014/main" id="{02FC114B-B48B-345F-BD70-2B5A196F5B3E}"/>
              </a:ext>
            </a:extLst>
          </p:cNvPr>
          <p:cNvSpPr txBox="1"/>
          <p:nvPr/>
        </p:nvSpPr>
        <p:spPr>
          <a:xfrm>
            <a:off x="981277" y="4468866"/>
            <a:ext cx="2087912"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하도급대금의 지급관련 확인 </a:t>
            </a:r>
            <a:r>
              <a:rPr lang="ko-KR" altLang="en-US" sz="800" dirty="0" smtClean="0">
                <a:latin typeface="맑은 고딕" panose="020B0503020000020004" pitchFamily="50" charset="-127"/>
              </a:rPr>
              <a:t>및 확약서</a:t>
            </a:r>
            <a:endParaRPr lang="en-US" altLang="ko-KR" sz="800" dirty="0">
              <a:latin typeface="맑은 고딕" panose="020B0503020000020004" pitchFamily="50" charset="-127"/>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675399" y="474226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5399" y="2358876"/>
            <a:ext cx="2712027" cy="508898"/>
            <a:chOff x="3795734" y="1602341"/>
            <a:chExt cx="2712027" cy="508898"/>
          </a:xfrm>
        </p:grpSpPr>
        <p:sp>
          <p:nvSpPr>
            <p:cNvPr id="14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51" name="모서리가 둥근 직사각형 150"/>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52" name="모서리가 둥근 직사각형 151"/>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3" name="그룹 92"/>
          <p:cNvGrpSpPr/>
          <p:nvPr/>
        </p:nvGrpSpPr>
        <p:grpSpPr>
          <a:xfrm>
            <a:off x="677960" y="1582647"/>
            <a:ext cx="2714637" cy="686386"/>
            <a:chOff x="677960" y="1582647"/>
            <a:chExt cx="2714637" cy="686386"/>
          </a:xfrm>
        </p:grpSpPr>
        <p:sp>
          <p:nvSpPr>
            <p:cNvPr id="94" name="TextBox 93">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입찰참가신청서 </a:t>
              </a:r>
              <a:r>
                <a:rPr lang="ko-KR" altLang="en-US" sz="800" dirty="0" smtClean="0">
                  <a:latin typeface="+mn-ea"/>
                </a:rPr>
                <a:t>조회</a:t>
              </a:r>
              <a:endParaRPr lang="ko-KR" altLang="en-US" sz="800" dirty="0">
                <a:latin typeface="+mn-ea"/>
              </a:endParaRPr>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6" name="그룹 95"/>
            <p:cNvGrpSpPr/>
            <p:nvPr/>
          </p:nvGrpSpPr>
          <p:grpSpPr>
            <a:xfrm rot="5400000">
              <a:off x="852159" y="2062596"/>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677960" y="1582647"/>
              <a:ext cx="2712027" cy="324286"/>
              <a:chOff x="677960" y="1582647"/>
              <a:chExt cx="2712027" cy="324286"/>
            </a:xfrm>
          </p:grpSpPr>
          <p:pic>
            <p:nvPicPr>
              <p:cNvPr id="129"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5" name="직선 연결선 13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타원 135"/>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타원 136"/>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타원 137"/>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33" name="타원 132"/>
          <p:cNvSpPr/>
          <p:nvPr/>
        </p:nvSpPr>
        <p:spPr>
          <a:xfrm>
            <a:off x="3109192" y="4298778"/>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39" name="타원 138"/>
          <p:cNvSpPr/>
          <p:nvPr/>
        </p:nvSpPr>
        <p:spPr>
          <a:xfrm>
            <a:off x="3109192" y="4472564"/>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49" name="직사각형 148"/>
          <p:cNvSpPr/>
          <p:nvPr/>
        </p:nvSpPr>
        <p:spPr>
          <a:xfrm>
            <a:off x="8223250" y="8753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cxnSp>
        <p:nvCxnSpPr>
          <p:cNvPr id="81" name="직선 연결선 80">
            <a:extLst>
              <a:ext uri="{FF2B5EF4-FFF2-40B4-BE49-F238E27FC236}">
                <a16:creationId xmlns:a16="http://schemas.microsoft.com/office/drawing/2014/main" id="{E9293055-D5CD-4B9E-7F64-64B2D2CA7A52}"/>
              </a:ext>
            </a:extLst>
          </p:cNvPr>
          <p:cNvCxnSpPr/>
          <p:nvPr/>
        </p:nvCxnSpPr>
        <p:spPr>
          <a:xfrm>
            <a:off x="720490" y="39847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2" name="TextBox 81">
            <a:extLst>
              <a:ext uri="{FF2B5EF4-FFF2-40B4-BE49-F238E27FC236}">
                <a16:creationId xmlns:a16="http://schemas.microsoft.com/office/drawing/2014/main" id="{FFC49AEA-2A8F-250C-A86A-A7751D9706C3}"/>
              </a:ext>
            </a:extLst>
          </p:cNvPr>
          <p:cNvSpPr txBox="1"/>
          <p:nvPr/>
        </p:nvSpPr>
        <p:spPr>
          <a:xfrm>
            <a:off x="764168" y="3768125"/>
            <a:ext cx="469551" cy="107722"/>
          </a:xfrm>
          <a:prstGeom prst="rect">
            <a:avLst/>
          </a:prstGeom>
          <a:noFill/>
        </p:spPr>
        <p:txBody>
          <a:bodyPr wrap="square" lIns="0" tIns="0" rIns="0" bIns="0" rtlCol="0">
            <a:spAutoFit/>
          </a:bodyPr>
          <a:lstStyle/>
          <a:p>
            <a:pPr algn="ctr"/>
            <a:r>
              <a:rPr lang="en-US" altLang="ko-KR" sz="700" b="1" dirty="0" smtClean="0">
                <a:latin typeface="+mn-ea"/>
              </a:rPr>
              <a:t>0. </a:t>
            </a:r>
            <a:r>
              <a:rPr lang="ko-KR" altLang="en-US" sz="700" b="1" dirty="0" smtClean="0">
                <a:latin typeface="+mn-ea"/>
              </a:rPr>
              <a:t>서약서</a:t>
            </a:r>
            <a:endParaRPr lang="ko-KR" altLang="en-US" sz="700" b="1"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1318631" y="3768125"/>
            <a:ext cx="536336" cy="107722"/>
          </a:xfrm>
          <a:prstGeom prst="rect">
            <a:avLst/>
          </a:prstGeom>
          <a:noFill/>
        </p:spPr>
        <p:txBody>
          <a:bodyPr wrap="square" lIns="0" tIns="0" rIns="0" bIns="0" rtlCol="0">
            <a:spAutoFit/>
          </a:bodyPr>
          <a:lstStyle/>
          <a:p>
            <a:pPr algn="ctr"/>
            <a:r>
              <a:rPr lang="en-US" altLang="ko-KR" sz="700" dirty="0" smtClean="0">
                <a:latin typeface="+mn-ea"/>
              </a:rPr>
              <a:t>1. </a:t>
            </a:r>
            <a:r>
              <a:rPr lang="ko-KR" altLang="en-US" sz="700" dirty="0" smtClean="0">
                <a:latin typeface="+mn-ea"/>
              </a:rPr>
              <a:t>일반정보</a:t>
            </a:r>
            <a:endParaRPr lang="ko-KR" altLang="en-US" sz="700" dirty="0">
              <a:latin typeface="+mn-ea"/>
            </a:endParaRPr>
          </a:p>
        </p:txBody>
      </p:sp>
      <p:sp>
        <p:nvSpPr>
          <p:cNvPr id="84" name="TextBox 83">
            <a:extLst>
              <a:ext uri="{FF2B5EF4-FFF2-40B4-BE49-F238E27FC236}">
                <a16:creationId xmlns:a16="http://schemas.microsoft.com/office/drawing/2014/main" id="{FFC49AEA-2A8F-250C-A86A-A7751D9706C3}"/>
              </a:ext>
            </a:extLst>
          </p:cNvPr>
          <p:cNvSpPr txBox="1"/>
          <p:nvPr/>
        </p:nvSpPr>
        <p:spPr>
          <a:xfrm>
            <a:off x="1860138" y="3768125"/>
            <a:ext cx="61648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2561532" y="3768125"/>
            <a:ext cx="592275"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공종및</a:t>
            </a:r>
            <a:r>
              <a:rPr lang="ko-KR" altLang="en-US" sz="700" dirty="0">
                <a:latin typeface="+mn-ea"/>
              </a:rPr>
              <a:t> 면허</a:t>
            </a:r>
          </a:p>
        </p:txBody>
      </p:sp>
      <p:cxnSp>
        <p:nvCxnSpPr>
          <p:cNvPr id="86" name="직선 연결선 85">
            <a:extLst>
              <a:ext uri="{FF2B5EF4-FFF2-40B4-BE49-F238E27FC236}">
                <a16:creationId xmlns:a16="http://schemas.microsoft.com/office/drawing/2014/main" id="{E9293055-D5CD-4B9E-7F64-64B2D2CA7A52}"/>
              </a:ext>
            </a:extLst>
          </p:cNvPr>
          <p:cNvCxnSpPr/>
          <p:nvPr/>
        </p:nvCxnSpPr>
        <p:spPr>
          <a:xfrm>
            <a:off x="720490" y="398473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87" name="그룹 86"/>
          <p:cNvGrpSpPr/>
          <p:nvPr/>
        </p:nvGrpSpPr>
        <p:grpSpPr>
          <a:xfrm>
            <a:off x="2924086" y="3730002"/>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9" name="그룹 88"/>
            <p:cNvGrpSpPr/>
            <p:nvPr/>
          </p:nvGrpSpPr>
          <p:grpSpPr>
            <a:xfrm rot="5400000" flipH="1">
              <a:off x="3679895" y="2305364"/>
              <a:ext cx="94010" cy="47005"/>
              <a:chOff x="6812560" y="3297172"/>
              <a:chExt cx="94010" cy="47005"/>
            </a:xfrm>
          </p:grpSpPr>
          <p:cxnSp>
            <p:nvCxnSpPr>
              <p:cNvPr id="130" name="직선 연결선 12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0" name="타원 89"/>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1" name="그룹 90"/>
            <p:cNvGrpSpPr/>
            <p:nvPr/>
          </p:nvGrpSpPr>
          <p:grpSpPr>
            <a:xfrm rot="16200000">
              <a:off x="3931564" y="2305364"/>
              <a:ext cx="94010" cy="47005"/>
              <a:chOff x="6812560" y="3297172"/>
              <a:chExt cx="94010" cy="47005"/>
            </a:xfrm>
          </p:grpSpPr>
          <p:cxnSp>
            <p:nvCxnSpPr>
              <p:cNvPr id="92" name="직선 연결선 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7" name="직선 연결선 12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0" name="직선 연결선 139">
            <a:extLst>
              <a:ext uri="{FF2B5EF4-FFF2-40B4-BE49-F238E27FC236}">
                <a16:creationId xmlns:a16="http://schemas.microsoft.com/office/drawing/2014/main" id="{E9293055-D5CD-4B9E-7F64-64B2D2CA7A52}"/>
              </a:ext>
            </a:extLst>
          </p:cNvPr>
          <p:cNvCxnSpPr/>
          <p:nvPr/>
        </p:nvCxnSpPr>
        <p:spPr>
          <a:xfrm>
            <a:off x="675399" y="32578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3" name="TextBox 142">
            <a:extLst>
              <a:ext uri="{FF2B5EF4-FFF2-40B4-BE49-F238E27FC236}">
                <a16:creationId xmlns:a16="http://schemas.microsoft.com/office/drawing/2014/main" id="{FFC49AEA-2A8F-250C-A86A-A7751D9706C3}"/>
              </a:ext>
            </a:extLst>
          </p:cNvPr>
          <p:cNvSpPr txBox="1"/>
          <p:nvPr/>
        </p:nvSpPr>
        <p:spPr>
          <a:xfrm>
            <a:off x="1019814" y="33400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150" name="타원 149"/>
          <p:cNvSpPr/>
          <p:nvPr/>
        </p:nvSpPr>
        <p:spPr>
          <a:xfrm>
            <a:off x="783686" y="337143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3" name="그룹 152"/>
          <p:cNvGrpSpPr/>
          <p:nvPr/>
        </p:nvGrpSpPr>
        <p:grpSpPr>
          <a:xfrm>
            <a:off x="3143548" y="3453417"/>
            <a:ext cx="94010" cy="47005"/>
            <a:chOff x="6812560" y="3297172"/>
            <a:chExt cx="94010" cy="47005"/>
          </a:xfrm>
        </p:grpSpPr>
        <p:cxnSp>
          <p:nvCxnSpPr>
            <p:cNvPr id="154" name="직선 연결선 15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6" name="직선 연결선 15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7" name="직선 연결선 156">
            <a:extLst>
              <a:ext uri="{FF2B5EF4-FFF2-40B4-BE49-F238E27FC236}">
                <a16:creationId xmlns:a16="http://schemas.microsoft.com/office/drawing/2014/main" id="{E9293055-D5CD-4B9E-7F64-64B2D2CA7A52}"/>
              </a:ext>
            </a:extLst>
          </p:cNvPr>
          <p:cNvCxnSpPr/>
          <p:nvPr/>
        </p:nvCxnSpPr>
        <p:spPr>
          <a:xfrm>
            <a:off x="675399" y="364757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675399" y="28676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1019814" y="294982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60" name="타원 159"/>
          <p:cNvSpPr/>
          <p:nvPr/>
        </p:nvSpPr>
        <p:spPr>
          <a:xfrm>
            <a:off x="783686" y="2981169"/>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143548" y="3063155"/>
            <a:ext cx="94010" cy="47005"/>
            <a:chOff x="6812560" y="3297172"/>
            <a:chExt cx="94010" cy="47005"/>
          </a:xfrm>
        </p:grpSpPr>
        <p:cxnSp>
          <p:nvCxnSpPr>
            <p:cNvPr id="164" name="직선 연결선 1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5" name="직선 연결선 16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7" name="직선 연결선 166">
            <a:extLst>
              <a:ext uri="{FF2B5EF4-FFF2-40B4-BE49-F238E27FC236}">
                <a16:creationId xmlns:a16="http://schemas.microsoft.com/office/drawing/2014/main" id="{E9293055-D5CD-4B9E-7F64-64B2D2CA7A52}"/>
              </a:ext>
            </a:extLst>
          </p:cNvPr>
          <p:cNvCxnSpPr/>
          <p:nvPr/>
        </p:nvCxnSpPr>
        <p:spPr>
          <a:xfrm>
            <a:off x="675399" y="325730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직사각형 16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793124" y="183700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모서리가 둥근 직사각형 169"/>
          <p:cNvSpPr/>
          <p:nvPr/>
        </p:nvSpPr>
        <p:spPr>
          <a:xfrm>
            <a:off x="3838215" y="1958154"/>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26985" y="2056438"/>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grpSp>
        <p:nvGrpSpPr>
          <p:cNvPr id="7" name="그룹 6"/>
          <p:cNvGrpSpPr/>
          <p:nvPr/>
        </p:nvGrpSpPr>
        <p:grpSpPr>
          <a:xfrm>
            <a:off x="3793446" y="5614711"/>
            <a:ext cx="2712027" cy="617588"/>
            <a:chOff x="3793446" y="3466632"/>
            <a:chExt cx="2712027" cy="617588"/>
          </a:xfrm>
        </p:grpSpPr>
        <p:sp>
          <p:nvSpPr>
            <p:cNvPr id="172" name="직사각형 171">
              <a:extLst>
                <a:ext uri="{FF2B5EF4-FFF2-40B4-BE49-F238E27FC236}">
                  <a16:creationId xmlns:a16="http://schemas.microsoft.com/office/drawing/2014/main" id="{F56F1743-11A0-EA94-9184-4E42C0A37F9C}"/>
                </a:ext>
              </a:extLst>
            </p:cNvPr>
            <p:cNvSpPr/>
            <p:nvPr/>
          </p:nvSpPr>
          <p:spPr>
            <a:xfrm>
              <a:off x="3793446" y="3466632"/>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사각형: 둥근 모서리 15">
              <a:extLst>
                <a:ext uri="{FF2B5EF4-FFF2-40B4-BE49-F238E27FC236}">
                  <a16:creationId xmlns:a16="http://schemas.microsoft.com/office/drawing/2014/main" id="{E2B61CFB-AD16-68D0-8752-50D9C5E01971}"/>
                </a:ext>
              </a:extLst>
            </p:cNvPr>
            <p:cNvSpPr/>
            <p:nvPr/>
          </p:nvSpPr>
          <p:spPr>
            <a:xfrm>
              <a:off x="3845179" y="3592612"/>
              <a:ext cx="2608559" cy="317083"/>
            </a:xfrm>
            <a:prstGeom prst="roundRect">
              <a:avLst>
                <a:gd name="adj" fmla="val 11800"/>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cxnSp>
        <p:nvCxnSpPr>
          <p:cNvPr id="174" name="직선 연결선 173">
            <a:extLst>
              <a:ext uri="{FF2B5EF4-FFF2-40B4-BE49-F238E27FC236}">
                <a16:creationId xmlns:a16="http://schemas.microsoft.com/office/drawing/2014/main" id="{E9293055-D5CD-4B9E-7F64-64B2D2CA7A52}"/>
              </a:ext>
            </a:extLst>
          </p:cNvPr>
          <p:cNvCxnSpPr/>
          <p:nvPr/>
        </p:nvCxnSpPr>
        <p:spPr>
          <a:xfrm>
            <a:off x="3838215" y="18319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3881893" y="1615346"/>
            <a:ext cx="469551" cy="107722"/>
          </a:xfrm>
          <a:prstGeom prst="rect">
            <a:avLst/>
          </a:prstGeom>
          <a:noFill/>
        </p:spPr>
        <p:txBody>
          <a:bodyPr wrap="square" lIns="0" tIns="0" rIns="0" bIns="0" rtlCol="0">
            <a:spAutoFit/>
          </a:bodyPr>
          <a:lstStyle/>
          <a:p>
            <a:pPr algn="ctr"/>
            <a:r>
              <a:rPr lang="en-US" altLang="ko-KR" sz="700" b="1" dirty="0" smtClean="0">
                <a:latin typeface="+mn-ea"/>
              </a:rPr>
              <a:t>0. </a:t>
            </a:r>
            <a:r>
              <a:rPr lang="ko-KR" altLang="en-US" sz="700" b="1" dirty="0" smtClean="0">
                <a:latin typeface="+mn-ea"/>
              </a:rPr>
              <a:t>서약서</a:t>
            </a:r>
            <a:endParaRPr lang="ko-KR" altLang="en-US" sz="700" b="1"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436356" y="1615346"/>
            <a:ext cx="536336" cy="107722"/>
          </a:xfrm>
          <a:prstGeom prst="rect">
            <a:avLst/>
          </a:prstGeom>
          <a:noFill/>
        </p:spPr>
        <p:txBody>
          <a:bodyPr wrap="square" lIns="0" tIns="0" rIns="0" bIns="0" rtlCol="0">
            <a:spAutoFit/>
          </a:bodyPr>
          <a:lstStyle/>
          <a:p>
            <a:pPr algn="ctr"/>
            <a:r>
              <a:rPr lang="en-US" altLang="ko-KR" sz="700" b="1" dirty="0" smtClean="0">
                <a:latin typeface="+mn-ea"/>
              </a:rPr>
              <a:t>1. </a:t>
            </a:r>
            <a:r>
              <a:rPr lang="ko-KR" altLang="en-US" sz="700" b="1" dirty="0" smtClean="0">
                <a:latin typeface="+mn-ea"/>
              </a:rPr>
              <a:t>일반정보</a:t>
            </a:r>
            <a:endParaRPr lang="ko-KR" altLang="en-US" sz="700" b="1" dirty="0">
              <a:latin typeface="+mn-ea"/>
            </a:endParaRPr>
          </a:p>
        </p:txBody>
      </p:sp>
      <p:sp>
        <p:nvSpPr>
          <p:cNvPr id="177" name="TextBox 176">
            <a:extLst>
              <a:ext uri="{FF2B5EF4-FFF2-40B4-BE49-F238E27FC236}">
                <a16:creationId xmlns:a16="http://schemas.microsoft.com/office/drawing/2014/main" id="{FFC49AEA-2A8F-250C-A86A-A7751D9706C3}"/>
              </a:ext>
            </a:extLst>
          </p:cNvPr>
          <p:cNvSpPr txBox="1"/>
          <p:nvPr/>
        </p:nvSpPr>
        <p:spPr>
          <a:xfrm>
            <a:off x="4977863" y="1615346"/>
            <a:ext cx="61648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5679257" y="1615346"/>
            <a:ext cx="592275"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공종및</a:t>
            </a:r>
            <a:r>
              <a:rPr lang="ko-KR" altLang="en-US" sz="700" dirty="0">
                <a:latin typeface="+mn-ea"/>
              </a:rPr>
              <a:t> 면허</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3838215" y="183195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0" name="그룹 179"/>
          <p:cNvGrpSpPr/>
          <p:nvPr/>
        </p:nvGrpSpPr>
        <p:grpSpPr>
          <a:xfrm>
            <a:off x="6041811" y="1577223"/>
            <a:ext cx="422853" cy="187961"/>
            <a:chOff x="3641308" y="2234886"/>
            <a:chExt cx="422853" cy="187961"/>
          </a:xfrm>
        </p:grpSpPr>
        <p:sp>
          <p:nvSpPr>
            <p:cNvPr id="181" name="타원 18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2" name="그룹 181"/>
            <p:cNvGrpSpPr/>
            <p:nvPr/>
          </p:nvGrpSpPr>
          <p:grpSpPr>
            <a:xfrm rot="5400000" flipH="1">
              <a:off x="3679895" y="2305364"/>
              <a:ext cx="94010" cy="47005"/>
              <a:chOff x="6812560" y="3297172"/>
              <a:chExt cx="94010" cy="47005"/>
            </a:xfrm>
          </p:grpSpPr>
          <p:cxnSp>
            <p:nvCxnSpPr>
              <p:cNvPr id="195" name="직선 연결선 19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6" name="직선 연결선 19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3" name="타원 18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4" name="그룹 183"/>
            <p:cNvGrpSpPr/>
            <p:nvPr/>
          </p:nvGrpSpPr>
          <p:grpSpPr>
            <a:xfrm rot="16200000">
              <a:off x="3931564"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4" name="직선 연결선 19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97" name="직선 연결선 196">
            <a:extLst>
              <a:ext uri="{FF2B5EF4-FFF2-40B4-BE49-F238E27FC236}">
                <a16:creationId xmlns:a16="http://schemas.microsoft.com/office/drawing/2014/main" id="{E9293055-D5CD-4B9E-7F64-64B2D2CA7A52}"/>
              </a:ext>
            </a:extLst>
          </p:cNvPr>
          <p:cNvCxnSpPr/>
          <p:nvPr/>
        </p:nvCxnSpPr>
        <p:spPr>
          <a:xfrm>
            <a:off x="3793124" y="149479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01" name="타원 200">
            <a:extLst>
              <a:ext uri="{FF2B5EF4-FFF2-40B4-BE49-F238E27FC236}">
                <a16:creationId xmlns:a16="http://schemas.microsoft.com/office/drawing/2014/main" id="{37A7FF4F-0EAA-1463-560A-D5EC24416103}"/>
              </a:ext>
            </a:extLst>
          </p:cNvPr>
          <p:cNvSpPr/>
          <p:nvPr/>
        </p:nvSpPr>
        <p:spPr>
          <a:xfrm>
            <a:off x="571127" y="41765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grpSp>
        <p:nvGrpSpPr>
          <p:cNvPr id="203" name="그룹 202"/>
          <p:cNvGrpSpPr/>
          <p:nvPr/>
        </p:nvGrpSpPr>
        <p:grpSpPr>
          <a:xfrm>
            <a:off x="8223250" y="569392"/>
            <a:ext cx="3365500" cy="634511"/>
            <a:chOff x="8223250" y="569392"/>
            <a:chExt cx="3365500" cy="634511"/>
          </a:xfrm>
        </p:grpSpPr>
        <p:sp>
          <p:nvSpPr>
            <p:cNvPr id="204" name="직사각형 20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수정</a:t>
              </a:r>
              <a:endParaRPr lang="ko-KR" altLang="en-US" dirty="0"/>
            </a:p>
          </p:txBody>
        </p:sp>
        <p:sp>
          <p:nvSpPr>
            <p:cNvPr id="205" name="직사각형 204"/>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t">
              <a:noAutofit/>
            </a:bodyPr>
            <a:lstStyle/>
            <a:p>
              <a:pPr marL="228600" indent="-228600">
                <a:buAutoNum type="arabicPeriod"/>
              </a:pPr>
              <a:r>
                <a:rPr lang="ko-KR" altLang="en-US" sz="700" dirty="0" smtClean="0"/>
                <a:t>조회화면에서 </a:t>
              </a:r>
              <a:r>
                <a:rPr lang="ko-KR" altLang="en-US" sz="700" dirty="0" err="1" smtClean="0"/>
                <a:t>진행단계</a:t>
              </a:r>
              <a:r>
                <a:rPr lang="ko-KR" altLang="en-US" sz="700" dirty="0" smtClean="0"/>
                <a:t> 삭제</a:t>
              </a:r>
              <a:endParaRPr lang="en-US" altLang="ko-KR" sz="700" dirty="0" smtClean="0"/>
            </a:p>
            <a:p>
              <a:pPr marL="228600" indent="-228600">
                <a:buAutoNum type="arabicPeriod"/>
              </a:pPr>
              <a:r>
                <a:rPr lang="ko-KR" altLang="en-US" sz="700" dirty="0" smtClean="0"/>
                <a:t>서약서 탭 버튼 추가</a:t>
              </a:r>
              <a:endParaRPr lang="en-US" altLang="ko-KR" sz="700" dirty="0" smtClean="0"/>
            </a:p>
          </p:txBody>
        </p:sp>
      </p:grpSp>
      <p:sp>
        <p:nvSpPr>
          <p:cNvPr id="206" name="타원 205">
            <a:extLst>
              <a:ext uri="{FF2B5EF4-FFF2-40B4-BE49-F238E27FC236}">
                <a16:creationId xmlns:a16="http://schemas.microsoft.com/office/drawing/2014/main" id="{37A7FF4F-0EAA-1463-560A-D5EC24416103}"/>
              </a:ext>
            </a:extLst>
          </p:cNvPr>
          <p:cNvSpPr/>
          <p:nvPr/>
        </p:nvSpPr>
        <p:spPr>
          <a:xfrm>
            <a:off x="3733615" y="199288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Tree>
    <p:extLst>
      <p:ext uri="{BB962C8B-B14F-4D97-AF65-F5344CB8AC3E}">
        <p14:creationId xmlns:p14="http://schemas.microsoft.com/office/powerpoint/2010/main" val="104067207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a:t>
            </a:r>
            <a:r>
              <a:rPr lang="ko-KR" altLang="en-US" dirty="0" smtClean="0"/>
              <a:t>표시</a:t>
            </a:r>
            <a:r>
              <a:rPr lang="en-US" altLang="ko-KR" dirty="0" smtClean="0"/>
              <a:t/>
            </a:r>
            <a:br>
              <a:rPr lang="en-US" altLang="ko-KR" dirty="0" smtClean="0"/>
            </a:br>
            <a:r>
              <a:rPr lang="en-US" altLang="ko-KR" dirty="0" smtClean="0"/>
              <a:t>- </a:t>
            </a:r>
            <a:r>
              <a:rPr lang="ko-KR" altLang="en-US" dirty="0" smtClean="0"/>
              <a:t>신청서 작성 화면</a:t>
            </a:r>
            <a:r>
              <a:rPr lang="en-US" altLang="ko-KR" dirty="0" smtClean="0"/>
              <a:t/>
            </a:r>
            <a:br>
              <a:rPr lang="en-US" altLang="ko-KR" dirty="0" smtClean="0"/>
            </a:br>
            <a:r>
              <a:rPr lang="en-US" altLang="ko-KR" dirty="0" smtClean="0"/>
              <a:t>- </a:t>
            </a:r>
            <a:r>
              <a:rPr lang="ko-KR" altLang="en-US" dirty="0" err="1" smtClean="0"/>
              <a:t>입찰시</a:t>
            </a:r>
            <a:r>
              <a:rPr lang="ko-KR" altLang="en-US" dirty="0" smtClean="0"/>
              <a:t> 기본정보는 자동으로 </a:t>
            </a:r>
            <a:r>
              <a:rPr lang="ko-KR" altLang="en-US" dirty="0" err="1" smtClean="0"/>
              <a:t>인입됨</a:t>
            </a:r>
            <a:endParaRPr lang="en-US" altLang="ko-KR" dirty="0"/>
          </a:p>
          <a:p>
            <a:pPr marL="228600" indent="-228600">
              <a:buFont typeface="+mj-lt"/>
              <a:buAutoNum type="arabicPeriod"/>
            </a:pPr>
            <a:r>
              <a:rPr lang="ko-KR" altLang="en-US" dirty="0" smtClean="0"/>
              <a:t>신청서 </a:t>
            </a:r>
            <a:r>
              <a:rPr lang="ko-KR" altLang="en-US" dirty="0"/>
              <a:t>작성 내역 </a:t>
            </a:r>
            <a:r>
              <a:rPr lang="ko-KR" altLang="en-US" dirty="0" smtClean="0"/>
              <a:t>탭</a:t>
            </a:r>
            <a:r>
              <a:rPr lang="en-US" altLang="ko-KR" dirty="0" smtClean="0"/>
              <a:t/>
            </a:r>
            <a:br>
              <a:rPr lang="en-US" altLang="ko-KR" dirty="0" smtClean="0"/>
            </a:br>
            <a:r>
              <a:rPr lang="en-US" altLang="ko-KR" dirty="0" smtClean="0"/>
              <a:t>- </a:t>
            </a:r>
            <a:r>
              <a:rPr lang="ko-KR" altLang="en-US" dirty="0" smtClean="0"/>
              <a:t>일반정보</a:t>
            </a:r>
            <a:r>
              <a:rPr lang="en-US" altLang="ko-KR" dirty="0" smtClean="0"/>
              <a:t/>
            </a:r>
            <a:br>
              <a:rPr lang="en-US" altLang="ko-KR" dirty="0" smtClean="0"/>
            </a:br>
            <a:r>
              <a:rPr lang="en-US" altLang="ko-KR" dirty="0" smtClean="0"/>
              <a:t>2-1] </a:t>
            </a:r>
            <a:r>
              <a:rPr lang="ko-KR" altLang="en-US" dirty="0" err="1"/>
              <a:t>입찰건명</a:t>
            </a:r>
            <a:r>
              <a:rPr lang="ko-KR" altLang="en-US" dirty="0"/>
              <a:t> </a:t>
            </a:r>
            <a:r>
              <a:rPr lang="en-US" altLang="ko-KR" dirty="0"/>
              <a:t>/ </a:t>
            </a:r>
            <a:r>
              <a:rPr lang="ko-KR" altLang="en-US" dirty="0" err="1"/>
              <a:t>공사명</a:t>
            </a:r>
            <a:r>
              <a:rPr lang="en-US" altLang="ko-KR" dirty="0"/>
              <a:t/>
            </a:r>
            <a:br>
              <a:rPr lang="en-US" altLang="ko-KR" dirty="0"/>
            </a:br>
            <a:r>
              <a:rPr lang="en-US" altLang="ko-KR" dirty="0"/>
              <a:t>2</a:t>
            </a:r>
            <a:r>
              <a:rPr lang="en-US" altLang="ko-KR" dirty="0" smtClean="0"/>
              <a:t>-2] </a:t>
            </a:r>
            <a:r>
              <a:rPr lang="ko-KR" altLang="en-US" dirty="0" err="1"/>
              <a:t>판단번호</a:t>
            </a:r>
            <a:r>
              <a:rPr lang="ko-KR" altLang="en-US" dirty="0"/>
              <a:t> </a:t>
            </a:r>
            <a:r>
              <a:rPr lang="en-US" altLang="ko-KR" dirty="0"/>
              <a:t>/ </a:t>
            </a:r>
            <a:r>
              <a:rPr lang="ko-KR" altLang="en-US" dirty="0" err="1"/>
              <a:t>공사번호</a:t>
            </a:r>
            <a:r>
              <a:rPr lang="en-US" altLang="ko-KR" dirty="0"/>
              <a:t/>
            </a:r>
            <a:br>
              <a:rPr lang="en-US" altLang="ko-KR" dirty="0"/>
            </a:br>
            <a:r>
              <a:rPr lang="en-US" altLang="ko-KR" dirty="0"/>
              <a:t>2</a:t>
            </a:r>
            <a:r>
              <a:rPr lang="en-US" altLang="ko-KR" dirty="0" smtClean="0"/>
              <a:t>-3] </a:t>
            </a:r>
            <a:r>
              <a:rPr lang="ko-KR" altLang="en-US" dirty="0" err="1"/>
              <a:t>집행유형</a:t>
            </a:r>
            <a:r>
              <a:rPr lang="ko-KR" altLang="en-US" dirty="0"/>
              <a:t> </a:t>
            </a:r>
            <a:r>
              <a:rPr lang="en-US" altLang="ko-KR" dirty="0"/>
              <a:t>/ </a:t>
            </a:r>
            <a:r>
              <a:rPr lang="ko-KR" altLang="en-US" dirty="0" err="1"/>
              <a:t>공사구분</a:t>
            </a:r>
            <a:r>
              <a:rPr lang="en-US" altLang="ko-KR" dirty="0"/>
              <a:t/>
            </a:r>
            <a:br>
              <a:rPr lang="en-US" altLang="ko-KR" dirty="0"/>
            </a:br>
            <a:r>
              <a:rPr lang="en-US" altLang="ko-KR" dirty="0"/>
              <a:t>2</a:t>
            </a:r>
            <a:r>
              <a:rPr lang="en-US" altLang="ko-KR" dirty="0" smtClean="0"/>
              <a:t>-4] </a:t>
            </a:r>
            <a:r>
              <a:rPr lang="ko-KR" altLang="en-US" dirty="0" err="1"/>
              <a:t>개찰일시</a:t>
            </a:r>
            <a:r>
              <a:rPr lang="ko-KR" altLang="en-US" dirty="0"/>
              <a:t> </a:t>
            </a:r>
            <a:r>
              <a:rPr lang="en-US" altLang="ko-KR" dirty="0"/>
              <a:t>/ </a:t>
            </a:r>
            <a:r>
              <a:rPr lang="ko-KR" altLang="en-US" dirty="0" err="1"/>
              <a:t>입찰일시</a:t>
            </a:r>
            <a:r>
              <a:rPr lang="en-US" altLang="ko-KR" dirty="0"/>
              <a:t/>
            </a:r>
            <a:br>
              <a:rPr lang="en-US" altLang="ko-KR" dirty="0"/>
            </a:br>
            <a:r>
              <a:rPr lang="en-US" altLang="ko-KR" dirty="0" smtClean="0"/>
              <a:t>2-5] </a:t>
            </a:r>
            <a:r>
              <a:rPr lang="en-US" altLang="ko-KR" dirty="0"/>
              <a:t/>
            </a:r>
            <a:br>
              <a:rPr lang="en-US" altLang="ko-KR" dirty="0"/>
            </a:br>
            <a:r>
              <a:rPr lang="en-US" altLang="ko-KR" dirty="0" smtClean="0"/>
              <a:t>- </a:t>
            </a:r>
            <a:r>
              <a:rPr lang="ko-KR" altLang="en-US" dirty="0" err="1"/>
              <a:t>입찰방법이</a:t>
            </a:r>
            <a:r>
              <a:rPr lang="ko-KR" altLang="en-US" dirty="0"/>
              <a:t> </a:t>
            </a:r>
            <a:r>
              <a:rPr lang="en-US" altLang="ko-KR" dirty="0"/>
              <a:t>‘B(</a:t>
            </a:r>
            <a:r>
              <a:rPr lang="ko-KR" altLang="en-US" dirty="0" err="1"/>
              <a:t>단가제</a:t>
            </a:r>
            <a:r>
              <a:rPr lang="en-US" altLang="ko-KR" dirty="0"/>
              <a:t>)’</a:t>
            </a:r>
            <a:r>
              <a:rPr lang="ko-KR" altLang="en-US" dirty="0"/>
              <a:t>인 경우 </a:t>
            </a:r>
            <a:r>
              <a:rPr lang="ko-KR" altLang="en-US" dirty="0" err="1"/>
              <a:t>단가제유형</a:t>
            </a:r>
            <a:r>
              <a:rPr lang="en-US" altLang="ko-KR" dirty="0"/>
              <a:t>, </a:t>
            </a:r>
            <a:r>
              <a:rPr lang="ko-KR" altLang="en-US" dirty="0"/>
              <a:t>그 외 총수량</a:t>
            </a:r>
            <a:r>
              <a:rPr lang="en-US" altLang="ko-KR" dirty="0"/>
              <a:t/>
            </a:r>
            <a:br>
              <a:rPr lang="en-US" altLang="ko-KR" dirty="0"/>
            </a:br>
            <a:r>
              <a:rPr lang="en-US" altLang="ko-KR" dirty="0"/>
              <a:t>- </a:t>
            </a:r>
            <a:r>
              <a:rPr lang="ko-KR" altLang="en-US" dirty="0"/>
              <a:t>입찰방법</a:t>
            </a:r>
            <a:r>
              <a:rPr lang="en-US" altLang="ko-KR" dirty="0"/>
              <a:t>(BDTC)</a:t>
            </a:r>
            <a:r>
              <a:rPr lang="ko-KR" altLang="en-US" dirty="0"/>
              <a:t>이 </a:t>
            </a:r>
            <a:r>
              <a:rPr lang="en-US" altLang="ko-KR" dirty="0"/>
              <a:t>‘H(</a:t>
            </a:r>
            <a:r>
              <a:rPr lang="ko-KR" altLang="en-US" dirty="0" err="1"/>
              <a:t>내역입찰</a:t>
            </a:r>
            <a:r>
              <a:rPr lang="en-US" altLang="ko-KR" dirty="0"/>
              <a:t>(</a:t>
            </a:r>
            <a:r>
              <a:rPr lang="ko-KR" altLang="en-US" dirty="0"/>
              <a:t>설계시공일괄입찰</a:t>
            </a:r>
            <a:r>
              <a:rPr lang="en-US" altLang="ko-KR" dirty="0"/>
              <a:t>))’</a:t>
            </a:r>
            <a:r>
              <a:rPr lang="ko-KR" altLang="en-US" dirty="0"/>
              <a:t>인 경우 </a:t>
            </a:r>
            <a:r>
              <a:rPr lang="en-US" altLang="ko-KR" dirty="0"/>
              <a:t>‘</a:t>
            </a:r>
            <a:r>
              <a:rPr lang="ko-KR" altLang="en-US" dirty="0" err="1"/>
              <a:t>낙찰자기준</a:t>
            </a:r>
            <a:r>
              <a:rPr lang="en-US" altLang="ko-KR" dirty="0"/>
              <a:t>’ </a:t>
            </a:r>
            <a:r>
              <a:rPr lang="ko-KR" altLang="en-US" dirty="0"/>
              <a:t>보이기</a:t>
            </a:r>
            <a:r>
              <a:rPr lang="en-US" altLang="ko-KR" dirty="0"/>
              <a:t>, </a:t>
            </a:r>
            <a:r>
              <a:rPr lang="ko-KR" altLang="en-US" dirty="0"/>
              <a:t>그 외 숨기기</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a:t>
            </a:r>
            <a:r>
              <a:rPr lang="ko-KR" altLang="en-US" dirty="0" smtClean="0"/>
              <a:t>표기</a:t>
            </a:r>
            <a:r>
              <a:rPr lang="en-US" altLang="ko-KR" dirty="0"/>
              <a:t/>
            </a:r>
            <a:br>
              <a:rPr lang="en-US" altLang="ko-KR" dirty="0"/>
            </a:br>
            <a:r>
              <a:rPr lang="en-US" altLang="ko-KR" dirty="0" smtClean="0"/>
              <a:t>2-6] </a:t>
            </a:r>
            <a:r>
              <a:rPr lang="en-US" altLang="ko-KR" dirty="0"/>
              <a:t>(</a:t>
            </a:r>
            <a:r>
              <a:rPr lang="ko-KR" altLang="en-US" dirty="0"/>
              <a:t>총수량</a:t>
            </a:r>
            <a:r>
              <a:rPr lang="en-US" altLang="ko-KR" dirty="0"/>
              <a:t>/</a:t>
            </a:r>
            <a:r>
              <a:rPr lang="ko-KR" altLang="en-US" dirty="0" err="1"/>
              <a:t>단가제유형</a:t>
            </a:r>
            <a:r>
              <a:rPr lang="en-US" altLang="ko-KR" dirty="0"/>
              <a:t>) / </a:t>
            </a:r>
            <a:r>
              <a:rPr lang="ko-KR" altLang="en-US" dirty="0"/>
              <a:t>사전심사</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 </a:t>
            </a:r>
            <a:r>
              <a:rPr lang="en-US" altLang="ko-KR" sz="700" dirty="0"/>
              <a:t>- </a:t>
            </a:r>
            <a:r>
              <a:rPr lang="ko-KR" altLang="en-US" sz="700" dirty="0" err="1">
                <a:latin typeface="+mn-ea"/>
              </a:rPr>
              <a:t>입찰참가신청서조회</a:t>
            </a:r>
            <a:r>
              <a:rPr lang="ko-KR" altLang="en-US" sz="700" dirty="0" err="1" smtClean="0"/>
              <a:t>일반정보</a:t>
            </a:r>
            <a:r>
              <a:rPr lang="ko-KR" altLang="en-US" sz="700" dirty="0" smtClean="0"/>
              <a:t> </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smtClean="0"/>
              <a:t>홈 </a:t>
            </a:r>
            <a:r>
              <a:rPr lang="en-US" altLang="ko-KR" dirty="0" smtClean="0"/>
              <a:t>&gt; </a:t>
            </a:r>
            <a:r>
              <a:rPr lang="ko-KR" altLang="en-US" dirty="0" smtClean="0">
                <a:latin typeface="+mn-ea"/>
              </a:rPr>
              <a:t>입찰 진행 상세</a:t>
            </a:r>
            <a:r>
              <a:rPr lang="en-US" altLang="ko-KR" dirty="0" smtClean="0">
                <a:latin typeface="+mn-ea"/>
              </a:rPr>
              <a:t>&gt; </a:t>
            </a:r>
            <a:r>
              <a:rPr lang="ko-KR" altLang="en-US" dirty="0" smtClean="0">
                <a:latin typeface="+mn-ea"/>
              </a:rPr>
              <a:t>입찰참가신청서 </a:t>
            </a:r>
            <a:r>
              <a:rPr lang="en-US" altLang="ko-KR" dirty="0" smtClean="0">
                <a:latin typeface="+mn-ea"/>
              </a:rPr>
              <a:t>&gt;</a:t>
            </a:r>
            <a:r>
              <a:rPr lang="ko-KR" altLang="en-US" dirty="0" smtClean="0">
                <a:latin typeface="+mn-ea"/>
              </a:rPr>
              <a:t>신청서 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t>MUI-BD-04-T01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869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679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81461" y="403158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4339065"/>
            <a:ext cx="792000" cy="15908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43390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4339065"/>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4339065"/>
            <a:ext cx="1784088"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5701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47838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9975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52112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54249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56387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9845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767987"/>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3767987"/>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smtClean="0">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376798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smtClean="0">
                <a:latin typeface="+mn-ea"/>
              </a:rPr>
              <a:t>공종및</a:t>
            </a:r>
            <a:r>
              <a:rPr lang="ko-KR" altLang="en-US" sz="700" dirty="0" smtClean="0">
                <a:latin typeface="+mn-ea"/>
              </a:rPr>
              <a:t> 면허</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376798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smtClean="0">
                <a:latin typeface="+mn-ea"/>
              </a:rPr>
              <a:t>입찰보증금</a:t>
            </a:r>
            <a:endParaRPr lang="ko-KR" altLang="en-US" sz="700" dirty="0">
              <a:latin typeface="+mn-ea"/>
            </a:endParaRP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98459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729864"/>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25773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1019814" y="3339948"/>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204" name="타원 203"/>
          <p:cNvSpPr/>
          <p:nvPr/>
        </p:nvSpPr>
        <p:spPr>
          <a:xfrm>
            <a:off x="783686" y="3371293"/>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a:off x="3143548" y="3453279"/>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6474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58377"/>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58337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직사각형 281"/>
          <p:cNvSpPr/>
          <p:nvPr/>
        </p:nvSpPr>
        <p:spPr>
          <a:xfrm>
            <a:off x="3840473" y="1817010"/>
            <a:ext cx="792000" cy="121811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8380" y="21629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4" name="TextBox 283">
            <a:extLst>
              <a:ext uri="{FF2B5EF4-FFF2-40B4-BE49-F238E27FC236}">
                <a16:creationId xmlns:a16="http://schemas.microsoft.com/office/drawing/2014/main" id="{FFC49AEA-2A8F-250C-A86A-A7751D9706C3}"/>
              </a:ext>
            </a:extLst>
          </p:cNvPr>
          <p:cNvSpPr txBox="1"/>
          <p:nvPr/>
        </p:nvSpPr>
        <p:spPr>
          <a:xfrm>
            <a:off x="3927537" y="1742715"/>
            <a:ext cx="756848" cy="1292662"/>
          </a:xfrm>
          <a:prstGeom prst="rect">
            <a:avLst/>
          </a:prstGeom>
          <a:noFill/>
        </p:spPr>
        <p:txBody>
          <a:bodyPr wrap="square" lIns="0" tIns="0" rIns="0" bIns="0" rtlCol="0">
            <a:spAutoFit/>
          </a:bodyPr>
          <a:lstStyle/>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smtClean="0">
                <a:latin typeface="+mn-ea"/>
              </a:rPr>
              <a:t>총수량</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낙찰자결정방법</a:t>
            </a:r>
            <a:endParaRPr lang="en-US" altLang="ko-KR" sz="700" dirty="0" smtClean="0">
              <a:latin typeface="+mn-ea"/>
            </a:endParaRPr>
          </a:p>
          <a:p>
            <a:pPr>
              <a:lnSpc>
                <a:spcPct val="200000"/>
              </a:lnSpc>
            </a:pPr>
            <a:r>
              <a:rPr lang="ko-KR" altLang="en-US" sz="700" dirty="0" smtClean="0">
                <a:latin typeface="+mn-ea"/>
              </a:rPr>
              <a:t>적격심사 </a:t>
            </a:r>
            <a:r>
              <a:rPr lang="ko-KR" altLang="en-US" sz="700" dirty="0">
                <a:latin typeface="+mn-ea"/>
              </a:rPr>
              <a:t>여부</a:t>
            </a:r>
            <a:endParaRPr lang="en-US" altLang="ko-KR" sz="700" dirty="0">
              <a:latin typeface="+mn-ea"/>
            </a:endParaRPr>
          </a:p>
          <a:p>
            <a:pPr>
              <a:lnSpc>
                <a:spcPct val="200000"/>
              </a:lnSpc>
            </a:pPr>
            <a:r>
              <a:rPr lang="ko-KR" altLang="en-US" sz="700" dirty="0">
                <a:latin typeface="+mn-ea"/>
              </a:rPr>
              <a:t>낙찰자 기준</a:t>
            </a:r>
            <a:endParaRPr lang="en-US" altLang="ko-KR" sz="700" dirty="0">
              <a:latin typeface="+mn-ea"/>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4684385" y="1742715"/>
            <a:ext cx="1770899" cy="1292662"/>
          </a:xfrm>
          <a:prstGeom prst="rect">
            <a:avLst/>
          </a:prstGeom>
          <a:noFill/>
        </p:spPr>
        <p:txBody>
          <a:bodyPr wrap="square" lIns="0" tIns="0" rIns="0" bIns="0" rtlCol="0">
            <a:spAutoFit/>
          </a:bodyPr>
          <a:lstStyle/>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a:p>
            <a:pPr>
              <a:lnSpc>
                <a:spcPct val="200000"/>
              </a:lnSpc>
            </a:pPr>
            <a:r>
              <a:rPr lang="ko-KR" altLang="en-US" sz="700" dirty="0">
                <a:latin typeface="+mn-ea"/>
              </a:rPr>
              <a:t>대상</a:t>
            </a:r>
            <a:endParaRPr lang="en-US" altLang="ko-KR" sz="700" dirty="0">
              <a:latin typeface="+mn-ea"/>
            </a:endParaRPr>
          </a:p>
          <a:p>
            <a:pPr>
              <a:lnSpc>
                <a:spcPct val="200000"/>
              </a:lnSpc>
            </a:pPr>
            <a:endParaRPr lang="en-US" altLang="ko-KR"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40473" y="2394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7" name="직선 연결선 286">
            <a:extLst>
              <a:ext uri="{FF2B5EF4-FFF2-40B4-BE49-F238E27FC236}">
                <a16:creationId xmlns:a16="http://schemas.microsoft.com/office/drawing/2014/main" id="{E9293055-D5CD-4B9E-7F64-64B2D2CA7A52}"/>
              </a:ext>
            </a:extLst>
          </p:cNvPr>
          <p:cNvCxnSpPr/>
          <p:nvPr/>
        </p:nvCxnSpPr>
        <p:spPr>
          <a:xfrm>
            <a:off x="3840473" y="26077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8" name="직선 연결선 287">
            <a:extLst>
              <a:ext uri="{FF2B5EF4-FFF2-40B4-BE49-F238E27FC236}">
                <a16:creationId xmlns:a16="http://schemas.microsoft.com/office/drawing/2014/main" id="{E9293055-D5CD-4B9E-7F64-64B2D2CA7A52}"/>
              </a:ext>
            </a:extLst>
          </p:cNvPr>
          <p:cNvCxnSpPr/>
          <p:nvPr/>
        </p:nvCxnSpPr>
        <p:spPr>
          <a:xfrm>
            <a:off x="3840473" y="28214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9" name="직선 연결선 288">
            <a:extLst>
              <a:ext uri="{FF2B5EF4-FFF2-40B4-BE49-F238E27FC236}">
                <a16:creationId xmlns:a16="http://schemas.microsoft.com/office/drawing/2014/main" id="{E9293055-D5CD-4B9E-7F64-64B2D2CA7A52}"/>
              </a:ext>
            </a:extLst>
          </p:cNvPr>
          <p:cNvCxnSpPr/>
          <p:nvPr/>
        </p:nvCxnSpPr>
        <p:spPr>
          <a:xfrm>
            <a:off x="3840473" y="30351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95" name="TextBox 294">
            <a:extLst>
              <a:ext uri="{FF2B5EF4-FFF2-40B4-BE49-F238E27FC236}">
                <a16:creationId xmlns:a16="http://schemas.microsoft.com/office/drawing/2014/main" id="{FFC49AEA-2A8F-250C-A86A-A7751D9706C3}"/>
              </a:ext>
            </a:extLst>
          </p:cNvPr>
          <p:cNvSpPr txBox="1"/>
          <p:nvPr/>
        </p:nvSpPr>
        <p:spPr>
          <a:xfrm>
            <a:off x="3905603" y="3163904"/>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300" name="직사각형 299"/>
          <p:cNvSpPr/>
          <p:nvPr/>
        </p:nvSpPr>
        <p:spPr>
          <a:xfrm>
            <a:off x="3846725" y="3471390"/>
            <a:ext cx="792000" cy="12996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3844632" y="347138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3933789" y="3471389"/>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4690637" y="3471389"/>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3846725" y="37024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3846725" y="39162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6725" y="41299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46725" y="43436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46725" y="4557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846725" y="47710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31169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317" name="TextBox 316">
            <a:extLst>
              <a:ext uri="{FF2B5EF4-FFF2-40B4-BE49-F238E27FC236}">
                <a16:creationId xmlns:a16="http://schemas.microsoft.com/office/drawing/2014/main" id="{FFC49AEA-2A8F-250C-A86A-A7751D9706C3}"/>
              </a:ext>
            </a:extLst>
          </p:cNvPr>
          <p:cNvSpPr txBox="1"/>
          <p:nvPr/>
        </p:nvSpPr>
        <p:spPr>
          <a:xfrm>
            <a:off x="1019814" y="294968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98103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063017"/>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20" name="직선 연결선 319">
            <a:extLst>
              <a:ext uri="{FF2B5EF4-FFF2-40B4-BE49-F238E27FC236}">
                <a16:creationId xmlns:a16="http://schemas.microsoft.com/office/drawing/2014/main" id="{E9293055-D5CD-4B9E-7F64-64B2D2CA7A52}"/>
              </a:ext>
            </a:extLst>
          </p:cNvPr>
          <p:cNvCxnSpPr/>
          <p:nvPr/>
        </p:nvCxnSpPr>
        <p:spPr>
          <a:xfrm>
            <a:off x="675399" y="325717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타원 323">
            <a:extLst>
              <a:ext uri="{FF2B5EF4-FFF2-40B4-BE49-F238E27FC236}">
                <a16:creationId xmlns:a16="http://schemas.microsoft.com/office/drawing/2014/main" id="{37A7FF4F-0EAA-1463-560A-D5EC24416103}"/>
              </a:ext>
            </a:extLst>
          </p:cNvPr>
          <p:cNvSpPr/>
          <p:nvPr/>
        </p:nvSpPr>
        <p:spPr>
          <a:xfrm>
            <a:off x="571127" y="372640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cxnSp>
        <p:nvCxnSpPr>
          <p:cNvPr id="325" name="직선 연결선 324">
            <a:extLst>
              <a:ext uri="{FF2B5EF4-FFF2-40B4-BE49-F238E27FC236}">
                <a16:creationId xmlns:a16="http://schemas.microsoft.com/office/drawing/2014/main" id="{E9293055-D5CD-4B9E-7F64-64B2D2CA7A52}"/>
              </a:ext>
            </a:extLst>
          </p:cNvPr>
          <p:cNvCxnSpPr/>
          <p:nvPr/>
        </p:nvCxnSpPr>
        <p:spPr>
          <a:xfrm>
            <a:off x="3840473" y="19469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6" name="타원 325">
            <a:extLst>
              <a:ext uri="{FF2B5EF4-FFF2-40B4-BE49-F238E27FC236}">
                <a16:creationId xmlns:a16="http://schemas.microsoft.com/office/drawing/2014/main" id="{37A7FF4F-0EAA-1463-560A-D5EC24416103}"/>
              </a:ext>
            </a:extLst>
          </p:cNvPr>
          <p:cNvSpPr/>
          <p:nvPr/>
        </p:nvSpPr>
        <p:spPr>
          <a:xfrm>
            <a:off x="718613" y="258616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2-1</a:t>
            </a:r>
            <a:endParaRPr lang="ko-KR" altLang="en-US" sz="6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3840473" y="180707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3884151" y="159046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4438614" y="1590465"/>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4980121" y="159046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5681515" y="1590465"/>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3840473" y="180707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6044069" y="1552342"/>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51" name="모서리가 둥근 직사각형 150"/>
          <p:cNvSpPr/>
          <p:nvPr/>
        </p:nvSpPr>
        <p:spPr>
          <a:xfrm rot="5400000">
            <a:off x="2662242" y="316913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22360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8" name="그룹 167"/>
          <p:cNvGrpSpPr/>
          <p:nvPr/>
        </p:nvGrpSpPr>
        <p:grpSpPr>
          <a:xfrm>
            <a:off x="677960" y="1582647"/>
            <a:ext cx="2714637" cy="686386"/>
            <a:chOff x="677960" y="1582647"/>
            <a:chExt cx="2714637" cy="686386"/>
          </a:xfrm>
        </p:grpSpPr>
        <p:sp>
          <p:nvSpPr>
            <p:cNvPr id="169" name="TextBox 168">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입찰참가신청서 작성</a:t>
              </a: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1" name="그룹 170"/>
            <p:cNvGrpSpPr/>
            <p:nvPr/>
          </p:nvGrpSpPr>
          <p:grpSpPr>
            <a:xfrm rot="5400000">
              <a:off x="852159" y="2062596"/>
              <a:ext cx="94010" cy="47005"/>
              <a:chOff x="6812560" y="3297172"/>
              <a:chExt cx="94010" cy="47005"/>
            </a:xfrm>
          </p:grpSpPr>
          <p:cxnSp>
            <p:nvCxnSpPr>
              <p:cNvPr id="178" name="직선 연결선 1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9" name="직선 연결선 1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2" name="그룹 171"/>
            <p:cNvGrpSpPr/>
            <p:nvPr/>
          </p:nvGrpSpPr>
          <p:grpSpPr>
            <a:xfrm>
              <a:off x="677960" y="1582647"/>
              <a:ext cx="2712027" cy="324286"/>
              <a:chOff x="677960" y="1582647"/>
              <a:chExt cx="2712027" cy="324286"/>
            </a:xfrm>
          </p:grpSpPr>
          <p:pic>
            <p:nvPicPr>
              <p:cNvPr id="173"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74" name="직선 연결선 173">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타원 174"/>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타원 175"/>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7" name="타원 176"/>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80" name="타원 179">
            <a:extLst>
              <a:ext uri="{FF2B5EF4-FFF2-40B4-BE49-F238E27FC236}">
                <a16:creationId xmlns:a16="http://schemas.microsoft.com/office/drawing/2014/main" id="{37A7FF4F-0EAA-1463-560A-D5EC24416103}"/>
              </a:ext>
            </a:extLst>
          </p:cNvPr>
          <p:cNvSpPr/>
          <p:nvPr/>
        </p:nvSpPr>
        <p:spPr>
          <a:xfrm>
            <a:off x="685740" y="46002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2-2</a:t>
            </a:r>
            <a:endParaRPr lang="ko-KR" altLang="en-US" sz="600" b="1" dirty="0"/>
          </a:p>
        </p:txBody>
      </p:sp>
      <p:sp>
        <p:nvSpPr>
          <p:cNvPr id="181" name="타원 180">
            <a:extLst>
              <a:ext uri="{FF2B5EF4-FFF2-40B4-BE49-F238E27FC236}">
                <a16:creationId xmlns:a16="http://schemas.microsoft.com/office/drawing/2014/main" id="{37A7FF4F-0EAA-1463-560A-D5EC24416103}"/>
              </a:ext>
            </a:extLst>
          </p:cNvPr>
          <p:cNvSpPr/>
          <p:nvPr/>
        </p:nvSpPr>
        <p:spPr>
          <a:xfrm>
            <a:off x="685740" y="520752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2-3</a:t>
            </a:r>
            <a:endParaRPr lang="ko-KR" altLang="en-US" sz="600" b="1" dirty="0"/>
          </a:p>
        </p:txBody>
      </p:sp>
      <p:sp>
        <p:nvSpPr>
          <p:cNvPr id="182" name="타원 181">
            <a:extLst>
              <a:ext uri="{FF2B5EF4-FFF2-40B4-BE49-F238E27FC236}">
                <a16:creationId xmlns:a16="http://schemas.microsoft.com/office/drawing/2014/main" id="{37A7FF4F-0EAA-1463-560A-D5EC24416103}"/>
              </a:ext>
            </a:extLst>
          </p:cNvPr>
          <p:cNvSpPr/>
          <p:nvPr/>
        </p:nvSpPr>
        <p:spPr>
          <a:xfrm>
            <a:off x="685740" y="545114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2-4</a:t>
            </a:r>
            <a:endParaRPr lang="ko-KR" altLang="en-US" sz="600" b="1" dirty="0"/>
          </a:p>
        </p:txBody>
      </p:sp>
      <p:sp>
        <p:nvSpPr>
          <p:cNvPr id="183" name="타원 182">
            <a:extLst>
              <a:ext uri="{FF2B5EF4-FFF2-40B4-BE49-F238E27FC236}">
                <a16:creationId xmlns:a16="http://schemas.microsoft.com/office/drawing/2014/main" id="{37A7FF4F-0EAA-1463-560A-D5EC24416103}"/>
              </a:ext>
            </a:extLst>
          </p:cNvPr>
          <p:cNvSpPr/>
          <p:nvPr/>
        </p:nvSpPr>
        <p:spPr>
          <a:xfrm>
            <a:off x="3695262" y="17207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2-5</a:t>
            </a:r>
            <a:endParaRPr lang="ko-KR" altLang="en-US" sz="600" b="1" dirty="0"/>
          </a:p>
        </p:txBody>
      </p:sp>
      <p:sp>
        <p:nvSpPr>
          <p:cNvPr id="184" name="타원 183">
            <a:extLst>
              <a:ext uri="{FF2B5EF4-FFF2-40B4-BE49-F238E27FC236}">
                <a16:creationId xmlns:a16="http://schemas.microsoft.com/office/drawing/2014/main" id="{37A7FF4F-0EAA-1463-560A-D5EC24416103}"/>
              </a:ext>
            </a:extLst>
          </p:cNvPr>
          <p:cNvSpPr/>
          <p:nvPr/>
        </p:nvSpPr>
        <p:spPr>
          <a:xfrm>
            <a:off x="3695262" y="20205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2-6</a:t>
            </a:r>
            <a:endParaRPr lang="ko-KR" altLang="en-US" sz="600" b="1" dirty="0"/>
          </a:p>
        </p:txBody>
      </p:sp>
      <p:sp>
        <p:nvSpPr>
          <p:cNvPr id="186" name="직사각형 18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sp>
        <p:nvSpPr>
          <p:cNvPr id="165" name="TextBox 164">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231834114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입찰공고에 첨부된 서류 항목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 </a:t>
            </a:r>
            <a:r>
              <a:rPr lang="en-US" altLang="ko-KR" sz="700" dirty="0"/>
              <a:t>- </a:t>
            </a:r>
            <a:r>
              <a:rPr lang="ko-KR" altLang="en-US" sz="700" dirty="0" err="1">
                <a:latin typeface="+mn-ea"/>
              </a:rPr>
              <a:t>입찰참가신청서조회</a:t>
            </a:r>
            <a:r>
              <a:rPr lang="ko-KR" altLang="en-US" sz="700" dirty="0" err="1" smtClean="0"/>
              <a:t>품목내역</a:t>
            </a:r>
            <a:r>
              <a:rPr lang="ko-KR" altLang="en-US" sz="700" dirty="0" smtClean="0"/>
              <a:t> </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상세</a:t>
            </a:r>
            <a:r>
              <a:rPr lang="en-US" altLang="ko-KR" dirty="0">
                <a:latin typeface="+mn-ea"/>
              </a:rPr>
              <a:t>&gt; </a:t>
            </a:r>
            <a:r>
              <a:rPr lang="ko-KR" altLang="en-US" dirty="0">
                <a:latin typeface="+mn-ea"/>
              </a:rPr>
              <a:t>입찰참가신청서 </a:t>
            </a:r>
            <a:r>
              <a:rPr lang="en-US" altLang="ko-KR" dirty="0">
                <a:latin typeface="+mn-ea"/>
              </a:rPr>
              <a:t>&gt;</a:t>
            </a:r>
            <a:r>
              <a:rPr lang="ko-KR" altLang="en-US" dirty="0" smtClean="0">
                <a:latin typeface="+mn-ea"/>
              </a:rPr>
              <a:t>신청서 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MUI-BD-04-T02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00" name="직사각형 299"/>
          <p:cNvSpPr/>
          <p:nvPr/>
        </p:nvSpPr>
        <p:spPr>
          <a:xfrm>
            <a:off x="728046" y="2457339"/>
            <a:ext cx="792000" cy="12859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725953" y="245733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815110" y="2457338"/>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1571958" y="245733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728046" y="26884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728046" y="29021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728046" y="31158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28046" y="33295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28046" y="35432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728046" y="37569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5" name="그룹 164"/>
          <p:cNvGrpSpPr/>
          <p:nvPr/>
        </p:nvGrpSpPr>
        <p:grpSpPr>
          <a:xfrm>
            <a:off x="675399" y="1578465"/>
            <a:ext cx="2712027" cy="508898"/>
            <a:chOff x="3795734" y="1602341"/>
            <a:chExt cx="2712027" cy="508898"/>
          </a:xfrm>
        </p:grpSpPr>
        <p:sp>
          <p:nvSpPr>
            <p:cNvPr id="16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67" name="모서리가 둥근 직사각형 166"/>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68" name="모서리가 둥근 직사각형 167"/>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6" name="TextBox 195">
            <a:extLst>
              <a:ext uri="{FF2B5EF4-FFF2-40B4-BE49-F238E27FC236}">
                <a16:creationId xmlns:a16="http://schemas.microsoft.com/office/drawing/2014/main" id="{FFC49AEA-2A8F-250C-A86A-A7751D9706C3}"/>
              </a:ext>
            </a:extLst>
          </p:cNvPr>
          <p:cNvSpPr txBox="1"/>
          <p:nvPr/>
        </p:nvSpPr>
        <p:spPr>
          <a:xfrm>
            <a:off x="764551" y="4096050"/>
            <a:ext cx="1298086" cy="215444"/>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입찰공고 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200" name="모서리가 둥근 직사각형 199"/>
          <p:cNvSpPr/>
          <p:nvPr/>
        </p:nvSpPr>
        <p:spPr>
          <a:xfrm>
            <a:off x="718021" y="449443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1218688" y="4568957"/>
            <a:ext cx="2246933"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제안요청서</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796217" y="462281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09" name="모서리가 둥근 직사각형 208"/>
          <p:cNvSpPr/>
          <p:nvPr/>
        </p:nvSpPr>
        <p:spPr>
          <a:xfrm>
            <a:off x="718021" y="49011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0" name="TextBox 209">
            <a:extLst>
              <a:ext uri="{FF2B5EF4-FFF2-40B4-BE49-F238E27FC236}">
                <a16:creationId xmlns:a16="http://schemas.microsoft.com/office/drawing/2014/main" id="{FFC49AEA-2A8F-250C-A86A-A7751D9706C3}"/>
              </a:ext>
            </a:extLst>
          </p:cNvPr>
          <p:cNvSpPr txBox="1"/>
          <p:nvPr/>
        </p:nvSpPr>
        <p:spPr>
          <a:xfrm>
            <a:off x="1218688" y="4975643"/>
            <a:ext cx="2273009"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공고문</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11" name="TextBox 210">
            <a:extLst>
              <a:ext uri="{FF2B5EF4-FFF2-40B4-BE49-F238E27FC236}">
                <a16:creationId xmlns:a16="http://schemas.microsoft.com/office/drawing/2014/main" id="{FFC49AEA-2A8F-250C-A86A-A7751D9706C3}"/>
              </a:ext>
            </a:extLst>
          </p:cNvPr>
          <p:cNvSpPr txBox="1"/>
          <p:nvPr/>
        </p:nvSpPr>
        <p:spPr>
          <a:xfrm>
            <a:off x="796217" y="502950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682206" y="405739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TextBox 215">
            <a:extLst>
              <a:ext uri="{FF2B5EF4-FFF2-40B4-BE49-F238E27FC236}">
                <a16:creationId xmlns:a16="http://schemas.microsoft.com/office/drawing/2014/main" id="{FFC49AEA-2A8F-250C-A86A-A7751D9706C3}"/>
              </a:ext>
            </a:extLst>
          </p:cNvPr>
          <p:cNvSpPr txBox="1"/>
          <p:nvPr/>
        </p:nvSpPr>
        <p:spPr>
          <a:xfrm>
            <a:off x="1218689" y="435931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2987656" y="435931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724785" y="435931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19" name="타원 218">
            <a:extLst>
              <a:ext uri="{FF2B5EF4-FFF2-40B4-BE49-F238E27FC236}">
                <a16:creationId xmlns:a16="http://schemas.microsoft.com/office/drawing/2014/main" id="{37A7FF4F-0EAA-1463-560A-D5EC24416103}"/>
              </a:ext>
            </a:extLst>
          </p:cNvPr>
          <p:cNvSpPr/>
          <p:nvPr/>
        </p:nvSpPr>
        <p:spPr>
          <a:xfrm>
            <a:off x="571127" y="413283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721348"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765026" y="2201247"/>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1319489" y="2201247"/>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1860996"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2562390"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cxnSp>
        <p:nvCxnSpPr>
          <p:cNvPr id="253" name="직선 연결선 252">
            <a:extLst>
              <a:ext uri="{FF2B5EF4-FFF2-40B4-BE49-F238E27FC236}">
                <a16:creationId xmlns:a16="http://schemas.microsoft.com/office/drawing/2014/main" id="{E9293055-D5CD-4B9E-7F64-64B2D2CA7A52}"/>
              </a:ext>
            </a:extLst>
          </p:cNvPr>
          <p:cNvCxnSpPr/>
          <p:nvPr/>
        </p:nvCxnSpPr>
        <p:spPr>
          <a:xfrm>
            <a:off x="721348"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0" name="그룹 289"/>
          <p:cNvGrpSpPr/>
          <p:nvPr/>
        </p:nvGrpSpPr>
        <p:grpSpPr>
          <a:xfrm>
            <a:off x="2924944" y="2163124"/>
            <a:ext cx="422853" cy="187961"/>
            <a:chOff x="3641308" y="2234886"/>
            <a:chExt cx="422853" cy="187961"/>
          </a:xfrm>
        </p:grpSpPr>
        <p:sp>
          <p:nvSpPr>
            <p:cNvPr id="291" name="타원 29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2" name="그룹 291"/>
            <p:cNvGrpSpPr/>
            <p:nvPr/>
          </p:nvGrpSpPr>
          <p:grpSpPr>
            <a:xfrm rot="5400000" flipH="1">
              <a:off x="3679895"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6" name="직선 연결선 31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3" name="타원 29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16200000">
              <a:off x="3931564" y="2305364"/>
              <a:ext cx="94010" cy="47005"/>
              <a:chOff x="6812560" y="3297172"/>
              <a:chExt cx="94010" cy="47005"/>
            </a:xfrm>
          </p:grpSpPr>
          <p:cxnSp>
            <p:nvCxnSpPr>
              <p:cNvPr id="312" name="직선 연결선 3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60" name="모서리가 둥근 직사각형 59"/>
          <p:cNvSpPr/>
          <p:nvPr/>
        </p:nvSpPr>
        <p:spPr>
          <a:xfrm rot="5400000">
            <a:off x="2662242" y="487708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63" name="직사각형 62"/>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spTree>
    <p:extLst>
      <p:ext uri="{BB962C8B-B14F-4D97-AF65-F5344CB8AC3E}">
        <p14:creationId xmlns:p14="http://schemas.microsoft.com/office/powerpoint/2010/main" val="326293786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품목 내역 총 건수 표시</a:t>
            </a:r>
            <a:r>
              <a:rPr lang="en-US" altLang="ko-KR" dirty="0"/>
              <a:t/>
            </a:r>
            <a:br>
              <a:rPr lang="en-US" altLang="ko-KR" dirty="0"/>
            </a:br>
            <a:r>
              <a:rPr lang="en-US" altLang="ko-KR" dirty="0"/>
              <a:t>- </a:t>
            </a:r>
            <a:r>
              <a:rPr lang="ko-KR" altLang="en-US" dirty="0"/>
              <a:t>최초 </a:t>
            </a:r>
            <a:r>
              <a:rPr lang="en-US" altLang="ko-KR" dirty="0"/>
              <a:t>10</a:t>
            </a:r>
            <a:r>
              <a:rPr lang="ko-KR" altLang="en-US" dirty="0"/>
              <a:t>개 로드</a:t>
            </a:r>
            <a:endParaRPr lang="en-US" altLang="ko-KR" dirty="0"/>
          </a:p>
          <a:p>
            <a:pPr marL="228600" indent="-228600">
              <a:buFont typeface="+mj-lt"/>
              <a:buAutoNum type="arabicPeriod"/>
            </a:pPr>
            <a:r>
              <a:rPr lang="ko-KR" altLang="en-US" dirty="0" err="1"/>
              <a:t>더보기</a:t>
            </a:r>
            <a:r>
              <a:rPr lang="ko-KR" altLang="en-US" dirty="0"/>
              <a:t> 버튼 클릭을 통한 추가 항목 </a:t>
            </a:r>
            <a:r>
              <a:rPr lang="ko-KR" altLang="en-US" dirty="0" smtClean="0"/>
              <a:t>로드</a:t>
            </a:r>
            <a:r>
              <a:rPr lang="en-US" altLang="ko-KR" dirty="0"/>
              <a:t/>
            </a:r>
            <a:br>
              <a:rPr lang="en-US" altLang="ko-KR" dirty="0"/>
            </a:br>
            <a:r>
              <a:rPr lang="en-US" altLang="ko-KR" dirty="0"/>
              <a:t>- </a:t>
            </a:r>
            <a:r>
              <a:rPr lang="ko-KR" altLang="en-US" dirty="0" err="1"/>
              <a:t>더보기</a:t>
            </a:r>
            <a:r>
              <a:rPr lang="ko-KR" altLang="en-US" dirty="0"/>
              <a:t> 버튼이 추가 건수 </a:t>
            </a:r>
            <a:r>
              <a:rPr lang="ko-KR" altLang="en-US" dirty="0" smtClean="0"/>
              <a:t>표시</a:t>
            </a:r>
            <a:r>
              <a:rPr lang="en-US" altLang="ko-KR" dirty="0" smtClean="0"/>
              <a:t/>
            </a:r>
            <a:br>
              <a:rPr lang="en-US" altLang="ko-KR" dirty="0" smtClean="0"/>
            </a:br>
            <a:r>
              <a:rPr lang="en-US" altLang="ko-KR" dirty="0" smtClean="0"/>
              <a:t>- 10</a:t>
            </a:r>
            <a:r>
              <a:rPr lang="ko-KR" altLang="en-US" dirty="0" smtClean="0"/>
              <a:t>건씩 추가 로드</a:t>
            </a:r>
            <a:r>
              <a:rPr lang="en-US" altLang="ko-KR" dirty="0"/>
              <a:t/>
            </a:r>
            <a:br>
              <a:rPr lang="en-US" altLang="ko-KR" dirty="0"/>
            </a:br>
            <a:r>
              <a:rPr lang="en-US" altLang="ko-KR" dirty="0"/>
              <a:t>- </a:t>
            </a:r>
            <a:r>
              <a:rPr lang="ko-KR" altLang="en-US" dirty="0"/>
              <a:t>추가 항목이 없는 경우 </a:t>
            </a:r>
            <a:r>
              <a:rPr lang="ko-KR" altLang="en-US" dirty="0" err="1"/>
              <a:t>더보기</a:t>
            </a:r>
            <a:r>
              <a:rPr lang="ko-KR" altLang="en-US" dirty="0"/>
              <a:t> 버튼 숨김</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 </a:t>
            </a:r>
            <a:r>
              <a:rPr lang="en-US" altLang="ko-KR" sz="700" dirty="0"/>
              <a:t>- </a:t>
            </a:r>
            <a:r>
              <a:rPr lang="ko-KR" altLang="en-US" sz="700" dirty="0" err="1">
                <a:latin typeface="+mn-ea"/>
              </a:rPr>
              <a:t>입찰참가신청서조회</a:t>
            </a:r>
            <a:r>
              <a:rPr lang="ko-KR" altLang="en-US" sz="700" dirty="0" err="1" smtClean="0"/>
              <a:t>품목내역</a:t>
            </a:r>
            <a:r>
              <a:rPr lang="ko-KR" altLang="en-US" sz="700" dirty="0" smtClean="0"/>
              <a:t> </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상세</a:t>
            </a:r>
            <a:r>
              <a:rPr lang="en-US" altLang="ko-KR" dirty="0">
                <a:latin typeface="+mn-ea"/>
              </a:rPr>
              <a:t>&gt; </a:t>
            </a:r>
            <a:r>
              <a:rPr lang="ko-KR" altLang="en-US" dirty="0">
                <a:latin typeface="+mn-ea"/>
              </a:rPr>
              <a:t>입찰참가신청서 </a:t>
            </a:r>
            <a:r>
              <a:rPr lang="en-US" altLang="ko-KR" dirty="0">
                <a:latin typeface="+mn-ea"/>
              </a:rPr>
              <a:t>&gt;</a:t>
            </a:r>
            <a:r>
              <a:rPr lang="ko-KR" altLang="en-US" dirty="0">
                <a:latin typeface="+mn-ea"/>
              </a:rPr>
              <a:t>신청서 </a:t>
            </a:r>
            <a:r>
              <a:rPr lang="ko-KR" altLang="en-US" dirty="0" err="1">
                <a:latin typeface="+mn-ea"/>
              </a:rPr>
              <a:t>품목내역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MUI-BD-04-T02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189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27" name="타원 326">
            <a:extLst>
              <a:ext uri="{FF2B5EF4-FFF2-40B4-BE49-F238E27FC236}">
                <a16:creationId xmlns:a16="http://schemas.microsoft.com/office/drawing/2014/main" id="{37A7FF4F-0EAA-1463-560A-D5EC24416103}"/>
              </a:ext>
            </a:extLst>
          </p:cNvPr>
          <p:cNvSpPr/>
          <p:nvPr/>
        </p:nvSpPr>
        <p:spPr>
          <a:xfrm>
            <a:off x="589334" y="19593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685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519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16519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16519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16519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01324" y="18685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6138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19188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2226374"/>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226374"/>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22637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2226374"/>
            <a:ext cx="2630093" cy="1723549"/>
            <a:chOff x="701175" y="1835481"/>
            <a:chExt cx="2630093" cy="1723549"/>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8" name="직사각형 207"/>
          <p:cNvSpPr/>
          <p:nvPr/>
        </p:nvSpPr>
        <p:spPr>
          <a:xfrm>
            <a:off x="722232" y="404128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TextBox 208">
            <a:extLst>
              <a:ext uri="{FF2B5EF4-FFF2-40B4-BE49-F238E27FC236}">
                <a16:creationId xmlns:a16="http://schemas.microsoft.com/office/drawing/2014/main" id="{FFC49AEA-2A8F-250C-A86A-A7751D9706C3}"/>
              </a:ext>
            </a:extLst>
          </p:cNvPr>
          <p:cNvSpPr txBox="1"/>
          <p:nvPr/>
        </p:nvSpPr>
        <p:spPr>
          <a:xfrm>
            <a:off x="809295" y="404128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1566144" y="404128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smtClean="0">
                <a:latin typeface="+mn-ea"/>
              </a:rPr>
              <a:t>원</a:t>
            </a:r>
          </a:p>
          <a:p>
            <a:pPr algn="r">
              <a:lnSpc>
                <a:spcPct val="200000"/>
              </a:lnSpc>
            </a:pPr>
            <a:r>
              <a:rPr lang="en-US" altLang="ko-KR" sz="700" dirty="0" smtClean="0">
                <a:latin typeface="+mn-ea"/>
              </a:rPr>
              <a:t>000,000,000,000 </a:t>
            </a:r>
            <a:r>
              <a:rPr lang="ko-KR" altLang="en-US" sz="700" dirty="0" smtClean="0">
                <a:latin typeface="+mn-ea"/>
              </a:rPr>
              <a:t>원</a:t>
            </a:r>
            <a:endParaRPr lang="en-US" altLang="ko-KR" sz="700" dirty="0">
              <a:latin typeface="+mn-ea"/>
            </a:endParaRPr>
          </a:p>
        </p:txBody>
      </p:sp>
      <p:grpSp>
        <p:nvGrpSpPr>
          <p:cNvPr id="211" name="그룹 210"/>
          <p:cNvGrpSpPr/>
          <p:nvPr/>
        </p:nvGrpSpPr>
        <p:grpSpPr>
          <a:xfrm>
            <a:off x="720139" y="4041282"/>
            <a:ext cx="2630093" cy="1723549"/>
            <a:chOff x="701175" y="1835481"/>
            <a:chExt cx="2630093" cy="1723549"/>
          </a:xfrm>
        </p:grpSpPr>
        <p:cxnSp>
          <p:nvCxnSpPr>
            <p:cNvPr id="212" name="직선 연결선 2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3" name="직선 연결선 2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4" name="직선 연결선 2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7" name="직선 연결선 216">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30062" y="4602730"/>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278" name="직선 연결선 277">
            <a:extLst>
              <a:ext uri="{FF2B5EF4-FFF2-40B4-BE49-F238E27FC236}">
                <a16:creationId xmlns:a16="http://schemas.microsoft.com/office/drawing/2014/main" id="{E9293055-D5CD-4B9E-7F64-64B2D2CA7A52}"/>
              </a:ext>
            </a:extLst>
          </p:cNvPr>
          <p:cNvCxnSpPr/>
          <p:nvPr/>
        </p:nvCxnSpPr>
        <p:spPr>
          <a:xfrm>
            <a:off x="3840474" y="18685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3884152" y="16519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4438615" y="16519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281" name="TextBox 280">
            <a:extLst>
              <a:ext uri="{FF2B5EF4-FFF2-40B4-BE49-F238E27FC236}">
                <a16:creationId xmlns:a16="http://schemas.microsoft.com/office/drawing/2014/main" id="{FFC49AEA-2A8F-250C-A86A-A7751D9706C3}"/>
              </a:ext>
            </a:extLst>
          </p:cNvPr>
          <p:cNvSpPr txBox="1"/>
          <p:nvPr/>
        </p:nvSpPr>
        <p:spPr>
          <a:xfrm>
            <a:off x="4980122" y="16519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90" name="TextBox 289">
            <a:extLst>
              <a:ext uri="{FF2B5EF4-FFF2-40B4-BE49-F238E27FC236}">
                <a16:creationId xmlns:a16="http://schemas.microsoft.com/office/drawing/2014/main" id="{FFC49AEA-2A8F-250C-A86A-A7751D9706C3}"/>
              </a:ext>
            </a:extLst>
          </p:cNvPr>
          <p:cNvSpPr txBox="1"/>
          <p:nvPr/>
        </p:nvSpPr>
        <p:spPr>
          <a:xfrm>
            <a:off x="5681516" y="16519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4421659" y="18685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2" name="그룹 291"/>
          <p:cNvGrpSpPr/>
          <p:nvPr/>
        </p:nvGrpSpPr>
        <p:grpSpPr>
          <a:xfrm>
            <a:off x="6044070" y="1613824"/>
            <a:ext cx="422853" cy="187961"/>
            <a:chOff x="3641308" y="2234886"/>
            <a:chExt cx="422853" cy="187961"/>
          </a:xfrm>
        </p:grpSpPr>
        <p:sp>
          <p:nvSpPr>
            <p:cNvPr id="293" name="타원 29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5400000" flipH="1">
              <a:off x="3679895" y="2305364"/>
              <a:ext cx="94010" cy="47005"/>
              <a:chOff x="6812560" y="3297172"/>
              <a:chExt cx="94010" cy="47005"/>
            </a:xfrm>
          </p:grpSpPr>
          <p:cxnSp>
            <p:nvCxnSpPr>
              <p:cNvPr id="344" name="직선 연결선 3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5" name="직선 연결선 3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12" name="타원 3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3" name="그룹 312"/>
            <p:cNvGrpSpPr/>
            <p:nvPr/>
          </p:nvGrpSpPr>
          <p:grpSpPr>
            <a:xfrm rot="16200000">
              <a:off x="3931564"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3" name="직선 연결선 3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46" name="직사각형 345"/>
          <p:cNvSpPr/>
          <p:nvPr/>
        </p:nvSpPr>
        <p:spPr>
          <a:xfrm>
            <a:off x="3834318" y="2419370"/>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7" name="TextBox 346">
            <a:extLst>
              <a:ext uri="{FF2B5EF4-FFF2-40B4-BE49-F238E27FC236}">
                <a16:creationId xmlns:a16="http://schemas.microsoft.com/office/drawing/2014/main" id="{FFC49AEA-2A8F-250C-A86A-A7751D9706C3}"/>
              </a:ext>
            </a:extLst>
          </p:cNvPr>
          <p:cNvSpPr txBox="1"/>
          <p:nvPr/>
        </p:nvSpPr>
        <p:spPr>
          <a:xfrm>
            <a:off x="3921381" y="2419370"/>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348" name="TextBox 347">
            <a:extLst>
              <a:ext uri="{FF2B5EF4-FFF2-40B4-BE49-F238E27FC236}">
                <a16:creationId xmlns:a16="http://schemas.microsoft.com/office/drawing/2014/main" id="{FFC49AEA-2A8F-250C-A86A-A7751D9706C3}"/>
              </a:ext>
            </a:extLst>
          </p:cNvPr>
          <p:cNvSpPr txBox="1"/>
          <p:nvPr/>
        </p:nvSpPr>
        <p:spPr>
          <a:xfrm>
            <a:off x="4678230" y="2419370"/>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349" name="그룹 348"/>
          <p:cNvGrpSpPr/>
          <p:nvPr/>
        </p:nvGrpSpPr>
        <p:grpSpPr>
          <a:xfrm>
            <a:off x="3832225" y="2419370"/>
            <a:ext cx="2630093" cy="1723549"/>
            <a:chOff x="701175" y="1835481"/>
            <a:chExt cx="2630093" cy="1723549"/>
          </a:xfrm>
        </p:grpSpPr>
        <p:cxnSp>
          <p:nvCxnSpPr>
            <p:cNvPr id="350" name="직선 연결선 3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1" name="직선 연결선 3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2" name="직선 연결선 3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3" name="직선 연결선 35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4" name="직선 연결선 35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5" name="직선 연결선 35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6" name="직선 연결선 35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7" name="직선 연결선 35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8" name="직선 연결선 357">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024" y="5077339"/>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360" name="타원 359">
            <a:extLst>
              <a:ext uri="{FF2B5EF4-FFF2-40B4-BE49-F238E27FC236}">
                <a16:creationId xmlns:a16="http://schemas.microsoft.com/office/drawing/2014/main" id="{37A7FF4F-0EAA-1463-560A-D5EC24416103}"/>
              </a:ext>
            </a:extLst>
          </p:cNvPr>
          <p:cNvSpPr/>
          <p:nvPr/>
        </p:nvSpPr>
        <p:spPr>
          <a:xfrm>
            <a:off x="3712022" y="505836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1994212"/>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rot="5400000">
            <a:off x="2662242" y="25857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모서리가 둥근 직사각형 109"/>
          <p:cNvSpPr/>
          <p:nvPr/>
        </p:nvSpPr>
        <p:spPr>
          <a:xfrm rot="5400000">
            <a:off x="5780626" y="41796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97" name="직사각형 9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spTree>
    <p:extLst>
      <p:ext uri="{BB962C8B-B14F-4D97-AF65-F5344CB8AC3E}">
        <p14:creationId xmlns:p14="http://schemas.microsoft.com/office/powerpoint/2010/main" val="17241290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공종및</a:t>
            </a:r>
            <a:r>
              <a:rPr lang="ko-KR" altLang="en-US" dirty="0"/>
              <a:t> </a:t>
            </a:r>
            <a:r>
              <a:rPr lang="ko-KR" altLang="en-US" dirty="0" err="1"/>
              <a:t>면허정보</a:t>
            </a:r>
            <a:r>
              <a:rPr lang="ko-KR" altLang="en-US" dirty="0"/>
              <a:t> 표시</a:t>
            </a:r>
            <a:r>
              <a:rPr lang="en-US" altLang="ko-KR" dirty="0"/>
              <a:t/>
            </a:r>
            <a:br>
              <a:rPr lang="en-US" altLang="ko-KR" dirty="0"/>
            </a:br>
            <a:r>
              <a:rPr lang="en-US" altLang="ko-KR" dirty="0"/>
              <a:t>- </a:t>
            </a:r>
            <a:r>
              <a:rPr lang="ko-KR" altLang="en-US" dirty="0" err="1"/>
              <a:t>업무구분이</a:t>
            </a:r>
            <a:r>
              <a:rPr lang="ko-KR" altLang="en-US" dirty="0"/>
              <a:t> 공사이고</a:t>
            </a:r>
            <a:r>
              <a:rPr lang="en-US" altLang="ko-KR" dirty="0"/>
              <a:t>, </a:t>
            </a:r>
            <a:r>
              <a:rPr lang="ko-KR" altLang="en-US" dirty="0" err="1"/>
              <a:t>공종정보가</a:t>
            </a:r>
            <a:r>
              <a:rPr lang="ko-KR" altLang="en-US" dirty="0"/>
              <a:t> 있는 경우 </a:t>
            </a:r>
            <a:r>
              <a:rPr lang="ko-KR" altLang="en-US" dirty="0" err="1"/>
              <a:t>공종</a:t>
            </a:r>
            <a:r>
              <a:rPr lang="ko-KR" altLang="en-US" dirty="0"/>
              <a:t> 및 </a:t>
            </a:r>
            <a:r>
              <a:rPr lang="ko-KR" altLang="en-US" dirty="0" err="1"/>
              <a:t>면허정보</a:t>
            </a:r>
            <a:r>
              <a:rPr lang="ko-KR" altLang="en-US" dirty="0"/>
              <a:t> 목록 보이기</a:t>
            </a:r>
            <a:r>
              <a:rPr lang="en-US" altLang="ko-KR" dirty="0"/>
              <a:t/>
            </a:r>
            <a:br>
              <a:rPr lang="en-US" altLang="ko-KR" dirty="0"/>
            </a:br>
            <a:r>
              <a:rPr lang="en-US" altLang="ko-KR" dirty="0"/>
              <a:t>- </a:t>
            </a:r>
            <a:r>
              <a:rPr lang="ko-KR" altLang="en-US" dirty="0" err="1"/>
              <a:t>나라장터바로가기는</a:t>
            </a:r>
            <a:r>
              <a:rPr lang="ko-KR" altLang="en-US" dirty="0"/>
              <a:t> </a:t>
            </a:r>
            <a:r>
              <a:rPr lang="en-US" altLang="ko-KR" dirty="0">
                <a:hlinkClick r:id="rId2"/>
              </a:rPr>
              <a:t>http://www.g2b.go.kr</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a:latin typeface="+mn-ea"/>
              </a:rPr>
              <a:t>입찰진행상세 </a:t>
            </a:r>
            <a:r>
              <a:rPr lang="en-US" altLang="ko-KR" sz="700" dirty="0"/>
              <a:t>- </a:t>
            </a:r>
            <a:r>
              <a:rPr lang="ko-KR" altLang="en-US" sz="700" dirty="0" err="1" smtClean="0">
                <a:latin typeface="+mn-ea"/>
              </a:rPr>
              <a:t>입찰참가신청서조회</a:t>
            </a:r>
            <a:r>
              <a:rPr lang="ko-KR" altLang="en-US" sz="700" dirty="0" err="1" smtClean="0"/>
              <a:t>공종및면허</a:t>
            </a:r>
            <a:r>
              <a:rPr lang="ko-KR" altLang="en-US" sz="700" dirty="0" smtClean="0"/>
              <a:t>  </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a:t>
            </a:r>
            <a:r>
              <a:rPr lang="ko-KR" altLang="en-US" dirty="0" err="1">
                <a:latin typeface="+mn-ea"/>
              </a:rPr>
              <a:t>공종</a:t>
            </a:r>
            <a:r>
              <a:rPr lang="ko-KR" altLang="en-US" dirty="0">
                <a:latin typeface="+mn-ea"/>
              </a:rPr>
              <a:t> 및 면허</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sz="800" dirty="0"/>
              <a:t>홈 </a:t>
            </a:r>
            <a:r>
              <a:rPr lang="en-US" altLang="ko-KR" sz="800" dirty="0"/>
              <a:t>&gt; </a:t>
            </a:r>
            <a:r>
              <a:rPr lang="ko-KR" altLang="en-US" sz="800" dirty="0">
                <a:latin typeface="+mn-ea"/>
              </a:rPr>
              <a:t>입찰 진행 상세</a:t>
            </a:r>
            <a:r>
              <a:rPr lang="en-US" altLang="ko-KR" sz="800" dirty="0">
                <a:latin typeface="+mn-ea"/>
              </a:rPr>
              <a:t>&gt; </a:t>
            </a:r>
            <a:r>
              <a:rPr lang="ko-KR" altLang="en-US" sz="800" dirty="0">
                <a:latin typeface="+mn-ea"/>
              </a:rPr>
              <a:t>입찰참가신청서 </a:t>
            </a:r>
            <a:r>
              <a:rPr lang="en-US" altLang="ko-KR" sz="800" dirty="0">
                <a:latin typeface="+mn-ea"/>
              </a:rPr>
              <a:t>&gt;</a:t>
            </a:r>
            <a:r>
              <a:rPr lang="ko-KR" altLang="en-US" sz="800" dirty="0">
                <a:latin typeface="+mn-ea"/>
              </a:rPr>
              <a:t>신청서 </a:t>
            </a:r>
            <a:r>
              <a:rPr lang="ko-KR" altLang="en-US" sz="800" dirty="0" err="1">
                <a:latin typeface="+mn-ea"/>
              </a:rPr>
              <a:t>공종</a:t>
            </a:r>
            <a:r>
              <a:rPr lang="ko-KR" altLang="en-US" sz="800" dirty="0">
                <a:latin typeface="+mn-ea"/>
              </a:rPr>
              <a:t> 및 면허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MUI-BD-04-T03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27" name="타원 326">
            <a:extLst>
              <a:ext uri="{FF2B5EF4-FFF2-40B4-BE49-F238E27FC236}">
                <a16:creationId xmlns:a16="http://schemas.microsoft.com/office/drawing/2014/main" id="{37A7FF4F-0EAA-1463-560A-D5EC24416103}"/>
              </a:ext>
            </a:extLst>
          </p:cNvPr>
          <p:cNvSpPr/>
          <p:nvPr/>
        </p:nvSpPr>
        <p:spPr>
          <a:xfrm>
            <a:off x="589334" y="313434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369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20371"/>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1620371"/>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1620371"/>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공종</a:t>
            </a:r>
            <a:r>
              <a:rPr lang="ko-KR" altLang="en-US" sz="700" b="1"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1620371"/>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1836978"/>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82248"/>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3093860"/>
            <a:ext cx="1757861" cy="215444"/>
          </a:xfrm>
          <a:prstGeom prst="rect">
            <a:avLst/>
          </a:prstGeom>
          <a:noFill/>
        </p:spPr>
        <p:txBody>
          <a:bodyPr wrap="square" lIns="0" tIns="0" rIns="0" bIns="0" rtlCol="0">
            <a:spAutoFit/>
          </a:bodyPr>
          <a:lstStyle/>
          <a:p>
            <a:pPr>
              <a:lnSpc>
                <a:spcPct val="200000"/>
              </a:lnSpc>
            </a:pPr>
            <a:r>
              <a:rPr lang="ko-KR" altLang="en-US" sz="700" dirty="0" err="1">
                <a:latin typeface="+mn-ea"/>
              </a:rPr>
              <a:t>공종</a:t>
            </a:r>
            <a:r>
              <a:rPr lang="ko-KR" altLang="en-US" sz="700" dirty="0">
                <a:latin typeface="+mn-ea"/>
              </a:rPr>
              <a:t> 및 </a:t>
            </a:r>
            <a:r>
              <a:rPr lang="ko-KR" altLang="en-US" sz="700" dirty="0" err="1">
                <a:latin typeface="+mn-ea"/>
              </a:rPr>
              <a:t>면허정보</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3401346"/>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01345"/>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공종명</a:t>
            </a:r>
            <a:r>
              <a:rPr lang="en-US" altLang="ko-KR" sz="700" dirty="0">
                <a:latin typeface="+mn-ea"/>
              </a:rPr>
              <a:t>/</a:t>
            </a:r>
            <a:r>
              <a:rPr lang="ko-KR" altLang="en-US" sz="700" dirty="0" err="1">
                <a:latin typeface="+mn-ea"/>
              </a:rPr>
              <a:t>업종코드</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행정처분기관구분</a:t>
            </a:r>
            <a:endParaRPr lang="en-US" altLang="ko-KR" sz="700" dirty="0">
              <a:latin typeface="+mn-ea"/>
            </a:endParaRPr>
          </a:p>
          <a:p>
            <a:pPr>
              <a:lnSpc>
                <a:spcPct val="200000"/>
              </a:lnSpc>
            </a:pPr>
            <a:r>
              <a:rPr lang="ko-KR" altLang="en-US" sz="700" dirty="0">
                <a:latin typeface="+mn-ea"/>
              </a:rPr>
              <a:t>등록일자</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기준년도</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01345"/>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a:t>
            </a:r>
          </a:p>
          <a:p>
            <a:pPr>
              <a:lnSpc>
                <a:spcPct val="200000"/>
              </a:lnSpc>
            </a:pPr>
            <a:r>
              <a:rPr lang="ko-KR" altLang="en-US" sz="700" dirty="0" err="1">
                <a:latin typeface="+mn-ea"/>
              </a:rPr>
              <a:t>면허명</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a:p>
            <a:pPr>
              <a:lnSpc>
                <a:spcPct val="200000"/>
              </a:lnSpc>
            </a:pPr>
            <a:r>
              <a:rPr lang="en-US" altLang="ko-KR" sz="700" dirty="0">
                <a:latin typeface="+mn-ea"/>
              </a:rPr>
              <a:t>2025-11-25</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2025</a:t>
            </a:r>
          </a:p>
        </p:txBody>
      </p:sp>
      <p:grpSp>
        <p:nvGrpSpPr>
          <p:cNvPr id="172" name="그룹 171"/>
          <p:cNvGrpSpPr/>
          <p:nvPr/>
        </p:nvGrpSpPr>
        <p:grpSpPr>
          <a:xfrm>
            <a:off x="720139" y="3401345"/>
            <a:ext cx="2630093" cy="1503180"/>
            <a:chOff x="701175" y="1835481"/>
            <a:chExt cx="2630093" cy="150318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4220681"/>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1962636"/>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a:off x="705041" y="1953534"/>
            <a:ext cx="2652743" cy="1076517"/>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51818"/>
            <a:ext cx="2475203" cy="969496"/>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latin typeface="맑은 고딕" panose="020B0503020000020004" pitchFamily="50" charset="-127"/>
              </a:rPr>
              <a:t>상기 시공능력 </a:t>
            </a:r>
            <a:r>
              <a:rPr lang="ko-KR" altLang="en-US" sz="700" dirty="0" err="1">
                <a:latin typeface="맑은 고딕" panose="020B0503020000020004" pitchFamily="50" charset="-127"/>
              </a:rPr>
              <a:t>평가액은</a:t>
            </a:r>
            <a:r>
              <a:rPr lang="ko-KR" altLang="en-US" sz="700" dirty="0">
                <a:latin typeface="맑은 고딕" panose="020B0503020000020004" pitchFamily="50" charset="-127"/>
              </a:rPr>
              <a:t> </a:t>
            </a:r>
            <a:r>
              <a:rPr lang="en-US" altLang="ko-KR" sz="700" dirty="0">
                <a:latin typeface="맑은 고딕" panose="020B0503020000020004" pitchFamily="50" charset="-127"/>
              </a:rPr>
              <a:t>G2B(</a:t>
            </a:r>
            <a:r>
              <a:rPr lang="ko-KR" altLang="en-US" sz="700" dirty="0">
                <a:latin typeface="맑은 고딕" panose="020B0503020000020004" pitchFamily="50" charset="-127"/>
              </a:rPr>
              <a:t>나라장터</a:t>
            </a:r>
            <a:r>
              <a:rPr lang="en-US" altLang="ko-KR" sz="700" dirty="0">
                <a:latin typeface="맑은 고딕" panose="020B0503020000020004" pitchFamily="50" charset="-127"/>
              </a:rPr>
              <a:t>)</a:t>
            </a:r>
            <a:r>
              <a:rPr lang="ko-KR" altLang="en-US" sz="700" dirty="0">
                <a:latin typeface="맑은 고딕" panose="020B0503020000020004" pitchFamily="50" charset="-127"/>
              </a:rPr>
              <a:t>에서 제공하는 자료입니다</a:t>
            </a:r>
            <a:r>
              <a:rPr lang="en-US" altLang="ko-KR" sz="700" dirty="0">
                <a:latin typeface="맑은 고딕" panose="020B0503020000020004" pitchFamily="50" charset="-127"/>
              </a:rPr>
              <a:t>.</a:t>
            </a:r>
          </a:p>
          <a:p>
            <a:pPr marL="92075" indent="-92075">
              <a:buFont typeface="Arial" panose="020B0604020202020204" pitchFamily="34" charset="0"/>
              <a:buChar char="•"/>
            </a:pPr>
            <a:r>
              <a:rPr lang="ko-KR" altLang="en-US" sz="700" dirty="0">
                <a:latin typeface="맑은 고딕" panose="020B0503020000020004" pitchFamily="50" charset="-127"/>
              </a:rPr>
              <a:t>시공능력평가액이 틀릴 경우 먼저 </a:t>
            </a:r>
            <a:r>
              <a:rPr lang="en-US" altLang="ko-KR" sz="700" dirty="0">
                <a:latin typeface="맑은 고딕" panose="020B0503020000020004" pitchFamily="50" charset="-127"/>
              </a:rPr>
              <a:t>G2B(</a:t>
            </a:r>
            <a:r>
              <a:rPr lang="en-US" altLang="ko-KR" sz="700" dirty="0">
                <a:latin typeface="맑은 고딕" panose="020B0503020000020004" pitchFamily="50" charset="-127"/>
                <a:hlinkClick r:id="rId2"/>
              </a:rPr>
              <a:t>www.g2b.go.kr</a:t>
            </a:r>
            <a:r>
              <a:rPr lang="en-US" altLang="ko-KR" sz="700" dirty="0">
                <a:latin typeface="맑은 고딕" panose="020B0503020000020004" pitchFamily="50" charset="-127"/>
              </a:rPr>
              <a:t>)</a:t>
            </a:r>
            <a:r>
              <a:rPr lang="ko-KR" altLang="en-US" sz="700" dirty="0">
                <a:latin typeface="맑은 고딕" panose="020B0503020000020004" pitchFamily="50" charset="-127"/>
              </a:rPr>
              <a:t>에서 확인 후 수정 </a:t>
            </a:r>
            <a:r>
              <a:rPr lang="ko-KR" altLang="en-US" sz="700" dirty="0">
                <a:solidFill>
                  <a:srgbClr val="000000"/>
                </a:solidFill>
                <a:latin typeface="Consolas" panose="020B0609020204030204" pitchFamily="49" charset="0"/>
              </a:rPr>
              <a:t>☞</a:t>
            </a:r>
            <a:r>
              <a:rPr lang="ko-KR" altLang="en-US" sz="700" dirty="0">
                <a:latin typeface="맑은 고딕" panose="020B0503020000020004" pitchFamily="50" charset="-127"/>
              </a:rPr>
              <a:t> 방위사업청은 익일 반영 </a:t>
            </a:r>
            <a:r>
              <a:rPr lang="ko-KR" altLang="en-US" sz="700" dirty="0" err="1">
                <a:solidFill>
                  <a:schemeClr val="accent5">
                    <a:lumMod val="75000"/>
                  </a:schemeClr>
                </a:solidFill>
                <a:latin typeface="맑은 고딕" panose="020B0503020000020004" pitchFamily="50" charset="-127"/>
              </a:rPr>
              <a:t>나라장터바로가기</a:t>
            </a:r>
            <a:endParaRPr lang="en-US" altLang="ko-KR" sz="700" dirty="0">
              <a:solidFill>
                <a:schemeClr val="accent5">
                  <a:lumMod val="75000"/>
                </a:schemeClr>
              </a:solidFill>
              <a:latin typeface="맑은 고딕" panose="020B0503020000020004" pitchFamily="50" charset="-127"/>
            </a:endParaRPr>
          </a:p>
          <a:p>
            <a:pPr marL="92075" indent="-92075">
              <a:buFont typeface="Arial" panose="020B0604020202020204" pitchFamily="34" charset="0"/>
              <a:buChar char="•"/>
            </a:pPr>
            <a:r>
              <a:rPr lang="en-US" altLang="ko-KR" sz="700" dirty="0">
                <a:solidFill>
                  <a:srgbClr val="000000"/>
                </a:solidFill>
                <a:latin typeface="+mn-ea"/>
              </a:rPr>
              <a:t>G2B(</a:t>
            </a:r>
            <a:r>
              <a:rPr lang="ko-KR" altLang="en-US" sz="700" dirty="0">
                <a:solidFill>
                  <a:srgbClr val="000000"/>
                </a:solidFill>
                <a:latin typeface="+mn-ea"/>
              </a:rPr>
              <a:t>나라장터</a:t>
            </a:r>
            <a:r>
              <a:rPr lang="en-US" altLang="ko-KR" sz="700" dirty="0">
                <a:solidFill>
                  <a:srgbClr val="000000"/>
                </a:solidFill>
                <a:latin typeface="+mn-ea"/>
              </a:rPr>
              <a:t>)</a:t>
            </a:r>
            <a:r>
              <a:rPr lang="ko-KR" altLang="en-US" sz="700" dirty="0">
                <a:solidFill>
                  <a:srgbClr val="000000"/>
                </a:solidFill>
                <a:latin typeface="+mn-ea"/>
              </a:rPr>
              <a:t>와 방위사업청이 틀릴 경우 </a:t>
            </a:r>
            <a:r>
              <a:rPr lang="ko-KR" altLang="en-US" sz="700" dirty="0" err="1">
                <a:solidFill>
                  <a:srgbClr val="000000"/>
                </a:solidFill>
                <a:latin typeface="+mn-ea"/>
              </a:rPr>
              <a:t>방위사업청</a:t>
            </a:r>
            <a:r>
              <a:rPr lang="en-US" altLang="ko-KR" sz="700" dirty="0">
                <a:solidFill>
                  <a:srgbClr val="000000"/>
                </a:solidFill>
                <a:latin typeface="+mn-ea"/>
              </a:rPr>
              <a:t>(1577-1118(①))</a:t>
            </a:r>
            <a:r>
              <a:rPr lang="ko-KR" altLang="en-US" sz="700" dirty="0">
                <a:solidFill>
                  <a:srgbClr val="000000"/>
                </a:solidFill>
                <a:latin typeface="+mn-ea"/>
              </a:rPr>
              <a:t>으로 연락 해 주시기 바랍니다</a:t>
            </a:r>
            <a:r>
              <a:rPr lang="en-US" altLang="ko-KR" sz="700" dirty="0">
                <a:solidFill>
                  <a:srgbClr val="000000"/>
                </a:solidFill>
                <a:latin typeface="+mn-ea"/>
              </a:rPr>
              <a:t>.</a:t>
            </a:r>
            <a:endParaRPr lang="en-US" altLang="ko-KR" sz="700" dirty="0">
              <a:latin typeface="+mn-ea"/>
            </a:endParaRPr>
          </a:p>
          <a:p>
            <a:pPr marL="92075" indent="-92075">
              <a:buFont typeface="Arial" panose="020B0604020202020204" pitchFamily="34" charset="0"/>
              <a:buChar char="•"/>
            </a:pPr>
            <a:endParaRPr lang="en-US" altLang="ko-KR" sz="700" dirty="0">
              <a:latin typeface="+mn-ea"/>
            </a:endParaRPr>
          </a:p>
        </p:txBody>
      </p:sp>
      <p:sp>
        <p:nvSpPr>
          <p:cNvPr id="111" name="타원 110"/>
          <p:cNvSpPr/>
          <p:nvPr/>
        </p:nvSpPr>
        <p:spPr>
          <a:xfrm>
            <a:off x="789853" y="2042167"/>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90665"/>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5" name="직사각형 114"/>
          <p:cNvSpPr/>
          <p:nvPr/>
        </p:nvSpPr>
        <p:spPr>
          <a:xfrm>
            <a:off x="3835468" y="2382591"/>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22531" y="2382590"/>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공종명</a:t>
            </a:r>
            <a:r>
              <a:rPr lang="en-US" altLang="ko-KR" sz="700" dirty="0">
                <a:latin typeface="+mn-ea"/>
              </a:rPr>
              <a:t>/</a:t>
            </a:r>
            <a:r>
              <a:rPr lang="ko-KR" altLang="en-US" sz="700" dirty="0" err="1">
                <a:latin typeface="+mn-ea"/>
              </a:rPr>
              <a:t>업종코드</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행정처분기관구분</a:t>
            </a:r>
            <a:endParaRPr lang="en-US" altLang="ko-KR" sz="700" dirty="0">
              <a:latin typeface="+mn-ea"/>
            </a:endParaRPr>
          </a:p>
          <a:p>
            <a:pPr>
              <a:lnSpc>
                <a:spcPct val="200000"/>
              </a:lnSpc>
            </a:pPr>
            <a:r>
              <a:rPr lang="ko-KR" altLang="en-US" sz="700" dirty="0">
                <a:latin typeface="+mn-ea"/>
              </a:rPr>
              <a:t>등록일자</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기준년도</a:t>
            </a:r>
            <a:endParaRPr lang="en-US" altLang="ko-KR"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4679380" y="2382590"/>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0000</a:t>
            </a:r>
          </a:p>
          <a:p>
            <a:pPr>
              <a:lnSpc>
                <a:spcPct val="200000"/>
              </a:lnSpc>
            </a:pPr>
            <a:r>
              <a:rPr lang="ko-KR" altLang="en-US" sz="700" dirty="0" err="1">
                <a:latin typeface="+mn-ea"/>
              </a:rPr>
              <a:t>면허명</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a:p>
            <a:pPr>
              <a:lnSpc>
                <a:spcPct val="200000"/>
              </a:lnSpc>
            </a:pPr>
            <a:r>
              <a:rPr lang="en-US" altLang="ko-KR" sz="700" dirty="0">
                <a:latin typeface="+mn-ea"/>
              </a:rPr>
              <a:t>2025-11-25</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2025</a:t>
            </a:r>
          </a:p>
        </p:txBody>
      </p:sp>
      <p:grpSp>
        <p:nvGrpSpPr>
          <p:cNvPr id="118" name="그룹 117"/>
          <p:cNvGrpSpPr/>
          <p:nvPr/>
        </p:nvGrpSpPr>
        <p:grpSpPr>
          <a:xfrm>
            <a:off x="3833375" y="2382590"/>
            <a:ext cx="2630093" cy="1503180"/>
            <a:chOff x="701175" y="1835481"/>
            <a:chExt cx="2630093" cy="1503180"/>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모서리가 둥근 직사각형 127"/>
          <p:cNvSpPr/>
          <p:nvPr/>
        </p:nvSpPr>
        <p:spPr>
          <a:xfrm rot="5400000">
            <a:off x="2662242" y="25541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14807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18369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1620371"/>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1620371"/>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1620371"/>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공종</a:t>
            </a:r>
            <a:r>
              <a:rPr lang="ko-KR" altLang="en-US" sz="700" b="1" dirty="0">
                <a:latin typeface="+mn-ea"/>
              </a:rPr>
              <a:t> 및 면허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1620371"/>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1836978"/>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1582248"/>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87" name="직사각형 8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spTree>
    <p:extLst>
      <p:ext uri="{BB962C8B-B14F-4D97-AF65-F5344CB8AC3E}">
        <p14:creationId xmlns:p14="http://schemas.microsoft.com/office/powerpoint/2010/main" val="3565631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a:ln>
            <a:noFill/>
          </a:ln>
        </p:spPr>
        <p:txBody>
          <a:bodyPr/>
          <a:lstStyle/>
          <a:p>
            <a:pPr marL="228600" indent="-228600">
              <a:buFont typeface="+mj-lt"/>
              <a:buAutoNum type="arabicPeriod"/>
            </a:pPr>
            <a:r>
              <a:rPr lang="ko-KR" altLang="en-US" dirty="0" smtClean="0"/>
              <a:t>보증금납부방법 선택</a:t>
            </a:r>
            <a:r>
              <a:rPr lang="en-US" altLang="ko-KR" dirty="0"/>
              <a:t/>
            </a:r>
            <a:br>
              <a:rPr lang="en-US" altLang="ko-KR" dirty="0"/>
            </a:br>
            <a:r>
              <a:rPr lang="en-US" altLang="ko-KR" dirty="0" smtClean="0"/>
              <a:t>[1-1]</a:t>
            </a:r>
            <a:r>
              <a:rPr lang="ko-KR" altLang="en-US" dirty="0" smtClean="0"/>
              <a:t>보증금납부방법을 </a:t>
            </a:r>
            <a:r>
              <a:rPr lang="en-US" altLang="ko-KR" dirty="0"/>
              <a:t>‘</a:t>
            </a:r>
            <a:r>
              <a:rPr lang="ko-KR" altLang="en-US" dirty="0" err="1"/>
              <a:t>보증금면제</a:t>
            </a:r>
            <a:r>
              <a:rPr lang="en-US" altLang="ko-KR" dirty="0"/>
              <a:t>’</a:t>
            </a:r>
            <a:r>
              <a:rPr lang="ko-KR" altLang="en-US" dirty="0"/>
              <a:t>로 선택할 경우 보증금면제사유가 활성화되고 선택 </a:t>
            </a:r>
            <a:r>
              <a:rPr lang="ko-KR" altLang="en-US" dirty="0" smtClean="0"/>
              <a:t>가능</a:t>
            </a:r>
            <a:r>
              <a:rPr lang="en-US" altLang="ko-KR" dirty="0" smtClean="0"/>
              <a:t/>
            </a:r>
            <a:br>
              <a:rPr lang="en-US" altLang="ko-KR" dirty="0" smtClean="0"/>
            </a:br>
            <a:r>
              <a:rPr lang="en-US" altLang="ko-KR" dirty="0" smtClean="0"/>
              <a:t>[1-2]</a:t>
            </a:r>
            <a:r>
              <a:rPr lang="en-US" altLang="ko-KR" dirty="0">
                <a:solidFill>
                  <a:srgbClr val="000000"/>
                </a:solidFill>
                <a:latin typeface="맑은 고딕" panose="020B0503020000020004" pitchFamily="50" charset="-127"/>
              </a:rPr>
              <a:t> </a:t>
            </a:r>
            <a:r>
              <a:rPr lang="en-US" altLang="ko-KR" dirty="0" smtClean="0">
                <a:solidFill>
                  <a:srgbClr val="000000"/>
                </a:solidFill>
                <a:latin typeface="맑은 고딕" panose="020B0503020000020004" pitchFamily="50" charset="-127"/>
              </a:rPr>
              <a:t>MUI-BD-04-P09</a:t>
            </a:r>
            <a:endParaRPr lang="en-US" altLang="ko-KR" dirty="0" smtClean="0"/>
          </a:p>
          <a:p>
            <a:pPr marL="228600" indent="-228600">
              <a:buFont typeface="+mj-lt"/>
              <a:buAutoNum type="arabicPeriod"/>
            </a:pPr>
            <a:r>
              <a:rPr lang="ko-KR" altLang="en-US" dirty="0"/>
              <a:t>조회된 </a:t>
            </a:r>
            <a:r>
              <a:rPr lang="ko-KR" altLang="en-US" dirty="0" err="1"/>
              <a:t>증권번호가</a:t>
            </a:r>
            <a:r>
              <a:rPr lang="ko-KR" altLang="en-US" dirty="0"/>
              <a:t> </a:t>
            </a:r>
            <a:r>
              <a:rPr lang="en-US" altLang="ko-KR" dirty="0"/>
              <a:t>1</a:t>
            </a:r>
            <a:r>
              <a:rPr lang="ko-KR" altLang="en-US" dirty="0"/>
              <a:t>개인 </a:t>
            </a:r>
            <a:r>
              <a:rPr lang="ko-KR" altLang="en-US" dirty="0" smtClean="0"/>
              <a:t>경우 </a:t>
            </a:r>
            <a:r>
              <a:rPr lang="ko-KR" altLang="en-US" dirty="0" err="1" smtClean="0"/>
              <a:t>증권번호</a:t>
            </a:r>
            <a:r>
              <a:rPr lang="ko-KR" altLang="en-US" dirty="0" smtClean="0"/>
              <a:t> </a:t>
            </a:r>
            <a:r>
              <a:rPr lang="ko-KR" altLang="en-US" dirty="0"/>
              <a:t>자동 입력</a:t>
            </a:r>
            <a:r>
              <a:rPr lang="en-US" altLang="ko-KR" dirty="0"/>
              <a:t>, </a:t>
            </a:r>
            <a:r>
              <a:rPr lang="en-US" altLang="ko-KR" dirty="0" smtClean="0"/>
              <a:t/>
            </a:r>
            <a:br>
              <a:rPr lang="en-US" altLang="ko-KR" dirty="0" smtClean="0"/>
            </a:br>
            <a:r>
              <a:rPr lang="en-US" altLang="ko-KR" dirty="0" smtClean="0"/>
              <a:t>- </a:t>
            </a:r>
            <a:r>
              <a:rPr lang="ko-KR" altLang="en-US" dirty="0"/>
              <a:t>조회된 </a:t>
            </a:r>
            <a:r>
              <a:rPr lang="ko-KR" altLang="en-US" dirty="0" err="1"/>
              <a:t>증권번호가</a:t>
            </a:r>
            <a:r>
              <a:rPr lang="ko-KR" altLang="en-US" dirty="0"/>
              <a:t> </a:t>
            </a:r>
            <a:r>
              <a:rPr lang="en-US" altLang="ko-KR" dirty="0"/>
              <a:t>1</a:t>
            </a:r>
            <a:r>
              <a:rPr lang="ko-KR" altLang="en-US" dirty="0"/>
              <a:t>개 이상인 경우 </a:t>
            </a:r>
            <a:r>
              <a:rPr lang="ko-KR" altLang="en-US" dirty="0" err="1"/>
              <a:t>개찰일자</a:t>
            </a:r>
            <a:r>
              <a:rPr lang="en-US" altLang="ko-KR" dirty="0"/>
              <a:t>/</a:t>
            </a:r>
            <a:r>
              <a:rPr lang="ko-KR" altLang="en-US" dirty="0" err="1"/>
              <a:t>입찰일자</a:t>
            </a:r>
            <a:r>
              <a:rPr lang="en-US" altLang="ko-KR" dirty="0"/>
              <a:t>, </a:t>
            </a:r>
            <a:r>
              <a:rPr lang="ko-KR" altLang="en-US" dirty="0"/>
              <a:t>보증금액</a:t>
            </a:r>
            <a:r>
              <a:rPr lang="en-US" altLang="ko-KR" dirty="0"/>
              <a:t>, </a:t>
            </a:r>
            <a:r>
              <a:rPr lang="ko-KR" altLang="en-US" dirty="0"/>
              <a:t>계약자</a:t>
            </a:r>
            <a:r>
              <a:rPr lang="en-US" altLang="ko-KR" dirty="0"/>
              <a:t>, </a:t>
            </a:r>
            <a:r>
              <a:rPr lang="ko-KR" altLang="en-US" dirty="0"/>
              <a:t>발행자 보이기</a:t>
            </a:r>
            <a:r>
              <a:rPr lang="en-US" altLang="ko-KR" dirty="0" smtClean="0"/>
              <a:t/>
            </a:r>
            <a:br>
              <a:rPr lang="en-US" altLang="ko-KR" dirty="0" smtClean="0"/>
            </a:br>
            <a:r>
              <a:rPr lang="en-US" altLang="ko-KR" dirty="0" smtClean="0"/>
              <a:t>-  2</a:t>
            </a:r>
            <a:r>
              <a:rPr lang="ko-KR" altLang="en-US" dirty="0"/>
              <a:t>개 이상인 경우 </a:t>
            </a:r>
            <a:r>
              <a:rPr lang="ko-KR" altLang="en-US" dirty="0" err="1"/>
              <a:t>셀렉트박스로</a:t>
            </a:r>
            <a:r>
              <a:rPr lang="ko-KR" altLang="en-US" dirty="0"/>
              <a:t> </a:t>
            </a:r>
            <a:r>
              <a:rPr lang="ko-KR" altLang="en-US" dirty="0" err="1"/>
              <a:t>증권번호</a:t>
            </a:r>
            <a:r>
              <a:rPr lang="ko-KR" altLang="en-US" dirty="0"/>
              <a:t> </a:t>
            </a:r>
            <a:r>
              <a:rPr lang="ko-KR" altLang="en-US" dirty="0" smtClean="0"/>
              <a:t>선택</a:t>
            </a:r>
            <a:r>
              <a:rPr lang="en-US" altLang="ko-KR" dirty="0"/>
              <a:t/>
            </a:r>
            <a:br>
              <a:rPr lang="en-US" altLang="ko-KR" dirty="0"/>
            </a:br>
            <a:r>
              <a:rPr lang="en-US" altLang="ko-KR" dirty="0" smtClean="0"/>
              <a:t>- </a:t>
            </a:r>
            <a:r>
              <a:rPr lang="ko-KR" altLang="en-US" dirty="0" smtClean="0"/>
              <a:t>없는 </a:t>
            </a:r>
            <a:r>
              <a:rPr lang="ko-KR" altLang="en-US" dirty="0"/>
              <a:t>경우 직접 </a:t>
            </a:r>
            <a:r>
              <a:rPr lang="ko-KR" altLang="en-US" dirty="0" smtClean="0"/>
              <a:t>입력</a:t>
            </a:r>
            <a:endParaRPr lang="en-US" altLang="ko-KR" dirty="0"/>
          </a:p>
          <a:p>
            <a:pPr marL="228600" indent="-228600">
              <a:buFont typeface="+mj-lt"/>
              <a:buAutoNum type="arabicPeriod"/>
            </a:pPr>
            <a:r>
              <a:rPr lang="ko-KR" altLang="en-US" dirty="0" smtClean="0"/>
              <a:t>입찰보증금을 입력하면 </a:t>
            </a:r>
            <a:r>
              <a:rPr lang="en-US" altLang="ko-KR" dirty="0" smtClean="0"/>
              <a:t>[2-1]</a:t>
            </a:r>
            <a:r>
              <a:rPr lang="ko-KR" altLang="en-US" dirty="0" err="1" smtClean="0"/>
              <a:t>투찰</a:t>
            </a:r>
            <a:r>
              <a:rPr lang="ko-KR" altLang="en-US" dirty="0" smtClean="0"/>
              <a:t> </a:t>
            </a:r>
            <a:r>
              <a:rPr lang="ko-KR" altLang="en-US" dirty="0" err="1" smtClean="0"/>
              <a:t>가능금액이</a:t>
            </a:r>
            <a:r>
              <a:rPr lang="ko-KR" altLang="en-US" dirty="0" smtClean="0"/>
              <a:t> 계산 됨</a:t>
            </a:r>
            <a:endParaRPr lang="en-US" altLang="ko-KR" dirty="0"/>
          </a:p>
          <a:p>
            <a:pPr marL="228600" indent="-228600">
              <a:buFont typeface="+mj-lt"/>
              <a:buAutoNum type="arabicPeriod"/>
            </a:pPr>
            <a:endParaRPr lang="en-US" altLang="ko-KR" dirty="0" smtClean="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err="1">
                <a:latin typeface="+mn-ea"/>
              </a:rPr>
              <a:t>입찰진행</a:t>
            </a:r>
            <a:r>
              <a:rPr lang="ko-KR" altLang="en-US" sz="700" dirty="0">
                <a:latin typeface="+mn-ea"/>
              </a:rPr>
              <a:t> 상세</a:t>
            </a:r>
            <a:r>
              <a:rPr lang="en-US" altLang="ko-KR" sz="700" dirty="0" smtClean="0"/>
              <a:t>-</a:t>
            </a:r>
            <a:r>
              <a:rPr lang="ko-KR" altLang="en-US" sz="700" dirty="0" err="1" smtClean="0"/>
              <a:t>입찰참가신청조회입찰보증금</a:t>
            </a:r>
            <a:r>
              <a:rPr lang="ko-KR" altLang="en-US" sz="700" dirty="0" smtClean="0"/>
              <a:t> </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a:t>
            </a:r>
            <a:r>
              <a:rPr lang="ko-KR" altLang="en-US" dirty="0">
                <a:latin typeface="+mn-ea"/>
              </a:rPr>
              <a:t>입찰보증금 입력</a:t>
            </a:r>
            <a:r>
              <a:rPr lang="ko-KR" altLang="en-US" dirty="0"/>
              <a:t> </a:t>
            </a:r>
            <a:r>
              <a:rPr lang="ko-KR" altLang="en-US" dirty="0" smtClean="0"/>
              <a:t>화면 </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sz="800" dirty="0"/>
              <a:t>홈 </a:t>
            </a:r>
            <a:r>
              <a:rPr lang="en-US" altLang="ko-KR" sz="800" dirty="0"/>
              <a:t>&gt; </a:t>
            </a:r>
            <a:r>
              <a:rPr lang="ko-KR" altLang="en-US" sz="800" dirty="0">
                <a:latin typeface="+mn-ea"/>
              </a:rPr>
              <a:t>입찰 진행 상세</a:t>
            </a:r>
            <a:r>
              <a:rPr lang="en-US" altLang="ko-KR" sz="800" dirty="0">
                <a:latin typeface="+mn-ea"/>
              </a:rPr>
              <a:t>&gt; </a:t>
            </a:r>
            <a:r>
              <a:rPr lang="ko-KR" altLang="en-US" sz="800" dirty="0">
                <a:latin typeface="+mn-ea"/>
              </a:rPr>
              <a:t>입찰참가신청서 </a:t>
            </a:r>
            <a:r>
              <a:rPr lang="en-US" altLang="ko-KR" sz="800" dirty="0">
                <a:latin typeface="+mn-ea"/>
              </a:rPr>
              <a:t>&gt;</a:t>
            </a:r>
            <a:r>
              <a:rPr lang="ko-KR" altLang="en-US" sz="800" dirty="0">
                <a:latin typeface="+mn-ea"/>
              </a:rPr>
              <a:t>신청서 입찰보증금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2305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06448"/>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88487" y="1606448"/>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입찰보증금</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956375" y="1606448"/>
            <a:ext cx="655640"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624138" y="1606448"/>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88487" y="1823055"/>
            <a:ext cx="555764"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68325"/>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4014504"/>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a:t>
            </a:r>
          </a:p>
        </p:txBody>
      </p:sp>
      <p:sp>
        <p:nvSpPr>
          <p:cNvPr id="169" name="직사각형 168"/>
          <p:cNvSpPr/>
          <p:nvPr/>
        </p:nvSpPr>
        <p:spPr>
          <a:xfrm>
            <a:off x="722232" y="4321990"/>
            <a:ext cx="792000" cy="13113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4321989"/>
            <a:ext cx="725552" cy="1292662"/>
          </a:xfrm>
          <a:prstGeom prst="rect">
            <a:avLst/>
          </a:prstGeom>
          <a:noFill/>
        </p:spPr>
        <p:txBody>
          <a:bodyPr wrap="square" lIns="0" tIns="0" rIns="0" bIns="0" rtlCol="0">
            <a:spAutoFit/>
          </a:bodyPr>
          <a:lstStyle/>
          <a:p>
            <a:pPr>
              <a:lnSpc>
                <a:spcPct val="200000"/>
              </a:lnSpc>
            </a:pPr>
            <a:r>
              <a:rPr lang="ko-KR" altLang="en-US" sz="700" dirty="0">
                <a:latin typeface="+mn-ea"/>
              </a:rPr>
              <a:t>보증금 납부방법</a:t>
            </a:r>
            <a:endParaRPr lang="en-US" altLang="ko-KR" sz="700" dirty="0">
              <a:latin typeface="+mn-ea"/>
            </a:endParaRPr>
          </a:p>
          <a:p>
            <a:pPr>
              <a:lnSpc>
                <a:spcPct val="200000"/>
              </a:lnSpc>
            </a:pPr>
            <a:r>
              <a:rPr lang="ko-KR" altLang="en-US" sz="700" dirty="0" err="1">
                <a:latin typeface="+mn-ea"/>
              </a:rPr>
              <a:t>증권번호</a:t>
            </a:r>
            <a:endParaRPr lang="en-US" altLang="ko-KR" sz="700" dirty="0">
              <a:latin typeface="+mn-ea"/>
            </a:endParaRPr>
          </a:p>
          <a:p>
            <a:pPr>
              <a:lnSpc>
                <a:spcPct val="200000"/>
              </a:lnSpc>
            </a:pPr>
            <a:r>
              <a:rPr lang="ko-KR" altLang="en-US" sz="700" dirty="0" err="1">
                <a:latin typeface="+mn-ea"/>
              </a:rPr>
              <a:t>개찰일자</a:t>
            </a:r>
            <a:endParaRPr lang="en-US" altLang="ko-KR" sz="700" dirty="0">
              <a:latin typeface="+mn-ea"/>
            </a:endParaRPr>
          </a:p>
          <a:p>
            <a:pPr>
              <a:lnSpc>
                <a:spcPct val="200000"/>
              </a:lnSpc>
            </a:pPr>
            <a:r>
              <a:rPr lang="ko-KR" altLang="en-US" sz="700" dirty="0">
                <a:latin typeface="+mn-ea"/>
              </a:rPr>
              <a:t>보증금액</a:t>
            </a:r>
            <a:endParaRPr lang="en-US" altLang="ko-KR" sz="700" dirty="0">
              <a:latin typeface="+mn-ea"/>
            </a:endParaRPr>
          </a:p>
          <a:p>
            <a:pPr>
              <a:lnSpc>
                <a:spcPct val="200000"/>
              </a:lnSpc>
            </a:pPr>
            <a:r>
              <a:rPr lang="ko-KR" altLang="en-US" sz="700" dirty="0">
                <a:latin typeface="+mn-ea"/>
              </a:rPr>
              <a:t>계약자</a:t>
            </a:r>
            <a:endParaRPr lang="en-US" altLang="ko-KR" sz="700" dirty="0">
              <a:latin typeface="+mn-ea"/>
            </a:endParaRPr>
          </a:p>
          <a:p>
            <a:pPr>
              <a:lnSpc>
                <a:spcPct val="200000"/>
              </a:lnSpc>
            </a:pPr>
            <a:r>
              <a:rPr lang="ko-KR" altLang="en-US" sz="700" dirty="0">
                <a:latin typeface="+mn-ea"/>
              </a:rPr>
              <a:t>발행자</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4321989"/>
            <a:ext cx="1784088" cy="1292662"/>
          </a:xfrm>
          <a:prstGeom prst="rect">
            <a:avLst/>
          </a:prstGeom>
          <a:noFill/>
        </p:spPr>
        <p:txBody>
          <a:bodyPr wrap="square" lIns="0" tIns="0" rIns="0" bIns="0" rtlCol="0">
            <a:spAutoFit/>
          </a:bodyPr>
          <a:lstStyle/>
          <a:p>
            <a:pPr>
              <a:lnSpc>
                <a:spcPct val="200000"/>
              </a:lnSpc>
            </a:pPr>
            <a:r>
              <a:rPr lang="ko-KR" altLang="en-US" sz="700" dirty="0" smtClean="0">
                <a:latin typeface="+mn-ea"/>
              </a:rPr>
              <a:t>계좌이체</a:t>
            </a:r>
            <a:endParaRPr lang="en-US" altLang="ko-KR" sz="700" dirty="0" smtClean="0">
              <a:latin typeface="+mn-ea"/>
            </a:endParaRPr>
          </a:p>
          <a:p>
            <a:pPr>
              <a:lnSpc>
                <a:spcPct val="200000"/>
              </a:lnSpc>
            </a:pPr>
            <a:r>
              <a:rPr lang="en-US" altLang="ko-KR" sz="700" dirty="0" smtClean="0">
                <a:latin typeface="+mn-ea"/>
              </a:rPr>
              <a:t>812-572-27853</a:t>
            </a:r>
          </a:p>
          <a:p>
            <a:pPr>
              <a:lnSpc>
                <a:spcPct val="200000"/>
              </a:lnSpc>
            </a:pPr>
            <a:r>
              <a:rPr lang="en-US" altLang="ko-KR" sz="700" dirty="0" smtClean="0">
                <a:latin typeface="+mn-ea"/>
              </a:rPr>
              <a:t>2025-11-25 13:00</a:t>
            </a:r>
          </a:p>
          <a:p>
            <a:pPr algn="r">
              <a:lnSpc>
                <a:spcPct val="200000"/>
              </a:lnSpc>
            </a:pPr>
            <a:r>
              <a:rPr lang="en-US" altLang="ko-KR" sz="700" dirty="0" smtClean="0">
                <a:latin typeface="+mn-ea"/>
              </a:rPr>
              <a:t>000,000,000,000 </a:t>
            </a:r>
            <a:r>
              <a:rPr lang="ko-KR" altLang="en-US" sz="700" dirty="0" smtClean="0">
                <a:latin typeface="+mn-ea"/>
              </a:rPr>
              <a:t>원</a:t>
            </a:r>
            <a:endParaRPr lang="en-US" altLang="ko-KR" sz="700" dirty="0" smtClean="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ko-KR" altLang="en-US" sz="700" dirty="0" err="1" smtClean="0">
                <a:latin typeface="+mn-ea"/>
              </a:rPr>
              <a:t>기관명</a:t>
            </a:r>
            <a:endParaRPr lang="en-US" altLang="ko-KR" sz="700" dirty="0">
              <a:latin typeface="+mn-ea"/>
            </a:endParaRPr>
          </a:p>
        </p:txBody>
      </p:sp>
      <p:grpSp>
        <p:nvGrpSpPr>
          <p:cNvPr id="172" name="그룹 171"/>
          <p:cNvGrpSpPr/>
          <p:nvPr/>
        </p:nvGrpSpPr>
        <p:grpSpPr>
          <a:xfrm>
            <a:off x="720139" y="4321989"/>
            <a:ext cx="2630093" cy="1288440"/>
            <a:chOff x="701175" y="1835481"/>
            <a:chExt cx="2630093" cy="128844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9" name="모서리가 둥근 직사각형 108"/>
          <p:cNvSpPr/>
          <p:nvPr/>
        </p:nvSpPr>
        <p:spPr>
          <a:xfrm>
            <a:off x="705041" y="1939611"/>
            <a:ext cx="2652743" cy="2026741"/>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37895"/>
            <a:ext cx="2475203" cy="193899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r>
              <a:rPr lang="ko-KR" altLang="en-US" sz="700" dirty="0">
                <a:latin typeface="맑은 고딕" panose="020B0503020000020004" pitchFamily="50" charset="-127"/>
              </a:rPr>
              <a:t>보증금면제사유는 발주기관으로 문의하시기 바랍니다。</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전자보증서를 신청하신 경우</a:t>
            </a:r>
            <a:r>
              <a:rPr lang="en-US" altLang="ko-KR" sz="700" dirty="0">
                <a:latin typeface="맑은 고딕" panose="020B0503020000020004" pitchFamily="50" charset="-127"/>
              </a:rPr>
              <a:t>, </a:t>
            </a:r>
            <a:r>
              <a:rPr lang="ko-KR" altLang="en-US" sz="700" dirty="0">
                <a:latin typeface="맑은 고딕" panose="020B0503020000020004" pitchFamily="50" charset="-127"/>
              </a:rPr>
              <a:t>납부방법을 전자보증서로 선택하면 전자보증서가 자동으로 입력됩니다</a:t>
            </a:r>
            <a:r>
              <a:rPr lang="en-US" altLang="ko-KR" sz="700" dirty="0">
                <a:latin typeface="맑은 고딕" panose="020B0503020000020004" pitchFamily="50" charset="-127"/>
              </a:rPr>
              <a:t>.</a:t>
            </a:r>
          </a:p>
          <a:p>
            <a:r>
              <a:rPr lang="en-US" altLang="ko-KR" sz="700" dirty="0">
                <a:latin typeface="맑은 고딕" panose="020B0503020000020004" pitchFamily="50" charset="-127"/>
              </a:rPr>
              <a:t>(</a:t>
            </a:r>
            <a:r>
              <a:rPr lang="ko-KR" altLang="en-US" sz="700" dirty="0">
                <a:latin typeface="맑은 고딕" panose="020B0503020000020004" pitchFamily="50" charset="-127"/>
              </a:rPr>
              <a:t>여러 개의 보증서를 신청하신 경우 그 중 한 개를 선택하셔야 합니다</a:t>
            </a:r>
            <a:r>
              <a:rPr lang="en-US" altLang="ko-KR" sz="700" dirty="0">
                <a:latin typeface="맑은 고딕" panose="020B0503020000020004" pitchFamily="50" charset="-127"/>
              </a:rPr>
              <a:t>.)</a:t>
            </a:r>
          </a:p>
          <a:p>
            <a:r>
              <a:rPr lang="ko-KR" altLang="en-US" sz="700" dirty="0" err="1">
                <a:latin typeface="맑은 고딕" panose="020B0503020000020004" pitchFamily="50" charset="-127"/>
              </a:rPr>
              <a:t>전자보증서</a:t>
            </a:r>
            <a:r>
              <a:rPr lang="ko-KR" altLang="en-US" sz="700" dirty="0">
                <a:latin typeface="맑은 고딕" panose="020B0503020000020004" pitchFamily="50" charset="-127"/>
              </a:rPr>
              <a:t> 발급 이후</a:t>
            </a:r>
            <a:r>
              <a:rPr lang="en-US" altLang="ko-KR" sz="700" dirty="0">
                <a:latin typeface="맑은 고딕" panose="020B0503020000020004" pitchFamily="50" charset="-127"/>
              </a:rPr>
              <a:t>, </a:t>
            </a:r>
            <a:r>
              <a:rPr lang="ko-KR" altLang="en-US" sz="700" dirty="0">
                <a:latin typeface="맑은 고딕" panose="020B0503020000020004" pitchFamily="50" charset="-127"/>
              </a:rPr>
              <a:t>해당 </a:t>
            </a:r>
            <a:r>
              <a:rPr lang="ko-KR" altLang="en-US" sz="700" dirty="0" err="1">
                <a:latin typeface="맑은 고딕" panose="020B0503020000020004" pitchFamily="50" charset="-127"/>
              </a:rPr>
              <a:t>전자보증서</a:t>
            </a:r>
            <a:r>
              <a:rPr lang="ko-KR" altLang="en-US" sz="700" dirty="0">
                <a:latin typeface="맑은 고딕" panose="020B0503020000020004" pitchFamily="50" charset="-127"/>
              </a:rPr>
              <a:t> 정보에 대한 수신은 약 </a:t>
            </a:r>
            <a:r>
              <a:rPr lang="en-US" altLang="ko-KR" sz="700" dirty="0">
                <a:latin typeface="맑은 고딕" panose="020B0503020000020004" pitchFamily="50" charset="-127"/>
              </a:rPr>
              <a:t>15</a:t>
            </a:r>
            <a:r>
              <a:rPr lang="ko-KR" altLang="en-US" sz="700" dirty="0">
                <a:latin typeface="맑은 고딕" panose="020B0503020000020004" pitchFamily="50" charset="-127"/>
              </a:rPr>
              <a:t>분 정도 소요됩니다</a:t>
            </a:r>
            <a:r>
              <a:rPr lang="en-US" altLang="ko-KR" sz="700" dirty="0">
                <a:latin typeface="맑은 고딕" panose="020B0503020000020004" pitchFamily="50" charset="-127"/>
              </a:rPr>
              <a:t>.</a:t>
            </a:r>
          </a:p>
          <a:p>
            <a:r>
              <a:rPr lang="ko-KR" altLang="en-US" sz="700" dirty="0">
                <a:latin typeface="맑은 고딕" panose="020B0503020000020004" pitchFamily="50" charset="-127"/>
              </a:rPr>
              <a:t>전자보증서가 아닌 경우에는 보증금 납부방법을 보증보험으로 선택하시고 </a:t>
            </a:r>
            <a:r>
              <a:rPr lang="ko-KR" altLang="en-US" sz="700" dirty="0" err="1">
                <a:latin typeface="맑은 고딕" panose="020B0503020000020004" pitchFamily="50" charset="-127"/>
              </a:rPr>
              <a:t>증권번호와</a:t>
            </a:r>
            <a:r>
              <a:rPr lang="ko-KR" altLang="en-US" sz="700" dirty="0">
                <a:latin typeface="맑은 고딕" panose="020B0503020000020004" pitchFamily="50" charset="-127"/>
              </a:rPr>
              <a:t> 입찰보증급을 직접 입력하시면 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a:p>
            <a:pPr marL="92075" indent="-92075">
              <a:buFont typeface="Arial" panose="020B0604020202020204" pitchFamily="34" charset="0"/>
              <a:buChar char="•"/>
            </a:pPr>
            <a:endParaRPr lang="en-US" altLang="ko-KR" sz="700" dirty="0">
              <a:latin typeface="+mn-ea"/>
            </a:endParaRPr>
          </a:p>
          <a:p>
            <a:r>
              <a:rPr lang="ko-KR" altLang="en-US" sz="700" dirty="0" err="1">
                <a:latin typeface="+mn-ea"/>
              </a:rPr>
              <a:t>분담이행</a:t>
            </a:r>
            <a:r>
              <a:rPr lang="ko-KR" altLang="en-US" sz="700" dirty="0">
                <a:latin typeface="+mn-ea"/>
              </a:rPr>
              <a:t> 방식 입찰보증금 </a:t>
            </a:r>
            <a:r>
              <a:rPr lang="ko-KR" altLang="en-US" sz="700" dirty="0" err="1">
                <a:latin typeface="+mn-ea"/>
              </a:rPr>
              <a:t>입력방법</a:t>
            </a:r>
            <a:endParaRPr lang="en-US" altLang="ko-KR" sz="700" dirty="0">
              <a:latin typeface="+mn-ea"/>
            </a:endParaRPr>
          </a:p>
          <a:p>
            <a:r>
              <a:rPr lang="ko-KR" altLang="en-US" sz="700" dirty="0" err="1">
                <a:latin typeface="+mn-ea"/>
              </a:rPr>
              <a:t>업체명</a:t>
            </a:r>
            <a:r>
              <a:rPr lang="en-US" altLang="ko-KR" sz="700" dirty="0">
                <a:latin typeface="+mn-ea"/>
              </a:rPr>
              <a:t>, </a:t>
            </a:r>
            <a:r>
              <a:rPr lang="ko-KR" altLang="en-US" sz="700" dirty="0" err="1">
                <a:latin typeface="+mn-ea"/>
              </a:rPr>
              <a:t>분담비율</a:t>
            </a:r>
            <a:r>
              <a:rPr lang="en-US" altLang="ko-KR" sz="700" dirty="0">
                <a:latin typeface="+mn-ea"/>
              </a:rPr>
              <a:t>, </a:t>
            </a:r>
            <a:r>
              <a:rPr lang="ko-KR" altLang="en-US" sz="700" dirty="0">
                <a:latin typeface="+mn-ea"/>
              </a:rPr>
              <a:t>입찰보증금이 각각 아래와 같은 경우</a:t>
            </a:r>
            <a:endParaRPr lang="en-US" altLang="ko-KR" sz="700" dirty="0">
              <a:latin typeface="+mn-ea"/>
            </a:endParaRPr>
          </a:p>
          <a:p>
            <a:r>
              <a:rPr lang="en-US" altLang="ko-KR" sz="700" dirty="0">
                <a:solidFill>
                  <a:srgbClr val="000000"/>
                </a:solidFill>
                <a:latin typeface="+mn-ea"/>
              </a:rPr>
              <a:t>A</a:t>
            </a:r>
            <a:r>
              <a:rPr lang="ko-KR" altLang="en-US" sz="700" dirty="0">
                <a:solidFill>
                  <a:srgbClr val="000000"/>
                </a:solidFill>
                <a:latin typeface="+mn-ea"/>
              </a:rPr>
              <a:t>업체 </a:t>
            </a:r>
            <a:r>
              <a:rPr lang="en-US" altLang="ko-KR" sz="700" dirty="0">
                <a:solidFill>
                  <a:srgbClr val="000000"/>
                </a:solidFill>
                <a:latin typeface="+mn-ea"/>
              </a:rPr>
              <a:t>20%(1,000</a:t>
            </a:r>
            <a:r>
              <a:rPr lang="ko-KR" altLang="en-US" sz="700" dirty="0">
                <a:solidFill>
                  <a:srgbClr val="000000"/>
                </a:solidFill>
                <a:latin typeface="+mn-ea"/>
              </a:rPr>
              <a:t>원</a:t>
            </a:r>
            <a:r>
              <a:rPr lang="en-US" altLang="ko-KR" sz="700" dirty="0">
                <a:solidFill>
                  <a:srgbClr val="000000"/>
                </a:solidFill>
                <a:latin typeface="+mn-ea"/>
              </a:rPr>
              <a:t>), B</a:t>
            </a:r>
            <a:r>
              <a:rPr lang="ko-KR" altLang="en-US" sz="700" dirty="0">
                <a:solidFill>
                  <a:srgbClr val="000000"/>
                </a:solidFill>
                <a:latin typeface="+mn-ea"/>
              </a:rPr>
              <a:t>업체 </a:t>
            </a:r>
            <a:r>
              <a:rPr lang="en-US" altLang="ko-KR" sz="700" dirty="0">
                <a:solidFill>
                  <a:srgbClr val="000000"/>
                </a:solidFill>
                <a:latin typeface="+mn-ea"/>
              </a:rPr>
              <a:t>30%(1,500</a:t>
            </a:r>
            <a:r>
              <a:rPr lang="ko-KR" altLang="en-US" sz="700" dirty="0">
                <a:solidFill>
                  <a:srgbClr val="000000"/>
                </a:solidFill>
                <a:latin typeface="+mn-ea"/>
              </a:rPr>
              <a:t>원</a:t>
            </a:r>
            <a:r>
              <a:rPr lang="en-US" altLang="ko-KR" sz="700" dirty="0">
                <a:solidFill>
                  <a:srgbClr val="000000"/>
                </a:solidFill>
                <a:latin typeface="+mn-ea"/>
              </a:rPr>
              <a:t>), C</a:t>
            </a:r>
            <a:r>
              <a:rPr lang="ko-KR" altLang="en-US" sz="700" dirty="0">
                <a:solidFill>
                  <a:srgbClr val="000000"/>
                </a:solidFill>
                <a:latin typeface="+mn-ea"/>
              </a:rPr>
              <a:t>업체 </a:t>
            </a:r>
            <a:r>
              <a:rPr lang="en-US" altLang="ko-KR" sz="700" dirty="0">
                <a:solidFill>
                  <a:srgbClr val="000000"/>
                </a:solidFill>
                <a:latin typeface="+mn-ea"/>
              </a:rPr>
              <a:t>50%(2,500</a:t>
            </a:r>
            <a:r>
              <a:rPr lang="ko-KR" altLang="en-US" sz="700" dirty="0">
                <a:solidFill>
                  <a:srgbClr val="000000"/>
                </a:solidFill>
                <a:latin typeface="+mn-ea"/>
              </a:rPr>
              <a:t>원</a:t>
            </a:r>
            <a:r>
              <a:rPr lang="en-US" altLang="ko-KR" sz="700" dirty="0">
                <a:solidFill>
                  <a:srgbClr val="000000"/>
                </a:solidFill>
                <a:latin typeface="+mn-ea"/>
              </a:rPr>
              <a:t>)</a:t>
            </a:r>
            <a:r>
              <a:rPr lang="ko-KR" altLang="en-US" sz="700" dirty="0">
                <a:solidFill>
                  <a:srgbClr val="000000"/>
                </a:solidFill>
                <a:latin typeface="+mn-ea"/>
              </a:rPr>
              <a:t>의 입찰보증금을 등록하면</a:t>
            </a:r>
            <a:r>
              <a:rPr lang="en-US" altLang="ko-KR" sz="700" dirty="0">
                <a:solidFill>
                  <a:srgbClr val="000000"/>
                </a:solidFill>
                <a:latin typeface="+mn-ea"/>
              </a:rPr>
              <a:t> </a:t>
            </a:r>
            <a:r>
              <a:rPr lang="ko-KR" altLang="en-US" sz="700" dirty="0">
                <a:solidFill>
                  <a:srgbClr val="000000"/>
                </a:solidFill>
                <a:latin typeface="+mn-ea"/>
              </a:rPr>
              <a:t>합계인 </a:t>
            </a:r>
            <a:r>
              <a:rPr lang="en-US" altLang="ko-KR" sz="700" dirty="0">
                <a:solidFill>
                  <a:srgbClr val="000000"/>
                </a:solidFill>
                <a:latin typeface="+mn-ea"/>
              </a:rPr>
              <a:t>5,000</a:t>
            </a:r>
            <a:r>
              <a:rPr lang="ko-KR" altLang="en-US" sz="700" dirty="0">
                <a:solidFill>
                  <a:srgbClr val="000000"/>
                </a:solidFill>
                <a:latin typeface="+mn-ea"/>
              </a:rPr>
              <a:t>원의 </a:t>
            </a:r>
            <a:r>
              <a:rPr lang="en-US" altLang="ko-KR" sz="700" dirty="0">
                <a:solidFill>
                  <a:srgbClr val="000000"/>
                </a:solidFill>
                <a:latin typeface="+mn-ea"/>
              </a:rPr>
              <a:t>20</a:t>
            </a:r>
            <a:r>
              <a:rPr lang="ko-KR" altLang="en-US" sz="700" dirty="0">
                <a:solidFill>
                  <a:srgbClr val="000000"/>
                </a:solidFill>
                <a:latin typeface="+mn-ea"/>
              </a:rPr>
              <a:t>배 </a:t>
            </a:r>
            <a:r>
              <a:rPr lang="en-US" altLang="ko-KR" sz="700" dirty="0">
                <a:solidFill>
                  <a:srgbClr val="000000"/>
                </a:solidFill>
                <a:latin typeface="+mn-ea"/>
              </a:rPr>
              <a:t>100,000</a:t>
            </a:r>
            <a:r>
              <a:rPr lang="ko-KR" altLang="en-US" sz="700" dirty="0">
                <a:solidFill>
                  <a:srgbClr val="000000"/>
                </a:solidFill>
                <a:latin typeface="+mn-ea"/>
              </a:rPr>
              <a:t>원까지 </a:t>
            </a:r>
            <a:r>
              <a:rPr lang="ko-KR" altLang="en-US" sz="700" dirty="0" err="1">
                <a:solidFill>
                  <a:srgbClr val="000000"/>
                </a:solidFill>
                <a:latin typeface="+mn-ea"/>
              </a:rPr>
              <a:t>투찰</a:t>
            </a:r>
            <a:r>
              <a:rPr lang="ko-KR" altLang="en-US" sz="700" dirty="0">
                <a:solidFill>
                  <a:srgbClr val="000000"/>
                </a:solidFill>
                <a:latin typeface="+mn-ea"/>
              </a:rPr>
              <a:t> 가능 합니다</a:t>
            </a:r>
            <a:r>
              <a:rPr lang="en-US" altLang="ko-KR" sz="700" dirty="0">
                <a:solidFill>
                  <a:srgbClr val="000000"/>
                </a:solidFill>
                <a:latin typeface="+mn-ea"/>
              </a:rPr>
              <a:t>.</a:t>
            </a:r>
            <a:endParaRPr lang="en-US" altLang="ko-KR" sz="700" dirty="0">
              <a:latin typeface="+mn-ea"/>
            </a:endParaRPr>
          </a:p>
          <a:p>
            <a:pPr marL="92075" indent="-92075">
              <a:buFont typeface="Arial" panose="020B0604020202020204" pitchFamily="34" charset="0"/>
              <a:buChar char="•"/>
            </a:pPr>
            <a:endParaRPr lang="en-US" altLang="ko-KR" sz="700" dirty="0">
              <a:latin typeface="+mn-ea"/>
            </a:endParaRPr>
          </a:p>
        </p:txBody>
      </p:sp>
      <p:sp>
        <p:nvSpPr>
          <p:cNvPr id="111" name="타원 110"/>
          <p:cNvSpPr/>
          <p:nvPr/>
        </p:nvSpPr>
        <p:spPr>
          <a:xfrm>
            <a:off x="789853" y="202824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76742"/>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5" name="직사각형 114"/>
          <p:cNvSpPr/>
          <p:nvPr/>
        </p:nvSpPr>
        <p:spPr>
          <a:xfrm>
            <a:off x="3835468" y="1889826"/>
            <a:ext cx="792000" cy="8761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22531" y="1889825"/>
            <a:ext cx="725552" cy="861774"/>
          </a:xfrm>
          <a:prstGeom prst="rect">
            <a:avLst/>
          </a:prstGeom>
          <a:noFill/>
        </p:spPr>
        <p:txBody>
          <a:bodyPr wrap="square" lIns="0" tIns="0" rIns="0" bIns="0" rtlCol="0">
            <a:spAutoFit/>
          </a:bodyPr>
          <a:lstStyle/>
          <a:p>
            <a:pPr>
              <a:lnSpc>
                <a:spcPct val="200000"/>
              </a:lnSpc>
            </a:pPr>
            <a:r>
              <a:rPr lang="ko-KR" altLang="en-US" sz="700" dirty="0">
                <a:latin typeface="+mn-ea"/>
              </a:rPr>
              <a:t>보증금면제사유</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err="1">
                <a:latin typeface="+mn-ea"/>
              </a:rPr>
              <a:t>투찰가능금액</a:t>
            </a:r>
            <a:endParaRPr lang="en-US" altLang="ko-KR"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4679380" y="1889825"/>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grpSp>
        <p:nvGrpSpPr>
          <p:cNvPr id="118" name="그룹 117"/>
          <p:cNvGrpSpPr/>
          <p:nvPr/>
        </p:nvGrpSpPr>
        <p:grpSpPr>
          <a:xfrm>
            <a:off x="3833375" y="1889825"/>
            <a:ext cx="2630093" cy="858960"/>
            <a:chOff x="701175" y="1835481"/>
            <a:chExt cx="2630093" cy="858960"/>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사각형: 둥근 모서리 15">
            <a:extLst>
              <a:ext uri="{FF2B5EF4-FFF2-40B4-BE49-F238E27FC236}">
                <a16:creationId xmlns:a16="http://schemas.microsoft.com/office/drawing/2014/main" id="{E2B61CFB-AD16-68D0-8752-50D9C5E01971}"/>
              </a:ext>
            </a:extLst>
          </p:cNvPr>
          <p:cNvSpPr/>
          <p:nvPr/>
        </p:nvSpPr>
        <p:spPr>
          <a:xfrm>
            <a:off x="4681400" y="1925492"/>
            <a:ext cx="1780918" cy="162000"/>
          </a:xfrm>
          <a:prstGeom prst="roundRect">
            <a:avLst/>
          </a:prstGeom>
          <a:noFill/>
          <a:ln w="3175" cap="flat" cmpd="sng" algn="ctr">
            <a:no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smtClean="0">
                <a:latin typeface="맑은 고딕"/>
                <a:ea typeface="맑은 고딕" panose="020B0503020000020004" pitchFamily="50" charset="-127"/>
              </a:rPr>
              <a:t>특정 상황에 의한 보증금 면제</a:t>
            </a:r>
            <a:endParaRPr kumimoji="1" lang="en-US" sz="700" b="0" i="0" u="none" strike="noStrike" kern="0" cap="none" spc="0" normalizeH="0" baseline="0" noProof="0" dirty="0">
              <a:ln>
                <a:noFill/>
              </a:ln>
              <a:effectLst/>
              <a:uLnTx/>
              <a:uFillTx/>
              <a:latin typeface="맑은 고딕"/>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4681400" y="2129459"/>
            <a:ext cx="1780918"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err="1">
                <a:solidFill>
                  <a:srgbClr val="0070C0"/>
                </a:solidFill>
                <a:latin typeface="맑은 고딕"/>
                <a:ea typeface="맑은 고딕" panose="020B0503020000020004" pitchFamily="50" charset="-127"/>
              </a:rPr>
              <a:t>면제여부</a:t>
            </a:r>
            <a:r>
              <a:rPr kumimoji="1" lang="ko-KR" altLang="en-US" sz="700" kern="0" dirty="0">
                <a:solidFill>
                  <a:srgbClr val="0070C0"/>
                </a:solidFill>
                <a:latin typeface="맑은 고딕"/>
                <a:ea typeface="맑은 고딕" panose="020B0503020000020004" pitchFamily="50" charset="-127"/>
              </a:rPr>
              <a:t> 상세설명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4679380" y="230384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5492490" y="2297902"/>
            <a:ext cx="912344" cy="430887"/>
          </a:xfrm>
          <a:prstGeom prst="rect">
            <a:avLst/>
          </a:prstGeom>
          <a:noFill/>
        </p:spPr>
        <p:txBody>
          <a:bodyPr wrap="square" lIns="0" tIns="0" rIns="0" bIns="0" rtlCol="0">
            <a:spAutoFit/>
          </a:bodyPr>
          <a:lstStyle/>
          <a:p>
            <a:pPr algn="r">
              <a:lnSpc>
                <a:spcPct val="200000"/>
              </a:lnSpc>
            </a:pPr>
            <a:r>
              <a:rPr lang="en-US" altLang="ko-KR" sz="700" dirty="0" smtClean="0">
                <a:latin typeface="+mn-ea"/>
              </a:rPr>
              <a:t>100,000</a:t>
            </a:r>
            <a:r>
              <a:rPr lang="ko-KR" altLang="en-US" sz="700" dirty="0" smtClean="0">
                <a:latin typeface="+mn-ea"/>
              </a:rPr>
              <a:t>원</a:t>
            </a:r>
            <a:endParaRPr lang="en-US" altLang="ko-KR" sz="700" dirty="0">
              <a:latin typeface="+mn-ea"/>
            </a:endParaRPr>
          </a:p>
          <a:p>
            <a:pPr algn="r">
              <a:lnSpc>
                <a:spcPct val="200000"/>
              </a:lnSpc>
            </a:pPr>
            <a:r>
              <a:rPr lang="en-US" altLang="ko-KR" sz="700" dirty="0" smtClean="0">
                <a:latin typeface="+mn-ea"/>
              </a:rPr>
              <a:t>251,102</a:t>
            </a:r>
            <a:r>
              <a:rPr lang="ko-KR" altLang="en-US" sz="700" dirty="0" smtClean="0">
                <a:latin typeface="+mn-ea"/>
              </a:rPr>
              <a:t>원</a:t>
            </a:r>
            <a:endParaRPr lang="en-US" altLang="ko-KR" sz="700" dirty="0">
              <a:latin typeface="+mn-ea"/>
            </a:endParaRPr>
          </a:p>
        </p:txBody>
      </p:sp>
      <p:sp>
        <p:nvSpPr>
          <p:cNvPr id="140" name="모서리가 둥근 직사각형 139"/>
          <p:cNvSpPr/>
          <p:nvPr/>
        </p:nvSpPr>
        <p:spPr>
          <a:xfrm rot="5400000">
            <a:off x="2662242" y="254025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41" name="모서리가 둥근 직사각형 140"/>
          <p:cNvSpPr/>
          <p:nvPr/>
        </p:nvSpPr>
        <p:spPr>
          <a:xfrm rot="5400000">
            <a:off x="5780626" y="413414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29664" y="182305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3" name="TextBox 142">
            <a:extLst>
              <a:ext uri="{FF2B5EF4-FFF2-40B4-BE49-F238E27FC236}">
                <a16:creationId xmlns:a16="http://schemas.microsoft.com/office/drawing/2014/main" id="{FFC49AEA-2A8F-250C-A86A-A7751D9706C3}"/>
              </a:ext>
            </a:extLst>
          </p:cNvPr>
          <p:cNvSpPr txBox="1"/>
          <p:nvPr/>
        </p:nvSpPr>
        <p:spPr>
          <a:xfrm>
            <a:off x="3873342" y="1606448"/>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4498012" y="1606448"/>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입찰보증금</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5065900" y="1606448"/>
            <a:ext cx="655640"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5733663" y="1606448"/>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4498012" y="1823055"/>
            <a:ext cx="555764"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8" name="그룹 147"/>
          <p:cNvGrpSpPr/>
          <p:nvPr/>
        </p:nvGrpSpPr>
        <p:grpSpPr>
          <a:xfrm>
            <a:off x="6033260" y="1568325"/>
            <a:ext cx="422853" cy="187961"/>
            <a:chOff x="3641308" y="2234886"/>
            <a:chExt cx="422853" cy="187961"/>
          </a:xfrm>
        </p:grpSpPr>
        <p:sp>
          <p:nvSpPr>
            <p:cNvPr id="149" name="타원 148"/>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0" name="그룹 149"/>
            <p:cNvGrpSpPr/>
            <p:nvPr/>
          </p:nvGrpSpPr>
          <p:grpSpPr>
            <a:xfrm rot="5400000" flipH="1">
              <a:off x="3679895" y="2305364"/>
              <a:ext cx="94010" cy="47005"/>
              <a:chOff x="6812560" y="3297172"/>
              <a:chExt cx="94010" cy="47005"/>
            </a:xfrm>
          </p:grpSpPr>
          <p:cxnSp>
            <p:nvCxnSpPr>
              <p:cNvPr id="155" name="직선 연결선 15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6" name="직선 연결선 15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2" name="그룹 151"/>
            <p:cNvGrpSpPr/>
            <p:nvPr/>
          </p:nvGrpSpPr>
          <p:grpSpPr>
            <a:xfrm rot="16200000">
              <a:off x="3931564" y="2305364"/>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27" name="타원 326">
            <a:extLst>
              <a:ext uri="{FF2B5EF4-FFF2-40B4-BE49-F238E27FC236}">
                <a16:creationId xmlns:a16="http://schemas.microsoft.com/office/drawing/2014/main" id="{37A7FF4F-0EAA-1463-560A-D5EC24416103}"/>
              </a:ext>
            </a:extLst>
          </p:cNvPr>
          <p:cNvSpPr/>
          <p:nvPr/>
        </p:nvSpPr>
        <p:spPr>
          <a:xfrm>
            <a:off x="1483315" y="42728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 name="직사각형 2"/>
          <p:cNvSpPr/>
          <p:nvPr/>
        </p:nvSpPr>
        <p:spPr>
          <a:xfrm>
            <a:off x="3873342" y="1925492"/>
            <a:ext cx="2588976" cy="372410"/>
          </a:xfrm>
          <a:prstGeom prst="rect">
            <a:avLst/>
          </a:prstGeom>
          <a:noFill/>
          <a:ln w="190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직사각형 9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spTree>
    <p:extLst>
      <p:ext uri="{BB962C8B-B14F-4D97-AF65-F5344CB8AC3E}">
        <p14:creationId xmlns:p14="http://schemas.microsoft.com/office/powerpoint/2010/main" val="17739801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공동수급업체 정보 입력</a:t>
            </a:r>
            <a:r>
              <a:rPr lang="en-US" altLang="ko-KR" dirty="0"/>
              <a:t/>
            </a:r>
            <a:br>
              <a:rPr lang="en-US" altLang="ko-KR" dirty="0"/>
            </a:br>
            <a:r>
              <a:rPr lang="ko-KR" altLang="en-US" dirty="0" err="1"/>
              <a:t>입력항목은</a:t>
            </a:r>
            <a:r>
              <a:rPr lang="ko-KR" altLang="en-US" dirty="0"/>
              <a:t> </a:t>
            </a:r>
            <a:r>
              <a:rPr lang="en-US" altLang="ko-KR" dirty="0"/>
              <a:t>input</a:t>
            </a:r>
            <a:r>
              <a:rPr lang="ko-KR" altLang="en-US" dirty="0"/>
              <a:t>으로 처리</a:t>
            </a:r>
            <a:r>
              <a:rPr lang="en-US" altLang="ko-KR" dirty="0"/>
              <a:t/>
            </a:r>
            <a:br>
              <a:rPr lang="en-US" altLang="ko-KR" dirty="0"/>
            </a:br>
            <a:r>
              <a:rPr lang="ko-KR" altLang="en-US" dirty="0"/>
              <a:t>대표 업체는 업체 삭제 불가</a:t>
            </a:r>
            <a:r>
              <a:rPr lang="en-US" altLang="ko-KR" dirty="0"/>
              <a:t/>
            </a:r>
            <a:br>
              <a:rPr lang="en-US" altLang="ko-KR" dirty="0"/>
            </a:br>
            <a:r>
              <a:rPr lang="en-US" altLang="ko-KR" dirty="0"/>
              <a:t>- </a:t>
            </a:r>
            <a:r>
              <a:rPr lang="ko-KR" altLang="en-US" dirty="0"/>
              <a:t>단일 업체는 동의</a:t>
            </a:r>
            <a:r>
              <a:rPr lang="en-US" altLang="ko-KR" dirty="0"/>
              <a:t>, </a:t>
            </a:r>
            <a:r>
              <a:rPr lang="ko-KR" altLang="en-US" dirty="0"/>
              <a:t>업체 삭제 숨김</a:t>
            </a:r>
            <a:r>
              <a:rPr lang="en-US" altLang="ko-KR" dirty="0"/>
              <a:t/>
            </a:r>
            <a:br>
              <a:rPr lang="en-US" altLang="ko-KR" dirty="0"/>
            </a:br>
            <a:r>
              <a:rPr lang="ko-KR" altLang="en-US" dirty="0"/>
              <a:t>앞서 입력된 항목이 있는 경우 그 값 표시 </a:t>
            </a:r>
            <a:r>
              <a:rPr lang="en-US" altLang="ko-KR" dirty="0"/>
              <a:t>(</a:t>
            </a:r>
            <a:r>
              <a:rPr lang="ko-KR" altLang="en-US" dirty="0"/>
              <a:t>입찰보증금 등</a:t>
            </a:r>
            <a:r>
              <a:rPr lang="en-US" altLang="ko-KR" dirty="0" smtClean="0"/>
              <a:t>)</a:t>
            </a:r>
          </a:p>
          <a:p>
            <a:pPr marL="228600" indent="-228600">
              <a:buFont typeface="+mj-lt"/>
              <a:buAutoNum type="arabicPeriod"/>
            </a:pPr>
            <a:r>
              <a:rPr lang="ko-KR" altLang="en-US" dirty="0" smtClean="0"/>
              <a:t>공통수급업체가 있는 경우 검색하여 추가 </a:t>
            </a:r>
            <a:r>
              <a:rPr lang="en-US" altLang="ko-KR" dirty="0" smtClean="0"/>
              <a:t>(</a:t>
            </a:r>
            <a:r>
              <a:rPr lang="en-US" altLang="ko-KR" dirty="0" smtClean="0">
                <a:solidFill>
                  <a:srgbClr val="000000"/>
                </a:solidFill>
                <a:latin typeface="맑은 고딕" panose="020B0503020000020004" pitchFamily="50" charset="-127"/>
              </a:rPr>
              <a:t>MUI-BD-04-P11 </a:t>
            </a:r>
            <a:r>
              <a:rPr lang="ko-KR" altLang="en-US" dirty="0">
                <a:latin typeface="+mn-ea"/>
              </a:rPr>
              <a:t>업체 </a:t>
            </a:r>
            <a:r>
              <a:rPr lang="ko-KR" altLang="en-US" dirty="0" smtClean="0">
                <a:latin typeface="+mn-ea"/>
              </a:rPr>
              <a:t>검색</a:t>
            </a:r>
            <a:r>
              <a:rPr lang="en-US" altLang="ko-KR" dirty="0" smtClean="0"/>
              <a:t>)</a:t>
            </a:r>
          </a:p>
          <a:p>
            <a:pPr marL="228600" indent="-228600">
              <a:buFont typeface="+mj-lt"/>
              <a:buAutoNum type="arabicPeriod"/>
            </a:pPr>
            <a:r>
              <a:rPr lang="ko-KR" altLang="en-US" dirty="0" smtClean="0"/>
              <a:t>신청서 작성 이후 공동수급업체가 신청서에 진입하여 동의여부를 선택</a:t>
            </a:r>
            <a:r>
              <a:rPr lang="en-US" altLang="ko-KR" dirty="0"/>
              <a:t/>
            </a:r>
            <a:br>
              <a:rPr lang="en-US" altLang="ko-KR" dirty="0"/>
            </a:br>
            <a:r>
              <a:rPr lang="ko-KR" altLang="en-US" dirty="0" smtClean="0"/>
              <a:t>입력 필드 추가</a:t>
            </a:r>
            <a:r>
              <a:rPr lang="en-US" altLang="ko-KR" dirty="0" smtClean="0"/>
              <a:t>, </a:t>
            </a:r>
            <a:r>
              <a:rPr lang="ko-KR" altLang="en-US" dirty="0" smtClean="0"/>
              <a:t>삭제</a:t>
            </a:r>
            <a:endParaRPr lang="en-US" altLang="ko-KR" dirty="0"/>
          </a:p>
          <a:p>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600" dirty="0" smtClean="0">
                <a:latin typeface="+mn-ea"/>
              </a:rPr>
              <a:t>입찰참가신청서작성 </a:t>
            </a:r>
            <a:r>
              <a:rPr lang="en-US" altLang="ko-KR" sz="600" dirty="0" smtClean="0">
                <a:latin typeface="+mn-ea"/>
              </a:rPr>
              <a:t>- </a:t>
            </a:r>
            <a:r>
              <a:rPr lang="ko-KR" altLang="en-US" sz="600" dirty="0" err="1" smtClean="0"/>
              <a:t>입찰참가신청조회공동수급업체</a:t>
            </a:r>
            <a:r>
              <a:rPr lang="ko-KR" altLang="en-US" sz="600" dirty="0" smtClean="0"/>
              <a:t> </a:t>
            </a:r>
            <a:endParaRPr lang="ko-KR" altLang="en-US" sz="6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a:t>
            </a:r>
            <a:r>
              <a:rPr lang="ko-KR" altLang="en-US" dirty="0">
                <a:latin typeface="+mn-ea"/>
              </a:rPr>
              <a:t>공동수급업체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sz="800" dirty="0"/>
              <a:t>홈 </a:t>
            </a:r>
            <a:r>
              <a:rPr lang="en-US" altLang="ko-KR" sz="800" dirty="0"/>
              <a:t>&gt; </a:t>
            </a:r>
            <a:r>
              <a:rPr lang="ko-KR" altLang="en-US" sz="800" dirty="0">
                <a:latin typeface="+mn-ea"/>
              </a:rPr>
              <a:t>입찰 진행 상세</a:t>
            </a:r>
            <a:r>
              <a:rPr lang="en-US" altLang="ko-KR" sz="800" dirty="0">
                <a:latin typeface="+mn-ea"/>
              </a:rPr>
              <a:t>&gt; </a:t>
            </a:r>
            <a:r>
              <a:rPr lang="ko-KR" altLang="en-US" sz="800" dirty="0">
                <a:latin typeface="+mn-ea"/>
              </a:rPr>
              <a:t>입찰참가신청서 </a:t>
            </a:r>
            <a:r>
              <a:rPr lang="en-US" altLang="ko-KR" sz="800" dirty="0">
                <a:latin typeface="+mn-ea"/>
              </a:rPr>
              <a:t>&gt;</a:t>
            </a:r>
            <a:r>
              <a:rPr lang="ko-KR" altLang="en-US" sz="800" dirty="0">
                <a:latin typeface="+mn-ea"/>
              </a:rPr>
              <a:t>신청서 공동수급업체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MUI-BD-04-T05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987435"/>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27" name="타원 326">
            <a:extLst>
              <a:ext uri="{FF2B5EF4-FFF2-40B4-BE49-F238E27FC236}">
                <a16:creationId xmlns:a16="http://schemas.microsoft.com/office/drawing/2014/main" id="{37A7FF4F-0EAA-1463-560A-D5EC24416103}"/>
              </a:ext>
            </a:extLst>
          </p:cNvPr>
          <p:cNvSpPr/>
          <p:nvPr/>
        </p:nvSpPr>
        <p:spPr>
          <a:xfrm>
            <a:off x="542329" y="33750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448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28224"/>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88487" y="1628224"/>
            <a:ext cx="555764"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956375" y="1628224"/>
            <a:ext cx="655640" cy="107722"/>
          </a:xfrm>
          <a:prstGeom prst="rect">
            <a:avLst/>
          </a:prstGeom>
          <a:noFill/>
        </p:spPr>
        <p:txBody>
          <a:bodyPr wrap="square" lIns="0" tIns="0" rIns="0" bIns="0" rtlCol="0">
            <a:spAutoFit/>
          </a:bodyPr>
          <a:lstStyle/>
          <a:p>
            <a:pPr algn="ctr"/>
            <a:r>
              <a:rPr lang="en-US" altLang="ko-KR" sz="700" b="1" dirty="0">
                <a:latin typeface="+mn-ea"/>
              </a:rPr>
              <a:t>5. </a:t>
            </a:r>
            <a:r>
              <a:rPr lang="ko-KR" altLang="en-US" sz="700" b="1" dirty="0">
                <a:latin typeface="+mn-ea"/>
              </a:rPr>
              <a:t>공동수급업체</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624138" y="1628224"/>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944251" y="1844831"/>
            <a:ext cx="6798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90101"/>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34104" y="3334558"/>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공동수급업체 </a:t>
            </a:r>
            <a:r>
              <a:rPr lang="en-US" altLang="ko-KR" sz="700" dirty="0">
                <a:latin typeface="+mn-ea"/>
              </a:rPr>
              <a:t>– </a:t>
            </a:r>
            <a:r>
              <a:rPr lang="ko-KR" altLang="en-US" sz="700" dirty="0">
                <a:latin typeface="+mn-ea"/>
              </a:rPr>
              <a:t>최대 </a:t>
            </a:r>
            <a:r>
              <a:rPr lang="ko-KR" altLang="en-US" sz="700" dirty="0" err="1">
                <a:latin typeface="+mn-ea"/>
              </a:rPr>
              <a:t>협정업체</a:t>
            </a:r>
            <a:r>
              <a:rPr lang="ko-KR" altLang="en-US" sz="700" dirty="0">
                <a:latin typeface="+mn-ea"/>
              </a:rPr>
              <a:t> 수 </a:t>
            </a:r>
            <a:r>
              <a:rPr lang="en-US" altLang="ko-KR" sz="700" dirty="0">
                <a:latin typeface="+mn-ea"/>
              </a:rPr>
              <a:t>: </a:t>
            </a:r>
            <a:r>
              <a:rPr lang="en-US" altLang="ko-KR" sz="700" dirty="0">
                <a:solidFill>
                  <a:srgbClr val="FF0000"/>
                </a:solidFill>
                <a:latin typeface="+mn-ea"/>
              </a:rPr>
              <a:t>3</a:t>
            </a:r>
            <a:r>
              <a:rPr lang="en-US" altLang="ko-KR" sz="700" dirty="0">
                <a:latin typeface="+mn-ea"/>
              </a:rPr>
              <a:t> (</a:t>
            </a:r>
            <a:r>
              <a:rPr lang="ko-KR" altLang="en-US" sz="700" dirty="0" err="1">
                <a:latin typeface="+mn-ea"/>
              </a:rPr>
              <a:t>대표업체</a:t>
            </a:r>
            <a:r>
              <a:rPr lang="en-US" altLang="ko-KR" sz="700" dirty="0">
                <a:latin typeface="+mn-ea"/>
              </a:rPr>
              <a:t>+</a:t>
            </a:r>
            <a:r>
              <a:rPr lang="ko-KR" altLang="en-US" sz="700" dirty="0" err="1">
                <a:latin typeface="+mn-ea"/>
              </a:rPr>
              <a:t>구성업체수</a:t>
            </a:r>
            <a:r>
              <a:rPr lang="en-US" altLang="ko-KR" sz="700" dirty="0">
                <a:latin typeface="+mn-ea"/>
              </a:rPr>
              <a:t>) </a:t>
            </a:r>
            <a:endParaRPr lang="ko-KR" altLang="en-US" sz="700" dirty="0">
              <a:latin typeface="+mn-ea"/>
            </a:endParaRPr>
          </a:p>
        </p:txBody>
      </p:sp>
      <p:sp>
        <p:nvSpPr>
          <p:cNvPr id="169" name="직사각형 168"/>
          <p:cNvSpPr/>
          <p:nvPr/>
        </p:nvSpPr>
        <p:spPr>
          <a:xfrm>
            <a:off x="722232" y="3633240"/>
            <a:ext cx="792000" cy="17360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633239"/>
            <a:ext cx="725552" cy="1723549"/>
          </a:xfrm>
          <a:prstGeom prst="rect">
            <a:avLst/>
          </a:prstGeom>
          <a:noFill/>
        </p:spPr>
        <p:txBody>
          <a:bodyPr wrap="square" lIns="0" tIns="0" rIns="0" bIns="0" rtlCol="0">
            <a:spAutoFit/>
          </a:bodyPr>
          <a:lstStyle/>
          <a:p>
            <a:pPr>
              <a:lnSpc>
                <a:spcPct val="200000"/>
              </a:lnSpc>
            </a:pPr>
            <a:r>
              <a:rPr lang="ko-KR" altLang="en-US" sz="700" dirty="0" smtClean="0">
                <a:latin typeface="+mn-ea"/>
              </a:rPr>
              <a:t>구분</a:t>
            </a:r>
            <a:endParaRPr lang="en-US" altLang="ko-KR" sz="700" dirty="0">
              <a:latin typeface="+mn-ea"/>
            </a:endParaRPr>
          </a:p>
          <a:p>
            <a:pPr>
              <a:lnSpc>
                <a:spcPct val="200000"/>
              </a:lnSpc>
            </a:pPr>
            <a:r>
              <a:rPr lang="ko-KR" altLang="en-US" sz="700" dirty="0">
                <a:latin typeface="+mn-ea"/>
              </a:rPr>
              <a:t>공동수급업체</a:t>
            </a:r>
            <a:endParaRPr lang="en-US" altLang="ko-KR" sz="700" dirty="0">
              <a:latin typeface="+mn-ea"/>
            </a:endParaRPr>
          </a:p>
          <a:p>
            <a:pPr>
              <a:lnSpc>
                <a:spcPct val="200000"/>
              </a:lnSpc>
            </a:pPr>
            <a:r>
              <a:rPr lang="ko-KR" altLang="en-US" sz="700" dirty="0" err="1">
                <a:latin typeface="+mn-ea"/>
              </a:rPr>
              <a:t>이행방식</a:t>
            </a:r>
            <a:endParaRPr lang="en-US" altLang="ko-KR" sz="700" dirty="0">
              <a:latin typeface="+mn-ea"/>
            </a:endParaRPr>
          </a:p>
          <a:p>
            <a:pPr>
              <a:lnSpc>
                <a:spcPct val="200000"/>
              </a:lnSpc>
            </a:pPr>
            <a:r>
              <a:rPr lang="ko-KR" altLang="en-US" sz="700" dirty="0">
                <a:latin typeface="+mn-ea"/>
              </a:rPr>
              <a:t>공동분담업종</a:t>
            </a:r>
            <a:endParaRPr lang="en-US" altLang="ko-KR" sz="700" dirty="0">
              <a:latin typeface="+mn-ea"/>
            </a:endParaRPr>
          </a:p>
          <a:p>
            <a:pPr>
              <a:lnSpc>
                <a:spcPct val="200000"/>
              </a:lnSpc>
            </a:pPr>
            <a:r>
              <a:rPr lang="ko-KR" altLang="en-US" sz="700" dirty="0">
                <a:latin typeface="+mn-ea"/>
              </a:rPr>
              <a:t>출자비율</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a:latin typeface="+mn-ea"/>
              </a:rPr>
              <a:t>납부방법</a:t>
            </a:r>
            <a:endParaRPr lang="en-US" altLang="ko-KR" sz="700" dirty="0">
              <a:latin typeface="+mn-ea"/>
            </a:endParaRPr>
          </a:p>
          <a:p>
            <a:pPr>
              <a:lnSpc>
                <a:spcPct val="200000"/>
              </a:lnSpc>
            </a:pPr>
            <a:r>
              <a:rPr lang="ko-KR" altLang="en-US" sz="700" dirty="0" smtClean="0">
                <a:latin typeface="+mn-ea"/>
              </a:rPr>
              <a:t>시공능력평가액</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633239"/>
            <a:ext cx="1784088" cy="1723549"/>
          </a:xfrm>
          <a:prstGeom prst="rect">
            <a:avLst/>
          </a:prstGeom>
          <a:noFill/>
        </p:spPr>
        <p:txBody>
          <a:bodyPr wrap="square" lIns="0" tIns="0" rIns="0" bIns="0" rtlCol="0">
            <a:spAutoFit/>
          </a:bodyPr>
          <a:lstStyle/>
          <a:p>
            <a:pPr>
              <a:lnSpc>
                <a:spcPct val="200000"/>
              </a:lnSpc>
            </a:pPr>
            <a:r>
              <a:rPr lang="ko-KR" altLang="en-US" sz="700" dirty="0">
                <a:latin typeface="+mn-ea"/>
              </a:rPr>
              <a:t>대표</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b="1"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3633239"/>
            <a:ext cx="2630093" cy="1736051"/>
            <a:chOff x="701175" y="1835481"/>
            <a:chExt cx="2630093" cy="1736051"/>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1175" y="3360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01175" y="35715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9" name="모서리가 둥근 직사각형 108"/>
          <p:cNvSpPr/>
          <p:nvPr/>
        </p:nvSpPr>
        <p:spPr>
          <a:xfrm>
            <a:off x="705041" y="1961387"/>
            <a:ext cx="2652743" cy="829567"/>
          </a:xfrm>
          <a:prstGeom prst="roundRect">
            <a:avLst>
              <a:gd name="adj" fmla="val 12550"/>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59671"/>
            <a:ext cx="2475203" cy="646331"/>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r>
              <a:rPr lang="ko-KR" altLang="en-US" sz="700" dirty="0" err="1">
                <a:latin typeface="맑은 고딕" panose="020B0503020000020004" pitchFamily="50" charset="-127"/>
              </a:rPr>
              <a:t>공동수급인</a:t>
            </a:r>
            <a:r>
              <a:rPr lang="ko-KR" altLang="en-US" sz="700" dirty="0">
                <a:latin typeface="맑은 고딕" panose="020B0503020000020004" pitchFamily="50" charset="-127"/>
              </a:rPr>
              <a:t> 경우 공동수급업체란에 입찰참가신청업체</a:t>
            </a:r>
            <a:r>
              <a:rPr lang="en-US" altLang="ko-KR" sz="700" dirty="0">
                <a:latin typeface="맑은 고딕" panose="020B0503020000020004" pitchFamily="50" charset="-127"/>
              </a:rPr>
              <a:t>(</a:t>
            </a:r>
            <a:r>
              <a:rPr lang="ko-KR" altLang="en-US" sz="700" dirty="0" err="1">
                <a:latin typeface="맑은 고딕" panose="020B0503020000020004" pitchFamily="50" charset="-127"/>
              </a:rPr>
              <a:t>대표업체</a:t>
            </a:r>
            <a:r>
              <a:rPr lang="ko-KR" altLang="en-US" sz="700" dirty="0">
                <a:latin typeface="맑은 고딕" panose="020B0503020000020004" pitchFamily="50" charset="-127"/>
              </a:rPr>
              <a:t> 및 </a:t>
            </a:r>
            <a:r>
              <a:rPr lang="ko-KR" altLang="en-US" sz="700" dirty="0" err="1">
                <a:latin typeface="맑은 고딕" panose="020B0503020000020004" pitchFamily="50" charset="-127"/>
              </a:rPr>
              <a:t>구성업체</a:t>
            </a:r>
            <a:r>
              <a:rPr lang="en-US" altLang="ko-KR" sz="700" dirty="0">
                <a:latin typeface="맑은 고딕" panose="020B0503020000020004" pitchFamily="50" charset="-127"/>
              </a:rPr>
              <a:t>)</a:t>
            </a:r>
            <a:r>
              <a:rPr lang="ko-KR" altLang="en-US" sz="700" dirty="0">
                <a:latin typeface="맑은 고딕" panose="020B0503020000020004" pitchFamily="50" charset="-127"/>
              </a:rPr>
              <a:t>도 </a:t>
            </a:r>
            <a:r>
              <a:rPr lang="en-US" altLang="ko-KR" sz="700" dirty="0">
                <a:latin typeface="맑은 고딕" panose="020B0503020000020004" pitchFamily="50" charset="-127"/>
              </a:rPr>
              <a:t>[</a:t>
            </a:r>
            <a:r>
              <a:rPr lang="ko-KR" altLang="en-US" sz="700" dirty="0">
                <a:latin typeface="맑은 고딕" panose="020B0503020000020004" pitchFamily="50" charset="-127"/>
              </a:rPr>
              <a:t>추가</a:t>
            </a:r>
            <a:r>
              <a:rPr lang="en-US" altLang="ko-KR" sz="700" dirty="0">
                <a:latin typeface="맑은 고딕" panose="020B0503020000020004" pitchFamily="50" charset="-127"/>
              </a:rPr>
              <a:t>] </a:t>
            </a:r>
            <a:r>
              <a:rPr lang="ko-KR" altLang="en-US" sz="700" dirty="0">
                <a:latin typeface="맑은 고딕" panose="020B0503020000020004" pitchFamily="50" charset="-127"/>
              </a:rPr>
              <a:t>시켜야 합니다</a:t>
            </a:r>
            <a:r>
              <a:rPr lang="en-US" altLang="ko-KR" sz="700" dirty="0">
                <a:latin typeface="맑은 고딕" panose="020B0503020000020004" pitchFamily="50" charset="-127"/>
              </a:rPr>
              <a:t>.</a:t>
            </a:r>
          </a:p>
          <a:p>
            <a:r>
              <a:rPr lang="ko-KR" altLang="en-US" sz="700" dirty="0" err="1">
                <a:solidFill>
                  <a:srgbClr val="FF0000"/>
                </a:solidFill>
                <a:latin typeface="+mn-ea"/>
              </a:rPr>
              <a:t>구성업체</a:t>
            </a:r>
            <a:r>
              <a:rPr lang="ko-KR" altLang="en-US" sz="700" dirty="0">
                <a:solidFill>
                  <a:srgbClr val="FF0000"/>
                </a:solidFill>
                <a:latin typeface="+mn-ea"/>
              </a:rPr>
              <a:t> 제출서류는 </a:t>
            </a:r>
            <a:r>
              <a:rPr lang="ko-KR" altLang="en-US" sz="700" dirty="0" err="1">
                <a:solidFill>
                  <a:srgbClr val="FF0000"/>
                </a:solidFill>
                <a:latin typeface="+mn-ea"/>
              </a:rPr>
              <a:t>대표업체가</a:t>
            </a:r>
            <a:r>
              <a:rPr lang="ko-KR" altLang="en-US" sz="700" dirty="0">
                <a:solidFill>
                  <a:srgbClr val="FF0000"/>
                </a:solidFill>
                <a:latin typeface="+mn-ea"/>
              </a:rPr>
              <a:t> 참가신청서 제출시 </a:t>
            </a:r>
            <a:r>
              <a:rPr lang="ko-KR" altLang="en-US" sz="700" dirty="0" err="1">
                <a:solidFill>
                  <a:srgbClr val="FF0000"/>
                </a:solidFill>
                <a:latin typeface="+mn-ea"/>
              </a:rPr>
              <a:t>첨부해야합니다</a:t>
            </a:r>
            <a:r>
              <a:rPr lang="en-US" altLang="ko-KR" sz="700" dirty="0">
                <a:solidFill>
                  <a:srgbClr val="FF0000"/>
                </a:solidFill>
                <a:latin typeface="+mn-ea"/>
              </a:rPr>
              <a:t>. </a:t>
            </a:r>
          </a:p>
        </p:txBody>
      </p:sp>
      <p:sp>
        <p:nvSpPr>
          <p:cNvPr id="111" name="타원 110"/>
          <p:cNvSpPr/>
          <p:nvPr/>
        </p:nvSpPr>
        <p:spPr>
          <a:xfrm>
            <a:off x="789853" y="205002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98518"/>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1" name="사각형: 둥근 모서리 15">
            <a:extLst>
              <a:ext uri="{FF2B5EF4-FFF2-40B4-BE49-F238E27FC236}">
                <a16:creationId xmlns:a16="http://schemas.microsoft.com/office/drawing/2014/main" id="{E2B61CFB-AD16-68D0-8752-50D9C5E01971}"/>
              </a:ext>
            </a:extLst>
          </p:cNvPr>
          <p:cNvSpPr/>
          <p:nvPr/>
        </p:nvSpPr>
        <p:spPr>
          <a:xfrm>
            <a:off x="1526343" y="3876460"/>
            <a:ext cx="1780918" cy="162000"/>
          </a:xfrm>
          <a:prstGeom prst="roundRect">
            <a:avLst/>
          </a:prstGeom>
          <a:noFill/>
          <a:ln w="3175" cap="flat" cmpd="sng" algn="ctr">
            <a:no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smtClean="0">
                <a:ln>
                  <a:noFill/>
                </a:ln>
                <a:effectLst/>
                <a:uLnTx/>
                <a:uFillTx/>
                <a:latin typeface="맑은 고딕"/>
              </a:rPr>
              <a:t>플레이콩</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256202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5" name="직사각형 154"/>
          <p:cNvSpPr/>
          <p:nvPr/>
        </p:nvSpPr>
        <p:spPr>
          <a:xfrm>
            <a:off x="3837098" y="1915645"/>
            <a:ext cx="792000" cy="193899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3924161" y="1915644"/>
            <a:ext cx="725552" cy="193899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공동수급업체</a:t>
            </a:r>
            <a:endParaRPr lang="en-US" altLang="ko-KR" sz="700" dirty="0">
              <a:latin typeface="+mn-ea"/>
            </a:endParaRPr>
          </a:p>
          <a:p>
            <a:pPr>
              <a:lnSpc>
                <a:spcPct val="200000"/>
              </a:lnSpc>
            </a:pPr>
            <a:r>
              <a:rPr lang="ko-KR" altLang="en-US" sz="700" dirty="0" err="1">
                <a:latin typeface="+mn-ea"/>
              </a:rPr>
              <a:t>이행방식</a:t>
            </a:r>
            <a:endParaRPr lang="en-US" altLang="ko-KR" sz="700" dirty="0">
              <a:latin typeface="+mn-ea"/>
            </a:endParaRPr>
          </a:p>
          <a:p>
            <a:pPr>
              <a:lnSpc>
                <a:spcPct val="200000"/>
              </a:lnSpc>
            </a:pPr>
            <a:r>
              <a:rPr lang="ko-KR" altLang="en-US" sz="700" dirty="0">
                <a:latin typeface="+mn-ea"/>
              </a:rPr>
              <a:t>공동분담업종</a:t>
            </a:r>
            <a:endParaRPr lang="en-US" altLang="ko-KR" sz="700" dirty="0">
              <a:latin typeface="+mn-ea"/>
            </a:endParaRPr>
          </a:p>
          <a:p>
            <a:pPr>
              <a:lnSpc>
                <a:spcPct val="200000"/>
              </a:lnSpc>
            </a:pPr>
            <a:r>
              <a:rPr lang="ko-KR" altLang="en-US" sz="700" dirty="0">
                <a:latin typeface="+mn-ea"/>
              </a:rPr>
              <a:t>출자비율</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a:latin typeface="+mn-ea"/>
              </a:rPr>
              <a:t>납부방법</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smtClean="0">
                <a:latin typeface="+mn-ea"/>
              </a:rPr>
              <a:t>동의여부</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4681010" y="1915644"/>
            <a:ext cx="1784088" cy="1723549"/>
          </a:xfrm>
          <a:prstGeom prst="rect">
            <a:avLst/>
          </a:prstGeom>
          <a:noFill/>
        </p:spPr>
        <p:txBody>
          <a:bodyPr wrap="square" lIns="0" tIns="0" rIns="0" bIns="0" rtlCol="0">
            <a:spAutoFit/>
          </a:bodyPr>
          <a:lstStyle/>
          <a:p>
            <a:pPr>
              <a:lnSpc>
                <a:spcPct val="200000"/>
              </a:lnSpc>
            </a:pPr>
            <a:r>
              <a:rPr lang="ko-KR" altLang="en-US" sz="700" dirty="0" smtClean="0">
                <a:latin typeface="+mn-ea"/>
              </a:rPr>
              <a:t>구성</a:t>
            </a:r>
            <a:r>
              <a:rPr lang="en-US" altLang="ko-KR" sz="700" dirty="0" smtClean="0">
                <a:latin typeface="+mn-ea"/>
              </a:rPr>
              <a:t>1</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60 %</a:t>
            </a:r>
          </a:p>
          <a:p>
            <a:pPr algn="r">
              <a:lnSpc>
                <a:spcPct val="200000"/>
              </a:lnSpc>
            </a:pPr>
            <a:r>
              <a:rPr lang="en-US" altLang="ko-KR" sz="700" dirty="0" smtClean="0">
                <a:latin typeface="+mn-ea"/>
              </a:rPr>
              <a:t>300,000 </a:t>
            </a:r>
            <a:r>
              <a:rPr lang="ko-KR" altLang="en-US" sz="700" dirty="0">
                <a:latin typeface="+mn-ea"/>
              </a:rPr>
              <a:t>원</a:t>
            </a:r>
            <a:endParaRPr lang="en-US" altLang="ko-KR" sz="700" dirty="0">
              <a:latin typeface="+mn-ea"/>
            </a:endParaRPr>
          </a:p>
          <a:p>
            <a:pPr>
              <a:lnSpc>
                <a:spcPct val="200000"/>
              </a:lnSpc>
            </a:pPr>
            <a:endParaRPr lang="en-US" altLang="ko-KR" sz="700" b="1" dirty="0">
              <a:latin typeface="+mn-ea"/>
            </a:endParaRPr>
          </a:p>
          <a:p>
            <a:pPr algn="r">
              <a:lnSpc>
                <a:spcPct val="200000"/>
              </a:lnSpc>
            </a:pPr>
            <a:r>
              <a:rPr lang="en-US" altLang="ko-KR" sz="700" dirty="0" smtClean="0">
                <a:latin typeface="+mn-ea"/>
              </a:rPr>
              <a:t>5,000,000 </a:t>
            </a:r>
            <a:r>
              <a:rPr lang="ko-KR" altLang="en-US" sz="700" dirty="0">
                <a:latin typeface="+mn-ea"/>
              </a:rPr>
              <a:t>원</a:t>
            </a:r>
            <a:endParaRPr lang="en-US" altLang="ko-KR" sz="700" dirty="0">
              <a:latin typeface="+mn-ea"/>
            </a:endParaRPr>
          </a:p>
        </p:txBody>
      </p:sp>
      <p:grpSp>
        <p:nvGrpSpPr>
          <p:cNvPr id="158" name="그룹 157"/>
          <p:cNvGrpSpPr/>
          <p:nvPr/>
        </p:nvGrpSpPr>
        <p:grpSpPr>
          <a:xfrm>
            <a:off x="3835005" y="1915644"/>
            <a:ext cx="2630093" cy="1934696"/>
            <a:chOff x="701175" y="1835481"/>
            <a:chExt cx="2630093" cy="1934696"/>
          </a:xfrm>
        </p:grpSpPr>
        <p:cxnSp>
          <p:nvCxnSpPr>
            <p:cNvPr id="159" name="직선 연결선 1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3360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1175" y="35715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1175" y="3770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2" name="사각형: 둥근 모서리 15">
            <a:extLst>
              <a:ext uri="{FF2B5EF4-FFF2-40B4-BE49-F238E27FC236}">
                <a16:creationId xmlns:a16="http://schemas.microsoft.com/office/drawing/2014/main" id="{E2B61CFB-AD16-68D0-8752-50D9C5E01971}"/>
              </a:ext>
            </a:extLst>
          </p:cNvPr>
          <p:cNvSpPr/>
          <p:nvPr/>
        </p:nvSpPr>
        <p:spPr>
          <a:xfrm>
            <a:off x="4675931" y="2158865"/>
            <a:ext cx="1780918" cy="162000"/>
          </a:xfrm>
          <a:prstGeom prst="roundRect">
            <a:avLst/>
          </a:prstGeom>
          <a:noFill/>
          <a:ln w="3175" cap="flat" cmpd="sng" algn="ctr">
            <a:no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smtClean="0">
                <a:ln>
                  <a:noFill/>
                </a:ln>
                <a:solidFill>
                  <a:sysClr val="windowText" lastClr="000000"/>
                </a:solidFill>
                <a:effectLst/>
                <a:uLnTx/>
                <a:uFillTx/>
                <a:latin typeface="맑은 고딕"/>
              </a:rPr>
              <a:t>구성업체콩콩</a:t>
            </a:r>
            <a:endParaRPr kumimoji="1" lang="en-US" sz="700" b="0" i="0" u="none" strike="noStrike" kern="0" cap="none" spc="0" normalizeH="0" baseline="0" noProof="0" dirty="0">
              <a:ln>
                <a:noFill/>
              </a:ln>
              <a:solidFill>
                <a:sysClr val="windowText" lastClr="000000"/>
              </a:solidFill>
              <a:effectLst/>
              <a:uLnTx/>
              <a:uFillTx/>
              <a:latin typeface="맑은 고딕"/>
            </a:endParaRPr>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4675931" y="3664457"/>
            <a:ext cx="1780918" cy="162000"/>
          </a:xfrm>
          <a:prstGeom prst="roundRect">
            <a:avLst/>
          </a:prstGeom>
          <a:noFill/>
          <a:ln w="3175" cap="flat" cmpd="sng" algn="ctr">
            <a:no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smtClean="0">
                <a:solidFill>
                  <a:srgbClr val="0070C0"/>
                </a:solidFill>
                <a:latin typeface="맑은 고딕"/>
                <a:ea typeface="맑은 고딕" panose="020B0503020000020004" pitchFamily="50" charset="-127"/>
              </a:rPr>
              <a:t>동의</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모서리가 둥근 직사각형 140"/>
          <p:cNvSpPr/>
          <p:nvPr/>
        </p:nvSpPr>
        <p:spPr>
          <a:xfrm rot="5400000">
            <a:off x="5780626" y="415592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3835005" y="18448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3878683" y="1628224"/>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4503353" y="1628224"/>
            <a:ext cx="555764"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5071241" y="1628224"/>
            <a:ext cx="655640" cy="107722"/>
          </a:xfrm>
          <a:prstGeom prst="rect">
            <a:avLst/>
          </a:prstGeom>
          <a:noFill/>
        </p:spPr>
        <p:txBody>
          <a:bodyPr wrap="square" lIns="0" tIns="0" rIns="0" bIns="0" rtlCol="0">
            <a:spAutoFit/>
          </a:bodyPr>
          <a:lstStyle/>
          <a:p>
            <a:pPr algn="ctr"/>
            <a:r>
              <a:rPr lang="en-US" altLang="ko-KR" sz="700" b="1" dirty="0">
                <a:latin typeface="+mn-ea"/>
              </a:rPr>
              <a:t>5. </a:t>
            </a:r>
            <a:r>
              <a:rPr lang="ko-KR" altLang="en-US" sz="700" b="1" dirty="0">
                <a:latin typeface="+mn-ea"/>
              </a:rPr>
              <a:t>공동수급업체</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5739004" y="1628224"/>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5059117" y="1844831"/>
            <a:ext cx="6798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93" name="그룹 192"/>
          <p:cNvGrpSpPr/>
          <p:nvPr/>
        </p:nvGrpSpPr>
        <p:grpSpPr>
          <a:xfrm>
            <a:off x="6038601" y="1590101"/>
            <a:ext cx="422853" cy="187961"/>
            <a:chOff x="3641308" y="2234886"/>
            <a:chExt cx="422853" cy="187961"/>
          </a:xfrm>
        </p:grpSpPr>
        <p:sp>
          <p:nvSpPr>
            <p:cNvPr id="194" name="타원 19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5" name="그룹 194"/>
            <p:cNvGrpSpPr/>
            <p:nvPr/>
          </p:nvGrpSpPr>
          <p:grpSpPr>
            <a:xfrm rot="5400000" flipH="1">
              <a:off x="3679895" y="2305364"/>
              <a:ext cx="94010" cy="47005"/>
              <a:chOff x="6812560" y="3297172"/>
              <a:chExt cx="94010" cy="47005"/>
            </a:xfrm>
          </p:grpSpPr>
          <p:cxnSp>
            <p:nvCxnSpPr>
              <p:cNvPr id="200" name="직선 연결선 19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1" name="직선 연결선 20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6" name="타원 19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7" name="그룹 196"/>
            <p:cNvGrpSpPr/>
            <p:nvPr/>
          </p:nvGrpSpPr>
          <p:grpSpPr>
            <a:xfrm rot="16200000">
              <a:off x="3931564" y="2305364"/>
              <a:ext cx="94010" cy="47005"/>
              <a:chOff x="6812560" y="3297172"/>
              <a:chExt cx="94010" cy="47005"/>
            </a:xfrm>
          </p:grpSpPr>
          <p:cxnSp>
            <p:nvCxnSpPr>
              <p:cNvPr id="198" name="직선 연결선 1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9" name="직선 연결선 1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6" name="그룹 5"/>
          <p:cNvGrpSpPr/>
          <p:nvPr/>
        </p:nvGrpSpPr>
        <p:grpSpPr>
          <a:xfrm>
            <a:off x="718889" y="2764257"/>
            <a:ext cx="2630862" cy="830997"/>
            <a:chOff x="718889" y="2996857"/>
            <a:chExt cx="2630862" cy="830997"/>
          </a:xfrm>
        </p:grpSpPr>
        <p:grpSp>
          <p:nvGrpSpPr>
            <p:cNvPr id="5" name="그룹 4"/>
            <p:cNvGrpSpPr/>
            <p:nvPr/>
          </p:nvGrpSpPr>
          <p:grpSpPr>
            <a:xfrm>
              <a:off x="718889" y="3083033"/>
              <a:ext cx="2630862" cy="622606"/>
              <a:chOff x="718889" y="3083033"/>
              <a:chExt cx="2630862" cy="622606"/>
            </a:xfrm>
          </p:grpSpPr>
          <p:sp>
            <p:nvSpPr>
              <p:cNvPr id="123" name="직사각형 122"/>
              <p:cNvSpPr/>
              <p:nvPr/>
            </p:nvSpPr>
            <p:spPr>
              <a:xfrm>
                <a:off x="718889" y="3083033"/>
                <a:ext cx="792000" cy="4356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TextBox 97">
                <a:extLst>
                  <a:ext uri="{FF2B5EF4-FFF2-40B4-BE49-F238E27FC236}">
                    <a16:creationId xmlns:a16="http://schemas.microsoft.com/office/drawing/2014/main" id="{FFC49AEA-2A8F-250C-A86A-A7751D9706C3}"/>
                  </a:ext>
                </a:extLst>
              </p:cNvPr>
              <p:cNvSpPr txBox="1"/>
              <p:nvPr/>
            </p:nvSpPr>
            <p:spPr>
              <a:xfrm>
                <a:off x="753785" y="3093612"/>
                <a:ext cx="725552" cy="612027"/>
              </a:xfrm>
              <a:prstGeom prst="rect">
                <a:avLst/>
              </a:prstGeom>
              <a:noFill/>
            </p:spPr>
            <p:txBody>
              <a:bodyPr wrap="square" lIns="0" tIns="0" rIns="0" bIns="0" rtlCol="0">
                <a:spAutoFit/>
              </a:bodyPr>
              <a:lstStyle/>
              <a:p>
                <a:pPr>
                  <a:lnSpc>
                    <a:spcPct val="200000"/>
                  </a:lnSpc>
                </a:pPr>
                <a:r>
                  <a:rPr lang="ko-KR" altLang="en-US" sz="700" dirty="0" smtClean="0">
                    <a:latin typeface="+mn-ea"/>
                  </a:rPr>
                  <a:t>입찰보증금액</a:t>
                </a:r>
                <a:endParaRPr lang="en-US" altLang="ko-KR" sz="700" dirty="0" smtClean="0">
                  <a:latin typeface="+mn-ea"/>
                </a:endParaRPr>
              </a:p>
              <a:p>
                <a:pPr>
                  <a:lnSpc>
                    <a:spcPct val="200000"/>
                  </a:lnSpc>
                </a:pPr>
                <a:r>
                  <a:rPr lang="ko-KR" altLang="en-US" sz="700" dirty="0" err="1" smtClean="0">
                    <a:latin typeface="+mn-ea"/>
                  </a:rPr>
                  <a:t>투찰금액</a:t>
                </a:r>
                <a:endParaRPr lang="en-US" altLang="ko-KR" sz="700" dirty="0" smtClean="0">
                  <a:latin typeface="+mn-ea"/>
                </a:endParaRPr>
              </a:p>
              <a:p>
                <a:pPr>
                  <a:lnSpc>
                    <a:spcPct val="200000"/>
                  </a:lnSpc>
                </a:pPr>
                <a:endParaRPr lang="en-US" altLang="ko-KR" sz="700" dirty="0">
                  <a:latin typeface="+mn-ea"/>
                </a:endParaRPr>
              </a:p>
            </p:txBody>
          </p:sp>
          <p:grpSp>
            <p:nvGrpSpPr>
              <p:cNvPr id="99" name="그룹 98"/>
              <p:cNvGrpSpPr/>
              <p:nvPr/>
            </p:nvGrpSpPr>
            <p:grpSpPr>
              <a:xfrm>
                <a:off x="719658" y="3093612"/>
                <a:ext cx="2630093" cy="429480"/>
                <a:chOff x="701175" y="1835481"/>
                <a:chExt cx="2630093" cy="429480"/>
              </a:xfrm>
            </p:grpSpPr>
            <p:cxnSp>
              <p:nvCxnSpPr>
                <p:cNvPr id="100" name="직선 연결선 9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3" name="직사각형 2"/>
            <p:cNvSpPr/>
            <p:nvPr/>
          </p:nvSpPr>
          <p:spPr>
            <a:xfrm>
              <a:off x="2281802" y="2996857"/>
              <a:ext cx="1064779" cy="830997"/>
            </a:xfrm>
            <a:prstGeom prst="rect">
              <a:avLst/>
            </a:prstGeom>
          </p:spPr>
          <p:txBody>
            <a:bodyPr wrap="none">
              <a:spAutoFit/>
            </a:bodyPr>
            <a:lstStyle/>
            <a:p>
              <a:pPr algn="r">
                <a:lnSpc>
                  <a:spcPct val="200000"/>
                </a:lnSpc>
              </a:pPr>
              <a:r>
                <a:rPr lang="en-US" altLang="ko-KR" sz="800" dirty="0">
                  <a:latin typeface="+mn-ea"/>
                </a:rPr>
                <a:t>000,000,000,000 </a:t>
              </a:r>
              <a:r>
                <a:rPr lang="ko-KR" altLang="en-US" sz="800" dirty="0" smtClean="0">
                  <a:latin typeface="+mn-ea"/>
                </a:rPr>
                <a:t>원</a:t>
              </a:r>
              <a:endParaRPr lang="en-US" altLang="ko-KR" sz="800" dirty="0" smtClean="0">
                <a:latin typeface="+mn-ea"/>
              </a:endParaRPr>
            </a:p>
            <a:p>
              <a:pPr algn="r">
                <a:lnSpc>
                  <a:spcPct val="200000"/>
                </a:lnSpc>
              </a:pPr>
              <a:r>
                <a:rPr lang="en-US" altLang="ko-KR" sz="800" dirty="0">
                  <a:latin typeface="+mn-ea"/>
                </a:rPr>
                <a:t>000,000,000,000 </a:t>
              </a:r>
              <a:r>
                <a:rPr lang="ko-KR" altLang="en-US" sz="800" dirty="0">
                  <a:latin typeface="+mn-ea"/>
                </a:rPr>
                <a:t>원</a:t>
              </a:r>
              <a:endParaRPr lang="en-US" altLang="ko-KR" sz="800" dirty="0">
                <a:latin typeface="+mn-ea"/>
              </a:endParaRPr>
            </a:p>
            <a:p>
              <a:pPr algn="r">
                <a:lnSpc>
                  <a:spcPct val="200000"/>
                </a:lnSpc>
              </a:pPr>
              <a:endParaRPr lang="en-US" altLang="ko-KR" sz="800" dirty="0">
                <a:latin typeface="+mn-ea"/>
              </a:endParaRPr>
            </a:p>
          </p:txBody>
        </p:sp>
      </p:grpSp>
      <p:sp>
        <p:nvSpPr>
          <p:cNvPr id="125" name="직사각형 12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sp>
        <p:nvSpPr>
          <p:cNvPr id="116" name="직사각형 115"/>
          <p:cNvSpPr/>
          <p:nvPr/>
        </p:nvSpPr>
        <p:spPr>
          <a:xfrm>
            <a:off x="3837098" y="3921829"/>
            <a:ext cx="792000" cy="193899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TextBox 116">
            <a:extLst>
              <a:ext uri="{FF2B5EF4-FFF2-40B4-BE49-F238E27FC236}">
                <a16:creationId xmlns:a16="http://schemas.microsoft.com/office/drawing/2014/main" id="{FFC49AEA-2A8F-250C-A86A-A7751D9706C3}"/>
              </a:ext>
            </a:extLst>
          </p:cNvPr>
          <p:cNvSpPr txBox="1"/>
          <p:nvPr/>
        </p:nvSpPr>
        <p:spPr>
          <a:xfrm>
            <a:off x="3924161" y="3921828"/>
            <a:ext cx="725552" cy="193899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공동수급업체</a:t>
            </a:r>
            <a:endParaRPr lang="en-US" altLang="ko-KR" sz="700" dirty="0">
              <a:latin typeface="+mn-ea"/>
            </a:endParaRPr>
          </a:p>
          <a:p>
            <a:pPr>
              <a:lnSpc>
                <a:spcPct val="200000"/>
              </a:lnSpc>
            </a:pPr>
            <a:r>
              <a:rPr lang="ko-KR" altLang="en-US" sz="700" dirty="0" err="1">
                <a:latin typeface="+mn-ea"/>
              </a:rPr>
              <a:t>이행방식</a:t>
            </a:r>
            <a:endParaRPr lang="en-US" altLang="ko-KR" sz="700" dirty="0">
              <a:latin typeface="+mn-ea"/>
            </a:endParaRPr>
          </a:p>
          <a:p>
            <a:pPr>
              <a:lnSpc>
                <a:spcPct val="200000"/>
              </a:lnSpc>
            </a:pPr>
            <a:r>
              <a:rPr lang="ko-KR" altLang="en-US" sz="700" dirty="0">
                <a:latin typeface="+mn-ea"/>
              </a:rPr>
              <a:t>공동분담업종</a:t>
            </a:r>
            <a:endParaRPr lang="en-US" altLang="ko-KR" sz="700" dirty="0">
              <a:latin typeface="+mn-ea"/>
            </a:endParaRPr>
          </a:p>
          <a:p>
            <a:pPr>
              <a:lnSpc>
                <a:spcPct val="200000"/>
              </a:lnSpc>
            </a:pPr>
            <a:r>
              <a:rPr lang="ko-KR" altLang="en-US" sz="700" dirty="0">
                <a:latin typeface="+mn-ea"/>
              </a:rPr>
              <a:t>출자비율</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a:latin typeface="+mn-ea"/>
              </a:rPr>
              <a:t>납부방법</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smtClean="0">
                <a:latin typeface="+mn-ea"/>
              </a:rPr>
              <a:t>동의여부</a:t>
            </a:r>
            <a:endParaRPr lang="en-US" altLang="ko-KR" sz="700" dirty="0">
              <a:latin typeface="+mn-ea"/>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4681010" y="3921828"/>
            <a:ext cx="1784088" cy="1723549"/>
          </a:xfrm>
          <a:prstGeom prst="rect">
            <a:avLst/>
          </a:prstGeom>
          <a:noFill/>
        </p:spPr>
        <p:txBody>
          <a:bodyPr wrap="square" lIns="0" tIns="0" rIns="0" bIns="0" rtlCol="0">
            <a:spAutoFit/>
          </a:bodyPr>
          <a:lstStyle/>
          <a:p>
            <a:pPr>
              <a:lnSpc>
                <a:spcPct val="200000"/>
              </a:lnSpc>
            </a:pPr>
            <a:r>
              <a:rPr lang="ko-KR" altLang="en-US" sz="700" dirty="0" smtClean="0">
                <a:latin typeface="+mn-ea"/>
              </a:rPr>
              <a:t>구성</a:t>
            </a:r>
            <a:r>
              <a:rPr lang="en-US" altLang="ko-KR" sz="700" dirty="0" smtClean="0">
                <a:latin typeface="+mn-ea"/>
              </a:rPr>
              <a:t>2</a:t>
            </a:r>
            <a:endParaRPr lang="en-US" altLang="ko-KR" sz="700" dirty="0">
              <a:latin typeface="+mn-ea"/>
            </a:endParaRPr>
          </a:p>
          <a:p>
            <a:pPr>
              <a:lnSpc>
                <a:spcPct val="200000"/>
              </a:lnSpc>
            </a:pPr>
            <a:endParaRPr lang="en-US" altLang="ko-KR" sz="700" dirty="0" smtClean="0">
              <a:latin typeface="+mn-ea"/>
            </a:endParaRPr>
          </a:p>
          <a:p>
            <a:pPr>
              <a:lnSpc>
                <a:spcPct val="200000"/>
              </a:lnSpc>
            </a:pPr>
            <a:endParaRPr lang="en-US" altLang="ko-KR" sz="700" dirty="0" smtClean="0">
              <a:latin typeface="+mn-ea"/>
            </a:endParaRPr>
          </a:p>
          <a:p>
            <a:pPr>
              <a:lnSpc>
                <a:spcPct val="200000"/>
              </a:lnSpc>
            </a:pPr>
            <a:endParaRPr lang="en-US" altLang="ko-KR" sz="700" dirty="0" smtClean="0">
              <a:latin typeface="+mn-ea"/>
            </a:endParaRPr>
          </a:p>
          <a:p>
            <a:pPr algn="r">
              <a:lnSpc>
                <a:spcPct val="200000"/>
              </a:lnSpc>
            </a:pPr>
            <a:r>
              <a:rPr lang="en-US" altLang="ko-KR" sz="700" dirty="0" smtClean="0">
                <a:latin typeface="+mn-ea"/>
              </a:rPr>
              <a:t>20 </a:t>
            </a:r>
            <a:r>
              <a:rPr lang="en-US" altLang="ko-KR" sz="700" dirty="0">
                <a:latin typeface="+mn-ea"/>
              </a:rPr>
              <a:t>%</a:t>
            </a:r>
          </a:p>
          <a:p>
            <a:pPr algn="r">
              <a:lnSpc>
                <a:spcPct val="200000"/>
              </a:lnSpc>
            </a:pPr>
            <a:r>
              <a:rPr lang="en-US" altLang="ko-KR" sz="700" dirty="0" smtClean="0">
                <a:latin typeface="+mn-ea"/>
              </a:rPr>
              <a:t>10,000,000,000 </a:t>
            </a:r>
            <a:r>
              <a:rPr lang="ko-KR" altLang="en-US" sz="700" dirty="0">
                <a:latin typeface="+mn-ea"/>
              </a:rPr>
              <a:t>원</a:t>
            </a:r>
            <a:endParaRPr lang="en-US" altLang="ko-KR" sz="700" dirty="0">
              <a:latin typeface="+mn-ea"/>
            </a:endParaRPr>
          </a:p>
          <a:p>
            <a:pPr>
              <a:lnSpc>
                <a:spcPct val="200000"/>
              </a:lnSpc>
            </a:pPr>
            <a:endParaRPr lang="en-US" altLang="ko-KR" sz="700" b="1" dirty="0">
              <a:latin typeface="+mn-ea"/>
            </a:endParaRPr>
          </a:p>
          <a:p>
            <a:pPr algn="r">
              <a:lnSpc>
                <a:spcPct val="200000"/>
              </a:lnSpc>
            </a:pPr>
            <a:r>
              <a:rPr lang="en-US" altLang="ko-KR" sz="700" dirty="0" smtClean="0">
                <a:latin typeface="+mn-ea"/>
              </a:rPr>
              <a:t>5,000,000,000 </a:t>
            </a:r>
            <a:r>
              <a:rPr lang="ko-KR" altLang="en-US" sz="700" dirty="0">
                <a:latin typeface="+mn-ea"/>
              </a:rPr>
              <a:t>원</a:t>
            </a:r>
            <a:endParaRPr lang="en-US" altLang="ko-KR" sz="700" dirty="0">
              <a:latin typeface="+mn-ea"/>
            </a:endParaRPr>
          </a:p>
        </p:txBody>
      </p:sp>
      <p:grpSp>
        <p:nvGrpSpPr>
          <p:cNvPr id="119" name="그룹 118"/>
          <p:cNvGrpSpPr/>
          <p:nvPr/>
        </p:nvGrpSpPr>
        <p:grpSpPr>
          <a:xfrm>
            <a:off x="3835005" y="3921828"/>
            <a:ext cx="2630093" cy="1934696"/>
            <a:chOff x="701175" y="1835481"/>
            <a:chExt cx="2630093" cy="1934696"/>
          </a:xfrm>
        </p:grpSpPr>
        <p:cxnSp>
          <p:nvCxnSpPr>
            <p:cNvPr id="120" name="직선 연결선 11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1175" y="3360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1175" y="35715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1175" y="3770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5" name="사각형: 둥근 모서리 15">
            <a:extLst>
              <a:ext uri="{FF2B5EF4-FFF2-40B4-BE49-F238E27FC236}">
                <a16:creationId xmlns:a16="http://schemas.microsoft.com/office/drawing/2014/main" id="{E2B61CFB-AD16-68D0-8752-50D9C5E01971}"/>
              </a:ext>
            </a:extLst>
          </p:cNvPr>
          <p:cNvSpPr/>
          <p:nvPr/>
        </p:nvSpPr>
        <p:spPr>
          <a:xfrm>
            <a:off x="4675931" y="4165049"/>
            <a:ext cx="1780918" cy="162000"/>
          </a:xfrm>
          <a:prstGeom prst="roundRect">
            <a:avLst/>
          </a:prstGeom>
          <a:noFill/>
          <a:ln w="3175" cap="flat" cmpd="sng" algn="ctr">
            <a:no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smtClean="0">
                <a:ln>
                  <a:noFill/>
                </a:ln>
                <a:solidFill>
                  <a:sysClr val="windowText" lastClr="000000"/>
                </a:solidFill>
                <a:effectLst/>
                <a:uLnTx/>
                <a:uFillTx/>
                <a:latin typeface="맑은 고딕"/>
              </a:rPr>
              <a:t>사피엔스콩</a:t>
            </a:r>
            <a:endParaRPr kumimoji="1" lang="en-US" sz="700" b="0" i="0" u="none" strike="noStrike" kern="0" cap="none" spc="0" normalizeH="0" baseline="0" noProof="0" dirty="0">
              <a:ln>
                <a:noFill/>
              </a:ln>
              <a:solidFill>
                <a:sysClr val="windowText" lastClr="000000"/>
              </a:solidFill>
              <a:effectLst/>
              <a:uLnTx/>
              <a:uFillTx/>
              <a:latin typeface="맑은 고딕"/>
            </a:endParaRPr>
          </a:p>
        </p:txBody>
      </p:sp>
      <p:sp>
        <p:nvSpPr>
          <p:cNvPr id="136" name="사각형: 둥근 모서리 15">
            <a:extLst>
              <a:ext uri="{FF2B5EF4-FFF2-40B4-BE49-F238E27FC236}">
                <a16:creationId xmlns:a16="http://schemas.microsoft.com/office/drawing/2014/main" id="{E2B61CFB-AD16-68D0-8752-50D9C5E01971}"/>
              </a:ext>
            </a:extLst>
          </p:cNvPr>
          <p:cNvSpPr/>
          <p:nvPr/>
        </p:nvSpPr>
        <p:spPr>
          <a:xfrm>
            <a:off x="4675931" y="5670641"/>
            <a:ext cx="1780918" cy="162000"/>
          </a:xfrm>
          <a:prstGeom prst="roundRect">
            <a:avLst/>
          </a:prstGeom>
          <a:noFill/>
          <a:ln w="3175" cap="flat" cmpd="sng" algn="ctr">
            <a:no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smtClean="0">
                <a:ln>
                  <a:noFill/>
                </a:ln>
                <a:solidFill>
                  <a:srgbClr val="0070C0"/>
                </a:solidFill>
                <a:effectLst/>
                <a:uLnTx/>
                <a:uFillTx/>
                <a:latin typeface="맑은 고딕"/>
              </a:rPr>
              <a:t>미동의</a:t>
            </a:r>
            <a:endParaRPr kumimoji="1" lang="en-US" sz="7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410390867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입찰참가용</a:t>
            </a:r>
            <a:r>
              <a:rPr lang="ko-KR" altLang="en-US" dirty="0"/>
              <a:t> 서류가 있는 경우 </a:t>
            </a:r>
            <a:r>
              <a:rPr lang="ko-KR" altLang="en-US" dirty="0" err="1"/>
              <a:t>파일선택을</a:t>
            </a:r>
            <a:r>
              <a:rPr lang="ko-KR" altLang="en-US" dirty="0"/>
              <a:t> 클릭하여 입찰참가 서류를 첨부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800" dirty="0" err="1">
                <a:latin typeface="+mn-ea"/>
              </a:rPr>
              <a:t>입찰진행</a:t>
            </a:r>
            <a:r>
              <a:rPr lang="ko-KR" altLang="en-US" sz="800" dirty="0">
                <a:latin typeface="+mn-ea"/>
              </a:rPr>
              <a:t> </a:t>
            </a:r>
            <a:r>
              <a:rPr lang="ko-KR" altLang="en-US" sz="800" dirty="0" smtClean="0">
                <a:latin typeface="+mn-ea"/>
              </a:rPr>
              <a:t>상세</a:t>
            </a:r>
            <a:r>
              <a:rPr lang="en-US" altLang="ko-KR" sz="800" dirty="0"/>
              <a:t>-</a:t>
            </a:r>
            <a:r>
              <a:rPr lang="ko-KR" altLang="en-US" sz="800" dirty="0" err="1"/>
              <a:t>입찰참가신청조회파일첨부</a:t>
            </a:r>
            <a:r>
              <a:rPr lang="ko-KR" altLang="en-US" sz="800" dirty="0"/>
              <a:t> </a:t>
            </a:r>
            <a:endParaRPr lang="ko-KR" altLang="en-US" sz="8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a:t>
            </a:r>
            <a:r>
              <a:rPr lang="ko-KR" altLang="en-US" dirty="0">
                <a:latin typeface="+mn-ea"/>
              </a:rPr>
              <a:t>파일첨부</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상세</a:t>
            </a:r>
            <a:r>
              <a:rPr lang="en-US" altLang="ko-KR" dirty="0">
                <a:latin typeface="+mn-ea"/>
              </a:rPr>
              <a:t>&gt; </a:t>
            </a:r>
            <a:r>
              <a:rPr lang="ko-KR" altLang="en-US" dirty="0">
                <a:latin typeface="+mn-ea"/>
              </a:rPr>
              <a:t>입찰참가신청서 </a:t>
            </a:r>
            <a:r>
              <a:rPr lang="en-US" altLang="ko-KR" dirty="0">
                <a:latin typeface="+mn-ea"/>
              </a:rPr>
              <a:t>&gt;</a:t>
            </a:r>
            <a:r>
              <a:rPr lang="ko-KR" altLang="en-US" dirty="0">
                <a:latin typeface="+mn-ea"/>
              </a:rPr>
              <a:t>신청서 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MUI-BD-04-T06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182832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1611715"/>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430194" y="1611715"/>
            <a:ext cx="555764" cy="107722"/>
          </a:xfrm>
          <a:prstGeom prst="rect">
            <a:avLst/>
          </a:prstGeom>
          <a:noFill/>
        </p:spPr>
        <p:txBody>
          <a:bodyPr wrap="square" lIns="0" tIns="0" rIns="0" bIns="0" rtlCol="0">
            <a:spAutoFit/>
          </a:bodyPr>
          <a:lstStyle/>
          <a:p>
            <a:pPr algn="ctr"/>
            <a:r>
              <a:rPr lang="en-US" altLang="ko-KR" sz="700" b="1" dirty="0">
                <a:latin typeface="+mn-ea"/>
              </a:rPr>
              <a:t>6. </a:t>
            </a:r>
            <a:r>
              <a:rPr lang="ko-KR" altLang="en-US" sz="700" b="1" dirty="0">
                <a:latin typeface="+mn-ea"/>
              </a:rPr>
              <a:t>파일첨부</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2007623" y="1611715"/>
            <a:ext cx="655640" cy="107722"/>
          </a:xfrm>
          <a:prstGeom prst="rect">
            <a:avLst/>
          </a:prstGeom>
          <a:noFill/>
        </p:spPr>
        <p:txBody>
          <a:bodyPr wrap="square" lIns="0" tIns="0" rIns="0" bIns="0" rtlCol="0">
            <a:spAutoFit/>
          </a:bodyPr>
          <a:lstStyle/>
          <a:p>
            <a:pPr algn="ctr"/>
            <a:r>
              <a:rPr lang="en-US" altLang="ko-KR" sz="700" dirty="0">
                <a:latin typeface="+mn-ea"/>
              </a:rPr>
              <a:t>7. </a:t>
            </a:r>
            <a:r>
              <a:rPr lang="ko-KR" altLang="en-US" sz="700" dirty="0">
                <a:latin typeface="+mn-ea"/>
              </a:rPr>
              <a:t>문의 및 동의</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455271" y="1828322"/>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1573592"/>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9" name="모서리가 둥근 직사각형 108"/>
          <p:cNvSpPr/>
          <p:nvPr/>
        </p:nvSpPr>
        <p:spPr>
          <a:xfrm>
            <a:off x="705041" y="1944878"/>
            <a:ext cx="2652743" cy="1293707"/>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043162"/>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a:solidFill>
                  <a:srgbClr val="FF0000"/>
                </a:solidFill>
                <a:latin typeface="맑은 고딕" panose="020B0503020000020004" pitchFamily="50" charset="-127"/>
              </a:rPr>
              <a:t>대표 및 </a:t>
            </a:r>
            <a:r>
              <a:rPr lang="ko-KR" altLang="en-US" sz="700" dirty="0" err="1">
                <a:solidFill>
                  <a:srgbClr val="FF0000"/>
                </a:solidFill>
                <a:latin typeface="맑은 고딕" panose="020B0503020000020004" pitchFamily="50" charset="-127"/>
              </a:rPr>
              <a:t>등기임원의</a:t>
            </a:r>
            <a:r>
              <a:rPr lang="ko-KR" altLang="en-US" sz="700" dirty="0">
                <a:solidFill>
                  <a:srgbClr val="FF0000"/>
                </a:solidFill>
                <a:latin typeface="맑은 고딕" panose="020B0503020000020004" pitchFamily="50" charset="-127"/>
              </a:rPr>
              <a:t> 청렴서약서를 반드시 첨부하시기 바랍니다</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r>
              <a:rPr lang="ko-KR" altLang="en-US" sz="700" dirty="0">
                <a:solidFill>
                  <a:srgbClr val="FF0000"/>
                </a:solidFill>
                <a:latin typeface="맑은 고딕" panose="020B0503020000020004" pitchFamily="50" charset="-127"/>
              </a:rPr>
              <a:t>법인등기부등본</a:t>
            </a:r>
            <a:r>
              <a:rPr lang="en-US" altLang="ko-KR" sz="700" dirty="0">
                <a:solidFill>
                  <a:srgbClr val="FF0000"/>
                </a:solidFill>
                <a:latin typeface="맑은 고딕" panose="020B0503020000020004" pitchFamily="50" charset="-127"/>
              </a:rPr>
              <a:t>(</a:t>
            </a:r>
            <a:r>
              <a:rPr lang="ko-KR" altLang="en-US" sz="700" dirty="0">
                <a:solidFill>
                  <a:srgbClr val="FF0000"/>
                </a:solidFill>
                <a:latin typeface="맑은 고딕" panose="020B0503020000020004" pitchFamily="50" charset="-127"/>
              </a:rPr>
              <a:t>등기사항 </a:t>
            </a:r>
            <a:r>
              <a:rPr lang="ko-KR" altLang="en-US" sz="700" dirty="0" err="1">
                <a:solidFill>
                  <a:srgbClr val="FF0000"/>
                </a:solidFill>
                <a:latin typeface="맑은 고딕" panose="020B0503020000020004" pitchFamily="50" charset="-127"/>
              </a:rPr>
              <a:t>전부증명서</a:t>
            </a:r>
            <a:r>
              <a:rPr lang="en-US" altLang="ko-KR" sz="700" dirty="0">
                <a:solidFill>
                  <a:srgbClr val="FF0000"/>
                </a:solidFill>
                <a:latin typeface="맑은 고딕" panose="020B0503020000020004" pitchFamily="50" charset="-127"/>
              </a:rPr>
              <a:t>)</a:t>
            </a:r>
            <a:r>
              <a:rPr lang="ko-KR" altLang="en-US" sz="700" dirty="0">
                <a:solidFill>
                  <a:srgbClr val="FF0000"/>
                </a:solidFill>
                <a:latin typeface="맑은 고딕" panose="020B0503020000020004" pitchFamily="50" charset="-127"/>
              </a:rPr>
              <a:t>을 반드시 첨부하시기 바랍니다</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r>
              <a:rPr lang="ko-KR" altLang="en-US" sz="700" dirty="0">
                <a:latin typeface="맑은 고딕" panose="020B0503020000020004" pitchFamily="50" charset="-127"/>
              </a:rPr>
              <a:t>건당 크기 </a:t>
            </a:r>
            <a:r>
              <a:rPr lang="en-US" altLang="ko-KR" sz="700" dirty="0">
                <a:latin typeface="맑은 고딕" panose="020B0503020000020004" pitchFamily="50" charset="-127"/>
              </a:rPr>
              <a:t>10MB </a:t>
            </a:r>
            <a:r>
              <a:rPr lang="ko-KR" altLang="en-US" sz="700" dirty="0">
                <a:latin typeface="맑은 고딕" panose="020B0503020000020004" pitchFamily="50" charset="-127"/>
              </a:rPr>
              <a:t>미만 파일만 </a:t>
            </a:r>
            <a:r>
              <a:rPr lang="ko-KR" altLang="en-US" sz="700" dirty="0" err="1">
                <a:latin typeface="맑은 고딕" panose="020B0503020000020004" pitchFamily="50" charset="-127"/>
              </a:rPr>
              <a:t>첨부가능합니다</a:t>
            </a:r>
            <a:r>
              <a:rPr lang="en-US" altLang="ko-KR" sz="700" dirty="0">
                <a:latin typeface="맑은 고딕" panose="020B0503020000020004" pitchFamily="50" charset="-127"/>
              </a:rPr>
              <a:t>.</a:t>
            </a:r>
          </a:p>
          <a:p>
            <a:pPr marL="88900" indent="-88900">
              <a:buFont typeface="Arial" panose="020B0604020202020204" pitchFamily="34" charset="0"/>
              <a:buChar char="•"/>
            </a:pPr>
            <a:r>
              <a:rPr lang="ko-KR" altLang="en-US" sz="700" dirty="0">
                <a:latin typeface="맑은 고딕" panose="020B0503020000020004" pitchFamily="50" charset="-127"/>
              </a:rPr>
              <a:t>스캔 파일은 파일압축해서 업로드 부탁드립니다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a:p>
            <a:pPr marL="88900" indent="-88900">
              <a:buFont typeface="Arial" panose="020B0604020202020204" pitchFamily="34" charset="0"/>
              <a:buChar char="•"/>
            </a:pPr>
            <a:r>
              <a:rPr lang="ko-KR" altLang="en-US" sz="700" dirty="0" err="1">
                <a:solidFill>
                  <a:srgbClr val="FF0000"/>
                </a:solidFill>
                <a:latin typeface="맑은 고딕" panose="020B0503020000020004" pitchFamily="50" charset="-127"/>
              </a:rPr>
              <a:t>규격입찰서</a:t>
            </a:r>
            <a:r>
              <a:rPr lang="ko-KR" altLang="en-US" sz="700" dirty="0">
                <a:solidFill>
                  <a:srgbClr val="FF0000"/>
                </a:solidFill>
                <a:latin typeface="맑은 고딕" panose="020B0503020000020004" pitchFamily="50" charset="-127"/>
              </a:rPr>
              <a:t> 관련 </a:t>
            </a:r>
            <a:r>
              <a:rPr lang="ko-KR" altLang="en-US" sz="700" dirty="0" err="1">
                <a:solidFill>
                  <a:srgbClr val="FF0000"/>
                </a:solidFill>
                <a:latin typeface="맑은 고딕" panose="020B0503020000020004" pitchFamily="50" charset="-127"/>
              </a:rPr>
              <a:t>전자파일은</a:t>
            </a:r>
            <a:r>
              <a:rPr lang="ko-KR" altLang="en-US" sz="700" dirty="0">
                <a:solidFill>
                  <a:srgbClr val="FF0000"/>
                </a:solidFill>
                <a:latin typeface="맑은 고딕" panose="020B0503020000020004" pitchFamily="50" charset="-127"/>
              </a:rPr>
              <a:t> 입찰서 작성 시 제출해 주시기 바랍니다</a:t>
            </a:r>
            <a:r>
              <a:rPr lang="en-US" altLang="ko-KR" sz="700" dirty="0">
                <a:solidFill>
                  <a:srgbClr val="FF0000"/>
                </a:solidFill>
                <a:latin typeface="맑은 고딕" panose="020B0503020000020004" pitchFamily="50" charset="-127"/>
              </a:rPr>
              <a:t>.</a:t>
            </a:r>
            <a:endParaRPr lang="ko-KR" altLang="en-US" sz="700" dirty="0">
              <a:solidFill>
                <a:srgbClr val="FF0000"/>
              </a:solidFill>
              <a:latin typeface="맑은 고딕" panose="020B0503020000020004" pitchFamily="50" charset="-127"/>
            </a:endParaRPr>
          </a:p>
        </p:txBody>
      </p:sp>
      <p:sp>
        <p:nvSpPr>
          <p:cNvPr id="111" name="타원 110"/>
          <p:cNvSpPr/>
          <p:nvPr/>
        </p:nvSpPr>
        <p:spPr>
          <a:xfrm>
            <a:off x="789853" y="203351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082009"/>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254551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3292713"/>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332358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49" name="그룹 48"/>
          <p:cNvGrpSpPr/>
          <p:nvPr/>
        </p:nvGrpSpPr>
        <p:grpSpPr>
          <a:xfrm>
            <a:off x="675400" y="3562285"/>
            <a:ext cx="2712026" cy="960699"/>
            <a:chOff x="3795733" y="3828883"/>
            <a:chExt cx="2712026" cy="960699"/>
          </a:xfrm>
        </p:grpSpPr>
        <p:sp>
          <p:nvSpPr>
            <p:cNvPr id="50" name="TextBox 49">
              <a:extLst>
                <a:ext uri="{FF2B5EF4-FFF2-40B4-BE49-F238E27FC236}">
                  <a16:creationId xmlns:a16="http://schemas.microsoft.com/office/drawing/2014/main" id="{FFC49AEA-2A8F-250C-A86A-A7751D9706C3}"/>
                </a:ext>
              </a:extLst>
            </p:cNvPr>
            <p:cNvSpPr txBox="1"/>
            <p:nvPr/>
          </p:nvSpPr>
          <p:spPr>
            <a:xfrm>
              <a:off x="4332218" y="409352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제안요청서</a:t>
              </a:r>
              <a:r>
                <a:rPr lang="en-US" altLang="ko-KR" sz="700" dirty="0">
                  <a:solidFill>
                    <a:schemeClr val="tx1">
                      <a:lumMod val="85000"/>
                      <a:lumOff val="15000"/>
                    </a:schemeClr>
                  </a:solidFill>
                  <a:latin typeface="맑은 고딕" panose="020B0503020000020004" pitchFamily="50" charset="-127"/>
                </a:rPr>
                <a:t>.</a:t>
              </a:r>
              <a:r>
                <a:rPr lang="en-US" altLang="ko-KR" sz="700" dirty="0" err="1" smtClean="0">
                  <a:solidFill>
                    <a:schemeClr val="tx1">
                      <a:lumMod val="85000"/>
                      <a:lumOff val="15000"/>
                    </a:schemeClr>
                  </a:solidFill>
                  <a:latin typeface="맑은 고딕" panose="020B0503020000020004" pitchFamily="50" charset="-127"/>
                </a:rPr>
                <a:t>hwp</a:t>
              </a:r>
              <a:r>
                <a:rPr lang="en-US" altLang="ko-KR" sz="700" dirty="0" smtClean="0">
                  <a:solidFill>
                    <a:schemeClr val="tx1">
                      <a:lumMod val="85000"/>
                      <a:lumOff val="15000"/>
                    </a:schemeClr>
                  </a:solidFill>
                  <a:latin typeface="맑은 고딕" panose="020B0503020000020004" pitchFamily="50" charset="-127"/>
                </a:rPr>
                <a:t>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1" name="TextBox 50">
              <a:extLst>
                <a:ext uri="{FF2B5EF4-FFF2-40B4-BE49-F238E27FC236}">
                  <a16:creationId xmlns:a16="http://schemas.microsoft.com/office/drawing/2014/main" id="{FFC49AEA-2A8F-250C-A86A-A7751D9706C3}"/>
                </a:ext>
              </a:extLst>
            </p:cNvPr>
            <p:cNvSpPr txBox="1"/>
            <p:nvPr/>
          </p:nvSpPr>
          <p:spPr>
            <a:xfrm>
              <a:off x="3909746" y="414738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52" name="타원 51"/>
            <p:cNvSpPr/>
            <p:nvPr/>
          </p:nvSpPr>
          <p:spPr>
            <a:xfrm>
              <a:off x="6191669" y="412924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TextBox 52">
              <a:extLst>
                <a:ext uri="{FF2B5EF4-FFF2-40B4-BE49-F238E27FC236}">
                  <a16:creationId xmlns:a16="http://schemas.microsoft.com/office/drawing/2014/main" id="{FFC49AEA-2A8F-250C-A86A-A7751D9706C3}"/>
                </a:ext>
              </a:extLst>
            </p:cNvPr>
            <p:cNvSpPr txBox="1"/>
            <p:nvPr/>
          </p:nvSpPr>
          <p:spPr>
            <a:xfrm>
              <a:off x="4332218" y="450020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공고문</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4" name="TextBox 53">
              <a:extLst>
                <a:ext uri="{FF2B5EF4-FFF2-40B4-BE49-F238E27FC236}">
                  <a16:creationId xmlns:a16="http://schemas.microsoft.com/office/drawing/2014/main" id="{FFC49AEA-2A8F-250C-A86A-A7751D9706C3}"/>
                </a:ext>
              </a:extLst>
            </p:cNvPr>
            <p:cNvSpPr txBox="1"/>
            <p:nvPr/>
          </p:nvSpPr>
          <p:spPr>
            <a:xfrm>
              <a:off x="3909746" y="455407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59" name="타원 58"/>
            <p:cNvSpPr/>
            <p:nvPr/>
          </p:nvSpPr>
          <p:spPr>
            <a:xfrm>
              <a:off x="6191669" y="453593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TextBox 59">
              <a:extLst>
                <a:ext uri="{FF2B5EF4-FFF2-40B4-BE49-F238E27FC236}">
                  <a16:creationId xmlns:a16="http://schemas.microsoft.com/office/drawing/2014/main" id="{FFC49AEA-2A8F-250C-A86A-A7751D9706C3}"/>
                </a:ext>
              </a:extLst>
            </p:cNvPr>
            <p:cNvSpPr txBox="1"/>
            <p:nvPr/>
          </p:nvSpPr>
          <p:spPr>
            <a:xfrm>
              <a:off x="4332218" y="388388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61" name="TextBox 60">
              <a:extLst>
                <a:ext uri="{FF2B5EF4-FFF2-40B4-BE49-F238E27FC236}">
                  <a16:creationId xmlns:a16="http://schemas.microsoft.com/office/drawing/2014/main" id="{FFC49AEA-2A8F-250C-A86A-A7751D9706C3}"/>
                </a:ext>
              </a:extLst>
            </p:cNvPr>
            <p:cNvSpPr txBox="1"/>
            <p:nvPr/>
          </p:nvSpPr>
          <p:spPr>
            <a:xfrm>
              <a:off x="6101185" y="388388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62" name="TextBox 61">
              <a:extLst>
                <a:ext uri="{FF2B5EF4-FFF2-40B4-BE49-F238E27FC236}">
                  <a16:creationId xmlns:a16="http://schemas.microsoft.com/office/drawing/2014/main" id="{FFC49AEA-2A8F-250C-A86A-A7751D9706C3}"/>
                </a:ext>
              </a:extLst>
            </p:cNvPr>
            <p:cNvSpPr txBox="1"/>
            <p:nvPr/>
          </p:nvSpPr>
          <p:spPr>
            <a:xfrm>
              <a:off x="3838314" y="388388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63" name="직선 연결선 62">
              <a:extLst>
                <a:ext uri="{FF2B5EF4-FFF2-40B4-BE49-F238E27FC236}">
                  <a16:creationId xmlns:a16="http://schemas.microsoft.com/office/drawing/2014/main" id="{E9293055-D5CD-4B9E-7F64-64B2D2CA7A52}"/>
                </a:ext>
              </a:extLst>
            </p:cNvPr>
            <p:cNvCxnSpPr/>
            <p:nvPr/>
          </p:nvCxnSpPr>
          <p:spPr>
            <a:xfrm>
              <a:off x="3795733" y="3828883"/>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4" name="직선 연결선 63">
              <a:extLst>
                <a:ext uri="{FF2B5EF4-FFF2-40B4-BE49-F238E27FC236}">
                  <a16:creationId xmlns:a16="http://schemas.microsoft.com/office/drawing/2014/main" id="{E9293055-D5CD-4B9E-7F64-64B2D2CA7A52}"/>
                </a:ext>
              </a:extLst>
            </p:cNvPr>
            <p:cNvCxnSpPr/>
            <p:nvPr/>
          </p:nvCxnSpPr>
          <p:spPr>
            <a:xfrm>
              <a:off x="3795733" y="4415334"/>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5" name="직선 연결선 64">
              <a:extLst>
                <a:ext uri="{FF2B5EF4-FFF2-40B4-BE49-F238E27FC236}">
                  <a16:creationId xmlns:a16="http://schemas.microsoft.com/office/drawing/2014/main" id="{E9293055-D5CD-4B9E-7F64-64B2D2CA7A52}"/>
                </a:ext>
              </a:extLst>
            </p:cNvPr>
            <p:cNvCxnSpPr/>
            <p:nvPr/>
          </p:nvCxnSpPr>
          <p:spPr>
            <a:xfrm>
              <a:off x="3795733" y="4789582"/>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6" name="직선 연결선 65">
              <a:extLst>
                <a:ext uri="{FF2B5EF4-FFF2-40B4-BE49-F238E27FC236}">
                  <a16:creationId xmlns:a16="http://schemas.microsoft.com/office/drawing/2014/main" id="{E9293055-D5CD-4B9E-7F64-64B2D2CA7A52}"/>
                </a:ext>
              </a:extLst>
            </p:cNvPr>
            <p:cNvCxnSpPr/>
            <p:nvPr/>
          </p:nvCxnSpPr>
          <p:spPr>
            <a:xfrm>
              <a:off x="3795733" y="405651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67" name="직사각형 6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2026-07-22 </a:t>
            </a:r>
            <a:r>
              <a:rPr lang="ko-KR" altLang="en-US" dirty="0" smtClean="0"/>
              <a:t>화면 추가</a:t>
            </a:r>
            <a:endParaRPr lang="ko-KR" altLang="en-US" dirty="0"/>
          </a:p>
        </p:txBody>
      </p:sp>
    </p:spTree>
    <p:extLst>
      <p:ext uri="{BB962C8B-B14F-4D97-AF65-F5344CB8AC3E}">
        <p14:creationId xmlns:p14="http://schemas.microsoft.com/office/powerpoint/2010/main" val="3244574321"/>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문의처 담당자 연락처 정보 표시</a:t>
            </a:r>
            <a:endParaRPr lang="en-US" altLang="ko-KR" dirty="0"/>
          </a:p>
          <a:p>
            <a:pPr marL="228600" indent="-228600">
              <a:buFont typeface="+mj-lt"/>
              <a:buAutoNum type="arabicPeriod"/>
            </a:pPr>
            <a:r>
              <a:rPr lang="ko-KR" altLang="en-US" dirty="0"/>
              <a:t>약관 동의 항목 필요에 따라 노출</a:t>
            </a:r>
            <a:r>
              <a:rPr lang="en-US" altLang="ko-KR" dirty="0"/>
              <a:t/>
            </a:r>
            <a:br>
              <a:rPr lang="en-US" altLang="ko-KR" dirty="0"/>
            </a:br>
            <a:r>
              <a:rPr lang="en-US" altLang="ko-KR" dirty="0"/>
              <a:t>- </a:t>
            </a:r>
            <a:r>
              <a:rPr lang="ko-KR" altLang="en-US" dirty="0"/>
              <a:t>팝업에서 동의는 서약서와 동일</a:t>
            </a:r>
            <a:endParaRPr lang="en-US" altLang="ko-KR" dirty="0"/>
          </a:p>
          <a:p>
            <a:pPr marL="228600" indent="-228600">
              <a:buFont typeface="+mj-lt"/>
              <a:buAutoNum type="arabicPeriod"/>
            </a:pPr>
            <a:r>
              <a:rPr lang="ko-KR" altLang="en-US" dirty="0"/>
              <a:t>사후심사대상인 경우 안내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sz="700" dirty="0" err="1">
                <a:latin typeface="+mn-ea"/>
              </a:rPr>
              <a:t>입찰진행</a:t>
            </a:r>
            <a:r>
              <a:rPr lang="ko-KR" altLang="en-US" sz="700" dirty="0">
                <a:latin typeface="+mn-ea"/>
              </a:rPr>
              <a:t> </a:t>
            </a:r>
            <a:r>
              <a:rPr lang="ko-KR" altLang="en-US" sz="700" dirty="0" smtClean="0">
                <a:latin typeface="+mn-ea"/>
              </a:rPr>
              <a:t>상세</a:t>
            </a:r>
            <a:r>
              <a:rPr lang="en-US" altLang="ko-KR" sz="700" dirty="0"/>
              <a:t>-</a:t>
            </a:r>
            <a:r>
              <a:rPr lang="ko-KR" altLang="en-US" sz="700" dirty="0" err="1"/>
              <a:t>입찰참가신청조회문의및동의</a:t>
            </a:r>
            <a:r>
              <a:rPr lang="ko-KR" altLang="en-US" sz="700" dirty="0"/>
              <a:t> </a:t>
            </a:r>
            <a:endParaRPr lang="ko-KR" altLang="en-US" sz="7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입찰참가신청서조회</a:t>
            </a:r>
            <a:r>
              <a:rPr lang="ko-KR" altLang="en-US" dirty="0" smtClean="0"/>
              <a:t> </a:t>
            </a:r>
            <a:r>
              <a:rPr lang="ko-KR" altLang="en-US" dirty="0"/>
              <a:t>화면으로 입찰 참가 신청 프로세스 중 </a:t>
            </a:r>
            <a:r>
              <a:rPr lang="ko-KR" altLang="en-US" dirty="0">
                <a:latin typeface="+mn-ea"/>
              </a:rPr>
              <a:t>문의 및 동의</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sz="800" dirty="0"/>
              <a:t>홈 </a:t>
            </a:r>
            <a:r>
              <a:rPr lang="en-US" altLang="ko-KR" sz="800" dirty="0"/>
              <a:t>&gt; </a:t>
            </a:r>
            <a:r>
              <a:rPr lang="ko-KR" altLang="en-US" sz="800" dirty="0">
                <a:latin typeface="+mn-ea"/>
              </a:rPr>
              <a:t>입찰 진행 상세</a:t>
            </a:r>
            <a:r>
              <a:rPr lang="en-US" altLang="ko-KR" sz="800" dirty="0">
                <a:latin typeface="+mn-ea"/>
              </a:rPr>
              <a:t>&gt; </a:t>
            </a:r>
            <a:r>
              <a:rPr lang="ko-KR" altLang="en-US" sz="800" dirty="0">
                <a:latin typeface="+mn-ea"/>
              </a:rPr>
              <a:t>입찰참가신청서 </a:t>
            </a:r>
            <a:r>
              <a:rPr lang="en-US" altLang="ko-KR" sz="800" dirty="0">
                <a:latin typeface="+mn-ea"/>
              </a:rPr>
              <a:t>&gt;</a:t>
            </a:r>
            <a:r>
              <a:rPr lang="ko-KR" altLang="en-US" sz="800" dirty="0">
                <a:latin typeface="+mn-ea"/>
              </a:rPr>
              <a:t>신청서 문의 및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MUI-BD-04-T07 </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 name="그룹 8"/>
          <p:cNvGrpSpPr/>
          <p:nvPr/>
        </p:nvGrpSpPr>
        <p:grpSpPr>
          <a:xfrm>
            <a:off x="865539" y="3381251"/>
            <a:ext cx="2387068" cy="123111"/>
            <a:chOff x="865539" y="3381251"/>
            <a:chExt cx="2387068" cy="123111"/>
          </a:xfrm>
        </p:grpSpPr>
        <p:sp>
          <p:nvSpPr>
            <p:cNvPr id="166" name="TextBox 58">
              <a:extLst>
                <a:ext uri="{FF2B5EF4-FFF2-40B4-BE49-F238E27FC236}">
                  <a16:creationId xmlns:a16="http://schemas.microsoft.com/office/drawing/2014/main" id="{02FC114B-B48B-345F-BD70-2B5A196F5B3E}"/>
                </a:ext>
              </a:extLst>
            </p:cNvPr>
            <p:cNvSpPr txBox="1"/>
            <p:nvPr/>
          </p:nvSpPr>
          <p:spPr>
            <a:xfrm>
              <a:off x="865539" y="3381251"/>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64058" y="3381251"/>
              <a:ext cx="2130420"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err="1">
                  <a:latin typeface="맑은 고딕" panose="020B0503020000020004" pitchFamily="50" charset="-127"/>
                </a:rPr>
                <a:t>국방규격</a:t>
              </a:r>
              <a:r>
                <a:rPr lang="ko-KR" altLang="en-US" sz="800" dirty="0">
                  <a:latin typeface="맑은 고딕" panose="020B0503020000020004" pitchFamily="50" charset="-127"/>
                </a:rPr>
                <a:t> 및 계약이행 가능성</a:t>
              </a:r>
              <a:r>
                <a:rPr lang="en-US" altLang="ko-KR" sz="800" dirty="0">
                  <a:latin typeface="맑은 고딕" panose="020B0503020000020004" pitchFamily="50" charset="-127"/>
                </a:rPr>
                <a:t> </a:t>
              </a:r>
              <a:r>
                <a:rPr lang="ko-KR" altLang="en-US" sz="800" dirty="0" smtClean="0">
                  <a:latin typeface="맑은 고딕" panose="020B0503020000020004" pitchFamily="50" charset="-127"/>
                </a:rPr>
                <a:t>확인 동의</a:t>
              </a:r>
              <a:endParaRPr lang="en-US" altLang="ko-KR" sz="800" dirty="0">
                <a:latin typeface="맑은 고딕" panose="020B0503020000020004" pitchFamily="50" charset="-127"/>
              </a:endParaRPr>
            </a:p>
          </p:txBody>
        </p:sp>
        <p:sp>
          <p:nvSpPr>
            <p:cNvPr id="198" name="타원 197"/>
            <p:cNvSpPr/>
            <p:nvPr/>
          </p:nvSpPr>
          <p:spPr>
            <a:xfrm>
              <a:off x="3136892" y="3384949"/>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sp>
        <p:nvSpPr>
          <p:cNvPr id="185" name="모서리가 둥근 직사각형 184"/>
          <p:cNvSpPr/>
          <p:nvPr/>
        </p:nvSpPr>
        <p:spPr>
          <a:xfrm>
            <a:off x="707544" y="4789917"/>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796314" y="4888201"/>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cxnSp>
        <p:nvCxnSpPr>
          <p:cNvPr id="129" name="직선 연결선 128">
            <a:extLst>
              <a:ext uri="{FF2B5EF4-FFF2-40B4-BE49-F238E27FC236}">
                <a16:creationId xmlns:a16="http://schemas.microsoft.com/office/drawing/2014/main" id="{E9293055-D5CD-4B9E-7F64-64B2D2CA7A52}"/>
              </a:ext>
            </a:extLst>
          </p:cNvPr>
          <p:cNvCxnSpPr/>
          <p:nvPr/>
        </p:nvCxnSpPr>
        <p:spPr>
          <a:xfrm>
            <a:off x="720139" y="185312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763817" y="1636521"/>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1430194" y="1636521"/>
            <a:ext cx="555764"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007623" y="1636521"/>
            <a:ext cx="655640" cy="107722"/>
          </a:xfrm>
          <a:prstGeom prst="rect">
            <a:avLst/>
          </a:prstGeom>
          <a:noFill/>
        </p:spPr>
        <p:txBody>
          <a:bodyPr wrap="square" lIns="0" tIns="0" rIns="0" bIns="0" rtlCol="0">
            <a:spAutoFit/>
          </a:bodyPr>
          <a:lstStyle/>
          <a:p>
            <a:pPr algn="ctr"/>
            <a:r>
              <a:rPr lang="en-US" altLang="ko-KR" sz="700" b="1" dirty="0">
                <a:latin typeface="+mn-ea"/>
              </a:rPr>
              <a:t>7. </a:t>
            </a:r>
            <a:r>
              <a:rPr lang="ko-KR" altLang="en-US" sz="700" b="1" dirty="0">
                <a:latin typeface="+mn-ea"/>
              </a:rPr>
              <a:t>문의 및 동의</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1985958" y="1853128"/>
            <a:ext cx="67730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4" name="그룹 143"/>
          <p:cNvGrpSpPr/>
          <p:nvPr/>
        </p:nvGrpSpPr>
        <p:grpSpPr>
          <a:xfrm>
            <a:off x="2923735" y="1598398"/>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7" name="그룹 146"/>
            <p:cNvGrpSpPr/>
            <p:nvPr/>
          </p:nvGrpSpPr>
          <p:grpSpPr>
            <a:xfrm rot="5400000" flipH="1">
              <a:off x="3679895" y="2305364"/>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5" name="타원 16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7" name="그룹 166"/>
            <p:cNvGrpSpPr/>
            <p:nvPr/>
          </p:nvGrpSpPr>
          <p:grpSpPr>
            <a:xfrm rot="16200000">
              <a:off x="3931564" y="2305364"/>
              <a:ext cx="94010" cy="47005"/>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72" name="TextBox 171">
            <a:extLst>
              <a:ext uri="{FF2B5EF4-FFF2-40B4-BE49-F238E27FC236}">
                <a16:creationId xmlns:a16="http://schemas.microsoft.com/office/drawing/2014/main" id="{FFC49AEA-2A8F-250C-A86A-A7751D9706C3}"/>
              </a:ext>
            </a:extLst>
          </p:cNvPr>
          <p:cNvSpPr txBox="1"/>
          <p:nvPr/>
        </p:nvSpPr>
        <p:spPr>
          <a:xfrm>
            <a:off x="756845" y="1912136"/>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문의처</a:t>
            </a:r>
          </a:p>
        </p:txBody>
      </p:sp>
      <p:sp>
        <p:nvSpPr>
          <p:cNvPr id="173" name="사각형: 둥근 모서리 15">
            <a:extLst>
              <a:ext uri="{FF2B5EF4-FFF2-40B4-BE49-F238E27FC236}">
                <a16:creationId xmlns:a16="http://schemas.microsoft.com/office/drawing/2014/main" id="{E2B61CFB-AD16-68D0-8752-50D9C5E01971}"/>
              </a:ext>
            </a:extLst>
          </p:cNvPr>
          <p:cNvSpPr/>
          <p:nvPr/>
        </p:nvSpPr>
        <p:spPr>
          <a:xfrm>
            <a:off x="767702" y="2300127"/>
            <a:ext cx="2522014" cy="295200"/>
          </a:xfrm>
          <a:prstGeom prst="round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175" name="TextBox 58">
            <a:extLst>
              <a:ext uri="{FF2B5EF4-FFF2-40B4-BE49-F238E27FC236}">
                <a16:creationId xmlns:a16="http://schemas.microsoft.com/office/drawing/2014/main" id="{02FC114B-B48B-345F-BD70-2B5A196F5B3E}"/>
              </a:ext>
            </a:extLst>
          </p:cNvPr>
          <p:cNvSpPr txBox="1"/>
          <p:nvPr/>
        </p:nvSpPr>
        <p:spPr>
          <a:xfrm>
            <a:off x="919250" y="2173394"/>
            <a:ext cx="230832" cy="92333"/>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600" dirty="0">
                <a:latin typeface="맑은 고딕" panose="020B0503020000020004" pitchFamily="50" charset="-127"/>
              </a:rPr>
              <a:t>담당자</a:t>
            </a:r>
            <a:endParaRPr lang="en-US" altLang="ko-KR" sz="600" dirty="0">
              <a:latin typeface="맑은 고딕" panose="020B0503020000020004" pitchFamily="50" charset="-127"/>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675399" y="30688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756845" y="3116372"/>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약관 동의</a:t>
            </a:r>
          </a:p>
        </p:txBody>
      </p:sp>
      <p:sp>
        <p:nvSpPr>
          <p:cNvPr id="214" name="TextBox 58">
            <a:extLst>
              <a:ext uri="{FF2B5EF4-FFF2-40B4-BE49-F238E27FC236}">
                <a16:creationId xmlns:a16="http://schemas.microsoft.com/office/drawing/2014/main" id="{02FC114B-B48B-345F-BD70-2B5A196F5B3E}"/>
              </a:ext>
            </a:extLst>
          </p:cNvPr>
          <p:cNvSpPr txBox="1"/>
          <p:nvPr/>
        </p:nvSpPr>
        <p:spPr>
          <a:xfrm>
            <a:off x="919250" y="2340005"/>
            <a:ext cx="570669"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rPr>
              <a:t>방위사업청</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홍길동 </a:t>
            </a:r>
            <a:r>
              <a:rPr lang="ko-KR" altLang="en-US" sz="700" dirty="0" err="1">
                <a:latin typeface="맑은 고딕" panose="020B0503020000020004" pitchFamily="50" charset="-127"/>
              </a:rPr>
              <a:t>주무관</a:t>
            </a:r>
            <a:endParaRPr lang="en-US" altLang="ko-KR" sz="700" dirty="0">
              <a:latin typeface="맑은 고딕" panose="020B0503020000020004" pitchFamily="50" charset="-127"/>
            </a:endParaRPr>
          </a:p>
        </p:txBody>
      </p:sp>
      <p:sp>
        <p:nvSpPr>
          <p:cNvPr id="215" name="TextBox 58">
            <a:extLst>
              <a:ext uri="{FF2B5EF4-FFF2-40B4-BE49-F238E27FC236}">
                <a16:creationId xmlns:a16="http://schemas.microsoft.com/office/drawing/2014/main" id="{02FC114B-B48B-345F-BD70-2B5A196F5B3E}"/>
              </a:ext>
            </a:extLst>
          </p:cNvPr>
          <p:cNvSpPr txBox="1"/>
          <p:nvPr/>
        </p:nvSpPr>
        <p:spPr>
          <a:xfrm>
            <a:off x="1919484" y="2173394"/>
            <a:ext cx="230832" cy="92333"/>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600" dirty="0">
                <a:latin typeface="맑은 고딕" panose="020B0503020000020004" pitchFamily="50" charset="-127"/>
              </a:rPr>
              <a:t>연락처</a:t>
            </a:r>
            <a:endParaRPr lang="en-US" altLang="ko-KR" sz="600" dirty="0">
              <a:latin typeface="맑은 고딕" panose="020B0503020000020004" pitchFamily="50" charset="-127"/>
            </a:endParaRPr>
          </a:p>
        </p:txBody>
      </p:sp>
      <p:sp>
        <p:nvSpPr>
          <p:cNvPr id="216" name="TextBox 58">
            <a:extLst>
              <a:ext uri="{FF2B5EF4-FFF2-40B4-BE49-F238E27FC236}">
                <a16:creationId xmlns:a16="http://schemas.microsoft.com/office/drawing/2014/main" id="{02FC114B-B48B-345F-BD70-2B5A196F5B3E}"/>
              </a:ext>
            </a:extLst>
          </p:cNvPr>
          <p:cNvSpPr txBox="1"/>
          <p:nvPr/>
        </p:nvSpPr>
        <p:spPr>
          <a:xfrm>
            <a:off x="1919484" y="2340005"/>
            <a:ext cx="819135"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맑은 고딕" panose="020B0503020000020004" pitchFamily="50" charset="-127"/>
              </a:rPr>
              <a:t>02-1234-5678</a:t>
            </a:r>
          </a:p>
          <a:p>
            <a:r>
              <a:rPr lang="en-US" altLang="ko-KR" sz="700" dirty="0">
                <a:latin typeface="맑은 고딕" panose="020B0503020000020004" pitchFamily="50" charset="-127"/>
              </a:rPr>
              <a:t>kukbang@g2b.go.kr</a:t>
            </a:r>
          </a:p>
        </p:txBody>
      </p:sp>
      <p:sp>
        <p:nvSpPr>
          <p:cNvPr id="238" name="모서리가 둥근 직사각형 237"/>
          <p:cNvSpPr/>
          <p:nvPr/>
        </p:nvSpPr>
        <p:spPr>
          <a:xfrm rot="5400000">
            <a:off x="2662242" y="257032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40" name="타원 239">
            <a:extLst>
              <a:ext uri="{FF2B5EF4-FFF2-40B4-BE49-F238E27FC236}">
                <a16:creationId xmlns:a16="http://schemas.microsoft.com/office/drawing/2014/main" id="{37A7FF4F-0EAA-1463-560A-D5EC24416103}"/>
              </a:ext>
            </a:extLst>
          </p:cNvPr>
          <p:cNvSpPr/>
          <p:nvPr/>
        </p:nvSpPr>
        <p:spPr>
          <a:xfrm>
            <a:off x="571127" y="229046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41" name="사각형: 둥근 모서리 15">
            <a:extLst>
              <a:ext uri="{FF2B5EF4-FFF2-40B4-BE49-F238E27FC236}">
                <a16:creationId xmlns:a16="http://schemas.microsoft.com/office/drawing/2014/main" id="{E2B61CFB-AD16-68D0-8752-50D9C5E01971}"/>
              </a:ext>
            </a:extLst>
          </p:cNvPr>
          <p:cNvSpPr/>
          <p:nvPr/>
        </p:nvSpPr>
        <p:spPr>
          <a:xfrm>
            <a:off x="767702" y="2678426"/>
            <a:ext cx="2522014" cy="295200"/>
          </a:xfrm>
          <a:prstGeom prst="round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242" name="TextBox 58">
            <a:extLst>
              <a:ext uri="{FF2B5EF4-FFF2-40B4-BE49-F238E27FC236}">
                <a16:creationId xmlns:a16="http://schemas.microsoft.com/office/drawing/2014/main" id="{02FC114B-B48B-345F-BD70-2B5A196F5B3E}"/>
              </a:ext>
            </a:extLst>
          </p:cNvPr>
          <p:cNvSpPr txBox="1"/>
          <p:nvPr/>
        </p:nvSpPr>
        <p:spPr>
          <a:xfrm>
            <a:off x="919250" y="2718304"/>
            <a:ext cx="570669"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rPr>
              <a:t>방위사업청</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홍길순 사무관</a:t>
            </a:r>
            <a:endParaRPr lang="en-US" altLang="ko-KR" sz="700" dirty="0">
              <a:latin typeface="맑은 고딕" panose="020B0503020000020004" pitchFamily="50" charset="-127"/>
            </a:endParaRPr>
          </a:p>
        </p:txBody>
      </p:sp>
      <p:sp>
        <p:nvSpPr>
          <p:cNvPr id="243" name="TextBox 58">
            <a:extLst>
              <a:ext uri="{FF2B5EF4-FFF2-40B4-BE49-F238E27FC236}">
                <a16:creationId xmlns:a16="http://schemas.microsoft.com/office/drawing/2014/main" id="{02FC114B-B48B-345F-BD70-2B5A196F5B3E}"/>
              </a:ext>
            </a:extLst>
          </p:cNvPr>
          <p:cNvSpPr txBox="1"/>
          <p:nvPr/>
        </p:nvSpPr>
        <p:spPr>
          <a:xfrm>
            <a:off x="1919484" y="2718304"/>
            <a:ext cx="819135"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맑은 고딕" panose="020B0503020000020004" pitchFamily="50" charset="-127"/>
              </a:rPr>
              <a:t>02-5678-4321</a:t>
            </a:r>
          </a:p>
          <a:p>
            <a:r>
              <a:rPr lang="en-US" altLang="ko-KR" sz="700" dirty="0">
                <a:latin typeface="맑은 고딕" panose="020B0503020000020004" pitchFamily="50" charset="-127"/>
              </a:rPr>
              <a:t>kukbang@g2b.go.kr</a:t>
            </a:r>
          </a:p>
        </p:txBody>
      </p:sp>
      <p:grpSp>
        <p:nvGrpSpPr>
          <p:cNvPr id="100" name="그룹 99"/>
          <p:cNvGrpSpPr/>
          <p:nvPr/>
        </p:nvGrpSpPr>
        <p:grpSpPr>
          <a:xfrm>
            <a:off x="8223250" y="569392"/>
            <a:ext cx="3365500" cy="634511"/>
            <a:chOff x="8223250" y="569392"/>
            <a:chExt cx="3365500" cy="634511"/>
          </a:xfrm>
        </p:grpSpPr>
        <p:sp>
          <p:nvSpPr>
            <p:cNvPr id="101" name="직사각형 100"/>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화면 수정</a:t>
              </a:r>
              <a:endParaRPr lang="ko-KR" altLang="en-US" dirty="0"/>
            </a:p>
          </p:txBody>
        </p:sp>
        <p:sp>
          <p:nvSpPr>
            <p:cNvPr id="102" name="직사각형 10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전자서명하기 </a:t>
              </a:r>
              <a:r>
                <a:rPr lang="en-US" altLang="ko-KR" sz="700" dirty="0" smtClean="0">
                  <a:sym typeface="Wingdings" panose="05000000000000000000" pitchFamily="2" charset="2"/>
                </a:rPr>
                <a:t> </a:t>
              </a:r>
              <a:r>
                <a:rPr lang="ko-KR" altLang="en-US" sz="700" dirty="0" smtClean="0">
                  <a:sym typeface="Wingdings" panose="05000000000000000000" pitchFamily="2" charset="2"/>
                </a:rPr>
                <a:t>신청하기로 변경</a:t>
              </a:r>
              <a:endParaRPr lang="ko-KR" altLang="en-US" sz="700" dirty="0"/>
            </a:p>
          </p:txBody>
        </p:sp>
      </p:grpSp>
      <p:grpSp>
        <p:nvGrpSpPr>
          <p:cNvPr id="8" name="그룹 7"/>
          <p:cNvGrpSpPr/>
          <p:nvPr/>
        </p:nvGrpSpPr>
        <p:grpSpPr>
          <a:xfrm>
            <a:off x="865539" y="3612308"/>
            <a:ext cx="2387068" cy="123111"/>
            <a:chOff x="865539" y="3642830"/>
            <a:chExt cx="2387068" cy="123111"/>
          </a:xfrm>
        </p:grpSpPr>
        <p:sp>
          <p:nvSpPr>
            <p:cNvPr id="141" name="TextBox 58">
              <a:extLst>
                <a:ext uri="{FF2B5EF4-FFF2-40B4-BE49-F238E27FC236}">
                  <a16:creationId xmlns:a16="http://schemas.microsoft.com/office/drawing/2014/main" id="{02FC114B-B48B-345F-BD70-2B5A196F5B3E}"/>
                </a:ext>
              </a:extLst>
            </p:cNvPr>
            <p:cNvSpPr txBox="1"/>
            <p:nvPr/>
          </p:nvSpPr>
          <p:spPr>
            <a:xfrm>
              <a:off x="865539" y="3642830"/>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2</a:t>
              </a:r>
              <a:endParaRPr lang="ko-KR" altLang="en-US" sz="800" b="1" dirty="0"/>
            </a:p>
          </p:txBody>
        </p:sp>
        <p:sp>
          <p:nvSpPr>
            <p:cNvPr id="142" name="TextBox 58">
              <a:extLst>
                <a:ext uri="{FF2B5EF4-FFF2-40B4-BE49-F238E27FC236}">
                  <a16:creationId xmlns:a16="http://schemas.microsoft.com/office/drawing/2014/main" id="{02FC114B-B48B-345F-BD70-2B5A196F5B3E}"/>
                </a:ext>
              </a:extLst>
            </p:cNvPr>
            <p:cNvSpPr txBox="1"/>
            <p:nvPr/>
          </p:nvSpPr>
          <p:spPr>
            <a:xfrm>
              <a:off x="981276" y="3642830"/>
              <a:ext cx="168198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약관동의</a:t>
              </a:r>
              <a:endParaRPr lang="ko-KR" altLang="en-US" sz="800" dirty="0"/>
            </a:p>
          </p:txBody>
        </p:sp>
        <p:sp>
          <p:nvSpPr>
            <p:cNvPr id="93" name="타원 92"/>
            <p:cNvSpPr/>
            <p:nvPr/>
          </p:nvSpPr>
          <p:spPr>
            <a:xfrm>
              <a:off x="3136892" y="3646528"/>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grpSp>
        <p:nvGrpSpPr>
          <p:cNvPr id="14" name="그룹 13"/>
          <p:cNvGrpSpPr/>
          <p:nvPr/>
        </p:nvGrpSpPr>
        <p:grpSpPr>
          <a:xfrm>
            <a:off x="865539" y="3843365"/>
            <a:ext cx="2418960" cy="123111"/>
            <a:chOff x="865539" y="3876677"/>
            <a:chExt cx="2418960" cy="123111"/>
          </a:xfrm>
        </p:grpSpPr>
        <p:grpSp>
          <p:nvGrpSpPr>
            <p:cNvPr id="7" name="그룹 6"/>
            <p:cNvGrpSpPr/>
            <p:nvPr/>
          </p:nvGrpSpPr>
          <p:grpSpPr>
            <a:xfrm>
              <a:off x="865539" y="3876677"/>
              <a:ext cx="2418960" cy="123111"/>
              <a:chOff x="865539" y="3900622"/>
              <a:chExt cx="2418960" cy="123111"/>
            </a:xfrm>
          </p:grpSpPr>
          <p:sp>
            <p:nvSpPr>
              <p:cNvPr id="200" name="TextBox 58">
                <a:extLst>
                  <a:ext uri="{FF2B5EF4-FFF2-40B4-BE49-F238E27FC236}">
                    <a16:creationId xmlns:a16="http://schemas.microsoft.com/office/drawing/2014/main" id="{02FC114B-B48B-345F-BD70-2B5A196F5B3E}"/>
                  </a:ext>
                </a:extLst>
              </p:cNvPr>
              <p:cNvSpPr txBox="1"/>
              <p:nvPr/>
            </p:nvSpPr>
            <p:spPr>
              <a:xfrm>
                <a:off x="865539" y="3900622"/>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3</a:t>
                </a:r>
                <a:endParaRPr lang="ko-KR" altLang="en-US" sz="800" b="1" dirty="0"/>
              </a:p>
            </p:txBody>
          </p:sp>
          <p:sp>
            <p:nvSpPr>
              <p:cNvPr id="202" name="TextBox 58">
                <a:extLst>
                  <a:ext uri="{FF2B5EF4-FFF2-40B4-BE49-F238E27FC236}">
                    <a16:creationId xmlns:a16="http://schemas.microsoft.com/office/drawing/2014/main" id="{02FC114B-B48B-345F-BD70-2B5A196F5B3E}"/>
                  </a:ext>
                </a:extLst>
              </p:cNvPr>
              <p:cNvSpPr txBox="1"/>
              <p:nvPr/>
            </p:nvSpPr>
            <p:spPr>
              <a:xfrm>
                <a:off x="981277" y="3900622"/>
                <a:ext cx="2303222"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하도급대금의 지급관련 확인 </a:t>
                </a:r>
                <a:r>
                  <a:rPr lang="ko-KR" altLang="en-US" sz="800" dirty="0" smtClean="0">
                    <a:latin typeface="맑은 고딕" panose="020B0503020000020004" pitchFamily="50" charset="-127"/>
                  </a:rPr>
                  <a:t>및 확약서</a:t>
                </a:r>
                <a:endParaRPr lang="en-US" altLang="ko-KR" sz="800" dirty="0">
                  <a:latin typeface="맑은 고딕" panose="020B0503020000020004" pitchFamily="50" charset="-127"/>
                </a:endParaRPr>
              </a:p>
            </p:txBody>
          </p:sp>
        </p:grpSp>
        <p:sp>
          <p:nvSpPr>
            <p:cNvPr id="94" name="타원 93"/>
            <p:cNvSpPr/>
            <p:nvPr/>
          </p:nvSpPr>
          <p:spPr>
            <a:xfrm>
              <a:off x="3136892" y="3880375"/>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grpSp>
        <p:nvGrpSpPr>
          <p:cNvPr id="6" name="그룹 5"/>
          <p:cNvGrpSpPr/>
          <p:nvPr/>
        </p:nvGrpSpPr>
        <p:grpSpPr>
          <a:xfrm>
            <a:off x="865539" y="4074422"/>
            <a:ext cx="2387068" cy="123111"/>
            <a:chOff x="865539" y="4126735"/>
            <a:chExt cx="2387068" cy="123111"/>
          </a:xfrm>
        </p:grpSpPr>
        <p:sp>
          <p:nvSpPr>
            <p:cNvPr id="181" name="TextBox 58">
              <a:extLst>
                <a:ext uri="{FF2B5EF4-FFF2-40B4-BE49-F238E27FC236}">
                  <a16:creationId xmlns:a16="http://schemas.microsoft.com/office/drawing/2014/main" id="{02FC114B-B48B-345F-BD70-2B5A196F5B3E}"/>
                </a:ext>
              </a:extLst>
            </p:cNvPr>
            <p:cNvSpPr txBox="1"/>
            <p:nvPr/>
          </p:nvSpPr>
          <p:spPr>
            <a:xfrm>
              <a:off x="865539" y="4126735"/>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4</a:t>
              </a:r>
              <a:endParaRPr lang="ko-KR" altLang="en-US" sz="800" b="1" dirty="0"/>
            </a:p>
          </p:txBody>
        </p:sp>
        <p:sp>
          <p:nvSpPr>
            <p:cNvPr id="182" name="TextBox 58">
              <a:extLst>
                <a:ext uri="{FF2B5EF4-FFF2-40B4-BE49-F238E27FC236}">
                  <a16:creationId xmlns:a16="http://schemas.microsoft.com/office/drawing/2014/main" id="{02FC114B-B48B-345F-BD70-2B5A196F5B3E}"/>
                </a:ext>
              </a:extLst>
            </p:cNvPr>
            <p:cNvSpPr txBox="1"/>
            <p:nvPr/>
          </p:nvSpPr>
          <p:spPr>
            <a:xfrm>
              <a:off x="981277" y="4126735"/>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r>
                <a:rPr lang="ko-KR" altLang="en-US" sz="800" dirty="0">
                  <a:latin typeface="맑은 고딕" panose="020B0503020000020004" pitchFamily="50" charset="-127"/>
                </a:rPr>
                <a:t> </a:t>
              </a:r>
              <a:r>
                <a:rPr lang="ko-KR" altLang="en-US" sz="800" dirty="0" err="1">
                  <a:latin typeface="맑은 고딕" panose="020B0503020000020004" pitchFamily="50" charset="-127"/>
                </a:rPr>
                <a:t>동의문</a:t>
              </a:r>
              <a:endParaRPr lang="en-US" altLang="ko-KR" sz="800" dirty="0">
                <a:latin typeface="맑은 고딕" panose="020B0503020000020004" pitchFamily="50" charset="-127"/>
              </a:endParaRPr>
            </a:p>
          </p:txBody>
        </p:sp>
        <p:sp>
          <p:nvSpPr>
            <p:cNvPr id="95" name="타원 94"/>
            <p:cNvSpPr/>
            <p:nvPr/>
          </p:nvSpPr>
          <p:spPr>
            <a:xfrm>
              <a:off x="3136892" y="4130433"/>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grpSp>
        <p:nvGrpSpPr>
          <p:cNvPr id="5" name="그룹 4"/>
          <p:cNvGrpSpPr/>
          <p:nvPr/>
        </p:nvGrpSpPr>
        <p:grpSpPr>
          <a:xfrm>
            <a:off x="865539" y="4305479"/>
            <a:ext cx="2387068" cy="123111"/>
            <a:chOff x="865539" y="4344405"/>
            <a:chExt cx="2387068" cy="123111"/>
          </a:xfrm>
        </p:grpSpPr>
        <p:sp>
          <p:nvSpPr>
            <p:cNvPr id="196" name="TextBox 58">
              <a:extLst>
                <a:ext uri="{FF2B5EF4-FFF2-40B4-BE49-F238E27FC236}">
                  <a16:creationId xmlns:a16="http://schemas.microsoft.com/office/drawing/2014/main" id="{02FC114B-B48B-345F-BD70-2B5A196F5B3E}"/>
                </a:ext>
              </a:extLst>
            </p:cNvPr>
            <p:cNvSpPr txBox="1"/>
            <p:nvPr/>
          </p:nvSpPr>
          <p:spPr>
            <a:xfrm>
              <a:off x="865539" y="4344405"/>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5</a:t>
              </a:r>
              <a:endParaRPr lang="ko-KR" altLang="en-US" sz="800" b="1" dirty="0"/>
            </a:p>
          </p:txBody>
        </p:sp>
        <p:sp>
          <p:nvSpPr>
            <p:cNvPr id="197" name="TextBox 58">
              <a:extLst>
                <a:ext uri="{FF2B5EF4-FFF2-40B4-BE49-F238E27FC236}">
                  <a16:creationId xmlns:a16="http://schemas.microsoft.com/office/drawing/2014/main" id="{02FC114B-B48B-345F-BD70-2B5A196F5B3E}"/>
                </a:ext>
              </a:extLst>
            </p:cNvPr>
            <p:cNvSpPr txBox="1"/>
            <p:nvPr/>
          </p:nvSpPr>
          <p:spPr>
            <a:xfrm>
              <a:off x="981277" y="4344405"/>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r>
                <a:rPr lang="ko-KR" altLang="en-US" sz="800" dirty="0">
                  <a:latin typeface="맑은 고딕" panose="020B0503020000020004" pitchFamily="50" charset="-127"/>
                </a:rPr>
                <a:t> 관련 경고문</a:t>
              </a:r>
              <a:endParaRPr lang="en-US" altLang="ko-KR" sz="800" dirty="0">
                <a:latin typeface="맑은 고딕" panose="020B0503020000020004" pitchFamily="50" charset="-127"/>
              </a:endParaRPr>
            </a:p>
          </p:txBody>
        </p:sp>
        <p:sp>
          <p:nvSpPr>
            <p:cNvPr id="96" name="타원 95"/>
            <p:cNvSpPr/>
            <p:nvPr/>
          </p:nvSpPr>
          <p:spPr>
            <a:xfrm>
              <a:off x="3136892" y="4348103"/>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grpSp>
        <p:nvGrpSpPr>
          <p:cNvPr id="3" name="그룹 2"/>
          <p:cNvGrpSpPr/>
          <p:nvPr/>
        </p:nvGrpSpPr>
        <p:grpSpPr>
          <a:xfrm>
            <a:off x="865539" y="4536535"/>
            <a:ext cx="2387068" cy="123111"/>
            <a:chOff x="865539" y="4536535"/>
            <a:chExt cx="2387068" cy="123111"/>
          </a:xfrm>
        </p:grpSpPr>
        <p:sp>
          <p:nvSpPr>
            <p:cNvPr id="208" name="TextBox 58">
              <a:extLst>
                <a:ext uri="{FF2B5EF4-FFF2-40B4-BE49-F238E27FC236}">
                  <a16:creationId xmlns:a16="http://schemas.microsoft.com/office/drawing/2014/main" id="{02FC114B-B48B-345F-BD70-2B5A196F5B3E}"/>
                </a:ext>
              </a:extLst>
            </p:cNvPr>
            <p:cNvSpPr txBox="1"/>
            <p:nvPr/>
          </p:nvSpPr>
          <p:spPr>
            <a:xfrm>
              <a:off x="865539" y="4536535"/>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6</a:t>
              </a:r>
              <a:endParaRPr lang="ko-KR" altLang="en-US" sz="800" b="1" dirty="0"/>
            </a:p>
          </p:txBody>
        </p:sp>
        <p:sp>
          <p:nvSpPr>
            <p:cNvPr id="209" name="TextBox 58">
              <a:extLst>
                <a:ext uri="{FF2B5EF4-FFF2-40B4-BE49-F238E27FC236}">
                  <a16:creationId xmlns:a16="http://schemas.microsoft.com/office/drawing/2014/main" id="{02FC114B-B48B-345F-BD70-2B5A196F5B3E}"/>
                </a:ext>
              </a:extLst>
            </p:cNvPr>
            <p:cNvSpPr txBox="1"/>
            <p:nvPr/>
          </p:nvSpPr>
          <p:spPr>
            <a:xfrm>
              <a:off x="981277" y="4536535"/>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면제사유 확약서</a:t>
              </a:r>
              <a:endParaRPr lang="en-US" altLang="ko-KR" sz="800" dirty="0">
                <a:latin typeface="맑은 고딕" panose="020B0503020000020004" pitchFamily="50" charset="-127"/>
              </a:endParaRPr>
            </a:p>
          </p:txBody>
        </p:sp>
        <p:sp>
          <p:nvSpPr>
            <p:cNvPr id="97" name="타원 96"/>
            <p:cNvSpPr/>
            <p:nvPr/>
          </p:nvSpPr>
          <p:spPr>
            <a:xfrm>
              <a:off x="3136892" y="4540233"/>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cxnSp>
        <p:nvCxnSpPr>
          <p:cNvPr id="105" name="직선 연결선 104">
            <a:extLst>
              <a:ext uri="{FF2B5EF4-FFF2-40B4-BE49-F238E27FC236}">
                <a16:creationId xmlns:a16="http://schemas.microsoft.com/office/drawing/2014/main" id="{E9293055-D5CD-4B9E-7F64-64B2D2CA7A52}"/>
              </a:ext>
            </a:extLst>
          </p:cNvPr>
          <p:cNvCxnSpPr/>
          <p:nvPr/>
        </p:nvCxnSpPr>
        <p:spPr>
          <a:xfrm>
            <a:off x="675399" y="473555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415001356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189</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11. </a:t>
            </a:r>
            <a:r>
              <a:rPr lang="ko-KR" altLang="en-US" dirty="0" err="1"/>
              <a:t>입찰진행</a:t>
            </a:r>
            <a:r>
              <a:rPr lang="ko-KR" altLang="en-US" dirty="0"/>
              <a:t> </a:t>
            </a:r>
            <a:r>
              <a:rPr lang="ko-KR" altLang="en-US" dirty="0" smtClean="0"/>
              <a:t>상세 </a:t>
            </a:r>
            <a:r>
              <a:rPr lang="en-US" altLang="ko-KR" dirty="0" smtClean="0"/>
              <a:t>– </a:t>
            </a:r>
            <a:r>
              <a:rPr lang="ko-KR" altLang="en-US" dirty="0" smtClean="0"/>
              <a:t>사전심사</a:t>
            </a:r>
            <a:r>
              <a:rPr lang="en-US" altLang="ko-KR" dirty="0" smtClean="0"/>
              <a:t>PQ</a:t>
            </a:r>
            <a:r>
              <a:rPr lang="ko-KR" altLang="en-US" dirty="0" err="1" smtClean="0"/>
              <a:t>신청서조회</a:t>
            </a:r>
            <a:endParaRPr lang="en-US" altLang="ko-KR" dirty="0" smtClean="0"/>
          </a:p>
          <a:p>
            <a:r>
              <a:rPr lang="en-US" altLang="ko-KR" dirty="0" smtClean="0"/>
              <a:t>11.1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837690934"/>
              </p:ext>
            </p:extLst>
          </p:nvPr>
        </p:nvGraphicFramePr>
        <p:xfrm>
          <a:off x="635474" y="1413419"/>
          <a:ext cx="8701200" cy="51166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r>
                        <a:rPr lang="en-US" altLang="ko-KR" sz="700" dirty="0" smtClean="0">
                          <a:latin typeface="+mn-lt"/>
                        </a:rPr>
                        <a:t>MUI-BD-02-M03</a:t>
                      </a:r>
                      <a:endParaRPr lang="ko-KR" altLang="en-US" sz="700" dirty="0">
                        <a:latin typeface="+mn-lt"/>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latin typeface="+mn-lt"/>
                        </a:rPr>
                        <a:t>사전심사</a:t>
                      </a:r>
                      <a:r>
                        <a:rPr lang="en-US" altLang="ko-KR" sz="800" dirty="0" smtClean="0">
                          <a:latin typeface="+mn-lt"/>
                        </a:rPr>
                        <a:t>(PQ)</a:t>
                      </a:r>
                      <a:r>
                        <a:rPr lang="ko-KR" altLang="en-US" sz="800" dirty="0" err="1" smtClean="0">
                          <a:latin typeface="+mn-lt"/>
                        </a:rPr>
                        <a:t>신청조회</a:t>
                      </a:r>
                      <a:endParaRPr lang="ko-KR" altLang="en-US" sz="800" dirty="0">
                        <a:latin typeface="+mn-lt"/>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smtClean="0">
                          <a:solidFill>
                            <a:schemeClr val="tx1"/>
                          </a:solidFill>
                          <a:effectLst/>
                          <a:latin typeface="+mn-lt"/>
                        </a:rPr>
                        <a:t>BfhdSrngInq</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smtClean="0">
                          <a:latin typeface="+mn-lt"/>
                        </a:rPr>
                        <a:t>사전심사 신청</a:t>
                      </a:r>
                      <a:r>
                        <a:rPr lang="ko-KR" altLang="en-US" sz="800" baseline="0" dirty="0" smtClean="0">
                          <a:latin typeface="+mn-lt"/>
                        </a:rPr>
                        <a:t> 내역 조회 화면</a:t>
                      </a:r>
                      <a:endParaRPr lang="ko-KR" altLang="en-US" sz="800" dirty="0">
                        <a:latin typeface="+mn-lt"/>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mn-lt"/>
                        </a:rPr>
                        <a:t>BfhdSrngInq</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mn-lt"/>
                        </a:rPr>
                        <a:t>BfhdSrngInq</a:t>
                      </a:r>
                      <a:r>
                        <a:rPr lang="en-US" altLang="ko-KR" sz="800" dirty="0" err="1" smtClean="0">
                          <a:solidFill>
                            <a:schemeClr val="tx1"/>
                          </a:solidFill>
                          <a:latin typeface="+mn-lt"/>
                          <a:ea typeface="+mn-ea"/>
                        </a:rPr>
                        <a:t>.tsx</a:t>
                      </a:r>
                      <a:endParaRPr lang="ko-KR" altLang="en-US" sz="800" dirty="0" smtClean="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smtClean="0">
                          <a:latin typeface="+mn-ea"/>
                          <a:ea typeface="+mn-ea"/>
                        </a:rPr>
                        <a:t>UC-BD-08-04</a:t>
                      </a:r>
                      <a:endParaRPr lang="en-US" altLang="ko-KR"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10616145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090845" y="1493927"/>
            <a:ext cx="2300284" cy="4981517"/>
          </a:xfrm>
        </p:spPr>
        <p:txBody>
          <a:bodyPr/>
          <a:lstStyle/>
          <a:p>
            <a:pPr marL="228600" indent="-228600">
              <a:buFont typeface="+mj-lt"/>
              <a:buAutoNum type="arabicPeriod"/>
            </a:pPr>
            <a:r>
              <a:rPr lang="ko-KR" altLang="en-US" dirty="0" smtClean="0"/>
              <a:t>용역</a:t>
            </a:r>
            <a:r>
              <a:rPr lang="en-US" altLang="ko-KR" dirty="0" smtClean="0"/>
              <a:t>, </a:t>
            </a:r>
            <a:r>
              <a:rPr lang="ko-KR" altLang="en-US" dirty="0" smtClean="0"/>
              <a:t>공사 인 경우 노출</a:t>
            </a:r>
            <a:endParaRPr lang="en-US" altLang="ko-KR" dirty="0" smtClean="0"/>
          </a:p>
          <a:p>
            <a:pPr marL="228600" indent="-228600">
              <a:buFont typeface="+mj-lt"/>
              <a:buAutoNum type="arabicPeriod"/>
            </a:pPr>
            <a:r>
              <a:rPr lang="ko-KR" altLang="en-US" dirty="0" err="1" smtClean="0"/>
              <a:t>업무도움</a:t>
            </a:r>
            <a:r>
              <a:rPr lang="ko-KR" altLang="en-US" dirty="0" smtClean="0"/>
              <a:t> </a:t>
            </a:r>
            <a:r>
              <a:rPr lang="ko-KR" altLang="en-US" dirty="0"/>
              <a:t>내용이 있는 경우 </a:t>
            </a:r>
            <a:r>
              <a:rPr lang="ko-KR" altLang="en-US" dirty="0" smtClean="0"/>
              <a:t>표시</a:t>
            </a:r>
            <a:r>
              <a:rPr lang="en-US" altLang="ko-KR" dirty="0" smtClean="0"/>
              <a:t/>
            </a:r>
            <a:br>
              <a:rPr lang="en-US" altLang="ko-KR" dirty="0" smtClean="0"/>
            </a:br>
            <a:r>
              <a:rPr lang="en-US" altLang="ko-KR" dirty="0" smtClean="0"/>
              <a:t>-2-1) </a:t>
            </a:r>
            <a:r>
              <a:rPr lang="ko-KR" altLang="en-US" dirty="0" smtClean="0"/>
              <a:t>용역인 경우</a:t>
            </a:r>
            <a:r>
              <a:rPr lang="en-US" altLang="ko-KR" dirty="0" smtClean="0"/>
              <a:t>, </a:t>
            </a:r>
            <a:r>
              <a:rPr lang="ko-KR" altLang="en-US" dirty="0" err="1" smtClean="0"/>
              <a:t>조달번호</a:t>
            </a:r>
            <a:r>
              <a:rPr lang="ko-KR" altLang="en-US" dirty="0" smtClean="0"/>
              <a:t> 노출</a:t>
            </a:r>
            <a:endParaRPr lang="en-US" altLang="ko-KR" dirty="0"/>
          </a:p>
          <a:p>
            <a:pPr marL="228600" indent="-228600">
              <a:buFont typeface="+mj-lt"/>
              <a:buAutoNum type="arabicPeriod"/>
            </a:pPr>
            <a:r>
              <a:rPr lang="ko-KR" altLang="en-US" dirty="0"/>
              <a:t>공고 일반 내용 표시</a:t>
            </a:r>
            <a:endParaRPr lang="en-US" altLang="ko-KR" dirty="0"/>
          </a:p>
          <a:p>
            <a:pPr marL="228600" indent="-228600">
              <a:buFont typeface="+mj-lt"/>
              <a:buAutoNum type="arabicPeriod"/>
            </a:pPr>
            <a:r>
              <a:rPr lang="ko-KR" altLang="en-US" dirty="0"/>
              <a:t>업체 내역 표시</a:t>
            </a:r>
            <a:endParaRPr lang="en-US" altLang="ko-KR" dirty="0"/>
          </a:p>
          <a:p>
            <a:pPr marL="228600" indent="-228600">
              <a:buFont typeface="+mj-lt"/>
              <a:buAutoNum type="arabicPeriod"/>
            </a:pPr>
            <a:r>
              <a:rPr lang="ko-KR" altLang="en-US" dirty="0"/>
              <a:t>첨부파일 내역 표시</a:t>
            </a:r>
            <a:endParaRPr lang="en-US" altLang="ko-KR" dirty="0"/>
          </a:p>
          <a:p>
            <a:pPr marL="228600" indent="-228600">
              <a:buFont typeface="+mj-lt"/>
              <a:buAutoNum type="arabicPeriod"/>
            </a:pPr>
            <a:r>
              <a:rPr lang="ko-KR" altLang="en-US" dirty="0"/>
              <a:t>사전심사결과 표시</a:t>
            </a:r>
            <a:r>
              <a:rPr lang="en-US" altLang="ko-KR" dirty="0"/>
              <a:t/>
            </a:r>
            <a:br>
              <a:rPr lang="en-US" altLang="ko-KR" dirty="0"/>
            </a:br>
            <a:r>
              <a:rPr lang="en-US" altLang="ko-KR" dirty="0"/>
              <a:t>- </a:t>
            </a:r>
            <a:r>
              <a:rPr lang="ko-KR" altLang="en-US" dirty="0"/>
              <a:t>사전심사 결과가 나오기 전에는 내용 </a:t>
            </a:r>
            <a:r>
              <a:rPr lang="ko-KR" altLang="en-US" dirty="0" smtClean="0"/>
              <a:t>숨김</a:t>
            </a:r>
            <a:r>
              <a:rPr lang="en-US" altLang="ko-KR" dirty="0" smtClean="0"/>
              <a:t/>
            </a:r>
            <a:br>
              <a:rPr lang="en-US" altLang="ko-KR" dirty="0" smtClean="0"/>
            </a:b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사전심사</a:t>
            </a:r>
            <a:r>
              <a:rPr lang="en-US" altLang="ko-KR" dirty="0"/>
              <a:t>(PQ)</a:t>
            </a:r>
            <a:r>
              <a:rPr lang="ko-KR" altLang="en-US" dirty="0" err="1"/>
              <a:t>신청조회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smtClean="0">
                <a:latin typeface="+mn-ea"/>
              </a:rPr>
              <a:t>사전심사 신청서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사전심사</a:t>
            </a:r>
            <a:r>
              <a:rPr lang="en-US" altLang="ko-KR" dirty="0">
                <a:latin typeface="+mn-ea"/>
              </a:rPr>
              <a:t> </a:t>
            </a:r>
            <a:r>
              <a:rPr lang="ko-KR" altLang="en-US" dirty="0" err="1" smtClean="0">
                <a:latin typeface="+mn-ea"/>
              </a:rPr>
              <a:t>신청조회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r>
              <a:rPr lang="en-US" altLang="ko-KR" dirty="0"/>
              <a:t>MUI-BD-02-M03 </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26954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236101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2305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292304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295439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03637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3" name="TextBox 152">
            <a:extLst>
              <a:ext uri="{FF2B5EF4-FFF2-40B4-BE49-F238E27FC236}">
                <a16:creationId xmlns:a16="http://schemas.microsoft.com/office/drawing/2014/main" id="{FFC49AEA-2A8F-250C-A86A-A7751D9706C3}"/>
              </a:ext>
            </a:extLst>
          </p:cNvPr>
          <p:cNvSpPr txBox="1"/>
          <p:nvPr/>
        </p:nvSpPr>
        <p:spPr>
          <a:xfrm>
            <a:off x="781109" y="327414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581628"/>
            <a:ext cx="792000" cy="25853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581629"/>
            <a:ext cx="792000" cy="2585323"/>
          </a:xfrm>
          <a:prstGeom prst="rect">
            <a:avLst/>
          </a:prstGeom>
          <a:noFill/>
        </p:spPr>
        <p:txBody>
          <a:bodyPr wrap="square" lIns="0" tIns="0" rIns="0" bIns="0" rtlCol="0">
            <a:spAutoFit/>
          </a:bodyPr>
          <a:lstStyle/>
          <a:p>
            <a:pPr>
              <a:lnSpc>
                <a:spcPct val="200000"/>
              </a:lnSpc>
            </a:pPr>
            <a:r>
              <a:rPr lang="ko-KR" altLang="en-US" sz="700" dirty="0" err="1" smtClean="0">
                <a:latin typeface="+mn-ea"/>
              </a:rPr>
              <a:t>공고번호</a:t>
            </a:r>
            <a:endParaRPr lang="en-US" altLang="ko-KR" sz="700" dirty="0" smtClean="0">
              <a:latin typeface="+mn-ea"/>
            </a:endParaRPr>
          </a:p>
          <a:p>
            <a:pPr>
              <a:lnSpc>
                <a:spcPct val="200000"/>
              </a:lnSpc>
            </a:pPr>
            <a:r>
              <a:rPr lang="ko-KR" altLang="en-US" sz="700" dirty="0" err="1" smtClean="0">
                <a:latin typeface="+mn-ea"/>
              </a:rPr>
              <a:t>공사번호</a:t>
            </a:r>
            <a:endParaRPr lang="en-US" altLang="ko-KR" sz="700" dirty="0" smtClean="0">
              <a:latin typeface="+mn-ea"/>
            </a:endParaRPr>
          </a:p>
          <a:p>
            <a:pPr>
              <a:lnSpc>
                <a:spcPct val="200000"/>
              </a:lnSpc>
            </a:pPr>
            <a:r>
              <a:rPr lang="ko-KR" altLang="en-US" sz="700" dirty="0" smtClean="0">
                <a:latin typeface="+mn-ea"/>
              </a:rPr>
              <a:t>발주기관</a:t>
            </a:r>
            <a:endParaRPr lang="en-US" altLang="ko-KR" sz="700" dirty="0" smtClean="0">
              <a:latin typeface="+mn-ea"/>
            </a:endParaRPr>
          </a:p>
          <a:p>
            <a:pPr>
              <a:lnSpc>
                <a:spcPct val="200000"/>
              </a:lnSpc>
            </a:pPr>
            <a:r>
              <a:rPr lang="ko-KR" altLang="en-US" sz="700" dirty="0" smtClean="0">
                <a:latin typeface="+mn-ea"/>
              </a:rPr>
              <a:t>통합참조번호</a:t>
            </a:r>
            <a:endParaRPr lang="en-US" altLang="ko-KR" sz="700" dirty="0" smtClean="0">
              <a:latin typeface="+mn-ea"/>
            </a:endParaRPr>
          </a:p>
          <a:p>
            <a:pPr>
              <a:lnSpc>
                <a:spcPct val="200000"/>
              </a:lnSpc>
            </a:pPr>
            <a:r>
              <a:rPr lang="ko-KR" altLang="en-US" sz="700" dirty="0" err="1" smtClean="0">
                <a:latin typeface="+mn-ea"/>
              </a:rPr>
              <a:t>공사구분</a:t>
            </a:r>
            <a:endParaRPr lang="en-US" altLang="ko-KR" sz="700" dirty="0" smtClean="0">
              <a:latin typeface="+mn-ea"/>
            </a:endParaRPr>
          </a:p>
          <a:p>
            <a:pPr>
              <a:lnSpc>
                <a:spcPct val="200000"/>
              </a:lnSpc>
            </a:pPr>
            <a:r>
              <a:rPr lang="ko-KR" altLang="en-US" sz="700" dirty="0" smtClean="0">
                <a:latin typeface="+mn-ea"/>
              </a:rPr>
              <a:t>계약방법</a:t>
            </a:r>
            <a:endParaRPr lang="en-US" altLang="ko-KR" sz="700" dirty="0" smtClean="0">
              <a:latin typeface="+mn-ea"/>
            </a:endParaRPr>
          </a:p>
          <a:p>
            <a:pPr>
              <a:lnSpc>
                <a:spcPct val="200000"/>
              </a:lnSpc>
            </a:pPr>
            <a:r>
              <a:rPr lang="ko-KR" altLang="en-US" sz="700" dirty="0" smtClean="0">
                <a:latin typeface="+mn-ea"/>
              </a:rPr>
              <a:t>입찰방법</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사전심사</a:t>
            </a:r>
            <a:endParaRPr lang="en-US" altLang="ko-KR" sz="700" dirty="0" smtClean="0">
              <a:latin typeface="+mn-ea"/>
            </a:endParaRPr>
          </a:p>
          <a:p>
            <a:pPr>
              <a:lnSpc>
                <a:spcPct val="200000"/>
              </a:lnSpc>
            </a:pPr>
            <a:r>
              <a:rPr lang="ko-KR" altLang="en-US" sz="700" dirty="0" smtClean="0">
                <a:latin typeface="+mn-ea"/>
              </a:rPr>
              <a:t>적격심사</a:t>
            </a:r>
            <a:endParaRPr lang="en-US" altLang="ko-KR" sz="700" dirty="0" smtClean="0">
              <a:latin typeface="+mn-ea"/>
            </a:endParaRPr>
          </a:p>
          <a:p>
            <a:pPr>
              <a:lnSpc>
                <a:spcPct val="200000"/>
              </a:lnSpc>
            </a:pPr>
            <a:r>
              <a:rPr lang="ko-KR" altLang="en-US" sz="700" dirty="0" smtClean="0">
                <a:latin typeface="+mn-ea"/>
              </a:rPr>
              <a:t>신청마감일시</a:t>
            </a:r>
            <a:endParaRPr lang="en-US" altLang="ko-KR" sz="700" dirty="0" smtClean="0">
              <a:latin typeface="+mn-ea"/>
            </a:endParaRPr>
          </a:p>
          <a:p>
            <a:pPr>
              <a:lnSpc>
                <a:spcPct val="200000"/>
              </a:lnSpc>
            </a:pPr>
            <a:r>
              <a:rPr lang="ko-KR" altLang="en-US" sz="700" dirty="0" err="1" smtClean="0">
                <a:latin typeface="+mn-ea"/>
              </a:rPr>
              <a:t>개찰일시</a:t>
            </a:r>
            <a:endParaRPr lang="en-US" altLang="ko-KR" sz="700" dirty="0" smtClean="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581629"/>
            <a:ext cx="1784088" cy="2585323"/>
          </a:xfrm>
          <a:prstGeom prst="rect">
            <a:avLst/>
          </a:prstGeom>
          <a:noFill/>
        </p:spPr>
        <p:txBody>
          <a:bodyPr wrap="square" lIns="0" tIns="0" rIns="0" bIns="0" rtlCol="0">
            <a:spAutoFit/>
          </a:bodyPr>
          <a:lstStyle/>
          <a:p>
            <a:pPr>
              <a:lnSpc>
                <a:spcPct val="200000"/>
              </a:lnSpc>
            </a:pPr>
            <a:r>
              <a:rPr lang="en-US" altLang="ko-KR" sz="700" dirty="0" smtClean="0">
                <a:latin typeface="+mn-ea"/>
              </a:rPr>
              <a:t>R0001-000</a:t>
            </a:r>
          </a:p>
          <a:p>
            <a:pPr>
              <a:lnSpc>
                <a:spcPct val="200000"/>
              </a:lnSpc>
            </a:pPr>
            <a:r>
              <a:rPr lang="en-US" altLang="ko-KR" sz="700" dirty="0" smtClean="0">
                <a:latin typeface="+mn-ea"/>
              </a:rPr>
              <a:t>2025-00001</a:t>
            </a:r>
          </a:p>
          <a:p>
            <a:pPr>
              <a:lnSpc>
                <a:spcPct val="200000"/>
              </a:lnSpc>
            </a:pPr>
            <a:r>
              <a:rPr lang="ko-KR" altLang="en-US" sz="700" dirty="0" err="1" smtClean="0">
                <a:latin typeface="+mn-ea"/>
              </a:rPr>
              <a:t>방위사업청</a:t>
            </a:r>
            <a:endParaRPr lang="en-US" altLang="ko-KR" sz="700" dirty="0" smtClean="0">
              <a:latin typeface="+mn-ea"/>
            </a:endParaRPr>
          </a:p>
          <a:p>
            <a:pPr>
              <a:lnSpc>
                <a:spcPct val="200000"/>
              </a:lnSpc>
            </a:pPr>
            <a:r>
              <a:rPr lang="en-US" altLang="ko-KR" sz="700" dirty="0" smtClean="0">
                <a:latin typeface="+mn-ea"/>
              </a:rPr>
              <a:t>2025R0001-000</a:t>
            </a:r>
          </a:p>
          <a:p>
            <a:pPr>
              <a:lnSpc>
                <a:spcPct val="200000"/>
              </a:lnSpc>
            </a:pPr>
            <a:r>
              <a:rPr lang="ko-KR" altLang="en-US" sz="700" dirty="0" smtClean="0">
                <a:latin typeface="+mn-ea"/>
              </a:rPr>
              <a:t>신축공사</a:t>
            </a:r>
            <a:endParaRPr lang="en-US" altLang="ko-KR" sz="700" dirty="0" smtClean="0">
              <a:latin typeface="+mn-ea"/>
            </a:endParaRPr>
          </a:p>
          <a:p>
            <a:pPr>
              <a:lnSpc>
                <a:spcPct val="200000"/>
              </a:lnSpc>
            </a:pPr>
            <a:r>
              <a:rPr lang="ko-KR" altLang="en-US" sz="700" dirty="0" err="1" smtClean="0">
                <a:latin typeface="+mn-ea"/>
              </a:rPr>
              <a:t>종합낙찰제</a:t>
            </a:r>
            <a:endParaRPr lang="en-US" altLang="ko-KR" sz="700" dirty="0" smtClean="0">
              <a:latin typeface="+mn-ea"/>
            </a:endParaRPr>
          </a:p>
          <a:p>
            <a:pPr>
              <a:lnSpc>
                <a:spcPct val="200000"/>
              </a:lnSpc>
            </a:pPr>
            <a:r>
              <a:rPr lang="ko-KR" altLang="en-US" sz="700" dirty="0" err="1" smtClean="0">
                <a:latin typeface="+mn-ea"/>
              </a:rPr>
              <a:t>종합낙찰제</a:t>
            </a:r>
            <a:endParaRPr lang="en-US" altLang="ko-KR" sz="700" dirty="0" smtClean="0">
              <a:latin typeface="+mn-ea"/>
            </a:endParaRPr>
          </a:p>
          <a:p>
            <a:pPr>
              <a:lnSpc>
                <a:spcPct val="200000"/>
              </a:lnSpc>
            </a:pPr>
            <a:r>
              <a:rPr lang="en-US" altLang="ko-KR" sz="700" dirty="0" smtClean="0">
                <a:latin typeface="+mn-ea"/>
              </a:rPr>
              <a:t>500,000,000</a:t>
            </a:r>
            <a:r>
              <a:rPr lang="ko-KR" altLang="en-US" sz="700" dirty="0" smtClean="0">
                <a:latin typeface="+mn-ea"/>
              </a:rPr>
              <a:t>원</a:t>
            </a:r>
            <a:endParaRPr lang="en-US" altLang="ko-KR" sz="700" dirty="0" smtClean="0">
              <a:latin typeface="+mn-ea"/>
            </a:endParaRPr>
          </a:p>
          <a:p>
            <a:pPr>
              <a:lnSpc>
                <a:spcPct val="200000"/>
              </a:lnSpc>
            </a:pPr>
            <a:r>
              <a:rPr lang="ko-KR" altLang="en-US" sz="700" dirty="0" smtClean="0">
                <a:latin typeface="+mn-ea"/>
              </a:rPr>
              <a:t>대상</a:t>
            </a:r>
            <a:endParaRPr lang="en-US" altLang="ko-KR" sz="700" dirty="0" smtClean="0">
              <a:latin typeface="+mn-ea"/>
            </a:endParaRPr>
          </a:p>
          <a:p>
            <a:pPr>
              <a:lnSpc>
                <a:spcPct val="200000"/>
              </a:lnSpc>
            </a:pPr>
            <a:r>
              <a:rPr lang="ko-KR" altLang="en-US" sz="700" dirty="0" smtClean="0">
                <a:latin typeface="+mn-ea"/>
              </a:rPr>
              <a:t>비대상</a:t>
            </a:r>
            <a:endParaRPr lang="en-US" altLang="ko-KR" sz="700" dirty="0" smtClean="0">
              <a:latin typeface="+mn-ea"/>
            </a:endParaRPr>
          </a:p>
          <a:p>
            <a:pPr>
              <a:lnSpc>
                <a:spcPct val="200000"/>
              </a:lnSpc>
            </a:pPr>
            <a:r>
              <a:rPr lang="en-US" altLang="ko-KR" sz="700" dirty="0" smtClean="0">
                <a:latin typeface="+mn-ea"/>
              </a:rPr>
              <a:t>2026-01-13 10:00:00</a:t>
            </a:r>
          </a:p>
          <a:p>
            <a:pPr>
              <a:lnSpc>
                <a:spcPct val="200000"/>
              </a:lnSpc>
            </a:pPr>
            <a:r>
              <a:rPr lang="en-US" altLang="ko-KR" sz="700" dirty="0" smtClean="0">
                <a:latin typeface="+mn-ea"/>
              </a:rPr>
              <a:t>2026-01-15 10:00:00</a:t>
            </a:r>
            <a:endParaRPr lang="en-US" altLang="ko-KR" sz="700" dirty="0">
              <a:latin typeface="+mn-ea"/>
            </a:endParaRPr>
          </a:p>
        </p:txBody>
      </p:sp>
      <p:grpSp>
        <p:nvGrpSpPr>
          <p:cNvPr id="166" name="그룹 165"/>
          <p:cNvGrpSpPr/>
          <p:nvPr/>
        </p:nvGrpSpPr>
        <p:grpSpPr>
          <a:xfrm>
            <a:off x="720139" y="3581629"/>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5910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3878080" y="3429602"/>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3" name="모서리가 둥근 직사각형 102"/>
          <p:cNvSpPr/>
          <p:nvPr/>
        </p:nvSpPr>
        <p:spPr>
          <a:xfrm>
            <a:off x="3831550" y="382798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3902509"/>
            <a:ext cx="213425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smtClean="0">
                <a:solidFill>
                  <a:schemeClr val="tx1">
                    <a:lumMod val="85000"/>
                    <a:lumOff val="15000"/>
                  </a:schemeClr>
                </a:solidFill>
                <a:latin typeface="맑은 고딕" panose="020B0503020000020004" pitchFamily="50" charset="-127"/>
              </a:rPr>
              <a:t>]      </a:t>
            </a:r>
            <a:endParaRPr lang="en-US" altLang="ko-KR" sz="700" dirty="0">
              <a:solidFill>
                <a:schemeClr val="tx1">
                  <a:lumMod val="85000"/>
                  <a:lumOff val="15000"/>
                </a:schemeClr>
              </a:solidFill>
              <a:latin typeface="맑은 고딕" panose="020B0503020000020004" pitchFamily="50" charset="-127"/>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395637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7" name="모서리가 둥근 직사각형 106"/>
          <p:cNvSpPr/>
          <p:nvPr/>
        </p:nvSpPr>
        <p:spPr>
          <a:xfrm>
            <a:off x="3831550" y="4234674"/>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TextBox 107">
            <a:extLst>
              <a:ext uri="{FF2B5EF4-FFF2-40B4-BE49-F238E27FC236}">
                <a16:creationId xmlns:a16="http://schemas.microsoft.com/office/drawing/2014/main" id="{FFC49AEA-2A8F-250C-A86A-A7751D9706C3}"/>
              </a:ext>
            </a:extLst>
          </p:cNvPr>
          <p:cNvSpPr txBox="1"/>
          <p:nvPr/>
        </p:nvSpPr>
        <p:spPr>
          <a:xfrm>
            <a:off x="4332217" y="4309195"/>
            <a:ext cx="2142507"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909746" y="436305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4332218" y="3692870"/>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3838314" y="3692870"/>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grpSp>
        <p:nvGrpSpPr>
          <p:cNvPr id="3" name="그룹 2"/>
          <p:cNvGrpSpPr/>
          <p:nvPr/>
        </p:nvGrpSpPr>
        <p:grpSpPr>
          <a:xfrm>
            <a:off x="3844632" y="1534455"/>
            <a:ext cx="2630093" cy="1618316"/>
            <a:chOff x="3844632" y="3774686"/>
            <a:chExt cx="2630093" cy="1618316"/>
          </a:xfrm>
        </p:grpSpPr>
        <p:sp>
          <p:nvSpPr>
            <p:cNvPr id="161" name="TextBox 160">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62" name="직사각형 161"/>
            <p:cNvSpPr/>
            <p:nvPr/>
          </p:nvSpPr>
          <p:spPr>
            <a:xfrm>
              <a:off x="3846725" y="4082172"/>
              <a:ext cx="792000" cy="131083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33789" y="4082171"/>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690637" y="4082171"/>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9" name="직선 연결선 138">
            <a:extLst>
              <a:ext uri="{FF2B5EF4-FFF2-40B4-BE49-F238E27FC236}">
                <a16:creationId xmlns:a16="http://schemas.microsoft.com/office/drawing/2014/main" id="{E9293055-D5CD-4B9E-7F64-64B2D2CA7A52}"/>
              </a:ext>
            </a:extLst>
          </p:cNvPr>
          <p:cNvCxnSpPr/>
          <p:nvPr/>
        </p:nvCxnSpPr>
        <p:spPr>
          <a:xfrm>
            <a:off x="3795734" y="46976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3795734" y="34114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6" name="그룹 95"/>
          <p:cNvGrpSpPr/>
          <p:nvPr/>
        </p:nvGrpSpPr>
        <p:grpSpPr>
          <a:xfrm>
            <a:off x="3844632" y="4769891"/>
            <a:ext cx="2630093" cy="978170"/>
            <a:chOff x="3844632" y="3774686"/>
            <a:chExt cx="2630093" cy="978170"/>
          </a:xfrm>
        </p:grpSpPr>
        <p:sp>
          <p:nvSpPr>
            <p:cNvPr id="97" name="TextBox 96">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a:latin typeface="+mn-ea"/>
                </a:rPr>
                <a:t>사전심사결과</a:t>
              </a:r>
            </a:p>
          </p:txBody>
        </p:sp>
        <p:sp>
          <p:nvSpPr>
            <p:cNvPr id="98" name="직사각형 97"/>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FFC49AEA-2A8F-250C-A86A-A7751D9706C3}"/>
                </a:ext>
              </a:extLst>
            </p:cNvPr>
            <p:cNvSpPr txBox="1"/>
            <p:nvPr/>
          </p:nvSpPr>
          <p:spPr>
            <a:xfrm>
              <a:off x="3933789" y="4082171"/>
              <a:ext cx="756848" cy="612027"/>
            </a:xfrm>
            <a:prstGeom prst="rect">
              <a:avLst/>
            </a:prstGeom>
            <a:noFill/>
          </p:spPr>
          <p:txBody>
            <a:bodyPr wrap="square" lIns="0" tIns="0" rIns="0" bIns="0" rtlCol="0">
              <a:spAutoFit/>
            </a:bodyPr>
            <a:lstStyle/>
            <a:p>
              <a:pPr>
                <a:lnSpc>
                  <a:spcPct val="200000"/>
                </a:lnSpc>
              </a:pPr>
              <a:r>
                <a:rPr lang="ko-KR" altLang="en-US" sz="700" dirty="0" err="1">
                  <a:latin typeface="+mn-ea"/>
                </a:rPr>
                <a:t>심사점수</a:t>
              </a:r>
              <a:endParaRPr lang="en-US" altLang="ko-KR" sz="700" dirty="0">
                <a:latin typeface="+mn-ea"/>
              </a:endParaRPr>
            </a:p>
            <a:p>
              <a:pPr>
                <a:lnSpc>
                  <a:spcPct val="200000"/>
                </a:lnSpc>
              </a:pPr>
              <a:r>
                <a:rPr lang="ko-KR" altLang="en-US" sz="700" dirty="0" err="1">
                  <a:latin typeface="+mn-ea"/>
                </a:rPr>
                <a:t>합격여부</a:t>
              </a:r>
              <a:endParaRPr lang="en-US" altLang="ko-KR" sz="700" dirty="0">
                <a:latin typeface="+mn-ea"/>
              </a:endParaRPr>
            </a:p>
            <a:p>
              <a:pPr>
                <a:lnSpc>
                  <a:spcPct val="200000"/>
                </a:lnSpc>
              </a:pPr>
              <a:r>
                <a:rPr lang="ko-KR" altLang="en-US" sz="700" dirty="0">
                  <a:latin typeface="+mn-ea"/>
                </a:rPr>
                <a:t>심사확정일자</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4690637" y="4077938"/>
              <a:ext cx="1784088" cy="646331"/>
            </a:xfrm>
            <a:prstGeom prst="rect">
              <a:avLst/>
            </a:prstGeom>
            <a:noFill/>
          </p:spPr>
          <p:txBody>
            <a:bodyPr wrap="square" lIns="0" tIns="0" rIns="0" bIns="0" rtlCol="0">
              <a:spAutoFit/>
            </a:bodyPr>
            <a:lstStyle/>
            <a:p>
              <a:pPr>
                <a:lnSpc>
                  <a:spcPct val="200000"/>
                </a:lnSpc>
              </a:pPr>
              <a:r>
                <a:rPr lang="en-US" altLang="ko-KR" sz="700" dirty="0">
                  <a:latin typeface="+mn-ea"/>
                </a:rPr>
                <a:t>-</a:t>
              </a:r>
            </a:p>
            <a:p>
              <a:pPr>
                <a:lnSpc>
                  <a:spcPct val="200000"/>
                </a:lnSpc>
              </a:pPr>
              <a:r>
                <a:rPr lang="ko-KR" altLang="en-US" sz="700" dirty="0" err="1" smtClean="0">
                  <a:latin typeface="+mn-ea"/>
                </a:rPr>
                <a:t>심사중</a:t>
              </a:r>
              <a:endParaRPr lang="en-US" altLang="ko-KR" sz="700" dirty="0">
                <a:latin typeface="+mn-ea"/>
              </a:endParaRPr>
            </a:p>
            <a:p>
              <a:pPr>
                <a:lnSpc>
                  <a:spcPct val="200000"/>
                </a:lnSpc>
              </a:pPr>
              <a:r>
                <a:rPr lang="en-US" altLang="ko-KR" sz="700" dirty="0" smtClean="0">
                  <a:latin typeface="+mn-ea"/>
                </a:rPr>
                <a:t>-</a:t>
              </a:r>
              <a:endParaRPr lang="en-US" altLang="ko-KR" sz="7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8" name="모서리가 둥근 직사각형 357"/>
          <p:cNvSpPr/>
          <p:nvPr/>
        </p:nvSpPr>
        <p:spPr>
          <a:xfrm rot="5400000">
            <a:off x="5782577" y="489445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4" name="그룹 93"/>
          <p:cNvGrpSpPr/>
          <p:nvPr/>
        </p:nvGrpSpPr>
        <p:grpSpPr>
          <a:xfrm>
            <a:off x="677960" y="1582647"/>
            <a:ext cx="2714637" cy="686386"/>
            <a:chOff x="677960" y="1582647"/>
            <a:chExt cx="2714637" cy="686386"/>
          </a:xfrm>
        </p:grpSpPr>
        <p:sp>
          <p:nvSpPr>
            <p:cNvPr id="111" name="TextBox 11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사전심사 </a:t>
              </a:r>
              <a:r>
                <a:rPr lang="ko-KR" altLang="en-US" sz="800" dirty="0" err="1">
                  <a:latin typeface="+mn-ea"/>
                </a:rPr>
                <a:t>결과조회</a:t>
              </a:r>
              <a:endParaRPr lang="ko-KR" altLang="en-US" sz="800" dirty="0">
                <a:latin typeface="+mn-ea"/>
              </a:endParaRP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8" name="그룹 127"/>
            <p:cNvGrpSpPr/>
            <p:nvPr/>
          </p:nvGrpSpPr>
          <p:grpSpPr>
            <a:xfrm rot="5400000">
              <a:off x="852159" y="2062596"/>
              <a:ext cx="94010" cy="47005"/>
              <a:chOff x="6812560" y="3297172"/>
              <a:chExt cx="94010" cy="47005"/>
            </a:xfrm>
          </p:grpSpPr>
          <p:cxnSp>
            <p:nvCxnSpPr>
              <p:cNvPr id="152" name="직선 연결선 15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9" name="그룹 128"/>
            <p:cNvGrpSpPr/>
            <p:nvPr/>
          </p:nvGrpSpPr>
          <p:grpSpPr>
            <a:xfrm>
              <a:off x="677960" y="1582647"/>
              <a:ext cx="2712027" cy="324286"/>
              <a:chOff x="677960" y="1582647"/>
              <a:chExt cx="2712027" cy="324286"/>
            </a:xfrm>
          </p:grpSpPr>
          <p:pic>
            <p:nvPicPr>
              <p:cNvPr id="13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8" name="직선 연결선 137">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타원 147"/>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타원 148"/>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0" name="타원 149"/>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6" name="직사각형 5"/>
          <p:cNvSpPr/>
          <p:nvPr/>
        </p:nvSpPr>
        <p:spPr>
          <a:xfrm>
            <a:off x="3790317" y="4781815"/>
            <a:ext cx="2754416" cy="1029026"/>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직사각형 122"/>
          <p:cNvSpPr/>
          <p:nvPr/>
        </p:nvSpPr>
        <p:spPr>
          <a:xfrm>
            <a:off x="8223250" y="12069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2026-07-23 </a:t>
            </a:r>
            <a:r>
              <a:rPr lang="ko-KR" altLang="en-US" dirty="0" smtClean="0"/>
              <a:t>화면 추가</a:t>
            </a:r>
            <a:endParaRPr lang="ko-KR" altLang="en-US" dirty="0"/>
          </a:p>
        </p:txBody>
      </p:sp>
      <p:sp>
        <p:nvSpPr>
          <p:cNvPr id="125" name="직사각형 124"/>
          <p:cNvSpPr/>
          <p:nvPr/>
        </p:nvSpPr>
        <p:spPr>
          <a:xfrm>
            <a:off x="9906000" y="12069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사전심사신청내역조회</a:t>
            </a:r>
            <a:endParaRPr lang="en-US" altLang="ko-KR" sz="700" dirty="0" smtClean="0"/>
          </a:p>
        </p:txBody>
      </p:sp>
    </p:spTree>
    <p:extLst>
      <p:ext uri="{BB962C8B-B14F-4D97-AF65-F5344CB8AC3E}">
        <p14:creationId xmlns:p14="http://schemas.microsoft.com/office/powerpoint/2010/main" val="99628116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191</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공사내역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555322"/>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발주기관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공사구분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981706"/>
                  </a:ext>
                </a:extLst>
              </a:tr>
              <a:tr h="0">
                <a:tc>
                  <a:txBody>
                    <a:bodyPr/>
                    <a:lstStyle/>
                    <a:p>
                      <a:pPr latinLnBrk="1"/>
                      <a:r>
                        <a:rPr lang="ko-KR" altLang="en-US" sz="800" dirty="0">
                          <a:latin typeface="+mn-ea"/>
                          <a:ea typeface="+mn-ea"/>
                        </a:rPr>
                        <a:t>사전심사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bfhdSrngAplyDdlnDt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사전심사신청마감일시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767813"/>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57250F06-1B6F-1A14-ADDE-D8CA155178B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B53B5F6D-8C54-2C6F-EBAC-2C7F5A68199E}"/>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Tree>
    <p:extLst>
      <p:ext uri="{BB962C8B-B14F-4D97-AF65-F5344CB8AC3E}">
        <p14:creationId xmlns:p14="http://schemas.microsoft.com/office/powerpoint/2010/main" val="257898093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192</a:t>
            </a:fld>
            <a:endParaRPr lang="ko-KR" altLang="en-US" dirty="0"/>
          </a:p>
        </p:txBody>
      </p:sp>
      <p:sp>
        <p:nvSpPr>
          <p:cNvPr id="4" name="TextBox 3">
            <a:extLst>
              <a:ext uri="{FF2B5EF4-FFF2-40B4-BE49-F238E27FC236}">
                <a16:creationId xmlns:a16="http://schemas.microsoft.com/office/drawing/2014/main" id="{8AD62ED2-6573-FBFD-A141-728376028F5F}"/>
              </a:ext>
            </a:extLst>
          </p:cNvPr>
          <p:cNvSpPr txBox="1"/>
          <p:nvPr/>
        </p:nvSpPr>
        <p:spPr>
          <a:xfrm>
            <a:off x="453831" y="776270"/>
            <a:ext cx="236179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첨부파일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dlt_atchFileList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F1948FDD-E55A-AC80-14E3-8851A4E295E2}"/>
              </a:ext>
            </a:extLst>
          </p:cNvPr>
          <p:cNvGraphicFramePr>
            <a:graphicFrameLocks noGrp="1"/>
          </p:cNvGraphicFramePr>
          <p:nvPr/>
        </p:nvGraphicFramePr>
        <p:xfrm>
          <a:off x="453000" y="988761"/>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 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TextBox 1">
            <a:extLst>
              <a:ext uri="{FF2B5EF4-FFF2-40B4-BE49-F238E27FC236}">
                <a16:creationId xmlns:a16="http://schemas.microsoft.com/office/drawing/2014/main" id="{E496B8EB-54D2-3023-5305-2EC389DB8853}"/>
              </a:ext>
            </a:extLst>
          </p:cNvPr>
          <p:cNvSpPr txBox="1"/>
          <p:nvPr/>
        </p:nvSpPr>
        <p:spPr>
          <a:xfrm>
            <a:off x="453832" y="1995474"/>
            <a:ext cx="277055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사전심사결과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dmt_bfhdSrngRslt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A3449504-8617-9A02-A15D-8FBB5B71CB9D}"/>
              </a:ext>
            </a:extLst>
          </p:cNvPr>
          <p:cNvGraphicFramePr>
            <a:graphicFrameLocks noGrp="1"/>
          </p:cNvGraphicFramePr>
          <p:nvPr/>
        </p:nvGraphicFramePr>
        <p:xfrm>
          <a:off x="453001" y="220796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심사점수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합격여부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srngPassYn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사전심사합격여부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심사확정일시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bfhdSrngCfmtnDt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사전심사확정일시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sp>
        <p:nvSpPr>
          <p:cNvPr id="6" name="Text Box 73">
            <a:extLst>
              <a:ext uri="{FF2B5EF4-FFF2-40B4-BE49-F238E27FC236}">
                <a16:creationId xmlns:a16="http://schemas.microsoft.com/office/drawing/2014/main" id="{2239D400-60B9-5380-9783-770A3296792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3" name="TextBox 12">
            <a:extLst>
              <a:ext uri="{FF2B5EF4-FFF2-40B4-BE49-F238E27FC236}">
                <a16:creationId xmlns:a16="http://schemas.microsoft.com/office/drawing/2014/main" id="{2D3516FD-E0F2-AAC5-4F0A-487CCE86587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Tree>
    <p:extLst>
      <p:ext uri="{BB962C8B-B14F-4D97-AF65-F5344CB8AC3E}">
        <p14:creationId xmlns:p14="http://schemas.microsoft.com/office/powerpoint/2010/main" val="98207708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193</a:t>
            </a:fld>
            <a:endParaRPr lang="ko-KR" altLang="en-US" dirty="0"/>
          </a:p>
        </p:txBody>
      </p:sp>
      <p:sp>
        <p:nvSpPr>
          <p:cNvPr id="8" name="TextBox 7">
            <a:extLst>
              <a:ext uri="{FF2B5EF4-FFF2-40B4-BE49-F238E27FC236}">
                <a16:creationId xmlns:a16="http://schemas.microsoft.com/office/drawing/2014/main" id="{08C1012F-B7D9-54D0-F889-F3DD6C7ED26C}"/>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9" name="표 8">
            <a:extLst>
              <a:ext uri="{FF2B5EF4-FFF2-40B4-BE49-F238E27FC236}">
                <a16:creationId xmlns:a16="http://schemas.microsoft.com/office/drawing/2014/main" id="{9196099B-4391-0B72-CEBB-9E4B2F4E63FE}"/>
              </a:ext>
            </a:extLst>
          </p:cNvPr>
          <p:cNvGraphicFramePr>
            <a:graphicFrameLocks noGrp="1"/>
          </p:cNvGraphicFramePr>
          <p:nvPr/>
        </p:nvGraphicFramePr>
        <p:xfrm>
          <a:off x="453000" y="1039042"/>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사전심사신청서</a:t>
                      </a:r>
                      <a:r>
                        <a:rPr lang="en-US" altLang="ko-KR" sz="800" dirty="0">
                          <a:latin typeface="+mn-ea"/>
                          <a:ea typeface="+mn-ea"/>
                        </a:rPr>
                        <a:t>, </a:t>
                      </a:r>
                      <a:r>
                        <a:rPr lang="ko-KR" altLang="en-US" sz="800" dirty="0">
                          <a:latin typeface="+mn-ea"/>
                          <a:ea typeface="+mn-ea"/>
                        </a:rPr>
                        <a:t>사전심사결과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scwin.btn_close_onclick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사전심사신청상세</a:t>
                      </a:r>
                      <a:r>
                        <a:rPr lang="ko-KR" altLang="en-US" sz="800" dirty="0">
                          <a:latin typeface="+mn-ea"/>
                          <a:ea typeface="+mn-ea"/>
                        </a:rPr>
                        <a:t>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Text Box 73">
            <a:extLst>
              <a:ext uri="{FF2B5EF4-FFF2-40B4-BE49-F238E27FC236}">
                <a16:creationId xmlns:a16="http://schemas.microsoft.com/office/drawing/2014/main" id="{5441796B-5464-E016-6555-6FFCA7173392}"/>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624927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194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11. </a:t>
            </a:r>
            <a:r>
              <a:rPr lang="ko-KR" altLang="en-US" dirty="0" err="1"/>
              <a:t>입찰진행</a:t>
            </a:r>
            <a:r>
              <a:rPr lang="ko-KR" altLang="en-US" dirty="0"/>
              <a:t> </a:t>
            </a:r>
            <a:r>
              <a:rPr lang="ko-KR" altLang="en-US" dirty="0" smtClean="0"/>
              <a:t>상세 </a:t>
            </a:r>
            <a:r>
              <a:rPr lang="en-US" altLang="ko-KR" dirty="0" smtClean="0"/>
              <a:t>– </a:t>
            </a:r>
            <a:r>
              <a:rPr lang="ko-KR" altLang="en-US" dirty="0" smtClean="0"/>
              <a:t>사전심사</a:t>
            </a:r>
            <a:r>
              <a:rPr lang="en-US" altLang="ko-KR" dirty="0" smtClean="0"/>
              <a:t>PQ</a:t>
            </a:r>
            <a:r>
              <a:rPr lang="ko-KR" altLang="en-US" dirty="0" err="1" smtClean="0"/>
              <a:t>결과조회</a:t>
            </a:r>
            <a:endParaRPr lang="en-US" altLang="ko-KR" dirty="0" smtClean="0"/>
          </a:p>
          <a:p>
            <a:r>
              <a:rPr lang="en-US" altLang="ko-KR" dirty="0" smtClean="0"/>
              <a:t>11.1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1379989639"/>
              </p:ext>
            </p:extLst>
          </p:nvPr>
        </p:nvGraphicFramePr>
        <p:xfrm>
          <a:off x="635474" y="1413419"/>
          <a:ext cx="8701200" cy="6793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r>
                        <a:rPr lang="en-US" altLang="ko-KR" sz="800" dirty="0" smtClean="0"/>
                        <a:t>MUI-BD-02-M02</a:t>
                      </a:r>
                      <a:endParaRPr lang="ko-KR" altLang="en-US" sz="800" dirty="0">
                        <a:latin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fontAlgn="ctr"/>
                      <a:r>
                        <a:rPr lang="ko-KR" altLang="en-US" sz="800" dirty="0" smtClean="0"/>
                        <a:t>사전심사</a:t>
                      </a:r>
                      <a:r>
                        <a:rPr lang="en-US" altLang="ko-KR" sz="800" dirty="0" smtClean="0"/>
                        <a:t>(PQ)</a:t>
                      </a:r>
                      <a:r>
                        <a:rPr lang="ko-KR" altLang="en-US" sz="800" dirty="0" smtClean="0"/>
                        <a:t>결과</a:t>
                      </a:r>
                      <a:endParaRPr lang="ko-KR" altLang="en-US"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BfhdSrngRsltInqPage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사전심사 신청 현황 및 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UC-BD-08-04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468122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090845" y="1493927"/>
            <a:ext cx="2300284" cy="4981517"/>
          </a:xfrm>
        </p:spPr>
        <p:txBody>
          <a:bodyPr/>
          <a:lstStyle/>
          <a:p>
            <a:pPr marL="228600" indent="-228600">
              <a:buFont typeface="+mj-lt"/>
              <a:buAutoNum type="arabicPeriod"/>
            </a:pPr>
            <a:r>
              <a:rPr lang="ko-KR" altLang="en-US" dirty="0" smtClean="0"/>
              <a:t>용역</a:t>
            </a:r>
            <a:r>
              <a:rPr lang="en-US" altLang="ko-KR" dirty="0" smtClean="0"/>
              <a:t>, </a:t>
            </a:r>
            <a:r>
              <a:rPr lang="ko-KR" altLang="en-US" dirty="0" smtClean="0"/>
              <a:t>공사 인 경우 노출</a:t>
            </a:r>
            <a:r>
              <a:rPr lang="en-US" altLang="ko-KR" dirty="0"/>
              <a:t/>
            </a:r>
            <a:br>
              <a:rPr lang="en-US" altLang="ko-KR" dirty="0"/>
            </a:br>
            <a:r>
              <a:rPr lang="en-US" altLang="ko-KR" dirty="0" smtClean="0"/>
              <a:t>-</a:t>
            </a:r>
            <a:r>
              <a:rPr lang="ko-KR" altLang="en-US" dirty="0" err="1" smtClean="0"/>
              <a:t>업무도움</a:t>
            </a:r>
            <a:r>
              <a:rPr lang="ko-KR" altLang="en-US" dirty="0" smtClean="0"/>
              <a:t> </a:t>
            </a:r>
            <a:r>
              <a:rPr lang="ko-KR" altLang="en-US" dirty="0"/>
              <a:t>내용이 있는 경우 </a:t>
            </a:r>
            <a:r>
              <a:rPr lang="ko-KR" altLang="en-US" dirty="0" smtClean="0"/>
              <a:t>표시</a:t>
            </a:r>
            <a:endParaRPr lang="en-US" altLang="ko-KR" dirty="0"/>
          </a:p>
          <a:p>
            <a:pPr marL="228600" indent="-228600">
              <a:buFont typeface="+mj-lt"/>
              <a:buAutoNum type="arabicPeriod"/>
            </a:pPr>
            <a:r>
              <a:rPr lang="ko-KR" altLang="en-US" dirty="0" smtClean="0"/>
              <a:t>공고 </a:t>
            </a:r>
            <a:r>
              <a:rPr lang="ko-KR" altLang="en-US" dirty="0"/>
              <a:t>일반 내용 </a:t>
            </a:r>
            <a:r>
              <a:rPr lang="ko-KR" altLang="en-US" dirty="0" smtClean="0"/>
              <a:t>표시</a:t>
            </a:r>
            <a:r>
              <a:rPr lang="en-US" altLang="ko-KR" dirty="0"/>
              <a:t/>
            </a:r>
            <a:br>
              <a:rPr lang="en-US" altLang="ko-KR" dirty="0"/>
            </a:br>
            <a:r>
              <a:rPr lang="en-US" altLang="ko-KR" dirty="0"/>
              <a:t>2-1) </a:t>
            </a:r>
            <a:r>
              <a:rPr lang="ko-KR" altLang="en-US" dirty="0"/>
              <a:t>용역인 경우</a:t>
            </a:r>
            <a:r>
              <a:rPr lang="en-US" altLang="ko-KR" dirty="0"/>
              <a:t>, </a:t>
            </a:r>
            <a:r>
              <a:rPr lang="ko-KR" altLang="en-US" dirty="0" err="1"/>
              <a:t>조달번호</a:t>
            </a:r>
            <a:r>
              <a:rPr lang="ko-KR" altLang="en-US" dirty="0"/>
              <a:t> </a:t>
            </a:r>
            <a:r>
              <a:rPr lang="ko-KR" altLang="en-US" dirty="0" smtClean="0"/>
              <a:t>노출</a:t>
            </a:r>
            <a:endParaRPr lang="en-US" altLang="ko-KR" dirty="0"/>
          </a:p>
          <a:p>
            <a:pPr marL="228600" indent="-228600">
              <a:buFont typeface="+mj-lt"/>
              <a:buAutoNum type="arabicPeriod"/>
            </a:pPr>
            <a:r>
              <a:rPr lang="ko-KR" altLang="en-US" dirty="0"/>
              <a:t>업체 내역 표시</a:t>
            </a:r>
            <a:endParaRPr lang="en-US" altLang="ko-KR" dirty="0"/>
          </a:p>
          <a:p>
            <a:pPr marL="228600" indent="-228600">
              <a:buFont typeface="+mj-lt"/>
              <a:buAutoNum type="arabicPeriod"/>
            </a:pPr>
            <a:r>
              <a:rPr lang="ko-KR" altLang="en-US" dirty="0"/>
              <a:t>첨부파일 내역 </a:t>
            </a:r>
            <a:r>
              <a:rPr lang="ko-KR" altLang="en-US" dirty="0" smtClean="0"/>
              <a:t>표시</a:t>
            </a:r>
            <a:r>
              <a:rPr lang="en-US" altLang="ko-KR" dirty="0" smtClean="0"/>
              <a:t/>
            </a:r>
            <a:br>
              <a:rPr lang="en-US" altLang="ko-KR" dirty="0" smtClean="0"/>
            </a:br>
            <a:r>
              <a:rPr lang="en-US" altLang="ko-KR" dirty="0" smtClean="0"/>
              <a:t>(</a:t>
            </a:r>
            <a:r>
              <a:rPr lang="ko-KR" altLang="en-US" dirty="0" smtClean="0"/>
              <a:t>파일첨부 </a:t>
            </a:r>
            <a:r>
              <a:rPr lang="en-US" altLang="ko-KR" dirty="0" smtClean="0">
                <a:solidFill>
                  <a:srgbClr val="000000"/>
                </a:solidFill>
                <a:latin typeface="맑은 고딕" panose="020B0503020000020004" pitchFamily="50" charset="-127"/>
              </a:rPr>
              <a:t>MUI-BD-04-P13)</a:t>
            </a:r>
            <a:endParaRPr lang="en-US" altLang="ko-KR" dirty="0"/>
          </a:p>
          <a:p>
            <a:pPr marL="228600" indent="-228600">
              <a:buFont typeface="+mj-lt"/>
              <a:buAutoNum type="arabicPeriod"/>
            </a:pPr>
            <a:r>
              <a:rPr lang="ko-KR" altLang="en-US" dirty="0"/>
              <a:t>사전심사결과 표시</a:t>
            </a:r>
            <a:r>
              <a:rPr lang="en-US" altLang="ko-KR" dirty="0"/>
              <a:t/>
            </a:r>
            <a:br>
              <a:rPr lang="en-US" altLang="ko-KR" dirty="0"/>
            </a:br>
            <a:r>
              <a:rPr lang="en-US" altLang="ko-KR" dirty="0" smtClean="0"/>
              <a:t>- </a:t>
            </a:r>
            <a:r>
              <a:rPr lang="ko-KR" altLang="en-US" dirty="0" smtClean="0"/>
              <a:t>심사 </a:t>
            </a:r>
            <a:r>
              <a:rPr lang="ko-KR" altLang="en-US" dirty="0" err="1" smtClean="0"/>
              <a:t>완료인경우</a:t>
            </a:r>
            <a:r>
              <a:rPr lang="ko-KR" altLang="en-US" dirty="0" smtClean="0"/>
              <a:t> 심사 결과 노출</a:t>
            </a:r>
            <a:r>
              <a:rPr lang="en-US" altLang="ko-KR" dirty="0" smtClean="0"/>
              <a:t/>
            </a:r>
            <a:br>
              <a:rPr lang="en-US" altLang="ko-KR" dirty="0" smtClean="0"/>
            </a:br>
            <a:r>
              <a:rPr lang="en-US" altLang="ko-KR" dirty="0" smtClean="0"/>
              <a:t>: </a:t>
            </a:r>
            <a:r>
              <a:rPr lang="ko-KR" altLang="en-US" dirty="0" smtClean="0"/>
              <a:t>합격</a:t>
            </a:r>
            <a:r>
              <a:rPr lang="en-US" altLang="ko-KR" dirty="0" smtClean="0"/>
              <a:t>/</a:t>
            </a:r>
            <a:r>
              <a:rPr lang="ko-KR" altLang="en-US" dirty="0" smtClean="0"/>
              <a:t>불합격</a:t>
            </a:r>
            <a:r>
              <a:rPr lang="en-US" altLang="ko-KR" dirty="0" smtClean="0"/>
              <a:t/>
            </a:r>
            <a:br>
              <a:rPr lang="en-US" altLang="ko-KR" dirty="0" smtClean="0"/>
            </a:br>
            <a:r>
              <a:rPr lang="en-US" altLang="ko-KR" dirty="0" smtClean="0"/>
              <a:t>- </a:t>
            </a:r>
            <a:r>
              <a:rPr lang="ko-KR" altLang="en-US" dirty="0" smtClean="0"/>
              <a:t>심사중인경우 </a:t>
            </a:r>
            <a:r>
              <a:rPr lang="ko-KR" altLang="en-US" dirty="0" err="1" smtClean="0"/>
              <a:t>심사중으로</a:t>
            </a:r>
            <a:r>
              <a:rPr lang="ko-KR" altLang="en-US" dirty="0" smtClean="0"/>
              <a:t> 노출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사전심사</a:t>
            </a:r>
            <a:r>
              <a:rPr lang="en-US" altLang="ko-KR" dirty="0"/>
              <a:t>(PQ)</a:t>
            </a:r>
            <a:r>
              <a:rPr lang="ko-KR" altLang="en-US" dirty="0"/>
              <a:t>결과 </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smtClean="0">
                <a:latin typeface="+mn-ea"/>
              </a:rPr>
              <a:t>사전심사 결과를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사전심사</a:t>
            </a:r>
            <a:r>
              <a:rPr lang="en-US" altLang="ko-KR" dirty="0">
                <a:latin typeface="+mn-ea"/>
              </a:rPr>
              <a:t> </a:t>
            </a:r>
            <a:r>
              <a:rPr lang="ko-KR" altLang="en-US" dirty="0" err="1">
                <a:latin typeface="+mn-ea"/>
              </a:rPr>
              <a:t>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r>
              <a:rPr lang="en-US" altLang="ko-KR" dirty="0"/>
              <a:t>MUI-BD-02-M02 </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26954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236101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2305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292304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295439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03637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3" name="TextBox 152">
            <a:extLst>
              <a:ext uri="{FF2B5EF4-FFF2-40B4-BE49-F238E27FC236}">
                <a16:creationId xmlns:a16="http://schemas.microsoft.com/office/drawing/2014/main" id="{FFC49AEA-2A8F-250C-A86A-A7751D9706C3}"/>
              </a:ext>
            </a:extLst>
          </p:cNvPr>
          <p:cNvSpPr txBox="1"/>
          <p:nvPr/>
        </p:nvSpPr>
        <p:spPr>
          <a:xfrm>
            <a:off x="781109" y="327414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581628"/>
            <a:ext cx="792000" cy="25853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581629"/>
            <a:ext cx="792000" cy="2585323"/>
          </a:xfrm>
          <a:prstGeom prst="rect">
            <a:avLst/>
          </a:prstGeom>
          <a:noFill/>
        </p:spPr>
        <p:txBody>
          <a:bodyPr wrap="square" lIns="0" tIns="0" rIns="0" bIns="0" rtlCol="0">
            <a:spAutoFit/>
          </a:bodyPr>
          <a:lstStyle/>
          <a:p>
            <a:pPr>
              <a:lnSpc>
                <a:spcPct val="200000"/>
              </a:lnSpc>
            </a:pPr>
            <a:r>
              <a:rPr lang="ko-KR" altLang="en-US" sz="700" dirty="0" err="1" smtClean="0">
                <a:latin typeface="+mn-ea"/>
              </a:rPr>
              <a:t>공고번호</a:t>
            </a:r>
            <a:endParaRPr lang="en-US" altLang="ko-KR" sz="700" dirty="0" smtClean="0">
              <a:latin typeface="+mn-ea"/>
            </a:endParaRPr>
          </a:p>
          <a:p>
            <a:pPr>
              <a:lnSpc>
                <a:spcPct val="200000"/>
              </a:lnSpc>
            </a:pPr>
            <a:r>
              <a:rPr lang="ko-KR" altLang="en-US" sz="700" dirty="0" err="1" smtClean="0">
                <a:latin typeface="+mn-ea"/>
              </a:rPr>
              <a:t>공사번호</a:t>
            </a:r>
            <a:endParaRPr lang="en-US" altLang="ko-KR" sz="700" dirty="0" smtClean="0">
              <a:latin typeface="+mn-ea"/>
            </a:endParaRPr>
          </a:p>
          <a:p>
            <a:pPr>
              <a:lnSpc>
                <a:spcPct val="200000"/>
              </a:lnSpc>
            </a:pPr>
            <a:r>
              <a:rPr lang="ko-KR" altLang="en-US" sz="700" dirty="0" smtClean="0">
                <a:latin typeface="+mn-ea"/>
              </a:rPr>
              <a:t>발주기관</a:t>
            </a:r>
            <a:endParaRPr lang="en-US" altLang="ko-KR" sz="700" dirty="0" smtClean="0">
              <a:latin typeface="+mn-ea"/>
            </a:endParaRPr>
          </a:p>
          <a:p>
            <a:pPr>
              <a:lnSpc>
                <a:spcPct val="200000"/>
              </a:lnSpc>
            </a:pPr>
            <a:r>
              <a:rPr lang="ko-KR" altLang="en-US" sz="700" dirty="0" smtClean="0">
                <a:latin typeface="+mn-ea"/>
              </a:rPr>
              <a:t>통합참조번호</a:t>
            </a:r>
            <a:endParaRPr lang="en-US" altLang="ko-KR" sz="700" dirty="0" smtClean="0">
              <a:latin typeface="+mn-ea"/>
            </a:endParaRPr>
          </a:p>
          <a:p>
            <a:pPr>
              <a:lnSpc>
                <a:spcPct val="200000"/>
              </a:lnSpc>
            </a:pPr>
            <a:r>
              <a:rPr lang="ko-KR" altLang="en-US" sz="700" dirty="0" err="1" smtClean="0">
                <a:latin typeface="+mn-ea"/>
              </a:rPr>
              <a:t>공사구분</a:t>
            </a:r>
            <a:endParaRPr lang="en-US" altLang="ko-KR" sz="700" dirty="0" smtClean="0">
              <a:latin typeface="+mn-ea"/>
            </a:endParaRPr>
          </a:p>
          <a:p>
            <a:pPr>
              <a:lnSpc>
                <a:spcPct val="200000"/>
              </a:lnSpc>
            </a:pPr>
            <a:r>
              <a:rPr lang="ko-KR" altLang="en-US" sz="700" dirty="0" smtClean="0">
                <a:latin typeface="+mn-ea"/>
              </a:rPr>
              <a:t>계약방법</a:t>
            </a:r>
            <a:endParaRPr lang="en-US" altLang="ko-KR" sz="700" dirty="0" smtClean="0">
              <a:latin typeface="+mn-ea"/>
            </a:endParaRPr>
          </a:p>
          <a:p>
            <a:pPr>
              <a:lnSpc>
                <a:spcPct val="200000"/>
              </a:lnSpc>
            </a:pPr>
            <a:r>
              <a:rPr lang="ko-KR" altLang="en-US" sz="700" dirty="0" smtClean="0">
                <a:latin typeface="+mn-ea"/>
              </a:rPr>
              <a:t>입찰방법</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사전심사</a:t>
            </a:r>
            <a:endParaRPr lang="en-US" altLang="ko-KR" sz="700" dirty="0" smtClean="0">
              <a:latin typeface="+mn-ea"/>
            </a:endParaRPr>
          </a:p>
          <a:p>
            <a:pPr>
              <a:lnSpc>
                <a:spcPct val="200000"/>
              </a:lnSpc>
            </a:pPr>
            <a:r>
              <a:rPr lang="ko-KR" altLang="en-US" sz="700" dirty="0" smtClean="0">
                <a:latin typeface="+mn-ea"/>
              </a:rPr>
              <a:t>적격심사</a:t>
            </a:r>
            <a:endParaRPr lang="en-US" altLang="ko-KR" sz="700" dirty="0" smtClean="0">
              <a:latin typeface="+mn-ea"/>
            </a:endParaRPr>
          </a:p>
          <a:p>
            <a:pPr>
              <a:lnSpc>
                <a:spcPct val="200000"/>
              </a:lnSpc>
            </a:pPr>
            <a:r>
              <a:rPr lang="ko-KR" altLang="en-US" sz="700" dirty="0" smtClean="0">
                <a:latin typeface="+mn-ea"/>
              </a:rPr>
              <a:t>신청마감일시</a:t>
            </a:r>
            <a:endParaRPr lang="en-US" altLang="ko-KR" sz="700" dirty="0" smtClean="0">
              <a:latin typeface="+mn-ea"/>
            </a:endParaRPr>
          </a:p>
          <a:p>
            <a:pPr>
              <a:lnSpc>
                <a:spcPct val="200000"/>
              </a:lnSpc>
            </a:pPr>
            <a:r>
              <a:rPr lang="ko-KR" altLang="en-US" sz="700" dirty="0" err="1" smtClean="0">
                <a:latin typeface="+mn-ea"/>
              </a:rPr>
              <a:t>개찰일시</a:t>
            </a:r>
            <a:endParaRPr lang="en-US" altLang="ko-KR" sz="700" dirty="0" smtClean="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581629"/>
            <a:ext cx="1784088" cy="2585323"/>
          </a:xfrm>
          <a:prstGeom prst="rect">
            <a:avLst/>
          </a:prstGeom>
          <a:noFill/>
        </p:spPr>
        <p:txBody>
          <a:bodyPr wrap="square" lIns="0" tIns="0" rIns="0" bIns="0" rtlCol="0">
            <a:spAutoFit/>
          </a:bodyPr>
          <a:lstStyle/>
          <a:p>
            <a:pPr>
              <a:lnSpc>
                <a:spcPct val="200000"/>
              </a:lnSpc>
            </a:pPr>
            <a:r>
              <a:rPr lang="en-US" altLang="ko-KR" sz="700" dirty="0" smtClean="0">
                <a:latin typeface="+mn-ea"/>
              </a:rPr>
              <a:t>R0001-000</a:t>
            </a:r>
          </a:p>
          <a:p>
            <a:pPr>
              <a:lnSpc>
                <a:spcPct val="200000"/>
              </a:lnSpc>
            </a:pPr>
            <a:r>
              <a:rPr lang="en-US" altLang="ko-KR" sz="700" dirty="0" smtClean="0">
                <a:latin typeface="+mn-ea"/>
              </a:rPr>
              <a:t>2025-00001</a:t>
            </a:r>
          </a:p>
          <a:p>
            <a:pPr>
              <a:lnSpc>
                <a:spcPct val="200000"/>
              </a:lnSpc>
            </a:pPr>
            <a:r>
              <a:rPr lang="ko-KR" altLang="en-US" sz="700" dirty="0" err="1" smtClean="0">
                <a:latin typeface="+mn-ea"/>
              </a:rPr>
              <a:t>방위사업청</a:t>
            </a:r>
            <a:endParaRPr lang="en-US" altLang="ko-KR" sz="700" dirty="0" smtClean="0">
              <a:latin typeface="+mn-ea"/>
            </a:endParaRPr>
          </a:p>
          <a:p>
            <a:pPr>
              <a:lnSpc>
                <a:spcPct val="200000"/>
              </a:lnSpc>
            </a:pPr>
            <a:r>
              <a:rPr lang="en-US" altLang="ko-KR" sz="700" dirty="0" smtClean="0">
                <a:latin typeface="+mn-ea"/>
              </a:rPr>
              <a:t>2025R0001-000</a:t>
            </a:r>
          </a:p>
          <a:p>
            <a:pPr>
              <a:lnSpc>
                <a:spcPct val="200000"/>
              </a:lnSpc>
            </a:pPr>
            <a:r>
              <a:rPr lang="ko-KR" altLang="en-US" sz="700" dirty="0" smtClean="0">
                <a:latin typeface="+mn-ea"/>
              </a:rPr>
              <a:t>신축공사</a:t>
            </a:r>
            <a:endParaRPr lang="en-US" altLang="ko-KR" sz="700" dirty="0" smtClean="0">
              <a:latin typeface="+mn-ea"/>
            </a:endParaRPr>
          </a:p>
          <a:p>
            <a:pPr>
              <a:lnSpc>
                <a:spcPct val="200000"/>
              </a:lnSpc>
            </a:pPr>
            <a:r>
              <a:rPr lang="ko-KR" altLang="en-US" sz="700" dirty="0" err="1" smtClean="0">
                <a:latin typeface="+mn-ea"/>
              </a:rPr>
              <a:t>종합낙찰제</a:t>
            </a:r>
            <a:endParaRPr lang="en-US" altLang="ko-KR" sz="700" dirty="0" smtClean="0">
              <a:latin typeface="+mn-ea"/>
            </a:endParaRPr>
          </a:p>
          <a:p>
            <a:pPr>
              <a:lnSpc>
                <a:spcPct val="200000"/>
              </a:lnSpc>
            </a:pPr>
            <a:r>
              <a:rPr lang="ko-KR" altLang="en-US" sz="700" dirty="0" err="1" smtClean="0">
                <a:latin typeface="+mn-ea"/>
              </a:rPr>
              <a:t>종합낙찰제</a:t>
            </a:r>
            <a:endParaRPr lang="en-US" altLang="ko-KR" sz="700" dirty="0" smtClean="0">
              <a:latin typeface="+mn-ea"/>
            </a:endParaRPr>
          </a:p>
          <a:p>
            <a:pPr>
              <a:lnSpc>
                <a:spcPct val="200000"/>
              </a:lnSpc>
            </a:pPr>
            <a:r>
              <a:rPr lang="en-US" altLang="ko-KR" sz="700" dirty="0" smtClean="0">
                <a:latin typeface="+mn-ea"/>
              </a:rPr>
              <a:t>500,000,000</a:t>
            </a:r>
            <a:r>
              <a:rPr lang="ko-KR" altLang="en-US" sz="700" dirty="0" smtClean="0">
                <a:latin typeface="+mn-ea"/>
              </a:rPr>
              <a:t>원</a:t>
            </a:r>
            <a:endParaRPr lang="en-US" altLang="ko-KR" sz="700" dirty="0" smtClean="0">
              <a:latin typeface="+mn-ea"/>
            </a:endParaRPr>
          </a:p>
          <a:p>
            <a:pPr>
              <a:lnSpc>
                <a:spcPct val="200000"/>
              </a:lnSpc>
            </a:pPr>
            <a:r>
              <a:rPr lang="ko-KR" altLang="en-US" sz="700" dirty="0" smtClean="0">
                <a:latin typeface="+mn-ea"/>
              </a:rPr>
              <a:t>대상</a:t>
            </a:r>
            <a:endParaRPr lang="en-US" altLang="ko-KR" sz="700" dirty="0" smtClean="0">
              <a:latin typeface="+mn-ea"/>
            </a:endParaRPr>
          </a:p>
          <a:p>
            <a:pPr>
              <a:lnSpc>
                <a:spcPct val="200000"/>
              </a:lnSpc>
            </a:pPr>
            <a:r>
              <a:rPr lang="ko-KR" altLang="en-US" sz="700" dirty="0" smtClean="0">
                <a:latin typeface="+mn-ea"/>
              </a:rPr>
              <a:t>비대상</a:t>
            </a:r>
            <a:endParaRPr lang="en-US" altLang="ko-KR" sz="700" dirty="0" smtClean="0">
              <a:latin typeface="+mn-ea"/>
            </a:endParaRPr>
          </a:p>
          <a:p>
            <a:pPr>
              <a:lnSpc>
                <a:spcPct val="200000"/>
              </a:lnSpc>
            </a:pPr>
            <a:r>
              <a:rPr lang="en-US" altLang="ko-KR" sz="700" dirty="0" smtClean="0">
                <a:latin typeface="+mn-ea"/>
              </a:rPr>
              <a:t>2026-01-13 10:00:00</a:t>
            </a:r>
          </a:p>
          <a:p>
            <a:pPr>
              <a:lnSpc>
                <a:spcPct val="200000"/>
              </a:lnSpc>
            </a:pPr>
            <a:r>
              <a:rPr lang="en-US" altLang="ko-KR" sz="700" dirty="0" smtClean="0">
                <a:latin typeface="+mn-ea"/>
              </a:rPr>
              <a:t>2026-01-15 10:00:00</a:t>
            </a:r>
            <a:endParaRPr lang="en-US" altLang="ko-KR" sz="700" dirty="0">
              <a:latin typeface="+mn-ea"/>
            </a:endParaRPr>
          </a:p>
        </p:txBody>
      </p:sp>
      <p:grpSp>
        <p:nvGrpSpPr>
          <p:cNvPr id="166" name="그룹 165"/>
          <p:cNvGrpSpPr/>
          <p:nvPr/>
        </p:nvGrpSpPr>
        <p:grpSpPr>
          <a:xfrm>
            <a:off x="720139" y="3581629"/>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5910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3878080" y="3429602"/>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3" name="모서리가 둥근 직사각형 102"/>
          <p:cNvSpPr/>
          <p:nvPr/>
        </p:nvSpPr>
        <p:spPr>
          <a:xfrm>
            <a:off x="3831550" y="382798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3902509"/>
            <a:ext cx="1831742"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395637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6" name="타원 105"/>
          <p:cNvSpPr/>
          <p:nvPr/>
        </p:nvSpPr>
        <p:spPr>
          <a:xfrm>
            <a:off x="6163960" y="393823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모서리가 둥근 직사각형 106"/>
          <p:cNvSpPr/>
          <p:nvPr/>
        </p:nvSpPr>
        <p:spPr>
          <a:xfrm>
            <a:off x="3831550" y="4234674"/>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TextBox 107">
            <a:extLst>
              <a:ext uri="{FF2B5EF4-FFF2-40B4-BE49-F238E27FC236}">
                <a16:creationId xmlns:a16="http://schemas.microsoft.com/office/drawing/2014/main" id="{FFC49AEA-2A8F-250C-A86A-A7751D9706C3}"/>
              </a:ext>
            </a:extLst>
          </p:cNvPr>
          <p:cNvSpPr txBox="1"/>
          <p:nvPr/>
        </p:nvSpPr>
        <p:spPr>
          <a:xfrm>
            <a:off x="4332218" y="4309195"/>
            <a:ext cx="1831742"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909746" y="436305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10" name="타원 109"/>
          <p:cNvSpPr/>
          <p:nvPr/>
        </p:nvSpPr>
        <p:spPr>
          <a:xfrm>
            <a:off x="6163960" y="4344917"/>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4332218" y="3692870"/>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73476" y="3692870"/>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3838314" y="3692870"/>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grpSp>
        <p:nvGrpSpPr>
          <p:cNvPr id="3" name="그룹 2"/>
          <p:cNvGrpSpPr/>
          <p:nvPr/>
        </p:nvGrpSpPr>
        <p:grpSpPr>
          <a:xfrm>
            <a:off x="3844632" y="1534455"/>
            <a:ext cx="2630093" cy="1618316"/>
            <a:chOff x="3844632" y="3774686"/>
            <a:chExt cx="2630093" cy="1618316"/>
          </a:xfrm>
        </p:grpSpPr>
        <p:sp>
          <p:nvSpPr>
            <p:cNvPr id="161" name="TextBox 160">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62" name="직사각형 161"/>
            <p:cNvSpPr/>
            <p:nvPr/>
          </p:nvSpPr>
          <p:spPr>
            <a:xfrm>
              <a:off x="3846725" y="4082172"/>
              <a:ext cx="792000" cy="131083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33789" y="4082171"/>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690637" y="4082171"/>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16" name="타원 115">
            <a:extLst>
              <a:ext uri="{FF2B5EF4-FFF2-40B4-BE49-F238E27FC236}">
                <a16:creationId xmlns:a16="http://schemas.microsoft.com/office/drawing/2014/main" id="{37A7FF4F-0EAA-1463-560A-D5EC24416103}"/>
              </a:ext>
            </a:extLst>
          </p:cNvPr>
          <p:cNvSpPr/>
          <p:nvPr/>
        </p:nvSpPr>
        <p:spPr>
          <a:xfrm>
            <a:off x="577700" y="296415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1" name="타원 150">
            <a:extLst>
              <a:ext uri="{FF2B5EF4-FFF2-40B4-BE49-F238E27FC236}">
                <a16:creationId xmlns:a16="http://schemas.microsoft.com/office/drawing/2014/main" id="{37A7FF4F-0EAA-1463-560A-D5EC24416103}"/>
              </a:ext>
            </a:extLst>
          </p:cNvPr>
          <p:cNvSpPr/>
          <p:nvPr/>
        </p:nvSpPr>
        <p:spPr>
          <a:xfrm>
            <a:off x="589334" y="331462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3795734" y="46976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타원 143">
            <a:extLst>
              <a:ext uri="{FF2B5EF4-FFF2-40B4-BE49-F238E27FC236}">
                <a16:creationId xmlns:a16="http://schemas.microsoft.com/office/drawing/2014/main" id="{37A7FF4F-0EAA-1463-560A-D5EC24416103}"/>
              </a:ext>
            </a:extLst>
          </p:cNvPr>
          <p:cNvSpPr/>
          <p:nvPr/>
        </p:nvSpPr>
        <p:spPr>
          <a:xfrm>
            <a:off x="3711091" y="156312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45" name="타원 144">
            <a:extLst>
              <a:ext uri="{FF2B5EF4-FFF2-40B4-BE49-F238E27FC236}">
                <a16:creationId xmlns:a16="http://schemas.microsoft.com/office/drawing/2014/main" id="{37A7FF4F-0EAA-1463-560A-D5EC24416103}"/>
              </a:ext>
            </a:extLst>
          </p:cNvPr>
          <p:cNvSpPr/>
          <p:nvPr/>
        </p:nvSpPr>
        <p:spPr>
          <a:xfrm>
            <a:off x="3711091" y="347508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3795734" y="34114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6" name="그룹 95"/>
          <p:cNvGrpSpPr/>
          <p:nvPr/>
        </p:nvGrpSpPr>
        <p:grpSpPr>
          <a:xfrm>
            <a:off x="3844632" y="4769891"/>
            <a:ext cx="2630093" cy="978170"/>
            <a:chOff x="3844632" y="3774686"/>
            <a:chExt cx="2630093" cy="978170"/>
          </a:xfrm>
        </p:grpSpPr>
        <p:sp>
          <p:nvSpPr>
            <p:cNvPr id="97" name="TextBox 96">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a:latin typeface="+mn-ea"/>
                </a:rPr>
                <a:t>사전심사결과</a:t>
              </a:r>
            </a:p>
          </p:txBody>
        </p:sp>
        <p:sp>
          <p:nvSpPr>
            <p:cNvPr id="98" name="직사각형 97"/>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FFC49AEA-2A8F-250C-A86A-A7751D9706C3}"/>
                </a:ext>
              </a:extLst>
            </p:cNvPr>
            <p:cNvSpPr txBox="1"/>
            <p:nvPr/>
          </p:nvSpPr>
          <p:spPr>
            <a:xfrm>
              <a:off x="3933789" y="4082171"/>
              <a:ext cx="756848" cy="612027"/>
            </a:xfrm>
            <a:prstGeom prst="rect">
              <a:avLst/>
            </a:prstGeom>
            <a:noFill/>
          </p:spPr>
          <p:txBody>
            <a:bodyPr wrap="square" lIns="0" tIns="0" rIns="0" bIns="0" rtlCol="0">
              <a:spAutoFit/>
            </a:bodyPr>
            <a:lstStyle/>
            <a:p>
              <a:pPr>
                <a:lnSpc>
                  <a:spcPct val="200000"/>
                </a:lnSpc>
              </a:pPr>
              <a:r>
                <a:rPr lang="ko-KR" altLang="en-US" sz="700" dirty="0" err="1">
                  <a:latin typeface="+mn-ea"/>
                </a:rPr>
                <a:t>심사점수</a:t>
              </a:r>
              <a:endParaRPr lang="en-US" altLang="ko-KR" sz="700" dirty="0">
                <a:latin typeface="+mn-ea"/>
              </a:endParaRPr>
            </a:p>
            <a:p>
              <a:pPr>
                <a:lnSpc>
                  <a:spcPct val="200000"/>
                </a:lnSpc>
              </a:pPr>
              <a:r>
                <a:rPr lang="ko-KR" altLang="en-US" sz="700" dirty="0" err="1">
                  <a:latin typeface="+mn-ea"/>
                </a:rPr>
                <a:t>합격여부</a:t>
              </a:r>
              <a:endParaRPr lang="en-US" altLang="ko-KR" sz="700" dirty="0">
                <a:latin typeface="+mn-ea"/>
              </a:endParaRPr>
            </a:p>
            <a:p>
              <a:pPr>
                <a:lnSpc>
                  <a:spcPct val="200000"/>
                </a:lnSpc>
              </a:pPr>
              <a:r>
                <a:rPr lang="ko-KR" altLang="en-US" sz="700" dirty="0">
                  <a:latin typeface="+mn-ea"/>
                </a:rPr>
                <a:t>심사확정일자</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4690637" y="4082171"/>
              <a:ext cx="1784088" cy="646331"/>
            </a:xfrm>
            <a:prstGeom prst="rect">
              <a:avLst/>
            </a:prstGeom>
            <a:noFill/>
          </p:spPr>
          <p:txBody>
            <a:bodyPr wrap="square" lIns="0" tIns="0" rIns="0" bIns="0" rtlCol="0">
              <a:spAutoFit/>
            </a:bodyPr>
            <a:lstStyle/>
            <a:p>
              <a:pPr>
                <a:lnSpc>
                  <a:spcPct val="200000"/>
                </a:lnSpc>
              </a:pPr>
              <a:r>
                <a:rPr lang="en-US" altLang="ko-KR" sz="700" dirty="0">
                  <a:latin typeface="+mn-ea"/>
                </a:rPr>
                <a:t>99</a:t>
              </a:r>
            </a:p>
            <a:p>
              <a:pPr>
                <a:lnSpc>
                  <a:spcPct val="200000"/>
                </a:lnSpc>
              </a:pPr>
              <a:r>
                <a:rPr lang="ko-KR" altLang="en-US" sz="700" dirty="0">
                  <a:latin typeface="+mn-ea"/>
                </a:rPr>
                <a:t>합격</a:t>
              </a:r>
              <a:endParaRPr lang="en-US" altLang="ko-KR" sz="700" dirty="0">
                <a:latin typeface="+mn-ea"/>
              </a:endParaRPr>
            </a:p>
            <a:p>
              <a:pPr>
                <a:lnSpc>
                  <a:spcPct val="200000"/>
                </a:lnSpc>
              </a:pPr>
              <a:r>
                <a:rPr lang="en-US" altLang="ko-KR" sz="700" dirty="0">
                  <a:latin typeface="+mn-ea"/>
                </a:rPr>
                <a:t>2025-12-24 10:30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7" name="타원 146">
            <a:extLst>
              <a:ext uri="{FF2B5EF4-FFF2-40B4-BE49-F238E27FC236}">
                <a16:creationId xmlns:a16="http://schemas.microsoft.com/office/drawing/2014/main" id="{37A7FF4F-0EAA-1463-560A-D5EC24416103}"/>
              </a:ext>
            </a:extLst>
          </p:cNvPr>
          <p:cNvSpPr/>
          <p:nvPr/>
        </p:nvSpPr>
        <p:spPr>
          <a:xfrm>
            <a:off x="3711091" y="504462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358" name="모서리가 둥근 직사각형 357"/>
          <p:cNvSpPr/>
          <p:nvPr/>
        </p:nvSpPr>
        <p:spPr>
          <a:xfrm rot="5400000">
            <a:off x="5782577" y="489445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30" name="그룹 129"/>
          <p:cNvGrpSpPr/>
          <p:nvPr/>
        </p:nvGrpSpPr>
        <p:grpSpPr>
          <a:xfrm>
            <a:off x="8223250" y="0"/>
            <a:ext cx="3365500" cy="219465"/>
            <a:chOff x="8223250" y="569392"/>
            <a:chExt cx="3365500" cy="219465"/>
          </a:xfrm>
        </p:grpSpPr>
        <p:sp>
          <p:nvSpPr>
            <p:cNvPr id="132" name="직사각형 131"/>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140" name="직사각형 139"/>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grpSp>
        <p:nvGrpSpPr>
          <p:cNvPr id="94" name="그룹 93"/>
          <p:cNvGrpSpPr/>
          <p:nvPr/>
        </p:nvGrpSpPr>
        <p:grpSpPr>
          <a:xfrm>
            <a:off x="677960" y="1582647"/>
            <a:ext cx="2714637" cy="686386"/>
            <a:chOff x="677960" y="1582647"/>
            <a:chExt cx="2714637" cy="686386"/>
          </a:xfrm>
        </p:grpSpPr>
        <p:sp>
          <p:nvSpPr>
            <p:cNvPr id="111" name="TextBox 11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사전심사 </a:t>
              </a:r>
              <a:r>
                <a:rPr lang="ko-KR" altLang="en-US" sz="800" dirty="0" err="1">
                  <a:latin typeface="+mn-ea"/>
                </a:rPr>
                <a:t>결과조회</a:t>
              </a:r>
              <a:endParaRPr lang="ko-KR" altLang="en-US" sz="800" dirty="0">
                <a:latin typeface="+mn-ea"/>
              </a:endParaRP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8" name="그룹 127"/>
            <p:cNvGrpSpPr/>
            <p:nvPr/>
          </p:nvGrpSpPr>
          <p:grpSpPr>
            <a:xfrm rot="5400000">
              <a:off x="852159" y="2062596"/>
              <a:ext cx="94010" cy="47005"/>
              <a:chOff x="6812560" y="3297172"/>
              <a:chExt cx="94010" cy="47005"/>
            </a:xfrm>
          </p:grpSpPr>
          <p:cxnSp>
            <p:nvCxnSpPr>
              <p:cNvPr id="152" name="직선 연결선 15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9" name="그룹 128"/>
            <p:cNvGrpSpPr/>
            <p:nvPr/>
          </p:nvGrpSpPr>
          <p:grpSpPr>
            <a:xfrm>
              <a:off x="677960" y="1582647"/>
              <a:ext cx="2712027" cy="324286"/>
              <a:chOff x="677960" y="1582647"/>
              <a:chExt cx="2712027" cy="324286"/>
            </a:xfrm>
          </p:grpSpPr>
          <p:pic>
            <p:nvPicPr>
              <p:cNvPr id="13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8" name="직선 연결선 137">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타원 147"/>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타원 148"/>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0" name="타원 149"/>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6" name="직사각형 5"/>
          <p:cNvSpPr/>
          <p:nvPr/>
        </p:nvSpPr>
        <p:spPr>
          <a:xfrm>
            <a:off x="747417" y="3800916"/>
            <a:ext cx="741629" cy="214740"/>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a:extLst>
              <a:ext uri="{FF2B5EF4-FFF2-40B4-BE49-F238E27FC236}">
                <a16:creationId xmlns:a16="http://schemas.microsoft.com/office/drawing/2014/main" id="{37A7FF4F-0EAA-1463-560A-D5EC24416103}"/>
              </a:ext>
            </a:extLst>
          </p:cNvPr>
          <p:cNvSpPr/>
          <p:nvPr/>
        </p:nvSpPr>
        <p:spPr>
          <a:xfrm>
            <a:off x="706491" y="37054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500" b="1" dirty="0" smtClean="0"/>
              <a:t>2-1</a:t>
            </a:r>
            <a:endParaRPr lang="ko-KR" altLang="en-US" sz="500" b="1" dirty="0"/>
          </a:p>
        </p:txBody>
      </p:sp>
      <p:sp>
        <p:nvSpPr>
          <p:cNvPr id="113" name="직사각형 112"/>
          <p:cNvSpPr/>
          <p:nvPr/>
        </p:nvSpPr>
        <p:spPr>
          <a:xfrm>
            <a:off x="8223250" y="221168"/>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2026-07-09 </a:t>
            </a:r>
            <a:r>
              <a:rPr lang="ko-KR" altLang="en-US" dirty="0" smtClean="0"/>
              <a:t>화면 </a:t>
            </a:r>
            <a:r>
              <a:rPr lang="ko-KR" altLang="en-US" dirty="0"/>
              <a:t>수정</a:t>
            </a:r>
          </a:p>
        </p:txBody>
      </p:sp>
      <p:sp>
        <p:nvSpPr>
          <p:cNvPr id="119" name="직사각형 118"/>
          <p:cNvSpPr/>
          <p:nvPr/>
        </p:nvSpPr>
        <p:spPr>
          <a:xfrm>
            <a:off x="9906000" y="221168"/>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공고일반</a:t>
            </a:r>
            <a:r>
              <a:rPr lang="ko-KR" altLang="en-US" sz="700" dirty="0" smtClean="0"/>
              <a:t> 내역 전체 변경</a:t>
            </a:r>
            <a:r>
              <a:rPr lang="en-US" altLang="ko-KR" sz="700" dirty="0" smtClean="0"/>
              <a:t>(PC</a:t>
            </a:r>
            <a:r>
              <a:rPr lang="ko-KR" altLang="en-US" sz="700" dirty="0" err="1" smtClean="0"/>
              <a:t>항목변경</a:t>
            </a:r>
            <a:r>
              <a:rPr lang="ko-KR" altLang="en-US" sz="700" dirty="0" smtClean="0"/>
              <a:t> 반영</a:t>
            </a:r>
            <a:r>
              <a:rPr lang="en-US" altLang="ko-KR" sz="700" dirty="0" smtClean="0"/>
              <a:t>)</a:t>
            </a:r>
          </a:p>
        </p:txBody>
      </p:sp>
    </p:spTree>
    <p:extLst>
      <p:ext uri="{BB962C8B-B14F-4D97-AF65-F5344CB8AC3E}">
        <p14:creationId xmlns:p14="http://schemas.microsoft.com/office/powerpoint/2010/main" val="1804793495"/>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공사내역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555322"/>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발주기관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공사구분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981706"/>
                  </a:ext>
                </a:extLst>
              </a:tr>
              <a:tr h="0">
                <a:tc>
                  <a:txBody>
                    <a:bodyPr/>
                    <a:lstStyle/>
                    <a:p>
                      <a:pPr latinLnBrk="1"/>
                      <a:r>
                        <a:rPr lang="ko-KR" altLang="en-US" sz="800" dirty="0">
                          <a:latin typeface="+mn-ea"/>
                          <a:ea typeface="+mn-ea"/>
                        </a:rPr>
                        <a:t>사전심사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bfhdSrngAplyDdlnDt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사전심사신청마감일시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767813"/>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57250F06-1B6F-1A14-ADDE-D8CA155178B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B53B5F6D-8C54-2C6F-EBAC-2C7F5A68199E}"/>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Tree>
    <p:extLst>
      <p:ext uri="{BB962C8B-B14F-4D97-AF65-F5344CB8AC3E}">
        <p14:creationId xmlns:p14="http://schemas.microsoft.com/office/powerpoint/2010/main" val="3409489217"/>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197</a:t>
            </a:fld>
            <a:endParaRPr lang="ko-KR" altLang="en-US" dirty="0"/>
          </a:p>
        </p:txBody>
      </p:sp>
      <p:sp>
        <p:nvSpPr>
          <p:cNvPr id="4" name="TextBox 3">
            <a:extLst>
              <a:ext uri="{FF2B5EF4-FFF2-40B4-BE49-F238E27FC236}">
                <a16:creationId xmlns:a16="http://schemas.microsoft.com/office/drawing/2014/main" id="{8AD62ED2-6573-FBFD-A141-728376028F5F}"/>
              </a:ext>
            </a:extLst>
          </p:cNvPr>
          <p:cNvSpPr txBox="1"/>
          <p:nvPr/>
        </p:nvSpPr>
        <p:spPr>
          <a:xfrm>
            <a:off x="453831" y="776270"/>
            <a:ext cx="236179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첨부파일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dlt_atchFileList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F1948FDD-E55A-AC80-14E3-8851A4E295E2}"/>
              </a:ext>
            </a:extLst>
          </p:cNvPr>
          <p:cNvGraphicFramePr>
            <a:graphicFrameLocks noGrp="1"/>
          </p:cNvGraphicFramePr>
          <p:nvPr/>
        </p:nvGraphicFramePr>
        <p:xfrm>
          <a:off x="453000" y="988761"/>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 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TextBox 1">
            <a:extLst>
              <a:ext uri="{FF2B5EF4-FFF2-40B4-BE49-F238E27FC236}">
                <a16:creationId xmlns:a16="http://schemas.microsoft.com/office/drawing/2014/main" id="{E496B8EB-54D2-3023-5305-2EC389DB8853}"/>
              </a:ext>
            </a:extLst>
          </p:cNvPr>
          <p:cNvSpPr txBox="1"/>
          <p:nvPr/>
        </p:nvSpPr>
        <p:spPr>
          <a:xfrm>
            <a:off x="453832" y="1995474"/>
            <a:ext cx="277055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사전심사결과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dmt_bfhdSrngRslt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A3449504-8617-9A02-A15D-8FBB5B71CB9D}"/>
              </a:ext>
            </a:extLst>
          </p:cNvPr>
          <p:cNvGraphicFramePr>
            <a:graphicFrameLocks noGrp="1"/>
          </p:cNvGraphicFramePr>
          <p:nvPr/>
        </p:nvGraphicFramePr>
        <p:xfrm>
          <a:off x="453001" y="220796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심사점수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합격여부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srngPassYn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사전심사합격여부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심사확정일시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bfhdSrngCfmtnDt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사전심사확정일시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sp>
        <p:nvSpPr>
          <p:cNvPr id="6" name="Text Box 73">
            <a:extLst>
              <a:ext uri="{FF2B5EF4-FFF2-40B4-BE49-F238E27FC236}">
                <a16:creationId xmlns:a16="http://schemas.microsoft.com/office/drawing/2014/main" id="{2239D400-60B9-5380-9783-770A3296792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3" name="TextBox 12">
            <a:extLst>
              <a:ext uri="{FF2B5EF4-FFF2-40B4-BE49-F238E27FC236}">
                <a16:creationId xmlns:a16="http://schemas.microsoft.com/office/drawing/2014/main" id="{2D3516FD-E0F2-AAC5-4F0A-487CCE86587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Tree>
    <p:extLst>
      <p:ext uri="{BB962C8B-B14F-4D97-AF65-F5344CB8AC3E}">
        <p14:creationId xmlns:p14="http://schemas.microsoft.com/office/powerpoint/2010/main" val="294885136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198</a:t>
            </a:fld>
            <a:endParaRPr lang="ko-KR" altLang="en-US" dirty="0"/>
          </a:p>
        </p:txBody>
      </p:sp>
      <p:sp>
        <p:nvSpPr>
          <p:cNvPr id="8" name="TextBox 7">
            <a:extLst>
              <a:ext uri="{FF2B5EF4-FFF2-40B4-BE49-F238E27FC236}">
                <a16:creationId xmlns:a16="http://schemas.microsoft.com/office/drawing/2014/main" id="{08C1012F-B7D9-54D0-F889-F3DD6C7ED26C}"/>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9" name="표 8">
            <a:extLst>
              <a:ext uri="{FF2B5EF4-FFF2-40B4-BE49-F238E27FC236}">
                <a16:creationId xmlns:a16="http://schemas.microsoft.com/office/drawing/2014/main" id="{9196099B-4391-0B72-CEBB-9E4B2F4E63FE}"/>
              </a:ext>
            </a:extLst>
          </p:cNvPr>
          <p:cNvGraphicFramePr>
            <a:graphicFrameLocks noGrp="1"/>
          </p:cNvGraphicFramePr>
          <p:nvPr>
            <p:extLst>
              <p:ext uri="{D42A27DB-BD31-4B8C-83A1-F6EECF244321}">
                <p14:modId xmlns:p14="http://schemas.microsoft.com/office/powerpoint/2010/main" val="2159690132"/>
              </p:ext>
            </p:extLst>
          </p:nvPr>
        </p:nvGraphicFramePr>
        <p:xfrm>
          <a:off x="453000" y="1039042"/>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사전심사신청서</a:t>
                      </a:r>
                      <a:r>
                        <a:rPr lang="en-US" altLang="ko-KR" sz="800" dirty="0">
                          <a:latin typeface="+mn-ea"/>
                          <a:ea typeface="+mn-ea"/>
                        </a:rPr>
                        <a:t>, </a:t>
                      </a:r>
                      <a:r>
                        <a:rPr lang="ko-KR" altLang="en-US" sz="800" dirty="0">
                          <a:latin typeface="+mn-ea"/>
                          <a:ea typeface="+mn-ea"/>
                        </a:rPr>
                        <a:t>사전심사결과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11" name="Text Box 73">
            <a:extLst>
              <a:ext uri="{FF2B5EF4-FFF2-40B4-BE49-F238E27FC236}">
                <a16:creationId xmlns:a16="http://schemas.microsoft.com/office/drawing/2014/main" id="{5441796B-5464-E016-6555-6FFCA7173392}"/>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4649039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파일첨부</a:t>
            </a:r>
            <a:r>
              <a:rPr lang="en-US" altLang="ko-KR" dirty="0"/>
              <a:t>(</a:t>
            </a:r>
            <a:r>
              <a:rPr lang="ko-KR" altLang="en-US" dirty="0"/>
              <a:t>추가</a:t>
            </a:r>
            <a:r>
              <a:rPr lang="en-US" altLang="ko-KR" dirty="0"/>
              <a:t>) </a:t>
            </a:r>
            <a:r>
              <a:rPr lang="ko-KR" altLang="en-US" dirty="0"/>
              <a:t>방식 </a:t>
            </a:r>
            <a:r>
              <a:rPr lang="ko-KR" altLang="en-US" dirty="0" smtClean="0"/>
              <a:t>선택</a:t>
            </a:r>
            <a:r>
              <a:rPr lang="en-US" altLang="ko-KR" dirty="0" smtClean="0"/>
              <a:t/>
            </a:r>
            <a:br>
              <a:rPr lang="en-US" altLang="ko-KR" dirty="0" smtClean="0"/>
            </a:br>
            <a:r>
              <a:rPr lang="en-US" altLang="ko-KR" dirty="0" smtClean="0"/>
              <a:t>1-1] </a:t>
            </a:r>
            <a:r>
              <a:rPr lang="ko-KR" altLang="en-US" dirty="0" err="1" smtClean="0"/>
              <a:t>직접업로드</a:t>
            </a:r>
            <a:r>
              <a:rPr lang="en-US" altLang="ko-KR" dirty="0" smtClean="0"/>
              <a:t/>
            </a:r>
            <a:br>
              <a:rPr lang="en-US" altLang="ko-KR" dirty="0" smtClean="0"/>
            </a:br>
            <a:r>
              <a:rPr lang="en-US" altLang="ko-KR" dirty="0" smtClean="0"/>
              <a:t>- </a:t>
            </a:r>
            <a:r>
              <a:rPr lang="ko-KR" altLang="en-US" dirty="0" smtClean="0"/>
              <a:t>시스템 파일 </a:t>
            </a:r>
            <a:r>
              <a:rPr lang="ko-KR" altLang="en-US" dirty="0" err="1" smtClean="0"/>
              <a:t>선택기</a:t>
            </a:r>
            <a:r>
              <a:rPr lang="ko-KR" altLang="en-US" dirty="0" smtClean="0"/>
              <a:t> 호출</a:t>
            </a:r>
            <a:r>
              <a:rPr lang="en-US" altLang="ko-KR" dirty="0" smtClean="0"/>
              <a:t/>
            </a:r>
            <a:br>
              <a:rPr lang="en-US" altLang="ko-KR" dirty="0" smtClean="0"/>
            </a:br>
            <a:r>
              <a:rPr lang="en-US" altLang="ko-KR" dirty="0" smtClean="0"/>
              <a:t>- </a:t>
            </a:r>
            <a:r>
              <a:rPr lang="ko-KR" altLang="en-US" dirty="0" smtClean="0"/>
              <a:t>사용자 단말기에 저장된 파일을 선택하여 업로드 </a:t>
            </a:r>
            <a:r>
              <a:rPr lang="en-US" altLang="ko-KR" dirty="0" smtClean="0">
                <a:solidFill>
                  <a:schemeClr val="bg1">
                    <a:lumMod val="75000"/>
                  </a:schemeClr>
                </a:solidFill>
              </a:rPr>
              <a:t>(</a:t>
            </a:r>
            <a:r>
              <a:rPr lang="ko-KR" altLang="en-US" dirty="0" smtClean="0">
                <a:solidFill>
                  <a:schemeClr val="bg1">
                    <a:lumMod val="75000"/>
                  </a:schemeClr>
                </a:solidFill>
              </a:rPr>
              <a:t>현재 정확한정보없음</a:t>
            </a:r>
            <a:r>
              <a:rPr lang="en-US" altLang="ko-KR" dirty="0" smtClean="0">
                <a:solidFill>
                  <a:schemeClr val="bg1">
                    <a:lumMod val="75000"/>
                  </a:schemeClr>
                </a:solidFill>
              </a:rPr>
              <a:t>)</a:t>
            </a:r>
            <a:r>
              <a:rPr lang="en-US" altLang="ko-KR" dirty="0" smtClean="0"/>
              <a:t/>
            </a:r>
            <a:br>
              <a:rPr lang="en-US" altLang="ko-KR" dirty="0" smtClean="0"/>
            </a:br>
            <a:r>
              <a:rPr lang="en-US" altLang="ko-KR" dirty="0" smtClean="0">
                <a:solidFill>
                  <a:schemeClr val="bg1">
                    <a:lumMod val="75000"/>
                  </a:schemeClr>
                </a:solidFill>
              </a:rPr>
              <a:t>- </a:t>
            </a:r>
            <a:r>
              <a:rPr lang="ko-KR" altLang="en-US" dirty="0" smtClean="0">
                <a:solidFill>
                  <a:schemeClr val="bg1">
                    <a:lumMod val="75000"/>
                  </a:schemeClr>
                </a:solidFill>
              </a:rPr>
              <a:t>가능한 </a:t>
            </a:r>
            <a:r>
              <a:rPr lang="ko-KR" altLang="en-US" dirty="0" err="1" smtClean="0">
                <a:solidFill>
                  <a:schemeClr val="bg1">
                    <a:lumMod val="75000"/>
                  </a:schemeClr>
                </a:solidFill>
              </a:rPr>
              <a:t>확장자</a:t>
            </a:r>
            <a:r>
              <a:rPr lang="ko-KR" altLang="en-US" dirty="0" smtClean="0">
                <a:solidFill>
                  <a:schemeClr val="bg1">
                    <a:lumMod val="75000"/>
                  </a:schemeClr>
                </a:solidFill>
              </a:rPr>
              <a:t>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a:t>
            </a:r>
            <a:r>
              <a:rPr lang="ko-KR" altLang="en-US" dirty="0" err="1" smtClean="0">
                <a:solidFill>
                  <a:schemeClr val="bg1">
                    <a:lumMod val="75000"/>
                  </a:schemeClr>
                </a:solidFill>
              </a:rPr>
              <a:t>파일크기</a:t>
            </a:r>
            <a:r>
              <a:rPr lang="ko-KR" altLang="en-US" dirty="0" smtClean="0">
                <a:solidFill>
                  <a:schemeClr val="bg1">
                    <a:lumMod val="75000"/>
                  </a:schemeClr>
                </a:solidFill>
              </a:rPr>
              <a:t> </a:t>
            </a:r>
            <a:r>
              <a:rPr lang="en-US" altLang="ko-KR" dirty="0" smtClean="0">
                <a:solidFill>
                  <a:schemeClr val="bg1">
                    <a:lumMod val="75000"/>
                  </a:schemeClr>
                </a:solidFill>
              </a:rPr>
              <a:t>: 2G</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첨부 개수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err="1" smtClean="0">
                <a:solidFill>
                  <a:schemeClr val="bg1">
                    <a:lumMod val="75000"/>
                  </a:schemeClr>
                </a:solidFill>
              </a:rPr>
              <a:t>중복파일</a:t>
            </a:r>
            <a:r>
              <a:rPr lang="ko-KR" altLang="en-US" dirty="0" smtClean="0">
                <a:solidFill>
                  <a:schemeClr val="bg1">
                    <a:lumMod val="75000"/>
                  </a:schemeClr>
                </a:solidFill>
              </a:rPr>
              <a:t> 처리여부 </a:t>
            </a:r>
            <a:r>
              <a:rPr lang="en-US" altLang="ko-KR" dirty="0" smtClean="0">
                <a:solidFill>
                  <a:schemeClr val="bg1">
                    <a:lumMod val="75000"/>
                  </a:schemeClr>
                </a:solidFill>
              </a:rPr>
              <a:t>: ? </a:t>
            </a:r>
            <a:r>
              <a:rPr lang="en-US" altLang="ko-KR" dirty="0" smtClean="0"/>
              <a:t/>
            </a:r>
            <a:br>
              <a:rPr lang="en-US" altLang="ko-KR" dirty="0" smtClean="0"/>
            </a:br>
            <a:r>
              <a:rPr lang="en-US" altLang="ko-KR" dirty="0" smtClean="0"/>
              <a:t>- </a:t>
            </a:r>
            <a:r>
              <a:rPr lang="ko-KR" altLang="en-US" dirty="0" smtClean="0"/>
              <a:t>파일 </a:t>
            </a:r>
            <a:r>
              <a:rPr lang="ko-KR" altLang="en-US" dirty="0" err="1" smtClean="0"/>
              <a:t>취소한경우</a:t>
            </a:r>
            <a:r>
              <a:rPr lang="ko-KR" altLang="en-US" dirty="0" smtClean="0"/>
              <a:t> </a:t>
            </a:r>
            <a:r>
              <a:rPr lang="ko-KR" altLang="en-US" dirty="0" err="1" smtClean="0"/>
              <a:t>이전화면</a:t>
            </a:r>
            <a:r>
              <a:rPr lang="ko-KR" altLang="en-US" dirty="0" smtClean="0"/>
              <a:t> 유지</a:t>
            </a:r>
            <a:r>
              <a:rPr lang="en-US" altLang="ko-KR" dirty="0" smtClean="0"/>
              <a:t/>
            </a:r>
            <a:br>
              <a:rPr lang="en-US" altLang="ko-KR" dirty="0" smtClean="0"/>
            </a:br>
            <a:r>
              <a:rPr lang="ko-KR" altLang="en-US" dirty="0" smtClean="0"/>
              <a:t>캐비닛 목록 호출</a:t>
            </a:r>
            <a:r>
              <a:rPr lang="en-US" altLang="ko-KR" dirty="0" smtClean="0"/>
              <a:t>:</a:t>
            </a:r>
            <a:r>
              <a:rPr lang="en-US" altLang="ko-KR" dirty="0">
                <a:solidFill>
                  <a:srgbClr val="000000"/>
                </a:solidFill>
                <a:latin typeface="맑은 고딕" panose="020B0503020000020004" pitchFamily="50" charset="-127"/>
              </a:rPr>
              <a:t> </a:t>
            </a:r>
            <a:r>
              <a:rPr lang="en-US" altLang="ko-KR" dirty="0" smtClean="0">
                <a:solidFill>
                  <a:srgbClr val="000000"/>
                </a:solidFill>
                <a:latin typeface="맑은 고딕" panose="020B0503020000020004" pitchFamily="50" charset="-127"/>
              </a:rPr>
              <a:t>MUI-CM-06-M14</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캐비닛 목록화면으로 이동</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사용자가 선택한 파일을 </a:t>
            </a:r>
            <a:r>
              <a:rPr lang="ko-KR" altLang="en-US" dirty="0" err="1" smtClean="0">
                <a:solidFill>
                  <a:srgbClr val="000000"/>
                </a:solidFill>
                <a:latin typeface="맑은 고딕" panose="020B0503020000020004" pitchFamily="50" charset="-127"/>
              </a:rPr>
              <a:t>첨부목록에</a:t>
            </a:r>
            <a:r>
              <a:rPr lang="ko-KR" altLang="en-US" dirty="0" smtClean="0">
                <a:solidFill>
                  <a:srgbClr val="000000"/>
                </a:solidFill>
                <a:latin typeface="맑은 고딕" panose="020B0503020000020004" pitchFamily="50" charset="-127"/>
              </a:rPr>
              <a:t> 추가</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a:t>
            </a:r>
            <a:r>
              <a:rPr lang="ko-KR" altLang="en-US" dirty="0" smtClean="0"/>
              <a:t> </a:t>
            </a:r>
            <a:r>
              <a:rPr lang="ko-KR" altLang="en-US" dirty="0"/>
              <a:t>선택 완료 후 이전화면으로 복귀</a:t>
            </a:r>
            <a:r>
              <a:rPr lang="en-US" altLang="ko-KR" dirty="0"/>
              <a:t>.(</a:t>
            </a:r>
            <a:r>
              <a:rPr lang="ko-KR" altLang="en-US" dirty="0"/>
              <a:t>파일첨부목록</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smtClean="0">
                <a:latin typeface="+mn-ea"/>
              </a:rPr>
              <a:t>캐비닛연결</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첨부 파일</a:t>
            </a:r>
            <a:r>
              <a:rPr lang="en-US" altLang="ko-KR" dirty="0">
                <a:latin typeface="+mn-ea"/>
              </a:rPr>
              <a:t>, </a:t>
            </a:r>
            <a:r>
              <a:rPr lang="ko-KR" altLang="en-US" dirty="0">
                <a:latin typeface="+mn-ea"/>
              </a:rPr>
              <a:t>캐비닛 선택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Autofit/>
          </a:bodyPr>
          <a:lstStyle/>
          <a:p>
            <a:r>
              <a:rPr lang="ko-KR" altLang="en-US" sz="700" dirty="0"/>
              <a:t>홈 </a:t>
            </a:r>
            <a:r>
              <a:rPr lang="en-US" altLang="ko-KR" sz="700" dirty="0"/>
              <a:t>&gt; </a:t>
            </a:r>
            <a:r>
              <a:rPr lang="ko-KR" altLang="en-US" sz="700" dirty="0">
                <a:latin typeface="+mn-ea"/>
              </a:rPr>
              <a:t>입찰 진행 </a:t>
            </a:r>
            <a:r>
              <a:rPr lang="en-US" altLang="ko-KR" sz="700" dirty="0">
                <a:latin typeface="+mn-ea"/>
              </a:rPr>
              <a:t>&gt; </a:t>
            </a:r>
            <a:r>
              <a:rPr lang="ko-KR" altLang="en-US" sz="700" dirty="0">
                <a:latin typeface="+mn-ea"/>
              </a:rPr>
              <a:t>입찰서</a:t>
            </a:r>
            <a:r>
              <a:rPr lang="en-US" altLang="ko-KR" sz="700" dirty="0">
                <a:latin typeface="+mn-ea"/>
              </a:rPr>
              <a:t>(</a:t>
            </a:r>
            <a:r>
              <a:rPr lang="ko-KR" altLang="en-US" sz="700" dirty="0">
                <a:latin typeface="+mn-ea"/>
              </a:rPr>
              <a:t>견적서</a:t>
            </a:r>
            <a:r>
              <a:rPr lang="en-US" altLang="ko-KR" sz="700" dirty="0">
                <a:latin typeface="+mn-ea"/>
              </a:rPr>
              <a:t>)</a:t>
            </a:r>
            <a:r>
              <a:rPr lang="ko-KR" altLang="en-US" sz="700" dirty="0">
                <a:latin typeface="+mn-ea"/>
              </a:rPr>
              <a:t>작성 </a:t>
            </a:r>
            <a:r>
              <a:rPr lang="en-US" altLang="ko-KR" sz="700" dirty="0" smtClean="0">
                <a:latin typeface="+mn-ea"/>
              </a:rPr>
              <a:t>– </a:t>
            </a:r>
            <a:r>
              <a:rPr lang="ko-KR" altLang="en-US" sz="700" dirty="0" smtClean="0">
                <a:latin typeface="+mn-ea"/>
              </a:rPr>
              <a:t>파일첨부</a:t>
            </a:r>
            <a:r>
              <a:rPr lang="en-US" altLang="ko-KR" sz="700" dirty="0" smtClean="0">
                <a:latin typeface="+mn-ea"/>
              </a:rPr>
              <a:t>&gt;</a:t>
            </a:r>
            <a:r>
              <a:rPr lang="ko-KR" altLang="en-US" sz="700" dirty="0" smtClean="0">
                <a:latin typeface="+mn-ea"/>
              </a:rPr>
              <a:t>파일첨부 </a:t>
            </a:r>
            <a:r>
              <a:rPr lang="ko-KR" altLang="en-US" sz="700" dirty="0">
                <a:latin typeface="+mn-ea"/>
              </a:rPr>
              <a:t>방식 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4622157"/>
            <a:ext cx="2712027" cy="1610141"/>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470655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484097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4821654"/>
            <a:ext cx="1798758" cy="138499"/>
          </a:xfrm>
          <a:prstGeom prst="rect">
            <a:avLst/>
          </a:prstGeom>
          <a:noFill/>
        </p:spPr>
        <p:txBody>
          <a:bodyPr wrap="square" lIns="0" tIns="0" rIns="0" bIns="0" rtlCol="0">
            <a:spAutoFit/>
          </a:bodyPr>
          <a:lstStyle/>
          <a:p>
            <a:r>
              <a:rPr lang="ko-KR" altLang="en-US" sz="900" dirty="0">
                <a:latin typeface="+mn-ea"/>
              </a:rPr>
              <a:t>파일첨부 방식 선택</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508305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사각형: 둥근 모서리 15">
            <a:extLst>
              <a:ext uri="{FF2B5EF4-FFF2-40B4-BE49-F238E27FC236}">
                <a16:creationId xmlns:a16="http://schemas.microsoft.com/office/drawing/2014/main" id="{E2B61CFB-AD16-68D0-8752-50D9C5E01971}"/>
              </a:ext>
            </a:extLst>
          </p:cNvPr>
          <p:cNvSpPr/>
          <p:nvPr/>
        </p:nvSpPr>
        <p:spPr>
          <a:xfrm>
            <a:off x="767703" y="5296114"/>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직접 </a:t>
            </a:r>
            <a:r>
              <a:rPr kumimoji="1" lang="ko-KR" altLang="en-US" sz="1000" kern="0" dirty="0">
                <a:solidFill>
                  <a:srgbClr val="0070C0"/>
                </a:solidFill>
                <a:latin typeface="맑은 고딕"/>
                <a:ea typeface="맑은 고딕" panose="020B0503020000020004" pitchFamily="50" charset="-127"/>
              </a:rPr>
              <a:t>업로드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3" y="5744634"/>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캐비닛 선택 업로드</a:t>
            </a:r>
            <a:endParaRPr kumimoji="1" lang="en-US" sz="1000" b="0" i="0" u="none" strike="noStrike" kern="0" cap="none" spc="0" normalizeH="0" baseline="0" noProof="0" dirty="0">
              <a:ln>
                <a:noFill/>
              </a:ln>
              <a:effectLst/>
              <a:uLnTx/>
              <a:uFillTx/>
              <a:latin typeface="맑은 고딕"/>
            </a:endParaRPr>
          </a:p>
        </p:txBody>
      </p:sp>
      <p:sp>
        <p:nvSpPr>
          <p:cNvPr id="161" name="타원 160">
            <a:extLst>
              <a:ext uri="{FF2B5EF4-FFF2-40B4-BE49-F238E27FC236}">
                <a16:creationId xmlns:a16="http://schemas.microsoft.com/office/drawing/2014/main" id="{37A7FF4F-0EAA-1463-560A-D5EC24416103}"/>
              </a:ext>
            </a:extLst>
          </p:cNvPr>
          <p:cNvSpPr/>
          <p:nvPr/>
        </p:nvSpPr>
        <p:spPr>
          <a:xfrm>
            <a:off x="571127" y="53681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571127" y="582540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8" name="직사각형 57"/>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9" name="직사각형 58"/>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Tree>
    <p:extLst>
      <p:ext uri="{BB962C8B-B14F-4D97-AF65-F5344CB8AC3E}">
        <p14:creationId xmlns:p14="http://schemas.microsoft.com/office/powerpoint/2010/main" val="288164179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a:t>
            </a:r>
            <a:r>
              <a:rPr lang="ko-KR" altLang="en-US" dirty="0"/>
              <a:t>사용자가 </a:t>
            </a:r>
            <a:r>
              <a:rPr lang="ko-KR" altLang="en-US" dirty="0" err="1"/>
              <a:t>접근가능한</a:t>
            </a:r>
            <a:r>
              <a:rPr lang="ko-KR" altLang="en-US" dirty="0"/>
              <a:t> 폴더 목록 조</a:t>
            </a:r>
            <a:r>
              <a:rPr lang="en-US" altLang="ko-KR" dirty="0"/>
              <a:t/>
            </a:r>
            <a:br>
              <a:rPr lang="en-US" altLang="ko-KR" dirty="0"/>
            </a:br>
            <a:r>
              <a:rPr lang="ko-KR" altLang="en-US" dirty="0" smtClean="0"/>
              <a:t>회</a:t>
            </a:r>
            <a:r>
              <a:rPr lang="en-US" altLang="ko-KR" dirty="0" smtClean="0"/>
              <a:t/>
            </a:r>
            <a:br>
              <a:rPr lang="en-US" altLang="ko-KR" dirty="0" smtClean="0"/>
            </a:br>
            <a:r>
              <a:rPr lang="en-US" altLang="ko-KR" dirty="0" smtClean="0"/>
              <a:t>- </a:t>
            </a:r>
            <a:r>
              <a:rPr lang="ko-KR" altLang="en-US" dirty="0" smtClean="0"/>
              <a:t>폴더 </a:t>
            </a:r>
            <a:r>
              <a:rPr lang="ko-KR" altLang="en-US" dirty="0" err="1" smtClean="0"/>
              <a:t>선택시</a:t>
            </a:r>
            <a:r>
              <a:rPr lang="ko-KR" altLang="en-US" dirty="0" smtClean="0"/>
              <a:t> 하위 파일 목록 화면으로 이동</a:t>
            </a:r>
            <a:r>
              <a:rPr lang="en-US" altLang="ko-KR" dirty="0" smtClean="0"/>
              <a:t/>
            </a:r>
            <a:br>
              <a:rPr lang="en-US" altLang="ko-KR" dirty="0" smtClean="0"/>
            </a:br>
            <a:r>
              <a:rPr lang="en-US" altLang="ko-KR" dirty="0" smtClean="0"/>
              <a:t>- </a:t>
            </a:r>
            <a:r>
              <a:rPr lang="ko-KR" altLang="en-US" dirty="0"/>
              <a:t>폴더의</a:t>
            </a:r>
            <a:r>
              <a:rPr lang="en-US" altLang="ko-KR" dirty="0"/>
              <a:t> </a:t>
            </a:r>
            <a:r>
              <a:rPr lang="ko-KR" altLang="en-US" dirty="0"/>
              <a:t>생성</a:t>
            </a:r>
            <a:r>
              <a:rPr lang="en-US" altLang="ko-KR" dirty="0"/>
              <a:t>, </a:t>
            </a:r>
            <a:r>
              <a:rPr lang="ko-KR" altLang="en-US" dirty="0"/>
              <a:t>삭제는 </a:t>
            </a:r>
            <a:r>
              <a:rPr lang="en-US" altLang="ko-KR" dirty="0"/>
              <a:t>PC</a:t>
            </a:r>
            <a:r>
              <a:rPr lang="ko-KR" altLang="en-US" dirty="0"/>
              <a:t>에서 제공</a:t>
            </a:r>
            <a:endParaRPr lang="en-US" altLang="ko-KR" dirty="0"/>
          </a:p>
          <a:p>
            <a:pPr marL="228600" indent="-228600">
              <a:buFont typeface="+mj-lt"/>
              <a:buAutoNum type="arabicPeriod"/>
            </a:pPr>
            <a:endParaRPr lang="en-US" altLang="ko-KR" dirty="0" smtClean="0"/>
          </a:p>
          <a:p>
            <a:pPr marL="228600" indent="-228600">
              <a:buFont typeface="+mj-lt"/>
              <a:buAutoNum type="arabicPeriod"/>
            </a:pPr>
            <a:r>
              <a:rPr lang="ko-KR" altLang="en-US" dirty="0"/>
              <a:t>권한 관리는 업체 대표자에게만 표시됨</a:t>
            </a:r>
            <a:r>
              <a:rPr lang="en-US" altLang="ko-KR" dirty="0"/>
              <a:t>.</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 업로드로 진입하는 경우</a:t>
            </a:r>
            <a:r>
              <a:rPr lang="en-US" altLang="ko-KR" dirty="0"/>
              <a:t/>
            </a:r>
            <a:br>
              <a:rPr lang="en-US" altLang="ko-KR" dirty="0"/>
            </a:br>
            <a:r>
              <a:rPr lang="en-US" altLang="ko-KR" dirty="0"/>
              <a:t>- </a:t>
            </a:r>
            <a:r>
              <a:rPr lang="ko-KR" altLang="en-US" dirty="0"/>
              <a:t>권한 버튼 숨김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solidFill>
                  <a:srgbClr val="FF0000"/>
                </a:solidFill>
              </a:rPr>
              <a:t>- </a:t>
            </a:r>
            <a:r>
              <a:rPr lang="ko-KR" altLang="en-US" dirty="0">
                <a:solidFill>
                  <a:srgbClr val="FF0000"/>
                </a:solidFill>
              </a:rPr>
              <a:t>폴더의 권한은 표시하지 </a:t>
            </a:r>
            <a:r>
              <a:rPr lang="ko-KR" altLang="en-US" dirty="0" smtClean="0">
                <a:solidFill>
                  <a:srgbClr val="FF0000"/>
                </a:solidFill>
              </a:rPr>
              <a:t>않음</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solidFill>
                  <a:prstClr val="black"/>
                </a:solidFill>
                <a:latin typeface="맑은 고딕" panose="020B0503020000020004" pitchFamily="50" charset="-127"/>
              </a:rPr>
              <a:t>디지털캐비닛</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nSpc>
                <a:spcPct val="100000"/>
              </a:lnSpc>
              <a:spcBef>
                <a:spcPts val="0"/>
              </a:spcBef>
              <a:defRPr/>
            </a:pPr>
            <a:r>
              <a:rPr lang="ko-KR" altLang="en-US" dirty="0">
                <a:solidFill>
                  <a:prstClr val="black"/>
                </a:solidFill>
                <a:latin typeface="맑은 고딕" panose="020B0503020000020004" pitchFamily="50" charset="-127"/>
              </a:rPr>
              <a:t>디지털 캐비닛</a:t>
            </a:r>
            <a:r>
              <a:rPr lang="en-US" altLang="ko-KR" dirty="0">
                <a:solidFill>
                  <a:prstClr val="black"/>
                </a:solidFill>
                <a:latin typeface="맑은 고딕" panose="020B0503020000020004" pitchFamily="50" charset="-127"/>
              </a:rPr>
              <a:t>, </a:t>
            </a:r>
            <a:r>
              <a:rPr lang="ko-KR" altLang="en-US" dirty="0">
                <a:solidFill>
                  <a:prstClr val="black"/>
                </a:solidFill>
                <a:latin typeface="맑은 고딕" panose="020B0503020000020004" pitchFamily="50" charset="-127"/>
              </a:rPr>
              <a:t>사용자가 등록한 자료 폴더 목록</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smtClean="0">
                <a:latin typeface="+mn-ea"/>
              </a:rPr>
              <a:t>메인 홈 </a:t>
            </a:r>
            <a:r>
              <a:rPr lang="en-US" altLang="ko-KR" dirty="0" smtClean="0">
                <a:latin typeface="+mn-ea"/>
              </a:rPr>
              <a:t>&gt; </a:t>
            </a:r>
            <a:r>
              <a:rPr lang="ko-KR" altLang="en-US" dirty="0" err="1" smtClean="0">
                <a:latin typeface="+mn-ea"/>
              </a:rPr>
              <a:t>마이페이지</a:t>
            </a:r>
            <a:r>
              <a:rPr lang="ko-KR" altLang="en-US" dirty="0" smtClean="0">
                <a:latin typeface="+mn-ea"/>
              </a:rPr>
              <a:t> </a:t>
            </a:r>
            <a:r>
              <a:rPr lang="en-US" altLang="ko-KR" dirty="0" smtClean="0">
                <a:latin typeface="+mn-ea"/>
              </a:rPr>
              <a:t>&gt; </a:t>
            </a:r>
            <a:r>
              <a:rPr lang="ko-KR" altLang="en-US" dirty="0" smtClean="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MUI-CM-06-M14</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8757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4" name="TextBox 58">
            <a:extLst>
              <a:ext uri="{FF2B5EF4-FFF2-40B4-BE49-F238E27FC236}">
                <a16:creationId xmlns:a16="http://schemas.microsoft.com/office/drawing/2014/main" id="{02FC114B-B48B-345F-BD70-2B5A196F5B3E}"/>
              </a:ext>
            </a:extLst>
          </p:cNvPr>
          <p:cNvSpPr txBox="1"/>
          <p:nvPr/>
        </p:nvSpPr>
        <p:spPr>
          <a:xfrm>
            <a:off x="772625" y="26035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3" name="직선 연결선 72">
            <a:extLst>
              <a:ext uri="{FF2B5EF4-FFF2-40B4-BE49-F238E27FC236}">
                <a16:creationId xmlns:a16="http://schemas.microsoft.com/office/drawing/2014/main" id="{E9293055-D5CD-4B9E-7F64-64B2D2CA7A52}"/>
              </a:ext>
            </a:extLst>
          </p:cNvPr>
          <p:cNvCxnSpPr/>
          <p:nvPr/>
        </p:nvCxnSpPr>
        <p:spPr>
          <a:xfrm>
            <a:off x="675399" y="28745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3333470" y="25670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1" name="TextBox 58">
            <a:extLst>
              <a:ext uri="{FF2B5EF4-FFF2-40B4-BE49-F238E27FC236}">
                <a16:creationId xmlns:a16="http://schemas.microsoft.com/office/drawing/2014/main" id="{02FC114B-B48B-345F-BD70-2B5A196F5B3E}"/>
              </a:ext>
            </a:extLst>
          </p:cNvPr>
          <p:cNvSpPr txBox="1"/>
          <p:nvPr/>
        </p:nvSpPr>
        <p:spPr>
          <a:xfrm>
            <a:off x="1019814" y="25356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 |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53" name="사각형: 둥근 모서리 31">
            <a:extLst>
              <a:ext uri="{FF2B5EF4-FFF2-40B4-BE49-F238E27FC236}">
                <a16:creationId xmlns:a16="http://schemas.microsoft.com/office/drawing/2014/main" id="{2AC143EE-93CF-3518-F0CB-8469E98507E0}"/>
              </a:ext>
            </a:extLst>
          </p:cNvPr>
          <p:cNvSpPr/>
          <p:nvPr/>
        </p:nvSpPr>
        <p:spPr>
          <a:xfrm>
            <a:off x="2993286" y="25866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2" name="TextBox 58">
            <a:extLst>
              <a:ext uri="{FF2B5EF4-FFF2-40B4-BE49-F238E27FC236}">
                <a16:creationId xmlns:a16="http://schemas.microsoft.com/office/drawing/2014/main" id="{02FC114B-B48B-345F-BD70-2B5A196F5B3E}"/>
              </a:ext>
            </a:extLst>
          </p:cNvPr>
          <p:cNvSpPr txBox="1"/>
          <p:nvPr/>
        </p:nvSpPr>
        <p:spPr>
          <a:xfrm>
            <a:off x="772625" y="30257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296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TextBox 58">
            <a:extLst>
              <a:ext uri="{FF2B5EF4-FFF2-40B4-BE49-F238E27FC236}">
                <a16:creationId xmlns:a16="http://schemas.microsoft.com/office/drawing/2014/main" id="{02FC114B-B48B-345F-BD70-2B5A196F5B3E}"/>
              </a:ext>
            </a:extLst>
          </p:cNvPr>
          <p:cNvSpPr txBox="1"/>
          <p:nvPr/>
        </p:nvSpPr>
        <p:spPr>
          <a:xfrm>
            <a:off x="1019814" y="29578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06" name="사각형: 둥근 모서리 31">
            <a:extLst>
              <a:ext uri="{FF2B5EF4-FFF2-40B4-BE49-F238E27FC236}">
                <a16:creationId xmlns:a16="http://schemas.microsoft.com/office/drawing/2014/main" id="{2AC143EE-93CF-3518-F0CB-8469E98507E0}"/>
              </a:ext>
            </a:extLst>
          </p:cNvPr>
          <p:cNvSpPr/>
          <p:nvPr/>
        </p:nvSpPr>
        <p:spPr>
          <a:xfrm>
            <a:off x="2993286" y="30088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7" name="TextBox 58">
            <a:extLst>
              <a:ext uri="{FF2B5EF4-FFF2-40B4-BE49-F238E27FC236}">
                <a16:creationId xmlns:a16="http://schemas.microsoft.com/office/drawing/2014/main" id="{02FC114B-B48B-345F-BD70-2B5A196F5B3E}"/>
              </a:ext>
            </a:extLst>
          </p:cNvPr>
          <p:cNvSpPr txBox="1"/>
          <p:nvPr/>
        </p:nvSpPr>
        <p:spPr>
          <a:xfrm>
            <a:off x="772625" y="343912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75399" y="371007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58">
            <a:extLst>
              <a:ext uri="{FF2B5EF4-FFF2-40B4-BE49-F238E27FC236}">
                <a16:creationId xmlns:a16="http://schemas.microsoft.com/office/drawing/2014/main" id="{02FC114B-B48B-345F-BD70-2B5A196F5B3E}"/>
              </a:ext>
            </a:extLst>
          </p:cNvPr>
          <p:cNvSpPr txBox="1"/>
          <p:nvPr/>
        </p:nvSpPr>
        <p:spPr>
          <a:xfrm>
            <a:off x="1019814" y="337122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25" name="사각형: 둥근 모서리 31">
            <a:extLst>
              <a:ext uri="{FF2B5EF4-FFF2-40B4-BE49-F238E27FC236}">
                <a16:creationId xmlns:a16="http://schemas.microsoft.com/office/drawing/2014/main" id="{2AC143EE-93CF-3518-F0CB-8469E98507E0}"/>
              </a:ext>
            </a:extLst>
          </p:cNvPr>
          <p:cNvSpPr/>
          <p:nvPr/>
        </p:nvSpPr>
        <p:spPr>
          <a:xfrm>
            <a:off x="2993286" y="342221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26" name="TextBox 58">
            <a:extLst>
              <a:ext uri="{FF2B5EF4-FFF2-40B4-BE49-F238E27FC236}">
                <a16:creationId xmlns:a16="http://schemas.microsoft.com/office/drawing/2014/main" id="{02FC114B-B48B-345F-BD70-2B5A196F5B3E}"/>
              </a:ext>
            </a:extLst>
          </p:cNvPr>
          <p:cNvSpPr txBox="1"/>
          <p:nvPr/>
        </p:nvSpPr>
        <p:spPr>
          <a:xfrm>
            <a:off x="772625" y="386037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4131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58">
            <a:extLst>
              <a:ext uri="{FF2B5EF4-FFF2-40B4-BE49-F238E27FC236}">
                <a16:creationId xmlns:a16="http://schemas.microsoft.com/office/drawing/2014/main" id="{02FC114B-B48B-345F-BD70-2B5A196F5B3E}"/>
              </a:ext>
            </a:extLst>
          </p:cNvPr>
          <p:cNvSpPr txBox="1"/>
          <p:nvPr/>
        </p:nvSpPr>
        <p:spPr>
          <a:xfrm>
            <a:off x="1019814" y="3792480"/>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2" name="사각형: 둥근 모서리 31">
            <a:extLst>
              <a:ext uri="{FF2B5EF4-FFF2-40B4-BE49-F238E27FC236}">
                <a16:creationId xmlns:a16="http://schemas.microsoft.com/office/drawing/2014/main" id="{2AC143EE-93CF-3518-F0CB-8469E98507E0}"/>
              </a:ext>
            </a:extLst>
          </p:cNvPr>
          <p:cNvSpPr/>
          <p:nvPr/>
        </p:nvSpPr>
        <p:spPr>
          <a:xfrm>
            <a:off x="2993286" y="3843470"/>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58">
            <a:extLst>
              <a:ext uri="{FF2B5EF4-FFF2-40B4-BE49-F238E27FC236}">
                <a16:creationId xmlns:a16="http://schemas.microsoft.com/office/drawing/2014/main" id="{02FC114B-B48B-345F-BD70-2B5A196F5B3E}"/>
              </a:ext>
            </a:extLst>
          </p:cNvPr>
          <p:cNvSpPr txBox="1"/>
          <p:nvPr/>
        </p:nvSpPr>
        <p:spPr>
          <a:xfrm>
            <a:off x="772625" y="4280031"/>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45509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58">
            <a:extLst>
              <a:ext uri="{FF2B5EF4-FFF2-40B4-BE49-F238E27FC236}">
                <a16:creationId xmlns:a16="http://schemas.microsoft.com/office/drawing/2014/main" id="{02FC114B-B48B-345F-BD70-2B5A196F5B3E}"/>
              </a:ext>
            </a:extLst>
          </p:cNvPr>
          <p:cNvSpPr txBox="1"/>
          <p:nvPr/>
        </p:nvSpPr>
        <p:spPr>
          <a:xfrm>
            <a:off x="1019814" y="4212136"/>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7" name="사각형: 둥근 모서리 31">
            <a:extLst>
              <a:ext uri="{FF2B5EF4-FFF2-40B4-BE49-F238E27FC236}">
                <a16:creationId xmlns:a16="http://schemas.microsoft.com/office/drawing/2014/main" id="{2AC143EE-93CF-3518-F0CB-8469E98507E0}"/>
              </a:ext>
            </a:extLst>
          </p:cNvPr>
          <p:cNvSpPr/>
          <p:nvPr/>
        </p:nvSpPr>
        <p:spPr>
          <a:xfrm>
            <a:off x="2993286" y="4263126"/>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40" name="타원 139"/>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a:off x="3143548" y="2279636"/>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24553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직사각형 50"/>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2" name="직사각형 51"/>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55" name="직사각형 54"/>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9" name="직사각형 58"/>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Tree>
    <p:extLst>
      <p:ext uri="{BB962C8B-B14F-4D97-AF65-F5344CB8AC3E}">
        <p14:creationId xmlns:p14="http://schemas.microsoft.com/office/powerpoint/2010/main" val="417305659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 </a:t>
            </a:r>
            <a:r>
              <a:rPr lang="ko-KR" altLang="en-US" dirty="0"/>
              <a:t>클릭 시 상위 폴더 이동</a:t>
            </a:r>
            <a:endParaRPr lang="en-US" altLang="ko-KR" dirty="0"/>
          </a:p>
          <a:p>
            <a:pPr marL="228600" indent="-228600">
              <a:buFont typeface="+mj-lt"/>
              <a:buAutoNum type="arabicPeriod"/>
            </a:pPr>
            <a:r>
              <a:rPr lang="ko-KR" altLang="en-US" dirty="0"/>
              <a:t>파일 표시</a:t>
            </a:r>
            <a:r>
              <a:rPr lang="en-US" altLang="ko-KR" dirty="0"/>
              <a:t/>
            </a:r>
            <a:br>
              <a:rPr lang="en-US" altLang="ko-KR" dirty="0"/>
            </a:br>
            <a:r>
              <a:rPr lang="en-US" altLang="ko-KR" dirty="0"/>
              <a:t>- </a:t>
            </a:r>
            <a:r>
              <a:rPr lang="ko-KR" altLang="en-US" dirty="0"/>
              <a:t>파일 등록</a:t>
            </a:r>
            <a:r>
              <a:rPr lang="en-US" altLang="ko-KR" dirty="0"/>
              <a:t>, </a:t>
            </a:r>
            <a:r>
              <a:rPr lang="ko-KR" altLang="en-US" dirty="0"/>
              <a:t>삭제 </a:t>
            </a:r>
            <a:r>
              <a:rPr lang="en-US" altLang="ko-KR" dirty="0"/>
              <a:t>PC</a:t>
            </a:r>
            <a:r>
              <a:rPr lang="ko-KR" altLang="en-US" dirty="0"/>
              <a:t>에서 제공</a:t>
            </a:r>
            <a:r>
              <a:rPr lang="en-US" altLang="ko-KR" dirty="0"/>
              <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선택으로 진입하는 경우</a:t>
            </a:r>
            <a:r>
              <a:rPr lang="en-US" altLang="ko-KR" dirty="0"/>
              <a:t/>
            </a:r>
            <a:br>
              <a:rPr lang="en-US" altLang="ko-KR" dirty="0"/>
            </a:br>
            <a:r>
              <a:rPr lang="en-US" altLang="ko-KR" dirty="0"/>
              <a:t>- </a:t>
            </a:r>
            <a:r>
              <a:rPr lang="ko-KR" altLang="en-US" dirty="0"/>
              <a:t>선택 시 하이라이트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t>- </a:t>
            </a:r>
            <a:r>
              <a:rPr lang="ko-KR" altLang="en-US" dirty="0"/>
              <a:t>선택 파일 첨부 버튼 표시</a:t>
            </a:r>
            <a:r>
              <a:rPr lang="en-US" altLang="ko-KR" dirty="0"/>
              <a:t/>
            </a:r>
            <a:br>
              <a:rPr lang="en-US" altLang="ko-KR" dirty="0"/>
            </a:br>
            <a:r>
              <a:rPr lang="en-US" altLang="ko-KR" dirty="0"/>
              <a:t/>
            </a:r>
            <a:br>
              <a:rPr lang="en-US" altLang="ko-KR" dirty="0"/>
            </a:br>
            <a:r>
              <a:rPr lang="en-US" altLang="ko-KR" dirty="0">
                <a:solidFill>
                  <a:srgbClr val="FF0000"/>
                </a:solidFill>
              </a:rPr>
              <a:t>- </a:t>
            </a:r>
            <a:r>
              <a:rPr lang="ko-KR" altLang="en-US" dirty="0">
                <a:solidFill>
                  <a:srgbClr val="FF0000"/>
                </a:solidFill>
              </a:rPr>
              <a:t>입찰참가</a:t>
            </a:r>
            <a:r>
              <a:rPr lang="en-US" altLang="ko-KR" dirty="0">
                <a:solidFill>
                  <a:srgbClr val="FF0000"/>
                </a:solidFill>
              </a:rPr>
              <a:t>, </a:t>
            </a:r>
            <a:r>
              <a:rPr lang="ko-KR" altLang="en-US" dirty="0">
                <a:solidFill>
                  <a:srgbClr val="FF0000"/>
                </a:solidFill>
              </a:rPr>
              <a:t>입찰서 등에서 파일을 업로드</a:t>
            </a:r>
            <a:r>
              <a:rPr lang="en-US" altLang="ko-KR" dirty="0">
                <a:solidFill>
                  <a:srgbClr val="FF0000"/>
                </a:solidFill>
              </a:rPr>
              <a:t>(</a:t>
            </a:r>
            <a:r>
              <a:rPr lang="ko-KR" altLang="en-US" dirty="0">
                <a:solidFill>
                  <a:srgbClr val="FF0000"/>
                </a:solidFill>
              </a:rPr>
              <a:t>파일 첨부</a:t>
            </a:r>
            <a:r>
              <a:rPr lang="en-US" altLang="ko-KR" dirty="0">
                <a:solidFill>
                  <a:srgbClr val="FF0000"/>
                </a:solidFill>
              </a:rPr>
              <a:t>)</a:t>
            </a:r>
            <a:r>
              <a:rPr lang="ko-KR" altLang="en-US" dirty="0">
                <a:solidFill>
                  <a:srgbClr val="FF0000"/>
                </a:solidFill>
              </a:rPr>
              <a:t>할 때</a:t>
            </a:r>
            <a:r>
              <a:rPr lang="en-US" altLang="ko-KR" dirty="0">
                <a:solidFill>
                  <a:srgbClr val="FF0000"/>
                </a:solidFill>
              </a:rPr>
              <a:t>, </a:t>
            </a:r>
            <a:r>
              <a:rPr lang="ko-KR" altLang="en-US" dirty="0">
                <a:solidFill>
                  <a:srgbClr val="FF0000"/>
                </a:solidFill>
              </a:rPr>
              <a:t>사용자에게 </a:t>
            </a:r>
            <a:r>
              <a:rPr lang="ko-KR" altLang="en-US" dirty="0" err="1">
                <a:solidFill>
                  <a:srgbClr val="FF0000"/>
                </a:solidFill>
              </a:rPr>
              <a:t>직접업로드</a:t>
            </a:r>
            <a:r>
              <a:rPr lang="en-US" altLang="ko-KR" dirty="0">
                <a:solidFill>
                  <a:srgbClr val="FF0000"/>
                </a:solidFill>
              </a:rPr>
              <a:t>, </a:t>
            </a:r>
            <a:r>
              <a:rPr lang="ko-KR" altLang="en-US" dirty="0">
                <a:solidFill>
                  <a:srgbClr val="FF0000"/>
                </a:solidFill>
              </a:rPr>
              <a:t>캐비닛 업로드를 할 수 있는 팝업 선택지가 노출됨</a:t>
            </a:r>
            <a:r>
              <a:rPr lang="en-US" altLang="ko-KR" dirty="0">
                <a:solidFill>
                  <a:srgbClr val="FF0000"/>
                </a:solidFill>
              </a:rPr>
              <a:t>. </a:t>
            </a:r>
            <a:br>
              <a:rPr lang="en-US" altLang="ko-KR" dirty="0">
                <a:solidFill>
                  <a:srgbClr val="FF0000"/>
                </a:solidFill>
              </a:rPr>
            </a:br>
            <a:r>
              <a:rPr lang="en-US" altLang="ko-KR" dirty="0">
                <a:solidFill>
                  <a:srgbClr val="FF0000"/>
                </a:solidFill>
              </a:rPr>
              <a:t>- </a:t>
            </a:r>
            <a:r>
              <a:rPr lang="ko-KR" altLang="en-US" dirty="0">
                <a:solidFill>
                  <a:srgbClr val="FF0000"/>
                </a:solidFill>
              </a:rPr>
              <a:t>사용자가 디지털 캐비닛 업로드 선택 시 캐비닛의 파일을 선택하여 업로드할 수 있는 체크박스와 </a:t>
            </a:r>
            <a:r>
              <a:rPr lang="ko-KR" altLang="en-US" dirty="0" err="1">
                <a:solidFill>
                  <a:srgbClr val="FF0000"/>
                </a:solidFill>
              </a:rPr>
              <a:t>선택파일</a:t>
            </a:r>
            <a:r>
              <a:rPr lang="ko-KR" altLang="en-US" dirty="0">
                <a:solidFill>
                  <a:srgbClr val="FF0000"/>
                </a:solidFill>
              </a:rPr>
              <a:t> 첨부 버튼을 표시함</a:t>
            </a:r>
            <a:r>
              <a:rPr lang="en-US" altLang="ko-KR" dirty="0">
                <a:solidFill>
                  <a:srgbClr val="FF0000"/>
                </a:solidFill>
              </a:rPr>
              <a:t>.</a:t>
            </a:r>
            <a:br>
              <a:rPr lang="en-US" altLang="ko-KR" dirty="0">
                <a:solidFill>
                  <a:srgbClr val="FF0000"/>
                </a:solidFill>
              </a:rPr>
            </a:br>
            <a:r>
              <a:rPr lang="en-US" altLang="ko-KR" dirty="0">
                <a:solidFill>
                  <a:srgbClr val="FF0000"/>
                </a:solidFill>
              </a:rPr>
              <a:t>- </a:t>
            </a:r>
            <a:r>
              <a:rPr lang="ko-KR" altLang="en-US" dirty="0">
                <a:solidFill>
                  <a:srgbClr val="FF0000"/>
                </a:solidFill>
              </a:rPr>
              <a:t>캐비닛 업로드 선택 시 최초 진입은 목록 화면으로 진입하며</a:t>
            </a:r>
            <a:r>
              <a:rPr lang="en-US" altLang="ko-KR" dirty="0">
                <a:solidFill>
                  <a:srgbClr val="FF0000"/>
                </a:solidFill>
              </a:rPr>
              <a:t>, </a:t>
            </a:r>
            <a:r>
              <a:rPr lang="ko-KR" altLang="en-US" dirty="0">
                <a:solidFill>
                  <a:srgbClr val="FF0000"/>
                </a:solidFill>
              </a:rPr>
              <a:t>권한 버튼은 숨김 처리됨</a:t>
            </a:r>
            <a:r>
              <a:rPr lang="en-US" altLang="ko-KR" dirty="0">
                <a:solidFill>
                  <a:srgbClr val="FF0000"/>
                </a:solidFill>
              </a:rPr>
              <a:t>.</a:t>
            </a:r>
          </a:p>
          <a:p>
            <a:pPr marL="228600" indent="-228600">
              <a:buFont typeface="+mj-lt"/>
              <a:buAutoNum type="arabicPeriod"/>
            </a:pPr>
            <a:endParaRPr lang="en-US" altLang="ko-KR" dirty="0"/>
          </a:p>
          <a:p>
            <a:pPr marL="228600" indent="-228600">
              <a:buFont typeface="+mj-lt"/>
              <a:buAutoNum type="arabicPeriod"/>
            </a:pPr>
            <a:r>
              <a:rPr lang="ko-KR" altLang="en-US" dirty="0"/>
              <a:t>사용자가 선택 여부를 확인할 수 있는 체크박스 추가 표시</a:t>
            </a:r>
            <a:r>
              <a:rPr lang="en-US" altLang="ko-KR" dirty="0"/>
              <a:t/>
            </a:r>
            <a:br>
              <a:rPr lang="en-US" altLang="ko-KR" dirty="0"/>
            </a:br>
            <a:endParaRPr lang="en-US" altLang="ko-KR" dirty="0"/>
          </a:p>
          <a:p>
            <a:pPr marL="228600" indent="-228600">
              <a:buFont typeface="+mj-lt"/>
              <a:buAutoNum type="arabicPeriod"/>
            </a:pPr>
            <a:r>
              <a:rPr lang="ko-KR" altLang="en-US" dirty="0"/>
              <a:t>선택 파일 첨부를 통해 신청서 작성 등의 파일 </a:t>
            </a:r>
            <a:r>
              <a:rPr lang="ko-KR" altLang="en-US" dirty="0" err="1"/>
              <a:t>첨부항목에</a:t>
            </a:r>
            <a:r>
              <a:rPr lang="ko-KR" altLang="en-US" dirty="0"/>
              <a:t> 선택된 캐비닛 자료 업로드</a:t>
            </a:r>
            <a:r>
              <a:rPr lang="en-US" altLang="ko-KR" dirty="0"/>
              <a:t/>
            </a:r>
            <a:br>
              <a:rPr lang="en-US" altLang="ko-KR" dirty="0"/>
            </a:br>
            <a:r>
              <a:rPr lang="en-US" altLang="ko-KR" dirty="0"/>
              <a:t>- </a:t>
            </a:r>
            <a:r>
              <a:rPr lang="ko-KR" altLang="en-US" dirty="0"/>
              <a:t>이전 </a:t>
            </a:r>
            <a:r>
              <a:rPr lang="ko-KR" altLang="en-US" dirty="0" err="1"/>
              <a:t>파일첨부하던</a:t>
            </a:r>
            <a:r>
              <a:rPr lang="ko-KR" altLang="en-US" dirty="0"/>
              <a:t> 화면으로 복귀</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lvl="0">
              <a:defRPr/>
            </a:pPr>
            <a:r>
              <a:rPr lang="ko-KR" altLang="en-US" dirty="0" smtClean="0">
                <a:solidFill>
                  <a:prstClr val="black"/>
                </a:solidFill>
                <a:latin typeface="맑은 고딕" panose="020B0503020000020004" pitchFamily="50" charset="-127"/>
              </a:rPr>
              <a:t>폴더내파일목록</a:t>
            </a:r>
            <a:endParaRPr lang="ko-KR" altLang="en-US" dirty="0">
              <a:solidFill>
                <a:prstClr val="black"/>
              </a:solidFill>
              <a:latin typeface="맑은 고딕" panose="020B0503020000020004" pitchFamily="50" charset="-127"/>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디지털캐비닛 파일 목록 화면</a:t>
            </a:r>
            <a:endParaRPr lang="en-US" altLang="ko-KR"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latin typeface="+mn-ea"/>
              </a:rPr>
              <a:t>메인 홈 </a:t>
            </a:r>
            <a:r>
              <a:rPr lang="en-US" altLang="ko-KR" dirty="0">
                <a:latin typeface="+mn-ea"/>
              </a:rPr>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MUI-CM-06-M16</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9242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0" name="TextBox 58">
            <a:extLst>
              <a:ext uri="{FF2B5EF4-FFF2-40B4-BE49-F238E27FC236}">
                <a16:creationId xmlns:a16="http://schemas.microsoft.com/office/drawing/2014/main" id="{02FC114B-B48B-345F-BD70-2B5A196F5B3E}"/>
              </a:ext>
            </a:extLst>
          </p:cNvPr>
          <p:cNvSpPr txBox="1"/>
          <p:nvPr/>
        </p:nvSpPr>
        <p:spPr>
          <a:xfrm>
            <a:off x="772625"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51" name="직선 연결선 50">
            <a:extLst>
              <a:ext uri="{FF2B5EF4-FFF2-40B4-BE49-F238E27FC236}">
                <a16:creationId xmlns:a16="http://schemas.microsoft.com/office/drawing/2014/main" id="{E9293055-D5CD-4B9E-7F64-64B2D2CA7A52}"/>
              </a:ext>
            </a:extLst>
          </p:cNvPr>
          <p:cNvCxnSpPr/>
          <p:nvPr/>
        </p:nvCxnSpPr>
        <p:spPr>
          <a:xfrm>
            <a:off x="675399"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2" name="TextBox 58">
            <a:extLst>
              <a:ext uri="{FF2B5EF4-FFF2-40B4-BE49-F238E27FC236}">
                <a16:creationId xmlns:a16="http://schemas.microsoft.com/office/drawing/2014/main" id="{02FC114B-B48B-345F-BD70-2B5A196F5B3E}"/>
              </a:ext>
            </a:extLst>
          </p:cNvPr>
          <p:cNvSpPr txBox="1"/>
          <p:nvPr/>
        </p:nvSpPr>
        <p:spPr>
          <a:xfrm>
            <a:off x="980620"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59" name="TextBox 58">
            <a:extLst>
              <a:ext uri="{FF2B5EF4-FFF2-40B4-BE49-F238E27FC236}">
                <a16:creationId xmlns:a16="http://schemas.microsoft.com/office/drawing/2014/main" id="{02FC114B-B48B-345F-BD70-2B5A196F5B3E}"/>
              </a:ext>
            </a:extLst>
          </p:cNvPr>
          <p:cNvSpPr txBox="1"/>
          <p:nvPr/>
        </p:nvSpPr>
        <p:spPr>
          <a:xfrm>
            <a:off x="772625"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75399"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TextBox 58">
            <a:extLst>
              <a:ext uri="{FF2B5EF4-FFF2-40B4-BE49-F238E27FC236}">
                <a16:creationId xmlns:a16="http://schemas.microsoft.com/office/drawing/2014/main" id="{02FC114B-B48B-345F-BD70-2B5A196F5B3E}"/>
              </a:ext>
            </a:extLst>
          </p:cNvPr>
          <p:cNvSpPr txBox="1"/>
          <p:nvPr/>
        </p:nvSpPr>
        <p:spPr>
          <a:xfrm>
            <a:off x="1019814"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67" name="TextBox 58">
            <a:extLst>
              <a:ext uri="{FF2B5EF4-FFF2-40B4-BE49-F238E27FC236}">
                <a16:creationId xmlns:a16="http://schemas.microsoft.com/office/drawing/2014/main" id="{02FC114B-B48B-345F-BD70-2B5A196F5B3E}"/>
              </a:ext>
            </a:extLst>
          </p:cNvPr>
          <p:cNvSpPr txBox="1"/>
          <p:nvPr/>
        </p:nvSpPr>
        <p:spPr>
          <a:xfrm>
            <a:off x="772625"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75399"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5" name="TextBox 58">
            <a:extLst>
              <a:ext uri="{FF2B5EF4-FFF2-40B4-BE49-F238E27FC236}">
                <a16:creationId xmlns:a16="http://schemas.microsoft.com/office/drawing/2014/main" id="{02FC114B-B48B-345F-BD70-2B5A196F5B3E}"/>
              </a:ext>
            </a:extLst>
          </p:cNvPr>
          <p:cNvSpPr txBox="1"/>
          <p:nvPr/>
        </p:nvSpPr>
        <p:spPr>
          <a:xfrm>
            <a:off x="1019814"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81" name="TextBox 58">
            <a:extLst>
              <a:ext uri="{FF2B5EF4-FFF2-40B4-BE49-F238E27FC236}">
                <a16:creationId xmlns:a16="http://schemas.microsoft.com/office/drawing/2014/main" id="{02FC114B-B48B-345F-BD70-2B5A196F5B3E}"/>
              </a:ext>
            </a:extLst>
          </p:cNvPr>
          <p:cNvSpPr txBox="1"/>
          <p:nvPr/>
        </p:nvSpPr>
        <p:spPr>
          <a:xfrm>
            <a:off x="772625"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58">
            <a:extLst>
              <a:ext uri="{FF2B5EF4-FFF2-40B4-BE49-F238E27FC236}">
                <a16:creationId xmlns:a16="http://schemas.microsoft.com/office/drawing/2014/main" id="{02FC114B-B48B-345F-BD70-2B5A196F5B3E}"/>
              </a:ext>
            </a:extLst>
          </p:cNvPr>
          <p:cNvSpPr txBox="1"/>
          <p:nvPr/>
        </p:nvSpPr>
        <p:spPr>
          <a:xfrm>
            <a:off x="1019814"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8" name="TextBox 58">
            <a:extLst>
              <a:ext uri="{FF2B5EF4-FFF2-40B4-BE49-F238E27FC236}">
                <a16:creationId xmlns:a16="http://schemas.microsoft.com/office/drawing/2014/main" id="{02FC114B-B48B-345F-BD70-2B5A196F5B3E}"/>
              </a:ext>
            </a:extLst>
          </p:cNvPr>
          <p:cNvSpPr txBox="1"/>
          <p:nvPr/>
        </p:nvSpPr>
        <p:spPr>
          <a:xfrm>
            <a:off x="772625"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675399"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58">
            <a:extLst>
              <a:ext uri="{FF2B5EF4-FFF2-40B4-BE49-F238E27FC236}">
                <a16:creationId xmlns:a16="http://schemas.microsoft.com/office/drawing/2014/main" id="{02FC114B-B48B-345F-BD70-2B5A196F5B3E}"/>
              </a:ext>
            </a:extLst>
          </p:cNvPr>
          <p:cNvSpPr txBox="1"/>
          <p:nvPr/>
        </p:nvSpPr>
        <p:spPr>
          <a:xfrm>
            <a:off x="1019814"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04" name="타원 103"/>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a:off x="3143548" y="2279636"/>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6" name="타원 115">
            <a:extLst>
              <a:ext uri="{FF2B5EF4-FFF2-40B4-BE49-F238E27FC236}">
                <a16:creationId xmlns:a16="http://schemas.microsoft.com/office/drawing/2014/main" id="{37A7FF4F-0EAA-1463-560A-D5EC24416103}"/>
              </a:ext>
            </a:extLst>
          </p:cNvPr>
          <p:cNvSpPr/>
          <p:nvPr/>
        </p:nvSpPr>
        <p:spPr>
          <a:xfrm>
            <a:off x="571127" y="301368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46" name="직사각형 45"/>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47" name="직사각형 46"/>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49" name="직사각형 48"/>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3" name="직사각형 52"/>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선택 파일 첨부</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5" name="직사각형 5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FC49AEA-2A8F-250C-A86A-A7751D9706C3}"/>
              </a:ext>
            </a:extLst>
          </p:cNvPr>
          <p:cNvSpPr txBox="1"/>
          <p:nvPr/>
        </p:nvSpPr>
        <p:spPr>
          <a:xfrm>
            <a:off x="4062763"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69" name="직선 연결선 68">
            <a:extLst>
              <a:ext uri="{FF2B5EF4-FFF2-40B4-BE49-F238E27FC236}">
                <a16:creationId xmlns:a16="http://schemas.microsoft.com/office/drawing/2014/main" id="{E9293055-D5CD-4B9E-7F64-64B2D2CA7A52}"/>
              </a:ext>
            </a:extLst>
          </p:cNvPr>
          <p:cNvCxnSpPr/>
          <p:nvPr/>
        </p:nvCxnSpPr>
        <p:spPr>
          <a:xfrm>
            <a:off x="3807261"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0" name="그룹 69"/>
          <p:cNvGrpSpPr/>
          <p:nvPr/>
        </p:nvGrpSpPr>
        <p:grpSpPr>
          <a:xfrm rot="5400000">
            <a:off x="3881704" y="1640499"/>
            <a:ext cx="94010" cy="47005"/>
            <a:chOff x="6812560" y="3297172"/>
            <a:chExt cx="94010" cy="47005"/>
          </a:xfrm>
        </p:grpSpPr>
        <p:cxnSp>
          <p:nvCxnSpPr>
            <p:cNvPr id="71" name="직선 연결선 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2" name="직선 연결선 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3" name="타원 72"/>
          <p:cNvSpPr/>
          <p:nvPr/>
        </p:nvSpPr>
        <p:spPr>
          <a:xfrm>
            <a:off x="6171228"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TextBox 73"/>
          <p:cNvSpPr txBox="1"/>
          <p:nvPr/>
        </p:nvSpPr>
        <p:spPr>
          <a:xfrm>
            <a:off x="6119977" y="1515996"/>
            <a:ext cx="290464" cy="276999"/>
          </a:xfrm>
          <a:prstGeom prst="rect">
            <a:avLst/>
          </a:prstGeom>
          <a:noFill/>
        </p:spPr>
        <p:txBody>
          <a:bodyPr wrap="none" rtlCol="0" anchor="ctr">
            <a:spAutoFit/>
          </a:bodyPr>
          <a:lstStyle/>
          <a:p>
            <a:pPr algn="ctr"/>
            <a:r>
              <a:rPr lang="ko-KR" altLang="en-US" sz="1200" dirty="0"/>
              <a:t>≡</a:t>
            </a:r>
          </a:p>
        </p:txBody>
      </p:sp>
      <p:grpSp>
        <p:nvGrpSpPr>
          <p:cNvPr id="76" name="그룹 75">
            <a:extLst>
              <a:ext uri="{FF2B5EF4-FFF2-40B4-BE49-F238E27FC236}">
                <a16:creationId xmlns:a16="http://schemas.microsoft.com/office/drawing/2014/main" id="{22BC05EE-C648-7CA2-4CCC-6E1C1A7E9BDA}"/>
              </a:ext>
            </a:extLst>
          </p:cNvPr>
          <p:cNvGrpSpPr/>
          <p:nvPr/>
        </p:nvGrpSpPr>
        <p:grpSpPr>
          <a:xfrm>
            <a:off x="5119672" y="4874158"/>
            <a:ext cx="76863" cy="292489"/>
            <a:chOff x="3750067" y="4683795"/>
            <a:chExt cx="76863" cy="292489"/>
          </a:xfrm>
        </p:grpSpPr>
        <p:sp>
          <p:nvSpPr>
            <p:cNvPr id="77" name="타원 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8" name="타원 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9" name="타원 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80" name="모서리가 둥근 직사각형 79"/>
          <p:cNvSpPr/>
          <p:nvPr/>
        </p:nvSpPr>
        <p:spPr>
          <a:xfrm>
            <a:off x="3908152"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82" name="TextBox 58">
            <a:extLst>
              <a:ext uri="{FF2B5EF4-FFF2-40B4-BE49-F238E27FC236}">
                <a16:creationId xmlns:a16="http://schemas.microsoft.com/office/drawing/2014/main" id="{02FC114B-B48B-345F-BD70-2B5A196F5B3E}"/>
              </a:ext>
            </a:extLst>
          </p:cNvPr>
          <p:cNvSpPr txBox="1"/>
          <p:nvPr/>
        </p:nvSpPr>
        <p:spPr>
          <a:xfrm>
            <a:off x="4209534"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3802090"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4" name="TextBox 58">
            <a:extLst>
              <a:ext uri="{FF2B5EF4-FFF2-40B4-BE49-F238E27FC236}">
                <a16:creationId xmlns:a16="http://schemas.microsoft.com/office/drawing/2014/main" id="{02FC114B-B48B-345F-BD70-2B5A196F5B3E}"/>
              </a:ext>
            </a:extLst>
          </p:cNvPr>
          <p:cNvSpPr txBox="1"/>
          <p:nvPr/>
        </p:nvSpPr>
        <p:spPr>
          <a:xfrm>
            <a:off x="3899316"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85" name="직선 연결선 84">
            <a:extLst>
              <a:ext uri="{FF2B5EF4-FFF2-40B4-BE49-F238E27FC236}">
                <a16:creationId xmlns:a16="http://schemas.microsoft.com/office/drawing/2014/main" id="{E9293055-D5CD-4B9E-7F64-64B2D2CA7A52}"/>
              </a:ext>
            </a:extLst>
          </p:cNvPr>
          <p:cNvCxnSpPr/>
          <p:nvPr/>
        </p:nvCxnSpPr>
        <p:spPr>
          <a:xfrm>
            <a:off x="3802090"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58">
            <a:extLst>
              <a:ext uri="{FF2B5EF4-FFF2-40B4-BE49-F238E27FC236}">
                <a16:creationId xmlns:a16="http://schemas.microsoft.com/office/drawing/2014/main" id="{02FC114B-B48B-345F-BD70-2B5A196F5B3E}"/>
              </a:ext>
            </a:extLst>
          </p:cNvPr>
          <p:cNvSpPr txBox="1"/>
          <p:nvPr/>
        </p:nvSpPr>
        <p:spPr>
          <a:xfrm>
            <a:off x="4107311"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87" name="TextBox 86">
            <a:extLst>
              <a:ext uri="{FF2B5EF4-FFF2-40B4-BE49-F238E27FC236}">
                <a16:creationId xmlns:a16="http://schemas.microsoft.com/office/drawing/2014/main" id="{02FC114B-B48B-345F-BD70-2B5A196F5B3E}"/>
              </a:ext>
            </a:extLst>
          </p:cNvPr>
          <p:cNvSpPr txBox="1"/>
          <p:nvPr/>
        </p:nvSpPr>
        <p:spPr>
          <a:xfrm>
            <a:off x="4089407"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88" name="직선 연결선 87">
            <a:extLst>
              <a:ext uri="{FF2B5EF4-FFF2-40B4-BE49-F238E27FC236}">
                <a16:creationId xmlns:a16="http://schemas.microsoft.com/office/drawing/2014/main" id="{E9293055-D5CD-4B9E-7F64-64B2D2CA7A52}"/>
              </a:ext>
            </a:extLst>
          </p:cNvPr>
          <p:cNvCxnSpPr/>
          <p:nvPr/>
        </p:nvCxnSpPr>
        <p:spPr>
          <a:xfrm>
            <a:off x="3802090"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9" name="TextBox 58">
            <a:extLst>
              <a:ext uri="{FF2B5EF4-FFF2-40B4-BE49-F238E27FC236}">
                <a16:creationId xmlns:a16="http://schemas.microsoft.com/office/drawing/2014/main" id="{02FC114B-B48B-345F-BD70-2B5A196F5B3E}"/>
              </a:ext>
            </a:extLst>
          </p:cNvPr>
          <p:cNvSpPr txBox="1"/>
          <p:nvPr/>
        </p:nvSpPr>
        <p:spPr>
          <a:xfrm>
            <a:off x="4336596"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0" name="TextBox 58">
            <a:extLst>
              <a:ext uri="{FF2B5EF4-FFF2-40B4-BE49-F238E27FC236}">
                <a16:creationId xmlns:a16="http://schemas.microsoft.com/office/drawing/2014/main" id="{02FC114B-B48B-345F-BD70-2B5A196F5B3E}"/>
              </a:ext>
            </a:extLst>
          </p:cNvPr>
          <p:cNvSpPr txBox="1"/>
          <p:nvPr/>
        </p:nvSpPr>
        <p:spPr>
          <a:xfrm>
            <a:off x="4089407"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3802090"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TextBox 58">
            <a:extLst>
              <a:ext uri="{FF2B5EF4-FFF2-40B4-BE49-F238E27FC236}">
                <a16:creationId xmlns:a16="http://schemas.microsoft.com/office/drawing/2014/main" id="{02FC114B-B48B-345F-BD70-2B5A196F5B3E}"/>
              </a:ext>
            </a:extLst>
          </p:cNvPr>
          <p:cNvSpPr txBox="1"/>
          <p:nvPr/>
        </p:nvSpPr>
        <p:spPr>
          <a:xfrm>
            <a:off x="4336596"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5" name="TextBox 58">
            <a:extLst>
              <a:ext uri="{FF2B5EF4-FFF2-40B4-BE49-F238E27FC236}">
                <a16:creationId xmlns:a16="http://schemas.microsoft.com/office/drawing/2014/main" id="{02FC114B-B48B-345F-BD70-2B5A196F5B3E}"/>
              </a:ext>
            </a:extLst>
          </p:cNvPr>
          <p:cNvSpPr txBox="1"/>
          <p:nvPr/>
        </p:nvSpPr>
        <p:spPr>
          <a:xfrm>
            <a:off x="4089407"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3802090"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TextBox 58">
            <a:extLst>
              <a:ext uri="{FF2B5EF4-FFF2-40B4-BE49-F238E27FC236}">
                <a16:creationId xmlns:a16="http://schemas.microsoft.com/office/drawing/2014/main" id="{02FC114B-B48B-345F-BD70-2B5A196F5B3E}"/>
              </a:ext>
            </a:extLst>
          </p:cNvPr>
          <p:cNvSpPr txBox="1"/>
          <p:nvPr/>
        </p:nvSpPr>
        <p:spPr>
          <a:xfrm>
            <a:off x="4336596"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101" name="TextBox 58">
            <a:extLst>
              <a:ext uri="{FF2B5EF4-FFF2-40B4-BE49-F238E27FC236}">
                <a16:creationId xmlns:a16="http://schemas.microsoft.com/office/drawing/2014/main" id="{02FC114B-B48B-345F-BD70-2B5A196F5B3E}"/>
              </a:ext>
            </a:extLst>
          </p:cNvPr>
          <p:cNvSpPr txBox="1"/>
          <p:nvPr/>
        </p:nvSpPr>
        <p:spPr>
          <a:xfrm>
            <a:off x="4089407"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8" name="직선 연결선 107">
            <a:extLst>
              <a:ext uri="{FF2B5EF4-FFF2-40B4-BE49-F238E27FC236}">
                <a16:creationId xmlns:a16="http://schemas.microsoft.com/office/drawing/2014/main" id="{E9293055-D5CD-4B9E-7F64-64B2D2CA7A52}"/>
              </a:ext>
            </a:extLst>
          </p:cNvPr>
          <p:cNvCxnSpPr/>
          <p:nvPr/>
        </p:nvCxnSpPr>
        <p:spPr>
          <a:xfrm>
            <a:off x="3802090"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58">
            <a:extLst>
              <a:ext uri="{FF2B5EF4-FFF2-40B4-BE49-F238E27FC236}">
                <a16:creationId xmlns:a16="http://schemas.microsoft.com/office/drawing/2014/main" id="{02FC114B-B48B-345F-BD70-2B5A196F5B3E}"/>
              </a:ext>
            </a:extLst>
          </p:cNvPr>
          <p:cNvSpPr txBox="1"/>
          <p:nvPr/>
        </p:nvSpPr>
        <p:spPr>
          <a:xfrm>
            <a:off x="4336596"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802090"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1" name="TextBox 110">
            <a:extLst>
              <a:ext uri="{FF2B5EF4-FFF2-40B4-BE49-F238E27FC236}">
                <a16:creationId xmlns:a16="http://schemas.microsoft.com/office/drawing/2014/main" id="{FFC49AEA-2A8F-250C-A86A-A7751D9706C3}"/>
              </a:ext>
            </a:extLst>
          </p:cNvPr>
          <p:cNvSpPr txBox="1"/>
          <p:nvPr/>
        </p:nvSpPr>
        <p:spPr>
          <a:xfrm>
            <a:off x="4146505"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12" name="타원 111"/>
          <p:cNvSpPr/>
          <p:nvPr/>
        </p:nvSpPr>
        <p:spPr>
          <a:xfrm>
            <a:off x="3910377"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a:off x="6270239" y="2279636"/>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7" name="사각형: 둥근 모서리 31">
            <a:extLst>
              <a:ext uri="{FF2B5EF4-FFF2-40B4-BE49-F238E27FC236}">
                <a16:creationId xmlns:a16="http://schemas.microsoft.com/office/drawing/2014/main" id="{2AC143EE-93CF-3518-F0CB-8469E98507E0}"/>
              </a:ext>
            </a:extLst>
          </p:cNvPr>
          <p:cNvSpPr/>
          <p:nvPr/>
        </p:nvSpPr>
        <p:spPr>
          <a:xfrm>
            <a:off x="3912489" y="3028158"/>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18" name="사각형: 둥근 모서리 31">
            <a:extLst>
              <a:ext uri="{FF2B5EF4-FFF2-40B4-BE49-F238E27FC236}">
                <a16:creationId xmlns:a16="http://schemas.microsoft.com/office/drawing/2014/main" id="{2AC143EE-93CF-3518-F0CB-8469E98507E0}"/>
              </a:ext>
            </a:extLst>
          </p:cNvPr>
          <p:cNvSpPr/>
          <p:nvPr/>
        </p:nvSpPr>
        <p:spPr>
          <a:xfrm>
            <a:off x="3912489" y="3444097"/>
            <a:ext cx="108000" cy="108000"/>
          </a:xfrm>
          <a:prstGeom prst="roundRect">
            <a:avLst/>
          </a:prstGeom>
          <a:solidFill>
            <a:srgbClr val="0070C0"/>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en-US" sz="700" b="1" i="0" u="none" strike="noStrike" kern="0" cap="none" spc="0" normalizeH="0" baseline="0" noProof="0" dirty="0" smtClean="0">
                <a:ln>
                  <a:noFill/>
                </a:ln>
                <a:solidFill>
                  <a:schemeClr val="bg1"/>
                </a:solidFill>
                <a:effectLst/>
                <a:uLnTx/>
                <a:uFillTx/>
                <a:latin typeface="맑은 고딕"/>
              </a:rPr>
              <a:t>V</a:t>
            </a:r>
            <a:endParaRPr kumimoji="1" lang="en-US" sz="700" b="1" i="0" u="none" strike="noStrike" kern="0" cap="none" spc="0" normalizeH="0" baseline="0" noProof="0" dirty="0">
              <a:ln>
                <a:noFill/>
              </a:ln>
              <a:solidFill>
                <a:schemeClr val="bg1"/>
              </a:solidFill>
              <a:effectLst/>
              <a:uLnTx/>
              <a:uFillTx/>
              <a:latin typeface="맑은 고딕"/>
            </a:endParaRPr>
          </a:p>
        </p:txBody>
      </p:sp>
      <p:sp>
        <p:nvSpPr>
          <p:cNvPr id="119" name="사각형: 둥근 모서리 31">
            <a:extLst>
              <a:ext uri="{FF2B5EF4-FFF2-40B4-BE49-F238E27FC236}">
                <a16:creationId xmlns:a16="http://schemas.microsoft.com/office/drawing/2014/main" id="{2AC143EE-93CF-3518-F0CB-8469E98507E0}"/>
              </a:ext>
            </a:extLst>
          </p:cNvPr>
          <p:cNvSpPr/>
          <p:nvPr/>
        </p:nvSpPr>
        <p:spPr>
          <a:xfrm>
            <a:off x="3912489" y="3861946"/>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0" name="사각형: 둥근 모서리 31">
            <a:extLst>
              <a:ext uri="{FF2B5EF4-FFF2-40B4-BE49-F238E27FC236}">
                <a16:creationId xmlns:a16="http://schemas.microsoft.com/office/drawing/2014/main" id="{2AC143EE-93CF-3518-F0CB-8469E98507E0}"/>
              </a:ext>
            </a:extLst>
          </p:cNvPr>
          <p:cNvSpPr/>
          <p:nvPr/>
        </p:nvSpPr>
        <p:spPr>
          <a:xfrm>
            <a:off x="3912489" y="4277885"/>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1" name="타원 120">
            <a:extLst>
              <a:ext uri="{FF2B5EF4-FFF2-40B4-BE49-F238E27FC236}">
                <a16:creationId xmlns:a16="http://schemas.microsoft.com/office/drawing/2014/main" id="{37A7FF4F-0EAA-1463-560A-D5EC24416103}"/>
              </a:ext>
            </a:extLst>
          </p:cNvPr>
          <p:cNvSpPr/>
          <p:nvPr/>
        </p:nvSpPr>
        <p:spPr>
          <a:xfrm>
            <a:off x="3726896" y="141389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22" name="타원 121">
            <a:extLst>
              <a:ext uri="{FF2B5EF4-FFF2-40B4-BE49-F238E27FC236}">
                <a16:creationId xmlns:a16="http://schemas.microsoft.com/office/drawing/2014/main" id="{37A7FF4F-0EAA-1463-560A-D5EC24416103}"/>
              </a:ext>
            </a:extLst>
          </p:cNvPr>
          <p:cNvSpPr/>
          <p:nvPr/>
        </p:nvSpPr>
        <p:spPr>
          <a:xfrm>
            <a:off x="3726896" y="278359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23" name="타원 122">
            <a:extLst>
              <a:ext uri="{FF2B5EF4-FFF2-40B4-BE49-F238E27FC236}">
                <a16:creationId xmlns:a16="http://schemas.microsoft.com/office/drawing/2014/main" id="{37A7FF4F-0EAA-1463-560A-D5EC24416103}"/>
              </a:ext>
            </a:extLst>
          </p:cNvPr>
          <p:cNvSpPr/>
          <p:nvPr/>
        </p:nvSpPr>
        <p:spPr>
          <a:xfrm>
            <a:off x="3726896"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2934050960"/>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090845" y="1493927"/>
            <a:ext cx="2300284" cy="4981517"/>
          </a:xfrm>
        </p:spPr>
        <p:txBody>
          <a:bodyPr/>
          <a:lstStyle/>
          <a:p>
            <a:pPr marL="228600" indent="-228600">
              <a:buFont typeface="+mj-lt"/>
              <a:buAutoNum type="arabicPeriod"/>
            </a:pPr>
            <a:r>
              <a:rPr lang="ko-KR" altLang="en-US" dirty="0" smtClean="0"/>
              <a:t>사전심사 승인 이후</a:t>
            </a:r>
            <a:r>
              <a:rPr lang="en-US" altLang="ko-KR" dirty="0" smtClean="0"/>
              <a:t/>
            </a:r>
            <a:br>
              <a:rPr lang="en-US" altLang="ko-KR" dirty="0" smtClean="0"/>
            </a:br>
            <a:r>
              <a:rPr lang="en-US" altLang="ko-KR" dirty="0" smtClean="0"/>
              <a:t>: </a:t>
            </a:r>
            <a:r>
              <a:rPr lang="ko-KR" altLang="en-US" dirty="0" smtClean="0"/>
              <a:t>입찰참가 신청서 제출 </a:t>
            </a:r>
            <a:r>
              <a:rPr lang="en-US" altLang="ko-KR" dirty="0" smtClean="0"/>
              <a:t>(</a:t>
            </a:r>
            <a:r>
              <a:rPr lang="en-US" altLang="ko-KR" dirty="0" smtClean="0">
                <a:solidFill>
                  <a:srgbClr val="000000"/>
                </a:solidFill>
                <a:latin typeface="맑은 고딕" panose="020B0503020000020004" pitchFamily="50" charset="-127"/>
              </a:rPr>
              <a:t>MUI-BD-02-M01)</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입찰서 제출 </a:t>
            </a:r>
            <a:r>
              <a:rPr lang="en-US" altLang="ko-KR" dirty="0" smtClean="0">
                <a:solidFill>
                  <a:srgbClr val="000000"/>
                </a:solidFill>
                <a:latin typeface="맑은 고딕" panose="020B0503020000020004" pitchFamily="50" charset="-127"/>
              </a:rPr>
              <a:t>(MUI-BD-06-M01</a:t>
            </a:r>
            <a:r>
              <a:rPr lang="en-US" altLang="ko-KR" dirty="0"/>
              <a:t>)</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157519" y="6596721"/>
            <a:ext cx="1258128" cy="216000"/>
          </a:xfrm>
        </p:spPr>
        <p:txBody>
          <a:bodyPr/>
          <a:lstStyle/>
          <a:p>
            <a:fld id="{34C8E023-7346-48FC-AB24-9A3388C53208}" type="slidenum">
              <a:rPr lang="ko-KR" altLang="en-US" smtClean="0"/>
              <a:pPr/>
              <a:t>202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사전심사</a:t>
            </a:r>
            <a:r>
              <a:rPr lang="en-US" altLang="ko-KR" dirty="0"/>
              <a:t>(PQ)</a:t>
            </a:r>
            <a:r>
              <a:rPr lang="ko-KR" altLang="en-US" dirty="0" err="1"/>
              <a:t>신청조회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smtClean="0">
                <a:latin typeface="+mn-ea"/>
              </a:rPr>
              <a:t>사전심사 결과를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사전심사</a:t>
            </a:r>
            <a:r>
              <a:rPr lang="en-US" altLang="ko-KR" dirty="0">
                <a:latin typeface="+mn-ea"/>
              </a:rPr>
              <a:t> </a:t>
            </a:r>
            <a:r>
              <a:rPr lang="ko-KR" altLang="en-US" dirty="0" err="1">
                <a:latin typeface="+mn-ea"/>
              </a:rPr>
              <a:t>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r>
              <a:rPr lang="en-US" altLang="ko-KR" dirty="0"/>
              <a:t>MUI-BD-02-M03</a:t>
            </a:r>
            <a:endParaRPr lang="ko-KR" altLang="en-US" dirty="0">
              <a:latin typeface="+mn-ea"/>
            </a:endParaRPr>
          </a:p>
        </p:txBody>
      </p:sp>
      <p:sp>
        <p:nvSpPr>
          <p:cNvPr id="123" name="직사각형 122"/>
          <p:cNvSpPr/>
          <p:nvPr/>
        </p:nvSpPr>
        <p:spPr>
          <a:xfrm>
            <a:off x="8223250" y="12069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2026-07-23 </a:t>
            </a:r>
            <a:r>
              <a:rPr lang="ko-KR" altLang="en-US" dirty="0" smtClean="0"/>
              <a:t>화면 추가</a:t>
            </a:r>
            <a:endParaRPr lang="ko-KR" altLang="en-US" dirty="0"/>
          </a:p>
        </p:txBody>
      </p:sp>
      <p:sp>
        <p:nvSpPr>
          <p:cNvPr id="125" name="직사각형 124"/>
          <p:cNvSpPr/>
          <p:nvPr/>
        </p:nvSpPr>
        <p:spPr>
          <a:xfrm>
            <a:off x="9906000" y="12069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사전심사신청내역조회</a:t>
            </a:r>
            <a:endParaRPr lang="en-US" altLang="ko-KR" sz="700" dirty="0" smtClean="0"/>
          </a:p>
        </p:txBody>
      </p:sp>
      <p:sp>
        <p:nvSpPr>
          <p:cNvPr id="185" name="TextBox 184">
            <a:extLst>
              <a:ext uri="{FF2B5EF4-FFF2-40B4-BE49-F238E27FC236}">
                <a16:creationId xmlns:a16="http://schemas.microsoft.com/office/drawing/2014/main" id="{FFC49AEA-2A8F-250C-A86A-A7751D9706C3}"/>
              </a:ext>
            </a:extLst>
          </p:cNvPr>
          <p:cNvSpPr txBox="1"/>
          <p:nvPr/>
        </p:nvSpPr>
        <p:spPr>
          <a:xfrm>
            <a:off x="712977" y="3860460"/>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sp>
        <p:nvSpPr>
          <p:cNvPr id="192" name="양쪽 모서리가 둥근 사각형 191"/>
          <p:cNvSpPr/>
          <p:nvPr/>
        </p:nvSpPr>
        <p:spPr>
          <a:xfrm>
            <a:off x="580783" y="3683975"/>
            <a:ext cx="2712027" cy="2548324"/>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3" name="모서리가 둥근 직사각형 192"/>
          <p:cNvSpPr/>
          <p:nvPr/>
        </p:nvSpPr>
        <p:spPr>
          <a:xfrm>
            <a:off x="1666796" y="3720602"/>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94" name="그룹 193"/>
          <p:cNvGrpSpPr/>
          <p:nvPr/>
        </p:nvGrpSpPr>
        <p:grpSpPr>
          <a:xfrm>
            <a:off x="3069722" y="3855018"/>
            <a:ext cx="94010" cy="94010"/>
            <a:chOff x="6812560" y="3297172"/>
            <a:chExt cx="94010" cy="94010"/>
          </a:xfrm>
        </p:grpSpPr>
        <p:cxnSp>
          <p:nvCxnSpPr>
            <p:cNvPr id="195" name="직선 연결선 194"/>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6" name="직선 연결선 195"/>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709860" y="3835697"/>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98" name="직선 연결선 197">
            <a:extLst>
              <a:ext uri="{FF2B5EF4-FFF2-40B4-BE49-F238E27FC236}">
                <a16:creationId xmlns:a16="http://schemas.microsoft.com/office/drawing/2014/main" id="{E9293055-D5CD-4B9E-7F64-64B2D2CA7A52}"/>
              </a:ext>
            </a:extLst>
          </p:cNvPr>
          <p:cNvCxnSpPr/>
          <p:nvPr/>
        </p:nvCxnSpPr>
        <p:spPr>
          <a:xfrm>
            <a:off x="580783" y="40970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모서리가 둥근 직사각형 40">
            <a:extLst>
              <a:ext uri="{FF2B5EF4-FFF2-40B4-BE49-F238E27FC236}">
                <a16:creationId xmlns:a16="http://schemas.microsoft.com/office/drawing/2014/main" id="{3BE5C28A-F0C3-8BA2-3AC1-EFA405ADE137}"/>
              </a:ext>
            </a:extLst>
          </p:cNvPr>
          <p:cNvSpPr/>
          <p:nvPr/>
        </p:nvSpPr>
        <p:spPr bwMode="auto">
          <a:xfrm>
            <a:off x="673086" y="420938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ea typeface="맑은 고딕" panose="020B0503020000020004" pitchFamily="50" charset="-127"/>
              </a:rPr>
              <a:t>입찰참가신청서제출</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200" name="모서리가 둥근 직사각형 40">
            <a:extLst>
              <a:ext uri="{FF2B5EF4-FFF2-40B4-BE49-F238E27FC236}">
                <a16:creationId xmlns:a16="http://schemas.microsoft.com/office/drawing/2014/main" id="{3BE5C28A-F0C3-8BA2-3AC1-EFA405ADE137}"/>
              </a:ext>
            </a:extLst>
          </p:cNvPr>
          <p:cNvSpPr/>
          <p:nvPr/>
        </p:nvSpPr>
        <p:spPr bwMode="auto">
          <a:xfrm>
            <a:off x="673086" y="450863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입찰서제출</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203" name="사각형: 둥근 모서리 15">
            <a:extLst>
              <a:ext uri="{FF2B5EF4-FFF2-40B4-BE49-F238E27FC236}">
                <a16:creationId xmlns:a16="http://schemas.microsoft.com/office/drawing/2014/main" id="{E2B61CFB-AD16-68D0-8752-50D9C5E01971}"/>
              </a:ext>
            </a:extLst>
          </p:cNvPr>
          <p:cNvSpPr/>
          <p:nvPr/>
        </p:nvSpPr>
        <p:spPr>
          <a:xfrm>
            <a:off x="670525" y="5406390"/>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sp>
        <p:nvSpPr>
          <p:cNvPr id="205" name="직사각형 204">
            <a:extLst>
              <a:ext uri="{FF2B5EF4-FFF2-40B4-BE49-F238E27FC236}">
                <a16:creationId xmlns:a16="http://schemas.microsoft.com/office/drawing/2014/main" id="{F56F1743-11A0-EA94-9184-4E42C0A37F9C}"/>
              </a:ext>
            </a:extLst>
          </p:cNvPr>
          <p:cNvSpPr/>
          <p:nvPr/>
        </p:nvSpPr>
        <p:spPr>
          <a:xfrm>
            <a:off x="580783"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4" name="타원 203">
            <a:extLst>
              <a:ext uri="{FF2B5EF4-FFF2-40B4-BE49-F238E27FC236}">
                <a16:creationId xmlns:a16="http://schemas.microsoft.com/office/drawing/2014/main" id="{37A7FF4F-0EAA-1463-560A-D5EC24416103}"/>
              </a:ext>
            </a:extLst>
          </p:cNvPr>
          <p:cNvSpPr/>
          <p:nvPr/>
        </p:nvSpPr>
        <p:spPr>
          <a:xfrm>
            <a:off x="575376" y="41734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grpSp>
        <p:nvGrpSpPr>
          <p:cNvPr id="35" name="그룹 34"/>
          <p:cNvGrpSpPr/>
          <p:nvPr/>
        </p:nvGrpSpPr>
        <p:grpSpPr>
          <a:xfrm>
            <a:off x="575376" y="1495300"/>
            <a:ext cx="2712027" cy="1050426"/>
            <a:chOff x="683438" y="2829979"/>
            <a:chExt cx="2712027" cy="1050426"/>
          </a:xfrm>
        </p:grpSpPr>
        <p:cxnSp>
          <p:nvCxnSpPr>
            <p:cNvPr id="36" name="직선 연결선 35">
              <a:extLst>
                <a:ext uri="{FF2B5EF4-FFF2-40B4-BE49-F238E27FC236}">
                  <a16:creationId xmlns:a16="http://schemas.microsoft.com/office/drawing/2014/main" id="{E9293055-D5CD-4B9E-7F64-64B2D2CA7A52}"/>
                </a:ext>
              </a:extLst>
            </p:cNvPr>
            <p:cNvCxnSpPr/>
            <p:nvPr/>
          </p:nvCxnSpPr>
          <p:spPr>
            <a:xfrm>
              <a:off x="683438" y="28299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7" name="그룹 36"/>
            <p:cNvGrpSpPr/>
            <p:nvPr/>
          </p:nvGrpSpPr>
          <p:grpSpPr>
            <a:xfrm>
              <a:off x="732336" y="2902235"/>
              <a:ext cx="2630093" cy="978170"/>
              <a:chOff x="3844632" y="3774686"/>
              <a:chExt cx="2630093" cy="978170"/>
            </a:xfrm>
          </p:grpSpPr>
          <p:sp>
            <p:nvSpPr>
              <p:cNvPr id="38" name="TextBox 37">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ko-KR" altLang="en-US" sz="700" dirty="0">
                  <a:latin typeface="+mn-ea"/>
                </a:endParaRPr>
              </a:p>
            </p:txBody>
          </p:sp>
          <p:sp>
            <p:nvSpPr>
              <p:cNvPr id="39" name="직사각형 38"/>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0" name="직선 연결선 39">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1" name="TextBox 40">
                <a:extLst>
                  <a:ext uri="{FF2B5EF4-FFF2-40B4-BE49-F238E27FC236}">
                    <a16:creationId xmlns:a16="http://schemas.microsoft.com/office/drawing/2014/main" id="{FFC49AEA-2A8F-250C-A86A-A7751D9706C3}"/>
                  </a:ext>
                </a:extLst>
              </p:cNvPr>
              <p:cNvSpPr txBox="1"/>
              <p:nvPr/>
            </p:nvSpPr>
            <p:spPr>
              <a:xfrm>
                <a:off x="3933789" y="4082171"/>
                <a:ext cx="756848" cy="646331"/>
              </a:xfrm>
              <a:prstGeom prst="rect">
                <a:avLst/>
              </a:prstGeom>
              <a:noFill/>
            </p:spPr>
            <p:txBody>
              <a:bodyPr wrap="square" lIns="0" tIns="0" rIns="0" bIns="0" rtlCol="0">
                <a:spAutoFit/>
              </a:bodyPr>
              <a:lstStyle/>
              <a:p>
                <a:pPr>
                  <a:lnSpc>
                    <a:spcPct val="200000"/>
                  </a:lnSpc>
                </a:pPr>
                <a:r>
                  <a:rPr lang="ko-KR" altLang="en-US" sz="700" dirty="0" smtClean="0">
                    <a:latin typeface="+mn-ea"/>
                  </a:rPr>
                  <a:t>등록여부</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42" name="TextBox 41">
                <a:extLst>
                  <a:ext uri="{FF2B5EF4-FFF2-40B4-BE49-F238E27FC236}">
                    <a16:creationId xmlns:a16="http://schemas.microsoft.com/office/drawing/2014/main" id="{FFC49AEA-2A8F-250C-A86A-A7751D9706C3}"/>
                  </a:ext>
                </a:extLst>
              </p:cNvPr>
              <p:cNvSpPr txBox="1"/>
              <p:nvPr/>
            </p:nvSpPr>
            <p:spPr>
              <a:xfrm>
                <a:off x="4690637" y="4082171"/>
                <a:ext cx="1784088" cy="646331"/>
              </a:xfrm>
              <a:prstGeom prst="rect">
                <a:avLst/>
              </a:prstGeom>
              <a:noFill/>
            </p:spPr>
            <p:txBody>
              <a:bodyPr wrap="square" lIns="0" tIns="0" rIns="0" bIns="0" rtlCol="0">
                <a:spAutoFit/>
              </a:bodyPr>
              <a:lstStyle/>
              <a:p>
                <a:pPr>
                  <a:lnSpc>
                    <a:spcPct val="200000"/>
                  </a:lnSpc>
                </a:pPr>
                <a:r>
                  <a:rPr lang="ko-KR" altLang="en-US" sz="700" dirty="0" err="1" smtClean="0"/>
                  <a:t>등록확정</a:t>
                </a:r>
                <a:endParaRPr lang="en-US" altLang="ko-KR" sz="700" dirty="0" smtClean="0"/>
              </a:p>
              <a:p>
                <a:pPr>
                  <a:lnSpc>
                    <a:spcPct val="200000"/>
                  </a:lnSpc>
                </a:pPr>
                <a:r>
                  <a:rPr lang="en-US" altLang="ko-KR" sz="700" dirty="0" smtClean="0">
                    <a:latin typeface="+mn-ea"/>
                  </a:rPr>
                  <a:t>-</a:t>
                </a:r>
              </a:p>
              <a:p>
                <a:pPr>
                  <a:lnSpc>
                    <a:spcPct val="200000"/>
                  </a:lnSpc>
                </a:pPr>
                <a:r>
                  <a:rPr lang="en-US" altLang="ko-KR" sz="700" dirty="0" smtClean="0">
                    <a:latin typeface="+mn-ea"/>
                  </a:rPr>
                  <a:t>2026-11-20</a:t>
                </a:r>
                <a:endParaRPr lang="en-US" altLang="ko-KR" sz="700" dirty="0">
                  <a:latin typeface="+mn-ea"/>
                </a:endParaRPr>
              </a:p>
            </p:txBody>
          </p:sp>
          <p:cxnSp>
            <p:nvCxnSpPr>
              <p:cNvPr id="43" name="직선 연결선 42">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4" name="직선 연결선 43">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5" name="직선 연결선 44">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Tree>
    <p:extLst>
      <p:ext uri="{BB962C8B-B14F-4D97-AF65-F5344CB8AC3E}">
        <p14:creationId xmlns:p14="http://schemas.microsoft.com/office/powerpoint/2010/main" val="3801996465"/>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203</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11. </a:t>
            </a:r>
            <a:r>
              <a:rPr lang="ko-KR" altLang="en-US" dirty="0" err="1"/>
              <a:t>입찰진행</a:t>
            </a:r>
            <a:r>
              <a:rPr lang="ko-KR" altLang="en-US" dirty="0"/>
              <a:t> </a:t>
            </a:r>
            <a:r>
              <a:rPr lang="ko-KR" altLang="en-US" dirty="0" smtClean="0"/>
              <a:t>상세 </a:t>
            </a:r>
            <a:r>
              <a:rPr lang="en-US" altLang="ko-KR" dirty="0" smtClean="0"/>
              <a:t>– </a:t>
            </a:r>
            <a:r>
              <a:rPr lang="ko-KR" altLang="en-US" dirty="0" smtClean="0"/>
              <a:t>입찰등록심사결과조회</a:t>
            </a:r>
            <a:endParaRPr lang="en-US" altLang="ko-KR" dirty="0" smtClean="0"/>
          </a:p>
          <a:p>
            <a:r>
              <a:rPr lang="en-US" altLang="ko-KR" dirty="0" smtClean="0"/>
              <a:t>11.1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466276778"/>
              </p:ext>
            </p:extLst>
          </p:nvPr>
        </p:nvGraphicFramePr>
        <p:xfrm>
          <a:off x="635474" y="1413419"/>
          <a:ext cx="8701200" cy="6793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MUI-BD-03-M05</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smtClean="0">
                          <a:solidFill>
                            <a:srgbClr val="000000"/>
                          </a:solidFill>
                          <a:effectLst/>
                          <a:latin typeface="맑은 고딕" panose="020B0503020000020004" pitchFamily="50" charset="-127"/>
                          <a:ea typeface="+mn-ea"/>
                          <a:cs typeface="+mn-cs"/>
                        </a:rPr>
                        <a:t>입찰등록결과</a:t>
                      </a:r>
                      <a:endParaRPr lang="ko-KR" altLang="en-US" sz="8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BidRegRsltInqPage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신청 현황 및 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bidRtrcnAperInq</a:t>
                      </a:r>
                      <a:r>
                        <a:rPr lang="en-US" altLang="ko-KR" sz="900" dirty="0">
                          <a:solidFill>
                            <a:schemeClr val="tx1"/>
                          </a:solidFill>
                          <a:latin typeface="+mn-ea"/>
                          <a:ea typeface="+mn-ea"/>
                        </a:rPr>
                        <a:t>/</a:t>
                      </a:r>
                      <a:r>
                        <a:rPr lang="en-US" altLang="ko-KR" sz="900" dirty="0" err="1">
                          <a:solidFill>
                            <a:schemeClr val="tx1"/>
                          </a:solidFill>
                          <a:latin typeface="+mn-ea"/>
                          <a:ea typeface="+mn-ea"/>
                        </a:rPr>
                        <a:t>BidRegRsltInqPage.tsx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solidFill>
                            <a:schemeClr val="tx1"/>
                          </a:solidFill>
                          <a:latin typeface="+mn-ea"/>
                          <a:ea typeface="+mn-ea"/>
                        </a:rPr>
                        <a:t>UC-BD-02-01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2266485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업무도움</a:t>
            </a:r>
            <a:r>
              <a:rPr lang="ko-KR" altLang="en-US" dirty="0"/>
              <a:t> 내용이 있는 경우 표시</a:t>
            </a:r>
            <a:endParaRPr lang="en-US" altLang="ko-KR" dirty="0"/>
          </a:p>
          <a:p>
            <a:pPr marL="228600" indent="-228600">
              <a:buFont typeface="+mj-lt"/>
              <a:buAutoNum type="arabicPeriod"/>
            </a:pPr>
            <a:r>
              <a:rPr lang="ko-KR" altLang="en-US" dirty="0"/>
              <a:t>공고 일반 내용 표시</a:t>
            </a:r>
            <a:endParaRPr lang="en-US" altLang="ko-KR" dirty="0"/>
          </a:p>
          <a:p>
            <a:pPr marL="228600" indent="-228600">
              <a:buFont typeface="+mj-lt"/>
              <a:buAutoNum type="arabicPeriod"/>
            </a:pPr>
            <a:r>
              <a:rPr lang="ko-KR" altLang="en-US" dirty="0"/>
              <a:t>업체 내역 표시</a:t>
            </a:r>
            <a:endParaRPr lang="en-US" altLang="ko-KR" dirty="0"/>
          </a:p>
          <a:p>
            <a:pPr marL="228600" indent="-228600">
              <a:buFont typeface="+mj-lt"/>
              <a:buAutoNum type="arabicPeriod"/>
            </a:pPr>
            <a:r>
              <a:rPr lang="ko-KR" altLang="en-US" dirty="0"/>
              <a:t>입찰보증금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t>입찰등록결과</a:t>
            </a:r>
            <a:endParaRPr lang="en-US" altLang="ko-KR" dirty="0" smtClean="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입찰등록심사 결과를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입찰등록심사 </a:t>
            </a:r>
            <a:r>
              <a:rPr lang="ko-KR" altLang="en-US" dirty="0" err="1">
                <a:latin typeface="+mn-ea"/>
              </a:rPr>
              <a:t>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18451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1936620"/>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28061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2498651"/>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252999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2611982"/>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3" name="TextBox 152">
            <a:extLst>
              <a:ext uri="{FF2B5EF4-FFF2-40B4-BE49-F238E27FC236}">
                <a16:creationId xmlns:a16="http://schemas.microsoft.com/office/drawing/2014/main" id="{FFC49AEA-2A8F-250C-A86A-A7751D9706C3}"/>
              </a:ext>
            </a:extLst>
          </p:cNvPr>
          <p:cNvSpPr txBox="1"/>
          <p:nvPr/>
        </p:nvSpPr>
        <p:spPr>
          <a:xfrm>
            <a:off x="781109" y="2849748"/>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157233"/>
            <a:ext cx="792000" cy="235867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157233"/>
            <a:ext cx="792000"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적격심사</a:t>
            </a:r>
            <a:endParaRPr lang="en-US" altLang="ko-KR" sz="700" dirty="0">
              <a:latin typeface="+mn-ea"/>
            </a:endParaRPr>
          </a:p>
          <a:p>
            <a:pPr>
              <a:lnSpc>
                <a:spcPct val="200000"/>
              </a:lnSpc>
            </a:pPr>
            <a:r>
              <a:rPr lang="ko-KR" altLang="en-US" sz="700" dirty="0" err="1" smtClean="0">
                <a:latin typeface="+mn-ea"/>
              </a:rPr>
              <a:t>개찰일시</a:t>
            </a:r>
            <a:endParaRPr lang="en-US" altLang="ko-KR" sz="700" dirty="0" smtClean="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157233"/>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grpSp>
        <p:nvGrpSpPr>
          <p:cNvPr id="166" name="그룹 165"/>
          <p:cNvGrpSpPr/>
          <p:nvPr/>
        </p:nvGrpSpPr>
        <p:grpSpPr>
          <a:xfrm>
            <a:off x="720139" y="3157233"/>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16668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입찰등록심사 </a:t>
            </a:r>
            <a:r>
              <a:rPr lang="ko-KR" altLang="en-US" sz="800" dirty="0" err="1">
                <a:latin typeface="+mn-ea"/>
              </a:rPr>
              <a:t>결과조회</a:t>
            </a:r>
            <a:endParaRPr lang="ko-KR" altLang="en-US" sz="800" dirty="0">
              <a:latin typeface="+mn-ea"/>
            </a:endParaRPr>
          </a:p>
        </p:txBody>
      </p:sp>
      <p:grpSp>
        <p:nvGrpSpPr>
          <p:cNvPr id="113" name="그룹 112"/>
          <p:cNvGrpSpPr/>
          <p:nvPr/>
        </p:nvGrpSpPr>
        <p:grpSpPr>
          <a:xfrm rot="5400000">
            <a:off x="755013" y="1640499"/>
            <a:ext cx="94010" cy="47005"/>
            <a:chOff x="6812560" y="3297172"/>
            <a:chExt cx="94010" cy="47005"/>
          </a:xfrm>
        </p:grpSpPr>
        <p:cxnSp>
          <p:nvCxnSpPr>
            <p:cNvPr id="119" name="직선 연결선 1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5" name="타원 124"/>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타원 115">
            <a:extLst>
              <a:ext uri="{FF2B5EF4-FFF2-40B4-BE49-F238E27FC236}">
                <a16:creationId xmlns:a16="http://schemas.microsoft.com/office/drawing/2014/main" id="{37A7FF4F-0EAA-1463-560A-D5EC24416103}"/>
              </a:ext>
            </a:extLst>
          </p:cNvPr>
          <p:cNvSpPr/>
          <p:nvPr/>
        </p:nvSpPr>
        <p:spPr>
          <a:xfrm>
            <a:off x="577700" y="253976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1" name="타원 150">
            <a:extLst>
              <a:ext uri="{FF2B5EF4-FFF2-40B4-BE49-F238E27FC236}">
                <a16:creationId xmlns:a16="http://schemas.microsoft.com/office/drawing/2014/main" id="{37A7FF4F-0EAA-1463-560A-D5EC24416103}"/>
              </a:ext>
            </a:extLst>
          </p:cNvPr>
          <p:cNvSpPr/>
          <p:nvPr/>
        </p:nvSpPr>
        <p:spPr>
          <a:xfrm>
            <a:off x="589334" y="289022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0" name="TextBox 149">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58" name="직사각형 15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5" name="그룹 194"/>
          <p:cNvGrpSpPr/>
          <p:nvPr/>
        </p:nvGrpSpPr>
        <p:grpSpPr>
          <a:xfrm>
            <a:off x="3844632" y="1542194"/>
            <a:ext cx="2630093" cy="1607125"/>
            <a:chOff x="3844632" y="3774686"/>
            <a:chExt cx="2630093" cy="1607125"/>
          </a:xfrm>
        </p:grpSpPr>
        <p:sp>
          <p:nvSpPr>
            <p:cNvPr id="196" name="TextBox 195">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97" name="직사각형 196"/>
            <p:cNvSpPr/>
            <p:nvPr/>
          </p:nvSpPr>
          <p:spPr>
            <a:xfrm>
              <a:off x="3846725" y="4082171"/>
              <a:ext cx="792000" cy="129096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8" name="직선 연결선 197">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3933789" y="4082171"/>
              <a:ext cx="756848" cy="1292662"/>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업체코드</a:t>
              </a:r>
              <a:endParaRPr lang="en-US" altLang="ko-KR" sz="700" dirty="0" smtClean="0">
                <a:latin typeface="+mn-ea"/>
              </a:endParaRPr>
            </a:p>
            <a:p>
              <a:pPr>
                <a:lnSpc>
                  <a:spcPct val="200000"/>
                </a:lnSpc>
              </a:pPr>
              <a:r>
                <a:rPr lang="ko-KR" altLang="en-US" sz="700" dirty="0" err="1" smtClean="0">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a:latin typeface="+mn-ea"/>
              </a:endParaRPr>
            </a:p>
            <a:p>
              <a:pPr>
                <a:lnSpc>
                  <a:spcPct val="200000"/>
                </a:lnSpc>
              </a:pPr>
              <a:r>
                <a:rPr lang="ko-KR" altLang="en-US" sz="700" dirty="0" smtClean="0">
                  <a:latin typeface="+mn-ea"/>
                </a:rPr>
                <a:t>사업자등록번호</a:t>
              </a:r>
              <a:endParaRPr lang="en-US" altLang="ko-KR" sz="700" dirty="0" smtClean="0">
                <a:latin typeface="+mn-ea"/>
              </a:endParaRPr>
            </a:p>
            <a:p>
              <a:pPr>
                <a:lnSpc>
                  <a:spcPct val="200000"/>
                </a:lnSpc>
              </a:pPr>
              <a:r>
                <a:rPr lang="ko-KR" altLang="en-US" sz="700" dirty="0" smtClean="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4690637" y="4082171"/>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a:latin typeface="+mn-ea"/>
              </a:endParaRPr>
            </a:p>
            <a:p>
              <a:pPr>
                <a:lnSpc>
                  <a:spcPct val="200000"/>
                </a:lnSpc>
              </a:pPr>
              <a:r>
                <a:rPr lang="en-US" altLang="ko-KR" sz="700" dirty="0" smtClean="0">
                  <a:latin typeface="+mn-ea"/>
                </a:rPr>
                <a:t>123-56-78901</a:t>
              </a: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ko-KR" altLang="en-US" sz="700" dirty="0">
                  <a:latin typeface="+mn-ea"/>
                </a:rPr>
                <a:t>서울특별시 </a:t>
              </a:r>
              <a:r>
                <a:rPr lang="en-US" altLang="ko-KR" sz="700" dirty="0">
                  <a:latin typeface="+mn-ea"/>
                </a:rPr>
                <a:t>…</a:t>
              </a: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08" name="직선 연결선 207">
            <a:extLst>
              <a:ext uri="{FF2B5EF4-FFF2-40B4-BE49-F238E27FC236}">
                <a16:creationId xmlns:a16="http://schemas.microsoft.com/office/drawing/2014/main" id="{E9293055-D5CD-4B9E-7F64-64B2D2CA7A52}"/>
              </a:ext>
            </a:extLst>
          </p:cNvPr>
          <p:cNvCxnSpPr/>
          <p:nvPr/>
        </p:nvCxnSpPr>
        <p:spPr>
          <a:xfrm>
            <a:off x="3795734" y="34980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9" name="타원 208">
            <a:extLst>
              <a:ext uri="{FF2B5EF4-FFF2-40B4-BE49-F238E27FC236}">
                <a16:creationId xmlns:a16="http://schemas.microsoft.com/office/drawing/2014/main" id="{37A7FF4F-0EAA-1463-560A-D5EC24416103}"/>
              </a:ext>
            </a:extLst>
          </p:cNvPr>
          <p:cNvSpPr/>
          <p:nvPr/>
        </p:nvSpPr>
        <p:spPr>
          <a:xfrm>
            <a:off x="3711091" y="157086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213" name="그룹 212"/>
          <p:cNvGrpSpPr/>
          <p:nvPr/>
        </p:nvGrpSpPr>
        <p:grpSpPr>
          <a:xfrm>
            <a:off x="3844632" y="3570349"/>
            <a:ext cx="2630093" cy="1182048"/>
            <a:chOff x="3844632" y="3774686"/>
            <a:chExt cx="2630093" cy="1182048"/>
          </a:xfrm>
        </p:grpSpPr>
        <p:sp>
          <p:nvSpPr>
            <p:cNvPr id="214" name="TextBox 213">
              <a:extLst>
                <a:ext uri="{FF2B5EF4-FFF2-40B4-BE49-F238E27FC236}">
                  <a16:creationId xmlns:a16="http://schemas.microsoft.com/office/drawing/2014/main" id="{FFC49AEA-2A8F-250C-A86A-A7751D9706C3}"/>
                </a:ext>
              </a:extLst>
            </p:cNvPr>
            <p:cNvSpPr txBox="1"/>
            <p:nvPr/>
          </p:nvSpPr>
          <p:spPr>
            <a:xfrm>
              <a:off x="3905603" y="3774686"/>
              <a:ext cx="1586887" cy="181140"/>
            </a:xfrm>
            <a:prstGeom prst="rect">
              <a:avLst/>
            </a:prstGeom>
            <a:noFill/>
          </p:spPr>
          <p:txBody>
            <a:bodyPr wrap="square" lIns="0" tIns="0" rIns="0" bIns="0" rtlCol="0">
              <a:spAutoFit/>
            </a:bodyPr>
            <a:lstStyle/>
            <a:p>
              <a:pPr>
                <a:lnSpc>
                  <a:spcPct val="200000"/>
                </a:lnSpc>
              </a:pPr>
              <a:r>
                <a:rPr lang="ko-KR" altLang="en-US" sz="700" dirty="0" smtClean="0">
                  <a:latin typeface="+mn-ea"/>
                </a:rPr>
                <a:t>입찰보증금</a:t>
              </a:r>
              <a:endParaRPr lang="ko-KR" altLang="en-US" sz="700" dirty="0">
                <a:latin typeface="+mn-ea"/>
              </a:endParaRPr>
            </a:p>
          </p:txBody>
        </p:sp>
        <p:sp>
          <p:nvSpPr>
            <p:cNvPr id="215" name="직사각형 214"/>
            <p:cNvSpPr/>
            <p:nvPr/>
          </p:nvSpPr>
          <p:spPr>
            <a:xfrm>
              <a:off x="3846725" y="4082172"/>
              <a:ext cx="792000" cy="8745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6" name="직선 연결선 215">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933789" y="4082171"/>
              <a:ext cx="756848" cy="861774"/>
            </a:xfrm>
            <a:prstGeom prst="rect">
              <a:avLst/>
            </a:prstGeom>
            <a:noFill/>
          </p:spPr>
          <p:txBody>
            <a:bodyPr wrap="square" lIns="0" tIns="0" rIns="0" bIns="0" rtlCol="0">
              <a:spAutoFit/>
            </a:bodyPr>
            <a:lstStyle/>
            <a:p>
              <a:pPr>
                <a:lnSpc>
                  <a:spcPct val="200000"/>
                </a:lnSpc>
              </a:pPr>
              <a:r>
                <a:rPr lang="ko-KR" altLang="en-US" sz="700" dirty="0" smtClean="0">
                  <a:latin typeface="+mn-ea"/>
                </a:rPr>
                <a:t>보증금납부방법</a:t>
              </a:r>
              <a:r>
                <a:rPr lang="en-US" altLang="ko-KR" sz="700" dirty="0" smtClean="0">
                  <a:latin typeface="+mn-ea"/>
                </a:rPr>
                <a:t/>
              </a:r>
              <a:br>
                <a:rPr lang="en-US" altLang="ko-KR" sz="700" dirty="0" smtClean="0">
                  <a:latin typeface="+mn-ea"/>
                </a:rPr>
              </a:br>
              <a:r>
                <a:rPr lang="ko-KR" altLang="en-US" sz="700" dirty="0" smtClean="0">
                  <a:latin typeface="+mn-ea"/>
                </a:rPr>
                <a:t>보증금면제사유</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err="1" smtClean="0">
                  <a:latin typeface="+mn-ea"/>
                </a:rPr>
                <a:t>증권번호</a:t>
              </a:r>
              <a:endParaRPr lang="en-US" altLang="ko-KR" sz="700" dirty="0" smtClean="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4690637" y="4082171"/>
              <a:ext cx="1784088" cy="861774"/>
            </a:xfrm>
            <a:prstGeom prst="rect">
              <a:avLst/>
            </a:prstGeom>
            <a:noFill/>
          </p:spPr>
          <p:txBody>
            <a:bodyPr wrap="square" lIns="0" tIns="0" rIns="0" bIns="0" rtlCol="0">
              <a:spAutoFit/>
            </a:bodyPr>
            <a:lstStyle/>
            <a:p>
              <a:pPr>
                <a:lnSpc>
                  <a:spcPct val="200000"/>
                </a:lnSpc>
              </a:pPr>
              <a:r>
                <a:rPr lang="ko-KR" altLang="en-US" sz="700" dirty="0">
                  <a:latin typeface="+mn-ea"/>
                </a:rPr>
                <a:t>납부방법 표시</a:t>
              </a:r>
              <a:endParaRPr lang="en-US" altLang="ko-KR" sz="700" dirty="0">
                <a:latin typeface="+mn-ea"/>
              </a:endParaRPr>
            </a:p>
            <a:p>
              <a:pPr>
                <a:lnSpc>
                  <a:spcPct val="200000"/>
                </a:lnSpc>
              </a:pPr>
              <a:r>
                <a:rPr lang="ko-KR" altLang="en-US" sz="700" dirty="0">
                  <a:latin typeface="+mn-ea"/>
                </a:rPr>
                <a:t>면제사유 표시</a:t>
              </a:r>
              <a:endParaRPr lang="en-US" altLang="ko-KR" sz="700" dirty="0">
                <a:latin typeface="+mn-ea"/>
              </a:endParaRPr>
            </a:p>
            <a:p>
              <a:pPr algn="r">
                <a:lnSpc>
                  <a:spcPct val="200000"/>
                </a:lnSpc>
              </a:pPr>
              <a:r>
                <a:rPr lang="en-US" altLang="ko-KR" sz="700" dirty="0">
                  <a:latin typeface="+mn-ea"/>
                </a:rPr>
                <a:t>000,000,000,000</a:t>
              </a:r>
              <a:r>
                <a:rPr lang="ko-KR" altLang="en-US" sz="700" dirty="0">
                  <a:latin typeface="+mn-ea"/>
                </a:rPr>
                <a:t> 원</a:t>
              </a:r>
              <a:endParaRPr lang="en-US" altLang="ko-KR" sz="700" dirty="0">
                <a:latin typeface="+mn-ea"/>
              </a:endParaRPr>
            </a:p>
            <a:p>
              <a:pPr>
                <a:lnSpc>
                  <a:spcPct val="200000"/>
                </a:lnSpc>
              </a:pPr>
              <a:r>
                <a:rPr lang="en-US" altLang="ko-KR" sz="700" dirty="0">
                  <a:latin typeface="+mn-ea"/>
                </a:rPr>
                <a:t>0000 0000 0000</a:t>
              </a: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3846725" y="49567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22" name="타원 221">
            <a:extLst>
              <a:ext uri="{FF2B5EF4-FFF2-40B4-BE49-F238E27FC236}">
                <a16:creationId xmlns:a16="http://schemas.microsoft.com/office/drawing/2014/main" id="{37A7FF4F-0EAA-1463-560A-D5EC24416103}"/>
              </a:ext>
            </a:extLst>
          </p:cNvPr>
          <p:cNvSpPr/>
          <p:nvPr/>
        </p:nvSpPr>
        <p:spPr>
          <a:xfrm>
            <a:off x="3711091" y="360858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23" name="모서리가 둥근 직사각형 222"/>
          <p:cNvSpPr/>
          <p:nvPr/>
        </p:nvSpPr>
        <p:spPr>
          <a:xfrm rot="5400000">
            <a:off x="5782577" y="461283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86" name="그룹 85"/>
          <p:cNvGrpSpPr/>
          <p:nvPr/>
        </p:nvGrpSpPr>
        <p:grpSpPr>
          <a:xfrm>
            <a:off x="8223250" y="569392"/>
            <a:ext cx="3365500" cy="219465"/>
            <a:chOff x="8223250" y="569392"/>
            <a:chExt cx="3365500" cy="219465"/>
          </a:xfrm>
        </p:grpSpPr>
        <p:sp>
          <p:nvSpPr>
            <p:cNvPr id="87" name="직사각형 8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88" name="직사각형 87"/>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188145698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공동수급협정 </a:t>
            </a:r>
            <a:r>
              <a:rPr lang="ko-KR" altLang="en-US" dirty="0" err="1"/>
              <a:t>업체명</a:t>
            </a:r>
            <a:r>
              <a:rPr lang="en-US" altLang="ko-KR" dirty="0"/>
              <a:t>, </a:t>
            </a:r>
            <a:r>
              <a:rPr lang="ko-KR" altLang="en-US" dirty="0"/>
              <a:t>출자비율 표시</a:t>
            </a:r>
            <a:endParaRPr lang="en-US" altLang="ko-KR" dirty="0"/>
          </a:p>
          <a:p>
            <a:pPr marL="228600" indent="-228600">
              <a:buFont typeface="+mj-lt"/>
              <a:buAutoNum type="arabicPeriod"/>
            </a:pPr>
            <a:r>
              <a:rPr lang="ko-KR" altLang="en-US" dirty="0" err="1"/>
              <a:t>등록결과</a:t>
            </a:r>
            <a:r>
              <a:rPr lang="ko-KR" altLang="en-US" dirty="0"/>
              <a:t> </a:t>
            </a:r>
            <a:r>
              <a:rPr lang="ko-KR" altLang="en-US" dirty="0" smtClean="0"/>
              <a:t>표시</a:t>
            </a:r>
            <a:r>
              <a:rPr lang="en-US" altLang="ko-KR" dirty="0" smtClean="0"/>
              <a:t/>
            </a:r>
            <a:br>
              <a:rPr lang="en-US" altLang="ko-KR" dirty="0" smtClean="0"/>
            </a:br>
            <a:r>
              <a:rPr lang="en-US" altLang="ko-KR" dirty="0" smtClean="0"/>
              <a:t>- </a:t>
            </a:r>
            <a:r>
              <a:rPr lang="ko-KR" altLang="en-US" dirty="0" err="1" smtClean="0"/>
              <a:t>등록불가</a:t>
            </a:r>
            <a:r>
              <a:rPr lang="en-US" altLang="ko-KR" dirty="0" smtClean="0"/>
              <a:t>, </a:t>
            </a:r>
            <a:r>
              <a:rPr lang="ko-KR" altLang="en-US" dirty="0" err="1" smtClean="0"/>
              <a:t>등록확정</a:t>
            </a:r>
            <a:r>
              <a:rPr lang="en-US" altLang="ko-KR" dirty="0" smtClean="0"/>
              <a:t>, </a:t>
            </a:r>
            <a:r>
              <a:rPr lang="ko-KR" altLang="en-US" dirty="0" smtClean="0"/>
              <a:t>반려 로 나뉨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smtClean="0"/>
              <a:t>입찰등록결과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입찰등록심사 결과를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입찰등록심사 </a:t>
            </a:r>
            <a:r>
              <a:rPr lang="ko-KR" altLang="en-US" dirty="0" err="1">
                <a:latin typeface="+mn-ea"/>
              </a:rPr>
              <a:t>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r>
              <a:rPr lang="en-US" altLang="ko-KR" dirty="0">
                <a:latin typeface="+mn-ea"/>
              </a:rPr>
              <a:t>MUI-BD-03-M05</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65784" y="1561946"/>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공동수급협정</a:t>
            </a:r>
          </a:p>
        </p:txBody>
      </p:sp>
      <p:sp>
        <p:nvSpPr>
          <p:cNvPr id="118" name="모서리가 둥근 직사각형 117"/>
          <p:cNvSpPr/>
          <p:nvPr/>
        </p:nvSpPr>
        <p:spPr>
          <a:xfrm>
            <a:off x="719254" y="196033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TextBox 127">
            <a:extLst>
              <a:ext uri="{FF2B5EF4-FFF2-40B4-BE49-F238E27FC236}">
                <a16:creationId xmlns:a16="http://schemas.microsoft.com/office/drawing/2014/main" id="{FFC49AEA-2A8F-250C-A86A-A7751D9706C3}"/>
              </a:ext>
            </a:extLst>
          </p:cNvPr>
          <p:cNvSpPr txBox="1"/>
          <p:nvPr/>
        </p:nvSpPr>
        <p:spPr>
          <a:xfrm>
            <a:off x="1219922" y="203485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업체명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이행방심</a:t>
            </a:r>
            <a:r>
              <a:rPr lang="ko-KR" altLang="en-US" sz="700" dirty="0">
                <a:solidFill>
                  <a:schemeClr val="tx1">
                    <a:lumMod val="85000"/>
                    <a:lumOff val="15000"/>
                  </a:schemeClr>
                </a:solidFill>
                <a:latin typeface="맑은 고딕" panose="020B0503020000020004" pitchFamily="50" charset="-127"/>
              </a:rPr>
              <a:t> 내역</a:t>
            </a:r>
            <a:endParaRPr lang="en-US" altLang="ko-KR" sz="700" dirty="0">
              <a:solidFill>
                <a:schemeClr val="tx1">
                  <a:lumMod val="85000"/>
                  <a:lumOff val="15000"/>
                </a:schemeClr>
              </a:solidFill>
              <a:latin typeface="맑은 고딕" panose="020B0503020000020004" pitchFamily="50" charset="-127"/>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797450" y="2088714"/>
            <a:ext cx="247786" cy="107722"/>
          </a:xfrm>
          <a:prstGeom prst="rect">
            <a:avLst/>
          </a:prstGeom>
          <a:noFill/>
        </p:spPr>
        <p:txBody>
          <a:bodyPr wrap="square" lIns="0" tIns="0" rIns="0" bIns="0" rtlCol="0">
            <a:spAutoFit/>
          </a:bodyPr>
          <a:lstStyle/>
          <a:p>
            <a:pPr algn="ctr"/>
            <a:r>
              <a:rPr lang="ko-KR" altLang="en-US" sz="700" dirty="0">
                <a:solidFill>
                  <a:schemeClr val="tx1">
                    <a:lumMod val="85000"/>
                    <a:lumOff val="15000"/>
                  </a:schemeClr>
                </a:solidFill>
                <a:latin typeface="맑은 고딕" panose="020B0503020000020004" pitchFamily="50" charset="-127"/>
              </a:rPr>
              <a:t>대표</a:t>
            </a:r>
            <a:endParaRPr lang="en-US" altLang="ko-KR" sz="700" dirty="0">
              <a:solidFill>
                <a:schemeClr val="tx1">
                  <a:lumMod val="85000"/>
                  <a:lumOff val="15000"/>
                </a:schemeClr>
              </a:solidFill>
              <a:latin typeface="맑은 고딕" panose="020B0503020000020004" pitchFamily="50" charset="-127"/>
            </a:endParaRPr>
          </a:p>
        </p:txBody>
      </p:sp>
      <p:sp>
        <p:nvSpPr>
          <p:cNvPr id="132" name="모서리가 둥근 직사각형 131"/>
          <p:cNvSpPr/>
          <p:nvPr/>
        </p:nvSpPr>
        <p:spPr>
          <a:xfrm>
            <a:off x="719254" y="236701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TextBox 133">
            <a:extLst>
              <a:ext uri="{FF2B5EF4-FFF2-40B4-BE49-F238E27FC236}">
                <a16:creationId xmlns:a16="http://schemas.microsoft.com/office/drawing/2014/main" id="{FFC49AEA-2A8F-250C-A86A-A7751D9706C3}"/>
              </a:ext>
            </a:extLst>
          </p:cNvPr>
          <p:cNvSpPr txBox="1"/>
          <p:nvPr/>
        </p:nvSpPr>
        <p:spPr>
          <a:xfrm>
            <a:off x="1219922" y="244153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업체명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이행방심</a:t>
            </a:r>
            <a:r>
              <a:rPr lang="ko-KR" altLang="en-US" sz="700" dirty="0">
                <a:solidFill>
                  <a:schemeClr val="tx1">
                    <a:lumMod val="85000"/>
                    <a:lumOff val="15000"/>
                  </a:schemeClr>
                </a:solidFill>
                <a:latin typeface="맑은 고딕" panose="020B0503020000020004" pitchFamily="50" charset="-127"/>
              </a:rPr>
              <a:t> 내역</a:t>
            </a:r>
            <a:endParaRPr lang="en-US" altLang="ko-KR" sz="700" dirty="0">
              <a:solidFill>
                <a:schemeClr val="tx1">
                  <a:lumMod val="85000"/>
                  <a:lumOff val="15000"/>
                </a:schemeClr>
              </a:solidFill>
              <a:latin typeface="맑은 고딕" panose="020B0503020000020004" pitchFamily="50" charset="-127"/>
            </a:endParaRPr>
          </a:p>
        </p:txBody>
      </p:sp>
      <p:sp>
        <p:nvSpPr>
          <p:cNvPr id="138" name="TextBox 137">
            <a:extLst>
              <a:ext uri="{FF2B5EF4-FFF2-40B4-BE49-F238E27FC236}">
                <a16:creationId xmlns:a16="http://schemas.microsoft.com/office/drawing/2014/main" id="{FFC49AEA-2A8F-250C-A86A-A7751D9706C3}"/>
              </a:ext>
            </a:extLst>
          </p:cNvPr>
          <p:cNvSpPr txBox="1"/>
          <p:nvPr/>
        </p:nvSpPr>
        <p:spPr>
          <a:xfrm>
            <a:off x="797450" y="2495400"/>
            <a:ext cx="247786" cy="107722"/>
          </a:xfrm>
          <a:prstGeom prst="rect">
            <a:avLst/>
          </a:prstGeom>
          <a:noFill/>
        </p:spPr>
        <p:txBody>
          <a:bodyPr wrap="square" lIns="0" tIns="0" rIns="0" bIns="0" rtlCol="0">
            <a:spAutoFit/>
          </a:bodyPr>
          <a:lstStyle/>
          <a:p>
            <a:pPr algn="ctr"/>
            <a:r>
              <a:rPr lang="ko-KR" altLang="en-US" sz="700" dirty="0">
                <a:solidFill>
                  <a:schemeClr val="tx1">
                    <a:lumMod val="85000"/>
                    <a:lumOff val="15000"/>
                  </a:schemeClr>
                </a:solidFill>
                <a:latin typeface="맑은 고딕" panose="020B0503020000020004" pitchFamily="50" charset="-127"/>
              </a:rPr>
              <a:t>구성</a:t>
            </a:r>
            <a:endParaRPr lang="en-US" altLang="ko-KR" sz="700" dirty="0">
              <a:solidFill>
                <a:schemeClr val="tx1">
                  <a:lumMod val="85000"/>
                  <a:lumOff val="15000"/>
                </a:schemeClr>
              </a:solidFill>
              <a:latin typeface="맑은 고딕" panose="020B0503020000020004" pitchFamily="50" charset="-127"/>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1219922" y="182521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업체명</a:t>
            </a:r>
            <a:endParaRPr lang="en-US" altLang="ko-KR" sz="600" dirty="0">
              <a:solidFill>
                <a:schemeClr val="tx1">
                  <a:lumMod val="85000"/>
                  <a:lumOff val="15000"/>
                </a:schemeClr>
              </a:solidFill>
              <a:latin typeface="맑은 고딕" panose="020B0503020000020004" pitchFamily="50" charset="-127"/>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2961180" y="182521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출자비율</a:t>
            </a:r>
            <a:endParaRPr lang="en-US" altLang="ko-KR" sz="600" dirty="0">
              <a:solidFill>
                <a:schemeClr val="tx1">
                  <a:lumMod val="85000"/>
                  <a:lumOff val="15000"/>
                </a:schemeClr>
              </a:solidFill>
              <a:latin typeface="맑은 고딕" panose="020B0503020000020004" pitchFamily="50" charset="-127"/>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726018" y="1825214"/>
            <a:ext cx="390650"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구분</a:t>
            </a:r>
            <a:endParaRPr lang="en-US" altLang="ko-KR" sz="600" dirty="0">
              <a:solidFill>
                <a:schemeClr val="tx1">
                  <a:lumMod val="85000"/>
                  <a:lumOff val="15000"/>
                </a:schemeClr>
              </a:solidFill>
              <a:latin typeface="맑은 고딕" panose="020B0503020000020004" pitchFamily="50" charset="-127"/>
            </a:endParaRPr>
          </a:p>
        </p:txBody>
      </p:sp>
      <p:sp>
        <p:nvSpPr>
          <p:cNvPr id="197" name="타원 196">
            <a:extLst>
              <a:ext uri="{FF2B5EF4-FFF2-40B4-BE49-F238E27FC236}">
                <a16:creationId xmlns:a16="http://schemas.microsoft.com/office/drawing/2014/main" id="{37A7FF4F-0EAA-1463-560A-D5EC24416103}"/>
              </a:ext>
            </a:extLst>
          </p:cNvPr>
          <p:cNvSpPr/>
          <p:nvPr/>
        </p:nvSpPr>
        <p:spPr>
          <a:xfrm>
            <a:off x="598795" y="160742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3" name="그룹 2"/>
          <p:cNvGrpSpPr/>
          <p:nvPr/>
        </p:nvGrpSpPr>
        <p:grpSpPr>
          <a:xfrm>
            <a:off x="683438" y="2829979"/>
            <a:ext cx="2712027" cy="1050426"/>
            <a:chOff x="683438" y="2829979"/>
            <a:chExt cx="2712027" cy="1050426"/>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683438" y="28299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99" name="그룹 198"/>
            <p:cNvGrpSpPr/>
            <p:nvPr/>
          </p:nvGrpSpPr>
          <p:grpSpPr>
            <a:xfrm>
              <a:off x="732336" y="2902235"/>
              <a:ext cx="2630093" cy="978170"/>
              <a:chOff x="3844632" y="3774686"/>
              <a:chExt cx="2630093" cy="978170"/>
            </a:xfrm>
          </p:grpSpPr>
          <p:sp>
            <p:nvSpPr>
              <p:cNvPr id="200" name="TextBox 199">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ko-KR" altLang="en-US" sz="700" dirty="0">
                  <a:latin typeface="+mn-ea"/>
                </a:endParaRPr>
              </a:p>
            </p:txBody>
          </p:sp>
          <p:sp>
            <p:nvSpPr>
              <p:cNvPr id="201" name="직사각형 200"/>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02" name="직선 연결선 201">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3933789" y="4082171"/>
                <a:ext cx="756848" cy="646331"/>
              </a:xfrm>
              <a:prstGeom prst="rect">
                <a:avLst/>
              </a:prstGeom>
              <a:noFill/>
            </p:spPr>
            <p:txBody>
              <a:bodyPr wrap="square" lIns="0" tIns="0" rIns="0" bIns="0" rtlCol="0">
                <a:spAutoFit/>
              </a:bodyPr>
              <a:lstStyle/>
              <a:p>
                <a:pPr>
                  <a:lnSpc>
                    <a:spcPct val="200000"/>
                  </a:lnSpc>
                </a:pPr>
                <a:r>
                  <a:rPr lang="ko-KR" altLang="en-US" sz="700" dirty="0" smtClean="0">
                    <a:latin typeface="+mn-ea"/>
                  </a:rPr>
                  <a:t>등록여부</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4690637" y="4082171"/>
                <a:ext cx="1784088" cy="646331"/>
              </a:xfrm>
              <a:prstGeom prst="rect">
                <a:avLst/>
              </a:prstGeom>
              <a:noFill/>
            </p:spPr>
            <p:txBody>
              <a:bodyPr wrap="square" lIns="0" tIns="0" rIns="0" bIns="0" rtlCol="0">
                <a:spAutoFit/>
              </a:bodyPr>
              <a:lstStyle/>
              <a:p>
                <a:pPr>
                  <a:lnSpc>
                    <a:spcPct val="200000"/>
                  </a:lnSpc>
                </a:pPr>
                <a:r>
                  <a:rPr lang="ko-KR" altLang="en-US" sz="700" dirty="0" err="1"/>
                  <a:t>등록불가</a:t>
                </a:r>
                <a:endParaRPr lang="en-US" altLang="ko-KR" sz="700" dirty="0">
                  <a:latin typeface="+mn-ea"/>
                </a:endParaRPr>
              </a:p>
              <a:p>
                <a:pPr>
                  <a:lnSpc>
                    <a:spcPct val="200000"/>
                  </a:lnSpc>
                </a:pPr>
                <a:r>
                  <a:rPr lang="ko-KR" altLang="en-US" sz="700" dirty="0" smtClean="0">
                    <a:latin typeface="+mn-ea"/>
                  </a:rPr>
                  <a:t>어떠한 사유로 등록이 불가합니다</a:t>
                </a:r>
                <a:r>
                  <a:rPr lang="en-US" altLang="ko-KR" sz="700" dirty="0" smtClean="0">
                    <a:latin typeface="+mn-ea"/>
                  </a:rPr>
                  <a:t>.</a:t>
                </a:r>
                <a:endParaRPr lang="en-US" altLang="ko-KR" sz="700" dirty="0">
                  <a:latin typeface="+mn-ea"/>
                </a:endParaRPr>
              </a:p>
              <a:p>
                <a:pPr>
                  <a:lnSpc>
                    <a:spcPct val="200000"/>
                  </a:lnSpc>
                </a:pPr>
                <a:r>
                  <a:rPr lang="en-US" altLang="ko-KR" sz="700" dirty="0" smtClean="0">
                    <a:latin typeface="+mn-ea"/>
                  </a:rPr>
                  <a:t>-</a:t>
                </a:r>
                <a:endParaRPr lang="en-US" altLang="ko-KR" sz="700" dirty="0">
                  <a:latin typeface="+mn-ea"/>
                </a:endParaRP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09" name="모서리가 둥근 직사각형 208"/>
          <p:cNvSpPr/>
          <p:nvPr/>
        </p:nvSpPr>
        <p:spPr>
          <a:xfrm rot="5400000">
            <a:off x="2670281" y="544604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2984263" y="208871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60 %</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2984263" y="249140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40 %</a:t>
            </a:r>
          </a:p>
        </p:txBody>
      </p:sp>
      <p:grpSp>
        <p:nvGrpSpPr>
          <p:cNvPr id="45" name="그룹 44"/>
          <p:cNvGrpSpPr/>
          <p:nvPr/>
        </p:nvGrpSpPr>
        <p:grpSpPr>
          <a:xfrm>
            <a:off x="3518732" y="2829979"/>
            <a:ext cx="2712027" cy="1050426"/>
            <a:chOff x="683438" y="2829979"/>
            <a:chExt cx="2712027" cy="1050426"/>
          </a:xfrm>
        </p:grpSpPr>
        <p:cxnSp>
          <p:nvCxnSpPr>
            <p:cNvPr id="46" name="직선 연결선 45">
              <a:extLst>
                <a:ext uri="{FF2B5EF4-FFF2-40B4-BE49-F238E27FC236}">
                  <a16:creationId xmlns:a16="http://schemas.microsoft.com/office/drawing/2014/main" id="{E9293055-D5CD-4B9E-7F64-64B2D2CA7A52}"/>
                </a:ext>
              </a:extLst>
            </p:cNvPr>
            <p:cNvCxnSpPr/>
            <p:nvPr/>
          </p:nvCxnSpPr>
          <p:spPr>
            <a:xfrm>
              <a:off x="683438" y="28299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7" name="그룹 46"/>
            <p:cNvGrpSpPr/>
            <p:nvPr/>
          </p:nvGrpSpPr>
          <p:grpSpPr>
            <a:xfrm>
              <a:off x="732336" y="2902235"/>
              <a:ext cx="2630093" cy="978170"/>
              <a:chOff x="3844632" y="3774686"/>
              <a:chExt cx="2630093" cy="978170"/>
            </a:xfrm>
          </p:grpSpPr>
          <p:sp>
            <p:nvSpPr>
              <p:cNvPr id="48" name="TextBox 47">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ko-KR" altLang="en-US" sz="700" dirty="0">
                  <a:latin typeface="+mn-ea"/>
                </a:endParaRPr>
              </a:p>
            </p:txBody>
          </p:sp>
          <p:sp>
            <p:nvSpPr>
              <p:cNvPr id="49" name="직사각형 48"/>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연결선 49">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TextBox 50">
                <a:extLst>
                  <a:ext uri="{FF2B5EF4-FFF2-40B4-BE49-F238E27FC236}">
                    <a16:creationId xmlns:a16="http://schemas.microsoft.com/office/drawing/2014/main" id="{FFC49AEA-2A8F-250C-A86A-A7751D9706C3}"/>
                  </a:ext>
                </a:extLst>
              </p:cNvPr>
              <p:cNvSpPr txBox="1"/>
              <p:nvPr/>
            </p:nvSpPr>
            <p:spPr>
              <a:xfrm>
                <a:off x="3933789" y="4082171"/>
                <a:ext cx="756848" cy="646331"/>
              </a:xfrm>
              <a:prstGeom prst="rect">
                <a:avLst/>
              </a:prstGeom>
              <a:noFill/>
            </p:spPr>
            <p:txBody>
              <a:bodyPr wrap="square" lIns="0" tIns="0" rIns="0" bIns="0" rtlCol="0">
                <a:spAutoFit/>
              </a:bodyPr>
              <a:lstStyle/>
              <a:p>
                <a:pPr>
                  <a:lnSpc>
                    <a:spcPct val="200000"/>
                  </a:lnSpc>
                </a:pPr>
                <a:r>
                  <a:rPr lang="ko-KR" altLang="en-US" sz="700" dirty="0" smtClean="0">
                    <a:latin typeface="+mn-ea"/>
                  </a:rPr>
                  <a:t>등록여부</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52" name="TextBox 51">
                <a:extLst>
                  <a:ext uri="{FF2B5EF4-FFF2-40B4-BE49-F238E27FC236}">
                    <a16:creationId xmlns:a16="http://schemas.microsoft.com/office/drawing/2014/main" id="{FFC49AEA-2A8F-250C-A86A-A7751D9706C3}"/>
                  </a:ext>
                </a:extLst>
              </p:cNvPr>
              <p:cNvSpPr txBox="1"/>
              <p:nvPr/>
            </p:nvSpPr>
            <p:spPr>
              <a:xfrm>
                <a:off x="4690637" y="4082171"/>
                <a:ext cx="1784088" cy="646331"/>
              </a:xfrm>
              <a:prstGeom prst="rect">
                <a:avLst/>
              </a:prstGeom>
              <a:noFill/>
            </p:spPr>
            <p:txBody>
              <a:bodyPr wrap="square" lIns="0" tIns="0" rIns="0" bIns="0" rtlCol="0">
                <a:spAutoFit/>
              </a:bodyPr>
              <a:lstStyle/>
              <a:p>
                <a:pPr>
                  <a:lnSpc>
                    <a:spcPct val="200000"/>
                  </a:lnSpc>
                </a:pPr>
                <a:r>
                  <a:rPr lang="ko-KR" altLang="en-US" sz="700" dirty="0" err="1" smtClean="0"/>
                  <a:t>등록확정</a:t>
                </a:r>
                <a:endParaRPr lang="en-US" altLang="ko-KR" sz="700" dirty="0" smtClean="0"/>
              </a:p>
              <a:p>
                <a:pPr>
                  <a:lnSpc>
                    <a:spcPct val="200000"/>
                  </a:lnSpc>
                </a:pPr>
                <a:r>
                  <a:rPr lang="en-US" altLang="ko-KR" sz="700" dirty="0" smtClean="0">
                    <a:latin typeface="+mn-ea"/>
                  </a:rPr>
                  <a:t>-</a:t>
                </a:r>
              </a:p>
              <a:p>
                <a:pPr>
                  <a:lnSpc>
                    <a:spcPct val="200000"/>
                  </a:lnSpc>
                </a:pPr>
                <a:r>
                  <a:rPr lang="en-US" altLang="ko-KR" sz="700" dirty="0" smtClean="0">
                    <a:latin typeface="+mn-ea"/>
                  </a:rPr>
                  <a:t>2026-11-20</a:t>
                </a:r>
                <a:endParaRPr lang="en-US" altLang="ko-KR" sz="700" dirty="0">
                  <a:latin typeface="+mn-ea"/>
                </a:endParaRPr>
              </a:p>
            </p:txBody>
          </p:sp>
          <p:cxnSp>
            <p:nvCxnSpPr>
              <p:cNvPr id="53" name="직선 연결선 52">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4" name="직선 연결선 53">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5" name="직선 연결선 54">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56" name="그룹 55"/>
          <p:cNvGrpSpPr/>
          <p:nvPr/>
        </p:nvGrpSpPr>
        <p:grpSpPr>
          <a:xfrm>
            <a:off x="3518732" y="4045985"/>
            <a:ext cx="2712027" cy="1050426"/>
            <a:chOff x="683438" y="2829979"/>
            <a:chExt cx="2712027" cy="1050426"/>
          </a:xfrm>
        </p:grpSpPr>
        <p:cxnSp>
          <p:nvCxnSpPr>
            <p:cNvPr id="57" name="직선 연결선 56">
              <a:extLst>
                <a:ext uri="{FF2B5EF4-FFF2-40B4-BE49-F238E27FC236}">
                  <a16:creationId xmlns:a16="http://schemas.microsoft.com/office/drawing/2014/main" id="{E9293055-D5CD-4B9E-7F64-64B2D2CA7A52}"/>
                </a:ext>
              </a:extLst>
            </p:cNvPr>
            <p:cNvCxnSpPr/>
            <p:nvPr/>
          </p:nvCxnSpPr>
          <p:spPr>
            <a:xfrm>
              <a:off x="683438" y="28299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8" name="그룹 57"/>
            <p:cNvGrpSpPr/>
            <p:nvPr/>
          </p:nvGrpSpPr>
          <p:grpSpPr>
            <a:xfrm>
              <a:off x="732336" y="2902235"/>
              <a:ext cx="2630093" cy="978170"/>
              <a:chOff x="3844632" y="3774686"/>
              <a:chExt cx="2630093" cy="978170"/>
            </a:xfrm>
          </p:grpSpPr>
          <p:sp>
            <p:nvSpPr>
              <p:cNvPr id="59" name="TextBox 58">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ko-KR" altLang="en-US" sz="700" dirty="0">
                  <a:latin typeface="+mn-ea"/>
                </a:endParaRPr>
              </a:p>
            </p:txBody>
          </p:sp>
          <p:sp>
            <p:nvSpPr>
              <p:cNvPr id="60" name="직사각형 59"/>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1" name="직선 연결선 60">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2" name="TextBox 61">
                <a:extLst>
                  <a:ext uri="{FF2B5EF4-FFF2-40B4-BE49-F238E27FC236}">
                    <a16:creationId xmlns:a16="http://schemas.microsoft.com/office/drawing/2014/main" id="{FFC49AEA-2A8F-250C-A86A-A7751D9706C3}"/>
                  </a:ext>
                </a:extLst>
              </p:cNvPr>
              <p:cNvSpPr txBox="1"/>
              <p:nvPr/>
            </p:nvSpPr>
            <p:spPr>
              <a:xfrm>
                <a:off x="3933789" y="4082171"/>
                <a:ext cx="756848" cy="646331"/>
              </a:xfrm>
              <a:prstGeom prst="rect">
                <a:avLst/>
              </a:prstGeom>
              <a:noFill/>
            </p:spPr>
            <p:txBody>
              <a:bodyPr wrap="square" lIns="0" tIns="0" rIns="0" bIns="0" rtlCol="0">
                <a:spAutoFit/>
              </a:bodyPr>
              <a:lstStyle/>
              <a:p>
                <a:pPr>
                  <a:lnSpc>
                    <a:spcPct val="200000"/>
                  </a:lnSpc>
                </a:pPr>
                <a:r>
                  <a:rPr lang="ko-KR" altLang="en-US" sz="700" dirty="0" smtClean="0">
                    <a:latin typeface="+mn-ea"/>
                  </a:rPr>
                  <a:t>등록여부</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63" name="TextBox 62">
                <a:extLst>
                  <a:ext uri="{FF2B5EF4-FFF2-40B4-BE49-F238E27FC236}">
                    <a16:creationId xmlns:a16="http://schemas.microsoft.com/office/drawing/2014/main" id="{FFC49AEA-2A8F-250C-A86A-A7751D9706C3}"/>
                  </a:ext>
                </a:extLst>
              </p:cNvPr>
              <p:cNvSpPr txBox="1"/>
              <p:nvPr/>
            </p:nvSpPr>
            <p:spPr>
              <a:xfrm>
                <a:off x="4690637" y="4082171"/>
                <a:ext cx="1784088" cy="646331"/>
              </a:xfrm>
              <a:prstGeom prst="rect">
                <a:avLst/>
              </a:prstGeom>
              <a:noFill/>
            </p:spPr>
            <p:txBody>
              <a:bodyPr wrap="square" lIns="0" tIns="0" rIns="0" bIns="0" rtlCol="0">
                <a:spAutoFit/>
              </a:bodyPr>
              <a:lstStyle/>
              <a:p>
                <a:pPr>
                  <a:lnSpc>
                    <a:spcPct val="200000"/>
                  </a:lnSpc>
                </a:pPr>
                <a:r>
                  <a:rPr lang="ko-KR" altLang="en-US" sz="700" dirty="0" smtClean="0"/>
                  <a:t>반려</a:t>
                </a:r>
                <a:endParaRPr lang="en-US" altLang="ko-KR" sz="700" dirty="0" smtClean="0"/>
              </a:p>
              <a:p>
                <a:pPr>
                  <a:lnSpc>
                    <a:spcPct val="200000"/>
                  </a:lnSpc>
                </a:pPr>
                <a:r>
                  <a:rPr lang="ko-KR" altLang="en-US" sz="700" dirty="0" err="1" smtClean="0">
                    <a:latin typeface="+mn-ea"/>
                  </a:rPr>
                  <a:t>특정이유로</a:t>
                </a:r>
                <a:r>
                  <a:rPr lang="ko-KR" altLang="en-US" sz="700" dirty="0" smtClean="0">
                    <a:latin typeface="+mn-ea"/>
                  </a:rPr>
                  <a:t> 반려되었습니다</a:t>
                </a:r>
                <a:endParaRPr lang="en-US" altLang="ko-KR" sz="700" dirty="0" smtClean="0">
                  <a:latin typeface="+mn-ea"/>
                </a:endParaRPr>
              </a:p>
              <a:p>
                <a:pPr>
                  <a:lnSpc>
                    <a:spcPct val="200000"/>
                  </a:lnSpc>
                </a:pPr>
                <a:r>
                  <a:rPr lang="en-US" altLang="ko-KR" sz="700" dirty="0" smtClean="0">
                    <a:latin typeface="+mn-ea"/>
                  </a:rPr>
                  <a:t>-</a:t>
                </a:r>
                <a:endParaRPr lang="en-US" altLang="ko-KR" sz="700" dirty="0">
                  <a:latin typeface="+mn-ea"/>
                </a:endParaRPr>
              </a:p>
            </p:txBody>
          </p:sp>
          <p:cxnSp>
            <p:nvCxnSpPr>
              <p:cNvPr id="64" name="직선 연결선 63">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5" name="직선 연결선 64">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6" name="직선 연결선 65">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6" name="직사각형 5"/>
          <p:cNvSpPr/>
          <p:nvPr/>
        </p:nvSpPr>
        <p:spPr>
          <a:xfrm>
            <a:off x="683438" y="2902235"/>
            <a:ext cx="5555176" cy="2296298"/>
          </a:xfrm>
          <a:prstGeom prst="rect">
            <a:avLst/>
          </a:prstGeom>
          <a:noFill/>
          <a:ln w="190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8" name="타원 207">
            <a:extLst>
              <a:ext uri="{FF2B5EF4-FFF2-40B4-BE49-F238E27FC236}">
                <a16:creationId xmlns:a16="http://schemas.microsoft.com/office/drawing/2014/main" id="{37A7FF4F-0EAA-1463-560A-D5EC24416103}"/>
              </a:ext>
            </a:extLst>
          </p:cNvPr>
          <p:cNvSpPr/>
          <p:nvPr/>
        </p:nvSpPr>
        <p:spPr>
          <a:xfrm>
            <a:off x="598795" y="294554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72" name="직사각형 71"/>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smtClean="0"/>
              <a:t>2026-07-23 </a:t>
            </a:r>
            <a:r>
              <a:rPr lang="ko-KR" altLang="en-US" dirty="0" err="1" smtClean="0"/>
              <a:t>케이스추가</a:t>
            </a:r>
            <a:endParaRPr lang="ko-KR" altLang="en-US" dirty="0"/>
          </a:p>
        </p:txBody>
      </p:sp>
    </p:spTree>
    <p:extLst>
      <p:ext uri="{BB962C8B-B14F-4D97-AF65-F5344CB8AC3E}">
        <p14:creationId xmlns:p14="http://schemas.microsoft.com/office/powerpoint/2010/main" val="1859267450"/>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402926"/>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615417"/>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9BFB27AC-54AB-B3AC-0730-391BA5D8290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83949D16-7F33-F36B-A7EF-B897AB02630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Tree>
    <p:extLst>
      <p:ext uri="{BB962C8B-B14F-4D97-AF65-F5344CB8AC3E}">
        <p14:creationId xmlns:p14="http://schemas.microsoft.com/office/powerpoint/2010/main" val="34489676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2270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입찰보증금 데이터 영역 </a:t>
            </a:r>
            <a:r>
              <a:rPr lang="en-US" altLang="ko-KR" sz="900" b="1" dirty="0">
                <a:solidFill>
                  <a:prstClr val="black"/>
                </a:solidFill>
              </a:rPr>
              <a:t>(</a:t>
            </a:r>
            <a:r>
              <a:rPr lang="en-US" altLang="ko-KR" sz="900" b="1" dirty="0" err="1">
                <a:solidFill>
                  <a:prstClr val="black"/>
                </a:solidFill>
              </a:rPr>
              <a:t>dmt_bidGrnte</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031327"/>
            <a:ext cx="2698422"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공동수급업체 데이터 영역 </a:t>
            </a:r>
            <a:r>
              <a:rPr lang="en-US" altLang="ko-KR" sz="900" b="1" dirty="0">
                <a:solidFill>
                  <a:prstClr val="black"/>
                </a:solidFill>
              </a:rPr>
              <a:t>(</a:t>
            </a:r>
            <a:r>
              <a:rPr lang="en-US" altLang="ko-KR" sz="900" b="1" dirty="0" err="1">
                <a:solidFill>
                  <a:prstClr val="black"/>
                </a:solidFill>
              </a:rPr>
              <a:t>dlt_jsdBzentyList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보증금납부방법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depsPayMthdCd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보증금납부방법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:GMCB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보증금면제사유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depsExmptnRncd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보증금면제사유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:ERGA</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입찰보증금액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증권번호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scrtNo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증권번호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2243818"/>
          <a:ext cx="8995589" cy="9696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공동수급업체설정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대표</a:t>
                      </a:r>
                      <a:r>
                        <a:rPr lang="en-US" altLang="ko-KR" sz="800" dirty="0">
                          <a:latin typeface="+mn-ea"/>
                          <a:ea typeface="+mn-ea"/>
                        </a:rPr>
                        <a:t>, </a:t>
                      </a:r>
                      <a:r>
                        <a:rPr lang="ko-KR" altLang="en-US" sz="800" dirty="0">
                          <a:latin typeface="+mn-ea"/>
                          <a:ea typeface="+mn-ea"/>
                        </a:rPr>
                        <a:t>구성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공동수급업체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이행방식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jsdShNm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공동수급형태명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:UB13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출자비율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invstRt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출자비율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bl>
          </a:graphicData>
        </a:graphic>
      </p:graphicFrame>
      <p:sp>
        <p:nvSpPr>
          <p:cNvPr id="4" name="TextBox 3">
            <a:extLst>
              <a:ext uri="{FF2B5EF4-FFF2-40B4-BE49-F238E27FC236}">
                <a16:creationId xmlns:a16="http://schemas.microsoft.com/office/drawing/2014/main" id="{3640B13D-584B-8416-67F8-3DBDF632D167}"/>
              </a:ext>
            </a:extLst>
          </p:cNvPr>
          <p:cNvSpPr txBox="1"/>
          <p:nvPr/>
        </p:nvSpPr>
        <p:spPr>
          <a:xfrm>
            <a:off x="453832" y="3286393"/>
            <a:ext cx="2669568"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등록결과 데이터 영역 </a:t>
            </a:r>
            <a:r>
              <a:rPr lang="en-US" altLang="ko-KR" sz="900" b="1" dirty="0">
                <a:solidFill>
                  <a:prstClr val="black"/>
                </a:solidFill>
              </a:rPr>
              <a:t>(</a:t>
            </a:r>
            <a:r>
              <a:rPr lang="en-US" altLang="ko-KR" sz="900" b="1" dirty="0" err="1">
                <a:solidFill>
                  <a:prstClr val="black"/>
                </a:solidFill>
              </a:rPr>
              <a:t>dmt_bidRegSrngRslt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9A5F43F4-CB5F-C531-B843-B6D2FC2FA0D8}"/>
              </a:ext>
            </a:extLst>
          </p:cNvPr>
          <p:cNvGraphicFramePr>
            <a:graphicFrameLocks noGrp="1"/>
          </p:cNvGraphicFramePr>
          <p:nvPr/>
        </p:nvGraphicFramePr>
        <p:xfrm>
          <a:off x="452293" y="3498884"/>
          <a:ext cx="8995589" cy="775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등록확정여부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bidRegCfmtnYn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입찰등록확정여부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ko-KR" altLang="en-US" sz="800" dirty="0">
                          <a:latin typeface="+mn-ea"/>
                          <a:ea typeface="+mn-ea"/>
                        </a:rPr>
                        <a:t>등록불가사유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bidRegImpsRsn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등록심사 결과가 등록불가인 경우 입찰등록불가사유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등록확정일시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bidRegCfmtnDt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등록심사 결과가 등록확정인 경우 </a:t>
                      </a:r>
                      <a:r>
                        <a:rPr lang="ko-KR" altLang="en-US" sz="800" dirty="0" err="1">
                          <a:latin typeface="+mn-ea"/>
                          <a:ea typeface="+mn-ea"/>
                        </a:rPr>
                        <a:t>입찰등록확정일시</a:t>
                      </a:r>
                      <a:r>
                        <a:rPr lang="ko-KR" altLang="en-US" sz="800" dirty="0">
                          <a:latin typeface="+mn-ea"/>
                          <a:ea typeface="+mn-ea"/>
                        </a:rPr>
                        <a:t>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9" name="Text Box 73">
            <a:extLst>
              <a:ext uri="{FF2B5EF4-FFF2-40B4-BE49-F238E27FC236}">
                <a16:creationId xmlns:a16="http://schemas.microsoft.com/office/drawing/2014/main" id="{A80B7376-B3E4-03C3-D724-E776D8A21F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2F370640-7818-D7DD-8684-CAF5EEC34E9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Tree>
    <p:extLst>
      <p:ext uri="{BB962C8B-B14F-4D97-AF65-F5344CB8AC3E}">
        <p14:creationId xmlns:p14="http://schemas.microsoft.com/office/powerpoint/2010/main" val="376814834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208</a:t>
            </a:fld>
            <a:endParaRPr lang="ko-KR" altLang="en-US" dirty="0"/>
          </a:p>
        </p:txBody>
      </p:sp>
      <p:sp>
        <p:nvSpPr>
          <p:cNvPr id="2" name="TextBox 1">
            <a:extLst>
              <a:ext uri="{FF2B5EF4-FFF2-40B4-BE49-F238E27FC236}">
                <a16:creationId xmlns:a16="http://schemas.microsoft.com/office/drawing/2014/main" id="{769272C9-4DC2-7CDF-03D2-31A9053C5F88}"/>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6" name="표 5">
            <a:extLst>
              <a:ext uri="{FF2B5EF4-FFF2-40B4-BE49-F238E27FC236}">
                <a16:creationId xmlns:a16="http://schemas.microsoft.com/office/drawing/2014/main" id="{6CC12831-F7E6-2592-CB01-850C9650B7E6}"/>
              </a:ext>
            </a:extLst>
          </p:cNvPr>
          <p:cNvGraphicFramePr>
            <a:graphicFrameLocks noGrp="1"/>
          </p:cNvGraphicFramePr>
          <p:nvPr>
            <p:extLst>
              <p:ext uri="{D42A27DB-BD31-4B8C-83A1-F6EECF244321}">
                <p14:modId xmlns:p14="http://schemas.microsoft.com/office/powerpoint/2010/main" val="1891911460"/>
              </p:ext>
            </p:extLst>
          </p:nvPr>
        </p:nvGraphicFramePr>
        <p:xfrm>
          <a:off x="453000" y="1039042"/>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입찰참가신청서</a:t>
                      </a:r>
                      <a:r>
                        <a:rPr lang="en-US" altLang="ko-KR" sz="800" dirty="0">
                          <a:latin typeface="+mn-ea"/>
                          <a:ea typeface="+mn-ea"/>
                        </a:rPr>
                        <a:t>, </a:t>
                      </a:r>
                      <a:r>
                        <a:rPr lang="ko-KR" altLang="en-US" sz="800" dirty="0">
                          <a:latin typeface="+mn-ea"/>
                          <a:ea typeface="+mn-ea"/>
                        </a:rPr>
                        <a:t>입찰등록심사결과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10" name="Text Box 73">
            <a:extLst>
              <a:ext uri="{FF2B5EF4-FFF2-40B4-BE49-F238E27FC236}">
                <a16:creationId xmlns:a16="http://schemas.microsoft.com/office/drawing/2014/main" id="{885BC312-108F-5D55-F06B-B05A95D67BCE}"/>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319560287"/>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209</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12. </a:t>
            </a:r>
            <a:r>
              <a:rPr lang="ko-KR" altLang="en-US" dirty="0" smtClean="0"/>
              <a:t>생산능력서류제출</a:t>
            </a:r>
            <a:endParaRPr lang="en-US" altLang="ko-KR" dirty="0" smtClean="0"/>
          </a:p>
          <a:p>
            <a:r>
              <a:rPr lang="en-US" altLang="ko-KR" dirty="0" smtClean="0"/>
              <a:t>12.1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983731511"/>
              </p:ext>
            </p:extLst>
          </p:nvPr>
        </p:nvGraphicFramePr>
        <p:xfrm>
          <a:off x="635474" y="1413419"/>
          <a:ext cx="8701200" cy="6793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700" b="1" dirty="0">
                          <a:latin typeface="+mn-ea"/>
                          <a:ea typeface="+mn-ea"/>
                        </a:rPr>
                        <a:t>화면 </a:t>
                      </a:r>
                      <a:r>
                        <a:rPr lang="en-US" altLang="ko-KR" sz="700" b="1" dirty="0">
                          <a:latin typeface="+mn-ea"/>
                          <a:ea typeface="+mn-ea"/>
                        </a:rPr>
                        <a:t>ID</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한글</a:t>
                      </a:r>
                      <a:r>
                        <a:rPr lang="en-US" altLang="ko-KR" sz="7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화면명</a:t>
                      </a:r>
                      <a:r>
                        <a:rPr lang="en-US" altLang="ko-KR" sz="700" b="1" dirty="0">
                          <a:latin typeface="+mn-ea"/>
                          <a:ea typeface="+mn-ea"/>
                        </a:rPr>
                        <a:t>(</a:t>
                      </a:r>
                      <a:r>
                        <a:rPr lang="ko-KR" altLang="en-US" sz="700" b="1" dirty="0">
                          <a:latin typeface="+mn-ea"/>
                          <a:ea typeface="+mn-ea"/>
                        </a:rPr>
                        <a:t>영문</a:t>
                      </a:r>
                      <a:r>
                        <a:rPr lang="en-US" altLang="ko-KR" sz="700" b="1" dirty="0">
                          <a:latin typeface="+mn-ea"/>
                          <a:ea typeface="+mn-ea"/>
                        </a:rPr>
                        <a:t>)</a:t>
                      </a:r>
                      <a:r>
                        <a:rPr lang="en-US" altLang="ko-KR" sz="700" b="1" baseline="30000" dirty="0">
                          <a:latin typeface="+mn-ea"/>
                          <a:ea typeface="+mn-ea"/>
                        </a:rPr>
                        <a:t> 1)</a:t>
                      </a:r>
                      <a:endParaRPr lang="ko-KR" altLang="en-US" sz="7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웹페이지</a:t>
                      </a:r>
                      <a:r>
                        <a:rPr lang="ko-KR" altLang="en-US" sz="700" b="1" dirty="0">
                          <a:latin typeface="+mn-ea"/>
                          <a:ea typeface="+mn-ea"/>
                        </a:rPr>
                        <a:t> 경로</a:t>
                      </a:r>
                      <a:r>
                        <a:rPr lang="en-US" altLang="ko-KR" sz="700" b="1" baseline="30000" dirty="0">
                          <a:latin typeface="+mn-ea"/>
                          <a:ea typeface="+mn-ea"/>
                        </a:rPr>
                        <a:t> 1)</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700" b="1" dirty="0" err="1">
                          <a:latin typeface="+mn-ea"/>
                          <a:ea typeface="+mn-ea"/>
                        </a:rPr>
                        <a:t>유스케이스</a:t>
                      </a:r>
                      <a:r>
                        <a:rPr lang="ko-KR" altLang="en-US" sz="700" b="1" dirty="0">
                          <a:latin typeface="+mn-ea"/>
                          <a:ea typeface="+mn-ea"/>
                        </a:rPr>
                        <a:t> </a:t>
                      </a:r>
                      <a:r>
                        <a:rPr lang="en-US" altLang="ko-KR" sz="700" b="1" dirty="0">
                          <a:latin typeface="+mn-ea"/>
                          <a:ea typeface="+mn-ea"/>
                        </a:rPr>
                        <a:t>ID</a:t>
                      </a:r>
                      <a:endParaRPr lang="ko-KR" altLang="en-US" sz="7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MUI-BD-03-P06</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생산능력서류제출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PrdctnAbltDcmntSbmsn</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생산능력서류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PrdctnAbltDcmntSbmsn.tsx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solidFill>
                            <a:schemeClr val="tx1"/>
                          </a:solidFill>
                          <a:latin typeface="+mn-ea"/>
                          <a:ea typeface="+mn-ea"/>
                        </a:rPr>
                        <a:t>UC-BD-02-01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275627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상세정보팝업</a:t>
            </a:r>
            <a:endParaRPr lang="en-US" altLang="ko-KR" dirty="0" smtClean="0"/>
          </a:p>
          <a:p>
            <a:pPr marL="228600" indent="-228600">
              <a:buFont typeface="+mj-lt"/>
              <a:buAutoNum type="arabicPeriod"/>
            </a:pPr>
            <a:r>
              <a:rPr lang="ko-KR" altLang="en-US" dirty="0"/>
              <a:t>파일 목록 </a:t>
            </a:r>
            <a:r>
              <a:rPr lang="en-US" altLang="ko-KR" dirty="0"/>
              <a:t/>
            </a:r>
            <a:br>
              <a:rPr lang="en-US" altLang="ko-KR" dirty="0"/>
            </a:br>
            <a:r>
              <a:rPr lang="en-US" altLang="ko-KR" dirty="0" smtClean="0"/>
              <a:t>-2-1] </a:t>
            </a:r>
            <a:r>
              <a:rPr lang="ko-KR" altLang="en-US" dirty="0" err="1" smtClean="0"/>
              <a:t>파일추가</a:t>
            </a:r>
            <a:r>
              <a:rPr lang="ko-KR" altLang="en-US" dirty="0" smtClean="0"/>
              <a:t> 화면 호출</a:t>
            </a:r>
            <a:r>
              <a:rPr lang="en-US" altLang="ko-KR" dirty="0" smtClean="0">
                <a:solidFill>
                  <a:srgbClr val="000000"/>
                </a:solidFill>
                <a:latin typeface="맑은 고딕" panose="020B0503020000020004" pitchFamily="50" charset="-127"/>
              </a:rPr>
              <a:t> </a:t>
            </a:r>
            <a:r>
              <a:rPr lang="en-US" altLang="ko-KR" dirty="0">
                <a:solidFill>
                  <a:srgbClr val="000000"/>
                </a:solidFill>
                <a:latin typeface="맑은 고딕" panose="020B0503020000020004" pitchFamily="50" charset="-127"/>
              </a:rPr>
              <a:t>MUI-BD-04-P13</a:t>
            </a:r>
            <a:r>
              <a:rPr lang="en-US" altLang="ko-KR" dirty="0" smtClean="0"/>
              <a:t/>
            </a:r>
            <a:br>
              <a:rPr lang="en-US" altLang="ko-KR" dirty="0" smtClean="0"/>
            </a:br>
            <a:r>
              <a:rPr lang="en-US" altLang="ko-KR" dirty="0" smtClean="0"/>
              <a:t>-2- 2] </a:t>
            </a:r>
            <a:r>
              <a:rPr lang="ko-KR" altLang="en-US" dirty="0"/>
              <a:t>정렬</a:t>
            </a:r>
            <a:r>
              <a:rPr lang="en-US" altLang="ko-KR" dirty="0"/>
              <a:t> : </a:t>
            </a:r>
            <a:r>
              <a:rPr lang="ko-KR" altLang="en-US" dirty="0"/>
              <a:t>파일 업로드 시점의 </a:t>
            </a:r>
            <a:r>
              <a:rPr lang="ko-KR" altLang="en-US" dirty="0" err="1"/>
              <a:t>등록일시</a:t>
            </a:r>
            <a:r>
              <a:rPr lang="ko-KR" altLang="en-US" dirty="0"/>
              <a:t> 내림차순 </a:t>
            </a:r>
            <a:r>
              <a:rPr lang="en-US" altLang="ko-KR" dirty="0"/>
              <a:t/>
            </a:r>
            <a:br>
              <a:rPr lang="en-US" altLang="ko-KR" dirty="0"/>
            </a:br>
            <a:r>
              <a:rPr lang="en-US" altLang="ko-KR" dirty="0">
                <a:solidFill>
                  <a:schemeClr val="accent3"/>
                </a:solidFill>
              </a:rPr>
              <a:t>- </a:t>
            </a:r>
            <a:r>
              <a:rPr lang="ko-KR" altLang="en-US" dirty="0" err="1">
                <a:solidFill>
                  <a:schemeClr val="accent3"/>
                </a:solidFill>
              </a:rPr>
              <a:t>계약서류명</a:t>
            </a:r>
            <a:r>
              <a:rPr lang="en-US" altLang="ko-KR" dirty="0">
                <a:solidFill>
                  <a:schemeClr val="accent3"/>
                </a:solidFill>
              </a:rPr>
              <a:t>, </a:t>
            </a:r>
            <a:r>
              <a:rPr lang="ko-KR" altLang="en-US" dirty="0" err="1">
                <a:solidFill>
                  <a:schemeClr val="accent3"/>
                </a:solidFill>
              </a:rPr>
              <a:t>첨부파일명</a:t>
            </a:r>
            <a:r>
              <a:rPr lang="en-US" altLang="ko-KR" dirty="0">
                <a:solidFill>
                  <a:schemeClr val="accent3"/>
                </a:solidFill>
              </a:rPr>
              <a:t>, </a:t>
            </a:r>
            <a:r>
              <a:rPr lang="ko-KR" altLang="en-US" dirty="0">
                <a:solidFill>
                  <a:schemeClr val="accent3"/>
                </a:solidFill>
              </a:rPr>
              <a:t>파일 크기 </a:t>
            </a:r>
            <a:r>
              <a:rPr lang="ko-KR" altLang="en-US" dirty="0" smtClean="0">
                <a:solidFill>
                  <a:schemeClr val="accent3"/>
                </a:solidFill>
              </a:rPr>
              <a:t>표시</a:t>
            </a:r>
            <a:r>
              <a:rPr lang="en-US" altLang="ko-KR" dirty="0" smtClean="0">
                <a:solidFill>
                  <a:schemeClr val="accent3"/>
                </a:solidFill>
              </a:rPr>
              <a:t/>
            </a:r>
            <a:br>
              <a:rPr lang="en-US" altLang="ko-KR" dirty="0" smtClean="0">
                <a:solidFill>
                  <a:schemeClr val="accent3"/>
                </a:solidFill>
              </a:rPr>
            </a:br>
            <a:r>
              <a:rPr lang="en-US" altLang="ko-KR" dirty="0">
                <a:solidFill>
                  <a:schemeClr val="accent3"/>
                </a:solidFill>
              </a:rPr>
              <a:t>- </a:t>
            </a:r>
            <a:r>
              <a:rPr lang="ko-KR" altLang="en-US" dirty="0">
                <a:solidFill>
                  <a:schemeClr val="accent3"/>
                </a:solidFill>
              </a:rPr>
              <a:t>최대 </a:t>
            </a:r>
            <a:r>
              <a:rPr lang="ko-KR" altLang="en-US" dirty="0" err="1">
                <a:solidFill>
                  <a:schemeClr val="accent3"/>
                </a:solidFill>
              </a:rPr>
              <a:t>파일크기</a:t>
            </a:r>
            <a:r>
              <a:rPr lang="ko-KR" altLang="en-US" dirty="0">
                <a:solidFill>
                  <a:schemeClr val="accent3"/>
                </a:solidFill>
              </a:rPr>
              <a:t> </a:t>
            </a:r>
            <a:r>
              <a:rPr lang="en-US" altLang="ko-KR" dirty="0">
                <a:solidFill>
                  <a:schemeClr val="accent3"/>
                </a:solidFill>
              </a:rPr>
              <a:t>:</a:t>
            </a:r>
            <a:br>
              <a:rPr lang="en-US" altLang="ko-KR" dirty="0">
                <a:solidFill>
                  <a:schemeClr val="accent3"/>
                </a:solidFill>
              </a:rPr>
            </a:br>
            <a:r>
              <a:rPr lang="en-US" altLang="ko-KR" dirty="0">
                <a:solidFill>
                  <a:schemeClr val="accent3"/>
                </a:solidFill>
              </a:rPr>
              <a:t>- </a:t>
            </a:r>
            <a:r>
              <a:rPr lang="ko-KR" altLang="en-US" dirty="0">
                <a:solidFill>
                  <a:schemeClr val="accent3"/>
                </a:solidFill>
              </a:rPr>
              <a:t>최대 첨부 개수 </a:t>
            </a:r>
            <a:r>
              <a:rPr lang="en-US" altLang="ko-KR" dirty="0">
                <a:solidFill>
                  <a:schemeClr val="accent3"/>
                </a:solidFill>
              </a:rPr>
              <a:t>: </a:t>
            </a:r>
            <a:br>
              <a:rPr lang="en-US" altLang="ko-KR" dirty="0">
                <a:solidFill>
                  <a:schemeClr val="accent3"/>
                </a:solidFill>
              </a:rPr>
            </a:br>
            <a:r>
              <a:rPr lang="en-US" altLang="ko-KR" dirty="0">
                <a:solidFill>
                  <a:schemeClr val="accent3"/>
                </a:solidFill>
              </a:rPr>
              <a:t>- </a:t>
            </a:r>
            <a:r>
              <a:rPr lang="ko-KR" altLang="en-US" dirty="0" err="1">
                <a:solidFill>
                  <a:schemeClr val="accent3"/>
                </a:solidFill>
              </a:rPr>
              <a:t>중복파일</a:t>
            </a:r>
            <a:r>
              <a:rPr lang="ko-KR" altLang="en-US" dirty="0">
                <a:solidFill>
                  <a:schemeClr val="accent3"/>
                </a:solidFill>
              </a:rPr>
              <a:t> 처리여부 </a:t>
            </a:r>
            <a:r>
              <a:rPr lang="en-US" altLang="ko-KR" dirty="0">
                <a:solidFill>
                  <a:schemeClr val="accent3"/>
                </a:solidFill>
              </a:rPr>
              <a:t>:</a:t>
            </a:r>
            <a:r>
              <a:rPr lang="en-US" altLang="ko-KR" dirty="0"/>
              <a:t/>
            </a:r>
            <a:br>
              <a:rPr lang="en-US" altLang="ko-KR" dirty="0"/>
            </a:br>
            <a:r>
              <a:rPr lang="en-US" altLang="ko-KR" dirty="0"/>
              <a:t>- </a:t>
            </a:r>
            <a:r>
              <a:rPr lang="ko-KR" altLang="en-US" dirty="0"/>
              <a:t>파일 크기 정보가 없거나</a:t>
            </a:r>
            <a:r>
              <a:rPr lang="en-US" altLang="ko-KR" dirty="0"/>
              <a:t>, </a:t>
            </a:r>
            <a:r>
              <a:rPr lang="ko-KR" altLang="en-US" dirty="0"/>
              <a:t>첨부서류 파일명이 없는 경우 </a:t>
            </a:r>
            <a:r>
              <a:rPr lang="en-US" altLang="ko-KR" dirty="0"/>
              <a:t>“-” </a:t>
            </a:r>
            <a:r>
              <a:rPr lang="ko-KR" altLang="en-US" dirty="0"/>
              <a:t>표시</a:t>
            </a:r>
            <a:r>
              <a:rPr lang="en-US" altLang="ko-KR" dirty="0"/>
              <a:t/>
            </a:r>
            <a:br>
              <a:rPr lang="en-US" altLang="ko-KR" dirty="0"/>
            </a:br>
            <a:r>
              <a:rPr lang="en-US" altLang="ko-KR" dirty="0"/>
              <a:t>- </a:t>
            </a:r>
            <a:r>
              <a:rPr lang="ko-KR" altLang="en-US" dirty="0"/>
              <a:t>파일명이 긴 경우 </a:t>
            </a:r>
            <a:r>
              <a:rPr lang="ko-KR" altLang="en-US" dirty="0" err="1"/>
              <a:t>말줄임</a:t>
            </a:r>
            <a:r>
              <a:rPr lang="ko-KR" altLang="en-US" dirty="0"/>
              <a:t> </a:t>
            </a:r>
            <a:r>
              <a:rPr lang="ko-KR" altLang="en-US" dirty="0" smtClean="0"/>
              <a:t>표시</a:t>
            </a:r>
            <a:r>
              <a:rPr lang="en-US" altLang="ko-KR" dirty="0" smtClean="0"/>
              <a:t/>
            </a:r>
            <a:br>
              <a:rPr lang="en-US" altLang="ko-KR" dirty="0" smtClean="0"/>
            </a:br>
            <a:r>
              <a:rPr lang="en-US" altLang="ko-KR" dirty="0" smtClean="0"/>
              <a:t>2-3]</a:t>
            </a:r>
            <a:r>
              <a:rPr lang="ko-KR" altLang="en-US" dirty="0" smtClean="0"/>
              <a:t>삭제 아이콘 </a:t>
            </a:r>
            <a:r>
              <a:rPr lang="ko-KR" altLang="en-US" dirty="0"/>
              <a:t>노출</a:t>
            </a:r>
            <a:r>
              <a:rPr lang="en-US" altLang="ko-KR" dirty="0"/>
              <a:t/>
            </a:r>
            <a:br>
              <a:rPr lang="en-US" altLang="ko-KR" dirty="0"/>
            </a:br>
            <a:r>
              <a:rPr lang="en-US" altLang="ko-KR" dirty="0" smtClean="0"/>
              <a:t>-</a:t>
            </a:r>
            <a:r>
              <a:rPr lang="ko-KR" altLang="en-US" dirty="0" smtClean="0"/>
              <a:t>첨부한 파일 첨부 취소 기능</a:t>
            </a:r>
            <a:r>
              <a:rPr lang="en-US" altLang="ko-KR" dirty="0" smtClean="0"/>
              <a:t>.</a:t>
            </a:r>
          </a:p>
          <a:p>
            <a:pPr marL="228600" indent="-228600">
              <a:buFont typeface="+mj-lt"/>
              <a:buAutoNum type="arabicPeriod"/>
            </a:pP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생산능력서류제출</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생산능력서류 제출</a:t>
            </a:r>
            <a:r>
              <a:rPr lang="ko-KR" altLang="en-US" dirty="0"/>
              <a:t>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생산능력서류 제출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MUI-BD-03-P06</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1612043"/>
            <a:ext cx="2712027" cy="4629826"/>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1642441"/>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1776857"/>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1757536"/>
            <a:ext cx="1798758" cy="138499"/>
          </a:xfrm>
          <a:prstGeom prst="rect">
            <a:avLst/>
          </a:prstGeom>
          <a:noFill/>
        </p:spPr>
        <p:txBody>
          <a:bodyPr wrap="square" lIns="0" tIns="0" rIns="0" bIns="0" rtlCol="0">
            <a:spAutoFit/>
          </a:bodyPr>
          <a:lstStyle/>
          <a:p>
            <a:r>
              <a:rPr lang="ko-KR" altLang="en-US" sz="900" dirty="0">
                <a:latin typeface="+mn-ea"/>
              </a:rPr>
              <a:t>생산능력서류 제출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0189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생산능력서류 제출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235867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적격심사</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grpSp>
        <p:nvGrpSpPr>
          <p:cNvPr id="166" name="그룹 165"/>
          <p:cNvGrpSpPr/>
          <p:nvPr/>
        </p:nvGrpSpPr>
        <p:grpSpPr>
          <a:xfrm>
            <a:off x="720139" y="3827499"/>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3878080" y="3968989"/>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3" name="모서리가 둥근 직사각형 102"/>
          <p:cNvSpPr/>
          <p:nvPr/>
        </p:nvSpPr>
        <p:spPr>
          <a:xfrm>
            <a:off x="3831550" y="469316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476768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smtClean="0">
                <a:solidFill>
                  <a:schemeClr val="tx1">
                    <a:lumMod val="85000"/>
                    <a:lumOff val="15000"/>
                  </a:schemeClr>
                </a:solidFill>
                <a:latin typeface="맑은 고딕" panose="020B0503020000020004" pitchFamily="50" charset="-127"/>
              </a:rPr>
              <a:t>hwp</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smtClean="0">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482154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7" name="모서리가 둥근 직사각형 106"/>
          <p:cNvSpPr/>
          <p:nvPr/>
        </p:nvSpPr>
        <p:spPr>
          <a:xfrm>
            <a:off x="3831550" y="509985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TextBox 107">
            <a:extLst>
              <a:ext uri="{FF2B5EF4-FFF2-40B4-BE49-F238E27FC236}">
                <a16:creationId xmlns:a16="http://schemas.microsoft.com/office/drawing/2014/main" id="{FFC49AEA-2A8F-250C-A86A-A7751D9706C3}"/>
              </a:ext>
            </a:extLst>
          </p:cNvPr>
          <p:cNvSpPr txBox="1"/>
          <p:nvPr/>
        </p:nvSpPr>
        <p:spPr>
          <a:xfrm>
            <a:off x="4332218" y="517437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en-US" altLang="ko-KR" sz="700" dirty="0" smtClean="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909746" y="522823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3831550" y="4257533"/>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4332218" y="455804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53706" y="455804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3838314" y="455804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18" name="사각형: 둥근 모서리 15">
            <a:extLst>
              <a:ext uri="{FF2B5EF4-FFF2-40B4-BE49-F238E27FC236}">
                <a16:creationId xmlns:a16="http://schemas.microsoft.com/office/drawing/2014/main" id="{E2B61CFB-AD16-68D0-8752-50D9C5E01971}"/>
              </a:ext>
            </a:extLst>
          </p:cNvPr>
          <p:cNvSpPr/>
          <p:nvPr/>
        </p:nvSpPr>
        <p:spPr>
          <a:xfrm>
            <a:off x="6074127" y="5204653"/>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 name="그룹 2"/>
          <p:cNvGrpSpPr/>
          <p:nvPr/>
        </p:nvGrpSpPr>
        <p:grpSpPr>
          <a:xfrm>
            <a:off x="3844632" y="2030017"/>
            <a:ext cx="2630093" cy="1607125"/>
            <a:chOff x="3844632" y="3774686"/>
            <a:chExt cx="2630093" cy="1607125"/>
          </a:xfrm>
        </p:grpSpPr>
        <p:sp>
          <p:nvSpPr>
            <p:cNvPr id="161" name="TextBox 160">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62" name="직사각형 161"/>
            <p:cNvSpPr/>
            <p:nvPr/>
          </p:nvSpPr>
          <p:spPr>
            <a:xfrm>
              <a:off x="3846725" y="4082172"/>
              <a:ext cx="792000" cy="12996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33789" y="4082171"/>
              <a:ext cx="756848"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690637" y="4082171"/>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123-56-78901</a:t>
              </a:r>
              <a:endParaRPr lang="en-US" altLang="ko-KR" sz="700" dirty="0">
                <a:latin typeface="+mn-ea"/>
              </a:endParaRP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94" name="사각형: 둥근 모서리 15">
            <a:extLst>
              <a:ext uri="{FF2B5EF4-FFF2-40B4-BE49-F238E27FC236}">
                <a16:creationId xmlns:a16="http://schemas.microsoft.com/office/drawing/2014/main" id="{E2B61CFB-AD16-68D0-8752-50D9C5E01971}"/>
              </a:ext>
            </a:extLst>
          </p:cNvPr>
          <p:cNvSpPr/>
          <p:nvPr/>
        </p:nvSpPr>
        <p:spPr>
          <a:xfrm>
            <a:off x="6074127" y="4787861"/>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grpSp>
        <p:nvGrpSpPr>
          <p:cNvPr id="88" name="그룹 87"/>
          <p:cNvGrpSpPr/>
          <p:nvPr/>
        </p:nvGrpSpPr>
        <p:grpSpPr>
          <a:xfrm>
            <a:off x="8223250" y="0"/>
            <a:ext cx="3365500" cy="219465"/>
            <a:chOff x="8223250" y="0"/>
            <a:chExt cx="3365500" cy="219465"/>
          </a:xfrm>
        </p:grpSpPr>
        <p:sp>
          <p:nvSpPr>
            <p:cNvPr id="90" name="직사각형 89"/>
            <p:cNvSpPr/>
            <p:nvPr/>
          </p:nvSpPr>
          <p:spPr>
            <a:xfrm>
              <a:off x="8223250"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102" name="직사각형 101"/>
            <p:cNvSpPr/>
            <p:nvPr/>
          </p:nvSpPr>
          <p:spPr>
            <a:xfrm>
              <a:off x="9906000" y="0"/>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cxnSp>
        <p:nvCxnSpPr>
          <p:cNvPr id="106" name="직선 연결선 105">
            <a:extLst>
              <a:ext uri="{FF2B5EF4-FFF2-40B4-BE49-F238E27FC236}">
                <a16:creationId xmlns:a16="http://schemas.microsoft.com/office/drawing/2014/main" id="{E9293055-D5CD-4B9E-7F64-64B2D2CA7A52}"/>
              </a:ext>
            </a:extLst>
          </p:cNvPr>
          <p:cNvCxnSpPr/>
          <p:nvPr/>
        </p:nvCxnSpPr>
        <p:spPr>
          <a:xfrm>
            <a:off x="3795734" y="370115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타원 109">
            <a:extLst>
              <a:ext uri="{FF2B5EF4-FFF2-40B4-BE49-F238E27FC236}">
                <a16:creationId xmlns:a16="http://schemas.microsoft.com/office/drawing/2014/main" id="{37A7FF4F-0EAA-1463-560A-D5EC24416103}"/>
              </a:ext>
            </a:extLst>
          </p:cNvPr>
          <p:cNvSpPr/>
          <p:nvPr/>
        </p:nvSpPr>
        <p:spPr>
          <a:xfrm>
            <a:off x="3797380" y="3938995"/>
            <a:ext cx="172736"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ko-KR" altLang="en-US" sz="900" b="1" dirty="0" smtClean="0"/>
              <a:t>２</a:t>
            </a:r>
            <a:endParaRPr lang="ko-KR" altLang="en-US" sz="900" b="1" dirty="0"/>
          </a:p>
        </p:txBody>
      </p:sp>
      <p:sp>
        <p:nvSpPr>
          <p:cNvPr id="119" name="타원 118">
            <a:extLst>
              <a:ext uri="{FF2B5EF4-FFF2-40B4-BE49-F238E27FC236}">
                <a16:creationId xmlns:a16="http://schemas.microsoft.com/office/drawing/2014/main" id="{37A7FF4F-0EAA-1463-560A-D5EC24416103}"/>
              </a:ext>
            </a:extLst>
          </p:cNvPr>
          <p:cNvSpPr/>
          <p:nvPr/>
        </p:nvSpPr>
        <p:spPr>
          <a:xfrm>
            <a:off x="3857638" y="416978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a:t>2</a:t>
            </a:r>
            <a:r>
              <a:rPr lang="en-US" altLang="ko-KR" sz="600" b="1" dirty="0" smtClean="0"/>
              <a:t>-1</a:t>
            </a:r>
            <a:endParaRPr lang="ko-KR" altLang="en-US" sz="600" b="1" dirty="0"/>
          </a:p>
        </p:txBody>
      </p:sp>
      <p:sp>
        <p:nvSpPr>
          <p:cNvPr id="123" name="타원 122">
            <a:extLst>
              <a:ext uri="{FF2B5EF4-FFF2-40B4-BE49-F238E27FC236}">
                <a16:creationId xmlns:a16="http://schemas.microsoft.com/office/drawing/2014/main" id="{37A7FF4F-0EAA-1463-560A-D5EC24416103}"/>
              </a:ext>
            </a:extLst>
          </p:cNvPr>
          <p:cNvSpPr/>
          <p:nvPr/>
        </p:nvSpPr>
        <p:spPr>
          <a:xfrm>
            <a:off x="3846725" y="460421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2-2</a:t>
            </a:r>
            <a:endParaRPr lang="ko-KR" altLang="en-US" sz="600" b="1" dirty="0"/>
          </a:p>
        </p:txBody>
      </p:sp>
      <p:sp>
        <p:nvSpPr>
          <p:cNvPr id="127" name="타원 126">
            <a:extLst>
              <a:ext uri="{FF2B5EF4-FFF2-40B4-BE49-F238E27FC236}">
                <a16:creationId xmlns:a16="http://schemas.microsoft.com/office/drawing/2014/main" id="{37A7FF4F-0EAA-1463-560A-D5EC24416103}"/>
              </a:ext>
            </a:extLst>
          </p:cNvPr>
          <p:cNvSpPr/>
          <p:nvPr/>
        </p:nvSpPr>
        <p:spPr>
          <a:xfrm>
            <a:off x="6040796" y="460421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2-3</a:t>
            </a:r>
            <a:endParaRPr lang="ko-KR" altLang="en-US" sz="600" b="1" dirty="0"/>
          </a:p>
        </p:txBody>
      </p:sp>
      <p:sp>
        <p:nvSpPr>
          <p:cNvPr id="131" name="타원 130">
            <a:extLst>
              <a:ext uri="{FF2B5EF4-FFF2-40B4-BE49-F238E27FC236}">
                <a16:creationId xmlns:a16="http://schemas.microsoft.com/office/drawing/2014/main" id="{37A7FF4F-0EAA-1463-560A-D5EC24416103}"/>
              </a:ext>
            </a:extLst>
          </p:cNvPr>
          <p:cNvSpPr/>
          <p:nvPr/>
        </p:nvSpPr>
        <p:spPr>
          <a:xfrm>
            <a:off x="4483024" y="5652221"/>
            <a:ext cx="172736"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33" name="직사각형 132"/>
          <p:cNvSpPr/>
          <p:nvPr/>
        </p:nvSpPr>
        <p:spPr>
          <a:xfrm>
            <a:off x="8223250" y="224565"/>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2026-07-13 </a:t>
            </a:r>
            <a:r>
              <a:rPr lang="ko-KR" altLang="en-US" dirty="0" smtClean="0"/>
              <a:t>화면 </a:t>
            </a:r>
            <a:r>
              <a:rPr lang="ko-KR" altLang="en-US" dirty="0"/>
              <a:t>수정</a:t>
            </a:r>
          </a:p>
        </p:txBody>
      </p:sp>
      <p:sp>
        <p:nvSpPr>
          <p:cNvPr id="134" name="직사각형 133"/>
          <p:cNvSpPr/>
          <p:nvPr/>
        </p:nvSpPr>
        <p:spPr>
          <a:xfrm>
            <a:off x="9906000" y="224565"/>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상세 내용 추가</a:t>
            </a:r>
            <a:endParaRPr lang="ko-KR" altLang="en-US" sz="700" dirty="0"/>
          </a:p>
        </p:txBody>
      </p:sp>
    </p:spTree>
    <p:extLst>
      <p:ext uri="{BB962C8B-B14F-4D97-AF65-F5344CB8AC3E}">
        <p14:creationId xmlns:p14="http://schemas.microsoft.com/office/powerpoint/2010/main" val="7764969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211</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376036"/>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56065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7916429"/>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588527"/>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Box 3">
            <a:extLst>
              <a:ext uri="{FF2B5EF4-FFF2-40B4-BE49-F238E27FC236}">
                <a16:creationId xmlns:a16="http://schemas.microsoft.com/office/drawing/2014/main" id="{123AF279-9584-E5FA-4D97-5D2B41ECDDC5}"/>
              </a:ext>
            </a:extLst>
          </p:cNvPr>
          <p:cNvSpPr txBox="1"/>
          <p:nvPr/>
        </p:nvSpPr>
        <p:spPr>
          <a:xfrm>
            <a:off x="453830" y="5205534"/>
            <a:ext cx="349351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생산능력서류 첨부파일 데이터 영역 </a:t>
            </a:r>
            <a:r>
              <a:rPr lang="en-US" altLang="ko-KR" sz="900" b="1" dirty="0">
                <a:solidFill>
                  <a:prstClr val="black"/>
                </a:solidFill>
              </a:rPr>
              <a:t>(</a:t>
            </a:r>
            <a:r>
              <a:rPr lang="en-US" altLang="ko-KR" sz="900" b="1" dirty="0" err="1">
                <a:solidFill>
                  <a:prstClr val="black"/>
                </a:solidFill>
              </a:rPr>
              <a:t>dlt_prdcpAtchFileList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A4ABA1CF-D2B3-505A-0E66-4350E82C73EC}"/>
              </a:ext>
            </a:extLst>
          </p:cNvPr>
          <p:cNvGraphicFramePr>
            <a:graphicFrameLocks noGrp="1"/>
          </p:cNvGraphicFramePr>
          <p:nvPr/>
        </p:nvGraphicFramePr>
        <p:xfrm>
          <a:off x="452291" y="5418025"/>
          <a:ext cx="8995589" cy="9696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구분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4101079"/>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파일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 크기 계산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7" name="Text Box 73">
            <a:extLst>
              <a:ext uri="{FF2B5EF4-FFF2-40B4-BE49-F238E27FC236}">
                <a16:creationId xmlns:a16="http://schemas.microsoft.com/office/drawing/2014/main" id="{F595C776-3D87-0A73-ADF3-0DC0B66A129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7F83E209-09E8-F9DE-57BF-7064471EEF05}"/>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109393862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212</a:t>
            </a:fld>
            <a:endParaRPr lang="ko-KR" altLang="en-US" dirty="0"/>
          </a:p>
        </p:txBody>
      </p:sp>
      <p:sp>
        <p:nvSpPr>
          <p:cNvPr id="2" name="TextBox 1">
            <a:extLst>
              <a:ext uri="{FF2B5EF4-FFF2-40B4-BE49-F238E27FC236}">
                <a16:creationId xmlns:a16="http://schemas.microsoft.com/office/drawing/2014/main" id="{DDA49C32-F6E2-9483-5ED4-B2B17A483DC0}"/>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7BD21460-3155-D6D5-A052-699C456EDC16}"/>
              </a:ext>
            </a:extLst>
          </p:cNvPr>
          <p:cNvGraphicFramePr>
            <a:graphicFrameLocks noGrp="1"/>
          </p:cNvGraphicFramePr>
          <p:nvPr/>
        </p:nvGraphicFramePr>
        <p:xfrm>
          <a:off x="453000" y="1039042"/>
          <a:ext cx="8995591" cy="11414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a:latin typeface="+mn-ea"/>
                          <a:ea typeface="+mn-ea"/>
                        </a:rPr>
                        <a:t>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생산능력서류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scwin.btn_sbmsn_onclick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생산능력서류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2402367"/>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생산능력서류제출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Box 73">
            <a:extLst>
              <a:ext uri="{FF2B5EF4-FFF2-40B4-BE49-F238E27FC236}">
                <a16:creationId xmlns:a16="http://schemas.microsoft.com/office/drawing/2014/main" id="{C7861A2A-97DA-F161-CE03-F5FD4A5804C1}"/>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3162378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파일첨부</a:t>
            </a:r>
            <a:r>
              <a:rPr lang="en-US" altLang="ko-KR" dirty="0"/>
              <a:t>(</a:t>
            </a:r>
            <a:r>
              <a:rPr lang="ko-KR" altLang="en-US" dirty="0"/>
              <a:t>추가</a:t>
            </a:r>
            <a:r>
              <a:rPr lang="en-US" altLang="ko-KR" dirty="0"/>
              <a:t>) </a:t>
            </a:r>
            <a:r>
              <a:rPr lang="ko-KR" altLang="en-US" dirty="0"/>
              <a:t>방식 </a:t>
            </a:r>
            <a:r>
              <a:rPr lang="ko-KR" altLang="en-US" dirty="0" smtClean="0"/>
              <a:t>선택</a:t>
            </a:r>
            <a:r>
              <a:rPr lang="en-US" altLang="ko-KR" dirty="0" smtClean="0"/>
              <a:t/>
            </a:r>
            <a:br>
              <a:rPr lang="en-US" altLang="ko-KR" dirty="0" smtClean="0"/>
            </a:br>
            <a:r>
              <a:rPr lang="en-US" altLang="ko-KR" dirty="0" smtClean="0"/>
              <a:t>1-1] </a:t>
            </a:r>
            <a:r>
              <a:rPr lang="ko-KR" altLang="en-US" dirty="0" err="1" smtClean="0"/>
              <a:t>직접업로드</a:t>
            </a:r>
            <a:r>
              <a:rPr lang="en-US" altLang="ko-KR" dirty="0" smtClean="0"/>
              <a:t/>
            </a:r>
            <a:br>
              <a:rPr lang="en-US" altLang="ko-KR" dirty="0" smtClean="0"/>
            </a:br>
            <a:r>
              <a:rPr lang="en-US" altLang="ko-KR" dirty="0" smtClean="0"/>
              <a:t>- </a:t>
            </a:r>
            <a:r>
              <a:rPr lang="ko-KR" altLang="en-US" dirty="0" smtClean="0"/>
              <a:t>시스템 파일 </a:t>
            </a:r>
            <a:r>
              <a:rPr lang="ko-KR" altLang="en-US" dirty="0" err="1" smtClean="0"/>
              <a:t>선택기</a:t>
            </a:r>
            <a:r>
              <a:rPr lang="ko-KR" altLang="en-US" dirty="0" smtClean="0"/>
              <a:t> 호출</a:t>
            </a:r>
            <a:r>
              <a:rPr lang="en-US" altLang="ko-KR" dirty="0" smtClean="0"/>
              <a:t/>
            </a:r>
            <a:br>
              <a:rPr lang="en-US" altLang="ko-KR" dirty="0" smtClean="0"/>
            </a:br>
            <a:r>
              <a:rPr lang="en-US" altLang="ko-KR" dirty="0" smtClean="0"/>
              <a:t>- </a:t>
            </a:r>
            <a:r>
              <a:rPr lang="ko-KR" altLang="en-US" dirty="0" smtClean="0"/>
              <a:t>사용자 단말기에 저장된 파일을 선택하여 업로드 </a:t>
            </a:r>
            <a:r>
              <a:rPr lang="en-US" altLang="ko-KR" dirty="0" smtClean="0">
                <a:solidFill>
                  <a:schemeClr val="bg1">
                    <a:lumMod val="75000"/>
                  </a:schemeClr>
                </a:solidFill>
              </a:rPr>
              <a:t>(</a:t>
            </a:r>
            <a:r>
              <a:rPr lang="ko-KR" altLang="en-US" dirty="0" smtClean="0">
                <a:solidFill>
                  <a:schemeClr val="bg1">
                    <a:lumMod val="75000"/>
                  </a:schemeClr>
                </a:solidFill>
              </a:rPr>
              <a:t>현재 정확한정보없음</a:t>
            </a:r>
            <a:r>
              <a:rPr lang="en-US" altLang="ko-KR" dirty="0" smtClean="0">
                <a:solidFill>
                  <a:schemeClr val="bg1">
                    <a:lumMod val="75000"/>
                  </a:schemeClr>
                </a:solidFill>
              </a:rPr>
              <a:t>)</a:t>
            </a:r>
            <a:r>
              <a:rPr lang="en-US" altLang="ko-KR" dirty="0" smtClean="0"/>
              <a:t/>
            </a:r>
            <a:br>
              <a:rPr lang="en-US" altLang="ko-KR" dirty="0" smtClean="0"/>
            </a:br>
            <a:r>
              <a:rPr lang="en-US" altLang="ko-KR" dirty="0" smtClean="0">
                <a:solidFill>
                  <a:schemeClr val="bg1">
                    <a:lumMod val="75000"/>
                  </a:schemeClr>
                </a:solidFill>
              </a:rPr>
              <a:t>- </a:t>
            </a:r>
            <a:r>
              <a:rPr lang="ko-KR" altLang="en-US" dirty="0" smtClean="0">
                <a:solidFill>
                  <a:schemeClr val="bg1">
                    <a:lumMod val="75000"/>
                  </a:schemeClr>
                </a:solidFill>
              </a:rPr>
              <a:t>가능한 </a:t>
            </a:r>
            <a:r>
              <a:rPr lang="ko-KR" altLang="en-US" dirty="0" err="1" smtClean="0">
                <a:solidFill>
                  <a:schemeClr val="bg1">
                    <a:lumMod val="75000"/>
                  </a:schemeClr>
                </a:solidFill>
              </a:rPr>
              <a:t>확장자</a:t>
            </a:r>
            <a:r>
              <a:rPr lang="ko-KR" altLang="en-US" dirty="0" smtClean="0">
                <a:solidFill>
                  <a:schemeClr val="bg1">
                    <a:lumMod val="75000"/>
                  </a:schemeClr>
                </a:solidFill>
              </a:rPr>
              <a:t>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a:t>
            </a:r>
            <a:r>
              <a:rPr lang="ko-KR" altLang="en-US" dirty="0" err="1" smtClean="0">
                <a:solidFill>
                  <a:schemeClr val="bg1">
                    <a:lumMod val="75000"/>
                  </a:schemeClr>
                </a:solidFill>
              </a:rPr>
              <a:t>파일크기</a:t>
            </a:r>
            <a:r>
              <a:rPr lang="ko-KR" altLang="en-US" dirty="0" smtClean="0">
                <a:solidFill>
                  <a:schemeClr val="bg1">
                    <a:lumMod val="75000"/>
                  </a:schemeClr>
                </a:solidFill>
              </a:rPr>
              <a:t> </a:t>
            </a:r>
            <a:r>
              <a:rPr lang="en-US" altLang="ko-KR" dirty="0" smtClean="0">
                <a:solidFill>
                  <a:schemeClr val="bg1">
                    <a:lumMod val="75000"/>
                  </a:schemeClr>
                </a:solidFill>
              </a:rPr>
              <a:t>: 2G</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smtClean="0">
                <a:solidFill>
                  <a:schemeClr val="bg1">
                    <a:lumMod val="75000"/>
                  </a:schemeClr>
                </a:solidFill>
              </a:rPr>
              <a:t>최대 첨부 개수 </a:t>
            </a:r>
            <a:r>
              <a:rPr lang="en-US" altLang="ko-KR" dirty="0" smtClean="0">
                <a:solidFill>
                  <a:schemeClr val="bg1">
                    <a:lumMod val="75000"/>
                  </a:schemeClr>
                </a:solidFill>
              </a:rPr>
              <a:t>: ?</a:t>
            </a:r>
            <a:br>
              <a:rPr lang="en-US" altLang="ko-KR" dirty="0" smtClean="0">
                <a:solidFill>
                  <a:schemeClr val="bg1">
                    <a:lumMod val="75000"/>
                  </a:schemeClr>
                </a:solidFill>
              </a:rPr>
            </a:br>
            <a:r>
              <a:rPr lang="en-US" altLang="ko-KR" dirty="0" smtClean="0">
                <a:solidFill>
                  <a:schemeClr val="bg1">
                    <a:lumMod val="75000"/>
                  </a:schemeClr>
                </a:solidFill>
              </a:rPr>
              <a:t>- </a:t>
            </a:r>
            <a:r>
              <a:rPr lang="ko-KR" altLang="en-US" dirty="0" err="1" smtClean="0">
                <a:solidFill>
                  <a:schemeClr val="bg1">
                    <a:lumMod val="75000"/>
                  </a:schemeClr>
                </a:solidFill>
              </a:rPr>
              <a:t>중복파일</a:t>
            </a:r>
            <a:r>
              <a:rPr lang="ko-KR" altLang="en-US" dirty="0" smtClean="0">
                <a:solidFill>
                  <a:schemeClr val="bg1">
                    <a:lumMod val="75000"/>
                  </a:schemeClr>
                </a:solidFill>
              </a:rPr>
              <a:t> 처리여부 </a:t>
            </a:r>
            <a:r>
              <a:rPr lang="en-US" altLang="ko-KR" dirty="0" smtClean="0">
                <a:solidFill>
                  <a:schemeClr val="bg1">
                    <a:lumMod val="75000"/>
                  </a:schemeClr>
                </a:solidFill>
              </a:rPr>
              <a:t>: ? </a:t>
            </a:r>
            <a:r>
              <a:rPr lang="en-US" altLang="ko-KR" dirty="0" smtClean="0"/>
              <a:t/>
            </a:r>
            <a:br>
              <a:rPr lang="en-US" altLang="ko-KR" dirty="0" smtClean="0"/>
            </a:br>
            <a:r>
              <a:rPr lang="en-US" altLang="ko-KR" dirty="0" smtClean="0"/>
              <a:t>- </a:t>
            </a:r>
            <a:r>
              <a:rPr lang="ko-KR" altLang="en-US" dirty="0" smtClean="0"/>
              <a:t>파일 </a:t>
            </a:r>
            <a:r>
              <a:rPr lang="ko-KR" altLang="en-US" dirty="0" err="1" smtClean="0"/>
              <a:t>취소한경우</a:t>
            </a:r>
            <a:r>
              <a:rPr lang="ko-KR" altLang="en-US" dirty="0" smtClean="0"/>
              <a:t> </a:t>
            </a:r>
            <a:r>
              <a:rPr lang="ko-KR" altLang="en-US" dirty="0" err="1" smtClean="0"/>
              <a:t>이전화면</a:t>
            </a:r>
            <a:r>
              <a:rPr lang="ko-KR" altLang="en-US" dirty="0" smtClean="0"/>
              <a:t> 유지</a:t>
            </a:r>
            <a:r>
              <a:rPr lang="en-US" altLang="ko-KR" dirty="0" smtClean="0"/>
              <a:t/>
            </a:r>
            <a:br>
              <a:rPr lang="en-US" altLang="ko-KR" dirty="0" smtClean="0"/>
            </a:br>
            <a:r>
              <a:rPr lang="ko-KR" altLang="en-US" dirty="0" smtClean="0"/>
              <a:t>캐비닛 목록 호출</a:t>
            </a:r>
            <a:r>
              <a:rPr lang="en-US" altLang="ko-KR" dirty="0" smtClean="0"/>
              <a:t>:</a:t>
            </a:r>
            <a:r>
              <a:rPr lang="en-US" altLang="ko-KR" dirty="0">
                <a:solidFill>
                  <a:srgbClr val="000000"/>
                </a:solidFill>
                <a:latin typeface="맑은 고딕" panose="020B0503020000020004" pitchFamily="50" charset="-127"/>
              </a:rPr>
              <a:t> </a:t>
            </a:r>
            <a:r>
              <a:rPr lang="en-US" altLang="ko-KR" dirty="0" smtClean="0">
                <a:solidFill>
                  <a:srgbClr val="000000"/>
                </a:solidFill>
                <a:latin typeface="맑은 고딕" panose="020B0503020000020004" pitchFamily="50" charset="-127"/>
              </a:rPr>
              <a:t>MUI-CM-06-M14</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캐비닛 목록화면으로 이동</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 </a:t>
            </a:r>
            <a:r>
              <a:rPr lang="ko-KR" altLang="en-US" dirty="0" smtClean="0">
                <a:solidFill>
                  <a:srgbClr val="000000"/>
                </a:solidFill>
                <a:latin typeface="맑은 고딕" panose="020B0503020000020004" pitchFamily="50" charset="-127"/>
              </a:rPr>
              <a:t>사용자가 선택한 파일을 </a:t>
            </a:r>
            <a:r>
              <a:rPr lang="ko-KR" altLang="en-US" dirty="0" err="1" smtClean="0">
                <a:solidFill>
                  <a:srgbClr val="000000"/>
                </a:solidFill>
                <a:latin typeface="맑은 고딕" panose="020B0503020000020004" pitchFamily="50" charset="-127"/>
              </a:rPr>
              <a:t>첨부목록에</a:t>
            </a:r>
            <a:r>
              <a:rPr lang="ko-KR" altLang="en-US" dirty="0" smtClean="0">
                <a:solidFill>
                  <a:srgbClr val="000000"/>
                </a:solidFill>
                <a:latin typeface="맑은 고딕" panose="020B0503020000020004" pitchFamily="50" charset="-127"/>
              </a:rPr>
              <a:t> 추가</a:t>
            </a:r>
            <a:r>
              <a:rPr lang="en-US" altLang="ko-KR" dirty="0" smtClean="0">
                <a:solidFill>
                  <a:srgbClr val="000000"/>
                </a:solidFill>
                <a:latin typeface="맑은 고딕" panose="020B0503020000020004" pitchFamily="50" charset="-127"/>
              </a:rPr>
              <a:t/>
            </a:r>
            <a:br>
              <a:rPr lang="en-US" altLang="ko-KR" dirty="0" smtClean="0">
                <a:solidFill>
                  <a:srgbClr val="000000"/>
                </a:solidFill>
                <a:latin typeface="맑은 고딕" panose="020B0503020000020004" pitchFamily="50" charset="-127"/>
              </a:rPr>
            </a:br>
            <a:r>
              <a:rPr lang="en-US" altLang="ko-KR" dirty="0" smtClean="0">
                <a:solidFill>
                  <a:srgbClr val="000000"/>
                </a:solidFill>
                <a:latin typeface="맑은 고딕" panose="020B0503020000020004" pitchFamily="50" charset="-127"/>
              </a:rPr>
              <a:t>-</a:t>
            </a:r>
            <a:r>
              <a:rPr lang="ko-KR" altLang="en-US" dirty="0" smtClean="0"/>
              <a:t> </a:t>
            </a:r>
            <a:r>
              <a:rPr lang="ko-KR" altLang="en-US" dirty="0"/>
              <a:t>선택 완료 후 이전화면으로 복귀</a:t>
            </a:r>
            <a:r>
              <a:rPr lang="en-US" altLang="ko-KR" dirty="0"/>
              <a:t>.(</a:t>
            </a:r>
            <a:r>
              <a:rPr lang="ko-KR" altLang="en-US" dirty="0"/>
              <a:t>파일첨부목록</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smtClean="0">
                <a:latin typeface="+mn-ea"/>
              </a:rPr>
              <a:t>캐비닛연결</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첨부 파일</a:t>
            </a:r>
            <a:r>
              <a:rPr lang="en-US" altLang="ko-KR" dirty="0">
                <a:latin typeface="+mn-ea"/>
              </a:rPr>
              <a:t>, </a:t>
            </a:r>
            <a:r>
              <a:rPr lang="ko-KR" altLang="en-US" dirty="0">
                <a:latin typeface="+mn-ea"/>
              </a:rPr>
              <a:t>캐비닛 선택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Autofit/>
          </a:bodyPr>
          <a:lstStyle/>
          <a:p>
            <a:r>
              <a:rPr lang="ko-KR" altLang="en-US" sz="700" dirty="0"/>
              <a:t>홈 </a:t>
            </a:r>
            <a:r>
              <a:rPr lang="en-US" altLang="ko-KR" sz="700" dirty="0"/>
              <a:t>&gt; </a:t>
            </a:r>
            <a:r>
              <a:rPr lang="ko-KR" altLang="en-US" sz="700" dirty="0">
                <a:latin typeface="+mn-ea"/>
              </a:rPr>
              <a:t>입찰 진행 </a:t>
            </a:r>
            <a:r>
              <a:rPr lang="en-US" altLang="ko-KR" sz="700" dirty="0">
                <a:latin typeface="+mn-ea"/>
              </a:rPr>
              <a:t>&gt; </a:t>
            </a:r>
            <a:r>
              <a:rPr lang="ko-KR" altLang="en-US" sz="700" dirty="0">
                <a:latin typeface="+mn-ea"/>
              </a:rPr>
              <a:t>입찰서</a:t>
            </a:r>
            <a:r>
              <a:rPr lang="en-US" altLang="ko-KR" sz="700" dirty="0">
                <a:latin typeface="+mn-ea"/>
              </a:rPr>
              <a:t>(</a:t>
            </a:r>
            <a:r>
              <a:rPr lang="ko-KR" altLang="en-US" sz="700" dirty="0">
                <a:latin typeface="+mn-ea"/>
              </a:rPr>
              <a:t>견적서</a:t>
            </a:r>
            <a:r>
              <a:rPr lang="en-US" altLang="ko-KR" sz="700" dirty="0">
                <a:latin typeface="+mn-ea"/>
              </a:rPr>
              <a:t>)</a:t>
            </a:r>
            <a:r>
              <a:rPr lang="ko-KR" altLang="en-US" sz="700" dirty="0">
                <a:latin typeface="+mn-ea"/>
              </a:rPr>
              <a:t>작성 </a:t>
            </a:r>
            <a:r>
              <a:rPr lang="en-US" altLang="ko-KR" sz="700" dirty="0" smtClean="0">
                <a:latin typeface="+mn-ea"/>
              </a:rPr>
              <a:t>– </a:t>
            </a:r>
            <a:r>
              <a:rPr lang="ko-KR" altLang="en-US" sz="700" dirty="0" smtClean="0">
                <a:latin typeface="+mn-ea"/>
              </a:rPr>
              <a:t>파일첨부</a:t>
            </a:r>
            <a:r>
              <a:rPr lang="en-US" altLang="ko-KR" sz="700" dirty="0" smtClean="0">
                <a:latin typeface="+mn-ea"/>
              </a:rPr>
              <a:t>&gt;</a:t>
            </a:r>
            <a:r>
              <a:rPr lang="ko-KR" altLang="en-US" sz="700" dirty="0" smtClean="0">
                <a:latin typeface="+mn-ea"/>
              </a:rPr>
              <a:t>파일첨부 </a:t>
            </a:r>
            <a:r>
              <a:rPr lang="ko-KR" altLang="en-US" sz="700" dirty="0">
                <a:latin typeface="+mn-ea"/>
              </a:rPr>
              <a:t>방식 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4622157"/>
            <a:ext cx="2712027" cy="1610141"/>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470655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484097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4821654"/>
            <a:ext cx="1798758" cy="138499"/>
          </a:xfrm>
          <a:prstGeom prst="rect">
            <a:avLst/>
          </a:prstGeom>
          <a:noFill/>
        </p:spPr>
        <p:txBody>
          <a:bodyPr wrap="square" lIns="0" tIns="0" rIns="0" bIns="0" rtlCol="0">
            <a:spAutoFit/>
          </a:bodyPr>
          <a:lstStyle/>
          <a:p>
            <a:r>
              <a:rPr lang="ko-KR" altLang="en-US" sz="900" dirty="0">
                <a:latin typeface="+mn-ea"/>
              </a:rPr>
              <a:t>파일첨부 방식 선택</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508305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사각형: 둥근 모서리 15">
            <a:extLst>
              <a:ext uri="{FF2B5EF4-FFF2-40B4-BE49-F238E27FC236}">
                <a16:creationId xmlns:a16="http://schemas.microsoft.com/office/drawing/2014/main" id="{E2B61CFB-AD16-68D0-8752-50D9C5E01971}"/>
              </a:ext>
            </a:extLst>
          </p:cNvPr>
          <p:cNvSpPr/>
          <p:nvPr/>
        </p:nvSpPr>
        <p:spPr>
          <a:xfrm>
            <a:off x="767703" y="5296114"/>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직접 </a:t>
            </a:r>
            <a:r>
              <a:rPr kumimoji="1" lang="ko-KR" altLang="en-US" sz="1000" kern="0" dirty="0">
                <a:solidFill>
                  <a:srgbClr val="0070C0"/>
                </a:solidFill>
                <a:latin typeface="맑은 고딕"/>
                <a:ea typeface="맑은 고딕" panose="020B0503020000020004" pitchFamily="50" charset="-127"/>
              </a:rPr>
              <a:t>업로드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3" y="5744634"/>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캐비닛 선택 업로드</a:t>
            </a:r>
            <a:endParaRPr kumimoji="1" lang="en-US" sz="1000" b="0" i="0" u="none" strike="noStrike" kern="0" cap="none" spc="0" normalizeH="0" baseline="0" noProof="0" dirty="0">
              <a:ln>
                <a:noFill/>
              </a:ln>
              <a:effectLst/>
              <a:uLnTx/>
              <a:uFillTx/>
              <a:latin typeface="맑은 고딕"/>
            </a:endParaRPr>
          </a:p>
        </p:txBody>
      </p:sp>
      <p:sp>
        <p:nvSpPr>
          <p:cNvPr id="161" name="타원 160">
            <a:extLst>
              <a:ext uri="{FF2B5EF4-FFF2-40B4-BE49-F238E27FC236}">
                <a16:creationId xmlns:a16="http://schemas.microsoft.com/office/drawing/2014/main" id="{37A7FF4F-0EAA-1463-560A-D5EC24416103}"/>
              </a:ext>
            </a:extLst>
          </p:cNvPr>
          <p:cNvSpPr/>
          <p:nvPr/>
        </p:nvSpPr>
        <p:spPr>
          <a:xfrm>
            <a:off x="571127" y="53681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571127" y="582540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8" name="직사각형 57"/>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9" name="직사각형 58"/>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Tree>
    <p:extLst>
      <p:ext uri="{BB962C8B-B14F-4D97-AF65-F5344CB8AC3E}">
        <p14:creationId xmlns:p14="http://schemas.microsoft.com/office/powerpoint/2010/main" val="42516351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a:t>
            </a:r>
            <a:r>
              <a:rPr lang="ko-KR" altLang="en-US" dirty="0"/>
              <a:t>사용자가 </a:t>
            </a:r>
            <a:r>
              <a:rPr lang="ko-KR" altLang="en-US" dirty="0" err="1"/>
              <a:t>접근가능한</a:t>
            </a:r>
            <a:r>
              <a:rPr lang="ko-KR" altLang="en-US" dirty="0"/>
              <a:t> 폴더 목록 조</a:t>
            </a:r>
            <a:r>
              <a:rPr lang="en-US" altLang="ko-KR" dirty="0"/>
              <a:t/>
            </a:r>
            <a:br>
              <a:rPr lang="en-US" altLang="ko-KR" dirty="0"/>
            </a:br>
            <a:r>
              <a:rPr lang="ko-KR" altLang="en-US" dirty="0" smtClean="0"/>
              <a:t>회</a:t>
            </a:r>
            <a:r>
              <a:rPr lang="en-US" altLang="ko-KR" dirty="0" smtClean="0"/>
              <a:t/>
            </a:r>
            <a:br>
              <a:rPr lang="en-US" altLang="ko-KR" dirty="0" smtClean="0"/>
            </a:br>
            <a:r>
              <a:rPr lang="en-US" altLang="ko-KR" dirty="0" smtClean="0"/>
              <a:t>- </a:t>
            </a:r>
            <a:r>
              <a:rPr lang="ko-KR" altLang="en-US" dirty="0" smtClean="0"/>
              <a:t>폴더 </a:t>
            </a:r>
            <a:r>
              <a:rPr lang="ko-KR" altLang="en-US" dirty="0" err="1" smtClean="0"/>
              <a:t>선택시</a:t>
            </a:r>
            <a:r>
              <a:rPr lang="ko-KR" altLang="en-US" dirty="0" smtClean="0"/>
              <a:t> 하위 파일 목록 화면으로 이동</a:t>
            </a:r>
            <a:r>
              <a:rPr lang="en-US" altLang="ko-KR" dirty="0" smtClean="0"/>
              <a:t/>
            </a:r>
            <a:br>
              <a:rPr lang="en-US" altLang="ko-KR" dirty="0" smtClean="0"/>
            </a:br>
            <a:r>
              <a:rPr lang="en-US" altLang="ko-KR" dirty="0" smtClean="0"/>
              <a:t>- </a:t>
            </a:r>
            <a:r>
              <a:rPr lang="ko-KR" altLang="en-US" dirty="0"/>
              <a:t>폴더의</a:t>
            </a:r>
            <a:r>
              <a:rPr lang="en-US" altLang="ko-KR" dirty="0"/>
              <a:t> </a:t>
            </a:r>
            <a:r>
              <a:rPr lang="ko-KR" altLang="en-US" dirty="0"/>
              <a:t>생성</a:t>
            </a:r>
            <a:r>
              <a:rPr lang="en-US" altLang="ko-KR" dirty="0"/>
              <a:t>, </a:t>
            </a:r>
            <a:r>
              <a:rPr lang="ko-KR" altLang="en-US" dirty="0"/>
              <a:t>삭제는 </a:t>
            </a:r>
            <a:r>
              <a:rPr lang="en-US" altLang="ko-KR" dirty="0"/>
              <a:t>PC</a:t>
            </a:r>
            <a:r>
              <a:rPr lang="ko-KR" altLang="en-US" dirty="0"/>
              <a:t>에서 제공</a:t>
            </a:r>
            <a:endParaRPr lang="en-US" altLang="ko-KR" dirty="0"/>
          </a:p>
          <a:p>
            <a:pPr marL="228600" indent="-228600">
              <a:buFont typeface="+mj-lt"/>
              <a:buAutoNum type="arabicPeriod"/>
            </a:pPr>
            <a:endParaRPr lang="en-US" altLang="ko-KR" dirty="0" smtClean="0"/>
          </a:p>
          <a:p>
            <a:pPr marL="228600" indent="-228600">
              <a:buFont typeface="+mj-lt"/>
              <a:buAutoNum type="arabicPeriod"/>
            </a:pPr>
            <a:r>
              <a:rPr lang="ko-KR" altLang="en-US" dirty="0"/>
              <a:t>권한 관리는 업체 대표자에게만 표시됨</a:t>
            </a:r>
            <a:r>
              <a:rPr lang="en-US" altLang="ko-KR" dirty="0"/>
              <a:t>.</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 업로드로 진입하는 경우</a:t>
            </a:r>
            <a:r>
              <a:rPr lang="en-US" altLang="ko-KR" dirty="0"/>
              <a:t/>
            </a:r>
            <a:br>
              <a:rPr lang="en-US" altLang="ko-KR" dirty="0"/>
            </a:br>
            <a:r>
              <a:rPr lang="en-US" altLang="ko-KR" dirty="0"/>
              <a:t>- </a:t>
            </a:r>
            <a:r>
              <a:rPr lang="ko-KR" altLang="en-US" dirty="0"/>
              <a:t>권한 버튼 숨김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solidFill>
                  <a:srgbClr val="FF0000"/>
                </a:solidFill>
              </a:rPr>
              <a:t>- </a:t>
            </a:r>
            <a:r>
              <a:rPr lang="ko-KR" altLang="en-US" dirty="0">
                <a:solidFill>
                  <a:srgbClr val="FF0000"/>
                </a:solidFill>
              </a:rPr>
              <a:t>폴더의 권한은 표시하지 </a:t>
            </a:r>
            <a:r>
              <a:rPr lang="ko-KR" altLang="en-US" dirty="0" smtClean="0">
                <a:solidFill>
                  <a:srgbClr val="FF0000"/>
                </a:solidFill>
              </a:rPr>
              <a:t>않음</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solidFill>
                  <a:prstClr val="black"/>
                </a:solidFill>
                <a:latin typeface="맑은 고딕" panose="020B0503020000020004" pitchFamily="50" charset="-127"/>
              </a:rPr>
              <a:t>디지털캐비닛</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nSpc>
                <a:spcPct val="100000"/>
              </a:lnSpc>
              <a:spcBef>
                <a:spcPts val="0"/>
              </a:spcBef>
              <a:defRPr/>
            </a:pPr>
            <a:r>
              <a:rPr lang="ko-KR" altLang="en-US" dirty="0">
                <a:solidFill>
                  <a:prstClr val="black"/>
                </a:solidFill>
                <a:latin typeface="맑은 고딕" panose="020B0503020000020004" pitchFamily="50" charset="-127"/>
              </a:rPr>
              <a:t>디지털 캐비닛</a:t>
            </a:r>
            <a:r>
              <a:rPr lang="en-US" altLang="ko-KR" dirty="0">
                <a:solidFill>
                  <a:prstClr val="black"/>
                </a:solidFill>
                <a:latin typeface="맑은 고딕" panose="020B0503020000020004" pitchFamily="50" charset="-127"/>
              </a:rPr>
              <a:t>, </a:t>
            </a:r>
            <a:r>
              <a:rPr lang="ko-KR" altLang="en-US" dirty="0">
                <a:solidFill>
                  <a:prstClr val="black"/>
                </a:solidFill>
                <a:latin typeface="맑은 고딕" panose="020B0503020000020004" pitchFamily="50" charset="-127"/>
              </a:rPr>
              <a:t>사용자가 등록한 자료 폴더 목록</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smtClean="0">
                <a:latin typeface="+mn-ea"/>
              </a:rPr>
              <a:t>메인 홈 </a:t>
            </a:r>
            <a:r>
              <a:rPr lang="en-US" altLang="ko-KR" dirty="0" smtClean="0">
                <a:latin typeface="+mn-ea"/>
              </a:rPr>
              <a:t>&gt; </a:t>
            </a:r>
            <a:r>
              <a:rPr lang="ko-KR" altLang="en-US" dirty="0" err="1" smtClean="0">
                <a:latin typeface="+mn-ea"/>
              </a:rPr>
              <a:t>마이페이지</a:t>
            </a:r>
            <a:r>
              <a:rPr lang="ko-KR" altLang="en-US" dirty="0" smtClean="0">
                <a:latin typeface="+mn-ea"/>
              </a:rPr>
              <a:t> </a:t>
            </a:r>
            <a:r>
              <a:rPr lang="en-US" altLang="ko-KR" dirty="0" smtClean="0">
                <a:latin typeface="+mn-ea"/>
              </a:rPr>
              <a:t>&gt; </a:t>
            </a:r>
            <a:r>
              <a:rPr lang="ko-KR" altLang="en-US" dirty="0" smtClean="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MUI-CM-06-M14</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8757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4" name="TextBox 58">
            <a:extLst>
              <a:ext uri="{FF2B5EF4-FFF2-40B4-BE49-F238E27FC236}">
                <a16:creationId xmlns:a16="http://schemas.microsoft.com/office/drawing/2014/main" id="{02FC114B-B48B-345F-BD70-2B5A196F5B3E}"/>
              </a:ext>
            </a:extLst>
          </p:cNvPr>
          <p:cNvSpPr txBox="1"/>
          <p:nvPr/>
        </p:nvSpPr>
        <p:spPr>
          <a:xfrm>
            <a:off x="772625" y="26035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3" name="직선 연결선 72">
            <a:extLst>
              <a:ext uri="{FF2B5EF4-FFF2-40B4-BE49-F238E27FC236}">
                <a16:creationId xmlns:a16="http://schemas.microsoft.com/office/drawing/2014/main" id="{E9293055-D5CD-4B9E-7F64-64B2D2CA7A52}"/>
              </a:ext>
            </a:extLst>
          </p:cNvPr>
          <p:cNvCxnSpPr/>
          <p:nvPr/>
        </p:nvCxnSpPr>
        <p:spPr>
          <a:xfrm>
            <a:off x="675399" y="28745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3333470" y="25670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1" name="TextBox 58">
            <a:extLst>
              <a:ext uri="{FF2B5EF4-FFF2-40B4-BE49-F238E27FC236}">
                <a16:creationId xmlns:a16="http://schemas.microsoft.com/office/drawing/2014/main" id="{02FC114B-B48B-345F-BD70-2B5A196F5B3E}"/>
              </a:ext>
            </a:extLst>
          </p:cNvPr>
          <p:cNvSpPr txBox="1"/>
          <p:nvPr/>
        </p:nvSpPr>
        <p:spPr>
          <a:xfrm>
            <a:off x="1019814" y="25356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 |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53" name="사각형: 둥근 모서리 31">
            <a:extLst>
              <a:ext uri="{FF2B5EF4-FFF2-40B4-BE49-F238E27FC236}">
                <a16:creationId xmlns:a16="http://schemas.microsoft.com/office/drawing/2014/main" id="{2AC143EE-93CF-3518-F0CB-8469E98507E0}"/>
              </a:ext>
            </a:extLst>
          </p:cNvPr>
          <p:cNvSpPr/>
          <p:nvPr/>
        </p:nvSpPr>
        <p:spPr>
          <a:xfrm>
            <a:off x="2993286" y="25866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2" name="TextBox 58">
            <a:extLst>
              <a:ext uri="{FF2B5EF4-FFF2-40B4-BE49-F238E27FC236}">
                <a16:creationId xmlns:a16="http://schemas.microsoft.com/office/drawing/2014/main" id="{02FC114B-B48B-345F-BD70-2B5A196F5B3E}"/>
              </a:ext>
            </a:extLst>
          </p:cNvPr>
          <p:cNvSpPr txBox="1"/>
          <p:nvPr/>
        </p:nvSpPr>
        <p:spPr>
          <a:xfrm>
            <a:off x="772625" y="302577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296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TextBox 58">
            <a:extLst>
              <a:ext uri="{FF2B5EF4-FFF2-40B4-BE49-F238E27FC236}">
                <a16:creationId xmlns:a16="http://schemas.microsoft.com/office/drawing/2014/main" id="{02FC114B-B48B-345F-BD70-2B5A196F5B3E}"/>
              </a:ext>
            </a:extLst>
          </p:cNvPr>
          <p:cNvSpPr txBox="1"/>
          <p:nvPr/>
        </p:nvSpPr>
        <p:spPr>
          <a:xfrm>
            <a:off x="1019814" y="295787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06" name="사각형: 둥근 모서리 31">
            <a:extLst>
              <a:ext uri="{FF2B5EF4-FFF2-40B4-BE49-F238E27FC236}">
                <a16:creationId xmlns:a16="http://schemas.microsoft.com/office/drawing/2014/main" id="{2AC143EE-93CF-3518-F0CB-8469E98507E0}"/>
              </a:ext>
            </a:extLst>
          </p:cNvPr>
          <p:cNvSpPr/>
          <p:nvPr/>
        </p:nvSpPr>
        <p:spPr>
          <a:xfrm>
            <a:off x="2993286" y="300886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7" name="TextBox 58">
            <a:extLst>
              <a:ext uri="{FF2B5EF4-FFF2-40B4-BE49-F238E27FC236}">
                <a16:creationId xmlns:a16="http://schemas.microsoft.com/office/drawing/2014/main" id="{02FC114B-B48B-345F-BD70-2B5A196F5B3E}"/>
              </a:ext>
            </a:extLst>
          </p:cNvPr>
          <p:cNvSpPr txBox="1"/>
          <p:nvPr/>
        </p:nvSpPr>
        <p:spPr>
          <a:xfrm>
            <a:off x="772625" y="3439120"/>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75399" y="371007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58">
            <a:extLst>
              <a:ext uri="{FF2B5EF4-FFF2-40B4-BE49-F238E27FC236}">
                <a16:creationId xmlns:a16="http://schemas.microsoft.com/office/drawing/2014/main" id="{02FC114B-B48B-345F-BD70-2B5A196F5B3E}"/>
              </a:ext>
            </a:extLst>
          </p:cNvPr>
          <p:cNvSpPr txBox="1"/>
          <p:nvPr/>
        </p:nvSpPr>
        <p:spPr>
          <a:xfrm>
            <a:off x="1019814" y="3371225"/>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10MB</a:t>
            </a:r>
            <a:endParaRPr lang="ko-KR" altLang="en-US" sz="800" dirty="0">
              <a:solidFill>
                <a:prstClr val="black"/>
              </a:solidFill>
            </a:endParaRPr>
          </a:p>
        </p:txBody>
      </p:sp>
      <p:sp>
        <p:nvSpPr>
          <p:cNvPr id="125" name="사각형: 둥근 모서리 31">
            <a:extLst>
              <a:ext uri="{FF2B5EF4-FFF2-40B4-BE49-F238E27FC236}">
                <a16:creationId xmlns:a16="http://schemas.microsoft.com/office/drawing/2014/main" id="{2AC143EE-93CF-3518-F0CB-8469E98507E0}"/>
              </a:ext>
            </a:extLst>
          </p:cNvPr>
          <p:cNvSpPr/>
          <p:nvPr/>
        </p:nvSpPr>
        <p:spPr>
          <a:xfrm>
            <a:off x="2993286" y="3422215"/>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26" name="TextBox 58">
            <a:extLst>
              <a:ext uri="{FF2B5EF4-FFF2-40B4-BE49-F238E27FC236}">
                <a16:creationId xmlns:a16="http://schemas.microsoft.com/office/drawing/2014/main" id="{02FC114B-B48B-345F-BD70-2B5A196F5B3E}"/>
              </a:ext>
            </a:extLst>
          </p:cNvPr>
          <p:cNvSpPr txBox="1"/>
          <p:nvPr/>
        </p:nvSpPr>
        <p:spPr>
          <a:xfrm>
            <a:off x="772625" y="386037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4131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58">
            <a:extLst>
              <a:ext uri="{FF2B5EF4-FFF2-40B4-BE49-F238E27FC236}">
                <a16:creationId xmlns:a16="http://schemas.microsoft.com/office/drawing/2014/main" id="{02FC114B-B48B-345F-BD70-2B5A196F5B3E}"/>
              </a:ext>
            </a:extLst>
          </p:cNvPr>
          <p:cNvSpPr txBox="1"/>
          <p:nvPr/>
        </p:nvSpPr>
        <p:spPr>
          <a:xfrm>
            <a:off x="1019814" y="3792480"/>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2" name="사각형: 둥근 모서리 31">
            <a:extLst>
              <a:ext uri="{FF2B5EF4-FFF2-40B4-BE49-F238E27FC236}">
                <a16:creationId xmlns:a16="http://schemas.microsoft.com/office/drawing/2014/main" id="{2AC143EE-93CF-3518-F0CB-8469E98507E0}"/>
              </a:ext>
            </a:extLst>
          </p:cNvPr>
          <p:cNvSpPr/>
          <p:nvPr/>
        </p:nvSpPr>
        <p:spPr>
          <a:xfrm>
            <a:off x="2993286" y="3843470"/>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58">
            <a:extLst>
              <a:ext uri="{FF2B5EF4-FFF2-40B4-BE49-F238E27FC236}">
                <a16:creationId xmlns:a16="http://schemas.microsoft.com/office/drawing/2014/main" id="{02FC114B-B48B-345F-BD70-2B5A196F5B3E}"/>
              </a:ext>
            </a:extLst>
          </p:cNvPr>
          <p:cNvSpPr txBox="1"/>
          <p:nvPr/>
        </p:nvSpPr>
        <p:spPr>
          <a:xfrm>
            <a:off x="772625" y="4280031"/>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45509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58">
            <a:extLst>
              <a:ext uri="{FF2B5EF4-FFF2-40B4-BE49-F238E27FC236}">
                <a16:creationId xmlns:a16="http://schemas.microsoft.com/office/drawing/2014/main" id="{02FC114B-B48B-345F-BD70-2B5A196F5B3E}"/>
              </a:ext>
            </a:extLst>
          </p:cNvPr>
          <p:cNvSpPr txBox="1"/>
          <p:nvPr/>
        </p:nvSpPr>
        <p:spPr>
          <a:xfrm>
            <a:off x="1019814" y="4212136"/>
            <a:ext cx="2024722"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err="1">
                <a:solidFill>
                  <a:prstClr val="black"/>
                </a:solidFill>
              </a:rPr>
              <a:t>폴더명이</a:t>
            </a:r>
            <a:r>
              <a:rPr lang="ko-KR" altLang="en-US" sz="800" b="1" dirty="0">
                <a:solidFill>
                  <a:prstClr val="black"/>
                </a:solidFill>
              </a:rPr>
              <a:t> 표시됩니다</a:t>
            </a:r>
            <a:r>
              <a:rPr lang="en-US" altLang="ko-KR" sz="800" b="1" dirty="0">
                <a:solidFill>
                  <a:prstClr val="black"/>
                </a:solidFill>
              </a:rPr>
              <a:t>.</a:t>
            </a:r>
          </a:p>
          <a:p>
            <a:pPr lvl="0">
              <a:lnSpc>
                <a:spcPct val="120000"/>
              </a:lnSpc>
            </a:pPr>
            <a:r>
              <a:rPr lang="ko-KR" altLang="en-US" sz="600" dirty="0" err="1">
                <a:solidFill>
                  <a:prstClr val="black"/>
                </a:solidFill>
              </a:rPr>
              <a:t>수정일시</a:t>
            </a:r>
            <a:r>
              <a:rPr lang="ko-KR" altLang="en-US" sz="600" dirty="0">
                <a:solidFill>
                  <a:prstClr val="black"/>
                </a:solidFill>
              </a:rPr>
              <a:t> </a:t>
            </a:r>
            <a:r>
              <a:rPr lang="en-US" altLang="ko-KR" sz="600" dirty="0">
                <a:solidFill>
                  <a:prstClr val="black"/>
                </a:solidFill>
              </a:rPr>
              <a:t>2025-01-31 12:12</a:t>
            </a:r>
            <a:r>
              <a:rPr lang="ko-KR" altLang="en-US" sz="600" dirty="0">
                <a:solidFill>
                  <a:prstClr val="black"/>
                </a:solidFill>
              </a:rPr>
              <a:t> </a:t>
            </a:r>
            <a:r>
              <a:rPr lang="en-US" altLang="ko-KR" sz="600" dirty="0">
                <a:solidFill>
                  <a:prstClr val="black"/>
                </a:solidFill>
              </a:rPr>
              <a:t>| </a:t>
            </a:r>
            <a:r>
              <a:rPr lang="ko-KR" altLang="en-US" sz="600" dirty="0" err="1">
                <a:solidFill>
                  <a:prstClr val="black"/>
                </a:solidFill>
              </a:rPr>
              <a:t>폴더크기</a:t>
            </a:r>
            <a:r>
              <a:rPr lang="ko-KR" altLang="en-US" sz="600" dirty="0">
                <a:solidFill>
                  <a:prstClr val="black"/>
                </a:solidFill>
              </a:rPr>
              <a:t> </a:t>
            </a:r>
            <a:r>
              <a:rPr lang="en-US" altLang="ko-KR" sz="600" dirty="0">
                <a:solidFill>
                  <a:prstClr val="black"/>
                </a:solidFill>
              </a:rPr>
              <a:t>5MB</a:t>
            </a:r>
            <a:endParaRPr lang="ko-KR" altLang="en-US" sz="800" dirty="0">
              <a:solidFill>
                <a:prstClr val="black"/>
              </a:solidFill>
            </a:endParaRPr>
          </a:p>
        </p:txBody>
      </p:sp>
      <p:sp>
        <p:nvSpPr>
          <p:cNvPr id="137" name="사각형: 둥근 모서리 31">
            <a:extLst>
              <a:ext uri="{FF2B5EF4-FFF2-40B4-BE49-F238E27FC236}">
                <a16:creationId xmlns:a16="http://schemas.microsoft.com/office/drawing/2014/main" id="{2AC143EE-93CF-3518-F0CB-8469E98507E0}"/>
              </a:ext>
            </a:extLst>
          </p:cNvPr>
          <p:cNvSpPr/>
          <p:nvPr/>
        </p:nvSpPr>
        <p:spPr>
          <a:xfrm>
            <a:off x="2993286" y="4263126"/>
            <a:ext cx="290464" cy="156920"/>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권한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40" name="타원 139"/>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a:off x="3143548" y="2279636"/>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24553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직사각형 50"/>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52" name="직사각형 51"/>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55" name="직사각형 54"/>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9" name="직사각형 58"/>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Tree>
    <p:extLst>
      <p:ext uri="{BB962C8B-B14F-4D97-AF65-F5344CB8AC3E}">
        <p14:creationId xmlns:p14="http://schemas.microsoft.com/office/powerpoint/2010/main" val="238644640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생성한 폴더 구조 표시</a:t>
            </a:r>
            <a:r>
              <a:rPr lang="en-US" altLang="ko-KR" dirty="0"/>
              <a:t/>
            </a:r>
            <a:br>
              <a:rPr lang="en-US" altLang="ko-KR" dirty="0"/>
            </a:br>
            <a:r>
              <a:rPr lang="en-US" altLang="ko-KR" dirty="0"/>
              <a:t>- </a:t>
            </a:r>
            <a:r>
              <a:rPr lang="ko-KR" altLang="en-US" dirty="0"/>
              <a:t>클릭 시 상위 폴더 이동</a:t>
            </a:r>
            <a:endParaRPr lang="en-US" altLang="ko-KR" dirty="0"/>
          </a:p>
          <a:p>
            <a:pPr marL="228600" indent="-228600">
              <a:buFont typeface="+mj-lt"/>
              <a:buAutoNum type="arabicPeriod"/>
            </a:pPr>
            <a:r>
              <a:rPr lang="ko-KR" altLang="en-US" dirty="0"/>
              <a:t>파일 표시</a:t>
            </a:r>
            <a:r>
              <a:rPr lang="en-US" altLang="ko-KR" dirty="0"/>
              <a:t/>
            </a:r>
            <a:br>
              <a:rPr lang="en-US" altLang="ko-KR" dirty="0"/>
            </a:br>
            <a:r>
              <a:rPr lang="en-US" altLang="ko-KR" dirty="0"/>
              <a:t>- </a:t>
            </a:r>
            <a:r>
              <a:rPr lang="ko-KR" altLang="en-US" dirty="0"/>
              <a:t>파일 등록</a:t>
            </a:r>
            <a:r>
              <a:rPr lang="en-US" altLang="ko-KR" dirty="0"/>
              <a:t>, </a:t>
            </a:r>
            <a:r>
              <a:rPr lang="ko-KR" altLang="en-US" dirty="0"/>
              <a:t>삭제 </a:t>
            </a:r>
            <a:r>
              <a:rPr lang="en-US" altLang="ko-KR" dirty="0"/>
              <a:t>PC</a:t>
            </a:r>
            <a:r>
              <a:rPr lang="ko-KR" altLang="en-US" dirty="0"/>
              <a:t>에서 제공</a:t>
            </a:r>
            <a:r>
              <a:rPr lang="en-US" altLang="ko-KR" dirty="0"/>
              <a:t/>
            </a:r>
            <a:br>
              <a:rPr lang="en-US" altLang="ko-KR" dirty="0"/>
            </a:br>
            <a:r>
              <a:rPr lang="en-US" altLang="ko-KR" dirty="0"/>
              <a:t/>
            </a:r>
            <a:br>
              <a:rPr lang="en-US" altLang="ko-KR" dirty="0"/>
            </a:br>
            <a:r>
              <a:rPr lang="ko-KR" altLang="en-US" dirty="0"/>
              <a:t>파일첨부</a:t>
            </a:r>
            <a:r>
              <a:rPr lang="en-US" altLang="ko-KR" dirty="0"/>
              <a:t>, </a:t>
            </a:r>
            <a:r>
              <a:rPr lang="ko-KR" altLang="en-US" dirty="0"/>
              <a:t>파일 업로드 </a:t>
            </a:r>
            <a:r>
              <a:rPr lang="en-US" altLang="ko-KR" dirty="0"/>
              <a:t>&gt; </a:t>
            </a:r>
            <a:r>
              <a:rPr lang="ko-KR" altLang="en-US" dirty="0"/>
              <a:t>디지털 캐비닛 선택으로 진입하는 경우</a:t>
            </a:r>
            <a:r>
              <a:rPr lang="en-US" altLang="ko-KR" dirty="0"/>
              <a:t/>
            </a:r>
            <a:br>
              <a:rPr lang="en-US" altLang="ko-KR" dirty="0"/>
            </a:br>
            <a:r>
              <a:rPr lang="en-US" altLang="ko-KR" dirty="0"/>
              <a:t>- </a:t>
            </a:r>
            <a:r>
              <a:rPr lang="ko-KR" altLang="en-US" dirty="0"/>
              <a:t>선택 시 하이라이트 처리</a:t>
            </a:r>
            <a:endParaRPr lang="en-US" altLang="ko-KR" dirty="0"/>
          </a:p>
          <a:p>
            <a:pPr marL="228600" indent="-228600">
              <a:buFont typeface="+mj-lt"/>
              <a:buAutoNum type="arabicPeriod"/>
            </a:pPr>
            <a:endParaRPr lang="en-US" altLang="ko-KR" dirty="0"/>
          </a:p>
          <a:p>
            <a:pPr marL="228600" indent="-228600">
              <a:buFont typeface="+mj-lt"/>
              <a:buAutoNum type="arabicPeriod"/>
            </a:pPr>
            <a:r>
              <a:rPr lang="ko-KR" altLang="en-US" dirty="0"/>
              <a:t>입찰참가</a:t>
            </a:r>
            <a:r>
              <a:rPr lang="en-US" altLang="ko-KR" dirty="0"/>
              <a:t>, </a:t>
            </a:r>
            <a:r>
              <a:rPr lang="ko-KR" altLang="en-US" dirty="0"/>
              <a:t>입찰서 등을 작성할 때</a:t>
            </a:r>
            <a:r>
              <a:rPr lang="en-US" altLang="ko-KR" dirty="0"/>
              <a:t>, </a:t>
            </a:r>
            <a:r>
              <a:rPr lang="ko-KR" altLang="en-US" dirty="0"/>
              <a:t>사용자가 디지털 캐비닛의 파일첨부</a:t>
            </a:r>
            <a:r>
              <a:rPr lang="en-US" altLang="ko-KR" dirty="0"/>
              <a:t>, </a:t>
            </a:r>
            <a:r>
              <a:rPr lang="ko-KR" altLang="en-US" dirty="0"/>
              <a:t>파일업로드를 하는 경우</a:t>
            </a:r>
            <a:r>
              <a:rPr lang="en-US" altLang="ko-KR" dirty="0"/>
              <a:t/>
            </a:r>
            <a:br>
              <a:rPr lang="en-US" altLang="ko-KR" dirty="0"/>
            </a:br>
            <a:r>
              <a:rPr lang="en-US" altLang="ko-KR" dirty="0"/>
              <a:t>- </a:t>
            </a:r>
            <a:r>
              <a:rPr lang="ko-KR" altLang="en-US" dirty="0"/>
              <a:t>선택 파일 첨부 버튼 표시</a:t>
            </a:r>
            <a:r>
              <a:rPr lang="en-US" altLang="ko-KR" dirty="0"/>
              <a:t/>
            </a:r>
            <a:br>
              <a:rPr lang="en-US" altLang="ko-KR" dirty="0"/>
            </a:br>
            <a:r>
              <a:rPr lang="en-US" altLang="ko-KR" dirty="0"/>
              <a:t/>
            </a:r>
            <a:br>
              <a:rPr lang="en-US" altLang="ko-KR" dirty="0"/>
            </a:br>
            <a:r>
              <a:rPr lang="en-US" altLang="ko-KR" dirty="0">
                <a:solidFill>
                  <a:srgbClr val="FF0000"/>
                </a:solidFill>
              </a:rPr>
              <a:t>- </a:t>
            </a:r>
            <a:r>
              <a:rPr lang="ko-KR" altLang="en-US" dirty="0">
                <a:solidFill>
                  <a:srgbClr val="FF0000"/>
                </a:solidFill>
              </a:rPr>
              <a:t>입찰참가</a:t>
            </a:r>
            <a:r>
              <a:rPr lang="en-US" altLang="ko-KR" dirty="0">
                <a:solidFill>
                  <a:srgbClr val="FF0000"/>
                </a:solidFill>
              </a:rPr>
              <a:t>, </a:t>
            </a:r>
            <a:r>
              <a:rPr lang="ko-KR" altLang="en-US" dirty="0">
                <a:solidFill>
                  <a:srgbClr val="FF0000"/>
                </a:solidFill>
              </a:rPr>
              <a:t>입찰서 등에서 파일을 업로드</a:t>
            </a:r>
            <a:r>
              <a:rPr lang="en-US" altLang="ko-KR" dirty="0">
                <a:solidFill>
                  <a:srgbClr val="FF0000"/>
                </a:solidFill>
              </a:rPr>
              <a:t>(</a:t>
            </a:r>
            <a:r>
              <a:rPr lang="ko-KR" altLang="en-US" dirty="0">
                <a:solidFill>
                  <a:srgbClr val="FF0000"/>
                </a:solidFill>
              </a:rPr>
              <a:t>파일 첨부</a:t>
            </a:r>
            <a:r>
              <a:rPr lang="en-US" altLang="ko-KR" dirty="0">
                <a:solidFill>
                  <a:srgbClr val="FF0000"/>
                </a:solidFill>
              </a:rPr>
              <a:t>)</a:t>
            </a:r>
            <a:r>
              <a:rPr lang="ko-KR" altLang="en-US" dirty="0">
                <a:solidFill>
                  <a:srgbClr val="FF0000"/>
                </a:solidFill>
              </a:rPr>
              <a:t>할 때</a:t>
            </a:r>
            <a:r>
              <a:rPr lang="en-US" altLang="ko-KR" dirty="0">
                <a:solidFill>
                  <a:srgbClr val="FF0000"/>
                </a:solidFill>
              </a:rPr>
              <a:t>, </a:t>
            </a:r>
            <a:r>
              <a:rPr lang="ko-KR" altLang="en-US" dirty="0">
                <a:solidFill>
                  <a:srgbClr val="FF0000"/>
                </a:solidFill>
              </a:rPr>
              <a:t>사용자에게 </a:t>
            </a:r>
            <a:r>
              <a:rPr lang="ko-KR" altLang="en-US" dirty="0" err="1">
                <a:solidFill>
                  <a:srgbClr val="FF0000"/>
                </a:solidFill>
              </a:rPr>
              <a:t>직접업로드</a:t>
            </a:r>
            <a:r>
              <a:rPr lang="en-US" altLang="ko-KR" dirty="0">
                <a:solidFill>
                  <a:srgbClr val="FF0000"/>
                </a:solidFill>
              </a:rPr>
              <a:t>, </a:t>
            </a:r>
            <a:r>
              <a:rPr lang="ko-KR" altLang="en-US" dirty="0">
                <a:solidFill>
                  <a:srgbClr val="FF0000"/>
                </a:solidFill>
              </a:rPr>
              <a:t>캐비닛 업로드를 할 수 있는 팝업 선택지가 노출됨</a:t>
            </a:r>
            <a:r>
              <a:rPr lang="en-US" altLang="ko-KR" dirty="0">
                <a:solidFill>
                  <a:srgbClr val="FF0000"/>
                </a:solidFill>
              </a:rPr>
              <a:t>. </a:t>
            </a:r>
            <a:br>
              <a:rPr lang="en-US" altLang="ko-KR" dirty="0">
                <a:solidFill>
                  <a:srgbClr val="FF0000"/>
                </a:solidFill>
              </a:rPr>
            </a:br>
            <a:r>
              <a:rPr lang="en-US" altLang="ko-KR" dirty="0">
                <a:solidFill>
                  <a:srgbClr val="FF0000"/>
                </a:solidFill>
              </a:rPr>
              <a:t>- </a:t>
            </a:r>
            <a:r>
              <a:rPr lang="ko-KR" altLang="en-US" dirty="0">
                <a:solidFill>
                  <a:srgbClr val="FF0000"/>
                </a:solidFill>
              </a:rPr>
              <a:t>사용자가 디지털 캐비닛 업로드 선택 시 캐비닛의 파일을 선택하여 업로드할 수 있는 체크박스와 </a:t>
            </a:r>
            <a:r>
              <a:rPr lang="ko-KR" altLang="en-US" dirty="0" err="1">
                <a:solidFill>
                  <a:srgbClr val="FF0000"/>
                </a:solidFill>
              </a:rPr>
              <a:t>선택파일</a:t>
            </a:r>
            <a:r>
              <a:rPr lang="ko-KR" altLang="en-US" dirty="0">
                <a:solidFill>
                  <a:srgbClr val="FF0000"/>
                </a:solidFill>
              </a:rPr>
              <a:t> 첨부 버튼을 표시함</a:t>
            </a:r>
            <a:r>
              <a:rPr lang="en-US" altLang="ko-KR" dirty="0">
                <a:solidFill>
                  <a:srgbClr val="FF0000"/>
                </a:solidFill>
              </a:rPr>
              <a:t>.</a:t>
            </a:r>
            <a:br>
              <a:rPr lang="en-US" altLang="ko-KR" dirty="0">
                <a:solidFill>
                  <a:srgbClr val="FF0000"/>
                </a:solidFill>
              </a:rPr>
            </a:br>
            <a:r>
              <a:rPr lang="en-US" altLang="ko-KR" dirty="0">
                <a:solidFill>
                  <a:srgbClr val="FF0000"/>
                </a:solidFill>
              </a:rPr>
              <a:t>- </a:t>
            </a:r>
            <a:r>
              <a:rPr lang="ko-KR" altLang="en-US" dirty="0">
                <a:solidFill>
                  <a:srgbClr val="FF0000"/>
                </a:solidFill>
              </a:rPr>
              <a:t>캐비닛 업로드 선택 시 최초 진입은 목록 화면으로 진입하며</a:t>
            </a:r>
            <a:r>
              <a:rPr lang="en-US" altLang="ko-KR" dirty="0">
                <a:solidFill>
                  <a:srgbClr val="FF0000"/>
                </a:solidFill>
              </a:rPr>
              <a:t>, </a:t>
            </a:r>
            <a:r>
              <a:rPr lang="ko-KR" altLang="en-US" dirty="0">
                <a:solidFill>
                  <a:srgbClr val="FF0000"/>
                </a:solidFill>
              </a:rPr>
              <a:t>권한 버튼은 숨김 처리됨</a:t>
            </a:r>
            <a:r>
              <a:rPr lang="en-US" altLang="ko-KR" dirty="0">
                <a:solidFill>
                  <a:srgbClr val="FF0000"/>
                </a:solidFill>
              </a:rPr>
              <a:t>.</a:t>
            </a:r>
          </a:p>
          <a:p>
            <a:pPr marL="228600" indent="-228600">
              <a:buFont typeface="+mj-lt"/>
              <a:buAutoNum type="arabicPeriod"/>
            </a:pPr>
            <a:endParaRPr lang="en-US" altLang="ko-KR" dirty="0"/>
          </a:p>
          <a:p>
            <a:pPr marL="228600" indent="-228600">
              <a:buFont typeface="+mj-lt"/>
              <a:buAutoNum type="arabicPeriod"/>
            </a:pPr>
            <a:r>
              <a:rPr lang="ko-KR" altLang="en-US" dirty="0"/>
              <a:t>사용자가 선택 여부를 확인할 수 있는 체크박스 추가 표시</a:t>
            </a:r>
            <a:r>
              <a:rPr lang="en-US" altLang="ko-KR" dirty="0"/>
              <a:t/>
            </a:r>
            <a:br>
              <a:rPr lang="en-US" altLang="ko-KR" dirty="0"/>
            </a:br>
            <a:endParaRPr lang="en-US" altLang="ko-KR" dirty="0"/>
          </a:p>
          <a:p>
            <a:pPr marL="228600" indent="-228600">
              <a:buFont typeface="+mj-lt"/>
              <a:buAutoNum type="arabicPeriod"/>
            </a:pPr>
            <a:r>
              <a:rPr lang="ko-KR" altLang="en-US" dirty="0"/>
              <a:t>선택 파일 첨부를 통해 신청서 작성 등의 파일 </a:t>
            </a:r>
            <a:r>
              <a:rPr lang="ko-KR" altLang="en-US" dirty="0" err="1"/>
              <a:t>첨부항목에</a:t>
            </a:r>
            <a:r>
              <a:rPr lang="ko-KR" altLang="en-US" dirty="0"/>
              <a:t> 선택된 캐비닛 자료 업로드</a:t>
            </a:r>
            <a:r>
              <a:rPr lang="en-US" altLang="ko-KR" dirty="0"/>
              <a:t/>
            </a:r>
            <a:br>
              <a:rPr lang="en-US" altLang="ko-KR" dirty="0"/>
            </a:br>
            <a:r>
              <a:rPr lang="en-US" altLang="ko-KR" dirty="0"/>
              <a:t>- </a:t>
            </a:r>
            <a:r>
              <a:rPr lang="ko-KR" altLang="en-US" dirty="0"/>
              <a:t>이전 </a:t>
            </a:r>
            <a:r>
              <a:rPr lang="ko-KR" altLang="en-US" dirty="0" err="1"/>
              <a:t>파일첨부하던</a:t>
            </a:r>
            <a:r>
              <a:rPr lang="ko-KR" altLang="en-US" dirty="0"/>
              <a:t> 화면으로 복귀</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lvl="0">
              <a:defRPr/>
            </a:pPr>
            <a:r>
              <a:rPr lang="ko-KR" altLang="en-US" dirty="0" smtClean="0">
                <a:solidFill>
                  <a:prstClr val="black"/>
                </a:solidFill>
                <a:latin typeface="맑은 고딕" panose="020B0503020000020004" pitchFamily="50" charset="-127"/>
              </a:rPr>
              <a:t>폴더내파일목록</a:t>
            </a:r>
            <a:endParaRPr lang="ko-KR" altLang="en-US" dirty="0">
              <a:solidFill>
                <a:prstClr val="black"/>
              </a:solidFill>
              <a:latin typeface="맑은 고딕" panose="020B0503020000020004" pitchFamily="50" charset="-127"/>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디지털캐비닛 파일 목록 화면</a:t>
            </a:r>
            <a:endParaRPr lang="en-US" altLang="ko-KR"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latin typeface="+mn-ea"/>
              </a:rPr>
              <a:t>메인 홈 </a:t>
            </a:r>
            <a:r>
              <a:rPr lang="en-US" altLang="ko-KR" dirty="0">
                <a:latin typeface="+mn-ea"/>
              </a:rPr>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디지털캐비닛</a:t>
            </a:r>
            <a:endParaRPr lang="en-US" altLang="ko-KR"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MUI-CM-06-M16</a:t>
            </a:r>
            <a:endParaRPr lang="ko-KR" altLang="en-US" sz="1000" dirty="0"/>
          </a:p>
        </p:txBody>
      </p:sp>
      <p:sp>
        <p:nvSpPr>
          <p:cNvPr id="48" name="직사각형 4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TextBox 14">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16" name="직선 연결선 15">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 name="그룹 16"/>
          <p:cNvGrpSpPr/>
          <p:nvPr/>
        </p:nvGrpSpPr>
        <p:grpSpPr>
          <a:xfrm rot="5400000">
            <a:off x="755013" y="1640499"/>
            <a:ext cx="94010" cy="47005"/>
            <a:chOff x="6812560" y="3297172"/>
            <a:chExt cx="94010" cy="47005"/>
          </a:xfrm>
        </p:grpSpPr>
        <p:cxnSp>
          <p:nvCxnSpPr>
            <p:cNvPr id="18" name="직선 연결선 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 name="직선 연결선 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 name="타원 19"/>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2993286" y="1515996"/>
            <a:ext cx="290464" cy="276999"/>
          </a:xfrm>
          <a:prstGeom prst="rect">
            <a:avLst/>
          </a:prstGeom>
          <a:noFill/>
        </p:spPr>
        <p:txBody>
          <a:bodyPr wrap="none" rtlCol="0" anchor="ctr">
            <a:spAutoFit/>
          </a:bodyPr>
          <a:lstStyle/>
          <a:p>
            <a:pPr algn="ctr"/>
            <a:r>
              <a:rPr lang="ko-KR" altLang="en-US" sz="1200" dirty="0"/>
              <a:t>≡</a:t>
            </a:r>
          </a:p>
        </p:txBody>
      </p:sp>
      <p:sp>
        <p:nvSpPr>
          <p:cNvPr id="124" name="타원 123">
            <a:extLst>
              <a:ext uri="{FF2B5EF4-FFF2-40B4-BE49-F238E27FC236}">
                <a16:creationId xmlns:a16="http://schemas.microsoft.com/office/drawing/2014/main" id="{37A7FF4F-0EAA-1463-560A-D5EC24416103}"/>
              </a:ext>
            </a:extLst>
          </p:cNvPr>
          <p:cNvSpPr/>
          <p:nvPr/>
        </p:nvSpPr>
        <p:spPr>
          <a:xfrm>
            <a:off x="571127" y="259242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3" name="그룹 62">
            <a:extLst>
              <a:ext uri="{FF2B5EF4-FFF2-40B4-BE49-F238E27FC236}">
                <a16:creationId xmlns:a16="http://schemas.microsoft.com/office/drawing/2014/main" id="{22BC05EE-C648-7CA2-4CCC-6E1C1A7E9BDA}"/>
              </a:ext>
            </a:extLst>
          </p:cNvPr>
          <p:cNvGrpSpPr/>
          <p:nvPr/>
        </p:nvGrpSpPr>
        <p:grpSpPr>
          <a:xfrm>
            <a:off x="1992981" y="4874158"/>
            <a:ext cx="76863" cy="292489"/>
            <a:chOff x="3750067" y="4683795"/>
            <a:chExt cx="76863" cy="292489"/>
          </a:xfrm>
        </p:grpSpPr>
        <p:sp>
          <p:nvSpPr>
            <p:cNvPr id="64" name="타원 6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5" name="타원 6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6" name="타원 6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56" name="모서리가 둥근 직사각형 55"/>
          <p:cNvSpPr/>
          <p:nvPr/>
        </p:nvSpPr>
        <p:spPr>
          <a:xfrm>
            <a:off x="781461"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57" name="TextBox 58">
            <a:extLst>
              <a:ext uri="{FF2B5EF4-FFF2-40B4-BE49-F238E27FC236}">
                <a16:creationId xmlns:a16="http://schemas.microsoft.com/office/drawing/2014/main" id="{02FC114B-B48B-345F-BD70-2B5A196F5B3E}"/>
              </a:ext>
            </a:extLst>
          </p:cNvPr>
          <p:cNvSpPr txBox="1"/>
          <p:nvPr/>
        </p:nvSpPr>
        <p:spPr>
          <a:xfrm>
            <a:off x="1082843"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0" name="TextBox 58">
            <a:extLst>
              <a:ext uri="{FF2B5EF4-FFF2-40B4-BE49-F238E27FC236}">
                <a16:creationId xmlns:a16="http://schemas.microsoft.com/office/drawing/2014/main" id="{02FC114B-B48B-345F-BD70-2B5A196F5B3E}"/>
              </a:ext>
            </a:extLst>
          </p:cNvPr>
          <p:cNvSpPr txBox="1"/>
          <p:nvPr/>
        </p:nvSpPr>
        <p:spPr>
          <a:xfrm>
            <a:off x="772625"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51" name="직선 연결선 50">
            <a:extLst>
              <a:ext uri="{FF2B5EF4-FFF2-40B4-BE49-F238E27FC236}">
                <a16:creationId xmlns:a16="http://schemas.microsoft.com/office/drawing/2014/main" id="{E9293055-D5CD-4B9E-7F64-64B2D2CA7A52}"/>
              </a:ext>
            </a:extLst>
          </p:cNvPr>
          <p:cNvCxnSpPr/>
          <p:nvPr/>
        </p:nvCxnSpPr>
        <p:spPr>
          <a:xfrm>
            <a:off x="675399"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2" name="TextBox 58">
            <a:extLst>
              <a:ext uri="{FF2B5EF4-FFF2-40B4-BE49-F238E27FC236}">
                <a16:creationId xmlns:a16="http://schemas.microsoft.com/office/drawing/2014/main" id="{02FC114B-B48B-345F-BD70-2B5A196F5B3E}"/>
              </a:ext>
            </a:extLst>
          </p:cNvPr>
          <p:cNvSpPr txBox="1"/>
          <p:nvPr/>
        </p:nvSpPr>
        <p:spPr>
          <a:xfrm>
            <a:off x="980620"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59" name="TextBox 58">
            <a:extLst>
              <a:ext uri="{FF2B5EF4-FFF2-40B4-BE49-F238E27FC236}">
                <a16:creationId xmlns:a16="http://schemas.microsoft.com/office/drawing/2014/main" id="{02FC114B-B48B-345F-BD70-2B5A196F5B3E}"/>
              </a:ext>
            </a:extLst>
          </p:cNvPr>
          <p:cNvSpPr txBox="1"/>
          <p:nvPr/>
        </p:nvSpPr>
        <p:spPr>
          <a:xfrm>
            <a:off x="772625"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75399"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TextBox 58">
            <a:extLst>
              <a:ext uri="{FF2B5EF4-FFF2-40B4-BE49-F238E27FC236}">
                <a16:creationId xmlns:a16="http://schemas.microsoft.com/office/drawing/2014/main" id="{02FC114B-B48B-345F-BD70-2B5A196F5B3E}"/>
              </a:ext>
            </a:extLst>
          </p:cNvPr>
          <p:cNvSpPr txBox="1"/>
          <p:nvPr/>
        </p:nvSpPr>
        <p:spPr>
          <a:xfrm>
            <a:off x="1019814"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67" name="TextBox 58">
            <a:extLst>
              <a:ext uri="{FF2B5EF4-FFF2-40B4-BE49-F238E27FC236}">
                <a16:creationId xmlns:a16="http://schemas.microsoft.com/office/drawing/2014/main" id="{02FC114B-B48B-345F-BD70-2B5A196F5B3E}"/>
              </a:ext>
            </a:extLst>
          </p:cNvPr>
          <p:cNvSpPr txBox="1"/>
          <p:nvPr/>
        </p:nvSpPr>
        <p:spPr>
          <a:xfrm>
            <a:off x="772625"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75399"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5" name="TextBox 58">
            <a:extLst>
              <a:ext uri="{FF2B5EF4-FFF2-40B4-BE49-F238E27FC236}">
                <a16:creationId xmlns:a16="http://schemas.microsoft.com/office/drawing/2014/main" id="{02FC114B-B48B-345F-BD70-2B5A196F5B3E}"/>
              </a:ext>
            </a:extLst>
          </p:cNvPr>
          <p:cNvSpPr txBox="1"/>
          <p:nvPr/>
        </p:nvSpPr>
        <p:spPr>
          <a:xfrm>
            <a:off x="1019814"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81" name="TextBox 58">
            <a:extLst>
              <a:ext uri="{FF2B5EF4-FFF2-40B4-BE49-F238E27FC236}">
                <a16:creationId xmlns:a16="http://schemas.microsoft.com/office/drawing/2014/main" id="{02FC114B-B48B-345F-BD70-2B5A196F5B3E}"/>
              </a:ext>
            </a:extLst>
          </p:cNvPr>
          <p:cNvSpPr txBox="1"/>
          <p:nvPr/>
        </p:nvSpPr>
        <p:spPr>
          <a:xfrm>
            <a:off x="772625"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58">
            <a:extLst>
              <a:ext uri="{FF2B5EF4-FFF2-40B4-BE49-F238E27FC236}">
                <a16:creationId xmlns:a16="http://schemas.microsoft.com/office/drawing/2014/main" id="{02FC114B-B48B-345F-BD70-2B5A196F5B3E}"/>
              </a:ext>
            </a:extLst>
          </p:cNvPr>
          <p:cNvSpPr txBox="1"/>
          <p:nvPr/>
        </p:nvSpPr>
        <p:spPr>
          <a:xfrm>
            <a:off x="1019814"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8" name="TextBox 58">
            <a:extLst>
              <a:ext uri="{FF2B5EF4-FFF2-40B4-BE49-F238E27FC236}">
                <a16:creationId xmlns:a16="http://schemas.microsoft.com/office/drawing/2014/main" id="{02FC114B-B48B-345F-BD70-2B5A196F5B3E}"/>
              </a:ext>
            </a:extLst>
          </p:cNvPr>
          <p:cNvSpPr txBox="1"/>
          <p:nvPr/>
        </p:nvSpPr>
        <p:spPr>
          <a:xfrm>
            <a:off x="772625"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675399"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58">
            <a:extLst>
              <a:ext uri="{FF2B5EF4-FFF2-40B4-BE49-F238E27FC236}">
                <a16:creationId xmlns:a16="http://schemas.microsoft.com/office/drawing/2014/main" id="{02FC114B-B48B-345F-BD70-2B5A196F5B3E}"/>
              </a:ext>
            </a:extLst>
          </p:cNvPr>
          <p:cNvSpPr txBox="1"/>
          <p:nvPr/>
        </p:nvSpPr>
        <p:spPr>
          <a:xfrm>
            <a:off x="1019814"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019814"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04" name="타원 103"/>
          <p:cNvSpPr/>
          <p:nvPr/>
        </p:nvSpPr>
        <p:spPr>
          <a:xfrm>
            <a:off x="783686"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a:off x="3143548" y="2279636"/>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6" name="타원 115">
            <a:extLst>
              <a:ext uri="{FF2B5EF4-FFF2-40B4-BE49-F238E27FC236}">
                <a16:creationId xmlns:a16="http://schemas.microsoft.com/office/drawing/2014/main" id="{37A7FF4F-0EAA-1463-560A-D5EC24416103}"/>
              </a:ext>
            </a:extLst>
          </p:cNvPr>
          <p:cNvSpPr/>
          <p:nvPr/>
        </p:nvSpPr>
        <p:spPr>
          <a:xfrm>
            <a:off x="571127" y="301368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46" name="직사각형 45"/>
          <p:cNvSpPr/>
          <p:nvPr/>
        </p:nvSpPr>
        <p:spPr>
          <a:xfrm>
            <a:off x="990600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가능한 </a:t>
            </a:r>
            <a:r>
              <a:rPr lang="ko-KR" altLang="en-US" sz="700" dirty="0" err="1" smtClean="0"/>
              <a:t>파일에대한</a:t>
            </a:r>
            <a:r>
              <a:rPr lang="ko-KR" altLang="en-US" sz="700" dirty="0" smtClean="0"/>
              <a:t> 정보가 없음</a:t>
            </a:r>
            <a:r>
              <a:rPr lang="en-US" altLang="ko-KR" sz="700" dirty="0" smtClean="0"/>
              <a:t>.(PC</a:t>
            </a:r>
            <a:r>
              <a:rPr lang="ko-KR" altLang="en-US" sz="700" dirty="0" smtClean="0"/>
              <a:t>에서확인필요</a:t>
            </a:r>
            <a:r>
              <a:rPr lang="en-US" altLang="ko-KR" sz="700" dirty="0" smtClean="0"/>
              <a:t>)</a:t>
            </a:r>
            <a:endParaRPr lang="ko-KR" altLang="en-US" sz="700" dirty="0"/>
          </a:p>
        </p:txBody>
      </p:sp>
      <p:sp>
        <p:nvSpPr>
          <p:cNvPr id="47" name="직사각형 46"/>
          <p:cNvSpPr/>
          <p:nvPr/>
        </p:nvSpPr>
        <p:spPr>
          <a:xfrm>
            <a:off x="8223250" y="0"/>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260713 </a:t>
            </a:r>
            <a:r>
              <a:rPr lang="ko-KR" altLang="en-US" sz="700" dirty="0" err="1" smtClean="0"/>
              <a:t>화면추가</a:t>
            </a:r>
            <a:endParaRPr lang="ko-KR" altLang="en-US" sz="700" dirty="0"/>
          </a:p>
        </p:txBody>
      </p:sp>
      <p:sp>
        <p:nvSpPr>
          <p:cNvPr id="49" name="직사각형 48"/>
          <p:cNvSpPr/>
          <p:nvPr/>
        </p:nvSpPr>
        <p:spPr>
          <a:xfrm>
            <a:off x="990600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파일첨부 </a:t>
            </a:r>
            <a:r>
              <a:rPr lang="en-US" altLang="ko-KR" sz="700" dirty="0" smtClean="0">
                <a:sym typeface="Wingdings" panose="05000000000000000000" pitchFamily="2" charset="2"/>
              </a:rPr>
              <a:t> </a:t>
            </a:r>
            <a:r>
              <a:rPr lang="ko-KR" altLang="en-US" sz="700" dirty="0" smtClean="0">
                <a:sym typeface="Wingdings" panose="05000000000000000000" pitchFamily="2" charset="2"/>
              </a:rPr>
              <a:t>캐비닛 선택 업로드 설명 추가</a:t>
            </a:r>
            <a:endParaRPr lang="ko-KR" altLang="en-US" sz="700" dirty="0"/>
          </a:p>
        </p:txBody>
      </p:sp>
      <p:sp>
        <p:nvSpPr>
          <p:cNvPr id="53" name="직사각형 52"/>
          <p:cNvSpPr/>
          <p:nvPr/>
        </p:nvSpPr>
        <p:spPr>
          <a:xfrm>
            <a:off x="8223250" y="263062"/>
            <a:ext cx="1682750" cy="254643"/>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r>
              <a:rPr lang="en-US" altLang="ko-KR" sz="700" dirty="0" smtClean="0"/>
              <a:t>260806 </a:t>
            </a:r>
            <a:r>
              <a:rPr lang="ko-KR" altLang="en-US" sz="700" dirty="0" err="1" smtClean="0"/>
              <a:t>설명추가</a:t>
            </a:r>
            <a:endParaRPr lang="ko-KR" altLang="en-US" sz="700"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선택 파일 첨부</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5" name="직사각형 5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FC49AEA-2A8F-250C-A86A-A7751D9706C3}"/>
              </a:ext>
            </a:extLst>
          </p:cNvPr>
          <p:cNvSpPr txBox="1"/>
          <p:nvPr/>
        </p:nvSpPr>
        <p:spPr>
          <a:xfrm>
            <a:off x="4062763" y="1608356"/>
            <a:ext cx="2305144" cy="123111"/>
          </a:xfrm>
          <a:prstGeom prst="rect">
            <a:avLst/>
          </a:prstGeom>
          <a:noFill/>
        </p:spPr>
        <p:txBody>
          <a:bodyPr wrap="square" lIns="0" tIns="0" rIns="0" bIns="0" rtlCol="0">
            <a:spAutoFit/>
          </a:bodyPr>
          <a:lstStyle/>
          <a:p>
            <a:r>
              <a:rPr lang="ko-KR" altLang="en-US" sz="800" dirty="0">
                <a:latin typeface="+mn-ea"/>
              </a:rPr>
              <a:t>디지털캐비닛</a:t>
            </a:r>
          </a:p>
        </p:txBody>
      </p:sp>
      <p:cxnSp>
        <p:nvCxnSpPr>
          <p:cNvPr id="69" name="직선 연결선 68">
            <a:extLst>
              <a:ext uri="{FF2B5EF4-FFF2-40B4-BE49-F238E27FC236}">
                <a16:creationId xmlns:a16="http://schemas.microsoft.com/office/drawing/2014/main" id="{E9293055-D5CD-4B9E-7F64-64B2D2CA7A52}"/>
              </a:ext>
            </a:extLst>
          </p:cNvPr>
          <p:cNvCxnSpPr/>
          <p:nvPr/>
        </p:nvCxnSpPr>
        <p:spPr>
          <a:xfrm>
            <a:off x="3807261"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0" name="그룹 69"/>
          <p:cNvGrpSpPr/>
          <p:nvPr/>
        </p:nvGrpSpPr>
        <p:grpSpPr>
          <a:xfrm rot="5400000">
            <a:off x="3881704" y="1640499"/>
            <a:ext cx="94010" cy="47005"/>
            <a:chOff x="6812560" y="3297172"/>
            <a:chExt cx="94010" cy="47005"/>
          </a:xfrm>
        </p:grpSpPr>
        <p:cxnSp>
          <p:nvCxnSpPr>
            <p:cNvPr id="71" name="직선 연결선 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2" name="직선 연결선 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3" name="타원 72"/>
          <p:cNvSpPr/>
          <p:nvPr/>
        </p:nvSpPr>
        <p:spPr>
          <a:xfrm>
            <a:off x="6171228"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TextBox 73"/>
          <p:cNvSpPr txBox="1"/>
          <p:nvPr/>
        </p:nvSpPr>
        <p:spPr>
          <a:xfrm>
            <a:off x="6119977" y="1515996"/>
            <a:ext cx="290464" cy="276999"/>
          </a:xfrm>
          <a:prstGeom prst="rect">
            <a:avLst/>
          </a:prstGeom>
          <a:noFill/>
        </p:spPr>
        <p:txBody>
          <a:bodyPr wrap="none" rtlCol="0" anchor="ctr">
            <a:spAutoFit/>
          </a:bodyPr>
          <a:lstStyle/>
          <a:p>
            <a:pPr algn="ctr"/>
            <a:r>
              <a:rPr lang="ko-KR" altLang="en-US" sz="1200" dirty="0"/>
              <a:t>≡</a:t>
            </a:r>
          </a:p>
        </p:txBody>
      </p:sp>
      <p:grpSp>
        <p:nvGrpSpPr>
          <p:cNvPr id="76" name="그룹 75">
            <a:extLst>
              <a:ext uri="{FF2B5EF4-FFF2-40B4-BE49-F238E27FC236}">
                <a16:creationId xmlns:a16="http://schemas.microsoft.com/office/drawing/2014/main" id="{22BC05EE-C648-7CA2-4CCC-6E1C1A7E9BDA}"/>
              </a:ext>
            </a:extLst>
          </p:cNvPr>
          <p:cNvGrpSpPr/>
          <p:nvPr/>
        </p:nvGrpSpPr>
        <p:grpSpPr>
          <a:xfrm>
            <a:off x="5119672" y="4874158"/>
            <a:ext cx="76863" cy="292489"/>
            <a:chOff x="3750067" y="4683795"/>
            <a:chExt cx="76863" cy="292489"/>
          </a:xfrm>
        </p:grpSpPr>
        <p:sp>
          <p:nvSpPr>
            <p:cNvPr id="77" name="타원 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8" name="타원 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9" name="타원 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80" name="모서리가 둥근 직사각형 79"/>
          <p:cNvSpPr/>
          <p:nvPr/>
        </p:nvSpPr>
        <p:spPr>
          <a:xfrm>
            <a:off x="3908152" y="1944348"/>
            <a:ext cx="243478" cy="119400"/>
          </a:xfrm>
          <a:prstGeom prst="roundRect">
            <a:avLst>
              <a:gd name="adj" fmla="val 23409"/>
            </a:avLst>
          </a:prstGeom>
          <a:ln>
            <a:solidFill>
              <a:srgbClr val="FF000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solidFill>
                  <a:srgbClr val="FF0000"/>
                </a:solidFill>
              </a:rPr>
              <a:t>중요</a:t>
            </a:r>
            <a:endParaRPr lang="ko-KR" altLang="en-US" sz="600" dirty="0">
              <a:solidFill>
                <a:srgbClr val="FF0000"/>
              </a:solidFill>
            </a:endParaRPr>
          </a:p>
        </p:txBody>
      </p:sp>
      <p:sp>
        <p:nvSpPr>
          <p:cNvPr id="82" name="TextBox 58">
            <a:extLst>
              <a:ext uri="{FF2B5EF4-FFF2-40B4-BE49-F238E27FC236}">
                <a16:creationId xmlns:a16="http://schemas.microsoft.com/office/drawing/2014/main" id="{02FC114B-B48B-345F-BD70-2B5A196F5B3E}"/>
              </a:ext>
            </a:extLst>
          </p:cNvPr>
          <p:cNvSpPr txBox="1"/>
          <p:nvPr/>
        </p:nvSpPr>
        <p:spPr>
          <a:xfrm>
            <a:off x="4209534" y="1950187"/>
            <a:ext cx="220200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a:solidFill>
                  <a:prstClr val="black"/>
                </a:solidFill>
              </a:rPr>
              <a:t>폴더와</a:t>
            </a:r>
            <a:r>
              <a:rPr lang="en-US" altLang="ko-KR" sz="700" dirty="0">
                <a:solidFill>
                  <a:prstClr val="black"/>
                </a:solidFill>
              </a:rPr>
              <a:t> </a:t>
            </a:r>
            <a:r>
              <a:rPr lang="ko-KR" altLang="en-US" sz="700" dirty="0">
                <a:solidFill>
                  <a:prstClr val="black"/>
                </a:solidFill>
              </a:rPr>
              <a:t>파일의 추가</a:t>
            </a:r>
            <a:r>
              <a:rPr lang="en-US" altLang="ko-KR" sz="700" dirty="0">
                <a:solidFill>
                  <a:prstClr val="black"/>
                </a:solidFill>
              </a:rPr>
              <a:t>, </a:t>
            </a:r>
            <a:r>
              <a:rPr lang="ko-KR" altLang="en-US" sz="700" dirty="0">
                <a:solidFill>
                  <a:prstClr val="black"/>
                </a:solidFill>
              </a:rPr>
              <a:t>삭제는 </a:t>
            </a:r>
            <a:r>
              <a:rPr lang="en-US" altLang="ko-KR" sz="700" dirty="0">
                <a:solidFill>
                  <a:prstClr val="black"/>
                </a:solidFill>
              </a:rPr>
              <a:t>PC </a:t>
            </a:r>
            <a:r>
              <a:rPr lang="ko-KR" altLang="en-US" sz="700" dirty="0">
                <a:solidFill>
                  <a:prstClr val="black"/>
                </a:solidFill>
              </a:rPr>
              <a:t>버전에서 가능합니다</a:t>
            </a:r>
            <a:r>
              <a:rPr lang="en-US" altLang="ko-KR" sz="700" dirty="0">
                <a:solidFill>
                  <a:prstClr val="black"/>
                </a:solidFill>
              </a:rPr>
              <a:t>.</a:t>
            </a:r>
            <a:endParaRPr lang="ko-KR" altLang="en-US" sz="900" b="1" dirty="0">
              <a:solidFill>
                <a:prstClr val="black"/>
              </a:solidFill>
            </a:endParaRP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3802090" y="24532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4" name="TextBox 58">
            <a:extLst>
              <a:ext uri="{FF2B5EF4-FFF2-40B4-BE49-F238E27FC236}">
                <a16:creationId xmlns:a16="http://schemas.microsoft.com/office/drawing/2014/main" id="{02FC114B-B48B-345F-BD70-2B5A196F5B3E}"/>
              </a:ext>
            </a:extLst>
          </p:cNvPr>
          <p:cNvSpPr txBox="1"/>
          <p:nvPr/>
        </p:nvSpPr>
        <p:spPr>
          <a:xfrm>
            <a:off x="3899316" y="26014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800" b="1" dirty="0">
                <a:latin typeface="+mn-ea"/>
              </a:rPr>
              <a:t>←</a:t>
            </a:r>
            <a:endParaRPr lang="ko-KR" altLang="en-US" sz="800" b="1" dirty="0">
              <a:latin typeface="+mn-ea"/>
            </a:endParaRPr>
          </a:p>
        </p:txBody>
      </p:sp>
      <p:cxnSp>
        <p:nvCxnSpPr>
          <p:cNvPr id="85" name="직선 연결선 84">
            <a:extLst>
              <a:ext uri="{FF2B5EF4-FFF2-40B4-BE49-F238E27FC236}">
                <a16:creationId xmlns:a16="http://schemas.microsoft.com/office/drawing/2014/main" id="{E9293055-D5CD-4B9E-7F64-64B2D2CA7A52}"/>
              </a:ext>
            </a:extLst>
          </p:cNvPr>
          <p:cNvCxnSpPr/>
          <p:nvPr/>
        </p:nvCxnSpPr>
        <p:spPr>
          <a:xfrm>
            <a:off x="3802090" y="28723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58">
            <a:extLst>
              <a:ext uri="{FF2B5EF4-FFF2-40B4-BE49-F238E27FC236}">
                <a16:creationId xmlns:a16="http://schemas.microsoft.com/office/drawing/2014/main" id="{02FC114B-B48B-345F-BD70-2B5A196F5B3E}"/>
              </a:ext>
            </a:extLst>
          </p:cNvPr>
          <p:cNvSpPr txBox="1"/>
          <p:nvPr/>
        </p:nvSpPr>
        <p:spPr>
          <a:xfrm>
            <a:off x="4107311" y="2588929"/>
            <a:ext cx="2063916" cy="133883"/>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20000"/>
              </a:lnSpc>
            </a:pPr>
            <a:r>
              <a:rPr lang="ko-KR" altLang="en-US" sz="800" dirty="0">
                <a:solidFill>
                  <a:prstClr val="black"/>
                </a:solidFill>
              </a:rPr>
              <a:t>📁 </a:t>
            </a:r>
            <a:r>
              <a:rPr lang="ko-KR" altLang="en-US" sz="800" b="1" dirty="0">
                <a:solidFill>
                  <a:prstClr val="black"/>
                </a:solidFill>
              </a:rPr>
              <a:t>상위 폴더 목록 이동</a:t>
            </a:r>
            <a:endParaRPr lang="ko-KR" altLang="en-US" sz="800" dirty="0">
              <a:solidFill>
                <a:prstClr val="black"/>
              </a:solidFill>
            </a:endParaRPr>
          </a:p>
        </p:txBody>
      </p:sp>
      <p:sp>
        <p:nvSpPr>
          <p:cNvPr id="87" name="TextBox 86">
            <a:extLst>
              <a:ext uri="{FF2B5EF4-FFF2-40B4-BE49-F238E27FC236}">
                <a16:creationId xmlns:a16="http://schemas.microsoft.com/office/drawing/2014/main" id="{02FC114B-B48B-345F-BD70-2B5A196F5B3E}"/>
              </a:ext>
            </a:extLst>
          </p:cNvPr>
          <p:cNvSpPr txBox="1"/>
          <p:nvPr/>
        </p:nvSpPr>
        <p:spPr>
          <a:xfrm>
            <a:off x="4089407" y="302362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88" name="직선 연결선 87">
            <a:extLst>
              <a:ext uri="{FF2B5EF4-FFF2-40B4-BE49-F238E27FC236}">
                <a16:creationId xmlns:a16="http://schemas.microsoft.com/office/drawing/2014/main" id="{E9293055-D5CD-4B9E-7F64-64B2D2CA7A52}"/>
              </a:ext>
            </a:extLst>
          </p:cNvPr>
          <p:cNvCxnSpPr/>
          <p:nvPr/>
        </p:nvCxnSpPr>
        <p:spPr>
          <a:xfrm>
            <a:off x="3802090" y="32945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9" name="TextBox 58">
            <a:extLst>
              <a:ext uri="{FF2B5EF4-FFF2-40B4-BE49-F238E27FC236}">
                <a16:creationId xmlns:a16="http://schemas.microsoft.com/office/drawing/2014/main" id="{02FC114B-B48B-345F-BD70-2B5A196F5B3E}"/>
              </a:ext>
            </a:extLst>
          </p:cNvPr>
          <p:cNvSpPr txBox="1"/>
          <p:nvPr/>
        </p:nvSpPr>
        <p:spPr>
          <a:xfrm>
            <a:off x="4336596" y="295572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사업자등록증</a:t>
            </a:r>
            <a:r>
              <a:rPr lang="en-US" altLang="ko-KR" sz="800" b="1" dirty="0">
                <a:solidFill>
                  <a:prstClr val="black"/>
                </a:solidFill>
              </a:rPr>
              <a:t>.pdf </a:t>
            </a:r>
            <a:r>
              <a:rPr lang="en-US" altLang="ko-KR" sz="600" dirty="0">
                <a:solidFill>
                  <a:prstClr val="black"/>
                </a:solidFill>
              </a:rPr>
              <a:t>[369KB]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0" name="TextBox 58">
            <a:extLst>
              <a:ext uri="{FF2B5EF4-FFF2-40B4-BE49-F238E27FC236}">
                <a16:creationId xmlns:a16="http://schemas.microsoft.com/office/drawing/2014/main" id="{02FC114B-B48B-345F-BD70-2B5A196F5B3E}"/>
              </a:ext>
            </a:extLst>
          </p:cNvPr>
          <p:cNvSpPr txBox="1"/>
          <p:nvPr/>
        </p:nvSpPr>
        <p:spPr>
          <a:xfrm>
            <a:off x="4089407" y="3436974"/>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3802090" y="37079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TextBox 58">
            <a:extLst>
              <a:ext uri="{FF2B5EF4-FFF2-40B4-BE49-F238E27FC236}">
                <a16:creationId xmlns:a16="http://schemas.microsoft.com/office/drawing/2014/main" id="{02FC114B-B48B-345F-BD70-2B5A196F5B3E}"/>
              </a:ext>
            </a:extLst>
          </p:cNvPr>
          <p:cNvSpPr txBox="1"/>
          <p:nvPr/>
        </p:nvSpPr>
        <p:spPr>
          <a:xfrm>
            <a:off x="4336596" y="3369079"/>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대사회보험사업장가입자명부</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95" name="TextBox 58">
            <a:extLst>
              <a:ext uri="{FF2B5EF4-FFF2-40B4-BE49-F238E27FC236}">
                <a16:creationId xmlns:a16="http://schemas.microsoft.com/office/drawing/2014/main" id="{02FC114B-B48B-345F-BD70-2B5A196F5B3E}"/>
              </a:ext>
            </a:extLst>
          </p:cNvPr>
          <p:cNvSpPr txBox="1"/>
          <p:nvPr/>
        </p:nvSpPr>
        <p:spPr>
          <a:xfrm>
            <a:off x="4089407" y="3858229"/>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3802090" y="4129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TextBox 58">
            <a:extLst>
              <a:ext uri="{FF2B5EF4-FFF2-40B4-BE49-F238E27FC236}">
                <a16:creationId xmlns:a16="http://schemas.microsoft.com/office/drawing/2014/main" id="{02FC114B-B48B-345F-BD70-2B5A196F5B3E}"/>
              </a:ext>
            </a:extLst>
          </p:cNvPr>
          <p:cNvSpPr txBox="1"/>
          <p:nvPr/>
        </p:nvSpPr>
        <p:spPr>
          <a:xfrm>
            <a:off x="4336596" y="3790334"/>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en-US" altLang="ko-KR" sz="800" b="1" dirty="0">
                <a:solidFill>
                  <a:prstClr val="black"/>
                </a:solidFill>
              </a:rPr>
              <a:t>4</a:t>
            </a:r>
            <a:r>
              <a:rPr lang="ko-KR" altLang="en-US" sz="800" b="1" dirty="0" err="1">
                <a:solidFill>
                  <a:prstClr val="black"/>
                </a:solidFill>
              </a:rPr>
              <a:t>대사회보험사업장가입내역확인서</a:t>
            </a:r>
            <a:r>
              <a:rPr lang="en-US" altLang="ko-KR" sz="800" b="1" dirty="0">
                <a:solidFill>
                  <a:prstClr val="black"/>
                </a:solidFill>
              </a:rPr>
              <a:t>.pdf </a:t>
            </a:r>
            <a:r>
              <a:rPr lang="en-US" altLang="ko-KR" sz="600" dirty="0">
                <a:solidFill>
                  <a:prstClr val="black"/>
                </a:solidFill>
              </a:rPr>
              <a:t>[20KB]</a:t>
            </a:r>
            <a:endParaRPr lang="en-US" altLang="ko-KR" sz="800"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2025-01-31</a:t>
            </a:r>
            <a:endParaRPr lang="ko-KR" altLang="en-US" sz="800" dirty="0">
              <a:solidFill>
                <a:prstClr val="black"/>
              </a:solidFill>
            </a:endParaRPr>
          </a:p>
        </p:txBody>
      </p:sp>
      <p:sp>
        <p:nvSpPr>
          <p:cNvPr id="101" name="TextBox 58">
            <a:extLst>
              <a:ext uri="{FF2B5EF4-FFF2-40B4-BE49-F238E27FC236}">
                <a16:creationId xmlns:a16="http://schemas.microsoft.com/office/drawing/2014/main" id="{02FC114B-B48B-345F-BD70-2B5A196F5B3E}"/>
              </a:ext>
            </a:extLst>
          </p:cNvPr>
          <p:cNvSpPr txBox="1"/>
          <p:nvPr/>
        </p:nvSpPr>
        <p:spPr>
          <a:xfrm>
            <a:off x="4089407" y="4277885"/>
            <a:ext cx="15827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a:r>
              <a:rPr lang="ko-KR" altLang="en-US" sz="800" dirty="0">
                <a:solidFill>
                  <a:prstClr val="black"/>
                </a:solidFill>
              </a:rPr>
              <a:t>📄</a:t>
            </a:r>
          </a:p>
        </p:txBody>
      </p:sp>
      <p:cxnSp>
        <p:nvCxnSpPr>
          <p:cNvPr id="108" name="직선 연결선 107">
            <a:extLst>
              <a:ext uri="{FF2B5EF4-FFF2-40B4-BE49-F238E27FC236}">
                <a16:creationId xmlns:a16="http://schemas.microsoft.com/office/drawing/2014/main" id="{E9293055-D5CD-4B9E-7F64-64B2D2CA7A52}"/>
              </a:ext>
            </a:extLst>
          </p:cNvPr>
          <p:cNvCxnSpPr/>
          <p:nvPr/>
        </p:nvCxnSpPr>
        <p:spPr>
          <a:xfrm>
            <a:off x="3802090" y="45488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58">
            <a:extLst>
              <a:ext uri="{FF2B5EF4-FFF2-40B4-BE49-F238E27FC236}">
                <a16:creationId xmlns:a16="http://schemas.microsoft.com/office/drawing/2014/main" id="{02FC114B-B48B-345F-BD70-2B5A196F5B3E}"/>
              </a:ext>
            </a:extLst>
          </p:cNvPr>
          <p:cNvSpPr txBox="1"/>
          <p:nvPr/>
        </p:nvSpPr>
        <p:spPr>
          <a:xfrm>
            <a:off x="4336596" y="4209990"/>
            <a:ext cx="2212684" cy="25853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nSpc>
                <a:spcPct val="120000"/>
              </a:lnSpc>
            </a:pPr>
            <a:r>
              <a:rPr lang="ko-KR" altLang="en-US" sz="800" b="1" dirty="0">
                <a:solidFill>
                  <a:prstClr val="black"/>
                </a:solidFill>
              </a:rPr>
              <a:t>파일명</a:t>
            </a:r>
            <a:r>
              <a:rPr lang="en-US" altLang="ko-KR" sz="800" b="1" dirty="0">
                <a:solidFill>
                  <a:prstClr val="black"/>
                </a:solidFill>
              </a:rPr>
              <a:t>.</a:t>
            </a:r>
            <a:r>
              <a:rPr lang="ko-KR" altLang="en-US" sz="800" b="1" dirty="0" err="1">
                <a:solidFill>
                  <a:prstClr val="black"/>
                </a:solidFill>
              </a:rPr>
              <a:t>확장자</a:t>
            </a:r>
            <a:r>
              <a:rPr lang="en-US" altLang="ko-KR" sz="800" b="1" dirty="0">
                <a:solidFill>
                  <a:prstClr val="black"/>
                </a:solidFill>
              </a:rPr>
              <a:t> </a:t>
            </a:r>
            <a:r>
              <a:rPr lang="en-US" altLang="ko-KR" sz="600" dirty="0">
                <a:solidFill>
                  <a:prstClr val="black"/>
                </a:solidFill>
              </a:rPr>
              <a:t>[20KB]</a:t>
            </a:r>
            <a:endParaRPr lang="en-US" altLang="ko-KR" sz="800" b="1" dirty="0">
              <a:solidFill>
                <a:prstClr val="black"/>
              </a:solidFill>
            </a:endParaRPr>
          </a:p>
          <a:p>
            <a:pPr lvl="0">
              <a:lnSpc>
                <a:spcPct val="120000"/>
              </a:lnSpc>
            </a:pPr>
            <a:r>
              <a:rPr lang="ko-KR" altLang="en-US" sz="600" dirty="0">
                <a:solidFill>
                  <a:prstClr val="black"/>
                </a:solidFill>
              </a:rPr>
              <a:t>유효기간 </a:t>
            </a:r>
            <a:r>
              <a:rPr lang="en-US" altLang="ko-KR" sz="600" dirty="0">
                <a:solidFill>
                  <a:prstClr val="black"/>
                </a:solidFill>
              </a:rPr>
              <a:t>-</a:t>
            </a:r>
            <a:endParaRPr lang="ko-KR" altLang="en-US" sz="800" dirty="0">
              <a:solidFill>
                <a:prstClr val="black"/>
              </a:solidFill>
            </a:endParaRP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802090" y="21509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1" name="TextBox 110">
            <a:extLst>
              <a:ext uri="{FF2B5EF4-FFF2-40B4-BE49-F238E27FC236}">
                <a16:creationId xmlns:a16="http://schemas.microsoft.com/office/drawing/2014/main" id="{FFC49AEA-2A8F-250C-A86A-A7751D9706C3}"/>
              </a:ext>
            </a:extLst>
          </p:cNvPr>
          <p:cNvSpPr txBox="1"/>
          <p:nvPr/>
        </p:nvSpPr>
        <p:spPr>
          <a:xfrm>
            <a:off x="4146505" y="2249278"/>
            <a:ext cx="452259" cy="107722"/>
          </a:xfrm>
          <a:prstGeom prst="rect">
            <a:avLst/>
          </a:prstGeom>
          <a:noFill/>
        </p:spPr>
        <p:txBody>
          <a:bodyPr wrap="square" lIns="0" tIns="0" rIns="0" bIns="0" rtlCol="0">
            <a:spAutoFit/>
          </a:bodyPr>
          <a:lstStyle/>
          <a:p>
            <a:r>
              <a:rPr lang="ko-KR" altLang="en-US" sz="700" dirty="0" err="1">
                <a:latin typeface="+mn-ea"/>
              </a:rPr>
              <a:t>업무도움</a:t>
            </a:r>
            <a:endParaRPr lang="ko-KR" altLang="en-US" sz="700" dirty="0">
              <a:latin typeface="+mn-ea"/>
            </a:endParaRPr>
          </a:p>
        </p:txBody>
      </p:sp>
      <p:sp>
        <p:nvSpPr>
          <p:cNvPr id="112" name="타원 111"/>
          <p:cNvSpPr/>
          <p:nvPr/>
        </p:nvSpPr>
        <p:spPr>
          <a:xfrm>
            <a:off x="3910377" y="22167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a:off x="6270239" y="2279636"/>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7" name="사각형: 둥근 모서리 31">
            <a:extLst>
              <a:ext uri="{FF2B5EF4-FFF2-40B4-BE49-F238E27FC236}">
                <a16:creationId xmlns:a16="http://schemas.microsoft.com/office/drawing/2014/main" id="{2AC143EE-93CF-3518-F0CB-8469E98507E0}"/>
              </a:ext>
            </a:extLst>
          </p:cNvPr>
          <p:cNvSpPr/>
          <p:nvPr/>
        </p:nvSpPr>
        <p:spPr>
          <a:xfrm>
            <a:off x="3912489" y="3028158"/>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18" name="사각형: 둥근 모서리 31">
            <a:extLst>
              <a:ext uri="{FF2B5EF4-FFF2-40B4-BE49-F238E27FC236}">
                <a16:creationId xmlns:a16="http://schemas.microsoft.com/office/drawing/2014/main" id="{2AC143EE-93CF-3518-F0CB-8469E98507E0}"/>
              </a:ext>
            </a:extLst>
          </p:cNvPr>
          <p:cNvSpPr/>
          <p:nvPr/>
        </p:nvSpPr>
        <p:spPr>
          <a:xfrm>
            <a:off x="3912489" y="3444097"/>
            <a:ext cx="108000" cy="108000"/>
          </a:xfrm>
          <a:prstGeom prst="roundRect">
            <a:avLst/>
          </a:prstGeom>
          <a:solidFill>
            <a:srgbClr val="0070C0"/>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en-US" sz="700" b="1" i="0" u="none" strike="noStrike" kern="0" cap="none" spc="0" normalizeH="0" baseline="0" noProof="0" dirty="0" smtClean="0">
                <a:ln>
                  <a:noFill/>
                </a:ln>
                <a:solidFill>
                  <a:schemeClr val="bg1"/>
                </a:solidFill>
                <a:effectLst/>
                <a:uLnTx/>
                <a:uFillTx/>
                <a:latin typeface="맑은 고딕"/>
              </a:rPr>
              <a:t>V</a:t>
            </a:r>
            <a:endParaRPr kumimoji="1" lang="en-US" sz="700" b="1" i="0" u="none" strike="noStrike" kern="0" cap="none" spc="0" normalizeH="0" baseline="0" noProof="0" dirty="0">
              <a:ln>
                <a:noFill/>
              </a:ln>
              <a:solidFill>
                <a:schemeClr val="bg1"/>
              </a:solidFill>
              <a:effectLst/>
              <a:uLnTx/>
              <a:uFillTx/>
              <a:latin typeface="맑은 고딕"/>
            </a:endParaRPr>
          </a:p>
        </p:txBody>
      </p:sp>
      <p:sp>
        <p:nvSpPr>
          <p:cNvPr id="119" name="사각형: 둥근 모서리 31">
            <a:extLst>
              <a:ext uri="{FF2B5EF4-FFF2-40B4-BE49-F238E27FC236}">
                <a16:creationId xmlns:a16="http://schemas.microsoft.com/office/drawing/2014/main" id="{2AC143EE-93CF-3518-F0CB-8469E98507E0}"/>
              </a:ext>
            </a:extLst>
          </p:cNvPr>
          <p:cNvSpPr/>
          <p:nvPr/>
        </p:nvSpPr>
        <p:spPr>
          <a:xfrm>
            <a:off x="3912489" y="3861946"/>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0" name="사각형: 둥근 모서리 31">
            <a:extLst>
              <a:ext uri="{FF2B5EF4-FFF2-40B4-BE49-F238E27FC236}">
                <a16:creationId xmlns:a16="http://schemas.microsoft.com/office/drawing/2014/main" id="{2AC143EE-93CF-3518-F0CB-8469E98507E0}"/>
              </a:ext>
            </a:extLst>
          </p:cNvPr>
          <p:cNvSpPr/>
          <p:nvPr/>
        </p:nvSpPr>
        <p:spPr>
          <a:xfrm>
            <a:off x="3912489" y="4277885"/>
            <a:ext cx="108000" cy="108000"/>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effectLst/>
              <a:uLnTx/>
              <a:uFillTx/>
              <a:latin typeface="맑은 고딕"/>
            </a:endParaRPr>
          </a:p>
        </p:txBody>
      </p:sp>
      <p:sp>
        <p:nvSpPr>
          <p:cNvPr id="121" name="타원 120">
            <a:extLst>
              <a:ext uri="{FF2B5EF4-FFF2-40B4-BE49-F238E27FC236}">
                <a16:creationId xmlns:a16="http://schemas.microsoft.com/office/drawing/2014/main" id="{37A7FF4F-0EAA-1463-560A-D5EC24416103}"/>
              </a:ext>
            </a:extLst>
          </p:cNvPr>
          <p:cNvSpPr/>
          <p:nvPr/>
        </p:nvSpPr>
        <p:spPr>
          <a:xfrm>
            <a:off x="3726896" y="141389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22" name="타원 121">
            <a:extLst>
              <a:ext uri="{FF2B5EF4-FFF2-40B4-BE49-F238E27FC236}">
                <a16:creationId xmlns:a16="http://schemas.microsoft.com/office/drawing/2014/main" id="{37A7FF4F-0EAA-1463-560A-D5EC24416103}"/>
              </a:ext>
            </a:extLst>
          </p:cNvPr>
          <p:cNvSpPr/>
          <p:nvPr/>
        </p:nvSpPr>
        <p:spPr>
          <a:xfrm>
            <a:off x="3726896" y="278359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23" name="타원 122">
            <a:extLst>
              <a:ext uri="{FF2B5EF4-FFF2-40B4-BE49-F238E27FC236}">
                <a16:creationId xmlns:a16="http://schemas.microsoft.com/office/drawing/2014/main" id="{37A7FF4F-0EAA-1463-560A-D5EC24416103}"/>
              </a:ext>
            </a:extLst>
          </p:cNvPr>
          <p:cNvSpPr/>
          <p:nvPr/>
        </p:nvSpPr>
        <p:spPr>
          <a:xfrm>
            <a:off x="3726896"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316332690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216</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13. </a:t>
            </a:r>
            <a:r>
              <a:rPr lang="ko-KR" altLang="en-US" dirty="0" err="1"/>
              <a:t>개찰목록</a:t>
            </a:r>
            <a:r>
              <a:rPr lang="ko-KR" altLang="en-US" dirty="0"/>
              <a:t> 및 </a:t>
            </a:r>
            <a:r>
              <a:rPr lang="ko-KR" altLang="en-US" dirty="0" smtClean="0"/>
              <a:t>입찰결과상세</a:t>
            </a:r>
            <a:endParaRPr lang="en-US" altLang="ko-KR" dirty="0" smtClean="0"/>
          </a:p>
          <a:p>
            <a:r>
              <a:rPr lang="en-US" altLang="ko-KR" dirty="0" smtClean="0"/>
              <a:t>13.1 </a:t>
            </a:r>
            <a:r>
              <a:rPr lang="ko-KR" altLang="en-US" dirty="0" smtClean="0"/>
              <a:t>화면 목록</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2301141629"/>
              </p:ext>
            </p:extLst>
          </p:nvPr>
        </p:nvGraphicFramePr>
        <p:xfrm>
          <a:off x="635474" y="1420619"/>
          <a:ext cx="8701200" cy="402478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80526">
                  <a:extLst>
                    <a:ext uri="{9D8B030D-6E8A-4147-A177-3AD203B41FA5}">
                      <a16:colId xmlns:a16="http://schemas.microsoft.com/office/drawing/2014/main" val="20004"/>
                    </a:ext>
                  </a:extLst>
                </a:gridCol>
                <a:gridCol w="729074">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sz="700" kern="1200" dirty="0">
                          <a:solidFill>
                            <a:schemeClr val="tx1"/>
                          </a:solidFill>
                          <a:latin typeface="+mn-ea"/>
                          <a:ea typeface="+mn-ea"/>
                          <a:cs typeface="+mn-cs"/>
                        </a:rPr>
                        <a:t>MUI-BD-08-M01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개찰목록</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BdopnListPage</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업체 신청 </a:t>
                      </a:r>
                      <a:r>
                        <a:rPr lang="ko-KR" altLang="en-US" sz="800" kern="1200" dirty="0" err="1">
                          <a:solidFill>
                            <a:schemeClr val="tx1"/>
                          </a:solidFill>
                          <a:latin typeface="+mn-ea"/>
                          <a:ea typeface="+mn-ea"/>
                          <a:cs typeface="+mn-cs"/>
                        </a:rPr>
                        <a:t>공고건</a:t>
                      </a:r>
                      <a:r>
                        <a:rPr lang="ko-KR" altLang="en-US" sz="800" kern="1200" dirty="0">
                          <a:solidFill>
                            <a:schemeClr val="tx1"/>
                          </a:solidFill>
                          <a:latin typeface="+mn-ea"/>
                          <a:ea typeface="+mn-ea"/>
                          <a:cs typeface="+mn-cs"/>
                        </a:rPr>
                        <a:t> 중에서 개찰 결과가 있는 건을 개찰 목록에서 표시</a:t>
                      </a:r>
                      <a:br>
                        <a:rPr lang="ko-KR" altLang="en-US" sz="800" kern="1200" dirty="0">
                          <a:solidFill>
                            <a:schemeClr val="tx1"/>
                          </a:solidFill>
                          <a:latin typeface="+mn-ea"/>
                          <a:ea typeface="+mn-ea"/>
                          <a:cs typeface="+mn-cs"/>
                        </a:rPr>
                      </a:b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적격심사 내용 확인을 위한 개찰 목록 필요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b="0" i="0" u="none" strike="noStrike" dirty="0" err="1">
                          <a:solidFill>
                            <a:schemeClr val="tx1"/>
                          </a:solidFill>
                          <a:effectLst/>
                          <a:latin typeface="Calibri" panose="020F0502020204030204" pitchFamily="34" charset="0"/>
                        </a:rPr>
                        <a:t>bdopnList</a:t>
                      </a:r>
                      <a:r>
                        <a:rPr lang="en-US" altLang="ko-KR" sz="900" b="0" i="0" u="none" strike="noStrike" dirty="0">
                          <a:solidFill>
                            <a:schemeClr val="tx1"/>
                          </a:solidFill>
                          <a:effectLst/>
                          <a:latin typeface="Calibri" panose="020F0502020204030204" pitchFamily="34" charset="0"/>
                        </a:rPr>
                        <a:t>/</a:t>
                      </a:r>
                      <a:r>
                        <a:rPr lang="en-US" altLang="ko-KR" sz="900" b="0" i="0" u="none" strike="noStrike" dirty="0" err="1">
                          <a:solidFill>
                            <a:schemeClr val="tx1"/>
                          </a:solidFill>
                          <a:effectLst/>
                          <a:latin typeface="Calibri" panose="020F0502020204030204" pitchFamily="34" charset="0"/>
                        </a:rPr>
                        <a:t>BdopnListPage</a:t>
                      </a:r>
                      <a:r>
                        <a:rPr lang="en-US" altLang="ko-KR" sz="900" dirty="0" err="1">
                          <a:solidFill>
                            <a:schemeClr val="tx1"/>
                          </a:solidFill>
                          <a:latin typeface="+mn-ea"/>
                          <a:ea typeface="+mn-ea"/>
                        </a:rPr>
                        <a:t>.tsx</a:t>
                      </a:r>
                      <a:endParaRPr lang="en-US" altLang="ko-KR" sz="900" b="1"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p>
                    <a:p>
                      <a:pPr algn="ctr" latinLnBrk="1">
                        <a:defRPr/>
                      </a:pPr>
                      <a:r>
                        <a:rPr lang="en-US" altLang="ko-KR" sz="800" dirty="0">
                          <a:latin typeface="+mn-ea"/>
                          <a:ea typeface="+mn-ea"/>
                        </a:rPr>
                        <a:t>UC-BD-14-01</a:t>
                      </a:r>
                    </a:p>
                    <a:p>
                      <a:pPr algn="ctr" latinLnBrk="1">
                        <a:defRPr/>
                      </a:pPr>
                      <a:r>
                        <a:rPr lang="en-US" altLang="ko-KR" sz="800" dirty="0">
                          <a:latin typeface="+mn-ea"/>
                          <a:ea typeface="+mn-ea"/>
                        </a:rPr>
                        <a:t>UC-BD-14-02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l" fontAlgn="ctr"/>
                      <a:r>
                        <a:rPr lang="en-US" sz="700" kern="1200" dirty="0" smtClean="0">
                          <a:solidFill>
                            <a:schemeClr val="tx1"/>
                          </a:solidFill>
                          <a:latin typeface="+mn-ea"/>
                          <a:ea typeface="+mn-ea"/>
                          <a:cs typeface="+mn-cs"/>
                        </a:rPr>
                        <a:t>MUI-BD-08-P02</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검색필터</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개찰</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BdopnRsltList_SrchFilter</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smtClean="0">
                          <a:solidFill>
                            <a:schemeClr val="tx1"/>
                          </a:solidFill>
                          <a:latin typeface="+mn-ea"/>
                          <a:ea typeface="+mn-ea"/>
                          <a:cs typeface="+mn-cs"/>
                        </a:rPr>
                        <a:t>개찰목록</a:t>
                      </a:r>
                      <a:r>
                        <a:rPr lang="ko-KR" altLang="en-US" sz="800" kern="1200" dirty="0" smtClean="0">
                          <a:solidFill>
                            <a:schemeClr val="tx1"/>
                          </a:solidFill>
                          <a:latin typeface="+mn-ea"/>
                          <a:ea typeface="+mn-ea"/>
                          <a:cs typeface="+mn-cs"/>
                        </a:rPr>
                        <a:t> </a:t>
                      </a:r>
                      <a:r>
                        <a:rPr lang="ko-KR" altLang="en-US" sz="800" kern="1200" dirty="0" err="1" smtClean="0">
                          <a:solidFill>
                            <a:schemeClr val="tx1"/>
                          </a:solidFill>
                          <a:latin typeface="+mn-ea"/>
                          <a:ea typeface="+mn-ea"/>
                          <a:cs typeface="+mn-cs"/>
                        </a:rPr>
                        <a:t>검색필터</a:t>
                      </a:r>
                      <a:r>
                        <a:rPr lang="ko-KR" altLang="en-US" sz="800" kern="1200" dirty="0" smtClean="0">
                          <a:solidFill>
                            <a:schemeClr val="tx1"/>
                          </a:solidFill>
                          <a:latin typeface="+mn-ea"/>
                          <a:ea typeface="+mn-ea"/>
                          <a:cs typeface="+mn-cs"/>
                        </a:rPr>
                        <a:t>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smtClean="0">
                          <a:solidFill>
                            <a:schemeClr val="tx1"/>
                          </a:solidFill>
                          <a:latin typeface="+mn-ea"/>
                          <a:ea typeface="+mn-ea"/>
                        </a:rPr>
                        <a:t>src</a:t>
                      </a:r>
                      <a:r>
                        <a:rPr lang="en-US" altLang="ko-KR" sz="900" dirty="0" smtClean="0">
                          <a:solidFill>
                            <a:schemeClr val="tx1"/>
                          </a:solidFill>
                          <a:latin typeface="+mn-ea"/>
                          <a:ea typeface="+mn-ea"/>
                        </a:rPr>
                        <a:t>/</a:t>
                      </a:r>
                      <a:r>
                        <a:rPr lang="en-US" altLang="ko-KR" sz="900" dirty="0" err="1" smtClean="0">
                          <a:solidFill>
                            <a:schemeClr val="tx1"/>
                          </a:solidFill>
                          <a:latin typeface="+mn-ea"/>
                          <a:ea typeface="+mn-ea"/>
                        </a:rPr>
                        <a:t>ui</a:t>
                      </a:r>
                      <a:r>
                        <a:rPr lang="en-US" altLang="ko-KR" sz="900" dirty="0" smtClean="0">
                          <a:solidFill>
                            <a:schemeClr val="tx1"/>
                          </a:solidFill>
                          <a:latin typeface="+mn-ea"/>
                          <a:ea typeface="+mn-ea"/>
                        </a:rPr>
                        <a:t>/biz/</a:t>
                      </a:r>
                      <a:r>
                        <a:rPr lang="en-US" altLang="ko-KR" sz="900" dirty="0" err="1" smtClean="0">
                          <a:solidFill>
                            <a:schemeClr val="tx1"/>
                          </a:solidFill>
                          <a:latin typeface="+mn-ea"/>
                          <a:ea typeface="+mn-ea"/>
                        </a:rPr>
                        <a:t>bd</a:t>
                      </a:r>
                      <a:r>
                        <a:rPr lang="en-US" altLang="ko-KR" sz="900" dirty="0" smtClean="0">
                          <a:solidFill>
                            <a:schemeClr val="tx1"/>
                          </a:solidFill>
                          <a:latin typeface="+mn-ea"/>
                          <a:ea typeface="+mn-ea"/>
                        </a:rPr>
                        <a:t>/</a:t>
                      </a:r>
                      <a:r>
                        <a:rPr lang="en-US" altLang="ko-KR" sz="900" b="0" i="0" u="none" strike="noStrike" dirty="0" err="1" smtClean="0">
                          <a:solidFill>
                            <a:schemeClr val="tx1"/>
                          </a:solidFill>
                          <a:effectLst/>
                          <a:latin typeface="Calibri" panose="020F0502020204030204" pitchFamily="34" charset="0"/>
                        </a:rPr>
                        <a:t>bdopnList</a:t>
                      </a:r>
                      <a:r>
                        <a:rPr lang="en-US" altLang="ko-KR" sz="900" b="0" i="0" u="none" strike="noStrike" dirty="0" smtClean="0">
                          <a:solidFill>
                            <a:schemeClr val="tx1"/>
                          </a:solidFill>
                          <a:effectLst/>
                          <a:latin typeface="Calibri" panose="020F0502020204030204" pitchFamily="34" charset="0"/>
                        </a:rPr>
                        <a:t>/</a:t>
                      </a:r>
                      <a:r>
                        <a:rPr lang="en-US" altLang="ko-KR" sz="900" kern="1200" dirty="0" err="1" smtClean="0">
                          <a:solidFill>
                            <a:schemeClr val="tx1"/>
                          </a:solidFill>
                          <a:latin typeface="+mn-ea"/>
                          <a:ea typeface="+mn-ea"/>
                          <a:cs typeface="+mn-cs"/>
                        </a:rPr>
                        <a:t>BdopnRsltList_SrchFilter</a:t>
                      </a:r>
                      <a:r>
                        <a:rPr lang="en-US" altLang="ko-KR" sz="900" dirty="0" err="1" smtClean="0">
                          <a:solidFill>
                            <a:schemeClr val="tx1"/>
                          </a:solidFill>
                          <a:latin typeface="+mn-ea"/>
                          <a:ea typeface="+mn-ea"/>
                        </a:rPr>
                        <a:t>.tsx</a:t>
                      </a:r>
                      <a:endParaRPr lang="ko-KR" altLang="en-US" sz="900" kern="1200" dirty="0" smtClean="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smtClean="0">
                          <a:latin typeface="+mn-ea"/>
                          <a:ea typeface="+mn-ea"/>
                        </a:rPr>
                        <a:t>UC-BD-13-01</a:t>
                      </a:r>
                    </a:p>
                    <a:p>
                      <a:pPr algn="ctr" latinLnBrk="1">
                        <a:defRPr/>
                      </a:pPr>
                      <a:r>
                        <a:rPr lang="en-US" altLang="ko-KR" sz="800" dirty="0" smtClean="0">
                          <a:latin typeface="+mn-ea"/>
                          <a:ea typeface="+mn-ea"/>
                        </a:rPr>
                        <a:t>UC-BD-14-01</a:t>
                      </a:r>
                    </a:p>
                    <a:p>
                      <a:pPr algn="ctr" latinLnBrk="1">
                        <a:defRPr/>
                      </a:pPr>
                      <a:r>
                        <a:rPr lang="en-US" altLang="ko-KR" sz="800" dirty="0" smtClean="0">
                          <a:latin typeface="+mn-ea"/>
                          <a:ea typeface="+mn-ea"/>
                        </a:rPr>
                        <a:t>UC-BD-14-02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882699956"/>
                  </a:ext>
                </a:extLst>
              </a:tr>
              <a:tr h="180000">
                <a:tc>
                  <a:txBody>
                    <a:bodyPr/>
                    <a:lstStyle/>
                    <a:p>
                      <a:pPr algn="l" fontAlgn="ctr"/>
                      <a:r>
                        <a:rPr lang="en-US" sz="700" kern="1200" dirty="0">
                          <a:solidFill>
                            <a:schemeClr val="tx1"/>
                          </a:solidFill>
                          <a:latin typeface="+mn-ea"/>
                          <a:ea typeface="+mn-ea"/>
                          <a:cs typeface="+mn-cs"/>
                        </a:rPr>
                        <a:t>MUI-BD-09-M01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입찰결과상세</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kern="1200" dirty="0" err="1">
                          <a:solidFill>
                            <a:schemeClr val="tx1"/>
                          </a:solidFill>
                          <a:latin typeface="+mn-ea"/>
                          <a:ea typeface="+mn-ea"/>
                          <a:cs typeface="+mn-cs"/>
                        </a:rPr>
                        <a:t>BidRsltDtlPage</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smtClean="0">
                          <a:solidFill>
                            <a:schemeClr val="tx1"/>
                          </a:solidFill>
                          <a:latin typeface="+mn-ea"/>
                          <a:ea typeface="+mn-ea"/>
                          <a:cs typeface="+mn-cs"/>
                        </a:rPr>
                        <a:t>개찰 </a:t>
                      </a:r>
                      <a:r>
                        <a:rPr lang="ko-KR" altLang="en-US" sz="800" kern="1200" dirty="0">
                          <a:solidFill>
                            <a:schemeClr val="tx1"/>
                          </a:solidFill>
                          <a:latin typeface="+mn-ea"/>
                          <a:ea typeface="+mn-ea"/>
                          <a:cs typeface="+mn-cs"/>
                        </a:rPr>
                        <a:t>및 낙찰 처리 후 </a:t>
                      </a:r>
                      <a:r>
                        <a:rPr lang="ko-KR" altLang="en-US" sz="800" kern="1200" dirty="0" smtClean="0">
                          <a:solidFill>
                            <a:schemeClr val="tx1"/>
                          </a:solidFill>
                          <a:latin typeface="+mn-ea"/>
                          <a:ea typeface="+mn-ea"/>
                          <a:cs typeface="+mn-cs"/>
                        </a:rPr>
                        <a:t>입찰결과 조회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b="0" i="0" u="none" strike="noStrike" dirty="0" err="1">
                          <a:solidFill>
                            <a:schemeClr val="tx1"/>
                          </a:solidFill>
                          <a:effectLst/>
                          <a:latin typeface="Calibri" panose="020F0502020204030204" pitchFamily="34" charset="0"/>
                        </a:rPr>
                        <a:t>bdopnList</a:t>
                      </a:r>
                      <a:r>
                        <a:rPr lang="en-US" altLang="ko-KR" sz="900" b="0" i="0" u="none" strike="noStrike" dirty="0">
                          <a:solidFill>
                            <a:schemeClr val="tx1"/>
                          </a:solidFill>
                          <a:effectLst/>
                          <a:latin typeface="Calibri" panose="020F0502020204030204" pitchFamily="34" charset="0"/>
                        </a:rPr>
                        <a:t>/</a:t>
                      </a:r>
                      <a:r>
                        <a:rPr lang="en-US" altLang="ko-KR" sz="900" b="0" i="0" u="none" strike="noStrike" dirty="0" err="1">
                          <a:solidFill>
                            <a:schemeClr val="tx1"/>
                          </a:solidFill>
                          <a:effectLst/>
                          <a:latin typeface="Calibri" panose="020F0502020204030204" pitchFamily="34" charset="0"/>
                        </a:rPr>
                        <a:t>BdopnList</a:t>
                      </a:r>
                      <a:r>
                        <a:rPr lang="en-US" altLang="ko-KR" sz="900" dirty="0" err="1">
                          <a:solidFill>
                            <a:schemeClr val="tx1"/>
                          </a:solidFill>
                          <a:latin typeface="+mn-ea"/>
                          <a:ea typeface="+mn-ea"/>
                        </a:rPr>
                        <a:t>.tsx</a:t>
                      </a:r>
                      <a:endParaRPr lang="ko-KR" altLang="en-US" sz="9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3440042"/>
                  </a:ext>
                </a:extLst>
              </a:tr>
              <a:tr h="180000">
                <a:tc>
                  <a:txBody>
                    <a:bodyPr/>
                    <a:lstStyle/>
                    <a:p>
                      <a:pPr algn="l" fontAlgn="ctr"/>
                      <a:r>
                        <a:rPr lang="en-US" sz="700" kern="1200" dirty="0">
                          <a:solidFill>
                            <a:schemeClr val="tx1"/>
                          </a:solidFill>
                          <a:latin typeface="+mn-ea"/>
                          <a:ea typeface="+mn-ea"/>
                          <a:cs typeface="+mn-cs"/>
                        </a:rPr>
                        <a:t>MUI-BD-09-T01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a:solidFill>
                            <a:schemeClr val="tx1"/>
                          </a:solidFill>
                          <a:latin typeface="+mn-ea"/>
                          <a:ea typeface="+mn-ea"/>
                          <a:cs typeface="+mn-cs"/>
                        </a:rPr>
                        <a:t>일반정보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BidRsltDtlPage_Info</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일반정보 조회 탭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Calibri" panose="020F0502020204030204" pitchFamily="34" charset="0"/>
                          <a:ea typeface="맑은 고딕" panose="020B0503020000020004" pitchFamily="50" charset="-127"/>
                          <a:cs typeface="+mn-cs"/>
                        </a:rPr>
                        <a:t>bdopnList</a:t>
                      </a:r>
                      <a:r>
                        <a:rPr kumimoji="0" lang="en-US" altLang="ko-KR" sz="900" b="0" i="0" u="none" strike="noStrike" kern="1200" cap="none" spc="0" normalizeH="0" baseline="0" noProof="0" dirty="0" smtClean="0">
                          <a:ln>
                            <a:noFill/>
                          </a:ln>
                          <a:solidFill>
                            <a:prstClr val="black"/>
                          </a:solidFill>
                          <a:effectLst/>
                          <a:uLnTx/>
                          <a:uFillTx/>
                          <a:latin typeface="Calibri" panose="020F0502020204030204" pitchFamily="34" charset="0"/>
                          <a:ea typeface="맑은 고딕" panose="020B0503020000020004" pitchFamily="50" charset="-127"/>
                          <a:cs typeface="+mn-cs"/>
                        </a:rPr>
                        <a:t>/</a:t>
                      </a:r>
                      <a:r>
                        <a:rPr lang="en-US" altLang="ko-KR" sz="900" kern="1200" dirty="0" err="1" smtClean="0">
                          <a:solidFill>
                            <a:schemeClr val="tx1"/>
                          </a:solidFill>
                          <a:latin typeface="+mn-ea"/>
                          <a:ea typeface="+mn-ea"/>
                          <a:cs typeface="+mn-cs"/>
                        </a:rPr>
                        <a:t>BidRsltDtlPage_Info</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smtClean="0">
                          <a:latin typeface="+mn-ea"/>
                          <a:ea typeface="+mn-ea"/>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2550256"/>
                  </a:ext>
                </a:extLst>
              </a:tr>
              <a:tr h="180000">
                <a:tc>
                  <a:txBody>
                    <a:bodyPr/>
                    <a:lstStyle/>
                    <a:p>
                      <a:pPr algn="l" fontAlgn="ctr"/>
                      <a:r>
                        <a:rPr lang="en-US" sz="700" kern="1200" dirty="0">
                          <a:solidFill>
                            <a:schemeClr val="tx1"/>
                          </a:solidFill>
                          <a:latin typeface="+mn-ea"/>
                          <a:ea typeface="+mn-ea"/>
                          <a:cs typeface="+mn-cs"/>
                        </a:rPr>
                        <a:t>MUI-BD-09-T02</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a:solidFill>
                            <a:schemeClr val="tx1"/>
                          </a:solidFill>
                          <a:latin typeface="+mn-ea"/>
                          <a:ea typeface="+mn-ea"/>
                          <a:cs typeface="+mn-cs"/>
                        </a:rPr>
                        <a:t>품목정보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kern="1200" dirty="0" err="1">
                          <a:solidFill>
                            <a:schemeClr val="tx1"/>
                          </a:solidFill>
                          <a:latin typeface="+mn-ea"/>
                          <a:ea typeface="+mn-ea"/>
                          <a:cs typeface="+mn-cs"/>
                        </a:rPr>
                        <a:t>BidRsltDtlListPage</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품목정보</a:t>
                      </a:r>
                      <a:r>
                        <a:rPr lang="ko-KR" altLang="en-US" sz="800" kern="1200" dirty="0">
                          <a:solidFill>
                            <a:schemeClr val="tx1"/>
                          </a:solidFill>
                          <a:latin typeface="+mn-ea"/>
                          <a:ea typeface="+mn-ea"/>
                          <a:cs typeface="+mn-cs"/>
                        </a:rPr>
                        <a:t> </a:t>
                      </a:r>
                      <a:r>
                        <a:rPr lang="ko-KR" altLang="en-US" sz="800" kern="1200" dirty="0" smtClean="0">
                          <a:solidFill>
                            <a:schemeClr val="tx1"/>
                          </a:solidFill>
                          <a:latin typeface="+mn-ea"/>
                          <a:ea typeface="+mn-ea"/>
                          <a:cs typeface="+mn-cs"/>
                        </a:rPr>
                        <a:t>조회 탭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Calibri" panose="020F0502020204030204" pitchFamily="34" charset="0"/>
                          <a:ea typeface="맑은 고딕" panose="020B0503020000020004" pitchFamily="50" charset="-127"/>
                          <a:cs typeface="+mn-cs"/>
                        </a:rPr>
                        <a:t>bdopnList</a:t>
                      </a:r>
                      <a:r>
                        <a:rPr kumimoji="0" lang="en-US" altLang="ko-KR" sz="900" b="0" i="0" u="none" strike="noStrike" kern="1200" cap="none" spc="0" normalizeH="0" baseline="0" noProof="0" dirty="0" smtClean="0">
                          <a:ln>
                            <a:noFill/>
                          </a:ln>
                          <a:solidFill>
                            <a:prstClr val="black"/>
                          </a:solidFill>
                          <a:effectLst/>
                          <a:uLnTx/>
                          <a:uFillTx/>
                          <a:latin typeface="Calibri" panose="020F0502020204030204" pitchFamily="34" charset="0"/>
                          <a:ea typeface="맑은 고딕" panose="020B0503020000020004" pitchFamily="50" charset="-127"/>
                          <a:cs typeface="+mn-cs"/>
                        </a:rPr>
                        <a:t>/</a:t>
                      </a:r>
                      <a:r>
                        <a:rPr lang="en-US" altLang="ko-KR" sz="900" kern="1200" dirty="0" err="1" smtClean="0">
                          <a:solidFill>
                            <a:schemeClr val="tx1"/>
                          </a:solidFill>
                          <a:latin typeface="+mn-ea"/>
                          <a:ea typeface="+mn-ea"/>
                          <a:cs typeface="+mn-cs"/>
                        </a:rPr>
                        <a:t>BidRsltDtlListPage</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39506035"/>
                  </a:ext>
                </a:extLst>
              </a:tr>
              <a:tr h="180000">
                <a:tc>
                  <a:txBody>
                    <a:bodyPr/>
                    <a:lstStyle/>
                    <a:p>
                      <a:pPr algn="l" fontAlgn="ctr"/>
                      <a:r>
                        <a:rPr lang="en-US" sz="700" kern="1200" dirty="0">
                          <a:solidFill>
                            <a:schemeClr val="tx1"/>
                          </a:solidFill>
                          <a:latin typeface="+mn-ea"/>
                          <a:ea typeface="+mn-ea"/>
                          <a:cs typeface="+mn-cs"/>
                        </a:rPr>
                        <a:t>MUI-BD-09-T03</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a:solidFill>
                            <a:schemeClr val="tx1"/>
                          </a:solidFill>
                          <a:latin typeface="+mn-ea"/>
                          <a:ea typeface="+mn-ea"/>
                          <a:cs typeface="+mn-cs"/>
                        </a:rPr>
                        <a:t>입찰결과</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kern="1200" dirty="0" err="1">
                          <a:solidFill>
                            <a:schemeClr val="tx1"/>
                          </a:solidFill>
                          <a:latin typeface="+mn-ea"/>
                          <a:ea typeface="+mn-ea"/>
                          <a:cs typeface="+mn-cs"/>
                        </a:rPr>
                        <a:t>BidRsltDtl</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입찰결과 </a:t>
                      </a:r>
                      <a:r>
                        <a:rPr lang="ko-KR" altLang="en-US" sz="800" kern="1200" dirty="0" smtClean="0">
                          <a:solidFill>
                            <a:schemeClr val="tx1"/>
                          </a:solidFill>
                          <a:latin typeface="+mn-ea"/>
                          <a:ea typeface="+mn-ea"/>
                          <a:cs typeface="+mn-cs"/>
                        </a:rPr>
                        <a:t>조회 탭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Calibri" panose="020F0502020204030204" pitchFamily="34" charset="0"/>
                          <a:ea typeface="맑은 고딕" panose="020B0503020000020004" pitchFamily="50" charset="-127"/>
                          <a:cs typeface="+mn-cs"/>
                        </a:rPr>
                        <a:t>bdopnList</a:t>
                      </a:r>
                      <a:r>
                        <a:rPr kumimoji="0" lang="en-US" altLang="ko-KR" sz="900" b="0" i="0" u="none" strike="noStrike" kern="1200" cap="none" spc="0" normalizeH="0" baseline="0" noProof="0" dirty="0" smtClean="0">
                          <a:ln>
                            <a:noFill/>
                          </a:ln>
                          <a:solidFill>
                            <a:prstClr val="black"/>
                          </a:solidFill>
                          <a:effectLst/>
                          <a:uLnTx/>
                          <a:uFillTx/>
                          <a:latin typeface="Calibri" panose="020F0502020204030204" pitchFamily="34" charset="0"/>
                          <a:ea typeface="맑은 고딕" panose="020B0503020000020004" pitchFamily="50" charset="-127"/>
                          <a:cs typeface="+mn-cs"/>
                        </a:rPr>
                        <a:t>/</a:t>
                      </a:r>
                      <a:r>
                        <a:rPr lang="en-US" altLang="ko-KR" sz="900" kern="1200" dirty="0" err="1" smtClean="0">
                          <a:solidFill>
                            <a:schemeClr val="tx1"/>
                          </a:solidFill>
                          <a:latin typeface="+mn-ea"/>
                          <a:ea typeface="+mn-ea"/>
                          <a:cs typeface="+mn-cs"/>
                        </a:rPr>
                        <a:t>BidRsltDtl</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748861"/>
                  </a:ext>
                </a:extLst>
              </a:tr>
              <a:tr h="180000">
                <a:tc>
                  <a:txBody>
                    <a:bodyPr/>
                    <a:lstStyle/>
                    <a:p>
                      <a:pPr algn="l" fontAlgn="ctr"/>
                      <a:r>
                        <a:rPr lang="en-US" sz="700" kern="1200" dirty="0" smtClean="0">
                          <a:solidFill>
                            <a:schemeClr val="tx1"/>
                          </a:solidFill>
                          <a:latin typeface="+mn-ea"/>
                          <a:ea typeface="+mn-ea"/>
                          <a:cs typeface="+mn-cs"/>
                        </a:rPr>
                        <a:t>MUI-BD-09-T04</a:t>
                      </a:r>
                      <a:endParaRPr lang="en-US" sz="7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협상결과</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ea"/>
                          <a:ea typeface="+mn-ea"/>
                          <a:cs typeface="+mn-cs"/>
                        </a:rPr>
                        <a:t>BidRsltDtl2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협상결과 </a:t>
                      </a:r>
                      <a:r>
                        <a:rPr lang="ko-KR" altLang="en-US" sz="800" kern="1200" dirty="0" smtClean="0">
                          <a:solidFill>
                            <a:schemeClr val="tx1"/>
                          </a:solidFill>
                          <a:latin typeface="+mn-ea"/>
                          <a:ea typeface="+mn-ea"/>
                          <a:cs typeface="+mn-cs"/>
                        </a:rPr>
                        <a:t>조회 탭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Calibri" panose="020F0502020204030204" pitchFamily="34" charset="0"/>
                          <a:ea typeface="맑은 고딕" panose="020B0503020000020004" pitchFamily="50" charset="-127"/>
                          <a:cs typeface="+mn-cs"/>
                        </a:rPr>
                        <a:t>bdopnList</a:t>
                      </a:r>
                      <a:r>
                        <a:rPr kumimoji="0" lang="en-US" altLang="ko-KR" sz="900" b="0" i="0" u="none" strike="noStrike" kern="1200" cap="none" spc="0" normalizeH="0" baseline="0" noProof="0" dirty="0" smtClean="0">
                          <a:ln>
                            <a:noFill/>
                          </a:ln>
                          <a:solidFill>
                            <a:prstClr val="black"/>
                          </a:solidFill>
                          <a:effectLst/>
                          <a:uLnTx/>
                          <a:uFillTx/>
                          <a:latin typeface="Calibri" panose="020F0502020204030204" pitchFamily="34" charset="0"/>
                          <a:ea typeface="맑은 고딕" panose="020B0503020000020004" pitchFamily="50" charset="-127"/>
                          <a:cs typeface="+mn-cs"/>
                        </a:rPr>
                        <a:t>/</a:t>
                      </a:r>
                      <a:r>
                        <a:rPr lang="en-US" altLang="ko-KR" sz="900" kern="1200" dirty="0" smtClean="0">
                          <a:solidFill>
                            <a:schemeClr val="tx1"/>
                          </a:solidFill>
                          <a:latin typeface="+mn-ea"/>
                          <a:ea typeface="+mn-ea"/>
                          <a:cs typeface="+mn-cs"/>
                        </a:rPr>
                        <a:t>BidRsltDtl2</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2940625"/>
                  </a:ext>
                </a:extLst>
              </a:tr>
              <a:tr h="180000">
                <a:tc>
                  <a:txBody>
                    <a:bodyPr/>
                    <a:lstStyle/>
                    <a:p>
                      <a:pPr algn="l" fontAlgn="ctr"/>
                      <a:r>
                        <a:rPr lang="en-US" sz="700" kern="1200" dirty="0">
                          <a:solidFill>
                            <a:schemeClr val="tx1"/>
                          </a:solidFill>
                          <a:latin typeface="+mn-ea"/>
                          <a:ea typeface="+mn-ea"/>
                          <a:cs typeface="+mn-cs"/>
                        </a:rPr>
                        <a:t>MUI-BD-09-P02</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복수예비가격</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PrprcPage</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복수예비가격 정보 조회 팝업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Calibri" panose="020F0502020204030204" pitchFamily="34" charset="0"/>
                          <a:ea typeface="맑은 고딕" panose="020B0503020000020004" pitchFamily="50" charset="-127"/>
                          <a:cs typeface="+mn-cs"/>
                        </a:rPr>
                        <a:t>bdopnList</a:t>
                      </a:r>
                      <a:r>
                        <a:rPr kumimoji="0" lang="en-US" altLang="ko-KR" sz="900" b="0" i="0" u="none" strike="noStrike" kern="1200" cap="none" spc="0" normalizeH="0" baseline="0" noProof="0" dirty="0" smtClean="0">
                          <a:ln>
                            <a:noFill/>
                          </a:ln>
                          <a:solidFill>
                            <a:prstClr val="black"/>
                          </a:solidFill>
                          <a:effectLst/>
                          <a:uLnTx/>
                          <a:uFillTx/>
                          <a:latin typeface="Calibri" panose="020F0502020204030204" pitchFamily="34" charset="0"/>
                          <a:ea typeface="맑은 고딕" panose="020B0503020000020004" pitchFamily="50" charset="-127"/>
                          <a:cs typeface="+mn-cs"/>
                        </a:rPr>
                        <a:t>/</a:t>
                      </a:r>
                      <a:r>
                        <a:rPr lang="en-US" altLang="ko-KR" sz="900" kern="1200" dirty="0" err="1" smtClean="0">
                          <a:solidFill>
                            <a:schemeClr val="tx1"/>
                          </a:solidFill>
                          <a:latin typeface="+mn-ea"/>
                          <a:ea typeface="+mn-ea"/>
                          <a:cs typeface="+mn-cs"/>
                        </a:rPr>
                        <a:t>PrprcPage</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69858211"/>
                  </a:ext>
                </a:extLst>
              </a:tr>
              <a:tr h="180000">
                <a:tc>
                  <a:txBody>
                    <a:bodyPr/>
                    <a:lstStyle/>
                    <a:p>
                      <a:pPr algn="l" fontAlgn="ctr"/>
                      <a:r>
                        <a:rPr lang="en-US" sz="700" kern="1200" dirty="0">
                          <a:solidFill>
                            <a:schemeClr val="tx1"/>
                          </a:solidFill>
                          <a:latin typeface="+mn-ea"/>
                          <a:ea typeface="+mn-ea"/>
                          <a:cs typeface="+mn-cs"/>
                        </a:rPr>
                        <a:t>MUI-BD-09-P03</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동가낙찰결과</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SmprcScsbdRslt</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동가낙찰결과</a:t>
                      </a: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 정보 조회 팝업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Calibri" panose="020F0502020204030204" pitchFamily="34" charset="0"/>
                          <a:ea typeface="맑은 고딕" panose="020B0503020000020004" pitchFamily="50" charset="-127"/>
                          <a:cs typeface="+mn-cs"/>
                        </a:rPr>
                        <a:t>bdopnList</a:t>
                      </a:r>
                      <a:r>
                        <a:rPr kumimoji="0" lang="en-US" altLang="ko-KR" sz="900" b="0" i="0" u="none" strike="noStrike" kern="1200" cap="none" spc="0" normalizeH="0" baseline="0" noProof="0" dirty="0" smtClean="0">
                          <a:ln>
                            <a:noFill/>
                          </a:ln>
                          <a:solidFill>
                            <a:prstClr val="black"/>
                          </a:solidFill>
                          <a:effectLst/>
                          <a:uLnTx/>
                          <a:uFillTx/>
                          <a:latin typeface="Calibri" panose="020F0502020204030204" pitchFamily="34" charset="0"/>
                          <a:ea typeface="맑은 고딕" panose="020B0503020000020004" pitchFamily="50" charset="-127"/>
                          <a:cs typeface="+mn-cs"/>
                        </a:rPr>
                        <a:t>/</a:t>
                      </a:r>
                      <a:r>
                        <a:rPr lang="en-US" altLang="ko-KR" sz="900" kern="1200" dirty="0" err="1" smtClean="0">
                          <a:solidFill>
                            <a:schemeClr val="tx1"/>
                          </a:solidFill>
                          <a:latin typeface="+mn-ea"/>
                          <a:ea typeface="+mn-ea"/>
                          <a:cs typeface="+mn-cs"/>
                        </a:rPr>
                        <a:t>SmprcScsbdRslt</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87380"/>
                  </a:ext>
                </a:extLst>
              </a:tr>
              <a:tr h="180000">
                <a:tc>
                  <a:txBody>
                    <a:bodyPr/>
                    <a:lstStyle/>
                    <a:p>
                      <a:pPr algn="l" fontAlgn="ctr"/>
                      <a:r>
                        <a:rPr lang="en-US" sz="700" kern="1200" dirty="0">
                          <a:solidFill>
                            <a:schemeClr val="tx1"/>
                          </a:solidFill>
                          <a:latin typeface="+mn-ea"/>
                          <a:ea typeface="+mn-ea"/>
                          <a:cs typeface="+mn-cs"/>
                        </a:rPr>
                        <a:t>MUI-BD-09-P04</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평가위원별기술평가점수상세조회</a:t>
                      </a:r>
                      <a:endParaRPr lang="ko-KR" alt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kern="1200" dirty="0" err="1">
                          <a:solidFill>
                            <a:schemeClr val="tx1"/>
                          </a:solidFill>
                          <a:latin typeface="+mn-ea"/>
                          <a:ea typeface="+mn-ea"/>
                          <a:cs typeface="+mn-cs"/>
                        </a:rPr>
                        <a:t>EvlMbcmtTechEvlScrDtl</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smtClean="0">
                          <a:solidFill>
                            <a:schemeClr val="tx1"/>
                          </a:solidFill>
                          <a:latin typeface="+mn-ea"/>
                          <a:ea typeface="+mn-ea"/>
                          <a:cs typeface="+mn-cs"/>
                        </a:rPr>
                        <a:t>평가위원별기술평가점수상세조회</a:t>
                      </a: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 팝업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src</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ui</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/biz/</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bd</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Calibri" panose="020F0502020204030204" pitchFamily="34" charset="0"/>
                          <a:ea typeface="맑은 고딕" panose="020B0503020000020004" pitchFamily="50" charset="-127"/>
                          <a:cs typeface="+mn-cs"/>
                        </a:rPr>
                        <a:t>bdopnList</a:t>
                      </a:r>
                      <a:r>
                        <a:rPr kumimoji="0" lang="en-US" altLang="ko-KR" sz="900" b="0" i="0" u="none" strike="noStrike" kern="1200" cap="none" spc="0" normalizeH="0" baseline="0" noProof="0" dirty="0" smtClean="0">
                          <a:ln>
                            <a:noFill/>
                          </a:ln>
                          <a:solidFill>
                            <a:prstClr val="black"/>
                          </a:solidFill>
                          <a:effectLst/>
                          <a:uLnTx/>
                          <a:uFillTx/>
                          <a:latin typeface="Calibri" panose="020F0502020204030204" pitchFamily="34" charset="0"/>
                          <a:ea typeface="맑은 고딕" panose="020B0503020000020004" pitchFamily="50" charset="-127"/>
                          <a:cs typeface="+mn-cs"/>
                        </a:rPr>
                        <a:t>/</a:t>
                      </a:r>
                      <a:r>
                        <a:rPr lang="en-US" altLang="ko-KR" sz="900" kern="1200" dirty="0" err="1" smtClean="0">
                          <a:solidFill>
                            <a:schemeClr val="tx1"/>
                          </a:solidFill>
                          <a:latin typeface="+mn-ea"/>
                          <a:ea typeface="+mn-ea"/>
                          <a:cs typeface="+mn-cs"/>
                        </a:rPr>
                        <a:t>EvlMbcmtTechEvlScrDtl</a:t>
                      </a:r>
                      <a:r>
                        <a:rPr kumimoji="0" lang="en-US" altLang="ko-KR" sz="9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en-US" altLang="ko-KR" sz="900" b="0" i="0" u="none" strike="noStrike" kern="1200" cap="none" spc="0" normalizeH="0" baseline="0" noProof="0" dirty="0" err="1" smtClean="0">
                          <a:ln>
                            <a:noFill/>
                          </a:ln>
                          <a:solidFill>
                            <a:prstClr val="black"/>
                          </a:solidFill>
                          <a:effectLst/>
                          <a:uLnTx/>
                          <a:uFillTx/>
                          <a:latin typeface="맑은 고딕" panose="020B0503020000020004" pitchFamily="50" charset="-127"/>
                          <a:ea typeface="맑은 고딕" panose="020B0503020000020004" pitchFamily="50" charset="-127"/>
                          <a:cs typeface="+mn-cs"/>
                        </a:rPr>
                        <a:t>tsx</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1542039"/>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55074780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217</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6.2. </a:t>
            </a:r>
            <a:r>
              <a:rPr lang="ko-KR" altLang="en-US" dirty="0"/>
              <a:t>화면 흐름도 </a:t>
            </a:r>
            <a:r>
              <a:rPr lang="en-US" altLang="ko-KR" dirty="0"/>
              <a:t>– </a:t>
            </a:r>
            <a:r>
              <a:rPr lang="ko-KR" altLang="en-US" dirty="0"/>
              <a:t>입찰 공고 진입 및 신청</a:t>
            </a:r>
          </a:p>
        </p:txBody>
      </p:sp>
      <p:sp>
        <p:nvSpPr>
          <p:cNvPr id="6"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개찰목록</a:t>
            </a:r>
            <a:endParaRPr lang="ko-KR" altLang="en-US" sz="800" dirty="0">
              <a:solidFill>
                <a:schemeClr val="tx1"/>
              </a:solidFill>
            </a:endParaRP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6"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106" name="TextBox 105">
            <a:extLst>
              <a:ext uri="{FF2B5EF4-FFF2-40B4-BE49-F238E27FC236}">
                <a16:creationId xmlns:a16="http://schemas.microsoft.com/office/drawing/2014/main" id="{6619C48D-7E22-9D49-50C5-2404458A47CE}"/>
              </a:ext>
            </a:extLst>
          </p:cNvPr>
          <p:cNvSpPr txBox="1"/>
          <p:nvPr/>
        </p:nvSpPr>
        <p:spPr>
          <a:xfrm>
            <a:off x="777742" y="5724451"/>
            <a:ext cx="8640000" cy="860611"/>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err="1">
                <a:solidFill>
                  <a:srgbClr val="0000FF"/>
                </a:solidFill>
                <a:latin typeface="+mn-ea"/>
              </a:rPr>
              <a:t>개찰일시가</a:t>
            </a:r>
            <a:r>
              <a:rPr lang="ko-KR" altLang="en-US" sz="800" kern="0" dirty="0">
                <a:solidFill>
                  <a:srgbClr val="0000FF"/>
                </a:solidFill>
                <a:latin typeface="+mn-ea"/>
              </a:rPr>
              <a:t> 지난 항목</a:t>
            </a:r>
            <a:r>
              <a:rPr lang="en-US" altLang="ko-KR" sz="800" kern="0" dirty="0">
                <a:solidFill>
                  <a:srgbClr val="0000FF"/>
                </a:solidFill>
                <a:latin typeface="+mn-ea"/>
              </a:rPr>
              <a:t>, </a:t>
            </a:r>
            <a:r>
              <a:rPr lang="ko-KR" altLang="en-US" sz="800" kern="0" dirty="0" err="1">
                <a:solidFill>
                  <a:srgbClr val="0000FF"/>
                </a:solidFill>
                <a:latin typeface="+mn-ea"/>
              </a:rPr>
              <a:t>개찰된</a:t>
            </a:r>
            <a:r>
              <a:rPr lang="ko-KR" altLang="en-US" sz="800" kern="0" dirty="0">
                <a:solidFill>
                  <a:srgbClr val="0000FF"/>
                </a:solidFill>
                <a:latin typeface="+mn-ea"/>
              </a:rPr>
              <a:t> 항목이 개찰 목록에 표시됩니다</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strike="sngStrike" kern="0" dirty="0">
                <a:solidFill>
                  <a:srgbClr val="0000FF"/>
                </a:solidFill>
                <a:latin typeface="+mn-ea"/>
              </a:rPr>
              <a:t>앱에서는 업체가 신청한 대상 공고의 개찰 항목만 표시합니다</a:t>
            </a:r>
            <a:r>
              <a:rPr lang="en-US" altLang="ko-KR" sz="800" strike="sngStrike" kern="0" dirty="0">
                <a:solidFill>
                  <a:srgbClr val="0000FF"/>
                </a:solidFill>
                <a:latin typeface="+mn-ea"/>
              </a:rPr>
              <a:t>. (</a:t>
            </a:r>
            <a:r>
              <a:rPr lang="ko-KR" altLang="en-US" sz="800" strike="sngStrike" kern="0" dirty="0" err="1">
                <a:solidFill>
                  <a:srgbClr val="0000FF"/>
                </a:solidFill>
                <a:latin typeface="+mn-ea"/>
              </a:rPr>
              <a:t>계약관이</a:t>
            </a:r>
            <a:r>
              <a:rPr lang="ko-KR" altLang="en-US" sz="800" strike="sngStrike" kern="0" dirty="0">
                <a:solidFill>
                  <a:srgbClr val="0000FF"/>
                </a:solidFill>
                <a:latin typeface="+mn-ea"/>
              </a:rPr>
              <a:t> 앱에 로그인하더라도 조회 정보가 없으며</a:t>
            </a:r>
            <a:r>
              <a:rPr lang="en-US" altLang="ko-KR" sz="800" strike="sngStrike" kern="0" dirty="0">
                <a:solidFill>
                  <a:srgbClr val="0000FF"/>
                </a:solidFill>
                <a:latin typeface="+mn-ea"/>
              </a:rPr>
              <a:t>,</a:t>
            </a:r>
            <a:r>
              <a:rPr lang="ko-KR" altLang="en-US" sz="800" strike="sngStrike" kern="0" dirty="0">
                <a:solidFill>
                  <a:srgbClr val="0000FF"/>
                </a:solidFill>
                <a:latin typeface="+mn-ea"/>
              </a:rPr>
              <a:t> </a:t>
            </a:r>
            <a:r>
              <a:rPr lang="en-US" altLang="ko-KR" sz="800" strike="sngStrike" kern="0" dirty="0">
                <a:solidFill>
                  <a:srgbClr val="0000FF"/>
                </a:solidFill>
                <a:latin typeface="+mn-ea"/>
              </a:rPr>
              <a:t>PC</a:t>
            </a:r>
            <a:r>
              <a:rPr lang="ko-KR" altLang="en-US" sz="800" strike="sngStrike" kern="0" dirty="0">
                <a:solidFill>
                  <a:srgbClr val="0000FF"/>
                </a:solidFill>
                <a:latin typeface="+mn-ea"/>
              </a:rPr>
              <a:t>에서 업무를 처리해야 합니다</a:t>
            </a:r>
            <a:r>
              <a:rPr lang="en-US" altLang="ko-KR" sz="800" strike="sngStrike"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smtClean="0">
                <a:solidFill>
                  <a:srgbClr val="FF0000"/>
                </a:solidFill>
                <a:latin typeface="+mn-ea"/>
              </a:rPr>
              <a:t>모든 사용자가 </a:t>
            </a:r>
            <a:r>
              <a:rPr lang="ko-KR" altLang="en-US" sz="800" kern="0" dirty="0" err="1" smtClean="0">
                <a:solidFill>
                  <a:srgbClr val="FF0000"/>
                </a:solidFill>
                <a:latin typeface="+mn-ea"/>
              </a:rPr>
              <a:t>개찰항목을</a:t>
            </a:r>
            <a:r>
              <a:rPr lang="ko-KR" altLang="en-US" sz="800" kern="0" dirty="0" smtClean="0">
                <a:solidFill>
                  <a:srgbClr val="FF0000"/>
                </a:solidFill>
                <a:latin typeface="+mn-ea"/>
              </a:rPr>
              <a:t> 볼 수 있습니다</a:t>
            </a:r>
            <a:r>
              <a:rPr lang="en-US" altLang="ko-KR" sz="800" kern="0" dirty="0" smtClean="0">
                <a:solidFill>
                  <a:srgbClr val="FF0000"/>
                </a:solidFill>
                <a:latin typeface="+mn-ea"/>
              </a:rPr>
              <a:t>. (</a:t>
            </a:r>
            <a:r>
              <a:rPr lang="ko-KR" altLang="en-US" sz="800" kern="0" dirty="0" smtClean="0">
                <a:solidFill>
                  <a:srgbClr val="FF0000"/>
                </a:solidFill>
                <a:latin typeface="+mn-ea"/>
              </a:rPr>
              <a:t>암호화 항목에 따라 </a:t>
            </a:r>
            <a:r>
              <a:rPr lang="ko-KR" altLang="en-US" sz="800" kern="0" dirty="0" err="1" smtClean="0">
                <a:solidFill>
                  <a:srgbClr val="FF0000"/>
                </a:solidFill>
                <a:latin typeface="+mn-ea"/>
              </a:rPr>
              <a:t>특정정보는</a:t>
            </a:r>
            <a:r>
              <a:rPr lang="ko-KR" altLang="en-US" sz="800" kern="0" dirty="0" smtClean="0">
                <a:solidFill>
                  <a:srgbClr val="FF0000"/>
                </a:solidFill>
                <a:latin typeface="+mn-ea"/>
              </a:rPr>
              <a:t> </a:t>
            </a:r>
            <a:r>
              <a:rPr lang="ko-KR" altLang="en-US" sz="800" kern="0" dirty="0" err="1" smtClean="0">
                <a:solidFill>
                  <a:srgbClr val="FF0000"/>
                </a:solidFill>
                <a:latin typeface="+mn-ea"/>
              </a:rPr>
              <a:t>마스킹</a:t>
            </a:r>
            <a:r>
              <a:rPr lang="ko-KR" altLang="en-US" sz="800" kern="0" dirty="0" smtClean="0">
                <a:solidFill>
                  <a:srgbClr val="FF0000"/>
                </a:solidFill>
                <a:latin typeface="+mn-ea"/>
              </a:rPr>
              <a:t> 됩니다</a:t>
            </a:r>
            <a:r>
              <a:rPr lang="en-US" altLang="ko-KR" sz="800" kern="0" dirty="0" smtClean="0">
                <a:solidFill>
                  <a:srgbClr val="FF0000"/>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smtClean="0">
                <a:solidFill>
                  <a:srgbClr val="0000FF"/>
                </a:solidFill>
                <a:latin typeface="+mn-ea"/>
              </a:rPr>
              <a:t>입찰결과상세와 </a:t>
            </a:r>
            <a:r>
              <a:rPr lang="ko-KR" altLang="en-US" sz="800" kern="0" dirty="0">
                <a:solidFill>
                  <a:srgbClr val="0000FF"/>
                </a:solidFill>
                <a:latin typeface="+mn-ea"/>
              </a:rPr>
              <a:t>이행</a:t>
            </a:r>
            <a:r>
              <a:rPr lang="en-US" altLang="ko-KR" sz="800" kern="0" dirty="0">
                <a:solidFill>
                  <a:srgbClr val="0000FF"/>
                </a:solidFill>
                <a:latin typeface="+mn-ea"/>
              </a:rPr>
              <a:t>/</a:t>
            </a:r>
            <a:r>
              <a:rPr lang="ko-KR" altLang="en-US" sz="800" kern="0" dirty="0">
                <a:solidFill>
                  <a:srgbClr val="0000FF"/>
                </a:solidFill>
                <a:latin typeface="+mn-ea"/>
              </a:rPr>
              <a:t>적격심사상세에서는 로그인한 사용자가 신청한 조건에 맞는 결과가 표시됩니다</a:t>
            </a:r>
            <a:r>
              <a:rPr lang="en-US" altLang="ko-KR" sz="800" kern="0" dirty="0">
                <a:solidFill>
                  <a:srgbClr val="0000FF"/>
                </a:solidFill>
                <a:latin typeface="+mn-ea"/>
              </a:rPr>
              <a:t>. (</a:t>
            </a:r>
            <a:r>
              <a:rPr lang="ko-KR" altLang="en-US" sz="800" kern="0" dirty="0">
                <a:solidFill>
                  <a:srgbClr val="0000FF"/>
                </a:solidFill>
                <a:latin typeface="+mn-ea"/>
              </a:rPr>
              <a:t>물품</a:t>
            </a:r>
            <a:r>
              <a:rPr lang="en-US" altLang="ko-KR" sz="800" kern="0" dirty="0">
                <a:solidFill>
                  <a:srgbClr val="0000FF"/>
                </a:solidFill>
                <a:latin typeface="+mn-ea"/>
              </a:rPr>
              <a:t>, </a:t>
            </a:r>
            <a:r>
              <a:rPr lang="ko-KR" altLang="en-US" sz="800" kern="0" dirty="0">
                <a:solidFill>
                  <a:srgbClr val="0000FF"/>
                </a:solidFill>
                <a:latin typeface="+mn-ea"/>
              </a:rPr>
              <a:t>제조</a:t>
            </a:r>
            <a:r>
              <a:rPr lang="en-US" altLang="ko-KR" sz="800" kern="0" dirty="0">
                <a:solidFill>
                  <a:srgbClr val="0000FF"/>
                </a:solidFill>
                <a:latin typeface="+mn-ea"/>
              </a:rPr>
              <a:t>, </a:t>
            </a:r>
            <a:r>
              <a:rPr lang="ko-KR" altLang="en-US" sz="800" kern="0" dirty="0">
                <a:solidFill>
                  <a:srgbClr val="0000FF"/>
                </a:solidFill>
                <a:latin typeface="+mn-ea"/>
              </a:rPr>
              <a:t>용역 등</a:t>
            </a:r>
            <a:r>
              <a:rPr lang="en-US" altLang="ko-KR" sz="800" kern="0" dirty="0">
                <a:solidFill>
                  <a:srgbClr val="0000FF"/>
                </a:solidFill>
                <a:latin typeface="+mn-ea"/>
              </a:rPr>
              <a:t>…)</a:t>
            </a:r>
            <a:endParaRPr lang="ko-KR" altLang="en-US" sz="800" kern="0" dirty="0">
              <a:solidFill>
                <a:srgbClr val="0000FF"/>
              </a:solidFill>
              <a:latin typeface="+mn-ea"/>
            </a:endParaRPr>
          </a:p>
        </p:txBody>
      </p:sp>
      <p:sp>
        <p:nvSpPr>
          <p:cNvPr id="69" name="사각형: 둥근 모서리 5">
            <a:extLst>
              <a:ext uri="{FF2B5EF4-FFF2-40B4-BE49-F238E27FC236}">
                <a16:creationId xmlns:a16="http://schemas.microsoft.com/office/drawing/2014/main" id="{410E5459-200D-7630-863C-88E5109259DF}"/>
              </a:ext>
            </a:extLst>
          </p:cNvPr>
          <p:cNvSpPr/>
          <p:nvPr/>
        </p:nvSpPr>
        <p:spPr>
          <a:xfrm>
            <a:off x="4197742"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입찰결과상세</a:t>
            </a:r>
          </a:p>
        </p:txBody>
      </p:sp>
      <p:cxnSp>
        <p:nvCxnSpPr>
          <p:cNvPr id="87" name="직선 화살표 연결선 86">
            <a:extLst>
              <a:ext uri="{FF2B5EF4-FFF2-40B4-BE49-F238E27FC236}">
                <a16:creationId xmlns:a16="http://schemas.microsoft.com/office/drawing/2014/main" id="{9A519F08-B829-E35F-09D8-DFCD1F68B911}"/>
              </a:ext>
            </a:extLst>
          </p:cNvPr>
          <p:cNvCxnSpPr>
            <a:cxnSpLocks/>
            <a:stCxn id="6" idx="3"/>
            <a:endCxn id="69" idx="1"/>
          </p:cNvCxnSpPr>
          <p:nvPr/>
        </p:nvCxnSpPr>
        <p:spPr>
          <a:xfrm>
            <a:off x="3266608" y="1772964"/>
            <a:ext cx="93113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3" name="직사각형 172">
            <a:extLst>
              <a:ext uri="{FF2B5EF4-FFF2-40B4-BE49-F238E27FC236}">
                <a16:creationId xmlns:a16="http://schemas.microsoft.com/office/drawing/2014/main" id="{23C86455-E84C-0CEA-5C6B-05BE50ADCEF5}"/>
              </a:ext>
            </a:extLst>
          </p:cNvPr>
          <p:cNvSpPr/>
          <p:nvPr/>
        </p:nvSpPr>
        <p:spPr>
          <a:xfrm>
            <a:off x="1019263" y="1514853"/>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로그인 사용자</a:t>
            </a:r>
          </a:p>
        </p:txBody>
      </p:sp>
      <p:sp>
        <p:nvSpPr>
          <p:cNvPr id="23" name="사각형: 둥근 모서리 5">
            <a:extLst>
              <a:ext uri="{FF2B5EF4-FFF2-40B4-BE49-F238E27FC236}">
                <a16:creationId xmlns:a16="http://schemas.microsoft.com/office/drawing/2014/main" id="{410E5459-200D-7630-863C-88E5109259DF}"/>
              </a:ext>
            </a:extLst>
          </p:cNvPr>
          <p:cNvSpPr/>
          <p:nvPr/>
        </p:nvSpPr>
        <p:spPr>
          <a:xfrm>
            <a:off x="6028876" y="298701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이행</a:t>
            </a:r>
            <a:r>
              <a:rPr lang="en-US" altLang="ko-KR" sz="800" dirty="0">
                <a:solidFill>
                  <a:schemeClr val="tx1"/>
                </a:solidFill>
              </a:rPr>
              <a:t>/</a:t>
            </a:r>
            <a:r>
              <a:rPr lang="ko-KR" altLang="en-US" sz="800" dirty="0">
                <a:solidFill>
                  <a:schemeClr val="tx1"/>
                </a:solidFill>
              </a:rPr>
              <a:t>적격심사포기신청</a:t>
            </a:r>
          </a:p>
        </p:txBody>
      </p:sp>
      <p:sp>
        <p:nvSpPr>
          <p:cNvPr id="24" name="사각형: 둥근 모서리 5">
            <a:extLst>
              <a:ext uri="{FF2B5EF4-FFF2-40B4-BE49-F238E27FC236}">
                <a16:creationId xmlns:a16="http://schemas.microsoft.com/office/drawing/2014/main" id="{410E5459-200D-7630-863C-88E5109259DF}"/>
              </a:ext>
            </a:extLst>
          </p:cNvPr>
          <p:cNvSpPr/>
          <p:nvPr/>
        </p:nvSpPr>
        <p:spPr>
          <a:xfrm>
            <a:off x="6028876" y="16260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이행</a:t>
            </a:r>
            <a:r>
              <a:rPr lang="en-US" altLang="ko-KR" sz="800" dirty="0">
                <a:solidFill>
                  <a:schemeClr val="tx1"/>
                </a:solidFill>
              </a:rPr>
              <a:t>/</a:t>
            </a:r>
            <a:r>
              <a:rPr lang="ko-KR" altLang="en-US" sz="800" dirty="0">
                <a:solidFill>
                  <a:schemeClr val="tx1"/>
                </a:solidFill>
              </a:rPr>
              <a:t>적격심사상세</a:t>
            </a:r>
          </a:p>
        </p:txBody>
      </p:sp>
      <p:sp>
        <p:nvSpPr>
          <p:cNvPr id="25" name="사각형: 둥근 모서리 5">
            <a:extLst>
              <a:ext uri="{FF2B5EF4-FFF2-40B4-BE49-F238E27FC236}">
                <a16:creationId xmlns:a16="http://schemas.microsoft.com/office/drawing/2014/main" id="{410E5459-200D-7630-863C-88E5109259DF}"/>
              </a:ext>
            </a:extLst>
          </p:cNvPr>
          <p:cNvSpPr/>
          <p:nvPr/>
        </p:nvSpPr>
        <p:spPr>
          <a:xfrm>
            <a:off x="6028876" y="23082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이행</a:t>
            </a:r>
            <a:r>
              <a:rPr lang="en-US" altLang="ko-KR" sz="800" dirty="0">
                <a:solidFill>
                  <a:schemeClr val="tx1"/>
                </a:solidFill>
              </a:rPr>
              <a:t>/</a:t>
            </a:r>
            <a:r>
              <a:rPr lang="ko-KR" altLang="en-US" sz="800" dirty="0">
                <a:solidFill>
                  <a:schemeClr val="tx1"/>
                </a:solidFill>
              </a:rPr>
              <a:t>적격심사결과상세</a:t>
            </a:r>
          </a:p>
        </p:txBody>
      </p:sp>
      <p:cxnSp>
        <p:nvCxnSpPr>
          <p:cNvPr id="26" name="직선 화살표 연결선 25">
            <a:extLst>
              <a:ext uri="{FF2B5EF4-FFF2-40B4-BE49-F238E27FC236}">
                <a16:creationId xmlns:a16="http://schemas.microsoft.com/office/drawing/2014/main" id="{9A519F08-B829-E35F-09D8-DFCD1F68B911}"/>
              </a:ext>
            </a:extLst>
          </p:cNvPr>
          <p:cNvCxnSpPr>
            <a:cxnSpLocks/>
            <a:stCxn id="69" idx="3"/>
            <a:endCxn id="24" idx="1"/>
          </p:cNvCxnSpPr>
          <p:nvPr/>
        </p:nvCxnSpPr>
        <p:spPr>
          <a:xfrm flipV="1">
            <a:off x="5097742" y="1770026"/>
            <a:ext cx="931134" cy="2938"/>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연결선: 꺾임 7">
            <a:extLst>
              <a:ext uri="{FF2B5EF4-FFF2-40B4-BE49-F238E27FC236}">
                <a16:creationId xmlns:a16="http://schemas.microsoft.com/office/drawing/2014/main" id="{89A2D828-4C18-4F90-6B31-722E89773AA8}"/>
              </a:ext>
            </a:extLst>
          </p:cNvPr>
          <p:cNvCxnSpPr>
            <a:cxnSpLocks/>
            <a:stCxn id="69" idx="3"/>
            <a:endCxn id="25" idx="1"/>
          </p:cNvCxnSpPr>
          <p:nvPr/>
        </p:nvCxnSpPr>
        <p:spPr>
          <a:xfrm>
            <a:off x="5097742" y="1772964"/>
            <a:ext cx="931134" cy="67926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연결선: 꺾임 7">
            <a:extLst>
              <a:ext uri="{FF2B5EF4-FFF2-40B4-BE49-F238E27FC236}">
                <a16:creationId xmlns:a16="http://schemas.microsoft.com/office/drawing/2014/main" id="{89A2D828-4C18-4F90-6B31-722E89773AA8}"/>
              </a:ext>
            </a:extLst>
          </p:cNvPr>
          <p:cNvCxnSpPr>
            <a:cxnSpLocks/>
            <a:stCxn id="69" idx="3"/>
            <a:endCxn id="23" idx="1"/>
          </p:cNvCxnSpPr>
          <p:nvPr/>
        </p:nvCxnSpPr>
        <p:spPr>
          <a:xfrm>
            <a:off x="5097742" y="1772964"/>
            <a:ext cx="931134" cy="135804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직사각형 51">
            <a:extLst>
              <a:ext uri="{FF2B5EF4-FFF2-40B4-BE49-F238E27FC236}">
                <a16:creationId xmlns:a16="http://schemas.microsoft.com/office/drawing/2014/main" id="{1318C69C-3BF9-3FF8-F913-DA1CC0300DED}"/>
              </a:ext>
            </a:extLst>
          </p:cNvPr>
          <p:cNvSpPr/>
          <p:nvPr/>
        </p:nvSpPr>
        <p:spPr>
          <a:xfrm>
            <a:off x="6028876" y="1514853"/>
            <a:ext cx="4540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ko-KR" altLang="en-US" sz="800" dirty="0">
                <a:solidFill>
                  <a:schemeClr val="tx1"/>
                </a:solidFill>
              </a:rPr>
              <a:t>심사신청</a:t>
            </a:r>
          </a:p>
        </p:txBody>
      </p:sp>
      <p:sp>
        <p:nvSpPr>
          <p:cNvPr id="54" name="직사각형 53">
            <a:extLst>
              <a:ext uri="{FF2B5EF4-FFF2-40B4-BE49-F238E27FC236}">
                <a16:creationId xmlns:a16="http://schemas.microsoft.com/office/drawing/2014/main" id="{258BB724-EC35-A0BF-4D6C-38BE241B5750}"/>
              </a:ext>
            </a:extLst>
          </p:cNvPr>
          <p:cNvSpPr/>
          <p:nvPr/>
        </p:nvSpPr>
        <p:spPr>
          <a:xfrm>
            <a:off x="6028876" y="2183646"/>
            <a:ext cx="4540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ko-KR" altLang="en-US" sz="800" dirty="0">
                <a:solidFill>
                  <a:schemeClr val="tx1"/>
                </a:solidFill>
              </a:rPr>
              <a:t>심사결과</a:t>
            </a:r>
          </a:p>
        </p:txBody>
      </p:sp>
      <p:sp>
        <p:nvSpPr>
          <p:cNvPr id="56" name="직사각형 55">
            <a:extLst>
              <a:ext uri="{FF2B5EF4-FFF2-40B4-BE49-F238E27FC236}">
                <a16:creationId xmlns:a16="http://schemas.microsoft.com/office/drawing/2014/main" id="{692BD357-31A7-FEC9-C94B-D5945BF4CD86}"/>
              </a:ext>
            </a:extLst>
          </p:cNvPr>
          <p:cNvSpPr/>
          <p:nvPr/>
        </p:nvSpPr>
        <p:spPr>
          <a:xfrm>
            <a:off x="6028875" y="2880457"/>
            <a:ext cx="4540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ko-KR" altLang="en-US" sz="800" dirty="0">
                <a:solidFill>
                  <a:schemeClr val="tx1"/>
                </a:solidFill>
              </a:rPr>
              <a:t>심사포기</a:t>
            </a:r>
          </a:p>
        </p:txBody>
      </p:sp>
      <p:sp>
        <p:nvSpPr>
          <p:cNvPr id="57" name="직사각형 56">
            <a:extLst>
              <a:ext uri="{FF2B5EF4-FFF2-40B4-BE49-F238E27FC236}">
                <a16:creationId xmlns:a16="http://schemas.microsoft.com/office/drawing/2014/main" id="{7FFBDDBA-B26E-A1E6-4903-3B865873F886}"/>
              </a:ext>
            </a:extLst>
          </p:cNvPr>
          <p:cNvSpPr/>
          <p:nvPr/>
        </p:nvSpPr>
        <p:spPr>
          <a:xfrm>
            <a:off x="7860010" y="1886343"/>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58" name="그룹 57">
            <a:extLst>
              <a:ext uri="{FF2B5EF4-FFF2-40B4-BE49-F238E27FC236}">
                <a16:creationId xmlns:a16="http://schemas.microsoft.com/office/drawing/2014/main" id="{3B14FB42-9EA6-D6BE-9D79-80F84E59F0B5}"/>
              </a:ext>
            </a:extLst>
          </p:cNvPr>
          <p:cNvGrpSpPr/>
          <p:nvPr/>
        </p:nvGrpSpPr>
        <p:grpSpPr>
          <a:xfrm>
            <a:off x="7889007" y="1680026"/>
            <a:ext cx="180000" cy="180000"/>
            <a:chOff x="5058274" y="2498299"/>
            <a:chExt cx="180000" cy="180000"/>
          </a:xfrm>
        </p:grpSpPr>
        <p:sp>
          <p:nvSpPr>
            <p:cNvPr id="59" name="타원 58">
              <a:extLst>
                <a:ext uri="{FF2B5EF4-FFF2-40B4-BE49-F238E27FC236}">
                  <a16:creationId xmlns:a16="http://schemas.microsoft.com/office/drawing/2014/main" id="{C2B12807-6CAB-89AA-5B30-B0CAC9DEC5B4}"/>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a:extLst>
                <a:ext uri="{FF2B5EF4-FFF2-40B4-BE49-F238E27FC236}">
                  <a16:creationId xmlns:a16="http://schemas.microsoft.com/office/drawing/2014/main" id="{A2BFCECD-769F-358A-F7D7-332DE7E1B466}"/>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62" name="직선 화살표 연결선 61">
            <a:extLst>
              <a:ext uri="{FF2B5EF4-FFF2-40B4-BE49-F238E27FC236}">
                <a16:creationId xmlns:a16="http://schemas.microsoft.com/office/drawing/2014/main" id="{9A519F08-B829-E35F-09D8-DFCD1F68B911}"/>
              </a:ext>
            </a:extLst>
          </p:cNvPr>
          <p:cNvCxnSpPr>
            <a:cxnSpLocks/>
            <a:stCxn id="24" idx="3"/>
            <a:endCxn id="59" idx="2"/>
          </p:cNvCxnSpPr>
          <p:nvPr/>
        </p:nvCxnSpPr>
        <p:spPr>
          <a:xfrm>
            <a:off x="6928876" y="1770026"/>
            <a:ext cx="96013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연결선: 꺾임 7">
            <a:extLst>
              <a:ext uri="{FF2B5EF4-FFF2-40B4-BE49-F238E27FC236}">
                <a16:creationId xmlns:a16="http://schemas.microsoft.com/office/drawing/2014/main" id="{89A2D828-4C18-4F90-6B31-722E89773AA8}"/>
              </a:ext>
            </a:extLst>
          </p:cNvPr>
          <p:cNvCxnSpPr>
            <a:cxnSpLocks/>
            <a:stCxn id="25" idx="3"/>
            <a:endCxn id="59" idx="2"/>
          </p:cNvCxnSpPr>
          <p:nvPr/>
        </p:nvCxnSpPr>
        <p:spPr>
          <a:xfrm flipV="1">
            <a:off x="6928876" y="1770026"/>
            <a:ext cx="960131" cy="68220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연결선: 꺾임 7">
            <a:extLst>
              <a:ext uri="{FF2B5EF4-FFF2-40B4-BE49-F238E27FC236}">
                <a16:creationId xmlns:a16="http://schemas.microsoft.com/office/drawing/2014/main" id="{89A2D828-4C18-4F90-6B31-722E89773AA8}"/>
              </a:ext>
            </a:extLst>
          </p:cNvPr>
          <p:cNvCxnSpPr>
            <a:cxnSpLocks/>
            <a:stCxn id="23" idx="3"/>
            <a:endCxn id="59" idx="2"/>
          </p:cNvCxnSpPr>
          <p:nvPr/>
        </p:nvCxnSpPr>
        <p:spPr>
          <a:xfrm flipV="1">
            <a:off x="6928876" y="1770026"/>
            <a:ext cx="960131" cy="136098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사각형: 둥근 모서리 5">
            <a:extLst>
              <a:ext uri="{FF2B5EF4-FFF2-40B4-BE49-F238E27FC236}">
                <a16:creationId xmlns:a16="http://schemas.microsoft.com/office/drawing/2014/main" id="{410E5459-200D-7630-863C-88E5109259DF}"/>
              </a:ext>
            </a:extLst>
          </p:cNvPr>
          <p:cNvSpPr/>
          <p:nvPr/>
        </p:nvSpPr>
        <p:spPr>
          <a:xfrm>
            <a:off x="6028876" y="497014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평가위원별기술평가점수상세조회</a:t>
            </a:r>
            <a:endParaRPr lang="ko-KR" altLang="en-US" sz="800" dirty="0">
              <a:solidFill>
                <a:schemeClr val="tx1"/>
              </a:solidFill>
            </a:endParaRPr>
          </a:p>
        </p:txBody>
      </p:sp>
      <p:sp>
        <p:nvSpPr>
          <p:cNvPr id="40" name="사각형: 둥근 모서리 5">
            <a:extLst>
              <a:ext uri="{FF2B5EF4-FFF2-40B4-BE49-F238E27FC236}">
                <a16:creationId xmlns:a16="http://schemas.microsoft.com/office/drawing/2014/main" id="{410E5459-200D-7630-863C-88E5109259DF}"/>
              </a:ext>
            </a:extLst>
          </p:cNvPr>
          <p:cNvSpPr/>
          <p:nvPr/>
        </p:nvSpPr>
        <p:spPr>
          <a:xfrm>
            <a:off x="6028876" y="36091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복수예비가격</a:t>
            </a:r>
          </a:p>
        </p:txBody>
      </p:sp>
      <p:sp>
        <p:nvSpPr>
          <p:cNvPr id="41" name="사각형: 둥근 모서리 5">
            <a:extLst>
              <a:ext uri="{FF2B5EF4-FFF2-40B4-BE49-F238E27FC236}">
                <a16:creationId xmlns:a16="http://schemas.microsoft.com/office/drawing/2014/main" id="{410E5459-200D-7630-863C-88E5109259DF}"/>
              </a:ext>
            </a:extLst>
          </p:cNvPr>
          <p:cNvSpPr/>
          <p:nvPr/>
        </p:nvSpPr>
        <p:spPr>
          <a:xfrm>
            <a:off x="6028876" y="429135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동가낙찰결과</a:t>
            </a:r>
          </a:p>
        </p:txBody>
      </p:sp>
      <p:cxnSp>
        <p:nvCxnSpPr>
          <p:cNvPr id="45" name="연결선: 꺾임 7">
            <a:extLst>
              <a:ext uri="{FF2B5EF4-FFF2-40B4-BE49-F238E27FC236}">
                <a16:creationId xmlns:a16="http://schemas.microsoft.com/office/drawing/2014/main" id="{89A2D828-4C18-4F90-6B31-722E89773AA8}"/>
              </a:ext>
            </a:extLst>
          </p:cNvPr>
          <p:cNvCxnSpPr>
            <a:cxnSpLocks/>
            <a:stCxn id="69" idx="2"/>
            <a:endCxn id="40" idx="1"/>
          </p:cNvCxnSpPr>
          <p:nvPr/>
        </p:nvCxnSpPr>
        <p:spPr>
          <a:xfrm rot="16200000" flipH="1">
            <a:off x="4420214" y="2144492"/>
            <a:ext cx="1836191" cy="138113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연결선: 꺾임 7">
            <a:extLst>
              <a:ext uri="{FF2B5EF4-FFF2-40B4-BE49-F238E27FC236}">
                <a16:creationId xmlns:a16="http://schemas.microsoft.com/office/drawing/2014/main" id="{89A2D828-4C18-4F90-6B31-722E89773AA8}"/>
              </a:ext>
            </a:extLst>
          </p:cNvPr>
          <p:cNvCxnSpPr>
            <a:cxnSpLocks/>
            <a:stCxn id="69" idx="2"/>
            <a:endCxn id="41" idx="1"/>
          </p:cNvCxnSpPr>
          <p:nvPr/>
        </p:nvCxnSpPr>
        <p:spPr>
          <a:xfrm rot="16200000" flipH="1">
            <a:off x="4079114" y="2485592"/>
            <a:ext cx="2518391" cy="138113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연결선: 꺾임 7">
            <a:extLst>
              <a:ext uri="{FF2B5EF4-FFF2-40B4-BE49-F238E27FC236}">
                <a16:creationId xmlns:a16="http://schemas.microsoft.com/office/drawing/2014/main" id="{89A2D828-4C18-4F90-6B31-722E89773AA8}"/>
              </a:ext>
            </a:extLst>
          </p:cNvPr>
          <p:cNvCxnSpPr>
            <a:cxnSpLocks/>
            <a:stCxn id="69" idx="2"/>
            <a:endCxn id="39" idx="1"/>
          </p:cNvCxnSpPr>
          <p:nvPr/>
        </p:nvCxnSpPr>
        <p:spPr>
          <a:xfrm rot="16200000" flipH="1">
            <a:off x="3739721" y="2824985"/>
            <a:ext cx="3197177" cy="138113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연결선: 꺾임 7">
            <a:extLst>
              <a:ext uri="{FF2B5EF4-FFF2-40B4-BE49-F238E27FC236}">
                <a16:creationId xmlns:a16="http://schemas.microsoft.com/office/drawing/2014/main" id="{89A2D828-4C18-4F90-6B31-722E89773AA8}"/>
              </a:ext>
            </a:extLst>
          </p:cNvPr>
          <p:cNvCxnSpPr>
            <a:cxnSpLocks/>
            <a:stCxn id="40" idx="3"/>
            <a:endCxn id="59" idx="2"/>
          </p:cNvCxnSpPr>
          <p:nvPr/>
        </p:nvCxnSpPr>
        <p:spPr>
          <a:xfrm flipV="1">
            <a:off x="6928876" y="1770026"/>
            <a:ext cx="960131" cy="1983129"/>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연결선: 꺾임 7">
            <a:extLst>
              <a:ext uri="{FF2B5EF4-FFF2-40B4-BE49-F238E27FC236}">
                <a16:creationId xmlns:a16="http://schemas.microsoft.com/office/drawing/2014/main" id="{89A2D828-4C18-4F90-6B31-722E89773AA8}"/>
              </a:ext>
            </a:extLst>
          </p:cNvPr>
          <p:cNvCxnSpPr>
            <a:cxnSpLocks/>
            <a:stCxn id="41" idx="3"/>
            <a:endCxn id="59" idx="2"/>
          </p:cNvCxnSpPr>
          <p:nvPr/>
        </p:nvCxnSpPr>
        <p:spPr>
          <a:xfrm flipV="1">
            <a:off x="6928876" y="1770026"/>
            <a:ext cx="960131" cy="2665329"/>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연결선: 꺾임 7">
            <a:extLst>
              <a:ext uri="{FF2B5EF4-FFF2-40B4-BE49-F238E27FC236}">
                <a16:creationId xmlns:a16="http://schemas.microsoft.com/office/drawing/2014/main" id="{89A2D828-4C18-4F90-6B31-722E89773AA8}"/>
              </a:ext>
            </a:extLst>
          </p:cNvPr>
          <p:cNvCxnSpPr>
            <a:cxnSpLocks/>
            <a:stCxn id="39" idx="3"/>
            <a:endCxn id="59" idx="2"/>
          </p:cNvCxnSpPr>
          <p:nvPr/>
        </p:nvCxnSpPr>
        <p:spPr>
          <a:xfrm flipV="1">
            <a:off x="6928876" y="1770026"/>
            <a:ext cx="960131" cy="334411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93558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218</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6.2. </a:t>
            </a:r>
            <a:r>
              <a:rPr lang="ko-KR" altLang="en-US" dirty="0"/>
              <a:t>화면 흐름도 </a:t>
            </a:r>
            <a:r>
              <a:rPr lang="en-US" altLang="ko-KR" dirty="0"/>
              <a:t>– </a:t>
            </a:r>
            <a:r>
              <a:rPr lang="ko-KR" altLang="en-US" dirty="0"/>
              <a:t>입찰 공고 진입 및 신청</a:t>
            </a:r>
          </a:p>
        </p:txBody>
      </p:sp>
      <p:sp>
        <p:nvSpPr>
          <p:cNvPr id="110" name="직사각형 109">
            <a:extLst>
              <a:ext uri="{FF2B5EF4-FFF2-40B4-BE49-F238E27FC236}">
                <a16:creationId xmlns:a16="http://schemas.microsoft.com/office/drawing/2014/main" id="{8617D047-5413-1F47-3FD7-CCCD3C0C98ED}"/>
              </a:ext>
            </a:extLst>
          </p:cNvPr>
          <p:cNvSpPr/>
          <p:nvPr/>
        </p:nvSpPr>
        <p:spPr>
          <a:xfrm>
            <a:off x="567521" y="1096397"/>
            <a:ext cx="692021" cy="16408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grpSp>
        <p:nvGrpSpPr>
          <p:cNvPr id="78" name="그룹 77"/>
          <p:cNvGrpSpPr/>
          <p:nvPr/>
        </p:nvGrpSpPr>
        <p:grpSpPr>
          <a:xfrm>
            <a:off x="913531" y="1782103"/>
            <a:ext cx="7472922" cy="2113595"/>
            <a:chOff x="493265" y="2208823"/>
            <a:chExt cx="7472922" cy="2113595"/>
          </a:xfrm>
        </p:grpSpPr>
        <p:grpSp>
          <p:nvGrpSpPr>
            <p:cNvPr id="113" name="그룹 112">
              <a:extLst>
                <a:ext uri="{FF2B5EF4-FFF2-40B4-BE49-F238E27FC236}">
                  <a16:creationId xmlns:a16="http://schemas.microsoft.com/office/drawing/2014/main" id="{4256C95A-5B12-C9E0-F2B5-BC9D5BAB5422}"/>
                </a:ext>
              </a:extLst>
            </p:cNvPr>
            <p:cNvGrpSpPr/>
            <p:nvPr/>
          </p:nvGrpSpPr>
          <p:grpSpPr>
            <a:xfrm>
              <a:off x="493265" y="2208823"/>
              <a:ext cx="280718" cy="337979"/>
              <a:chOff x="4762389" y="1663914"/>
              <a:chExt cx="237994" cy="316983"/>
            </a:xfrm>
          </p:grpSpPr>
          <p:sp>
            <p:nvSpPr>
              <p:cNvPr id="114" name="타원 113">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직사각형 114">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120" name="연결선: 꺾임 7">
              <a:extLst>
                <a:ext uri="{FF2B5EF4-FFF2-40B4-BE49-F238E27FC236}">
                  <a16:creationId xmlns:a16="http://schemas.microsoft.com/office/drawing/2014/main" id="{89A2D828-4C18-4F90-6B31-722E89773AA8}"/>
                </a:ext>
              </a:extLst>
            </p:cNvPr>
            <p:cNvCxnSpPr>
              <a:cxnSpLocks/>
              <a:stCxn id="114" idx="6"/>
              <a:endCxn id="126" idx="1"/>
            </p:cNvCxnSpPr>
            <p:nvPr/>
          </p:nvCxnSpPr>
          <p:spPr>
            <a:xfrm>
              <a:off x="737260" y="2304785"/>
              <a:ext cx="176273" cy="697442"/>
            </a:xfrm>
            <a:prstGeom prst="bentConnector3">
              <a:avLst>
                <a:gd name="adj1" fmla="val 2908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6" name="다이아몬드 125"/>
            <p:cNvSpPr/>
            <p:nvPr/>
          </p:nvSpPr>
          <p:spPr>
            <a:xfrm>
              <a:off x="913533" y="2616867"/>
              <a:ext cx="838550" cy="758018"/>
            </a:xfrm>
            <a:prstGeom prst="diamond">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6" name="사각형: 둥근 모서리 5">
              <a:extLst>
                <a:ext uri="{FF2B5EF4-FFF2-40B4-BE49-F238E27FC236}">
                  <a16:creationId xmlns:a16="http://schemas.microsoft.com/office/drawing/2014/main" id="{410E5459-200D-7630-863C-88E5109259DF}"/>
                </a:ext>
              </a:extLst>
            </p:cNvPr>
            <p:cNvSpPr/>
            <p:nvPr/>
          </p:nvSpPr>
          <p:spPr>
            <a:xfrm>
              <a:off x="929218" y="2879033"/>
              <a:ext cx="817199" cy="23638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err="1" smtClean="0">
                  <a:solidFill>
                    <a:schemeClr val="tx1"/>
                  </a:solidFill>
                </a:rPr>
                <a:t>개찰목록</a:t>
              </a:r>
              <a:endParaRPr lang="en-US" altLang="ko-KR" sz="600" dirty="0" smtClean="0">
                <a:solidFill>
                  <a:schemeClr val="tx1"/>
                </a:solidFill>
              </a:endParaRPr>
            </a:p>
            <a:p>
              <a:pPr algn="ctr"/>
              <a:r>
                <a:rPr lang="en-US" altLang="ko-KR" sz="500" dirty="0" smtClean="0">
                  <a:solidFill>
                    <a:srgbClr val="000000"/>
                  </a:solidFill>
                  <a:latin typeface="맑은 고딕" panose="020B0503020000020004" pitchFamily="50" charset="-127"/>
                </a:rPr>
                <a:t>MUI-BD-08-M01</a:t>
              </a:r>
              <a:endParaRPr lang="ko-KR" altLang="en-US" sz="800" dirty="0"/>
            </a:p>
          </p:txBody>
        </p:sp>
        <p:cxnSp>
          <p:nvCxnSpPr>
            <p:cNvPr id="170" name="직선 화살표 연결선 169"/>
            <p:cNvCxnSpPr>
              <a:stCxn id="126" idx="3"/>
              <a:endCxn id="82" idx="1"/>
            </p:cNvCxnSpPr>
            <p:nvPr/>
          </p:nvCxnSpPr>
          <p:spPr>
            <a:xfrm flipV="1">
              <a:off x="1752083" y="2987486"/>
              <a:ext cx="2365631" cy="83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1" name="사각형: 둥근 모서리 5">
              <a:extLst>
                <a:ext uri="{FF2B5EF4-FFF2-40B4-BE49-F238E27FC236}">
                  <a16:creationId xmlns:a16="http://schemas.microsoft.com/office/drawing/2014/main" id="{410E5459-200D-7630-863C-88E5109259DF}"/>
                </a:ext>
              </a:extLst>
            </p:cNvPr>
            <p:cNvSpPr/>
            <p:nvPr/>
          </p:nvSpPr>
          <p:spPr>
            <a:xfrm>
              <a:off x="2466856" y="2842338"/>
              <a:ext cx="106156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600" dirty="0" smtClean="0">
                  <a:solidFill>
                    <a:schemeClr val="tx1"/>
                  </a:solidFill>
                </a:rPr>
                <a:t>입찰결과상세</a:t>
              </a:r>
              <a:endParaRPr lang="ko-KR" altLang="en-US" sz="600" dirty="0">
                <a:solidFill>
                  <a:schemeClr val="tx1"/>
                </a:solidFill>
              </a:endParaRPr>
            </a:p>
          </p:txBody>
        </p:sp>
        <p:sp>
          <p:nvSpPr>
            <p:cNvPr id="45" name="사각형: 둥근 모서리 5">
              <a:extLst>
                <a:ext uri="{FF2B5EF4-FFF2-40B4-BE49-F238E27FC236}">
                  <a16:creationId xmlns:a16="http://schemas.microsoft.com/office/drawing/2014/main" id="{410E5459-200D-7630-863C-88E5109259DF}"/>
                </a:ext>
              </a:extLst>
            </p:cNvPr>
            <p:cNvSpPr/>
            <p:nvPr/>
          </p:nvSpPr>
          <p:spPr>
            <a:xfrm>
              <a:off x="5496204" y="2702642"/>
              <a:ext cx="781632" cy="169085"/>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bg1"/>
                  </a:solidFill>
                </a:rPr>
                <a:t>이행적격심사신청</a:t>
              </a:r>
              <a:endParaRPr lang="ko-KR" altLang="en-US" sz="500" dirty="0">
                <a:solidFill>
                  <a:schemeClr val="bg1"/>
                </a:solidFill>
              </a:endParaRPr>
            </a:p>
          </p:txBody>
        </p:sp>
        <p:sp>
          <p:nvSpPr>
            <p:cNvPr id="59" name="사각형: 둥근 모서리 5">
              <a:extLst>
                <a:ext uri="{FF2B5EF4-FFF2-40B4-BE49-F238E27FC236}">
                  <a16:creationId xmlns:a16="http://schemas.microsoft.com/office/drawing/2014/main" id="{410E5459-200D-7630-863C-88E5109259DF}"/>
                </a:ext>
              </a:extLst>
            </p:cNvPr>
            <p:cNvSpPr/>
            <p:nvPr/>
          </p:nvSpPr>
          <p:spPr>
            <a:xfrm>
              <a:off x="5496204" y="3092878"/>
              <a:ext cx="781632" cy="189819"/>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err="1" smtClean="0">
                  <a:solidFill>
                    <a:schemeClr val="bg1"/>
                  </a:solidFill>
                </a:rPr>
                <a:t>이행적격심사포기신청</a:t>
              </a:r>
              <a:endParaRPr lang="ko-KR" altLang="en-US" sz="500" dirty="0">
                <a:solidFill>
                  <a:schemeClr val="bg1"/>
                </a:solidFill>
              </a:endParaRPr>
            </a:p>
          </p:txBody>
        </p:sp>
        <p:cxnSp>
          <p:nvCxnSpPr>
            <p:cNvPr id="68" name="꺾인 연결선 67"/>
            <p:cNvCxnSpPr>
              <a:stCxn id="45" idx="1"/>
              <a:endCxn id="59" idx="1"/>
            </p:cNvCxnSpPr>
            <p:nvPr/>
          </p:nvCxnSpPr>
          <p:spPr>
            <a:xfrm rot="10800000" flipV="1">
              <a:off x="5496204" y="2787184"/>
              <a:ext cx="12700" cy="400603"/>
            </a:xfrm>
            <a:prstGeom prst="bentConnector3">
              <a:avLst>
                <a:gd name="adj1" fmla="val 1556961"/>
              </a:avLst>
            </a:prstGeom>
            <a:ln>
              <a:solidFill>
                <a:schemeClr val="accent1"/>
              </a:solidFill>
            </a:ln>
          </p:spPr>
          <p:style>
            <a:lnRef idx="1">
              <a:schemeClr val="dk1"/>
            </a:lnRef>
            <a:fillRef idx="0">
              <a:schemeClr val="dk1"/>
            </a:fillRef>
            <a:effectRef idx="0">
              <a:schemeClr val="dk1"/>
            </a:effectRef>
            <a:fontRef idx="minor">
              <a:schemeClr val="tx1"/>
            </a:fontRef>
          </p:style>
        </p:cxnSp>
        <p:sp>
          <p:nvSpPr>
            <p:cNvPr id="82" name="다이아몬드 81"/>
            <p:cNvSpPr/>
            <p:nvPr/>
          </p:nvSpPr>
          <p:spPr>
            <a:xfrm>
              <a:off x="4117714" y="2608477"/>
              <a:ext cx="838550" cy="758018"/>
            </a:xfrm>
            <a:prstGeom prst="diamond">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050" dirty="0"/>
            </a:p>
          </p:txBody>
        </p:sp>
        <p:sp>
          <p:nvSpPr>
            <p:cNvPr id="18" name="직사각형 17"/>
            <p:cNvSpPr/>
            <p:nvPr/>
          </p:nvSpPr>
          <p:spPr>
            <a:xfrm>
              <a:off x="4213824" y="2885675"/>
              <a:ext cx="646331" cy="276999"/>
            </a:xfrm>
            <a:prstGeom prst="rect">
              <a:avLst/>
            </a:prstGeom>
          </p:spPr>
          <p:txBody>
            <a:bodyPr wrap="none">
              <a:spAutoFit/>
            </a:bodyPr>
            <a:lstStyle/>
            <a:p>
              <a:pPr algn="ctr"/>
              <a:r>
                <a:rPr lang="ko-KR" altLang="en-US" sz="600" dirty="0" smtClean="0"/>
                <a:t>이행적격심사</a:t>
              </a:r>
              <a:endParaRPr lang="en-US" altLang="ko-KR" sz="600" dirty="0" smtClean="0"/>
            </a:p>
            <a:p>
              <a:pPr algn="ctr"/>
              <a:r>
                <a:rPr lang="ko-KR" altLang="en-US" sz="600" dirty="0" smtClean="0"/>
                <a:t>공고여부확인</a:t>
              </a:r>
              <a:endParaRPr lang="ko-KR" altLang="en-US" sz="600" dirty="0"/>
            </a:p>
          </p:txBody>
        </p:sp>
        <p:cxnSp>
          <p:nvCxnSpPr>
            <p:cNvPr id="86" name="직선 화살표 연결선 85"/>
            <p:cNvCxnSpPr>
              <a:stCxn id="82" idx="3"/>
            </p:cNvCxnSpPr>
            <p:nvPr/>
          </p:nvCxnSpPr>
          <p:spPr>
            <a:xfrm flipV="1">
              <a:off x="4956264" y="2978008"/>
              <a:ext cx="333674" cy="9478"/>
            </a:xfrm>
            <a:prstGeom prst="straightConnector1">
              <a:avLst/>
            </a:prstGeom>
            <a:ln>
              <a:solidFill>
                <a:schemeClr val="accent1"/>
              </a:solidFill>
              <a:tailEnd type="triangle"/>
            </a:ln>
          </p:spPr>
          <p:style>
            <a:lnRef idx="1">
              <a:schemeClr val="dk1"/>
            </a:lnRef>
            <a:fillRef idx="0">
              <a:schemeClr val="dk1"/>
            </a:fillRef>
            <a:effectRef idx="0">
              <a:schemeClr val="dk1"/>
            </a:effectRef>
            <a:fontRef idx="minor">
              <a:schemeClr val="tx1"/>
            </a:fontRef>
          </p:style>
        </p:cxnSp>
        <p:sp>
          <p:nvSpPr>
            <p:cNvPr id="107" name="사각형: 둥근 모서리 5">
              <a:extLst>
                <a:ext uri="{FF2B5EF4-FFF2-40B4-BE49-F238E27FC236}">
                  <a16:creationId xmlns:a16="http://schemas.microsoft.com/office/drawing/2014/main" id="{410E5459-200D-7630-863C-88E5109259DF}"/>
                </a:ext>
              </a:extLst>
            </p:cNvPr>
            <p:cNvSpPr/>
            <p:nvPr/>
          </p:nvSpPr>
          <p:spPr>
            <a:xfrm>
              <a:off x="7033432" y="2822165"/>
              <a:ext cx="932755" cy="30707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500" dirty="0" smtClean="0">
                  <a:solidFill>
                    <a:schemeClr val="tx1"/>
                  </a:solidFill>
                </a:rPr>
                <a:t>이행적격심사결과상세</a:t>
              </a:r>
              <a:endParaRPr lang="en-US" altLang="ko-KR" sz="500" dirty="0" smtClean="0">
                <a:solidFill>
                  <a:schemeClr val="tx1"/>
                </a:solidFill>
              </a:endParaRPr>
            </a:p>
          </p:txBody>
        </p:sp>
        <p:sp>
          <p:nvSpPr>
            <p:cNvPr id="73" name="직사각형 72"/>
            <p:cNvSpPr/>
            <p:nvPr/>
          </p:nvSpPr>
          <p:spPr>
            <a:xfrm>
              <a:off x="4983858" y="2771311"/>
              <a:ext cx="242375" cy="215444"/>
            </a:xfrm>
            <a:prstGeom prst="rect">
              <a:avLst/>
            </a:prstGeom>
          </p:spPr>
          <p:txBody>
            <a:bodyPr wrap="none">
              <a:spAutoFit/>
            </a:bodyPr>
            <a:lstStyle/>
            <a:p>
              <a:pPr algn="ctr"/>
              <a:r>
                <a:rPr lang="en-US" altLang="ko-KR" sz="800" dirty="0" smtClean="0"/>
                <a:t>Y</a:t>
              </a:r>
              <a:endParaRPr lang="ko-KR" altLang="en-US" sz="800" dirty="0"/>
            </a:p>
          </p:txBody>
        </p:sp>
        <p:grpSp>
          <p:nvGrpSpPr>
            <p:cNvPr id="122" name="그룹 121">
              <a:extLst>
                <a:ext uri="{FF2B5EF4-FFF2-40B4-BE49-F238E27FC236}">
                  <a16:creationId xmlns:a16="http://schemas.microsoft.com/office/drawing/2014/main" id="{4256C95A-5B12-C9E0-F2B5-BC9D5BAB5422}"/>
                </a:ext>
              </a:extLst>
            </p:cNvPr>
            <p:cNvGrpSpPr/>
            <p:nvPr/>
          </p:nvGrpSpPr>
          <p:grpSpPr>
            <a:xfrm>
              <a:off x="4396630" y="3988517"/>
              <a:ext cx="280718" cy="333901"/>
              <a:chOff x="4762389" y="1663914"/>
              <a:chExt cx="237994" cy="313158"/>
            </a:xfrm>
          </p:grpSpPr>
          <p:sp>
            <p:nvSpPr>
              <p:cNvPr id="123" name="타원 122">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직사각형 124">
                <a:extLst>
                  <a:ext uri="{FF2B5EF4-FFF2-40B4-BE49-F238E27FC236}">
                    <a16:creationId xmlns:a16="http://schemas.microsoft.com/office/drawing/2014/main" id="{89742BB0-8FB4-9410-125F-B3304E0DFFA4}"/>
                  </a:ext>
                </a:extLst>
              </p:cNvPr>
              <p:cNvSpPr/>
              <p:nvPr/>
            </p:nvSpPr>
            <p:spPr>
              <a:xfrm>
                <a:off x="4762389" y="1861609"/>
                <a:ext cx="237994" cy="1154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smtClean="0">
                    <a:solidFill>
                      <a:schemeClr val="tx1"/>
                    </a:solidFill>
                  </a:rPr>
                  <a:t>끝</a:t>
                </a:r>
                <a:endParaRPr lang="ko-KR" altLang="en-US" sz="800" dirty="0">
                  <a:solidFill>
                    <a:schemeClr val="tx1"/>
                  </a:solidFill>
                </a:endParaRPr>
              </a:p>
            </p:txBody>
          </p:sp>
        </p:grpSp>
        <p:cxnSp>
          <p:nvCxnSpPr>
            <p:cNvPr id="127" name="직선 화살표 연결선 126"/>
            <p:cNvCxnSpPr>
              <a:stCxn id="82" idx="2"/>
              <a:endCxn id="123" idx="0"/>
            </p:cNvCxnSpPr>
            <p:nvPr/>
          </p:nvCxnSpPr>
          <p:spPr>
            <a:xfrm flipH="1">
              <a:off x="4534469" y="3366495"/>
              <a:ext cx="2520" cy="62202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79" name="직사각형 78"/>
          <p:cNvSpPr/>
          <p:nvPr/>
        </p:nvSpPr>
        <p:spPr>
          <a:xfrm>
            <a:off x="4681903" y="3094571"/>
            <a:ext cx="253595" cy="200055"/>
          </a:xfrm>
          <a:prstGeom prst="rect">
            <a:avLst/>
          </a:prstGeom>
        </p:spPr>
        <p:txBody>
          <a:bodyPr wrap="none">
            <a:spAutoFit/>
          </a:bodyPr>
          <a:lstStyle/>
          <a:p>
            <a:pPr algn="ctr"/>
            <a:r>
              <a:rPr lang="en-US" altLang="ko-KR" sz="700" dirty="0" smtClean="0"/>
              <a:t>N</a:t>
            </a:r>
            <a:endParaRPr lang="ko-KR" altLang="en-US" sz="700" dirty="0"/>
          </a:p>
        </p:txBody>
      </p:sp>
      <p:sp>
        <p:nvSpPr>
          <p:cNvPr id="81" name="직사각형 80"/>
          <p:cNvSpPr/>
          <p:nvPr/>
        </p:nvSpPr>
        <p:spPr>
          <a:xfrm>
            <a:off x="6026942" y="2368063"/>
            <a:ext cx="572593" cy="153888"/>
          </a:xfrm>
          <a:prstGeom prst="rect">
            <a:avLst/>
          </a:prstGeom>
        </p:spPr>
        <p:txBody>
          <a:bodyPr wrap="none">
            <a:spAutoFit/>
          </a:bodyPr>
          <a:lstStyle/>
          <a:p>
            <a:r>
              <a:rPr lang="en-US" altLang="ko-KR" sz="400" dirty="0">
                <a:latin typeface="+mn-ea"/>
              </a:rPr>
              <a:t>MUI-BD-10-M01</a:t>
            </a:r>
            <a:endParaRPr lang="ko-KR" altLang="en-US" sz="1100" dirty="0"/>
          </a:p>
        </p:txBody>
      </p:sp>
      <p:sp>
        <p:nvSpPr>
          <p:cNvPr id="83" name="직사각형 82"/>
          <p:cNvSpPr/>
          <p:nvPr/>
        </p:nvSpPr>
        <p:spPr>
          <a:xfrm>
            <a:off x="6026942" y="2779033"/>
            <a:ext cx="572593" cy="153888"/>
          </a:xfrm>
          <a:prstGeom prst="rect">
            <a:avLst/>
          </a:prstGeom>
        </p:spPr>
        <p:txBody>
          <a:bodyPr wrap="none">
            <a:spAutoFit/>
          </a:bodyPr>
          <a:lstStyle/>
          <a:p>
            <a:r>
              <a:rPr lang="en-US" altLang="ko-KR" sz="400" dirty="0">
                <a:solidFill>
                  <a:srgbClr val="000000"/>
                </a:solidFill>
                <a:latin typeface="맑은 고딕" panose="020B0503020000020004" pitchFamily="50" charset="-127"/>
              </a:rPr>
              <a:t>MUI-BD-10-P02</a:t>
            </a:r>
            <a:r>
              <a:rPr lang="en-US" altLang="ko-KR" sz="400" dirty="0"/>
              <a:t> </a:t>
            </a:r>
            <a:endParaRPr lang="ko-KR" altLang="en-US" sz="400" dirty="0"/>
          </a:p>
        </p:txBody>
      </p:sp>
      <p:sp>
        <p:nvSpPr>
          <p:cNvPr id="84" name="직사각형 83"/>
          <p:cNvSpPr/>
          <p:nvPr/>
        </p:nvSpPr>
        <p:spPr>
          <a:xfrm>
            <a:off x="7624962" y="2575507"/>
            <a:ext cx="590226" cy="153888"/>
          </a:xfrm>
          <a:prstGeom prst="rect">
            <a:avLst/>
          </a:prstGeom>
        </p:spPr>
        <p:txBody>
          <a:bodyPr wrap="none">
            <a:spAutoFit/>
          </a:bodyPr>
          <a:lstStyle/>
          <a:p>
            <a:r>
              <a:rPr lang="en-US" altLang="ko-KR" sz="400" dirty="0">
                <a:solidFill>
                  <a:srgbClr val="000000"/>
                </a:solidFill>
                <a:latin typeface="맑은 고딕" panose="020B0503020000020004" pitchFamily="50" charset="-127"/>
              </a:rPr>
              <a:t>MUI-BD-11-M01</a:t>
            </a:r>
            <a:r>
              <a:rPr lang="en-US" altLang="ko-KR" sz="400" dirty="0"/>
              <a:t> </a:t>
            </a:r>
            <a:endParaRPr lang="ko-KR" altLang="en-US" sz="400" dirty="0"/>
          </a:p>
        </p:txBody>
      </p:sp>
      <p:sp>
        <p:nvSpPr>
          <p:cNvPr id="85" name="직사각형 84"/>
          <p:cNvSpPr/>
          <p:nvPr/>
        </p:nvSpPr>
        <p:spPr>
          <a:xfrm>
            <a:off x="3057373" y="2562368"/>
            <a:ext cx="790601" cy="184666"/>
          </a:xfrm>
          <a:prstGeom prst="rect">
            <a:avLst/>
          </a:prstGeom>
        </p:spPr>
        <p:txBody>
          <a:bodyPr wrap="none">
            <a:spAutoFit/>
          </a:bodyPr>
          <a:lstStyle/>
          <a:p>
            <a:r>
              <a:rPr lang="en-US" altLang="ko-KR" sz="600" dirty="0">
                <a:solidFill>
                  <a:srgbClr val="000000"/>
                </a:solidFill>
                <a:latin typeface="맑은 고딕" panose="020B0503020000020004" pitchFamily="50" charset="-127"/>
              </a:rPr>
              <a:t>MUI-BD-09-M01</a:t>
            </a:r>
            <a:r>
              <a:rPr lang="en-US" altLang="ko-KR" sz="600" dirty="0"/>
              <a:t> </a:t>
            </a:r>
            <a:endParaRPr lang="ko-KR" altLang="en-US" sz="600" dirty="0"/>
          </a:p>
        </p:txBody>
      </p:sp>
      <p:cxnSp>
        <p:nvCxnSpPr>
          <p:cNvPr id="5" name="꺾인 연결선 4"/>
          <p:cNvCxnSpPr>
            <a:stCxn id="45" idx="3"/>
            <a:endCxn id="107" idx="1"/>
          </p:cNvCxnSpPr>
          <p:nvPr/>
        </p:nvCxnSpPr>
        <p:spPr>
          <a:xfrm>
            <a:off x="6698102" y="2360465"/>
            <a:ext cx="755596" cy="188519"/>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직사각형 5"/>
          <p:cNvSpPr/>
          <p:nvPr/>
        </p:nvSpPr>
        <p:spPr>
          <a:xfrm>
            <a:off x="7152868" y="2676953"/>
            <a:ext cx="1922321" cy="369332"/>
          </a:xfrm>
          <a:prstGeom prst="rect">
            <a:avLst/>
          </a:prstGeom>
        </p:spPr>
        <p:txBody>
          <a:bodyPr wrap="none">
            <a:spAutoFit/>
          </a:bodyPr>
          <a:lstStyle/>
          <a:p>
            <a:r>
              <a:rPr lang="en-US" altLang="ko-KR" dirty="0">
                <a:latin typeface="+mn-ea"/>
              </a:rPr>
              <a:t>MUI-BD-10-M04</a:t>
            </a:r>
            <a:endParaRPr lang="ko-KR" altLang="en-US" dirty="0"/>
          </a:p>
        </p:txBody>
      </p:sp>
    </p:spTree>
    <p:extLst>
      <p:ext uri="{BB962C8B-B14F-4D97-AF65-F5344CB8AC3E}">
        <p14:creationId xmlns:p14="http://schemas.microsoft.com/office/powerpoint/2010/main" val="4078893783"/>
      </p:ext>
    </p:extLst>
  </p:cSld>
  <p:clrMapOvr>
    <a:masterClrMapping/>
  </p:clrMapOvr>
  <p:timing>
    <p:tnLst>
      <p:par>
        <p:cTn id="1" dur="indefinite" restart="never" nodeType="tmRoot"/>
      </p:par>
    </p:tn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219</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(1/5)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2671789"/>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err="1">
                <a:solidFill>
                  <a:schemeClr val="tx1"/>
                </a:solidFill>
              </a:rPr>
              <a:t>개찰목록</a:t>
            </a:r>
            <a:endParaRPr lang="en-US" altLang="ko-KR" sz="1100" dirty="0">
              <a:solidFill>
                <a:schemeClr val="tx1"/>
              </a:solidFill>
            </a:endParaRPr>
          </a:p>
          <a:p>
            <a:pPr algn="ctr"/>
            <a:r>
              <a:rPr lang="en-US" altLang="ko-KR" sz="1100" dirty="0">
                <a:solidFill>
                  <a:schemeClr val="tx1"/>
                </a:solidFill>
                <a:latin typeface="Calibri" panose="020F0502020204030204" pitchFamily="34" charset="0"/>
              </a:rPr>
              <a:t>BdopnListPage</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0" y="2170157"/>
            <a:ext cx="1819985"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입찰실시</a:t>
            </a:r>
            <a:r>
              <a:rPr lang="en-US" altLang="ko-KR" sz="1100" dirty="0"/>
              <a:t>Controller&gt;&gt;</a:t>
            </a:r>
          </a:p>
          <a:p>
            <a:pPr algn="ctr"/>
            <a:r>
              <a:rPr lang="en-US" altLang="ko-KR" sz="1100" dirty="0" err="1" smtClean="0"/>
              <a:t>BidEnfrcController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990173"/>
            <a:ext cx="967508"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780075" y="2990174"/>
            <a:ext cx="1133343" cy="0"/>
          </a:xfrm>
          <a:prstGeom prst="line">
            <a:avLst/>
          </a:prstGeom>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17B04AF0-E40F-6C8E-32B2-175697C7E2BE}"/>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1.3.1 </a:t>
            </a:r>
            <a:r>
              <a:rPr lang="ko-KR" altLang="en-US" sz="1200" dirty="0" err="1">
                <a:solidFill>
                  <a:schemeClr val="tx1"/>
                </a:solidFill>
              </a:rPr>
              <a:t>개찰목록</a:t>
            </a:r>
            <a:endParaRPr lang="ko-KR" altLang="en-US" sz="1200" dirty="0">
              <a:solidFill>
                <a:schemeClr val="tx1"/>
              </a:solidFill>
            </a:endParaRPr>
          </a:p>
        </p:txBody>
      </p:sp>
      <p:sp>
        <p:nvSpPr>
          <p:cNvPr id="17"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443786109"/>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204031"/>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204031"/>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220</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(2/5)</a:t>
            </a:r>
            <a:endParaRPr lang="ko-KR" altLang="en-US" dirty="0"/>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73264"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1" name="직사각형 10">
            <a:extLst>
              <a:ext uri="{FF2B5EF4-FFF2-40B4-BE49-F238E27FC236}">
                <a16:creationId xmlns:a16="http://schemas.microsoft.com/office/drawing/2014/main" id="{015A331E-505A-57E3-A763-CB0C8D48EC9A}"/>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입찰결과</a:t>
            </a:r>
            <a:r>
              <a:rPr lang="en-US" altLang="ko-KR" sz="1100" dirty="0"/>
              <a:t>Controller&gt;&gt;</a:t>
            </a:r>
          </a:p>
          <a:p>
            <a:pPr algn="ctr"/>
            <a:r>
              <a:rPr lang="en-US" altLang="ko-KR" sz="1100" dirty="0" err="1" smtClean="0"/>
              <a:t>BidRsltController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168013"/>
            <a:ext cx="967509" cy="82216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직선 연결선 21">
            <a:extLst>
              <a:ext uri="{FF2B5EF4-FFF2-40B4-BE49-F238E27FC236}">
                <a16:creationId xmlns:a16="http://schemas.microsoft.com/office/drawing/2014/main" id="{DB16E99B-0703-15BA-41A8-6D7E6BF1498E}"/>
              </a:ext>
            </a:extLst>
          </p:cNvPr>
          <p:cNvCxnSpPr>
            <a:cxnSpLocks/>
            <a:stCxn id="9" idx="3"/>
            <a:endCxn id="11" idx="1"/>
          </p:cNvCxnSpPr>
          <p:nvPr/>
        </p:nvCxnSpPr>
        <p:spPr>
          <a:xfrm>
            <a:off x="5733355" y="2990174"/>
            <a:ext cx="1180063" cy="0"/>
          </a:xfrm>
          <a:prstGeom prst="line">
            <a:avLst/>
          </a:prstGeom>
        </p:spPr>
        <p:style>
          <a:lnRef idx="1">
            <a:schemeClr val="dk1"/>
          </a:lnRef>
          <a:fillRef idx="0">
            <a:schemeClr val="dk1"/>
          </a:fillRef>
          <a:effectRef idx="0">
            <a:schemeClr val="dk1"/>
          </a:effectRef>
          <a:fontRef idx="minor">
            <a:schemeClr val="tx1"/>
          </a:fontRef>
        </p:style>
      </p:cxnSp>
      <p:sp>
        <p:nvSpPr>
          <p:cNvPr id="17" name="직사각형 16">
            <a:extLst>
              <a:ext uri="{FF2B5EF4-FFF2-40B4-BE49-F238E27FC236}">
                <a16:creationId xmlns:a16="http://schemas.microsoft.com/office/drawing/2014/main" id="{232EA436-7A0D-DBDA-041F-31B51FACB133}"/>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1.3.2 </a:t>
            </a:r>
            <a:r>
              <a:rPr lang="ko-KR" altLang="en-US" sz="1200" dirty="0">
                <a:solidFill>
                  <a:schemeClr val="tx1"/>
                </a:solidFill>
              </a:rPr>
              <a:t>입찰결과</a:t>
            </a:r>
          </a:p>
        </p:txBody>
      </p:sp>
      <p:sp>
        <p:nvSpPr>
          <p:cNvPr id="14"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cxnSp>
        <p:nvCxnSpPr>
          <p:cNvPr id="21" name="직선 화살표 연결선 20">
            <a:extLst>
              <a:ext uri="{FF2B5EF4-FFF2-40B4-BE49-F238E27FC236}">
                <a16:creationId xmlns:a16="http://schemas.microsoft.com/office/drawing/2014/main" id="{8DD2481F-89D8-25C0-6E6F-7535C857EB4B}"/>
              </a:ext>
            </a:extLst>
          </p:cNvPr>
          <p:cNvCxnSpPr>
            <a:stCxn id="15" idx="3"/>
            <a:endCxn id="9" idx="1"/>
          </p:cNvCxnSpPr>
          <p:nvPr/>
        </p:nvCxnSpPr>
        <p:spPr>
          <a:xfrm>
            <a:off x="2992582" y="2731240"/>
            <a:ext cx="967509" cy="2589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직선 화살표 연결선 26">
            <a:extLst>
              <a:ext uri="{FF2B5EF4-FFF2-40B4-BE49-F238E27FC236}">
                <a16:creationId xmlns:a16="http://schemas.microsoft.com/office/drawing/2014/main" id="{8DD2481F-89D8-25C0-6E6F-7535C857EB4B}"/>
              </a:ext>
            </a:extLst>
          </p:cNvPr>
          <p:cNvCxnSpPr>
            <a:stCxn id="19" idx="3"/>
            <a:endCxn id="9" idx="1"/>
          </p:cNvCxnSpPr>
          <p:nvPr/>
        </p:nvCxnSpPr>
        <p:spPr>
          <a:xfrm flipV="1">
            <a:off x="2992582" y="2990174"/>
            <a:ext cx="967509" cy="3053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직선 화살표 연결선 27">
            <a:extLst>
              <a:ext uri="{FF2B5EF4-FFF2-40B4-BE49-F238E27FC236}">
                <a16:creationId xmlns:a16="http://schemas.microsoft.com/office/drawing/2014/main" id="{8DD2481F-89D8-25C0-6E6F-7535C857EB4B}"/>
              </a:ext>
            </a:extLst>
          </p:cNvPr>
          <p:cNvCxnSpPr>
            <a:stCxn id="20" idx="3"/>
            <a:endCxn id="9" idx="1"/>
          </p:cNvCxnSpPr>
          <p:nvPr/>
        </p:nvCxnSpPr>
        <p:spPr>
          <a:xfrm flipV="1">
            <a:off x="2992582" y="2990174"/>
            <a:ext cx="967509" cy="86861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직사각형 5">
            <a:extLst>
              <a:ext uri="{FF2B5EF4-FFF2-40B4-BE49-F238E27FC236}">
                <a16:creationId xmlns:a16="http://schemas.microsoft.com/office/drawing/2014/main" id="{3FD7B626-4B5C-AE29-EFB9-628750B32B78}"/>
              </a:ext>
            </a:extLst>
          </p:cNvPr>
          <p:cNvSpPr/>
          <p:nvPr/>
        </p:nvSpPr>
        <p:spPr>
          <a:xfrm>
            <a:off x="1265382" y="1940969"/>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100" dirty="0">
                <a:solidFill>
                  <a:schemeClr val="tx1"/>
                </a:solidFill>
              </a:rPr>
              <a:t>&lt;&lt;App Page&gt;&gt;</a:t>
            </a:r>
          </a:p>
          <a:p>
            <a:pPr algn="ctr"/>
            <a:r>
              <a:rPr lang="ko-KR" altLang="en-US" sz="1100" dirty="0">
                <a:solidFill>
                  <a:schemeClr val="tx1"/>
                </a:solidFill>
              </a:rPr>
              <a:t>입찰결과상세</a:t>
            </a:r>
            <a:endParaRPr lang="en-US" altLang="ko-KR" sz="1100" dirty="0">
              <a:solidFill>
                <a:schemeClr val="tx1"/>
              </a:solidFill>
            </a:endParaRPr>
          </a:p>
          <a:p>
            <a:pPr algn="ctr"/>
            <a:r>
              <a:rPr lang="en-US" altLang="ko-KR" sz="1100" dirty="0">
                <a:solidFill>
                  <a:schemeClr val="tx1"/>
                </a:solidFill>
                <a:latin typeface="+mn-ea"/>
              </a:rPr>
              <a:t>BidRsltDtl</a:t>
            </a:r>
            <a:r>
              <a:rPr lang="en-US" altLang="ko-KR" sz="1100" dirty="0">
                <a:solidFill>
                  <a:schemeClr val="tx1"/>
                </a:solidFill>
                <a:latin typeface="Calibri" panose="020F0502020204030204" pitchFamily="34" charset="0"/>
              </a:rPr>
              <a:t>Page</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15" name="직사각형 14">
            <a:extLst>
              <a:ext uri="{FF2B5EF4-FFF2-40B4-BE49-F238E27FC236}">
                <a16:creationId xmlns:a16="http://schemas.microsoft.com/office/drawing/2014/main" id="{3FD7B626-4B5C-AE29-EFB9-628750B32B78}"/>
              </a:ext>
            </a:extLst>
          </p:cNvPr>
          <p:cNvSpPr/>
          <p:nvPr/>
        </p:nvSpPr>
        <p:spPr>
          <a:xfrm>
            <a:off x="1265382" y="2504196"/>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100" dirty="0">
                <a:solidFill>
                  <a:schemeClr val="tx1"/>
                </a:solidFill>
              </a:rPr>
              <a:t>&lt;&lt;App Page&gt;&gt;</a:t>
            </a:r>
          </a:p>
          <a:p>
            <a:pPr algn="ctr"/>
            <a:r>
              <a:rPr lang="ko-KR" altLang="en-US" sz="1100" dirty="0">
                <a:solidFill>
                  <a:schemeClr val="tx1"/>
                </a:solidFill>
              </a:rPr>
              <a:t>일반정보</a:t>
            </a:r>
            <a:endParaRPr lang="en-US" altLang="ko-KR" sz="1100" dirty="0">
              <a:solidFill>
                <a:schemeClr val="tx1"/>
              </a:solidFill>
            </a:endParaRPr>
          </a:p>
          <a:p>
            <a:pPr algn="ctr"/>
            <a:r>
              <a:rPr lang="en-US" altLang="ko-KR" sz="1100" dirty="0">
                <a:solidFill>
                  <a:schemeClr val="tx1"/>
                </a:solidFill>
                <a:latin typeface="+mn-ea"/>
              </a:rPr>
              <a:t>BidRsltDtlPage_Info</a:t>
            </a:r>
            <a:r>
              <a:rPr lang="en-US" altLang="ko-KR" sz="1100" dirty="0" smtClean="0">
                <a:solidFill>
                  <a:schemeClr val="tx1"/>
                </a:solidFill>
              </a:rPr>
              <a:t>.tsx</a:t>
            </a:r>
            <a:r>
              <a:rPr lang="en-US" altLang="ko-KR" sz="1100" b="1" baseline="30000" dirty="0" smtClean="0">
                <a:solidFill>
                  <a:schemeClr val="tx1"/>
                </a:solidFill>
                <a:latin typeface="+mn-ea"/>
              </a:rPr>
              <a:t>1</a:t>
            </a:r>
            <a:r>
              <a:rPr lang="en-US" altLang="ko-KR" sz="1100" b="1" baseline="30000" dirty="0">
                <a:solidFill>
                  <a:schemeClr val="tx1"/>
                </a:solidFill>
                <a:latin typeface="+mn-ea"/>
              </a:rPr>
              <a:t>)</a:t>
            </a:r>
            <a:endParaRPr lang="en-US" altLang="ko-KR" sz="1100" dirty="0">
              <a:solidFill>
                <a:schemeClr val="tx1"/>
              </a:solidFill>
            </a:endParaRPr>
          </a:p>
        </p:txBody>
      </p:sp>
      <p:sp>
        <p:nvSpPr>
          <p:cNvPr id="19" name="직사각형 18">
            <a:extLst>
              <a:ext uri="{FF2B5EF4-FFF2-40B4-BE49-F238E27FC236}">
                <a16:creationId xmlns:a16="http://schemas.microsoft.com/office/drawing/2014/main" id="{3FD7B626-4B5C-AE29-EFB9-628750B32B78}"/>
              </a:ext>
            </a:extLst>
          </p:cNvPr>
          <p:cNvSpPr/>
          <p:nvPr/>
        </p:nvSpPr>
        <p:spPr>
          <a:xfrm>
            <a:off x="1265382" y="3068521"/>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100" dirty="0">
                <a:solidFill>
                  <a:schemeClr val="tx1"/>
                </a:solidFill>
              </a:rPr>
              <a:t>&lt;&lt;App Page&gt;&gt;</a:t>
            </a:r>
          </a:p>
          <a:p>
            <a:pPr algn="ctr"/>
            <a:r>
              <a:rPr lang="ko-KR" altLang="en-US" sz="1100" dirty="0" err="1">
                <a:solidFill>
                  <a:schemeClr val="tx1"/>
                </a:solidFill>
              </a:rPr>
              <a:t>품목정보</a:t>
            </a:r>
            <a:endParaRPr lang="en-US" altLang="ko-KR" sz="1100" dirty="0">
              <a:solidFill>
                <a:schemeClr val="tx1"/>
              </a:solidFill>
            </a:endParaRPr>
          </a:p>
          <a:p>
            <a:pPr algn="ctr"/>
            <a:r>
              <a:rPr lang="en-US" altLang="ko-KR" sz="1100" dirty="0">
                <a:solidFill>
                  <a:schemeClr val="tx1"/>
                </a:solidFill>
                <a:latin typeface="+mn-ea"/>
              </a:rPr>
              <a:t>BidRsltDtlListPage</a:t>
            </a:r>
            <a:r>
              <a:rPr lang="en-US" altLang="ko-KR" sz="1100" dirty="0" smtClean="0">
                <a:solidFill>
                  <a:schemeClr val="tx1"/>
                </a:solidFill>
              </a:rPr>
              <a:t>.tsx</a:t>
            </a:r>
            <a:r>
              <a:rPr lang="en-US" altLang="ko-KR" sz="1100" b="1" baseline="30000" dirty="0" smtClean="0">
                <a:solidFill>
                  <a:schemeClr val="tx1"/>
                </a:solidFill>
                <a:latin typeface="+mn-ea"/>
              </a:rPr>
              <a:t>1</a:t>
            </a:r>
            <a:r>
              <a:rPr lang="en-US" altLang="ko-KR" sz="1100" b="1" baseline="30000" dirty="0">
                <a:solidFill>
                  <a:schemeClr val="tx1"/>
                </a:solidFill>
                <a:latin typeface="+mn-ea"/>
              </a:rPr>
              <a:t>)</a:t>
            </a:r>
            <a:endParaRPr lang="en-US" altLang="ko-KR" sz="1100" dirty="0">
              <a:solidFill>
                <a:schemeClr val="tx1"/>
              </a:solidFill>
            </a:endParaRPr>
          </a:p>
        </p:txBody>
      </p:sp>
      <p:sp>
        <p:nvSpPr>
          <p:cNvPr id="20" name="직사각형 19">
            <a:extLst>
              <a:ext uri="{FF2B5EF4-FFF2-40B4-BE49-F238E27FC236}">
                <a16:creationId xmlns:a16="http://schemas.microsoft.com/office/drawing/2014/main" id="{3FD7B626-4B5C-AE29-EFB9-628750B32B78}"/>
              </a:ext>
            </a:extLst>
          </p:cNvPr>
          <p:cNvSpPr/>
          <p:nvPr/>
        </p:nvSpPr>
        <p:spPr>
          <a:xfrm>
            <a:off x="1265382" y="3631748"/>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100" dirty="0">
                <a:solidFill>
                  <a:schemeClr val="tx1"/>
                </a:solidFill>
              </a:rPr>
              <a:t>&lt;&lt;App Page&gt;&gt;</a:t>
            </a:r>
          </a:p>
          <a:p>
            <a:pPr algn="ctr"/>
            <a:r>
              <a:rPr lang="ko-KR" altLang="en-US" sz="1100" dirty="0">
                <a:solidFill>
                  <a:schemeClr val="tx1"/>
                </a:solidFill>
              </a:rPr>
              <a:t>입찰결과</a:t>
            </a:r>
            <a:endParaRPr lang="en-US" altLang="ko-KR" sz="1100" dirty="0">
              <a:solidFill>
                <a:schemeClr val="tx1"/>
              </a:solidFill>
            </a:endParaRPr>
          </a:p>
          <a:p>
            <a:pPr algn="ctr"/>
            <a:r>
              <a:rPr lang="en-US" altLang="ko-KR" sz="1100" dirty="0" smtClean="0">
                <a:solidFill>
                  <a:schemeClr val="tx1"/>
                </a:solidFill>
                <a:latin typeface="+mn-ea"/>
              </a:rPr>
              <a:t>BidRsltDtl</a:t>
            </a:r>
            <a:r>
              <a:rPr lang="en-US" altLang="ko-KR" sz="1100" dirty="0" smtClean="0">
                <a:solidFill>
                  <a:schemeClr val="tx1"/>
                </a:solidFill>
              </a:rPr>
              <a:t>.tsx</a:t>
            </a:r>
            <a:r>
              <a:rPr lang="en-US" altLang="ko-KR" sz="1100" b="1" baseline="30000" dirty="0" smtClean="0">
                <a:solidFill>
                  <a:schemeClr val="tx1"/>
                </a:solidFill>
                <a:latin typeface="+mn-ea"/>
              </a:rPr>
              <a:t>1</a:t>
            </a:r>
            <a:r>
              <a:rPr lang="en-US" altLang="ko-KR" sz="1100" b="1" baseline="30000" dirty="0">
                <a:solidFill>
                  <a:schemeClr val="tx1"/>
                </a:solidFill>
                <a:latin typeface="+mn-ea"/>
              </a:rPr>
              <a:t>)</a:t>
            </a:r>
            <a:endParaRPr lang="en-US" altLang="ko-KR" sz="1100" dirty="0">
              <a:solidFill>
                <a:schemeClr val="tx1"/>
              </a:solidFill>
            </a:endParaRPr>
          </a:p>
        </p:txBody>
      </p:sp>
      <p:sp>
        <p:nvSpPr>
          <p:cNvPr id="35" name="직사각형 34">
            <a:extLst>
              <a:ext uri="{FF2B5EF4-FFF2-40B4-BE49-F238E27FC236}">
                <a16:creationId xmlns:a16="http://schemas.microsoft.com/office/drawing/2014/main" id="{3FD7B626-4B5C-AE29-EFB9-628750B32B78}"/>
              </a:ext>
            </a:extLst>
          </p:cNvPr>
          <p:cNvSpPr/>
          <p:nvPr/>
        </p:nvSpPr>
        <p:spPr>
          <a:xfrm>
            <a:off x="1265382" y="4194974"/>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100" dirty="0">
                <a:solidFill>
                  <a:schemeClr val="tx1"/>
                </a:solidFill>
              </a:rPr>
              <a:t>&lt;&lt;App Page&gt;&gt;</a:t>
            </a:r>
          </a:p>
          <a:p>
            <a:pPr algn="ctr"/>
            <a:r>
              <a:rPr lang="ko-KR" altLang="en-US" sz="1100" dirty="0">
                <a:solidFill>
                  <a:schemeClr val="tx1"/>
                </a:solidFill>
              </a:rPr>
              <a:t>협상결과</a:t>
            </a:r>
            <a:endParaRPr lang="en-US" altLang="ko-KR" sz="1100" dirty="0">
              <a:solidFill>
                <a:schemeClr val="tx1"/>
              </a:solidFill>
            </a:endParaRPr>
          </a:p>
          <a:p>
            <a:pPr algn="ctr"/>
            <a:r>
              <a:rPr lang="en-US" altLang="ko-KR" sz="1100" dirty="0">
                <a:solidFill>
                  <a:schemeClr val="tx1"/>
                </a:solidFill>
                <a:latin typeface="+mn-ea"/>
              </a:rPr>
              <a:t>BidRsltDtl2</a:t>
            </a:r>
            <a:r>
              <a:rPr lang="en-US" altLang="ko-KR" sz="1100" dirty="0" smtClean="0">
                <a:solidFill>
                  <a:schemeClr val="tx1"/>
                </a:solidFill>
              </a:rPr>
              <a:t>.tsx</a:t>
            </a:r>
            <a:r>
              <a:rPr lang="en-US" altLang="ko-KR" sz="1100" b="1" baseline="30000" dirty="0" smtClean="0">
                <a:solidFill>
                  <a:schemeClr val="tx1"/>
                </a:solidFill>
                <a:latin typeface="+mn-ea"/>
              </a:rPr>
              <a:t>1</a:t>
            </a:r>
            <a:r>
              <a:rPr lang="en-US" altLang="ko-KR" sz="1100" b="1" baseline="30000" dirty="0">
                <a:solidFill>
                  <a:schemeClr val="tx1"/>
                </a:solidFill>
                <a:latin typeface="+mn-ea"/>
              </a:rPr>
              <a:t>)</a:t>
            </a:r>
            <a:endParaRPr lang="en-US" altLang="ko-KR" sz="1100" dirty="0">
              <a:solidFill>
                <a:schemeClr val="tx1"/>
              </a:solidFill>
            </a:endParaRPr>
          </a:p>
        </p:txBody>
      </p:sp>
      <p:sp>
        <p:nvSpPr>
          <p:cNvPr id="36" name="직사각형 35">
            <a:extLst>
              <a:ext uri="{FF2B5EF4-FFF2-40B4-BE49-F238E27FC236}">
                <a16:creationId xmlns:a16="http://schemas.microsoft.com/office/drawing/2014/main" id="{3FD7B626-4B5C-AE29-EFB9-628750B32B78}"/>
              </a:ext>
            </a:extLst>
          </p:cNvPr>
          <p:cNvSpPr/>
          <p:nvPr/>
        </p:nvSpPr>
        <p:spPr>
          <a:xfrm>
            <a:off x="1265382" y="4758201"/>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100" dirty="0">
                <a:solidFill>
                  <a:schemeClr val="tx1"/>
                </a:solidFill>
              </a:rPr>
              <a:t>&lt;&lt;App Page&gt;&gt;</a:t>
            </a:r>
          </a:p>
          <a:p>
            <a:pPr algn="ctr"/>
            <a:r>
              <a:rPr lang="ko-KR" altLang="en-US" sz="1100" dirty="0">
                <a:solidFill>
                  <a:schemeClr val="tx1"/>
                </a:solidFill>
              </a:rPr>
              <a:t>복수예비가격</a:t>
            </a:r>
            <a:endParaRPr lang="en-US" altLang="ko-KR" sz="1100" dirty="0">
              <a:solidFill>
                <a:schemeClr val="tx1"/>
              </a:solidFill>
            </a:endParaRPr>
          </a:p>
          <a:p>
            <a:pPr algn="ctr"/>
            <a:r>
              <a:rPr lang="en-US" altLang="ko-KR" sz="1100" dirty="0">
                <a:solidFill>
                  <a:schemeClr val="tx1"/>
                </a:solidFill>
                <a:latin typeface="+mn-ea"/>
              </a:rPr>
              <a:t>PrprcPage</a:t>
            </a:r>
            <a:r>
              <a:rPr lang="en-US" altLang="ko-KR" sz="1100" dirty="0" smtClean="0">
                <a:solidFill>
                  <a:schemeClr val="tx1"/>
                </a:solidFill>
              </a:rPr>
              <a:t>.tsx</a:t>
            </a:r>
            <a:r>
              <a:rPr lang="en-US" altLang="ko-KR" sz="1100" b="1" baseline="30000" dirty="0" smtClean="0">
                <a:solidFill>
                  <a:schemeClr val="tx1"/>
                </a:solidFill>
                <a:latin typeface="+mn-ea"/>
              </a:rPr>
              <a:t>1</a:t>
            </a:r>
            <a:r>
              <a:rPr lang="en-US" altLang="ko-KR" sz="1100" b="1" baseline="30000" dirty="0">
                <a:solidFill>
                  <a:schemeClr val="tx1"/>
                </a:solidFill>
                <a:latin typeface="+mn-ea"/>
              </a:rPr>
              <a:t>)</a:t>
            </a:r>
            <a:endParaRPr lang="en-US" altLang="ko-KR" sz="1100" dirty="0">
              <a:solidFill>
                <a:schemeClr val="tx1"/>
              </a:solidFill>
            </a:endParaRPr>
          </a:p>
        </p:txBody>
      </p:sp>
      <p:sp>
        <p:nvSpPr>
          <p:cNvPr id="37" name="직사각형 36">
            <a:extLst>
              <a:ext uri="{FF2B5EF4-FFF2-40B4-BE49-F238E27FC236}">
                <a16:creationId xmlns:a16="http://schemas.microsoft.com/office/drawing/2014/main" id="{3FD7B626-4B5C-AE29-EFB9-628750B32B78}"/>
              </a:ext>
            </a:extLst>
          </p:cNvPr>
          <p:cNvSpPr/>
          <p:nvPr/>
        </p:nvSpPr>
        <p:spPr>
          <a:xfrm>
            <a:off x="1265382" y="5322526"/>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100" dirty="0">
                <a:solidFill>
                  <a:schemeClr val="tx1"/>
                </a:solidFill>
              </a:rPr>
              <a:t>&lt;&lt;App Page&gt;&gt;</a:t>
            </a:r>
          </a:p>
          <a:p>
            <a:pPr algn="ctr"/>
            <a:r>
              <a:rPr lang="ko-KR" altLang="en-US" sz="1100" dirty="0">
                <a:solidFill>
                  <a:schemeClr val="tx1"/>
                </a:solidFill>
              </a:rPr>
              <a:t>동가낙찰결과</a:t>
            </a:r>
            <a:endParaRPr lang="en-US" altLang="ko-KR" sz="1100" dirty="0">
              <a:solidFill>
                <a:schemeClr val="tx1"/>
              </a:solidFill>
            </a:endParaRPr>
          </a:p>
          <a:p>
            <a:pPr algn="ctr"/>
            <a:r>
              <a:rPr lang="en-US" altLang="ko-KR" sz="1100" dirty="0">
                <a:solidFill>
                  <a:schemeClr val="tx1"/>
                </a:solidFill>
                <a:latin typeface="+mn-ea"/>
              </a:rPr>
              <a:t>SmprcScsbdRslt</a:t>
            </a:r>
            <a:r>
              <a:rPr lang="en-US" altLang="ko-KR" sz="1100" dirty="0" smtClean="0">
                <a:solidFill>
                  <a:schemeClr val="tx1"/>
                </a:solidFill>
              </a:rPr>
              <a:t>.tsx</a:t>
            </a:r>
            <a:r>
              <a:rPr lang="en-US" altLang="ko-KR" sz="1100" b="1" baseline="30000" dirty="0" smtClean="0">
                <a:solidFill>
                  <a:schemeClr val="tx1"/>
                </a:solidFill>
                <a:latin typeface="+mn-ea"/>
              </a:rPr>
              <a:t>1</a:t>
            </a:r>
            <a:r>
              <a:rPr lang="en-US" altLang="ko-KR" sz="1100" b="1" baseline="30000" dirty="0">
                <a:solidFill>
                  <a:schemeClr val="tx1"/>
                </a:solidFill>
                <a:latin typeface="+mn-ea"/>
              </a:rPr>
              <a:t>)</a:t>
            </a:r>
            <a:endParaRPr lang="en-US" altLang="ko-KR" sz="1100" dirty="0">
              <a:solidFill>
                <a:schemeClr val="tx1"/>
              </a:solidFill>
            </a:endParaRPr>
          </a:p>
        </p:txBody>
      </p:sp>
      <p:sp>
        <p:nvSpPr>
          <p:cNvPr id="38" name="직사각형 37">
            <a:extLst>
              <a:ext uri="{FF2B5EF4-FFF2-40B4-BE49-F238E27FC236}">
                <a16:creationId xmlns:a16="http://schemas.microsoft.com/office/drawing/2014/main" id="{3FD7B626-4B5C-AE29-EFB9-628750B32B78}"/>
              </a:ext>
            </a:extLst>
          </p:cNvPr>
          <p:cNvSpPr/>
          <p:nvPr/>
        </p:nvSpPr>
        <p:spPr>
          <a:xfrm>
            <a:off x="1265382" y="5885753"/>
            <a:ext cx="1727200" cy="454087"/>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r>
              <a:rPr lang="en-US" altLang="ko-KR" sz="1100" dirty="0">
                <a:solidFill>
                  <a:schemeClr val="tx1"/>
                </a:solidFill>
              </a:rPr>
              <a:t>&lt;&lt;App Page&gt;&gt;</a:t>
            </a:r>
          </a:p>
          <a:p>
            <a:pPr algn="ctr"/>
            <a:r>
              <a:rPr lang="ko-KR" altLang="en-US" sz="1100" dirty="0" err="1">
                <a:solidFill>
                  <a:schemeClr val="tx1"/>
                </a:solidFill>
              </a:rPr>
              <a:t>평가위원별기술평가점수상세조회</a:t>
            </a:r>
            <a:endParaRPr lang="en-US" altLang="ko-KR" sz="1100" dirty="0">
              <a:solidFill>
                <a:schemeClr val="tx1"/>
              </a:solidFill>
            </a:endParaRPr>
          </a:p>
          <a:p>
            <a:pPr algn="ctr"/>
            <a:r>
              <a:rPr lang="en-US" altLang="ko-KR" sz="1100" dirty="0">
                <a:solidFill>
                  <a:schemeClr val="tx1"/>
                </a:solidFill>
                <a:latin typeface="+mn-ea"/>
              </a:rPr>
              <a:t>EvlMbcmtTechEvlScrDtl</a:t>
            </a:r>
            <a:r>
              <a:rPr lang="en-US" altLang="ko-KR" sz="1100" dirty="0" smtClean="0">
                <a:solidFill>
                  <a:schemeClr val="tx1"/>
                </a:solidFill>
              </a:rPr>
              <a:t>.tsx</a:t>
            </a:r>
            <a:r>
              <a:rPr lang="en-US" altLang="ko-KR" sz="1100" b="1" baseline="30000" dirty="0" smtClean="0">
                <a:solidFill>
                  <a:schemeClr val="tx1"/>
                </a:solidFill>
                <a:latin typeface="+mn-ea"/>
              </a:rPr>
              <a:t>1</a:t>
            </a:r>
            <a:r>
              <a:rPr lang="en-US" altLang="ko-KR" sz="1100" b="1" baseline="30000" dirty="0">
                <a:solidFill>
                  <a:schemeClr val="tx1"/>
                </a:solidFill>
                <a:latin typeface="+mn-ea"/>
              </a:rPr>
              <a:t>)</a:t>
            </a:r>
            <a:endParaRPr lang="en-US" altLang="ko-KR" sz="1100" dirty="0">
              <a:solidFill>
                <a:schemeClr val="tx1"/>
              </a:solidFill>
            </a:endParaRPr>
          </a:p>
        </p:txBody>
      </p:sp>
      <p:cxnSp>
        <p:nvCxnSpPr>
          <p:cNvPr id="40" name="직선 화살표 연결선 39">
            <a:extLst>
              <a:ext uri="{FF2B5EF4-FFF2-40B4-BE49-F238E27FC236}">
                <a16:creationId xmlns:a16="http://schemas.microsoft.com/office/drawing/2014/main" id="{8DD2481F-89D8-25C0-6E6F-7535C857EB4B}"/>
              </a:ext>
            </a:extLst>
          </p:cNvPr>
          <p:cNvCxnSpPr>
            <a:stCxn id="35" idx="3"/>
            <a:endCxn id="9" idx="1"/>
          </p:cNvCxnSpPr>
          <p:nvPr/>
        </p:nvCxnSpPr>
        <p:spPr>
          <a:xfrm flipV="1">
            <a:off x="2992582" y="2990174"/>
            <a:ext cx="967509" cy="14318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직선 화살표 연결선 42">
            <a:extLst>
              <a:ext uri="{FF2B5EF4-FFF2-40B4-BE49-F238E27FC236}">
                <a16:creationId xmlns:a16="http://schemas.microsoft.com/office/drawing/2014/main" id="{8DD2481F-89D8-25C0-6E6F-7535C857EB4B}"/>
              </a:ext>
            </a:extLst>
          </p:cNvPr>
          <p:cNvCxnSpPr>
            <a:stCxn id="36" idx="3"/>
            <a:endCxn id="9" idx="1"/>
          </p:cNvCxnSpPr>
          <p:nvPr/>
        </p:nvCxnSpPr>
        <p:spPr>
          <a:xfrm flipV="1">
            <a:off x="2992582" y="2990174"/>
            <a:ext cx="967509" cy="19950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직선 화살표 연결선 45">
            <a:extLst>
              <a:ext uri="{FF2B5EF4-FFF2-40B4-BE49-F238E27FC236}">
                <a16:creationId xmlns:a16="http://schemas.microsoft.com/office/drawing/2014/main" id="{8DD2481F-89D8-25C0-6E6F-7535C857EB4B}"/>
              </a:ext>
            </a:extLst>
          </p:cNvPr>
          <p:cNvCxnSpPr>
            <a:stCxn id="37" idx="3"/>
            <a:endCxn id="9" idx="1"/>
          </p:cNvCxnSpPr>
          <p:nvPr/>
        </p:nvCxnSpPr>
        <p:spPr>
          <a:xfrm flipV="1">
            <a:off x="2992582" y="2990174"/>
            <a:ext cx="967509" cy="25593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 name="직선 화살표 연결선 48">
            <a:extLst>
              <a:ext uri="{FF2B5EF4-FFF2-40B4-BE49-F238E27FC236}">
                <a16:creationId xmlns:a16="http://schemas.microsoft.com/office/drawing/2014/main" id="{8DD2481F-89D8-25C0-6E6F-7535C857EB4B}"/>
              </a:ext>
            </a:extLst>
          </p:cNvPr>
          <p:cNvCxnSpPr>
            <a:stCxn id="38" idx="3"/>
            <a:endCxn id="9" idx="1"/>
          </p:cNvCxnSpPr>
          <p:nvPr/>
        </p:nvCxnSpPr>
        <p:spPr>
          <a:xfrm flipV="1">
            <a:off x="2992582" y="2990174"/>
            <a:ext cx="967509" cy="31226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36183335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151779"/>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151779"/>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221</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(3/5)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2996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t"/>
          <a:lstStyle/>
          <a:p>
            <a:pPr algn="ctr"/>
            <a:r>
              <a:rPr lang="en-US" altLang="ko-KR" sz="900" dirty="0">
                <a:solidFill>
                  <a:schemeClr val="tx1"/>
                </a:solidFill>
              </a:rPr>
              <a:t>&lt;&lt;App Page&gt;&gt;</a:t>
            </a:r>
          </a:p>
          <a:p>
            <a:pPr algn="ctr"/>
            <a:r>
              <a:rPr lang="ko-KR" altLang="en-US" sz="900" dirty="0">
                <a:solidFill>
                  <a:schemeClr val="tx1"/>
                </a:solidFill>
                <a:latin typeface="+mn-ea"/>
              </a:rPr>
              <a:t>이행</a:t>
            </a:r>
            <a:r>
              <a:rPr lang="en-US" altLang="ko-KR" sz="900" dirty="0">
                <a:solidFill>
                  <a:schemeClr val="tx1"/>
                </a:solidFill>
                <a:latin typeface="+mn-ea"/>
              </a:rPr>
              <a:t>/</a:t>
            </a:r>
            <a:r>
              <a:rPr lang="ko-KR" altLang="en-US" sz="900" dirty="0">
                <a:solidFill>
                  <a:schemeClr val="tx1"/>
                </a:solidFill>
                <a:latin typeface="+mn-ea"/>
              </a:rPr>
              <a:t>적격심사상세</a:t>
            </a:r>
            <a:endParaRPr lang="en-US" altLang="ko-KR" sz="900" dirty="0">
              <a:solidFill>
                <a:schemeClr val="tx1"/>
              </a:solidFill>
            </a:endParaRPr>
          </a:p>
          <a:p>
            <a:pPr algn="ctr"/>
            <a:r>
              <a:rPr lang="en-US" altLang="ko-KR" sz="900" dirty="0">
                <a:solidFill>
                  <a:schemeClr val="tx1"/>
                </a:solidFill>
                <a:latin typeface="+mn-ea"/>
              </a:rPr>
              <a:t>Implt1</a:t>
            </a:r>
            <a:r>
              <a:rPr lang="en-US" altLang="ko-KR" sz="900" dirty="0">
                <a:solidFill>
                  <a:schemeClr val="tx1"/>
                </a:solidFill>
              </a:rPr>
              <a:t>~3.tsx</a:t>
            </a:r>
            <a:r>
              <a:rPr lang="en-US" altLang="ko-KR" sz="900" b="1" baseline="30000" dirty="0">
                <a:solidFill>
                  <a:schemeClr val="tx1"/>
                </a:solidFill>
                <a:latin typeface="+mn-ea"/>
              </a:rPr>
              <a:t>1)</a:t>
            </a:r>
            <a:endParaRPr lang="en-US" altLang="ko-KR" sz="9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18187"/>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물품</a:t>
            </a:r>
            <a:endParaRPr lang="en-US" altLang="ko-KR" sz="900" dirty="0">
              <a:solidFill>
                <a:schemeClr val="tx1"/>
              </a:solidFill>
            </a:endParaRPr>
          </a:p>
          <a:p>
            <a:pPr algn="ctr"/>
            <a:r>
              <a:rPr lang="en-US" altLang="ko-KR" sz="900" dirty="0">
                <a:solidFill>
                  <a:schemeClr val="tx1"/>
                </a:solidFill>
                <a:latin typeface="+mn-ea"/>
              </a:rPr>
              <a:t>Cmdty</a:t>
            </a: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이행적격심사</a:t>
            </a:r>
            <a:r>
              <a:rPr lang="en-US" altLang="ko-KR" sz="800" dirty="0"/>
              <a:t>Controller&gt;&gt;</a:t>
            </a:r>
          </a:p>
          <a:p>
            <a:pPr algn="ctr"/>
            <a:r>
              <a:rPr lang="en-US" altLang="ko-KR" sz="800" dirty="0" err="1" smtClean="0"/>
              <a:t>ImpltElgbSrngController</a:t>
            </a:r>
            <a:endParaRPr lang="en-US" altLang="ko-KR" sz="8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881961"/>
            <a:ext cx="967509" cy="11082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3FD7B626-4B5C-AE29-EFB9-628750B32B78}"/>
              </a:ext>
            </a:extLst>
          </p:cNvPr>
          <p:cNvSpPr/>
          <p:nvPr/>
        </p:nvSpPr>
        <p:spPr>
          <a:xfrm>
            <a:off x="1265382" y="2806413"/>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용역</a:t>
            </a:r>
            <a:endParaRPr lang="en-US" altLang="ko-KR" sz="900" dirty="0">
              <a:solidFill>
                <a:schemeClr val="tx1"/>
              </a:solidFill>
            </a:endParaRPr>
          </a:p>
          <a:p>
            <a:pPr algn="ctr"/>
            <a:r>
              <a:rPr lang="en-US" altLang="ko-KR" sz="900" dirty="0" err="1">
                <a:solidFill>
                  <a:schemeClr val="tx1"/>
                </a:solidFill>
                <a:latin typeface="+mn-ea"/>
              </a:rPr>
              <a:t>Lbsvc.tsx</a:t>
            </a:r>
            <a:r>
              <a:rPr lang="ko-KR" altLang="en-US" sz="900" dirty="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24" name="직사각형 23">
            <a:extLst>
              <a:ext uri="{FF2B5EF4-FFF2-40B4-BE49-F238E27FC236}">
                <a16:creationId xmlns:a16="http://schemas.microsoft.com/office/drawing/2014/main" id="{04F2CFBC-290B-2E89-63C0-62C22747051D}"/>
              </a:ext>
            </a:extLst>
          </p:cNvPr>
          <p:cNvSpPr/>
          <p:nvPr/>
        </p:nvSpPr>
        <p:spPr>
          <a:xfrm>
            <a:off x="1265382" y="3394639"/>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a:solidFill>
                  <a:schemeClr val="tx1"/>
                </a:solidFill>
                <a:latin typeface="+mn-ea"/>
              </a:rPr>
              <a:t>ItemsUnderKrw1B</a:t>
            </a: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7" name="직사각형 26">
            <a:extLst>
              <a:ext uri="{FF2B5EF4-FFF2-40B4-BE49-F238E27FC236}">
                <a16:creationId xmlns:a16="http://schemas.microsoft.com/office/drawing/2014/main" id="{3FD7B626-4B5C-AE29-EFB9-628750B32B78}"/>
              </a:ext>
            </a:extLst>
          </p:cNvPr>
          <p:cNvSpPr/>
          <p:nvPr/>
        </p:nvSpPr>
        <p:spPr>
          <a:xfrm>
            <a:off x="1265382" y="3982865"/>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억원미만물품제조</a:t>
            </a:r>
            <a:endParaRPr lang="en-US" altLang="ko-KR" sz="900" dirty="0">
              <a:solidFill>
                <a:schemeClr val="tx1"/>
              </a:solidFill>
            </a:endParaRPr>
          </a:p>
          <a:p>
            <a:pPr algn="ctr"/>
            <a:r>
              <a:rPr lang="en-US" altLang="ko-KR" sz="900" dirty="0">
                <a:solidFill>
                  <a:schemeClr val="tx1"/>
                </a:solidFill>
                <a:latin typeface="+mn-ea"/>
              </a:rPr>
              <a:t>ManufacturingofItemsUnderKrw1B</a:t>
            </a: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8" name="직사각형 27">
            <a:extLst>
              <a:ext uri="{FF2B5EF4-FFF2-40B4-BE49-F238E27FC236}">
                <a16:creationId xmlns:a16="http://schemas.microsoft.com/office/drawing/2014/main" id="{04F2CFBC-290B-2E89-63C0-62C22747051D}"/>
              </a:ext>
            </a:extLst>
          </p:cNvPr>
          <p:cNvSpPr/>
          <p:nvPr/>
        </p:nvSpPr>
        <p:spPr>
          <a:xfrm>
            <a:off x="1265382" y="457109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억원미만물품제조</a:t>
            </a:r>
            <a:r>
              <a:rPr lang="en-US" altLang="ko-KR" sz="900" dirty="0">
                <a:solidFill>
                  <a:schemeClr val="tx1"/>
                </a:solidFill>
              </a:rPr>
              <a:t>2015</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ManufacturingofItemsUnderKrw1B.tsx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34" name="직선 화살표 연결선 33">
            <a:extLst>
              <a:ext uri="{FF2B5EF4-FFF2-40B4-BE49-F238E27FC236}">
                <a16:creationId xmlns:a16="http://schemas.microsoft.com/office/drawing/2014/main" id="{AF6B56CB-1ACF-E509-9762-CFE025648775}"/>
              </a:ext>
            </a:extLst>
          </p:cNvPr>
          <p:cNvCxnSpPr>
            <a:cxnSpLocks/>
            <a:stCxn id="28" idx="3"/>
            <a:endCxn id="9" idx="1"/>
          </p:cNvCxnSpPr>
          <p:nvPr/>
        </p:nvCxnSpPr>
        <p:spPr>
          <a:xfrm flipV="1">
            <a:off x="2992582" y="2990174"/>
            <a:ext cx="967509" cy="1832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직사각형 36">
            <a:extLst>
              <a:ext uri="{FF2B5EF4-FFF2-40B4-BE49-F238E27FC236}">
                <a16:creationId xmlns:a16="http://schemas.microsoft.com/office/drawing/2014/main" id="{3549C3A0-99B5-8272-2427-EE10759356AC}"/>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1.3.3 </a:t>
            </a:r>
            <a:r>
              <a:rPr lang="ko-KR" altLang="en-US" sz="1200" dirty="0">
                <a:solidFill>
                  <a:schemeClr val="tx1"/>
                </a:solidFill>
              </a:rPr>
              <a:t>이행</a:t>
            </a:r>
            <a:r>
              <a:rPr lang="en-US" altLang="ko-KR" sz="1200" dirty="0">
                <a:solidFill>
                  <a:schemeClr val="tx1"/>
                </a:solidFill>
              </a:rPr>
              <a:t>/</a:t>
            </a:r>
            <a:r>
              <a:rPr lang="ko-KR" altLang="en-US" sz="1200" dirty="0">
                <a:solidFill>
                  <a:schemeClr val="tx1"/>
                </a:solidFill>
              </a:rPr>
              <a:t>적격심사 </a:t>
            </a:r>
            <a:r>
              <a:rPr lang="en-US" altLang="ko-KR" sz="1200" dirty="0">
                <a:solidFill>
                  <a:schemeClr val="tx1"/>
                </a:solidFill>
              </a:rPr>
              <a:t>(1/3)</a:t>
            </a:r>
            <a:endParaRPr lang="ko-KR" altLang="en-US" sz="1200" dirty="0">
              <a:solidFill>
                <a:schemeClr val="tx1"/>
              </a:solidFill>
            </a:endParaRPr>
          </a:p>
        </p:txBody>
      </p:sp>
      <p:cxnSp>
        <p:nvCxnSpPr>
          <p:cNvPr id="33" name="직선 화살표 연결선 32">
            <a:extLst>
              <a:ext uri="{FF2B5EF4-FFF2-40B4-BE49-F238E27FC236}">
                <a16:creationId xmlns:a16="http://schemas.microsoft.com/office/drawing/2014/main" id="{8DD2481F-89D8-25C0-6E6F-7535C857EB4B}"/>
              </a:ext>
            </a:extLst>
          </p:cNvPr>
          <p:cNvCxnSpPr>
            <a:stCxn id="7" idx="3"/>
            <a:endCxn id="9" idx="1"/>
          </p:cNvCxnSpPr>
          <p:nvPr/>
        </p:nvCxnSpPr>
        <p:spPr>
          <a:xfrm>
            <a:off x="2992582" y="2470187"/>
            <a:ext cx="967509" cy="5199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직선 화살표 연결선 34">
            <a:extLst>
              <a:ext uri="{FF2B5EF4-FFF2-40B4-BE49-F238E27FC236}">
                <a16:creationId xmlns:a16="http://schemas.microsoft.com/office/drawing/2014/main" id="{8DD2481F-89D8-25C0-6E6F-7535C857EB4B}"/>
              </a:ext>
            </a:extLst>
          </p:cNvPr>
          <p:cNvCxnSpPr>
            <a:stCxn id="23" idx="3"/>
            <a:endCxn id="9" idx="1"/>
          </p:cNvCxnSpPr>
          <p:nvPr/>
        </p:nvCxnSpPr>
        <p:spPr>
          <a:xfrm flipV="1">
            <a:off x="2992582" y="2990174"/>
            <a:ext cx="967509" cy="6823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직선 화살표 연결선 35">
            <a:extLst>
              <a:ext uri="{FF2B5EF4-FFF2-40B4-BE49-F238E27FC236}">
                <a16:creationId xmlns:a16="http://schemas.microsoft.com/office/drawing/2014/main" id="{8DD2481F-89D8-25C0-6E6F-7535C857EB4B}"/>
              </a:ext>
            </a:extLst>
          </p:cNvPr>
          <p:cNvCxnSpPr>
            <a:stCxn id="24" idx="3"/>
            <a:endCxn id="9" idx="1"/>
          </p:cNvCxnSpPr>
          <p:nvPr/>
        </p:nvCxnSpPr>
        <p:spPr>
          <a:xfrm flipV="1">
            <a:off x="2992582" y="2990174"/>
            <a:ext cx="967509" cy="6564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직선 화살표 연결선 38">
            <a:extLst>
              <a:ext uri="{FF2B5EF4-FFF2-40B4-BE49-F238E27FC236}">
                <a16:creationId xmlns:a16="http://schemas.microsoft.com/office/drawing/2014/main" id="{8DD2481F-89D8-25C0-6E6F-7535C857EB4B}"/>
              </a:ext>
            </a:extLst>
          </p:cNvPr>
          <p:cNvCxnSpPr>
            <a:stCxn id="27" idx="3"/>
            <a:endCxn id="9" idx="1"/>
          </p:cNvCxnSpPr>
          <p:nvPr/>
        </p:nvCxnSpPr>
        <p:spPr>
          <a:xfrm flipV="1">
            <a:off x="2992582" y="2990174"/>
            <a:ext cx="967509" cy="12446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344917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17790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17790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222</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(4/5)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2996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억원미만물품구매</a:t>
            </a:r>
            <a:endParaRPr lang="en-US" altLang="ko-KR" sz="900" dirty="0">
              <a:solidFill>
                <a:schemeClr val="tx1"/>
              </a:solidFill>
            </a:endParaRPr>
          </a:p>
          <a:p>
            <a:pPr algn="ctr"/>
            <a:r>
              <a:rPr lang="en-US" altLang="ko-KR" sz="900" dirty="0">
                <a:solidFill>
                  <a:schemeClr val="tx1"/>
                </a:solidFill>
              </a:rPr>
              <a:t>PurchaseofItemsUnderKrw1B.tsx</a:t>
            </a:r>
            <a:r>
              <a:rPr lang="en-US" altLang="ko-KR" sz="900" b="1" baseline="30000" dirty="0">
                <a:solidFill>
                  <a:schemeClr val="tx1"/>
                </a:solidFill>
                <a:latin typeface="+mn-ea"/>
              </a:rPr>
              <a:t>1)</a:t>
            </a:r>
            <a:endParaRPr lang="en-US" altLang="ko-KR" sz="9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18187"/>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억원미만물품구매</a:t>
            </a:r>
            <a:r>
              <a:rPr lang="en-US" altLang="ko-KR" sz="900" dirty="0">
                <a:solidFill>
                  <a:schemeClr val="tx1"/>
                </a:solidFill>
              </a:rPr>
              <a:t>2015</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PurchaseofItemsUnderKrw1B</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881961"/>
            <a:ext cx="967509" cy="11082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0187"/>
            <a:ext cx="967509" cy="5199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3FD7B626-4B5C-AE29-EFB9-628750B32B78}"/>
              </a:ext>
            </a:extLst>
          </p:cNvPr>
          <p:cNvSpPr/>
          <p:nvPr/>
        </p:nvSpPr>
        <p:spPr>
          <a:xfrm>
            <a:off x="1265382" y="2806413"/>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억원미만물품제조</a:t>
            </a:r>
            <a:r>
              <a:rPr lang="en-US" altLang="ko-KR" sz="900" dirty="0">
                <a:solidFill>
                  <a:schemeClr val="tx1"/>
                </a:solidFill>
              </a:rPr>
              <a:t>2018</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ManufacturingofItemsUnderKrw1B</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4" name="직사각형 23">
            <a:extLst>
              <a:ext uri="{FF2B5EF4-FFF2-40B4-BE49-F238E27FC236}">
                <a16:creationId xmlns:a16="http://schemas.microsoft.com/office/drawing/2014/main" id="{04F2CFBC-290B-2E89-63C0-62C22747051D}"/>
              </a:ext>
            </a:extLst>
          </p:cNvPr>
          <p:cNvSpPr/>
          <p:nvPr/>
        </p:nvSpPr>
        <p:spPr>
          <a:xfrm>
            <a:off x="1265382" y="3394639"/>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억원미만물품구매</a:t>
            </a:r>
            <a:r>
              <a:rPr lang="en-US" altLang="ko-KR" sz="900" dirty="0">
                <a:solidFill>
                  <a:schemeClr val="tx1"/>
                </a:solidFill>
              </a:rPr>
              <a:t>2018</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PurchaseofItemsUnderkrw1B</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7" name="직사각형 26">
            <a:extLst>
              <a:ext uri="{FF2B5EF4-FFF2-40B4-BE49-F238E27FC236}">
                <a16:creationId xmlns:a16="http://schemas.microsoft.com/office/drawing/2014/main" id="{3FD7B626-4B5C-AE29-EFB9-628750B32B78}"/>
              </a:ext>
            </a:extLst>
          </p:cNvPr>
          <p:cNvSpPr/>
          <p:nvPr/>
        </p:nvSpPr>
        <p:spPr>
          <a:xfrm>
            <a:off x="1265382" y="3982865"/>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rPr>
              <a:t>고시금액미만</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err="1">
                <a:solidFill>
                  <a:schemeClr val="tx1"/>
                </a:solidFill>
              </a:rPr>
              <a:t>BelowThreshold</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8" name="직사각형 27">
            <a:extLst>
              <a:ext uri="{FF2B5EF4-FFF2-40B4-BE49-F238E27FC236}">
                <a16:creationId xmlns:a16="http://schemas.microsoft.com/office/drawing/2014/main" id="{04F2CFBC-290B-2E89-63C0-62C22747051D}"/>
              </a:ext>
            </a:extLst>
          </p:cNvPr>
          <p:cNvSpPr/>
          <p:nvPr/>
        </p:nvSpPr>
        <p:spPr>
          <a:xfrm>
            <a:off x="1265382" y="457109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rPr>
              <a:t>고시금액이상</a:t>
            </a:r>
            <a:r>
              <a:rPr lang="en-US" altLang="ko-KR" sz="900" dirty="0">
                <a:solidFill>
                  <a:schemeClr val="tx1"/>
                </a:solidFill>
              </a:rPr>
              <a:t>10</a:t>
            </a:r>
            <a:r>
              <a:rPr lang="ko-KR" altLang="en-US" sz="900" dirty="0" err="1">
                <a:solidFill>
                  <a:schemeClr val="tx1"/>
                </a:solidFill>
              </a:rPr>
              <a:t>억원미만</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a:solidFill>
                  <a:schemeClr val="tx1"/>
                </a:solidFill>
              </a:rPr>
              <a:t>ThresholdKrw1B.tsx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29" name="직선 화살표 연결선 28">
            <a:extLst>
              <a:ext uri="{FF2B5EF4-FFF2-40B4-BE49-F238E27FC236}">
                <a16:creationId xmlns:a16="http://schemas.microsoft.com/office/drawing/2014/main" id="{AF6B56CB-1ACF-E509-9762-CFE025648775}"/>
              </a:ext>
            </a:extLst>
          </p:cNvPr>
          <p:cNvCxnSpPr>
            <a:cxnSpLocks/>
            <a:stCxn id="23" idx="3"/>
            <a:endCxn id="9" idx="1"/>
          </p:cNvCxnSpPr>
          <p:nvPr/>
        </p:nvCxnSpPr>
        <p:spPr>
          <a:xfrm flipV="1">
            <a:off x="2992582" y="2990174"/>
            <a:ext cx="967509" cy="6823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직선 화살표 연결선 29">
            <a:extLst>
              <a:ext uri="{FF2B5EF4-FFF2-40B4-BE49-F238E27FC236}">
                <a16:creationId xmlns:a16="http://schemas.microsoft.com/office/drawing/2014/main" id="{AF6B56CB-1ACF-E509-9762-CFE025648775}"/>
              </a:ext>
            </a:extLst>
          </p:cNvPr>
          <p:cNvCxnSpPr>
            <a:cxnSpLocks/>
            <a:stCxn id="24" idx="3"/>
            <a:endCxn id="9" idx="1"/>
          </p:cNvCxnSpPr>
          <p:nvPr/>
        </p:nvCxnSpPr>
        <p:spPr>
          <a:xfrm flipV="1">
            <a:off x="2992582" y="2990174"/>
            <a:ext cx="967509" cy="6564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AF6B56CB-1ACF-E509-9762-CFE025648775}"/>
              </a:ext>
            </a:extLst>
          </p:cNvPr>
          <p:cNvCxnSpPr>
            <a:cxnSpLocks/>
            <a:stCxn id="27" idx="3"/>
            <a:endCxn id="9" idx="1"/>
          </p:cNvCxnSpPr>
          <p:nvPr/>
        </p:nvCxnSpPr>
        <p:spPr>
          <a:xfrm flipV="1">
            <a:off x="2992582" y="2990174"/>
            <a:ext cx="967509" cy="12446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AF6B56CB-1ACF-E509-9762-CFE025648775}"/>
              </a:ext>
            </a:extLst>
          </p:cNvPr>
          <p:cNvCxnSpPr>
            <a:cxnSpLocks/>
            <a:stCxn id="28" idx="3"/>
            <a:endCxn id="9" idx="1"/>
          </p:cNvCxnSpPr>
          <p:nvPr/>
        </p:nvCxnSpPr>
        <p:spPr>
          <a:xfrm flipV="1">
            <a:off x="2992582" y="2990174"/>
            <a:ext cx="967509" cy="1832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직사각형 36">
            <a:extLst>
              <a:ext uri="{FF2B5EF4-FFF2-40B4-BE49-F238E27FC236}">
                <a16:creationId xmlns:a16="http://schemas.microsoft.com/office/drawing/2014/main" id="{3549C3A0-99B5-8272-2427-EE10759356AC}"/>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1.3.3 </a:t>
            </a:r>
            <a:r>
              <a:rPr lang="ko-KR" altLang="en-US" sz="1200" dirty="0">
                <a:solidFill>
                  <a:schemeClr val="tx1"/>
                </a:solidFill>
              </a:rPr>
              <a:t>이행</a:t>
            </a:r>
            <a:r>
              <a:rPr lang="en-US" altLang="ko-KR" sz="1200" dirty="0">
                <a:solidFill>
                  <a:schemeClr val="tx1"/>
                </a:solidFill>
              </a:rPr>
              <a:t>/</a:t>
            </a:r>
            <a:r>
              <a:rPr lang="ko-KR" altLang="en-US" sz="1200" dirty="0">
                <a:solidFill>
                  <a:schemeClr val="tx1"/>
                </a:solidFill>
              </a:rPr>
              <a:t>적격심사 </a:t>
            </a:r>
            <a:r>
              <a:rPr lang="en-US" altLang="ko-KR" sz="1200" dirty="0">
                <a:solidFill>
                  <a:schemeClr val="tx1"/>
                </a:solidFill>
              </a:rPr>
              <a:t>(2/3)</a:t>
            </a:r>
            <a:endParaRPr lang="ko-KR" altLang="en-US" sz="1200" dirty="0">
              <a:solidFill>
                <a:schemeClr val="tx1"/>
              </a:solidFill>
            </a:endParaRPr>
          </a:p>
        </p:txBody>
      </p:sp>
      <p:sp>
        <p:nvSpPr>
          <p:cNvPr id="33"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32" name="직사각형 31">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이행적격심사</a:t>
            </a:r>
            <a:r>
              <a:rPr lang="en-US" altLang="ko-KR" sz="800" dirty="0"/>
              <a:t>Controller&gt;&gt;</a:t>
            </a:r>
          </a:p>
          <a:p>
            <a:pPr algn="ctr"/>
            <a:r>
              <a:rPr lang="en-US" altLang="ko-KR" sz="800" dirty="0" err="1" smtClean="0"/>
              <a:t>ImpltElgbSrngController</a:t>
            </a:r>
            <a:endParaRPr lang="en-US" altLang="ko-KR" sz="800" dirty="0"/>
          </a:p>
        </p:txBody>
      </p:sp>
      <p:cxnSp>
        <p:nvCxnSpPr>
          <p:cNvPr id="35" name="직선 연결선 34">
            <a:extLst>
              <a:ext uri="{FF2B5EF4-FFF2-40B4-BE49-F238E27FC236}">
                <a16:creationId xmlns:a16="http://schemas.microsoft.com/office/drawing/2014/main" id="{A8B10782-0A07-A41D-DB15-978B72410A31}"/>
              </a:ext>
            </a:extLst>
          </p:cNvPr>
          <p:cNvCxnSpPr>
            <a:endCxn id="32"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51100510"/>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221449"/>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221449"/>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223</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(5/5)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2996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err="1">
                <a:solidFill>
                  <a:schemeClr val="tx1"/>
                </a:solidFill>
              </a:rPr>
              <a:t>억원이상</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a:solidFill>
                  <a:schemeClr val="tx1"/>
                </a:solidFill>
              </a:rPr>
              <a:t>OverKrw1B.tsx</a:t>
            </a:r>
            <a:r>
              <a:rPr lang="en-US" altLang="ko-KR" sz="900" b="1" baseline="30000" dirty="0">
                <a:solidFill>
                  <a:schemeClr val="tx1"/>
                </a:solidFill>
                <a:latin typeface="+mn-ea"/>
              </a:rPr>
              <a:t>1)</a:t>
            </a:r>
            <a:endParaRPr lang="en-US" altLang="ko-KR" sz="9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18187"/>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공사</a:t>
            </a:r>
            <a:endParaRPr lang="en-US" altLang="ko-KR" sz="900" dirty="0">
              <a:solidFill>
                <a:schemeClr val="tx1"/>
              </a:solidFill>
            </a:endParaRPr>
          </a:p>
          <a:p>
            <a:pPr algn="ctr"/>
            <a:r>
              <a:rPr lang="en-US" altLang="ko-KR" sz="900" dirty="0">
                <a:solidFill>
                  <a:schemeClr val="tx1"/>
                </a:solidFill>
              </a:rPr>
              <a:t>Cstrn.tsx</a:t>
            </a:r>
            <a:r>
              <a:rPr lang="en-US" altLang="ko-KR" sz="900" b="1" baseline="30000" dirty="0">
                <a:solidFill>
                  <a:schemeClr val="tx1"/>
                </a:solidFill>
                <a:latin typeface="+mn-ea"/>
              </a:rPr>
              <a:t>1)</a:t>
            </a:r>
            <a:endParaRPr lang="en-US" altLang="ko-KR" sz="9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881961"/>
            <a:ext cx="967509" cy="11082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0187"/>
            <a:ext cx="967509" cy="5199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3FD7B626-4B5C-AE29-EFB9-628750B32B78}"/>
              </a:ext>
            </a:extLst>
          </p:cNvPr>
          <p:cNvSpPr/>
          <p:nvPr/>
        </p:nvSpPr>
        <p:spPr>
          <a:xfrm>
            <a:off x="1265382" y="2806413"/>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기술용역</a:t>
            </a:r>
            <a:endParaRPr lang="en-US" altLang="ko-KR" sz="900" dirty="0">
              <a:solidFill>
                <a:schemeClr val="tx1"/>
              </a:solidFill>
            </a:endParaRPr>
          </a:p>
          <a:p>
            <a:pPr algn="ctr"/>
            <a:r>
              <a:rPr lang="en-US" altLang="ko-KR" sz="900" dirty="0">
                <a:solidFill>
                  <a:schemeClr val="tx1"/>
                </a:solidFill>
              </a:rPr>
              <a:t>TechLbsvc.tsx</a:t>
            </a:r>
            <a:r>
              <a:rPr lang="en-US" altLang="ko-KR" sz="900" b="1" baseline="30000" dirty="0">
                <a:solidFill>
                  <a:schemeClr val="tx1"/>
                </a:solidFill>
                <a:latin typeface="+mn-ea"/>
              </a:rPr>
              <a:t>1)</a:t>
            </a:r>
            <a:endParaRPr lang="en-US" altLang="ko-KR" sz="900" dirty="0">
              <a:solidFill>
                <a:schemeClr val="tx1"/>
              </a:solidFill>
            </a:endParaRPr>
          </a:p>
        </p:txBody>
      </p:sp>
      <p:sp>
        <p:nvSpPr>
          <p:cNvPr id="24" name="직사각형 23">
            <a:extLst>
              <a:ext uri="{FF2B5EF4-FFF2-40B4-BE49-F238E27FC236}">
                <a16:creationId xmlns:a16="http://schemas.microsoft.com/office/drawing/2014/main" id="{04F2CFBC-290B-2E89-63C0-62C22747051D}"/>
              </a:ext>
            </a:extLst>
          </p:cNvPr>
          <p:cNvSpPr/>
          <p:nvPr/>
        </p:nvSpPr>
        <p:spPr>
          <a:xfrm>
            <a:off x="1265382" y="3394639"/>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3</a:t>
            </a:r>
            <a:r>
              <a:rPr lang="ko-KR" altLang="en-US" sz="900" dirty="0">
                <a:solidFill>
                  <a:schemeClr val="tx1"/>
                </a:solidFill>
              </a:rPr>
              <a:t>억원미만공사</a:t>
            </a:r>
            <a:endParaRPr lang="en-US" altLang="ko-KR" sz="900" dirty="0">
              <a:solidFill>
                <a:schemeClr val="tx1"/>
              </a:solidFill>
            </a:endParaRPr>
          </a:p>
          <a:p>
            <a:pPr algn="ctr"/>
            <a:r>
              <a:rPr lang="en-US" altLang="ko-KR" sz="900" dirty="0">
                <a:solidFill>
                  <a:schemeClr val="tx1"/>
                </a:solidFill>
              </a:rPr>
              <a:t>Krw300MCstrn.tsx</a:t>
            </a:r>
            <a:r>
              <a:rPr lang="en-US" altLang="ko-KR" sz="900" b="1" baseline="30000" dirty="0">
                <a:solidFill>
                  <a:schemeClr val="tx1"/>
                </a:solidFill>
                <a:latin typeface="+mn-ea"/>
              </a:rPr>
              <a:t>1)</a:t>
            </a:r>
            <a:endParaRPr lang="en-US" altLang="ko-KR" sz="900" dirty="0">
              <a:solidFill>
                <a:schemeClr val="tx1"/>
              </a:solidFill>
            </a:endParaRPr>
          </a:p>
        </p:txBody>
      </p:sp>
      <p:sp>
        <p:nvSpPr>
          <p:cNvPr id="27" name="직사각형 26">
            <a:extLst>
              <a:ext uri="{FF2B5EF4-FFF2-40B4-BE49-F238E27FC236}">
                <a16:creationId xmlns:a16="http://schemas.microsoft.com/office/drawing/2014/main" id="{3FD7B626-4B5C-AE29-EFB9-628750B32B78}"/>
              </a:ext>
            </a:extLst>
          </p:cNvPr>
          <p:cNvSpPr/>
          <p:nvPr/>
        </p:nvSpPr>
        <p:spPr>
          <a:xfrm>
            <a:off x="1265382" y="3982865"/>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rPr>
              <a:t>고시금액미만용역</a:t>
            </a:r>
            <a:endParaRPr lang="en-US" altLang="ko-KR" sz="900" dirty="0">
              <a:solidFill>
                <a:schemeClr val="tx1"/>
              </a:solidFill>
            </a:endParaRPr>
          </a:p>
          <a:p>
            <a:pPr algn="ctr"/>
            <a:r>
              <a:rPr lang="en-US" altLang="ko-KR" sz="900" dirty="0">
                <a:solidFill>
                  <a:schemeClr val="tx1"/>
                </a:solidFill>
              </a:rPr>
              <a:t>BelowThresholdLbsvc.tsx</a:t>
            </a:r>
            <a:r>
              <a:rPr lang="en-US" altLang="ko-KR" sz="900" b="1" baseline="30000" dirty="0">
                <a:solidFill>
                  <a:schemeClr val="tx1"/>
                </a:solidFill>
                <a:latin typeface="+mn-ea"/>
              </a:rPr>
              <a:t>1)</a:t>
            </a:r>
            <a:endParaRPr lang="en-US" altLang="ko-KR" sz="900" dirty="0">
              <a:solidFill>
                <a:schemeClr val="tx1"/>
              </a:solidFill>
            </a:endParaRPr>
          </a:p>
        </p:txBody>
      </p:sp>
      <p:sp>
        <p:nvSpPr>
          <p:cNvPr id="28" name="직사각형 27">
            <a:extLst>
              <a:ext uri="{FF2B5EF4-FFF2-40B4-BE49-F238E27FC236}">
                <a16:creationId xmlns:a16="http://schemas.microsoft.com/office/drawing/2014/main" id="{04F2CFBC-290B-2E89-63C0-62C22747051D}"/>
              </a:ext>
            </a:extLst>
          </p:cNvPr>
          <p:cNvSpPr/>
          <p:nvPr/>
        </p:nvSpPr>
        <p:spPr>
          <a:xfrm>
            <a:off x="1265382" y="457109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err="1">
                <a:solidFill>
                  <a:schemeClr val="tx1"/>
                </a:solidFill>
              </a:rPr>
              <a:t>고시금액미만폐기물용역</a:t>
            </a:r>
            <a:endParaRPr lang="en-US" altLang="ko-KR" sz="900" dirty="0">
              <a:solidFill>
                <a:schemeClr val="tx1"/>
              </a:solidFill>
            </a:endParaRPr>
          </a:p>
          <a:p>
            <a:pPr algn="ctr"/>
            <a:r>
              <a:rPr lang="en-US" altLang="ko-KR" sz="900" dirty="0" err="1">
                <a:solidFill>
                  <a:schemeClr val="tx1"/>
                </a:solidFill>
              </a:rPr>
              <a:t>BelowThresholdDspLbsvc</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29" name="직선 화살표 연결선 28">
            <a:extLst>
              <a:ext uri="{FF2B5EF4-FFF2-40B4-BE49-F238E27FC236}">
                <a16:creationId xmlns:a16="http://schemas.microsoft.com/office/drawing/2014/main" id="{AF6B56CB-1ACF-E509-9762-CFE025648775}"/>
              </a:ext>
            </a:extLst>
          </p:cNvPr>
          <p:cNvCxnSpPr>
            <a:cxnSpLocks/>
            <a:stCxn id="23" idx="3"/>
            <a:endCxn id="9" idx="1"/>
          </p:cNvCxnSpPr>
          <p:nvPr/>
        </p:nvCxnSpPr>
        <p:spPr>
          <a:xfrm flipV="1">
            <a:off x="2992582" y="2990174"/>
            <a:ext cx="967509" cy="6823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직선 화살표 연결선 29">
            <a:extLst>
              <a:ext uri="{FF2B5EF4-FFF2-40B4-BE49-F238E27FC236}">
                <a16:creationId xmlns:a16="http://schemas.microsoft.com/office/drawing/2014/main" id="{AF6B56CB-1ACF-E509-9762-CFE025648775}"/>
              </a:ext>
            </a:extLst>
          </p:cNvPr>
          <p:cNvCxnSpPr>
            <a:cxnSpLocks/>
            <a:stCxn id="24" idx="3"/>
            <a:endCxn id="9" idx="1"/>
          </p:cNvCxnSpPr>
          <p:nvPr/>
        </p:nvCxnSpPr>
        <p:spPr>
          <a:xfrm flipV="1">
            <a:off x="2992582" y="2990174"/>
            <a:ext cx="967509" cy="6564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AF6B56CB-1ACF-E509-9762-CFE025648775}"/>
              </a:ext>
            </a:extLst>
          </p:cNvPr>
          <p:cNvCxnSpPr>
            <a:cxnSpLocks/>
            <a:stCxn id="27" idx="3"/>
            <a:endCxn id="9" idx="1"/>
          </p:cNvCxnSpPr>
          <p:nvPr/>
        </p:nvCxnSpPr>
        <p:spPr>
          <a:xfrm flipV="1">
            <a:off x="2992582" y="2990174"/>
            <a:ext cx="967509" cy="12446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AF6B56CB-1ACF-E509-9762-CFE025648775}"/>
              </a:ext>
            </a:extLst>
          </p:cNvPr>
          <p:cNvCxnSpPr>
            <a:cxnSpLocks/>
            <a:stCxn id="28" idx="3"/>
            <a:endCxn id="9" idx="1"/>
          </p:cNvCxnSpPr>
          <p:nvPr/>
        </p:nvCxnSpPr>
        <p:spPr>
          <a:xfrm flipV="1">
            <a:off x="2992582" y="2990174"/>
            <a:ext cx="967509" cy="1832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직사각형 36">
            <a:extLst>
              <a:ext uri="{FF2B5EF4-FFF2-40B4-BE49-F238E27FC236}">
                <a16:creationId xmlns:a16="http://schemas.microsoft.com/office/drawing/2014/main" id="{3549C3A0-99B5-8272-2427-EE10759356AC}"/>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1.3.3 </a:t>
            </a:r>
            <a:r>
              <a:rPr lang="ko-KR" altLang="en-US" sz="1200" dirty="0">
                <a:solidFill>
                  <a:schemeClr val="tx1"/>
                </a:solidFill>
              </a:rPr>
              <a:t>이행</a:t>
            </a:r>
            <a:r>
              <a:rPr lang="en-US" altLang="ko-KR" sz="1200" dirty="0">
                <a:solidFill>
                  <a:schemeClr val="tx1"/>
                </a:solidFill>
              </a:rPr>
              <a:t>/</a:t>
            </a:r>
            <a:r>
              <a:rPr lang="ko-KR" altLang="en-US" sz="1200" dirty="0">
                <a:solidFill>
                  <a:schemeClr val="tx1"/>
                </a:solidFill>
              </a:rPr>
              <a:t>적격심사 </a:t>
            </a:r>
            <a:r>
              <a:rPr lang="en-US" altLang="ko-KR" sz="1200" dirty="0">
                <a:solidFill>
                  <a:schemeClr val="tx1"/>
                </a:solidFill>
              </a:rPr>
              <a:t>(3/3)</a:t>
            </a:r>
            <a:endParaRPr lang="ko-KR" altLang="en-US" sz="1200" dirty="0">
              <a:solidFill>
                <a:schemeClr val="tx1"/>
              </a:solidFill>
            </a:endParaRPr>
          </a:p>
        </p:txBody>
      </p:sp>
      <p:sp>
        <p:nvSpPr>
          <p:cNvPr id="32" name="직사각형 31">
            <a:extLst>
              <a:ext uri="{FF2B5EF4-FFF2-40B4-BE49-F238E27FC236}">
                <a16:creationId xmlns:a16="http://schemas.microsoft.com/office/drawing/2014/main" id="{04F2CFBC-290B-2E89-63C0-62C22747051D}"/>
              </a:ext>
            </a:extLst>
          </p:cNvPr>
          <p:cNvSpPr/>
          <p:nvPr/>
        </p:nvSpPr>
        <p:spPr>
          <a:xfrm>
            <a:off x="1265382" y="515312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ko-KR" altLang="en-US" sz="900" dirty="0">
                <a:solidFill>
                  <a:schemeClr val="tx1"/>
                </a:solidFill>
                <a:latin typeface="+mn-ea"/>
              </a:rPr>
              <a:t>이행</a:t>
            </a:r>
            <a:r>
              <a:rPr lang="en-US" altLang="ko-KR" sz="900" dirty="0">
                <a:solidFill>
                  <a:schemeClr val="tx1"/>
                </a:solidFill>
                <a:latin typeface="+mn-ea"/>
              </a:rPr>
              <a:t>/</a:t>
            </a:r>
            <a:r>
              <a:rPr lang="ko-KR" altLang="en-US" sz="900" dirty="0">
                <a:solidFill>
                  <a:schemeClr val="tx1"/>
                </a:solidFill>
                <a:latin typeface="+mn-ea"/>
              </a:rPr>
              <a:t>적격심사포기신청</a:t>
            </a:r>
            <a:endParaRPr lang="en-US" altLang="ko-KR" sz="900" dirty="0">
              <a:solidFill>
                <a:schemeClr val="tx1"/>
              </a:solidFill>
            </a:endParaRPr>
          </a:p>
          <a:p>
            <a:pPr algn="ctr"/>
            <a:r>
              <a:rPr lang="en-US" altLang="ko-KR" sz="900" dirty="0">
                <a:solidFill>
                  <a:schemeClr val="tx1"/>
                </a:solidFill>
              </a:rPr>
              <a:t>ImpltElgbSrngAbndAply.tsx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33" name="직선 화살표 연결선 32">
            <a:extLst>
              <a:ext uri="{FF2B5EF4-FFF2-40B4-BE49-F238E27FC236}">
                <a16:creationId xmlns:a16="http://schemas.microsoft.com/office/drawing/2014/main" id="{AF6B56CB-1ACF-E509-9762-CFE025648775}"/>
              </a:ext>
            </a:extLst>
          </p:cNvPr>
          <p:cNvCxnSpPr>
            <a:cxnSpLocks/>
            <a:stCxn id="32" idx="3"/>
            <a:endCxn id="9" idx="1"/>
          </p:cNvCxnSpPr>
          <p:nvPr/>
        </p:nvCxnSpPr>
        <p:spPr>
          <a:xfrm flipV="1">
            <a:off x="2992582" y="2990174"/>
            <a:ext cx="967509" cy="24149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36" name="직사각형 35">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이행적격심사</a:t>
            </a:r>
            <a:r>
              <a:rPr lang="en-US" altLang="ko-KR" sz="800" dirty="0"/>
              <a:t>Controller&gt;&gt;</a:t>
            </a:r>
          </a:p>
          <a:p>
            <a:pPr algn="ctr"/>
            <a:r>
              <a:rPr lang="en-US" altLang="ko-KR" sz="800" dirty="0" err="1" smtClean="0"/>
              <a:t>ImpltElgbSrngController</a:t>
            </a:r>
            <a:endParaRPr lang="en-US" altLang="ko-KR" sz="800" dirty="0"/>
          </a:p>
        </p:txBody>
      </p:sp>
      <p:cxnSp>
        <p:nvCxnSpPr>
          <p:cNvPr id="38" name="직선 연결선 37">
            <a:extLst>
              <a:ext uri="{FF2B5EF4-FFF2-40B4-BE49-F238E27FC236}">
                <a16:creationId xmlns:a16="http://schemas.microsoft.com/office/drawing/2014/main" id="{A8B10782-0A07-A41D-DB15-978B72410A31}"/>
              </a:ext>
            </a:extLst>
          </p:cNvPr>
          <p:cNvCxnSpPr>
            <a:endCxn id="36"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3371696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직사각형 17"/>
          <p:cNvSpPr/>
          <p:nvPr/>
        </p:nvSpPr>
        <p:spPr>
          <a:xfrm>
            <a:off x="668402" y="5589953"/>
            <a:ext cx="2719024" cy="13686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600" dirty="0" smtClean="0">
                <a:solidFill>
                  <a:schemeClr val="bg2">
                    <a:lumMod val="50000"/>
                  </a:schemeClr>
                </a:solidFill>
              </a:rPr>
              <a:t>접음</a:t>
            </a:r>
            <a:endParaRPr lang="ko-KR" altLang="en-US" sz="600" dirty="0">
              <a:solidFill>
                <a:schemeClr val="bg2">
                  <a:lumMod val="50000"/>
                </a:schemeClr>
              </a:solidFill>
            </a:endParaRPr>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공고 상단 공지사항은 기본 값으로 접힘 상태로 정보 제공</a:t>
            </a:r>
            <a:r>
              <a:rPr lang="en-US" altLang="ko-KR" dirty="0" smtClean="0"/>
              <a:t/>
            </a:r>
            <a:br>
              <a:rPr lang="en-US" altLang="ko-KR" dirty="0" smtClean="0"/>
            </a:br>
            <a:r>
              <a:rPr lang="en-US" altLang="ko-KR" dirty="0" smtClean="0"/>
              <a:t>- </a:t>
            </a:r>
            <a:r>
              <a:rPr lang="ko-KR" altLang="en-US" dirty="0" smtClean="0"/>
              <a:t>기본값 </a:t>
            </a:r>
            <a:r>
              <a:rPr lang="en-US" altLang="ko-KR" dirty="0" smtClean="0"/>
              <a:t>: </a:t>
            </a:r>
            <a:r>
              <a:rPr lang="ko-KR" altLang="en-US" dirty="0" smtClean="0"/>
              <a:t>접힘</a:t>
            </a:r>
            <a:r>
              <a:rPr lang="en-US" altLang="ko-KR" dirty="0" smtClean="0"/>
              <a:t/>
            </a:r>
            <a:br>
              <a:rPr lang="en-US" altLang="ko-KR" dirty="0" smtClean="0"/>
            </a:br>
            <a:r>
              <a:rPr lang="en-US" altLang="ko-KR" dirty="0" smtClean="0"/>
              <a:t>- </a:t>
            </a:r>
            <a:r>
              <a:rPr lang="ko-KR" altLang="en-US" dirty="0" smtClean="0"/>
              <a:t>사용자 </a:t>
            </a:r>
            <a:r>
              <a:rPr lang="ko-KR" altLang="en-US" dirty="0" err="1" smtClean="0"/>
              <a:t>클릭시</a:t>
            </a:r>
            <a:r>
              <a:rPr lang="ko-KR" altLang="en-US" dirty="0" smtClean="0"/>
              <a:t> 확장하여 정보 표시</a:t>
            </a:r>
            <a:endParaRPr lang="en-US" altLang="ko-KR" dirty="0" smtClean="0"/>
          </a:p>
          <a:p>
            <a:pPr marL="228600" indent="-228600">
              <a:buFont typeface="+mj-lt"/>
              <a:buAutoNum type="arabicPeriod"/>
            </a:pPr>
            <a:r>
              <a:rPr lang="ko-KR" altLang="en-US" dirty="0" smtClean="0"/>
              <a:t>건수</a:t>
            </a:r>
            <a:r>
              <a:rPr lang="en-US" altLang="ko-KR" dirty="0"/>
              <a:t>, </a:t>
            </a:r>
            <a:r>
              <a:rPr lang="ko-KR" altLang="en-US" dirty="0"/>
              <a:t>개수 표시</a:t>
            </a:r>
            <a:endParaRPr lang="en-US" altLang="ko-KR" dirty="0"/>
          </a:p>
          <a:p>
            <a:pPr marL="228600" indent="-228600">
              <a:buFont typeface="+mj-lt"/>
              <a:buAutoNum type="arabicPeriod"/>
            </a:pPr>
            <a:r>
              <a:rPr lang="ko-KR" altLang="en-US" dirty="0"/>
              <a:t>목록 표시</a:t>
            </a:r>
            <a:r>
              <a:rPr lang="en-US" altLang="ko-KR" dirty="0"/>
              <a:t/>
            </a:r>
            <a:br>
              <a:rPr lang="en-US" altLang="ko-KR" dirty="0"/>
            </a:br>
            <a:r>
              <a:rPr lang="en-US" altLang="ko-KR" dirty="0"/>
              <a:t>- </a:t>
            </a:r>
            <a:r>
              <a:rPr lang="ko-KR" altLang="en-US" dirty="0"/>
              <a:t>상단 레이블을 통한 정보 제공</a:t>
            </a:r>
            <a:r>
              <a:rPr lang="en-US" altLang="ko-KR" dirty="0"/>
              <a:t/>
            </a:r>
            <a:br>
              <a:rPr lang="en-US" altLang="ko-KR" dirty="0"/>
            </a:br>
            <a:r>
              <a:rPr lang="en-US" altLang="ko-KR" dirty="0"/>
              <a:t>- </a:t>
            </a:r>
            <a:r>
              <a:rPr lang="ko-KR" altLang="en-US" dirty="0"/>
              <a:t>제목 </a:t>
            </a:r>
            <a:r>
              <a:rPr lang="en-US" altLang="ko-KR" dirty="0"/>
              <a:t>2</a:t>
            </a:r>
            <a:r>
              <a:rPr lang="ko-KR" altLang="en-US" dirty="0"/>
              <a:t>줄 표시 이후 </a:t>
            </a:r>
            <a:r>
              <a:rPr lang="ko-KR" altLang="en-US" dirty="0" err="1"/>
              <a:t>말줄임표</a:t>
            </a:r>
            <a:r>
              <a:rPr lang="en-US" altLang="ko-KR" dirty="0"/>
              <a:t>(…)</a:t>
            </a:r>
            <a:br>
              <a:rPr lang="en-US" altLang="ko-KR" dirty="0"/>
            </a:br>
            <a:r>
              <a:rPr lang="en-US" altLang="ko-KR" dirty="0"/>
              <a:t>- </a:t>
            </a:r>
            <a:r>
              <a:rPr lang="ko-KR" altLang="en-US" dirty="0"/>
              <a:t>카드 클릭으로 상세 </a:t>
            </a:r>
            <a:r>
              <a:rPr lang="ko-KR" altLang="en-US" dirty="0" smtClean="0"/>
              <a:t>이동</a:t>
            </a:r>
            <a:r>
              <a:rPr lang="en-US" altLang="ko-KR" dirty="0" smtClean="0"/>
              <a:t/>
            </a:r>
            <a:br>
              <a:rPr lang="en-US" altLang="ko-KR" dirty="0" smtClean="0"/>
            </a:br>
            <a:r>
              <a:rPr lang="ko-KR" altLang="en-US" dirty="0"/>
              <a:t>등록된 </a:t>
            </a:r>
            <a:r>
              <a:rPr lang="ko-KR" altLang="en-US" dirty="0" err="1"/>
              <a:t>공고중</a:t>
            </a:r>
            <a:r>
              <a:rPr lang="en-US" altLang="ko-KR" dirty="0"/>
              <a:t>, </a:t>
            </a:r>
            <a:r>
              <a:rPr lang="ko-KR" altLang="en-US" dirty="0"/>
              <a:t>개찰까지 진행된 항목 </a:t>
            </a:r>
            <a:r>
              <a:rPr lang="ko-KR" altLang="en-US" dirty="0" err="1"/>
              <a:t>전체노출</a:t>
            </a:r>
            <a:r>
              <a:rPr lang="en-US" altLang="ko-KR" dirty="0"/>
              <a:t/>
            </a:r>
            <a:br>
              <a:rPr lang="en-US" altLang="ko-KR" dirty="0"/>
            </a:br>
            <a:r>
              <a:rPr lang="en-US" altLang="ko-KR" dirty="0"/>
              <a:t>- </a:t>
            </a:r>
            <a:r>
              <a:rPr lang="ko-KR" altLang="en-US" dirty="0"/>
              <a:t>타인의 개찰 정보 확인 가능 </a:t>
            </a:r>
            <a:r>
              <a:rPr lang="en-US" altLang="ko-KR" dirty="0"/>
              <a:t>(</a:t>
            </a:r>
            <a:r>
              <a:rPr lang="ko-KR" altLang="en-US" dirty="0"/>
              <a:t>중요 정보 </a:t>
            </a:r>
            <a:r>
              <a:rPr lang="en-US" altLang="ko-KR" dirty="0"/>
              <a:t>* </a:t>
            </a:r>
            <a:r>
              <a:rPr lang="ko-KR" altLang="en-US" dirty="0"/>
              <a:t>표시</a:t>
            </a:r>
            <a:r>
              <a:rPr lang="en-US" altLang="ko-KR" dirty="0" smtClean="0"/>
              <a:t>)</a:t>
            </a:r>
            <a:br>
              <a:rPr lang="en-US" altLang="ko-KR" dirty="0" smtClean="0"/>
            </a:br>
            <a:r>
              <a:rPr lang="ko-KR" altLang="en-US" sz="700" dirty="0" smtClean="0">
                <a:solidFill>
                  <a:srgbClr val="FF0000"/>
                </a:solidFill>
              </a:rPr>
              <a:t>ㄴ 레이아웃 </a:t>
            </a:r>
            <a:r>
              <a:rPr lang="ko-KR" altLang="en-US" sz="700" dirty="0" err="1" smtClean="0">
                <a:solidFill>
                  <a:srgbClr val="FF0000"/>
                </a:solidFill>
              </a:rPr>
              <a:t>변경필요</a:t>
            </a:r>
            <a:r>
              <a:rPr lang="en-US" altLang="ko-KR" sz="700" dirty="0" smtClean="0">
                <a:solidFill>
                  <a:srgbClr val="FF0000"/>
                </a:solidFill>
              </a:rPr>
              <a:t>,</a:t>
            </a:r>
            <a:br>
              <a:rPr lang="en-US" altLang="ko-KR" sz="700" dirty="0" smtClean="0">
                <a:solidFill>
                  <a:srgbClr val="FF0000"/>
                </a:solidFill>
              </a:rPr>
            </a:br>
            <a:r>
              <a:rPr lang="ko-KR" altLang="en-US" sz="700" dirty="0" smtClean="0">
                <a:solidFill>
                  <a:srgbClr val="FF0000"/>
                </a:solidFill>
              </a:rPr>
              <a:t>각 </a:t>
            </a:r>
            <a:r>
              <a:rPr lang="ko-KR" altLang="en-US" sz="700" dirty="0" err="1" smtClean="0">
                <a:solidFill>
                  <a:srgbClr val="FF0000"/>
                </a:solidFill>
              </a:rPr>
              <a:t>목록마다</a:t>
            </a:r>
            <a:r>
              <a:rPr lang="ko-KR" altLang="en-US" sz="700" dirty="0" smtClean="0">
                <a:solidFill>
                  <a:srgbClr val="FF0000"/>
                </a:solidFill>
              </a:rPr>
              <a:t> 추가로 </a:t>
            </a:r>
            <a:r>
              <a:rPr lang="ko-KR" altLang="en-US" sz="700" dirty="0" err="1" smtClean="0">
                <a:solidFill>
                  <a:srgbClr val="FF0000"/>
                </a:solidFill>
              </a:rPr>
              <a:t>노출되어야하는</a:t>
            </a:r>
            <a:r>
              <a:rPr lang="ko-KR" altLang="en-US" sz="700" dirty="0" smtClean="0">
                <a:solidFill>
                  <a:srgbClr val="FF0000"/>
                </a:solidFill>
              </a:rPr>
              <a:t> 항목들이 있는데</a:t>
            </a:r>
            <a:r>
              <a:rPr lang="en-US" altLang="ko-KR" sz="700" dirty="0" smtClean="0">
                <a:solidFill>
                  <a:srgbClr val="FF0000"/>
                </a:solidFill>
              </a:rPr>
              <a:t>, </a:t>
            </a:r>
            <a:r>
              <a:rPr lang="ko-KR" altLang="en-US" sz="700" dirty="0" smtClean="0">
                <a:solidFill>
                  <a:srgbClr val="FF0000"/>
                </a:solidFill>
              </a:rPr>
              <a:t>전부 레이블로 표시하긴 어려워 하단 </a:t>
            </a:r>
            <a:r>
              <a:rPr lang="ko-KR" altLang="en-US" sz="700" dirty="0" err="1" smtClean="0">
                <a:solidFill>
                  <a:srgbClr val="FF0000"/>
                </a:solidFill>
              </a:rPr>
              <a:t>펼침형태로</a:t>
            </a:r>
            <a:r>
              <a:rPr lang="ko-KR" altLang="en-US" sz="700" dirty="0" smtClean="0">
                <a:solidFill>
                  <a:srgbClr val="FF0000"/>
                </a:solidFill>
              </a:rPr>
              <a:t> 제안</a:t>
            </a:r>
            <a:r>
              <a:rPr lang="en-US" altLang="ko-KR" sz="700" dirty="0" smtClean="0">
                <a:solidFill>
                  <a:srgbClr val="FF0000"/>
                </a:solidFill>
              </a:rPr>
              <a:t>.</a:t>
            </a:r>
            <a:br>
              <a:rPr lang="en-US" altLang="ko-KR" sz="700" dirty="0" smtClean="0">
                <a:solidFill>
                  <a:srgbClr val="FF0000"/>
                </a:solidFill>
              </a:rPr>
            </a:br>
            <a:r>
              <a:rPr lang="ko-KR" altLang="en-US" sz="700" dirty="0" smtClean="0">
                <a:solidFill>
                  <a:srgbClr val="FF0000"/>
                </a:solidFill>
              </a:rPr>
              <a:t>추후 담당</a:t>
            </a:r>
            <a:r>
              <a:rPr lang="en-US" altLang="ko-KR" sz="700" dirty="0">
                <a:solidFill>
                  <a:srgbClr val="FF0000"/>
                </a:solidFill>
              </a:rPr>
              <a:t> </a:t>
            </a:r>
            <a:r>
              <a:rPr lang="ko-KR" altLang="en-US" sz="700" dirty="0" smtClean="0">
                <a:solidFill>
                  <a:srgbClr val="FF0000"/>
                </a:solidFill>
              </a:rPr>
              <a:t>기획자의 의도 반영된 레이아웃 변경이 필요할 수 있음</a:t>
            </a:r>
            <a:r>
              <a:rPr lang="en-US" altLang="ko-KR" sz="700" dirty="0" smtClean="0">
                <a:solidFill>
                  <a:srgbClr val="FF0000"/>
                </a:solidFill>
              </a:rPr>
              <a:t>.</a:t>
            </a:r>
            <a:r>
              <a:rPr lang="en-US" altLang="ko-KR" dirty="0"/>
              <a:t/>
            </a:r>
            <a:br>
              <a:rPr lang="en-US" altLang="ko-KR" dirty="0"/>
            </a:br>
            <a:r>
              <a:rPr lang="en-US" altLang="ko-KR" dirty="0"/>
              <a:t>- </a:t>
            </a:r>
            <a:r>
              <a:rPr lang="ko-KR" altLang="en-US" dirty="0"/>
              <a:t>자신의 개찰 정보 전체 노출 확인</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r>
              <a:rPr lang="ko-KR" altLang="en-US" dirty="0"/>
              <a:t>표시 레이블</a:t>
            </a:r>
            <a:r>
              <a:rPr lang="en-US" altLang="ko-KR" dirty="0"/>
              <a:t/>
            </a:r>
            <a:br>
              <a:rPr lang="en-US" altLang="ko-KR" dirty="0"/>
            </a:br>
            <a:r>
              <a:rPr lang="en-US" altLang="ko-KR" dirty="0"/>
              <a:t>- </a:t>
            </a:r>
            <a:r>
              <a:rPr lang="ko-KR" altLang="en-US" dirty="0"/>
              <a:t>입찰 공고 목록과 동일하게 사용</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개찰목록</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t>개찰일시가</a:t>
            </a:r>
            <a:r>
              <a:rPr lang="ko-KR" altLang="en-US" dirty="0"/>
              <a:t> 도래한 이후 개찰 처리 및 결과를 확인하기 위한 통합 </a:t>
            </a:r>
            <a:r>
              <a:rPr lang="ko-KR" altLang="en-US" dirty="0" err="1"/>
              <a:t>목록조회</a:t>
            </a:r>
            <a:r>
              <a:rPr lang="ko-KR" altLang="en-US" dirty="0"/>
              <a:t> 화면이다</a:t>
            </a:r>
            <a:r>
              <a:rPr lang="en-US" altLang="ko-KR" dirty="0"/>
              <a:t>.</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a:xfrm>
            <a:off x="956623" y="762964"/>
            <a:ext cx="1404000" cy="193878"/>
          </a:xfrm>
        </p:spPr>
        <p:txBody>
          <a:bodyPr/>
          <a:lstStyle/>
          <a:p>
            <a:r>
              <a:rPr lang="en-US" altLang="ko-KR" dirty="0">
                <a:solidFill>
                  <a:srgbClr val="000000"/>
                </a:solidFill>
                <a:latin typeface="맑은 고딕" panose="020B0503020000020004" pitchFamily="50" charset="-127"/>
              </a:rPr>
              <a:t>MUI-BD-08-M01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6935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81266"/>
            <a:ext cx="172130" cy="172130"/>
          </a:xfrm>
          <a:prstGeom prst="ellipse">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1</a:t>
            </a:r>
            <a:endParaRPr lang="ko-KR" altLang="en-US" sz="1200" dirty="0"/>
          </a:p>
        </p:txBody>
      </p:sp>
      <p:sp>
        <p:nvSpPr>
          <p:cNvPr id="52" name="타원 51">
            <a:extLst>
              <a:ext uri="{FF2B5EF4-FFF2-40B4-BE49-F238E27FC236}">
                <a16:creationId xmlns:a16="http://schemas.microsoft.com/office/drawing/2014/main" id="{37A7FF4F-0EAA-1463-560A-D5EC24416103}"/>
              </a:ext>
            </a:extLst>
          </p:cNvPr>
          <p:cNvSpPr/>
          <p:nvPr/>
        </p:nvSpPr>
        <p:spPr>
          <a:xfrm>
            <a:off x="571127" y="2760674"/>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2</a:t>
            </a:r>
            <a:endParaRPr lang="ko-KR" altLang="en-US" sz="1200"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3960283"/>
            <a:ext cx="2473257" cy="50783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smtClean="0">
                <a:latin typeface="+mn-ea"/>
              </a:rPr>
              <a:t>통합참조번호 </a:t>
            </a:r>
            <a:r>
              <a:rPr lang="en-US" altLang="ko-KR" sz="700" dirty="0" smtClean="0"/>
              <a:t>2026LGM000604191-01</a:t>
            </a:r>
            <a:endParaRPr lang="en-US" altLang="ko-KR" sz="700" dirty="0"/>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a:t>
            </a:r>
            <a:r>
              <a:rPr lang="ko-KR" altLang="en-US" sz="900" b="1" dirty="0" smtClean="0"/>
              <a:t>납품</a:t>
            </a:r>
            <a:endParaRPr lang="en-US" altLang="ko-KR" sz="900" b="1" dirty="0" smtClean="0"/>
          </a:p>
          <a:p>
            <a:r>
              <a:rPr lang="en-US" altLang="ko-KR" sz="700" dirty="0" smtClean="0">
                <a:latin typeface="+mn-ea"/>
              </a:rPr>
              <a:t>G2B</a:t>
            </a:r>
            <a:r>
              <a:rPr lang="ko-KR" altLang="en-US" sz="700" dirty="0" err="1" smtClean="0">
                <a:latin typeface="+mn-ea"/>
              </a:rPr>
              <a:t>공고번호</a:t>
            </a:r>
            <a:r>
              <a:rPr lang="ko-KR" altLang="en-US" sz="700" dirty="0" smtClean="0">
                <a:latin typeface="+mn-ea"/>
              </a:rPr>
              <a:t> </a:t>
            </a:r>
            <a:r>
              <a:rPr lang="en-US" altLang="ko-KR" sz="700" dirty="0"/>
              <a:t>2026LGM000604191-01</a:t>
            </a:r>
          </a:p>
          <a:p>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2875" y="4394130"/>
            <a:ext cx="461665" cy="11079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품목명 </a:t>
            </a:r>
            <a:endParaRPr lang="en-US" altLang="ko-KR" sz="600" dirty="0" smtClean="0">
              <a:latin typeface="+mn-ea"/>
            </a:endParaRPr>
          </a:p>
          <a:p>
            <a:pPr>
              <a:lnSpc>
                <a:spcPct val="150000"/>
              </a:lnSpc>
            </a:pPr>
            <a:r>
              <a:rPr lang="ko-KR" altLang="en-US" sz="600" dirty="0" smtClean="0">
                <a:latin typeface="+mn-ea"/>
              </a:rPr>
              <a:t>입찰결과</a:t>
            </a:r>
            <a:endParaRPr lang="en-US" altLang="ko-KR" sz="600" dirty="0" smtClean="0">
              <a:latin typeface="+mn-ea"/>
            </a:endParaRPr>
          </a:p>
          <a:p>
            <a:pPr>
              <a:lnSpc>
                <a:spcPct val="150000"/>
              </a:lnSpc>
            </a:pPr>
            <a:r>
              <a:rPr lang="ko-KR" altLang="en-US" sz="600" dirty="0" smtClean="0">
                <a:latin typeface="+mn-ea"/>
              </a:rPr>
              <a:t>진행상태</a:t>
            </a:r>
            <a:endParaRPr lang="en-US" altLang="ko-KR" sz="600" dirty="0" smtClean="0">
              <a:latin typeface="+mn-ea"/>
            </a:endParaRPr>
          </a:p>
          <a:p>
            <a:pPr>
              <a:lnSpc>
                <a:spcPct val="150000"/>
              </a:lnSpc>
            </a:pPr>
            <a:endParaRPr lang="en-US" altLang="ko-KR" sz="600" dirty="0" smtClean="0">
              <a:latin typeface="+mn-ea"/>
            </a:endParaRPr>
          </a:p>
          <a:p>
            <a:pPr>
              <a:lnSpc>
                <a:spcPct val="150000"/>
              </a:lnSpc>
            </a:pPr>
            <a:r>
              <a:rPr lang="ko-KR" altLang="en-US" sz="600" dirty="0" err="1" smtClean="0">
                <a:latin typeface="+mn-ea"/>
              </a:rPr>
              <a:t>개찰일시</a:t>
            </a:r>
            <a:endParaRPr lang="en-US" altLang="ko-KR" sz="600" dirty="0" smtClean="0">
              <a:latin typeface="+mn-ea"/>
            </a:endParaRPr>
          </a:p>
          <a:p>
            <a:pPr>
              <a:lnSpc>
                <a:spcPct val="150000"/>
              </a:lnSpc>
            </a:pPr>
            <a:r>
              <a:rPr lang="ko-KR" altLang="en-US" sz="600" dirty="0" err="1" smtClean="0">
                <a:latin typeface="+mn-ea"/>
              </a:rPr>
              <a:t>협상일시</a:t>
            </a:r>
            <a:endParaRPr lang="en-US" altLang="ko-KR" sz="600" dirty="0" smtClean="0">
              <a:latin typeface="+mn-ea"/>
            </a:endParaRPr>
          </a:p>
          <a:p>
            <a:pPr>
              <a:lnSpc>
                <a:spcPct val="150000"/>
              </a:lnSpc>
            </a:pPr>
            <a:r>
              <a:rPr lang="ko-KR" altLang="en-US" sz="600" dirty="0" smtClean="0">
                <a:latin typeface="+mn-ea"/>
              </a:rPr>
              <a:t>협상진행상태</a:t>
            </a:r>
            <a:endParaRPr lang="en-US" altLang="ko-KR" sz="600" dirty="0" smtClean="0">
              <a:latin typeface="+mn-ea"/>
            </a:endParaRPr>
          </a:p>
          <a:p>
            <a:pPr>
              <a:lnSpc>
                <a:spcPct val="150000"/>
              </a:lnSpc>
            </a:pPr>
            <a:r>
              <a:rPr lang="ko-KR" altLang="en-US" sz="600" dirty="0" smtClean="0">
                <a:latin typeface="+mn-ea"/>
              </a:rPr>
              <a:t>발주기관</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4962031"/>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2026-03-26 </a:t>
            </a:r>
            <a:r>
              <a:rPr lang="en-US" altLang="ko-KR" sz="600" dirty="0" smtClean="0">
                <a:latin typeface="+mn-ea"/>
              </a:rPr>
              <a:t>11:00</a:t>
            </a:r>
          </a:p>
          <a:p>
            <a:pPr>
              <a:lnSpc>
                <a:spcPct val="150000"/>
              </a:lnSpc>
            </a:pPr>
            <a:r>
              <a:rPr lang="ko-KR" altLang="en-US" sz="600" dirty="0" err="1" smtClean="0">
                <a:latin typeface="+mn-ea"/>
              </a:rPr>
              <a:t>계획확정</a:t>
            </a:r>
            <a:endParaRPr lang="en-US" altLang="ko-KR" sz="600" dirty="0" smtClean="0">
              <a:latin typeface="+mn-ea"/>
            </a:endParaRPr>
          </a:p>
          <a:p>
            <a:pPr>
              <a:lnSpc>
                <a:spcPct val="150000"/>
              </a:lnSpc>
            </a:pPr>
            <a:r>
              <a:rPr lang="ko-KR" altLang="en-US" sz="600" dirty="0" smtClean="0">
                <a:latin typeface="+mn-ea"/>
              </a:rPr>
              <a:t>국방부</a:t>
            </a:r>
            <a:endParaRPr lang="ko-KR" altLang="en-US" sz="600" dirty="0">
              <a:latin typeface="+mn-ea"/>
            </a:endParaRPr>
          </a:p>
        </p:txBody>
      </p:sp>
      <p:sp>
        <p:nvSpPr>
          <p:cNvPr id="67" name="모서리가 둥근 직사각형 66"/>
          <p:cNvSpPr/>
          <p:nvPr/>
        </p:nvSpPr>
        <p:spPr>
          <a:xfrm>
            <a:off x="781461" y="3775952"/>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3775952"/>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grpSp>
        <p:nvGrpSpPr>
          <p:cNvPr id="69" name="그룹 68">
            <a:extLst>
              <a:ext uri="{FF2B5EF4-FFF2-40B4-BE49-F238E27FC236}">
                <a16:creationId xmlns:a16="http://schemas.microsoft.com/office/drawing/2014/main" id="{22BC05EE-C648-7CA2-4CCC-6E1C1A7E9BDA}"/>
              </a:ext>
            </a:extLst>
          </p:cNvPr>
          <p:cNvGrpSpPr/>
          <p:nvPr/>
        </p:nvGrpSpPr>
        <p:grpSpPr>
          <a:xfrm>
            <a:off x="1992981" y="5789789"/>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9" name="직선 연결선 78">
            <a:extLst>
              <a:ext uri="{FF2B5EF4-FFF2-40B4-BE49-F238E27FC236}">
                <a16:creationId xmlns:a16="http://schemas.microsoft.com/office/drawing/2014/main" id="{E9293055-D5CD-4B9E-7F64-64B2D2CA7A52}"/>
              </a:ext>
            </a:extLst>
          </p:cNvPr>
          <p:cNvCxnSpPr/>
          <p:nvPr/>
        </p:nvCxnSpPr>
        <p:spPr>
          <a:xfrm>
            <a:off x="668402" y="484257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35991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263258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2325095"/>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235644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2438426"/>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4" name="타원 133">
            <a:extLst>
              <a:ext uri="{FF2B5EF4-FFF2-40B4-BE49-F238E27FC236}">
                <a16:creationId xmlns:a16="http://schemas.microsoft.com/office/drawing/2014/main" id="{37A7FF4F-0EAA-1463-560A-D5EC24416103}"/>
              </a:ext>
            </a:extLst>
          </p:cNvPr>
          <p:cNvSpPr/>
          <p:nvPr/>
        </p:nvSpPr>
        <p:spPr>
          <a:xfrm>
            <a:off x="571127" y="4141834"/>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3</a:t>
            </a:r>
            <a:endParaRPr lang="ko-KR" altLang="en-US" sz="1200" dirty="0"/>
          </a:p>
        </p:txBody>
      </p:sp>
      <p:sp>
        <p:nvSpPr>
          <p:cNvPr id="135" name="타원 134">
            <a:extLst>
              <a:ext uri="{FF2B5EF4-FFF2-40B4-BE49-F238E27FC236}">
                <a16:creationId xmlns:a16="http://schemas.microsoft.com/office/drawing/2014/main" id="{37A7FF4F-0EAA-1463-560A-D5EC24416103}"/>
              </a:ext>
            </a:extLst>
          </p:cNvPr>
          <p:cNvSpPr/>
          <p:nvPr/>
        </p:nvSpPr>
        <p:spPr>
          <a:xfrm>
            <a:off x="571127" y="5920508"/>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4</a:t>
            </a:r>
            <a:endParaRPr lang="ko-KR" altLang="en-US" sz="1200" dirty="0"/>
          </a:p>
        </p:txBody>
      </p:sp>
      <p:sp>
        <p:nvSpPr>
          <p:cNvPr id="160" name="타원 159">
            <a:extLst>
              <a:ext uri="{FF2B5EF4-FFF2-40B4-BE49-F238E27FC236}">
                <a16:creationId xmlns:a16="http://schemas.microsoft.com/office/drawing/2014/main" id="{37A7FF4F-0EAA-1463-560A-D5EC24416103}"/>
              </a:ext>
            </a:extLst>
          </p:cNvPr>
          <p:cNvSpPr/>
          <p:nvPr/>
        </p:nvSpPr>
        <p:spPr>
          <a:xfrm>
            <a:off x="3572647" y="1456212"/>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5</a:t>
            </a:r>
            <a:endParaRPr lang="ko-KR" altLang="en-US" sz="1200" dirty="0"/>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59018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675399" y="322815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778515" y="3297144"/>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2,010</a:t>
            </a:r>
            <a:r>
              <a:rPr lang="en-US" altLang="ko-KR" sz="700" dirty="0">
                <a:latin typeface="+mn-ea"/>
              </a:rPr>
              <a:t> </a:t>
            </a:r>
            <a:r>
              <a:rPr lang="ko-KR" altLang="en-US" sz="700" dirty="0">
                <a:latin typeface="+mn-ea"/>
              </a:rPr>
              <a:t>건</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278206" y="3293090"/>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2727990" y="3293090"/>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184" name="그룹 183"/>
          <p:cNvGrpSpPr/>
          <p:nvPr/>
        </p:nvGrpSpPr>
        <p:grpSpPr>
          <a:xfrm>
            <a:off x="3143548" y="3394913"/>
            <a:ext cx="94010" cy="47005"/>
            <a:chOff x="6812560" y="3297172"/>
            <a:chExt cx="94010" cy="47005"/>
          </a:xfrm>
        </p:grpSpPr>
        <p:cxnSp>
          <p:nvCxnSpPr>
            <p:cNvPr id="185" name="직선 연결선 18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6" name="직선 연결선 18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87" name="그룹 186"/>
          <p:cNvGrpSpPr/>
          <p:nvPr/>
        </p:nvGrpSpPr>
        <p:grpSpPr>
          <a:xfrm>
            <a:off x="767702" y="2692701"/>
            <a:ext cx="2527420" cy="477995"/>
            <a:chOff x="786326" y="2270279"/>
            <a:chExt cx="2527420" cy="477995"/>
          </a:xfrm>
        </p:grpSpPr>
        <p:sp>
          <p:nvSpPr>
            <p:cNvPr id="188" name="모서리가 둥근 직사각형 187"/>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9" name="타원 188"/>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91" name="그룹 190"/>
            <p:cNvGrpSpPr/>
            <p:nvPr/>
          </p:nvGrpSpPr>
          <p:grpSpPr>
            <a:xfrm>
              <a:off x="795624" y="2274581"/>
              <a:ext cx="1299303" cy="155984"/>
              <a:chOff x="808107" y="2288229"/>
              <a:chExt cx="1189739" cy="168318"/>
            </a:xfrm>
          </p:grpSpPr>
          <p:sp>
            <p:nvSpPr>
              <p:cNvPr id="198"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공고명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9"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공고번호</a:t>
                </a:r>
                <a:endParaRPr kumimoji="1" lang="en-US" sz="800" b="0" i="0" u="none" strike="noStrike" kern="0" cap="none" spc="0" normalizeH="0" baseline="0" noProof="0" dirty="0">
                  <a:ln>
                    <a:noFill/>
                  </a:ln>
                  <a:effectLst/>
                  <a:uLnTx/>
                  <a:uFillTx/>
                  <a:latin typeface="맑은 고딕"/>
                </a:endParaRPr>
              </a:p>
            </p:txBody>
          </p:sp>
        </p:grpSp>
        <p:sp>
          <p:nvSpPr>
            <p:cNvPr id="192" name="타원 191"/>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193"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94" name="타원 193"/>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5" name="그룹 194"/>
            <p:cNvGrpSpPr/>
            <p:nvPr/>
          </p:nvGrpSpPr>
          <p:grpSpPr>
            <a:xfrm>
              <a:off x="2901631" y="2585953"/>
              <a:ext cx="58075" cy="58074"/>
              <a:chOff x="6812560" y="3297172"/>
              <a:chExt cx="94010" cy="94010"/>
            </a:xfrm>
          </p:grpSpPr>
          <p:cxnSp>
            <p:nvCxnSpPr>
              <p:cNvPr id="196" name="직선 연결선 19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7" name="직선 연결선 19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54"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78" name="그룹 177"/>
          <p:cNvGrpSpPr/>
          <p:nvPr/>
        </p:nvGrpSpPr>
        <p:grpSpPr>
          <a:xfrm>
            <a:off x="677960" y="1582647"/>
            <a:ext cx="2714637" cy="686386"/>
            <a:chOff x="677960" y="1582647"/>
            <a:chExt cx="2714637" cy="686386"/>
          </a:xfrm>
        </p:grpSpPr>
        <p:sp>
          <p:nvSpPr>
            <p:cNvPr id="200" name="TextBox 199">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err="1">
                  <a:latin typeface="+mn-ea"/>
                </a:rPr>
                <a:t>개찰목록</a:t>
              </a:r>
              <a:endParaRPr lang="ko-KR" altLang="en-US" sz="8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02" name="그룹 201"/>
            <p:cNvGrpSpPr/>
            <p:nvPr/>
          </p:nvGrpSpPr>
          <p:grpSpPr>
            <a:xfrm rot="5400000">
              <a:off x="852159" y="2062596"/>
              <a:ext cx="94010" cy="47005"/>
              <a:chOff x="6812560" y="3297172"/>
              <a:chExt cx="94010" cy="47005"/>
            </a:xfrm>
          </p:grpSpPr>
          <p:cxnSp>
            <p:nvCxnSpPr>
              <p:cNvPr id="209" name="직선 연결선 2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0" name="직선 연결선 2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03" name="그룹 202"/>
            <p:cNvGrpSpPr/>
            <p:nvPr/>
          </p:nvGrpSpPr>
          <p:grpSpPr>
            <a:xfrm>
              <a:off x="677960" y="1582647"/>
              <a:ext cx="2712027" cy="324286"/>
              <a:chOff x="677960" y="1582647"/>
              <a:chExt cx="2712027" cy="324286"/>
            </a:xfrm>
          </p:grpSpPr>
          <p:pic>
            <p:nvPicPr>
              <p:cNvPr id="20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205" name="직선 연결선 20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타원 205"/>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타원 206"/>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8" name="타원 207"/>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213" name="직사각형 212"/>
          <p:cNvSpPr/>
          <p:nvPr/>
        </p:nvSpPr>
        <p:spPr>
          <a:xfrm>
            <a:off x="10055511" y="58653"/>
            <a:ext cx="2368609" cy="71020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smtClean="0"/>
              <a:t>0728)G2b</a:t>
            </a:r>
            <a:r>
              <a:rPr lang="ko-KR" altLang="en-US" sz="600" dirty="0" err="1" smtClean="0"/>
              <a:t>공고번호</a:t>
            </a:r>
            <a:r>
              <a:rPr lang="en-US" altLang="ko-KR" sz="600" dirty="0" smtClean="0"/>
              <a:t>, </a:t>
            </a:r>
            <a:r>
              <a:rPr lang="ko-KR" altLang="en-US" sz="600" dirty="0" smtClean="0"/>
              <a:t>낙찰자결정방법</a:t>
            </a:r>
            <a:r>
              <a:rPr lang="en-US" altLang="ko-KR" sz="600" dirty="0" smtClean="0"/>
              <a:t>, </a:t>
            </a:r>
            <a:r>
              <a:rPr lang="ko-KR" altLang="en-US" sz="600" dirty="0" smtClean="0"/>
              <a:t>입찰결과</a:t>
            </a:r>
            <a:r>
              <a:rPr lang="en-US" altLang="ko-KR" sz="600" dirty="0" smtClean="0"/>
              <a:t>, </a:t>
            </a:r>
            <a:r>
              <a:rPr lang="ko-KR" altLang="en-US" sz="600" dirty="0" smtClean="0"/>
              <a:t>진행상태</a:t>
            </a:r>
            <a:r>
              <a:rPr lang="en-US" altLang="ko-KR" sz="600" dirty="0" smtClean="0"/>
              <a:t>, </a:t>
            </a:r>
            <a:r>
              <a:rPr lang="ko-KR" altLang="en-US" sz="600" dirty="0" smtClean="0"/>
              <a:t>협상진행상태</a:t>
            </a:r>
            <a:r>
              <a:rPr lang="en-US" altLang="ko-KR" sz="600" dirty="0" smtClean="0"/>
              <a:t>, </a:t>
            </a:r>
            <a:r>
              <a:rPr lang="ko-KR" altLang="en-US" sz="600" dirty="0" smtClean="0"/>
              <a:t>발주기관</a:t>
            </a:r>
            <a:r>
              <a:rPr lang="en-US" altLang="ko-KR" sz="600" dirty="0" smtClean="0"/>
              <a:t>, </a:t>
            </a:r>
            <a:r>
              <a:rPr lang="ko-KR" altLang="en-US" sz="600" dirty="0" smtClean="0"/>
              <a:t>품목명 누락</a:t>
            </a:r>
            <a:endParaRPr lang="ko-KR" altLang="en-US" sz="600" dirty="0"/>
          </a:p>
        </p:txBody>
      </p:sp>
      <p:sp>
        <p:nvSpPr>
          <p:cNvPr id="211" name="TextBox 60">
            <a:extLst>
              <a:ext uri="{FF2B5EF4-FFF2-40B4-BE49-F238E27FC236}">
                <a16:creationId xmlns:a16="http://schemas.microsoft.com/office/drawing/2014/main" id="{8F5E3227-69E6-C89F-B8C5-534226E95EA8}"/>
              </a:ext>
            </a:extLst>
          </p:cNvPr>
          <p:cNvSpPr txBox="1"/>
          <p:nvPr/>
        </p:nvSpPr>
        <p:spPr>
          <a:xfrm>
            <a:off x="2596303" y="4382393"/>
            <a:ext cx="307777"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smtClean="0">
                <a:latin typeface="+mn-ea"/>
              </a:rPr>
              <a:t>붕어빵</a:t>
            </a:r>
            <a:endParaRPr lang="en-US" altLang="ko-KR" sz="600" dirty="0" smtClean="0">
              <a:latin typeface="+mn-ea"/>
            </a:endParaRPr>
          </a:p>
          <a:p>
            <a:pPr>
              <a:lnSpc>
                <a:spcPct val="150000"/>
              </a:lnSpc>
            </a:pPr>
            <a:r>
              <a:rPr lang="ko-KR" altLang="en-US" sz="600" dirty="0" smtClean="0">
                <a:latin typeface="+mn-ea"/>
              </a:rPr>
              <a:t>낙찰</a:t>
            </a:r>
            <a:endParaRPr lang="en-US" altLang="ko-KR" sz="600" dirty="0" smtClean="0">
              <a:latin typeface="+mn-ea"/>
            </a:endParaRPr>
          </a:p>
          <a:p>
            <a:pPr>
              <a:lnSpc>
                <a:spcPct val="150000"/>
              </a:lnSpc>
            </a:pPr>
            <a:r>
              <a:rPr lang="ko-KR" altLang="en-US" sz="600" dirty="0" err="1" smtClean="0">
                <a:latin typeface="+mn-ea"/>
              </a:rPr>
              <a:t>순위확정</a:t>
            </a:r>
            <a:endParaRPr lang="ko-KR" altLang="en-US" sz="600" dirty="0">
              <a:latin typeface="+mn-ea"/>
            </a:endParaRPr>
          </a:p>
        </p:txBody>
      </p:sp>
      <p:sp>
        <p:nvSpPr>
          <p:cNvPr id="17" name="이등변 삼각형 16"/>
          <p:cNvSpPr/>
          <p:nvPr/>
        </p:nvSpPr>
        <p:spPr>
          <a:xfrm>
            <a:off x="2147223" y="5635046"/>
            <a:ext cx="63844" cy="55038"/>
          </a:xfrm>
          <a:prstGeom prst="triangl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p:cNvSpPr/>
          <p:nvPr/>
        </p:nvSpPr>
        <p:spPr>
          <a:xfrm>
            <a:off x="668402" y="4797892"/>
            <a:ext cx="2719024" cy="905826"/>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3810036" y="1280426"/>
            <a:ext cx="547346" cy="107722"/>
          </a:xfrm>
          <a:prstGeom prst="rect">
            <a:avLst/>
          </a:prstGeom>
          <a:noFill/>
        </p:spPr>
        <p:txBody>
          <a:bodyPr wrap="square" lIns="0" tIns="0" rIns="0" bIns="0" rtlCol="0">
            <a:spAutoFit/>
          </a:bodyPr>
          <a:lstStyle/>
          <a:p>
            <a:r>
              <a:rPr lang="ko-KR" altLang="en-US" sz="700" dirty="0" smtClean="0">
                <a:latin typeface="+mn-ea"/>
              </a:rPr>
              <a:t>표시 레이블</a:t>
            </a:r>
            <a:endParaRPr lang="ko-KR" altLang="en-US" sz="700" dirty="0">
              <a:latin typeface="+mn-ea"/>
            </a:endParaRPr>
          </a:p>
        </p:txBody>
      </p:sp>
      <p:graphicFrame>
        <p:nvGraphicFramePr>
          <p:cNvPr id="214" name="표 213"/>
          <p:cNvGraphicFramePr>
            <a:graphicFrameLocks noGrp="1"/>
          </p:cNvGraphicFramePr>
          <p:nvPr>
            <p:extLst>
              <p:ext uri="{D42A27DB-BD31-4B8C-83A1-F6EECF244321}">
                <p14:modId xmlns:p14="http://schemas.microsoft.com/office/powerpoint/2010/main" val="3901862451"/>
              </p:ext>
            </p:extLst>
          </p:nvPr>
        </p:nvGraphicFramePr>
        <p:xfrm>
          <a:off x="3801286" y="1393193"/>
          <a:ext cx="3164120" cy="4934624"/>
        </p:xfrm>
        <a:graphic>
          <a:graphicData uri="http://schemas.openxmlformats.org/drawingml/2006/table">
            <a:tbl>
              <a:tblPr firstRow="1" bandRow="1">
                <a:tableStyleId>{7E9639D4-E3E2-4D34-9284-5A2195B3D0D7}</a:tableStyleId>
              </a:tblPr>
              <a:tblGrid>
                <a:gridCol w="1582060">
                  <a:extLst>
                    <a:ext uri="{9D8B030D-6E8A-4147-A177-3AD203B41FA5}">
                      <a16:colId xmlns:a16="http://schemas.microsoft.com/office/drawing/2014/main" val="3115782702"/>
                    </a:ext>
                  </a:extLst>
                </a:gridCol>
                <a:gridCol w="1582060">
                  <a:extLst>
                    <a:ext uri="{9D8B030D-6E8A-4147-A177-3AD203B41FA5}">
                      <a16:colId xmlns:a16="http://schemas.microsoft.com/office/drawing/2014/main" val="393582204"/>
                    </a:ext>
                  </a:extLst>
                </a:gridCol>
              </a:tblGrid>
              <a:tr h="317743">
                <a:tc>
                  <a:txBody>
                    <a:bodyPr/>
                    <a:lstStyle/>
                    <a:p>
                      <a:pPr algn="ctr" latinLnBrk="1"/>
                      <a:r>
                        <a:rPr lang="ko-KR" altLang="en-US" sz="700" dirty="0" smtClean="0"/>
                        <a:t>항목명</a:t>
                      </a:r>
                      <a:endParaRPr lang="ko-KR" altLang="en-US" sz="700" dirty="0"/>
                    </a:p>
                  </a:txBody>
                  <a:tcPr anchor="ctr"/>
                </a:tc>
                <a:tc>
                  <a:txBody>
                    <a:bodyPr/>
                    <a:lstStyle/>
                    <a:p>
                      <a:pPr algn="ctr" latinLnBrk="1"/>
                      <a:r>
                        <a:rPr lang="ko-KR" altLang="en-US" sz="700" dirty="0" smtClean="0"/>
                        <a:t>표시 값</a:t>
                      </a:r>
                      <a:endParaRPr lang="ko-KR" altLang="en-US" sz="700" dirty="0"/>
                    </a:p>
                  </a:txBody>
                  <a:tcPr anchor="ctr"/>
                </a:tc>
                <a:extLst>
                  <a:ext uri="{0D108BD9-81ED-4DB2-BD59-A6C34878D82A}">
                    <a16:rowId xmlns:a16="http://schemas.microsoft.com/office/drawing/2014/main" val="139709430"/>
                  </a:ext>
                </a:extLst>
              </a:tr>
              <a:tr h="317743">
                <a:tc>
                  <a:txBody>
                    <a:bodyPr/>
                    <a:lstStyle/>
                    <a:p>
                      <a:pPr algn="ctr" latinLnBrk="1"/>
                      <a:r>
                        <a:rPr lang="ko-KR" altLang="en-US" sz="700" dirty="0" err="1" smtClean="0">
                          <a:latin typeface="+mn-ea"/>
                        </a:rPr>
                        <a:t>업무구분</a:t>
                      </a:r>
                      <a:r>
                        <a:rPr lang="ko-KR" altLang="en-US" sz="700" dirty="0" smtClean="0"/>
                        <a:t> </a:t>
                      </a:r>
                      <a:r>
                        <a:rPr lang="en-US" altLang="ko-KR" sz="700" dirty="0" smtClean="0"/>
                        <a:t>(</a:t>
                      </a:r>
                      <a:r>
                        <a:rPr lang="en-US" altLang="ko-KR" sz="700" b="0" i="0" u="none" strike="noStrike" dirty="0" err="1" smtClean="0">
                          <a:solidFill>
                            <a:srgbClr val="000000"/>
                          </a:solidFill>
                          <a:effectLst/>
                          <a:latin typeface="+mn-lt"/>
                          <a:ea typeface="+mn-ea"/>
                        </a:rPr>
                        <a:t>taskSecd</a:t>
                      </a:r>
                      <a:r>
                        <a:rPr lang="en-US" altLang="ko-KR" sz="700" dirty="0" smtClean="0"/>
                        <a:t>)</a:t>
                      </a:r>
                      <a:endParaRPr lang="ko-KR" altLang="en-US" sz="700" dirty="0"/>
                    </a:p>
                  </a:txBody>
                  <a:tcPr anchor="ctr"/>
                </a:tc>
                <a:tc>
                  <a:txBody>
                    <a:bodyPr/>
                    <a:lstStyle/>
                    <a:p>
                      <a:pPr algn="ctr" latinLnBrk="1"/>
                      <a:r>
                        <a:rPr lang="ko-KR" altLang="en-US" sz="700" dirty="0" smtClean="0"/>
                        <a:t>물품</a:t>
                      </a:r>
                      <a:r>
                        <a:rPr lang="en-US" altLang="ko-KR" sz="700" dirty="0" smtClean="0"/>
                        <a:t>, </a:t>
                      </a:r>
                      <a:r>
                        <a:rPr lang="ko-KR" altLang="en-US" sz="700" dirty="0" smtClean="0"/>
                        <a:t>용역</a:t>
                      </a:r>
                      <a:r>
                        <a:rPr lang="en-US" altLang="ko-KR" sz="700" dirty="0" smtClean="0"/>
                        <a:t>, </a:t>
                      </a:r>
                      <a:r>
                        <a:rPr lang="ko-KR" altLang="en-US" sz="700" dirty="0" smtClean="0"/>
                        <a:t>공사</a:t>
                      </a:r>
                      <a:r>
                        <a:rPr lang="en-US" altLang="ko-KR" sz="700" dirty="0" smtClean="0"/>
                        <a:t>, </a:t>
                      </a:r>
                      <a:r>
                        <a:rPr lang="ko-KR" altLang="en-US" sz="700" dirty="0" smtClean="0"/>
                        <a:t>국외</a:t>
                      </a:r>
                      <a:endParaRPr lang="ko-KR" altLang="en-US" sz="700" dirty="0"/>
                    </a:p>
                  </a:txBody>
                  <a:tcPr anchor="ctr"/>
                </a:tc>
                <a:extLst>
                  <a:ext uri="{0D108BD9-81ED-4DB2-BD59-A6C34878D82A}">
                    <a16:rowId xmlns:a16="http://schemas.microsoft.com/office/drawing/2014/main" val="1160468422"/>
                  </a:ext>
                </a:extLst>
              </a:tr>
              <a:tr h="581651">
                <a:tc>
                  <a:txBody>
                    <a:bodyPr/>
                    <a:lstStyle/>
                    <a:p>
                      <a:pPr algn="ctr" latinLnBrk="1"/>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As-Is</a:t>
                      </a:r>
                      <a:endParaRPr lang="ko-KR" altLang="en-US" sz="700" dirty="0"/>
                    </a:p>
                  </a:txBody>
                  <a:tcPr anchor="ctr"/>
                </a:tc>
                <a:tc>
                  <a:txBody>
                    <a:bodyPr/>
                    <a:lstStyle/>
                    <a:p>
                      <a:pPr algn="ctr" latinLnBrk="1"/>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r>
                        <a:rPr lang="en-US" altLang="ko-KR" sz="700" dirty="0" smtClean="0"/>
                        <a:t>, </a:t>
                      </a:r>
                      <a:r>
                        <a:rPr lang="ko-KR" altLang="en-US" sz="700" dirty="0" err="1" smtClean="0"/>
                        <a:t>역경매</a:t>
                      </a:r>
                      <a:r>
                        <a:rPr lang="en-US" altLang="ko-KR" sz="700" dirty="0" smtClean="0"/>
                        <a:t>, </a:t>
                      </a:r>
                      <a:r>
                        <a:rPr lang="ko-KR" altLang="en-US" sz="700" dirty="0" err="1" smtClean="0"/>
                        <a:t>복수경쟁</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endParaRPr lang="ko-KR" altLang="en-US" sz="700" dirty="0"/>
                    </a:p>
                  </a:txBody>
                  <a:tcPr anchor="ctr"/>
                </a:tc>
                <a:extLst>
                  <a:ext uri="{0D108BD9-81ED-4DB2-BD59-A6C34878D82A}">
                    <a16:rowId xmlns:a16="http://schemas.microsoft.com/office/drawing/2014/main" val="729087243"/>
                  </a:ext>
                </a:extLst>
              </a:tr>
              <a:tr h="317743">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To-Be</a:t>
                      </a:r>
                      <a:endParaRPr lang="ko-KR" altLang="en-US" sz="700" dirty="0" smtClean="0"/>
                    </a:p>
                  </a:txBody>
                  <a:tcPr anchor="ct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p>
                  </a:txBody>
                  <a:tcPr anchor="ctr"/>
                </a:tc>
                <a:extLst>
                  <a:ext uri="{0D108BD9-81ED-4DB2-BD59-A6C34878D82A}">
                    <a16:rowId xmlns:a16="http://schemas.microsoft.com/office/drawing/2014/main" val="1753565295"/>
                  </a:ext>
                </a:extLst>
              </a:tr>
              <a:tr h="482344">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r>
                        <a:rPr lang="en-US" altLang="ko-KR" sz="700" dirty="0" smtClean="0"/>
                        <a:t>, </a:t>
                      </a:r>
                      <a:r>
                        <a:rPr lang="ko-KR" altLang="en-US" sz="700" dirty="0" err="1" smtClean="0"/>
                        <a:t>단가제</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적격심사</a:t>
                      </a:r>
                      <a:r>
                        <a:rPr lang="en-US" altLang="ko-KR" sz="700" dirty="0" smtClean="0"/>
                        <a:t>), </a:t>
                      </a:r>
                      <a:r>
                        <a:rPr lang="ko-KR" altLang="en-US" sz="700" dirty="0" err="1" smtClean="0"/>
                        <a:t>내역입찰</a:t>
                      </a:r>
                      <a:r>
                        <a:rPr lang="en-US" altLang="ko-KR" sz="700" dirty="0" smtClean="0"/>
                        <a:t>(</a:t>
                      </a:r>
                      <a:r>
                        <a:rPr lang="ko-KR" altLang="en-US" sz="700" dirty="0" err="1" smtClean="0"/>
                        <a:t>종합심사</a:t>
                      </a:r>
                      <a:r>
                        <a:rPr lang="en-US" altLang="ko-KR" sz="700" dirty="0" smtClean="0"/>
                        <a:t>), </a:t>
                      </a:r>
                      <a:r>
                        <a:rPr lang="ko-KR" altLang="en-US" sz="700" dirty="0" err="1" smtClean="0"/>
                        <a:t>내역입찰</a:t>
                      </a:r>
                      <a:r>
                        <a:rPr lang="en-US" altLang="ko-KR" sz="700" dirty="0" smtClean="0"/>
                        <a:t>(</a:t>
                      </a:r>
                      <a:r>
                        <a:rPr lang="ko-KR" altLang="en-US" sz="700" dirty="0" smtClean="0"/>
                        <a:t>설계시공일괄입찰</a:t>
                      </a:r>
                      <a:r>
                        <a:rPr lang="en-US" altLang="ko-KR" sz="700" dirty="0" smtClean="0"/>
                        <a:t>)</a:t>
                      </a:r>
                      <a:endParaRPr lang="ko-KR" altLang="en-US" sz="700" dirty="0"/>
                    </a:p>
                  </a:txBody>
                  <a:tcPr anchor="ctr"/>
                </a:tc>
                <a:extLst>
                  <a:ext uri="{0D108BD9-81ED-4DB2-BD59-A6C34878D82A}">
                    <a16:rowId xmlns:a16="http://schemas.microsoft.com/office/drawing/2014/main" val="2357552286"/>
                  </a:ext>
                </a:extLst>
              </a:tr>
              <a:tr h="317743">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endParaRPr lang="ko-KR" altLang="en-US" sz="700" dirty="0"/>
                    </a:p>
                  </a:txBody>
                  <a:tcPr anchor="ctr"/>
                </a:tc>
                <a:extLst>
                  <a:ext uri="{0D108BD9-81ED-4DB2-BD59-A6C34878D82A}">
                    <a16:rowId xmlns:a16="http://schemas.microsoft.com/office/drawing/2014/main" val="1157640162"/>
                  </a:ext>
                </a:extLst>
              </a:tr>
              <a:tr h="317743">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a:t>
                      </a:r>
                      <a:r>
                        <a:rPr lang="ko-KR" altLang="en-US" sz="700" dirty="0" smtClean="0"/>
                        <a:t>협상</a:t>
                      </a:r>
                      <a:r>
                        <a:rPr lang="en-US" altLang="ko-KR" sz="700" dirty="0" smtClean="0"/>
                        <a:t>, </a:t>
                      </a:r>
                      <a:r>
                        <a:rPr lang="ko-KR" altLang="en-US" sz="700" dirty="0" err="1" smtClean="0"/>
                        <a:t>최저가격제</a:t>
                      </a:r>
                      <a:endParaRPr lang="ko-KR" altLang="en-US" sz="700" dirty="0"/>
                    </a:p>
                  </a:txBody>
                  <a:tcPr anchor="ctr"/>
                </a:tc>
                <a:extLst>
                  <a:ext uri="{0D108BD9-81ED-4DB2-BD59-A6C34878D82A}">
                    <a16:rowId xmlns:a16="http://schemas.microsoft.com/office/drawing/2014/main" val="3907289756"/>
                  </a:ext>
                </a:extLst>
              </a:tr>
              <a:tr h="680957">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역경매</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r>
                        <a:rPr lang="en-US" altLang="ko-KR" sz="700" dirty="0" smtClean="0"/>
                        <a:t>, </a:t>
                      </a:r>
                      <a:r>
                        <a:rPr lang="ko-KR" altLang="en-US" sz="700" dirty="0" err="1" smtClean="0"/>
                        <a:t>종합심사제</a:t>
                      </a:r>
                      <a:r>
                        <a:rPr lang="en-US" altLang="ko-KR" sz="700" dirty="0" smtClean="0"/>
                        <a:t>, </a:t>
                      </a:r>
                      <a:r>
                        <a:rPr lang="ko-KR" altLang="en-US" sz="700" dirty="0" smtClean="0"/>
                        <a:t>설계시공일괄입찰</a:t>
                      </a:r>
                      <a:r>
                        <a:rPr lang="en-US" altLang="ko-KR" sz="700" dirty="0" smtClean="0"/>
                        <a:t>, </a:t>
                      </a:r>
                      <a:r>
                        <a:rPr lang="ko-KR" altLang="en-US" sz="700" dirty="0" smtClean="0"/>
                        <a:t>공개수의협상</a:t>
                      </a:r>
                      <a:r>
                        <a:rPr lang="en-US" altLang="ko-KR" sz="700" dirty="0" smtClean="0"/>
                        <a:t>(</a:t>
                      </a:r>
                      <a:r>
                        <a:rPr lang="ko-KR" altLang="en-US" sz="700" dirty="0" smtClean="0"/>
                        <a:t>가칭</a:t>
                      </a:r>
                      <a:r>
                        <a:rPr lang="en-US" altLang="ko-KR" sz="700" dirty="0" smtClean="0"/>
                        <a:t>)</a:t>
                      </a:r>
                      <a:endParaRPr lang="ko-KR" altLang="en-US" sz="700" dirty="0"/>
                    </a:p>
                  </a:txBody>
                  <a:tcPr anchor="ctr"/>
                </a:tc>
                <a:extLst>
                  <a:ext uri="{0D108BD9-81ED-4DB2-BD59-A6C34878D82A}">
                    <a16:rowId xmlns:a16="http://schemas.microsoft.com/office/drawing/2014/main" val="1494051991"/>
                  </a:ext>
                </a:extLst>
              </a:tr>
              <a:tr h="317743">
                <a:tc>
                  <a:txBody>
                    <a:bodyPr/>
                    <a:lstStyle/>
                    <a:p>
                      <a:pPr algn="ctr" latinLnBrk="1"/>
                      <a:r>
                        <a:rPr lang="ko-KR" altLang="en-US" sz="700" dirty="0" err="1" smtClean="0">
                          <a:latin typeface="+mn-ea"/>
                          <a:ea typeface="+mn-ea"/>
                        </a:rPr>
                        <a:t>진행상태명</a:t>
                      </a:r>
                      <a:r>
                        <a:rPr lang="ko-KR" altLang="en-US" sz="700" dirty="0" smtClean="0">
                          <a:latin typeface="+mn-ea"/>
                          <a:ea typeface="+mn-ea"/>
                        </a:rPr>
                        <a:t> </a:t>
                      </a:r>
                      <a:r>
                        <a:rPr lang="en-US" altLang="ko-KR" sz="700" dirty="0" smtClean="0">
                          <a:latin typeface="+mn-ea"/>
                          <a:ea typeface="+mn-ea"/>
                        </a:rPr>
                        <a:t>(</a:t>
                      </a:r>
                      <a:r>
                        <a:rPr lang="en-US" altLang="ko-KR" sz="700" kern="1200" dirty="0" err="1" smtClean="0">
                          <a:solidFill>
                            <a:schemeClr val="tx1"/>
                          </a:solidFill>
                          <a:latin typeface="+mn-lt"/>
                          <a:ea typeface="+mn-ea"/>
                          <a:cs typeface="+mn-cs"/>
                        </a:rPr>
                        <a:t>prgrsStcd</a:t>
                      </a:r>
                      <a:r>
                        <a:rPr lang="en-US" altLang="ko-KR" sz="700" dirty="0" smtClean="0">
                          <a:latin typeface="+mn-ea"/>
                          <a:ea typeface="+mn-ea"/>
                        </a:rPr>
                        <a:t>)</a:t>
                      </a:r>
                      <a:endParaRPr lang="ko-KR" altLang="en-US" sz="700" dirty="0"/>
                    </a:p>
                  </a:txBody>
                  <a:tcPr anchor="ctr"/>
                </a:tc>
                <a:tc>
                  <a:txBody>
                    <a:bodyPr/>
                    <a:lstStyle/>
                    <a:p>
                      <a:pPr algn="ctr" latinLnBrk="1"/>
                      <a:r>
                        <a:rPr lang="ko-KR" altLang="en-US" sz="700" dirty="0" smtClean="0">
                          <a:latin typeface="+mn-ea"/>
                          <a:ea typeface="+mn-ea"/>
                        </a:rPr>
                        <a:t>전체</a:t>
                      </a:r>
                      <a:r>
                        <a:rPr lang="en-US" altLang="ko-KR" sz="700" dirty="0" smtClean="0">
                          <a:latin typeface="+mn-ea"/>
                          <a:ea typeface="+mn-ea"/>
                        </a:rPr>
                        <a:t>, </a:t>
                      </a:r>
                      <a:r>
                        <a:rPr lang="ko-KR" altLang="en-US" sz="700" dirty="0" err="1" smtClean="0">
                          <a:latin typeface="+mn-ea"/>
                          <a:ea typeface="+mn-ea"/>
                        </a:rPr>
                        <a:t>순위확정</a:t>
                      </a:r>
                      <a:r>
                        <a:rPr lang="en-US" altLang="ko-KR" sz="700" dirty="0" smtClean="0">
                          <a:latin typeface="+mn-ea"/>
                          <a:ea typeface="+mn-ea"/>
                        </a:rPr>
                        <a:t>, </a:t>
                      </a:r>
                      <a:r>
                        <a:rPr lang="ko-KR" altLang="en-US" sz="700" dirty="0" err="1" smtClean="0">
                          <a:latin typeface="+mn-ea"/>
                          <a:ea typeface="+mn-ea"/>
                        </a:rPr>
                        <a:t>계획등록</a:t>
                      </a:r>
                      <a:r>
                        <a:rPr lang="en-US" altLang="ko-KR" sz="700" dirty="0" smtClean="0">
                          <a:latin typeface="+mn-ea"/>
                          <a:ea typeface="+mn-ea"/>
                        </a:rPr>
                        <a:t>, </a:t>
                      </a:r>
                      <a:r>
                        <a:rPr lang="ko-KR" altLang="en-US" sz="700" dirty="0" err="1" smtClean="0">
                          <a:latin typeface="+mn-ea"/>
                          <a:ea typeface="+mn-ea"/>
                        </a:rPr>
                        <a:t>협상완료</a:t>
                      </a:r>
                      <a:endParaRPr lang="ko-KR" altLang="en-US" sz="700" dirty="0"/>
                    </a:p>
                  </a:txBody>
                  <a:tcPr anchor="ctr"/>
                </a:tc>
                <a:extLst>
                  <a:ext uri="{0D108BD9-81ED-4DB2-BD59-A6C34878D82A}">
                    <a16:rowId xmlns:a16="http://schemas.microsoft.com/office/drawing/2014/main" val="2086675074"/>
                  </a:ext>
                </a:extLst>
              </a:tr>
              <a:tr h="317743">
                <a:tc>
                  <a:txBody>
                    <a:bodyPr/>
                    <a:lstStyle/>
                    <a:p>
                      <a:pPr algn="ctr" latinLnBrk="1"/>
                      <a:r>
                        <a:rPr lang="ko-KR" altLang="en-US" sz="700" dirty="0" smtClean="0">
                          <a:solidFill>
                            <a:srgbClr val="C00000"/>
                          </a:solidFill>
                          <a:latin typeface="+mn-ea"/>
                          <a:ea typeface="+mn-ea"/>
                        </a:rPr>
                        <a:t>협상진행상태 </a:t>
                      </a:r>
                      <a:r>
                        <a:rPr lang="en-US" altLang="ko-KR" sz="700" dirty="0" smtClean="0">
                          <a:solidFill>
                            <a:srgbClr val="C00000"/>
                          </a:solidFill>
                          <a:latin typeface="+mn-ea"/>
                          <a:ea typeface="+mn-ea"/>
                        </a:rPr>
                        <a:t>(</a:t>
                      </a:r>
                      <a:r>
                        <a:rPr lang="en-US" altLang="ko-KR" sz="700" kern="1200" dirty="0" err="1" smtClean="0">
                          <a:solidFill>
                            <a:schemeClr val="tx1"/>
                          </a:solidFill>
                          <a:latin typeface="+mn-lt"/>
                          <a:ea typeface="+mn-ea"/>
                          <a:cs typeface="+mn-cs"/>
                        </a:rPr>
                        <a:t>ngtnStcd</a:t>
                      </a:r>
                      <a:r>
                        <a:rPr lang="en-US" altLang="ko-KR" sz="700" dirty="0" smtClean="0">
                          <a:solidFill>
                            <a:srgbClr val="C00000"/>
                          </a:solidFill>
                          <a:latin typeface="+mn-ea"/>
                          <a:ea typeface="+mn-ea"/>
                        </a:rPr>
                        <a:t>)</a:t>
                      </a:r>
                      <a:endParaRPr lang="ko-KR" altLang="en-US" sz="700" dirty="0"/>
                    </a:p>
                  </a:txBody>
                  <a:tcPr anchor="ctr"/>
                </a:tc>
                <a:tc>
                  <a:txBody>
                    <a:bodyPr/>
                    <a:lstStyle/>
                    <a:p>
                      <a:pPr algn="ctr" latinLnBrk="1"/>
                      <a:r>
                        <a:rPr lang="ko-KR" altLang="en-US" sz="700" dirty="0" smtClean="0">
                          <a:latin typeface="+mn-ea"/>
                          <a:ea typeface="+mn-ea"/>
                        </a:rPr>
                        <a:t>전체</a:t>
                      </a:r>
                      <a:r>
                        <a:rPr lang="en-US" altLang="ko-KR" sz="700" dirty="0" smtClean="0">
                          <a:latin typeface="+mn-ea"/>
                          <a:ea typeface="+mn-ea"/>
                        </a:rPr>
                        <a:t>, </a:t>
                      </a:r>
                      <a:r>
                        <a:rPr lang="ko-KR" altLang="en-US" sz="700" dirty="0" err="1" smtClean="0">
                          <a:latin typeface="+mn-ea"/>
                          <a:ea typeface="+mn-ea"/>
                        </a:rPr>
                        <a:t>계획확정</a:t>
                      </a:r>
                      <a:r>
                        <a:rPr lang="en-US" altLang="ko-KR" sz="700" dirty="0" smtClean="0">
                          <a:latin typeface="+mn-ea"/>
                          <a:ea typeface="+mn-ea"/>
                        </a:rPr>
                        <a:t>, </a:t>
                      </a:r>
                      <a:r>
                        <a:rPr lang="ko-KR" altLang="en-US" sz="700" dirty="0" err="1" smtClean="0">
                          <a:latin typeface="+mn-ea"/>
                          <a:ea typeface="+mn-ea"/>
                        </a:rPr>
                        <a:t>협상연기</a:t>
                      </a:r>
                      <a:r>
                        <a:rPr lang="en-US" altLang="ko-KR" sz="700" dirty="0" smtClean="0">
                          <a:latin typeface="+mn-ea"/>
                          <a:ea typeface="+mn-ea"/>
                        </a:rPr>
                        <a:t>, </a:t>
                      </a:r>
                      <a:r>
                        <a:rPr lang="ko-KR" altLang="en-US" sz="700" dirty="0" err="1" smtClean="0">
                          <a:latin typeface="+mn-ea"/>
                          <a:ea typeface="+mn-ea"/>
                        </a:rPr>
                        <a:t>협상취소</a:t>
                      </a:r>
                      <a:endParaRPr lang="ko-KR" altLang="en-US" sz="700" dirty="0"/>
                    </a:p>
                  </a:txBody>
                  <a:tcPr anchor="ctr"/>
                </a:tc>
                <a:extLst>
                  <a:ext uri="{0D108BD9-81ED-4DB2-BD59-A6C34878D82A}">
                    <a16:rowId xmlns:a16="http://schemas.microsoft.com/office/drawing/2014/main" val="4277102046"/>
                  </a:ext>
                </a:extLst>
              </a:tr>
              <a:tr h="482344">
                <a:tc>
                  <a:txBody>
                    <a:bodyPr/>
                    <a:lstStyle/>
                    <a:p>
                      <a:pPr algn="ctr" latinLnBrk="1"/>
                      <a:r>
                        <a:rPr lang="ko-KR" altLang="en-US" sz="700" dirty="0" err="1" smtClean="0">
                          <a:latin typeface="+mn-ea"/>
                          <a:ea typeface="+mn-ea"/>
                        </a:rPr>
                        <a:t>공고구분</a:t>
                      </a:r>
                      <a:endParaRPr lang="ko-KR" altLang="en-US" sz="700" dirty="0"/>
                    </a:p>
                  </a:txBody>
                  <a:tcPr anchor="ctr"/>
                </a:tc>
                <a:tc>
                  <a:txBody>
                    <a:bodyPr/>
                    <a:lstStyle/>
                    <a:p>
                      <a:pPr algn="ctr" latinLnBrk="1"/>
                      <a:r>
                        <a:rPr lang="ko-KR" altLang="en-US" sz="700" dirty="0" err="1" smtClean="0"/>
                        <a:t>정상공고</a:t>
                      </a:r>
                      <a:r>
                        <a:rPr lang="en-US" altLang="ko-KR" sz="700" dirty="0" smtClean="0"/>
                        <a:t>, </a:t>
                      </a:r>
                      <a:r>
                        <a:rPr lang="ko-KR" altLang="en-US" sz="700" dirty="0" err="1" smtClean="0"/>
                        <a:t>긴급공고</a:t>
                      </a:r>
                      <a:r>
                        <a:rPr lang="en-US" altLang="ko-KR" sz="700" dirty="0" smtClean="0"/>
                        <a:t>, </a:t>
                      </a:r>
                      <a:r>
                        <a:rPr lang="ko-KR" altLang="en-US" sz="700" dirty="0" err="1" smtClean="0"/>
                        <a:t>재공고</a:t>
                      </a:r>
                      <a:r>
                        <a:rPr lang="en-US" altLang="ko-KR" sz="700" dirty="0" smtClean="0"/>
                        <a:t>, </a:t>
                      </a:r>
                      <a:r>
                        <a:rPr lang="ko-KR" altLang="en-US" sz="700" dirty="0" err="1" smtClean="0"/>
                        <a:t>긴급갱신</a:t>
                      </a:r>
                      <a:r>
                        <a:rPr lang="en-US" altLang="ko-KR" sz="700" dirty="0" smtClean="0"/>
                        <a:t>, </a:t>
                      </a:r>
                      <a:r>
                        <a:rPr lang="ko-KR" altLang="en-US" sz="700" dirty="0" err="1" smtClean="0"/>
                        <a:t>재공고</a:t>
                      </a:r>
                      <a:r>
                        <a:rPr lang="en-US" altLang="ko-KR" sz="700" dirty="0" smtClean="0"/>
                        <a:t>(3</a:t>
                      </a:r>
                      <a:r>
                        <a:rPr lang="ko-KR" altLang="en-US" sz="700" dirty="0" smtClean="0"/>
                        <a:t>차</a:t>
                      </a:r>
                      <a:r>
                        <a:rPr lang="en-US" altLang="ko-KR" sz="700" dirty="0" smtClean="0"/>
                        <a:t>),</a:t>
                      </a:r>
                      <a:r>
                        <a:rPr lang="ko-KR" altLang="en-US" sz="700" dirty="0" smtClean="0"/>
                        <a:t>긴급갱신재공고</a:t>
                      </a:r>
                      <a:r>
                        <a:rPr lang="en-US" altLang="ko-KR" sz="700" dirty="0" smtClean="0"/>
                        <a:t>, </a:t>
                      </a:r>
                      <a:r>
                        <a:rPr lang="ko-KR" altLang="en-US" sz="700" dirty="0" err="1" smtClean="0"/>
                        <a:t>정정공고</a:t>
                      </a:r>
                      <a:r>
                        <a:rPr lang="en-US" altLang="ko-KR" sz="700" dirty="0" smtClean="0"/>
                        <a:t>, </a:t>
                      </a:r>
                      <a:r>
                        <a:rPr lang="ko-KR" altLang="en-US" sz="700" dirty="0" err="1" smtClean="0"/>
                        <a:t>취소공고</a:t>
                      </a:r>
                      <a:r>
                        <a:rPr lang="en-US" altLang="ko-KR" sz="700" dirty="0" smtClean="0"/>
                        <a:t>, </a:t>
                      </a:r>
                      <a:r>
                        <a:rPr lang="ko-KR" altLang="en-US" sz="700" dirty="0" err="1" smtClean="0"/>
                        <a:t>연기공고</a:t>
                      </a:r>
                      <a:r>
                        <a:rPr lang="en-US" altLang="ko-KR" sz="700" dirty="0" smtClean="0"/>
                        <a:t>, </a:t>
                      </a:r>
                      <a:r>
                        <a:rPr lang="ko-KR" altLang="en-US" sz="700" dirty="0" smtClean="0"/>
                        <a:t>게시</a:t>
                      </a:r>
                      <a:r>
                        <a:rPr lang="en-US" altLang="ko-KR" sz="700" dirty="0" smtClean="0"/>
                        <a:t>, </a:t>
                      </a:r>
                      <a:r>
                        <a:rPr lang="ko-KR" altLang="en-US" sz="700" dirty="0" smtClean="0"/>
                        <a:t>모의입찰코드</a:t>
                      </a:r>
                      <a:endParaRPr lang="ko-KR" altLang="en-US" sz="700" dirty="0"/>
                    </a:p>
                  </a:txBody>
                  <a:tcPr anchor="ctr"/>
                </a:tc>
                <a:extLst>
                  <a:ext uri="{0D108BD9-81ED-4DB2-BD59-A6C34878D82A}">
                    <a16:rowId xmlns:a16="http://schemas.microsoft.com/office/drawing/2014/main" val="3252512344"/>
                  </a:ext>
                </a:extLst>
              </a:tr>
              <a:tr h="317743">
                <a:tc>
                  <a:txBody>
                    <a:bodyPr/>
                    <a:lstStyle/>
                    <a:p>
                      <a:pPr algn="ctr" latinLnBrk="1"/>
                      <a:r>
                        <a:rPr lang="ko-KR" altLang="en-US" sz="700" dirty="0" err="1" smtClean="0">
                          <a:latin typeface="+mn-ea"/>
                          <a:ea typeface="+mn-ea"/>
                        </a:rPr>
                        <a:t>입찰형태</a:t>
                      </a:r>
                      <a:endParaRPr lang="ko-KR" altLang="en-US" sz="700" dirty="0" smtClean="0"/>
                    </a:p>
                  </a:txBody>
                  <a:tcPr anchor="ctr"/>
                </a:tc>
                <a:tc>
                  <a:txBody>
                    <a:bodyPr/>
                    <a:lstStyle/>
                    <a:p>
                      <a:pPr algn="ctr" latinLnBrk="1"/>
                      <a:r>
                        <a:rPr lang="ko-KR" altLang="en-US" sz="700" dirty="0" err="1" smtClean="0">
                          <a:latin typeface="+mn-ea"/>
                          <a:ea typeface="+mn-ea"/>
                        </a:rPr>
                        <a:t>일반입찰</a:t>
                      </a:r>
                      <a:r>
                        <a:rPr lang="en-US" altLang="ko-KR" sz="700" dirty="0" smtClean="0">
                          <a:latin typeface="+mn-ea"/>
                          <a:ea typeface="+mn-ea"/>
                        </a:rPr>
                        <a:t>, </a:t>
                      </a:r>
                      <a:r>
                        <a:rPr lang="ko-KR" altLang="en-US" sz="700" dirty="0" smtClean="0">
                          <a:latin typeface="+mn-ea"/>
                          <a:ea typeface="+mn-ea"/>
                        </a:rPr>
                        <a:t>전자입찰</a:t>
                      </a:r>
                      <a:r>
                        <a:rPr lang="en-US" altLang="ko-KR" sz="700" dirty="0" smtClean="0">
                          <a:latin typeface="+mn-ea"/>
                          <a:ea typeface="+mn-ea"/>
                        </a:rPr>
                        <a:t>, OMR</a:t>
                      </a:r>
                      <a:r>
                        <a:rPr lang="ko-KR" altLang="en-US" sz="700" dirty="0" smtClean="0">
                          <a:latin typeface="+mn-ea"/>
                          <a:ea typeface="+mn-ea"/>
                        </a:rPr>
                        <a:t>입찰</a:t>
                      </a:r>
                      <a:r>
                        <a:rPr lang="en-US" altLang="ko-KR" sz="700" dirty="0" smtClean="0">
                          <a:latin typeface="+mn-ea"/>
                          <a:ea typeface="+mn-ea"/>
                        </a:rPr>
                        <a:t>, OCR </a:t>
                      </a:r>
                      <a:r>
                        <a:rPr lang="ko-KR" altLang="en-US" sz="700" dirty="0" smtClean="0">
                          <a:latin typeface="+mn-ea"/>
                          <a:ea typeface="+mn-ea"/>
                        </a:rPr>
                        <a:t>입찰</a:t>
                      </a:r>
                      <a:r>
                        <a:rPr lang="en-US" altLang="ko-KR" sz="700" dirty="0" smtClean="0">
                          <a:latin typeface="+mn-ea"/>
                          <a:ea typeface="+mn-ea"/>
                        </a:rPr>
                        <a:t>, </a:t>
                      </a:r>
                      <a:r>
                        <a:rPr lang="ko-KR" altLang="en-US" sz="700" dirty="0" err="1" smtClean="0">
                          <a:latin typeface="+mn-ea"/>
                          <a:ea typeface="+mn-ea"/>
                        </a:rPr>
                        <a:t>역경매</a:t>
                      </a:r>
                      <a:r>
                        <a:rPr lang="en-US" altLang="ko-KR" sz="700" dirty="0" smtClean="0">
                          <a:latin typeface="+mn-ea"/>
                          <a:ea typeface="+mn-ea"/>
                        </a:rPr>
                        <a:t>, </a:t>
                      </a:r>
                      <a:r>
                        <a:rPr lang="ko-KR" altLang="en-US" sz="700" dirty="0" err="1" smtClean="0">
                          <a:latin typeface="+mn-ea"/>
                          <a:ea typeface="+mn-ea"/>
                        </a:rPr>
                        <a:t>전산입찰</a:t>
                      </a:r>
                      <a:endParaRPr lang="ko-KR" altLang="en-US" sz="700" dirty="0"/>
                    </a:p>
                  </a:txBody>
                  <a:tcPr anchor="ctr"/>
                </a:tc>
                <a:extLst>
                  <a:ext uri="{0D108BD9-81ED-4DB2-BD59-A6C34878D82A}">
                    <a16:rowId xmlns:a16="http://schemas.microsoft.com/office/drawing/2014/main" val="1300407882"/>
                  </a:ext>
                </a:extLst>
              </a:tr>
            </a:tbl>
          </a:graphicData>
        </a:graphic>
      </p:graphicFrame>
    </p:spTree>
    <p:extLst>
      <p:ext uri="{BB962C8B-B14F-4D97-AF65-F5344CB8AC3E}">
        <p14:creationId xmlns:p14="http://schemas.microsoft.com/office/powerpoint/2010/main" val="421891478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검색필터</a:t>
            </a:r>
            <a:r>
              <a:rPr lang="ko-KR" altLang="en-US" dirty="0"/>
              <a:t> 페이지 타이틀</a:t>
            </a:r>
            <a:r>
              <a:rPr lang="en-US" altLang="ko-KR" dirty="0"/>
              <a:t/>
            </a:r>
            <a:br>
              <a:rPr lang="en-US" altLang="ko-KR" dirty="0"/>
            </a:br>
            <a:r>
              <a:rPr lang="en-US" altLang="ko-KR" dirty="0"/>
              <a:t>- </a:t>
            </a:r>
            <a:r>
              <a:rPr lang="ko-KR" altLang="en-US" dirty="0"/>
              <a:t>초기화</a:t>
            </a:r>
            <a:r>
              <a:rPr lang="en-US" altLang="ko-KR" dirty="0"/>
              <a:t>, </a:t>
            </a:r>
            <a:r>
              <a:rPr lang="ko-KR" altLang="en-US" dirty="0"/>
              <a:t>닫기 버튼</a:t>
            </a:r>
            <a:endParaRPr lang="en-US" altLang="ko-KR" dirty="0"/>
          </a:p>
          <a:p>
            <a:pPr marL="228600" indent="-228600">
              <a:buFont typeface="+mj-lt"/>
              <a:buAutoNum type="arabicPeriod"/>
            </a:pPr>
            <a:r>
              <a:rPr lang="ko-KR" altLang="en-US" dirty="0"/>
              <a:t>업무 구분</a:t>
            </a:r>
            <a:r>
              <a:rPr lang="en-US" altLang="ko-KR" dirty="0"/>
              <a:t/>
            </a:r>
            <a:br>
              <a:rPr lang="en-US" altLang="ko-KR" dirty="0"/>
            </a:br>
            <a:r>
              <a:rPr lang="en-US" altLang="ko-KR" dirty="0"/>
              <a:t>- </a:t>
            </a:r>
            <a:r>
              <a:rPr lang="ko-KR" altLang="en-US" dirty="0"/>
              <a:t>전체 및 세부 항목 표시</a:t>
            </a:r>
            <a:r>
              <a:rPr lang="en-US" altLang="ko-KR" dirty="0"/>
              <a:t/>
            </a:r>
            <a:br>
              <a:rPr lang="en-US" altLang="ko-KR" dirty="0"/>
            </a:br>
            <a:r>
              <a:rPr lang="en-US" altLang="ko-KR" dirty="0"/>
              <a:t>- </a:t>
            </a:r>
            <a:r>
              <a:rPr lang="ko-KR" altLang="en-US" dirty="0"/>
              <a:t>항목별 </a:t>
            </a:r>
            <a:r>
              <a:rPr lang="ko-KR" altLang="en-US" dirty="0" err="1"/>
              <a:t>개수표시</a:t>
            </a:r>
            <a:r>
              <a:rPr lang="en-US" altLang="ko-KR" dirty="0"/>
              <a:t/>
            </a:r>
            <a:br>
              <a:rPr lang="en-US" altLang="ko-KR" dirty="0"/>
            </a:br>
            <a:r>
              <a:rPr lang="en-US" altLang="ko-KR" dirty="0"/>
              <a:t>- </a:t>
            </a:r>
            <a:r>
              <a:rPr lang="ko-KR" altLang="en-US" dirty="0"/>
              <a:t>전체가 아닌 경우</a:t>
            </a:r>
            <a:r>
              <a:rPr lang="en-US" altLang="ko-KR" dirty="0"/>
              <a:t/>
            </a:r>
            <a:br>
              <a:rPr lang="en-US" altLang="ko-KR" dirty="0"/>
            </a:br>
            <a:r>
              <a:rPr lang="en-US" altLang="ko-KR" dirty="0"/>
              <a:t>  &gt; </a:t>
            </a:r>
            <a:r>
              <a:rPr lang="ko-KR" altLang="en-US" dirty="0"/>
              <a:t>나머지 중에서 최소 </a:t>
            </a:r>
            <a:r>
              <a:rPr lang="en-US" altLang="ko-KR" dirty="0"/>
              <a:t>1</a:t>
            </a:r>
            <a:r>
              <a:rPr lang="ko-KR" altLang="en-US" dirty="0"/>
              <a:t>개 이상 선택 필요</a:t>
            </a:r>
            <a:r>
              <a:rPr lang="en-US" altLang="ko-KR" dirty="0"/>
              <a:t/>
            </a:r>
            <a:br>
              <a:rPr lang="en-US" altLang="ko-KR" dirty="0"/>
            </a:br>
            <a:r>
              <a:rPr lang="en-US" altLang="ko-KR" dirty="0"/>
              <a:t>  &gt; </a:t>
            </a:r>
            <a:r>
              <a:rPr lang="ko-KR" altLang="en-US" dirty="0"/>
              <a:t>물품</a:t>
            </a:r>
            <a:r>
              <a:rPr lang="en-US" altLang="ko-KR" dirty="0"/>
              <a:t>, </a:t>
            </a:r>
            <a:r>
              <a:rPr lang="ko-KR" altLang="en-US" dirty="0"/>
              <a:t>용역</a:t>
            </a:r>
            <a:r>
              <a:rPr lang="en-US" altLang="ko-KR" dirty="0"/>
              <a:t>, </a:t>
            </a:r>
            <a:r>
              <a:rPr lang="ko-KR" altLang="en-US" dirty="0"/>
              <a:t>공사</a:t>
            </a:r>
            <a:r>
              <a:rPr lang="en-US" altLang="ko-KR" dirty="0"/>
              <a:t>, </a:t>
            </a:r>
            <a:r>
              <a:rPr lang="ko-KR" altLang="en-US" dirty="0"/>
              <a:t>국외 모두 개별 선택 시 </a:t>
            </a:r>
            <a:r>
              <a:rPr lang="en-US" altLang="ko-KR" dirty="0">
                <a:sym typeface="Wingdings" panose="05000000000000000000" pitchFamily="2" charset="2"/>
              </a:rPr>
              <a:t> </a:t>
            </a:r>
            <a:r>
              <a:rPr lang="ko-KR" altLang="en-US" dirty="0">
                <a:sym typeface="Wingdings" panose="05000000000000000000" pitchFamily="2" charset="2"/>
              </a:rPr>
              <a:t>전체 활성화</a:t>
            </a:r>
            <a:endParaRPr lang="en-US" altLang="ko-KR" dirty="0"/>
          </a:p>
          <a:p>
            <a:pPr marL="228600" indent="-228600">
              <a:buFont typeface="+mj-lt"/>
              <a:buAutoNum type="arabicPeriod"/>
            </a:pPr>
            <a:r>
              <a:rPr lang="ko-KR" altLang="en-US" dirty="0"/>
              <a:t>일자 설정</a:t>
            </a:r>
            <a:r>
              <a:rPr lang="en-US" altLang="ko-KR" dirty="0"/>
              <a:t/>
            </a:r>
            <a:br>
              <a:rPr lang="en-US" altLang="ko-KR" dirty="0"/>
            </a:br>
            <a:r>
              <a:rPr lang="en-US" altLang="ko-KR" dirty="0"/>
              <a:t>- </a:t>
            </a:r>
            <a:r>
              <a:rPr lang="ko-KR" altLang="en-US" dirty="0" err="1"/>
              <a:t>개찰일자</a:t>
            </a:r>
            <a:r>
              <a:rPr lang="en-US" altLang="ko-KR" dirty="0"/>
              <a:t>, </a:t>
            </a:r>
            <a:r>
              <a:rPr lang="ko-KR" altLang="en-US" dirty="0" err="1"/>
              <a:t>협상일자</a:t>
            </a:r>
            <a:r>
              <a:rPr lang="ko-KR" altLang="en-US" dirty="0">
                <a:solidFill>
                  <a:srgbClr val="FF0000"/>
                </a:solidFill>
              </a:rPr>
              <a:t> </a:t>
            </a:r>
            <a:r>
              <a:rPr lang="ko-KR" altLang="en-US" dirty="0" err="1"/>
              <a:t>토글</a:t>
            </a:r>
            <a:r>
              <a:rPr lang="ko-KR" altLang="en-US" dirty="0"/>
              <a:t> 스위치</a:t>
            </a:r>
            <a:r>
              <a:rPr lang="en-US" altLang="ko-KR" dirty="0"/>
              <a:t/>
            </a:r>
            <a:br>
              <a:rPr lang="en-US" altLang="ko-KR" dirty="0"/>
            </a:br>
            <a:r>
              <a:rPr lang="en-US" altLang="ko-KR" dirty="0"/>
              <a:t>- </a:t>
            </a:r>
            <a:r>
              <a:rPr lang="ko-KR" altLang="en-US" dirty="0"/>
              <a:t>직접 입력 가능</a:t>
            </a:r>
            <a:r>
              <a:rPr lang="en-US" altLang="ko-KR" dirty="0"/>
              <a:t/>
            </a:r>
            <a:br>
              <a:rPr lang="en-US" altLang="ko-KR" dirty="0"/>
            </a:br>
            <a:r>
              <a:rPr lang="en-US" altLang="ko-KR" dirty="0"/>
              <a:t>- </a:t>
            </a:r>
            <a:r>
              <a:rPr lang="ko-KR" altLang="en-US" dirty="0"/>
              <a:t>아이콘 </a:t>
            </a:r>
            <a:r>
              <a:rPr lang="en-US" altLang="ko-KR" dirty="0">
                <a:sym typeface="Wingdings" panose="05000000000000000000" pitchFamily="2" charset="2"/>
              </a:rPr>
              <a:t> </a:t>
            </a:r>
            <a:r>
              <a:rPr lang="ko-KR" altLang="en-US" dirty="0">
                <a:sym typeface="Wingdings" panose="05000000000000000000" pitchFamily="2" charset="2"/>
              </a:rPr>
              <a:t>데이트 </a:t>
            </a:r>
            <a:r>
              <a:rPr lang="ko-KR" altLang="en-US" dirty="0" err="1">
                <a:sym typeface="Wingdings" panose="05000000000000000000" pitchFamily="2" charset="2"/>
              </a:rPr>
              <a:t>피커</a:t>
            </a:r>
            <a:r>
              <a:rPr lang="ko-KR" altLang="en-US" dirty="0">
                <a:sym typeface="Wingdings" panose="05000000000000000000" pitchFamily="2" charset="2"/>
              </a:rPr>
              <a:t> 호출</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지정 설정으로 날짜 즉시 업데이트</a:t>
            </a:r>
            <a:endParaRPr lang="en-US" altLang="ko-KR" dirty="0">
              <a:sym typeface="Wingdings" panose="05000000000000000000" pitchFamily="2" charset="2"/>
            </a:endParaRPr>
          </a:p>
          <a:p>
            <a:pPr marL="228600" indent="-228600">
              <a:buFont typeface="+mj-lt"/>
              <a:buAutoNum type="arabicPeriod"/>
            </a:pPr>
            <a:r>
              <a:rPr lang="ko-KR" altLang="en-US" dirty="0" err="1">
                <a:sym typeface="Wingdings" panose="05000000000000000000" pitchFamily="2" charset="2"/>
              </a:rPr>
              <a:t>검색어</a:t>
            </a:r>
            <a:r>
              <a:rPr lang="ko-KR" altLang="en-US" dirty="0">
                <a:sym typeface="Wingdings" panose="05000000000000000000" pitchFamily="2" charset="2"/>
              </a:rPr>
              <a:t> 영역</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사용자가 입력하고자 하는 내역만 입력 후 검색 가능</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번호 검색은 </a:t>
            </a:r>
            <a:r>
              <a:rPr lang="ko-KR" altLang="en-US" dirty="0" err="1">
                <a:sym typeface="Wingdings" panose="05000000000000000000" pitchFamily="2" charset="2"/>
              </a:rPr>
              <a:t>공고번호</a:t>
            </a:r>
            <a:r>
              <a:rPr lang="en-US" altLang="ko-KR" dirty="0">
                <a:sym typeface="Wingdings" panose="05000000000000000000" pitchFamily="2" charset="2"/>
              </a:rPr>
              <a:t>, </a:t>
            </a:r>
            <a:r>
              <a:rPr lang="ko-KR" altLang="en-US" dirty="0" err="1">
                <a:sym typeface="Wingdings" panose="05000000000000000000" pitchFamily="2" charset="2"/>
              </a:rPr>
              <a:t>통합참조</a:t>
            </a:r>
            <a:r>
              <a:rPr lang="ko-KR" altLang="en-US" dirty="0">
                <a:sym typeface="Wingdings" panose="05000000000000000000" pitchFamily="2" charset="2"/>
              </a:rPr>
              <a:t> 번호 </a:t>
            </a:r>
            <a:r>
              <a:rPr lang="ko-KR" altLang="en-US" dirty="0" err="1">
                <a:sym typeface="Wingdings" panose="05000000000000000000" pitchFamily="2" charset="2"/>
              </a:rPr>
              <a:t>토글</a:t>
            </a:r>
            <a:r>
              <a:rPr lang="ko-KR" altLang="en-US" dirty="0">
                <a:sym typeface="Wingdings" panose="05000000000000000000" pitchFamily="2" charset="2"/>
              </a:rPr>
              <a:t> 스위치로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지역 검색은 팝업을 통해 주소 검색 및 반영 </a:t>
            </a:r>
            <a:r>
              <a:rPr lang="en-US" altLang="ko-KR" dirty="0">
                <a:sym typeface="Wingdings" panose="05000000000000000000" pitchFamily="2" charset="2"/>
              </a:rPr>
              <a:t>(</a:t>
            </a:r>
            <a:r>
              <a:rPr lang="ko-KR" altLang="en-US" dirty="0" err="1">
                <a:sym typeface="Wingdings" panose="05000000000000000000" pitchFamily="2" charset="2"/>
              </a:rPr>
              <a:t>시군구까지</a:t>
            </a:r>
            <a:r>
              <a:rPr lang="ko-KR" altLang="en-US" dirty="0">
                <a:sym typeface="Wingdings" panose="05000000000000000000" pitchFamily="2" charset="2"/>
              </a:rPr>
              <a:t> 검색</a:t>
            </a:r>
            <a:r>
              <a:rPr lang="en-US" altLang="ko-KR" dirty="0">
                <a:sym typeface="Wingdings" panose="05000000000000000000" pitchFamily="2" charset="2"/>
              </a:rPr>
              <a:t>)</a:t>
            </a:r>
          </a:p>
          <a:p>
            <a:pPr marL="228600" indent="-228600">
              <a:buFont typeface="+mj-lt"/>
              <a:buAutoNum type="arabicPeriod"/>
            </a:pPr>
            <a:r>
              <a:rPr lang="ko-KR" altLang="en-US" dirty="0">
                <a:sym typeface="Wingdings" panose="05000000000000000000" pitchFamily="2" charset="2"/>
              </a:rPr>
              <a:t>구분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드롭 다운으로 각 </a:t>
            </a:r>
            <a:r>
              <a:rPr lang="ko-KR" altLang="en-US" dirty="0" err="1">
                <a:sym typeface="Wingdings" panose="05000000000000000000" pitchFamily="2" charset="2"/>
              </a:rPr>
              <a:t>구분값</a:t>
            </a:r>
            <a:r>
              <a:rPr lang="ko-KR" altLang="en-US" dirty="0">
                <a:sym typeface="Wingdings" panose="05000000000000000000" pitchFamily="2" charset="2"/>
              </a:rPr>
              <a:t> </a:t>
            </a:r>
            <a:r>
              <a:rPr lang="ko-KR" altLang="en-US" dirty="0" smtClean="0">
                <a:sym typeface="Wingdings" panose="05000000000000000000" pitchFamily="2" charset="2"/>
              </a:rPr>
              <a:t>설정</a:t>
            </a:r>
            <a:endParaRPr lang="en-US" altLang="ko-KR" dirty="0">
              <a:sym typeface="Wingdings" panose="05000000000000000000" pitchFamily="2" charset="2"/>
            </a:endParaRPr>
          </a:p>
          <a:p>
            <a:pPr marL="228600" indent="-228600">
              <a:buFont typeface="+mj-lt"/>
              <a:buAutoNum type="arabicPeriod"/>
            </a:pPr>
            <a:r>
              <a:rPr lang="ko-KR" altLang="en-US" dirty="0">
                <a:sym typeface="Wingdings" panose="05000000000000000000" pitchFamily="2" charset="2"/>
              </a:rPr>
              <a:t>검색 버튼 영역은 화면 하단 </a:t>
            </a:r>
            <a:r>
              <a:rPr lang="ko-KR" altLang="en-US" dirty="0" err="1">
                <a:sym typeface="Wingdings" panose="05000000000000000000" pitchFamily="2" charset="2"/>
              </a:rPr>
              <a:t>플로팅</a:t>
            </a:r>
            <a:r>
              <a:rPr lang="ko-KR" altLang="en-US" dirty="0">
                <a:sym typeface="Wingdings" panose="05000000000000000000" pitchFamily="2" charset="2"/>
              </a:rPr>
              <a:t> 처리</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검색 필터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공고와 동일한 검색 필터로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MUI-BD-08-M02</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5" name="그룹 84"/>
          <p:cNvGrpSpPr/>
          <p:nvPr/>
        </p:nvGrpSpPr>
        <p:grpSpPr>
          <a:xfrm>
            <a:off x="6258712" y="1650089"/>
            <a:ext cx="94010" cy="94010"/>
            <a:chOff x="6812560" y="3297172"/>
            <a:chExt cx="94010" cy="94010"/>
          </a:xfrm>
        </p:grpSpPr>
        <p:cxnSp>
          <p:nvCxnSpPr>
            <p:cNvPr id="86" name="직선 연결선 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87" name="직선 연결선 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88" name="타원 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16" name="타원 115">
            <a:extLst>
              <a:ext uri="{FF2B5EF4-FFF2-40B4-BE49-F238E27FC236}">
                <a16:creationId xmlns:a16="http://schemas.microsoft.com/office/drawing/2014/main" id="{37A7FF4F-0EAA-1463-560A-D5EC24416103}"/>
              </a:ext>
            </a:extLst>
          </p:cNvPr>
          <p:cNvSpPr/>
          <p:nvPr/>
        </p:nvSpPr>
        <p:spPr>
          <a:xfrm>
            <a:off x="3694089" y="1970873"/>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5</a:t>
            </a:r>
            <a:endParaRPr lang="ko-KR" altLang="en-US" sz="1200"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TextBox 127">
            <a:extLst>
              <a:ext uri="{FF2B5EF4-FFF2-40B4-BE49-F238E27FC236}">
                <a16:creationId xmlns:a16="http://schemas.microsoft.com/office/drawing/2014/main" id="{FFC49AEA-2A8F-250C-A86A-A7751D9706C3}"/>
              </a:ext>
            </a:extLst>
          </p:cNvPr>
          <p:cNvSpPr txBox="1"/>
          <p:nvPr/>
        </p:nvSpPr>
        <p:spPr>
          <a:xfrm>
            <a:off x="778515" y="199593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업무구분</a:t>
            </a:r>
            <a:endParaRPr lang="ko-KR" altLang="en-US" sz="700" b="1"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941620" y="2226095"/>
            <a:ext cx="2305144" cy="1077218"/>
          </a:xfrm>
          <a:prstGeom prst="rect">
            <a:avLst/>
          </a:prstGeom>
          <a:noFill/>
        </p:spPr>
        <p:txBody>
          <a:bodyPr wrap="square" lIns="0" tIns="0" rIns="0" bIns="0" rtlCol="0">
            <a:spAutoFit/>
          </a:bodyPr>
          <a:lstStyle/>
          <a:p>
            <a:pPr>
              <a:lnSpc>
                <a:spcPct val="200000"/>
              </a:lnSpc>
            </a:pPr>
            <a:r>
              <a:rPr lang="ko-KR" altLang="en-US" sz="700" dirty="0">
                <a:latin typeface="+mn-ea"/>
              </a:rPr>
              <a:t>전체</a:t>
            </a:r>
            <a:endParaRPr lang="en-US" altLang="ko-KR" sz="700" dirty="0">
              <a:latin typeface="+mn-ea"/>
            </a:endParaRPr>
          </a:p>
          <a:p>
            <a:pPr>
              <a:lnSpc>
                <a:spcPct val="200000"/>
              </a:lnSpc>
            </a:pPr>
            <a:r>
              <a:rPr lang="ko-KR" altLang="en-US" sz="700" dirty="0">
                <a:latin typeface="+mn-ea"/>
              </a:rPr>
              <a:t>물품</a:t>
            </a:r>
            <a:endParaRPr lang="en-US" altLang="ko-KR" sz="700" dirty="0">
              <a:latin typeface="+mn-ea"/>
            </a:endParaRPr>
          </a:p>
          <a:p>
            <a:pPr>
              <a:lnSpc>
                <a:spcPct val="200000"/>
              </a:lnSpc>
            </a:pPr>
            <a:r>
              <a:rPr lang="ko-KR" altLang="en-US" sz="700" dirty="0">
                <a:latin typeface="+mn-ea"/>
              </a:rPr>
              <a:t>용역</a:t>
            </a:r>
            <a:endParaRPr lang="en-US" altLang="ko-KR" sz="700" dirty="0">
              <a:latin typeface="+mn-ea"/>
            </a:endParaRPr>
          </a:p>
          <a:p>
            <a:pPr>
              <a:lnSpc>
                <a:spcPct val="200000"/>
              </a:lnSpc>
            </a:pPr>
            <a:r>
              <a:rPr lang="ko-KR" altLang="en-US" sz="700" dirty="0">
                <a:latin typeface="+mn-ea"/>
              </a:rPr>
              <a:t>공사</a:t>
            </a:r>
            <a:endParaRPr lang="en-US" altLang="ko-KR" sz="700" dirty="0">
              <a:latin typeface="+mn-ea"/>
            </a:endParaRPr>
          </a:p>
          <a:p>
            <a:pPr>
              <a:lnSpc>
                <a:spcPct val="200000"/>
              </a:lnSpc>
            </a:pPr>
            <a:r>
              <a:rPr lang="ko-KR" altLang="en-US" sz="700" dirty="0">
                <a:latin typeface="+mn-ea"/>
              </a:rPr>
              <a:t>국외</a:t>
            </a:r>
            <a:endParaRPr lang="en-US" altLang="ko-KR" sz="700" dirty="0">
              <a:latin typeface="+mn-ea"/>
            </a:endParaRPr>
          </a:p>
        </p:txBody>
      </p:sp>
      <p:sp>
        <p:nvSpPr>
          <p:cNvPr id="132" name="직사각형 131"/>
          <p:cNvSpPr/>
          <p:nvPr/>
        </p:nvSpPr>
        <p:spPr>
          <a:xfrm>
            <a:off x="772169" y="2292407"/>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직사각형 132"/>
          <p:cNvSpPr/>
          <p:nvPr/>
        </p:nvSpPr>
        <p:spPr>
          <a:xfrm>
            <a:off x="772169" y="2509633"/>
            <a:ext cx="107950" cy="107950"/>
          </a:xfrm>
          <a:prstGeom prst="rect">
            <a:avLst/>
          </a:prstGeom>
          <a:solidFill>
            <a:schemeClr val="accent1">
              <a:lumMod val="75000"/>
            </a:schemeClr>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4" name="그룹 133"/>
          <p:cNvGrpSpPr/>
          <p:nvPr/>
        </p:nvGrpSpPr>
        <p:grpSpPr>
          <a:xfrm flipV="1">
            <a:off x="3140949" y="2093627"/>
            <a:ext cx="91438" cy="45719"/>
            <a:chOff x="6812560" y="3297172"/>
            <a:chExt cx="94010" cy="47005"/>
          </a:xfrm>
        </p:grpSpPr>
        <p:cxnSp>
          <p:nvCxnSpPr>
            <p:cNvPr id="135" name="직선 연결선 1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6" name="직선 연결선 1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7" name="직사각형 136"/>
          <p:cNvSpPr/>
          <p:nvPr/>
        </p:nvSpPr>
        <p:spPr>
          <a:xfrm>
            <a:off x="772169" y="2706723"/>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직사각형 137"/>
          <p:cNvSpPr/>
          <p:nvPr/>
        </p:nvSpPr>
        <p:spPr>
          <a:xfrm>
            <a:off x="772169" y="2921384"/>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p:cNvSpPr/>
          <p:nvPr/>
        </p:nvSpPr>
        <p:spPr>
          <a:xfrm>
            <a:off x="772169" y="3133350"/>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p:cNvSpPr txBox="1"/>
          <p:nvPr/>
        </p:nvSpPr>
        <p:spPr>
          <a:xfrm>
            <a:off x="712771" y="2471275"/>
            <a:ext cx="221536" cy="184666"/>
          </a:xfrm>
          <a:prstGeom prst="rect">
            <a:avLst/>
          </a:prstGeom>
          <a:noFill/>
        </p:spPr>
        <p:txBody>
          <a:bodyPr wrap="none" rtlCol="0">
            <a:spAutoFit/>
          </a:bodyPr>
          <a:lstStyle/>
          <a:p>
            <a:r>
              <a:rPr lang="en-US" altLang="ko-KR" sz="600" dirty="0">
                <a:solidFill>
                  <a:schemeClr val="bg1"/>
                </a:solidFill>
              </a:rPr>
              <a:t>v</a:t>
            </a:r>
            <a:endParaRPr lang="ko-KR" altLang="en-US" sz="600" dirty="0">
              <a:solidFill>
                <a:schemeClr val="bg1"/>
              </a:solidFill>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675399" y="33990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1</a:t>
            </a:r>
            <a:endParaRPr lang="ko-KR" altLang="en-US" sz="1200" dirty="0"/>
          </a:p>
        </p:txBody>
      </p:sp>
      <p:sp>
        <p:nvSpPr>
          <p:cNvPr id="154" name="타원 153">
            <a:extLst>
              <a:ext uri="{FF2B5EF4-FFF2-40B4-BE49-F238E27FC236}">
                <a16:creationId xmlns:a16="http://schemas.microsoft.com/office/drawing/2014/main" id="{37A7FF4F-0EAA-1463-560A-D5EC24416103}"/>
              </a:ext>
            </a:extLst>
          </p:cNvPr>
          <p:cNvSpPr/>
          <p:nvPr/>
        </p:nvSpPr>
        <p:spPr>
          <a:xfrm>
            <a:off x="573754" y="2049192"/>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2</a:t>
            </a:r>
            <a:endParaRPr lang="ko-KR" altLang="en-US" sz="1200" dirty="0"/>
          </a:p>
        </p:txBody>
      </p:sp>
      <p:sp>
        <p:nvSpPr>
          <p:cNvPr id="155" name="타원 154">
            <a:extLst>
              <a:ext uri="{FF2B5EF4-FFF2-40B4-BE49-F238E27FC236}">
                <a16:creationId xmlns:a16="http://schemas.microsoft.com/office/drawing/2014/main" id="{37A7FF4F-0EAA-1463-560A-D5EC24416103}"/>
              </a:ext>
            </a:extLst>
          </p:cNvPr>
          <p:cNvSpPr/>
          <p:nvPr/>
        </p:nvSpPr>
        <p:spPr>
          <a:xfrm>
            <a:off x="573754" y="3508313"/>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3</a:t>
            </a:r>
            <a:endParaRPr lang="ko-KR" altLang="en-US" sz="1200" dirty="0"/>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3490553"/>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일자 설정</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3713091"/>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3588243"/>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3532735"/>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3532735"/>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3559275"/>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3559275"/>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협상</a:t>
            </a: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3740722"/>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3760669"/>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3971391"/>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3740722"/>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428814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438825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4485947"/>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4668748"/>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입찰건명을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4625248"/>
            <a:ext cx="670770" cy="1292662"/>
          </a:xfrm>
          <a:prstGeom prst="rect">
            <a:avLst/>
          </a:prstGeom>
          <a:noFill/>
        </p:spPr>
        <p:txBody>
          <a:bodyPr wrap="square" lIns="0" tIns="0" rIns="0" bIns="0" rtlCol="0">
            <a:spAutoFit/>
          </a:bodyPr>
          <a:lstStyle/>
          <a:p>
            <a:pPr>
              <a:lnSpc>
                <a:spcPct val="200000"/>
              </a:lnSpc>
            </a:pPr>
            <a:r>
              <a:rPr lang="ko-KR" altLang="en-US" sz="700" dirty="0" smtClean="0">
                <a:latin typeface="+mn-ea"/>
              </a:rPr>
              <a:t>입찰</a:t>
            </a:r>
            <a:r>
              <a:rPr lang="en-US" altLang="ko-KR" sz="700" dirty="0" smtClean="0">
                <a:latin typeface="+mn-ea"/>
              </a:rPr>
              <a:t>/</a:t>
            </a:r>
            <a:r>
              <a:rPr lang="ko-KR" altLang="en-US" sz="700" dirty="0" err="1" smtClean="0">
                <a:latin typeface="+mn-ea"/>
              </a:rPr>
              <a:t>협상건명</a:t>
            </a:r>
            <a:endParaRPr lang="en-US" altLang="ko-KR" sz="700" dirty="0">
              <a:latin typeface="+mn-ea"/>
            </a:endParaRPr>
          </a:p>
          <a:p>
            <a:pPr>
              <a:lnSpc>
                <a:spcPct val="200000"/>
              </a:lnSpc>
            </a:pPr>
            <a:r>
              <a:rPr lang="ko-KR" altLang="en-US" sz="700" dirty="0">
                <a:latin typeface="+mn-ea"/>
              </a:rPr>
              <a:t>번호 검색</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smtClean="0">
                <a:latin typeface="+mn-ea"/>
              </a:rPr>
              <a:t>G2b </a:t>
            </a:r>
            <a:r>
              <a:rPr lang="ko-KR" altLang="en-US" sz="700" dirty="0" err="1" smtClean="0">
                <a:latin typeface="+mn-ea"/>
              </a:rPr>
              <a:t>공고번호</a:t>
            </a:r>
            <a:endParaRPr lang="en-US" altLang="ko-KR" sz="700" dirty="0" smtClean="0">
              <a:latin typeface="+mn-ea"/>
            </a:endParaRPr>
          </a:p>
          <a:p>
            <a:pPr>
              <a:lnSpc>
                <a:spcPct val="200000"/>
              </a:lnSpc>
            </a:pPr>
            <a:r>
              <a:rPr lang="ko-KR" altLang="en-US" sz="700" dirty="0" smtClean="0">
                <a:latin typeface="+mn-ea"/>
              </a:rPr>
              <a:t>품목명</a:t>
            </a:r>
            <a:endParaRPr lang="en-US" altLang="ko-KR" sz="700" dirty="0" smtClean="0">
              <a:latin typeface="+mn-ea"/>
            </a:endParaRPr>
          </a:p>
          <a:p>
            <a:pPr>
              <a:lnSpc>
                <a:spcPct val="200000"/>
              </a:lnSpc>
            </a:pPr>
            <a:r>
              <a:rPr lang="ko-KR" altLang="en-US" sz="700" dirty="0" smtClean="0">
                <a:latin typeface="+mn-ea"/>
              </a:rPr>
              <a:t>발주기관</a:t>
            </a:r>
            <a:endParaRPr lang="en-US" altLang="ko-KR" sz="700" dirty="0">
              <a:latin typeface="+mn-ea"/>
            </a:endParaRPr>
          </a:p>
        </p:txBody>
      </p:sp>
      <p:sp>
        <p:nvSpPr>
          <p:cNvPr id="207" name="모서리가 둥근 직사각형 206"/>
          <p:cNvSpPr/>
          <p:nvPr/>
        </p:nvSpPr>
        <p:spPr>
          <a:xfrm>
            <a:off x="1449284" y="506380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8" name="모서리가 둥근 직사각형 207"/>
          <p:cNvSpPr/>
          <p:nvPr/>
        </p:nvSpPr>
        <p:spPr>
          <a:xfrm>
            <a:off x="1449284" y="5752568"/>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발주기관을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16" name="모서리가 둥근 직사각형 215"/>
          <p:cNvSpPr/>
          <p:nvPr/>
        </p:nvSpPr>
        <p:spPr>
          <a:xfrm>
            <a:off x="1467217" y="4894922"/>
            <a:ext cx="116168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17" name="모서리가 둥근 직사각형 216"/>
          <p:cNvSpPr/>
          <p:nvPr/>
        </p:nvSpPr>
        <p:spPr>
          <a:xfrm>
            <a:off x="1467219" y="4894922"/>
            <a:ext cx="693964"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1502988" y="4921462"/>
            <a:ext cx="621969" cy="107722"/>
          </a:xfrm>
          <a:prstGeom prst="rect">
            <a:avLst/>
          </a:prstGeom>
          <a:noFill/>
        </p:spPr>
        <p:txBody>
          <a:bodyPr wrap="square" lIns="0" tIns="0" rIns="0" bIns="0" rtlCol="0">
            <a:spAutoFit/>
          </a:bodyPr>
          <a:lstStyle/>
          <a:p>
            <a:pPr algn="ctr"/>
            <a:r>
              <a:rPr lang="ko-KR" altLang="en-US" sz="700" dirty="0" smtClean="0">
                <a:solidFill>
                  <a:schemeClr val="bg1"/>
                </a:solidFill>
                <a:latin typeface="+mn-ea"/>
              </a:rPr>
              <a:t>판단</a:t>
            </a:r>
            <a:r>
              <a:rPr lang="en-US" altLang="ko-KR" sz="700" dirty="0" smtClean="0">
                <a:solidFill>
                  <a:schemeClr val="bg1"/>
                </a:solidFill>
                <a:latin typeface="+mn-ea"/>
              </a:rPr>
              <a:t>/</a:t>
            </a:r>
            <a:r>
              <a:rPr lang="ko-KR" altLang="en-US" sz="700" dirty="0" err="1" smtClean="0">
                <a:solidFill>
                  <a:schemeClr val="bg1"/>
                </a:solidFill>
                <a:latin typeface="+mn-ea"/>
              </a:rPr>
              <a:t>공사번호</a:t>
            </a:r>
            <a:endParaRPr lang="ko-KR" altLang="en-US" sz="700" dirty="0">
              <a:solidFill>
                <a:schemeClr val="bg1"/>
              </a:solidFill>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2195556" y="4921462"/>
            <a:ext cx="363180" cy="107722"/>
          </a:xfrm>
          <a:prstGeom prst="rect">
            <a:avLst/>
          </a:prstGeom>
          <a:noFill/>
        </p:spPr>
        <p:txBody>
          <a:bodyPr wrap="square" lIns="0" tIns="0" rIns="0" bIns="0" rtlCol="0">
            <a:spAutoFit/>
          </a:bodyPr>
          <a:lstStyle/>
          <a:p>
            <a:pPr algn="ctr"/>
            <a:r>
              <a:rPr lang="ko-KR" altLang="en-US" sz="700" dirty="0" err="1">
                <a:solidFill>
                  <a:schemeClr val="bg1"/>
                </a:solidFill>
                <a:latin typeface="+mn-ea"/>
              </a:rPr>
              <a:t>통합참조</a:t>
            </a:r>
            <a:endParaRPr lang="ko-KR" altLang="en-US" sz="700" dirty="0">
              <a:solidFill>
                <a:schemeClr val="bg1"/>
              </a:solidFill>
              <a:latin typeface="+mn-ea"/>
            </a:endParaRPr>
          </a:p>
        </p:txBody>
      </p:sp>
      <p:grpSp>
        <p:nvGrpSpPr>
          <p:cNvPr id="221" name="그룹 220"/>
          <p:cNvGrpSpPr/>
          <p:nvPr/>
        </p:nvGrpSpPr>
        <p:grpSpPr>
          <a:xfrm>
            <a:off x="3795734"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5" name="TextBox 224">
            <a:extLst>
              <a:ext uri="{FF2B5EF4-FFF2-40B4-BE49-F238E27FC236}">
                <a16:creationId xmlns:a16="http://schemas.microsoft.com/office/drawing/2014/main" id="{FFC49AEA-2A8F-250C-A86A-A7751D9706C3}"/>
              </a:ext>
            </a:extLst>
          </p:cNvPr>
          <p:cNvSpPr txBox="1"/>
          <p:nvPr/>
        </p:nvSpPr>
        <p:spPr>
          <a:xfrm>
            <a:off x="3898850" y="1956832"/>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구분 설정</a:t>
            </a:r>
          </a:p>
        </p:txBody>
      </p:sp>
      <p:grpSp>
        <p:nvGrpSpPr>
          <p:cNvPr id="226" name="그룹 225"/>
          <p:cNvGrpSpPr/>
          <p:nvPr/>
        </p:nvGrpSpPr>
        <p:grpSpPr>
          <a:xfrm flipV="1">
            <a:off x="6261284" y="2054522"/>
            <a:ext cx="91438" cy="45719"/>
            <a:chOff x="6812560" y="3297172"/>
            <a:chExt cx="94010" cy="47005"/>
          </a:xfrm>
        </p:grpSpPr>
        <p:cxnSp>
          <p:nvCxnSpPr>
            <p:cNvPr id="227" name="직선 연결선 22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8" name="직선 연결선 22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9" name="모서리가 둥근 직사각형 228"/>
          <p:cNvSpPr/>
          <p:nvPr/>
        </p:nvSpPr>
        <p:spPr>
          <a:xfrm>
            <a:off x="4569619" y="223732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3898850" y="2185197"/>
            <a:ext cx="670770" cy="1357295"/>
          </a:xfrm>
          <a:prstGeom prst="rect">
            <a:avLst/>
          </a:prstGeom>
          <a:noFill/>
        </p:spPr>
        <p:txBody>
          <a:bodyPr wrap="square" lIns="0" tIns="0" rIns="0" bIns="0" rtlCol="0">
            <a:spAutoFit/>
          </a:bodyPr>
          <a:lstStyle/>
          <a:p>
            <a:pPr>
              <a:lnSpc>
                <a:spcPct val="210000"/>
              </a:lnSpc>
            </a:pPr>
            <a:r>
              <a:rPr lang="ko-KR" altLang="en-US" sz="700" dirty="0" smtClean="0">
                <a:latin typeface="+mn-ea"/>
              </a:rPr>
              <a:t>입찰결과</a:t>
            </a:r>
            <a:endParaRPr lang="en-US" altLang="ko-KR" sz="700" dirty="0" smtClean="0">
              <a:latin typeface="+mn-ea"/>
            </a:endParaRPr>
          </a:p>
          <a:p>
            <a:pPr>
              <a:lnSpc>
                <a:spcPct val="210000"/>
              </a:lnSpc>
            </a:pPr>
            <a:r>
              <a:rPr lang="ko-KR" altLang="en-US" sz="700" dirty="0" err="1" smtClean="0">
                <a:latin typeface="+mn-ea"/>
              </a:rPr>
              <a:t>입찰구분</a:t>
            </a:r>
            <a:endParaRPr lang="en-US" altLang="ko-KR" sz="700" dirty="0">
              <a:latin typeface="+mn-ea"/>
            </a:endParaRPr>
          </a:p>
          <a:p>
            <a:pPr>
              <a:lnSpc>
                <a:spcPct val="210000"/>
              </a:lnSpc>
            </a:pPr>
            <a:r>
              <a:rPr lang="ko-KR" altLang="en-US" sz="700" dirty="0">
                <a:latin typeface="+mn-ea"/>
              </a:rPr>
              <a:t>계약방법</a:t>
            </a:r>
            <a:endParaRPr lang="en-US" altLang="ko-KR" sz="700" dirty="0">
              <a:latin typeface="+mn-ea"/>
            </a:endParaRPr>
          </a:p>
          <a:p>
            <a:pPr>
              <a:lnSpc>
                <a:spcPct val="210000"/>
              </a:lnSpc>
            </a:pPr>
            <a:r>
              <a:rPr lang="ko-KR" altLang="en-US" sz="700" dirty="0" smtClean="0">
                <a:latin typeface="+mn-ea"/>
              </a:rPr>
              <a:t>낙찰자결정방법</a:t>
            </a:r>
            <a:endParaRPr lang="en-US" altLang="ko-KR" sz="700" dirty="0">
              <a:latin typeface="+mn-ea"/>
            </a:endParaRPr>
          </a:p>
          <a:p>
            <a:pPr>
              <a:lnSpc>
                <a:spcPct val="210000"/>
              </a:lnSpc>
            </a:pPr>
            <a:r>
              <a:rPr lang="ko-KR" altLang="en-US" sz="700" dirty="0" smtClean="0">
                <a:latin typeface="+mn-ea"/>
              </a:rPr>
              <a:t>진행상태</a:t>
            </a:r>
            <a:endParaRPr lang="en-US" altLang="ko-KR" sz="700" dirty="0" smtClean="0">
              <a:latin typeface="+mn-ea"/>
            </a:endParaRPr>
          </a:p>
          <a:p>
            <a:pPr>
              <a:lnSpc>
                <a:spcPct val="210000"/>
              </a:lnSpc>
            </a:pPr>
            <a:r>
              <a:rPr lang="ko-KR" altLang="en-US" sz="700" dirty="0" smtClean="0">
                <a:latin typeface="+mn-ea"/>
              </a:rPr>
              <a:t>협상진행상태</a:t>
            </a:r>
            <a:endParaRPr lang="en-US" altLang="ko-KR" sz="700" dirty="0">
              <a:latin typeface="+mn-ea"/>
            </a:endParaRPr>
          </a:p>
        </p:txBody>
      </p:sp>
      <p:sp>
        <p:nvSpPr>
          <p:cNvPr id="231" name="모서리가 둥근 직사각형 230"/>
          <p:cNvSpPr/>
          <p:nvPr/>
        </p:nvSpPr>
        <p:spPr>
          <a:xfrm>
            <a:off x="4569619" y="2886459"/>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2" name="모서리가 둥근 직사각형 231"/>
          <p:cNvSpPr/>
          <p:nvPr/>
        </p:nvSpPr>
        <p:spPr>
          <a:xfrm>
            <a:off x="4569619" y="310803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3" name="모서리가 둥근 직사각형 232"/>
          <p:cNvSpPr/>
          <p:nvPr/>
        </p:nvSpPr>
        <p:spPr>
          <a:xfrm>
            <a:off x="4572570" y="3344258"/>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234" name="그룹 233"/>
          <p:cNvGrpSpPr/>
          <p:nvPr/>
        </p:nvGrpSpPr>
        <p:grpSpPr>
          <a:xfrm>
            <a:off x="6261284" y="3414999"/>
            <a:ext cx="91438" cy="45719"/>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1" name="그룹 240"/>
          <p:cNvGrpSpPr/>
          <p:nvPr/>
        </p:nvGrpSpPr>
        <p:grpSpPr>
          <a:xfrm>
            <a:off x="6261284" y="3181111"/>
            <a:ext cx="91438" cy="45719"/>
            <a:chOff x="6812560" y="3297172"/>
            <a:chExt cx="94010" cy="47005"/>
          </a:xfrm>
        </p:grpSpPr>
        <p:cxnSp>
          <p:nvCxnSpPr>
            <p:cNvPr id="242" name="직선 연결선 2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3" name="직선 연결선 2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4" name="그룹 243"/>
          <p:cNvGrpSpPr/>
          <p:nvPr/>
        </p:nvGrpSpPr>
        <p:grpSpPr>
          <a:xfrm>
            <a:off x="6261284" y="2964944"/>
            <a:ext cx="91438" cy="45719"/>
            <a:chOff x="6812560" y="3297172"/>
            <a:chExt cx="94010" cy="47005"/>
          </a:xfrm>
        </p:grpSpPr>
        <p:cxnSp>
          <p:nvCxnSpPr>
            <p:cNvPr id="245" name="직선 연결선 2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6" name="직선 연결선 2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7" name="그룹 246"/>
          <p:cNvGrpSpPr/>
          <p:nvPr/>
        </p:nvGrpSpPr>
        <p:grpSpPr>
          <a:xfrm>
            <a:off x="6261284" y="2308063"/>
            <a:ext cx="91438" cy="45719"/>
            <a:chOff x="6812560" y="3297172"/>
            <a:chExt cx="94010" cy="47005"/>
          </a:xfrm>
        </p:grpSpPr>
        <p:cxnSp>
          <p:nvCxnSpPr>
            <p:cNvPr id="248" name="직선 연결선 24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9" name="직선 연결선 24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6" name="모서리가 둥근 직사각형 265"/>
          <p:cNvSpPr/>
          <p:nvPr/>
        </p:nvSpPr>
        <p:spPr>
          <a:xfrm>
            <a:off x="1449284" y="5529849"/>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품명을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92" name="타원 291">
            <a:extLst>
              <a:ext uri="{FF2B5EF4-FFF2-40B4-BE49-F238E27FC236}">
                <a16:creationId xmlns:a16="http://schemas.microsoft.com/office/drawing/2014/main" id="{37A7FF4F-0EAA-1463-560A-D5EC24416103}"/>
              </a:ext>
            </a:extLst>
          </p:cNvPr>
          <p:cNvSpPr/>
          <p:nvPr/>
        </p:nvSpPr>
        <p:spPr>
          <a:xfrm>
            <a:off x="573754" y="4416759"/>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4</a:t>
            </a:r>
            <a:endParaRPr lang="ko-KR" altLang="en-US" sz="1200" dirty="0"/>
          </a:p>
        </p:txBody>
      </p:sp>
      <p:sp>
        <p:nvSpPr>
          <p:cNvPr id="293" name="타원 292">
            <a:extLst>
              <a:ext uri="{FF2B5EF4-FFF2-40B4-BE49-F238E27FC236}">
                <a16:creationId xmlns:a16="http://schemas.microsoft.com/office/drawing/2014/main" id="{37A7FF4F-0EAA-1463-560A-D5EC24416103}"/>
              </a:ext>
            </a:extLst>
          </p:cNvPr>
          <p:cNvSpPr/>
          <p:nvPr/>
        </p:nvSpPr>
        <p:spPr>
          <a:xfrm>
            <a:off x="3694089" y="5504813"/>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smtClean="0"/>
              <a:t>6</a:t>
            </a:r>
            <a:endParaRPr lang="ko-KR" altLang="en-US" sz="1200" dirty="0"/>
          </a:p>
        </p:txBody>
      </p:sp>
      <p:grpSp>
        <p:nvGrpSpPr>
          <p:cNvPr id="141" name="그룹 140"/>
          <p:cNvGrpSpPr/>
          <p:nvPr/>
        </p:nvGrpSpPr>
        <p:grpSpPr>
          <a:xfrm rot="16200000">
            <a:off x="3140951" y="5827782"/>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3" name="직사각형 162"/>
          <p:cNvSpPr/>
          <p:nvPr/>
        </p:nvSpPr>
        <p:spPr>
          <a:xfrm>
            <a:off x="9906000" y="0"/>
            <a:ext cx="1682750" cy="53322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500" dirty="0" err="1" smtClean="0"/>
              <a:t>공고번호</a:t>
            </a:r>
            <a:r>
              <a:rPr lang="en-US" altLang="ko-KR" sz="500" dirty="0" smtClean="0"/>
              <a:t>-&gt;</a:t>
            </a:r>
            <a:r>
              <a:rPr lang="ko-KR" altLang="en-US" sz="500" dirty="0" smtClean="0"/>
              <a:t>판단</a:t>
            </a:r>
            <a:r>
              <a:rPr lang="en-US" altLang="ko-KR" sz="500" dirty="0" smtClean="0"/>
              <a:t>/</a:t>
            </a:r>
            <a:r>
              <a:rPr lang="ko-KR" altLang="en-US" sz="500" dirty="0" err="1" smtClean="0"/>
              <a:t>공사번호</a:t>
            </a:r>
            <a:r>
              <a:rPr lang="ko-KR" altLang="en-US" sz="500" dirty="0" smtClean="0"/>
              <a:t> 로 변경</a:t>
            </a:r>
            <a:r>
              <a:rPr lang="en-US" altLang="ko-KR" sz="500" dirty="0" smtClean="0"/>
              <a:t/>
            </a:r>
            <a:br>
              <a:rPr lang="en-US" altLang="ko-KR" sz="500" dirty="0" smtClean="0"/>
            </a:br>
            <a:r>
              <a:rPr lang="ko-KR" altLang="en-US" sz="500" dirty="0" err="1" smtClean="0"/>
              <a:t>입찰건명</a:t>
            </a:r>
            <a:r>
              <a:rPr lang="en-US" altLang="ko-KR" sz="500" dirty="0" smtClean="0"/>
              <a:t>-&gt; </a:t>
            </a:r>
            <a:r>
              <a:rPr lang="ko-KR" altLang="en-US" sz="500" dirty="0" smtClean="0"/>
              <a:t>입찰</a:t>
            </a:r>
            <a:r>
              <a:rPr lang="en-US" altLang="ko-KR" sz="500" dirty="0" smtClean="0"/>
              <a:t>/</a:t>
            </a:r>
            <a:r>
              <a:rPr lang="ko-KR" altLang="en-US" sz="500" dirty="0" err="1" smtClean="0"/>
              <a:t>협상건명</a:t>
            </a:r>
            <a:r>
              <a:rPr lang="ko-KR" altLang="en-US" sz="500" dirty="0" smtClean="0"/>
              <a:t> 변경</a:t>
            </a:r>
            <a:r>
              <a:rPr lang="en-US" altLang="ko-KR" sz="500" dirty="0" smtClean="0"/>
              <a:t/>
            </a:r>
            <a:br>
              <a:rPr lang="en-US" altLang="ko-KR" sz="500" dirty="0" smtClean="0"/>
            </a:br>
            <a:r>
              <a:rPr lang="ko-KR" altLang="en-US" sz="500" dirty="0" err="1" smtClean="0"/>
              <a:t>낙찰방법</a:t>
            </a:r>
            <a:r>
              <a:rPr lang="en-US" altLang="ko-KR" sz="500" dirty="0" smtClean="0"/>
              <a:t>-&gt;</a:t>
            </a:r>
            <a:r>
              <a:rPr lang="ko-KR" altLang="en-US" sz="500" dirty="0" smtClean="0"/>
              <a:t>낙찰자결정방법</a:t>
            </a:r>
            <a:r>
              <a:rPr lang="en-US" altLang="ko-KR" sz="500" dirty="0" smtClean="0"/>
              <a:t/>
            </a:r>
            <a:br>
              <a:rPr lang="en-US" altLang="ko-KR" sz="500" dirty="0" smtClean="0"/>
            </a:br>
            <a:endParaRPr lang="en-US" altLang="ko-KR" sz="500" dirty="0" smtClean="0"/>
          </a:p>
          <a:p>
            <a:r>
              <a:rPr lang="ko-KR" altLang="en-US" sz="500" dirty="0" smtClean="0"/>
              <a:t>누락 </a:t>
            </a:r>
            <a:r>
              <a:rPr lang="en-US" altLang="ko-KR" sz="500" dirty="0" smtClean="0"/>
              <a:t>: </a:t>
            </a:r>
            <a:r>
              <a:rPr lang="ko-KR" altLang="en-US" sz="500" dirty="0" smtClean="0"/>
              <a:t>입찰결과</a:t>
            </a:r>
            <a:r>
              <a:rPr lang="en-US" altLang="ko-KR" sz="500" dirty="0" smtClean="0"/>
              <a:t>,</a:t>
            </a:r>
            <a:r>
              <a:rPr lang="ko-KR" altLang="en-US" sz="500" dirty="0" smtClean="0"/>
              <a:t> </a:t>
            </a:r>
            <a:r>
              <a:rPr lang="en-US" altLang="ko-KR" sz="500" dirty="0" smtClean="0">
                <a:latin typeface="+mn-ea"/>
              </a:rPr>
              <a:t>G2B </a:t>
            </a:r>
            <a:r>
              <a:rPr lang="ko-KR" altLang="en-US" sz="500" dirty="0" err="1" smtClean="0">
                <a:latin typeface="+mn-ea"/>
              </a:rPr>
              <a:t>공고번호</a:t>
            </a:r>
            <a:r>
              <a:rPr lang="en-US" altLang="ko-KR" sz="500" dirty="0" smtClean="0"/>
              <a:t>,</a:t>
            </a:r>
            <a:r>
              <a:rPr lang="ko-KR" altLang="en-US" sz="500" dirty="0" smtClean="0">
                <a:latin typeface="+mn-ea"/>
              </a:rPr>
              <a:t> </a:t>
            </a:r>
            <a:r>
              <a:rPr lang="ko-KR" altLang="en-US" sz="500" dirty="0"/>
              <a:t>협상진행상태</a:t>
            </a:r>
            <a:endParaRPr lang="ko-KR" altLang="en-US" sz="500" dirty="0">
              <a:latin typeface="+mn-ea"/>
            </a:endParaRPr>
          </a:p>
        </p:txBody>
      </p:sp>
      <p:sp>
        <p:nvSpPr>
          <p:cNvPr id="164" name="모서리가 둥근 직사각형 163"/>
          <p:cNvSpPr/>
          <p:nvPr/>
        </p:nvSpPr>
        <p:spPr>
          <a:xfrm>
            <a:off x="1449284" y="529322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166" name="모서리가 둥근 직사각형 165"/>
          <p:cNvSpPr/>
          <p:nvPr/>
        </p:nvSpPr>
        <p:spPr>
          <a:xfrm>
            <a:off x="4569619" y="268541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167" name="그룹 166"/>
          <p:cNvGrpSpPr/>
          <p:nvPr/>
        </p:nvGrpSpPr>
        <p:grpSpPr>
          <a:xfrm>
            <a:off x="6261284" y="2764501"/>
            <a:ext cx="91438" cy="45719"/>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0" name="모서리가 둥근 직사각형 169"/>
          <p:cNvSpPr/>
          <p:nvPr/>
        </p:nvSpPr>
        <p:spPr>
          <a:xfrm>
            <a:off x="4569619" y="245745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165" name="그룹 164"/>
          <p:cNvGrpSpPr/>
          <p:nvPr/>
        </p:nvGrpSpPr>
        <p:grpSpPr>
          <a:xfrm rot="16200000">
            <a:off x="3140952" y="5601041"/>
            <a:ext cx="91438" cy="45719"/>
            <a:chOff x="6812560" y="3297172"/>
            <a:chExt cx="94010" cy="47005"/>
          </a:xfrm>
        </p:grpSpPr>
        <p:cxnSp>
          <p:nvCxnSpPr>
            <p:cNvPr id="175" name="직선 연결선 1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7" name="직선 연결선 17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9" name="그룹 178"/>
          <p:cNvGrpSpPr/>
          <p:nvPr/>
        </p:nvGrpSpPr>
        <p:grpSpPr>
          <a:xfrm>
            <a:off x="8223250" y="569392"/>
            <a:ext cx="3365500" cy="634511"/>
            <a:chOff x="8223250" y="569392"/>
            <a:chExt cx="3365500" cy="634511"/>
          </a:xfrm>
        </p:grpSpPr>
        <p:sp>
          <p:nvSpPr>
            <p:cNvPr id="180" name="직사각형 17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수정</a:t>
              </a:r>
            </a:p>
          </p:txBody>
        </p:sp>
        <p:sp>
          <p:nvSpPr>
            <p:cNvPr id="183" name="직사각형 182"/>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검색 표시 정보 변경</a:t>
              </a:r>
              <a:r>
                <a:rPr lang="en-US" altLang="ko-KR" sz="700" dirty="0" smtClean="0"/>
                <a:t/>
              </a:r>
              <a:br>
                <a:rPr lang="en-US" altLang="ko-KR" sz="700" dirty="0" smtClean="0"/>
              </a:br>
              <a:r>
                <a:rPr lang="en-US" altLang="ko-KR" sz="700" dirty="0" smtClean="0"/>
                <a:t>- </a:t>
              </a:r>
              <a:r>
                <a:rPr lang="ko-KR" altLang="en-US" sz="700" dirty="0" err="1" smtClean="0"/>
                <a:t>검색어</a:t>
              </a:r>
              <a:r>
                <a:rPr lang="ko-KR" altLang="en-US" sz="700" dirty="0" smtClean="0"/>
                <a:t> 일부 삭제</a:t>
              </a:r>
              <a:r>
                <a:rPr lang="en-US" altLang="ko-KR" sz="700" dirty="0" smtClean="0"/>
                <a:t/>
              </a:r>
              <a:br>
                <a:rPr lang="en-US" altLang="ko-KR" sz="700" dirty="0" smtClean="0"/>
              </a:br>
              <a:r>
                <a:rPr lang="en-US" altLang="ko-KR" sz="700" dirty="0" smtClean="0"/>
                <a:t>- </a:t>
              </a:r>
              <a:r>
                <a:rPr lang="ko-KR" altLang="en-US" sz="700" dirty="0" smtClean="0"/>
                <a:t>구분 일부 삭제</a:t>
              </a:r>
              <a:r>
                <a:rPr lang="en-US" altLang="ko-KR" sz="700" dirty="0" smtClean="0"/>
                <a:t/>
              </a:r>
              <a:br>
                <a:rPr lang="en-US" altLang="ko-KR" sz="700" dirty="0" smtClean="0"/>
              </a:br>
              <a:r>
                <a:rPr lang="en-US" altLang="ko-KR" sz="700" dirty="0" smtClean="0"/>
                <a:t>- </a:t>
              </a:r>
              <a:r>
                <a:rPr lang="ko-KR" altLang="en-US" sz="700" dirty="0" err="1" smtClean="0"/>
                <a:t>가격검색</a:t>
              </a:r>
              <a:r>
                <a:rPr lang="en-US" altLang="ko-KR" sz="700" dirty="0" smtClean="0"/>
                <a:t>, </a:t>
              </a:r>
              <a:r>
                <a:rPr lang="ko-KR" altLang="en-US" sz="700" dirty="0" smtClean="0"/>
                <a:t>신기술 삭제</a:t>
              </a:r>
              <a:endParaRPr lang="en-US" altLang="ko-KR" sz="700" dirty="0"/>
            </a:p>
          </p:txBody>
        </p:sp>
      </p:grpSp>
      <p:graphicFrame>
        <p:nvGraphicFramePr>
          <p:cNvPr id="5" name="표 4"/>
          <p:cNvGraphicFramePr>
            <a:graphicFrameLocks noGrp="1"/>
          </p:cNvGraphicFramePr>
          <p:nvPr>
            <p:extLst>
              <p:ext uri="{D42A27DB-BD31-4B8C-83A1-F6EECF244321}">
                <p14:modId xmlns:p14="http://schemas.microsoft.com/office/powerpoint/2010/main" val="2240424385"/>
              </p:ext>
            </p:extLst>
          </p:nvPr>
        </p:nvGraphicFramePr>
        <p:xfrm>
          <a:off x="10128755" y="4406666"/>
          <a:ext cx="4497441" cy="177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1757796221"/>
                    </a:ext>
                  </a:extLst>
                </a:gridCol>
                <a:gridCol w="1124360">
                  <a:extLst>
                    <a:ext uri="{9D8B030D-6E8A-4147-A177-3AD203B41FA5}">
                      <a16:colId xmlns:a16="http://schemas.microsoft.com/office/drawing/2014/main" val="1659972642"/>
                    </a:ext>
                  </a:extLst>
                </a:gridCol>
                <a:gridCol w="2248721">
                  <a:extLst>
                    <a:ext uri="{9D8B030D-6E8A-4147-A177-3AD203B41FA5}">
                      <a16:colId xmlns:a16="http://schemas.microsoft.com/office/drawing/2014/main" val="3556145816"/>
                    </a:ext>
                  </a:extLst>
                </a:gridCol>
              </a:tblGrid>
              <a:tr h="0">
                <a:tc>
                  <a:txBody>
                    <a:bodyPr/>
                    <a:lstStyle/>
                    <a:p>
                      <a:pPr latinLnBrk="1"/>
                      <a:r>
                        <a:rPr lang="ko-KR" altLang="en-US" sz="800" dirty="0">
                          <a:latin typeface="+mn-ea"/>
                          <a:ea typeface="+mn-ea"/>
                        </a:rPr>
                        <a:t>입찰구분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bidSecd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경쟁입찰</a:t>
                      </a:r>
                      <a:r>
                        <a:rPr lang="en-US" altLang="ko-KR" sz="800" dirty="0">
                          <a:latin typeface="+mn-ea"/>
                          <a:ea typeface="+mn-ea"/>
                        </a:rPr>
                        <a:t>, </a:t>
                      </a:r>
                      <a:r>
                        <a:rPr lang="ko-KR" altLang="en-US" sz="800" dirty="0">
                          <a:latin typeface="+mn-ea"/>
                          <a:ea typeface="+mn-ea"/>
                        </a:rPr>
                        <a:t>공개수의</a:t>
                      </a:r>
                      <a:r>
                        <a:rPr lang="en-US" altLang="ko-KR" sz="800" dirty="0">
                          <a:latin typeface="+mn-ea"/>
                          <a:ea typeface="+mn-ea"/>
                        </a:rPr>
                        <a:t>, </a:t>
                      </a:r>
                      <a:r>
                        <a:rPr lang="ko-KR" altLang="en-US" sz="800" dirty="0">
                          <a:latin typeface="+mn-ea"/>
                          <a:ea typeface="+mn-ea"/>
                        </a:rPr>
                        <a:t>비공개수의</a:t>
                      </a:r>
                      <a:r>
                        <a:rPr lang="en-US" altLang="ko-KR" sz="800" dirty="0">
                          <a:latin typeface="+mn-ea"/>
                          <a:ea typeface="+mn-ea"/>
                        </a:rPr>
                        <a:t> </a:t>
                      </a:r>
                      <a:r>
                        <a:rPr lang="ko-KR" altLang="en-US" sz="800" dirty="0">
                          <a:latin typeface="+mn-ea"/>
                          <a:ea typeface="+mn-ea"/>
                        </a:rPr>
                        <a:t>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06554762"/>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ctrtMthdCd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일반경쟁</a:t>
                      </a:r>
                      <a:r>
                        <a:rPr lang="en-US" altLang="ko-KR" sz="800" dirty="0">
                          <a:latin typeface="+mn-ea"/>
                          <a:ea typeface="+mn-ea"/>
                        </a:rPr>
                        <a:t>, </a:t>
                      </a:r>
                      <a:r>
                        <a:rPr lang="ko-KR" altLang="en-US" sz="800" dirty="0">
                          <a:latin typeface="+mn-ea"/>
                          <a:ea typeface="+mn-ea"/>
                        </a:rPr>
                        <a:t>지명경쟁</a:t>
                      </a:r>
                      <a:r>
                        <a:rPr lang="en-US" altLang="ko-KR" sz="800" dirty="0">
                          <a:latin typeface="+mn-ea"/>
                          <a:ea typeface="+mn-ea"/>
                        </a:rPr>
                        <a:t>, </a:t>
                      </a:r>
                      <a:r>
                        <a:rPr lang="ko-KR" altLang="en-US" sz="800" dirty="0">
                          <a:latin typeface="+mn-ea"/>
                          <a:ea typeface="+mn-ea"/>
                        </a:rPr>
                        <a:t>제한경쟁</a:t>
                      </a:r>
                      <a:r>
                        <a:rPr lang="en-US" altLang="ko-KR" sz="800" dirty="0">
                          <a:latin typeface="+mn-ea"/>
                          <a:ea typeface="+mn-ea"/>
                        </a:rPr>
                        <a:t>, </a:t>
                      </a:r>
                      <a:r>
                        <a:rPr lang="ko-KR" altLang="en-US" sz="800" dirty="0">
                          <a:latin typeface="+mn-ea"/>
                          <a:ea typeface="+mn-ea"/>
                        </a:rPr>
                        <a:t>복수경쟁</a:t>
                      </a:r>
                    </a:p>
                    <a:p>
                      <a:pPr algn="l" latinLnBrk="1"/>
                      <a:r>
                        <a:rPr lang="ko-KR" altLang="en-US" sz="800" dirty="0">
                          <a:latin typeface="+mn-ea"/>
                          <a:ea typeface="+mn-ea"/>
                        </a:rPr>
                        <a:t>수의계약</a:t>
                      </a:r>
                      <a:r>
                        <a:rPr lang="en-US" altLang="ko-KR" sz="800" dirty="0">
                          <a:latin typeface="+mn-ea"/>
                          <a:ea typeface="+mn-ea"/>
                        </a:rPr>
                        <a:t>, </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전자</a:t>
                      </a:r>
                      <a:r>
                        <a:rPr lang="en-US" altLang="ko-KR" sz="800" dirty="0">
                          <a:latin typeface="+mn-ea"/>
                          <a:ea typeface="+mn-ea"/>
                        </a:rPr>
                        <a:t>), </a:t>
                      </a:r>
                      <a:r>
                        <a:rPr lang="ko-KR" altLang="en-US" sz="800" dirty="0">
                          <a:latin typeface="+mn-ea"/>
                          <a:ea typeface="+mn-ea"/>
                        </a:rPr>
                        <a:t>종합낙찰제</a:t>
                      </a:r>
                      <a:r>
                        <a:rPr lang="en-US" altLang="ko-KR" sz="800" dirty="0">
                          <a:latin typeface="+mn-ea"/>
                          <a:ea typeface="+mn-ea"/>
                        </a:rPr>
                        <a:t>, </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서류</a:t>
                      </a:r>
                      <a:r>
                        <a:rPr lang="en-US" altLang="ko-KR" sz="800" dirty="0">
                          <a:latin typeface="+mn-ea"/>
                          <a:ea typeface="+mn-ea"/>
                        </a:rPr>
                        <a:t>), 2</a:t>
                      </a:r>
                      <a:r>
                        <a:rPr lang="ko-KR" altLang="en-US" sz="800" dirty="0">
                          <a:latin typeface="+mn-ea"/>
                          <a:ea typeface="+mn-ea"/>
                        </a:rPr>
                        <a:t>단계경쟁</a:t>
                      </a:r>
                      <a:r>
                        <a:rPr lang="en-US" altLang="ko-KR" sz="800" dirty="0">
                          <a:latin typeface="+mn-ea"/>
                          <a:ea typeface="+mn-ea"/>
                        </a:rPr>
                        <a:t>(</a:t>
                      </a:r>
                      <a:r>
                        <a:rPr lang="ko-KR" altLang="en-US" sz="800" dirty="0">
                          <a:latin typeface="+mn-ea"/>
                          <a:ea typeface="+mn-ea"/>
                        </a:rPr>
                        <a:t>동시</a:t>
                      </a:r>
                      <a:r>
                        <a:rPr lang="en-US" altLang="ko-KR" sz="800" dirty="0">
                          <a:latin typeface="+mn-ea"/>
                          <a:ea typeface="+mn-ea"/>
                        </a:rPr>
                        <a:t>), 2</a:t>
                      </a:r>
                      <a:r>
                        <a:rPr lang="ko-KR" altLang="en-US" sz="800" dirty="0">
                          <a:latin typeface="+mn-ea"/>
                          <a:ea typeface="+mn-ea"/>
                        </a:rPr>
                        <a:t>단계경쟁</a:t>
                      </a:r>
                      <a:r>
                        <a:rPr lang="en-US" altLang="ko-KR" sz="800" dirty="0">
                          <a:latin typeface="+mn-ea"/>
                          <a:ea typeface="+mn-ea"/>
                        </a:rPr>
                        <a:t>(</a:t>
                      </a:r>
                      <a:r>
                        <a:rPr lang="ko-KR" altLang="en-US" sz="800" dirty="0">
                          <a:latin typeface="+mn-ea"/>
                          <a:ea typeface="+mn-ea"/>
                        </a:rPr>
                        <a:t>분리</a:t>
                      </a:r>
                      <a:r>
                        <a:rPr lang="en-US" altLang="ko-KR" sz="800" dirty="0">
                          <a:latin typeface="+mn-ea"/>
                          <a:ea typeface="+mn-ea"/>
                        </a:rPr>
                        <a:t>), </a:t>
                      </a:r>
                      <a:r>
                        <a:rPr lang="ko-KR" altLang="en-US" sz="800" dirty="0" err="1">
                          <a:latin typeface="+mn-ea"/>
                          <a:ea typeface="+mn-ea"/>
                        </a:rPr>
                        <a:t>역경매</a:t>
                      </a:r>
                      <a:r>
                        <a:rPr lang="ko-KR" altLang="en-US" sz="800" dirty="0">
                          <a:latin typeface="+mn-ea"/>
                          <a:ea typeface="+mn-ea"/>
                        </a:rPr>
                        <a:t>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7035752"/>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scsbdMthdCd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협상</a:t>
                      </a:r>
                      <a:r>
                        <a:rPr lang="en-US" altLang="ko-KR" sz="800" dirty="0">
                          <a:latin typeface="+mn-ea"/>
                          <a:ea typeface="+mn-ea"/>
                        </a:rPr>
                        <a:t>, </a:t>
                      </a:r>
                      <a:r>
                        <a:rPr lang="ko-KR" altLang="en-US" sz="800" dirty="0">
                          <a:latin typeface="+mn-ea"/>
                          <a:ea typeface="+mn-ea"/>
                        </a:rPr>
                        <a:t>최저가격제</a:t>
                      </a:r>
                      <a:r>
                        <a:rPr lang="en-US" altLang="ko-KR" sz="800" dirty="0">
                          <a:latin typeface="+mn-ea"/>
                          <a:ea typeface="+mn-ea"/>
                        </a:rPr>
                        <a:t>, </a:t>
                      </a:r>
                      <a:r>
                        <a:rPr lang="ko-KR" altLang="en-US" sz="800" dirty="0">
                          <a:latin typeface="+mn-ea"/>
                          <a:ea typeface="+mn-ea"/>
                        </a:rPr>
                        <a:t>제한적최저가격제</a:t>
                      </a:r>
                      <a:r>
                        <a:rPr lang="en-US" altLang="ko-KR" sz="800" dirty="0">
                          <a:latin typeface="+mn-ea"/>
                          <a:ea typeface="+mn-ea"/>
                        </a:rPr>
                        <a:t>, </a:t>
                      </a:r>
                      <a:r>
                        <a:rPr lang="ko-KR" altLang="en-US" sz="800" dirty="0">
                          <a:latin typeface="+mn-ea"/>
                          <a:ea typeface="+mn-ea"/>
                        </a:rPr>
                        <a:t>적격심사제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859349"/>
                  </a:ext>
                </a:extLst>
              </a:tr>
              <a:tr h="0">
                <a:tc>
                  <a:txBody>
                    <a:bodyPr/>
                    <a:lstStyle/>
                    <a:p>
                      <a:pPr latinLnBrk="1"/>
                      <a:r>
                        <a:rPr lang="ko-KR" altLang="en-US" sz="800" dirty="0">
                          <a:latin typeface="+mn-ea"/>
                          <a:ea typeface="+mn-ea"/>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bidRsltCd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낙찰</a:t>
                      </a:r>
                      <a:r>
                        <a:rPr lang="en-US" altLang="ko-KR" sz="800" dirty="0">
                          <a:latin typeface="+mn-ea"/>
                          <a:ea typeface="+mn-ea"/>
                        </a:rPr>
                        <a:t>, </a:t>
                      </a:r>
                      <a:r>
                        <a:rPr lang="ko-KR" altLang="en-US" sz="800" dirty="0">
                          <a:latin typeface="+mn-ea"/>
                          <a:ea typeface="+mn-ea"/>
                        </a:rPr>
                        <a:t>순위확정</a:t>
                      </a:r>
                      <a:r>
                        <a:rPr lang="en-US" altLang="ko-KR" sz="800" dirty="0">
                          <a:latin typeface="+mn-ea"/>
                          <a:ea typeface="+mn-ea"/>
                        </a:rPr>
                        <a:t>, </a:t>
                      </a:r>
                      <a:r>
                        <a:rPr lang="ko-KR" altLang="en-US" sz="800" dirty="0">
                          <a:latin typeface="+mn-ea"/>
                          <a:ea typeface="+mn-ea"/>
                        </a:rPr>
                        <a:t>공고취소</a:t>
                      </a:r>
                      <a:r>
                        <a:rPr lang="en-US" altLang="ko-KR" sz="800" dirty="0">
                          <a:latin typeface="+mn-ea"/>
                          <a:ea typeface="+mn-ea"/>
                        </a:rPr>
                        <a:t>, </a:t>
                      </a:r>
                      <a:r>
                        <a:rPr lang="ko-KR" altLang="en-US" sz="800" dirty="0">
                          <a:latin typeface="+mn-ea"/>
                          <a:ea typeface="+mn-ea"/>
                        </a:rPr>
                        <a:t>낙찰취소</a:t>
                      </a:r>
                      <a:r>
                        <a:rPr lang="en-US" altLang="ko-KR" sz="800" dirty="0">
                          <a:latin typeface="+mn-ea"/>
                          <a:ea typeface="+mn-ea"/>
                        </a:rPr>
                        <a:t>, </a:t>
                      </a:r>
                      <a:r>
                        <a:rPr lang="ko-KR" altLang="en-US" sz="800" dirty="0" err="1">
                          <a:latin typeface="+mn-ea"/>
                          <a:ea typeface="+mn-ea"/>
                        </a:rPr>
                        <a:t>심사중</a:t>
                      </a:r>
                      <a:r>
                        <a:rPr lang="en-US" altLang="ko-KR" sz="800" dirty="0">
                          <a:latin typeface="+mn-ea"/>
                          <a:ea typeface="+mn-ea"/>
                        </a:rPr>
                        <a:t>, </a:t>
                      </a:r>
                      <a:r>
                        <a:rPr lang="ko-KR" altLang="en-US" sz="800" dirty="0">
                          <a:latin typeface="+mn-ea"/>
                          <a:ea typeface="+mn-ea"/>
                        </a:rPr>
                        <a:t>유찰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8869520"/>
                  </a:ext>
                </a:extLst>
              </a:tr>
              <a:tr h="0">
                <a:tc>
                  <a:txBody>
                    <a:bodyPr/>
                    <a:lstStyle/>
                    <a:p>
                      <a:pPr latinLnBrk="1"/>
                      <a:r>
                        <a:rPr lang="ko-KR" altLang="en-US" sz="800" dirty="0">
                          <a:latin typeface="+mn-ea"/>
                          <a:ea typeface="+mn-ea"/>
                        </a:rPr>
                        <a:t>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prgrsStcd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순위확정</a:t>
                      </a:r>
                      <a:r>
                        <a:rPr lang="en-US" altLang="ko-KR" sz="800" dirty="0">
                          <a:latin typeface="+mn-ea"/>
                          <a:ea typeface="+mn-ea"/>
                        </a:rPr>
                        <a:t>, </a:t>
                      </a:r>
                      <a:r>
                        <a:rPr lang="ko-KR" altLang="en-US" sz="800" dirty="0">
                          <a:latin typeface="+mn-ea"/>
                          <a:ea typeface="+mn-ea"/>
                        </a:rPr>
                        <a:t>계획등록</a:t>
                      </a:r>
                      <a:r>
                        <a:rPr lang="en-US" altLang="ko-KR" sz="800" dirty="0">
                          <a:latin typeface="+mn-ea"/>
                          <a:ea typeface="+mn-ea"/>
                        </a:rPr>
                        <a:t>, </a:t>
                      </a:r>
                      <a:r>
                        <a:rPr lang="ko-KR" altLang="en-US" sz="800" dirty="0">
                          <a:latin typeface="+mn-ea"/>
                          <a:ea typeface="+mn-ea"/>
                        </a:rPr>
                        <a:t>협상완료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4201370"/>
                  </a:ext>
                </a:extLst>
              </a:tr>
              <a:tr h="0">
                <a:tc>
                  <a:txBody>
                    <a:bodyPr/>
                    <a:lstStyle/>
                    <a:p>
                      <a:pPr latinLnBrk="1"/>
                      <a:r>
                        <a:rPr lang="ko-KR" altLang="en-US" sz="800" dirty="0">
                          <a:latin typeface="+mn-ea"/>
                          <a:ea typeface="+mn-ea"/>
                        </a:rPr>
                        <a:t>협상진행상태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ngtnStcd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계획확정</a:t>
                      </a:r>
                      <a:r>
                        <a:rPr lang="en-US" altLang="ko-KR" sz="800" dirty="0">
                          <a:latin typeface="+mn-ea"/>
                          <a:ea typeface="+mn-ea"/>
                        </a:rPr>
                        <a:t>, </a:t>
                      </a:r>
                      <a:r>
                        <a:rPr lang="ko-KR" altLang="en-US" sz="800" dirty="0">
                          <a:latin typeface="+mn-ea"/>
                          <a:ea typeface="+mn-ea"/>
                        </a:rPr>
                        <a:t>협상연기</a:t>
                      </a:r>
                      <a:r>
                        <a:rPr lang="en-US" altLang="ko-KR" sz="800" dirty="0">
                          <a:latin typeface="+mn-ea"/>
                          <a:ea typeface="+mn-ea"/>
                        </a:rPr>
                        <a:t>, </a:t>
                      </a:r>
                      <a:r>
                        <a:rPr lang="ko-KR" altLang="en-US" sz="800" dirty="0">
                          <a:latin typeface="+mn-ea"/>
                          <a:ea typeface="+mn-ea"/>
                        </a:rPr>
                        <a:t>협상취소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64894698"/>
                  </a:ext>
                </a:extLst>
              </a:tr>
            </a:tbl>
          </a:graphicData>
        </a:graphic>
      </p:graphicFrame>
    </p:spTree>
    <p:extLst>
      <p:ext uri="{BB962C8B-B14F-4D97-AF65-F5344CB8AC3E}">
        <p14:creationId xmlns:p14="http://schemas.microsoft.com/office/powerpoint/2010/main" val="155034520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226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(1/4)</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671171"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개찰목록</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dmt_bdopnListSrchCnd</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713675"/>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b="1" dirty="0">
                          <a:latin typeface="+mn-ea"/>
                          <a:ea typeface="+mn-ea"/>
                        </a:rPr>
                        <a:t>개찰</a:t>
                      </a:r>
                      <a:r>
                        <a:rPr lang="en-US" altLang="ko-KR" sz="800" b="1" dirty="0">
                          <a:latin typeface="+mn-ea"/>
                          <a:ea typeface="+mn-ea"/>
                        </a:rPr>
                        <a:t>/</a:t>
                      </a:r>
                      <a:r>
                        <a:rPr lang="ko-KR" altLang="en-US" sz="800" b="1" dirty="0">
                          <a:latin typeface="+mn-ea"/>
                          <a:ea typeface="+mn-ea"/>
                        </a:rPr>
                        <a:t>협상일자</a:t>
                      </a:r>
                      <a:r>
                        <a:rPr lang="en-US" altLang="ko-KR" sz="800" b="1" dirty="0">
                          <a:latin typeface="+mn-ea"/>
                          <a:ea typeface="+mn-ea"/>
                        </a:rPr>
                        <a:t>from</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bdopnYmdFrom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개찰일자 </a:t>
                      </a:r>
                      <a:r>
                        <a:rPr lang="en-US" altLang="ko-KR" sz="800" dirty="0">
                          <a:latin typeface="+mn-ea"/>
                          <a:ea typeface="+mn-ea"/>
                        </a:rPr>
                        <a:t>from</a:t>
                      </a:r>
                      <a:r>
                        <a:rPr lang="ko-KR" altLang="en-US" sz="800" dirty="0">
                          <a:latin typeface="+mn-ea"/>
                          <a:ea typeface="+mn-ea"/>
                        </a:rPr>
                        <a:t>을 달력을 이용하여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b="1" dirty="0">
                          <a:latin typeface="+mn-ea"/>
                          <a:ea typeface="+mn-ea"/>
                        </a:rPr>
                        <a:t>개찰</a:t>
                      </a:r>
                      <a:r>
                        <a:rPr lang="en-US" altLang="ko-KR" sz="800" b="1" dirty="0">
                          <a:latin typeface="+mn-ea"/>
                          <a:ea typeface="+mn-ea"/>
                        </a:rPr>
                        <a:t>/</a:t>
                      </a:r>
                      <a:r>
                        <a:rPr lang="ko-KR" altLang="en-US" sz="800" b="1" dirty="0">
                          <a:latin typeface="+mn-ea"/>
                          <a:ea typeface="+mn-ea"/>
                        </a:rPr>
                        <a:t>협상일자</a:t>
                      </a:r>
                      <a:r>
                        <a:rPr lang="en-US" altLang="ko-KR" sz="800" b="1" dirty="0">
                          <a:latin typeface="+mn-ea"/>
                          <a:ea typeface="+mn-ea"/>
                        </a:rPr>
                        <a:t>to</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bdopnYmdTo</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개찰일자 </a:t>
                      </a:r>
                      <a:r>
                        <a:rPr lang="en-US" altLang="ko-KR" sz="800" dirty="0">
                          <a:latin typeface="+mn-ea"/>
                          <a:ea typeface="+mn-ea"/>
                        </a:rPr>
                        <a:t>to</a:t>
                      </a:r>
                      <a:r>
                        <a:rPr lang="ko-KR" altLang="en-US" sz="800" dirty="0">
                          <a:latin typeface="+mn-ea"/>
                          <a:ea typeface="+mn-ea"/>
                        </a:rPr>
                        <a:t>를 달력을 이용하여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2785069"/>
                  </a:ext>
                </a:extLst>
              </a:tr>
              <a:tr h="0">
                <a:tc>
                  <a:txBody>
                    <a:bodyPr/>
                    <a:lstStyle/>
                    <a:p>
                      <a:pPr latinLnBrk="1"/>
                      <a:r>
                        <a:rPr lang="ko-KR" altLang="en-US" sz="800" b="1"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bizSecd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8825031"/>
                  </a:ext>
                </a:extLst>
              </a:tr>
              <a:tr h="0">
                <a:tc>
                  <a:txBody>
                    <a:bodyPr/>
                    <a:lstStyle/>
                    <a:p>
                      <a:pPr latinLnBrk="1"/>
                      <a:r>
                        <a:rPr lang="ko-KR" altLang="en-US" sz="800" b="1" dirty="0" err="1">
                          <a:latin typeface="+mn-ea"/>
                          <a:ea typeface="+mn-ea"/>
                        </a:rPr>
                        <a:t>통합참조번호</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rfrncNo</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4849820"/>
                  </a:ext>
                </a:extLst>
              </a:tr>
              <a:tr h="0">
                <a:tc>
                  <a:txBody>
                    <a:bodyPr/>
                    <a:lstStyle/>
                    <a:p>
                      <a:pPr latinLnBrk="1"/>
                      <a:r>
                        <a:rPr lang="ko-KR" altLang="en-US" sz="800" b="1" dirty="0">
                          <a:latin typeface="+mn-ea"/>
                          <a:ea typeface="+mn-ea"/>
                        </a:rPr>
                        <a:t>판단</a:t>
                      </a:r>
                      <a:r>
                        <a:rPr lang="en-US" altLang="ko-KR" sz="800" dirty="0">
                          <a:latin typeface="+mn-ea"/>
                          <a:ea typeface="+mn-ea"/>
                        </a:rPr>
                        <a:t>/</a:t>
                      </a:r>
                      <a:r>
                        <a:rPr lang="ko-KR" altLang="en-US" sz="800" b="1"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err="1">
                          <a:solidFill>
                            <a:schemeClr val="tx1"/>
                          </a:solidFill>
                          <a:latin typeface="+mn-lt"/>
                          <a:ea typeface="+mn-ea"/>
                          <a:cs typeface="+mn-cs"/>
                        </a:rPr>
                        <a:t>prcmNo</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0791306"/>
                  </a:ext>
                </a:extLst>
              </a:tr>
              <a:tr h="0">
                <a:tc>
                  <a:txBody>
                    <a:bodyPr/>
                    <a:lstStyle/>
                    <a:p>
                      <a:pPr latinLnBrk="1"/>
                      <a:r>
                        <a:rPr lang="en-US" altLang="ko-KR" sz="800" dirty="0">
                          <a:solidFill>
                            <a:srgbClr val="C00000"/>
                          </a:solidFill>
                          <a:latin typeface="+mn-ea"/>
                          <a:ea typeface="+mn-ea"/>
                        </a:rPr>
                        <a:t>G2B </a:t>
                      </a:r>
                      <a:r>
                        <a:rPr lang="ko-KR" altLang="en-US" sz="800" dirty="0">
                          <a:solidFill>
                            <a:srgbClr val="C00000"/>
                          </a:solidFill>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lt"/>
                          <a:ea typeface="+mn-ea"/>
                          <a:cs typeface="+mn-cs"/>
                        </a:rPr>
                        <a:t>g2BBidPbancNo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G2B </a:t>
                      </a:r>
                      <a:r>
                        <a:rPr lang="ko-KR" altLang="en-US" sz="800" dirty="0">
                          <a:latin typeface="+mn-ea"/>
                          <a:ea typeface="+mn-ea"/>
                        </a:rPr>
                        <a:t>공고번호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6284370"/>
                  </a:ext>
                </a:extLst>
              </a:tr>
              <a:tr h="195275">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bidNm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입찰건명</a:t>
                      </a:r>
                      <a:r>
                        <a:rPr lang="ko-KR" altLang="en-US" sz="800" dirty="0">
                          <a:latin typeface="+mn-ea"/>
                          <a:ea typeface="+mn-ea"/>
                        </a:rPr>
                        <a:t>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3300958"/>
                  </a:ext>
                </a:extLst>
              </a:tr>
              <a:tr h="0">
                <a:tc>
                  <a:txBody>
                    <a:bodyPr/>
                    <a:lstStyle/>
                    <a:p>
                      <a:pPr latinLnBrk="1"/>
                      <a:r>
                        <a:rPr lang="ko-KR" altLang="en-US" sz="800" dirty="0">
                          <a:latin typeface="+mn-ea"/>
                          <a:ea typeface="+mn-ea"/>
                        </a:rPr>
                        <a:t>입찰구분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bidSecd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입찰구분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경쟁입찰</a:t>
                      </a:r>
                      <a:r>
                        <a:rPr lang="en-US" altLang="ko-KR" sz="800" dirty="0">
                          <a:latin typeface="+mn-ea"/>
                          <a:ea typeface="+mn-ea"/>
                        </a:rPr>
                        <a:t>, </a:t>
                      </a:r>
                      <a:r>
                        <a:rPr lang="ko-KR" altLang="en-US" sz="800" dirty="0">
                          <a:latin typeface="+mn-ea"/>
                          <a:ea typeface="+mn-ea"/>
                        </a:rPr>
                        <a:t>공개수의</a:t>
                      </a:r>
                      <a:r>
                        <a:rPr lang="en-US" altLang="ko-KR" sz="800" dirty="0">
                          <a:latin typeface="+mn-ea"/>
                          <a:ea typeface="+mn-ea"/>
                        </a:rPr>
                        <a:t>, </a:t>
                      </a:r>
                      <a:r>
                        <a:rPr lang="ko-KR" altLang="en-US" sz="800" dirty="0">
                          <a:latin typeface="+mn-ea"/>
                          <a:ea typeface="+mn-ea"/>
                        </a:rPr>
                        <a:t>비공개수의</a:t>
                      </a:r>
                      <a:r>
                        <a:rPr lang="en-US" altLang="ko-KR" sz="800" dirty="0">
                          <a:latin typeface="+mn-ea"/>
                          <a:ea typeface="+mn-ea"/>
                        </a:rPr>
                        <a:t> </a:t>
                      </a:r>
                      <a:r>
                        <a:rPr lang="ko-KR" altLang="en-US" sz="800" dirty="0">
                          <a:latin typeface="+mn-ea"/>
                          <a:ea typeface="+mn-ea"/>
                        </a:rPr>
                        <a:t>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0715507"/>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ctrtMthdCd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일반경쟁</a:t>
                      </a:r>
                      <a:r>
                        <a:rPr lang="en-US" altLang="ko-KR" sz="800" dirty="0">
                          <a:latin typeface="+mn-ea"/>
                          <a:ea typeface="+mn-ea"/>
                        </a:rPr>
                        <a:t>, </a:t>
                      </a:r>
                      <a:r>
                        <a:rPr lang="ko-KR" altLang="en-US" sz="800" dirty="0">
                          <a:latin typeface="+mn-ea"/>
                          <a:ea typeface="+mn-ea"/>
                        </a:rPr>
                        <a:t>지명경쟁</a:t>
                      </a:r>
                      <a:r>
                        <a:rPr lang="en-US" altLang="ko-KR" sz="800" dirty="0">
                          <a:latin typeface="+mn-ea"/>
                          <a:ea typeface="+mn-ea"/>
                        </a:rPr>
                        <a:t>, </a:t>
                      </a:r>
                      <a:r>
                        <a:rPr lang="ko-KR" altLang="en-US" sz="800" dirty="0">
                          <a:latin typeface="+mn-ea"/>
                          <a:ea typeface="+mn-ea"/>
                        </a:rPr>
                        <a:t>제한경쟁</a:t>
                      </a:r>
                      <a:r>
                        <a:rPr lang="en-US" altLang="ko-KR" sz="800" dirty="0">
                          <a:latin typeface="+mn-ea"/>
                          <a:ea typeface="+mn-ea"/>
                        </a:rPr>
                        <a:t>, </a:t>
                      </a:r>
                      <a:r>
                        <a:rPr lang="ko-KR" altLang="en-US" sz="800" dirty="0">
                          <a:latin typeface="+mn-ea"/>
                          <a:ea typeface="+mn-ea"/>
                        </a:rPr>
                        <a:t>복수경쟁</a:t>
                      </a:r>
                    </a:p>
                    <a:p>
                      <a:pPr algn="l" latinLnBrk="1"/>
                      <a:r>
                        <a:rPr lang="ko-KR" altLang="en-US" sz="800" dirty="0">
                          <a:latin typeface="+mn-ea"/>
                          <a:ea typeface="+mn-ea"/>
                        </a:rPr>
                        <a:t>수의계약</a:t>
                      </a:r>
                      <a:r>
                        <a:rPr lang="en-US" altLang="ko-KR" sz="800" dirty="0">
                          <a:latin typeface="+mn-ea"/>
                          <a:ea typeface="+mn-ea"/>
                        </a:rPr>
                        <a:t>, </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전자</a:t>
                      </a:r>
                      <a:r>
                        <a:rPr lang="en-US" altLang="ko-KR" sz="800" dirty="0">
                          <a:latin typeface="+mn-ea"/>
                          <a:ea typeface="+mn-ea"/>
                        </a:rPr>
                        <a:t>), </a:t>
                      </a:r>
                      <a:r>
                        <a:rPr lang="ko-KR" altLang="en-US" sz="800" dirty="0">
                          <a:latin typeface="+mn-ea"/>
                          <a:ea typeface="+mn-ea"/>
                        </a:rPr>
                        <a:t>종합낙찰제</a:t>
                      </a:r>
                      <a:r>
                        <a:rPr lang="en-US" altLang="ko-KR" sz="800" dirty="0">
                          <a:latin typeface="+mn-ea"/>
                          <a:ea typeface="+mn-ea"/>
                        </a:rPr>
                        <a:t>, </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서류</a:t>
                      </a:r>
                      <a:r>
                        <a:rPr lang="en-US" altLang="ko-KR" sz="800" dirty="0">
                          <a:latin typeface="+mn-ea"/>
                          <a:ea typeface="+mn-ea"/>
                        </a:rPr>
                        <a:t>), 2</a:t>
                      </a:r>
                      <a:r>
                        <a:rPr lang="ko-KR" altLang="en-US" sz="800" dirty="0">
                          <a:latin typeface="+mn-ea"/>
                          <a:ea typeface="+mn-ea"/>
                        </a:rPr>
                        <a:t>단계경쟁</a:t>
                      </a:r>
                      <a:r>
                        <a:rPr lang="en-US" altLang="ko-KR" sz="800" dirty="0">
                          <a:latin typeface="+mn-ea"/>
                          <a:ea typeface="+mn-ea"/>
                        </a:rPr>
                        <a:t>(</a:t>
                      </a:r>
                      <a:r>
                        <a:rPr lang="ko-KR" altLang="en-US" sz="800" dirty="0">
                          <a:latin typeface="+mn-ea"/>
                          <a:ea typeface="+mn-ea"/>
                        </a:rPr>
                        <a:t>동시</a:t>
                      </a:r>
                      <a:r>
                        <a:rPr lang="en-US" altLang="ko-KR" sz="800" dirty="0">
                          <a:latin typeface="+mn-ea"/>
                          <a:ea typeface="+mn-ea"/>
                        </a:rPr>
                        <a:t>), 2</a:t>
                      </a:r>
                      <a:r>
                        <a:rPr lang="ko-KR" altLang="en-US" sz="800" dirty="0">
                          <a:latin typeface="+mn-ea"/>
                          <a:ea typeface="+mn-ea"/>
                        </a:rPr>
                        <a:t>단계경쟁</a:t>
                      </a:r>
                      <a:r>
                        <a:rPr lang="en-US" altLang="ko-KR" sz="800" dirty="0">
                          <a:latin typeface="+mn-ea"/>
                          <a:ea typeface="+mn-ea"/>
                        </a:rPr>
                        <a:t>(</a:t>
                      </a:r>
                      <a:r>
                        <a:rPr lang="ko-KR" altLang="en-US" sz="800" dirty="0">
                          <a:latin typeface="+mn-ea"/>
                          <a:ea typeface="+mn-ea"/>
                        </a:rPr>
                        <a:t>분리</a:t>
                      </a:r>
                      <a:r>
                        <a:rPr lang="en-US" altLang="ko-KR" sz="800" dirty="0">
                          <a:latin typeface="+mn-ea"/>
                          <a:ea typeface="+mn-ea"/>
                        </a:rPr>
                        <a:t>), </a:t>
                      </a:r>
                      <a:r>
                        <a:rPr lang="ko-KR" altLang="en-US" sz="800" dirty="0" err="1">
                          <a:latin typeface="+mn-ea"/>
                          <a:ea typeface="+mn-ea"/>
                        </a:rPr>
                        <a:t>역경매</a:t>
                      </a:r>
                      <a:r>
                        <a:rPr lang="ko-KR" altLang="en-US" sz="800" dirty="0">
                          <a:latin typeface="+mn-ea"/>
                          <a:ea typeface="+mn-ea"/>
                        </a:rPr>
                        <a:t>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9651977"/>
                  </a:ext>
                </a:extLst>
              </a:tr>
              <a:tr h="0">
                <a:tc>
                  <a:txBody>
                    <a:bodyPr/>
                    <a:lstStyle/>
                    <a:p>
                      <a:pPr latinLnBrk="1"/>
                      <a:r>
                        <a:rPr lang="ko-KR" altLang="en-US" sz="800" dirty="0">
                          <a:solidFill>
                            <a:srgbClr val="C00000"/>
                          </a:solidFill>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scsbdMthdCd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협상</a:t>
                      </a:r>
                      <a:r>
                        <a:rPr lang="en-US" altLang="ko-KR" sz="800" dirty="0">
                          <a:latin typeface="+mn-ea"/>
                          <a:ea typeface="+mn-ea"/>
                        </a:rPr>
                        <a:t>, </a:t>
                      </a:r>
                      <a:r>
                        <a:rPr lang="ko-KR" altLang="en-US" sz="800" dirty="0">
                          <a:latin typeface="+mn-ea"/>
                          <a:ea typeface="+mn-ea"/>
                        </a:rPr>
                        <a:t>최저가격제</a:t>
                      </a:r>
                      <a:r>
                        <a:rPr lang="en-US" altLang="ko-KR" sz="800" dirty="0">
                          <a:latin typeface="+mn-ea"/>
                          <a:ea typeface="+mn-ea"/>
                        </a:rPr>
                        <a:t>, </a:t>
                      </a:r>
                      <a:r>
                        <a:rPr lang="ko-KR" altLang="en-US" sz="800" dirty="0">
                          <a:latin typeface="+mn-ea"/>
                          <a:ea typeface="+mn-ea"/>
                        </a:rPr>
                        <a:t>제한적최저가격제</a:t>
                      </a:r>
                      <a:r>
                        <a:rPr lang="en-US" altLang="ko-KR" sz="800" dirty="0">
                          <a:latin typeface="+mn-ea"/>
                          <a:ea typeface="+mn-ea"/>
                        </a:rPr>
                        <a:t>, </a:t>
                      </a:r>
                      <a:r>
                        <a:rPr lang="ko-KR" altLang="en-US" sz="800" dirty="0">
                          <a:latin typeface="+mn-ea"/>
                          <a:ea typeface="+mn-ea"/>
                        </a:rPr>
                        <a:t>적격심사제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5650719"/>
                  </a:ext>
                </a:extLst>
              </a:tr>
              <a:tr h="0">
                <a:tc>
                  <a:txBody>
                    <a:bodyPr/>
                    <a:lstStyle/>
                    <a:p>
                      <a:pPr latinLnBrk="1"/>
                      <a:r>
                        <a:rPr lang="ko-KR" altLang="en-US" sz="800" dirty="0">
                          <a:solidFill>
                            <a:srgbClr val="C00000"/>
                          </a:solidFill>
                          <a:latin typeface="+mn-ea"/>
                          <a:ea typeface="+mn-ea"/>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bidRsltCd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낙찰</a:t>
                      </a:r>
                      <a:r>
                        <a:rPr lang="en-US" altLang="ko-KR" sz="800" dirty="0">
                          <a:latin typeface="+mn-ea"/>
                          <a:ea typeface="+mn-ea"/>
                        </a:rPr>
                        <a:t>, </a:t>
                      </a:r>
                      <a:r>
                        <a:rPr lang="ko-KR" altLang="en-US" sz="800" dirty="0">
                          <a:latin typeface="+mn-ea"/>
                          <a:ea typeface="+mn-ea"/>
                        </a:rPr>
                        <a:t>순위확정</a:t>
                      </a:r>
                      <a:r>
                        <a:rPr lang="en-US" altLang="ko-KR" sz="800" dirty="0">
                          <a:latin typeface="+mn-ea"/>
                          <a:ea typeface="+mn-ea"/>
                        </a:rPr>
                        <a:t>, </a:t>
                      </a:r>
                      <a:r>
                        <a:rPr lang="ko-KR" altLang="en-US" sz="800" dirty="0">
                          <a:latin typeface="+mn-ea"/>
                          <a:ea typeface="+mn-ea"/>
                        </a:rPr>
                        <a:t>공고취소</a:t>
                      </a:r>
                      <a:r>
                        <a:rPr lang="en-US" altLang="ko-KR" sz="800" dirty="0">
                          <a:latin typeface="+mn-ea"/>
                          <a:ea typeface="+mn-ea"/>
                        </a:rPr>
                        <a:t>, </a:t>
                      </a:r>
                      <a:r>
                        <a:rPr lang="ko-KR" altLang="en-US" sz="800" dirty="0">
                          <a:latin typeface="+mn-ea"/>
                          <a:ea typeface="+mn-ea"/>
                        </a:rPr>
                        <a:t>낙찰취소</a:t>
                      </a:r>
                      <a:r>
                        <a:rPr lang="en-US" altLang="ko-KR" sz="800" dirty="0">
                          <a:latin typeface="+mn-ea"/>
                          <a:ea typeface="+mn-ea"/>
                        </a:rPr>
                        <a:t>, </a:t>
                      </a:r>
                      <a:r>
                        <a:rPr lang="ko-KR" altLang="en-US" sz="800" dirty="0" err="1">
                          <a:latin typeface="+mn-ea"/>
                          <a:ea typeface="+mn-ea"/>
                        </a:rPr>
                        <a:t>심사중</a:t>
                      </a:r>
                      <a:r>
                        <a:rPr lang="en-US" altLang="ko-KR" sz="800" dirty="0">
                          <a:latin typeface="+mn-ea"/>
                          <a:ea typeface="+mn-ea"/>
                        </a:rPr>
                        <a:t>, </a:t>
                      </a:r>
                      <a:r>
                        <a:rPr lang="ko-KR" altLang="en-US" sz="800" dirty="0">
                          <a:latin typeface="+mn-ea"/>
                          <a:ea typeface="+mn-ea"/>
                        </a:rPr>
                        <a:t>유찰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5012989"/>
                  </a:ext>
                </a:extLst>
              </a:tr>
              <a:tr h="0">
                <a:tc>
                  <a:txBody>
                    <a:bodyPr/>
                    <a:lstStyle/>
                    <a:p>
                      <a:pPr latinLnBrk="1"/>
                      <a:r>
                        <a:rPr lang="ko-KR" altLang="en-US" sz="800" dirty="0">
                          <a:solidFill>
                            <a:srgbClr val="C00000"/>
                          </a:solidFill>
                          <a:latin typeface="+mn-ea"/>
                          <a:ea typeface="+mn-ea"/>
                        </a:rPr>
                        <a:t>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prgrsStcd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진행상태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순위확정</a:t>
                      </a:r>
                      <a:r>
                        <a:rPr lang="en-US" altLang="ko-KR" sz="800" dirty="0">
                          <a:latin typeface="+mn-ea"/>
                          <a:ea typeface="+mn-ea"/>
                        </a:rPr>
                        <a:t>, </a:t>
                      </a:r>
                      <a:r>
                        <a:rPr lang="ko-KR" altLang="en-US" sz="800" dirty="0">
                          <a:latin typeface="+mn-ea"/>
                          <a:ea typeface="+mn-ea"/>
                        </a:rPr>
                        <a:t>계획등록</a:t>
                      </a:r>
                      <a:r>
                        <a:rPr lang="en-US" altLang="ko-KR" sz="800" dirty="0">
                          <a:latin typeface="+mn-ea"/>
                          <a:ea typeface="+mn-ea"/>
                        </a:rPr>
                        <a:t>, </a:t>
                      </a:r>
                      <a:r>
                        <a:rPr lang="ko-KR" altLang="en-US" sz="800" dirty="0">
                          <a:latin typeface="+mn-ea"/>
                          <a:ea typeface="+mn-ea"/>
                        </a:rPr>
                        <a:t>협상완료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5880653"/>
                  </a:ext>
                </a:extLst>
              </a:tr>
              <a:tr h="0">
                <a:tc>
                  <a:txBody>
                    <a:bodyPr/>
                    <a:lstStyle/>
                    <a:p>
                      <a:pPr latinLnBrk="1"/>
                      <a:r>
                        <a:rPr lang="ko-KR" altLang="en-US" sz="800" dirty="0">
                          <a:solidFill>
                            <a:srgbClr val="C00000"/>
                          </a:solidFill>
                          <a:latin typeface="+mn-ea"/>
                          <a:ea typeface="+mn-ea"/>
                        </a:rPr>
                        <a:t>협상진행상태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ngtnStcd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협상진행상태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계획확정</a:t>
                      </a:r>
                      <a:r>
                        <a:rPr lang="en-US" altLang="ko-KR" sz="800" dirty="0">
                          <a:latin typeface="+mn-ea"/>
                          <a:ea typeface="+mn-ea"/>
                        </a:rPr>
                        <a:t>, </a:t>
                      </a:r>
                      <a:r>
                        <a:rPr lang="ko-KR" altLang="en-US" sz="800" dirty="0">
                          <a:latin typeface="+mn-ea"/>
                          <a:ea typeface="+mn-ea"/>
                        </a:rPr>
                        <a:t>협상연기</a:t>
                      </a:r>
                      <a:r>
                        <a:rPr lang="en-US" altLang="ko-KR" sz="800" dirty="0">
                          <a:latin typeface="+mn-ea"/>
                          <a:ea typeface="+mn-ea"/>
                        </a:rPr>
                        <a:t>, </a:t>
                      </a:r>
                      <a:r>
                        <a:rPr lang="ko-KR" altLang="en-US" sz="800" dirty="0">
                          <a:latin typeface="+mn-ea"/>
                          <a:ea typeface="+mn-ea"/>
                        </a:rPr>
                        <a:t>협상취소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2693080"/>
                  </a:ext>
                </a:extLst>
              </a:tr>
              <a:tr h="0">
                <a:tc>
                  <a:txBody>
                    <a:bodyPr/>
                    <a:lstStyle/>
                    <a:p>
                      <a:pPr latinLnBrk="1"/>
                      <a:r>
                        <a:rPr lang="ko-KR" altLang="en-US" sz="800" dirty="0">
                          <a:solidFill>
                            <a:srgbClr val="C00000"/>
                          </a:solidFill>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orderInstNm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a:t>
                      </a:r>
                      <a:r>
                        <a:rPr lang="ko-KR" altLang="en-US" sz="800" dirty="0" err="1">
                          <a:latin typeface="+mn-ea"/>
                          <a:ea typeface="+mn-ea"/>
                        </a:rPr>
                        <a:t>공통팝업을</a:t>
                      </a:r>
                      <a:r>
                        <a:rPr lang="ko-KR" altLang="en-US" sz="800" dirty="0">
                          <a:latin typeface="+mn-ea"/>
                          <a:ea typeface="+mn-ea"/>
                        </a:rPr>
                        <a:t> 통해 조회하여 선택한 값</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품목명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itemNm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 </a:t>
                      </a:r>
                      <a:r>
                        <a:rPr lang="ko-KR" altLang="en-US" sz="800" dirty="0" err="1">
                          <a:latin typeface="+mn-ea"/>
                          <a:ea typeface="+mn-ea"/>
                        </a:rPr>
                        <a:t>공통팝업을</a:t>
                      </a:r>
                      <a:r>
                        <a:rPr lang="ko-KR" altLang="en-US" sz="800" dirty="0">
                          <a:latin typeface="+mn-ea"/>
                          <a:ea typeface="+mn-ea"/>
                        </a:rPr>
                        <a:t> 통해 조회하여 선택한 값</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6" name="TextBox 5">
            <a:extLst>
              <a:ext uri="{FF2B5EF4-FFF2-40B4-BE49-F238E27FC236}">
                <a16:creationId xmlns:a16="http://schemas.microsoft.com/office/drawing/2014/main" id="{517A0773-3C90-4900-FD26-1D4BE696EB5A}"/>
              </a:ext>
            </a:extLst>
          </p:cNvPr>
          <p:cNvSpPr txBox="1"/>
          <p:nvPr/>
        </p:nvSpPr>
        <p:spPr>
          <a:xfrm>
            <a:off x="458117" y="4873811"/>
            <a:ext cx="3875026"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검색결과</a:t>
            </a:r>
            <a:r>
              <a:rPr lang="en-US" altLang="ko-KR" sz="900" b="1" dirty="0">
                <a:solidFill>
                  <a:prstClr val="black"/>
                </a:solidFill>
              </a:rPr>
              <a:t>(</a:t>
            </a:r>
            <a:r>
              <a:rPr lang="ko-KR" altLang="en-US" sz="900" b="1" dirty="0">
                <a:solidFill>
                  <a:prstClr val="black"/>
                </a:solidFill>
              </a:rPr>
              <a:t>조달업무담당자</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dlt_prcmTaskPicBdopnList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49C690CC-6FCC-972B-2863-B2CCE89A50E8}"/>
              </a:ext>
            </a:extLst>
          </p:cNvPr>
          <p:cNvGraphicFramePr>
            <a:graphicFrameLocks noGrp="1"/>
          </p:cNvGraphicFramePr>
          <p:nvPr/>
        </p:nvGraphicFramePr>
        <p:xfrm>
          <a:off x="452999" y="5157565"/>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rnum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err="1">
                          <a:solidFill>
                            <a:schemeClr val="tx1"/>
                          </a:solidFill>
                          <a:latin typeface="+mn-lt"/>
                          <a:ea typeface="+mn-ea"/>
                          <a:cs typeface="+mn-cs"/>
                        </a:rPr>
                        <a:t>bizSecd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3694876"/>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467518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clsfNo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4403841"/>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bidCycl</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0208478"/>
                  </a:ext>
                </a:extLst>
              </a:tr>
            </a:tbl>
          </a:graphicData>
        </a:graphic>
      </p:graphicFrame>
      <p:sp>
        <p:nvSpPr>
          <p:cNvPr id="2" name="Text Box 73">
            <a:extLst>
              <a:ext uri="{FF2B5EF4-FFF2-40B4-BE49-F238E27FC236}">
                <a16:creationId xmlns:a16="http://schemas.microsoft.com/office/drawing/2014/main" id="{BC0A6F9B-FBD4-D832-8BA6-F2C855422D6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48734394"/>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227</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45600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pbancTpCd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pbancYmd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2785069"/>
                  </a:ext>
                </a:extLst>
              </a:tr>
              <a:tr h="0">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mn-ea"/>
                        </a:rPr>
                        <a:t>prcmNo</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8825031"/>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rfrncNo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543318"/>
                  </a:ext>
                </a:extLst>
              </a:tr>
              <a:tr h="0">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8730929"/>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orderInstNm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1565023"/>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elgbSrngYn</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249138"/>
                  </a:ext>
                </a:extLst>
              </a:tr>
              <a:tr h="0">
                <a:tc>
                  <a:txBody>
                    <a:bodyPr/>
                    <a:lstStyle/>
                    <a:p>
                      <a:pPr latinLnBrk="1"/>
                      <a:r>
                        <a:rPr lang="ko-KR" altLang="en-US" sz="800" dirty="0">
                          <a:latin typeface="+mn-ea"/>
                          <a:ea typeface="+mn-ea"/>
                        </a:rPr>
                        <a:t>재입찰여부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맑은 고딕" panose="020B0503020000020004" pitchFamily="50" charset="-127"/>
                        </a:rPr>
                        <a:t>rebidYn</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재입찰여부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440566"/>
                  </a:ext>
                </a:extLst>
              </a:tr>
              <a:tr h="0">
                <a:tc>
                  <a:txBody>
                    <a:bodyPr/>
                    <a:lstStyle/>
                    <a:p>
                      <a:pPr latinLnBrk="1"/>
                      <a:r>
                        <a:rPr lang="ko-KR" altLang="en-US" sz="800" dirty="0">
                          <a:latin typeface="+mn-ea"/>
                          <a:ea typeface="+mn-ea"/>
                        </a:rPr>
                        <a:t>입찰서제출마감일자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bidClrsYmd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4416585"/>
                  </a:ext>
                </a:extLst>
              </a:tr>
              <a:tr h="0">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bdopnYmd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884651"/>
                  </a:ext>
                </a:extLst>
              </a:tr>
              <a:tr h="0">
                <a:tc>
                  <a:txBody>
                    <a:bodyPr/>
                    <a:lstStyle/>
                    <a:p>
                      <a:pPr latinLnBrk="1"/>
                      <a:r>
                        <a:rPr lang="ko-KR" altLang="en-US" sz="800" dirty="0" err="1">
                          <a:latin typeface="+mn-ea"/>
                          <a:ea typeface="+mn-ea"/>
                        </a:rPr>
                        <a:t>투찰업체수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bidPrtcpBzentyCnt</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투찰업체수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2604741"/>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bgtAmt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9173542"/>
                  </a:ext>
                </a:extLst>
              </a:tr>
              <a:tr h="0">
                <a:tc>
                  <a:txBody>
                    <a:bodyPr/>
                    <a:lstStyle/>
                    <a:p>
                      <a:pPr latinLnBrk="1"/>
                      <a:r>
                        <a:rPr lang="ko-KR" altLang="en-US" sz="800" dirty="0">
                          <a:latin typeface="+mn-ea"/>
                          <a:ea typeface="+mn-ea"/>
                        </a:rPr>
                        <a:t>입찰구분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2015299"/>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ctrtMthdCd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41684296"/>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scsbdMthdCd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554367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bidRsltCd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983534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처리 및 결과를 제공하는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계약구분과 입찰상태에 따라 </a:t>
                      </a:r>
                      <a:r>
                        <a:rPr lang="en-US" altLang="ko-KR" sz="800" dirty="0">
                          <a:latin typeface="+mn-ea"/>
                          <a:ea typeface="+mn-ea"/>
                        </a:rPr>
                        <a:t>[</a:t>
                      </a:r>
                      <a:r>
                        <a:rPr lang="ko-KR" altLang="en-US" sz="800" dirty="0">
                          <a:latin typeface="+mn-ea"/>
                          <a:ea typeface="+mn-ea"/>
                        </a:rPr>
                        <a:t>입찰실시</a:t>
                      </a:r>
                      <a:r>
                        <a:rPr lang="en-US" altLang="ko-KR" sz="800" dirty="0">
                          <a:latin typeface="+mn-ea"/>
                          <a:ea typeface="+mn-ea"/>
                        </a:rPr>
                        <a:t>], [</a:t>
                      </a:r>
                      <a:r>
                        <a:rPr lang="ko-KR" altLang="en-US" sz="800" dirty="0">
                          <a:latin typeface="+mn-ea"/>
                          <a:ea typeface="+mn-ea"/>
                        </a:rPr>
                        <a:t>입찰결과</a:t>
                      </a:r>
                      <a:r>
                        <a:rPr lang="en-US" altLang="ko-KR" sz="800" dirty="0">
                          <a:latin typeface="+mn-ea"/>
                          <a:ea typeface="+mn-ea"/>
                        </a:rPr>
                        <a:t>], [</a:t>
                      </a:r>
                      <a:r>
                        <a:rPr lang="ko-KR" altLang="en-US" sz="800" dirty="0">
                          <a:latin typeface="+mn-ea"/>
                          <a:ea typeface="+mn-ea"/>
                        </a:rPr>
                        <a:t>협상실시</a:t>
                      </a:r>
                      <a:r>
                        <a:rPr lang="en-US" altLang="ko-KR" sz="800" dirty="0">
                          <a:latin typeface="+mn-ea"/>
                          <a:ea typeface="+mn-ea"/>
                        </a:rPr>
                        <a:t>], [</a:t>
                      </a:r>
                      <a:r>
                        <a:rPr lang="ko-KR" altLang="en-US" sz="800" dirty="0">
                          <a:latin typeface="+mn-ea"/>
                          <a:ea typeface="+mn-ea"/>
                        </a:rPr>
                        <a:t>협상결과</a:t>
                      </a:r>
                      <a:r>
                        <a:rPr lang="en-US" altLang="ko-KR" sz="800" dirty="0">
                          <a:latin typeface="+mn-ea"/>
                          <a:ea typeface="+mn-ea"/>
                        </a:rPr>
                        <a:t>] </a:t>
                      </a:r>
                      <a:r>
                        <a:rPr lang="ko-KR" altLang="en-US" sz="800" dirty="0">
                          <a:latin typeface="+mn-ea"/>
                          <a:ea typeface="+mn-ea"/>
                        </a:rPr>
                        <a:t>버튼을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64744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공개협상심사결과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rlsNgtnSrngRslt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공개수의협상인 경우 개찰완료 후 낙찰</a:t>
                      </a:r>
                      <a:r>
                        <a:rPr lang="en-US" altLang="ko-KR" sz="800" dirty="0">
                          <a:latin typeface="+mn-ea"/>
                          <a:ea typeface="+mn-ea"/>
                        </a:rPr>
                        <a:t>(</a:t>
                      </a:r>
                      <a:r>
                        <a:rPr lang="ko-KR" altLang="en-US" sz="800" dirty="0">
                          <a:latin typeface="+mn-ea"/>
                          <a:ea typeface="+mn-ea"/>
                        </a:rPr>
                        <a:t>심사결과</a:t>
                      </a:r>
                      <a:r>
                        <a:rPr lang="en-US" altLang="ko-KR" sz="800" dirty="0">
                          <a:latin typeface="+mn-ea"/>
                          <a:ea typeface="+mn-ea"/>
                        </a:rPr>
                        <a:t>)</a:t>
                      </a:r>
                      <a:r>
                        <a:rPr lang="ko-KR" altLang="en-US" sz="800" dirty="0">
                          <a:latin typeface="+mn-ea"/>
                          <a:ea typeface="+mn-ea"/>
                        </a:rPr>
                        <a:t>처리 및 결과조회하기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협상심사</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40464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ngtnCtrt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계약인 경우 개찰완료 후 가격협상하기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가격협상</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93103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수의계약배제업체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vltrnsCtrtExclBzenty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수의계약배제업체 대상을 관리하기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부대조달정보체계 시스템인 경우 </a:t>
                      </a:r>
                      <a:r>
                        <a:rPr lang="en-US" altLang="ko-KR" sz="800" dirty="0">
                          <a:latin typeface="+mn-ea"/>
                          <a:ea typeface="+mn-ea"/>
                        </a:rPr>
                        <a:t>[</a:t>
                      </a:r>
                      <a:r>
                        <a:rPr lang="ko-KR" altLang="en-US" sz="800" dirty="0">
                          <a:latin typeface="+mn-ea"/>
                          <a:ea typeface="+mn-ea"/>
                        </a:rPr>
                        <a:t>상세조회</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1916311"/>
                  </a:ext>
                </a:extLst>
              </a:tr>
            </a:tbl>
          </a:graphicData>
        </a:graphic>
      </p:graphicFrame>
      <p:sp>
        <p:nvSpPr>
          <p:cNvPr id="2" name="TextBox 1">
            <a:extLst>
              <a:ext uri="{FF2B5EF4-FFF2-40B4-BE49-F238E27FC236}">
                <a16:creationId xmlns:a16="http://schemas.microsoft.com/office/drawing/2014/main" id="{5677BC4E-D32C-4D4B-E9BF-1AA274225B8A}"/>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(2/4)</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19E0FB53-C3E2-1404-BB2C-B1241E81279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557889314"/>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228</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163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rnum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err="1">
                          <a:solidFill>
                            <a:schemeClr val="tx1"/>
                          </a:solidFill>
                          <a:latin typeface="+mn-lt"/>
                          <a:ea typeface="+mn-ea"/>
                          <a:cs typeface="+mn-cs"/>
                        </a:rPr>
                        <a:t>bizSecd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9745003"/>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342963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clsfNo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2462476"/>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bidCycl</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8171950"/>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pbancTpNm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1562520"/>
                  </a:ext>
                </a:extLst>
              </a:tr>
              <a:tr h="0">
                <a:tc>
                  <a:txBody>
                    <a:bodyPr/>
                    <a:lstStyle/>
                    <a:p>
                      <a:pPr latinLnBrk="1"/>
                      <a:r>
                        <a:rPr lang="ko-KR" altLang="en-US" sz="800" dirty="0">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pbancYmd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8813947"/>
                  </a:ext>
                </a:extLst>
              </a:tr>
              <a:tr h="0">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mn-ea"/>
                        </a:rPr>
                        <a:t>prcmNo</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6254548"/>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0416942"/>
                  </a:ext>
                </a:extLst>
              </a:tr>
              <a:tr h="0">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4662128"/>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orderInstNm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48200667"/>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elgbSrngYn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1733713"/>
                  </a:ext>
                </a:extLst>
              </a:tr>
              <a:tr h="0">
                <a:tc>
                  <a:txBody>
                    <a:bodyPr/>
                    <a:lstStyle/>
                    <a:p>
                      <a:pPr latinLnBrk="1"/>
                      <a:r>
                        <a:rPr lang="ko-KR" altLang="en-US" sz="800" dirty="0">
                          <a:latin typeface="+mn-ea"/>
                          <a:ea typeface="+mn-ea"/>
                        </a:rPr>
                        <a:t>재입찰여부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mn-ea"/>
                        </a:rPr>
                        <a:t>rebidYn</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재입찰여부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055691"/>
                  </a:ext>
                </a:extLst>
              </a:tr>
              <a:tr h="0">
                <a:tc>
                  <a:txBody>
                    <a:bodyPr/>
                    <a:lstStyle/>
                    <a:p>
                      <a:pPr latinLnBrk="1"/>
                      <a:r>
                        <a:rPr lang="ko-KR" altLang="en-US" sz="800" dirty="0">
                          <a:latin typeface="+mn-ea"/>
                          <a:ea typeface="+mn-ea"/>
                        </a:rPr>
                        <a:t>입찰서제출마감일자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bidClrsYmd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5466342"/>
                  </a:ext>
                </a:extLst>
              </a:tr>
              <a:tr h="0">
                <a:tc>
                  <a:txBody>
                    <a:bodyPr/>
                    <a:lstStyle/>
                    <a:p>
                      <a:pPr latinLnBrk="1"/>
                      <a:r>
                        <a:rPr lang="ko-KR" altLang="en-US" sz="800">
                          <a:latin typeface="+mn-ea"/>
                          <a:ea typeface="+mn-ea"/>
                        </a:rPr>
                        <a:t>개찰</a:t>
                      </a:r>
                      <a:r>
                        <a:rPr lang="en-US" altLang="ko-KR" sz="800">
                          <a:latin typeface="+mn-ea"/>
                          <a:ea typeface="+mn-ea"/>
                        </a:rPr>
                        <a:t>/</a:t>
                      </a:r>
                      <a:r>
                        <a:rPr lang="ko-KR" altLang="en-US" sz="800">
                          <a:latin typeface="+mn-ea"/>
                          <a:ea typeface="+mn-ea"/>
                        </a:rPr>
                        <a:t>협상일자</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48100"/>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bgtAmt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05551686"/>
                  </a:ext>
                </a:extLst>
              </a:tr>
              <a:tr h="0">
                <a:tc>
                  <a:txBody>
                    <a:bodyPr/>
                    <a:lstStyle/>
                    <a:p>
                      <a:pPr latinLnBrk="1"/>
                      <a:r>
                        <a:rPr lang="ko-KR" altLang="en-US" sz="800" dirty="0">
                          <a:latin typeface="+mn-ea"/>
                          <a:ea typeface="+mn-ea"/>
                        </a:rPr>
                        <a:t>입찰구분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1948729"/>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ctrtMthdCd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2785069"/>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scsbdMthdCd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882503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지시년도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drctnYr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지시년도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731131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투찰단가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bdngAmt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로그인한 업체의 </a:t>
                      </a:r>
                      <a:r>
                        <a:rPr lang="ko-KR" altLang="en-US" sz="800" dirty="0" err="1">
                          <a:latin typeface="+mn-ea"/>
                          <a:ea typeface="+mn-ea"/>
                        </a:rPr>
                        <a:t>투찰단가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922230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bidRsltCd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542275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낙찰순위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scsbdRnk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로그인한 업체의 낙찰순위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0037656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총점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tscr</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로그인한 업체의 이행</a:t>
                      </a:r>
                      <a:r>
                        <a:rPr lang="en-US" altLang="ko-KR" sz="800" dirty="0">
                          <a:latin typeface="+mn-ea"/>
                          <a:ea typeface="+mn-ea"/>
                        </a:rPr>
                        <a:t>/</a:t>
                      </a:r>
                      <a:r>
                        <a:rPr lang="ko-KR" altLang="en-US" sz="800" dirty="0">
                          <a:latin typeface="+mn-ea"/>
                          <a:ea typeface="+mn-ea"/>
                        </a:rPr>
                        <a:t>적격심사 총점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99765296"/>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7888309"/>
                  </a:ext>
                </a:extLst>
              </a:tr>
            </a:tbl>
          </a:graphicData>
        </a:graphic>
      </p:graphicFrame>
      <p:sp>
        <p:nvSpPr>
          <p:cNvPr id="2" name="TextBox 1">
            <a:extLst>
              <a:ext uri="{FF2B5EF4-FFF2-40B4-BE49-F238E27FC236}">
                <a16:creationId xmlns:a16="http://schemas.microsoft.com/office/drawing/2014/main" id="{895CA6CF-76CA-B609-4652-5BED7035BE89}"/>
              </a:ext>
            </a:extLst>
          </p:cNvPr>
          <p:cNvSpPr txBox="1"/>
          <p:nvPr/>
        </p:nvSpPr>
        <p:spPr>
          <a:xfrm>
            <a:off x="458117" y="803113"/>
            <a:ext cx="348229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검색결과</a:t>
            </a:r>
            <a:r>
              <a:rPr lang="en-US" altLang="ko-KR" sz="900" b="1" dirty="0">
                <a:solidFill>
                  <a:prstClr val="black"/>
                </a:solidFill>
              </a:rPr>
              <a:t>(</a:t>
            </a:r>
            <a:r>
              <a:rPr lang="ko-KR" altLang="en-US" sz="900" b="1" dirty="0">
                <a:solidFill>
                  <a:prstClr val="black"/>
                </a:solidFill>
              </a:rPr>
              <a:t>업체담당자</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dlt_bzentyPicBdopnList</a:t>
            </a:r>
            <a:r>
              <a:rPr lang="en-US" altLang="ko-KR" sz="900" b="1" dirty="0">
                <a:solidFill>
                  <a:prstClr val="black"/>
                </a:solidFill>
              </a:rPr>
              <a:t>)</a:t>
            </a:r>
            <a:endParaRPr lang="ko-KR" altLang="en-US" sz="900" b="1" dirty="0">
              <a:solidFill>
                <a:prstClr val="black"/>
              </a:solidFill>
            </a:endParaRPr>
          </a:p>
        </p:txBody>
      </p:sp>
      <p:sp>
        <p:nvSpPr>
          <p:cNvPr id="4" name="TextBox 3">
            <a:extLst>
              <a:ext uri="{FF2B5EF4-FFF2-40B4-BE49-F238E27FC236}">
                <a16:creationId xmlns:a16="http://schemas.microsoft.com/office/drawing/2014/main" id="{0B492A64-237C-FA85-C801-7DDAA9C0FE14}"/>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(3/4)</a:t>
            </a:r>
            <a:endParaRPr lang="ko-KR" altLang="en-US" sz="1000" b="1" dirty="0">
              <a:solidFill>
                <a:prstClr val="black"/>
              </a:solidFill>
            </a:endParaRPr>
          </a:p>
        </p:txBody>
      </p:sp>
      <p:sp>
        <p:nvSpPr>
          <p:cNvPr id="5" name="Text Box 73">
            <a:extLst>
              <a:ext uri="{FF2B5EF4-FFF2-40B4-BE49-F238E27FC236}">
                <a16:creationId xmlns:a16="http://schemas.microsoft.com/office/drawing/2014/main" id="{E05BE4AC-F306-16A2-182B-6A592E8C3D6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98803367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229</a:t>
            </a:fld>
            <a:endParaRPr lang="ko-KR" altLang="en-US" dirty="0"/>
          </a:p>
        </p:txBody>
      </p:sp>
      <p:graphicFrame>
        <p:nvGraphicFramePr>
          <p:cNvPr id="7" name="표 6">
            <a:extLst>
              <a:ext uri="{FF2B5EF4-FFF2-40B4-BE49-F238E27FC236}">
                <a16:creationId xmlns:a16="http://schemas.microsoft.com/office/drawing/2014/main" id="{24EA1FAA-2BCB-9B11-BA6C-5D4B50E48178}"/>
              </a:ext>
            </a:extLst>
          </p:cNvPr>
          <p:cNvGraphicFramePr>
            <a:graphicFrameLocks noGrp="1"/>
          </p:cNvGraphicFramePr>
          <p:nvPr/>
        </p:nvGraphicFramePr>
        <p:xfrm>
          <a:off x="452999" y="1014316"/>
          <a:ext cx="8994883" cy="10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입찰결과를 제공하는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계약구분과 입찰상태에 따라 </a:t>
                      </a:r>
                      <a:r>
                        <a:rPr lang="en-US" altLang="ko-KR" sz="800" dirty="0">
                          <a:latin typeface="+mn-ea"/>
                          <a:ea typeface="+mn-ea"/>
                        </a:rPr>
                        <a:t>[</a:t>
                      </a:r>
                      <a:r>
                        <a:rPr lang="ko-KR" altLang="en-US" sz="800" dirty="0">
                          <a:latin typeface="+mn-ea"/>
                          <a:ea typeface="+mn-ea"/>
                        </a:rPr>
                        <a:t>입찰결과</a:t>
                      </a:r>
                      <a:r>
                        <a:rPr lang="en-US" altLang="ko-KR" sz="800" dirty="0">
                          <a:latin typeface="+mn-ea"/>
                          <a:ea typeface="+mn-ea"/>
                        </a:rPr>
                        <a:t>], [</a:t>
                      </a:r>
                      <a:r>
                        <a:rPr lang="ko-KR" altLang="en-US" sz="800" dirty="0">
                          <a:latin typeface="+mn-ea"/>
                          <a:ea typeface="+mn-ea"/>
                        </a:rPr>
                        <a:t>협상실시</a:t>
                      </a:r>
                      <a:r>
                        <a:rPr lang="en-US" altLang="ko-KR" sz="800" dirty="0">
                          <a:latin typeface="+mn-ea"/>
                          <a:ea typeface="+mn-ea"/>
                        </a:rPr>
                        <a:t>], [</a:t>
                      </a:r>
                      <a:r>
                        <a:rPr lang="ko-KR" altLang="en-US" sz="800" dirty="0">
                          <a:latin typeface="+mn-ea"/>
                          <a:ea typeface="+mn-ea"/>
                        </a:rPr>
                        <a:t>협상결과</a:t>
                      </a:r>
                      <a:r>
                        <a:rPr lang="en-US" altLang="ko-KR" sz="800" dirty="0">
                          <a:latin typeface="+mn-ea"/>
                          <a:ea typeface="+mn-ea"/>
                        </a:rPr>
                        <a:t>] </a:t>
                      </a:r>
                      <a:r>
                        <a:rPr lang="ko-KR" altLang="en-US" sz="800" dirty="0">
                          <a:latin typeface="+mn-ea"/>
                          <a:ea typeface="+mn-ea"/>
                        </a:rPr>
                        <a:t>버튼을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562740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ngtnCtrt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계약인 경우 개찰완료 후 가격협상하기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가격협상</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154937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impltElgbSrngAply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적격심사신청 및 결과조회하기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심사신청</a:t>
                      </a:r>
                      <a:r>
                        <a:rPr lang="en-US" altLang="ko-KR" sz="800" dirty="0">
                          <a:latin typeface="+mn-ea"/>
                          <a:ea typeface="+mn-ea"/>
                        </a:rPr>
                        <a:t>], [</a:t>
                      </a:r>
                      <a:r>
                        <a:rPr lang="ko-KR" altLang="en-US" sz="800" dirty="0">
                          <a:latin typeface="+mn-ea"/>
                          <a:ea typeface="+mn-ea"/>
                        </a:rPr>
                        <a:t>심사결과</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3630144"/>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impltElgbSrngAbnd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적격심사포기하기 위한 버튼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심사포기</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7054663"/>
                  </a:ext>
                </a:extLst>
              </a:tr>
            </a:tbl>
          </a:graphicData>
        </a:graphic>
      </p:graphicFrame>
      <p:sp>
        <p:nvSpPr>
          <p:cNvPr id="2" name="TextBox 1">
            <a:extLst>
              <a:ext uri="{FF2B5EF4-FFF2-40B4-BE49-F238E27FC236}">
                <a16:creationId xmlns:a16="http://schemas.microsoft.com/office/drawing/2014/main" id="{367502D6-3923-9242-6222-571062EB83A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(4/4)</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7C617114-1DFD-1415-B519-F597022670B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137019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230</a:t>
            </a:fld>
            <a:endParaRPr lang="ko-KR" altLang="en-US" dirty="0"/>
          </a:p>
        </p:txBody>
      </p:sp>
      <p:sp>
        <p:nvSpPr>
          <p:cNvPr id="10" name="TextBox 9">
            <a:extLst>
              <a:ext uri="{FF2B5EF4-FFF2-40B4-BE49-F238E27FC236}">
                <a16:creationId xmlns:a16="http://schemas.microsoft.com/office/drawing/2014/main" id="{B4E9886C-0490-14E5-5E1F-FF41A474EDD3}"/>
              </a:ext>
            </a:extLst>
          </p:cNvPr>
          <p:cNvSpPr txBox="1"/>
          <p:nvPr/>
        </p:nvSpPr>
        <p:spPr>
          <a:xfrm>
            <a:off x="460321"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a:t>
            </a:r>
            <a:r>
              <a:rPr lang="ko-KR" altLang="en-US" sz="1000" b="1" dirty="0" smtClean="0">
                <a:solidFill>
                  <a:prstClr val="black"/>
                </a:solidFill>
                <a:latin typeface="+mn-ea"/>
              </a:rPr>
              <a:t>설명</a:t>
            </a:r>
            <a:endParaRPr lang="ko-KR" altLang="en-US" sz="1000" b="1" dirty="0">
              <a:solidFill>
                <a:prstClr val="black"/>
              </a:solidFill>
              <a:latin typeface="+mn-ea"/>
            </a:endParaRPr>
          </a:p>
        </p:txBody>
      </p:sp>
      <p:graphicFrame>
        <p:nvGraphicFramePr>
          <p:cNvPr id="11" name="표 10">
            <a:extLst>
              <a:ext uri="{FF2B5EF4-FFF2-40B4-BE49-F238E27FC236}">
                <a16:creationId xmlns:a16="http://schemas.microsoft.com/office/drawing/2014/main" id="{7CA2CB13-9C7B-4E11-AAF6-25DDEBB58548}"/>
              </a:ext>
            </a:extLst>
          </p:cNvPr>
          <p:cNvGraphicFramePr>
            <a:graphicFrameLocks noGrp="1"/>
          </p:cNvGraphicFramePr>
          <p:nvPr>
            <p:extLst>
              <p:ext uri="{D42A27DB-BD31-4B8C-83A1-F6EECF244321}">
                <p14:modId xmlns:p14="http://schemas.microsoft.com/office/powerpoint/2010/main" val="1920447433"/>
              </p:ext>
            </p:extLst>
          </p:nvPr>
        </p:nvGraphicFramePr>
        <p:xfrm>
          <a:off x="455204" y="1014316"/>
          <a:ext cx="8995591" cy="49152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페이지 오픈 시 실행되는 이벤트로 조회조건의 업무구분</a:t>
                      </a:r>
                      <a:r>
                        <a:rPr lang="en-US" altLang="ko-KR" sz="800" dirty="0">
                          <a:latin typeface="+mn-ea"/>
                          <a:ea typeface="+mn-ea"/>
                        </a:rPr>
                        <a:t>, </a:t>
                      </a:r>
                      <a:r>
                        <a:rPr lang="ko-KR" altLang="en-US" sz="800" dirty="0">
                          <a:latin typeface="+mn-ea"/>
                          <a:ea typeface="+mn-ea"/>
                        </a:rPr>
                        <a:t>입찰구분</a:t>
                      </a:r>
                      <a:r>
                        <a:rPr lang="en-US" altLang="ko-KR" sz="800" dirty="0">
                          <a:latin typeface="+mn-ea"/>
                          <a:ea typeface="+mn-ea"/>
                        </a:rPr>
                        <a:t>, </a:t>
                      </a:r>
                      <a:r>
                        <a:rPr lang="ko-KR" altLang="en-US" sz="800" dirty="0">
                          <a:latin typeface="+mn-ea"/>
                          <a:ea typeface="+mn-ea"/>
                        </a:rPr>
                        <a:t>계약방법</a:t>
                      </a:r>
                      <a:r>
                        <a:rPr lang="en-US" altLang="ko-KR" sz="800" dirty="0">
                          <a:latin typeface="+mn-ea"/>
                          <a:ea typeface="+mn-ea"/>
                        </a:rPr>
                        <a:t>, </a:t>
                      </a:r>
                      <a:r>
                        <a:rPr lang="ko-KR" altLang="en-US" sz="800" dirty="0">
                          <a:latin typeface="+mn-ea"/>
                          <a:ea typeface="+mn-ea"/>
                        </a:rPr>
                        <a:t>입찰결과</a:t>
                      </a:r>
                      <a:r>
                        <a:rPr lang="en-US" altLang="ko-KR" sz="800" dirty="0">
                          <a:latin typeface="+mn-ea"/>
                          <a:ea typeface="+mn-ea"/>
                        </a:rPr>
                        <a:t>, </a:t>
                      </a:r>
                      <a:r>
                        <a:rPr lang="ko-KR" altLang="en-US" sz="800" dirty="0">
                          <a:latin typeface="+mn-ea"/>
                          <a:ea typeface="+mn-ea"/>
                        </a:rPr>
                        <a:t>낙찰방법</a:t>
                      </a:r>
                      <a:r>
                        <a:rPr lang="en-US" altLang="ko-KR" sz="800" dirty="0">
                          <a:latin typeface="+mn-ea"/>
                          <a:ea typeface="+mn-ea"/>
                        </a:rPr>
                        <a:t>, </a:t>
                      </a:r>
                      <a:r>
                        <a:rPr lang="ko-KR" altLang="en-US" sz="800" dirty="0">
                          <a:latin typeface="+mn-ea"/>
                          <a:ea typeface="+mn-ea"/>
                        </a:rPr>
                        <a:t>진행상태의 공통코드를 조회하여 해당 값을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검색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scwin.btn_srch_onclick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조회조건에 해당하는 개찰목록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719220"/>
                  </a:ext>
                </a:extLst>
              </a:tr>
              <a:tr h="0">
                <a:tc>
                  <a:txBody>
                    <a:bodyPr/>
                    <a:lstStyle/>
                    <a:p>
                      <a:pPr latinLnBrk="1"/>
                      <a:r>
                        <a:rPr lang="ko-KR" altLang="en-US" sz="800" dirty="0">
                          <a:latin typeface="+mn-ea"/>
                          <a:ea typeface="+mn-ea"/>
                        </a:rPr>
                        <a:t>초기화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scwin.btn_init_onclick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조회조건을 초기화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27536515"/>
                  </a:ext>
                </a:extLst>
              </a:tr>
              <a:tr h="0">
                <a:tc>
                  <a:txBody>
                    <a:bodyPr/>
                    <a:lstStyle/>
                    <a:p>
                      <a:r>
                        <a:rPr lang="ko-KR" altLang="en-US" sz="800" dirty="0"/>
                        <a:t>입찰결과 </a:t>
                      </a:r>
                      <a:r>
                        <a:rPr lang="ko-KR" altLang="en-US" sz="800" dirty="0">
                          <a:latin typeface="+mn-ea"/>
                          <a:ea typeface="+mn-ea"/>
                        </a:rPr>
                        <a:t>버튼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scwin.btn_bidRslt_onclick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경쟁입찰 건에 대해 </a:t>
                      </a:r>
                      <a:r>
                        <a:rPr lang="en-US" altLang="ko-KR" sz="800" dirty="0">
                          <a:latin typeface="+mn-ea"/>
                          <a:ea typeface="+mn-ea"/>
                        </a:rPr>
                        <a:t>ROW</a:t>
                      </a:r>
                      <a:r>
                        <a:rPr lang="ko-KR" altLang="en-US" sz="800" dirty="0">
                          <a:latin typeface="+mn-ea"/>
                          <a:ea typeface="+mn-ea"/>
                        </a:rPr>
                        <a:t>에 해당하는 입찰결과 상세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(UI-BD-09-M01) </a:t>
                      </a:r>
                      <a:r>
                        <a:rPr lang="ko-KR" altLang="en-US" sz="800" dirty="0" err="1">
                          <a:latin typeface="+mn-ea"/>
                          <a:ea typeface="+mn-ea"/>
                        </a:rPr>
                        <a:t>입찰결과상세</a:t>
                      </a:r>
                      <a:r>
                        <a:rPr lang="en-US" altLang="ko-KR" sz="800" dirty="0">
                          <a:latin typeface="+mn-ea"/>
                          <a:ea typeface="+mn-ea"/>
                        </a:rPr>
                        <a:t>(</a:t>
                      </a:r>
                      <a:r>
                        <a:rPr lang="ko-KR" altLang="en-US" sz="800" dirty="0">
                          <a:latin typeface="+mn-ea"/>
                          <a:ea typeface="+mn-ea"/>
                        </a:rPr>
                        <a:t>국내</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(UI-BD-09-P74</a:t>
                      </a:r>
                      <a:r>
                        <a:rPr lang="en-US" altLang="ko-KR" sz="800">
                          <a:latin typeface="+mn-ea"/>
                          <a:ea typeface="+mn-ea"/>
                        </a:rPr>
                        <a:t>) </a:t>
                      </a:r>
                      <a:r>
                        <a:rPr lang="ko-KR" altLang="en-US" sz="800">
                          <a:latin typeface="+mn-ea"/>
                          <a:ea typeface="+mn-ea"/>
                        </a:rPr>
                        <a:t>업체별입찰결과조회</a:t>
                      </a:r>
                      <a:r>
                        <a:rPr lang="en-US" altLang="ko-KR" sz="800">
                          <a:latin typeface="+mn-ea"/>
                          <a:ea typeface="+mn-ea"/>
                        </a:rPr>
                        <a:t>(</a:t>
                      </a:r>
                      <a:r>
                        <a:rPr lang="ko-KR" altLang="en-US" sz="800" dirty="0">
                          <a:latin typeface="+mn-ea"/>
                          <a:ea typeface="+mn-ea"/>
                        </a:rPr>
                        <a:t>국외</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(UI-BD-09-M72) </a:t>
                      </a:r>
                      <a:r>
                        <a:rPr lang="ko-KR" altLang="en-US" sz="800" dirty="0">
                          <a:latin typeface="+mn-ea"/>
                          <a:ea typeface="+mn-ea"/>
                        </a:rPr>
                        <a:t>입찰결과상세조회</a:t>
                      </a:r>
                      <a:r>
                        <a:rPr lang="en-US" altLang="ko-KR" sz="800" dirty="0">
                          <a:latin typeface="+mn-ea"/>
                          <a:ea typeface="+mn-ea"/>
                        </a:rPr>
                        <a:t>(</a:t>
                      </a:r>
                      <a:r>
                        <a:rPr lang="ko-KR" altLang="en-US" sz="800" dirty="0">
                          <a:latin typeface="+mn-ea"/>
                          <a:ea typeface="+mn-ea"/>
                        </a:rPr>
                        <a:t>조달업체</a:t>
                      </a:r>
                      <a:r>
                        <a:rPr lang="en-US" altLang="ko-KR" sz="800" dirty="0">
                          <a:latin typeface="+mn-ea"/>
                          <a:ea typeface="+mn-ea"/>
                        </a:rPr>
                        <a:t>)(</a:t>
                      </a:r>
                      <a:r>
                        <a:rPr lang="ko-KR" altLang="en-US" sz="800" dirty="0">
                          <a:latin typeface="+mn-ea"/>
                          <a:ea typeface="+mn-ea"/>
                        </a:rPr>
                        <a:t>국외</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4468946"/>
                  </a:ext>
                </a:extLst>
              </a:tr>
              <a:tr h="0">
                <a:tc>
                  <a:txBody>
                    <a:bodyPr/>
                    <a:lstStyle/>
                    <a:p>
                      <a:pPr latinLnBrk="1"/>
                      <a:r>
                        <a:rPr lang="ko-KR" altLang="en-US" sz="800" b="0" dirty="0">
                          <a:latin typeface="+mn-ea"/>
                          <a:ea typeface="+mn-ea"/>
                        </a:rPr>
                        <a:t>협상결과 </a:t>
                      </a:r>
                      <a:r>
                        <a:rPr lang="ko-KR" altLang="en-US" sz="800" dirty="0">
                          <a:latin typeface="+mn-ea"/>
                          <a:ea typeface="+mn-ea"/>
                        </a:rPr>
                        <a:t>버튼 클릭</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scwin.btn_ngtnRslt_onclick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ROW</a:t>
                      </a:r>
                      <a:r>
                        <a:rPr lang="ko-KR" altLang="en-US" sz="800" dirty="0">
                          <a:latin typeface="+mn-ea"/>
                          <a:ea typeface="+mn-ea"/>
                        </a:rPr>
                        <a:t>에 해당하는 공개 또는 비공개 수의협상 결과 상세 화면으로 이동</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(UI-BD-09-M01) </a:t>
                      </a:r>
                      <a:r>
                        <a:rPr lang="ko-KR" altLang="en-US" sz="800" dirty="0" err="1">
                          <a:latin typeface="+mn-ea"/>
                          <a:ea typeface="+mn-ea"/>
                        </a:rPr>
                        <a:t>입찰결과상세</a:t>
                      </a:r>
                      <a:r>
                        <a:rPr lang="en-US" altLang="ko-KR" sz="800" dirty="0">
                          <a:latin typeface="+mn-ea"/>
                          <a:ea typeface="+mn-ea"/>
                        </a:rPr>
                        <a:t>(</a:t>
                      </a:r>
                      <a:r>
                        <a:rPr lang="ko-KR" altLang="en-US" sz="800" dirty="0">
                          <a:latin typeface="+mn-ea"/>
                          <a:ea typeface="+mn-ea"/>
                        </a:rPr>
                        <a:t>국내</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(UI-BD-12-M78) </a:t>
                      </a:r>
                      <a:r>
                        <a:rPr lang="ko-KR" altLang="en-US" sz="800" dirty="0" err="1">
                          <a:latin typeface="+mn-ea"/>
                          <a:ea typeface="+mn-ea"/>
                        </a:rPr>
                        <a:t>공개수의협상심사결과조회</a:t>
                      </a:r>
                      <a:r>
                        <a:rPr lang="en-US" altLang="ko-KR" sz="800" dirty="0">
                          <a:latin typeface="+mn-ea"/>
                          <a:ea typeface="+mn-ea"/>
                        </a:rPr>
                        <a:t>(</a:t>
                      </a:r>
                      <a:r>
                        <a:rPr lang="ko-KR" altLang="en-US" sz="800" dirty="0">
                          <a:latin typeface="+mn-ea"/>
                          <a:ea typeface="+mn-ea"/>
                        </a:rPr>
                        <a:t>계약관</a:t>
                      </a:r>
                      <a:r>
                        <a:rPr lang="en-US" altLang="ko-KR" sz="800" dirty="0">
                          <a:latin typeface="+mn-ea"/>
                          <a:ea typeface="+mn-ea"/>
                        </a:rPr>
                        <a:t>)(</a:t>
                      </a:r>
                      <a:r>
                        <a:rPr lang="ko-KR" altLang="en-US" sz="800" dirty="0">
                          <a:latin typeface="+mn-ea"/>
                          <a:ea typeface="+mn-ea"/>
                        </a:rPr>
                        <a:t>국외</a:t>
                      </a:r>
                      <a:r>
                        <a:rPr lang="en-US" altLang="ko-KR" sz="800" dirty="0">
                          <a:latin typeface="+mn-ea"/>
                          <a:ea typeface="+mn-ea"/>
                        </a:rPr>
                        <a:t>-</a:t>
                      </a:r>
                      <a:r>
                        <a:rPr lang="ko-KR" altLang="en-US" sz="800" dirty="0">
                          <a:latin typeface="+mn-ea"/>
                          <a:ea typeface="+mn-ea"/>
                        </a:rPr>
                        <a:t>공개수의협상</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(UI-BD-12-M79) </a:t>
                      </a:r>
                      <a:r>
                        <a:rPr lang="ko-KR" altLang="en-US" sz="800" dirty="0" err="1">
                          <a:latin typeface="+mn-ea"/>
                          <a:ea typeface="+mn-ea"/>
                        </a:rPr>
                        <a:t>공개수의협상결과조회</a:t>
                      </a:r>
                      <a:r>
                        <a:rPr lang="en-US" altLang="ko-KR" sz="800" dirty="0">
                          <a:latin typeface="+mn-ea"/>
                          <a:ea typeface="+mn-ea"/>
                        </a:rPr>
                        <a:t>(</a:t>
                      </a:r>
                      <a:r>
                        <a:rPr lang="ko-KR" altLang="en-US" sz="800" dirty="0">
                          <a:latin typeface="+mn-ea"/>
                          <a:ea typeface="+mn-ea"/>
                        </a:rPr>
                        <a:t>조달업체</a:t>
                      </a:r>
                      <a:r>
                        <a:rPr lang="en-US" altLang="ko-KR" sz="800" dirty="0">
                          <a:latin typeface="+mn-ea"/>
                          <a:ea typeface="+mn-ea"/>
                        </a:rPr>
                        <a:t>)(</a:t>
                      </a:r>
                      <a:r>
                        <a:rPr lang="ko-KR" altLang="en-US" sz="800" dirty="0">
                          <a:latin typeface="+mn-ea"/>
                          <a:ea typeface="+mn-ea"/>
                        </a:rPr>
                        <a:t>국외</a:t>
                      </a:r>
                      <a:r>
                        <a:rPr lang="en-US" altLang="ko-KR" sz="800" dirty="0">
                          <a:latin typeface="+mn-ea"/>
                          <a:ea typeface="+mn-ea"/>
                        </a:rPr>
                        <a:t>-</a:t>
                      </a:r>
                      <a:r>
                        <a:rPr lang="ko-KR" altLang="en-US" sz="800" dirty="0">
                          <a:latin typeface="+mn-ea"/>
                          <a:ea typeface="+mn-ea"/>
                        </a:rPr>
                        <a:t>공개수의협상</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7648379"/>
                  </a:ext>
                </a:extLst>
              </a:tr>
              <a:tr h="0">
                <a:tc>
                  <a:txBody>
                    <a:bodyPr/>
                    <a:lstStyle/>
                    <a:p>
                      <a:pPr latinLnBrk="1"/>
                      <a:r>
                        <a:rPr lang="ko-KR" altLang="en-US" sz="800" dirty="0">
                          <a:latin typeface="+mn-ea"/>
                          <a:ea typeface="+mn-ea"/>
                        </a:rPr>
                        <a:t>심사신청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scwin.btn_srngAply_onclick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적격심사제 건에 대해 개찰 후 </a:t>
                      </a:r>
                      <a:r>
                        <a:rPr lang="en-US" altLang="ko-KR" sz="800" dirty="0">
                          <a:latin typeface="+mn-ea"/>
                          <a:ea typeface="+mn-ea"/>
                        </a:rPr>
                        <a:t>ROW</a:t>
                      </a:r>
                      <a:r>
                        <a:rPr lang="ko-KR" altLang="en-US" sz="800" dirty="0">
                          <a:latin typeface="+mn-ea"/>
                          <a:ea typeface="+mn-ea"/>
                        </a:rPr>
                        <a:t>에 해당하는 이행</a:t>
                      </a:r>
                      <a:r>
                        <a:rPr lang="en-US" altLang="ko-KR" sz="800" dirty="0">
                          <a:latin typeface="+mn-ea"/>
                          <a:ea typeface="+mn-ea"/>
                        </a:rPr>
                        <a:t>/</a:t>
                      </a:r>
                      <a:r>
                        <a:rPr lang="ko-KR" altLang="en-US" sz="800" dirty="0">
                          <a:latin typeface="+mn-ea"/>
                          <a:ea typeface="+mn-ea"/>
                        </a:rPr>
                        <a:t>적격심사 신청 상세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(UI-BD-10-M01)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적격심사상세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99086803"/>
                  </a:ext>
                </a:extLst>
              </a:tr>
              <a:tr h="0">
                <a:tc>
                  <a:txBody>
                    <a:bodyPr/>
                    <a:lstStyle/>
                    <a:p>
                      <a:pPr latinLnBrk="1"/>
                      <a:r>
                        <a:rPr lang="ko-KR" altLang="en-US" sz="800" dirty="0">
                          <a:latin typeface="+mn-ea"/>
                          <a:ea typeface="+mn-ea"/>
                        </a:rPr>
                        <a:t>심사결과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scwin.btn_srngRslt_onclick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적격심사제 건에 대해 심사 처리 후 </a:t>
                      </a:r>
                      <a:r>
                        <a:rPr lang="en-US" altLang="ko-KR" sz="800" dirty="0">
                          <a:latin typeface="+mn-ea"/>
                          <a:ea typeface="+mn-ea"/>
                        </a:rPr>
                        <a:t>ROW</a:t>
                      </a:r>
                      <a:r>
                        <a:rPr lang="ko-KR" altLang="en-US" sz="800" dirty="0">
                          <a:latin typeface="+mn-ea"/>
                          <a:ea typeface="+mn-ea"/>
                        </a:rPr>
                        <a:t>에 해당하는 이행</a:t>
                      </a:r>
                      <a:r>
                        <a:rPr lang="en-US" altLang="ko-KR" sz="800" dirty="0">
                          <a:latin typeface="+mn-ea"/>
                          <a:ea typeface="+mn-ea"/>
                        </a:rPr>
                        <a:t>/</a:t>
                      </a:r>
                      <a:r>
                        <a:rPr lang="ko-KR" altLang="en-US" sz="800" dirty="0">
                          <a:latin typeface="+mn-ea"/>
                          <a:ea typeface="+mn-ea"/>
                        </a:rPr>
                        <a:t>적격심사 결과 상세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(UI-BD-10-M02)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lang="ko-KR" altLang="en-US" sz="800" dirty="0">
                          <a:latin typeface="+mn-ea"/>
                          <a:ea typeface="+mn-ea"/>
                        </a:rPr>
                        <a:t>물품</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a:t>
                      </a:r>
                      <a:r>
                        <a:rPr lang="en-US" altLang="ko-KR" sz="800" dirty="0"/>
                        <a:t>UI-BD-10-M03)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lang="ko-KR" altLang="en-US" sz="800" dirty="0">
                          <a:latin typeface="+mn-ea"/>
                          <a:ea typeface="+mn-ea"/>
                        </a:rPr>
                        <a:t>용역</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a:t>
                      </a:r>
                      <a:r>
                        <a:rPr lang="en-US" altLang="ko-KR" sz="800" dirty="0"/>
                        <a:t>UI-BD-10-M04)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억원미만물품</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lang="en-US" altLang="ko-KR" sz="800" dirty="0"/>
                        <a:t>UI-BD-10-M05)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억원미만물품제조</a:t>
                      </a:r>
                      <a:endParaRPr lang="en-US" altLang="ko-KR" sz="800" dirty="0"/>
                    </a:p>
                    <a:p>
                      <a:pPr marL="0" indent="0" algn="l" latinLnBrk="1">
                        <a:buFont typeface="Arial" panose="020B0604020202020204" pitchFamily="34" charset="0"/>
                        <a:buNone/>
                      </a:pPr>
                      <a:r>
                        <a:rPr lang="en-US" altLang="ko-KR" sz="800" dirty="0"/>
                        <a:t>(UI-BD-10-M06)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억원미만물품제조</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2015</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년</a:t>
                      </a:r>
                      <a:endParaRPr lang="en-US" altLang="ko-KR" sz="800" dirty="0"/>
                    </a:p>
                    <a:p>
                      <a:pPr marL="0" indent="0" algn="l" latinLnBrk="1">
                        <a:buFont typeface="Arial" panose="020B0604020202020204" pitchFamily="34" charset="0"/>
                        <a:buNone/>
                      </a:pPr>
                      <a:r>
                        <a:rPr lang="en-US" altLang="ko-KR" sz="800" dirty="0"/>
                        <a:t>(UI-BD-10-M07)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억원미만물품구매</a:t>
                      </a:r>
                      <a:endParaRPr lang="en-US" altLang="ko-KR" sz="800" dirty="0"/>
                    </a:p>
                    <a:p>
                      <a:pPr marL="0" indent="0" algn="l" latinLnBrk="1">
                        <a:buFont typeface="Arial" panose="020B0604020202020204" pitchFamily="34" charset="0"/>
                        <a:buNone/>
                      </a:pPr>
                      <a:r>
                        <a:rPr lang="en-US" altLang="ko-KR" sz="800" dirty="0"/>
                        <a:t>(UI-BD-10-M08)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억원미만물품구매</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2015</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년</a:t>
                      </a:r>
                      <a:endParaRPr lang="en-US" altLang="ko-KR" sz="800" dirty="0"/>
                    </a:p>
                    <a:p>
                      <a:pPr marL="0" indent="0" algn="l" latinLnBrk="1">
                        <a:buFont typeface="Arial" panose="020B0604020202020204" pitchFamily="34" charset="0"/>
                        <a:buNone/>
                      </a:pPr>
                      <a:r>
                        <a:rPr lang="en-US" altLang="ko-KR" sz="800" dirty="0"/>
                        <a:t>(UI-BD-10-M09)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억원미만물품제조</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2018</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년</a:t>
                      </a:r>
                      <a:endParaRPr lang="en-US" altLang="ko-KR" sz="800" dirty="0"/>
                    </a:p>
                    <a:p>
                      <a:pPr marL="0" indent="0" algn="l" latinLnBrk="1">
                        <a:buFont typeface="Arial" panose="020B0604020202020204" pitchFamily="34" charset="0"/>
                        <a:buNone/>
                      </a:pPr>
                      <a:r>
                        <a:rPr lang="en-US" altLang="ko-KR" sz="800" dirty="0"/>
                        <a:t>(UI-BD-10-M10)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억원미만물품구매</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2018</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년</a:t>
                      </a:r>
                      <a:endParaRPr lang="en-US" altLang="ko-KR" sz="800" dirty="0"/>
                    </a:p>
                    <a:p>
                      <a:pPr marL="0" indent="0" algn="l" latinLnBrk="1">
                        <a:buFont typeface="Arial" panose="020B0604020202020204" pitchFamily="34" charset="0"/>
                        <a:buNone/>
                      </a:pPr>
                      <a:r>
                        <a:rPr lang="en-US" altLang="ko-KR" sz="800" dirty="0"/>
                        <a:t>(UI-BD-10-M11)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고시금액미만</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endParaRPr lang="en-US" altLang="ko-KR" sz="800" dirty="0"/>
                    </a:p>
                    <a:p>
                      <a:pPr marL="0" indent="0" algn="l" latinLnBrk="1">
                        <a:buFont typeface="Arial" panose="020B0604020202020204" pitchFamily="34" charset="0"/>
                        <a:buNone/>
                      </a:pPr>
                      <a:r>
                        <a:rPr lang="en-US" altLang="ko-KR" sz="800" dirty="0"/>
                        <a:t>(UI-BD-10-M12)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고시금액이상</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endParaRPr lang="en-US" altLang="ko-KR" sz="800" dirty="0"/>
                    </a:p>
                    <a:p>
                      <a:pPr marL="0" indent="0" algn="l" latinLnBrk="1">
                        <a:buFont typeface="Arial" panose="020B0604020202020204" pitchFamily="34" charset="0"/>
                        <a:buNone/>
                      </a:pPr>
                      <a:r>
                        <a:rPr lang="en-US" altLang="ko-KR" sz="800" dirty="0"/>
                        <a:t>(UI-BD-10-M13)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억원이상</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endParaRPr lang="en-US" altLang="ko-KR" sz="800" dirty="0"/>
                    </a:p>
                    <a:p>
                      <a:pPr marL="0" indent="0" algn="l" latinLnBrk="1">
                        <a:buFont typeface="Arial" panose="020B0604020202020204" pitchFamily="34" charset="0"/>
                        <a:buNone/>
                      </a:pPr>
                      <a:r>
                        <a:rPr lang="en-US" altLang="ko-KR" sz="800" dirty="0"/>
                        <a:t>(UI-BD-10-M14)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lang="ko-KR" altLang="en-US" sz="800" dirty="0">
                          <a:latin typeface="+mn-ea"/>
                          <a:ea typeface="+mn-ea"/>
                        </a:rPr>
                        <a:t>공사</a:t>
                      </a:r>
                      <a:endParaRPr lang="en-US" altLang="ko-KR" sz="800" dirty="0"/>
                    </a:p>
                    <a:p>
                      <a:pPr marL="0" indent="0" algn="l" latinLnBrk="1">
                        <a:buFont typeface="Arial" panose="020B0604020202020204" pitchFamily="34" charset="0"/>
                        <a:buNone/>
                      </a:pPr>
                      <a:r>
                        <a:rPr lang="en-US" altLang="ko-KR" sz="800" dirty="0"/>
                        <a:t>(UI-BD-10-M15)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lang="ko-KR" altLang="en-US" sz="800" dirty="0">
                          <a:latin typeface="+mn-ea"/>
                          <a:ea typeface="+mn-ea"/>
                        </a:rPr>
                        <a:t>기술용역</a:t>
                      </a:r>
                      <a:endParaRPr lang="en-US" altLang="ko-KR" sz="800" dirty="0"/>
                    </a:p>
                    <a:p>
                      <a:pPr marL="0" indent="0" algn="l" latinLnBrk="1">
                        <a:buFont typeface="Arial" panose="020B0604020202020204" pitchFamily="34" charset="0"/>
                        <a:buNone/>
                      </a:pPr>
                      <a:r>
                        <a:rPr lang="en-US" altLang="ko-KR" sz="800" dirty="0"/>
                        <a:t>(UI-BD-10-M16)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lang="en-US" altLang="ko-KR" sz="800" dirty="0">
                          <a:solidFill>
                            <a:prstClr val="black"/>
                          </a:solidFill>
                          <a:latin typeface="+mn-lt"/>
                          <a:ea typeface="+mn-ea"/>
                        </a:rPr>
                        <a:t>3</a:t>
                      </a:r>
                      <a:r>
                        <a:rPr lang="ko-KR" altLang="en-US" sz="800" dirty="0">
                          <a:solidFill>
                            <a:prstClr val="black"/>
                          </a:solidFill>
                          <a:latin typeface="+mn-lt"/>
                          <a:ea typeface="+mn-ea"/>
                        </a:rPr>
                        <a:t>억원미만공사</a:t>
                      </a:r>
                      <a:endParaRPr lang="en-US" altLang="ko-KR" sz="800" dirty="0"/>
                    </a:p>
                    <a:p>
                      <a:pPr marL="0" indent="0" algn="l" latinLnBrk="1">
                        <a:buFont typeface="Arial" panose="020B0604020202020204" pitchFamily="34" charset="0"/>
                        <a:buNone/>
                      </a:pPr>
                      <a:r>
                        <a:rPr lang="en-US" altLang="ko-KR" sz="800" dirty="0"/>
                        <a:t>(UI-BD-10-M17)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고시금액미만용역</a:t>
                      </a:r>
                      <a:endParaRPr lang="en-US" altLang="ko-KR" sz="800" dirty="0"/>
                    </a:p>
                    <a:p>
                      <a:pPr marL="0" indent="0" algn="l" latinLnBrk="1">
                        <a:buFont typeface="Arial" panose="020B0604020202020204" pitchFamily="34" charset="0"/>
                        <a:buNone/>
                      </a:pPr>
                      <a:r>
                        <a:rPr lang="en-US" altLang="ko-KR" sz="800" dirty="0"/>
                        <a:t>(UI-BD-10-M18) </a:t>
                      </a:r>
                      <a:r>
                        <a:rPr lang="ko-KR" altLang="en-US" sz="800" dirty="0">
                          <a:latin typeface="+mn-ea"/>
                          <a:ea typeface="+mn-ea"/>
                        </a:rPr>
                        <a:t>이행</a:t>
                      </a:r>
                      <a:r>
                        <a:rPr lang="en-US" altLang="ko-KR" sz="800" dirty="0">
                          <a:latin typeface="+mn-ea"/>
                          <a:ea typeface="+mn-ea"/>
                        </a:rPr>
                        <a:t>/</a:t>
                      </a:r>
                      <a:r>
                        <a:rPr lang="ko-KR" altLang="en-US" sz="800" dirty="0" err="1">
                          <a:latin typeface="+mn-ea"/>
                          <a:ea typeface="+mn-ea"/>
                        </a:rPr>
                        <a:t>적격심사결과상세</a:t>
                      </a:r>
                      <a:r>
                        <a:rPr lang="en-US" altLang="ko-KR" sz="800" dirty="0">
                          <a:latin typeface="+mn-ea"/>
                          <a:ea typeface="+mn-ea"/>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고시금액미만폐기물용역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9343960"/>
                  </a:ext>
                </a:extLst>
              </a:tr>
              <a:tr h="0">
                <a:tc>
                  <a:txBody>
                    <a:bodyPr/>
                    <a:lstStyle/>
                    <a:p>
                      <a:pPr latinLnBrk="1"/>
                      <a:r>
                        <a:rPr lang="ko-KR" altLang="en-US" sz="800" dirty="0">
                          <a:latin typeface="+mn-ea"/>
                          <a:ea typeface="+mn-ea"/>
                        </a:rPr>
                        <a:t>심사포기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latin typeface="+mn-ea"/>
                          <a:ea typeface="+mn-ea"/>
                        </a:rPr>
                        <a:t>scwin.btn_srngAbnd_onclick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적격심사제 건에 대해 개찰 후 </a:t>
                      </a:r>
                      <a:r>
                        <a:rPr lang="en-US" altLang="ko-KR" sz="800" dirty="0">
                          <a:latin typeface="+mn-ea"/>
                          <a:ea typeface="+mn-ea"/>
                        </a:rPr>
                        <a:t>ROW</a:t>
                      </a:r>
                      <a:r>
                        <a:rPr lang="ko-KR" altLang="en-US" sz="800" dirty="0">
                          <a:latin typeface="+mn-ea"/>
                          <a:ea typeface="+mn-ea"/>
                        </a:rPr>
                        <a:t>에 해당하는 이행</a:t>
                      </a:r>
                      <a:r>
                        <a:rPr lang="en-US" altLang="ko-KR" sz="800" dirty="0">
                          <a:latin typeface="+mn-ea"/>
                          <a:ea typeface="+mn-ea"/>
                        </a:rPr>
                        <a:t>/</a:t>
                      </a:r>
                      <a:r>
                        <a:rPr lang="ko-KR" altLang="en-US" sz="800" dirty="0">
                          <a:latin typeface="+mn-ea"/>
                          <a:ea typeface="+mn-ea"/>
                        </a:rPr>
                        <a:t>적격심사 포기 신청 팝업화면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(UI-BD-10-P19) </a:t>
                      </a: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적격심사포기신청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8860879"/>
                  </a:ext>
                </a:extLst>
              </a:tr>
            </a:tbl>
          </a:graphicData>
        </a:graphic>
      </p:graphicFrame>
      <p:sp>
        <p:nvSpPr>
          <p:cNvPr id="5" name="Text Box 73">
            <a:extLst>
              <a:ext uri="{FF2B5EF4-FFF2-40B4-BE49-F238E27FC236}">
                <a16:creationId xmlns:a16="http://schemas.microsoft.com/office/drawing/2014/main" id="{9887C528-0210-8DD1-9ED5-E224C4396F5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46454043"/>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p:cNvSpPr/>
          <p:nvPr/>
        </p:nvSpPr>
        <p:spPr>
          <a:xfrm>
            <a:off x="722583" y="4763570"/>
            <a:ext cx="792000" cy="19056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76357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763570"/>
            <a:ext cx="670770" cy="1904689"/>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단가제유형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763570"/>
            <a:ext cx="1814470" cy="1938992"/>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lvl="0">
              <a:lnSpc>
                <a:spcPct val="200000"/>
              </a:lnSpc>
            </a:pPr>
            <a:r>
              <a:rPr lang="en-US" altLang="ko-KR" sz="700" dirty="0">
                <a:latin typeface="+mn-ea"/>
              </a:rPr>
              <a:t>MST0001-1</a:t>
            </a:r>
          </a:p>
          <a:p>
            <a:pPr>
              <a:lnSpc>
                <a:spcPct val="200000"/>
              </a:lnSpc>
            </a:pPr>
            <a:r>
              <a:rPr lang="en-US" altLang="ko-KR" sz="700" dirty="0">
                <a:latin typeface="+mn-ea"/>
              </a:rPr>
              <a:t>10000</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2025MST0001</a:t>
            </a:r>
          </a:p>
          <a:p>
            <a:pPr>
              <a:lnSpc>
                <a:spcPct val="200000"/>
              </a:lnSpc>
            </a:pPr>
            <a:r>
              <a:rPr lang="ko-KR" altLang="en-US" sz="700" dirty="0">
                <a:latin typeface="+mn-ea"/>
              </a:rPr>
              <a:t>구매</a:t>
            </a:r>
            <a:endParaRPr lang="en-US" altLang="ko-KR" sz="700" dirty="0">
              <a:latin typeface="+mn-ea"/>
            </a:endParaRPr>
          </a:p>
          <a:p>
            <a:pPr>
              <a:lnSpc>
                <a:spcPct val="200000"/>
              </a:lnSpc>
            </a:pPr>
            <a:endParaRPr lang="en-US" altLang="ko-KR" sz="700" dirty="0">
              <a:latin typeface="+mn-ea"/>
            </a:endParaRP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a:lnSpc>
                <a:spcPct val="200000"/>
              </a:lnSpc>
            </a:pPr>
            <a:r>
              <a:rPr lang="ko-KR" altLang="en-US" sz="700" dirty="0" err="1">
                <a:latin typeface="+mn-ea"/>
              </a:rPr>
              <a:t>총액제</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99467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2083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422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6357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8495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606321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62769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22583" y="64636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입찰공고 </a:t>
            </a:r>
            <a:r>
              <a:rPr lang="ko-KR" altLang="en-US" dirty="0"/>
              <a:t>상세 화면 상단에 입찰 공고 정보 </a:t>
            </a:r>
            <a:r>
              <a:rPr lang="ko-KR" altLang="en-US" dirty="0" smtClean="0"/>
              <a:t>표시</a:t>
            </a:r>
            <a:endParaRPr lang="en-US" altLang="ko-KR" dirty="0"/>
          </a:p>
          <a:p>
            <a:pPr marL="228600" indent="-228600">
              <a:buFont typeface="+mj-lt"/>
              <a:buAutoNum type="arabicPeriod"/>
            </a:pPr>
            <a:r>
              <a:rPr lang="ko-KR" altLang="en-US" dirty="0" smtClean="0"/>
              <a:t>공고의 </a:t>
            </a:r>
            <a:r>
              <a:rPr lang="ko-KR" altLang="en-US" dirty="0"/>
              <a:t>공지사항이 있는 경우 표시</a:t>
            </a:r>
            <a:r>
              <a:rPr lang="en-US" altLang="ko-KR" dirty="0"/>
              <a:t/>
            </a:r>
            <a:br>
              <a:rPr lang="en-US" altLang="ko-KR" dirty="0"/>
            </a:br>
            <a:r>
              <a:rPr lang="en-US" altLang="ko-KR" dirty="0"/>
              <a:t>- </a:t>
            </a:r>
            <a:r>
              <a:rPr lang="ko-KR" altLang="en-US" dirty="0"/>
              <a:t>공지사항은 기본으로 닫힘</a:t>
            </a:r>
            <a:r>
              <a:rPr lang="en-US" altLang="ko-KR" dirty="0"/>
              <a:t/>
            </a:r>
            <a:br>
              <a:rPr lang="en-US" altLang="ko-KR" dirty="0"/>
            </a:br>
            <a:r>
              <a:rPr lang="en-US" altLang="ko-KR" dirty="0"/>
              <a:t>- </a:t>
            </a:r>
            <a:r>
              <a:rPr lang="ko-KR" altLang="en-US" dirty="0"/>
              <a:t>클릭으로 열리고 닫힘 처리</a:t>
            </a:r>
            <a:endParaRPr lang="en-US" altLang="ko-KR" dirty="0"/>
          </a:p>
          <a:p>
            <a:pPr marL="228600" indent="-228600">
              <a:buFont typeface="+mj-lt"/>
              <a:buAutoNum type="arabicPeriod"/>
            </a:pPr>
            <a:r>
              <a:rPr lang="ko-KR" altLang="en-US" dirty="0"/>
              <a:t>탭 메뉴</a:t>
            </a:r>
            <a:r>
              <a:rPr lang="en-US" altLang="ko-KR" dirty="0"/>
              <a:t/>
            </a:r>
            <a:br>
              <a:rPr lang="en-US" altLang="ko-KR" dirty="0"/>
            </a:br>
            <a:r>
              <a:rPr lang="en-US" altLang="ko-KR" dirty="0"/>
              <a:t>- </a:t>
            </a:r>
            <a:r>
              <a:rPr lang="ko-KR" altLang="en-US" dirty="0"/>
              <a:t>좌우 </a:t>
            </a:r>
            <a:r>
              <a:rPr lang="ko-KR" altLang="en-US" dirty="0" err="1"/>
              <a:t>스와이프</a:t>
            </a:r>
            <a:r>
              <a:rPr lang="en-US" altLang="ko-KR" dirty="0"/>
              <a:t/>
            </a:r>
            <a:br>
              <a:rPr lang="en-US" altLang="ko-KR" dirty="0"/>
            </a:br>
            <a:r>
              <a:rPr lang="en-US" altLang="ko-KR" dirty="0"/>
              <a:t>- </a:t>
            </a:r>
            <a:r>
              <a:rPr lang="ko-KR" altLang="en-US" dirty="0"/>
              <a:t>좌우 이동 버튼 </a:t>
            </a:r>
            <a:r>
              <a:rPr lang="en-US" altLang="ko-KR" dirty="0"/>
              <a:t>(</a:t>
            </a:r>
            <a:r>
              <a:rPr lang="ko-KR" altLang="en-US" dirty="0"/>
              <a:t>좌우 스크롤</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협상결과</a:t>
            </a:r>
            <a:r>
              <a:rPr lang="en-US" altLang="ko-KR" dirty="0">
                <a:solidFill>
                  <a:srgbClr val="FF0000"/>
                </a:solidFill>
              </a:rPr>
              <a:t>: MUI-BD-09-T04]</a:t>
            </a:r>
            <a:r>
              <a:rPr lang="ko-KR" altLang="en-US" dirty="0" smtClean="0">
                <a:solidFill>
                  <a:srgbClr val="FF0000"/>
                </a:solidFill>
              </a:rPr>
              <a:t> 및 </a:t>
            </a:r>
            <a:r>
              <a:rPr lang="en-US" altLang="ko-KR" dirty="0" smtClean="0">
                <a:solidFill>
                  <a:srgbClr val="FF0000"/>
                </a:solidFill>
              </a:rPr>
              <a:t>[</a:t>
            </a:r>
            <a:r>
              <a:rPr lang="ko-KR" altLang="en-US" dirty="0" smtClean="0">
                <a:solidFill>
                  <a:srgbClr val="FF0000"/>
                </a:solidFill>
              </a:rPr>
              <a:t>이행</a:t>
            </a:r>
            <a:r>
              <a:rPr lang="en-US" altLang="ko-KR" dirty="0" smtClean="0">
                <a:solidFill>
                  <a:srgbClr val="FF0000"/>
                </a:solidFill>
              </a:rPr>
              <a:t>/</a:t>
            </a:r>
            <a:r>
              <a:rPr lang="ko-KR" altLang="en-US" dirty="0" smtClean="0">
                <a:solidFill>
                  <a:srgbClr val="FF0000"/>
                </a:solidFill>
              </a:rPr>
              <a:t>적격심사결과</a:t>
            </a:r>
            <a:r>
              <a:rPr lang="en-US" altLang="ko-KR" dirty="0" smtClean="0">
                <a:solidFill>
                  <a:srgbClr val="FF0000"/>
                </a:solidFill>
              </a:rPr>
              <a:t>]</a:t>
            </a:r>
            <a:r>
              <a:rPr lang="ko-KR" altLang="en-US" dirty="0" smtClean="0">
                <a:solidFill>
                  <a:srgbClr val="FF0000"/>
                </a:solidFill>
              </a:rPr>
              <a:t>는 정보가 있으면 추가되는 </a:t>
            </a:r>
            <a:r>
              <a:rPr lang="ko-KR" altLang="en-US" dirty="0" err="1" smtClean="0">
                <a:solidFill>
                  <a:srgbClr val="FF0000"/>
                </a:solidFill>
              </a:rPr>
              <a:t>탭임</a:t>
            </a:r>
            <a:r>
              <a:rPr lang="en-US" altLang="ko-KR" dirty="0" smtClean="0">
                <a:solidFill>
                  <a:srgbClr val="FF0000"/>
                </a:solidFill>
              </a:rPr>
              <a:t>.</a:t>
            </a:r>
            <a:r>
              <a:rPr lang="ko-KR" altLang="en-US" dirty="0" smtClean="0">
                <a:solidFill>
                  <a:srgbClr val="FF0000"/>
                </a:solidFill>
              </a:rPr>
              <a:t> 유동적으로 추가됨</a:t>
            </a:r>
            <a:r>
              <a:rPr lang="en-US" altLang="ko-KR" dirty="0" smtClean="0">
                <a:solidFill>
                  <a:srgbClr val="FF0000"/>
                </a:solidFill>
              </a:rPr>
              <a:t>.</a:t>
            </a:r>
            <a:br>
              <a:rPr lang="en-US" altLang="ko-KR" dirty="0" smtClean="0">
                <a:solidFill>
                  <a:srgbClr val="FF0000"/>
                </a:solidFill>
              </a:rPr>
            </a:br>
            <a:r>
              <a:rPr lang="en-US" altLang="ko-KR" dirty="0" smtClean="0">
                <a:solidFill>
                  <a:srgbClr val="FF0000"/>
                </a:solidFill>
              </a:rPr>
              <a:t>  &gt; </a:t>
            </a:r>
            <a:r>
              <a:rPr lang="ko-KR" altLang="en-US" dirty="0" smtClean="0">
                <a:solidFill>
                  <a:srgbClr val="FF0000"/>
                </a:solidFill>
              </a:rPr>
              <a:t>이행적격심사결과는 조건에 따라 노출 정보가 상이함</a:t>
            </a:r>
            <a:r>
              <a:rPr lang="en-US" altLang="ko-KR" dirty="0" smtClean="0">
                <a:solidFill>
                  <a:srgbClr val="FF0000"/>
                </a:solidFill>
              </a:rPr>
              <a:t>.</a:t>
            </a:r>
            <a:endParaRPr lang="en-US" altLang="ko-KR" dirty="0">
              <a:solidFill>
                <a:srgbClr val="FF0000"/>
              </a:solidFill>
            </a:endParaRPr>
          </a:p>
          <a:p>
            <a:pPr marL="228600" indent="-228600">
              <a:buFont typeface="+mj-lt"/>
              <a:buAutoNum type="arabicPeriod"/>
            </a:pPr>
            <a:r>
              <a:rPr lang="ko-KR" altLang="en-US" dirty="0" smtClean="0"/>
              <a:t>공고 </a:t>
            </a:r>
            <a:r>
              <a:rPr lang="ko-KR" altLang="en-US" dirty="0"/>
              <a:t>내용</a:t>
            </a:r>
            <a:r>
              <a:rPr lang="en-US" altLang="ko-KR" dirty="0"/>
              <a:t/>
            </a:r>
            <a:br>
              <a:rPr lang="en-US" altLang="ko-KR" dirty="0"/>
            </a:br>
            <a:r>
              <a:rPr lang="en-US" altLang="ko-KR" dirty="0"/>
              <a:t>- </a:t>
            </a:r>
            <a:r>
              <a:rPr lang="ko-KR" altLang="en-US" dirty="0" smtClean="0"/>
              <a:t>다음 페이지 참조</a:t>
            </a:r>
            <a:endParaRPr lang="en-US" altLang="ko-KR" dirty="0" smtClean="0"/>
          </a:p>
          <a:p>
            <a:pPr marL="228600" indent="-228600">
              <a:buFont typeface="+mj-lt"/>
              <a:buAutoNum type="arabicPeriod"/>
            </a:pPr>
            <a:r>
              <a:rPr lang="ko-KR" altLang="en-US" dirty="0" smtClean="0"/>
              <a:t>이행적격심사 대상인 </a:t>
            </a:r>
            <a:r>
              <a:rPr lang="ko-KR" altLang="en-US" dirty="0" err="1" smtClean="0"/>
              <a:t>입찰건만</a:t>
            </a:r>
            <a:r>
              <a:rPr lang="ko-KR" altLang="en-US" dirty="0"/>
              <a:t> </a:t>
            </a:r>
            <a:r>
              <a:rPr lang="ko-KR" altLang="en-US" dirty="0" smtClean="0"/>
              <a:t>노출</a:t>
            </a:r>
            <a:endParaRPr lang="en-US" altLang="ko-KR" dirty="0">
              <a:solidFill>
                <a:srgbClr val="FF0000"/>
              </a:solidFill>
            </a:endParaRPr>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개찰 및 낙찰 처리 후 입찰결과를 조회할 수 있는 화면이다</a:t>
            </a:r>
            <a:r>
              <a:rPr lang="en-US" altLang="ko-KR" dirty="0"/>
              <a:t>.</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70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8587"/>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1</a:t>
            </a:r>
            <a:endParaRPr lang="ko-KR" altLang="en-US" sz="1200"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848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23552"/>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908163"/>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240415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40415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65410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9953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687856"/>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71920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801187"/>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3497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4133147"/>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28223" y="4133147"/>
            <a:ext cx="365390" cy="107722"/>
          </a:xfrm>
          <a:prstGeom prst="rect">
            <a:avLst/>
          </a:prstGeom>
          <a:noFill/>
        </p:spPr>
        <p:txBody>
          <a:bodyPr wrap="square" lIns="0" tIns="0" rIns="0" bIns="0" rtlCol="0">
            <a:spAutoFit/>
          </a:bodyPr>
          <a:lstStyle/>
          <a:p>
            <a:pPr algn="ctr"/>
            <a:r>
              <a:rPr lang="ko-KR" altLang="en-US" sz="700">
                <a:latin typeface="+mn-ea"/>
              </a:rPr>
              <a:t>품목정보</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697870" y="4133147"/>
            <a:ext cx="375860" cy="107722"/>
          </a:xfrm>
          <a:prstGeom prst="rect">
            <a:avLst/>
          </a:prstGeom>
          <a:noFill/>
        </p:spPr>
        <p:txBody>
          <a:bodyPr wrap="square" lIns="0" tIns="0" rIns="0" bIns="0" rtlCol="0">
            <a:spAutoFit/>
          </a:bodyPr>
          <a:lstStyle/>
          <a:p>
            <a:pPr algn="ctr"/>
            <a:r>
              <a:rPr lang="ko-KR" altLang="en-US" sz="700" dirty="0">
                <a:latin typeface="+mn-ea"/>
              </a:rPr>
              <a:t>입찰결과</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181874" y="4133147"/>
            <a:ext cx="379003" cy="107722"/>
          </a:xfrm>
          <a:prstGeom prst="rect">
            <a:avLst/>
          </a:prstGeom>
          <a:noFill/>
        </p:spPr>
        <p:txBody>
          <a:bodyPr wrap="square" lIns="0" tIns="0" rIns="0" bIns="0" rtlCol="0">
            <a:spAutoFit/>
          </a:bodyPr>
          <a:lstStyle/>
          <a:p>
            <a:pPr algn="ctr"/>
            <a:r>
              <a:rPr lang="ko-KR" altLang="en-US" sz="700" dirty="0">
                <a:latin typeface="+mn-ea"/>
              </a:rPr>
              <a:t>협상결과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349754"/>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81461" y="4456085"/>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569416"/>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1" name="타원 270">
            <a:extLst>
              <a:ext uri="{FF2B5EF4-FFF2-40B4-BE49-F238E27FC236}">
                <a16:creationId xmlns:a16="http://schemas.microsoft.com/office/drawing/2014/main" id="{37A7FF4F-0EAA-1463-560A-D5EC24416103}"/>
              </a:ext>
            </a:extLst>
          </p:cNvPr>
          <p:cNvSpPr/>
          <p:nvPr/>
        </p:nvSpPr>
        <p:spPr>
          <a:xfrm>
            <a:off x="571127" y="3719201"/>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2</a:t>
            </a:r>
            <a:endParaRPr lang="ko-KR" altLang="en-US" sz="1200" dirty="0"/>
          </a:p>
        </p:txBody>
      </p:sp>
      <p:sp>
        <p:nvSpPr>
          <p:cNvPr id="272" name="타원 271">
            <a:extLst>
              <a:ext uri="{FF2B5EF4-FFF2-40B4-BE49-F238E27FC236}">
                <a16:creationId xmlns:a16="http://schemas.microsoft.com/office/drawing/2014/main" id="{37A7FF4F-0EAA-1463-560A-D5EC24416103}"/>
              </a:ext>
            </a:extLst>
          </p:cNvPr>
          <p:cNvSpPr/>
          <p:nvPr/>
        </p:nvSpPr>
        <p:spPr>
          <a:xfrm>
            <a:off x="571127" y="409694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73" name="타원 272">
            <a:extLst>
              <a:ext uri="{FF2B5EF4-FFF2-40B4-BE49-F238E27FC236}">
                <a16:creationId xmlns:a16="http://schemas.microsoft.com/office/drawing/2014/main" id="{37A7FF4F-0EAA-1463-560A-D5EC24416103}"/>
              </a:ext>
            </a:extLst>
          </p:cNvPr>
          <p:cNvSpPr/>
          <p:nvPr/>
        </p:nvSpPr>
        <p:spPr>
          <a:xfrm>
            <a:off x="571127" y="448674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64023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769705"/>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2964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82" name="그룹 181"/>
          <p:cNvGrpSpPr/>
          <p:nvPr/>
        </p:nvGrpSpPr>
        <p:grpSpPr>
          <a:xfrm rot="16200000">
            <a:off x="1250697" y="3449248"/>
            <a:ext cx="94010" cy="47005"/>
            <a:chOff x="6812560" y="3297172"/>
            <a:chExt cx="94010" cy="47005"/>
          </a:xfrm>
        </p:grpSpPr>
        <p:cxnSp>
          <p:nvCxnSpPr>
            <p:cNvPr id="183" name="직선 연결선 1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4" name="직선 연결선 1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85" name="그룹 184"/>
          <p:cNvGrpSpPr/>
          <p:nvPr/>
        </p:nvGrpSpPr>
        <p:grpSpPr>
          <a:xfrm>
            <a:off x="1404035" y="3378769"/>
            <a:ext cx="601002" cy="187961"/>
            <a:chOff x="1335163" y="3237230"/>
            <a:chExt cx="601002" cy="187961"/>
          </a:xfrm>
        </p:grpSpPr>
        <p:sp>
          <p:nvSpPr>
            <p:cNvPr id="186" name="TextBox 185">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187" name="그룹 186"/>
            <p:cNvGrpSpPr/>
            <p:nvPr/>
          </p:nvGrpSpPr>
          <p:grpSpPr>
            <a:xfrm>
              <a:off x="1335163" y="3237230"/>
              <a:ext cx="187961" cy="187961"/>
              <a:chOff x="1485163" y="3237230"/>
              <a:chExt cx="187961" cy="187961"/>
            </a:xfrm>
          </p:grpSpPr>
          <p:sp>
            <p:nvSpPr>
              <p:cNvPr id="189" name="타원 188"/>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94" name="그룹 193"/>
          <p:cNvGrpSpPr/>
          <p:nvPr/>
        </p:nvGrpSpPr>
        <p:grpSpPr>
          <a:xfrm rot="16200000">
            <a:off x="1906808" y="3449248"/>
            <a:ext cx="94010" cy="47005"/>
            <a:chOff x="6812560" y="3297172"/>
            <a:chExt cx="94010" cy="47005"/>
          </a:xfrm>
        </p:grpSpPr>
        <p:cxnSp>
          <p:nvCxnSpPr>
            <p:cNvPr id="195" name="직선 연결선 19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6" name="직선 연결선 19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97" name="그룹 196"/>
          <p:cNvGrpSpPr/>
          <p:nvPr/>
        </p:nvGrpSpPr>
        <p:grpSpPr>
          <a:xfrm rot="16200000">
            <a:off x="2562920" y="3449248"/>
            <a:ext cx="94010" cy="47005"/>
            <a:chOff x="6812560" y="3297172"/>
            <a:chExt cx="94010" cy="47005"/>
          </a:xfrm>
        </p:grpSpPr>
        <p:cxnSp>
          <p:nvCxnSpPr>
            <p:cNvPr id="198" name="직선 연결선 1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9" name="직선 연결선 1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31" name="그룹 230"/>
          <p:cNvGrpSpPr/>
          <p:nvPr/>
        </p:nvGrpSpPr>
        <p:grpSpPr>
          <a:xfrm>
            <a:off x="747925" y="3378769"/>
            <a:ext cx="601001" cy="187961"/>
            <a:chOff x="747925" y="3237230"/>
            <a:chExt cx="601001" cy="187961"/>
          </a:xfrm>
        </p:grpSpPr>
        <p:grpSp>
          <p:nvGrpSpPr>
            <p:cNvPr id="232" name="그룹 231"/>
            <p:cNvGrpSpPr/>
            <p:nvPr/>
          </p:nvGrpSpPr>
          <p:grpSpPr>
            <a:xfrm>
              <a:off x="747925" y="3237230"/>
              <a:ext cx="187961" cy="187961"/>
              <a:chOff x="747925" y="3237230"/>
              <a:chExt cx="187961" cy="187961"/>
            </a:xfrm>
          </p:grpSpPr>
          <p:sp>
            <p:nvSpPr>
              <p:cNvPr id="234" name="타원 233"/>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233" name="TextBox 23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41" name="그룹 240"/>
          <p:cNvGrpSpPr/>
          <p:nvPr/>
        </p:nvGrpSpPr>
        <p:grpSpPr>
          <a:xfrm>
            <a:off x="2058749" y="3378769"/>
            <a:ext cx="603798" cy="187961"/>
            <a:chOff x="2058749" y="3237230"/>
            <a:chExt cx="603798" cy="187961"/>
          </a:xfrm>
        </p:grpSpPr>
        <p:grpSp>
          <p:nvGrpSpPr>
            <p:cNvPr id="242" name="그룹 241"/>
            <p:cNvGrpSpPr/>
            <p:nvPr/>
          </p:nvGrpSpPr>
          <p:grpSpPr>
            <a:xfrm>
              <a:off x="2058749" y="3237230"/>
              <a:ext cx="187961" cy="187961"/>
              <a:chOff x="2058749" y="3237230"/>
              <a:chExt cx="187961" cy="187961"/>
            </a:xfrm>
          </p:grpSpPr>
          <p:sp>
            <p:nvSpPr>
              <p:cNvPr id="244" name="타원 243"/>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5" name="TextBox 244">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243" name="TextBox 242">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255" name="TextBox 25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91" name="TextBox 290">
            <a:extLst>
              <a:ext uri="{FF2B5EF4-FFF2-40B4-BE49-F238E27FC236}">
                <a16:creationId xmlns:a16="http://schemas.microsoft.com/office/drawing/2014/main" id="{FFC49AEA-2A8F-250C-A86A-A7751D9706C3}"/>
              </a:ext>
            </a:extLst>
          </p:cNvPr>
          <p:cNvSpPr txBox="1"/>
          <p:nvPr/>
        </p:nvSpPr>
        <p:spPr>
          <a:xfrm>
            <a:off x="2672495" y="4133147"/>
            <a:ext cx="424394" cy="107722"/>
          </a:xfrm>
          <a:prstGeom prst="rect">
            <a:avLst/>
          </a:prstGeom>
          <a:noFill/>
        </p:spPr>
        <p:txBody>
          <a:bodyPr wrap="square" lIns="0" tIns="0" rIns="0" bIns="0" rtlCol="0">
            <a:spAutoFit/>
          </a:bodyPr>
          <a:lstStyle/>
          <a:p>
            <a:pPr algn="ctr"/>
            <a:r>
              <a:rPr lang="ko-KR" altLang="en-US" sz="700" dirty="0">
                <a:latin typeface="+mn-ea"/>
              </a:rPr>
              <a:t>이행</a:t>
            </a:r>
            <a:r>
              <a:rPr lang="en-US" altLang="ko-KR" sz="700" dirty="0">
                <a:latin typeface="+mn-ea"/>
              </a:rPr>
              <a:t>/</a:t>
            </a:r>
            <a:r>
              <a:rPr lang="ko-KR" altLang="en-US" sz="700" dirty="0">
                <a:latin typeface="+mn-ea"/>
              </a:rPr>
              <a:t>적격</a:t>
            </a:r>
          </a:p>
        </p:txBody>
      </p:sp>
      <p:grpSp>
        <p:nvGrpSpPr>
          <p:cNvPr id="7" name="그룹 6"/>
          <p:cNvGrpSpPr/>
          <p:nvPr/>
        </p:nvGrpSpPr>
        <p:grpSpPr>
          <a:xfrm>
            <a:off x="2924086" y="4095024"/>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69" name="그룹 168"/>
          <p:cNvGrpSpPr/>
          <p:nvPr/>
        </p:nvGrpSpPr>
        <p:grpSpPr>
          <a:xfrm>
            <a:off x="2714860" y="3381333"/>
            <a:ext cx="603798" cy="187961"/>
            <a:chOff x="2714860" y="3237230"/>
            <a:chExt cx="603798" cy="187961"/>
          </a:xfrm>
        </p:grpSpPr>
        <p:grpSp>
          <p:nvGrpSpPr>
            <p:cNvPr id="170" name="그룹 169"/>
            <p:cNvGrpSpPr/>
            <p:nvPr/>
          </p:nvGrpSpPr>
          <p:grpSpPr>
            <a:xfrm>
              <a:off x="2714860" y="3237230"/>
              <a:ext cx="187961" cy="187961"/>
              <a:chOff x="2714860" y="3237230"/>
              <a:chExt cx="187961" cy="187961"/>
            </a:xfrm>
          </p:grpSpPr>
          <p:sp>
            <p:nvSpPr>
              <p:cNvPr id="172" name="타원 171"/>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TextBox 172">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71" name="TextBox 170">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4" name="그룹 173"/>
          <p:cNvGrpSpPr/>
          <p:nvPr/>
        </p:nvGrpSpPr>
        <p:grpSpPr>
          <a:xfrm rot="5400000">
            <a:off x="3158978" y="3376698"/>
            <a:ext cx="187961" cy="187961"/>
            <a:chOff x="3876200" y="2234886"/>
            <a:chExt cx="187961" cy="187961"/>
          </a:xfrm>
        </p:grpSpPr>
        <p:sp>
          <p:nvSpPr>
            <p:cNvPr id="175" name="타원 17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6" name="그룹 175"/>
            <p:cNvGrpSpPr/>
            <p:nvPr/>
          </p:nvGrpSpPr>
          <p:grpSpPr>
            <a:xfrm rot="16200000">
              <a:off x="3931564"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1"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332" name="평행 사변형 331"/>
          <p:cNvSpPr/>
          <p:nvPr/>
        </p:nvSpPr>
        <p:spPr>
          <a:xfrm rot="16200000" flipH="1">
            <a:off x="2167633" y="2721650"/>
            <a:ext cx="2847900" cy="408308"/>
          </a:xfrm>
          <a:prstGeom prst="parallelogram">
            <a:avLst>
              <a:gd name="adj" fmla="val 584725"/>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8" name="그룹 187"/>
          <p:cNvGrpSpPr/>
          <p:nvPr/>
        </p:nvGrpSpPr>
        <p:grpSpPr>
          <a:xfrm>
            <a:off x="677960" y="1582647"/>
            <a:ext cx="2714637" cy="686386"/>
            <a:chOff x="677960" y="1582647"/>
            <a:chExt cx="2714637" cy="686386"/>
          </a:xfrm>
        </p:grpSpPr>
        <p:sp>
          <p:nvSpPr>
            <p:cNvPr id="191" name="TextBox 19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입찰결과 상세</a:t>
              </a: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00" name="그룹 199"/>
            <p:cNvGrpSpPr/>
            <p:nvPr/>
          </p:nvGrpSpPr>
          <p:grpSpPr>
            <a:xfrm rot="5400000">
              <a:off x="852159" y="2062596"/>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1" name="직선 연결선 2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03" name="그룹 202"/>
            <p:cNvGrpSpPr/>
            <p:nvPr/>
          </p:nvGrpSpPr>
          <p:grpSpPr>
            <a:xfrm>
              <a:off x="677960" y="1582647"/>
              <a:ext cx="2712027" cy="324286"/>
              <a:chOff x="677960" y="1582647"/>
              <a:chExt cx="2712027" cy="324286"/>
            </a:xfrm>
          </p:grpSpPr>
          <p:pic>
            <p:nvPicPr>
              <p:cNvPr id="205"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206" name="직선 연결선 205">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타원 20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8" name="타원 20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타원 20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cxnSp>
        <p:nvCxnSpPr>
          <p:cNvPr id="212" name="직선 연결선 211">
            <a:extLst>
              <a:ext uri="{FF2B5EF4-FFF2-40B4-BE49-F238E27FC236}">
                <a16:creationId xmlns:a16="http://schemas.microsoft.com/office/drawing/2014/main" id="{E9293055-D5CD-4B9E-7F64-64B2D2CA7A52}"/>
              </a:ext>
            </a:extLst>
          </p:cNvPr>
          <p:cNvCxnSpPr/>
          <p:nvPr/>
        </p:nvCxnSpPr>
        <p:spPr>
          <a:xfrm>
            <a:off x="3795734" y="150185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3"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214" name="직사각형 213">
            <a:extLst>
              <a:ext uri="{FF2B5EF4-FFF2-40B4-BE49-F238E27FC236}">
                <a16:creationId xmlns:a16="http://schemas.microsoft.com/office/drawing/2014/main" id="{F56F1743-11A0-EA94-9184-4E42C0A37F9C}"/>
              </a:ext>
            </a:extLst>
          </p:cNvPr>
          <p:cNvSpPr/>
          <p:nvPr/>
        </p:nvSpPr>
        <p:spPr>
          <a:xfrm>
            <a:off x="3797016" y="1488949"/>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3797016" y="14967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25304" y="18527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868983" y="1636146"/>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3825304" y="1852753"/>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7" name="그룹 236"/>
          <p:cNvGrpSpPr/>
          <p:nvPr/>
        </p:nvGrpSpPr>
        <p:grpSpPr>
          <a:xfrm>
            <a:off x="6028900" y="1598023"/>
            <a:ext cx="422853" cy="187961"/>
            <a:chOff x="3641308" y="2234886"/>
            <a:chExt cx="422853" cy="187961"/>
          </a:xfrm>
        </p:grpSpPr>
        <p:sp>
          <p:nvSpPr>
            <p:cNvPr id="238" name="타원 23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9" name="그룹 238"/>
            <p:cNvGrpSpPr/>
            <p:nvPr/>
          </p:nvGrpSpPr>
          <p:grpSpPr>
            <a:xfrm rot="5400000" flipH="1">
              <a:off x="3679895" y="2305364"/>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46" name="타원 24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7" name="그룹 246"/>
            <p:cNvGrpSpPr/>
            <p:nvPr/>
          </p:nvGrpSpPr>
          <p:grpSpPr>
            <a:xfrm rot="16200000">
              <a:off x="3931564" y="2305364"/>
              <a:ext cx="94010" cy="47005"/>
              <a:chOff x="6812560" y="3297172"/>
              <a:chExt cx="94010" cy="47005"/>
            </a:xfrm>
          </p:grpSpPr>
          <p:cxnSp>
            <p:nvCxnSpPr>
              <p:cNvPr id="248" name="직선 연결선 24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9" name="직선 연결선 24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53" name="그룹 252"/>
          <p:cNvGrpSpPr/>
          <p:nvPr/>
        </p:nvGrpSpPr>
        <p:grpSpPr>
          <a:xfrm>
            <a:off x="3886275" y="2018353"/>
            <a:ext cx="2456097" cy="181140"/>
            <a:chOff x="712467" y="1964062"/>
            <a:chExt cx="2456097" cy="181140"/>
          </a:xfrm>
        </p:grpSpPr>
        <p:sp>
          <p:nvSpPr>
            <p:cNvPr id="257" name="TextBox 256">
              <a:extLst>
                <a:ext uri="{FF2B5EF4-FFF2-40B4-BE49-F238E27FC236}">
                  <a16:creationId xmlns:a16="http://schemas.microsoft.com/office/drawing/2014/main" id="{FFC49AEA-2A8F-250C-A86A-A7751D9706C3}"/>
                </a:ext>
              </a:extLst>
            </p:cNvPr>
            <p:cNvSpPr txBox="1"/>
            <p:nvPr/>
          </p:nvSpPr>
          <p:spPr>
            <a:xfrm>
              <a:off x="712467" y="196406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58" name="그룹 257"/>
            <p:cNvGrpSpPr/>
            <p:nvPr/>
          </p:nvGrpSpPr>
          <p:grpSpPr>
            <a:xfrm flipV="1">
              <a:off x="3074554" y="2077393"/>
              <a:ext cx="94010" cy="47005"/>
              <a:chOff x="6812560" y="3297172"/>
              <a:chExt cx="94010" cy="47005"/>
            </a:xfrm>
          </p:grpSpPr>
          <p:cxnSp>
            <p:nvCxnSpPr>
              <p:cNvPr id="259" name="직선 연결선 25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0" name="직선 연결선 25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67" name="그룹 266"/>
          <p:cNvGrpSpPr/>
          <p:nvPr/>
        </p:nvGrpSpPr>
        <p:grpSpPr>
          <a:xfrm>
            <a:off x="3886275" y="2477737"/>
            <a:ext cx="2456097" cy="181140"/>
            <a:chOff x="712467" y="2404329"/>
            <a:chExt cx="2456097" cy="181140"/>
          </a:xfrm>
        </p:grpSpPr>
        <p:sp>
          <p:nvSpPr>
            <p:cNvPr id="270" name="TextBox 269">
              <a:extLst>
                <a:ext uri="{FF2B5EF4-FFF2-40B4-BE49-F238E27FC236}">
                  <a16:creationId xmlns:a16="http://schemas.microsoft.com/office/drawing/2014/main" id="{FFC49AEA-2A8F-250C-A86A-A7751D9706C3}"/>
                </a:ext>
              </a:extLst>
            </p:cNvPr>
            <p:cNvSpPr txBox="1"/>
            <p:nvPr/>
          </p:nvSpPr>
          <p:spPr>
            <a:xfrm>
              <a:off x="712467" y="2404329"/>
              <a:ext cx="452259"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품목정보</a:t>
              </a:r>
              <a:endParaRPr lang="ko-KR" altLang="en-US" sz="700" dirty="0">
                <a:latin typeface="+mn-ea"/>
              </a:endParaRPr>
            </a:p>
          </p:txBody>
        </p:sp>
        <p:grpSp>
          <p:nvGrpSpPr>
            <p:cNvPr id="274" name="그룹 273"/>
            <p:cNvGrpSpPr/>
            <p:nvPr/>
          </p:nvGrpSpPr>
          <p:grpSpPr>
            <a:xfrm flipV="1">
              <a:off x="3074554" y="2517660"/>
              <a:ext cx="94010" cy="47005"/>
              <a:chOff x="6812560" y="3297172"/>
              <a:chExt cx="94010" cy="47005"/>
            </a:xfrm>
          </p:grpSpPr>
          <p:cxnSp>
            <p:nvCxnSpPr>
              <p:cNvPr id="275" name="직선 연결선 2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6" name="직선 연결선 2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81" name="그룹 280"/>
          <p:cNvGrpSpPr/>
          <p:nvPr/>
        </p:nvGrpSpPr>
        <p:grpSpPr>
          <a:xfrm>
            <a:off x="3886275" y="2937121"/>
            <a:ext cx="2456097" cy="1095540"/>
            <a:chOff x="712467" y="2404329"/>
            <a:chExt cx="2456097" cy="1095540"/>
          </a:xfrm>
        </p:grpSpPr>
        <p:sp>
          <p:nvSpPr>
            <p:cNvPr id="292" name="TextBox 291">
              <a:extLst>
                <a:ext uri="{FF2B5EF4-FFF2-40B4-BE49-F238E27FC236}">
                  <a16:creationId xmlns:a16="http://schemas.microsoft.com/office/drawing/2014/main" id="{FFC49AEA-2A8F-250C-A86A-A7751D9706C3}"/>
                </a:ext>
              </a:extLst>
            </p:cNvPr>
            <p:cNvSpPr txBox="1"/>
            <p:nvPr/>
          </p:nvSpPr>
          <p:spPr>
            <a:xfrm>
              <a:off x="712467" y="24043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입찰결과</a:t>
              </a:r>
              <a:endParaRPr lang="ko-KR" altLang="en-US" sz="700" dirty="0">
                <a:latin typeface="+mn-ea"/>
              </a:endParaRPr>
            </a:p>
          </p:txBody>
        </p:sp>
        <p:grpSp>
          <p:nvGrpSpPr>
            <p:cNvPr id="294" name="그룹 293"/>
            <p:cNvGrpSpPr/>
            <p:nvPr/>
          </p:nvGrpSpPr>
          <p:grpSpPr>
            <a:xfrm flipV="1">
              <a:off x="3074554" y="2517660"/>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4" name="직선 연결선 3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1" name="TextBox 200">
              <a:extLst>
                <a:ext uri="{FF2B5EF4-FFF2-40B4-BE49-F238E27FC236}">
                  <a16:creationId xmlns:a16="http://schemas.microsoft.com/office/drawing/2014/main" id="{FFC49AEA-2A8F-250C-A86A-A7751D9706C3}"/>
                </a:ext>
              </a:extLst>
            </p:cNvPr>
            <p:cNvSpPr txBox="1"/>
            <p:nvPr/>
          </p:nvSpPr>
          <p:spPr>
            <a:xfrm>
              <a:off x="712467" y="284628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협상결과</a:t>
              </a:r>
              <a:endParaRPr lang="ko-KR" altLang="en-US"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712467" y="3318729"/>
              <a:ext cx="938533" cy="181140"/>
            </a:xfrm>
            <a:prstGeom prst="rect">
              <a:avLst/>
            </a:prstGeom>
            <a:noFill/>
          </p:spPr>
          <p:txBody>
            <a:bodyPr wrap="square" lIns="0" tIns="0" rIns="0" bIns="0" rtlCol="0">
              <a:spAutoFit/>
            </a:bodyPr>
            <a:lstStyle/>
            <a:p>
              <a:pPr>
                <a:lnSpc>
                  <a:spcPct val="200000"/>
                </a:lnSpc>
              </a:pPr>
              <a:r>
                <a:rPr lang="ko-KR" altLang="en-US" sz="700" dirty="0" smtClean="0">
                  <a:latin typeface="+mn-ea"/>
                </a:rPr>
                <a:t>이행적격심사</a:t>
              </a:r>
              <a:endParaRPr lang="ko-KR" altLang="en-US" sz="700" dirty="0">
                <a:latin typeface="+mn-ea"/>
              </a:endParaRPr>
            </a:p>
          </p:txBody>
        </p:sp>
      </p:grpSp>
      <p:cxnSp>
        <p:nvCxnSpPr>
          <p:cNvPr id="342" name="직선 연결선 341">
            <a:extLst>
              <a:ext uri="{FF2B5EF4-FFF2-40B4-BE49-F238E27FC236}">
                <a16:creationId xmlns:a16="http://schemas.microsoft.com/office/drawing/2014/main" id="{E9293055-D5CD-4B9E-7F64-64B2D2CA7A52}"/>
              </a:ext>
            </a:extLst>
          </p:cNvPr>
          <p:cNvCxnSpPr/>
          <p:nvPr/>
        </p:nvCxnSpPr>
        <p:spPr>
          <a:xfrm>
            <a:off x="3868983" y="228341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3" name="직선 연결선 342">
            <a:extLst>
              <a:ext uri="{FF2B5EF4-FFF2-40B4-BE49-F238E27FC236}">
                <a16:creationId xmlns:a16="http://schemas.microsoft.com/office/drawing/2014/main" id="{E9293055-D5CD-4B9E-7F64-64B2D2CA7A52}"/>
              </a:ext>
            </a:extLst>
          </p:cNvPr>
          <p:cNvCxnSpPr/>
          <p:nvPr/>
        </p:nvCxnSpPr>
        <p:spPr>
          <a:xfrm>
            <a:off x="3868983" y="27527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4" name="직선 연결선 343">
            <a:extLst>
              <a:ext uri="{FF2B5EF4-FFF2-40B4-BE49-F238E27FC236}">
                <a16:creationId xmlns:a16="http://schemas.microsoft.com/office/drawing/2014/main" id="{E9293055-D5CD-4B9E-7F64-64B2D2CA7A52}"/>
              </a:ext>
            </a:extLst>
          </p:cNvPr>
          <p:cNvCxnSpPr/>
          <p:nvPr/>
        </p:nvCxnSpPr>
        <p:spPr>
          <a:xfrm>
            <a:off x="3868983" y="3222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5" name="직선 연결선 344">
            <a:extLst>
              <a:ext uri="{FF2B5EF4-FFF2-40B4-BE49-F238E27FC236}">
                <a16:creationId xmlns:a16="http://schemas.microsoft.com/office/drawing/2014/main" id="{E9293055-D5CD-4B9E-7F64-64B2D2CA7A52}"/>
              </a:ext>
            </a:extLst>
          </p:cNvPr>
          <p:cNvCxnSpPr/>
          <p:nvPr/>
        </p:nvCxnSpPr>
        <p:spPr>
          <a:xfrm>
            <a:off x="3868983" y="36915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6" name="직선 연결선 345">
            <a:extLst>
              <a:ext uri="{FF2B5EF4-FFF2-40B4-BE49-F238E27FC236}">
                <a16:creationId xmlns:a16="http://schemas.microsoft.com/office/drawing/2014/main" id="{E9293055-D5CD-4B9E-7F64-64B2D2CA7A52}"/>
              </a:ext>
            </a:extLst>
          </p:cNvPr>
          <p:cNvCxnSpPr/>
          <p:nvPr/>
        </p:nvCxnSpPr>
        <p:spPr>
          <a:xfrm>
            <a:off x="3868983" y="41609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 name="직사각형 1"/>
          <p:cNvSpPr/>
          <p:nvPr/>
        </p:nvSpPr>
        <p:spPr>
          <a:xfrm>
            <a:off x="3718560" y="3654108"/>
            <a:ext cx="2878230" cy="581901"/>
          </a:xfrm>
          <a:prstGeom prst="rect">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타원 217">
            <a:extLst>
              <a:ext uri="{FF2B5EF4-FFF2-40B4-BE49-F238E27FC236}">
                <a16:creationId xmlns:a16="http://schemas.microsoft.com/office/drawing/2014/main" id="{37A7FF4F-0EAA-1463-560A-D5EC24416103}"/>
              </a:ext>
            </a:extLst>
          </p:cNvPr>
          <p:cNvSpPr/>
          <p:nvPr/>
        </p:nvSpPr>
        <p:spPr>
          <a:xfrm>
            <a:off x="3598482" y="356673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410345127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F56F1743-11A0-EA94-9184-4E42C0A37F9C}"/>
              </a:ext>
            </a:extLst>
          </p:cNvPr>
          <p:cNvSpPr/>
          <p:nvPr/>
        </p:nvSpPr>
        <p:spPr>
          <a:xfrm>
            <a:off x="675399" y="1493926"/>
            <a:ext cx="2712027" cy="5208635"/>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p:cNvSpPr/>
          <p:nvPr/>
        </p:nvSpPr>
        <p:spPr>
          <a:xfrm>
            <a:off x="722583" y="4763570"/>
            <a:ext cx="792000" cy="19056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76357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763570"/>
            <a:ext cx="670770" cy="1904689"/>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단가제유형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763570"/>
            <a:ext cx="1814470" cy="1938992"/>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lvl="0">
              <a:lnSpc>
                <a:spcPct val="200000"/>
              </a:lnSpc>
            </a:pPr>
            <a:r>
              <a:rPr lang="en-US" altLang="ko-KR" sz="700" dirty="0">
                <a:latin typeface="+mn-ea"/>
              </a:rPr>
              <a:t>MST0001-1</a:t>
            </a:r>
          </a:p>
          <a:p>
            <a:pPr>
              <a:lnSpc>
                <a:spcPct val="200000"/>
              </a:lnSpc>
            </a:pPr>
            <a:r>
              <a:rPr lang="en-US" altLang="ko-KR" sz="700" dirty="0">
                <a:latin typeface="+mn-ea"/>
              </a:rPr>
              <a:t>10000</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2025MST0001</a:t>
            </a:r>
          </a:p>
          <a:p>
            <a:pPr>
              <a:lnSpc>
                <a:spcPct val="200000"/>
              </a:lnSpc>
            </a:pPr>
            <a:r>
              <a:rPr lang="ko-KR" altLang="en-US" sz="700" dirty="0">
                <a:latin typeface="+mn-ea"/>
              </a:rPr>
              <a:t>구매</a:t>
            </a:r>
            <a:endParaRPr lang="en-US" altLang="ko-KR" sz="700" dirty="0">
              <a:latin typeface="+mn-ea"/>
            </a:endParaRPr>
          </a:p>
          <a:p>
            <a:pPr>
              <a:lnSpc>
                <a:spcPct val="200000"/>
              </a:lnSpc>
            </a:pPr>
            <a:endParaRPr lang="en-US" altLang="ko-KR" sz="700" dirty="0">
              <a:latin typeface="+mn-ea"/>
            </a:endParaRP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a:lnSpc>
                <a:spcPct val="200000"/>
              </a:lnSpc>
            </a:pPr>
            <a:r>
              <a:rPr lang="ko-KR" altLang="en-US" sz="700" dirty="0" err="1">
                <a:latin typeface="+mn-ea"/>
              </a:rPr>
              <a:t>총액제</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99467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2083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422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6357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8495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606321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62769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22583" y="64636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입찰공고 </a:t>
            </a:r>
            <a:r>
              <a:rPr lang="ko-KR" altLang="en-US" dirty="0"/>
              <a:t>상세 화면 상단에 입찰 공고 정보 </a:t>
            </a:r>
            <a:r>
              <a:rPr lang="ko-KR" altLang="en-US" dirty="0" smtClean="0"/>
              <a:t>표시</a:t>
            </a:r>
            <a:endParaRPr lang="en-US" altLang="ko-KR" dirty="0"/>
          </a:p>
          <a:p>
            <a:pPr marL="228600" indent="-228600">
              <a:buFont typeface="+mj-lt"/>
              <a:buAutoNum type="arabicPeriod"/>
            </a:pPr>
            <a:r>
              <a:rPr lang="ko-KR" altLang="en-US" dirty="0" smtClean="0"/>
              <a:t>공고의 </a:t>
            </a:r>
            <a:r>
              <a:rPr lang="ko-KR" altLang="en-US" dirty="0"/>
              <a:t>공지사항이 있는 경우 표시</a:t>
            </a:r>
            <a:r>
              <a:rPr lang="en-US" altLang="ko-KR" dirty="0"/>
              <a:t/>
            </a:r>
            <a:br>
              <a:rPr lang="en-US" altLang="ko-KR" dirty="0"/>
            </a:br>
            <a:r>
              <a:rPr lang="en-US" altLang="ko-KR" dirty="0"/>
              <a:t>- </a:t>
            </a:r>
            <a:r>
              <a:rPr lang="ko-KR" altLang="en-US" dirty="0"/>
              <a:t>공지사항은 기본으로 닫힘</a:t>
            </a:r>
            <a:r>
              <a:rPr lang="en-US" altLang="ko-KR" dirty="0"/>
              <a:t/>
            </a:r>
            <a:br>
              <a:rPr lang="en-US" altLang="ko-KR" dirty="0"/>
            </a:br>
            <a:r>
              <a:rPr lang="en-US" altLang="ko-KR" dirty="0"/>
              <a:t>- </a:t>
            </a:r>
            <a:r>
              <a:rPr lang="ko-KR" altLang="en-US" dirty="0"/>
              <a:t>클릭으로 열리고 닫힘 처리</a:t>
            </a:r>
            <a:endParaRPr lang="en-US" altLang="ko-KR" dirty="0"/>
          </a:p>
          <a:p>
            <a:pPr marL="228600" indent="-228600">
              <a:buFont typeface="+mj-lt"/>
              <a:buAutoNum type="arabicPeriod"/>
            </a:pPr>
            <a:r>
              <a:rPr lang="ko-KR" altLang="en-US" dirty="0"/>
              <a:t>탭 메뉴</a:t>
            </a:r>
            <a:r>
              <a:rPr lang="en-US" altLang="ko-KR" dirty="0"/>
              <a:t/>
            </a:r>
            <a:br>
              <a:rPr lang="en-US" altLang="ko-KR" dirty="0"/>
            </a:br>
            <a:r>
              <a:rPr lang="en-US" altLang="ko-KR" dirty="0"/>
              <a:t>- </a:t>
            </a:r>
            <a:r>
              <a:rPr lang="ko-KR" altLang="en-US" dirty="0"/>
              <a:t>좌우 </a:t>
            </a:r>
            <a:r>
              <a:rPr lang="ko-KR" altLang="en-US" dirty="0" err="1"/>
              <a:t>스와이프</a:t>
            </a:r>
            <a:r>
              <a:rPr lang="en-US" altLang="ko-KR" dirty="0"/>
              <a:t/>
            </a:r>
            <a:br>
              <a:rPr lang="en-US" altLang="ko-KR" dirty="0"/>
            </a:br>
            <a:r>
              <a:rPr lang="en-US" altLang="ko-KR" dirty="0"/>
              <a:t>- </a:t>
            </a:r>
            <a:r>
              <a:rPr lang="ko-KR" altLang="en-US" dirty="0"/>
              <a:t>좌우 이동 버튼 </a:t>
            </a:r>
            <a:r>
              <a:rPr lang="en-US" altLang="ko-KR" dirty="0"/>
              <a:t>(</a:t>
            </a:r>
            <a:r>
              <a:rPr lang="ko-KR" altLang="en-US" dirty="0"/>
              <a:t>좌우 스크롤</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협상결과</a:t>
            </a:r>
            <a:r>
              <a:rPr lang="en-US" altLang="ko-KR" dirty="0">
                <a:solidFill>
                  <a:srgbClr val="FF0000"/>
                </a:solidFill>
              </a:rPr>
              <a:t>: MUI-BD-09-T04]</a:t>
            </a:r>
            <a:r>
              <a:rPr lang="ko-KR" altLang="en-US" dirty="0" smtClean="0">
                <a:solidFill>
                  <a:srgbClr val="FF0000"/>
                </a:solidFill>
              </a:rPr>
              <a:t> 및 </a:t>
            </a:r>
            <a:r>
              <a:rPr lang="en-US" altLang="ko-KR" dirty="0" smtClean="0">
                <a:solidFill>
                  <a:srgbClr val="FF0000"/>
                </a:solidFill>
              </a:rPr>
              <a:t>[</a:t>
            </a:r>
            <a:r>
              <a:rPr lang="ko-KR" altLang="en-US" dirty="0" smtClean="0">
                <a:solidFill>
                  <a:srgbClr val="FF0000"/>
                </a:solidFill>
              </a:rPr>
              <a:t>이행</a:t>
            </a:r>
            <a:r>
              <a:rPr lang="en-US" altLang="ko-KR" dirty="0" smtClean="0">
                <a:solidFill>
                  <a:srgbClr val="FF0000"/>
                </a:solidFill>
              </a:rPr>
              <a:t>/</a:t>
            </a:r>
            <a:r>
              <a:rPr lang="ko-KR" altLang="en-US" dirty="0" smtClean="0">
                <a:solidFill>
                  <a:srgbClr val="FF0000"/>
                </a:solidFill>
              </a:rPr>
              <a:t>적격심사결과</a:t>
            </a:r>
            <a:r>
              <a:rPr lang="en-US" altLang="ko-KR" dirty="0" smtClean="0">
                <a:solidFill>
                  <a:srgbClr val="FF0000"/>
                </a:solidFill>
              </a:rPr>
              <a:t>]</a:t>
            </a:r>
            <a:r>
              <a:rPr lang="ko-KR" altLang="en-US" dirty="0" smtClean="0">
                <a:solidFill>
                  <a:srgbClr val="FF0000"/>
                </a:solidFill>
              </a:rPr>
              <a:t>는 정보가 있으면 추가되는 </a:t>
            </a:r>
            <a:r>
              <a:rPr lang="ko-KR" altLang="en-US" dirty="0" err="1" smtClean="0">
                <a:solidFill>
                  <a:srgbClr val="FF0000"/>
                </a:solidFill>
              </a:rPr>
              <a:t>탭임</a:t>
            </a:r>
            <a:r>
              <a:rPr lang="en-US" altLang="ko-KR" dirty="0" smtClean="0">
                <a:solidFill>
                  <a:srgbClr val="FF0000"/>
                </a:solidFill>
              </a:rPr>
              <a:t>.</a:t>
            </a:r>
            <a:r>
              <a:rPr lang="ko-KR" altLang="en-US" dirty="0" smtClean="0">
                <a:solidFill>
                  <a:srgbClr val="FF0000"/>
                </a:solidFill>
              </a:rPr>
              <a:t> 유동적으로 추가됨</a:t>
            </a:r>
            <a:r>
              <a:rPr lang="en-US" altLang="ko-KR" dirty="0" smtClean="0">
                <a:solidFill>
                  <a:srgbClr val="FF0000"/>
                </a:solidFill>
              </a:rPr>
              <a:t>.</a:t>
            </a:r>
            <a:br>
              <a:rPr lang="en-US" altLang="ko-KR" dirty="0" smtClean="0">
                <a:solidFill>
                  <a:srgbClr val="FF0000"/>
                </a:solidFill>
              </a:rPr>
            </a:br>
            <a:r>
              <a:rPr lang="en-US" altLang="ko-KR" dirty="0" smtClean="0">
                <a:solidFill>
                  <a:srgbClr val="FF0000"/>
                </a:solidFill>
              </a:rPr>
              <a:t>  &gt; </a:t>
            </a:r>
            <a:r>
              <a:rPr lang="ko-KR" altLang="en-US" dirty="0" smtClean="0">
                <a:solidFill>
                  <a:srgbClr val="FF0000"/>
                </a:solidFill>
              </a:rPr>
              <a:t>이행적격심사결과는 조건에 따라 노출 정보가 상이함</a:t>
            </a:r>
            <a:r>
              <a:rPr lang="en-US" altLang="ko-KR" dirty="0" smtClean="0">
                <a:solidFill>
                  <a:srgbClr val="FF0000"/>
                </a:solidFill>
              </a:rPr>
              <a:t>.</a:t>
            </a:r>
            <a:endParaRPr lang="en-US" altLang="ko-KR" dirty="0">
              <a:solidFill>
                <a:srgbClr val="FF0000"/>
              </a:solidFill>
            </a:endParaRPr>
          </a:p>
          <a:p>
            <a:pPr marL="228600" indent="-228600">
              <a:buFont typeface="+mj-lt"/>
              <a:buAutoNum type="arabicPeriod"/>
            </a:pPr>
            <a:r>
              <a:rPr lang="ko-KR" altLang="en-US" dirty="0" smtClean="0"/>
              <a:t>공고 </a:t>
            </a:r>
            <a:r>
              <a:rPr lang="ko-KR" altLang="en-US" dirty="0"/>
              <a:t>내용</a:t>
            </a:r>
            <a:r>
              <a:rPr lang="en-US" altLang="ko-KR" dirty="0"/>
              <a:t/>
            </a:r>
            <a:br>
              <a:rPr lang="en-US" altLang="ko-KR" dirty="0"/>
            </a:br>
            <a:r>
              <a:rPr lang="en-US" altLang="ko-KR" dirty="0"/>
              <a:t>- </a:t>
            </a:r>
            <a:r>
              <a:rPr lang="ko-KR" altLang="en-US" dirty="0" smtClean="0"/>
              <a:t>다음 페이지 참조</a:t>
            </a:r>
            <a:endParaRPr lang="en-US" altLang="ko-KR" dirty="0" smtClean="0"/>
          </a:p>
          <a:p>
            <a:pPr marL="228600" indent="-228600">
              <a:buFont typeface="+mj-lt"/>
              <a:buAutoNum type="arabicPeriod"/>
            </a:pPr>
            <a:r>
              <a:rPr lang="ko-KR" altLang="en-US" dirty="0" smtClean="0"/>
              <a:t>이행적격심사관련 </a:t>
            </a:r>
            <a:r>
              <a:rPr lang="en-US" altLang="ko-KR" dirty="0" err="1" smtClean="0"/>
              <a:t>floatbutton</a:t>
            </a:r>
            <a:r>
              <a:rPr lang="en-US" altLang="ko-KR" dirty="0" smtClean="0"/>
              <a:t> </a:t>
            </a:r>
            <a:r>
              <a:rPr lang="ko-KR" altLang="en-US" dirty="0" smtClean="0"/>
              <a:t>호출</a:t>
            </a:r>
            <a:endParaRPr lang="en-US" altLang="ko-KR" dirty="0" smtClean="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개찰 및 낙찰 처리 후 입찰결과를 조회할 수 있는 화면이다</a:t>
            </a:r>
            <a:r>
              <a:rPr lang="en-US" altLang="ko-KR" dirty="0"/>
              <a:t>.</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MUI-BD-09-M01</a:t>
            </a:r>
            <a:endParaRPr lang="ko-KR" altLang="en-US" dirty="0"/>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70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8587"/>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1</a:t>
            </a:r>
            <a:endParaRPr lang="ko-KR" altLang="en-US" sz="1200"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848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23552"/>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908163"/>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240415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40415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65410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9953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687856"/>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71920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801187"/>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3497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4133147"/>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28223" y="4133147"/>
            <a:ext cx="365390" cy="107722"/>
          </a:xfrm>
          <a:prstGeom prst="rect">
            <a:avLst/>
          </a:prstGeom>
          <a:noFill/>
        </p:spPr>
        <p:txBody>
          <a:bodyPr wrap="square" lIns="0" tIns="0" rIns="0" bIns="0" rtlCol="0">
            <a:spAutoFit/>
          </a:bodyPr>
          <a:lstStyle/>
          <a:p>
            <a:pPr algn="ctr"/>
            <a:r>
              <a:rPr lang="ko-KR" altLang="en-US" sz="700" dirty="0" err="1">
                <a:latin typeface="+mn-ea"/>
              </a:rPr>
              <a:t>품목정보</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697870" y="4133147"/>
            <a:ext cx="375860" cy="107722"/>
          </a:xfrm>
          <a:prstGeom prst="rect">
            <a:avLst/>
          </a:prstGeom>
          <a:noFill/>
        </p:spPr>
        <p:txBody>
          <a:bodyPr wrap="square" lIns="0" tIns="0" rIns="0" bIns="0" rtlCol="0">
            <a:spAutoFit/>
          </a:bodyPr>
          <a:lstStyle/>
          <a:p>
            <a:pPr algn="ctr"/>
            <a:r>
              <a:rPr lang="ko-KR" altLang="en-US" sz="700" dirty="0">
                <a:latin typeface="+mn-ea"/>
              </a:rPr>
              <a:t>입찰결과</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181874" y="4133147"/>
            <a:ext cx="379003" cy="107722"/>
          </a:xfrm>
          <a:prstGeom prst="rect">
            <a:avLst/>
          </a:prstGeom>
          <a:noFill/>
        </p:spPr>
        <p:txBody>
          <a:bodyPr wrap="square" lIns="0" tIns="0" rIns="0" bIns="0" rtlCol="0">
            <a:spAutoFit/>
          </a:bodyPr>
          <a:lstStyle/>
          <a:p>
            <a:pPr algn="ctr"/>
            <a:r>
              <a:rPr lang="ko-KR" altLang="en-US" sz="700" dirty="0">
                <a:latin typeface="+mn-ea"/>
              </a:rPr>
              <a:t>협상결과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349754"/>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81461" y="4456085"/>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569416"/>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795734" y="1501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FFC49AEA-2A8F-250C-A86A-A7751D9706C3}"/>
              </a:ext>
            </a:extLst>
          </p:cNvPr>
          <p:cNvSpPr txBox="1"/>
          <p:nvPr/>
        </p:nvSpPr>
        <p:spPr>
          <a:xfrm>
            <a:off x="3884993" y="196416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9" name="그룹 218"/>
          <p:cNvGrpSpPr/>
          <p:nvPr/>
        </p:nvGrpSpPr>
        <p:grpSpPr>
          <a:xfrm flipV="1">
            <a:off x="6247080" y="2077494"/>
            <a:ext cx="94010" cy="47005"/>
            <a:chOff x="6812560" y="3297172"/>
            <a:chExt cx="94010" cy="47005"/>
          </a:xfrm>
        </p:grpSpPr>
        <p:cxnSp>
          <p:nvCxnSpPr>
            <p:cNvPr id="220" name="직선 연결선 2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1" name="직선 연결선 2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2" name="직사각형 221"/>
          <p:cNvSpPr/>
          <p:nvPr/>
        </p:nvSpPr>
        <p:spPr>
          <a:xfrm>
            <a:off x="3826115" y="2271648"/>
            <a:ext cx="792000" cy="1092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24022" y="22716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3179" y="2271648"/>
            <a:ext cx="670770"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en-US" altLang="ko-KR" sz="700" dirty="0">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4670027" y="2271648"/>
            <a:ext cx="1814470" cy="1077218"/>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lvl="0">
              <a:lnSpc>
                <a:spcPct val="200000"/>
              </a:lnSpc>
            </a:pPr>
            <a:r>
              <a:rPr lang="en-US" altLang="ko-KR" sz="700" dirty="0">
                <a:latin typeface="+mn-ea"/>
              </a:rPr>
              <a:t>MST0001-1</a:t>
            </a:r>
          </a:p>
          <a:p>
            <a:pPr>
              <a:lnSpc>
                <a:spcPct val="200000"/>
              </a:lnSpc>
            </a:pPr>
            <a:r>
              <a:rPr lang="en-US" altLang="ko-KR" sz="700" dirty="0">
                <a:latin typeface="+mn-ea"/>
              </a:rPr>
              <a:t>10000</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a:t>
            </a: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3826115" y="25027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3826115" y="27164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3826115" y="29301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3826115" y="31438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3826115" y="3357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모서리가 둥근 직사각형 234"/>
          <p:cNvSpPr/>
          <p:nvPr/>
        </p:nvSpPr>
        <p:spPr>
          <a:xfrm rot="5400000">
            <a:off x="6098765" y="2517418"/>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254" name="직선 연결선 253">
            <a:extLst>
              <a:ext uri="{FF2B5EF4-FFF2-40B4-BE49-F238E27FC236}">
                <a16:creationId xmlns:a16="http://schemas.microsoft.com/office/drawing/2014/main" id="{E9293055-D5CD-4B9E-7F64-64B2D2CA7A52}"/>
              </a:ext>
            </a:extLst>
          </p:cNvPr>
          <p:cNvCxnSpPr/>
          <p:nvPr/>
        </p:nvCxnSpPr>
        <p:spPr>
          <a:xfrm>
            <a:off x="3795734" y="348965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3719201"/>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2</a:t>
            </a:r>
            <a:endParaRPr lang="ko-KR" altLang="en-US" sz="1200" dirty="0"/>
          </a:p>
        </p:txBody>
      </p:sp>
      <p:sp>
        <p:nvSpPr>
          <p:cNvPr id="272" name="타원 271">
            <a:extLst>
              <a:ext uri="{FF2B5EF4-FFF2-40B4-BE49-F238E27FC236}">
                <a16:creationId xmlns:a16="http://schemas.microsoft.com/office/drawing/2014/main" id="{37A7FF4F-0EAA-1463-560A-D5EC24416103}"/>
              </a:ext>
            </a:extLst>
          </p:cNvPr>
          <p:cNvSpPr/>
          <p:nvPr/>
        </p:nvSpPr>
        <p:spPr>
          <a:xfrm>
            <a:off x="571127" y="409694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73" name="타원 272">
            <a:extLst>
              <a:ext uri="{FF2B5EF4-FFF2-40B4-BE49-F238E27FC236}">
                <a16:creationId xmlns:a16="http://schemas.microsoft.com/office/drawing/2014/main" id="{37A7FF4F-0EAA-1463-560A-D5EC24416103}"/>
              </a:ext>
            </a:extLst>
          </p:cNvPr>
          <p:cNvSpPr/>
          <p:nvPr/>
        </p:nvSpPr>
        <p:spPr>
          <a:xfrm>
            <a:off x="571127" y="448674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64023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769705"/>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2964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82" name="그룹 181"/>
          <p:cNvGrpSpPr/>
          <p:nvPr/>
        </p:nvGrpSpPr>
        <p:grpSpPr>
          <a:xfrm rot="16200000">
            <a:off x="1250697" y="3449248"/>
            <a:ext cx="94010" cy="47005"/>
            <a:chOff x="6812560" y="3297172"/>
            <a:chExt cx="94010" cy="47005"/>
          </a:xfrm>
        </p:grpSpPr>
        <p:cxnSp>
          <p:nvCxnSpPr>
            <p:cNvPr id="183" name="직선 연결선 1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4" name="직선 연결선 1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85" name="그룹 184"/>
          <p:cNvGrpSpPr/>
          <p:nvPr/>
        </p:nvGrpSpPr>
        <p:grpSpPr>
          <a:xfrm>
            <a:off x="1404035" y="3378769"/>
            <a:ext cx="601002" cy="187961"/>
            <a:chOff x="1335163" y="3237230"/>
            <a:chExt cx="601002" cy="187961"/>
          </a:xfrm>
        </p:grpSpPr>
        <p:sp>
          <p:nvSpPr>
            <p:cNvPr id="186" name="TextBox 185">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187" name="그룹 186"/>
            <p:cNvGrpSpPr/>
            <p:nvPr/>
          </p:nvGrpSpPr>
          <p:grpSpPr>
            <a:xfrm>
              <a:off x="1335163" y="3237230"/>
              <a:ext cx="187961" cy="187961"/>
              <a:chOff x="1485163" y="3237230"/>
              <a:chExt cx="187961" cy="187961"/>
            </a:xfrm>
          </p:grpSpPr>
          <p:sp>
            <p:nvSpPr>
              <p:cNvPr id="189" name="타원 188"/>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94" name="그룹 193"/>
          <p:cNvGrpSpPr/>
          <p:nvPr/>
        </p:nvGrpSpPr>
        <p:grpSpPr>
          <a:xfrm rot="16200000">
            <a:off x="1906808" y="3449248"/>
            <a:ext cx="94010" cy="47005"/>
            <a:chOff x="6812560" y="3297172"/>
            <a:chExt cx="94010" cy="47005"/>
          </a:xfrm>
        </p:grpSpPr>
        <p:cxnSp>
          <p:nvCxnSpPr>
            <p:cNvPr id="195" name="직선 연결선 19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6" name="직선 연결선 19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97" name="그룹 196"/>
          <p:cNvGrpSpPr/>
          <p:nvPr/>
        </p:nvGrpSpPr>
        <p:grpSpPr>
          <a:xfrm rot="16200000">
            <a:off x="2562920" y="3449248"/>
            <a:ext cx="94010" cy="47005"/>
            <a:chOff x="6812560" y="3297172"/>
            <a:chExt cx="94010" cy="47005"/>
          </a:xfrm>
        </p:grpSpPr>
        <p:cxnSp>
          <p:nvCxnSpPr>
            <p:cNvPr id="198" name="직선 연결선 1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9" name="직선 연결선 1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31" name="그룹 230"/>
          <p:cNvGrpSpPr/>
          <p:nvPr/>
        </p:nvGrpSpPr>
        <p:grpSpPr>
          <a:xfrm>
            <a:off x="747925" y="3378769"/>
            <a:ext cx="601001" cy="187961"/>
            <a:chOff x="747925" y="3237230"/>
            <a:chExt cx="601001" cy="187961"/>
          </a:xfrm>
        </p:grpSpPr>
        <p:grpSp>
          <p:nvGrpSpPr>
            <p:cNvPr id="232" name="그룹 231"/>
            <p:cNvGrpSpPr/>
            <p:nvPr/>
          </p:nvGrpSpPr>
          <p:grpSpPr>
            <a:xfrm>
              <a:off x="747925" y="3237230"/>
              <a:ext cx="187961" cy="187961"/>
              <a:chOff x="747925" y="3237230"/>
              <a:chExt cx="187961" cy="187961"/>
            </a:xfrm>
          </p:grpSpPr>
          <p:sp>
            <p:nvSpPr>
              <p:cNvPr id="234" name="타원 233"/>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233" name="TextBox 23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41" name="그룹 240"/>
          <p:cNvGrpSpPr/>
          <p:nvPr/>
        </p:nvGrpSpPr>
        <p:grpSpPr>
          <a:xfrm>
            <a:off x="2058749" y="3378769"/>
            <a:ext cx="603798" cy="187961"/>
            <a:chOff x="2058749" y="3237230"/>
            <a:chExt cx="603798" cy="187961"/>
          </a:xfrm>
        </p:grpSpPr>
        <p:grpSp>
          <p:nvGrpSpPr>
            <p:cNvPr id="242" name="그룹 241"/>
            <p:cNvGrpSpPr/>
            <p:nvPr/>
          </p:nvGrpSpPr>
          <p:grpSpPr>
            <a:xfrm>
              <a:off x="2058749" y="3237230"/>
              <a:ext cx="187961" cy="187961"/>
              <a:chOff x="2058749" y="3237230"/>
              <a:chExt cx="187961" cy="187961"/>
            </a:xfrm>
          </p:grpSpPr>
          <p:sp>
            <p:nvSpPr>
              <p:cNvPr id="244" name="타원 243"/>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5" name="TextBox 244">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243" name="TextBox 242">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255" name="TextBox 25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6" name="TextBox 255">
            <a:extLst>
              <a:ext uri="{FF2B5EF4-FFF2-40B4-BE49-F238E27FC236}">
                <a16:creationId xmlns:a16="http://schemas.microsoft.com/office/drawing/2014/main" id="{FFC49AEA-2A8F-250C-A86A-A7751D9706C3}"/>
              </a:ext>
            </a:extLst>
          </p:cNvPr>
          <p:cNvSpPr txBox="1"/>
          <p:nvPr/>
        </p:nvSpPr>
        <p:spPr>
          <a:xfrm>
            <a:off x="3878080" y="355703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261" name="그룹 260"/>
          <p:cNvGrpSpPr/>
          <p:nvPr/>
        </p:nvGrpSpPr>
        <p:grpSpPr>
          <a:xfrm flipV="1">
            <a:off x="6240167" y="3670367"/>
            <a:ext cx="94010" cy="47005"/>
            <a:chOff x="6812560" y="3297172"/>
            <a:chExt cx="94010" cy="47005"/>
          </a:xfrm>
        </p:grpSpPr>
        <p:cxnSp>
          <p:nvCxnSpPr>
            <p:cNvPr id="262" name="직선 연결선 2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3" name="직선 연결선 2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4" name="모서리가 둥근 직사각형 263"/>
          <p:cNvSpPr/>
          <p:nvPr/>
        </p:nvSpPr>
        <p:spPr>
          <a:xfrm>
            <a:off x="3831550" y="39554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4332218" y="402994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09746" y="408380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68" name="모서리가 둥근 직사각형 267"/>
          <p:cNvSpPr/>
          <p:nvPr/>
        </p:nvSpPr>
        <p:spPr>
          <a:xfrm>
            <a:off x="3831550" y="436210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9" name="TextBox 268">
            <a:extLst>
              <a:ext uri="{FF2B5EF4-FFF2-40B4-BE49-F238E27FC236}">
                <a16:creationId xmlns:a16="http://schemas.microsoft.com/office/drawing/2014/main" id="{FFC49AEA-2A8F-250C-A86A-A7751D9706C3}"/>
              </a:ext>
            </a:extLst>
          </p:cNvPr>
          <p:cNvSpPr txBox="1"/>
          <p:nvPr/>
        </p:nvSpPr>
        <p:spPr>
          <a:xfrm>
            <a:off x="4332218" y="443662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3909746" y="449049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332218" y="382030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3838314" y="382030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86" name="타원 285"/>
          <p:cNvSpPr/>
          <p:nvPr/>
        </p:nvSpPr>
        <p:spPr>
          <a:xfrm>
            <a:off x="6206587" y="40656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6116103" y="3823917"/>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90" name="타원 289"/>
          <p:cNvSpPr/>
          <p:nvPr/>
        </p:nvSpPr>
        <p:spPr>
          <a:xfrm>
            <a:off x="6206587" y="447235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1" name="TextBox 290">
            <a:extLst>
              <a:ext uri="{FF2B5EF4-FFF2-40B4-BE49-F238E27FC236}">
                <a16:creationId xmlns:a16="http://schemas.microsoft.com/office/drawing/2014/main" id="{FFC49AEA-2A8F-250C-A86A-A7751D9706C3}"/>
              </a:ext>
            </a:extLst>
          </p:cNvPr>
          <p:cNvSpPr txBox="1"/>
          <p:nvPr/>
        </p:nvSpPr>
        <p:spPr>
          <a:xfrm>
            <a:off x="2672495" y="4133147"/>
            <a:ext cx="424394" cy="107722"/>
          </a:xfrm>
          <a:prstGeom prst="rect">
            <a:avLst/>
          </a:prstGeom>
          <a:noFill/>
        </p:spPr>
        <p:txBody>
          <a:bodyPr wrap="square" lIns="0" tIns="0" rIns="0" bIns="0" rtlCol="0">
            <a:spAutoFit/>
          </a:bodyPr>
          <a:lstStyle/>
          <a:p>
            <a:pPr algn="ctr"/>
            <a:r>
              <a:rPr lang="ko-KR" altLang="en-US" sz="700" dirty="0">
                <a:latin typeface="+mn-ea"/>
              </a:rPr>
              <a:t>이행</a:t>
            </a:r>
            <a:r>
              <a:rPr lang="en-US" altLang="ko-KR" sz="700" dirty="0">
                <a:latin typeface="+mn-ea"/>
              </a:rPr>
              <a:t>/</a:t>
            </a:r>
            <a:r>
              <a:rPr lang="ko-KR" altLang="en-US" sz="700" dirty="0">
                <a:latin typeface="+mn-ea"/>
              </a:rPr>
              <a:t>적격</a:t>
            </a:r>
          </a:p>
        </p:txBody>
      </p:sp>
      <p:grpSp>
        <p:nvGrpSpPr>
          <p:cNvPr id="7" name="그룹 6"/>
          <p:cNvGrpSpPr/>
          <p:nvPr/>
        </p:nvGrpSpPr>
        <p:grpSpPr>
          <a:xfrm>
            <a:off x="2924086" y="4095024"/>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93" name="직선 연결선 292">
            <a:extLst>
              <a:ext uri="{FF2B5EF4-FFF2-40B4-BE49-F238E27FC236}">
                <a16:creationId xmlns:a16="http://schemas.microsoft.com/office/drawing/2014/main" id="{E9293055-D5CD-4B9E-7F64-64B2D2CA7A52}"/>
              </a:ext>
            </a:extLst>
          </p:cNvPr>
          <p:cNvCxnSpPr/>
          <p:nvPr/>
        </p:nvCxnSpPr>
        <p:spPr>
          <a:xfrm>
            <a:off x="3830188" y="185047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96" name="TextBox 295">
            <a:extLst>
              <a:ext uri="{FF2B5EF4-FFF2-40B4-BE49-F238E27FC236}">
                <a16:creationId xmlns:a16="http://schemas.microsoft.com/office/drawing/2014/main" id="{FFC49AEA-2A8F-250C-A86A-A7751D9706C3}"/>
              </a:ext>
            </a:extLst>
          </p:cNvPr>
          <p:cNvSpPr txBox="1"/>
          <p:nvPr/>
        </p:nvSpPr>
        <p:spPr>
          <a:xfrm>
            <a:off x="3873867" y="163387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297" name="TextBox 296">
            <a:extLst>
              <a:ext uri="{FF2B5EF4-FFF2-40B4-BE49-F238E27FC236}">
                <a16:creationId xmlns:a16="http://schemas.microsoft.com/office/drawing/2014/main" id="{FFC49AEA-2A8F-250C-A86A-A7751D9706C3}"/>
              </a:ext>
            </a:extLst>
          </p:cNvPr>
          <p:cNvSpPr txBox="1"/>
          <p:nvPr/>
        </p:nvSpPr>
        <p:spPr>
          <a:xfrm>
            <a:off x="4337921" y="1633872"/>
            <a:ext cx="365390" cy="107722"/>
          </a:xfrm>
          <a:prstGeom prst="rect">
            <a:avLst/>
          </a:prstGeom>
          <a:noFill/>
        </p:spPr>
        <p:txBody>
          <a:bodyPr wrap="square" lIns="0" tIns="0" rIns="0" bIns="0" rtlCol="0">
            <a:spAutoFit/>
          </a:bodyPr>
          <a:lstStyle/>
          <a:p>
            <a:pPr algn="ctr"/>
            <a:r>
              <a:rPr lang="ko-KR" altLang="en-US" sz="700">
                <a:latin typeface="+mn-ea"/>
              </a:rPr>
              <a:t>품목정보</a:t>
            </a:r>
            <a:endParaRPr lang="ko-KR" altLang="en-US" sz="700" dirty="0">
              <a:latin typeface="+mn-ea"/>
            </a:endParaRPr>
          </a:p>
        </p:txBody>
      </p:sp>
      <p:sp>
        <p:nvSpPr>
          <p:cNvPr id="298" name="TextBox 297">
            <a:extLst>
              <a:ext uri="{FF2B5EF4-FFF2-40B4-BE49-F238E27FC236}">
                <a16:creationId xmlns:a16="http://schemas.microsoft.com/office/drawing/2014/main" id="{FFC49AEA-2A8F-250C-A86A-A7751D9706C3}"/>
              </a:ext>
            </a:extLst>
          </p:cNvPr>
          <p:cNvSpPr txBox="1"/>
          <p:nvPr/>
        </p:nvSpPr>
        <p:spPr>
          <a:xfrm>
            <a:off x="4807568" y="1633872"/>
            <a:ext cx="375860" cy="107722"/>
          </a:xfrm>
          <a:prstGeom prst="rect">
            <a:avLst/>
          </a:prstGeom>
          <a:noFill/>
        </p:spPr>
        <p:txBody>
          <a:bodyPr wrap="square" lIns="0" tIns="0" rIns="0" bIns="0" rtlCol="0">
            <a:spAutoFit/>
          </a:bodyPr>
          <a:lstStyle/>
          <a:p>
            <a:pPr algn="ctr"/>
            <a:r>
              <a:rPr lang="ko-KR" altLang="en-US" sz="700" dirty="0">
                <a:latin typeface="+mn-ea"/>
              </a:rPr>
              <a:t>입찰결과</a:t>
            </a:r>
          </a:p>
        </p:txBody>
      </p:sp>
      <p:sp>
        <p:nvSpPr>
          <p:cNvPr id="299" name="TextBox 298">
            <a:extLst>
              <a:ext uri="{FF2B5EF4-FFF2-40B4-BE49-F238E27FC236}">
                <a16:creationId xmlns:a16="http://schemas.microsoft.com/office/drawing/2014/main" id="{FFC49AEA-2A8F-250C-A86A-A7751D9706C3}"/>
              </a:ext>
            </a:extLst>
          </p:cNvPr>
          <p:cNvSpPr txBox="1"/>
          <p:nvPr/>
        </p:nvSpPr>
        <p:spPr>
          <a:xfrm>
            <a:off x="5291572" y="1633872"/>
            <a:ext cx="379003" cy="107722"/>
          </a:xfrm>
          <a:prstGeom prst="rect">
            <a:avLst/>
          </a:prstGeom>
          <a:noFill/>
        </p:spPr>
        <p:txBody>
          <a:bodyPr wrap="square" lIns="0" tIns="0" rIns="0" bIns="0" rtlCol="0">
            <a:spAutoFit/>
          </a:bodyPr>
          <a:lstStyle/>
          <a:p>
            <a:pPr algn="ctr"/>
            <a:r>
              <a:rPr lang="ko-KR" altLang="en-US" sz="700" dirty="0">
                <a:latin typeface="+mn-ea"/>
              </a:rPr>
              <a:t>협상결과</a:t>
            </a:r>
          </a:p>
        </p:txBody>
      </p:sp>
      <p:cxnSp>
        <p:nvCxnSpPr>
          <p:cNvPr id="300" name="직선 연결선 299">
            <a:extLst>
              <a:ext uri="{FF2B5EF4-FFF2-40B4-BE49-F238E27FC236}">
                <a16:creationId xmlns:a16="http://schemas.microsoft.com/office/drawing/2014/main" id="{E9293055-D5CD-4B9E-7F64-64B2D2CA7A52}"/>
              </a:ext>
            </a:extLst>
          </p:cNvPr>
          <p:cNvCxnSpPr/>
          <p:nvPr/>
        </p:nvCxnSpPr>
        <p:spPr>
          <a:xfrm>
            <a:off x="3830188" y="185047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301" name="TextBox 300">
            <a:extLst>
              <a:ext uri="{FF2B5EF4-FFF2-40B4-BE49-F238E27FC236}">
                <a16:creationId xmlns:a16="http://schemas.microsoft.com/office/drawing/2014/main" id="{FFC49AEA-2A8F-250C-A86A-A7751D9706C3}"/>
              </a:ext>
            </a:extLst>
          </p:cNvPr>
          <p:cNvSpPr txBox="1"/>
          <p:nvPr/>
        </p:nvSpPr>
        <p:spPr>
          <a:xfrm>
            <a:off x="5782193" y="1633872"/>
            <a:ext cx="424394" cy="107722"/>
          </a:xfrm>
          <a:prstGeom prst="rect">
            <a:avLst/>
          </a:prstGeom>
          <a:noFill/>
        </p:spPr>
        <p:txBody>
          <a:bodyPr wrap="square" lIns="0" tIns="0" rIns="0" bIns="0" rtlCol="0">
            <a:spAutoFit/>
          </a:bodyPr>
          <a:lstStyle/>
          <a:p>
            <a:pPr algn="ctr"/>
            <a:r>
              <a:rPr lang="ko-KR" altLang="en-US" sz="700" dirty="0">
                <a:latin typeface="+mn-ea"/>
              </a:rPr>
              <a:t>이행</a:t>
            </a:r>
            <a:r>
              <a:rPr lang="en-US" altLang="ko-KR" sz="700" dirty="0">
                <a:latin typeface="+mn-ea"/>
              </a:rPr>
              <a:t>/</a:t>
            </a:r>
            <a:r>
              <a:rPr lang="ko-KR" altLang="en-US" sz="700" dirty="0">
                <a:latin typeface="+mn-ea"/>
              </a:rPr>
              <a:t>적격</a:t>
            </a:r>
          </a:p>
        </p:txBody>
      </p:sp>
      <p:grpSp>
        <p:nvGrpSpPr>
          <p:cNvPr id="302" name="그룹 301"/>
          <p:cNvGrpSpPr/>
          <p:nvPr/>
        </p:nvGrpSpPr>
        <p:grpSpPr>
          <a:xfrm>
            <a:off x="6033784" y="1595749"/>
            <a:ext cx="422853" cy="187961"/>
            <a:chOff x="3641308" y="2234886"/>
            <a:chExt cx="422853" cy="187961"/>
          </a:xfrm>
        </p:grpSpPr>
        <p:sp>
          <p:nvSpPr>
            <p:cNvPr id="303" name="타원 30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4" name="그룹 303"/>
            <p:cNvGrpSpPr/>
            <p:nvPr/>
          </p:nvGrpSpPr>
          <p:grpSpPr>
            <a:xfrm rot="5400000" flipH="1">
              <a:off x="3679895" y="2305364"/>
              <a:ext cx="94010" cy="47005"/>
              <a:chOff x="6812560" y="3297172"/>
              <a:chExt cx="94010" cy="47005"/>
            </a:xfrm>
          </p:grpSpPr>
          <p:cxnSp>
            <p:nvCxnSpPr>
              <p:cNvPr id="309" name="직선 연결선 3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0" name="직선 연결선 3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05" name="타원 30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6" name="그룹 305"/>
            <p:cNvGrpSpPr/>
            <p:nvPr/>
          </p:nvGrpSpPr>
          <p:grpSpPr>
            <a:xfrm rot="16200000">
              <a:off x="3931564" y="2305364"/>
              <a:ext cx="94010" cy="47005"/>
              <a:chOff x="6812560" y="3297172"/>
              <a:chExt cx="94010" cy="47005"/>
            </a:xfrm>
          </p:grpSpPr>
          <p:cxnSp>
            <p:nvCxnSpPr>
              <p:cNvPr id="307" name="직선 연결선 30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8" name="직선 연결선 30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69" name="그룹 168"/>
          <p:cNvGrpSpPr/>
          <p:nvPr/>
        </p:nvGrpSpPr>
        <p:grpSpPr>
          <a:xfrm>
            <a:off x="2714860" y="3381333"/>
            <a:ext cx="603798" cy="187961"/>
            <a:chOff x="2714860" y="3237230"/>
            <a:chExt cx="603798" cy="187961"/>
          </a:xfrm>
        </p:grpSpPr>
        <p:grpSp>
          <p:nvGrpSpPr>
            <p:cNvPr id="170" name="그룹 169"/>
            <p:cNvGrpSpPr/>
            <p:nvPr/>
          </p:nvGrpSpPr>
          <p:grpSpPr>
            <a:xfrm>
              <a:off x="2714860" y="3237230"/>
              <a:ext cx="187961" cy="187961"/>
              <a:chOff x="2714860" y="3237230"/>
              <a:chExt cx="187961" cy="187961"/>
            </a:xfrm>
          </p:grpSpPr>
          <p:sp>
            <p:nvSpPr>
              <p:cNvPr id="172" name="타원 171"/>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TextBox 172">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71" name="TextBox 170">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4" name="그룹 173"/>
          <p:cNvGrpSpPr/>
          <p:nvPr/>
        </p:nvGrpSpPr>
        <p:grpSpPr>
          <a:xfrm rot="5400000">
            <a:off x="3158978" y="3376698"/>
            <a:ext cx="187961" cy="187961"/>
            <a:chOff x="3876200" y="2234886"/>
            <a:chExt cx="187961" cy="187961"/>
          </a:xfrm>
        </p:grpSpPr>
        <p:sp>
          <p:nvSpPr>
            <p:cNvPr id="175" name="타원 17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6" name="그룹 175"/>
            <p:cNvGrpSpPr/>
            <p:nvPr/>
          </p:nvGrpSpPr>
          <p:grpSpPr>
            <a:xfrm rot="16200000">
              <a:off x="3931564"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1"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332" name="평행 사변형 331"/>
          <p:cNvSpPr/>
          <p:nvPr/>
        </p:nvSpPr>
        <p:spPr>
          <a:xfrm rot="16200000" flipH="1">
            <a:off x="2167633" y="2721650"/>
            <a:ext cx="2847900" cy="408308"/>
          </a:xfrm>
          <a:prstGeom prst="parallelogram">
            <a:avLst>
              <a:gd name="adj" fmla="val 584725"/>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3" name="타원 332">
            <a:extLst>
              <a:ext uri="{FF2B5EF4-FFF2-40B4-BE49-F238E27FC236}">
                <a16:creationId xmlns:a16="http://schemas.microsoft.com/office/drawing/2014/main" id="{37A7FF4F-0EAA-1463-560A-D5EC24416103}"/>
              </a:ext>
            </a:extLst>
          </p:cNvPr>
          <p:cNvSpPr/>
          <p:nvPr/>
        </p:nvSpPr>
        <p:spPr>
          <a:xfrm>
            <a:off x="6555414" y="558500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grpSp>
        <p:nvGrpSpPr>
          <p:cNvPr id="335" name="그룹 334"/>
          <p:cNvGrpSpPr/>
          <p:nvPr/>
        </p:nvGrpSpPr>
        <p:grpSpPr>
          <a:xfrm>
            <a:off x="8223250" y="569392"/>
            <a:ext cx="3365500" cy="634511"/>
            <a:chOff x="8223250" y="569392"/>
            <a:chExt cx="3365500" cy="634511"/>
          </a:xfrm>
        </p:grpSpPr>
        <p:sp>
          <p:nvSpPr>
            <p:cNvPr id="336" name="직사각형 33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337" name="직사각형 33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grpSp>
        <p:nvGrpSpPr>
          <p:cNvPr id="188" name="그룹 187"/>
          <p:cNvGrpSpPr/>
          <p:nvPr/>
        </p:nvGrpSpPr>
        <p:grpSpPr>
          <a:xfrm>
            <a:off x="677960" y="1582647"/>
            <a:ext cx="2714637" cy="686386"/>
            <a:chOff x="677960" y="1582647"/>
            <a:chExt cx="2714637" cy="686386"/>
          </a:xfrm>
        </p:grpSpPr>
        <p:sp>
          <p:nvSpPr>
            <p:cNvPr id="191" name="TextBox 19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입찰결과 상세</a:t>
              </a: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00" name="그룹 199"/>
            <p:cNvGrpSpPr/>
            <p:nvPr/>
          </p:nvGrpSpPr>
          <p:grpSpPr>
            <a:xfrm rot="5400000">
              <a:off x="852159" y="2062596"/>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1" name="직선 연결선 2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03" name="그룹 202"/>
            <p:cNvGrpSpPr/>
            <p:nvPr/>
          </p:nvGrpSpPr>
          <p:grpSpPr>
            <a:xfrm>
              <a:off x="677960" y="1582647"/>
              <a:ext cx="2712027" cy="324286"/>
              <a:chOff x="677960" y="1582647"/>
              <a:chExt cx="2712027" cy="324286"/>
            </a:xfrm>
          </p:grpSpPr>
          <p:pic>
            <p:nvPicPr>
              <p:cNvPr id="205"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206" name="직선 연결선 205">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타원 20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8" name="타원 20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타원 20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346555149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r>
              <a:rPr lang="en-US" altLang="ko-KR" dirty="0" smtClean="0"/>
              <a:t>1. </a:t>
            </a:r>
            <a:r>
              <a:rPr lang="ko-KR" altLang="en-US" dirty="0" err="1" smtClean="0"/>
              <a:t>개찰된</a:t>
            </a:r>
            <a:r>
              <a:rPr lang="ko-KR" altLang="en-US" dirty="0" smtClean="0"/>
              <a:t> 공모 항목에</a:t>
            </a:r>
            <a:r>
              <a:rPr lang="en-US" altLang="ko-KR" dirty="0" smtClean="0"/>
              <a:t>, </a:t>
            </a:r>
            <a:r>
              <a:rPr lang="ko-KR" altLang="en-US" dirty="0" err="1" smtClean="0"/>
              <a:t>이행적격</a:t>
            </a:r>
            <a:r>
              <a:rPr lang="ko-KR" altLang="en-US" dirty="0" smtClean="0"/>
              <a:t> </a:t>
            </a:r>
            <a:r>
              <a:rPr lang="ko-KR" altLang="en-US" dirty="0" err="1" smtClean="0"/>
              <a:t>심사요청이</a:t>
            </a:r>
            <a:r>
              <a:rPr lang="ko-KR" altLang="en-US" dirty="0" smtClean="0"/>
              <a:t> 포함되어 있는 경우</a:t>
            </a:r>
            <a:endParaRPr lang="en-US" altLang="ko-KR" dirty="0"/>
          </a:p>
          <a:p>
            <a:pPr>
              <a:buFontTx/>
              <a:buChar char="-"/>
            </a:pPr>
            <a:r>
              <a:rPr lang="ko-KR" altLang="en-US" dirty="0" smtClean="0"/>
              <a:t>개찰 </a:t>
            </a:r>
            <a:r>
              <a:rPr lang="ko-KR" altLang="en-US" dirty="0" err="1" smtClean="0"/>
              <a:t>완료후</a:t>
            </a:r>
            <a:r>
              <a:rPr lang="en-US" altLang="ko-KR" dirty="0" smtClean="0"/>
              <a:t>, </a:t>
            </a:r>
            <a:r>
              <a:rPr lang="ko-KR" altLang="en-US" dirty="0" smtClean="0"/>
              <a:t>해당 공고 상세 에서 </a:t>
            </a:r>
            <a:r>
              <a:rPr lang="en-US" altLang="ko-KR" dirty="0" smtClean="0"/>
              <a:t>float button</a:t>
            </a:r>
            <a:r>
              <a:rPr lang="ko-KR" altLang="en-US" dirty="0" smtClean="0"/>
              <a:t> 호출 가능</a:t>
            </a:r>
            <a:endParaRPr lang="en-US" altLang="ko-KR" dirty="0" smtClean="0"/>
          </a:p>
          <a:p>
            <a:pPr>
              <a:buFontTx/>
              <a:buChar char="-"/>
            </a:pPr>
            <a:r>
              <a:rPr lang="ko-KR" altLang="en-US" dirty="0" smtClean="0"/>
              <a:t>이행적격심사 신청하기</a:t>
            </a:r>
            <a:r>
              <a:rPr lang="en-US" altLang="ko-KR" dirty="0" smtClean="0"/>
              <a:t>(</a:t>
            </a:r>
            <a:r>
              <a:rPr lang="en-US" altLang="ko-KR" dirty="0" smtClean="0">
                <a:latin typeface="+mn-ea"/>
              </a:rPr>
              <a:t>MUI-BD-10-M01)</a:t>
            </a:r>
            <a:endParaRPr lang="en-US" altLang="ko-KR" dirty="0" smtClean="0"/>
          </a:p>
          <a:p>
            <a:pPr>
              <a:buFontTx/>
              <a:buChar char="-"/>
            </a:pPr>
            <a:r>
              <a:rPr lang="ko-KR" altLang="en-US" dirty="0" smtClean="0"/>
              <a:t>이행적격심사 포기하기</a:t>
            </a:r>
            <a:r>
              <a:rPr lang="en-US" altLang="ko-KR" dirty="0" smtClean="0"/>
              <a:t>(MUI-BD-10-P02)</a:t>
            </a:r>
            <a:endParaRPr lang="en-US" altLang="ko-KR" dirty="0"/>
          </a:p>
          <a:p>
            <a:pPr marL="0" indent="0">
              <a:buNone/>
            </a:pPr>
            <a:endParaRPr lang="en-US" altLang="ko-KR" dirty="0" smtClean="0"/>
          </a:p>
          <a:p>
            <a:pPr marL="0" indent="0">
              <a:buNone/>
            </a:pPr>
            <a:r>
              <a:rPr lang="en-US" altLang="ko-KR" dirty="0" smtClean="0"/>
              <a:t>2. </a:t>
            </a:r>
            <a:r>
              <a:rPr lang="ko-KR" altLang="en-US" dirty="0" smtClean="0"/>
              <a:t>해당 공모에 이행적격심사 신청을 진행한 경우</a:t>
            </a:r>
            <a:endParaRPr lang="en-US" altLang="ko-KR" dirty="0" smtClean="0"/>
          </a:p>
          <a:p>
            <a:pPr marL="0" indent="0">
              <a:buNone/>
            </a:pPr>
            <a:r>
              <a:rPr lang="ko-KR" altLang="en-US" dirty="0" err="1" smtClean="0"/>
              <a:t>ㄴ이행적격심사신청조회하기</a:t>
            </a:r>
            <a:r>
              <a:rPr lang="en-US" altLang="ko-KR" dirty="0" smtClean="0"/>
              <a:t>(MUI-BD-11-M01)</a:t>
            </a:r>
          </a:p>
          <a:p>
            <a:pPr marL="0" indent="0">
              <a:buNone/>
            </a:pPr>
            <a:r>
              <a:rPr lang="en-US" altLang="ko-KR" dirty="0" smtClean="0"/>
              <a:t>- </a:t>
            </a:r>
            <a:r>
              <a:rPr lang="ko-KR" altLang="en-US" dirty="0" smtClean="0"/>
              <a:t>해당 공모에 </a:t>
            </a:r>
            <a:r>
              <a:rPr lang="ko-KR" altLang="en-US" dirty="0" err="1" smtClean="0"/>
              <a:t>이행적격심사포기를신청한</a:t>
            </a:r>
            <a:r>
              <a:rPr lang="ko-KR" altLang="en-US" dirty="0" smtClean="0"/>
              <a:t> 경우</a:t>
            </a:r>
            <a:endParaRPr lang="en-US" altLang="ko-KR" dirty="0" smtClean="0"/>
          </a:p>
          <a:p>
            <a:pPr marL="0" indent="0">
              <a:buNone/>
            </a:pPr>
            <a:r>
              <a:rPr lang="ko-KR" altLang="en-US" dirty="0" err="1" smtClean="0"/>
              <a:t>ㄴ이행적격심사포기신청조회하기</a:t>
            </a:r>
            <a:r>
              <a:rPr lang="ko-KR" altLang="en-US" dirty="0" smtClean="0"/>
              <a:t> 노출</a:t>
            </a:r>
            <a:r>
              <a:rPr lang="en-US" altLang="ko-KR" dirty="0" smtClean="0"/>
              <a:t>(MUI-BD-10-P03)</a:t>
            </a:r>
            <a:br>
              <a:rPr lang="en-US" altLang="ko-KR" dirty="0" smtClean="0"/>
            </a:br>
            <a:r>
              <a:rPr lang="en-US" altLang="ko-KR" dirty="0" smtClean="0"/>
              <a:t/>
            </a:r>
            <a:br>
              <a:rPr lang="en-US" altLang="ko-KR" dirty="0" smtClean="0"/>
            </a:br>
            <a:r>
              <a:rPr lang="en-US" altLang="ko-KR" dirty="0" smtClean="0">
                <a:solidFill>
                  <a:srgbClr val="FF0000"/>
                </a:solidFill>
              </a:rPr>
              <a:t>[0818 </a:t>
            </a:r>
            <a:r>
              <a:rPr lang="ko-KR" altLang="en-US" dirty="0" smtClean="0">
                <a:solidFill>
                  <a:srgbClr val="FF0000"/>
                </a:solidFill>
              </a:rPr>
              <a:t>추가</a:t>
            </a:r>
            <a:r>
              <a:rPr lang="en-US" altLang="ko-KR" dirty="0" smtClean="0">
                <a:solidFill>
                  <a:srgbClr val="FF0000"/>
                </a:solidFill>
              </a:rPr>
              <a:t>] </a:t>
            </a:r>
            <a:r>
              <a:rPr lang="ko-KR" altLang="en-US" dirty="0" smtClean="0">
                <a:solidFill>
                  <a:srgbClr val="FF0000"/>
                </a:solidFill>
              </a:rPr>
              <a:t>값이 있는 경우 버튼 표시</a:t>
            </a:r>
            <a:r>
              <a:rPr lang="en-US" altLang="ko-KR" dirty="0" smtClean="0"/>
              <a:t/>
            </a:r>
            <a:br>
              <a:rPr lang="en-US" altLang="ko-KR" dirty="0" smtClean="0"/>
            </a:br>
            <a:r>
              <a:rPr lang="en-US" altLang="ko-KR" dirty="0" smtClean="0"/>
              <a:t>- </a:t>
            </a:r>
            <a:r>
              <a:rPr lang="ko-KR" altLang="en-US" dirty="0" smtClean="0"/>
              <a:t>복수예비가격 </a:t>
            </a:r>
            <a:r>
              <a:rPr lang="en-US" altLang="ko-KR" dirty="0"/>
              <a:t>(</a:t>
            </a:r>
            <a:r>
              <a:rPr lang="en-US" altLang="ko-KR" dirty="0" smtClean="0"/>
              <a:t>MUI-BD-09-P02)</a:t>
            </a:r>
            <a:br>
              <a:rPr lang="en-US" altLang="ko-KR" dirty="0" smtClean="0"/>
            </a:br>
            <a:r>
              <a:rPr lang="en-US" altLang="ko-KR" dirty="0" smtClean="0"/>
              <a:t>- </a:t>
            </a:r>
            <a:r>
              <a:rPr lang="ko-KR" altLang="en-US" dirty="0" smtClean="0"/>
              <a:t>동가낙찰결과 </a:t>
            </a:r>
            <a:r>
              <a:rPr lang="en-US" altLang="ko-KR" dirty="0"/>
              <a:t>(</a:t>
            </a:r>
            <a:r>
              <a:rPr lang="en-US" altLang="ko-KR" dirty="0" smtClean="0"/>
              <a:t>MUI-BD-09-P03)</a:t>
            </a:r>
            <a:br>
              <a:rPr lang="en-US" altLang="ko-KR" dirty="0" smtClean="0"/>
            </a:br>
            <a:r>
              <a:rPr lang="en-US" altLang="ko-KR" dirty="0" smtClean="0"/>
              <a:t>- </a:t>
            </a:r>
            <a:r>
              <a:rPr lang="ko-KR" altLang="en-US" dirty="0" err="1"/>
              <a:t>평가위원별기술평가점수상세조회</a:t>
            </a:r>
            <a:r>
              <a:rPr lang="ko-KR" altLang="en-US" dirty="0"/>
              <a:t> </a:t>
            </a:r>
            <a:r>
              <a:rPr lang="en-US" altLang="ko-KR" dirty="0"/>
              <a:t>(UI-BD-09-P24</a:t>
            </a:r>
            <a:r>
              <a:rPr lang="en-US" altLang="ko-KR" dirty="0" smtClean="0"/>
              <a:t>)</a:t>
            </a:r>
            <a:br>
              <a:rPr lang="en-US" altLang="ko-KR" dirty="0" smtClean="0"/>
            </a:br>
            <a:r>
              <a:rPr lang="en-US" altLang="ko-KR" dirty="0" smtClean="0"/>
              <a:t/>
            </a:r>
            <a:br>
              <a:rPr lang="en-US" altLang="ko-KR" dirty="0" smtClean="0"/>
            </a:br>
            <a:r>
              <a:rPr lang="en-US" altLang="ko-KR" dirty="0" smtClean="0"/>
              <a:t>- </a:t>
            </a:r>
            <a:r>
              <a:rPr lang="ko-KR" altLang="en-US" dirty="0" err="1" smtClean="0"/>
              <a:t>입찰비교표</a:t>
            </a:r>
            <a:r>
              <a:rPr lang="ko-KR" altLang="en-US" dirty="0" smtClean="0"/>
              <a:t> 출력</a:t>
            </a:r>
            <a:r>
              <a:rPr lang="en-US" altLang="ko-KR" dirty="0" smtClean="0"/>
              <a:t>, </a:t>
            </a:r>
            <a:r>
              <a:rPr lang="ko-KR" altLang="en-US" dirty="0" smtClean="0"/>
              <a:t>입찰결과보고 출력</a:t>
            </a:r>
            <a:r>
              <a:rPr lang="en-US" altLang="ko-KR" dirty="0" smtClean="0"/>
              <a:t/>
            </a:r>
            <a:br>
              <a:rPr lang="en-US" altLang="ko-KR" dirty="0" smtClean="0"/>
            </a:br>
            <a:r>
              <a:rPr lang="en-US" altLang="ko-KR" dirty="0" smtClean="0"/>
              <a:t>- </a:t>
            </a:r>
            <a:r>
              <a:rPr lang="ko-KR" altLang="en-US" dirty="0" smtClean="0"/>
              <a:t>서약서 출력</a:t>
            </a:r>
            <a:r>
              <a:rPr lang="en-US" altLang="ko-KR" dirty="0" smtClean="0"/>
              <a:t/>
            </a:r>
            <a:br>
              <a:rPr lang="en-US" altLang="ko-KR" dirty="0" smtClean="0"/>
            </a:br>
            <a:r>
              <a:rPr lang="en-US" altLang="ko-KR" dirty="0" smtClean="0"/>
              <a:t>- </a:t>
            </a:r>
            <a:r>
              <a:rPr lang="ko-KR" altLang="en-US" dirty="0" smtClean="0"/>
              <a:t>견적서 출력 </a:t>
            </a:r>
            <a:r>
              <a:rPr lang="en-US" altLang="ko-KR" dirty="0" smtClean="0"/>
              <a:t>(</a:t>
            </a:r>
            <a:r>
              <a:rPr lang="ko-KR" altLang="en-US" dirty="0" err="1" smtClean="0"/>
              <a:t>수의협상인</a:t>
            </a:r>
            <a:r>
              <a:rPr lang="ko-KR" altLang="en-US" dirty="0" smtClean="0"/>
              <a:t> 경우</a:t>
            </a:r>
            <a:r>
              <a:rPr lang="en-US" altLang="ko-KR" dirty="0" smtClean="0"/>
              <a:t>)</a:t>
            </a:r>
            <a:br>
              <a:rPr lang="en-US" altLang="ko-KR" dirty="0" smtClean="0"/>
            </a:br>
            <a:r>
              <a:rPr lang="en-US" altLang="ko-KR" dirty="0" smtClean="0"/>
              <a:t>  &gt; </a:t>
            </a:r>
            <a:r>
              <a:rPr lang="ko-KR" altLang="en-US" dirty="0" smtClean="0"/>
              <a:t>각</a:t>
            </a:r>
            <a:endParaRPr lang="en-US" altLang="ko-KR" dirty="0"/>
          </a:p>
          <a:p>
            <a:pPr marL="0" indent="0">
              <a:buNone/>
            </a:pPr>
            <a:endParaRPr lang="en-US" altLang="ko-KR" dirty="0" smtClean="0"/>
          </a:p>
          <a:p>
            <a:pPr>
              <a:buFontTx/>
              <a:buChar char="-"/>
            </a:pPr>
            <a:endParaRPr lang="en-US" altLang="ko-KR"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개찰 및 낙찰 처리 후 입찰결과를 조회할 수 있는 화면이다</a:t>
            </a:r>
            <a:r>
              <a:rPr lang="en-US" altLang="ko-KR" dirty="0"/>
              <a:t>.</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MUI-BD-09-M01</a:t>
            </a:r>
            <a:endParaRPr lang="ko-KR" altLang="en-US"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64023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769705"/>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255" name="TextBox 25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335" name="그룹 334"/>
          <p:cNvGrpSpPr/>
          <p:nvPr/>
        </p:nvGrpSpPr>
        <p:grpSpPr>
          <a:xfrm>
            <a:off x="8223250" y="569392"/>
            <a:ext cx="3365500" cy="219465"/>
            <a:chOff x="8223250" y="569392"/>
            <a:chExt cx="3365500" cy="219465"/>
          </a:xfrm>
        </p:grpSpPr>
        <p:sp>
          <p:nvSpPr>
            <p:cNvPr id="336" name="직사각형 33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a:t>화면 수정</a:t>
              </a:r>
            </a:p>
          </p:txBody>
        </p:sp>
        <p:sp>
          <p:nvSpPr>
            <p:cNvPr id="337" name="직사각형 336"/>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조회 버튼 추가</a:t>
              </a:r>
              <a:r>
                <a:rPr lang="en-US" altLang="ko-KR" sz="700" dirty="0" smtClean="0"/>
                <a:t>,</a:t>
              </a:r>
              <a:endParaRPr lang="ko-KR" altLang="en-US" sz="700" dirty="0"/>
            </a:p>
          </p:txBody>
        </p:sp>
      </p:grpSp>
      <p:sp>
        <p:nvSpPr>
          <p:cNvPr id="212" name="직사각형 211">
            <a:extLst>
              <a:ext uri="{FF2B5EF4-FFF2-40B4-BE49-F238E27FC236}">
                <a16:creationId xmlns:a16="http://schemas.microsoft.com/office/drawing/2014/main" id="{F56F1743-11A0-EA94-9184-4E42C0A37F9C}"/>
              </a:ext>
            </a:extLst>
          </p:cNvPr>
          <p:cNvSpPr/>
          <p:nvPr/>
        </p:nvSpPr>
        <p:spPr>
          <a:xfrm>
            <a:off x="65127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양쪽 모서리가 둥근 사각형 212"/>
          <p:cNvSpPr/>
          <p:nvPr/>
        </p:nvSpPr>
        <p:spPr>
          <a:xfrm>
            <a:off x="648717"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14" name="모서리가 둥근 직사각형 213"/>
          <p:cNvSpPr/>
          <p:nvPr/>
        </p:nvSpPr>
        <p:spPr>
          <a:xfrm>
            <a:off x="1734730"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15" name="그룹 214"/>
          <p:cNvGrpSpPr/>
          <p:nvPr/>
        </p:nvGrpSpPr>
        <p:grpSpPr>
          <a:xfrm>
            <a:off x="3137656" y="3182696"/>
            <a:ext cx="94010" cy="94010"/>
            <a:chOff x="6812560" y="3297172"/>
            <a:chExt cx="94010" cy="94010"/>
          </a:xfrm>
        </p:grpSpPr>
        <p:cxnSp>
          <p:nvCxnSpPr>
            <p:cNvPr id="216" name="직선 연결선 2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17" name="직선 연결선 2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36" name="TextBox 235">
            <a:extLst>
              <a:ext uri="{FF2B5EF4-FFF2-40B4-BE49-F238E27FC236}">
                <a16:creationId xmlns:a16="http://schemas.microsoft.com/office/drawing/2014/main" id="{FFC49AEA-2A8F-250C-A86A-A7751D9706C3}"/>
              </a:ext>
            </a:extLst>
          </p:cNvPr>
          <p:cNvSpPr txBox="1"/>
          <p:nvPr/>
        </p:nvSpPr>
        <p:spPr>
          <a:xfrm>
            <a:off x="777794"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237" name="직선 연결선 236">
            <a:extLst>
              <a:ext uri="{FF2B5EF4-FFF2-40B4-BE49-F238E27FC236}">
                <a16:creationId xmlns:a16="http://schemas.microsoft.com/office/drawing/2014/main" id="{E9293055-D5CD-4B9E-7F64-64B2D2CA7A52}"/>
              </a:ext>
            </a:extLst>
          </p:cNvPr>
          <p:cNvCxnSpPr/>
          <p:nvPr/>
        </p:nvCxnSpPr>
        <p:spPr>
          <a:xfrm>
            <a:off x="648717"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8" name="타원 237">
            <a:extLst>
              <a:ext uri="{FF2B5EF4-FFF2-40B4-BE49-F238E27FC236}">
                <a16:creationId xmlns:a16="http://schemas.microsoft.com/office/drawing/2014/main" id="{37A7FF4F-0EAA-1463-560A-D5EC24416103}"/>
              </a:ext>
            </a:extLst>
          </p:cNvPr>
          <p:cNvSpPr/>
          <p:nvPr/>
        </p:nvSpPr>
        <p:spPr>
          <a:xfrm>
            <a:off x="605664" y="29232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1</a:t>
            </a:r>
            <a:endParaRPr lang="ko-KR" altLang="en-US" sz="900" b="1" dirty="0"/>
          </a:p>
        </p:txBody>
      </p:sp>
      <p:sp>
        <p:nvSpPr>
          <p:cNvPr id="239" name="모서리가 둥근 직사각형 40">
            <a:extLst>
              <a:ext uri="{FF2B5EF4-FFF2-40B4-BE49-F238E27FC236}">
                <a16:creationId xmlns:a16="http://schemas.microsoft.com/office/drawing/2014/main" id="{3BE5C28A-F0C3-8BA2-3AC1-EFA405ADE137}"/>
              </a:ext>
            </a:extLst>
          </p:cNvPr>
          <p:cNvSpPr/>
          <p:nvPr/>
        </p:nvSpPr>
        <p:spPr bwMode="auto">
          <a:xfrm>
            <a:off x="741020" y="3516109"/>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이행적격심사포기하기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nvGrpSpPr>
          <p:cNvPr id="247" name="그룹 246">
            <a:extLst>
              <a:ext uri="{FF2B5EF4-FFF2-40B4-BE49-F238E27FC236}">
                <a16:creationId xmlns:a16="http://schemas.microsoft.com/office/drawing/2014/main" id="{22BC05EE-C648-7CA2-4CCC-6E1C1A7E9BDA}"/>
              </a:ext>
            </a:extLst>
          </p:cNvPr>
          <p:cNvGrpSpPr/>
          <p:nvPr/>
        </p:nvGrpSpPr>
        <p:grpSpPr>
          <a:xfrm>
            <a:off x="1985606" y="5693123"/>
            <a:ext cx="76863" cy="292489"/>
            <a:chOff x="3750067" y="4683795"/>
            <a:chExt cx="76863" cy="292489"/>
          </a:xfrm>
        </p:grpSpPr>
        <p:sp>
          <p:nvSpPr>
            <p:cNvPr id="248" name="타원 247">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9" name="타원 24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50" name="타원 24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251" name="모서리가 둥근 직사각형 40">
            <a:extLst>
              <a:ext uri="{FF2B5EF4-FFF2-40B4-BE49-F238E27FC236}">
                <a16:creationId xmlns:a16="http://schemas.microsoft.com/office/drawing/2014/main" id="{3BE5C28A-F0C3-8BA2-3AC1-EFA405ADE137}"/>
              </a:ext>
            </a:extLst>
          </p:cNvPr>
          <p:cNvSpPr/>
          <p:nvPr/>
        </p:nvSpPr>
        <p:spPr bwMode="auto">
          <a:xfrm>
            <a:off x="741020" y="3813193"/>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이행적격심사신청하기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37" name="직사각형 36">
            <a:extLst>
              <a:ext uri="{FF2B5EF4-FFF2-40B4-BE49-F238E27FC236}">
                <a16:creationId xmlns:a16="http://schemas.microsoft.com/office/drawing/2014/main" id="{F56F1743-11A0-EA94-9184-4E42C0A37F9C}"/>
              </a:ext>
            </a:extLst>
          </p:cNvPr>
          <p:cNvSpPr/>
          <p:nvPr/>
        </p:nvSpPr>
        <p:spPr>
          <a:xfrm>
            <a:off x="3465973"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양쪽 모서리가 둥근 사각형 37"/>
          <p:cNvSpPr/>
          <p:nvPr/>
        </p:nvSpPr>
        <p:spPr>
          <a:xfrm>
            <a:off x="3463412"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9" name="모서리가 둥근 직사각형 38"/>
          <p:cNvSpPr/>
          <p:nvPr/>
        </p:nvSpPr>
        <p:spPr>
          <a:xfrm>
            <a:off x="4549425"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40" name="그룹 39"/>
          <p:cNvGrpSpPr/>
          <p:nvPr/>
        </p:nvGrpSpPr>
        <p:grpSpPr>
          <a:xfrm>
            <a:off x="5952351" y="3182696"/>
            <a:ext cx="94010" cy="94010"/>
            <a:chOff x="6812560" y="3297172"/>
            <a:chExt cx="94010" cy="94010"/>
          </a:xfrm>
        </p:grpSpPr>
        <p:cxnSp>
          <p:nvCxnSpPr>
            <p:cNvPr id="41" name="직선 연결선 4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42" name="직선 연결선 4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43" name="TextBox 42">
            <a:extLst>
              <a:ext uri="{FF2B5EF4-FFF2-40B4-BE49-F238E27FC236}">
                <a16:creationId xmlns:a16="http://schemas.microsoft.com/office/drawing/2014/main" id="{FFC49AEA-2A8F-250C-A86A-A7751D9706C3}"/>
              </a:ext>
            </a:extLst>
          </p:cNvPr>
          <p:cNvSpPr txBox="1"/>
          <p:nvPr/>
        </p:nvSpPr>
        <p:spPr>
          <a:xfrm>
            <a:off x="3592489"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3463412"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6" name="모서리가 둥근 직사각형 40">
            <a:extLst>
              <a:ext uri="{FF2B5EF4-FFF2-40B4-BE49-F238E27FC236}">
                <a16:creationId xmlns:a16="http://schemas.microsoft.com/office/drawing/2014/main" id="{3BE5C28A-F0C3-8BA2-3AC1-EFA405ADE137}"/>
              </a:ext>
            </a:extLst>
          </p:cNvPr>
          <p:cNvSpPr/>
          <p:nvPr/>
        </p:nvSpPr>
        <p:spPr bwMode="auto">
          <a:xfrm>
            <a:off x="3555715" y="3516109"/>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rPr>
              <a:t>이행적격심사포기조회하기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nvGrpSpPr>
          <p:cNvPr id="48" name="그룹 47">
            <a:extLst>
              <a:ext uri="{FF2B5EF4-FFF2-40B4-BE49-F238E27FC236}">
                <a16:creationId xmlns:a16="http://schemas.microsoft.com/office/drawing/2014/main" id="{22BC05EE-C648-7CA2-4CCC-6E1C1A7E9BDA}"/>
              </a:ext>
            </a:extLst>
          </p:cNvPr>
          <p:cNvGrpSpPr/>
          <p:nvPr/>
        </p:nvGrpSpPr>
        <p:grpSpPr>
          <a:xfrm>
            <a:off x="4800301" y="5693123"/>
            <a:ext cx="76863" cy="292489"/>
            <a:chOff x="3750067" y="4683795"/>
            <a:chExt cx="76863" cy="292489"/>
          </a:xfrm>
        </p:grpSpPr>
        <p:sp>
          <p:nvSpPr>
            <p:cNvPr id="49" name="타원 48">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50" name="타원 49">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51" name="타원 50">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52" name="모서리가 둥근 직사각형 40">
            <a:extLst>
              <a:ext uri="{FF2B5EF4-FFF2-40B4-BE49-F238E27FC236}">
                <a16:creationId xmlns:a16="http://schemas.microsoft.com/office/drawing/2014/main" id="{3BE5C28A-F0C3-8BA2-3AC1-EFA405ADE137}"/>
              </a:ext>
            </a:extLst>
          </p:cNvPr>
          <p:cNvSpPr/>
          <p:nvPr/>
        </p:nvSpPr>
        <p:spPr bwMode="auto">
          <a:xfrm>
            <a:off x="3555715" y="3813193"/>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rPr>
              <a:t>이행적격심사신청조회하기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3428739" y="29232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53" name="모서리가 둥근 직사각형 40">
            <a:extLst>
              <a:ext uri="{FF2B5EF4-FFF2-40B4-BE49-F238E27FC236}">
                <a16:creationId xmlns:a16="http://schemas.microsoft.com/office/drawing/2014/main" id="{3BE5C28A-F0C3-8BA2-3AC1-EFA405ADE137}"/>
              </a:ext>
            </a:extLst>
          </p:cNvPr>
          <p:cNvSpPr/>
          <p:nvPr/>
        </p:nvSpPr>
        <p:spPr bwMode="auto">
          <a:xfrm>
            <a:off x="741020" y="4110277"/>
            <a:ext cx="2522014" cy="244350"/>
          </a:xfrm>
          <a:prstGeom prst="roundRect">
            <a:avLst/>
          </a:prstGeom>
          <a:solidFill>
            <a:schemeClr val="bg1"/>
          </a:solidFill>
          <a:ln w="6350">
            <a:solidFill>
              <a:srgbClr val="0070C0"/>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r>
              <a:rPr lang="ko-KR" altLang="en-US" sz="800" dirty="0" smtClean="0">
                <a:solidFill>
                  <a:srgbClr val="0070C0"/>
                </a:solidFill>
                <a:latin typeface="맑은 고딕" panose="020B0503020000020004" pitchFamily="50" charset="-127"/>
              </a:rPr>
              <a:t>복수예비가격 조회하기</a:t>
            </a:r>
            <a:endParaRPr lang="ko-KR" altLang="en-US" sz="800" dirty="0">
              <a:solidFill>
                <a:srgbClr val="0070C0"/>
              </a:solidFill>
              <a:latin typeface="맑은 고딕" panose="020B0503020000020004" pitchFamily="50" charset="-127"/>
            </a:endParaRPr>
          </a:p>
        </p:txBody>
      </p:sp>
      <p:sp>
        <p:nvSpPr>
          <p:cNvPr id="54" name="모서리가 둥근 직사각형 40">
            <a:extLst>
              <a:ext uri="{FF2B5EF4-FFF2-40B4-BE49-F238E27FC236}">
                <a16:creationId xmlns:a16="http://schemas.microsoft.com/office/drawing/2014/main" id="{3BE5C28A-F0C3-8BA2-3AC1-EFA405ADE137}"/>
              </a:ext>
            </a:extLst>
          </p:cNvPr>
          <p:cNvSpPr/>
          <p:nvPr/>
        </p:nvSpPr>
        <p:spPr bwMode="auto">
          <a:xfrm>
            <a:off x="741020" y="4407361"/>
            <a:ext cx="2522014" cy="244350"/>
          </a:xfrm>
          <a:prstGeom prst="roundRect">
            <a:avLst/>
          </a:prstGeom>
          <a:solidFill>
            <a:schemeClr val="bg1"/>
          </a:solidFill>
          <a:ln w="6350">
            <a:solidFill>
              <a:srgbClr val="0070C0"/>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r>
              <a:rPr lang="ko-KR" altLang="en-US" sz="800" dirty="0" smtClean="0">
                <a:solidFill>
                  <a:srgbClr val="0070C0"/>
                </a:solidFill>
                <a:latin typeface="맑은 고딕" panose="020B0503020000020004" pitchFamily="50" charset="-127"/>
              </a:rPr>
              <a:t>동가낙찰결과 </a:t>
            </a:r>
            <a:r>
              <a:rPr lang="ko-KR" altLang="en-US" sz="800" dirty="0">
                <a:solidFill>
                  <a:srgbClr val="0070C0"/>
                </a:solidFill>
                <a:latin typeface="맑은 고딕" panose="020B0503020000020004" pitchFamily="50" charset="-127"/>
              </a:rPr>
              <a:t>조회하기</a:t>
            </a:r>
          </a:p>
        </p:txBody>
      </p:sp>
      <p:grpSp>
        <p:nvGrpSpPr>
          <p:cNvPr id="56" name="그룹 55"/>
          <p:cNvGrpSpPr/>
          <p:nvPr/>
        </p:nvGrpSpPr>
        <p:grpSpPr>
          <a:xfrm>
            <a:off x="8223250" y="933386"/>
            <a:ext cx="3365500" cy="451277"/>
            <a:chOff x="8223250" y="569392"/>
            <a:chExt cx="3365500" cy="451277"/>
          </a:xfrm>
        </p:grpSpPr>
        <p:sp>
          <p:nvSpPr>
            <p:cNvPr id="57" name="직사각형 56"/>
            <p:cNvSpPr/>
            <p:nvPr/>
          </p:nvSpPr>
          <p:spPr>
            <a:xfrm>
              <a:off x="8223250" y="569392"/>
              <a:ext cx="1682750" cy="2194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normAutofit fontScale="55000" lnSpcReduction="20000"/>
            </a:bodyPr>
            <a:lstStyle/>
            <a:p>
              <a:pPr algn="ctr"/>
              <a:r>
                <a:rPr lang="en-US" altLang="ko-KR" dirty="0" smtClean="0"/>
                <a:t>2026-08-13 </a:t>
              </a:r>
              <a:r>
                <a:rPr lang="ko-KR" altLang="en-US" dirty="0"/>
                <a:t>화면 수정</a:t>
              </a:r>
            </a:p>
          </p:txBody>
        </p:sp>
        <p:sp>
          <p:nvSpPr>
            <p:cNvPr id="58" name="직사각형 57"/>
            <p:cNvSpPr/>
            <p:nvPr/>
          </p:nvSpPr>
          <p:spPr>
            <a:xfrm>
              <a:off x="9906000" y="569392"/>
              <a:ext cx="1682750" cy="451277"/>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noAutofit/>
            </a:bodyPr>
            <a:lstStyle/>
            <a:p>
              <a:pPr marL="228600" indent="-228600">
                <a:buAutoNum type="arabicPeriod"/>
              </a:pPr>
              <a:r>
                <a:rPr lang="ko-KR" altLang="en-US" sz="700" dirty="0" smtClean="0"/>
                <a:t>복수예비가격</a:t>
              </a:r>
              <a:r>
                <a:rPr lang="en-US" altLang="ko-KR" sz="700" dirty="0" smtClean="0"/>
                <a:t>, </a:t>
              </a:r>
              <a:r>
                <a:rPr lang="ko-KR" altLang="en-US" sz="700" dirty="0" smtClean="0"/>
                <a:t>동가낙찰결과</a:t>
              </a:r>
              <a:r>
                <a:rPr lang="en-US" altLang="ko-KR" sz="700" dirty="0" smtClean="0"/>
                <a:t>, </a:t>
              </a:r>
              <a:r>
                <a:rPr lang="ko-KR" altLang="en-US" sz="700" dirty="0" err="1" smtClean="0"/>
                <a:t>평가위원별기술평가점수상세조회</a:t>
              </a:r>
              <a:r>
                <a:rPr lang="ko-KR" altLang="en-US" sz="700" dirty="0" smtClean="0"/>
                <a:t> 버튼</a:t>
              </a:r>
              <a:endParaRPr lang="ko-KR" altLang="en-US" sz="700" dirty="0"/>
            </a:p>
          </p:txBody>
        </p:sp>
      </p:grpSp>
      <p:sp>
        <p:nvSpPr>
          <p:cNvPr id="59" name="모서리가 둥근 직사각형 40">
            <a:extLst>
              <a:ext uri="{FF2B5EF4-FFF2-40B4-BE49-F238E27FC236}">
                <a16:creationId xmlns:a16="http://schemas.microsoft.com/office/drawing/2014/main" id="{3BE5C28A-F0C3-8BA2-3AC1-EFA405ADE137}"/>
              </a:ext>
            </a:extLst>
          </p:cNvPr>
          <p:cNvSpPr/>
          <p:nvPr/>
        </p:nvSpPr>
        <p:spPr bwMode="auto">
          <a:xfrm>
            <a:off x="3555715" y="4110277"/>
            <a:ext cx="2522014" cy="244350"/>
          </a:xfrm>
          <a:prstGeom prst="roundRect">
            <a:avLst/>
          </a:prstGeom>
          <a:solidFill>
            <a:schemeClr val="bg1"/>
          </a:solidFill>
          <a:ln w="6350">
            <a:solidFill>
              <a:srgbClr val="0070C0"/>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r>
              <a:rPr lang="ko-KR" altLang="en-US" sz="800" dirty="0" smtClean="0">
                <a:solidFill>
                  <a:srgbClr val="0070C0"/>
                </a:solidFill>
                <a:latin typeface="맑은 고딕" panose="020B0503020000020004" pitchFamily="50" charset="-127"/>
              </a:rPr>
              <a:t>복수예비가격 조회하기</a:t>
            </a:r>
            <a:endParaRPr lang="ko-KR" altLang="en-US" sz="800" dirty="0">
              <a:solidFill>
                <a:srgbClr val="0070C0"/>
              </a:solidFill>
              <a:latin typeface="맑은 고딕" panose="020B0503020000020004" pitchFamily="50" charset="-127"/>
            </a:endParaRPr>
          </a:p>
        </p:txBody>
      </p:sp>
      <p:sp>
        <p:nvSpPr>
          <p:cNvPr id="60" name="모서리가 둥근 직사각형 40">
            <a:extLst>
              <a:ext uri="{FF2B5EF4-FFF2-40B4-BE49-F238E27FC236}">
                <a16:creationId xmlns:a16="http://schemas.microsoft.com/office/drawing/2014/main" id="{3BE5C28A-F0C3-8BA2-3AC1-EFA405ADE137}"/>
              </a:ext>
            </a:extLst>
          </p:cNvPr>
          <p:cNvSpPr/>
          <p:nvPr/>
        </p:nvSpPr>
        <p:spPr bwMode="auto">
          <a:xfrm>
            <a:off x="3555715" y="4407361"/>
            <a:ext cx="2522014" cy="244350"/>
          </a:xfrm>
          <a:prstGeom prst="roundRect">
            <a:avLst/>
          </a:prstGeom>
          <a:solidFill>
            <a:schemeClr val="bg1"/>
          </a:solidFill>
          <a:ln w="6350">
            <a:solidFill>
              <a:srgbClr val="0070C0"/>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r>
              <a:rPr lang="ko-KR" altLang="en-US" sz="800" dirty="0" smtClean="0">
                <a:solidFill>
                  <a:srgbClr val="0070C0"/>
                </a:solidFill>
                <a:latin typeface="맑은 고딕" panose="020B0503020000020004" pitchFamily="50" charset="-127"/>
              </a:rPr>
              <a:t>동가낙찰결과 </a:t>
            </a:r>
            <a:r>
              <a:rPr lang="ko-KR" altLang="en-US" sz="800" dirty="0">
                <a:solidFill>
                  <a:srgbClr val="0070C0"/>
                </a:solidFill>
                <a:latin typeface="맑은 고딕" panose="020B0503020000020004" pitchFamily="50" charset="-127"/>
              </a:rPr>
              <a:t>조회하기</a:t>
            </a:r>
          </a:p>
        </p:txBody>
      </p:sp>
      <p:sp>
        <p:nvSpPr>
          <p:cNvPr id="61" name="모서리가 둥근 직사각형 40">
            <a:extLst>
              <a:ext uri="{FF2B5EF4-FFF2-40B4-BE49-F238E27FC236}">
                <a16:creationId xmlns:a16="http://schemas.microsoft.com/office/drawing/2014/main" id="{3BE5C28A-F0C3-8BA2-3AC1-EFA405ADE137}"/>
              </a:ext>
            </a:extLst>
          </p:cNvPr>
          <p:cNvSpPr/>
          <p:nvPr/>
        </p:nvSpPr>
        <p:spPr bwMode="auto">
          <a:xfrm>
            <a:off x="741020" y="4703794"/>
            <a:ext cx="2522014" cy="244350"/>
          </a:xfrm>
          <a:prstGeom prst="roundRect">
            <a:avLst/>
          </a:prstGeom>
          <a:solidFill>
            <a:schemeClr val="bg1"/>
          </a:solidFill>
          <a:ln w="6350">
            <a:solidFill>
              <a:srgbClr val="0070C0"/>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r>
              <a:rPr lang="ko-KR" altLang="en-US" sz="800" dirty="0" err="1" smtClean="0">
                <a:solidFill>
                  <a:srgbClr val="0070C0"/>
                </a:solidFill>
                <a:latin typeface="맑은 고딕" panose="020B0503020000020004" pitchFamily="50" charset="-127"/>
              </a:rPr>
              <a:t>평가위원별</a:t>
            </a:r>
            <a:r>
              <a:rPr lang="ko-KR" altLang="en-US" sz="800" dirty="0" smtClean="0">
                <a:solidFill>
                  <a:srgbClr val="0070C0"/>
                </a:solidFill>
                <a:latin typeface="맑은 고딕" panose="020B0503020000020004" pitchFamily="50" charset="-127"/>
              </a:rPr>
              <a:t> 기술평가점수상세</a:t>
            </a:r>
            <a:r>
              <a:rPr lang="en-US" altLang="ko-KR" sz="800" dirty="0" smtClean="0">
                <a:solidFill>
                  <a:srgbClr val="0070C0"/>
                </a:solidFill>
                <a:latin typeface="맑은 고딕" panose="020B0503020000020004" pitchFamily="50" charset="-127"/>
              </a:rPr>
              <a:t> </a:t>
            </a:r>
            <a:r>
              <a:rPr lang="ko-KR" altLang="en-US" sz="800" dirty="0" smtClean="0">
                <a:solidFill>
                  <a:srgbClr val="0070C0"/>
                </a:solidFill>
                <a:latin typeface="맑은 고딕" panose="020B0503020000020004" pitchFamily="50" charset="-127"/>
              </a:rPr>
              <a:t>조회하기</a:t>
            </a:r>
            <a:endParaRPr lang="ko-KR" altLang="en-US" sz="800" dirty="0">
              <a:solidFill>
                <a:srgbClr val="0070C0"/>
              </a:solidFill>
              <a:latin typeface="맑은 고딕" panose="020B0503020000020004" pitchFamily="50" charset="-127"/>
            </a:endParaRPr>
          </a:p>
        </p:txBody>
      </p:sp>
      <p:sp>
        <p:nvSpPr>
          <p:cNvPr id="62" name="모서리가 둥근 직사각형 40">
            <a:extLst>
              <a:ext uri="{FF2B5EF4-FFF2-40B4-BE49-F238E27FC236}">
                <a16:creationId xmlns:a16="http://schemas.microsoft.com/office/drawing/2014/main" id="{3BE5C28A-F0C3-8BA2-3AC1-EFA405ADE137}"/>
              </a:ext>
            </a:extLst>
          </p:cNvPr>
          <p:cNvSpPr/>
          <p:nvPr/>
        </p:nvSpPr>
        <p:spPr bwMode="auto">
          <a:xfrm>
            <a:off x="3555715" y="4703794"/>
            <a:ext cx="2522014" cy="244350"/>
          </a:xfrm>
          <a:prstGeom prst="roundRect">
            <a:avLst/>
          </a:prstGeom>
          <a:solidFill>
            <a:schemeClr val="bg1"/>
          </a:solidFill>
          <a:ln w="6350">
            <a:solidFill>
              <a:srgbClr val="0070C0"/>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r>
              <a:rPr lang="ko-KR" altLang="en-US" sz="800" dirty="0" err="1" smtClean="0">
                <a:solidFill>
                  <a:srgbClr val="0070C0"/>
                </a:solidFill>
                <a:latin typeface="맑은 고딕" panose="020B0503020000020004" pitchFamily="50" charset="-127"/>
              </a:rPr>
              <a:t>평가위원별</a:t>
            </a:r>
            <a:r>
              <a:rPr lang="ko-KR" altLang="en-US" sz="800" dirty="0" smtClean="0">
                <a:solidFill>
                  <a:srgbClr val="0070C0"/>
                </a:solidFill>
                <a:latin typeface="맑은 고딕" panose="020B0503020000020004" pitchFamily="50" charset="-127"/>
              </a:rPr>
              <a:t> 기술평가점수상세</a:t>
            </a:r>
            <a:r>
              <a:rPr lang="en-US" altLang="ko-KR" sz="800" dirty="0" smtClean="0">
                <a:solidFill>
                  <a:srgbClr val="0070C0"/>
                </a:solidFill>
                <a:latin typeface="맑은 고딕" panose="020B0503020000020004" pitchFamily="50" charset="-127"/>
              </a:rPr>
              <a:t> </a:t>
            </a:r>
            <a:r>
              <a:rPr lang="ko-KR" altLang="en-US" sz="800" dirty="0">
                <a:solidFill>
                  <a:srgbClr val="0070C0"/>
                </a:solidFill>
                <a:latin typeface="맑은 고딕" panose="020B0503020000020004" pitchFamily="50" charset="-127"/>
              </a:rPr>
              <a:t>조회하기</a:t>
            </a:r>
          </a:p>
        </p:txBody>
      </p:sp>
    </p:spTree>
    <p:extLst>
      <p:ext uri="{BB962C8B-B14F-4D97-AF65-F5344CB8AC3E}">
        <p14:creationId xmlns:p14="http://schemas.microsoft.com/office/powerpoint/2010/main" val="2116872964"/>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err="1"/>
              <a:t>공고일반</a:t>
            </a:r>
            <a:r>
              <a:rPr lang="ko-KR" altLang="en-US" dirty="0"/>
              <a:t> 정보</a:t>
            </a:r>
            <a:r>
              <a:rPr lang="en-US" altLang="ko-KR" dirty="0"/>
              <a:t> </a:t>
            </a: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입찰진행상태가 </a:t>
            </a:r>
            <a:r>
              <a:rPr lang="ko-KR" altLang="en-US" dirty="0" err="1"/>
              <a:t>개찰완료</a:t>
            </a:r>
            <a:r>
              <a:rPr lang="en-US" altLang="ko-KR" dirty="0"/>
              <a:t>, </a:t>
            </a:r>
            <a:r>
              <a:rPr lang="ko-KR" altLang="en-US" dirty="0"/>
              <a:t>유찰인 경우 입찰결과상세 </a:t>
            </a:r>
            <a:r>
              <a:rPr lang="en-US" altLang="ko-KR" dirty="0" smtClean="0"/>
              <a:t>–</a:t>
            </a:r>
            <a:r>
              <a:rPr lang="ko-KR" altLang="en-US" dirty="0" smtClean="0"/>
              <a:t>일반정보 </a:t>
            </a:r>
            <a:r>
              <a:rPr lang="ko-KR" altLang="en-US" dirty="0"/>
              <a:t>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MUI-BD-09-T01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610154"/>
            <a:ext cx="2660475" cy="4718310"/>
            <a:chOff x="701175" y="1513989"/>
            <a:chExt cx="2660475" cy="4718310"/>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1398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4308872"/>
            </a:xfrm>
            <a:prstGeom prst="rect">
              <a:avLst/>
            </a:prstGeom>
            <a:noFill/>
          </p:spPr>
          <p:txBody>
            <a:bodyPr wrap="square" lIns="0" tIns="0" rIns="0" bIns="0" rtlCol="0">
              <a:spAutoFit/>
            </a:bodyPr>
            <a:lstStyle/>
            <a:p>
              <a:pPr>
                <a:lnSpc>
                  <a:spcPct val="200000"/>
                </a:lnSpc>
              </a:pPr>
              <a:r>
                <a:rPr lang="ko-KR" altLang="en-US" sz="700" dirty="0" err="1" smtClean="0">
                  <a:latin typeface="+mn-ea"/>
                </a:rPr>
                <a:t>입찰건명</a:t>
              </a:r>
              <a:endParaRPr lang="en-US" altLang="ko-KR" sz="700" dirty="0" smtClean="0">
                <a:latin typeface="+mn-ea"/>
              </a:endParaRPr>
            </a:p>
            <a:p>
              <a:pPr>
                <a:lnSpc>
                  <a:spcPct val="200000"/>
                </a:lnSpc>
              </a:pPr>
              <a:r>
                <a:rPr lang="ko-KR" altLang="en-US" sz="700" dirty="0" err="1" smtClean="0">
                  <a:latin typeface="+mn-ea"/>
                </a:rPr>
                <a:t>공고번호</a:t>
              </a:r>
              <a:endParaRPr lang="en-US" altLang="ko-KR" sz="700" dirty="0" smtClean="0">
                <a:latin typeface="+mn-ea"/>
              </a:endParaRPr>
            </a:p>
            <a:p>
              <a:pPr>
                <a:lnSpc>
                  <a:spcPct val="200000"/>
                </a:lnSpc>
              </a:pPr>
              <a:r>
                <a:rPr lang="ko-KR" altLang="en-US" sz="700" dirty="0" err="1" smtClean="0">
                  <a:latin typeface="+mn-ea"/>
                </a:rPr>
                <a:t>판단번호</a:t>
              </a:r>
              <a:endParaRPr lang="en-US" altLang="ko-KR" sz="700" dirty="0" smtClean="0">
                <a:latin typeface="+mn-ea"/>
              </a:endParaRPr>
            </a:p>
            <a:p>
              <a:pPr>
                <a:lnSpc>
                  <a:spcPct val="200000"/>
                </a:lnSpc>
              </a:pPr>
              <a:r>
                <a:rPr lang="ko-KR" altLang="en-US" sz="700" dirty="0" smtClean="0">
                  <a:latin typeface="+mn-ea"/>
                </a:rPr>
                <a:t>발주기관</a:t>
              </a:r>
              <a:endParaRPr lang="en-US" altLang="ko-KR" sz="700" dirty="0" smtClean="0">
                <a:latin typeface="+mn-ea"/>
              </a:endParaRPr>
            </a:p>
            <a:p>
              <a:pPr>
                <a:lnSpc>
                  <a:spcPct val="200000"/>
                </a:lnSpc>
              </a:pPr>
              <a:r>
                <a:rPr lang="ko-KR" altLang="en-US" sz="700" dirty="0" smtClean="0">
                  <a:latin typeface="+mn-ea"/>
                </a:rPr>
                <a:t>통합참조번호</a:t>
              </a:r>
              <a:endParaRPr lang="en-US" altLang="ko-KR" sz="700" dirty="0" smtClean="0">
                <a:latin typeface="+mn-ea"/>
              </a:endParaRPr>
            </a:p>
            <a:p>
              <a:pPr>
                <a:lnSpc>
                  <a:spcPct val="200000"/>
                </a:lnSpc>
              </a:pPr>
              <a:r>
                <a:rPr lang="ko-KR" altLang="en-US" sz="700" dirty="0" err="1" smtClean="0">
                  <a:latin typeface="+mn-ea"/>
                </a:rPr>
                <a:t>집행유형</a:t>
              </a:r>
              <a:endParaRPr lang="en-US" altLang="ko-KR" sz="700" dirty="0" smtClean="0">
                <a:latin typeface="+mn-ea"/>
              </a:endParaRPr>
            </a:p>
            <a:p>
              <a:pPr>
                <a:lnSpc>
                  <a:spcPct val="200000"/>
                </a:lnSpc>
              </a:pPr>
              <a:r>
                <a:rPr lang="ko-KR" altLang="en-US" sz="700" dirty="0" err="1" smtClean="0">
                  <a:latin typeface="+mn-ea"/>
                </a:rPr>
                <a:t>단가제유형</a:t>
              </a:r>
              <a:endParaRPr lang="en-US" altLang="ko-KR" sz="700" dirty="0" smtClean="0">
                <a:latin typeface="+mn-ea"/>
              </a:endParaRPr>
            </a:p>
            <a:p>
              <a:pPr>
                <a:lnSpc>
                  <a:spcPct val="200000"/>
                </a:lnSpc>
              </a:pPr>
              <a:r>
                <a:rPr lang="ko-KR" altLang="en-US" sz="700" dirty="0" smtClean="0">
                  <a:latin typeface="+mn-ea"/>
                </a:rPr>
                <a:t>계약방법</a:t>
              </a:r>
              <a:endParaRPr lang="en-US" altLang="ko-KR" sz="700" dirty="0" smtClean="0">
                <a:latin typeface="+mn-ea"/>
              </a:endParaRPr>
            </a:p>
            <a:p>
              <a:pPr>
                <a:lnSpc>
                  <a:spcPct val="200000"/>
                </a:lnSpc>
              </a:pPr>
              <a:r>
                <a:rPr lang="ko-KR" altLang="en-US" sz="700" dirty="0" smtClean="0">
                  <a:latin typeface="+mn-ea"/>
                </a:rPr>
                <a:t>입찰방법</a:t>
              </a:r>
              <a:endParaRPr lang="en-US" altLang="ko-KR" sz="700" dirty="0" smtClean="0">
                <a:latin typeface="+mn-ea"/>
              </a:endParaRPr>
            </a:p>
            <a:p>
              <a:pPr>
                <a:lnSpc>
                  <a:spcPct val="200000"/>
                </a:lnSpc>
              </a:pPr>
              <a:r>
                <a:rPr lang="ko-KR" altLang="en-US" sz="700" dirty="0" smtClean="0">
                  <a:latin typeface="+mn-ea"/>
                </a:rPr>
                <a:t>낙찰자결정방법</a:t>
              </a:r>
              <a:endParaRPr lang="en-US" altLang="ko-KR" sz="700" dirty="0" smtClean="0">
                <a:latin typeface="+mn-ea"/>
              </a:endParaRPr>
            </a:p>
            <a:p>
              <a:pPr>
                <a:lnSpc>
                  <a:spcPct val="200000"/>
                </a:lnSpc>
              </a:pPr>
              <a:r>
                <a:rPr lang="ko-KR" altLang="en-US" sz="700" dirty="0" err="1" smtClean="0">
                  <a:latin typeface="+mn-ea"/>
                </a:rPr>
                <a:t>예산금액</a:t>
              </a:r>
              <a:endParaRPr lang="en-US" altLang="ko-KR" sz="700" dirty="0" smtClean="0">
                <a:latin typeface="+mn-ea"/>
              </a:endParaRPr>
            </a:p>
            <a:p>
              <a:pPr>
                <a:lnSpc>
                  <a:spcPct val="200000"/>
                </a:lnSpc>
              </a:pPr>
              <a:r>
                <a:rPr lang="ko-KR" altLang="en-US" sz="700" dirty="0" smtClean="0">
                  <a:latin typeface="+mn-ea"/>
                </a:rPr>
                <a:t>기초예가적용여부</a:t>
              </a:r>
              <a:endParaRPr lang="en-US" altLang="ko-KR" sz="700" dirty="0" smtClean="0">
                <a:latin typeface="+mn-ea"/>
              </a:endParaRPr>
            </a:p>
            <a:p>
              <a:pPr>
                <a:lnSpc>
                  <a:spcPct val="200000"/>
                </a:lnSpc>
              </a:pPr>
              <a:r>
                <a:rPr lang="ko-KR" altLang="en-US" sz="700" dirty="0" err="1" smtClean="0">
                  <a:latin typeface="+mn-ea"/>
                </a:rPr>
                <a:t>개찰일시</a:t>
              </a:r>
              <a:endParaRPr lang="en-US" altLang="ko-KR" sz="700" dirty="0" smtClean="0">
                <a:latin typeface="+mn-ea"/>
              </a:endParaRPr>
            </a:p>
            <a:p>
              <a:pPr>
                <a:lnSpc>
                  <a:spcPct val="200000"/>
                </a:lnSpc>
              </a:pPr>
              <a:r>
                <a:rPr lang="ko-KR" altLang="en-US" sz="700" dirty="0" smtClean="0">
                  <a:latin typeface="+mn-ea"/>
                </a:rPr>
                <a:t>적격심사</a:t>
              </a:r>
              <a:endParaRPr lang="en-US" altLang="ko-KR" sz="700" dirty="0" smtClean="0">
                <a:latin typeface="+mn-ea"/>
              </a:endParaRPr>
            </a:p>
            <a:p>
              <a:pPr>
                <a:lnSpc>
                  <a:spcPct val="200000"/>
                </a:lnSpc>
              </a:pPr>
              <a:r>
                <a:rPr lang="ko-KR" altLang="en-US" sz="700" dirty="0" smtClean="0">
                  <a:latin typeface="+mn-ea"/>
                </a:rPr>
                <a:t>입찰서제출마감일시</a:t>
              </a:r>
              <a:endParaRPr lang="en-US" altLang="ko-KR" sz="700" dirty="0" smtClean="0">
                <a:latin typeface="+mn-ea"/>
              </a:endParaRPr>
            </a:p>
            <a:p>
              <a:pPr>
                <a:lnSpc>
                  <a:spcPct val="200000"/>
                </a:lnSpc>
              </a:pPr>
              <a:r>
                <a:rPr lang="ko-KR" altLang="en-US" sz="700" dirty="0" smtClean="0">
                  <a:latin typeface="+mn-ea"/>
                </a:rPr>
                <a:t>등록심사시점</a:t>
              </a:r>
              <a:endParaRPr lang="en-US" altLang="ko-KR" sz="700" dirty="0" smtClean="0">
                <a:latin typeface="+mn-ea"/>
              </a:endParaRPr>
            </a:p>
            <a:p>
              <a:pPr>
                <a:lnSpc>
                  <a:spcPct val="200000"/>
                </a:lnSpc>
              </a:pPr>
              <a:r>
                <a:rPr lang="ko-KR" altLang="en-US" sz="700" dirty="0" smtClean="0">
                  <a:latin typeface="+mn-ea"/>
                </a:rPr>
                <a:t>기초예비가격</a:t>
              </a:r>
              <a:endParaRPr lang="en-US" altLang="ko-KR" sz="700" dirty="0" smtClean="0">
                <a:latin typeface="+mn-ea"/>
              </a:endParaRPr>
            </a:p>
            <a:p>
              <a:pPr lvl="0">
                <a:lnSpc>
                  <a:spcPct val="200000"/>
                </a:lnSpc>
              </a:pPr>
              <a:r>
                <a:rPr lang="ko-KR" altLang="en-US" sz="700" dirty="0" err="1" smtClean="0">
                  <a:latin typeface="+mn-ea"/>
                </a:rPr>
                <a:t>사정률</a:t>
              </a:r>
              <a:r>
                <a:rPr lang="en-US" altLang="ko-KR" sz="700" dirty="0" smtClean="0">
                  <a:latin typeface="+mn-ea"/>
                </a:rPr>
                <a:t>(%)</a:t>
              </a:r>
              <a:endParaRPr lang="ko-KR" altLang="en-US" sz="700" dirty="0" smtClean="0">
                <a:latin typeface="+mn-ea"/>
              </a:endParaRPr>
            </a:p>
            <a:p>
              <a:pPr>
                <a:lnSpc>
                  <a:spcPct val="200000"/>
                </a:lnSpc>
              </a:pPr>
              <a:r>
                <a:rPr lang="ko-KR" altLang="en-US" sz="700" dirty="0" err="1" smtClean="0">
                  <a:latin typeface="+mn-ea"/>
                </a:rPr>
                <a:t>낙찰하한율</a:t>
              </a:r>
              <a:endParaRPr lang="en-US" altLang="ko-KR" sz="700" dirty="0" smtClean="0">
                <a:latin typeface="+mn-ea"/>
              </a:endParaRPr>
            </a:p>
            <a:p>
              <a:pPr>
                <a:lnSpc>
                  <a:spcPct val="200000"/>
                </a:lnSpc>
              </a:pPr>
              <a:r>
                <a:rPr lang="ko-KR" altLang="en-US" sz="700" dirty="0" err="1" smtClean="0">
                  <a:latin typeface="+mn-ea"/>
                </a:rPr>
                <a:t>공사개요</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62110" cy="4062651"/>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lvl="0">
                <a:lnSpc>
                  <a:spcPct val="200000"/>
                </a:lnSpc>
              </a:pPr>
              <a:r>
                <a:rPr lang="en-US" altLang="ko-KR" sz="700" dirty="0">
                  <a:latin typeface="+mn-ea"/>
                </a:rPr>
                <a:t>MST0001-1</a:t>
              </a:r>
            </a:p>
            <a:p>
              <a:pPr>
                <a:lnSpc>
                  <a:spcPct val="200000"/>
                </a:lnSpc>
              </a:pPr>
              <a:r>
                <a:rPr lang="en-US" altLang="ko-KR" sz="700" dirty="0">
                  <a:latin typeface="+mn-ea"/>
                </a:rPr>
                <a:t>10000</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2025MST0001</a:t>
              </a:r>
            </a:p>
            <a:p>
              <a:pPr>
                <a:lnSpc>
                  <a:spcPct val="200000"/>
                </a:lnSpc>
              </a:pPr>
              <a:r>
                <a:rPr lang="ko-KR" altLang="en-US" sz="700" dirty="0">
                  <a:latin typeface="+mn-ea"/>
                </a:rPr>
                <a:t>구매</a:t>
              </a:r>
              <a:endParaRPr lang="en-US" altLang="ko-KR" sz="700" dirty="0">
                <a:latin typeface="+mn-ea"/>
              </a:endParaRPr>
            </a:p>
            <a:p>
              <a:pPr>
                <a:lnSpc>
                  <a:spcPct val="200000"/>
                </a:lnSpc>
              </a:pPr>
              <a:endParaRPr lang="en-US" altLang="ko-KR" sz="700" dirty="0">
                <a:latin typeface="+mn-ea"/>
              </a:endParaRP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a:lnSpc>
                  <a:spcPct val="200000"/>
                </a:lnSpc>
              </a:pPr>
              <a:r>
                <a:rPr lang="ko-KR" altLang="en-US" sz="700" dirty="0" err="1">
                  <a:latin typeface="+mn-ea"/>
                </a:rPr>
                <a:t>총액제</a:t>
              </a:r>
              <a:endParaRPr lang="en-US" altLang="ko-KR" sz="700" dirty="0">
                <a:latin typeface="+mn-ea"/>
              </a:endParaRPr>
            </a:p>
            <a:p>
              <a:pPr>
                <a:lnSpc>
                  <a:spcPct val="200000"/>
                </a:lnSpc>
              </a:pPr>
              <a:r>
                <a:rPr lang="ko-KR" altLang="en-US" sz="700" dirty="0" err="1">
                  <a:latin typeface="+mn-ea"/>
                </a:rPr>
                <a:t>최저가격제</a:t>
              </a:r>
              <a:endParaRPr lang="en-US" altLang="ko-KR" sz="700" dirty="0">
                <a:latin typeface="+mn-ea"/>
              </a:endParaRPr>
            </a:p>
            <a:p>
              <a:pPr lvl="0">
                <a:lnSpc>
                  <a:spcPct val="200000"/>
                </a:lnSpc>
              </a:pPr>
              <a:r>
                <a:rPr lang="en-US" altLang="ko-KR" sz="700" dirty="0">
                  <a:latin typeface="+mn-ea"/>
                </a:rPr>
                <a:t>100,000,000</a:t>
              </a:r>
              <a:r>
                <a:rPr lang="ko-KR" altLang="en-US" sz="700" dirty="0">
                  <a:latin typeface="+mn-ea"/>
                </a:rPr>
                <a:t>원</a:t>
              </a:r>
              <a:endParaRPr lang="en-US" altLang="ko-KR" sz="700" dirty="0">
                <a:latin typeface="+mn-ea"/>
              </a:endParaRPr>
            </a:p>
            <a:p>
              <a:pPr>
                <a:lnSpc>
                  <a:spcPct val="200000"/>
                </a:lnSpc>
              </a:pPr>
              <a:r>
                <a:rPr lang="ko-KR" altLang="en-US" sz="700" dirty="0">
                  <a:latin typeface="+mn-ea"/>
                </a:rPr>
                <a:t>적용</a:t>
              </a:r>
              <a:endParaRPr lang="en-US" altLang="ko-KR" sz="700" dirty="0">
                <a:latin typeface="+mn-ea"/>
              </a:endParaRPr>
            </a:p>
            <a:p>
              <a:pPr lvl="0">
                <a:lnSpc>
                  <a:spcPct val="200000"/>
                </a:lnSpc>
              </a:pPr>
              <a:r>
                <a:rPr lang="en-US" altLang="ko-KR" sz="700" dirty="0">
                  <a:latin typeface="+mn-ea"/>
                </a:rPr>
                <a:t>2025-12-01 10:00</a:t>
              </a:r>
            </a:p>
            <a:p>
              <a:pPr>
                <a:lnSpc>
                  <a:spcPct val="200000"/>
                </a:lnSpc>
              </a:pPr>
              <a:r>
                <a:rPr lang="ko-KR" altLang="en-US" sz="700" dirty="0">
                  <a:latin typeface="+mn-ea"/>
                </a:rPr>
                <a:t>비대상</a:t>
              </a:r>
              <a:endParaRPr lang="en-US" altLang="ko-KR" sz="700" dirty="0">
                <a:latin typeface="+mn-ea"/>
              </a:endParaRPr>
            </a:p>
            <a:p>
              <a:pPr lvl="0">
                <a:lnSpc>
                  <a:spcPct val="200000"/>
                </a:lnSpc>
              </a:pPr>
              <a:r>
                <a:rPr lang="en-US" altLang="ko-KR" sz="700" dirty="0">
                  <a:latin typeface="+mn-ea"/>
                </a:rPr>
                <a:t>2025-12-01 09:00</a:t>
              </a:r>
            </a:p>
            <a:p>
              <a:pPr>
                <a:lnSpc>
                  <a:spcPct val="200000"/>
                </a:lnSpc>
              </a:pPr>
              <a:endParaRPr lang="en-US" altLang="ko-KR" sz="700" dirty="0">
                <a:latin typeface="+mn-ea"/>
              </a:endParaRPr>
            </a:p>
            <a:p>
              <a:pPr lvl="0">
                <a:lnSpc>
                  <a:spcPct val="200000"/>
                </a:lnSpc>
              </a:pPr>
              <a:r>
                <a:rPr lang="en-US" altLang="ko-KR" sz="700" dirty="0">
                  <a:latin typeface="+mn-ea"/>
                </a:rPr>
                <a:t>98,000,000</a:t>
              </a:r>
              <a:r>
                <a:rPr lang="ko-KR" altLang="en-US" sz="700" dirty="0">
                  <a:latin typeface="+mn-ea"/>
                </a:rPr>
                <a:t>원</a:t>
              </a:r>
              <a:endParaRPr lang="en-US" altLang="ko-KR" sz="700" dirty="0">
                <a:latin typeface="+mn-ea"/>
              </a:endParaRPr>
            </a:p>
            <a:p>
              <a:pPr lvl="0">
                <a:lnSpc>
                  <a:spcPct val="200000"/>
                </a:lnSpc>
              </a:pPr>
              <a:r>
                <a:rPr lang="en-US" altLang="ko-KR" sz="700" dirty="0">
                  <a:latin typeface="+mn-ea"/>
                </a:rPr>
                <a:t>-3 ~ 3</a:t>
              </a:r>
            </a:p>
            <a:p>
              <a:pPr>
                <a:lnSpc>
                  <a:spcPct val="200000"/>
                </a:lnSpc>
              </a:pPr>
              <a:endParaRPr lang="en-US" altLang="ko-KR" sz="700" dirty="0">
                <a:latin typeface="+mn-ea"/>
              </a:endParaRPr>
            </a:p>
          </p:txBody>
        </p:sp>
        <p:grpSp>
          <p:nvGrpSpPr>
            <p:cNvPr id="17" name="그룹 16"/>
            <p:cNvGrpSpPr/>
            <p:nvPr/>
          </p:nvGrpSpPr>
          <p:grpSpPr>
            <a:xfrm>
              <a:off x="701175" y="1835481"/>
              <a:ext cx="2630093" cy="4292023"/>
              <a:chOff x="701175" y="1835481"/>
              <a:chExt cx="2630093" cy="4292023"/>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03268" y="56980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59127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6127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97" name="직사각형 196"/>
          <p:cNvSpPr/>
          <p:nvPr/>
        </p:nvSpPr>
        <p:spPr>
          <a:xfrm>
            <a:off x="3823602" y="1493785"/>
            <a:ext cx="792000" cy="28112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10664" y="1493784"/>
            <a:ext cx="893348" cy="2800767"/>
          </a:xfrm>
          <a:prstGeom prst="rect">
            <a:avLst/>
          </a:prstGeom>
          <a:noFill/>
        </p:spPr>
        <p:txBody>
          <a:bodyPr wrap="square" lIns="0" tIns="0" rIns="0" bIns="0" rtlCol="0">
            <a:spAutoFit/>
          </a:bodyPr>
          <a:lstStyle/>
          <a:p>
            <a:pPr>
              <a:lnSpc>
                <a:spcPct val="200000"/>
              </a:lnSpc>
            </a:pPr>
            <a:r>
              <a:rPr lang="ko-KR" altLang="en-US" sz="700" dirty="0">
                <a:latin typeface="+mn-ea"/>
              </a:rPr>
              <a:t>위치</a:t>
            </a:r>
            <a:endParaRPr lang="en-US" altLang="ko-KR" sz="700" dirty="0">
              <a:latin typeface="+mn-ea"/>
            </a:endParaRPr>
          </a:p>
          <a:p>
            <a:pPr>
              <a:lnSpc>
                <a:spcPct val="200000"/>
              </a:lnSpc>
            </a:pPr>
            <a:r>
              <a:rPr lang="ko-KR" altLang="en-US" sz="700" dirty="0">
                <a:latin typeface="+mn-ea"/>
              </a:rPr>
              <a:t>공사기간</a:t>
            </a:r>
            <a:endParaRPr lang="en-US" altLang="ko-KR" sz="700" dirty="0">
              <a:latin typeface="+mn-ea"/>
            </a:endParaRPr>
          </a:p>
          <a:p>
            <a:pPr lvl="0">
              <a:lnSpc>
                <a:spcPct val="200000"/>
              </a:lnSpc>
            </a:pPr>
            <a:r>
              <a:rPr lang="ko-KR" altLang="en-US" sz="700" dirty="0">
                <a:latin typeface="+mn-ea"/>
              </a:rPr>
              <a:t>예정가격 순공사원가의 </a:t>
            </a:r>
            <a:r>
              <a:rPr lang="en-US" altLang="ko-KR" sz="700" dirty="0">
                <a:latin typeface="+mn-ea"/>
              </a:rPr>
              <a:t>100</a:t>
            </a:r>
            <a:r>
              <a:rPr lang="ko-KR" altLang="en-US" sz="700" dirty="0">
                <a:latin typeface="+mn-ea"/>
              </a:rPr>
              <a:t>분의 </a:t>
            </a:r>
            <a:r>
              <a:rPr lang="en-US" altLang="ko-KR" sz="700" dirty="0">
                <a:latin typeface="+mn-ea"/>
              </a:rPr>
              <a:t>98</a:t>
            </a:r>
          </a:p>
          <a:p>
            <a:pPr>
              <a:lnSpc>
                <a:spcPct val="200000"/>
              </a:lnSpc>
            </a:pPr>
            <a:r>
              <a:rPr lang="ko-KR" altLang="en-US" sz="700" dirty="0">
                <a:latin typeface="+mn-ea"/>
              </a:rPr>
              <a:t>예정가격</a:t>
            </a:r>
            <a:endParaRPr lang="en-US" altLang="ko-KR" sz="700" dirty="0">
              <a:latin typeface="+mn-ea"/>
            </a:endParaRPr>
          </a:p>
          <a:p>
            <a:pPr>
              <a:lnSpc>
                <a:spcPct val="200000"/>
              </a:lnSpc>
            </a:pPr>
            <a:r>
              <a:rPr lang="ko-KR" altLang="en-US" sz="700" dirty="0">
                <a:latin typeface="+mn-ea"/>
              </a:rPr>
              <a:t>가격평가비중</a:t>
            </a:r>
            <a:endParaRPr lang="en-US" altLang="ko-KR" sz="700" dirty="0">
              <a:latin typeface="+mn-ea"/>
            </a:endParaRPr>
          </a:p>
          <a:p>
            <a:pPr>
              <a:lnSpc>
                <a:spcPct val="200000"/>
              </a:lnSpc>
            </a:pPr>
            <a:r>
              <a:rPr lang="ko-KR" altLang="en-US" sz="700" dirty="0">
                <a:latin typeface="+mn-ea"/>
              </a:rPr>
              <a:t>입찰결과</a:t>
            </a:r>
            <a:endParaRPr lang="en-US" altLang="ko-KR" sz="700" dirty="0">
              <a:latin typeface="+mn-ea"/>
            </a:endParaRPr>
          </a:p>
          <a:p>
            <a:pPr>
              <a:lnSpc>
                <a:spcPct val="200000"/>
              </a:lnSpc>
            </a:pPr>
            <a:r>
              <a:rPr lang="ko-KR" altLang="en-US" sz="700" dirty="0" err="1">
                <a:latin typeface="+mn-ea"/>
              </a:rPr>
              <a:t>협상형태</a:t>
            </a:r>
            <a:endParaRPr lang="en-US" altLang="ko-KR" sz="700" dirty="0">
              <a:latin typeface="+mn-ea"/>
            </a:endParaRPr>
          </a:p>
          <a:p>
            <a:pPr>
              <a:lnSpc>
                <a:spcPct val="200000"/>
              </a:lnSpc>
            </a:pPr>
            <a:r>
              <a:rPr lang="ko-KR" altLang="en-US" sz="700" dirty="0" err="1">
                <a:latin typeface="+mn-ea"/>
              </a:rPr>
              <a:t>협상장소</a:t>
            </a:r>
            <a:endParaRPr lang="en-US" altLang="ko-KR" sz="700" dirty="0">
              <a:latin typeface="+mn-ea"/>
            </a:endParaRPr>
          </a:p>
          <a:p>
            <a:pPr>
              <a:lnSpc>
                <a:spcPct val="200000"/>
              </a:lnSpc>
            </a:pPr>
            <a:r>
              <a:rPr lang="ko-KR" altLang="en-US" sz="700" dirty="0">
                <a:latin typeface="+mn-ea"/>
              </a:rPr>
              <a:t>협상결과</a:t>
            </a:r>
            <a:endParaRPr lang="en-US" altLang="ko-KR" sz="700" dirty="0">
              <a:latin typeface="+mn-ea"/>
            </a:endParaRPr>
          </a:p>
          <a:p>
            <a:pPr>
              <a:lnSpc>
                <a:spcPct val="200000"/>
              </a:lnSpc>
            </a:pPr>
            <a:r>
              <a:rPr lang="ko-KR" altLang="en-US" sz="700" dirty="0">
                <a:latin typeface="+mn-ea"/>
              </a:rPr>
              <a:t>재입찰대상구분</a:t>
            </a:r>
            <a:endParaRPr lang="en-US" altLang="ko-KR" sz="700" dirty="0">
              <a:latin typeface="+mn-ea"/>
            </a:endParaRPr>
          </a:p>
          <a:p>
            <a:pPr>
              <a:lnSpc>
                <a:spcPct val="200000"/>
              </a:lnSpc>
            </a:pPr>
            <a:r>
              <a:rPr lang="ko-KR" altLang="en-US" sz="700" dirty="0">
                <a:latin typeface="+mn-ea"/>
              </a:rPr>
              <a:t>재입찰 차수</a:t>
            </a:r>
            <a:endParaRPr lang="en-US" altLang="ko-KR" sz="700" dirty="0">
              <a:latin typeface="+mn-ea"/>
            </a:endParaRPr>
          </a:p>
          <a:p>
            <a:pPr>
              <a:lnSpc>
                <a:spcPct val="200000"/>
              </a:lnSpc>
            </a:pPr>
            <a:r>
              <a:rPr lang="ko-KR" altLang="en-US" sz="700" dirty="0" err="1">
                <a:latin typeface="+mn-ea"/>
              </a:rPr>
              <a:t>유찰사유</a:t>
            </a:r>
            <a:endParaRPr lang="en-US" altLang="ko-KR"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831880" y="1493784"/>
            <a:ext cx="1619722" cy="2800767"/>
          </a:xfrm>
          <a:prstGeom prst="rect">
            <a:avLst/>
          </a:prstGeom>
          <a:noFill/>
        </p:spPr>
        <p:txBody>
          <a:bodyPr wrap="square" lIns="0" tIns="0" rIns="0" bIns="0" rtlCol="0">
            <a:spAutoFit/>
          </a:bodyPr>
          <a:lstStyle>
            <a:defPPr>
              <a:defRPr lang="ko-KR"/>
            </a:defPPr>
            <a:lvl1pPr>
              <a:lnSpc>
                <a:spcPct val="200000"/>
              </a:lnSpc>
              <a:defRPr sz="700">
                <a:latin typeface="+mn-ea"/>
              </a:defRPr>
            </a:lvl1pPr>
          </a:lstStyle>
          <a:p>
            <a:r>
              <a:rPr lang="ko-KR" altLang="en-US" dirty="0"/>
              <a:t>서울 용산</a:t>
            </a:r>
            <a:endParaRPr lang="en-US" altLang="ko-KR" dirty="0"/>
          </a:p>
          <a:p>
            <a:endParaRPr lang="en-US" altLang="ko-KR" dirty="0"/>
          </a:p>
          <a:p>
            <a:endParaRPr lang="en-US" altLang="ko-KR" dirty="0"/>
          </a:p>
          <a:p>
            <a:endParaRPr lang="en-US" altLang="ko-KR" dirty="0"/>
          </a:p>
          <a:p>
            <a:r>
              <a:rPr lang="en-US" altLang="ko-KR" dirty="0"/>
              <a:t>98,000,000</a:t>
            </a:r>
            <a:r>
              <a:rPr lang="ko-KR" altLang="en-US" dirty="0"/>
              <a:t>원</a:t>
            </a:r>
            <a:endParaRPr lang="en-US" altLang="ko-KR" dirty="0"/>
          </a:p>
          <a:p>
            <a:endParaRPr lang="en-US" altLang="ko-KR" dirty="0"/>
          </a:p>
          <a:p>
            <a:endParaRPr lang="en-US" altLang="ko-KR" dirty="0"/>
          </a:p>
          <a:p>
            <a:r>
              <a:rPr lang="ko-KR" altLang="en-US" dirty="0" err="1"/>
              <a:t>전자협상</a:t>
            </a:r>
            <a:endParaRPr lang="en-US" altLang="ko-KR" dirty="0"/>
          </a:p>
          <a:p>
            <a:r>
              <a:rPr lang="ko-KR" altLang="en-US" dirty="0" err="1"/>
              <a:t>테스트장소</a:t>
            </a:r>
            <a:endParaRPr lang="en-US" altLang="ko-KR" dirty="0"/>
          </a:p>
          <a:p>
            <a:endParaRPr lang="en-US" altLang="ko-KR" dirty="0"/>
          </a:p>
          <a:p>
            <a:pPr lvl="0"/>
            <a:r>
              <a:rPr lang="ko-KR" altLang="en-US" dirty="0"/>
              <a:t>재입찰 대상</a:t>
            </a:r>
            <a:endParaRPr lang="en-US" altLang="ko-KR" dirty="0"/>
          </a:p>
          <a:p>
            <a:pPr lvl="0"/>
            <a:r>
              <a:rPr lang="en-US" altLang="ko-KR" dirty="0"/>
              <a:t>01 </a:t>
            </a:r>
            <a:r>
              <a:rPr lang="ko-KR" altLang="en-US" dirty="0"/>
              <a:t>차수</a:t>
            </a:r>
            <a:endParaRPr lang="en-US" altLang="ko-KR" dirty="0"/>
          </a:p>
          <a:p>
            <a:endParaRPr lang="en-US" altLang="ko-KR" dirty="0"/>
          </a:p>
        </p:txBody>
      </p:sp>
      <p:grpSp>
        <p:nvGrpSpPr>
          <p:cNvPr id="231" name="그룹 230"/>
          <p:cNvGrpSpPr/>
          <p:nvPr/>
        </p:nvGrpSpPr>
        <p:grpSpPr>
          <a:xfrm>
            <a:off x="3821509" y="1493784"/>
            <a:ext cx="2630093" cy="2811240"/>
            <a:chOff x="701175" y="1835481"/>
            <a:chExt cx="2630093" cy="281124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7" name="직선 연결선 23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03268" y="35766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37913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40061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42172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703268" y="4431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0" name="직선 연결선 249">
              <a:extLst>
                <a:ext uri="{FF2B5EF4-FFF2-40B4-BE49-F238E27FC236}">
                  <a16:creationId xmlns:a16="http://schemas.microsoft.com/office/drawing/2014/main" id="{E9293055-D5CD-4B9E-7F64-64B2D2CA7A52}"/>
                </a:ext>
              </a:extLst>
            </p:cNvPr>
            <p:cNvCxnSpPr/>
            <p:nvPr/>
          </p:nvCxnSpPr>
          <p:spPr>
            <a:xfrm>
              <a:off x="703268" y="46467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71" name="TextBox 70">
            <a:extLst>
              <a:ext uri="{FF2B5EF4-FFF2-40B4-BE49-F238E27FC236}">
                <a16:creationId xmlns:a16="http://schemas.microsoft.com/office/drawing/2014/main" id="{FFC49AEA-2A8F-250C-A86A-A7751D9706C3}"/>
              </a:ext>
            </a:extLst>
          </p:cNvPr>
          <p:cNvSpPr txBox="1"/>
          <p:nvPr/>
        </p:nvSpPr>
        <p:spPr>
          <a:xfrm>
            <a:off x="3878080" y="4537095"/>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72" name="그룹 71"/>
          <p:cNvGrpSpPr/>
          <p:nvPr/>
        </p:nvGrpSpPr>
        <p:grpSpPr>
          <a:xfrm flipV="1">
            <a:off x="6240167" y="4650426"/>
            <a:ext cx="94010" cy="47005"/>
            <a:chOff x="6812560" y="3297172"/>
            <a:chExt cx="94010" cy="47005"/>
          </a:xfrm>
        </p:grpSpPr>
        <p:cxnSp>
          <p:nvCxnSpPr>
            <p:cNvPr id="73" name="직선 연결선 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4" name="직선 연결선 7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5" name="모서리가 둥근 직사각형 74"/>
          <p:cNvSpPr/>
          <p:nvPr/>
        </p:nvSpPr>
        <p:spPr>
          <a:xfrm>
            <a:off x="3831550" y="493548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6" name="TextBox 75">
            <a:extLst>
              <a:ext uri="{FF2B5EF4-FFF2-40B4-BE49-F238E27FC236}">
                <a16:creationId xmlns:a16="http://schemas.microsoft.com/office/drawing/2014/main" id="{FFC49AEA-2A8F-250C-A86A-A7751D9706C3}"/>
              </a:ext>
            </a:extLst>
          </p:cNvPr>
          <p:cNvSpPr txBox="1"/>
          <p:nvPr/>
        </p:nvSpPr>
        <p:spPr>
          <a:xfrm>
            <a:off x="4332218" y="501000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7" name="TextBox 76">
            <a:extLst>
              <a:ext uri="{FF2B5EF4-FFF2-40B4-BE49-F238E27FC236}">
                <a16:creationId xmlns:a16="http://schemas.microsoft.com/office/drawing/2014/main" id="{FFC49AEA-2A8F-250C-A86A-A7751D9706C3}"/>
              </a:ext>
            </a:extLst>
          </p:cNvPr>
          <p:cNvSpPr txBox="1"/>
          <p:nvPr/>
        </p:nvSpPr>
        <p:spPr>
          <a:xfrm>
            <a:off x="3909746" y="506386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79" name="모서리가 둥근 직사각형 78"/>
          <p:cNvSpPr/>
          <p:nvPr/>
        </p:nvSpPr>
        <p:spPr>
          <a:xfrm>
            <a:off x="3831550" y="534216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0" name="TextBox 79">
            <a:extLst>
              <a:ext uri="{FF2B5EF4-FFF2-40B4-BE49-F238E27FC236}">
                <a16:creationId xmlns:a16="http://schemas.microsoft.com/office/drawing/2014/main" id="{FFC49AEA-2A8F-250C-A86A-A7751D9706C3}"/>
              </a:ext>
            </a:extLst>
          </p:cNvPr>
          <p:cNvSpPr txBox="1"/>
          <p:nvPr/>
        </p:nvSpPr>
        <p:spPr>
          <a:xfrm>
            <a:off x="4332218" y="541668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81" name="TextBox 80">
            <a:extLst>
              <a:ext uri="{FF2B5EF4-FFF2-40B4-BE49-F238E27FC236}">
                <a16:creationId xmlns:a16="http://schemas.microsoft.com/office/drawing/2014/main" id="{FFC49AEA-2A8F-250C-A86A-A7751D9706C3}"/>
              </a:ext>
            </a:extLst>
          </p:cNvPr>
          <p:cNvSpPr txBox="1"/>
          <p:nvPr/>
        </p:nvSpPr>
        <p:spPr>
          <a:xfrm>
            <a:off x="3909746" y="547054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cxnSp>
        <p:nvCxnSpPr>
          <p:cNvPr id="86" name="직선 연결선 85">
            <a:extLst>
              <a:ext uri="{FF2B5EF4-FFF2-40B4-BE49-F238E27FC236}">
                <a16:creationId xmlns:a16="http://schemas.microsoft.com/office/drawing/2014/main" id="{E9293055-D5CD-4B9E-7F64-64B2D2CA7A52}"/>
              </a:ext>
            </a:extLst>
          </p:cNvPr>
          <p:cNvCxnSpPr/>
          <p:nvPr/>
        </p:nvCxnSpPr>
        <p:spPr>
          <a:xfrm>
            <a:off x="3795735" y="441292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7" name="TextBox 86">
            <a:extLst>
              <a:ext uri="{FF2B5EF4-FFF2-40B4-BE49-F238E27FC236}">
                <a16:creationId xmlns:a16="http://schemas.microsoft.com/office/drawing/2014/main" id="{FFC49AEA-2A8F-250C-A86A-A7751D9706C3}"/>
              </a:ext>
            </a:extLst>
          </p:cNvPr>
          <p:cNvSpPr txBox="1"/>
          <p:nvPr/>
        </p:nvSpPr>
        <p:spPr>
          <a:xfrm>
            <a:off x="4332218" y="480036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3838314" y="480036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90" name="타원 89"/>
          <p:cNvSpPr/>
          <p:nvPr/>
        </p:nvSpPr>
        <p:spPr>
          <a:xfrm>
            <a:off x="6206587" y="504572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TextBox 90">
            <a:extLst>
              <a:ext uri="{FF2B5EF4-FFF2-40B4-BE49-F238E27FC236}">
                <a16:creationId xmlns:a16="http://schemas.microsoft.com/office/drawing/2014/main" id="{FFC49AEA-2A8F-250C-A86A-A7751D9706C3}"/>
              </a:ext>
            </a:extLst>
          </p:cNvPr>
          <p:cNvSpPr txBox="1"/>
          <p:nvPr/>
        </p:nvSpPr>
        <p:spPr>
          <a:xfrm>
            <a:off x="6116103" y="4803976"/>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93" name="타원 92"/>
          <p:cNvSpPr/>
          <p:nvPr/>
        </p:nvSpPr>
        <p:spPr>
          <a:xfrm>
            <a:off x="6206587" y="545241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4" name="그룹 93"/>
          <p:cNvGrpSpPr/>
          <p:nvPr/>
        </p:nvGrpSpPr>
        <p:grpSpPr>
          <a:xfrm>
            <a:off x="8223250" y="569392"/>
            <a:ext cx="3365500" cy="219465"/>
            <a:chOff x="8223250" y="569392"/>
            <a:chExt cx="3365500" cy="219465"/>
          </a:xfrm>
        </p:grpSpPr>
        <p:sp>
          <p:nvSpPr>
            <p:cNvPr id="95" name="직사각형 9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96" name="직사각형 95"/>
            <p:cNvSpPr/>
            <p:nvPr/>
          </p:nvSpPr>
          <p:spPr>
            <a:xfrm>
              <a:off x="9906000" y="569393"/>
              <a:ext cx="1682750" cy="21776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grpSp>
        <p:nvGrpSpPr>
          <p:cNvPr id="78" name="그룹 77"/>
          <p:cNvGrpSpPr/>
          <p:nvPr/>
        </p:nvGrpSpPr>
        <p:grpSpPr>
          <a:xfrm>
            <a:off x="8223250" y="788857"/>
            <a:ext cx="3365500" cy="219465"/>
            <a:chOff x="8223250" y="569392"/>
            <a:chExt cx="3365500" cy="219465"/>
          </a:xfrm>
        </p:grpSpPr>
        <p:sp>
          <p:nvSpPr>
            <p:cNvPr id="82" name="직사각형 81"/>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a:t>화면 수정</a:t>
              </a:r>
            </a:p>
          </p:txBody>
        </p:sp>
        <p:sp>
          <p:nvSpPr>
            <p:cNvPr id="83" name="직사각형 82"/>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조회 버튼 제거</a:t>
              </a:r>
              <a:r>
                <a:rPr lang="en-US" altLang="ko-KR" sz="700" dirty="0" smtClean="0"/>
                <a:t>,</a:t>
              </a:r>
              <a:endParaRPr lang="ko-KR" altLang="en-US" sz="700" dirty="0"/>
            </a:p>
          </p:txBody>
        </p:sp>
      </p:grpSp>
    </p:spTree>
    <p:extLst>
      <p:ext uri="{BB962C8B-B14F-4D97-AF65-F5344CB8AC3E}">
        <p14:creationId xmlns:p14="http://schemas.microsoft.com/office/powerpoint/2010/main" val="283879717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담당자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일반정보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MUI-BD-09-T01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25456" cy="215444"/>
          </a:xfrm>
          <a:prstGeom prst="rect">
            <a:avLst/>
          </a:prstGeom>
          <a:noFill/>
        </p:spPr>
        <p:txBody>
          <a:bodyPr wrap="square" lIns="0" tIns="0" rIns="0" bIns="0" rtlCol="0">
            <a:spAutoFit/>
          </a:bodyPr>
          <a:lstStyle/>
          <a:p>
            <a:pPr>
              <a:lnSpc>
                <a:spcPct val="200000"/>
              </a:lnSpc>
            </a:pPr>
            <a:r>
              <a:rPr lang="ko-KR" altLang="en-US" sz="700" dirty="0">
                <a:latin typeface="+mn-ea"/>
              </a:rPr>
              <a:t>담당자 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2" name="TextBox 81">
            <a:extLst>
              <a:ext uri="{FF2B5EF4-FFF2-40B4-BE49-F238E27FC236}">
                <a16:creationId xmlns:a16="http://schemas.microsoft.com/office/drawing/2014/main" id="{FFC49AEA-2A8F-250C-A86A-A7751D9706C3}"/>
              </a:ext>
            </a:extLst>
          </p:cNvPr>
          <p:cNvSpPr txBox="1"/>
          <p:nvPr/>
        </p:nvSpPr>
        <p:spPr>
          <a:xfrm>
            <a:off x="833510" y="1843658"/>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업무</a:t>
            </a:r>
            <a:endParaRPr lang="en-US" altLang="ko-KR" sz="600" dirty="0">
              <a:solidFill>
                <a:schemeClr val="tx1">
                  <a:lumMod val="85000"/>
                  <a:lumOff val="15000"/>
                </a:schemeClr>
              </a:solidFill>
              <a:latin typeface="맑은 고딕" panose="020B0503020000020004" pitchFamily="50" charset="-127"/>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1626518" y="1843658"/>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2539080" y="1843658"/>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sp>
        <p:nvSpPr>
          <p:cNvPr id="92" name="모서리가 둥근 직사각형 91"/>
          <p:cNvSpPr/>
          <p:nvPr/>
        </p:nvSpPr>
        <p:spPr>
          <a:xfrm>
            <a:off x="701175" y="2003750"/>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FFC49AEA-2A8F-250C-A86A-A7751D9706C3}"/>
              </a:ext>
            </a:extLst>
          </p:cNvPr>
          <p:cNvSpPr txBox="1"/>
          <p:nvPr/>
        </p:nvSpPr>
        <p:spPr>
          <a:xfrm>
            <a:off x="833510" y="2122294"/>
            <a:ext cx="493904"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구매담당</a:t>
            </a:r>
            <a:endParaRPr lang="en-US" altLang="ko-KR" sz="700" dirty="0">
              <a:solidFill>
                <a:schemeClr val="tx1">
                  <a:lumMod val="85000"/>
                  <a:lumOff val="15000"/>
                </a:schemeClr>
              </a:solidFill>
              <a:latin typeface="맑은 고딕" panose="020B0503020000020004" pitchFamily="50" charset="-127"/>
            </a:endParaRPr>
          </a:p>
        </p:txBody>
      </p:sp>
      <p:sp>
        <p:nvSpPr>
          <p:cNvPr id="95" name="TextBox 94">
            <a:extLst>
              <a:ext uri="{FF2B5EF4-FFF2-40B4-BE49-F238E27FC236}">
                <a16:creationId xmlns:a16="http://schemas.microsoft.com/office/drawing/2014/main" id="{FFC49AEA-2A8F-250C-A86A-A7751D9706C3}"/>
              </a:ext>
            </a:extLst>
          </p:cNvPr>
          <p:cNvSpPr txBox="1"/>
          <p:nvPr/>
        </p:nvSpPr>
        <p:spPr>
          <a:xfrm>
            <a:off x="1626518" y="2122294"/>
            <a:ext cx="638280"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홍길동 대령</a:t>
            </a:r>
            <a:endParaRPr lang="en-US" altLang="ko-KR" sz="700" dirty="0">
              <a:solidFill>
                <a:schemeClr val="tx1">
                  <a:lumMod val="85000"/>
                  <a:lumOff val="15000"/>
                </a:schemeClr>
              </a:solidFill>
              <a:latin typeface="맑은 고딕" panose="020B0503020000020004" pitchFamily="50" charset="-127"/>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2539080" y="2068433"/>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sp>
        <p:nvSpPr>
          <p:cNvPr id="98" name="모서리가 둥근 직사각형 97"/>
          <p:cNvSpPr/>
          <p:nvPr/>
        </p:nvSpPr>
        <p:spPr>
          <a:xfrm>
            <a:off x="701175" y="2429491"/>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33510" y="2548035"/>
            <a:ext cx="493904"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협상담당</a:t>
            </a:r>
            <a:endParaRPr lang="en-US" altLang="ko-KR" sz="700" dirty="0">
              <a:solidFill>
                <a:schemeClr val="tx1">
                  <a:lumMod val="85000"/>
                  <a:lumOff val="15000"/>
                </a:schemeClr>
              </a:solidFill>
              <a:latin typeface="맑은 고딕" panose="020B0503020000020004" pitchFamily="50" charset="-127"/>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1626517" y="2548035"/>
            <a:ext cx="734105"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홍길순 </a:t>
            </a:r>
            <a:r>
              <a:rPr lang="ko-KR" altLang="en-US" sz="700" dirty="0" err="1">
                <a:solidFill>
                  <a:schemeClr val="tx1">
                    <a:lumMod val="85000"/>
                    <a:lumOff val="15000"/>
                  </a:schemeClr>
                </a:solidFill>
                <a:latin typeface="맑은 고딕" panose="020B0503020000020004" pitchFamily="50" charset="-127"/>
              </a:rPr>
              <a:t>주무관</a:t>
            </a:r>
            <a:r>
              <a:rPr lang="en-US" altLang="ko-KR" sz="700" dirty="0">
                <a:solidFill>
                  <a:schemeClr val="tx1">
                    <a:lumMod val="85000"/>
                    <a:lumOff val="15000"/>
                  </a:schemeClr>
                </a:solidFill>
                <a:latin typeface="맑은 고딕" panose="020B0503020000020004" pitchFamily="50" charset="-127"/>
              </a:rPr>
              <a:t>(7</a:t>
            </a:r>
            <a:r>
              <a:rPr lang="ko-KR" altLang="en-US" sz="700" dirty="0">
                <a:solidFill>
                  <a:schemeClr val="tx1">
                    <a:lumMod val="85000"/>
                    <a:lumOff val="15000"/>
                  </a:schemeClr>
                </a:solidFill>
                <a:latin typeface="맑은 고딕" panose="020B0503020000020004" pitchFamily="50" charset="-127"/>
              </a:rPr>
              <a:t>급</a:t>
            </a:r>
            <a:r>
              <a:rPr lang="en-US" altLang="ko-KR" sz="700" dirty="0">
                <a:solidFill>
                  <a:schemeClr val="tx1">
                    <a:lumMod val="85000"/>
                    <a:lumOff val="15000"/>
                  </a:schemeClr>
                </a:solidFill>
                <a:latin typeface="맑은 고딕" panose="020B0503020000020004" pitchFamily="50" charset="-127"/>
              </a:rPr>
              <a:t>)</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2539080" y="2494174"/>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102" name="직선 연결선 101">
            <a:extLst>
              <a:ext uri="{FF2B5EF4-FFF2-40B4-BE49-F238E27FC236}">
                <a16:creationId xmlns:a16="http://schemas.microsoft.com/office/drawing/2014/main" id="{E9293055-D5CD-4B9E-7F64-64B2D2CA7A52}"/>
              </a:ext>
            </a:extLst>
          </p:cNvPr>
          <p:cNvCxnSpPr/>
          <p:nvPr/>
        </p:nvCxnSpPr>
        <p:spPr>
          <a:xfrm>
            <a:off x="665360" y="328237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모서리가 둥근 직사각형 102"/>
          <p:cNvSpPr/>
          <p:nvPr/>
        </p:nvSpPr>
        <p:spPr>
          <a:xfrm>
            <a:off x="701175" y="285523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833510" y="2973776"/>
            <a:ext cx="493904"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입회관</a:t>
            </a:r>
            <a:endParaRPr lang="en-US" altLang="ko-KR" sz="700" dirty="0">
              <a:solidFill>
                <a:schemeClr val="tx1">
                  <a:lumMod val="85000"/>
                  <a:lumOff val="15000"/>
                </a:schemeClr>
              </a:solidFill>
              <a:latin typeface="맑은 고딕" panose="020B0503020000020004" pitchFamily="50" charset="-127"/>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1626517" y="2973776"/>
            <a:ext cx="734105" cy="107722"/>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2539080" y="2973776"/>
            <a:ext cx="647514" cy="107722"/>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a:t>
            </a:r>
          </a:p>
        </p:txBody>
      </p:sp>
      <p:grpSp>
        <p:nvGrpSpPr>
          <p:cNvPr id="37" name="그룹 36"/>
          <p:cNvGrpSpPr/>
          <p:nvPr/>
        </p:nvGrpSpPr>
        <p:grpSpPr>
          <a:xfrm>
            <a:off x="8223250" y="569392"/>
            <a:ext cx="3365500" cy="219465"/>
            <a:chOff x="8223250" y="569392"/>
            <a:chExt cx="3365500" cy="219465"/>
          </a:xfrm>
        </p:grpSpPr>
        <p:sp>
          <p:nvSpPr>
            <p:cNvPr id="38" name="직사각형 3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39" name="직사각형 38"/>
            <p:cNvSpPr/>
            <p:nvPr/>
          </p:nvSpPr>
          <p:spPr>
            <a:xfrm>
              <a:off x="9906000" y="569393"/>
              <a:ext cx="1682750" cy="21776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grpSp>
        <p:nvGrpSpPr>
          <p:cNvPr id="33" name="그룹 32"/>
          <p:cNvGrpSpPr/>
          <p:nvPr/>
        </p:nvGrpSpPr>
        <p:grpSpPr>
          <a:xfrm>
            <a:off x="8223250" y="788857"/>
            <a:ext cx="3365500" cy="219465"/>
            <a:chOff x="8223250" y="569392"/>
            <a:chExt cx="3365500" cy="219465"/>
          </a:xfrm>
        </p:grpSpPr>
        <p:sp>
          <p:nvSpPr>
            <p:cNvPr id="34" name="직사각형 3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a:t>화면 수정</a:t>
              </a:r>
            </a:p>
          </p:txBody>
        </p:sp>
        <p:sp>
          <p:nvSpPr>
            <p:cNvPr id="35" name="직사각형 34"/>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조회 버튼 추가</a:t>
              </a:r>
              <a:r>
                <a:rPr lang="en-US" altLang="ko-KR" sz="700" dirty="0" smtClean="0"/>
                <a:t>,</a:t>
              </a:r>
              <a:endParaRPr lang="ko-KR" altLang="en-US" sz="700" dirty="0"/>
            </a:p>
          </p:txBody>
        </p:sp>
      </p:grpSp>
    </p:spTree>
    <p:extLst>
      <p:ext uri="{BB962C8B-B14F-4D97-AF65-F5344CB8AC3E}">
        <p14:creationId xmlns:p14="http://schemas.microsoft.com/office/powerpoint/2010/main" val="1136587867"/>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en-US" altLang="ko-KR" dirty="0"/>
              <a:t>10</a:t>
            </a:r>
            <a:r>
              <a:rPr lang="ko-KR" altLang="en-US" dirty="0"/>
              <a:t>개씩 노출되며</a:t>
            </a:r>
            <a:r>
              <a:rPr lang="en-US" altLang="ko-KR" dirty="0"/>
              <a:t>, </a:t>
            </a:r>
            <a:r>
              <a:rPr lang="ko-KR" altLang="en-US" dirty="0" err="1"/>
              <a:t>더보기</a:t>
            </a:r>
            <a:r>
              <a:rPr lang="ko-KR" altLang="en-US" dirty="0"/>
              <a:t> 버튼을 클릭하여 추가 로드</a:t>
            </a:r>
            <a:r>
              <a:rPr lang="en-US" altLang="ko-KR" dirty="0"/>
              <a:t/>
            </a:r>
            <a:br>
              <a:rPr lang="en-US" altLang="ko-KR" dirty="0"/>
            </a:br>
            <a:r>
              <a:rPr lang="en-US" altLang="ko-KR" dirty="0"/>
              <a:t>- 10</a:t>
            </a:r>
            <a:r>
              <a:rPr lang="ko-KR" altLang="en-US" dirty="0"/>
              <a:t>개 미만인 경우 </a:t>
            </a:r>
            <a:r>
              <a:rPr lang="ko-KR" altLang="en-US" dirty="0" err="1"/>
              <a:t>더보기</a:t>
            </a:r>
            <a:r>
              <a:rPr lang="ko-KR" altLang="en-US" dirty="0"/>
              <a:t> 버튼 숨김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err="1"/>
              <a:t>품목정보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err="1"/>
              <a:t>품목정보</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err="1"/>
              <a:t>품목정보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MUI-BD-09-T02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grpSp>
        <p:nvGrpSpPr>
          <p:cNvPr id="83" name="그룹 82"/>
          <p:cNvGrpSpPr/>
          <p:nvPr/>
        </p:nvGrpSpPr>
        <p:grpSpPr>
          <a:xfrm>
            <a:off x="701175" y="1527996"/>
            <a:ext cx="2630093" cy="2031034"/>
            <a:chOff x="701175" y="1527996"/>
            <a:chExt cx="2630093" cy="2031034"/>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품목정보</a:t>
              </a:r>
              <a:r>
                <a:rPr lang="ko-KR" altLang="en-US" sz="700" dirty="0">
                  <a:latin typeface="+mn-ea"/>
                </a:rPr>
                <a:t> </a:t>
              </a:r>
              <a:r>
                <a:rPr lang="en-US" altLang="ko-KR" sz="700" dirty="0">
                  <a:latin typeface="+mn-ea"/>
                </a:rPr>
                <a:t>– </a:t>
              </a:r>
              <a:r>
                <a:rPr lang="ko-KR" altLang="en-US" sz="700" dirty="0">
                  <a:latin typeface="+mn-ea"/>
                </a:rPr>
                <a:t>총</a:t>
              </a:r>
              <a:r>
                <a:rPr lang="en-US" altLang="ko-KR" sz="700" dirty="0">
                  <a:latin typeface="+mn-ea"/>
                </a:rPr>
                <a:t> 000</a:t>
              </a:r>
              <a:r>
                <a:rPr lang="ko-KR" altLang="en-US" sz="700" dirty="0">
                  <a:latin typeface="+mn-ea"/>
                </a:rPr>
                <a:t>건</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1"/>
              <a:ext cx="792000" cy="17179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1723549"/>
            </a:xfrm>
            <a:prstGeom prst="rect">
              <a:avLst/>
            </a:prstGeom>
            <a:noFill/>
          </p:spPr>
          <p:txBody>
            <a:bodyPr wrap="square" lIns="0" tIns="0" rIns="0" bIns="0" rtlCol="0">
              <a:spAutoFit/>
            </a:bodyPr>
            <a:lstStyle/>
            <a:p>
              <a:pPr>
                <a:lnSpc>
                  <a:spcPct val="200000"/>
                </a:lnSpc>
              </a:pPr>
              <a:r>
                <a:rPr lang="en-US" altLang="ko-KR" sz="700" dirty="0">
                  <a:latin typeface="+mn-ea"/>
                </a:rPr>
                <a:t>001</a:t>
              </a:r>
            </a:p>
            <a:p>
              <a:pPr>
                <a:lnSpc>
                  <a:spcPct val="200000"/>
                </a:lnSpc>
              </a:pPr>
              <a:r>
                <a:rPr lang="en-US" altLang="ko-KR" sz="700" dirty="0">
                  <a:latin typeface="+mn-ea"/>
                </a:rPr>
                <a:t>123-123123</a:t>
              </a:r>
            </a:p>
            <a:p>
              <a:pPr>
                <a:lnSpc>
                  <a:spcPct val="200000"/>
                </a:lnSpc>
              </a:pPr>
              <a:r>
                <a:rPr lang="ko-KR" altLang="en-US" sz="700" dirty="0" err="1">
                  <a:latin typeface="+mn-ea"/>
                </a:rPr>
                <a:t>테스트품명</a:t>
              </a:r>
              <a:endParaRPr lang="en-US" altLang="ko-KR" sz="700" dirty="0">
                <a:latin typeface="+mn-ea"/>
              </a:endParaRPr>
            </a:p>
            <a:p>
              <a:pPr>
                <a:lnSpc>
                  <a:spcPct val="200000"/>
                </a:lnSpc>
              </a:pPr>
              <a:r>
                <a:rPr lang="en-US" altLang="ko-KR" sz="700" dirty="0">
                  <a:latin typeface="+mn-ea"/>
                </a:rPr>
                <a:t>111-1111</a:t>
              </a:r>
            </a:p>
            <a:p>
              <a:pPr>
                <a:lnSpc>
                  <a:spcPct val="200000"/>
                </a:lnSpc>
              </a:pPr>
              <a:r>
                <a:rPr lang="en-US" altLang="ko-KR" sz="700" dirty="0">
                  <a:latin typeface="+mn-ea"/>
                </a:rPr>
                <a:t>EA</a:t>
              </a:r>
            </a:p>
            <a:p>
              <a:pPr algn="r">
                <a:lnSpc>
                  <a:spcPct val="200000"/>
                </a:lnSpc>
              </a:pPr>
              <a:r>
                <a:rPr lang="en-US" altLang="ko-KR" sz="700" dirty="0">
                  <a:latin typeface="+mn-ea"/>
                </a:rPr>
                <a:t>10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9,800,000.00 </a:t>
              </a:r>
              <a:r>
                <a:rPr lang="ko-KR" altLang="en-US" sz="700" dirty="0">
                  <a:latin typeface="+mn-ea"/>
                </a:rPr>
                <a:t>원</a:t>
              </a:r>
            </a:p>
          </p:txBody>
        </p:sp>
        <p:grpSp>
          <p:nvGrpSpPr>
            <p:cNvPr id="95" name="그룹 94"/>
            <p:cNvGrpSpPr/>
            <p:nvPr/>
          </p:nvGrpSpPr>
          <p:grpSpPr>
            <a:xfrm>
              <a:off x="701175" y="1835481"/>
              <a:ext cx="2630093" cy="1717920"/>
              <a:chOff x="701175" y="1835481"/>
              <a:chExt cx="2630093" cy="1717920"/>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36859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545888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20" name="사각형: 둥근 모서리 31">
            <a:extLst>
              <a:ext uri="{FF2B5EF4-FFF2-40B4-BE49-F238E27FC236}">
                <a16:creationId xmlns:a16="http://schemas.microsoft.com/office/drawing/2014/main" id="{2AC143EE-93CF-3518-F0CB-8469E98507E0}"/>
              </a:ext>
            </a:extLst>
          </p:cNvPr>
          <p:cNvSpPr/>
          <p:nvPr/>
        </p:nvSpPr>
        <p:spPr>
          <a:xfrm>
            <a:off x="808106" y="5405206"/>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21" name="그룹 120">
            <a:extLst>
              <a:ext uri="{FF2B5EF4-FFF2-40B4-BE49-F238E27FC236}">
                <a16:creationId xmlns:a16="http://schemas.microsoft.com/office/drawing/2014/main" id="{22BC05EE-C648-7CA2-4CCC-6E1C1A7E9BDA}"/>
              </a:ext>
            </a:extLst>
          </p:cNvPr>
          <p:cNvGrpSpPr/>
          <p:nvPr/>
        </p:nvGrpSpPr>
        <p:grpSpPr>
          <a:xfrm>
            <a:off x="1992981" y="4544878"/>
            <a:ext cx="76863" cy="292489"/>
            <a:chOff x="3750067" y="4683795"/>
            <a:chExt cx="76863" cy="292489"/>
          </a:xfrm>
        </p:grpSpPr>
        <p:sp>
          <p:nvSpPr>
            <p:cNvPr id="122" name="타원 1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3" name="타원 122">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42" name="그룹 41"/>
          <p:cNvGrpSpPr/>
          <p:nvPr/>
        </p:nvGrpSpPr>
        <p:grpSpPr>
          <a:xfrm>
            <a:off x="8223250" y="569392"/>
            <a:ext cx="3365500" cy="219465"/>
            <a:chOff x="8223250" y="569392"/>
            <a:chExt cx="3365500" cy="219465"/>
          </a:xfrm>
        </p:grpSpPr>
        <p:sp>
          <p:nvSpPr>
            <p:cNvPr id="43" name="직사각형 42"/>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44" name="직사각형 43"/>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
        <p:nvSpPr>
          <p:cNvPr id="38" name="직사각형 37"/>
          <p:cNvSpPr/>
          <p:nvPr/>
        </p:nvSpPr>
        <p:spPr>
          <a:xfrm>
            <a:off x="8223250" y="77691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a:t>화면 수정</a:t>
            </a:r>
          </a:p>
        </p:txBody>
      </p:sp>
      <p:sp>
        <p:nvSpPr>
          <p:cNvPr id="39" name="직사각형 38"/>
          <p:cNvSpPr/>
          <p:nvPr/>
        </p:nvSpPr>
        <p:spPr>
          <a:xfrm>
            <a:off x="9906000" y="77691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조회 버튼 제거</a:t>
            </a:r>
            <a:endParaRPr lang="ko-KR" altLang="en-US" sz="700" dirty="0"/>
          </a:p>
        </p:txBody>
      </p:sp>
    </p:spTree>
    <p:extLst>
      <p:ext uri="{BB962C8B-B14F-4D97-AF65-F5344CB8AC3E}">
        <p14:creationId xmlns:p14="http://schemas.microsoft.com/office/powerpoint/2010/main" val="3492071433"/>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기업명으로 검색 </a:t>
            </a:r>
            <a:r>
              <a:rPr lang="ko-KR" altLang="en-US" dirty="0" smtClean="0"/>
              <a:t>기능</a:t>
            </a:r>
            <a:r>
              <a:rPr lang="en-US" altLang="ko-KR" dirty="0" smtClean="0"/>
              <a:t/>
            </a:r>
            <a:br>
              <a:rPr lang="en-US" altLang="ko-KR" dirty="0" smtClean="0"/>
            </a:br>
            <a:r>
              <a:rPr lang="en-US" altLang="ko-KR" dirty="0" smtClean="0"/>
              <a:t>- X </a:t>
            </a:r>
            <a:r>
              <a:rPr lang="ko-KR" altLang="en-US" dirty="0" smtClean="0"/>
              <a:t>버튼으로 입력 초기화</a:t>
            </a:r>
            <a:endParaRPr lang="en-US" altLang="ko-KR" dirty="0" smtClean="0"/>
          </a:p>
          <a:p>
            <a:pPr marL="228600" indent="-228600">
              <a:buFont typeface="+mj-ea"/>
              <a:buAutoNum type="arabicPeriod"/>
            </a:pPr>
            <a:r>
              <a:rPr lang="ko-KR" altLang="en-US" dirty="0" smtClean="0"/>
              <a:t>입찰 </a:t>
            </a:r>
            <a:r>
              <a:rPr lang="ko-KR" altLang="en-US" dirty="0"/>
              <a:t>결과 정보 </a:t>
            </a:r>
            <a:r>
              <a:rPr lang="ko-KR" altLang="en-US" dirty="0" smtClean="0"/>
              <a:t>표시</a:t>
            </a:r>
            <a:r>
              <a:rPr lang="en-US" altLang="ko-KR" dirty="0"/>
              <a:t/>
            </a:r>
            <a:br>
              <a:rPr lang="en-US" altLang="ko-KR" dirty="0"/>
            </a:br>
            <a:r>
              <a:rPr lang="en-US" altLang="ko-KR" dirty="0" smtClean="0"/>
              <a:t>- </a:t>
            </a:r>
            <a:r>
              <a:rPr lang="ko-KR" altLang="en-US" dirty="0" smtClean="0"/>
              <a:t>입찰에 참여한 모든 기업의 입찰정보를 노출함</a:t>
            </a:r>
            <a:r>
              <a:rPr lang="en-US" altLang="ko-KR" dirty="0" smtClean="0"/>
              <a:t>.|</a:t>
            </a:r>
            <a:br>
              <a:rPr lang="en-US" altLang="ko-KR" dirty="0" smtClean="0"/>
            </a:br>
            <a:r>
              <a:rPr lang="en-US" altLang="ko-KR" dirty="0" smtClean="0"/>
              <a:t>- </a:t>
            </a:r>
            <a:r>
              <a:rPr lang="ko-KR" altLang="en-US" dirty="0" smtClean="0"/>
              <a:t>물품</a:t>
            </a:r>
            <a:r>
              <a:rPr lang="en-US" altLang="ko-KR" dirty="0" smtClean="0"/>
              <a:t>, </a:t>
            </a:r>
            <a:r>
              <a:rPr lang="ko-KR" altLang="en-US" dirty="0" smtClean="0"/>
              <a:t>용역</a:t>
            </a:r>
            <a:r>
              <a:rPr lang="en-US" altLang="ko-KR" dirty="0" smtClean="0"/>
              <a:t>, </a:t>
            </a:r>
            <a:r>
              <a:rPr lang="ko-KR" altLang="en-US" dirty="0" smtClean="0"/>
              <a:t>공사</a:t>
            </a:r>
            <a:r>
              <a:rPr lang="en-US" altLang="ko-KR" dirty="0" smtClean="0"/>
              <a:t>, </a:t>
            </a:r>
            <a:r>
              <a:rPr lang="ko-KR" altLang="en-US" dirty="0" smtClean="0"/>
              <a:t>국외에 따라 </a:t>
            </a:r>
            <a:r>
              <a:rPr lang="ko-KR" altLang="en-US" dirty="0" err="1" smtClean="0"/>
              <a:t>노출항목이</a:t>
            </a:r>
            <a:r>
              <a:rPr lang="ko-KR" altLang="en-US" dirty="0" smtClean="0"/>
              <a:t> 변경되며</a:t>
            </a:r>
            <a:r>
              <a:rPr lang="en-US" altLang="ko-KR" dirty="0" smtClean="0"/>
              <a:t>, </a:t>
            </a:r>
            <a:r>
              <a:rPr lang="ko-KR" altLang="en-US" dirty="0" err="1" smtClean="0">
                <a:solidFill>
                  <a:srgbClr val="FF0000"/>
                </a:solidFill>
              </a:rPr>
              <a:t>항목정보를</a:t>
            </a:r>
            <a:r>
              <a:rPr lang="ko-KR" altLang="en-US" dirty="0" smtClean="0">
                <a:solidFill>
                  <a:srgbClr val="FF0000"/>
                </a:solidFill>
              </a:rPr>
              <a:t> 참조</a:t>
            </a:r>
            <a:endParaRPr lang="en-US" altLang="ko-KR" dirty="0" smtClean="0">
              <a:solidFill>
                <a:srgbClr val="FF0000"/>
              </a:solidFill>
            </a:endParaRPr>
          </a:p>
          <a:p>
            <a:pPr marL="228600" indent="-228600">
              <a:buFont typeface="+mj-ea"/>
              <a:buAutoNum type="arabicPeriod"/>
            </a:pPr>
            <a:endParaRPr lang="en-US" altLang="ko-KR" dirty="0" smtClean="0"/>
          </a:p>
          <a:p>
            <a:pPr marL="228600" indent="-228600">
              <a:buFont typeface="+mj-ea"/>
              <a:buAutoNum type="arabicPeriod"/>
            </a:pPr>
            <a:r>
              <a:rPr lang="en-US" altLang="ko-KR" dirty="0" smtClean="0">
                <a:solidFill>
                  <a:srgbClr val="FF0000"/>
                </a:solidFill>
              </a:rPr>
              <a:t>[0818 </a:t>
            </a:r>
            <a:r>
              <a:rPr lang="ko-KR" altLang="en-US" dirty="0" smtClean="0">
                <a:solidFill>
                  <a:srgbClr val="FF0000"/>
                </a:solidFill>
              </a:rPr>
              <a:t>추가</a:t>
            </a:r>
            <a:r>
              <a:rPr lang="en-US" altLang="ko-KR" dirty="0" smtClean="0">
                <a:solidFill>
                  <a:srgbClr val="FF0000"/>
                </a:solidFill>
              </a:rPr>
              <a:t>] </a:t>
            </a:r>
            <a:r>
              <a:rPr lang="ko-KR" altLang="en-US" dirty="0" smtClean="0"/>
              <a:t>업체정보 </a:t>
            </a:r>
            <a:r>
              <a:rPr lang="en-US" altLang="ko-KR" dirty="0"/>
              <a:t>(MUI-OP-01-P77)</a:t>
            </a:r>
            <a:r>
              <a:rPr lang="ko-KR" altLang="en-US" dirty="0" smtClean="0"/>
              <a:t> </a:t>
            </a:r>
            <a:r>
              <a:rPr lang="ko-KR" altLang="en-US" dirty="0" err="1" smtClean="0"/>
              <a:t>바텀시트</a:t>
            </a:r>
            <a:r>
              <a:rPr lang="ko-KR" altLang="en-US" dirty="0" smtClean="0"/>
              <a:t> 호출</a:t>
            </a:r>
            <a:endParaRPr lang="en-US" altLang="ko-KR" dirty="0" smtClean="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입찰결과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입찰결과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입찰결과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MUI-BD-09-T03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04205"/>
            <a:ext cx="2850142" cy="4828921"/>
            <a:chOff x="701175" y="1269712"/>
            <a:chExt cx="2850142" cy="4828921"/>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269712"/>
              <a:ext cx="1421496" cy="181140"/>
            </a:xfrm>
            <a:prstGeom prst="rect">
              <a:avLst/>
            </a:prstGeom>
            <a:noFill/>
          </p:spPr>
          <p:txBody>
            <a:bodyPr wrap="square" lIns="0" tIns="0" rIns="0" bIns="0" rtlCol="0">
              <a:spAutoFit/>
            </a:bodyPr>
            <a:lstStyle/>
            <a:p>
              <a:pPr>
                <a:lnSpc>
                  <a:spcPct val="200000"/>
                </a:lnSpc>
              </a:pPr>
              <a:r>
                <a:rPr lang="ko-KR" altLang="en-US" sz="700" dirty="0">
                  <a:latin typeface="+mn-ea"/>
                </a:rPr>
                <a:t>입찰결과</a:t>
              </a:r>
            </a:p>
          </p:txBody>
        </p:sp>
        <p:cxnSp>
          <p:nvCxnSpPr>
            <p:cNvPr id="158" name="직선 연결선 157"/>
            <p:cNvCxnSpPr/>
            <p:nvPr/>
          </p:nvCxnSpPr>
          <p:spPr>
            <a:xfrm flipV="1">
              <a:off x="3124233" y="1641327"/>
              <a:ext cx="47005" cy="47005"/>
            </a:xfrm>
            <a:prstGeom prst="line">
              <a:avLst/>
            </a:prstGeom>
          </p:spPr>
          <p:style>
            <a:lnRef idx="1">
              <a:schemeClr val="dk1"/>
            </a:lnRef>
            <a:fillRef idx="0">
              <a:schemeClr val="dk1"/>
            </a:fillRef>
            <a:effectRef idx="0">
              <a:schemeClr val="dk1"/>
            </a:effectRef>
            <a:fontRef idx="minor">
              <a:schemeClr val="tx1"/>
            </a:fontRef>
          </p:style>
        </p:cxnSp>
        <p:sp>
          <p:nvSpPr>
            <p:cNvPr id="160" name="직사각형 159"/>
            <p:cNvSpPr/>
            <p:nvPr/>
          </p:nvSpPr>
          <p:spPr>
            <a:xfrm>
              <a:off x="703267" y="1835480"/>
              <a:ext cx="956938" cy="42565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789761"/>
              <a:ext cx="819868" cy="4308872"/>
            </a:xfrm>
            <a:prstGeom prst="rect">
              <a:avLst/>
            </a:prstGeom>
            <a:noFill/>
          </p:spPr>
          <p:txBody>
            <a:bodyPr wrap="square" lIns="0" tIns="0" rIns="0" bIns="0" rtlCol="0">
              <a:spAutoFit/>
            </a:bodyPr>
            <a:lstStyle/>
            <a:p>
              <a:pPr fontAlgn="ctr">
                <a:lnSpc>
                  <a:spcPct val="200000"/>
                </a:lnSpc>
              </a:pPr>
              <a:r>
                <a:rPr lang="ko-KR" altLang="ko-KR" sz="700" dirty="0"/>
                <a:t>순번</a:t>
              </a:r>
            </a:p>
            <a:p>
              <a:pPr fontAlgn="ctr">
                <a:lnSpc>
                  <a:spcPct val="200000"/>
                </a:lnSpc>
              </a:pPr>
              <a:r>
                <a:rPr lang="ko-KR" altLang="ko-KR" sz="700" dirty="0"/>
                <a:t>차수</a:t>
              </a:r>
            </a:p>
            <a:p>
              <a:pPr fontAlgn="ctr">
                <a:lnSpc>
                  <a:spcPct val="200000"/>
                </a:lnSpc>
              </a:pPr>
              <a:r>
                <a:rPr lang="ko-KR" altLang="ko-KR" sz="700" dirty="0" err="1"/>
                <a:t>업체코드</a:t>
              </a:r>
              <a:endParaRPr lang="ko-KR" altLang="ko-KR" sz="700" dirty="0"/>
            </a:p>
            <a:p>
              <a:pPr fontAlgn="ctr">
                <a:lnSpc>
                  <a:spcPct val="200000"/>
                </a:lnSpc>
              </a:pPr>
              <a:r>
                <a:rPr lang="ko-KR" altLang="ko-KR" sz="700" dirty="0"/>
                <a:t>사업자등록번호</a:t>
              </a:r>
            </a:p>
            <a:p>
              <a:pPr fontAlgn="ctr">
                <a:lnSpc>
                  <a:spcPct val="200000"/>
                </a:lnSpc>
              </a:pPr>
              <a:r>
                <a:rPr lang="ko-KR" altLang="ko-KR" sz="700" dirty="0" err="1"/>
                <a:t>업체명</a:t>
              </a:r>
              <a:endParaRPr lang="ko-KR" altLang="ko-KR" sz="700" dirty="0"/>
            </a:p>
            <a:p>
              <a:pPr fontAlgn="ctr">
                <a:lnSpc>
                  <a:spcPct val="200000"/>
                </a:lnSpc>
              </a:pPr>
              <a:r>
                <a:rPr lang="ko-KR" altLang="ko-KR" sz="700" dirty="0"/>
                <a:t>대표자</a:t>
              </a:r>
            </a:p>
            <a:p>
              <a:pPr fontAlgn="ctr">
                <a:lnSpc>
                  <a:spcPct val="200000"/>
                </a:lnSpc>
              </a:pPr>
              <a:r>
                <a:rPr lang="ko-KR" altLang="ko-KR" sz="700" dirty="0"/>
                <a:t>기술점수</a:t>
              </a:r>
            </a:p>
            <a:p>
              <a:pPr fontAlgn="ctr">
                <a:lnSpc>
                  <a:spcPct val="200000"/>
                </a:lnSpc>
              </a:pPr>
              <a:r>
                <a:rPr lang="ko-KR" altLang="ko-KR" sz="700" dirty="0" err="1"/>
                <a:t>투찰금액</a:t>
              </a:r>
              <a:endParaRPr lang="ko-KR" altLang="ko-KR" sz="700" dirty="0"/>
            </a:p>
            <a:p>
              <a:pPr fontAlgn="ctr">
                <a:lnSpc>
                  <a:spcPct val="200000"/>
                </a:lnSpc>
              </a:pPr>
              <a:r>
                <a:rPr lang="ko-KR" altLang="ko-KR" sz="700" dirty="0" err="1"/>
                <a:t>투찰수량</a:t>
              </a:r>
              <a:endParaRPr lang="ko-KR" altLang="ko-KR" sz="700" dirty="0"/>
            </a:p>
            <a:p>
              <a:pPr fontAlgn="ctr">
                <a:lnSpc>
                  <a:spcPct val="200000"/>
                </a:lnSpc>
              </a:pPr>
              <a:r>
                <a:rPr lang="ko-KR" altLang="ko-KR" sz="700" dirty="0" err="1"/>
                <a:t>낙찰수량</a:t>
              </a:r>
              <a:endParaRPr lang="ko-KR" altLang="ko-KR" sz="700" dirty="0"/>
            </a:p>
            <a:p>
              <a:pPr fontAlgn="ctr">
                <a:lnSpc>
                  <a:spcPct val="200000"/>
                </a:lnSpc>
              </a:pPr>
              <a:r>
                <a:rPr lang="ko-KR" altLang="ko-KR" sz="700" dirty="0" err="1"/>
                <a:t>투찰률</a:t>
              </a:r>
              <a:endParaRPr lang="ko-KR" altLang="ko-KR" sz="700" dirty="0"/>
            </a:p>
            <a:p>
              <a:pPr fontAlgn="ctr">
                <a:lnSpc>
                  <a:spcPct val="200000"/>
                </a:lnSpc>
              </a:pPr>
              <a:r>
                <a:rPr lang="en-US" altLang="ko-KR" sz="700" dirty="0"/>
                <a:t>(</a:t>
              </a:r>
              <a:r>
                <a:rPr lang="ko-KR" altLang="ko-KR" sz="700" dirty="0"/>
                <a:t>입찰가격</a:t>
              </a:r>
              <a:r>
                <a:rPr lang="en-US" altLang="ko-KR" sz="700" dirty="0"/>
                <a:t>-A)/(</a:t>
              </a:r>
              <a:r>
                <a:rPr lang="ko-KR" altLang="ko-KR" sz="700" dirty="0"/>
                <a:t>예정가격</a:t>
              </a:r>
              <a:r>
                <a:rPr lang="en-US" altLang="ko-KR" sz="700" dirty="0"/>
                <a:t>-A)*100</a:t>
              </a:r>
              <a:endParaRPr lang="ko-KR" altLang="ko-KR" sz="700" dirty="0"/>
            </a:p>
            <a:p>
              <a:pPr fontAlgn="ctr">
                <a:lnSpc>
                  <a:spcPct val="200000"/>
                </a:lnSpc>
              </a:pPr>
              <a:r>
                <a:rPr lang="ko-KR" altLang="ko-KR" sz="700" dirty="0" err="1"/>
                <a:t>투찰금액</a:t>
              </a:r>
              <a:r>
                <a:rPr lang="en-US" altLang="ko-KR" sz="700" dirty="0"/>
                <a:t>/</a:t>
              </a:r>
              <a:r>
                <a:rPr lang="ko-KR" altLang="ko-KR" sz="700" dirty="0"/>
                <a:t>기술점수</a:t>
              </a:r>
            </a:p>
            <a:p>
              <a:pPr fontAlgn="ctr">
                <a:lnSpc>
                  <a:spcPct val="200000"/>
                </a:lnSpc>
              </a:pPr>
              <a:r>
                <a:rPr lang="ko-KR" altLang="ko-KR" sz="700" dirty="0" err="1"/>
                <a:t>가격점수</a:t>
              </a:r>
              <a:endParaRPr lang="ko-KR" altLang="ko-KR" sz="700" dirty="0"/>
            </a:p>
            <a:p>
              <a:pPr fontAlgn="ctr">
                <a:lnSpc>
                  <a:spcPct val="200000"/>
                </a:lnSpc>
              </a:pPr>
              <a:r>
                <a:rPr lang="ko-KR" altLang="ko-KR" sz="700" dirty="0"/>
                <a:t>중소기업가점</a:t>
              </a:r>
            </a:p>
            <a:p>
              <a:pPr fontAlgn="ctr">
                <a:lnSpc>
                  <a:spcPct val="200000"/>
                </a:lnSpc>
              </a:pPr>
              <a:r>
                <a:rPr lang="ko-KR" altLang="ko-KR" sz="700" dirty="0" err="1"/>
                <a:t>합계점수</a:t>
              </a:r>
              <a:endParaRPr lang="ko-KR" altLang="ko-KR" sz="700" dirty="0"/>
            </a:p>
            <a:p>
              <a:pPr fontAlgn="ctr">
                <a:lnSpc>
                  <a:spcPct val="200000"/>
                </a:lnSpc>
              </a:pPr>
              <a:r>
                <a:rPr lang="ko-KR" altLang="ko-KR" sz="700" dirty="0" smtClean="0"/>
                <a:t>입찰금액평가점수</a:t>
              </a:r>
              <a:endParaRPr lang="en-US" altLang="ko-KR" sz="700" dirty="0" smtClean="0"/>
            </a:p>
            <a:p>
              <a:pPr fontAlgn="ctr">
                <a:lnSpc>
                  <a:spcPct val="200000"/>
                </a:lnSpc>
              </a:pPr>
              <a:r>
                <a:rPr lang="ko-KR" altLang="ko-KR" sz="700" dirty="0" smtClean="0"/>
                <a:t>공사수행평가점수</a:t>
              </a:r>
              <a:endParaRPr lang="ko-KR" altLang="ko-KR" sz="700" dirty="0"/>
            </a:p>
            <a:p>
              <a:pPr fontAlgn="ctr">
                <a:lnSpc>
                  <a:spcPct val="200000"/>
                </a:lnSpc>
              </a:pPr>
              <a:r>
                <a:rPr lang="ko-KR" altLang="ko-KR" sz="700" dirty="0" smtClean="0"/>
                <a:t>설계점수</a:t>
              </a:r>
              <a:endParaRPr lang="ko-KR" altLang="ko-KR" sz="700" dirty="0"/>
            </a:p>
          </p:txBody>
        </p:sp>
        <p:sp>
          <p:nvSpPr>
            <p:cNvPr id="163" name="TextBox 162">
              <a:extLst>
                <a:ext uri="{FF2B5EF4-FFF2-40B4-BE49-F238E27FC236}">
                  <a16:creationId xmlns:a16="http://schemas.microsoft.com/office/drawing/2014/main" id="{FFC49AEA-2A8F-250C-A86A-A7751D9706C3}"/>
                </a:ext>
              </a:extLst>
            </p:cNvPr>
            <p:cNvSpPr txBox="1"/>
            <p:nvPr/>
          </p:nvSpPr>
          <p:spPr>
            <a:xfrm>
              <a:off x="1789207" y="1835481"/>
              <a:ext cx="1762110"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01</a:t>
              </a:r>
            </a:p>
            <a:p>
              <a:pPr>
                <a:lnSpc>
                  <a:spcPct val="200000"/>
                </a:lnSpc>
              </a:pPr>
              <a:r>
                <a:rPr lang="en-US" altLang="ko-KR" sz="700" dirty="0">
                  <a:latin typeface="+mn-ea"/>
                </a:rPr>
                <a:t>123</a:t>
              </a:r>
            </a:p>
            <a:p>
              <a:pPr>
                <a:lnSpc>
                  <a:spcPct val="200000"/>
                </a:lnSpc>
              </a:pPr>
              <a:r>
                <a:rPr lang="en-US" altLang="ko-KR" sz="700" dirty="0">
                  <a:latin typeface="+mn-ea"/>
                </a:rPr>
                <a:t>111-11-11111</a:t>
              </a:r>
            </a:p>
            <a:p>
              <a:pPr>
                <a:lnSpc>
                  <a:spcPct val="200000"/>
                </a:lnSpc>
              </a:pPr>
              <a:r>
                <a:rPr lang="ko-KR" altLang="en-US" sz="700" u="sng" dirty="0">
                  <a:solidFill>
                    <a:srgbClr val="0070C0"/>
                  </a:solidFill>
                  <a:latin typeface="+mn-ea"/>
                </a:rPr>
                <a:t>테스트</a:t>
              </a:r>
              <a:endParaRPr lang="en-US" altLang="ko-KR" sz="700" u="sng" dirty="0">
                <a:solidFill>
                  <a:srgbClr val="0070C0"/>
                </a:solidFill>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a:t>
              </a:r>
              <a:r>
                <a:rPr lang="ko-KR" altLang="en-US" sz="700" dirty="0">
                  <a:latin typeface="+mn-ea"/>
                </a:rPr>
                <a:t>순위</a:t>
              </a:r>
              <a:endParaRPr lang="en-US" altLang="ko-KR" sz="700" dirty="0">
                <a:latin typeface="+mn-ea"/>
              </a:endParaRPr>
            </a:p>
          </p:txBody>
        </p:sp>
        <p:grpSp>
          <p:nvGrpSpPr>
            <p:cNvPr id="17" name="그룹 16"/>
            <p:cNvGrpSpPr/>
            <p:nvPr/>
          </p:nvGrpSpPr>
          <p:grpSpPr>
            <a:xfrm>
              <a:off x="701175" y="1835481"/>
              <a:ext cx="2630093" cy="4052400"/>
              <a:chOff x="701175" y="1835481"/>
              <a:chExt cx="2630093" cy="405240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905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03268" y="42038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9" name="직선 연결선 78">
                <a:extLst>
                  <a:ext uri="{FF2B5EF4-FFF2-40B4-BE49-F238E27FC236}">
                    <a16:creationId xmlns:a16="http://schemas.microsoft.com/office/drawing/2014/main" id="{E9293055-D5CD-4B9E-7F64-64B2D2CA7A52}"/>
                  </a:ext>
                </a:extLst>
              </p:cNvPr>
              <p:cNvCxnSpPr/>
              <p:nvPr/>
            </p:nvCxnSpPr>
            <p:spPr>
              <a:xfrm>
                <a:off x="703268" y="46458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703268" y="48439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03268" y="50573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03268" y="52554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54611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56745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703268" y="5887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83" name="사각형: 둥근 모서리 15">
            <a:extLst>
              <a:ext uri="{FF2B5EF4-FFF2-40B4-BE49-F238E27FC236}">
                <a16:creationId xmlns:a16="http://schemas.microsoft.com/office/drawing/2014/main" id="{E2B61CFB-AD16-68D0-8752-50D9C5E01971}"/>
              </a:ext>
            </a:extLst>
          </p:cNvPr>
          <p:cNvSpPr/>
          <p:nvPr/>
        </p:nvSpPr>
        <p:spPr>
          <a:xfrm>
            <a:off x="2832796" y="2958725"/>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grpSp>
        <p:nvGrpSpPr>
          <p:cNvPr id="46" name="그룹 45"/>
          <p:cNvGrpSpPr/>
          <p:nvPr/>
        </p:nvGrpSpPr>
        <p:grpSpPr>
          <a:xfrm>
            <a:off x="8223250" y="569392"/>
            <a:ext cx="3365500" cy="219465"/>
            <a:chOff x="8223250" y="569392"/>
            <a:chExt cx="3365500" cy="219465"/>
          </a:xfrm>
        </p:grpSpPr>
        <p:sp>
          <p:nvSpPr>
            <p:cNvPr id="47" name="직사각형 4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48" name="직사각형 47"/>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
        <p:nvSpPr>
          <p:cNvPr id="44" name="직사각형 43">
            <a:extLst>
              <a:ext uri="{FF2B5EF4-FFF2-40B4-BE49-F238E27FC236}">
                <a16:creationId xmlns:a16="http://schemas.microsoft.com/office/drawing/2014/main" id="{F56F1743-11A0-EA94-9184-4E42C0A37F9C}"/>
              </a:ext>
            </a:extLst>
          </p:cNvPr>
          <p:cNvSpPr/>
          <p:nvPr/>
        </p:nvSpPr>
        <p:spPr>
          <a:xfrm>
            <a:off x="3552363"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직사각형 51"/>
          <p:cNvSpPr/>
          <p:nvPr/>
        </p:nvSpPr>
        <p:spPr>
          <a:xfrm>
            <a:off x="3580231" y="1504205"/>
            <a:ext cx="1124777" cy="27798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TextBox 52">
            <a:extLst>
              <a:ext uri="{FF2B5EF4-FFF2-40B4-BE49-F238E27FC236}">
                <a16:creationId xmlns:a16="http://schemas.microsoft.com/office/drawing/2014/main" id="{FFC49AEA-2A8F-250C-A86A-A7751D9706C3}"/>
              </a:ext>
            </a:extLst>
          </p:cNvPr>
          <p:cNvSpPr txBox="1"/>
          <p:nvPr/>
        </p:nvSpPr>
        <p:spPr>
          <a:xfrm>
            <a:off x="3667294" y="1458485"/>
            <a:ext cx="927612" cy="3016210"/>
          </a:xfrm>
          <a:prstGeom prst="rect">
            <a:avLst/>
          </a:prstGeom>
          <a:noFill/>
        </p:spPr>
        <p:txBody>
          <a:bodyPr wrap="square" lIns="0" tIns="0" rIns="0" bIns="0" rtlCol="0">
            <a:spAutoFit/>
          </a:bodyPr>
          <a:lstStyle/>
          <a:p>
            <a:pPr fontAlgn="ctr">
              <a:lnSpc>
                <a:spcPct val="200000"/>
              </a:lnSpc>
            </a:pPr>
            <a:r>
              <a:rPr lang="ko-KR" altLang="ko-KR" sz="700" dirty="0"/>
              <a:t>설계점수</a:t>
            </a:r>
            <a:r>
              <a:rPr lang="en-US" altLang="ko-KR" sz="700" dirty="0"/>
              <a:t>(</a:t>
            </a:r>
            <a:r>
              <a:rPr lang="ko-KR" altLang="ko-KR" sz="700" dirty="0" err="1"/>
              <a:t>가중치반영</a:t>
            </a:r>
            <a:r>
              <a:rPr lang="en-US" altLang="ko-KR" sz="700" dirty="0"/>
              <a:t>)</a:t>
            </a:r>
            <a:endParaRPr lang="ko-KR" altLang="ko-KR" sz="700" dirty="0"/>
          </a:p>
          <a:p>
            <a:pPr fontAlgn="ctr">
              <a:lnSpc>
                <a:spcPct val="200000"/>
              </a:lnSpc>
            </a:pPr>
            <a:r>
              <a:rPr lang="ko-KR" altLang="ko-KR" sz="700" dirty="0" err="1"/>
              <a:t>가격점수</a:t>
            </a:r>
            <a:r>
              <a:rPr lang="en-US" altLang="ko-KR" sz="700" dirty="0"/>
              <a:t>(</a:t>
            </a:r>
            <a:r>
              <a:rPr lang="ko-KR" altLang="ko-KR" sz="700" dirty="0" err="1"/>
              <a:t>가중치반영</a:t>
            </a:r>
            <a:r>
              <a:rPr lang="en-US" altLang="ko-KR" sz="700" dirty="0"/>
              <a:t>)</a:t>
            </a:r>
            <a:endParaRPr lang="ko-KR" altLang="ko-KR" sz="700" dirty="0"/>
          </a:p>
          <a:p>
            <a:pPr fontAlgn="ctr">
              <a:lnSpc>
                <a:spcPct val="200000"/>
              </a:lnSpc>
            </a:pPr>
            <a:r>
              <a:rPr lang="ko-KR" altLang="ko-KR" sz="700" dirty="0" err="1"/>
              <a:t>종합평점</a:t>
            </a:r>
            <a:endParaRPr lang="ko-KR" altLang="ko-KR" sz="700" dirty="0"/>
          </a:p>
          <a:p>
            <a:pPr fontAlgn="ctr">
              <a:lnSpc>
                <a:spcPct val="200000"/>
              </a:lnSpc>
            </a:pPr>
            <a:r>
              <a:rPr lang="ko-KR" altLang="ko-KR" sz="700" dirty="0"/>
              <a:t>실시설계 적격자</a:t>
            </a:r>
          </a:p>
          <a:p>
            <a:pPr fontAlgn="ctr">
              <a:lnSpc>
                <a:spcPct val="200000"/>
              </a:lnSpc>
            </a:pPr>
            <a:r>
              <a:rPr lang="ko-KR" altLang="ko-KR" sz="700" dirty="0"/>
              <a:t>입찰서제출일시</a:t>
            </a:r>
          </a:p>
          <a:p>
            <a:pPr fontAlgn="ctr">
              <a:lnSpc>
                <a:spcPct val="200000"/>
              </a:lnSpc>
            </a:pPr>
            <a:r>
              <a:rPr lang="ko-KR" altLang="ko-KR" sz="700" dirty="0"/>
              <a:t>결과</a:t>
            </a:r>
          </a:p>
          <a:p>
            <a:pPr fontAlgn="ctr">
              <a:lnSpc>
                <a:spcPct val="200000"/>
              </a:lnSpc>
            </a:pPr>
            <a:r>
              <a:rPr lang="ko-KR" altLang="ko-KR" sz="700" dirty="0"/>
              <a:t>첨부서류</a:t>
            </a:r>
          </a:p>
          <a:p>
            <a:pPr fontAlgn="ctr">
              <a:lnSpc>
                <a:spcPct val="200000"/>
              </a:lnSpc>
            </a:pPr>
            <a:r>
              <a:rPr lang="ko-KR" altLang="ko-KR" sz="700" dirty="0"/>
              <a:t>서약서</a:t>
            </a:r>
          </a:p>
          <a:p>
            <a:pPr fontAlgn="ctr">
              <a:lnSpc>
                <a:spcPct val="200000"/>
              </a:lnSpc>
            </a:pPr>
            <a:r>
              <a:rPr lang="ko-KR" altLang="ko-KR" sz="700" dirty="0"/>
              <a:t>내역서</a:t>
            </a:r>
          </a:p>
          <a:p>
            <a:pPr fontAlgn="ctr">
              <a:lnSpc>
                <a:spcPct val="200000"/>
              </a:lnSpc>
            </a:pPr>
            <a:r>
              <a:rPr lang="ko-KR" altLang="ko-KR" sz="700" dirty="0"/>
              <a:t>진행상태</a:t>
            </a:r>
          </a:p>
          <a:p>
            <a:pPr fontAlgn="ctr">
              <a:lnSpc>
                <a:spcPct val="200000"/>
              </a:lnSpc>
            </a:pPr>
            <a:r>
              <a:rPr lang="ko-KR" altLang="ko-KR" sz="700" dirty="0" err="1"/>
              <a:t>복수예가</a:t>
            </a:r>
            <a:r>
              <a:rPr lang="ko-KR" altLang="ko-KR" sz="700" dirty="0"/>
              <a:t> </a:t>
            </a:r>
            <a:r>
              <a:rPr lang="ko-KR" altLang="ko-KR" sz="700" dirty="0" err="1"/>
              <a:t>선택번호</a:t>
            </a:r>
            <a:endParaRPr lang="ko-KR" altLang="ko-KR" sz="700" dirty="0"/>
          </a:p>
          <a:p>
            <a:pPr fontAlgn="ctr">
              <a:lnSpc>
                <a:spcPct val="200000"/>
              </a:lnSpc>
            </a:pPr>
            <a:r>
              <a:rPr lang="ko-KR" altLang="ko-KR" sz="700" dirty="0"/>
              <a:t>예정가격 순공사원가의 </a:t>
            </a:r>
            <a:r>
              <a:rPr lang="en-US" altLang="ko-KR" sz="700" dirty="0"/>
              <a:t>100</a:t>
            </a:r>
            <a:r>
              <a:rPr lang="ko-KR" altLang="ko-KR" sz="700" dirty="0"/>
              <a:t>분의 </a:t>
            </a:r>
            <a:r>
              <a:rPr lang="en-US" altLang="ko-KR" sz="700" dirty="0"/>
              <a:t>98</a:t>
            </a:r>
            <a:endParaRPr lang="ko-KR" altLang="ko-KR" sz="700" dirty="0"/>
          </a:p>
          <a:p>
            <a:pPr fontAlgn="ctr">
              <a:lnSpc>
                <a:spcPct val="200000"/>
              </a:lnSpc>
            </a:pPr>
            <a:endParaRPr lang="ko-KR" altLang="ko-KR" sz="700" dirty="0"/>
          </a:p>
        </p:txBody>
      </p:sp>
      <p:grpSp>
        <p:nvGrpSpPr>
          <p:cNvPr id="55" name="그룹 54"/>
          <p:cNvGrpSpPr/>
          <p:nvPr/>
        </p:nvGrpSpPr>
        <p:grpSpPr>
          <a:xfrm>
            <a:off x="3578139" y="1504205"/>
            <a:ext cx="2630093" cy="2779860"/>
            <a:chOff x="701175" y="1835481"/>
            <a:chExt cx="2630093" cy="2779860"/>
          </a:xfrm>
        </p:grpSpPr>
        <p:cxnSp>
          <p:nvCxnSpPr>
            <p:cNvPr id="56" name="직선 연결선 5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7" name="직선 연결선 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직선 연결선 5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9" name="직선 연결선 5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0" name="직선 연결선 5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1" name="직선 연결선 6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3" name="직선 연결선 6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4" name="직선 연결선 63">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5" name="직선 연결선 64">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6" name="직선 연결선 65">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4165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46153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73" name="사각형: 둥근 모서리 31">
            <a:extLst>
              <a:ext uri="{FF2B5EF4-FFF2-40B4-BE49-F238E27FC236}">
                <a16:creationId xmlns:a16="http://schemas.microsoft.com/office/drawing/2014/main" id="{2AC143EE-93CF-3518-F0CB-8469E98507E0}"/>
              </a:ext>
            </a:extLst>
          </p:cNvPr>
          <p:cNvSpPr/>
          <p:nvPr/>
        </p:nvSpPr>
        <p:spPr>
          <a:xfrm>
            <a:off x="3685070" y="5833627"/>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27" name="모서리가 둥근 직사각형 126"/>
          <p:cNvSpPr/>
          <p:nvPr/>
        </p:nvSpPr>
        <p:spPr>
          <a:xfrm>
            <a:off x="767702" y="1723428"/>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타원 127"/>
          <p:cNvSpPr/>
          <p:nvPr/>
        </p:nvSpPr>
        <p:spPr>
          <a:xfrm>
            <a:off x="3052827" y="1792787"/>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871389" y="1802850"/>
            <a:ext cx="1886364" cy="107722"/>
          </a:xfrm>
          <a:prstGeom prst="rect">
            <a:avLst/>
          </a:prstGeom>
          <a:noFill/>
        </p:spPr>
        <p:txBody>
          <a:bodyPr wrap="square" lIns="0" tIns="0" rIns="0" bIns="0" rtlCol="0">
            <a:spAutoFit/>
          </a:bodyPr>
          <a:lstStyle/>
          <a:p>
            <a:r>
              <a:rPr lang="ko-KR" altLang="en-US" sz="700" dirty="0" smtClean="0">
                <a:solidFill>
                  <a:schemeClr val="bg1">
                    <a:lumMod val="50000"/>
                  </a:schemeClr>
                </a:solidFill>
                <a:latin typeface="+mn-ea"/>
              </a:rPr>
              <a:t>기업명을 </a:t>
            </a:r>
            <a:r>
              <a:rPr lang="ko-KR" altLang="en-US" sz="700" dirty="0">
                <a:solidFill>
                  <a:schemeClr val="bg1">
                    <a:lumMod val="50000"/>
                  </a:schemeClr>
                </a:solidFill>
                <a:latin typeface="+mn-ea"/>
              </a:rPr>
              <a:t>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sp>
        <p:nvSpPr>
          <p:cNvPr id="130" name="타원 129"/>
          <p:cNvSpPr/>
          <p:nvPr/>
        </p:nvSpPr>
        <p:spPr>
          <a:xfrm>
            <a:off x="2839102" y="1792787"/>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1" name="직선 연결선 130"/>
          <p:cNvCxnSpPr/>
          <p:nvPr/>
        </p:nvCxnSpPr>
        <p:spPr>
          <a:xfrm>
            <a:off x="2883007" y="1827674"/>
            <a:ext cx="58075" cy="58074"/>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rot="5400000">
            <a:off x="2883008" y="1827674"/>
            <a:ext cx="58074" cy="58075"/>
          </a:xfrm>
          <a:prstGeom prst="line">
            <a:avLst/>
          </a:prstGeom>
        </p:spPr>
        <p:style>
          <a:lnRef idx="1">
            <a:schemeClr val="dk1"/>
          </a:lnRef>
          <a:fillRef idx="0">
            <a:schemeClr val="dk1"/>
          </a:fillRef>
          <a:effectRef idx="0">
            <a:schemeClr val="dk1"/>
          </a:effectRef>
          <a:fontRef idx="minor">
            <a:schemeClr val="tx1"/>
          </a:fontRef>
        </p:style>
      </p:cxnSp>
      <p:sp>
        <p:nvSpPr>
          <p:cNvPr id="75" name="직사각형 74"/>
          <p:cNvSpPr/>
          <p:nvPr/>
        </p:nvSpPr>
        <p:spPr>
          <a:xfrm>
            <a:off x="8223250" y="77691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a:t>화면 수정</a:t>
            </a:r>
          </a:p>
        </p:txBody>
      </p:sp>
      <p:sp>
        <p:nvSpPr>
          <p:cNvPr id="76" name="직사각형 75"/>
          <p:cNvSpPr/>
          <p:nvPr/>
        </p:nvSpPr>
        <p:spPr>
          <a:xfrm>
            <a:off x="9906000" y="776914"/>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조회 버튼 제거</a:t>
            </a:r>
            <a:endParaRPr lang="ko-KR" altLang="en-US" sz="700" dirty="0"/>
          </a:p>
        </p:txBody>
      </p:sp>
      <p:grpSp>
        <p:nvGrpSpPr>
          <p:cNvPr id="155" name="그룹 154">
            <a:extLst>
              <a:ext uri="{FF2B5EF4-FFF2-40B4-BE49-F238E27FC236}">
                <a16:creationId xmlns:a16="http://schemas.microsoft.com/office/drawing/2014/main" id="{22BC05EE-C648-7CA2-4CCC-6E1C1A7E9BDA}"/>
              </a:ext>
            </a:extLst>
          </p:cNvPr>
          <p:cNvGrpSpPr/>
          <p:nvPr/>
        </p:nvGrpSpPr>
        <p:grpSpPr>
          <a:xfrm>
            <a:off x="4869945" y="4982238"/>
            <a:ext cx="76863" cy="292489"/>
            <a:chOff x="3750067" y="4683795"/>
            <a:chExt cx="76863" cy="292489"/>
          </a:xfrm>
        </p:grpSpPr>
        <p:sp>
          <p:nvSpPr>
            <p:cNvPr id="174" name="타원 17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5" name="타원 17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6" name="타원 17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77" name="TextBox 17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8" name="타원 177">
            <a:extLst>
              <a:ext uri="{FF2B5EF4-FFF2-40B4-BE49-F238E27FC236}">
                <a16:creationId xmlns:a16="http://schemas.microsoft.com/office/drawing/2014/main" id="{37A7FF4F-0EAA-1463-560A-D5EC24416103}"/>
              </a:ext>
            </a:extLst>
          </p:cNvPr>
          <p:cNvSpPr/>
          <p:nvPr/>
        </p:nvSpPr>
        <p:spPr>
          <a:xfrm>
            <a:off x="571127" y="207806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83" name="타원 182">
            <a:extLst>
              <a:ext uri="{FF2B5EF4-FFF2-40B4-BE49-F238E27FC236}">
                <a16:creationId xmlns:a16="http://schemas.microsoft.com/office/drawing/2014/main" id="{37A7FF4F-0EAA-1463-560A-D5EC24416103}"/>
              </a:ext>
            </a:extLst>
          </p:cNvPr>
          <p:cNvSpPr/>
          <p:nvPr/>
        </p:nvSpPr>
        <p:spPr>
          <a:xfrm>
            <a:off x="571127" y="293807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Tree>
    <p:extLst>
      <p:ext uri="{BB962C8B-B14F-4D97-AF65-F5344CB8AC3E}">
        <p14:creationId xmlns:p14="http://schemas.microsoft.com/office/powerpoint/2010/main" val="140542006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입찰 결과 정보 표시</a:t>
            </a:r>
            <a:r>
              <a:rPr lang="en-US" altLang="ko-KR" dirty="0"/>
              <a:t/>
            </a:r>
            <a:br>
              <a:rPr lang="en-US" altLang="ko-KR" dirty="0"/>
            </a:br>
            <a:r>
              <a:rPr lang="en-US" altLang="ko-KR" dirty="0"/>
              <a:t>- </a:t>
            </a:r>
            <a:r>
              <a:rPr lang="ko-KR" altLang="en-US" dirty="0"/>
              <a:t>내 업체 정보만 표시함</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협상 경과가 있는 경우에만 표시되는 탭</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협상결과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협상결과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협상결과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MUI-BD-09-T04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30093" cy="1815590"/>
            <a:chOff x="701175" y="1527996"/>
            <a:chExt cx="2630093" cy="1815590"/>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협상결과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1"/>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err="1">
                  <a:latin typeface="+mn-ea"/>
                </a:rPr>
                <a:t>견적단가</a:t>
              </a:r>
              <a:endParaRPr lang="en-US" altLang="ko-KR" sz="700" dirty="0">
                <a:latin typeface="+mn-ea"/>
              </a:endParaRPr>
            </a:p>
            <a:p>
              <a:pPr>
                <a:lnSpc>
                  <a:spcPct val="200000"/>
                </a:lnSpc>
              </a:pPr>
              <a:r>
                <a:rPr lang="ko-KR" altLang="en-US" sz="700" dirty="0" err="1">
                  <a:latin typeface="+mn-ea"/>
                </a:rPr>
                <a:t>낙찰률</a:t>
              </a:r>
              <a:endParaRPr lang="en-US" altLang="ko-KR" sz="700" dirty="0">
                <a:latin typeface="+mn-ea"/>
              </a:endParaRPr>
            </a:p>
            <a:p>
              <a:pPr>
                <a:lnSpc>
                  <a:spcPct val="200000"/>
                </a:lnSpc>
              </a:pPr>
              <a:r>
                <a:rPr lang="ko-KR" altLang="en-US" sz="700" dirty="0">
                  <a:latin typeface="+mn-ea"/>
                </a:rPr>
                <a:t>결과</a:t>
              </a: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123</a:t>
              </a:r>
            </a:p>
            <a:p>
              <a:pPr>
                <a:lnSpc>
                  <a:spcPct val="200000"/>
                </a:lnSpc>
              </a:pPr>
              <a:r>
                <a:rPr lang="ko-KR" altLang="en-US" sz="700" dirty="0" err="1">
                  <a:latin typeface="+mn-ea"/>
                </a:rPr>
                <a:t>테스트업체</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98.9796</a:t>
              </a:r>
            </a:p>
            <a:p>
              <a:pPr algn="r">
                <a:lnSpc>
                  <a:spcPct val="200000"/>
                </a:lnSpc>
              </a:pPr>
              <a:r>
                <a:rPr lang="ko-KR" altLang="en-US" sz="700" dirty="0">
                  <a:latin typeface="+mn-ea"/>
                </a:rPr>
                <a:t>낙찰</a:t>
              </a:r>
              <a:endParaRPr lang="en-US" altLang="ko-KR" sz="700" dirty="0">
                <a:latin typeface="+mn-ea"/>
              </a:endParaRPr>
            </a:p>
          </p:txBody>
        </p:sp>
        <p:grpSp>
          <p:nvGrpSpPr>
            <p:cNvPr id="95" name="그룹 94"/>
            <p:cNvGrpSpPr/>
            <p:nvPr/>
          </p:nvGrpSpPr>
          <p:grpSpPr>
            <a:xfrm>
              <a:off x="701175" y="1835481"/>
              <a:ext cx="2630093" cy="1503180"/>
              <a:chOff x="701175" y="1835481"/>
              <a:chExt cx="2630093" cy="1503180"/>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34334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6" name="사각형: 둥근 모서리 31">
            <a:extLst>
              <a:ext uri="{FF2B5EF4-FFF2-40B4-BE49-F238E27FC236}">
                <a16:creationId xmlns:a16="http://schemas.microsoft.com/office/drawing/2014/main" id="{2AC143EE-93CF-3518-F0CB-8469E98507E0}"/>
              </a:ext>
            </a:extLst>
          </p:cNvPr>
          <p:cNvSpPr/>
          <p:nvPr/>
        </p:nvSpPr>
        <p:spPr>
          <a:xfrm>
            <a:off x="808106" y="5429794"/>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37" name="그룹 36">
            <a:extLst>
              <a:ext uri="{FF2B5EF4-FFF2-40B4-BE49-F238E27FC236}">
                <a16:creationId xmlns:a16="http://schemas.microsoft.com/office/drawing/2014/main" id="{22BC05EE-C648-7CA2-4CCC-6E1C1A7E9BDA}"/>
              </a:ext>
            </a:extLst>
          </p:cNvPr>
          <p:cNvGrpSpPr/>
          <p:nvPr/>
        </p:nvGrpSpPr>
        <p:grpSpPr>
          <a:xfrm>
            <a:off x="1992981" y="4544878"/>
            <a:ext cx="76863" cy="292489"/>
            <a:chOff x="3750067" y="4683795"/>
            <a:chExt cx="76863" cy="292489"/>
          </a:xfrm>
        </p:grpSpPr>
        <p:sp>
          <p:nvSpPr>
            <p:cNvPr id="38" name="타원 37">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9" name="타원 3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40" name="타원 3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45" name="그룹 44"/>
          <p:cNvGrpSpPr/>
          <p:nvPr/>
        </p:nvGrpSpPr>
        <p:grpSpPr>
          <a:xfrm>
            <a:off x="8223250" y="569392"/>
            <a:ext cx="3365500" cy="634511"/>
            <a:chOff x="8223250" y="569392"/>
            <a:chExt cx="3365500" cy="634511"/>
          </a:xfrm>
        </p:grpSpPr>
        <p:sp>
          <p:nvSpPr>
            <p:cNvPr id="46" name="직사각형 4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47" name="직사각형 4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grpSp>
        <p:nvGrpSpPr>
          <p:cNvPr id="41" name="그룹 40"/>
          <p:cNvGrpSpPr/>
          <p:nvPr/>
        </p:nvGrpSpPr>
        <p:grpSpPr>
          <a:xfrm>
            <a:off x="8223250" y="776914"/>
            <a:ext cx="3365500" cy="219465"/>
            <a:chOff x="8223250" y="569392"/>
            <a:chExt cx="3365500" cy="219465"/>
          </a:xfrm>
        </p:grpSpPr>
        <p:sp>
          <p:nvSpPr>
            <p:cNvPr id="42" name="직사각형 41"/>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a:t>화면 수정</a:t>
              </a:r>
            </a:p>
          </p:txBody>
        </p:sp>
        <p:sp>
          <p:nvSpPr>
            <p:cNvPr id="43" name="직사각형 42"/>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조회 버튼 제거</a:t>
              </a:r>
              <a:endParaRPr lang="ko-KR" altLang="en-US" sz="700" dirty="0"/>
            </a:p>
          </p:txBody>
        </p:sp>
      </p:grpSp>
    </p:spTree>
    <p:extLst>
      <p:ext uri="{BB962C8B-B14F-4D97-AF65-F5344CB8AC3E}">
        <p14:creationId xmlns:p14="http://schemas.microsoft.com/office/powerpoint/2010/main" val="503998835"/>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239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7621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2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비공개 수의협상인 경우 </a:t>
                      </a:r>
                      <a:r>
                        <a:rPr lang="ko-KR" altLang="en-US" sz="800" dirty="0" err="1">
                          <a:latin typeface="+mn-ea"/>
                          <a:ea typeface="+mn-ea"/>
                        </a:rPr>
                        <a:t>협상건명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5378503"/>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4742976"/>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0284220"/>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3325672"/>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집행유형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공사인 경우 공사구분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4948226"/>
                  </a:ext>
                </a:extLst>
              </a:tr>
              <a:tr h="0">
                <a:tc>
                  <a:txBody>
                    <a:bodyPr/>
                    <a:lstStyle/>
                    <a:p>
                      <a:pPr latinLnBrk="1"/>
                      <a:r>
                        <a:rPr lang="ko-KR" altLang="en-US" sz="800" dirty="0">
                          <a:latin typeface="+mn-ea"/>
                          <a:ea typeface="+mn-ea"/>
                        </a:rPr>
                        <a:t>단가제유형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단가제유형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물품인 경우에는 단가제유형 항목 조회 결과</a:t>
                      </a:r>
                      <a:r>
                        <a:rPr lang="en-US" altLang="ko-KR" sz="800" dirty="0">
                          <a:latin typeface="+mn-ea"/>
                          <a:ea typeface="+mn-ea"/>
                        </a:rPr>
                        <a:t>, </a:t>
                      </a:r>
                      <a:r>
                        <a:rPr lang="ko-KR" altLang="en-US" sz="800" dirty="0">
                          <a:latin typeface="+mn-ea"/>
                          <a:ea typeface="+mn-ea"/>
                        </a:rPr>
                        <a:t>업무구분이 공사이고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낙찰자기준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6668359"/>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129065"/>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8568022"/>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195814"/>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696840"/>
                  </a:ext>
                </a:extLst>
              </a:tr>
              <a:tr h="0">
                <a:tc>
                  <a:txBody>
                    <a:bodyPr/>
                    <a:lstStyle/>
                    <a:p>
                      <a:pPr latinLnBrk="1"/>
                      <a:r>
                        <a:rPr lang="ko-KR" altLang="en-US" sz="800" dirty="0" err="1">
                          <a:latin typeface="+mn-ea"/>
                          <a:ea typeface="+mn-ea"/>
                        </a:rPr>
                        <a:t>기초예가적용여부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bidPrtcpQlfcYn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기초예가적용여부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580170"/>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수의협상인 경우 협상일시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73934"/>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02242"/>
                  </a:ext>
                </a:extLst>
              </a:tr>
              <a:tr h="0">
                <a:tc>
                  <a:txBody>
                    <a:bodyPr/>
                    <a:lstStyle/>
                    <a:p>
                      <a:pPr latinLnBrk="1"/>
                      <a:r>
                        <a:rPr lang="ko-KR" altLang="en-US" sz="800" dirty="0">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bidClrsYmd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 수의협상 건인 경우 견적서제출마감일시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627943"/>
                  </a:ext>
                </a:extLst>
              </a:tr>
              <a:tr h="0">
                <a:tc>
                  <a:txBody>
                    <a:bodyPr/>
                    <a:lstStyle/>
                    <a:p>
                      <a:pPr latinLnBrk="1"/>
                      <a:r>
                        <a:rPr lang="ko-KR" altLang="en-US" sz="800" dirty="0">
                          <a:latin typeface="+mn-ea"/>
                          <a:ea typeface="+mn-ea"/>
                        </a:rPr>
                        <a:t>등록심사시점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tndrSbmsnPntmCd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등록심사시점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8532535"/>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기초예비가격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1529287"/>
                  </a:ext>
                </a:extLst>
              </a:tr>
              <a:tr h="0">
                <a:tc>
                  <a:txBody>
                    <a:bodyPr/>
                    <a:lstStyle/>
                    <a:p>
                      <a:pPr latinLnBrk="1"/>
                      <a:r>
                        <a:rPr lang="ko-KR" altLang="en-US" sz="800" dirty="0" err="1">
                          <a:latin typeface="+mn-ea"/>
                          <a:ea typeface="+mn-ea"/>
                        </a:rPr>
                        <a:t>사정률</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uplmtLlmtRt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사정률</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1603112"/>
                  </a:ext>
                </a:extLst>
              </a:tr>
              <a:tr h="0">
                <a:tc>
                  <a:txBody>
                    <a:bodyPr/>
                    <a:lstStyle/>
                    <a:p>
                      <a:pPr latinLnBrk="1"/>
                      <a:r>
                        <a:rPr lang="ko-KR" altLang="en-US" sz="800" dirty="0">
                          <a:latin typeface="+mn-ea"/>
                          <a:ea typeface="+mn-ea"/>
                        </a:rPr>
                        <a:t>낙찰하한율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낙찰하한율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8888914"/>
                  </a:ext>
                </a:extLst>
              </a:tr>
              <a:tr h="0">
                <a:tc>
                  <a:txBody>
                    <a:bodyPr/>
                    <a:lstStyle/>
                    <a:p>
                      <a:pPr latinLnBrk="1"/>
                      <a:r>
                        <a:rPr lang="ko-KR" altLang="en-US" sz="800" dirty="0">
                          <a:latin typeface="+mn-ea"/>
                          <a:ea typeface="+mn-ea"/>
                        </a:rPr>
                        <a:t>공사개요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cstrnOtln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공사개요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56210795"/>
                  </a:ext>
                </a:extLst>
              </a:tr>
            </a:tbl>
          </a:graphicData>
        </a:graphic>
      </p:graphicFrame>
      <p:sp>
        <p:nvSpPr>
          <p:cNvPr id="2" name="TextBox 1">
            <a:extLst>
              <a:ext uri="{FF2B5EF4-FFF2-40B4-BE49-F238E27FC236}">
                <a16:creationId xmlns:a16="http://schemas.microsoft.com/office/drawing/2014/main" id="{358F9E66-1FEC-393F-6AF3-28A6DEC3916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(1/5)</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522ACAC6-ADFA-65E6-4604-3C45665B6F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545165188"/>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240</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008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위치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cstrnPstnNm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위치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9466785"/>
                  </a:ext>
                </a:extLst>
              </a:tr>
              <a:tr h="0">
                <a:tc>
                  <a:txBody>
                    <a:bodyPr/>
                    <a:lstStyle/>
                    <a:p>
                      <a:pPr latinLnBrk="1"/>
                      <a:r>
                        <a:rPr lang="ko-KR" altLang="en-US" sz="800" dirty="0">
                          <a:latin typeface="+mn-ea"/>
                          <a:ea typeface="+mn-ea"/>
                        </a:rPr>
                        <a:t>공사기간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cstrnPrdCn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공사기간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9644314"/>
                  </a:ext>
                </a:extLst>
              </a:tr>
              <a:tr h="0">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cstrnPrmco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606004"/>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공개수의협상인 경우 </a:t>
                      </a:r>
                      <a:r>
                        <a:rPr lang="ko-KR" altLang="en-US" sz="800" dirty="0" err="1">
                          <a:latin typeface="+mn-ea"/>
                          <a:ea typeface="+mn-ea"/>
                        </a:rPr>
                        <a:t>기초예가적용대상이거나</a:t>
                      </a:r>
                      <a:r>
                        <a:rPr lang="ko-KR" altLang="en-US" sz="800" dirty="0">
                          <a:latin typeface="+mn-ea"/>
                          <a:ea typeface="+mn-ea"/>
                        </a:rPr>
                        <a:t> 낙찰까지 완료된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10925088"/>
                  </a:ext>
                </a:extLst>
              </a:tr>
              <a:tr h="0">
                <a:tc>
                  <a:txBody>
                    <a:bodyPr/>
                    <a:lstStyle/>
                    <a:p>
                      <a:pPr latinLnBrk="1"/>
                      <a:r>
                        <a:rPr lang="ko-KR" altLang="en-US" sz="800" dirty="0">
                          <a:latin typeface="+mn-ea"/>
                          <a:ea typeface="+mn-ea"/>
                        </a:rPr>
                        <a:t>가격평가비중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prcEvlRlimp</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가격평가비중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경쟁입찰인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2427121"/>
                  </a:ext>
                </a:extLst>
              </a:tr>
              <a:tr h="0">
                <a:tc>
                  <a:txBody>
                    <a:bodyPr/>
                    <a:lstStyle/>
                    <a:p>
                      <a:pPr latinLnBrk="1"/>
                      <a:r>
                        <a:rPr lang="ko-KR" altLang="en-US" sz="800" dirty="0">
                          <a:latin typeface="+mn-ea"/>
                          <a:ea typeface="+mn-ea"/>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경쟁입찰인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5575642"/>
                  </a:ext>
                </a:extLst>
              </a:tr>
              <a:tr h="0">
                <a:tc>
                  <a:txBody>
                    <a:bodyPr/>
                    <a:lstStyle/>
                    <a:p>
                      <a:pPr latinLnBrk="1"/>
                      <a:r>
                        <a:rPr lang="ko-KR" altLang="en-US" sz="800" dirty="0">
                          <a:latin typeface="+mn-ea"/>
                          <a:ea typeface="+mn-ea"/>
                        </a:rPr>
                        <a:t>협상형태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협상형태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수의협상인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1980886"/>
                  </a:ext>
                </a:extLst>
              </a:tr>
              <a:tr h="0">
                <a:tc>
                  <a:txBody>
                    <a:bodyPr/>
                    <a:lstStyle/>
                    <a:p>
                      <a:pPr latinLnBrk="1"/>
                      <a:r>
                        <a:rPr lang="ko-KR" altLang="en-US" sz="800" dirty="0">
                          <a:latin typeface="+mn-ea"/>
                          <a:ea typeface="+mn-ea"/>
                        </a:rPr>
                        <a:t>협상장소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ngtnPlcNm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협상장소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수의협상인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208843"/>
                  </a:ext>
                </a:extLst>
              </a:tr>
              <a:tr h="0">
                <a:tc>
                  <a:txBody>
                    <a:bodyPr/>
                    <a:lstStyle/>
                    <a:p>
                      <a:pPr latinLnBrk="1"/>
                      <a:r>
                        <a:rPr lang="ko-KR" altLang="en-US" sz="800" dirty="0">
                          <a:latin typeface="+mn-ea"/>
                          <a:ea typeface="+mn-ea"/>
                        </a:rPr>
                        <a:t>협상결과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수의협상인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0078463"/>
                  </a:ext>
                </a:extLst>
              </a:tr>
              <a:tr h="0">
                <a:tc>
                  <a:txBody>
                    <a:bodyPr/>
                    <a:lstStyle/>
                    <a:p>
                      <a:pPr latinLnBrk="1"/>
                      <a:r>
                        <a:rPr lang="ko-KR" altLang="en-US" sz="800" dirty="0">
                          <a:latin typeface="+mn-ea"/>
                          <a:ea typeface="+mn-ea"/>
                        </a:rPr>
                        <a:t>재입찰대상구분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rebidYn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b="0" dirty="0">
                          <a:solidFill>
                            <a:schemeClr val="tx1"/>
                          </a:solidFill>
                        </a:rPr>
                        <a:t>재입찰</a:t>
                      </a:r>
                      <a:r>
                        <a:rPr lang="en-US" altLang="ko-KR" sz="800" b="0" dirty="0">
                          <a:solidFill>
                            <a:schemeClr val="tx1"/>
                          </a:solidFill>
                        </a:rPr>
                        <a:t> </a:t>
                      </a:r>
                      <a:r>
                        <a:rPr lang="ko-KR" altLang="en-US" sz="800" b="0" dirty="0">
                          <a:solidFill>
                            <a:schemeClr val="tx1"/>
                          </a:solidFill>
                        </a:rPr>
                        <a:t>대상으로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8189093"/>
                  </a:ext>
                </a:extLst>
              </a:tr>
              <a:tr h="0">
                <a:tc>
                  <a:txBody>
                    <a:bodyPr/>
                    <a:lstStyle/>
                    <a:p>
                      <a:pPr latinLnBrk="1"/>
                      <a:r>
                        <a:rPr lang="ko-KR" altLang="en-US" sz="800" dirty="0">
                          <a:latin typeface="+mn-ea"/>
                          <a:ea typeface="+mn-ea"/>
                        </a:rPr>
                        <a:t>재입찰 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재입찰 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1911956"/>
                  </a:ext>
                </a:extLst>
              </a:tr>
              <a:tr h="0">
                <a:tc>
                  <a:txBody>
                    <a:bodyPr/>
                    <a:lstStyle/>
                    <a:p>
                      <a:pPr latinLnBrk="1"/>
                      <a:r>
                        <a:rPr lang="ko-KR" altLang="en-US" sz="800" dirty="0">
                          <a:latin typeface="+mn-ea"/>
                          <a:ea typeface="+mn-ea"/>
                        </a:rPr>
                        <a:t>유찰사유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flbdRsn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유찰사유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유찰인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7426943"/>
                  </a:ext>
                </a:extLst>
              </a:tr>
            </a:tbl>
          </a:graphicData>
        </a:graphic>
      </p:graphicFrame>
      <p:sp>
        <p:nvSpPr>
          <p:cNvPr id="2" name="TextBox 1">
            <a:extLst>
              <a:ext uri="{FF2B5EF4-FFF2-40B4-BE49-F238E27FC236}">
                <a16:creationId xmlns:a16="http://schemas.microsoft.com/office/drawing/2014/main" id="{5CCF0A13-2676-0A6F-4581-806ED00DD384}"/>
              </a:ext>
            </a:extLst>
          </p:cNvPr>
          <p:cNvSpPr txBox="1"/>
          <p:nvPr/>
        </p:nvSpPr>
        <p:spPr>
          <a:xfrm>
            <a:off x="460676" y="4166607"/>
            <a:ext cx="222072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품목정보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dlt_itemInfo</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163DA194-A824-E2D7-5460-745A54572D8A}"/>
              </a:ext>
            </a:extLst>
          </p:cNvPr>
          <p:cNvGraphicFramePr>
            <a:graphicFrameLocks noGrp="1"/>
          </p:cNvGraphicFramePr>
          <p:nvPr/>
        </p:nvGraphicFramePr>
        <p:xfrm>
          <a:off x="455558" y="4450361"/>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invtNo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2688830"/>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3431568"/>
                  </a:ext>
                </a:extLst>
              </a:tr>
              <a:tr h="0">
                <a:tc>
                  <a:txBody>
                    <a:bodyPr/>
                    <a:lstStyle/>
                    <a:p>
                      <a:pPr latinLnBrk="1"/>
                      <a:r>
                        <a:rPr lang="ko-KR" altLang="en-US" sz="800" dirty="0">
                          <a:latin typeface="+mn-ea"/>
                          <a:ea typeface="+mn-ea"/>
                        </a:rPr>
                        <a:t>규격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1882365"/>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332284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bidItemCnt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2101104"/>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7812960"/>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3709498"/>
                  </a:ext>
                </a:extLst>
              </a:tr>
            </a:tbl>
          </a:graphicData>
        </a:graphic>
      </p:graphicFrame>
      <p:sp>
        <p:nvSpPr>
          <p:cNvPr id="6" name="TextBox 5">
            <a:extLst>
              <a:ext uri="{FF2B5EF4-FFF2-40B4-BE49-F238E27FC236}">
                <a16:creationId xmlns:a16="http://schemas.microsoft.com/office/drawing/2014/main" id="{9008A869-65B1-D766-6A4C-2B097D0B9C3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(2/5)</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1FC662B0-0061-209B-21A5-5D4F432CA6E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8203615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241</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53163"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err="1">
                <a:solidFill>
                  <a:prstClr val="black"/>
                </a:solidFill>
              </a:rPr>
              <a:t>입찰결과상세</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검색업체명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출력물구분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prnotSe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보고서 종류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입찰비교표</a:t>
                      </a:r>
                      <a:r>
                        <a:rPr lang="en-US" altLang="ko-KR" sz="800" dirty="0">
                          <a:latin typeface="+mn-ea"/>
                          <a:ea typeface="+mn-ea"/>
                        </a:rPr>
                        <a:t>, </a:t>
                      </a:r>
                      <a:r>
                        <a:rPr lang="ko-KR" altLang="en-US" sz="800" dirty="0">
                          <a:latin typeface="+mn-ea"/>
                          <a:ea typeface="+mn-ea"/>
                        </a:rPr>
                        <a:t>입찰결과보고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8888914"/>
                  </a:ext>
                </a:extLst>
              </a:tr>
            </a:tbl>
          </a:graphicData>
        </a:graphic>
      </p:graphicFrame>
      <p:sp>
        <p:nvSpPr>
          <p:cNvPr id="5" name="TextBox 4">
            <a:extLst>
              <a:ext uri="{FF2B5EF4-FFF2-40B4-BE49-F238E27FC236}">
                <a16:creationId xmlns:a16="http://schemas.microsoft.com/office/drawing/2014/main" id="{FB81A89C-B815-F9F2-666B-6B03ACC098A5}"/>
              </a:ext>
            </a:extLst>
          </p:cNvPr>
          <p:cNvSpPr txBox="1"/>
          <p:nvPr/>
        </p:nvSpPr>
        <p:spPr>
          <a:xfrm>
            <a:off x="460676" y="1747257"/>
            <a:ext cx="2130959"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dlt_bidRslt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DE613704-52D5-13E9-BC67-0B3AED1171AB}"/>
              </a:ext>
            </a:extLst>
          </p:cNvPr>
          <p:cNvGraphicFramePr>
            <a:graphicFrameLocks noGrp="1"/>
          </p:cNvGraphicFramePr>
          <p:nvPr/>
        </p:nvGraphicFramePr>
        <p:xfrm>
          <a:off x="455558" y="2031011"/>
          <a:ext cx="8994883" cy="42220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150389"/>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018895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3505811"/>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2688830"/>
                  </a:ext>
                </a:extLst>
              </a:tr>
              <a:tr h="0">
                <a:tc>
                  <a:txBody>
                    <a:bodyPr/>
                    <a:lstStyle/>
                    <a:p>
                      <a:pPr latinLnBrk="1"/>
                      <a:r>
                        <a:rPr lang="ko-KR" altLang="en-US" sz="800" dirty="0">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3431568"/>
                  </a:ext>
                </a:extLst>
              </a:tr>
              <a:tr h="0">
                <a:tc>
                  <a:txBody>
                    <a:bodyPr/>
                    <a:lstStyle/>
                    <a:p>
                      <a:pPr latinLnBrk="1"/>
                      <a:r>
                        <a:rPr lang="ko-KR" altLang="en-US" sz="800" dirty="0">
                          <a:latin typeface="+mn-ea"/>
                          <a:ea typeface="+mn-ea"/>
                        </a:rPr>
                        <a:t>기술점수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협상에 의한 계약</a:t>
                      </a:r>
                      <a:r>
                        <a:rPr lang="en-US" altLang="ko-KR" sz="800" dirty="0">
                          <a:latin typeface="+mn-ea"/>
                          <a:ea typeface="+mn-ea"/>
                        </a:rPr>
                        <a:t>, 2</a:t>
                      </a:r>
                      <a:r>
                        <a:rPr lang="ko-KR" altLang="en-US" sz="800" dirty="0">
                          <a:latin typeface="+mn-ea"/>
                          <a:ea typeface="+mn-ea"/>
                        </a:rPr>
                        <a:t>단계경쟁입찰</a:t>
                      </a:r>
                      <a:r>
                        <a:rPr lang="en-US" altLang="ko-KR" sz="800" dirty="0">
                          <a:latin typeface="+mn-ea"/>
                          <a:ea typeface="+mn-ea"/>
                        </a:rPr>
                        <a:t>, </a:t>
                      </a:r>
                      <a:r>
                        <a:rPr lang="ko-KR" altLang="en-US" sz="800" dirty="0">
                          <a:latin typeface="+mn-ea"/>
                          <a:ea typeface="+mn-ea"/>
                        </a:rPr>
                        <a:t>종합낙찰제인 경우 항목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1882365"/>
                  </a:ext>
                </a:extLst>
              </a:tr>
              <a:tr h="0">
                <a:tc>
                  <a:txBody>
                    <a:bodyPr/>
                    <a:lstStyle/>
                    <a:p>
                      <a:pPr latinLnBrk="1"/>
                      <a:r>
                        <a:rPr lang="ko-KR" altLang="en-US" sz="800" dirty="0">
                          <a:latin typeface="+mn-ea"/>
                          <a:ea typeface="+mn-ea"/>
                        </a:rPr>
                        <a:t>투찰금액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단가제인 경우 </a:t>
                      </a:r>
                      <a:r>
                        <a:rPr lang="ko-KR" altLang="en-US" sz="800" dirty="0" err="1">
                          <a:latin typeface="+mn-ea"/>
                          <a:ea typeface="+mn-ea"/>
                        </a:rPr>
                        <a:t>투찰단가로</a:t>
                      </a:r>
                      <a:r>
                        <a:rPr lang="ko-KR" altLang="en-US" sz="800" dirty="0">
                          <a:latin typeface="+mn-ea"/>
                          <a:ea typeface="+mn-ea"/>
                        </a:rPr>
                        <a:t> 보여줌</a:t>
                      </a:r>
                      <a:endParaRPr lang="en-US" altLang="ko-KR" sz="800" dirty="0">
                        <a:latin typeface="+mn-ea"/>
                        <a:ea typeface="+mn-ea"/>
                      </a:endParaRPr>
                    </a:p>
                    <a:p>
                      <a:pPr algn="l" latinLnBrk="1"/>
                      <a:r>
                        <a:rPr lang="ko-KR" altLang="en-US" sz="800" dirty="0">
                          <a:latin typeface="+mn-ea"/>
                          <a:ea typeface="+mn-ea"/>
                        </a:rPr>
                        <a:t>수의계약인 경우 견적금액으로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3322843"/>
                  </a:ext>
                </a:extLst>
              </a:tr>
              <a:tr h="0">
                <a:tc>
                  <a:txBody>
                    <a:bodyPr/>
                    <a:lstStyle/>
                    <a:p>
                      <a:pPr latinLnBrk="1"/>
                      <a:r>
                        <a:rPr lang="ko-KR" altLang="en-US" sz="800" dirty="0" err="1">
                          <a:latin typeface="+mn-ea"/>
                          <a:ea typeface="+mn-ea"/>
                        </a:rPr>
                        <a:t>투찰수량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투찰수량</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경쟁입찰이고 </a:t>
                      </a:r>
                      <a:r>
                        <a:rPr lang="ko-KR" altLang="en-US" sz="800" dirty="0" err="1">
                          <a:latin typeface="+mn-ea"/>
                          <a:ea typeface="+mn-ea"/>
                        </a:rPr>
                        <a:t>희망수량단가제인</a:t>
                      </a:r>
                      <a:r>
                        <a:rPr lang="ko-KR" altLang="en-US" sz="800" dirty="0">
                          <a:latin typeface="+mn-ea"/>
                          <a:ea typeface="+mn-ea"/>
                        </a:rPr>
                        <a:t>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2101104"/>
                  </a:ext>
                </a:extLst>
              </a:tr>
              <a:tr h="0">
                <a:tc>
                  <a:txBody>
                    <a:bodyPr/>
                    <a:lstStyle/>
                    <a:p>
                      <a:pPr latinLnBrk="1"/>
                      <a:r>
                        <a:rPr lang="ko-KR" altLang="en-US" sz="800" dirty="0">
                          <a:latin typeface="+mn-ea"/>
                          <a:ea typeface="+mn-ea"/>
                        </a:rPr>
                        <a:t>낙찰수량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경쟁입찰이고 </a:t>
                      </a:r>
                      <a:r>
                        <a:rPr lang="ko-KR" altLang="en-US" sz="800" dirty="0" err="1">
                          <a:latin typeface="+mn-ea"/>
                          <a:ea typeface="+mn-ea"/>
                        </a:rPr>
                        <a:t>희망수량단가제인</a:t>
                      </a:r>
                      <a:r>
                        <a:rPr lang="ko-KR" altLang="en-US" sz="800" dirty="0">
                          <a:latin typeface="+mn-ea"/>
                          <a:ea typeface="+mn-ea"/>
                        </a:rPr>
                        <a:t>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7812960"/>
                  </a:ext>
                </a:extLst>
              </a:tr>
              <a:tr h="0">
                <a:tc>
                  <a:txBody>
                    <a:bodyPr/>
                    <a:lstStyle/>
                    <a:p>
                      <a:pPr latinLnBrk="1"/>
                      <a:r>
                        <a:rPr lang="ko-KR" altLang="en-US" sz="800" dirty="0" err="1">
                          <a:latin typeface="+mn-ea"/>
                          <a:ea typeface="+mn-ea"/>
                        </a:rPr>
                        <a:t>투찰률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scbrt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a:t>
                      </a:r>
                      <a:r>
                        <a:rPr lang="en-US" altLang="ko-KR" sz="800" dirty="0">
                          <a:latin typeface="+mn-ea"/>
                          <a:ea typeface="+mn-ea"/>
                        </a:rPr>
                        <a:t>, </a:t>
                      </a:r>
                      <a:r>
                        <a:rPr lang="ko-KR" altLang="en-US" sz="800" dirty="0">
                          <a:latin typeface="+mn-ea"/>
                          <a:ea typeface="+mn-ea"/>
                        </a:rPr>
                        <a:t>종합낙찰제가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3709498"/>
                  </a:ext>
                </a:extLst>
              </a:tr>
              <a:tr h="0">
                <a:tc>
                  <a:txBody>
                    <a:bodyPr/>
                    <a:lstStyle/>
                    <a:p>
                      <a:pPr latinLnBrk="1"/>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a:t>
                      </a:r>
                      <a:r>
                        <a:rPr lang="ko-KR" altLang="en-US" sz="800" dirty="0">
                          <a:latin typeface="+mn-ea"/>
                          <a:ea typeface="+mn-ea"/>
                        </a:rPr>
                        <a:t>예정가격</a:t>
                      </a:r>
                      <a:r>
                        <a:rPr lang="en-US" altLang="ko-KR" sz="800" dirty="0">
                          <a:latin typeface="+mn-ea"/>
                          <a:ea typeface="+mn-ea"/>
                        </a:rPr>
                        <a:t>-A)*100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vlAplcnRt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A</a:t>
                      </a:r>
                      <a:r>
                        <a:rPr lang="ko-KR" altLang="en-US" sz="800" dirty="0">
                          <a:latin typeface="+mn-ea"/>
                          <a:ea typeface="+mn-ea"/>
                        </a:rPr>
                        <a:t>값 </a:t>
                      </a:r>
                      <a:r>
                        <a:rPr lang="ko-KR" altLang="en-US" sz="800" dirty="0" err="1">
                          <a:latin typeface="+mn-ea"/>
                          <a:ea typeface="+mn-ea"/>
                        </a:rPr>
                        <a:t>적용율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적격심사제인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3819588"/>
                  </a:ext>
                </a:extLst>
              </a:tr>
              <a:tr h="0">
                <a:tc>
                  <a:txBody>
                    <a:bodyPr/>
                    <a:lstStyle/>
                    <a:p>
                      <a:pPr latinLnBrk="1"/>
                      <a:r>
                        <a:rPr lang="ko-KR" altLang="en-US" sz="800" dirty="0" err="1">
                          <a:latin typeface="+mn-ea"/>
                          <a:ea typeface="+mn-ea"/>
                        </a:rPr>
                        <a:t>투찰금액</a:t>
                      </a:r>
                      <a:r>
                        <a:rPr lang="en-US" altLang="ko-KR" sz="800" dirty="0">
                          <a:latin typeface="+mn-ea"/>
                          <a:ea typeface="+mn-ea"/>
                        </a:rPr>
                        <a:t>/</a:t>
                      </a:r>
                      <a:r>
                        <a:rPr lang="ko-KR" altLang="en-US" sz="800" dirty="0">
                          <a:latin typeface="+mn-ea"/>
                          <a:ea typeface="+mn-ea"/>
                        </a:rPr>
                        <a:t>기술점수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투찰금액</a:t>
                      </a:r>
                      <a:r>
                        <a:rPr lang="en-US" altLang="ko-KR" sz="800" dirty="0">
                          <a:latin typeface="+mn-ea"/>
                          <a:ea typeface="+mn-ea"/>
                        </a:rPr>
                        <a:t>/</a:t>
                      </a:r>
                      <a:r>
                        <a:rPr lang="ko-KR" altLang="en-US" sz="800" dirty="0">
                          <a:latin typeface="+mn-ea"/>
                          <a:ea typeface="+mn-ea"/>
                        </a:rPr>
                        <a:t>기술점수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종합낙찰제인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1163029"/>
                  </a:ext>
                </a:extLst>
              </a:tr>
              <a:tr h="0">
                <a:tc>
                  <a:txBody>
                    <a:bodyPr/>
                    <a:lstStyle/>
                    <a:p>
                      <a:pPr latinLnBrk="1"/>
                      <a:r>
                        <a:rPr lang="ko-KR" altLang="en-US" sz="800" dirty="0">
                          <a:latin typeface="+mn-ea"/>
                          <a:ea typeface="+mn-ea"/>
                        </a:rPr>
                        <a:t>가격점수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협상에 의한 계약인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4111726"/>
                  </a:ext>
                </a:extLst>
              </a:tr>
              <a:tr h="0">
                <a:tc>
                  <a:txBody>
                    <a:bodyPr/>
                    <a:lstStyle/>
                    <a:p>
                      <a:pPr latinLnBrk="1"/>
                      <a:r>
                        <a:rPr lang="ko-KR" altLang="en-US" sz="800" dirty="0">
                          <a:latin typeface="+mn-ea"/>
                          <a:ea typeface="+mn-ea"/>
                        </a:rPr>
                        <a:t>중소기업가점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mdEvlScr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중소기업가점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협상에 의한 계약인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6850944"/>
                  </a:ext>
                </a:extLst>
              </a:tr>
              <a:tr h="0">
                <a:tc>
                  <a:txBody>
                    <a:bodyPr/>
                    <a:lstStyle/>
                    <a:p>
                      <a:pPr latinLnBrk="1"/>
                      <a:r>
                        <a:rPr lang="ko-KR" altLang="en-US" sz="800" dirty="0">
                          <a:latin typeface="+mn-ea"/>
                          <a:ea typeface="+mn-ea"/>
                        </a:rPr>
                        <a:t>합계점수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합계점수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9671561"/>
                  </a:ext>
                </a:extLst>
              </a:tr>
              <a:tr h="0">
                <a:tc>
                  <a:txBody>
                    <a:bodyPr/>
                    <a:lstStyle/>
                    <a:p>
                      <a:pPr latinLnBrk="1"/>
                      <a:r>
                        <a:rPr lang="ko-KR" altLang="en-US" sz="800" dirty="0">
                          <a:latin typeface="+mn-ea"/>
                          <a:ea typeface="+mn-ea"/>
                        </a:rPr>
                        <a:t>입찰금액평가점수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bidAmtEvlScr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입찰금액평가점수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적격심사제인 경우 보여줌 </a:t>
                      </a:r>
                      <a:r>
                        <a:rPr lang="en-US" altLang="ko-KR" sz="800" dirty="0">
                          <a:latin typeface="+mn-ea"/>
                          <a:ea typeface="+mn-ea"/>
                        </a:rPr>
                        <a:t>(</a:t>
                      </a:r>
                      <a:r>
                        <a:rPr lang="ko-KR" altLang="en-US" sz="800" dirty="0">
                          <a:latin typeface="+mn-ea"/>
                          <a:ea typeface="+mn-ea"/>
                        </a:rPr>
                        <a:t>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 </a:t>
                      </a:r>
                      <a:r>
                        <a:rPr lang="ko-KR" altLang="en-US" sz="800" dirty="0">
                          <a:latin typeface="+mn-ea"/>
                          <a:ea typeface="+mn-ea"/>
                        </a:rPr>
                        <a:t>제외</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9739686"/>
                  </a:ext>
                </a:extLst>
              </a:tr>
            </a:tbl>
          </a:graphicData>
        </a:graphic>
      </p:graphicFrame>
      <p:sp>
        <p:nvSpPr>
          <p:cNvPr id="2" name="TextBox 1">
            <a:extLst>
              <a:ext uri="{FF2B5EF4-FFF2-40B4-BE49-F238E27FC236}">
                <a16:creationId xmlns:a16="http://schemas.microsoft.com/office/drawing/2014/main" id="{E218C239-E57A-461A-7BE6-C4D7F219E543}"/>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(3/5)</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27C983D9-0E6B-71D6-FEBF-20FB25E6ED7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61854338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242</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4859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공사수행평가점수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공사수행평가점수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적격심사제인 경우 보여줌 </a:t>
                      </a:r>
                      <a:r>
                        <a:rPr lang="en-US" altLang="ko-KR" sz="800" dirty="0">
                          <a:latin typeface="+mn-ea"/>
                          <a:ea typeface="+mn-ea"/>
                        </a:rPr>
                        <a:t>(</a:t>
                      </a:r>
                      <a:r>
                        <a:rPr lang="ko-KR" altLang="en-US" sz="800" dirty="0">
                          <a:latin typeface="+mn-ea"/>
                          <a:ea typeface="+mn-ea"/>
                        </a:rPr>
                        <a:t>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 </a:t>
                      </a:r>
                      <a:r>
                        <a:rPr lang="ko-KR" altLang="en-US" sz="800" dirty="0">
                          <a:latin typeface="+mn-ea"/>
                          <a:ea typeface="+mn-ea"/>
                        </a:rPr>
                        <a:t>제외</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1356339"/>
                  </a:ext>
                </a:extLst>
              </a:tr>
              <a:tr h="0">
                <a:tc>
                  <a:txBody>
                    <a:bodyPr/>
                    <a:lstStyle/>
                    <a:p>
                      <a:pPr latinLnBrk="1"/>
                      <a:r>
                        <a:rPr lang="ko-KR" altLang="en-US" sz="800" dirty="0">
                          <a:latin typeface="+mn-ea"/>
                          <a:ea typeface="+mn-ea"/>
                        </a:rPr>
                        <a:t>설계점수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designScr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설계점수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설계점수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wgvlRfltDesignScr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설계점수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8837303"/>
                  </a:ext>
                </a:extLst>
              </a:tr>
              <a:tr h="0">
                <a:tc>
                  <a:txBody>
                    <a:bodyPr/>
                    <a:lstStyle/>
                    <a:p>
                      <a:pPr latinLnBrk="1"/>
                      <a:r>
                        <a:rPr lang="ko-KR" altLang="en-US" sz="800" dirty="0">
                          <a:latin typeface="+mn-ea"/>
                          <a:ea typeface="+mn-ea"/>
                        </a:rPr>
                        <a:t>가격점수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wgvlRfltPrcScr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1080628"/>
                  </a:ext>
                </a:extLst>
              </a:tr>
              <a:tr h="0">
                <a:tc>
                  <a:txBody>
                    <a:bodyPr/>
                    <a:lstStyle/>
                    <a:p>
                      <a:pPr latinLnBrk="1"/>
                      <a:r>
                        <a:rPr lang="ko-KR" altLang="en-US" sz="800" dirty="0">
                          <a:latin typeface="+mn-ea"/>
                          <a:ea typeface="+mn-ea"/>
                        </a:rPr>
                        <a:t>종합평점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종합평점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9218280"/>
                  </a:ext>
                </a:extLst>
              </a:tr>
              <a:tr h="0">
                <a:tc>
                  <a:txBody>
                    <a:bodyPr/>
                    <a:lstStyle/>
                    <a:p>
                      <a:pPr latinLnBrk="1"/>
                      <a:r>
                        <a:rPr lang="ko-KR" altLang="en-US" sz="800" dirty="0">
                          <a:latin typeface="+mn-ea"/>
                          <a:ea typeface="+mn-ea"/>
                        </a:rPr>
                        <a:t>실시설계 적격자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enfrcDesignElgbPicYn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실시설계 적격자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8888914"/>
                  </a:ext>
                </a:extLst>
              </a:tr>
              <a:tr h="0">
                <a:tc>
                  <a:txBody>
                    <a:bodyPr/>
                    <a:lstStyle/>
                    <a:p>
                      <a:pPr latinLnBrk="1"/>
                      <a:r>
                        <a:rPr lang="ko-KR" altLang="en-US" sz="800" dirty="0">
                          <a:latin typeface="+mn-ea"/>
                          <a:ea typeface="+mn-ea"/>
                        </a:rPr>
                        <a:t>입찰서제출일시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regDt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 수의협상 건인 경우 견적서제출일시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6537252"/>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0135163"/>
                  </a:ext>
                </a:extLst>
              </a:tr>
              <a:tr h="0">
                <a:tc>
                  <a:txBody>
                    <a:bodyPr/>
                    <a:lstStyle/>
                    <a:p>
                      <a:pPr latinLnBrk="1"/>
                      <a:r>
                        <a:rPr lang="ko-KR" altLang="en-US" sz="800" dirty="0">
                          <a:latin typeface="+mn-ea"/>
                          <a:ea typeface="+mn-ea"/>
                        </a:rPr>
                        <a:t>첨부서류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docId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공개 수의협상 건이고 해당건의 담당부서인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84244"/>
                  </a:ext>
                </a:extLst>
              </a:tr>
              <a:tr h="0">
                <a:tc>
                  <a:txBody>
                    <a:bodyPr/>
                    <a:lstStyle/>
                    <a:p>
                      <a:pPr latinLnBrk="1"/>
                      <a:r>
                        <a:rPr lang="ko-KR" altLang="en-US" sz="800" dirty="0">
                          <a:latin typeface="+mn-ea"/>
                          <a:ea typeface="+mn-ea"/>
                        </a:rPr>
                        <a:t>서약서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wrot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버튼항목으로 서약서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물품인 경우 해당건의 담당자인 경우에만 보여주고 나머지는 해당건의 담당부서인 경우에만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4863763"/>
                  </a:ext>
                </a:extLst>
              </a:tr>
              <a:tr h="0">
                <a:tc>
                  <a:txBody>
                    <a:bodyPr/>
                    <a:lstStyle/>
                    <a:p>
                      <a:pPr latinLnBrk="1"/>
                      <a:r>
                        <a:rPr lang="ko-KR" altLang="en-US" sz="800" dirty="0">
                          <a:latin typeface="+mn-ea"/>
                          <a:ea typeface="+mn-ea"/>
                        </a:rPr>
                        <a:t>내역서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dtsm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버튼항목으로 내역서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내역입찰</a:t>
                      </a:r>
                      <a:r>
                        <a:rPr lang="en-US" altLang="ko-KR" sz="800" dirty="0">
                          <a:latin typeface="+mn-ea"/>
                          <a:ea typeface="+mn-ea"/>
                        </a:rPr>
                        <a:t>(</a:t>
                      </a:r>
                      <a:r>
                        <a:rPr lang="ko-KR" altLang="en-US" sz="800" dirty="0">
                          <a:latin typeface="+mn-ea"/>
                          <a:ea typeface="+mn-ea"/>
                        </a:rPr>
                        <a:t>최저가</a:t>
                      </a:r>
                      <a:r>
                        <a:rPr lang="en-US" altLang="ko-KR" sz="800" dirty="0">
                          <a:latin typeface="+mn-ea"/>
                          <a:ea typeface="+mn-ea"/>
                        </a:rPr>
                        <a:t>)</a:t>
                      </a:r>
                      <a:r>
                        <a:rPr lang="ko-KR" altLang="en-US" sz="800" dirty="0">
                          <a:latin typeface="+mn-ea"/>
                          <a:ea typeface="+mn-ea"/>
                        </a:rPr>
                        <a:t>이거나 내역입찰</a:t>
                      </a:r>
                      <a:r>
                        <a:rPr lang="en-US" altLang="ko-KR" sz="800" dirty="0">
                          <a:latin typeface="+mn-ea"/>
                          <a:ea typeface="+mn-ea"/>
                        </a:rPr>
                        <a:t>(</a:t>
                      </a:r>
                      <a:r>
                        <a:rPr lang="ko-KR" altLang="en-US" sz="800" dirty="0">
                          <a:latin typeface="+mn-ea"/>
                          <a:ea typeface="+mn-ea"/>
                        </a:rPr>
                        <a:t>적격심사</a:t>
                      </a:r>
                      <a:r>
                        <a:rPr lang="en-US" altLang="ko-KR" sz="800" dirty="0">
                          <a:latin typeface="+mn-ea"/>
                          <a:ea typeface="+mn-ea"/>
                        </a:rPr>
                        <a:t>)</a:t>
                      </a:r>
                      <a:r>
                        <a:rPr lang="ko-KR" altLang="en-US" sz="800" dirty="0">
                          <a:latin typeface="+mn-ea"/>
                          <a:ea typeface="+mn-ea"/>
                        </a:rPr>
                        <a:t>인 경우 해당 건의 담당자인 경우에만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4006387"/>
                  </a:ext>
                </a:extLst>
              </a:tr>
              <a:tr h="0">
                <a:tc>
                  <a:txBody>
                    <a:bodyPr/>
                    <a:lstStyle/>
                    <a:p>
                      <a:pPr latinLnBrk="1"/>
                      <a:r>
                        <a:rPr lang="ko-KR" altLang="en-US" sz="800" dirty="0">
                          <a:latin typeface="+mn-ea"/>
                          <a:ea typeface="+mn-ea"/>
                        </a:rPr>
                        <a:t>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진행상태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물품이고 </a:t>
                      </a:r>
                      <a:r>
                        <a:rPr lang="ko-KR" altLang="en-US" sz="800" dirty="0" err="1">
                          <a:latin typeface="+mn-ea"/>
                          <a:ea typeface="+mn-ea"/>
                        </a:rPr>
                        <a:t>적격심사제이고</a:t>
                      </a:r>
                      <a:r>
                        <a:rPr lang="ko-KR" altLang="en-US" sz="800" dirty="0">
                          <a:latin typeface="+mn-ea"/>
                          <a:ea typeface="+mn-ea"/>
                        </a:rPr>
                        <a:t> 방위사업청에서 작성한 건인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64849"/>
                  </a:ext>
                </a:extLst>
              </a:tr>
              <a:tr h="0">
                <a:tc>
                  <a:txBody>
                    <a:bodyPr/>
                    <a:lstStyle/>
                    <a:p>
                      <a:pPr latinLnBrk="1"/>
                      <a:r>
                        <a:rPr lang="ko-KR" altLang="en-US" sz="800" dirty="0">
                          <a:latin typeface="+mn-ea"/>
                          <a:ea typeface="+mn-ea"/>
                        </a:rPr>
                        <a:t>복수예가 선택번호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rsrvPrcChcNo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복수예가 선택번호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7501944"/>
                  </a:ext>
                </a:extLst>
              </a:tr>
              <a:tr h="0">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cstrnPrmco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예정가격이 </a:t>
                      </a:r>
                      <a:r>
                        <a:rPr lang="en-US" altLang="ko-KR" sz="800" dirty="0">
                          <a:latin typeface="+mn-ea"/>
                          <a:ea typeface="+mn-ea"/>
                        </a:rPr>
                        <a:t>100</a:t>
                      </a:r>
                      <a:r>
                        <a:rPr lang="ko-KR" altLang="en-US" sz="800" dirty="0">
                          <a:latin typeface="+mn-ea"/>
                          <a:ea typeface="+mn-ea"/>
                        </a:rPr>
                        <a:t>억원 미만인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3347748"/>
                  </a:ext>
                </a:extLst>
              </a:tr>
            </a:tbl>
          </a:graphicData>
        </a:graphic>
      </p:graphicFrame>
      <p:sp>
        <p:nvSpPr>
          <p:cNvPr id="5" name="TextBox 4">
            <a:extLst>
              <a:ext uri="{FF2B5EF4-FFF2-40B4-BE49-F238E27FC236}">
                <a16:creationId xmlns:a16="http://schemas.microsoft.com/office/drawing/2014/main" id="{207CB033-FD6A-E406-4666-94E8B4A9EA5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(4/5)</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937398ED-9CDB-45AC-CEA8-96285625B1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64218512"/>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243</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구매담당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prchsPicNm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구매담당 성명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1356339"/>
                  </a:ext>
                </a:extLst>
              </a:tr>
              <a:tr h="0">
                <a:tc>
                  <a:txBody>
                    <a:bodyPr/>
                    <a:lstStyle/>
                    <a:p>
                      <a:pPr latinLnBrk="1"/>
                      <a:r>
                        <a:rPr lang="ko-KR" altLang="en-US" sz="800" dirty="0">
                          <a:latin typeface="+mn-ea"/>
                          <a:ea typeface="+mn-ea"/>
                        </a:rPr>
                        <a:t>구매담당 계급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prchrEchlnCd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구매담당 계급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협상담당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ngttrNm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협상담당 성명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5148970"/>
                  </a:ext>
                </a:extLst>
              </a:tr>
              <a:tr h="0">
                <a:tc>
                  <a:txBody>
                    <a:bodyPr/>
                    <a:lstStyle/>
                    <a:p>
                      <a:pPr latinLnBrk="1"/>
                      <a:r>
                        <a:rPr lang="ko-KR" altLang="en-US" sz="800" dirty="0">
                          <a:latin typeface="+mn-ea"/>
                          <a:ea typeface="+mn-ea"/>
                        </a:rPr>
                        <a:t>협상담당 계급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ngttrEchlnCd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협상담당 계급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178023"/>
                  </a:ext>
                </a:extLst>
              </a:tr>
              <a:tr h="0">
                <a:tc>
                  <a:txBody>
                    <a:bodyPr/>
                    <a:lstStyle/>
                    <a:p>
                      <a:pPr latinLnBrk="1"/>
                      <a:r>
                        <a:rPr lang="ko-KR" altLang="en-US" sz="800" dirty="0">
                          <a:latin typeface="+mn-ea"/>
                          <a:ea typeface="+mn-ea"/>
                        </a:rPr>
                        <a:t>입회관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ctspNm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입회관 성명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0044967"/>
                  </a:ext>
                </a:extLst>
              </a:tr>
              <a:tr h="0">
                <a:tc>
                  <a:txBody>
                    <a:bodyPr/>
                    <a:lstStyle/>
                    <a:p>
                      <a:pPr latinLnBrk="1"/>
                      <a:r>
                        <a:rPr lang="ko-KR" altLang="en-US" sz="800" dirty="0">
                          <a:latin typeface="+mn-ea"/>
                          <a:ea typeface="+mn-ea"/>
                        </a:rPr>
                        <a:t>입회관 계급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ctspEchlnCd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입회관 계급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1957008"/>
                  </a:ext>
                </a:extLst>
              </a:tr>
            </a:tbl>
          </a:graphicData>
        </a:graphic>
      </p:graphicFrame>
      <p:sp>
        <p:nvSpPr>
          <p:cNvPr id="5" name="TextBox 4">
            <a:extLst>
              <a:ext uri="{FF2B5EF4-FFF2-40B4-BE49-F238E27FC236}">
                <a16:creationId xmlns:a16="http://schemas.microsoft.com/office/drawing/2014/main" id="{207CB033-FD6A-E406-4666-94E8B4A9EA5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(5/5)</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937398ED-9CDB-45AC-CEA8-96285625B1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C5F35594-4603-E3F1-E6DB-45D5EBE5CD31}"/>
              </a:ext>
            </a:extLst>
          </p:cNvPr>
          <p:cNvSpPr txBox="1"/>
          <p:nvPr/>
        </p:nvSpPr>
        <p:spPr>
          <a:xfrm>
            <a:off x="458117" y="803113"/>
            <a:ext cx="2724070"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조달업무담당자</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sp>
        <p:nvSpPr>
          <p:cNvPr id="8" name="TextBox 7">
            <a:extLst>
              <a:ext uri="{FF2B5EF4-FFF2-40B4-BE49-F238E27FC236}">
                <a16:creationId xmlns:a16="http://schemas.microsoft.com/office/drawing/2014/main" id="{587A009A-249C-569B-B487-A792B020FE7D}"/>
              </a:ext>
            </a:extLst>
          </p:cNvPr>
          <p:cNvSpPr txBox="1"/>
          <p:nvPr/>
        </p:nvSpPr>
        <p:spPr>
          <a:xfrm>
            <a:off x="460676" y="2653212"/>
            <a:ext cx="3355653"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비공개수의협상결과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dlt_prvtVltrnsNgtnRslt</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A34B3211-0C23-2674-413C-CC46191E2A15}"/>
              </a:ext>
            </a:extLst>
          </p:cNvPr>
          <p:cNvGraphicFramePr>
            <a:graphicFrameLocks noGrp="1"/>
          </p:cNvGraphicFramePr>
          <p:nvPr/>
        </p:nvGraphicFramePr>
        <p:xfrm>
          <a:off x="455558" y="293696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8505521"/>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0179676"/>
                  </a:ext>
                </a:extLst>
              </a:tr>
              <a:tr h="0">
                <a:tc>
                  <a:txBody>
                    <a:bodyPr/>
                    <a:lstStyle/>
                    <a:p>
                      <a:pPr latinLnBrk="1"/>
                      <a:r>
                        <a:rPr lang="ko-KR" altLang="en-US" sz="800" dirty="0">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6783406"/>
                  </a:ext>
                </a:extLst>
              </a:tr>
              <a:tr h="0">
                <a:tc>
                  <a:txBody>
                    <a:bodyPr/>
                    <a:lstStyle/>
                    <a:p>
                      <a:pPr latinLnBrk="1"/>
                      <a:r>
                        <a:rPr lang="ko-KR" altLang="en-US" sz="800" dirty="0">
                          <a:latin typeface="+mn-ea"/>
                          <a:ea typeface="+mn-ea"/>
                        </a:rPr>
                        <a:t>견적단가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estmtUntprc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견적단가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150389"/>
                  </a:ext>
                </a:extLst>
              </a:tr>
              <a:tr h="0">
                <a:tc>
                  <a:txBody>
                    <a:bodyPr/>
                    <a:lstStyle/>
                    <a:p>
                      <a:pPr latinLnBrk="1"/>
                      <a:r>
                        <a:rPr lang="ko-KR" altLang="en-US" sz="800" dirty="0" err="1">
                          <a:latin typeface="+mn-ea"/>
                          <a:ea typeface="+mn-ea"/>
                        </a:rPr>
                        <a:t>낙찰률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scbrt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낙찰률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0188953"/>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3505811"/>
                  </a:ext>
                </a:extLst>
              </a:tr>
            </a:tbl>
          </a:graphicData>
        </a:graphic>
      </p:graphicFrame>
      <p:sp>
        <p:nvSpPr>
          <p:cNvPr id="10" name="TextBox 9">
            <a:extLst>
              <a:ext uri="{FF2B5EF4-FFF2-40B4-BE49-F238E27FC236}">
                <a16:creationId xmlns:a16="http://schemas.microsoft.com/office/drawing/2014/main" id="{F39B00BA-8A51-2138-5DE8-37F6691FD3F2}"/>
              </a:ext>
            </a:extLst>
          </p:cNvPr>
          <p:cNvSpPr txBox="1"/>
          <p:nvPr/>
        </p:nvSpPr>
        <p:spPr>
          <a:xfrm>
            <a:off x="465794" y="4747702"/>
            <a:ext cx="2026764"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11" name="표 10">
            <a:extLst>
              <a:ext uri="{FF2B5EF4-FFF2-40B4-BE49-F238E27FC236}">
                <a16:creationId xmlns:a16="http://schemas.microsoft.com/office/drawing/2014/main" id="{4242899C-6D54-696D-CC5F-8B2A573878D7}"/>
              </a:ext>
            </a:extLst>
          </p:cNvPr>
          <p:cNvGraphicFramePr>
            <a:graphicFrameLocks noGrp="1"/>
          </p:cNvGraphicFramePr>
          <p:nvPr/>
        </p:nvGraphicFramePr>
        <p:xfrm>
          <a:off x="460676" y="503145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8505521"/>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0179676"/>
                  </a:ext>
                </a:extLst>
              </a:tr>
            </a:tbl>
          </a:graphicData>
        </a:graphic>
      </p:graphicFrame>
    </p:spTree>
    <p:extLst>
      <p:ext uri="{BB962C8B-B14F-4D97-AF65-F5344CB8AC3E}">
        <p14:creationId xmlns:p14="http://schemas.microsoft.com/office/powerpoint/2010/main" val="211505091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표 6">
            <a:extLst>
              <a:ext uri="{FF2B5EF4-FFF2-40B4-BE49-F238E27FC236}">
                <a16:creationId xmlns:a16="http://schemas.microsoft.com/office/drawing/2014/main" id="{A3DD87FA-555D-941B-A77D-B922C9BF6D2C}"/>
              </a:ext>
            </a:extLst>
          </p:cNvPr>
          <p:cNvGraphicFramePr>
            <a:graphicFrameLocks noGrp="1"/>
          </p:cNvGraphicFramePr>
          <p:nvPr>
            <p:extLst>
              <p:ext uri="{D42A27DB-BD31-4B8C-83A1-F6EECF244321}">
                <p14:modId xmlns:p14="http://schemas.microsoft.com/office/powerpoint/2010/main" val="4084063612"/>
              </p:ext>
            </p:extLst>
          </p:nvPr>
        </p:nvGraphicFramePr>
        <p:xfrm>
          <a:off x="452291" y="1014316"/>
          <a:ext cx="8995591" cy="33302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40959132"/>
                  </a:ext>
                </a:extLst>
              </a:tr>
              <a:tr h="0">
                <a:tc>
                  <a:txBody>
                    <a:bodyPr/>
                    <a:lstStyle/>
                    <a:p>
                      <a:pPr latinLnBrk="1"/>
                      <a:r>
                        <a:rPr lang="ko-KR" altLang="en-US" sz="800" dirty="0">
                          <a:latin typeface="+mn-ea"/>
                          <a:ea typeface="+mn-ea"/>
                        </a:rPr>
                        <a:t>입찰결과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scwin.getBidRsltInfo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공고정보</a:t>
                      </a:r>
                      <a:r>
                        <a:rPr lang="en-US" altLang="ko-KR" sz="800" dirty="0">
                          <a:latin typeface="+mn-ea"/>
                          <a:ea typeface="+mn-ea"/>
                        </a:rPr>
                        <a:t>,</a:t>
                      </a:r>
                      <a:r>
                        <a:rPr lang="ko-KR" altLang="en-US" sz="800" dirty="0">
                          <a:latin typeface="+mn-ea"/>
                          <a:ea typeface="+mn-ea"/>
                        </a:rPr>
                        <a:t> 품목정보</a:t>
                      </a:r>
                      <a:r>
                        <a:rPr lang="en-US" altLang="ko-KR" sz="800" dirty="0">
                          <a:latin typeface="+mn-ea"/>
                          <a:ea typeface="+mn-ea"/>
                        </a:rPr>
                        <a:t>, </a:t>
                      </a:r>
                      <a:r>
                        <a:rPr lang="ko-KR" altLang="en-US" sz="800" dirty="0">
                          <a:latin typeface="+mn-ea"/>
                          <a:ea typeface="+mn-ea"/>
                        </a:rPr>
                        <a:t>입찰결과목록</a:t>
                      </a:r>
                      <a:r>
                        <a:rPr lang="en-US" altLang="ko-KR" sz="800" dirty="0">
                          <a:latin typeface="+mn-ea"/>
                          <a:ea typeface="+mn-ea"/>
                        </a:rPr>
                        <a:t>, </a:t>
                      </a:r>
                      <a:r>
                        <a:rPr lang="ko-KR" altLang="en-US" sz="800" dirty="0">
                          <a:latin typeface="+mn-ea"/>
                          <a:ea typeface="+mn-ea"/>
                        </a:rPr>
                        <a:t>조달업무담당자</a:t>
                      </a:r>
                      <a:r>
                        <a:rPr lang="en-US" altLang="ko-KR" sz="800" dirty="0">
                          <a:latin typeface="+mn-ea"/>
                          <a:ea typeface="+mn-ea"/>
                        </a:rPr>
                        <a:t>, </a:t>
                      </a:r>
                      <a:r>
                        <a:rPr lang="ko-KR" altLang="en-US" sz="800" dirty="0">
                          <a:latin typeface="+mn-ea"/>
                          <a:ea typeface="+mn-ea"/>
                        </a:rPr>
                        <a:t>비공개수의협상결과를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190186"/>
                  </a:ext>
                </a:extLst>
              </a:tr>
              <a:tr h="0">
                <a:tc>
                  <a:txBody>
                    <a:bodyPr/>
                    <a:lstStyle/>
                    <a:p>
                      <a:r>
                        <a:rPr lang="ko-KR" altLang="en-US" sz="800" dirty="0" err="1"/>
                        <a:t>복수예가조회</a:t>
                      </a:r>
                      <a:r>
                        <a:rPr lang="ko-KR" altLang="en-US" sz="800" dirty="0"/>
                        <a:t>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scwin.btn_plrlAmdprcInq_onclick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복수예가조회</a:t>
                      </a:r>
                      <a:r>
                        <a:rPr lang="ko-KR" altLang="en-US" sz="800" dirty="0">
                          <a:latin typeface="+mn-ea"/>
                          <a:ea typeface="+mn-ea"/>
                        </a:rPr>
                        <a:t> 팝업화면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t>(MUI-BD-09-P02) </a:t>
                      </a:r>
                      <a:r>
                        <a:rPr lang="ko-KR" altLang="en-US" sz="800" dirty="0">
                          <a:latin typeface="+mn-ea"/>
                          <a:ea typeface="+mn-ea"/>
                        </a:rPr>
                        <a:t>복수예비가격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970171"/>
                  </a:ext>
                </a:extLst>
              </a:tr>
              <a:tr h="0">
                <a:tc>
                  <a:txBody>
                    <a:bodyPr/>
                    <a:lstStyle/>
                    <a:p>
                      <a:r>
                        <a:rPr lang="ko-KR" altLang="en-US" sz="800" dirty="0"/>
                        <a:t>동가낙찰결과 조회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scwin.btn_smprcScsbdRsltInq_onclick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동가낙찰결과 조회 팝업화면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t>(MUI-BD-09-P03) </a:t>
                      </a:r>
                      <a:r>
                        <a:rPr lang="ko-KR" altLang="en-US" sz="800" dirty="0">
                          <a:latin typeface="+mn-ea"/>
                          <a:ea typeface="+mn-ea"/>
                        </a:rPr>
                        <a:t>동가낙찰결과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9362445"/>
                  </a:ext>
                </a:extLst>
              </a:tr>
              <a:tr h="0">
                <a:tc>
                  <a:txBody>
                    <a:bodyPr/>
                    <a:lstStyle/>
                    <a:p>
                      <a:pPr latinLnBrk="1"/>
                      <a:r>
                        <a:rPr lang="ko-KR" altLang="en-US" sz="800" dirty="0"/>
                        <a:t>기술점수 </a:t>
                      </a:r>
                      <a:r>
                        <a:rPr lang="ko-KR" altLang="en-US" sz="800" dirty="0" err="1" smtClean="0"/>
                        <a:t>버튼클릭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scwin.grid_onclick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smtClean="0">
                          <a:latin typeface="+mn-ea"/>
                          <a:ea typeface="+mn-ea"/>
                        </a:rPr>
                        <a:t>업체의 </a:t>
                      </a:r>
                      <a:r>
                        <a:rPr lang="ko-KR" altLang="en-US" sz="800" dirty="0">
                          <a:latin typeface="+mn-ea"/>
                          <a:ea typeface="+mn-ea"/>
                        </a:rPr>
                        <a:t>평가위원별 기술평가점수를 조회하는 팝업화면을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smtClean="0">
                          <a:latin typeface="+mn-ea"/>
                          <a:ea typeface="+mn-ea"/>
                        </a:rPr>
                        <a:t>(MUI-BD-09-P04) </a:t>
                      </a:r>
                      <a:r>
                        <a:rPr lang="ko-KR" altLang="en-US" sz="800" dirty="0" err="1">
                          <a:latin typeface="+mn-ea"/>
                          <a:ea typeface="+mn-ea"/>
                        </a:rPr>
                        <a:t>평가위원별기술평가점수상세조회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2110240"/>
                  </a:ext>
                </a:extLst>
              </a:tr>
              <a:tr h="0">
                <a:tc>
                  <a:txBody>
                    <a:bodyPr/>
                    <a:lstStyle/>
                    <a:p>
                      <a:pPr latinLnBrk="1"/>
                      <a:r>
                        <a:rPr lang="ko-KR" altLang="en-US" sz="800" dirty="0">
                          <a:latin typeface="+mn-ea"/>
                          <a:ea typeface="+mn-ea"/>
                        </a:rPr>
                        <a:t>출력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선택된 출력물구분에 해당하는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(UI-BD-09-R02) </a:t>
                      </a:r>
                      <a:r>
                        <a:rPr lang="ko-KR" altLang="en-US" sz="800" dirty="0" err="1">
                          <a:latin typeface="+mn-ea"/>
                          <a:ea typeface="+mn-ea"/>
                        </a:rPr>
                        <a:t>입찰비교표출력물</a:t>
                      </a:r>
                      <a:r>
                        <a:rPr lang="en-US" altLang="ko-KR" sz="800" dirty="0">
                          <a:latin typeface="+mn-ea"/>
                          <a:ea typeface="+mn-ea"/>
                        </a:rPr>
                        <a:t>-</a:t>
                      </a:r>
                      <a:r>
                        <a:rPr lang="ko-KR" altLang="en-US" sz="800" dirty="0">
                          <a:latin typeface="+mn-ea"/>
                          <a:ea typeface="+mn-ea"/>
                        </a:rPr>
                        <a:t>물품</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a:t>
                      </a:r>
                      <a:r>
                        <a:rPr lang="en-US" altLang="ko-KR" sz="800" dirty="0"/>
                        <a:t>UI-BD-09-R03)</a:t>
                      </a:r>
                      <a:r>
                        <a:rPr lang="ko-KR" altLang="en-US" sz="800" dirty="0">
                          <a:latin typeface="+mn-ea"/>
                          <a:ea typeface="+mn-ea"/>
                        </a:rPr>
                        <a:t> </a:t>
                      </a:r>
                      <a:r>
                        <a:rPr lang="ko-KR" altLang="en-US" sz="800" dirty="0" err="1">
                          <a:latin typeface="+mn-ea"/>
                          <a:ea typeface="+mn-ea"/>
                        </a:rPr>
                        <a:t>입찰비교표출력물</a:t>
                      </a:r>
                      <a:r>
                        <a:rPr lang="en-US" altLang="ko-KR" sz="800" dirty="0">
                          <a:latin typeface="+mn-ea"/>
                          <a:ea typeface="+mn-ea"/>
                        </a:rPr>
                        <a:t>-</a:t>
                      </a:r>
                      <a:r>
                        <a:rPr lang="ko-KR" altLang="en-US" sz="800" dirty="0">
                          <a:latin typeface="+mn-ea"/>
                          <a:ea typeface="+mn-ea"/>
                        </a:rPr>
                        <a:t>리스입찰</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a:t>
                      </a:r>
                      <a:r>
                        <a:rPr lang="en-US" altLang="ko-KR" sz="800" dirty="0"/>
                        <a:t>UI-BD-09-R04) </a:t>
                      </a:r>
                      <a:r>
                        <a:rPr lang="ko-KR" altLang="en-US" sz="800" dirty="0" err="1">
                          <a:latin typeface="+mn-ea"/>
                          <a:ea typeface="+mn-ea"/>
                        </a:rPr>
                        <a:t>입찰비교표출력물</a:t>
                      </a:r>
                      <a:r>
                        <a:rPr lang="en-US" altLang="ko-KR" sz="800" dirty="0">
                          <a:latin typeface="+mn-ea"/>
                          <a:ea typeface="+mn-ea"/>
                        </a:rPr>
                        <a:t>-</a:t>
                      </a:r>
                      <a:r>
                        <a:rPr lang="ko-KR" altLang="en-US" sz="800" dirty="0">
                          <a:latin typeface="+mn-ea"/>
                          <a:ea typeface="+mn-ea"/>
                        </a:rPr>
                        <a:t>공사</a:t>
                      </a:r>
                      <a:endParaRPr lang="en-US" altLang="ko-KR" sz="800" dirty="0"/>
                    </a:p>
                    <a:p>
                      <a:pPr marL="0" indent="0" algn="l" latinLnBrk="1">
                        <a:buFont typeface="Arial" panose="020B0604020202020204" pitchFamily="34" charset="0"/>
                        <a:buNone/>
                      </a:pPr>
                      <a:r>
                        <a:rPr lang="en-US" altLang="ko-KR" sz="800" dirty="0"/>
                        <a:t>(UI-BD-09-R05) </a:t>
                      </a:r>
                      <a:r>
                        <a:rPr lang="ko-KR" altLang="en-US" sz="800" dirty="0" err="1"/>
                        <a:t>입찰결과보고출력물</a:t>
                      </a:r>
                      <a:r>
                        <a:rPr lang="en-US" altLang="ko-KR" sz="800" dirty="0"/>
                        <a:t>-</a:t>
                      </a:r>
                      <a:r>
                        <a:rPr lang="ko-KR" altLang="en-US" sz="800" dirty="0"/>
                        <a:t>물품</a:t>
                      </a:r>
                      <a:r>
                        <a:rPr lang="en-US" altLang="ko-KR" sz="800" dirty="0"/>
                        <a:t> </a:t>
                      </a:r>
                    </a:p>
                    <a:p>
                      <a:pPr marL="0" indent="0" algn="l" latinLnBrk="1">
                        <a:buFont typeface="Arial" panose="020B0604020202020204" pitchFamily="34" charset="0"/>
                        <a:buNone/>
                      </a:pPr>
                      <a:r>
                        <a:rPr lang="en-US" altLang="ko-KR" sz="800" dirty="0"/>
                        <a:t>(UI-BD-09-R06) </a:t>
                      </a:r>
                      <a:r>
                        <a:rPr lang="ko-KR" altLang="en-US" sz="800" dirty="0" err="1"/>
                        <a:t>입찰결과보고출력물</a:t>
                      </a:r>
                      <a:r>
                        <a:rPr lang="en-US" altLang="ko-KR" sz="800" dirty="0"/>
                        <a:t>-</a:t>
                      </a:r>
                      <a:r>
                        <a:rPr lang="ko-KR" altLang="en-US" sz="800" dirty="0"/>
                        <a:t>공사</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43272"/>
                  </a:ext>
                </a:extLst>
              </a:tr>
              <a:tr h="0">
                <a:tc>
                  <a:txBody>
                    <a:bodyPr/>
                    <a:lstStyle/>
                    <a:p>
                      <a:r>
                        <a:rPr lang="ko-KR" altLang="en-US" sz="800" dirty="0"/>
                        <a:t>서약서 출력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scwin.btn_wrotOtpt_onclick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그리드의 </a:t>
                      </a:r>
                      <a:r>
                        <a:rPr lang="en-US" altLang="ko-KR" sz="800" dirty="0">
                          <a:latin typeface="+mn-ea"/>
                          <a:ea typeface="+mn-ea"/>
                        </a:rPr>
                        <a:t>ROW</a:t>
                      </a:r>
                      <a:r>
                        <a:rPr lang="ko-KR" altLang="en-US" sz="800" dirty="0">
                          <a:latin typeface="+mn-ea"/>
                          <a:ea typeface="+mn-ea"/>
                        </a:rPr>
                        <a:t>에 해당하는 업체가 동의한 서약서 또는 내역서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(UI-BD-09-R07) </a:t>
                      </a:r>
                      <a:r>
                        <a:rPr lang="ko-KR" altLang="en-US" sz="800" dirty="0"/>
                        <a:t>서약서출력물</a:t>
                      </a:r>
                      <a:r>
                        <a:rPr lang="en-US" altLang="ko-KR" sz="800" dirty="0"/>
                        <a:t>-</a:t>
                      </a:r>
                      <a:r>
                        <a:rPr lang="ko-KR" altLang="en-US" sz="800" dirty="0" err="1"/>
                        <a:t>경쟁입찰물품통합사업관리시스템</a:t>
                      </a:r>
                      <a:endParaRPr lang="en-US" altLang="ko-KR" sz="800" dirty="0"/>
                    </a:p>
                    <a:p>
                      <a:pPr marL="0" indent="0" algn="l" latinLnBrk="1">
                        <a:buFont typeface="Arial" panose="020B0604020202020204" pitchFamily="34" charset="0"/>
                        <a:buNone/>
                      </a:pPr>
                      <a:r>
                        <a:rPr lang="en-US" altLang="ko-KR" sz="800" dirty="0"/>
                        <a:t>(UI-BD-09-R08) </a:t>
                      </a:r>
                      <a:r>
                        <a:rPr lang="ko-KR" altLang="en-US" sz="800" dirty="0"/>
                        <a:t>서약서출력물</a:t>
                      </a:r>
                      <a:r>
                        <a:rPr lang="en-US" altLang="ko-KR" sz="800" dirty="0"/>
                        <a:t>-</a:t>
                      </a:r>
                      <a:r>
                        <a:rPr lang="ko-KR" altLang="en-US" sz="800" dirty="0" err="1"/>
                        <a:t>경쟁입찰물품부대조달정보체계</a:t>
                      </a:r>
                      <a:endParaRPr lang="en-US" altLang="ko-KR" sz="800" dirty="0"/>
                    </a:p>
                    <a:p>
                      <a:pPr marL="0" indent="0" algn="l" latinLnBrk="1">
                        <a:buFont typeface="Arial" panose="020B0604020202020204" pitchFamily="34" charset="0"/>
                        <a:buNone/>
                      </a:pPr>
                      <a:r>
                        <a:rPr lang="en-US" altLang="ko-KR" sz="800" dirty="0"/>
                        <a:t>(UI-BD-09-R09) </a:t>
                      </a:r>
                      <a:r>
                        <a:rPr lang="ko-KR" altLang="en-US" sz="800" dirty="0"/>
                        <a:t>서약서출력물</a:t>
                      </a:r>
                      <a:r>
                        <a:rPr lang="en-US" altLang="ko-KR" sz="800" dirty="0"/>
                        <a:t>-</a:t>
                      </a:r>
                      <a:r>
                        <a:rPr lang="ko-KR" altLang="en-US" sz="800" dirty="0"/>
                        <a:t>경쟁입찰공사</a:t>
                      </a:r>
                      <a:endParaRPr lang="en-US" altLang="ko-KR" sz="800" dirty="0"/>
                    </a:p>
                    <a:p>
                      <a:pPr marL="0" indent="0" algn="l" latinLnBrk="1">
                        <a:buFont typeface="Arial" panose="020B0604020202020204" pitchFamily="34" charset="0"/>
                        <a:buNone/>
                      </a:pPr>
                      <a:r>
                        <a:rPr lang="en-US" altLang="ko-KR" sz="800" dirty="0"/>
                        <a:t>(UI-BD-09-R10) </a:t>
                      </a:r>
                      <a:r>
                        <a:rPr lang="ko-KR" altLang="en-US" sz="800" dirty="0"/>
                        <a:t>서약서출력물</a:t>
                      </a:r>
                      <a:r>
                        <a:rPr lang="en-US" altLang="ko-KR" sz="800" dirty="0"/>
                        <a:t>-</a:t>
                      </a:r>
                      <a:r>
                        <a:rPr lang="ko-KR" altLang="en-US" sz="800" dirty="0" err="1"/>
                        <a:t>공개수의협상물품통합사업관리시스템</a:t>
                      </a:r>
                      <a:endParaRPr lang="en-US" altLang="ko-KR" sz="800" dirty="0"/>
                    </a:p>
                    <a:p>
                      <a:pPr marL="0" indent="0" algn="l" latinLnBrk="1">
                        <a:buFont typeface="Arial" panose="020B0604020202020204" pitchFamily="34" charset="0"/>
                        <a:buNone/>
                      </a:pPr>
                      <a:r>
                        <a:rPr lang="en-US" altLang="ko-KR" sz="800" dirty="0"/>
                        <a:t>(UI-BD-09-R11) </a:t>
                      </a:r>
                      <a:r>
                        <a:rPr lang="ko-KR" altLang="en-US" sz="800" dirty="0">
                          <a:latin typeface="+mn-ea"/>
                          <a:ea typeface="+mn-ea"/>
                        </a:rPr>
                        <a:t>서약서출력물</a:t>
                      </a:r>
                      <a:r>
                        <a:rPr lang="en-US" altLang="ko-KR" sz="800" dirty="0">
                          <a:latin typeface="+mn-ea"/>
                          <a:ea typeface="+mn-ea"/>
                        </a:rPr>
                        <a:t>-</a:t>
                      </a:r>
                      <a:r>
                        <a:rPr lang="ko-KR" altLang="en-US" sz="800" dirty="0" err="1">
                          <a:latin typeface="+mn-ea"/>
                          <a:ea typeface="+mn-ea"/>
                        </a:rPr>
                        <a:t>공개수의협상물품부대조달정보체계</a:t>
                      </a:r>
                      <a:endParaRPr lang="en-US" altLang="ko-KR" sz="800" dirty="0"/>
                    </a:p>
                    <a:p>
                      <a:pPr marL="0" indent="0" algn="l" latinLnBrk="1">
                        <a:buFont typeface="Arial" panose="020B0604020202020204" pitchFamily="34" charset="0"/>
                        <a:buNone/>
                      </a:pPr>
                      <a:r>
                        <a:rPr lang="en-US" altLang="ko-KR" sz="800" dirty="0"/>
                        <a:t>(UI-BD-09-R12) </a:t>
                      </a:r>
                      <a:r>
                        <a:rPr lang="ko-KR" altLang="en-US" sz="800" dirty="0">
                          <a:latin typeface="+mn-ea"/>
                          <a:ea typeface="+mn-ea"/>
                        </a:rPr>
                        <a:t>서약서출력물</a:t>
                      </a:r>
                      <a:r>
                        <a:rPr lang="en-US" altLang="ko-KR" sz="800" dirty="0">
                          <a:latin typeface="+mn-ea"/>
                          <a:ea typeface="+mn-ea"/>
                        </a:rPr>
                        <a:t>-</a:t>
                      </a:r>
                      <a:r>
                        <a:rPr lang="ko-KR" altLang="en-US" sz="800" dirty="0">
                          <a:latin typeface="+mn-ea"/>
                          <a:ea typeface="+mn-ea"/>
                        </a:rPr>
                        <a:t>공개수의협상공사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4705806"/>
                  </a:ext>
                </a:extLst>
              </a:tr>
              <a:tr h="0">
                <a:tc>
                  <a:txBody>
                    <a:bodyPr/>
                    <a:lstStyle/>
                    <a:p>
                      <a:pPr latinLnBrk="1"/>
                      <a:r>
                        <a:rPr lang="ko-KR" altLang="en-US" sz="800" dirty="0">
                          <a:latin typeface="+mn-ea"/>
                          <a:ea typeface="+mn-ea"/>
                        </a:rPr>
                        <a:t>첨부서류의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scwin.btn_atchFileNm_onclick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a:t>
                      </a:r>
                      <a:r>
                        <a:rPr lang="en-US" altLang="ko-KR" sz="800" dirty="0">
                          <a:latin typeface="+mn-ea"/>
                          <a:ea typeface="+mn-ea"/>
                        </a:rPr>
                        <a:t>ROW</a:t>
                      </a:r>
                      <a:r>
                        <a:rPr lang="ko-KR" altLang="en-US" sz="800" dirty="0">
                          <a:latin typeface="+mn-ea"/>
                          <a:ea typeface="+mn-ea"/>
                        </a:rPr>
                        <a:t>에 해당하는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0376354"/>
                  </a:ext>
                </a:extLst>
              </a:tr>
            </a:tbl>
          </a:graphicData>
        </a:graphic>
      </p:graphicFrame>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244</a:t>
            </a:fld>
            <a:endParaRPr lang="ko-KR" altLang="en-US" dirty="0"/>
          </a:p>
        </p:txBody>
      </p:sp>
      <p:sp>
        <p:nvSpPr>
          <p:cNvPr id="9" name="TextBox 8">
            <a:extLst>
              <a:ext uri="{FF2B5EF4-FFF2-40B4-BE49-F238E27FC236}">
                <a16:creationId xmlns:a16="http://schemas.microsoft.com/office/drawing/2014/main" id="{BC2B7D68-6A34-FC31-A073-EC144B851D3E}"/>
              </a:ext>
            </a:extLst>
          </p:cNvPr>
          <p:cNvSpPr txBox="1"/>
          <p:nvPr/>
        </p:nvSpPr>
        <p:spPr>
          <a:xfrm>
            <a:off x="457408"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2" name="Text Box 73">
            <a:extLst>
              <a:ext uri="{FF2B5EF4-FFF2-40B4-BE49-F238E27FC236}">
                <a16:creationId xmlns:a16="http://schemas.microsoft.com/office/drawing/2014/main" id="{680F6E90-61A8-83D6-9628-CBF568C2D57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grpSp>
        <p:nvGrpSpPr>
          <p:cNvPr id="6" name="그룹 5"/>
          <p:cNvGrpSpPr/>
          <p:nvPr/>
        </p:nvGrpSpPr>
        <p:grpSpPr>
          <a:xfrm>
            <a:off x="8223250" y="569392"/>
            <a:ext cx="3365500" cy="634511"/>
            <a:chOff x="8223250" y="569392"/>
            <a:chExt cx="3365500" cy="634511"/>
          </a:xfrm>
        </p:grpSpPr>
        <p:sp>
          <p:nvSpPr>
            <p:cNvPr id="8" name="직사각형 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수정</a:t>
              </a:r>
            </a:p>
          </p:txBody>
        </p:sp>
        <p:sp>
          <p:nvSpPr>
            <p:cNvPr id="10" name="직사각형 9"/>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버튼 추가 작성</a:t>
              </a:r>
              <a:r>
                <a:rPr lang="en-US" altLang="ko-KR" sz="700" dirty="0" smtClean="0"/>
                <a:t/>
              </a:r>
              <a:br>
                <a:rPr lang="en-US" altLang="ko-KR" sz="700" dirty="0" smtClean="0"/>
              </a:br>
              <a:r>
                <a:rPr lang="en-US" altLang="ko-KR" sz="700" dirty="0" smtClean="0"/>
                <a:t>- </a:t>
              </a:r>
              <a:r>
                <a:rPr lang="ko-KR" altLang="en-US" sz="700" dirty="0" smtClean="0"/>
                <a:t>복수예비가격</a:t>
              </a:r>
              <a:r>
                <a:rPr lang="en-US" altLang="ko-KR" sz="700" dirty="0" smtClean="0"/>
                <a:t>, </a:t>
              </a:r>
              <a:r>
                <a:rPr lang="ko-KR" altLang="en-US" sz="700" dirty="0" smtClean="0"/>
                <a:t>동가낙찰결과</a:t>
              </a:r>
              <a:r>
                <a:rPr lang="en-US" altLang="ko-KR" sz="700" dirty="0" smtClean="0"/>
                <a:t>, </a:t>
              </a:r>
              <a:r>
                <a:rPr lang="ko-KR" altLang="en-US" sz="700" dirty="0" smtClean="0"/>
                <a:t>기술점수</a:t>
              </a:r>
              <a:r>
                <a:rPr lang="en-US" altLang="ko-KR" sz="700" dirty="0" smtClean="0"/>
                <a:t>, </a:t>
              </a:r>
              <a:r>
                <a:rPr lang="ko-KR" altLang="en-US" sz="700" dirty="0" smtClean="0"/>
                <a:t>첨부파일 다운로드</a:t>
              </a:r>
              <a:endParaRPr lang="en-US" altLang="ko-KR" sz="700" dirty="0"/>
            </a:p>
          </p:txBody>
        </p:sp>
      </p:grpSp>
    </p:spTree>
    <p:extLst>
      <p:ext uri="{BB962C8B-B14F-4D97-AF65-F5344CB8AC3E}">
        <p14:creationId xmlns:p14="http://schemas.microsoft.com/office/powerpoint/2010/main" val="144416084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복수예비가격 </a:t>
            </a:r>
            <a:r>
              <a:rPr lang="ko-KR" altLang="en-US" dirty="0" err="1" smtClean="0"/>
              <a:t>블라인드된</a:t>
            </a:r>
            <a:r>
              <a:rPr lang="ko-KR" altLang="en-US" dirty="0" smtClean="0"/>
              <a:t> 금액 정보 표시</a:t>
            </a:r>
            <a:r>
              <a:rPr lang="en-US" altLang="ko-KR" dirty="0" smtClean="0"/>
              <a:t/>
            </a:r>
            <a:br>
              <a:rPr lang="en-US" altLang="ko-KR" dirty="0" smtClean="0"/>
            </a:br>
            <a:r>
              <a:rPr lang="en-US" altLang="ko-KR" dirty="0" smtClean="0"/>
              <a:t>- </a:t>
            </a:r>
            <a:r>
              <a:rPr lang="ko-KR" altLang="en-US" dirty="0" smtClean="0"/>
              <a:t>업체들이 선택한 </a:t>
            </a:r>
            <a:r>
              <a:rPr lang="ko-KR" altLang="en-US" dirty="0" err="1" smtClean="0"/>
              <a:t>횟수정보</a:t>
            </a:r>
            <a:r>
              <a:rPr lang="ko-KR" altLang="en-US" dirty="0" smtClean="0"/>
              <a:t> 표시</a:t>
            </a:r>
            <a:endParaRPr lang="en-US" altLang="ko-KR" dirty="0" smtClean="0"/>
          </a:p>
          <a:p>
            <a:pPr marL="228600" indent="-228600">
              <a:buFont typeface="+mj-lt"/>
              <a:buAutoNum type="arabicPeriod"/>
            </a:pPr>
            <a:endParaRPr lang="en-US" altLang="ko-KR" dirty="0"/>
          </a:p>
          <a:p>
            <a:pPr marL="228600" indent="-228600">
              <a:buFont typeface="+mj-lt"/>
              <a:buAutoNum type="arabicPeriod"/>
            </a:pPr>
            <a:r>
              <a:rPr lang="ko-KR" altLang="en-US" dirty="0" smtClean="0"/>
              <a:t>업체들이 선택한 번호와 금액</a:t>
            </a:r>
            <a:r>
              <a:rPr lang="en-US" altLang="ko-KR" dirty="0" smtClean="0"/>
              <a:t>, </a:t>
            </a:r>
            <a:r>
              <a:rPr lang="ko-KR" altLang="en-US" dirty="0" err="1" smtClean="0"/>
              <a:t>업체명</a:t>
            </a:r>
            <a:r>
              <a:rPr lang="ko-KR" altLang="en-US" dirty="0" smtClean="0"/>
              <a:t> 정보 표시</a:t>
            </a:r>
            <a:r>
              <a:rPr lang="en-US" altLang="ko-KR" dirty="0" smtClean="0"/>
              <a:t/>
            </a:r>
            <a:br>
              <a:rPr lang="en-US" altLang="ko-KR" dirty="0" smtClean="0"/>
            </a:br>
            <a:r>
              <a:rPr lang="en-US" altLang="ko-KR" dirty="0" smtClean="0"/>
              <a:t>- </a:t>
            </a:r>
            <a:r>
              <a:rPr lang="ko-KR" altLang="en-US" dirty="0" err="1" smtClean="0"/>
              <a:t>업체명은</a:t>
            </a:r>
            <a:r>
              <a:rPr lang="ko-KR" altLang="en-US" dirty="0" smtClean="0"/>
              <a:t> </a:t>
            </a:r>
            <a:r>
              <a:rPr lang="ko-KR" altLang="en-US" dirty="0" err="1" smtClean="0"/>
              <a:t>마스킹</a:t>
            </a:r>
            <a:r>
              <a:rPr lang="ko-KR" altLang="en-US" dirty="0" smtClean="0"/>
              <a:t> 정책에 따름</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복수예비가격</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smtClean="0">
                <a:latin typeface="+mn-ea"/>
              </a:rPr>
              <a:t>복수예비가격 조회</a:t>
            </a:r>
            <a:r>
              <a:rPr lang="ko-KR" altLang="en-US" dirty="0" smtClean="0"/>
              <a:t> </a:t>
            </a:r>
            <a:r>
              <a:rPr lang="ko-KR" altLang="en-US" dirty="0"/>
              <a:t>팝업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smtClean="0"/>
              <a:t>&gt; </a:t>
            </a:r>
            <a:r>
              <a:rPr lang="ko-KR" altLang="en-US" dirty="0">
                <a:latin typeface="+mn-ea"/>
              </a:rPr>
              <a:t>복수예비가격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MUI-BD-09-P02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입찰결과 </a:t>
            </a:r>
            <a:r>
              <a:rPr lang="ko-KR" altLang="en-US" sz="800" dirty="0" smtClean="0">
                <a:latin typeface="+mn-ea"/>
              </a:rPr>
              <a:t>상세</a:t>
            </a:r>
            <a:endParaRPr lang="ko-KR" altLang="en-US" sz="8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양쪽 모서리가 둥근 사각형 165"/>
          <p:cNvSpPr/>
          <p:nvPr/>
        </p:nvSpPr>
        <p:spPr>
          <a:xfrm>
            <a:off x="675399" y="1914401"/>
            <a:ext cx="2712027" cy="4317897"/>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67" name="모서리가 둥근 직사각형 166"/>
          <p:cNvSpPr/>
          <p:nvPr/>
        </p:nvSpPr>
        <p:spPr>
          <a:xfrm>
            <a:off x="1761412" y="195102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8" name="그룹 167"/>
          <p:cNvGrpSpPr/>
          <p:nvPr/>
        </p:nvGrpSpPr>
        <p:grpSpPr>
          <a:xfrm>
            <a:off x="3164338" y="2085445"/>
            <a:ext cx="94010" cy="94010"/>
            <a:chOff x="6812560" y="3297172"/>
            <a:chExt cx="94010" cy="94010"/>
          </a:xfrm>
        </p:grpSpPr>
        <p:cxnSp>
          <p:nvCxnSpPr>
            <p:cNvPr id="169" name="직선 연결선 16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70" name="직선 연결선 16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72" name="TextBox 171">
            <a:extLst>
              <a:ext uri="{FF2B5EF4-FFF2-40B4-BE49-F238E27FC236}">
                <a16:creationId xmlns:a16="http://schemas.microsoft.com/office/drawing/2014/main" id="{FFC49AEA-2A8F-250C-A86A-A7751D9706C3}"/>
              </a:ext>
            </a:extLst>
          </p:cNvPr>
          <p:cNvSpPr txBox="1"/>
          <p:nvPr/>
        </p:nvSpPr>
        <p:spPr>
          <a:xfrm>
            <a:off x="804476" y="2066124"/>
            <a:ext cx="1798758" cy="138499"/>
          </a:xfrm>
          <a:prstGeom prst="rect">
            <a:avLst/>
          </a:prstGeom>
          <a:noFill/>
        </p:spPr>
        <p:txBody>
          <a:bodyPr wrap="square" lIns="0" tIns="0" rIns="0" bIns="0" rtlCol="0">
            <a:spAutoFit/>
          </a:bodyPr>
          <a:lstStyle/>
          <a:p>
            <a:r>
              <a:rPr lang="ko-KR" altLang="en-US" sz="900" dirty="0">
                <a:latin typeface="+mn-ea"/>
              </a:rPr>
              <a:t>복수예비가격</a:t>
            </a:r>
          </a:p>
        </p:txBody>
      </p:sp>
      <p:cxnSp>
        <p:nvCxnSpPr>
          <p:cNvPr id="173" name="직선 연결선 172">
            <a:extLst>
              <a:ext uri="{FF2B5EF4-FFF2-40B4-BE49-F238E27FC236}">
                <a16:creationId xmlns:a16="http://schemas.microsoft.com/office/drawing/2014/main" id="{E9293055-D5CD-4B9E-7F64-64B2D2CA7A52}"/>
              </a:ext>
            </a:extLst>
          </p:cNvPr>
          <p:cNvCxnSpPr/>
          <p:nvPr/>
        </p:nvCxnSpPr>
        <p:spPr>
          <a:xfrm>
            <a:off x="675399" y="23275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1" name="그룹 40"/>
          <p:cNvGrpSpPr/>
          <p:nvPr/>
        </p:nvGrpSpPr>
        <p:grpSpPr>
          <a:xfrm>
            <a:off x="701175" y="2358128"/>
            <a:ext cx="2630093" cy="3754583"/>
            <a:chOff x="701175" y="1527996"/>
            <a:chExt cx="2630093" cy="3754583"/>
          </a:xfrm>
        </p:grpSpPr>
        <p:sp>
          <p:nvSpPr>
            <p:cNvPr id="43" name="TextBox 42">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smtClean="0">
                  <a:latin typeface="+mn-ea"/>
                </a:rPr>
                <a:t>복수예비가격</a:t>
              </a:r>
              <a:endParaRPr lang="ko-KR" altLang="en-US" sz="700" dirty="0">
                <a:latin typeface="+mn-ea"/>
              </a:endParaRPr>
            </a:p>
          </p:txBody>
        </p:sp>
        <p:grpSp>
          <p:nvGrpSpPr>
            <p:cNvPr id="49" name="그룹 48"/>
            <p:cNvGrpSpPr/>
            <p:nvPr/>
          </p:nvGrpSpPr>
          <p:grpSpPr>
            <a:xfrm flipV="1">
              <a:off x="3124233" y="1641327"/>
              <a:ext cx="94010" cy="47005"/>
              <a:chOff x="6812560" y="3297172"/>
              <a:chExt cx="94010" cy="47005"/>
            </a:xfrm>
          </p:grpSpPr>
          <p:cxnSp>
            <p:nvCxnSpPr>
              <p:cNvPr id="66" name="직선 연결선 6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7" name="직선 연결선 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0" name="직사각형 49"/>
            <p:cNvSpPr/>
            <p:nvPr/>
          </p:nvSpPr>
          <p:spPr>
            <a:xfrm>
              <a:off x="703268" y="1835481"/>
              <a:ext cx="2628000" cy="2140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TextBox 50">
              <a:extLst>
                <a:ext uri="{FF2B5EF4-FFF2-40B4-BE49-F238E27FC236}">
                  <a16:creationId xmlns:a16="http://schemas.microsoft.com/office/drawing/2014/main" id="{FFC49AEA-2A8F-250C-A86A-A7751D9706C3}"/>
                </a:ext>
              </a:extLst>
            </p:cNvPr>
            <p:cNvSpPr txBox="1"/>
            <p:nvPr/>
          </p:nvSpPr>
          <p:spPr>
            <a:xfrm>
              <a:off x="790331" y="1835481"/>
              <a:ext cx="543170" cy="3447098"/>
            </a:xfrm>
            <a:prstGeom prst="rect">
              <a:avLst/>
            </a:prstGeom>
            <a:noFill/>
          </p:spPr>
          <p:txBody>
            <a:bodyPr wrap="square" lIns="0" tIns="0" rIns="0" bIns="0" rtlCol="0">
              <a:spAutoFit/>
            </a:bodyPr>
            <a:lstStyle/>
            <a:p>
              <a:pPr>
                <a:lnSpc>
                  <a:spcPct val="200000"/>
                </a:lnSpc>
              </a:pPr>
              <a:r>
                <a:rPr lang="ko-KR" altLang="en-US" sz="700" dirty="0" smtClean="0">
                  <a:latin typeface="+mn-ea"/>
                </a:rPr>
                <a:t>번호</a:t>
              </a:r>
              <a:endParaRPr lang="en-US" altLang="ko-KR" sz="700" dirty="0" smtClean="0">
                <a:latin typeface="+mn-ea"/>
              </a:endParaRPr>
            </a:p>
            <a:p>
              <a:pPr>
                <a:lnSpc>
                  <a:spcPct val="200000"/>
                </a:lnSpc>
              </a:pPr>
              <a:r>
                <a:rPr lang="en-US" altLang="ko-KR" sz="700" dirty="0" smtClean="0">
                  <a:latin typeface="+mn-ea"/>
                </a:rPr>
                <a:t>1</a:t>
              </a:r>
            </a:p>
            <a:p>
              <a:pPr>
                <a:lnSpc>
                  <a:spcPct val="200000"/>
                </a:lnSpc>
              </a:pPr>
              <a:r>
                <a:rPr lang="en-US" altLang="ko-KR" sz="700" dirty="0" smtClean="0">
                  <a:latin typeface="+mn-ea"/>
                </a:rPr>
                <a:t>2</a:t>
              </a:r>
            </a:p>
            <a:p>
              <a:pPr>
                <a:lnSpc>
                  <a:spcPct val="200000"/>
                </a:lnSpc>
              </a:pPr>
              <a:r>
                <a:rPr lang="en-US" altLang="ko-KR" sz="700" dirty="0" smtClean="0">
                  <a:latin typeface="+mn-ea"/>
                </a:rPr>
                <a:t>3</a:t>
              </a:r>
            </a:p>
            <a:p>
              <a:pPr>
                <a:lnSpc>
                  <a:spcPct val="200000"/>
                </a:lnSpc>
              </a:pPr>
              <a:r>
                <a:rPr lang="en-US" altLang="ko-KR" sz="700" dirty="0" smtClean="0">
                  <a:latin typeface="+mn-ea"/>
                </a:rPr>
                <a:t>4</a:t>
              </a:r>
            </a:p>
            <a:p>
              <a:pPr>
                <a:lnSpc>
                  <a:spcPct val="200000"/>
                </a:lnSpc>
              </a:pPr>
              <a:r>
                <a:rPr lang="en-US" altLang="ko-KR" sz="700" dirty="0" smtClean="0">
                  <a:latin typeface="+mn-ea"/>
                </a:rPr>
                <a:t>5</a:t>
              </a:r>
            </a:p>
            <a:p>
              <a:pPr>
                <a:lnSpc>
                  <a:spcPct val="200000"/>
                </a:lnSpc>
              </a:pPr>
              <a:r>
                <a:rPr lang="en-US" altLang="ko-KR" sz="700" dirty="0" smtClean="0">
                  <a:latin typeface="+mn-ea"/>
                </a:rPr>
                <a:t>6</a:t>
              </a:r>
            </a:p>
            <a:p>
              <a:pPr>
                <a:lnSpc>
                  <a:spcPct val="200000"/>
                </a:lnSpc>
              </a:pPr>
              <a:r>
                <a:rPr lang="en-US" altLang="ko-KR" sz="700" dirty="0" smtClean="0">
                  <a:latin typeface="+mn-ea"/>
                </a:rPr>
                <a:t>7</a:t>
              </a:r>
            </a:p>
            <a:p>
              <a:pPr>
                <a:lnSpc>
                  <a:spcPct val="200000"/>
                </a:lnSpc>
              </a:pPr>
              <a:r>
                <a:rPr lang="en-US" altLang="ko-KR" sz="700" dirty="0" smtClean="0">
                  <a:latin typeface="+mn-ea"/>
                </a:rPr>
                <a:t>8</a:t>
              </a:r>
            </a:p>
            <a:p>
              <a:pPr>
                <a:lnSpc>
                  <a:spcPct val="200000"/>
                </a:lnSpc>
              </a:pPr>
              <a:r>
                <a:rPr lang="en-US" altLang="ko-KR" sz="700" dirty="0" smtClean="0">
                  <a:latin typeface="+mn-ea"/>
                </a:rPr>
                <a:t>9</a:t>
              </a:r>
            </a:p>
            <a:p>
              <a:pPr>
                <a:lnSpc>
                  <a:spcPct val="200000"/>
                </a:lnSpc>
              </a:pPr>
              <a:r>
                <a:rPr lang="en-US" altLang="ko-KR" sz="700" dirty="0" smtClean="0">
                  <a:latin typeface="+mn-ea"/>
                </a:rPr>
                <a:t>10</a:t>
              </a:r>
            </a:p>
            <a:p>
              <a:pPr>
                <a:lnSpc>
                  <a:spcPct val="200000"/>
                </a:lnSpc>
              </a:pPr>
              <a:r>
                <a:rPr lang="en-US" altLang="ko-KR" sz="700" dirty="0" smtClean="0">
                  <a:latin typeface="+mn-ea"/>
                </a:rPr>
                <a:t>11</a:t>
              </a:r>
            </a:p>
            <a:p>
              <a:pPr>
                <a:lnSpc>
                  <a:spcPct val="200000"/>
                </a:lnSpc>
              </a:pPr>
              <a:r>
                <a:rPr lang="en-US" altLang="ko-KR" sz="700" dirty="0" smtClean="0">
                  <a:latin typeface="+mn-ea"/>
                </a:rPr>
                <a:t>12</a:t>
              </a:r>
            </a:p>
            <a:p>
              <a:pPr>
                <a:lnSpc>
                  <a:spcPct val="200000"/>
                </a:lnSpc>
              </a:pPr>
              <a:r>
                <a:rPr lang="en-US" altLang="ko-KR" sz="700" dirty="0" smtClean="0">
                  <a:latin typeface="+mn-ea"/>
                </a:rPr>
                <a:t>13</a:t>
              </a:r>
            </a:p>
            <a:p>
              <a:pPr>
                <a:lnSpc>
                  <a:spcPct val="200000"/>
                </a:lnSpc>
              </a:pPr>
              <a:r>
                <a:rPr lang="en-US" altLang="ko-KR" sz="700" dirty="0" smtClean="0">
                  <a:latin typeface="+mn-ea"/>
                </a:rPr>
                <a:t>14</a:t>
              </a:r>
            </a:p>
            <a:p>
              <a:pPr>
                <a:lnSpc>
                  <a:spcPct val="200000"/>
                </a:lnSpc>
              </a:pPr>
              <a:r>
                <a:rPr lang="en-US" altLang="ko-KR" sz="700" dirty="0" smtClean="0">
                  <a:latin typeface="+mn-ea"/>
                </a:rPr>
                <a:t>15</a:t>
              </a:r>
              <a:endParaRPr lang="ko-KR" altLang="en-US" sz="700" dirty="0">
                <a:latin typeface="+mn-ea"/>
              </a:endParaRPr>
            </a:p>
          </p:txBody>
        </p:sp>
        <p:sp>
          <p:nvSpPr>
            <p:cNvPr id="52" name="TextBox 51">
              <a:extLst>
                <a:ext uri="{FF2B5EF4-FFF2-40B4-BE49-F238E27FC236}">
                  <a16:creationId xmlns:a16="http://schemas.microsoft.com/office/drawing/2014/main" id="{FFC49AEA-2A8F-250C-A86A-A7751D9706C3}"/>
                </a:ext>
              </a:extLst>
            </p:cNvPr>
            <p:cNvSpPr txBox="1"/>
            <p:nvPr/>
          </p:nvSpPr>
          <p:spPr>
            <a:xfrm>
              <a:off x="1333501" y="1835481"/>
              <a:ext cx="1269733" cy="3447098"/>
            </a:xfrm>
            <a:prstGeom prst="rect">
              <a:avLst/>
            </a:prstGeom>
            <a:noFill/>
          </p:spPr>
          <p:txBody>
            <a:bodyPr wrap="square" lIns="0" tIns="0" rIns="0" bIns="0" rtlCol="0">
              <a:spAutoFit/>
            </a:bodyPr>
            <a:lstStyle/>
            <a:p>
              <a:pPr algn="r">
                <a:lnSpc>
                  <a:spcPct val="200000"/>
                </a:lnSpc>
              </a:pPr>
              <a:r>
                <a:rPr lang="ko-KR" altLang="en-US" sz="700" dirty="0">
                  <a:latin typeface="+mn-ea"/>
                </a:rPr>
                <a:t>금액</a:t>
              </a:r>
              <a:endParaRPr lang="en-US" altLang="ko-KR" sz="700" dirty="0">
                <a:latin typeface="+mn-ea"/>
              </a:endParaRPr>
            </a:p>
            <a:p>
              <a:pPr algn="r">
                <a:lnSpc>
                  <a:spcPct val="200000"/>
                </a:lnSpc>
              </a:pPr>
              <a:r>
                <a:rPr lang="en-US" altLang="ko-KR" sz="700" b="1" dirty="0">
                  <a:latin typeface="+mn-ea"/>
                </a:rPr>
                <a:t>97,813,420</a:t>
              </a:r>
              <a:r>
                <a:rPr lang="ko-KR" altLang="en-US" sz="700" b="1" dirty="0">
                  <a:latin typeface="+mn-ea"/>
                </a:rPr>
                <a:t> 원</a:t>
              </a:r>
              <a:endParaRPr lang="en-US" altLang="ko-KR" sz="700" b="1" dirty="0">
                <a:latin typeface="+mn-ea"/>
              </a:endParaRPr>
            </a:p>
            <a:p>
              <a:pPr algn="r">
                <a:lnSpc>
                  <a:spcPct val="200000"/>
                </a:lnSpc>
              </a:pPr>
              <a:r>
                <a:rPr lang="en-US" altLang="ko-KR" sz="700" b="1" dirty="0">
                  <a:latin typeface="+mn-ea"/>
                </a:rPr>
                <a:t>102,547,340 </a:t>
              </a:r>
              <a:r>
                <a:rPr lang="ko-KR" altLang="en-US" sz="700" b="1" dirty="0">
                  <a:latin typeface="+mn-ea"/>
                </a:rPr>
                <a:t>원</a:t>
              </a:r>
              <a:endParaRPr lang="en-US" altLang="ko-KR" sz="700" b="1" dirty="0">
                <a:latin typeface="+mn-ea"/>
              </a:endParaRPr>
            </a:p>
            <a:p>
              <a:pPr algn="r">
                <a:lnSpc>
                  <a:spcPct val="200000"/>
                </a:lnSpc>
              </a:pPr>
              <a:r>
                <a:rPr lang="en-US" altLang="ko-KR" sz="700" b="1" dirty="0">
                  <a:latin typeface="+mn-ea"/>
                </a:rPr>
                <a:t>101,246,870 </a:t>
              </a:r>
              <a:r>
                <a:rPr lang="ko-KR" altLang="en-US" sz="700" b="1" dirty="0">
                  <a:latin typeface="+mn-ea"/>
                </a:rPr>
                <a:t>원</a:t>
              </a:r>
              <a:endParaRPr lang="en-US" altLang="ko-KR" sz="700" b="1" dirty="0">
                <a:latin typeface="+mn-ea"/>
              </a:endParaRPr>
            </a:p>
            <a:p>
              <a:pPr algn="r">
                <a:lnSpc>
                  <a:spcPct val="200000"/>
                </a:lnSpc>
              </a:pPr>
              <a:r>
                <a:rPr lang="en-US" altLang="ko-KR" sz="700" b="1" dirty="0">
                  <a:latin typeface="+mn-ea"/>
                </a:rPr>
                <a:t>98,431,560 </a:t>
              </a:r>
              <a:r>
                <a:rPr lang="ko-KR" altLang="ko-KR" sz="700" b="1" dirty="0">
                  <a:latin typeface="+mn-ea"/>
                </a:rPr>
                <a:t>원</a:t>
              </a:r>
            </a:p>
            <a:p>
              <a:pPr algn="r">
                <a:lnSpc>
                  <a:spcPct val="200000"/>
                </a:lnSpc>
              </a:pPr>
              <a:r>
                <a:rPr lang="en-US" altLang="ko-KR" sz="700" b="1" dirty="0">
                  <a:latin typeface="+mn-ea"/>
                </a:rPr>
                <a:t>97,564,100 </a:t>
              </a:r>
              <a:r>
                <a:rPr lang="ko-KR" altLang="ko-KR" sz="700" b="1" dirty="0">
                  <a:latin typeface="+mn-ea"/>
                </a:rPr>
                <a:t>원</a:t>
              </a:r>
            </a:p>
            <a:p>
              <a:pPr algn="r">
                <a:lnSpc>
                  <a:spcPct val="200000"/>
                </a:lnSpc>
              </a:pPr>
              <a:r>
                <a:rPr lang="en-US" altLang="ko-KR" sz="700" b="1" dirty="0" smtClean="0">
                  <a:latin typeface="+mn-ea"/>
                </a:rPr>
                <a:t>102,548,230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100,123,980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99,870,000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97,587,700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101,254,450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101,350,470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98,954,910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102,645,450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102,912,370 </a:t>
              </a:r>
              <a:r>
                <a:rPr lang="ko-KR" altLang="ko-KR" sz="700" b="1" dirty="0" smtClean="0">
                  <a:latin typeface="+mn-ea"/>
                </a:rPr>
                <a:t>원</a:t>
              </a:r>
              <a:endParaRPr lang="ko-KR" altLang="ko-KR" sz="700" b="1" dirty="0">
                <a:latin typeface="+mn-ea"/>
              </a:endParaRPr>
            </a:p>
            <a:p>
              <a:pPr algn="r">
                <a:lnSpc>
                  <a:spcPct val="200000"/>
                </a:lnSpc>
              </a:pPr>
              <a:r>
                <a:rPr lang="en-US" altLang="ko-KR" sz="700" b="1" dirty="0" smtClean="0">
                  <a:latin typeface="+mn-ea"/>
                </a:rPr>
                <a:t>99,547,560 </a:t>
              </a:r>
              <a:r>
                <a:rPr lang="ko-KR" altLang="ko-KR" sz="700" b="1" dirty="0" smtClean="0">
                  <a:latin typeface="+mn-ea"/>
                </a:rPr>
                <a:t>원</a:t>
              </a:r>
              <a:endParaRPr lang="ko-KR" altLang="ko-KR" sz="700" b="1" dirty="0">
                <a:latin typeface="+mn-ea"/>
              </a:endParaRPr>
            </a:p>
          </p:txBody>
        </p:sp>
        <p:grpSp>
          <p:nvGrpSpPr>
            <p:cNvPr id="53" name="그룹 52"/>
            <p:cNvGrpSpPr/>
            <p:nvPr/>
          </p:nvGrpSpPr>
          <p:grpSpPr>
            <a:xfrm>
              <a:off x="701175" y="1835481"/>
              <a:ext cx="2630093" cy="3445192"/>
              <a:chOff x="701175" y="1835481"/>
              <a:chExt cx="2630093" cy="3445192"/>
            </a:xfrm>
          </p:grpSpPr>
          <p:cxnSp>
            <p:nvCxnSpPr>
              <p:cNvPr id="56" name="직선 연결선 5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7" name="직선 연결선 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직선 연결선 5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0" name="직선 연결선 5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1" name="직선 연결선 6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3" name="직선 연결선 6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5" name="직선 연결선 64">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8" name="직선 연결선 67">
                <a:extLst>
                  <a:ext uri="{FF2B5EF4-FFF2-40B4-BE49-F238E27FC236}">
                    <a16:creationId xmlns:a16="http://schemas.microsoft.com/office/drawing/2014/main" id="{E9293055-D5CD-4B9E-7F64-64B2D2CA7A52}"/>
                  </a:ext>
                </a:extLst>
              </p:cNvPr>
              <p:cNvCxnSpPr/>
              <p:nvPr/>
            </p:nvCxnSpPr>
            <p:spPr>
              <a:xfrm>
                <a:off x="703268" y="35480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9" name="직선 연결선 68">
                <a:extLst>
                  <a:ext uri="{FF2B5EF4-FFF2-40B4-BE49-F238E27FC236}">
                    <a16:creationId xmlns:a16="http://schemas.microsoft.com/office/drawing/2014/main" id="{E9293055-D5CD-4B9E-7F64-64B2D2CA7A52}"/>
                  </a:ext>
                </a:extLst>
              </p:cNvPr>
              <p:cNvCxnSpPr/>
              <p:nvPr/>
            </p:nvCxnSpPr>
            <p:spPr>
              <a:xfrm>
                <a:off x="703268" y="3762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0" name="직선 연결선 69">
                <a:extLst>
                  <a:ext uri="{FF2B5EF4-FFF2-40B4-BE49-F238E27FC236}">
                    <a16:creationId xmlns:a16="http://schemas.microsoft.com/office/drawing/2014/main" id="{E9293055-D5CD-4B9E-7F64-64B2D2CA7A52}"/>
                  </a:ext>
                </a:extLst>
              </p:cNvPr>
              <p:cNvCxnSpPr/>
              <p:nvPr/>
            </p:nvCxnSpPr>
            <p:spPr>
              <a:xfrm>
                <a:off x="703268" y="39775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1" name="직선 연결선 70">
                <a:extLst>
                  <a:ext uri="{FF2B5EF4-FFF2-40B4-BE49-F238E27FC236}">
                    <a16:creationId xmlns:a16="http://schemas.microsoft.com/office/drawing/2014/main" id="{E9293055-D5CD-4B9E-7F64-64B2D2CA7A52}"/>
                  </a:ext>
                </a:extLst>
              </p:cNvPr>
              <p:cNvCxnSpPr/>
              <p:nvPr/>
            </p:nvCxnSpPr>
            <p:spPr>
              <a:xfrm>
                <a:off x="703268" y="41923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2" name="직선 연결선 71">
                <a:extLst>
                  <a:ext uri="{FF2B5EF4-FFF2-40B4-BE49-F238E27FC236}">
                    <a16:creationId xmlns:a16="http://schemas.microsoft.com/office/drawing/2014/main" id="{E9293055-D5CD-4B9E-7F64-64B2D2CA7A52}"/>
                  </a:ext>
                </a:extLst>
              </p:cNvPr>
              <p:cNvCxnSpPr/>
              <p:nvPr/>
            </p:nvCxnSpPr>
            <p:spPr>
              <a:xfrm>
                <a:off x="703268" y="440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3" name="직선 연결선 72">
                <a:extLst>
                  <a:ext uri="{FF2B5EF4-FFF2-40B4-BE49-F238E27FC236}">
                    <a16:creationId xmlns:a16="http://schemas.microsoft.com/office/drawing/2014/main" id="{E9293055-D5CD-4B9E-7F64-64B2D2CA7A52}"/>
                  </a:ext>
                </a:extLst>
              </p:cNvPr>
              <p:cNvCxnSpPr/>
              <p:nvPr/>
            </p:nvCxnSpPr>
            <p:spPr>
              <a:xfrm>
                <a:off x="701175" y="46217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4" name="직선 연결선 73">
                <a:extLst>
                  <a:ext uri="{FF2B5EF4-FFF2-40B4-BE49-F238E27FC236}">
                    <a16:creationId xmlns:a16="http://schemas.microsoft.com/office/drawing/2014/main" id="{E9293055-D5CD-4B9E-7F64-64B2D2CA7A52}"/>
                  </a:ext>
                </a:extLst>
              </p:cNvPr>
              <p:cNvCxnSpPr/>
              <p:nvPr/>
            </p:nvCxnSpPr>
            <p:spPr>
              <a:xfrm>
                <a:off x="703268" y="48365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5" name="직선 연결선 74">
                <a:extLst>
                  <a:ext uri="{FF2B5EF4-FFF2-40B4-BE49-F238E27FC236}">
                    <a16:creationId xmlns:a16="http://schemas.microsoft.com/office/drawing/2014/main" id="{E9293055-D5CD-4B9E-7F64-64B2D2CA7A52}"/>
                  </a:ext>
                </a:extLst>
              </p:cNvPr>
              <p:cNvCxnSpPr/>
              <p:nvPr/>
            </p:nvCxnSpPr>
            <p:spPr>
              <a:xfrm>
                <a:off x="701175" y="50659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03268" y="52806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77" name="TextBox 76">
              <a:extLst>
                <a:ext uri="{FF2B5EF4-FFF2-40B4-BE49-F238E27FC236}">
                  <a16:creationId xmlns:a16="http://schemas.microsoft.com/office/drawing/2014/main" id="{FFC49AEA-2A8F-250C-A86A-A7751D9706C3}"/>
                </a:ext>
              </a:extLst>
            </p:cNvPr>
            <p:cNvSpPr txBox="1"/>
            <p:nvPr/>
          </p:nvSpPr>
          <p:spPr>
            <a:xfrm>
              <a:off x="2997200" y="1835481"/>
              <a:ext cx="235298" cy="3447098"/>
            </a:xfrm>
            <a:prstGeom prst="rect">
              <a:avLst/>
            </a:prstGeom>
            <a:noFill/>
          </p:spPr>
          <p:txBody>
            <a:bodyPr wrap="square" lIns="0" tIns="0" rIns="0" bIns="0" rtlCol="0">
              <a:spAutoFit/>
            </a:bodyPr>
            <a:lstStyle/>
            <a:p>
              <a:pPr algn="r">
                <a:lnSpc>
                  <a:spcPct val="200000"/>
                </a:lnSpc>
              </a:pPr>
              <a:r>
                <a:rPr lang="ko-KR" altLang="en-US" sz="700" dirty="0" smtClean="0">
                  <a:latin typeface="+mn-ea"/>
                </a:rPr>
                <a:t>횟수</a:t>
              </a:r>
              <a:endParaRPr lang="en-US" altLang="ko-KR" sz="700" dirty="0" smtClean="0">
                <a:latin typeface="+mn-ea"/>
              </a:endParaRPr>
            </a:p>
            <a:p>
              <a:pPr algn="r">
                <a:lnSpc>
                  <a:spcPct val="200000"/>
                </a:lnSpc>
              </a:pPr>
              <a:r>
                <a:rPr lang="en-US" altLang="ko-KR" sz="700" dirty="0" smtClean="0">
                  <a:latin typeface="+mn-ea"/>
                </a:rPr>
                <a:t>0</a:t>
              </a:r>
            </a:p>
            <a:p>
              <a:pPr algn="r">
                <a:lnSpc>
                  <a:spcPct val="200000"/>
                </a:lnSpc>
              </a:pPr>
              <a:r>
                <a:rPr lang="en-US" altLang="ko-KR" sz="700" dirty="0" smtClean="0">
                  <a:latin typeface="+mn-ea"/>
                </a:rPr>
                <a:t>7</a:t>
              </a:r>
            </a:p>
            <a:p>
              <a:pPr algn="r">
                <a:lnSpc>
                  <a:spcPct val="200000"/>
                </a:lnSpc>
              </a:pPr>
              <a:r>
                <a:rPr lang="en-US" altLang="ko-KR" sz="700" dirty="0" smtClean="0">
                  <a:latin typeface="+mn-ea"/>
                </a:rPr>
                <a:t>6</a:t>
              </a:r>
            </a:p>
            <a:p>
              <a:pPr algn="r">
                <a:lnSpc>
                  <a:spcPct val="200000"/>
                </a:lnSpc>
              </a:pPr>
              <a:r>
                <a:rPr lang="en-US" altLang="ko-KR" sz="700" dirty="0" smtClean="0">
                  <a:latin typeface="+mn-ea"/>
                </a:rPr>
                <a:t>2</a:t>
              </a:r>
            </a:p>
            <a:p>
              <a:pPr algn="r">
                <a:lnSpc>
                  <a:spcPct val="200000"/>
                </a:lnSpc>
              </a:pPr>
              <a:r>
                <a:rPr lang="en-US" altLang="ko-KR" sz="700" dirty="0" smtClean="0">
                  <a:latin typeface="+mn-ea"/>
                </a:rPr>
                <a:t>0</a:t>
              </a:r>
            </a:p>
            <a:p>
              <a:pPr algn="r">
                <a:lnSpc>
                  <a:spcPct val="200000"/>
                </a:lnSpc>
              </a:pPr>
              <a:r>
                <a:rPr lang="en-US" altLang="ko-KR" sz="700" dirty="0" smtClean="0">
                  <a:latin typeface="+mn-ea"/>
                </a:rPr>
                <a:t>1</a:t>
              </a:r>
            </a:p>
            <a:p>
              <a:pPr algn="r">
                <a:lnSpc>
                  <a:spcPct val="200000"/>
                </a:lnSpc>
              </a:pPr>
              <a:r>
                <a:rPr lang="en-US" altLang="ko-KR" sz="700" dirty="0" smtClean="0">
                  <a:latin typeface="+mn-ea"/>
                </a:rPr>
                <a:t>3</a:t>
              </a:r>
            </a:p>
            <a:p>
              <a:pPr algn="r">
                <a:lnSpc>
                  <a:spcPct val="200000"/>
                </a:lnSpc>
              </a:pPr>
              <a:r>
                <a:rPr lang="en-US" altLang="ko-KR" sz="700" dirty="0" smtClean="0">
                  <a:latin typeface="+mn-ea"/>
                </a:rPr>
                <a:t>6</a:t>
              </a:r>
            </a:p>
            <a:p>
              <a:pPr algn="r">
                <a:lnSpc>
                  <a:spcPct val="200000"/>
                </a:lnSpc>
              </a:pPr>
              <a:r>
                <a:rPr lang="en-US" altLang="ko-KR" sz="700" dirty="0" smtClean="0">
                  <a:latin typeface="+mn-ea"/>
                </a:rPr>
                <a:t>1</a:t>
              </a:r>
            </a:p>
            <a:p>
              <a:pPr algn="r">
                <a:lnSpc>
                  <a:spcPct val="200000"/>
                </a:lnSpc>
              </a:pPr>
              <a:r>
                <a:rPr lang="en-US" altLang="ko-KR" sz="700" dirty="0" smtClean="0">
                  <a:latin typeface="+mn-ea"/>
                </a:rPr>
                <a:t>2</a:t>
              </a:r>
            </a:p>
            <a:p>
              <a:pPr algn="r">
                <a:lnSpc>
                  <a:spcPct val="200000"/>
                </a:lnSpc>
              </a:pPr>
              <a:r>
                <a:rPr lang="en-US" altLang="ko-KR" sz="700" dirty="0" smtClean="0">
                  <a:latin typeface="+mn-ea"/>
                </a:rPr>
                <a:t>3</a:t>
              </a:r>
            </a:p>
            <a:p>
              <a:pPr algn="r">
                <a:lnSpc>
                  <a:spcPct val="200000"/>
                </a:lnSpc>
              </a:pPr>
              <a:r>
                <a:rPr lang="en-US" altLang="ko-KR" sz="700" dirty="0" smtClean="0">
                  <a:latin typeface="+mn-ea"/>
                </a:rPr>
                <a:t>0</a:t>
              </a:r>
            </a:p>
            <a:p>
              <a:pPr algn="r">
                <a:lnSpc>
                  <a:spcPct val="200000"/>
                </a:lnSpc>
              </a:pPr>
              <a:r>
                <a:rPr lang="en-US" altLang="ko-KR" sz="700" dirty="0" smtClean="0">
                  <a:latin typeface="+mn-ea"/>
                </a:rPr>
                <a:t>1</a:t>
              </a:r>
            </a:p>
            <a:p>
              <a:pPr algn="r">
                <a:lnSpc>
                  <a:spcPct val="200000"/>
                </a:lnSpc>
              </a:pPr>
              <a:r>
                <a:rPr lang="en-US" altLang="ko-KR" sz="700" dirty="0" smtClean="0">
                  <a:latin typeface="+mn-ea"/>
                </a:rPr>
                <a:t>2</a:t>
              </a:r>
            </a:p>
            <a:p>
              <a:pPr algn="r">
                <a:lnSpc>
                  <a:spcPct val="200000"/>
                </a:lnSpc>
              </a:pPr>
              <a:r>
                <a:rPr lang="en-US" altLang="ko-KR" sz="700" dirty="0">
                  <a:latin typeface="+mn-ea"/>
                </a:rPr>
                <a:t>0</a:t>
              </a:r>
              <a:endParaRPr lang="ko-KR" altLang="ko-KR" sz="700" dirty="0">
                <a:latin typeface="+mn-ea"/>
              </a:endParaRPr>
            </a:p>
          </p:txBody>
        </p:sp>
      </p:grpSp>
      <p:sp>
        <p:nvSpPr>
          <p:cNvPr id="78" name="직사각형 77">
            <a:extLst>
              <a:ext uri="{FF2B5EF4-FFF2-40B4-BE49-F238E27FC236}">
                <a16:creationId xmlns:a16="http://schemas.microsoft.com/office/drawing/2014/main" id="{F56F1743-11A0-EA94-9184-4E42C0A37F9C}"/>
              </a:ext>
            </a:extLst>
          </p:cNvPr>
          <p:cNvSpPr/>
          <p:nvPr/>
        </p:nvSpPr>
        <p:spPr>
          <a:xfrm>
            <a:off x="3552363"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9" name="그룹 78">
            <a:extLst>
              <a:ext uri="{FF2B5EF4-FFF2-40B4-BE49-F238E27FC236}">
                <a16:creationId xmlns:a16="http://schemas.microsoft.com/office/drawing/2014/main" id="{22BC05EE-C648-7CA2-4CCC-6E1C1A7E9BDA}"/>
              </a:ext>
            </a:extLst>
          </p:cNvPr>
          <p:cNvGrpSpPr/>
          <p:nvPr/>
        </p:nvGrpSpPr>
        <p:grpSpPr>
          <a:xfrm>
            <a:off x="4869945" y="5540960"/>
            <a:ext cx="76863" cy="292489"/>
            <a:chOff x="3750067" y="4683795"/>
            <a:chExt cx="76863" cy="292489"/>
          </a:xfrm>
        </p:grpSpPr>
        <p:sp>
          <p:nvSpPr>
            <p:cNvPr id="80" name="타원 7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81" name="타원 8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82" name="타원 8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83" name="TextBox 82">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5" name="TextBox 84">
            <a:extLst>
              <a:ext uri="{FF2B5EF4-FFF2-40B4-BE49-F238E27FC236}">
                <a16:creationId xmlns:a16="http://schemas.microsoft.com/office/drawing/2014/main" id="{FFC49AEA-2A8F-250C-A86A-A7751D9706C3}"/>
              </a:ext>
            </a:extLst>
          </p:cNvPr>
          <p:cNvSpPr txBox="1"/>
          <p:nvPr/>
        </p:nvSpPr>
        <p:spPr>
          <a:xfrm>
            <a:off x="3669492" y="2358128"/>
            <a:ext cx="1598477"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선택번호</a:t>
            </a:r>
            <a:endParaRPr lang="ko-KR" altLang="en-US" sz="700" dirty="0">
              <a:latin typeface="+mn-ea"/>
            </a:endParaRPr>
          </a:p>
        </p:txBody>
      </p:sp>
      <p:grpSp>
        <p:nvGrpSpPr>
          <p:cNvPr id="86" name="그룹 85"/>
          <p:cNvGrpSpPr/>
          <p:nvPr/>
        </p:nvGrpSpPr>
        <p:grpSpPr>
          <a:xfrm flipV="1">
            <a:off x="6031579" y="2471459"/>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87" name="직사각형 86"/>
          <p:cNvSpPr/>
          <p:nvPr/>
        </p:nvSpPr>
        <p:spPr>
          <a:xfrm>
            <a:off x="3610614" y="2665613"/>
            <a:ext cx="2628000" cy="2140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TextBox 87">
            <a:extLst>
              <a:ext uri="{FF2B5EF4-FFF2-40B4-BE49-F238E27FC236}">
                <a16:creationId xmlns:a16="http://schemas.microsoft.com/office/drawing/2014/main" id="{FFC49AEA-2A8F-250C-A86A-A7751D9706C3}"/>
              </a:ext>
            </a:extLst>
          </p:cNvPr>
          <p:cNvSpPr txBox="1"/>
          <p:nvPr/>
        </p:nvSpPr>
        <p:spPr>
          <a:xfrm>
            <a:off x="3697677" y="2665613"/>
            <a:ext cx="543170" cy="181140"/>
          </a:xfrm>
          <a:prstGeom prst="rect">
            <a:avLst/>
          </a:prstGeom>
          <a:noFill/>
        </p:spPr>
        <p:txBody>
          <a:bodyPr wrap="square" lIns="0" tIns="0" rIns="0" bIns="0" rtlCol="0">
            <a:spAutoFit/>
          </a:bodyPr>
          <a:lstStyle/>
          <a:p>
            <a:pPr>
              <a:lnSpc>
                <a:spcPct val="200000"/>
              </a:lnSpc>
            </a:pPr>
            <a:r>
              <a:rPr lang="ko-KR" altLang="en-US" sz="700" dirty="0" smtClean="0">
                <a:latin typeface="+mn-ea"/>
              </a:rPr>
              <a:t>번호</a:t>
            </a:r>
            <a:endParaRPr lang="en-US" altLang="ko-KR" sz="700" dirty="0" smtClean="0">
              <a:latin typeface="+mn-ea"/>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4301467" y="2665613"/>
            <a:ext cx="1813911" cy="215444"/>
          </a:xfrm>
          <a:prstGeom prst="rect">
            <a:avLst/>
          </a:prstGeom>
          <a:noFill/>
        </p:spPr>
        <p:txBody>
          <a:bodyPr wrap="square" lIns="0" tIns="0" rIns="0" bIns="0" rtlCol="0">
            <a:spAutoFit/>
          </a:bodyPr>
          <a:lstStyle/>
          <a:p>
            <a:pPr algn="r">
              <a:lnSpc>
                <a:spcPct val="200000"/>
              </a:lnSpc>
            </a:pPr>
            <a:r>
              <a:rPr lang="ko-KR" altLang="en-US" sz="700" dirty="0" smtClean="0">
                <a:latin typeface="+mn-ea"/>
              </a:rPr>
              <a:t>금액 </a:t>
            </a:r>
            <a:r>
              <a:rPr lang="en-US" altLang="ko-KR" sz="700" dirty="0" smtClean="0">
                <a:latin typeface="+mn-ea"/>
              </a:rPr>
              <a:t>/ </a:t>
            </a:r>
            <a:r>
              <a:rPr lang="ko-KR" altLang="en-US" sz="700" dirty="0" err="1" smtClean="0">
                <a:latin typeface="+mn-ea"/>
              </a:rPr>
              <a:t>업체명</a:t>
            </a:r>
            <a:endParaRPr lang="en-US" altLang="ko-KR" sz="700" dirty="0">
              <a:latin typeface="+mn-ea"/>
            </a:endParaRPr>
          </a:p>
        </p:txBody>
      </p:sp>
      <p:cxnSp>
        <p:nvCxnSpPr>
          <p:cNvPr id="92" name="직선 연결선 91">
            <a:extLst>
              <a:ext uri="{FF2B5EF4-FFF2-40B4-BE49-F238E27FC236}">
                <a16:creationId xmlns:a16="http://schemas.microsoft.com/office/drawing/2014/main" id="{E9293055-D5CD-4B9E-7F64-64B2D2CA7A52}"/>
              </a:ext>
            </a:extLst>
          </p:cNvPr>
          <p:cNvCxnSpPr/>
          <p:nvPr/>
        </p:nvCxnSpPr>
        <p:spPr>
          <a:xfrm>
            <a:off x="3608521" y="266561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610614" y="28803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3610614" y="31504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4" name="TextBox 123">
            <a:extLst>
              <a:ext uri="{FF2B5EF4-FFF2-40B4-BE49-F238E27FC236}">
                <a16:creationId xmlns:a16="http://schemas.microsoft.com/office/drawing/2014/main" id="{FFC49AEA-2A8F-250C-A86A-A7751D9706C3}"/>
              </a:ext>
            </a:extLst>
          </p:cNvPr>
          <p:cNvSpPr txBox="1"/>
          <p:nvPr/>
        </p:nvSpPr>
        <p:spPr>
          <a:xfrm>
            <a:off x="4299098" y="2891950"/>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102,547,340</a:t>
            </a:r>
            <a:r>
              <a:rPr lang="ko-KR" altLang="en-US" sz="700" b="1" dirty="0" smtClean="0">
                <a:latin typeface="+mn-ea"/>
              </a:rPr>
              <a:t> 원</a:t>
            </a:r>
            <a:endParaRPr lang="en-US" altLang="ko-KR" sz="700" b="1" dirty="0" smtClean="0">
              <a:latin typeface="+mn-ea"/>
            </a:endParaRPr>
          </a:p>
          <a:p>
            <a:pPr algn="r">
              <a:lnSpc>
                <a:spcPct val="120000"/>
              </a:lnSpc>
            </a:pPr>
            <a:r>
              <a:rPr lang="ko-KR" altLang="en-US" sz="700" dirty="0" err="1" smtClean="0">
                <a:latin typeface="+mn-ea"/>
              </a:rPr>
              <a:t>테스트업체</a:t>
            </a:r>
            <a:r>
              <a:rPr lang="en-US" altLang="ko-KR" sz="700" dirty="0" smtClean="0">
                <a:latin typeface="+mn-ea"/>
              </a:rPr>
              <a:t>1</a:t>
            </a:r>
            <a:endParaRPr lang="ko-KR" altLang="ko-KR" sz="700" dirty="0">
              <a:latin typeface="+mn-ea"/>
            </a:endParaRPr>
          </a:p>
        </p:txBody>
      </p:sp>
      <p:sp>
        <p:nvSpPr>
          <p:cNvPr id="111" name="TextBox 110">
            <a:extLst>
              <a:ext uri="{FF2B5EF4-FFF2-40B4-BE49-F238E27FC236}">
                <a16:creationId xmlns:a16="http://schemas.microsoft.com/office/drawing/2014/main" id="{FFC49AEA-2A8F-250C-A86A-A7751D9706C3}"/>
              </a:ext>
            </a:extLst>
          </p:cNvPr>
          <p:cNvSpPr txBox="1"/>
          <p:nvPr/>
        </p:nvSpPr>
        <p:spPr>
          <a:xfrm>
            <a:off x="3807865" y="1608356"/>
            <a:ext cx="2305144" cy="123111"/>
          </a:xfrm>
          <a:prstGeom prst="rect">
            <a:avLst/>
          </a:prstGeom>
          <a:noFill/>
        </p:spPr>
        <p:txBody>
          <a:bodyPr wrap="square" lIns="0" tIns="0" rIns="0" bIns="0" rtlCol="0">
            <a:spAutoFit/>
          </a:bodyPr>
          <a:lstStyle/>
          <a:p>
            <a:r>
              <a:rPr lang="ko-KR" altLang="en-US" sz="800" dirty="0">
                <a:latin typeface="+mn-ea"/>
              </a:rPr>
              <a:t>입찰결과 </a:t>
            </a:r>
            <a:r>
              <a:rPr lang="ko-KR" altLang="en-US" sz="800" dirty="0" smtClean="0">
                <a:latin typeface="+mn-ea"/>
              </a:rPr>
              <a:t>상세</a:t>
            </a:r>
            <a:endParaRPr lang="ko-KR" altLang="en-US" sz="800" dirty="0">
              <a:latin typeface="+mn-ea"/>
            </a:endParaRP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3552363"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3" name="그룹 112"/>
          <p:cNvGrpSpPr/>
          <p:nvPr/>
        </p:nvGrpSpPr>
        <p:grpSpPr>
          <a:xfrm rot="5400000">
            <a:off x="3626806" y="1640499"/>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6" name="타원 115"/>
          <p:cNvSpPr/>
          <p:nvPr/>
        </p:nvSpPr>
        <p:spPr>
          <a:xfrm>
            <a:off x="5916330"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양쪽 모서리가 둥근 사각형 116"/>
          <p:cNvSpPr/>
          <p:nvPr/>
        </p:nvSpPr>
        <p:spPr>
          <a:xfrm>
            <a:off x="3552363" y="1914401"/>
            <a:ext cx="2712027" cy="4317897"/>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8" name="모서리가 둥근 직사각형 117"/>
          <p:cNvSpPr/>
          <p:nvPr/>
        </p:nvSpPr>
        <p:spPr>
          <a:xfrm>
            <a:off x="4633205" y="195102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19" name="그룹 118"/>
          <p:cNvGrpSpPr/>
          <p:nvPr/>
        </p:nvGrpSpPr>
        <p:grpSpPr>
          <a:xfrm>
            <a:off x="6036131" y="2085445"/>
            <a:ext cx="94010" cy="94010"/>
            <a:chOff x="6812560" y="3297172"/>
            <a:chExt cx="94010" cy="94010"/>
          </a:xfrm>
        </p:grpSpPr>
        <p:cxnSp>
          <p:nvCxnSpPr>
            <p:cNvPr id="120" name="직선 연결선 11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2" name="TextBox 121">
            <a:extLst>
              <a:ext uri="{FF2B5EF4-FFF2-40B4-BE49-F238E27FC236}">
                <a16:creationId xmlns:a16="http://schemas.microsoft.com/office/drawing/2014/main" id="{FFC49AEA-2A8F-250C-A86A-A7751D9706C3}"/>
              </a:ext>
            </a:extLst>
          </p:cNvPr>
          <p:cNvSpPr txBox="1"/>
          <p:nvPr/>
        </p:nvSpPr>
        <p:spPr>
          <a:xfrm>
            <a:off x="3676269" y="2066124"/>
            <a:ext cx="1798758" cy="138499"/>
          </a:xfrm>
          <a:prstGeom prst="rect">
            <a:avLst/>
          </a:prstGeom>
          <a:noFill/>
        </p:spPr>
        <p:txBody>
          <a:bodyPr wrap="square" lIns="0" tIns="0" rIns="0" bIns="0" rtlCol="0">
            <a:spAutoFit/>
          </a:bodyPr>
          <a:lstStyle/>
          <a:p>
            <a:r>
              <a:rPr lang="ko-KR" altLang="en-US" sz="900" dirty="0">
                <a:latin typeface="+mn-ea"/>
              </a:rPr>
              <a:t>복수예비가격</a:t>
            </a: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3547192" y="23275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5" name="TextBox 124">
            <a:extLst>
              <a:ext uri="{FF2B5EF4-FFF2-40B4-BE49-F238E27FC236}">
                <a16:creationId xmlns:a16="http://schemas.microsoft.com/office/drawing/2014/main" id="{FFC49AEA-2A8F-250C-A86A-A7751D9706C3}"/>
              </a:ext>
            </a:extLst>
          </p:cNvPr>
          <p:cNvSpPr txBox="1"/>
          <p:nvPr/>
        </p:nvSpPr>
        <p:spPr>
          <a:xfrm>
            <a:off x="3697677" y="2891950"/>
            <a:ext cx="543170" cy="2068259"/>
          </a:xfrm>
          <a:prstGeom prst="rect">
            <a:avLst/>
          </a:prstGeom>
          <a:noFill/>
        </p:spPr>
        <p:txBody>
          <a:bodyPr wrap="square" lIns="0" tIns="0" rIns="0" bIns="0" rtlCol="0">
            <a:spAutoFit/>
          </a:bodyPr>
          <a:lstStyle/>
          <a:p>
            <a:pPr>
              <a:lnSpc>
                <a:spcPct val="240000"/>
              </a:lnSpc>
            </a:pPr>
            <a:r>
              <a:rPr lang="en-US" altLang="ko-KR" sz="700" dirty="0" smtClean="0">
                <a:latin typeface="+mn-ea"/>
              </a:rPr>
              <a:t>2</a:t>
            </a:r>
          </a:p>
          <a:p>
            <a:pPr>
              <a:lnSpc>
                <a:spcPct val="240000"/>
              </a:lnSpc>
            </a:pPr>
            <a:r>
              <a:rPr lang="en-US" altLang="ko-KR" sz="700" dirty="0" smtClean="0">
                <a:latin typeface="+mn-ea"/>
              </a:rPr>
              <a:t>3</a:t>
            </a:r>
          </a:p>
          <a:p>
            <a:pPr>
              <a:lnSpc>
                <a:spcPct val="240000"/>
              </a:lnSpc>
            </a:pPr>
            <a:r>
              <a:rPr lang="en-US" altLang="ko-KR" sz="700" dirty="0" smtClean="0">
                <a:latin typeface="+mn-ea"/>
              </a:rPr>
              <a:t>2</a:t>
            </a:r>
          </a:p>
          <a:p>
            <a:pPr>
              <a:lnSpc>
                <a:spcPct val="240000"/>
              </a:lnSpc>
            </a:pPr>
            <a:r>
              <a:rPr lang="en-US" altLang="ko-KR" sz="700" dirty="0" smtClean="0">
                <a:latin typeface="+mn-ea"/>
              </a:rPr>
              <a:t>4</a:t>
            </a:r>
          </a:p>
          <a:p>
            <a:pPr>
              <a:lnSpc>
                <a:spcPct val="240000"/>
              </a:lnSpc>
            </a:pPr>
            <a:r>
              <a:rPr lang="en-US" altLang="ko-KR" sz="700" dirty="0" smtClean="0">
                <a:latin typeface="+mn-ea"/>
              </a:rPr>
              <a:t>7</a:t>
            </a:r>
          </a:p>
          <a:p>
            <a:pPr>
              <a:lnSpc>
                <a:spcPct val="240000"/>
              </a:lnSpc>
            </a:pPr>
            <a:r>
              <a:rPr lang="en-US" altLang="ko-KR" sz="700" dirty="0" smtClean="0">
                <a:latin typeface="+mn-ea"/>
              </a:rPr>
              <a:t>8</a:t>
            </a:r>
          </a:p>
          <a:p>
            <a:pPr>
              <a:lnSpc>
                <a:spcPct val="240000"/>
              </a:lnSpc>
            </a:pPr>
            <a:r>
              <a:rPr lang="en-US" altLang="ko-KR" sz="700" dirty="0" smtClean="0">
                <a:latin typeface="+mn-ea"/>
              </a:rPr>
              <a:t>14</a:t>
            </a:r>
          </a:p>
          <a:p>
            <a:pPr>
              <a:lnSpc>
                <a:spcPct val="240000"/>
              </a:lnSpc>
            </a:pPr>
            <a:r>
              <a:rPr lang="en-US" altLang="ko-KR" sz="700" dirty="0" smtClean="0">
                <a:latin typeface="+mn-ea"/>
              </a:rPr>
              <a:t>11</a:t>
            </a:r>
            <a:endParaRPr lang="ko-KR" altLang="en-US" sz="700" dirty="0">
              <a:latin typeface="+mn-ea"/>
            </a:endParaRPr>
          </a:p>
        </p:txBody>
      </p:sp>
      <p:cxnSp>
        <p:nvCxnSpPr>
          <p:cNvPr id="126" name="직선 연결선 125">
            <a:extLst>
              <a:ext uri="{FF2B5EF4-FFF2-40B4-BE49-F238E27FC236}">
                <a16:creationId xmlns:a16="http://schemas.microsoft.com/office/drawing/2014/main" id="{E9293055-D5CD-4B9E-7F64-64B2D2CA7A52}"/>
              </a:ext>
            </a:extLst>
          </p:cNvPr>
          <p:cNvCxnSpPr/>
          <p:nvPr/>
        </p:nvCxnSpPr>
        <p:spPr>
          <a:xfrm>
            <a:off x="3610614" y="34083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4299098" y="3149857"/>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101,246,870</a:t>
            </a:r>
            <a:r>
              <a:rPr lang="ko-KR" altLang="en-US" sz="700" b="1" dirty="0" smtClean="0">
                <a:latin typeface="+mn-ea"/>
              </a:rPr>
              <a:t> 원</a:t>
            </a:r>
            <a:endParaRPr lang="en-US" altLang="ko-KR" sz="700" b="1" dirty="0" smtClean="0">
              <a:latin typeface="+mn-ea"/>
            </a:endParaRPr>
          </a:p>
          <a:p>
            <a:pPr algn="r">
              <a:lnSpc>
                <a:spcPct val="120000"/>
              </a:lnSpc>
            </a:pPr>
            <a:r>
              <a:rPr lang="ko-KR" altLang="en-US" sz="700" dirty="0" err="1" smtClean="0">
                <a:latin typeface="+mn-ea"/>
              </a:rPr>
              <a:t>테스트업체</a:t>
            </a:r>
            <a:r>
              <a:rPr lang="en-US" altLang="ko-KR" sz="700" dirty="0" smtClean="0">
                <a:latin typeface="+mn-ea"/>
              </a:rPr>
              <a:t>2</a:t>
            </a:r>
            <a:endParaRPr lang="ko-KR" altLang="ko-KR"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610614" y="3672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4299098" y="3413899"/>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102,547,340</a:t>
            </a:r>
            <a:r>
              <a:rPr lang="ko-KR" altLang="en-US" sz="700" b="1" dirty="0">
                <a:latin typeface="+mn-ea"/>
              </a:rPr>
              <a:t> 원</a:t>
            </a:r>
            <a:endParaRPr lang="en-US" altLang="ko-KR" sz="700" b="1" dirty="0">
              <a:latin typeface="+mn-ea"/>
            </a:endParaRPr>
          </a:p>
          <a:p>
            <a:pPr algn="r">
              <a:lnSpc>
                <a:spcPct val="120000"/>
              </a:lnSpc>
            </a:pPr>
            <a:r>
              <a:rPr lang="ko-KR" altLang="en-US" sz="700" dirty="0" err="1" smtClean="0">
                <a:latin typeface="+mn-ea"/>
              </a:rPr>
              <a:t>테스트업체</a:t>
            </a:r>
            <a:r>
              <a:rPr lang="en-US" altLang="ko-KR" sz="700" dirty="0" smtClean="0">
                <a:latin typeface="+mn-ea"/>
              </a:rPr>
              <a:t>3</a:t>
            </a:r>
            <a:endParaRPr lang="ko-KR" altLang="ko-KR" sz="700" dirty="0">
              <a:latin typeface="+mn-ea"/>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610614" y="3930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4299098" y="3671806"/>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98,431,560</a:t>
            </a:r>
            <a:r>
              <a:rPr lang="ko-KR" altLang="en-US" sz="700" b="1" dirty="0" smtClean="0">
                <a:latin typeface="+mn-ea"/>
              </a:rPr>
              <a:t> 원</a:t>
            </a:r>
            <a:endParaRPr lang="en-US" altLang="ko-KR" sz="700" b="1" dirty="0" smtClean="0">
              <a:latin typeface="+mn-ea"/>
            </a:endParaRPr>
          </a:p>
          <a:p>
            <a:pPr algn="r">
              <a:lnSpc>
                <a:spcPct val="120000"/>
              </a:lnSpc>
            </a:pPr>
            <a:r>
              <a:rPr lang="ko-KR" altLang="en-US" sz="700" dirty="0" err="1" smtClean="0">
                <a:latin typeface="+mn-ea"/>
              </a:rPr>
              <a:t>테스트업체</a:t>
            </a:r>
            <a:r>
              <a:rPr lang="en-US" altLang="ko-KR" sz="700" dirty="0" smtClean="0">
                <a:latin typeface="+mn-ea"/>
              </a:rPr>
              <a:t>4</a:t>
            </a:r>
            <a:endParaRPr lang="ko-KR" altLang="ko-KR" sz="700" dirty="0">
              <a:latin typeface="+mn-ea"/>
            </a:endParaRP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3610614" y="41888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4299098" y="3930338"/>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100,123,980</a:t>
            </a:r>
            <a:r>
              <a:rPr lang="ko-KR" altLang="en-US" sz="700" b="1" dirty="0" smtClean="0">
                <a:latin typeface="+mn-ea"/>
              </a:rPr>
              <a:t> 원</a:t>
            </a:r>
            <a:endParaRPr lang="en-US" altLang="ko-KR" sz="700" b="1" dirty="0" smtClean="0">
              <a:latin typeface="+mn-ea"/>
            </a:endParaRPr>
          </a:p>
          <a:p>
            <a:pPr algn="r">
              <a:lnSpc>
                <a:spcPct val="120000"/>
              </a:lnSpc>
            </a:pPr>
            <a:r>
              <a:rPr lang="ko-KR" altLang="en-US" sz="700" dirty="0" err="1" smtClean="0">
                <a:latin typeface="+mn-ea"/>
              </a:rPr>
              <a:t>테스트업체</a:t>
            </a:r>
            <a:r>
              <a:rPr lang="en-US" altLang="ko-KR" sz="700" dirty="0" smtClean="0">
                <a:latin typeface="+mn-ea"/>
              </a:rPr>
              <a:t>5</a:t>
            </a:r>
            <a:endParaRPr lang="ko-KR" altLang="ko-KR" sz="700" dirty="0">
              <a:latin typeface="+mn-ea"/>
            </a:endParaRP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3610614" y="4446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4299098" y="4188245"/>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99,870,000</a:t>
            </a:r>
            <a:r>
              <a:rPr lang="ko-KR" altLang="en-US" sz="700" b="1" dirty="0" smtClean="0">
                <a:latin typeface="+mn-ea"/>
              </a:rPr>
              <a:t> 원</a:t>
            </a:r>
            <a:endParaRPr lang="en-US" altLang="ko-KR" sz="700" b="1" dirty="0" smtClean="0">
              <a:latin typeface="+mn-ea"/>
            </a:endParaRPr>
          </a:p>
          <a:p>
            <a:pPr algn="r">
              <a:lnSpc>
                <a:spcPct val="120000"/>
              </a:lnSpc>
            </a:pPr>
            <a:r>
              <a:rPr lang="ko-KR" altLang="en-US" sz="700" dirty="0" err="1" smtClean="0">
                <a:latin typeface="+mn-ea"/>
              </a:rPr>
              <a:t>테스트업체</a:t>
            </a:r>
            <a:r>
              <a:rPr lang="en-US" altLang="ko-KR" sz="700" dirty="0" smtClean="0">
                <a:latin typeface="+mn-ea"/>
              </a:rPr>
              <a:t>6</a:t>
            </a:r>
            <a:endParaRPr lang="ko-KR" altLang="ko-KR" sz="700" dirty="0">
              <a:latin typeface="+mn-ea"/>
            </a:endParaRPr>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3610614" y="47148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7" name="TextBox 136">
            <a:extLst>
              <a:ext uri="{FF2B5EF4-FFF2-40B4-BE49-F238E27FC236}">
                <a16:creationId xmlns:a16="http://schemas.microsoft.com/office/drawing/2014/main" id="{FFC49AEA-2A8F-250C-A86A-A7751D9706C3}"/>
              </a:ext>
            </a:extLst>
          </p:cNvPr>
          <p:cNvSpPr txBox="1"/>
          <p:nvPr/>
        </p:nvSpPr>
        <p:spPr>
          <a:xfrm>
            <a:off x="4299098" y="4456288"/>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102,912,370</a:t>
            </a:r>
            <a:r>
              <a:rPr lang="ko-KR" altLang="en-US" sz="700" b="1" dirty="0" smtClean="0">
                <a:latin typeface="+mn-ea"/>
              </a:rPr>
              <a:t> 원</a:t>
            </a:r>
            <a:endParaRPr lang="en-US" altLang="ko-KR" sz="700" b="1" dirty="0" smtClean="0">
              <a:latin typeface="+mn-ea"/>
            </a:endParaRPr>
          </a:p>
          <a:p>
            <a:pPr algn="r">
              <a:lnSpc>
                <a:spcPct val="120000"/>
              </a:lnSpc>
            </a:pPr>
            <a:r>
              <a:rPr lang="ko-KR" altLang="en-US" sz="700" dirty="0" err="1" smtClean="0">
                <a:latin typeface="+mn-ea"/>
              </a:rPr>
              <a:t>테스트업체</a:t>
            </a:r>
            <a:r>
              <a:rPr lang="en-US" altLang="ko-KR" sz="700" dirty="0" smtClean="0">
                <a:latin typeface="+mn-ea"/>
              </a:rPr>
              <a:t>7</a:t>
            </a:r>
            <a:endParaRPr lang="ko-KR" altLang="ko-KR" sz="700" dirty="0">
              <a:latin typeface="+mn-ea"/>
            </a:endParaRP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3610614" y="49727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4299098" y="4714195"/>
            <a:ext cx="1813911" cy="258532"/>
          </a:xfrm>
          <a:prstGeom prst="rect">
            <a:avLst/>
          </a:prstGeom>
          <a:noFill/>
        </p:spPr>
        <p:txBody>
          <a:bodyPr wrap="square" lIns="0" tIns="0" rIns="0" bIns="0" rtlCol="0">
            <a:spAutoFit/>
          </a:bodyPr>
          <a:lstStyle/>
          <a:p>
            <a:pPr algn="r">
              <a:lnSpc>
                <a:spcPct val="120000"/>
              </a:lnSpc>
            </a:pPr>
            <a:r>
              <a:rPr lang="en-US" altLang="ko-KR" sz="700" b="1" dirty="0">
                <a:latin typeface="+mn-ea"/>
              </a:rPr>
              <a:t>101,350,470</a:t>
            </a:r>
            <a:r>
              <a:rPr lang="ko-KR" altLang="en-US" sz="700" b="1" dirty="0" smtClean="0">
                <a:latin typeface="+mn-ea"/>
              </a:rPr>
              <a:t> 원</a:t>
            </a:r>
            <a:endParaRPr lang="en-US" altLang="ko-KR" sz="700" b="1" dirty="0" smtClean="0">
              <a:latin typeface="+mn-ea"/>
            </a:endParaRPr>
          </a:p>
          <a:p>
            <a:pPr algn="r">
              <a:lnSpc>
                <a:spcPct val="120000"/>
              </a:lnSpc>
            </a:pPr>
            <a:r>
              <a:rPr lang="ko-KR" altLang="en-US" sz="700" dirty="0" err="1" smtClean="0">
                <a:latin typeface="+mn-ea"/>
              </a:rPr>
              <a:t>테스트업체</a:t>
            </a:r>
            <a:r>
              <a:rPr lang="en-US" altLang="ko-KR" sz="700" dirty="0" smtClean="0">
                <a:latin typeface="+mn-ea"/>
              </a:rPr>
              <a:t>8</a:t>
            </a:r>
            <a:endParaRPr lang="ko-KR" altLang="ko-KR" sz="700" dirty="0">
              <a:latin typeface="+mn-ea"/>
            </a:endParaRPr>
          </a:p>
        </p:txBody>
      </p:sp>
      <p:sp>
        <p:nvSpPr>
          <p:cNvPr id="140" name="타원 139">
            <a:extLst>
              <a:ext uri="{FF2B5EF4-FFF2-40B4-BE49-F238E27FC236}">
                <a16:creationId xmlns:a16="http://schemas.microsoft.com/office/drawing/2014/main" id="{37A7FF4F-0EAA-1463-560A-D5EC24416103}"/>
              </a:ext>
            </a:extLst>
          </p:cNvPr>
          <p:cNvSpPr/>
          <p:nvPr/>
        </p:nvSpPr>
        <p:spPr>
          <a:xfrm>
            <a:off x="571127" y="240390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41" name="타원 140">
            <a:extLst>
              <a:ext uri="{FF2B5EF4-FFF2-40B4-BE49-F238E27FC236}">
                <a16:creationId xmlns:a16="http://schemas.microsoft.com/office/drawing/2014/main" id="{37A7FF4F-0EAA-1463-560A-D5EC24416103}"/>
              </a:ext>
            </a:extLst>
          </p:cNvPr>
          <p:cNvSpPr/>
          <p:nvPr/>
        </p:nvSpPr>
        <p:spPr>
          <a:xfrm>
            <a:off x="3445911" y="240390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grpSp>
        <p:nvGrpSpPr>
          <p:cNvPr id="142" name="그룹 141"/>
          <p:cNvGrpSpPr/>
          <p:nvPr/>
        </p:nvGrpSpPr>
        <p:grpSpPr>
          <a:xfrm>
            <a:off x="8223250" y="569392"/>
            <a:ext cx="3365500" cy="634511"/>
            <a:chOff x="8223250" y="569392"/>
            <a:chExt cx="3365500" cy="634511"/>
          </a:xfrm>
        </p:grpSpPr>
        <p:sp>
          <p:nvSpPr>
            <p:cNvPr id="143" name="직사각형 142"/>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2026-08-13 </a:t>
              </a:r>
              <a:r>
                <a:rPr lang="ko-KR" altLang="en-US" dirty="0" smtClean="0"/>
                <a:t>화면 추가</a:t>
              </a:r>
              <a:endParaRPr lang="ko-KR" altLang="en-US" dirty="0"/>
            </a:p>
          </p:txBody>
        </p:sp>
        <p:sp>
          <p:nvSpPr>
            <p:cNvPr id="144" name="직사각형 143"/>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관리자 페이지로 인지했으나</a:t>
              </a:r>
              <a:r>
                <a:rPr lang="en-US" altLang="ko-KR" sz="700" dirty="0" smtClean="0"/>
                <a:t>, </a:t>
              </a:r>
              <a:r>
                <a:rPr lang="ko-KR" altLang="en-US" sz="700" dirty="0" smtClean="0"/>
                <a:t>사용자에게도 보여주어야 하는 정보로 화면을 추가함</a:t>
              </a:r>
              <a:r>
                <a:rPr lang="en-US" altLang="ko-KR" sz="700" dirty="0" smtClean="0"/>
                <a:t>.</a:t>
              </a:r>
              <a:endParaRPr lang="ko-KR" altLang="en-US" sz="700" dirty="0"/>
            </a:p>
          </p:txBody>
        </p:sp>
      </p:grpSp>
    </p:spTree>
    <p:extLst>
      <p:ext uri="{BB962C8B-B14F-4D97-AF65-F5344CB8AC3E}">
        <p14:creationId xmlns:p14="http://schemas.microsoft.com/office/powerpoint/2010/main" val="2117686397"/>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246</a:t>
            </a:fld>
            <a:endParaRPr lang="ko-KR" altLang="en-US" dirty="0"/>
          </a:p>
        </p:txBody>
      </p:sp>
      <p:sp>
        <p:nvSpPr>
          <p:cNvPr id="6" name="TextBox 5">
            <a:extLst>
              <a:ext uri="{FF2B5EF4-FFF2-40B4-BE49-F238E27FC236}">
                <a16:creationId xmlns:a16="http://schemas.microsoft.com/office/drawing/2014/main" id="{62FF5669-7965-B918-5968-717593B3045B}"/>
              </a:ext>
            </a:extLst>
          </p:cNvPr>
          <p:cNvSpPr txBox="1"/>
          <p:nvPr/>
        </p:nvSpPr>
        <p:spPr>
          <a:xfrm>
            <a:off x="458117" y="905592"/>
            <a:ext cx="2640714" cy="211203"/>
          </a:xfrm>
          <a:prstGeom prst="rect">
            <a:avLst/>
          </a:prstGeom>
          <a:noFill/>
        </p:spPr>
        <p:txBody>
          <a:bodyPr wrap="none" lIns="36000" tIns="36000" rIns="36000" bIns="36000" rtlCol="0">
            <a:spAutoFit/>
          </a:bodyPr>
          <a:lstStyle/>
          <a:p>
            <a:r>
              <a:rPr lang="en-US" altLang="ko-KR" sz="900" b="1" dirty="0" smtClean="0">
                <a:solidFill>
                  <a:prstClr val="black"/>
                </a:solidFill>
              </a:rPr>
              <a:t>1.1. </a:t>
            </a:r>
            <a:r>
              <a:rPr lang="ko-KR" altLang="en-US" sz="900" b="1" dirty="0">
                <a:solidFill>
                  <a:prstClr val="black"/>
                </a:solidFill>
              </a:rPr>
              <a:t>복수예비가격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dmt_plrlRsrvPrc</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54D23AA0-D564-245D-A117-C2745D46DA6D}"/>
              </a:ext>
            </a:extLst>
          </p:cNvPr>
          <p:cNvGraphicFramePr>
            <a:graphicFrameLocks noGrp="1"/>
          </p:cNvGraphicFramePr>
          <p:nvPr>
            <p:extLst>
              <p:ext uri="{D42A27DB-BD31-4B8C-83A1-F6EECF244321}">
                <p14:modId xmlns:p14="http://schemas.microsoft.com/office/powerpoint/2010/main" val="3114154510"/>
              </p:ext>
            </p:extLst>
          </p:nvPr>
        </p:nvGraphicFramePr>
        <p:xfrm>
          <a:off x="452999" y="118934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regSn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생성된 복수예비가격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9802786"/>
                  </a:ext>
                </a:extLst>
              </a:tr>
              <a:tr h="0">
                <a:tc>
                  <a:txBody>
                    <a:bodyPr/>
                    <a:lstStyle/>
                    <a:p>
                      <a:pPr latinLnBrk="1"/>
                      <a:r>
                        <a:rPr lang="ko-KR" altLang="en-US" sz="800" dirty="0">
                          <a:latin typeface="+mn-ea"/>
                          <a:ea typeface="+mn-ea"/>
                        </a:rPr>
                        <a:t>횟수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chcNmtm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업체가 선택한 번호의 횟수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3694876"/>
                  </a:ext>
                </a:extLst>
              </a:tr>
            </a:tbl>
          </a:graphicData>
        </a:graphic>
      </p:graphicFrame>
      <p:sp>
        <p:nvSpPr>
          <p:cNvPr id="9" name="TextBox 8">
            <a:extLst>
              <a:ext uri="{FF2B5EF4-FFF2-40B4-BE49-F238E27FC236}">
                <a16:creationId xmlns:a16="http://schemas.microsoft.com/office/drawing/2014/main" id="{57D3202C-6EDB-5146-5533-5B6F0C8C2AA8}"/>
              </a:ext>
            </a:extLst>
          </p:cNvPr>
          <p:cNvSpPr txBox="1"/>
          <p:nvPr/>
        </p:nvSpPr>
        <p:spPr>
          <a:xfrm>
            <a:off x="458117" y="2136854"/>
            <a:ext cx="2169431" cy="211203"/>
          </a:xfrm>
          <a:prstGeom prst="rect">
            <a:avLst/>
          </a:prstGeom>
          <a:noFill/>
        </p:spPr>
        <p:txBody>
          <a:bodyPr wrap="none" lIns="36000" tIns="36000" rIns="36000" bIns="36000" rtlCol="0">
            <a:spAutoFit/>
          </a:bodyPr>
          <a:lstStyle/>
          <a:p>
            <a:r>
              <a:rPr lang="en-US" altLang="ko-KR" sz="900" b="1" dirty="0" smtClean="0">
                <a:solidFill>
                  <a:prstClr val="black"/>
                </a:solidFill>
              </a:rPr>
              <a:t>1.2. </a:t>
            </a:r>
            <a:r>
              <a:rPr lang="ko-KR" altLang="en-US" sz="900" b="1" dirty="0">
                <a:solidFill>
                  <a:prstClr val="black"/>
                </a:solidFill>
              </a:rPr>
              <a:t>선택번호</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dmt_chcNo</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0D9C4A4B-8A7F-E971-ED76-FD6715B845CA}"/>
              </a:ext>
            </a:extLst>
          </p:cNvPr>
          <p:cNvGraphicFramePr>
            <a:graphicFrameLocks noGrp="1"/>
          </p:cNvGraphicFramePr>
          <p:nvPr>
            <p:extLst>
              <p:ext uri="{D42A27DB-BD31-4B8C-83A1-F6EECF244321}">
                <p14:modId xmlns:p14="http://schemas.microsoft.com/office/powerpoint/2010/main" val="1988416052"/>
              </p:ext>
            </p:extLst>
          </p:nvPr>
        </p:nvGraphicFramePr>
        <p:xfrm>
          <a:off x="452999" y="2420608"/>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regSn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9802786"/>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3694876"/>
                  </a:ext>
                </a:extLst>
              </a:tr>
            </a:tbl>
          </a:graphicData>
        </a:graphic>
      </p:graphicFrame>
      <p:sp>
        <p:nvSpPr>
          <p:cNvPr id="2" name="TextBox 1">
            <a:extLst>
              <a:ext uri="{FF2B5EF4-FFF2-40B4-BE49-F238E27FC236}">
                <a16:creationId xmlns:a16="http://schemas.microsoft.com/office/drawing/2014/main" id="{8F156AF3-BEAA-C110-ED0D-6759005E9D8A}"/>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dirty="0" smtClean="0">
                <a:solidFill>
                  <a:prstClr val="black"/>
                </a:solidFill>
              </a:rPr>
              <a:t>설명</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7AD810DE-24C1-7573-F9CE-2D848791DC8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75017667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247</a:t>
            </a:fld>
            <a:endParaRPr lang="ko-KR" altLang="en-US" dirty="0"/>
          </a:p>
        </p:txBody>
      </p:sp>
      <p:sp>
        <p:nvSpPr>
          <p:cNvPr id="12" name="TextBox 11">
            <a:extLst>
              <a:ext uri="{FF2B5EF4-FFF2-40B4-BE49-F238E27FC236}">
                <a16:creationId xmlns:a16="http://schemas.microsoft.com/office/drawing/2014/main" id="{296E7FBC-39B5-FC2A-931A-4017F511FCD7}"/>
              </a:ext>
            </a:extLst>
          </p:cNvPr>
          <p:cNvSpPr txBox="1"/>
          <p:nvPr/>
        </p:nvSpPr>
        <p:spPr>
          <a:xfrm>
            <a:off x="457408"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44F4C728-82CB-8E89-3EC5-F118F6DA58C7}"/>
              </a:ext>
            </a:extLst>
          </p:cNvPr>
          <p:cNvGraphicFramePr>
            <a:graphicFrameLocks noGrp="1"/>
          </p:cNvGraphicFramePr>
          <p:nvPr>
            <p:extLst>
              <p:ext uri="{D42A27DB-BD31-4B8C-83A1-F6EECF244321}">
                <p14:modId xmlns:p14="http://schemas.microsoft.com/office/powerpoint/2010/main" val="709257764"/>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복수예비가격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복수예비가격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scwin.getPlrlRsrvPrcInfo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공고정보</a:t>
                      </a:r>
                      <a:r>
                        <a:rPr lang="en-US" altLang="ko-KR" sz="800" dirty="0">
                          <a:latin typeface="+mn-ea"/>
                          <a:ea typeface="+mn-ea"/>
                        </a:rPr>
                        <a:t>,</a:t>
                      </a:r>
                      <a:r>
                        <a:rPr lang="ko-KR" altLang="en-US" sz="800" dirty="0">
                          <a:latin typeface="+mn-ea"/>
                          <a:ea typeface="+mn-ea"/>
                        </a:rPr>
                        <a:t> 품목정보</a:t>
                      </a:r>
                      <a:r>
                        <a:rPr lang="en-US" altLang="ko-KR" sz="800" dirty="0">
                          <a:latin typeface="+mn-ea"/>
                          <a:ea typeface="+mn-ea"/>
                        </a:rPr>
                        <a:t>, </a:t>
                      </a:r>
                      <a:r>
                        <a:rPr lang="ko-KR" altLang="en-US" sz="800" dirty="0">
                          <a:latin typeface="+mn-ea"/>
                          <a:ea typeface="+mn-ea"/>
                        </a:rPr>
                        <a:t>생성된 복수예비가격</a:t>
                      </a:r>
                      <a:r>
                        <a:rPr lang="en-US" altLang="ko-KR" sz="800" dirty="0">
                          <a:latin typeface="+mn-ea"/>
                          <a:ea typeface="+mn-ea"/>
                        </a:rPr>
                        <a:t>, </a:t>
                      </a:r>
                      <a:r>
                        <a:rPr lang="ko-KR" altLang="en-US" sz="800" dirty="0">
                          <a:latin typeface="+mn-ea"/>
                          <a:ea typeface="+mn-ea"/>
                        </a:rPr>
                        <a:t>선택번호 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719220"/>
                  </a:ext>
                </a:extLst>
              </a:tr>
            </a:tbl>
          </a:graphicData>
        </a:graphic>
      </p:graphicFrame>
      <p:sp>
        <p:nvSpPr>
          <p:cNvPr id="8" name="Text Box 73">
            <a:extLst>
              <a:ext uri="{FF2B5EF4-FFF2-40B4-BE49-F238E27FC236}">
                <a16:creationId xmlns:a16="http://schemas.microsoft.com/office/drawing/2014/main" id="{E8BFC748-07F6-CD9B-B5A9-28F0EE17C38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72720520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동가로 낙찰된 업체 정보와 </a:t>
            </a:r>
            <a:r>
              <a:rPr lang="ko-KR" altLang="en-US" dirty="0" err="1" smtClean="0"/>
              <a:t>당첨여부</a:t>
            </a:r>
            <a:r>
              <a:rPr lang="ko-KR" altLang="en-US" dirty="0" smtClean="0"/>
              <a:t> 표시</a:t>
            </a:r>
            <a:endParaRPr lang="en-US" altLang="ko-KR" dirty="0" smtClean="0"/>
          </a:p>
          <a:p>
            <a:pPr marL="228600" indent="-228600">
              <a:buFont typeface="+mj-lt"/>
              <a:buAutoNum type="arabicPeriod"/>
            </a:pPr>
            <a:endParaRPr lang="en-US" altLang="ko-KR" dirty="0"/>
          </a:p>
          <a:p>
            <a:pPr marL="228600" indent="-228600">
              <a:buFont typeface="+mj-lt"/>
              <a:buAutoNum type="arabicPeriod"/>
            </a:pPr>
            <a:r>
              <a:rPr lang="ko-KR" altLang="en-US" dirty="0" smtClean="0"/>
              <a:t>선정 결과값에서 </a:t>
            </a:r>
            <a:r>
              <a:rPr lang="ko-KR" altLang="en-US" dirty="0" err="1" smtClean="0"/>
              <a:t>업체코드와</a:t>
            </a:r>
            <a:r>
              <a:rPr lang="ko-KR" altLang="en-US" dirty="0" smtClean="0"/>
              <a:t> </a:t>
            </a:r>
            <a:r>
              <a:rPr lang="ko-KR" altLang="en-US" dirty="0" err="1" smtClean="0"/>
              <a:t>업체명을</a:t>
            </a:r>
            <a:r>
              <a:rPr lang="ko-KR" altLang="en-US" dirty="0" smtClean="0"/>
              <a:t> 별도의 테이블로 분리하여 표시</a:t>
            </a:r>
            <a:r>
              <a:rPr lang="en-US" altLang="ko-KR" dirty="0" smtClean="0"/>
              <a:t/>
            </a:r>
            <a:br>
              <a:rPr lang="en-US" altLang="ko-KR" dirty="0" smtClean="0"/>
            </a:br>
            <a:endParaRPr lang="en-US" altLang="ko-KR" dirty="0"/>
          </a:p>
          <a:p>
            <a:pPr marL="228600" indent="-228600">
              <a:buFont typeface="+mj-lt"/>
              <a:buAutoNum type="arabicPeriod"/>
            </a:pPr>
            <a:r>
              <a:rPr lang="ko-KR" altLang="en-US" dirty="0" smtClean="0"/>
              <a:t>가위바위보 좌측</a:t>
            </a:r>
            <a:r>
              <a:rPr lang="en-US" altLang="ko-KR" dirty="0" smtClean="0"/>
              <a:t>, </a:t>
            </a:r>
            <a:r>
              <a:rPr lang="ko-KR" altLang="en-US" dirty="0" smtClean="0"/>
              <a:t>우측에 표시되는 정보를 추가 표시하여 사용자가 인지할 수 있도록 표시</a:t>
            </a:r>
            <a:endParaRPr lang="en-US" altLang="ko-KR" dirty="0" smtClean="0"/>
          </a:p>
          <a:p>
            <a:pPr marL="228600" indent="-228600">
              <a:buFont typeface="+mj-lt"/>
              <a:buAutoNum type="arabicPeriod"/>
            </a:pPr>
            <a:endParaRPr lang="en-US" altLang="ko-KR" dirty="0"/>
          </a:p>
          <a:p>
            <a:pPr marL="228600" indent="-228600">
              <a:buFont typeface="+mj-lt"/>
              <a:buAutoNum type="arabicPeriod"/>
            </a:pPr>
            <a:r>
              <a:rPr lang="ko-KR" altLang="en-US" dirty="0" smtClean="0"/>
              <a:t>가위바위보 결과 정보 표시</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solidFill>
                  <a:prstClr val="black"/>
                </a:solidFill>
                <a:latin typeface="맑은 고딕" panose="020B0503020000020004" pitchFamily="50" charset="-127"/>
              </a:rPr>
              <a:t>동가낙찰결과</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solidFill>
                  <a:prstClr val="black"/>
                </a:solidFill>
                <a:latin typeface="맑은 고딕" panose="020B0503020000020004" pitchFamily="50" charset="-127"/>
              </a:rPr>
              <a:t>동가낙찰결과</a:t>
            </a:r>
            <a:r>
              <a:rPr lang="ko-KR" altLang="en-US" dirty="0" smtClean="0">
                <a:latin typeface="+mn-ea"/>
              </a:rPr>
              <a:t> 조회</a:t>
            </a:r>
            <a:r>
              <a:rPr lang="ko-KR" altLang="en-US" dirty="0" smtClean="0"/>
              <a:t> </a:t>
            </a:r>
            <a:r>
              <a:rPr lang="ko-KR" altLang="en-US" dirty="0"/>
              <a:t>팝업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smtClean="0"/>
              <a:t>&gt; </a:t>
            </a:r>
            <a:r>
              <a:rPr lang="ko-KR" altLang="en-US" dirty="0">
                <a:solidFill>
                  <a:prstClr val="black"/>
                </a:solidFill>
                <a:latin typeface="맑은 고딕" panose="020B0503020000020004" pitchFamily="50" charset="-127"/>
              </a:rPr>
              <a:t>동가낙찰결과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MUI-BD-09-P03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입찰결과 </a:t>
            </a:r>
            <a:r>
              <a:rPr lang="ko-KR" altLang="en-US" sz="800" dirty="0" smtClean="0">
                <a:latin typeface="+mn-ea"/>
              </a:rPr>
              <a:t>상세</a:t>
            </a:r>
            <a:endParaRPr lang="ko-KR" altLang="en-US" sz="8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양쪽 모서리가 둥근 사각형 165"/>
          <p:cNvSpPr/>
          <p:nvPr/>
        </p:nvSpPr>
        <p:spPr>
          <a:xfrm>
            <a:off x="675399" y="1914401"/>
            <a:ext cx="2712027" cy="4317897"/>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67" name="모서리가 둥근 직사각형 166"/>
          <p:cNvSpPr/>
          <p:nvPr/>
        </p:nvSpPr>
        <p:spPr>
          <a:xfrm>
            <a:off x="1761412" y="195102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8" name="그룹 167"/>
          <p:cNvGrpSpPr/>
          <p:nvPr/>
        </p:nvGrpSpPr>
        <p:grpSpPr>
          <a:xfrm>
            <a:off x="3164338" y="2085445"/>
            <a:ext cx="94010" cy="94010"/>
            <a:chOff x="6812560" y="3297172"/>
            <a:chExt cx="94010" cy="94010"/>
          </a:xfrm>
        </p:grpSpPr>
        <p:cxnSp>
          <p:nvCxnSpPr>
            <p:cNvPr id="169" name="직선 연결선 16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70" name="직선 연결선 16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72" name="TextBox 171">
            <a:extLst>
              <a:ext uri="{FF2B5EF4-FFF2-40B4-BE49-F238E27FC236}">
                <a16:creationId xmlns:a16="http://schemas.microsoft.com/office/drawing/2014/main" id="{FFC49AEA-2A8F-250C-A86A-A7751D9706C3}"/>
              </a:ext>
            </a:extLst>
          </p:cNvPr>
          <p:cNvSpPr txBox="1"/>
          <p:nvPr/>
        </p:nvSpPr>
        <p:spPr>
          <a:xfrm>
            <a:off x="804476" y="2066124"/>
            <a:ext cx="1798758" cy="138499"/>
          </a:xfrm>
          <a:prstGeom prst="rect">
            <a:avLst/>
          </a:prstGeom>
          <a:noFill/>
        </p:spPr>
        <p:txBody>
          <a:bodyPr wrap="square" lIns="0" tIns="0" rIns="0" bIns="0" rtlCol="0">
            <a:spAutoFit/>
          </a:bodyPr>
          <a:lstStyle/>
          <a:p>
            <a:r>
              <a:rPr lang="ko-KR" altLang="en-US" sz="900" dirty="0">
                <a:solidFill>
                  <a:prstClr val="black"/>
                </a:solidFill>
                <a:latin typeface="맑은 고딕" panose="020B0503020000020004" pitchFamily="50" charset="-127"/>
              </a:rPr>
              <a:t>동가낙찰결과</a:t>
            </a:r>
            <a:endParaRPr lang="ko-KR" altLang="en-US" sz="900" dirty="0">
              <a:latin typeface="+mn-ea"/>
            </a:endParaRPr>
          </a:p>
        </p:txBody>
      </p:sp>
      <p:cxnSp>
        <p:nvCxnSpPr>
          <p:cNvPr id="173" name="직선 연결선 172">
            <a:extLst>
              <a:ext uri="{FF2B5EF4-FFF2-40B4-BE49-F238E27FC236}">
                <a16:creationId xmlns:a16="http://schemas.microsoft.com/office/drawing/2014/main" id="{E9293055-D5CD-4B9E-7F64-64B2D2CA7A52}"/>
              </a:ext>
            </a:extLst>
          </p:cNvPr>
          <p:cNvCxnSpPr/>
          <p:nvPr/>
        </p:nvCxnSpPr>
        <p:spPr>
          <a:xfrm>
            <a:off x="675399" y="23275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8" name="직사각형 77">
            <a:extLst>
              <a:ext uri="{FF2B5EF4-FFF2-40B4-BE49-F238E27FC236}">
                <a16:creationId xmlns:a16="http://schemas.microsoft.com/office/drawing/2014/main" id="{F56F1743-11A0-EA94-9184-4E42C0A37F9C}"/>
              </a:ext>
            </a:extLst>
          </p:cNvPr>
          <p:cNvSpPr/>
          <p:nvPr/>
        </p:nvSpPr>
        <p:spPr>
          <a:xfrm>
            <a:off x="3552363"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3" name="TextBox 82">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3807865" y="1608356"/>
            <a:ext cx="2305144" cy="123111"/>
          </a:xfrm>
          <a:prstGeom prst="rect">
            <a:avLst/>
          </a:prstGeom>
          <a:noFill/>
        </p:spPr>
        <p:txBody>
          <a:bodyPr wrap="square" lIns="0" tIns="0" rIns="0" bIns="0" rtlCol="0">
            <a:spAutoFit/>
          </a:bodyPr>
          <a:lstStyle/>
          <a:p>
            <a:r>
              <a:rPr lang="ko-KR" altLang="en-US" sz="800" dirty="0">
                <a:latin typeface="+mn-ea"/>
              </a:rPr>
              <a:t>입찰결과 </a:t>
            </a:r>
            <a:r>
              <a:rPr lang="ko-KR" altLang="en-US" sz="800" dirty="0" smtClean="0">
                <a:latin typeface="+mn-ea"/>
              </a:rPr>
              <a:t>상세</a:t>
            </a:r>
            <a:endParaRPr lang="ko-KR" altLang="en-US" sz="800" dirty="0">
              <a:latin typeface="+mn-ea"/>
            </a:endParaRP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3552363"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3" name="그룹 112"/>
          <p:cNvGrpSpPr/>
          <p:nvPr/>
        </p:nvGrpSpPr>
        <p:grpSpPr>
          <a:xfrm rot="5400000">
            <a:off x="3626806" y="1640499"/>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6" name="타원 115"/>
          <p:cNvSpPr/>
          <p:nvPr/>
        </p:nvSpPr>
        <p:spPr>
          <a:xfrm>
            <a:off x="5916330"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양쪽 모서리가 둥근 사각형 116"/>
          <p:cNvSpPr/>
          <p:nvPr/>
        </p:nvSpPr>
        <p:spPr>
          <a:xfrm>
            <a:off x="3552363" y="1914401"/>
            <a:ext cx="2712027" cy="4317897"/>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8" name="모서리가 둥근 직사각형 117"/>
          <p:cNvSpPr/>
          <p:nvPr/>
        </p:nvSpPr>
        <p:spPr>
          <a:xfrm>
            <a:off x="4633205" y="195102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19" name="그룹 118"/>
          <p:cNvGrpSpPr/>
          <p:nvPr/>
        </p:nvGrpSpPr>
        <p:grpSpPr>
          <a:xfrm>
            <a:off x="6036131" y="2085445"/>
            <a:ext cx="94010" cy="94010"/>
            <a:chOff x="6812560" y="3297172"/>
            <a:chExt cx="94010" cy="94010"/>
          </a:xfrm>
        </p:grpSpPr>
        <p:cxnSp>
          <p:nvCxnSpPr>
            <p:cNvPr id="120" name="직선 연결선 11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2" name="TextBox 121">
            <a:extLst>
              <a:ext uri="{FF2B5EF4-FFF2-40B4-BE49-F238E27FC236}">
                <a16:creationId xmlns:a16="http://schemas.microsoft.com/office/drawing/2014/main" id="{FFC49AEA-2A8F-250C-A86A-A7751D9706C3}"/>
              </a:ext>
            </a:extLst>
          </p:cNvPr>
          <p:cNvSpPr txBox="1"/>
          <p:nvPr/>
        </p:nvSpPr>
        <p:spPr>
          <a:xfrm>
            <a:off x="3676269" y="2066124"/>
            <a:ext cx="1798758" cy="138499"/>
          </a:xfrm>
          <a:prstGeom prst="rect">
            <a:avLst/>
          </a:prstGeom>
          <a:noFill/>
        </p:spPr>
        <p:txBody>
          <a:bodyPr wrap="square" lIns="0" tIns="0" rIns="0" bIns="0" rtlCol="0">
            <a:spAutoFit/>
          </a:bodyPr>
          <a:lstStyle/>
          <a:p>
            <a:r>
              <a:rPr lang="ko-KR" altLang="en-US" sz="900" dirty="0">
                <a:solidFill>
                  <a:prstClr val="black"/>
                </a:solidFill>
                <a:latin typeface="맑은 고딕" panose="020B0503020000020004" pitchFamily="50" charset="-127"/>
              </a:rPr>
              <a:t>동가낙찰결과</a:t>
            </a:r>
            <a:endParaRPr lang="ko-KR" altLang="en-US" sz="900" dirty="0">
              <a:latin typeface="+mn-ea"/>
            </a:endParaRP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3547192" y="23275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타원 139">
            <a:extLst>
              <a:ext uri="{FF2B5EF4-FFF2-40B4-BE49-F238E27FC236}">
                <a16:creationId xmlns:a16="http://schemas.microsoft.com/office/drawing/2014/main" id="{37A7FF4F-0EAA-1463-560A-D5EC24416103}"/>
              </a:ext>
            </a:extLst>
          </p:cNvPr>
          <p:cNvSpPr/>
          <p:nvPr/>
        </p:nvSpPr>
        <p:spPr>
          <a:xfrm>
            <a:off x="571127" y="240390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41" name="타원 140">
            <a:extLst>
              <a:ext uri="{FF2B5EF4-FFF2-40B4-BE49-F238E27FC236}">
                <a16:creationId xmlns:a16="http://schemas.microsoft.com/office/drawing/2014/main" id="{37A7FF4F-0EAA-1463-560A-D5EC24416103}"/>
              </a:ext>
            </a:extLst>
          </p:cNvPr>
          <p:cNvSpPr/>
          <p:nvPr/>
        </p:nvSpPr>
        <p:spPr>
          <a:xfrm>
            <a:off x="3445911" y="240390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grpSp>
        <p:nvGrpSpPr>
          <p:cNvPr id="97" name="그룹 96"/>
          <p:cNvGrpSpPr/>
          <p:nvPr/>
        </p:nvGrpSpPr>
        <p:grpSpPr>
          <a:xfrm>
            <a:off x="701175" y="2421324"/>
            <a:ext cx="2630093" cy="1384703"/>
            <a:chOff x="701175" y="1527996"/>
            <a:chExt cx="2630093" cy="1384703"/>
          </a:xfrm>
        </p:grpSpPr>
        <p:sp>
          <p:nvSpPr>
            <p:cNvPr id="98" name="TextBox 97">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smtClean="0">
                  <a:latin typeface="+mn-ea"/>
                </a:rPr>
                <a:t>업체정보</a:t>
              </a:r>
              <a:endParaRPr lang="ko-KR" altLang="en-US" sz="700" dirty="0">
                <a:latin typeface="+mn-ea"/>
              </a:endParaRPr>
            </a:p>
          </p:txBody>
        </p:sp>
        <p:grpSp>
          <p:nvGrpSpPr>
            <p:cNvPr id="99" name="그룹 98"/>
            <p:cNvGrpSpPr/>
            <p:nvPr/>
          </p:nvGrpSpPr>
          <p:grpSpPr>
            <a:xfrm flipV="1">
              <a:off x="3124233" y="1641327"/>
              <a:ext cx="94010" cy="47005"/>
              <a:chOff x="6812560" y="3297172"/>
              <a:chExt cx="94010" cy="47005"/>
            </a:xfrm>
          </p:grpSpPr>
          <p:cxnSp>
            <p:nvCxnSpPr>
              <p:cNvPr id="146" name="직선 연결선 1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0" name="직사각형 99"/>
            <p:cNvSpPr/>
            <p:nvPr/>
          </p:nvSpPr>
          <p:spPr>
            <a:xfrm>
              <a:off x="703268" y="1835481"/>
              <a:ext cx="792000" cy="10737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790331" y="1835481"/>
              <a:ext cx="725552" cy="1077218"/>
            </a:xfrm>
            <a:prstGeom prst="rect">
              <a:avLst/>
            </a:prstGeom>
            <a:noFill/>
          </p:spPr>
          <p:txBody>
            <a:bodyPr wrap="square" lIns="0" tIns="0" rIns="0" bIns="0" rtlCol="0">
              <a:spAutoFit/>
            </a:bodyPr>
            <a:lstStyle/>
            <a:p>
              <a:pPr>
                <a:lnSpc>
                  <a:spcPct val="200000"/>
                </a:lnSpc>
              </a:pPr>
              <a:r>
                <a:rPr lang="ko-KR" altLang="en-US" sz="700" dirty="0" smtClean="0">
                  <a:latin typeface="+mn-ea"/>
                </a:rPr>
                <a:t>번호</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smtClean="0">
                <a:latin typeface="+mn-ea"/>
              </a:endParaRPr>
            </a:p>
            <a:p>
              <a:pPr>
                <a:lnSpc>
                  <a:spcPct val="200000"/>
                </a:lnSpc>
              </a:pPr>
              <a:r>
                <a:rPr lang="ko-KR" altLang="en-US" sz="700" dirty="0" smtClean="0">
                  <a:latin typeface="+mn-ea"/>
                </a:rPr>
                <a:t>상호명</a:t>
              </a:r>
              <a:endParaRPr lang="en-US" altLang="ko-KR" sz="700" dirty="0" smtClean="0">
                <a:latin typeface="+mn-ea"/>
              </a:endParaRPr>
            </a:p>
            <a:p>
              <a:pPr>
                <a:lnSpc>
                  <a:spcPct val="200000"/>
                </a:lnSpc>
              </a:pPr>
              <a:r>
                <a:rPr lang="ko-KR" altLang="en-US" sz="700" dirty="0" smtClean="0">
                  <a:latin typeface="+mn-ea"/>
                </a:rPr>
                <a:t>입찰서제출일시</a:t>
              </a:r>
              <a:endParaRPr lang="en-US" altLang="ko-KR" sz="700" dirty="0" smtClean="0">
                <a:latin typeface="+mn-ea"/>
              </a:endParaRPr>
            </a:p>
            <a:p>
              <a:pPr>
                <a:lnSpc>
                  <a:spcPct val="200000"/>
                </a:lnSpc>
              </a:pPr>
              <a:r>
                <a:rPr lang="ko-KR" altLang="en-US" sz="700" dirty="0" err="1" smtClean="0">
                  <a:latin typeface="+mn-ea"/>
                </a:rPr>
                <a:t>당첨여부</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547180" y="1835481"/>
              <a:ext cx="1775839" cy="1077218"/>
            </a:xfrm>
            <a:prstGeom prst="rect">
              <a:avLst/>
            </a:prstGeom>
            <a:noFill/>
          </p:spPr>
          <p:txBody>
            <a:bodyPr wrap="square" lIns="0" tIns="0" rIns="0" bIns="0" rtlCol="0">
              <a:spAutoFit/>
            </a:bodyPr>
            <a:lstStyle/>
            <a:p>
              <a:pPr>
                <a:lnSpc>
                  <a:spcPct val="200000"/>
                </a:lnSpc>
              </a:pPr>
              <a:r>
                <a:rPr lang="en-US" altLang="ko-KR" sz="700" dirty="0" smtClean="0">
                  <a:latin typeface="+mn-ea"/>
                </a:rPr>
                <a:t>0</a:t>
              </a:r>
              <a:endParaRPr lang="en-US" altLang="ko-KR" sz="700" dirty="0">
                <a:latin typeface="+mn-ea"/>
              </a:endParaRPr>
            </a:p>
            <a:p>
              <a:pPr>
                <a:lnSpc>
                  <a:spcPct val="200000"/>
                </a:lnSpc>
              </a:pPr>
              <a:r>
                <a:rPr lang="en-US" altLang="ko-KR" sz="700" dirty="0" smtClean="0">
                  <a:latin typeface="+mn-ea"/>
                </a:rPr>
                <a:t>123-12-31230</a:t>
              </a:r>
              <a:endParaRPr lang="en-US" altLang="ko-KR" sz="700" dirty="0">
                <a:latin typeface="+mn-ea"/>
              </a:endParaRPr>
            </a:p>
            <a:p>
              <a:pPr>
                <a:lnSpc>
                  <a:spcPct val="200000"/>
                </a:lnSpc>
              </a:pPr>
              <a:r>
                <a:rPr lang="ko-KR" altLang="en-US" sz="700" dirty="0" err="1" smtClean="0">
                  <a:latin typeface="+mn-ea"/>
                </a:rPr>
                <a:t>테스트업체</a:t>
              </a:r>
              <a:r>
                <a:rPr lang="en-US" altLang="ko-KR" sz="700" dirty="0" smtClean="0">
                  <a:latin typeface="+mn-ea"/>
                </a:rPr>
                <a:t>1</a:t>
              </a:r>
              <a:endParaRPr lang="en-US" altLang="ko-KR" sz="700" dirty="0">
                <a:latin typeface="+mn-ea"/>
              </a:endParaRPr>
            </a:p>
            <a:p>
              <a:pPr>
                <a:lnSpc>
                  <a:spcPct val="200000"/>
                </a:lnSpc>
              </a:pPr>
              <a:r>
                <a:rPr lang="en-US" altLang="ko-KR" sz="700" dirty="0" smtClean="0">
                  <a:latin typeface="+mn-ea"/>
                </a:rPr>
                <a:t>2025-12-01 10:00:00</a:t>
              </a:r>
              <a:endParaRPr lang="en-US" altLang="ko-KR" sz="700" dirty="0">
                <a:latin typeface="+mn-ea"/>
              </a:endParaRPr>
            </a:p>
            <a:p>
              <a:pPr>
                <a:lnSpc>
                  <a:spcPct val="200000"/>
                </a:lnSpc>
              </a:pPr>
              <a:r>
                <a:rPr lang="ko-KR" altLang="en-US" sz="700" dirty="0" smtClean="0">
                  <a:latin typeface="+mn-ea"/>
                </a:rPr>
                <a:t>당첨</a:t>
              </a:r>
              <a:endParaRPr lang="ko-KR" altLang="en-US" sz="700" dirty="0">
                <a:latin typeface="+mn-ea"/>
              </a:endParaRPr>
            </a:p>
          </p:txBody>
        </p:sp>
        <p:grpSp>
          <p:nvGrpSpPr>
            <p:cNvPr id="103" name="그룹 102"/>
            <p:cNvGrpSpPr/>
            <p:nvPr/>
          </p:nvGrpSpPr>
          <p:grpSpPr>
            <a:xfrm>
              <a:off x="701175" y="1835481"/>
              <a:ext cx="2630093" cy="1073700"/>
              <a:chOff x="701175" y="1835481"/>
              <a:chExt cx="2630093" cy="1073700"/>
            </a:xfrm>
          </p:grpSpPr>
          <p:cxnSp>
            <p:nvCxnSpPr>
              <p:cNvPr id="104" name="직선 연결선 10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148" name="그룹 147"/>
          <p:cNvGrpSpPr/>
          <p:nvPr/>
        </p:nvGrpSpPr>
        <p:grpSpPr>
          <a:xfrm>
            <a:off x="701175" y="3928854"/>
            <a:ext cx="2630093" cy="1077218"/>
            <a:chOff x="701175" y="1835481"/>
            <a:chExt cx="2630093" cy="1077218"/>
          </a:xfrm>
        </p:grpSpPr>
        <p:sp>
          <p:nvSpPr>
            <p:cNvPr id="151" name="직사각형 150"/>
            <p:cNvSpPr/>
            <p:nvPr/>
          </p:nvSpPr>
          <p:spPr>
            <a:xfrm>
              <a:off x="703268" y="1835481"/>
              <a:ext cx="792000" cy="10737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TextBox 151">
              <a:extLst>
                <a:ext uri="{FF2B5EF4-FFF2-40B4-BE49-F238E27FC236}">
                  <a16:creationId xmlns:a16="http://schemas.microsoft.com/office/drawing/2014/main" id="{FFC49AEA-2A8F-250C-A86A-A7751D9706C3}"/>
                </a:ext>
              </a:extLst>
            </p:cNvPr>
            <p:cNvSpPr txBox="1"/>
            <p:nvPr/>
          </p:nvSpPr>
          <p:spPr>
            <a:xfrm>
              <a:off x="790331" y="1835481"/>
              <a:ext cx="725552" cy="1077218"/>
            </a:xfrm>
            <a:prstGeom prst="rect">
              <a:avLst/>
            </a:prstGeom>
            <a:noFill/>
          </p:spPr>
          <p:txBody>
            <a:bodyPr wrap="square" lIns="0" tIns="0" rIns="0" bIns="0" rtlCol="0">
              <a:spAutoFit/>
            </a:bodyPr>
            <a:lstStyle/>
            <a:p>
              <a:pPr>
                <a:lnSpc>
                  <a:spcPct val="200000"/>
                </a:lnSpc>
              </a:pPr>
              <a:r>
                <a:rPr lang="ko-KR" altLang="en-US" sz="700" dirty="0" smtClean="0">
                  <a:latin typeface="+mn-ea"/>
                </a:rPr>
                <a:t>번호</a:t>
              </a:r>
              <a:endParaRPr lang="en-US" altLang="ko-KR" sz="700" dirty="0" smtClean="0">
                <a:latin typeface="+mn-ea"/>
              </a:endParaRPr>
            </a:p>
            <a:p>
              <a:pPr>
                <a:lnSpc>
                  <a:spcPct val="200000"/>
                </a:lnSpc>
              </a:pPr>
              <a:r>
                <a:rPr lang="ko-KR" altLang="en-US" sz="700" dirty="0" smtClean="0">
                  <a:latin typeface="+mn-ea"/>
                </a:rPr>
                <a:t>사업자등록번호</a:t>
              </a:r>
              <a:endParaRPr lang="en-US" altLang="ko-KR" sz="700" dirty="0" smtClean="0">
                <a:latin typeface="+mn-ea"/>
              </a:endParaRPr>
            </a:p>
            <a:p>
              <a:pPr>
                <a:lnSpc>
                  <a:spcPct val="200000"/>
                </a:lnSpc>
              </a:pPr>
              <a:r>
                <a:rPr lang="ko-KR" altLang="en-US" sz="700" dirty="0" smtClean="0">
                  <a:latin typeface="+mn-ea"/>
                </a:rPr>
                <a:t>상호명</a:t>
              </a:r>
              <a:endParaRPr lang="en-US" altLang="ko-KR" sz="700" dirty="0" smtClean="0">
                <a:latin typeface="+mn-ea"/>
              </a:endParaRPr>
            </a:p>
            <a:p>
              <a:pPr>
                <a:lnSpc>
                  <a:spcPct val="200000"/>
                </a:lnSpc>
              </a:pPr>
              <a:r>
                <a:rPr lang="ko-KR" altLang="en-US" sz="700" dirty="0" smtClean="0">
                  <a:latin typeface="+mn-ea"/>
                </a:rPr>
                <a:t>입찰서제출일시</a:t>
              </a:r>
              <a:endParaRPr lang="en-US" altLang="ko-KR" sz="700" dirty="0" smtClean="0">
                <a:latin typeface="+mn-ea"/>
              </a:endParaRPr>
            </a:p>
            <a:p>
              <a:pPr>
                <a:lnSpc>
                  <a:spcPct val="200000"/>
                </a:lnSpc>
              </a:pPr>
              <a:r>
                <a:rPr lang="ko-KR" altLang="en-US" sz="700" dirty="0" err="1" smtClean="0">
                  <a:latin typeface="+mn-ea"/>
                </a:rPr>
                <a:t>당첨여부</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1547180" y="1835481"/>
              <a:ext cx="1775839" cy="1077218"/>
            </a:xfrm>
            <a:prstGeom prst="rect">
              <a:avLst/>
            </a:prstGeom>
            <a:noFill/>
          </p:spPr>
          <p:txBody>
            <a:bodyPr wrap="square" lIns="0" tIns="0" rIns="0" bIns="0" rtlCol="0">
              <a:spAutoFit/>
            </a:bodyPr>
            <a:lstStyle/>
            <a:p>
              <a:pPr>
                <a:lnSpc>
                  <a:spcPct val="200000"/>
                </a:lnSpc>
              </a:pPr>
              <a:r>
                <a:rPr lang="en-US" altLang="ko-KR" sz="700" dirty="0" smtClean="0">
                  <a:latin typeface="+mn-ea"/>
                </a:rPr>
                <a:t>1</a:t>
              </a:r>
              <a:endParaRPr lang="en-US" altLang="ko-KR" sz="700" dirty="0">
                <a:latin typeface="+mn-ea"/>
              </a:endParaRPr>
            </a:p>
            <a:p>
              <a:pPr>
                <a:lnSpc>
                  <a:spcPct val="200000"/>
                </a:lnSpc>
              </a:pPr>
              <a:r>
                <a:rPr lang="en-US" altLang="ko-KR" sz="700" dirty="0" smtClean="0">
                  <a:latin typeface="+mn-ea"/>
                </a:rPr>
                <a:t>222-11-33333</a:t>
              </a:r>
              <a:endParaRPr lang="en-US" altLang="ko-KR" sz="700" dirty="0">
                <a:latin typeface="+mn-ea"/>
              </a:endParaRPr>
            </a:p>
            <a:p>
              <a:pPr>
                <a:lnSpc>
                  <a:spcPct val="200000"/>
                </a:lnSpc>
              </a:pPr>
              <a:r>
                <a:rPr lang="ko-KR" altLang="en-US" sz="700" dirty="0" err="1" smtClean="0">
                  <a:latin typeface="+mn-ea"/>
                </a:rPr>
                <a:t>테스트업체</a:t>
              </a:r>
              <a:r>
                <a:rPr lang="en-US" altLang="ko-KR" sz="700" dirty="0" smtClean="0">
                  <a:latin typeface="+mn-ea"/>
                </a:rPr>
                <a:t>25</a:t>
              </a:r>
              <a:endParaRPr lang="en-US" altLang="ko-KR" sz="700" dirty="0">
                <a:latin typeface="+mn-ea"/>
              </a:endParaRPr>
            </a:p>
            <a:p>
              <a:pPr>
                <a:lnSpc>
                  <a:spcPct val="200000"/>
                </a:lnSpc>
              </a:pPr>
              <a:r>
                <a:rPr lang="en-US" altLang="ko-KR" sz="700" dirty="0">
                  <a:latin typeface="+mn-ea"/>
                </a:rPr>
                <a:t>2025-12-01 </a:t>
              </a:r>
              <a:r>
                <a:rPr lang="en-US" altLang="ko-KR" sz="700" dirty="0" smtClean="0">
                  <a:latin typeface="+mn-ea"/>
                </a:rPr>
                <a:t>10:00:00</a:t>
              </a:r>
            </a:p>
            <a:p>
              <a:pPr>
                <a:lnSpc>
                  <a:spcPct val="200000"/>
                </a:lnSpc>
              </a:pPr>
              <a:r>
                <a:rPr lang="en-US" altLang="ko-KR" sz="700" dirty="0">
                  <a:latin typeface="+mn-ea"/>
                </a:rPr>
                <a:t>-</a:t>
              </a:r>
            </a:p>
          </p:txBody>
        </p:sp>
        <p:grpSp>
          <p:nvGrpSpPr>
            <p:cNvPr id="154" name="그룹 153"/>
            <p:cNvGrpSpPr/>
            <p:nvPr/>
          </p:nvGrpSpPr>
          <p:grpSpPr>
            <a:xfrm>
              <a:off x="701175" y="1835481"/>
              <a:ext cx="2630093" cy="1073700"/>
              <a:chOff x="701175" y="1835481"/>
              <a:chExt cx="2630093" cy="1073700"/>
            </a:xfrm>
          </p:grpSpPr>
          <p:cxnSp>
            <p:nvCxnSpPr>
              <p:cNvPr id="155" name="직선 연결선 15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5" name="그룹 4"/>
          <p:cNvGrpSpPr/>
          <p:nvPr/>
        </p:nvGrpSpPr>
        <p:grpSpPr>
          <a:xfrm>
            <a:off x="762146" y="5078184"/>
            <a:ext cx="2543426" cy="1192897"/>
            <a:chOff x="762146" y="5121729"/>
            <a:chExt cx="2543426" cy="1192897"/>
          </a:xfrm>
        </p:grpSpPr>
        <p:sp>
          <p:nvSpPr>
            <p:cNvPr id="163" name="모서리가 둥근 직사각형 162"/>
            <p:cNvSpPr/>
            <p:nvPr/>
          </p:nvSpPr>
          <p:spPr>
            <a:xfrm>
              <a:off x="762146" y="5121729"/>
              <a:ext cx="2543426" cy="1189170"/>
            </a:xfrm>
            <a:prstGeom prst="roundRect">
              <a:avLst>
                <a:gd name="adj" fmla="val 2456"/>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TextBox 163">
              <a:extLst>
                <a:ext uri="{FF2B5EF4-FFF2-40B4-BE49-F238E27FC236}">
                  <a16:creationId xmlns:a16="http://schemas.microsoft.com/office/drawing/2014/main" id="{FFC49AEA-2A8F-250C-A86A-A7751D9706C3}"/>
                </a:ext>
              </a:extLst>
            </p:cNvPr>
            <p:cNvSpPr txBox="1"/>
            <p:nvPr/>
          </p:nvSpPr>
          <p:spPr>
            <a:xfrm>
              <a:off x="1065226" y="5183547"/>
              <a:ext cx="2154318" cy="1131079"/>
            </a:xfrm>
            <a:prstGeom prst="rect">
              <a:avLst/>
            </a:prstGeom>
            <a:noFill/>
          </p:spPr>
          <p:txBody>
            <a:bodyPr wrap="square" lIns="0" tIns="0" rIns="0" bIns="0" rtlCol="0">
              <a:spAutoFit/>
            </a:bodyPr>
            <a:lstStyle/>
            <a:p>
              <a:pPr>
                <a:lnSpc>
                  <a:spcPct val="150000"/>
                </a:lnSpc>
              </a:pPr>
              <a:r>
                <a:rPr lang="ko-KR" altLang="en-US" sz="700" b="1" dirty="0" smtClean="0">
                  <a:latin typeface="Consolas" panose="020B0609020204030204" pitchFamily="49" charset="0"/>
                </a:rPr>
                <a:t>안내사항</a:t>
              </a:r>
              <a:endParaRPr lang="en-US" altLang="ko-KR" sz="700" b="1" dirty="0">
                <a:latin typeface="Consolas" panose="020B0609020204030204" pitchFamily="49" charset="0"/>
              </a:endParaRPr>
            </a:p>
            <a:p>
              <a:pPr marL="171450" indent="-171450">
                <a:lnSpc>
                  <a:spcPct val="150000"/>
                </a:lnSpc>
                <a:buFontTx/>
                <a:buChar char="-"/>
              </a:pPr>
              <a:r>
                <a:rPr lang="ko-KR" altLang="en-US" sz="700" dirty="0" err="1">
                  <a:latin typeface="Consolas" panose="020B0609020204030204" pitchFamily="49" charset="0"/>
                </a:rPr>
                <a:t>사업자번호</a:t>
              </a:r>
              <a:r>
                <a:rPr lang="en-US" altLang="ko-KR" sz="700" dirty="0">
                  <a:latin typeface="Consolas" panose="020B0609020204030204" pitchFamily="49" charset="0"/>
                </a:rPr>
                <a:t>, </a:t>
              </a:r>
              <a:r>
                <a:rPr lang="ko-KR" altLang="en-US" sz="700" dirty="0">
                  <a:latin typeface="Consolas" panose="020B0609020204030204" pitchFamily="49" charset="0"/>
                </a:rPr>
                <a:t>입찰서제출일시를 이용하여 </a:t>
              </a:r>
              <a:r>
                <a:rPr lang="ko-KR" altLang="en-US" sz="700" dirty="0" err="1">
                  <a:latin typeface="Consolas" panose="020B0609020204030204" pitchFamily="49" charset="0"/>
                </a:rPr>
                <a:t>해시값을</a:t>
              </a:r>
              <a:r>
                <a:rPr lang="ko-KR" altLang="en-US" sz="700" dirty="0">
                  <a:latin typeface="Consolas" panose="020B0609020204030204" pitchFamily="49" charset="0"/>
                </a:rPr>
                <a:t> 추출 정수로 전환 후 </a:t>
              </a:r>
              <a:r>
                <a:rPr lang="ko-KR" altLang="en-US" sz="700" dirty="0" err="1">
                  <a:latin typeface="Consolas" panose="020B0609020204030204" pitchFamily="49" charset="0"/>
                </a:rPr>
                <a:t>업체수로</a:t>
              </a:r>
              <a:r>
                <a:rPr lang="ko-KR" altLang="en-US" sz="700" dirty="0">
                  <a:latin typeface="Consolas" panose="020B0609020204030204" pitchFamily="49" charset="0"/>
                </a:rPr>
                <a:t> 나눈 나머지에 해당되는 업체로 선정됩니다</a:t>
              </a:r>
              <a:r>
                <a:rPr lang="en-US" altLang="ko-KR" sz="700" dirty="0">
                  <a:latin typeface="Consolas" panose="020B0609020204030204" pitchFamily="49" charset="0"/>
                </a:rPr>
                <a:t>. </a:t>
              </a:r>
            </a:p>
            <a:p>
              <a:pPr marL="171450" indent="-171450">
                <a:lnSpc>
                  <a:spcPct val="150000"/>
                </a:lnSpc>
                <a:buFontTx/>
                <a:buChar char="-"/>
              </a:pPr>
              <a:r>
                <a:rPr lang="ko-KR" altLang="en-US" sz="700" dirty="0">
                  <a:latin typeface="Consolas" panose="020B0609020204030204" pitchFamily="49" charset="0"/>
                </a:rPr>
                <a:t>번호는 입찰서 제출 순서로 부여합니다</a:t>
              </a:r>
              <a:r>
                <a:rPr lang="en-US" altLang="ko-KR" sz="700" dirty="0">
                  <a:latin typeface="Consolas" panose="020B0609020204030204" pitchFamily="49" charset="0"/>
                </a:rPr>
                <a:t>. </a:t>
              </a:r>
            </a:p>
            <a:p>
              <a:pPr marL="171450" indent="-171450">
                <a:lnSpc>
                  <a:spcPct val="150000"/>
                </a:lnSpc>
                <a:buFontTx/>
                <a:buChar char="-"/>
              </a:pPr>
              <a:r>
                <a:rPr lang="ko-KR" altLang="en-US" sz="700" dirty="0" smtClean="0">
                  <a:latin typeface="Consolas" panose="020B0609020204030204" pitchFamily="49" charset="0"/>
                </a:rPr>
                <a:t>입찰서 </a:t>
              </a:r>
              <a:r>
                <a:rPr lang="ko-KR" altLang="en-US" sz="700" dirty="0" err="1">
                  <a:latin typeface="Consolas" panose="020B0609020204030204" pitchFamily="49" charset="0"/>
                </a:rPr>
                <a:t>제출일시가</a:t>
              </a:r>
              <a:r>
                <a:rPr lang="ko-KR" altLang="en-US" sz="700" dirty="0">
                  <a:latin typeface="Consolas" panose="020B0609020204030204" pitchFamily="49" charset="0"/>
                </a:rPr>
                <a:t> 같은 경우 </a:t>
              </a:r>
              <a:r>
                <a:rPr lang="ko-KR" altLang="en-US" sz="700" dirty="0" err="1">
                  <a:latin typeface="Consolas" panose="020B0609020204030204" pitchFamily="49" charset="0"/>
                </a:rPr>
                <a:t>사업자번호순입니다</a:t>
              </a:r>
              <a:r>
                <a:rPr lang="en-US" altLang="ko-KR" sz="700" dirty="0" smtClean="0">
                  <a:latin typeface="Consolas" panose="020B0609020204030204" pitchFamily="49" charset="0"/>
                </a:rPr>
                <a:t>.</a:t>
              </a:r>
              <a:endParaRPr lang="ko-KR" altLang="en-US" sz="700" b="1" dirty="0">
                <a:solidFill>
                  <a:srgbClr val="0070C0"/>
                </a:solidFill>
                <a:latin typeface="맑은 고딕" panose="020B0503020000020004" pitchFamily="50" charset="-127"/>
              </a:endParaRPr>
            </a:p>
          </p:txBody>
        </p:sp>
        <p:sp>
          <p:nvSpPr>
            <p:cNvPr id="165" name="타원 164"/>
            <p:cNvSpPr/>
            <p:nvPr/>
          </p:nvSpPr>
          <p:spPr>
            <a:xfrm>
              <a:off x="835285" y="5188283"/>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71" name="그룹 170"/>
          <p:cNvGrpSpPr/>
          <p:nvPr/>
        </p:nvGrpSpPr>
        <p:grpSpPr>
          <a:xfrm flipV="1">
            <a:off x="3141159" y="5258761"/>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6" name="그룹 175"/>
          <p:cNvGrpSpPr/>
          <p:nvPr/>
        </p:nvGrpSpPr>
        <p:grpSpPr>
          <a:xfrm>
            <a:off x="3593330" y="2421324"/>
            <a:ext cx="2630093" cy="752280"/>
            <a:chOff x="701175" y="1527996"/>
            <a:chExt cx="2630093" cy="752280"/>
          </a:xfrm>
        </p:grpSpPr>
        <p:sp>
          <p:nvSpPr>
            <p:cNvPr id="177" name="TextBox 176">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smtClean="0">
                  <a:latin typeface="+mn-ea"/>
                </a:rPr>
                <a:t>선정 결과</a:t>
              </a:r>
              <a:endParaRPr lang="ko-KR" altLang="en-US" sz="700" dirty="0">
                <a:latin typeface="+mn-ea"/>
              </a:endParaRPr>
            </a:p>
          </p:txBody>
        </p:sp>
        <p:grpSp>
          <p:nvGrpSpPr>
            <p:cNvPr id="178" name="그룹 177"/>
            <p:cNvGrpSpPr/>
            <p:nvPr/>
          </p:nvGrpSpPr>
          <p:grpSpPr>
            <a:xfrm flipV="1">
              <a:off x="3124233" y="1641327"/>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9" name="직사각형 178"/>
            <p:cNvSpPr/>
            <p:nvPr/>
          </p:nvSpPr>
          <p:spPr>
            <a:xfrm>
              <a:off x="703268" y="1835481"/>
              <a:ext cx="792000" cy="4447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TextBox 179">
              <a:extLst>
                <a:ext uri="{FF2B5EF4-FFF2-40B4-BE49-F238E27FC236}">
                  <a16:creationId xmlns:a16="http://schemas.microsoft.com/office/drawing/2014/main" id="{FFC49AEA-2A8F-250C-A86A-A7751D9706C3}"/>
                </a:ext>
              </a:extLst>
            </p:cNvPr>
            <p:cNvSpPr txBox="1"/>
            <p:nvPr/>
          </p:nvSpPr>
          <p:spPr>
            <a:xfrm>
              <a:off x="790331" y="1835481"/>
              <a:ext cx="725552" cy="430887"/>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업체코드</a:t>
              </a:r>
              <a:endParaRPr lang="en-US" altLang="ko-KR" sz="700" dirty="0" smtClean="0">
                <a:latin typeface="+mn-ea"/>
              </a:endParaRPr>
            </a:p>
            <a:p>
              <a:pPr>
                <a:lnSpc>
                  <a:spcPct val="200000"/>
                </a:lnSpc>
              </a:pPr>
              <a:r>
                <a:rPr lang="ko-KR" altLang="en-US" sz="700" dirty="0" err="1" smtClean="0">
                  <a:latin typeface="+mn-ea"/>
                </a:rPr>
                <a:t>업체명</a:t>
              </a:r>
              <a:endParaRPr lang="ko-KR" altLang="en-US" sz="700" dirty="0">
                <a:latin typeface="+mn-ea"/>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1547180" y="1835481"/>
              <a:ext cx="1775839" cy="430887"/>
            </a:xfrm>
            <a:prstGeom prst="rect">
              <a:avLst/>
            </a:prstGeom>
            <a:noFill/>
          </p:spPr>
          <p:txBody>
            <a:bodyPr wrap="square" lIns="0" tIns="0" rIns="0" bIns="0" rtlCol="0">
              <a:spAutoFit/>
            </a:bodyPr>
            <a:lstStyle/>
            <a:p>
              <a:pPr>
                <a:lnSpc>
                  <a:spcPct val="200000"/>
                </a:lnSpc>
              </a:pPr>
              <a:r>
                <a:rPr lang="en-US" altLang="ko-KR" sz="700" dirty="0" smtClean="0">
                  <a:latin typeface="+mn-ea"/>
                </a:rPr>
                <a:t>123</a:t>
              </a:r>
            </a:p>
            <a:p>
              <a:pPr>
                <a:lnSpc>
                  <a:spcPct val="200000"/>
                </a:lnSpc>
              </a:pPr>
              <a:r>
                <a:rPr lang="ko-KR" altLang="en-US" sz="700" dirty="0" err="1">
                  <a:latin typeface="+mn-ea"/>
                </a:rPr>
                <a:t>테스트업체</a:t>
              </a:r>
              <a:r>
                <a:rPr lang="en-US" altLang="ko-KR" sz="700" dirty="0" smtClean="0">
                  <a:latin typeface="+mn-ea"/>
                </a:rPr>
                <a:t>1</a:t>
              </a:r>
              <a:endParaRPr lang="ko-KR" altLang="en-US" sz="700" dirty="0">
                <a:latin typeface="+mn-ea"/>
              </a:endParaRPr>
            </a:p>
          </p:txBody>
        </p:sp>
        <p:grpSp>
          <p:nvGrpSpPr>
            <p:cNvPr id="182" name="그룹 181"/>
            <p:cNvGrpSpPr/>
            <p:nvPr/>
          </p:nvGrpSpPr>
          <p:grpSpPr>
            <a:xfrm>
              <a:off x="701175" y="1835481"/>
              <a:ext cx="2630093" cy="429480"/>
              <a:chOff x="701175" y="1835481"/>
              <a:chExt cx="2630093" cy="429480"/>
            </a:xfrm>
          </p:grpSpPr>
          <p:cxnSp>
            <p:nvCxnSpPr>
              <p:cNvPr id="183" name="직선 연결선 18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191" name="그룹 190"/>
          <p:cNvGrpSpPr/>
          <p:nvPr/>
        </p:nvGrpSpPr>
        <p:grpSpPr>
          <a:xfrm>
            <a:off x="3593330" y="3243446"/>
            <a:ext cx="2630093" cy="437569"/>
            <a:chOff x="701175" y="1835481"/>
            <a:chExt cx="2630093" cy="437569"/>
          </a:xfrm>
        </p:grpSpPr>
        <p:sp>
          <p:nvSpPr>
            <p:cNvPr id="194" name="직사각형 193"/>
            <p:cNvSpPr/>
            <p:nvPr/>
          </p:nvSpPr>
          <p:spPr>
            <a:xfrm>
              <a:off x="703268" y="1835481"/>
              <a:ext cx="792000" cy="43756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TextBox 194">
              <a:extLst>
                <a:ext uri="{FF2B5EF4-FFF2-40B4-BE49-F238E27FC236}">
                  <a16:creationId xmlns:a16="http://schemas.microsoft.com/office/drawing/2014/main" id="{FFC49AEA-2A8F-250C-A86A-A7751D9706C3}"/>
                </a:ext>
              </a:extLst>
            </p:cNvPr>
            <p:cNvSpPr txBox="1"/>
            <p:nvPr/>
          </p:nvSpPr>
          <p:spPr>
            <a:xfrm>
              <a:off x="790331" y="1835481"/>
              <a:ext cx="725552" cy="430887"/>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업체코드</a:t>
              </a:r>
              <a:endParaRPr lang="en-US" altLang="ko-KR" sz="700" dirty="0" smtClean="0">
                <a:latin typeface="+mn-ea"/>
              </a:endParaRPr>
            </a:p>
            <a:p>
              <a:pPr>
                <a:lnSpc>
                  <a:spcPct val="200000"/>
                </a:lnSpc>
              </a:pPr>
              <a:r>
                <a:rPr lang="ko-KR" altLang="en-US" sz="700" dirty="0" err="1" smtClean="0">
                  <a:latin typeface="+mn-ea"/>
                </a:rPr>
                <a:t>업체명</a:t>
              </a:r>
              <a:endParaRPr lang="ko-KR" altLang="en-US"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1547180" y="1835481"/>
              <a:ext cx="1775839" cy="430887"/>
            </a:xfrm>
            <a:prstGeom prst="rect">
              <a:avLst/>
            </a:prstGeom>
            <a:noFill/>
          </p:spPr>
          <p:txBody>
            <a:bodyPr wrap="square" lIns="0" tIns="0" rIns="0" bIns="0" rtlCol="0">
              <a:spAutoFit/>
            </a:bodyPr>
            <a:lstStyle/>
            <a:p>
              <a:pPr>
                <a:lnSpc>
                  <a:spcPct val="200000"/>
                </a:lnSpc>
              </a:pPr>
              <a:r>
                <a:rPr lang="en-US" altLang="ko-KR" sz="700" dirty="0" smtClean="0">
                  <a:latin typeface="+mn-ea"/>
                </a:rPr>
                <a:t>456</a:t>
              </a:r>
            </a:p>
            <a:p>
              <a:pPr>
                <a:lnSpc>
                  <a:spcPct val="200000"/>
                </a:lnSpc>
              </a:pPr>
              <a:r>
                <a:rPr lang="ko-KR" altLang="en-US" sz="700" dirty="0" err="1" smtClean="0">
                  <a:latin typeface="+mn-ea"/>
                </a:rPr>
                <a:t>테스트업체</a:t>
              </a:r>
              <a:r>
                <a:rPr lang="en-US" altLang="ko-KR" sz="700" dirty="0" smtClean="0">
                  <a:latin typeface="+mn-ea"/>
                </a:rPr>
                <a:t>25</a:t>
              </a:r>
              <a:endParaRPr lang="ko-KR" altLang="en-US" sz="700" dirty="0">
                <a:latin typeface="+mn-ea"/>
              </a:endParaRPr>
            </a:p>
          </p:txBody>
        </p:sp>
        <p:grpSp>
          <p:nvGrpSpPr>
            <p:cNvPr id="197" name="그룹 196"/>
            <p:cNvGrpSpPr/>
            <p:nvPr/>
          </p:nvGrpSpPr>
          <p:grpSpPr>
            <a:xfrm>
              <a:off x="701175" y="1835481"/>
              <a:ext cx="2630093" cy="429480"/>
              <a:chOff x="701175" y="1835481"/>
              <a:chExt cx="2630093" cy="429480"/>
            </a:xfrm>
          </p:grpSpPr>
          <p:cxnSp>
            <p:nvCxnSpPr>
              <p:cNvPr id="198" name="직선 연결선 19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04" name="그룹 203"/>
          <p:cNvGrpSpPr/>
          <p:nvPr/>
        </p:nvGrpSpPr>
        <p:grpSpPr>
          <a:xfrm>
            <a:off x="3593330" y="3761274"/>
            <a:ext cx="2630093" cy="1292662"/>
            <a:chOff x="701175" y="1835481"/>
            <a:chExt cx="2630093" cy="1292662"/>
          </a:xfrm>
        </p:grpSpPr>
        <p:sp>
          <p:nvSpPr>
            <p:cNvPr id="205" name="직사각형 204"/>
            <p:cNvSpPr/>
            <p:nvPr/>
          </p:nvSpPr>
          <p:spPr>
            <a:xfrm>
              <a:off x="703268" y="1835481"/>
              <a:ext cx="792000" cy="12926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6" name="TextBox 205">
              <a:extLst>
                <a:ext uri="{FF2B5EF4-FFF2-40B4-BE49-F238E27FC236}">
                  <a16:creationId xmlns:a16="http://schemas.microsoft.com/office/drawing/2014/main" id="{FFC49AEA-2A8F-250C-A86A-A7751D9706C3}"/>
                </a:ext>
              </a:extLst>
            </p:cNvPr>
            <p:cNvSpPr txBox="1"/>
            <p:nvPr/>
          </p:nvSpPr>
          <p:spPr>
            <a:xfrm>
              <a:off x="790331" y="1835481"/>
              <a:ext cx="725552" cy="1292662"/>
            </a:xfrm>
            <a:prstGeom prst="rect">
              <a:avLst/>
            </a:prstGeom>
            <a:noFill/>
          </p:spPr>
          <p:txBody>
            <a:bodyPr wrap="square" lIns="0" tIns="0" rIns="0" bIns="0" rtlCol="0">
              <a:spAutoFit/>
            </a:bodyPr>
            <a:lstStyle/>
            <a:p>
              <a:pPr>
                <a:lnSpc>
                  <a:spcPct val="200000"/>
                </a:lnSpc>
              </a:pPr>
              <a:r>
                <a:rPr lang="ko-KR" altLang="en-US" sz="700" b="1" dirty="0" err="1" smtClean="0">
                  <a:latin typeface="+mn-ea"/>
                </a:rPr>
                <a:t>업체코드</a:t>
              </a:r>
              <a:endParaRPr lang="en-US" altLang="ko-KR" sz="700" b="1" dirty="0" smtClean="0">
                <a:latin typeface="+mn-ea"/>
              </a:endParaRPr>
            </a:p>
            <a:p>
              <a:pPr>
                <a:lnSpc>
                  <a:spcPct val="200000"/>
                </a:lnSpc>
              </a:pPr>
              <a:r>
                <a:rPr lang="en-US" altLang="ko-KR" sz="700" dirty="0" smtClean="0">
                  <a:latin typeface="+mn-ea"/>
                </a:rPr>
                <a:t>1</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2</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3</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4</a:t>
              </a:r>
              <a:r>
                <a:rPr lang="ko-KR" altLang="en-US" sz="700" dirty="0" smtClean="0">
                  <a:latin typeface="+mn-ea"/>
                </a:rPr>
                <a:t>차</a:t>
              </a:r>
              <a:endParaRPr lang="en-US" altLang="ko-KR" sz="700" dirty="0" smtClean="0">
                <a:latin typeface="+mn-ea"/>
              </a:endParaRPr>
            </a:p>
            <a:p>
              <a:pPr>
                <a:lnSpc>
                  <a:spcPct val="200000"/>
                </a:lnSpc>
              </a:pPr>
              <a:r>
                <a:rPr lang="en-US" altLang="ko-KR" sz="700" dirty="0" smtClean="0">
                  <a:latin typeface="+mn-ea"/>
                </a:rPr>
                <a:t>5</a:t>
              </a:r>
              <a:r>
                <a:rPr lang="ko-KR" altLang="en-US" sz="700" dirty="0" smtClean="0">
                  <a:latin typeface="+mn-ea"/>
                </a:rPr>
                <a:t>차</a:t>
              </a:r>
              <a:endParaRPr lang="ko-KR" altLang="en-US" sz="700" dirty="0">
                <a:latin typeface="+mn-ea"/>
              </a:endParaRPr>
            </a:p>
          </p:txBody>
        </p:sp>
        <p:sp>
          <p:nvSpPr>
            <p:cNvPr id="207" name="TextBox 206">
              <a:extLst>
                <a:ext uri="{FF2B5EF4-FFF2-40B4-BE49-F238E27FC236}">
                  <a16:creationId xmlns:a16="http://schemas.microsoft.com/office/drawing/2014/main" id="{FFC49AEA-2A8F-250C-A86A-A7751D9706C3}"/>
                </a:ext>
              </a:extLst>
            </p:cNvPr>
            <p:cNvSpPr txBox="1"/>
            <p:nvPr/>
          </p:nvSpPr>
          <p:spPr>
            <a:xfrm>
              <a:off x="1547181" y="1835481"/>
              <a:ext cx="824762" cy="1292662"/>
            </a:xfrm>
            <a:prstGeom prst="rect">
              <a:avLst/>
            </a:prstGeom>
            <a:noFill/>
          </p:spPr>
          <p:txBody>
            <a:bodyPr wrap="square" lIns="0" tIns="0" rIns="0" bIns="0" rtlCol="0">
              <a:spAutoFit/>
            </a:bodyPr>
            <a:lstStyle/>
            <a:p>
              <a:pPr>
                <a:lnSpc>
                  <a:spcPct val="200000"/>
                </a:lnSpc>
              </a:pPr>
              <a:r>
                <a:rPr lang="en-US" altLang="ko-KR" sz="700" b="1" dirty="0" smtClean="0">
                  <a:latin typeface="+mn-ea"/>
                </a:rPr>
                <a:t>123</a:t>
              </a:r>
            </a:p>
            <a:p>
              <a:pPr>
                <a:lnSpc>
                  <a:spcPct val="200000"/>
                </a:lnSpc>
              </a:pPr>
              <a:r>
                <a:rPr lang="ko-KR" altLang="en-US" sz="700" dirty="0" smtClean="0">
                  <a:latin typeface="+mn-ea"/>
                </a:rPr>
                <a:t>가위</a:t>
              </a:r>
              <a:endParaRPr lang="en-US" altLang="ko-KR" sz="700" dirty="0" smtClean="0">
                <a:latin typeface="+mn-ea"/>
              </a:endParaRPr>
            </a:p>
            <a:p>
              <a:pPr>
                <a:lnSpc>
                  <a:spcPct val="200000"/>
                </a:lnSpc>
              </a:pPr>
              <a:r>
                <a:rPr lang="ko-KR" altLang="en-US" sz="700" dirty="0" smtClean="0">
                  <a:latin typeface="+mn-ea"/>
                </a:rPr>
                <a:t>바위</a:t>
              </a:r>
              <a:endParaRPr lang="en-US" altLang="ko-KR" sz="700" dirty="0" smtClean="0">
                <a:latin typeface="+mn-ea"/>
              </a:endParaRPr>
            </a:p>
            <a:p>
              <a:pPr>
                <a:lnSpc>
                  <a:spcPct val="200000"/>
                </a:lnSpc>
              </a:pPr>
              <a:r>
                <a:rPr lang="ko-KR" altLang="en-US" sz="700" dirty="0" smtClean="0">
                  <a:latin typeface="+mn-ea"/>
                </a:rPr>
                <a:t>보</a:t>
              </a:r>
              <a:endParaRPr lang="en-US" altLang="ko-KR" sz="700" dirty="0" smtClean="0">
                <a:latin typeface="+mn-ea"/>
              </a:endParaRPr>
            </a:p>
            <a:p>
              <a:pPr>
                <a:lnSpc>
                  <a:spcPct val="200000"/>
                </a:lnSpc>
              </a:pPr>
              <a:r>
                <a:rPr lang="ko-KR" altLang="en-US" sz="700" dirty="0" smtClean="0">
                  <a:latin typeface="+mn-ea"/>
                </a:rPr>
                <a:t>가위</a:t>
              </a:r>
              <a:endParaRPr lang="en-US" altLang="ko-KR" sz="700" dirty="0" smtClean="0">
                <a:latin typeface="+mn-ea"/>
              </a:endParaRPr>
            </a:p>
            <a:p>
              <a:pPr>
                <a:lnSpc>
                  <a:spcPct val="200000"/>
                </a:lnSpc>
              </a:pPr>
              <a:r>
                <a:rPr lang="ko-KR" altLang="en-US" sz="700" dirty="0" smtClean="0">
                  <a:latin typeface="+mn-ea"/>
                </a:rPr>
                <a:t>바위</a:t>
              </a:r>
              <a:endParaRPr lang="ko-KR" altLang="en-US" sz="700" dirty="0">
                <a:latin typeface="+mn-ea"/>
              </a:endParaRPr>
            </a:p>
          </p:txBody>
        </p:sp>
        <p:grpSp>
          <p:nvGrpSpPr>
            <p:cNvPr id="208" name="그룹 207"/>
            <p:cNvGrpSpPr/>
            <p:nvPr/>
          </p:nvGrpSpPr>
          <p:grpSpPr>
            <a:xfrm>
              <a:off x="701175" y="1835481"/>
              <a:ext cx="2630093" cy="1281889"/>
              <a:chOff x="701175" y="1835481"/>
              <a:chExt cx="2630093" cy="1281889"/>
            </a:xfrm>
          </p:grpSpPr>
          <p:cxnSp>
            <p:nvCxnSpPr>
              <p:cNvPr id="209" name="직선 연결선 20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1" name="직선 연결선 21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2" name="직선 연결선 21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4" name="직선 연결선 213">
                <a:extLst>
                  <a:ext uri="{FF2B5EF4-FFF2-40B4-BE49-F238E27FC236}">
                    <a16:creationId xmlns:a16="http://schemas.microsoft.com/office/drawing/2014/main" id="{E9293055-D5CD-4B9E-7F64-64B2D2CA7A52}"/>
                  </a:ext>
                </a:extLst>
              </p:cNvPr>
              <p:cNvCxnSpPr/>
              <p:nvPr/>
            </p:nvCxnSpPr>
            <p:spPr>
              <a:xfrm>
                <a:off x="703268" y="26878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703268" y="2902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03268" y="31173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3" name="TextBox 212">
              <a:extLst>
                <a:ext uri="{FF2B5EF4-FFF2-40B4-BE49-F238E27FC236}">
                  <a16:creationId xmlns:a16="http://schemas.microsoft.com/office/drawing/2014/main" id="{FFC49AEA-2A8F-250C-A86A-A7751D9706C3}"/>
                </a:ext>
              </a:extLst>
            </p:cNvPr>
            <p:cNvSpPr txBox="1"/>
            <p:nvPr/>
          </p:nvSpPr>
          <p:spPr>
            <a:xfrm>
              <a:off x="2498257" y="1835481"/>
              <a:ext cx="824762" cy="1292662"/>
            </a:xfrm>
            <a:prstGeom prst="rect">
              <a:avLst/>
            </a:prstGeom>
            <a:noFill/>
          </p:spPr>
          <p:txBody>
            <a:bodyPr wrap="square" lIns="0" tIns="0" rIns="0" bIns="0" rtlCol="0">
              <a:spAutoFit/>
            </a:bodyPr>
            <a:lstStyle/>
            <a:p>
              <a:pPr>
                <a:lnSpc>
                  <a:spcPct val="200000"/>
                </a:lnSpc>
              </a:pPr>
              <a:r>
                <a:rPr lang="en-US" altLang="ko-KR" sz="700" b="1" dirty="0" smtClean="0">
                  <a:latin typeface="+mn-ea"/>
                </a:rPr>
                <a:t>456</a:t>
              </a:r>
            </a:p>
            <a:p>
              <a:pPr>
                <a:lnSpc>
                  <a:spcPct val="200000"/>
                </a:lnSpc>
              </a:pPr>
              <a:r>
                <a:rPr lang="ko-KR" altLang="en-US" sz="700" dirty="0" smtClean="0">
                  <a:latin typeface="+mn-ea"/>
                </a:rPr>
                <a:t>바위</a:t>
              </a:r>
              <a:endParaRPr lang="en-US" altLang="ko-KR" sz="700" dirty="0" smtClean="0">
                <a:latin typeface="+mn-ea"/>
              </a:endParaRPr>
            </a:p>
            <a:p>
              <a:pPr>
                <a:lnSpc>
                  <a:spcPct val="200000"/>
                </a:lnSpc>
              </a:pPr>
              <a:r>
                <a:rPr lang="ko-KR" altLang="en-US" sz="700" dirty="0" smtClean="0">
                  <a:latin typeface="+mn-ea"/>
                </a:rPr>
                <a:t>가위</a:t>
              </a:r>
              <a:endParaRPr lang="en-US" altLang="ko-KR" sz="700" dirty="0" smtClean="0">
                <a:latin typeface="+mn-ea"/>
              </a:endParaRPr>
            </a:p>
            <a:p>
              <a:pPr>
                <a:lnSpc>
                  <a:spcPct val="200000"/>
                </a:lnSpc>
              </a:pPr>
              <a:r>
                <a:rPr lang="ko-KR" altLang="en-US" sz="700" dirty="0" smtClean="0">
                  <a:latin typeface="+mn-ea"/>
                </a:rPr>
                <a:t>가위</a:t>
              </a:r>
              <a:endParaRPr lang="en-US" altLang="ko-KR" sz="700" dirty="0" smtClean="0">
                <a:latin typeface="+mn-ea"/>
              </a:endParaRPr>
            </a:p>
            <a:p>
              <a:pPr>
                <a:lnSpc>
                  <a:spcPct val="200000"/>
                </a:lnSpc>
              </a:pPr>
              <a:r>
                <a:rPr lang="ko-KR" altLang="en-US" sz="700" dirty="0" smtClean="0">
                  <a:latin typeface="+mn-ea"/>
                </a:rPr>
                <a:t>보</a:t>
              </a:r>
              <a:endParaRPr lang="en-US" altLang="ko-KR" sz="700" dirty="0" smtClean="0">
                <a:latin typeface="+mn-ea"/>
              </a:endParaRPr>
            </a:p>
            <a:p>
              <a:pPr>
                <a:lnSpc>
                  <a:spcPct val="200000"/>
                </a:lnSpc>
              </a:pPr>
              <a:r>
                <a:rPr lang="ko-KR" altLang="en-US" sz="700" dirty="0">
                  <a:latin typeface="+mn-ea"/>
                </a:rPr>
                <a:t>보</a:t>
              </a:r>
            </a:p>
          </p:txBody>
        </p:sp>
      </p:grpSp>
      <p:sp>
        <p:nvSpPr>
          <p:cNvPr id="217" name="타원 216">
            <a:extLst>
              <a:ext uri="{FF2B5EF4-FFF2-40B4-BE49-F238E27FC236}">
                <a16:creationId xmlns:a16="http://schemas.microsoft.com/office/drawing/2014/main" id="{37A7FF4F-0EAA-1463-560A-D5EC24416103}"/>
              </a:ext>
            </a:extLst>
          </p:cNvPr>
          <p:cNvSpPr/>
          <p:nvPr/>
        </p:nvSpPr>
        <p:spPr>
          <a:xfrm>
            <a:off x="3445911" y="320579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218" name="타원 217">
            <a:extLst>
              <a:ext uri="{FF2B5EF4-FFF2-40B4-BE49-F238E27FC236}">
                <a16:creationId xmlns:a16="http://schemas.microsoft.com/office/drawing/2014/main" id="{37A7FF4F-0EAA-1463-560A-D5EC24416103}"/>
              </a:ext>
            </a:extLst>
          </p:cNvPr>
          <p:cNvSpPr/>
          <p:nvPr/>
        </p:nvSpPr>
        <p:spPr>
          <a:xfrm>
            <a:off x="3445911" y="379784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grpSp>
        <p:nvGrpSpPr>
          <p:cNvPr id="219" name="그룹 218"/>
          <p:cNvGrpSpPr/>
          <p:nvPr/>
        </p:nvGrpSpPr>
        <p:grpSpPr>
          <a:xfrm>
            <a:off x="8223250" y="569392"/>
            <a:ext cx="3365500" cy="634511"/>
            <a:chOff x="8223250" y="569392"/>
            <a:chExt cx="3365500" cy="634511"/>
          </a:xfrm>
        </p:grpSpPr>
        <p:sp>
          <p:nvSpPr>
            <p:cNvPr id="220" name="직사각형 21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2026-08-13 </a:t>
              </a:r>
              <a:r>
                <a:rPr lang="ko-KR" altLang="en-US" dirty="0" smtClean="0"/>
                <a:t>화면 추가</a:t>
              </a:r>
              <a:endParaRPr lang="ko-KR" altLang="en-US" dirty="0"/>
            </a:p>
          </p:txBody>
        </p:sp>
        <p:sp>
          <p:nvSpPr>
            <p:cNvPr id="221" name="직사각형 22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관리자 페이지로 인지했으나</a:t>
              </a:r>
              <a:r>
                <a:rPr lang="en-US" altLang="ko-KR" sz="700" dirty="0" smtClean="0"/>
                <a:t>, </a:t>
              </a:r>
              <a:r>
                <a:rPr lang="ko-KR" altLang="en-US" sz="700" dirty="0" smtClean="0"/>
                <a:t>사용자에게도 보여주어야 하는 정보로 화면을 추가함</a:t>
              </a:r>
              <a:r>
                <a:rPr lang="en-US" altLang="ko-KR" sz="700" dirty="0" smtClean="0"/>
                <a:t>.</a:t>
              </a:r>
              <a:endParaRPr lang="ko-KR" altLang="en-US" sz="700" dirty="0"/>
            </a:p>
          </p:txBody>
        </p:sp>
      </p:grpSp>
    </p:spTree>
    <p:extLst>
      <p:ext uri="{BB962C8B-B14F-4D97-AF65-F5344CB8AC3E}">
        <p14:creationId xmlns:p14="http://schemas.microsoft.com/office/powerpoint/2010/main" val="1302827775"/>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381301"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동가낙찰결과</a:t>
            </a:r>
            <a:r>
              <a:rPr lang="en-US" altLang="ko-KR" sz="900" b="1" dirty="0">
                <a:solidFill>
                  <a:prstClr val="black"/>
                </a:solidFill>
              </a:rPr>
              <a:t>(</a:t>
            </a:r>
            <a:r>
              <a:rPr lang="ko-KR" altLang="en-US" sz="900" b="1" dirty="0">
                <a:solidFill>
                  <a:prstClr val="black"/>
                </a:solidFill>
              </a:rPr>
              <a:t>자동추첨</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dlt_smprcScsbdRslt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3329589"/>
                  </a:ext>
                </a:extLst>
              </a:tr>
              <a:tr h="0">
                <a:tc>
                  <a:txBody>
                    <a:bodyPr/>
                    <a:lstStyle/>
                    <a:p>
                      <a:pPr latinLnBrk="1"/>
                      <a:r>
                        <a:rPr lang="ko-KR" altLang="en-US" sz="800" dirty="0">
                          <a:latin typeface="+mn-ea"/>
                          <a:ea typeface="+mn-ea"/>
                        </a:rPr>
                        <a:t>상호명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상호명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5141414"/>
                  </a:ext>
                </a:extLst>
              </a:tr>
              <a:tr h="0">
                <a:tc>
                  <a:txBody>
                    <a:bodyPr/>
                    <a:lstStyle/>
                    <a:p>
                      <a:pPr latinLnBrk="1"/>
                      <a:r>
                        <a:rPr lang="ko-KR" altLang="en-US" sz="800" dirty="0">
                          <a:latin typeface="+mn-ea"/>
                          <a:ea typeface="+mn-ea"/>
                        </a:rPr>
                        <a:t>입찰서제출일시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regDt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1334676"/>
                  </a:ext>
                </a:extLst>
              </a:tr>
              <a:tr h="0">
                <a:tc>
                  <a:txBody>
                    <a:bodyPr/>
                    <a:lstStyle/>
                    <a:p>
                      <a:pPr latinLnBrk="1"/>
                      <a:r>
                        <a:rPr lang="ko-KR" altLang="en-US" sz="800" dirty="0">
                          <a:latin typeface="+mn-ea"/>
                          <a:ea typeface="+mn-ea"/>
                        </a:rPr>
                        <a:t>당첨여부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smprcScsbdBzentyYn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당첨여부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2818122"/>
                  </a:ext>
                </a:extLst>
              </a:tr>
            </a:tbl>
          </a:graphicData>
        </a:graphic>
      </p:graphicFrame>
      <p:sp>
        <p:nvSpPr>
          <p:cNvPr id="2" name="TextBox 1">
            <a:extLst>
              <a:ext uri="{FF2B5EF4-FFF2-40B4-BE49-F238E27FC236}">
                <a16:creationId xmlns:a16="http://schemas.microsoft.com/office/drawing/2014/main" id="{D8D25EDA-8576-C124-4923-480DAB592014}"/>
              </a:ext>
            </a:extLst>
          </p:cNvPr>
          <p:cNvSpPr txBox="1"/>
          <p:nvPr/>
        </p:nvSpPr>
        <p:spPr>
          <a:xfrm>
            <a:off x="460676" y="2395495"/>
            <a:ext cx="34967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동가낙찰결과</a:t>
            </a:r>
            <a:r>
              <a:rPr lang="en-US" altLang="ko-KR" sz="900" b="1" dirty="0">
                <a:solidFill>
                  <a:prstClr val="black"/>
                </a:solidFill>
              </a:rPr>
              <a:t>(</a:t>
            </a:r>
            <a:r>
              <a:rPr lang="ko-KR" altLang="en-US" sz="900" b="1" dirty="0">
                <a:solidFill>
                  <a:prstClr val="black"/>
                </a:solidFill>
              </a:rPr>
              <a:t>가위바위보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dlt_smprcScsbdRslt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45AAD5A4-4190-9509-851C-B58D3D51C92C}"/>
              </a:ext>
            </a:extLst>
          </p:cNvPr>
          <p:cNvGraphicFramePr>
            <a:graphicFrameLocks noGrp="1"/>
          </p:cNvGraphicFramePr>
          <p:nvPr/>
        </p:nvGraphicFramePr>
        <p:xfrm>
          <a:off x="452999" y="2606698"/>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3709498"/>
                  </a:ext>
                </a:extLst>
              </a:tr>
              <a:tr h="0">
                <a:tc>
                  <a:txBody>
                    <a:bodyPr/>
                    <a:lstStyle/>
                    <a:p>
                      <a:pPr latinLnBrk="1"/>
                      <a:r>
                        <a:rPr lang="en-US" altLang="ko-KR" sz="800" dirty="0">
                          <a:latin typeface="+mn-ea"/>
                          <a:ea typeface="+mn-ea"/>
                        </a:rPr>
                        <a:t>1</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smprcScsbdRslt1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a:t>
                      </a:r>
                      <a:r>
                        <a:rPr lang="ko-KR" altLang="en-US" sz="800" dirty="0">
                          <a:latin typeface="+mn-ea"/>
                          <a:ea typeface="+mn-ea"/>
                        </a:rPr>
                        <a:t>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1183338"/>
                  </a:ext>
                </a:extLst>
              </a:tr>
              <a:tr h="0">
                <a:tc>
                  <a:txBody>
                    <a:bodyPr/>
                    <a:lstStyle/>
                    <a:p>
                      <a:pPr latinLnBrk="1"/>
                      <a:r>
                        <a:rPr lang="en-US" altLang="ko-KR" sz="800" dirty="0">
                          <a:latin typeface="+mn-ea"/>
                          <a:ea typeface="+mn-ea"/>
                        </a:rPr>
                        <a:t>2</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smprcScsbdRslt2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2</a:t>
                      </a:r>
                      <a:r>
                        <a:rPr lang="ko-KR" altLang="en-US" sz="800" dirty="0">
                          <a:latin typeface="+mn-ea"/>
                          <a:ea typeface="+mn-ea"/>
                        </a:rPr>
                        <a:t>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7036011"/>
                  </a:ext>
                </a:extLst>
              </a:tr>
              <a:tr h="0">
                <a:tc>
                  <a:txBody>
                    <a:bodyPr/>
                    <a:lstStyle/>
                    <a:p>
                      <a:pPr latinLnBrk="1"/>
                      <a:r>
                        <a:rPr lang="en-US" altLang="ko-KR" sz="800" dirty="0">
                          <a:latin typeface="+mn-ea"/>
                          <a:ea typeface="+mn-ea"/>
                        </a:rPr>
                        <a:t>3</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smprcScsbdRslt3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3238933"/>
                  </a:ext>
                </a:extLst>
              </a:tr>
              <a:tr h="0">
                <a:tc>
                  <a:txBody>
                    <a:bodyPr/>
                    <a:lstStyle/>
                    <a:p>
                      <a:pPr latinLnBrk="1"/>
                      <a:r>
                        <a:rPr lang="en-US" altLang="ko-KR" sz="800" dirty="0">
                          <a:latin typeface="+mn-ea"/>
                          <a:ea typeface="+mn-ea"/>
                        </a:rPr>
                        <a:t>4</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smprcScsbdRslt4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4</a:t>
                      </a:r>
                      <a:r>
                        <a:rPr lang="ko-KR" altLang="en-US" sz="800" dirty="0">
                          <a:latin typeface="+mn-ea"/>
                          <a:ea typeface="+mn-ea"/>
                        </a:rPr>
                        <a:t>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7890794"/>
                  </a:ext>
                </a:extLst>
              </a:tr>
              <a:tr h="0">
                <a:tc>
                  <a:txBody>
                    <a:bodyPr/>
                    <a:lstStyle/>
                    <a:p>
                      <a:pPr latinLnBrk="1"/>
                      <a:r>
                        <a:rPr lang="en-US" altLang="ko-KR" sz="800" dirty="0">
                          <a:latin typeface="+mn-ea"/>
                          <a:ea typeface="+mn-ea"/>
                        </a:rPr>
                        <a:t>5</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smprcScsbdRslt5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5</a:t>
                      </a:r>
                      <a:r>
                        <a:rPr lang="ko-KR" altLang="en-US" sz="800" dirty="0">
                          <a:latin typeface="+mn-ea"/>
                          <a:ea typeface="+mn-ea"/>
                        </a:rPr>
                        <a:t>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3694876"/>
                  </a:ext>
                </a:extLst>
              </a:tr>
            </a:tbl>
          </a:graphicData>
        </a:graphic>
      </p:graphicFrame>
      <p:sp>
        <p:nvSpPr>
          <p:cNvPr id="6" name="TextBox 5">
            <a:extLst>
              <a:ext uri="{FF2B5EF4-FFF2-40B4-BE49-F238E27FC236}">
                <a16:creationId xmlns:a16="http://schemas.microsoft.com/office/drawing/2014/main" id="{A4BE65FB-5906-71F0-6616-F1D9DC0387D4}"/>
              </a:ext>
            </a:extLst>
          </p:cNvPr>
          <p:cNvSpPr txBox="1"/>
          <p:nvPr/>
        </p:nvSpPr>
        <p:spPr>
          <a:xfrm>
            <a:off x="457408" y="4402034"/>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B328EBC7-9577-D5B5-E304-21CA7DFBB3CE}"/>
              </a:ext>
            </a:extLst>
          </p:cNvPr>
          <p:cNvGraphicFramePr>
            <a:graphicFrameLocks noGrp="1"/>
          </p:cNvGraphicFramePr>
          <p:nvPr/>
        </p:nvGraphicFramePr>
        <p:xfrm>
          <a:off x="452291" y="4680165"/>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동가낙찰결과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동가낙찰결과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scwin.getSmprcScsbdRsltInfo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동가낙찰결과 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719220"/>
                  </a:ext>
                </a:extLst>
              </a:tr>
              <a:tr h="0">
                <a:tc>
                  <a:txBody>
                    <a:bodyPr/>
                    <a:lstStyle/>
                    <a:p>
                      <a:pPr latinLnBrk="1"/>
                      <a:r>
                        <a:rPr lang="ko-KR" altLang="en-US" sz="800" dirty="0">
                          <a:latin typeface="+mn-ea"/>
                          <a:ea typeface="+mn-ea"/>
                        </a:rPr>
                        <a:t>닫기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동가낙찰결과 조회 팝업화면 닫기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00114119"/>
                  </a:ext>
                </a:extLst>
              </a:tr>
            </a:tbl>
          </a:graphicData>
        </a:graphic>
      </p:graphicFrame>
      <p:sp>
        <p:nvSpPr>
          <p:cNvPr id="8" name="Text Box 73">
            <a:extLst>
              <a:ext uri="{FF2B5EF4-FFF2-40B4-BE49-F238E27FC236}">
                <a16:creationId xmlns:a16="http://schemas.microsoft.com/office/drawing/2014/main" id="{77011952-C11C-FC59-635E-4E2845FAB76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3277301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업체정보 및 평가점수 표시</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solidFill>
                  <a:prstClr val="black"/>
                </a:solidFill>
                <a:latin typeface="맑은 고딕" panose="020B0503020000020004" pitchFamily="50" charset="-127"/>
              </a:rPr>
              <a:t>평가위원별기술평가점수상세조회</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smtClean="0">
                <a:solidFill>
                  <a:prstClr val="black"/>
                </a:solidFill>
                <a:latin typeface="맑은 고딕" panose="020B0503020000020004" pitchFamily="50" charset="-127"/>
              </a:rPr>
              <a:t>평가위원별기술평가점수상세조회</a:t>
            </a:r>
            <a:r>
              <a:rPr lang="ko-KR" altLang="en-US" dirty="0" smtClean="0"/>
              <a:t> </a:t>
            </a:r>
            <a:r>
              <a:rPr lang="ko-KR" altLang="en-US" dirty="0"/>
              <a:t>팝업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smtClean="0"/>
              <a:t>&gt; </a:t>
            </a:r>
            <a:r>
              <a:rPr lang="ko-KR" altLang="en-US" dirty="0" err="1">
                <a:solidFill>
                  <a:prstClr val="black"/>
                </a:solidFill>
                <a:latin typeface="맑은 고딕" panose="020B0503020000020004" pitchFamily="50" charset="-127"/>
              </a:rPr>
              <a:t>평가위원별기술평가점수상세조회</a:t>
            </a:r>
            <a:endParaRPr lang="ko-KR" altLang="en-US" dirty="0"/>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MUI-BD-09-P03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입찰결과 </a:t>
            </a:r>
            <a:r>
              <a:rPr lang="ko-KR" altLang="en-US" sz="800" dirty="0" smtClean="0">
                <a:latin typeface="+mn-ea"/>
              </a:rPr>
              <a:t>상세</a:t>
            </a:r>
            <a:endParaRPr lang="ko-KR" altLang="en-US" sz="8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양쪽 모서리가 둥근 사각형 165"/>
          <p:cNvSpPr/>
          <p:nvPr/>
        </p:nvSpPr>
        <p:spPr>
          <a:xfrm>
            <a:off x="675399" y="1914401"/>
            <a:ext cx="2712027" cy="4317897"/>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67" name="모서리가 둥근 직사각형 166"/>
          <p:cNvSpPr/>
          <p:nvPr/>
        </p:nvSpPr>
        <p:spPr>
          <a:xfrm>
            <a:off x="1761412" y="195102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8" name="그룹 167"/>
          <p:cNvGrpSpPr/>
          <p:nvPr/>
        </p:nvGrpSpPr>
        <p:grpSpPr>
          <a:xfrm>
            <a:off x="3164338" y="2085445"/>
            <a:ext cx="94010" cy="94010"/>
            <a:chOff x="6812560" y="3297172"/>
            <a:chExt cx="94010" cy="94010"/>
          </a:xfrm>
        </p:grpSpPr>
        <p:cxnSp>
          <p:nvCxnSpPr>
            <p:cNvPr id="169" name="직선 연결선 16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70" name="직선 연결선 16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72" name="TextBox 171">
            <a:extLst>
              <a:ext uri="{FF2B5EF4-FFF2-40B4-BE49-F238E27FC236}">
                <a16:creationId xmlns:a16="http://schemas.microsoft.com/office/drawing/2014/main" id="{FFC49AEA-2A8F-250C-A86A-A7751D9706C3}"/>
              </a:ext>
            </a:extLst>
          </p:cNvPr>
          <p:cNvSpPr txBox="1"/>
          <p:nvPr/>
        </p:nvSpPr>
        <p:spPr>
          <a:xfrm>
            <a:off x="804476" y="2066124"/>
            <a:ext cx="1798758" cy="138499"/>
          </a:xfrm>
          <a:prstGeom prst="rect">
            <a:avLst/>
          </a:prstGeom>
          <a:noFill/>
        </p:spPr>
        <p:txBody>
          <a:bodyPr wrap="square" lIns="0" tIns="0" rIns="0" bIns="0" rtlCol="0">
            <a:spAutoFit/>
          </a:bodyPr>
          <a:lstStyle/>
          <a:p>
            <a:r>
              <a:rPr lang="ko-KR" altLang="en-US" sz="900" dirty="0" err="1" smtClean="0">
                <a:solidFill>
                  <a:prstClr val="black"/>
                </a:solidFill>
                <a:latin typeface="맑은 고딕" panose="020B0503020000020004" pitchFamily="50" charset="-127"/>
              </a:rPr>
              <a:t>평가위원별</a:t>
            </a:r>
            <a:r>
              <a:rPr lang="ko-KR" altLang="en-US" sz="900" dirty="0" smtClean="0">
                <a:solidFill>
                  <a:prstClr val="black"/>
                </a:solidFill>
                <a:latin typeface="맑은 고딕" panose="020B0503020000020004" pitchFamily="50" charset="-127"/>
              </a:rPr>
              <a:t> 기술평가점수</a:t>
            </a:r>
            <a:endParaRPr lang="ko-KR" altLang="en-US" sz="900" dirty="0"/>
          </a:p>
        </p:txBody>
      </p:sp>
      <p:cxnSp>
        <p:nvCxnSpPr>
          <p:cNvPr id="173" name="직선 연결선 172">
            <a:extLst>
              <a:ext uri="{FF2B5EF4-FFF2-40B4-BE49-F238E27FC236}">
                <a16:creationId xmlns:a16="http://schemas.microsoft.com/office/drawing/2014/main" id="{E9293055-D5CD-4B9E-7F64-64B2D2CA7A52}"/>
              </a:ext>
            </a:extLst>
          </p:cNvPr>
          <p:cNvCxnSpPr/>
          <p:nvPr/>
        </p:nvCxnSpPr>
        <p:spPr>
          <a:xfrm>
            <a:off x="675399" y="23275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타원 139">
            <a:extLst>
              <a:ext uri="{FF2B5EF4-FFF2-40B4-BE49-F238E27FC236}">
                <a16:creationId xmlns:a16="http://schemas.microsoft.com/office/drawing/2014/main" id="{37A7FF4F-0EAA-1463-560A-D5EC24416103}"/>
              </a:ext>
            </a:extLst>
          </p:cNvPr>
          <p:cNvSpPr/>
          <p:nvPr/>
        </p:nvSpPr>
        <p:spPr>
          <a:xfrm>
            <a:off x="571127" y="240390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19" name="그룹 218"/>
          <p:cNvGrpSpPr/>
          <p:nvPr/>
        </p:nvGrpSpPr>
        <p:grpSpPr>
          <a:xfrm>
            <a:off x="8223250" y="569392"/>
            <a:ext cx="3365500" cy="634511"/>
            <a:chOff x="8223250" y="569392"/>
            <a:chExt cx="3365500" cy="634511"/>
          </a:xfrm>
        </p:grpSpPr>
        <p:sp>
          <p:nvSpPr>
            <p:cNvPr id="220" name="직사각형 21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2026-08-13 </a:t>
              </a:r>
              <a:r>
                <a:rPr lang="ko-KR" altLang="en-US" dirty="0" smtClean="0"/>
                <a:t>화면 추가</a:t>
              </a:r>
              <a:endParaRPr lang="ko-KR" altLang="en-US" dirty="0"/>
            </a:p>
          </p:txBody>
        </p:sp>
        <p:sp>
          <p:nvSpPr>
            <p:cNvPr id="221" name="직사각형 22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관리자 페이지로 인지했으나</a:t>
              </a:r>
              <a:r>
                <a:rPr lang="en-US" altLang="ko-KR" sz="700" dirty="0" smtClean="0"/>
                <a:t>, </a:t>
              </a:r>
              <a:r>
                <a:rPr lang="ko-KR" altLang="en-US" sz="700" dirty="0" smtClean="0"/>
                <a:t>사용자에게도 보여주어야 하는 정보로 화면을 추가함</a:t>
              </a:r>
              <a:r>
                <a:rPr lang="en-US" altLang="ko-KR" sz="700" dirty="0" smtClean="0"/>
                <a:t>.</a:t>
              </a:r>
              <a:endParaRPr lang="ko-KR" altLang="en-US" sz="700" dirty="0"/>
            </a:p>
          </p:txBody>
        </p:sp>
      </p:grpSp>
      <p:grpSp>
        <p:nvGrpSpPr>
          <p:cNvPr id="97" name="그룹 96"/>
          <p:cNvGrpSpPr/>
          <p:nvPr/>
        </p:nvGrpSpPr>
        <p:grpSpPr>
          <a:xfrm>
            <a:off x="715014" y="2421324"/>
            <a:ext cx="2630093" cy="522225"/>
            <a:chOff x="701175" y="1527996"/>
            <a:chExt cx="2630093" cy="522225"/>
          </a:xfrm>
        </p:grpSpPr>
        <p:sp>
          <p:nvSpPr>
            <p:cNvPr id="98" name="TextBox 97">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smtClean="0">
                  <a:latin typeface="+mn-ea"/>
                </a:rPr>
                <a:t>업체정보</a:t>
              </a:r>
              <a:endParaRPr lang="ko-KR" altLang="en-US" sz="700" dirty="0">
                <a:latin typeface="+mn-ea"/>
              </a:endParaRPr>
            </a:p>
          </p:txBody>
        </p:sp>
        <p:grpSp>
          <p:nvGrpSpPr>
            <p:cNvPr id="99" name="그룹 98"/>
            <p:cNvGrpSpPr/>
            <p:nvPr/>
          </p:nvGrpSpPr>
          <p:grpSpPr>
            <a:xfrm flipV="1">
              <a:off x="3124233" y="1641327"/>
              <a:ext cx="94010" cy="47005"/>
              <a:chOff x="6812560" y="3297172"/>
              <a:chExt cx="94010" cy="47005"/>
            </a:xfrm>
          </p:grpSpPr>
          <p:cxnSp>
            <p:nvCxnSpPr>
              <p:cNvPr id="146" name="직선 연결선 1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0" name="직사각형 99"/>
            <p:cNvSpPr/>
            <p:nvPr/>
          </p:nvSpPr>
          <p:spPr>
            <a:xfrm>
              <a:off x="703268" y="1835481"/>
              <a:ext cx="792000" cy="21101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790331" y="1835481"/>
              <a:ext cx="725552"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업체명</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547180" y="1835481"/>
              <a:ext cx="1775839" cy="181140"/>
            </a:xfrm>
            <a:prstGeom prst="rect">
              <a:avLst/>
            </a:prstGeom>
            <a:noFill/>
          </p:spPr>
          <p:txBody>
            <a:bodyPr wrap="square" lIns="0" tIns="0" rIns="0" bIns="0" rtlCol="0">
              <a:spAutoFit/>
            </a:bodyPr>
            <a:lstStyle/>
            <a:p>
              <a:pPr>
                <a:lnSpc>
                  <a:spcPct val="200000"/>
                </a:lnSpc>
              </a:pPr>
              <a:r>
                <a:rPr lang="ko-KR" altLang="en-US" sz="700" dirty="0" err="1" smtClean="0">
                  <a:latin typeface="+mn-ea"/>
                </a:rPr>
                <a:t>테스트업체</a:t>
              </a:r>
              <a:r>
                <a:rPr lang="en-US" altLang="ko-KR" sz="700" dirty="0" smtClean="0">
                  <a:latin typeface="+mn-ea"/>
                </a:rPr>
                <a:t>1</a:t>
              </a:r>
              <a:endParaRPr lang="en-US" altLang="ko-KR" sz="700" dirty="0">
                <a:latin typeface="+mn-ea"/>
              </a:endParaRPr>
            </a:p>
          </p:txBody>
        </p:sp>
        <p:grpSp>
          <p:nvGrpSpPr>
            <p:cNvPr id="103" name="그룹 102"/>
            <p:cNvGrpSpPr/>
            <p:nvPr/>
          </p:nvGrpSpPr>
          <p:grpSpPr>
            <a:xfrm>
              <a:off x="701175" y="1835481"/>
              <a:ext cx="2630093" cy="214740"/>
              <a:chOff x="701175" y="1835481"/>
              <a:chExt cx="2630093" cy="214740"/>
            </a:xfrm>
          </p:grpSpPr>
          <p:cxnSp>
            <p:nvCxnSpPr>
              <p:cNvPr id="104" name="직선 연결선 10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4" name="TextBox 123">
            <a:extLst>
              <a:ext uri="{FF2B5EF4-FFF2-40B4-BE49-F238E27FC236}">
                <a16:creationId xmlns:a16="http://schemas.microsoft.com/office/drawing/2014/main" id="{FFC49AEA-2A8F-250C-A86A-A7751D9706C3}"/>
              </a:ext>
            </a:extLst>
          </p:cNvPr>
          <p:cNvSpPr txBox="1"/>
          <p:nvPr/>
        </p:nvSpPr>
        <p:spPr>
          <a:xfrm>
            <a:off x="775985" y="3186046"/>
            <a:ext cx="1598477" cy="181140"/>
          </a:xfrm>
          <a:prstGeom prst="rect">
            <a:avLst/>
          </a:prstGeom>
          <a:noFill/>
        </p:spPr>
        <p:txBody>
          <a:bodyPr wrap="square" lIns="0" tIns="0" rIns="0" bIns="0" rtlCol="0">
            <a:spAutoFit/>
          </a:bodyPr>
          <a:lstStyle/>
          <a:p>
            <a:pPr>
              <a:lnSpc>
                <a:spcPct val="200000"/>
              </a:lnSpc>
            </a:pPr>
            <a:r>
              <a:rPr lang="ko-KR" altLang="en-US" sz="700" dirty="0" smtClean="0">
                <a:latin typeface="+mn-ea"/>
              </a:rPr>
              <a:t>평가점수</a:t>
            </a:r>
            <a:endParaRPr lang="ko-KR" altLang="en-US" sz="700" dirty="0">
              <a:latin typeface="+mn-ea"/>
            </a:endParaRPr>
          </a:p>
        </p:txBody>
      </p:sp>
      <p:grpSp>
        <p:nvGrpSpPr>
          <p:cNvPr id="125" name="그룹 124"/>
          <p:cNvGrpSpPr/>
          <p:nvPr/>
        </p:nvGrpSpPr>
        <p:grpSpPr>
          <a:xfrm flipV="1">
            <a:off x="3138072" y="3299377"/>
            <a:ext cx="94010" cy="47005"/>
            <a:chOff x="6812560" y="3297172"/>
            <a:chExt cx="94010" cy="47005"/>
          </a:xfrm>
        </p:grpSpPr>
        <p:cxnSp>
          <p:nvCxnSpPr>
            <p:cNvPr id="187" name="직선 연결선 1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17107" y="3493531"/>
            <a:ext cx="2628000" cy="2140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804170" y="3493531"/>
            <a:ext cx="543170" cy="181140"/>
          </a:xfrm>
          <a:prstGeom prst="rect">
            <a:avLst/>
          </a:prstGeom>
          <a:noFill/>
        </p:spPr>
        <p:txBody>
          <a:bodyPr wrap="square" lIns="0" tIns="0" rIns="0" bIns="0" rtlCol="0">
            <a:spAutoFit/>
          </a:bodyPr>
          <a:lstStyle/>
          <a:p>
            <a:pPr>
              <a:lnSpc>
                <a:spcPct val="200000"/>
              </a:lnSpc>
            </a:pPr>
            <a:r>
              <a:rPr lang="ko-KR" altLang="en-US" sz="700" dirty="0" smtClean="0">
                <a:latin typeface="+mn-ea"/>
              </a:rPr>
              <a:t>평가위원</a:t>
            </a:r>
            <a:endParaRPr lang="en-US" altLang="ko-KR" sz="700" dirty="0" smtClean="0">
              <a:latin typeface="+mn-ea"/>
            </a:endParaRPr>
          </a:p>
        </p:txBody>
      </p:sp>
      <p:sp>
        <p:nvSpPr>
          <p:cNvPr id="128" name="TextBox 127">
            <a:extLst>
              <a:ext uri="{FF2B5EF4-FFF2-40B4-BE49-F238E27FC236}">
                <a16:creationId xmlns:a16="http://schemas.microsoft.com/office/drawing/2014/main" id="{FFC49AEA-2A8F-250C-A86A-A7751D9706C3}"/>
              </a:ext>
            </a:extLst>
          </p:cNvPr>
          <p:cNvSpPr txBox="1"/>
          <p:nvPr/>
        </p:nvSpPr>
        <p:spPr>
          <a:xfrm>
            <a:off x="1529722" y="3493531"/>
            <a:ext cx="1716615" cy="215444"/>
          </a:xfrm>
          <a:prstGeom prst="rect">
            <a:avLst/>
          </a:prstGeom>
          <a:noFill/>
        </p:spPr>
        <p:txBody>
          <a:bodyPr wrap="square" lIns="0" tIns="0" rIns="0" bIns="0" rtlCol="0">
            <a:spAutoFit/>
          </a:bodyPr>
          <a:lstStyle/>
          <a:p>
            <a:pPr>
              <a:lnSpc>
                <a:spcPct val="200000"/>
              </a:lnSpc>
            </a:pPr>
            <a:r>
              <a:rPr lang="ko-KR" altLang="en-US" sz="700" dirty="0" smtClean="0">
                <a:latin typeface="+mn-ea"/>
              </a:rPr>
              <a:t>평가점수 </a:t>
            </a:r>
            <a:r>
              <a:rPr lang="en-US" altLang="ko-KR" sz="700" dirty="0" smtClean="0">
                <a:latin typeface="+mn-ea"/>
              </a:rPr>
              <a:t>/ </a:t>
            </a:r>
            <a:r>
              <a:rPr lang="ko-KR" altLang="en-US" sz="700" dirty="0" err="1" smtClean="0">
                <a:latin typeface="+mn-ea"/>
              </a:rPr>
              <a:t>비공개사유</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715014" y="34935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17107" y="37082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19811" y="39797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3" name="TextBox 192">
            <a:extLst>
              <a:ext uri="{FF2B5EF4-FFF2-40B4-BE49-F238E27FC236}">
                <a16:creationId xmlns:a16="http://schemas.microsoft.com/office/drawing/2014/main" id="{FFC49AEA-2A8F-250C-A86A-A7751D9706C3}"/>
              </a:ext>
            </a:extLst>
          </p:cNvPr>
          <p:cNvSpPr txBox="1"/>
          <p:nvPr/>
        </p:nvSpPr>
        <p:spPr>
          <a:xfrm>
            <a:off x="1529722" y="3721233"/>
            <a:ext cx="1692484" cy="258532"/>
          </a:xfrm>
          <a:prstGeom prst="rect">
            <a:avLst/>
          </a:prstGeom>
          <a:noFill/>
        </p:spPr>
        <p:txBody>
          <a:bodyPr wrap="square" lIns="0" tIns="0" rIns="0" bIns="0" rtlCol="0">
            <a:spAutoFit/>
          </a:bodyPr>
          <a:lstStyle/>
          <a:p>
            <a:pPr>
              <a:lnSpc>
                <a:spcPct val="120000"/>
              </a:lnSpc>
            </a:pPr>
            <a:r>
              <a:rPr lang="en-US" altLang="ko-KR" sz="700" b="1" dirty="0" smtClean="0">
                <a:latin typeface="+mn-ea"/>
              </a:rPr>
              <a:t>99</a:t>
            </a:r>
            <a:r>
              <a:rPr lang="ko-KR" altLang="en-US" sz="700" b="1" dirty="0" smtClean="0">
                <a:latin typeface="+mn-ea"/>
              </a:rPr>
              <a:t>점</a:t>
            </a:r>
            <a:endParaRPr lang="en-US" altLang="ko-KR" sz="700" b="1" dirty="0" smtClean="0">
              <a:latin typeface="+mn-ea"/>
            </a:endParaRPr>
          </a:p>
          <a:p>
            <a:pPr>
              <a:lnSpc>
                <a:spcPct val="120000"/>
              </a:lnSpc>
            </a:pPr>
            <a:r>
              <a:rPr lang="en-US" altLang="ko-KR" sz="700" dirty="0" smtClean="0">
                <a:latin typeface="+mn-ea"/>
              </a:rPr>
              <a:t>-</a:t>
            </a:r>
            <a:endParaRPr lang="ko-KR"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675399" y="307296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19811" y="4251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1529722" y="3993304"/>
            <a:ext cx="1692484" cy="245773"/>
          </a:xfrm>
          <a:prstGeom prst="rect">
            <a:avLst/>
          </a:prstGeom>
          <a:noFill/>
        </p:spPr>
        <p:txBody>
          <a:bodyPr wrap="square" lIns="0" tIns="0" rIns="0" bIns="0" rtlCol="0">
            <a:spAutoFit/>
          </a:bodyPr>
          <a:lstStyle/>
          <a:p>
            <a:pPr>
              <a:lnSpc>
                <a:spcPct val="120000"/>
              </a:lnSpc>
            </a:pPr>
            <a:r>
              <a:rPr lang="en-US" altLang="ko-KR" sz="700" b="1" dirty="0" smtClean="0">
                <a:latin typeface="+mn-ea"/>
              </a:rPr>
              <a:t>91</a:t>
            </a:r>
            <a:r>
              <a:rPr lang="ko-KR" altLang="en-US" sz="700" b="1" dirty="0" smtClean="0">
                <a:latin typeface="+mn-ea"/>
              </a:rPr>
              <a:t>점</a:t>
            </a:r>
            <a:endParaRPr lang="en-US" altLang="ko-KR" sz="700" b="1" dirty="0">
              <a:latin typeface="+mn-ea"/>
            </a:endParaRPr>
          </a:p>
          <a:p>
            <a:pPr>
              <a:lnSpc>
                <a:spcPct val="120000"/>
              </a:lnSpc>
            </a:pPr>
            <a:r>
              <a:rPr lang="en-US" altLang="ko-KR" sz="700" dirty="0">
                <a:latin typeface="+mn-ea"/>
              </a:rPr>
              <a:t>-</a:t>
            </a:r>
            <a:endParaRPr lang="ko-KR" altLang="ko-KR" sz="700" dirty="0">
              <a:latin typeface="+mn-ea"/>
            </a:endParaRPr>
          </a:p>
        </p:txBody>
      </p:sp>
      <p:sp>
        <p:nvSpPr>
          <p:cNvPr id="222" name="TextBox 221">
            <a:extLst>
              <a:ext uri="{FF2B5EF4-FFF2-40B4-BE49-F238E27FC236}">
                <a16:creationId xmlns:a16="http://schemas.microsoft.com/office/drawing/2014/main" id="{FFC49AEA-2A8F-250C-A86A-A7751D9706C3}"/>
              </a:ext>
            </a:extLst>
          </p:cNvPr>
          <p:cNvSpPr txBox="1"/>
          <p:nvPr/>
        </p:nvSpPr>
        <p:spPr>
          <a:xfrm>
            <a:off x="804170" y="3719826"/>
            <a:ext cx="543170" cy="1034129"/>
          </a:xfrm>
          <a:prstGeom prst="rect">
            <a:avLst/>
          </a:prstGeom>
          <a:noFill/>
        </p:spPr>
        <p:txBody>
          <a:bodyPr wrap="square" lIns="0" tIns="0" rIns="0" bIns="0" rtlCol="0">
            <a:spAutoFit/>
          </a:bodyPr>
          <a:lstStyle>
            <a:defPPr>
              <a:defRPr lang="ko-KR"/>
            </a:defPPr>
            <a:lvl1pPr>
              <a:lnSpc>
                <a:spcPct val="240000"/>
              </a:lnSpc>
              <a:defRPr sz="700">
                <a:latin typeface="+mn-ea"/>
              </a:defRPr>
            </a:lvl1pPr>
          </a:lstStyle>
          <a:p>
            <a:r>
              <a:rPr lang="ko-KR" altLang="en-US" dirty="0"/>
              <a:t>평가위원</a:t>
            </a:r>
            <a:r>
              <a:rPr lang="en-US" altLang="ko-KR" dirty="0"/>
              <a:t>1</a:t>
            </a:r>
          </a:p>
          <a:p>
            <a:r>
              <a:rPr lang="ko-KR" altLang="en-US" dirty="0"/>
              <a:t>평가위원</a:t>
            </a:r>
            <a:r>
              <a:rPr lang="en-US" altLang="ko-KR" dirty="0"/>
              <a:t>2</a:t>
            </a:r>
          </a:p>
          <a:p>
            <a:r>
              <a:rPr lang="ko-KR" altLang="en-US" dirty="0"/>
              <a:t>평가위원</a:t>
            </a:r>
            <a:r>
              <a:rPr lang="en-US" altLang="ko-KR" dirty="0"/>
              <a:t>3</a:t>
            </a:r>
          </a:p>
          <a:p>
            <a:r>
              <a:rPr lang="ko-KR" altLang="en-US" dirty="0" smtClean="0"/>
              <a:t>비공개</a:t>
            </a:r>
            <a:endParaRPr lang="ko-KR" altLang="en-US" dirty="0"/>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719811" y="4510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1529722" y="4251836"/>
            <a:ext cx="1692484" cy="245773"/>
          </a:xfrm>
          <a:prstGeom prst="rect">
            <a:avLst/>
          </a:prstGeom>
          <a:noFill/>
        </p:spPr>
        <p:txBody>
          <a:bodyPr wrap="square" lIns="0" tIns="0" rIns="0" bIns="0" rtlCol="0">
            <a:spAutoFit/>
          </a:bodyPr>
          <a:lstStyle/>
          <a:p>
            <a:pPr>
              <a:lnSpc>
                <a:spcPct val="120000"/>
              </a:lnSpc>
            </a:pPr>
            <a:r>
              <a:rPr lang="en-US" altLang="ko-KR" sz="700" b="1" dirty="0" smtClean="0">
                <a:latin typeface="+mn-ea"/>
              </a:rPr>
              <a:t>89</a:t>
            </a:r>
            <a:r>
              <a:rPr lang="ko-KR" altLang="en-US" sz="700" b="1" dirty="0">
                <a:latin typeface="+mn-ea"/>
              </a:rPr>
              <a:t>점</a:t>
            </a:r>
            <a:endParaRPr lang="en-US" altLang="ko-KR" sz="700" b="1" dirty="0">
              <a:latin typeface="+mn-ea"/>
            </a:endParaRPr>
          </a:p>
          <a:p>
            <a:pPr>
              <a:lnSpc>
                <a:spcPct val="120000"/>
              </a:lnSpc>
            </a:pPr>
            <a:r>
              <a:rPr lang="en-US" altLang="ko-KR" sz="700" dirty="0">
                <a:latin typeface="+mn-ea"/>
              </a:rPr>
              <a:t>-</a:t>
            </a:r>
            <a:endParaRPr lang="ko-KR" altLang="ko-KR" sz="700" dirty="0">
              <a:latin typeface="+mn-ea"/>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719811" y="4772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6" name="TextBox 225">
            <a:extLst>
              <a:ext uri="{FF2B5EF4-FFF2-40B4-BE49-F238E27FC236}">
                <a16:creationId xmlns:a16="http://schemas.microsoft.com/office/drawing/2014/main" id="{FFC49AEA-2A8F-250C-A86A-A7751D9706C3}"/>
              </a:ext>
            </a:extLst>
          </p:cNvPr>
          <p:cNvSpPr txBox="1"/>
          <p:nvPr/>
        </p:nvSpPr>
        <p:spPr>
          <a:xfrm>
            <a:off x="1529722" y="4583189"/>
            <a:ext cx="1692484" cy="116507"/>
          </a:xfrm>
          <a:prstGeom prst="rect">
            <a:avLst/>
          </a:prstGeom>
          <a:noFill/>
        </p:spPr>
        <p:txBody>
          <a:bodyPr wrap="square" lIns="0" tIns="0" rIns="0" bIns="0" rtlCol="0">
            <a:spAutoFit/>
          </a:bodyPr>
          <a:lstStyle/>
          <a:p>
            <a:pPr>
              <a:lnSpc>
                <a:spcPct val="120000"/>
              </a:lnSpc>
            </a:pPr>
            <a:r>
              <a:rPr lang="ko-KR" altLang="en-US" sz="700" b="1" smtClean="0">
                <a:latin typeface="+mn-ea"/>
              </a:rPr>
              <a:t>비공개</a:t>
            </a:r>
            <a:endParaRPr lang="ko-KR" altLang="ko-KR" sz="700" dirty="0">
              <a:latin typeface="+mn-ea"/>
            </a:endParaRPr>
          </a:p>
        </p:txBody>
      </p:sp>
      <p:grpSp>
        <p:nvGrpSpPr>
          <p:cNvPr id="227" name="그룹 226">
            <a:extLst>
              <a:ext uri="{FF2B5EF4-FFF2-40B4-BE49-F238E27FC236}">
                <a16:creationId xmlns:a16="http://schemas.microsoft.com/office/drawing/2014/main" id="{22BC05EE-C648-7CA2-4CCC-6E1C1A7E9BDA}"/>
              </a:ext>
            </a:extLst>
          </p:cNvPr>
          <p:cNvGrpSpPr/>
          <p:nvPr/>
        </p:nvGrpSpPr>
        <p:grpSpPr>
          <a:xfrm>
            <a:off x="1992981" y="5316802"/>
            <a:ext cx="76863" cy="292489"/>
            <a:chOff x="3750067" y="4683795"/>
            <a:chExt cx="76863" cy="292489"/>
          </a:xfrm>
        </p:grpSpPr>
        <p:sp>
          <p:nvSpPr>
            <p:cNvPr id="228" name="타원 227">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9" name="타원 22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0" name="타원 22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Tree>
    <p:extLst>
      <p:ext uri="{BB962C8B-B14F-4D97-AF65-F5344CB8AC3E}">
        <p14:creationId xmlns:p14="http://schemas.microsoft.com/office/powerpoint/2010/main" val="250994515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251</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94876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err="1"/>
              <a:t>평가위원별기술평가점수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dlt_evlMbcmtTechEvlScrInfo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비공개사유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prvtRsn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비공개사유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비공개인 경우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평가위원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evlMbcmtNm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평가위원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비공개인 경우 제공하지 않음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평가점수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평가점수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비공개인 경우 제공하지 않음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bl>
          </a:graphicData>
        </a:graphic>
      </p:graphicFrame>
      <p:sp>
        <p:nvSpPr>
          <p:cNvPr id="9" name="TextBox 8">
            <a:extLst>
              <a:ext uri="{FF2B5EF4-FFF2-40B4-BE49-F238E27FC236}">
                <a16:creationId xmlns:a16="http://schemas.microsoft.com/office/drawing/2014/main" id="{546C509D-7C12-6CE6-85EA-25714A5A183F}"/>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10" name="Text Box 73">
            <a:extLst>
              <a:ext uri="{FF2B5EF4-FFF2-40B4-BE49-F238E27FC236}">
                <a16:creationId xmlns:a16="http://schemas.microsoft.com/office/drawing/2014/main" id="{7025CAA2-FE61-7164-D233-5EC944EBE04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6C13CD48-C2CC-294B-849E-3A6ACA3E2339}"/>
              </a:ext>
            </a:extLst>
          </p:cNvPr>
          <p:cNvSpPr txBox="1"/>
          <p:nvPr/>
        </p:nvSpPr>
        <p:spPr>
          <a:xfrm>
            <a:off x="457408" y="2192499"/>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8" name="표 7">
            <a:extLst>
              <a:ext uri="{FF2B5EF4-FFF2-40B4-BE49-F238E27FC236}">
                <a16:creationId xmlns:a16="http://schemas.microsoft.com/office/drawing/2014/main" id="{2BB11A5E-583A-3C67-E691-2D94D50AFFE2}"/>
              </a:ext>
            </a:extLst>
          </p:cNvPr>
          <p:cNvGraphicFramePr>
            <a:graphicFrameLocks noGrp="1"/>
          </p:cNvGraphicFramePr>
          <p:nvPr/>
        </p:nvGraphicFramePr>
        <p:xfrm>
          <a:off x="452291" y="2470630"/>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평가위원별기술평가점수</a:t>
                      </a:r>
                      <a:r>
                        <a:rPr lang="ko-KR" altLang="en-US" sz="800" dirty="0">
                          <a:latin typeface="+mn-ea"/>
                          <a:ea typeface="+mn-ea"/>
                        </a:rPr>
                        <a:t>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평가위원별기술평가점수</a:t>
                      </a:r>
                      <a:r>
                        <a:rPr lang="ko-KR" altLang="en-US" sz="800" dirty="0">
                          <a:latin typeface="+mn-ea"/>
                          <a:ea typeface="+mn-ea"/>
                        </a:rPr>
                        <a:t>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scwin.getEvlMbcmtTechEvlScrInfo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평가위원별기술평가점수</a:t>
                      </a:r>
                      <a:r>
                        <a:rPr lang="ko-KR" altLang="en-US" sz="800" dirty="0">
                          <a:latin typeface="+mn-ea"/>
                          <a:ea typeface="+mn-ea"/>
                        </a:rPr>
                        <a:t>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307273"/>
                  </a:ext>
                </a:extLst>
              </a:tr>
              <a:tr h="0">
                <a:tc>
                  <a:txBody>
                    <a:bodyPr/>
                    <a:lstStyle/>
                    <a:p>
                      <a:pPr latinLnBrk="1"/>
                      <a:r>
                        <a:rPr lang="ko-KR" altLang="en-US" sz="800" dirty="0">
                          <a:latin typeface="+mn-ea"/>
                          <a:ea typeface="+mn-ea"/>
                        </a:rPr>
                        <a:t>닫기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평가위원별기술평가점수상세조회</a:t>
                      </a:r>
                      <a:r>
                        <a:rPr lang="ko-KR" altLang="en-US" sz="800" dirty="0">
                          <a:latin typeface="+mn-ea"/>
                          <a:ea typeface="+mn-ea"/>
                        </a:rPr>
                        <a:t> 팝업화면 닫기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4705806"/>
                  </a:ext>
                </a:extLst>
              </a:tr>
            </a:tbl>
          </a:graphicData>
        </a:graphic>
      </p:graphicFrame>
    </p:spTree>
    <p:extLst>
      <p:ext uri="{BB962C8B-B14F-4D97-AF65-F5344CB8AC3E}">
        <p14:creationId xmlns:p14="http://schemas.microsoft.com/office/powerpoint/2010/main" val="690071767"/>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252</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14. </a:t>
            </a:r>
            <a:r>
              <a:rPr lang="ko-KR" altLang="en-US" dirty="0" smtClean="0"/>
              <a:t>이행적격심사신청</a:t>
            </a:r>
            <a:endParaRPr lang="en-US" altLang="ko-KR" dirty="0" smtClean="0"/>
          </a:p>
          <a:p>
            <a:r>
              <a:rPr lang="en-US" altLang="ko-KR" dirty="0" smtClean="0"/>
              <a:t>14.1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420159316"/>
              </p:ext>
            </p:extLst>
          </p:nvPr>
        </p:nvGraphicFramePr>
        <p:xfrm>
          <a:off x="635474" y="1413419"/>
          <a:ext cx="8701200" cy="15811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MUI-BD-10-M01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적격심사신청</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Implt</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적격심사 대상 공고에 심사 신청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smtClean="0">
                          <a:solidFill>
                            <a:schemeClr val="tx1"/>
                          </a:solidFill>
                          <a:latin typeface="+mn-ea"/>
                          <a:ea typeface="+mn-ea"/>
                        </a:rPr>
                        <a:t>Implt.tsx</a:t>
                      </a:r>
                      <a:endParaRPr lang="ko-KR" altLang="en-US" sz="9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1406962"/>
                  </a:ext>
                </a:extLst>
              </a:tr>
              <a:tr h="180000">
                <a:tc>
                  <a:txBody>
                    <a:bodyPr/>
                    <a:lstStyle/>
                    <a:p>
                      <a:pPr algn="ctr" fontAlgn="ctr"/>
                      <a:r>
                        <a:rPr lang="en-US" sz="700" kern="1200" dirty="0">
                          <a:solidFill>
                            <a:schemeClr val="tx1"/>
                          </a:solidFill>
                          <a:latin typeface="+mn-ea"/>
                          <a:ea typeface="+mn-ea"/>
                          <a:cs typeface="+mn-cs"/>
                        </a:rPr>
                        <a:t>MUI-BD-10-T01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a:solidFill>
                            <a:schemeClr val="tx1"/>
                          </a:solidFill>
                          <a:latin typeface="+mn-ea"/>
                          <a:ea typeface="+mn-ea"/>
                          <a:cs typeface="+mn-cs"/>
                        </a:rPr>
                        <a:t>1.</a:t>
                      </a:r>
                      <a:r>
                        <a:rPr lang="ko-KR" altLang="en-US" sz="800" kern="1200">
                          <a:solidFill>
                            <a:schemeClr val="tx1"/>
                          </a:solidFill>
                          <a:latin typeface="+mn-ea"/>
                          <a:ea typeface="+mn-ea"/>
                          <a:cs typeface="+mn-cs"/>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Implt1</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적격심사 대상 공고에 심사 신청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/Implt1.tsx</a:t>
                      </a:r>
                      <a:endParaRPr lang="ko-KR" altLang="en-US" sz="9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1449744"/>
                  </a:ext>
                </a:extLst>
              </a:tr>
              <a:tr h="180000">
                <a:tc>
                  <a:txBody>
                    <a:bodyPr/>
                    <a:lstStyle/>
                    <a:p>
                      <a:pPr algn="ctr" fontAlgn="ctr"/>
                      <a:r>
                        <a:rPr lang="en-US" sz="700" kern="1200" dirty="0">
                          <a:solidFill>
                            <a:schemeClr val="tx1"/>
                          </a:solidFill>
                          <a:latin typeface="+mn-ea"/>
                          <a:ea typeface="+mn-ea"/>
                          <a:cs typeface="+mn-cs"/>
                        </a:rPr>
                        <a:t>MUI-BD-10-T02</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a:solidFill>
                            <a:schemeClr val="tx1"/>
                          </a:solidFill>
                          <a:latin typeface="+mn-ea"/>
                          <a:ea typeface="+mn-ea"/>
                          <a:cs typeface="+mn-cs"/>
                        </a:rPr>
                        <a:t>2.</a:t>
                      </a:r>
                      <a:r>
                        <a:rPr lang="ko-KR" altLang="en-US" sz="800" kern="1200">
                          <a:solidFill>
                            <a:schemeClr val="tx1"/>
                          </a:solidFill>
                          <a:latin typeface="+mn-ea"/>
                          <a:ea typeface="+mn-ea"/>
                          <a:cs typeface="+mn-cs"/>
                        </a:rPr>
                        <a:t>입찰</a:t>
                      </a:r>
                      <a:r>
                        <a:rPr lang="en-US" altLang="ko-KR" sz="800" kern="1200">
                          <a:solidFill>
                            <a:schemeClr val="tx1"/>
                          </a:solidFill>
                          <a:latin typeface="+mn-ea"/>
                          <a:ea typeface="+mn-ea"/>
                          <a:cs typeface="+mn-cs"/>
                        </a:rPr>
                        <a:t>/</a:t>
                      </a:r>
                      <a:r>
                        <a:rPr lang="ko-KR" altLang="en-US" sz="800" kern="1200">
                          <a:solidFill>
                            <a:schemeClr val="tx1"/>
                          </a:solidFill>
                          <a:latin typeface="+mn-ea"/>
                          <a:ea typeface="+mn-ea"/>
                          <a:cs typeface="+mn-cs"/>
                        </a:rPr>
                        <a:t>반려정보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a:solidFill>
                            <a:schemeClr val="tx1"/>
                          </a:solidFill>
                          <a:latin typeface="+mn-ea"/>
                          <a:ea typeface="+mn-ea"/>
                          <a:cs typeface="+mn-cs"/>
                        </a:rPr>
                        <a:t>Implt2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적격심사 대상 공고에 심사 신청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/Implt2.tsx</a:t>
                      </a:r>
                      <a:endParaRPr lang="ko-KR" altLang="en-US" sz="9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8394604"/>
                  </a:ext>
                </a:extLst>
              </a:tr>
              <a:tr h="180000">
                <a:tc>
                  <a:txBody>
                    <a:bodyPr/>
                    <a:lstStyle/>
                    <a:p>
                      <a:pPr algn="ctr" fontAlgn="ctr"/>
                      <a:r>
                        <a:rPr lang="en-US" sz="700" kern="1200" dirty="0">
                          <a:solidFill>
                            <a:schemeClr val="tx1"/>
                          </a:solidFill>
                          <a:latin typeface="+mn-ea"/>
                          <a:ea typeface="+mn-ea"/>
                          <a:cs typeface="+mn-cs"/>
                        </a:rPr>
                        <a:t>MUI-BD-10-T03</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3.</a:t>
                      </a:r>
                      <a:r>
                        <a:rPr lang="ko-KR" altLang="en-US" sz="800" kern="1200" dirty="0">
                          <a:solidFill>
                            <a:schemeClr val="tx1"/>
                          </a:solidFill>
                          <a:latin typeface="+mn-ea"/>
                          <a:ea typeface="+mn-ea"/>
                          <a:cs typeface="+mn-cs"/>
                        </a:rPr>
                        <a:t>파일첨부</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Implt3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적격심사 대상 공고에 심사 신청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/Implt3.tsx</a:t>
                      </a:r>
                      <a:endParaRPr lang="ko-KR" altLang="en-US" sz="9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4626769"/>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48274995"/>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p:cNvSpPr/>
          <p:nvPr/>
        </p:nvSpPr>
        <p:spPr>
          <a:xfrm>
            <a:off x="722583" y="4399536"/>
            <a:ext cx="792000" cy="225639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39953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399536"/>
            <a:ext cx="670770" cy="2154436"/>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대표품명</a:t>
            </a:r>
            <a:endParaRPr lang="en-US" altLang="ko-KR" sz="700" dirty="0">
              <a:latin typeface="+mn-ea"/>
            </a:endParaRPr>
          </a:p>
          <a:p>
            <a:pPr>
              <a:lnSpc>
                <a:spcPct val="200000"/>
              </a:lnSpc>
            </a:pPr>
            <a:r>
              <a:rPr lang="ko-KR" altLang="en-US" sz="700" dirty="0" err="1">
                <a:latin typeface="+mn-ea"/>
              </a:rPr>
              <a:t>지시년도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399536"/>
            <a:ext cx="1814470" cy="2154436"/>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a:lnSpc>
                <a:spcPct val="200000"/>
              </a:lnSpc>
            </a:pPr>
            <a:r>
              <a:rPr lang="ko-KR" altLang="en-US" sz="700" dirty="0" err="1">
                <a:latin typeface="+mn-ea"/>
              </a:rPr>
              <a:t>테스트품목</a:t>
            </a:r>
            <a:endParaRPr lang="en-US" altLang="ko-KR" sz="700" dirty="0">
              <a:latin typeface="+mn-ea"/>
            </a:endParaRPr>
          </a:p>
          <a:p>
            <a:pPr>
              <a:lnSpc>
                <a:spcPct val="200000"/>
              </a:lnSpc>
            </a:pPr>
            <a:r>
              <a:rPr lang="en-US" altLang="ko-KR" sz="700" dirty="0">
                <a:latin typeface="+mn-ea"/>
              </a:rPr>
              <a:t>2025</a:t>
            </a:r>
          </a:p>
          <a:p>
            <a:pPr lvl="0">
              <a:lnSpc>
                <a:spcPct val="200000"/>
              </a:lnSpc>
            </a:pPr>
            <a:r>
              <a:rPr lang="en-US" altLang="ko-KR" sz="700" dirty="0">
                <a:latin typeface="+mn-ea"/>
              </a:rPr>
              <a:t>MST0001-1</a:t>
            </a:r>
          </a:p>
          <a:p>
            <a:pPr>
              <a:lnSpc>
                <a:spcPct val="200000"/>
              </a:lnSpc>
            </a:pPr>
            <a:r>
              <a:rPr lang="en-US" altLang="ko-KR" sz="700" dirty="0">
                <a:latin typeface="+mn-ea"/>
              </a:rPr>
              <a:t>2025MST0001</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10000</a:t>
            </a:r>
          </a:p>
          <a:p>
            <a:pPr>
              <a:lnSpc>
                <a:spcPct val="200000"/>
              </a:lnSpc>
            </a:pPr>
            <a:r>
              <a:rPr lang="en-US" altLang="ko-KR" sz="700" dirty="0">
                <a:latin typeface="+mn-ea"/>
              </a:rPr>
              <a:t>001</a:t>
            </a: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lvl="0">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6306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8443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058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2717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485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6991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9128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22583" y="60996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입찰공고 상세 화면 상단에 입찰 공고 정보 표시</a:t>
            </a:r>
            <a:r>
              <a:rPr lang="en-US" altLang="ko-KR" dirty="0"/>
              <a:t/>
            </a:r>
            <a:br>
              <a:rPr lang="en-US" altLang="ko-KR" dirty="0"/>
            </a:br>
            <a:r>
              <a:rPr lang="en-US" altLang="ko-KR" dirty="0"/>
              <a:t>1-1 – </a:t>
            </a:r>
            <a:r>
              <a:rPr lang="ko-KR" altLang="en-US" dirty="0"/>
              <a:t>최초 확장하여 목록과 동일한 정보 표시</a:t>
            </a:r>
            <a:r>
              <a:rPr lang="en-US" altLang="ko-KR" dirty="0"/>
              <a:t/>
            </a:r>
            <a:br>
              <a:rPr lang="en-US" altLang="ko-KR" dirty="0"/>
            </a:br>
            <a:r>
              <a:rPr lang="en-US" altLang="ko-KR" dirty="0"/>
              <a:t>2-2 – </a:t>
            </a:r>
            <a:r>
              <a:rPr lang="ko-KR" altLang="en-US" dirty="0"/>
              <a:t>스크롤이 발생하는 경우 최소화하여 품목</a:t>
            </a:r>
            <a:r>
              <a:rPr lang="en-US" altLang="ko-KR" dirty="0"/>
              <a:t>, </a:t>
            </a:r>
            <a:r>
              <a:rPr lang="ko-KR" altLang="en-US" dirty="0"/>
              <a:t>제목 정보만 상단 상시 노출</a:t>
            </a:r>
            <a:endParaRPr lang="en-US" altLang="ko-KR" dirty="0"/>
          </a:p>
          <a:p>
            <a:pPr marL="228600" indent="-228600">
              <a:buFont typeface="+mj-lt"/>
              <a:buAutoNum type="arabicPeriod"/>
            </a:pPr>
            <a:r>
              <a:rPr lang="ko-KR" altLang="en-US" dirty="0"/>
              <a:t>공고의 공지사항이 있는 경우 표시</a:t>
            </a:r>
            <a:r>
              <a:rPr lang="en-US" altLang="ko-KR" dirty="0"/>
              <a:t/>
            </a:r>
            <a:br>
              <a:rPr lang="en-US" altLang="ko-KR" dirty="0"/>
            </a:br>
            <a:r>
              <a:rPr lang="en-US" altLang="ko-KR" dirty="0"/>
              <a:t>- </a:t>
            </a:r>
            <a:r>
              <a:rPr lang="ko-KR" altLang="en-US" dirty="0"/>
              <a:t>공지사항은 기본으로 닫힘</a:t>
            </a:r>
            <a:r>
              <a:rPr lang="en-US" altLang="ko-KR" dirty="0"/>
              <a:t/>
            </a:r>
            <a:br>
              <a:rPr lang="en-US" altLang="ko-KR" dirty="0"/>
            </a:br>
            <a:r>
              <a:rPr lang="en-US" altLang="ko-KR" dirty="0"/>
              <a:t>- </a:t>
            </a:r>
            <a:r>
              <a:rPr lang="ko-KR" altLang="en-US" dirty="0"/>
              <a:t>클릭으로 열리고 닫힘 처리</a:t>
            </a:r>
            <a:endParaRPr lang="en-US" altLang="ko-KR" dirty="0"/>
          </a:p>
          <a:p>
            <a:pPr marL="228600" indent="-228600">
              <a:buFont typeface="+mj-lt"/>
              <a:buAutoNum type="arabicPeriod"/>
            </a:pPr>
            <a:r>
              <a:rPr lang="ko-KR" altLang="en-US" dirty="0"/>
              <a:t>탭 메뉴</a:t>
            </a:r>
            <a:r>
              <a:rPr lang="en-US" altLang="ko-KR" dirty="0"/>
              <a:t/>
            </a:r>
            <a:br>
              <a:rPr lang="en-US" altLang="ko-KR" dirty="0"/>
            </a:br>
            <a:r>
              <a:rPr lang="en-US" altLang="ko-KR" dirty="0"/>
              <a:t>- </a:t>
            </a:r>
            <a:r>
              <a:rPr lang="ko-KR" altLang="en-US" dirty="0"/>
              <a:t>좌우 </a:t>
            </a:r>
            <a:r>
              <a:rPr lang="ko-KR" altLang="en-US" dirty="0" err="1"/>
              <a:t>스와이프</a:t>
            </a:r>
            <a:r>
              <a:rPr lang="en-US" altLang="ko-KR" dirty="0"/>
              <a:t/>
            </a:r>
            <a:br>
              <a:rPr lang="en-US" altLang="ko-KR" dirty="0"/>
            </a:br>
            <a:r>
              <a:rPr lang="en-US" altLang="ko-KR" dirty="0"/>
              <a:t>- </a:t>
            </a:r>
            <a:r>
              <a:rPr lang="ko-KR" altLang="en-US" dirty="0"/>
              <a:t>좌우 이동 버튼 </a:t>
            </a:r>
            <a:r>
              <a:rPr lang="en-US" altLang="ko-KR" dirty="0"/>
              <a:t>(</a:t>
            </a:r>
            <a:r>
              <a:rPr lang="ko-KR" altLang="en-US" dirty="0"/>
              <a:t>좌우 스크롤</a:t>
            </a:r>
            <a:r>
              <a:rPr lang="en-US" altLang="ko-KR" dirty="0"/>
              <a:t>)</a:t>
            </a:r>
          </a:p>
          <a:p>
            <a:pPr marL="228600" indent="-228600">
              <a:buFont typeface="+mj-lt"/>
              <a:buAutoNum type="arabicPeriod"/>
            </a:pPr>
            <a:r>
              <a:rPr lang="ko-KR" altLang="en-US" dirty="0"/>
              <a:t>공고 내용</a:t>
            </a:r>
            <a:r>
              <a:rPr lang="en-US" altLang="ko-KR" dirty="0"/>
              <a:t/>
            </a:r>
            <a:br>
              <a:rPr lang="en-US" altLang="ko-KR" dirty="0"/>
            </a:br>
            <a:r>
              <a:rPr lang="en-US" altLang="ko-KR" dirty="0"/>
              <a:t>- </a:t>
            </a:r>
            <a:r>
              <a:rPr lang="ko-KR" altLang="en-US" dirty="0"/>
              <a:t>각 공고에 맞춰 폼 변화에 유의</a:t>
            </a:r>
            <a:r>
              <a:rPr lang="en-US" altLang="ko-KR" dirty="0"/>
              <a:t/>
            </a:r>
            <a:br>
              <a:rPr lang="en-US" altLang="ko-KR" dirty="0"/>
            </a:br>
            <a:r>
              <a:rPr lang="en-US" altLang="ko-KR" dirty="0"/>
              <a:t>- </a:t>
            </a:r>
            <a:r>
              <a:rPr lang="ko-KR" altLang="en-US" dirty="0"/>
              <a:t>노출 정보 폼 변화는 별도 입찰 공고 흐름에서 정의</a:t>
            </a:r>
            <a:endParaRPr lang="en-US" altLang="ko-KR" dirty="0"/>
          </a:p>
          <a:p>
            <a:pPr marL="228600" indent="-228600">
              <a:buFont typeface="+mj-lt"/>
              <a:buAutoNum type="arabicPeriod"/>
            </a:pPr>
            <a:r>
              <a:rPr lang="ko-KR" altLang="en-US" dirty="0"/>
              <a:t>스크롤 발생 시 변화</a:t>
            </a:r>
            <a:r>
              <a:rPr lang="en-US" altLang="ko-KR" dirty="0"/>
              <a:t/>
            </a:r>
            <a:br>
              <a:rPr lang="en-US" altLang="ko-KR" dirty="0"/>
            </a:br>
            <a:r>
              <a:rPr lang="en-US" altLang="ko-KR" dirty="0"/>
              <a:t>- </a:t>
            </a:r>
            <a:r>
              <a:rPr lang="ko-KR" altLang="en-US" dirty="0"/>
              <a:t>상단 타이틀 영역 최소화</a:t>
            </a:r>
            <a:r>
              <a:rPr lang="en-US" altLang="ko-KR" dirty="0"/>
              <a:t/>
            </a:r>
            <a:br>
              <a:rPr lang="en-US" altLang="ko-KR" dirty="0"/>
            </a:br>
            <a:r>
              <a:rPr lang="en-US" altLang="ko-KR" dirty="0"/>
              <a:t>- </a:t>
            </a:r>
            <a:r>
              <a:rPr lang="ko-KR" altLang="en-US" dirty="0"/>
              <a:t>공지사항 단계 표시기는 스크롤</a:t>
            </a:r>
            <a:r>
              <a:rPr lang="en-US" altLang="ko-KR" dirty="0"/>
              <a:t/>
            </a:r>
            <a:br>
              <a:rPr lang="en-US" altLang="ko-KR" dirty="0"/>
            </a:br>
            <a:r>
              <a:rPr lang="en-US" altLang="ko-KR" dirty="0"/>
              <a:t>- </a:t>
            </a:r>
            <a:r>
              <a:rPr lang="ko-KR" altLang="en-US" dirty="0"/>
              <a:t>스크롤 시 탭 메뉴 타이틀 </a:t>
            </a:r>
            <a:r>
              <a:rPr lang="ko-KR" altLang="en-US" dirty="0" err="1"/>
              <a:t>하단고정</a:t>
            </a:r>
            <a:r>
              <a:rPr lang="en-US" altLang="ko-KR" dirty="0"/>
              <a:t/>
            </a:r>
            <a:br>
              <a:rPr lang="en-US" altLang="ko-KR" dirty="0"/>
            </a:br>
            <a:r>
              <a:rPr lang="en-US" altLang="ko-KR" dirty="0"/>
              <a:t>  &gt; </a:t>
            </a:r>
            <a:r>
              <a:rPr lang="ko-KR" altLang="en-US" dirty="0"/>
              <a:t>현재 탭 선택 시 </a:t>
            </a:r>
            <a:r>
              <a:rPr lang="ko-KR" altLang="en-US" dirty="0" err="1"/>
              <a:t>최상단</a:t>
            </a:r>
            <a:r>
              <a:rPr lang="ko-KR" altLang="en-US" dirty="0"/>
              <a:t> 이동</a:t>
            </a:r>
            <a:r>
              <a:rPr lang="en-US" altLang="ko-KR" dirty="0"/>
              <a:t/>
            </a:r>
            <a:br>
              <a:rPr lang="en-US" altLang="ko-KR" dirty="0"/>
            </a:br>
            <a:r>
              <a:rPr lang="en-US" altLang="ko-KR" dirty="0"/>
              <a:t>- </a:t>
            </a:r>
            <a:r>
              <a:rPr lang="ko-KR" altLang="en-US" dirty="0"/>
              <a:t>탭 메뉴 하단은 전부 스크롤 </a:t>
            </a:r>
            <a:r>
              <a:rPr lang="ko-KR" altLang="en-US" dirty="0" smtClean="0"/>
              <a:t>이동</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적격심사신청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이행</a:t>
            </a:r>
            <a:r>
              <a:rPr lang="en-US" altLang="ko-KR" dirty="0"/>
              <a:t>/</a:t>
            </a:r>
            <a:r>
              <a:rPr lang="ko-KR" altLang="en-US" dirty="0"/>
              <a:t>적격심사를 신청하는 화면</a:t>
            </a:r>
            <a:endParaRPr lang="en-US" altLang="ko-KR"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057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21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2043"/>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17108"/>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901719"/>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2397712"/>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397712"/>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2900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363130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323822"/>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35516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437153"/>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98572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769113"/>
            <a:ext cx="479756"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368330" y="3769113"/>
            <a:ext cx="711015" cy="107722"/>
          </a:xfrm>
          <a:prstGeom prst="rect">
            <a:avLst/>
          </a:prstGeom>
          <a:noFill/>
        </p:spPr>
        <p:txBody>
          <a:bodyPr wrap="square" lIns="0" tIns="0" rIns="0" bIns="0" rtlCol="0">
            <a:spAutoFit/>
          </a:bodyPr>
          <a:lstStyle/>
          <a:p>
            <a:pPr algn="ctr"/>
            <a:r>
              <a:rPr lang="en-US" altLang="ko-KR" sz="700" dirty="0">
                <a:latin typeface="+mn-ea"/>
              </a:rPr>
              <a:t>2. </a:t>
            </a:r>
            <a:r>
              <a:rPr lang="ko-KR" altLang="en-US" sz="700" dirty="0">
                <a:latin typeface="+mn-ea"/>
              </a:rPr>
              <a:t>입찰</a:t>
            </a:r>
            <a:r>
              <a:rPr lang="en-US" altLang="ko-KR" sz="700" dirty="0">
                <a:latin typeface="+mn-ea"/>
              </a:rPr>
              <a:t>/</a:t>
            </a:r>
            <a:r>
              <a:rPr lang="ko-KR" altLang="en-US" sz="700" dirty="0">
                <a:latin typeface="+mn-ea"/>
              </a:rPr>
              <a:t>반려 정보</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203749" y="3769113"/>
            <a:ext cx="479010"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파일첨부</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985720"/>
            <a:ext cx="52343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81461" y="409205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205382"/>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795734" y="150090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4" name="직선 연결선 253">
            <a:extLst>
              <a:ext uri="{FF2B5EF4-FFF2-40B4-BE49-F238E27FC236}">
                <a16:creationId xmlns:a16="http://schemas.microsoft.com/office/drawing/2014/main" id="{E9293055-D5CD-4B9E-7F64-64B2D2CA7A52}"/>
              </a:ext>
            </a:extLst>
          </p:cNvPr>
          <p:cNvCxnSpPr/>
          <p:nvPr/>
        </p:nvCxnSpPr>
        <p:spPr>
          <a:xfrm>
            <a:off x="3795734" y="195307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335516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72" name="타원 271">
            <a:extLst>
              <a:ext uri="{FF2B5EF4-FFF2-40B4-BE49-F238E27FC236}">
                <a16:creationId xmlns:a16="http://schemas.microsoft.com/office/drawing/2014/main" id="{37A7FF4F-0EAA-1463-560A-D5EC24416103}"/>
              </a:ext>
            </a:extLst>
          </p:cNvPr>
          <p:cNvSpPr/>
          <p:nvPr/>
        </p:nvSpPr>
        <p:spPr>
          <a:xfrm>
            <a:off x="571127" y="37329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73" name="타원 272">
            <a:extLst>
              <a:ext uri="{FF2B5EF4-FFF2-40B4-BE49-F238E27FC236}">
                <a16:creationId xmlns:a16="http://schemas.microsoft.com/office/drawing/2014/main" id="{37A7FF4F-0EAA-1463-560A-D5EC24416103}"/>
              </a:ext>
            </a:extLst>
          </p:cNvPr>
          <p:cNvSpPr/>
          <p:nvPr/>
        </p:nvSpPr>
        <p:spPr>
          <a:xfrm>
            <a:off x="571127" y="412270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74" name="사각형: 둥근 모서리 25">
            <a:extLst>
              <a:ext uri="{FF2B5EF4-FFF2-40B4-BE49-F238E27FC236}">
                <a16:creationId xmlns:a16="http://schemas.microsoft.com/office/drawing/2014/main" id="{D17B50F9-89DD-C80C-4195-7E69A48DBE7F}"/>
              </a:ext>
            </a:extLst>
          </p:cNvPr>
          <p:cNvSpPr/>
          <p:nvPr/>
        </p:nvSpPr>
        <p:spPr>
          <a:xfrm>
            <a:off x="439443" y="2654966"/>
            <a:ext cx="327084" cy="146280"/>
          </a:xfrm>
          <a:prstGeom prst="roundRect">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1-1</a:t>
            </a:r>
            <a:endParaRPr lang="ko-KR" altLang="en-US" sz="900" b="1"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55" name="TextBox 25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6" name="TextBox 255">
            <a:extLst>
              <a:ext uri="{FF2B5EF4-FFF2-40B4-BE49-F238E27FC236}">
                <a16:creationId xmlns:a16="http://schemas.microsoft.com/office/drawing/2014/main" id="{FFC49AEA-2A8F-250C-A86A-A7751D9706C3}"/>
              </a:ext>
            </a:extLst>
          </p:cNvPr>
          <p:cNvSpPr txBox="1"/>
          <p:nvPr/>
        </p:nvSpPr>
        <p:spPr>
          <a:xfrm>
            <a:off x="3878080" y="2020457"/>
            <a:ext cx="728875" cy="215444"/>
          </a:xfrm>
          <a:prstGeom prst="rect">
            <a:avLst/>
          </a:prstGeom>
          <a:noFill/>
        </p:spPr>
        <p:txBody>
          <a:bodyPr wrap="square" lIns="0" tIns="0" rIns="0" bIns="0" rtlCol="0">
            <a:spAutoFit/>
          </a:bodyPr>
          <a:lstStyle/>
          <a:p>
            <a:pPr>
              <a:lnSpc>
                <a:spcPct val="200000"/>
              </a:lnSpc>
            </a:pPr>
            <a:r>
              <a:rPr lang="ko-KR" altLang="en-US" sz="700" spc="-52" dirty="0" err="1">
                <a:solidFill>
                  <a:schemeClr val="tx1">
                    <a:lumMod val="75000"/>
                    <a:lumOff val="25000"/>
                  </a:schemeClr>
                </a:solidFill>
                <a:latin typeface="맑은 고딕" panose="020B0503020000020004" pitchFamily="50" charset="-127"/>
              </a:rPr>
              <a:t>참고서류</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261" name="그룹 260"/>
          <p:cNvGrpSpPr/>
          <p:nvPr/>
        </p:nvGrpSpPr>
        <p:grpSpPr>
          <a:xfrm flipV="1">
            <a:off x="6240167" y="2133788"/>
            <a:ext cx="94010" cy="47005"/>
            <a:chOff x="6812560" y="3297172"/>
            <a:chExt cx="94010" cy="47005"/>
          </a:xfrm>
        </p:grpSpPr>
        <p:cxnSp>
          <p:nvCxnSpPr>
            <p:cNvPr id="262" name="직선 연결선 2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3" name="직선 연결선 2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4" name="모서리가 둥근 직사각형 263"/>
          <p:cNvSpPr/>
          <p:nvPr/>
        </p:nvSpPr>
        <p:spPr>
          <a:xfrm>
            <a:off x="3831550" y="241884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4332218" y="2493364"/>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09746" y="254722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68" name="모서리가 둥근 직사각형 267"/>
          <p:cNvSpPr/>
          <p:nvPr/>
        </p:nvSpPr>
        <p:spPr>
          <a:xfrm>
            <a:off x="3831550" y="282552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9" name="TextBox 268">
            <a:extLst>
              <a:ext uri="{FF2B5EF4-FFF2-40B4-BE49-F238E27FC236}">
                <a16:creationId xmlns:a16="http://schemas.microsoft.com/office/drawing/2014/main" id="{FFC49AEA-2A8F-250C-A86A-A7751D9706C3}"/>
              </a:ext>
            </a:extLst>
          </p:cNvPr>
          <p:cNvSpPr txBox="1"/>
          <p:nvPr/>
        </p:nvSpPr>
        <p:spPr>
          <a:xfrm>
            <a:off x="4332218" y="290005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3909746" y="295391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332218" y="2283725"/>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3838314" y="2283725"/>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86" name="타원 285"/>
          <p:cNvSpPr/>
          <p:nvPr/>
        </p:nvSpPr>
        <p:spPr>
          <a:xfrm>
            <a:off x="6206587" y="252908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6116103" y="228733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90" name="타원 289"/>
          <p:cNvSpPr/>
          <p:nvPr/>
        </p:nvSpPr>
        <p:spPr>
          <a:xfrm>
            <a:off x="6206587" y="293577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p:cNvGrpSpPr/>
          <p:nvPr/>
        </p:nvGrpSpPr>
        <p:grpSpPr>
          <a:xfrm>
            <a:off x="2924086" y="373099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5734" y="36990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63209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2583" y="65076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3840825" y="185531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FFC49AEA-2A8F-250C-A86A-A7751D9706C3}"/>
              </a:ext>
            </a:extLst>
          </p:cNvPr>
          <p:cNvSpPr txBox="1"/>
          <p:nvPr/>
        </p:nvSpPr>
        <p:spPr>
          <a:xfrm>
            <a:off x="3884504" y="1638706"/>
            <a:ext cx="479756"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88665" y="1638706"/>
            <a:ext cx="711015" cy="107722"/>
          </a:xfrm>
          <a:prstGeom prst="rect">
            <a:avLst/>
          </a:prstGeom>
          <a:noFill/>
        </p:spPr>
        <p:txBody>
          <a:bodyPr wrap="square" lIns="0" tIns="0" rIns="0" bIns="0" rtlCol="0">
            <a:spAutoFit/>
          </a:bodyPr>
          <a:lstStyle/>
          <a:p>
            <a:pPr algn="ctr"/>
            <a:r>
              <a:rPr lang="en-US" altLang="ko-KR" sz="700" dirty="0">
                <a:latin typeface="+mn-ea"/>
              </a:rPr>
              <a:t>2. </a:t>
            </a:r>
            <a:r>
              <a:rPr lang="ko-KR" altLang="en-US" sz="700" dirty="0">
                <a:latin typeface="+mn-ea"/>
              </a:rPr>
              <a:t>입찰</a:t>
            </a:r>
            <a:r>
              <a:rPr lang="en-US" altLang="ko-KR" sz="700" dirty="0">
                <a:latin typeface="+mn-ea"/>
              </a:rPr>
              <a:t>/</a:t>
            </a:r>
            <a:r>
              <a:rPr lang="ko-KR" altLang="en-US" sz="700" dirty="0">
                <a:latin typeface="+mn-ea"/>
              </a:rPr>
              <a:t>반려 정보</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5324084" y="1638706"/>
            <a:ext cx="479010"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파일첨부</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0825" y="1855313"/>
            <a:ext cx="52343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0" name="그룹 179"/>
          <p:cNvGrpSpPr/>
          <p:nvPr/>
        </p:nvGrpSpPr>
        <p:grpSpPr>
          <a:xfrm>
            <a:off x="6044421" y="1600583"/>
            <a:ext cx="422853" cy="187961"/>
            <a:chOff x="3641308" y="2234886"/>
            <a:chExt cx="422853" cy="187961"/>
          </a:xfrm>
        </p:grpSpPr>
        <p:sp>
          <p:nvSpPr>
            <p:cNvPr id="181" name="타원 18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3" name="그룹 202"/>
            <p:cNvGrpSpPr/>
            <p:nvPr/>
          </p:nvGrpSpPr>
          <p:grpSpPr>
            <a:xfrm rot="5400000" flipH="1">
              <a:off x="3679895" y="2305364"/>
              <a:ext cx="94010" cy="47005"/>
              <a:chOff x="6812560" y="3297172"/>
              <a:chExt cx="94010" cy="47005"/>
            </a:xfrm>
          </p:grpSpPr>
          <p:cxnSp>
            <p:nvCxnSpPr>
              <p:cNvPr id="208" name="직선 연결선 2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9" name="직선 연결선 2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타원 20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rot="16200000">
              <a:off x="3931564" y="2305364"/>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36" name="모서리가 둥근 직사각형 235"/>
          <p:cNvSpPr/>
          <p:nvPr/>
        </p:nvSpPr>
        <p:spPr>
          <a:xfrm>
            <a:off x="3831550" y="323632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7" name="TextBox 236">
            <a:extLst>
              <a:ext uri="{FF2B5EF4-FFF2-40B4-BE49-F238E27FC236}">
                <a16:creationId xmlns:a16="http://schemas.microsoft.com/office/drawing/2014/main" id="{FFC49AEA-2A8F-250C-A86A-A7751D9706C3}"/>
              </a:ext>
            </a:extLst>
          </p:cNvPr>
          <p:cNvSpPr txBox="1"/>
          <p:nvPr/>
        </p:nvSpPr>
        <p:spPr>
          <a:xfrm>
            <a:off x="4332218" y="3364705"/>
            <a:ext cx="1682738" cy="107722"/>
          </a:xfrm>
          <a:prstGeom prst="rect">
            <a:avLst/>
          </a:prstGeom>
          <a:noFill/>
        </p:spPr>
        <p:txBody>
          <a:bodyPr wrap="square" lIns="0" tIns="0" rIns="0" bIns="0" rtlCol="0">
            <a:spAutoFit/>
          </a:bodyPr>
          <a:lstStyle/>
          <a:p>
            <a:r>
              <a:rPr lang="ko-KR" altLang="en-US" sz="700">
                <a:solidFill>
                  <a:schemeClr val="tx1">
                    <a:lumMod val="85000"/>
                    <a:lumOff val="15000"/>
                  </a:schemeClr>
                </a:solidFill>
                <a:latin typeface="맑은 고딕" panose="020B0503020000020004" pitchFamily="50" charset="-127"/>
              </a:rPr>
              <a:t>법 위반 </a:t>
            </a:r>
            <a:r>
              <a:rPr lang="ko-KR" altLang="en-US" sz="700" dirty="0" err="1">
                <a:solidFill>
                  <a:schemeClr val="tx1">
                    <a:lumMod val="85000"/>
                    <a:lumOff val="15000"/>
                  </a:schemeClr>
                </a:solidFill>
                <a:latin typeface="맑은 고딕" panose="020B0503020000020004" pitchFamily="50" charset="-127"/>
              </a:rPr>
              <a:t>처벌이력</a:t>
            </a:r>
            <a:r>
              <a:rPr lang="ko-KR" altLang="en-US" sz="700" dirty="0">
                <a:solidFill>
                  <a:schemeClr val="tx1">
                    <a:lumMod val="85000"/>
                    <a:lumOff val="15000"/>
                  </a:schemeClr>
                </a:solidFill>
                <a:latin typeface="맑은 고딕" panose="020B0503020000020004" pitchFamily="50" charset="-127"/>
              </a:rPr>
              <a:t> 확인서 양식</a:t>
            </a:r>
            <a:endParaRPr lang="en-US" altLang="ko-KR" sz="700" dirty="0">
              <a:solidFill>
                <a:schemeClr val="tx1">
                  <a:lumMod val="85000"/>
                  <a:lumOff val="15000"/>
                </a:schemeClr>
              </a:solidFill>
              <a:latin typeface="맑은 고딕" panose="020B0503020000020004" pitchFamily="50" charset="-127"/>
            </a:endParaRPr>
          </a:p>
        </p:txBody>
      </p:sp>
      <p:sp>
        <p:nvSpPr>
          <p:cNvPr id="238" name="TextBox 237">
            <a:extLst>
              <a:ext uri="{FF2B5EF4-FFF2-40B4-BE49-F238E27FC236}">
                <a16:creationId xmlns:a16="http://schemas.microsoft.com/office/drawing/2014/main" id="{FFC49AEA-2A8F-250C-A86A-A7751D9706C3}"/>
              </a:ext>
            </a:extLst>
          </p:cNvPr>
          <p:cNvSpPr txBox="1"/>
          <p:nvPr/>
        </p:nvSpPr>
        <p:spPr>
          <a:xfrm>
            <a:off x="3909746" y="336470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a:t>
            </a:r>
          </a:p>
        </p:txBody>
      </p:sp>
      <p:sp>
        <p:nvSpPr>
          <p:cNvPr id="239" name="타원 238"/>
          <p:cNvSpPr/>
          <p:nvPr/>
        </p:nvSpPr>
        <p:spPr>
          <a:xfrm>
            <a:off x="6206587" y="334656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4" name="그룹 123"/>
          <p:cNvGrpSpPr/>
          <p:nvPr/>
        </p:nvGrpSpPr>
        <p:grpSpPr>
          <a:xfrm>
            <a:off x="3795734" y="5614711"/>
            <a:ext cx="2712027" cy="617588"/>
            <a:chOff x="675399" y="5614711"/>
            <a:chExt cx="2712027" cy="617588"/>
          </a:xfrm>
        </p:grpSpPr>
        <p:sp>
          <p:nvSpPr>
            <p:cNvPr id="125" name="직사각형 12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34"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135" name="평행 사변형 134"/>
          <p:cNvSpPr/>
          <p:nvPr/>
        </p:nvSpPr>
        <p:spPr>
          <a:xfrm rot="16200000" flipH="1">
            <a:off x="2349649" y="2539635"/>
            <a:ext cx="2483867" cy="408308"/>
          </a:xfrm>
          <a:prstGeom prst="parallelogram">
            <a:avLst>
              <a:gd name="adj" fmla="val 499411"/>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1" name="그룹 120"/>
          <p:cNvGrpSpPr/>
          <p:nvPr/>
        </p:nvGrpSpPr>
        <p:grpSpPr>
          <a:xfrm>
            <a:off x="677960" y="1582647"/>
            <a:ext cx="2714637" cy="686386"/>
            <a:chOff x="677960" y="1582647"/>
            <a:chExt cx="2714637" cy="686386"/>
          </a:xfrm>
        </p:grpSpPr>
        <p:sp>
          <p:nvSpPr>
            <p:cNvPr id="122" name="TextBox 121">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이행</a:t>
              </a:r>
              <a:r>
                <a:rPr lang="en-US" altLang="ko-KR" sz="800" dirty="0">
                  <a:latin typeface="+mn-ea"/>
                </a:rPr>
                <a:t>/</a:t>
              </a:r>
              <a:r>
                <a:rPr lang="ko-KR" altLang="en-US" sz="800" dirty="0" smtClean="0">
                  <a:latin typeface="+mn-ea"/>
                </a:rPr>
                <a:t>적격심사 상세</a:t>
              </a:r>
              <a:endParaRPr lang="ko-KR" altLang="en-US" sz="800" dirty="0">
                <a:latin typeface="+mn-ea"/>
              </a:endParaRPr>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7" name="그룹 136"/>
            <p:cNvGrpSpPr/>
            <p:nvPr/>
          </p:nvGrpSpPr>
          <p:grpSpPr>
            <a:xfrm rot="5400000">
              <a:off x="852159" y="2062596"/>
              <a:ext cx="94010" cy="47005"/>
              <a:chOff x="6812560" y="3297172"/>
              <a:chExt cx="94010" cy="47005"/>
            </a:xfrm>
          </p:grpSpPr>
          <p:cxnSp>
            <p:nvCxnSpPr>
              <p:cNvPr id="145" name="직선 연결선 1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6" name="직선 연결선 1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38" name="그룹 137"/>
            <p:cNvGrpSpPr/>
            <p:nvPr/>
          </p:nvGrpSpPr>
          <p:grpSpPr>
            <a:xfrm>
              <a:off x="677960" y="1582647"/>
              <a:ext cx="2712027" cy="324286"/>
              <a:chOff x="677960" y="1582647"/>
              <a:chExt cx="2712027" cy="324286"/>
            </a:xfrm>
          </p:grpSpPr>
          <p:pic>
            <p:nvPicPr>
              <p:cNvPr id="140"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41" name="직선 연결선 140">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타원 141"/>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3" name="타원 142"/>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4" name="타원 143"/>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169497915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세부 항목 정보</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적격심사신청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이행</a:t>
            </a:r>
            <a:r>
              <a:rPr lang="en-US" altLang="ko-KR" dirty="0"/>
              <a:t>/</a:t>
            </a:r>
            <a:r>
              <a:rPr lang="ko-KR" altLang="en-US" dirty="0"/>
              <a:t>적격심사 </a:t>
            </a:r>
            <a:r>
              <a:rPr lang="en-US" altLang="ko-KR" dirty="0"/>
              <a:t>- </a:t>
            </a:r>
            <a:r>
              <a:rPr lang="ko-KR" altLang="en-US" dirty="0"/>
              <a:t>일반정보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MUI-BD-10-T01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3313845"/>
            <a:chOff x="701175" y="1527996"/>
            <a:chExt cx="2660475" cy="3313845"/>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300323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81298" y="1787783"/>
              <a:ext cx="819868" cy="2585323"/>
            </a:xfrm>
            <a:prstGeom prst="rect">
              <a:avLst/>
            </a:prstGeom>
            <a:noFill/>
          </p:spPr>
          <p:txBody>
            <a:bodyPr wrap="square" lIns="0" tIns="0" rIns="0" bIns="0" rtlCol="0">
              <a:spAutoFit/>
            </a:bodyPr>
            <a:lstStyle/>
            <a:p>
              <a:pPr fontAlgn="ctr">
                <a:lnSpc>
                  <a:spcPct val="200000"/>
                </a:lnSpc>
              </a:pPr>
              <a:r>
                <a:rPr lang="ko-KR" altLang="ko-KR" sz="700" dirty="0" err="1"/>
                <a:t>입찰건명</a:t>
              </a:r>
              <a:endParaRPr lang="ko-KR" altLang="ko-KR" sz="700" dirty="0"/>
            </a:p>
            <a:p>
              <a:pPr fontAlgn="ctr">
                <a:lnSpc>
                  <a:spcPct val="200000"/>
                </a:lnSpc>
              </a:pPr>
              <a:r>
                <a:rPr lang="ko-KR" altLang="ko-KR" sz="700" dirty="0" err="1"/>
                <a:t>지시년도</a:t>
              </a:r>
              <a:endParaRPr lang="ko-KR" altLang="ko-KR" sz="700" dirty="0"/>
            </a:p>
            <a:p>
              <a:pPr fontAlgn="ctr">
                <a:lnSpc>
                  <a:spcPct val="200000"/>
                </a:lnSpc>
              </a:pPr>
              <a:r>
                <a:rPr lang="ko-KR" altLang="ko-KR" sz="700" dirty="0" err="1"/>
                <a:t>공고번호</a:t>
              </a:r>
              <a:endParaRPr lang="ko-KR" altLang="ko-KR" sz="700" dirty="0"/>
            </a:p>
            <a:p>
              <a:pPr fontAlgn="ctr">
                <a:lnSpc>
                  <a:spcPct val="200000"/>
                </a:lnSpc>
              </a:pPr>
              <a:r>
                <a:rPr lang="ko-KR" altLang="ko-KR" sz="700" dirty="0"/>
                <a:t>통합참조번호</a:t>
              </a:r>
            </a:p>
            <a:p>
              <a:pPr fontAlgn="ctr">
                <a:lnSpc>
                  <a:spcPct val="200000"/>
                </a:lnSpc>
              </a:pPr>
              <a:r>
                <a:rPr lang="ko-KR" altLang="ko-KR" sz="700" dirty="0"/>
                <a:t>발주기관</a:t>
              </a:r>
            </a:p>
            <a:p>
              <a:pPr fontAlgn="ctr">
                <a:lnSpc>
                  <a:spcPct val="200000"/>
                </a:lnSpc>
              </a:pPr>
              <a:r>
                <a:rPr lang="ko-KR" altLang="ko-KR" sz="700" dirty="0" err="1"/>
                <a:t>판단번호</a:t>
              </a:r>
              <a:endParaRPr lang="ko-KR" altLang="ko-KR" sz="700" dirty="0"/>
            </a:p>
            <a:p>
              <a:pPr fontAlgn="ctr">
                <a:lnSpc>
                  <a:spcPct val="200000"/>
                </a:lnSpc>
              </a:pPr>
              <a:r>
                <a:rPr lang="ko-KR" altLang="ko-KR" sz="700" dirty="0" err="1"/>
                <a:t>항목번호</a:t>
              </a:r>
              <a:endParaRPr lang="ko-KR" altLang="ko-KR" sz="700" dirty="0"/>
            </a:p>
            <a:p>
              <a:pPr fontAlgn="ctr">
                <a:lnSpc>
                  <a:spcPct val="200000"/>
                </a:lnSpc>
              </a:pPr>
              <a:r>
                <a:rPr lang="ko-KR" altLang="ko-KR" sz="700" dirty="0"/>
                <a:t>계약방법</a:t>
              </a:r>
            </a:p>
            <a:p>
              <a:pPr fontAlgn="ctr">
                <a:lnSpc>
                  <a:spcPct val="200000"/>
                </a:lnSpc>
              </a:pPr>
              <a:r>
                <a:rPr lang="ko-KR" altLang="ko-KR" sz="700" dirty="0"/>
                <a:t>입찰방법</a:t>
              </a:r>
            </a:p>
            <a:p>
              <a:pPr fontAlgn="ctr">
                <a:lnSpc>
                  <a:spcPct val="200000"/>
                </a:lnSpc>
              </a:pPr>
              <a:r>
                <a:rPr lang="ko-KR" altLang="ko-KR" sz="700" dirty="0" err="1"/>
                <a:t>개찰일시</a:t>
              </a:r>
              <a:endParaRPr lang="ko-KR" altLang="ko-KR" sz="700" dirty="0"/>
            </a:p>
            <a:p>
              <a:pPr fontAlgn="ctr">
                <a:lnSpc>
                  <a:spcPct val="200000"/>
                </a:lnSpc>
              </a:pPr>
              <a:r>
                <a:rPr lang="ko-KR" altLang="ko-KR" sz="700" dirty="0"/>
                <a:t>신청마감일시</a:t>
              </a:r>
            </a:p>
            <a:p>
              <a:pPr fontAlgn="ctr">
                <a:lnSpc>
                  <a:spcPct val="200000"/>
                </a:lnSpc>
              </a:pPr>
              <a:r>
                <a:rPr lang="ko-KR" altLang="ko-KR" sz="700" dirty="0" err="1"/>
                <a:t>적용양식</a:t>
              </a:r>
              <a:endParaRPr lang="ko-KR" altLang="ko-KR" sz="700" dirty="0"/>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62110" cy="2585323"/>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a:lnSpc>
                  <a:spcPct val="200000"/>
                </a:lnSpc>
              </a:pPr>
              <a:r>
                <a:rPr lang="ko-KR" altLang="en-US" sz="700" dirty="0" err="1">
                  <a:latin typeface="+mn-ea"/>
                </a:rPr>
                <a:t>테스트품목</a:t>
              </a:r>
              <a:endParaRPr lang="en-US" altLang="ko-KR" sz="700" dirty="0">
                <a:latin typeface="+mn-ea"/>
              </a:endParaRPr>
            </a:p>
            <a:p>
              <a:pPr>
                <a:lnSpc>
                  <a:spcPct val="200000"/>
                </a:lnSpc>
              </a:pPr>
              <a:r>
                <a:rPr lang="en-US" altLang="ko-KR" sz="700" dirty="0">
                  <a:latin typeface="+mn-ea"/>
                </a:rPr>
                <a:t>2025</a:t>
              </a:r>
            </a:p>
            <a:p>
              <a:pPr lvl="0">
                <a:lnSpc>
                  <a:spcPct val="200000"/>
                </a:lnSpc>
              </a:pPr>
              <a:r>
                <a:rPr lang="en-US" altLang="ko-KR" sz="700" dirty="0">
                  <a:latin typeface="+mn-ea"/>
                </a:rPr>
                <a:t>MST0001-1</a:t>
              </a:r>
            </a:p>
            <a:p>
              <a:pPr>
                <a:lnSpc>
                  <a:spcPct val="200000"/>
                </a:lnSpc>
              </a:pPr>
              <a:r>
                <a:rPr lang="en-US" altLang="ko-KR" sz="700" dirty="0">
                  <a:latin typeface="+mn-ea"/>
                </a:rPr>
                <a:t>2025MST0001</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10000</a:t>
              </a:r>
            </a:p>
            <a:p>
              <a:pPr>
                <a:lnSpc>
                  <a:spcPct val="200000"/>
                </a:lnSpc>
              </a:pPr>
              <a:r>
                <a:rPr lang="en-US" altLang="ko-KR" sz="700" dirty="0">
                  <a:latin typeface="+mn-ea"/>
                </a:rPr>
                <a:t>001</a:t>
              </a: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lvl="0">
                <a:lnSpc>
                  <a:spcPct val="200000"/>
                </a:lnSpc>
              </a:pPr>
              <a:r>
                <a:rPr lang="ko-KR" altLang="en-US" sz="700" dirty="0" err="1">
                  <a:latin typeface="+mn-ea"/>
                </a:rPr>
                <a:t>총액제</a:t>
              </a:r>
              <a:endParaRPr lang="en-US" altLang="ko-KR" sz="700" dirty="0">
                <a:latin typeface="+mn-ea"/>
              </a:endParaRPr>
            </a:p>
            <a:p>
              <a:pPr>
                <a:lnSpc>
                  <a:spcPct val="200000"/>
                </a:lnSpc>
              </a:pPr>
              <a:r>
                <a:rPr lang="en-US" altLang="ko-KR" sz="700" dirty="0">
                  <a:latin typeface="+mn-ea"/>
                </a:rPr>
                <a:t>2025-12-01 10:00</a:t>
              </a:r>
            </a:p>
            <a:p>
              <a:pPr lvl="0">
                <a:lnSpc>
                  <a:spcPct val="200000"/>
                </a:lnSpc>
              </a:pPr>
              <a:endParaRPr lang="en-US" altLang="ko-KR" sz="700" dirty="0">
                <a:latin typeface="+mn-ea"/>
              </a:endParaRPr>
            </a:p>
          </p:txBody>
        </p:sp>
        <p:grpSp>
          <p:nvGrpSpPr>
            <p:cNvPr id="17" name="그룹 16"/>
            <p:cNvGrpSpPr/>
            <p:nvPr/>
          </p:nvGrpSpPr>
          <p:grpSpPr>
            <a:xfrm>
              <a:off x="701175" y="1835481"/>
              <a:ext cx="2630093" cy="3006360"/>
              <a:chOff x="701175" y="1835481"/>
              <a:chExt cx="2630093" cy="300636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82" name="직선 연결선 81">
            <a:extLst>
              <a:ext uri="{FF2B5EF4-FFF2-40B4-BE49-F238E27FC236}">
                <a16:creationId xmlns:a16="http://schemas.microsoft.com/office/drawing/2014/main" id="{E9293055-D5CD-4B9E-7F64-64B2D2CA7A52}"/>
              </a:ext>
            </a:extLst>
          </p:cNvPr>
          <p:cNvCxnSpPr/>
          <p:nvPr/>
        </p:nvCxnSpPr>
        <p:spPr>
          <a:xfrm>
            <a:off x="3795734" y="1568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3" name="TextBox 82">
            <a:extLst>
              <a:ext uri="{FF2B5EF4-FFF2-40B4-BE49-F238E27FC236}">
                <a16:creationId xmlns:a16="http://schemas.microsoft.com/office/drawing/2014/main" id="{FFC49AEA-2A8F-250C-A86A-A7751D9706C3}"/>
              </a:ext>
            </a:extLst>
          </p:cNvPr>
          <p:cNvSpPr txBox="1"/>
          <p:nvPr/>
        </p:nvSpPr>
        <p:spPr>
          <a:xfrm>
            <a:off x="3878080" y="1635710"/>
            <a:ext cx="728875" cy="215444"/>
          </a:xfrm>
          <a:prstGeom prst="rect">
            <a:avLst/>
          </a:prstGeom>
          <a:noFill/>
        </p:spPr>
        <p:txBody>
          <a:bodyPr wrap="square" lIns="0" tIns="0" rIns="0" bIns="0" rtlCol="0">
            <a:spAutoFit/>
          </a:bodyPr>
          <a:lstStyle/>
          <a:p>
            <a:pPr>
              <a:lnSpc>
                <a:spcPct val="200000"/>
              </a:lnSpc>
            </a:pPr>
            <a:r>
              <a:rPr lang="ko-KR" altLang="en-US" sz="700" spc="-52" dirty="0" err="1">
                <a:solidFill>
                  <a:schemeClr val="tx1">
                    <a:lumMod val="75000"/>
                    <a:lumOff val="25000"/>
                  </a:schemeClr>
                </a:solidFill>
                <a:latin typeface="맑은 고딕" panose="020B0503020000020004" pitchFamily="50" charset="-127"/>
              </a:rPr>
              <a:t>참고서류</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85" name="그룹 84"/>
          <p:cNvGrpSpPr/>
          <p:nvPr/>
        </p:nvGrpSpPr>
        <p:grpSpPr>
          <a:xfrm flipV="1">
            <a:off x="6240167" y="1749041"/>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2" name="직선 연결선 9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4" name="모서리가 둥근 직사각형 93"/>
          <p:cNvSpPr/>
          <p:nvPr/>
        </p:nvSpPr>
        <p:spPr>
          <a:xfrm>
            <a:off x="3831550" y="203409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4332218" y="210861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97" name="TextBox 96">
            <a:extLst>
              <a:ext uri="{FF2B5EF4-FFF2-40B4-BE49-F238E27FC236}">
                <a16:creationId xmlns:a16="http://schemas.microsoft.com/office/drawing/2014/main" id="{FFC49AEA-2A8F-250C-A86A-A7751D9706C3}"/>
              </a:ext>
            </a:extLst>
          </p:cNvPr>
          <p:cNvSpPr txBox="1"/>
          <p:nvPr/>
        </p:nvSpPr>
        <p:spPr>
          <a:xfrm>
            <a:off x="3909746" y="216247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98" name="모서리가 둥근 직사각형 97"/>
          <p:cNvSpPr/>
          <p:nvPr/>
        </p:nvSpPr>
        <p:spPr>
          <a:xfrm>
            <a:off x="3831550" y="244078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4332218" y="251530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3909746" y="256916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4332218" y="189897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03" name="TextBox 102">
            <a:extLst>
              <a:ext uri="{FF2B5EF4-FFF2-40B4-BE49-F238E27FC236}">
                <a16:creationId xmlns:a16="http://schemas.microsoft.com/office/drawing/2014/main" id="{FFC49AEA-2A8F-250C-A86A-A7751D9706C3}"/>
              </a:ext>
            </a:extLst>
          </p:cNvPr>
          <p:cNvSpPr txBox="1"/>
          <p:nvPr/>
        </p:nvSpPr>
        <p:spPr>
          <a:xfrm>
            <a:off x="3838314" y="189897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04" name="타원 103"/>
          <p:cNvSpPr/>
          <p:nvPr/>
        </p:nvSpPr>
        <p:spPr>
          <a:xfrm>
            <a:off x="6206587" y="21443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6116103" y="1902591"/>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06" name="타원 105"/>
          <p:cNvSpPr/>
          <p:nvPr/>
        </p:nvSpPr>
        <p:spPr>
          <a:xfrm>
            <a:off x="6206587" y="255102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7" name="직선 연결선 106">
            <a:extLst>
              <a:ext uri="{FF2B5EF4-FFF2-40B4-BE49-F238E27FC236}">
                <a16:creationId xmlns:a16="http://schemas.microsoft.com/office/drawing/2014/main" id="{E9293055-D5CD-4B9E-7F64-64B2D2CA7A52}"/>
              </a:ext>
            </a:extLst>
          </p:cNvPr>
          <p:cNvCxnSpPr/>
          <p:nvPr/>
        </p:nvCxnSpPr>
        <p:spPr>
          <a:xfrm>
            <a:off x="3795734" y="330889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8" name="모서리가 둥근 직사각형 107"/>
          <p:cNvSpPr/>
          <p:nvPr/>
        </p:nvSpPr>
        <p:spPr>
          <a:xfrm>
            <a:off x="3831550" y="285157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a:extLst>
              <a:ext uri="{FF2B5EF4-FFF2-40B4-BE49-F238E27FC236}">
                <a16:creationId xmlns:a16="http://schemas.microsoft.com/office/drawing/2014/main" id="{FFC49AEA-2A8F-250C-A86A-A7751D9706C3}"/>
              </a:ext>
            </a:extLst>
          </p:cNvPr>
          <p:cNvSpPr txBox="1"/>
          <p:nvPr/>
        </p:nvSpPr>
        <p:spPr>
          <a:xfrm>
            <a:off x="4332218" y="2979958"/>
            <a:ext cx="1682738" cy="107722"/>
          </a:xfrm>
          <a:prstGeom prst="rect">
            <a:avLst/>
          </a:prstGeom>
          <a:noFill/>
        </p:spPr>
        <p:txBody>
          <a:bodyPr wrap="square" lIns="0" tIns="0" rIns="0" bIns="0" rtlCol="0">
            <a:spAutoFit/>
          </a:bodyPr>
          <a:lstStyle/>
          <a:p>
            <a:r>
              <a:rPr lang="ko-KR" altLang="en-US" sz="700">
                <a:solidFill>
                  <a:schemeClr val="tx1">
                    <a:lumMod val="85000"/>
                    <a:lumOff val="15000"/>
                  </a:schemeClr>
                </a:solidFill>
                <a:latin typeface="맑은 고딕" panose="020B0503020000020004" pitchFamily="50" charset="-127"/>
              </a:rPr>
              <a:t>법 위반 </a:t>
            </a:r>
            <a:r>
              <a:rPr lang="ko-KR" altLang="en-US" sz="700" dirty="0" err="1">
                <a:solidFill>
                  <a:schemeClr val="tx1">
                    <a:lumMod val="85000"/>
                    <a:lumOff val="15000"/>
                  </a:schemeClr>
                </a:solidFill>
                <a:latin typeface="맑은 고딕" panose="020B0503020000020004" pitchFamily="50" charset="-127"/>
              </a:rPr>
              <a:t>처벌이력</a:t>
            </a:r>
            <a:r>
              <a:rPr lang="ko-KR" altLang="en-US" sz="700" dirty="0">
                <a:solidFill>
                  <a:schemeClr val="tx1">
                    <a:lumMod val="85000"/>
                    <a:lumOff val="15000"/>
                  </a:schemeClr>
                </a:solidFill>
                <a:latin typeface="맑은 고딕" panose="020B0503020000020004" pitchFamily="50" charset="-127"/>
              </a:rPr>
              <a:t> 확인서 양식</a:t>
            </a:r>
            <a:endParaRPr lang="en-US" altLang="ko-KR" sz="700" dirty="0">
              <a:solidFill>
                <a:schemeClr val="tx1">
                  <a:lumMod val="85000"/>
                  <a:lumOff val="15000"/>
                </a:schemeClr>
              </a:solidFill>
              <a:latin typeface="맑은 고딕" panose="020B0503020000020004" pitchFamily="50" charset="-127"/>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3909746" y="297995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a:t>
            </a:r>
          </a:p>
        </p:txBody>
      </p:sp>
      <p:sp>
        <p:nvSpPr>
          <p:cNvPr id="111" name="타원 110"/>
          <p:cNvSpPr/>
          <p:nvPr/>
        </p:nvSpPr>
        <p:spPr>
          <a:xfrm>
            <a:off x="6206587" y="296181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5" name="그룹 64"/>
          <p:cNvGrpSpPr/>
          <p:nvPr/>
        </p:nvGrpSpPr>
        <p:grpSpPr>
          <a:xfrm>
            <a:off x="3795734" y="5614711"/>
            <a:ext cx="2712027" cy="617588"/>
            <a:chOff x="675399" y="5614711"/>
            <a:chExt cx="2712027" cy="617588"/>
          </a:xfrm>
        </p:grpSpPr>
        <p:sp>
          <p:nvSpPr>
            <p:cNvPr id="66" name="직사각형 6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6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61" name="직사각형 60"/>
          <p:cNvSpPr/>
          <p:nvPr/>
        </p:nvSpPr>
        <p:spPr>
          <a:xfrm>
            <a:off x="8223250" y="80561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2026-08-05 </a:t>
            </a:r>
            <a:r>
              <a:rPr lang="ko-KR" altLang="en-US" dirty="0"/>
              <a:t>화면 수정</a:t>
            </a:r>
          </a:p>
        </p:txBody>
      </p:sp>
      <p:sp>
        <p:nvSpPr>
          <p:cNvPr id="62" name="TextBox 61">
            <a:extLst>
              <a:ext uri="{FF2B5EF4-FFF2-40B4-BE49-F238E27FC236}">
                <a16:creationId xmlns:a16="http://schemas.microsoft.com/office/drawing/2014/main" id="{FFC49AEA-2A8F-250C-A86A-A7751D9706C3}"/>
              </a:ext>
            </a:extLst>
          </p:cNvPr>
          <p:cNvSpPr txBox="1"/>
          <p:nvPr/>
        </p:nvSpPr>
        <p:spPr>
          <a:xfrm>
            <a:off x="3878080" y="3379892"/>
            <a:ext cx="2562991" cy="181140"/>
          </a:xfrm>
          <a:prstGeom prst="rect">
            <a:avLst/>
          </a:prstGeom>
          <a:noFill/>
        </p:spPr>
        <p:txBody>
          <a:bodyPr wrap="square" lIns="0" tIns="0" rIns="0" bIns="0" rtlCol="0">
            <a:spAutoFit/>
          </a:bodyPr>
          <a:lstStyle/>
          <a:p>
            <a:pPr>
              <a:lnSpc>
                <a:spcPct val="200000"/>
              </a:lnSpc>
            </a:pPr>
            <a:r>
              <a:rPr lang="ko-KR" altLang="en-US" sz="700" spc="-52" dirty="0" smtClean="0">
                <a:solidFill>
                  <a:schemeClr val="tx1">
                    <a:lumMod val="75000"/>
                    <a:lumOff val="25000"/>
                  </a:schemeClr>
                </a:solidFill>
                <a:latin typeface="맑은 고딕" panose="020B0503020000020004" pitchFamily="50" charset="-127"/>
              </a:rPr>
              <a:t>추가첨부서류 </a:t>
            </a:r>
            <a:r>
              <a:rPr lang="en-US" altLang="ko-KR" sz="700" spc="-52" dirty="0" smtClean="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63" name="모서리가 둥근 직사각형 62"/>
          <p:cNvSpPr/>
          <p:nvPr/>
        </p:nvSpPr>
        <p:spPr>
          <a:xfrm>
            <a:off x="3831550" y="386147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TextBox 63">
            <a:extLst>
              <a:ext uri="{FF2B5EF4-FFF2-40B4-BE49-F238E27FC236}">
                <a16:creationId xmlns:a16="http://schemas.microsoft.com/office/drawing/2014/main" id="{FFC49AEA-2A8F-250C-A86A-A7751D9706C3}"/>
              </a:ext>
            </a:extLst>
          </p:cNvPr>
          <p:cNvSpPr txBox="1"/>
          <p:nvPr/>
        </p:nvSpPr>
        <p:spPr>
          <a:xfrm>
            <a:off x="4332218" y="393599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69" name="TextBox 68">
            <a:extLst>
              <a:ext uri="{FF2B5EF4-FFF2-40B4-BE49-F238E27FC236}">
                <a16:creationId xmlns:a16="http://schemas.microsoft.com/office/drawing/2014/main" id="{FFC49AEA-2A8F-250C-A86A-A7751D9706C3}"/>
              </a:ext>
            </a:extLst>
          </p:cNvPr>
          <p:cNvSpPr txBox="1"/>
          <p:nvPr/>
        </p:nvSpPr>
        <p:spPr>
          <a:xfrm>
            <a:off x="3909746" y="398985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70" name="TextBox 69">
            <a:extLst>
              <a:ext uri="{FF2B5EF4-FFF2-40B4-BE49-F238E27FC236}">
                <a16:creationId xmlns:a16="http://schemas.microsoft.com/office/drawing/2014/main" id="{FFC49AEA-2A8F-250C-A86A-A7751D9706C3}"/>
              </a:ext>
            </a:extLst>
          </p:cNvPr>
          <p:cNvSpPr txBox="1"/>
          <p:nvPr/>
        </p:nvSpPr>
        <p:spPr>
          <a:xfrm>
            <a:off x="4332218" y="372635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3838314" y="372635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72" name="타원 71"/>
          <p:cNvSpPr/>
          <p:nvPr/>
        </p:nvSpPr>
        <p:spPr>
          <a:xfrm>
            <a:off x="6206587" y="397171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TextBox 72">
            <a:extLst>
              <a:ext uri="{FF2B5EF4-FFF2-40B4-BE49-F238E27FC236}">
                <a16:creationId xmlns:a16="http://schemas.microsoft.com/office/drawing/2014/main" id="{FFC49AEA-2A8F-250C-A86A-A7751D9706C3}"/>
              </a:ext>
            </a:extLst>
          </p:cNvPr>
          <p:cNvSpPr txBox="1"/>
          <p:nvPr/>
        </p:nvSpPr>
        <p:spPr>
          <a:xfrm>
            <a:off x="6116103" y="3729966"/>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74" name="직사각형 73"/>
          <p:cNvSpPr/>
          <p:nvPr/>
        </p:nvSpPr>
        <p:spPr>
          <a:xfrm>
            <a:off x="9906000" y="802365"/>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ko-KR" altLang="en-US" dirty="0" smtClean="0"/>
              <a:t>추가첨부서류 추가</a:t>
            </a:r>
            <a:endParaRPr lang="ko-KR" altLang="en-US" dirty="0"/>
          </a:p>
        </p:txBody>
      </p:sp>
    </p:spTree>
    <p:extLst>
      <p:ext uri="{BB962C8B-B14F-4D97-AF65-F5344CB8AC3E}">
        <p14:creationId xmlns:p14="http://schemas.microsoft.com/office/powerpoint/2010/main" val="2506878301"/>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입찰 결과 항목 </a:t>
            </a:r>
            <a:r>
              <a:rPr lang="ko-KR" altLang="en-US" dirty="0" smtClean="0"/>
              <a:t>정보</a:t>
            </a:r>
            <a:endParaRPr lang="en-US" altLang="ko-KR" dirty="0" smtClean="0"/>
          </a:p>
          <a:p>
            <a:pPr marL="228600" indent="-228600">
              <a:buFont typeface="+mj-ea"/>
              <a:buAutoNum type="arabicPeriod"/>
            </a:pPr>
            <a:r>
              <a:rPr lang="ko-KR" altLang="en-US" dirty="0" smtClean="0"/>
              <a:t>반려 사유</a:t>
            </a:r>
            <a:r>
              <a:rPr lang="en-US" altLang="ko-KR" dirty="0" smtClean="0"/>
              <a:t/>
            </a:r>
            <a:br>
              <a:rPr lang="en-US" altLang="ko-KR" dirty="0" smtClean="0"/>
            </a:br>
            <a:r>
              <a:rPr lang="en-US" altLang="ko-KR" dirty="0" smtClean="0"/>
              <a:t>- </a:t>
            </a:r>
            <a:r>
              <a:rPr lang="ko-KR" altLang="en-US" dirty="0" smtClean="0"/>
              <a:t>사용자가 신청한 이후 관리자에 의해 반려 내용이 작성된 경우 표시되는 </a:t>
            </a:r>
            <a:r>
              <a:rPr lang="ko-KR" altLang="en-US" dirty="0" err="1" smtClean="0"/>
              <a:t>항목임</a:t>
            </a:r>
            <a:r>
              <a:rPr lang="en-US" altLang="ko-KR" dirty="0" smtClean="0"/>
              <a:t>.</a:t>
            </a:r>
            <a:br>
              <a:rPr lang="en-US" altLang="ko-KR" dirty="0" smtClean="0"/>
            </a:br>
            <a:r>
              <a:rPr lang="en-US" altLang="ko-KR" dirty="0" smtClean="0"/>
              <a:t>- </a:t>
            </a:r>
            <a:r>
              <a:rPr lang="ko-KR" altLang="en-US" dirty="0" smtClean="0"/>
              <a:t>최초 신청시점에는 표시되지 않는 항목</a:t>
            </a:r>
            <a:r>
              <a:rPr lang="en-US" altLang="ko-KR" dirty="0" smtClean="0"/>
              <a:t>.</a:t>
            </a:r>
            <a:br>
              <a:rPr lang="en-US" altLang="ko-KR" dirty="0" smtClean="0"/>
            </a:br>
            <a:r>
              <a:rPr lang="en-US" altLang="ko-KR" dirty="0" smtClean="0"/>
              <a:t>- </a:t>
            </a:r>
            <a:r>
              <a:rPr lang="ko-KR" altLang="en-US" dirty="0" smtClean="0"/>
              <a:t>내용 확인을 위한 재진입 시에도 반려 사유가 없는 경우 </a:t>
            </a:r>
            <a:r>
              <a:rPr lang="ko-KR" altLang="en-US" dirty="0" err="1" smtClean="0"/>
              <a:t>미표시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적격심사신청 </a:t>
            </a:r>
            <a:r>
              <a:rPr lang="en-US" altLang="ko-KR" dirty="0"/>
              <a:t>– </a:t>
            </a:r>
            <a:r>
              <a:rPr lang="ko-KR" altLang="en-US" dirty="0"/>
              <a:t>입찰</a:t>
            </a:r>
            <a:r>
              <a:rPr lang="en-US" altLang="ko-KR" dirty="0"/>
              <a:t>/</a:t>
            </a:r>
            <a:r>
              <a:rPr lang="ko-KR" altLang="en-US" dirty="0"/>
              <a:t>반려 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적격심사상세 </a:t>
            </a:r>
            <a:r>
              <a:rPr lang="en-US" altLang="ko-KR" dirty="0"/>
              <a:t>- </a:t>
            </a:r>
            <a:r>
              <a:rPr lang="ko-KR" altLang="en-US" dirty="0"/>
              <a:t>입찰</a:t>
            </a:r>
            <a:r>
              <a:rPr lang="en-US" altLang="ko-KR" dirty="0"/>
              <a:t>/</a:t>
            </a:r>
            <a:r>
              <a:rPr lang="ko-KR" altLang="en-US" dirty="0"/>
              <a:t>반려 정보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MUI-BD-10-T02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1600147"/>
            <a:chOff x="701175" y="1527996"/>
            <a:chExt cx="2630093" cy="1600147"/>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입찰결과</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1288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1292662"/>
            </a:xfrm>
            <a:prstGeom prst="rect">
              <a:avLst/>
            </a:prstGeom>
            <a:noFill/>
          </p:spPr>
          <p:txBody>
            <a:bodyPr wrap="square" lIns="0" tIns="0" rIns="0" bIns="0" rtlCol="0">
              <a:spAutoFit/>
            </a:bodyPr>
            <a:lstStyle/>
            <a:p>
              <a:pPr>
                <a:lnSpc>
                  <a:spcPct val="200000"/>
                </a:lnSpc>
              </a:pPr>
              <a:r>
                <a:rPr lang="ko-KR" altLang="en-US" sz="700" dirty="0" err="1">
                  <a:latin typeface="+mn-ea"/>
                </a:rPr>
                <a:t>낙찰순위</a:t>
              </a:r>
              <a:endParaRPr lang="en-US" altLang="ko-KR" sz="700" dirty="0">
                <a:latin typeface="+mn-ea"/>
              </a:endParaRPr>
            </a:p>
            <a:p>
              <a:pPr>
                <a:lnSpc>
                  <a:spcPct val="200000"/>
                </a:lnSpc>
              </a:pPr>
              <a:r>
                <a:rPr lang="ko-KR" altLang="en-US" sz="700" dirty="0" err="1">
                  <a:latin typeface="+mn-ea"/>
                </a:rPr>
                <a:t>투찰금액</a:t>
              </a:r>
              <a:endParaRPr lang="en-US" altLang="ko-KR" sz="700" dirty="0">
                <a:latin typeface="+mn-ea"/>
              </a:endParaRPr>
            </a:p>
            <a:p>
              <a:pPr>
                <a:lnSpc>
                  <a:spcPct val="200000"/>
                </a:lnSpc>
              </a:pPr>
              <a:r>
                <a:rPr lang="ko-KR" altLang="en-US" sz="700" dirty="0" err="1">
                  <a:latin typeface="+mn-ea"/>
                </a:rPr>
                <a:t>투찰률</a:t>
              </a:r>
              <a:endParaRPr lang="en-US" altLang="ko-KR" sz="700" dirty="0">
                <a:latin typeface="+mn-ea"/>
              </a:endParaRPr>
            </a:p>
            <a:p>
              <a:pPr>
                <a:lnSpc>
                  <a:spcPct val="200000"/>
                </a:lnSpc>
              </a:pPr>
              <a:r>
                <a:rPr lang="en-US" altLang="ko-KR" sz="700" dirty="0">
                  <a:latin typeface="+mn-ea"/>
                </a:rPr>
                <a:t>(</a:t>
              </a:r>
              <a:r>
                <a:rPr lang="ko-KR" altLang="en-US" sz="700" dirty="0">
                  <a:latin typeface="+mn-ea"/>
                </a:rPr>
                <a:t>입찰가격</a:t>
              </a:r>
              <a:r>
                <a:rPr lang="en-US" altLang="ko-KR" sz="700" dirty="0">
                  <a:latin typeface="+mn-ea"/>
                </a:rPr>
                <a:t>-A)/(</a:t>
              </a:r>
              <a:r>
                <a:rPr lang="ko-KR" altLang="en-US" sz="700" dirty="0">
                  <a:latin typeface="+mn-ea"/>
                </a:rPr>
                <a:t>예정가격</a:t>
              </a:r>
              <a:r>
                <a:rPr lang="en-US" altLang="ko-KR" sz="700" dirty="0">
                  <a:latin typeface="+mn-ea"/>
                </a:rPr>
                <a:t>-A)*100</a:t>
              </a:r>
            </a:p>
            <a:p>
              <a:pPr>
                <a:lnSpc>
                  <a:spcPct val="200000"/>
                </a:lnSpc>
              </a:pPr>
              <a:r>
                <a:rPr lang="ko-KR" altLang="en-US" sz="700" dirty="0">
                  <a:latin typeface="+mn-ea"/>
                </a:rPr>
                <a:t>상태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31728" cy="1292662"/>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순위</a:t>
              </a:r>
              <a:endParaRPr lang="en-US" altLang="ko-KR" sz="700" dirty="0">
                <a:latin typeface="+mn-ea"/>
              </a:endParaRPr>
            </a:p>
            <a:p>
              <a:pPr algn="r">
                <a:lnSpc>
                  <a:spcPct val="200000"/>
                </a:lnSpc>
              </a:pPr>
              <a:r>
                <a:rPr lang="en-US" altLang="ko-KR" sz="700" dirty="0">
                  <a:latin typeface="+mn-ea"/>
                </a:rPr>
                <a:t>89,000,000</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89.8 %</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대상통보</a:t>
              </a:r>
              <a:endParaRPr lang="en-US" altLang="ko-KR" sz="700" dirty="0">
                <a:latin typeface="+mn-ea"/>
              </a:endParaRPr>
            </a:p>
          </p:txBody>
        </p:sp>
        <p:grpSp>
          <p:nvGrpSpPr>
            <p:cNvPr id="17" name="그룹 16"/>
            <p:cNvGrpSpPr/>
            <p:nvPr/>
          </p:nvGrpSpPr>
          <p:grpSpPr>
            <a:xfrm>
              <a:off x="701175" y="1835481"/>
              <a:ext cx="2630093" cy="1288440"/>
              <a:chOff x="701175" y="1835481"/>
              <a:chExt cx="2630093" cy="12884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61" name="TextBox 60">
            <a:extLst>
              <a:ext uri="{FF2B5EF4-FFF2-40B4-BE49-F238E27FC236}">
                <a16:creationId xmlns:a16="http://schemas.microsoft.com/office/drawing/2014/main" id="{FFC49AEA-2A8F-250C-A86A-A7751D9706C3}"/>
              </a:ext>
            </a:extLst>
          </p:cNvPr>
          <p:cNvSpPr txBox="1"/>
          <p:nvPr/>
        </p:nvSpPr>
        <p:spPr>
          <a:xfrm>
            <a:off x="762146" y="3343148"/>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반려 사유</a:t>
            </a:r>
          </a:p>
        </p:txBody>
      </p:sp>
      <p:grpSp>
        <p:nvGrpSpPr>
          <p:cNvPr id="62" name="그룹 61"/>
          <p:cNvGrpSpPr/>
          <p:nvPr/>
        </p:nvGrpSpPr>
        <p:grpSpPr>
          <a:xfrm flipV="1">
            <a:off x="3124233" y="3456479"/>
            <a:ext cx="94010" cy="47005"/>
            <a:chOff x="6812560" y="3297172"/>
            <a:chExt cx="94010" cy="47005"/>
          </a:xfrm>
        </p:grpSpPr>
        <p:cxnSp>
          <p:nvCxnSpPr>
            <p:cNvPr id="73" name="직선 연결선 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4" name="직선 연결선 7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75" name="직선 연결선 74">
            <a:extLst>
              <a:ext uri="{FF2B5EF4-FFF2-40B4-BE49-F238E27FC236}">
                <a16:creationId xmlns:a16="http://schemas.microsoft.com/office/drawing/2014/main" id="{E9293055-D5CD-4B9E-7F64-64B2D2CA7A52}"/>
              </a:ext>
            </a:extLst>
          </p:cNvPr>
          <p:cNvCxnSpPr/>
          <p:nvPr/>
        </p:nvCxnSpPr>
        <p:spPr>
          <a:xfrm>
            <a:off x="675399" y="32606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6" name="직사각형 75"/>
          <p:cNvSpPr/>
          <p:nvPr/>
        </p:nvSpPr>
        <p:spPr>
          <a:xfrm>
            <a:off x="715155" y="3649760"/>
            <a:ext cx="2621844" cy="1048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804311" y="3650633"/>
            <a:ext cx="2454126" cy="181140"/>
          </a:xfrm>
          <a:prstGeom prst="rect">
            <a:avLst/>
          </a:prstGeom>
          <a:noFill/>
        </p:spPr>
        <p:txBody>
          <a:bodyPr wrap="square" lIns="0" tIns="0" rIns="0" bIns="0" rtlCol="0">
            <a:spAutoFit/>
          </a:bodyPr>
          <a:lstStyle/>
          <a:p>
            <a:pPr>
              <a:lnSpc>
                <a:spcPct val="200000"/>
              </a:lnSpc>
            </a:pPr>
            <a:r>
              <a:rPr lang="ko-KR" altLang="en-US" sz="700" dirty="0">
                <a:latin typeface="+mn-ea"/>
              </a:rPr>
              <a:t>반려 사유 표시</a:t>
            </a:r>
            <a:endParaRPr lang="en-US" altLang="ko-KR" sz="700" dirty="0">
              <a:latin typeface="+mn-ea"/>
            </a:endParaRPr>
          </a:p>
        </p:txBody>
      </p:sp>
      <p:grpSp>
        <p:nvGrpSpPr>
          <p:cNvPr id="78" name="그룹 77"/>
          <p:cNvGrpSpPr/>
          <p:nvPr/>
        </p:nvGrpSpPr>
        <p:grpSpPr>
          <a:xfrm>
            <a:off x="715155" y="3649759"/>
            <a:ext cx="2630093" cy="1048572"/>
            <a:chOff x="701175" y="1835481"/>
            <a:chExt cx="2630093" cy="1048572"/>
          </a:xfrm>
        </p:grpSpPr>
        <p:cxnSp>
          <p:nvCxnSpPr>
            <p:cNvPr id="79" name="직선 연결선 7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703268" y="28840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81" name="직선 연결선 80">
            <a:extLst>
              <a:ext uri="{FF2B5EF4-FFF2-40B4-BE49-F238E27FC236}">
                <a16:creationId xmlns:a16="http://schemas.microsoft.com/office/drawing/2014/main" id="{E9293055-D5CD-4B9E-7F64-64B2D2CA7A52}"/>
              </a:ext>
            </a:extLst>
          </p:cNvPr>
          <p:cNvCxnSpPr/>
          <p:nvPr/>
        </p:nvCxnSpPr>
        <p:spPr>
          <a:xfrm>
            <a:off x="675488" y="47867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0" name="타원 39">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45" name="그룹 44"/>
          <p:cNvGrpSpPr/>
          <p:nvPr/>
        </p:nvGrpSpPr>
        <p:grpSpPr>
          <a:xfrm>
            <a:off x="675399" y="5614711"/>
            <a:ext cx="2712027" cy="617588"/>
            <a:chOff x="675399" y="5614711"/>
            <a:chExt cx="2712027" cy="617588"/>
          </a:xfrm>
        </p:grpSpPr>
        <p:sp>
          <p:nvSpPr>
            <p:cNvPr id="46" name="직사각형 4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4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52" name="타원 51">
            <a:extLst>
              <a:ext uri="{FF2B5EF4-FFF2-40B4-BE49-F238E27FC236}">
                <a16:creationId xmlns:a16="http://schemas.microsoft.com/office/drawing/2014/main" id="{37A7FF4F-0EAA-1463-560A-D5EC24416103}"/>
              </a:ext>
            </a:extLst>
          </p:cNvPr>
          <p:cNvSpPr/>
          <p:nvPr/>
        </p:nvSpPr>
        <p:spPr>
          <a:xfrm>
            <a:off x="571127" y="33794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142334784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파일첨부</a:t>
            </a:r>
            <a:r>
              <a:rPr lang="en-US" altLang="ko-KR" dirty="0"/>
              <a:t>, </a:t>
            </a:r>
            <a:r>
              <a:rPr lang="ko-KR" altLang="en-US" dirty="0"/>
              <a:t>추가첨부서류 </a:t>
            </a:r>
            <a:r>
              <a:rPr lang="ko-KR" altLang="en-US" dirty="0" smtClean="0"/>
              <a:t>등록</a:t>
            </a:r>
            <a:r>
              <a:rPr lang="en-US" altLang="ko-KR" dirty="0" smtClean="0"/>
              <a:t/>
            </a:r>
            <a:br>
              <a:rPr lang="en-US" altLang="ko-KR" dirty="0" smtClean="0"/>
            </a:br>
            <a:r>
              <a:rPr lang="en-US" altLang="ko-KR" dirty="0" smtClean="0"/>
              <a:t>- </a:t>
            </a:r>
            <a:r>
              <a:rPr lang="ko-KR" altLang="en-US" dirty="0" err="1" smtClean="0"/>
              <a:t>파일추가한</a:t>
            </a:r>
            <a:r>
              <a:rPr lang="ko-KR" altLang="en-US" dirty="0" smtClean="0"/>
              <a:t> 내용을 저장할 수 있음</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이행적격심사 파일을 제출하거나</a:t>
            </a:r>
            <a:r>
              <a:rPr lang="en-US" altLang="ko-KR" dirty="0" smtClean="0">
                <a:solidFill>
                  <a:srgbClr val="FF0000"/>
                </a:solidFill>
              </a:rPr>
              <a:t>, </a:t>
            </a:r>
            <a:r>
              <a:rPr lang="ko-KR" altLang="en-US" dirty="0" smtClean="0">
                <a:solidFill>
                  <a:srgbClr val="FF0000"/>
                </a:solidFill>
              </a:rPr>
              <a:t>기간이 종료된 이후</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&gt;</a:t>
            </a:r>
            <a:r>
              <a:rPr lang="ko-KR" altLang="en-US" dirty="0" smtClean="0">
                <a:solidFill>
                  <a:srgbClr val="FF0000"/>
                </a:solidFill>
              </a:rPr>
              <a:t> 파일은 추가</a:t>
            </a:r>
            <a:r>
              <a:rPr lang="en-US" altLang="ko-KR" dirty="0" smtClean="0">
                <a:solidFill>
                  <a:srgbClr val="FF0000"/>
                </a:solidFill>
              </a:rPr>
              <a:t>, </a:t>
            </a:r>
            <a:r>
              <a:rPr lang="ko-KR" altLang="en-US" dirty="0" smtClean="0">
                <a:solidFill>
                  <a:srgbClr val="FF0000"/>
                </a:solidFill>
              </a:rPr>
              <a:t>삭제</a:t>
            </a:r>
            <a:r>
              <a:rPr lang="en-US" altLang="ko-KR" dirty="0" smtClean="0">
                <a:solidFill>
                  <a:srgbClr val="FF0000"/>
                </a:solidFill>
              </a:rPr>
              <a:t>, </a:t>
            </a:r>
            <a:r>
              <a:rPr lang="ko-KR" altLang="en-US" dirty="0" smtClean="0">
                <a:solidFill>
                  <a:srgbClr val="FF0000"/>
                </a:solidFill>
              </a:rPr>
              <a:t>저장할 수 없음</a:t>
            </a:r>
            <a:r>
              <a:rPr lang="en-US" altLang="ko-KR" dirty="0" smtClean="0"/>
              <a:t/>
            </a:r>
            <a:br>
              <a:rPr lang="en-US" altLang="ko-KR" dirty="0" smtClean="0"/>
            </a:br>
            <a:r>
              <a:rPr lang="en-US" altLang="ko-KR" dirty="0"/>
              <a:t> </a:t>
            </a:r>
            <a:r>
              <a:rPr lang="en-US" altLang="ko-KR" dirty="0" smtClean="0"/>
              <a:t> &gt; </a:t>
            </a:r>
            <a:r>
              <a:rPr lang="ko-KR" altLang="en-US" dirty="0" smtClean="0"/>
              <a:t>삭제 버튼 및 기능을 대신하여 다운로드 버튼으로 변경 노출</a:t>
            </a:r>
            <a:r>
              <a:rPr lang="en-US" altLang="ko-KR" dirty="0" smtClean="0"/>
              <a:t/>
            </a:r>
            <a:br>
              <a:rPr lang="en-US" altLang="ko-KR" dirty="0" smtClean="0"/>
            </a:br>
            <a:r>
              <a:rPr lang="en-US" altLang="ko-KR" dirty="0" smtClean="0"/>
              <a:t>  &gt; </a:t>
            </a:r>
            <a:r>
              <a:rPr lang="ko-KR" altLang="en-US" dirty="0" err="1" smtClean="0"/>
              <a:t>파일추가</a:t>
            </a:r>
            <a:r>
              <a:rPr lang="en-US" altLang="ko-KR" dirty="0" smtClean="0"/>
              <a:t>, </a:t>
            </a:r>
            <a:r>
              <a:rPr lang="ko-KR" altLang="en-US" dirty="0" smtClean="0"/>
              <a:t>저장하기 버튼은 </a:t>
            </a:r>
            <a:r>
              <a:rPr lang="ko-KR" altLang="en-US" dirty="0" err="1" smtClean="0"/>
              <a:t>숨김처리</a:t>
            </a:r>
            <a:r>
              <a:rPr lang="en-US" altLang="ko-KR" dirty="0"/>
              <a:t/>
            </a:r>
            <a:br>
              <a:rPr lang="en-US" altLang="ko-KR" dirty="0"/>
            </a:br>
            <a:r>
              <a:rPr lang="en-US" altLang="ko-KR" dirty="0"/>
              <a:t/>
            </a:r>
            <a:br>
              <a:rPr lang="en-US" altLang="ko-KR" dirty="0"/>
            </a:br>
            <a:r>
              <a:rPr lang="en-US" altLang="ko-KR" dirty="0"/>
              <a:t>- </a:t>
            </a:r>
            <a:r>
              <a:rPr lang="en-US" altLang="ko-KR" dirty="0" smtClean="0">
                <a:solidFill>
                  <a:srgbClr val="FF0000"/>
                </a:solidFill>
              </a:rPr>
              <a:t>[0818 </a:t>
            </a:r>
            <a:r>
              <a:rPr lang="ko-KR" altLang="en-US" dirty="0" smtClean="0">
                <a:solidFill>
                  <a:srgbClr val="FF0000"/>
                </a:solidFill>
              </a:rPr>
              <a:t>추가</a:t>
            </a:r>
            <a:r>
              <a:rPr lang="en-US" altLang="ko-KR" dirty="0" smtClean="0">
                <a:solidFill>
                  <a:srgbClr val="FF0000"/>
                </a:solidFill>
              </a:rPr>
              <a:t>] </a:t>
            </a:r>
            <a:r>
              <a:rPr lang="ko-KR" altLang="en-US" dirty="0" err="1" smtClean="0"/>
              <a:t>파일추가</a:t>
            </a:r>
            <a:r>
              <a:rPr lang="ko-KR" altLang="en-US" dirty="0" smtClean="0"/>
              <a:t> 버튼 클릭 시 </a:t>
            </a:r>
            <a:r>
              <a:rPr lang="ko-KR" altLang="en-US" dirty="0" err="1" smtClean="0"/>
              <a:t>캐비닛연결</a:t>
            </a:r>
            <a:r>
              <a:rPr lang="ko-KR" altLang="en-US" dirty="0" smtClean="0"/>
              <a:t> </a:t>
            </a:r>
            <a:r>
              <a:rPr lang="en-US" altLang="ko-KR" dirty="0" smtClean="0"/>
              <a:t>(MUI-BD-04-P13) </a:t>
            </a:r>
            <a:r>
              <a:rPr lang="ko-KR" altLang="en-US" dirty="0" smtClean="0"/>
              <a:t>호출</a:t>
            </a:r>
            <a:r>
              <a:rPr lang="en-US" altLang="ko-KR" dirty="0"/>
              <a:t/>
            </a:r>
            <a:br>
              <a:rPr lang="en-US" altLang="ko-KR" dirty="0"/>
            </a:br>
            <a:endParaRPr lang="en-US" altLang="ko-KR" dirty="0" smtClean="0"/>
          </a:p>
          <a:p>
            <a:pPr marL="228600" indent="-228600">
              <a:buFont typeface="+mj-ea"/>
              <a:buAutoNum type="arabicPeriod"/>
            </a:pPr>
            <a:r>
              <a:rPr lang="ko-KR" altLang="en-US" dirty="0">
                <a:solidFill>
                  <a:srgbClr val="FF0000"/>
                </a:solidFill>
              </a:rPr>
              <a:t>이행적격심사 파일을 제출하거나</a:t>
            </a:r>
            <a:r>
              <a:rPr lang="en-US" altLang="ko-KR" dirty="0">
                <a:solidFill>
                  <a:srgbClr val="FF0000"/>
                </a:solidFill>
              </a:rPr>
              <a:t>, </a:t>
            </a:r>
            <a:r>
              <a:rPr lang="ko-KR" altLang="en-US" dirty="0">
                <a:solidFill>
                  <a:srgbClr val="FF0000"/>
                </a:solidFill>
              </a:rPr>
              <a:t>기간이 종료된 이후</a:t>
            </a:r>
            <a:r>
              <a:rPr lang="en-US" altLang="ko-KR" dirty="0" smtClean="0"/>
              <a:t/>
            </a:r>
            <a:br>
              <a:rPr lang="en-US" altLang="ko-KR" dirty="0" smtClean="0"/>
            </a:br>
            <a:r>
              <a:rPr lang="en-US" altLang="ko-KR" dirty="0" smtClean="0"/>
              <a:t> - [</a:t>
            </a:r>
            <a:r>
              <a:rPr lang="ko-KR" altLang="en-US" dirty="0" smtClean="0"/>
              <a:t>이전</a:t>
            </a:r>
            <a:r>
              <a:rPr lang="en-US" altLang="ko-KR" dirty="0" smtClean="0"/>
              <a:t>], [</a:t>
            </a:r>
            <a:r>
              <a:rPr lang="ko-KR" altLang="en-US" dirty="0" smtClean="0"/>
              <a:t>제출</a:t>
            </a:r>
            <a:r>
              <a:rPr lang="en-US" altLang="ko-KR" dirty="0" smtClean="0"/>
              <a:t>]</a:t>
            </a:r>
            <a:r>
              <a:rPr lang="ko-KR" altLang="en-US" dirty="0" smtClean="0"/>
              <a:t> 버튼 및 이전 탭에서 존재하는 </a:t>
            </a:r>
            <a:r>
              <a:rPr lang="en-US" altLang="ko-KR" dirty="0" smtClean="0"/>
              <a:t>[</a:t>
            </a:r>
            <a:r>
              <a:rPr lang="ko-KR" altLang="en-US" dirty="0" smtClean="0"/>
              <a:t>이전</a:t>
            </a:r>
            <a:r>
              <a:rPr lang="en-US" altLang="ko-KR" dirty="0" smtClean="0"/>
              <a:t>], [</a:t>
            </a:r>
            <a:r>
              <a:rPr lang="ko-KR" altLang="en-US" dirty="0" smtClean="0"/>
              <a:t>다음</a:t>
            </a:r>
            <a:r>
              <a:rPr lang="en-US" altLang="ko-KR" dirty="0" smtClean="0"/>
              <a:t>] </a:t>
            </a:r>
            <a:r>
              <a:rPr lang="ko-KR" altLang="en-US" dirty="0" smtClean="0"/>
              <a:t>버튼들은</a:t>
            </a:r>
            <a:r>
              <a:rPr lang="en-US" altLang="ko-KR" dirty="0" smtClean="0"/>
              <a:t> </a:t>
            </a:r>
            <a:r>
              <a:rPr lang="ko-KR" altLang="en-US" dirty="0" smtClean="0"/>
              <a:t>모두 노출하지 않음</a:t>
            </a:r>
            <a:r>
              <a:rPr lang="en-US" altLang="ko-KR" dirty="0" smtClean="0"/>
              <a:t>.</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적격심사신청 </a:t>
            </a:r>
            <a:r>
              <a:rPr lang="en-US" altLang="ko-KR" dirty="0"/>
              <a:t>– </a:t>
            </a:r>
            <a:r>
              <a:rPr lang="ko-KR" altLang="en-US" dirty="0"/>
              <a:t>파일첨부</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적격심사상세 </a:t>
            </a:r>
            <a:r>
              <a:rPr lang="en-US" altLang="ko-KR" dirty="0"/>
              <a:t>- </a:t>
            </a:r>
            <a:r>
              <a:rPr lang="ko-KR" altLang="en-US" dirty="0"/>
              <a:t>파일첨부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MUI-BD-10-T03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파일첨부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7" name="TextBox 36">
            <a:extLst>
              <a:ext uri="{FF2B5EF4-FFF2-40B4-BE49-F238E27FC236}">
                <a16:creationId xmlns:a16="http://schemas.microsoft.com/office/drawing/2014/main" id="{FFC49AEA-2A8F-250C-A86A-A7751D9706C3}"/>
              </a:ext>
            </a:extLst>
          </p:cNvPr>
          <p:cNvSpPr txBox="1"/>
          <p:nvPr/>
        </p:nvSpPr>
        <p:spPr>
          <a:xfrm>
            <a:off x="762146" y="3260647"/>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추가첨부서류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grpSp>
        <p:nvGrpSpPr>
          <p:cNvPr id="38" name="그룹 37"/>
          <p:cNvGrpSpPr/>
          <p:nvPr/>
        </p:nvGrpSpPr>
        <p:grpSpPr>
          <a:xfrm flipV="1">
            <a:off x="3124233" y="3373978"/>
            <a:ext cx="94010" cy="47005"/>
            <a:chOff x="6812560" y="3297172"/>
            <a:chExt cx="94010" cy="47005"/>
          </a:xfrm>
        </p:grpSpPr>
        <p:cxnSp>
          <p:nvCxnSpPr>
            <p:cNvPr id="49" name="직선 연결선 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0" name="직선 연결선 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2" name="모서리가 둥근 직사각형 51"/>
          <p:cNvSpPr/>
          <p:nvPr/>
        </p:nvSpPr>
        <p:spPr>
          <a:xfrm>
            <a:off x="710315" y="228591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TextBox 52">
            <a:extLst>
              <a:ext uri="{FF2B5EF4-FFF2-40B4-BE49-F238E27FC236}">
                <a16:creationId xmlns:a16="http://schemas.microsoft.com/office/drawing/2014/main" id="{FFC49AEA-2A8F-250C-A86A-A7751D9706C3}"/>
              </a:ext>
            </a:extLst>
          </p:cNvPr>
          <p:cNvSpPr txBox="1"/>
          <p:nvPr/>
        </p:nvSpPr>
        <p:spPr>
          <a:xfrm>
            <a:off x="1210983" y="236043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4" name="TextBox 53">
            <a:extLst>
              <a:ext uri="{FF2B5EF4-FFF2-40B4-BE49-F238E27FC236}">
                <a16:creationId xmlns:a16="http://schemas.microsoft.com/office/drawing/2014/main" id="{FFC49AEA-2A8F-250C-A86A-A7751D9706C3}"/>
              </a:ext>
            </a:extLst>
          </p:cNvPr>
          <p:cNvSpPr txBox="1"/>
          <p:nvPr/>
        </p:nvSpPr>
        <p:spPr>
          <a:xfrm>
            <a:off x="788511" y="241430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56" name="모서리가 둥근 직사각형 55"/>
          <p:cNvSpPr/>
          <p:nvPr/>
        </p:nvSpPr>
        <p:spPr>
          <a:xfrm>
            <a:off x="710315" y="2692604"/>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TextBox 56">
            <a:extLst>
              <a:ext uri="{FF2B5EF4-FFF2-40B4-BE49-F238E27FC236}">
                <a16:creationId xmlns:a16="http://schemas.microsoft.com/office/drawing/2014/main" id="{FFC49AEA-2A8F-250C-A86A-A7751D9706C3}"/>
              </a:ext>
            </a:extLst>
          </p:cNvPr>
          <p:cNvSpPr txBox="1"/>
          <p:nvPr/>
        </p:nvSpPr>
        <p:spPr>
          <a:xfrm>
            <a:off x="1210983" y="2767125"/>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8" name="TextBox 57">
            <a:extLst>
              <a:ext uri="{FF2B5EF4-FFF2-40B4-BE49-F238E27FC236}">
                <a16:creationId xmlns:a16="http://schemas.microsoft.com/office/drawing/2014/main" id="{FFC49AEA-2A8F-250C-A86A-A7751D9706C3}"/>
              </a:ext>
            </a:extLst>
          </p:cNvPr>
          <p:cNvSpPr txBox="1"/>
          <p:nvPr/>
        </p:nvSpPr>
        <p:spPr>
          <a:xfrm>
            <a:off x="788511" y="282098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60" name="사각형: 둥근 모서리 15">
            <a:extLst>
              <a:ext uri="{FF2B5EF4-FFF2-40B4-BE49-F238E27FC236}">
                <a16:creationId xmlns:a16="http://schemas.microsoft.com/office/drawing/2014/main" id="{E2B61CFB-AD16-68D0-8752-50D9C5E01971}"/>
              </a:ext>
            </a:extLst>
          </p:cNvPr>
          <p:cNvSpPr/>
          <p:nvPr/>
        </p:nvSpPr>
        <p:spPr>
          <a:xfrm>
            <a:off x="710315" y="1797646"/>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63" name="TextBox 62">
            <a:extLst>
              <a:ext uri="{FF2B5EF4-FFF2-40B4-BE49-F238E27FC236}">
                <a16:creationId xmlns:a16="http://schemas.microsoft.com/office/drawing/2014/main" id="{FFC49AEA-2A8F-250C-A86A-A7751D9706C3}"/>
              </a:ext>
            </a:extLst>
          </p:cNvPr>
          <p:cNvSpPr txBox="1"/>
          <p:nvPr/>
        </p:nvSpPr>
        <p:spPr>
          <a:xfrm>
            <a:off x="1210983" y="2150800"/>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65" name="TextBox 64">
            <a:extLst>
              <a:ext uri="{FF2B5EF4-FFF2-40B4-BE49-F238E27FC236}">
                <a16:creationId xmlns:a16="http://schemas.microsoft.com/office/drawing/2014/main" id="{FFC49AEA-2A8F-250C-A86A-A7751D9706C3}"/>
              </a:ext>
            </a:extLst>
          </p:cNvPr>
          <p:cNvSpPr txBox="1"/>
          <p:nvPr/>
        </p:nvSpPr>
        <p:spPr>
          <a:xfrm>
            <a:off x="717079" y="2150800"/>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68" name="모서리가 둥근 직사각형 67"/>
          <p:cNvSpPr/>
          <p:nvPr/>
        </p:nvSpPr>
        <p:spPr>
          <a:xfrm>
            <a:off x="710315" y="400766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FFC49AEA-2A8F-250C-A86A-A7751D9706C3}"/>
              </a:ext>
            </a:extLst>
          </p:cNvPr>
          <p:cNvSpPr txBox="1"/>
          <p:nvPr/>
        </p:nvSpPr>
        <p:spPr>
          <a:xfrm>
            <a:off x="1210983" y="408218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0" name="TextBox 69">
            <a:extLst>
              <a:ext uri="{FF2B5EF4-FFF2-40B4-BE49-F238E27FC236}">
                <a16:creationId xmlns:a16="http://schemas.microsoft.com/office/drawing/2014/main" id="{FFC49AEA-2A8F-250C-A86A-A7751D9706C3}"/>
              </a:ext>
            </a:extLst>
          </p:cNvPr>
          <p:cNvSpPr txBox="1"/>
          <p:nvPr/>
        </p:nvSpPr>
        <p:spPr>
          <a:xfrm>
            <a:off x="788511" y="413605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72" name="모서리가 둥근 직사각형 71"/>
          <p:cNvSpPr/>
          <p:nvPr/>
        </p:nvSpPr>
        <p:spPr>
          <a:xfrm>
            <a:off x="710315" y="4414354"/>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a:extLst>
              <a:ext uri="{FF2B5EF4-FFF2-40B4-BE49-F238E27FC236}">
                <a16:creationId xmlns:a16="http://schemas.microsoft.com/office/drawing/2014/main" id="{FFC49AEA-2A8F-250C-A86A-A7751D9706C3}"/>
              </a:ext>
            </a:extLst>
          </p:cNvPr>
          <p:cNvSpPr txBox="1"/>
          <p:nvPr/>
        </p:nvSpPr>
        <p:spPr>
          <a:xfrm>
            <a:off x="1210983" y="4488875"/>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83" name="TextBox 82">
            <a:extLst>
              <a:ext uri="{FF2B5EF4-FFF2-40B4-BE49-F238E27FC236}">
                <a16:creationId xmlns:a16="http://schemas.microsoft.com/office/drawing/2014/main" id="{FFC49AEA-2A8F-250C-A86A-A7751D9706C3}"/>
              </a:ext>
            </a:extLst>
          </p:cNvPr>
          <p:cNvSpPr txBox="1"/>
          <p:nvPr/>
        </p:nvSpPr>
        <p:spPr>
          <a:xfrm>
            <a:off x="788511" y="454273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85" name="사각형: 둥근 모서리 15">
            <a:extLst>
              <a:ext uri="{FF2B5EF4-FFF2-40B4-BE49-F238E27FC236}">
                <a16:creationId xmlns:a16="http://schemas.microsoft.com/office/drawing/2014/main" id="{E2B61CFB-AD16-68D0-8752-50D9C5E01971}"/>
              </a:ext>
            </a:extLst>
          </p:cNvPr>
          <p:cNvSpPr/>
          <p:nvPr/>
        </p:nvSpPr>
        <p:spPr>
          <a:xfrm>
            <a:off x="710315" y="3545044"/>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86" name="TextBox 85">
            <a:extLst>
              <a:ext uri="{FF2B5EF4-FFF2-40B4-BE49-F238E27FC236}">
                <a16:creationId xmlns:a16="http://schemas.microsoft.com/office/drawing/2014/main" id="{FFC49AEA-2A8F-250C-A86A-A7751D9706C3}"/>
              </a:ext>
            </a:extLst>
          </p:cNvPr>
          <p:cNvSpPr txBox="1"/>
          <p:nvPr/>
        </p:nvSpPr>
        <p:spPr>
          <a:xfrm>
            <a:off x="1210983" y="3872550"/>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8" name="TextBox 87">
            <a:extLst>
              <a:ext uri="{FF2B5EF4-FFF2-40B4-BE49-F238E27FC236}">
                <a16:creationId xmlns:a16="http://schemas.microsoft.com/office/drawing/2014/main" id="{FFC49AEA-2A8F-250C-A86A-A7751D9706C3}"/>
              </a:ext>
            </a:extLst>
          </p:cNvPr>
          <p:cNvSpPr txBox="1"/>
          <p:nvPr/>
        </p:nvSpPr>
        <p:spPr>
          <a:xfrm>
            <a:off x="717079" y="3872550"/>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2128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타원 6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3" name="그룹 2"/>
          <p:cNvGrpSpPr/>
          <p:nvPr/>
        </p:nvGrpSpPr>
        <p:grpSpPr>
          <a:xfrm>
            <a:off x="2928637" y="2150800"/>
            <a:ext cx="324968" cy="801489"/>
            <a:chOff x="6053706" y="4232257"/>
            <a:chExt cx="324968" cy="801489"/>
          </a:xfrm>
        </p:grpSpPr>
        <p:sp>
          <p:nvSpPr>
            <p:cNvPr id="51" name="TextBox 50">
              <a:extLst>
                <a:ext uri="{FF2B5EF4-FFF2-40B4-BE49-F238E27FC236}">
                  <a16:creationId xmlns:a16="http://schemas.microsoft.com/office/drawing/2014/main" id="{FFC49AEA-2A8F-250C-A86A-A7751D9706C3}"/>
                </a:ext>
              </a:extLst>
            </p:cNvPr>
            <p:cNvSpPr txBox="1"/>
            <p:nvPr/>
          </p:nvSpPr>
          <p:spPr>
            <a:xfrm>
              <a:off x="6053706" y="4232257"/>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62" name="사각형: 둥근 모서리 15">
              <a:extLst>
                <a:ext uri="{FF2B5EF4-FFF2-40B4-BE49-F238E27FC236}">
                  <a16:creationId xmlns:a16="http://schemas.microsoft.com/office/drawing/2014/main" id="{E2B61CFB-AD16-68D0-8752-50D9C5E01971}"/>
                </a:ext>
              </a:extLst>
            </p:cNvPr>
            <p:cNvSpPr/>
            <p:nvPr/>
          </p:nvSpPr>
          <p:spPr>
            <a:xfrm>
              <a:off x="6074127" y="487886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73" name="사각형: 둥근 모서리 15">
              <a:extLst>
                <a:ext uri="{FF2B5EF4-FFF2-40B4-BE49-F238E27FC236}">
                  <a16:creationId xmlns:a16="http://schemas.microsoft.com/office/drawing/2014/main" id="{E2B61CFB-AD16-68D0-8752-50D9C5E01971}"/>
                </a:ext>
              </a:extLst>
            </p:cNvPr>
            <p:cNvSpPr/>
            <p:nvPr/>
          </p:nvSpPr>
          <p:spPr>
            <a:xfrm>
              <a:off x="6074127" y="4462070"/>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grpSp>
      <p:grpSp>
        <p:nvGrpSpPr>
          <p:cNvPr id="74" name="그룹 73"/>
          <p:cNvGrpSpPr/>
          <p:nvPr/>
        </p:nvGrpSpPr>
        <p:grpSpPr>
          <a:xfrm>
            <a:off x="2928637" y="3872550"/>
            <a:ext cx="324968" cy="801489"/>
            <a:chOff x="6053706" y="4232257"/>
            <a:chExt cx="324968" cy="801489"/>
          </a:xfrm>
        </p:grpSpPr>
        <p:sp>
          <p:nvSpPr>
            <p:cNvPr id="75" name="TextBox 74">
              <a:extLst>
                <a:ext uri="{FF2B5EF4-FFF2-40B4-BE49-F238E27FC236}">
                  <a16:creationId xmlns:a16="http://schemas.microsoft.com/office/drawing/2014/main" id="{FFC49AEA-2A8F-250C-A86A-A7751D9706C3}"/>
                </a:ext>
              </a:extLst>
            </p:cNvPr>
            <p:cNvSpPr txBox="1"/>
            <p:nvPr/>
          </p:nvSpPr>
          <p:spPr>
            <a:xfrm>
              <a:off x="6053706" y="4232257"/>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76" name="사각형: 둥근 모서리 15">
              <a:extLst>
                <a:ext uri="{FF2B5EF4-FFF2-40B4-BE49-F238E27FC236}">
                  <a16:creationId xmlns:a16="http://schemas.microsoft.com/office/drawing/2014/main" id="{E2B61CFB-AD16-68D0-8752-50D9C5E01971}"/>
                </a:ext>
              </a:extLst>
            </p:cNvPr>
            <p:cNvSpPr/>
            <p:nvPr/>
          </p:nvSpPr>
          <p:spPr>
            <a:xfrm>
              <a:off x="6074127" y="487886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77" name="사각형: 둥근 모서리 15">
              <a:extLst>
                <a:ext uri="{FF2B5EF4-FFF2-40B4-BE49-F238E27FC236}">
                  <a16:creationId xmlns:a16="http://schemas.microsoft.com/office/drawing/2014/main" id="{E2B61CFB-AD16-68D0-8752-50D9C5E01971}"/>
                </a:ext>
              </a:extLst>
            </p:cNvPr>
            <p:cNvSpPr/>
            <p:nvPr/>
          </p:nvSpPr>
          <p:spPr>
            <a:xfrm>
              <a:off x="6074127" y="4462070"/>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grpSp>
      <p:sp>
        <p:nvSpPr>
          <p:cNvPr id="55" name="사각형: 둥근 모서리 15">
            <a:extLst>
              <a:ext uri="{FF2B5EF4-FFF2-40B4-BE49-F238E27FC236}">
                <a16:creationId xmlns:a16="http://schemas.microsoft.com/office/drawing/2014/main" id="{E2B61CFB-AD16-68D0-8752-50D9C5E01971}"/>
              </a:ext>
            </a:extLst>
          </p:cNvPr>
          <p:cNvSpPr/>
          <p:nvPr/>
        </p:nvSpPr>
        <p:spPr>
          <a:xfrm>
            <a:off x="710315" y="5030908"/>
            <a:ext cx="2652742" cy="323212"/>
          </a:xfrm>
          <a:prstGeom prst="roundRect">
            <a:avLst/>
          </a:prstGeom>
          <a:solidFill>
            <a:srgbClr val="0070C0"/>
          </a:solid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900" kern="0" smtClean="0">
                <a:solidFill>
                  <a:schemeClr val="bg1"/>
                </a:solidFill>
                <a:latin typeface="맑은 고딕"/>
                <a:ea typeface="맑은 고딕" panose="020B0503020000020004" pitchFamily="50" charset="-127"/>
              </a:rPr>
              <a:t>저장히기</a:t>
            </a:r>
            <a:endParaRPr kumimoji="1" lang="en-US" sz="900" b="0" i="0" u="none" strike="noStrike" kern="0" cap="none" spc="0" normalizeH="0" baseline="0" noProof="0" dirty="0">
              <a:ln>
                <a:noFill/>
              </a:ln>
              <a:solidFill>
                <a:schemeClr val="bg1"/>
              </a:solidFill>
              <a:effectLst/>
              <a:uLnTx/>
              <a:uFillTx/>
              <a:latin typeface="맑은 고딕"/>
            </a:endParaRPr>
          </a:p>
        </p:txBody>
      </p:sp>
      <p:grpSp>
        <p:nvGrpSpPr>
          <p:cNvPr id="71" name="그룹 70"/>
          <p:cNvGrpSpPr/>
          <p:nvPr/>
        </p:nvGrpSpPr>
        <p:grpSpPr>
          <a:xfrm>
            <a:off x="675399" y="5614711"/>
            <a:ext cx="2712027" cy="617588"/>
            <a:chOff x="675399" y="5614711"/>
            <a:chExt cx="2712027" cy="617588"/>
          </a:xfrm>
        </p:grpSpPr>
        <p:sp>
          <p:nvSpPr>
            <p:cNvPr id="78" name="직사각형 77">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80"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89" name="타원 88">
            <a:extLst>
              <a:ext uri="{FF2B5EF4-FFF2-40B4-BE49-F238E27FC236}">
                <a16:creationId xmlns:a16="http://schemas.microsoft.com/office/drawing/2014/main" id="{37A7FF4F-0EAA-1463-560A-D5EC24416103}"/>
              </a:ext>
            </a:extLst>
          </p:cNvPr>
          <p:cNvSpPr/>
          <p:nvPr/>
        </p:nvSpPr>
        <p:spPr>
          <a:xfrm>
            <a:off x="571127" y="581234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250669929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7621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t>공고정보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886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지시년도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drctnYr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지시년도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신청마감일시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924314"/>
                  </a:ext>
                </a:extLst>
              </a:tr>
              <a:tr h="0">
                <a:tc>
                  <a:txBody>
                    <a:bodyPr/>
                    <a:lstStyle/>
                    <a:p>
                      <a:pPr latinLnBrk="1"/>
                      <a:r>
                        <a:rPr lang="ko-KR" altLang="en-US" sz="800" dirty="0">
                          <a:latin typeface="+mn-ea"/>
                          <a:ea typeface="+mn-ea"/>
                        </a:rPr>
                        <a:t>적용양식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cmdtyLbsvcElgbSrngCd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적용양식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0524342"/>
                  </a:ext>
                </a:extLst>
              </a:tr>
            </a:tbl>
          </a:graphicData>
        </a:graphic>
      </p:graphicFrame>
      <p:sp>
        <p:nvSpPr>
          <p:cNvPr id="2" name="TextBox 1">
            <a:extLst>
              <a:ext uri="{FF2B5EF4-FFF2-40B4-BE49-F238E27FC236}">
                <a16:creationId xmlns:a16="http://schemas.microsoft.com/office/drawing/2014/main" id="{7FD110F8-FCE4-74B6-57EF-F923AF98D986}"/>
              </a:ext>
            </a:extLst>
          </p:cNvPr>
          <p:cNvSpPr txBox="1"/>
          <p:nvPr/>
        </p:nvSpPr>
        <p:spPr>
          <a:xfrm>
            <a:off x="460676" y="4104144"/>
            <a:ext cx="220469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입찰결과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BD5C1784-D5E1-078B-8770-509B485215E2}"/>
              </a:ext>
            </a:extLst>
          </p:cNvPr>
          <p:cNvGraphicFramePr>
            <a:graphicFrameLocks noGrp="1"/>
          </p:cNvGraphicFramePr>
          <p:nvPr/>
        </p:nvGraphicFramePr>
        <p:xfrm>
          <a:off x="455558" y="4387898"/>
          <a:ext cx="8994883" cy="1285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낙찰순위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scsbdRnk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낙찰순위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투찰금액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scbrt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44750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 / (</a:t>
                      </a:r>
                      <a:r>
                        <a:rPr lang="ko-KR" altLang="en-US" sz="800" dirty="0">
                          <a:latin typeface="+mn-ea"/>
                          <a:ea typeface="+mn-ea"/>
                        </a:rPr>
                        <a:t>예정가격</a:t>
                      </a:r>
                      <a:r>
                        <a:rPr lang="en-US" altLang="ko-KR" sz="800" dirty="0">
                          <a:latin typeface="+mn-ea"/>
                          <a:ea typeface="+mn-ea"/>
                        </a:rPr>
                        <a:t>-A) * 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vlAplcnRt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a:t>
                      </a:r>
                      <a:r>
                        <a:rPr lang="ko-KR" altLang="en-US" sz="800" dirty="0">
                          <a:latin typeface="+mn-ea"/>
                          <a:ea typeface="+mn-ea"/>
                        </a:rPr>
                        <a:t>값 </a:t>
                      </a:r>
                      <a:r>
                        <a:rPr lang="ko-KR" altLang="en-US" sz="800" dirty="0" err="1">
                          <a:latin typeface="+mn-ea"/>
                          <a:ea typeface="+mn-ea"/>
                        </a:rPr>
                        <a:t>적용율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380110"/>
                  </a:ext>
                </a:extLst>
              </a:tr>
              <a:tr h="0">
                <a:tc>
                  <a:txBody>
                    <a:bodyPr/>
                    <a:lstStyle/>
                    <a:p>
                      <a:pPr latinLnBrk="1"/>
                      <a:r>
                        <a:rPr lang="ko-KR" altLang="en-US" sz="800" dirty="0">
                          <a:latin typeface="+mn-ea"/>
                          <a:ea typeface="+mn-ea"/>
                        </a:rPr>
                        <a:t>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8773227"/>
                  </a:ext>
                </a:extLst>
              </a:tr>
            </a:tbl>
          </a:graphicData>
        </a:graphic>
      </p:graphicFrame>
      <p:sp>
        <p:nvSpPr>
          <p:cNvPr id="6" name="TextBox 5">
            <a:extLst>
              <a:ext uri="{FF2B5EF4-FFF2-40B4-BE49-F238E27FC236}">
                <a16:creationId xmlns:a16="http://schemas.microsoft.com/office/drawing/2014/main" id="{31C3AF3E-24D1-8357-0AF4-2261A05B1D98}"/>
              </a:ext>
            </a:extLst>
          </p:cNvPr>
          <p:cNvSpPr txBox="1"/>
          <p:nvPr/>
        </p:nvSpPr>
        <p:spPr>
          <a:xfrm>
            <a:off x="458117" y="5804446"/>
            <a:ext cx="220469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반려사유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8760284B-065B-C479-BE5C-93CF10E527F8}"/>
              </a:ext>
            </a:extLst>
          </p:cNvPr>
          <p:cNvGraphicFramePr>
            <a:graphicFrameLocks noGrp="1"/>
          </p:cNvGraphicFramePr>
          <p:nvPr/>
        </p:nvGraphicFramePr>
        <p:xfrm>
          <a:off x="452999" y="6088200"/>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반려사유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rjctRsn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반려사유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4000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TextBox 8">
            <a:extLst>
              <a:ext uri="{FF2B5EF4-FFF2-40B4-BE49-F238E27FC236}">
                <a16:creationId xmlns:a16="http://schemas.microsoft.com/office/drawing/2014/main" id="{546C509D-7C12-6CE6-85EA-25714A5A183F}"/>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0" name="Text Box 73">
            <a:extLst>
              <a:ext uri="{FF2B5EF4-FFF2-40B4-BE49-F238E27FC236}">
                <a16:creationId xmlns:a16="http://schemas.microsoft.com/office/drawing/2014/main" id="{7025CAA2-FE61-7164-D233-5EC944EBE04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9924037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258</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96069"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t>참고서류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dlt_refDcmnt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서류명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서류명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첨부문서명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첨부문서명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파일크기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9" name="TextBox 8">
            <a:extLst>
              <a:ext uri="{FF2B5EF4-FFF2-40B4-BE49-F238E27FC236}">
                <a16:creationId xmlns:a16="http://schemas.microsoft.com/office/drawing/2014/main" id="{9C3FC40B-6DC8-16E8-DC02-74DB38C85C84}"/>
              </a:ext>
            </a:extLst>
          </p:cNvPr>
          <p:cNvSpPr txBox="1"/>
          <p:nvPr/>
        </p:nvSpPr>
        <p:spPr>
          <a:xfrm>
            <a:off x="458117" y="2001199"/>
            <a:ext cx="201233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1ED0BF1C-1208-0523-7FA9-36368FF1B1B2}"/>
              </a:ext>
            </a:extLst>
          </p:cNvPr>
          <p:cNvGraphicFramePr>
            <a:graphicFrameLocks noGrp="1"/>
          </p:cNvGraphicFramePr>
          <p:nvPr/>
        </p:nvGraphicFramePr>
        <p:xfrm>
          <a:off x="452999" y="2212402"/>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첨부파일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docId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첨부파일종류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등록된 첨부파일인 경우 조회</a:t>
                      </a:r>
                      <a:r>
                        <a:rPr lang="ko-KR" altLang="en-US" sz="800" dirty="0"/>
                        <a:t>항목으로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5526057"/>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12" name="TextBox 11">
            <a:extLst>
              <a:ext uri="{FF2B5EF4-FFF2-40B4-BE49-F238E27FC236}">
                <a16:creationId xmlns:a16="http://schemas.microsoft.com/office/drawing/2014/main" id="{9C570BBF-010C-689A-C4F8-049F61A405CB}"/>
              </a:ext>
            </a:extLst>
          </p:cNvPr>
          <p:cNvSpPr txBox="1"/>
          <p:nvPr/>
        </p:nvSpPr>
        <p:spPr>
          <a:xfrm>
            <a:off x="460676" y="3391662"/>
            <a:ext cx="2488429"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err="1">
                <a:solidFill>
                  <a:prstClr val="black"/>
                </a:solidFill>
              </a:rPr>
              <a:t>추가첨부서류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dlt_addAdoc</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EEE1F128-FEB1-7779-518D-4089B11EEE82}"/>
              </a:ext>
            </a:extLst>
          </p:cNvPr>
          <p:cNvGraphicFramePr>
            <a:graphicFrameLocks noGrp="1"/>
          </p:cNvGraphicFramePr>
          <p:nvPr/>
        </p:nvGraphicFramePr>
        <p:xfrm>
          <a:off x="455558" y="360286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추가첨부서류</a:t>
                      </a:r>
                      <a:r>
                        <a:rPr lang="ko-KR" altLang="en-US" sz="800" dirty="0">
                          <a:latin typeface="+mn-ea"/>
                          <a:ea typeface="+mn-ea"/>
                        </a:rPr>
                        <a:t>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2" name="TextBox 1">
            <a:extLst>
              <a:ext uri="{FF2B5EF4-FFF2-40B4-BE49-F238E27FC236}">
                <a16:creationId xmlns:a16="http://schemas.microsoft.com/office/drawing/2014/main" id="{B86B4A9E-316D-FEAC-B50A-F986D7EFCEC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01E69BE4-4A52-6501-3134-DD79FE97973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4379054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259</a:t>
            </a:fld>
            <a:endParaRPr lang="ko-KR" altLang="en-US" dirty="0"/>
          </a:p>
        </p:txBody>
      </p:sp>
      <p:graphicFrame>
        <p:nvGraphicFramePr>
          <p:cNvPr id="18" name="표 17">
            <a:extLst>
              <a:ext uri="{FF2B5EF4-FFF2-40B4-BE49-F238E27FC236}">
                <a16:creationId xmlns:a16="http://schemas.microsoft.com/office/drawing/2014/main" id="{39FF4FA3-2661-D5DD-9AC7-D3BD306A5181}"/>
              </a:ext>
            </a:extLst>
          </p:cNvPr>
          <p:cNvGraphicFramePr>
            <a:graphicFrameLocks noGrp="1"/>
          </p:cNvGraphicFramePr>
          <p:nvPr>
            <p:extLst/>
          </p:nvPr>
        </p:nvGraphicFramePr>
        <p:xfrm>
          <a:off x="452291" y="1014316"/>
          <a:ext cx="8995591" cy="39840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상세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9324242"/>
                  </a:ext>
                </a:extLst>
              </a:tr>
              <a:tr h="0">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공고정보</a:t>
                      </a:r>
                      <a:r>
                        <a:rPr lang="en-US" altLang="ko-KR" sz="800" dirty="0">
                          <a:latin typeface="+mn-ea"/>
                          <a:ea typeface="+mn-ea"/>
                        </a:rPr>
                        <a:t>,</a:t>
                      </a:r>
                      <a:r>
                        <a:rPr lang="ko-KR" altLang="en-US" sz="800" dirty="0">
                          <a:latin typeface="+mn-ea"/>
                          <a:ea typeface="+mn-ea"/>
                        </a:rPr>
                        <a:t> 입찰결과</a:t>
                      </a:r>
                      <a:r>
                        <a:rPr lang="en-US" altLang="ko-KR" sz="800" dirty="0">
                          <a:latin typeface="+mn-ea"/>
                          <a:ea typeface="+mn-ea"/>
                        </a:rPr>
                        <a:t>, </a:t>
                      </a:r>
                      <a:r>
                        <a:rPr lang="ko-KR" altLang="en-US" sz="800" dirty="0">
                          <a:latin typeface="+mn-ea"/>
                          <a:ea typeface="+mn-ea"/>
                        </a:rPr>
                        <a:t>반려사유</a:t>
                      </a:r>
                      <a:r>
                        <a:rPr lang="en-US" altLang="ko-KR" sz="800" dirty="0">
                          <a:latin typeface="+mn-ea"/>
                          <a:ea typeface="+mn-ea"/>
                        </a:rPr>
                        <a:t>, </a:t>
                      </a:r>
                      <a:r>
                        <a:rPr lang="ko-KR" altLang="en-US" sz="800" dirty="0">
                          <a:latin typeface="+mn-ea"/>
                          <a:ea typeface="+mn-ea"/>
                        </a:rPr>
                        <a:t>참고서류</a:t>
                      </a:r>
                      <a:r>
                        <a:rPr lang="en-US" altLang="ko-KR" sz="800" dirty="0">
                          <a:latin typeface="+mn-ea"/>
                          <a:ea typeface="+mn-ea"/>
                        </a:rPr>
                        <a:t>, </a:t>
                      </a:r>
                      <a:r>
                        <a:rPr lang="ko-KR" altLang="en-US" sz="800" dirty="0">
                          <a:latin typeface="+mn-ea"/>
                          <a:ea typeface="+mn-ea"/>
                        </a:rPr>
                        <a:t>첨부서류를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9040093"/>
                  </a:ext>
                </a:extLst>
              </a:tr>
              <a:tr h="0">
                <a:tc>
                  <a:txBody>
                    <a:bodyPr/>
                    <a:lstStyle/>
                    <a:p>
                      <a:r>
                        <a:rPr lang="ko-KR" altLang="en-US" sz="800" dirty="0"/>
                        <a:t>참고서류의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scwin.btn_atchFileNm_onclick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참고서류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4384020"/>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84753"/>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4113051"/>
                  </a:ext>
                </a:extLst>
              </a:tr>
              <a:tr h="0">
                <a:tc>
                  <a:txBody>
                    <a:bodyPr/>
                    <a:lstStyle/>
                    <a:p>
                      <a:r>
                        <a:rPr lang="ko-KR" altLang="en-US" sz="800" dirty="0"/>
                        <a:t>첨부서류의 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추가첨부서류</a:t>
                      </a:r>
                      <a:r>
                        <a:rPr lang="ko-KR" altLang="en-US" sz="800" dirty="0">
                          <a:latin typeface="+mn-ea"/>
                          <a:ea typeface="+mn-ea"/>
                        </a:rPr>
                        <a:t> 그리드의 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36001"/>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806275"/>
                  </a:ext>
                </a:extLst>
              </a:tr>
              <a:tr h="0">
                <a:tc>
                  <a:txBody>
                    <a:bodyPr/>
                    <a:lstStyle/>
                    <a:p>
                      <a:r>
                        <a:rPr lang="ko-KR" altLang="en-US" sz="800" dirty="0" err="1"/>
                        <a:t>추가첨부서류의</a:t>
                      </a:r>
                      <a:r>
                        <a:rPr lang="ko-KR" altLang="en-US" sz="800" dirty="0"/>
                        <a:t>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4206061"/>
                  </a:ext>
                </a:extLst>
              </a:tr>
              <a:tr h="0">
                <a:tc>
                  <a:txBody>
                    <a:bodyPr/>
                    <a:lstStyle/>
                    <a:p>
                      <a:r>
                        <a:rPr lang="ko-KR" altLang="en-US" sz="800" dirty="0"/>
                        <a:t>법 위반 처벌이력 확인서 양식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scwin.btn_lawVltnHstryCnfdocForm_onclick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클릭한 양식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저장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scwin.btn_strg_onclick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신청 내역 임시 저장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r h="0">
                <a:tc>
                  <a:txBody>
                    <a:bodyPr/>
                    <a:lstStyle/>
                    <a:p>
                      <a:r>
                        <a:rPr lang="ko-KR" altLang="en-US" sz="800" dirty="0"/>
                        <a:t>적격심사신청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scwin.btn_elgbSrngAply_onclick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신청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9095636"/>
                  </a:ext>
                </a:extLst>
              </a:tr>
            </a:tbl>
          </a:graphicData>
        </a:graphic>
      </p:graphicFrame>
      <p:sp>
        <p:nvSpPr>
          <p:cNvPr id="17" name="TextBox 16">
            <a:extLst>
              <a:ext uri="{FF2B5EF4-FFF2-40B4-BE49-F238E27FC236}">
                <a16:creationId xmlns:a16="http://schemas.microsoft.com/office/drawing/2014/main" id="{C27A91D1-AAE3-587F-1E4B-51AEB57A3BCD}"/>
              </a:ext>
            </a:extLst>
          </p:cNvPr>
          <p:cNvSpPr txBox="1"/>
          <p:nvPr/>
        </p:nvSpPr>
        <p:spPr>
          <a:xfrm>
            <a:off x="457408"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4" name="Text Box 73">
            <a:extLst>
              <a:ext uri="{FF2B5EF4-FFF2-40B4-BE49-F238E27FC236}">
                <a16:creationId xmlns:a16="http://schemas.microsoft.com/office/drawing/2014/main" id="{43DADA0B-DEA5-F6AA-928E-0BEB2A99876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947421087"/>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260</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15. </a:t>
            </a:r>
            <a:r>
              <a:rPr lang="ko-KR" altLang="en-US" dirty="0" smtClean="0"/>
              <a:t>이행적격심사신청</a:t>
            </a:r>
            <a:endParaRPr lang="en-US" altLang="ko-KR" dirty="0" smtClean="0"/>
          </a:p>
          <a:p>
            <a:r>
              <a:rPr lang="en-US" altLang="ko-KR" dirty="0" smtClean="0"/>
              <a:t>15.1 </a:t>
            </a:r>
            <a:r>
              <a:rPr lang="ko-KR" altLang="en-US" dirty="0"/>
              <a:t>화면 </a:t>
            </a:r>
            <a:r>
              <a:rPr lang="ko-KR" altLang="en-US" dirty="0" smtClean="0"/>
              <a:t>목록</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363271509"/>
              </p:ext>
            </p:extLst>
          </p:nvPr>
        </p:nvGraphicFramePr>
        <p:xfrm>
          <a:off x="635474" y="1413419"/>
          <a:ext cx="8701200" cy="15811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50" kern="1200" dirty="0">
                          <a:solidFill>
                            <a:schemeClr val="tx1"/>
                          </a:solidFill>
                          <a:latin typeface="+mn-ea"/>
                          <a:ea typeface="+mn-ea"/>
                          <a:cs typeface="+mn-cs"/>
                        </a:rPr>
                        <a:t>MUI-BD-11-M01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900" kern="1200" dirty="0">
                          <a:solidFill>
                            <a:schemeClr val="tx1"/>
                          </a:solidFill>
                          <a:latin typeface="+mn-ea"/>
                          <a:ea typeface="+mn-ea"/>
                          <a:cs typeface="+mn-cs"/>
                        </a:rPr>
                        <a:t>이행</a:t>
                      </a:r>
                      <a:r>
                        <a:rPr lang="en-US" altLang="ko-KR" sz="900" kern="1200" dirty="0">
                          <a:solidFill>
                            <a:schemeClr val="tx1"/>
                          </a:solidFill>
                          <a:latin typeface="+mn-ea"/>
                          <a:ea typeface="+mn-ea"/>
                          <a:cs typeface="+mn-cs"/>
                        </a:rPr>
                        <a:t>/</a:t>
                      </a:r>
                      <a:r>
                        <a:rPr lang="ko-KR" altLang="en-US" sz="900" kern="1200" dirty="0">
                          <a:solidFill>
                            <a:schemeClr val="tx1"/>
                          </a:solidFill>
                          <a:latin typeface="+mn-ea"/>
                          <a:ea typeface="+mn-ea"/>
                          <a:cs typeface="+mn-cs"/>
                        </a:rPr>
                        <a:t>적격심사신청조회</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900" kern="1200" dirty="0" err="1">
                          <a:solidFill>
                            <a:schemeClr val="tx1"/>
                          </a:solidFill>
                          <a:latin typeface="+mn-ea"/>
                          <a:ea typeface="+mn-ea"/>
                          <a:cs typeface="+mn-cs"/>
                        </a:rPr>
                        <a:t>ImpltInq</a:t>
                      </a:r>
                      <a:endParaRPr lang="en-US" sz="9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900" kern="1200" dirty="0">
                          <a:solidFill>
                            <a:schemeClr val="tx1"/>
                          </a:solidFill>
                          <a:latin typeface="+mn-ea"/>
                          <a:ea typeface="+mn-ea"/>
                          <a:cs typeface="+mn-cs"/>
                        </a:rPr>
                        <a:t>적격심사 대상 공고에 심사 </a:t>
                      </a:r>
                      <a:r>
                        <a:rPr lang="ko-KR" altLang="en-US" sz="900" kern="1200" dirty="0" smtClean="0">
                          <a:solidFill>
                            <a:schemeClr val="tx1"/>
                          </a:solidFill>
                          <a:latin typeface="+mn-ea"/>
                          <a:ea typeface="+mn-ea"/>
                          <a:cs typeface="+mn-cs"/>
                        </a:rPr>
                        <a:t>신청 조회 화면</a:t>
                      </a:r>
                      <a:endParaRPr lang="ko-KR" altLang="en-US" sz="9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smtClean="0">
                          <a:solidFill>
                            <a:schemeClr val="tx1"/>
                          </a:solidFill>
                          <a:latin typeface="+mn-ea"/>
                          <a:ea typeface="+mn-ea"/>
                        </a:rPr>
                        <a:t>Implt.tsx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1406962"/>
                  </a:ext>
                </a:extLst>
              </a:tr>
              <a:tr h="180000">
                <a:tc>
                  <a:txBody>
                    <a:bodyPr/>
                    <a:lstStyle/>
                    <a:p>
                      <a:pPr algn="ctr" fontAlgn="ctr"/>
                      <a:r>
                        <a:rPr lang="en-US" sz="750" kern="1200">
                          <a:solidFill>
                            <a:schemeClr val="tx1"/>
                          </a:solidFill>
                          <a:latin typeface="+mn-ea"/>
                          <a:ea typeface="+mn-ea"/>
                          <a:cs typeface="+mn-cs"/>
                        </a:rPr>
                        <a:t>MUI-BD-11-T01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900" kern="1200">
                          <a:solidFill>
                            <a:schemeClr val="tx1"/>
                          </a:solidFill>
                          <a:latin typeface="+mn-ea"/>
                          <a:ea typeface="+mn-ea"/>
                          <a:cs typeface="+mn-cs"/>
                        </a:rPr>
                        <a:t>1.</a:t>
                      </a:r>
                      <a:r>
                        <a:rPr lang="ko-KR" altLang="en-US" sz="900" kern="1200">
                          <a:solidFill>
                            <a:schemeClr val="tx1"/>
                          </a:solidFill>
                          <a:latin typeface="+mn-ea"/>
                          <a:ea typeface="+mn-ea"/>
                          <a:cs typeface="+mn-cs"/>
                        </a:rPr>
                        <a:t>일반정보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900" kern="1200" dirty="0">
                          <a:solidFill>
                            <a:schemeClr val="tx1"/>
                          </a:solidFill>
                          <a:latin typeface="+mn-ea"/>
                          <a:ea typeface="+mn-ea"/>
                          <a:cs typeface="+mn-cs"/>
                        </a:rPr>
                        <a:t>Implt1Inq</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900" kern="1200" dirty="0" smtClean="0">
                          <a:solidFill>
                            <a:schemeClr val="tx1"/>
                          </a:solidFill>
                          <a:latin typeface="+mn-ea"/>
                          <a:ea typeface="+mn-ea"/>
                          <a:cs typeface="+mn-cs"/>
                        </a:rPr>
                        <a:t>적격심사 대상 공고에 심사 신청 조회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/Implt1.tsx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1332442"/>
                  </a:ext>
                </a:extLst>
              </a:tr>
              <a:tr h="180000">
                <a:tc>
                  <a:txBody>
                    <a:bodyPr/>
                    <a:lstStyle/>
                    <a:p>
                      <a:pPr algn="ctr" fontAlgn="ctr"/>
                      <a:r>
                        <a:rPr lang="en-US" sz="750" kern="1200">
                          <a:solidFill>
                            <a:schemeClr val="tx1"/>
                          </a:solidFill>
                          <a:latin typeface="+mn-ea"/>
                          <a:ea typeface="+mn-ea"/>
                          <a:cs typeface="+mn-cs"/>
                        </a:rPr>
                        <a:t>MUI-BD-11-T02</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900" kern="1200">
                          <a:solidFill>
                            <a:schemeClr val="tx1"/>
                          </a:solidFill>
                          <a:latin typeface="+mn-ea"/>
                          <a:ea typeface="+mn-ea"/>
                          <a:cs typeface="+mn-cs"/>
                        </a:rPr>
                        <a:t>2.</a:t>
                      </a:r>
                      <a:r>
                        <a:rPr lang="ko-KR" altLang="en-US" sz="900" kern="1200">
                          <a:solidFill>
                            <a:schemeClr val="tx1"/>
                          </a:solidFill>
                          <a:latin typeface="+mn-ea"/>
                          <a:ea typeface="+mn-ea"/>
                          <a:cs typeface="+mn-cs"/>
                        </a:rPr>
                        <a:t>입찰</a:t>
                      </a:r>
                      <a:r>
                        <a:rPr lang="en-US" altLang="ko-KR" sz="900" kern="1200">
                          <a:solidFill>
                            <a:schemeClr val="tx1"/>
                          </a:solidFill>
                          <a:latin typeface="+mn-ea"/>
                          <a:ea typeface="+mn-ea"/>
                          <a:cs typeface="+mn-cs"/>
                        </a:rPr>
                        <a:t>/</a:t>
                      </a:r>
                      <a:r>
                        <a:rPr lang="ko-KR" altLang="en-US" sz="900" kern="1200">
                          <a:solidFill>
                            <a:schemeClr val="tx1"/>
                          </a:solidFill>
                          <a:latin typeface="+mn-ea"/>
                          <a:ea typeface="+mn-ea"/>
                          <a:cs typeface="+mn-cs"/>
                        </a:rPr>
                        <a:t>반려정보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900" kern="1200">
                          <a:solidFill>
                            <a:schemeClr val="tx1"/>
                          </a:solidFill>
                          <a:latin typeface="+mn-ea"/>
                          <a:ea typeface="+mn-ea"/>
                          <a:cs typeface="+mn-cs"/>
                        </a:rPr>
                        <a:t>Implt2Inq</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900" kern="1200" dirty="0">
                          <a:solidFill>
                            <a:schemeClr val="tx1"/>
                          </a:solidFill>
                          <a:latin typeface="+mn-ea"/>
                          <a:ea typeface="+mn-ea"/>
                          <a:cs typeface="+mn-cs"/>
                        </a:rPr>
                        <a:t>적격심사 대상 공고에 심사 </a:t>
                      </a:r>
                      <a:r>
                        <a:rPr lang="ko-KR" altLang="en-US" sz="900" kern="1200" dirty="0" smtClean="0">
                          <a:solidFill>
                            <a:schemeClr val="tx1"/>
                          </a:solidFill>
                          <a:latin typeface="+mn-ea"/>
                          <a:ea typeface="+mn-ea"/>
                          <a:cs typeface="+mn-cs"/>
                        </a:rPr>
                        <a:t>신청 조회 화면</a:t>
                      </a:r>
                      <a:endParaRPr lang="ko-KR" altLang="en-US" sz="9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/Implt2.tsx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8394604"/>
                  </a:ext>
                </a:extLst>
              </a:tr>
              <a:tr h="180000">
                <a:tc>
                  <a:txBody>
                    <a:bodyPr/>
                    <a:lstStyle/>
                    <a:p>
                      <a:pPr algn="ctr" fontAlgn="ctr"/>
                      <a:r>
                        <a:rPr lang="en-US" sz="750" kern="1200" dirty="0">
                          <a:solidFill>
                            <a:schemeClr val="tx1"/>
                          </a:solidFill>
                          <a:latin typeface="+mn-ea"/>
                          <a:ea typeface="+mn-ea"/>
                          <a:cs typeface="+mn-cs"/>
                        </a:rPr>
                        <a:t>MUI-BD-11-T03</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900" kern="1200">
                          <a:solidFill>
                            <a:schemeClr val="tx1"/>
                          </a:solidFill>
                          <a:latin typeface="+mn-ea"/>
                          <a:ea typeface="+mn-ea"/>
                          <a:cs typeface="+mn-cs"/>
                        </a:rPr>
                        <a:t>3.</a:t>
                      </a:r>
                      <a:r>
                        <a:rPr lang="ko-KR" altLang="en-US" sz="900" kern="1200">
                          <a:solidFill>
                            <a:schemeClr val="tx1"/>
                          </a:solidFill>
                          <a:latin typeface="+mn-ea"/>
                          <a:ea typeface="+mn-ea"/>
                          <a:cs typeface="+mn-cs"/>
                        </a:rPr>
                        <a:t>파일첨부</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900" kern="1200" dirty="0">
                          <a:solidFill>
                            <a:schemeClr val="tx1"/>
                          </a:solidFill>
                          <a:latin typeface="+mn-ea"/>
                          <a:ea typeface="+mn-ea"/>
                          <a:cs typeface="+mn-cs"/>
                        </a:rPr>
                        <a:t>Implt3Inq</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900" kern="1200" dirty="0">
                          <a:solidFill>
                            <a:schemeClr val="tx1"/>
                          </a:solidFill>
                          <a:latin typeface="+mn-ea"/>
                          <a:ea typeface="+mn-ea"/>
                          <a:cs typeface="+mn-cs"/>
                        </a:rPr>
                        <a:t>적격심사 대상 공고에 심사 </a:t>
                      </a:r>
                      <a:r>
                        <a:rPr lang="ko-KR" altLang="en-US" sz="900" kern="1200" dirty="0" smtClean="0">
                          <a:solidFill>
                            <a:schemeClr val="tx1"/>
                          </a:solidFill>
                          <a:latin typeface="+mn-ea"/>
                          <a:ea typeface="+mn-ea"/>
                          <a:cs typeface="+mn-cs"/>
                        </a:rPr>
                        <a:t>신청 조회 화면</a:t>
                      </a:r>
                      <a:endParaRPr lang="ko-KR" altLang="en-US" sz="9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/Implt3.tsx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4626769"/>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4060981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p:cNvSpPr/>
          <p:nvPr/>
        </p:nvSpPr>
        <p:spPr>
          <a:xfrm>
            <a:off x="722583" y="4399536"/>
            <a:ext cx="792000" cy="225639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39953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399536"/>
            <a:ext cx="670770" cy="2154436"/>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대표품명</a:t>
            </a:r>
            <a:endParaRPr lang="en-US" altLang="ko-KR" sz="700" dirty="0">
              <a:latin typeface="+mn-ea"/>
            </a:endParaRPr>
          </a:p>
          <a:p>
            <a:pPr>
              <a:lnSpc>
                <a:spcPct val="200000"/>
              </a:lnSpc>
            </a:pPr>
            <a:r>
              <a:rPr lang="ko-KR" altLang="en-US" sz="700" dirty="0" err="1">
                <a:latin typeface="+mn-ea"/>
              </a:rPr>
              <a:t>지시년도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399536"/>
            <a:ext cx="1814470" cy="2154436"/>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a:lnSpc>
                <a:spcPct val="200000"/>
              </a:lnSpc>
            </a:pPr>
            <a:r>
              <a:rPr lang="ko-KR" altLang="en-US" sz="700" dirty="0" err="1">
                <a:latin typeface="+mn-ea"/>
              </a:rPr>
              <a:t>테스트품목</a:t>
            </a:r>
            <a:endParaRPr lang="en-US" altLang="ko-KR" sz="700" dirty="0">
              <a:latin typeface="+mn-ea"/>
            </a:endParaRPr>
          </a:p>
          <a:p>
            <a:pPr>
              <a:lnSpc>
                <a:spcPct val="200000"/>
              </a:lnSpc>
            </a:pPr>
            <a:r>
              <a:rPr lang="en-US" altLang="ko-KR" sz="700" dirty="0">
                <a:latin typeface="+mn-ea"/>
              </a:rPr>
              <a:t>2025</a:t>
            </a:r>
          </a:p>
          <a:p>
            <a:pPr lvl="0">
              <a:lnSpc>
                <a:spcPct val="200000"/>
              </a:lnSpc>
            </a:pPr>
            <a:r>
              <a:rPr lang="en-US" altLang="ko-KR" sz="700" dirty="0">
                <a:latin typeface="+mn-ea"/>
              </a:rPr>
              <a:t>MST0001-1</a:t>
            </a:r>
          </a:p>
          <a:p>
            <a:pPr>
              <a:lnSpc>
                <a:spcPct val="200000"/>
              </a:lnSpc>
            </a:pPr>
            <a:r>
              <a:rPr lang="en-US" altLang="ko-KR" sz="700" dirty="0">
                <a:latin typeface="+mn-ea"/>
              </a:rPr>
              <a:t>2025MST0001</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10000</a:t>
            </a:r>
          </a:p>
          <a:p>
            <a:pPr>
              <a:lnSpc>
                <a:spcPct val="200000"/>
              </a:lnSpc>
            </a:pPr>
            <a:r>
              <a:rPr lang="en-US" altLang="ko-KR" sz="700" dirty="0">
                <a:latin typeface="+mn-ea"/>
              </a:rPr>
              <a:t>001</a:t>
            </a: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lvl="0">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6306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8443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058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2717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485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6991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9128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22583" y="60996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입찰공고 상세 화면 상단에 입찰 공고 정보 표시</a:t>
            </a:r>
            <a:r>
              <a:rPr lang="en-US" altLang="ko-KR" dirty="0"/>
              <a:t/>
            </a:r>
            <a:br>
              <a:rPr lang="en-US" altLang="ko-KR" dirty="0"/>
            </a:br>
            <a:r>
              <a:rPr lang="en-US" altLang="ko-KR" dirty="0"/>
              <a:t>1-1 – </a:t>
            </a:r>
            <a:r>
              <a:rPr lang="ko-KR" altLang="en-US" dirty="0"/>
              <a:t>최초 확장하여 목록과 동일한 정보 표시</a:t>
            </a:r>
            <a:r>
              <a:rPr lang="en-US" altLang="ko-KR" dirty="0"/>
              <a:t/>
            </a:r>
            <a:br>
              <a:rPr lang="en-US" altLang="ko-KR" dirty="0"/>
            </a:br>
            <a:r>
              <a:rPr lang="en-US" altLang="ko-KR" dirty="0"/>
              <a:t>2-2 – </a:t>
            </a:r>
            <a:r>
              <a:rPr lang="ko-KR" altLang="en-US" dirty="0"/>
              <a:t>스크롤이 발생하는 경우 최소화하여 품목</a:t>
            </a:r>
            <a:r>
              <a:rPr lang="en-US" altLang="ko-KR" dirty="0"/>
              <a:t>, </a:t>
            </a:r>
            <a:r>
              <a:rPr lang="ko-KR" altLang="en-US" dirty="0"/>
              <a:t>제목 정보만 상단 상시 노출</a:t>
            </a:r>
            <a:endParaRPr lang="en-US" altLang="ko-KR" dirty="0"/>
          </a:p>
          <a:p>
            <a:pPr marL="228600" indent="-228600">
              <a:buFont typeface="+mj-lt"/>
              <a:buAutoNum type="arabicPeriod"/>
            </a:pPr>
            <a:r>
              <a:rPr lang="ko-KR" altLang="en-US" dirty="0"/>
              <a:t>공고의 공지사항이 있는 경우 표시</a:t>
            </a:r>
            <a:r>
              <a:rPr lang="en-US" altLang="ko-KR" dirty="0"/>
              <a:t/>
            </a:r>
            <a:br>
              <a:rPr lang="en-US" altLang="ko-KR" dirty="0"/>
            </a:br>
            <a:r>
              <a:rPr lang="en-US" altLang="ko-KR" dirty="0"/>
              <a:t>- </a:t>
            </a:r>
            <a:r>
              <a:rPr lang="ko-KR" altLang="en-US" dirty="0"/>
              <a:t>공지사항은 기본으로 닫힘</a:t>
            </a:r>
            <a:r>
              <a:rPr lang="en-US" altLang="ko-KR" dirty="0"/>
              <a:t/>
            </a:r>
            <a:br>
              <a:rPr lang="en-US" altLang="ko-KR" dirty="0"/>
            </a:br>
            <a:r>
              <a:rPr lang="en-US" altLang="ko-KR" dirty="0"/>
              <a:t>- </a:t>
            </a:r>
            <a:r>
              <a:rPr lang="ko-KR" altLang="en-US" dirty="0"/>
              <a:t>클릭으로 열리고 닫힘 처리</a:t>
            </a:r>
            <a:endParaRPr lang="en-US" altLang="ko-KR" dirty="0"/>
          </a:p>
          <a:p>
            <a:pPr marL="228600" indent="-228600">
              <a:buFont typeface="+mj-lt"/>
              <a:buAutoNum type="arabicPeriod"/>
            </a:pPr>
            <a:r>
              <a:rPr lang="ko-KR" altLang="en-US" dirty="0"/>
              <a:t>탭 메뉴</a:t>
            </a:r>
            <a:r>
              <a:rPr lang="en-US" altLang="ko-KR" dirty="0"/>
              <a:t/>
            </a:r>
            <a:br>
              <a:rPr lang="en-US" altLang="ko-KR" dirty="0"/>
            </a:br>
            <a:r>
              <a:rPr lang="en-US" altLang="ko-KR" dirty="0"/>
              <a:t>- </a:t>
            </a:r>
            <a:r>
              <a:rPr lang="ko-KR" altLang="en-US" dirty="0"/>
              <a:t>좌우 </a:t>
            </a:r>
            <a:r>
              <a:rPr lang="ko-KR" altLang="en-US" dirty="0" err="1"/>
              <a:t>스와이프</a:t>
            </a:r>
            <a:r>
              <a:rPr lang="en-US" altLang="ko-KR" dirty="0"/>
              <a:t/>
            </a:r>
            <a:br>
              <a:rPr lang="en-US" altLang="ko-KR" dirty="0"/>
            </a:br>
            <a:r>
              <a:rPr lang="en-US" altLang="ko-KR" dirty="0"/>
              <a:t>- </a:t>
            </a:r>
            <a:r>
              <a:rPr lang="ko-KR" altLang="en-US" dirty="0"/>
              <a:t>좌우 이동 버튼 </a:t>
            </a:r>
            <a:r>
              <a:rPr lang="en-US" altLang="ko-KR" dirty="0"/>
              <a:t>(</a:t>
            </a:r>
            <a:r>
              <a:rPr lang="ko-KR" altLang="en-US" dirty="0"/>
              <a:t>좌우 스크롤</a:t>
            </a:r>
            <a:r>
              <a:rPr lang="en-US" altLang="ko-KR" dirty="0"/>
              <a:t>)</a:t>
            </a:r>
          </a:p>
          <a:p>
            <a:pPr marL="228600" indent="-228600">
              <a:buFont typeface="+mj-lt"/>
              <a:buAutoNum type="arabicPeriod"/>
            </a:pPr>
            <a:r>
              <a:rPr lang="ko-KR" altLang="en-US" dirty="0"/>
              <a:t>공고 내용</a:t>
            </a:r>
            <a:r>
              <a:rPr lang="en-US" altLang="ko-KR" dirty="0"/>
              <a:t/>
            </a:r>
            <a:br>
              <a:rPr lang="en-US" altLang="ko-KR" dirty="0"/>
            </a:br>
            <a:r>
              <a:rPr lang="en-US" altLang="ko-KR" dirty="0"/>
              <a:t>- </a:t>
            </a:r>
            <a:r>
              <a:rPr lang="ko-KR" altLang="en-US" dirty="0"/>
              <a:t>각 공고에 맞춰 폼 변화에 유의</a:t>
            </a:r>
            <a:r>
              <a:rPr lang="en-US" altLang="ko-KR" dirty="0"/>
              <a:t/>
            </a:r>
            <a:br>
              <a:rPr lang="en-US" altLang="ko-KR" dirty="0"/>
            </a:br>
            <a:r>
              <a:rPr lang="en-US" altLang="ko-KR" dirty="0"/>
              <a:t>- </a:t>
            </a:r>
            <a:r>
              <a:rPr lang="ko-KR" altLang="en-US" dirty="0"/>
              <a:t>노출 정보 폼 변화는 별도 입찰 공고 흐름에서 정의</a:t>
            </a:r>
            <a:endParaRPr lang="en-US" altLang="ko-KR" dirty="0"/>
          </a:p>
          <a:p>
            <a:pPr marL="228600" indent="-228600">
              <a:buFont typeface="+mj-lt"/>
              <a:buAutoNum type="arabicPeriod"/>
            </a:pPr>
            <a:r>
              <a:rPr lang="ko-KR" altLang="en-US" dirty="0"/>
              <a:t>스크롤 발생 시 변화</a:t>
            </a:r>
            <a:r>
              <a:rPr lang="en-US" altLang="ko-KR" dirty="0"/>
              <a:t/>
            </a:r>
            <a:br>
              <a:rPr lang="en-US" altLang="ko-KR" dirty="0"/>
            </a:br>
            <a:r>
              <a:rPr lang="en-US" altLang="ko-KR" dirty="0"/>
              <a:t>- </a:t>
            </a:r>
            <a:r>
              <a:rPr lang="ko-KR" altLang="en-US" dirty="0"/>
              <a:t>상단 타이틀 영역 최소화</a:t>
            </a:r>
            <a:r>
              <a:rPr lang="en-US" altLang="ko-KR" dirty="0"/>
              <a:t/>
            </a:r>
            <a:br>
              <a:rPr lang="en-US" altLang="ko-KR" dirty="0"/>
            </a:br>
            <a:r>
              <a:rPr lang="en-US" altLang="ko-KR" dirty="0"/>
              <a:t>- </a:t>
            </a:r>
            <a:r>
              <a:rPr lang="ko-KR" altLang="en-US" dirty="0"/>
              <a:t>공지사항 단계 표시기는 스크롤</a:t>
            </a:r>
            <a:r>
              <a:rPr lang="en-US" altLang="ko-KR" dirty="0"/>
              <a:t/>
            </a:r>
            <a:br>
              <a:rPr lang="en-US" altLang="ko-KR" dirty="0"/>
            </a:br>
            <a:r>
              <a:rPr lang="en-US" altLang="ko-KR" dirty="0"/>
              <a:t>- </a:t>
            </a:r>
            <a:r>
              <a:rPr lang="ko-KR" altLang="en-US" dirty="0"/>
              <a:t>스크롤 시 탭 메뉴 타이틀 </a:t>
            </a:r>
            <a:r>
              <a:rPr lang="ko-KR" altLang="en-US" dirty="0" err="1"/>
              <a:t>하단고정</a:t>
            </a:r>
            <a:r>
              <a:rPr lang="en-US" altLang="ko-KR" dirty="0"/>
              <a:t/>
            </a:r>
            <a:br>
              <a:rPr lang="en-US" altLang="ko-KR" dirty="0"/>
            </a:br>
            <a:r>
              <a:rPr lang="en-US" altLang="ko-KR" dirty="0"/>
              <a:t>  &gt; </a:t>
            </a:r>
            <a:r>
              <a:rPr lang="ko-KR" altLang="en-US" dirty="0"/>
              <a:t>현재 탭 선택 시 </a:t>
            </a:r>
            <a:r>
              <a:rPr lang="ko-KR" altLang="en-US" dirty="0" err="1"/>
              <a:t>최상단</a:t>
            </a:r>
            <a:r>
              <a:rPr lang="ko-KR" altLang="en-US" dirty="0"/>
              <a:t> 이동</a:t>
            </a:r>
            <a:r>
              <a:rPr lang="en-US" altLang="ko-KR" dirty="0"/>
              <a:t/>
            </a:r>
            <a:br>
              <a:rPr lang="en-US" altLang="ko-KR" dirty="0"/>
            </a:br>
            <a:r>
              <a:rPr lang="en-US" altLang="ko-KR" dirty="0"/>
              <a:t>- </a:t>
            </a:r>
            <a:r>
              <a:rPr lang="ko-KR" altLang="en-US" dirty="0"/>
              <a:t>탭 메뉴 하단은 전부 스크롤 </a:t>
            </a:r>
            <a:r>
              <a:rPr lang="ko-KR" altLang="en-US" dirty="0" smtClean="0"/>
              <a:t>이동</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smtClean="0"/>
              <a:t>적격심사신청조회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이행</a:t>
            </a:r>
            <a:r>
              <a:rPr lang="en-US" altLang="ko-KR" dirty="0"/>
              <a:t>/</a:t>
            </a:r>
            <a:r>
              <a:rPr lang="ko-KR" altLang="en-US" dirty="0"/>
              <a:t>적격심사를 </a:t>
            </a:r>
            <a:r>
              <a:rPr lang="ko-KR" altLang="en-US" dirty="0" err="1" smtClean="0"/>
              <a:t>신청후</a:t>
            </a:r>
            <a:r>
              <a:rPr lang="ko-KR" altLang="en-US" dirty="0" smtClean="0"/>
              <a:t> 조회하는 </a:t>
            </a:r>
            <a:r>
              <a:rPr lang="ko-KR" altLang="en-US" dirty="0"/>
              <a:t>화면</a:t>
            </a:r>
            <a:endParaRPr lang="en-US" altLang="ko-KR"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MUI-BD-11-M01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057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21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2043"/>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17108"/>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901719"/>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2397712"/>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397712"/>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2900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363130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323822"/>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35516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437153"/>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98572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769113"/>
            <a:ext cx="479756"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368330" y="3769113"/>
            <a:ext cx="711015" cy="107722"/>
          </a:xfrm>
          <a:prstGeom prst="rect">
            <a:avLst/>
          </a:prstGeom>
          <a:noFill/>
        </p:spPr>
        <p:txBody>
          <a:bodyPr wrap="square" lIns="0" tIns="0" rIns="0" bIns="0" rtlCol="0">
            <a:spAutoFit/>
          </a:bodyPr>
          <a:lstStyle/>
          <a:p>
            <a:pPr algn="ctr"/>
            <a:r>
              <a:rPr lang="en-US" altLang="ko-KR" sz="700" dirty="0">
                <a:latin typeface="+mn-ea"/>
              </a:rPr>
              <a:t>2. </a:t>
            </a:r>
            <a:r>
              <a:rPr lang="ko-KR" altLang="en-US" sz="700" dirty="0">
                <a:latin typeface="+mn-ea"/>
              </a:rPr>
              <a:t>입찰</a:t>
            </a:r>
            <a:r>
              <a:rPr lang="en-US" altLang="ko-KR" sz="700" dirty="0">
                <a:latin typeface="+mn-ea"/>
              </a:rPr>
              <a:t>/</a:t>
            </a:r>
            <a:r>
              <a:rPr lang="ko-KR" altLang="en-US" sz="700" dirty="0">
                <a:latin typeface="+mn-ea"/>
              </a:rPr>
              <a:t>반려 정보</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203749" y="3769113"/>
            <a:ext cx="479010"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파일첨부</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985720"/>
            <a:ext cx="52343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81461" y="409205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205382"/>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795734" y="150090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4" name="직선 연결선 253">
            <a:extLst>
              <a:ext uri="{FF2B5EF4-FFF2-40B4-BE49-F238E27FC236}">
                <a16:creationId xmlns:a16="http://schemas.microsoft.com/office/drawing/2014/main" id="{E9293055-D5CD-4B9E-7F64-64B2D2CA7A52}"/>
              </a:ext>
            </a:extLst>
          </p:cNvPr>
          <p:cNvCxnSpPr/>
          <p:nvPr/>
        </p:nvCxnSpPr>
        <p:spPr>
          <a:xfrm>
            <a:off x="3795734" y="195307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335516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72" name="타원 271">
            <a:extLst>
              <a:ext uri="{FF2B5EF4-FFF2-40B4-BE49-F238E27FC236}">
                <a16:creationId xmlns:a16="http://schemas.microsoft.com/office/drawing/2014/main" id="{37A7FF4F-0EAA-1463-560A-D5EC24416103}"/>
              </a:ext>
            </a:extLst>
          </p:cNvPr>
          <p:cNvSpPr/>
          <p:nvPr/>
        </p:nvSpPr>
        <p:spPr>
          <a:xfrm>
            <a:off x="571127" y="37329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73" name="타원 272">
            <a:extLst>
              <a:ext uri="{FF2B5EF4-FFF2-40B4-BE49-F238E27FC236}">
                <a16:creationId xmlns:a16="http://schemas.microsoft.com/office/drawing/2014/main" id="{37A7FF4F-0EAA-1463-560A-D5EC24416103}"/>
              </a:ext>
            </a:extLst>
          </p:cNvPr>
          <p:cNvSpPr/>
          <p:nvPr/>
        </p:nvSpPr>
        <p:spPr>
          <a:xfrm>
            <a:off x="571127" y="412270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74" name="사각형: 둥근 모서리 25">
            <a:extLst>
              <a:ext uri="{FF2B5EF4-FFF2-40B4-BE49-F238E27FC236}">
                <a16:creationId xmlns:a16="http://schemas.microsoft.com/office/drawing/2014/main" id="{D17B50F9-89DD-C80C-4195-7E69A48DBE7F}"/>
              </a:ext>
            </a:extLst>
          </p:cNvPr>
          <p:cNvSpPr/>
          <p:nvPr/>
        </p:nvSpPr>
        <p:spPr>
          <a:xfrm>
            <a:off x="439443" y="2654966"/>
            <a:ext cx="327084" cy="146280"/>
          </a:xfrm>
          <a:prstGeom prst="roundRect">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1-1</a:t>
            </a:r>
            <a:endParaRPr lang="ko-KR" altLang="en-US" sz="900" b="1"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55" name="TextBox 25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6" name="TextBox 255">
            <a:extLst>
              <a:ext uri="{FF2B5EF4-FFF2-40B4-BE49-F238E27FC236}">
                <a16:creationId xmlns:a16="http://schemas.microsoft.com/office/drawing/2014/main" id="{FFC49AEA-2A8F-250C-A86A-A7751D9706C3}"/>
              </a:ext>
            </a:extLst>
          </p:cNvPr>
          <p:cNvSpPr txBox="1"/>
          <p:nvPr/>
        </p:nvSpPr>
        <p:spPr>
          <a:xfrm>
            <a:off x="3878080" y="2020457"/>
            <a:ext cx="728875" cy="215444"/>
          </a:xfrm>
          <a:prstGeom prst="rect">
            <a:avLst/>
          </a:prstGeom>
          <a:noFill/>
        </p:spPr>
        <p:txBody>
          <a:bodyPr wrap="square" lIns="0" tIns="0" rIns="0" bIns="0" rtlCol="0">
            <a:spAutoFit/>
          </a:bodyPr>
          <a:lstStyle/>
          <a:p>
            <a:pPr>
              <a:lnSpc>
                <a:spcPct val="200000"/>
              </a:lnSpc>
            </a:pPr>
            <a:r>
              <a:rPr lang="ko-KR" altLang="en-US" sz="700" spc="-52" dirty="0" err="1">
                <a:solidFill>
                  <a:schemeClr val="tx1">
                    <a:lumMod val="75000"/>
                    <a:lumOff val="25000"/>
                  </a:schemeClr>
                </a:solidFill>
                <a:latin typeface="맑은 고딕" panose="020B0503020000020004" pitchFamily="50" charset="-127"/>
              </a:rPr>
              <a:t>참고서류</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261" name="그룹 260"/>
          <p:cNvGrpSpPr/>
          <p:nvPr/>
        </p:nvGrpSpPr>
        <p:grpSpPr>
          <a:xfrm flipV="1">
            <a:off x="6240167" y="2133788"/>
            <a:ext cx="94010" cy="47005"/>
            <a:chOff x="6812560" y="3297172"/>
            <a:chExt cx="94010" cy="47005"/>
          </a:xfrm>
        </p:grpSpPr>
        <p:cxnSp>
          <p:nvCxnSpPr>
            <p:cNvPr id="262" name="직선 연결선 2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3" name="직선 연결선 2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4" name="모서리가 둥근 직사각형 263"/>
          <p:cNvSpPr/>
          <p:nvPr/>
        </p:nvSpPr>
        <p:spPr>
          <a:xfrm>
            <a:off x="3831550" y="241884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4332218" y="2493364"/>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09746" y="254722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68" name="모서리가 둥근 직사각형 267"/>
          <p:cNvSpPr/>
          <p:nvPr/>
        </p:nvSpPr>
        <p:spPr>
          <a:xfrm>
            <a:off x="3831550" y="282552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9" name="TextBox 268">
            <a:extLst>
              <a:ext uri="{FF2B5EF4-FFF2-40B4-BE49-F238E27FC236}">
                <a16:creationId xmlns:a16="http://schemas.microsoft.com/office/drawing/2014/main" id="{FFC49AEA-2A8F-250C-A86A-A7751D9706C3}"/>
              </a:ext>
            </a:extLst>
          </p:cNvPr>
          <p:cNvSpPr txBox="1"/>
          <p:nvPr/>
        </p:nvSpPr>
        <p:spPr>
          <a:xfrm>
            <a:off x="4332218" y="290005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3909746" y="295391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332218" y="2283725"/>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3838314" y="2283725"/>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86" name="타원 285"/>
          <p:cNvSpPr/>
          <p:nvPr/>
        </p:nvSpPr>
        <p:spPr>
          <a:xfrm>
            <a:off x="6206587" y="252908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6116103" y="228733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90" name="타원 289"/>
          <p:cNvSpPr/>
          <p:nvPr/>
        </p:nvSpPr>
        <p:spPr>
          <a:xfrm>
            <a:off x="6206587" y="293577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p:cNvGrpSpPr/>
          <p:nvPr/>
        </p:nvGrpSpPr>
        <p:grpSpPr>
          <a:xfrm>
            <a:off x="2924086" y="373099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5734" y="36990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63209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2583" y="65076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3840825" y="185531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FFC49AEA-2A8F-250C-A86A-A7751D9706C3}"/>
              </a:ext>
            </a:extLst>
          </p:cNvPr>
          <p:cNvSpPr txBox="1"/>
          <p:nvPr/>
        </p:nvSpPr>
        <p:spPr>
          <a:xfrm>
            <a:off x="3884504" y="1638706"/>
            <a:ext cx="479756"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88665" y="1638706"/>
            <a:ext cx="711015" cy="107722"/>
          </a:xfrm>
          <a:prstGeom prst="rect">
            <a:avLst/>
          </a:prstGeom>
          <a:noFill/>
        </p:spPr>
        <p:txBody>
          <a:bodyPr wrap="square" lIns="0" tIns="0" rIns="0" bIns="0" rtlCol="0">
            <a:spAutoFit/>
          </a:bodyPr>
          <a:lstStyle/>
          <a:p>
            <a:pPr algn="ctr"/>
            <a:r>
              <a:rPr lang="en-US" altLang="ko-KR" sz="700" dirty="0">
                <a:latin typeface="+mn-ea"/>
              </a:rPr>
              <a:t>2. </a:t>
            </a:r>
            <a:r>
              <a:rPr lang="ko-KR" altLang="en-US" sz="700" dirty="0">
                <a:latin typeface="+mn-ea"/>
              </a:rPr>
              <a:t>입찰</a:t>
            </a:r>
            <a:r>
              <a:rPr lang="en-US" altLang="ko-KR" sz="700" dirty="0">
                <a:latin typeface="+mn-ea"/>
              </a:rPr>
              <a:t>/</a:t>
            </a:r>
            <a:r>
              <a:rPr lang="ko-KR" altLang="en-US" sz="700" dirty="0">
                <a:latin typeface="+mn-ea"/>
              </a:rPr>
              <a:t>반려 정보</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5324084" y="1638706"/>
            <a:ext cx="479010"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파일첨부</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0825" y="1855313"/>
            <a:ext cx="52343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0" name="그룹 179"/>
          <p:cNvGrpSpPr/>
          <p:nvPr/>
        </p:nvGrpSpPr>
        <p:grpSpPr>
          <a:xfrm>
            <a:off x="6044421" y="1600583"/>
            <a:ext cx="422853" cy="187961"/>
            <a:chOff x="3641308" y="2234886"/>
            <a:chExt cx="422853" cy="187961"/>
          </a:xfrm>
        </p:grpSpPr>
        <p:sp>
          <p:nvSpPr>
            <p:cNvPr id="181" name="타원 18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3" name="그룹 202"/>
            <p:cNvGrpSpPr/>
            <p:nvPr/>
          </p:nvGrpSpPr>
          <p:grpSpPr>
            <a:xfrm rot="5400000" flipH="1">
              <a:off x="3679895" y="2305364"/>
              <a:ext cx="94010" cy="47005"/>
              <a:chOff x="6812560" y="3297172"/>
              <a:chExt cx="94010" cy="47005"/>
            </a:xfrm>
          </p:grpSpPr>
          <p:cxnSp>
            <p:nvCxnSpPr>
              <p:cNvPr id="208" name="직선 연결선 2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9" name="직선 연결선 2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타원 20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rot="16200000">
              <a:off x="3931564" y="2305364"/>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36" name="모서리가 둥근 직사각형 235"/>
          <p:cNvSpPr/>
          <p:nvPr/>
        </p:nvSpPr>
        <p:spPr>
          <a:xfrm>
            <a:off x="3831550" y="323632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7" name="TextBox 236">
            <a:extLst>
              <a:ext uri="{FF2B5EF4-FFF2-40B4-BE49-F238E27FC236}">
                <a16:creationId xmlns:a16="http://schemas.microsoft.com/office/drawing/2014/main" id="{FFC49AEA-2A8F-250C-A86A-A7751D9706C3}"/>
              </a:ext>
            </a:extLst>
          </p:cNvPr>
          <p:cNvSpPr txBox="1"/>
          <p:nvPr/>
        </p:nvSpPr>
        <p:spPr>
          <a:xfrm>
            <a:off x="4332218" y="3364705"/>
            <a:ext cx="1682738" cy="107722"/>
          </a:xfrm>
          <a:prstGeom prst="rect">
            <a:avLst/>
          </a:prstGeom>
          <a:noFill/>
        </p:spPr>
        <p:txBody>
          <a:bodyPr wrap="square" lIns="0" tIns="0" rIns="0" bIns="0" rtlCol="0">
            <a:spAutoFit/>
          </a:bodyPr>
          <a:lstStyle/>
          <a:p>
            <a:r>
              <a:rPr lang="ko-KR" altLang="en-US" sz="700">
                <a:solidFill>
                  <a:schemeClr val="tx1">
                    <a:lumMod val="85000"/>
                    <a:lumOff val="15000"/>
                  </a:schemeClr>
                </a:solidFill>
                <a:latin typeface="맑은 고딕" panose="020B0503020000020004" pitchFamily="50" charset="-127"/>
              </a:rPr>
              <a:t>법 위반 </a:t>
            </a:r>
            <a:r>
              <a:rPr lang="ko-KR" altLang="en-US" sz="700" dirty="0" err="1">
                <a:solidFill>
                  <a:schemeClr val="tx1">
                    <a:lumMod val="85000"/>
                    <a:lumOff val="15000"/>
                  </a:schemeClr>
                </a:solidFill>
                <a:latin typeface="맑은 고딕" panose="020B0503020000020004" pitchFamily="50" charset="-127"/>
              </a:rPr>
              <a:t>처벌이력</a:t>
            </a:r>
            <a:r>
              <a:rPr lang="ko-KR" altLang="en-US" sz="700" dirty="0">
                <a:solidFill>
                  <a:schemeClr val="tx1">
                    <a:lumMod val="85000"/>
                    <a:lumOff val="15000"/>
                  </a:schemeClr>
                </a:solidFill>
                <a:latin typeface="맑은 고딕" panose="020B0503020000020004" pitchFamily="50" charset="-127"/>
              </a:rPr>
              <a:t> 확인서 양식</a:t>
            </a:r>
            <a:endParaRPr lang="en-US" altLang="ko-KR" sz="700" dirty="0">
              <a:solidFill>
                <a:schemeClr val="tx1">
                  <a:lumMod val="85000"/>
                  <a:lumOff val="15000"/>
                </a:schemeClr>
              </a:solidFill>
              <a:latin typeface="맑은 고딕" panose="020B0503020000020004" pitchFamily="50" charset="-127"/>
            </a:endParaRPr>
          </a:p>
        </p:txBody>
      </p:sp>
      <p:sp>
        <p:nvSpPr>
          <p:cNvPr id="238" name="TextBox 237">
            <a:extLst>
              <a:ext uri="{FF2B5EF4-FFF2-40B4-BE49-F238E27FC236}">
                <a16:creationId xmlns:a16="http://schemas.microsoft.com/office/drawing/2014/main" id="{FFC49AEA-2A8F-250C-A86A-A7751D9706C3}"/>
              </a:ext>
            </a:extLst>
          </p:cNvPr>
          <p:cNvSpPr txBox="1"/>
          <p:nvPr/>
        </p:nvSpPr>
        <p:spPr>
          <a:xfrm>
            <a:off x="3909746" y="336470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a:t>
            </a:r>
          </a:p>
        </p:txBody>
      </p:sp>
      <p:sp>
        <p:nvSpPr>
          <p:cNvPr id="239" name="타원 238"/>
          <p:cNvSpPr/>
          <p:nvPr/>
        </p:nvSpPr>
        <p:spPr>
          <a:xfrm>
            <a:off x="6206587" y="334656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4" name="그룹 123"/>
          <p:cNvGrpSpPr/>
          <p:nvPr/>
        </p:nvGrpSpPr>
        <p:grpSpPr>
          <a:xfrm>
            <a:off x="3795734" y="5614711"/>
            <a:ext cx="2712027" cy="617588"/>
            <a:chOff x="675399" y="5614711"/>
            <a:chExt cx="2712027" cy="617588"/>
          </a:xfrm>
        </p:grpSpPr>
        <p:sp>
          <p:nvSpPr>
            <p:cNvPr id="125" name="직사각형 12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34"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135" name="평행 사변형 134"/>
          <p:cNvSpPr/>
          <p:nvPr/>
        </p:nvSpPr>
        <p:spPr>
          <a:xfrm rot="16200000" flipH="1">
            <a:off x="2349649" y="2539635"/>
            <a:ext cx="2483867" cy="408308"/>
          </a:xfrm>
          <a:prstGeom prst="parallelogram">
            <a:avLst>
              <a:gd name="adj" fmla="val 499411"/>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1" name="그룹 120"/>
          <p:cNvGrpSpPr/>
          <p:nvPr/>
        </p:nvGrpSpPr>
        <p:grpSpPr>
          <a:xfrm>
            <a:off x="677960" y="1582647"/>
            <a:ext cx="2714637" cy="686386"/>
            <a:chOff x="677960" y="1582647"/>
            <a:chExt cx="2714637" cy="686386"/>
          </a:xfrm>
        </p:grpSpPr>
        <p:sp>
          <p:nvSpPr>
            <p:cNvPr id="122" name="TextBox 121">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이행</a:t>
              </a:r>
              <a:r>
                <a:rPr lang="en-US" altLang="ko-KR" sz="800" dirty="0">
                  <a:latin typeface="+mn-ea"/>
                </a:rPr>
                <a:t>/</a:t>
              </a:r>
              <a:r>
                <a:rPr lang="ko-KR" altLang="en-US" sz="800" dirty="0" smtClean="0">
                  <a:latin typeface="+mn-ea"/>
                </a:rPr>
                <a:t>적격심사 상세</a:t>
              </a:r>
              <a:endParaRPr lang="ko-KR" altLang="en-US" sz="800" dirty="0">
                <a:latin typeface="+mn-ea"/>
              </a:endParaRPr>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7" name="그룹 136"/>
            <p:cNvGrpSpPr/>
            <p:nvPr/>
          </p:nvGrpSpPr>
          <p:grpSpPr>
            <a:xfrm rot="5400000">
              <a:off x="852159" y="2062596"/>
              <a:ext cx="94010" cy="47005"/>
              <a:chOff x="6812560" y="3297172"/>
              <a:chExt cx="94010" cy="47005"/>
            </a:xfrm>
          </p:grpSpPr>
          <p:cxnSp>
            <p:nvCxnSpPr>
              <p:cNvPr id="145" name="직선 연결선 1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6" name="직선 연결선 1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38" name="그룹 137"/>
            <p:cNvGrpSpPr/>
            <p:nvPr/>
          </p:nvGrpSpPr>
          <p:grpSpPr>
            <a:xfrm>
              <a:off x="677960" y="1582647"/>
              <a:ext cx="2712027" cy="324286"/>
              <a:chOff x="677960" y="1582647"/>
              <a:chExt cx="2712027" cy="324286"/>
            </a:xfrm>
          </p:grpSpPr>
          <p:pic>
            <p:nvPicPr>
              <p:cNvPr id="140"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41" name="직선 연결선 140">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타원 141"/>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3" name="타원 142"/>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4" name="타원 143"/>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48" name="직사각형 14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err="1" smtClean="0"/>
              <a:t>화면추가</a:t>
            </a:r>
            <a:endParaRPr lang="ko-KR" altLang="en-US" dirty="0"/>
          </a:p>
        </p:txBody>
      </p:sp>
    </p:spTree>
    <p:extLst>
      <p:ext uri="{BB962C8B-B14F-4D97-AF65-F5344CB8AC3E}">
        <p14:creationId xmlns:p14="http://schemas.microsoft.com/office/powerpoint/2010/main" val="372542046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세부 항목 정보</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sz="800" dirty="0"/>
              <a:t>이행</a:t>
            </a:r>
            <a:r>
              <a:rPr lang="en-US" altLang="ko-KR" sz="800" dirty="0"/>
              <a:t>/</a:t>
            </a:r>
            <a:r>
              <a:rPr lang="ko-KR" altLang="en-US" sz="800" dirty="0" smtClean="0"/>
              <a:t>적격심사신청조회 </a:t>
            </a:r>
            <a:r>
              <a:rPr lang="en-US" altLang="ko-KR" sz="800" dirty="0" smtClean="0"/>
              <a:t>- </a:t>
            </a:r>
            <a:r>
              <a:rPr lang="ko-KR" altLang="en-US" sz="800" dirty="0"/>
              <a:t>일반정보</a:t>
            </a:r>
            <a:endParaRPr lang="ko-KR" altLang="en-US" sz="8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이행</a:t>
            </a:r>
            <a:r>
              <a:rPr lang="en-US" altLang="ko-KR" dirty="0"/>
              <a:t>/</a:t>
            </a:r>
            <a:r>
              <a:rPr lang="ko-KR" altLang="en-US" dirty="0"/>
              <a:t>적격심사 </a:t>
            </a:r>
            <a:r>
              <a:rPr lang="en-US" altLang="ko-KR" dirty="0"/>
              <a:t>- </a:t>
            </a:r>
            <a:r>
              <a:rPr lang="ko-KR" altLang="en-US" dirty="0"/>
              <a:t>일반정보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t>MUI-BD-11-T01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3323695"/>
            <a:chOff x="701175" y="1527996"/>
            <a:chExt cx="2660475" cy="3323695"/>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300323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3016210"/>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대표품명</a:t>
              </a:r>
              <a:endParaRPr lang="en-US" altLang="ko-KR" sz="700" dirty="0">
                <a:latin typeface="+mn-ea"/>
              </a:endParaRPr>
            </a:p>
            <a:p>
              <a:pPr>
                <a:lnSpc>
                  <a:spcPct val="200000"/>
                </a:lnSpc>
              </a:pPr>
              <a:r>
                <a:rPr lang="ko-KR" altLang="en-US" sz="700" dirty="0" err="1">
                  <a:latin typeface="+mn-ea"/>
                </a:rPr>
                <a:t>지시년도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신청마감일시</a:t>
              </a:r>
              <a:endParaRPr lang="en-US" altLang="ko-KR" sz="700" dirty="0">
                <a:latin typeface="+mn-ea"/>
              </a:endParaRPr>
            </a:p>
            <a:p>
              <a:pPr>
                <a:lnSpc>
                  <a:spcPct val="200000"/>
                </a:lnSpc>
              </a:pPr>
              <a:r>
                <a:rPr lang="ko-KR" altLang="en-US" sz="700" dirty="0" err="1">
                  <a:latin typeface="+mn-ea"/>
                </a:rPr>
                <a:t>적용양식</a:t>
              </a:r>
              <a:endParaRPr lang="en-US" altLang="ko-KR" sz="700" dirty="0">
                <a:latin typeface="+mn-ea"/>
              </a:endParaRPr>
            </a:p>
            <a:p>
              <a:pPr>
                <a:lnSpc>
                  <a:spcPct val="200000"/>
                </a:lnSpc>
              </a:pPr>
              <a:r>
                <a:rPr lang="ko-KR" altLang="en-US" sz="700" dirty="0">
                  <a:latin typeface="+mn-ea"/>
                </a:rPr>
                <a:t>비고</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62110" cy="2585323"/>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a:lnSpc>
                  <a:spcPct val="200000"/>
                </a:lnSpc>
              </a:pPr>
              <a:r>
                <a:rPr lang="ko-KR" altLang="en-US" sz="700" dirty="0" err="1">
                  <a:latin typeface="+mn-ea"/>
                </a:rPr>
                <a:t>테스트품목</a:t>
              </a:r>
              <a:endParaRPr lang="en-US" altLang="ko-KR" sz="700" dirty="0">
                <a:latin typeface="+mn-ea"/>
              </a:endParaRPr>
            </a:p>
            <a:p>
              <a:pPr>
                <a:lnSpc>
                  <a:spcPct val="200000"/>
                </a:lnSpc>
              </a:pPr>
              <a:r>
                <a:rPr lang="en-US" altLang="ko-KR" sz="700" dirty="0">
                  <a:latin typeface="+mn-ea"/>
                </a:rPr>
                <a:t>2025</a:t>
              </a:r>
            </a:p>
            <a:p>
              <a:pPr lvl="0">
                <a:lnSpc>
                  <a:spcPct val="200000"/>
                </a:lnSpc>
              </a:pPr>
              <a:r>
                <a:rPr lang="en-US" altLang="ko-KR" sz="700" dirty="0">
                  <a:latin typeface="+mn-ea"/>
                </a:rPr>
                <a:t>MST0001-1</a:t>
              </a:r>
            </a:p>
            <a:p>
              <a:pPr>
                <a:lnSpc>
                  <a:spcPct val="200000"/>
                </a:lnSpc>
              </a:pPr>
              <a:r>
                <a:rPr lang="en-US" altLang="ko-KR" sz="700" dirty="0">
                  <a:latin typeface="+mn-ea"/>
                </a:rPr>
                <a:t>2025MST0001</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10000</a:t>
              </a:r>
            </a:p>
            <a:p>
              <a:pPr>
                <a:lnSpc>
                  <a:spcPct val="200000"/>
                </a:lnSpc>
              </a:pPr>
              <a:r>
                <a:rPr lang="en-US" altLang="ko-KR" sz="700" dirty="0">
                  <a:latin typeface="+mn-ea"/>
                </a:rPr>
                <a:t>001</a:t>
              </a: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lvl="0">
                <a:lnSpc>
                  <a:spcPct val="200000"/>
                </a:lnSpc>
              </a:pPr>
              <a:r>
                <a:rPr lang="ko-KR" altLang="en-US" sz="700" dirty="0" err="1">
                  <a:latin typeface="+mn-ea"/>
                </a:rPr>
                <a:t>총액제</a:t>
              </a:r>
              <a:endParaRPr lang="en-US" altLang="ko-KR" sz="700" dirty="0">
                <a:latin typeface="+mn-ea"/>
              </a:endParaRPr>
            </a:p>
            <a:p>
              <a:pPr>
                <a:lnSpc>
                  <a:spcPct val="200000"/>
                </a:lnSpc>
              </a:pPr>
              <a:r>
                <a:rPr lang="en-US" altLang="ko-KR" sz="700" dirty="0">
                  <a:latin typeface="+mn-ea"/>
                </a:rPr>
                <a:t>2025-12-01 10:00</a:t>
              </a:r>
            </a:p>
            <a:p>
              <a:pPr lvl="0">
                <a:lnSpc>
                  <a:spcPct val="200000"/>
                </a:lnSpc>
              </a:pPr>
              <a:endParaRPr lang="en-US" altLang="ko-KR" sz="700" dirty="0">
                <a:latin typeface="+mn-ea"/>
              </a:endParaRPr>
            </a:p>
          </p:txBody>
        </p:sp>
        <p:grpSp>
          <p:nvGrpSpPr>
            <p:cNvPr id="17" name="그룹 16"/>
            <p:cNvGrpSpPr/>
            <p:nvPr/>
          </p:nvGrpSpPr>
          <p:grpSpPr>
            <a:xfrm>
              <a:off x="701175" y="1835481"/>
              <a:ext cx="2630093" cy="3006360"/>
              <a:chOff x="701175" y="1835481"/>
              <a:chExt cx="2630093" cy="300636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82" name="직선 연결선 81">
            <a:extLst>
              <a:ext uri="{FF2B5EF4-FFF2-40B4-BE49-F238E27FC236}">
                <a16:creationId xmlns:a16="http://schemas.microsoft.com/office/drawing/2014/main" id="{E9293055-D5CD-4B9E-7F64-64B2D2CA7A52}"/>
              </a:ext>
            </a:extLst>
          </p:cNvPr>
          <p:cNvCxnSpPr/>
          <p:nvPr/>
        </p:nvCxnSpPr>
        <p:spPr>
          <a:xfrm>
            <a:off x="3795734" y="1568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3" name="TextBox 82">
            <a:extLst>
              <a:ext uri="{FF2B5EF4-FFF2-40B4-BE49-F238E27FC236}">
                <a16:creationId xmlns:a16="http://schemas.microsoft.com/office/drawing/2014/main" id="{FFC49AEA-2A8F-250C-A86A-A7751D9706C3}"/>
              </a:ext>
            </a:extLst>
          </p:cNvPr>
          <p:cNvSpPr txBox="1"/>
          <p:nvPr/>
        </p:nvSpPr>
        <p:spPr>
          <a:xfrm>
            <a:off x="3878080" y="1635710"/>
            <a:ext cx="728875" cy="215444"/>
          </a:xfrm>
          <a:prstGeom prst="rect">
            <a:avLst/>
          </a:prstGeom>
          <a:noFill/>
        </p:spPr>
        <p:txBody>
          <a:bodyPr wrap="square" lIns="0" tIns="0" rIns="0" bIns="0" rtlCol="0">
            <a:spAutoFit/>
          </a:bodyPr>
          <a:lstStyle/>
          <a:p>
            <a:pPr>
              <a:lnSpc>
                <a:spcPct val="200000"/>
              </a:lnSpc>
            </a:pPr>
            <a:r>
              <a:rPr lang="ko-KR" altLang="en-US" sz="700" spc="-52" dirty="0" err="1">
                <a:solidFill>
                  <a:schemeClr val="tx1">
                    <a:lumMod val="75000"/>
                    <a:lumOff val="25000"/>
                  </a:schemeClr>
                </a:solidFill>
                <a:latin typeface="맑은 고딕" panose="020B0503020000020004" pitchFamily="50" charset="-127"/>
              </a:rPr>
              <a:t>참고서류</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85" name="그룹 84"/>
          <p:cNvGrpSpPr/>
          <p:nvPr/>
        </p:nvGrpSpPr>
        <p:grpSpPr>
          <a:xfrm flipV="1">
            <a:off x="6240167" y="1749041"/>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2" name="직선 연결선 9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4" name="모서리가 둥근 직사각형 93"/>
          <p:cNvSpPr/>
          <p:nvPr/>
        </p:nvSpPr>
        <p:spPr>
          <a:xfrm>
            <a:off x="3831550" y="203409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4332218" y="210861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97" name="TextBox 96">
            <a:extLst>
              <a:ext uri="{FF2B5EF4-FFF2-40B4-BE49-F238E27FC236}">
                <a16:creationId xmlns:a16="http://schemas.microsoft.com/office/drawing/2014/main" id="{FFC49AEA-2A8F-250C-A86A-A7751D9706C3}"/>
              </a:ext>
            </a:extLst>
          </p:cNvPr>
          <p:cNvSpPr txBox="1"/>
          <p:nvPr/>
        </p:nvSpPr>
        <p:spPr>
          <a:xfrm>
            <a:off x="3909746" y="216247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98" name="모서리가 둥근 직사각형 97"/>
          <p:cNvSpPr/>
          <p:nvPr/>
        </p:nvSpPr>
        <p:spPr>
          <a:xfrm>
            <a:off x="3831550" y="244078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4332218" y="251530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3909746" y="256916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4332218" y="189897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03" name="TextBox 102">
            <a:extLst>
              <a:ext uri="{FF2B5EF4-FFF2-40B4-BE49-F238E27FC236}">
                <a16:creationId xmlns:a16="http://schemas.microsoft.com/office/drawing/2014/main" id="{FFC49AEA-2A8F-250C-A86A-A7751D9706C3}"/>
              </a:ext>
            </a:extLst>
          </p:cNvPr>
          <p:cNvSpPr txBox="1"/>
          <p:nvPr/>
        </p:nvSpPr>
        <p:spPr>
          <a:xfrm>
            <a:off x="3838314" y="189897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04" name="타원 103"/>
          <p:cNvSpPr/>
          <p:nvPr/>
        </p:nvSpPr>
        <p:spPr>
          <a:xfrm>
            <a:off x="6206587" y="21443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6116103" y="1902591"/>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06" name="타원 105"/>
          <p:cNvSpPr/>
          <p:nvPr/>
        </p:nvSpPr>
        <p:spPr>
          <a:xfrm>
            <a:off x="6206587" y="255102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7" name="직선 연결선 106">
            <a:extLst>
              <a:ext uri="{FF2B5EF4-FFF2-40B4-BE49-F238E27FC236}">
                <a16:creationId xmlns:a16="http://schemas.microsoft.com/office/drawing/2014/main" id="{E9293055-D5CD-4B9E-7F64-64B2D2CA7A52}"/>
              </a:ext>
            </a:extLst>
          </p:cNvPr>
          <p:cNvCxnSpPr/>
          <p:nvPr/>
        </p:nvCxnSpPr>
        <p:spPr>
          <a:xfrm>
            <a:off x="3795734" y="330889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8" name="모서리가 둥근 직사각형 107"/>
          <p:cNvSpPr/>
          <p:nvPr/>
        </p:nvSpPr>
        <p:spPr>
          <a:xfrm>
            <a:off x="3831550" y="285157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a:extLst>
              <a:ext uri="{FF2B5EF4-FFF2-40B4-BE49-F238E27FC236}">
                <a16:creationId xmlns:a16="http://schemas.microsoft.com/office/drawing/2014/main" id="{FFC49AEA-2A8F-250C-A86A-A7751D9706C3}"/>
              </a:ext>
            </a:extLst>
          </p:cNvPr>
          <p:cNvSpPr txBox="1"/>
          <p:nvPr/>
        </p:nvSpPr>
        <p:spPr>
          <a:xfrm>
            <a:off x="4332218" y="2979958"/>
            <a:ext cx="1682738" cy="107722"/>
          </a:xfrm>
          <a:prstGeom prst="rect">
            <a:avLst/>
          </a:prstGeom>
          <a:noFill/>
        </p:spPr>
        <p:txBody>
          <a:bodyPr wrap="square" lIns="0" tIns="0" rIns="0" bIns="0" rtlCol="0">
            <a:spAutoFit/>
          </a:bodyPr>
          <a:lstStyle/>
          <a:p>
            <a:r>
              <a:rPr lang="ko-KR" altLang="en-US" sz="700">
                <a:solidFill>
                  <a:schemeClr val="tx1">
                    <a:lumMod val="85000"/>
                    <a:lumOff val="15000"/>
                  </a:schemeClr>
                </a:solidFill>
                <a:latin typeface="맑은 고딕" panose="020B0503020000020004" pitchFamily="50" charset="-127"/>
              </a:rPr>
              <a:t>법 위반 </a:t>
            </a:r>
            <a:r>
              <a:rPr lang="ko-KR" altLang="en-US" sz="700" dirty="0" err="1">
                <a:solidFill>
                  <a:schemeClr val="tx1">
                    <a:lumMod val="85000"/>
                    <a:lumOff val="15000"/>
                  </a:schemeClr>
                </a:solidFill>
                <a:latin typeface="맑은 고딕" panose="020B0503020000020004" pitchFamily="50" charset="-127"/>
              </a:rPr>
              <a:t>처벌이력</a:t>
            </a:r>
            <a:r>
              <a:rPr lang="ko-KR" altLang="en-US" sz="700" dirty="0">
                <a:solidFill>
                  <a:schemeClr val="tx1">
                    <a:lumMod val="85000"/>
                    <a:lumOff val="15000"/>
                  </a:schemeClr>
                </a:solidFill>
                <a:latin typeface="맑은 고딕" panose="020B0503020000020004" pitchFamily="50" charset="-127"/>
              </a:rPr>
              <a:t> 확인서 양식</a:t>
            </a:r>
            <a:endParaRPr lang="en-US" altLang="ko-KR" sz="700" dirty="0">
              <a:solidFill>
                <a:schemeClr val="tx1">
                  <a:lumMod val="85000"/>
                  <a:lumOff val="15000"/>
                </a:schemeClr>
              </a:solidFill>
              <a:latin typeface="맑은 고딕" panose="020B0503020000020004" pitchFamily="50" charset="-127"/>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3909746" y="297995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a:t>
            </a:r>
          </a:p>
        </p:txBody>
      </p:sp>
      <p:sp>
        <p:nvSpPr>
          <p:cNvPr id="111" name="타원 110"/>
          <p:cNvSpPr/>
          <p:nvPr/>
        </p:nvSpPr>
        <p:spPr>
          <a:xfrm>
            <a:off x="6206587" y="296181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5" name="그룹 64"/>
          <p:cNvGrpSpPr/>
          <p:nvPr/>
        </p:nvGrpSpPr>
        <p:grpSpPr>
          <a:xfrm>
            <a:off x="3795734" y="5614711"/>
            <a:ext cx="2712027" cy="617588"/>
            <a:chOff x="675399" y="5614711"/>
            <a:chExt cx="2712027" cy="617588"/>
          </a:xfrm>
        </p:grpSpPr>
        <p:sp>
          <p:nvSpPr>
            <p:cNvPr id="66" name="직사각형 6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6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61" name="직사각형 60"/>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err="1" smtClean="0"/>
              <a:t>화면추가</a:t>
            </a:r>
            <a:endParaRPr lang="ko-KR" altLang="en-US" dirty="0"/>
          </a:p>
        </p:txBody>
      </p:sp>
    </p:spTree>
    <p:extLst>
      <p:ext uri="{BB962C8B-B14F-4D97-AF65-F5344CB8AC3E}">
        <p14:creationId xmlns:p14="http://schemas.microsoft.com/office/powerpoint/2010/main" val="323875393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입찰 결과 항목 </a:t>
            </a:r>
            <a:r>
              <a:rPr lang="ko-KR" altLang="en-US" dirty="0" smtClean="0"/>
              <a:t>정보</a:t>
            </a:r>
            <a:endParaRPr lang="en-US" altLang="ko-KR" dirty="0" smtClean="0"/>
          </a:p>
          <a:p>
            <a:pPr marL="228600" indent="-228600">
              <a:buFont typeface="+mj-ea"/>
              <a:buAutoNum type="arabicPeriod"/>
            </a:pPr>
            <a:r>
              <a:rPr lang="ko-KR" altLang="en-US" dirty="0" smtClean="0"/>
              <a:t>반려 사유</a:t>
            </a:r>
            <a:r>
              <a:rPr lang="en-US" altLang="ko-KR" dirty="0" smtClean="0"/>
              <a:t/>
            </a:r>
            <a:br>
              <a:rPr lang="en-US" altLang="ko-KR" dirty="0" smtClean="0"/>
            </a:br>
            <a:r>
              <a:rPr lang="en-US" altLang="ko-KR" dirty="0" smtClean="0"/>
              <a:t>- </a:t>
            </a:r>
            <a:r>
              <a:rPr lang="ko-KR" altLang="en-US" dirty="0" smtClean="0"/>
              <a:t>사용자가 신청한 이후 관리자에 의해 반려 내용이 작성된 경우 표시되는 </a:t>
            </a:r>
            <a:r>
              <a:rPr lang="ko-KR" altLang="en-US" dirty="0" err="1" smtClean="0"/>
              <a:t>항목임</a:t>
            </a:r>
            <a:r>
              <a:rPr lang="en-US" altLang="ko-KR" dirty="0" smtClean="0"/>
              <a:t>.</a:t>
            </a:r>
            <a:br>
              <a:rPr lang="en-US" altLang="ko-KR" dirty="0" smtClean="0"/>
            </a:br>
            <a:r>
              <a:rPr lang="en-US" altLang="ko-KR" dirty="0" smtClean="0"/>
              <a:t>- </a:t>
            </a:r>
            <a:r>
              <a:rPr lang="ko-KR" altLang="en-US" dirty="0" smtClean="0"/>
              <a:t>최초 신청시점에는 표시되지 않는 항목</a:t>
            </a:r>
            <a:r>
              <a:rPr lang="en-US" altLang="ko-KR" dirty="0" smtClean="0"/>
              <a:t>.</a:t>
            </a:r>
            <a:br>
              <a:rPr lang="en-US" altLang="ko-KR" dirty="0" smtClean="0"/>
            </a:br>
            <a:r>
              <a:rPr lang="en-US" altLang="ko-KR" dirty="0" smtClean="0"/>
              <a:t>- </a:t>
            </a:r>
            <a:r>
              <a:rPr lang="ko-KR" altLang="en-US" dirty="0" smtClean="0"/>
              <a:t>내용 확인을 위한 재진입 시에도 반려 사유가 없는 경우 </a:t>
            </a:r>
            <a:r>
              <a:rPr lang="ko-KR" altLang="en-US" dirty="0" err="1" smtClean="0"/>
              <a:t>미표시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sz="800" dirty="0"/>
              <a:t>이행</a:t>
            </a:r>
            <a:r>
              <a:rPr lang="en-US" altLang="ko-KR" sz="800" dirty="0"/>
              <a:t>/</a:t>
            </a:r>
            <a:r>
              <a:rPr lang="ko-KR" altLang="en-US" sz="800" dirty="0" smtClean="0"/>
              <a:t>적격심사신청조회</a:t>
            </a:r>
            <a:r>
              <a:rPr lang="ko-KR" altLang="en-US" sz="800" dirty="0" smtClean="0">
                <a:latin typeface="+mn-ea"/>
              </a:rPr>
              <a:t> </a:t>
            </a:r>
            <a:r>
              <a:rPr lang="en-US" altLang="ko-KR" sz="800" dirty="0" smtClean="0"/>
              <a:t>– </a:t>
            </a:r>
            <a:r>
              <a:rPr lang="ko-KR" altLang="en-US" sz="800" dirty="0"/>
              <a:t>입찰</a:t>
            </a:r>
            <a:r>
              <a:rPr lang="en-US" altLang="ko-KR" sz="800" dirty="0"/>
              <a:t>/</a:t>
            </a:r>
            <a:r>
              <a:rPr lang="ko-KR" altLang="en-US" sz="800" dirty="0"/>
              <a:t>반려 정보</a:t>
            </a:r>
            <a:endParaRPr lang="ko-KR" altLang="en-US" sz="8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적격심사상세 </a:t>
            </a:r>
            <a:r>
              <a:rPr lang="en-US" altLang="ko-KR" dirty="0"/>
              <a:t>- </a:t>
            </a:r>
            <a:r>
              <a:rPr lang="ko-KR" altLang="en-US" dirty="0"/>
              <a:t>입찰</a:t>
            </a:r>
            <a:r>
              <a:rPr lang="en-US" altLang="ko-KR" dirty="0"/>
              <a:t>/</a:t>
            </a:r>
            <a:r>
              <a:rPr lang="ko-KR" altLang="en-US" dirty="0"/>
              <a:t>반려 정보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MUI-BD-11-T02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1600147"/>
            <a:chOff x="701175" y="1527996"/>
            <a:chExt cx="2630093" cy="1600147"/>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입찰결과</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1288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1292662"/>
            </a:xfrm>
            <a:prstGeom prst="rect">
              <a:avLst/>
            </a:prstGeom>
            <a:noFill/>
          </p:spPr>
          <p:txBody>
            <a:bodyPr wrap="square" lIns="0" tIns="0" rIns="0" bIns="0" rtlCol="0">
              <a:spAutoFit/>
            </a:bodyPr>
            <a:lstStyle/>
            <a:p>
              <a:pPr>
                <a:lnSpc>
                  <a:spcPct val="200000"/>
                </a:lnSpc>
              </a:pPr>
              <a:r>
                <a:rPr lang="ko-KR" altLang="en-US" sz="700" dirty="0" err="1">
                  <a:latin typeface="+mn-ea"/>
                </a:rPr>
                <a:t>낙찰순위</a:t>
              </a:r>
              <a:endParaRPr lang="en-US" altLang="ko-KR" sz="700" dirty="0">
                <a:latin typeface="+mn-ea"/>
              </a:endParaRPr>
            </a:p>
            <a:p>
              <a:pPr>
                <a:lnSpc>
                  <a:spcPct val="200000"/>
                </a:lnSpc>
              </a:pPr>
              <a:r>
                <a:rPr lang="ko-KR" altLang="en-US" sz="700" dirty="0" err="1">
                  <a:latin typeface="+mn-ea"/>
                </a:rPr>
                <a:t>투찰금액</a:t>
              </a:r>
              <a:endParaRPr lang="en-US" altLang="ko-KR" sz="700" dirty="0">
                <a:latin typeface="+mn-ea"/>
              </a:endParaRPr>
            </a:p>
            <a:p>
              <a:pPr>
                <a:lnSpc>
                  <a:spcPct val="200000"/>
                </a:lnSpc>
              </a:pPr>
              <a:r>
                <a:rPr lang="ko-KR" altLang="en-US" sz="700" dirty="0" err="1">
                  <a:latin typeface="+mn-ea"/>
                </a:rPr>
                <a:t>투찰률</a:t>
              </a:r>
              <a:endParaRPr lang="en-US" altLang="ko-KR" sz="700" dirty="0">
                <a:latin typeface="+mn-ea"/>
              </a:endParaRPr>
            </a:p>
            <a:p>
              <a:pPr>
                <a:lnSpc>
                  <a:spcPct val="200000"/>
                </a:lnSpc>
              </a:pPr>
              <a:r>
                <a:rPr lang="en-US" altLang="ko-KR" sz="700" dirty="0">
                  <a:latin typeface="+mn-ea"/>
                </a:rPr>
                <a:t>(</a:t>
              </a:r>
              <a:r>
                <a:rPr lang="ko-KR" altLang="en-US" sz="700" dirty="0">
                  <a:latin typeface="+mn-ea"/>
                </a:rPr>
                <a:t>입찰가격</a:t>
              </a:r>
              <a:r>
                <a:rPr lang="en-US" altLang="ko-KR" sz="700" dirty="0">
                  <a:latin typeface="+mn-ea"/>
                </a:rPr>
                <a:t>-A)/(</a:t>
              </a:r>
              <a:r>
                <a:rPr lang="ko-KR" altLang="en-US" sz="700" dirty="0">
                  <a:latin typeface="+mn-ea"/>
                </a:rPr>
                <a:t>예정가격</a:t>
              </a:r>
              <a:r>
                <a:rPr lang="en-US" altLang="ko-KR" sz="700" dirty="0">
                  <a:latin typeface="+mn-ea"/>
                </a:rPr>
                <a:t>-A)*100</a:t>
              </a:r>
            </a:p>
            <a:p>
              <a:pPr>
                <a:lnSpc>
                  <a:spcPct val="200000"/>
                </a:lnSpc>
              </a:pPr>
              <a:r>
                <a:rPr lang="ko-KR" altLang="en-US" sz="700" dirty="0">
                  <a:latin typeface="+mn-ea"/>
                </a:rPr>
                <a:t>상태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31728" cy="1292662"/>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순위</a:t>
              </a:r>
              <a:endParaRPr lang="en-US" altLang="ko-KR" sz="700" dirty="0">
                <a:latin typeface="+mn-ea"/>
              </a:endParaRPr>
            </a:p>
            <a:p>
              <a:pPr algn="r">
                <a:lnSpc>
                  <a:spcPct val="200000"/>
                </a:lnSpc>
              </a:pPr>
              <a:r>
                <a:rPr lang="en-US" altLang="ko-KR" sz="700" dirty="0">
                  <a:latin typeface="+mn-ea"/>
                </a:rPr>
                <a:t>89,000,000</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89.8 %</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대상통보</a:t>
              </a:r>
              <a:endParaRPr lang="en-US" altLang="ko-KR" sz="700" dirty="0">
                <a:latin typeface="+mn-ea"/>
              </a:endParaRPr>
            </a:p>
          </p:txBody>
        </p:sp>
        <p:grpSp>
          <p:nvGrpSpPr>
            <p:cNvPr id="17" name="그룹 16"/>
            <p:cNvGrpSpPr/>
            <p:nvPr/>
          </p:nvGrpSpPr>
          <p:grpSpPr>
            <a:xfrm>
              <a:off x="701175" y="1835481"/>
              <a:ext cx="2630093" cy="1288440"/>
              <a:chOff x="701175" y="1835481"/>
              <a:chExt cx="2630093" cy="12884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61" name="TextBox 60">
            <a:extLst>
              <a:ext uri="{FF2B5EF4-FFF2-40B4-BE49-F238E27FC236}">
                <a16:creationId xmlns:a16="http://schemas.microsoft.com/office/drawing/2014/main" id="{FFC49AEA-2A8F-250C-A86A-A7751D9706C3}"/>
              </a:ext>
            </a:extLst>
          </p:cNvPr>
          <p:cNvSpPr txBox="1"/>
          <p:nvPr/>
        </p:nvSpPr>
        <p:spPr>
          <a:xfrm>
            <a:off x="762146" y="3343148"/>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반려 사유</a:t>
            </a:r>
          </a:p>
        </p:txBody>
      </p:sp>
      <p:grpSp>
        <p:nvGrpSpPr>
          <p:cNvPr id="62" name="그룹 61"/>
          <p:cNvGrpSpPr/>
          <p:nvPr/>
        </p:nvGrpSpPr>
        <p:grpSpPr>
          <a:xfrm flipV="1">
            <a:off x="3124233" y="3456479"/>
            <a:ext cx="94010" cy="47005"/>
            <a:chOff x="6812560" y="3297172"/>
            <a:chExt cx="94010" cy="47005"/>
          </a:xfrm>
        </p:grpSpPr>
        <p:cxnSp>
          <p:nvCxnSpPr>
            <p:cNvPr id="73" name="직선 연결선 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4" name="직선 연결선 7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75" name="직선 연결선 74">
            <a:extLst>
              <a:ext uri="{FF2B5EF4-FFF2-40B4-BE49-F238E27FC236}">
                <a16:creationId xmlns:a16="http://schemas.microsoft.com/office/drawing/2014/main" id="{E9293055-D5CD-4B9E-7F64-64B2D2CA7A52}"/>
              </a:ext>
            </a:extLst>
          </p:cNvPr>
          <p:cNvCxnSpPr/>
          <p:nvPr/>
        </p:nvCxnSpPr>
        <p:spPr>
          <a:xfrm>
            <a:off x="675399" y="32606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6" name="직사각형 75"/>
          <p:cNvSpPr/>
          <p:nvPr/>
        </p:nvSpPr>
        <p:spPr>
          <a:xfrm>
            <a:off x="715155" y="3649760"/>
            <a:ext cx="2621844" cy="1048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804311" y="3650633"/>
            <a:ext cx="2454126" cy="181140"/>
          </a:xfrm>
          <a:prstGeom prst="rect">
            <a:avLst/>
          </a:prstGeom>
          <a:noFill/>
        </p:spPr>
        <p:txBody>
          <a:bodyPr wrap="square" lIns="0" tIns="0" rIns="0" bIns="0" rtlCol="0">
            <a:spAutoFit/>
          </a:bodyPr>
          <a:lstStyle/>
          <a:p>
            <a:pPr>
              <a:lnSpc>
                <a:spcPct val="200000"/>
              </a:lnSpc>
            </a:pPr>
            <a:r>
              <a:rPr lang="ko-KR" altLang="en-US" sz="700" dirty="0">
                <a:latin typeface="+mn-ea"/>
              </a:rPr>
              <a:t>반려 사유 표시</a:t>
            </a:r>
            <a:endParaRPr lang="en-US" altLang="ko-KR" sz="700" dirty="0">
              <a:latin typeface="+mn-ea"/>
            </a:endParaRPr>
          </a:p>
        </p:txBody>
      </p:sp>
      <p:grpSp>
        <p:nvGrpSpPr>
          <p:cNvPr id="78" name="그룹 77"/>
          <p:cNvGrpSpPr/>
          <p:nvPr/>
        </p:nvGrpSpPr>
        <p:grpSpPr>
          <a:xfrm>
            <a:off x="715155" y="3649759"/>
            <a:ext cx="2630093" cy="1048572"/>
            <a:chOff x="701175" y="1835481"/>
            <a:chExt cx="2630093" cy="1048572"/>
          </a:xfrm>
        </p:grpSpPr>
        <p:cxnSp>
          <p:nvCxnSpPr>
            <p:cNvPr id="79" name="직선 연결선 7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703268" y="28840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81" name="직선 연결선 80">
            <a:extLst>
              <a:ext uri="{FF2B5EF4-FFF2-40B4-BE49-F238E27FC236}">
                <a16:creationId xmlns:a16="http://schemas.microsoft.com/office/drawing/2014/main" id="{E9293055-D5CD-4B9E-7F64-64B2D2CA7A52}"/>
              </a:ext>
            </a:extLst>
          </p:cNvPr>
          <p:cNvCxnSpPr/>
          <p:nvPr/>
        </p:nvCxnSpPr>
        <p:spPr>
          <a:xfrm>
            <a:off x="675488" y="47867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0" name="타원 39">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45" name="그룹 44"/>
          <p:cNvGrpSpPr/>
          <p:nvPr/>
        </p:nvGrpSpPr>
        <p:grpSpPr>
          <a:xfrm>
            <a:off x="675399" y="5614711"/>
            <a:ext cx="2712027" cy="617588"/>
            <a:chOff x="675399" y="5614711"/>
            <a:chExt cx="2712027" cy="617588"/>
          </a:xfrm>
        </p:grpSpPr>
        <p:sp>
          <p:nvSpPr>
            <p:cNvPr id="46" name="직사각형 4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4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52" name="타원 51">
            <a:extLst>
              <a:ext uri="{FF2B5EF4-FFF2-40B4-BE49-F238E27FC236}">
                <a16:creationId xmlns:a16="http://schemas.microsoft.com/office/drawing/2014/main" id="{37A7FF4F-0EAA-1463-560A-D5EC24416103}"/>
              </a:ext>
            </a:extLst>
          </p:cNvPr>
          <p:cNvSpPr/>
          <p:nvPr/>
        </p:nvSpPr>
        <p:spPr>
          <a:xfrm>
            <a:off x="571127" y="33794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44" name="직사각형 4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err="1" smtClean="0"/>
              <a:t>화면추가</a:t>
            </a:r>
            <a:endParaRPr lang="ko-KR" altLang="en-US" dirty="0"/>
          </a:p>
        </p:txBody>
      </p:sp>
    </p:spTree>
    <p:extLst>
      <p:ext uri="{BB962C8B-B14F-4D97-AF65-F5344CB8AC3E}">
        <p14:creationId xmlns:p14="http://schemas.microsoft.com/office/powerpoint/2010/main" val="1451993090"/>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파일첨부</a:t>
            </a:r>
            <a:r>
              <a:rPr lang="en-US" altLang="ko-KR" dirty="0"/>
              <a:t>, </a:t>
            </a:r>
            <a:r>
              <a:rPr lang="ko-KR" altLang="en-US" dirty="0"/>
              <a:t>추가첨부서류 </a:t>
            </a:r>
            <a:r>
              <a:rPr lang="ko-KR" altLang="en-US" dirty="0" smtClean="0"/>
              <a:t>등록</a:t>
            </a:r>
            <a:r>
              <a:rPr lang="en-US" altLang="ko-KR" dirty="0" smtClean="0"/>
              <a:t/>
            </a:r>
            <a:br>
              <a:rPr lang="en-US" altLang="ko-KR" dirty="0" smtClean="0"/>
            </a:br>
            <a:r>
              <a:rPr lang="en-US" altLang="ko-KR" dirty="0" smtClean="0"/>
              <a:t>- </a:t>
            </a:r>
            <a:r>
              <a:rPr lang="ko-KR" altLang="en-US" dirty="0" err="1" smtClean="0"/>
              <a:t>파일추가한</a:t>
            </a:r>
            <a:r>
              <a:rPr lang="ko-KR" altLang="en-US" dirty="0" smtClean="0"/>
              <a:t> 내용을 저장할 수 있음</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이행적격심사 파일을 제출하거나</a:t>
            </a:r>
            <a:r>
              <a:rPr lang="en-US" altLang="ko-KR" dirty="0" smtClean="0">
                <a:solidFill>
                  <a:srgbClr val="FF0000"/>
                </a:solidFill>
              </a:rPr>
              <a:t>, </a:t>
            </a:r>
            <a:r>
              <a:rPr lang="ko-KR" altLang="en-US" dirty="0" smtClean="0">
                <a:solidFill>
                  <a:srgbClr val="FF0000"/>
                </a:solidFill>
              </a:rPr>
              <a:t>기간이 종료된 이후</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&gt;</a:t>
            </a:r>
            <a:r>
              <a:rPr lang="ko-KR" altLang="en-US" dirty="0" smtClean="0">
                <a:solidFill>
                  <a:srgbClr val="FF0000"/>
                </a:solidFill>
              </a:rPr>
              <a:t> 파일은 추가</a:t>
            </a:r>
            <a:r>
              <a:rPr lang="en-US" altLang="ko-KR" dirty="0" smtClean="0">
                <a:solidFill>
                  <a:srgbClr val="FF0000"/>
                </a:solidFill>
              </a:rPr>
              <a:t>, </a:t>
            </a:r>
            <a:r>
              <a:rPr lang="ko-KR" altLang="en-US" dirty="0" smtClean="0">
                <a:solidFill>
                  <a:srgbClr val="FF0000"/>
                </a:solidFill>
              </a:rPr>
              <a:t>삭제</a:t>
            </a:r>
            <a:r>
              <a:rPr lang="en-US" altLang="ko-KR" dirty="0" smtClean="0">
                <a:solidFill>
                  <a:srgbClr val="FF0000"/>
                </a:solidFill>
              </a:rPr>
              <a:t>, </a:t>
            </a:r>
            <a:r>
              <a:rPr lang="ko-KR" altLang="en-US" dirty="0" smtClean="0">
                <a:solidFill>
                  <a:srgbClr val="FF0000"/>
                </a:solidFill>
              </a:rPr>
              <a:t>저장할 수 없음</a:t>
            </a:r>
            <a:r>
              <a:rPr lang="en-US" altLang="ko-KR" dirty="0" smtClean="0"/>
              <a:t/>
            </a:r>
            <a:br>
              <a:rPr lang="en-US" altLang="ko-KR" dirty="0" smtClean="0"/>
            </a:br>
            <a:r>
              <a:rPr lang="en-US" altLang="ko-KR" dirty="0"/>
              <a:t> </a:t>
            </a:r>
            <a:r>
              <a:rPr lang="en-US" altLang="ko-KR" dirty="0" smtClean="0"/>
              <a:t> &gt; </a:t>
            </a:r>
            <a:r>
              <a:rPr lang="ko-KR" altLang="en-US" dirty="0" smtClean="0"/>
              <a:t>삭제 버튼 및 기능을 대신하여 다운로드 버튼으로 변경 노출</a:t>
            </a:r>
            <a:r>
              <a:rPr lang="en-US" altLang="ko-KR" dirty="0" smtClean="0"/>
              <a:t/>
            </a:r>
            <a:br>
              <a:rPr lang="en-US" altLang="ko-KR" dirty="0" smtClean="0"/>
            </a:br>
            <a:r>
              <a:rPr lang="en-US" altLang="ko-KR" dirty="0" smtClean="0"/>
              <a:t>  &gt; </a:t>
            </a:r>
            <a:r>
              <a:rPr lang="ko-KR" altLang="en-US" dirty="0" err="1" smtClean="0"/>
              <a:t>파일추가</a:t>
            </a:r>
            <a:r>
              <a:rPr lang="en-US" altLang="ko-KR" dirty="0" smtClean="0"/>
              <a:t>, </a:t>
            </a:r>
            <a:r>
              <a:rPr lang="ko-KR" altLang="en-US" dirty="0" smtClean="0"/>
              <a:t>저장하기 버튼은 </a:t>
            </a:r>
            <a:r>
              <a:rPr lang="ko-KR" altLang="en-US" dirty="0" err="1" smtClean="0"/>
              <a:t>숨김처리</a:t>
            </a:r>
            <a:endParaRPr lang="en-US" altLang="ko-KR" dirty="0" smtClean="0"/>
          </a:p>
          <a:p>
            <a:pPr marL="228600" indent="-228600">
              <a:buFont typeface="+mj-ea"/>
              <a:buAutoNum type="arabicPeriod"/>
            </a:pPr>
            <a:r>
              <a:rPr lang="ko-KR" altLang="en-US" dirty="0">
                <a:solidFill>
                  <a:srgbClr val="FF0000"/>
                </a:solidFill>
              </a:rPr>
              <a:t>이행적격심사 파일을 제출하거나</a:t>
            </a:r>
            <a:r>
              <a:rPr lang="en-US" altLang="ko-KR" dirty="0">
                <a:solidFill>
                  <a:srgbClr val="FF0000"/>
                </a:solidFill>
              </a:rPr>
              <a:t>, </a:t>
            </a:r>
            <a:r>
              <a:rPr lang="ko-KR" altLang="en-US" dirty="0">
                <a:solidFill>
                  <a:srgbClr val="FF0000"/>
                </a:solidFill>
              </a:rPr>
              <a:t>기간이 종료된 이후</a:t>
            </a:r>
            <a:r>
              <a:rPr lang="en-US" altLang="ko-KR" dirty="0" smtClean="0"/>
              <a:t/>
            </a:r>
            <a:br>
              <a:rPr lang="en-US" altLang="ko-KR" dirty="0" smtClean="0"/>
            </a:br>
            <a:r>
              <a:rPr lang="en-US" altLang="ko-KR" dirty="0" smtClean="0"/>
              <a:t> - [</a:t>
            </a:r>
            <a:r>
              <a:rPr lang="ko-KR" altLang="en-US" dirty="0" smtClean="0"/>
              <a:t>이전</a:t>
            </a:r>
            <a:r>
              <a:rPr lang="en-US" altLang="ko-KR" dirty="0" smtClean="0"/>
              <a:t>], [</a:t>
            </a:r>
            <a:r>
              <a:rPr lang="ko-KR" altLang="en-US" dirty="0" smtClean="0"/>
              <a:t>제출</a:t>
            </a:r>
            <a:r>
              <a:rPr lang="en-US" altLang="ko-KR" dirty="0" smtClean="0"/>
              <a:t>]</a:t>
            </a:r>
            <a:r>
              <a:rPr lang="ko-KR" altLang="en-US" dirty="0" smtClean="0"/>
              <a:t> 버튼 및 이전 탭에서 존재하는 </a:t>
            </a:r>
            <a:r>
              <a:rPr lang="en-US" altLang="ko-KR" dirty="0" smtClean="0"/>
              <a:t>[</a:t>
            </a:r>
            <a:r>
              <a:rPr lang="ko-KR" altLang="en-US" dirty="0" smtClean="0"/>
              <a:t>이전</a:t>
            </a:r>
            <a:r>
              <a:rPr lang="en-US" altLang="ko-KR" dirty="0" smtClean="0"/>
              <a:t>], [</a:t>
            </a:r>
            <a:r>
              <a:rPr lang="ko-KR" altLang="en-US" dirty="0" smtClean="0"/>
              <a:t>다음</a:t>
            </a:r>
            <a:r>
              <a:rPr lang="en-US" altLang="ko-KR" dirty="0" smtClean="0"/>
              <a:t>] </a:t>
            </a:r>
            <a:r>
              <a:rPr lang="ko-KR" altLang="en-US" dirty="0" smtClean="0"/>
              <a:t>버튼들은</a:t>
            </a:r>
            <a:r>
              <a:rPr lang="en-US" altLang="ko-KR" dirty="0" smtClean="0"/>
              <a:t> </a:t>
            </a:r>
            <a:r>
              <a:rPr lang="ko-KR" altLang="en-US" dirty="0" smtClean="0"/>
              <a:t>모두 노출하지 않음</a:t>
            </a:r>
            <a:r>
              <a:rPr lang="en-US" altLang="ko-KR" dirty="0" smtClean="0"/>
              <a:t>.</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smtClean="0"/>
              <a:t>적격심사신청조회</a:t>
            </a:r>
            <a:r>
              <a:rPr lang="ko-KR" altLang="en-US" dirty="0" smtClean="0">
                <a:latin typeface="+mn-ea"/>
              </a:rPr>
              <a:t> </a:t>
            </a:r>
            <a:r>
              <a:rPr lang="en-US" altLang="ko-KR" dirty="0" smtClean="0"/>
              <a:t>– </a:t>
            </a:r>
            <a:r>
              <a:rPr lang="ko-KR" altLang="en-US" dirty="0"/>
              <a:t>파일첨부</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적격심사상세 </a:t>
            </a:r>
            <a:r>
              <a:rPr lang="en-US" altLang="ko-KR" dirty="0"/>
              <a:t>- </a:t>
            </a:r>
            <a:r>
              <a:rPr lang="ko-KR" altLang="en-US" dirty="0"/>
              <a:t>파일첨부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MUI-BD-11-T03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파일첨부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7" name="TextBox 36">
            <a:extLst>
              <a:ext uri="{FF2B5EF4-FFF2-40B4-BE49-F238E27FC236}">
                <a16:creationId xmlns:a16="http://schemas.microsoft.com/office/drawing/2014/main" id="{FFC49AEA-2A8F-250C-A86A-A7751D9706C3}"/>
              </a:ext>
            </a:extLst>
          </p:cNvPr>
          <p:cNvSpPr txBox="1"/>
          <p:nvPr/>
        </p:nvSpPr>
        <p:spPr>
          <a:xfrm>
            <a:off x="762146" y="2973889"/>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추가첨부서류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grpSp>
        <p:nvGrpSpPr>
          <p:cNvPr id="38" name="그룹 37"/>
          <p:cNvGrpSpPr/>
          <p:nvPr/>
        </p:nvGrpSpPr>
        <p:grpSpPr>
          <a:xfrm flipV="1">
            <a:off x="3124233" y="3087220"/>
            <a:ext cx="94010" cy="47005"/>
            <a:chOff x="6812560" y="3297172"/>
            <a:chExt cx="94010" cy="47005"/>
          </a:xfrm>
        </p:grpSpPr>
        <p:cxnSp>
          <p:nvCxnSpPr>
            <p:cNvPr id="49" name="직선 연결선 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0" name="직선 연결선 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2" name="모서리가 둥근 직사각형 51"/>
          <p:cNvSpPr/>
          <p:nvPr/>
        </p:nvSpPr>
        <p:spPr>
          <a:xfrm>
            <a:off x="710315" y="1999160"/>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TextBox 52">
            <a:extLst>
              <a:ext uri="{FF2B5EF4-FFF2-40B4-BE49-F238E27FC236}">
                <a16:creationId xmlns:a16="http://schemas.microsoft.com/office/drawing/2014/main" id="{FFC49AEA-2A8F-250C-A86A-A7751D9706C3}"/>
              </a:ext>
            </a:extLst>
          </p:cNvPr>
          <p:cNvSpPr txBox="1"/>
          <p:nvPr/>
        </p:nvSpPr>
        <p:spPr>
          <a:xfrm>
            <a:off x="1210983" y="2073681"/>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4" name="TextBox 53">
            <a:extLst>
              <a:ext uri="{FF2B5EF4-FFF2-40B4-BE49-F238E27FC236}">
                <a16:creationId xmlns:a16="http://schemas.microsoft.com/office/drawing/2014/main" id="{FFC49AEA-2A8F-250C-A86A-A7751D9706C3}"/>
              </a:ext>
            </a:extLst>
          </p:cNvPr>
          <p:cNvSpPr txBox="1"/>
          <p:nvPr/>
        </p:nvSpPr>
        <p:spPr>
          <a:xfrm>
            <a:off x="788511" y="212754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56" name="모서리가 둥근 직사각형 55"/>
          <p:cNvSpPr/>
          <p:nvPr/>
        </p:nvSpPr>
        <p:spPr>
          <a:xfrm>
            <a:off x="710315" y="240584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TextBox 56">
            <a:extLst>
              <a:ext uri="{FF2B5EF4-FFF2-40B4-BE49-F238E27FC236}">
                <a16:creationId xmlns:a16="http://schemas.microsoft.com/office/drawing/2014/main" id="{FFC49AEA-2A8F-250C-A86A-A7751D9706C3}"/>
              </a:ext>
            </a:extLst>
          </p:cNvPr>
          <p:cNvSpPr txBox="1"/>
          <p:nvPr/>
        </p:nvSpPr>
        <p:spPr>
          <a:xfrm>
            <a:off x="1210983" y="248036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8" name="TextBox 57">
            <a:extLst>
              <a:ext uri="{FF2B5EF4-FFF2-40B4-BE49-F238E27FC236}">
                <a16:creationId xmlns:a16="http://schemas.microsoft.com/office/drawing/2014/main" id="{FFC49AEA-2A8F-250C-A86A-A7751D9706C3}"/>
              </a:ext>
            </a:extLst>
          </p:cNvPr>
          <p:cNvSpPr txBox="1"/>
          <p:nvPr/>
        </p:nvSpPr>
        <p:spPr>
          <a:xfrm>
            <a:off x="788511" y="253422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63" name="TextBox 62">
            <a:extLst>
              <a:ext uri="{FF2B5EF4-FFF2-40B4-BE49-F238E27FC236}">
                <a16:creationId xmlns:a16="http://schemas.microsoft.com/office/drawing/2014/main" id="{FFC49AEA-2A8F-250C-A86A-A7751D9706C3}"/>
              </a:ext>
            </a:extLst>
          </p:cNvPr>
          <p:cNvSpPr txBox="1"/>
          <p:nvPr/>
        </p:nvSpPr>
        <p:spPr>
          <a:xfrm>
            <a:off x="1210983" y="1864042"/>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65" name="TextBox 64">
            <a:extLst>
              <a:ext uri="{FF2B5EF4-FFF2-40B4-BE49-F238E27FC236}">
                <a16:creationId xmlns:a16="http://schemas.microsoft.com/office/drawing/2014/main" id="{FFC49AEA-2A8F-250C-A86A-A7751D9706C3}"/>
              </a:ext>
            </a:extLst>
          </p:cNvPr>
          <p:cNvSpPr txBox="1"/>
          <p:nvPr/>
        </p:nvSpPr>
        <p:spPr>
          <a:xfrm>
            <a:off x="717079" y="1864042"/>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68" name="모서리가 둥근 직사각형 67"/>
          <p:cNvSpPr/>
          <p:nvPr/>
        </p:nvSpPr>
        <p:spPr>
          <a:xfrm>
            <a:off x="710315" y="339616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FFC49AEA-2A8F-250C-A86A-A7751D9706C3}"/>
              </a:ext>
            </a:extLst>
          </p:cNvPr>
          <p:cNvSpPr txBox="1"/>
          <p:nvPr/>
        </p:nvSpPr>
        <p:spPr>
          <a:xfrm>
            <a:off x="1210983" y="3470684"/>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0" name="TextBox 69">
            <a:extLst>
              <a:ext uri="{FF2B5EF4-FFF2-40B4-BE49-F238E27FC236}">
                <a16:creationId xmlns:a16="http://schemas.microsoft.com/office/drawing/2014/main" id="{FFC49AEA-2A8F-250C-A86A-A7751D9706C3}"/>
              </a:ext>
            </a:extLst>
          </p:cNvPr>
          <p:cNvSpPr txBox="1"/>
          <p:nvPr/>
        </p:nvSpPr>
        <p:spPr>
          <a:xfrm>
            <a:off x="788511" y="352454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72" name="모서리가 둥근 직사각형 71"/>
          <p:cNvSpPr/>
          <p:nvPr/>
        </p:nvSpPr>
        <p:spPr>
          <a:xfrm>
            <a:off x="710315" y="380284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a:extLst>
              <a:ext uri="{FF2B5EF4-FFF2-40B4-BE49-F238E27FC236}">
                <a16:creationId xmlns:a16="http://schemas.microsoft.com/office/drawing/2014/main" id="{FFC49AEA-2A8F-250C-A86A-A7751D9706C3}"/>
              </a:ext>
            </a:extLst>
          </p:cNvPr>
          <p:cNvSpPr txBox="1"/>
          <p:nvPr/>
        </p:nvSpPr>
        <p:spPr>
          <a:xfrm>
            <a:off x="1210983" y="387737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83" name="TextBox 82">
            <a:extLst>
              <a:ext uri="{FF2B5EF4-FFF2-40B4-BE49-F238E27FC236}">
                <a16:creationId xmlns:a16="http://schemas.microsoft.com/office/drawing/2014/main" id="{FFC49AEA-2A8F-250C-A86A-A7751D9706C3}"/>
              </a:ext>
            </a:extLst>
          </p:cNvPr>
          <p:cNvSpPr txBox="1"/>
          <p:nvPr/>
        </p:nvSpPr>
        <p:spPr>
          <a:xfrm>
            <a:off x="788511" y="393123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86" name="TextBox 85">
            <a:extLst>
              <a:ext uri="{FF2B5EF4-FFF2-40B4-BE49-F238E27FC236}">
                <a16:creationId xmlns:a16="http://schemas.microsoft.com/office/drawing/2014/main" id="{FFC49AEA-2A8F-250C-A86A-A7751D9706C3}"/>
              </a:ext>
            </a:extLst>
          </p:cNvPr>
          <p:cNvSpPr txBox="1"/>
          <p:nvPr/>
        </p:nvSpPr>
        <p:spPr>
          <a:xfrm>
            <a:off x="1210983" y="3261045"/>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8" name="TextBox 87">
            <a:extLst>
              <a:ext uri="{FF2B5EF4-FFF2-40B4-BE49-F238E27FC236}">
                <a16:creationId xmlns:a16="http://schemas.microsoft.com/office/drawing/2014/main" id="{FFC49AEA-2A8F-250C-A86A-A7751D9706C3}"/>
              </a:ext>
            </a:extLst>
          </p:cNvPr>
          <p:cNvSpPr txBox="1"/>
          <p:nvPr/>
        </p:nvSpPr>
        <p:spPr>
          <a:xfrm>
            <a:off x="717079" y="3261045"/>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292612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타원 6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9" name="직사각형 58"/>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2026-08-03 </a:t>
            </a:r>
            <a:r>
              <a:rPr lang="ko-KR" altLang="en-US" dirty="0" err="1" smtClean="0"/>
              <a:t>화면추가</a:t>
            </a:r>
            <a:endParaRPr lang="ko-KR" altLang="en-US" dirty="0"/>
          </a:p>
        </p:txBody>
      </p:sp>
      <p:sp>
        <p:nvSpPr>
          <p:cNvPr id="36" name="타원 35"/>
          <p:cNvSpPr/>
          <p:nvPr/>
        </p:nvSpPr>
        <p:spPr>
          <a:xfrm>
            <a:off x="3105725" y="21443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TextBox 38">
            <a:extLst>
              <a:ext uri="{FF2B5EF4-FFF2-40B4-BE49-F238E27FC236}">
                <a16:creationId xmlns:a16="http://schemas.microsoft.com/office/drawing/2014/main" id="{FFC49AEA-2A8F-250C-A86A-A7751D9706C3}"/>
              </a:ext>
            </a:extLst>
          </p:cNvPr>
          <p:cNvSpPr txBox="1"/>
          <p:nvPr/>
        </p:nvSpPr>
        <p:spPr>
          <a:xfrm>
            <a:off x="3015241" y="1902591"/>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40" name="타원 39"/>
          <p:cNvSpPr/>
          <p:nvPr/>
        </p:nvSpPr>
        <p:spPr>
          <a:xfrm>
            <a:off x="3105725" y="255102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105725" y="3501698"/>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FFC49AEA-2A8F-250C-A86A-A7751D9706C3}"/>
              </a:ext>
            </a:extLst>
          </p:cNvPr>
          <p:cNvSpPr txBox="1"/>
          <p:nvPr/>
        </p:nvSpPr>
        <p:spPr>
          <a:xfrm>
            <a:off x="3015241" y="3259950"/>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44" name="타원 43"/>
          <p:cNvSpPr/>
          <p:nvPr/>
        </p:nvSpPr>
        <p:spPr>
          <a:xfrm>
            <a:off x="3105725" y="390838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5" name="그룹 44"/>
          <p:cNvGrpSpPr/>
          <p:nvPr/>
        </p:nvGrpSpPr>
        <p:grpSpPr>
          <a:xfrm>
            <a:off x="675399" y="5614711"/>
            <a:ext cx="2712027" cy="617588"/>
            <a:chOff x="675399" y="5614711"/>
            <a:chExt cx="2712027" cy="617588"/>
          </a:xfrm>
        </p:grpSpPr>
        <p:sp>
          <p:nvSpPr>
            <p:cNvPr id="46" name="직사각형 4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4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3484076121"/>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7621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t>공고정보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886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지시년도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drctnYr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지시년도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신청마감일시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924314"/>
                  </a:ext>
                </a:extLst>
              </a:tr>
              <a:tr h="0">
                <a:tc>
                  <a:txBody>
                    <a:bodyPr/>
                    <a:lstStyle/>
                    <a:p>
                      <a:pPr latinLnBrk="1"/>
                      <a:r>
                        <a:rPr lang="ko-KR" altLang="en-US" sz="800" dirty="0">
                          <a:latin typeface="+mn-ea"/>
                          <a:ea typeface="+mn-ea"/>
                        </a:rPr>
                        <a:t>적용양식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cmdtyLbsvcElgbSrngCd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적용양식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0524342"/>
                  </a:ext>
                </a:extLst>
              </a:tr>
            </a:tbl>
          </a:graphicData>
        </a:graphic>
      </p:graphicFrame>
      <p:sp>
        <p:nvSpPr>
          <p:cNvPr id="2" name="TextBox 1">
            <a:extLst>
              <a:ext uri="{FF2B5EF4-FFF2-40B4-BE49-F238E27FC236}">
                <a16:creationId xmlns:a16="http://schemas.microsoft.com/office/drawing/2014/main" id="{7FD110F8-FCE4-74B6-57EF-F923AF98D986}"/>
              </a:ext>
            </a:extLst>
          </p:cNvPr>
          <p:cNvSpPr txBox="1"/>
          <p:nvPr/>
        </p:nvSpPr>
        <p:spPr>
          <a:xfrm>
            <a:off x="460676" y="4104144"/>
            <a:ext cx="220469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입찰결과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BD5C1784-D5E1-078B-8770-509B485215E2}"/>
              </a:ext>
            </a:extLst>
          </p:cNvPr>
          <p:cNvGraphicFramePr>
            <a:graphicFrameLocks noGrp="1"/>
          </p:cNvGraphicFramePr>
          <p:nvPr/>
        </p:nvGraphicFramePr>
        <p:xfrm>
          <a:off x="455558" y="4387898"/>
          <a:ext cx="8994883" cy="1285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낙찰순위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scsbdRnk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낙찰순위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투찰금액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scbrt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44750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 / (</a:t>
                      </a:r>
                      <a:r>
                        <a:rPr lang="ko-KR" altLang="en-US" sz="800" dirty="0">
                          <a:latin typeface="+mn-ea"/>
                          <a:ea typeface="+mn-ea"/>
                        </a:rPr>
                        <a:t>예정가격</a:t>
                      </a:r>
                      <a:r>
                        <a:rPr lang="en-US" altLang="ko-KR" sz="800" dirty="0">
                          <a:latin typeface="+mn-ea"/>
                          <a:ea typeface="+mn-ea"/>
                        </a:rPr>
                        <a:t>-A) * 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vlAplcnRt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a:t>
                      </a:r>
                      <a:r>
                        <a:rPr lang="ko-KR" altLang="en-US" sz="800" dirty="0">
                          <a:latin typeface="+mn-ea"/>
                          <a:ea typeface="+mn-ea"/>
                        </a:rPr>
                        <a:t>값 </a:t>
                      </a:r>
                      <a:r>
                        <a:rPr lang="ko-KR" altLang="en-US" sz="800" dirty="0" err="1">
                          <a:latin typeface="+mn-ea"/>
                          <a:ea typeface="+mn-ea"/>
                        </a:rPr>
                        <a:t>적용율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380110"/>
                  </a:ext>
                </a:extLst>
              </a:tr>
              <a:tr h="0">
                <a:tc>
                  <a:txBody>
                    <a:bodyPr/>
                    <a:lstStyle/>
                    <a:p>
                      <a:pPr latinLnBrk="1"/>
                      <a:r>
                        <a:rPr lang="ko-KR" altLang="en-US" sz="800" dirty="0">
                          <a:latin typeface="+mn-ea"/>
                          <a:ea typeface="+mn-ea"/>
                        </a:rPr>
                        <a:t>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8773227"/>
                  </a:ext>
                </a:extLst>
              </a:tr>
            </a:tbl>
          </a:graphicData>
        </a:graphic>
      </p:graphicFrame>
      <p:sp>
        <p:nvSpPr>
          <p:cNvPr id="6" name="TextBox 5">
            <a:extLst>
              <a:ext uri="{FF2B5EF4-FFF2-40B4-BE49-F238E27FC236}">
                <a16:creationId xmlns:a16="http://schemas.microsoft.com/office/drawing/2014/main" id="{31C3AF3E-24D1-8357-0AF4-2261A05B1D98}"/>
              </a:ext>
            </a:extLst>
          </p:cNvPr>
          <p:cNvSpPr txBox="1"/>
          <p:nvPr/>
        </p:nvSpPr>
        <p:spPr>
          <a:xfrm>
            <a:off x="458117" y="5804446"/>
            <a:ext cx="220469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반려사유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8760284B-065B-C479-BE5C-93CF10E527F8}"/>
              </a:ext>
            </a:extLst>
          </p:cNvPr>
          <p:cNvGraphicFramePr>
            <a:graphicFrameLocks noGrp="1"/>
          </p:cNvGraphicFramePr>
          <p:nvPr/>
        </p:nvGraphicFramePr>
        <p:xfrm>
          <a:off x="452999" y="6088200"/>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반려사유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rjctRsn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반려사유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4000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TextBox 8">
            <a:extLst>
              <a:ext uri="{FF2B5EF4-FFF2-40B4-BE49-F238E27FC236}">
                <a16:creationId xmlns:a16="http://schemas.microsoft.com/office/drawing/2014/main" id="{546C509D-7C12-6CE6-85EA-25714A5A183F}"/>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0" name="Text Box 73">
            <a:extLst>
              <a:ext uri="{FF2B5EF4-FFF2-40B4-BE49-F238E27FC236}">
                <a16:creationId xmlns:a16="http://schemas.microsoft.com/office/drawing/2014/main" id="{7025CAA2-FE61-7164-D233-5EC944EBE04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57043794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96069"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t>참고서류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dlt_refDcmnt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서류명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서류명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첨부문서명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첨부문서명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파일크기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9" name="TextBox 8">
            <a:extLst>
              <a:ext uri="{FF2B5EF4-FFF2-40B4-BE49-F238E27FC236}">
                <a16:creationId xmlns:a16="http://schemas.microsoft.com/office/drawing/2014/main" id="{9C3FC40B-6DC8-16E8-DC02-74DB38C85C84}"/>
              </a:ext>
            </a:extLst>
          </p:cNvPr>
          <p:cNvSpPr txBox="1"/>
          <p:nvPr/>
        </p:nvSpPr>
        <p:spPr>
          <a:xfrm>
            <a:off x="458117" y="2001199"/>
            <a:ext cx="201233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1ED0BF1C-1208-0523-7FA9-36368FF1B1B2}"/>
              </a:ext>
            </a:extLst>
          </p:cNvPr>
          <p:cNvGraphicFramePr>
            <a:graphicFrameLocks noGrp="1"/>
          </p:cNvGraphicFramePr>
          <p:nvPr/>
        </p:nvGraphicFramePr>
        <p:xfrm>
          <a:off x="452999" y="2212402"/>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첨부파일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docId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첨부파일종류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등록된 첨부파일인 경우 조회</a:t>
                      </a:r>
                      <a:r>
                        <a:rPr lang="ko-KR" altLang="en-US" sz="800" dirty="0"/>
                        <a:t>항목으로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5526057"/>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12" name="TextBox 11">
            <a:extLst>
              <a:ext uri="{FF2B5EF4-FFF2-40B4-BE49-F238E27FC236}">
                <a16:creationId xmlns:a16="http://schemas.microsoft.com/office/drawing/2014/main" id="{9C570BBF-010C-689A-C4F8-049F61A405CB}"/>
              </a:ext>
            </a:extLst>
          </p:cNvPr>
          <p:cNvSpPr txBox="1"/>
          <p:nvPr/>
        </p:nvSpPr>
        <p:spPr>
          <a:xfrm>
            <a:off x="460676" y="3391662"/>
            <a:ext cx="2488429"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err="1">
                <a:solidFill>
                  <a:prstClr val="black"/>
                </a:solidFill>
              </a:rPr>
              <a:t>추가첨부서류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dlt_addAdoc</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EEE1F128-FEB1-7779-518D-4089B11EEE82}"/>
              </a:ext>
            </a:extLst>
          </p:cNvPr>
          <p:cNvGraphicFramePr>
            <a:graphicFrameLocks noGrp="1"/>
          </p:cNvGraphicFramePr>
          <p:nvPr/>
        </p:nvGraphicFramePr>
        <p:xfrm>
          <a:off x="455558" y="360286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추가첨부서류</a:t>
                      </a:r>
                      <a:r>
                        <a:rPr lang="ko-KR" altLang="en-US" sz="800" dirty="0">
                          <a:latin typeface="+mn-ea"/>
                          <a:ea typeface="+mn-ea"/>
                        </a:rPr>
                        <a:t>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2" name="TextBox 1">
            <a:extLst>
              <a:ext uri="{FF2B5EF4-FFF2-40B4-BE49-F238E27FC236}">
                <a16:creationId xmlns:a16="http://schemas.microsoft.com/office/drawing/2014/main" id="{B86B4A9E-316D-FEAC-B50A-F986D7EFCEC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01E69BE4-4A52-6501-3134-DD79FE97973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584619755"/>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267</a:t>
            </a:fld>
            <a:endParaRPr lang="ko-KR" altLang="en-US" dirty="0"/>
          </a:p>
        </p:txBody>
      </p:sp>
      <p:graphicFrame>
        <p:nvGraphicFramePr>
          <p:cNvPr id="18" name="표 17">
            <a:extLst>
              <a:ext uri="{FF2B5EF4-FFF2-40B4-BE49-F238E27FC236}">
                <a16:creationId xmlns:a16="http://schemas.microsoft.com/office/drawing/2014/main" id="{39FF4FA3-2661-D5DD-9AC7-D3BD306A5181}"/>
              </a:ext>
            </a:extLst>
          </p:cNvPr>
          <p:cNvGraphicFramePr>
            <a:graphicFrameLocks noGrp="1"/>
          </p:cNvGraphicFramePr>
          <p:nvPr>
            <p:extLst/>
          </p:nvPr>
        </p:nvGraphicFramePr>
        <p:xfrm>
          <a:off x="452291" y="1014316"/>
          <a:ext cx="8995591" cy="39840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상세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9324242"/>
                  </a:ext>
                </a:extLst>
              </a:tr>
              <a:tr h="0">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공고정보</a:t>
                      </a:r>
                      <a:r>
                        <a:rPr lang="en-US" altLang="ko-KR" sz="800" dirty="0">
                          <a:latin typeface="+mn-ea"/>
                          <a:ea typeface="+mn-ea"/>
                        </a:rPr>
                        <a:t>,</a:t>
                      </a:r>
                      <a:r>
                        <a:rPr lang="ko-KR" altLang="en-US" sz="800" dirty="0">
                          <a:latin typeface="+mn-ea"/>
                          <a:ea typeface="+mn-ea"/>
                        </a:rPr>
                        <a:t> 입찰결과</a:t>
                      </a:r>
                      <a:r>
                        <a:rPr lang="en-US" altLang="ko-KR" sz="800" dirty="0">
                          <a:latin typeface="+mn-ea"/>
                          <a:ea typeface="+mn-ea"/>
                        </a:rPr>
                        <a:t>, </a:t>
                      </a:r>
                      <a:r>
                        <a:rPr lang="ko-KR" altLang="en-US" sz="800" dirty="0">
                          <a:latin typeface="+mn-ea"/>
                          <a:ea typeface="+mn-ea"/>
                        </a:rPr>
                        <a:t>반려사유</a:t>
                      </a:r>
                      <a:r>
                        <a:rPr lang="en-US" altLang="ko-KR" sz="800" dirty="0">
                          <a:latin typeface="+mn-ea"/>
                          <a:ea typeface="+mn-ea"/>
                        </a:rPr>
                        <a:t>, </a:t>
                      </a:r>
                      <a:r>
                        <a:rPr lang="ko-KR" altLang="en-US" sz="800" dirty="0">
                          <a:latin typeface="+mn-ea"/>
                          <a:ea typeface="+mn-ea"/>
                        </a:rPr>
                        <a:t>참고서류</a:t>
                      </a:r>
                      <a:r>
                        <a:rPr lang="en-US" altLang="ko-KR" sz="800" dirty="0">
                          <a:latin typeface="+mn-ea"/>
                          <a:ea typeface="+mn-ea"/>
                        </a:rPr>
                        <a:t>, </a:t>
                      </a:r>
                      <a:r>
                        <a:rPr lang="ko-KR" altLang="en-US" sz="800" dirty="0">
                          <a:latin typeface="+mn-ea"/>
                          <a:ea typeface="+mn-ea"/>
                        </a:rPr>
                        <a:t>첨부서류를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9040093"/>
                  </a:ext>
                </a:extLst>
              </a:tr>
              <a:tr h="0">
                <a:tc>
                  <a:txBody>
                    <a:bodyPr/>
                    <a:lstStyle/>
                    <a:p>
                      <a:r>
                        <a:rPr lang="ko-KR" altLang="en-US" sz="800" dirty="0"/>
                        <a:t>참고서류의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scwin.btn_atchFileNm_onclick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참고서류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4384020"/>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84753"/>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4113051"/>
                  </a:ext>
                </a:extLst>
              </a:tr>
              <a:tr h="0">
                <a:tc>
                  <a:txBody>
                    <a:bodyPr/>
                    <a:lstStyle/>
                    <a:p>
                      <a:r>
                        <a:rPr lang="ko-KR" altLang="en-US" sz="800" dirty="0"/>
                        <a:t>첨부서류의 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추가첨부서류</a:t>
                      </a:r>
                      <a:r>
                        <a:rPr lang="ko-KR" altLang="en-US" sz="800" dirty="0">
                          <a:latin typeface="+mn-ea"/>
                          <a:ea typeface="+mn-ea"/>
                        </a:rPr>
                        <a:t> 그리드의 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36001"/>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806275"/>
                  </a:ext>
                </a:extLst>
              </a:tr>
              <a:tr h="0">
                <a:tc>
                  <a:txBody>
                    <a:bodyPr/>
                    <a:lstStyle/>
                    <a:p>
                      <a:r>
                        <a:rPr lang="ko-KR" altLang="en-US" sz="800" dirty="0" err="1"/>
                        <a:t>추가첨부서류의</a:t>
                      </a:r>
                      <a:r>
                        <a:rPr lang="ko-KR" altLang="en-US" sz="800" dirty="0"/>
                        <a:t>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4206061"/>
                  </a:ext>
                </a:extLst>
              </a:tr>
              <a:tr h="0">
                <a:tc>
                  <a:txBody>
                    <a:bodyPr/>
                    <a:lstStyle/>
                    <a:p>
                      <a:r>
                        <a:rPr lang="ko-KR" altLang="en-US" sz="800" dirty="0"/>
                        <a:t>법 위반 처벌이력 확인서 양식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scwin.btn_lawVltnHstryCnfdocForm_onclick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클릭한 양식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저장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scwin.btn_strg_onclick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신청 내역 임시 저장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r h="0">
                <a:tc>
                  <a:txBody>
                    <a:bodyPr/>
                    <a:lstStyle/>
                    <a:p>
                      <a:r>
                        <a:rPr lang="ko-KR" altLang="en-US" sz="800" dirty="0"/>
                        <a:t>적격심사신청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scwin.btn_elgbSrngAply_onclick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신청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9095636"/>
                  </a:ext>
                </a:extLst>
              </a:tr>
            </a:tbl>
          </a:graphicData>
        </a:graphic>
      </p:graphicFrame>
      <p:sp>
        <p:nvSpPr>
          <p:cNvPr id="17" name="TextBox 16">
            <a:extLst>
              <a:ext uri="{FF2B5EF4-FFF2-40B4-BE49-F238E27FC236}">
                <a16:creationId xmlns:a16="http://schemas.microsoft.com/office/drawing/2014/main" id="{C27A91D1-AAE3-587F-1E4B-51AEB57A3BCD}"/>
              </a:ext>
            </a:extLst>
          </p:cNvPr>
          <p:cNvSpPr txBox="1"/>
          <p:nvPr/>
        </p:nvSpPr>
        <p:spPr>
          <a:xfrm>
            <a:off x="457408"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4" name="Text Box 73">
            <a:extLst>
              <a:ext uri="{FF2B5EF4-FFF2-40B4-BE49-F238E27FC236}">
                <a16:creationId xmlns:a16="http://schemas.microsoft.com/office/drawing/2014/main" id="{43DADA0B-DEA5-F6AA-928E-0BEB2A99876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0758363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268</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16</a:t>
            </a:r>
            <a:r>
              <a:rPr lang="en-US" altLang="ko-KR" dirty="0"/>
              <a:t>. </a:t>
            </a:r>
            <a:r>
              <a:rPr lang="ko-KR" altLang="en-US" dirty="0" err="1"/>
              <a:t>개찰목록</a:t>
            </a:r>
            <a:r>
              <a:rPr lang="ko-KR" altLang="en-US" dirty="0"/>
              <a:t> 및 이행</a:t>
            </a:r>
            <a:r>
              <a:rPr lang="en-US" altLang="ko-KR" dirty="0"/>
              <a:t>/</a:t>
            </a:r>
            <a:r>
              <a:rPr lang="ko-KR" altLang="en-US" dirty="0"/>
              <a:t>적격심사</a:t>
            </a:r>
            <a:endParaRPr lang="en-US" altLang="ko-KR" dirty="0"/>
          </a:p>
          <a:p>
            <a:r>
              <a:rPr lang="en-US" altLang="ko-KR" dirty="0" smtClean="0"/>
              <a:t>16.1 </a:t>
            </a:r>
            <a:r>
              <a:rPr lang="ko-KR" altLang="en-US" dirty="0"/>
              <a:t>화면 목록 </a:t>
            </a:r>
            <a:r>
              <a:rPr lang="en-US" altLang="ko-KR" dirty="0"/>
              <a:t>(3/3)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4041463024"/>
              </p:ext>
            </p:extLst>
          </p:nvPr>
        </p:nvGraphicFramePr>
        <p:xfrm>
          <a:off x="635474" y="1413419"/>
          <a:ext cx="8701200" cy="63358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MUI-BD-10-P21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적격심사포기신청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ImpltElgbSrngAbndAply</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t>적격심사제 공고 건에 대해 업체담당자가 이행</a:t>
                      </a:r>
                      <a:r>
                        <a:rPr lang="en-US" altLang="ko-KR" sz="800" dirty="0"/>
                        <a:t>/</a:t>
                      </a:r>
                      <a:r>
                        <a:rPr lang="ko-KR" altLang="en-US" sz="800" dirty="0"/>
                        <a:t>적격심사 포기 신청하는 팝업화면이다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err="1">
                          <a:solidFill>
                            <a:schemeClr val="tx1"/>
                          </a:solidFill>
                          <a:latin typeface="+mn-lt"/>
                          <a:ea typeface="+mn-ea"/>
                        </a:rPr>
                        <a:t>ImpltElgbSrngAbndAply</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92101076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이행</a:t>
            </a:r>
            <a:r>
              <a:rPr lang="en-US" altLang="ko-KR" dirty="0"/>
              <a:t>/</a:t>
            </a:r>
            <a:r>
              <a:rPr lang="ko-KR" altLang="en-US" dirty="0"/>
              <a:t>적격심사 </a:t>
            </a:r>
            <a:r>
              <a:rPr lang="ko-KR" altLang="en-US" dirty="0" err="1"/>
              <a:t>포기사유</a:t>
            </a:r>
            <a:r>
              <a:rPr lang="en-US" altLang="ko-KR" dirty="0"/>
              <a:t> </a:t>
            </a:r>
            <a:r>
              <a:rPr lang="ko-KR" altLang="en-US" dirty="0"/>
              <a:t>데이터 </a:t>
            </a:r>
            <a:r>
              <a:rPr lang="ko-KR" altLang="en-US" dirty="0" smtClean="0"/>
              <a:t>영역</a:t>
            </a:r>
            <a:r>
              <a:rPr lang="en-US" altLang="ko-KR" dirty="0" smtClean="0"/>
              <a:t/>
            </a:r>
            <a:br>
              <a:rPr lang="en-US" altLang="ko-KR" dirty="0" smtClean="0"/>
            </a:br>
            <a:r>
              <a:rPr lang="en-US" altLang="ko-KR" dirty="0" smtClean="0"/>
              <a:t>- </a:t>
            </a:r>
            <a:r>
              <a:rPr lang="ko-KR" altLang="en-US" dirty="0" smtClean="0"/>
              <a:t>기타</a:t>
            </a:r>
            <a:r>
              <a:rPr lang="en-US" altLang="ko-KR" dirty="0" smtClean="0"/>
              <a:t>(</a:t>
            </a:r>
            <a:r>
              <a:rPr lang="ko-KR" altLang="en-US" dirty="0" smtClean="0"/>
              <a:t>직접입력</a:t>
            </a:r>
            <a:r>
              <a:rPr lang="en-US" altLang="ko-KR" dirty="0" smtClean="0"/>
              <a:t>) </a:t>
            </a:r>
            <a:r>
              <a:rPr lang="ko-KR" altLang="en-US" dirty="0" smtClean="0"/>
              <a:t>시 하단 입력 폼 노출</a:t>
            </a:r>
            <a:endParaRPr lang="en-US" altLang="ko-KR" dirty="0"/>
          </a:p>
          <a:p>
            <a:pPr marL="228600" indent="-228600">
              <a:buFont typeface="+mj-ea"/>
              <a:buAutoNum type="arabicPeriod"/>
            </a:pPr>
            <a:r>
              <a:rPr lang="ko-KR" altLang="en-US" dirty="0"/>
              <a:t>첨부서류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이행</a:t>
            </a:r>
            <a:r>
              <a:rPr lang="en-US" altLang="ko-KR" dirty="0"/>
              <a:t>/</a:t>
            </a:r>
            <a:r>
              <a:rPr lang="ko-KR" altLang="en-US" dirty="0"/>
              <a:t>적격심사포기신청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defRPr/>
            </a:pPr>
            <a:r>
              <a:rPr lang="ko-KR" altLang="en-US" dirty="0" err="1"/>
              <a:t>적격심사제</a:t>
            </a:r>
            <a:r>
              <a:rPr lang="ko-KR" altLang="en-US" dirty="0"/>
              <a:t> 공고 건에 대해 업체담당자가 이행</a:t>
            </a:r>
            <a:r>
              <a:rPr lang="en-US" altLang="ko-KR" dirty="0"/>
              <a:t>/</a:t>
            </a:r>
            <a:r>
              <a:rPr lang="ko-KR" altLang="en-US" dirty="0"/>
              <a:t>적격심사 포기 신청하는 팝업</a:t>
            </a:r>
            <a:endParaRPr lang="ko-KR" altLang="en-US" dirty="0">
              <a:solidFill>
                <a:prstClr val="black"/>
              </a:solidFill>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a:p>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MUI-BD-10-P02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pPr fontAlgn="ctr"/>
            <a:r>
              <a:rPr lang="ko-KR" altLang="en-US" sz="900" dirty="0"/>
              <a:t>이행</a:t>
            </a:r>
            <a:r>
              <a:rPr lang="en-US" altLang="ko-KR" sz="900" dirty="0"/>
              <a:t>/</a:t>
            </a:r>
            <a:r>
              <a:rPr lang="ko-KR" altLang="en-US" sz="900" dirty="0"/>
              <a:t>적격심사포기신청</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pPr fontAlgn="ctr"/>
            <a:r>
              <a:rPr lang="ko-KR" altLang="en-US" sz="900" dirty="0"/>
              <a:t>이행</a:t>
            </a:r>
            <a:r>
              <a:rPr lang="en-US" altLang="ko-KR" sz="900" dirty="0"/>
              <a:t>/</a:t>
            </a:r>
            <a:r>
              <a:rPr lang="ko-KR" altLang="en-US" sz="900" dirty="0"/>
              <a:t>적격심사포기신청</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35744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1" name="타원 150">
            <a:extLst>
              <a:ext uri="{FF2B5EF4-FFF2-40B4-BE49-F238E27FC236}">
                <a16:creationId xmlns:a16="http://schemas.microsoft.com/office/drawing/2014/main" id="{37A7FF4F-0EAA-1463-560A-D5EC24416103}"/>
              </a:ext>
            </a:extLst>
          </p:cNvPr>
          <p:cNvSpPr/>
          <p:nvPr/>
        </p:nvSpPr>
        <p:spPr>
          <a:xfrm>
            <a:off x="3709669" y="406965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사유 선택</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1029701" y="3827499"/>
            <a:ext cx="2320531" cy="1077218"/>
          </a:xfrm>
          <a:prstGeom prst="rect">
            <a:avLst/>
          </a:prstGeom>
          <a:noFill/>
        </p:spPr>
        <p:txBody>
          <a:bodyPr wrap="square" lIns="0" tIns="0" rIns="0" bIns="0" rtlCol="0">
            <a:spAutoFit/>
          </a:bodyPr>
          <a:lstStyle/>
          <a:p>
            <a:pPr>
              <a:lnSpc>
                <a:spcPct val="200000"/>
              </a:lnSpc>
            </a:pPr>
            <a:r>
              <a:rPr lang="ko-KR" altLang="en-US" sz="700" dirty="0">
                <a:latin typeface="+mn-ea"/>
              </a:rPr>
              <a:t>업체 </a:t>
            </a:r>
            <a:r>
              <a:rPr lang="ko-KR" altLang="en-US" sz="700" dirty="0" err="1">
                <a:latin typeface="+mn-ea"/>
              </a:rPr>
              <a:t>자체심사</a:t>
            </a:r>
            <a:r>
              <a:rPr lang="ko-KR" altLang="en-US" sz="700" dirty="0">
                <a:latin typeface="+mn-ea"/>
              </a:rPr>
              <a:t> 결과 기준 점수 미달</a:t>
            </a:r>
            <a:endParaRPr lang="en-US" altLang="ko-KR" sz="700" dirty="0">
              <a:latin typeface="+mn-ea"/>
            </a:endParaRPr>
          </a:p>
          <a:p>
            <a:pPr>
              <a:lnSpc>
                <a:spcPct val="200000"/>
              </a:lnSpc>
            </a:pPr>
            <a:r>
              <a:rPr lang="ko-KR" altLang="en-US" sz="700" dirty="0">
                <a:latin typeface="+mn-ea"/>
              </a:rPr>
              <a:t>참여의사 없음</a:t>
            </a:r>
            <a:endParaRPr lang="en-US" altLang="ko-KR" sz="700" dirty="0">
              <a:latin typeface="+mn-ea"/>
            </a:endParaRPr>
          </a:p>
          <a:p>
            <a:pPr>
              <a:lnSpc>
                <a:spcPct val="200000"/>
              </a:lnSpc>
            </a:pPr>
            <a:r>
              <a:rPr lang="ko-KR" altLang="en-US" sz="700" dirty="0">
                <a:latin typeface="+mn-ea"/>
              </a:rPr>
              <a:t>구매선 미확보</a:t>
            </a:r>
            <a:endParaRPr lang="en-US" altLang="ko-KR" sz="700" dirty="0">
              <a:latin typeface="+mn-ea"/>
            </a:endParaRPr>
          </a:p>
          <a:p>
            <a:pPr>
              <a:lnSpc>
                <a:spcPct val="200000"/>
              </a:lnSpc>
            </a:pPr>
            <a:r>
              <a:rPr lang="ko-KR" altLang="en-US" sz="700" dirty="0" err="1">
                <a:latin typeface="+mn-ea"/>
              </a:rPr>
              <a:t>납기준수</a:t>
            </a:r>
            <a:r>
              <a:rPr lang="ko-KR" altLang="en-US" sz="700" dirty="0">
                <a:latin typeface="+mn-ea"/>
              </a:rPr>
              <a:t> 제한</a:t>
            </a:r>
            <a:endParaRPr lang="en-US" altLang="ko-KR" sz="700" dirty="0">
              <a:latin typeface="+mn-ea"/>
            </a:endParaRPr>
          </a:p>
          <a:p>
            <a:pPr>
              <a:lnSpc>
                <a:spcPct val="200000"/>
              </a:lnSpc>
            </a:pPr>
            <a:r>
              <a:rPr lang="ko-KR" altLang="en-US" sz="700" dirty="0">
                <a:latin typeface="+mn-ea"/>
              </a:rPr>
              <a:t>기타 </a:t>
            </a:r>
            <a:r>
              <a:rPr lang="en-US" altLang="ko-KR" sz="700" dirty="0">
                <a:latin typeface="+mn-ea"/>
              </a:rPr>
              <a:t>(</a:t>
            </a:r>
            <a:r>
              <a:rPr lang="ko-KR" altLang="en-US" sz="700" dirty="0">
                <a:latin typeface="+mn-ea"/>
              </a:rPr>
              <a:t>직접 입력</a:t>
            </a:r>
            <a:r>
              <a:rPr lang="en-US" altLang="ko-KR" sz="700" dirty="0">
                <a:latin typeface="+mn-ea"/>
              </a:rPr>
              <a:t>)</a:t>
            </a:r>
          </a:p>
        </p:txBody>
      </p:sp>
      <p:grpSp>
        <p:nvGrpSpPr>
          <p:cNvPr id="166" name="그룹 165"/>
          <p:cNvGrpSpPr/>
          <p:nvPr/>
        </p:nvGrpSpPr>
        <p:grpSpPr>
          <a:xfrm>
            <a:off x="720139" y="3827499"/>
            <a:ext cx="2630093" cy="1073700"/>
            <a:chOff x="701175" y="1835481"/>
            <a:chExt cx="2630093" cy="1073700"/>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779801"/>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grpSp>
        <p:nvGrpSpPr>
          <p:cNvPr id="200" name="그룹 199"/>
          <p:cNvGrpSpPr/>
          <p:nvPr/>
        </p:nvGrpSpPr>
        <p:grpSpPr>
          <a:xfrm>
            <a:off x="3835401" y="2778927"/>
            <a:ext cx="2630093" cy="1048572"/>
            <a:chOff x="701175" y="1835481"/>
            <a:chExt cx="2630093" cy="1048572"/>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8840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522263"/>
            <a:ext cx="1757861" cy="215444"/>
          </a:xfrm>
          <a:prstGeom prst="rect">
            <a:avLst/>
          </a:prstGeom>
          <a:noFill/>
        </p:spPr>
        <p:txBody>
          <a:bodyPr wrap="square" lIns="0" tIns="0" rIns="0" bIns="0" rtlCol="0">
            <a:spAutoFit/>
          </a:bodyPr>
          <a:lstStyle/>
          <a:p>
            <a:pPr>
              <a:lnSpc>
                <a:spcPct val="200000"/>
              </a:lnSpc>
            </a:pPr>
            <a:r>
              <a:rPr lang="ko-KR" altLang="en-US" sz="700" dirty="0" err="1">
                <a:latin typeface="+mn-ea"/>
              </a:rPr>
              <a:t>포기사유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sp>
        <p:nvSpPr>
          <p:cNvPr id="70" name="타원 69"/>
          <p:cNvSpPr/>
          <p:nvPr/>
        </p:nvSpPr>
        <p:spPr>
          <a:xfrm>
            <a:off x="817932" y="3915892"/>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타원 70"/>
          <p:cNvSpPr/>
          <p:nvPr/>
        </p:nvSpPr>
        <p:spPr>
          <a:xfrm>
            <a:off x="817932" y="4106961"/>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817932" y="432310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817932" y="4537844"/>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817932" y="475258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5" name="직선 연결선 74">
            <a:extLst>
              <a:ext uri="{FF2B5EF4-FFF2-40B4-BE49-F238E27FC236}">
                <a16:creationId xmlns:a16="http://schemas.microsoft.com/office/drawing/2014/main" id="{E9293055-D5CD-4B9E-7F64-64B2D2CA7A52}"/>
              </a:ext>
            </a:extLst>
          </p:cNvPr>
          <p:cNvCxnSpPr/>
          <p:nvPr/>
        </p:nvCxnSpPr>
        <p:spPr>
          <a:xfrm>
            <a:off x="703268" y="40422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03268" y="42569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7" name="직선 연결선 76">
            <a:extLst>
              <a:ext uri="{FF2B5EF4-FFF2-40B4-BE49-F238E27FC236}">
                <a16:creationId xmlns:a16="http://schemas.microsoft.com/office/drawing/2014/main" id="{E9293055-D5CD-4B9E-7F64-64B2D2CA7A52}"/>
              </a:ext>
            </a:extLst>
          </p:cNvPr>
          <p:cNvCxnSpPr/>
          <p:nvPr/>
        </p:nvCxnSpPr>
        <p:spPr>
          <a:xfrm>
            <a:off x="703268" y="44717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01175" y="46864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85">
            <a:extLst>
              <a:ext uri="{FF2B5EF4-FFF2-40B4-BE49-F238E27FC236}">
                <a16:creationId xmlns:a16="http://schemas.microsoft.com/office/drawing/2014/main" id="{FFC49AEA-2A8F-250C-A86A-A7751D9706C3}"/>
              </a:ext>
            </a:extLst>
          </p:cNvPr>
          <p:cNvSpPr txBox="1"/>
          <p:nvPr/>
        </p:nvSpPr>
        <p:spPr>
          <a:xfrm>
            <a:off x="3878080" y="4033570"/>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87" name="그룹 86"/>
          <p:cNvGrpSpPr/>
          <p:nvPr/>
        </p:nvGrpSpPr>
        <p:grpSpPr>
          <a:xfrm flipV="1">
            <a:off x="6240167" y="4146901"/>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9" name="직선 연결선 8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0" name="모서리가 둥근 직사각형 89"/>
          <p:cNvSpPr/>
          <p:nvPr/>
        </p:nvSpPr>
        <p:spPr>
          <a:xfrm>
            <a:off x="3831550" y="472112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FFC49AEA-2A8F-250C-A86A-A7751D9706C3}"/>
              </a:ext>
            </a:extLst>
          </p:cNvPr>
          <p:cNvSpPr txBox="1"/>
          <p:nvPr/>
        </p:nvSpPr>
        <p:spPr>
          <a:xfrm>
            <a:off x="4332218" y="479564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3909746" y="484950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3" name="모서리가 둥근 직사각형 102"/>
          <p:cNvSpPr/>
          <p:nvPr/>
        </p:nvSpPr>
        <p:spPr>
          <a:xfrm>
            <a:off x="3831550" y="512781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520233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525619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6" name="사각형: 둥근 모서리 15">
            <a:extLst>
              <a:ext uri="{FF2B5EF4-FFF2-40B4-BE49-F238E27FC236}">
                <a16:creationId xmlns:a16="http://schemas.microsoft.com/office/drawing/2014/main" id="{E2B61CFB-AD16-68D0-8752-50D9C5E01971}"/>
              </a:ext>
            </a:extLst>
          </p:cNvPr>
          <p:cNvSpPr/>
          <p:nvPr/>
        </p:nvSpPr>
        <p:spPr>
          <a:xfrm>
            <a:off x="3831549" y="429696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4332218" y="458600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3838314" y="458600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3795734" y="391589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58" name="모서리가 둥근 직사각형 357"/>
          <p:cNvSpPr/>
          <p:nvPr/>
        </p:nvSpPr>
        <p:spPr>
          <a:xfrm rot="5400000">
            <a:off x="5782577" y="462961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53706" y="458600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17" name="사각형: 둥근 모서리 15">
            <a:extLst>
              <a:ext uri="{FF2B5EF4-FFF2-40B4-BE49-F238E27FC236}">
                <a16:creationId xmlns:a16="http://schemas.microsoft.com/office/drawing/2014/main" id="{E2B61CFB-AD16-68D0-8752-50D9C5E01971}"/>
              </a:ext>
            </a:extLst>
          </p:cNvPr>
          <p:cNvSpPr/>
          <p:nvPr/>
        </p:nvSpPr>
        <p:spPr>
          <a:xfrm>
            <a:off x="6074127" y="5232613"/>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18" name="사각형: 둥근 모서리 15">
            <a:extLst>
              <a:ext uri="{FF2B5EF4-FFF2-40B4-BE49-F238E27FC236}">
                <a16:creationId xmlns:a16="http://schemas.microsoft.com/office/drawing/2014/main" id="{E2B61CFB-AD16-68D0-8752-50D9C5E01971}"/>
              </a:ext>
            </a:extLst>
          </p:cNvPr>
          <p:cNvSpPr/>
          <p:nvPr/>
        </p:nvSpPr>
        <p:spPr>
          <a:xfrm>
            <a:off x="6074127" y="482592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34763454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88464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t>이행</a:t>
            </a:r>
            <a:r>
              <a:rPr lang="en-US" altLang="ko-KR" sz="900" b="1" dirty="0"/>
              <a:t>/</a:t>
            </a:r>
            <a:r>
              <a:rPr lang="ko-KR" altLang="en-US" sz="900" b="1" dirty="0"/>
              <a:t>적격심사 포기사유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dmt_impltElgbSrngAbndRsn</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포기사유구분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elgbSrngAbndRsnSe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포기사유구분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상태가 심사포기인 경우 조회 항목으로 속성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463197"/>
                  </a:ext>
                </a:extLst>
              </a:tr>
              <a:tr h="0">
                <a:tc>
                  <a:txBody>
                    <a:bodyPr/>
                    <a:lstStyle/>
                    <a:p>
                      <a:pPr latinLnBrk="1"/>
                      <a:r>
                        <a:rPr lang="ko-KR" altLang="en-US" sz="800" dirty="0">
                          <a:latin typeface="+mn-ea"/>
                          <a:ea typeface="+mn-ea"/>
                        </a:rPr>
                        <a:t>포기사유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srngMnftrBzentyAbndRsn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포기사유를 기타</a:t>
                      </a:r>
                      <a:r>
                        <a:rPr lang="en-US" altLang="ko-KR" sz="800" dirty="0">
                          <a:latin typeface="+mn-ea"/>
                          <a:ea typeface="+mn-ea"/>
                        </a:rPr>
                        <a:t>(</a:t>
                      </a:r>
                      <a:r>
                        <a:rPr lang="ko-KR" altLang="en-US" sz="800" dirty="0">
                          <a:latin typeface="+mn-ea"/>
                          <a:ea typeface="+mn-ea"/>
                        </a:rPr>
                        <a:t>수기 입력</a:t>
                      </a:r>
                      <a:r>
                        <a:rPr lang="en-US" altLang="ko-KR" sz="800" dirty="0">
                          <a:latin typeface="+mn-ea"/>
                          <a:ea typeface="+mn-ea"/>
                        </a:rPr>
                        <a:t>) </a:t>
                      </a:r>
                      <a:r>
                        <a:rPr lang="ko-KR" altLang="en-US" sz="800" dirty="0">
                          <a:latin typeface="+mn-ea"/>
                          <a:ea typeface="+mn-ea"/>
                        </a:rPr>
                        <a:t>선택한 경우 포기 사유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상태가 심사포기인 경우 조회 항목으로 속성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1083736"/>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2020970"/>
            <a:ext cx="201233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2304724"/>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19853">
                  <a:extLst>
                    <a:ext uri="{9D8B030D-6E8A-4147-A177-3AD203B41FA5}">
                      <a16:colId xmlns:a16="http://schemas.microsoft.com/office/drawing/2014/main" val="20004"/>
                    </a:ext>
                  </a:extLst>
                </a:gridCol>
                <a:gridCol w="225357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첨부서류명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703289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1259264"/>
                  </a:ext>
                </a:extLst>
              </a:tr>
            </a:tbl>
          </a:graphicData>
        </a:graphic>
      </p:graphicFrame>
      <p:sp>
        <p:nvSpPr>
          <p:cNvPr id="5" name="TextBox 4">
            <a:extLst>
              <a:ext uri="{FF2B5EF4-FFF2-40B4-BE49-F238E27FC236}">
                <a16:creationId xmlns:a16="http://schemas.microsoft.com/office/drawing/2014/main" id="{B45602F2-4861-A86C-4F22-E39E93C41981}"/>
              </a:ext>
            </a:extLst>
          </p:cNvPr>
          <p:cNvSpPr txBox="1"/>
          <p:nvPr/>
        </p:nvSpPr>
        <p:spPr>
          <a:xfrm>
            <a:off x="457408" y="344790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12C3E036-652F-6406-8365-AA90F644029A}"/>
              </a:ext>
            </a:extLst>
          </p:cNvPr>
          <p:cNvGraphicFramePr>
            <a:graphicFrameLocks noGrp="1"/>
          </p:cNvGraphicFramePr>
          <p:nvPr/>
        </p:nvGraphicFramePr>
        <p:xfrm>
          <a:off x="452291" y="3713966"/>
          <a:ext cx="8995591" cy="22828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scwin.getImpltElgbSrngAbndAplyInfo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a:t>
                      </a:r>
                      <a:r>
                        <a:rPr lang="en-US" altLang="ko-KR" sz="800" dirty="0">
                          <a:latin typeface="+mn-ea"/>
                          <a:ea typeface="+mn-ea"/>
                        </a:rPr>
                        <a:t>, </a:t>
                      </a:r>
                      <a:r>
                        <a:rPr lang="ko-KR" altLang="en-US" sz="800" dirty="0">
                          <a:latin typeface="+mn-ea"/>
                          <a:ea typeface="+mn-ea"/>
                        </a:rPr>
                        <a:t>첨부서류를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6404510"/>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7766952"/>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9602629"/>
                  </a:ext>
                </a:extLst>
              </a:tr>
              <a:tr h="0">
                <a:tc>
                  <a:txBody>
                    <a:bodyPr/>
                    <a:lstStyle/>
                    <a:p>
                      <a:r>
                        <a:rPr lang="ko-KR" altLang="en-US" sz="800" dirty="0"/>
                        <a:t>첨부서류의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scwin.btn_atchFileNm_onclick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3277268"/>
                  </a:ext>
                </a:extLst>
              </a:tr>
              <a:tr h="0">
                <a:tc>
                  <a:txBody>
                    <a:bodyPr/>
                    <a:lstStyle/>
                    <a:p>
                      <a:r>
                        <a:rPr lang="ko-KR" altLang="en-US" sz="800" dirty="0"/>
                        <a:t>심사포기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scwin.btn_srngAbnd_onclick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심사신청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닫기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팝업화면 닫기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8" name="Text Box 73">
            <a:extLst>
              <a:ext uri="{FF2B5EF4-FFF2-40B4-BE49-F238E27FC236}">
                <a16:creationId xmlns:a16="http://schemas.microsoft.com/office/drawing/2014/main" id="{6AB20EDE-9F69-1BEC-636E-782FB05BF34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4599122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271</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17. </a:t>
            </a:r>
            <a:r>
              <a:rPr lang="ko-KR" altLang="en-US" dirty="0" err="1"/>
              <a:t>개찰목록</a:t>
            </a:r>
            <a:r>
              <a:rPr lang="ko-KR" altLang="en-US" dirty="0"/>
              <a:t> 및 이행</a:t>
            </a:r>
            <a:r>
              <a:rPr lang="en-US" altLang="ko-KR" dirty="0"/>
              <a:t>/</a:t>
            </a:r>
            <a:r>
              <a:rPr lang="ko-KR" altLang="en-US" dirty="0"/>
              <a:t>적격심사</a:t>
            </a:r>
            <a:endParaRPr lang="en-US" altLang="ko-KR" dirty="0"/>
          </a:p>
          <a:p>
            <a:r>
              <a:rPr lang="en-US" altLang="ko-KR" dirty="0" smtClean="0"/>
              <a:t>17.1 </a:t>
            </a:r>
            <a:r>
              <a:rPr lang="ko-KR" altLang="en-US" dirty="0"/>
              <a:t>화면 목록 </a:t>
            </a:r>
            <a:r>
              <a:rPr lang="en-US" altLang="ko-KR" dirty="0"/>
              <a:t>(3/3)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417498591"/>
              </p:ext>
            </p:extLst>
          </p:nvPr>
        </p:nvGraphicFramePr>
        <p:xfrm>
          <a:off x="635474" y="1413419"/>
          <a:ext cx="8701200" cy="51166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altLang="ko-KR" sz="800" dirty="0" smtClean="0"/>
                        <a:t>MUI-BD-10-P03</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err="1" smtClean="0">
                          <a:solidFill>
                            <a:schemeClr val="tx1"/>
                          </a:solidFill>
                          <a:latin typeface="+mn-ea"/>
                          <a:ea typeface="+mn-ea"/>
                          <a:cs typeface="+mn-cs"/>
                        </a:rPr>
                        <a:t>적격심사포기신청조회</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07631561"/>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이행</a:t>
            </a:r>
            <a:r>
              <a:rPr lang="en-US" altLang="ko-KR" dirty="0"/>
              <a:t>/</a:t>
            </a:r>
            <a:r>
              <a:rPr lang="ko-KR" altLang="en-US" dirty="0"/>
              <a:t>적격심사 </a:t>
            </a:r>
            <a:r>
              <a:rPr lang="ko-KR" altLang="en-US" dirty="0" err="1"/>
              <a:t>포기사유</a:t>
            </a:r>
            <a:r>
              <a:rPr lang="en-US" altLang="ko-KR" dirty="0"/>
              <a:t> </a:t>
            </a:r>
            <a:r>
              <a:rPr lang="ko-KR" altLang="en-US" dirty="0"/>
              <a:t>데이터 </a:t>
            </a:r>
            <a:r>
              <a:rPr lang="ko-KR" altLang="en-US" dirty="0" smtClean="0"/>
              <a:t>영역</a:t>
            </a:r>
            <a:r>
              <a:rPr lang="en-US" altLang="ko-KR" dirty="0"/>
              <a:t/>
            </a:r>
            <a:br>
              <a:rPr lang="en-US" altLang="ko-KR" dirty="0"/>
            </a:br>
            <a:r>
              <a:rPr lang="en-US" altLang="ko-KR" dirty="0"/>
              <a:t>- </a:t>
            </a:r>
            <a:r>
              <a:rPr lang="ko-KR" altLang="en-US" dirty="0"/>
              <a:t>기타</a:t>
            </a:r>
            <a:r>
              <a:rPr lang="en-US" altLang="ko-KR" dirty="0"/>
              <a:t>(</a:t>
            </a:r>
            <a:r>
              <a:rPr lang="ko-KR" altLang="en-US" dirty="0"/>
              <a:t>직접입력</a:t>
            </a:r>
            <a:r>
              <a:rPr lang="en-US" altLang="ko-KR" dirty="0"/>
              <a:t>) </a:t>
            </a:r>
            <a:r>
              <a:rPr lang="ko-KR" altLang="en-US" dirty="0" smtClean="0"/>
              <a:t>활성화 시 </a:t>
            </a:r>
            <a:r>
              <a:rPr lang="ko-KR" altLang="en-US" dirty="0"/>
              <a:t>하단 입력 폼 노출</a:t>
            </a:r>
            <a:endParaRPr lang="en-US" altLang="ko-KR" dirty="0"/>
          </a:p>
          <a:p>
            <a:pPr marL="228600" indent="-228600">
              <a:buFont typeface="+mj-ea"/>
              <a:buAutoNum type="arabicPeriod"/>
            </a:pPr>
            <a:endParaRPr lang="en-US" altLang="ko-KR" dirty="0"/>
          </a:p>
          <a:p>
            <a:pPr marL="228600" indent="-228600">
              <a:buFont typeface="+mj-ea"/>
              <a:buAutoNum type="arabicPeriod"/>
            </a:pPr>
            <a:r>
              <a:rPr lang="ko-KR" altLang="en-US" dirty="0"/>
              <a:t>첨부서류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이행</a:t>
            </a:r>
            <a:r>
              <a:rPr lang="en-US" altLang="ko-KR" dirty="0"/>
              <a:t>/</a:t>
            </a:r>
            <a:r>
              <a:rPr lang="ko-KR" altLang="en-US" dirty="0" err="1" smtClean="0"/>
              <a:t>적격심사포기신청조회</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defRPr/>
            </a:pPr>
            <a:r>
              <a:rPr lang="ko-KR" altLang="en-US" dirty="0" err="1"/>
              <a:t>적격심사제</a:t>
            </a:r>
            <a:r>
              <a:rPr lang="ko-KR" altLang="en-US" dirty="0"/>
              <a:t> 공고 건에 대해 업체담당자가 이행</a:t>
            </a:r>
            <a:r>
              <a:rPr lang="en-US" altLang="ko-KR" dirty="0"/>
              <a:t>/</a:t>
            </a:r>
            <a:r>
              <a:rPr lang="ko-KR" altLang="en-US" dirty="0"/>
              <a:t>적격심사 포기 신청하는 팝업</a:t>
            </a:r>
            <a:endParaRPr lang="ko-KR" altLang="en-US" dirty="0">
              <a:solidFill>
                <a:prstClr val="black"/>
              </a:solidFill>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a:p>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MUI-BD-10-P03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pPr fontAlgn="ctr"/>
            <a:r>
              <a:rPr lang="ko-KR" altLang="en-US" sz="900" dirty="0"/>
              <a:t>이행</a:t>
            </a:r>
            <a:r>
              <a:rPr lang="en-US" altLang="ko-KR" sz="900" dirty="0"/>
              <a:t>/</a:t>
            </a:r>
            <a:r>
              <a:rPr lang="ko-KR" altLang="en-US" sz="900" dirty="0"/>
              <a:t>적격심사포기신청</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pPr fontAlgn="ctr"/>
            <a:r>
              <a:rPr lang="ko-KR" altLang="en-US" sz="900" dirty="0"/>
              <a:t>이행</a:t>
            </a:r>
            <a:r>
              <a:rPr lang="en-US" altLang="ko-KR" sz="900" dirty="0"/>
              <a:t>/</a:t>
            </a:r>
            <a:r>
              <a:rPr lang="ko-KR" altLang="en-US" sz="900" dirty="0"/>
              <a:t>적격심사포기신청</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35744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a:extLst>
              <a:ext uri="{FF2B5EF4-FFF2-40B4-BE49-F238E27FC236}">
                <a16:creationId xmlns:a16="http://schemas.microsoft.com/office/drawing/2014/main" id="{37A7FF4F-0EAA-1463-560A-D5EC24416103}"/>
              </a:ext>
            </a:extLst>
          </p:cNvPr>
          <p:cNvSpPr/>
          <p:nvPr/>
        </p:nvSpPr>
        <p:spPr>
          <a:xfrm>
            <a:off x="3709669" y="406965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smtClean="0">
                <a:latin typeface="+mn-ea"/>
              </a:rPr>
              <a:t>사유 선택</a:t>
            </a:r>
            <a:endParaRPr lang="ko-KR" altLang="en-US"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029701" y="3827499"/>
            <a:ext cx="2320531" cy="1077218"/>
          </a:xfrm>
          <a:prstGeom prst="rect">
            <a:avLst/>
          </a:prstGeom>
          <a:noFill/>
        </p:spPr>
        <p:txBody>
          <a:bodyPr wrap="square" lIns="0" tIns="0" rIns="0" bIns="0" rtlCol="0">
            <a:spAutoFit/>
          </a:bodyPr>
          <a:lstStyle/>
          <a:p>
            <a:pPr>
              <a:lnSpc>
                <a:spcPct val="200000"/>
              </a:lnSpc>
            </a:pPr>
            <a:r>
              <a:rPr lang="ko-KR" altLang="en-US" sz="700" dirty="0">
                <a:latin typeface="+mn-ea"/>
              </a:rPr>
              <a:t>업체 </a:t>
            </a:r>
            <a:r>
              <a:rPr lang="ko-KR" altLang="en-US" sz="700" dirty="0" err="1">
                <a:latin typeface="+mn-ea"/>
              </a:rPr>
              <a:t>자체심사</a:t>
            </a:r>
            <a:r>
              <a:rPr lang="ko-KR" altLang="en-US" sz="700" dirty="0">
                <a:latin typeface="+mn-ea"/>
              </a:rPr>
              <a:t> 결과 기준 점수 </a:t>
            </a:r>
            <a:r>
              <a:rPr lang="ko-KR" altLang="en-US" sz="700" dirty="0" smtClean="0">
                <a:latin typeface="+mn-ea"/>
              </a:rPr>
              <a:t>미달</a:t>
            </a:r>
          </a:p>
          <a:p>
            <a:pPr>
              <a:lnSpc>
                <a:spcPct val="200000"/>
              </a:lnSpc>
            </a:pPr>
            <a:r>
              <a:rPr lang="ko-KR" altLang="en-US" sz="700" dirty="0" smtClean="0">
                <a:solidFill>
                  <a:schemeClr val="bg2">
                    <a:lumMod val="90000"/>
                  </a:schemeClr>
                </a:solidFill>
                <a:latin typeface="+mn-ea"/>
              </a:rPr>
              <a:t>참여의사 없음</a:t>
            </a:r>
            <a:endParaRPr lang="en-US" altLang="ko-KR" sz="700" dirty="0" smtClean="0">
              <a:solidFill>
                <a:schemeClr val="bg2">
                  <a:lumMod val="90000"/>
                </a:schemeClr>
              </a:solidFill>
              <a:latin typeface="+mn-ea"/>
            </a:endParaRPr>
          </a:p>
          <a:p>
            <a:pPr>
              <a:lnSpc>
                <a:spcPct val="200000"/>
              </a:lnSpc>
            </a:pPr>
            <a:r>
              <a:rPr lang="ko-KR" altLang="en-US" sz="700" dirty="0" smtClean="0">
                <a:solidFill>
                  <a:schemeClr val="bg2">
                    <a:lumMod val="90000"/>
                  </a:schemeClr>
                </a:solidFill>
                <a:latin typeface="+mn-ea"/>
              </a:rPr>
              <a:t>구매선 미확보</a:t>
            </a:r>
            <a:endParaRPr lang="en-US" altLang="ko-KR" sz="700" dirty="0" smtClean="0">
              <a:solidFill>
                <a:schemeClr val="bg2">
                  <a:lumMod val="90000"/>
                </a:schemeClr>
              </a:solidFill>
              <a:latin typeface="+mn-ea"/>
            </a:endParaRPr>
          </a:p>
          <a:p>
            <a:pPr>
              <a:lnSpc>
                <a:spcPct val="200000"/>
              </a:lnSpc>
            </a:pPr>
            <a:r>
              <a:rPr lang="ko-KR" altLang="en-US" sz="700" dirty="0" err="1" smtClean="0">
                <a:solidFill>
                  <a:schemeClr val="bg2">
                    <a:lumMod val="90000"/>
                  </a:schemeClr>
                </a:solidFill>
                <a:latin typeface="+mn-ea"/>
              </a:rPr>
              <a:t>납기준수</a:t>
            </a:r>
            <a:r>
              <a:rPr lang="ko-KR" altLang="en-US" sz="700" dirty="0" smtClean="0">
                <a:solidFill>
                  <a:schemeClr val="bg2">
                    <a:lumMod val="90000"/>
                  </a:schemeClr>
                </a:solidFill>
                <a:latin typeface="+mn-ea"/>
              </a:rPr>
              <a:t> 제한</a:t>
            </a:r>
            <a:endParaRPr lang="en-US" altLang="ko-KR" sz="700" dirty="0" smtClean="0">
              <a:solidFill>
                <a:schemeClr val="bg2">
                  <a:lumMod val="90000"/>
                </a:schemeClr>
              </a:solidFill>
              <a:latin typeface="+mn-ea"/>
            </a:endParaRPr>
          </a:p>
          <a:p>
            <a:pPr>
              <a:lnSpc>
                <a:spcPct val="200000"/>
              </a:lnSpc>
            </a:pPr>
            <a:r>
              <a:rPr lang="ko-KR" altLang="en-US" sz="700" dirty="0" smtClean="0">
                <a:solidFill>
                  <a:schemeClr val="bg2">
                    <a:lumMod val="90000"/>
                  </a:schemeClr>
                </a:solidFill>
                <a:latin typeface="+mn-ea"/>
              </a:rPr>
              <a:t>기타 </a:t>
            </a:r>
            <a:r>
              <a:rPr lang="en-US" altLang="ko-KR" sz="700" dirty="0" smtClean="0">
                <a:solidFill>
                  <a:schemeClr val="bg2">
                    <a:lumMod val="90000"/>
                  </a:schemeClr>
                </a:solidFill>
                <a:latin typeface="+mn-ea"/>
              </a:rPr>
              <a:t>(</a:t>
            </a:r>
            <a:r>
              <a:rPr lang="ko-KR" altLang="en-US" sz="700" dirty="0" smtClean="0">
                <a:solidFill>
                  <a:schemeClr val="bg2">
                    <a:lumMod val="90000"/>
                  </a:schemeClr>
                </a:solidFill>
                <a:latin typeface="+mn-ea"/>
              </a:rPr>
              <a:t>직접 입력</a:t>
            </a:r>
            <a:r>
              <a:rPr lang="en-US" altLang="ko-KR" sz="700" dirty="0" smtClean="0">
                <a:solidFill>
                  <a:schemeClr val="bg2">
                    <a:lumMod val="90000"/>
                  </a:schemeClr>
                </a:solidFill>
                <a:latin typeface="+mn-ea"/>
              </a:rPr>
              <a:t>)</a:t>
            </a:r>
            <a:endParaRPr lang="en-US" altLang="ko-KR" sz="700" dirty="0">
              <a:solidFill>
                <a:schemeClr val="bg2">
                  <a:lumMod val="90000"/>
                </a:schemeClr>
              </a:solidFill>
              <a:latin typeface="+mn-ea"/>
            </a:endParaRPr>
          </a:p>
        </p:txBody>
      </p:sp>
      <p:grpSp>
        <p:nvGrpSpPr>
          <p:cNvPr id="166" name="그룹 165"/>
          <p:cNvGrpSpPr/>
          <p:nvPr/>
        </p:nvGrpSpPr>
        <p:grpSpPr>
          <a:xfrm>
            <a:off x="720139" y="3827499"/>
            <a:ext cx="2630093" cy="1073700"/>
            <a:chOff x="701175" y="1835481"/>
            <a:chExt cx="2630093" cy="1073700"/>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779801"/>
            <a:ext cx="2454126" cy="430887"/>
          </a:xfrm>
          <a:prstGeom prst="rect">
            <a:avLst/>
          </a:prstGeom>
          <a:noFill/>
        </p:spPr>
        <p:txBody>
          <a:bodyPr wrap="square" lIns="0" tIns="0" rIns="0" bIns="0" rtlCol="0">
            <a:spAutoFit/>
          </a:bodyPr>
          <a:lstStyle/>
          <a:p>
            <a:pPr>
              <a:lnSpc>
                <a:spcPct val="200000"/>
              </a:lnSpc>
            </a:pPr>
            <a:r>
              <a:rPr lang="ko-KR" altLang="en-US" sz="700" dirty="0" err="1" smtClean="0">
                <a:solidFill>
                  <a:schemeClr val="bg1">
                    <a:lumMod val="75000"/>
                  </a:schemeClr>
                </a:solidFill>
                <a:latin typeface="+mn-ea"/>
              </a:rPr>
              <a:t>이행적격</a:t>
            </a:r>
            <a:r>
              <a:rPr lang="ko-KR" altLang="en-US" sz="700" dirty="0" smtClean="0">
                <a:solidFill>
                  <a:schemeClr val="bg1">
                    <a:lumMod val="75000"/>
                  </a:schemeClr>
                </a:solidFill>
                <a:latin typeface="+mn-ea"/>
              </a:rPr>
              <a:t> </a:t>
            </a:r>
            <a:r>
              <a:rPr lang="ko-KR" altLang="en-US" sz="700" dirty="0" err="1" smtClean="0">
                <a:solidFill>
                  <a:schemeClr val="bg1">
                    <a:lumMod val="75000"/>
                  </a:schemeClr>
                </a:solidFill>
                <a:latin typeface="+mn-ea"/>
              </a:rPr>
              <a:t>심사상</a:t>
            </a:r>
            <a:r>
              <a:rPr lang="ko-KR" altLang="en-US" sz="700" dirty="0" smtClean="0">
                <a:solidFill>
                  <a:schemeClr val="bg1">
                    <a:lumMod val="75000"/>
                  </a:schemeClr>
                </a:solidFill>
                <a:latin typeface="+mn-ea"/>
              </a:rPr>
              <a:t> 부적격하다고 판단하여</a:t>
            </a:r>
            <a:endParaRPr lang="en-US" altLang="ko-KR" sz="700" dirty="0" smtClean="0">
              <a:solidFill>
                <a:schemeClr val="bg1">
                  <a:lumMod val="75000"/>
                </a:schemeClr>
              </a:solidFill>
              <a:latin typeface="+mn-ea"/>
            </a:endParaRPr>
          </a:p>
          <a:p>
            <a:pPr>
              <a:lnSpc>
                <a:spcPct val="200000"/>
              </a:lnSpc>
            </a:pPr>
            <a:r>
              <a:rPr lang="ko-KR" altLang="en-US" sz="700" dirty="0" smtClean="0">
                <a:solidFill>
                  <a:schemeClr val="bg1">
                    <a:lumMod val="75000"/>
                  </a:schemeClr>
                </a:solidFill>
                <a:latin typeface="+mn-ea"/>
              </a:rPr>
              <a:t>당사는 심사 포기를 신청합니다</a:t>
            </a:r>
            <a:r>
              <a:rPr lang="en-US" altLang="ko-KR" sz="700" dirty="0" smtClean="0">
                <a:solidFill>
                  <a:schemeClr val="bg1">
                    <a:lumMod val="75000"/>
                  </a:schemeClr>
                </a:solidFill>
                <a:latin typeface="+mn-ea"/>
              </a:rPr>
              <a:t>.</a:t>
            </a:r>
            <a:endParaRPr lang="en-US" altLang="ko-KR" sz="700" dirty="0">
              <a:solidFill>
                <a:schemeClr val="bg1">
                  <a:lumMod val="75000"/>
                </a:schemeClr>
              </a:solidFill>
              <a:latin typeface="+mn-ea"/>
            </a:endParaRPr>
          </a:p>
        </p:txBody>
      </p:sp>
      <p:grpSp>
        <p:nvGrpSpPr>
          <p:cNvPr id="200" name="그룹 199"/>
          <p:cNvGrpSpPr/>
          <p:nvPr/>
        </p:nvGrpSpPr>
        <p:grpSpPr>
          <a:xfrm>
            <a:off x="3835401" y="2778927"/>
            <a:ext cx="2630093" cy="1048572"/>
            <a:chOff x="701175" y="1835481"/>
            <a:chExt cx="2630093" cy="1048572"/>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8840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522263"/>
            <a:ext cx="1757861" cy="215444"/>
          </a:xfrm>
          <a:prstGeom prst="rect">
            <a:avLst/>
          </a:prstGeom>
          <a:noFill/>
        </p:spPr>
        <p:txBody>
          <a:bodyPr wrap="square" lIns="0" tIns="0" rIns="0" bIns="0" rtlCol="0">
            <a:spAutoFit/>
          </a:bodyPr>
          <a:lstStyle/>
          <a:p>
            <a:pPr>
              <a:lnSpc>
                <a:spcPct val="200000"/>
              </a:lnSpc>
            </a:pPr>
            <a:r>
              <a:rPr lang="ko-KR" altLang="en-US" sz="700" dirty="0" err="1">
                <a:latin typeface="+mn-ea"/>
              </a:rPr>
              <a:t>포기사유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sp>
        <p:nvSpPr>
          <p:cNvPr id="70" name="타원 69"/>
          <p:cNvSpPr/>
          <p:nvPr/>
        </p:nvSpPr>
        <p:spPr>
          <a:xfrm>
            <a:off x="817932" y="3915892"/>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타원 70"/>
          <p:cNvSpPr/>
          <p:nvPr/>
        </p:nvSpPr>
        <p:spPr>
          <a:xfrm>
            <a:off x="817932" y="4106961"/>
            <a:ext cx="106031" cy="97360"/>
          </a:xfrm>
          <a:prstGeom prst="ellipse">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817932" y="4323105"/>
            <a:ext cx="106031" cy="97360"/>
          </a:xfrm>
          <a:prstGeom prst="ellipse">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817932" y="4537844"/>
            <a:ext cx="106031" cy="97360"/>
          </a:xfrm>
          <a:prstGeom prst="ellipse">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817932" y="4752585"/>
            <a:ext cx="106031" cy="97360"/>
          </a:xfrm>
          <a:prstGeom prst="ellipse">
            <a:avLst/>
          </a:prstGeom>
          <a:solidFill>
            <a:schemeClr val="bg1">
              <a:lumMod val="9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5" name="직선 연결선 74">
            <a:extLst>
              <a:ext uri="{FF2B5EF4-FFF2-40B4-BE49-F238E27FC236}">
                <a16:creationId xmlns:a16="http://schemas.microsoft.com/office/drawing/2014/main" id="{E9293055-D5CD-4B9E-7F64-64B2D2CA7A52}"/>
              </a:ext>
            </a:extLst>
          </p:cNvPr>
          <p:cNvCxnSpPr/>
          <p:nvPr/>
        </p:nvCxnSpPr>
        <p:spPr>
          <a:xfrm>
            <a:off x="703268" y="40422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03268" y="42569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7" name="직선 연결선 76">
            <a:extLst>
              <a:ext uri="{FF2B5EF4-FFF2-40B4-BE49-F238E27FC236}">
                <a16:creationId xmlns:a16="http://schemas.microsoft.com/office/drawing/2014/main" id="{E9293055-D5CD-4B9E-7F64-64B2D2CA7A52}"/>
              </a:ext>
            </a:extLst>
          </p:cNvPr>
          <p:cNvCxnSpPr/>
          <p:nvPr/>
        </p:nvCxnSpPr>
        <p:spPr>
          <a:xfrm>
            <a:off x="703268" y="44717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01175" y="46864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85">
            <a:extLst>
              <a:ext uri="{FF2B5EF4-FFF2-40B4-BE49-F238E27FC236}">
                <a16:creationId xmlns:a16="http://schemas.microsoft.com/office/drawing/2014/main" id="{FFC49AEA-2A8F-250C-A86A-A7751D9706C3}"/>
              </a:ext>
            </a:extLst>
          </p:cNvPr>
          <p:cNvSpPr txBox="1"/>
          <p:nvPr/>
        </p:nvSpPr>
        <p:spPr>
          <a:xfrm>
            <a:off x="3878080" y="4033570"/>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87" name="그룹 86"/>
          <p:cNvGrpSpPr/>
          <p:nvPr/>
        </p:nvGrpSpPr>
        <p:grpSpPr>
          <a:xfrm flipV="1">
            <a:off x="6240167" y="4146901"/>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9" name="직선 연결선 8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0" name="모서리가 둥근 직사각형 89"/>
          <p:cNvSpPr/>
          <p:nvPr/>
        </p:nvSpPr>
        <p:spPr>
          <a:xfrm>
            <a:off x="3831550" y="440241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FFC49AEA-2A8F-250C-A86A-A7751D9706C3}"/>
              </a:ext>
            </a:extLst>
          </p:cNvPr>
          <p:cNvSpPr txBox="1"/>
          <p:nvPr/>
        </p:nvSpPr>
        <p:spPr>
          <a:xfrm>
            <a:off x="4332218" y="447694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3909746" y="453080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3" name="모서리가 둥근 직사각형 102"/>
          <p:cNvSpPr/>
          <p:nvPr/>
        </p:nvSpPr>
        <p:spPr>
          <a:xfrm>
            <a:off x="3831550" y="480910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4883626"/>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493748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4332218" y="4267301"/>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3838314" y="4267301"/>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3795734" y="391589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58" name="모서리가 둥근 직사각형 357"/>
          <p:cNvSpPr/>
          <p:nvPr/>
        </p:nvSpPr>
        <p:spPr>
          <a:xfrm rot="5400000">
            <a:off x="5782577" y="462961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859609203"/>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88464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t>이행</a:t>
            </a:r>
            <a:r>
              <a:rPr lang="en-US" altLang="ko-KR" sz="900" b="1" dirty="0"/>
              <a:t>/</a:t>
            </a:r>
            <a:r>
              <a:rPr lang="ko-KR" altLang="en-US" sz="900" b="1" dirty="0"/>
              <a:t>적격심사 포기사유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dmt_impltElgbSrngAbndRsn</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포기사유구분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elgbSrngAbndRsnSe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포기사유구분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상태가 심사포기인 경우 조회 항목으로 속성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463197"/>
                  </a:ext>
                </a:extLst>
              </a:tr>
              <a:tr h="0">
                <a:tc>
                  <a:txBody>
                    <a:bodyPr/>
                    <a:lstStyle/>
                    <a:p>
                      <a:pPr latinLnBrk="1"/>
                      <a:r>
                        <a:rPr lang="ko-KR" altLang="en-US" sz="800" dirty="0">
                          <a:latin typeface="+mn-ea"/>
                          <a:ea typeface="+mn-ea"/>
                        </a:rPr>
                        <a:t>포기사유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srngMnftrBzentyAbndRsn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포기사유를 기타</a:t>
                      </a:r>
                      <a:r>
                        <a:rPr lang="en-US" altLang="ko-KR" sz="800" dirty="0">
                          <a:latin typeface="+mn-ea"/>
                          <a:ea typeface="+mn-ea"/>
                        </a:rPr>
                        <a:t>(</a:t>
                      </a:r>
                      <a:r>
                        <a:rPr lang="ko-KR" altLang="en-US" sz="800" dirty="0">
                          <a:latin typeface="+mn-ea"/>
                          <a:ea typeface="+mn-ea"/>
                        </a:rPr>
                        <a:t>수기 입력</a:t>
                      </a:r>
                      <a:r>
                        <a:rPr lang="en-US" altLang="ko-KR" sz="800" dirty="0">
                          <a:latin typeface="+mn-ea"/>
                          <a:ea typeface="+mn-ea"/>
                        </a:rPr>
                        <a:t>) </a:t>
                      </a:r>
                      <a:r>
                        <a:rPr lang="ko-KR" altLang="en-US" sz="800" dirty="0">
                          <a:latin typeface="+mn-ea"/>
                          <a:ea typeface="+mn-ea"/>
                        </a:rPr>
                        <a:t>선택한 경우 포기 사유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상태가 심사포기인 경우 조회 항목으로 속성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1083736"/>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2020970"/>
            <a:ext cx="201233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2304724"/>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19853">
                  <a:extLst>
                    <a:ext uri="{9D8B030D-6E8A-4147-A177-3AD203B41FA5}">
                      <a16:colId xmlns:a16="http://schemas.microsoft.com/office/drawing/2014/main" val="20004"/>
                    </a:ext>
                  </a:extLst>
                </a:gridCol>
                <a:gridCol w="225357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첨부서류명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703289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1259264"/>
                  </a:ext>
                </a:extLst>
              </a:tr>
            </a:tbl>
          </a:graphicData>
        </a:graphic>
      </p:graphicFrame>
      <p:sp>
        <p:nvSpPr>
          <p:cNvPr id="5" name="TextBox 4">
            <a:extLst>
              <a:ext uri="{FF2B5EF4-FFF2-40B4-BE49-F238E27FC236}">
                <a16:creationId xmlns:a16="http://schemas.microsoft.com/office/drawing/2014/main" id="{B45602F2-4861-A86C-4F22-E39E93C41981}"/>
              </a:ext>
            </a:extLst>
          </p:cNvPr>
          <p:cNvSpPr txBox="1"/>
          <p:nvPr/>
        </p:nvSpPr>
        <p:spPr>
          <a:xfrm>
            <a:off x="457408" y="344790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12C3E036-652F-6406-8365-AA90F644029A}"/>
              </a:ext>
            </a:extLst>
          </p:cNvPr>
          <p:cNvGraphicFramePr>
            <a:graphicFrameLocks noGrp="1"/>
          </p:cNvGraphicFramePr>
          <p:nvPr/>
        </p:nvGraphicFramePr>
        <p:xfrm>
          <a:off x="452291" y="3713966"/>
          <a:ext cx="8995591" cy="22828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scwin.getImpltElgbSrngAbndAplyInfo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a:t>
                      </a:r>
                      <a:r>
                        <a:rPr lang="en-US" altLang="ko-KR" sz="800" dirty="0">
                          <a:latin typeface="+mn-ea"/>
                          <a:ea typeface="+mn-ea"/>
                        </a:rPr>
                        <a:t>, </a:t>
                      </a:r>
                      <a:r>
                        <a:rPr lang="ko-KR" altLang="en-US" sz="800" dirty="0">
                          <a:latin typeface="+mn-ea"/>
                          <a:ea typeface="+mn-ea"/>
                        </a:rPr>
                        <a:t>첨부서류를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6404510"/>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7766952"/>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9602629"/>
                  </a:ext>
                </a:extLst>
              </a:tr>
              <a:tr h="0">
                <a:tc>
                  <a:txBody>
                    <a:bodyPr/>
                    <a:lstStyle/>
                    <a:p>
                      <a:r>
                        <a:rPr lang="ko-KR" altLang="en-US" sz="800" dirty="0"/>
                        <a:t>첨부서류의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scwin.btn_atchFileNm_onclick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3277268"/>
                  </a:ext>
                </a:extLst>
              </a:tr>
              <a:tr h="0">
                <a:tc>
                  <a:txBody>
                    <a:bodyPr/>
                    <a:lstStyle/>
                    <a:p>
                      <a:r>
                        <a:rPr lang="ko-KR" altLang="en-US" sz="800" dirty="0"/>
                        <a:t>심사포기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scwin.btn_srngAbnd_onclick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심사신청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닫기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팝업화면 닫기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8" name="Text Box 73">
            <a:extLst>
              <a:ext uri="{FF2B5EF4-FFF2-40B4-BE49-F238E27FC236}">
                <a16:creationId xmlns:a16="http://schemas.microsoft.com/office/drawing/2014/main" id="{6AB20EDE-9F69-1BEC-636E-782FB05BF34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4658463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274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16</a:t>
            </a:r>
            <a:r>
              <a:rPr lang="en-US" altLang="ko-KR" dirty="0"/>
              <a:t>. </a:t>
            </a:r>
            <a:r>
              <a:rPr lang="ko-KR" altLang="en-US" dirty="0" err="1"/>
              <a:t>개찰목록</a:t>
            </a:r>
            <a:r>
              <a:rPr lang="ko-KR" altLang="en-US" dirty="0"/>
              <a:t> 및 이행</a:t>
            </a:r>
            <a:r>
              <a:rPr lang="en-US" altLang="ko-KR" dirty="0"/>
              <a:t>/</a:t>
            </a:r>
            <a:r>
              <a:rPr lang="ko-KR" altLang="en-US" dirty="0"/>
              <a:t>적격심사</a:t>
            </a:r>
            <a:endParaRPr lang="en-US" altLang="ko-KR" dirty="0"/>
          </a:p>
          <a:p>
            <a:r>
              <a:rPr lang="en-US" altLang="ko-KR" dirty="0" smtClean="0"/>
              <a:t>16.1 </a:t>
            </a:r>
            <a:r>
              <a:rPr lang="ko-KR" altLang="en-US" dirty="0"/>
              <a:t>화면 목록 </a:t>
            </a:r>
            <a:r>
              <a:rPr lang="en-US" altLang="ko-KR" dirty="0"/>
              <a:t>(3/3)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3566413756"/>
              </p:ext>
            </p:extLst>
          </p:nvPr>
        </p:nvGraphicFramePr>
        <p:xfrm>
          <a:off x="635474" y="1413419"/>
          <a:ext cx="8701200" cy="337786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700" kern="1200" dirty="0" smtClean="0">
                          <a:solidFill>
                            <a:schemeClr val="tx1"/>
                          </a:solidFill>
                          <a:latin typeface="+mn-ea"/>
                          <a:ea typeface="+mn-ea"/>
                          <a:cs typeface="+mn-cs"/>
                        </a:rPr>
                        <a:t>MUI-BD-10-T04</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smtClean="0">
                          <a:solidFill>
                            <a:schemeClr val="tx1"/>
                          </a:solidFill>
                          <a:latin typeface="+mn-ea"/>
                          <a:ea typeface="+mn-ea"/>
                          <a:cs typeface="+mn-cs"/>
                        </a:rPr>
                        <a:t>적격심사결과상세</a:t>
                      </a:r>
                      <a:r>
                        <a:rPr lang="en-US" altLang="ko-KR" sz="800" kern="1200" dirty="0" smtClean="0">
                          <a:solidFill>
                            <a:schemeClr val="tx1"/>
                          </a:solidFill>
                          <a:latin typeface="+mn-ea"/>
                          <a:ea typeface="+mn-ea"/>
                          <a:cs typeface="+mn-cs"/>
                        </a:rPr>
                        <a:t/>
                      </a:r>
                      <a:br>
                        <a:rPr lang="en-US" altLang="ko-KR" sz="800" kern="1200" dirty="0" smtClean="0">
                          <a:solidFill>
                            <a:schemeClr val="tx1"/>
                          </a:solidFill>
                          <a:latin typeface="+mn-ea"/>
                          <a:ea typeface="+mn-ea"/>
                          <a:cs typeface="+mn-cs"/>
                        </a:rPr>
                      </a:br>
                      <a:r>
                        <a:rPr lang="en-US" altLang="ko-KR" sz="800" kern="1200" dirty="0" smtClean="0">
                          <a:solidFill>
                            <a:schemeClr val="tx1"/>
                          </a:solidFill>
                          <a:latin typeface="+mn-ea"/>
                          <a:ea typeface="+mn-ea"/>
                          <a:cs typeface="+mn-cs"/>
                        </a:rPr>
                        <a:t>-</a:t>
                      </a:r>
                      <a:r>
                        <a:rPr lang="en-US" altLang="ko-KR" sz="800" kern="1200" baseline="0" dirty="0" smtClean="0">
                          <a:solidFill>
                            <a:schemeClr val="tx1"/>
                          </a:solidFill>
                          <a:latin typeface="+mn-ea"/>
                          <a:ea typeface="+mn-ea"/>
                          <a:cs typeface="+mn-cs"/>
                        </a:rPr>
                        <a:t> </a:t>
                      </a:r>
                      <a:r>
                        <a:rPr lang="ko-KR" altLang="en-US" sz="800" kern="1200" baseline="0" dirty="0" smtClean="0">
                          <a:solidFill>
                            <a:schemeClr val="tx1"/>
                          </a:solidFill>
                          <a:latin typeface="+mn-ea"/>
                          <a:ea typeface="+mn-ea"/>
                          <a:cs typeface="+mn-cs"/>
                        </a:rPr>
                        <a:t>통사</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kern="1200" dirty="0" smtClean="0">
                          <a:solidFill>
                            <a:schemeClr val="tx1"/>
                          </a:solidFill>
                          <a:latin typeface="+mn-ea"/>
                          <a:ea typeface="+mn-ea"/>
                          <a:cs typeface="+mn-cs"/>
                        </a:rPr>
                        <a:t>ImpltElgblRslt_g2b</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dirty="0" smtClean="0">
                          <a:latin typeface="+mn-lt"/>
                          <a:ea typeface="+mn-ea"/>
                        </a:rPr>
                        <a:t>통사의 이행</a:t>
                      </a:r>
                      <a:r>
                        <a:rPr lang="en-US" altLang="ko-KR" sz="800" dirty="0" smtClean="0">
                          <a:latin typeface="+mn-lt"/>
                          <a:ea typeface="+mn-ea"/>
                        </a:rPr>
                        <a:t>/</a:t>
                      </a:r>
                      <a:r>
                        <a:rPr lang="ko-KR" altLang="en-US" sz="800" dirty="0" err="1" smtClean="0">
                          <a:latin typeface="+mn-lt"/>
                          <a:ea typeface="+mn-ea"/>
                        </a:rPr>
                        <a:t>적격심사</a:t>
                      </a:r>
                      <a:r>
                        <a:rPr lang="ko-KR" altLang="en-US" sz="800" dirty="0" err="1" smtClean="0"/>
                        <a:t>의</a:t>
                      </a:r>
                      <a:r>
                        <a:rPr lang="ko-KR" altLang="en-US" sz="800" dirty="0" smtClean="0"/>
                        <a:t> 결과를 조회하기 위한 화면이다</a:t>
                      </a:r>
                      <a:r>
                        <a:rPr lang="en-US" altLang="ko-KR" sz="800" dirty="0" smtClean="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Implt.tsx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08087897"/>
                  </a:ext>
                </a:extLst>
              </a:tr>
              <a:tr h="180000">
                <a:tc>
                  <a:txBody>
                    <a:bodyPr/>
                    <a:lstStyle/>
                    <a:p>
                      <a:pPr algn="ctr" rtl="0" fontAlgn="ctr"/>
                      <a:r>
                        <a:rPr lang="en-US" sz="700" kern="1200" dirty="0">
                          <a:solidFill>
                            <a:schemeClr val="tx1"/>
                          </a:solidFill>
                          <a:latin typeface="+mn-ea"/>
                          <a:ea typeface="+mn-ea"/>
                          <a:cs typeface="+mn-cs"/>
                        </a:rPr>
                        <a:t>MUI-BD-10-T05</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적격심사결과상세</a:t>
                      </a:r>
                      <a:endParaRPr lang="en-US" altLang="ko-KR" sz="800" kern="1200" dirty="0" smtClean="0">
                        <a:solidFill>
                          <a:schemeClr val="tx1"/>
                        </a:solidFill>
                        <a:latin typeface="+mn-ea"/>
                        <a:ea typeface="+mn-ea"/>
                        <a:cs typeface="+mn-cs"/>
                      </a:endParaRPr>
                    </a:p>
                    <a:p>
                      <a:pPr algn="l" fontAlgn="ctr"/>
                      <a:r>
                        <a:rPr lang="en-US" altLang="ko-KR" sz="800" kern="1200" dirty="0" smtClean="0">
                          <a:solidFill>
                            <a:schemeClr val="tx1"/>
                          </a:solidFill>
                          <a:latin typeface="+mn-ea"/>
                          <a:ea typeface="+mn-ea"/>
                          <a:cs typeface="+mn-cs"/>
                        </a:rPr>
                        <a:t>- </a:t>
                      </a:r>
                      <a:r>
                        <a:rPr lang="ko-KR" altLang="en-US" sz="800" kern="1200" dirty="0">
                          <a:solidFill>
                            <a:schemeClr val="tx1"/>
                          </a:solidFill>
                          <a:latin typeface="+mn-ea"/>
                          <a:ea typeface="+mn-ea"/>
                          <a:cs typeface="+mn-cs"/>
                        </a:rPr>
                        <a:t>물품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ImpltElgblRslt_Cmdty</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t>물품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Cmdty.tsx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4375975"/>
                  </a:ext>
                </a:extLst>
              </a:tr>
              <a:tr h="180000">
                <a:tc>
                  <a:txBody>
                    <a:bodyPr/>
                    <a:lstStyle/>
                    <a:p>
                      <a:pPr algn="ctr" rtl="0" fontAlgn="ctr"/>
                      <a:r>
                        <a:rPr lang="en-US" sz="700" kern="1200" dirty="0">
                          <a:solidFill>
                            <a:schemeClr val="tx1"/>
                          </a:solidFill>
                          <a:latin typeface="+mn-ea"/>
                          <a:ea typeface="+mn-ea"/>
                          <a:cs typeface="+mn-cs"/>
                        </a:rPr>
                        <a:t>MUI-BD-10-T06</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적격심사결과상세</a:t>
                      </a:r>
                      <a:endParaRPr lang="en-US" altLang="ko-KR" sz="800" kern="1200" dirty="0" smtClean="0">
                        <a:solidFill>
                          <a:schemeClr val="tx1"/>
                        </a:solidFill>
                        <a:latin typeface="+mn-ea"/>
                        <a:ea typeface="+mn-ea"/>
                        <a:cs typeface="+mn-cs"/>
                      </a:endParaRPr>
                    </a:p>
                    <a:p>
                      <a:pPr algn="l" fontAlgn="ctr"/>
                      <a:r>
                        <a:rPr lang="en-US" altLang="ko-KR" sz="800" kern="1200" dirty="0" smtClean="0">
                          <a:solidFill>
                            <a:schemeClr val="tx1"/>
                          </a:solidFill>
                          <a:latin typeface="+mn-ea"/>
                          <a:ea typeface="+mn-ea"/>
                          <a:cs typeface="+mn-cs"/>
                        </a:rPr>
                        <a:t>- </a:t>
                      </a:r>
                      <a:r>
                        <a:rPr lang="ko-KR" altLang="en-US" sz="800" kern="1200" dirty="0">
                          <a:solidFill>
                            <a:schemeClr val="tx1"/>
                          </a:solidFill>
                          <a:latin typeface="+mn-ea"/>
                          <a:ea typeface="+mn-ea"/>
                          <a:cs typeface="+mn-cs"/>
                        </a:rPr>
                        <a:t>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ea"/>
                          <a:ea typeface="+mn-ea"/>
                          <a:cs typeface="+mn-cs"/>
                        </a:rPr>
                        <a:t>ImpltElgblRslt_Lbsvc</a:t>
                      </a:r>
                      <a:endParaRPr 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t>용역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Lbsvc.tsx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1783753"/>
                  </a:ext>
                </a:extLst>
              </a:tr>
              <a:tr h="180000">
                <a:tc>
                  <a:txBody>
                    <a:bodyPr/>
                    <a:lstStyle/>
                    <a:p>
                      <a:pPr algn="ctr" rtl="0" fontAlgn="ctr"/>
                      <a:r>
                        <a:rPr lang="en-US" sz="700" kern="1200" dirty="0">
                          <a:solidFill>
                            <a:schemeClr val="tx1"/>
                          </a:solidFill>
                          <a:latin typeface="+mn-ea"/>
                          <a:ea typeface="+mn-ea"/>
                          <a:cs typeface="+mn-cs"/>
                        </a:rPr>
                        <a:t>MUI-BD-10-T07</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적격심사결과상세</a:t>
                      </a:r>
                      <a:endParaRPr lang="en-US" altLang="ko-KR" sz="800" kern="1200" dirty="0" smtClean="0">
                        <a:solidFill>
                          <a:schemeClr val="tx1"/>
                        </a:solidFill>
                        <a:latin typeface="+mn-ea"/>
                        <a:ea typeface="+mn-ea"/>
                        <a:cs typeface="+mn-cs"/>
                      </a:endParaRPr>
                    </a:p>
                    <a:p>
                      <a:pPr algn="l" fontAlgn="ctr"/>
                      <a:r>
                        <a:rPr lang="en-US" altLang="ko-KR" sz="800" kern="1200" dirty="0" smtClean="0">
                          <a:solidFill>
                            <a:schemeClr val="tx1"/>
                          </a:solidFill>
                          <a:latin typeface="+mn-ea"/>
                          <a:ea typeface="+mn-ea"/>
                          <a:cs typeface="+mn-cs"/>
                        </a:rPr>
                        <a:t>- </a:t>
                      </a:r>
                      <a:r>
                        <a:rPr lang="en-US" altLang="ko-KR" sz="800" kern="1200" dirty="0">
                          <a:solidFill>
                            <a:schemeClr val="tx1"/>
                          </a:solidFill>
                          <a:latin typeface="+mn-ea"/>
                          <a:ea typeface="+mn-ea"/>
                          <a:cs typeface="+mn-cs"/>
                        </a:rPr>
                        <a:t>10</a:t>
                      </a:r>
                      <a:r>
                        <a:rPr lang="ko-KR" altLang="en-US" sz="800" kern="1200" dirty="0">
                          <a:solidFill>
                            <a:schemeClr val="tx1"/>
                          </a:solidFill>
                          <a:latin typeface="+mn-ea"/>
                          <a:ea typeface="+mn-ea"/>
                          <a:cs typeface="+mn-cs"/>
                        </a:rPr>
                        <a:t>억원미만물품</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중기청</a:t>
                      </a:r>
                      <a:r>
                        <a:rPr lang="en-US" altLang="ko-KR" sz="800" kern="1200" dirty="0">
                          <a:solidFill>
                            <a:schemeClr val="tx1"/>
                          </a:solidFill>
                          <a:latin typeface="+mn-ea"/>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ImpltElgblRslt_ItemsUnderKrw1B</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lang="ko-KR" altLang="en-US" sz="800" dirty="0"/>
                        <a:t>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/ItemsUnderKrw1B.tsx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3048819"/>
                  </a:ext>
                </a:extLst>
              </a:tr>
              <a:tr h="180000">
                <a:tc>
                  <a:txBody>
                    <a:bodyPr/>
                    <a:lstStyle/>
                    <a:p>
                      <a:pPr algn="ctr" rtl="0" fontAlgn="ctr"/>
                      <a:r>
                        <a:rPr lang="en-US" sz="700" kern="1200" dirty="0">
                          <a:solidFill>
                            <a:schemeClr val="tx1"/>
                          </a:solidFill>
                          <a:latin typeface="+mn-ea"/>
                          <a:ea typeface="+mn-ea"/>
                          <a:cs typeface="+mn-cs"/>
                        </a:rPr>
                        <a:t>MUI-BD-10-T08</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적격심사결과상세</a:t>
                      </a:r>
                      <a:endParaRPr lang="en-US" altLang="ko-KR" sz="800" kern="1200" dirty="0" smtClean="0">
                        <a:solidFill>
                          <a:schemeClr val="tx1"/>
                        </a:solidFill>
                        <a:latin typeface="+mn-ea"/>
                        <a:ea typeface="+mn-ea"/>
                        <a:cs typeface="+mn-cs"/>
                      </a:endParaRPr>
                    </a:p>
                    <a:p>
                      <a:pPr algn="l" fontAlgn="ctr"/>
                      <a:r>
                        <a:rPr lang="en-US" altLang="ko-KR" sz="800" kern="1200" dirty="0" smtClean="0">
                          <a:solidFill>
                            <a:schemeClr val="tx1"/>
                          </a:solidFill>
                          <a:latin typeface="+mn-ea"/>
                          <a:ea typeface="+mn-ea"/>
                          <a:cs typeface="+mn-cs"/>
                        </a:rPr>
                        <a:t>- </a:t>
                      </a:r>
                      <a:r>
                        <a:rPr lang="en-US" altLang="ko-KR" sz="800" kern="1200" dirty="0">
                          <a:solidFill>
                            <a:schemeClr val="tx1"/>
                          </a:solidFill>
                          <a:latin typeface="+mn-ea"/>
                          <a:ea typeface="+mn-ea"/>
                          <a:cs typeface="+mn-cs"/>
                        </a:rPr>
                        <a:t>10</a:t>
                      </a:r>
                      <a:r>
                        <a:rPr lang="ko-KR" altLang="en-US" sz="800" kern="1200" dirty="0">
                          <a:solidFill>
                            <a:schemeClr val="tx1"/>
                          </a:solidFill>
                          <a:latin typeface="+mn-ea"/>
                          <a:ea typeface="+mn-ea"/>
                          <a:cs typeface="+mn-cs"/>
                        </a:rPr>
                        <a:t>억원미만물품제조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ImpltElgblRslt_ItemsUnderKrw1B</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제조</a:t>
                      </a:r>
                      <a:r>
                        <a:rPr lang="ko-KR" altLang="en-US" sz="800" dirty="0"/>
                        <a:t>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/ManufacturingofItemsUnderKrw1B.tsx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0702345"/>
                  </a:ext>
                </a:extLst>
              </a:tr>
              <a:tr h="180000">
                <a:tc>
                  <a:txBody>
                    <a:bodyPr/>
                    <a:lstStyle/>
                    <a:p>
                      <a:pPr algn="ctr" rtl="0" fontAlgn="ctr"/>
                      <a:r>
                        <a:rPr lang="en-US" sz="700" kern="1200" dirty="0">
                          <a:solidFill>
                            <a:schemeClr val="tx1"/>
                          </a:solidFill>
                          <a:latin typeface="+mn-ea"/>
                          <a:ea typeface="+mn-ea"/>
                          <a:cs typeface="+mn-cs"/>
                        </a:rPr>
                        <a:t>MUI-BD-10-T09</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적격심사결과상세</a:t>
                      </a:r>
                      <a:endParaRPr lang="en-US" altLang="ko-KR" sz="800" kern="1200" dirty="0" smtClean="0">
                        <a:solidFill>
                          <a:schemeClr val="tx1"/>
                        </a:solidFill>
                        <a:latin typeface="+mn-ea"/>
                        <a:ea typeface="+mn-ea"/>
                        <a:cs typeface="+mn-cs"/>
                      </a:endParaRPr>
                    </a:p>
                    <a:p>
                      <a:pPr algn="l" fontAlgn="ctr"/>
                      <a:r>
                        <a:rPr lang="en-US" altLang="ko-KR" sz="800" kern="1200" dirty="0" smtClean="0">
                          <a:solidFill>
                            <a:schemeClr val="tx1"/>
                          </a:solidFill>
                          <a:latin typeface="+mn-ea"/>
                          <a:ea typeface="+mn-ea"/>
                          <a:cs typeface="+mn-cs"/>
                        </a:rPr>
                        <a:t>- </a:t>
                      </a:r>
                      <a:r>
                        <a:rPr lang="en-US" altLang="ko-KR" sz="800" kern="1200" dirty="0">
                          <a:solidFill>
                            <a:schemeClr val="tx1"/>
                          </a:solidFill>
                          <a:latin typeface="+mn-ea"/>
                          <a:ea typeface="+mn-ea"/>
                          <a:cs typeface="+mn-cs"/>
                        </a:rPr>
                        <a:t>10</a:t>
                      </a:r>
                      <a:r>
                        <a:rPr lang="ko-KR" altLang="en-US" sz="800" kern="1200" dirty="0">
                          <a:solidFill>
                            <a:schemeClr val="tx1"/>
                          </a:solidFill>
                          <a:latin typeface="+mn-ea"/>
                          <a:ea typeface="+mn-ea"/>
                          <a:cs typeface="+mn-cs"/>
                        </a:rPr>
                        <a:t>억원미만물품제조</a:t>
                      </a:r>
                      <a:r>
                        <a:rPr lang="en-US" altLang="ko-KR" sz="800" kern="1200" dirty="0">
                          <a:solidFill>
                            <a:schemeClr val="tx1"/>
                          </a:solidFill>
                          <a:latin typeface="+mn-ea"/>
                          <a:ea typeface="+mn-ea"/>
                          <a:cs typeface="+mn-cs"/>
                        </a:rPr>
                        <a:t>2015</a:t>
                      </a:r>
                      <a:r>
                        <a:rPr lang="ko-KR" altLang="en-US" sz="800" kern="1200" dirty="0">
                          <a:solidFill>
                            <a:schemeClr val="tx1"/>
                          </a:solidFill>
                          <a:latin typeface="+mn-ea"/>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ImpltElgblRslt_ManufacturingofItemsUnderKrw1B</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t>2015</a:t>
                      </a:r>
                      <a:r>
                        <a:rPr lang="ko-KR" altLang="en-US" sz="800" dirty="0"/>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제조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ManufacturingofItemsUnderKrw1B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433094"/>
                  </a:ext>
                </a:extLst>
              </a:tr>
              <a:tr h="180000">
                <a:tc>
                  <a:txBody>
                    <a:bodyPr/>
                    <a:lstStyle/>
                    <a:p>
                      <a:pPr algn="ctr" rtl="0" fontAlgn="ctr"/>
                      <a:r>
                        <a:rPr lang="en-US" sz="700" kern="1200" dirty="0">
                          <a:solidFill>
                            <a:schemeClr val="tx1"/>
                          </a:solidFill>
                          <a:latin typeface="+mn-ea"/>
                          <a:ea typeface="+mn-ea"/>
                          <a:cs typeface="+mn-cs"/>
                        </a:rPr>
                        <a:t>MUI-BD-10-T10</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적격심사결과상세</a:t>
                      </a:r>
                      <a:endParaRPr lang="en-US" altLang="ko-KR" sz="800" kern="1200" dirty="0" smtClean="0">
                        <a:solidFill>
                          <a:schemeClr val="tx1"/>
                        </a:solidFill>
                        <a:latin typeface="+mn-ea"/>
                        <a:ea typeface="+mn-ea"/>
                        <a:cs typeface="+mn-cs"/>
                      </a:endParaRPr>
                    </a:p>
                    <a:p>
                      <a:pPr algn="l" fontAlgn="ctr"/>
                      <a:r>
                        <a:rPr lang="en-US" altLang="ko-KR" sz="800" kern="1200" dirty="0" smtClean="0">
                          <a:solidFill>
                            <a:schemeClr val="tx1"/>
                          </a:solidFill>
                          <a:latin typeface="+mn-ea"/>
                          <a:ea typeface="+mn-ea"/>
                          <a:cs typeface="+mn-cs"/>
                        </a:rPr>
                        <a:t>- </a:t>
                      </a:r>
                      <a:r>
                        <a:rPr lang="en-US" altLang="ko-KR" sz="800" kern="1200" dirty="0">
                          <a:solidFill>
                            <a:schemeClr val="tx1"/>
                          </a:solidFill>
                          <a:latin typeface="+mn-ea"/>
                          <a:ea typeface="+mn-ea"/>
                          <a:cs typeface="+mn-cs"/>
                        </a:rPr>
                        <a:t>10</a:t>
                      </a:r>
                      <a:r>
                        <a:rPr lang="ko-KR" altLang="en-US" sz="800" kern="1200" dirty="0">
                          <a:solidFill>
                            <a:schemeClr val="tx1"/>
                          </a:solidFill>
                          <a:latin typeface="+mn-ea"/>
                          <a:ea typeface="+mn-ea"/>
                          <a:cs typeface="+mn-cs"/>
                        </a:rPr>
                        <a:t>억원미만물품구매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ImpltElgblRslt_ManufacturingofItemsUnderKrw1B_2015</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구매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PurchaseofItemsUnderKrw1B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9524691"/>
                  </a:ext>
                </a:extLst>
              </a:tr>
              <a:tr h="180000">
                <a:tc>
                  <a:txBody>
                    <a:bodyPr/>
                    <a:lstStyle/>
                    <a:p>
                      <a:pPr algn="ctr" rtl="0" fontAlgn="ctr"/>
                      <a:r>
                        <a:rPr lang="en-US" sz="700" kern="1200" dirty="0">
                          <a:solidFill>
                            <a:schemeClr val="tx1"/>
                          </a:solidFill>
                          <a:latin typeface="+mn-ea"/>
                          <a:ea typeface="+mn-ea"/>
                          <a:cs typeface="+mn-cs"/>
                        </a:rPr>
                        <a:t>MUI-BD-10-T11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적격심사결과상세</a:t>
                      </a:r>
                      <a:endParaRPr lang="en-US" altLang="ko-KR" sz="800" kern="1200" dirty="0" smtClean="0">
                        <a:solidFill>
                          <a:schemeClr val="tx1"/>
                        </a:solidFill>
                        <a:latin typeface="+mn-ea"/>
                        <a:ea typeface="+mn-ea"/>
                        <a:cs typeface="+mn-cs"/>
                      </a:endParaRPr>
                    </a:p>
                    <a:p>
                      <a:pPr algn="l" fontAlgn="ctr"/>
                      <a:r>
                        <a:rPr lang="en-US" altLang="ko-KR" sz="800" kern="1200" dirty="0" smtClean="0">
                          <a:solidFill>
                            <a:schemeClr val="tx1"/>
                          </a:solidFill>
                          <a:latin typeface="+mn-ea"/>
                          <a:ea typeface="+mn-ea"/>
                          <a:cs typeface="+mn-cs"/>
                        </a:rPr>
                        <a:t>- </a:t>
                      </a:r>
                      <a:r>
                        <a:rPr lang="en-US" altLang="ko-KR" sz="800" kern="1200" dirty="0">
                          <a:solidFill>
                            <a:schemeClr val="tx1"/>
                          </a:solidFill>
                          <a:latin typeface="+mn-ea"/>
                          <a:ea typeface="+mn-ea"/>
                          <a:cs typeface="+mn-cs"/>
                        </a:rPr>
                        <a:t>10</a:t>
                      </a:r>
                      <a:r>
                        <a:rPr lang="ko-KR" altLang="en-US" sz="800" kern="1200" dirty="0">
                          <a:solidFill>
                            <a:schemeClr val="tx1"/>
                          </a:solidFill>
                          <a:latin typeface="+mn-ea"/>
                          <a:ea typeface="+mn-ea"/>
                          <a:cs typeface="+mn-cs"/>
                        </a:rPr>
                        <a:t>억원미만물품구매</a:t>
                      </a:r>
                      <a:r>
                        <a:rPr lang="en-US" altLang="ko-KR" sz="800" kern="1200" dirty="0">
                          <a:solidFill>
                            <a:schemeClr val="tx1"/>
                          </a:solidFill>
                          <a:latin typeface="+mn-ea"/>
                          <a:ea typeface="+mn-ea"/>
                          <a:cs typeface="+mn-cs"/>
                        </a:rPr>
                        <a:t>2015</a:t>
                      </a:r>
                      <a:r>
                        <a:rPr lang="ko-KR" altLang="en-US" sz="800" kern="1200" dirty="0">
                          <a:solidFill>
                            <a:schemeClr val="tx1"/>
                          </a:solidFill>
                          <a:latin typeface="+mn-ea"/>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ImpltElgblRslt_PurchaseofItemsUnderKrw1B</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t>2015</a:t>
                      </a:r>
                      <a:r>
                        <a:rPr lang="ko-KR" altLang="en-US" sz="800" dirty="0"/>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구매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PurchaseofItemsUnderKrw1B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7685894"/>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4" name="직사각형 3"/>
          <p:cNvSpPr/>
          <p:nvPr/>
        </p:nvSpPr>
        <p:spPr>
          <a:xfrm>
            <a:off x="5124995" y="555837"/>
            <a:ext cx="4781005" cy="78528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이행적격심사결과 상세 </a:t>
            </a:r>
            <a:r>
              <a:rPr lang="en-US" altLang="ko-KR" dirty="0" smtClean="0"/>
              <a:t>– </a:t>
            </a:r>
            <a:r>
              <a:rPr lang="ko-KR" altLang="en-US" dirty="0" smtClean="0"/>
              <a:t>통사 건</a:t>
            </a:r>
            <a:endParaRPr lang="en-US" altLang="ko-KR" dirty="0" smtClean="0"/>
          </a:p>
          <a:p>
            <a:pPr algn="ctr"/>
            <a:r>
              <a:rPr lang="ko-KR" altLang="en-US" dirty="0" smtClean="0"/>
              <a:t>추후에 알 수 있음</a:t>
            </a:r>
            <a:r>
              <a:rPr lang="en-US" altLang="ko-KR" dirty="0" smtClean="0"/>
              <a:t>.</a:t>
            </a:r>
            <a:endParaRPr lang="ko-KR" altLang="en-US" dirty="0"/>
          </a:p>
        </p:txBody>
      </p:sp>
    </p:spTree>
    <p:extLst>
      <p:ext uri="{BB962C8B-B14F-4D97-AF65-F5344CB8AC3E}">
        <p14:creationId xmlns:p14="http://schemas.microsoft.com/office/powerpoint/2010/main" val="322109189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275</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smtClean="0"/>
              <a:t>16</a:t>
            </a:r>
            <a:r>
              <a:rPr lang="en-US" altLang="ko-KR" dirty="0"/>
              <a:t>. </a:t>
            </a:r>
            <a:r>
              <a:rPr lang="ko-KR" altLang="en-US" dirty="0" err="1"/>
              <a:t>개찰목록</a:t>
            </a:r>
            <a:r>
              <a:rPr lang="ko-KR" altLang="en-US" dirty="0"/>
              <a:t> 및 이행</a:t>
            </a:r>
            <a:r>
              <a:rPr lang="en-US" altLang="ko-KR" dirty="0"/>
              <a:t>/</a:t>
            </a:r>
            <a:r>
              <a:rPr lang="ko-KR" altLang="en-US" dirty="0"/>
              <a:t>적격심사</a:t>
            </a:r>
            <a:endParaRPr lang="en-US" altLang="ko-KR" dirty="0"/>
          </a:p>
          <a:p>
            <a:r>
              <a:rPr lang="en-US" altLang="ko-KR" dirty="0" smtClean="0"/>
              <a:t>16.1 </a:t>
            </a:r>
            <a:r>
              <a:rPr lang="ko-KR" altLang="en-US" dirty="0"/>
              <a:t>화면 목록 </a:t>
            </a:r>
            <a:r>
              <a:rPr lang="en-US" altLang="ko-KR" dirty="0"/>
              <a:t>(3/3)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626048137"/>
              </p:ext>
            </p:extLst>
          </p:nvPr>
        </p:nvGraphicFramePr>
        <p:xfrm>
          <a:off x="635474" y="1413419"/>
          <a:ext cx="8701200" cy="40857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lt"/>
                          <a:ea typeface="+mn-ea"/>
                        </a:rPr>
                        <a:t>화면 </a:t>
                      </a:r>
                      <a:r>
                        <a:rPr lang="en-US" altLang="ko-KR" sz="800" b="1" dirty="0">
                          <a:latin typeface="+mn-lt"/>
                          <a:ea typeface="+mn-ea"/>
                        </a:rPr>
                        <a:t>ID</a:t>
                      </a:r>
                      <a:endParaRPr lang="ko-KR" altLang="en-US" sz="800" b="1" dirty="0">
                        <a:latin typeface="+mn-lt"/>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화면명</a:t>
                      </a:r>
                      <a:r>
                        <a:rPr lang="en-US" altLang="ko-KR" sz="800" b="1" dirty="0">
                          <a:latin typeface="+mn-lt"/>
                          <a:ea typeface="+mn-ea"/>
                        </a:rPr>
                        <a:t>(</a:t>
                      </a:r>
                      <a:r>
                        <a:rPr lang="ko-KR" altLang="en-US" sz="800" b="1" dirty="0">
                          <a:latin typeface="+mn-lt"/>
                          <a:ea typeface="+mn-ea"/>
                        </a:rPr>
                        <a:t>한글</a:t>
                      </a:r>
                      <a:r>
                        <a:rPr lang="en-US" altLang="ko-KR" sz="800" b="1" dirty="0">
                          <a:latin typeface="+mn-lt"/>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화면명</a:t>
                      </a:r>
                      <a:r>
                        <a:rPr lang="en-US" altLang="ko-KR" sz="800" b="1" dirty="0">
                          <a:latin typeface="+mn-lt"/>
                          <a:ea typeface="+mn-ea"/>
                        </a:rPr>
                        <a:t>(</a:t>
                      </a:r>
                      <a:r>
                        <a:rPr lang="ko-KR" altLang="en-US" sz="800" b="1" dirty="0">
                          <a:latin typeface="+mn-lt"/>
                          <a:ea typeface="+mn-ea"/>
                        </a:rPr>
                        <a:t>영문</a:t>
                      </a:r>
                      <a:r>
                        <a:rPr lang="en-US" altLang="ko-KR" sz="800" b="1" dirty="0">
                          <a:latin typeface="+mn-lt"/>
                          <a:ea typeface="+mn-ea"/>
                        </a:rPr>
                        <a:t>)</a:t>
                      </a:r>
                      <a:r>
                        <a:rPr lang="en-US" altLang="ko-KR" sz="800" b="1" baseline="30000" dirty="0">
                          <a:latin typeface="+mn-lt"/>
                          <a:ea typeface="+mn-ea"/>
                        </a:rPr>
                        <a:t> 1)</a:t>
                      </a:r>
                      <a:endParaRPr lang="ko-KR" altLang="en-US" sz="800" b="1" dirty="0">
                        <a:latin typeface="+mn-lt"/>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lt"/>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웹페이지</a:t>
                      </a:r>
                      <a:r>
                        <a:rPr lang="ko-KR" altLang="en-US" sz="800" b="1" dirty="0">
                          <a:latin typeface="+mn-lt"/>
                          <a:ea typeface="+mn-ea"/>
                        </a:rPr>
                        <a:t> 경로</a:t>
                      </a:r>
                      <a:r>
                        <a:rPr lang="en-US" altLang="ko-KR" sz="800" b="1" baseline="30000" dirty="0">
                          <a:latin typeface="+mn-lt"/>
                          <a:ea typeface="+mn-ea"/>
                        </a:rPr>
                        <a:t> 1)</a:t>
                      </a:r>
                      <a:endParaRPr lang="ko-KR" altLang="en-US" sz="800" b="1" dirty="0">
                        <a:latin typeface="+mn-lt"/>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lt"/>
                          <a:ea typeface="+mn-ea"/>
                        </a:rPr>
                        <a:t>유스케이스</a:t>
                      </a:r>
                      <a:r>
                        <a:rPr lang="ko-KR" altLang="en-US" sz="800" b="1" dirty="0">
                          <a:latin typeface="+mn-lt"/>
                          <a:ea typeface="+mn-ea"/>
                        </a:rPr>
                        <a:t> </a:t>
                      </a:r>
                      <a:r>
                        <a:rPr lang="en-US" altLang="ko-KR" sz="800" b="1" dirty="0">
                          <a:latin typeface="+mn-lt"/>
                          <a:ea typeface="+mn-ea"/>
                        </a:rPr>
                        <a:t>ID</a:t>
                      </a:r>
                      <a:endParaRPr lang="ko-KR" altLang="en-US" sz="800" b="1" dirty="0">
                        <a:latin typeface="+mn-lt"/>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MUI-BD-10-T12</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en-US" altLang="ko-KR" sz="800" kern="1200" dirty="0">
                          <a:solidFill>
                            <a:schemeClr val="tx1"/>
                          </a:solidFill>
                          <a:latin typeface="+mn-lt"/>
                          <a:ea typeface="+mn-ea"/>
                          <a:cs typeface="+mn-cs"/>
                        </a:rPr>
                        <a:t>10</a:t>
                      </a:r>
                      <a:r>
                        <a:rPr lang="ko-KR" altLang="en-US" sz="800" kern="1200" dirty="0">
                          <a:solidFill>
                            <a:schemeClr val="tx1"/>
                          </a:solidFill>
                          <a:latin typeface="+mn-lt"/>
                          <a:ea typeface="+mn-ea"/>
                          <a:cs typeface="+mn-cs"/>
                        </a:rPr>
                        <a:t>억원미만물품제조</a:t>
                      </a:r>
                      <a:r>
                        <a:rPr lang="en-US" altLang="ko-KR" sz="800" kern="1200" dirty="0">
                          <a:solidFill>
                            <a:schemeClr val="tx1"/>
                          </a:solidFill>
                          <a:latin typeface="+mn-lt"/>
                          <a:ea typeface="+mn-ea"/>
                          <a:cs typeface="+mn-cs"/>
                        </a:rPr>
                        <a:t>2018</a:t>
                      </a:r>
                      <a:r>
                        <a:rPr lang="ko-KR" altLang="en-US" sz="800" kern="1200" dirty="0">
                          <a:solidFill>
                            <a:schemeClr val="tx1"/>
                          </a:solidFill>
                          <a:latin typeface="+mn-lt"/>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ManufacturingofItemsUnderKrw1B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lt"/>
                        </a:rPr>
                        <a:t>2018</a:t>
                      </a:r>
                      <a:r>
                        <a:rPr lang="ko-KR" altLang="en-US" sz="800" dirty="0">
                          <a:latin typeface="+mn-lt"/>
                        </a:rPr>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제조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dirty="0" err="1">
                          <a:solidFill>
                            <a:schemeClr val="tx1"/>
                          </a:solidFill>
                          <a:latin typeface="+mn-lt"/>
                          <a:ea typeface="+mn-ea"/>
                        </a:rPr>
                        <a:t>bidRsltDtl</a:t>
                      </a:r>
                      <a:endParaRPr lang="ko-KR" altLang="en-US" sz="800" dirty="0">
                        <a:solidFill>
                          <a:schemeClr val="tx1"/>
                        </a:solidFill>
                        <a:latin typeface="+mn-lt"/>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/PurchaseofItemsUnderKrw1B.tsx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en-US" altLang="ko-KR" sz="800" kern="1200" dirty="0">
                          <a:solidFill>
                            <a:schemeClr val="tx1"/>
                          </a:solidFill>
                          <a:latin typeface="+mn-lt"/>
                          <a:ea typeface="+mn-ea"/>
                          <a:cs typeface="+mn-cs"/>
                        </a:rPr>
                        <a:t>10</a:t>
                      </a:r>
                      <a:r>
                        <a:rPr lang="ko-KR" altLang="en-US" sz="800" kern="1200" dirty="0">
                          <a:solidFill>
                            <a:schemeClr val="tx1"/>
                          </a:solidFill>
                          <a:latin typeface="+mn-lt"/>
                          <a:ea typeface="+mn-ea"/>
                          <a:cs typeface="+mn-cs"/>
                        </a:rPr>
                        <a:t>억원미만물품구매</a:t>
                      </a:r>
                      <a:r>
                        <a:rPr lang="en-US" altLang="ko-KR" sz="800" kern="1200" dirty="0">
                          <a:solidFill>
                            <a:schemeClr val="tx1"/>
                          </a:solidFill>
                          <a:latin typeface="+mn-lt"/>
                          <a:ea typeface="+mn-ea"/>
                          <a:cs typeface="+mn-cs"/>
                        </a:rPr>
                        <a:t>2018</a:t>
                      </a:r>
                      <a:r>
                        <a:rPr lang="ko-KR" altLang="en-US" sz="800" kern="1200" dirty="0">
                          <a:solidFill>
                            <a:schemeClr val="tx1"/>
                          </a:solidFill>
                          <a:latin typeface="+mn-lt"/>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PurchaseofItemsUnderkrw1B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lt"/>
                        </a:rPr>
                        <a:t>2018</a:t>
                      </a:r>
                      <a:r>
                        <a:rPr lang="ko-KR" altLang="en-US" sz="800" dirty="0">
                          <a:latin typeface="+mn-lt"/>
                        </a:rPr>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구매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dirty="0" err="1">
                          <a:solidFill>
                            <a:schemeClr val="tx1"/>
                          </a:solidFill>
                          <a:latin typeface="+mn-lt"/>
                          <a:ea typeface="+mn-ea"/>
                        </a:rPr>
                        <a:t>bidRsltDtl</a:t>
                      </a:r>
                      <a:endParaRPr lang="ko-KR" altLang="en-US" sz="800" dirty="0">
                        <a:solidFill>
                          <a:schemeClr val="tx1"/>
                        </a:solidFill>
                        <a:latin typeface="+mn-lt"/>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/PurchaseofItemsUnderKrw1B.tsx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0214455"/>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MUI-BD-10-T14</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ko-KR" altLang="en-US" sz="800" kern="1200" dirty="0">
                          <a:solidFill>
                            <a:schemeClr val="tx1"/>
                          </a:solidFill>
                          <a:latin typeface="+mn-lt"/>
                          <a:ea typeface="+mn-ea"/>
                          <a:cs typeface="+mn-cs"/>
                        </a:rPr>
                        <a:t>고시금액미만</a:t>
                      </a:r>
                      <a:r>
                        <a:rPr lang="en-US" altLang="ko-KR" sz="800" kern="1200" dirty="0">
                          <a:solidFill>
                            <a:schemeClr val="tx1"/>
                          </a:solidFill>
                          <a:latin typeface="+mn-lt"/>
                          <a:ea typeface="+mn-ea"/>
                          <a:cs typeface="+mn-cs"/>
                        </a:rPr>
                        <a:t>(</a:t>
                      </a:r>
                      <a:r>
                        <a:rPr lang="ko-KR" altLang="en-US" sz="800" kern="1200" dirty="0" err="1">
                          <a:solidFill>
                            <a:schemeClr val="tx1"/>
                          </a:solidFill>
                          <a:latin typeface="+mn-lt"/>
                          <a:ea typeface="+mn-ea"/>
                          <a:cs typeface="+mn-cs"/>
                        </a:rPr>
                        <a:t>중기청</a:t>
                      </a:r>
                      <a:r>
                        <a:rPr lang="en-US" altLang="ko-KR" sz="800" kern="1200" dirty="0">
                          <a:solidFill>
                            <a:schemeClr val="tx1"/>
                          </a:solidFill>
                          <a:latin typeface="+mn-lt"/>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BelowThreshold</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고시금액미만</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물품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dirty="0" err="1">
                          <a:solidFill>
                            <a:schemeClr val="tx1"/>
                          </a:solidFill>
                          <a:latin typeface="+mn-lt"/>
                          <a:ea typeface="+mn-ea"/>
                        </a:rPr>
                        <a:t>bidRsltDtl</a:t>
                      </a:r>
                      <a:endParaRPr lang="ko-KR" altLang="en-US" sz="800" dirty="0">
                        <a:solidFill>
                          <a:schemeClr val="tx1"/>
                        </a:solidFill>
                        <a:latin typeface="+mn-lt"/>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a:t>
                      </a:r>
                      <a:r>
                        <a:rPr lang="en-US" altLang="ko-KR" sz="800" dirty="0" err="1">
                          <a:solidFill>
                            <a:schemeClr val="tx1"/>
                          </a:solidFill>
                          <a:latin typeface="+mn-lt"/>
                          <a:ea typeface="+mn-ea"/>
                        </a:rPr>
                        <a:t>BelowThreshold.tsx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2859328"/>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MUI-BD-10-T15</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ko-KR" altLang="en-US" sz="800" kern="1200" dirty="0">
                          <a:solidFill>
                            <a:schemeClr val="tx1"/>
                          </a:solidFill>
                          <a:latin typeface="+mn-lt"/>
                          <a:ea typeface="+mn-ea"/>
                          <a:cs typeface="+mn-cs"/>
                        </a:rPr>
                        <a:t>고시금액이상</a:t>
                      </a:r>
                      <a:r>
                        <a:rPr lang="en-US" altLang="ko-KR" sz="800" kern="1200" dirty="0">
                          <a:solidFill>
                            <a:schemeClr val="tx1"/>
                          </a:solidFill>
                          <a:latin typeface="+mn-lt"/>
                          <a:ea typeface="+mn-ea"/>
                          <a:cs typeface="+mn-cs"/>
                        </a:rPr>
                        <a:t>10</a:t>
                      </a:r>
                      <a:r>
                        <a:rPr lang="ko-KR" altLang="en-US" sz="800" kern="1200" dirty="0" err="1">
                          <a:solidFill>
                            <a:schemeClr val="tx1"/>
                          </a:solidFill>
                          <a:latin typeface="+mn-lt"/>
                          <a:ea typeface="+mn-ea"/>
                          <a:cs typeface="+mn-cs"/>
                        </a:rPr>
                        <a:t>억원미만</a:t>
                      </a:r>
                      <a:r>
                        <a:rPr lang="en-US" altLang="ko-KR" sz="800" kern="1200" dirty="0">
                          <a:solidFill>
                            <a:schemeClr val="tx1"/>
                          </a:solidFill>
                          <a:latin typeface="+mn-lt"/>
                          <a:ea typeface="+mn-ea"/>
                          <a:cs typeface="+mn-cs"/>
                        </a:rPr>
                        <a:t>(</a:t>
                      </a:r>
                      <a:r>
                        <a:rPr lang="ko-KR" altLang="en-US" sz="800" kern="1200" dirty="0" err="1">
                          <a:solidFill>
                            <a:schemeClr val="tx1"/>
                          </a:solidFill>
                          <a:latin typeface="+mn-lt"/>
                          <a:ea typeface="+mn-ea"/>
                          <a:cs typeface="+mn-cs"/>
                        </a:rPr>
                        <a:t>중기청</a:t>
                      </a:r>
                      <a:r>
                        <a:rPr lang="en-US" altLang="ko-KR" sz="800" kern="1200" dirty="0">
                          <a:solidFill>
                            <a:schemeClr val="tx1"/>
                          </a:solidFill>
                          <a:latin typeface="+mn-lt"/>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ThresholdKrw1B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고시금액이상</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물품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dirty="0" err="1">
                          <a:solidFill>
                            <a:schemeClr val="tx1"/>
                          </a:solidFill>
                          <a:latin typeface="+mn-lt"/>
                          <a:ea typeface="+mn-ea"/>
                        </a:rPr>
                        <a:t>bidRsltDtl</a:t>
                      </a:r>
                      <a:endParaRPr lang="ko-KR" altLang="en-US" sz="800" dirty="0">
                        <a:solidFill>
                          <a:schemeClr val="tx1"/>
                        </a:solidFill>
                        <a:latin typeface="+mn-lt"/>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/ThresholdKrw1B.tsx</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7332781"/>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MUI-BD-10-T16</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en-US" altLang="ko-KR" sz="800" kern="1200" dirty="0">
                          <a:solidFill>
                            <a:schemeClr val="tx1"/>
                          </a:solidFill>
                          <a:latin typeface="+mn-lt"/>
                          <a:ea typeface="+mn-ea"/>
                          <a:cs typeface="+mn-cs"/>
                        </a:rPr>
                        <a:t>10</a:t>
                      </a:r>
                      <a:r>
                        <a:rPr lang="ko-KR" altLang="en-US" sz="800" kern="1200" dirty="0" err="1">
                          <a:solidFill>
                            <a:schemeClr val="tx1"/>
                          </a:solidFill>
                          <a:latin typeface="+mn-lt"/>
                          <a:ea typeface="+mn-ea"/>
                          <a:cs typeface="+mn-cs"/>
                        </a:rPr>
                        <a:t>억원이상</a:t>
                      </a:r>
                      <a:r>
                        <a:rPr lang="en-US" altLang="ko-KR" sz="800" kern="1200" dirty="0">
                          <a:solidFill>
                            <a:schemeClr val="tx1"/>
                          </a:solidFill>
                          <a:latin typeface="+mn-lt"/>
                          <a:ea typeface="+mn-ea"/>
                          <a:cs typeface="+mn-cs"/>
                        </a:rPr>
                        <a:t>(</a:t>
                      </a:r>
                      <a:r>
                        <a:rPr lang="ko-KR" altLang="en-US" sz="800" kern="1200" dirty="0" err="1">
                          <a:solidFill>
                            <a:schemeClr val="tx1"/>
                          </a:solidFill>
                          <a:latin typeface="+mn-lt"/>
                          <a:ea typeface="+mn-ea"/>
                          <a:cs typeface="+mn-cs"/>
                        </a:rPr>
                        <a:t>중기청</a:t>
                      </a:r>
                      <a:r>
                        <a:rPr lang="en-US" altLang="ko-KR" sz="800" kern="1200" dirty="0">
                          <a:solidFill>
                            <a:schemeClr val="tx1"/>
                          </a:solidFill>
                          <a:latin typeface="+mn-lt"/>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OverKrw1B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억원이상</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물품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err="1">
                          <a:solidFill>
                            <a:schemeClr val="tx1"/>
                          </a:solidFill>
                          <a:latin typeface="+mn-lt"/>
                          <a:ea typeface="+mn-ea"/>
                          <a:cs typeface="+mn-cs"/>
                        </a:rPr>
                        <a:t>src</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ui</a:t>
                      </a:r>
                      <a:r>
                        <a:rPr lang="en-US" altLang="ko-KR" sz="800" kern="1200" dirty="0">
                          <a:solidFill>
                            <a:schemeClr val="tx1"/>
                          </a:solidFill>
                          <a:latin typeface="+mn-lt"/>
                          <a:ea typeface="+mn-ea"/>
                          <a:cs typeface="+mn-cs"/>
                        </a:rPr>
                        <a:t>/biz/</a:t>
                      </a:r>
                      <a:r>
                        <a:rPr lang="en-US" altLang="ko-KR" sz="800" kern="1200" dirty="0" err="1">
                          <a:solidFill>
                            <a:schemeClr val="tx1"/>
                          </a:solidFill>
                          <a:latin typeface="+mn-lt"/>
                          <a:ea typeface="+mn-ea"/>
                          <a:cs typeface="+mn-cs"/>
                        </a:rPr>
                        <a:t>bd</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bidRsltDtl</a:t>
                      </a:r>
                      <a:endParaRPr lang="ko-KR" altLang="en-US"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/OverKrw1B.tsx</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08087897"/>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MUI-BD-10-T17</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ko-KR" altLang="en-US" sz="800" kern="1200" dirty="0">
                          <a:solidFill>
                            <a:schemeClr val="tx1"/>
                          </a:solidFill>
                          <a:latin typeface="+mn-lt"/>
                          <a:ea typeface="+mn-ea"/>
                          <a:cs typeface="+mn-cs"/>
                        </a:rPr>
                        <a:t>공사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Cstrn</a:t>
                      </a:r>
                      <a:endParaRPr lang="en-US" sz="800" b="0"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latin typeface="+mn-lt"/>
                        </a:rPr>
                        <a:t>공사 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err="1">
                          <a:solidFill>
                            <a:schemeClr val="tx1"/>
                          </a:solidFill>
                          <a:latin typeface="+mn-lt"/>
                          <a:ea typeface="+mn-ea"/>
                          <a:cs typeface="+mn-cs"/>
                        </a:rPr>
                        <a:t>src</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ui</a:t>
                      </a:r>
                      <a:r>
                        <a:rPr lang="en-US" altLang="ko-KR" sz="800" kern="1200" dirty="0">
                          <a:solidFill>
                            <a:schemeClr val="tx1"/>
                          </a:solidFill>
                          <a:latin typeface="+mn-lt"/>
                          <a:ea typeface="+mn-ea"/>
                          <a:cs typeface="+mn-cs"/>
                        </a:rPr>
                        <a:t>/biz/</a:t>
                      </a:r>
                      <a:r>
                        <a:rPr lang="en-US" altLang="ko-KR" sz="800" kern="1200" dirty="0" err="1">
                          <a:solidFill>
                            <a:schemeClr val="tx1"/>
                          </a:solidFill>
                          <a:latin typeface="+mn-lt"/>
                          <a:ea typeface="+mn-ea"/>
                          <a:cs typeface="+mn-cs"/>
                        </a:rPr>
                        <a:t>bd</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bidRsltDtl</a:t>
                      </a:r>
                      <a:endParaRPr lang="ko-KR" altLang="en-US"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Cstrn.tsx</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4375975"/>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MUI-BD-10-T18</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ko-KR" altLang="en-US" sz="800" kern="1200" dirty="0">
                          <a:solidFill>
                            <a:schemeClr val="tx1"/>
                          </a:solidFill>
                          <a:latin typeface="+mn-lt"/>
                          <a:ea typeface="+mn-ea"/>
                          <a:cs typeface="+mn-cs"/>
                        </a:rPr>
                        <a:t>기술용역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TechLbsvc</a:t>
                      </a:r>
                      <a:endParaRPr lang="en-US" sz="800" b="0"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latin typeface="+mn-lt"/>
                        </a:rPr>
                        <a:t>기술용역 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err="1">
                          <a:solidFill>
                            <a:schemeClr val="tx1"/>
                          </a:solidFill>
                          <a:latin typeface="+mn-lt"/>
                          <a:ea typeface="+mn-ea"/>
                          <a:cs typeface="+mn-cs"/>
                        </a:rPr>
                        <a:t>src</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ui</a:t>
                      </a:r>
                      <a:r>
                        <a:rPr lang="en-US" altLang="ko-KR" sz="800" kern="1200" dirty="0">
                          <a:solidFill>
                            <a:schemeClr val="tx1"/>
                          </a:solidFill>
                          <a:latin typeface="+mn-lt"/>
                          <a:ea typeface="+mn-ea"/>
                          <a:cs typeface="+mn-cs"/>
                        </a:rPr>
                        <a:t>/biz/</a:t>
                      </a:r>
                      <a:r>
                        <a:rPr lang="en-US" altLang="ko-KR" sz="800" kern="1200" dirty="0" err="1">
                          <a:solidFill>
                            <a:schemeClr val="tx1"/>
                          </a:solidFill>
                          <a:latin typeface="+mn-lt"/>
                          <a:ea typeface="+mn-ea"/>
                          <a:cs typeface="+mn-cs"/>
                        </a:rPr>
                        <a:t>bd</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bidRsltDtl</a:t>
                      </a:r>
                      <a:endParaRPr lang="ko-KR" altLang="en-US"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TechLbsvc</a:t>
                      </a:r>
                      <a:endParaRPr lang="en-US" altLang="ko-KR"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.tsx</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1783753"/>
                  </a:ext>
                </a:extLst>
              </a:tr>
              <a:tr h="180000">
                <a:tc>
                  <a:txBody>
                    <a:bodyPr/>
                    <a:lstStyle/>
                    <a:p>
                      <a:pPr algn="ctr" rtl="0" fontAlgn="ctr"/>
                      <a:r>
                        <a:rPr lang="en-US" sz="800" b="0" i="0" u="none" strike="noStrike">
                          <a:solidFill>
                            <a:srgbClr val="000000"/>
                          </a:solidFill>
                          <a:effectLst/>
                          <a:latin typeface="+mn-lt"/>
                          <a:ea typeface="맑은 고딕" panose="020B0503020000020004" pitchFamily="50" charset="-127"/>
                        </a:rPr>
                        <a:t>MUI-BD-10-T19</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en-US" altLang="ko-KR" sz="800" kern="1200" dirty="0">
                          <a:solidFill>
                            <a:schemeClr val="tx1"/>
                          </a:solidFill>
                          <a:latin typeface="+mn-lt"/>
                          <a:ea typeface="+mn-ea"/>
                          <a:cs typeface="+mn-cs"/>
                        </a:rPr>
                        <a:t>3</a:t>
                      </a:r>
                      <a:r>
                        <a:rPr lang="ko-KR" altLang="en-US" sz="800" kern="1200" dirty="0">
                          <a:solidFill>
                            <a:schemeClr val="tx1"/>
                          </a:solidFill>
                          <a:latin typeface="+mn-lt"/>
                          <a:ea typeface="+mn-ea"/>
                          <a:cs typeface="+mn-cs"/>
                        </a:rPr>
                        <a:t>억원미만공사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Krw300MCstrn</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solidFill>
                            <a:prstClr val="black"/>
                          </a:solidFill>
                          <a:latin typeface="+mn-lt"/>
                          <a:ea typeface="+mn-ea"/>
                        </a:rPr>
                        <a:t>3</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 미만 공사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err="1">
                          <a:solidFill>
                            <a:schemeClr val="tx1"/>
                          </a:solidFill>
                          <a:latin typeface="+mn-lt"/>
                          <a:ea typeface="+mn-ea"/>
                          <a:cs typeface="+mn-cs"/>
                        </a:rPr>
                        <a:t>src</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ui</a:t>
                      </a:r>
                      <a:r>
                        <a:rPr lang="en-US" altLang="ko-KR" sz="800" kern="1200" dirty="0">
                          <a:solidFill>
                            <a:schemeClr val="tx1"/>
                          </a:solidFill>
                          <a:latin typeface="+mn-lt"/>
                          <a:ea typeface="+mn-ea"/>
                          <a:cs typeface="+mn-cs"/>
                        </a:rPr>
                        <a:t>/biz/</a:t>
                      </a:r>
                      <a:r>
                        <a:rPr lang="en-US" altLang="ko-KR" sz="800" kern="1200" dirty="0" err="1">
                          <a:solidFill>
                            <a:schemeClr val="tx1"/>
                          </a:solidFill>
                          <a:latin typeface="+mn-lt"/>
                          <a:ea typeface="+mn-ea"/>
                          <a:cs typeface="+mn-cs"/>
                        </a:rPr>
                        <a:t>bd</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bidRsltDtl</a:t>
                      </a:r>
                      <a:endParaRPr lang="ko-KR" altLang="en-US"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/Krw300MCstrn</a:t>
                      </a:r>
                      <a:endParaRPr lang="ko-KR" altLang="en-US"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.tsx</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3048819"/>
                  </a:ext>
                </a:extLst>
              </a:tr>
              <a:tr h="180000">
                <a:tc>
                  <a:txBody>
                    <a:bodyPr/>
                    <a:lstStyle/>
                    <a:p>
                      <a:pPr algn="ctr" rtl="0" fontAlgn="ctr"/>
                      <a:r>
                        <a:rPr lang="en-US" sz="800" kern="1200" dirty="0">
                          <a:solidFill>
                            <a:schemeClr val="tx1"/>
                          </a:solidFill>
                          <a:latin typeface="+mn-lt"/>
                          <a:ea typeface="+mn-ea"/>
                          <a:cs typeface="+mn-cs"/>
                        </a:rPr>
                        <a:t>MUI-BD-10-T20</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ko-KR" altLang="en-US" sz="800" kern="1200" dirty="0">
                          <a:solidFill>
                            <a:schemeClr val="tx1"/>
                          </a:solidFill>
                          <a:latin typeface="+mn-lt"/>
                          <a:ea typeface="+mn-ea"/>
                          <a:cs typeface="+mn-cs"/>
                        </a:rPr>
                        <a:t>고시금액미만용역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BelowThreshold</a:t>
                      </a:r>
                      <a:r>
                        <a:rPr lang="en-US" altLang="ko-KR" sz="800" b="0" i="0" u="none" strike="noStrike" dirty="0" err="1">
                          <a:solidFill>
                            <a:schemeClr val="tx1"/>
                          </a:solidFill>
                          <a:effectLst/>
                          <a:latin typeface="+mn-lt"/>
                          <a:ea typeface="+mn-ea"/>
                        </a:rPr>
                        <a:t>Lbsvc</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 미만 용역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err="1">
                          <a:solidFill>
                            <a:schemeClr val="tx1"/>
                          </a:solidFill>
                          <a:latin typeface="+mn-lt"/>
                          <a:ea typeface="+mn-ea"/>
                          <a:cs typeface="+mn-cs"/>
                        </a:rPr>
                        <a:t>src</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ui</a:t>
                      </a:r>
                      <a:r>
                        <a:rPr lang="en-US" altLang="ko-KR" sz="800" kern="1200" dirty="0">
                          <a:solidFill>
                            <a:schemeClr val="tx1"/>
                          </a:solidFill>
                          <a:latin typeface="+mn-lt"/>
                          <a:ea typeface="+mn-ea"/>
                          <a:cs typeface="+mn-cs"/>
                        </a:rPr>
                        <a:t>/biz/</a:t>
                      </a:r>
                      <a:r>
                        <a:rPr lang="en-US" altLang="ko-KR" sz="800" kern="1200" dirty="0" err="1">
                          <a:solidFill>
                            <a:schemeClr val="tx1"/>
                          </a:solidFill>
                          <a:latin typeface="+mn-lt"/>
                          <a:ea typeface="+mn-ea"/>
                          <a:cs typeface="+mn-cs"/>
                        </a:rPr>
                        <a:t>bd</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bidRsltDtl</a:t>
                      </a:r>
                      <a:endParaRPr lang="ko-KR" altLang="en-US"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BelowThresholdLbsvc.tsx</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0702345"/>
                  </a:ext>
                </a:extLst>
              </a:tr>
              <a:tr h="180000">
                <a:tc>
                  <a:txBody>
                    <a:bodyPr/>
                    <a:lstStyle/>
                    <a:p>
                      <a:pPr marL="0" marR="0" indent="0" algn="ctr" defTabSz="914400" rtl="0" eaLnBrk="1" fontAlgn="ctr" latinLnBrk="1" hangingPunct="1">
                        <a:lnSpc>
                          <a:spcPct val="100000"/>
                        </a:lnSpc>
                        <a:spcBef>
                          <a:spcPts val="0"/>
                        </a:spcBef>
                        <a:spcAft>
                          <a:spcPts val="0"/>
                        </a:spcAft>
                        <a:buClrTx/>
                        <a:buSzTx/>
                        <a:buFontTx/>
                        <a:buNone/>
                        <a:tabLst/>
                        <a:defRPr/>
                      </a:pPr>
                      <a:r>
                        <a:rPr lang="en-US" altLang="ko-KR" sz="800" kern="1200" dirty="0" smtClean="0">
                          <a:solidFill>
                            <a:schemeClr val="tx1"/>
                          </a:solidFill>
                          <a:latin typeface="+mn-lt"/>
                          <a:ea typeface="+mn-ea"/>
                          <a:cs typeface="+mn-cs"/>
                        </a:rPr>
                        <a:t>MUI-BD-10-T21 </a:t>
                      </a:r>
                      <a:endParaRPr lang="ko-KR" altLang="en-US" sz="800" kern="1200" dirty="0" smtClean="0">
                        <a:solidFill>
                          <a:schemeClr val="tx1"/>
                        </a:solidFill>
                        <a:latin typeface="+mn-lt"/>
                        <a:ea typeface="+mn-ea"/>
                        <a:cs typeface="+mn-cs"/>
                      </a:endParaRPr>
                    </a:p>
                    <a:p>
                      <a:pPr algn="ctr" fontAlgn="ctr"/>
                      <a:endParaRPr lang="en-US" sz="800" kern="1200" dirty="0">
                        <a:solidFill>
                          <a:schemeClr val="tx1"/>
                        </a:solidFill>
                        <a:latin typeface="+mn-lt"/>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lt"/>
                          <a:ea typeface="+mn-ea"/>
                          <a:cs typeface="+mn-cs"/>
                        </a:rPr>
                        <a:t>적격심사결과상세</a:t>
                      </a:r>
                      <a:endParaRPr lang="en-US" altLang="ko-KR" sz="800" kern="1200" dirty="0" smtClean="0">
                        <a:solidFill>
                          <a:schemeClr val="tx1"/>
                        </a:solidFill>
                        <a:latin typeface="+mn-lt"/>
                        <a:ea typeface="+mn-ea"/>
                        <a:cs typeface="+mn-cs"/>
                      </a:endParaRPr>
                    </a:p>
                    <a:p>
                      <a:pPr algn="l" fontAlgn="ctr"/>
                      <a:r>
                        <a:rPr lang="en-US" altLang="ko-KR" sz="800" kern="1200" dirty="0" smtClean="0">
                          <a:solidFill>
                            <a:schemeClr val="tx1"/>
                          </a:solidFill>
                          <a:latin typeface="+mn-lt"/>
                          <a:ea typeface="+mn-ea"/>
                          <a:cs typeface="+mn-cs"/>
                        </a:rPr>
                        <a:t>- </a:t>
                      </a:r>
                      <a:r>
                        <a:rPr lang="ko-KR" altLang="en-US" sz="800" kern="1200" dirty="0" err="1">
                          <a:solidFill>
                            <a:schemeClr val="tx1"/>
                          </a:solidFill>
                          <a:latin typeface="+mn-lt"/>
                          <a:ea typeface="+mn-ea"/>
                          <a:cs typeface="+mn-cs"/>
                        </a:rPr>
                        <a:t>고시금액미만폐기물용역</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BelowThresholdDspLbsvc</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 미만 폐기물 용역 </a:t>
                      </a:r>
                      <a:r>
                        <a:rPr lang="ko-KR" altLang="en-US" sz="800" dirty="0">
                          <a:latin typeface="+mn-lt"/>
                        </a:rPr>
                        <a:t>적격심사제 공고 건에 대해 업체담당자가 신청한 이행</a:t>
                      </a:r>
                      <a:r>
                        <a:rPr lang="en-US" altLang="ko-KR" sz="800" dirty="0">
                          <a:latin typeface="+mn-lt"/>
                        </a:rPr>
                        <a:t>/</a:t>
                      </a:r>
                      <a:r>
                        <a:rPr lang="ko-KR" altLang="en-US" sz="800" dirty="0">
                          <a:latin typeface="+mn-lt"/>
                        </a:rPr>
                        <a:t>적격심사의 결과를 조회하기 위한 화면이다</a:t>
                      </a:r>
                      <a:r>
                        <a:rPr lang="en-US" altLang="ko-KR" sz="800" dirty="0">
                          <a:latin typeface="+mn-lt"/>
                        </a:rPr>
                        <a:t>.</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err="1">
                          <a:solidFill>
                            <a:schemeClr val="tx1"/>
                          </a:solidFill>
                          <a:latin typeface="+mn-lt"/>
                          <a:ea typeface="+mn-ea"/>
                          <a:cs typeface="+mn-cs"/>
                        </a:rPr>
                        <a:t>src</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ui</a:t>
                      </a:r>
                      <a:r>
                        <a:rPr lang="en-US" altLang="ko-KR" sz="800" kern="1200" dirty="0">
                          <a:solidFill>
                            <a:schemeClr val="tx1"/>
                          </a:solidFill>
                          <a:latin typeface="+mn-lt"/>
                          <a:ea typeface="+mn-ea"/>
                          <a:cs typeface="+mn-cs"/>
                        </a:rPr>
                        <a:t>/biz/</a:t>
                      </a:r>
                      <a:r>
                        <a:rPr lang="en-US" altLang="ko-KR" sz="800" kern="1200" dirty="0" err="1">
                          <a:solidFill>
                            <a:schemeClr val="tx1"/>
                          </a:solidFill>
                          <a:latin typeface="+mn-lt"/>
                          <a:ea typeface="+mn-ea"/>
                          <a:cs typeface="+mn-cs"/>
                        </a:rPr>
                        <a:t>bd</a:t>
                      </a: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bidRsltDtl</a:t>
                      </a:r>
                      <a:endParaRPr lang="ko-KR" altLang="en-US" sz="800" kern="1200" dirty="0">
                        <a:solidFill>
                          <a:schemeClr val="tx1"/>
                        </a:solidFill>
                        <a:latin typeface="+mn-lt"/>
                        <a:ea typeface="+mn-ea"/>
                        <a:cs typeface="+mn-cs"/>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lt"/>
                          <a:ea typeface="+mn-ea"/>
                          <a:cs typeface="+mn-cs"/>
                        </a:rPr>
                        <a:t>/</a:t>
                      </a:r>
                      <a:r>
                        <a:rPr lang="en-US" altLang="ko-KR" sz="800" kern="1200" dirty="0" err="1">
                          <a:solidFill>
                            <a:schemeClr val="tx1"/>
                          </a:solidFill>
                          <a:latin typeface="+mn-lt"/>
                          <a:ea typeface="+mn-ea"/>
                          <a:cs typeface="+mn-cs"/>
                        </a:rPr>
                        <a:t>BelowThresholdDspLbsvc.tsx</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lt"/>
                          <a:ea typeface="+mn-ea"/>
                        </a:rPr>
                        <a:t>UC-BD-14-02</a:t>
                      </a:r>
                      <a:endParaRPr lang="ko-KR" altLang="en-US" sz="800" dirty="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433094"/>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5873140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물품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물품일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20132"/>
            </a:xfrm>
            <a:prstGeom prst="rect">
              <a:avLst/>
            </a:prstGeom>
            <a:noFill/>
          </p:spPr>
          <p:txBody>
            <a:bodyPr wrap="square" lIns="0" tIns="0" rIns="0" bIns="0" rtlCol="0">
              <a:spAutoFit/>
            </a:bodyPr>
            <a:lstStyle/>
            <a:p>
              <a:pPr>
                <a:lnSpc>
                  <a:spcPct val="200000"/>
                </a:lnSpc>
              </a:pPr>
              <a:r>
                <a:rPr lang="ko-KR" altLang="en-US" sz="700" dirty="0">
                  <a:latin typeface="+mn-ea"/>
                </a:rPr>
                <a:t>이행실적</a:t>
              </a:r>
              <a:endParaRPr lang="en-US" altLang="ko-KR" sz="700" dirty="0">
                <a:latin typeface="+mn-ea"/>
              </a:endParaRPr>
            </a:p>
            <a:p>
              <a:pPr>
                <a:lnSpc>
                  <a:spcPct val="200000"/>
                </a:lnSpc>
              </a:pPr>
              <a:r>
                <a:rPr lang="ko-KR" altLang="en-US" sz="700" dirty="0">
                  <a:latin typeface="+mn-ea"/>
                </a:rPr>
                <a:t>제조능력</a:t>
              </a:r>
              <a:endParaRPr lang="en-US" altLang="ko-KR" sz="700" dirty="0">
                <a:latin typeface="+mn-ea"/>
              </a:endParaRPr>
            </a:p>
            <a:p>
              <a:pPr>
                <a:lnSpc>
                  <a:spcPct val="200000"/>
                </a:lnSpc>
              </a:pPr>
              <a:r>
                <a:rPr lang="ko-KR" altLang="en-US" sz="700" dirty="0">
                  <a:latin typeface="+mn-ea"/>
                </a:rPr>
                <a:t>재무상태</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a:latin typeface="+mn-ea"/>
                </a:rPr>
                <a:t>결격사유</a:t>
              </a:r>
              <a:endParaRPr lang="en-US" altLang="ko-KR" sz="700" dirty="0">
                <a:latin typeface="+mn-ea"/>
              </a:endParaRPr>
            </a:p>
            <a:p>
              <a:pPr lvl="0">
                <a:lnSpc>
                  <a:spcPct val="200000"/>
                </a:lnSpc>
              </a:pPr>
              <a:r>
                <a:rPr lang="ko-KR" altLang="en-US" sz="700" dirty="0">
                  <a:latin typeface="+mn-ea"/>
                </a:rPr>
                <a:t>기타</a:t>
              </a:r>
              <a:r>
                <a:rPr lang="en-US" altLang="ko-KR" sz="700" dirty="0">
                  <a:latin typeface="+mn-ea"/>
                </a:rPr>
                <a:t>1</a:t>
              </a:r>
              <a:endParaRPr lang="ko-KR" altLang="en-US" sz="700" dirty="0">
                <a:latin typeface="+mn-ea"/>
              </a:endParaRPr>
            </a:p>
            <a:p>
              <a:pPr lvl="0">
                <a:lnSpc>
                  <a:spcPct val="200000"/>
                </a:lnSpc>
              </a:pPr>
              <a:r>
                <a:rPr lang="ko-KR" altLang="en-US" sz="700" dirty="0">
                  <a:latin typeface="+mn-ea"/>
                </a:rPr>
                <a:t>기타</a:t>
              </a:r>
              <a:r>
                <a:rPr lang="en-US" altLang="ko-KR" sz="700" dirty="0">
                  <a:latin typeface="+mn-ea"/>
                </a:rPr>
                <a:t>2</a:t>
              </a:r>
              <a:endParaRPr lang="ko-KR" altLang="en-US" sz="700" dirty="0">
                <a:latin typeface="+mn-ea"/>
              </a:endParaRP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 name="타원 3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339707051"/>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수행능력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소계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입찰가격</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결격여부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점수총계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판정결과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bl>
          </a:graphicData>
        </a:graphic>
      </p:graphicFrame>
      <p:sp>
        <p:nvSpPr>
          <p:cNvPr id="5" name="TextBox 4">
            <a:extLst>
              <a:ext uri="{FF2B5EF4-FFF2-40B4-BE49-F238E27FC236}">
                <a16:creationId xmlns:a16="http://schemas.microsoft.com/office/drawing/2014/main" id="{A6878851-3560-FF6A-6D77-C18C165B2840}"/>
              </a:ext>
            </a:extLst>
          </p:cNvPr>
          <p:cNvSpPr txBox="1"/>
          <p:nvPr/>
        </p:nvSpPr>
        <p:spPr>
          <a:xfrm>
            <a:off x="457408" y="335211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5A68445E-A3F2-23D6-4E24-C6809118F464}"/>
              </a:ext>
            </a:extLst>
          </p:cNvPr>
          <p:cNvGraphicFramePr>
            <a:graphicFrameLocks noGrp="1"/>
          </p:cNvGraphicFramePr>
          <p:nvPr>
            <p:extLst>
              <p:ext uri="{D42A27DB-BD31-4B8C-83A1-F6EECF244321}">
                <p14:modId xmlns:p14="http://schemas.microsoft.com/office/powerpoint/2010/main" val="3816762857"/>
              </p:ext>
            </p:extLst>
          </p:nvPr>
        </p:nvGraphicFramePr>
        <p:xfrm>
          <a:off x="452291" y="3618175"/>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7DAF7B6B-8D5F-A006-EA56-86FF87B491D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0450206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용역일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수행능력</a:t>
              </a:r>
              <a:endParaRPr lang="en-US" altLang="ko-KR" sz="700" dirty="0">
                <a:latin typeface="+mn-ea"/>
              </a:endParaRPr>
            </a:p>
            <a:p>
              <a:pPr>
                <a:lnSpc>
                  <a:spcPct val="200000"/>
                </a:lnSpc>
              </a:pPr>
              <a:r>
                <a:rPr lang="ko-KR" altLang="en-US" sz="700" dirty="0">
                  <a:latin typeface="+mn-ea"/>
                </a:rPr>
                <a:t>경영상태</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err="1">
                  <a:latin typeface="+mn-ea"/>
                </a:rPr>
                <a:t>특별신인도</a:t>
              </a:r>
              <a:endParaRPr lang="en-US" altLang="ko-KR" sz="700" dirty="0">
                <a:latin typeface="+mn-ea"/>
              </a:endParaRPr>
            </a:p>
            <a:p>
              <a:pPr>
                <a:lnSpc>
                  <a:spcPct val="200000"/>
                </a:lnSpc>
              </a:pPr>
              <a:r>
                <a:rPr lang="ko-KR" altLang="en-US" sz="700" dirty="0">
                  <a:latin typeface="+mn-ea"/>
                </a:rPr>
                <a:t>결격사유</a:t>
              </a:r>
              <a:endParaRPr lang="en-US" altLang="ko-KR" sz="700" dirty="0">
                <a:latin typeface="+mn-ea"/>
              </a:endParaRPr>
            </a:p>
            <a:p>
              <a:pPr>
                <a:lnSpc>
                  <a:spcPct val="200000"/>
                </a:lnSpc>
              </a:pPr>
              <a:r>
                <a:rPr lang="ko-KR" altLang="en-US" sz="700" dirty="0">
                  <a:latin typeface="+mn-ea"/>
                </a:rPr>
                <a:t>기타</a:t>
              </a:r>
              <a:r>
                <a:rPr lang="en-US" altLang="ko-KR" sz="700" dirty="0">
                  <a:latin typeface="+mn-ea"/>
                </a:rPr>
                <a:t>1</a:t>
              </a:r>
            </a:p>
            <a:p>
              <a:pPr>
                <a:lnSpc>
                  <a:spcPct val="200000"/>
                </a:lnSpc>
              </a:pPr>
              <a:r>
                <a:rPr lang="ko-KR" altLang="en-US" sz="700" dirty="0">
                  <a:latin typeface="+mn-ea"/>
                </a:rPr>
                <a:t>기타</a:t>
              </a:r>
              <a:r>
                <a:rPr lang="en-US" altLang="ko-KR" sz="700" dirty="0">
                  <a:latin typeface="+mn-ea"/>
                </a:rPr>
                <a:t>2</a:t>
              </a: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a:t>
              </a:r>
            </a:p>
            <a:p>
              <a:pPr>
                <a:lnSpc>
                  <a:spcPct val="200000"/>
                </a:lnSpc>
              </a:pPr>
              <a:r>
                <a:rPr lang="en-US" altLang="ko-KR" sz="700" dirty="0">
                  <a:latin typeface="+mn-ea"/>
                </a:rPr>
                <a:t>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 name="타원 3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89279612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수행능력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특별신인도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결격사유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기타</a:t>
                      </a:r>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기타</a:t>
                      </a:r>
                      <a:r>
                        <a:rPr lang="en-US" altLang="ko-KR" sz="8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a:t>
                      </a:r>
                      <a:r>
                        <a:rPr lang="ko-KR" altLang="en-US" sz="800" dirty="0">
                          <a:latin typeface="+mn-ea"/>
                          <a:ea typeface="+mn-ea"/>
                        </a:rPr>
                        <a:t>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점수총계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판정결과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bl>
          </a:graphicData>
        </a:graphic>
      </p:graphicFrame>
      <p:sp>
        <p:nvSpPr>
          <p:cNvPr id="9" name="TextBox 8">
            <a:extLst>
              <a:ext uri="{FF2B5EF4-FFF2-40B4-BE49-F238E27FC236}">
                <a16:creationId xmlns:a16="http://schemas.microsoft.com/office/drawing/2014/main" id="{98AFBB7F-8F35-89FD-C1FD-182D84BCEDE9}"/>
              </a:ext>
            </a:extLst>
          </p:cNvPr>
          <p:cNvSpPr txBox="1"/>
          <p:nvPr/>
        </p:nvSpPr>
        <p:spPr>
          <a:xfrm>
            <a:off x="457408" y="3277009"/>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0" name="표 9">
            <a:extLst>
              <a:ext uri="{FF2B5EF4-FFF2-40B4-BE49-F238E27FC236}">
                <a16:creationId xmlns:a16="http://schemas.microsoft.com/office/drawing/2014/main" id="{D97AAD46-6BB7-4752-2D87-11D121746F0E}"/>
              </a:ext>
            </a:extLst>
          </p:cNvPr>
          <p:cNvGraphicFramePr>
            <a:graphicFrameLocks noGrp="1"/>
          </p:cNvGraphicFramePr>
          <p:nvPr>
            <p:extLst>
              <p:ext uri="{D42A27DB-BD31-4B8C-83A1-F6EECF244321}">
                <p14:modId xmlns:p14="http://schemas.microsoft.com/office/powerpoint/2010/main" val="334606647"/>
              </p:ext>
            </p:extLst>
          </p:nvPr>
        </p:nvGraphicFramePr>
        <p:xfrm>
          <a:off x="452291" y="3555140"/>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F86617E5-8FED-A97D-1F54-F50F0E5EBFF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447309621"/>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MUI-BD-10-T07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3823602" y="1981278"/>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TextBox 40">
            <a:extLst>
              <a:ext uri="{FF2B5EF4-FFF2-40B4-BE49-F238E27FC236}">
                <a16:creationId xmlns:a16="http://schemas.microsoft.com/office/drawing/2014/main" id="{FFC49AEA-2A8F-250C-A86A-A7751D9706C3}"/>
              </a:ext>
            </a:extLst>
          </p:cNvPr>
          <p:cNvSpPr txBox="1"/>
          <p:nvPr/>
        </p:nvSpPr>
        <p:spPr>
          <a:xfrm>
            <a:off x="3910665" y="1981279"/>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42" name="TextBox 41">
            <a:extLst>
              <a:ext uri="{FF2B5EF4-FFF2-40B4-BE49-F238E27FC236}">
                <a16:creationId xmlns:a16="http://schemas.microsoft.com/office/drawing/2014/main" id="{FFC49AEA-2A8F-250C-A86A-A7751D9706C3}"/>
              </a:ext>
            </a:extLst>
          </p:cNvPr>
          <p:cNvSpPr txBox="1"/>
          <p:nvPr/>
        </p:nvSpPr>
        <p:spPr>
          <a:xfrm>
            <a:off x="5492833" y="1981279"/>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43" name="그룹 42"/>
          <p:cNvGrpSpPr/>
          <p:nvPr/>
        </p:nvGrpSpPr>
        <p:grpSpPr>
          <a:xfrm>
            <a:off x="3821510" y="1981279"/>
            <a:ext cx="2630093" cy="429480"/>
            <a:chOff x="701175" y="1835481"/>
            <a:chExt cx="2630093" cy="429480"/>
          </a:xfrm>
        </p:grpSpPr>
        <p:cxnSp>
          <p:nvCxnSpPr>
            <p:cNvPr id="44" name="직선 연결선 4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5" name="직선 연결선 4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6" name="직선 연결선 4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8" name="TextBox 57">
            <a:extLst>
              <a:ext uri="{FF2B5EF4-FFF2-40B4-BE49-F238E27FC236}">
                <a16:creationId xmlns:a16="http://schemas.microsoft.com/office/drawing/2014/main" id="{FFC49AEA-2A8F-250C-A86A-A7751D9706C3}"/>
              </a:ext>
            </a:extLst>
          </p:cNvPr>
          <p:cNvSpPr txBox="1"/>
          <p:nvPr/>
        </p:nvSpPr>
        <p:spPr>
          <a:xfrm>
            <a:off x="3882481" y="149392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60" name="TextBox 59">
            <a:extLst>
              <a:ext uri="{FF2B5EF4-FFF2-40B4-BE49-F238E27FC236}">
                <a16:creationId xmlns:a16="http://schemas.microsoft.com/office/drawing/2014/main" id="{FFC49AEA-2A8F-250C-A86A-A7751D9706C3}"/>
              </a:ext>
            </a:extLst>
          </p:cNvPr>
          <p:cNvSpPr txBox="1"/>
          <p:nvPr/>
        </p:nvSpPr>
        <p:spPr>
          <a:xfrm>
            <a:off x="3882481" y="169416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61" name="TextBox 60">
            <a:extLst>
              <a:ext uri="{FF2B5EF4-FFF2-40B4-BE49-F238E27FC236}">
                <a16:creationId xmlns:a16="http://schemas.microsoft.com/office/drawing/2014/main" id="{FFC49AEA-2A8F-250C-A86A-A7751D9706C3}"/>
              </a:ext>
            </a:extLst>
          </p:cNvPr>
          <p:cNvSpPr txBox="1"/>
          <p:nvPr/>
        </p:nvSpPr>
        <p:spPr>
          <a:xfrm>
            <a:off x="6059077" y="1981279"/>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 </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49486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702517" y="5478506"/>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직사각형 169"/>
          <p:cNvSpPr/>
          <p:nvPr/>
        </p:nvSpPr>
        <p:spPr>
          <a:xfrm>
            <a:off x="3823602" y="2737961"/>
            <a:ext cx="1639886" cy="14996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10665" y="2737962"/>
            <a:ext cx="1480199" cy="1508105"/>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 </a:t>
            </a:r>
            <a:r>
              <a:rPr lang="ko-KR" altLang="en-US" sz="700" dirty="0">
                <a:latin typeface="+mn-ea"/>
              </a:rPr>
              <a:t>기술 및 디자인 </a:t>
            </a:r>
            <a:r>
              <a:rPr lang="ko-KR" altLang="en-US" sz="700" dirty="0" err="1">
                <a:latin typeface="+mn-ea"/>
              </a:rPr>
              <a:t>인증보유</a:t>
            </a:r>
            <a:endParaRPr lang="en-US" altLang="ko-KR" sz="700" dirty="0">
              <a:latin typeface="+mn-ea"/>
            </a:endParaRPr>
          </a:p>
          <a:p>
            <a:pPr>
              <a:lnSpc>
                <a:spcPct val="200000"/>
              </a:lnSpc>
            </a:pPr>
            <a:r>
              <a:rPr lang="ko-KR" altLang="en-US" sz="700" dirty="0">
                <a:latin typeface="+mn-ea"/>
              </a:rPr>
              <a:t>나</a:t>
            </a:r>
            <a:r>
              <a:rPr lang="en-US" altLang="ko-KR" sz="700" dirty="0">
                <a:latin typeface="+mn-ea"/>
              </a:rPr>
              <a:t>. </a:t>
            </a:r>
            <a:r>
              <a:rPr lang="ko-KR" altLang="en-US" sz="700" dirty="0">
                <a:latin typeface="+mn-ea"/>
              </a:rPr>
              <a:t>품질보증</a:t>
            </a:r>
            <a:endParaRPr lang="en-US" altLang="ko-KR" sz="700" dirty="0">
              <a:latin typeface="+mn-ea"/>
            </a:endParaRPr>
          </a:p>
          <a:p>
            <a:pPr>
              <a:lnSpc>
                <a:spcPct val="200000"/>
              </a:lnSpc>
            </a:pPr>
            <a:r>
              <a:rPr lang="ko-KR" altLang="en-US" sz="700" dirty="0">
                <a:latin typeface="+mn-ea"/>
              </a:rPr>
              <a:t>다</a:t>
            </a:r>
            <a:r>
              <a:rPr lang="en-US" altLang="ko-KR" sz="700" dirty="0">
                <a:latin typeface="+mn-ea"/>
              </a:rPr>
              <a:t>. </a:t>
            </a:r>
            <a:r>
              <a:rPr lang="ko-KR" altLang="en-US" sz="700" dirty="0">
                <a:latin typeface="+mn-ea"/>
              </a:rPr>
              <a:t>환경관리</a:t>
            </a:r>
            <a:endParaRPr lang="en-US" altLang="ko-KR" sz="700" dirty="0">
              <a:latin typeface="+mn-ea"/>
            </a:endParaRPr>
          </a:p>
          <a:p>
            <a:pPr>
              <a:lnSpc>
                <a:spcPct val="200000"/>
              </a:lnSpc>
            </a:pPr>
            <a:r>
              <a:rPr lang="ko-KR" altLang="en-US" sz="700" dirty="0">
                <a:latin typeface="+mn-ea"/>
              </a:rPr>
              <a:t>라</a:t>
            </a:r>
            <a:r>
              <a:rPr lang="en-US" altLang="ko-KR" sz="700" dirty="0">
                <a:latin typeface="+mn-ea"/>
              </a:rPr>
              <a:t>. </a:t>
            </a:r>
            <a:r>
              <a:rPr lang="ko-KR" altLang="en-US" sz="700" dirty="0">
                <a:latin typeface="+mn-ea"/>
              </a:rPr>
              <a:t>사후관리</a:t>
            </a:r>
            <a:endParaRPr lang="en-US" altLang="ko-KR" sz="700" dirty="0">
              <a:latin typeface="+mn-ea"/>
            </a:endParaRPr>
          </a:p>
          <a:p>
            <a:pPr>
              <a:lnSpc>
                <a:spcPct val="200000"/>
              </a:lnSpc>
            </a:pPr>
            <a:r>
              <a:rPr lang="ko-KR" altLang="en-US" sz="700" dirty="0">
                <a:latin typeface="+mn-ea"/>
              </a:rPr>
              <a:t>마</a:t>
            </a:r>
            <a:r>
              <a:rPr lang="en-US" altLang="ko-KR" sz="700" dirty="0">
                <a:latin typeface="+mn-ea"/>
              </a:rPr>
              <a:t>. </a:t>
            </a:r>
            <a:r>
              <a:rPr lang="ko-KR" altLang="en-US" sz="700" dirty="0">
                <a:latin typeface="+mn-ea"/>
              </a:rPr>
              <a:t>영세기업 지원</a:t>
            </a:r>
            <a:endParaRPr lang="en-US" altLang="ko-KR" sz="700" dirty="0">
              <a:latin typeface="+mn-ea"/>
            </a:endParaRPr>
          </a:p>
          <a:p>
            <a:pPr>
              <a:lnSpc>
                <a:spcPct val="200000"/>
              </a:lnSpc>
            </a:pPr>
            <a:r>
              <a:rPr lang="ko-KR" altLang="en-US" sz="700" dirty="0">
                <a:latin typeface="+mn-ea"/>
              </a:rPr>
              <a:t>바</a:t>
            </a:r>
            <a:r>
              <a:rPr lang="en-US" altLang="ko-KR" sz="700" dirty="0">
                <a:latin typeface="+mn-ea"/>
              </a:rPr>
              <a:t>. </a:t>
            </a:r>
            <a:r>
              <a:rPr lang="ko-KR" altLang="en-US" sz="700" dirty="0">
                <a:latin typeface="+mn-ea"/>
              </a:rPr>
              <a:t>기타</a:t>
            </a:r>
            <a:endParaRPr lang="en-US" altLang="ko-KR"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638643" y="2737962"/>
            <a:ext cx="179600" cy="1508105"/>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1.5</a:t>
            </a:r>
          </a:p>
        </p:txBody>
      </p:sp>
      <p:grpSp>
        <p:nvGrpSpPr>
          <p:cNvPr id="173" name="그룹 172"/>
          <p:cNvGrpSpPr/>
          <p:nvPr/>
        </p:nvGrpSpPr>
        <p:grpSpPr>
          <a:xfrm>
            <a:off x="3821510" y="2737962"/>
            <a:ext cx="2630093" cy="1499614"/>
            <a:chOff x="701175" y="1835481"/>
            <a:chExt cx="2630093" cy="1499614"/>
          </a:xfrm>
        </p:grpSpPr>
        <p:cxnSp>
          <p:nvCxnSpPr>
            <p:cNvPr id="174" name="직선 연결선 17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3268" y="28934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31203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33350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3882481" y="245084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6059077" y="2737962"/>
            <a:ext cx="359073" cy="1508105"/>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85" name="직사각형 184"/>
          <p:cNvSpPr/>
          <p:nvPr/>
        </p:nvSpPr>
        <p:spPr>
          <a:xfrm>
            <a:off x="3823602" y="4566330"/>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TextBox 185">
            <a:extLst>
              <a:ext uri="{FF2B5EF4-FFF2-40B4-BE49-F238E27FC236}">
                <a16:creationId xmlns:a16="http://schemas.microsoft.com/office/drawing/2014/main" id="{FFC49AEA-2A8F-250C-A86A-A7751D9706C3}"/>
              </a:ext>
            </a:extLst>
          </p:cNvPr>
          <p:cNvSpPr txBox="1"/>
          <p:nvPr/>
        </p:nvSpPr>
        <p:spPr>
          <a:xfrm>
            <a:off x="3910665" y="4566331"/>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err="1">
                <a:latin typeface="+mn-ea"/>
              </a:rPr>
              <a:t>납품지연</a:t>
            </a:r>
            <a:endParaRPr lang="en-US" altLang="ko-KR" sz="700" dirty="0">
              <a:latin typeface="+mn-ea"/>
            </a:endParaRPr>
          </a:p>
        </p:txBody>
      </p:sp>
      <p:sp>
        <p:nvSpPr>
          <p:cNvPr id="187" name="TextBox 186">
            <a:extLst>
              <a:ext uri="{FF2B5EF4-FFF2-40B4-BE49-F238E27FC236}">
                <a16:creationId xmlns:a16="http://schemas.microsoft.com/office/drawing/2014/main" id="{FFC49AEA-2A8F-250C-A86A-A7751D9706C3}"/>
              </a:ext>
            </a:extLst>
          </p:cNvPr>
          <p:cNvSpPr txBox="1"/>
          <p:nvPr/>
        </p:nvSpPr>
        <p:spPr>
          <a:xfrm>
            <a:off x="5638707" y="4566331"/>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-2.0</a:t>
            </a:r>
          </a:p>
        </p:txBody>
      </p:sp>
      <p:grpSp>
        <p:nvGrpSpPr>
          <p:cNvPr id="188" name="그룹 187"/>
          <p:cNvGrpSpPr/>
          <p:nvPr/>
        </p:nvGrpSpPr>
        <p:grpSpPr>
          <a:xfrm>
            <a:off x="3821510" y="4566331"/>
            <a:ext cx="2630093" cy="429480"/>
            <a:chOff x="701175" y="1835481"/>
            <a:chExt cx="2630093" cy="429480"/>
          </a:xfrm>
        </p:grpSpPr>
        <p:cxnSp>
          <p:nvCxnSpPr>
            <p:cNvPr id="189" name="직선 연결선 18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3" name="TextBox 192">
            <a:extLst>
              <a:ext uri="{FF2B5EF4-FFF2-40B4-BE49-F238E27FC236}">
                <a16:creationId xmlns:a16="http://schemas.microsoft.com/office/drawing/2014/main" id="{FFC49AEA-2A8F-250C-A86A-A7751D9706C3}"/>
              </a:ext>
            </a:extLst>
          </p:cNvPr>
          <p:cNvSpPr txBox="1"/>
          <p:nvPr/>
        </p:nvSpPr>
        <p:spPr>
          <a:xfrm>
            <a:off x="3882481" y="427921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6059077" y="4566331"/>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95" name="직사각형 194"/>
          <p:cNvSpPr/>
          <p:nvPr/>
        </p:nvSpPr>
        <p:spPr>
          <a:xfrm>
            <a:off x="3823602" y="5624020"/>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6" name="TextBox 195">
            <a:extLst>
              <a:ext uri="{FF2B5EF4-FFF2-40B4-BE49-F238E27FC236}">
                <a16:creationId xmlns:a16="http://schemas.microsoft.com/office/drawing/2014/main" id="{FFC49AEA-2A8F-250C-A86A-A7751D9706C3}"/>
              </a:ext>
            </a:extLst>
          </p:cNvPr>
          <p:cNvSpPr txBox="1"/>
          <p:nvPr/>
        </p:nvSpPr>
        <p:spPr>
          <a:xfrm>
            <a:off x="3910665" y="562402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5638707" y="562402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98" name="그룹 197"/>
          <p:cNvGrpSpPr/>
          <p:nvPr/>
        </p:nvGrpSpPr>
        <p:grpSpPr>
          <a:xfrm>
            <a:off x="3821510" y="5624021"/>
            <a:ext cx="2630093" cy="214740"/>
            <a:chOff x="701175" y="1835481"/>
            <a:chExt cx="2630093" cy="214740"/>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2" name="TextBox 201">
            <a:extLst>
              <a:ext uri="{FF2B5EF4-FFF2-40B4-BE49-F238E27FC236}">
                <a16:creationId xmlns:a16="http://schemas.microsoft.com/office/drawing/2014/main" id="{FFC49AEA-2A8F-250C-A86A-A7751D9706C3}"/>
              </a:ext>
            </a:extLst>
          </p:cNvPr>
          <p:cNvSpPr txBox="1"/>
          <p:nvPr/>
        </p:nvSpPr>
        <p:spPr>
          <a:xfrm>
            <a:off x="3882481" y="5136669"/>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3882481" y="533690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6059077" y="562402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4" y="508207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5934097"/>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6" y="5987958"/>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6390176" y="598795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8" name="타원 10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22748481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MUI-BD-10-T07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TextBox 35">
            <a:extLst>
              <a:ext uri="{FF2B5EF4-FFF2-40B4-BE49-F238E27FC236}">
                <a16:creationId xmlns:a16="http://schemas.microsoft.com/office/drawing/2014/main" id="{FFC49AEA-2A8F-250C-A86A-A7751D9706C3}"/>
              </a:ext>
            </a:extLst>
          </p:cNvPr>
          <p:cNvSpPr txBox="1"/>
          <p:nvPr/>
        </p:nvSpPr>
        <p:spPr>
          <a:xfrm>
            <a:off x="3882481"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37" name="그룹 36"/>
          <p:cNvGrpSpPr/>
          <p:nvPr/>
        </p:nvGrpSpPr>
        <p:grpSpPr>
          <a:xfrm flipV="1">
            <a:off x="6244568" y="1641327"/>
            <a:ext cx="94010" cy="47005"/>
            <a:chOff x="6812560" y="3297172"/>
            <a:chExt cx="94010" cy="47005"/>
          </a:xfrm>
        </p:grpSpPr>
        <p:cxnSp>
          <p:nvCxnSpPr>
            <p:cNvPr id="38" name="직선 연결선 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9" name="직선 연결선 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5734"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10" name="그룹 109"/>
          <p:cNvGrpSpPr/>
          <p:nvPr/>
        </p:nvGrpSpPr>
        <p:grpSpPr>
          <a:xfrm>
            <a:off x="701175" y="1876425"/>
            <a:ext cx="2630093" cy="646331"/>
            <a:chOff x="701175" y="1835481"/>
            <a:chExt cx="2630093" cy="646331"/>
          </a:xfrm>
        </p:grpSpPr>
        <p:sp>
          <p:nvSpPr>
            <p:cNvPr id="113" name="직사각형 112"/>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116" name="그룹 115"/>
            <p:cNvGrpSpPr/>
            <p:nvPr/>
          </p:nvGrpSpPr>
          <p:grpSpPr>
            <a:xfrm>
              <a:off x="701175" y="1835481"/>
              <a:ext cx="2630093" cy="644220"/>
              <a:chOff x="701175" y="1835481"/>
              <a:chExt cx="2630093" cy="644220"/>
            </a:xfrm>
          </p:grpSpPr>
          <p:cxnSp>
            <p:nvCxnSpPr>
              <p:cNvPr id="117" name="직선 연결선 11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15" name="TextBox 214">
            <a:extLst>
              <a:ext uri="{FF2B5EF4-FFF2-40B4-BE49-F238E27FC236}">
                <a16:creationId xmlns:a16="http://schemas.microsoft.com/office/drawing/2014/main" id="{FFC49AEA-2A8F-250C-A86A-A7751D9706C3}"/>
              </a:ext>
            </a:extLst>
          </p:cNvPr>
          <p:cNvSpPr txBox="1"/>
          <p:nvPr/>
        </p:nvSpPr>
        <p:spPr>
          <a:xfrm>
            <a:off x="763488" y="2656994"/>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p>
        </p:txBody>
      </p:sp>
      <p:grpSp>
        <p:nvGrpSpPr>
          <p:cNvPr id="216" name="그룹 215"/>
          <p:cNvGrpSpPr/>
          <p:nvPr/>
        </p:nvGrpSpPr>
        <p:grpSpPr>
          <a:xfrm flipV="1">
            <a:off x="3125575" y="2770325"/>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676741"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676741"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2" name="그룹 221"/>
          <p:cNvGrpSpPr/>
          <p:nvPr/>
        </p:nvGrpSpPr>
        <p:grpSpPr>
          <a:xfrm>
            <a:off x="701175" y="3005422"/>
            <a:ext cx="2630093" cy="1094598"/>
            <a:chOff x="701175" y="1835480"/>
            <a:chExt cx="2630093" cy="1094598"/>
          </a:xfrm>
        </p:grpSpPr>
        <p:sp>
          <p:nvSpPr>
            <p:cNvPr id="223" name="직사각형 222"/>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6" name="그룹 225"/>
            <p:cNvGrpSpPr/>
            <p:nvPr/>
          </p:nvGrpSpPr>
          <p:grpSpPr>
            <a:xfrm>
              <a:off x="701175" y="1835481"/>
              <a:ext cx="2630093" cy="1094597"/>
              <a:chOff x="701175" y="1835481"/>
              <a:chExt cx="2630093" cy="1094597"/>
            </a:xfrm>
          </p:grpSpPr>
          <p:cxnSp>
            <p:nvCxnSpPr>
              <p:cNvPr id="227" name="직선 연결선 2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3" name="TextBox 232">
            <a:extLst>
              <a:ext uri="{FF2B5EF4-FFF2-40B4-BE49-F238E27FC236}">
                <a16:creationId xmlns:a16="http://schemas.microsoft.com/office/drawing/2014/main" id="{FFC49AEA-2A8F-250C-A86A-A7751D9706C3}"/>
              </a:ext>
            </a:extLst>
          </p:cNvPr>
          <p:cNvSpPr txBox="1"/>
          <p:nvPr/>
        </p:nvSpPr>
        <p:spPr>
          <a:xfrm>
            <a:off x="763487"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58</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sp>
        <p:nvSpPr>
          <p:cNvPr id="234" name="직사각형 233"/>
          <p:cNvSpPr/>
          <p:nvPr/>
        </p:nvSpPr>
        <p:spPr>
          <a:xfrm>
            <a:off x="3832497" y="2555584"/>
            <a:ext cx="1639886" cy="13087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9560" y="2555585"/>
            <a:ext cx="1480199" cy="1292662"/>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B. </a:t>
            </a:r>
            <a:r>
              <a:rPr lang="ko-KR" altLang="en-US" sz="700" dirty="0">
                <a:latin typeface="+mn-ea"/>
              </a:rPr>
              <a:t>특허</a:t>
            </a:r>
            <a:r>
              <a:rPr lang="en-US" altLang="ko-KR" sz="700" dirty="0">
                <a:latin typeface="+mn-ea"/>
              </a:rPr>
              <a:t>, GD</a:t>
            </a:r>
            <a:r>
              <a:rPr lang="ko-KR" altLang="en-US" sz="700" dirty="0">
                <a:latin typeface="+mn-ea"/>
              </a:rPr>
              <a:t>인증 보유자</a:t>
            </a:r>
          </a:p>
          <a:p>
            <a:pPr>
              <a:lnSpc>
                <a:spcPct val="200000"/>
              </a:lnSpc>
            </a:pPr>
            <a:r>
              <a:rPr lang="en-US" altLang="ko-KR" sz="700" dirty="0">
                <a:latin typeface="+mn-ea"/>
              </a:rPr>
              <a:t>C. </a:t>
            </a:r>
            <a:r>
              <a:rPr lang="ko-KR" altLang="en-US" sz="700" dirty="0">
                <a:latin typeface="+mn-ea"/>
              </a:rPr>
              <a:t>실용신안등록</a:t>
            </a:r>
            <a:r>
              <a:rPr lang="en-US" altLang="ko-KR" sz="700" dirty="0">
                <a:latin typeface="+mn-ea"/>
              </a:rPr>
              <a:t>, </a:t>
            </a:r>
            <a:r>
              <a:rPr lang="ko-KR" altLang="en-US" sz="700" dirty="0" err="1">
                <a:latin typeface="+mn-ea"/>
              </a:rPr>
              <a:t>의장등록</a:t>
            </a:r>
            <a:r>
              <a:rPr lang="ko-KR" altLang="en-US" sz="700" dirty="0">
                <a:latin typeface="+mn-ea"/>
              </a:rPr>
              <a:t> 보유자</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5647538" y="2555585"/>
            <a:ext cx="179600" cy="1292662"/>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endParaRPr lang="en-US" altLang="ko-KR" sz="700" dirty="0">
              <a:latin typeface="+mn-ea"/>
            </a:endParaRPr>
          </a:p>
          <a:p>
            <a:pPr algn="r">
              <a:lnSpc>
                <a:spcPct val="200000"/>
              </a:lnSpc>
            </a:pPr>
            <a:endParaRPr lang="en-US" altLang="ko-KR" sz="700" dirty="0">
              <a:latin typeface="+mn-ea"/>
            </a:endParaRPr>
          </a:p>
          <a:p>
            <a:pPr algn="r">
              <a:lnSpc>
                <a:spcPct val="200000"/>
              </a:lnSpc>
            </a:pPr>
            <a:endParaRPr lang="en-US" altLang="ko-KR" sz="700" dirty="0">
              <a:latin typeface="+mn-ea"/>
            </a:endParaRPr>
          </a:p>
          <a:p>
            <a:pPr algn="r">
              <a:lnSpc>
                <a:spcPct val="200000"/>
              </a:lnSpc>
            </a:pPr>
            <a:r>
              <a:rPr lang="en-US" altLang="ko-KR" sz="700" dirty="0">
                <a:latin typeface="+mn-ea"/>
              </a:rPr>
              <a:t>1.0</a:t>
            </a:r>
          </a:p>
          <a:p>
            <a:pPr algn="r">
              <a:lnSpc>
                <a:spcPct val="200000"/>
              </a:lnSpc>
            </a:pPr>
            <a:r>
              <a:rPr lang="en-US" altLang="ko-KR" sz="700" dirty="0">
                <a:latin typeface="+mn-ea"/>
              </a:rPr>
              <a:t>0.5</a:t>
            </a: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3832498" y="344908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8" name="직선 연결선 257">
            <a:extLst>
              <a:ext uri="{FF2B5EF4-FFF2-40B4-BE49-F238E27FC236}">
                <a16:creationId xmlns:a16="http://schemas.microsoft.com/office/drawing/2014/main" id="{E9293055-D5CD-4B9E-7F64-64B2D2CA7A52}"/>
              </a:ext>
            </a:extLst>
          </p:cNvPr>
          <p:cNvCxnSpPr/>
          <p:nvPr/>
        </p:nvCxnSpPr>
        <p:spPr>
          <a:xfrm>
            <a:off x="3830405" y="3649643"/>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9" name="직선 연결선 258">
            <a:extLst>
              <a:ext uri="{FF2B5EF4-FFF2-40B4-BE49-F238E27FC236}">
                <a16:creationId xmlns:a16="http://schemas.microsoft.com/office/drawing/2014/main" id="{E9293055-D5CD-4B9E-7F64-64B2D2CA7A52}"/>
              </a:ext>
            </a:extLst>
          </p:cNvPr>
          <p:cNvCxnSpPr/>
          <p:nvPr/>
        </p:nvCxnSpPr>
        <p:spPr>
          <a:xfrm>
            <a:off x="3832498" y="38643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2" name="TextBox 241">
            <a:extLst>
              <a:ext uri="{FF2B5EF4-FFF2-40B4-BE49-F238E27FC236}">
                <a16:creationId xmlns:a16="http://schemas.microsoft.com/office/drawing/2014/main" id="{FFC49AEA-2A8F-250C-A86A-A7751D9706C3}"/>
              </a:ext>
            </a:extLst>
          </p:cNvPr>
          <p:cNvSpPr txBox="1"/>
          <p:nvPr/>
        </p:nvSpPr>
        <p:spPr>
          <a:xfrm>
            <a:off x="3891376"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3891376"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a:latin typeface="+mn-ea"/>
              </a:rPr>
              <a:t>기술 및 디자인 </a:t>
            </a:r>
            <a:r>
              <a:rPr lang="ko-KR" altLang="en-US" sz="700" dirty="0" err="1">
                <a:latin typeface="+mn-ea"/>
              </a:rPr>
              <a:t>인증보유</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기술 및 디자인 인증</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6067972"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3919560" y="2845534"/>
            <a:ext cx="1480199" cy="538609"/>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주무부 장관 등이 인증한 신기술</a:t>
            </a:r>
            <a:r>
              <a:rPr lang="en-US" altLang="ko-KR" sz="700" dirty="0">
                <a:latin typeface="+mn-ea"/>
              </a:rPr>
              <a:t>(KT, NT, IT, </a:t>
            </a:r>
            <a:r>
              <a:rPr lang="ko-KR" altLang="en-US" sz="700" dirty="0" err="1">
                <a:latin typeface="+mn-ea"/>
              </a:rPr>
              <a:t>전력신기술</a:t>
            </a:r>
            <a:r>
              <a:rPr lang="en-US" altLang="ko-KR" sz="700" dirty="0">
                <a:latin typeface="+mn-ea"/>
              </a:rPr>
              <a:t>, </a:t>
            </a:r>
            <a:r>
              <a:rPr lang="ko-KR" altLang="en-US" sz="700" dirty="0" err="1">
                <a:latin typeface="+mn-ea"/>
              </a:rPr>
              <a:t>건설신기술</a:t>
            </a:r>
            <a:r>
              <a:rPr lang="en-US" altLang="ko-KR" sz="700" dirty="0">
                <a:latin typeface="+mn-ea"/>
              </a:rPr>
              <a:t>, </a:t>
            </a:r>
            <a:r>
              <a:rPr lang="ko-KR" altLang="en-US" sz="700" dirty="0" err="1">
                <a:latin typeface="+mn-ea"/>
              </a:rPr>
              <a:t>환경신기술</a:t>
            </a:r>
            <a:r>
              <a:rPr lang="en-US" altLang="ko-KR" sz="700" dirty="0">
                <a:latin typeface="+mn-ea"/>
              </a:rPr>
              <a:t>)</a:t>
            </a:r>
            <a:r>
              <a:rPr lang="ko-KR" altLang="en-US" sz="700" dirty="0">
                <a:latin typeface="+mn-ea"/>
              </a:rPr>
              <a:t>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및 </a:t>
            </a:r>
            <a:r>
              <a:rPr lang="en-US" altLang="ko-KR" sz="700" dirty="0">
                <a:latin typeface="+mn-ea"/>
              </a:rPr>
              <a:t>GS(</a:t>
            </a:r>
            <a:r>
              <a:rPr lang="ko-KR" altLang="en-US" sz="700" dirty="0">
                <a:latin typeface="+mn-ea"/>
              </a:rPr>
              <a:t>국산 우수 </a:t>
            </a:r>
            <a:r>
              <a:rPr lang="en-US" altLang="ko-KR" sz="700" dirty="0">
                <a:latin typeface="+mn-ea"/>
              </a:rPr>
              <a:t>S/W)</a:t>
            </a:r>
            <a:r>
              <a:rPr lang="ko-KR" altLang="en-US" sz="700" dirty="0">
                <a:latin typeface="+mn-ea"/>
              </a:rPr>
              <a:t>마크 보유자</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708516" y="306097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60" name="직사각형 259"/>
          <p:cNvSpPr/>
          <p:nvPr/>
        </p:nvSpPr>
        <p:spPr>
          <a:xfrm>
            <a:off x="3832497" y="4429540"/>
            <a:ext cx="1639886" cy="13087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1" name="TextBox 260">
            <a:extLst>
              <a:ext uri="{FF2B5EF4-FFF2-40B4-BE49-F238E27FC236}">
                <a16:creationId xmlns:a16="http://schemas.microsoft.com/office/drawing/2014/main" id="{FFC49AEA-2A8F-250C-A86A-A7751D9706C3}"/>
              </a:ext>
            </a:extLst>
          </p:cNvPr>
          <p:cNvSpPr txBox="1"/>
          <p:nvPr/>
        </p:nvSpPr>
        <p:spPr>
          <a:xfrm>
            <a:off x="3919560" y="4429541"/>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5647602" y="442954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3830405" y="44295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5" name="직선 연결선 264">
            <a:extLst>
              <a:ext uri="{FF2B5EF4-FFF2-40B4-BE49-F238E27FC236}">
                <a16:creationId xmlns:a16="http://schemas.microsoft.com/office/drawing/2014/main" id="{E9293055-D5CD-4B9E-7F64-64B2D2CA7A52}"/>
              </a:ext>
            </a:extLst>
          </p:cNvPr>
          <p:cNvCxnSpPr/>
          <p:nvPr/>
        </p:nvCxnSpPr>
        <p:spPr>
          <a:xfrm>
            <a:off x="3832498" y="46442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6" name="직선 연결선 265">
            <a:extLst>
              <a:ext uri="{FF2B5EF4-FFF2-40B4-BE49-F238E27FC236}">
                <a16:creationId xmlns:a16="http://schemas.microsoft.com/office/drawing/2014/main" id="{E9293055-D5CD-4B9E-7F64-64B2D2CA7A52}"/>
              </a:ext>
            </a:extLst>
          </p:cNvPr>
          <p:cNvCxnSpPr/>
          <p:nvPr/>
        </p:nvCxnSpPr>
        <p:spPr>
          <a:xfrm>
            <a:off x="3832498" y="50089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0405" y="5373653"/>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32498" y="5738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9" name="TextBox 268">
            <a:extLst>
              <a:ext uri="{FF2B5EF4-FFF2-40B4-BE49-F238E27FC236}">
                <a16:creationId xmlns:a16="http://schemas.microsoft.com/office/drawing/2014/main" id="{FFC49AEA-2A8F-250C-A86A-A7751D9706C3}"/>
              </a:ext>
            </a:extLst>
          </p:cNvPr>
          <p:cNvSpPr txBox="1"/>
          <p:nvPr/>
        </p:nvSpPr>
        <p:spPr>
          <a:xfrm>
            <a:off x="3891376" y="3943591"/>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 </a:t>
            </a:r>
            <a:r>
              <a:rPr lang="ko-KR" altLang="en-US" sz="700" dirty="0">
                <a:latin typeface="+mn-ea"/>
              </a:rPr>
              <a:t>품질보증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품질</a:t>
            </a:r>
            <a:r>
              <a:rPr lang="en-US" altLang="ko-KR" sz="700" dirty="0">
                <a:latin typeface="+mn-ea"/>
              </a:rPr>
              <a:t>, </a:t>
            </a:r>
            <a:r>
              <a:rPr lang="ko-KR" altLang="en-US" sz="700" dirty="0">
                <a:latin typeface="+mn-ea"/>
              </a:rPr>
              <a:t>규격 등에 대한 인증</a:t>
            </a:r>
          </a:p>
        </p:txBody>
      </p:sp>
      <p:sp>
        <p:nvSpPr>
          <p:cNvPr id="270" name="TextBox 269">
            <a:extLst>
              <a:ext uri="{FF2B5EF4-FFF2-40B4-BE49-F238E27FC236}">
                <a16:creationId xmlns:a16="http://schemas.microsoft.com/office/drawing/2014/main" id="{FFC49AEA-2A8F-250C-A86A-A7751D9706C3}"/>
              </a:ext>
            </a:extLst>
          </p:cNvPr>
          <p:cNvSpPr txBox="1"/>
          <p:nvPr/>
        </p:nvSpPr>
        <p:spPr>
          <a:xfrm>
            <a:off x="6067972" y="442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3919560" y="4718902"/>
            <a:ext cx="1480199" cy="215444"/>
          </a:xfrm>
          <a:prstGeom prst="rect">
            <a:avLst/>
          </a:prstGeom>
          <a:noFill/>
        </p:spPr>
        <p:txBody>
          <a:bodyPr wrap="square" lIns="0" tIns="0" rIns="0" bIns="0" rtlCol="0">
            <a:spAutoFit/>
          </a:bodyPr>
          <a:lstStyle/>
          <a:p>
            <a:r>
              <a:rPr lang="en-US" altLang="ko-KR" sz="700" dirty="0">
                <a:latin typeface="+mn-ea"/>
              </a:rPr>
              <a:t>A. EM, </a:t>
            </a:r>
            <a:r>
              <a:rPr lang="ko-KR" altLang="en-US" sz="700" dirty="0">
                <a:latin typeface="+mn-ea"/>
              </a:rPr>
              <a:t>싱글 </a:t>
            </a:r>
            <a:r>
              <a:rPr lang="en-US" altLang="ko-KR" sz="700" dirty="0">
                <a:latin typeface="+mn-ea"/>
              </a:rPr>
              <a:t>PPM, </a:t>
            </a:r>
            <a:r>
              <a:rPr lang="ko-KR" altLang="en-US" sz="700" dirty="0">
                <a:latin typeface="+mn-ea"/>
              </a:rPr>
              <a:t>고효율에너지기자재 인증</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5708516" y="4772763"/>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3919560" y="5083588"/>
            <a:ext cx="1480199" cy="215444"/>
          </a:xfrm>
          <a:prstGeom prst="rect">
            <a:avLst/>
          </a:prstGeom>
          <a:noFill/>
        </p:spPr>
        <p:txBody>
          <a:bodyPr wrap="square" lIns="0" tIns="0" rIns="0" bIns="0" rtlCol="0">
            <a:spAutoFit/>
          </a:bodyPr>
          <a:lstStyle/>
          <a:p>
            <a:r>
              <a:rPr lang="en-US" altLang="ko-KR" sz="700" dirty="0">
                <a:latin typeface="+mn-ea"/>
              </a:rPr>
              <a:t>B. KS, CE (</a:t>
            </a:r>
            <a:r>
              <a:rPr lang="ko-KR" altLang="en-US" sz="700" dirty="0">
                <a:latin typeface="+mn-ea"/>
              </a:rPr>
              <a:t>모듈 </a:t>
            </a:r>
            <a:r>
              <a:rPr lang="en-US" altLang="ko-KR" sz="700" dirty="0">
                <a:latin typeface="+mn-ea"/>
              </a:rPr>
              <a:t>A </a:t>
            </a:r>
            <a:r>
              <a:rPr lang="ko-KR" altLang="en-US" sz="700" dirty="0">
                <a:latin typeface="+mn-ea"/>
              </a:rPr>
              <a:t>방식에 의한 경우 제외</a:t>
            </a:r>
            <a:r>
              <a:rPr lang="en-US" altLang="ko-KR" sz="700" dirty="0">
                <a:latin typeface="+mn-ea"/>
              </a:rPr>
              <a:t>), UL </a:t>
            </a:r>
            <a:r>
              <a:rPr lang="ko-KR" altLang="en-US" sz="700" dirty="0">
                <a:latin typeface="+mn-ea"/>
              </a:rPr>
              <a:t>인증을 </a:t>
            </a:r>
            <a:r>
              <a:rPr lang="ko-KR" altLang="en-US" sz="700" dirty="0" err="1">
                <a:latin typeface="+mn-ea"/>
              </a:rPr>
              <a:t>받은자</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448274"/>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건” 자 마크</a:t>
            </a:r>
            <a:r>
              <a:rPr lang="en-US" altLang="ko-KR" sz="700" dirty="0">
                <a:latin typeface="+mn-ea"/>
              </a:rPr>
              <a:t>, Q</a:t>
            </a:r>
            <a:r>
              <a:rPr lang="ko-KR" altLang="en-US" sz="700" dirty="0">
                <a:latin typeface="+mn-ea"/>
              </a:rPr>
              <a:t>마크</a:t>
            </a:r>
            <a:r>
              <a:rPr lang="en-US" altLang="ko-KR" sz="700" dirty="0">
                <a:latin typeface="+mn-ea"/>
              </a:rPr>
              <a:t>, K</a:t>
            </a:r>
            <a:r>
              <a:rPr lang="ko-KR" altLang="en-US" sz="700" dirty="0">
                <a:latin typeface="+mn-ea"/>
              </a:rPr>
              <a:t>마크</a:t>
            </a:r>
            <a:r>
              <a:rPr lang="en-US" altLang="ko-KR" sz="700" dirty="0">
                <a:latin typeface="+mn-ea"/>
              </a:rPr>
              <a:t>, </a:t>
            </a:r>
            <a:r>
              <a:rPr lang="ko-KR" altLang="en-US" sz="700" dirty="0" err="1">
                <a:latin typeface="+mn-ea"/>
              </a:rPr>
              <a:t>국방품질경영시스템인증을</a:t>
            </a:r>
            <a:r>
              <a:rPr lang="ko-KR" altLang="en-US" sz="700" dirty="0">
                <a:latin typeface="+mn-ea"/>
              </a:rPr>
              <a:t> 받은 자</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6390176" y="32721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78" name="TextBox 277">
            <a:extLst>
              <a:ext uri="{FF2B5EF4-FFF2-40B4-BE49-F238E27FC236}">
                <a16:creationId xmlns:a16="http://schemas.microsoft.com/office/drawing/2014/main" id="{FFC49AEA-2A8F-250C-A86A-A7751D9706C3}"/>
              </a:ext>
            </a:extLst>
          </p:cNvPr>
          <p:cNvSpPr txBox="1"/>
          <p:nvPr/>
        </p:nvSpPr>
        <p:spPr>
          <a:xfrm>
            <a:off x="5708516" y="5125081"/>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9" name="TextBox 278">
            <a:extLst>
              <a:ext uri="{FF2B5EF4-FFF2-40B4-BE49-F238E27FC236}">
                <a16:creationId xmlns:a16="http://schemas.microsoft.com/office/drawing/2014/main" id="{FFC49AEA-2A8F-250C-A86A-A7751D9706C3}"/>
              </a:ext>
            </a:extLst>
          </p:cNvPr>
          <p:cNvSpPr txBox="1"/>
          <p:nvPr/>
        </p:nvSpPr>
        <p:spPr>
          <a:xfrm>
            <a:off x="5708515" y="548658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1" name="TextBox 28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309268980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MUI-BD-10-T07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85" name="직사각형 84"/>
          <p:cNvSpPr/>
          <p:nvPr/>
        </p:nvSpPr>
        <p:spPr>
          <a:xfrm>
            <a:off x="719049" y="1979876"/>
            <a:ext cx="1639886" cy="9607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TextBox 85">
            <a:extLst>
              <a:ext uri="{FF2B5EF4-FFF2-40B4-BE49-F238E27FC236}">
                <a16:creationId xmlns:a16="http://schemas.microsoft.com/office/drawing/2014/main" id="{FFC49AEA-2A8F-250C-A86A-A7751D9706C3}"/>
              </a:ext>
            </a:extLst>
          </p:cNvPr>
          <p:cNvSpPr txBox="1"/>
          <p:nvPr/>
        </p:nvSpPr>
        <p:spPr>
          <a:xfrm>
            <a:off x="806112" y="197987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87" name="TextBox 86">
            <a:extLst>
              <a:ext uri="{FF2B5EF4-FFF2-40B4-BE49-F238E27FC236}">
                <a16:creationId xmlns:a16="http://schemas.microsoft.com/office/drawing/2014/main" id="{FFC49AEA-2A8F-250C-A86A-A7751D9706C3}"/>
              </a:ext>
            </a:extLst>
          </p:cNvPr>
          <p:cNvSpPr txBox="1"/>
          <p:nvPr/>
        </p:nvSpPr>
        <p:spPr>
          <a:xfrm>
            <a:off x="2534154" y="197987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89" name="직선 연결선 88">
            <a:extLst>
              <a:ext uri="{FF2B5EF4-FFF2-40B4-BE49-F238E27FC236}">
                <a16:creationId xmlns:a16="http://schemas.microsoft.com/office/drawing/2014/main" id="{E9293055-D5CD-4B9E-7F64-64B2D2CA7A52}"/>
              </a:ext>
            </a:extLst>
          </p:cNvPr>
          <p:cNvCxnSpPr/>
          <p:nvPr/>
        </p:nvCxnSpPr>
        <p:spPr>
          <a:xfrm>
            <a:off x="716957" y="19798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19050" y="21946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19050" y="256763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19050" y="29406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TextBox 93">
            <a:extLst>
              <a:ext uri="{FF2B5EF4-FFF2-40B4-BE49-F238E27FC236}">
                <a16:creationId xmlns:a16="http://schemas.microsoft.com/office/drawing/2014/main" id="{FFC49AEA-2A8F-250C-A86A-A7751D9706C3}"/>
              </a:ext>
            </a:extLst>
          </p:cNvPr>
          <p:cNvSpPr txBox="1"/>
          <p:nvPr/>
        </p:nvSpPr>
        <p:spPr>
          <a:xfrm>
            <a:off x="777928" y="149392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 </a:t>
            </a:r>
            <a:r>
              <a:rPr lang="ko-KR" altLang="en-US" sz="700" dirty="0">
                <a:latin typeface="+mn-ea"/>
              </a:rPr>
              <a:t>환경관리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환경오염 억제와 자원절약 기여</a:t>
            </a:r>
          </a:p>
        </p:txBody>
      </p:sp>
      <p:sp>
        <p:nvSpPr>
          <p:cNvPr id="95" name="TextBox 94">
            <a:extLst>
              <a:ext uri="{FF2B5EF4-FFF2-40B4-BE49-F238E27FC236}">
                <a16:creationId xmlns:a16="http://schemas.microsoft.com/office/drawing/2014/main" id="{FFC49AEA-2A8F-250C-A86A-A7751D9706C3}"/>
              </a:ext>
            </a:extLst>
          </p:cNvPr>
          <p:cNvSpPr txBox="1"/>
          <p:nvPr/>
        </p:nvSpPr>
        <p:spPr>
          <a:xfrm>
            <a:off x="2954524" y="197987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806112" y="2273405"/>
            <a:ext cx="1480199" cy="215444"/>
          </a:xfrm>
          <a:prstGeom prst="rect">
            <a:avLst/>
          </a:prstGeom>
          <a:noFill/>
        </p:spPr>
        <p:txBody>
          <a:bodyPr wrap="square" lIns="0" tIns="0" rIns="0" bIns="0" rtlCol="0">
            <a:spAutoFit/>
          </a:bodyPr>
          <a:lstStyle/>
          <a:p>
            <a:r>
              <a:rPr lang="en-US" altLang="ko-KR" sz="700" dirty="0">
                <a:latin typeface="+mn-ea"/>
              </a:rPr>
              <a:t>A. GR, </a:t>
            </a:r>
            <a:r>
              <a:rPr lang="ko-KR" altLang="en-US" sz="700" dirty="0" err="1">
                <a:latin typeface="+mn-ea"/>
              </a:rPr>
              <a:t>환경표지의</a:t>
            </a:r>
            <a:r>
              <a:rPr lang="ko-KR" altLang="en-US" sz="700" dirty="0">
                <a:latin typeface="+mn-ea"/>
              </a:rPr>
              <a:t> 인증</a:t>
            </a:r>
            <a:r>
              <a:rPr lang="en-US" altLang="ko-KR" sz="700" dirty="0">
                <a:latin typeface="+mn-ea"/>
              </a:rPr>
              <a:t>(E</a:t>
            </a:r>
            <a:r>
              <a:rPr lang="ko-KR" altLang="en-US" sz="700" dirty="0">
                <a:latin typeface="+mn-ea"/>
              </a:rPr>
              <a:t>마크</a:t>
            </a:r>
            <a:r>
              <a:rPr lang="en-US" altLang="ko-KR" sz="700" dirty="0">
                <a:latin typeface="+mn-ea"/>
              </a:rPr>
              <a:t>) </a:t>
            </a:r>
            <a:r>
              <a:rPr lang="ko-KR" altLang="en-US" sz="700" dirty="0">
                <a:latin typeface="+mn-ea"/>
              </a:rPr>
              <a:t>보유자</a:t>
            </a:r>
          </a:p>
        </p:txBody>
      </p:sp>
      <p:sp>
        <p:nvSpPr>
          <p:cNvPr id="97" name="TextBox 96">
            <a:extLst>
              <a:ext uri="{FF2B5EF4-FFF2-40B4-BE49-F238E27FC236}">
                <a16:creationId xmlns:a16="http://schemas.microsoft.com/office/drawing/2014/main" id="{FFC49AEA-2A8F-250C-A86A-A7751D9706C3}"/>
              </a:ext>
            </a:extLst>
          </p:cNvPr>
          <p:cNvSpPr txBox="1"/>
          <p:nvPr/>
        </p:nvSpPr>
        <p:spPr>
          <a:xfrm>
            <a:off x="2595068" y="232726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98" name="직사각형 97"/>
          <p:cNvSpPr/>
          <p:nvPr/>
        </p:nvSpPr>
        <p:spPr>
          <a:xfrm>
            <a:off x="719049" y="3476828"/>
            <a:ext cx="1639886" cy="5757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06112" y="347682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2534154" y="347682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6957" y="347682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19050" y="36915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19050" y="40562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77928" y="2990878"/>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a:t>
            </a:r>
            <a:r>
              <a:rPr lang="ko-KR" altLang="en-US" sz="700" dirty="0">
                <a:latin typeface="+mn-ea"/>
              </a:rPr>
              <a:t>사후관리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사후관리에 필요한 조직 및 능력</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2954524" y="347682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806112" y="3766189"/>
            <a:ext cx="1480199"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정부로부터 </a:t>
            </a:r>
            <a:r>
              <a:rPr lang="ko-KR" altLang="en-US" sz="700" dirty="0" err="1">
                <a:latin typeface="+mn-ea"/>
              </a:rPr>
              <a:t>사후봉사</a:t>
            </a:r>
            <a:r>
              <a:rPr lang="en-US" altLang="ko-KR" sz="700" dirty="0">
                <a:latin typeface="+mn-ea"/>
              </a:rPr>
              <a:t>(A/S)</a:t>
            </a:r>
            <a:r>
              <a:rPr lang="ko-KR" altLang="en-US" sz="700" dirty="0">
                <a:latin typeface="+mn-ea"/>
              </a:rPr>
              <a:t>우수기업으로 인증 받은 자</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2595068" y="3820050"/>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3276728" y="252002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806112" y="2646425"/>
            <a:ext cx="1480199" cy="215444"/>
          </a:xfrm>
          <a:prstGeom prst="rect">
            <a:avLst/>
          </a:prstGeom>
          <a:noFill/>
        </p:spPr>
        <p:txBody>
          <a:bodyPr wrap="square" lIns="0" tIns="0" rIns="0" bIns="0" rtlCol="0">
            <a:spAutoFit/>
          </a:bodyPr>
          <a:lstStyle/>
          <a:p>
            <a:r>
              <a:rPr lang="en-US" altLang="ko-KR" sz="700" dirty="0">
                <a:latin typeface="+mn-ea"/>
              </a:rPr>
              <a:t>B. </a:t>
            </a:r>
            <a:r>
              <a:rPr lang="ko-KR" altLang="en-US" sz="700" dirty="0">
                <a:latin typeface="+mn-ea"/>
              </a:rPr>
              <a:t>환경친화기업 지정자 또는 환경설비 품질인증</a:t>
            </a:r>
            <a:r>
              <a:rPr lang="en-US" altLang="ko-KR" sz="700" dirty="0">
                <a:latin typeface="+mn-ea"/>
              </a:rPr>
              <a:t>(EEC </a:t>
            </a:r>
            <a:r>
              <a:rPr lang="ko-KR" altLang="en-US" sz="700" dirty="0">
                <a:latin typeface="+mn-ea"/>
              </a:rPr>
              <a:t>보유자</a:t>
            </a:r>
            <a:r>
              <a:rPr lang="en-US" altLang="ko-KR" sz="700" dirty="0">
                <a:latin typeface="+mn-ea"/>
              </a:rPr>
              <a:t>)</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8" y="270028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3276728" y="382005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2" name="직사각형 131"/>
          <p:cNvSpPr/>
          <p:nvPr/>
        </p:nvSpPr>
        <p:spPr>
          <a:xfrm>
            <a:off x="719049" y="4692708"/>
            <a:ext cx="1639886" cy="15289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806112" y="46927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534154" y="46927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716957" y="46927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49074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53698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777928" y="4107598"/>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마</a:t>
            </a:r>
            <a:r>
              <a:rPr lang="en-US" altLang="ko-KR" sz="700" dirty="0">
                <a:latin typeface="+mn-ea"/>
              </a:rPr>
              <a:t>. </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2954524" y="46927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4942254"/>
            <a:ext cx="1480199" cy="107722"/>
          </a:xfrm>
          <a:prstGeom prst="rect">
            <a:avLst/>
          </a:prstGeom>
          <a:noFill/>
        </p:spPr>
        <p:txBody>
          <a:bodyPr wrap="square" lIns="0" tIns="0" rIns="0" bIns="0" rtlCol="0">
            <a:spAutoFit/>
          </a:bodyPr>
          <a:lstStyle/>
          <a:p>
            <a:r>
              <a:rPr lang="en-US" altLang="ko-KR" sz="700" dirty="0">
                <a:latin typeface="+mn-ea"/>
              </a:rPr>
              <a:t>A.</a:t>
            </a:r>
            <a:r>
              <a:rPr lang="ko-KR" altLang="en-US" sz="700" dirty="0" err="1">
                <a:latin typeface="+mn-ea"/>
              </a:rPr>
              <a:t>공동수급체</a:t>
            </a:r>
            <a:r>
              <a:rPr lang="ko-KR" altLang="en-US" sz="700" dirty="0">
                <a:latin typeface="+mn-ea"/>
              </a:rPr>
              <a:t> 구성</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6821" y="493623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3276728" y="59182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6112" y="540464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2595068" y="5404640"/>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806112" y="558197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575930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소기업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593663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.10% </a:t>
            </a:r>
            <a:r>
              <a:rPr lang="ko-KR" altLang="en-US" sz="700" dirty="0">
                <a:latin typeface="+mn-ea"/>
              </a:rPr>
              <a:t>이상</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611396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.5% </a:t>
            </a:r>
            <a:r>
              <a:rPr lang="ko-KR" altLang="en-US" sz="700" dirty="0">
                <a:latin typeface="+mn-ea"/>
              </a:rPr>
              <a:t>이상 </a:t>
            </a:r>
            <a:r>
              <a:rPr lang="en-US" altLang="ko-KR" sz="700" dirty="0">
                <a:latin typeface="+mn-ea"/>
              </a:rPr>
              <a:t>10% </a:t>
            </a:r>
            <a:r>
              <a:rPr lang="ko-KR" altLang="en-US" sz="700" dirty="0">
                <a:latin typeface="+mn-ea"/>
              </a:rPr>
              <a:t>미만</a:t>
            </a: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719050" y="55471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9050" y="5724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59018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607916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4" name="TextBox 153">
            <a:extLst>
              <a:ext uri="{FF2B5EF4-FFF2-40B4-BE49-F238E27FC236}">
                <a16:creationId xmlns:a16="http://schemas.microsoft.com/office/drawing/2014/main" id="{FFC49AEA-2A8F-250C-A86A-A7751D9706C3}"/>
              </a:ext>
            </a:extLst>
          </p:cNvPr>
          <p:cNvSpPr txBox="1"/>
          <p:nvPr/>
        </p:nvSpPr>
        <p:spPr>
          <a:xfrm>
            <a:off x="2595067" y="558197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2676821" y="575930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593663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45374" y="6113963"/>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59" name="직사각형 158"/>
          <p:cNvSpPr/>
          <p:nvPr/>
        </p:nvSpPr>
        <p:spPr>
          <a:xfrm>
            <a:off x="3835002" y="1504396"/>
            <a:ext cx="1639886" cy="1204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35003" y="2708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3835003" y="168941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3922065" y="1529323"/>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3922065" y="1747387"/>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.10% </a:t>
            </a:r>
            <a:r>
              <a:rPr lang="ko-KR" altLang="en-US" sz="700" dirty="0">
                <a:latin typeface="+mn-ea"/>
              </a:rPr>
              <a:t>이상</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5711021" y="174738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3922065" y="194126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.5% </a:t>
            </a:r>
            <a:r>
              <a:rPr lang="ko-KR" altLang="en-US" sz="700" dirty="0">
                <a:latin typeface="+mn-ea"/>
              </a:rPr>
              <a:t>이상 </a:t>
            </a:r>
            <a:r>
              <a:rPr lang="en-US" altLang="ko-KR" sz="700" dirty="0">
                <a:latin typeface="+mn-ea"/>
              </a:rPr>
              <a:t>10% </a:t>
            </a:r>
            <a:r>
              <a:rPr lang="ko-KR" altLang="en-US" sz="700" dirty="0">
                <a:latin typeface="+mn-ea"/>
              </a:rPr>
              <a:t>미만</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3922065" y="2145076"/>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4888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3922065" y="255269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3835003" y="189322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2097032"/>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35003" y="230084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35003" y="250465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5711020" y="194126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5792774" y="21450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5711020" y="234888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5661327" y="2552696"/>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5792774" y="153199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6" name="직사각형 185"/>
          <p:cNvSpPr/>
          <p:nvPr/>
        </p:nvSpPr>
        <p:spPr>
          <a:xfrm>
            <a:off x="3832497" y="3242456"/>
            <a:ext cx="1639886" cy="29898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324245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324245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32424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34571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3832498" y="37500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433590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41507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275650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바</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324245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3495926"/>
            <a:ext cx="1480199" cy="215444"/>
          </a:xfrm>
          <a:prstGeom prst="rect">
            <a:avLst/>
          </a:prstGeom>
          <a:noFill/>
        </p:spPr>
        <p:txBody>
          <a:bodyPr wrap="square" lIns="0" tIns="0" rIns="0" bIns="0" rtlCol="0">
            <a:spAutoFit/>
          </a:bodyPr>
          <a:lstStyle/>
          <a:p>
            <a:r>
              <a:rPr lang="en-US" altLang="ko-KR" sz="700" dirty="0">
                <a:latin typeface="+mn-ea"/>
              </a:rPr>
              <a:t>A.</a:t>
            </a:r>
            <a:r>
              <a:rPr lang="ko-KR" altLang="en-US" sz="700" dirty="0" err="1">
                <a:latin typeface="+mn-ea"/>
              </a:rPr>
              <a:t>행정용품</a:t>
            </a:r>
            <a:r>
              <a:rPr lang="ko-KR" altLang="en-US" sz="700" dirty="0">
                <a:latin typeface="+mn-ea"/>
              </a:rPr>
              <a:t> 우수품질인증</a:t>
            </a:r>
            <a:r>
              <a:rPr lang="en-US" altLang="ko-KR" sz="700" dirty="0">
                <a:latin typeface="+mn-ea"/>
              </a:rPr>
              <a:t>(</a:t>
            </a:r>
            <a:r>
              <a:rPr lang="ko-KR" altLang="en-US" sz="700" dirty="0">
                <a:latin typeface="+mn-ea"/>
              </a:rPr>
              <a:t>조달청중앙보급창</a:t>
            </a:r>
            <a:r>
              <a:rPr lang="en-US" altLang="ko-KR" sz="700" dirty="0">
                <a:latin typeface="+mn-ea"/>
              </a:rPr>
              <a:t>) </a:t>
            </a:r>
            <a:r>
              <a:rPr lang="ko-KR" altLang="en-US" sz="700" dirty="0">
                <a:latin typeface="+mn-ea"/>
              </a:rPr>
              <a:t>소지자</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3549787"/>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19560" y="3788828"/>
            <a:ext cx="1480199" cy="323165"/>
          </a:xfrm>
          <a:prstGeom prst="rect">
            <a:avLst/>
          </a:prstGeom>
          <a:noFill/>
        </p:spPr>
        <p:txBody>
          <a:bodyPr wrap="square" lIns="0" tIns="0" rIns="0" bIns="0" rtlCol="0">
            <a:spAutoFit/>
          </a:bodyPr>
          <a:lstStyle/>
          <a:p>
            <a:r>
              <a:rPr lang="en-US" altLang="ko-KR" sz="700" dirty="0">
                <a:latin typeface="+mn-ea"/>
              </a:rPr>
              <a:t>A-1.</a:t>
            </a:r>
            <a:r>
              <a:rPr lang="ko-KR" altLang="en-US" sz="700" dirty="0">
                <a:latin typeface="+mn-ea"/>
              </a:rPr>
              <a:t>조달업무 우수업체로서 중소기업청장 또는 조달청장 표창을 받은 업체</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4189451"/>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5708516" y="3896549"/>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418945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3276728" y="52372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7500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6390176" y="235034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37567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4374631"/>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여성이 대표인 기업</a:t>
            </a:r>
            <a:r>
              <a:rPr lang="en-US" altLang="ko-KR" sz="700" dirty="0">
                <a:latin typeface="+mn-ea"/>
              </a:rPr>
              <a:t>(‘</a:t>
            </a:r>
            <a:r>
              <a:rPr lang="ko-KR" altLang="en-US" sz="700" dirty="0">
                <a:latin typeface="+mn-ea"/>
              </a:rPr>
              <a:t>여성기업지원에 관한 </a:t>
            </a:r>
            <a:r>
              <a:rPr lang="ko-KR" altLang="en-US" sz="700" dirty="0" err="1">
                <a:latin typeface="+mn-ea"/>
              </a:rPr>
              <a:t>법률’에서</a:t>
            </a:r>
            <a:r>
              <a:rPr lang="ko-KR" altLang="en-US" sz="700" dirty="0">
                <a:latin typeface="+mn-ea"/>
              </a:rPr>
              <a:t> 정한 기업으로서 한국여성경제인협회에서 확인해 준 경우에만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4536213"/>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48442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488297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51220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561523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565396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5707821"/>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59081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5946862"/>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600072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6201038"/>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497493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0" name="TextBox 249">
            <a:extLst>
              <a:ext uri="{FF2B5EF4-FFF2-40B4-BE49-F238E27FC236}">
                <a16:creationId xmlns:a16="http://schemas.microsoft.com/office/drawing/2014/main" id="{FFC49AEA-2A8F-250C-A86A-A7751D9706C3}"/>
              </a:ext>
            </a:extLst>
          </p:cNvPr>
          <p:cNvSpPr txBox="1"/>
          <p:nvPr/>
        </p:nvSpPr>
        <p:spPr>
          <a:xfrm>
            <a:off x="806112" y="511958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a:t>
            </a:r>
          </a:p>
        </p:txBody>
      </p:sp>
      <p:cxnSp>
        <p:nvCxnSpPr>
          <p:cNvPr id="251" name="직선 연결선 250">
            <a:extLst>
              <a:ext uri="{FF2B5EF4-FFF2-40B4-BE49-F238E27FC236}">
                <a16:creationId xmlns:a16="http://schemas.microsoft.com/office/drawing/2014/main" id="{E9293055-D5CD-4B9E-7F64-64B2D2CA7A52}"/>
              </a:ext>
            </a:extLst>
          </p:cNvPr>
          <p:cNvCxnSpPr/>
          <p:nvPr/>
        </p:nvCxnSpPr>
        <p:spPr>
          <a:xfrm>
            <a:off x="719050" y="50847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2" name="TextBox 251">
            <a:extLst>
              <a:ext uri="{FF2B5EF4-FFF2-40B4-BE49-F238E27FC236}">
                <a16:creationId xmlns:a16="http://schemas.microsoft.com/office/drawing/2014/main" id="{FFC49AEA-2A8F-250C-A86A-A7751D9706C3}"/>
              </a:ext>
            </a:extLst>
          </p:cNvPr>
          <p:cNvSpPr txBox="1"/>
          <p:nvPr/>
        </p:nvSpPr>
        <p:spPr>
          <a:xfrm>
            <a:off x="2676821" y="517344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50681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5361058"/>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5322329"/>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502942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5414919"/>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488122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3" name="타원 12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15747570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MUI-BD-10-T07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직사각형 131"/>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40402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198538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806112" y="1510601"/>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장애인이 대표인 기업</a:t>
            </a:r>
            <a:r>
              <a:rPr lang="en-US" altLang="ko-KR" sz="700" dirty="0">
                <a:latin typeface="+mn-ea"/>
              </a:rPr>
              <a:t>(‘</a:t>
            </a:r>
            <a:r>
              <a:rPr lang="ko-KR" altLang="en-US" sz="700" dirty="0" err="1">
                <a:latin typeface="+mn-ea"/>
              </a:rPr>
              <a:t>장애인기업활동촉진법’에서</a:t>
            </a:r>
            <a:r>
              <a:rPr lang="ko-KR" altLang="en-US" sz="700" dirty="0">
                <a:latin typeface="+mn-ea"/>
              </a:rPr>
              <a:t> 정한 기업으로서 한국장애경제인협회에서 확인해 준 경우에만 인정</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6821" y="161832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3276728" y="326219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6112" y="202929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2595068" y="2083151"/>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806112" y="2332536"/>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2635782"/>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28309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 그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인 이상인 기업</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3457717"/>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 그 증가 인원이 </a:t>
            </a:r>
            <a:r>
              <a:rPr lang="en-US" altLang="ko-KR" sz="700" dirty="0">
                <a:latin typeface="+mn-ea"/>
              </a:rPr>
              <a:t>3</a:t>
            </a:r>
            <a:r>
              <a:rPr lang="ko-KR" altLang="en-US" sz="700" dirty="0">
                <a:latin typeface="+mn-ea"/>
              </a:rPr>
              <a:t>인 이상인 기업</a:t>
            </a: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719050" y="22886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9050" y="2591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278740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341381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4" name="TextBox 153">
            <a:extLst>
              <a:ext uri="{FF2B5EF4-FFF2-40B4-BE49-F238E27FC236}">
                <a16:creationId xmlns:a16="http://schemas.microsoft.com/office/drawing/2014/main" id="{FFC49AEA-2A8F-250C-A86A-A7751D9706C3}"/>
              </a:ext>
            </a:extLst>
          </p:cNvPr>
          <p:cNvSpPr txBox="1"/>
          <p:nvPr/>
        </p:nvSpPr>
        <p:spPr>
          <a:xfrm>
            <a:off x="2595067" y="2386397"/>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2676821" y="262754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30463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95068" y="3673160"/>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9" name="직사각형 158"/>
          <p:cNvSpPr/>
          <p:nvPr/>
        </p:nvSpPr>
        <p:spPr>
          <a:xfrm>
            <a:off x="3835002" y="1504396"/>
            <a:ext cx="1639886" cy="2629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29323"/>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비상기획위원장이 확인해 준 ‘비상대비중점관리 대상업체’</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6733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92774" y="15831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6" name="직사각형 185"/>
          <p:cNvSpPr/>
          <p:nvPr/>
        </p:nvSpPr>
        <p:spPr>
          <a:xfrm>
            <a:off x="3832497" y="2518332"/>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2518332"/>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2518332"/>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25183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7330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3832498" y="314836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3548065"/>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334821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834024"/>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251833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779136"/>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90269" y="28352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19560" y="319442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339427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5671646" y="3201232"/>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201" name="TextBox 200">
            <a:extLst>
              <a:ext uri="{FF2B5EF4-FFF2-40B4-BE49-F238E27FC236}">
                <a16:creationId xmlns:a16="http://schemas.microsoft.com/office/drawing/2014/main" id="{FFC49AEA-2A8F-250C-A86A-A7751D9706C3}"/>
              </a:ext>
            </a:extLst>
          </p:cNvPr>
          <p:cNvSpPr txBox="1"/>
          <p:nvPr/>
        </p:nvSpPr>
        <p:spPr>
          <a:xfrm>
            <a:off x="5621953" y="3398431"/>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3276728" y="19438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31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348625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3471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9050" y="49254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3276728" y="442897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06112" y="4084130"/>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806112" y="427926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중소기업청장</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기술혁신형</a:t>
            </a:r>
            <a:r>
              <a:rPr lang="ko-KR" altLang="en-US" sz="700" dirty="0">
                <a:latin typeface="+mn-ea"/>
              </a:rPr>
              <a:t> 중소기업</a:t>
            </a:r>
            <a:r>
              <a:rPr lang="en-US" altLang="ko-KR" sz="700" dirty="0">
                <a:latin typeface="+mn-ea"/>
              </a:rPr>
              <a:t>(INNO-BIZ)’</a:t>
            </a:r>
            <a:r>
              <a:rPr lang="ko-KR" altLang="en-US" sz="700" dirty="0">
                <a:latin typeface="+mn-ea"/>
              </a:rPr>
              <a:t>으로 지정 받은 자</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806112" y="4662588"/>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중소기업청장</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벤처기업 확인을 </a:t>
            </a:r>
            <a:r>
              <a:rPr lang="ko-KR" altLang="en-US" sz="700" dirty="0" err="1">
                <a:latin typeface="+mn-ea"/>
              </a:rPr>
              <a:t>받은자</a:t>
            </a:r>
            <a:endParaRPr lang="ko-KR" altLang="en-US" sz="700" dirty="0">
              <a:latin typeface="+mn-ea"/>
            </a:endParaRP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719050" y="423575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19050" y="461868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2676821" y="407589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2595067" y="4386982"/>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2" name="TextBox 121">
            <a:extLst>
              <a:ext uri="{FF2B5EF4-FFF2-40B4-BE49-F238E27FC236}">
                <a16:creationId xmlns:a16="http://schemas.microsoft.com/office/drawing/2014/main" id="{FFC49AEA-2A8F-250C-A86A-A7751D9706C3}"/>
              </a:ext>
            </a:extLst>
          </p:cNvPr>
          <p:cNvSpPr txBox="1"/>
          <p:nvPr/>
        </p:nvSpPr>
        <p:spPr>
          <a:xfrm>
            <a:off x="2595068" y="4716449"/>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3276728" y="51197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806112" y="4985359"/>
            <a:ext cx="1480199" cy="107722"/>
          </a:xfrm>
          <a:prstGeom prst="rect">
            <a:avLst/>
          </a:prstGeom>
          <a:noFill/>
        </p:spPr>
        <p:txBody>
          <a:bodyPr wrap="square" lIns="0" tIns="0" rIns="0" bIns="0" rtlCol="0">
            <a:spAutoFit/>
          </a:bodyPr>
          <a:lstStyle/>
          <a:p>
            <a:r>
              <a:rPr lang="en-US" altLang="ko-KR" sz="700" dirty="0">
                <a:latin typeface="+mn-ea"/>
              </a:rPr>
              <a:t>F.’</a:t>
            </a:r>
            <a:r>
              <a:rPr lang="ko-KR" altLang="en-US" sz="700" dirty="0" err="1">
                <a:latin typeface="+mn-ea"/>
              </a:rPr>
              <a:t>신노사문화우수기업</a:t>
            </a:r>
            <a:r>
              <a:rPr lang="ko-KR" altLang="en-US" sz="700" dirty="0">
                <a:latin typeface="+mn-ea"/>
              </a:rPr>
              <a:t>’ </a:t>
            </a:r>
            <a:r>
              <a:rPr lang="en-US" altLang="ko-KR" sz="700" dirty="0">
                <a:latin typeface="+mn-ea"/>
              </a:rPr>
              <a:t>(</a:t>
            </a:r>
            <a:r>
              <a:rPr lang="ko-KR" altLang="en-US" sz="700" dirty="0">
                <a:latin typeface="+mn-ea"/>
              </a:rPr>
              <a:t>노동부 선정</a:t>
            </a:r>
            <a:r>
              <a:rPr lang="en-US" altLang="ko-KR" sz="700" dirty="0">
                <a:latin typeface="+mn-ea"/>
              </a:rPr>
              <a:t>)</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806112" y="518049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대상기업</a:t>
            </a:r>
            <a:br>
              <a:rPr lang="ko-KR" altLang="en-US" sz="700" dirty="0">
                <a:latin typeface="+mn-ea"/>
              </a:rPr>
            </a:br>
            <a:r>
              <a:rPr lang="ko-KR" altLang="en-US" sz="700" dirty="0">
                <a:latin typeface="+mn-ea"/>
              </a:rPr>
              <a:t>  </a:t>
            </a:r>
            <a:r>
              <a:rPr lang="en-US" altLang="ko-KR" sz="700" dirty="0">
                <a:latin typeface="+mn-ea"/>
              </a:rPr>
              <a:t>- </a:t>
            </a:r>
            <a:r>
              <a:rPr lang="ko-KR" altLang="en-US" sz="700" dirty="0">
                <a:latin typeface="+mn-ea"/>
              </a:rPr>
              <a:t>우수기업</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9050" y="513698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8" name="TextBox 137">
            <a:extLst>
              <a:ext uri="{FF2B5EF4-FFF2-40B4-BE49-F238E27FC236}">
                <a16:creationId xmlns:a16="http://schemas.microsoft.com/office/drawing/2014/main" id="{FFC49AEA-2A8F-250C-A86A-A7751D9706C3}"/>
              </a:ext>
            </a:extLst>
          </p:cNvPr>
          <p:cNvSpPr txBox="1"/>
          <p:nvPr/>
        </p:nvSpPr>
        <p:spPr>
          <a:xfrm>
            <a:off x="2676821" y="497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2595003" y="5180490"/>
            <a:ext cx="118687" cy="215444"/>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0.5</a:t>
            </a:r>
            <a:endParaRPr lang="ko-KR" altLang="en-US" sz="700" dirty="0">
              <a:latin typeface="+mn-ea"/>
            </a:endParaRPr>
          </a:p>
        </p:txBody>
      </p:sp>
      <p:cxnSp>
        <p:nvCxnSpPr>
          <p:cNvPr id="162" name="직선 연결선 161">
            <a:extLst>
              <a:ext uri="{FF2B5EF4-FFF2-40B4-BE49-F238E27FC236}">
                <a16:creationId xmlns:a16="http://schemas.microsoft.com/office/drawing/2014/main" id="{E9293055-D5CD-4B9E-7F64-64B2D2CA7A52}"/>
              </a:ext>
            </a:extLst>
          </p:cNvPr>
          <p:cNvCxnSpPr/>
          <p:nvPr/>
        </p:nvCxnSpPr>
        <p:spPr>
          <a:xfrm>
            <a:off x="719050" y="54218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5" name="TextBox 164">
            <a:extLst>
              <a:ext uri="{FF2B5EF4-FFF2-40B4-BE49-F238E27FC236}">
                <a16:creationId xmlns:a16="http://schemas.microsoft.com/office/drawing/2014/main" id="{FFC49AEA-2A8F-250C-A86A-A7751D9706C3}"/>
              </a:ext>
            </a:extLst>
          </p:cNvPr>
          <p:cNvSpPr txBox="1"/>
          <p:nvPr/>
        </p:nvSpPr>
        <p:spPr>
          <a:xfrm>
            <a:off x="806112" y="546994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err="1">
                <a:latin typeface="+mn-ea"/>
              </a:rPr>
              <a:t>세계일류상품인증기업</a:t>
            </a:r>
            <a:r>
              <a:rPr lang="ko-KR" altLang="en-US" sz="700" dirty="0">
                <a:latin typeface="+mn-ea"/>
              </a:rPr>
              <a:t>’ </a:t>
            </a:r>
            <a:r>
              <a:rPr lang="en-US" altLang="ko-KR" sz="700" dirty="0">
                <a:latin typeface="+mn-ea"/>
              </a:rPr>
              <a:t>(</a:t>
            </a:r>
            <a:r>
              <a:rPr lang="ko-KR" altLang="en-US" sz="700" dirty="0" err="1">
                <a:latin typeface="+mn-ea"/>
              </a:rPr>
              <a:t>산자부</a:t>
            </a:r>
            <a:r>
              <a:rPr lang="ko-KR" altLang="en-US" sz="700" dirty="0">
                <a:latin typeface="+mn-ea"/>
              </a:rPr>
              <a:t> 선정</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2595067" y="552380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719050" y="5719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3276728" y="5522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806112" y="578459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중소기업청장이 지정한 수출유망중소기업’</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2595067" y="583846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6" name="직선 연결선 215">
            <a:extLst>
              <a:ext uri="{FF2B5EF4-FFF2-40B4-BE49-F238E27FC236}">
                <a16:creationId xmlns:a16="http://schemas.microsoft.com/office/drawing/2014/main" id="{E9293055-D5CD-4B9E-7F64-64B2D2CA7A52}"/>
              </a:ext>
            </a:extLst>
          </p:cNvPr>
          <p:cNvCxnSpPr/>
          <p:nvPr/>
        </p:nvCxnSpPr>
        <p:spPr>
          <a:xfrm>
            <a:off x="719050" y="60341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276728" y="583685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806112" y="607689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국세청장</a:t>
            </a:r>
            <a:r>
              <a:rPr lang="en-US" altLang="ko-KR" sz="700" dirty="0">
                <a:latin typeface="+mn-ea"/>
              </a:rPr>
              <a:t>(</a:t>
            </a:r>
            <a:r>
              <a:rPr lang="ko-KR" altLang="en-US" sz="700" dirty="0">
                <a:latin typeface="+mn-ea"/>
              </a:rPr>
              <a:t>관세청장</a:t>
            </a:r>
            <a:r>
              <a:rPr lang="en-US" altLang="ko-KR" sz="700" dirty="0">
                <a:latin typeface="+mn-ea"/>
              </a:rPr>
              <a:t>)</a:t>
            </a:r>
            <a:r>
              <a:rPr lang="ko-KR" altLang="en-US" sz="700" dirty="0">
                <a:latin typeface="+mn-ea"/>
              </a:rPr>
              <a:t>이 지정한 ‘모범성실납세자’</a:t>
            </a:r>
            <a:r>
              <a:rPr lang="en-US" altLang="ko-KR" sz="700" dirty="0">
                <a:latin typeface="+mn-ea"/>
              </a:rPr>
              <a:t>(</a:t>
            </a:r>
            <a:r>
              <a:rPr lang="ko-KR" altLang="en-US" sz="700" dirty="0">
                <a:latin typeface="+mn-ea"/>
              </a:rPr>
              <a:t>아름다운관세행정파트너</a:t>
            </a:r>
            <a:r>
              <a:rPr lang="en-US" altLang="ko-KR" sz="700" dirty="0">
                <a:latin typeface="+mn-ea"/>
              </a:rPr>
              <a:t>)</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2595067" y="613075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3276728" y="612915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0405" y="3947765"/>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3832498" y="374791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3919560" y="359412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3919560" y="379397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5671646" y="3591083"/>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26" name="TextBox 225">
            <a:extLst>
              <a:ext uri="{FF2B5EF4-FFF2-40B4-BE49-F238E27FC236}">
                <a16:creationId xmlns:a16="http://schemas.microsoft.com/office/drawing/2014/main" id="{FFC49AEA-2A8F-250C-A86A-A7751D9706C3}"/>
              </a:ext>
            </a:extLst>
          </p:cNvPr>
          <p:cNvSpPr txBox="1"/>
          <p:nvPr/>
        </p:nvSpPr>
        <p:spPr>
          <a:xfrm>
            <a:off x="5671646" y="3788282"/>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3832498" y="414761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9" name="TextBox 228">
            <a:extLst>
              <a:ext uri="{FF2B5EF4-FFF2-40B4-BE49-F238E27FC236}">
                <a16:creationId xmlns:a16="http://schemas.microsoft.com/office/drawing/2014/main" id="{FFC49AEA-2A8F-250C-A86A-A7751D9706C3}"/>
              </a:ext>
            </a:extLst>
          </p:cNvPr>
          <p:cNvSpPr txBox="1"/>
          <p:nvPr/>
        </p:nvSpPr>
        <p:spPr>
          <a:xfrm>
            <a:off x="3919560" y="399382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3919560" y="419367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5671646" y="3992930"/>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5621953" y="4190129"/>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3789889" y="46730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7" name="TextBox 236">
            <a:extLst>
              <a:ext uri="{FF2B5EF4-FFF2-40B4-BE49-F238E27FC236}">
                <a16:creationId xmlns:a16="http://schemas.microsoft.com/office/drawing/2014/main" id="{FFC49AEA-2A8F-250C-A86A-A7751D9706C3}"/>
              </a:ext>
            </a:extLst>
          </p:cNvPr>
          <p:cNvSpPr txBox="1"/>
          <p:nvPr/>
        </p:nvSpPr>
        <p:spPr>
          <a:xfrm>
            <a:off x="3876635" y="4393427"/>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96" name="타원 9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83610377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284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008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err="1">
                          <a:latin typeface="+mn-ea"/>
                          <a:ea typeface="+mn-ea"/>
                        </a:rPr>
                        <a:t>당해물품납품이행능력</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당해물품납품이행능력</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신인도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기술 및 디자인 인증보유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및 디자인 인증보유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품질보증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품질보증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환경관리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사후관리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사후관리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영세기업 지원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영세기업 지원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5823915"/>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502669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4112855"/>
            <a:ext cx="296131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4396609"/>
          <a:ext cx="8994883" cy="70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신용평가등급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신용평가등급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신용평가등급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신용평가등급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5162967"/>
            <a:ext cx="2810632"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5439101"/>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5057242"/>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818450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9" name="TextBox 8">
            <a:extLst>
              <a:ext uri="{FF2B5EF4-FFF2-40B4-BE49-F238E27FC236}">
                <a16:creationId xmlns:a16="http://schemas.microsoft.com/office/drawing/2014/main" id="{1FAF1FB3-E4F7-0868-1F03-AFF1173675D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10" name="Text Box 73">
            <a:extLst>
              <a:ext uri="{FF2B5EF4-FFF2-40B4-BE49-F238E27FC236}">
                <a16:creationId xmlns:a16="http://schemas.microsoft.com/office/drawing/2014/main" id="{11028B87-74C9-34EE-BBDD-A89B343C602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84840680"/>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285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695216"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신인도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297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및 디자인 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및 디자인 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품질</a:t>
                      </a:r>
                      <a:r>
                        <a:rPr lang="en-US" altLang="ko-KR" sz="800" dirty="0">
                          <a:latin typeface="+mn-ea"/>
                          <a:ea typeface="+mn-ea"/>
                        </a:rPr>
                        <a:t>, </a:t>
                      </a:r>
                      <a:r>
                        <a:rPr lang="ko-KR" altLang="en-US" sz="800" dirty="0">
                          <a:latin typeface="+mn-ea"/>
                          <a:ea typeface="+mn-ea"/>
                        </a:rPr>
                        <a:t>규격 등에 대한 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a:t>
                      </a:r>
                      <a:r>
                        <a:rPr lang="en-US" altLang="ko-KR" sz="800" dirty="0">
                          <a:latin typeface="+mn-ea"/>
                          <a:ea typeface="+mn-ea"/>
                        </a:rPr>
                        <a:t>, </a:t>
                      </a:r>
                      <a:r>
                        <a:rPr lang="ko-KR" altLang="en-US" sz="800" dirty="0">
                          <a:latin typeface="+mn-ea"/>
                          <a:ea typeface="+mn-ea"/>
                        </a:rPr>
                        <a:t>규격 등에 대한 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환경오염 억제와 자원절약 기여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환경오염 억제와 자원절약 기여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사후관리에 필요한 조직 및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사후관리에 필요한 조직 및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공동수급체 각각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한 비율이 </a:t>
                      </a:r>
                      <a:r>
                        <a:rPr lang="en-US" altLang="ko-KR" sz="800" dirty="0">
                          <a:latin typeface="+mn-ea"/>
                          <a:ea typeface="+mn-ea"/>
                        </a:rPr>
                        <a:t>20% </a:t>
                      </a:r>
                      <a:r>
                        <a:rPr lang="ko-KR" altLang="en-US" sz="800" dirty="0">
                          <a:latin typeface="+mn-ea"/>
                          <a:ea typeface="+mn-ea"/>
                        </a:rPr>
                        <a:t>이상인 업체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각각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한 비율이 </a:t>
                      </a:r>
                      <a:r>
                        <a:rPr lang="en-US" altLang="ko-KR" sz="800" dirty="0">
                          <a:latin typeface="+mn-ea"/>
                          <a:ea typeface="+mn-ea"/>
                        </a:rPr>
                        <a:t>20% </a:t>
                      </a:r>
                      <a:r>
                        <a:rPr lang="ko-KR" altLang="en-US" sz="800" dirty="0">
                          <a:latin typeface="+mn-ea"/>
                          <a:ea typeface="+mn-ea"/>
                        </a:rPr>
                        <a:t>이상인 업체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소기업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지역업체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지역업체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소기업 또는 소상공인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행정용품 우수품질인증</a:t>
                      </a:r>
                      <a:r>
                        <a:rPr lang="en-US" altLang="ko-KR" sz="800" dirty="0">
                          <a:latin typeface="+mn-ea"/>
                          <a:ea typeface="+mn-ea"/>
                        </a:rPr>
                        <a:t>(</a:t>
                      </a:r>
                      <a:r>
                        <a:rPr lang="ko-KR" altLang="en-US" sz="800" dirty="0">
                          <a:latin typeface="+mn-ea"/>
                          <a:ea typeface="+mn-ea"/>
                        </a:rPr>
                        <a:t>조달청중앙보급창</a:t>
                      </a:r>
                      <a:r>
                        <a:rPr lang="en-US" altLang="ko-KR" sz="800" dirty="0">
                          <a:latin typeface="+mn-ea"/>
                          <a:ea typeface="+mn-ea"/>
                        </a:rPr>
                        <a:t>) </a:t>
                      </a:r>
                      <a:r>
                        <a:rPr lang="ko-KR" altLang="en-US" sz="800" dirty="0">
                          <a:latin typeface="+mn-ea"/>
                          <a:ea typeface="+mn-ea"/>
                        </a:rPr>
                        <a:t>소지자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행정용품 우수품질인증</a:t>
                      </a:r>
                      <a:r>
                        <a:rPr lang="en-US" altLang="ko-KR" sz="800" dirty="0">
                          <a:latin typeface="+mn-ea"/>
                          <a:ea typeface="+mn-ea"/>
                        </a:rPr>
                        <a:t>(</a:t>
                      </a:r>
                      <a:r>
                        <a:rPr lang="ko-KR" altLang="en-US" sz="800" dirty="0">
                          <a:latin typeface="+mn-ea"/>
                          <a:ea typeface="+mn-ea"/>
                        </a:rPr>
                        <a:t>조달청중앙보급창</a:t>
                      </a:r>
                      <a:r>
                        <a:rPr lang="en-US" altLang="ko-KR" sz="800" dirty="0">
                          <a:latin typeface="+mn-ea"/>
                          <a:ea typeface="+mn-ea"/>
                        </a:rPr>
                        <a:t>) </a:t>
                      </a:r>
                      <a:r>
                        <a:rPr lang="ko-KR" altLang="en-US" sz="800" dirty="0">
                          <a:latin typeface="+mn-ea"/>
                          <a:ea typeface="+mn-ea"/>
                        </a:rPr>
                        <a:t>소지자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여성기업지원 및 여성고용촉진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r h="0">
                <a:tc>
                  <a:txBody>
                    <a:bodyPr/>
                    <a:lstStyle/>
                    <a:p>
                      <a:pPr latinLnBrk="1"/>
                      <a:r>
                        <a:rPr lang="ko-KR" altLang="en-US" sz="800" dirty="0">
                          <a:latin typeface="+mn-ea"/>
                          <a:ea typeface="+mn-ea"/>
                        </a:rPr>
                        <a:t>장애인기업 및 장애인고용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 및 장애인고용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5823915"/>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5026696"/>
                  </a:ext>
                </a:extLst>
              </a:tr>
              <a:tr h="0">
                <a:tc>
                  <a:txBody>
                    <a:bodyPr/>
                    <a:lstStyle/>
                    <a:p>
                      <a:pPr latinLnBrk="1"/>
                      <a:r>
                        <a:rPr lang="ko-KR" altLang="en-US" sz="800" dirty="0">
                          <a:latin typeface="+mn-ea"/>
                          <a:ea typeface="+mn-ea"/>
                        </a:rPr>
                        <a:t>기술혁신 중소</a:t>
                      </a:r>
                      <a:r>
                        <a:rPr lang="en-US" altLang="ko-KR" sz="800" dirty="0">
                          <a:latin typeface="+mn-ea"/>
                          <a:ea typeface="+mn-ea"/>
                        </a:rPr>
                        <a:t>.</a:t>
                      </a:r>
                      <a:r>
                        <a:rPr lang="ko-KR" altLang="en-US" sz="800" dirty="0">
                          <a:latin typeface="+mn-ea"/>
                          <a:ea typeface="+mn-ea"/>
                        </a:rPr>
                        <a:t>벤처기업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기술혁신 중소</a:t>
                      </a:r>
                      <a:r>
                        <a:rPr lang="en-US" altLang="ko-KR" sz="800" dirty="0">
                          <a:latin typeface="+mn-ea"/>
                          <a:ea typeface="+mn-ea"/>
                        </a:rPr>
                        <a:t>.</a:t>
                      </a:r>
                      <a:r>
                        <a:rPr lang="ko-KR" altLang="en-US" sz="800" dirty="0">
                          <a:latin typeface="+mn-ea"/>
                          <a:ea typeface="+mn-ea"/>
                        </a:rPr>
                        <a:t>벤처기업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507781"/>
                  </a:ext>
                </a:extLst>
              </a:tr>
              <a:tr h="0">
                <a:tc>
                  <a:txBody>
                    <a:bodyPr/>
                    <a:lstStyle/>
                    <a:p>
                      <a:pPr latinLnBrk="1"/>
                      <a:r>
                        <a:rPr lang="ko-KR" altLang="en-US" sz="800" dirty="0" err="1">
                          <a:latin typeface="+mn-ea"/>
                          <a:ea typeface="+mn-ea"/>
                        </a:rPr>
                        <a:t>신노사문화우수기업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신노사문화우수기업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2192422"/>
                  </a:ext>
                </a:extLst>
              </a:tr>
              <a:tr h="0">
                <a:tc>
                  <a:txBody>
                    <a:bodyPr/>
                    <a:lstStyle/>
                    <a:p>
                      <a:pPr latinLnBrk="1"/>
                      <a:r>
                        <a:rPr lang="ko-KR" altLang="en-US" sz="800" dirty="0" err="1">
                          <a:latin typeface="+mn-ea"/>
                          <a:ea typeface="+mn-ea"/>
                        </a:rPr>
                        <a:t>세계일류상품인증기업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세계일류상품인증기업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955780"/>
                  </a:ext>
                </a:extLst>
              </a:tr>
            </a:tbl>
          </a:graphicData>
        </a:graphic>
      </p:graphicFrame>
      <p:sp>
        <p:nvSpPr>
          <p:cNvPr id="2" name="TextBox 1">
            <a:extLst>
              <a:ext uri="{FF2B5EF4-FFF2-40B4-BE49-F238E27FC236}">
                <a16:creationId xmlns:a16="http://schemas.microsoft.com/office/drawing/2014/main" id="{4A406AE4-109F-44C9-528E-85576A2A870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1DD3EDE2-5A46-E720-0C9E-82D9D41F767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79533944"/>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286</a:t>
            </a:fld>
            <a:endParaRPr lang="ko-KR" altLang="en-US" dirty="0"/>
          </a:p>
        </p:txBody>
      </p:sp>
      <p:graphicFrame>
        <p:nvGraphicFramePr>
          <p:cNvPr id="2" name="표 1">
            <a:extLst>
              <a:ext uri="{FF2B5EF4-FFF2-40B4-BE49-F238E27FC236}">
                <a16:creationId xmlns:a16="http://schemas.microsoft.com/office/drawing/2014/main" id="{5D6CB316-6F69-7621-79B3-10A44D8BAE13}"/>
              </a:ext>
            </a:extLst>
          </p:cNvPr>
          <p:cNvGraphicFramePr>
            <a:graphicFrameLocks noGrp="1"/>
          </p:cNvGraphicFramePr>
          <p:nvPr/>
        </p:nvGraphicFramePr>
        <p:xfrm>
          <a:off x="452999" y="1014316"/>
          <a:ext cx="8994883" cy="1457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중소기업청장이 지정한 </a:t>
                      </a:r>
                      <a:r>
                        <a:rPr lang="ko-KR" altLang="en-US" sz="800" dirty="0" err="1">
                          <a:latin typeface="+mn-ea"/>
                          <a:ea typeface="+mn-ea"/>
                        </a:rPr>
                        <a:t>수출유망중소기업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중소기업청장이 지정한 </a:t>
                      </a:r>
                      <a:r>
                        <a:rPr lang="ko-KR" altLang="en-US" sz="800" dirty="0" err="1">
                          <a:latin typeface="+mn-ea"/>
                          <a:ea typeface="+mn-ea"/>
                        </a:rPr>
                        <a:t>수출유망중소기업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612891"/>
                  </a:ext>
                </a:extLst>
              </a:tr>
              <a:tr h="0">
                <a:tc>
                  <a:txBody>
                    <a:bodyPr/>
                    <a:lstStyle/>
                    <a:p>
                      <a:pPr latinLnBrk="1"/>
                      <a:r>
                        <a:rPr lang="ko-KR" altLang="en-US" sz="800" dirty="0">
                          <a:latin typeface="+mn-ea"/>
                          <a:ea typeface="+mn-ea"/>
                        </a:rPr>
                        <a:t>모범성실납세자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모범성실납세자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0589904"/>
                  </a:ext>
                </a:extLst>
              </a:tr>
              <a:tr h="0">
                <a:tc>
                  <a:txBody>
                    <a:bodyPr/>
                    <a:lstStyle/>
                    <a:p>
                      <a:pPr latinLnBrk="1"/>
                      <a:r>
                        <a:rPr lang="ko-KR" altLang="en-US" sz="800" dirty="0" err="1">
                          <a:latin typeface="+mn-ea"/>
                          <a:ea typeface="+mn-ea"/>
                        </a:rPr>
                        <a:t>비상대비중점관리</a:t>
                      </a:r>
                      <a:r>
                        <a:rPr lang="ko-KR" altLang="en-US" sz="800" dirty="0">
                          <a:latin typeface="+mn-ea"/>
                          <a:ea typeface="+mn-ea"/>
                        </a:rPr>
                        <a:t> 대상업체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비상대비중점관리</a:t>
                      </a:r>
                      <a:r>
                        <a:rPr lang="ko-KR" altLang="en-US" sz="800" dirty="0">
                          <a:latin typeface="+mn-ea"/>
                          <a:ea typeface="+mn-ea"/>
                        </a:rPr>
                        <a:t> 대상업체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3519588"/>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5752466"/>
                  </a:ext>
                </a:extLst>
              </a:tr>
            </a:tbl>
          </a:graphicData>
        </a:graphic>
      </p:graphicFrame>
      <p:sp>
        <p:nvSpPr>
          <p:cNvPr id="6" name="TextBox 5">
            <a:extLst>
              <a:ext uri="{FF2B5EF4-FFF2-40B4-BE49-F238E27FC236}">
                <a16:creationId xmlns:a16="http://schemas.microsoft.com/office/drawing/2014/main" id="{88D722F3-F47E-1E84-AAD5-78FB1033B7A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633AB7A8-6FF8-E19A-5FB5-8D50715F869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24022608"/>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287</a:t>
            </a:fld>
            <a:endParaRPr lang="ko-KR" altLang="en-US" dirty="0"/>
          </a:p>
        </p:txBody>
      </p:sp>
      <p:sp>
        <p:nvSpPr>
          <p:cNvPr id="4" name="TextBox 3">
            <a:extLst>
              <a:ext uri="{FF2B5EF4-FFF2-40B4-BE49-F238E27FC236}">
                <a16:creationId xmlns:a16="http://schemas.microsoft.com/office/drawing/2014/main" id="{98AFBB7F-8F35-89FD-C1FD-182D84BCEDE9}"/>
              </a:ext>
            </a:extLst>
          </p:cNvPr>
          <p:cNvSpPr txBox="1"/>
          <p:nvPr/>
        </p:nvSpPr>
        <p:spPr>
          <a:xfrm>
            <a:off x="459613" y="751519"/>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D97AAD46-6BB7-4752-2D87-11D121746F0E}"/>
              </a:ext>
            </a:extLst>
          </p:cNvPr>
          <p:cNvGraphicFramePr>
            <a:graphicFrameLocks noGrp="1"/>
          </p:cNvGraphicFramePr>
          <p:nvPr>
            <p:extLst/>
          </p:nvPr>
        </p:nvGraphicFramePr>
        <p:xfrm>
          <a:off x="455204"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7" name="Text Box 73">
            <a:extLst>
              <a:ext uri="{FF2B5EF4-FFF2-40B4-BE49-F238E27FC236}">
                <a16:creationId xmlns:a16="http://schemas.microsoft.com/office/drawing/2014/main" id="{D036AF71-9184-F4D6-9F8D-3FA0EF4E2F1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8642877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45</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0670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28979" y="3596861"/>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3596862"/>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3596862"/>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58</a:t>
            </a:r>
          </a:p>
        </p:txBody>
      </p:sp>
      <p:grpSp>
        <p:nvGrpSpPr>
          <p:cNvPr id="162" name="그룹 161"/>
          <p:cNvGrpSpPr/>
          <p:nvPr/>
        </p:nvGrpSpPr>
        <p:grpSpPr>
          <a:xfrm>
            <a:off x="3826887" y="3596862"/>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3109510"/>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330974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3596862"/>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4100000"/>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계약목적물과 </a:t>
            </a:r>
            <a:r>
              <a:rPr lang="ko-KR" altLang="en-US" sz="700" dirty="0" err="1">
                <a:latin typeface="+mn-ea"/>
              </a:rPr>
              <a:t>동등이상</a:t>
            </a:r>
            <a:r>
              <a:rPr lang="ko-KR" altLang="en-US" sz="700" dirty="0">
                <a:latin typeface="+mn-ea"/>
              </a:rPr>
              <a:t> 물품</a:t>
            </a:r>
            <a:br>
              <a:rPr lang="ko-KR" altLang="en-US" sz="700" dirty="0">
                <a:latin typeface="+mn-ea"/>
              </a:rPr>
            </a:br>
            <a:r>
              <a:rPr lang="en-US" altLang="ko-KR" sz="700" dirty="0">
                <a:latin typeface="+mn-ea"/>
              </a:rPr>
              <a:t>2.</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599863" y="555757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6" name="직사각형 245"/>
          <p:cNvSpPr/>
          <p:nvPr/>
        </p:nvSpPr>
        <p:spPr>
          <a:xfrm>
            <a:off x="3828979" y="1784364"/>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기술인력보유</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a:t>
            </a:r>
          </a:p>
        </p:txBody>
      </p:sp>
      <p:grpSp>
        <p:nvGrpSpPr>
          <p:cNvPr id="249" name="그룹 248"/>
          <p:cNvGrpSpPr/>
          <p:nvPr/>
        </p:nvGrpSpPr>
        <p:grpSpPr>
          <a:xfrm>
            <a:off x="3826887" y="1784365"/>
            <a:ext cx="2630093" cy="429480"/>
            <a:chOff x="701175" y="1835481"/>
            <a:chExt cx="2630093" cy="429480"/>
          </a:xfrm>
        </p:grpSpPr>
        <p:cxnSp>
          <p:nvCxnSpPr>
            <p:cNvPr id="250" name="직선 연결선 2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err="1">
                <a:latin typeface="+mn-ea"/>
              </a:rPr>
              <a:t>기술실적</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390" y="1784365"/>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55" name="직사각형 254"/>
          <p:cNvSpPr/>
          <p:nvPr/>
        </p:nvSpPr>
        <p:spPr>
          <a:xfrm>
            <a:off x="3828979" y="257264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3916042" y="257264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신용평가등급에 의한 평가</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644084" y="257264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25</a:t>
            </a:r>
          </a:p>
        </p:txBody>
      </p:sp>
      <p:grpSp>
        <p:nvGrpSpPr>
          <p:cNvPr id="258" name="그룹 257"/>
          <p:cNvGrpSpPr/>
          <p:nvPr/>
        </p:nvGrpSpPr>
        <p:grpSpPr>
          <a:xfrm>
            <a:off x="3826887" y="2572648"/>
            <a:ext cx="2630093" cy="429480"/>
            <a:chOff x="701175" y="1835481"/>
            <a:chExt cx="2630093" cy="429480"/>
          </a:xfrm>
        </p:grpSpPr>
        <p:cxnSp>
          <p:nvCxnSpPr>
            <p:cNvPr id="259" name="직선 연결선 2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0" name="직선 연결선 2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1" name="직선 연결선 2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62" name="TextBox 261">
            <a:extLst>
              <a:ext uri="{FF2B5EF4-FFF2-40B4-BE49-F238E27FC236}">
                <a16:creationId xmlns:a16="http://schemas.microsoft.com/office/drawing/2014/main" id="{FFC49AEA-2A8F-250C-A86A-A7751D9706C3}"/>
              </a:ext>
            </a:extLst>
          </p:cNvPr>
          <p:cNvSpPr txBox="1"/>
          <p:nvPr/>
        </p:nvSpPr>
        <p:spPr>
          <a:xfrm>
            <a:off x="3887858" y="22855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재무상태</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6064390" y="257264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64" name="직사각형 263"/>
          <p:cNvSpPr/>
          <p:nvPr/>
        </p:nvSpPr>
        <p:spPr>
          <a:xfrm>
            <a:off x="3823602" y="4914956"/>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4914957"/>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491495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49149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51296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55575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4427605"/>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462784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물품 </a:t>
            </a:r>
            <a:r>
              <a:rPr lang="ko-KR" altLang="en-US" sz="700" dirty="0" err="1">
                <a:latin typeface="+mn-ea"/>
              </a:rPr>
              <a:t>품질정도</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491495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01111" y="43795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5182052"/>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품질관리</a:t>
            </a:r>
            <a:br>
              <a:rPr lang="ko-KR" altLang="en-US" sz="700" dirty="0">
                <a:latin typeface="+mn-ea"/>
              </a:rPr>
            </a:br>
            <a:r>
              <a:rPr lang="en-US" altLang="ko-KR" sz="700" dirty="0">
                <a:latin typeface="+mn-ea"/>
              </a:rPr>
              <a:t>2.</a:t>
            </a:r>
            <a:r>
              <a:rPr lang="ko-KR" altLang="en-US" sz="700" dirty="0">
                <a:latin typeface="+mn-ea"/>
              </a:rPr>
              <a:t>기술보유</a:t>
            </a:r>
            <a:br>
              <a:rPr lang="ko-KR" altLang="en-US" sz="700" dirty="0">
                <a:latin typeface="+mn-ea"/>
              </a:rPr>
            </a:br>
            <a:r>
              <a:rPr lang="en-US" altLang="ko-KR" sz="700" dirty="0">
                <a:latin typeface="+mn-ea"/>
              </a:rPr>
              <a:t>3.</a:t>
            </a:r>
            <a:r>
              <a:rPr lang="ko-KR" altLang="en-US" sz="700" dirty="0">
                <a:latin typeface="+mn-ea"/>
              </a:rPr>
              <a:t>환경관리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492833" y="5289773"/>
            <a:ext cx="325410" cy="107722"/>
          </a:xfrm>
          <a:prstGeom prst="rect">
            <a:avLst/>
          </a:prstGeom>
          <a:noFill/>
        </p:spPr>
        <p:txBody>
          <a:bodyPr wrap="none" lIns="0" tIns="0" rIns="0" bIns="0" rtlCol="0">
            <a:spAutoFit/>
          </a:bodyPr>
          <a:lstStyle/>
          <a:p>
            <a:pPr algn="r"/>
            <a:r>
              <a:rPr lang="en-US" altLang="ko-KR" sz="700" dirty="0">
                <a:latin typeface="+mn-ea"/>
              </a:rPr>
              <a:t>+3 ~ -3</a:t>
            </a:r>
            <a:endParaRPr lang="ko-KR" altLang="en-US"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52897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5899174"/>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5899175"/>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589917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589917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61139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65417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561206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589917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6166270"/>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r>
              <a:rPr lang="ko-KR" altLang="en-US" sz="700" dirty="0">
                <a:latin typeface="+mn-ea"/>
              </a:rPr>
              <a:t/>
            </a:r>
            <a:br>
              <a:rPr lang="ko-KR" altLang="en-US" sz="700" dirty="0">
                <a:latin typeface="+mn-ea"/>
              </a:rPr>
            </a:br>
            <a:r>
              <a:rPr lang="en-US" altLang="ko-KR" sz="700" dirty="0">
                <a:latin typeface="+mn-ea"/>
              </a:rPr>
              <a:t>3.</a:t>
            </a:r>
            <a:r>
              <a:rPr lang="ko-KR" altLang="en-US" sz="700" dirty="0">
                <a:latin typeface="+mn-ea"/>
              </a:rPr>
              <a:t>노사협력관계</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6273991"/>
            <a:ext cx="325410" cy="107722"/>
          </a:xfrm>
          <a:prstGeom prst="rect">
            <a:avLst/>
          </a:prstGeom>
          <a:noFill/>
        </p:spPr>
        <p:txBody>
          <a:bodyPr wrap="none" lIns="0" tIns="0" rIns="0" bIns="0" rtlCol="0">
            <a:spAutoFit/>
          </a:bodyPr>
          <a:lstStyle/>
          <a:p>
            <a:pPr algn="r"/>
            <a:r>
              <a:rPr lang="en-US" altLang="ko-KR" sz="700" dirty="0">
                <a:latin typeface="+mn-ea"/>
              </a:rPr>
              <a:t>+3 ~ -3</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627399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타원 169">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782037531"/>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MUI-BD-10-T08</a:t>
            </a:r>
            <a:endParaRPr lang="ko-KR" altLang="en-US" dirty="0"/>
          </a:p>
          <a:p>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303" name="직사각형 302"/>
          <p:cNvSpPr/>
          <p:nvPr/>
        </p:nvSpPr>
        <p:spPr>
          <a:xfrm>
            <a:off x="718458" y="1778282"/>
            <a:ext cx="1639886" cy="11661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805521" y="177828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2533563" y="177828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716366" y="177828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18459" y="19930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18459" y="29471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777337" y="149116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기타</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2953933" y="177828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805521" y="2039214"/>
            <a:ext cx="1480199" cy="86177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기술혁신여부</a:t>
            </a:r>
            <a:br>
              <a:rPr lang="ko-KR" altLang="en-US" sz="700" dirty="0">
                <a:latin typeface="+mn-ea"/>
              </a:rPr>
            </a:br>
            <a:r>
              <a:rPr lang="en-US" altLang="ko-KR" sz="700" dirty="0">
                <a:latin typeface="+mn-ea"/>
              </a:rPr>
              <a:t>2.</a:t>
            </a:r>
            <a:r>
              <a:rPr lang="ko-KR" altLang="en-US" sz="700" dirty="0">
                <a:latin typeface="+mn-ea"/>
              </a:rPr>
              <a:t>품질향상여부</a:t>
            </a:r>
            <a:br>
              <a:rPr lang="ko-KR" altLang="en-US" sz="700" dirty="0">
                <a:latin typeface="+mn-ea"/>
              </a:rPr>
            </a:br>
            <a:r>
              <a:rPr lang="en-US" altLang="ko-KR" sz="700" dirty="0">
                <a:latin typeface="+mn-ea"/>
              </a:rPr>
              <a:t>3.</a:t>
            </a:r>
            <a:r>
              <a:rPr lang="ko-KR" altLang="en-US" sz="700" dirty="0">
                <a:latin typeface="+mn-ea"/>
              </a:rPr>
              <a:t>성실납세여부</a:t>
            </a:r>
            <a:br>
              <a:rPr lang="ko-KR" altLang="en-US" sz="700" dirty="0">
                <a:latin typeface="+mn-ea"/>
              </a:rPr>
            </a:br>
            <a:r>
              <a:rPr lang="en-US" altLang="ko-KR" sz="700" dirty="0">
                <a:latin typeface="+mn-ea"/>
              </a:rPr>
              <a:t>4.</a:t>
            </a:r>
            <a:r>
              <a:rPr lang="ko-KR" altLang="en-US" sz="700" dirty="0">
                <a:latin typeface="+mn-ea"/>
              </a:rPr>
              <a:t>비상대비 </a:t>
            </a:r>
            <a:r>
              <a:rPr lang="ko-KR" altLang="en-US" sz="700" dirty="0" err="1">
                <a:latin typeface="+mn-ea"/>
              </a:rPr>
              <a:t>중점관대상</a:t>
            </a:r>
            <a:r>
              <a:rPr lang="ko-KR" altLang="en-US" sz="700" dirty="0">
                <a:latin typeface="+mn-ea"/>
              </a:rPr>
              <a:t/>
            </a:r>
            <a:br>
              <a:rPr lang="ko-KR" altLang="en-US" sz="700" dirty="0">
                <a:latin typeface="+mn-ea"/>
              </a:rPr>
            </a:br>
            <a:r>
              <a:rPr lang="en-US" altLang="ko-KR" sz="700" dirty="0">
                <a:latin typeface="+mn-ea"/>
              </a:rPr>
              <a:t>5.</a:t>
            </a:r>
            <a:r>
              <a:rPr lang="ko-KR" altLang="en-US" sz="700" dirty="0">
                <a:latin typeface="+mn-ea"/>
              </a:rPr>
              <a:t>가족친화 사회환경 조성 여부</a:t>
            </a:r>
            <a:br>
              <a:rPr lang="ko-KR" altLang="en-US" sz="700" dirty="0">
                <a:latin typeface="+mn-ea"/>
              </a:rPr>
            </a:br>
            <a:r>
              <a:rPr lang="en-US" altLang="ko-KR" sz="700" dirty="0">
                <a:latin typeface="+mn-ea"/>
              </a:rPr>
              <a:t>6.</a:t>
            </a:r>
            <a:r>
              <a:rPr lang="ko-KR" altLang="en-US" sz="700" dirty="0">
                <a:latin typeface="+mn-ea"/>
              </a:rPr>
              <a:t>고용창출 </a:t>
            </a:r>
            <a:r>
              <a:rPr lang="en-US" altLang="ko-KR" sz="700" dirty="0">
                <a:latin typeface="+mn-ea"/>
              </a:rPr>
              <a:t>100</a:t>
            </a:r>
            <a:r>
              <a:rPr lang="ko-KR" altLang="en-US" sz="700" dirty="0">
                <a:latin typeface="+mn-ea"/>
              </a:rPr>
              <a:t>대 우수기업여부</a:t>
            </a:r>
            <a:br>
              <a:rPr lang="ko-KR" altLang="en-US" sz="700" dirty="0">
                <a:latin typeface="+mn-ea"/>
              </a:rPr>
            </a:br>
            <a:r>
              <a:rPr lang="en-US" altLang="ko-KR" sz="700" dirty="0">
                <a:latin typeface="+mn-ea"/>
              </a:rPr>
              <a:t>7.</a:t>
            </a:r>
            <a:r>
              <a:rPr lang="ko-KR" altLang="en-US" sz="700" dirty="0">
                <a:latin typeface="+mn-ea"/>
              </a:rPr>
              <a:t>장애인고용 </a:t>
            </a:r>
            <a:r>
              <a:rPr lang="ko-KR" altLang="en-US" sz="700" dirty="0" err="1">
                <a:latin typeface="+mn-ea"/>
              </a:rPr>
              <a:t>우수사업주</a:t>
            </a:r>
            <a:r>
              <a:rPr lang="ko-KR" altLang="en-US" sz="700" dirty="0">
                <a:latin typeface="+mn-ea"/>
              </a:rPr>
              <a:t> 또는 장애인표준사업장 여부</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2387689" y="2416240"/>
            <a:ext cx="325410" cy="107722"/>
          </a:xfrm>
          <a:prstGeom prst="rect">
            <a:avLst/>
          </a:prstGeom>
          <a:noFill/>
        </p:spPr>
        <p:txBody>
          <a:bodyPr wrap="none" lIns="0" tIns="0" rIns="0" bIns="0" rtlCol="0">
            <a:spAutoFit/>
          </a:bodyPr>
          <a:lstStyle/>
          <a:p>
            <a:pPr algn="r"/>
            <a:r>
              <a:rPr lang="en-US" altLang="ko-KR" sz="700" dirty="0">
                <a:latin typeface="+mn-ea"/>
              </a:rPr>
              <a:t>+3 ~ -3</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3276137" y="241624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76741" y="336145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763487" y="2987781"/>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1~3</a:t>
            </a:r>
            <a:r>
              <a:rPr lang="ko-KR" altLang="en-US" sz="700" dirty="0">
                <a:latin typeface="+mn-ea"/>
              </a:rPr>
              <a:t>번 항을 합하여</a:t>
            </a:r>
            <a:endParaRPr lang="en-US" altLang="ko-KR" sz="700" dirty="0">
              <a:latin typeface="+mn-ea"/>
            </a:endParaRPr>
          </a:p>
          <a:p>
            <a:pPr lvl="0" algn="ctr" defTabSz="1013612">
              <a:defRPr/>
            </a:pPr>
            <a:r>
              <a:rPr lang="en-US" altLang="ko-KR" sz="700" dirty="0">
                <a:latin typeface="+mn-ea"/>
              </a:rPr>
              <a:t>+3 ~ -3</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sp>
        <p:nvSpPr>
          <p:cNvPr id="173" name="직사각형 172"/>
          <p:cNvSpPr/>
          <p:nvPr/>
        </p:nvSpPr>
        <p:spPr>
          <a:xfrm>
            <a:off x="704608" y="3894038"/>
            <a:ext cx="1639886" cy="12316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3894039"/>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389403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38940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4108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51302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340668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360692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389403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52031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4175627"/>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4391070"/>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45656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19050" y="478108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805521" y="4847936"/>
            <a:ext cx="1480199" cy="215444"/>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생산능력 부족으로 당해 계약 이행이 어렵다고 판단되는 경우</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576843" y="4901797"/>
            <a:ext cx="136256"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a:t>
            </a:r>
            <a:r>
              <a:rPr lang="ko-KR" altLang="en-US" sz="700" dirty="0" err="1">
                <a:latin typeface="+mn-ea"/>
              </a:rPr>
              <a:t>당해물품납품이행</a:t>
            </a:r>
            <a:endParaRPr lang="en-US" altLang="ko-KR" sz="700" dirty="0">
              <a:latin typeface="+mn-ea"/>
            </a:endParaRPr>
          </a:p>
        </p:txBody>
      </p:sp>
      <p:grpSp>
        <p:nvGrpSpPr>
          <p:cNvPr id="209" name="그룹 208"/>
          <p:cNvGrpSpPr/>
          <p:nvPr/>
        </p:nvGrpSpPr>
        <p:grpSpPr>
          <a:xfrm flipV="1">
            <a:off x="6245910" y="1641327"/>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0665" y="1864633"/>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 </a:t>
            </a:r>
            <a:r>
              <a:rPr lang="ko-KR" altLang="en-US" dirty="0"/>
              <a:t>납품실적</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10665" y="206487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435522" y="2138158"/>
            <a:ext cx="2010812"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3</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3910665" y="23722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4435522" y="2445550"/>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6036814" y="24994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3910665" y="369012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4435522" y="3763410"/>
            <a:ext cx="2010812"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3</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유사 물품</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0665" y="39975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5522" y="4070802"/>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6036814" y="412466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9</a:t>
            </a:r>
          </a:p>
        </p:txBody>
      </p:sp>
      <p:sp>
        <p:nvSpPr>
          <p:cNvPr id="243" name="직사각형 242"/>
          <p:cNvSpPr/>
          <p:nvPr/>
        </p:nvSpPr>
        <p:spPr>
          <a:xfrm>
            <a:off x="3835134" y="2752726"/>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3922197" y="27527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5650239" y="27527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2437" y="27527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2967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3834530" y="36397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6070609" y="27527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53388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3936047" y="3034314"/>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279" name="TextBox 278">
            <a:extLst>
              <a:ext uri="{FF2B5EF4-FFF2-40B4-BE49-F238E27FC236}">
                <a16:creationId xmlns:a16="http://schemas.microsoft.com/office/drawing/2014/main" id="{FFC49AEA-2A8F-250C-A86A-A7751D9706C3}"/>
              </a:ext>
            </a:extLst>
          </p:cNvPr>
          <p:cNvSpPr txBox="1"/>
          <p:nvPr/>
        </p:nvSpPr>
        <p:spPr>
          <a:xfrm>
            <a:off x="5725003" y="3034314"/>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9.5</a:t>
            </a:r>
            <a:br>
              <a:rPr lang="en-US" altLang="ko-KR" dirty="0"/>
            </a:br>
            <a:r>
              <a:rPr lang="en-US" altLang="ko-KR" dirty="0"/>
              <a:t>9</a:t>
            </a:r>
            <a:br>
              <a:rPr lang="en-US" altLang="ko-KR" dirty="0"/>
            </a:br>
            <a:r>
              <a:rPr lang="en-US" altLang="ko-KR" dirty="0"/>
              <a:t>8.5</a:t>
            </a:r>
            <a:br>
              <a:rPr lang="en-US" altLang="ko-KR" dirty="0"/>
            </a:br>
            <a:r>
              <a:rPr lang="en-US" altLang="ko-KR" dirty="0"/>
              <a:t>8</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6406663" y="32663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직사각형 283"/>
          <p:cNvSpPr/>
          <p:nvPr/>
        </p:nvSpPr>
        <p:spPr>
          <a:xfrm>
            <a:off x="3835134" y="4382250"/>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5" name="TextBox 284">
            <a:extLst>
              <a:ext uri="{FF2B5EF4-FFF2-40B4-BE49-F238E27FC236}">
                <a16:creationId xmlns:a16="http://schemas.microsoft.com/office/drawing/2014/main" id="{FFC49AEA-2A8F-250C-A86A-A7751D9706C3}"/>
              </a:ext>
            </a:extLst>
          </p:cNvPr>
          <p:cNvSpPr txBox="1"/>
          <p:nvPr/>
        </p:nvSpPr>
        <p:spPr>
          <a:xfrm>
            <a:off x="3922197" y="43822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6" name="TextBox 285">
            <a:extLst>
              <a:ext uri="{FF2B5EF4-FFF2-40B4-BE49-F238E27FC236}">
                <a16:creationId xmlns:a16="http://schemas.microsoft.com/office/drawing/2014/main" id="{FFC49AEA-2A8F-250C-A86A-A7751D9706C3}"/>
              </a:ext>
            </a:extLst>
          </p:cNvPr>
          <p:cNvSpPr txBox="1"/>
          <p:nvPr/>
        </p:nvSpPr>
        <p:spPr>
          <a:xfrm>
            <a:off x="5650239" y="43822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7" name="직선 연결선 286">
            <a:extLst>
              <a:ext uri="{FF2B5EF4-FFF2-40B4-BE49-F238E27FC236}">
                <a16:creationId xmlns:a16="http://schemas.microsoft.com/office/drawing/2014/main" id="{E9293055-D5CD-4B9E-7F64-64B2D2CA7A52}"/>
              </a:ext>
            </a:extLst>
          </p:cNvPr>
          <p:cNvCxnSpPr/>
          <p:nvPr/>
        </p:nvCxnSpPr>
        <p:spPr>
          <a:xfrm>
            <a:off x="3832437" y="43822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834530" y="459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4530" y="52692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6070609" y="43822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3936047" y="4663838"/>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316" name="TextBox 315">
            <a:extLst>
              <a:ext uri="{FF2B5EF4-FFF2-40B4-BE49-F238E27FC236}">
                <a16:creationId xmlns:a16="http://schemas.microsoft.com/office/drawing/2014/main" id="{FFC49AEA-2A8F-250C-A86A-A7751D9706C3}"/>
              </a:ext>
            </a:extLst>
          </p:cNvPr>
          <p:cNvSpPr txBox="1"/>
          <p:nvPr/>
        </p:nvSpPr>
        <p:spPr>
          <a:xfrm>
            <a:off x="5725003" y="4663838"/>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9.5</a:t>
            </a:r>
            <a:br>
              <a:rPr lang="en-US" altLang="ko-KR" dirty="0"/>
            </a:br>
            <a:r>
              <a:rPr lang="en-US" altLang="ko-KR" dirty="0"/>
              <a:t>9</a:t>
            </a:r>
            <a:br>
              <a:rPr lang="en-US" altLang="ko-KR" dirty="0"/>
            </a:br>
            <a:r>
              <a:rPr lang="en-US" altLang="ko-KR" dirty="0"/>
              <a:t>8.5</a:t>
            </a:r>
            <a:br>
              <a:rPr lang="en-US" altLang="ko-KR" dirty="0"/>
            </a:br>
            <a:r>
              <a:rPr lang="en-US" altLang="ko-KR" dirty="0"/>
              <a:t>8</a:t>
            </a:r>
          </a:p>
        </p:txBody>
      </p:sp>
      <p:sp>
        <p:nvSpPr>
          <p:cNvPr id="317" name="TextBox 316">
            <a:extLst>
              <a:ext uri="{FF2B5EF4-FFF2-40B4-BE49-F238E27FC236}">
                <a16:creationId xmlns:a16="http://schemas.microsoft.com/office/drawing/2014/main" id="{FFC49AEA-2A8F-250C-A86A-A7751D9706C3}"/>
              </a:ext>
            </a:extLst>
          </p:cNvPr>
          <p:cNvSpPr txBox="1"/>
          <p:nvPr/>
        </p:nvSpPr>
        <p:spPr>
          <a:xfrm>
            <a:off x="6406663" y="489591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22" name="TextBox 321">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89" name="타원 88">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283375569"/>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491157"/>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기술능력</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790330"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5187" y="1764682"/>
            <a:ext cx="2010812" cy="107722"/>
          </a:xfrm>
          <a:prstGeom prst="rect">
            <a:avLst/>
          </a:prstGeom>
          <a:noFill/>
        </p:spPr>
        <p:txBody>
          <a:bodyPr wrap="square" lIns="0" tIns="0" rIns="0" bIns="0" rtlCol="0">
            <a:spAutoFit/>
          </a:bodyPr>
          <a:lstStyle/>
          <a:p>
            <a:r>
              <a:rPr lang="ko-KR" altLang="en-US" sz="700" dirty="0">
                <a:latin typeface="+mn-ea"/>
              </a:rPr>
              <a:t>기술 인력 보유</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790330"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1315187" y="1948462"/>
            <a:ext cx="2010812" cy="107722"/>
          </a:xfrm>
          <a:prstGeom prst="rect">
            <a:avLst/>
          </a:prstGeom>
          <a:noFill/>
        </p:spPr>
        <p:txBody>
          <a:bodyPr wrap="square" lIns="0" tIns="0" rIns="0" bIns="0" rtlCol="0">
            <a:spAutoFit/>
          </a:bodyPr>
          <a:lstStyle/>
          <a:p>
            <a:r>
              <a:rPr lang="ko-KR" altLang="en-US" sz="700" dirty="0">
                <a:latin typeface="+mn-ea"/>
              </a:rPr>
              <a:t>기술인력 보유 정도</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2916479"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43" name="직사각형 242"/>
          <p:cNvSpPr/>
          <p:nvPr/>
        </p:nvSpPr>
        <p:spPr>
          <a:xfrm>
            <a:off x="714799" y="2109540"/>
            <a:ext cx="1639886" cy="18014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801862"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2529904"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712102"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714195"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714195" y="3910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2950274"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675399" y="50063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815712" y="236067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279" name="TextBox 278">
            <a:extLst>
              <a:ext uri="{FF2B5EF4-FFF2-40B4-BE49-F238E27FC236}">
                <a16:creationId xmlns:a16="http://schemas.microsoft.com/office/drawing/2014/main" id="{FFC49AEA-2A8F-250C-A86A-A7751D9706C3}"/>
              </a:ext>
            </a:extLst>
          </p:cNvPr>
          <p:cNvSpPr txBox="1"/>
          <p:nvPr/>
        </p:nvSpPr>
        <p:spPr>
          <a:xfrm>
            <a:off x="2604667" y="2541177"/>
            <a:ext cx="118623"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7</a:t>
            </a:r>
            <a:br>
              <a:rPr lang="en-US" altLang="ko-KR" dirty="0"/>
            </a:br>
            <a:r>
              <a:rPr lang="en-US" altLang="ko-KR" dirty="0"/>
              <a:t>6.5</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3286328" y="30637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815712" y="2541177"/>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 미만</a:t>
            </a:r>
          </a:p>
        </p:txBody>
      </p:sp>
      <p:sp>
        <p:nvSpPr>
          <p:cNvPr id="90" name="TextBox 89">
            <a:extLst>
              <a:ext uri="{FF2B5EF4-FFF2-40B4-BE49-F238E27FC236}">
                <a16:creationId xmlns:a16="http://schemas.microsoft.com/office/drawing/2014/main" id="{FFC49AEA-2A8F-250C-A86A-A7751D9706C3}"/>
              </a:ext>
            </a:extLst>
          </p:cNvPr>
          <p:cNvSpPr txBox="1"/>
          <p:nvPr/>
        </p:nvSpPr>
        <p:spPr>
          <a:xfrm>
            <a:off x="815712" y="2829405"/>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기사 또는 산업기사 보유</a:t>
            </a:r>
          </a:p>
        </p:txBody>
      </p:sp>
      <p:sp>
        <p:nvSpPr>
          <p:cNvPr id="91" name="TextBox 90">
            <a:extLst>
              <a:ext uri="{FF2B5EF4-FFF2-40B4-BE49-F238E27FC236}">
                <a16:creationId xmlns:a16="http://schemas.microsoft.com/office/drawing/2014/main" id="{FFC49AEA-2A8F-250C-A86A-A7751D9706C3}"/>
              </a:ext>
            </a:extLst>
          </p:cNvPr>
          <p:cNvSpPr txBox="1"/>
          <p:nvPr/>
        </p:nvSpPr>
        <p:spPr>
          <a:xfrm>
            <a:off x="815712" y="3009911"/>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 미만</a:t>
            </a:r>
          </a:p>
        </p:txBody>
      </p:sp>
      <p:sp>
        <p:nvSpPr>
          <p:cNvPr id="92" name="TextBox 91">
            <a:extLst>
              <a:ext uri="{FF2B5EF4-FFF2-40B4-BE49-F238E27FC236}">
                <a16:creationId xmlns:a16="http://schemas.microsoft.com/office/drawing/2014/main" id="{FFC49AEA-2A8F-250C-A86A-A7751D9706C3}"/>
              </a:ext>
            </a:extLst>
          </p:cNvPr>
          <p:cNvSpPr txBox="1"/>
          <p:nvPr/>
        </p:nvSpPr>
        <p:spPr>
          <a:xfrm>
            <a:off x="815712" y="3298139"/>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기능사 보유</a:t>
            </a:r>
          </a:p>
        </p:txBody>
      </p:sp>
      <p:sp>
        <p:nvSpPr>
          <p:cNvPr id="93" name="TextBox 92">
            <a:extLst>
              <a:ext uri="{FF2B5EF4-FFF2-40B4-BE49-F238E27FC236}">
                <a16:creationId xmlns:a16="http://schemas.microsoft.com/office/drawing/2014/main" id="{FFC49AEA-2A8F-250C-A86A-A7751D9706C3}"/>
              </a:ext>
            </a:extLst>
          </p:cNvPr>
          <p:cNvSpPr txBox="1"/>
          <p:nvPr/>
        </p:nvSpPr>
        <p:spPr>
          <a:xfrm>
            <a:off x="815712" y="347864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 미만</a:t>
            </a:r>
          </a:p>
        </p:txBody>
      </p:sp>
      <p:sp>
        <p:nvSpPr>
          <p:cNvPr id="94" name="TextBox 93">
            <a:extLst>
              <a:ext uri="{FF2B5EF4-FFF2-40B4-BE49-F238E27FC236}">
                <a16:creationId xmlns:a16="http://schemas.microsoft.com/office/drawing/2014/main" id="{FFC49AEA-2A8F-250C-A86A-A7751D9706C3}"/>
              </a:ext>
            </a:extLst>
          </p:cNvPr>
          <p:cNvSpPr txBox="1"/>
          <p:nvPr/>
        </p:nvSpPr>
        <p:spPr>
          <a:xfrm>
            <a:off x="815712" y="3766873"/>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err="1"/>
              <a:t>미보유</a:t>
            </a:r>
            <a:endParaRPr lang="ko-KR" altLang="en-US" dirty="0"/>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719050" y="373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19050" y="326174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9050" y="279301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19050" y="344225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9050" y="29735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19050" y="250478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1" name="TextBox 100">
            <a:extLst>
              <a:ext uri="{FF2B5EF4-FFF2-40B4-BE49-F238E27FC236}">
                <a16:creationId xmlns:a16="http://schemas.microsoft.com/office/drawing/2014/main" id="{FFC49AEA-2A8F-250C-A86A-A7751D9706C3}"/>
              </a:ext>
            </a:extLst>
          </p:cNvPr>
          <p:cNvSpPr txBox="1"/>
          <p:nvPr/>
        </p:nvSpPr>
        <p:spPr>
          <a:xfrm>
            <a:off x="2604667" y="3009911"/>
            <a:ext cx="118623"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6</a:t>
            </a:r>
            <a:br>
              <a:rPr lang="en-US" altLang="ko-KR" dirty="0"/>
            </a:br>
            <a:r>
              <a:rPr lang="en-US" altLang="ko-KR" dirty="0"/>
              <a:t>5.5</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604667" y="3478645"/>
            <a:ext cx="118623"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5</a:t>
            </a:r>
            <a:br>
              <a:rPr lang="en-US" altLang="ko-KR" dirty="0"/>
            </a:br>
            <a:r>
              <a:rPr lang="en-US" altLang="ko-KR" dirty="0"/>
              <a:t>4.5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673597" y="3766873"/>
            <a:ext cx="4969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4</a:t>
            </a:r>
          </a:p>
        </p:txBody>
      </p:sp>
      <p:grpSp>
        <p:nvGrpSpPr>
          <p:cNvPr id="105" name="그룹 104"/>
          <p:cNvGrpSpPr/>
          <p:nvPr/>
        </p:nvGrpSpPr>
        <p:grpSpPr>
          <a:xfrm>
            <a:off x="701175" y="4297746"/>
            <a:ext cx="2630093" cy="646331"/>
            <a:chOff x="701175" y="1835481"/>
            <a:chExt cx="2630093" cy="646331"/>
          </a:xfrm>
        </p:grpSpPr>
        <p:sp>
          <p:nvSpPr>
            <p:cNvPr id="106" name="직사각형 105"/>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09" name="그룹 108"/>
            <p:cNvGrpSpPr/>
            <p:nvPr/>
          </p:nvGrpSpPr>
          <p:grpSpPr>
            <a:xfrm>
              <a:off x="701175" y="1835481"/>
              <a:ext cx="2630093" cy="644220"/>
              <a:chOff x="701175" y="1835481"/>
              <a:chExt cx="2630093" cy="64422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39846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790330" y="4016629"/>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재무상태</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354685" y="4016629"/>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25</a:t>
            </a:r>
            <a:r>
              <a:rPr lang="ko-KR" altLang="en-US" dirty="0"/>
              <a:t>점</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2354685" y="1491157"/>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7</a:t>
            </a:r>
            <a:r>
              <a:rPr lang="ko-KR" altLang="en-US" dirty="0"/>
              <a:t>점</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58</a:t>
            </a:r>
            <a:r>
              <a:rPr lang="ko-KR" altLang="en-US" sz="700" dirty="0">
                <a:latin typeface="+mn-ea"/>
              </a:rPr>
              <a:t>점</a:t>
            </a:r>
          </a:p>
        </p:txBody>
      </p:sp>
      <p:grpSp>
        <p:nvGrpSpPr>
          <p:cNvPr id="119" name="그룹 118"/>
          <p:cNvGrpSpPr/>
          <p:nvPr/>
        </p:nvGrpSpPr>
        <p:grpSpPr>
          <a:xfrm flipV="1">
            <a:off x="6245910" y="1641327"/>
            <a:ext cx="94010" cy="47005"/>
            <a:chOff x="6812560" y="3297172"/>
            <a:chExt cx="94010" cy="47005"/>
          </a:xfrm>
        </p:grpSpPr>
        <p:cxnSp>
          <p:nvCxnSpPr>
            <p:cNvPr id="120" name="직선 연결선 1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351131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7" name="그룹 156"/>
          <p:cNvGrpSpPr/>
          <p:nvPr/>
        </p:nvGrpSpPr>
        <p:grpSpPr>
          <a:xfrm>
            <a:off x="3838043" y="1878921"/>
            <a:ext cx="2630093" cy="1094598"/>
            <a:chOff x="701175" y="1835480"/>
            <a:chExt cx="2630093" cy="1094598"/>
          </a:xfrm>
        </p:grpSpPr>
        <p:sp>
          <p:nvSpPr>
            <p:cNvPr id="158" name="직사각형 157"/>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TextBox 158">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58 -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61" name="그룹 160"/>
            <p:cNvGrpSpPr/>
            <p:nvPr/>
          </p:nvGrpSpPr>
          <p:grpSpPr>
            <a:xfrm>
              <a:off x="701175" y="1835481"/>
              <a:ext cx="2630093" cy="1094597"/>
              <a:chOff x="701175" y="1835481"/>
              <a:chExt cx="2630093" cy="1094597"/>
            </a:xfrm>
          </p:grpSpPr>
          <p:cxnSp>
            <p:nvCxnSpPr>
              <p:cNvPr id="162" name="직선 연결선 16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68" name="TextBox 167">
            <a:extLst>
              <a:ext uri="{FF2B5EF4-FFF2-40B4-BE49-F238E27FC236}">
                <a16:creationId xmlns:a16="http://schemas.microsoft.com/office/drawing/2014/main" id="{FFC49AEA-2A8F-250C-A86A-A7751D9706C3}"/>
              </a:ext>
            </a:extLst>
          </p:cNvPr>
          <p:cNvSpPr txBox="1"/>
          <p:nvPr/>
        </p:nvSpPr>
        <p:spPr>
          <a:xfrm>
            <a:off x="3925041" y="3090227"/>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53</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883823" y="3547884"/>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-3</a:t>
            </a:r>
          </a:p>
        </p:txBody>
      </p:sp>
      <p:grpSp>
        <p:nvGrpSpPr>
          <p:cNvPr id="172" name="그룹 171"/>
          <p:cNvGrpSpPr/>
          <p:nvPr/>
        </p:nvGrpSpPr>
        <p:grpSpPr>
          <a:xfrm flipV="1">
            <a:off x="6245910" y="3661215"/>
            <a:ext cx="94010" cy="47005"/>
            <a:chOff x="6812560" y="3297172"/>
            <a:chExt cx="94010" cy="47005"/>
          </a:xfrm>
        </p:grpSpPr>
        <p:cxnSp>
          <p:nvCxnSpPr>
            <p:cNvPr id="176" name="직선 연결선 1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3" name="직선 연결선 18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3797076" y="383469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3910665" y="384346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물품 </a:t>
            </a:r>
            <a:r>
              <a:rPr lang="ko-KR" altLang="en-US" dirty="0" err="1"/>
              <a:t>품질정도</a:t>
            </a:r>
            <a:endParaRPr lang="ko-KR" altLang="en-US" dirty="0"/>
          </a:p>
        </p:txBody>
      </p:sp>
      <p:sp>
        <p:nvSpPr>
          <p:cNvPr id="193" name="TextBox 192">
            <a:extLst>
              <a:ext uri="{FF2B5EF4-FFF2-40B4-BE49-F238E27FC236}">
                <a16:creationId xmlns:a16="http://schemas.microsoft.com/office/drawing/2014/main" id="{FFC49AEA-2A8F-250C-A86A-A7751D9706C3}"/>
              </a:ext>
            </a:extLst>
          </p:cNvPr>
          <p:cNvSpPr txBox="1"/>
          <p:nvPr/>
        </p:nvSpPr>
        <p:spPr>
          <a:xfrm>
            <a:off x="3910665" y="404370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4435522" y="4116992"/>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품질관리</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3910665" y="422748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435522" y="4300772"/>
            <a:ext cx="2010812" cy="107722"/>
          </a:xfrm>
          <a:prstGeom prst="rect">
            <a:avLst/>
          </a:prstGeom>
          <a:noFill/>
        </p:spPr>
        <p:txBody>
          <a:bodyPr wrap="square" lIns="0" tIns="0" rIns="0" bIns="0" rtlCol="0">
            <a:spAutoFit/>
          </a:bodyPr>
          <a:lstStyle/>
          <a:p>
            <a:r>
              <a:rPr lang="ko-KR" altLang="en-US" sz="700" dirty="0">
                <a:latin typeface="+mn-ea"/>
              </a:rPr>
              <a:t>품질보증을 </a:t>
            </a:r>
            <a:r>
              <a:rPr lang="ko-KR" altLang="en-US" sz="700" dirty="0" err="1">
                <a:latin typeface="+mn-ea"/>
              </a:rPr>
              <a:t>받은자</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6036814" y="430077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8" name="직사각형 197"/>
          <p:cNvSpPr/>
          <p:nvPr/>
        </p:nvSpPr>
        <p:spPr>
          <a:xfrm>
            <a:off x="3835134" y="4461850"/>
            <a:ext cx="1639886" cy="10391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3922197" y="446185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5650239" y="446185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2437" y="446184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4530" y="46765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3834530" y="55039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6070609" y="446185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3936047" y="4721851"/>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국방품질경영시스템 인증</a:t>
            </a:r>
            <a:r>
              <a:rPr lang="en-US" altLang="ko-KR" dirty="0"/>
              <a:t>, KS </a:t>
            </a:r>
            <a:r>
              <a:rPr lang="ko-KR" altLang="en-US" dirty="0" err="1"/>
              <a:t>표시허가</a:t>
            </a:r>
            <a:r>
              <a:rPr lang="en-US" altLang="ko-KR" dirty="0"/>
              <a:t>, GQ</a:t>
            </a:r>
            <a:r>
              <a:rPr lang="ko-KR" altLang="en-US" dirty="0"/>
              <a:t>인증</a:t>
            </a:r>
            <a:r>
              <a:rPr lang="en-US" altLang="ko-KR" dirty="0"/>
              <a:t>, </a:t>
            </a:r>
            <a:r>
              <a:rPr lang="ko-KR" altLang="en-US" dirty="0"/>
              <a:t>단체표준규격인증 중 </a:t>
            </a:r>
            <a:r>
              <a:rPr lang="en-US" altLang="ko-KR" dirty="0"/>
              <a:t>1</a:t>
            </a:r>
            <a:r>
              <a:rPr lang="ko-KR" altLang="en-US" dirty="0"/>
              <a:t>개를 </a:t>
            </a:r>
            <a:r>
              <a:rPr lang="ko-KR" altLang="en-US" dirty="0" err="1"/>
              <a:t>받은자</a:t>
            </a:r>
            <a:r>
              <a:rPr lang="en-US" altLang="ko-KR" dirty="0"/>
              <a:t>, CE, UL, </a:t>
            </a:r>
            <a:r>
              <a:rPr lang="ko-KR" altLang="en-US" dirty="0"/>
              <a:t>해당국의 국가산업표준규격 인증을 </a:t>
            </a:r>
            <a:r>
              <a:rPr lang="ko-KR" altLang="en-US" dirty="0" err="1"/>
              <a:t>받은자</a:t>
            </a:r>
            <a:r>
              <a:rPr lang="ko-KR" altLang="en-US" dirty="0"/>
              <a:t> 또는 </a:t>
            </a:r>
            <a:r>
              <a:rPr lang="en-US" altLang="ko-KR" dirty="0"/>
              <a:t>HACCP </a:t>
            </a:r>
            <a:r>
              <a:rPr lang="ko-KR" altLang="en-US" dirty="0" err="1"/>
              <a:t>지정업소</a:t>
            </a:r>
            <a:endParaRPr lang="ko-KR" altLang="en-US" dirty="0"/>
          </a:p>
        </p:txBody>
      </p:sp>
      <p:sp>
        <p:nvSpPr>
          <p:cNvPr id="206" name="TextBox 205">
            <a:extLst>
              <a:ext uri="{FF2B5EF4-FFF2-40B4-BE49-F238E27FC236}">
                <a16:creationId xmlns:a16="http://schemas.microsoft.com/office/drawing/2014/main" id="{FFC49AEA-2A8F-250C-A86A-A7751D9706C3}"/>
              </a:ext>
            </a:extLst>
          </p:cNvPr>
          <p:cNvSpPr txBox="1"/>
          <p:nvPr/>
        </p:nvSpPr>
        <p:spPr>
          <a:xfrm>
            <a:off x="5725002" y="493729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6406663" y="50364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3936047" y="535098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Q </a:t>
            </a:r>
            <a:r>
              <a:rPr lang="ko-KR" altLang="en-US" dirty="0"/>
              <a:t>또는 </a:t>
            </a:r>
            <a:r>
              <a:rPr lang="en-US" altLang="ko-KR" dirty="0"/>
              <a:t>K</a:t>
            </a:r>
            <a:r>
              <a:rPr lang="ko-KR" altLang="en-US" dirty="0"/>
              <a:t>마크를 </a:t>
            </a:r>
            <a:r>
              <a:rPr lang="ko-KR" altLang="en-US" dirty="0" err="1"/>
              <a:t>받은자</a:t>
            </a:r>
            <a:endParaRPr lang="ko-KR" altLang="en-US" dirty="0"/>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3839385" y="530572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5725002" y="535098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23" name="타원 12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653200694"/>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793517"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1318374" y="1572746"/>
            <a:ext cx="2010812" cy="107722"/>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기술보유</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793517"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1318374" y="1756526"/>
            <a:ext cx="2010812" cy="107722"/>
          </a:xfrm>
          <a:prstGeom prst="rect">
            <a:avLst/>
          </a:prstGeom>
          <a:noFill/>
        </p:spPr>
        <p:txBody>
          <a:bodyPr wrap="square" lIns="0" tIns="0" rIns="0" bIns="0" rtlCol="0">
            <a:spAutoFit/>
          </a:bodyPr>
          <a:lstStyle/>
          <a:p>
            <a:r>
              <a:rPr lang="ko-KR" altLang="en-US" sz="700" dirty="0" err="1">
                <a:latin typeface="+mn-ea"/>
              </a:rPr>
              <a:t>기술인증을</a:t>
            </a:r>
            <a:r>
              <a:rPr lang="ko-KR" altLang="en-US" sz="700" dirty="0">
                <a:latin typeface="+mn-ea"/>
              </a:rPr>
              <a:t> </a:t>
            </a:r>
            <a:r>
              <a:rPr lang="ko-KR" altLang="en-US" sz="700" dirty="0" err="1">
                <a:latin typeface="+mn-ea"/>
              </a:rPr>
              <a:t>받은자</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2919666"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8" name="직사각형 197"/>
          <p:cNvSpPr/>
          <p:nvPr/>
        </p:nvSpPr>
        <p:spPr>
          <a:xfrm>
            <a:off x="717986" y="1917604"/>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805049"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33091"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5289"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17382"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17382" y="244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2953461"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818899" y="217760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주무부 장관 등이 인증한 신기술 </a:t>
            </a:r>
            <a:r>
              <a:rPr lang="en-US" altLang="ko-KR" dirty="0"/>
              <a:t>(NET, NEP, </a:t>
            </a:r>
            <a:r>
              <a:rPr lang="ko-KR" altLang="en-US" dirty="0" err="1"/>
              <a:t>전력신기술</a:t>
            </a:r>
            <a:r>
              <a:rPr lang="en-US" altLang="ko-KR" dirty="0"/>
              <a:t>) </a:t>
            </a:r>
            <a:r>
              <a:rPr lang="ko-KR" altLang="en-US" dirty="0"/>
              <a:t>인증</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2607854" y="223146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289515" y="223146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1" name="직선 연결선 240">
            <a:extLst>
              <a:ext uri="{FF2B5EF4-FFF2-40B4-BE49-F238E27FC236}">
                <a16:creationId xmlns:a16="http://schemas.microsoft.com/office/drawing/2014/main" id="{E9293055-D5CD-4B9E-7F64-64B2D2CA7A52}"/>
              </a:ext>
            </a:extLst>
          </p:cNvPr>
          <p:cNvCxnSpPr/>
          <p:nvPr/>
        </p:nvCxnSpPr>
        <p:spPr>
          <a:xfrm>
            <a:off x="675399" y="354116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3" name="TextBox 122">
            <a:extLst>
              <a:ext uri="{FF2B5EF4-FFF2-40B4-BE49-F238E27FC236}">
                <a16:creationId xmlns:a16="http://schemas.microsoft.com/office/drawing/2014/main" id="{FFC49AEA-2A8F-250C-A86A-A7751D9706C3}"/>
              </a:ext>
            </a:extLst>
          </p:cNvPr>
          <p:cNvSpPr txBox="1"/>
          <p:nvPr/>
        </p:nvSpPr>
        <p:spPr>
          <a:xfrm>
            <a:off x="793517" y="25361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18374" y="2609409"/>
            <a:ext cx="2010812" cy="107722"/>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환경관리</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793517" y="271990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1318374" y="2793189"/>
            <a:ext cx="2010812" cy="107722"/>
          </a:xfrm>
          <a:prstGeom prst="rect">
            <a:avLst/>
          </a:prstGeom>
          <a:noFill/>
        </p:spPr>
        <p:txBody>
          <a:bodyPr wrap="square" lIns="0" tIns="0" rIns="0" bIns="0" rtlCol="0">
            <a:spAutoFit/>
          </a:bodyPr>
          <a:lstStyle/>
          <a:p>
            <a:r>
              <a:rPr lang="ko-KR" altLang="en-US" sz="700" dirty="0">
                <a:latin typeface="+mn-ea"/>
              </a:rPr>
              <a:t>환경오염 억제와 자원절약 기여자</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2919666" y="279318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28" name="직사각형 127"/>
          <p:cNvSpPr/>
          <p:nvPr/>
        </p:nvSpPr>
        <p:spPr>
          <a:xfrm>
            <a:off x="717986" y="2954267"/>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805049" y="295426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33091" y="295426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715289" y="295426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17382" y="3169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17382" y="34777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2953461" y="2954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818899" y="32142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환경표지</a:t>
            </a:r>
            <a:r>
              <a:rPr lang="en-US" altLang="ko-KR" dirty="0"/>
              <a:t>(GR</a:t>
            </a:r>
            <a:r>
              <a:rPr lang="ko-KR" altLang="en-US" dirty="0" err="1"/>
              <a:t>마크포함</a:t>
            </a:r>
            <a:r>
              <a:rPr lang="en-US" altLang="ko-KR" dirty="0"/>
              <a:t>) </a:t>
            </a:r>
            <a:r>
              <a:rPr lang="ko-KR" altLang="en-US" dirty="0"/>
              <a:t>인증을 받거나 환경친화기업 지정자</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2607854" y="326812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3289515" y="32681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790330" y="360456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 </a:t>
            </a:r>
            <a:r>
              <a:rPr lang="ko-KR" altLang="en-US" dirty="0"/>
              <a:t>계약이행 성실도</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790330" y="380480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1315187" y="3878091"/>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p:txBody>
      </p:sp>
      <p:sp>
        <p:nvSpPr>
          <p:cNvPr id="142" name="TextBox 141">
            <a:extLst>
              <a:ext uri="{FF2B5EF4-FFF2-40B4-BE49-F238E27FC236}">
                <a16:creationId xmlns:a16="http://schemas.microsoft.com/office/drawing/2014/main" id="{FFC49AEA-2A8F-250C-A86A-A7751D9706C3}"/>
              </a:ext>
            </a:extLst>
          </p:cNvPr>
          <p:cNvSpPr txBox="1"/>
          <p:nvPr/>
        </p:nvSpPr>
        <p:spPr>
          <a:xfrm>
            <a:off x="790330" y="398858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1315187" y="4061871"/>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916479" y="406187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45" name="직사각형 144"/>
          <p:cNvSpPr/>
          <p:nvPr/>
        </p:nvSpPr>
        <p:spPr>
          <a:xfrm>
            <a:off x="714799" y="4222949"/>
            <a:ext cx="1639886" cy="12671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TextBox 145">
            <a:extLst>
              <a:ext uri="{FF2B5EF4-FFF2-40B4-BE49-F238E27FC236}">
                <a16:creationId xmlns:a16="http://schemas.microsoft.com/office/drawing/2014/main" id="{FFC49AEA-2A8F-250C-A86A-A7751D9706C3}"/>
              </a:ext>
            </a:extLst>
          </p:cNvPr>
          <p:cNvSpPr txBox="1"/>
          <p:nvPr/>
        </p:nvSpPr>
        <p:spPr>
          <a:xfrm>
            <a:off x="801862" y="42229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2529904" y="42229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712102" y="42229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4195" y="44376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4195" y="54928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TextBox 150">
            <a:extLst>
              <a:ext uri="{FF2B5EF4-FFF2-40B4-BE49-F238E27FC236}">
                <a16:creationId xmlns:a16="http://schemas.microsoft.com/office/drawing/2014/main" id="{FFC49AEA-2A8F-250C-A86A-A7751D9706C3}"/>
              </a:ext>
            </a:extLst>
          </p:cNvPr>
          <p:cNvSpPr txBox="1"/>
          <p:nvPr/>
        </p:nvSpPr>
        <p:spPr>
          <a:xfrm>
            <a:off x="2950274" y="42229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815712" y="4486034"/>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2567798" y="4647616"/>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86328" y="491140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5712" y="5013613"/>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719050" y="49652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2518106" y="5175195"/>
            <a:ext cx="205184"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75" name="TextBox 74">
            <a:extLst>
              <a:ext uri="{FF2B5EF4-FFF2-40B4-BE49-F238E27FC236}">
                <a16:creationId xmlns:a16="http://schemas.microsoft.com/office/drawing/2014/main" id="{FFC49AEA-2A8F-250C-A86A-A7751D9706C3}"/>
              </a:ext>
            </a:extLst>
          </p:cNvPr>
          <p:cNvSpPr txBox="1"/>
          <p:nvPr/>
        </p:nvSpPr>
        <p:spPr>
          <a:xfrm>
            <a:off x="3910665"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76" name="TextBox 75">
            <a:extLst>
              <a:ext uri="{FF2B5EF4-FFF2-40B4-BE49-F238E27FC236}">
                <a16:creationId xmlns:a16="http://schemas.microsoft.com/office/drawing/2014/main" id="{FFC49AEA-2A8F-250C-A86A-A7751D9706C3}"/>
              </a:ext>
            </a:extLst>
          </p:cNvPr>
          <p:cNvSpPr txBox="1"/>
          <p:nvPr/>
        </p:nvSpPr>
        <p:spPr>
          <a:xfrm>
            <a:off x="4435522" y="1572746"/>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5"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78" name="TextBox 77">
            <a:extLst>
              <a:ext uri="{FF2B5EF4-FFF2-40B4-BE49-F238E27FC236}">
                <a16:creationId xmlns:a16="http://schemas.microsoft.com/office/drawing/2014/main" id="{FFC49AEA-2A8F-250C-A86A-A7751D9706C3}"/>
              </a:ext>
            </a:extLst>
          </p:cNvPr>
          <p:cNvSpPr txBox="1"/>
          <p:nvPr/>
        </p:nvSpPr>
        <p:spPr>
          <a:xfrm>
            <a:off x="4435522" y="1756526"/>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79" name="TextBox 78">
            <a:extLst>
              <a:ext uri="{FF2B5EF4-FFF2-40B4-BE49-F238E27FC236}">
                <a16:creationId xmlns:a16="http://schemas.microsoft.com/office/drawing/2014/main" id="{FFC49AEA-2A8F-250C-A86A-A7751D9706C3}"/>
              </a:ext>
            </a:extLst>
          </p:cNvPr>
          <p:cNvSpPr txBox="1"/>
          <p:nvPr/>
        </p:nvSpPr>
        <p:spPr>
          <a:xfrm>
            <a:off x="6036814"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80" name="직사각형 79"/>
          <p:cNvSpPr/>
          <p:nvPr/>
        </p:nvSpPr>
        <p:spPr>
          <a:xfrm>
            <a:off x="3835134" y="1917604"/>
            <a:ext cx="1639886" cy="12671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FFC49AEA-2A8F-250C-A86A-A7751D9706C3}"/>
              </a:ext>
            </a:extLst>
          </p:cNvPr>
          <p:cNvSpPr txBox="1"/>
          <p:nvPr/>
        </p:nvSpPr>
        <p:spPr>
          <a:xfrm>
            <a:off x="3922197"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82" name="TextBox 81">
            <a:extLst>
              <a:ext uri="{FF2B5EF4-FFF2-40B4-BE49-F238E27FC236}">
                <a16:creationId xmlns:a16="http://schemas.microsoft.com/office/drawing/2014/main" id="{FFC49AEA-2A8F-250C-A86A-A7751D9706C3}"/>
              </a:ext>
            </a:extLst>
          </p:cNvPr>
          <p:cNvSpPr txBox="1"/>
          <p:nvPr/>
        </p:nvSpPr>
        <p:spPr>
          <a:xfrm>
            <a:off x="5650239"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3832437"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3834530"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3834530" y="31875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85">
            <a:extLst>
              <a:ext uri="{FF2B5EF4-FFF2-40B4-BE49-F238E27FC236}">
                <a16:creationId xmlns:a16="http://schemas.microsoft.com/office/drawing/2014/main" id="{FFC49AEA-2A8F-250C-A86A-A7751D9706C3}"/>
              </a:ext>
            </a:extLst>
          </p:cNvPr>
          <p:cNvSpPr txBox="1"/>
          <p:nvPr/>
        </p:nvSpPr>
        <p:spPr>
          <a:xfrm>
            <a:off x="6070609"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87" name="TextBox 86">
            <a:extLst>
              <a:ext uri="{FF2B5EF4-FFF2-40B4-BE49-F238E27FC236}">
                <a16:creationId xmlns:a16="http://schemas.microsoft.com/office/drawing/2014/main" id="{FFC49AEA-2A8F-250C-A86A-A7751D9706C3}"/>
              </a:ext>
            </a:extLst>
          </p:cNvPr>
          <p:cNvSpPr txBox="1"/>
          <p:nvPr/>
        </p:nvSpPr>
        <p:spPr>
          <a:xfrm>
            <a:off x="3936047" y="2180689"/>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88" name="TextBox 87">
            <a:extLst>
              <a:ext uri="{FF2B5EF4-FFF2-40B4-BE49-F238E27FC236}">
                <a16:creationId xmlns:a16="http://schemas.microsoft.com/office/drawing/2014/main" id="{FFC49AEA-2A8F-250C-A86A-A7751D9706C3}"/>
              </a:ext>
            </a:extLst>
          </p:cNvPr>
          <p:cNvSpPr txBox="1"/>
          <p:nvPr/>
        </p:nvSpPr>
        <p:spPr>
          <a:xfrm>
            <a:off x="5688133" y="234227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89" name="TextBox 88">
            <a:extLst>
              <a:ext uri="{FF2B5EF4-FFF2-40B4-BE49-F238E27FC236}">
                <a16:creationId xmlns:a16="http://schemas.microsoft.com/office/drawing/2014/main" id="{FFC49AEA-2A8F-250C-A86A-A7751D9706C3}"/>
              </a:ext>
            </a:extLst>
          </p:cNvPr>
          <p:cNvSpPr txBox="1"/>
          <p:nvPr/>
        </p:nvSpPr>
        <p:spPr>
          <a:xfrm>
            <a:off x="6406663" y="2606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90" name="TextBox 89">
            <a:extLst>
              <a:ext uri="{FF2B5EF4-FFF2-40B4-BE49-F238E27FC236}">
                <a16:creationId xmlns:a16="http://schemas.microsoft.com/office/drawing/2014/main" id="{FFC49AEA-2A8F-250C-A86A-A7751D9706C3}"/>
              </a:ext>
            </a:extLst>
          </p:cNvPr>
          <p:cNvSpPr txBox="1"/>
          <p:nvPr/>
        </p:nvSpPr>
        <p:spPr>
          <a:xfrm>
            <a:off x="3936047" y="2708268"/>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3839385" y="265992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5638441" y="2869850"/>
            <a:ext cx="205184"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95" name="TextBox 94">
            <a:extLst>
              <a:ext uri="{FF2B5EF4-FFF2-40B4-BE49-F238E27FC236}">
                <a16:creationId xmlns:a16="http://schemas.microsoft.com/office/drawing/2014/main" id="{FFC49AEA-2A8F-250C-A86A-A7751D9706C3}"/>
              </a:ext>
            </a:extLst>
          </p:cNvPr>
          <p:cNvSpPr txBox="1"/>
          <p:nvPr/>
        </p:nvSpPr>
        <p:spPr>
          <a:xfrm>
            <a:off x="3910665" y="329438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96" name="TextBox 95">
            <a:extLst>
              <a:ext uri="{FF2B5EF4-FFF2-40B4-BE49-F238E27FC236}">
                <a16:creationId xmlns:a16="http://schemas.microsoft.com/office/drawing/2014/main" id="{FFC49AEA-2A8F-250C-A86A-A7751D9706C3}"/>
              </a:ext>
            </a:extLst>
          </p:cNvPr>
          <p:cNvSpPr txBox="1"/>
          <p:nvPr/>
        </p:nvSpPr>
        <p:spPr>
          <a:xfrm>
            <a:off x="4435522" y="3367670"/>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노사협력관계</a:t>
            </a:r>
          </a:p>
        </p:txBody>
      </p:sp>
      <p:sp>
        <p:nvSpPr>
          <p:cNvPr id="97" name="TextBox 96">
            <a:extLst>
              <a:ext uri="{FF2B5EF4-FFF2-40B4-BE49-F238E27FC236}">
                <a16:creationId xmlns:a16="http://schemas.microsoft.com/office/drawing/2014/main" id="{FFC49AEA-2A8F-250C-A86A-A7751D9706C3}"/>
              </a:ext>
            </a:extLst>
          </p:cNvPr>
          <p:cNvSpPr txBox="1"/>
          <p:nvPr/>
        </p:nvSpPr>
        <p:spPr>
          <a:xfrm>
            <a:off x="3910665" y="34781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98" name="TextBox 97">
            <a:extLst>
              <a:ext uri="{FF2B5EF4-FFF2-40B4-BE49-F238E27FC236}">
                <a16:creationId xmlns:a16="http://schemas.microsoft.com/office/drawing/2014/main" id="{FFC49AEA-2A8F-250C-A86A-A7751D9706C3}"/>
              </a:ext>
            </a:extLst>
          </p:cNvPr>
          <p:cNvSpPr txBox="1"/>
          <p:nvPr/>
        </p:nvSpPr>
        <p:spPr>
          <a:xfrm>
            <a:off x="4435522" y="3551450"/>
            <a:ext cx="2010812" cy="107722"/>
          </a:xfrm>
          <a:prstGeom prst="rect">
            <a:avLst/>
          </a:prstGeom>
          <a:noFill/>
        </p:spPr>
        <p:txBody>
          <a:bodyPr wrap="square" lIns="0" tIns="0" rIns="0" bIns="0" rtlCol="0">
            <a:spAutoFit/>
          </a:bodyPr>
          <a:lstStyle/>
          <a:p>
            <a:r>
              <a:rPr lang="ko-KR" altLang="en-US" sz="700" dirty="0">
                <a:latin typeface="+mn-ea"/>
              </a:rPr>
              <a:t>노사협력우량기업</a:t>
            </a:r>
          </a:p>
        </p:txBody>
      </p:sp>
      <p:sp>
        <p:nvSpPr>
          <p:cNvPr id="99" name="TextBox 98">
            <a:extLst>
              <a:ext uri="{FF2B5EF4-FFF2-40B4-BE49-F238E27FC236}">
                <a16:creationId xmlns:a16="http://schemas.microsoft.com/office/drawing/2014/main" id="{FFC49AEA-2A8F-250C-A86A-A7751D9706C3}"/>
              </a:ext>
            </a:extLst>
          </p:cNvPr>
          <p:cNvSpPr txBox="1"/>
          <p:nvPr/>
        </p:nvSpPr>
        <p:spPr>
          <a:xfrm>
            <a:off x="6036814" y="355145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00" name="직사각형 99"/>
          <p:cNvSpPr/>
          <p:nvPr/>
        </p:nvSpPr>
        <p:spPr>
          <a:xfrm>
            <a:off x="3835134" y="3712528"/>
            <a:ext cx="1639886" cy="6391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3922197" y="371252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5650239" y="371252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3832437" y="37125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834530" y="39272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834530" y="43475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6070609" y="371252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3936047" y="397561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err="1"/>
              <a:t>신노사문화우수기업</a:t>
            </a:r>
            <a:r>
              <a:rPr lang="en-US" altLang="ko-KR" dirty="0"/>
              <a:t>(</a:t>
            </a:r>
            <a:r>
              <a:rPr lang="ko-KR" altLang="en-US" dirty="0"/>
              <a:t>대상기업 포함</a:t>
            </a:r>
            <a:r>
              <a:rPr lang="en-US" altLang="ko-KR" dirty="0"/>
              <a:t>)</a:t>
            </a:r>
            <a:r>
              <a:rPr lang="ko-KR" altLang="en-US" dirty="0"/>
              <a:t>으로 선정된 업체</a:t>
            </a:r>
            <a:r>
              <a:rPr lang="en-US" altLang="ko-KR" dirty="0"/>
              <a:t>(</a:t>
            </a:r>
            <a:r>
              <a:rPr lang="ko-KR" altLang="en-US" dirty="0"/>
              <a:t>유효기간 내에 한함</a:t>
            </a:r>
            <a:r>
              <a:rPr lang="en-US" altLang="ko-KR" dirty="0"/>
              <a:t>) </a:t>
            </a:r>
            <a:r>
              <a:rPr lang="ko-KR" altLang="en-US" dirty="0"/>
              <a:t>단</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5725003" y="408333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6406663" y="40833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3" name="직선 연결선 112">
            <a:extLst>
              <a:ext uri="{FF2B5EF4-FFF2-40B4-BE49-F238E27FC236}">
                <a16:creationId xmlns:a16="http://schemas.microsoft.com/office/drawing/2014/main" id="{E9293055-D5CD-4B9E-7F64-64B2D2CA7A52}"/>
              </a:ext>
            </a:extLst>
          </p:cNvPr>
          <p:cNvCxnSpPr/>
          <p:nvPr/>
        </p:nvCxnSpPr>
        <p:spPr>
          <a:xfrm>
            <a:off x="3795734" y="44212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3910665" y="4482932"/>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 </a:t>
            </a:r>
            <a:r>
              <a:rPr lang="ko-KR" altLang="en-US" dirty="0"/>
              <a:t>기타</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3910665" y="468316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4435522" y="4756457"/>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노사협력관계</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3910665" y="486694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4435522" y="4940237"/>
            <a:ext cx="2010812" cy="107722"/>
          </a:xfrm>
          <a:prstGeom prst="rect">
            <a:avLst/>
          </a:prstGeom>
          <a:noFill/>
        </p:spPr>
        <p:txBody>
          <a:bodyPr wrap="square" lIns="0" tIns="0" rIns="0" bIns="0" rtlCol="0">
            <a:spAutoFit/>
          </a:bodyPr>
          <a:lstStyle/>
          <a:p>
            <a:r>
              <a:rPr lang="ko-KR" altLang="en-US" sz="700" dirty="0">
                <a:latin typeface="+mn-ea"/>
              </a:rPr>
              <a:t>기술혁신여부</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6036814" y="494023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20" name="직사각형 119"/>
          <p:cNvSpPr/>
          <p:nvPr/>
        </p:nvSpPr>
        <p:spPr>
          <a:xfrm>
            <a:off x="3835134" y="5101315"/>
            <a:ext cx="1639886" cy="65574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FFC49AEA-2A8F-250C-A86A-A7751D9706C3}"/>
              </a:ext>
            </a:extLst>
          </p:cNvPr>
          <p:cNvSpPr txBox="1"/>
          <p:nvPr/>
        </p:nvSpPr>
        <p:spPr>
          <a:xfrm>
            <a:off x="3922197" y="510131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2" name="TextBox 121">
            <a:extLst>
              <a:ext uri="{FF2B5EF4-FFF2-40B4-BE49-F238E27FC236}">
                <a16:creationId xmlns:a16="http://schemas.microsoft.com/office/drawing/2014/main" id="{FFC49AEA-2A8F-250C-A86A-A7751D9706C3}"/>
              </a:ext>
            </a:extLst>
          </p:cNvPr>
          <p:cNvSpPr txBox="1"/>
          <p:nvPr/>
        </p:nvSpPr>
        <p:spPr>
          <a:xfrm>
            <a:off x="5650239" y="510131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3832437" y="51013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3834530" y="53160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3834530" y="5757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6070609" y="510131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3936047" y="5364400"/>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중소기업청장</a:t>
            </a:r>
            <a:r>
              <a:rPr lang="en-US" altLang="ko-KR" dirty="0"/>
              <a:t>(</a:t>
            </a:r>
            <a:r>
              <a:rPr lang="ko-KR" altLang="en-US" dirty="0"/>
              <a:t>또는 </a:t>
            </a:r>
            <a:r>
              <a:rPr lang="ko-KR" altLang="en-US" dirty="0" err="1"/>
              <a:t>위임받은자</a:t>
            </a:r>
            <a:r>
              <a:rPr lang="en-US" altLang="ko-KR" dirty="0"/>
              <a:t>)</a:t>
            </a:r>
            <a:r>
              <a:rPr lang="ko-KR" altLang="en-US" dirty="0"/>
              <a:t>에 의해 ‘</a:t>
            </a:r>
            <a:r>
              <a:rPr lang="ko-KR" altLang="en-US" dirty="0" err="1"/>
              <a:t>기술혁신형</a:t>
            </a:r>
            <a:r>
              <a:rPr lang="ko-KR" altLang="en-US" dirty="0"/>
              <a:t> 중소기업</a:t>
            </a:r>
            <a:r>
              <a:rPr lang="en-US" altLang="ko-KR" dirty="0"/>
              <a:t>(INNO-BIZ)’</a:t>
            </a:r>
            <a:r>
              <a:rPr lang="ko-KR" altLang="en-US" dirty="0"/>
              <a:t>으로 지정 </a:t>
            </a:r>
            <a:r>
              <a:rPr lang="ko-KR" altLang="en-US" dirty="0" err="1"/>
              <a:t>받은자</a:t>
            </a:r>
            <a:endParaRPr lang="ko-KR" altLang="en-US" dirty="0"/>
          </a:p>
        </p:txBody>
      </p:sp>
      <p:sp>
        <p:nvSpPr>
          <p:cNvPr id="161" name="TextBox 160">
            <a:extLst>
              <a:ext uri="{FF2B5EF4-FFF2-40B4-BE49-F238E27FC236}">
                <a16:creationId xmlns:a16="http://schemas.microsoft.com/office/drawing/2014/main" id="{FFC49AEA-2A8F-250C-A86A-A7751D9706C3}"/>
              </a:ext>
            </a:extLst>
          </p:cNvPr>
          <p:cNvSpPr txBox="1"/>
          <p:nvPr/>
        </p:nvSpPr>
        <p:spPr>
          <a:xfrm>
            <a:off x="5688133" y="547212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6406663" y="54721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8" name="타원 13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39150464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793517"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1318374" y="1572746"/>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품질형상기여</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793517"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1318374" y="1756526"/>
            <a:ext cx="2010812" cy="107722"/>
          </a:xfrm>
          <a:prstGeom prst="rect">
            <a:avLst/>
          </a:prstGeom>
          <a:noFill/>
        </p:spPr>
        <p:txBody>
          <a:bodyPr wrap="square" lIns="0" tIns="0" rIns="0" bIns="0" rtlCol="0">
            <a:spAutoFit/>
          </a:bodyPr>
          <a:lstStyle/>
          <a:p>
            <a:r>
              <a:rPr lang="ko-KR" altLang="en-US" sz="700" dirty="0">
                <a:latin typeface="+mn-ea"/>
              </a:rPr>
              <a:t>품질향상기여</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2919666"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98" name="직사각형 197"/>
          <p:cNvSpPr/>
          <p:nvPr/>
        </p:nvSpPr>
        <p:spPr>
          <a:xfrm>
            <a:off x="717986" y="1917604"/>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805049"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33091"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5289"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17382"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17382" y="244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2953461"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818899" y="217760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산업자원부장관이 선정한 ’세계인류상품생산기업’</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2607854" y="223146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289515" y="223146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793517" y="25361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18374" y="2609409"/>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성실납세여부</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793517" y="271990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1318374" y="2793189"/>
            <a:ext cx="2010812" cy="107722"/>
          </a:xfrm>
          <a:prstGeom prst="rect">
            <a:avLst/>
          </a:prstGeom>
          <a:noFill/>
        </p:spPr>
        <p:txBody>
          <a:bodyPr wrap="square" lIns="0" tIns="0" rIns="0" bIns="0" rtlCol="0">
            <a:spAutoFit/>
          </a:bodyPr>
          <a:lstStyle/>
          <a:p>
            <a:r>
              <a:rPr lang="ko-KR" altLang="en-US" sz="700" dirty="0">
                <a:latin typeface="+mn-ea"/>
              </a:rPr>
              <a:t>성실납세여부</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2919666" y="279318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128" name="직사각형 127"/>
          <p:cNvSpPr/>
          <p:nvPr/>
        </p:nvSpPr>
        <p:spPr>
          <a:xfrm>
            <a:off x="717986" y="2954267"/>
            <a:ext cx="1639886" cy="42672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805049" y="295426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33091" y="295426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715289" y="295426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17382" y="3169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17382" y="33822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2953461" y="2954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818899" y="3214268"/>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국세청장이 지정한 모범성실납세자</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2558161" y="3214268"/>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3289515" y="32142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3795734" y="644490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793517" y="34863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1318374" y="3559638"/>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비상대비 중점관리 </a:t>
            </a:r>
            <a:r>
              <a:rPr lang="ko-KR" altLang="en-US" sz="700" dirty="0" err="1">
                <a:latin typeface="+mn-ea"/>
              </a:rPr>
              <a:t>대상여부</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793517" y="367013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1318374" y="3743418"/>
            <a:ext cx="2010812" cy="107722"/>
          </a:xfrm>
          <a:prstGeom prst="rect">
            <a:avLst/>
          </a:prstGeom>
          <a:noFill/>
        </p:spPr>
        <p:txBody>
          <a:bodyPr wrap="square" lIns="0" tIns="0" rIns="0" bIns="0" rtlCol="0">
            <a:spAutoFit/>
          </a:bodyPr>
          <a:lstStyle/>
          <a:p>
            <a:r>
              <a:rPr lang="ko-KR" altLang="en-US" sz="700" dirty="0">
                <a:latin typeface="+mn-ea"/>
              </a:rPr>
              <a:t>비상대비 중점관리 </a:t>
            </a:r>
            <a:r>
              <a:rPr lang="ko-KR" altLang="en-US" sz="700" dirty="0" err="1">
                <a:latin typeface="+mn-ea"/>
              </a:rPr>
              <a:t>대상여부</a:t>
            </a:r>
            <a:endParaRPr lang="ko-KR" altLang="en-US" sz="700" dirty="0">
              <a:latin typeface="+mn-ea"/>
            </a:endParaRPr>
          </a:p>
        </p:txBody>
      </p:sp>
      <p:sp>
        <p:nvSpPr>
          <p:cNvPr id="169" name="TextBox 168">
            <a:extLst>
              <a:ext uri="{FF2B5EF4-FFF2-40B4-BE49-F238E27FC236}">
                <a16:creationId xmlns:a16="http://schemas.microsoft.com/office/drawing/2014/main" id="{FFC49AEA-2A8F-250C-A86A-A7751D9706C3}"/>
              </a:ext>
            </a:extLst>
          </p:cNvPr>
          <p:cNvSpPr txBox="1"/>
          <p:nvPr/>
        </p:nvSpPr>
        <p:spPr>
          <a:xfrm>
            <a:off x="2919666" y="374341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72" name="직사각형 171"/>
          <p:cNvSpPr/>
          <p:nvPr/>
        </p:nvSpPr>
        <p:spPr>
          <a:xfrm>
            <a:off x="717986" y="3904496"/>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805049" y="3904497"/>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33091" y="3904497"/>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5289" y="39044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7382" y="41192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17382" y="4427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2953461" y="390449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818899" y="4164497"/>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행정안전부장관이 확인한 비상대비 중점관리대상업체</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607854" y="421835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289515" y="421835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793517" y="454421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1318374" y="4617505"/>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가족친화 사회환경 조성여부</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793517" y="472799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1318374" y="4801285"/>
            <a:ext cx="2010812" cy="107722"/>
          </a:xfrm>
          <a:prstGeom prst="rect">
            <a:avLst/>
          </a:prstGeom>
          <a:noFill/>
        </p:spPr>
        <p:txBody>
          <a:bodyPr wrap="square" lIns="0" tIns="0" rIns="0" bIns="0" rtlCol="0">
            <a:spAutoFit/>
          </a:bodyPr>
          <a:lstStyle/>
          <a:p>
            <a:r>
              <a:rPr lang="ko-KR" altLang="en-US" sz="700" dirty="0">
                <a:latin typeface="+mn-ea"/>
              </a:rPr>
              <a:t>가족친화 사회환경 조성여부</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2919666" y="480128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88" name="직사각형 187"/>
          <p:cNvSpPr/>
          <p:nvPr/>
        </p:nvSpPr>
        <p:spPr>
          <a:xfrm>
            <a:off x="717986" y="4962363"/>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9" name="TextBox 188">
            <a:extLst>
              <a:ext uri="{FF2B5EF4-FFF2-40B4-BE49-F238E27FC236}">
                <a16:creationId xmlns:a16="http://schemas.microsoft.com/office/drawing/2014/main" id="{FFC49AEA-2A8F-250C-A86A-A7751D9706C3}"/>
              </a:ext>
            </a:extLst>
          </p:cNvPr>
          <p:cNvSpPr txBox="1"/>
          <p:nvPr/>
        </p:nvSpPr>
        <p:spPr>
          <a:xfrm>
            <a:off x="805049" y="496236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2533091" y="496236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15289" y="496236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17382" y="51771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17382" y="54858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9" name="TextBox 208">
            <a:extLst>
              <a:ext uri="{FF2B5EF4-FFF2-40B4-BE49-F238E27FC236}">
                <a16:creationId xmlns:a16="http://schemas.microsoft.com/office/drawing/2014/main" id="{FFC49AEA-2A8F-250C-A86A-A7751D9706C3}"/>
              </a:ext>
            </a:extLst>
          </p:cNvPr>
          <p:cNvSpPr txBox="1"/>
          <p:nvPr/>
        </p:nvSpPr>
        <p:spPr>
          <a:xfrm>
            <a:off x="2953461" y="496236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818899" y="522236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여성가족부장관이 선정한 가족친화인증 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2607854" y="5276225"/>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289515" y="527622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3914929"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4439786" y="1572746"/>
            <a:ext cx="2010812" cy="107722"/>
          </a:xfrm>
          <a:prstGeom prst="rect">
            <a:avLst/>
          </a:prstGeom>
          <a:noFill/>
        </p:spPr>
        <p:txBody>
          <a:bodyPr wrap="square" lIns="0" tIns="0" rIns="0" bIns="0" rtlCol="0">
            <a:spAutoFit/>
          </a:bodyPr>
          <a:lstStyle/>
          <a:p>
            <a:r>
              <a:rPr lang="en-US" altLang="ko-KR" sz="700" dirty="0">
                <a:latin typeface="+mn-ea"/>
              </a:rPr>
              <a:t>6.</a:t>
            </a:r>
            <a:r>
              <a:rPr lang="ko-KR" altLang="en-US" sz="700" dirty="0">
                <a:latin typeface="+mn-ea"/>
              </a:rPr>
              <a:t>고용창출 </a:t>
            </a:r>
            <a:r>
              <a:rPr lang="en-US" altLang="ko-KR" sz="700" dirty="0">
                <a:latin typeface="+mn-ea"/>
              </a:rPr>
              <a:t>100</a:t>
            </a:r>
            <a:r>
              <a:rPr lang="ko-KR" altLang="en-US" sz="700" dirty="0">
                <a:latin typeface="+mn-ea"/>
              </a:rPr>
              <a:t>대 우수기업여부</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3914929"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8" name="TextBox 217">
            <a:extLst>
              <a:ext uri="{FF2B5EF4-FFF2-40B4-BE49-F238E27FC236}">
                <a16:creationId xmlns:a16="http://schemas.microsoft.com/office/drawing/2014/main" id="{FFC49AEA-2A8F-250C-A86A-A7751D9706C3}"/>
              </a:ext>
            </a:extLst>
          </p:cNvPr>
          <p:cNvSpPr txBox="1"/>
          <p:nvPr/>
        </p:nvSpPr>
        <p:spPr>
          <a:xfrm>
            <a:off x="4439786" y="1756526"/>
            <a:ext cx="2010812" cy="107722"/>
          </a:xfrm>
          <a:prstGeom prst="rect">
            <a:avLst/>
          </a:prstGeom>
          <a:noFill/>
        </p:spPr>
        <p:txBody>
          <a:bodyPr wrap="square" lIns="0" tIns="0" rIns="0" bIns="0" rtlCol="0">
            <a:spAutoFit/>
          </a:bodyPr>
          <a:lstStyle/>
          <a:p>
            <a:r>
              <a:rPr lang="ko-KR" altLang="en-US" sz="700" dirty="0">
                <a:latin typeface="+mn-ea"/>
              </a:rPr>
              <a:t>고용창출 </a:t>
            </a:r>
            <a:r>
              <a:rPr lang="en-US" altLang="ko-KR" sz="700" dirty="0">
                <a:latin typeface="+mn-ea"/>
              </a:rPr>
              <a:t>100</a:t>
            </a:r>
            <a:r>
              <a:rPr lang="ko-KR" altLang="en-US" sz="700" dirty="0">
                <a:latin typeface="+mn-ea"/>
              </a:rPr>
              <a:t>대 우수기업여부</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6041078"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20" name="직사각형 219"/>
          <p:cNvSpPr/>
          <p:nvPr/>
        </p:nvSpPr>
        <p:spPr>
          <a:xfrm>
            <a:off x="3839398" y="1917604"/>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6461"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2" name="TextBox 221">
            <a:extLst>
              <a:ext uri="{FF2B5EF4-FFF2-40B4-BE49-F238E27FC236}">
                <a16:creationId xmlns:a16="http://schemas.microsoft.com/office/drawing/2014/main" id="{FFC49AEA-2A8F-250C-A86A-A7751D9706C3}"/>
              </a:ext>
            </a:extLst>
          </p:cNvPr>
          <p:cNvSpPr txBox="1"/>
          <p:nvPr/>
        </p:nvSpPr>
        <p:spPr>
          <a:xfrm>
            <a:off x="5654503"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6701"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8794"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3838794" y="244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6" name="TextBox 225">
            <a:extLst>
              <a:ext uri="{FF2B5EF4-FFF2-40B4-BE49-F238E27FC236}">
                <a16:creationId xmlns:a16="http://schemas.microsoft.com/office/drawing/2014/main" id="{FFC49AEA-2A8F-250C-A86A-A7751D9706C3}"/>
              </a:ext>
            </a:extLst>
          </p:cNvPr>
          <p:cNvSpPr txBox="1"/>
          <p:nvPr/>
        </p:nvSpPr>
        <p:spPr>
          <a:xfrm>
            <a:off x="6074873"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3940311" y="217760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우수기업여부</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729266" y="223146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6410927" y="223146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14929" y="25361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4439786" y="2609409"/>
            <a:ext cx="2010812" cy="215444"/>
          </a:xfrm>
          <a:prstGeom prst="rect">
            <a:avLst/>
          </a:prstGeom>
          <a:noFill/>
        </p:spPr>
        <p:txBody>
          <a:bodyPr wrap="square" lIns="0" tIns="0" rIns="0" bIns="0" rtlCol="0">
            <a:spAutoFit/>
          </a:bodyPr>
          <a:lstStyle/>
          <a:p>
            <a:r>
              <a:rPr lang="en-US" altLang="ko-KR" sz="700" dirty="0">
                <a:latin typeface="+mn-ea"/>
              </a:rPr>
              <a:t>7.</a:t>
            </a:r>
            <a:r>
              <a:rPr lang="ko-KR" altLang="en-US" sz="700" dirty="0">
                <a:latin typeface="+mn-ea"/>
              </a:rPr>
              <a:t>장애인 고용 </a:t>
            </a:r>
            <a:r>
              <a:rPr lang="ko-KR" altLang="en-US" sz="700" dirty="0" err="1">
                <a:latin typeface="+mn-ea"/>
              </a:rPr>
              <a:t>우수사업주</a:t>
            </a:r>
            <a:r>
              <a:rPr lang="ko-KR" altLang="en-US" sz="700" dirty="0">
                <a:latin typeface="+mn-ea"/>
              </a:rPr>
              <a:t> 또는 장애인 표준 사업장 여부</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3914929" y="280861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4439786" y="2881901"/>
            <a:ext cx="1445245" cy="323165"/>
          </a:xfrm>
          <a:prstGeom prst="rect">
            <a:avLst/>
          </a:prstGeom>
          <a:noFill/>
        </p:spPr>
        <p:txBody>
          <a:bodyPr wrap="square" lIns="0" tIns="0" rIns="0" bIns="0" rtlCol="0">
            <a:spAutoFit/>
          </a:bodyPr>
          <a:lstStyle/>
          <a:p>
            <a:r>
              <a:rPr lang="ko-KR" altLang="en-US" sz="700" dirty="0">
                <a:latin typeface="+mn-ea"/>
              </a:rPr>
              <a:t>장애인고용 </a:t>
            </a:r>
            <a:r>
              <a:rPr lang="ko-KR" altLang="en-US" sz="700" dirty="0" err="1">
                <a:latin typeface="+mn-ea"/>
              </a:rPr>
              <a:t>우수사업주</a:t>
            </a:r>
            <a:r>
              <a:rPr lang="ko-KR" altLang="en-US" sz="700" dirty="0">
                <a:latin typeface="+mn-ea"/>
              </a:rPr>
              <a:t> 또는 장애인 표준사업장여부</a:t>
            </a:r>
          </a:p>
          <a:p>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6041078" y="288190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35" name="직사각형 234"/>
          <p:cNvSpPr/>
          <p:nvPr/>
        </p:nvSpPr>
        <p:spPr>
          <a:xfrm>
            <a:off x="3839398" y="3158987"/>
            <a:ext cx="1639886" cy="42672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6" name="TextBox 235">
            <a:extLst>
              <a:ext uri="{FF2B5EF4-FFF2-40B4-BE49-F238E27FC236}">
                <a16:creationId xmlns:a16="http://schemas.microsoft.com/office/drawing/2014/main" id="{FFC49AEA-2A8F-250C-A86A-A7751D9706C3}"/>
              </a:ext>
            </a:extLst>
          </p:cNvPr>
          <p:cNvSpPr txBox="1"/>
          <p:nvPr/>
        </p:nvSpPr>
        <p:spPr>
          <a:xfrm>
            <a:off x="3926461" y="315898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5654503" y="315898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6701" y="31589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8794" y="33737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3838794" y="35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2" name="TextBox 241">
            <a:extLst>
              <a:ext uri="{FF2B5EF4-FFF2-40B4-BE49-F238E27FC236}">
                <a16:creationId xmlns:a16="http://schemas.microsoft.com/office/drawing/2014/main" id="{FFC49AEA-2A8F-250C-A86A-A7751D9706C3}"/>
              </a:ext>
            </a:extLst>
          </p:cNvPr>
          <p:cNvSpPr txBox="1"/>
          <p:nvPr/>
        </p:nvSpPr>
        <p:spPr>
          <a:xfrm>
            <a:off x="6074873" y="315898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3940311" y="3418988"/>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국세청장이 지정한 모범성실납세자</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5729267" y="341898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6410927" y="34189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6" name="직선 연결선 245">
            <a:extLst>
              <a:ext uri="{FF2B5EF4-FFF2-40B4-BE49-F238E27FC236}">
                <a16:creationId xmlns:a16="http://schemas.microsoft.com/office/drawing/2014/main" id="{E9293055-D5CD-4B9E-7F64-64B2D2CA7A52}"/>
              </a:ext>
            </a:extLst>
          </p:cNvPr>
          <p:cNvCxnSpPr/>
          <p:nvPr/>
        </p:nvCxnSpPr>
        <p:spPr>
          <a:xfrm>
            <a:off x="3795734" y="36673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타원 11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9922351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293</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061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mnftrAbltExmgrdScr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기술실적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재무상태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재무상태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3250694"/>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3534448"/>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계약목적물과 동등이상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동등이상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계약목적물과 유사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유사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457187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855625"/>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인력 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인력 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559930"/>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843684"/>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평가요소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평가요소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bl>
          </a:graphicData>
        </a:graphic>
      </p:graphicFrame>
      <p:sp>
        <p:nvSpPr>
          <p:cNvPr id="13" name="TextBox 12">
            <a:extLst>
              <a:ext uri="{FF2B5EF4-FFF2-40B4-BE49-F238E27FC236}">
                <a16:creationId xmlns:a16="http://schemas.microsoft.com/office/drawing/2014/main" id="{9843A915-2A8F-D58A-4AED-D2316FB9075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2" name="Text Box 73">
            <a:extLst>
              <a:ext uri="{FF2B5EF4-FFF2-40B4-BE49-F238E27FC236}">
                <a16:creationId xmlns:a16="http://schemas.microsoft.com/office/drawing/2014/main" id="{A0103961-2718-80B9-CA24-E982F249058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633378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294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bl>
          </a:graphicData>
        </a:graphic>
      </p:graphicFrame>
      <p:sp>
        <p:nvSpPr>
          <p:cNvPr id="12" name="TextBox 11">
            <a:extLst>
              <a:ext uri="{FF2B5EF4-FFF2-40B4-BE49-F238E27FC236}">
                <a16:creationId xmlns:a16="http://schemas.microsoft.com/office/drawing/2014/main" id="{322DF05B-6D0C-3FA4-2092-E4209AB31AA4}"/>
              </a:ext>
            </a:extLst>
          </p:cNvPr>
          <p:cNvSpPr txBox="1"/>
          <p:nvPr/>
        </p:nvSpPr>
        <p:spPr>
          <a:xfrm>
            <a:off x="460676" y="2135991"/>
            <a:ext cx="253972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물품 품질정도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DF8D73E-3442-E04C-7824-D8896B9FBE6E}"/>
              </a:ext>
            </a:extLst>
          </p:cNvPr>
          <p:cNvGraphicFramePr>
            <a:graphicFrameLocks noGrp="1"/>
          </p:cNvGraphicFramePr>
          <p:nvPr/>
        </p:nvGraphicFramePr>
        <p:xfrm>
          <a:off x="455558" y="241974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환경관리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17" name="TextBox 16">
            <a:extLst>
              <a:ext uri="{FF2B5EF4-FFF2-40B4-BE49-F238E27FC236}">
                <a16:creationId xmlns:a16="http://schemas.microsoft.com/office/drawing/2014/main" id="{B02A9D14-C2EA-FF08-7FA2-7489FB32FDFD}"/>
              </a:ext>
            </a:extLst>
          </p:cNvPr>
          <p:cNvSpPr txBox="1"/>
          <p:nvPr/>
        </p:nvSpPr>
        <p:spPr>
          <a:xfrm>
            <a:off x="458117" y="3400694"/>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8" name="표 17">
            <a:extLst>
              <a:ext uri="{FF2B5EF4-FFF2-40B4-BE49-F238E27FC236}">
                <a16:creationId xmlns:a16="http://schemas.microsoft.com/office/drawing/2014/main" id="{D72DC22B-D4B7-0E04-30F6-7FA61CC84278}"/>
              </a:ext>
            </a:extLst>
          </p:cNvPr>
          <p:cNvGraphicFramePr>
            <a:graphicFrameLocks noGrp="1"/>
          </p:cNvGraphicFramePr>
          <p:nvPr/>
        </p:nvGraphicFramePr>
        <p:xfrm>
          <a:off x="452999" y="3684448"/>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품질하자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품질하자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노사협력관계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노사협력관계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20" name="TextBox 19">
            <a:extLst>
              <a:ext uri="{FF2B5EF4-FFF2-40B4-BE49-F238E27FC236}">
                <a16:creationId xmlns:a16="http://schemas.microsoft.com/office/drawing/2014/main" id="{3A5C2B46-FFF1-DC07-4596-2DA38FF0A806}"/>
              </a:ext>
            </a:extLst>
          </p:cNvPr>
          <p:cNvSpPr txBox="1"/>
          <p:nvPr/>
        </p:nvSpPr>
        <p:spPr>
          <a:xfrm>
            <a:off x="458117" y="4809415"/>
            <a:ext cx="2037985"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3" name="표 22">
            <a:extLst>
              <a:ext uri="{FF2B5EF4-FFF2-40B4-BE49-F238E27FC236}">
                <a16:creationId xmlns:a16="http://schemas.microsoft.com/office/drawing/2014/main" id="{C9FEB825-B51F-CFF0-2B10-DD4828DDDCB8}"/>
              </a:ext>
            </a:extLst>
          </p:cNvPr>
          <p:cNvGraphicFramePr>
            <a:graphicFrameLocks noGrp="1"/>
          </p:cNvGraphicFramePr>
          <p:nvPr/>
        </p:nvGraphicFramePr>
        <p:xfrm>
          <a:off x="452999" y="5093169"/>
          <a:ext cx="8994883" cy="1335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노사협력관계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노사협력관계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품질형상기여</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품질형상기여</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성실납세여부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성실납세여부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2525100"/>
                  </a:ext>
                </a:extLst>
              </a:tr>
            </a:tbl>
          </a:graphicData>
        </a:graphic>
      </p:graphicFrame>
      <p:sp>
        <p:nvSpPr>
          <p:cNvPr id="2" name="TextBox 1">
            <a:extLst>
              <a:ext uri="{FF2B5EF4-FFF2-40B4-BE49-F238E27FC236}">
                <a16:creationId xmlns:a16="http://schemas.microsoft.com/office/drawing/2014/main" id="{E57FA470-C593-B4EA-FC00-557444397CA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F6277361-BEA6-883D-3165-79816D8B5E5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465462821"/>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295</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6700" y="751519"/>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6" name="Text Box 73">
            <a:extLst>
              <a:ext uri="{FF2B5EF4-FFF2-40B4-BE49-F238E27FC236}">
                <a16:creationId xmlns:a16="http://schemas.microsoft.com/office/drawing/2014/main" id="{128A427C-19B3-C67F-B8AE-C3971751EA1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1355446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MUI-BD-10-T09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1489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28979" y="3678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367875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367875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62" name="그룹 161"/>
          <p:cNvGrpSpPr/>
          <p:nvPr/>
        </p:nvGrpSpPr>
        <p:grpSpPr>
          <a:xfrm>
            <a:off x="3826887" y="3678750"/>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319139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3391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367875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4181888"/>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계약목적물과 </a:t>
            </a:r>
            <a:r>
              <a:rPr lang="ko-KR" altLang="en-US" sz="700" dirty="0" err="1">
                <a:latin typeface="+mn-ea"/>
              </a:rPr>
              <a:t>동등이상</a:t>
            </a:r>
            <a:r>
              <a:rPr lang="ko-KR" altLang="en-US" sz="700" dirty="0">
                <a:latin typeface="+mn-ea"/>
              </a:rPr>
              <a:t> 물품</a:t>
            </a:r>
            <a:br>
              <a:rPr lang="ko-KR" altLang="en-US" sz="700" dirty="0">
                <a:latin typeface="+mn-ea"/>
              </a:rPr>
            </a:br>
            <a:r>
              <a:rPr lang="en-US" altLang="ko-KR" sz="700" dirty="0">
                <a:latin typeface="+mn-ea"/>
              </a:rPr>
              <a:t>2.</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599863" y="555757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6" name="직사각형 245"/>
          <p:cNvSpPr/>
          <p:nvPr/>
        </p:nvSpPr>
        <p:spPr>
          <a:xfrm>
            <a:off x="3828979" y="1784364"/>
            <a:ext cx="1639886" cy="51701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26887" y="17843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3828980" y="19991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3828980" y="22957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err="1">
                <a:latin typeface="+mn-ea"/>
              </a:rPr>
              <a:t>기술실적</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454" y="178436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5" name="직사각형 254"/>
          <p:cNvSpPr/>
          <p:nvPr/>
        </p:nvSpPr>
        <p:spPr>
          <a:xfrm>
            <a:off x="3828979" y="265453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3916042" y="265453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644084" y="265453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58" name="그룹 257"/>
          <p:cNvGrpSpPr/>
          <p:nvPr/>
        </p:nvGrpSpPr>
        <p:grpSpPr>
          <a:xfrm>
            <a:off x="3826887" y="2654536"/>
            <a:ext cx="2630093" cy="429480"/>
            <a:chOff x="701175" y="1835481"/>
            <a:chExt cx="2630093" cy="429480"/>
          </a:xfrm>
        </p:grpSpPr>
        <p:cxnSp>
          <p:nvCxnSpPr>
            <p:cNvPr id="259" name="직선 연결선 2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0" name="직선 연결선 2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1" name="직선 연결선 2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62" name="TextBox 261">
            <a:extLst>
              <a:ext uri="{FF2B5EF4-FFF2-40B4-BE49-F238E27FC236}">
                <a16:creationId xmlns:a16="http://schemas.microsoft.com/office/drawing/2014/main" id="{FFC49AEA-2A8F-250C-A86A-A7751D9706C3}"/>
              </a:ext>
            </a:extLst>
          </p:cNvPr>
          <p:cNvSpPr txBox="1"/>
          <p:nvPr/>
        </p:nvSpPr>
        <p:spPr>
          <a:xfrm>
            <a:off x="3887858" y="23674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재무상태</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6064390" y="265453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64" name="직사각형 263"/>
          <p:cNvSpPr/>
          <p:nvPr/>
        </p:nvSpPr>
        <p:spPr>
          <a:xfrm>
            <a:off x="3823602" y="4996844"/>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4996845"/>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499684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499684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52115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56394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4509493"/>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470973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물품 </a:t>
            </a:r>
            <a:r>
              <a:rPr lang="ko-KR" altLang="en-US" sz="700" dirty="0" err="1">
                <a:latin typeface="+mn-ea"/>
              </a:rPr>
              <a:t>품질정도</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499684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4461390"/>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5263940"/>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품질관리</a:t>
            </a:r>
            <a:br>
              <a:rPr lang="ko-KR" altLang="en-US" sz="700" dirty="0">
                <a:latin typeface="+mn-ea"/>
              </a:rPr>
            </a:br>
            <a:r>
              <a:rPr lang="en-US" altLang="ko-KR" sz="700" dirty="0">
                <a:latin typeface="+mn-ea"/>
              </a:rPr>
              <a:t>2.</a:t>
            </a:r>
            <a:r>
              <a:rPr lang="ko-KR" altLang="en-US" sz="700" dirty="0">
                <a:latin typeface="+mn-ea"/>
              </a:rPr>
              <a:t>기술보유</a:t>
            </a:r>
            <a:br>
              <a:rPr lang="ko-KR" altLang="en-US" sz="700" dirty="0">
                <a:latin typeface="+mn-ea"/>
              </a:rPr>
            </a:br>
            <a:r>
              <a:rPr lang="en-US" altLang="ko-KR" sz="700" dirty="0">
                <a:latin typeface="+mn-ea"/>
              </a:rPr>
              <a:t>3.</a:t>
            </a:r>
            <a:r>
              <a:rPr lang="ko-KR" altLang="en-US" sz="700" dirty="0">
                <a:latin typeface="+mn-ea"/>
              </a:rPr>
              <a:t>환경관리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492833" y="5371661"/>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53716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5981062"/>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598106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598106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598106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61958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66236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569394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598106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6248158"/>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r>
              <a:rPr lang="ko-KR" altLang="en-US" sz="700" dirty="0">
                <a:latin typeface="+mn-ea"/>
              </a:rPr>
              <a:t/>
            </a:r>
            <a:br>
              <a:rPr lang="ko-KR" altLang="en-US" sz="700" dirty="0">
                <a:latin typeface="+mn-ea"/>
              </a:rPr>
            </a:br>
            <a:r>
              <a:rPr lang="en-US" altLang="ko-KR" sz="700" dirty="0">
                <a:latin typeface="+mn-ea"/>
              </a:rPr>
              <a:t>3.</a:t>
            </a:r>
            <a:r>
              <a:rPr lang="ko-KR" altLang="en-US" sz="700" dirty="0">
                <a:latin typeface="+mn-ea"/>
              </a:rPr>
              <a:t>부정당업자 제재</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6355879"/>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635587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3910665" y="204217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기술인력 보유</a:t>
            </a:r>
            <a:br>
              <a:rPr lang="ko-KR" altLang="en-US" sz="700" dirty="0">
                <a:latin typeface="+mn-ea"/>
              </a:rPr>
            </a:br>
            <a:r>
              <a:rPr lang="en-US" altLang="ko-KR" sz="700" dirty="0">
                <a:latin typeface="+mn-ea"/>
              </a:rPr>
              <a:t>2.</a:t>
            </a:r>
            <a:r>
              <a:rPr lang="ko-KR" altLang="en-US" sz="700" dirty="0">
                <a:latin typeface="+mn-ea"/>
              </a:rPr>
              <a:t>생산기술 </a:t>
            </a:r>
            <a:r>
              <a:rPr lang="ko-KR" altLang="en-US" sz="700" dirty="0" err="1">
                <a:latin typeface="+mn-ea"/>
              </a:rPr>
              <a:t>축적정도</a:t>
            </a:r>
            <a:endParaRPr lang="ko-KR" altLang="en-US"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5718856" y="209603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6381281" y="209603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3" name="타원 13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092082826"/>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MUI-BD-10-T09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303" name="직사각형 302"/>
          <p:cNvSpPr/>
          <p:nvPr/>
        </p:nvSpPr>
        <p:spPr>
          <a:xfrm>
            <a:off x="718458" y="1778282"/>
            <a:ext cx="1639886" cy="127964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805521" y="177828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2533563" y="177828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716366" y="177828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18459" y="19930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18459" y="3063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777337" y="149116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2953933" y="177828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805521" y="2039214"/>
            <a:ext cx="1480199" cy="969496"/>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혁신형</a:t>
            </a:r>
            <a:r>
              <a:rPr lang="ko-KR" altLang="en-US" sz="700" dirty="0">
                <a:latin typeface="+mn-ea"/>
              </a:rPr>
              <a:t> 중소기업</a:t>
            </a:r>
            <a:br>
              <a:rPr lang="ko-KR" altLang="en-US" sz="700" dirty="0">
                <a:latin typeface="+mn-ea"/>
              </a:rPr>
            </a:br>
            <a:r>
              <a:rPr lang="en-US" altLang="ko-KR" sz="700" dirty="0">
                <a:latin typeface="+mn-ea"/>
              </a:rPr>
              <a:t>2.</a:t>
            </a:r>
            <a:r>
              <a:rPr lang="ko-KR" altLang="en-US" sz="700" dirty="0">
                <a:latin typeface="+mn-ea"/>
              </a:rPr>
              <a:t>노사협력우수</a:t>
            </a:r>
            <a:br>
              <a:rPr lang="ko-KR" altLang="en-US" sz="700" dirty="0">
                <a:latin typeface="+mn-ea"/>
              </a:rPr>
            </a:br>
            <a:r>
              <a:rPr lang="en-US" altLang="ko-KR" sz="700" dirty="0">
                <a:latin typeface="+mn-ea"/>
              </a:rPr>
              <a:t>3.</a:t>
            </a:r>
            <a:r>
              <a:rPr lang="ko-KR" altLang="en-US" sz="700" dirty="0">
                <a:latin typeface="+mn-ea"/>
              </a:rPr>
              <a:t>비상대비 중점관리</a:t>
            </a:r>
            <a:br>
              <a:rPr lang="ko-KR" altLang="en-US" sz="700" dirty="0">
                <a:latin typeface="+mn-ea"/>
              </a:rPr>
            </a:br>
            <a:r>
              <a:rPr lang="en-US" altLang="ko-KR" sz="700" dirty="0">
                <a:latin typeface="+mn-ea"/>
              </a:rPr>
              <a:t>4.</a:t>
            </a:r>
            <a:r>
              <a:rPr lang="ko-KR" altLang="en-US" sz="700" dirty="0">
                <a:latin typeface="+mn-ea"/>
              </a:rPr>
              <a:t>장애인기업</a:t>
            </a:r>
            <a:br>
              <a:rPr lang="ko-KR" altLang="en-US" sz="700" dirty="0">
                <a:latin typeface="+mn-ea"/>
              </a:rPr>
            </a:br>
            <a:r>
              <a:rPr lang="en-US" altLang="ko-KR" sz="700" dirty="0">
                <a:latin typeface="+mn-ea"/>
              </a:rPr>
              <a:t>5.</a:t>
            </a:r>
            <a:r>
              <a:rPr lang="ko-KR" altLang="en-US" sz="700" dirty="0">
                <a:latin typeface="+mn-ea"/>
              </a:rPr>
              <a:t>가족친화</a:t>
            </a:r>
            <a:br>
              <a:rPr lang="ko-KR" altLang="en-US" sz="700" dirty="0">
                <a:latin typeface="+mn-ea"/>
              </a:rPr>
            </a:br>
            <a:r>
              <a:rPr lang="en-US" altLang="ko-KR" sz="700" dirty="0">
                <a:latin typeface="+mn-ea"/>
              </a:rPr>
              <a:t>6.</a:t>
            </a:r>
            <a:r>
              <a:rPr lang="ko-KR" altLang="en-US" sz="700" dirty="0">
                <a:latin typeface="+mn-ea"/>
              </a:rPr>
              <a:t>고용창출</a:t>
            </a:r>
            <a:br>
              <a:rPr lang="ko-KR" altLang="en-US" sz="700" dirty="0">
                <a:latin typeface="+mn-ea"/>
              </a:rPr>
            </a:br>
            <a:r>
              <a:rPr lang="en-US" altLang="ko-KR" sz="700" dirty="0">
                <a:latin typeface="+mn-ea"/>
              </a:rPr>
              <a:t>7.</a:t>
            </a:r>
            <a:r>
              <a:rPr lang="ko-KR" altLang="en-US" sz="700" dirty="0">
                <a:latin typeface="+mn-ea"/>
              </a:rPr>
              <a:t>여성기업 지원 등</a:t>
            </a:r>
            <a:br>
              <a:rPr lang="ko-KR" altLang="en-US" sz="700" dirty="0">
                <a:latin typeface="+mn-ea"/>
              </a:rPr>
            </a:br>
            <a:r>
              <a:rPr lang="en-US" altLang="ko-KR" sz="700" dirty="0">
                <a:latin typeface="+mn-ea"/>
              </a:rPr>
              <a:t>8.</a:t>
            </a:r>
            <a:r>
              <a:rPr lang="ko-KR" altLang="en-US" sz="700" dirty="0" err="1">
                <a:latin typeface="+mn-ea"/>
              </a:rPr>
              <a:t>사회적기업</a:t>
            </a:r>
            <a:r>
              <a:rPr lang="ko-KR" altLang="en-US" sz="700" dirty="0">
                <a:latin typeface="+mn-ea"/>
              </a:rPr>
              <a:t/>
            </a:r>
            <a:br>
              <a:rPr lang="ko-KR" altLang="en-US" sz="700" dirty="0">
                <a:latin typeface="+mn-ea"/>
              </a:rPr>
            </a:br>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312" name="TextBox 311">
            <a:extLst>
              <a:ext uri="{FF2B5EF4-FFF2-40B4-BE49-F238E27FC236}">
                <a16:creationId xmlns:a16="http://schemas.microsoft.com/office/drawing/2014/main" id="{FFC49AEA-2A8F-250C-A86A-A7751D9706C3}"/>
              </a:ext>
            </a:extLst>
          </p:cNvPr>
          <p:cNvSpPr txBox="1"/>
          <p:nvPr/>
        </p:nvSpPr>
        <p:spPr>
          <a:xfrm>
            <a:off x="2387689" y="2416240"/>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3276137" y="241624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직사각형 172"/>
          <p:cNvSpPr/>
          <p:nvPr/>
        </p:nvSpPr>
        <p:spPr>
          <a:xfrm>
            <a:off x="704608" y="4027435"/>
            <a:ext cx="1639886" cy="1321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4027436"/>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402743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402743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42421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5345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354008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37403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402743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54184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4309024"/>
            <a:ext cx="1480199" cy="646331"/>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부도 등 및 부정당업자제재 상태인 경우 또는 부도 등의 우려가 있어 해당 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4524467"/>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454109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19050" y="499637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805521" y="5063221"/>
            <a:ext cx="1480199" cy="215444"/>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생산능력 부족으로 당해 계약 이행이 어렵다고 판단되는 경우</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576843" y="5117082"/>
            <a:ext cx="136256"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a:latin typeface="+mn-ea"/>
              </a:rPr>
              <a:t>(</a:t>
            </a:r>
            <a:r>
              <a:rPr lang="ko-KR" altLang="en-US" sz="700">
                <a:latin typeface="+mn-ea"/>
              </a:rPr>
              <a:t>가</a:t>
            </a:r>
            <a:r>
              <a:rPr lang="en-US" altLang="ko-KR" sz="700">
                <a:latin typeface="+mn-ea"/>
              </a:rPr>
              <a:t>)</a:t>
            </a:r>
            <a:r>
              <a:rPr lang="ko-KR" altLang="en-US" sz="700">
                <a:latin typeface="+mn-ea"/>
              </a:rPr>
              <a:t>당해물품납품이행</a:t>
            </a:r>
            <a:endParaRPr lang="en-US" altLang="ko-KR" sz="700" dirty="0">
              <a:latin typeface="+mn-ea"/>
            </a:endParaRPr>
          </a:p>
        </p:txBody>
      </p:sp>
      <p:grpSp>
        <p:nvGrpSpPr>
          <p:cNvPr id="209" name="그룹 208"/>
          <p:cNvGrpSpPr/>
          <p:nvPr/>
        </p:nvGrpSpPr>
        <p:grpSpPr>
          <a:xfrm flipV="1">
            <a:off x="6245910" y="1641327"/>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0665" y="1864633"/>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 </a:t>
            </a:r>
            <a:r>
              <a:rPr lang="ko-KR" altLang="en-US" dirty="0"/>
              <a:t>납품실적</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10665" y="206487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435522" y="2138158"/>
            <a:ext cx="2010812"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3910665" y="23722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4435522" y="2445550"/>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6036814" y="24994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3910665" y="369012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4435522" y="3763410"/>
            <a:ext cx="2010812"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유사 물품</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0665" y="39975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5522" y="4070802"/>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6036814" y="412466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2.5</a:t>
            </a:r>
          </a:p>
        </p:txBody>
      </p:sp>
      <p:sp>
        <p:nvSpPr>
          <p:cNvPr id="243" name="직사각형 242"/>
          <p:cNvSpPr/>
          <p:nvPr/>
        </p:nvSpPr>
        <p:spPr>
          <a:xfrm>
            <a:off x="3835134" y="2752726"/>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3922197" y="27527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5650239" y="27527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2437" y="27527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2967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3834530" y="36397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6070609" y="27527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53388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3936047" y="3034314"/>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279" name="TextBox 278">
            <a:extLst>
              <a:ext uri="{FF2B5EF4-FFF2-40B4-BE49-F238E27FC236}">
                <a16:creationId xmlns:a16="http://schemas.microsoft.com/office/drawing/2014/main" id="{FFC49AEA-2A8F-250C-A86A-A7751D9706C3}"/>
              </a:ext>
            </a:extLst>
          </p:cNvPr>
          <p:cNvSpPr txBox="1"/>
          <p:nvPr/>
        </p:nvSpPr>
        <p:spPr>
          <a:xfrm>
            <a:off x="5725003" y="3034314"/>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9.5</a:t>
            </a:r>
            <a:br>
              <a:rPr lang="en-US" altLang="ko-KR" dirty="0"/>
            </a:br>
            <a:r>
              <a:rPr lang="en-US" altLang="ko-KR" dirty="0"/>
              <a:t>9</a:t>
            </a:r>
            <a:br>
              <a:rPr lang="en-US" altLang="ko-KR" dirty="0"/>
            </a:br>
            <a:r>
              <a:rPr lang="en-US" altLang="ko-KR" dirty="0"/>
              <a:t>8.5</a:t>
            </a:r>
            <a:br>
              <a:rPr lang="en-US" altLang="ko-KR" dirty="0"/>
            </a:br>
            <a:r>
              <a:rPr lang="en-US" altLang="ko-KR" dirty="0"/>
              <a:t>8</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6406663" y="32663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직사각형 283"/>
          <p:cNvSpPr/>
          <p:nvPr/>
        </p:nvSpPr>
        <p:spPr>
          <a:xfrm>
            <a:off x="3835134" y="4382250"/>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5" name="TextBox 284">
            <a:extLst>
              <a:ext uri="{FF2B5EF4-FFF2-40B4-BE49-F238E27FC236}">
                <a16:creationId xmlns:a16="http://schemas.microsoft.com/office/drawing/2014/main" id="{FFC49AEA-2A8F-250C-A86A-A7751D9706C3}"/>
              </a:ext>
            </a:extLst>
          </p:cNvPr>
          <p:cNvSpPr txBox="1"/>
          <p:nvPr/>
        </p:nvSpPr>
        <p:spPr>
          <a:xfrm>
            <a:off x="3922197" y="43822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6" name="TextBox 285">
            <a:extLst>
              <a:ext uri="{FF2B5EF4-FFF2-40B4-BE49-F238E27FC236}">
                <a16:creationId xmlns:a16="http://schemas.microsoft.com/office/drawing/2014/main" id="{FFC49AEA-2A8F-250C-A86A-A7751D9706C3}"/>
              </a:ext>
            </a:extLst>
          </p:cNvPr>
          <p:cNvSpPr txBox="1"/>
          <p:nvPr/>
        </p:nvSpPr>
        <p:spPr>
          <a:xfrm>
            <a:off x="5650239" y="43822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7" name="직선 연결선 286">
            <a:extLst>
              <a:ext uri="{FF2B5EF4-FFF2-40B4-BE49-F238E27FC236}">
                <a16:creationId xmlns:a16="http://schemas.microsoft.com/office/drawing/2014/main" id="{E9293055-D5CD-4B9E-7F64-64B2D2CA7A52}"/>
              </a:ext>
            </a:extLst>
          </p:cNvPr>
          <p:cNvCxnSpPr/>
          <p:nvPr/>
        </p:nvCxnSpPr>
        <p:spPr>
          <a:xfrm>
            <a:off x="3832437" y="43822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834530" y="459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4530" y="52692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6070609" y="43822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3936047" y="4663838"/>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316" name="TextBox 315">
            <a:extLst>
              <a:ext uri="{FF2B5EF4-FFF2-40B4-BE49-F238E27FC236}">
                <a16:creationId xmlns:a16="http://schemas.microsoft.com/office/drawing/2014/main" id="{FFC49AEA-2A8F-250C-A86A-A7751D9706C3}"/>
              </a:ext>
            </a:extLst>
          </p:cNvPr>
          <p:cNvSpPr txBox="1"/>
          <p:nvPr/>
        </p:nvSpPr>
        <p:spPr>
          <a:xfrm>
            <a:off x="5725003" y="4663838"/>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2.5</a:t>
            </a:r>
            <a:br>
              <a:rPr lang="en-US" altLang="ko-KR" dirty="0"/>
            </a:br>
            <a:r>
              <a:rPr lang="en-US" altLang="ko-KR" dirty="0"/>
              <a:t>2.0</a:t>
            </a:r>
            <a:br>
              <a:rPr lang="en-US" altLang="ko-KR" dirty="0"/>
            </a:br>
            <a:r>
              <a:rPr lang="en-US" altLang="ko-KR" dirty="0"/>
              <a:t>1.5</a:t>
            </a:r>
            <a:br>
              <a:rPr lang="en-US" altLang="ko-KR" dirty="0"/>
            </a:br>
            <a:r>
              <a:rPr lang="en-US" altLang="ko-KR" dirty="0"/>
              <a:t>1.0</a:t>
            </a:r>
            <a:br>
              <a:rPr lang="en-US" altLang="ko-KR" dirty="0"/>
            </a:br>
            <a:r>
              <a:rPr lang="en-US" altLang="ko-KR" dirty="0"/>
              <a:t>0.5</a:t>
            </a:r>
          </a:p>
        </p:txBody>
      </p:sp>
      <p:sp>
        <p:nvSpPr>
          <p:cNvPr id="317" name="TextBox 316">
            <a:extLst>
              <a:ext uri="{FF2B5EF4-FFF2-40B4-BE49-F238E27FC236}">
                <a16:creationId xmlns:a16="http://schemas.microsoft.com/office/drawing/2014/main" id="{FFC49AEA-2A8F-250C-A86A-A7751D9706C3}"/>
              </a:ext>
            </a:extLst>
          </p:cNvPr>
          <p:cNvSpPr txBox="1"/>
          <p:nvPr/>
        </p:nvSpPr>
        <p:spPr>
          <a:xfrm>
            <a:off x="6406663" y="489591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22" name="TextBox 321">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90" name="TextBox 89">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1~3</a:t>
            </a:r>
            <a:r>
              <a:rPr lang="ko-KR" altLang="en-US" sz="700" dirty="0">
                <a:latin typeface="+mn-ea"/>
              </a:rPr>
              <a:t>번 항을 합하여</a:t>
            </a:r>
            <a:endParaRPr lang="en-US" altLang="ko-KR" sz="700" dirty="0">
              <a:latin typeface="+mn-ea"/>
            </a:endParaRPr>
          </a:p>
          <a:p>
            <a:pPr lvl="0" algn="ctr" defTabSz="1013612">
              <a:defRPr/>
            </a:pPr>
            <a:r>
              <a:rPr lang="en-US" altLang="ko-KR" sz="700" dirty="0">
                <a:latin typeface="+mn-ea"/>
              </a:rPr>
              <a:t>+3 ~ -5</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sp>
        <p:nvSpPr>
          <p:cNvPr id="89" name="타원 88">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67052989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직사각형 138"/>
          <p:cNvSpPr/>
          <p:nvPr/>
        </p:nvSpPr>
        <p:spPr>
          <a:xfrm>
            <a:off x="714799" y="4684148"/>
            <a:ext cx="1639886" cy="9011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491157"/>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기술능력</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790330"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5187" y="1764682"/>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 인력 보유</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790330"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1315187" y="1948462"/>
            <a:ext cx="2010812" cy="107722"/>
          </a:xfrm>
          <a:prstGeom prst="rect">
            <a:avLst/>
          </a:prstGeom>
          <a:noFill/>
        </p:spPr>
        <p:txBody>
          <a:bodyPr wrap="square" lIns="0" tIns="0" rIns="0" bIns="0" rtlCol="0">
            <a:spAutoFit/>
          </a:bodyPr>
          <a:lstStyle/>
          <a:p>
            <a:r>
              <a:rPr lang="ko-KR" altLang="en-US" sz="700" dirty="0">
                <a:latin typeface="+mn-ea"/>
              </a:rPr>
              <a:t>기술인력 보유 정도</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2916479"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6.0</a:t>
            </a:r>
          </a:p>
        </p:txBody>
      </p:sp>
      <p:sp>
        <p:nvSpPr>
          <p:cNvPr id="243" name="직사각형 242"/>
          <p:cNvSpPr/>
          <p:nvPr/>
        </p:nvSpPr>
        <p:spPr>
          <a:xfrm>
            <a:off x="714799" y="2109540"/>
            <a:ext cx="1639886" cy="20892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801862"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2529904"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712102"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714195"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714195" y="4190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2950274"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8" name="TextBox 277">
            <a:extLst>
              <a:ext uri="{FF2B5EF4-FFF2-40B4-BE49-F238E27FC236}">
                <a16:creationId xmlns:a16="http://schemas.microsoft.com/office/drawing/2014/main" id="{FFC49AEA-2A8F-250C-A86A-A7751D9706C3}"/>
              </a:ext>
            </a:extLst>
          </p:cNvPr>
          <p:cNvSpPr txBox="1"/>
          <p:nvPr/>
        </p:nvSpPr>
        <p:spPr>
          <a:xfrm>
            <a:off x="815712" y="236067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279" name="TextBox 278">
            <a:extLst>
              <a:ext uri="{FF2B5EF4-FFF2-40B4-BE49-F238E27FC236}">
                <a16:creationId xmlns:a16="http://schemas.microsoft.com/office/drawing/2014/main" id="{FFC49AEA-2A8F-250C-A86A-A7751D9706C3}"/>
              </a:ext>
            </a:extLst>
          </p:cNvPr>
          <p:cNvSpPr txBox="1"/>
          <p:nvPr/>
        </p:nvSpPr>
        <p:spPr>
          <a:xfrm>
            <a:off x="2604668" y="254117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br>
              <a:rPr lang="en-US" altLang="ko-KR" dirty="0"/>
            </a:br>
            <a:r>
              <a:rPr lang="en-US" altLang="ko-KR" dirty="0"/>
              <a:t>2.0</a:t>
            </a:r>
            <a:br>
              <a:rPr lang="en-US" altLang="ko-KR" dirty="0"/>
            </a:br>
            <a:r>
              <a:rPr lang="en-US" altLang="ko-KR" dirty="0"/>
              <a:t>1.0</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3286328" y="32036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815712" y="254117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90" name="TextBox 89">
            <a:extLst>
              <a:ext uri="{FF2B5EF4-FFF2-40B4-BE49-F238E27FC236}">
                <a16:creationId xmlns:a16="http://schemas.microsoft.com/office/drawing/2014/main" id="{FFC49AEA-2A8F-250C-A86A-A7751D9706C3}"/>
              </a:ext>
            </a:extLst>
          </p:cNvPr>
          <p:cNvSpPr txBox="1"/>
          <p:nvPr/>
        </p:nvSpPr>
        <p:spPr>
          <a:xfrm>
            <a:off x="815712" y="292494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기사 또는 산업기사 보유</a:t>
            </a:r>
          </a:p>
        </p:txBody>
      </p:sp>
      <p:sp>
        <p:nvSpPr>
          <p:cNvPr id="91" name="TextBox 90">
            <a:extLst>
              <a:ext uri="{FF2B5EF4-FFF2-40B4-BE49-F238E27FC236}">
                <a16:creationId xmlns:a16="http://schemas.microsoft.com/office/drawing/2014/main" id="{FFC49AEA-2A8F-250C-A86A-A7751D9706C3}"/>
              </a:ext>
            </a:extLst>
          </p:cNvPr>
          <p:cNvSpPr txBox="1"/>
          <p:nvPr/>
        </p:nvSpPr>
        <p:spPr>
          <a:xfrm>
            <a:off x="815712" y="310544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92" name="TextBox 91">
            <a:extLst>
              <a:ext uri="{FF2B5EF4-FFF2-40B4-BE49-F238E27FC236}">
                <a16:creationId xmlns:a16="http://schemas.microsoft.com/office/drawing/2014/main" id="{FFC49AEA-2A8F-250C-A86A-A7751D9706C3}"/>
              </a:ext>
            </a:extLst>
          </p:cNvPr>
          <p:cNvSpPr txBox="1"/>
          <p:nvPr/>
        </p:nvSpPr>
        <p:spPr>
          <a:xfrm>
            <a:off x="815712" y="348921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기능사 보유</a:t>
            </a:r>
          </a:p>
        </p:txBody>
      </p:sp>
      <p:sp>
        <p:nvSpPr>
          <p:cNvPr id="93" name="TextBox 92">
            <a:extLst>
              <a:ext uri="{FF2B5EF4-FFF2-40B4-BE49-F238E27FC236}">
                <a16:creationId xmlns:a16="http://schemas.microsoft.com/office/drawing/2014/main" id="{FFC49AEA-2A8F-250C-A86A-A7751D9706C3}"/>
              </a:ext>
            </a:extLst>
          </p:cNvPr>
          <p:cNvSpPr txBox="1"/>
          <p:nvPr/>
        </p:nvSpPr>
        <p:spPr>
          <a:xfrm>
            <a:off x="815712" y="366971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94" name="TextBox 93">
            <a:extLst>
              <a:ext uri="{FF2B5EF4-FFF2-40B4-BE49-F238E27FC236}">
                <a16:creationId xmlns:a16="http://schemas.microsoft.com/office/drawing/2014/main" id="{FFC49AEA-2A8F-250C-A86A-A7751D9706C3}"/>
              </a:ext>
            </a:extLst>
          </p:cNvPr>
          <p:cNvSpPr txBox="1"/>
          <p:nvPr/>
        </p:nvSpPr>
        <p:spPr>
          <a:xfrm>
            <a:off x="815712" y="4046657"/>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err="1"/>
              <a:t>미보유</a:t>
            </a:r>
            <a:endParaRPr lang="ko-KR" altLang="en-US" dirty="0"/>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719050" y="401026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19050" y="34528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9050" y="288854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19050" y="363332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9050" y="30690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19050" y="250478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1" name="TextBox 100">
            <a:extLst>
              <a:ext uri="{FF2B5EF4-FFF2-40B4-BE49-F238E27FC236}">
                <a16:creationId xmlns:a16="http://schemas.microsoft.com/office/drawing/2014/main" id="{FFC49AEA-2A8F-250C-A86A-A7751D9706C3}"/>
              </a:ext>
            </a:extLst>
          </p:cNvPr>
          <p:cNvSpPr txBox="1"/>
          <p:nvPr/>
        </p:nvSpPr>
        <p:spPr>
          <a:xfrm>
            <a:off x="2604668" y="310544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br>
              <a:rPr lang="en-US" altLang="ko-KR" dirty="0"/>
            </a:br>
            <a:r>
              <a:rPr lang="en-US" altLang="ko-KR" dirty="0"/>
              <a:t>1.0</a:t>
            </a:r>
            <a:br>
              <a:rPr lang="en-US" altLang="ko-KR" dirty="0"/>
            </a:br>
            <a:r>
              <a:rPr lang="en-US" altLang="ko-KR" dirty="0"/>
              <a:t>0.5</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554974" y="3669717"/>
            <a:ext cx="168316"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0.75</a:t>
            </a:r>
            <a:br>
              <a:rPr lang="en-US" altLang="ko-KR" dirty="0"/>
            </a:br>
            <a:r>
              <a:rPr lang="en-US" altLang="ko-KR" dirty="0"/>
              <a:t>0.5</a:t>
            </a:r>
            <a:br>
              <a:rPr lang="en-US" altLang="ko-KR" dirty="0"/>
            </a:br>
            <a:r>
              <a:rPr lang="en-US" altLang="ko-KR" dirty="0"/>
              <a:t>0.25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673597" y="4046657"/>
            <a:ext cx="4969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a:t>
            </a: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564289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3795734" y="1504908"/>
            <a:ext cx="2712027" cy="989687"/>
            <a:chOff x="675399" y="5188802"/>
            <a:chExt cx="2712027" cy="989687"/>
          </a:xfrm>
        </p:grpSpPr>
        <p:cxnSp>
          <p:nvCxnSpPr>
            <p:cNvPr id="277" name="직선 연결선 276">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5" name="그룹 104"/>
            <p:cNvGrpSpPr/>
            <p:nvPr/>
          </p:nvGrpSpPr>
          <p:grpSpPr>
            <a:xfrm>
              <a:off x="701175" y="5469919"/>
              <a:ext cx="2630093" cy="646331"/>
              <a:chOff x="701175" y="1835481"/>
              <a:chExt cx="2630093" cy="646331"/>
            </a:xfrm>
          </p:grpSpPr>
          <p:sp>
            <p:nvSpPr>
              <p:cNvPr id="106" name="직사각형 105"/>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09" name="그룹 108"/>
              <p:cNvGrpSpPr/>
              <p:nvPr/>
            </p:nvGrpSpPr>
            <p:grpSpPr>
              <a:xfrm>
                <a:off x="701175" y="1835481"/>
                <a:ext cx="2630093" cy="644220"/>
                <a:chOff x="701175" y="1835481"/>
                <a:chExt cx="2630093" cy="64422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15" name="TextBox 114">
              <a:extLst>
                <a:ext uri="{FF2B5EF4-FFF2-40B4-BE49-F238E27FC236}">
                  <a16:creationId xmlns:a16="http://schemas.microsoft.com/office/drawing/2014/main" id="{FFC49AEA-2A8F-250C-A86A-A7751D9706C3}"/>
                </a:ext>
              </a:extLst>
            </p:cNvPr>
            <p:cNvSpPr txBox="1"/>
            <p:nvPr/>
          </p:nvSpPr>
          <p:spPr>
            <a:xfrm>
              <a:off x="790330" y="5188802"/>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경영상태</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354685" y="5188802"/>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30</a:t>
              </a:r>
              <a:r>
                <a:rPr lang="ko-KR" altLang="en-US" dirty="0"/>
                <a:t>점</a:t>
              </a:r>
            </a:p>
          </p:txBody>
        </p:sp>
      </p:grpSp>
      <p:sp>
        <p:nvSpPr>
          <p:cNvPr id="117" name="TextBox 116">
            <a:extLst>
              <a:ext uri="{FF2B5EF4-FFF2-40B4-BE49-F238E27FC236}">
                <a16:creationId xmlns:a16="http://schemas.microsoft.com/office/drawing/2014/main" id="{FFC49AEA-2A8F-250C-A86A-A7751D9706C3}"/>
              </a:ext>
            </a:extLst>
          </p:cNvPr>
          <p:cNvSpPr txBox="1"/>
          <p:nvPr/>
        </p:nvSpPr>
        <p:spPr>
          <a:xfrm>
            <a:off x="2354685" y="1491157"/>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3883823" y="252942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50</a:t>
            </a:r>
            <a:r>
              <a:rPr lang="ko-KR" altLang="en-US" sz="700" dirty="0">
                <a:latin typeface="+mn-ea"/>
              </a:rPr>
              <a:t>점</a:t>
            </a:r>
          </a:p>
        </p:txBody>
      </p:sp>
      <p:grpSp>
        <p:nvGrpSpPr>
          <p:cNvPr id="119" name="그룹 118"/>
          <p:cNvGrpSpPr/>
          <p:nvPr/>
        </p:nvGrpSpPr>
        <p:grpSpPr>
          <a:xfrm flipV="1">
            <a:off x="6245910" y="2642757"/>
            <a:ext cx="94010" cy="47005"/>
            <a:chOff x="6812560" y="3297172"/>
            <a:chExt cx="94010" cy="47005"/>
          </a:xfrm>
        </p:grpSpPr>
        <p:cxnSp>
          <p:nvCxnSpPr>
            <p:cNvPr id="120" name="직선 연결선 1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7076" y="28162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45127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7" name="그룹 156"/>
          <p:cNvGrpSpPr/>
          <p:nvPr/>
        </p:nvGrpSpPr>
        <p:grpSpPr>
          <a:xfrm>
            <a:off x="3838043" y="2880351"/>
            <a:ext cx="2630093" cy="1094598"/>
            <a:chOff x="701175" y="1835480"/>
            <a:chExt cx="2630093" cy="1094598"/>
          </a:xfrm>
        </p:grpSpPr>
        <p:sp>
          <p:nvSpPr>
            <p:cNvPr id="158" name="직사각형 157"/>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TextBox 158">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50 -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61" name="그룹 160"/>
            <p:cNvGrpSpPr/>
            <p:nvPr/>
          </p:nvGrpSpPr>
          <p:grpSpPr>
            <a:xfrm>
              <a:off x="701175" y="1835481"/>
              <a:ext cx="2630093" cy="1094597"/>
              <a:chOff x="701175" y="1835481"/>
              <a:chExt cx="2630093" cy="1094597"/>
            </a:xfrm>
          </p:grpSpPr>
          <p:cxnSp>
            <p:nvCxnSpPr>
              <p:cNvPr id="162" name="직선 연결선 16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68" name="TextBox 167">
            <a:extLst>
              <a:ext uri="{FF2B5EF4-FFF2-40B4-BE49-F238E27FC236}">
                <a16:creationId xmlns:a16="http://schemas.microsoft.com/office/drawing/2014/main" id="{FFC49AEA-2A8F-250C-A86A-A7751D9706C3}"/>
              </a:ext>
            </a:extLst>
          </p:cNvPr>
          <p:cNvSpPr txBox="1"/>
          <p:nvPr/>
        </p:nvSpPr>
        <p:spPr>
          <a:xfrm>
            <a:off x="3925041" y="4091657"/>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45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883823" y="4549314"/>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-5</a:t>
            </a:r>
          </a:p>
        </p:txBody>
      </p:sp>
      <p:grpSp>
        <p:nvGrpSpPr>
          <p:cNvPr id="172" name="그룹 171"/>
          <p:cNvGrpSpPr/>
          <p:nvPr/>
        </p:nvGrpSpPr>
        <p:grpSpPr>
          <a:xfrm flipV="1">
            <a:off x="6245910" y="4662645"/>
            <a:ext cx="94010" cy="47005"/>
            <a:chOff x="6812560" y="3297172"/>
            <a:chExt cx="94010" cy="47005"/>
          </a:xfrm>
        </p:grpSpPr>
        <p:cxnSp>
          <p:nvCxnSpPr>
            <p:cNvPr id="176" name="직선 연결선 1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3" name="직선 연결선 18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3797076" y="48361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3910665" y="484489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물품 </a:t>
            </a:r>
            <a:r>
              <a:rPr lang="ko-KR" altLang="en-US" dirty="0" err="1"/>
              <a:t>품질정도</a:t>
            </a:r>
            <a:endParaRPr lang="ko-KR" altLang="en-US" dirty="0"/>
          </a:p>
        </p:txBody>
      </p:sp>
      <p:sp>
        <p:nvSpPr>
          <p:cNvPr id="193" name="TextBox 192">
            <a:extLst>
              <a:ext uri="{FF2B5EF4-FFF2-40B4-BE49-F238E27FC236}">
                <a16:creationId xmlns:a16="http://schemas.microsoft.com/office/drawing/2014/main" id="{FFC49AEA-2A8F-250C-A86A-A7751D9706C3}"/>
              </a:ext>
            </a:extLst>
          </p:cNvPr>
          <p:cNvSpPr txBox="1"/>
          <p:nvPr/>
        </p:nvSpPr>
        <p:spPr>
          <a:xfrm>
            <a:off x="3910665" y="504513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4435522" y="5118422"/>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품질관리</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3910665" y="52289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435522" y="5302202"/>
            <a:ext cx="2010812" cy="107722"/>
          </a:xfrm>
          <a:prstGeom prst="rect">
            <a:avLst/>
          </a:prstGeom>
          <a:noFill/>
        </p:spPr>
        <p:txBody>
          <a:bodyPr wrap="square" lIns="0" tIns="0" rIns="0" bIns="0" rtlCol="0">
            <a:spAutoFit/>
          </a:bodyPr>
          <a:lstStyle/>
          <a:p>
            <a:r>
              <a:rPr lang="ko-KR" altLang="en-US" sz="700" dirty="0">
                <a:latin typeface="+mn-ea"/>
              </a:rPr>
              <a:t>품질보증</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6036814" y="530220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8" name="직사각형 197"/>
          <p:cNvSpPr/>
          <p:nvPr/>
        </p:nvSpPr>
        <p:spPr>
          <a:xfrm>
            <a:off x="3835134" y="5463280"/>
            <a:ext cx="1639886" cy="7690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3922197" y="546328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5650239" y="546328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2437" y="546327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4530" y="5678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6070609" y="546328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3936047" y="572328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KS, CE, UL </a:t>
            </a:r>
            <a:r>
              <a:rPr lang="ko-KR" altLang="en-US" dirty="0"/>
              <a:t>및 </a:t>
            </a:r>
            <a:r>
              <a:rPr lang="en-US" altLang="ko-KR" dirty="0"/>
              <a:t>KS</a:t>
            </a:r>
            <a:r>
              <a:rPr lang="ko-KR" altLang="en-US" dirty="0"/>
              <a:t>에 상응하는 해당국의 국가산업표준규격인증</a:t>
            </a:r>
            <a:r>
              <a:rPr lang="en-US" altLang="ko-KR" dirty="0"/>
              <a:t>, </a:t>
            </a:r>
            <a:r>
              <a:rPr lang="ko-KR" altLang="en-US" dirty="0"/>
              <a:t>국방품질경영시스템  인증 및 </a:t>
            </a:r>
            <a:r>
              <a:rPr lang="ko-KR" altLang="en-US" dirty="0" err="1"/>
              <a:t>당해품목</a:t>
            </a:r>
            <a:r>
              <a:rPr lang="ko-KR" altLang="en-US" dirty="0"/>
              <a:t> </a:t>
            </a:r>
            <a:r>
              <a:rPr lang="en-US" altLang="ko-KR" dirty="0"/>
              <a:t>HACCP </a:t>
            </a:r>
            <a:r>
              <a:rPr lang="ko-KR" altLang="en-US" dirty="0"/>
              <a:t>인증 보유자</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5725002" y="593872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6406663" y="603784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3839385" y="62184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3" name="TextBox 122">
            <a:extLst>
              <a:ext uri="{FF2B5EF4-FFF2-40B4-BE49-F238E27FC236}">
                <a16:creationId xmlns:a16="http://schemas.microsoft.com/office/drawing/2014/main" id="{FFC49AEA-2A8F-250C-A86A-A7751D9706C3}"/>
              </a:ext>
            </a:extLst>
          </p:cNvPr>
          <p:cNvSpPr txBox="1"/>
          <p:nvPr/>
        </p:nvSpPr>
        <p:spPr>
          <a:xfrm>
            <a:off x="790330" y="425921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15187" y="4332507"/>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생산기술축적정도</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790330" y="444299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1315187" y="4516287"/>
            <a:ext cx="2010812" cy="107722"/>
          </a:xfrm>
          <a:prstGeom prst="rect">
            <a:avLst/>
          </a:prstGeom>
          <a:noFill/>
        </p:spPr>
        <p:txBody>
          <a:bodyPr wrap="square" lIns="0" tIns="0" rIns="0" bIns="0" rtlCol="0">
            <a:spAutoFit/>
          </a:bodyPr>
          <a:lstStyle/>
          <a:p>
            <a:r>
              <a:rPr lang="ko-KR" altLang="en-US" sz="700" dirty="0">
                <a:latin typeface="+mn-ea"/>
              </a:rPr>
              <a:t>공장등록연수평가</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2916479" y="451628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4.0</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801862" y="467736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2529904" y="467736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712102" y="46773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14195" y="4892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2950274" y="467736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815712" y="4928496"/>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604668" y="5109002"/>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4.0</a:t>
            </a:r>
            <a:br>
              <a:rPr lang="en-US" altLang="ko-KR" dirty="0"/>
            </a:br>
            <a:r>
              <a:rPr lang="en-US" altLang="ko-KR" dirty="0"/>
              <a:t>3.5</a:t>
            </a:r>
            <a:br>
              <a:rPr lang="en-US" altLang="ko-KR" dirty="0"/>
            </a:br>
            <a:r>
              <a:rPr lang="en-US" altLang="ko-KR" dirty="0"/>
              <a:t>3.0</a:t>
            </a:r>
            <a:br>
              <a:rPr lang="en-US" altLang="ko-KR" dirty="0"/>
            </a:br>
            <a:r>
              <a:rPr lang="en-US" altLang="ko-KR" dirty="0"/>
              <a:t>2.5</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815712" y="5109002"/>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A.5</a:t>
            </a:r>
            <a:r>
              <a:rPr lang="ko-KR" altLang="en-US" dirty="0"/>
              <a:t>년 이상</a:t>
            </a:r>
            <a:br>
              <a:rPr lang="ko-KR" altLang="en-US" dirty="0"/>
            </a:br>
            <a:r>
              <a:rPr lang="en-US" altLang="ko-KR" dirty="0"/>
              <a:t>B.3</a:t>
            </a:r>
            <a:r>
              <a:rPr lang="ko-KR" altLang="en-US" dirty="0" err="1"/>
              <a:t>년이상</a:t>
            </a:r>
            <a:r>
              <a:rPr lang="ko-KR" altLang="en-US" dirty="0"/>
              <a:t> </a:t>
            </a:r>
            <a:r>
              <a:rPr lang="en-US" altLang="ko-KR" dirty="0"/>
              <a:t>5</a:t>
            </a:r>
            <a:r>
              <a:rPr lang="ko-KR" altLang="en-US" dirty="0" err="1"/>
              <a:t>년미만</a:t>
            </a:r>
            <a:r>
              <a:rPr lang="ko-KR" altLang="en-US" dirty="0"/>
              <a:t/>
            </a:r>
            <a:br>
              <a:rPr lang="ko-KR" altLang="en-US" dirty="0"/>
            </a:br>
            <a:r>
              <a:rPr lang="en-US" altLang="ko-KR" dirty="0"/>
              <a:t>C.1</a:t>
            </a:r>
            <a:r>
              <a:rPr lang="ko-KR" altLang="en-US" dirty="0" err="1"/>
              <a:t>년이상</a:t>
            </a:r>
            <a:r>
              <a:rPr lang="ko-KR" altLang="en-US" dirty="0"/>
              <a:t> </a:t>
            </a:r>
            <a:r>
              <a:rPr lang="en-US" altLang="ko-KR" dirty="0"/>
              <a:t>3</a:t>
            </a:r>
            <a:r>
              <a:rPr lang="ko-KR" altLang="en-US" dirty="0" err="1"/>
              <a:t>년미만</a:t>
            </a:r>
            <a:r>
              <a:rPr lang="ko-KR" altLang="en-US" dirty="0"/>
              <a:t/>
            </a:r>
            <a:br>
              <a:rPr lang="ko-KR" altLang="en-US" dirty="0"/>
            </a:br>
            <a:r>
              <a:rPr lang="en-US" altLang="ko-KR" dirty="0"/>
              <a:t>D.1</a:t>
            </a:r>
            <a:r>
              <a:rPr lang="ko-KR" altLang="en-US" dirty="0" err="1"/>
              <a:t>년미만</a:t>
            </a:r>
            <a:endParaRPr lang="ko-KR" altLang="en-US" dirty="0"/>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507261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14195" y="55881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3286328" y="51862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6" name="타원 13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54649245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36" name="직사각형 135"/>
          <p:cNvSpPr/>
          <p:nvPr/>
        </p:nvSpPr>
        <p:spPr>
          <a:xfrm>
            <a:off x="719063" y="1508077"/>
            <a:ext cx="1639886" cy="9488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8459" y="2459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TextBox 145">
            <a:extLst>
              <a:ext uri="{FF2B5EF4-FFF2-40B4-BE49-F238E27FC236}">
                <a16:creationId xmlns:a16="http://schemas.microsoft.com/office/drawing/2014/main" id="{FFC49AEA-2A8F-250C-A86A-A7751D9706C3}"/>
              </a:ext>
            </a:extLst>
          </p:cNvPr>
          <p:cNvSpPr txBox="1"/>
          <p:nvPr/>
        </p:nvSpPr>
        <p:spPr>
          <a:xfrm>
            <a:off x="819976" y="157792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우수단체표준</a:t>
            </a:r>
            <a:r>
              <a:rPr lang="en-US" altLang="ko-KR" dirty="0"/>
              <a:t>, </a:t>
            </a:r>
            <a:r>
              <a:rPr lang="ko-KR" altLang="en-US" dirty="0"/>
              <a:t>한국공인제품인증</a:t>
            </a:r>
            <a:r>
              <a:rPr lang="en-US" altLang="ko-KR" dirty="0"/>
              <a:t>(KAS), </a:t>
            </a:r>
            <a:r>
              <a:rPr lang="ko-KR" altLang="en-US" dirty="0"/>
              <a:t>싱글</a:t>
            </a:r>
            <a:r>
              <a:rPr lang="en-US" altLang="ko-KR" dirty="0"/>
              <a:t>PPM, </a:t>
            </a:r>
            <a:r>
              <a:rPr lang="ko-KR" altLang="en-US" dirty="0" err="1"/>
              <a:t>자가품질</a:t>
            </a:r>
            <a:r>
              <a:rPr lang="ko-KR" altLang="en-US" dirty="0"/>
              <a:t> </a:t>
            </a:r>
            <a:r>
              <a:rPr lang="ko-KR" altLang="en-US" dirty="0" err="1"/>
              <a:t>보증물품</a:t>
            </a:r>
            <a:r>
              <a:rPr lang="ko-KR" altLang="en-US" dirty="0"/>
              <a:t> 지정</a:t>
            </a:r>
            <a:r>
              <a:rPr lang="en-US" altLang="ko-KR" dirty="0"/>
              <a:t>, </a:t>
            </a:r>
            <a:r>
              <a:rPr lang="ko-KR" altLang="en-US" dirty="0"/>
              <a:t>세계일류상품인증</a:t>
            </a:r>
            <a:r>
              <a:rPr lang="en-US" altLang="ko-KR" dirty="0"/>
              <a:t>, “</a:t>
            </a:r>
            <a:r>
              <a:rPr lang="ko-KR" altLang="en-US" dirty="0"/>
              <a:t>건”자 마크</a:t>
            </a:r>
            <a:r>
              <a:rPr lang="en-US" altLang="ko-KR" dirty="0"/>
              <a:t>·K</a:t>
            </a:r>
            <a:r>
              <a:rPr lang="ko-KR" altLang="en-US" dirty="0"/>
              <a:t>마크</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2608931" y="1739503"/>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3290592" y="17395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49" name="직선 연결선 148">
            <a:extLst>
              <a:ext uri="{FF2B5EF4-FFF2-40B4-BE49-F238E27FC236}">
                <a16:creationId xmlns:a16="http://schemas.microsoft.com/office/drawing/2014/main" id="{E9293055-D5CD-4B9E-7F64-64B2D2CA7A52}"/>
              </a:ext>
            </a:extLst>
          </p:cNvPr>
          <p:cNvCxnSpPr/>
          <p:nvPr/>
        </p:nvCxnSpPr>
        <p:spPr>
          <a:xfrm>
            <a:off x="723314" y="20730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819976" y="214353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a:t>
            </a:r>
            <a:r>
              <a:rPr lang="ko-KR" altLang="en-US" dirty="0"/>
              <a:t>산업통상자원부장관이 선정한 “</a:t>
            </a:r>
            <a:r>
              <a:rPr lang="ko-KR" altLang="en-US" dirty="0" err="1"/>
              <a:t>세계일류상</a:t>
            </a:r>
            <a:r>
              <a:rPr lang="ko-KR" altLang="en-US" dirty="0"/>
              <a:t> </a:t>
            </a:r>
            <a:r>
              <a:rPr lang="ko-KR" altLang="en-US" dirty="0" err="1"/>
              <a:t>품생산기업</a:t>
            </a:r>
            <a:r>
              <a:rPr lang="ko-KR" altLang="en-US" dirty="0"/>
              <a:t>”</a:t>
            </a:r>
          </a:p>
        </p:txBody>
      </p:sp>
      <p:sp>
        <p:nvSpPr>
          <p:cNvPr id="151" name="TextBox 150">
            <a:extLst>
              <a:ext uri="{FF2B5EF4-FFF2-40B4-BE49-F238E27FC236}">
                <a16:creationId xmlns:a16="http://schemas.microsoft.com/office/drawing/2014/main" id="{FFC49AEA-2A8F-250C-A86A-A7751D9706C3}"/>
              </a:ext>
            </a:extLst>
          </p:cNvPr>
          <p:cNvSpPr txBox="1"/>
          <p:nvPr/>
        </p:nvSpPr>
        <p:spPr>
          <a:xfrm>
            <a:off x="2608931" y="2197391"/>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794594" y="24951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1319451" y="2568442"/>
            <a:ext cx="2010812" cy="107722"/>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기술보유</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794594" y="267893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55" name="TextBox 154">
            <a:extLst>
              <a:ext uri="{FF2B5EF4-FFF2-40B4-BE49-F238E27FC236}">
                <a16:creationId xmlns:a16="http://schemas.microsoft.com/office/drawing/2014/main" id="{FFC49AEA-2A8F-250C-A86A-A7751D9706C3}"/>
              </a:ext>
            </a:extLst>
          </p:cNvPr>
          <p:cNvSpPr txBox="1"/>
          <p:nvPr/>
        </p:nvSpPr>
        <p:spPr>
          <a:xfrm>
            <a:off x="1319451" y="2752222"/>
            <a:ext cx="2010812" cy="107722"/>
          </a:xfrm>
          <a:prstGeom prst="rect">
            <a:avLst/>
          </a:prstGeom>
          <a:noFill/>
        </p:spPr>
        <p:txBody>
          <a:bodyPr wrap="square" lIns="0" tIns="0" rIns="0" bIns="0" rtlCol="0">
            <a:spAutoFit/>
          </a:bodyPr>
          <a:lstStyle/>
          <a:p>
            <a:r>
              <a:rPr lang="ko-KR" altLang="en-US" sz="700" dirty="0" err="1">
                <a:latin typeface="+mn-ea"/>
              </a:rPr>
              <a:t>기술인증</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2920743" y="275222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71" name="직사각형 170"/>
          <p:cNvSpPr/>
          <p:nvPr/>
        </p:nvSpPr>
        <p:spPr>
          <a:xfrm>
            <a:off x="719063" y="2913300"/>
            <a:ext cx="1639886" cy="9816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TextBox 172">
            <a:extLst>
              <a:ext uri="{FF2B5EF4-FFF2-40B4-BE49-F238E27FC236}">
                <a16:creationId xmlns:a16="http://schemas.microsoft.com/office/drawing/2014/main" id="{FFC49AEA-2A8F-250C-A86A-A7751D9706C3}"/>
              </a:ext>
            </a:extLst>
          </p:cNvPr>
          <p:cNvSpPr txBox="1"/>
          <p:nvPr/>
        </p:nvSpPr>
        <p:spPr>
          <a:xfrm>
            <a:off x="806126" y="291330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2534168" y="291330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716366" y="291329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8459" y="31280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8" name="TextBox 177">
            <a:extLst>
              <a:ext uri="{FF2B5EF4-FFF2-40B4-BE49-F238E27FC236}">
                <a16:creationId xmlns:a16="http://schemas.microsoft.com/office/drawing/2014/main" id="{FFC49AEA-2A8F-250C-A86A-A7751D9706C3}"/>
              </a:ext>
            </a:extLst>
          </p:cNvPr>
          <p:cNvSpPr txBox="1"/>
          <p:nvPr/>
        </p:nvSpPr>
        <p:spPr>
          <a:xfrm>
            <a:off x="2954538" y="291330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79" name="TextBox 178">
            <a:extLst>
              <a:ext uri="{FF2B5EF4-FFF2-40B4-BE49-F238E27FC236}">
                <a16:creationId xmlns:a16="http://schemas.microsoft.com/office/drawing/2014/main" id="{FFC49AEA-2A8F-250C-A86A-A7751D9706C3}"/>
              </a:ext>
            </a:extLst>
          </p:cNvPr>
          <p:cNvSpPr txBox="1"/>
          <p:nvPr/>
        </p:nvSpPr>
        <p:spPr>
          <a:xfrm>
            <a:off x="819976" y="318581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주무부 장관 등이 인증한 신기술 </a:t>
            </a:r>
            <a:r>
              <a:rPr lang="en-US" altLang="ko-KR" dirty="0"/>
              <a:t>(NET, NEP, </a:t>
            </a:r>
            <a:r>
              <a:rPr lang="ko-KR" altLang="en-US" dirty="0" err="1"/>
              <a:t>전력신기술</a:t>
            </a:r>
            <a:r>
              <a:rPr lang="en-US" altLang="ko-KR" dirty="0"/>
              <a:t>) </a:t>
            </a:r>
            <a:r>
              <a:rPr lang="ko-KR" altLang="en-US" dirty="0"/>
              <a:t>인증</a:t>
            </a:r>
            <a:r>
              <a:rPr lang="en-US" altLang="ko-KR" dirty="0"/>
              <a:t>, </a:t>
            </a:r>
            <a:r>
              <a:rPr lang="ko-KR" altLang="en-US" dirty="0"/>
              <a:t>중소기업기술개발제품 </a:t>
            </a:r>
            <a:r>
              <a:rPr lang="ko-KR" altLang="en-US" dirty="0" err="1"/>
              <a:t>성능인증</a:t>
            </a:r>
            <a:r>
              <a:rPr lang="ko-KR" altLang="en-US" dirty="0"/>
              <a:t> 보유자</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2608931" y="329353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81" name="직선 연결선 180">
            <a:extLst>
              <a:ext uri="{FF2B5EF4-FFF2-40B4-BE49-F238E27FC236}">
                <a16:creationId xmlns:a16="http://schemas.microsoft.com/office/drawing/2014/main" id="{E9293055-D5CD-4B9E-7F64-64B2D2CA7A52}"/>
              </a:ext>
            </a:extLst>
          </p:cNvPr>
          <p:cNvCxnSpPr/>
          <p:nvPr/>
        </p:nvCxnSpPr>
        <p:spPr>
          <a:xfrm>
            <a:off x="723314" y="356675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2" name="TextBox 181">
            <a:extLst>
              <a:ext uri="{FF2B5EF4-FFF2-40B4-BE49-F238E27FC236}">
                <a16:creationId xmlns:a16="http://schemas.microsoft.com/office/drawing/2014/main" id="{FFC49AEA-2A8F-250C-A86A-A7751D9706C3}"/>
              </a:ext>
            </a:extLst>
          </p:cNvPr>
          <p:cNvSpPr txBox="1"/>
          <p:nvPr/>
        </p:nvSpPr>
        <p:spPr>
          <a:xfrm>
            <a:off x="819976" y="362452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특허</a:t>
            </a:r>
            <a:r>
              <a:rPr lang="en-US" altLang="ko-KR" dirty="0"/>
              <a:t>, GD</a:t>
            </a:r>
            <a:r>
              <a:rPr lang="ko-KR" altLang="en-US" dirty="0"/>
              <a:t>인증</a:t>
            </a:r>
            <a:r>
              <a:rPr lang="en-US" altLang="ko-KR" dirty="0"/>
              <a:t>, GS(</a:t>
            </a:r>
            <a:r>
              <a:rPr lang="ko-KR" altLang="en-US" dirty="0"/>
              <a:t>국산 우수 </a:t>
            </a:r>
            <a:r>
              <a:rPr lang="en-US" altLang="ko-KR" dirty="0"/>
              <a:t>S/W)</a:t>
            </a:r>
            <a:r>
              <a:rPr lang="ko-KR" altLang="en-US" dirty="0"/>
              <a:t>마크 보유자</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2608931" y="3678387"/>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8459" y="38977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3290592" y="345903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794594" y="392870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1319451" y="4001989"/>
            <a:ext cx="2010812" cy="107722"/>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환경관리</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794594" y="411248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1319451" y="4185769"/>
            <a:ext cx="2010812" cy="107722"/>
          </a:xfrm>
          <a:prstGeom prst="rect">
            <a:avLst/>
          </a:prstGeom>
          <a:noFill/>
        </p:spPr>
        <p:txBody>
          <a:bodyPr wrap="square" lIns="0" tIns="0" rIns="0" bIns="0" rtlCol="0">
            <a:spAutoFit/>
          </a:bodyPr>
          <a:lstStyle/>
          <a:p>
            <a:r>
              <a:rPr lang="ko-KR" altLang="en-US" sz="700" dirty="0">
                <a:latin typeface="+mn-ea"/>
              </a:rPr>
              <a:t>환경오염 억제와 자원절약 기여자</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2920743" y="418576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10" name="직사각형 209"/>
          <p:cNvSpPr/>
          <p:nvPr/>
        </p:nvSpPr>
        <p:spPr>
          <a:xfrm>
            <a:off x="719063" y="4346847"/>
            <a:ext cx="1639886" cy="11136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806126" y="434684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4" name="TextBox 213">
            <a:extLst>
              <a:ext uri="{FF2B5EF4-FFF2-40B4-BE49-F238E27FC236}">
                <a16:creationId xmlns:a16="http://schemas.microsoft.com/office/drawing/2014/main" id="{FFC49AEA-2A8F-250C-A86A-A7751D9706C3}"/>
              </a:ext>
            </a:extLst>
          </p:cNvPr>
          <p:cNvSpPr txBox="1"/>
          <p:nvPr/>
        </p:nvSpPr>
        <p:spPr>
          <a:xfrm>
            <a:off x="2534168" y="434684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716366" y="43468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18459" y="45615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2954538" y="43468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819976" y="462210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환경표지</a:t>
            </a:r>
            <a:r>
              <a:rPr lang="en-US" altLang="ko-KR" dirty="0"/>
              <a:t>(GR</a:t>
            </a:r>
            <a:r>
              <a:rPr lang="ko-KR" altLang="en-US" dirty="0" err="1"/>
              <a:t>마크포함</a:t>
            </a:r>
            <a:r>
              <a:rPr lang="en-US" altLang="ko-KR" dirty="0"/>
              <a:t>) </a:t>
            </a:r>
            <a:r>
              <a:rPr lang="ko-KR" altLang="en-US" dirty="0"/>
              <a:t>인증을 받거나 환경친화기업 지정자</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2608931" y="4675961"/>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723314" y="489805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819976" y="495857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a:t>
            </a:r>
            <a:r>
              <a:rPr lang="ko-KR" altLang="en-US" dirty="0"/>
              <a:t>녹색기술</a:t>
            </a:r>
            <a:r>
              <a:rPr lang="en-US" altLang="ko-KR" dirty="0"/>
              <a:t>(</a:t>
            </a:r>
            <a:r>
              <a:rPr lang="ko-KR" altLang="en-US" dirty="0"/>
              <a:t>녹색사업</a:t>
            </a:r>
            <a:r>
              <a:rPr lang="en-US" altLang="ko-KR" dirty="0"/>
              <a:t>) </a:t>
            </a:r>
            <a:r>
              <a:rPr lang="ko-KR" altLang="en-US" dirty="0"/>
              <a:t>인증 및  녹색전문기업 확인서 보유자</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2608931" y="5012433"/>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718459" y="5463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9" name="TextBox 228">
            <a:extLst>
              <a:ext uri="{FF2B5EF4-FFF2-40B4-BE49-F238E27FC236}">
                <a16:creationId xmlns:a16="http://schemas.microsoft.com/office/drawing/2014/main" id="{FFC49AEA-2A8F-250C-A86A-A7751D9706C3}"/>
              </a:ext>
            </a:extLst>
          </p:cNvPr>
          <p:cNvSpPr txBox="1"/>
          <p:nvPr/>
        </p:nvSpPr>
        <p:spPr>
          <a:xfrm>
            <a:off x="3290592" y="4958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819976" y="529504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고효율에너지기자재 </a:t>
            </a:r>
            <a:r>
              <a:rPr lang="ko-KR" altLang="en-US" dirty="0" err="1"/>
              <a:t>인증보유자</a:t>
            </a:r>
            <a:endParaRPr lang="ko-KR" altLang="en-US" dirty="0"/>
          </a:p>
        </p:txBody>
      </p:sp>
      <p:sp>
        <p:nvSpPr>
          <p:cNvPr id="233" name="TextBox 232">
            <a:extLst>
              <a:ext uri="{FF2B5EF4-FFF2-40B4-BE49-F238E27FC236}">
                <a16:creationId xmlns:a16="http://schemas.microsoft.com/office/drawing/2014/main" id="{FFC49AEA-2A8F-250C-A86A-A7751D9706C3}"/>
              </a:ext>
            </a:extLst>
          </p:cNvPr>
          <p:cNvSpPr txBox="1"/>
          <p:nvPr/>
        </p:nvSpPr>
        <p:spPr>
          <a:xfrm>
            <a:off x="2608931" y="529504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723314" y="523453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7" name="TextBox 236">
            <a:extLst>
              <a:ext uri="{FF2B5EF4-FFF2-40B4-BE49-F238E27FC236}">
                <a16:creationId xmlns:a16="http://schemas.microsoft.com/office/drawing/2014/main" id="{FFC49AEA-2A8F-250C-A86A-A7751D9706C3}"/>
              </a:ext>
            </a:extLst>
          </p:cNvPr>
          <p:cNvSpPr txBox="1"/>
          <p:nvPr/>
        </p:nvSpPr>
        <p:spPr>
          <a:xfrm>
            <a:off x="3914929"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 </a:t>
            </a:r>
            <a:r>
              <a:rPr lang="ko-KR" altLang="en-US" dirty="0"/>
              <a:t>계약이행 성실도</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4929" y="16927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9786" y="1766046"/>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p:txBody>
      </p:sp>
      <p:sp>
        <p:nvSpPr>
          <p:cNvPr id="240" name="TextBox 239">
            <a:extLst>
              <a:ext uri="{FF2B5EF4-FFF2-40B4-BE49-F238E27FC236}">
                <a16:creationId xmlns:a16="http://schemas.microsoft.com/office/drawing/2014/main" id="{FFC49AEA-2A8F-250C-A86A-A7751D9706C3}"/>
              </a:ext>
            </a:extLst>
          </p:cNvPr>
          <p:cNvSpPr txBox="1"/>
          <p:nvPr/>
        </p:nvSpPr>
        <p:spPr>
          <a:xfrm>
            <a:off x="3914929" y="18765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4439786" y="1949826"/>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242" name="TextBox 241">
            <a:extLst>
              <a:ext uri="{FF2B5EF4-FFF2-40B4-BE49-F238E27FC236}">
                <a16:creationId xmlns:a16="http://schemas.microsoft.com/office/drawing/2014/main" id="{FFC49AEA-2A8F-250C-A86A-A7751D9706C3}"/>
              </a:ext>
            </a:extLst>
          </p:cNvPr>
          <p:cNvSpPr txBox="1"/>
          <p:nvPr/>
        </p:nvSpPr>
        <p:spPr>
          <a:xfrm>
            <a:off x="6041078" y="19498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246" name="직사각형 245"/>
          <p:cNvSpPr/>
          <p:nvPr/>
        </p:nvSpPr>
        <p:spPr>
          <a:xfrm>
            <a:off x="3839398" y="2110904"/>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26461" y="21109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54503" y="21109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49" name="직선 연결선 248">
            <a:extLst>
              <a:ext uri="{FF2B5EF4-FFF2-40B4-BE49-F238E27FC236}">
                <a16:creationId xmlns:a16="http://schemas.microsoft.com/office/drawing/2014/main" id="{E9293055-D5CD-4B9E-7F64-64B2D2CA7A52}"/>
              </a:ext>
            </a:extLst>
          </p:cNvPr>
          <p:cNvCxnSpPr/>
          <p:nvPr/>
        </p:nvCxnSpPr>
        <p:spPr>
          <a:xfrm>
            <a:off x="3836701" y="21109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8794" y="2325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3838794" y="44597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2" name="TextBox 251">
            <a:extLst>
              <a:ext uri="{FF2B5EF4-FFF2-40B4-BE49-F238E27FC236}">
                <a16:creationId xmlns:a16="http://schemas.microsoft.com/office/drawing/2014/main" id="{FFC49AEA-2A8F-250C-A86A-A7751D9706C3}"/>
              </a:ext>
            </a:extLst>
          </p:cNvPr>
          <p:cNvSpPr txBox="1"/>
          <p:nvPr/>
        </p:nvSpPr>
        <p:spPr>
          <a:xfrm>
            <a:off x="6074873" y="21109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3" name="TextBox 252">
            <a:extLst>
              <a:ext uri="{FF2B5EF4-FFF2-40B4-BE49-F238E27FC236}">
                <a16:creationId xmlns:a16="http://schemas.microsoft.com/office/drawing/2014/main" id="{FFC49AEA-2A8F-250C-A86A-A7751D9706C3}"/>
              </a:ext>
            </a:extLst>
          </p:cNvPr>
          <p:cNvSpPr txBox="1"/>
          <p:nvPr/>
        </p:nvSpPr>
        <p:spPr>
          <a:xfrm>
            <a:off x="3940311" y="2374421"/>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a:t>
            </a:r>
            <a:r>
              <a:rPr lang="en-US" altLang="ko-KR" dirty="0"/>
              <a:t>, </a:t>
            </a:r>
            <a:r>
              <a:rPr lang="ko-KR" altLang="en-US" dirty="0"/>
              <a:t>발생사실이 있는 자로서 하자가 발생한 계약</a:t>
            </a:r>
            <a:r>
              <a:rPr lang="en-US" altLang="ko-KR" dirty="0"/>
              <a:t>(</a:t>
            </a:r>
            <a:r>
              <a:rPr lang="ko-KR" altLang="en-US" dirty="0" err="1"/>
              <a:t>단기계약시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br>
              <a:rPr lang="ko-KR" altLang="en-US" dirty="0"/>
            </a:br>
            <a:r>
              <a:rPr lang="ko-KR" altLang="en-US" dirty="0"/>
              <a:t>① </a:t>
            </a:r>
            <a:r>
              <a:rPr lang="en-US" altLang="ko-KR" dirty="0"/>
              <a:t>5%</a:t>
            </a:r>
            <a:r>
              <a:rPr lang="ko-KR" altLang="en-US" dirty="0"/>
              <a:t>이상</a:t>
            </a:r>
            <a:br>
              <a:rPr lang="ko-KR" altLang="en-US" dirty="0"/>
            </a:br>
            <a:r>
              <a:rPr lang="ko-KR" altLang="en-US" dirty="0"/>
              <a:t>② </a:t>
            </a:r>
            <a:r>
              <a:rPr lang="en-US" altLang="ko-KR" dirty="0"/>
              <a:t>3%</a:t>
            </a:r>
            <a:r>
              <a:rPr lang="ko-KR" altLang="en-US" dirty="0"/>
              <a:t>이상 ∼ </a:t>
            </a:r>
            <a:r>
              <a:rPr lang="en-US" altLang="ko-KR" dirty="0"/>
              <a:t>5%</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3% </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 </a:t>
            </a:r>
            <a:r>
              <a:rPr lang="ko-KR" altLang="en-US" dirty="0"/>
              <a:t>미만</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5692397" y="2913030"/>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6410927" y="333883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3940311" y="3441473"/>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br>
              <a:rPr lang="ko-KR" altLang="en-US" dirty="0"/>
            </a:br>
            <a:r>
              <a:rPr lang="ko-KR" altLang="en-US" dirty="0"/>
              <a:t>② </a:t>
            </a:r>
            <a:r>
              <a:rPr lang="en-US" altLang="ko-KR" dirty="0"/>
              <a:t>10%</a:t>
            </a:r>
            <a:r>
              <a:rPr lang="ko-KR" altLang="en-US" dirty="0"/>
              <a:t>이상 ∼ </a:t>
            </a:r>
            <a:r>
              <a:rPr lang="en-US" altLang="ko-KR" dirty="0"/>
              <a:t>20%</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10%</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257" name="직선 연결선 256">
            <a:extLst>
              <a:ext uri="{FF2B5EF4-FFF2-40B4-BE49-F238E27FC236}">
                <a16:creationId xmlns:a16="http://schemas.microsoft.com/office/drawing/2014/main" id="{E9293055-D5CD-4B9E-7F64-64B2D2CA7A52}"/>
              </a:ext>
            </a:extLst>
          </p:cNvPr>
          <p:cNvCxnSpPr/>
          <p:nvPr/>
        </p:nvCxnSpPr>
        <p:spPr>
          <a:xfrm>
            <a:off x="3843649" y="339269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8" name="TextBox 257">
            <a:extLst>
              <a:ext uri="{FF2B5EF4-FFF2-40B4-BE49-F238E27FC236}">
                <a16:creationId xmlns:a16="http://schemas.microsoft.com/office/drawing/2014/main" id="{FFC49AEA-2A8F-250C-A86A-A7751D9706C3}"/>
              </a:ext>
            </a:extLst>
          </p:cNvPr>
          <p:cNvSpPr txBox="1"/>
          <p:nvPr/>
        </p:nvSpPr>
        <p:spPr>
          <a:xfrm>
            <a:off x="5692397" y="3980082"/>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cxnSp>
        <p:nvCxnSpPr>
          <p:cNvPr id="259" name="직선 연결선 258">
            <a:extLst>
              <a:ext uri="{FF2B5EF4-FFF2-40B4-BE49-F238E27FC236}">
                <a16:creationId xmlns:a16="http://schemas.microsoft.com/office/drawing/2014/main" id="{E9293055-D5CD-4B9E-7F64-64B2D2CA7A52}"/>
              </a:ext>
            </a:extLst>
          </p:cNvPr>
          <p:cNvCxnSpPr/>
          <p:nvPr/>
        </p:nvCxnSpPr>
        <p:spPr>
          <a:xfrm>
            <a:off x="675399" y="55282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0" name="TextBox 259">
            <a:extLst>
              <a:ext uri="{FF2B5EF4-FFF2-40B4-BE49-F238E27FC236}">
                <a16:creationId xmlns:a16="http://schemas.microsoft.com/office/drawing/2014/main" id="{FFC49AEA-2A8F-250C-A86A-A7751D9706C3}"/>
              </a:ext>
            </a:extLst>
          </p:cNvPr>
          <p:cNvSpPr txBox="1"/>
          <p:nvPr/>
        </p:nvSpPr>
        <p:spPr>
          <a:xfrm>
            <a:off x="3914929" y="450147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4439786" y="4574764"/>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262" name="TextBox 261">
            <a:extLst>
              <a:ext uri="{FF2B5EF4-FFF2-40B4-BE49-F238E27FC236}">
                <a16:creationId xmlns:a16="http://schemas.microsoft.com/office/drawing/2014/main" id="{FFC49AEA-2A8F-250C-A86A-A7751D9706C3}"/>
              </a:ext>
            </a:extLst>
          </p:cNvPr>
          <p:cNvSpPr txBox="1"/>
          <p:nvPr/>
        </p:nvSpPr>
        <p:spPr>
          <a:xfrm>
            <a:off x="3914929" y="468525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4439786" y="4758544"/>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264" name="TextBox 263">
            <a:extLst>
              <a:ext uri="{FF2B5EF4-FFF2-40B4-BE49-F238E27FC236}">
                <a16:creationId xmlns:a16="http://schemas.microsoft.com/office/drawing/2014/main" id="{FFC49AEA-2A8F-250C-A86A-A7751D9706C3}"/>
              </a:ext>
            </a:extLst>
          </p:cNvPr>
          <p:cNvSpPr txBox="1"/>
          <p:nvPr/>
        </p:nvSpPr>
        <p:spPr>
          <a:xfrm>
            <a:off x="6041078" y="475854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65" name="직사각형 264"/>
          <p:cNvSpPr/>
          <p:nvPr/>
        </p:nvSpPr>
        <p:spPr>
          <a:xfrm>
            <a:off x="3839398" y="4919622"/>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6" name="TextBox 265">
            <a:extLst>
              <a:ext uri="{FF2B5EF4-FFF2-40B4-BE49-F238E27FC236}">
                <a16:creationId xmlns:a16="http://schemas.microsoft.com/office/drawing/2014/main" id="{FFC49AEA-2A8F-250C-A86A-A7751D9706C3}"/>
              </a:ext>
            </a:extLst>
          </p:cNvPr>
          <p:cNvSpPr txBox="1"/>
          <p:nvPr/>
        </p:nvSpPr>
        <p:spPr>
          <a:xfrm>
            <a:off x="3926461" y="49196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68" name="TextBox 267">
            <a:extLst>
              <a:ext uri="{FF2B5EF4-FFF2-40B4-BE49-F238E27FC236}">
                <a16:creationId xmlns:a16="http://schemas.microsoft.com/office/drawing/2014/main" id="{FFC49AEA-2A8F-250C-A86A-A7751D9706C3}"/>
              </a:ext>
            </a:extLst>
          </p:cNvPr>
          <p:cNvSpPr txBox="1"/>
          <p:nvPr/>
        </p:nvSpPr>
        <p:spPr>
          <a:xfrm>
            <a:off x="5654503" y="49196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9" name="직선 연결선 268">
            <a:extLst>
              <a:ext uri="{FF2B5EF4-FFF2-40B4-BE49-F238E27FC236}">
                <a16:creationId xmlns:a16="http://schemas.microsoft.com/office/drawing/2014/main" id="{E9293055-D5CD-4B9E-7F64-64B2D2CA7A52}"/>
              </a:ext>
            </a:extLst>
          </p:cNvPr>
          <p:cNvCxnSpPr/>
          <p:nvPr/>
        </p:nvCxnSpPr>
        <p:spPr>
          <a:xfrm>
            <a:off x="3836701" y="49196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38794" y="51343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8794" y="62923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6074873" y="49196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3940311" y="5183139"/>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 </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br>
              <a:rPr lang="ko-KR" altLang="en-US" dirty="0"/>
            </a:br>
            <a:r>
              <a:rPr lang="en-US" altLang="ko-KR" dirty="0"/>
              <a:t>- 7%</a:t>
            </a:r>
            <a:r>
              <a:rPr lang="ko-KR" altLang="en-US" dirty="0"/>
              <a:t>이상</a:t>
            </a:r>
            <a:br>
              <a:rPr lang="ko-KR" altLang="en-US" dirty="0"/>
            </a:br>
            <a:r>
              <a:rPr lang="en-US" altLang="ko-KR" dirty="0"/>
              <a:t>- 5%</a:t>
            </a:r>
            <a:r>
              <a:rPr lang="ko-KR" altLang="en-US" dirty="0"/>
              <a:t>이상 ∼ </a:t>
            </a:r>
            <a:r>
              <a:rPr lang="en-US" altLang="ko-KR" dirty="0"/>
              <a:t>7%</a:t>
            </a:r>
            <a:r>
              <a:rPr lang="ko-KR" altLang="en-US" dirty="0"/>
              <a:t>미만</a:t>
            </a:r>
            <a:br>
              <a:rPr lang="ko-KR" altLang="en-US" dirty="0"/>
            </a:br>
            <a:r>
              <a:rPr lang="en-US" altLang="ko-KR" dirty="0"/>
              <a:t>- 3%</a:t>
            </a:r>
            <a:r>
              <a:rPr lang="ko-KR" altLang="en-US" dirty="0"/>
              <a:t>이상 ∼ </a:t>
            </a:r>
            <a:r>
              <a:rPr lang="en-US" altLang="ko-KR" dirty="0"/>
              <a:t>5%</a:t>
            </a:r>
            <a:r>
              <a:rPr lang="ko-KR" altLang="en-US" dirty="0"/>
              <a:t>미만</a:t>
            </a:r>
            <a:br>
              <a:rPr lang="ko-KR" altLang="en-US" dirty="0"/>
            </a:br>
            <a:r>
              <a:rPr lang="en-US" altLang="ko-KR" dirty="0"/>
              <a:t>- 1%</a:t>
            </a:r>
            <a:r>
              <a:rPr lang="ko-KR" altLang="en-US" dirty="0"/>
              <a:t>이상 ∼ </a:t>
            </a:r>
            <a:r>
              <a:rPr lang="en-US" altLang="ko-KR" dirty="0"/>
              <a:t>3%</a:t>
            </a:r>
            <a:r>
              <a:rPr lang="ko-KR" altLang="en-US" dirty="0"/>
              <a:t>미만</a:t>
            </a:r>
            <a:br>
              <a:rPr lang="ko-KR" altLang="en-US" dirty="0"/>
            </a:br>
            <a:r>
              <a:rPr lang="en-US" altLang="ko-KR" dirty="0"/>
              <a:t>- 0.1%</a:t>
            </a:r>
            <a:r>
              <a:rPr lang="ko-KR" altLang="en-US" dirty="0"/>
              <a:t>이상 ∼ </a:t>
            </a:r>
            <a:r>
              <a:rPr lang="en-US" altLang="ko-KR" dirty="0"/>
              <a:t>1%</a:t>
            </a:r>
            <a:r>
              <a:rPr lang="ko-KR" altLang="en-US" dirty="0"/>
              <a:t>미만</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5692397" y="5721748"/>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6410927" y="565949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4" name="타원 10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5928899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3914929"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4929" y="16927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9786" y="1766046"/>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혁신형중소기업</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3914929" y="18765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4439786" y="1949826"/>
            <a:ext cx="2010812" cy="107722"/>
          </a:xfrm>
          <a:prstGeom prst="rect">
            <a:avLst/>
          </a:prstGeom>
          <a:noFill/>
        </p:spPr>
        <p:txBody>
          <a:bodyPr wrap="square" lIns="0" tIns="0" rIns="0" bIns="0" rtlCol="0">
            <a:spAutoFit/>
          </a:bodyPr>
          <a:lstStyle/>
          <a:p>
            <a:r>
              <a:rPr lang="ko-KR" altLang="en-US" sz="700" dirty="0">
                <a:latin typeface="+mn-ea"/>
              </a:rPr>
              <a:t>혁신형중소기업</a:t>
            </a:r>
          </a:p>
        </p:txBody>
      </p:sp>
      <p:sp>
        <p:nvSpPr>
          <p:cNvPr id="242" name="TextBox 241">
            <a:extLst>
              <a:ext uri="{FF2B5EF4-FFF2-40B4-BE49-F238E27FC236}">
                <a16:creationId xmlns:a16="http://schemas.microsoft.com/office/drawing/2014/main" id="{FFC49AEA-2A8F-250C-A86A-A7751D9706C3}"/>
              </a:ext>
            </a:extLst>
          </p:cNvPr>
          <p:cNvSpPr txBox="1"/>
          <p:nvPr/>
        </p:nvSpPr>
        <p:spPr>
          <a:xfrm>
            <a:off x="6041078" y="19498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cxnSp>
        <p:nvCxnSpPr>
          <p:cNvPr id="259" name="직선 연결선 258">
            <a:extLst>
              <a:ext uri="{FF2B5EF4-FFF2-40B4-BE49-F238E27FC236}">
                <a16:creationId xmlns:a16="http://schemas.microsoft.com/office/drawing/2014/main" id="{E9293055-D5CD-4B9E-7F64-64B2D2CA7A52}"/>
              </a:ext>
            </a:extLst>
          </p:cNvPr>
          <p:cNvCxnSpPr/>
          <p:nvPr/>
        </p:nvCxnSpPr>
        <p:spPr>
          <a:xfrm>
            <a:off x="675399" y="377455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0" name="TextBox 259">
            <a:extLst>
              <a:ext uri="{FF2B5EF4-FFF2-40B4-BE49-F238E27FC236}">
                <a16:creationId xmlns:a16="http://schemas.microsoft.com/office/drawing/2014/main" id="{FFC49AEA-2A8F-250C-A86A-A7751D9706C3}"/>
              </a:ext>
            </a:extLst>
          </p:cNvPr>
          <p:cNvSpPr txBox="1"/>
          <p:nvPr/>
        </p:nvSpPr>
        <p:spPr>
          <a:xfrm>
            <a:off x="794594" y="149373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1319451" y="1567027"/>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794594" y="167751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1319451" y="1750807"/>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264" name="TextBox 263">
            <a:extLst>
              <a:ext uri="{FF2B5EF4-FFF2-40B4-BE49-F238E27FC236}">
                <a16:creationId xmlns:a16="http://schemas.microsoft.com/office/drawing/2014/main" id="{FFC49AEA-2A8F-250C-A86A-A7751D9706C3}"/>
              </a:ext>
            </a:extLst>
          </p:cNvPr>
          <p:cNvSpPr txBox="1"/>
          <p:nvPr/>
        </p:nvSpPr>
        <p:spPr>
          <a:xfrm>
            <a:off x="2920743" y="175080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265" name="직사각형 264"/>
          <p:cNvSpPr/>
          <p:nvPr/>
        </p:nvSpPr>
        <p:spPr>
          <a:xfrm>
            <a:off x="719063" y="1911885"/>
            <a:ext cx="1639886" cy="180356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6" name="TextBox 265">
            <a:extLst>
              <a:ext uri="{FF2B5EF4-FFF2-40B4-BE49-F238E27FC236}">
                <a16:creationId xmlns:a16="http://schemas.microsoft.com/office/drawing/2014/main" id="{FFC49AEA-2A8F-250C-A86A-A7751D9706C3}"/>
              </a:ext>
            </a:extLst>
          </p:cNvPr>
          <p:cNvSpPr txBox="1"/>
          <p:nvPr/>
        </p:nvSpPr>
        <p:spPr>
          <a:xfrm>
            <a:off x="806126" y="191188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68" name="TextBox 267">
            <a:extLst>
              <a:ext uri="{FF2B5EF4-FFF2-40B4-BE49-F238E27FC236}">
                <a16:creationId xmlns:a16="http://schemas.microsoft.com/office/drawing/2014/main" id="{FFC49AEA-2A8F-250C-A86A-A7751D9706C3}"/>
              </a:ext>
            </a:extLst>
          </p:cNvPr>
          <p:cNvSpPr txBox="1"/>
          <p:nvPr/>
        </p:nvSpPr>
        <p:spPr>
          <a:xfrm>
            <a:off x="2534168" y="191188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9" name="직선 연결선 268">
            <a:extLst>
              <a:ext uri="{FF2B5EF4-FFF2-40B4-BE49-F238E27FC236}">
                <a16:creationId xmlns:a16="http://schemas.microsoft.com/office/drawing/2014/main" id="{E9293055-D5CD-4B9E-7F64-64B2D2CA7A52}"/>
              </a:ext>
            </a:extLst>
          </p:cNvPr>
          <p:cNvCxnSpPr/>
          <p:nvPr/>
        </p:nvCxnSpPr>
        <p:spPr>
          <a:xfrm>
            <a:off x="716366" y="191188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718459" y="212662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1" name="직선 연결선 270">
            <a:extLst>
              <a:ext uri="{FF2B5EF4-FFF2-40B4-BE49-F238E27FC236}">
                <a16:creationId xmlns:a16="http://schemas.microsoft.com/office/drawing/2014/main" id="{E9293055-D5CD-4B9E-7F64-64B2D2CA7A52}"/>
              </a:ext>
            </a:extLst>
          </p:cNvPr>
          <p:cNvCxnSpPr/>
          <p:nvPr/>
        </p:nvCxnSpPr>
        <p:spPr>
          <a:xfrm>
            <a:off x="718459" y="37154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2954538" y="19118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819976" y="2167013"/>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2572062" y="2786400"/>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3290592" y="28671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819976" y="2786400"/>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819976" y="297490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819976" y="327112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1</a:t>
            </a:r>
            <a:r>
              <a:rPr lang="ko-KR" altLang="en-US" dirty="0"/>
              <a:t>년 미만인 경우</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819976" y="356734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미만인 경우</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2572062" y="302876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110" name="TextBox 109">
            <a:extLst>
              <a:ext uri="{FF2B5EF4-FFF2-40B4-BE49-F238E27FC236}">
                <a16:creationId xmlns:a16="http://schemas.microsoft.com/office/drawing/2014/main" id="{FFC49AEA-2A8F-250C-A86A-A7751D9706C3}"/>
              </a:ext>
            </a:extLst>
          </p:cNvPr>
          <p:cNvSpPr txBox="1"/>
          <p:nvPr/>
        </p:nvSpPr>
        <p:spPr>
          <a:xfrm>
            <a:off x="2572062" y="3324983"/>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2572062" y="356734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27460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8459" y="29345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18459" y="323073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18459" y="35269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직사각형 115"/>
          <p:cNvSpPr/>
          <p:nvPr/>
        </p:nvSpPr>
        <p:spPr>
          <a:xfrm>
            <a:off x="3835134" y="2105659"/>
            <a:ext cx="1639886" cy="10398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TextBox 116">
            <a:extLst>
              <a:ext uri="{FF2B5EF4-FFF2-40B4-BE49-F238E27FC236}">
                <a16:creationId xmlns:a16="http://schemas.microsoft.com/office/drawing/2014/main" id="{FFC49AEA-2A8F-250C-A86A-A7751D9706C3}"/>
              </a:ext>
            </a:extLst>
          </p:cNvPr>
          <p:cNvSpPr txBox="1"/>
          <p:nvPr/>
        </p:nvSpPr>
        <p:spPr>
          <a:xfrm>
            <a:off x="3922197" y="210566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5650239" y="210566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832437" y="210565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3834530" y="23203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3834530" y="31551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6070609" y="210566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3936047" y="236874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중소기업청장</a:t>
            </a:r>
            <a:r>
              <a:rPr lang="en-US" altLang="ko-KR" dirty="0"/>
              <a:t>(</a:t>
            </a:r>
            <a:r>
              <a:rPr lang="ko-KR" altLang="en-US" dirty="0"/>
              <a:t>또는 </a:t>
            </a:r>
            <a:r>
              <a:rPr lang="ko-KR" altLang="en-US" dirty="0" err="1"/>
              <a:t>위임받은자</a:t>
            </a:r>
            <a:r>
              <a:rPr lang="en-US" altLang="ko-KR" dirty="0"/>
              <a:t>)</a:t>
            </a:r>
            <a:r>
              <a:rPr lang="ko-KR" altLang="en-US" dirty="0"/>
              <a:t>에 의해 ‘</a:t>
            </a:r>
            <a:r>
              <a:rPr lang="ko-KR" altLang="en-US" dirty="0" err="1"/>
              <a:t>기술혁신형</a:t>
            </a:r>
            <a:r>
              <a:rPr lang="ko-KR" altLang="en-US" dirty="0"/>
              <a:t> 중소기업</a:t>
            </a:r>
            <a:r>
              <a:rPr lang="en-US" altLang="ko-KR" dirty="0"/>
              <a:t>(INNO-BIZ)’</a:t>
            </a:r>
            <a:r>
              <a:rPr lang="ko-KR" altLang="en-US" dirty="0"/>
              <a:t>으로 지정 </a:t>
            </a:r>
            <a:r>
              <a:rPr lang="ko-KR" altLang="en-US" dirty="0" err="1"/>
              <a:t>받은자</a:t>
            </a:r>
            <a:endParaRPr lang="ko-KR" altLang="en-US" dirty="0"/>
          </a:p>
        </p:txBody>
      </p:sp>
      <p:sp>
        <p:nvSpPr>
          <p:cNvPr id="125" name="TextBox 124">
            <a:extLst>
              <a:ext uri="{FF2B5EF4-FFF2-40B4-BE49-F238E27FC236}">
                <a16:creationId xmlns:a16="http://schemas.microsoft.com/office/drawing/2014/main" id="{FFC49AEA-2A8F-250C-A86A-A7751D9706C3}"/>
              </a:ext>
            </a:extLst>
          </p:cNvPr>
          <p:cNvSpPr txBox="1"/>
          <p:nvPr/>
        </p:nvSpPr>
        <p:spPr>
          <a:xfrm>
            <a:off x="6406663" y="268389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5725003" y="279783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3936047" y="27978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err="1"/>
              <a:t>혁신형기업이면서</a:t>
            </a:r>
            <a:r>
              <a:rPr lang="ko-KR" altLang="en-US" dirty="0"/>
              <a:t> 제조기업</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3936047" y="29863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err="1"/>
              <a:t>혁신형기업</a:t>
            </a:r>
            <a:endParaRPr lang="ko-KR" altLang="en-US" dirty="0"/>
          </a:p>
        </p:txBody>
      </p:sp>
      <p:sp>
        <p:nvSpPr>
          <p:cNvPr id="129" name="TextBox 128">
            <a:extLst>
              <a:ext uri="{FF2B5EF4-FFF2-40B4-BE49-F238E27FC236}">
                <a16:creationId xmlns:a16="http://schemas.microsoft.com/office/drawing/2014/main" id="{FFC49AEA-2A8F-250C-A86A-A7751D9706C3}"/>
              </a:ext>
            </a:extLst>
          </p:cNvPr>
          <p:cNvSpPr txBox="1"/>
          <p:nvPr/>
        </p:nvSpPr>
        <p:spPr>
          <a:xfrm>
            <a:off x="5725002" y="2986332"/>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34530" y="27574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3834530" y="29459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5725002" y="403176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3914929" y="319420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4439786" y="326748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노사협력우수</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3914929" y="337798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4439786" y="3451268"/>
            <a:ext cx="2010812" cy="107722"/>
          </a:xfrm>
          <a:prstGeom prst="rect">
            <a:avLst/>
          </a:prstGeom>
          <a:noFill/>
        </p:spPr>
        <p:txBody>
          <a:bodyPr wrap="square" lIns="0" tIns="0" rIns="0" bIns="0" rtlCol="0">
            <a:spAutoFit/>
          </a:bodyPr>
          <a:lstStyle/>
          <a:p>
            <a:r>
              <a:rPr lang="ko-KR" altLang="en-US" sz="700" dirty="0">
                <a:latin typeface="+mn-ea"/>
              </a:rPr>
              <a:t>노사협력우수</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6041078" y="345126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39" name="직사각형 138"/>
          <p:cNvSpPr/>
          <p:nvPr/>
        </p:nvSpPr>
        <p:spPr>
          <a:xfrm>
            <a:off x="3835134" y="3607101"/>
            <a:ext cx="1639886" cy="7491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3922197" y="360710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5650239" y="360710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2437" y="360710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3834530" y="3821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3834530" y="43563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TextBox 155">
            <a:extLst>
              <a:ext uri="{FF2B5EF4-FFF2-40B4-BE49-F238E27FC236}">
                <a16:creationId xmlns:a16="http://schemas.microsoft.com/office/drawing/2014/main" id="{FFC49AEA-2A8F-250C-A86A-A7751D9706C3}"/>
              </a:ext>
            </a:extLst>
          </p:cNvPr>
          <p:cNvSpPr txBox="1"/>
          <p:nvPr/>
        </p:nvSpPr>
        <p:spPr>
          <a:xfrm>
            <a:off x="6070609" y="360710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3936047" y="3870186"/>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br>
              <a:rPr lang="en-US" altLang="ko-KR" dirty="0"/>
            </a:br>
            <a:r>
              <a:rPr lang="en-US" altLang="ko-KR" dirty="0"/>
              <a:t>* </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6406663" y="40317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5725002" y="512427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3914929" y="439442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4439786" y="4467717"/>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비상대비</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3914929" y="457820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4439786" y="4651497"/>
            <a:ext cx="2010812" cy="107722"/>
          </a:xfrm>
          <a:prstGeom prst="rect">
            <a:avLst/>
          </a:prstGeom>
          <a:noFill/>
        </p:spPr>
        <p:txBody>
          <a:bodyPr wrap="square" lIns="0" tIns="0" rIns="0" bIns="0" rtlCol="0">
            <a:spAutoFit/>
          </a:bodyPr>
          <a:lstStyle/>
          <a:p>
            <a:r>
              <a:rPr lang="ko-KR" altLang="en-US" sz="700" dirty="0">
                <a:latin typeface="+mn-ea"/>
              </a:rPr>
              <a:t>비상대비중점관리</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6041078" y="465149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86" name="직사각형 185"/>
          <p:cNvSpPr/>
          <p:nvPr/>
        </p:nvSpPr>
        <p:spPr>
          <a:xfrm>
            <a:off x="3835134" y="4807331"/>
            <a:ext cx="1639886" cy="5157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22197" y="480733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1" name="TextBox 190">
            <a:extLst>
              <a:ext uri="{FF2B5EF4-FFF2-40B4-BE49-F238E27FC236}">
                <a16:creationId xmlns:a16="http://schemas.microsoft.com/office/drawing/2014/main" id="{FFC49AEA-2A8F-250C-A86A-A7751D9706C3}"/>
              </a:ext>
            </a:extLst>
          </p:cNvPr>
          <p:cNvSpPr txBox="1"/>
          <p:nvPr/>
        </p:nvSpPr>
        <p:spPr>
          <a:xfrm>
            <a:off x="5650239" y="480733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2437" y="48073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4530" y="50220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34530" y="532869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6070609" y="480733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36047" y="507041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국민안전처장관이 확인한 비상대비 중점관리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6406663" y="51242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99" name="타원 98">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9116607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2608931" y="227486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798858"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1323715" y="1564445"/>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장애인기업</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98858"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1323715" y="1748225"/>
            <a:ext cx="2010812" cy="107722"/>
          </a:xfrm>
          <a:prstGeom prst="rect">
            <a:avLst/>
          </a:prstGeom>
          <a:noFill/>
        </p:spPr>
        <p:txBody>
          <a:bodyPr wrap="square" lIns="0" tIns="0" rIns="0" bIns="0" rtlCol="0">
            <a:spAutoFit/>
          </a:bodyPr>
          <a:lstStyle/>
          <a:p>
            <a:r>
              <a:rPr lang="ko-KR" altLang="en-US" sz="700" dirty="0">
                <a:latin typeface="+mn-ea"/>
              </a:rPr>
              <a:t>장애인기업지원</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925007"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39" name="직사각형 138"/>
          <p:cNvSpPr/>
          <p:nvPr/>
        </p:nvSpPr>
        <p:spPr>
          <a:xfrm>
            <a:off x="719063" y="1904058"/>
            <a:ext cx="1639886" cy="10808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806126" y="190405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2534168" y="190405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16366" y="19040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8459" y="21187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29876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TextBox 155">
            <a:extLst>
              <a:ext uri="{FF2B5EF4-FFF2-40B4-BE49-F238E27FC236}">
                <a16:creationId xmlns:a16="http://schemas.microsoft.com/office/drawing/2014/main" id="{FFC49AEA-2A8F-250C-A86A-A7751D9706C3}"/>
              </a:ext>
            </a:extLst>
          </p:cNvPr>
          <p:cNvSpPr txBox="1"/>
          <p:nvPr/>
        </p:nvSpPr>
        <p:spPr>
          <a:xfrm>
            <a:off x="2954538" y="190405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819976" y="216714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장애인고용촉진 및 </a:t>
            </a:r>
            <a:r>
              <a:rPr lang="ko-KR" altLang="en-US" dirty="0" err="1"/>
              <a:t>직업재활법</a:t>
            </a:r>
            <a:r>
              <a:rPr lang="ko-KR" altLang="en-US" dirty="0"/>
              <a:t> 제</a:t>
            </a:r>
            <a:r>
              <a:rPr lang="en-US" altLang="ko-KR" dirty="0"/>
              <a:t>24</a:t>
            </a:r>
            <a:r>
              <a:rPr lang="ko-KR" altLang="en-US" dirty="0"/>
              <a:t>조에 따른 장애인 고용우수사업주 또는 장애인 표준사업장</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3290592" y="249935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819976" y="260079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중소기업청장이 확인한 장애인기업</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8459" y="253872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2" name="TextBox 101">
            <a:extLst>
              <a:ext uri="{FF2B5EF4-FFF2-40B4-BE49-F238E27FC236}">
                <a16:creationId xmlns:a16="http://schemas.microsoft.com/office/drawing/2014/main" id="{FFC49AEA-2A8F-250C-A86A-A7751D9706C3}"/>
              </a:ext>
            </a:extLst>
          </p:cNvPr>
          <p:cNvSpPr txBox="1"/>
          <p:nvPr/>
        </p:nvSpPr>
        <p:spPr>
          <a:xfrm>
            <a:off x="2608931" y="270851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608931" y="3811517"/>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798858" y="302781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23715" y="3101098"/>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가족친화</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798858" y="321159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1323715" y="3284878"/>
            <a:ext cx="2010812" cy="107722"/>
          </a:xfrm>
          <a:prstGeom prst="rect">
            <a:avLst/>
          </a:prstGeom>
          <a:noFill/>
        </p:spPr>
        <p:txBody>
          <a:bodyPr wrap="square" lIns="0" tIns="0" rIns="0" bIns="0" rtlCol="0">
            <a:spAutoFit/>
          </a:bodyPr>
          <a:lstStyle/>
          <a:p>
            <a:r>
              <a:rPr lang="ko-KR" altLang="en-US" sz="700" dirty="0">
                <a:latin typeface="+mn-ea"/>
              </a:rPr>
              <a:t>가족친화인증</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925007" y="328487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46" name="직사각형 145"/>
          <p:cNvSpPr/>
          <p:nvPr/>
        </p:nvSpPr>
        <p:spPr>
          <a:xfrm>
            <a:off x="719063" y="3440711"/>
            <a:ext cx="1639886" cy="6319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26" y="344071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2534168" y="344071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9" name="직선 연결선 148">
            <a:extLst>
              <a:ext uri="{FF2B5EF4-FFF2-40B4-BE49-F238E27FC236}">
                <a16:creationId xmlns:a16="http://schemas.microsoft.com/office/drawing/2014/main" id="{E9293055-D5CD-4B9E-7F64-64B2D2CA7A52}"/>
              </a:ext>
            </a:extLst>
          </p:cNvPr>
          <p:cNvCxnSpPr/>
          <p:nvPr/>
        </p:nvCxnSpPr>
        <p:spPr>
          <a:xfrm>
            <a:off x="716366" y="34407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8459" y="36554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8459" y="40754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2" name="TextBox 151">
            <a:extLst>
              <a:ext uri="{FF2B5EF4-FFF2-40B4-BE49-F238E27FC236}">
                <a16:creationId xmlns:a16="http://schemas.microsoft.com/office/drawing/2014/main" id="{FFC49AEA-2A8F-250C-A86A-A7751D9706C3}"/>
              </a:ext>
            </a:extLst>
          </p:cNvPr>
          <p:cNvSpPr txBox="1"/>
          <p:nvPr/>
        </p:nvSpPr>
        <p:spPr>
          <a:xfrm>
            <a:off x="2954538" y="344071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819976" y="3703796"/>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90592" y="38115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2608931" y="4843290"/>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798858" y="411344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323715" y="4186731"/>
            <a:ext cx="2010812" cy="107722"/>
          </a:xfrm>
          <a:prstGeom prst="rect">
            <a:avLst/>
          </a:prstGeom>
          <a:noFill/>
        </p:spPr>
        <p:txBody>
          <a:bodyPr wrap="square" lIns="0" tIns="0" rIns="0" bIns="0" rtlCol="0">
            <a:spAutoFit/>
          </a:bodyPr>
          <a:lstStyle/>
          <a:p>
            <a:r>
              <a:rPr lang="en-US" altLang="ko-KR" sz="700" dirty="0">
                <a:latin typeface="+mn-ea"/>
              </a:rPr>
              <a:t>6.</a:t>
            </a:r>
            <a:r>
              <a:rPr lang="ko-KR" altLang="en-US" sz="700" dirty="0">
                <a:latin typeface="+mn-ea"/>
              </a:rPr>
              <a:t>고용창출</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798858" y="429722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1323715" y="4370511"/>
            <a:ext cx="2010812" cy="107722"/>
          </a:xfrm>
          <a:prstGeom prst="rect">
            <a:avLst/>
          </a:prstGeom>
          <a:noFill/>
        </p:spPr>
        <p:txBody>
          <a:bodyPr wrap="square" lIns="0" tIns="0" rIns="0" bIns="0" rtlCol="0">
            <a:spAutoFit/>
          </a:bodyPr>
          <a:lstStyle/>
          <a:p>
            <a:r>
              <a:rPr lang="ko-KR" altLang="en-US" sz="700" dirty="0">
                <a:latin typeface="+mn-ea"/>
              </a:rPr>
              <a:t>고용창출 우수</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2925007" y="43705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71" name="직사각형 170"/>
          <p:cNvSpPr/>
          <p:nvPr/>
        </p:nvSpPr>
        <p:spPr>
          <a:xfrm>
            <a:off x="719063" y="4526344"/>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TextBox 172">
            <a:extLst>
              <a:ext uri="{FF2B5EF4-FFF2-40B4-BE49-F238E27FC236}">
                <a16:creationId xmlns:a16="http://schemas.microsoft.com/office/drawing/2014/main" id="{FFC49AEA-2A8F-250C-A86A-A7751D9706C3}"/>
              </a:ext>
            </a:extLst>
          </p:cNvPr>
          <p:cNvSpPr txBox="1"/>
          <p:nvPr/>
        </p:nvSpPr>
        <p:spPr>
          <a:xfrm>
            <a:off x="806126" y="452634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2534168" y="452634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716366" y="45263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8459" y="47410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18459" y="50518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2954538" y="452634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819976" y="478942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3290592" y="484329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798858" y="509701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1323715" y="5170302"/>
            <a:ext cx="2010812" cy="107722"/>
          </a:xfrm>
          <a:prstGeom prst="rect">
            <a:avLst/>
          </a:prstGeom>
          <a:noFill/>
        </p:spPr>
        <p:txBody>
          <a:bodyPr wrap="square" lIns="0" tIns="0" rIns="0" bIns="0" rtlCol="0">
            <a:spAutoFit/>
          </a:bodyPr>
          <a:lstStyle/>
          <a:p>
            <a:r>
              <a:rPr lang="en-US" altLang="ko-KR" sz="700" dirty="0">
                <a:latin typeface="+mn-ea"/>
              </a:rPr>
              <a:t>7.</a:t>
            </a:r>
            <a:r>
              <a:rPr lang="ko-KR" altLang="en-US" sz="700" dirty="0">
                <a:latin typeface="+mn-ea"/>
              </a:rPr>
              <a:t>여성기업지원 등</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798858" y="528079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323715" y="5354082"/>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925007" y="535408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90" name="직사각형 189"/>
          <p:cNvSpPr/>
          <p:nvPr/>
        </p:nvSpPr>
        <p:spPr>
          <a:xfrm>
            <a:off x="3839398" y="151162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26461" y="15116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54503" y="15116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836701" y="15116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8794" y="17263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8794" y="28843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6074873" y="15116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3940311" y="1773489"/>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「여성기업지원에 관한 </a:t>
            </a:r>
            <a:r>
              <a:rPr lang="ko-KR" altLang="en-US" dirty="0" err="1"/>
              <a:t>법률」에서</a:t>
            </a:r>
            <a:r>
              <a:rPr lang="ko-KR" altLang="en-US" dirty="0"/>
              <a:t> 정한 기업으로서 중소기업청장</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br>
              <a:rPr lang="ko-KR" altLang="en-US" dirty="0"/>
            </a:br>
            <a:r>
              <a:rPr lang="en-US" altLang="ko-KR" dirty="0"/>
              <a:t>- 10</a:t>
            </a:r>
            <a:r>
              <a:rPr lang="ko-KR" altLang="en-US" dirty="0"/>
              <a:t>년 이상</a:t>
            </a:r>
          </a:p>
          <a:p>
            <a:r>
              <a:rPr lang="en-US" altLang="ko-KR" dirty="0"/>
              <a:t>- 5</a:t>
            </a:r>
            <a:r>
              <a:rPr lang="ko-KR" altLang="en-US" dirty="0"/>
              <a:t>년 이상 </a:t>
            </a:r>
            <a:r>
              <a:rPr lang="en-US" altLang="ko-KR" dirty="0"/>
              <a:t>~ 10</a:t>
            </a:r>
            <a:r>
              <a:rPr lang="ko-KR" altLang="en-US" dirty="0"/>
              <a:t>년 미만</a:t>
            </a:r>
          </a:p>
          <a:p>
            <a:r>
              <a:rPr lang="en-US" altLang="ko-KR" dirty="0"/>
              <a:t>- 5</a:t>
            </a:r>
            <a:r>
              <a:rPr lang="ko-KR" altLang="en-US" dirty="0"/>
              <a:t>년 미만</a:t>
            </a:r>
          </a:p>
        </p:txBody>
      </p:sp>
      <p:sp>
        <p:nvSpPr>
          <p:cNvPr id="205" name="TextBox 204">
            <a:extLst>
              <a:ext uri="{FF2B5EF4-FFF2-40B4-BE49-F238E27FC236}">
                <a16:creationId xmlns:a16="http://schemas.microsoft.com/office/drawing/2014/main" id="{FFC49AEA-2A8F-250C-A86A-A7751D9706C3}"/>
              </a:ext>
            </a:extLst>
          </p:cNvPr>
          <p:cNvSpPr txBox="1"/>
          <p:nvPr/>
        </p:nvSpPr>
        <p:spPr>
          <a:xfrm>
            <a:off x="5673482" y="2204377"/>
            <a:ext cx="174407"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br>
              <a:rPr lang="en-US" altLang="ko-KR" dirty="0"/>
            </a:br>
            <a:r>
              <a:rPr lang="en-US" altLang="ko-KR" dirty="0"/>
              <a:t>0.35</a:t>
            </a:r>
            <a:br>
              <a:rPr lang="en-US" altLang="ko-KR" dirty="0"/>
            </a:br>
            <a:r>
              <a:rPr lang="en-US" altLang="ko-KR" dirty="0"/>
              <a:t>0.30</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6410927" y="22515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40311" y="262179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cxnSp>
        <p:nvCxnSpPr>
          <p:cNvPr id="209" name="직선 연결선 208">
            <a:extLst>
              <a:ext uri="{FF2B5EF4-FFF2-40B4-BE49-F238E27FC236}">
                <a16:creationId xmlns:a16="http://schemas.microsoft.com/office/drawing/2014/main" id="{E9293055-D5CD-4B9E-7F64-64B2D2CA7A52}"/>
              </a:ext>
            </a:extLst>
          </p:cNvPr>
          <p:cNvCxnSpPr/>
          <p:nvPr/>
        </p:nvCxnSpPr>
        <p:spPr>
          <a:xfrm>
            <a:off x="3834530" y="257466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0" name="TextBox 209">
            <a:extLst>
              <a:ext uri="{FF2B5EF4-FFF2-40B4-BE49-F238E27FC236}">
                <a16:creationId xmlns:a16="http://schemas.microsoft.com/office/drawing/2014/main" id="{FFC49AEA-2A8F-250C-A86A-A7751D9706C3}"/>
              </a:ext>
            </a:extLst>
          </p:cNvPr>
          <p:cNvSpPr txBox="1"/>
          <p:nvPr/>
        </p:nvSpPr>
        <p:spPr>
          <a:xfrm>
            <a:off x="5729267" y="267565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29266" y="365252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193" y="292268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4444050" y="2995970"/>
            <a:ext cx="2010812" cy="107722"/>
          </a:xfrm>
          <a:prstGeom prst="rect">
            <a:avLst/>
          </a:prstGeom>
          <a:noFill/>
        </p:spPr>
        <p:txBody>
          <a:bodyPr wrap="square" lIns="0" tIns="0" rIns="0" bIns="0" rtlCol="0">
            <a:spAutoFit/>
          </a:bodyPr>
          <a:lstStyle/>
          <a:p>
            <a:r>
              <a:rPr lang="en-US" altLang="ko-KR" sz="700" dirty="0">
                <a:latin typeface="+mn-ea"/>
              </a:rPr>
              <a:t>8.</a:t>
            </a:r>
            <a:r>
              <a:rPr lang="ko-KR" altLang="en-US" sz="700" dirty="0" err="1">
                <a:latin typeface="+mn-ea"/>
              </a:rPr>
              <a:t>사회적기업</a:t>
            </a:r>
            <a:endParaRPr lang="ko-KR" altLang="en-US" sz="700" dirty="0">
              <a:latin typeface="+mn-ea"/>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3919193" y="31064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4444050" y="3179750"/>
            <a:ext cx="2010812" cy="107722"/>
          </a:xfrm>
          <a:prstGeom prst="rect">
            <a:avLst/>
          </a:prstGeom>
          <a:noFill/>
        </p:spPr>
        <p:txBody>
          <a:bodyPr wrap="square" lIns="0" tIns="0" rIns="0" bIns="0" rtlCol="0">
            <a:spAutoFit/>
          </a:bodyPr>
          <a:lstStyle/>
          <a:p>
            <a:r>
              <a:rPr lang="ko-KR" altLang="en-US" sz="700" dirty="0">
                <a:latin typeface="+mn-ea"/>
              </a:rPr>
              <a:t>사회적기업여부</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6045342" y="317975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18" name="직사각형 217"/>
          <p:cNvSpPr/>
          <p:nvPr/>
        </p:nvSpPr>
        <p:spPr>
          <a:xfrm>
            <a:off x="3839398" y="3335583"/>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9" name="TextBox 218">
            <a:extLst>
              <a:ext uri="{FF2B5EF4-FFF2-40B4-BE49-F238E27FC236}">
                <a16:creationId xmlns:a16="http://schemas.microsoft.com/office/drawing/2014/main" id="{FFC49AEA-2A8F-250C-A86A-A7751D9706C3}"/>
              </a:ext>
            </a:extLst>
          </p:cNvPr>
          <p:cNvSpPr txBox="1"/>
          <p:nvPr/>
        </p:nvSpPr>
        <p:spPr>
          <a:xfrm>
            <a:off x="3926461" y="333558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5654503" y="333558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6701" y="333558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3838794" y="3550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8794" y="38611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6074873" y="333558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3940311" y="35986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a:t>
            </a:r>
            <a:r>
              <a:rPr lang="ko-KR" altLang="en-US" dirty="0" err="1"/>
              <a:t>사회적기업</a:t>
            </a:r>
            <a:r>
              <a:rPr lang="ko-KR" altLang="en-US" dirty="0"/>
              <a:t> </a:t>
            </a:r>
            <a:r>
              <a:rPr lang="ko-KR" altLang="en-US" dirty="0" err="1"/>
              <a:t>육성법」제</a:t>
            </a:r>
            <a:r>
              <a:rPr lang="en-US" altLang="ko-KR" dirty="0"/>
              <a:t>7</a:t>
            </a:r>
            <a:r>
              <a:rPr lang="ko-KR" altLang="en-US" dirty="0"/>
              <a:t>조에 따른 고용노동부장관의 인증을 받은 기업</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6410927" y="36525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5679573" y="4635601"/>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3919193" y="39057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4444050" y="3979042"/>
            <a:ext cx="2010812" cy="107722"/>
          </a:xfrm>
          <a:prstGeom prst="rect">
            <a:avLst/>
          </a:prstGeom>
          <a:noFill/>
        </p:spPr>
        <p:txBody>
          <a:bodyPr wrap="square" lIns="0" tIns="0" rIns="0" bIns="0" rtlCol="0">
            <a:spAutoFit/>
          </a:bodyPr>
          <a:lstStyle/>
          <a:p>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19193" y="408953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4444050" y="4162822"/>
            <a:ext cx="2010812" cy="107722"/>
          </a:xfrm>
          <a:prstGeom prst="rect">
            <a:avLst/>
          </a:prstGeom>
          <a:noFill/>
        </p:spPr>
        <p:txBody>
          <a:bodyPr wrap="square" lIns="0" tIns="0" rIns="0" bIns="0" rtlCol="0">
            <a:spAutoFit/>
          </a:bodyPr>
          <a:lstStyle/>
          <a:p>
            <a:r>
              <a:rPr lang="ko-KR" altLang="en-US" sz="700" dirty="0">
                <a:latin typeface="+mn-ea"/>
              </a:rPr>
              <a:t>모범납세여부</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6045342" y="416282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233" name="직사각형 232"/>
          <p:cNvSpPr/>
          <p:nvPr/>
        </p:nvSpPr>
        <p:spPr>
          <a:xfrm>
            <a:off x="3839398" y="4318655"/>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4" name="TextBox 233">
            <a:extLst>
              <a:ext uri="{FF2B5EF4-FFF2-40B4-BE49-F238E27FC236}">
                <a16:creationId xmlns:a16="http://schemas.microsoft.com/office/drawing/2014/main" id="{FFC49AEA-2A8F-250C-A86A-A7751D9706C3}"/>
              </a:ext>
            </a:extLst>
          </p:cNvPr>
          <p:cNvSpPr txBox="1"/>
          <p:nvPr/>
        </p:nvSpPr>
        <p:spPr>
          <a:xfrm>
            <a:off x="3926461" y="431865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5654503" y="431865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3836701" y="43186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3838794" y="45333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8794" y="48441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6074873" y="431865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6" name="TextBox 245">
            <a:extLst>
              <a:ext uri="{FF2B5EF4-FFF2-40B4-BE49-F238E27FC236}">
                <a16:creationId xmlns:a16="http://schemas.microsoft.com/office/drawing/2014/main" id="{FFC49AEA-2A8F-250C-A86A-A7751D9706C3}"/>
              </a:ext>
            </a:extLst>
          </p:cNvPr>
          <p:cNvSpPr txBox="1"/>
          <p:nvPr/>
        </p:nvSpPr>
        <p:spPr>
          <a:xfrm>
            <a:off x="3940311" y="458174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「모범납세자관리규정</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조제</a:t>
            </a:r>
            <a:r>
              <a:rPr lang="en-US" altLang="ko-KR" dirty="0"/>
              <a:t>3</a:t>
            </a:r>
            <a:r>
              <a:rPr lang="ko-KR" altLang="en-US" dirty="0" err="1"/>
              <a:t>호제</a:t>
            </a:r>
            <a:r>
              <a:rPr lang="en-US" altLang="ko-KR" dirty="0"/>
              <a:t>1</a:t>
            </a:r>
            <a:r>
              <a:rPr lang="ko-KR" altLang="en-US" dirty="0"/>
              <a:t>항에 따른 모범납세자</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6410927" y="46356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7" name="타원 116">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98603640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302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061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mnftrAbltExmgrdScr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기술실적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경영상태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3235382"/>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3519136"/>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계약목적물과 동등이상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동등이상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계약목적물과 유사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유사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4519645"/>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803399"/>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인력 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인력 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535884"/>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경영상태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819638"/>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bl>
          </a:graphicData>
        </a:graphic>
      </p:graphicFrame>
      <p:sp>
        <p:nvSpPr>
          <p:cNvPr id="12" name="TextBox 11">
            <a:extLst>
              <a:ext uri="{FF2B5EF4-FFF2-40B4-BE49-F238E27FC236}">
                <a16:creationId xmlns:a16="http://schemas.microsoft.com/office/drawing/2014/main" id="{6557AFCF-AAE9-EBCD-10AB-872B47199BD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3" name="Text Box 73">
            <a:extLst>
              <a:ext uri="{FF2B5EF4-FFF2-40B4-BE49-F238E27FC236}">
                <a16:creationId xmlns:a16="http://schemas.microsoft.com/office/drawing/2014/main" id="{5DC6C708-EC77-3074-2A82-11DA3D8CA6D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56515153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303</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bl>
          </a:graphicData>
        </a:graphic>
      </p:graphicFrame>
      <p:sp>
        <p:nvSpPr>
          <p:cNvPr id="12" name="TextBox 11">
            <a:extLst>
              <a:ext uri="{FF2B5EF4-FFF2-40B4-BE49-F238E27FC236}">
                <a16:creationId xmlns:a16="http://schemas.microsoft.com/office/drawing/2014/main" id="{322DF05B-6D0C-3FA4-2092-E4209AB31AA4}"/>
              </a:ext>
            </a:extLst>
          </p:cNvPr>
          <p:cNvSpPr txBox="1"/>
          <p:nvPr/>
        </p:nvSpPr>
        <p:spPr>
          <a:xfrm>
            <a:off x="460676" y="2162118"/>
            <a:ext cx="253972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물품 품질정도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DF8D73E-3442-E04C-7824-D8896B9FBE6E}"/>
              </a:ext>
            </a:extLst>
          </p:cNvPr>
          <p:cNvGraphicFramePr>
            <a:graphicFrameLocks noGrp="1"/>
          </p:cNvGraphicFramePr>
          <p:nvPr/>
        </p:nvGraphicFramePr>
        <p:xfrm>
          <a:off x="455558" y="2445872"/>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환경관리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17" name="TextBox 16">
            <a:extLst>
              <a:ext uri="{FF2B5EF4-FFF2-40B4-BE49-F238E27FC236}">
                <a16:creationId xmlns:a16="http://schemas.microsoft.com/office/drawing/2014/main" id="{B02A9D14-C2EA-FF08-7FA2-7489FB32FDFD}"/>
              </a:ext>
            </a:extLst>
          </p:cNvPr>
          <p:cNvSpPr txBox="1"/>
          <p:nvPr/>
        </p:nvSpPr>
        <p:spPr>
          <a:xfrm>
            <a:off x="458117" y="3461657"/>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8" name="표 17">
            <a:extLst>
              <a:ext uri="{FF2B5EF4-FFF2-40B4-BE49-F238E27FC236}">
                <a16:creationId xmlns:a16="http://schemas.microsoft.com/office/drawing/2014/main" id="{D72DC22B-D4B7-0E04-30F6-7FA61CC84278}"/>
              </a:ext>
            </a:extLst>
          </p:cNvPr>
          <p:cNvGraphicFramePr>
            <a:graphicFrameLocks noGrp="1"/>
          </p:cNvGraphicFramePr>
          <p:nvPr/>
        </p:nvGraphicFramePr>
        <p:xfrm>
          <a:off x="452999" y="3745411"/>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품질하자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품질하자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20" name="TextBox 19">
            <a:extLst>
              <a:ext uri="{FF2B5EF4-FFF2-40B4-BE49-F238E27FC236}">
                <a16:creationId xmlns:a16="http://schemas.microsoft.com/office/drawing/2014/main" id="{3A5C2B46-FFF1-DC07-4596-2DA38FF0A806}"/>
              </a:ext>
            </a:extLst>
          </p:cNvPr>
          <p:cNvSpPr txBox="1"/>
          <p:nvPr/>
        </p:nvSpPr>
        <p:spPr>
          <a:xfrm>
            <a:off x="458117" y="4887796"/>
            <a:ext cx="2037985"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3" name="표 22">
            <a:extLst>
              <a:ext uri="{FF2B5EF4-FFF2-40B4-BE49-F238E27FC236}">
                <a16:creationId xmlns:a16="http://schemas.microsoft.com/office/drawing/2014/main" id="{C9FEB825-B51F-CFF0-2B10-DD4828DDDCB8}"/>
              </a:ext>
            </a:extLst>
          </p:cNvPr>
          <p:cNvGraphicFramePr>
            <a:graphicFrameLocks noGrp="1"/>
          </p:cNvGraphicFramePr>
          <p:nvPr/>
        </p:nvGraphicFramePr>
        <p:xfrm>
          <a:off x="452999" y="5171550"/>
          <a:ext cx="8994883" cy="1213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혁신형중소기업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혁신형중소기업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노사협력우수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노사협력우수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비상대비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비상대비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69068027"/>
                  </a:ext>
                </a:extLst>
              </a:tr>
            </a:tbl>
          </a:graphicData>
        </a:graphic>
      </p:graphicFrame>
      <p:sp>
        <p:nvSpPr>
          <p:cNvPr id="2" name="TextBox 1">
            <a:extLst>
              <a:ext uri="{FF2B5EF4-FFF2-40B4-BE49-F238E27FC236}">
                <a16:creationId xmlns:a16="http://schemas.microsoft.com/office/drawing/2014/main" id="{2A045708-CF5E-3F15-AF31-23E5CE637994}"/>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66A28C04-B3F7-445B-9DC2-37049B8D762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648061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304</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extLst>
              <p:ext uri="{D42A27DB-BD31-4B8C-83A1-F6EECF244321}">
                <p14:modId xmlns:p14="http://schemas.microsoft.com/office/powerpoint/2010/main" val="2218089893"/>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5" name="Text Box 73">
            <a:extLst>
              <a:ext uri="{FF2B5EF4-FFF2-40B4-BE49-F238E27FC236}">
                <a16:creationId xmlns:a16="http://schemas.microsoft.com/office/drawing/2014/main" id="{77E3BE83-3C18-D876-889D-C968FF0B286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5933247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억원미만물품구매일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MUI-BD-10-T10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신용평가등급에 의한 평가</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재무상태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59" name="직사각형 158"/>
          <p:cNvSpPr/>
          <p:nvPr/>
        </p:nvSpPr>
        <p:spPr>
          <a:xfrm>
            <a:off x="3828979" y="1979872"/>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1979873"/>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1979873"/>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3826887" y="1979873"/>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169275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1979873"/>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248301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264" name="직사각형 263"/>
          <p:cNvSpPr/>
          <p:nvPr/>
        </p:nvSpPr>
        <p:spPr>
          <a:xfrm>
            <a:off x="3823602" y="3297967"/>
            <a:ext cx="1639886" cy="52383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3297968"/>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32979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32979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3512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38313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2810616"/>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301085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계약이행 성실도</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32979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2762513"/>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3565063"/>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301" name="TextBox 300">
            <a:extLst>
              <a:ext uri="{FF2B5EF4-FFF2-40B4-BE49-F238E27FC236}">
                <a16:creationId xmlns:a16="http://schemas.microsoft.com/office/drawing/2014/main" id="{FFC49AEA-2A8F-250C-A86A-A7751D9706C3}"/>
              </a:ext>
            </a:extLst>
          </p:cNvPr>
          <p:cNvSpPr txBox="1"/>
          <p:nvPr/>
        </p:nvSpPr>
        <p:spPr>
          <a:xfrm>
            <a:off x="5374211" y="3618924"/>
            <a:ext cx="444032" cy="107722"/>
          </a:xfrm>
          <a:prstGeom prst="rect">
            <a:avLst/>
          </a:prstGeom>
          <a:noFill/>
        </p:spPr>
        <p:txBody>
          <a:bodyPr wrap="none" lIns="0" tIns="0" rIns="0" bIns="0" rtlCol="0">
            <a:spAutoFit/>
          </a:bodyPr>
          <a:lstStyle/>
          <a:p>
            <a:pPr algn="r"/>
            <a:r>
              <a:rPr lang="en-US" altLang="ko-KR" sz="700" dirty="0">
                <a:latin typeface="+mn-ea"/>
              </a:rPr>
              <a:t>+1.15 ~ -3</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36189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4282185"/>
            <a:ext cx="1639886" cy="106327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4282186"/>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428218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42821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44969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53478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399507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기타</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42821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4549281"/>
            <a:ext cx="1480199" cy="754053"/>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성실납세여부</a:t>
            </a:r>
            <a:br>
              <a:rPr lang="ko-KR" altLang="en-US" sz="700" dirty="0">
                <a:latin typeface="+mn-ea"/>
              </a:rPr>
            </a:br>
            <a:r>
              <a:rPr lang="en-US" altLang="ko-KR" sz="700" dirty="0">
                <a:latin typeface="+mn-ea"/>
              </a:rPr>
              <a:t>2.</a:t>
            </a:r>
            <a:r>
              <a:rPr lang="ko-KR" altLang="en-US" sz="700" dirty="0">
                <a:latin typeface="+mn-ea"/>
              </a:rPr>
              <a:t>중점관대상여부</a:t>
            </a:r>
            <a:br>
              <a:rPr lang="ko-KR" altLang="en-US" sz="700" dirty="0">
                <a:latin typeface="+mn-ea"/>
              </a:rPr>
            </a:br>
            <a:r>
              <a:rPr lang="en-US" altLang="ko-KR" sz="700" dirty="0">
                <a:latin typeface="+mn-ea"/>
              </a:rPr>
              <a:t>4.</a:t>
            </a:r>
            <a:r>
              <a:rPr lang="ko-KR" altLang="en-US" sz="700" dirty="0">
                <a:latin typeface="+mn-ea"/>
              </a:rPr>
              <a:t>비상대비 </a:t>
            </a:r>
            <a:r>
              <a:rPr lang="ko-KR" altLang="en-US" sz="700" dirty="0" err="1">
                <a:latin typeface="+mn-ea"/>
              </a:rPr>
              <a:t>중점관대상</a:t>
            </a:r>
            <a:r>
              <a:rPr lang="ko-KR" altLang="en-US" sz="700" dirty="0">
                <a:latin typeface="+mn-ea"/>
              </a:rPr>
              <a:t/>
            </a:r>
            <a:br>
              <a:rPr lang="ko-KR" altLang="en-US" sz="700" dirty="0">
                <a:latin typeface="+mn-ea"/>
              </a:rPr>
            </a:br>
            <a:r>
              <a:rPr lang="en-US" altLang="ko-KR" sz="700" dirty="0">
                <a:latin typeface="+mn-ea"/>
              </a:rPr>
              <a:t>5.</a:t>
            </a:r>
            <a:r>
              <a:rPr lang="ko-KR" altLang="en-US" sz="700" dirty="0">
                <a:latin typeface="+mn-ea"/>
              </a:rPr>
              <a:t>가족친화 사회환경 조성 여부</a:t>
            </a:r>
            <a:br>
              <a:rPr lang="ko-KR" altLang="en-US" sz="700" dirty="0">
                <a:latin typeface="+mn-ea"/>
              </a:rPr>
            </a:br>
            <a:r>
              <a:rPr lang="en-US" altLang="ko-KR" sz="700" dirty="0">
                <a:latin typeface="+mn-ea"/>
              </a:rPr>
              <a:t>6.</a:t>
            </a:r>
            <a:r>
              <a:rPr lang="ko-KR" altLang="en-US" sz="700" dirty="0">
                <a:latin typeface="+mn-ea"/>
              </a:rPr>
              <a:t>고용창출 </a:t>
            </a:r>
            <a:r>
              <a:rPr lang="en-US" altLang="ko-KR" sz="700" dirty="0">
                <a:latin typeface="+mn-ea"/>
              </a:rPr>
              <a:t>100</a:t>
            </a:r>
            <a:r>
              <a:rPr lang="ko-KR" altLang="en-US" sz="700" dirty="0">
                <a:latin typeface="+mn-ea"/>
              </a:rPr>
              <a:t>대 우수기업여부</a:t>
            </a:r>
            <a:br>
              <a:rPr lang="ko-KR" altLang="en-US" sz="700" dirty="0">
                <a:latin typeface="+mn-ea"/>
              </a:rPr>
            </a:br>
            <a:r>
              <a:rPr lang="en-US" altLang="ko-KR" sz="700" dirty="0">
                <a:latin typeface="+mn-ea"/>
              </a:rPr>
              <a:t>7.</a:t>
            </a:r>
            <a:r>
              <a:rPr lang="ko-KR" altLang="en-US" sz="700" dirty="0">
                <a:latin typeface="+mn-ea"/>
              </a:rPr>
              <a:t>장애인고용 </a:t>
            </a:r>
            <a:r>
              <a:rPr lang="ko-KR" altLang="en-US" sz="700" dirty="0" err="1">
                <a:latin typeface="+mn-ea"/>
              </a:rPr>
              <a:t>우수사업주</a:t>
            </a:r>
            <a:r>
              <a:rPr lang="ko-KR" altLang="en-US" sz="700" dirty="0">
                <a:latin typeface="+mn-ea"/>
              </a:rPr>
              <a:t> 또는 장애인표준사업장 여부</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4872446"/>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487244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49458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795734" y="5423522"/>
            <a:ext cx="2712027" cy="372724"/>
            <a:chOff x="676741" y="3122128"/>
            <a:chExt cx="2712027" cy="37272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1~2</a:t>
              </a:r>
              <a:r>
                <a:rPr lang="ko-KR" altLang="en-US" sz="700" dirty="0">
                  <a:latin typeface="+mn-ea"/>
                </a:rPr>
                <a:t>번 항을 합하여</a:t>
              </a:r>
              <a:endParaRPr lang="en-US" altLang="ko-KR" sz="700" dirty="0">
                <a:latin typeface="+mn-ea"/>
              </a:endParaRPr>
            </a:p>
            <a:p>
              <a:pPr algn="ctr" defTabSz="1013612">
                <a:defRPr/>
              </a:pPr>
              <a:r>
                <a:rPr lang="en-US" altLang="ko-KR" sz="700" dirty="0">
                  <a:latin typeface="+mn-ea"/>
                </a:rPr>
                <a:t>+3 ~ -5</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grpSp>
      <p:sp>
        <p:nvSpPr>
          <p:cNvPr id="98" name="타원 9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709904562"/>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억원미만물품구매일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MUI-BD-10-T10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3" name="직사각형 172"/>
          <p:cNvSpPr/>
          <p:nvPr/>
        </p:nvSpPr>
        <p:spPr>
          <a:xfrm>
            <a:off x="704608" y="2015347"/>
            <a:ext cx="1639886" cy="8745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2015348"/>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201534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20153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22300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28898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152799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17282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20153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29628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2290674"/>
            <a:ext cx="1480199" cy="538609"/>
          </a:xfrm>
          <a:prstGeom prst="rect">
            <a:avLst/>
          </a:prstGeom>
          <a:noFill/>
        </p:spPr>
        <p:txBody>
          <a:bodyPr wrap="square" lIns="0" tIns="0" rIns="0" bIns="0" rtlCol="0">
            <a:spAutoFit/>
          </a:bodyPr>
          <a:lstStyle/>
          <a:p>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2506117"/>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25061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3" name="그룹 2"/>
          <p:cNvGrpSpPr/>
          <p:nvPr/>
        </p:nvGrpSpPr>
        <p:grpSpPr>
          <a:xfrm>
            <a:off x="675399" y="3006457"/>
            <a:ext cx="2713369" cy="3067770"/>
            <a:chOff x="682785" y="3077369"/>
            <a:chExt cx="2713369" cy="3067770"/>
          </a:xfrm>
        </p:grpSpPr>
        <p:sp>
          <p:nvSpPr>
            <p:cNvPr id="208" name="TextBox 207">
              <a:extLst>
                <a:ext uri="{FF2B5EF4-FFF2-40B4-BE49-F238E27FC236}">
                  <a16:creationId xmlns:a16="http://schemas.microsoft.com/office/drawing/2014/main" id="{FFC49AEA-2A8F-250C-A86A-A7751D9706C3}"/>
                </a:ext>
              </a:extLst>
            </p:cNvPr>
            <p:cNvSpPr txBox="1"/>
            <p:nvPr/>
          </p:nvSpPr>
          <p:spPr>
            <a:xfrm>
              <a:off x="770874" y="3077369"/>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 </a:t>
              </a:r>
              <a:r>
                <a:rPr lang="ko-KR" altLang="en-US" sz="700" dirty="0">
                  <a:latin typeface="+mn-ea"/>
                </a:rPr>
                <a:t>재무상태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30</a:t>
              </a:r>
              <a:r>
                <a:rPr lang="ko-KR" altLang="en-US" sz="700" dirty="0">
                  <a:latin typeface="+mn-ea"/>
                </a:rPr>
                <a:t>점</a:t>
              </a:r>
            </a:p>
          </p:txBody>
        </p:sp>
        <p:grpSp>
          <p:nvGrpSpPr>
            <p:cNvPr id="209" name="그룹 208"/>
            <p:cNvGrpSpPr/>
            <p:nvPr/>
          </p:nvGrpSpPr>
          <p:grpSpPr>
            <a:xfrm flipV="1">
              <a:off x="3132961" y="3190700"/>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684127" y="3364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9" name="그룹 88"/>
            <p:cNvGrpSpPr/>
            <p:nvPr/>
          </p:nvGrpSpPr>
          <p:grpSpPr>
            <a:xfrm>
              <a:off x="682785" y="3418417"/>
              <a:ext cx="2712027" cy="708570"/>
              <a:chOff x="675399" y="5469919"/>
              <a:chExt cx="2712027" cy="708570"/>
            </a:xfrm>
          </p:grpSpPr>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2" name="그룹 91"/>
              <p:cNvGrpSpPr/>
              <p:nvPr/>
            </p:nvGrpSpPr>
            <p:grpSpPr>
              <a:xfrm>
                <a:off x="701175" y="5469919"/>
                <a:ext cx="2630093" cy="646331"/>
                <a:chOff x="701175" y="1835481"/>
                <a:chExt cx="2630093" cy="646331"/>
              </a:xfrm>
            </p:grpSpPr>
            <p:sp>
              <p:nvSpPr>
                <p:cNvPr id="95" name="직사각형 94"/>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98" name="그룹 97"/>
                <p:cNvGrpSpPr/>
                <p:nvPr/>
              </p:nvGrpSpPr>
              <p:grpSpPr>
                <a:xfrm>
                  <a:off x="701175" y="1835481"/>
                  <a:ext cx="2630093" cy="644220"/>
                  <a:chOff x="701175" y="1835481"/>
                  <a:chExt cx="2630093" cy="644220"/>
                </a:xfrm>
              </p:grpSpPr>
              <p:cxnSp>
                <p:nvCxnSpPr>
                  <p:cNvPr id="99" name="직선 연결선 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sp>
          <p:nvSpPr>
            <p:cNvPr id="103" name="TextBox 102">
              <a:extLst>
                <a:ext uri="{FF2B5EF4-FFF2-40B4-BE49-F238E27FC236}">
                  <a16:creationId xmlns:a16="http://schemas.microsoft.com/office/drawing/2014/main" id="{FFC49AEA-2A8F-250C-A86A-A7751D9706C3}"/>
                </a:ext>
              </a:extLst>
            </p:cNvPr>
            <p:cNvSpPr txBox="1"/>
            <p:nvPr/>
          </p:nvSpPr>
          <p:spPr>
            <a:xfrm>
              <a:off x="770874" y="4161818"/>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r>
                <a:rPr lang="ko-KR" altLang="en-US" sz="700" dirty="0">
                  <a:latin typeface="+mn-ea"/>
                </a:rPr>
                <a:t>점</a:t>
              </a:r>
            </a:p>
          </p:txBody>
        </p:sp>
        <p:grpSp>
          <p:nvGrpSpPr>
            <p:cNvPr id="104" name="그룹 103"/>
            <p:cNvGrpSpPr/>
            <p:nvPr/>
          </p:nvGrpSpPr>
          <p:grpSpPr>
            <a:xfrm flipV="1">
              <a:off x="3132961" y="4275149"/>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7" name="직선 연결선 106">
              <a:extLst>
                <a:ext uri="{FF2B5EF4-FFF2-40B4-BE49-F238E27FC236}">
                  <a16:creationId xmlns:a16="http://schemas.microsoft.com/office/drawing/2014/main" id="{E9293055-D5CD-4B9E-7F64-64B2D2CA7A52}"/>
                </a:ext>
              </a:extLst>
            </p:cNvPr>
            <p:cNvCxnSpPr/>
            <p:nvPr/>
          </p:nvCxnSpPr>
          <p:spPr>
            <a:xfrm>
              <a:off x="684127" y="44486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684127" y="61451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9" name="그룹 108"/>
            <p:cNvGrpSpPr/>
            <p:nvPr/>
          </p:nvGrpSpPr>
          <p:grpSpPr>
            <a:xfrm>
              <a:off x="725094" y="4512743"/>
              <a:ext cx="2630093" cy="1094598"/>
              <a:chOff x="701175" y="1835480"/>
              <a:chExt cx="2630093" cy="1094598"/>
            </a:xfrm>
          </p:grpSpPr>
          <p:sp>
            <p:nvSpPr>
              <p:cNvPr id="110" name="직사각형 109"/>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13" name="그룹 112"/>
              <p:cNvGrpSpPr/>
              <p:nvPr/>
            </p:nvGrpSpPr>
            <p:grpSpPr>
              <a:xfrm>
                <a:off x="701175" y="1835481"/>
                <a:ext cx="2630093" cy="1094597"/>
                <a:chOff x="701175" y="1835481"/>
                <a:chExt cx="2630093" cy="1094597"/>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TextBox 119">
              <a:extLst>
                <a:ext uri="{FF2B5EF4-FFF2-40B4-BE49-F238E27FC236}">
                  <a16:creationId xmlns:a16="http://schemas.microsoft.com/office/drawing/2014/main" id="{FFC49AEA-2A8F-250C-A86A-A7751D9706C3}"/>
                </a:ext>
              </a:extLst>
            </p:cNvPr>
            <p:cNvSpPr txBox="1"/>
            <p:nvPr/>
          </p:nvSpPr>
          <p:spPr>
            <a:xfrm>
              <a:off x="812092" y="5724049"/>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65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grpSp>
      <p:sp>
        <p:nvSpPr>
          <p:cNvPr id="122" name="TextBox 121">
            <a:extLst>
              <a:ext uri="{FF2B5EF4-FFF2-40B4-BE49-F238E27FC236}">
                <a16:creationId xmlns:a16="http://schemas.microsoft.com/office/drawing/2014/main" id="{FFC49AEA-2A8F-250C-A86A-A7751D9706C3}"/>
              </a:ext>
            </a:extLst>
          </p:cNvPr>
          <p:cNvSpPr txBox="1"/>
          <p:nvPr/>
        </p:nvSpPr>
        <p:spPr>
          <a:xfrm>
            <a:off x="3883823" y="153087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+1.15 ~ -3</a:t>
            </a:r>
            <a:r>
              <a:rPr lang="ko-KR" altLang="en-US" sz="700" dirty="0">
                <a:latin typeface="+mn-ea"/>
              </a:rPr>
              <a:t>점</a:t>
            </a:r>
          </a:p>
        </p:txBody>
      </p:sp>
      <p:grpSp>
        <p:nvGrpSpPr>
          <p:cNvPr id="123" name="그룹 122"/>
          <p:cNvGrpSpPr/>
          <p:nvPr/>
        </p:nvGrpSpPr>
        <p:grpSpPr>
          <a:xfrm flipV="1">
            <a:off x="6245910" y="164420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6" name="직선 연결선 125">
            <a:extLst>
              <a:ext uri="{FF2B5EF4-FFF2-40B4-BE49-F238E27FC236}">
                <a16:creationId xmlns:a16="http://schemas.microsoft.com/office/drawing/2014/main" id="{E9293055-D5CD-4B9E-7F64-64B2D2CA7A52}"/>
              </a:ext>
            </a:extLst>
          </p:cNvPr>
          <p:cNvCxnSpPr/>
          <p:nvPr/>
        </p:nvCxnSpPr>
        <p:spPr>
          <a:xfrm>
            <a:off x="3797076"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3910665"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계약이행 성실도</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3910665" y="202669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4435522" y="2099984"/>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3910665" y="221047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4435522" y="2283764"/>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6036814" y="228376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33" name="직사각형 132"/>
          <p:cNvSpPr/>
          <p:nvPr/>
        </p:nvSpPr>
        <p:spPr>
          <a:xfrm>
            <a:off x="3835134" y="2444842"/>
            <a:ext cx="1639886" cy="12813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TextBox 133">
            <a:extLst>
              <a:ext uri="{FF2B5EF4-FFF2-40B4-BE49-F238E27FC236}">
                <a16:creationId xmlns:a16="http://schemas.microsoft.com/office/drawing/2014/main" id="{FFC49AEA-2A8F-250C-A86A-A7751D9706C3}"/>
              </a:ext>
            </a:extLst>
          </p:cNvPr>
          <p:cNvSpPr txBox="1"/>
          <p:nvPr/>
        </p:nvSpPr>
        <p:spPr>
          <a:xfrm>
            <a:off x="3922197" y="244484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5650239" y="244484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3832437" y="24448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3834530" y="2659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8" name="TextBox 137">
            <a:extLst>
              <a:ext uri="{FF2B5EF4-FFF2-40B4-BE49-F238E27FC236}">
                <a16:creationId xmlns:a16="http://schemas.microsoft.com/office/drawing/2014/main" id="{FFC49AEA-2A8F-250C-A86A-A7751D9706C3}"/>
              </a:ext>
            </a:extLst>
          </p:cNvPr>
          <p:cNvSpPr txBox="1"/>
          <p:nvPr/>
        </p:nvSpPr>
        <p:spPr>
          <a:xfrm>
            <a:off x="6070609" y="244484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3936047" y="2704843"/>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5688133" y="2920286"/>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6406663" y="31438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9385" y="320000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838794" y="37357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5" name="TextBox 144">
            <a:extLst>
              <a:ext uri="{FF2B5EF4-FFF2-40B4-BE49-F238E27FC236}">
                <a16:creationId xmlns:a16="http://schemas.microsoft.com/office/drawing/2014/main" id="{FFC49AEA-2A8F-250C-A86A-A7751D9706C3}"/>
              </a:ext>
            </a:extLst>
          </p:cNvPr>
          <p:cNvSpPr txBox="1"/>
          <p:nvPr/>
        </p:nvSpPr>
        <p:spPr>
          <a:xfrm>
            <a:off x="3914929" y="3771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4439786" y="384453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3914929" y="395503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4439786" y="4028318"/>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6041078" y="402831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50" name="직사각형 149"/>
          <p:cNvSpPr/>
          <p:nvPr/>
        </p:nvSpPr>
        <p:spPr>
          <a:xfrm>
            <a:off x="3839398" y="4189396"/>
            <a:ext cx="1639886" cy="128172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1" name="TextBox 150">
            <a:extLst>
              <a:ext uri="{FF2B5EF4-FFF2-40B4-BE49-F238E27FC236}">
                <a16:creationId xmlns:a16="http://schemas.microsoft.com/office/drawing/2014/main" id="{FFC49AEA-2A8F-250C-A86A-A7751D9706C3}"/>
              </a:ext>
            </a:extLst>
          </p:cNvPr>
          <p:cNvSpPr txBox="1"/>
          <p:nvPr/>
        </p:nvSpPr>
        <p:spPr>
          <a:xfrm>
            <a:off x="3926461" y="4189397"/>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5654503" y="4189397"/>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3" name="직선 연결선 152">
            <a:extLst>
              <a:ext uri="{FF2B5EF4-FFF2-40B4-BE49-F238E27FC236}">
                <a16:creationId xmlns:a16="http://schemas.microsoft.com/office/drawing/2014/main" id="{E9293055-D5CD-4B9E-7F64-64B2D2CA7A52}"/>
              </a:ext>
            </a:extLst>
          </p:cNvPr>
          <p:cNvCxnSpPr/>
          <p:nvPr/>
        </p:nvCxnSpPr>
        <p:spPr>
          <a:xfrm>
            <a:off x="3836701" y="41893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3838794" y="44041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6074873" y="418939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3940311" y="4461909"/>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5692397" y="462349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43649" y="492473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3940311" y="4982510"/>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5642705" y="5144092"/>
            <a:ext cx="205184"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cxnSp>
        <p:nvCxnSpPr>
          <p:cNvPr id="161" name="직선 연결선 160">
            <a:extLst>
              <a:ext uri="{FF2B5EF4-FFF2-40B4-BE49-F238E27FC236}">
                <a16:creationId xmlns:a16="http://schemas.microsoft.com/office/drawing/2014/main" id="{E9293055-D5CD-4B9E-7F64-64B2D2CA7A52}"/>
              </a:ext>
            </a:extLst>
          </p:cNvPr>
          <p:cNvCxnSpPr/>
          <p:nvPr/>
        </p:nvCxnSpPr>
        <p:spPr>
          <a:xfrm>
            <a:off x="3838794" y="54740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6410927" y="48852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3936047" y="326486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5638440" y="3480304"/>
            <a:ext cx="205185"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121" name="타원 12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04746992"/>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억원미만물품구매일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MUI-BD-10-T10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792462" y="149115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기타</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792462"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317319" y="1764682"/>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1.</a:t>
            </a:r>
            <a:r>
              <a:rPr lang="ko-KR" altLang="en-US" dirty="0"/>
              <a:t>성실납세여부</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792462"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1317319" y="1948462"/>
            <a:ext cx="2010812" cy="107722"/>
          </a:xfrm>
          <a:prstGeom prst="rect">
            <a:avLst/>
          </a:prstGeom>
          <a:noFill/>
        </p:spPr>
        <p:txBody>
          <a:bodyPr wrap="square" lIns="0" tIns="0" rIns="0" bIns="0" rtlCol="0">
            <a:spAutoFit/>
          </a:bodyPr>
          <a:lstStyle/>
          <a:p>
            <a:r>
              <a:rPr lang="ko-KR" altLang="en-US" sz="700" dirty="0">
                <a:latin typeface="+mn-ea"/>
              </a:rPr>
              <a:t>성실납세여부</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2918611"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169" name="직사각형 168"/>
          <p:cNvSpPr/>
          <p:nvPr/>
        </p:nvSpPr>
        <p:spPr>
          <a:xfrm>
            <a:off x="716931" y="2109540"/>
            <a:ext cx="1639886" cy="4166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3994"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2532036"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2" name="직선 연결선 171">
            <a:extLst>
              <a:ext uri="{FF2B5EF4-FFF2-40B4-BE49-F238E27FC236}">
                <a16:creationId xmlns:a16="http://schemas.microsoft.com/office/drawing/2014/main" id="{E9293055-D5CD-4B9E-7F64-64B2D2CA7A52}"/>
              </a:ext>
            </a:extLst>
          </p:cNvPr>
          <p:cNvCxnSpPr/>
          <p:nvPr/>
        </p:nvCxnSpPr>
        <p:spPr>
          <a:xfrm>
            <a:off x="714234"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16327"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3" name="TextBox 182">
            <a:extLst>
              <a:ext uri="{FF2B5EF4-FFF2-40B4-BE49-F238E27FC236}">
                <a16:creationId xmlns:a16="http://schemas.microsoft.com/office/drawing/2014/main" id="{FFC49AEA-2A8F-250C-A86A-A7751D9706C3}"/>
              </a:ext>
            </a:extLst>
          </p:cNvPr>
          <p:cNvSpPr txBox="1"/>
          <p:nvPr/>
        </p:nvSpPr>
        <p:spPr>
          <a:xfrm>
            <a:off x="2952406"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8" name="TextBox 187">
            <a:extLst>
              <a:ext uri="{FF2B5EF4-FFF2-40B4-BE49-F238E27FC236}">
                <a16:creationId xmlns:a16="http://schemas.microsoft.com/office/drawing/2014/main" id="{FFC49AEA-2A8F-250C-A86A-A7751D9706C3}"/>
              </a:ext>
            </a:extLst>
          </p:cNvPr>
          <p:cNvSpPr txBox="1"/>
          <p:nvPr/>
        </p:nvSpPr>
        <p:spPr>
          <a:xfrm>
            <a:off x="817844" y="236954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국세청장이 지정한 모범성실납세자</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557106" y="2369541"/>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3288460" y="236954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720591" y="2527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0" name="TextBox 219">
            <a:extLst>
              <a:ext uri="{FF2B5EF4-FFF2-40B4-BE49-F238E27FC236}">
                <a16:creationId xmlns:a16="http://schemas.microsoft.com/office/drawing/2014/main" id="{FFC49AEA-2A8F-250C-A86A-A7751D9706C3}"/>
              </a:ext>
            </a:extLst>
          </p:cNvPr>
          <p:cNvSpPr txBox="1"/>
          <p:nvPr/>
        </p:nvSpPr>
        <p:spPr>
          <a:xfrm>
            <a:off x="792462" y="25861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1317319" y="2659435"/>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2.</a:t>
            </a:r>
            <a:r>
              <a:rPr lang="ko-KR" altLang="en-US" dirty="0"/>
              <a:t>비상대비 중점관리 </a:t>
            </a:r>
            <a:r>
              <a:rPr lang="ko-KR" altLang="en-US" dirty="0" err="1"/>
              <a:t>대상여부</a:t>
            </a:r>
            <a:endParaRPr lang="ko-KR" altLang="en-US" dirty="0"/>
          </a:p>
        </p:txBody>
      </p:sp>
      <p:sp>
        <p:nvSpPr>
          <p:cNvPr id="222" name="TextBox 221">
            <a:extLst>
              <a:ext uri="{FF2B5EF4-FFF2-40B4-BE49-F238E27FC236}">
                <a16:creationId xmlns:a16="http://schemas.microsoft.com/office/drawing/2014/main" id="{FFC49AEA-2A8F-250C-A86A-A7751D9706C3}"/>
              </a:ext>
            </a:extLst>
          </p:cNvPr>
          <p:cNvSpPr txBox="1"/>
          <p:nvPr/>
        </p:nvSpPr>
        <p:spPr>
          <a:xfrm>
            <a:off x="792462" y="276992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1317319" y="2843215"/>
            <a:ext cx="2010812" cy="107722"/>
          </a:xfrm>
          <a:prstGeom prst="rect">
            <a:avLst/>
          </a:prstGeom>
          <a:noFill/>
        </p:spPr>
        <p:txBody>
          <a:bodyPr wrap="square" lIns="0" tIns="0" rIns="0" bIns="0" rtlCol="0">
            <a:spAutoFit/>
          </a:bodyPr>
          <a:lstStyle/>
          <a:p>
            <a:r>
              <a:rPr lang="ko-KR" altLang="en-US" sz="700" dirty="0">
                <a:latin typeface="+mn-ea"/>
              </a:rPr>
              <a:t>비상대비 중점관리 </a:t>
            </a:r>
            <a:r>
              <a:rPr lang="ko-KR" altLang="en-US" sz="700" dirty="0" err="1">
                <a:latin typeface="+mn-ea"/>
              </a:rPr>
              <a:t>대상여부</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2918611" y="284321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25" name="직사각형 224"/>
          <p:cNvSpPr/>
          <p:nvPr/>
        </p:nvSpPr>
        <p:spPr>
          <a:xfrm>
            <a:off x="716931" y="3004293"/>
            <a:ext cx="1639886" cy="5170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6" name="TextBox 225">
            <a:extLst>
              <a:ext uri="{FF2B5EF4-FFF2-40B4-BE49-F238E27FC236}">
                <a16:creationId xmlns:a16="http://schemas.microsoft.com/office/drawing/2014/main" id="{FFC49AEA-2A8F-250C-A86A-A7751D9706C3}"/>
              </a:ext>
            </a:extLst>
          </p:cNvPr>
          <p:cNvSpPr txBox="1"/>
          <p:nvPr/>
        </p:nvSpPr>
        <p:spPr>
          <a:xfrm>
            <a:off x="803994" y="300429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2532036" y="300429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714234" y="30042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16327" y="32190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0" name="TextBox 229">
            <a:extLst>
              <a:ext uri="{FF2B5EF4-FFF2-40B4-BE49-F238E27FC236}">
                <a16:creationId xmlns:a16="http://schemas.microsoft.com/office/drawing/2014/main" id="{FFC49AEA-2A8F-250C-A86A-A7751D9706C3}"/>
              </a:ext>
            </a:extLst>
          </p:cNvPr>
          <p:cNvSpPr txBox="1"/>
          <p:nvPr/>
        </p:nvSpPr>
        <p:spPr>
          <a:xfrm>
            <a:off x="2952406" y="300429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1" name="TextBox 230">
            <a:extLst>
              <a:ext uri="{FF2B5EF4-FFF2-40B4-BE49-F238E27FC236}">
                <a16:creationId xmlns:a16="http://schemas.microsoft.com/office/drawing/2014/main" id="{FFC49AEA-2A8F-250C-A86A-A7751D9706C3}"/>
              </a:ext>
            </a:extLst>
          </p:cNvPr>
          <p:cNvSpPr txBox="1"/>
          <p:nvPr/>
        </p:nvSpPr>
        <p:spPr>
          <a:xfrm>
            <a:off x="817844" y="327111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행정안전부장관이 확인한 비상대비 중점관리대상업체</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2606800" y="332497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3288460" y="332497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4" name="직선 연결선 233">
            <a:extLst>
              <a:ext uri="{FF2B5EF4-FFF2-40B4-BE49-F238E27FC236}">
                <a16:creationId xmlns:a16="http://schemas.microsoft.com/office/drawing/2014/main" id="{E9293055-D5CD-4B9E-7F64-64B2D2CA7A52}"/>
              </a:ext>
            </a:extLst>
          </p:cNvPr>
          <p:cNvCxnSpPr/>
          <p:nvPr/>
        </p:nvCxnSpPr>
        <p:spPr>
          <a:xfrm>
            <a:off x="720591" y="35241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TextBox 234">
            <a:extLst>
              <a:ext uri="{FF2B5EF4-FFF2-40B4-BE49-F238E27FC236}">
                <a16:creationId xmlns:a16="http://schemas.microsoft.com/office/drawing/2014/main" id="{FFC49AEA-2A8F-250C-A86A-A7751D9706C3}"/>
              </a:ext>
            </a:extLst>
          </p:cNvPr>
          <p:cNvSpPr txBox="1"/>
          <p:nvPr/>
        </p:nvSpPr>
        <p:spPr>
          <a:xfrm>
            <a:off x="792462" y="357343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1317319" y="3646724"/>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3.</a:t>
            </a:r>
            <a:r>
              <a:rPr lang="ko-KR" altLang="en-US" dirty="0"/>
              <a:t>가족친화 사회환경 조성여부</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792462" y="375721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1317319" y="3830504"/>
            <a:ext cx="2010812" cy="107722"/>
          </a:xfrm>
          <a:prstGeom prst="rect">
            <a:avLst/>
          </a:prstGeom>
          <a:noFill/>
        </p:spPr>
        <p:txBody>
          <a:bodyPr wrap="square" lIns="0" tIns="0" rIns="0" bIns="0" rtlCol="0">
            <a:spAutoFit/>
          </a:bodyPr>
          <a:lstStyle/>
          <a:p>
            <a:r>
              <a:rPr lang="ko-KR" altLang="en-US" sz="700" dirty="0">
                <a:latin typeface="+mn-ea"/>
              </a:rPr>
              <a:t>가족친화 사회환경 조성여부</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2918611" y="383050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40" name="직사각형 239"/>
          <p:cNvSpPr/>
          <p:nvPr/>
        </p:nvSpPr>
        <p:spPr>
          <a:xfrm>
            <a:off x="716931" y="3991582"/>
            <a:ext cx="1639886" cy="5170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TextBox 240">
            <a:extLst>
              <a:ext uri="{FF2B5EF4-FFF2-40B4-BE49-F238E27FC236}">
                <a16:creationId xmlns:a16="http://schemas.microsoft.com/office/drawing/2014/main" id="{FFC49AEA-2A8F-250C-A86A-A7751D9706C3}"/>
              </a:ext>
            </a:extLst>
          </p:cNvPr>
          <p:cNvSpPr txBox="1"/>
          <p:nvPr/>
        </p:nvSpPr>
        <p:spPr>
          <a:xfrm>
            <a:off x="803994" y="399158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2" name="TextBox 241">
            <a:extLst>
              <a:ext uri="{FF2B5EF4-FFF2-40B4-BE49-F238E27FC236}">
                <a16:creationId xmlns:a16="http://schemas.microsoft.com/office/drawing/2014/main" id="{FFC49AEA-2A8F-250C-A86A-A7751D9706C3}"/>
              </a:ext>
            </a:extLst>
          </p:cNvPr>
          <p:cNvSpPr txBox="1"/>
          <p:nvPr/>
        </p:nvSpPr>
        <p:spPr>
          <a:xfrm>
            <a:off x="2532036" y="399158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43" name="직선 연결선 242">
            <a:extLst>
              <a:ext uri="{FF2B5EF4-FFF2-40B4-BE49-F238E27FC236}">
                <a16:creationId xmlns:a16="http://schemas.microsoft.com/office/drawing/2014/main" id="{E9293055-D5CD-4B9E-7F64-64B2D2CA7A52}"/>
              </a:ext>
            </a:extLst>
          </p:cNvPr>
          <p:cNvCxnSpPr/>
          <p:nvPr/>
        </p:nvCxnSpPr>
        <p:spPr>
          <a:xfrm>
            <a:off x="714234" y="39915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16327" y="4206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2952406" y="399158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6" name="TextBox 245">
            <a:extLst>
              <a:ext uri="{FF2B5EF4-FFF2-40B4-BE49-F238E27FC236}">
                <a16:creationId xmlns:a16="http://schemas.microsoft.com/office/drawing/2014/main" id="{FFC49AEA-2A8F-250C-A86A-A7751D9706C3}"/>
              </a:ext>
            </a:extLst>
          </p:cNvPr>
          <p:cNvSpPr txBox="1"/>
          <p:nvPr/>
        </p:nvSpPr>
        <p:spPr>
          <a:xfrm>
            <a:off x="817844" y="4258407"/>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여성가족부장관이 선정한 가족친화인증 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2606800" y="431226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3288460" y="43122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9" name="직선 연결선 248">
            <a:extLst>
              <a:ext uri="{FF2B5EF4-FFF2-40B4-BE49-F238E27FC236}">
                <a16:creationId xmlns:a16="http://schemas.microsoft.com/office/drawing/2014/main" id="{E9293055-D5CD-4B9E-7F64-64B2D2CA7A52}"/>
              </a:ext>
            </a:extLst>
          </p:cNvPr>
          <p:cNvCxnSpPr/>
          <p:nvPr/>
        </p:nvCxnSpPr>
        <p:spPr>
          <a:xfrm>
            <a:off x="720591" y="451141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792462" y="457909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51" name="TextBox 250">
            <a:extLst>
              <a:ext uri="{FF2B5EF4-FFF2-40B4-BE49-F238E27FC236}">
                <a16:creationId xmlns:a16="http://schemas.microsoft.com/office/drawing/2014/main" id="{FFC49AEA-2A8F-250C-A86A-A7751D9706C3}"/>
              </a:ext>
            </a:extLst>
          </p:cNvPr>
          <p:cNvSpPr txBox="1"/>
          <p:nvPr/>
        </p:nvSpPr>
        <p:spPr>
          <a:xfrm>
            <a:off x="1317319" y="4652380"/>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4.</a:t>
            </a:r>
            <a:r>
              <a:rPr lang="ko-KR" altLang="en-US" dirty="0"/>
              <a:t>고용창출 </a:t>
            </a:r>
            <a:r>
              <a:rPr lang="en-US" altLang="ko-KR" dirty="0"/>
              <a:t>100</a:t>
            </a:r>
            <a:r>
              <a:rPr lang="ko-KR" altLang="en-US" dirty="0"/>
              <a:t>대 우수기업여부</a:t>
            </a:r>
          </a:p>
        </p:txBody>
      </p:sp>
      <p:sp>
        <p:nvSpPr>
          <p:cNvPr id="252" name="TextBox 251">
            <a:extLst>
              <a:ext uri="{FF2B5EF4-FFF2-40B4-BE49-F238E27FC236}">
                <a16:creationId xmlns:a16="http://schemas.microsoft.com/office/drawing/2014/main" id="{FFC49AEA-2A8F-250C-A86A-A7751D9706C3}"/>
              </a:ext>
            </a:extLst>
          </p:cNvPr>
          <p:cNvSpPr txBox="1"/>
          <p:nvPr/>
        </p:nvSpPr>
        <p:spPr>
          <a:xfrm>
            <a:off x="792462" y="476287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53" name="TextBox 252">
            <a:extLst>
              <a:ext uri="{FF2B5EF4-FFF2-40B4-BE49-F238E27FC236}">
                <a16:creationId xmlns:a16="http://schemas.microsoft.com/office/drawing/2014/main" id="{FFC49AEA-2A8F-250C-A86A-A7751D9706C3}"/>
              </a:ext>
            </a:extLst>
          </p:cNvPr>
          <p:cNvSpPr txBox="1"/>
          <p:nvPr/>
        </p:nvSpPr>
        <p:spPr>
          <a:xfrm>
            <a:off x="1317319" y="4836160"/>
            <a:ext cx="2010812" cy="107722"/>
          </a:xfrm>
          <a:prstGeom prst="rect">
            <a:avLst/>
          </a:prstGeom>
          <a:noFill/>
        </p:spPr>
        <p:txBody>
          <a:bodyPr wrap="square" lIns="0" tIns="0" rIns="0" bIns="0" rtlCol="0">
            <a:spAutoFit/>
          </a:bodyPr>
          <a:lstStyle/>
          <a:p>
            <a:r>
              <a:rPr lang="ko-KR" altLang="en-US" sz="700" dirty="0">
                <a:latin typeface="+mn-ea"/>
              </a:rPr>
              <a:t>고용창출 </a:t>
            </a:r>
            <a:r>
              <a:rPr lang="en-US" altLang="ko-KR" sz="700" dirty="0">
                <a:latin typeface="+mn-ea"/>
              </a:rPr>
              <a:t>100</a:t>
            </a:r>
            <a:r>
              <a:rPr lang="ko-KR" altLang="en-US" sz="700" dirty="0">
                <a:latin typeface="+mn-ea"/>
              </a:rPr>
              <a:t>대 우수기업여부</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2918611" y="483616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55" name="직사각형 254"/>
          <p:cNvSpPr/>
          <p:nvPr/>
        </p:nvSpPr>
        <p:spPr>
          <a:xfrm>
            <a:off x="716931" y="4997238"/>
            <a:ext cx="1639886" cy="5170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803994" y="499723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57" name="TextBox 256">
            <a:extLst>
              <a:ext uri="{FF2B5EF4-FFF2-40B4-BE49-F238E27FC236}">
                <a16:creationId xmlns:a16="http://schemas.microsoft.com/office/drawing/2014/main" id="{FFC49AEA-2A8F-250C-A86A-A7751D9706C3}"/>
              </a:ext>
            </a:extLst>
          </p:cNvPr>
          <p:cNvSpPr txBox="1"/>
          <p:nvPr/>
        </p:nvSpPr>
        <p:spPr>
          <a:xfrm>
            <a:off x="2532036" y="499723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58" name="직선 연결선 257">
            <a:extLst>
              <a:ext uri="{FF2B5EF4-FFF2-40B4-BE49-F238E27FC236}">
                <a16:creationId xmlns:a16="http://schemas.microsoft.com/office/drawing/2014/main" id="{E9293055-D5CD-4B9E-7F64-64B2D2CA7A52}"/>
              </a:ext>
            </a:extLst>
          </p:cNvPr>
          <p:cNvCxnSpPr/>
          <p:nvPr/>
        </p:nvCxnSpPr>
        <p:spPr>
          <a:xfrm>
            <a:off x="714234" y="49972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9" name="직선 연결선 258">
            <a:extLst>
              <a:ext uri="{FF2B5EF4-FFF2-40B4-BE49-F238E27FC236}">
                <a16:creationId xmlns:a16="http://schemas.microsoft.com/office/drawing/2014/main" id="{E9293055-D5CD-4B9E-7F64-64B2D2CA7A52}"/>
              </a:ext>
            </a:extLst>
          </p:cNvPr>
          <p:cNvCxnSpPr/>
          <p:nvPr/>
        </p:nvCxnSpPr>
        <p:spPr>
          <a:xfrm>
            <a:off x="716327" y="52119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0" name="TextBox 259">
            <a:extLst>
              <a:ext uri="{FF2B5EF4-FFF2-40B4-BE49-F238E27FC236}">
                <a16:creationId xmlns:a16="http://schemas.microsoft.com/office/drawing/2014/main" id="{FFC49AEA-2A8F-250C-A86A-A7751D9706C3}"/>
              </a:ext>
            </a:extLst>
          </p:cNvPr>
          <p:cNvSpPr txBox="1"/>
          <p:nvPr/>
        </p:nvSpPr>
        <p:spPr>
          <a:xfrm>
            <a:off x="2952406" y="499723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61" name="TextBox 260">
            <a:extLst>
              <a:ext uri="{FF2B5EF4-FFF2-40B4-BE49-F238E27FC236}">
                <a16:creationId xmlns:a16="http://schemas.microsoft.com/office/drawing/2014/main" id="{FFC49AEA-2A8F-250C-A86A-A7751D9706C3}"/>
              </a:ext>
            </a:extLst>
          </p:cNvPr>
          <p:cNvSpPr txBox="1"/>
          <p:nvPr/>
        </p:nvSpPr>
        <p:spPr>
          <a:xfrm>
            <a:off x="817844" y="526406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우수기업여부</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2606800" y="531792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3288460" y="53179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720591" y="55170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3912797" y="150490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4437654" y="1578196"/>
            <a:ext cx="2010812"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5.</a:t>
            </a:r>
            <a:r>
              <a:rPr lang="ko-KR" altLang="en-US" dirty="0"/>
              <a:t>장애인 고용 </a:t>
            </a:r>
            <a:r>
              <a:rPr lang="ko-KR" altLang="en-US" dirty="0" err="1"/>
              <a:t>우수사업주</a:t>
            </a:r>
            <a:r>
              <a:rPr lang="ko-KR" altLang="en-US" dirty="0"/>
              <a:t> 또는 장애인 표준 사업장 여부</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3912797" y="178422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8" name="TextBox 267">
            <a:extLst>
              <a:ext uri="{FF2B5EF4-FFF2-40B4-BE49-F238E27FC236}">
                <a16:creationId xmlns:a16="http://schemas.microsoft.com/office/drawing/2014/main" id="{FFC49AEA-2A8F-250C-A86A-A7751D9706C3}"/>
              </a:ext>
            </a:extLst>
          </p:cNvPr>
          <p:cNvSpPr txBox="1"/>
          <p:nvPr/>
        </p:nvSpPr>
        <p:spPr>
          <a:xfrm>
            <a:off x="4437654" y="1857512"/>
            <a:ext cx="1462715" cy="215444"/>
          </a:xfrm>
          <a:prstGeom prst="rect">
            <a:avLst/>
          </a:prstGeom>
          <a:noFill/>
        </p:spPr>
        <p:txBody>
          <a:bodyPr wrap="square" lIns="0" tIns="0" rIns="0" bIns="0" rtlCol="0">
            <a:spAutoFit/>
          </a:bodyPr>
          <a:lstStyle/>
          <a:p>
            <a:r>
              <a:rPr lang="ko-KR" altLang="en-US" sz="700" dirty="0">
                <a:latin typeface="+mn-ea"/>
              </a:rPr>
              <a:t>장애인고용 </a:t>
            </a:r>
            <a:r>
              <a:rPr lang="ko-KR" altLang="en-US" sz="700" dirty="0" err="1">
                <a:latin typeface="+mn-ea"/>
              </a:rPr>
              <a:t>우수사업주</a:t>
            </a:r>
            <a:r>
              <a:rPr lang="ko-KR" altLang="en-US" sz="700" dirty="0">
                <a:latin typeface="+mn-ea"/>
              </a:rPr>
              <a:t> 또는 장애인 표준사업장여부</a:t>
            </a:r>
          </a:p>
        </p:txBody>
      </p:sp>
      <p:sp>
        <p:nvSpPr>
          <p:cNvPr id="269" name="TextBox 268">
            <a:extLst>
              <a:ext uri="{FF2B5EF4-FFF2-40B4-BE49-F238E27FC236}">
                <a16:creationId xmlns:a16="http://schemas.microsoft.com/office/drawing/2014/main" id="{FFC49AEA-2A8F-250C-A86A-A7751D9706C3}"/>
              </a:ext>
            </a:extLst>
          </p:cNvPr>
          <p:cNvSpPr txBox="1"/>
          <p:nvPr/>
        </p:nvSpPr>
        <p:spPr>
          <a:xfrm>
            <a:off x="6038946" y="185751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70" name="직사각형 269"/>
          <p:cNvSpPr/>
          <p:nvPr/>
        </p:nvSpPr>
        <p:spPr>
          <a:xfrm>
            <a:off x="3837266" y="2127773"/>
            <a:ext cx="1639886" cy="63951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TextBox 270">
            <a:extLst>
              <a:ext uri="{FF2B5EF4-FFF2-40B4-BE49-F238E27FC236}">
                <a16:creationId xmlns:a16="http://schemas.microsoft.com/office/drawing/2014/main" id="{FFC49AEA-2A8F-250C-A86A-A7751D9706C3}"/>
              </a:ext>
            </a:extLst>
          </p:cNvPr>
          <p:cNvSpPr txBox="1"/>
          <p:nvPr/>
        </p:nvSpPr>
        <p:spPr>
          <a:xfrm>
            <a:off x="3924329" y="212777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72" name="TextBox 271">
            <a:extLst>
              <a:ext uri="{FF2B5EF4-FFF2-40B4-BE49-F238E27FC236}">
                <a16:creationId xmlns:a16="http://schemas.microsoft.com/office/drawing/2014/main" id="{FFC49AEA-2A8F-250C-A86A-A7751D9706C3}"/>
              </a:ext>
            </a:extLst>
          </p:cNvPr>
          <p:cNvSpPr txBox="1"/>
          <p:nvPr/>
        </p:nvSpPr>
        <p:spPr>
          <a:xfrm>
            <a:off x="5652371" y="212777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73" name="직선 연결선 272">
            <a:extLst>
              <a:ext uri="{FF2B5EF4-FFF2-40B4-BE49-F238E27FC236}">
                <a16:creationId xmlns:a16="http://schemas.microsoft.com/office/drawing/2014/main" id="{E9293055-D5CD-4B9E-7F64-64B2D2CA7A52}"/>
              </a:ext>
            </a:extLst>
          </p:cNvPr>
          <p:cNvCxnSpPr/>
          <p:nvPr/>
        </p:nvCxnSpPr>
        <p:spPr>
          <a:xfrm>
            <a:off x="3834569" y="212777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6662" y="23425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5" name="TextBox 274">
            <a:extLst>
              <a:ext uri="{FF2B5EF4-FFF2-40B4-BE49-F238E27FC236}">
                <a16:creationId xmlns:a16="http://schemas.microsoft.com/office/drawing/2014/main" id="{FFC49AEA-2A8F-250C-A86A-A7751D9706C3}"/>
              </a:ext>
            </a:extLst>
          </p:cNvPr>
          <p:cNvSpPr txBox="1"/>
          <p:nvPr/>
        </p:nvSpPr>
        <p:spPr>
          <a:xfrm>
            <a:off x="6072741" y="212777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38179" y="2394599"/>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장애인 고용 </a:t>
            </a:r>
            <a:r>
              <a:rPr lang="ko-KR" altLang="en-US" dirty="0" err="1"/>
              <a:t>우수사업주</a:t>
            </a:r>
            <a:r>
              <a:rPr lang="ko-KR" altLang="en-US" dirty="0"/>
              <a:t> 또는 </a:t>
            </a:r>
            <a:r>
              <a:rPr lang="ko-KR" altLang="en-US" dirty="0" err="1"/>
              <a:t>장애인표준</a:t>
            </a:r>
            <a:r>
              <a:rPr lang="ko-KR" altLang="en-US" dirty="0"/>
              <a:t> 사업장 여부</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5727135" y="250232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6408795" y="25023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840926" y="2770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018778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308</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266831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2952065"/>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375979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043547"/>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565733"/>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860510"/>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240977"/>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계약이행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524731"/>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하자발생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하자발생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bl>
          </a:graphicData>
        </a:graphic>
      </p:graphicFrame>
      <p:sp>
        <p:nvSpPr>
          <p:cNvPr id="12" name="TextBox 11">
            <a:extLst>
              <a:ext uri="{FF2B5EF4-FFF2-40B4-BE49-F238E27FC236}">
                <a16:creationId xmlns:a16="http://schemas.microsoft.com/office/drawing/2014/main" id="{21094B69-5C2F-8DC6-A9E9-CD1F7427DE2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3" name="Text Box 73">
            <a:extLst>
              <a:ext uri="{FF2B5EF4-FFF2-40B4-BE49-F238E27FC236}">
                <a16:creationId xmlns:a16="http://schemas.microsoft.com/office/drawing/2014/main" id="{545F9176-FFDA-C26E-2E97-84941C8EF77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14584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309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37985"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0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성실납세여부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성실납세여부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1754B9BA-4A2E-FC1C-6D9C-A87E37A11D6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E66E55D8-4428-3EF5-719F-23B08504C8D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79938723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310</a:t>
            </a:fld>
            <a:endParaRPr lang="ko-KR" altLang="en-US" dirty="0"/>
          </a:p>
        </p:txBody>
      </p:sp>
      <p:sp>
        <p:nvSpPr>
          <p:cNvPr id="12" name="TextBox 11">
            <a:extLst>
              <a:ext uri="{FF2B5EF4-FFF2-40B4-BE49-F238E27FC236}">
                <a16:creationId xmlns:a16="http://schemas.microsoft.com/office/drawing/2014/main" id="{DDAEDC2E-5E9F-B1E0-A87F-7307CAB1C281}"/>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D629202E-7CF1-29EA-23C9-CCFB0CE8B911}"/>
              </a:ext>
            </a:extLst>
          </p:cNvPr>
          <p:cNvGraphicFramePr>
            <a:graphicFrameLocks noGrp="1"/>
          </p:cNvGraphicFramePr>
          <p:nvPr>
            <p:extLst>
              <p:ext uri="{D42A27DB-BD31-4B8C-83A1-F6EECF244321}">
                <p14:modId xmlns:p14="http://schemas.microsoft.com/office/powerpoint/2010/main" val="3468632068"/>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4" name="Text Box 73">
            <a:extLst>
              <a:ext uri="{FF2B5EF4-FFF2-40B4-BE49-F238E27FC236}">
                <a16:creationId xmlns:a16="http://schemas.microsoft.com/office/drawing/2014/main" id="{B489788C-D4F9-1033-7C88-89B1508FFDA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6222972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 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59" name="직사각형 158"/>
          <p:cNvSpPr/>
          <p:nvPr/>
        </p:nvSpPr>
        <p:spPr>
          <a:xfrm>
            <a:off x="3828979" y="1979872"/>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1979873"/>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1979873"/>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3826887" y="1979873"/>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169275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1979873"/>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248301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264" name="직사각형 263"/>
          <p:cNvSpPr/>
          <p:nvPr/>
        </p:nvSpPr>
        <p:spPr>
          <a:xfrm>
            <a:off x="3823602" y="3297967"/>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3297968"/>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32979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32979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3512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3940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2810616"/>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301085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계약이행 성실도</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32979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2762513"/>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3565063"/>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a:p>
            <a:r>
              <a:rPr lang="en-US" altLang="ko-KR" sz="700" dirty="0">
                <a:latin typeface="+mn-ea"/>
              </a:rPr>
              <a:t>2.</a:t>
            </a:r>
            <a:r>
              <a:rPr lang="ko-KR" altLang="en-US" sz="700" dirty="0" err="1">
                <a:latin typeface="+mn-ea"/>
              </a:rPr>
              <a:t>납품지연</a:t>
            </a:r>
            <a:endParaRPr lang="ko-KR" altLang="en-US" sz="700" dirty="0">
              <a:latin typeface="+mn-ea"/>
            </a:endParaRPr>
          </a:p>
          <a:p>
            <a:r>
              <a:rPr lang="en-US" altLang="ko-KR" sz="700" dirty="0">
                <a:latin typeface="+mn-ea"/>
              </a:rPr>
              <a:t>3.</a:t>
            </a:r>
            <a:r>
              <a:rPr lang="ko-KR" altLang="en-US" sz="700" dirty="0">
                <a:latin typeface="+mn-ea"/>
              </a:rPr>
              <a:t>부정당업자 제재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374211" y="3672784"/>
            <a:ext cx="444032" cy="107722"/>
          </a:xfrm>
          <a:prstGeom prst="rect">
            <a:avLst/>
          </a:prstGeom>
          <a:noFill/>
        </p:spPr>
        <p:txBody>
          <a:bodyPr wrap="none" lIns="0" tIns="0" rIns="0" bIns="0" rtlCol="0">
            <a:spAutoFit/>
          </a:bodyPr>
          <a:lstStyle/>
          <a:p>
            <a:pPr algn="r"/>
            <a:r>
              <a:rPr lang="en-US" altLang="ko-KR" sz="700" dirty="0">
                <a:latin typeface="+mn-ea"/>
              </a:rPr>
              <a:t>+1.15 ~ -5</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36727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4282184"/>
            <a:ext cx="1639886" cy="12830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4282186"/>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428218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42821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44969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55662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399507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 </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42821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4549281"/>
            <a:ext cx="1480199" cy="969496"/>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혁신형</a:t>
            </a:r>
            <a:r>
              <a:rPr lang="ko-KR" altLang="en-US" sz="700" dirty="0">
                <a:latin typeface="+mn-ea"/>
              </a:rPr>
              <a:t> 중소기업</a:t>
            </a:r>
          </a:p>
          <a:p>
            <a:r>
              <a:rPr lang="en-US" altLang="ko-KR" sz="700" dirty="0">
                <a:latin typeface="+mn-ea"/>
              </a:rPr>
              <a:t>2.</a:t>
            </a:r>
            <a:r>
              <a:rPr lang="ko-KR" altLang="en-US" sz="700" dirty="0">
                <a:latin typeface="+mn-ea"/>
              </a:rPr>
              <a:t>노사협력우수</a:t>
            </a:r>
          </a:p>
          <a:p>
            <a:r>
              <a:rPr lang="en-US" altLang="ko-KR" sz="700" dirty="0">
                <a:latin typeface="+mn-ea"/>
              </a:rPr>
              <a:t>3.</a:t>
            </a:r>
            <a:r>
              <a:rPr lang="ko-KR" altLang="en-US" sz="700" dirty="0">
                <a:latin typeface="+mn-ea"/>
              </a:rPr>
              <a:t>비상대비 중점관리</a:t>
            </a:r>
          </a:p>
          <a:p>
            <a:r>
              <a:rPr lang="en-US" altLang="ko-KR" sz="700" dirty="0">
                <a:latin typeface="+mn-ea"/>
              </a:rPr>
              <a:t>4.</a:t>
            </a:r>
            <a:r>
              <a:rPr lang="ko-KR" altLang="en-US" sz="700" dirty="0">
                <a:latin typeface="+mn-ea"/>
              </a:rPr>
              <a:t>장애인기업</a:t>
            </a:r>
          </a:p>
          <a:p>
            <a:r>
              <a:rPr lang="en-US" altLang="ko-KR" sz="700" dirty="0">
                <a:latin typeface="+mn-ea"/>
              </a:rPr>
              <a:t>5.</a:t>
            </a:r>
            <a:r>
              <a:rPr lang="ko-KR" altLang="en-US" sz="700" dirty="0">
                <a:latin typeface="+mn-ea"/>
              </a:rPr>
              <a:t>가족친화</a:t>
            </a:r>
          </a:p>
          <a:p>
            <a:r>
              <a:rPr lang="en-US" altLang="ko-KR" sz="700" dirty="0">
                <a:latin typeface="+mn-ea"/>
              </a:rPr>
              <a:t>6.</a:t>
            </a:r>
            <a:r>
              <a:rPr lang="ko-KR" altLang="en-US" sz="700" dirty="0">
                <a:latin typeface="+mn-ea"/>
              </a:rPr>
              <a:t>고용창출</a:t>
            </a:r>
          </a:p>
          <a:p>
            <a:r>
              <a:rPr lang="en-US" altLang="ko-KR" sz="700" dirty="0">
                <a:latin typeface="+mn-ea"/>
              </a:rPr>
              <a:t>7.</a:t>
            </a:r>
            <a:r>
              <a:rPr lang="ko-KR" altLang="en-US" sz="700" dirty="0">
                <a:latin typeface="+mn-ea"/>
              </a:rPr>
              <a:t>여성기업 지원 등</a:t>
            </a:r>
          </a:p>
          <a:p>
            <a:r>
              <a:rPr lang="en-US" altLang="ko-KR" sz="700" dirty="0">
                <a:latin typeface="+mn-ea"/>
              </a:rPr>
              <a:t>8.</a:t>
            </a:r>
            <a:r>
              <a:rPr lang="ko-KR" altLang="en-US" sz="700" dirty="0" err="1">
                <a:latin typeface="+mn-ea"/>
              </a:rPr>
              <a:t>사회적기업</a:t>
            </a:r>
            <a:endParaRPr lang="ko-KR" altLang="en-US" sz="700" dirty="0">
              <a:latin typeface="+mn-ea"/>
            </a:endParaRPr>
          </a:p>
          <a:p>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4980168"/>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49801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49458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795734" y="5641890"/>
            <a:ext cx="2712027" cy="372724"/>
            <a:chOff x="676741" y="3122128"/>
            <a:chExt cx="2712027" cy="37272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1~2</a:t>
              </a:r>
              <a:r>
                <a:rPr lang="ko-KR" altLang="en-US" sz="700" dirty="0">
                  <a:latin typeface="+mn-ea"/>
                </a:rPr>
                <a:t>번 항을 합하여</a:t>
              </a:r>
              <a:endParaRPr lang="en-US" altLang="ko-KR" sz="700" dirty="0">
                <a:latin typeface="+mn-ea"/>
              </a:endParaRPr>
            </a:p>
            <a:p>
              <a:pPr algn="ctr" defTabSz="1013612">
                <a:defRPr/>
              </a:pPr>
              <a:r>
                <a:rPr lang="en-US" altLang="ko-KR" sz="700" dirty="0">
                  <a:latin typeface="+mn-ea"/>
                </a:rPr>
                <a:t>+1.15 ~ -5</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grpSp>
      <p:sp>
        <p:nvSpPr>
          <p:cNvPr id="98" name="타원 9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82405730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MUI-BD-10-T11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3" name="직사각형 172"/>
          <p:cNvSpPr/>
          <p:nvPr/>
        </p:nvSpPr>
        <p:spPr>
          <a:xfrm>
            <a:off x="704608" y="2015346"/>
            <a:ext cx="1639886" cy="9852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2015348"/>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201534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20153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22300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2999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152799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17282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20153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30720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2290674"/>
            <a:ext cx="1480199" cy="646331"/>
          </a:xfrm>
          <a:prstGeom prst="rect">
            <a:avLst/>
          </a:prstGeom>
          <a:noFill/>
        </p:spPr>
        <p:txBody>
          <a:bodyPr wrap="square" lIns="0" tIns="0" rIns="0" bIns="0" rtlCol="0">
            <a:spAutoFit/>
          </a:bodyPr>
          <a:lstStyle/>
          <a:p>
            <a:r>
              <a:rPr lang="ko-KR" altLang="en-US" sz="700" dirty="0">
                <a:latin typeface="+mn-ea"/>
              </a:rPr>
              <a:t>부도 등 및 부정당업자제재 상태인 경우 또는 부도 등의 우려가 있어 해당 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2559978"/>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25599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3" name="그룹 2"/>
          <p:cNvGrpSpPr/>
          <p:nvPr/>
        </p:nvGrpSpPr>
        <p:grpSpPr>
          <a:xfrm>
            <a:off x="675399" y="3115641"/>
            <a:ext cx="2713369" cy="3067770"/>
            <a:chOff x="682785" y="3077369"/>
            <a:chExt cx="2713369" cy="3067770"/>
          </a:xfrm>
        </p:grpSpPr>
        <p:sp>
          <p:nvSpPr>
            <p:cNvPr id="208" name="TextBox 207">
              <a:extLst>
                <a:ext uri="{FF2B5EF4-FFF2-40B4-BE49-F238E27FC236}">
                  <a16:creationId xmlns:a16="http://schemas.microsoft.com/office/drawing/2014/main" id="{FFC49AEA-2A8F-250C-A86A-A7751D9706C3}"/>
                </a:ext>
              </a:extLst>
            </p:cNvPr>
            <p:cNvSpPr txBox="1"/>
            <p:nvPr/>
          </p:nvSpPr>
          <p:spPr>
            <a:xfrm>
              <a:off x="770874" y="3077369"/>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 </a:t>
              </a:r>
              <a:r>
                <a:rPr lang="ko-KR" altLang="en-US" sz="700" dirty="0">
                  <a:latin typeface="+mn-ea"/>
                </a:rPr>
                <a:t>재무상태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30</a:t>
              </a:r>
              <a:r>
                <a:rPr lang="ko-KR" altLang="en-US" sz="700" dirty="0">
                  <a:latin typeface="+mn-ea"/>
                </a:rPr>
                <a:t>점</a:t>
              </a:r>
            </a:p>
          </p:txBody>
        </p:sp>
        <p:grpSp>
          <p:nvGrpSpPr>
            <p:cNvPr id="209" name="그룹 208"/>
            <p:cNvGrpSpPr/>
            <p:nvPr/>
          </p:nvGrpSpPr>
          <p:grpSpPr>
            <a:xfrm flipV="1">
              <a:off x="3132961" y="3190700"/>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684127" y="3364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9" name="그룹 88"/>
            <p:cNvGrpSpPr/>
            <p:nvPr/>
          </p:nvGrpSpPr>
          <p:grpSpPr>
            <a:xfrm>
              <a:off x="682785" y="3418417"/>
              <a:ext cx="2712027" cy="708570"/>
              <a:chOff x="675399" y="5469919"/>
              <a:chExt cx="2712027" cy="708570"/>
            </a:xfrm>
          </p:grpSpPr>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2" name="그룹 91"/>
              <p:cNvGrpSpPr/>
              <p:nvPr/>
            </p:nvGrpSpPr>
            <p:grpSpPr>
              <a:xfrm>
                <a:off x="701175" y="5469919"/>
                <a:ext cx="2630093" cy="646331"/>
                <a:chOff x="701175" y="1835481"/>
                <a:chExt cx="2630093" cy="646331"/>
              </a:xfrm>
            </p:grpSpPr>
            <p:sp>
              <p:nvSpPr>
                <p:cNvPr id="95" name="직사각형 94"/>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98" name="그룹 97"/>
                <p:cNvGrpSpPr/>
                <p:nvPr/>
              </p:nvGrpSpPr>
              <p:grpSpPr>
                <a:xfrm>
                  <a:off x="701175" y="1835481"/>
                  <a:ext cx="2630093" cy="644220"/>
                  <a:chOff x="701175" y="1835481"/>
                  <a:chExt cx="2630093" cy="644220"/>
                </a:xfrm>
              </p:grpSpPr>
              <p:cxnSp>
                <p:nvCxnSpPr>
                  <p:cNvPr id="99" name="직선 연결선 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sp>
          <p:nvSpPr>
            <p:cNvPr id="103" name="TextBox 102">
              <a:extLst>
                <a:ext uri="{FF2B5EF4-FFF2-40B4-BE49-F238E27FC236}">
                  <a16:creationId xmlns:a16="http://schemas.microsoft.com/office/drawing/2014/main" id="{FFC49AEA-2A8F-250C-A86A-A7751D9706C3}"/>
                </a:ext>
              </a:extLst>
            </p:cNvPr>
            <p:cNvSpPr txBox="1"/>
            <p:nvPr/>
          </p:nvSpPr>
          <p:spPr>
            <a:xfrm>
              <a:off x="770874" y="4161818"/>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r>
                <a:rPr lang="ko-KR" altLang="en-US" sz="700" dirty="0">
                  <a:latin typeface="+mn-ea"/>
                </a:rPr>
                <a:t>점</a:t>
              </a:r>
            </a:p>
          </p:txBody>
        </p:sp>
        <p:grpSp>
          <p:nvGrpSpPr>
            <p:cNvPr id="104" name="그룹 103"/>
            <p:cNvGrpSpPr/>
            <p:nvPr/>
          </p:nvGrpSpPr>
          <p:grpSpPr>
            <a:xfrm flipV="1">
              <a:off x="3132961" y="4275149"/>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7" name="직선 연결선 106">
              <a:extLst>
                <a:ext uri="{FF2B5EF4-FFF2-40B4-BE49-F238E27FC236}">
                  <a16:creationId xmlns:a16="http://schemas.microsoft.com/office/drawing/2014/main" id="{E9293055-D5CD-4B9E-7F64-64B2D2CA7A52}"/>
                </a:ext>
              </a:extLst>
            </p:cNvPr>
            <p:cNvCxnSpPr/>
            <p:nvPr/>
          </p:nvCxnSpPr>
          <p:spPr>
            <a:xfrm>
              <a:off x="684127" y="44486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684127" y="61451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9" name="그룹 108"/>
            <p:cNvGrpSpPr/>
            <p:nvPr/>
          </p:nvGrpSpPr>
          <p:grpSpPr>
            <a:xfrm>
              <a:off x="725094" y="4512743"/>
              <a:ext cx="2630093" cy="1094598"/>
              <a:chOff x="701175" y="1835480"/>
              <a:chExt cx="2630093" cy="1094598"/>
            </a:xfrm>
          </p:grpSpPr>
          <p:sp>
            <p:nvSpPr>
              <p:cNvPr id="110" name="직사각형 109"/>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13" name="그룹 112"/>
              <p:cNvGrpSpPr/>
              <p:nvPr/>
            </p:nvGrpSpPr>
            <p:grpSpPr>
              <a:xfrm>
                <a:off x="701175" y="1835481"/>
                <a:ext cx="2630093" cy="1094597"/>
                <a:chOff x="701175" y="1835481"/>
                <a:chExt cx="2630093" cy="1094597"/>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TextBox 119">
              <a:extLst>
                <a:ext uri="{FF2B5EF4-FFF2-40B4-BE49-F238E27FC236}">
                  <a16:creationId xmlns:a16="http://schemas.microsoft.com/office/drawing/2014/main" id="{FFC49AEA-2A8F-250C-A86A-A7751D9706C3}"/>
                </a:ext>
              </a:extLst>
            </p:cNvPr>
            <p:cNvSpPr txBox="1"/>
            <p:nvPr/>
          </p:nvSpPr>
          <p:spPr>
            <a:xfrm>
              <a:off x="812092" y="5724049"/>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65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grpSp>
      <p:sp>
        <p:nvSpPr>
          <p:cNvPr id="122" name="TextBox 121">
            <a:extLst>
              <a:ext uri="{FF2B5EF4-FFF2-40B4-BE49-F238E27FC236}">
                <a16:creationId xmlns:a16="http://schemas.microsoft.com/office/drawing/2014/main" id="{FFC49AEA-2A8F-250C-A86A-A7751D9706C3}"/>
              </a:ext>
            </a:extLst>
          </p:cNvPr>
          <p:cNvSpPr txBox="1"/>
          <p:nvPr/>
        </p:nvSpPr>
        <p:spPr>
          <a:xfrm>
            <a:off x="3883823" y="153087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+1.15 ~ -5</a:t>
            </a:r>
            <a:r>
              <a:rPr lang="ko-KR" altLang="en-US" sz="700" dirty="0">
                <a:latin typeface="+mn-ea"/>
              </a:rPr>
              <a:t>점</a:t>
            </a:r>
          </a:p>
        </p:txBody>
      </p:sp>
      <p:grpSp>
        <p:nvGrpSpPr>
          <p:cNvPr id="123" name="그룹 122"/>
          <p:cNvGrpSpPr/>
          <p:nvPr/>
        </p:nvGrpSpPr>
        <p:grpSpPr>
          <a:xfrm flipV="1">
            <a:off x="6245910" y="164420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6" name="직선 연결선 125">
            <a:extLst>
              <a:ext uri="{FF2B5EF4-FFF2-40B4-BE49-F238E27FC236}">
                <a16:creationId xmlns:a16="http://schemas.microsoft.com/office/drawing/2014/main" id="{E9293055-D5CD-4B9E-7F64-64B2D2CA7A52}"/>
              </a:ext>
            </a:extLst>
          </p:cNvPr>
          <p:cNvCxnSpPr/>
          <p:nvPr/>
        </p:nvCxnSpPr>
        <p:spPr>
          <a:xfrm>
            <a:off x="3797076"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3910665"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계약이행 성실도</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3914929" y="202923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4439786" y="2102520"/>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err="1">
                <a:latin typeface="+mn-ea"/>
              </a:rPr>
              <a:t>품질발생</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3914929" y="221301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4439786" y="2286300"/>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6041078" y="228630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70" name="직사각형 169"/>
          <p:cNvSpPr/>
          <p:nvPr/>
        </p:nvSpPr>
        <p:spPr>
          <a:xfrm>
            <a:off x="3839398" y="2447378"/>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26461" y="244737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654503" y="244737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3836701" y="24473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38794" y="26621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3838794" y="47962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6074873" y="244737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3940311" y="2710895"/>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 발생사실이 있는 자로서 하자가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p>
          <a:p>
            <a:r>
              <a:rPr lang="ko-KR" altLang="en-US" dirty="0"/>
              <a:t>① </a:t>
            </a:r>
            <a:r>
              <a:rPr lang="en-US" altLang="ko-KR" dirty="0"/>
              <a:t>5%</a:t>
            </a:r>
            <a:r>
              <a:rPr lang="ko-KR" altLang="en-US" dirty="0"/>
              <a:t>이상</a:t>
            </a:r>
          </a:p>
          <a:p>
            <a:r>
              <a:rPr lang="ko-KR" altLang="en-US" dirty="0"/>
              <a:t>② </a:t>
            </a:r>
            <a:r>
              <a:rPr lang="en-US" altLang="ko-KR" dirty="0"/>
              <a:t>3%</a:t>
            </a:r>
            <a:r>
              <a:rPr lang="ko-KR" altLang="en-US" dirty="0"/>
              <a:t>이상 ∼ </a:t>
            </a:r>
            <a:r>
              <a:rPr lang="en-US" altLang="ko-KR" dirty="0"/>
              <a:t>5%</a:t>
            </a:r>
            <a:r>
              <a:rPr lang="ko-KR" altLang="en-US" dirty="0"/>
              <a:t>미만</a:t>
            </a:r>
          </a:p>
          <a:p>
            <a:r>
              <a:rPr lang="ko-KR" altLang="en-US" dirty="0"/>
              <a:t>③ </a:t>
            </a:r>
            <a:r>
              <a:rPr lang="en-US" altLang="ko-KR" dirty="0"/>
              <a:t>1%</a:t>
            </a:r>
            <a:r>
              <a:rPr lang="ko-KR" altLang="en-US" dirty="0"/>
              <a:t>이상 ∼ </a:t>
            </a:r>
            <a:r>
              <a:rPr lang="en-US" altLang="ko-KR" dirty="0"/>
              <a:t>3% </a:t>
            </a:r>
            <a:r>
              <a:rPr lang="ko-KR" altLang="en-US" dirty="0"/>
              <a:t>미만</a:t>
            </a:r>
          </a:p>
          <a:p>
            <a:r>
              <a:rPr lang="ko-KR" altLang="en-US" dirty="0"/>
              <a:t>④ </a:t>
            </a:r>
            <a:r>
              <a:rPr lang="en-US" altLang="ko-KR" dirty="0"/>
              <a:t>0.1%</a:t>
            </a:r>
            <a:r>
              <a:rPr lang="ko-KR" altLang="en-US" dirty="0"/>
              <a:t>이상 ∼ </a:t>
            </a:r>
            <a:r>
              <a:rPr lang="en-US" altLang="ko-KR" dirty="0"/>
              <a:t>1% </a:t>
            </a:r>
            <a:r>
              <a:rPr lang="ko-KR" altLang="en-US" dirty="0"/>
              <a:t>미만</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5692397" y="3249504"/>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192" name="TextBox 191">
            <a:extLst>
              <a:ext uri="{FF2B5EF4-FFF2-40B4-BE49-F238E27FC236}">
                <a16:creationId xmlns:a16="http://schemas.microsoft.com/office/drawing/2014/main" id="{FFC49AEA-2A8F-250C-A86A-A7751D9706C3}"/>
              </a:ext>
            </a:extLst>
          </p:cNvPr>
          <p:cNvSpPr txBox="1"/>
          <p:nvPr/>
        </p:nvSpPr>
        <p:spPr>
          <a:xfrm>
            <a:off x="6410927" y="367530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3940311" y="3777947"/>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p>
          <a:p>
            <a:r>
              <a:rPr lang="ko-KR" altLang="en-US" dirty="0"/>
              <a:t>② </a:t>
            </a:r>
            <a:r>
              <a:rPr lang="en-US" altLang="ko-KR" dirty="0"/>
              <a:t>10%</a:t>
            </a:r>
            <a:r>
              <a:rPr lang="ko-KR" altLang="en-US" dirty="0"/>
              <a:t>이상 ∼ </a:t>
            </a:r>
            <a:r>
              <a:rPr lang="en-US" altLang="ko-KR" dirty="0"/>
              <a:t>20%</a:t>
            </a:r>
            <a:r>
              <a:rPr lang="ko-KR" altLang="en-US" dirty="0"/>
              <a:t>미만</a:t>
            </a:r>
          </a:p>
          <a:p>
            <a:r>
              <a:rPr lang="ko-KR" altLang="en-US" dirty="0"/>
              <a:t>③ </a:t>
            </a:r>
            <a:r>
              <a:rPr lang="en-US" altLang="ko-KR" dirty="0"/>
              <a:t>1%</a:t>
            </a:r>
            <a:r>
              <a:rPr lang="ko-KR" altLang="en-US" dirty="0"/>
              <a:t>이상 ∼ </a:t>
            </a:r>
            <a:r>
              <a:rPr lang="en-US" altLang="ko-KR" dirty="0"/>
              <a:t>10%</a:t>
            </a:r>
            <a:r>
              <a:rPr lang="ko-KR" altLang="en-US" dirty="0"/>
              <a:t>미만</a:t>
            </a:r>
          </a:p>
          <a:p>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43649" y="37291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5692397" y="4316556"/>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94" name="타원 9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03504084"/>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MUI-BD-10-T11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411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15086" y="1491157"/>
            <a:ext cx="2630093" cy="1790884"/>
            <a:chOff x="3836701" y="4837950"/>
            <a:chExt cx="2630093" cy="1790884"/>
          </a:xfrm>
        </p:grpSpPr>
        <p:sp>
          <p:nvSpPr>
            <p:cNvPr id="121" name="TextBox 120">
              <a:extLst>
                <a:ext uri="{FF2B5EF4-FFF2-40B4-BE49-F238E27FC236}">
                  <a16:creationId xmlns:a16="http://schemas.microsoft.com/office/drawing/2014/main" id="{FFC49AEA-2A8F-250C-A86A-A7751D9706C3}"/>
                </a:ext>
              </a:extLst>
            </p:cNvPr>
            <p:cNvSpPr txBox="1"/>
            <p:nvPr/>
          </p:nvSpPr>
          <p:spPr>
            <a:xfrm>
              <a:off x="3914929" y="48379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4439786" y="491123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3914929" y="502173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4439786" y="5095018"/>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6041078" y="509501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32" name="직사각형 131"/>
            <p:cNvSpPr/>
            <p:nvPr/>
          </p:nvSpPr>
          <p:spPr>
            <a:xfrm>
              <a:off x="3839398" y="5256096"/>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3926461" y="5256097"/>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5654503" y="5256097"/>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3836701" y="52560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3838794" y="54708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3838794" y="66288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8" name="TextBox 137">
              <a:extLst>
                <a:ext uri="{FF2B5EF4-FFF2-40B4-BE49-F238E27FC236}">
                  <a16:creationId xmlns:a16="http://schemas.microsoft.com/office/drawing/2014/main" id="{FFC49AEA-2A8F-250C-A86A-A7751D9706C3}"/>
                </a:ext>
              </a:extLst>
            </p:cNvPr>
            <p:cNvSpPr txBox="1"/>
            <p:nvPr/>
          </p:nvSpPr>
          <p:spPr>
            <a:xfrm>
              <a:off x="6074873" y="525609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3940311" y="5519613"/>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p>
            <a:p>
              <a:r>
                <a:rPr lang="en-US" altLang="ko-KR" dirty="0"/>
                <a:t>- 7%</a:t>
              </a:r>
              <a:r>
                <a:rPr lang="ko-KR" altLang="en-US" dirty="0"/>
                <a:t>이상</a:t>
              </a:r>
            </a:p>
            <a:p>
              <a:r>
                <a:rPr lang="en-US" altLang="ko-KR" dirty="0"/>
                <a:t>- 5%</a:t>
              </a:r>
              <a:r>
                <a:rPr lang="ko-KR" altLang="en-US" dirty="0"/>
                <a:t>이상 ∼ </a:t>
              </a:r>
              <a:r>
                <a:rPr lang="en-US" altLang="ko-KR" dirty="0"/>
                <a:t>7%</a:t>
              </a:r>
              <a:r>
                <a:rPr lang="ko-KR" altLang="en-US" dirty="0"/>
                <a:t>미만</a:t>
              </a:r>
            </a:p>
            <a:p>
              <a:r>
                <a:rPr lang="en-US" altLang="ko-KR" dirty="0"/>
                <a:t>- 3%</a:t>
              </a:r>
              <a:r>
                <a:rPr lang="ko-KR" altLang="en-US" dirty="0"/>
                <a:t>이상 ∼ </a:t>
              </a:r>
              <a:r>
                <a:rPr lang="en-US" altLang="ko-KR" dirty="0"/>
                <a:t>5%</a:t>
              </a:r>
              <a:r>
                <a:rPr lang="ko-KR" altLang="en-US" dirty="0"/>
                <a:t>미만</a:t>
              </a:r>
            </a:p>
            <a:p>
              <a:r>
                <a:rPr lang="en-US" altLang="ko-KR" dirty="0"/>
                <a:t>- 1%</a:t>
              </a:r>
              <a:r>
                <a:rPr lang="ko-KR" altLang="en-US" dirty="0"/>
                <a:t>이상 ∼ </a:t>
              </a:r>
              <a:r>
                <a:rPr lang="en-US" altLang="ko-KR" dirty="0"/>
                <a:t>3%</a:t>
              </a:r>
              <a:r>
                <a:rPr lang="ko-KR" altLang="en-US" dirty="0"/>
                <a:t>미만</a:t>
              </a:r>
            </a:p>
            <a:p>
              <a:r>
                <a:rPr lang="en-US" altLang="ko-KR" dirty="0"/>
                <a:t>- 0.1%</a:t>
              </a:r>
              <a:r>
                <a:rPr lang="ko-KR" altLang="en-US" dirty="0"/>
                <a:t>이상 ∼ </a:t>
              </a:r>
              <a:r>
                <a:rPr lang="en-US" altLang="ko-KR" dirty="0"/>
                <a:t>1%</a:t>
              </a:r>
              <a:r>
                <a:rPr lang="ko-KR" altLang="en-US" dirty="0"/>
                <a:t>미만</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5692397" y="6058222"/>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6410927" y="5995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5399" y="55796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794594" y="329881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1319451" y="3372103"/>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794594" y="348259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319451" y="3555883"/>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2920743" y="355588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65" name="직사각형 164"/>
          <p:cNvSpPr/>
          <p:nvPr/>
        </p:nvSpPr>
        <p:spPr>
          <a:xfrm>
            <a:off x="719063" y="3716961"/>
            <a:ext cx="1639886" cy="180356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TextBox 217">
            <a:extLst>
              <a:ext uri="{FF2B5EF4-FFF2-40B4-BE49-F238E27FC236}">
                <a16:creationId xmlns:a16="http://schemas.microsoft.com/office/drawing/2014/main" id="{FFC49AEA-2A8F-250C-A86A-A7751D9706C3}"/>
              </a:ext>
            </a:extLst>
          </p:cNvPr>
          <p:cNvSpPr txBox="1"/>
          <p:nvPr/>
        </p:nvSpPr>
        <p:spPr>
          <a:xfrm>
            <a:off x="806126" y="371696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2534168" y="371696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716366" y="37169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18459" y="39317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18459" y="55205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2954538" y="371696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819976" y="3972089"/>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72062" y="4591476"/>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3290592" y="46722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819976" y="4591476"/>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819976" y="477997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819976" y="507619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1</a:t>
            </a:r>
            <a:r>
              <a:rPr lang="ko-KR" altLang="en-US" dirty="0"/>
              <a:t>년 미만인 경우</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819976" y="5372420"/>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미만인 경우</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2572062" y="4833837"/>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2572062" y="5130059"/>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2572062" y="5372420"/>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34" name="직선 연결선 233">
            <a:extLst>
              <a:ext uri="{FF2B5EF4-FFF2-40B4-BE49-F238E27FC236}">
                <a16:creationId xmlns:a16="http://schemas.microsoft.com/office/drawing/2014/main" id="{E9293055-D5CD-4B9E-7F64-64B2D2CA7A52}"/>
              </a:ext>
            </a:extLst>
          </p:cNvPr>
          <p:cNvCxnSpPr/>
          <p:nvPr/>
        </p:nvCxnSpPr>
        <p:spPr>
          <a:xfrm>
            <a:off x="718459" y="455108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5" name="직선 연결선 234">
            <a:extLst>
              <a:ext uri="{FF2B5EF4-FFF2-40B4-BE49-F238E27FC236}">
                <a16:creationId xmlns:a16="http://schemas.microsoft.com/office/drawing/2014/main" id="{E9293055-D5CD-4B9E-7F64-64B2D2CA7A52}"/>
              </a:ext>
            </a:extLst>
          </p:cNvPr>
          <p:cNvCxnSpPr/>
          <p:nvPr/>
        </p:nvCxnSpPr>
        <p:spPr>
          <a:xfrm>
            <a:off x="718459" y="473958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6" name="직선 연결선 235">
            <a:extLst>
              <a:ext uri="{FF2B5EF4-FFF2-40B4-BE49-F238E27FC236}">
                <a16:creationId xmlns:a16="http://schemas.microsoft.com/office/drawing/2014/main" id="{E9293055-D5CD-4B9E-7F64-64B2D2CA7A52}"/>
              </a:ext>
            </a:extLst>
          </p:cNvPr>
          <p:cNvCxnSpPr/>
          <p:nvPr/>
        </p:nvCxnSpPr>
        <p:spPr>
          <a:xfrm>
            <a:off x="718459" y="503580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7" name="직선 연결선 236">
            <a:extLst>
              <a:ext uri="{FF2B5EF4-FFF2-40B4-BE49-F238E27FC236}">
                <a16:creationId xmlns:a16="http://schemas.microsoft.com/office/drawing/2014/main" id="{E9293055-D5CD-4B9E-7F64-64B2D2CA7A52}"/>
              </a:ext>
            </a:extLst>
          </p:cNvPr>
          <p:cNvCxnSpPr/>
          <p:nvPr/>
        </p:nvCxnSpPr>
        <p:spPr>
          <a:xfrm>
            <a:off x="718459" y="53320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8" name="TextBox 237">
            <a:extLst>
              <a:ext uri="{FF2B5EF4-FFF2-40B4-BE49-F238E27FC236}">
                <a16:creationId xmlns:a16="http://schemas.microsoft.com/office/drawing/2014/main" id="{FFC49AEA-2A8F-250C-A86A-A7751D9706C3}"/>
              </a:ext>
            </a:extLst>
          </p:cNvPr>
          <p:cNvSpPr txBox="1"/>
          <p:nvPr/>
        </p:nvSpPr>
        <p:spPr>
          <a:xfrm>
            <a:off x="3914929"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3914929" y="16927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4439786" y="1766046"/>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혁신형중소기업</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3914929" y="18765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42" name="TextBox 241">
            <a:extLst>
              <a:ext uri="{FF2B5EF4-FFF2-40B4-BE49-F238E27FC236}">
                <a16:creationId xmlns:a16="http://schemas.microsoft.com/office/drawing/2014/main" id="{FFC49AEA-2A8F-250C-A86A-A7751D9706C3}"/>
              </a:ext>
            </a:extLst>
          </p:cNvPr>
          <p:cNvSpPr txBox="1"/>
          <p:nvPr/>
        </p:nvSpPr>
        <p:spPr>
          <a:xfrm>
            <a:off x="4439786" y="1949826"/>
            <a:ext cx="2010812" cy="107722"/>
          </a:xfrm>
          <a:prstGeom prst="rect">
            <a:avLst/>
          </a:prstGeom>
          <a:noFill/>
        </p:spPr>
        <p:txBody>
          <a:bodyPr wrap="square" lIns="0" tIns="0" rIns="0" bIns="0" rtlCol="0">
            <a:spAutoFit/>
          </a:bodyPr>
          <a:lstStyle/>
          <a:p>
            <a:r>
              <a:rPr lang="ko-KR" altLang="en-US" sz="700" dirty="0">
                <a:latin typeface="+mn-ea"/>
              </a:rPr>
              <a:t>혁신형중소기업</a:t>
            </a:r>
          </a:p>
        </p:txBody>
      </p:sp>
      <p:sp>
        <p:nvSpPr>
          <p:cNvPr id="243" name="TextBox 242">
            <a:extLst>
              <a:ext uri="{FF2B5EF4-FFF2-40B4-BE49-F238E27FC236}">
                <a16:creationId xmlns:a16="http://schemas.microsoft.com/office/drawing/2014/main" id="{FFC49AEA-2A8F-250C-A86A-A7751D9706C3}"/>
              </a:ext>
            </a:extLst>
          </p:cNvPr>
          <p:cNvSpPr txBox="1"/>
          <p:nvPr/>
        </p:nvSpPr>
        <p:spPr>
          <a:xfrm>
            <a:off x="6041078" y="19498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44" name="직사각형 243"/>
          <p:cNvSpPr/>
          <p:nvPr/>
        </p:nvSpPr>
        <p:spPr>
          <a:xfrm>
            <a:off x="3835134" y="2105659"/>
            <a:ext cx="1639886" cy="10398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5" name="TextBox 244">
            <a:extLst>
              <a:ext uri="{FF2B5EF4-FFF2-40B4-BE49-F238E27FC236}">
                <a16:creationId xmlns:a16="http://schemas.microsoft.com/office/drawing/2014/main" id="{FFC49AEA-2A8F-250C-A86A-A7751D9706C3}"/>
              </a:ext>
            </a:extLst>
          </p:cNvPr>
          <p:cNvSpPr txBox="1"/>
          <p:nvPr/>
        </p:nvSpPr>
        <p:spPr>
          <a:xfrm>
            <a:off x="3922197" y="210566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6" name="TextBox 245">
            <a:extLst>
              <a:ext uri="{FF2B5EF4-FFF2-40B4-BE49-F238E27FC236}">
                <a16:creationId xmlns:a16="http://schemas.microsoft.com/office/drawing/2014/main" id="{FFC49AEA-2A8F-250C-A86A-A7751D9706C3}"/>
              </a:ext>
            </a:extLst>
          </p:cNvPr>
          <p:cNvSpPr txBox="1"/>
          <p:nvPr/>
        </p:nvSpPr>
        <p:spPr>
          <a:xfrm>
            <a:off x="5650239" y="210566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47" name="직선 연결선 246">
            <a:extLst>
              <a:ext uri="{FF2B5EF4-FFF2-40B4-BE49-F238E27FC236}">
                <a16:creationId xmlns:a16="http://schemas.microsoft.com/office/drawing/2014/main" id="{E9293055-D5CD-4B9E-7F64-64B2D2CA7A52}"/>
              </a:ext>
            </a:extLst>
          </p:cNvPr>
          <p:cNvCxnSpPr/>
          <p:nvPr/>
        </p:nvCxnSpPr>
        <p:spPr>
          <a:xfrm>
            <a:off x="3832437" y="210565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4530" y="23203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3834530" y="31551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6070609" y="210566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1" name="TextBox 250">
            <a:extLst>
              <a:ext uri="{FF2B5EF4-FFF2-40B4-BE49-F238E27FC236}">
                <a16:creationId xmlns:a16="http://schemas.microsoft.com/office/drawing/2014/main" id="{FFC49AEA-2A8F-250C-A86A-A7751D9706C3}"/>
              </a:ext>
            </a:extLst>
          </p:cNvPr>
          <p:cNvSpPr txBox="1"/>
          <p:nvPr/>
        </p:nvSpPr>
        <p:spPr>
          <a:xfrm>
            <a:off x="3936047" y="236874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중소기업청장</a:t>
            </a:r>
            <a:r>
              <a:rPr lang="en-US" altLang="ko-KR" dirty="0"/>
              <a:t>(</a:t>
            </a:r>
            <a:r>
              <a:rPr lang="ko-KR" altLang="en-US" dirty="0"/>
              <a:t>또는 </a:t>
            </a:r>
            <a:r>
              <a:rPr lang="ko-KR" altLang="en-US" dirty="0" err="1"/>
              <a:t>위임받은자</a:t>
            </a:r>
            <a:r>
              <a:rPr lang="en-US" altLang="ko-KR" dirty="0"/>
              <a:t>)</a:t>
            </a:r>
            <a:r>
              <a:rPr lang="ko-KR" altLang="en-US" dirty="0"/>
              <a:t>에 의해 ‘</a:t>
            </a:r>
            <a:r>
              <a:rPr lang="ko-KR" altLang="en-US" dirty="0" err="1"/>
              <a:t>기술혁신형</a:t>
            </a:r>
            <a:r>
              <a:rPr lang="ko-KR" altLang="en-US" dirty="0"/>
              <a:t> 중소기업</a:t>
            </a:r>
            <a:r>
              <a:rPr lang="en-US" altLang="ko-KR" dirty="0"/>
              <a:t>(INNO-BIZ)’</a:t>
            </a:r>
            <a:r>
              <a:rPr lang="ko-KR" altLang="en-US" dirty="0"/>
              <a:t>으로 지정 </a:t>
            </a:r>
            <a:r>
              <a:rPr lang="ko-KR" altLang="en-US" dirty="0" err="1"/>
              <a:t>받은자</a:t>
            </a:r>
            <a:endParaRPr lang="ko-KR" altLang="en-US" dirty="0"/>
          </a:p>
        </p:txBody>
      </p:sp>
      <p:sp>
        <p:nvSpPr>
          <p:cNvPr id="252" name="TextBox 251">
            <a:extLst>
              <a:ext uri="{FF2B5EF4-FFF2-40B4-BE49-F238E27FC236}">
                <a16:creationId xmlns:a16="http://schemas.microsoft.com/office/drawing/2014/main" id="{FFC49AEA-2A8F-250C-A86A-A7751D9706C3}"/>
              </a:ext>
            </a:extLst>
          </p:cNvPr>
          <p:cNvSpPr txBox="1"/>
          <p:nvPr/>
        </p:nvSpPr>
        <p:spPr>
          <a:xfrm>
            <a:off x="6406663" y="268389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3" name="TextBox 252">
            <a:extLst>
              <a:ext uri="{FF2B5EF4-FFF2-40B4-BE49-F238E27FC236}">
                <a16:creationId xmlns:a16="http://schemas.microsoft.com/office/drawing/2014/main" id="{FFC49AEA-2A8F-250C-A86A-A7751D9706C3}"/>
              </a:ext>
            </a:extLst>
          </p:cNvPr>
          <p:cNvSpPr txBox="1"/>
          <p:nvPr/>
        </p:nvSpPr>
        <p:spPr>
          <a:xfrm>
            <a:off x="5725003" y="279783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3936047" y="27978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err="1"/>
              <a:t>혁신형기업이면서</a:t>
            </a:r>
            <a:r>
              <a:rPr lang="ko-KR" altLang="en-US" dirty="0"/>
              <a:t> 제조기업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36047" y="29863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err="1"/>
              <a:t>혁신형기업</a:t>
            </a:r>
            <a:endParaRPr lang="ko-KR" altLang="en-US" dirty="0"/>
          </a:p>
        </p:txBody>
      </p:sp>
      <p:sp>
        <p:nvSpPr>
          <p:cNvPr id="256" name="TextBox 255">
            <a:extLst>
              <a:ext uri="{FF2B5EF4-FFF2-40B4-BE49-F238E27FC236}">
                <a16:creationId xmlns:a16="http://schemas.microsoft.com/office/drawing/2014/main" id="{FFC49AEA-2A8F-250C-A86A-A7751D9706C3}"/>
              </a:ext>
            </a:extLst>
          </p:cNvPr>
          <p:cNvSpPr txBox="1"/>
          <p:nvPr/>
        </p:nvSpPr>
        <p:spPr>
          <a:xfrm>
            <a:off x="5725002" y="2986332"/>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257" name="직선 연결선 256">
            <a:extLst>
              <a:ext uri="{FF2B5EF4-FFF2-40B4-BE49-F238E27FC236}">
                <a16:creationId xmlns:a16="http://schemas.microsoft.com/office/drawing/2014/main" id="{E9293055-D5CD-4B9E-7F64-64B2D2CA7A52}"/>
              </a:ext>
            </a:extLst>
          </p:cNvPr>
          <p:cNvCxnSpPr/>
          <p:nvPr/>
        </p:nvCxnSpPr>
        <p:spPr>
          <a:xfrm>
            <a:off x="3834530" y="27574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8" name="직선 연결선 257">
            <a:extLst>
              <a:ext uri="{FF2B5EF4-FFF2-40B4-BE49-F238E27FC236}">
                <a16:creationId xmlns:a16="http://schemas.microsoft.com/office/drawing/2014/main" id="{E9293055-D5CD-4B9E-7F64-64B2D2CA7A52}"/>
              </a:ext>
            </a:extLst>
          </p:cNvPr>
          <p:cNvCxnSpPr/>
          <p:nvPr/>
        </p:nvCxnSpPr>
        <p:spPr>
          <a:xfrm>
            <a:off x="3834530" y="29459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9" name="TextBox 258">
            <a:extLst>
              <a:ext uri="{FF2B5EF4-FFF2-40B4-BE49-F238E27FC236}">
                <a16:creationId xmlns:a16="http://schemas.microsoft.com/office/drawing/2014/main" id="{FFC49AEA-2A8F-250C-A86A-A7751D9706C3}"/>
              </a:ext>
            </a:extLst>
          </p:cNvPr>
          <p:cNvSpPr txBox="1"/>
          <p:nvPr/>
        </p:nvSpPr>
        <p:spPr>
          <a:xfrm>
            <a:off x="5725002" y="403176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60" name="TextBox 259">
            <a:extLst>
              <a:ext uri="{FF2B5EF4-FFF2-40B4-BE49-F238E27FC236}">
                <a16:creationId xmlns:a16="http://schemas.microsoft.com/office/drawing/2014/main" id="{FFC49AEA-2A8F-250C-A86A-A7751D9706C3}"/>
              </a:ext>
            </a:extLst>
          </p:cNvPr>
          <p:cNvSpPr txBox="1"/>
          <p:nvPr/>
        </p:nvSpPr>
        <p:spPr>
          <a:xfrm>
            <a:off x="3914929" y="319420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4439786" y="326748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노사협력우수</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3914929" y="337798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4439786" y="3451268"/>
            <a:ext cx="2010812" cy="107722"/>
          </a:xfrm>
          <a:prstGeom prst="rect">
            <a:avLst/>
          </a:prstGeom>
          <a:noFill/>
        </p:spPr>
        <p:txBody>
          <a:bodyPr wrap="square" lIns="0" tIns="0" rIns="0" bIns="0" rtlCol="0">
            <a:spAutoFit/>
          </a:bodyPr>
          <a:lstStyle/>
          <a:p>
            <a:r>
              <a:rPr lang="ko-KR" altLang="en-US" sz="700" dirty="0">
                <a:latin typeface="+mn-ea"/>
              </a:rPr>
              <a:t>노사협력우수</a:t>
            </a:r>
          </a:p>
        </p:txBody>
      </p:sp>
      <p:sp>
        <p:nvSpPr>
          <p:cNvPr id="264" name="TextBox 263">
            <a:extLst>
              <a:ext uri="{FF2B5EF4-FFF2-40B4-BE49-F238E27FC236}">
                <a16:creationId xmlns:a16="http://schemas.microsoft.com/office/drawing/2014/main" id="{FFC49AEA-2A8F-250C-A86A-A7751D9706C3}"/>
              </a:ext>
            </a:extLst>
          </p:cNvPr>
          <p:cNvSpPr txBox="1"/>
          <p:nvPr/>
        </p:nvSpPr>
        <p:spPr>
          <a:xfrm>
            <a:off x="6041078" y="345126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65" name="직사각형 264"/>
          <p:cNvSpPr/>
          <p:nvPr/>
        </p:nvSpPr>
        <p:spPr>
          <a:xfrm>
            <a:off x="3835134" y="3607101"/>
            <a:ext cx="1639886" cy="7491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6" name="TextBox 265">
            <a:extLst>
              <a:ext uri="{FF2B5EF4-FFF2-40B4-BE49-F238E27FC236}">
                <a16:creationId xmlns:a16="http://schemas.microsoft.com/office/drawing/2014/main" id="{FFC49AEA-2A8F-250C-A86A-A7751D9706C3}"/>
              </a:ext>
            </a:extLst>
          </p:cNvPr>
          <p:cNvSpPr txBox="1"/>
          <p:nvPr/>
        </p:nvSpPr>
        <p:spPr>
          <a:xfrm>
            <a:off x="3922197" y="360710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5650239" y="360710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32437" y="360710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34530" y="3821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34530" y="43563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6070609" y="360710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2" name="TextBox 271">
            <a:extLst>
              <a:ext uri="{FF2B5EF4-FFF2-40B4-BE49-F238E27FC236}">
                <a16:creationId xmlns:a16="http://schemas.microsoft.com/office/drawing/2014/main" id="{FFC49AEA-2A8F-250C-A86A-A7751D9706C3}"/>
              </a:ext>
            </a:extLst>
          </p:cNvPr>
          <p:cNvSpPr txBox="1"/>
          <p:nvPr/>
        </p:nvSpPr>
        <p:spPr>
          <a:xfrm>
            <a:off x="3936047" y="3870186"/>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br>
              <a:rPr lang="en-US" altLang="ko-KR" dirty="0"/>
            </a:br>
            <a:r>
              <a:rPr lang="en-US" altLang="ko-KR" dirty="0"/>
              <a:t>* </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406663" y="40317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5725002" y="512427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3914929" y="439442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76" name="TextBox 275">
            <a:extLst>
              <a:ext uri="{FF2B5EF4-FFF2-40B4-BE49-F238E27FC236}">
                <a16:creationId xmlns:a16="http://schemas.microsoft.com/office/drawing/2014/main" id="{FFC49AEA-2A8F-250C-A86A-A7751D9706C3}"/>
              </a:ext>
            </a:extLst>
          </p:cNvPr>
          <p:cNvSpPr txBox="1"/>
          <p:nvPr/>
        </p:nvSpPr>
        <p:spPr>
          <a:xfrm>
            <a:off x="4439786" y="4467717"/>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비상대비</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3914929" y="457820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4439786" y="4651497"/>
            <a:ext cx="2010812" cy="107722"/>
          </a:xfrm>
          <a:prstGeom prst="rect">
            <a:avLst/>
          </a:prstGeom>
          <a:noFill/>
        </p:spPr>
        <p:txBody>
          <a:bodyPr wrap="square" lIns="0" tIns="0" rIns="0" bIns="0" rtlCol="0">
            <a:spAutoFit/>
          </a:bodyPr>
          <a:lstStyle/>
          <a:p>
            <a:r>
              <a:rPr lang="ko-KR" altLang="en-US" sz="700" dirty="0">
                <a:latin typeface="+mn-ea"/>
              </a:rPr>
              <a:t>비상대비중점관리</a:t>
            </a:r>
          </a:p>
        </p:txBody>
      </p:sp>
      <p:sp>
        <p:nvSpPr>
          <p:cNvPr id="279" name="TextBox 278">
            <a:extLst>
              <a:ext uri="{FF2B5EF4-FFF2-40B4-BE49-F238E27FC236}">
                <a16:creationId xmlns:a16="http://schemas.microsoft.com/office/drawing/2014/main" id="{FFC49AEA-2A8F-250C-A86A-A7751D9706C3}"/>
              </a:ext>
            </a:extLst>
          </p:cNvPr>
          <p:cNvSpPr txBox="1"/>
          <p:nvPr/>
        </p:nvSpPr>
        <p:spPr>
          <a:xfrm>
            <a:off x="6041078" y="465149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80" name="직사각형 279"/>
          <p:cNvSpPr/>
          <p:nvPr/>
        </p:nvSpPr>
        <p:spPr>
          <a:xfrm>
            <a:off x="3835134" y="4807331"/>
            <a:ext cx="1639886" cy="5157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1" name="TextBox 280">
            <a:extLst>
              <a:ext uri="{FF2B5EF4-FFF2-40B4-BE49-F238E27FC236}">
                <a16:creationId xmlns:a16="http://schemas.microsoft.com/office/drawing/2014/main" id="{FFC49AEA-2A8F-250C-A86A-A7751D9706C3}"/>
              </a:ext>
            </a:extLst>
          </p:cNvPr>
          <p:cNvSpPr txBox="1"/>
          <p:nvPr/>
        </p:nvSpPr>
        <p:spPr>
          <a:xfrm>
            <a:off x="3922197" y="480733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650239" y="480733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2437" y="48073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4" name="직선 연결선 283">
            <a:extLst>
              <a:ext uri="{FF2B5EF4-FFF2-40B4-BE49-F238E27FC236}">
                <a16:creationId xmlns:a16="http://schemas.microsoft.com/office/drawing/2014/main" id="{E9293055-D5CD-4B9E-7F64-64B2D2CA7A52}"/>
              </a:ext>
            </a:extLst>
          </p:cNvPr>
          <p:cNvCxnSpPr/>
          <p:nvPr/>
        </p:nvCxnSpPr>
        <p:spPr>
          <a:xfrm>
            <a:off x="3834530" y="50220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5" name="직선 연결선 284">
            <a:extLst>
              <a:ext uri="{FF2B5EF4-FFF2-40B4-BE49-F238E27FC236}">
                <a16:creationId xmlns:a16="http://schemas.microsoft.com/office/drawing/2014/main" id="{E9293055-D5CD-4B9E-7F64-64B2D2CA7A52}"/>
              </a:ext>
            </a:extLst>
          </p:cNvPr>
          <p:cNvCxnSpPr/>
          <p:nvPr/>
        </p:nvCxnSpPr>
        <p:spPr>
          <a:xfrm>
            <a:off x="3834530" y="532869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6" name="TextBox 285">
            <a:extLst>
              <a:ext uri="{FF2B5EF4-FFF2-40B4-BE49-F238E27FC236}">
                <a16:creationId xmlns:a16="http://schemas.microsoft.com/office/drawing/2014/main" id="{FFC49AEA-2A8F-250C-A86A-A7751D9706C3}"/>
              </a:ext>
            </a:extLst>
          </p:cNvPr>
          <p:cNvSpPr txBox="1"/>
          <p:nvPr/>
        </p:nvSpPr>
        <p:spPr>
          <a:xfrm>
            <a:off x="6070609" y="480733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87" name="TextBox 286">
            <a:extLst>
              <a:ext uri="{FF2B5EF4-FFF2-40B4-BE49-F238E27FC236}">
                <a16:creationId xmlns:a16="http://schemas.microsoft.com/office/drawing/2014/main" id="{FFC49AEA-2A8F-250C-A86A-A7751D9706C3}"/>
              </a:ext>
            </a:extLst>
          </p:cNvPr>
          <p:cNvSpPr txBox="1"/>
          <p:nvPr/>
        </p:nvSpPr>
        <p:spPr>
          <a:xfrm>
            <a:off x="3936047" y="507041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국민안전처장관이 확인한 비상대비 중점관리 업체</a:t>
            </a:r>
          </a:p>
        </p:txBody>
      </p:sp>
      <p:sp>
        <p:nvSpPr>
          <p:cNvPr id="295" name="TextBox 294">
            <a:extLst>
              <a:ext uri="{FF2B5EF4-FFF2-40B4-BE49-F238E27FC236}">
                <a16:creationId xmlns:a16="http://schemas.microsoft.com/office/drawing/2014/main" id="{FFC49AEA-2A8F-250C-A86A-A7751D9706C3}"/>
              </a:ext>
            </a:extLst>
          </p:cNvPr>
          <p:cNvSpPr txBox="1"/>
          <p:nvPr/>
        </p:nvSpPr>
        <p:spPr>
          <a:xfrm>
            <a:off x="6406663" y="51242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타원 11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11493332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MUI-BD-10-T11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411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2608931" y="227486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98858"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1323715" y="1564445"/>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장애인기업</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798858"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1323715" y="1748225"/>
            <a:ext cx="2010812" cy="107722"/>
          </a:xfrm>
          <a:prstGeom prst="rect">
            <a:avLst/>
          </a:prstGeom>
          <a:noFill/>
        </p:spPr>
        <p:txBody>
          <a:bodyPr wrap="square" lIns="0" tIns="0" rIns="0" bIns="0" rtlCol="0">
            <a:spAutoFit/>
          </a:bodyPr>
          <a:lstStyle/>
          <a:p>
            <a:r>
              <a:rPr lang="ko-KR" altLang="en-US" sz="700" dirty="0">
                <a:latin typeface="+mn-ea"/>
              </a:rPr>
              <a:t>장애인기업지원</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2925007"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22" name="직사각형 121"/>
          <p:cNvSpPr/>
          <p:nvPr/>
        </p:nvSpPr>
        <p:spPr>
          <a:xfrm>
            <a:off x="719063" y="1904058"/>
            <a:ext cx="1639886" cy="10808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806126" y="190405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534168" y="190405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716366" y="19040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718459" y="21187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8459" y="29876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2954538" y="190405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819976" y="216714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장애인고용촉진 및 </a:t>
            </a:r>
            <a:r>
              <a:rPr lang="ko-KR" altLang="en-US" dirty="0" err="1"/>
              <a:t>직업재활법</a:t>
            </a:r>
            <a:r>
              <a:rPr lang="ko-KR" altLang="en-US" dirty="0"/>
              <a:t> 제</a:t>
            </a:r>
            <a:r>
              <a:rPr lang="en-US" altLang="ko-KR" dirty="0"/>
              <a:t>24</a:t>
            </a:r>
            <a:r>
              <a:rPr lang="ko-KR" altLang="en-US" dirty="0"/>
              <a:t>조에 따른 장애인 고용우수사업주 또는 장애인 표준사업장</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3290592" y="249935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819976" y="260079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중소기업청장이 확인한 장애인기업</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253872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2608931" y="270851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2608931" y="3811517"/>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798858" y="302781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1323715" y="3101098"/>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가족친화</a:t>
            </a:r>
          </a:p>
        </p:txBody>
      </p:sp>
      <p:sp>
        <p:nvSpPr>
          <p:cNvPr id="151" name="TextBox 150">
            <a:extLst>
              <a:ext uri="{FF2B5EF4-FFF2-40B4-BE49-F238E27FC236}">
                <a16:creationId xmlns:a16="http://schemas.microsoft.com/office/drawing/2014/main" id="{FFC49AEA-2A8F-250C-A86A-A7751D9706C3}"/>
              </a:ext>
            </a:extLst>
          </p:cNvPr>
          <p:cNvSpPr txBox="1"/>
          <p:nvPr/>
        </p:nvSpPr>
        <p:spPr>
          <a:xfrm>
            <a:off x="798858" y="321159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1323715" y="3284878"/>
            <a:ext cx="2010812" cy="107722"/>
          </a:xfrm>
          <a:prstGeom prst="rect">
            <a:avLst/>
          </a:prstGeom>
          <a:noFill/>
        </p:spPr>
        <p:txBody>
          <a:bodyPr wrap="square" lIns="0" tIns="0" rIns="0" bIns="0" rtlCol="0">
            <a:spAutoFit/>
          </a:bodyPr>
          <a:lstStyle/>
          <a:p>
            <a:r>
              <a:rPr lang="ko-KR" altLang="en-US" sz="700" dirty="0">
                <a:latin typeface="+mn-ea"/>
              </a:rPr>
              <a:t>가족친화인증</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2925007" y="328487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54" name="직사각형 153"/>
          <p:cNvSpPr/>
          <p:nvPr/>
        </p:nvSpPr>
        <p:spPr>
          <a:xfrm>
            <a:off x="719063" y="3440711"/>
            <a:ext cx="1639886" cy="6319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5" name="TextBox 154">
            <a:extLst>
              <a:ext uri="{FF2B5EF4-FFF2-40B4-BE49-F238E27FC236}">
                <a16:creationId xmlns:a16="http://schemas.microsoft.com/office/drawing/2014/main" id="{FFC49AEA-2A8F-250C-A86A-A7751D9706C3}"/>
              </a:ext>
            </a:extLst>
          </p:cNvPr>
          <p:cNvSpPr txBox="1"/>
          <p:nvPr/>
        </p:nvSpPr>
        <p:spPr>
          <a:xfrm>
            <a:off x="806126" y="344071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34168" y="344071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7" name="직선 연결선 156">
            <a:extLst>
              <a:ext uri="{FF2B5EF4-FFF2-40B4-BE49-F238E27FC236}">
                <a16:creationId xmlns:a16="http://schemas.microsoft.com/office/drawing/2014/main" id="{E9293055-D5CD-4B9E-7F64-64B2D2CA7A52}"/>
              </a:ext>
            </a:extLst>
          </p:cNvPr>
          <p:cNvCxnSpPr/>
          <p:nvPr/>
        </p:nvCxnSpPr>
        <p:spPr>
          <a:xfrm>
            <a:off x="716366" y="34407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18459" y="36554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8459" y="40754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2954538" y="344071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819976" y="3703796"/>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290592" y="38115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2608931" y="4843290"/>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798858" y="411344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1323715" y="4186731"/>
            <a:ext cx="2010812" cy="107722"/>
          </a:xfrm>
          <a:prstGeom prst="rect">
            <a:avLst/>
          </a:prstGeom>
          <a:noFill/>
        </p:spPr>
        <p:txBody>
          <a:bodyPr wrap="square" lIns="0" tIns="0" rIns="0" bIns="0" rtlCol="0">
            <a:spAutoFit/>
          </a:bodyPr>
          <a:lstStyle/>
          <a:p>
            <a:r>
              <a:rPr lang="en-US" altLang="ko-KR" sz="700" dirty="0">
                <a:latin typeface="+mn-ea"/>
              </a:rPr>
              <a:t>6.</a:t>
            </a:r>
            <a:r>
              <a:rPr lang="ko-KR" altLang="en-US" sz="700" dirty="0">
                <a:latin typeface="+mn-ea"/>
              </a:rPr>
              <a:t>고용창출</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798858" y="429722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323715" y="4370511"/>
            <a:ext cx="2010812" cy="107722"/>
          </a:xfrm>
          <a:prstGeom prst="rect">
            <a:avLst/>
          </a:prstGeom>
          <a:noFill/>
        </p:spPr>
        <p:txBody>
          <a:bodyPr wrap="square" lIns="0" tIns="0" rIns="0" bIns="0" rtlCol="0">
            <a:spAutoFit/>
          </a:bodyPr>
          <a:lstStyle/>
          <a:p>
            <a:r>
              <a:rPr lang="ko-KR" altLang="en-US" sz="700" dirty="0">
                <a:latin typeface="+mn-ea"/>
              </a:rPr>
              <a:t>고용창출 우수</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925007" y="43705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76" name="직사각형 175"/>
          <p:cNvSpPr/>
          <p:nvPr/>
        </p:nvSpPr>
        <p:spPr>
          <a:xfrm>
            <a:off x="719063" y="4526344"/>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7" name="TextBox 176">
            <a:extLst>
              <a:ext uri="{FF2B5EF4-FFF2-40B4-BE49-F238E27FC236}">
                <a16:creationId xmlns:a16="http://schemas.microsoft.com/office/drawing/2014/main" id="{FFC49AEA-2A8F-250C-A86A-A7751D9706C3}"/>
              </a:ext>
            </a:extLst>
          </p:cNvPr>
          <p:cNvSpPr txBox="1"/>
          <p:nvPr/>
        </p:nvSpPr>
        <p:spPr>
          <a:xfrm>
            <a:off x="806126" y="452634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2534168" y="452634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16366" y="45263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18459" y="47410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18459" y="50518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2" name="TextBox 181">
            <a:extLst>
              <a:ext uri="{FF2B5EF4-FFF2-40B4-BE49-F238E27FC236}">
                <a16:creationId xmlns:a16="http://schemas.microsoft.com/office/drawing/2014/main" id="{FFC49AEA-2A8F-250C-A86A-A7751D9706C3}"/>
              </a:ext>
            </a:extLst>
          </p:cNvPr>
          <p:cNvSpPr txBox="1"/>
          <p:nvPr/>
        </p:nvSpPr>
        <p:spPr>
          <a:xfrm>
            <a:off x="2954538" y="452634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819976" y="478942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3290592" y="484329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798858" y="509701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1323715" y="5170302"/>
            <a:ext cx="2010812" cy="107722"/>
          </a:xfrm>
          <a:prstGeom prst="rect">
            <a:avLst/>
          </a:prstGeom>
          <a:noFill/>
        </p:spPr>
        <p:txBody>
          <a:bodyPr wrap="square" lIns="0" tIns="0" rIns="0" bIns="0" rtlCol="0">
            <a:spAutoFit/>
          </a:bodyPr>
          <a:lstStyle/>
          <a:p>
            <a:r>
              <a:rPr lang="en-US" altLang="ko-KR" sz="700" dirty="0">
                <a:latin typeface="+mn-ea"/>
              </a:rPr>
              <a:t>7.</a:t>
            </a:r>
            <a:r>
              <a:rPr lang="ko-KR" altLang="en-US" sz="700" dirty="0">
                <a:latin typeface="+mn-ea"/>
              </a:rPr>
              <a:t>여성기업지원 등</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798858" y="528079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323715" y="5354082"/>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925007" y="535408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90" name="직사각형 189"/>
          <p:cNvSpPr/>
          <p:nvPr/>
        </p:nvSpPr>
        <p:spPr>
          <a:xfrm>
            <a:off x="3839398" y="151162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1" name="TextBox 190">
            <a:extLst>
              <a:ext uri="{FF2B5EF4-FFF2-40B4-BE49-F238E27FC236}">
                <a16:creationId xmlns:a16="http://schemas.microsoft.com/office/drawing/2014/main" id="{FFC49AEA-2A8F-250C-A86A-A7751D9706C3}"/>
              </a:ext>
            </a:extLst>
          </p:cNvPr>
          <p:cNvSpPr txBox="1"/>
          <p:nvPr/>
        </p:nvSpPr>
        <p:spPr>
          <a:xfrm>
            <a:off x="3926461" y="15116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2" name="TextBox 191">
            <a:extLst>
              <a:ext uri="{FF2B5EF4-FFF2-40B4-BE49-F238E27FC236}">
                <a16:creationId xmlns:a16="http://schemas.microsoft.com/office/drawing/2014/main" id="{FFC49AEA-2A8F-250C-A86A-A7751D9706C3}"/>
              </a:ext>
            </a:extLst>
          </p:cNvPr>
          <p:cNvSpPr txBox="1"/>
          <p:nvPr/>
        </p:nvSpPr>
        <p:spPr>
          <a:xfrm>
            <a:off x="5654503" y="15116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6701" y="15116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38794" y="17263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5" name="직선 연결선 194">
            <a:extLst>
              <a:ext uri="{FF2B5EF4-FFF2-40B4-BE49-F238E27FC236}">
                <a16:creationId xmlns:a16="http://schemas.microsoft.com/office/drawing/2014/main" id="{E9293055-D5CD-4B9E-7F64-64B2D2CA7A52}"/>
              </a:ext>
            </a:extLst>
          </p:cNvPr>
          <p:cNvCxnSpPr/>
          <p:nvPr/>
        </p:nvCxnSpPr>
        <p:spPr>
          <a:xfrm>
            <a:off x="3838794" y="28843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6" name="TextBox 195">
            <a:extLst>
              <a:ext uri="{FF2B5EF4-FFF2-40B4-BE49-F238E27FC236}">
                <a16:creationId xmlns:a16="http://schemas.microsoft.com/office/drawing/2014/main" id="{FFC49AEA-2A8F-250C-A86A-A7751D9706C3}"/>
              </a:ext>
            </a:extLst>
          </p:cNvPr>
          <p:cNvSpPr txBox="1"/>
          <p:nvPr/>
        </p:nvSpPr>
        <p:spPr>
          <a:xfrm>
            <a:off x="6074873" y="15116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3940311" y="1773489"/>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「여성기업지원에 관한 </a:t>
            </a:r>
            <a:r>
              <a:rPr lang="ko-KR" altLang="en-US" dirty="0" err="1"/>
              <a:t>법률」에서</a:t>
            </a:r>
            <a:r>
              <a:rPr lang="ko-KR" altLang="en-US" dirty="0"/>
              <a:t> 정한 기업으로서 중소기업청장</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br>
              <a:rPr lang="ko-KR" altLang="en-US" dirty="0"/>
            </a:br>
            <a:r>
              <a:rPr lang="en-US" altLang="ko-KR" dirty="0"/>
              <a:t>- 10</a:t>
            </a:r>
            <a:r>
              <a:rPr lang="ko-KR" altLang="en-US" dirty="0"/>
              <a:t>년 이상</a:t>
            </a:r>
          </a:p>
          <a:p>
            <a:r>
              <a:rPr lang="en-US" altLang="ko-KR" dirty="0"/>
              <a:t>- 5</a:t>
            </a:r>
            <a:r>
              <a:rPr lang="ko-KR" altLang="en-US" dirty="0"/>
              <a:t>년 이상 </a:t>
            </a:r>
            <a:r>
              <a:rPr lang="en-US" altLang="ko-KR" dirty="0"/>
              <a:t>~ 10</a:t>
            </a:r>
            <a:r>
              <a:rPr lang="ko-KR" altLang="en-US" dirty="0"/>
              <a:t>년 미만</a:t>
            </a:r>
          </a:p>
          <a:p>
            <a:r>
              <a:rPr lang="en-US" altLang="ko-KR" dirty="0"/>
              <a:t>- 5</a:t>
            </a:r>
            <a:r>
              <a:rPr lang="ko-KR" altLang="en-US" dirty="0"/>
              <a:t>년 미만</a:t>
            </a:r>
          </a:p>
        </p:txBody>
      </p:sp>
      <p:sp>
        <p:nvSpPr>
          <p:cNvPr id="198" name="TextBox 197">
            <a:extLst>
              <a:ext uri="{FF2B5EF4-FFF2-40B4-BE49-F238E27FC236}">
                <a16:creationId xmlns:a16="http://schemas.microsoft.com/office/drawing/2014/main" id="{FFC49AEA-2A8F-250C-A86A-A7751D9706C3}"/>
              </a:ext>
            </a:extLst>
          </p:cNvPr>
          <p:cNvSpPr txBox="1"/>
          <p:nvPr/>
        </p:nvSpPr>
        <p:spPr>
          <a:xfrm>
            <a:off x="5673482" y="2204377"/>
            <a:ext cx="174407"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br>
              <a:rPr lang="en-US" altLang="ko-KR" dirty="0"/>
            </a:br>
            <a:r>
              <a:rPr lang="en-US" altLang="ko-KR" dirty="0"/>
              <a:t>0.35</a:t>
            </a:r>
            <a:br>
              <a:rPr lang="en-US" altLang="ko-KR" dirty="0"/>
            </a:br>
            <a:r>
              <a:rPr lang="en-US" altLang="ko-KR" dirty="0"/>
              <a:t>0.30</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6410927" y="22515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3940311" y="262179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4530" y="257466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2" name="TextBox 201">
            <a:extLst>
              <a:ext uri="{FF2B5EF4-FFF2-40B4-BE49-F238E27FC236}">
                <a16:creationId xmlns:a16="http://schemas.microsoft.com/office/drawing/2014/main" id="{FFC49AEA-2A8F-250C-A86A-A7751D9706C3}"/>
              </a:ext>
            </a:extLst>
          </p:cNvPr>
          <p:cNvSpPr txBox="1"/>
          <p:nvPr/>
        </p:nvSpPr>
        <p:spPr>
          <a:xfrm>
            <a:off x="5729267" y="267565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5729266" y="365252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04" name="TextBox 203">
            <a:extLst>
              <a:ext uri="{FF2B5EF4-FFF2-40B4-BE49-F238E27FC236}">
                <a16:creationId xmlns:a16="http://schemas.microsoft.com/office/drawing/2014/main" id="{FFC49AEA-2A8F-250C-A86A-A7751D9706C3}"/>
              </a:ext>
            </a:extLst>
          </p:cNvPr>
          <p:cNvSpPr txBox="1"/>
          <p:nvPr/>
        </p:nvSpPr>
        <p:spPr>
          <a:xfrm>
            <a:off x="3919193" y="292268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05" name="TextBox 204">
            <a:extLst>
              <a:ext uri="{FF2B5EF4-FFF2-40B4-BE49-F238E27FC236}">
                <a16:creationId xmlns:a16="http://schemas.microsoft.com/office/drawing/2014/main" id="{FFC49AEA-2A8F-250C-A86A-A7751D9706C3}"/>
              </a:ext>
            </a:extLst>
          </p:cNvPr>
          <p:cNvSpPr txBox="1"/>
          <p:nvPr/>
        </p:nvSpPr>
        <p:spPr>
          <a:xfrm>
            <a:off x="4444050" y="2995970"/>
            <a:ext cx="2010812" cy="107722"/>
          </a:xfrm>
          <a:prstGeom prst="rect">
            <a:avLst/>
          </a:prstGeom>
          <a:noFill/>
        </p:spPr>
        <p:txBody>
          <a:bodyPr wrap="square" lIns="0" tIns="0" rIns="0" bIns="0" rtlCol="0">
            <a:spAutoFit/>
          </a:bodyPr>
          <a:lstStyle/>
          <a:p>
            <a:r>
              <a:rPr lang="en-US" altLang="ko-KR" sz="700" dirty="0">
                <a:latin typeface="+mn-ea"/>
              </a:rPr>
              <a:t>8.</a:t>
            </a:r>
            <a:r>
              <a:rPr lang="ko-KR" altLang="en-US" sz="700" dirty="0" err="1">
                <a:latin typeface="+mn-ea"/>
              </a:rPr>
              <a:t>사회적기업</a:t>
            </a:r>
            <a:endParaRPr lang="ko-KR" altLang="en-US" sz="700" dirty="0">
              <a:latin typeface="+mn-ea"/>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3919193" y="31064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4444050" y="3179750"/>
            <a:ext cx="2010812" cy="107722"/>
          </a:xfrm>
          <a:prstGeom prst="rect">
            <a:avLst/>
          </a:prstGeom>
          <a:noFill/>
        </p:spPr>
        <p:txBody>
          <a:bodyPr wrap="square" lIns="0" tIns="0" rIns="0" bIns="0" rtlCol="0">
            <a:spAutoFit/>
          </a:bodyPr>
          <a:lstStyle/>
          <a:p>
            <a:r>
              <a:rPr lang="ko-KR" altLang="en-US" sz="700" dirty="0">
                <a:latin typeface="+mn-ea"/>
              </a:rPr>
              <a:t>사회적기업여부</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6045342" y="317975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10" name="직사각형 209"/>
          <p:cNvSpPr/>
          <p:nvPr/>
        </p:nvSpPr>
        <p:spPr>
          <a:xfrm>
            <a:off x="3839398" y="3335583"/>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3926461" y="333558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54503" y="333558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836701" y="333558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8794" y="3550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8611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6074873" y="333558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98" name="TextBox 297">
            <a:extLst>
              <a:ext uri="{FF2B5EF4-FFF2-40B4-BE49-F238E27FC236}">
                <a16:creationId xmlns:a16="http://schemas.microsoft.com/office/drawing/2014/main" id="{FFC49AEA-2A8F-250C-A86A-A7751D9706C3}"/>
              </a:ext>
            </a:extLst>
          </p:cNvPr>
          <p:cNvSpPr txBox="1"/>
          <p:nvPr/>
        </p:nvSpPr>
        <p:spPr>
          <a:xfrm>
            <a:off x="3940311" y="35986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a:t>
            </a:r>
            <a:r>
              <a:rPr lang="ko-KR" altLang="en-US" dirty="0" err="1"/>
              <a:t>사회적기업</a:t>
            </a:r>
            <a:r>
              <a:rPr lang="ko-KR" altLang="en-US" dirty="0"/>
              <a:t> </a:t>
            </a:r>
            <a:r>
              <a:rPr lang="ko-KR" altLang="en-US" dirty="0" err="1"/>
              <a:t>육성법」제</a:t>
            </a:r>
            <a:r>
              <a:rPr lang="en-US" altLang="ko-KR" dirty="0"/>
              <a:t>7</a:t>
            </a:r>
            <a:r>
              <a:rPr lang="ko-KR" altLang="en-US" dirty="0"/>
              <a:t>조에 따른 고용노동부장관의 인증을 받은 기업</a:t>
            </a:r>
          </a:p>
        </p:txBody>
      </p:sp>
      <p:sp>
        <p:nvSpPr>
          <p:cNvPr id="299" name="TextBox 298">
            <a:extLst>
              <a:ext uri="{FF2B5EF4-FFF2-40B4-BE49-F238E27FC236}">
                <a16:creationId xmlns:a16="http://schemas.microsoft.com/office/drawing/2014/main" id="{FFC49AEA-2A8F-250C-A86A-A7751D9706C3}"/>
              </a:ext>
            </a:extLst>
          </p:cNvPr>
          <p:cNvSpPr txBox="1"/>
          <p:nvPr/>
        </p:nvSpPr>
        <p:spPr>
          <a:xfrm>
            <a:off x="6410927" y="36525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0" name="TextBox 299">
            <a:extLst>
              <a:ext uri="{FF2B5EF4-FFF2-40B4-BE49-F238E27FC236}">
                <a16:creationId xmlns:a16="http://schemas.microsoft.com/office/drawing/2014/main" id="{FFC49AEA-2A8F-250C-A86A-A7751D9706C3}"/>
              </a:ext>
            </a:extLst>
          </p:cNvPr>
          <p:cNvSpPr txBox="1"/>
          <p:nvPr/>
        </p:nvSpPr>
        <p:spPr>
          <a:xfrm>
            <a:off x="5679573" y="4635601"/>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3919193" y="39057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4444050" y="3979042"/>
            <a:ext cx="2010812" cy="107722"/>
          </a:xfrm>
          <a:prstGeom prst="rect">
            <a:avLst/>
          </a:prstGeom>
          <a:noFill/>
        </p:spPr>
        <p:txBody>
          <a:bodyPr wrap="square" lIns="0" tIns="0" rIns="0" bIns="0" rtlCol="0">
            <a:spAutoFit/>
          </a:bodyPr>
          <a:lstStyle/>
          <a:p>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3919193" y="408953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304" name="TextBox 303">
            <a:extLst>
              <a:ext uri="{FF2B5EF4-FFF2-40B4-BE49-F238E27FC236}">
                <a16:creationId xmlns:a16="http://schemas.microsoft.com/office/drawing/2014/main" id="{FFC49AEA-2A8F-250C-A86A-A7751D9706C3}"/>
              </a:ext>
            </a:extLst>
          </p:cNvPr>
          <p:cNvSpPr txBox="1"/>
          <p:nvPr/>
        </p:nvSpPr>
        <p:spPr>
          <a:xfrm>
            <a:off x="4444050" y="4162822"/>
            <a:ext cx="2010812" cy="107722"/>
          </a:xfrm>
          <a:prstGeom prst="rect">
            <a:avLst/>
          </a:prstGeom>
          <a:noFill/>
        </p:spPr>
        <p:txBody>
          <a:bodyPr wrap="square" lIns="0" tIns="0" rIns="0" bIns="0" rtlCol="0">
            <a:spAutoFit/>
          </a:bodyPr>
          <a:lstStyle/>
          <a:p>
            <a:r>
              <a:rPr lang="ko-KR" altLang="en-US" sz="700" dirty="0">
                <a:latin typeface="+mn-ea"/>
              </a:rPr>
              <a:t>모범납세여부</a:t>
            </a:r>
          </a:p>
        </p:txBody>
      </p:sp>
      <p:sp>
        <p:nvSpPr>
          <p:cNvPr id="305" name="TextBox 304">
            <a:extLst>
              <a:ext uri="{FF2B5EF4-FFF2-40B4-BE49-F238E27FC236}">
                <a16:creationId xmlns:a16="http://schemas.microsoft.com/office/drawing/2014/main" id="{FFC49AEA-2A8F-250C-A86A-A7751D9706C3}"/>
              </a:ext>
            </a:extLst>
          </p:cNvPr>
          <p:cNvSpPr txBox="1"/>
          <p:nvPr/>
        </p:nvSpPr>
        <p:spPr>
          <a:xfrm>
            <a:off x="6045342" y="416282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306" name="직사각형 305"/>
          <p:cNvSpPr/>
          <p:nvPr/>
        </p:nvSpPr>
        <p:spPr>
          <a:xfrm>
            <a:off x="3839398" y="4318655"/>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3926461" y="431865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308" name="TextBox 307">
            <a:extLst>
              <a:ext uri="{FF2B5EF4-FFF2-40B4-BE49-F238E27FC236}">
                <a16:creationId xmlns:a16="http://schemas.microsoft.com/office/drawing/2014/main" id="{FFC49AEA-2A8F-250C-A86A-A7751D9706C3}"/>
              </a:ext>
            </a:extLst>
          </p:cNvPr>
          <p:cNvSpPr txBox="1"/>
          <p:nvPr/>
        </p:nvSpPr>
        <p:spPr>
          <a:xfrm>
            <a:off x="5654503" y="431865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309" name="직선 연결선 308">
            <a:extLst>
              <a:ext uri="{FF2B5EF4-FFF2-40B4-BE49-F238E27FC236}">
                <a16:creationId xmlns:a16="http://schemas.microsoft.com/office/drawing/2014/main" id="{E9293055-D5CD-4B9E-7F64-64B2D2CA7A52}"/>
              </a:ext>
            </a:extLst>
          </p:cNvPr>
          <p:cNvCxnSpPr/>
          <p:nvPr/>
        </p:nvCxnSpPr>
        <p:spPr>
          <a:xfrm>
            <a:off x="3836701" y="43186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838794" y="45333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838794" y="48441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2" name="TextBox 311">
            <a:extLst>
              <a:ext uri="{FF2B5EF4-FFF2-40B4-BE49-F238E27FC236}">
                <a16:creationId xmlns:a16="http://schemas.microsoft.com/office/drawing/2014/main" id="{FFC49AEA-2A8F-250C-A86A-A7751D9706C3}"/>
              </a:ext>
            </a:extLst>
          </p:cNvPr>
          <p:cNvSpPr txBox="1"/>
          <p:nvPr/>
        </p:nvSpPr>
        <p:spPr>
          <a:xfrm>
            <a:off x="6074873" y="431865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3940311" y="458174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「모범납세자관리규정</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조제</a:t>
            </a:r>
            <a:r>
              <a:rPr lang="en-US" altLang="ko-KR" dirty="0"/>
              <a:t>3</a:t>
            </a:r>
            <a:r>
              <a:rPr lang="ko-KR" altLang="en-US" dirty="0" err="1"/>
              <a:t>호제</a:t>
            </a:r>
            <a:r>
              <a:rPr lang="en-US" altLang="ko-KR" dirty="0"/>
              <a:t>1</a:t>
            </a:r>
            <a:r>
              <a:rPr lang="ko-KR" altLang="en-US" dirty="0"/>
              <a:t>항에 따른 모범납세자</a:t>
            </a:r>
          </a:p>
        </p:txBody>
      </p:sp>
      <p:sp>
        <p:nvSpPr>
          <p:cNvPr id="314" name="TextBox 313">
            <a:extLst>
              <a:ext uri="{FF2B5EF4-FFF2-40B4-BE49-F238E27FC236}">
                <a16:creationId xmlns:a16="http://schemas.microsoft.com/office/drawing/2014/main" id="{FFC49AEA-2A8F-250C-A86A-A7751D9706C3}"/>
              </a:ext>
            </a:extLst>
          </p:cNvPr>
          <p:cNvSpPr txBox="1"/>
          <p:nvPr/>
        </p:nvSpPr>
        <p:spPr>
          <a:xfrm>
            <a:off x="6410927" y="46356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1" name="타원 12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55601700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266831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2952065"/>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375979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043547"/>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565733"/>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860510"/>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240977"/>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계약이행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524731"/>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품질발생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품질발생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941650"/>
                  </a:ext>
                </a:extLst>
              </a:tr>
            </a:tbl>
          </a:graphicData>
        </a:graphic>
      </p:graphicFrame>
      <p:sp>
        <p:nvSpPr>
          <p:cNvPr id="12" name="TextBox 11">
            <a:extLst>
              <a:ext uri="{FF2B5EF4-FFF2-40B4-BE49-F238E27FC236}">
                <a16:creationId xmlns:a16="http://schemas.microsoft.com/office/drawing/2014/main" id="{C5F95892-D4E7-7043-AF31-17459BF4EC1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3" name="Text Box 73">
            <a:extLst>
              <a:ext uri="{FF2B5EF4-FFF2-40B4-BE49-F238E27FC236}">
                <a16:creationId xmlns:a16="http://schemas.microsoft.com/office/drawing/2014/main" id="{55D5B456-F7BA-7A25-CA8A-11F41ACF5BF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76721062"/>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37985"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0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혁신형중소기업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혁신형중소기업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D4F29FCD-3293-C169-7E42-7595B6F2B891}"/>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9EE33E85-2EB5-AA1F-785D-26625645BFD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49718128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317</a:t>
            </a:fld>
            <a:endParaRPr lang="ko-KR" altLang="en-US" dirty="0"/>
          </a:p>
        </p:txBody>
      </p:sp>
      <p:sp>
        <p:nvSpPr>
          <p:cNvPr id="12" name="TextBox 11">
            <a:extLst>
              <a:ext uri="{FF2B5EF4-FFF2-40B4-BE49-F238E27FC236}">
                <a16:creationId xmlns:a16="http://schemas.microsoft.com/office/drawing/2014/main" id="{DDAEDC2E-5E9F-B1E0-A87F-7307CAB1C281}"/>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D629202E-7CF1-29EA-23C9-CCFB0CE8B911}"/>
              </a:ext>
            </a:extLst>
          </p:cNvPr>
          <p:cNvGraphicFramePr>
            <a:graphicFrameLocks noGrp="1"/>
          </p:cNvGraphicFramePr>
          <p:nvPr>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4" name="Text Box 73">
            <a:extLst>
              <a:ext uri="{FF2B5EF4-FFF2-40B4-BE49-F238E27FC236}">
                <a16:creationId xmlns:a16="http://schemas.microsoft.com/office/drawing/2014/main" id="{95969E14-1CC1-CE0D-518F-B3C6288C94D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96095514"/>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MUI-BD-10-T12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12843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28979" y="365827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365827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365827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62" name="그룹 161"/>
          <p:cNvGrpSpPr/>
          <p:nvPr/>
        </p:nvGrpSpPr>
        <p:grpSpPr>
          <a:xfrm>
            <a:off x="3826887" y="3658278"/>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317092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337116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365827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4161416"/>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계약목적물과 </a:t>
            </a:r>
            <a:r>
              <a:rPr lang="ko-KR" altLang="en-US" sz="700" dirty="0" err="1">
                <a:latin typeface="+mn-ea"/>
              </a:rPr>
              <a:t>동등이상</a:t>
            </a:r>
            <a:r>
              <a:rPr lang="ko-KR" altLang="en-US" sz="700" dirty="0">
                <a:latin typeface="+mn-ea"/>
              </a:rPr>
              <a:t> 물품</a:t>
            </a:r>
            <a:br>
              <a:rPr lang="ko-KR" altLang="en-US" sz="700" dirty="0">
                <a:latin typeface="+mn-ea"/>
              </a:rPr>
            </a:br>
            <a:r>
              <a:rPr lang="en-US" altLang="ko-KR" sz="700" dirty="0">
                <a:latin typeface="+mn-ea"/>
              </a:rPr>
              <a:t>2.</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599863" y="555757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6" name="직사각형 245"/>
          <p:cNvSpPr/>
          <p:nvPr/>
        </p:nvSpPr>
        <p:spPr>
          <a:xfrm>
            <a:off x="3828979" y="1784364"/>
            <a:ext cx="1639886" cy="55406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26887" y="17843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3828980" y="19991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err="1">
                <a:latin typeface="+mn-ea"/>
              </a:rPr>
              <a:t>기술실적</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454" y="178436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5" name="직사각형 254"/>
          <p:cNvSpPr/>
          <p:nvPr/>
        </p:nvSpPr>
        <p:spPr>
          <a:xfrm>
            <a:off x="3828979" y="2634063"/>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3916042" y="2634064"/>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644084" y="2634064"/>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58" name="그룹 257"/>
          <p:cNvGrpSpPr/>
          <p:nvPr/>
        </p:nvGrpSpPr>
        <p:grpSpPr>
          <a:xfrm>
            <a:off x="3826887" y="2634064"/>
            <a:ext cx="2630093" cy="429480"/>
            <a:chOff x="701175" y="1835481"/>
            <a:chExt cx="2630093" cy="429480"/>
          </a:xfrm>
        </p:grpSpPr>
        <p:cxnSp>
          <p:nvCxnSpPr>
            <p:cNvPr id="259" name="직선 연결선 2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0" name="직선 연결선 2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1" name="직선 연결선 2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62" name="TextBox 261">
            <a:extLst>
              <a:ext uri="{FF2B5EF4-FFF2-40B4-BE49-F238E27FC236}">
                <a16:creationId xmlns:a16="http://schemas.microsoft.com/office/drawing/2014/main" id="{FFC49AEA-2A8F-250C-A86A-A7751D9706C3}"/>
              </a:ext>
            </a:extLst>
          </p:cNvPr>
          <p:cNvSpPr txBox="1"/>
          <p:nvPr/>
        </p:nvSpPr>
        <p:spPr>
          <a:xfrm>
            <a:off x="3887858" y="234694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 경영상태</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6064390" y="2634064"/>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64" name="직사각형 263"/>
          <p:cNvSpPr/>
          <p:nvPr/>
        </p:nvSpPr>
        <p:spPr>
          <a:xfrm>
            <a:off x="3823602" y="4976372"/>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497637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497637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497637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51911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5618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4489021"/>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46892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물품 </a:t>
            </a:r>
            <a:r>
              <a:rPr lang="ko-KR" altLang="en-US" sz="700" dirty="0" err="1">
                <a:latin typeface="+mn-ea"/>
              </a:rPr>
              <a:t>품질정도</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497637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01111" y="44409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5243468"/>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품질관리</a:t>
            </a:r>
            <a:br>
              <a:rPr lang="ko-KR" altLang="en-US" sz="700" dirty="0">
                <a:latin typeface="+mn-ea"/>
              </a:rPr>
            </a:br>
            <a:r>
              <a:rPr lang="en-US" altLang="ko-KR" sz="700" dirty="0">
                <a:latin typeface="+mn-ea"/>
              </a:rPr>
              <a:t>2.</a:t>
            </a:r>
            <a:r>
              <a:rPr lang="ko-KR" altLang="en-US" sz="700" dirty="0">
                <a:latin typeface="+mn-ea"/>
              </a:rPr>
              <a:t>기술보유</a:t>
            </a:r>
            <a:br>
              <a:rPr lang="ko-KR" altLang="en-US" sz="700" dirty="0">
                <a:latin typeface="+mn-ea"/>
              </a:rPr>
            </a:br>
            <a:r>
              <a:rPr lang="en-US" altLang="ko-KR" sz="700" dirty="0">
                <a:latin typeface="+mn-ea"/>
              </a:rPr>
              <a:t>3.</a:t>
            </a:r>
            <a:r>
              <a:rPr lang="ko-KR" altLang="en-US" sz="700" dirty="0">
                <a:latin typeface="+mn-ea"/>
              </a:rPr>
              <a:t>환경관리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356257" y="5351189"/>
            <a:ext cx="461986"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+6.2 ~ -4.2</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5351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3826887" y="2338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3913949" y="2058508"/>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기술인력 보유</a:t>
            </a:r>
            <a:br>
              <a:rPr lang="ko-KR" altLang="en-US" sz="700" dirty="0">
                <a:latin typeface="+mn-ea"/>
              </a:rPr>
            </a:br>
            <a:r>
              <a:rPr lang="en-US" altLang="ko-KR" sz="700" dirty="0">
                <a:latin typeface="+mn-ea"/>
              </a:rPr>
              <a:t>2.</a:t>
            </a:r>
            <a:r>
              <a:rPr lang="ko-KR" altLang="en-US" sz="700" dirty="0">
                <a:latin typeface="+mn-ea"/>
              </a:rPr>
              <a:t>생산기술 </a:t>
            </a:r>
            <a:r>
              <a:rPr lang="ko-KR" altLang="en-US" sz="700" dirty="0" err="1">
                <a:latin typeface="+mn-ea"/>
              </a:rPr>
              <a:t>축적정도</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722140" y="2112369"/>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73" name="TextBox 172">
            <a:extLst>
              <a:ext uri="{FF2B5EF4-FFF2-40B4-BE49-F238E27FC236}">
                <a16:creationId xmlns:a16="http://schemas.microsoft.com/office/drawing/2014/main" id="{FFC49AEA-2A8F-250C-A86A-A7751D9706C3}"/>
              </a:ext>
            </a:extLst>
          </p:cNvPr>
          <p:cNvSpPr txBox="1"/>
          <p:nvPr/>
        </p:nvSpPr>
        <p:spPr>
          <a:xfrm>
            <a:off x="6384565" y="21123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타원 17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190942979"/>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MUI-BD-10-T12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6070"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676069" y="2500666"/>
            <a:ext cx="2712028" cy="3384473"/>
            <a:chOff x="676740" y="2751148"/>
            <a:chExt cx="2712028" cy="3384473"/>
          </a:xfrm>
        </p:grpSpPr>
        <p:sp>
          <p:nvSpPr>
            <p:cNvPr id="303" name="직사각형 302"/>
            <p:cNvSpPr/>
            <p:nvPr/>
          </p:nvSpPr>
          <p:spPr>
            <a:xfrm>
              <a:off x="718458" y="3038262"/>
              <a:ext cx="1639886" cy="84411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805521" y="303826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2533563" y="303826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716366" y="303826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18459" y="32530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18459" y="38796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777337" y="275114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2953933" y="303826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805521" y="3299194"/>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a:p>
              <a:r>
                <a:rPr lang="en-US" altLang="ko-KR" sz="700" dirty="0">
                  <a:latin typeface="+mn-ea"/>
                </a:rPr>
                <a:t>2.</a:t>
              </a:r>
              <a:r>
                <a:rPr lang="ko-KR" altLang="en-US" sz="700" dirty="0">
                  <a:latin typeface="+mn-ea"/>
                </a:rPr>
                <a:t>혁신적 중소기업</a:t>
              </a:r>
            </a:p>
            <a:p>
              <a:r>
                <a:rPr lang="en-US" altLang="ko-KR" sz="700" dirty="0">
                  <a:latin typeface="+mn-ea"/>
                </a:rPr>
                <a:t>3.</a:t>
              </a:r>
              <a:r>
                <a:rPr lang="ko-KR" altLang="en-US" sz="700" dirty="0">
                  <a:latin typeface="+mn-ea"/>
                </a:rPr>
                <a:t>장애인기업</a:t>
              </a:r>
            </a:p>
            <a:p>
              <a:r>
                <a:rPr lang="en-US" altLang="ko-KR" sz="700" dirty="0">
                  <a:latin typeface="+mn-ea"/>
                </a:rPr>
                <a:t>4.</a:t>
              </a:r>
              <a:r>
                <a:rPr lang="ko-KR" altLang="en-US" sz="700" dirty="0">
                  <a:latin typeface="+mn-ea"/>
                </a:rPr>
                <a:t>여성기업지원 등</a:t>
              </a:r>
            </a:p>
            <a:p>
              <a:r>
                <a:rPr lang="en-US" altLang="ko-KR" sz="700" dirty="0">
                  <a:latin typeface="+mn-ea"/>
                </a:rPr>
                <a:t>5.</a:t>
              </a:r>
              <a:r>
                <a:rPr lang="ko-KR" altLang="en-US" sz="700" dirty="0">
                  <a:latin typeface="+mn-ea"/>
                </a:rPr>
                <a:t>정책지원</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2251113" y="3514637"/>
              <a:ext cx="461986"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+6.2 ~ -4.2</a:t>
              </a:r>
            </a:p>
          </p:txBody>
        </p:sp>
        <p:sp>
          <p:nvSpPr>
            <p:cNvPr id="313" name="TextBox 312">
              <a:extLst>
                <a:ext uri="{FF2B5EF4-FFF2-40B4-BE49-F238E27FC236}">
                  <a16:creationId xmlns:a16="http://schemas.microsoft.com/office/drawing/2014/main" id="{FFC49AEA-2A8F-250C-A86A-A7751D9706C3}"/>
                </a:ext>
              </a:extLst>
            </p:cNvPr>
            <p:cNvSpPr txBox="1"/>
            <p:nvPr/>
          </p:nvSpPr>
          <p:spPr>
            <a:xfrm>
              <a:off x="3276137" y="351463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76741" y="42938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763487" y="3920213"/>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1~3</a:t>
              </a:r>
              <a:r>
                <a:rPr lang="ko-KR" altLang="en-US" sz="700" dirty="0">
                  <a:latin typeface="+mn-ea"/>
                </a:rPr>
                <a:t>번 항을 합하여</a:t>
              </a:r>
              <a:endParaRPr lang="en-US" altLang="ko-KR" sz="700" dirty="0">
                <a:latin typeface="+mn-ea"/>
              </a:endParaRPr>
            </a:p>
            <a:p>
              <a:pPr lvl="0" algn="ctr" defTabSz="1013612">
                <a:defRPr/>
              </a:pPr>
              <a:r>
                <a:rPr lang="en-US" altLang="ko-KR" sz="700" dirty="0">
                  <a:latin typeface="+mn-ea"/>
                </a:rPr>
                <a:t>+6.2 ~ -4.2</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sp>
          <p:nvSpPr>
            <p:cNvPr id="173" name="직사각형 172"/>
            <p:cNvSpPr/>
            <p:nvPr/>
          </p:nvSpPr>
          <p:spPr>
            <a:xfrm>
              <a:off x="704608" y="4826470"/>
              <a:ext cx="1639886" cy="12316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4826471"/>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482647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482646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5041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60626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433911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453935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482647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613562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5108059"/>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5323502"/>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534013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19050" y="571351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805521" y="5780368"/>
              <a:ext cx="1480199" cy="215444"/>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생산능력 부족으로 당해 계약 이행이 어렵다고 판단되는 경우</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576843" y="5834229"/>
              <a:ext cx="136256"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grpSp>
      <p:sp>
        <p:nvSpPr>
          <p:cNvPr id="208" name="TextBox 20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a:t>
            </a:r>
            <a:r>
              <a:rPr lang="ko-KR" altLang="en-US" sz="700" dirty="0" err="1">
                <a:latin typeface="+mn-ea"/>
              </a:rPr>
              <a:t>당해물품납품이행</a:t>
            </a:r>
            <a:endParaRPr lang="en-US" altLang="ko-KR" sz="700" dirty="0">
              <a:latin typeface="+mn-ea"/>
            </a:endParaRPr>
          </a:p>
        </p:txBody>
      </p:sp>
      <p:grpSp>
        <p:nvGrpSpPr>
          <p:cNvPr id="209" name="그룹 208"/>
          <p:cNvGrpSpPr/>
          <p:nvPr/>
        </p:nvGrpSpPr>
        <p:grpSpPr>
          <a:xfrm flipV="1">
            <a:off x="6245910" y="1641327"/>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0665" y="1864633"/>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 </a:t>
            </a:r>
            <a:r>
              <a:rPr lang="ko-KR" altLang="en-US" dirty="0"/>
              <a:t>납품실적</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10665" y="206487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435522" y="2138158"/>
            <a:ext cx="2010812"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3910665" y="23722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4435522" y="2445550"/>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6036814" y="24994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3910665" y="369012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4435522" y="3763410"/>
            <a:ext cx="2010812"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유사 물품</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0665" y="39975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5522" y="4070802"/>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6036814" y="412466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2.5</a:t>
            </a:r>
          </a:p>
        </p:txBody>
      </p:sp>
      <p:sp>
        <p:nvSpPr>
          <p:cNvPr id="243" name="직사각형 242"/>
          <p:cNvSpPr/>
          <p:nvPr/>
        </p:nvSpPr>
        <p:spPr>
          <a:xfrm>
            <a:off x="3835134" y="2752726"/>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3922197" y="27527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5650239" y="27527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2437" y="27527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2967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3834530" y="36397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6070609" y="27527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53388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3936047" y="3034314"/>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279" name="TextBox 278">
            <a:extLst>
              <a:ext uri="{FF2B5EF4-FFF2-40B4-BE49-F238E27FC236}">
                <a16:creationId xmlns:a16="http://schemas.microsoft.com/office/drawing/2014/main" id="{FFC49AEA-2A8F-250C-A86A-A7751D9706C3}"/>
              </a:ext>
            </a:extLst>
          </p:cNvPr>
          <p:cNvSpPr txBox="1"/>
          <p:nvPr/>
        </p:nvSpPr>
        <p:spPr>
          <a:xfrm>
            <a:off x="5675309" y="3034314"/>
            <a:ext cx="168316"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10.0</a:t>
            </a:r>
            <a:br>
              <a:rPr lang="en-US" altLang="ko-KR" dirty="0"/>
            </a:br>
            <a:r>
              <a:rPr lang="en-US" altLang="ko-KR" dirty="0"/>
              <a:t>9.0</a:t>
            </a:r>
            <a:br>
              <a:rPr lang="en-US" altLang="ko-KR" dirty="0"/>
            </a:br>
            <a:r>
              <a:rPr lang="en-US" altLang="ko-KR" dirty="0"/>
              <a:t>8.0</a:t>
            </a:r>
            <a:br>
              <a:rPr lang="en-US" altLang="ko-KR" dirty="0"/>
            </a:br>
            <a:r>
              <a:rPr lang="en-US" altLang="ko-KR" dirty="0"/>
              <a:t>7.0</a:t>
            </a:r>
            <a:br>
              <a:rPr lang="en-US" altLang="ko-KR" dirty="0"/>
            </a:br>
            <a:r>
              <a:rPr lang="en-US" altLang="ko-KR" dirty="0"/>
              <a:t>6.0</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6406663" y="32663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직사각형 283"/>
          <p:cNvSpPr/>
          <p:nvPr/>
        </p:nvSpPr>
        <p:spPr>
          <a:xfrm>
            <a:off x="3835134" y="4382250"/>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5" name="TextBox 284">
            <a:extLst>
              <a:ext uri="{FF2B5EF4-FFF2-40B4-BE49-F238E27FC236}">
                <a16:creationId xmlns:a16="http://schemas.microsoft.com/office/drawing/2014/main" id="{FFC49AEA-2A8F-250C-A86A-A7751D9706C3}"/>
              </a:ext>
            </a:extLst>
          </p:cNvPr>
          <p:cNvSpPr txBox="1"/>
          <p:nvPr/>
        </p:nvSpPr>
        <p:spPr>
          <a:xfrm>
            <a:off x="3922197" y="43822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6" name="TextBox 285">
            <a:extLst>
              <a:ext uri="{FF2B5EF4-FFF2-40B4-BE49-F238E27FC236}">
                <a16:creationId xmlns:a16="http://schemas.microsoft.com/office/drawing/2014/main" id="{FFC49AEA-2A8F-250C-A86A-A7751D9706C3}"/>
              </a:ext>
            </a:extLst>
          </p:cNvPr>
          <p:cNvSpPr txBox="1"/>
          <p:nvPr/>
        </p:nvSpPr>
        <p:spPr>
          <a:xfrm>
            <a:off x="5650239" y="43822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7" name="직선 연결선 286">
            <a:extLst>
              <a:ext uri="{FF2B5EF4-FFF2-40B4-BE49-F238E27FC236}">
                <a16:creationId xmlns:a16="http://schemas.microsoft.com/office/drawing/2014/main" id="{E9293055-D5CD-4B9E-7F64-64B2D2CA7A52}"/>
              </a:ext>
            </a:extLst>
          </p:cNvPr>
          <p:cNvCxnSpPr/>
          <p:nvPr/>
        </p:nvCxnSpPr>
        <p:spPr>
          <a:xfrm>
            <a:off x="3832437" y="43822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834530" y="459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4530" y="52692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6070609" y="43822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3936047" y="4663838"/>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316" name="TextBox 315">
            <a:extLst>
              <a:ext uri="{FF2B5EF4-FFF2-40B4-BE49-F238E27FC236}">
                <a16:creationId xmlns:a16="http://schemas.microsoft.com/office/drawing/2014/main" id="{FFC49AEA-2A8F-250C-A86A-A7751D9706C3}"/>
              </a:ext>
            </a:extLst>
          </p:cNvPr>
          <p:cNvSpPr txBox="1"/>
          <p:nvPr/>
        </p:nvSpPr>
        <p:spPr>
          <a:xfrm>
            <a:off x="5725003" y="4663838"/>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2.5</a:t>
            </a:r>
            <a:br>
              <a:rPr lang="en-US" altLang="ko-KR" dirty="0"/>
            </a:br>
            <a:r>
              <a:rPr lang="en-US" altLang="ko-KR" dirty="0"/>
              <a:t>2.0</a:t>
            </a:r>
            <a:br>
              <a:rPr lang="en-US" altLang="ko-KR" dirty="0"/>
            </a:br>
            <a:r>
              <a:rPr lang="en-US" altLang="ko-KR" dirty="0"/>
              <a:t>1.5</a:t>
            </a:r>
            <a:br>
              <a:rPr lang="en-US" altLang="ko-KR" dirty="0"/>
            </a:br>
            <a:r>
              <a:rPr lang="en-US" altLang="ko-KR" dirty="0"/>
              <a:t>1.0</a:t>
            </a:r>
            <a:br>
              <a:rPr lang="en-US" altLang="ko-KR" dirty="0"/>
            </a:br>
            <a:r>
              <a:rPr lang="en-US" altLang="ko-KR" dirty="0"/>
              <a:t>0.5</a:t>
            </a:r>
          </a:p>
        </p:txBody>
      </p:sp>
      <p:sp>
        <p:nvSpPr>
          <p:cNvPr id="317" name="TextBox 316">
            <a:extLst>
              <a:ext uri="{FF2B5EF4-FFF2-40B4-BE49-F238E27FC236}">
                <a16:creationId xmlns:a16="http://schemas.microsoft.com/office/drawing/2014/main" id="{FFC49AEA-2A8F-250C-A86A-A7751D9706C3}"/>
              </a:ext>
            </a:extLst>
          </p:cNvPr>
          <p:cNvSpPr txBox="1"/>
          <p:nvPr/>
        </p:nvSpPr>
        <p:spPr>
          <a:xfrm>
            <a:off x="6406663" y="489591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22" name="TextBox 321">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grpSp>
        <p:nvGrpSpPr>
          <p:cNvPr id="3" name="그룹 2"/>
          <p:cNvGrpSpPr/>
          <p:nvPr/>
        </p:nvGrpSpPr>
        <p:grpSpPr>
          <a:xfrm>
            <a:off x="717037" y="1524682"/>
            <a:ext cx="2630093" cy="929730"/>
            <a:chOff x="3821510" y="5673476"/>
            <a:chExt cx="2630093" cy="929730"/>
          </a:xfrm>
        </p:grpSpPr>
        <p:sp>
          <p:nvSpPr>
            <p:cNvPr id="89" name="직사각형 88"/>
            <p:cNvSpPr/>
            <p:nvPr/>
          </p:nvSpPr>
          <p:spPr>
            <a:xfrm>
              <a:off x="3823602" y="5960590"/>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3910665" y="596059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5638707" y="596059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92" name="직선 연결선 91">
              <a:extLst>
                <a:ext uri="{FF2B5EF4-FFF2-40B4-BE49-F238E27FC236}">
                  <a16:creationId xmlns:a16="http://schemas.microsoft.com/office/drawing/2014/main" id="{E9293055-D5CD-4B9E-7F64-64B2D2CA7A52}"/>
                </a:ext>
              </a:extLst>
            </p:cNvPr>
            <p:cNvCxnSpPr/>
            <p:nvPr/>
          </p:nvCxnSpPr>
          <p:spPr>
            <a:xfrm>
              <a:off x="3821510" y="596059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823603" y="61753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3823603" y="6603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TextBox 94">
              <a:extLst>
                <a:ext uri="{FF2B5EF4-FFF2-40B4-BE49-F238E27FC236}">
                  <a16:creationId xmlns:a16="http://schemas.microsoft.com/office/drawing/2014/main" id="{FFC49AEA-2A8F-250C-A86A-A7751D9706C3}"/>
                </a:ext>
              </a:extLst>
            </p:cNvPr>
            <p:cNvSpPr txBox="1"/>
            <p:nvPr/>
          </p:nvSpPr>
          <p:spPr>
            <a:xfrm>
              <a:off x="3882481" y="567347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96" name="TextBox 95">
              <a:extLst>
                <a:ext uri="{FF2B5EF4-FFF2-40B4-BE49-F238E27FC236}">
                  <a16:creationId xmlns:a16="http://schemas.microsoft.com/office/drawing/2014/main" id="{FFC49AEA-2A8F-250C-A86A-A7751D9706C3}"/>
                </a:ext>
              </a:extLst>
            </p:cNvPr>
            <p:cNvSpPr txBox="1"/>
            <p:nvPr/>
          </p:nvSpPr>
          <p:spPr>
            <a:xfrm>
              <a:off x="6059077" y="596059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3910665" y="6227686"/>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r>
                <a:rPr lang="ko-KR" altLang="en-US" sz="700" dirty="0">
                  <a:latin typeface="+mn-ea"/>
                </a:rPr>
                <a:t/>
              </a:r>
              <a:br>
                <a:rPr lang="ko-KR" altLang="en-US" sz="700" dirty="0">
                  <a:latin typeface="+mn-ea"/>
                </a:rPr>
              </a:br>
              <a:r>
                <a:rPr lang="en-US" altLang="ko-KR" sz="700" dirty="0">
                  <a:latin typeface="+mn-ea"/>
                </a:rPr>
                <a:t>3.</a:t>
              </a:r>
              <a:r>
                <a:rPr lang="ko-KR" altLang="en-US" sz="700" dirty="0">
                  <a:latin typeface="+mn-ea"/>
                </a:rPr>
                <a:t>부정당업자 제재</a:t>
              </a:r>
            </a:p>
          </p:txBody>
        </p:sp>
        <p:sp>
          <p:nvSpPr>
            <p:cNvPr id="98" name="TextBox 97">
              <a:extLst>
                <a:ext uri="{FF2B5EF4-FFF2-40B4-BE49-F238E27FC236}">
                  <a16:creationId xmlns:a16="http://schemas.microsoft.com/office/drawing/2014/main" id="{FFC49AEA-2A8F-250C-A86A-A7751D9706C3}"/>
                </a:ext>
              </a:extLst>
            </p:cNvPr>
            <p:cNvSpPr txBox="1"/>
            <p:nvPr/>
          </p:nvSpPr>
          <p:spPr>
            <a:xfrm>
              <a:off x="5356257" y="6335407"/>
              <a:ext cx="461986"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+6.2 ~ -4.2</a:t>
              </a:r>
            </a:p>
          </p:txBody>
        </p:sp>
        <p:sp>
          <p:nvSpPr>
            <p:cNvPr id="99" name="TextBox 98">
              <a:extLst>
                <a:ext uri="{FF2B5EF4-FFF2-40B4-BE49-F238E27FC236}">
                  <a16:creationId xmlns:a16="http://schemas.microsoft.com/office/drawing/2014/main" id="{FFC49AEA-2A8F-250C-A86A-A7751D9706C3}"/>
                </a:ext>
              </a:extLst>
            </p:cNvPr>
            <p:cNvSpPr txBox="1"/>
            <p:nvPr/>
          </p:nvSpPr>
          <p:spPr>
            <a:xfrm>
              <a:off x="6381281" y="633540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02" name="타원 10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50907004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MUI-BD-10-T12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491157"/>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기술능력</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790330"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5187" y="1764682"/>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 인력 보유</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790330"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1315187" y="1948462"/>
            <a:ext cx="2010812" cy="107722"/>
          </a:xfrm>
          <a:prstGeom prst="rect">
            <a:avLst/>
          </a:prstGeom>
          <a:noFill/>
        </p:spPr>
        <p:txBody>
          <a:bodyPr wrap="square" lIns="0" tIns="0" rIns="0" bIns="0" rtlCol="0">
            <a:spAutoFit/>
          </a:bodyPr>
          <a:lstStyle/>
          <a:p>
            <a:r>
              <a:rPr lang="ko-KR" altLang="en-US" sz="700" dirty="0">
                <a:latin typeface="+mn-ea"/>
              </a:rPr>
              <a:t>기술인력 보유 정도</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2916479"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6.0</a:t>
            </a:r>
          </a:p>
        </p:txBody>
      </p:sp>
      <p:grpSp>
        <p:nvGrpSpPr>
          <p:cNvPr id="5" name="그룹 4"/>
          <p:cNvGrpSpPr/>
          <p:nvPr/>
        </p:nvGrpSpPr>
        <p:grpSpPr>
          <a:xfrm>
            <a:off x="3795733" y="1523451"/>
            <a:ext cx="2712027" cy="989687"/>
            <a:chOff x="675399" y="5198000"/>
            <a:chExt cx="2712027" cy="989687"/>
          </a:xfrm>
        </p:grpSpPr>
        <p:cxnSp>
          <p:nvCxnSpPr>
            <p:cNvPr id="277" name="직선 연결선 276">
              <a:extLst>
                <a:ext uri="{FF2B5EF4-FFF2-40B4-BE49-F238E27FC236}">
                  <a16:creationId xmlns:a16="http://schemas.microsoft.com/office/drawing/2014/main" id="{E9293055-D5CD-4B9E-7F64-64B2D2CA7A52}"/>
                </a:ext>
              </a:extLst>
            </p:cNvPr>
            <p:cNvCxnSpPr/>
            <p:nvPr/>
          </p:nvCxnSpPr>
          <p:spPr>
            <a:xfrm>
              <a:off x="675399" y="61876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5" name="그룹 104"/>
            <p:cNvGrpSpPr/>
            <p:nvPr/>
          </p:nvGrpSpPr>
          <p:grpSpPr>
            <a:xfrm>
              <a:off x="701175" y="5479117"/>
              <a:ext cx="2630093" cy="646331"/>
              <a:chOff x="701175" y="1835481"/>
              <a:chExt cx="2630093" cy="646331"/>
            </a:xfrm>
          </p:grpSpPr>
          <p:sp>
            <p:nvSpPr>
              <p:cNvPr id="106" name="직사각형 105"/>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09" name="그룹 108"/>
              <p:cNvGrpSpPr/>
              <p:nvPr/>
            </p:nvGrpSpPr>
            <p:grpSpPr>
              <a:xfrm>
                <a:off x="701175" y="1835481"/>
                <a:ext cx="2630093" cy="644220"/>
                <a:chOff x="701175" y="1835481"/>
                <a:chExt cx="2630093" cy="64422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15" name="TextBox 114">
              <a:extLst>
                <a:ext uri="{FF2B5EF4-FFF2-40B4-BE49-F238E27FC236}">
                  <a16:creationId xmlns:a16="http://schemas.microsoft.com/office/drawing/2014/main" id="{FFC49AEA-2A8F-250C-A86A-A7751D9706C3}"/>
                </a:ext>
              </a:extLst>
            </p:cNvPr>
            <p:cNvSpPr txBox="1"/>
            <p:nvPr/>
          </p:nvSpPr>
          <p:spPr>
            <a:xfrm>
              <a:off x="790330" y="5198000"/>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 경영상태</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354685" y="5198000"/>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25</a:t>
              </a:r>
              <a:r>
                <a:rPr lang="ko-KR" altLang="en-US" dirty="0"/>
                <a:t>점</a:t>
              </a:r>
            </a:p>
          </p:txBody>
        </p:sp>
      </p:grpSp>
      <p:sp>
        <p:nvSpPr>
          <p:cNvPr id="117" name="TextBox 116">
            <a:extLst>
              <a:ext uri="{FF2B5EF4-FFF2-40B4-BE49-F238E27FC236}">
                <a16:creationId xmlns:a16="http://schemas.microsoft.com/office/drawing/2014/main" id="{FFC49AEA-2A8F-250C-A86A-A7751D9706C3}"/>
              </a:ext>
            </a:extLst>
          </p:cNvPr>
          <p:cNvSpPr txBox="1"/>
          <p:nvPr/>
        </p:nvSpPr>
        <p:spPr>
          <a:xfrm>
            <a:off x="2354685" y="1491157"/>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123" name="직사각형 122"/>
          <p:cNvSpPr/>
          <p:nvPr/>
        </p:nvSpPr>
        <p:spPr>
          <a:xfrm>
            <a:off x="714799" y="2109540"/>
            <a:ext cx="1639886" cy="20892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801862"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2529904"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6" name="직선 연결선 125">
            <a:extLst>
              <a:ext uri="{FF2B5EF4-FFF2-40B4-BE49-F238E27FC236}">
                <a16:creationId xmlns:a16="http://schemas.microsoft.com/office/drawing/2014/main" id="{E9293055-D5CD-4B9E-7F64-64B2D2CA7A52}"/>
              </a:ext>
            </a:extLst>
          </p:cNvPr>
          <p:cNvCxnSpPr/>
          <p:nvPr/>
        </p:nvCxnSpPr>
        <p:spPr>
          <a:xfrm>
            <a:off x="712102"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4195"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14195" y="4190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2950274"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815712" y="236067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2604668" y="254117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br>
              <a:rPr lang="en-US" altLang="ko-KR" dirty="0"/>
            </a:br>
            <a:r>
              <a:rPr lang="en-US" altLang="ko-KR" dirty="0"/>
              <a:t>2.0</a:t>
            </a:r>
            <a:br>
              <a:rPr lang="en-US" altLang="ko-KR" dirty="0"/>
            </a:br>
            <a:r>
              <a:rPr lang="en-US" altLang="ko-KR" dirty="0"/>
              <a:t>1.0</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3286328" y="32036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815712" y="254117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815712" y="292494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기사 또는 산업기사 보유</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815712" y="310544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815712" y="348921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기능사 보유</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815712" y="366971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815712" y="4046657"/>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err="1"/>
              <a:t>미보유</a:t>
            </a:r>
            <a:endParaRPr lang="ko-KR" altLang="en-US" dirty="0"/>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719050" y="401026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19050" y="34528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19050" y="288854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19050" y="363332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9050" y="30690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19050" y="250478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5" name="TextBox 144">
            <a:extLst>
              <a:ext uri="{FF2B5EF4-FFF2-40B4-BE49-F238E27FC236}">
                <a16:creationId xmlns:a16="http://schemas.microsoft.com/office/drawing/2014/main" id="{FFC49AEA-2A8F-250C-A86A-A7751D9706C3}"/>
              </a:ext>
            </a:extLst>
          </p:cNvPr>
          <p:cNvSpPr txBox="1"/>
          <p:nvPr/>
        </p:nvSpPr>
        <p:spPr>
          <a:xfrm>
            <a:off x="2604668" y="310544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br>
              <a:rPr lang="en-US" altLang="ko-KR" dirty="0"/>
            </a:br>
            <a:r>
              <a:rPr lang="en-US" altLang="ko-KR" dirty="0"/>
              <a:t>1.0</a:t>
            </a:r>
            <a:br>
              <a:rPr lang="en-US" altLang="ko-KR" dirty="0"/>
            </a:br>
            <a:r>
              <a:rPr lang="en-US" altLang="ko-KR" dirty="0"/>
              <a:t>0.5</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2554974" y="3669717"/>
            <a:ext cx="168316"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0.75</a:t>
            </a:r>
            <a:br>
              <a:rPr lang="en-US" altLang="ko-KR" dirty="0"/>
            </a:br>
            <a:r>
              <a:rPr lang="en-US" altLang="ko-KR" dirty="0"/>
              <a:t>0.5</a:t>
            </a:r>
            <a:br>
              <a:rPr lang="en-US" altLang="ko-KR" dirty="0"/>
            </a:br>
            <a:r>
              <a:rPr lang="en-US" altLang="ko-KR" dirty="0"/>
              <a:t>0.25</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2673597" y="4046657"/>
            <a:ext cx="4969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0" y="42513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1315187" y="4324646"/>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생산기술축적정도</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790330" y="44351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51" name="TextBox 150">
            <a:extLst>
              <a:ext uri="{FF2B5EF4-FFF2-40B4-BE49-F238E27FC236}">
                <a16:creationId xmlns:a16="http://schemas.microsoft.com/office/drawing/2014/main" id="{FFC49AEA-2A8F-250C-A86A-A7751D9706C3}"/>
              </a:ext>
            </a:extLst>
          </p:cNvPr>
          <p:cNvSpPr txBox="1"/>
          <p:nvPr/>
        </p:nvSpPr>
        <p:spPr>
          <a:xfrm>
            <a:off x="1315187" y="4508426"/>
            <a:ext cx="2010812" cy="107722"/>
          </a:xfrm>
          <a:prstGeom prst="rect">
            <a:avLst/>
          </a:prstGeom>
          <a:noFill/>
        </p:spPr>
        <p:txBody>
          <a:bodyPr wrap="square" lIns="0" tIns="0" rIns="0" bIns="0" rtlCol="0">
            <a:spAutoFit/>
          </a:bodyPr>
          <a:lstStyle/>
          <a:p>
            <a:r>
              <a:rPr lang="ko-KR" altLang="en-US" sz="700" dirty="0">
                <a:latin typeface="+mn-ea"/>
              </a:rPr>
              <a:t>공장등록연수평가</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2916479" y="45084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4.0</a:t>
            </a:r>
          </a:p>
        </p:txBody>
      </p:sp>
      <p:sp>
        <p:nvSpPr>
          <p:cNvPr id="154" name="직사각형 153"/>
          <p:cNvSpPr/>
          <p:nvPr/>
        </p:nvSpPr>
        <p:spPr>
          <a:xfrm>
            <a:off x="714799" y="4669504"/>
            <a:ext cx="1639886" cy="7369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5" name="TextBox 154">
            <a:extLst>
              <a:ext uri="{FF2B5EF4-FFF2-40B4-BE49-F238E27FC236}">
                <a16:creationId xmlns:a16="http://schemas.microsoft.com/office/drawing/2014/main" id="{FFC49AEA-2A8F-250C-A86A-A7751D9706C3}"/>
              </a:ext>
            </a:extLst>
          </p:cNvPr>
          <p:cNvSpPr txBox="1"/>
          <p:nvPr/>
        </p:nvSpPr>
        <p:spPr>
          <a:xfrm>
            <a:off x="801862" y="46695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2529904" y="46695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712102" y="46695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14195" y="48842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14195" y="5406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2950274" y="46695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77" name="TextBox 176">
            <a:extLst>
              <a:ext uri="{FF2B5EF4-FFF2-40B4-BE49-F238E27FC236}">
                <a16:creationId xmlns:a16="http://schemas.microsoft.com/office/drawing/2014/main" id="{FFC49AEA-2A8F-250C-A86A-A7751D9706C3}"/>
              </a:ext>
            </a:extLst>
          </p:cNvPr>
          <p:cNvSpPr txBox="1"/>
          <p:nvPr/>
        </p:nvSpPr>
        <p:spPr>
          <a:xfrm>
            <a:off x="815712" y="4920635"/>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A.5</a:t>
            </a:r>
            <a:r>
              <a:rPr lang="ko-KR" altLang="en-US" dirty="0"/>
              <a:t>년 이상</a:t>
            </a:r>
            <a:br>
              <a:rPr lang="ko-KR" altLang="en-US" dirty="0"/>
            </a:br>
            <a:r>
              <a:rPr lang="en-US" altLang="ko-KR" dirty="0"/>
              <a:t>B.3</a:t>
            </a:r>
            <a:r>
              <a:rPr lang="ko-KR" altLang="en-US" dirty="0" err="1"/>
              <a:t>년이상</a:t>
            </a:r>
            <a:r>
              <a:rPr lang="ko-KR" altLang="en-US" dirty="0"/>
              <a:t> </a:t>
            </a:r>
            <a:r>
              <a:rPr lang="en-US" altLang="ko-KR" dirty="0"/>
              <a:t>5</a:t>
            </a:r>
            <a:r>
              <a:rPr lang="ko-KR" altLang="en-US" dirty="0" err="1"/>
              <a:t>년미만</a:t>
            </a:r>
            <a:r>
              <a:rPr lang="ko-KR" altLang="en-US" dirty="0"/>
              <a:t/>
            </a:r>
            <a:br>
              <a:rPr lang="ko-KR" altLang="en-US" dirty="0"/>
            </a:br>
            <a:r>
              <a:rPr lang="en-US" altLang="ko-KR" dirty="0"/>
              <a:t>C.1</a:t>
            </a:r>
            <a:r>
              <a:rPr lang="ko-KR" altLang="en-US" dirty="0" err="1"/>
              <a:t>년이상</a:t>
            </a:r>
            <a:r>
              <a:rPr lang="ko-KR" altLang="en-US" dirty="0"/>
              <a:t> </a:t>
            </a:r>
            <a:r>
              <a:rPr lang="en-US" altLang="ko-KR" dirty="0"/>
              <a:t>3</a:t>
            </a:r>
            <a:r>
              <a:rPr lang="ko-KR" altLang="en-US" dirty="0" err="1"/>
              <a:t>년미만</a:t>
            </a:r>
            <a:r>
              <a:rPr lang="ko-KR" altLang="en-US" dirty="0"/>
              <a:t/>
            </a:r>
            <a:br>
              <a:rPr lang="ko-KR" altLang="en-US" dirty="0"/>
            </a:br>
            <a:r>
              <a:rPr lang="en-US" altLang="ko-KR" dirty="0"/>
              <a:t>D.1</a:t>
            </a:r>
            <a:r>
              <a:rPr lang="ko-KR" altLang="en-US" dirty="0" err="1"/>
              <a:t>년미만</a:t>
            </a:r>
            <a:endParaRPr lang="ko-KR" altLang="en-US" dirty="0"/>
          </a:p>
        </p:txBody>
      </p:sp>
      <p:sp>
        <p:nvSpPr>
          <p:cNvPr id="179" name="TextBox 178">
            <a:extLst>
              <a:ext uri="{FF2B5EF4-FFF2-40B4-BE49-F238E27FC236}">
                <a16:creationId xmlns:a16="http://schemas.microsoft.com/office/drawing/2014/main" id="{FFC49AEA-2A8F-250C-A86A-A7751D9706C3}"/>
              </a:ext>
            </a:extLst>
          </p:cNvPr>
          <p:cNvSpPr txBox="1"/>
          <p:nvPr/>
        </p:nvSpPr>
        <p:spPr>
          <a:xfrm>
            <a:off x="3286328" y="50822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2604668" y="4920635"/>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4.0</a:t>
            </a:r>
            <a:br>
              <a:rPr lang="en-US" altLang="ko-KR" dirty="0"/>
            </a:br>
            <a:r>
              <a:rPr lang="en-US" altLang="ko-KR" dirty="0"/>
              <a:t>3.5</a:t>
            </a:r>
            <a:br>
              <a:rPr lang="en-US" altLang="ko-KR" dirty="0"/>
            </a:br>
            <a:r>
              <a:rPr lang="en-US" altLang="ko-KR" dirty="0"/>
              <a:t>3.0</a:t>
            </a:r>
            <a:br>
              <a:rPr lang="en-US" altLang="ko-KR" dirty="0"/>
            </a:br>
            <a:r>
              <a:rPr lang="en-US" altLang="ko-KR" dirty="0"/>
              <a:t>2.5</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3882481" y="2550007"/>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50</a:t>
            </a:r>
            <a:r>
              <a:rPr lang="ko-KR" altLang="en-US" sz="700" dirty="0">
                <a:latin typeface="+mn-ea"/>
              </a:rPr>
              <a:t>점</a:t>
            </a:r>
          </a:p>
        </p:txBody>
      </p:sp>
      <p:grpSp>
        <p:nvGrpSpPr>
          <p:cNvPr id="223" name="그룹 222"/>
          <p:cNvGrpSpPr/>
          <p:nvPr/>
        </p:nvGrpSpPr>
        <p:grpSpPr>
          <a:xfrm flipV="1">
            <a:off x="6244568" y="2663338"/>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29" name="직선 연결선 228">
            <a:extLst>
              <a:ext uri="{FF2B5EF4-FFF2-40B4-BE49-F238E27FC236}">
                <a16:creationId xmlns:a16="http://schemas.microsoft.com/office/drawing/2014/main" id="{E9293055-D5CD-4B9E-7F64-64B2D2CA7A52}"/>
              </a:ext>
            </a:extLst>
          </p:cNvPr>
          <p:cNvCxnSpPr/>
          <p:nvPr/>
        </p:nvCxnSpPr>
        <p:spPr>
          <a:xfrm>
            <a:off x="3795734" y="283681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3795734" y="45333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34" name="그룹 233"/>
          <p:cNvGrpSpPr/>
          <p:nvPr/>
        </p:nvGrpSpPr>
        <p:grpSpPr>
          <a:xfrm>
            <a:off x="3836701" y="2900932"/>
            <a:ext cx="2630093" cy="1094598"/>
            <a:chOff x="701175" y="1835480"/>
            <a:chExt cx="2630093" cy="1094598"/>
          </a:xfrm>
        </p:grpSpPr>
        <p:sp>
          <p:nvSpPr>
            <p:cNvPr id="236" name="직사각형 235"/>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7" name="TextBox 236">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38" name="TextBox 237">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50 -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39" name="그룹 238"/>
            <p:cNvGrpSpPr/>
            <p:nvPr/>
          </p:nvGrpSpPr>
          <p:grpSpPr>
            <a:xfrm>
              <a:off x="701175" y="1835481"/>
              <a:ext cx="2630093" cy="1094597"/>
              <a:chOff x="701175" y="1835481"/>
              <a:chExt cx="2630093" cy="1094597"/>
            </a:xfrm>
          </p:grpSpPr>
          <p:cxnSp>
            <p:nvCxnSpPr>
              <p:cNvPr id="240" name="직선 연결선 23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7" name="직선 연결선 246">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5" name="TextBox 234">
            <a:extLst>
              <a:ext uri="{FF2B5EF4-FFF2-40B4-BE49-F238E27FC236}">
                <a16:creationId xmlns:a16="http://schemas.microsoft.com/office/drawing/2014/main" id="{FFC49AEA-2A8F-250C-A86A-A7751D9706C3}"/>
              </a:ext>
            </a:extLst>
          </p:cNvPr>
          <p:cNvSpPr txBox="1"/>
          <p:nvPr/>
        </p:nvSpPr>
        <p:spPr>
          <a:xfrm>
            <a:off x="3923699" y="4112238"/>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45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sp>
        <p:nvSpPr>
          <p:cNvPr id="100" name="타원 99">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253112881"/>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MUI-BD-10-T12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762146" y="153087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-5</a:t>
            </a:r>
            <a:r>
              <a:rPr lang="ko-KR" altLang="en-US" sz="700" dirty="0">
                <a:latin typeface="+mn-ea"/>
              </a:rPr>
              <a:t>점</a:t>
            </a:r>
          </a:p>
        </p:txBody>
      </p:sp>
      <p:grpSp>
        <p:nvGrpSpPr>
          <p:cNvPr id="101" name="그룹 100"/>
          <p:cNvGrpSpPr/>
          <p:nvPr/>
        </p:nvGrpSpPr>
        <p:grpSpPr>
          <a:xfrm flipV="1">
            <a:off x="3124233" y="1644207"/>
            <a:ext cx="94010" cy="47005"/>
            <a:chOff x="6812560" y="3297172"/>
            <a:chExt cx="94010" cy="47005"/>
          </a:xfrm>
        </p:grpSpPr>
        <p:cxnSp>
          <p:nvCxnSpPr>
            <p:cNvPr id="102" name="직선 연결선 1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3" name="직선 연결선 1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4" name="직선 연결선 103">
            <a:extLst>
              <a:ext uri="{FF2B5EF4-FFF2-40B4-BE49-F238E27FC236}">
                <a16:creationId xmlns:a16="http://schemas.microsoft.com/office/drawing/2014/main" id="{E9293055-D5CD-4B9E-7F64-64B2D2CA7A52}"/>
              </a:ext>
            </a:extLst>
          </p:cNvPr>
          <p:cNvCxnSpPr/>
          <p:nvPr/>
        </p:nvCxnSpPr>
        <p:spPr>
          <a:xfrm>
            <a:off x="675399"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788988"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 물품 </a:t>
            </a:r>
            <a:r>
              <a:rPr lang="ko-KR" altLang="en-US" dirty="0" err="1"/>
              <a:t>품질정도</a:t>
            </a:r>
            <a:endParaRPr lang="ko-KR" altLang="en-US" dirty="0"/>
          </a:p>
        </p:txBody>
      </p:sp>
      <p:sp>
        <p:nvSpPr>
          <p:cNvPr id="118" name="TextBox 117">
            <a:extLst>
              <a:ext uri="{FF2B5EF4-FFF2-40B4-BE49-F238E27FC236}">
                <a16:creationId xmlns:a16="http://schemas.microsoft.com/office/drawing/2014/main" id="{FFC49AEA-2A8F-250C-A86A-A7751D9706C3}"/>
              </a:ext>
            </a:extLst>
          </p:cNvPr>
          <p:cNvSpPr txBox="1"/>
          <p:nvPr/>
        </p:nvSpPr>
        <p:spPr>
          <a:xfrm>
            <a:off x="788988" y="202669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1313845" y="2099984"/>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품질관리</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988" y="221047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1313845" y="2283764"/>
            <a:ext cx="2010812" cy="107722"/>
          </a:xfrm>
          <a:prstGeom prst="rect">
            <a:avLst/>
          </a:prstGeom>
          <a:noFill/>
        </p:spPr>
        <p:txBody>
          <a:bodyPr wrap="square" lIns="0" tIns="0" rIns="0" bIns="0" rtlCol="0">
            <a:spAutoFit/>
          </a:bodyPr>
          <a:lstStyle/>
          <a:p>
            <a:r>
              <a:rPr lang="ko-KR" altLang="en-US" sz="700" dirty="0">
                <a:latin typeface="+mn-ea"/>
              </a:rPr>
              <a:t>품질보증</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2915137" y="228376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53" name="직사각형 152"/>
          <p:cNvSpPr/>
          <p:nvPr/>
        </p:nvSpPr>
        <p:spPr>
          <a:xfrm>
            <a:off x="713457" y="2444841"/>
            <a:ext cx="1639886" cy="162232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800520" y="244484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28562" y="244484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710760" y="24448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12853" y="2659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2948932" y="244484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814370" y="2715137"/>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KS, CE, UL </a:t>
            </a:r>
            <a:r>
              <a:rPr lang="ko-KR" altLang="en-US" dirty="0"/>
              <a:t>및 </a:t>
            </a:r>
            <a:r>
              <a:rPr lang="en-US" altLang="ko-KR" dirty="0"/>
              <a:t>KS</a:t>
            </a:r>
            <a:r>
              <a:rPr lang="ko-KR" altLang="en-US" dirty="0"/>
              <a:t>에 상응하는 해당국의 국가산업표준규격인증</a:t>
            </a:r>
            <a:r>
              <a:rPr lang="en-US" altLang="ko-KR" dirty="0"/>
              <a:t>, </a:t>
            </a:r>
            <a:r>
              <a:rPr lang="ko-KR" altLang="en-US" dirty="0"/>
              <a:t>국방품질경영시스템  인증 및 </a:t>
            </a:r>
            <a:r>
              <a:rPr lang="ko-KR" altLang="en-US" dirty="0" err="1"/>
              <a:t>당해품목</a:t>
            </a:r>
            <a:r>
              <a:rPr lang="ko-KR" altLang="en-US" dirty="0"/>
              <a:t> </a:t>
            </a:r>
            <a:r>
              <a:rPr lang="en-US" altLang="ko-KR" dirty="0"/>
              <a:t>HACCP </a:t>
            </a:r>
            <a:r>
              <a:rPr lang="ko-KR" altLang="en-US" dirty="0"/>
              <a:t>인증 보유자</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2603325" y="287671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3284986" y="331099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717708" y="32015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7117" y="40701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793252" y="410189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1318109" y="4175187"/>
            <a:ext cx="2010812" cy="107722"/>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기술보유</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793252" y="428567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1318109" y="4358967"/>
            <a:ext cx="2010812" cy="107722"/>
          </a:xfrm>
          <a:prstGeom prst="rect">
            <a:avLst/>
          </a:prstGeom>
          <a:noFill/>
        </p:spPr>
        <p:txBody>
          <a:bodyPr wrap="square" lIns="0" tIns="0" rIns="0" bIns="0" rtlCol="0">
            <a:spAutoFit/>
          </a:bodyPr>
          <a:lstStyle/>
          <a:p>
            <a:r>
              <a:rPr lang="ko-KR" altLang="en-US" sz="700" dirty="0" err="1">
                <a:latin typeface="+mn-ea"/>
              </a:rPr>
              <a:t>기술인증</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2919401" y="435896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76" name="직사각형 175"/>
          <p:cNvSpPr/>
          <p:nvPr/>
        </p:nvSpPr>
        <p:spPr>
          <a:xfrm>
            <a:off x="717721" y="4520045"/>
            <a:ext cx="1639886" cy="9563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8" name="TextBox 177">
            <a:extLst>
              <a:ext uri="{FF2B5EF4-FFF2-40B4-BE49-F238E27FC236}">
                <a16:creationId xmlns:a16="http://schemas.microsoft.com/office/drawing/2014/main" id="{FFC49AEA-2A8F-250C-A86A-A7751D9706C3}"/>
              </a:ext>
            </a:extLst>
          </p:cNvPr>
          <p:cNvSpPr txBox="1"/>
          <p:nvPr/>
        </p:nvSpPr>
        <p:spPr>
          <a:xfrm>
            <a:off x="804784" y="452004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2532826" y="452004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81" name="직선 연결선 180">
            <a:extLst>
              <a:ext uri="{FF2B5EF4-FFF2-40B4-BE49-F238E27FC236}">
                <a16:creationId xmlns:a16="http://schemas.microsoft.com/office/drawing/2014/main" id="{E9293055-D5CD-4B9E-7F64-64B2D2CA7A52}"/>
              </a:ext>
            </a:extLst>
          </p:cNvPr>
          <p:cNvCxnSpPr/>
          <p:nvPr/>
        </p:nvCxnSpPr>
        <p:spPr>
          <a:xfrm>
            <a:off x="715024" y="452004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17117" y="47347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3" name="TextBox 182">
            <a:extLst>
              <a:ext uri="{FF2B5EF4-FFF2-40B4-BE49-F238E27FC236}">
                <a16:creationId xmlns:a16="http://schemas.microsoft.com/office/drawing/2014/main" id="{FFC49AEA-2A8F-250C-A86A-A7751D9706C3}"/>
              </a:ext>
            </a:extLst>
          </p:cNvPr>
          <p:cNvSpPr txBox="1"/>
          <p:nvPr/>
        </p:nvSpPr>
        <p:spPr>
          <a:xfrm>
            <a:off x="2953196" y="452004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818634" y="4786232"/>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주무부 장관 등이 인증한 신기술 </a:t>
            </a:r>
            <a:r>
              <a:rPr lang="en-US" altLang="ko-KR" dirty="0"/>
              <a:t>(NET, NEP, </a:t>
            </a:r>
            <a:r>
              <a:rPr lang="ko-KR" altLang="en-US" dirty="0" err="1"/>
              <a:t>전력신기술</a:t>
            </a:r>
            <a:r>
              <a:rPr lang="en-US" altLang="ko-KR" dirty="0"/>
              <a:t>) </a:t>
            </a:r>
            <a:r>
              <a:rPr lang="ko-KR" altLang="en-US" dirty="0"/>
              <a:t>인증</a:t>
            </a:r>
            <a:r>
              <a:rPr lang="en-US" altLang="ko-KR" dirty="0"/>
              <a:t>, </a:t>
            </a:r>
            <a:r>
              <a:rPr lang="ko-KR" altLang="en-US" dirty="0"/>
              <a:t>중소기업기술개발제품 </a:t>
            </a:r>
            <a:r>
              <a:rPr lang="ko-KR" altLang="en-US" dirty="0" err="1"/>
              <a:t>성능인증</a:t>
            </a:r>
            <a:r>
              <a:rPr lang="ko-KR" altLang="en-US" dirty="0"/>
              <a:t> 보유자</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2607590" y="4893953"/>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721972" y="51608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TextBox 186">
            <a:extLst>
              <a:ext uri="{FF2B5EF4-FFF2-40B4-BE49-F238E27FC236}">
                <a16:creationId xmlns:a16="http://schemas.microsoft.com/office/drawing/2014/main" id="{FFC49AEA-2A8F-250C-A86A-A7751D9706C3}"/>
              </a:ext>
            </a:extLst>
          </p:cNvPr>
          <p:cNvSpPr txBox="1"/>
          <p:nvPr/>
        </p:nvSpPr>
        <p:spPr>
          <a:xfrm>
            <a:off x="818634" y="521229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특허</a:t>
            </a:r>
            <a:r>
              <a:rPr lang="en-US" altLang="ko-KR" dirty="0"/>
              <a:t>, GD</a:t>
            </a:r>
            <a:r>
              <a:rPr lang="ko-KR" altLang="en-US" dirty="0"/>
              <a:t>인증</a:t>
            </a:r>
            <a:r>
              <a:rPr lang="en-US" altLang="ko-KR" dirty="0"/>
              <a:t>, GS(</a:t>
            </a:r>
            <a:r>
              <a:rPr lang="ko-KR" altLang="en-US" dirty="0"/>
              <a:t>국산 우수 </a:t>
            </a:r>
            <a:r>
              <a:rPr lang="en-US" altLang="ko-KR" dirty="0"/>
              <a:t>S/W)</a:t>
            </a:r>
            <a:r>
              <a:rPr lang="ko-KR" altLang="en-US" dirty="0"/>
              <a:t>마크 보유자</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2607589" y="526615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717117" y="54791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0" name="TextBox 189">
            <a:extLst>
              <a:ext uri="{FF2B5EF4-FFF2-40B4-BE49-F238E27FC236}">
                <a16:creationId xmlns:a16="http://schemas.microsoft.com/office/drawing/2014/main" id="{FFC49AEA-2A8F-250C-A86A-A7751D9706C3}"/>
              </a:ext>
            </a:extLst>
          </p:cNvPr>
          <p:cNvSpPr txBox="1"/>
          <p:nvPr/>
        </p:nvSpPr>
        <p:spPr>
          <a:xfrm>
            <a:off x="3289250" y="50531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1" name="TextBox 190">
            <a:extLst>
              <a:ext uri="{FF2B5EF4-FFF2-40B4-BE49-F238E27FC236}">
                <a16:creationId xmlns:a16="http://schemas.microsoft.com/office/drawing/2014/main" id="{FFC49AEA-2A8F-250C-A86A-A7751D9706C3}"/>
              </a:ext>
            </a:extLst>
          </p:cNvPr>
          <p:cNvSpPr txBox="1"/>
          <p:nvPr/>
        </p:nvSpPr>
        <p:spPr>
          <a:xfrm>
            <a:off x="814370" y="3257136"/>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우수단체표준</a:t>
            </a:r>
            <a:r>
              <a:rPr lang="en-US" altLang="ko-KR" dirty="0"/>
              <a:t>, </a:t>
            </a:r>
            <a:r>
              <a:rPr lang="ko-KR" altLang="en-US" dirty="0"/>
              <a:t>한국공인제품인증</a:t>
            </a:r>
            <a:r>
              <a:rPr lang="en-US" altLang="ko-KR" dirty="0"/>
              <a:t>(KAS), </a:t>
            </a:r>
            <a:r>
              <a:rPr lang="ko-KR" altLang="en-US" dirty="0"/>
              <a:t>싱글</a:t>
            </a:r>
            <a:r>
              <a:rPr lang="en-US" altLang="ko-KR" dirty="0"/>
              <a:t>PPM, </a:t>
            </a:r>
            <a:r>
              <a:rPr lang="ko-KR" altLang="en-US" dirty="0" err="1"/>
              <a:t>자가품질</a:t>
            </a:r>
            <a:r>
              <a:rPr lang="ko-KR" altLang="en-US" dirty="0"/>
              <a:t> </a:t>
            </a:r>
            <a:r>
              <a:rPr lang="ko-KR" altLang="en-US" dirty="0" err="1"/>
              <a:t>보증물품</a:t>
            </a:r>
            <a:r>
              <a:rPr lang="ko-KR" altLang="en-US" dirty="0"/>
              <a:t> 지정</a:t>
            </a:r>
            <a:r>
              <a:rPr lang="en-US" altLang="ko-KR" dirty="0"/>
              <a:t>, </a:t>
            </a:r>
            <a:r>
              <a:rPr lang="ko-KR" altLang="en-US" dirty="0"/>
              <a:t>세계일류상품인증</a:t>
            </a:r>
            <a:r>
              <a:rPr lang="en-US" altLang="ko-KR" dirty="0"/>
              <a:t>, “</a:t>
            </a:r>
            <a:r>
              <a:rPr lang="ko-KR" altLang="en-US" dirty="0"/>
              <a:t>건”자 마크</a:t>
            </a:r>
            <a:r>
              <a:rPr lang="en-US" altLang="ko-KR" dirty="0"/>
              <a:t>·K</a:t>
            </a:r>
            <a:r>
              <a:rPr lang="ko-KR" altLang="en-US" dirty="0"/>
              <a:t>마크</a:t>
            </a:r>
          </a:p>
        </p:txBody>
      </p:sp>
      <p:sp>
        <p:nvSpPr>
          <p:cNvPr id="192" name="TextBox 191">
            <a:extLst>
              <a:ext uri="{FF2B5EF4-FFF2-40B4-BE49-F238E27FC236}">
                <a16:creationId xmlns:a16="http://schemas.microsoft.com/office/drawing/2014/main" id="{FFC49AEA-2A8F-250C-A86A-A7751D9706C3}"/>
              </a:ext>
            </a:extLst>
          </p:cNvPr>
          <p:cNvSpPr txBox="1"/>
          <p:nvPr/>
        </p:nvSpPr>
        <p:spPr>
          <a:xfrm>
            <a:off x="2603325" y="341871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814370" y="379913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a:t>
            </a:r>
            <a:r>
              <a:rPr lang="ko-KR" altLang="en-US" dirty="0"/>
              <a:t>산업통상자원부장관이 선정한 “</a:t>
            </a:r>
            <a:r>
              <a:rPr lang="ko-KR" altLang="en-US" dirty="0" err="1"/>
              <a:t>세계일류상</a:t>
            </a:r>
            <a:r>
              <a:rPr lang="ko-KR" altLang="en-US" dirty="0"/>
              <a:t> </a:t>
            </a:r>
            <a:r>
              <a:rPr lang="ko-KR" altLang="en-US" dirty="0" err="1"/>
              <a:t>품생산기업</a:t>
            </a:r>
            <a:r>
              <a:rPr lang="ko-KR" altLang="en-US" dirty="0"/>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2603325" y="385299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p>
        </p:txBody>
      </p:sp>
      <p:cxnSp>
        <p:nvCxnSpPr>
          <p:cNvPr id="197" name="직선 연결선 196">
            <a:extLst>
              <a:ext uri="{FF2B5EF4-FFF2-40B4-BE49-F238E27FC236}">
                <a16:creationId xmlns:a16="http://schemas.microsoft.com/office/drawing/2014/main" id="{E9293055-D5CD-4B9E-7F64-64B2D2CA7A52}"/>
              </a:ext>
            </a:extLst>
          </p:cNvPr>
          <p:cNvCxnSpPr/>
          <p:nvPr/>
        </p:nvCxnSpPr>
        <p:spPr>
          <a:xfrm>
            <a:off x="717708" y="37435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8" name="직사각형 197"/>
          <p:cNvSpPr/>
          <p:nvPr/>
        </p:nvSpPr>
        <p:spPr>
          <a:xfrm>
            <a:off x="3838793" y="1979876"/>
            <a:ext cx="1639886" cy="10274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3925856" y="197987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5653898" y="197987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6701" y="19798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8794" y="21946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3838794" y="250141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8794" y="30072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TextBox 205">
            <a:extLst>
              <a:ext uri="{FF2B5EF4-FFF2-40B4-BE49-F238E27FC236}">
                <a16:creationId xmlns:a16="http://schemas.microsoft.com/office/drawing/2014/main" id="{FFC49AEA-2A8F-250C-A86A-A7751D9706C3}"/>
              </a:ext>
            </a:extLst>
          </p:cNvPr>
          <p:cNvSpPr txBox="1"/>
          <p:nvPr/>
        </p:nvSpPr>
        <p:spPr>
          <a:xfrm>
            <a:off x="6074268" y="197987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5856" y="2240293"/>
            <a:ext cx="1480199"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환경표지</a:t>
            </a:r>
            <a:r>
              <a:rPr lang="en-US" altLang="ko-KR" sz="700" dirty="0">
                <a:latin typeface="+mn-ea"/>
              </a:rPr>
              <a:t>(GR</a:t>
            </a:r>
            <a:r>
              <a:rPr lang="ko-KR" altLang="en-US" sz="700" dirty="0" err="1">
                <a:latin typeface="+mn-ea"/>
              </a:rPr>
              <a:t>마크포함</a:t>
            </a:r>
            <a:r>
              <a:rPr lang="en-US" altLang="ko-KR" sz="700" dirty="0">
                <a:latin typeface="+mn-ea"/>
              </a:rPr>
              <a:t>) </a:t>
            </a:r>
            <a:r>
              <a:rPr lang="ko-KR" altLang="en-US" sz="700" dirty="0">
                <a:latin typeface="+mn-ea"/>
              </a:rPr>
              <a:t>인증을 받거나 환경친화기업 지정자</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30842" y="229415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10" name="TextBox 209">
            <a:extLst>
              <a:ext uri="{FF2B5EF4-FFF2-40B4-BE49-F238E27FC236}">
                <a16:creationId xmlns:a16="http://schemas.microsoft.com/office/drawing/2014/main" id="{FFC49AEA-2A8F-250C-A86A-A7751D9706C3}"/>
              </a:ext>
            </a:extLst>
          </p:cNvPr>
          <p:cNvSpPr txBox="1"/>
          <p:nvPr/>
        </p:nvSpPr>
        <p:spPr>
          <a:xfrm>
            <a:off x="6396472" y="25470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3925856" y="2547089"/>
            <a:ext cx="1480199" cy="215444"/>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녹색기술</a:t>
            </a:r>
            <a:r>
              <a:rPr lang="en-US" altLang="ko-KR" sz="700" dirty="0">
                <a:latin typeface="+mn-ea"/>
              </a:rPr>
              <a:t>(</a:t>
            </a:r>
            <a:r>
              <a:rPr lang="ko-KR" altLang="en-US" sz="700" dirty="0">
                <a:latin typeface="+mn-ea"/>
              </a:rPr>
              <a:t>녹색사업</a:t>
            </a:r>
            <a:r>
              <a:rPr lang="en-US" altLang="ko-KR" sz="700" dirty="0">
                <a:latin typeface="+mn-ea"/>
              </a:rPr>
              <a:t>) </a:t>
            </a:r>
            <a:r>
              <a:rPr lang="ko-KR" altLang="en-US" sz="700" dirty="0">
                <a:latin typeface="+mn-ea"/>
              </a:rPr>
              <a:t>인증 및  녹색전문기업 확인서 보유자</a:t>
            </a:r>
            <a:endParaRPr lang="en-US" altLang="ko-KR"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730842" y="260095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883913" y="155549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4408770" y="1628786"/>
            <a:ext cx="2010812" cy="107722"/>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환경관리</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3883913" y="173927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8" name="TextBox 217">
            <a:extLst>
              <a:ext uri="{FF2B5EF4-FFF2-40B4-BE49-F238E27FC236}">
                <a16:creationId xmlns:a16="http://schemas.microsoft.com/office/drawing/2014/main" id="{FFC49AEA-2A8F-250C-A86A-A7751D9706C3}"/>
              </a:ext>
            </a:extLst>
          </p:cNvPr>
          <p:cNvSpPr txBox="1"/>
          <p:nvPr/>
        </p:nvSpPr>
        <p:spPr>
          <a:xfrm>
            <a:off x="4408770" y="1812566"/>
            <a:ext cx="2010812" cy="107722"/>
          </a:xfrm>
          <a:prstGeom prst="rect">
            <a:avLst/>
          </a:prstGeom>
          <a:noFill/>
        </p:spPr>
        <p:txBody>
          <a:bodyPr wrap="square" lIns="0" tIns="0" rIns="0" bIns="0" rtlCol="0">
            <a:spAutoFit/>
          </a:bodyPr>
          <a:lstStyle/>
          <a:p>
            <a:r>
              <a:rPr lang="ko-KR" altLang="en-US" sz="700" dirty="0">
                <a:latin typeface="+mn-ea"/>
              </a:rPr>
              <a:t>환경오염 억제와 자원절약 기여자</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6010062" y="181256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8794" y="280820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3925856" y="2853885"/>
            <a:ext cx="1480199" cy="107722"/>
          </a:xfrm>
          <a:prstGeom prst="rect">
            <a:avLst/>
          </a:prstGeom>
          <a:noFill/>
        </p:spPr>
        <p:txBody>
          <a:bodyPr wrap="square" lIns="0" tIns="0" rIns="0" bIns="0" rtlCol="0">
            <a:spAutoFit/>
          </a:bodyPr>
          <a:lstStyle/>
          <a:p>
            <a:r>
              <a:rPr lang="en-US" altLang="ko-KR" sz="700" dirty="0">
                <a:latin typeface="+mn-ea"/>
              </a:rPr>
              <a:t>C. </a:t>
            </a:r>
            <a:r>
              <a:rPr lang="ko-KR" altLang="en-US" sz="700" dirty="0">
                <a:latin typeface="+mn-ea"/>
              </a:rPr>
              <a:t>고효율에너지기자재 </a:t>
            </a:r>
            <a:r>
              <a:rPr lang="ko-KR" altLang="en-US" sz="700" dirty="0" err="1">
                <a:latin typeface="+mn-ea"/>
              </a:rPr>
              <a:t>인증보유자</a:t>
            </a:r>
            <a:endParaRPr lang="ko-KR" altLang="en-US" sz="700" dirty="0">
              <a:latin typeface="+mn-ea"/>
            </a:endParaRPr>
          </a:p>
        </p:txBody>
      </p:sp>
      <p:sp>
        <p:nvSpPr>
          <p:cNvPr id="231" name="TextBox 230">
            <a:extLst>
              <a:ext uri="{FF2B5EF4-FFF2-40B4-BE49-F238E27FC236}">
                <a16:creationId xmlns:a16="http://schemas.microsoft.com/office/drawing/2014/main" id="{FFC49AEA-2A8F-250C-A86A-A7751D9706C3}"/>
              </a:ext>
            </a:extLst>
          </p:cNvPr>
          <p:cNvSpPr txBox="1"/>
          <p:nvPr/>
        </p:nvSpPr>
        <p:spPr>
          <a:xfrm>
            <a:off x="5730842" y="285388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3914929" y="306114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 </a:t>
            </a:r>
            <a:r>
              <a:rPr lang="ko-KR" altLang="en-US" dirty="0"/>
              <a:t>계약이행 성실도</a:t>
            </a:r>
          </a:p>
        </p:txBody>
      </p:sp>
      <p:sp>
        <p:nvSpPr>
          <p:cNvPr id="243" name="TextBox 242">
            <a:extLst>
              <a:ext uri="{FF2B5EF4-FFF2-40B4-BE49-F238E27FC236}">
                <a16:creationId xmlns:a16="http://schemas.microsoft.com/office/drawing/2014/main" id="{FFC49AEA-2A8F-250C-A86A-A7751D9706C3}"/>
              </a:ext>
            </a:extLst>
          </p:cNvPr>
          <p:cNvSpPr txBox="1"/>
          <p:nvPr/>
        </p:nvSpPr>
        <p:spPr>
          <a:xfrm>
            <a:off x="3914929" y="3261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4439786" y="3334669"/>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3914929" y="344516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51" name="TextBox 250">
            <a:extLst>
              <a:ext uri="{FF2B5EF4-FFF2-40B4-BE49-F238E27FC236}">
                <a16:creationId xmlns:a16="http://schemas.microsoft.com/office/drawing/2014/main" id="{FFC49AEA-2A8F-250C-A86A-A7751D9706C3}"/>
              </a:ext>
            </a:extLst>
          </p:cNvPr>
          <p:cNvSpPr txBox="1"/>
          <p:nvPr/>
        </p:nvSpPr>
        <p:spPr>
          <a:xfrm>
            <a:off x="4439786" y="3518449"/>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252" name="TextBox 251">
            <a:extLst>
              <a:ext uri="{FF2B5EF4-FFF2-40B4-BE49-F238E27FC236}">
                <a16:creationId xmlns:a16="http://schemas.microsoft.com/office/drawing/2014/main" id="{FFC49AEA-2A8F-250C-A86A-A7751D9706C3}"/>
              </a:ext>
            </a:extLst>
          </p:cNvPr>
          <p:cNvSpPr txBox="1"/>
          <p:nvPr/>
        </p:nvSpPr>
        <p:spPr>
          <a:xfrm>
            <a:off x="6041078" y="351844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-1.2</a:t>
            </a:r>
          </a:p>
        </p:txBody>
      </p:sp>
      <p:sp>
        <p:nvSpPr>
          <p:cNvPr id="253" name="직사각형 252"/>
          <p:cNvSpPr/>
          <p:nvPr/>
        </p:nvSpPr>
        <p:spPr>
          <a:xfrm>
            <a:off x="3839398" y="3679527"/>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4" name="TextBox 253">
            <a:extLst>
              <a:ext uri="{FF2B5EF4-FFF2-40B4-BE49-F238E27FC236}">
                <a16:creationId xmlns:a16="http://schemas.microsoft.com/office/drawing/2014/main" id="{FFC49AEA-2A8F-250C-A86A-A7751D9706C3}"/>
              </a:ext>
            </a:extLst>
          </p:cNvPr>
          <p:cNvSpPr txBox="1"/>
          <p:nvPr/>
        </p:nvSpPr>
        <p:spPr>
          <a:xfrm>
            <a:off x="3926461" y="367952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55" name="TextBox 254">
            <a:extLst>
              <a:ext uri="{FF2B5EF4-FFF2-40B4-BE49-F238E27FC236}">
                <a16:creationId xmlns:a16="http://schemas.microsoft.com/office/drawing/2014/main" id="{FFC49AEA-2A8F-250C-A86A-A7751D9706C3}"/>
              </a:ext>
            </a:extLst>
          </p:cNvPr>
          <p:cNvSpPr txBox="1"/>
          <p:nvPr/>
        </p:nvSpPr>
        <p:spPr>
          <a:xfrm>
            <a:off x="5654503" y="367952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56" name="직선 연결선 255">
            <a:extLst>
              <a:ext uri="{FF2B5EF4-FFF2-40B4-BE49-F238E27FC236}">
                <a16:creationId xmlns:a16="http://schemas.microsoft.com/office/drawing/2014/main" id="{E9293055-D5CD-4B9E-7F64-64B2D2CA7A52}"/>
              </a:ext>
            </a:extLst>
          </p:cNvPr>
          <p:cNvCxnSpPr/>
          <p:nvPr/>
        </p:nvCxnSpPr>
        <p:spPr>
          <a:xfrm>
            <a:off x="3836701" y="367952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7" name="직선 연결선 256">
            <a:extLst>
              <a:ext uri="{FF2B5EF4-FFF2-40B4-BE49-F238E27FC236}">
                <a16:creationId xmlns:a16="http://schemas.microsoft.com/office/drawing/2014/main" id="{E9293055-D5CD-4B9E-7F64-64B2D2CA7A52}"/>
              </a:ext>
            </a:extLst>
          </p:cNvPr>
          <p:cNvCxnSpPr/>
          <p:nvPr/>
        </p:nvCxnSpPr>
        <p:spPr>
          <a:xfrm>
            <a:off x="3838794" y="38942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8" name="직선 연결선 257">
            <a:extLst>
              <a:ext uri="{FF2B5EF4-FFF2-40B4-BE49-F238E27FC236}">
                <a16:creationId xmlns:a16="http://schemas.microsoft.com/office/drawing/2014/main" id="{E9293055-D5CD-4B9E-7F64-64B2D2CA7A52}"/>
              </a:ext>
            </a:extLst>
          </p:cNvPr>
          <p:cNvCxnSpPr/>
          <p:nvPr/>
        </p:nvCxnSpPr>
        <p:spPr>
          <a:xfrm>
            <a:off x="3838794" y="60283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9" name="TextBox 258">
            <a:extLst>
              <a:ext uri="{FF2B5EF4-FFF2-40B4-BE49-F238E27FC236}">
                <a16:creationId xmlns:a16="http://schemas.microsoft.com/office/drawing/2014/main" id="{FFC49AEA-2A8F-250C-A86A-A7751D9706C3}"/>
              </a:ext>
            </a:extLst>
          </p:cNvPr>
          <p:cNvSpPr txBox="1"/>
          <p:nvPr/>
        </p:nvSpPr>
        <p:spPr>
          <a:xfrm>
            <a:off x="6074873" y="367952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60" name="TextBox 259">
            <a:extLst>
              <a:ext uri="{FF2B5EF4-FFF2-40B4-BE49-F238E27FC236}">
                <a16:creationId xmlns:a16="http://schemas.microsoft.com/office/drawing/2014/main" id="{FFC49AEA-2A8F-250C-A86A-A7751D9706C3}"/>
              </a:ext>
            </a:extLst>
          </p:cNvPr>
          <p:cNvSpPr txBox="1"/>
          <p:nvPr/>
        </p:nvSpPr>
        <p:spPr>
          <a:xfrm>
            <a:off x="3940311" y="3943044"/>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a:t>
            </a:r>
            <a:r>
              <a:rPr lang="en-US" altLang="ko-KR" dirty="0"/>
              <a:t>, </a:t>
            </a:r>
            <a:r>
              <a:rPr lang="ko-KR" altLang="en-US" dirty="0"/>
              <a:t>발생사실이 있는 자로서 하자가 발생한 계약</a:t>
            </a:r>
            <a:r>
              <a:rPr lang="en-US" altLang="ko-KR" dirty="0"/>
              <a:t>(</a:t>
            </a:r>
            <a:r>
              <a:rPr lang="ko-KR" altLang="en-US" dirty="0" err="1"/>
              <a:t>단기계약시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br>
              <a:rPr lang="ko-KR" altLang="en-US" dirty="0"/>
            </a:br>
            <a:r>
              <a:rPr lang="ko-KR" altLang="en-US" dirty="0"/>
              <a:t>① </a:t>
            </a:r>
            <a:r>
              <a:rPr lang="en-US" altLang="ko-KR" dirty="0"/>
              <a:t>5%</a:t>
            </a:r>
            <a:r>
              <a:rPr lang="ko-KR" altLang="en-US" dirty="0"/>
              <a:t>이상</a:t>
            </a:r>
            <a:br>
              <a:rPr lang="ko-KR" altLang="en-US" dirty="0"/>
            </a:br>
            <a:r>
              <a:rPr lang="ko-KR" altLang="en-US" dirty="0"/>
              <a:t>② </a:t>
            </a:r>
            <a:r>
              <a:rPr lang="en-US" altLang="ko-KR" dirty="0"/>
              <a:t>3%</a:t>
            </a:r>
            <a:r>
              <a:rPr lang="ko-KR" altLang="en-US" dirty="0"/>
              <a:t>이상 ∼ </a:t>
            </a:r>
            <a:r>
              <a:rPr lang="en-US" altLang="ko-KR" dirty="0"/>
              <a:t>5%</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3% </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 </a:t>
            </a:r>
            <a:r>
              <a:rPr lang="ko-KR" altLang="en-US" dirty="0"/>
              <a:t>미만</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692397" y="4481653"/>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6410927" y="490745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63" name="TextBox 262">
            <a:extLst>
              <a:ext uri="{FF2B5EF4-FFF2-40B4-BE49-F238E27FC236}">
                <a16:creationId xmlns:a16="http://schemas.microsoft.com/office/drawing/2014/main" id="{FFC49AEA-2A8F-250C-A86A-A7751D9706C3}"/>
              </a:ext>
            </a:extLst>
          </p:cNvPr>
          <p:cNvSpPr txBox="1"/>
          <p:nvPr/>
        </p:nvSpPr>
        <p:spPr>
          <a:xfrm>
            <a:off x="3940311" y="5010096"/>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br>
              <a:rPr lang="ko-KR" altLang="en-US" dirty="0"/>
            </a:br>
            <a:r>
              <a:rPr lang="ko-KR" altLang="en-US" dirty="0"/>
              <a:t>② </a:t>
            </a:r>
            <a:r>
              <a:rPr lang="en-US" altLang="ko-KR" dirty="0"/>
              <a:t>10%</a:t>
            </a:r>
            <a:r>
              <a:rPr lang="ko-KR" altLang="en-US" dirty="0"/>
              <a:t>이상 ∼ </a:t>
            </a:r>
            <a:r>
              <a:rPr lang="en-US" altLang="ko-KR" dirty="0"/>
              <a:t>20%</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10%</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3843649" y="496131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5692397" y="5548705"/>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97" name="타원 96">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657947346"/>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MUI-BD-10-T12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716366" y="1491157"/>
            <a:ext cx="2630093" cy="1790884"/>
            <a:chOff x="3989101" y="6222499"/>
            <a:chExt cx="2630093" cy="1790884"/>
          </a:xfrm>
        </p:grpSpPr>
        <p:sp>
          <p:nvSpPr>
            <p:cNvPr id="123" name="TextBox 122">
              <a:extLst>
                <a:ext uri="{FF2B5EF4-FFF2-40B4-BE49-F238E27FC236}">
                  <a16:creationId xmlns:a16="http://schemas.microsoft.com/office/drawing/2014/main" id="{FFC49AEA-2A8F-250C-A86A-A7751D9706C3}"/>
                </a:ext>
              </a:extLst>
            </p:cNvPr>
            <p:cNvSpPr txBox="1"/>
            <p:nvPr/>
          </p:nvSpPr>
          <p:spPr>
            <a:xfrm>
              <a:off x="4067329" y="622249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592186" y="6295787"/>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4067329" y="640627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4592186" y="6479567"/>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6193478" y="647956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28" name="직사각형 127"/>
            <p:cNvSpPr/>
            <p:nvPr/>
          </p:nvSpPr>
          <p:spPr>
            <a:xfrm>
              <a:off x="3991798" y="664064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4078861" y="664064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5806903" y="664064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3989101" y="664064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3991194" y="6855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3991194" y="80133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6227273" y="664064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4092711" y="6904162"/>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 </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br>
                <a:rPr lang="ko-KR" altLang="en-US" dirty="0"/>
              </a:br>
              <a:r>
                <a:rPr lang="en-US" altLang="ko-KR" dirty="0"/>
                <a:t>- 7%</a:t>
              </a:r>
              <a:r>
                <a:rPr lang="ko-KR" altLang="en-US" dirty="0"/>
                <a:t>이상</a:t>
              </a:r>
              <a:br>
                <a:rPr lang="ko-KR" altLang="en-US" dirty="0"/>
              </a:br>
              <a:r>
                <a:rPr lang="en-US" altLang="ko-KR" dirty="0"/>
                <a:t>- 5%</a:t>
              </a:r>
              <a:r>
                <a:rPr lang="ko-KR" altLang="en-US" dirty="0"/>
                <a:t>이상 ∼ </a:t>
              </a:r>
              <a:r>
                <a:rPr lang="en-US" altLang="ko-KR" dirty="0"/>
                <a:t>7%</a:t>
              </a:r>
              <a:r>
                <a:rPr lang="ko-KR" altLang="en-US" dirty="0"/>
                <a:t>미만</a:t>
              </a:r>
              <a:br>
                <a:rPr lang="ko-KR" altLang="en-US" dirty="0"/>
              </a:br>
              <a:r>
                <a:rPr lang="en-US" altLang="ko-KR" dirty="0"/>
                <a:t>- 3%</a:t>
              </a:r>
              <a:r>
                <a:rPr lang="ko-KR" altLang="en-US" dirty="0"/>
                <a:t>이상 ∼ </a:t>
              </a:r>
              <a:r>
                <a:rPr lang="en-US" altLang="ko-KR" dirty="0"/>
                <a:t>5%</a:t>
              </a:r>
              <a:r>
                <a:rPr lang="ko-KR" altLang="en-US" dirty="0"/>
                <a:t>미만</a:t>
              </a:r>
              <a:br>
                <a:rPr lang="ko-KR" altLang="en-US" dirty="0"/>
              </a:br>
              <a:r>
                <a:rPr lang="en-US" altLang="ko-KR" dirty="0"/>
                <a:t>- 1%</a:t>
              </a:r>
              <a:r>
                <a:rPr lang="ko-KR" altLang="en-US" dirty="0"/>
                <a:t>이상 ∼ </a:t>
              </a:r>
              <a:r>
                <a:rPr lang="en-US" altLang="ko-KR" dirty="0"/>
                <a:t>3%</a:t>
              </a:r>
              <a:r>
                <a:rPr lang="ko-KR" altLang="en-US" dirty="0"/>
                <a:t>미만</a:t>
              </a:r>
              <a:br>
                <a:rPr lang="ko-KR" altLang="en-US" dirty="0"/>
              </a:br>
              <a:r>
                <a:rPr lang="en-US" altLang="ko-KR" dirty="0"/>
                <a:t>- 0.1%</a:t>
              </a:r>
              <a:r>
                <a:rPr lang="ko-KR" altLang="en-US" dirty="0"/>
                <a:t>이상 ∼ </a:t>
              </a:r>
              <a:r>
                <a:rPr lang="en-US" altLang="ko-KR" dirty="0"/>
                <a:t>1%</a:t>
              </a:r>
              <a:r>
                <a:rPr lang="ko-KR" altLang="en-US" dirty="0"/>
                <a:t>미만</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5844797" y="7442771"/>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6563327" y="738052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94594" y="331246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1319451" y="3385751"/>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794594" y="349624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1319451" y="3569531"/>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920743" y="356953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44" name="직사각형 143"/>
          <p:cNvSpPr/>
          <p:nvPr/>
        </p:nvSpPr>
        <p:spPr>
          <a:xfrm>
            <a:off x="719063" y="3730609"/>
            <a:ext cx="1639886" cy="23699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TextBox 144">
            <a:extLst>
              <a:ext uri="{FF2B5EF4-FFF2-40B4-BE49-F238E27FC236}">
                <a16:creationId xmlns:a16="http://schemas.microsoft.com/office/drawing/2014/main" id="{FFC49AEA-2A8F-250C-A86A-A7751D9706C3}"/>
              </a:ext>
            </a:extLst>
          </p:cNvPr>
          <p:cNvSpPr txBox="1"/>
          <p:nvPr/>
        </p:nvSpPr>
        <p:spPr>
          <a:xfrm>
            <a:off x="806126" y="373061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534168" y="373061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716366" y="37306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18459" y="39453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8459" y="559531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2954538" y="373061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819976" y="3985737"/>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2572062" y="46051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90592" y="49690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46051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819976" y="479362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819976" y="508984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9</a:t>
            </a:r>
            <a:r>
              <a:rPr lang="ko-KR" altLang="en-US" dirty="0"/>
              <a:t>개월 이상 ∼ </a:t>
            </a:r>
            <a:r>
              <a:rPr lang="en-US" altLang="ko-KR" dirty="0"/>
              <a:t>1</a:t>
            </a:r>
            <a:r>
              <a:rPr lang="ko-KR" altLang="en-US" dirty="0"/>
              <a:t>년 미만인 경우</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819976" y="53860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9</a:t>
            </a:r>
            <a:r>
              <a:rPr lang="ko-KR" altLang="en-US" dirty="0"/>
              <a:t> 개월 미만인 경우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2572062" y="4847485"/>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-1.8</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72062" y="5143707"/>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2572062" y="5386068"/>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18459" y="45647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5" name="직선 연결선 194">
            <a:extLst>
              <a:ext uri="{FF2B5EF4-FFF2-40B4-BE49-F238E27FC236}">
                <a16:creationId xmlns:a16="http://schemas.microsoft.com/office/drawing/2014/main" id="{E9293055-D5CD-4B9E-7F64-64B2D2CA7A52}"/>
              </a:ext>
            </a:extLst>
          </p:cNvPr>
          <p:cNvCxnSpPr/>
          <p:nvPr/>
        </p:nvCxnSpPr>
        <p:spPr>
          <a:xfrm>
            <a:off x="718459" y="47532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18459" y="504945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18459" y="53456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819976" y="563570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이상 ∼ </a:t>
            </a:r>
            <a:r>
              <a:rPr lang="en-US" altLang="ko-KR" dirty="0"/>
              <a:t>6</a:t>
            </a:r>
            <a:r>
              <a:rPr lang="ko-KR" altLang="en-US" dirty="0"/>
              <a:t> 개월 미만인 경우</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819976" y="59319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미만인 경우</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2572062" y="5689563"/>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2572062" y="59319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718459" y="58915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18459" y="61005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3914929" y="150490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3914929" y="170514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439786" y="1778433"/>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p:txBody>
      </p:sp>
      <p:sp>
        <p:nvSpPr>
          <p:cNvPr id="283" name="TextBox 282">
            <a:extLst>
              <a:ext uri="{FF2B5EF4-FFF2-40B4-BE49-F238E27FC236}">
                <a16:creationId xmlns:a16="http://schemas.microsoft.com/office/drawing/2014/main" id="{FFC49AEA-2A8F-250C-A86A-A7751D9706C3}"/>
              </a:ext>
            </a:extLst>
          </p:cNvPr>
          <p:cNvSpPr txBox="1"/>
          <p:nvPr/>
        </p:nvSpPr>
        <p:spPr>
          <a:xfrm>
            <a:off x="3914929" y="188892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84" name="TextBox 283">
            <a:extLst>
              <a:ext uri="{FF2B5EF4-FFF2-40B4-BE49-F238E27FC236}">
                <a16:creationId xmlns:a16="http://schemas.microsoft.com/office/drawing/2014/main" id="{FFC49AEA-2A8F-250C-A86A-A7751D9706C3}"/>
              </a:ext>
            </a:extLst>
          </p:cNvPr>
          <p:cNvSpPr txBox="1"/>
          <p:nvPr/>
        </p:nvSpPr>
        <p:spPr>
          <a:xfrm>
            <a:off x="4439786" y="1962213"/>
            <a:ext cx="2010812" cy="107722"/>
          </a:xfrm>
          <a:prstGeom prst="rect">
            <a:avLst/>
          </a:prstGeom>
          <a:noFill/>
        </p:spPr>
        <p:txBody>
          <a:bodyPr wrap="square" lIns="0" tIns="0" rIns="0" bIns="0" rtlCol="0">
            <a:spAutoFit/>
          </a:bodyPr>
          <a:lstStyle/>
          <a:p>
            <a:r>
              <a:rPr lang="ko-KR" altLang="en-US" sz="700" dirty="0">
                <a:latin typeface="+mn-ea"/>
              </a:rPr>
              <a:t>고용창출</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6041078" y="196221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86" name="직사각형 285"/>
          <p:cNvSpPr/>
          <p:nvPr/>
        </p:nvSpPr>
        <p:spPr>
          <a:xfrm>
            <a:off x="3839398" y="2123291"/>
            <a:ext cx="1639886" cy="17038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3926461" y="212329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654503" y="212329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6701" y="212329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9" name="직선 연결선 298">
            <a:extLst>
              <a:ext uri="{FF2B5EF4-FFF2-40B4-BE49-F238E27FC236}">
                <a16:creationId xmlns:a16="http://schemas.microsoft.com/office/drawing/2014/main" id="{E9293055-D5CD-4B9E-7F64-64B2D2CA7A52}"/>
              </a:ext>
            </a:extLst>
          </p:cNvPr>
          <p:cNvCxnSpPr/>
          <p:nvPr/>
        </p:nvCxnSpPr>
        <p:spPr>
          <a:xfrm>
            <a:off x="3838794" y="2338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0" name="직선 연결선 299">
            <a:extLst>
              <a:ext uri="{FF2B5EF4-FFF2-40B4-BE49-F238E27FC236}">
                <a16:creationId xmlns:a16="http://schemas.microsoft.com/office/drawing/2014/main" id="{E9293055-D5CD-4B9E-7F64-64B2D2CA7A52}"/>
              </a:ext>
            </a:extLst>
          </p:cNvPr>
          <p:cNvCxnSpPr/>
          <p:nvPr/>
        </p:nvCxnSpPr>
        <p:spPr>
          <a:xfrm>
            <a:off x="3838794" y="38271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1" name="TextBox 300">
            <a:extLst>
              <a:ext uri="{FF2B5EF4-FFF2-40B4-BE49-F238E27FC236}">
                <a16:creationId xmlns:a16="http://schemas.microsoft.com/office/drawing/2014/main" id="{FFC49AEA-2A8F-250C-A86A-A7751D9706C3}"/>
              </a:ext>
            </a:extLst>
          </p:cNvPr>
          <p:cNvSpPr txBox="1"/>
          <p:nvPr/>
        </p:nvSpPr>
        <p:spPr>
          <a:xfrm>
            <a:off x="6074873" y="212329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3940311" y="238680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신규채용 우수기업</a:t>
            </a:r>
            <a:r>
              <a:rPr lang="en-US" altLang="ko-KR" dirty="0"/>
              <a:t>(</a:t>
            </a:r>
            <a:r>
              <a:rPr lang="ko-KR" altLang="en-US" dirty="0"/>
              <a:t>설립 </a:t>
            </a:r>
            <a:r>
              <a:rPr lang="en-US" altLang="ko-KR" dirty="0"/>
              <a:t>18</a:t>
            </a:r>
            <a:r>
              <a:rPr lang="ko-KR" altLang="en-US" dirty="0" err="1"/>
              <a:t>개월이상</a:t>
            </a:r>
            <a:r>
              <a:rPr lang="en-US" altLang="ko-KR" dirty="0"/>
              <a:t>)</a:t>
            </a:r>
          </a:p>
          <a:p>
            <a:r>
              <a:rPr lang="en-US" altLang="ko-KR" dirty="0"/>
              <a:t>-</a:t>
            </a:r>
            <a:r>
              <a:rPr lang="ko-KR" altLang="en-US" dirty="0"/>
              <a:t>전년도 </a:t>
            </a:r>
            <a:r>
              <a:rPr lang="en-US" altLang="ko-KR" dirty="0"/>
              <a:t>6</a:t>
            </a:r>
            <a:r>
              <a:rPr lang="ko-KR" altLang="en-US" dirty="0"/>
              <a:t>개월간 평균고용인원 대비 해당연도 최근 </a:t>
            </a:r>
            <a:r>
              <a:rPr lang="en-US" altLang="ko-KR" dirty="0"/>
              <a:t>6</a:t>
            </a:r>
            <a:r>
              <a:rPr lang="ko-KR" altLang="en-US" dirty="0"/>
              <a:t>개월간 평균고용인원 증가율이 기업규모에 따라 다음의 증가율이 이상인 기업</a:t>
            </a:r>
          </a:p>
          <a:p>
            <a:r>
              <a:rPr lang="en-US" altLang="ko-KR" dirty="0"/>
              <a:t>- </a:t>
            </a:r>
          </a:p>
          <a:p>
            <a:r>
              <a:rPr lang="en-US" altLang="ko-KR" dirty="0"/>
              <a:t>- </a:t>
            </a:r>
          </a:p>
          <a:p>
            <a:r>
              <a:rPr lang="en-US" altLang="ko-KR" dirty="0"/>
              <a:t>- </a:t>
            </a:r>
            <a:endParaRPr lang="ko-KR" altLang="en-US" dirty="0"/>
          </a:p>
        </p:txBody>
      </p:sp>
      <p:sp>
        <p:nvSpPr>
          <p:cNvPr id="303" name="TextBox 302">
            <a:extLst>
              <a:ext uri="{FF2B5EF4-FFF2-40B4-BE49-F238E27FC236}">
                <a16:creationId xmlns:a16="http://schemas.microsoft.com/office/drawing/2014/main" id="{FFC49AEA-2A8F-250C-A86A-A7751D9706C3}"/>
              </a:ext>
            </a:extLst>
          </p:cNvPr>
          <p:cNvSpPr txBox="1"/>
          <p:nvPr/>
        </p:nvSpPr>
        <p:spPr>
          <a:xfrm>
            <a:off x="5729267" y="3033139"/>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a:p>
            <a:r>
              <a:rPr lang="en-US" altLang="ko-KR" dirty="0"/>
              <a:t>0.8</a:t>
            </a:r>
          </a:p>
          <a:p>
            <a:r>
              <a:rPr lang="en-US" altLang="ko-KR" dirty="0"/>
              <a:t>0.6</a:t>
            </a:r>
          </a:p>
        </p:txBody>
      </p:sp>
      <p:sp>
        <p:nvSpPr>
          <p:cNvPr id="304" name="TextBox 303">
            <a:extLst>
              <a:ext uri="{FF2B5EF4-FFF2-40B4-BE49-F238E27FC236}">
                <a16:creationId xmlns:a16="http://schemas.microsoft.com/office/drawing/2014/main" id="{FFC49AEA-2A8F-250C-A86A-A7751D9706C3}"/>
              </a:ext>
            </a:extLst>
          </p:cNvPr>
          <p:cNvSpPr txBox="1"/>
          <p:nvPr/>
        </p:nvSpPr>
        <p:spPr>
          <a:xfrm>
            <a:off x="6410927" y="302874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3940311" y="3453860"/>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a:t>
            </a:r>
            <a:r>
              <a:rPr lang="ko-KR" altLang="en-US" dirty="0" err="1"/>
              <a:t>신설기업</a:t>
            </a:r>
            <a:r>
              <a:rPr lang="en-US" altLang="ko-KR" dirty="0"/>
              <a:t>(</a:t>
            </a:r>
            <a:r>
              <a:rPr lang="ko-KR" altLang="en-US" dirty="0"/>
              <a:t>설립 </a:t>
            </a:r>
            <a:r>
              <a:rPr lang="en-US" altLang="ko-KR" dirty="0"/>
              <a:t>18</a:t>
            </a:r>
            <a:r>
              <a:rPr lang="ko-KR" altLang="en-US" dirty="0" err="1"/>
              <a:t>개월미만</a:t>
            </a:r>
            <a:r>
              <a:rPr lang="en-US" altLang="ko-KR" dirty="0"/>
              <a:t>)</a:t>
            </a:r>
          </a:p>
          <a:p>
            <a:r>
              <a:rPr lang="en-US" altLang="ko-KR" dirty="0"/>
              <a:t>-</a:t>
            </a:r>
            <a:r>
              <a:rPr lang="ko-KR" altLang="en-US" dirty="0"/>
              <a:t>총 고용인원</a:t>
            </a:r>
            <a:r>
              <a:rPr lang="en-US" altLang="ko-KR" dirty="0"/>
              <a:t>(</a:t>
            </a:r>
            <a:r>
              <a:rPr lang="ko-KR" altLang="en-US" dirty="0"/>
              <a:t>대표자 제외</a:t>
            </a:r>
            <a:r>
              <a:rPr lang="en-US" altLang="ko-KR" dirty="0"/>
              <a:t>)6</a:t>
            </a:r>
            <a:r>
              <a:rPr lang="ko-KR" altLang="en-US" dirty="0"/>
              <a:t>인 이상</a:t>
            </a:r>
          </a:p>
          <a:p>
            <a:r>
              <a:rPr lang="en-US" altLang="ko-KR" dirty="0"/>
              <a:t>-</a:t>
            </a:r>
            <a:r>
              <a:rPr lang="ko-KR" altLang="en-US" dirty="0"/>
              <a:t>총 고용인원</a:t>
            </a:r>
            <a:r>
              <a:rPr lang="en-US" altLang="ko-KR" dirty="0"/>
              <a:t>(</a:t>
            </a:r>
            <a:r>
              <a:rPr lang="ko-KR" altLang="en-US" dirty="0"/>
              <a:t>대표자 제외</a:t>
            </a:r>
            <a:r>
              <a:rPr lang="en-US" altLang="ko-KR" dirty="0"/>
              <a:t>)3</a:t>
            </a:r>
            <a:r>
              <a:rPr lang="ko-KR" altLang="en-US" dirty="0"/>
              <a:t>인 </a:t>
            </a:r>
            <a:r>
              <a:rPr lang="en-US" altLang="ko-KR" dirty="0"/>
              <a:t>~ 5</a:t>
            </a:r>
            <a:r>
              <a:rPr lang="ko-KR" altLang="en-US" dirty="0"/>
              <a:t>인</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3649" y="340508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TextBox 306">
            <a:extLst>
              <a:ext uri="{FF2B5EF4-FFF2-40B4-BE49-F238E27FC236}">
                <a16:creationId xmlns:a16="http://schemas.microsoft.com/office/drawing/2014/main" id="{FFC49AEA-2A8F-250C-A86A-A7751D9706C3}"/>
              </a:ext>
            </a:extLst>
          </p:cNvPr>
          <p:cNvSpPr txBox="1"/>
          <p:nvPr/>
        </p:nvSpPr>
        <p:spPr>
          <a:xfrm>
            <a:off x="5729267" y="3561581"/>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a:p>
            <a:r>
              <a:rPr lang="en-US" altLang="ko-KR" dirty="0"/>
              <a:t>0.4</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14929" y="386007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309" name="TextBox 308">
            <a:extLst>
              <a:ext uri="{FF2B5EF4-FFF2-40B4-BE49-F238E27FC236}">
                <a16:creationId xmlns:a16="http://schemas.microsoft.com/office/drawing/2014/main" id="{FFC49AEA-2A8F-250C-A86A-A7751D9706C3}"/>
              </a:ext>
            </a:extLst>
          </p:cNvPr>
          <p:cNvSpPr txBox="1"/>
          <p:nvPr/>
        </p:nvSpPr>
        <p:spPr>
          <a:xfrm>
            <a:off x="4439786" y="3933362"/>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혁신적 중소기업</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3914929" y="404385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311" name="TextBox 310">
            <a:extLst>
              <a:ext uri="{FF2B5EF4-FFF2-40B4-BE49-F238E27FC236}">
                <a16:creationId xmlns:a16="http://schemas.microsoft.com/office/drawing/2014/main" id="{FFC49AEA-2A8F-250C-A86A-A7751D9706C3}"/>
              </a:ext>
            </a:extLst>
          </p:cNvPr>
          <p:cNvSpPr txBox="1"/>
          <p:nvPr/>
        </p:nvSpPr>
        <p:spPr>
          <a:xfrm>
            <a:off x="4439786" y="4117142"/>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6041078" y="411714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0.8</a:t>
            </a:r>
          </a:p>
        </p:txBody>
      </p:sp>
      <p:sp>
        <p:nvSpPr>
          <p:cNvPr id="313" name="직사각형 312"/>
          <p:cNvSpPr/>
          <p:nvPr/>
        </p:nvSpPr>
        <p:spPr>
          <a:xfrm>
            <a:off x="3839398" y="4278220"/>
            <a:ext cx="1639886" cy="9732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4" name="TextBox 313">
            <a:extLst>
              <a:ext uri="{FF2B5EF4-FFF2-40B4-BE49-F238E27FC236}">
                <a16:creationId xmlns:a16="http://schemas.microsoft.com/office/drawing/2014/main" id="{FFC49AEA-2A8F-250C-A86A-A7751D9706C3}"/>
              </a:ext>
            </a:extLst>
          </p:cNvPr>
          <p:cNvSpPr txBox="1"/>
          <p:nvPr/>
        </p:nvSpPr>
        <p:spPr>
          <a:xfrm>
            <a:off x="3926461" y="427822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5654503" y="427822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316" name="직선 연결선 315">
            <a:extLst>
              <a:ext uri="{FF2B5EF4-FFF2-40B4-BE49-F238E27FC236}">
                <a16:creationId xmlns:a16="http://schemas.microsoft.com/office/drawing/2014/main" id="{E9293055-D5CD-4B9E-7F64-64B2D2CA7A52}"/>
              </a:ext>
            </a:extLst>
          </p:cNvPr>
          <p:cNvCxnSpPr/>
          <p:nvPr/>
        </p:nvCxnSpPr>
        <p:spPr>
          <a:xfrm>
            <a:off x="3836701" y="4278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7" name="직선 연결선 316">
            <a:extLst>
              <a:ext uri="{FF2B5EF4-FFF2-40B4-BE49-F238E27FC236}">
                <a16:creationId xmlns:a16="http://schemas.microsoft.com/office/drawing/2014/main" id="{E9293055-D5CD-4B9E-7F64-64B2D2CA7A52}"/>
              </a:ext>
            </a:extLst>
          </p:cNvPr>
          <p:cNvCxnSpPr/>
          <p:nvPr/>
        </p:nvCxnSpPr>
        <p:spPr>
          <a:xfrm>
            <a:off x="3838794" y="44929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8" name="직선 연결선 317">
            <a:extLst>
              <a:ext uri="{FF2B5EF4-FFF2-40B4-BE49-F238E27FC236}">
                <a16:creationId xmlns:a16="http://schemas.microsoft.com/office/drawing/2014/main" id="{E9293055-D5CD-4B9E-7F64-64B2D2CA7A52}"/>
              </a:ext>
            </a:extLst>
          </p:cNvPr>
          <p:cNvCxnSpPr/>
          <p:nvPr/>
        </p:nvCxnSpPr>
        <p:spPr>
          <a:xfrm>
            <a:off x="3838794" y="52514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6074873" y="427822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40311" y="4541737"/>
            <a:ext cx="1480199" cy="646331"/>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중소벤처기업부장관</a:t>
            </a:r>
            <a:r>
              <a:rPr lang="en-US" altLang="ko-KR" dirty="0"/>
              <a:t>(</a:t>
            </a:r>
            <a:r>
              <a:rPr lang="ko-KR" altLang="en-US" dirty="0"/>
              <a:t>또는 </a:t>
            </a:r>
            <a:r>
              <a:rPr lang="ko-KR" altLang="en-US" dirty="0" err="1"/>
              <a:t>수임권자</a:t>
            </a:r>
            <a:r>
              <a:rPr lang="en-US" altLang="ko-KR" dirty="0"/>
              <a:t>)</a:t>
            </a:r>
            <a:r>
              <a:rPr lang="ko-KR" altLang="en-US" dirty="0"/>
              <a:t>으로부터 </a:t>
            </a:r>
            <a:r>
              <a:rPr lang="ko-KR" altLang="en-US" dirty="0" err="1"/>
              <a:t>혁신형</a:t>
            </a:r>
            <a:r>
              <a:rPr lang="en-US" altLang="ko-KR" dirty="0"/>
              <a:t>(</a:t>
            </a:r>
            <a:r>
              <a:rPr lang="ko-KR" altLang="en-US" dirty="0"/>
              <a:t>벤처</a:t>
            </a:r>
            <a:r>
              <a:rPr lang="en-US" altLang="ko-KR" dirty="0"/>
              <a:t>, </a:t>
            </a:r>
            <a:r>
              <a:rPr lang="ko-KR" altLang="en-US" dirty="0" err="1"/>
              <a:t>기술혁신형</a:t>
            </a:r>
            <a:r>
              <a:rPr lang="en-US" altLang="ko-KR" dirty="0"/>
              <a:t>, </a:t>
            </a:r>
            <a:r>
              <a:rPr lang="ko-KR" altLang="en-US" dirty="0" err="1"/>
              <a:t>경영혁신형</a:t>
            </a:r>
            <a:r>
              <a:rPr lang="en-US" altLang="ko-KR" dirty="0"/>
              <a:t>, </a:t>
            </a:r>
            <a:r>
              <a:rPr lang="ko-KR" altLang="en-US" dirty="0"/>
              <a:t>우수그린비즈</a:t>
            </a:r>
            <a:r>
              <a:rPr lang="en-US" altLang="ko-KR" dirty="0"/>
              <a:t>) </a:t>
            </a:r>
            <a:r>
              <a:rPr lang="ko-KR" altLang="en-US" dirty="0"/>
              <a:t>중소기업으로 </a:t>
            </a:r>
            <a:r>
              <a:rPr lang="ko-KR" altLang="en-US" dirty="0" err="1"/>
              <a:t>지정받은</a:t>
            </a:r>
            <a:r>
              <a:rPr lang="ko-KR" altLang="en-US" dirty="0"/>
              <a:t> 자로서</a:t>
            </a:r>
          </a:p>
          <a:p>
            <a:r>
              <a:rPr lang="en-US" altLang="ko-KR" dirty="0"/>
              <a:t>A. </a:t>
            </a:r>
            <a:r>
              <a:rPr lang="ko-KR" altLang="en-US" dirty="0" err="1"/>
              <a:t>혁신형기업이면서</a:t>
            </a:r>
            <a:r>
              <a:rPr lang="ko-KR" altLang="en-US" dirty="0"/>
              <a:t> 제조기업</a:t>
            </a:r>
          </a:p>
          <a:p>
            <a:r>
              <a:rPr lang="en-US" altLang="ko-KR" dirty="0"/>
              <a:t>B. </a:t>
            </a:r>
            <a:r>
              <a:rPr lang="ko-KR" altLang="en-US" dirty="0" err="1"/>
              <a:t>혁신형기업</a:t>
            </a:r>
            <a:endParaRPr lang="ko-KR" altLang="en-US" dirty="0"/>
          </a:p>
        </p:txBody>
      </p:sp>
      <p:sp>
        <p:nvSpPr>
          <p:cNvPr id="321" name="TextBox 320">
            <a:extLst>
              <a:ext uri="{FF2B5EF4-FFF2-40B4-BE49-F238E27FC236}">
                <a16:creationId xmlns:a16="http://schemas.microsoft.com/office/drawing/2014/main" id="{FFC49AEA-2A8F-250C-A86A-A7751D9706C3}"/>
              </a:ext>
            </a:extLst>
          </p:cNvPr>
          <p:cNvSpPr txBox="1"/>
          <p:nvPr/>
        </p:nvSpPr>
        <p:spPr>
          <a:xfrm>
            <a:off x="5729267" y="4972624"/>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0.8</a:t>
            </a:r>
          </a:p>
          <a:p>
            <a:r>
              <a:rPr lang="en-US" altLang="ko-KR" dirty="0"/>
              <a:t>0.6</a:t>
            </a:r>
          </a:p>
        </p:txBody>
      </p:sp>
      <p:sp>
        <p:nvSpPr>
          <p:cNvPr id="322" name="TextBox 321">
            <a:extLst>
              <a:ext uri="{FF2B5EF4-FFF2-40B4-BE49-F238E27FC236}">
                <a16:creationId xmlns:a16="http://schemas.microsoft.com/office/drawing/2014/main" id="{FFC49AEA-2A8F-250C-A86A-A7751D9706C3}"/>
              </a:ext>
            </a:extLst>
          </p:cNvPr>
          <p:cNvSpPr txBox="1"/>
          <p:nvPr/>
        </p:nvSpPr>
        <p:spPr>
          <a:xfrm>
            <a:off x="6410927" y="481104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3" name="타원 10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49810347"/>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MUI-BD-10-T12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817322"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794594"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장애인기업</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794594"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748225"/>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2920743"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08" name="직사각형 107"/>
          <p:cNvSpPr/>
          <p:nvPr/>
        </p:nvSpPr>
        <p:spPr>
          <a:xfrm>
            <a:off x="719063" y="1909303"/>
            <a:ext cx="1639886" cy="15475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a:extLst>
              <a:ext uri="{FF2B5EF4-FFF2-40B4-BE49-F238E27FC236}">
                <a16:creationId xmlns:a16="http://schemas.microsoft.com/office/drawing/2014/main" id="{FFC49AEA-2A8F-250C-A86A-A7751D9706C3}"/>
              </a:ext>
            </a:extLst>
          </p:cNvPr>
          <p:cNvSpPr txBox="1"/>
          <p:nvPr/>
        </p:nvSpPr>
        <p:spPr>
          <a:xfrm>
            <a:off x="806126"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2534168"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16366"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8459" y="34595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2954538"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19976" y="216709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 고용촉진 및 직업재활법에 따른 장애인 고용우수사업주 또는 장애인 표준사업장</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608932" y="229711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3290592" y="273794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459" y="25333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819976" y="257636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중소벤처기업부 장관이 확인한 장애인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2608932" y="273458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819976" y="2985632"/>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장애인고용 우수기업 </a:t>
            </a:r>
            <a:r>
              <a:rPr lang="en-US" altLang="ko-KR" dirty="0"/>
              <a:t>- </a:t>
            </a:r>
            <a:r>
              <a:rPr lang="ko-KR" altLang="en-US" dirty="0"/>
              <a:t>최근 </a:t>
            </a:r>
            <a:r>
              <a:rPr lang="en-US" altLang="ko-KR" dirty="0"/>
              <a:t>3</a:t>
            </a:r>
            <a:r>
              <a:rPr lang="ko-KR" altLang="en-US" dirty="0"/>
              <a:t>개월 평균 장애인 고용률이 </a:t>
            </a:r>
            <a:r>
              <a:rPr lang="en-US" altLang="ko-KR" dirty="0"/>
              <a:t>3%</a:t>
            </a:r>
            <a:r>
              <a:rPr lang="ko-KR" altLang="en-US" dirty="0" err="1"/>
              <a:t>이상임서</a:t>
            </a:r>
            <a:r>
              <a:rPr lang="ko-KR" altLang="en-US" dirty="0"/>
              <a:t> 최근 </a:t>
            </a:r>
            <a:r>
              <a:rPr lang="en-US" altLang="ko-KR" dirty="0"/>
              <a:t>3</a:t>
            </a:r>
            <a:r>
              <a:rPr lang="ko-KR" altLang="en-US" dirty="0"/>
              <a:t>개월 평균 장애인종업원이 </a:t>
            </a:r>
            <a:r>
              <a:rPr lang="en-US" altLang="ko-KR" dirty="0"/>
              <a:t>6</a:t>
            </a:r>
            <a:r>
              <a:rPr lang="ko-KR" altLang="en-US" dirty="0"/>
              <a:t>인 이상인 기업</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608932" y="315297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18459" y="29425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794594" y="349040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1319451" y="3563689"/>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여성기업지원 등</a:t>
            </a:r>
          </a:p>
        </p:txBody>
      </p:sp>
      <p:sp>
        <p:nvSpPr>
          <p:cNvPr id="159" name="TextBox 158">
            <a:extLst>
              <a:ext uri="{FF2B5EF4-FFF2-40B4-BE49-F238E27FC236}">
                <a16:creationId xmlns:a16="http://schemas.microsoft.com/office/drawing/2014/main" id="{FFC49AEA-2A8F-250C-A86A-A7751D9706C3}"/>
              </a:ext>
            </a:extLst>
          </p:cNvPr>
          <p:cNvSpPr txBox="1"/>
          <p:nvPr/>
        </p:nvSpPr>
        <p:spPr>
          <a:xfrm>
            <a:off x="794594" y="367418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1319451" y="3747469"/>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920743" y="374746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62" name="직사각형 161"/>
          <p:cNvSpPr/>
          <p:nvPr/>
        </p:nvSpPr>
        <p:spPr>
          <a:xfrm>
            <a:off x="719063" y="3908546"/>
            <a:ext cx="1639886" cy="241793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3" name="TextBox 162">
            <a:extLst>
              <a:ext uri="{FF2B5EF4-FFF2-40B4-BE49-F238E27FC236}">
                <a16:creationId xmlns:a16="http://schemas.microsoft.com/office/drawing/2014/main" id="{FFC49AEA-2A8F-250C-A86A-A7751D9706C3}"/>
              </a:ext>
            </a:extLst>
          </p:cNvPr>
          <p:cNvSpPr txBox="1"/>
          <p:nvPr/>
        </p:nvSpPr>
        <p:spPr>
          <a:xfrm>
            <a:off x="806126" y="390854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2534168" y="390854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6366" y="39085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8459" y="41232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18459" y="63264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2954538" y="39085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9" name="TextBox 168">
            <a:extLst>
              <a:ext uri="{FF2B5EF4-FFF2-40B4-BE49-F238E27FC236}">
                <a16:creationId xmlns:a16="http://schemas.microsoft.com/office/drawing/2014/main" id="{FFC49AEA-2A8F-250C-A86A-A7751D9706C3}"/>
              </a:ext>
            </a:extLst>
          </p:cNvPr>
          <p:cNvSpPr txBox="1"/>
          <p:nvPr/>
        </p:nvSpPr>
        <p:spPr>
          <a:xfrm>
            <a:off x="819976" y="416633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여성기원지원에 관한 법률에서 정한 기업으로서 중 소벤처기업부장관</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p>
          <a:p>
            <a:r>
              <a:rPr lang="en-US" altLang="ko-KR" dirty="0"/>
              <a:t>-10</a:t>
            </a:r>
            <a:r>
              <a:rPr lang="ko-KR" altLang="en-US" dirty="0"/>
              <a:t>년 이상</a:t>
            </a:r>
          </a:p>
          <a:p>
            <a:r>
              <a:rPr lang="en-US" altLang="ko-KR" dirty="0"/>
              <a:t>-5</a:t>
            </a:r>
            <a:r>
              <a:rPr lang="ko-KR" altLang="en-US" dirty="0" err="1"/>
              <a:t>년이상</a:t>
            </a:r>
            <a:r>
              <a:rPr lang="ko-KR" altLang="en-US" dirty="0"/>
              <a:t> </a:t>
            </a:r>
            <a:r>
              <a:rPr lang="en-US" altLang="ko-KR" dirty="0"/>
              <a:t>~ 10</a:t>
            </a:r>
            <a:r>
              <a:rPr lang="ko-KR" altLang="en-US" dirty="0"/>
              <a:t>년 미만</a:t>
            </a:r>
          </a:p>
          <a:p>
            <a:r>
              <a:rPr lang="en-US" altLang="ko-KR" dirty="0"/>
              <a:t>-3</a:t>
            </a:r>
            <a:r>
              <a:rPr lang="ko-KR" altLang="en-US" dirty="0" err="1"/>
              <a:t>년이상</a:t>
            </a:r>
            <a:r>
              <a:rPr lang="ko-KR" altLang="en-US" dirty="0"/>
              <a:t> </a:t>
            </a:r>
            <a:r>
              <a:rPr lang="en-US" altLang="ko-KR" dirty="0"/>
              <a:t>~ 5</a:t>
            </a:r>
            <a:r>
              <a:rPr lang="ko-KR" altLang="en-US" dirty="0"/>
              <a:t>년 미만</a:t>
            </a:r>
          </a:p>
          <a:p>
            <a:r>
              <a:rPr lang="en-US" altLang="ko-KR" dirty="0"/>
              <a:t>-3</a:t>
            </a:r>
            <a:r>
              <a:rPr lang="ko-KR" altLang="en-US" dirty="0"/>
              <a:t>년 미만</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2559238" y="4704947"/>
            <a:ext cx="168316"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r>
              <a:rPr lang="en-US" altLang="ko-KR" dirty="0"/>
              <a:t>0.35</a:t>
            </a:r>
          </a:p>
          <a:p>
            <a:r>
              <a:rPr lang="en-US" altLang="ko-KR" dirty="0"/>
              <a:t>0.3</a:t>
            </a:r>
          </a:p>
          <a:p>
            <a:r>
              <a:rPr lang="en-US" altLang="ko-KR" dirty="0"/>
              <a:t>0.25</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290592" y="51710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8459" y="51671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19976" y="521023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608932" y="525466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819976" y="551714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여성고용 우수기업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2608867" y="5658083"/>
            <a:ext cx="118687"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endParaRPr lang="en-US" altLang="ko-KR" dirty="0"/>
          </a:p>
          <a:p>
            <a:endParaRPr lang="en-US" altLang="ko-KR" dirty="0"/>
          </a:p>
          <a:p>
            <a:r>
              <a:rPr lang="en-US" altLang="ko-KR" dirty="0"/>
              <a:t>0.3</a:t>
            </a: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718459" y="547409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19976" y="5658083"/>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t>
            </a:r>
            <a:r>
              <a:rPr lang="ko-KR" altLang="en-US" dirty="0"/>
              <a:t>최근 </a:t>
            </a:r>
            <a:r>
              <a:rPr lang="en-US" altLang="ko-KR" dirty="0"/>
              <a:t>3</a:t>
            </a:r>
            <a:r>
              <a:rPr lang="ko-KR" altLang="en-US" dirty="0"/>
              <a:t>개월 평균 여성고용률이 </a:t>
            </a:r>
            <a:r>
              <a:rPr lang="en-US" altLang="ko-KR" dirty="0"/>
              <a:t>10%</a:t>
            </a:r>
            <a:r>
              <a:rPr lang="ko-KR" altLang="en-US" dirty="0"/>
              <a:t>이상이면서 최근 </a:t>
            </a:r>
            <a:r>
              <a:rPr lang="en-US" altLang="ko-KR" dirty="0"/>
              <a:t>3</a:t>
            </a:r>
            <a:r>
              <a:rPr lang="ko-KR" altLang="en-US" dirty="0"/>
              <a:t>개월 평균 여성종업원이 </a:t>
            </a:r>
            <a:r>
              <a:rPr lang="en-US" altLang="ko-KR" dirty="0"/>
              <a:t>10</a:t>
            </a:r>
            <a:r>
              <a:rPr lang="ko-KR" altLang="en-US" dirty="0"/>
              <a:t>인 이상인 기업</a:t>
            </a:r>
          </a:p>
          <a:p>
            <a:r>
              <a:rPr lang="en-US" altLang="ko-KR" dirty="0"/>
              <a:t>-</a:t>
            </a:r>
            <a:r>
              <a:rPr lang="ko-KR" altLang="en-US" dirty="0"/>
              <a:t>최근 </a:t>
            </a:r>
            <a:r>
              <a:rPr lang="en-US" altLang="ko-KR" dirty="0"/>
              <a:t>3</a:t>
            </a:r>
            <a:r>
              <a:rPr lang="ko-KR" altLang="en-US" dirty="0"/>
              <a:t>개월 평균 여성고용률이 </a:t>
            </a:r>
            <a:r>
              <a:rPr lang="en-US" altLang="ko-KR" dirty="0"/>
              <a:t>5%</a:t>
            </a:r>
            <a:r>
              <a:rPr lang="ko-KR" altLang="en-US" dirty="0"/>
              <a:t>이상이면서 최근 </a:t>
            </a:r>
            <a:r>
              <a:rPr lang="en-US" altLang="ko-KR" dirty="0"/>
              <a:t>3</a:t>
            </a:r>
            <a:r>
              <a:rPr lang="ko-KR" altLang="en-US" dirty="0"/>
              <a:t>개월 평균 여성종업원이 </a:t>
            </a:r>
            <a:r>
              <a:rPr lang="en-US" altLang="ko-KR" dirty="0"/>
              <a:t>5</a:t>
            </a:r>
            <a:r>
              <a:rPr lang="ko-KR" altLang="en-US" dirty="0"/>
              <a:t>인 이상인 기업</a:t>
            </a:r>
          </a:p>
          <a:p>
            <a:endParaRPr lang="ko-KR" altLang="en-US" dirty="0"/>
          </a:p>
        </p:txBody>
      </p:sp>
      <p:sp>
        <p:nvSpPr>
          <p:cNvPr id="186" name="TextBox 185">
            <a:extLst>
              <a:ext uri="{FF2B5EF4-FFF2-40B4-BE49-F238E27FC236}">
                <a16:creationId xmlns:a16="http://schemas.microsoft.com/office/drawing/2014/main" id="{FFC49AEA-2A8F-250C-A86A-A7751D9706C3}"/>
              </a:ext>
            </a:extLst>
          </p:cNvPr>
          <p:cNvSpPr txBox="1"/>
          <p:nvPr/>
        </p:nvSpPr>
        <p:spPr>
          <a:xfrm>
            <a:off x="3936517"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4461374" y="1564445"/>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정책지원</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3936517"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4461374" y="1748225"/>
            <a:ext cx="2010812" cy="107722"/>
          </a:xfrm>
          <a:prstGeom prst="rect">
            <a:avLst/>
          </a:prstGeom>
          <a:noFill/>
        </p:spPr>
        <p:txBody>
          <a:bodyPr wrap="square" lIns="0" tIns="0" rIns="0" bIns="0" rtlCol="0">
            <a:spAutoFit/>
          </a:bodyPr>
          <a:lstStyle/>
          <a:p>
            <a:r>
              <a:rPr lang="ko-KR" altLang="en-US" sz="700" dirty="0">
                <a:latin typeface="+mn-ea"/>
              </a:rPr>
              <a:t>부처별 정책지원</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6062666"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1" name="직사각형 190"/>
          <p:cNvSpPr/>
          <p:nvPr/>
        </p:nvSpPr>
        <p:spPr>
          <a:xfrm>
            <a:off x="3860986" y="1909302"/>
            <a:ext cx="1639886" cy="22025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2" name="TextBox 191">
            <a:extLst>
              <a:ext uri="{FF2B5EF4-FFF2-40B4-BE49-F238E27FC236}">
                <a16:creationId xmlns:a16="http://schemas.microsoft.com/office/drawing/2014/main" id="{FFC49AEA-2A8F-250C-A86A-A7751D9706C3}"/>
              </a:ext>
            </a:extLst>
          </p:cNvPr>
          <p:cNvSpPr txBox="1"/>
          <p:nvPr/>
        </p:nvSpPr>
        <p:spPr>
          <a:xfrm>
            <a:off x="3948049"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5676091"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58289"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860382"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3860382" y="41118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6096461"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3961899" y="2161237"/>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 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p>
          <a:p>
            <a:r>
              <a:rPr lang="en-US" altLang="ko-KR" dirty="0"/>
              <a:t>*</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50855" y="232281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6432515" y="306407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03" name="직선 연결선 202">
            <a:extLst>
              <a:ext uri="{FF2B5EF4-FFF2-40B4-BE49-F238E27FC236}">
                <a16:creationId xmlns:a16="http://schemas.microsoft.com/office/drawing/2014/main" id="{E9293055-D5CD-4B9E-7F64-64B2D2CA7A52}"/>
              </a:ext>
            </a:extLst>
          </p:cNvPr>
          <p:cNvCxnSpPr/>
          <p:nvPr/>
        </p:nvCxnSpPr>
        <p:spPr>
          <a:xfrm>
            <a:off x="3860382" y="26293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3961899" y="266651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비상대비자원 관리법에 따른 주무부장관이 확인한 비상대비 중점관리대상업체</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5750855" y="277423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61899" y="306406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err="1"/>
              <a:t>사회적기업</a:t>
            </a:r>
            <a:r>
              <a:rPr lang="ko-KR" altLang="en-US" dirty="0"/>
              <a:t> 육성법 제</a:t>
            </a:r>
            <a:r>
              <a:rPr lang="en-US" altLang="ko-KR" dirty="0"/>
              <a:t>7</a:t>
            </a:r>
            <a:r>
              <a:rPr lang="ko-KR" altLang="en-US" dirty="0"/>
              <a:t>조에 따른 고용노동부장관의 인증을 받은 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50855" y="311793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60382" y="302687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3961899" y="335390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5750855" y="346162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860382" y="33167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TextBox 215">
            <a:extLst>
              <a:ext uri="{FF2B5EF4-FFF2-40B4-BE49-F238E27FC236}">
                <a16:creationId xmlns:a16="http://schemas.microsoft.com/office/drawing/2014/main" id="{FFC49AEA-2A8F-250C-A86A-A7751D9706C3}"/>
              </a:ext>
            </a:extLst>
          </p:cNvPr>
          <p:cNvSpPr txBox="1"/>
          <p:nvPr/>
        </p:nvSpPr>
        <p:spPr>
          <a:xfrm>
            <a:off x="3961899" y="3751458"/>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E. </a:t>
            </a:r>
            <a:r>
              <a:rPr lang="ko-KR" altLang="en-US" dirty="0"/>
              <a:t>모범납세자관리규정 </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 제 </a:t>
            </a:r>
            <a:r>
              <a:rPr lang="en-US" altLang="ko-KR" dirty="0"/>
              <a:t>3</a:t>
            </a:r>
            <a:r>
              <a:rPr lang="ko-KR" altLang="en-US" dirty="0"/>
              <a:t>항 제 </a:t>
            </a:r>
            <a:r>
              <a:rPr lang="en-US" altLang="ko-KR" dirty="0"/>
              <a:t>1</a:t>
            </a:r>
            <a:r>
              <a:rPr lang="ko-KR" altLang="en-US" dirty="0"/>
              <a:t>호에 따른 모범납세자</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5701161" y="3859179"/>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3860382" y="371426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1" name="타원 9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878502315"/>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324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061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mnftrAbltExmgrdScr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598315"/>
                  </a:ext>
                </a:extLst>
              </a:tr>
              <a:tr h="0">
                <a:tc>
                  <a:txBody>
                    <a:bodyPr/>
                    <a:lstStyle/>
                    <a:p>
                      <a:pPr latinLnBrk="1"/>
                      <a:r>
                        <a:rPr lang="ko-KR" altLang="en-US" sz="800" dirty="0">
                          <a:latin typeface="+mn-ea"/>
                          <a:ea typeface="+mn-ea"/>
                        </a:rPr>
                        <a:t>기술실적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1395306"/>
                  </a:ext>
                </a:extLst>
              </a:tr>
              <a:tr h="0">
                <a:tc>
                  <a:txBody>
                    <a:bodyPr/>
                    <a:lstStyle/>
                    <a:p>
                      <a:pPr latinLnBrk="1"/>
                      <a:r>
                        <a:rPr lang="ko-KR" altLang="en-US" sz="800" dirty="0">
                          <a:latin typeface="+mn-ea"/>
                          <a:ea typeface="+mn-ea"/>
                        </a:rPr>
                        <a:t>경영상태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6183843"/>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320908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3492835"/>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계약목적물과 동등이상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동등이상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계약목적물과 유사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유사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4440409"/>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724163"/>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인력 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인력 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5502878"/>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경영상태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5786632"/>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2D46670F-21CD-4287-79F8-D2BD036F58C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0" name="Text Box 73">
            <a:extLst>
              <a:ext uri="{FF2B5EF4-FFF2-40B4-BE49-F238E27FC236}">
                <a16:creationId xmlns:a16="http://schemas.microsoft.com/office/drawing/2014/main" id="{49EECEDA-D67F-B719-75B2-13A6669D76E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5605214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325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598315"/>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2160371"/>
            <a:ext cx="253972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물품 품질정도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244412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환경관리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0099550"/>
                  </a:ext>
                </a:extLst>
              </a:tr>
            </a:tbl>
          </a:graphicData>
        </a:graphic>
      </p:graphicFrame>
      <p:sp>
        <p:nvSpPr>
          <p:cNvPr id="9" name="TextBox 8">
            <a:extLst>
              <a:ext uri="{FF2B5EF4-FFF2-40B4-BE49-F238E27FC236}">
                <a16:creationId xmlns:a16="http://schemas.microsoft.com/office/drawing/2014/main" id="{ABA30327-C2C0-AF93-6B2E-F382C5DD05B8}"/>
              </a:ext>
            </a:extLst>
          </p:cNvPr>
          <p:cNvSpPr txBox="1"/>
          <p:nvPr/>
        </p:nvSpPr>
        <p:spPr>
          <a:xfrm>
            <a:off x="458117" y="3404571"/>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64C96ADD-E474-1ECB-24AE-726CFF405D80}"/>
              </a:ext>
            </a:extLst>
          </p:cNvPr>
          <p:cNvGraphicFramePr>
            <a:graphicFrameLocks noGrp="1"/>
          </p:cNvGraphicFramePr>
          <p:nvPr/>
        </p:nvGraphicFramePr>
        <p:xfrm>
          <a:off x="452999" y="3688325"/>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품질하자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품질하자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0099550"/>
                  </a:ext>
                </a:extLst>
              </a:tr>
            </a:tbl>
          </a:graphicData>
        </a:graphic>
      </p:graphicFrame>
      <p:sp>
        <p:nvSpPr>
          <p:cNvPr id="15" name="TextBox 14">
            <a:extLst>
              <a:ext uri="{FF2B5EF4-FFF2-40B4-BE49-F238E27FC236}">
                <a16:creationId xmlns:a16="http://schemas.microsoft.com/office/drawing/2014/main" id="{E3B7BB0D-1B3C-8763-C6EB-F96D4F0296B6}"/>
              </a:ext>
            </a:extLst>
          </p:cNvPr>
          <p:cNvSpPr txBox="1"/>
          <p:nvPr/>
        </p:nvSpPr>
        <p:spPr>
          <a:xfrm>
            <a:off x="460676" y="4790994"/>
            <a:ext cx="2037985"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6" name="표 15">
            <a:extLst>
              <a:ext uri="{FF2B5EF4-FFF2-40B4-BE49-F238E27FC236}">
                <a16:creationId xmlns:a16="http://schemas.microsoft.com/office/drawing/2014/main" id="{743B184E-AF4F-7A20-CCBF-2BBDE53283E7}"/>
              </a:ext>
            </a:extLst>
          </p:cNvPr>
          <p:cNvGraphicFramePr>
            <a:graphicFrameLocks noGrp="1"/>
          </p:cNvGraphicFramePr>
          <p:nvPr/>
        </p:nvGraphicFramePr>
        <p:xfrm>
          <a:off x="455558" y="5074748"/>
          <a:ext cx="8994883" cy="10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고용창출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고용창출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혁신적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혁신적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장애인기업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0099550"/>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1241296"/>
                  </a:ext>
                </a:extLst>
              </a:tr>
            </a:tbl>
          </a:graphicData>
        </a:graphic>
      </p:graphicFrame>
      <p:sp>
        <p:nvSpPr>
          <p:cNvPr id="5" name="TextBox 4">
            <a:extLst>
              <a:ext uri="{FF2B5EF4-FFF2-40B4-BE49-F238E27FC236}">
                <a16:creationId xmlns:a16="http://schemas.microsoft.com/office/drawing/2014/main" id="{99AC2E68-4BC8-E588-F8A1-C26456BAC34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B4D115ED-0F2A-749E-0610-60D5F77882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71035834"/>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326</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nvGraphicFramePr>
        <p:xfrm>
          <a:off x="452291" y="1014316"/>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5" name="Text Box 73">
            <a:extLst>
              <a:ext uri="{FF2B5EF4-FFF2-40B4-BE49-F238E27FC236}">
                <a16:creationId xmlns:a16="http://schemas.microsoft.com/office/drawing/2014/main" id="{8B21D49E-3738-1799-7195-340D91BFF43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0347827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MUI-BD-10-T13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 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59" name="직사각형 158"/>
          <p:cNvSpPr/>
          <p:nvPr/>
        </p:nvSpPr>
        <p:spPr>
          <a:xfrm>
            <a:off x="3828979" y="1979872"/>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1979873"/>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1979873"/>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3826887" y="1979873"/>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169275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1979873"/>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248301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264" name="직사각형 263"/>
          <p:cNvSpPr/>
          <p:nvPr/>
        </p:nvSpPr>
        <p:spPr>
          <a:xfrm>
            <a:off x="3823602" y="3297967"/>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3297968"/>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32979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32979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3512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3940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2810616"/>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301085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계약이행 성실도</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32979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2762513"/>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3565063"/>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a:p>
            <a:r>
              <a:rPr lang="en-US" altLang="ko-KR" sz="700" dirty="0">
                <a:latin typeface="+mn-ea"/>
              </a:rPr>
              <a:t>2.</a:t>
            </a:r>
            <a:r>
              <a:rPr lang="ko-KR" altLang="en-US" sz="700" dirty="0" err="1">
                <a:latin typeface="+mn-ea"/>
              </a:rPr>
              <a:t>납품지연</a:t>
            </a:r>
            <a:endParaRPr lang="ko-KR" altLang="en-US" sz="700" dirty="0">
              <a:latin typeface="+mn-ea"/>
            </a:endParaRPr>
          </a:p>
          <a:p>
            <a:r>
              <a:rPr lang="en-US" altLang="ko-KR" sz="700" dirty="0">
                <a:latin typeface="+mn-ea"/>
              </a:rPr>
              <a:t>3.</a:t>
            </a:r>
            <a:r>
              <a:rPr lang="ko-KR" altLang="en-US" sz="700" dirty="0">
                <a:latin typeface="+mn-ea"/>
              </a:rPr>
              <a:t>부정당업자 제재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404988" y="3672784"/>
            <a:ext cx="413255"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+3.7~-4.2</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36727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4282184"/>
            <a:ext cx="1639886" cy="85313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4282186"/>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428218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42821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44969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5136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399507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 </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42821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4549281"/>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a:p>
            <a:r>
              <a:rPr lang="en-US" altLang="ko-KR" sz="700" dirty="0">
                <a:latin typeface="+mn-ea"/>
              </a:rPr>
              <a:t>2.</a:t>
            </a:r>
            <a:r>
              <a:rPr lang="ko-KR" altLang="en-US" sz="700" dirty="0">
                <a:latin typeface="+mn-ea"/>
              </a:rPr>
              <a:t>혁신적 중소기업</a:t>
            </a:r>
          </a:p>
          <a:p>
            <a:r>
              <a:rPr lang="en-US" altLang="ko-KR" sz="700" dirty="0">
                <a:latin typeface="+mn-ea"/>
              </a:rPr>
              <a:t>3.</a:t>
            </a:r>
            <a:r>
              <a:rPr lang="ko-KR" altLang="en-US" sz="700" dirty="0">
                <a:latin typeface="+mn-ea"/>
              </a:rPr>
              <a:t>장애인기업</a:t>
            </a:r>
          </a:p>
          <a:p>
            <a:r>
              <a:rPr lang="en-US" altLang="ko-KR" sz="700" dirty="0">
                <a:latin typeface="+mn-ea"/>
              </a:rPr>
              <a:t>4.</a:t>
            </a:r>
            <a:r>
              <a:rPr lang="ko-KR" altLang="en-US" sz="700" dirty="0">
                <a:latin typeface="+mn-ea"/>
              </a:rPr>
              <a:t>여서기업지원 등</a:t>
            </a:r>
          </a:p>
          <a:p>
            <a:r>
              <a:rPr lang="en-US" altLang="ko-KR" sz="700" dirty="0">
                <a:latin typeface="+mn-ea"/>
              </a:rPr>
              <a:t>5.</a:t>
            </a:r>
            <a:r>
              <a:rPr lang="ko-KR" altLang="en-US" sz="700" dirty="0">
                <a:latin typeface="+mn-ea"/>
              </a:rPr>
              <a:t>정책지원</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04988" y="4764724"/>
            <a:ext cx="413255"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+3.7~-4.2</a:t>
            </a: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47647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49458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795734" y="5211981"/>
            <a:ext cx="2712027" cy="372724"/>
            <a:chOff x="676741" y="3122128"/>
            <a:chExt cx="2712027" cy="37272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1~2</a:t>
              </a:r>
              <a:r>
                <a:rPr lang="ko-KR" altLang="en-US" sz="700" dirty="0">
                  <a:latin typeface="+mn-ea"/>
                </a:rPr>
                <a:t>번 항을 합하여</a:t>
              </a:r>
              <a:endParaRPr lang="en-US" altLang="ko-KR" sz="700" dirty="0">
                <a:latin typeface="+mn-ea"/>
              </a:endParaRPr>
            </a:p>
            <a:p>
              <a:pPr algn="ctr" defTabSz="1013612">
                <a:defRPr/>
              </a:pPr>
              <a:r>
                <a:rPr lang="en-US" altLang="ko-KR" sz="700" dirty="0">
                  <a:latin typeface="+mn-ea"/>
                </a:rPr>
                <a:t>+3.7~-4.2</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grpSp>
      <p:sp>
        <p:nvSpPr>
          <p:cNvPr id="98" name="타원 9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931324901"/>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MUI-BD-10-T13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3" name="직사각형 172"/>
          <p:cNvSpPr/>
          <p:nvPr/>
        </p:nvSpPr>
        <p:spPr>
          <a:xfrm>
            <a:off x="704608" y="2015346"/>
            <a:ext cx="1639886" cy="9852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2015348"/>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201534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20153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22300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2999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152799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17282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20153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30720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2290674"/>
            <a:ext cx="1480199" cy="646331"/>
          </a:xfrm>
          <a:prstGeom prst="rect">
            <a:avLst/>
          </a:prstGeom>
          <a:noFill/>
        </p:spPr>
        <p:txBody>
          <a:bodyPr wrap="square" lIns="0" tIns="0" rIns="0" bIns="0" rtlCol="0">
            <a:spAutoFit/>
          </a:bodyPr>
          <a:lstStyle/>
          <a:p>
            <a:r>
              <a:rPr lang="ko-KR" altLang="en-US" sz="700" dirty="0">
                <a:latin typeface="+mn-ea"/>
              </a:rPr>
              <a:t>부도 등 및 부정당업자제재 상태인 경우 또는 부도 등의 우려가 있어 해당 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2559978"/>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25599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3" name="그룹 2"/>
          <p:cNvGrpSpPr/>
          <p:nvPr/>
        </p:nvGrpSpPr>
        <p:grpSpPr>
          <a:xfrm>
            <a:off x="675399" y="3115641"/>
            <a:ext cx="2713369" cy="3067770"/>
            <a:chOff x="682785" y="3077369"/>
            <a:chExt cx="2713369" cy="3067770"/>
          </a:xfrm>
        </p:grpSpPr>
        <p:sp>
          <p:nvSpPr>
            <p:cNvPr id="208" name="TextBox 207">
              <a:extLst>
                <a:ext uri="{FF2B5EF4-FFF2-40B4-BE49-F238E27FC236}">
                  <a16:creationId xmlns:a16="http://schemas.microsoft.com/office/drawing/2014/main" id="{FFC49AEA-2A8F-250C-A86A-A7751D9706C3}"/>
                </a:ext>
              </a:extLst>
            </p:cNvPr>
            <p:cNvSpPr txBox="1"/>
            <p:nvPr/>
          </p:nvSpPr>
          <p:spPr>
            <a:xfrm>
              <a:off x="770874" y="3077369"/>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 </a:t>
              </a:r>
              <a:r>
                <a:rPr lang="ko-KR" altLang="en-US" sz="700" dirty="0">
                  <a:latin typeface="+mn-ea"/>
                </a:rPr>
                <a:t>재무상태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30</a:t>
              </a:r>
              <a:r>
                <a:rPr lang="ko-KR" altLang="en-US" sz="700" dirty="0">
                  <a:latin typeface="+mn-ea"/>
                </a:rPr>
                <a:t>점</a:t>
              </a:r>
            </a:p>
          </p:txBody>
        </p:sp>
        <p:grpSp>
          <p:nvGrpSpPr>
            <p:cNvPr id="209" name="그룹 208"/>
            <p:cNvGrpSpPr/>
            <p:nvPr/>
          </p:nvGrpSpPr>
          <p:grpSpPr>
            <a:xfrm flipV="1">
              <a:off x="3132961" y="3190700"/>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684127" y="3364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9" name="그룹 88"/>
            <p:cNvGrpSpPr/>
            <p:nvPr/>
          </p:nvGrpSpPr>
          <p:grpSpPr>
            <a:xfrm>
              <a:off x="682785" y="3418417"/>
              <a:ext cx="2712027" cy="708570"/>
              <a:chOff x="675399" y="5469919"/>
              <a:chExt cx="2712027" cy="708570"/>
            </a:xfrm>
          </p:grpSpPr>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2" name="그룹 91"/>
              <p:cNvGrpSpPr/>
              <p:nvPr/>
            </p:nvGrpSpPr>
            <p:grpSpPr>
              <a:xfrm>
                <a:off x="701175" y="5469919"/>
                <a:ext cx="2630093" cy="646331"/>
                <a:chOff x="701175" y="1835481"/>
                <a:chExt cx="2630093" cy="646331"/>
              </a:xfrm>
            </p:grpSpPr>
            <p:sp>
              <p:nvSpPr>
                <p:cNvPr id="95" name="직사각형 94"/>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98" name="그룹 97"/>
                <p:cNvGrpSpPr/>
                <p:nvPr/>
              </p:nvGrpSpPr>
              <p:grpSpPr>
                <a:xfrm>
                  <a:off x="701175" y="1835481"/>
                  <a:ext cx="2630093" cy="644220"/>
                  <a:chOff x="701175" y="1835481"/>
                  <a:chExt cx="2630093" cy="644220"/>
                </a:xfrm>
              </p:grpSpPr>
              <p:cxnSp>
                <p:nvCxnSpPr>
                  <p:cNvPr id="99" name="직선 연결선 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sp>
          <p:nvSpPr>
            <p:cNvPr id="103" name="TextBox 102">
              <a:extLst>
                <a:ext uri="{FF2B5EF4-FFF2-40B4-BE49-F238E27FC236}">
                  <a16:creationId xmlns:a16="http://schemas.microsoft.com/office/drawing/2014/main" id="{FFC49AEA-2A8F-250C-A86A-A7751D9706C3}"/>
                </a:ext>
              </a:extLst>
            </p:cNvPr>
            <p:cNvSpPr txBox="1"/>
            <p:nvPr/>
          </p:nvSpPr>
          <p:spPr>
            <a:xfrm>
              <a:off x="770874" y="4161818"/>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r>
                <a:rPr lang="ko-KR" altLang="en-US" sz="700" dirty="0">
                  <a:latin typeface="+mn-ea"/>
                </a:rPr>
                <a:t>점</a:t>
              </a:r>
            </a:p>
          </p:txBody>
        </p:sp>
        <p:grpSp>
          <p:nvGrpSpPr>
            <p:cNvPr id="104" name="그룹 103"/>
            <p:cNvGrpSpPr/>
            <p:nvPr/>
          </p:nvGrpSpPr>
          <p:grpSpPr>
            <a:xfrm flipV="1">
              <a:off x="3132961" y="4275149"/>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7" name="직선 연결선 106">
              <a:extLst>
                <a:ext uri="{FF2B5EF4-FFF2-40B4-BE49-F238E27FC236}">
                  <a16:creationId xmlns:a16="http://schemas.microsoft.com/office/drawing/2014/main" id="{E9293055-D5CD-4B9E-7F64-64B2D2CA7A52}"/>
                </a:ext>
              </a:extLst>
            </p:cNvPr>
            <p:cNvCxnSpPr/>
            <p:nvPr/>
          </p:nvCxnSpPr>
          <p:spPr>
            <a:xfrm>
              <a:off x="684127" y="44486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684127" y="61451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9" name="그룹 108"/>
            <p:cNvGrpSpPr/>
            <p:nvPr/>
          </p:nvGrpSpPr>
          <p:grpSpPr>
            <a:xfrm>
              <a:off x="725094" y="4512743"/>
              <a:ext cx="2630093" cy="1094598"/>
              <a:chOff x="701175" y="1835480"/>
              <a:chExt cx="2630093" cy="1094598"/>
            </a:xfrm>
          </p:grpSpPr>
          <p:sp>
            <p:nvSpPr>
              <p:cNvPr id="110" name="직사각형 109"/>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13" name="그룹 112"/>
              <p:cNvGrpSpPr/>
              <p:nvPr/>
            </p:nvGrpSpPr>
            <p:grpSpPr>
              <a:xfrm>
                <a:off x="701175" y="1835481"/>
                <a:ext cx="2630093" cy="1094597"/>
                <a:chOff x="701175" y="1835481"/>
                <a:chExt cx="2630093" cy="1094597"/>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TextBox 119">
              <a:extLst>
                <a:ext uri="{FF2B5EF4-FFF2-40B4-BE49-F238E27FC236}">
                  <a16:creationId xmlns:a16="http://schemas.microsoft.com/office/drawing/2014/main" id="{FFC49AEA-2A8F-250C-A86A-A7751D9706C3}"/>
                </a:ext>
              </a:extLst>
            </p:cNvPr>
            <p:cNvSpPr txBox="1"/>
            <p:nvPr/>
          </p:nvSpPr>
          <p:spPr>
            <a:xfrm>
              <a:off x="812092" y="5724049"/>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65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grpSp>
      <p:sp>
        <p:nvSpPr>
          <p:cNvPr id="122" name="TextBox 121">
            <a:extLst>
              <a:ext uri="{FF2B5EF4-FFF2-40B4-BE49-F238E27FC236}">
                <a16:creationId xmlns:a16="http://schemas.microsoft.com/office/drawing/2014/main" id="{FFC49AEA-2A8F-250C-A86A-A7751D9706C3}"/>
              </a:ext>
            </a:extLst>
          </p:cNvPr>
          <p:cNvSpPr txBox="1"/>
          <p:nvPr/>
        </p:nvSpPr>
        <p:spPr>
          <a:xfrm>
            <a:off x="3883823" y="153087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+3.7 ~ -4.2</a:t>
            </a:r>
            <a:r>
              <a:rPr lang="ko-KR" altLang="en-US" sz="700" dirty="0">
                <a:latin typeface="+mn-ea"/>
              </a:rPr>
              <a:t>점</a:t>
            </a:r>
          </a:p>
        </p:txBody>
      </p:sp>
      <p:grpSp>
        <p:nvGrpSpPr>
          <p:cNvPr id="123" name="그룹 122"/>
          <p:cNvGrpSpPr/>
          <p:nvPr/>
        </p:nvGrpSpPr>
        <p:grpSpPr>
          <a:xfrm flipV="1">
            <a:off x="6245910" y="164420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6" name="직선 연결선 125">
            <a:extLst>
              <a:ext uri="{FF2B5EF4-FFF2-40B4-BE49-F238E27FC236}">
                <a16:creationId xmlns:a16="http://schemas.microsoft.com/office/drawing/2014/main" id="{E9293055-D5CD-4B9E-7F64-64B2D2CA7A52}"/>
              </a:ext>
            </a:extLst>
          </p:cNvPr>
          <p:cNvCxnSpPr/>
          <p:nvPr/>
        </p:nvCxnSpPr>
        <p:spPr>
          <a:xfrm>
            <a:off x="3797076"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3910665"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계약이행 성실도</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3914929" y="202923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4439786" y="2102520"/>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err="1">
                <a:latin typeface="+mn-ea"/>
              </a:rPr>
              <a:t>품질발생</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3914929" y="221301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4439786" y="2286300"/>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6041078" y="228630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-1.2</a:t>
            </a:r>
          </a:p>
        </p:txBody>
      </p:sp>
      <p:sp>
        <p:nvSpPr>
          <p:cNvPr id="170" name="직사각형 169"/>
          <p:cNvSpPr/>
          <p:nvPr/>
        </p:nvSpPr>
        <p:spPr>
          <a:xfrm>
            <a:off x="3839398" y="2447378"/>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26461" y="244737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654503" y="244737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3836701" y="24473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38794" y="26621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3838794" y="47962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6074873" y="244737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3940311" y="2710895"/>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 발생사실이 있는 자로서 하자가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p>
          <a:p>
            <a:r>
              <a:rPr lang="ko-KR" altLang="en-US" dirty="0"/>
              <a:t>① </a:t>
            </a:r>
            <a:r>
              <a:rPr lang="en-US" altLang="ko-KR" dirty="0"/>
              <a:t>5%</a:t>
            </a:r>
            <a:r>
              <a:rPr lang="ko-KR" altLang="en-US" dirty="0"/>
              <a:t>이상</a:t>
            </a:r>
          </a:p>
          <a:p>
            <a:r>
              <a:rPr lang="ko-KR" altLang="en-US" dirty="0"/>
              <a:t>② </a:t>
            </a:r>
            <a:r>
              <a:rPr lang="en-US" altLang="ko-KR" dirty="0"/>
              <a:t>3%</a:t>
            </a:r>
            <a:r>
              <a:rPr lang="ko-KR" altLang="en-US" dirty="0"/>
              <a:t>이상 ∼ </a:t>
            </a:r>
            <a:r>
              <a:rPr lang="en-US" altLang="ko-KR" dirty="0"/>
              <a:t>5%</a:t>
            </a:r>
            <a:r>
              <a:rPr lang="ko-KR" altLang="en-US" dirty="0"/>
              <a:t>미만</a:t>
            </a:r>
          </a:p>
          <a:p>
            <a:r>
              <a:rPr lang="ko-KR" altLang="en-US" dirty="0"/>
              <a:t>③ </a:t>
            </a:r>
            <a:r>
              <a:rPr lang="en-US" altLang="ko-KR" dirty="0"/>
              <a:t>1%</a:t>
            </a:r>
            <a:r>
              <a:rPr lang="ko-KR" altLang="en-US" dirty="0"/>
              <a:t>이상 ∼ </a:t>
            </a:r>
            <a:r>
              <a:rPr lang="en-US" altLang="ko-KR" dirty="0"/>
              <a:t>3% </a:t>
            </a:r>
            <a:r>
              <a:rPr lang="ko-KR" altLang="en-US" dirty="0"/>
              <a:t>미만</a:t>
            </a:r>
          </a:p>
          <a:p>
            <a:r>
              <a:rPr lang="ko-KR" altLang="en-US" dirty="0"/>
              <a:t>④ </a:t>
            </a:r>
            <a:r>
              <a:rPr lang="en-US" altLang="ko-KR" dirty="0"/>
              <a:t>0.1%</a:t>
            </a:r>
            <a:r>
              <a:rPr lang="ko-KR" altLang="en-US" dirty="0"/>
              <a:t>이상 ∼ </a:t>
            </a:r>
            <a:r>
              <a:rPr lang="en-US" altLang="ko-KR" dirty="0"/>
              <a:t>1% </a:t>
            </a:r>
            <a:r>
              <a:rPr lang="ko-KR" altLang="en-US" dirty="0"/>
              <a:t>미만</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5692397" y="3249504"/>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192" name="TextBox 191">
            <a:extLst>
              <a:ext uri="{FF2B5EF4-FFF2-40B4-BE49-F238E27FC236}">
                <a16:creationId xmlns:a16="http://schemas.microsoft.com/office/drawing/2014/main" id="{FFC49AEA-2A8F-250C-A86A-A7751D9706C3}"/>
              </a:ext>
            </a:extLst>
          </p:cNvPr>
          <p:cNvSpPr txBox="1"/>
          <p:nvPr/>
        </p:nvSpPr>
        <p:spPr>
          <a:xfrm>
            <a:off x="6410927" y="367530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3940311" y="3777947"/>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p>
          <a:p>
            <a:r>
              <a:rPr lang="ko-KR" altLang="en-US" dirty="0"/>
              <a:t>② </a:t>
            </a:r>
            <a:r>
              <a:rPr lang="en-US" altLang="ko-KR" dirty="0"/>
              <a:t>10%</a:t>
            </a:r>
            <a:r>
              <a:rPr lang="ko-KR" altLang="en-US" dirty="0"/>
              <a:t>이상 ∼ </a:t>
            </a:r>
            <a:r>
              <a:rPr lang="en-US" altLang="ko-KR" dirty="0"/>
              <a:t>20%</a:t>
            </a:r>
            <a:r>
              <a:rPr lang="ko-KR" altLang="en-US" dirty="0"/>
              <a:t>미만</a:t>
            </a:r>
          </a:p>
          <a:p>
            <a:r>
              <a:rPr lang="ko-KR" altLang="en-US" dirty="0"/>
              <a:t>③ </a:t>
            </a:r>
            <a:r>
              <a:rPr lang="en-US" altLang="ko-KR" dirty="0"/>
              <a:t>1%</a:t>
            </a:r>
            <a:r>
              <a:rPr lang="ko-KR" altLang="en-US" dirty="0"/>
              <a:t>이상 ∼ </a:t>
            </a:r>
            <a:r>
              <a:rPr lang="en-US" altLang="ko-KR" dirty="0"/>
              <a:t>10%</a:t>
            </a:r>
            <a:r>
              <a:rPr lang="ko-KR" altLang="en-US" dirty="0"/>
              <a:t>미만</a:t>
            </a:r>
          </a:p>
          <a:p>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43649" y="37291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5692397" y="4316556"/>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Tree>
    <p:extLst>
      <p:ext uri="{BB962C8B-B14F-4D97-AF65-F5344CB8AC3E}">
        <p14:creationId xmlns:p14="http://schemas.microsoft.com/office/powerpoint/2010/main" val="3613824747"/>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MUI-BD-10-T13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716366" y="1491157"/>
            <a:ext cx="2630093" cy="1790884"/>
            <a:chOff x="3989101" y="6222499"/>
            <a:chExt cx="2630093" cy="1790884"/>
          </a:xfrm>
        </p:grpSpPr>
        <p:sp>
          <p:nvSpPr>
            <p:cNvPr id="123" name="TextBox 122">
              <a:extLst>
                <a:ext uri="{FF2B5EF4-FFF2-40B4-BE49-F238E27FC236}">
                  <a16:creationId xmlns:a16="http://schemas.microsoft.com/office/drawing/2014/main" id="{FFC49AEA-2A8F-250C-A86A-A7751D9706C3}"/>
                </a:ext>
              </a:extLst>
            </p:cNvPr>
            <p:cNvSpPr txBox="1"/>
            <p:nvPr/>
          </p:nvSpPr>
          <p:spPr>
            <a:xfrm>
              <a:off x="4067329" y="622249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592186" y="6295787"/>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4067329" y="640627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4592186" y="6479567"/>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6193478" y="647956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28" name="직사각형 127"/>
            <p:cNvSpPr/>
            <p:nvPr/>
          </p:nvSpPr>
          <p:spPr>
            <a:xfrm>
              <a:off x="3991798" y="664064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4078861" y="664064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5806903" y="664064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3989101" y="664064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3991194" y="6855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3991194" y="80133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6227273" y="664064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4092711" y="6904162"/>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 </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br>
                <a:rPr lang="ko-KR" altLang="en-US" dirty="0"/>
              </a:br>
              <a:r>
                <a:rPr lang="en-US" altLang="ko-KR" dirty="0"/>
                <a:t>- 7%</a:t>
              </a:r>
              <a:r>
                <a:rPr lang="ko-KR" altLang="en-US" dirty="0"/>
                <a:t>이상</a:t>
              </a:r>
              <a:br>
                <a:rPr lang="ko-KR" altLang="en-US" dirty="0"/>
              </a:br>
              <a:r>
                <a:rPr lang="en-US" altLang="ko-KR" dirty="0"/>
                <a:t>- 5%</a:t>
              </a:r>
              <a:r>
                <a:rPr lang="ko-KR" altLang="en-US" dirty="0"/>
                <a:t>이상 ∼ </a:t>
              </a:r>
              <a:r>
                <a:rPr lang="en-US" altLang="ko-KR" dirty="0"/>
                <a:t>7%</a:t>
              </a:r>
              <a:r>
                <a:rPr lang="ko-KR" altLang="en-US" dirty="0"/>
                <a:t>미만</a:t>
              </a:r>
              <a:br>
                <a:rPr lang="ko-KR" altLang="en-US" dirty="0"/>
              </a:br>
              <a:r>
                <a:rPr lang="en-US" altLang="ko-KR" dirty="0"/>
                <a:t>- 3%</a:t>
              </a:r>
              <a:r>
                <a:rPr lang="ko-KR" altLang="en-US" dirty="0"/>
                <a:t>이상 ∼ </a:t>
              </a:r>
              <a:r>
                <a:rPr lang="en-US" altLang="ko-KR" dirty="0"/>
                <a:t>5%</a:t>
              </a:r>
              <a:r>
                <a:rPr lang="ko-KR" altLang="en-US" dirty="0"/>
                <a:t>미만</a:t>
              </a:r>
              <a:br>
                <a:rPr lang="ko-KR" altLang="en-US" dirty="0"/>
              </a:br>
              <a:r>
                <a:rPr lang="en-US" altLang="ko-KR" dirty="0"/>
                <a:t>- 1%</a:t>
              </a:r>
              <a:r>
                <a:rPr lang="ko-KR" altLang="en-US" dirty="0"/>
                <a:t>이상 ∼ </a:t>
              </a:r>
              <a:r>
                <a:rPr lang="en-US" altLang="ko-KR" dirty="0"/>
                <a:t>3%</a:t>
              </a:r>
              <a:r>
                <a:rPr lang="ko-KR" altLang="en-US" dirty="0"/>
                <a:t>미만</a:t>
              </a:r>
              <a:br>
                <a:rPr lang="ko-KR" altLang="en-US" dirty="0"/>
              </a:br>
              <a:r>
                <a:rPr lang="en-US" altLang="ko-KR" dirty="0"/>
                <a:t>- 0.1%</a:t>
              </a:r>
              <a:r>
                <a:rPr lang="ko-KR" altLang="en-US" dirty="0"/>
                <a:t>이상 ∼ </a:t>
              </a:r>
              <a:r>
                <a:rPr lang="en-US" altLang="ko-KR" dirty="0"/>
                <a:t>1%</a:t>
              </a:r>
              <a:r>
                <a:rPr lang="ko-KR" altLang="en-US" dirty="0"/>
                <a:t>미만</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5844797" y="7442771"/>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6563327" y="738052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94594" y="331246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1319451" y="3385751"/>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794594" y="349624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1319451" y="3569531"/>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920743" y="356953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44" name="직사각형 143"/>
          <p:cNvSpPr/>
          <p:nvPr/>
        </p:nvSpPr>
        <p:spPr>
          <a:xfrm>
            <a:off x="719063" y="3730609"/>
            <a:ext cx="1639886" cy="23699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TextBox 144">
            <a:extLst>
              <a:ext uri="{FF2B5EF4-FFF2-40B4-BE49-F238E27FC236}">
                <a16:creationId xmlns:a16="http://schemas.microsoft.com/office/drawing/2014/main" id="{FFC49AEA-2A8F-250C-A86A-A7751D9706C3}"/>
              </a:ext>
            </a:extLst>
          </p:cNvPr>
          <p:cNvSpPr txBox="1"/>
          <p:nvPr/>
        </p:nvSpPr>
        <p:spPr>
          <a:xfrm>
            <a:off x="806126" y="373061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534168" y="373061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716366" y="37306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18459" y="39453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8459" y="559531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2954538" y="373061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819976" y="3985737"/>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2572062" y="46051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90592" y="49690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46051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819976" y="479362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819976" y="508984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9</a:t>
            </a:r>
            <a:r>
              <a:rPr lang="ko-KR" altLang="en-US" dirty="0"/>
              <a:t>개월 이상 ∼ </a:t>
            </a:r>
            <a:r>
              <a:rPr lang="en-US" altLang="ko-KR" dirty="0"/>
              <a:t>1</a:t>
            </a:r>
            <a:r>
              <a:rPr lang="ko-KR" altLang="en-US" dirty="0"/>
              <a:t>년 미만인 경우</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819976" y="53860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9</a:t>
            </a:r>
            <a:r>
              <a:rPr lang="ko-KR" altLang="en-US" dirty="0"/>
              <a:t> 개월 미만인 경우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2572062" y="4847485"/>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-1.8</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72062" y="5143707"/>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2572062" y="5386068"/>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18459" y="45647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5" name="직선 연결선 194">
            <a:extLst>
              <a:ext uri="{FF2B5EF4-FFF2-40B4-BE49-F238E27FC236}">
                <a16:creationId xmlns:a16="http://schemas.microsoft.com/office/drawing/2014/main" id="{E9293055-D5CD-4B9E-7F64-64B2D2CA7A52}"/>
              </a:ext>
            </a:extLst>
          </p:cNvPr>
          <p:cNvCxnSpPr/>
          <p:nvPr/>
        </p:nvCxnSpPr>
        <p:spPr>
          <a:xfrm>
            <a:off x="718459" y="47532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18459" y="504945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18459" y="53456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819976" y="563570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이상 ∼ </a:t>
            </a:r>
            <a:r>
              <a:rPr lang="en-US" altLang="ko-KR" dirty="0"/>
              <a:t>6</a:t>
            </a:r>
            <a:r>
              <a:rPr lang="ko-KR" altLang="en-US" dirty="0"/>
              <a:t> 개월 미만인 경우</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819976" y="59319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미만인 경우</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2572062" y="5689563"/>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2572062" y="59319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718459" y="58915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18459" y="61005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3914929" y="150490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3914929" y="170514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439786" y="1778433"/>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p:txBody>
      </p:sp>
      <p:sp>
        <p:nvSpPr>
          <p:cNvPr id="283" name="TextBox 282">
            <a:extLst>
              <a:ext uri="{FF2B5EF4-FFF2-40B4-BE49-F238E27FC236}">
                <a16:creationId xmlns:a16="http://schemas.microsoft.com/office/drawing/2014/main" id="{FFC49AEA-2A8F-250C-A86A-A7751D9706C3}"/>
              </a:ext>
            </a:extLst>
          </p:cNvPr>
          <p:cNvSpPr txBox="1"/>
          <p:nvPr/>
        </p:nvSpPr>
        <p:spPr>
          <a:xfrm>
            <a:off x="3914929" y="188892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84" name="TextBox 283">
            <a:extLst>
              <a:ext uri="{FF2B5EF4-FFF2-40B4-BE49-F238E27FC236}">
                <a16:creationId xmlns:a16="http://schemas.microsoft.com/office/drawing/2014/main" id="{FFC49AEA-2A8F-250C-A86A-A7751D9706C3}"/>
              </a:ext>
            </a:extLst>
          </p:cNvPr>
          <p:cNvSpPr txBox="1"/>
          <p:nvPr/>
        </p:nvSpPr>
        <p:spPr>
          <a:xfrm>
            <a:off x="4439786" y="1962213"/>
            <a:ext cx="2010812" cy="107722"/>
          </a:xfrm>
          <a:prstGeom prst="rect">
            <a:avLst/>
          </a:prstGeom>
          <a:noFill/>
        </p:spPr>
        <p:txBody>
          <a:bodyPr wrap="square" lIns="0" tIns="0" rIns="0" bIns="0" rtlCol="0">
            <a:spAutoFit/>
          </a:bodyPr>
          <a:lstStyle/>
          <a:p>
            <a:r>
              <a:rPr lang="ko-KR" altLang="en-US" sz="700" dirty="0">
                <a:latin typeface="+mn-ea"/>
              </a:rPr>
              <a:t>고용창출</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6041078" y="196221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86" name="직사각형 285"/>
          <p:cNvSpPr/>
          <p:nvPr/>
        </p:nvSpPr>
        <p:spPr>
          <a:xfrm>
            <a:off x="3839398" y="2123291"/>
            <a:ext cx="1639886" cy="17038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3926461" y="212329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654503" y="212329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6701" y="212329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9" name="직선 연결선 298">
            <a:extLst>
              <a:ext uri="{FF2B5EF4-FFF2-40B4-BE49-F238E27FC236}">
                <a16:creationId xmlns:a16="http://schemas.microsoft.com/office/drawing/2014/main" id="{E9293055-D5CD-4B9E-7F64-64B2D2CA7A52}"/>
              </a:ext>
            </a:extLst>
          </p:cNvPr>
          <p:cNvCxnSpPr/>
          <p:nvPr/>
        </p:nvCxnSpPr>
        <p:spPr>
          <a:xfrm>
            <a:off x="3838794" y="2338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0" name="직선 연결선 299">
            <a:extLst>
              <a:ext uri="{FF2B5EF4-FFF2-40B4-BE49-F238E27FC236}">
                <a16:creationId xmlns:a16="http://schemas.microsoft.com/office/drawing/2014/main" id="{E9293055-D5CD-4B9E-7F64-64B2D2CA7A52}"/>
              </a:ext>
            </a:extLst>
          </p:cNvPr>
          <p:cNvCxnSpPr/>
          <p:nvPr/>
        </p:nvCxnSpPr>
        <p:spPr>
          <a:xfrm>
            <a:off x="3838794" y="38271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1" name="TextBox 300">
            <a:extLst>
              <a:ext uri="{FF2B5EF4-FFF2-40B4-BE49-F238E27FC236}">
                <a16:creationId xmlns:a16="http://schemas.microsoft.com/office/drawing/2014/main" id="{FFC49AEA-2A8F-250C-A86A-A7751D9706C3}"/>
              </a:ext>
            </a:extLst>
          </p:cNvPr>
          <p:cNvSpPr txBox="1"/>
          <p:nvPr/>
        </p:nvSpPr>
        <p:spPr>
          <a:xfrm>
            <a:off x="6074873" y="212329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3940311" y="238680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신규채용 우수기업</a:t>
            </a:r>
            <a:r>
              <a:rPr lang="en-US" altLang="ko-KR" dirty="0"/>
              <a:t>(</a:t>
            </a:r>
            <a:r>
              <a:rPr lang="ko-KR" altLang="en-US" dirty="0"/>
              <a:t>설립 </a:t>
            </a:r>
            <a:r>
              <a:rPr lang="en-US" altLang="ko-KR" dirty="0"/>
              <a:t>18</a:t>
            </a:r>
            <a:r>
              <a:rPr lang="ko-KR" altLang="en-US" dirty="0" err="1"/>
              <a:t>개월이상</a:t>
            </a:r>
            <a:r>
              <a:rPr lang="en-US" altLang="ko-KR" dirty="0"/>
              <a:t>)</a:t>
            </a:r>
          </a:p>
          <a:p>
            <a:r>
              <a:rPr lang="en-US" altLang="ko-KR" dirty="0"/>
              <a:t>-</a:t>
            </a:r>
            <a:r>
              <a:rPr lang="ko-KR" altLang="en-US" dirty="0"/>
              <a:t>전년도 </a:t>
            </a:r>
            <a:r>
              <a:rPr lang="en-US" altLang="ko-KR" dirty="0"/>
              <a:t>6</a:t>
            </a:r>
            <a:r>
              <a:rPr lang="ko-KR" altLang="en-US" dirty="0"/>
              <a:t>개월간 평균고용인원 대비 해당연도 최근 </a:t>
            </a:r>
            <a:r>
              <a:rPr lang="en-US" altLang="ko-KR" dirty="0"/>
              <a:t>6</a:t>
            </a:r>
            <a:r>
              <a:rPr lang="ko-KR" altLang="en-US" dirty="0"/>
              <a:t>개월간 평균고용인원 증가율이 기업규모에 따라 다음의 증가율이 이상인 기업</a:t>
            </a:r>
          </a:p>
          <a:p>
            <a:r>
              <a:rPr lang="en-US" altLang="ko-KR" dirty="0"/>
              <a:t>- </a:t>
            </a:r>
          </a:p>
          <a:p>
            <a:r>
              <a:rPr lang="en-US" altLang="ko-KR" dirty="0"/>
              <a:t>- </a:t>
            </a:r>
          </a:p>
          <a:p>
            <a:r>
              <a:rPr lang="en-US" altLang="ko-KR" dirty="0"/>
              <a:t>- </a:t>
            </a:r>
            <a:endParaRPr lang="ko-KR" altLang="en-US" dirty="0"/>
          </a:p>
        </p:txBody>
      </p:sp>
      <p:sp>
        <p:nvSpPr>
          <p:cNvPr id="303" name="TextBox 302">
            <a:extLst>
              <a:ext uri="{FF2B5EF4-FFF2-40B4-BE49-F238E27FC236}">
                <a16:creationId xmlns:a16="http://schemas.microsoft.com/office/drawing/2014/main" id="{FFC49AEA-2A8F-250C-A86A-A7751D9706C3}"/>
              </a:ext>
            </a:extLst>
          </p:cNvPr>
          <p:cNvSpPr txBox="1"/>
          <p:nvPr/>
        </p:nvSpPr>
        <p:spPr>
          <a:xfrm>
            <a:off x="5729267" y="3033139"/>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a:p>
            <a:r>
              <a:rPr lang="en-US" altLang="ko-KR" dirty="0"/>
              <a:t>0.8</a:t>
            </a:r>
          </a:p>
          <a:p>
            <a:r>
              <a:rPr lang="en-US" altLang="ko-KR" dirty="0"/>
              <a:t>0.6</a:t>
            </a:r>
          </a:p>
        </p:txBody>
      </p:sp>
      <p:sp>
        <p:nvSpPr>
          <p:cNvPr id="304" name="TextBox 303">
            <a:extLst>
              <a:ext uri="{FF2B5EF4-FFF2-40B4-BE49-F238E27FC236}">
                <a16:creationId xmlns:a16="http://schemas.microsoft.com/office/drawing/2014/main" id="{FFC49AEA-2A8F-250C-A86A-A7751D9706C3}"/>
              </a:ext>
            </a:extLst>
          </p:cNvPr>
          <p:cNvSpPr txBox="1"/>
          <p:nvPr/>
        </p:nvSpPr>
        <p:spPr>
          <a:xfrm>
            <a:off x="6410927" y="302874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3940311" y="3453860"/>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a:t>
            </a:r>
            <a:r>
              <a:rPr lang="ko-KR" altLang="en-US" dirty="0" err="1"/>
              <a:t>신설기업</a:t>
            </a:r>
            <a:r>
              <a:rPr lang="en-US" altLang="ko-KR" dirty="0"/>
              <a:t>(</a:t>
            </a:r>
            <a:r>
              <a:rPr lang="ko-KR" altLang="en-US" dirty="0"/>
              <a:t>설립 </a:t>
            </a:r>
            <a:r>
              <a:rPr lang="en-US" altLang="ko-KR" dirty="0"/>
              <a:t>18</a:t>
            </a:r>
            <a:r>
              <a:rPr lang="ko-KR" altLang="en-US" dirty="0" err="1"/>
              <a:t>개월미만</a:t>
            </a:r>
            <a:r>
              <a:rPr lang="en-US" altLang="ko-KR" dirty="0"/>
              <a:t>)</a:t>
            </a:r>
          </a:p>
          <a:p>
            <a:r>
              <a:rPr lang="en-US" altLang="ko-KR" dirty="0"/>
              <a:t>-</a:t>
            </a:r>
            <a:r>
              <a:rPr lang="ko-KR" altLang="en-US" dirty="0"/>
              <a:t>총 고용인원</a:t>
            </a:r>
            <a:r>
              <a:rPr lang="en-US" altLang="ko-KR" dirty="0"/>
              <a:t>(</a:t>
            </a:r>
            <a:r>
              <a:rPr lang="ko-KR" altLang="en-US" dirty="0"/>
              <a:t>대표자 제외</a:t>
            </a:r>
            <a:r>
              <a:rPr lang="en-US" altLang="ko-KR" dirty="0"/>
              <a:t>)6</a:t>
            </a:r>
            <a:r>
              <a:rPr lang="ko-KR" altLang="en-US" dirty="0"/>
              <a:t>인 이상</a:t>
            </a:r>
          </a:p>
          <a:p>
            <a:r>
              <a:rPr lang="en-US" altLang="ko-KR" dirty="0"/>
              <a:t>-</a:t>
            </a:r>
            <a:r>
              <a:rPr lang="ko-KR" altLang="en-US" dirty="0"/>
              <a:t>총 고용인원</a:t>
            </a:r>
            <a:r>
              <a:rPr lang="en-US" altLang="ko-KR" dirty="0"/>
              <a:t>(</a:t>
            </a:r>
            <a:r>
              <a:rPr lang="ko-KR" altLang="en-US" dirty="0"/>
              <a:t>대표자 제외</a:t>
            </a:r>
            <a:r>
              <a:rPr lang="en-US" altLang="ko-KR" dirty="0"/>
              <a:t>)3</a:t>
            </a:r>
            <a:r>
              <a:rPr lang="ko-KR" altLang="en-US" dirty="0"/>
              <a:t>인 </a:t>
            </a:r>
            <a:r>
              <a:rPr lang="en-US" altLang="ko-KR" dirty="0"/>
              <a:t>~ 5</a:t>
            </a:r>
            <a:r>
              <a:rPr lang="ko-KR" altLang="en-US" dirty="0"/>
              <a:t>인</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3649" y="340508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TextBox 306">
            <a:extLst>
              <a:ext uri="{FF2B5EF4-FFF2-40B4-BE49-F238E27FC236}">
                <a16:creationId xmlns:a16="http://schemas.microsoft.com/office/drawing/2014/main" id="{FFC49AEA-2A8F-250C-A86A-A7751D9706C3}"/>
              </a:ext>
            </a:extLst>
          </p:cNvPr>
          <p:cNvSpPr txBox="1"/>
          <p:nvPr/>
        </p:nvSpPr>
        <p:spPr>
          <a:xfrm>
            <a:off x="5729267" y="3561581"/>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a:p>
            <a:r>
              <a:rPr lang="en-US" altLang="ko-KR" dirty="0"/>
              <a:t>0.4</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14929" y="386007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309" name="TextBox 308">
            <a:extLst>
              <a:ext uri="{FF2B5EF4-FFF2-40B4-BE49-F238E27FC236}">
                <a16:creationId xmlns:a16="http://schemas.microsoft.com/office/drawing/2014/main" id="{FFC49AEA-2A8F-250C-A86A-A7751D9706C3}"/>
              </a:ext>
            </a:extLst>
          </p:cNvPr>
          <p:cNvSpPr txBox="1"/>
          <p:nvPr/>
        </p:nvSpPr>
        <p:spPr>
          <a:xfrm>
            <a:off x="4439786" y="3933362"/>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혁신적 중소기업</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3914929" y="404385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311" name="TextBox 310">
            <a:extLst>
              <a:ext uri="{FF2B5EF4-FFF2-40B4-BE49-F238E27FC236}">
                <a16:creationId xmlns:a16="http://schemas.microsoft.com/office/drawing/2014/main" id="{FFC49AEA-2A8F-250C-A86A-A7751D9706C3}"/>
              </a:ext>
            </a:extLst>
          </p:cNvPr>
          <p:cNvSpPr txBox="1"/>
          <p:nvPr/>
        </p:nvSpPr>
        <p:spPr>
          <a:xfrm>
            <a:off x="4439786" y="4117142"/>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6041078" y="411714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0.8</a:t>
            </a:r>
          </a:p>
        </p:txBody>
      </p:sp>
      <p:sp>
        <p:nvSpPr>
          <p:cNvPr id="313" name="직사각형 312"/>
          <p:cNvSpPr/>
          <p:nvPr/>
        </p:nvSpPr>
        <p:spPr>
          <a:xfrm>
            <a:off x="3839398" y="4278220"/>
            <a:ext cx="1639886" cy="9732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4" name="TextBox 313">
            <a:extLst>
              <a:ext uri="{FF2B5EF4-FFF2-40B4-BE49-F238E27FC236}">
                <a16:creationId xmlns:a16="http://schemas.microsoft.com/office/drawing/2014/main" id="{FFC49AEA-2A8F-250C-A86A-A7751D9706C3}"/>
              </a:ext>
            </a:extLst>
          </p:cNvPr>
          <p:cNvSpPr txBox="1"/>
          <p:nvPr/>
        </p:nvSpPr>
        <p:spPr>
          <a:xfrm>
            <a:off x="3926461" y="427822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5654503" y="427822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316" name="직선 연결선 315">
            <a:extLst>
              <a:ext uri="{FF2B5EF4-FFF2-40B4-BE49-F238E27FC236}">
                <a16:creationId xmlns:a16="http://schemas.microsoft.com/office/drawing/2014/main" id="{E9293055-D5CD-4B9E-7F64-64B2D2CA7A52}"/>
              </a:ext>
            </a:extLst>
          </p:cNvPr>
          <p:cNvCxnSpPr/>
          <p:nvPr/>
        </p:nvCxnSpPr>
        <p:spPr>
          <a:xfrm>
            <a:off x="3836701" y="4278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7" name="직선 연결선 316">
            <a:extLst>
              <a:ext uri="{FF2B5EF4-FFF2-40B4-BE49-F238E27FC236}">
                <a16:creationId xmlns:a16="http://schemas.microsoft.com/office/drawing/2014/main" id="{E9293055-D5CD-4B9E-7F64-64B2D2CA7A52}"/>
              </a:ext>
            </a:extLst>
          </p:cNvPr>
          <p:cNvCxnSpPr/>
          <p:nvPr/>
        </p:nvCxnSpPr>
        <p:spPr>
          <a:xfrm>
            <a:off x="3838794" y="44929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8" name="직선 연결선 317">
            <a:extLst>
              <a:ext uri="{FF2B5EF4-FFF2-40B4-BE49-F238E27FC236}">
                <a16:creationId xmlns:a16="http://schemas.microsoft.com/office/drawing/2014/main" id="{E9293055-D5CD-4B9E-7F64-64B2D2CA7A52}"/>
              </a:ext>
            </a:extLst>
          </p:cNvPr>
          <p:cNvCxnSpPr/>
          <p:nvPr/>
        </p:nvCxnSpPr>
        <p:spPr>
          <a:xfrm>
            <a:off x="3838794" y="52514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6074873" y="427822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40311" y="4541737"/>
            <a:ext cx="1480199" cy="646331"/>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중소벤처기업부장관</a:t>
            </a:r>
            <a:r>
              <a:rPr lang="en-US" altLang="ko-KR" dirty="0"/>
              <a:t>(</a:t>
            </a:r>
            <a:r>
              <a:rPr lang="ko-KR" altLang="en-US" dirty="0"/>
              <a:t>또는 </a:t>
            </a:r>
            <a:r>
              <a:rPr lang="ko-KR" altLang="en-US" dirty="0" err="1"/>
              <a:t>수임권자</a:t>
            </a:r>
            <a:r>
              <a:rPr lang="en-US" altLang="ko-KR" dirty="0"/>
              <a:t>)</a:t>
            </a:r>
            <a:r>
              <a:rPr lang="ko-KR" altLang="en-US" dirty="0"/>
              <a:t>으로부터 </a:t>
            </a:r>
            <a:r>
              <a:rPr lang="ko-KR" altLang="en-US" dirty="0" err="1"/>
              <a:t>혁신형</a:t>
            </a:r>
            <a:r>
              <a:rPr lang="en-US" altLang="ko-KR" dirty="0"/>
              <a:t>(</a:t>
            </a:r>
            <a:r>
              <a:rPr lang="ko-KR" altLang="en-US" dirty="0"/>
              <a:t>벤처</a:t>
            </a:r>
            <a:r>
              <a:rPr lang="en-US" altLang="ko-KR" dirty="0"/>
              <a:t>, </a:t>
            </a:r>
            <a:r>
              <a:rPr lang="ko-KR" altLang="en-US" dirty="0" err="1"/>
              <a:t>기술혁신형</a:t>
            </a:r>
            <a:r>
              <a:rPr lang="en-US" altLang="ko-KR" dirty="0"/>
              <a:t>, </a:t>
            </a:r>
            <a:r>
              <a:rPr lang="ko-KR" altLang="en-US" dirty="0" err="1"/>
              <a:t>경영혁신형</a:t>
            </a:r>
            <a:r>
              <a:rPr lang="en-US" altLang="ko-KR" dirty="0"/>
              <a:t>, </a:t>
            </a:r>
            <a:r>
              <a:rPr lang="ko-KR" altLang="en-US" dirty="0"/>
              <a:t>우수그린비즈</a:t>
            </a:r>
            <a:r>
              <a:rPr lang="en-US" altLang="ko-KR" dirty="0"/>
              <a:t>) </a:t>
            </a:r>
            <a:r>
              <a:rPr lang="ko-KR" altLang="en-US" dirty="0"/>
              <a:t>중소기업으로 </a:t>
            </a:r>
            <a:r>
              <a:rPr lang="ko-KR" altLang="en-US" dirty="0" err="1"/>
              <a:t>지정받은</a:t>
            </a:r>
            <a:r>
              <a:rPr lang="ko-KR" altLang="en-US" dirty="0"/>
              <a:t> 자로서</a:t>
            </a:r>
          </a:p>
          <a:p>
            <a:r>
              <a:rPr lang="en-US" altLang="ko-KR" dirty="0"/>
              <a:t>A. </a:t>
            </a:r>
            <a:r>
              <a:rPr lang="ko-KR" altLang="en-US" dirty="0" err="1"/>
              <a:t>혁신형기업이면서</a:t>
            </a:r>
            <a:r>
              <a:rPr lang="ko-KR" altLang="en-US" dirty="0"/>
              <a:t> 제조기업</a:t>
            </a:r>
          </a:p>
          <a:p>
            <a:r>
              <a:rPr lang="en-US" altLang="ko-KR" dirty="0"/>
              <a:t>B. </a:t>
            </a:r>
            <a:r>
              <a:rPr lang="ko-KR" altLang="en-US" dirty="0" err="1"/>
              <a:t>혁신형기업</a:t>
            </a:r>
            <a:endParaRPr lang="ko-KR" altLang="en-US" dirty="0"/>
          </a:p>
        </p:txBody>
      </p:sp>
      <p:sp>
        <p:nvSpPr>
          <p:cNvPr id="321" name="TextBox 320">
            <a:extLst>
              <a:ext uri="{FF2B5EF4-FFF2-40B4-BE49-F238E27FC236}">
                <a16:creationId xmlns:a16="http://schemas.microsoft.com/office/drawing/2014/main" id="{FFC49AEA-2A8F-250C-A86A-A7751D9706C3}"/>
              </a:ext>
            </a:extLst>
          </p:cNvPr>
          <p:cNvSpPr txBox="1"/>
          <p:nvPr/>
        </p:nvSpPr>
        <p:spPr>
          <a:xfrm>
            <a:off x="5729267" y="4972624"/>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0.8</a:t>
            </a:r>
          </a:p>
          <a:p>
            <a:r>
              <a:rPr lang="en-US" altLang="ko-KR" dirty="0"/>
              <a:t>0.6</a:t>
            </a:r>
          </a:p>
        </p:txBody>
      </p:sp>
      <p:sp>
        <p:nvSpPr>
          <p:cNvPr id="322" name="TextBox 321">
            <a:extLst>
              <a:ext uri="{FF2B5EF4-FFF2-40B4-BE49-F238E27FC236}">
                <a16:creationId xmlns:a16="http://schemas.microsoft.com/office/drawing/2014/main" id="{FFC49AEA-2A8F-250C-A86A-A7751D9706C3}"/>
              </a:ext>
            </a:extLst>
          </p:cNvPr>
          <p:cNvSpPr txBox="1"/>
          <p:nvPr/>
        </p:nvSpPr>
        <p:spPr>
          <a:xfrm>
            <a:off x="6410927" y="481104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3" name="타원 10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816912978"/>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MUI-BD-10-T13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817322"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794594"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장애인기업</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794594"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748225"/>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2920743"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08" name="직사각형 107"/>
          <p:cNvSpPr/>
          <p:nvPr/>
        </p:nvSpPr>
        <p:spPr>
          <a:xfrm>
            <a:off x="719063" y="1909303"/>
            <a:ext cx="1639886" cy="15475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a:extLst>
              <a:ext uri="{FF2B5EF4-FFF2-40B4-BE49-F238E27FC236}">
                <a16:creationId xmlns:a16="http://schemas.microsoft.com/office/drawing/2014/main" id="{FFC49AEA-2A8F-250C-A86A-A7751D9706C3}"/>
              </a:ext>
            </a:extLst>
          </p:cNvPr>
          <p:cNvSpPr txBox="1"/>
          <p:nvPr/>
        </p:nvSpPr>
        <p:spPr>
          <a:xfrm>
            <a:off x="806126"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2534168"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16366"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8459" y="34595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2954538"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19976" y="216709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 고용촉진 및 직업재활법에 따른 장애인 고용우수사업주 또는 장애인 표준사업장</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608932" y="229711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3290592" y="273794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459" y="25333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819976" y="257636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중소벤처기업부 장관이 확인한 장애인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2608932" y="273458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819976" y="2985632"/>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장애인고용 우수기업 </a:t>
            </a:r>
            <a:r>
              <a:rPr lang="en-US" altLang="ko-KR" dirty="0"/>
              <a:t>- </a:t>
            </a:r>
            <a:r>
              <a:rPr lang="ko-KR" altLang="en-US" dirty="0"/>
              <a:t>최근 </a:t>
            </a:r>
            <a:r>
              <a:rPr lang="en-US" altLang="ko-KR" dirty="0"/>
              <a:t>3</a:t>
            </a:r>
            <a:r>
              <a:rPr lang="ko-KR" altLang="en-US" dirty="0"/>
              <a:t>개월 평균 장애인 고용률이 </a:t>
            </a:r>
            <a:r>
              <a:rPr lang="en-US" altLang="ko-KR" dirty="0"/>
              <a:t>3%</a:t>
            </a:r>
            <a:r>
              <a:rPr lang="ko-KR" altLang="en-US" dirty="0" err="1"/>
              <a:t>이상임서</a:t>
            </a:r>
            <a:r>
              <a:rPr lang="ko-KR" altLang="en-US" dirty="0"/>
              <a:t> 최근 </a:t>
            </a:r>
            <a:r>
              <a:rPr lang="en-US" altLang="ko-KR" dirty="0"/>
              <a:t>3</a:t>
            </a:r>
            <a:r>
              <a:rPr lang="ko-KR" altLang="en-US" dirty="0"/>
              <a:t>개월 평균 장애인종업원이 </a:t>
            </a:r>
            <a:r>
              <a:rPr lang="en-US" altLang="ko-KR" dirty="0"/>
              <a:t>6</a:t>
            </a:r>
            <a:r>
              <a:rPr lang="ko-KR" altLang="en-US" dirty="0"/>
              <a:t>인 이상인 기업</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608932" y="315297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18459" y="29425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794594" y="349040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1319451" y="3563689"/>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여성기업지원 등</a:t>
            </a:r>
          </a:p>
        </p:txBody>
      </p:sp>
      <p:sp>
        <p:nvSpPr>
          <p:cNvPr id="159" name="TextBox 158">
            <a:extLst>
              <a:ext uri="{FF2B5EF4-FFF2-40B4-BE49-F238E27FC236}">
                <a16:creationId xmlns:a16="http://schemas.microsoft.com/office/drawing/2014/main" id="{FFC49AEA-2A8F-250C-A86A-A7751D9706C3}"/>
              </a:ext>
            </a:extLst>
          </p:cNvPr>
          <p:cNvSpPr txBox="1"/>
          <p:nvPr/>
        </p:nvSpPr>
        <p:spPr>
          <a:xfrm>
            <a:off x="794594" y="367418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1319451" y="3747469"/>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920743" y="374746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62" name="직사각형 161"/>
          <p:cNvSpPr/>
          <p:nvPr/>
        </p:nvSpPr>
        <p:spPr>
          <a:xfrm>
            <a:off x="719063" y="3908546"/>
            <a:ext cx="1639886" cy="241793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3" name="TextBox 162">
            <a:extLst>
              <a:ext uri="{FF2B5EF4-FFF2-40B4-BE49-F238E27FC236}">
                <a16:creationId xmlns:a16="http://schemas.microsoft.com/office/drawing/2014/main" id="{FFC49AEA-2A8F-250C-A86A-A7751D9706C3}"/>
              </a:ext>
            </a:extLst>
          </p:cNvPr>
          <p:cNvSpPr txBox="1"/>
          <p:nvPr/>
        </p:nvSpPr>
        <p:spPr>
          <a:xfrm>
            <a:off x="806126" y="390854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2534168" y="390854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6366" y="39085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8459" y="41232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18459" y="63264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2954538" y="39085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9" name="TextBox 168">
            <a:extLst>
              <a:ext uri="{FF2B5EF4-FFF2-40B4-BE49-F238E27FC236}">
                <a16:creationId xmlns:a16="http://schemas.microsoft.com/office/drawing/2014/main" id="{FFC49AEA-2A8F-250C-A86A-A7751D9706C3}"/>
              </a:ext>
            </a:extLst>
          </p:cNvPr>
          <p:cNvSpPr txBox="1"/>
          <p:nvPr/>
        </p:nvSpPr>
        <p:spPr>
          <a:xfrm>
            <a:off x="819976" y="416633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여성기원지원에 관한 법률에서 정한 기업으로서 중 소벤처기업부장관</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p>
          <a:p>
            <a:r>
              <a:rPr lang="en-US" altLang="ko-KR" dirty="0"/>
              <a:t>-10</a:t>
            </a:r>
            <a:r>
              <a:rPr lang="ko-KR" altLang="en-US" dirty="0"/>
              <a:t>년 이상</a:t>
            </a:r>
          </a:p>
          <a:p>
            <a:r>
              <a:rPr lang="en-US" altLang="ko-KR" dirty="0"/>
              <a:t>-5</a:t>
            </a:r>
            <a:r>
              <a:rPr lang="ko-KR" altLang="en-US" dirty="0" err="1"/>
              <a:t>년이상</a:t>
            </a:r>
            <a:r>
              <a:rPr lang="ko-KR" altLang="en-US" dirty="0"/>
              <a:t> </a:t>
            </a:r>
            <a:r>
              <a:rPr lang="en-US" altLang="ko-KR" dirty="0"/>
              <a:t>~ 10</a:t>
            </a:r>
            <a:r>
              <a:rPr lang="ko-KR" altLang="en-US" dirty="0"/>
              <a:t>년 미만</a:t>
            </a:r>
          </a:p>
          <a:p>
            <a:r>
              <a:rPr lang="en-US" altLang="ko-KR" dirty="0"/>
              <a:t>-3</a:t>
            </a:r>
            <a:r>
              <a:rPr lang="ko-KR" altLang="en-US" dirty="0" err="1"/>
              <a:t>년이상</a:t>
            </a:r>
            <a:r>
              <a:rPr lang="ko-KR" altLang="en-US" dirty="0"/>
              <a:t> </a:t>
            </a:r>
            <a:r>
              <a:rPr lang="en-US" altLang="ko-KR" dirty="0"/>
              <a:t>~ 5</a:t>
            </a:r>
            <a:r>
              <a:rPr lang="ko-KR" altLang="en-US" dirty="0"/>
              <a:t>년 미만</a:t>
            </a:r>
          </a:p>
          <a:p>
            <a:r>
              <a:rPr lang="en-US" altLang="ko-KR" dirty="0"/>
              <a:t>-3</a:t>
            </a:r>
            <a:r>
              <a:rPr lang="ko-KR" altLang="en-US" dirty="0"/>
              <a:t>년 미만</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2559238" y="4704947"/>
            <a:ext cx="168316"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r>
              <a:rPr lang="en-US" altLang="ko-KR" dirty="0"/>
              <a:t>0.35</a:t>
            </a:r>
          </a:p>
          <a:p>
            <a:r>
              <a:rPr lang="en-US" altLang="ko-KR" dirty="0"/>
              <a:t>0.3</a:t>
            </a:r>
          </a:p>
          <a:p>
            <a:r>
              <a:rPr lang="en-US" altLang="ko-KR" dirty="0"/>
              <a:t>0.25</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290592" y="51710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8459" y="51671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19976" y="521023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608932" y="525466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819976" y="551714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여성고용 우수기업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2608867" y="5658083"/>
            <a:ext cx="118687"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endParaRPr lang="en-US" altLang="ko-KR" dirty="0"/>
          </a:p>
          <a:p>
            <a:endParaRPr lang="en-US" altLang="ko-KR" dirty="0"/>
          </a:p>
          <a:p>
            <a:r>
              <a:rPr lang="en-US" altLang="ko-KR" dirty="0"/>
              <a:t>0.3</a:t>
            </a: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718459" y="547409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19976" y="5658083"/>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t>
            </a:r>
            <a:r>
              <a:rPr lang="ko-KR" altLang="en-US" dirty="0"/>
              <a:t>최근 </a:t>
            </a:r>
            <a:r>
              <a:rPr lang="en-US" altLang="ko-KR" dirty="0"/>
              <a:t>3</a:t>
            </a:r>
            <a:r>
              <a:rPr lang="ko-KR" altLang="en-US" dirty="0"/>
              <a:t>개월 평균 여성고용률이 </a:t>
            </a:r>
            <a:r>
              <a:rPr lang="en-US" altLang="ko-KR" dirty="0"/>
              <a:t>10%</a:t>
            </a:r>
            <a:r>
              <a:rPr lang="ko-KR" altLang="en-US" dirty="0"/>
              <a:t>이상이면서 최근 </a:t>
            </a:r>
            <a:r>
              <a:rPr lang="en-US" altLang="ko-KR" dirty="0"/>
              <a:t>3</a:t>
            </a:r>
            <a:r>
              <a:rPr lang="ko-KR" altLang="en-US" dirty="0"/>
              <a:t>개월 평균 여성종업원이 </a:t>
            </a:r>
            <a:r>
              <a:rPr lang="en-US" altLang="ko-KR" dirty="0"/>
              <a:t>10</a:t>
            </a:r>
            <a:r>
              <a:rPr lang="ko-KR" altLang="en-US" dirty="0"/>
              <a:t>인 이상인 기업</a:t>
            </a:r>
          </a:p>
          <a:p>
            <a:r>
              <a:rPr lang="en-US" altLang="ko-KR" dirty="0"/>
              <a:t>-</a:t>
            </a:r>
            <a:r>
              <a:rPr lang="ko-KR" altLang="en-US" dirty="0"/>
              <a:t>최근 </a:t>
            </a:r>
            <a:r>
              <a:rPr lang="en-US" altLang="ko-KR" dirty="0"/>
              <a:t>3</a:t>
            </a:r>
            <a:r>
              <a:rPr lang="ko-KR" altLang="en-US" dirty="0"/>
              <a:t>개월 평균 여성고용률이 </a:t>
            </a:r>
            <a:r>
              <a:rPr lang="en-US" altLang="ko-KR" dirty="0"/>
              <a:t>5%</a:t>
            </a:r>
            <a:r>
              <a:rPr lang="ko-KR" altLang="en-US" dirty="0"/>
              <a:t>이상이면서 최근 </a:t>
            </a:r>
            <a:r>
              <a:rPr lang="en-US" altLang="ko-KR" dirty="0"/>
              <a:t>3</a:t>
            </a:r>
            <a:r>
              <a:rPr lang="ko-KR" altLang="en-US" dirty="0"/>
              <a:t>개월 평균 여성종업원이 </a:t>
            </a:r>
            <a:r>
              <a:rPr lang="en-US" altLang="ko-KR" dirty="0"/>
              <a:t>5</a:t>
            </a:r>
            <a:r>
              <a:rPr lang="ko-KR" altLang="en-US" dirty="0"/>
              <a:t>인 이상인 기업</a:t>
            </a:r>
          </a:p>
          <a:p>
            <a:endParaRPr lang="ko-KR" altLang="en-US" dirty="0"/>
          </a:p>
        </p:txBody>
      </p:sp>
      <p:sp>
        <p:nvSpPr>
          <p:cNvPr id="186" name="TextBox 185">
            <a:extLst>
              <a:ext uri="{FF2B5EF4-FFF2-40B4-BE49-F238E27FC236}">
                <a16:creationId xmlns:a16="http://schemas.microsoft.com/office/drawing/2014/main" id="{FFC49AEA-2A8F-250C-A86A-A7751D9706C3}"/>
              </a:ext>
            </a:extLst>
          </p:cNvPr>
          <p:cNvSpPr txBox="1"/>
          <p:nvPr/>
        </p:nvSpPr>
        <p:spPr>
          <a:xfrm>
            <a:off x="3936517"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4461374" y="1564445"/>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정책지원</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3936517"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4461374" y="1748225"/>
            <a:ext cx="2010812" cy="107722"/>
          </a:xfrm>
          <a:prstGeom prst="rect">
            <a:avLst/>
          </a:prstGeom>
          <a:noFill/>
        </p:spPr>
        <p:txBody>
          <a:bodyPr wrap="square" lIns="0" tIns="0" rIns="0" bIns="0" rtlCol="0">
            <a:spAutoFit/>
          </a:bodyPr>
          <a:lstStyle/>
          <a:p>
            <a:r>
              <a:rPr lang="ko-KR" altLang="en-US" sz="700" dirty="0">
                <a:latin typeface="+mn-ea"/>
              </a:rPr>
              <a:t>부처별 정책지원</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6062666"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1" name="직사각형 190"/>
          <p:cNvSpPr/>
          <p:nvPr/>
        </p:nvSpPr>
        <p:spPr>
          <a:xfrm>
            <a:off x="3860986" y="1909302"/>
            <a:ext cx="1639886" cy="22025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2" name="TextBox 191">
            <a:extLst>
              <a:ext uri="{FF2B5EF4-FFF2-40B4-BE49-F238E27FC236}">
                <a16:creationId xmlns:a16="http://schemas.microsoft.com/office/drawing/2014/main" id="{FFC49AEA-2A8F-250C-A86A-A7751D9706C3}"/>
              </a:ext>
            </a:extLst>
          </p:cNvPr>
          <p:cNvSpPr txBox="1"/>
          <p:nvPr/>
        </p:nvSpPr>
        <p:spPr>
          <a:xfrm>
            <a:off x="3948049"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5676091"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58289"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860382"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3860382" y="41118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6096461"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3961899" y="2161237"/>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 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p>
          <a:p>
            <a:r>
              <a:rPr lang="en-US" altLang="ko-KR" dirty="0"/>
              <a:t>*</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50855" y="232281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6432515" y="306407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03" name="직선 연결선 202">
            <a:extLst>
              <a:ext uri="{FF2B5EF4-FFF2-40B4-BE49-F238E27FC236}">
                <a16:creationId xmlns:a16="http://schemas.microsoft.com/office/drawing/2014/main" id="{E9293055-D5CD-4B9E-7F64-64B2D2CA7A52}"/>
              </a:ext>
            </a:extLst>
          </p:cNvPr>
          <p:cNvCxnSpPr/>
          <p:nvPr/>
        </p:nvCxnSpPr>
        <p:spPr>
          <a:xfrm>
            <a:off x="3860382" y="26293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3961899" y="266651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비상대비자원 관리법에 따른 주무부장관이 확인한 비상대비 중점관리대상업체</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5750855" y="277423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61899" y="306406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err="1"/>
              <a:t>사회적기업</a:t>
            </a:r>
            <a:r>
              <a:rPr lang="ko-KR" altLang="en-US" dirty="0"/>
              <a:t> 육성법 제</a:t>
            </a:r>
            <a:r>
              <a:rPr lang="en-US" altLang="ko-KR" dirty="0"/>
              <a:t>7</a:t>
            </a:r>
            <a:r>
              <a:rPr lang="ko-KR" altLang="en-US" dirty="0"/>
              <a:t>조에 따른 고용노동부장관의 인증을 받은 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50855" y="311793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60382" y="302687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3961899" y="335390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5750855" y="346162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860382" y="33167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TextBox 215">
            <a:extLst>
              <a:ext uri="{FF2B5EF4-FFF2-40B4-BE49-F238E27FC236}">
                <a16:creationId xmlns:a16="http://schemas.microsoft.com/office/drawing/2014/main" id="{FFC49AEA-2A8F-250C-A86A-A7751D9706C3}"/>
              </a:ext>
            </a:extLst>
          </p:cNvPr>
          <p:cNvSpPr txBox="1"/>
          <p:nvPr/>
        </p:nvSpPr>
        <p:spPr>
          <a:xfrm>
            <a:off x="3961899" y="3751458"/>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E. </a:t>
            </a:r>
            <a:r>
              <a:rPr lang="ko-KR" altLang="en-US" dirty="0"/>
              <a:t>모범납세자관리규정 </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 제 </a:t>
            </a:r>
            <a:r>
              <a:rPr lang="en-US" altLang="ko-KR" dirty="0"/>
              <a:t>3</a:t>
            </a:r>
            <a:r>
              <a:rPr lang="ko-KR" altLang="en-US" dirty="0"/>
              <a:t>항 제 </a:t>
            </a:r>
            <a:r>
              <a:rPr lang="en-US" altLang="ko-KR" dirty="0"/>
              <a:t>1</a:t>
            </a:r>
            <a:r>
              <a:rPr lang="ko-KR" altLang="en-US" dirty="0"/>
              <a:t>호에 따른 모범납세자</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5701161" y="3859179"/>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3860382" y="371426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1" name="타원 9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707698438"/>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2682816"/>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2966570"/>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11" name="TextBox 10">
            <a:extLst>
              <a:ext uri="{FF2B5EF4-FFF2-40B4-BE49-F238E27FC236}">
                <a16:creationId xmlns:a16="http://schemas.microsoft.com/office/drawing/2014/main" id="{AC4C4897-C32F-B3F5-E1C5-D8DB3D6E6904}"/>
              </a:ext>
            </a:extLst>
          </p:cNvPr>
          <p:cNvSpPr txBox="1"/>
          <p:nvPr/>
        </p:nvSpPr>
        <p:spPr>
          <a:xfrm>
            <a:off x="460676" y="3737096"/>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DCB62277-9458-AC39-3630-6FD48BCD820E}"/>
              </a:ext>
            </a:extLst>
          </p:cNvPr>
          <p:cNvGraphicFramePr>
            <a:graphicFrameLocks noGrp="1"/>
          </p:cNvGraphicFramePr>
          <p:nvPr/>
        </p:nvGraphicFramePr>
        <p:xfrm>
          <a:off x="455558" y="402085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2" name="TextBox 1">
            <a:extLst>
              <a:ext uri="{FF2B5EF4-FFF2-40B4-BE49-F238E27FC236}">
                <a16:creationId xmlns:a16="http://schemas.microsoft.com/office/drawing/2014/main" id="{F5D0D654-ACD3-3FEF-E2C2-BC364DE7E9D6}"/>
              </a:ext>
            </a:extLst>
          </p:cNvPr>
          <p:cNvSpPr txBox="1"/>
          <p:nvPr/>
        </p:nvSpPr>
        <p:spPr>
          <a:xfrm>
            <a:off x="465794" y="5200633"/>
            <a:ext cx="265514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4B39A103-1482-7F70-A0FC-22116D70F155}"/>
              </a:ext>
            </a:extLst>
          </p:cNvPr>
          <p:cNvGraphicFramePr>
            <a:graphicFrameLocks noGrp="1"/>
          </p:cNvGraphicFramePr>
          <p:nvPr/>
        </p:nvGraphicFramePr>
        <p:xfrm>
          <a:off x="460676" y="5484387"/>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품질발생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품질발생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bl>
          </a:graphicData>
        </a:graphic>
      </p:graphicFrame>
      <p:sp>
        <p:nvSpPr>
          <p:cNvPr id="7" name="Text Box 73">
            <a:extLst>
              <a:ext uri="{FF2B5EF4-FFF2-40B4-BE49-F238E27FC236}">
                <a16:creationId xmlns:a16="http://schemas.microsoft.com/office/drawing/2014/main" id="{C449F29D-0743-ADCF-7F8D-93330A28255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82378684"/>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37985"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고용창출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고용창출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2" name="TextBox 1">
            <a:extLst>
              <a:ext uri="{FF2B5EF4-FFF2-40B4-BE49-F238E27FC236}">
                <a16:creationId xmlns:a16="http://schemas.microsoft.com/office/drawing/2014/main" id="{76DE29D7-5EBF-2A1B-D243-18A431A825CA}"/>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4000EBE8-C552-1A53-F315-3CE4DEBD3CB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33937441"/>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333</a:t>
            </a:fld>
            <a:endParaRPr lang="ko-KR" altLang="en-US" dirty="0"/>
          </a:p>
        </p:txBody>
      </p:sp>
      <p:sp>
        <p:nvSpPr>
          <p:cNvPr id="7" name="TextBox 6">
            <a:extLst>
              <a:ext uri="{FF2B5EF4-FFF2-40B4-BE49-F238E27FC236}">
                <a16:creationId xmlns:a16="http://schemas.microsoft.com/office/drawing/2014/main" id="{7B924E74-473F-C804-E6CF-9ACB88255AA1}"/>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8" name="표 7">
            <a:extLst>
              <a:ext uri="{FF2B5EF4-FFF2-40B4-BE49-F238E27FC236}">
                <a16:creationId xmlns:a16="http://schemas.microsoft.com/office/drawing/2014/main" id="{1315B6ED-D3B4-2ADA-1DD5-AF43F9C3A244}"/>
              </a:ext>
            </a:extLst>
          </p:cNvPr>
          <p:cNvGraphicFramePr>
            <a:graphicFrameLocks noGrp="1"/>
          </p:cNvGraphicFramePr>
          <p:nvPr>
            <p:extLst>
              <p:ext uri="{D42A27DB-BD31-4B8C-83A1-F6EECF244321}">
                <p14:modId xmlns:p14="http://schemas.microsoft.com/office/powerpoint/2010/main" val="3684228045"/>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4" name="Text Box 73">
            <a:extLst>
              <a:ext uri="{FF2B5EF4-FFF2-40B4-BE49-F238E27FC236}">
                <a16:creationId xmlns:a16="http://schemas.microsoft.com/office/drawing/2014/main" id="{983C1BD8-B1D7-FAFF-8463-FDE47CAD1F2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81218648"/>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3823602" y="1981278"/>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TextBox 40">
            <a:extLst>
              <a:ext uri="{FF2B5EF4-FFF2-40B4-BE49-F238E27FC236}">
                <a16:creationId xmlns:a16="http://schemas.microsoft.com/office/drawing/2014/main" id="{FFC49AEA-2A8F-250C-A86A-A7751D9706C3}"/>
              </a:ext>
            </a:extLst>
          </p:cNvPr>
          <p:cNvSpPr txBox="1"/>
          <p:nvPr/>
        </p:nvSpPr>
        <p:spPr>
          <a:xfrm>
            <a:off x="3910665" y="1981279"/>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42" name="TextBox 41">
            <a:extLst>
              <a:ext uri="{FF2B5EF4-FFF2-40B4-BE49-F238E27FC236}">
                <a16:creationId xmlns:a16="http://schemas.microsoft.com/office/drawing/2014/main" id="{FFC49AEA-2A8F-250C-A86A-A7751D9706C3}"/>
              </a:ext>
            </a:extLst>
          </p:cNvPr>
          <p:cNvSpPr txBox="1"/>
          <p:nvPr/>
        </p:nvSpPr>
        <p:spPr>
          <a:xfrm>
            <a:off x="5492833" y="1981279"/>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43" name="그룹 42"/>
          <p:cNvGrpSpPr/>
          <p:nvPr/>
        </p:nvGrpSpPr>
        <p:grpSpPr>
          <a:xfrm>
            <a:off x="3821510" y="1981279"/>
            <a:ext cx="2630093" cy="429480"/>
            <a:chOff x="701175" y="1835481"/>
            <a:chExt cx="2630093" cy="429480"/>
          </a:xfrm>
        </p:grpSpPr>
        <p:cxnSp>
          <p:nvCxnSpPr>
            <p:cNvPr id="44" name="직선 연결선 4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5" name="직선 연결선 4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6" name="직선 연결선 4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8" name="TextBox 57">
            <a:extLst>
              <a:ext uri="{FF2B5EF4-FFF2-40B4-BE49-F238E27FC236}">
                <a16:creationId xmlns:a16="http://schemas.microsoft.com/office/drawing/2014/main" id="{FFC49AEA-2A8F-250C-A86A-A7751D9706C3}"/>
              </a:ext>
            </a:extLst>
          </p:cNvPr>
          <p:cNvSpPr txBox="1"/>
          <p:nvPr/>
        </p:nvSpPr>
        <p:spPr>
          <a:xfrm>
            <a:off x="3882481" y="149392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60" name="TextBox 59">
            <a:extLst>
              <a:ext uri="{FF2B5EF4-FFF2-40B4-BE49-F238E27FC236}">
                <a16:creationId xmlns:a16="http://schemas.microsoft.com/office/drawing/2014/main" id="{FFC49AEA-2A8F-250C-A86A-A7751D9706C3}"/>
              </a:ext>
            </a:extLst>
          </p:cNvPr>
          <p:cNvSpPr txBox="1"/>
          <p:nvPr/>
        </p:nvSpPr>
        <p:spPr>
          <a:xfrm>
            <a:off x="3882481" y="169416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61" name="TextBox 60">
            <a:extLst>
              <a:ext uri="{FF2B5EF4-FFF2-40B4-BE49-F238E27FC236}">
                <a16:creationId xmlns:a16="http://schemas.microsoft.com/office/drawing/2014/main" id="{FFC49AEA-2A8F-250C-A86A-A7751D9706C3}"/>
              </a:ext>
            </a:extLst>
          </p:cNvPr>
          <p:cNvSpPr txBox="1"/>
          <p:nvPr/>
        </p:nvSpPr>
        <p:spPr>
          <a:xfrm>
            <a:off x="6059077" y="1981279"/>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 </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49486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702517" y="5478506"/>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직사각형 169"/>
          <p:cNvSpPr/>
          <p:nvPr/>
        </p:nvSpPr>
        <p:spPr>
          <a:xfrm>
            <a:off x="3823602" y="2737961"/>
            <a:ext cx="1639886" cy="117252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10665" y="2737962"/>
            <a:ext cx="1480199" cy="861774"/>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a:t>
            </a:r>
            <a:r>
              <a:rPr lang="ko-KR" altLang="en-US" sz="700" dirty="0" err="1">
                <a:latin typeface="+mn-ea"/>
              </a:rPr>
              <a:t>고도인증</a:t>
            </a:r>
            <a:endParaRPr lang="ko-KR" altLang="en-US" sz="700" dirty="0">
              <a:latin typeface="+mn-ea"/>
            </a:endParaRPr>
          </a:p>
          <a:p>
            <a:pPr>
              <a:lnSpc>
                <a:spcPct val="200000"/>
              </a:lnSpc>
            </a:pP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ko-KR" altLang="en-US" sz="700" dirty="0">
              <a:latin typeface="+mn-ea"/>
            </a:endParaRPr>
          </a:p>
          <a:p>
            <a:pPr>
              <a:lnSpc>
                <a:spcPct val="200000"/>
              </a:lnSpc>
            </a:pPr>
            <a:r>
              <a:rPr lang="ko-KR" altLang="en-US" sz="700" dirty="0">
                <a:latin typeface="+mn-ea"/>
              </a:rPr>
              <a:t>다</a:t>
            </a:r>
            <a:r>
              <a:rPr lang="en-US" altLang="ko-KR" sz="700" dirty="0">
                <a:latin typeface="+mn-ea"/>
              </a:rPr>
              <a:t>.</a:t>
            </a:r>
            <a:r>
              <a:rPr lang="ko-KR" altLang="en-US" sz="700" dirty="0">
                <a:latin typeface="+mn-ea"/>
              </a:rPr>
              <a:t>영세기업 지원</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5638643" y="2737962"/>
            <a:ext cx="179600" cy="86177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1.5</a:t>
            </a:r>
          </a:p>
          <a:p>
            <a:pPr algn="r">
              <a:lnSpc>
                <a:spcPct val="200000"/>
              </a:lnSpc>
            </a:pPr>
            <a:r>
              <a:rPr lang="en-US" altLang="ko-KR" sz="700" dirty="0">
                <a:latin typeface="+mn-ea"/>
              </a:rPr>
              <a:t>0.75</a:t>
            </a:r>
          </a:p>
          <a:p>
            <a:pPr algn="r">
              <a:lnSpc>
                <a:spcPct val="200000"/>
              </a:lnSpc>
            </a:pPr>
            <a:r>
              <a:rPr lang="en-US" altLang="ko-KR" sz="700" dirty="0">
                <a:latin typeface="+mn-ea"/>
              </a:rPr>
              <a:t>3.0</a:t>
            </a:r>
          </a:p>
        </p:txBody>
      </p:sp>
      <p:grpSp>
        <p:nvGrpSpPr>
          <p:cNvPr id="173" name="그룹 172"/>
          <p:cNvGrpSpPr/>
          <p:nvPr/>
        </p:nvGrpSpPr>
        <p:grpSpPr>
          <a:xfrm>
            <a:off x="3821510" y="2737962"/>
            <a:ext cx="2630093" cy="1173978"/>
            <a:chOff x="701175" y="1835481"/>
            <a:chExt cx="2630093" cy="1173978"/>
          </a:xfrm>
        </p:grpSpPr>
        <p:cxnSp>
          <p:nvCxnSpPr>
            <p:cNvPr id="174" name="직선 연결선 17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3268" y="30094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3882481" y="245084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6059077" y="2737962"/>
            <a:ext cx="359073" cy="861774"/>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85" name="직사각형 184"/>
          <p:cNvSpPr/>
          <p:nvPr/>
        </p:nvSpPr>
        <p:spPr>
          <a:xfrm>
            <a:off x="3823602" y="4238781"/>
            <a:ext cx="1639886" cy="66149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TextBox 185">
            <a:extLst>
              <a:ext uri="{FF2B5EF4-FFF2-40B4-BE49-F238E27FC236}">
                <a16:creationId xmlns:a16="http://schemas.microsoft.com/office/drawing/2014/main" id="{FFC49AEA-2A8F-250C-A86A-A7751D9706C3}"/>
              </a:ext>
            </a:extLst>
          </p:cNvPr>
          <p:cNvSpPr txBox="1"/>
          <p:nvPr/>
        </p:nvSpPr>
        <p:spPr>
          <a:xfrm>
            <a:off x="3910665" y="4238782"/>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87" name="TextBox 186">
            <a:extLst>
              <a:ext uri="{FF2B5EF4-FFF2-40B4-BE49-F238E27FC236}">
                <a16:creationId xmlns:a16="http://schemas.microsoft.com/office/drawing/2014/main" id="{FFC49AEA-2A8F-250C-A86A-A7751D9706C3}"/>
              </a:ext>
            </a:extLst>
          </p:cNvPr>
          <p:cNvSpPr txBox="1"/>
          <p:nvPr/>
        </p:nvSpPr>
        <p:spPr>
          <a:xfrm>
            <a:off x="5638707" y="4238782"/>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88" name="그룹 187"/>
          <p:cNvGrpSpPr/>
          <p:nvPr/>
        </p:nvGrpSpPr>
        <p:grpSpPr>
          <a:xfrm>
            <a:off x="3821510" y="4238782"/>
            <a:ext cx="2630093" cy="661496"/>
            <a:chOff x="701175" y="1835481"/>
            <a:chExt cx="2630093" cy="661496"/>
          </a:xfrm>
        </p:grpSpPr>
        <p:cxnSp>
          <p:nvCxnSpPr>
            <p:cNvPr id="189" name="직선 연결선 18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3268" y="24969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3" name="TextBox 192">
            <a:extLst>
              <a:ext uri="{FF2B5EF4-FFF2-40B4-BE49-F238E27FC236}">
                <a16:creationId xmlns:a16="http://schemas.microsoft.com/office/drawing/2014/main" id="{FFC49AEA-2A8F-250C-A86A-A7751D9706C3}"/>
              </a:ext>
            </a:extLst>
          </p:cNvPr>
          <p:cNvSpPr txBox="1"/>
          <p:nvPr/>
        </p:nvSpPr>
        <p:spPr>
          <a:xfrm>
            <a:off x="3882481" y="395166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6059077" y="423878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5" name="직사각형 194"/>
          <p:cNvSpPr/>
          <p:nvPr/>
        </p:nvSpPr>
        <p:spPr>
          <a:xfrm>
            <a:off x="3823602" y="5501188"/>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6" name="TextBox 195">
            <a:extLst>
              <a:ext uri="{FF2B5EF4-FFF2-40B4-BE49-F238E27FC236}">
                <a16:creationId xmlns:a16="http://schemas.microsoft.com/office/drawing/2014/main" id="{FFC49AEA-2A8F-250C-A86A-A7751D9706C3}"/>
              </a:ext>
            </a:extLst>
          </p:cNvPr>
          <p:cNvSpPr txBox="1"/>
          <p:nvPr/>
        </p:nvSpPr>
        <p:spPr>
          <a:xfrm>
            <a:off x="3910665" y="5501189"/>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5638707" y="55011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98" name="그룹 197"/>
          <p:cNvGrpSpPr/>
          <p:nvPr/>
        </p:nvGrpSpPr>
        <p:grpSpPr>
          <a:xfrm>
            <a:off x="3821510" y="5501189"/>
            <a:ext cx="2630093" cy="608278"/>
            <a:chOff x="701175" y="1835481"/>
            <a:chExt cx="2630093" cy="608278"/>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24437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2" name="TextBox 201">
            <a:extLst>
              <a:ext uri="{FF2B5EF4-FFF2-40B4-BE49-F238E27FC236}">
                <a16:creationId xmlns:a16="http://schemas.microsoft.com/office/drawing/2014/main" id="{FFC49AEA-2A8F-250C-A86A-A7751D9706C3}"/>
              </a:ext>
            </a:extLst>
          </p:cNvPr>
          <p:cNvSpPr txBox="1"/>
          <p:nvPr/>
        </p:nvSpPr>
        <p:spPr>
          <a:xfrm>
            <a:off x="3882481" y="501383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3882481" y="52140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6059077" y="550118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4" y="495924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5811265"/>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690882" y="5865126"/>
            <a:ext cx="136256"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6390176" y="58651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3919560" y="3646844"/>
            <a:ext cx="1480199" cy="215444"/>
          </a:xfrm>
          <a:prstGeom prst="rect">
            <a:avLst/>
          </a:prstGeom>
          <a:noFill/>
        </p:spPr>
        <p:txBody>
          <a:bodyPr wrap="square" lIns="0" tIns="0" rIns="0" bIns="0" rtlCol="0">
            <a:spAutoFit/>
          </a:bodyPr>
          <a:lstStyle/>
          <a:p>
            <a:r>
              <a:rPr lang="ko-KR" altLang="en-US" sz="700" dirty="0">
                <a:latin typeface="+mn-ea"/>
              </a:rPr>
              <a:t>라</a:t>
            </a:r>
            <a:r>
              <a:rPr lang="en-US" altLang="ko-KR" sz="700" dirty="0">
                <a:latin typeface="+mn-ea"/>
              </a:rPr>
              <a:t>.</a:t>
            </a:r>
            <a:r>
              <a:rPr lang="ko-KR" altLang="en-US" sz="700" dirty="0">
                <a:latin typeface="+mn-ea"/>
              </a:rPr>
              <a:t>기타</a:t>
            </a:r>
            <a:r>
              <a:rPr lang="en-US" altLang="ko-KR" sz="700" dirty="0">
                <a:latin typeface="+mn-ea"/>
              </a:rPr>
              <a:t>(</a:t>
            </a:r>
            <a:r>
              <a:rPr lang="ko-KR" altLang="en-US" sz="700" dirty="0">
                <a:latin typeface="+mn-ea"/>
              </a:rPr>
              <a:t>여성기업</a:t>
            </a:r>
            <a:r>
              <a:rPr lang="en-US" altLang="ko-KR" sz="700" dirty="0">
                <a:latin typeface="+mn-ea"/>
              </a:rPr>
              <a:t>, </a:t>
            </a:r>
            <a:r>
              <a:rPr lang="ko-KR" altLang="en-US" sz="700" dirty="0">
                <a:latin typeface="+mn-ea"/>
              </a:rPr>
              <a:t>장애인기업 및 장애인고용 우수기업 </a:t>
            </a:r>
            <a:r>
              <a:rPr lang="ko-KR" altLang="en-US" sz="700" dirty="0" err="1">
                <a:latin typeface="+mn-ea"/>
              </a:rPr>
              <a:t>지원등</a:t>
            </a:r>
            <a:r>
              <a:rPr lang="en-US" altLang="ko-KR" sz="700" dirty="0">
                <a:latin typeface="+mn-ea"/>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5708515" y="368306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6390176" y="36830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1" name="TextBox 110">
            <a:extLst>
              <a:ext uri="{FF2B5EF4-FFF2-40B4-BE49-F238E27FC236}">
                <a16:creationId xmlns:a16="http://schemas.microsoft.com/office/drawing/2014/main" id="{FFC49AEA-2A8F-250C-A86A-A7751D9706C3}"/>
              </a:ext>
            </a:extLst>
          </p:cNvPr>
          <p:cNvSpPr txBox="1"/>
          <p:nvPr/>
        </p:nvSpPr>
        <p:spPr>
          <a:xfrm>
            <a:off x="3919560" y="4533389"/>
            <a:ext cx="1480199" cy="323165"/>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err="1">
                <a:latin typeface="+mn-ea"/>
              </a:rPr>
              <a:t>납품지연</a:t>
            </a:r>
            <a:endParaRPr lang="ko-KR" altLang="en-US" sz="700" dirty="0">
              <a:latin typeface="+mn-ea"/>
            </a:endParaRPr>
          </a:p>
          <a:p>
            <a:r>
              <a:rPr lang="ko-KR" altLang="en-US" sz="700" dirty="0">
                <a:latin typeface="+mn-ea"/>
              </a:rPr>
              <a:t>나</a:t>
            </a:r>
            <a:r>
              <a:rPr lang="en-US" altLang="ko-KR" sz="700" dirty="0">
                <a:latin typeface="+mn-ea"/>
              </a:rPr>
              <a:t>.</a:t>
            </a:r>
            <a:r>
              <a:rPr lang="ko-KR" altLang="en-US" sz="700" dirty="0">
                <a:latin typeface="+mn-ea"/>
              </a:rPr>
              <a:t>불공정 하도급거래</a:t>
            </a:r>
          </a:p>
          <a:p>
            <a:r>
              <a:rPr lang="ko-KR" altLang="en-US" sz="700" dirty="0">
                <a:latin typeface="+mn-ea"/>
              </a:rPr>
              <a:t>다</a:t>
            </a:r>
            <a:r>
              <a:rPr lang="en-US" altLang="ko-KR" sz="700" dirty="0">
                <a:latin typeface="+mn-ea"/>
              </a:rPr>
              <a:t>.</a:t>
            </a:r>
            <a:r>
              <a:rPr lang="ko-KR" altLang="en-US" sz="700" dirty="0">
                <a:latin typeface="+mn-ea"/>
              </a:rPr>
              <a:t>부정당업자 제재</a:t>
            </a:r>
          </a:p>
        </p:txBody>
      </p:sp>
      <p:sp>
        <p:nvSpPr>
          <p:cNvPr id="112" name="TextBox 111">
            <a:extLst>
              <a:ext uri="{FF2B5EF4-FFF2-40B4-BE49-F238E27FC236}">
                <a16:creationId xmlns:a16="http://schemas.microsoft.com/office/drawing/2014/main" id="{FFC49AEA-2A8F-250C-A86A-A7751D9706C3}"/>
              </a:ext>
            </a:extLst>
          </p:cNvPr>
          <p:cNvSpPr txBox="1"/>
          <p:nvPr/>
        </p:nvSpPr>
        <p:spPr>
          <a:xfrm>
            <a:off x="5671646" y="4569613"/>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6390176" y="45696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Tree>
    <p:extLst>
      <p:ext uri="{BB962C8B-B14F-4D97-AF65-F5344CB8AC3E}">
        <p14:creationId xmlns:p14="http://schemas.microsoft.com/office/powerpoint/2010/main" val="112100647"/>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TextBox 35">
            <a:extLst>
              <a:ext uri="{FF2B5EF4-FFF2-40B4-BE49-F238E27FC236}">
                <a16:creationId xmlns:a16="http://schemas.microsoft.com/office/drawing/2014/main" id="{FFC49AEA-2A8F-250C-A86A-A7751D9706C3}"/>
              </a:ext>
            </a:extLst>
          </p:cNvPr>
          <p:cNvSpPr txBox="1"/>
          <p:nvPr/>
        </p:nvSpPr>
        <p:spPr>
          <a:xfrm>
            <a:off x="3882481"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37" name="그룹 36"/>
          <p:cNvGrpSpPr/>
          <p:nvPr/>
        </p:nvGrpSpPr>
        <p:grpSpPr>
          <a:xfrm flipV="1">
            <a:off x="6244568" y="1641327"/>
            <a:ext cx="94010" cy="47005"/>
            <a:chOff x="6812560" y="3297172"/>
            <a:chExt cx="94010" cy="47005"/>
          </a:xfrm>
        </p:grpSpPr>
        <p:cxnSp>
          <p:nvCxnSpPr>
            <p:cNvPr id="38" name="직선 연결선 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9" name="직선 연결선 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5734"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10" name="그룹 109"/>
          <p:cNvGrpSpPr/>
          <p:nvPr/>
        </p:nvGrpSpPr>
        <p:grpSpPr>
          <a:xfrm>
            <a:off x="701175" y="1876425"/>
            <a:ext cx="2630093" cy="646331"/>
            <a:chOff x="701175" y="1835481"/>
            <a:chExt cx="2630093" cy="646331"/>
          </a:xfrm>
        </p:grpSpPr>
        <p:sp>
          <p:nvSpPr>
            <p:cNvPr id="113" name="직사각형 112"/>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116" name="그룹 115"/>
            <p:cNvGrpSpPr/>
            <p:nvPr/>
          </p:nvGrpSpPr>
          <p:grpSpPr>
            <a:xfrm>
              <a:off x="701175" y="1835481"/>
              <a:ext cx="2630093" cy="644220"/>
              <a:chOff x="701175" y="1835481"/>
              <a:chExt cx="2630093" cy="644220"/>
            </a:xfrm>
          </p:grpSpPr>
          <p:cxnSp>
            <p:nvCxnSpPr>
              <p:cNvPr id="117" name="직선 연결선 11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15" name="TextBox 214">
            <a:extLst>
              <a:ext uri="{FF2B5EF4-FFF2-40B4-BE49-F238E27FC236}">
                <a16:creationId xmlns:a16="http://schemas.microsoft.com/office/drawing/2014/main" id="{FFC49AEA-2A8F-250C-A86A-A7751D9706C3}"/>
              </a:ext>
            </a:extLst>
          </p:cNvPr>
          <p:cNvSpPr txBox="1"/>
          <p:nvPr/>
        </p:nvSpPr>
        <p:spPr>
          <a:xfrm>
            <a:off x="763488" y="2656994"/>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p>
        </p:txBody>
      </p:sp>
      <p:grpSp>
        <p:nvGrpSpPr>
          <p:cNvPr id="216" name="그룹 215"/>
          <p:cNvGrpSpPr/>
          <p:nvPr/>
        </p:nvGrpSpPr>
        <p:grpSpPr>
          <a:xfrm flipV="1">
            <a:off x="3125575" y="2770325"/>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676741"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676741"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2" name="그룹 221"/>
          <p:cNvGrpSpPr/>
          <p:nvPr/>
        </p:nvGrpSpPr>
        <p:grpSpPr>
          <a:xfrm>
            <a:off x="701175" y="3005422"/>
            <a:ext cx="2630093" cy="1094598"/>
            <a:chOff x="701175" y="1835480"/>
            <a:chExt cx="2630093" cy="1094598"/>
          </a:xfrm>
        </p:grpSpPr>
        <p:sp>
          <p:nvSpPr>
            <p:cNvPr id="223" name="직사각형 222"/>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6" name="그룹 225"/>
            <p:cNvGrpSpPr/>
            <p:nvPr/>
          </p:nvGrpSpPr>
          <p:grpSpPr>
            <a:xfrm>
              <a:off x="701175" y="1835481"/>
              <a:ext cx="2630093" cy="1094597"/>
              <a:chOff x="701175" y="1835481"/>
              <a:chExt cx="2630093" cy="1094597"/>
            </a:xfrm>
          </p:grpSpPr>
          <p:cxnSp>
            <p:nvCxnSpPr>
              <p:cNvPr id="227" name="직선 연결선 2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3" name="TextBox 232">
            <a:extLst>
              <a:ext uri="{FF2B5EF4-FFF2-40B4-BE49-F238E27FC236}">
                <a16:creationId xmlns:a16="http://schemas.microsoft.com/office/drawing/2014/main" id="{FFC49AEA-2A8F-250C-A86A-A7751D9706C3}"/>
              </a:ext>
            </a:extLst>
          </p:cNvPr>
          <p:cNvSpPr txBox="1"/>
          <p:nvPr/>
        </p:nvSpPr>
        <p:spPr>
          <a:xfrm>
            <a:off x="763487"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58</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sp>
        <p:nvSpPr>
          <p:cNvPr id="234" name="직사각형 233"/>
          <p:cNvSpPr/>
          <p:nvPr/>
        </p:nvSpPr>
        <p:spPr>
          <a:xfrm>
            <a:off x="3832497" y="2555584"/>
            <a:ext cx="1639886" cy="8890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9560"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6" name="TextBox 235">
            <a:extLst>
              <a:ext uri="{FF2B5EF4-FFF2-40B4-BE49-F238E27FC236}">
                <a16:creationId xmlns:a16="http://schemas.microsoft.com/office/drawing/2014/main" id="{FFC49AEA-2A8F-250C-A86A-A7751D9706C3}"/>
              </a:ext>
            </a:extLst>
          </p:cNvPr>
          <p:cNvSpPr txBox="1"/>
          <p:nvPr/>
        </p:nvSpPr>
        <p:spPr>
          <a:xfrm>
            <a:off x="5647602"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9" name="직선 연결선 258">
            <a:extLst>
              <a:ext uri="{FF2B5EF4-FFF2-40B4-BE49-F238E27FC236}">
                <a16:creationId xmlns:a16="http://schemas.microsoft.com/office/drawing/2014/main" id="{E9293055-D5CD-4B9E-7F64-64B2D2CA7A52}"/>
              </a:ext>
            </a:extLst>
          </p:cNvPr>
          <p:cNvCxnSpPr/>
          <p:nvPr/>
        </p:nvCxnSpPr>
        <p:spPr>
          <a:xfrm>
            <a:off x="3832498" y="3449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2" name="TextBox 241">
            <a:extLst>
              <a:ext uri="{FF2B5EF4-FFF2-40B4-BE49-F238E27FC236}">
                <a16:creationId xmlns:a16="http://schemas.microsoft.com/office/drawing/2014/main" id="{FFC49AEA-2A8F-250C-A86A-A7751D9706C3}"/>
              </a:ext>
            </a:extLst>
          </p:cNvPr>
          <p:cNvSpPr txBox="1"/>
          <p:nvPr/>
        </p:nvSpPr>
        <p:spPr>
          <a:xfrm>
            <a:off x="3891376"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3891376"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a:t>
            </a:r>
            <a:r>
              <a:rPr lang="ko-KR" altLang="en-US" sz="700" dirty="0" err="1">
                <a:latin typeface="+mn-ea"/>
              </a:rPr>
              <a:t>고도인증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고도기술에</a:t>
            </a:r>
            <a:r>
              <a:rPr lang="ko-KR" altLang="en-US" sz="700" dirty="0">
                <a:latin typeface="+mn-ea"/>
              </a:rPr>
              <a:t> 대한 인증</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6067972"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3919560" y="2845534"/>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주무부 장관 등이 인증한 신기술</a:t>
            </a:r>
            <a:r>
              <a:rPr lang="en-US" altLang="ko-KR" sz="700" dirty="0">
                <a:latin typeface="+mn-ea"/>
              </a:rPr>
              <a:t>(NET, NEP)</a:t>
            </a:r>
            <a:r>
              <a:rPr lang="ko-KR" altLang="en-US" sz="700" dirty="0">
                <a:latin typeface="+mn-ea"/>
              </a:rPr>
              <a:t>인증</a:t>
            </a:r>
            <a:r>
              <a:rPr lang="en-US" altLang="ko-KR" sz="700" dirty="0">
                <a:latin typeface="+mn-ea"/>
              </a:rPr>
              <a:t>, </a:t>
            </a:r>
            <a:r>
              <a:rPr lang="ko-KR" altLang="en-US" sz="700" dirty="0">
                <a:latin typeface="+mn-ea"/>
              </a:rPr>
              <a:t>조달우수제품인증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보유자</a:t>
            </a:r>
          </a:p>
          <a:p>
            <a:r>
              <a:rPr lang="en-US" altLang="ko-KR" sz="700" dirty="0">
                <a:latin typeface="+mn-ea"/>
              </a:rPr>
              <a:t>B.</a:t>
            </a:r>
            <a:r>
              <a:rPr lang="ko-KR" altLang="en-US" sz="700" dirty="0">
                <a:latin typeface="+mn-ea"/>
              </a:rPr>
              <a:t>녹색기술인증보유자</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708516" y="3060977"/>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60" name="직사각형 259"/>
          <p:cNvSpPr/>
          <p:nvPr/>
        </p:nvSpPr>
        <p:spPr>
          <a:xfrm>
            <a:off x="3832497" y="3968929"/>
            <a:ext cx="1639886" cy="1226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1" name="TextBox 260">
            <a:extLst>
              <a:ext uri="{FF2B5EF4-FFF2-40B4-BE49-F238E27FC236}">
                <a16:creationId xmlns:a16="http://schemas.microsoft.com/office/drawing/2014/main" id="{FFC49AEA-2A8F-250C-A86A-A7751D9706C3}"/>
              </a:ext>
            </a:extLst>
          </p:cNvPr>
          <p:cNvSpPr txBox="1"/>
          <p:nvPr/>
        </p:nvSpPr>
        <p:spPr>
          <a:xfrm>
            <a:off x="3919560" y="39689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5647602" y="39689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3830405" y="39689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5" name="직선 연결선 264">
            <a:extLst>
              <a:ext uri="{FF2B5EF4-FFF2-40B4-BE49-F238E27FC236}">
                <a16:creationId xmlns:a16="http://schemas.microsoft.com/office/drawing/2014/main" id="{E9293055-D5CD-4B9E-7F64-64B2D2CA7A52}"/>
              </a:ext>
            </a:extLst>
          </p:cNvPr>
          <p:cNvCxnSpPr/>
          <p:nvPr/>
        </p:nvCxnSpPr>
        <p:spPr>
          <a:xfrm>
            <a:off x="3832498" y="41836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32498" y="5195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9" name="TextBox 268">
            <a:extLst>
              <a:ext uri="{FF2B5EF4-FFF2-40B4-BE49-F238E27FC236}">
                <a16:creationId xmlns:a16="http://schemas.microsoft.com/office/drawing/2014/main" id="{FFC49AEA-2A8F-250C-A86A-A7751D9706C3}"/>
              </a:ext>
            </a:extLst>
          </p:cNvPr>
          <p:cNvSpPr txBox="1"/>
          <p:nvPr/>
        </p:nvSpPr>
        <p:spPr>
          <a:xfrm>
            <a:off x="3891376" y="34829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일반기술</a:t>
            </a:r>
            <a:r>
              <a:rPr lang="ko-KR" altLang="en-US" sz="700" dirty="0">
                <a:latin typeface="+mn-ea"/>
              </a:rPr>
              <a:t> 및 친환경</a:t>
            </a:r>
            <a:r>
              <a:rPr lang="en-US" altLang="ko-KR" sz="700" dirty="0">
                <a:latin typeface="+mn-ea"/>
              </a:rPr>
              <a:t>,</a:t>
            </a:r>
            <a:r>
              <a:rPr lang="ko-KR" altLang="en-US" sz="700" dirty="0">
                <a:latin typeface="+mn-ea"/>
              </a:rPr>
              <a:t>품질</a:t>
            </a:r>
            <a:r>
              <a:rPr lang="en-US" altLang="ko-KR" sz="700" dirty="0">
                <a:latin typeface="+mn-ea"/>
              </a:rPr>
              <a:t>,</a:t>
            </a:r>
            <a:r>
              <a:rPr lang="ko-KR" altLang="en-US" sz="700" dirty="0" err="1">
                <a:latin typeface="+mn-ea"/>
              </a:rPr>
              <a:t>규격등에</a:t>
            </a:r>
            <a:r>
              <a:rPr lang="ko-KR" altLang="en-US" sz="700" dirty="0">
                <a:latin typeface="+mn-ea"/>
              </a:rPr>
              <a:t> 대한 인증</a:t>
            </a:r>
          </a:p>
        </p:txBody>
      </p:sp>
      <p:sp>
        <p:nvSpPr>
          <p:cNvPr id="270" name="TextBox 269">
            <a:extLst>
              <a:ext uri="{FF2B5EF4-FFF2-40B4-BE49-F238E27FC236}">
                <a16:creationId xmlns:a16="http://schemas.microsoft.com/office/drawing/2014/main" id="{FFC49AEA-2A8F-250C-A86A-A7751D9706C3}"/>
              </a:ext>
            </a:extLst>
          </p:cNvPr>
          <p:cNvSpPr txBox="1"/>
          <p:nvPr/>
        </p:nvSpPr>
        <p:spPr>
          <a:xfrm>
            <a:off x="6067972" y="39689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3919560" y="4258291"/>
            <a:ext cx="1480199" cy="861774"/>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특허</a:t>
            </a:r>
            <a:r>
              <a:rPr lang="en-US" altLang="ko-KR" sz="700" dirty="0">
                <a:latin typeface="+mn-ea"/>
              </a:rPr>
              <a:t>, </a:t>
            </a:r>
            <a:r>
              <a:rPr lang="ko-KR" altLang="en-US" sz="700" dirty="0">
                <a:latin typeface="+mn-ea"/>
              </a:rPr>
              <a:t>디자인 등록 보유자</a:t>
            </a:r>
            <a:r>
              <a:rPr lang="en-US" altLang="ko-KR" sz="700" dirty="0">
                <a:latin typeface="+mn-ea"/>
              </a:rPr>
              <a:t>, GS(</a:t>
            </a:r>
            <a:r>
              <a:rPr lang="ko-KR" altLang="en-US" sz="700" dirty="0" err="1">
                <a:latin typeface="+mn-ea"/>
              </a:rPr>
              <a:t>국산우수</a:t>
            </a:r>
            <a:r>
              <a:rPr lang="ko-KR" altLang="en-US" sz="700" dirty="0">
                <a:latin typeface="+mn-ea"/>
              </a:rPr>
              <a:t> </a:t>
            </a:r>
            <a:r>
              <a:rPr lang="en-US" altLang="ko-KR" sz="700" dirty="0">
                <a:latin typeface="+mn-ea"/>
              </a:rPr>
              <a:t>S/W)</a:t>
            </a:r>
            <a:r>
              <a:rPr lang="ko-KR" altLang="en-US" sz="700" dirty="0">
                <a:latin typeface="+mn-ea"/>
              </a:rPr>
              <a:t>마크 보유자</a:t>
            </a:r>
            <a:r>
              <a:rPr lang="en-US" altLang="ko-KR" sz="700" dirty="0">
                <a:latin typeface="+mn-ea"/>
              </a:rPr>
              <a:t>, GR</a:t>
            </a:r>
            <a:r>
              <a:rPr lang="ko-KR" altLang="en-US" sz="700" dirty="0">
                <a:latin typeface="+mn-ea"/>
              </a:rPr>
              <a:t>보유자</a:t>
            </a:r>
          </a:p>
          <a:p>
            <a:r>
              <a:rPr lang="en-US" altLang="ko-KR" sz="700" dirty="0">
                <a:latin typeface="+mn-ea"/>
              </a:rPr>
              <a:t>B.</a:t>
            </a:r>
            <a:r>
              <a:rPr lang="ko-KR" altLang="en-US" sz="700" dirty="0">
                <a:latin typeface="+mn-ea"/>
              </a:rPr>
              <a:t>「산업표준화법시행규칙」 제</a:t>
            </a:r>
            <a:r>
              <a:rPr lang="en-US" altLang="ko-KR" sz="700" dirty="0">
                <a:latin typeface="+mn-ea"/>
              </a:rPr>
              <a:t>10</a:t>
            </a:r>
            <a:r>
              <a:rPr lang="ko-KR" altLang="en-US" sz="700" dirty="0">
                <a:latin typeface="+mn-ea"/>
              </a:rPr>
              <a:t>조에서 정한 </a:t>
            </a:r>
            <a:r>
              <a:rPr lang="en-US" altLang="ko-KR" sz="700" dirty="0">
                <a:latin typeface="+mn-ea"/>
              </a:rPr>
              <a:t>KS</a:t>
            </a:r>
            <a:r>
              <a:rPr lang="ko-KR" altLang="en-US" sz="700" dirty="0" err="1">
                <a:latin typeface="+mn-ea"/>
              </a:rPr>
              <a:t>제품인증서</a:t>
            </a:r>
            <a:r>
              <a:rPr lang="ko-KR" altLang="en-US" sz="700" dirty="0">
                <a:latin typeface="+mn-ea"/>
              </a:rPr>
              <a:t> 보유자</a:t>
            </a:r>
            <a:r>
              <a:rPr lang="en-US" altLang="ko-KR" sz="700" dirty="0">
                <a:latin typeface="+mn-ea"/>
              </a:rPr>
              <a:t>, </a:t>
            </a:r>
            <a:r>
              <a:rPr lang="ko-KR" altLang="en-US" sz="700" dirty="0">
                <a:latin typeface="+mn-ea"/>
              </a:rPr>
              <a:t>단체표준인증보유자</a:t>
            </a:r>
          </a:p>
          <a:p>
            <a:r>
              <a:rPr lang="en-US" altLang="ko-KR" sz="700" dirty="0">
                <a:latin typeface="+mn-ea"/>
              </a:rPr>
              <a:t>C.</a:t>
            </a:r>
            <a:r>
              <a:rPr lang="ko-KR" altLang="en-US" sz="700" dirty="0">
                <a:latin typeface="+mn-ea"/>
              </a:rPr>
              <a:t>고효율에너지기자재 인증 보유자</a:t>
            </a:r>
          </a:p>
          <a:p>
            <a:r>
              <a:rPr lang="en-US" altLang="ko-KR" sz="700" dirty="0">
                <a:latin typeface="+mn-ea"/>
              </a:rPr>
              <a:t>D.</a:t>
            </a:r>
            <a:r>
              <a:rPr lang="ko-KR" altLang="en-US" sz="700" dirty="0">
                <a:latin typeface="+mn-ea"/>
              </a:rPr>
              <a:t>「</a:t>
            </a:r>
            <a:r>
              <a:rPr lang="ko-KR" altLang="en-US" sz="700" dirty="0" err="1">
                <a:latin typeface="+mn-ea"/>
              </a:rPr>
              <a:t>에너지이용합리화법」제</a:t>
            </a:r>
            <a:r>
              <a:rPr lang="en-US" altLang="ko-KR" sz="700" dirty="0">
                <a:latin typeface="+mn-ea"/>
              </a:rPr>
              <a:t>15</a:t>
            </a:r>
            <a:r>
              <a:rPr lang="ko-KR" altLang="en-US" sz="700" dirty="0">
                <a:latin typeface="+mn-ea"/>
              </a:rPr>
              <a:t>조에 따른 에너지소비효율 </a:t>
            </a:r>
            <a:r>
              <a:rPr lang="en-US" altLang="ko-KR" sz="700" dirty="0">
                <a:latin typeface="+mn-ea"/>
              </a:rPr>
              <a:t>1</a:t>
            </a:r>
            <a:r>
              <a:rPr lang="ko-KR" altLang="en-US" sz="700" dirty="0" err="1">
                <a:latin typeface="+mn-ea"/>
              </a:rPr>
              <a:t>등급제품</a:t>
            </a:r>
            <a:endParaRPr lang="ko-KR" altLang="en-US" sz="700" dirty="0">
              <a:latin typeface="+mn-ea"/>
            </a:endParaRPr>
          </a:p>
        </p:txBody>
      </p:sp>
      <p:sp>
        <p:nvSpPr>
          <p:cNvPr id="272" name="TextBox 271">
            <a:extLst>
              <a:ext uri="{FF2B5EF4-FFF2-40B4-BE49-F238E27FC236}">
                <a16:creationId xmlns:a16="http://schemas.microsoft.com/office/drawing/2014/main" id="{FFC49AEA-2A8F-250C-A86A-A7751D9706C3}"/>
              </a:ext>
            </a:extLst>
          </p:cNvPr>
          <p:cNvSpPr txBox="1"/>
          <p:nvPr/>
        </p:nvSpPr>
        <p:spPr>
          <a:xfrm>
            <a:off x="5658822" y="4635317"/>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275" name="TextBox 274">
            <a:extLst>
              <a:ext uri="{FF2B5EF4-FFF2-40B4-BE49-F238E27FC236}">
                <a16:creationId xmlns:a16="http://schemas.microsoft.com/office/drawing/2014/main" id="{FFC49AEA-2A8F-250C-A86A-A7751D9706C3}"/>
              </a:ext>
            </a:extLst>
          </p:cNvPr>
          <p:cNvSpPr txBox="1"/>
          <p:nvPr/>
        </p:nvSpPr>
        <p:spPr>
          <a:xfrm>
            <a:off x="6390176" y="306097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1" name="TextBox 28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3698101586"/>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직사각형 269"/>
          <p:cNvSpPr/>
          <p:nvPr/>
        </p:nvSpPr>
        <p:spPr>
          <a:xfrm>
            <a:off x="719049" y="5494403"/>
            <a:ext cx="1639886" cy="5879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777928" y="1491157"/>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86" name="직사각형 185"/>
          <p:cNvSpPr/>
          <p:nvPr/>
        </p:nvSpPr>
        <p:spPr>
          <a:xfrm>
            <a:off x="3832497" y="1981539"/>
            <a:ext cx="1639886" cy="42507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198154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198154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19815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19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28100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26108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49559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198154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242000"/>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 조달업무 우수업체로서 중소기업청장 또는 조달청장 표창을 받은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2349721"/>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2655920"/>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26559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23497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2855767"/>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여성기업</a:t>
            </a:r>
            <a:r>
              <a:rPr lang="en-US" altLang="ko-KR" sz="700" dirty="0">
                <a:latin typeface="+mn-ea"/>
              </a:rPr>
              <a:t>(</a:t>
            </a:r>
            <a:r>
              <a:rPr lang="ko-KR" altLang="en-US" sz="700" dirty="0">
                <a:latin typeface="+mn-ea"/>
              </a:rPr>
              <a:t>「여성기업지원에 관한 </a:t>
            </a:r>
            <a:r>
              <a:rPr lang="ko-KR" altLang="en-US" sz="700" dirty="0" err="1">
                <a:latin typeface="+mn-ea"/>
              </a:rPr>
              <a:t>법률」및</a:t>
            </a:r>
            <a:r>
              <a:rPr lang="ko-KR" altLang="en-US" sz="700" dirty="0">
                <a:latin typeface="+mn-ea"/>
              </a:rPr>
              <a:t> 같은 법 시행령에서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 경우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3017349"/>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333237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337809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36311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414530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4191024"/>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4244885"/>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452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4497908"/>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45517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475907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34414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35772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3882764"/>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3838420"/>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3531536"/>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3936625"/>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337809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2" name="직사각형 131"/>
          <p:cNvSpPr/>
          <p:nvPr/>
        </p:nvSpPr>
        <p:spPr>
          <a:xfrm>
            <a:off x="719049" y="2076267"/>
            <a:ext cx="1639886" cy="2953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806112" y="20762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534154" y="20762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716957" y="20762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2291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321019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2954524" y="2076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2332291"/>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「중소기업제품 구매촉진 및 판로지원에 관한 법률」 제</a:t>
            </a:r>
            <a:r>
              <a:rPr lang="en-US" altLang="ko-KR" sz="700" dirty="0">
                <a:latin typeface="+mn-ea"/>
              </a:rPr>
              <a:t>7</a:t>
            </a:r>
            <a:r>
              <a:rPr lang="ko-KR" altLang="en-US" sz="700" dirty="0">
                <a:latin typeface="+mn-ea"/>
              </a:rPr>
              <a:t>조제</a:t>
            </a:r>
            <a:r>
              <a:rPr lang="en-US" altLang="ko-KR" sz="700" dirty="0">
                <a:latin typeface="+mn-ea"/>
              </a:rPr>
              <a:t>3</a:t>
            </a:r>
            <a:r>
              <a:rPr lang="ko-KR" altLang="en-US" sz="700" dirty="0">
                <a:latin typeface="+mn-ea"/>
              </a:rPr>
              <a:t>항 및 같은 </a:t>
            </a:r>
            <a:r>
              <a:rPr lang="ko-KR" altLang="en-US" sz="700" dirty="0" err="1">
                <a:latin typeface="+mn-ea"/>
              </a:rPr>
              <a:t>법시행령</a:t>
            </a:r>
            <a:r>
              <a:rPr lang="ko-KR" altLang="en-US" sz="700" dirty="0">
                <a:latin typeface="+mn-ea"/>
              </a:rPr>
              <a:t> 제</a:t>
            </a:r>
            <a:r>
              <a:rPr lang="en-US" altLang="ko-KR" sz="700" dirty="0">
                <a:latin typeface="+mn-ea"/>
              </a:rPr>
              <a:t>7</a:t>
            </a:r>
            <a:r>
              <a:rPr lang="ko-KR" altLang="en-US" sz="700" dirty="0">
                <a:latin typeface="+mn-ea"/>
              </a:rPr>
              <a:t>조제</a:t>
            </a:r>
            <a:r>
              <a:rPr lang="en-US" altLang="ko-KR" sz="700" dirty="0">
                <a:latin typeface="+mn-ea"/>
              </a:rPr>
              <a:t>4</a:t>
            </a:r>
            <a:r>
              <a:rPr lang="ko-KR" altLang="en-US" sz="700" dirty="0">
                <a:latin typeface="+mn-ea"/>
              </a:rPr>
              <a:t>항에 해당하는 </a:t>
            </a:r>
            <a:r>
              <a:rPr lang="ko-KR" altLang="en-US" sz="700" dirty="0" err="1">
                <a:latin typeface="+mn-ea"/>
              </a:rPr>
              <a:t>공동수급체</a:t>
            </a:r>
            <a:r>
              <a:rPr lang="ko-KR" altLang="en-US" sz="700" dirty="0">
                <a:latin typeface="+mn-ea"/>
              </a:rPr>
              <a:t> 구성</a:t>
            </a: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6821" y="25477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3276728" y="404887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6112" y="325147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.40%</a:t>
            </a:r>
            <a:r>
              <a:rPr lang="ko-KR" altLang="en-US" sz="700" dirty="0">
                <a:latin typeface="+mn-ea"/>
              </a:rPr>
              <a:t> 이상</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2595068" y="325147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806112" y="344176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382234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업체가</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412035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4310638"/>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719050" y="340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9050" y="3781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40790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42693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4" name="TextBox 153">
            <a:extLst>
              <a:ext uri="{FF2B5EF4-FFF2-40B4-BE49-F238E27FC236}">
                <a16:creationId xmlns:a16="http://schemas.microsoft.com/office/drawing/2014/main" id="{FFC49AEA-2A8F-250C-A86A-A7751D9706C3}"/>
              </a:ext>
            </a:extLst>
          </p:cNvPr>
          <p:cNvSpPr txBox="1"/>
          <p:nvPr/>
        </p:nvSpPr>
        <p:spPr>
          <a:xfrm>
            <a:off x="2545374" y="3441764"/>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2676821" y="3876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4120350"/>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95068" y="4310638"/>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3276728" y="30396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088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19050" y="46499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806112" y="450092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806112" y="469121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2595068" y="4691214"/>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806112" y="488150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806112" y="5524703"/>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806112" y="572851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806112" y="593232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9050" y="48402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9050" y="547665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19050" y="56804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19050" y="58842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2545374" y="4881502"/>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2676821" y="55247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2595067" y="5728513"/>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2545374" y="5932323"/>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2676821" y="45009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3" name="TextBox 202">
            <a:extLst>
              <a:ext uri="{FF2B5EF4-FFF2-40B4-BE49-F238E27FC236}">
                <a16:creationId xmlns:a16="http://schemas.microsoft.com/office/drawing/2014/main" id="{FFC49AEA-2A8F-250C-A86A-A7751D9706C3}"/>
              </a:ext>
            </a:extLst>
          </p:cNvPr>
          <p:cNvSpPr txBox="1"/>
          <p:nvPr/>
        </p:nvSpPr>
        <p:spPr>
          <a:xfrm>
            <a:off x="3274223" y="467796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3274223" y="5729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0" name="TextBox 249">
            <a:extLst>
              <a:ext uri="{FF2B5EF4-FFF2-40B4-BE49-F238E27FC236}">
                <a16:creationId xmlns:a16="http://schemas.microsoft.com/office/drawing/2014/main" id="{FFC49AEA-2A8F-250C-A86A-A7751D9706C3}"/>
              </a:ext>
            </a:extLst>
          </p:cNvPr>
          <p:cNvSpPr txBox="1"/>
          <p:nvPr/>
        </p:nvSpPr>
        <p:spPr>
          <a:xfrm>
            <a:off x="806112" y="295346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a:latin typeface="+mn-ea"/>
              </a:rPr>
              <a:t>소기업</a:t>
            </a:r>
            <a:r>
              <a:rPr lang="en-US" altLang="ko-KR" sz="700" dirty="0">
                <a:latin typeface="+mn-ea"/>
              </a:rPr>
              <a:t>(</a:t>
            </a:r>
            <a:r>
              <a:rPr lang="ko-KR" altLang="en-US" sz="700" dirty="0">
                <a:latin typeface="+mn-ea"/>
              </a:rPr>
              <a:t>소상공인포함</a:t>
            </a:r>
            <a:r>
              <a:rPr lang="en-US" altLang="ko-KR" sz="700" dirty="0">
                <a:latin typeface="+mn-ea"/>
              </a:rPr>
              <a:t>) </a:t>
            </a:r>
            <a:r>
              <a:rPr lang="ko-KR" altLang="en-US" sz="700" dirty="0">
                <a:latin typeface="+mn-ea"/>
              </a:rPr>
              <a:t>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cxnSp>
        <p:nvCxnSpPr>
          <p:cNvPr id="251" name="직선 연결선 250">
            <a:extLst>
              <a:ext uri="{FF2B5EF4-FFF2-40B4-BE49-F238E27FC236}">
                <a16:creationId xmlns:a16="http://schemas.microsoft.com/office/drawing/2014/main" id="{E9293055-D5CD-4B9E-7F64-64B2D2CA7A52}"/>
              </a:ext>
            </a:extLst>
          </p:cNvPr>
          <p:cNvCxnSpPr/>
          <p:nvPr/>
        </p:nvCxnSpPr>
        <p:spPr>
          <a:xfrm>
            <a:off x="719050" y="291218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2" name="TextBox 251">
            <a:extLst>
              <a:ext uri="{FF2B5EF4-FFF2-40B4-BE49-F238E27FC236}">
                <a16:creationId xmlns:a16="http://schemas.microsoft.com/office/drawing/2014/main" id="{FFC49AEA-2A8F-250C-A86A-A7751D9706C3}"/>
              </a:ext>
            </a:extLst>
          </p:cNvPr>
          <p:cNvSpPr txBox="1"/>
          <p:nvPr/>
        </p:nvSpPr>
        <p:spPr>
          <a:xfrm>
            <a:off x="2676821" y="30073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9050" y="4459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806112" y="363205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cxnSp>
        <p:nvCxnSpPr>
          <p:cNvPr id="266" name="직선 연결선 265">
            <a:extLst>
              <a:ext uri="{FF2B5EF4-FFF2-40B4-BE49-F238E27FC236}">
                <a16:creationId xmlns:a16="http://schemas.microsoft.com/office/drawing/2014/main" id="{E9293055-D5CD-4B9E-7F64-64B2D2CA7A52}"/>
              </a:ext>
            </a:extLst>
          </p:cNvPr>
          <p:cNvCxnSpPr/>
          <p:nvPr/>
        </p:nvCxnSpPr>
        <p:spPr>
          <a:xfrm>
            <a:off x="719050" y="35907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7" name="TextBox 266">
            <a:extLst>
              <a:ext uri="{FF2B5EF4-FFF2-40B4-BE49-F238E27FC236}">
                <a16:creationId xmlns:a16="http://schemas.microsoft.com/office/drawing/2014/main" id="{FFC49AEA-2A8F-250C-A86A-A7751D9706C3}"/>
              </a:ext>
            </a:extLst>
          </p:cNvPr>
          <p:cNvSpPr txBox="1"/>
          <p:nvPr/>
        </p:nvSpPr>
        <p:spPr>
          <a:xfrm>
            <a:off x="2595067" y="363205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719050" y="5030496"/>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9" name="TextBox 268">
            <a:extLst>
              <a:ext uri="{FF2B5EF4-FFF2-40B4-BE49-F238E27FC236}">
                <a16:creationId xmlns:a16="http://schemas.microsoft.com/office/drawing/2014/main" id="{FFC49AEA-2A8F-250C-A86A-A7751D9706C3}"/>
              </a:ext>
            </a:extLst>
          </p:cNvPr>
          <p:cNvSpPr txBox="1"/>
          <p:nvPr/>
        </p:nvSpPr>
        <p:spPr>
          <a:xfrm>
            <a:off x="806112" y="5091995"/>
            <a:ext cx="2504980" cy="323165"/>
          </a:xfrm>
          <a:prstGeom prst="rect">
            <a:avLst/>
          </a:prstGeom>
          <a:noFill/>
        </p:spPr>
        <p:txBody>
          <a:bodyPr wrap="square" lIns="0" tIns="0" rIns="0" bIns="0" rtlCol="0">
            <a:spAutoFit/>
          </a:bodyPr>
          <a:lstStyle/>
          <a:p>
            <a:pPr algn="ctr"/>
            <a:r>
              <a:rPr lang="en-US" altLang="ko-KR" sz="700" dirty="0">
                <a:latin typeface="+mn-ea"/>
              </a:rPr>
              <a:t>※</a:t>
            </a:r>
            <a:r>
              <a:rPr lang="ko-KR" altLang="en-US" sz="700" dirty="0">
                <a:latin typeface="+mn-ea"/>
              </a:rPr>
              <a:t>다만</a:t>
            </a:r>
            <a:r>
              <a:rPr lang="en-US" altLang="ko-KR" sz="700" dirty="0">
                <a:latin typeface="+mn-ea"/>
              </a:rPr>
              <a:t>, </a:t>
            </a:r>
            <a:r>
              <a:rPr lang="ko-KR" altLang="en-US" sz="700" dirty="0">
                <a:latin typeface="+mn-ea"/>
              </a:rPr>
              <a:t>법령이 정한 요건을 갖추지 못한</a:t>
            </a:r>
            <a:endParaRPr lang="en-US" altLang="ko-KR" sz="700" dirty="0">
              <a:latin typeface="+mn-ea"/>
            </a:endParaRPr>
          </a:p>
          <a:p>
            <a:pPr algn="ctr"/>
            <a:r>
              <a:rPr lang="ko-KR" altLang="en-US" sz="700" dirty="0">
                <a:latin typeface="+mn-ea"/>
              </a:rPr>
              <a:t>공동수급체는 각 평점이 </a:t>
            </a:r>
            <a:r>
              <a:rPr lang="en-US" altLang="ko-KR" sz="700" dirty="0">
                <a:latin typeface="+mn-ea"/>
              </a:rPr>
              <a:t>50%</a:t>
            </a:r>
            <a:r>
              <a:rPr lang="ko-KR" altLang="en-US" sz="700" dirty="0">
                <a:latin typeface="+mn-ea"/>
              </a:rPr>
              <a:t>만 인정한다</a:t>
            </a:r>
            <a:r>
              <a:rPr lang="en-US" altLang="ko-KR" sz="700" dirty="0">
                <a:latin typeface="+mn-ea"/>
              </a:rPr>
              <a:t>.</a:t>
            </a:r>
          </a:p>
          <a:p>
            <a:pPr algn="ct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2498" y="52813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3919560" y="480479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장애인기업</a:t>
            </a:r>
            <a:r>
              <a:rPr lang="en-US" altLang="ko-KR" sz="700" dirty="0">
                <a:latin typeface="+mn-ea"/>
              </a:rPr>
              <a:t>(</a:t>
            </a:r>
            <a:r>
              <a:rPr lang="ko-KR" altLang="en-US" sz="700" dirty="0">
                <a:latin typeface="+mn-ea"/>
              </a:rPr>
              <a:t>「장애인기업활동 </a:t>
            </a:r>
            <a:r>
              <a:rPr lang="ko-KR" altLang="en-US" sz="700" dirty="0" err="1">
                <a:latin typeface="+mn-ea"/>
              </a:rPr>
              <a:t>촉진법」에서</a:t>
            </a:r>
            <a:r>
              <a:rPr lang="ko-KR" altLang="en-US" sz="700" dirty="0">
                <a:latin typeface="+mn-ea"/>
              </a:rPr>
              <a:t>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확인된 경우 인정</a:t>
            </a:r>
            <a:r>
              <a:rPr lang="en-US" altLang="ko-KR" sz="700" dirty="0">
                <a:latin typeface="+mn-ea"/>
              </a:rPr>
              <a:t>))</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5708515" y="496637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526281"/>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5708516" y="5580142"/>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19560" y="5833165"/>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832498" y="57874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32498" y="6094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5708515" y="588702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3" name="TextBox 282">
            <a:extLst>
              <a:ext uri="{FF2B5EF4-FFF2-40B4-BE49-F238E27FC236}">
                <a16:creationId xmlns:a16="http://schemas.microsoft.com/office/drawing/2014/main" id="{FFC49AEA-2A8F-250C-A86A-A7751D9706C3}"/>
              </a:ext>
            </a:extLst>
          </p:cNvPr>
          <p:cNvSpPr txBox="1"/>
          <p:nvPr/>
        </p:nvSpPr>
        <p:spPr>
          <a:xfrm>
            <a:off x="6390176" y="5225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TextBox 283">
            <a:extLst>
              <a:ext uri="{FF2B5EF4-FFF2-40B4-BE49-F238E27FC236}">
                <a16:creationId xmlns:a16="http://schemas.microsoft.com/office/drawing/2014/main" id="{FFC49AEA-2A8F-250C-A86A-A7751D9706C3}"/>
              </a:ext>
            </a:extLst>
          </p:cNvPr>
          <p:cNvSpPr txBox="1"/>
          <p:nvPr/>
        </p:nvSpPr>
        <p:spPr>
          <a:xfrm>
            <a:off x="3919560" y="532711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 우수기업</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5790269" y="532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32498" y="548056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타원 11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27418002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직사각형 131"/>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28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3" name="TextBox 142">
            <a:extLst>
              <a:ext uri="{FF2B5EF4-FFF2-40B4-BE49-F238E27FC236}">
                <a16:creationId xmlns:a16="http://schemas.microsoft.com/office/drawing/2014/main" id="{FFC49AEA-2A8F-250C-A86A-A7751D9706C3}"/>
              </a:ext>
            </a:extLst>
          </p:cNvPr>
          <p:cNvSpPr txBox="1"/>
          <p:nvPr/>
        </p:nvSpPr>
        <p:spPr>
          <a:xfrm>
            <a:off x="3276728" y="21376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1530354"/>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1706740"/>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명 이상인 기업</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23140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3</a:t>
            </a:r>
            <a:r>
              <a:rPr lang="ko-KR" altLang="en-US" sz="700" dirty="0">
                <a:latin typeface="+mn-ea"/>
              </a:rPr>
              <a:t>명 이상인 기업</a:t>
            </a:r>
          </a:p>
        </p:txBody>
      </p: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16724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22796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2676821" y="15303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1922183"/>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95067" y="25294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9" name="직사각형 158"/>
          <p:cNvSpPr/>
          <p:nvPr/>
        </p:nvSpPr>
        <p:spPr>
          <a:xfrm>
            <a:off x="3835002" y="1504396"/>
            <a:ext cx="1639886" cy="45696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32932"/>
            <a:ext cx="1480199" cy="215444"/>
          </a:xfrm>
          <a:prstGeom prst="rect">
            <a:avLst/>
          </a:prstGeom>
          <a:noFill/>
        </p:spPr>
        <p:txBody>
          <a:bodyPr wrap="square" lIns="0" tIns="0" rIns="0" bIns="0" rtlCol="0">
            <a:spAutoFit/>
          </a:bodyPr>
          <a:lstStyle/>
          <a:p>
            <a:r>
              <a:rPr lang="en-US" altLang="ko-KR" sz="700" dirty="0">
                <a:latin typeface="+mn-ea"/>
              </a:rPr>
              <a:t>M.</a:t>
            </a:r>
            <a:r>
              <a:rPr lang="ko-KR" altLang="en-US" sz="700" dirty="0">
                <a:latin typeface="+mn-ea"/>
              </a:rPr>
              <a:t>중소벤처기업부장관이 선정한 ‘월드 클래스</a:t>
            </a:r>
            <a:r>
              <a:rPr lang="en-US" altLang="ko-KR" sz="700" dirty="0">
                <a:latin typeface="+mn-ea"/>
              </a:rPr>
              <a:t>300</a:t>
            </a:r>
            <a:r>
              <a:rPr lang="ko-KR" altLang="en-US" sz="700" dirty="0">
                <a:latin typeface="+mn-ea"/>
              </a:rPr>
              <a:t>기업’</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87381"/>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11020" y="1586793"/>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67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3" name="직선 연결선 112">
            <a:extLst>
              <a:ext uri="{FF2B5EF4-FFF2-40B4-BE49-F238E27FC236}">
                <a16:creationId xmlns:a16="http://schemas.microsoft.com/office/drawing/2014/main" id="{E9293055-D5CD-4B9E-7F64-64B2D2CA7A52}"/>
              </a:ext>
            </a:extLst>
          </p:cNvPr>
          <p:cNvCxnSpPr/>
          <p:nvPr/>
        </p:nvCxnSpPr>
        <p:spPr>
          <a:xfrm>
            <a:off x="719050" y="35628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3276728" y="3171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06112" y="2921286"/>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806112" y="309767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중소벤처기업부장관</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혁신형</a:t>
            </a:r>
            <a:r>
              <a:rPr lang="en-US" altLang="ko-KR" sz="700" dirty="0">
                <a:latin typeface="+mn-ea"/>
              </a:rPr>
              <a:t>(</a:t>
            </a:r>
            <a:r>
              <a:rPr lang="ko-KR" altLang="en-US" sz="700" dirty="0">
                <a:latin typeface="+mn-ea"/>
              </a:rPr>
              <a:t>벤처</a:t>
            </a:r>
            <a:r>
              <a:rPr lang="en-US" altLang="ko-KR" sz="700" dirty="0">
                <a:latin typeface="+mn-ea"/>
              </a:rPr>
              <a:t>, </a:t>
            </a:r>
            <a:r>
              <a:rPr lang="ko-KR" altLang="en-US" sz="700" dirty="0" err="1">
                <a:latin typeface="+mn-ea"/>
              </a:rPr>
              <a:t>기술혁신형</a:t>
            </a:r>
            <a:r>
              <a:rPr lang="en-US" altLang="ko-KR" sz="700" dirty="0">
                <a:latin typeface="+mn-ea"/>
              </a:rPr>
              <a:t>, </a:t>
            </a:r>
            <a:r>
              <a:rPr lang="ko-KR" altLang="en-US" sz="700" dirty="0" err="1">
                <a:latin typeface="+mn-ea"/>
              </a:rPr>
              <a:t>경영혁신형</a:t>
            </a:r>
            <a:r>
              <a:rPr lang="en-US" altLang="ko-KR" sz="700" dirty="0">
                <a:latin typeface="+mn-ea"/>
              </a:rPr>
              <a:t>, </a:t>
            </a:r>
            <a:r>
              <a:rPr lang="ko-KR" altLang="en-US" sz="700" dirty="0">
                <a:latin typeface="+mn-ea"/>
              </a:rPr>
              <a:t>우수그린비즈</a:t>
            </a:r>
            <a:r>
              <a:rPr lang="en-US" altLang="ko-KR" sz="700" dirty="0">
                <a:latin typeface="+mn-ea"/>
              </a:rPr>
              <a:t>) </a:t>
            </a:r>
            <a:r>
              <a:rPr lang="ko-KR" altLang="en-US" sz="700" dirty="0">
                <a:latin typeface="+mn-ea"/>
              </a:rPr>
              <a:t>중소기업으로 지정</a:t>
            </a:r>
            <a:r>
              <a:rPr lang="en-US" altLang="ko-KR" sz="700" dirty="0">
                <a:latin typeface="+mn-ea"/>
              </a:rPr>
              <a:t>(</a:t>
            </a:r>
            <a:r>
              <a:rPr lang="ko-KR" altLang="en-US" sz="700" dirty="0">
                <a:latin typeface="+mn-ea"/>
              </a:rPr>
              <a:t>확인</a:t>
            </a:r>
            <a:r>
              <a:rPr lang="en-US" altLang="ko-KR" sz="700" dirty="0">
                <a:latin typeface="+mn-ea"/>
              </a:rPr>
              <a:t>) </a:t>
            </a:r>
            <a:r>
              <a:rPr lang="ko-KR" altLang="en-US" sz="700" dirty="0">
                <a:latin typeface="+mn-ea"/>
              </a:rPr>
              <a:t>받은 자</a:t>
            </a: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719050" y="30633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2676821" y="29212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2595067" y="3259254"/>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3276728" y="36510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806112" y="3597223"/>
            <a:ext cx="1480199" cy="215444"/>
          </a:xfrm>
          <a:prstGeom prst="rect">
            <a:avLst/>
          </a:prstGeom>
          <a:noFill/>
        </p:spPr>
        <p:txBody>
          <a:bodyPr wrap="square" lIns="0" tIns="0" rIns="0" bIns="0" rtlCol="0">
            <a:spAutoFit/>
          </a:bodyPr>
          <a:lstStyle/>
          <a:p>
            <a:r>
              <a:rPr lang="en-US" altLang="ko-KR" sz="700" dirty="0">
                <a:latin typeface="+mn-ea"/>
              </a:rPr>
              <a:t>F.</a:t>
            </a:r>
            <a:r>
              <a:rPr lang="ko-KR" altLang="en-US" sz="700" dirty="0">
                <a:latin typeface="+mn-ea"/>
              </a:rPr>
              <a:t>산업통상자원부장관이 선정한 ‘</a:t>
            </a:r>
            <a:r>
              <a:rPr lang="ko-KR" altLang="en-US" sz="700" dirty="0" err="1">
                <a:latin typeface="+mn-ea"/>
              </a:rPr>
              <a:t>세계일류상품인증기업</a:t>
            </a:r>
            <a:r>
              <a:rPr lang="ko-KR" altLang="en-US" sz="700" dirty="0">
                <a:latin typeface="+mn-ea"/>
              </a:rPr>
              <a:t>’</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595067" y="3651084"/>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2" name="직선 연결선 161">
            <a:extLst>
              <a:ext uri="{FF2B5EF4-FFF2-40B4-BE49-F238E27FC236}">
                <a16:creationId xmlns:a16="http://schemas.microsoft.com/office/drawing/2014/main" id="{E9293055-D5CD-4B9E-7F64-64B2D2CA7A52}"/>
              </a:ext>
            </a:extLst>
          </p:cNvPr>
          <p:cNvCxnSpPr/>
          <p:nvPr/>
        </p:nvCxnSpPr>
        <p:spPr>
          <a:xfrm>
            <a:off x="719050" y="3846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3276728" y="39351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3" name="TextBox 102">
            <a:extLst>
              <a:ext uri="{FF2B5EF4-FFF2-40B4-BE49-F238E27FC236}">
                <a16:creationId xmlns:a16="http://schemas.microsoft.com/office/drawing/2014/main" id="{FFC49AEA-2A8F-250C-A86A-A7751D9706C3}"/>
              </a:ext>
            </a:extLst>
          </p:cNvPr>
          <p:cNvSpPr txBox="1"/>
          <p:nvPr/>
        </p:nvSpPr>
        <p:spPr>
          <a:xfrm>
            <a:off x="806112" y="388133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a:latin typeface="+mn-ea"/>
              </a:rPr>
              <a:t>중소벤처기업부장관이 지정한 수출유망중소기업’</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2595067" y="393519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19050" y="413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3276728" y="421930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806112" y="416543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안전행정부장관이 확인해준 ‘비상대비 중점관리 대상업체’</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2595067" y="421930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09" name="직선 연결선 108">
            <a:extLst>
              <a:ext uri="{FF2B5EF4-FFF2-40B4-BE49-F238E27FC236}">
                <a16:creationId xmlns:a16="http://schemas.microsoft.com/office/drawing/2014/main" id="{E9293055-D5CD-4B9E-7F64-64B2D2CA7A52}"/>
              </a:ext>
            </a:extLst>
          </p:cNvPr>
          <p:cNvCxnSpPr/>
          <p:nvPr/>
        </p:nvCxnSpPr>
        <p:spPr>
          <a:xfrm>
            <a:off x="719050" y="4415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TextBox 109">
            <a:extLst>
              <a:ext uri="{FF2B5EF4-FFF2-40B4-BE49-F238E27FC236}">
                <a16:creationId xmlns:a16="http://schemas.microsoft.com/office/drawing/2014/main" id="{FFC49AEA-2A8F-250C-A86A-A7751D9706C3}"/>
              </a:ext>
            </a:extLst>
          </p:cNvPr>
          <p:cNvSpPr txBox="1"/>
          <p:nvPr/>
        </p:nvSpPr>
        <p:spPr>
          <a:xfrm>
            <a:off x="3276728" y="450340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1" name="TextBox 110">
            <a:extLst>
              <a:ext uri="{FF2B5EF4-FFF2-40B4-BE49-F238E27FC236}">
                <a16:creationId xmlns:a16="http://schemas.microsoft.com/office/drawing/2014/main" id="{FFC49AEA-2A8F-250C-A86A-A7751D9706C3}"/>
              </a:ext>
            </a:extLst>
          </p:cNvPr>
          <p:cNvSpPr txBox="1"/>
          <p:nvPr/>
        </p:nvSpPr>
        <p:spPr>
          <a:xfrm>
            <a:off x="806112" y="444954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여성가족부에서 지정한 가족친화 </a:t>
            </a:r>
            <a:r>
              <a:rPr lang="ko-KR" altLang="en-US" sz="700" dirty="0" err="1">
                <a:latin typeface="+mn-ea"/>
              </a:rPr>
              <a:t>인증기업</a:t>
            </a:r>
            <a:endParaRPr lang="ko-KR" altLang="en-US"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95067" y="450340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26" name="직선 연결선 125">
            <a:extLst>
              <a:ext uri="{FF2B5EF4-FFF2-40B4-BE49-F238E27FC236}">
                <a16:creationId xmlns:a16="http://schemas.microsoft.com/office/drawing/2014/main" id="{E9293055-D5CD-4B9E-7F64-64B2D2CA7A52}"/>
              </a:ext>
            </a:extLst>
          </p:cNvPr>
          <p:cNvCxnSpPr/>
          <p:nvPr/>
        </p:nvCxnSpPr>
        <p:spPr>
          <a:xfrm>
            <a:off x="719050" y="46993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3276728" y="47875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806112" y="4733655"/>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고용노동부장관이 인증한 사회적 기업</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7" y="478751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719050" y="4983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3276728" y="51254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806112" y="5017763"/>
            <a:ext cx="1480199" cy="323165"/>
          </a:xfrm>
          <a:prstGeom prst="rect">
            <a:avLst/>
          </a:prstGeom>
          <a:noFill/>
        </p:spPr>
        <p:txBody>
          <a:bodyPr wrap="square" lIns="0" tIns="0" rIns="0" bIns="0" rtlCol="0">
            <a:spAutoFit/>
          </a:bodyPr>
          <a:lstStyle/>
          <a:p>
            <a:r>
              <a:rPr lang="en-US" altLang="ko-KR" sz="700" dirty="0">
                <a:latin typeface="+mn-ea"/>
              </a:rPr>
              <a:t>K.’</a:t>
            </a:r>
            <a:r>
              <a:rPr lang="ko-KR" altLang="en-US" sz="700" dirty="0">
                <a:latin typeface="+mn-ea"/>
              </a:rPr>
              <a:t>중소기업인력지원특별법’ 제</a:t>
            </a:r>
            <a:r>
              <a:rPr lang="en-US" altLang="ko-KR" sz="700" dirty="0">
                <a:latin typeface="+mn-ea"/>
              </a:rPr>
              <a:t>18</a:t>
            </a:r>
            <a:r>
              <a:rPr lang="ko-KR" altLang="en-US" sz="700" dirty="0">
                <a:latin typeface="+mn-ea"/>
              </a:rPr>
              <a:t>조의</a:t>
            </a:r>
            <a:r>
              <a:rPr lang="en-US" altLang="ko-KR" sz="700" dirty="0">
                <a:latin typeface="+mn-ea"/>
              </a:rPr>
              <a:t>2</a:t>
            </a:r>
            <a:r>
              <a:rPr lang="ko-KR" altLang="en-US" sz="700" dirty="0">
                <a:latin typeface="+mn-ea"/>
              </a:rPr>
              <a:t>에 </a:t>
            </a:r>
            <a:r>
              <a:rPr lang="ko-KR" altLang="en-US" sz="700" dirty="0" err="1">
                <a:latin typeface="+mn-ea"/>
              </a:rPr>
              <a:t>따른’인재육성형</a:t>
            </a:r>
            <a:r>
              <a:rPr lang="ko-KR" altLang="en-US" sz="700" dirty="0">
                <a:latin typeface="+mn-ea"/>
              </a:rPr>
              <a:t> </a:t>
            </a:r>
            <a:r>
              <a:rPr lang="ko-KR" altLang="en-US" sz="700" dirty="0" err="1">
                <a:latin typeface="+mn-ea"/>
              </a:rPr>
              <a:t>중소기업’으로</a:t>
            </a:r>
            <a:r>
              <a:rPr lang="ko-KR" altLang="en-US" sz="700" dirty="0">
                <a:latin typeface="+mn-ea"/>
              </a:rPr>
              <a:t> </a:t>
            </a:r>
            <a:r>
              <a:rPr lang="ko-KR" altLang="en-US" sz="700" dirty="0" err="1">
                <a:latin typeface="+mn-ea"/>
              </a:rPr>
              <a:t>지정받은</a:t>
            </a:r>
            <a:r>
              <a:rPr lang="ko-KR" altLang="en-US" sz="700" dirty="0">
                <a:latin typeface="+mn-ea"/>
              </a:rPr>
              <a:t> 기업</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2595067" y="512548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719050" y="53752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3276728" y="57499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806112" y="5409592"/>
            <a:ext cx="1480199" cy="107722"/>
          </a:xfrm>
          <a:prstGeom prst="rect">
            <a:avLst/>
          </a:prstGeom>
          <a:noFill/>
        </p:spPr>
        <p:txBody>
          <a:bodyPr wrap="square" lIns="0" tIns="0" rIns="0" bIns="0" rtlCol="0">
            <a:spAutoFit/>
          </a:bodyPr>
          <a:lstStyle/>
          <a:p>
            <a:r>
              <a:rPr lang="en-US" altLang="ko-KR" sz="700" dirty="0">
                <a:latin typeface="+mn-ea"/>
              </a:rPr>
              <a:t>L.</a:t>
            </a:r>
            <a:r>
              <a:rPr lang="ko-KR" altLang="en-US" sz="700" dirty="0">
                <a:latin typeface="+mn-ea"/>
              </a:rPr>
              <a:t>수출우수기업</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595003" y="5551646"/>
            <a:ext cx="118687" cy="430887"/>
          </a:xfrm>
          <a:prstGeom prst="rect">
            <a:avLst/>
          </a:prstGeom>
          <a:noFill/>
        </p:spPr>
        <p:txBody>
          <a:bodyPr wrap="none" lIns="0" tIns="0" rIns="0" bIns="0" rtlCol="0">
            <a:spAutoFit/>
          </a:bodyPr>
          <a:lstStyle/>
          <a:p>
            <a:pPr algn="r"/>
            <a:r>
              <a:rPr lang="en-US" altLang="ko-KR" sz="700" dirty="0">
                <a:latin typeface="+mn-ea"/>
              </a:rPr>
              <a:t>0.2</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0.1</a:t>
            </a:r>
            <a:endParaRPr lang="ko-KR" altLang="en-US"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806112" y="5551646"/>
            <a:ext cx="1480199"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수출액 </a:t>
            </a:r>
            <a:r>
              <a:rPr lang="en-US" altLang="ko-KR" sz="700" dirty="0">
                <a:latin typeface="+mn-ea"/>
              </a:rPr>
              <a:t>100</a:t>
            </a:r>
            <a:r>
              <a:rPr lang="ko-KR" altLang="en-US" sz="700" dirty="0" err="1">
                <a:latin typeface="+mn-ea"/>
              </a:rPr>
              <a:t>만불이상이면서</a:t>
            </a:r>
            <a:r>
              <a:rPr lang="ko-KR" altLang="en-US" sz="700" dirty="0">
                <a:latin typeface="+mn-ea"/>
              </a:rPr>
              <a:t> 수출증가율 </a:t>
            </a:r>
            <a:r>
              <a:rPr lang="en-US" altLang="ko-KR" sz="700" dirty="0">
                <a:latin typeface="+mn-ea"/>
              </a:rPr>
              <a:t>10%</a:t>
            </a:r>
            <a:r>
              <a:rPr lang="ko-KR" altLang="en-US" sz="700" dirty="0">
                <a:latin typeface="+mn-ea"/>
              </a:rPr>
              <a:t>이상 또는 수출액 </a:t>
            </a:r>
            <a:r>
              <a:rPr lang="en-US" altLang="ko-KR" sz="700" dirty="0">
                <a:latin typeface="+mn-ea"/>
              </a:rPr>
              <a:t>10</a:t>
            </a:r>
            <a:r>
              <a:rPr lang="ko-KR" altLang="en-US" sz="700" dirty="0">
                <a:latin typeface="+mn-ea"/>
              </a:rPr>
              <a:t>만불 이상이면서 수출 증가율 </a:t>
            </a:r>
            <a:r>
              <a:rPr lang="en-US" altLang="ko-KR" sz="700" dirty="0">
                <a:latin typeface="+mn-ea"/>
              </a:rPr>
              <a:t>30%</a:t>
            </a:r>
            <a:r>
              <a:rPr lang="ko-KR" altLang="en-US" sz="700" dirty="0">
                <a:latin typeface="+mn-ea"/>
              </a:rPr>
              <a:t>이상</a:t>
            </a:r>
          </a:p>
          <a:p>
            <a:r>
              <a:rPr lang="en-US" altLang="ko-KR" sz="700" dirty="0">
                <a:latin typeface="+mn-ea"/>
              </a:rPr>
              <a:t>  - </a:t>
            </a:r>
            <a:r>
              <a:rPr lang="ko-KR" altLang="en-US" sz="700" dirty="0">
                <a:latin typeface="+mn-ea"/>
              </a:rPr>
              <a:t>수출액 </a:t>
            </a:r>
            <a:r>
              <a:rPr lang="en-US" altLang="ko-KR" sz="700" dirty="0">
                <a:latin typeface="+mn-ea"/>
              </a:rPr>
              <a:t>100</a:t>
            </a:r>
            <a:r>
              <a:rPr lang="ko-KR" altLang="en-US" sz="700" dirty="0">
                <a:latin typeface="+mn-ea"/>
              </a:rPr>
              <a:t>만불 이상 또는 수출액 </a:t>
            </a:r>
            <a:r>
              <a:rPr lang="en-US" altLang="ko-KR" sz="700" dirty="0">
                <a:latin typeface="+mn-ea"/>
              </a:rPr>
              <a:t>10</a:t>
            </a:r>
            <a:r>
              <a:rPr lang="ko-KR" altLang="en-US" sz="700" dirty="0">
                <a:latin typeface="+mn-ea"/>
              </a:rPr>
              <a:t>만불 이상이면서 수출증가율 </a:t>
            </a:r>
            <a:r>
              <a:rPr lang="en-US" altLang="ko-KR" sz="700" dirty="0">
                <a:latin typeface="+mn-ea"/>
              </a:rPr>
              <a:t>10%</a:t>
            </a:r>
            <a:r>
              <a:rPr lang="ko-KR" altLang="en-US" sz="700" dirty="0">
                <a:latin typeface="+mn-ea"/>
              </a:rPr>
              <a:t>이상</a:t>
            </a: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719050" y="14960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3922065" y="1826386"/>
            <a:ext cx="1480199" cy="430887"/>
          </a:xfrm>
          <a:prstGeom prst="rect">
            <a:avLst/>
          </a:prstGeom>
          <a:noFill/>
        </p:spPr>
        <p:txBody>
          <a:bodyPr wrap="square" lIns="0" tIns="0" rIns="0" bIns="0" rtlCol="0">
            <a:spAutoFit/>
          </a:bodyPr>
          <a:lstStyle/>
          <a:p>
            <a:r>
              <a:rPr lang="en-US" altLang="ko-KR" sz="700" dirty="0">
                <a:latin typeface="+mn-ea"/>
              </a:rPr>
              <a:t>N.</a:t>
            </a:r>
            <a:r>
              <a:rPr lang="ko-KR" altLang="en-US" sz="700" dirty="0">
                <a:latin typeface="+mn-ea"/>
              </a:rPr>
              <a:t>개성공단 입주기업으로서 통일부장관</a:t>
            </a:r>
            <a:r>
              <a:rPr lang="en-US" altLang="ko-KR" sz="700" dirty="0">
                <a:latin typeface="+mn-ea"/>
              </a:rPr>
              <a:t>(</a:t>
            </a:r>
            <a:r>
              <a:rPr lang="ko-KR" altLang="en-US" sz="700" dirty="0">
                <a:latin typeface="+mn-ea"/>
              </a:rPr>
              <a:t>또는 위임을 </a:t>
            </a:r>
            <a:r>
              <a:rPr lang="ko-KR" altLang="en-US" sz="700" dirty="0" err="1">
                <a:latin typeface="+mn-ea"/>
              </a:rPr>
              <a:t>받은자</a:t>
            </a:r>
            <a:r>
              <a:rPr lang="en-US" altLang="ko-KR" sz="700" dirty="0">
                <a:latin typeface="+mn-ea"/>
              </a:rPr>
              <a:t>) </a:t>
            </a:r>
            <a:r>
              <a:rPr lang="ko-KR" altLang="en-US" sz="700" dirty="0">
                <a:latin typeface="+mn-ea"/>
              </a:rPr>
              <a:t>으로부터 기업등록증을 발급받는 자</a:t>
            </a:r>
            <a:r>
              <a:rPr lang="en-US" altLang="ko-KR" sz="700" dirty="0">
                <a:latin typeface="+mn-ea"/>
              </a:rPr>
              <a:t>(2018</a:t>
            </a:r>
            <a:r>
              <a:rPr lang="ko-KR" altLang="en-US" sz="700" dirty="0">
                <a:latin typeface="+mn-ea"/>
              </a:rPr>
              <a:t>년</a:t>
            </a:r>
            <a:r>
              <a:rPr lang="en-US" altLang="ko-KR" sz="700" dirty="0">
                <a:latin typeface="+mn-ea"/>
              </a:rPr>
              <a:t>4</a:t>
            </a:r>
            <a:r>
              <a:rPr lang="ko-KR" altLang="en-US" sz="700" dirty="0">
                <a:latin typeface="+mn-ea"/>
              </a:rPr>
              <a:t>월 </a:t>
            </a:r>
            <a:r>
              <a:rPr lang="en-US" altLang="ko-KR" sz="700" dirty="0">
                <a:latin typeface="+mn-ea"/>
              </a:rPr>
              <a:t>1</a:t>
            </a:r>
            <a:r>
              <a:rPr lang="ko-KR" altLang="en-US" sz="700" dirty="0">
                <a:latin typeface="+mn-ea"/>
              </a:rPr>
              <a:t>일 이전</a:t>
            </a:r>
            <a:r>
              <a:rPr lang="en-US" altLang="ko-KR" sz="700" dirty="0">
                <a:latin typeface="+mn-ea"/>
              </a:rPr>
              <a:t>) </a:t>
            </a:r>
            <a:r>
              <a:rPr lang="ko-KR" altLang="en-US" sz="700" dirty="0">
                <a:latin typeface="+mn-ea"/>
              </a:rPr>
              <a:t>입찰공고에 한하여 적용</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5003" y="2296278"/>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2" name="TextBox 171">
            <a:extLst>
              <a:ext uri="{FF2B5EF4-FFF2-40B4-BE49-F238E27FC236}">
                <a16:creationId xmlns:a16="http://schemas.microsoft.com/office/drawing/2014/main" id="{FFC49AEA-2A8F-250C-A86A-A7751D9706C3}"/>
              </a:ext>
            </a:extLst>
          </p:cNvPr>
          <p:cNvSpPr txBox="1"/>
          <p:nvPr/>
        </p:nvSpPr>
        <p:spPr>
          <a:xfrm>
            <a:off x="5711020" y="1987968"/>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6390176" y="19879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35283"/>
            <a:ext cx="1480199" cy="646331"/>
          </a:xfrm>
          <a:prstGeom prst="rect">
            <a:avLst/>
          </a:prstGeom>
          <a:noFill/>
        </p:spPr>
        <p:txBody>
          <a:bodyPr wrap="square" lIns="0" tIns="0" rIns="0" bIns="0" rtlCol="0">
            <a:spAutoFit/>
          </a:bodyPr>
          <a:lstStyle/>
          <a:p>
            <a:r>
              <a:rPr lang="en-US" altLang="ko-KR" sz="700" dirty="0">
                <a:latin typeface="+mn-ea"/>
              </a:rPr>
              <a:t>O.</a:t>
            </a:r>
            <a:r>
              <a:rPr lang="ko-KR" altLang="en-US" sz="700" dirty="0">
                <a:latin typeface="+mn-ea"/>
              </a:rPr>
              <a:t>정규직전환기업</a:t>
            </a:r>
          </a:p>
          <a:p>
            <a:r>
              <a:rPr lang="en-US" altLang="ko-KR" sz="700" dirty="0">
                <a:latin typeface="+mn-ea"/>
              </a:rPr>
              <a:t>- </a:t>
            </a:r>
            <a:r>
              <a:rPr lang="ko-KR" altLang="en-US" sz="700" dirty="0">
                <a:latin typeface="+mn-ea"/>
              </a:rPr>
              <a:t>고용노동부로부터 정규직 전환 지원사업 대상자로 승인을 받은 기업으로서</a:t>
            </a:r>
            <a:r>
              <a:rPr lang="en-US" altLang="ko-KR" sz="700" dirty="0">
                <a:latin typeface="+mn-ea"/>
              </a:rPr>
              <a:t>, </a:t>
            </a:r>
            <a:r>
              <a:rPr lang="ko-KR" altLang="en-US" sz="700" dirty="0">
                <a:latin typeface="+mn-ea"/>
              </a:rPr>
              <a:t>입찰서 </a:t>
            </a:r>
            <a:r>
              <a:rPr lang="ko-KR" altLang="en-US" sz="700" dirty="0" err="1">
                <a:latin typeface="+mn-ea"/>
              </a:rPr>
              <a:t>제출마감일</a:t>
            </a:r>
            <a:r>
              <a:rPr lang="ko-KR" altLang="en-US" sz="700" dirty="0">
                <a:latin typeface="+mn-ea"/>
              </a:rPr>
              <a:t> 전일 기준 최근 </a:t>
            </a:r>
            <a:r>
              <a:rPr lang="en-US" altLang="ko-KR" sz="700" dirty="0">
                <a:latin typeface="+mn-ea"/>
              </a:rPr>
              <a:t>1</a:t>
            </a:r>
            <a:r>
              <a:rPr lang="ko-KR" altLang="en-US" sz="700" dirty="0">
                <a:latin typeface="+mn-ea"/>
              </a:rPr>
              <a:t>년 이내에 정규직 전환을 이행한 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711020" y="2604587"/>
            <a:ext cx="118623" cy="107722"/>
          </a:xfrm>
          <a:prstGeom prst="rect">
            <a:avLst/>
          </a:prstGeom>
          <a:noFill/>
        </p:spPr>
        <p:txBody>
          <a:bodyPr wrap="none" lIns="0" tIns="0" rIns="0" bIns="0" rtlCol="0">
            <a:spAutoFit/>
          </a:bodyPr>
          <a:lstStyle/>
          <a:p>
            <a:pPr algn="r"/>
            <a:r>
              <a:rPr lang="en-US" altLang="ko-KR" sz="700" dirty="0">
                <a:latin typeface="+mn-ea"/>
              </a:rPr>
              <a:t>2.0</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6390176" y="260458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9" name="TextBox 17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32498" y="38916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6390176" y="40384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3919560" y="3930692"/>
            <a:ext cx="1480199" cy="323165"/>
          </a:xfrm>
          <a:prstGeom prst="rect">
            <a:avLst/>
          </a:prstGeom>
          <a:noFill/>
        </p:spPr>
        <p:txBody>
          <a:bodyPr wrap="square" lIns="0" tIns="0" rIns="0" bIns="0" rtlCol="0">
            <a:spAutoFit/>
          </a:bodyPr>
          <a:lstStyle/>
          <a:p>
            <a:r>
              <a:rPr lang="en-US" altLang="ko-KR" sz="700" dirty="0">
                <a:latin typeface="+mn-ea"/>
              </a:rPr>
              <a:t>Q.</a:t>
            </a:r>
            <a:r>
              <a:rPr lang="ko-KR" altLang="en-US" sz="700" dirty="0">
                <a:latin typeface="+mn-ea"/>
              </a:rPr>
              <a:t>노동시간단축 조기도입기입</a:t>
            </a:r>
          </a:p>
          <a:p>
            <a:r>
              <a:rPr lang="en-US" altLang="ko-KR" sz="700" dirty="0">
                <a:latin typeface="+mn-ea"/>
              </a:rPr>
              <a:t>  - </a:t>
            </a:r>
            <a:r>
              <a:rPr lang="ko-KR" altLang="en-US" sz="700" dirty="0">
                <a:latin typeface="+mn-ea"/>
              </a:rPr>
              <a:t>정부의 노동시간단축 일정보다 </a:t>
            </a:r>
            <a:r>
              <a:rPr lang="en-US" altLang="ko-KR" sz="700" dirty="0">
                <a:latin typeface="+mn-ea"/>
              </a:rPr>
              <a:t>1</a:t>
            </a:r>
            <a:r>
              <a:rPr lang="ko-KR" altLang="en-US" sz="700" dirty="0" err="1">
                <a:latin typeface="+mn-ea"/>
              </a:rPr>
              <a:t>년이상</a:t>
            </a:r>
            <a:r>
              <a:rPr lang="ko-KR" altLang="en-US" sz="700" dirty="0">
                <a:latin typeface="+mn-ea"/>
              </a:rPr>
              <a:t> 앞당긴 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5708515" y="4038413"/>
            <a:ext cx="118623"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2498" y="4292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TextBox 206">
            <a:extLst>
              <a:ext uri="{FF2B5EF4-FFF2-40B4-BE49-F238E27FC236}">
                <a16:creationId xmlns:a16="http://schemas.microsoft.com/office/drawing/2014/main" id="{FFC49AEA-2A8F-250C-A86A-A7751D9706C3}"/>
              </a:ext>
            </a:extLst>
          </p:cNvPr>
          <p:cNvSpPr txBox="1"/>
          <p:nvPr/>
        </p:nvSpPr>
        <p:spPr>
          <a:xfrm>
            <a:off x="6390176" y="34022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3059624"/>
            <a:ext cx="1480199" cy="107722"/>
          </a:xfrm>
          <a:prstGeom prst="rect">
            <a:avLst/>
          </a:prstGeom>
          <a:noFill/>
        </p:spPr>
        <p:txBody>
          <a:bodyPr wrap="square" lIns="0" tIns="0" rIns="0" bIns="0" rtlCol="0">
            <a:spAutoFit/>
          </a:bodyPr>
          <a:lstStyle/>
          <a:p>
            <a:r>
              <a:rPr lang="en-US" altLang="ko-KR" sz="700" dirty="0">
                <a:latin typeface="+mn-ea"/>
              </a:rPr>
              <a:t>P.</a:t>
            </a:r>
            <a:r>
              <a:rPr lang="ko-KR" altLang="en-US" sz="700" dirty="0">
                <a:latin typeface="+mn-ea"/>
              </a:rPr>
              <a:t>청년고용 우수기업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451" y="3206351"/>
            <a:ext cx="118687" cy="430887"/>
          </a:xfrm>
          <a:prstGeom prst="rect">
            <a:avLst/>
          </a:prstGeom>
          <a:noFill/>
        </p:spPr>
        <p:txBody>
          <a:bodyPr wrap="none" lIns="0" tIns="0" rIns="0" bIns="0" rtlCol="0">
            <a:spAutoFit/>
          </a:bodyPr>
          <a:lstStyle/>
          <a:p>
            <a:pPr algn="r"/>
            <a:r>
              <a:rPr lang="en-US" altLang="ko-KR" sz="700" dirty="0">
                <a:latin typeface="+mn-ea"/>
              </a:rPr>
              <a:t>1.0</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9560" y="3206351"/>
            <a:ext cx="1480199" cy="646331"/>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10%</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10</a:t>
            </a:r>
            <a:r>
              <a:rPr lang="ko-KR" altLang="en-US" sz="700" dirty="0">
                <a:latin typeface="+mn-ea"/>
              </a:rPr>
              <a:t>인 이상인 기업</a:t>
            </a: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5%</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5</a:t>
            </a:r>
            <a:r>
              <a:rPr lang="ko-KR" altLang="en-US" sz="700" dirty="0">
                <a:latin typeface="+mn-ea"/>
              </a:rPr>
              <a:t>인 이상인 기업</a:t>
            </a:r>
          </a:p>
        </p:txBody>
      </p: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2498" y="30206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6390176" y="44395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560" y="4331867"/>
            <a:ext cx="1480199" cy="323165"/>
          </a:xfrm>
          <a:prstGeom prst="rect">
            <a:avLst/>
          </a:prstGeom>
          <a:noFill/>
        </p:spPr>
        <p:txBody>
          <a:bodyPr wrap="square" lIns="0" tIns="0" rIns="0" bIns="0" rtlCol="0">
            <a:spAutoFit/>
          </a:bodyPr>
          <a:lstStyle/>
          <a:p>
            <a:r>
              <a:rPr lang="en-US" altLang="ko-KR" sz="700" dirty="0">
                <a:latin typeface="+mn-ea"/>
              </a:rPr>
              <a:t>R.</a:t>
            </a:r>
            <a:r>
              <a:rPr lang="ko-KR" altLang="en-US" sz="700" dirty="0" err="1">
                <a:latin typeface="+mn-ea"/>
              </a:rPr>
              <a:t>재기기업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err="1">
                <a:latin typeface="+mn-ea"/>
              </a:rPr>
              <a:t>년이내</a:t>
            </a:r>
            <a:r>
              <a:rPr lang="ko-KR" altLang="en-US" sz="700" dirty="0">
                <a:latin typeface="+mn-ea"/>
              </a:rPr>
              <a:t> 중소벤처기업부로부터 </a:t>
            </a:r>
            <a:r>
              <a:rPr lang="ko-KR" altLang="en-US" sz="700" dirty="0" err="1">
                <a:latin typeface="+mn-ea"/>
              </a:rPr>
              <a:t>재창업</a:t>
            </a:r>
            <a:r>
              <a:rPr lang="ko-KR" altLang="en-US" sz="700" dirty="0">
                <a:latin typeface="+mn-ea"/>
              </a:rPr>
              <a:t> 프로그램 지원받은 기업</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708515" y="443958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2498" y="46940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6390176" y="48946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3919560" y="4733042"/>
            <a:ext cx="1480199" cy="430887"/>
          </a:xfrm>
          <a:prstGeom prst="rect">
            <a:avLst/>
          </a:prstGeom>
          <a:noFill/>
        </p:spPr>
        <p:txBody>
          <a:bodyPr wrap="square" lIns="0" tIns="0" rIns="0" bIns="0" rtlCol="0">
            <a:spAutoFit/>
          </a:bodyPr>
          <a:lstStyle/>
          <a:p>
            <a:r>
              <a:rPr lang="en-US" altLang="ko-KR" sz="700" dirty="0">
                <a:latin typeface="+mn-ea"/>
              </a:rPr>
              <a:t>S.</a:t>
            </a:r>
            <a:r>
              <a:rPr lang="ko-KR" altLang="en-US" sz="700" dirty="0">
                <a:latin typeface="+mn-ea"/>
              </a:rPr>
              <a:t>사업전환계획 </a:t>
            </a:r>
            <a:r>
              <a:rPr lang="ko-KR" altLang="en-US" sz="700" dirty="0" err="1">
                <a:latin typeface="+mn-ea"/>
              </a:rPr>
              <a:t>승인기업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년 이내 중소기업 사업전환 촉진에 관한 특별법 제</a:t>
            </a:r>
            <a:r>
              <a:rPr lang="en-US" altLang="ko-KR" sz="700" dirty="0">
                <a:latin typeface="+mn-ea"/>
              </a:rPr>
              <a:t>8</a:t>
            </a:r>
            <a:r>
              <a:rPr lang="ko-KR" altLang="en-US" sz="700" dirty="0">
                <a:latin typeface="+mn-ea"/>
              </a:rPr>
              <a:t>조에 따른 사업전환계획 승인을 받은 기업</a:t>
            </a:r>
          </a:p>
        </p:txBody>
      </p:sp>
      <p:sp>
        <p:nvSpPr>
          <p:cNvPr id="235" name="TextBox 234">
            <a:extLst>
              <a:ext uri="{FF2B5EF4-FFF2-40B4-BE49-F238E27FC236}">
                <a16:creationId xmlns:a16="http://schemas.microsoft.com/office/drawing/2014/main" id="{FFC49AEA-2A8F-250C-A86A-A7751D9706C3}"/>
              </a:ext>
            </a:extLst>
          </p:cNvPr>
          <p:cNvSpPr txBox="1"/>
          <p:nvPr/>
        </p:nvSpPr>
        <p:spPr>
          <a:xfrm>
            <a:off x="5708515" y="489462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5202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2498" y="60739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6390176" y="558460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3919560" y="5241939"/>
            <a:ext cx="1480199" cy="430887"/>
          </a:xfrm>
          <a:prstGeom prst="rect">
            <a:avLst/>
          </a:prstGeom>
          <a:noFill/>
        </p:spPr>
        <p:txBody>
          <a:bodyPr wrap="square" lIns="0" tIns="0" rIns="0" bIns="0" rtlCol="0">
            <a:spAutoFit/>
          </a:bodyPr>
          <a:lstStyle/>
          <a:p>
            <a:r>
              <a:rPr lang="en-US" altLang="ko-KR" sz="700" dirty="0">
                <a:latin typeface="+mn-ea"/>
              </a:rPr>
              <a:t>T.</a:t>
            </a:r>
            <a:r>
              <a:rPr lang="ko-KR" altLang="en-US" sz="700" dirty="0" err="1">
                <a:latin typeface="+mn-ea"/>
              </a:rPr>
              <a:t>스마트공장</a:t>
            </a:r>
            <a:r>
              <a:rPr lang="ko-KR" altLang="en-US" sz="700" dirty="0">
                <a:latin typeface="+mn-ea"/>
              </a:rPr>
              <a:t> </a:t>
            </a:r>
            <a:r>
              <a:rPr lang="ko-KR" altLang="en-US" sz="700" dirty="0" err="1">
                <a:latin typeface="+mn-ea"/>
              </a:rPr>
              <a:t>수준확인</a:t>
            </a:r>
            <a:r>
              <a:rPr lang="ko-KR" altLang="en-US" sz="700" dirty="0">
                <a:latin typeface="+mn-ea"/>
              </a:rPr>
              <a:t> 기업</a:t>
            </a:r>
          </a:p>
          <a:p>
            <a:r>
              <a:rPr lang="en-US" altLang="ko-KR" sz="700" dirty="0">
                <a:latin typeface="+mn-ea"/>
              </a:rPr>
              <a:t>  - </a:t>
            </a:r>
            <a:r>
              <a:rPr lang="ko-KR" altLang="en-US" sz="700" dirty="0">
                <a:latin typeface="+mn-ea"/>
              </a:rPr>
              <a:t>중소벤처기업부장관이 지정한 기관으로부터 </a:t>
            </a:r>
            <a:r>
              <a:rPr lang="ko-KR" altLang="en-US" sz="700" dirty="0" err="1">
                <a:latin typeface="+mn-ea"/>
              </a:rPr>
              <a:t>스마트공장</a:t>
            </a:r>
            <a:r>
              <a:rPr lang="ko-KR" altLang="en-US" sz="700" dirty="0">
                <a:latin typeface="+mn-ea"/>
              </a:rPr>
              <a:t> </a:t>
            </a:r>
            <a:r>
              <a:rPr lang="ko-KR" altLang="en-US" sz="700" dirty="0" err="1">
                <a:latin typeface="+mn-ea"/>
              </a:rPr>
              <a:t>수준확인을</a:t>
            </a:r>
            <a:r>
              <a:rPr lang="ko-KR" altLang="en-US" sz="700" dirty="0">
                <a:latin typeface="+mn-ea"/>
              </a:rPr>
              <a:t> 받은 기업으로서</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708516" y="5711831"/>
            <a:ext cx="118622" cy="323165"/>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2.0</a:t>
            </a:r>
          </a:p>
          <a:p>
            <a:pPr algn="r"/>
            <a:r>
              <a:rPr lang="en-US" altLang="ko-KR" sz="700" dirty="0">
                <a:latin typeface="+mn-ea"/>
              </a:rPr>
              <a:t>3.0</a:t>
            </a:r>
          </a:p>
        </p:txBody>
      </p:sp>
      <p:sp>
        <p:nvSpPr>
          <p:cNvPr id="249" name="TextBox 248">
            <a:extLst>
              <a:ext uri="{FF2B5EF4-FFF2-40B4-BE49-F238E27FC236}">
                <a16:creationId xmlns:a16="http://schemas.microsoft.com/office/drawing/2014/main" id="{FFC49AEA-2A8F-250C-A86A-A7751D9706C3}"/>
              </a:ext>
            </a:extLst>
          </p:cNvPr>
          <p:cNvSpPr txBox="1"/>
          <p:nvPr/>
        </p:nvSpPr>
        <p:spPr>
          <a:xfrm>
            <a:off x="3919560" y="571183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1∼2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3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4∼5 </a:t>
            </a:r>
            <a:r>
              <a:rPr lang="ko-KR" altLang="en-US" sz="700" dirty="0">
                <a:latin typeface="+mn-ea"/>
              </a:rPr>
              <a:t>등급</a:t>
            </a: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5003" y="1493927"/>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899332696"/>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직사각형 185"/>
          <p:cNvSpPr/>
          <p:nvPr/>
        </p:nvSpPr>
        <p:spPr>
          <a:xfrm>
            <a:off x="718007" y="2176768"/>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805070" y="21767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2533112" y="21767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715915" y="21767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18008" y="2391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18008" y="280680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15915" y="32065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18008" y="30066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776886" y="1492460"/>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2953482" y="21767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805070" y="2437572"/>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2675779" y="24937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805070" y="28528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805070" y="30527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557156" y="2859668"/>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201" name="TextBox 200">
            <a:extLst>
              <a:ext uri="{FF2B5EF4-FFF2-40B4-BE49-F238E27FC236}">
                <a16:creationId xmlns:a16="http://schemas.microsoft.com/office/drawing/2014/main" id="{FFC49AEA-2A8F-250C-A86A-A7751D9706C3}"/>
              </a:ext>
            </a:extLst>
          </p:cNvPr>
          <p:cNvSpPr txBox="1"/>
          <p:nvPr/>
        </p:nvSpPr>
        <p:spPr>
          <a:xfrm>
            <a:off x="2507463" y="3056867"/>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3275686" y="31446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718008" y="40055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15915" y="36062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18008" y="34063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805070" y="32525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805070" y="34524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57156" y="3249519"/>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26" name="TextBox 225">
            <a:extLst>
              <a:ext uri="{FF2B5EF4-FFF2-40B4-BE49-F238E27FC236}">
                <a16:creationId xmlns:a16="http://schemas.microsoft.com/office/drawing/2014/main" id="{FFC49AEA-2A8F-250C-A86A-A7751D9706C3}"/>
              </a:ext>
            </a:extLst>
          </p:cNvPr>
          <p:cNvSpPr txBox="1"/>
          <p:nvPr/>
        </p:nvSpPr>
        <p:spPr>
          <a:xfrm>
            <a:off x="2557156" y="3446718"/>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718008" y="38060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9" name="TextBox 228">
            <a:extLst>
              <a:ext uri="{FF2B5EF4-FFF2-40B4-BE49-F238E27FC236}">
                <a16:creationId xmlns:a16="http://schemas.microsoft.com/office/drawing/2014/main" id="{FFC49AEA-2A8F-250C-A86A-A7751D9706C3}"/>
              </a:ext>
            </a:extLst>
          </p:cNvPr>
          <p:cNvSpPr txBox="1"/>
          <p:nvPr/>
        </p:nvSpPr>
        <p:spPr>
          <a:xfrm>
            <a:off x="805070" y="36522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805070" y="38521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2557156" y="3651366"/>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2507463" y="3848565"/>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675399" y="43315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7" name="TextBox 236">
            <a:extLst>
              <a:ext uri="{FF2B5EF4-FFF2-40B4-BE49-F238E27FC236}">
                <a16:creationId xmlns:a16="http://schemas.microsoft.com/office/drawing/2014/main" id="{FFC49AEA-2A8F-250C-A86A-A7751D9706C3}"/>
              </a:ext>
            </a:extLst>
          </p:cNvPr>
          <p:cNvSpPr txBox="1"/>
          <p:nvPr/>
        </p:nvSpPr>
        <p:spPr>
          <a:xfrm>
            <a:off x="762145" y="4051863"/>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6" name="그룹 5"/>
          <p:cNvGrpSpPr/>
          <p:nvPr/>
        </p:nvGrpSpPr>
        <p:grpSpPr>
          <a:xfrm>
            <a:off x="3836701" y="1492460"/>
            <a:ext cx="2630093" cy="1091295"/>
            <a:chOff x="3806813" y="1707904"/>
            <a:chExt cx="2630093" cy="1091295"/>
          </a:xfrm>
        </p:grpSpPr>
        <p:sp>
          <p:nvSpPr>
            <p:cNvPr id="117" name="직사각형 116"/>
            <p:cNvSpPr/>
            <p:nvPr/>
          </p:nvSpPr>
          <p:spPr>
            <a:xfrm>
              <a:off x="3808905" y="2172131"/>
              <a:ext cx="1639886" cy="627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3895968" y="21721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5624010" y="21721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3806813" y="21721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808906" y="23868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3867784" y="170790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불공정 하도급 거래</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하도급법</a:t>
              </a:r>
              <a:r>
                <a:rPr lang="ko-KR" altLang="en-US" sz="700" dirty="0">
                  <a:latin typeface="+mn-ea"/>
                </a:rPr>
                <a:t> </a:t>
              </a:r>
              <a:r>
                <a:rPr lang="ko-KR" altLang="en-US" sz="700" dirty="0" err="1">
                  <a:latin typeface="+mn-ea"/>
                </a:rPr>
                <a:t>위반정도</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6044380" y="21721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3895968" y="2432934"/>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1</a:t>
              </a:r>
              <a:r>
                <a:rPr lang="ko-KR" altLang="en-US" sz="700" dirty="0" err="1">
                  <a:latin typeface="+mn-ea"/>
                </a:rPr>
                <a:t>년이내에</a:t>
              </a:r>
              <a:r>
                <a:rPr lang="ko-KR" altLang="en-US" sz="700" dirty="0">
                  <a:latin typeface="+mn-ea"/>
                </a:rPr>
                <a:t> 공정거래위원장으로부터 하도급 상습범위반자로 통보 받은 자</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5648054" y="254065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366584" y="254065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808906" y="2799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2" name="직사각형 211"/>
          <p:cNvSpPr/>
          <p:nvPr/>
        </p:nvSpPr>
        <p:spPr>
          <a:xfrm>
            <a:off x="3838793" y="3097009"/>
            <a:ext cx="1639886" cy="16460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0970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653898" y="30970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6701" y="30970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3117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897672" y="2632783"/>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부정당업자제재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부정당업자로 </a:t>
            </a:r>
            <a:r>
              <a:rPr lang="ko-KR" altLang="en-US" sz="700" dirty="0" err="1">
                <a:latin typeface="+mn-ea"/>
              </a:rPr>
              <a:t>제재받은</a:t>
            </a:r>
            <a:r>
              <a:rPr lang="ko-KR" altLang="en-US" sz="700" dirty="0">
                <a:latin typeface="+mn-ea"/>
              </a:rPr>
              <a:t> </a:t>
            </a:r>
            <a:r>
              <a:rPr lang="ko-KR" altLang="en-US" sz="700" dirty="0" err="1">
                <a:latin typeface="+mn-ea"/>
              </a:rPr>
              <a:t>총제재기간</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6074268" y="30970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3925856" y="3357813"/>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2</a:t>
            </a:r>
            <a:r>
              <a:rPr lang="ko-KR" altLang="en-US" sz="700" dirty="0">
                <a:latin typeface="+mn-ea"/>
              </a:rPr>
              <a:t>년 이내 부정당업자 제재를 받은 자로서 부정당업자 </a:t>
            </a:r>
            <a:r>
              <a:rPr lang="ko-KR" altLang="en-US" sz="700" dirty="0" err="1">
                <a:latin typeface="+mn-ea"/>
              </a:rPr>
              <a:t>제재기간</a:t>
            </a:r>
            <a:r>
              <a:rPr lang="ko-KR" altLang="en-US" sz="700" dirty="0">
                <a:latin typeface="+mn-ea"/>
              </a:rPr>
              <a:t> 종료일이 입찰공고일로부터 </a:t>
            </a:r>
            <a:r>
              <a:rPr lang="en-US" altLang="ko-KR" sz="700" dirty="0">
                <a:latin typeface="+mn-ea"/>
              </a:rPr>
              <a:t>2</a:t>
            </a:r>
            <a:r>
              <a:rPr lang="ko-KR" altLang="en-US" sz="700" dirty="0">
                <a:latin typeface="+mn-ea"/>
              </a:rPr>
              <a:t>년 이내에 포함된 전체 부정당업자 제재 건의 총 </a:t>
            </a:r>
            <a:r>
              <a:rPr lang="ko-KR" altLang="en-US" sz="700" dirty="0" err="1">
                <a:latin typeface="+mn-ea"/>
              </a:rPr>
              <a:t>제재기간에</a:t>
            </a:r>
            <a:r>
              <a:rPr lang="ko-KR" altLang="en-US" sz="700" dirty="0">
                <a:latin typeface="+mn-ea"/>
              </a:rPr>
              <a:t> 따라</a:t>
            </a:r>
          </a:p>
        </p:txBody>
      </p:sp>
      <p:sp>
        <p:nvSpPr>
          <p:cNvPr id="220" name="TextBox 219">
            <a:extLst>
              <a:ext uri="{FF2B5EF4-FFF2-40B4-BE49-F238E27FC236}">
                <a16:creationId xmlns:a16="http://schemas.microsoft.com/office/drawing/2014/main" id="{FFC49AEA-2A8F-250C-A86A-A7751D9706C3}"/>
              </a:ext>
            </a:extLst>
          </p:cNvPr>
          <p:cNvSpPr txBox="1"/>
          <p:nvPr/>
        </p:nvSpPr>
        <p:spPr>
          <a:xfrm>
            <a:off x="5677879" y="3920768"/>
            <a:ext cx="155555" cy="754053"/>
          </a:xfrm>
          <a:prstGeom prst="rect">
            <a:avLst/>
          </a:prstGeom>
          <a:noFill/>
        </p:spPr>
        <p:txBody>
          <a:bodyPr wrap="none" lIns="0" tIns="0" rIns="0" bIns="0" rtlCol="0">
            <a:spAutoFit/>
          </a:bodyPr>
          <a:lstStyle/>
          <a:p>
            <a:pPr algn="r"/>
            <a:r>
              <a:rPr lang="en-US" altLang="ko-KR" sz="700" dirty="0">
                <a:latin typeface="+mn-ea"/>
              </a:rPr>
              <a:t>-2.0</a:t>
            </a:r>
          </a:p>
          <a:p>
            <a:pPr algn="r"/>
            <a:endParaRPr lang="en-US" altLang="ko-KR" sz="700" dirty="0">
              <a:latin typeface="+mn-ea"/>
            </a:endParaRPr>
          </a:p>
          <a:p>
            <a:pPr algn="r"/>
            <a:r>
              <a:rPr lang="en-US" altLang="ko-KR" sz="700" dirty="0">
                <a:latin typeface="+mn-ea"/>
              </a:rPr>
              <a:t>-1.5</a:t>
            </a:r>
          </a:p>
          <a:p>
            <a:pPr algn="r"/>
            <a:endParaRPr lang="en-US" altLang="ko-KR" sz="700" dirty="0">
              <a:latin typeface="+mn-ea"/>
            </a:endParaRPr>
          </a:p>
          <a:p>
            <a:pPr algn="r"/>
            <a:r>
              <a:rPr lang="en-US" altLang="ko-KR" sz="700" dirty="0">
                <a:latin typeface="+mn-ea"/>
              </a:rPr>
              <a:t>-1.0</a:t>
            </a: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6396472" y="39735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3" name="직선 연결선 232">
            <a:extLst>
              <a:ext uri="{FF2B5EF4-FFF2-40B4-BE49-F238E27FC236}">
                <a16:creationId xmlns:a16="http://schemas.microsoft.com/office/drawing/2014/main" id="{E9293055-D5CD-4B9E-7F64-64B2D2CA7A52}"/>
              </a:ext>
            </a:extLst>
          </p:cNvPr>
          <p:cNvCxnSpPr/>
          <p:nvPr/>
        </p:nvCxnSpPr>
        <p:spPr>
          <a:xfrm>
            <a:off x="3838794" y="4743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3925856" y="3920768"/>
            <a:ext cx="1480199" cy="754053"/>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총 </a:t>
            </a:r>
            <a:r>
              <a:rPr lang="ko-KR" altLang="en-US" sz="700" dirty="0" err="1">
                <a:latin typeface="+mn-ea"/>
              </a:rPr>
              <a:t>제재기간이</a:t>
            </a:r>
            <a:r>
              <a:rPr lang="ko-KR" altLang="en-US" sz="700" dirty="0">
                <a:latin typeface="+mn-ea"/>
              </a:rPr>
              <a:t> </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이상인 경우</a:t>
            </a:r>
          </a:p>
          <a:p>
            <a:r>
              <a:rPr lang="en-US" altLang="ko-KR" sz="700" dirty="0">
                <a:latin typeface="+mn-ea"/>
              </a:rPr>
              <a:t>  - </a:t>
            </a:r>
            <a:r>
              <a:rPr lang="ko-KR" altLang="en-US" sz="700" dirty="0">
                <a:latin typeface="+mn-ea"/>
              </a:rPr>
              <a:t>총제재기간이 </a:t>
            </a:r>
            <a:r>
              <a:rPr lang="en-US" altLang="ko-KR" sz="700" dirty="0">
                <a:latin typeface="+mn-ea"/>
              </a:rPr>
              <a:t>1</a:t>
            </a:r>
            <a:r>
              <a:rPr lang="ko-KR" altLang="en-US" sz="700" dirty="0" err="1">
                <a:latin typeface="+mn-ea"/>
              </a:rPr>
              <a:t>년이상</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이상</a:t>
            </a:r>
            <a:r>
              <a:rPr lang="en-US" altLang="ko-KR" sz="700" dirty="0">
                <a:latin typeface="+mn-ea"/>
              </a:rPr>
              <a:t>~ 1</a:t>
            </a:r>
            <a:r>
              <a:rPr lang="ko-KR" altLang="en-US" sz="700" dirty="0">
                <a:latin typeface="+mn-ea"/>
              </a:rPr>
              <a:t>년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미만인 경우</a:t>
            </a:r>
          </a:p>
        </p:txBody>
      </p:sp>
      <p:sp>
        <p:nvSpPr>
          <p:cNvPr id="67" name="타원 66">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5988542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3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97433">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소계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소계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고도인증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고도인증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녹색 일반인증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녹색 일반인증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영세기업 지원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영세기업 지원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기타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기타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계약이행 성실도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4067482"/>
            <a:ext cx="296131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435123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11" name="TextBox 10">
            <a:extLst>
              <a:ext uri="{FF2B5EF4-FFF2-40B4-BE49-F238E27FC236}">
                <a16:creationId xmlns:a16="http://schemas.microsoft.com/office/drawing/2014/main" id="{AC4C4897-C32F-B3F5-E1C5-D8DB3D6E6904}"/>
              </a:ext>
            </a:extLst>
          </p:cNvPr>
          <p:cNvSpPr txBox="1"/>
          <p:nvPr/>
        </p:nvSpPr>
        <p:spPr>
          <a:xfrm>
            <a:off x="460676" y="5147893"/>
            <a:ext cx="2810632"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DCB62277-9458-AC39-3630-6FD48BCD820E}"/>
              </a:ext>
            </a:extLst>
          </p:cNvPr>
          <p:cNvGraphicFramePr>
            <a:graphicFrameLocks noGrp="1"/>
          </p:cNvGraphicFramePr>
          <p:nvPr/>
        </p:nvGraphicFramePr>
        <p:xfrm>
          <a:off x="455558" y="5431647"/>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2" name="Text Box 73">
            <a:extLst>
              <a:ext uri="{FF2B5EF4-FFF2-40B4-BE49-F238E27FC236}">
                <a16:creationId xmlns:a16="http://schemas.microsoft.com/office/drawing/2014/main" id="{B8D0317B-44C7-3E75-E5B9-72997111014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956154552"/>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340</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92604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품질관리 등 신뢰정도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42499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고도인증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고도인증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녹색 일반인증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녹색 일반인증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공동수급체 구성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구성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소기업 출자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4064131"/>
                  </a:ext>
                </a:extLst>
              </a:tr>
              <a:tr h="0">
                <a:tc>
                  <a:txBody>
                    <a:bodyPr/>
                    <a:lstStyle/>
                    <a:p>
                      <a:pPr latinLnBrk="1"/>
                      <a:r>
                        <a:rPr lang="ko-KR" altLang="en-US" sz="800" dirty="0">
                          <a:latin typeface="+mn-ea"/>
                          <a:ea typeface="+mn-ea"/>
                        </a:rPr>
                        <a:t>지역업체 출자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지역업체 출자 심사평점</a:t>
                      </a:r>
                      <a:r>
                        <a:rPr lang="en-US" altLang="ko-KR" sz="800" dirty="0">
                          <a:latin typeface="+mn-ea"/>
                          <a:ea typeface="+mn-ea"/>
                        </a:rPr>
                        <a:t> </a:t>
                      </a:r>
                      <a:r>
                        <a:rPr lang="ko-KR" altLang="en-US" sz="800" dirty="0">
                          <a:latin typeface="+mn-ea"/>
                          <a:ea typeface="+mn-ea"/>
                        </a:rPr>
                        <a:t>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4519322"/>
                  </a:ext>
                </a:extLst>
              </a:tr>
              <a:tr h="0">
                <a:tc>
                  <a:txBody>
                    <a:bodyPr/>
                    <a:lstStyle/>
                    <a:p>
                      <a:pPr latinLnBrk="1"/>
                      <a:r>
                        <a:rPr lang="ko-KR" altLang="en-US" sz="800" dirty="0">
                          <a:latin typeface="+mn-ea"/>
                          <a:ea typeface="+mn-ea"/>
                        </a:rPr>
                        <a:t>소기업 또는 소상공인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조달업무 우수업체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조달업무 우수업체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여성기업지원 및 여성고용촉진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장애인기업지원 및 장애인 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장애인기업지원 및 장애인 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1750504"/>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4994941"/>
                  </a:ext>
                </a:extLst>
              </a:tr>
              <a:tr h="0">
                <a:tc>
                  <a:txBody>
                    <a:bodyPr/>
                    <a:lstStyle/>
                    <a:p>
                      <a:pPr latinLnBrk="1"/>
                      <a:r>
                        <a:rPr lang="ko-KR" altLang="en-US" sz="800" dirty="0">
                          <a:latin typeface="+mn-ea"/>
                          <a:ea typeface="+mn-ea"/>
                        </a:rPr>
                        <a:t>혁신형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혁신형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96982947"/>
                  </a:ext>
                </a:extLst>
              </a:tr>
              <a:tr h="0">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6125305"/>
                  </a:ext>
                </a:extLst>
              </a:tr>
              <a:tr h="0">
                <a:tc>
                  <a:txBody>
                    <a:bodyPr/>
                    <a:lstStyle/>
                    <a:p>
                      <a:pPr latinLnBrk="1"/>
                      <a:r>
                        <a:rPr lang="ko-KR" altLang="en-US" sz="800" dirty="0">
                          <a:latin typeface="+mn-ea"/>
                          <a:ea typeface="+mn-ea"/>
                        </a:rPr>
                        <a:t>수출우수기업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수출우수기업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0232807"/>
                  </a:ext>
                </a:extLst>
              </a:tr>
              <a:tr h="0">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4132194"/>
                  </a:ext>
                </a:extLst>
              </a:tr>
            </a:tbl>
          </a:graphicData>
        </a:graphic>
      </p:graphicFrame>
      <p:sp>
        <p:nvSpPr>
          <p:cNvPr id="2" name="TextBox 1">
            <a:extLst>
              <a:ext uri="{FF2B5EF4-FFF2-40B4-BE49-F238E27FC236}">
                <a16:creationId xmlns:a16="http://schemas.microsoft.com/office/drawing/2014/main" id="{C78E7E9A-0EB0-6FC4-1C2F-A6EF6163BF32}"/>
              </a:ext>
            </a:extLst>
          </p:cNvPr>
          <p:cNvSpPr txBox="1"/>
          <p:nvPr/>
        </p:nvSpPr>
        <p:spPr>
          <a:xfrm>
            <a:off x="465794" y="5543583"/>
            <a:ext cx="2655141"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B5E2BD0E-AF42-06C6-D0D9-A958375FCD26}"/>
              </a:ext>
            </a:extLst>
          </p:cNvPr>
          <p:cNvGraphicFramePr>
            <a:graphicFrameLocks noGrp="1"/>
          </p:cNvGraphicFramePr>
          <p:nvPr/>
        </p:nvGraphicFramePr>
        <p:xfrm>
          <a:off x="460676" y="5827337"/>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계약이행 성실도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5AEAEF9-30D7-84ED-5FF9-A64C13BD992E}"/>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1C5E269D-421E-0BC2-2982-72C6F464FEC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420270625"/>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341</a:t>
            </a:fld>
            <a:endParaRPr lang="ko-KR" altLang="en-US" dirty="0"/>
          </a:p>
        </p:txBody>
      </p:sp>
      <p:sp>
        <p:nvSpPr>
          <p:cNvPr id="5" name="TextBox 4">
            <a:extLst>
              <a:ext uri="{FF2B5EF4-FFF2-40B4-BE49-F238E27FC236}">
                <a16:creationId xmlns:a16="http://schemas.microsoft.com/office/drawing/2014/main" id="{375C52DF-2333-77DE-1014-EECBC60F9F7C}"/>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6" name="표 5">
            <a:extLst>
              <a:ext uri="{FF2B5EF4-FFF2-40B4-BE49-F238E27FC236}">
                <a16:creationId xmlns:a16="http://schemas.microsoft.com/office/drawing/2014/main" id="{AC5200E6-008B-19A5-0E8A-95E552A8367D}"/>
              </a:ext>
            </a:extLst>
          </p:cNvPr>
          <p:cNvGraphicFramePr>
            <a:graphicFrameLocks noGrp="1"/>
          </p:cNvGraphicFramePr>
          <p:nvPr>
            <p:extLst>
              <p:ext uri="{D42A27DB-BD31-4B8C-83A1-F6EECF244321}">
                <p14:modId xmlns:p14="http://schemas.microsoft.com/office/powerpoint/2010/main" val="1746835197"/>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B5904286-4495-A437-2B7B-94E42F4AE0B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44495769"/>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62341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02517" y="4153215"/>
            <a:ext cx="2630093" cy="846249"/>
            <a:chOff x="702517" y="4937381"/>
            <a:chExt cx="2630093" cy="846249"/>
          </a:xfrm>
        </p:grpSpPr>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계약목적물과 동등이상물품</a:t>
              </a:r>
            </a:p>
            <a:p>
              <a:r>
                <a:rPr lang="ko-KR" altLang="en-US" sz="700" dirty="0">
                  <a:latin typeface="+mn-ea"/>
                </a:rPr>
                <a:t>나</a:t>
              </a:r>
              <a:r>
                <a:rPr lang="en-US" altLang="ko-KR" sz="700" dirty="0">
                  <a:latin typeface="+mn-ea"/>
                </a:rPr>
                <a:t>.</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649557" y="5557572"/>
              <a:ext cx="49693" cy="107722"/>
            </a:xfrm>
            <a:prstGeom prst="rect">
              <a:avLst/>
            </a:prstGeom>
            <a:noFill/>
          </p:spPr>
          <p:txBody>
            <a:bodyPr wrap="none" lIns="0" tIns="0" rIns="0" bIns="0" rtlCol="0">
              <a:spAutoFit/>
            </a:bodyPr>
            <a:lstStyle/>
            <a:p>
              <a:pPr algn="r"/>
              <a:r>
                <a:rPr lang="en-US" altLang="ko-KR" sz="700" dirty="0">
                  <a:latin typeface="+mn-ea"/>
                </a:rPr>
                <a:t>5</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grpSp>
        <p:nvGrpSpPr>
          <p:cNvPr id="9" name="그룹 8"/>
          <p:cNvGrpSpPr/>
          <p:nvPr/>
        </p:nvGrpSpPr>
        <p:grpSpPr>
          <a:xfrm>
            <a:off x="716366" y="5043737"/>
            <a:ext cx="2630093" cy="726195"/>
            <a:chOff x="3826887" y="1497250"/>
            <a:chExt cx="2630093" cy="726195"/>
          </a:xfrm>
        </p:grpSpPr>
        <p:sp>
          <p:nvSpPr>
            <p:cNvPr id="246" name="직사각형 245"/>
            <p:cNvSpPr/>
            <p:nvPr/>
          </p:nvSpPr>
          <p:spPr>
            <a:xfrm>
              <a:off x="3828979" y="1784364"/>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기술평가등급</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a:t>
              </a:r>
            </a:p>
          </p:txBody>
        </p:sp>
        <p:grpSp>
          <p:nvGrpSpPr>
            <p:cNvPr id="249" name="그룹 248"/>
            <p:cNvGrpSpPr/>
            <p:nvPr/>
          </p:nvGrpSpPr>
          <p:grpSpPr>
            <a:xfrm>
              <a:off x="3826887" y="1784365"/>
              <a:ext cx="2630093" cy="429480"/>
              <a:chOff x="701175" y="1835481"/>
              <a:chExt cx="2630093" cy="429480"/>
            </a:xfrm>
          </p:grpSpPr>
          <p:cxnSp>
            <p:nvCxnSpPr>
              <p:cNvPr id="250" name="직선 연결선 2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기술능력</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390" y="1784365"/>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
        <p:nvSpPr>
          <p:cNvPr id="174" name="직사각형 173"/>
          <p:cNvSpPr/>
          <p:nvPr/>
        </p:nvSpPr>
        <p:spPr>
          <a:xfrm>
            <a:off x="3823602" y="41496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5" name="TextBox 174">
            <a:extLst>
              <a:ext uri="{FF2B5EF4-FFF2-40B4-BE49-F238E27FC236}">
                <a16:creationId xmlns:a16="http://schemas.microsoft.com/office/drawing/2014/main" id="{FFC49AEA-2A8F-250C-A86A-A7751D9706C3}"/>
              </a:ext>
            </a:extLst>
          </p:cNvPr>
          <p:cNvSpPr txBox="1"/>
          <p:nvPr/>
        </p:nvSpPr>
        <p:spPr>
          <a:xfrm>
            <a:off x="3910665" y="4149606"/>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492833" y="4149606"/>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177" name="그룹 176"/>
          <p:cNvGrpSpPr/>
          <p:nvPr/>
        </p:nvGrpSpPr>
        <p:grpSpPr>
          <a:xfrm>
            <a:off x="3821510" y="4149606"/>
            <a:ext cx="2630093" cy="429480"/>
            <a:chOff x="701175" y="1835481"/>
            <a:chExt cx="2630093" cy="429480"/>
          </a:xfrm>
        </p:grpSpPr>
        <p:cxnSp>
          <p:nvCxnSpPr>
            <p:cNvPr id="178" name="직선 연결선 17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1" name="TextBox 180">
            <a:extLst>
              <a:ext uri="{FF2B5EF4-FFF2-40B4-BE49-F238E27FC236}">
                <a16:creationId xmlns:a16="http://schemas.microsoft.com/office/drawing/2014/main" id="{FFC49AEA-2A8F-250C-A86A-A7751D9706C3}"/>
              </a:ext>
            </a:extLst>
          </p:cNvPr>
          <p:cNvSpPr txBox="1"/>
          <p:nvPr/>
        </p:nvSpPr>
        <p:spPr>
          <a:xfrm>
            <a:off x="3882481" y="3662254"/>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882481" y="38624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6059077" y="4149606"/>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84" name="직사각형 183"/>
          <p:cNvSpPr/>
          <p:nvPr/>
        </p:nvSpPr>
        <p:spPr>
          <a:xfrm>
            <a:off x="3823602" y="4906289"/>
            <a:ext cx="1639886" cy="117937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TextBox 184">
            <a:extLst>
              <a:ext uri="{FF2B5EF4-FFF2-40B4-BE49-F238E27FC236}">
                <a16:creationId xmlns:a16="http://schemas.microsoft.com/office/drawing/2014/main" id="{FFC49AEA-2A8F-250C-A86A-A7751D9706C3}"/>
              </a:ext>
            </a:extLst>
          </p:cNvPr>
          <p:cNvSpPr txBox="1"/>
          <p:nvPr/>
        </p:nvSpPr>
        <p:spPr>
          <a:xfrm>
            <a:off x="3910665" y="4906289"/>
            <a:ext cx="1480199" cy="861774"/>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a:t>
            </a:r>
            <a:r>
              <a:rPr lang="ko-KR" altLang="en-US" sz="700" dirty="0" err="1">
                <a:latin typeface="+mn-ea"/>
              </a:rPr>
              <a:t>고도인증</a:t>
            </a:r>
            <a:endParaRPr lang="ko-KR" altLang="en-US" sz="700" dirty="0">
              <a:latin typeface="+mn-ea"/>
            </a:endParaRPr>
          </a:p>
          <a:p>
            <a:pPr>
              <a:lnSpc>
                <a:spcPct val="200000"/>
              </a:lnSpc>
            </a:pP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ko-KR" altLang="en-US" sz="700" dirty="0">
              <a:latin typeface="+mn-ea"/>
            </a:endParaRPr>
          </a:p>
          <a:p>
            <a:pPr>
              <a:lnSpc>
                <a:spcPct val="200000"/>
              </a:lnSpc>
            </a:pP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p:txBody>
      </p:sp>
      <p:sp>
        <p:nvSpPr>
          <p:cNvPr id="186" name="TextBox 185">
            <a:extLst>
              <a:ext uri="{FF2B5EF4-FFF2-40B4-BE49-F238E27FC236}">
                <a16:creationId xmlns:a16="http://schemas.microsoft.com/office/drawing/2014/main" id="{FFC49AEA-2A8F-250C-A86A-A7751D9706C3}"/>
              </a:ext>
            </a:extLst>
          </p:cNvPr>
          <p:cNvSpPr txBox="1"/>
          <p:nvPr/>
        </p:nvSpPr>
        <p:spPr>
          <a:xfrm>
            <a:off x="5638707" y="4906289"/>
            <a:ext cx="179536" cy="86177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1.5</a:t>
            </a:r>
          </a:p>
          <a:p>
            <a:pPr algn="r">
              <a:lnSpc>
                <a:spcPct val="200000"/>
              </a:lnSpc>
            </a:pPr>
            <a:r>
              <a:rPr lang="en-US" altLang="ko-KR" sz="700" dirty="0">
                <a:latin typeface="+mn-ea"/>
              </a:rPr>
              <a:t>0.75</a:t>
            </a:r>
          </a:p>
          <a:p>
            <a:pPr algn="r">
              <a:lnSpc>
                <a:spcPct val="200000"/>
              </a:lnSpc>
            </a:pPr>
            <a:r>
              <a:rPr lang="en-US" altLang="ko-KR" sz="700" dirty="0">
                <a:latin typeface="+mn-ea"/>
              </a:rPr>
              <a:t>3.0</a:t>
            </a:r>
          </a:p>
        </p:txBody>
      </p:sp>
      <p:grpSp>
        <p:nvGrpSpPr>
          <p:cNvPr id="187" name="그룹 186"/>
          <p:cNvGrpSpPr/>
          <p:nvPr/>
        </p:nvGrpSpPr>
        <p:grpSpPr>
          <a:xfrm>
            <a:off x="3821510" y="4906289"/>
            <a:ext cx="2630093" cy="1182064"/>
            <a:chOff x="701175" y="1835481"/>
            <a:chExt cx="2630093" cy="1182064"/>
          </a:xfrm>
        </p:grpSpPr>
        <p:cxnSp>
          <p:nvCxnSpPr>
            <p:cNvPr id="188" name="직선 연결선 18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03268" y="30175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6" name="TextBox 195">
            <a:extLst>
              <a:ext uri="{FF2B5EF4-FFF2-40B4-BE49-F238E27FC236}">
                <a16:creationId xmlns:a16="http://schemas.microsoft.com/office/drawing/2014/main" id="{FFC49AEA-2A8F-250C-A86A-A7751D9706C3}"/>
              </a:ext>
            </a:extLst>
          </p:cNvPr>
          <p:cNvSpPr txBox="1"/>
          <p:nvPr/>
        </p:nvSpPr>
        <p:spPr>
          <a:xfrm>
            <a:off x="3882481" y="4619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6059077" y="4906289"/>
            <a:ext cx="359073" cy="861774"/>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0665" y="581375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라</a:t>
            </a:r>
            <a:r>
              <a:rPr lang="en-US" altLang="ko-KR" dirty="0"/>
              <a:t>.</a:t>
            </a:r>
            <a:r>
              <a:rPr lang="ko-KR" altLang="en-US" dirty="0"/>
              <a:t>기타</a:t>
            </a:r>
            <a:r>
              <a:rPr lang="en-US" altLang="ko-KR" dirty="0"/>
              <a:t>(</a:t>
            </a:r>
            <a:r>
              <a:rPr lang="ko-KR" altLang="en-US" dirty="0"/>
              <a:t>여성기업</a:t>
            </a:r>
            <a:r>
              <a:rPr lang="en-US" altLang="ko-KR" dirty="0"/>
              <a:t>, </a:t>
            </a:r>
            <a:r>
              <a:rPr lang="ko-KR" altLang="en-US" dirty="0"/>
              <a:t>장애인기업 및 장애인고용 우수기업 </a:t>
            </a:r>
            <a:r>
              <a:rPr lang="ko-KR" altLang="en-US" dirty="0" err="1"/>
              <a:t>지원등</a:t>
            </a:r>
            <a:r>
              <a:rPr lang="en-US" altLang="ko-KR" dirty="0"/>
              <a:t>)</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695408" y="5867613"/>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6377069" y="58676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8" name="그룹 7"/>
          <p:cNvGrpSpPr/>
          <p:nvPr/>
        </p:nvGrpSpPr>
        <p:grpSpPr>
          <a:xfrm>
            <a:off x="3836701" y="2445254"/>
            <a:ext cx="2630093" cy="926432"/>
            <a:chOff x="702517" y="4991154"/>
            <a:chExt cx="2630093" cy="926432"/>
          </a:xfrm>
        </p:grpSpPr>
        <p:sp>
          <p:nvSpPr>
            <p:cNvPr id="214" name="직사각형 213"/>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TextBox 214">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60</a:t>
              </a:r>
            </a:p>
          </p:txBody>
        </p:sp>
        <p:grpSp>
          <p:nvGrpSpPr>
            <p:cNvPr id="217" name="그룹 216"/>
            <p:cNvGrpSpPr/>
            <p:nvPr/>
          </p:nvGrpSpPr>
          <p:grpSpPr>
            <a:xfrm>
              <a:off x="702517" y="5478506"/>
              <a:ext cx="2630093" cy="429480"/>
              <a:chOff x="701175" y="1835481"/>
              <a:chExt cx="2630093" cy="42948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21" name="TextBox 220">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cxnSp>
        <p:nvCxnSpPr>
          <p:cNvPr id="224" name="직선 연결선 223">
            <a:extLst>
              <a:ext uri="{FF2B5EF4-FFF2-40B4-BE49-F238E27FC236}">
                <a16:creationId xmlns:a16="http://schemas.microsoft.com/office/drawing/2014/main" id="{E9293055-D5CD-4B9E-7F64-64B2D2CA7A52}"/>
              </a:ext>
            </a:extLst>
          </p:cNvPr>
          <p:cNvCxnSpPr/>
          <p:nvPr/>
        </p:nvCxnSpPr>
        <p:spPr>
          <a:xfrm>
            <a:off x="3801111" y="24102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5" name="그룹 224"/>
          <p:cNvGrpSpPr/>
          <p:nvPr/>
        </p:nvGrpSpPr>
        <p:grpSpPr>
          <a:xfrm>
            <a:off x="3826887" y="1628794"/>
            <a:ext cx="2630093" cy="726195"/>
            <a:chOff x="3826887" y="2285533"/>
            <a:chExt cx="2630093" cy="726195"/>
          </a:xfrm>
        </p:grpSpPr>
        <p:sp>
          <p:nvSpPr>
            <p:cNvPr id="226" name="직사각형 225"/>
            <p:cNvSpPr/>
            <p:nvPr/>
          </p:nvSpPr>
          <p:spPr>
            <a:xfrm>
              <a:off x="3828979" y="257264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3916042" y="257264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644084" y="257264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29" name="그룹 228"/>
            <p:cNvGrpSpPr/>
            <p:nvPr/>
          </p:nvGrpSpPr>
          <p:grpSpPr>
            <a:xfrm>
              <a:off x="3826887" y="2572648"/>
              <a:ext cx="2630093" cy="429480"/>
              <a:chOff x="701175" y="1835481"/>
              <a:chExt cx="2630093" cy="42948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30" name="TextBox 229">
              <a:extLst>
                <a:ext uri="{FF2B5EF4-FFF2-40B4-BE49-F238E27FC236}">
                  <a16:creationId xmlns:a16="http://schemas.microsoft.com/office/drawing/2014/main" id="{FFC49AEA-2A8F-250C-A86A-A7751D9706C3}"/>
                </a:ext>
              </a:extLst>
            </p:cNvPr>
            <p:cNvSpPr txBox="1"/>
            <p:nvPr/>
          </p:nvSpPr>
          <p:spPr>
            <a:xfrm>
              <a:off x="3887858" y="22855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경영상태</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6064390" y="257264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Tree>
    <p:extLst>
      <p:ext uri="{BB962C8B-B14F-4D97-AF65-F5344CB8AC3E}">
        <p14:creationId xmlns:p14="http://schemas.microsoft.com/office/powerpoint/2010/main" val="1498845628"/>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8" name="직사각형 197"/>
          <p:cNvSpPr/>
          <p:nvPr/>
        </p:nvSpPr>
        <p:spPr>
          <a:xfrm>
            <a:off x="703267" y="1780280"/>
            <a:ext cx="1639886" cy="6422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790330" y="178028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18372" y="178028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02" name="직선 연결선 201">
            <a:extLst>
              <a:ext uri="{FF2B5EF4-FFF2-40B4-BE49-F238E27FC236}">
                <a16:creationId xmlns:a16="http://schemas.microsoft.com/office/drawing/2014/main" id="{E9293055-D5CD-4B9E-7F64-64B2D2CA7A52}"/>
              </a:ext>
            </a:extLst>
          </p:cNvPr>
          <p:cNvCxnSpPr/>
          <p:nvPr/>
        </p:nvCxnSpPr>
        <p:spPr>
          <a:xfrm>
            <a:off x="701175" y="17802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19950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4252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5" name="TextBox 204">
            <a:extLst>
              <a:ext uri="{FF2B5EF4-FFF2-40B4-BE49-F238E27FC236}">
                <a16:creationId xmlns:a16="http://schemas.microsoft.com/office/drawing/2014/main" id="{FFC49AEA-2A8F-250C-A86A-A7751D9706C3}"/>
              </a:ext>
            </a:extLst>
          </p:cNvPr>
          <p:cNvSpPr txBox="1"/>
          <p:nvPr/>
        </p:nvSpPr>
        <p:spPr>
          <a:xfrm>
            <a:off x="762146" y="149316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2938742" y="178028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0" y="205192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가</a:t>
            </a:r>
            <a:r>
              <a:rPr lang="en-US" altLang="ko-KR" dirty="0"/>
              <a:t>.</a:t>
            </a:r>
            <a:r>
              <a:rPr lang="ko-KR" altLang="en-US" dirty="0" err="1"/>
              <a:t>납품지연</a:t>
            </a:r>
            <a:endParaRPr lang="ko-KR" altLang="en-US" dirty="0"/>
          </a:p>
          <a:p>
            <a:r>
              <a:rPr lang="ko-KR" altLang="en-US" dirty="0"/>
              <a:t>나</a:t>
            </a:r>
            <a:r>
              <a:rPr lang="en-US" altLang="ko-KR" dirty="0"/>
              <a:t>.</a:t>
            </a:r>
            <a:r>
              <a:rPr lang="ko-KR" altLang="en-US" dirty="0"/>
              <a:t>불공정 하도급거래</a:t>
            </a:r>
          </a:p>
          <a:p>
            <a:r>
              <a:rPr lang="ko-KR" altLang="en-US" dirty="0"/>
              <a:t>다</a:t>
            </a:r>
            <a:r>
              <a:rPr lang="en-US" altLang="ko-KR" dirty="0"/>
              <a:t>.</a:t>
            </a:r>
            <a:r>
              <a:rPr lang="ko-KR" altLang="en-US" dirty="0"/>
              <a:t>부정당업자 제재</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2538204" y="215964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3256734" y="215964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7" name="그룹 6"/>
          <p:cNvGrpSpPr/>
          <p:nvPr/>
        </p:nvGrpSpPr>
        <p:grpSpPr>
          <a:xfrm>
            <a:off x="675399" y="2494195"/>
            <a:ext cx="2712027" cy="1150222"/>
            <a:chOff x="3795734" y="4959245"/>
            <a:chExt cx="2712027" cy="1150222"/>
          </a:xfrm>
        </p:grpSpPr>
        <p:sp>
          <p:nvSpPr>
            <p:cNvPr id="151" name="직사각형 150"/>
            <p:cNvSpPr/>
            <p:nvPr/>
          </p:nvSpPr>
          <p:spPr>
            <a:xfrm>
              <a:off x="3823602" y="5501188"/>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TextBox 151">
              <a:extLst>
                <a:ext uri="{FF2B5EF4-FFF2-40B4-BE49-F238E27FC236}">
                  <a16:creationId xmlns:a16="http://schemas.microsoft.com/office/drawing/2014/main" id="{FFC49AEA-2A8F-250C-A86A-A7751D9706C3}"/>
                </a:ext>
              </a:extLst>
            </p:cNvPr>
            <p:cNvSpPr txBox="1"/>
            <p:nvPr/>
          </p:nvSpPr>
          <p:spPr>
            <a:xfrm>
              <a:off x="3910665" y="5501189"/>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5638707" y="55011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54" name="그룹 153"/>
            <p:cNvGrpSpPr/>
            <p:nvPr/>
          </p:nvGrpSpPr>
          <p:grpSpPr>
            <a:xfrm>
              <a:off x="3821510" y="5501189"/>
              <a:ext cx="2630093" cy="608278"/>
              <a:chOff x="701175" y="1835481"/>
              <a:chExt cx="2630093" cy="608278"/>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03268" y="24437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3882481" y="501383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3882481" y="52140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162" name="TextBox 161">
              <a:extLst>
                <a:ext uri="{FF2B5EF4-FFF2-40B4-BE49-F238E27FC236}">
                  <a16:creationId xmlns:a16="http://schemas.microsoft.com/office/drawing/2014/main" id="{FFC49AEA-2A8F-250C-A86A-A7751D9706C3}"/>
                </a:ext>
              </a:extLst>
            </p:cNvPr>
            <p:cNvSpPr txBox="1"/>
            <p:nvPr/>
          </p:nvSpPr>
          <p:spPr>
            <a:xfrm>
              <a:off x="6059077" y="550118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4" y="495924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19560" y="5811265"/>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5690882" y="5865126"/>
              <a:ext cx="136256"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166" name="TextBox 165">
              <a:extLst>
                <a:ext uri="{FF2B5EF4-FFF2-40B4-BE49-F238E27FC236}">
                  <a16:creationId xmlns:a16="http://schemas.microsoft.com/office/drawing/2014/main" id="{FFC49AEA-2A8F-250C-A86A-A7751D9706C3}"/>
                </a:ext>
              </a:extLst>
            </p:cNvPr>
            <p:cNvSpPr txBox="1"/>
            <p:nvPr/>
          </p:nvSpPr>
          <p:spPr>
            <a:xfrm>
              <a:off x="6390176" y="58651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67" name="TextBox 166">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I) </a:t>
            </a:r>
            <a:r>
              <a:rPr lang="ko-KR" altLang="en-US" sz="700" dirty="0" err="1">
                <a:latin typeface="+mn-ea"/>
              </a:rPr>
              <a:t>당해물품</a:t>
            </a:r>
            <a:r>
              <a:rPr lang="ko-KR" altLang="en-US" sz="700" dirty="0">
                <a:latin typeface="+mn-ea"/>
              </a:rPr>
              <a:t> 납품이행능력</a:t>
            </a:r>
          </a:p>
        </p:txBody>
      </p:sp>
      <p:grpSp>
        <p:nvGrpSpPr>
          <p:cNvPr id="168" name="그룹 167"/>
          <p:cNvGrpSpPr/>
          <p:nvPr/>
        </p:nvGrpSpPr>
        <p:grpSpPr>
          <a:xfrm flipV="1">
            <a:off x="6245910"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TextBox 172">
            <a:extLst>
              <a:ext uri="{FF2B5EF4-FFF2-40B4-BE49-F238E27FC236}">
                <a16:creationId xmlns:a16="http://schemas.microsoft.com/office/drawing/2014/main" id="{FFC49AEA-2A8F-250C-A86A-A7751D9706C3}"/>
              </a:ext>
            </a:extLst>
          </p:cNvPr>
          <p:cNvSpPr txBox="1"/>
          <p:nvPr/>
        </p:nvSpPr>
        <p:spPr>
          <a:xfrm>
            <a:off x="3910665" y="1864633"/>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I-1.</a:t>
            </a:r>
            <a:r>
              <a:rPr lang="ko-KR" altLang="en-US" dirty="0"/>
              <a:t>납품실적</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3910665" y="224768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4435522" y="2320973"/>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910665" y="255507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4435522" y="2628365"/>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5650239" y="2139963"/>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(0.0)</a:t>
            </a:r>
          </a:p>
        </p:txBody>
      </p:sp>
      <p:sp>
        <p:nvSpPr>
          <p:cNvPr id="222" name="직사각형 221"/>
          <p:cNvSpPr/>
          <p:nvPr/>
        </p:nvSpPr>
        <p:spPr>
          <a:xfrm>
            <a:off x="3835134" y="2935541"/>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197" y="2935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5650239" y="2935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3832437" y="2935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3834530" y="3150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4530" y="38225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TextBox 227">
            <a:extLst>
              <a:ext uri="{FF2B5EF4-FFF2-40B4-BE49-F238E27FC236}">
                <a16:creationId xmlns:a16="http://schemas.microsoft.com/office/drawing/2014/main" id="{FFC49AEA-2A8F-250C-A86A-A7751D9706C3}"/>
              </a:ext>
            </a:extLst>
          </p:cNvPr>
          <p:cNvSpPr txBox="1"/>
          <p:nvPr/>
        </p:nvSpPr>
        <p:spPr>
          <a:xfrm>
            <a:off x="6070609" y="2935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36047" y="3217129"/>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5725003" y="3217129"/>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5.0</a:t>
            </a:r>
          </a:p>
          <a:p>
            <a:r>
              <a:rPr lang="en-US" altLang="ko-KR" dirty="0"/>
              <a:t>4.0</a:t>
            </a:r>
          </a:p>
          <a:p>
            <a:r>
              <a:rPr lang="en-US" altLang="ko-KR" dirty="0"/>
              <a:t>3.0</a:t>
            </a:r>
          </a:p>
          <a:p>
            <a:r>
              <a:rPr lang="en-US" altLang="ko-KR" dirty="0"/>
              <a:t>2.0</a:t>
            </a:r>
          </a:p>
          <a:p>
            <a:r>
              <a:rPr lang="en-US" altLang="ko-KR" dirty="0"/>
              <a:t>1.0</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6406663" y="3449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5</a:t>
            </a:r>
            <a:r>
              <a:rPr lang="ko-KR" altLang="en-US" dirty="0"/>
              <a:t>점 </a:t>
            </a:r>
            <a:r>
              <a:rPr lang="en-US" altLang="ko-KR" dirty="0"/>
              <a:t>(</a:t>
            </a:r>
            <a:r>
              <a:rPr lang="ko-KR" altLang="en-US" dirty="0"/>
              <a:t>기본점수</a:t>
            </a:r>
            <a:r>
              <a:rPr lang="en-US" altLang="ko-KR" dirty="0"/>
              <a:t>)</a:t>
            </a:r>
            <a:endParaRPr lang="ko-KR" altLang="en-US" dirty="0"/>
          </a:p>
        </p:txBody>
      </p:sp>
      <p:sp>
        <p:nvSpPr>
          <p:cNvPr id="244" name="TextBox 243">
            <a:extLst>
              <a:ext uri="{FF2B5EF4-FFF2-40B4-BE49-F238E27FC236}">
                <a16:creationId xmlns:a16="http://schemas.microsoft.com/office/drawing/2014/main" id="{FFC49AEA-2A8F-250C-A86A-A7751D9706C3}"/>
              </a:ext>
            </a:extLst>
          </p:cNvPr>
          <p:cNvSpPr txBox="1"/>
          <p:nvPr/>
        </p:nvSpPr>
        <p:spPr>
          <a:xfrm>
            <a:off x="3910665" y="206667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4435522" y="2139963"/>
            <a:ext cx="2010812" cy="107722"/>
          </a:xfrm>
          <a:prstGeom prst="rect">
            <a:avLst/>
          </a:prstGeom>
          <a:noFill/>
        </p:spPr>
        <p:txBody>
          <a:bodyPr wrap="square" lIns="0" tIns="0" rIns="0" bIns="0" rtlCol="0">
            <a:spAutoFit/>
          </a:bodyPr>
          <a:lstStyle/>
          <a:p>
            <a:r>
              <a:rPr lang="ko-KR" altLang="en-US" sz="700" dirty="0" err="1">
                <a:latin typeface="+mn-ea"/>
              </a:rPr>
              <a:t>중기업</a:t>
            </a:r>
            <a:endParaRPr lang="en-US" altLang="ko-KR" sz="700" dirty="0">
              <a:latin typeface="+mn-ea"/>
            </a:endParaRPr>
          </a:p>
        </p:txBody>
      </p:sp>
      <p:sp>
        <p:nvSpPr>
          <p:cNvPr id="264" name="TextBox 263">
            <a:extLst>
              <a:ext uri="{FF2B5EF4-FFF2-40B4-BE49-F238E27FC236}">
                <a16:creationId xmlns:a16="http://schemas.microsoft.com/office/drawing/2014/main" id="{FFC49AEA-2A8F-250C-A86A-A7751D9706C3}"/>
              </a:ext>
            </a:extLst>
          </p:cNvPr>
          <p:cNvSpPr txBox="1"/>
          <p:nvPr/>
        </p:nvSpPr>
        <p:spPr>
          <a:xfrm>
            <a:off x="3910665" y="38469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5" name="TextBox 264">
            <a:extLst>
              <a:ext uri="{FF2B5EF4-FFF2-40B4-BE49-F238E27FC236}">
                <a16:creationId xmlns:a16="http://schemas.microsoft.com/office/drawing/2014/main" id="{FFC49AEA-2A8F-250C-A86A-A7751D9706C3}"/>
              </a:ext>
            </a:extLst>
          </p:cNvPr>
          <p:cNvSpPr txBox="1"/>
          <p:nvPr/>
        </p:nvSpPr>
        <p:spPr>
          <a:xfrm>
            <a:off x="4435522" y="392023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10665" y="415433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4435522" y="422762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69" name="직사각형 268"/>
          <p:cNvSpPr/>
          <p:nvPr/>
        </p:nvSpPr>
        <p:spPr>
          <a:xfrm>
            <a:off x="3835134" y="4534803"/>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0" name="TextBox 269">
            <a:extLst>
              <a:ext uri="{FF2B5EF4-FFF2-40B4-BE49-F238E27FC236}">
                <a16:creationId xmlns:a16="http://schemas.microsoft.com/office/drawing/2014/main" id="{FFC49AEA-2A8F-250C-A86A-A7751D9706C3}"/>
              </a:ext>
            </a:extLst>
          </p:cNvPr>
          <p:cNvSpPr txBox="1"/>
          <p:nvPr/>
        </p:nvSpPr>
        <p:spPr>
          <a:xfrm>
            <a:off x="3922197" y="453480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5650239" y="453480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72" name="직선 연결선 271">
            <a:extLst>
              <a:ext uri="{FF2B5EF4-FFF2-40B4-BE49-F238E27FC236}">
                <a16:creationId xmlns:a16="http://schemas.microsoft.com/office/drawing/2014/main" id="{E9293055-D5CD-4B9E-7F64-64B2D2CA7A52}"/>
              </a:ext>
            </a:extLst>
          </p:cNvPr>
          <p:cNvCxnSpPr/>
          <p:nvPr/>
        </p:nvCxnSpPr>
        <p:spPr>
          <a:xfrm>
            <a:off x="3832437" y="45348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3" name="직선 연결선 272">
            <a:extLst>
              <a:ext uri="{FF2B5EF4-FFF2-40B4-BE49-F238E27FC236}">
                <a16:creationId xmlns:a16="http://schemas.microsoft.com/office/drawing/2014/main" id="{E9293055-D5CD-4B9E-7F64-64B2D2CA7A52}"/>
              </a:ext>
            </a:extLst>
          </p:cNvPr>
          <p:cNvCxnSpPr/>
          <p:nvPr/>
        </p:nvCxnSpPr>
        <p:spPr>
          <a:xfrm>
            <a:off x="3834530" y="47495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54218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5" name="TextBox 274">
            <a:extLst>
              <a:ext uri="{FF2B5EF4-FFF2-40B4-BE49-F238E27FC236}">
                <a16:creationId xmlns:a16="http://schemas.microsoft.com/office/drawing/2014/main" id="{FFC49AEA-2A8F-250C-A86A-A7751D9706C3}"/>
              </a:ext>
            </a:extLst>
          </p:cNvPr>
          <p:cNvSpPr txBox="1"/>
          <p:nvPr/>
        </p:nvSpPr>
        <p:spPr>
          <a:xfrm>
            <a:off x="6070609" y="453480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36047" y="4816391"/>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5675246" y="4816391"/>
            <a:ext cx="168379"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a:p>
            <a:r>
              <a:rPr lang="en-US" altLang="ko-KR" dirty="0"/>
              <a:t>1.25</a:t>
            </a:r>
          </a:p>
          <a:p>
            <a:r>
              <a:rPr lang="en-US" altLang="ko-KR" dirty="0"/>
              <a:t>1.0</a:t>
            </a:r>
          </a:p>
          <a:p>
            <a:r>
              <a:rPr lang="en-US" altLang="ko-KR" dirty="0"/>
              <a:t>0.75</a:t>
            </a:r>
          </a:p>
          <a:p>
            <a:r>
              <a:rPr lang="en-US" altLang="ko-KR" dirty="0"/>
              <a:t>0.5</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6406663" y="504846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1" name="직선 연결선 280">
            <a:extLst>
              <a:ext uri="{FF2B5EF4-FFF2-40B4-BE49-F238E27FC236}">
                <a16:creationId xmlns:a16="http://schemas.microsoft.com/office/drawing/2014/main" id="{E9293055-D5CD-4B9E-7F64-64B2D2CA7A52}"/>
              </a:ext>
            </a:extLst>
          </p:cNvPr>
          <p:cNvCxnSpPr/>
          <p:nvPr/>
        </p:nvCxnSpPr>
        <p:spPr>
          <a:xfrm>
            <a:off x="3795523" y="54825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타원 8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80197601"/>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794594"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90" name="TextBox 89">
            <a:extLst>
              <a:ext uri="{FF2B5EF4-FFF2-40B4-BE49-F238E27FC236}">
                <a16:creationId xmlns:a16="http://schemas.microsoft.com/office/drawing/2014/main" id="{FFC49AEA-2A8F-250C-A86A-A7751D9706C3}"/>
              </a:ext>
            </a:extLst>
          </p:cNvPr>
          <p:cNvSpPr txBox="1"/>
          <p:nvPr/>
        </p:nvSpPr>
        <p:spPr>
          <a:xfrm>
            <a:off x="1319451"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91" name="TextBox 90">
            <a:extLst>
              <a:ext uri="{FF2B5EF4-FFF2-40B4-BE49-F238E27FC236}">
                <a16:creationId xmlns:a16="http://schemas.microsoft.com/office/drawing/2014/main" id="{FFC49AEA-2A8F-250C-A86A-A7751D9706C3}"/>
              </a:ext>
            </a:extLst>
          </p:cNvPr>
          <p:cNvSpPr txBox="1"/>
          <p:nvPr/>
        </p:nvSpPr>
        <p:spPr>
          <a:xfrm>
            <a:off x="794594"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92" name="TextBox 91">
            <a:extLst>
              <a:ext uri="{FF2B5EF4-FFF2-40B4-BE49-F238E27FC236}">
                <a16:creationId xmlns:a16="http://schemas.microsoft.com/office/drawing/2014/main" id="{FFC49AEA-2A8F-250C-A86A-A7751D9706C3}"/>
              </a:ext>
            </a:extLst>
          </p:cNvPr>
          <p:cNvSpPr txBox="1"/>
          <p:nvPr/>
        </p:nvSpPr>
        <p:spPr>
          <a:xfrm>
            <a:off x="1319451"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6" name="그룹 5"/>
          <p:cNvGrpSpPr/>
          <p:nvPr/>
        </p:nvGrpSpPr>
        <p:grpSpPr>
          <a:xfrm>
            <a:off x="716366" y="2360021"/>
            <a:ext cx="2630093" cy="769487"/>
            <a:chOff x="716366" y="2360021"/>
            <a:chExt cx="2630093" cy="769487"/>
          </a:xfrm>
        </p:grpSpPr>
        <p:sp>
          <p:nvSpPr>
            <p:cNvPr id="94" name="직사각형 93"/>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05" name="TextBox 104">
            <a:extLst>
              <a:ext uri="{FF2B5EF4-FFF2-40B4-BE49-F238E27FC236}">
                <a16:creationId xmlns:a16="http://schemas.microsoft.com/office/drawing/2014/main" id="{FFC49AEA-2A8F-250C-A86A-A7751D9706C3}"/>
              </a:ext>
            </a:extLst>
          </p:cNvPr>
          <p:cNvSpPr txBox="1"/>
          <p:nvPr/>
        </p:nvSpPr>
        <p:spPr>
          <a:xfrm>
            <a:off x="794594"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ko-KR" altLang="en-US" sz="700" dirty="0">
                <a:latin typeface="+mn-ea"/>
              </a:rPr>
              <a:t>소기업 또는 소상공인</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794594"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1319451"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794594"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0" name="TextBox 109">
            <a:extLst>
              <a:ext uri="{FF2B5EF4-FFF2-40B4-BE49-F238E27FC236}">
                <a16:creationId xmlns:a16="http://schemas.microsoft.com/office/drawing/2014/main" id="{FFC49AEA-2A8F-250C-A86A-A7751D9706C3}"/>
              </a:ext>
            </a:extLst>
          </p:cNvPr>
          <p:cNvSpPr txBox="1"/>
          <p:nvPr/>
        </p:nvSpPr>
        <p:spPr>
          <a:xfrm>
            <a:off x="1319451"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93" name="TextBox 92">
            <a:extLst>
              <a:ext uri="{FF2B5EF4-FFF2-40B4-BE49-F238E27FC236}">
                <a16:creationId xmlns:a16="http://schemas.microsoft.com/office/drawing/2014/main" id="{FFC49AEA-2A8F-250C-A86A-A7751D9706C3}"/>
              </a:ext>
            </a:extLst>
          </p:cNvPr>
          <p:cNvSpPr txBox="1"/>
          <p:nvPr/>
        </p:nvSpPr>
        <p:spPr>
          <a:xfrm>
            <a:off x="2534168"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(2.0)</a:t>
            </a:r>
          </a:p>
        </p:txBody>
      </p:sp>
      <p:grpSp>
        <p:nvGrpSpPr>
          <p:cNvPr id="124" name="그룹 123"/>
          <p:cNvGrpSpPr/>
          <p:nvPr/>
        </p:nvGrpSpPr>
        <p:grpSpPr>
          <a:xfrm>
            <a:off x="716366" y="3850960"/>
            <a:ext cx="2630093" cy="769487"/>
            <a:chOff x="716366" y="2360021"/>
            <a:chExt cx="2630093" cy="769487"/>
          </a:xfrm>
        </p:grpSpPr>
        <p:sp>
          <p:nvSpPr>
            <p:cNvPr id="125" name="직사각형 124"/>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35" name="직선 연결선 134">
            <a:extLst>
              <a:ext uri="{FF2B5EF4-FFF2-40B4-BE49-F238E27FC236}">
                <a16:creationId xmlns:a16="http://schemas.microsoft.com/office/drawing/2014/main" id="{E9293055-D5CD-4B9E-7F64-64B2D2CA7A52}"/>
              </a:ext>
            </a:extLst>
          </p:cNvPr>
          <p:cNvCxnSpPr/>
          <p:nvPr/>
        </p:nvCxnSpPr>
        <p:spPr>
          <a:xfrm>
            <a:off x="675399"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135">
            <a:extLst>
              <a:ext uri="{FF2B5EF4-FFF2-40B4-BE49-F238E27FC236}">
                <a16:creationId xmlns:a16="http://schemas.microsoft.com/office/drawing/2014/main" id="{FFC49AEA-2A8F-250C-A86A-A7751D9706C3}"/>
              </a:ext>
            </a:extLst>
          </p:cNvPr>
          <p:cNvSpPr txBox="1"/>
          <p:nvPr/>
        </p:nvSpPr>
        <p:spPr>
          <a:xfrm>
            <a:off x="3911980"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4436837"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3911980"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4436837"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140" name="그룹 139"/>
          <p:cNvGrpSpPr/>
          <p:nvPr/>
        </p:nvGrpSpPr>
        <p:grpSpPr>
          <a:xfrm>
            <a:off x="3833752" y="2360021"/>
            <a:ext cx="2630093" cy="769487"/>
            <a:chOff x="716366" y="2360021"/>
            <a:chExt cx="2630093" cy="769487"/>
          </a:xfrm>
        </p:grpSpPr>
        <p:sp>
          <p:nvSpPr>
            <p:cNvPr id="141" name="직사각형 140"/>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2" name="TextBox 141">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74" name="TextBox 173">
            <a:extLst>
              <a:ext uri="{FF2B5EF4-FFF2-40B4-BE49-F238E27FC236}">
                <a16:creationId xmlns:a16="http://schemas.microsoft.com/office/drawing/2014/main" id="{FFC49AEA-2A8F-250C-A86A-A7751D9706C3}"/>
              </a:ext>
            </a:extLst>
          </p:cNvPr>
          <p:cNvSpPr txBox="1"/>
          <p:nvPr/>
        </p:nvSpPr>
        <p:spPr>
          <a:xfrm>
            <a:off x="3911980"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4436837" y="1564445"/>
            <a:ext cx="2010812" cy="107722"/>
          </a:xfrm>
          <a:prstGeom prst="rect">
            <a:avLst/>
          </a:prstGeom>
          <a:noFill/>
        </p:spPr>
        <p:txBody>
          <a:bodyPr wrap="square" lIns="0" tIns="0" rIns="0" bIns="0" rtlCol="0">
            <a:spAutoFit/>
          </a:bodyPr>
          <a:lstStyle/>
          <a:p>
            <a:r>
              <a:rPr lang="ko-KR" altLang="en-US" sz="700" dirty="0">
                <a:latin typeface="+mn-ea"/>
              </a:rPr>
              <a:t>창업기업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911980"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36837"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3911980"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9" name="TextBox 178">
            <a:extLst>
              <a:ext uri="{FF2B5EF4-FFF2-40B4-BE49-F238E27FC236}">
                <a16:creationId xmlns:a16="http://schemas.microsoft.com/office/drawing/2014/main" id="{FFC49AEA-2A8F-250C-A86A-A7751D9706C3}"/>
              </a:ext>
            </a:extLst>
          </p:cNvPr>
          <p:cNvSpPr txBox="1"/>
          <p:nvPr/>
        </p:nvSpPr>
        <p:spPr>
          <a:xfrm>
            <a:off x="4436837"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5651554"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(3.0)</a:t>
            </a:r>
          </a:p>
        </p:txBody>
      </p:sp>
      <p:grpSp>
        <p:nvGrpSpPr>
          <p:cNvPr id="181" name="그룹 180"/>
          <p:cNvGrpSpPr/>
          <p:nvPr/>
        </p:nvGrpSpPr>
        <p:grpSpPr>
          <a:xfrm>
            <a:off x="3833752" y="3850960"/>
            <a:ext cx="2630093" cy="769487"/>
            <a:chOff x="716366" y="2360021"/>
            <a:chExt cx="2630093" cy="769487"/>
          </a:xfrm>
        </p:grpSpPr>
        <p:sp>
          <p:nvSpPr>
            <p:cNvPr id="182" name="직사각형 181"/>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182">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92" name="직선 연결선 191">
            <a:extLst>
              <a:ext uri="{FF2B5EF4-FFF2-40B4-BE49-F238E27FC236}">
                <a16:creationId xmlns:a16="http://schemas.microsoft.com/office/drawing/2014/main" id="{E9293055-D5CD-4B9E-7F64-64B2D2CA7A52}"/>
              </a:ext>
            </a:extLst>
          </p:cNvPr>
          <p:cNvCxnSpPr/>
          <p:nvPr/>
        </p:nvCxnSpPr>
        <p:spPr>
          <a:xfrm>
            <a:off x="3792785"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타원 10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87364863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386311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788988" y="155350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I-2.</a:t>
            </a:r>
            <a:r>
              <a:rPr lang="ko-KR" altLang="en-US" dirty="0"/>
              <a:t>기술평가등급</a:t>
            </a:r>
          </a:p>
        </p:txBody>
      </p:sp>
      <p:sp>
        <p:nvSpPr>
          <p:cNvPr id="121" name="직사각형 120"/>
          <p:cNvSpPr/>
          <p:nvPr/>
        </p:nvSpPr>
        <p:spPr>
          <a:xfrm>
            <a:off x="713457" y="1828528"/>
            <a:ext cx="1639886" cy="19364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800520" y="1828529"/>
            <a:ext cx="1570293" cy="1938992"/>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a:p>
            <a:pPr>
              <a:lnSpc>
                <a:spcPct val="200000"/>
              </a:lnSpc>
            </a:pPr>
            <a:r>
              <a:rPr lang="en-US" altLang="ko-KR" sz="700" dirty="0">
                <a:latin typeface="+mn-ea"/>
              </a:rPr>
              <a:t>T1(</a:t>
            </a:r>
            <a:r>
              <a:rPr lang="ko-KR" altLang="en-US" sz="700" dirty="0">
                <a:latin typeface="+mn-ea"/>
              </a:rPr>
              <a:t>최고수준</a:t>
            </a:r>
            <a:r>
              <a:rPr lang="en-US" altLang="ko-KR" sz="700" dirty="0">
                <a:latin typeface="+mn-ea"/>
              </a:rPr>
              <a:t>)</a:t>
            </a:r>
          </a:p>
          <a:p>
            <a:pPr>
              <a:lnSpc>
                <a:spcPct val="200000"/>
              </a:lnSpc>
            </a:pPr>
            <a:r>
              <a:rPr lang="en-US" altLang="ko-KR" sz="700" dirty="0">
                <a:latin typeface="+mn-ea"/>
              </a:rPr>
              <a:t>T2(</a:t>
            </a:r>
            <a:r>
              <a:rPr lang="ko-KR" altLang="en-US" sz="700" dirty="0" err="1">
                <a:latin typeface="+mn-ea"/>
              </a:rPr>
              <a:t>매우우수</a:t>
            </a:r>
            <a:r>
              <a:rPr lang="en-US" altLang="ko-KR" sz="700" dirty="0">
                <a:latin typeface="+mn-ea"/>
              </a:rPr>
              <a:t>)</a:t>
            </a:r>
          </a:p>
          <a:p>
            <a:pPr>
              <a:lnSpc>
                <a:spcPct val="200000"/>
              </a:lnSpc>
            </a:pPr>
            <a:r>
              <a:rPr lang="en-US" altLang="ko-KR" sz="700" dirty="0">
                <a:latin typeface="+mn-ea"/>
              </a:rPr>
              <a:t>T3(</a:t>
            </a:r>
            <a:r>
              <a:rPr lang="ko-KR" altLang="en-US" sz="700" dirty="0" err="1">
                <a:latin typeface="+mn-ea"/>
              </a:rPr>
              <a:t>우수수준</a:t>
            </a:r>
            <a:r>
              <a:rPr lang="en-US" altLang="ko-KR" sz="700" dirty="0">
                <a:latin typeface="+mn-ea"/>
              </a:rPr>
              <a:t>)</a:t>
            </a:r>
          </a:p>
          <a:p>
            <a:pPr>
              <a:lnSpc>
                <a:spcPct val="200000"/>
              </a:lnSpc>
            </a:pPr>
            <a:r>
              <a:rPr lang="en-US" altLang="ko-KR" sz="700" dirty="0">
                <a:latin typeface="+mn-ea"/>
              </a:rPr>
              <a:t>T4(</a:t>
            </a:r>
            <a:r>
              <a:rPr lang="ko-KR" altLang="en-US" sz="700" dirty="0" err="1">
                <a:latin typeface="+mn-ea"/>
              </a:rPr>
              <a:t>양호수준</a:t>
            </a:r>
            <a:r>
              <a:rPr lang="en-US" altLang="ko-KR" sz="700" dirty="0">
                <a:latin typeface="+mn-ea"/>
              </a:rPr>
              <a:t>)</a:t>
            </a:r>
          </a:p>
          <a:p>
            <a:pPr>
              <a:lnSpc>
                <a:spcPct val="200000"/>
              </a:lnSpc>
            </a:pPr>
            <a:r>
              <a:rPr lang="en-US" altLang="ko-KR" sz="700" dirty="0">
                <a:latin typeface="+mn-ea"/>
              </a:rPr>
              <a:t>T5(</a:t>
            </a:r>
            <a:r>
              <a:rPr lang="ko-KR" altLang="en-US" sz="700" dirty="0">
                <a:latin typeface="+mn-ea"/>
              </a:rPr>
              <a:t>보통이상</a:t>
            </a:r>
            <a:r>
              <a:rPr lang="en-US" altLang="ko-KR" sz="700" dirty="0">
                <a:latin typeface="+mn-ea"/>
              </a:rPr>
              <a:t>)</a:t>
            </a:r>
          </a:p>
          <a:p>
            <a:pPr>
              <a:lnSpc>
                <a:spcPct val="200000"/>
              </a:lnSpc>
            </a:pPr>
            <a:r>
              <a:rPr lang="en-US" altLang="ko-KR" sz="700" dirty="0">
                <a:latin typeface="+mn-ea"/>
              </a:rPr>
              <a:t>T6(</a:t>
            </a:r>
            <a:r>
              <a:rPr lang="ko-KR" altLang="en-US" sz="700" dirty="0" err="1">
                <a:latin typeface="+mn-ea"/>
              </a:rPr>
              <a:t>보통수준</a:t>
            </a:r>
            <a:r>
              <a:rPr lang="en-US" altLang="ko-KR" sz="700" dirty="0">
                <a:latin typeface="+mn-ea"/>
              </a:rPr>
              <a:t>)</a:t>
            </a:r>
          </a:p>
          <a:p>
            <a:pPr>
              <a:lnSpc>
                <a:spcPct val="200000"/>
              </a:lnSpc>
            </a:pPr>
            <a:r>
              <a:rPr lang="en-US" altLang="ko-KR" sz="700" dirty="0">
                <a:latin typeface="+mn-ea"/>
              </a:rPr>
              <a:t>T7(</a:t>
            </a:r>
            <a:r>
              <a:rPr lang="ko-KR" altLang="en-US" sz="700" dirty="0" err="1">
                <a:latin typeface="+mn-ea"/>
              </a:rPr>
              <a:t>보통정도</a:t>
            </a:r>
            <a:r>
              <a:rPr lang="en-US" altLang="ko-KR" sz="700" dirty="0">
                <a:latin typeface="+mn-ea"/>
              </a:rPr>
              <a:t>)</a:t>
            </a:r>
          </a:p>
          <a:p>
            <a:pPr>
              <a:lnSpc>
                <a:spcPct val="200000"/>
              </a:lnSpc>
            </a:pPr>
            <a:r>
              <a:rPr lang="en-US" altLang="ko-KR" sz="700" dirty="0">
                <a:latin typeface="+mn-ea"/>
              </a:rPr>
              <a:t>T8</a:t>
            </a:r>
            <a:r>
              <a:rPr lang="ko-KR" altLang="en-US" sz="700" dirty="0">
                <a:latin typeface="+mn-ea"/>
              </a:rPr>
              <a:t>이하</a:t>
            </a:r>
            <a:r>
              <a:rPr lang="en-US" altLang="ko-KR" sz="700" dirty="0">
                <a:latin typeface="+mn-ea"/>
              </a:rPr>
              <a:t>(</a:t>
            </a:r>
            <a:r>
              <a:rPr lang="ko-KR" altLang="en-US" sz="700" dirty="0" err="1">
                <a:latin typeface="+mn-ea"/>
              </a:rPr>
              <a:t>보통이하</a:t>
            </a:r>
            <a:r>
              <a:rPr lang="en-US" altLang="ko-KR" sz="700" dirty="0">
                <a:latin typeface="+mn-ea"/>
              </a:rPr>
              <a:t>)</a:t>
            </a:r>
          </a:p>
        </p:txBody>
      </p:sp>
      <p:sp>
        <p:nvSpPr>
          <p:cNvPr id="123" name="TextBox 122">
            <a:extLst>
              <a:ext uri="{FF2B5EF4-FFF2-40B4-BE49-F238E27FC236}">
                <a16:creationId xmlns:a16="http://schemas.microsoft.com/office/drawing/2014/main" id="{FFC49AEA-2A8F-250C-A86A-A7751D9706C3}"/>
              </a:ext>
            </a:extLst>
          </p:cNvPr>
          <p:cNvSpPr txBox="1"/>
          <p:nvPr/>
        </p:nvSpPr>
        <p:spPr>
          <a:xfrm>
            <a:off x="2528562" y="1828529"/>
            <a:ext cx="179536" cy="1938992"/>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a:p>
            <a:pPr algn="r">
              <a:lnSpc>
                <a:spcPct val="200000"/>
              </a:lnSpc>
            </a:pPr>
            <a:r>
              <a:rPr lang="en-US" altLang="ko-KR" sz="700" dirty="0">
                <a:latin typeface="+mn-ea"/>
              </a:rPr>
              <a:t>5.0</a:t>
            </a:r>
          </a:p>
          <a:p>
            <a:pPr algn="r">
              <a:lnSpc>
                <a:spcPct val="200000"/>
              </a:lnSpc>
            </a:pPr>
            <a:r>
              <a:rPr lang="en-US" altLang="ko-KR" sz="700" dirty="0">
                <a:latin typeface="+mn-ea"/>
              </a:rPr>
              <a:t>4.9</a:t>
            </a:r>
          </a:p>
          <a:p>
            <a:pPr algn="r">
              <a:lnSpc>
                <a:spcPct val="200000"/>
              </a:lnSpc>
            </a:pPr>
            <a:r>
              <a:rPr lang="en-US" altLang="ko-KR" sz="700" dirty="0">
                <a:latin typeface="+mn-ea"/>
              </a:rPr>
              <a:t>4.8</a:t>
            </a:r>
          </a:p>
          <a:p>
            <a:pPr algn="r">
              <a:lnSpc>
                <a:spcPct val="200000"/>
              </a:lnSpc>
            </a:pPr>
            <a:r>
              <a:rPr lang="en-US" altLang="ko-KR" sz="700" dirty="0">
                <a:latin typeface="+mn-ea"/>
              </a:rPr>
              <a:t>4.7</a:t>
            </a:r>
          </a:p>
          <a:p>
            <a:pPr algn="r">
              <a:lnSpc>
                <a:spcPct val="200000"/>
              </a:lnSpc>
            </a:pPr>
            <a:r>
              <a:rPr lang="en-US" altLang="ko-KR" sz="700" dirty="0">
                <a:latin typeface="+mn-ea"/>
              </a:rPr>
              <a:t>4.6</a:t>
            </a:r>
          </a:p>
          <a:p>
            <a:pPr algn="r">
              <a:lnSpc>
                <a:spcPct val="200000"/>
              </a:lnSpc>
            </a:pPr>
            <a:r>
              <a:rPr lang="en-US" altLang="ko-KR" sz="700" dirty="0">
                <a:latin typeface="+mn-ea"/>
              </a:rPr>
              <a:t>4.5</a:t>
            </a:r>
          </a:p>
          <a:p>
            <a:pPr algn="r">
              <a:lnSpc>
                <a:spcPct val="200000"/>
              </a:lnSpc>
            </a:pPr>
            <a:r>
              <a:rPr lang="en-US" altLang="ko-KR" sz="700" dirty="0">
                <a:latin typeface="+mn-ea"/>
              </a:rPr>
              <a:t>4.4</a:t>
            </a:r>
          </a:p>
          <a:p>
            <a:pPr algn="r">
              <a:lnSpc>
                <a:spcPct val="200000"/>
              </a:lnSpc>
            </a:pPr>
            <a:r>
              <a:rPr lang="en-US" altLang="ko-KR" sz="700" dirty="0">
                <a:latin typeface="+mn-ea"/>
              </a:rPr>
              <a:t>4.0</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710760" y="18285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2853" y="20432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2853" y="376777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TextBox 150">
            <a:extLst>
              <a:ext uri="{FF2B5EF4-FFF2-40B4-BE49-F238E27FC236}">
                <a16:creationId xmlns:a16="http://schemas.microsoft.com/office/drawing/2014/main" id="{FFC49AEA-2A8F-250C-A86A-A7751D9706C3}"/>
              </a:ext>
            </a:extLst>
          </p:cNvPr>
          <p:cNvSpPr txBox="1"/>
          <p:nvPr/>
        </p:nvSpPr>
        <p:spPr>
          <a:xfrm>
            <a:off x="2948868" y="1828529"/>
            <a:ext cx="359137" cy="1938992"/>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2353343" y="1553506"/>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5</a:t>
            </a:r>
            <a:r>
              <a:rPr lang="ko-KR" altLang="en-US" dirty="0"/>
              <a:t>점</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10760" y="22661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12853" y="248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10760" y="27090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12853" y="29237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12853" y="31344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0760" y="33625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2853" y="35773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3793173" y="1527996"/>
            <a:ext cx="2712027" cy="3109822"/>
            <a:chOff x="3793173" y="1527996"/>
            <a:chExt cx="2712027" cy="3109822"/>
          </a:xfrm>
        </p:grpSpPr>
        <p:sp>
          <p:nvSpPr>
            <p:cNvPr id="173" name="TextBox 172">
              <a:extLst>
                <a:ext uri="{FF2B5EF4-FFF2-40B4-BE49-F238E27FC236}">
                  <a16:creationId xmlns:a16="http://schemas.microsoft.com/office/drawing/2014/main" id="{FFC49AEA-2A8F-250C-A86A-A7751D9706C3}"/>
                </a:ext>
              </a:extLst>
            </p:cNvPr>
            <p:cNvSpPr txBox="1"/>
            <p:nvPr/>
          </p:nvSpPr>
          <p:spPr>
            <a:xfrm>
              <a:off x="3879920"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93" name="그룹 192"/>
            <p:cNvGrpSpPr/>
            <p:nvPr/>
          </p:nvGrpSpPr>
          <p:grpSpPr>
            <a:xfrm flipV="1">
              <a:off x="6242007" y="1641327"/>
              <a:ext cx="94010" cy="47005"/>
              <a:chOff x="6812560" y="3297172"/>
              <a:chExt cx="94010" cy="47005"/>
            </a:xfrm>
          </p:grpSpPr>
          <p:cxnSp>
            <p:nvCxnSpPr>
              <p:cNvPr id="194" name="직선 연결선 1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5" name="직선 연결선 1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6" name="직선 연결선 195">
              <a:extLst>
                <a:ext uri="{FF2B5EF4-FFF2-40B4-BE49-F238E27FC236}">
                  <a16:creationId xmlns:a16="http://schemas.microsoft.com/office/drawing/2014/main" id="{E9293055-D5CD-4B9E-7F64-64B2D2CA7A52}"/>
                </a:ext>
              </a:extLst>
            </p:cNvPr>
            <p:cNvCxnSpPr/>
            <p:nvPr/>
          </p:nvCxnSpPr>
          <p:spPr>
            <a:xfrm>
              <a:off x="3793173"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793173"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99" name="그룹 198"/>
            <p:cNvGrpSpPr/>
            <p:nvPr/>
          </p:nvGrpSpPr>
          <p:grpSpPr>
            <a:xfrm>
              <a:off x="3817607" y="1876425"/>
              <a:ext cx="2630093" cy="646331"/>
              <a:chOff x="701175" y="1835481"/>
              <a:chExt cx="2630093" cy="646331"/>
            </a:xfrm>
          </p:grpSpPr>
          <p:sp>
            <p:nvSpPr>
              <p:cNvPr id="200" name="직사각형 199"/>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1" name="TextBox 200">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203" name="그룹 202"/>
              <p:cNvGrpSpPr/>
              <p:nvPr/>
            </p:nvGrpSpPr>
            <p:grpSpPr>
              <a:xfrm>
                <a:off x="701175" y="1835481"/>
                <a:ext cx="2630093" cy="644220"/>
                <a:chOff x="701175" y="1835481"/>
                <a:chExt cx="2630093" cy="644220"/>
              </a:xfrm>
            </p:grpSpPr>
            <p:cxnSp>
              <p:nvCxnSpPr>
                <p:cNvPr id="204" name="직선 연결선 20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09" name="TextBox 208">
              <a:extLst>
                <a:ext uri="{FF2B5EF4-FFF2-40B4-BE49-F238E27FC236}">
                  <a16:creationId xmlns:a16="http://schemas.microsoft.com/office/drawing/2014/main" id="{FFC49AEA-2A8F-250C-A86A-A7751D9706C3}"/>
                </a:ext>
              </a:extLst>
            </p:cNvPr>
            <p:cNvSpPr txBox="1"/>
            <p:nvPr/>
          </p:nvSpPr>
          <p:spPr>
            <a:xfrm>
              <a:off x="3879920" y="2656994"/>
              <a:ext cx="2268636" cy="215444"/>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60</a:t>
              </a:r>
            </a:p>
          </p:txBody>
        </p:sp>
        <p:grpSp>
          <p:nvGrpSpPr>
            <p:cNvPr id="210" name="그룹 209"/>
            <p:cNvGrpSpPr/>
            <p:nvPr/>
          </p:nvGrpSpPr>
          <p:grpSpPr>
            <a:xfrm flipV="1">
              <a:off x="6242007" y="2770325"/>
              <a:ext cx="94010" cy="47005"/>
              <a:chOff x="6812560" y="3297172"/>
              <a:chExt cx="94010" cy="47005"/>
            </a:xfrm>
          </p:grpSpPr>
          <p:cxnSp>
            <p:nvCxnSpPr>
              <p:cNvPr id="212" name="직선 연결선 2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3" name="직선 연결선 21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3173"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3793173"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16" name="그룹 215"/>
            <p:cNvGrpSpPr/>
            <p:nvPr/>
          </p:nvGrpSpPr>
          <p:grpSpPr>
            <a:xfrm>
              <a:off x="3817607" y="3005422"/>
              <a:ext cx="2630093" cy="1094598"/>
              <a:chOff x="701175" y="1835480"/>
              <a:chExt cx="2630093" cy="1094598"/>
            </a:xfrm>
          </p:grpSpPr>
          <p:sp>
            <p:nvSpPr>
              <p:cNvPr id="217" name="직사각형 216"/>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TextBox 217">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60 - 4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0" name="그룹 219"/>
              <p:cNvGrpSpPr/>
              <p:nvPr/>
            </p:nvGrpSpPr>
            <p:grpSpPr>
              <a:xfrm>
                <a:off x="701175" y="1835481"/>
                <a:ext cx="2630093" cy="1094597"/>
                <a:chOff x="701175" y="1835481"/>
                <a:chExt cx="2630093" cy="1094597"/>
              </a:xfrm>
            </p:grpSpPr>
            <p:cxnSp>
              <p:nvCxnSpPr>
                <p:cNvPr id="221" name="직선 연결선 22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27" name="TextBox 226">
              <a:extLst>
                <a:ext uri="{FF2B5EF4-FFF2-40B4-BE49-F238E27FC236}">
                  <a16:creationId xmlns:a16="http://schemas.microsoft.com/office/drawing/2014/main" id="{FFC49AEA-2A8F-250C-A86A-A7751D9706C3}"/>
                </a:ext>
              </a:extLst>
            </p:cNvPr>
            <p:cNvSpPr txBox="1"/>
            <p:nvPr/>
          </p:nvSpPr>
          <p:spPr>
            <a:xfrm>
              <a:off x="3879919"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48</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grpSp>
      <p:sp>
        <p:nvSpPr>
          <p:cNvPr id="72" name="타원 7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22357439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168" name="그룹 167"/>
          <p:cNvGrpSpPr/>
          <p:nvPr/>
        </p:nvGrpSpPr>
        <p:grpSpPr>
          <a:xfrm flipV="1">
            <a:off x="3124233"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675399"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직사각형 227"/>
          <p:cNvSpPr/>
          <p:nvPr/>
        </p:nvSpPr>
        <p:spPr>
          <a:xfrm>
            <a:off x="712162" y="2555584"/>
            <a:ext cx="1639886" cy="8890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9" name="TextBox 228">
            <a:extLst>
              <a:ext uri="{FF2B5EF4-FFF2-40B4-BE49-F238E27FC236}">
                <a16:creationId xmlns:a16="http://schemas.microsoft.com/office/drawing/2014/main" id="{FFC49AEA-2A8F-250C-A86A-A7751D9706C3}"/>
              </a:ext>
            </a:extLst>
          </p:cNvPr>
          <p:cNvSpPr txBox="1"/>
          <p:nvPr/>
        </p:nvSpPr>
        <p:spPr>
          <a:xfrm>
            <a:off x="799225"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2527267"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10070"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12163"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12163" y="3449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771041"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771041"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a:t>
            </a:r>
            <a:r>
              <a:rPr lang="ko-KR" altLang="en-US" sz="700" dirty="0" err="1">
                <a:latin typeface="+mn-ea"/>
              </a:rPr>
              <a:t>고도인증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고도기술에</a:t>
            </a:r>
            <a:r>
              <a:rPr lang="ko-KR" altLang="en-US" sz="700" dirty="0">
                <a:latin typeface="+mn-ea"/>
              </a:rPr>
              <a:t> 대한 인증</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2947637"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799225" y="2845534"/>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주무부 장관 등이 인증한 신기술</a:t>
            </a:r>
            <a:r>
              <a:rPr lang="en-US" altLang="ko-KR" sz="700" dirty="0">
                <a:latin typeface="+mn-ea"/>
              </a:rPr>
              <a:t>(NET, NEP)</a:t>
            </a:r>
            <a:r>
              <a:rPr lang="ko-KR" altLang="en-US" sz="700" dirty="0">
                <a:latin typeface="+mn-ea"/>
              </a:rPr>
              <a:t>인증</a:t>
            </a:r>
            <a:r>
              <a:rPr lang="en-US" altLang="ko-KR" sz="700" dirty="0">
                <a:latin typeface="+mn-ea"/>
              </a:rPr>
              <a:t>, </a:t>
            </a:r>
            <a:r>
              <a:rPr lang="ko-KR" altLang="en-US" sz="700" dirty="0">
                <a:latin typeface="+mn-ea"/>
              </a:rPr>
              <a:t>조달우수제품인증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보유자</a:t>
            </a:r>
          </a:p>
          <a:p>
            <a:r>
              <a:rPr lang="en-US" altLang="ko-KR" sz="700" dirty="0">
                <a:latin typeface="+mn-ea"/>
              </a:rPr>
              <a:t>B.</a:t>
            </a:r>
            <a:r>
              <a:rPr lang="ko-KR" altLang="en-US" sz="700" dirty="0">
                <a:latin typeface="+mn-ea"/>
              </a:rPr>
              <a:t>녹색기술인증보유자</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2588181" y="3060977"/>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39" name="직사각형 238"/>
          <p:cNvSpPr/>
          <p:nvPr/>
        </p:nvSpPr>
        <p:spPr>
          <a:xfrm>
            <a:off x="712162" y="3968929"/>
            <a:ext cx="1639886" cy="1226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799225" y="39689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2527267" y="39689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42" name="직선 연결선 241">
            <a:extLst>
              <a:ext uri="{FF2B5EF4-FFF2-40B4-BE49-F238E27FC236}">
                <a16:creationId xmlns:a16="http://schemas.microsoft.com/office/drawing/2014/main" id="{E9293055-D5CD-4B9E-7F64-64B2D2CA7A52}"/>
              </a:ext>
            </a:extLst>
          </p:cNvPr>
          <p:cNvCxnSpPr/>
          <p:nvPr/>
        </p:nvCxnSpPr>
        <p:spPr>
          <a:xfrm>
            <a:off x="710070" y="39689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712163" y="41836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12163" y="5195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771041" y="34829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일반기술</a:t>
            </a:r>
            <a:r>
              <a:rPr lang="ko-KR" altLang="en-US" sz="700" dirty="0">
                <a:latin typeface="+mn-ea"/>
              </a:rPr>
              <a:t> 및 친환경</a:t>
            </a:r>
            <a:r>
              <a:rPr lang="en-US" altLang="ko-KR" sz="700" dirty="0">
                <a:latin typeface="+mn-ea"/>
              </a:rPr>
              <a:t>,</a:t>
            </a:r>
            <a:r>
              <a:rPr lang="ko-KR" altLang="en-US" sz="700" dirty="0">
                <a:latin typeface="+mn-ea"/>
              </a:rPr>
              <a:t>품질</a:t>
            </a:r>
            <a:r>
              <a:rPr lang="en-US" altLang="ko-KR" sz="700" dirty="0">
                <a:latin typeface="+mn-ea"/>
              </a:rPr>
              <a:t>,</a:t>
            </a:r>
            <a:r>
              <a:rPr lang="ko-KR" altLang="en-US" sz="700" dirty="0" err="1">
                <a:latin typeface="+mn-ea"/>
              </a:rPr>
              <a:t>규격등에</a:t>
            </a:r>
            <a:r>
              <a:rPr lang="ko-KR" altLang="en-US" sz="700" dirty="0">
                <a:latin typeface="+mn-ea"/>
              </a:rPr>
              <a:t> 대한 인증</a:t>
            </a:r>
          </a:p>
        </p:txBody>
      </p:sp>
      <p:sp>
        <p:nvSpPr>
          <p:cNvPr id="246" name="TextBox 245">
            <a:extLst>
              <a:ext uri="{FF2B5EF4-FFF2-40B4-BE49-F238E27FC236}">
                <a16:creationId xmlns:a16="http://schemas.microsoft.com/office/drawing/2014/main" id="{FFC49AEA-2A8F-250C-A86A-A7751D9706C3}"/>
              </a:ext>
            </a:extLst>
          </p:cNvPr>
          <p:cNvSpPr txBox="1"/>
          <p:nvPr/>
        </p:nvSpPr>
        <p:spPr>
          <a:xfrm>
            <a:off x="2947637" y="39689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799225" y="4258291"/>
            <a:ext cx="1480199" cy="861774"/>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특허</a:t>
            </a:r>
            <a:r>
              <a:rPr lang="en-US" altLang="ko-KR" sz="700" dirty="0">
                <a:latin typeface="+mn-ea"/>
              </a:rPr>
              <a:t>, </a:t>
            </a:r>
            <a:r>
              <a:rPr lang="ko-KR" altLang="en-US" sz="700" dirty="0">
                <a:latin typeface="+mn-ea"/>
              </a:rPr>
              <a:t>디자인 등록 보유자</a:t>
            </a:r>
            <a:r>
              <a:rPr lang="en-US" altLang="ko-KR" sz="700" dirty="0">
                <a:latin typeface="+mn-ea"/>
              </a:rPr>
              <a:t>, GS(</a:t>
            </a:r>
            <a:r>
              <a:rPr lang="ko-KR" altLang="en-US" sz="700" dirty="0" err="1">
                <a:latin typeface="+mn-ea"/>
              </a:rPr>
              <a:t>국산우수</a:t>
            </a:r>
            <a:r>
              <a:rPr lang="ko-KR" altLang="en-US" sz="700" dirty="0">
                <a:latin typeface="+mn-ea"/>
              </a:rPr>
              <a:t> </a:t>
            </a:r>
            <a:r>
              <a:rPr lang="en-US" altLang="ko-KR" sz="700" dirty="0">
                <a:latin typeface="+mn-ea"/>
              </a:rPr>
              <a:t>S/W)</a:t>
            </a:r>
            <a:r>
              <a:rPr lang="ko-KR" altLang="en-US" sz="700" dirty="0">
                <a:latin typeface="+mn-ea"/>
              </a:rPr>
              <a:t>마크 보유자</a:t>
            </a:r>
            <a:r>
              <a:rPr lang="en-US" altLang="ko-KR" sz="700" dirty="0">
                <a:latin typeface="+mn-ea"/>
              </a:rPr>
              <a:t>, GR</a:t>
            </a:r>
            <a:r>
              <a:rPr lang="ko-KR" altLang="en-US" sz="700" dirty="0">
                <a:latin typeface="+mn-ea"/>
              </a:rPr>
              <a:t>보유자</a:t>
            </a:r>
          </a:p>
          <a:p>
            <a:r>
              <a:rPr lang="en-US" altLang="ko-KR" sz="700" dirty="0">
                <a:latin typeface="+mn-ea"/>
              </a:rPr>
              <a:t>B.</a:t>
            </a:r>
            <a:r>
              <a:rPr lang="ko-KR" altLang="en-US" sz="700" dirty="0">
                <a:latin typeface="+mn-ea"/>
              </a:rPr>
              <a:t>「산업표준화법시행규칙」 제</a:t>
            </a:r>
            <a:r>
              <a:rPr lang="en-US" altLang="ko-KR" sz="700" dirty="0">
                <a:latin typeface="+mn-ea"/>
              </a:rPr>
              <a:t>10</a:t>
            </a:r>
            <a:r>
              <a:rPr lang="ko-KR" altLang="en-US" sz="700" dirty="0">
                <a:latin typeface="+mn-ea"/>
              </a:rPr>
              <a:t>조에서 정한 </a:t>
            </a:r>
            <a:r>
              <a:rPr lang="en-US" altLang="ko-KR" sz="700" dirty="0">
                <a:latin typeface="+mn-ea"/>
              </a:rPr>
              <a:t>KS</a:t>
            </a:r>
            <a:r>
              <a:rPr lang="ko-KR" altLang="en-US" sz="700" dirty="0" err="1">
                <a:latin typeface="+mn-ea"/>
              </a:rPr>
              <a:t>제품인증서</a:t>
            </a:r>
            <a:r>
              <a:rPr lang="ko-KR" altLang="en-US" sz="700" dirty="0">
                <a:latin typeface="+mn-ea"/>
              </a:rPr>
              <a:t> 보유자</a:t>
            </a:r>
            <a:r>
              <a:rPr lang="en-US" altLang="ko-KR" sz="700" dirty="0">
                <a:latin typeface="+mn-ea"/>
              </a:rPr>
              <a:t>, </a:t>
            </a:r>
            <a:r>
              <a:rPr lang="ko-KR" altLang="en-US" sz="700" dirty="0">
                <a:latin typeface="+mn-ea"/>
              </a:rPr>
              <a:t>단체표준인증보유자</a:t>
            </a:r>
          </a:p>
          <a:p>
            <a:r>
              <a:rPr lang="en-US" altLang="ko-KR" sz="700" dirty="0">
                <a:latin typeface="+mn-ea"/>
              </a:rPr>
              <a:t>C.</a:t>
            </a:r>
            <a:r>
              <a:rPr lang="ko-KR" altLang="en-US" sz="700" dirty="0">
                <a:latin typeface="+mn-ea"/>
              </a:rPr>
              <a:t>고효율에너지기자재 인증 보유자</a:t>
            </a:r>
          </a:p>
          <a:p>
            <a:r>
              <a:rPr lang="en-US" altLang="ko-KR" sz="700" dirty="0">
                <a:latin typeface="+mn-ea"/>
              </a:rPr>
              <a:t>D.</a:t>
            </a:r>
            <a:r>
              <a:rPr lang="ko-KR" altLang="en-US" sz="700" dirty="0">
                <a:latin typeface="+mn-ea"/>
              </a:rPr>
              <a:t>「</a:t>
            </a:r>
            <a:r>
              <a:rPr lang="ko-KR" altLang="en-US" sz="700" dirty="0" err="1">
                <a:latin typeface="+mn-ea"/>
              </a:rPr>
              <a:t>에너지이용합리화법」제</a:t>
            </a:r>
            <a:r>
              <a:rPr lang="en-US" altLang="ko-KR" sz="700" dirty="0">
                <a:latin typeface="+mn-ea"/>
              </a:rPr>
              <a:t>15</a:t>
            </a:r>
            <a:r>
              <a:rPr lang="ko-KR" altLang="en-US" sz="700" dirty="0">
                <a:latin typeface="+mn-ea"/>
              </a:rPr>
              <a:t>조에 따른 에너지소비효율 </a:t>
            </a:r>
            <a:r>
              <a:rPr lang="en-US" altLang="ko-KR" sz="700" dirty="0">
                <a:latin typeface="+mn-ea"/>
              </a:rPr>
              <a:t>1</a:t>
            </a:r>
            <a:r>
              <a:rPr lang="ko-KR" altLang="en-US" sz="700" dirty="0" err="1">
                <a:latin typeface="+mn-ea"/>
              </a:rPr>
              <a:t>등급제품</a:t>
            </a:r>
            <a:endParaRPr lang="ko-KR" altLang="en-US"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2538487" y="4635317"/>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249" name="TextBox 248">
            <a:extLst>
              <a:ext uri="{FF2B5EF4-FFF2-40B4-BE49-F238E27FC236}">
                <a16:creationId xmlns:a16="http://schemas.microsoft.com/office/drawing/2014/main" id="{FFC49AEA-2A8F-250C-A86A-A7751D9706C3}"/>
              </a:ext>
            </a:extLst>
          </p:cNvPr>
          <p:cNvSpPr txBox="1"/>
          <p:nvPr/>
        </p:nvSpPr>
        <p:spPr>
          <a:xfrm>
            <a:off x="3269841" y="306097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100" name="그룹 99"/>
          <p:cNvGrpSpPr/>
          <p:nvPr/>
        </p:nvGrpSpPr>
        <p:grpSpPr>
          <a:xfrm>
            <a:off x="3836701" y="1491157"/>
            <a:ext cx="2630093" cy="4596934"/>
            <a:chOff x="716957" y="1491157"/>
            <a:chExt cx="2630093" cy="4596934"/>
          </a:xfrm>
        </p:grpSpPr>
        <p:sp>
          <p:nvSpPr>
            <p:cNvPr id="101" name="직사각형 100"/>
            <p:cNvSpPr/>
            <p:nvPr/>
          </p:nvSpPr>
          <p:spPr>
            <a:xfrm>
              <a:off x="719049" y="5494403"/>
              <a:ext cx="1639886" cy="5879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TextBox 101">
              <a:extLst>
                <a:ext uri="{FF2B5EF4-FFF2-40B4-BE49-F238E27FC236}">
                  <a16:creationId xmlns:a16="http://schemas.microsoft.com/office/drawing/2014/main" id="{FFC49AEA-2A8F-250C-A86A-A7751D9706C3}"/>
                </a:ext>
              </a:extLst>
            </p:cNvPr>
            <p:cNvSpPr txBox="1"/>
            <p:nvPr/>
          </p:nvSpPr>
          <p:spPr>
            <a:xfrm>
              <a:off x="777928" y="1491157"/>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03" name="직사각형 102"/>
            <p:cNvSpPr/>
            <p:nvPr/>
          </p:nvSpPr>
          <p:spPr>
            <a:xfrm>
              <a:off x="719049" y="2076267"/>
              <a:ext cx="1639886" cy="2953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806112" y="20762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534154" y="20762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716957" y="20762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19050" y="2291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719050" y="321019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2954524" y="2076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806112" y="2332291"/>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「중소기업제품 구매촉진 및 판로지원에 관한 법률」 제</a:t>
              </a:r>
              <a:r>
                <a:rPr lang="en-US" altLang="ko-KR" sz="700" dirty="0">
                  <a:latin typeface="+mn-ea"/>
                </a:rPr>
                <a:t>7</a:t>
              </a:r>
              <a:r>
                <a:rPr lang="ko-KR" altLang="en-US" sz="700" dirty="0">
                  <a:latin typeface="+mn-ea"/>
                </a:rPr>
                <a:t>조제</a:t>
              </a:r>
              <a:r>
                <a:rPr lang="en-US" altLang="ko-KR" sz="700" dirty="0">
                  <a:latin typeface="+mn-ea"/>
                </a:rPr>
                <a:t>3</a:t>
              </a:r>
              <a:r>
                <a:rPr lang="ko-KR" altLang="en-US" sz="700" dirty="0">
                  <a:latin typeface="+mn-ea"/>
                </a:rPr>
                <a:t>항 및 같은 </a:t>
              </a:r>
              <a:r>
                <a:rPr lang="ko-KR" altLang="en-US" sz="700" dirty="0" err="1">
                  <a:latin typeface="+mn-ea"/>
                </a:rPr>
                <a:t>법시행령</a:t>
              </a:r>
              <a:r>
                <a:rPr lang="ko-KR" altLang="en-US" sz="700" dirty="0">
                  <a:latin typeface="+mn-ea"/>
                </a:rPr>
                <a:t> 제</a:t>
              </a:r>
              <a:r>
                <a:rPr lang="en-US" altLang="ko-KR" sz="700" dirty="0">
                  <a:latin typeface="+mn-ea"/>
                </a:rPr>
                <a:t>7</a:t>
              </a:r>
              <a:r>
                <a:rPr lang="ko-KR" altLang="en-US" sz="700" dirty="0">
                  <a:latin typeface="+mn-ea"/>
                </a:rPr>
                <a:t>조제</a:t>
              </a:r>
              <a:r>
                <a:rPr lang="en-US" altLang="ko-KR" sz="700" dirty="0">
                  <a:latin typeface="+mn-ea"/>
                </a:rPr>
                <a:t>4</a:t>
              </a:r>
              <a:r>
                <a:rPr lang="ko-KR" altLang="en-US" sz="700" dirty="0">
                  <a:latin typeface="+mn-ea"/>
                </a:rPr>
                <a:t>항에 해당하는 </a:t>
              </a:r>
              <a:r>
                <a:rPr lang="ko-KR" altLang="en-US" sz="700" dirty="0" err="1">
                  <a:latin typeface="+mn-ea"/>
                </a:rPr>
                <a:t>공동수급체</a:t>
              </a:r>
              <a:r>
                <a:rPr lang="ko-KR" altLang="en-US" sz="700" dirty="0">
                  <a:latin typeface="+mn-ea"/>
                </a:rPr>
                <a:t> 구성</a:t>
              </a: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2676821" y="25477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3276728" y="404887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806112" y="325147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.40%</a:t>
              </a:r>
              <a:r>
                <a:rPr lang="ko-KR" altLang="en-US" sz="700" dirty="0">
                  <a:latin typeface="+mn-ea"/>
                </a:rPr>
                <a:t> 이상</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595068" y="325147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806112" y="344176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806112" y="382234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업체가</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412035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4310638"/>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9050" y="340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9050" y="3781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719050" y="40790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9050" y="42693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2545374" y="3441764"/>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2676821" y="3876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7" y="4120350"/>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595068" y="4310638"/>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3276728" y="30396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719050" y="6088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19050" y="46499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806112" y="450092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806112" y="469121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595068" y="4691214"/>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8" name="TextBox 137">
              <a:extLst>
                <a:ext uri="{FF2B5EF4-FFF2-40B4-BE49-F238E27FC236}">
                  <a16:creationId xmlns:a16="http://schemas.microsoft.com/office/drawing/2014/main" id="{FFC49AEA-2A8F-250C-A86A-A7751D9706C3}"/>
                </a:ext>
              </a:extLst>
            </p:cNvPr>
            <p:cNvSpPr txBox="1"/>
            <p:nvPr/>
          </p:nvSpPr>
          <p:spPr>
            <a:xfrm>
              <a:off x="806112" y="488150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806112" y="5524703"/>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806112" y="572851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593232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19050" y="48402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9050" y="547665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19050" y="56804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9050" y="58842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TextBox 145">
              <a:extLst>
                <a:ext uri="{FF2B5EF4-FFF2-40B4-BE49-F238E27FC236}">
                  <a16:creationId xmlns:a16="http://schemas.microsoft.com/office/drawing/2014/main" id="{FFC49AEA-2A8F-250C-A86A-A7751D9706C3}"/>
                </a:ext>
              </a:extLst>
            </p:cNvPr>
            <p:cNvSpPr txBox="1"/>
            <p:nvPr/>
          </p:nvSpPr>
          <p:spPr>
            <a:xfrm>
              <a:off x="2545374" y="4881502"/>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2676821" y="55247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2595067" y="5728513"/>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2545374" y="5932323"/>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2676821" y="45009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3274223" y="467796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3274223" y="5729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806112" y="295346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a:latin typeface="+mn-ea"/>
                </a:rPr>
                <a:t>소기업</a:t>
              </a:r>
              <a:r>
                <a:rPr lang="en-US" altLang="ko-KR" sz="700" dirty="0">
                  <a:latin typeface="+mn-ea"/>
                </a:rPr>
                <a:t>(</a:t>
              </a:r>
              <a:r>
                <a:rPr lang="ko-KR" altLang="en-US" sz="700" dirty="0">
                  <a:latin typeface="+mn-ea"/>
                </a:rPr>
                <a:t>소상공인포함</a:t>
              </a:r>
              <a:r>
                <a:rPr lang="en-US" altLang="ko-KR" sz="700" dirty="0">
                  <a:latin typeface="+mn-ea"/>
                </a:rPr>
                <a:t>) </a:t>
              </a:r>
              <a:r>
                <a:rPr lang="ko-KR" altLang="en-US" sz="700" dirty="0">
                  <a:latin typeface="+mn-ea"/>
                </a:rPr>
                <a:t>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19050" y="291218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2676821" y="30073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4" name="직선 연결선 173">
              <a:extLst>
                <a:ext uri="{FF2B5EF4-FFF2-40B4-BE49-F238E27FC236}">
                  <a16:creationId xmlns:a16="http://schemas.microsoft.com/office/drawing/2014/main" id="{E9293055-D5CD-4B9E-7F64-64B2D2CA7A52}"/>
                </a:ext>
              </a:extLst>
            </p:cNvPr>
            <p:cNvCxnSpPr/>
            <p:nvPr/>
          </p:nvCxnSpPr>
          <p:spPr>
            <a:xfrm>
              <a:off x="719050" y="4459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806112" y="363205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9050" y="35907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7" name="TextBox 176">
              <a:extLst>
                <a:ext uri="{FF2B5EF4-FFF2-40B4-BE49-F238E27FC236}">
                  <a16:creationId xmlns:a16="http://schemas.microsoft.com/office/drawing/2014/main" id="{FFC49AEA-2A8F-250C-A86A-A7751D9706C3}"/>
                </a:ext>
              </a:extLst>
            </p:cNvPr>
            <p:cNvSpPr txBox="1"/>
            <p:nvPr/>
          </p:nvSpPr>
          <p:spPr>
            <a:xfrm>
              <a:off x="2595067" y="363205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9050" y="5030496"/>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806112" y="5091995"/>
              <a:ext cx="2504980" cy="323165"/>
            </a:xfrm>
            <a:prstGeom prst="rect">
              <a:avLst/>
            </a:prstGeom>
            <a:noFill/>
          </p:spPr>
          <p:txBody>
            <a:bodyPr wrap="square" lIns="0" tIns="0" rIns="0" bIns="0" rtlCol="0">
              <a:spAutoFit/>
            </a:bodyPr>
            <a:lstStyle/>
            <a:p>
              <a:pPr algn="ctr"/>
              <a:r>
                <a:rPr lang="en-US" altLang="ko-KR" sz="700" dirty="0">
                  <a:latin typeface="+mn-ea"/>
                </a:rPr>
                <a:t>※</a:t>
              </a:r>
              <a:r>
                <a:rPr lang="ko-KR" altLang="en-US" sz="700" dirty="0">
                  <a:latin typeface="+mn-ea"/>
                </a:rPr>
                <a:t>다만</a:t>
              </a:r>
              <a:r>
                <a:rPr lang="en-US" altLang="ko-KR" sz="700" dirty="0">
                  <a:latin typeface="+mn-ea"/>
                </a:rPr>
                <a:t>, </a:t>
              </a:r>
              <a:r>
                <a:rPr lang="ko-KR" altLang="en-US" sz="700" dirty="0">
                  <a:latin typeface="+mn-ea"/>
                </a:rPr>
                <a:t>법령이 정한 요건을 갖추지 못한</a:t>
              </a:r>
              <a:endParaRPr lang="en-US" altLang="ko-KR" sz="700" dirty="0">
                <a:latin typeface="+mn-ea"/>
              </a:endParaRPr>
            </a:p>
            <a:p>
              <a:pPr algn="ctr"/>
              <a:r>
                <a:rPr lang="ko-KR" altLang="en-US" sz="700" dirty="0">
                  <a:latin typeface="+mn-ea"/>
                </a:rPr>
                <a:t>공동수급체는 각 평점이 </a:t>
              </a:r>
              <a:r>
                <a:rPr lang="en-US" altLang="ko-KR" sz="700" dirty="0">
                  <a:latin typeface="+mn-ea"/>
                </a:rPr>
                <a:t>50%</a:t>
              </a:r>
              <a:r>
                <a:rPr lang="ko-KR" altLang="en-US" sz="700" dirty="0">
                  <a:latin typeface="+mn-ea"/>
                </a:rPr>
                <a:t>만 인정한다</a:t>
              </a:r>
              <a:r>
                <a:rPr lang="en-US" altLang="ko-KR" sz="700" dirty="0">
                  <a:latin typeface="+mn-ea"/>
                </a:rPr>
                <a:t>.</a:t>
              </a:r>
            </a:p>
            <a:p>
              <a:pPr algn="ct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grpSp>
      <p:sp>
        <p:nvSpPr>
          <p:cNvPr id="114" name="타원 11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573588198"/>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16366" y="1495590"/>
            <a:ext cx="2630093" cy="4736709"/>
            <a:chOff x="3830405" y="1495590"/>
            <a:chExt cx="2630093" cy="4736709"/>
          </a:xfrm>
        </p:grpSpPr>
        <p:sp>
          <p:nvSpPr>
            <p:cNvPr id="186" name="직사각형 185"/>
            <p:cNvSpPr/>
            <p:nvPr/>
          </p:nvSpPr>
          <p:spPr>
            <a:xfrm>
              <a:off x="3832497" y="1981539"/>
              <a:ext cx="1639886" cy="42507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198154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198154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19815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19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28100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26108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49559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198154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242000"/>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 조달업무 우수업체로서 중소기업청장 또는 조달청장 표창을 받은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2349721"/>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2655920"/>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26559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23497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2855767"/>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여성기업</a:t>
              </a:r>
              <a:r>
                <a:rPr lang="en-US" altLang="ko-KR" sz="700" dirty="0">
                  <a:latin typeface="+mn-ea"/>
                </a:rPr>
                <a:t>(</a:t>
              </a:r>
              <a:r>
                <a:rPr lang="ko-KR" altLang="en-US" sz="700" dirty="0">
                  <a:latin typeface="+mn-ea"/>
                </a:rPr>
                <a:t>「여성기업지원에 관한 </a:t>
              </a:r>
              <a:r>
                <a:rPr lang="ko-KR" altLang="en-US" sz="700" dirty="0" err="1">
                  <a:latin typeface="+mn-ea"/>
                </a:rPr>
                <a:t>법률」및</a:t>
              </a:r>
              <a:r>
                <a:rPr lang="ko-KR" altLang="en-US" sz="700" dirty="0">
                  <a:latin typeface="+mn-ea"/>
                </a:rPr>
                <a:t> 같은 법 시행령에서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 경우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3017349"/>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333237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337809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36311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414530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4191024"/>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4244885"/>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452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4497908"/>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45517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475907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34414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35772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3882764"/>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3838420"/>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3531536"/>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3936625"/>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337809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2498" y="52813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3919560" y="480479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장애인기업</a:t>
              </a:r>
              <a:r>
                <a:rPr lang="en-US" altLang="ko-KR" sz="700" dirty="0">
                  <a:latin typeface="+mn-ea"/>
                </a:rPr>
                <a:t>(</a:t>
              </a:r>
              <a:r>
                <a:rPr lang="ko-KR" altLang="en-US" sz="700" dirty="0">
                  <a:latin typeface="+mn-ea"/>
                </a:rPr>
                <a:t>「장애인기업활동 </a:t>
              </a:r>
              <a:r>
                <a:rPr lang="ko-KR" altLang="en-US" sz="700" dirty="0" err="1">
                  <a:latin typeface="+mn-ea"/>
                </a:rPr>
                <a:t>촉진법」에서</a:t>
              </a:r>
              <a:r>
                <a:rPr lang="ko-KR" altLang="en-US" sz="700" dirty="0">
                  <a:latin typeface="+mn-ea"/>
                </a:rPr>
                <a:t>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확인된 경우 인정</a:t>
              </a:r>
              <a:r>
                <a:rPr lang="en-US" altLang="ko-KR" sz="700" dirty="0">
                  <a:latin typeface="+mn-ea"/>
                </a:rPr>
                <a:t>))</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5708515" y="496637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526281"/>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5708516" y="5580142"/>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19560" y="5833165"/>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832498" y="57874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32498" y="6094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5708515" y="588702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3" name="TextBox 282">
              <a:extLst>
                <a:ext uri="{FF2B5EF4-FFF2-40B4-BE49-F238E27FC236}">
                  <a16:creationId xmlns:a16="http://schemas.microsoft.com/office/drawing/2014/main" id="{FFC49AEA-2A8F-250C-A86A-A7751D9706C3}"/>
                </a:ext>
              </a:extLst>
            </p:cNvPr>
            <p:cNvSpPr txBox="1"/>
            <p:nvPr/>
          </p:nvSpPr>
          <p:spPr>
            <a:xfrm>
              <a:off x="6390176" y="5225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TextBox 283">
              <a:extLst>
                <a:ext uri="{FF2B5EF4-FFF2-40B4-BE49-F238E27FC236}">
                  <a16:creationId xmlns:a16="http://schemas.microsoft.com/office/drawing/2014/main" id="{FFC49AEA-2A8F-250C-A86A-A7751D9706C3}"/>
                </a:ext>
              </a:extLst>
            </p:cNvPr>
            <p:cNvSpPr txBox="1"/>
            <p:nvPr/>
          </p:nvSpPr>
          <p:spPr>
            <a:xfrm>
              <a:off x="3919560" y="532711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 우수기업</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5790269" y="532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32498" y="548056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6" name="그룹 5"/>
          <p:cNvGrpSpPr/>
          <p:nvPr/>
        </p:nvGrpSpPr>
        <p:grpSpPr>
          <a:xfrm>
            <a:off x="3837747" y="1496022"/>
            <a:ext cx="2628001" cy="4736276"/>
            <a:chOff x="719049" y="1496022"/>
            <a:chExt cx="2628001" cy="4736276"/>
          </a:xfrm>
        </p:grpSpPr>
        <p:sp>
          <p:nvSpPr>
            <p:cNvPr id="116" name="직사각형 115"/>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719050" y="28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TextBox 117">
              <a:extLst>
                <a:ext uri="{FF2B5EF4-FFF2-40B4-BE49-F238E27FC236}">
                  <a16:creationId xmlns:a16="http://schemas.microsoft.com/office/drawing/2014/main" id="{FFC49AEA-2A8F-250C-A86A-A7751D9706C3}"/>
                </a:ext>
              </a:extLst>
            </p:cNvPr>
            <p:cNvSpPr txBox="1"/>
            <p:nvPr/>
          </p:nvSpPr>
          <p:spPr>
            <a:xfrm>
              <a:off x="3276728" y="21376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1530354"/>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1706740"/>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명 이상인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806112" y="23140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3</a:t>
              </a:r>
              <a:r>
                <a:rPr lang="ko-KR" altLang="en-US" sz="700" dirty="0">
                  <a:latin typeface="+mn-ea"/>
                </a:rPr>
                <a:t>명 이상인 기업</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719050" y="16724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19050" y="22796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5" name="TextBox 124">
              <a:extLst>
                <a:ext uri="{FF2B5EF4-FFF2-40B4-BE49-F238E27FC236}">
                  <a16:creationId xmlns:a16="http://schemas.microsoft.com/office/drawing/2014/main" id="{FFC49AEA-2A8F-250C-A86A-A7751D9706C3}"/>
                </a:ext>
              </a:extLst>
            </p:cNvPr>
            <p:cNvSpPr txBox="1"/>
            <p:nvPr/>
          </p:nvSpPr>
          <p:spPr>
            <a:xfrm>
              <a:off x="2676821" y="15303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2595067" y="1922183"/>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95067" y="25294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9050" y="35628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3276728" y="3171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806112" y="2921286"/>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806112" y="309767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중소벤처기업부장관</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혁신형</a:t>
              </a:r>
              <a:r>
                <a:rPr lang="en-US" altLang="ko-KR" sz="700" dirty="0">
                  <a:latin typeface="+mn-ea"/>
                </a:rPr>
                <a:t>(</a:t>
              </a:r>
              <a:r>
                <a:rPr lang="ko-KR" altLang="en-US" sz="700" dirty="0">
                  <a:latin typeface="+mn-ea"/>
                </a:rPr>
                <a:t>벤처</a:t>
              </a:r>
              <a:r>
                <a:rPr lang="en-US" altLang="ko-KR" sz="700" dirty="0">
                  <a:latin typeface="+mn-ea"/>
                </a:rPr>
                <a:t>, </a:t>
              </a:r>
              <a:r>
                <a:rPr lang="ko-KR" altLang="en-US" sz="700" dirty="0" err="1">
                  <a:latin typeface="+mn-ea"/>
                </a:rPr>
                <a:t>기술혁신형</a:t>
              </a:r>
              <a:r>
                <a:rPr lang="en-US" altLang="ko-KR" sz="700" dirty="0">
                  <a:latin typeface="+mn-ea"/>
                </a:rPr>
                <a:t>, </a:t>
              </a:r>
              <a:r>
                <a:rPr lang="ko-KR" altLang="en-US" sz="700" dirty="0" err="1">
                  <a:latin typeface="+mn-ea"/>
                </a:rPr>
                <a:t>경영혁신형</a:t>
              </a:r>
              <a:r>
                <a:rPr lang="en-US" altLang="ko-KR" sz="700" dirty="0">
                  <a:latin typeface="+mn-ea"/>
                </a:rPr>
                <a:t>, </a:t>
              </a:r>
              <a:r>
                <a:rPr lang="ko-KR" altLang="en-US" sz="700" dirty="0">
                  <a:latin typeface="+mn-ea"/>
                </a:rPr>
                <a:t>우수그린비즈</a:t>
              </a:r>
              <a:r>
                <a:rPr lang="en-US" altLang="ko-KR" sz="700" dirty="0">
                  <a:latin typeface="+mn-ea"/>
                </a:rPr>
                <a:t>) </a:t>
              </a:r>
              <a:r>
                <a:rPr lang="ko-KR" altLang="en-US" sz="700" dirty="0">
                  <a:latin typeface="+mn-ea"/>
                </a:rPr>
                <a:t>중소기업으로 지정</a:t>
              </a:r>
              <a:r>
                <a:rPr lang="en-US" altLang="ko-KR" sz="700" dirty="0">
                  <a:latin typeface="+mn-ea"/>
                </a:rPr>
                <a:t>(</a:t>
              </a:r>
              <a:r>
                <a:rPr lang="ko-KR" altLang="en-US" sz="700" dirty="0">
                  <a:latin typeface="+mn-ea"/>
                </a:rPr>
                <a:t>확인</a:t>
              </a:r>
              <a:r>
                <a:rPr lang="en-US" altLang="ko-KR" sz="700" dirty="0">
                  <a:latin typeface="+mn-ea"/>
                </a:rPr>
                <a:t>) </a:t>
              </a:r>
              <a:r>
                <a:rPr lang="ko-KR" altLang="en-US" sz="700" dirty="0">
                  <a:latin typeface="+mn-ea"/>
                </a:rPr>
                <a:t>받은 자</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719050" y="30633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8" name="TextBox 157">
              <a:extLst>
                <a:ext uri="{FF2B5EF4-FFF2-40B4-BE49-F238E27FC236}">
                  <a16:creationId xmlns:a16="http://schemas.microsoft.com/office/drawing/2014/main" id="{FFC49AEA-2A8F-250C-A86A-A7751D9706C3}"/>
                </a:ext>
              </a:extLst>
            </p:cNvPr>
            <p:cNvSpPr txBox="1"/>
            <p:nvPr/>
          </p:nvSpPr>
          <p:spPr>
            <a:xfrm>
              <a:off x="2676821" y="29212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9" name="TextBox 158">
              <a:extLst>
                <a:ext uri="{FF2B5EF4-FFF2-40B4-BE49-F238E27FC236}">
                  <a16:creationId xmlns:a16="http://schemas.microsoft.com/office/drawing/2014/main" id="{FFC49AEA-2A8F-250C-A86A-A7751D9706C3}"/>
                </a:ext>
              </a:extLst>
            </p:cNvPr>
            <p:cNvSpPr txBox="1"/>
            <p:nvPr/>
          </p:nvSpPr>
          <p:spPr>
            <a:xfrm>
              <a:off x="2595067" y="3259254"/>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3276728" y="36510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806112" y="3597223"/>
              <a:ext cx="1480199" cy="215444"/>
            </a:xfrm>
            <a:prstGeom prst="rect">
              <a:avLst/>
            </a:prstGeom>
            <a:noFill/>
          </p:spPr>
          <p:txBody>
            <a:bodyPr wrap="square" lIns="0" tIns="0" rIns="0" bIns="0" rtlCol="0">
              <a:spAutoFit/>
            </a:bodyPr>
            <a:lstStyle/>
            <a:p>
              <a:r>
                <a:rPr lang="en-US" altLang="ko-KR" sz="700" dirty="0">
                  <a:latin typeface="+mn-ea"/>
                </a:rPr>
                <a:t>F.</a:t>
              </a:r>
              <a:r>
                <a:rPr lang="ko-KR" altLang="en-US" sz="700" dirty="0">
                  <a:latin typeface="+mn-ea"/>
                </a:rPr>
                <a:t>산업통상자원부장관이 선정한 ‘</a:t>
              </a:r>
              <a:r>
                <a:rPr lang="ko-KR" altLang="en-US" sz="700" dirty="0" err="1">
                  <a:latin typeface="+mn-ea"/>
                </a:rPr>
                <a:t>세계일류상품인증기업</a:t>
              </a:r>
              <a:r>
                <a:rPr lang="ko-KR" altLang="en-US"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2595067" y="3651084"/>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9050" y="3846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3276728" y="39351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806112" y="388133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a:latin typeface="+mn-ea"/>
                </a:rPr>
                <a:t>중소벤처기업부장관이 지정한 수출유망중소기업’</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2595067" y="393519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9050" y="413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1" name="TextBox 190">
              <a:extLst>
                <a:ext uri="{FF2B5EF4-FFF2-40B4-BE49-F238E27FC236}">
                  <a16:creationId xmlns:a16="http://schemas.microsoft.com/office/drawing/2014/main" id="{FFC49AEA-2A8F-250C-A86A-A7751D9706C3}"/>
                </a:ext>
              </a:extLst>
            </p:cNvPr>
            <p:cNvSpPr txBox="1"/>
            <p:nvPr/>
          </p:nvSpPr>
          <p:spPr>
            <a:xfrm>
              <a:off x="3276728" y="421930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806112" y="416543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안전행정부장관이 확인해준 ‘비상대비 중점관리 대상업체’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595067" y="421930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06" name="직선 연결선 205">
              <a:extLst>
                <a:ext uri="{FF2B5EF4-FFF2-40B4-BE49-F238E27FC236}">
                  <a16:creationId xmlns:a16="http://schemas.microsoft.com/office/drawing/2014/main" id="{E9293055-D5CD-4B9E-7F64-64B2D2CA7A52}"/>
                </a:ext>
              </a:extLst>
            </p:cNvPr>
            <p:cNvCxnSpPr/>
            <p:nvPr/>
          </p:nvCxnSpPr>
          <p:spPr>
            <a:xfrm>
              <a:off x="719050" y="4415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3276728" y="450340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806112" y="444954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여성가족부에서 지정한 가족친화 </a:t>
              </a:r>
              <a:r>
                <a:rPr lang="ko-KR" altLang="en-US" sz="700" dirty="0" err="1">
                  <a:latin typeface="+mn-ea"/>
                </a:rPr>
                <a:t>인증기업</a:t>
              </a:r>
              <a:endParaRPr lang="ko-KR" altLang="en-US" sz="700" dirty="0">
                <a:latin typeface="+mn-ea"/>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2595067" y="450340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719050" y="46993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9" name="TextBox 218">
              <a:extLst>
                <a:ext uri="{FF2B5EF4-FFF2-40B4-BE49-F238E27FC236}">
                  <a16:creationId xmlns:a16="http://schemas.microsoft.com/office/drawing/2014/main" id="{FFC49AEA-2A8F-250C-A86A-A7751D9706C3}"/>
                </a:ext>
              </a:extLst>
            </p:cNvPr>
            <p:cNvSpPr txBox="1"/>
            <p:nvPr/>
          </p:nvSpPr>
          <p:spPr>
            <a:xfrm>
              <a:off x="3276728" y="47875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806112" y="4733655"/>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고용노동부장관이 인증한 사회적 기업</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2595067" y="478751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22" name="직선 연결선 221">
              <a:extLst>
                <a:ext uri="{FF2B5EF4-FFF2-40B4-BE49-F238E27FC236}">
                  <a16:creationId xmlns:a16="http://schemas.microsoft.com/office/drawing/2014/main" id="{E9293055-D5CD-4B9E-7F64-64B2D2CA7A52}"/>
                </a:ext>
              </a:extLst>
            </p:cNvPr>
            <p:cNvCxnSpPr/>
            <p:nvPr/>
          </p:nvCxnSpPr>
          <p:spPr>
            <a:xfrm>
              <a:off x="719050" y="4983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3276728" y="51254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806112" y="5017763"/>
              <a:ext cx="1480199" cy="323165"/>
            </a:xfrm>
            <a:prstGeom prst="rect">
              <a:avLst/>
            </a:prstGeom>
            <a:noFill/>
          </p:spPr>
          <p:txBody>
            <a:bodyPr wrap="square" lIns="0" tIns="0" rIns="0" bIns="0" rtlCol="0">
              <a:spAutoFit/>
            </a:bodyPr>
            <a:lstStyle/>
            <a:p>
              <a:r>
                <a:rPr lang="en-US" altLang="ko-KR" sz="700" dirty="0">
                  <a:latin typeface="+mn-ea"/>
                </a:rPr>
                <a:t>K.’</a:t>
              </a:r>
              <a:r>
                <a:rPr lang="ko-KR" altLang="en-US" sz="700" dirty="0">
                  <a:latin typeface="+mn-ea"/>
                </a:rPr>
                <a:t>중소기업인력지원특별법’ 제</a:t>
              </a:r>
              <a:r>
                <a:rPr lang="en-US" altLang="ko-KR" sz="700" dirty="0">
                  <a:latin typeface="+mn-ea"/>
                </a:rPr>
                <a:t>18</a:t>
              </a:r>
              <a:r>
                <a:rPr lang="ko-KR" altLang="en-US" sz="700" dirty="0">
                  <a:latin typeface="+mn-ea"/>
                </a:rPr>
                <a:t>조의</a:t>
              </a:r>
              <a:r>
                <a:rPr lang="en-US" altLang="ko-KR" sz="700" dirty="0">
                  <a:latin typeface="+mn-ea"/>
                </a:rPr>
                <a:t>2</a:t>
              </a:r>
              <a:r>
                <a:rPr lang="ko-KR" altLang="en-US" sz="700" dirty="0">
                  <a:latin typeface="+mn-ea"/>
                </a:rPr>
                <a:t>에 </a:t>
              </a:r>
              <a:r>
                <a:rPr lang="ko-KR" altLang="en-US" sz="700" dirty="0" err="1">
                  <a:latin typeface="+mn-ea"/>
                </a:rPr>
                <a:t>따른’인재육성형</a:t>
              </a:r>
              <a:r>
                <a:rPr lang="ko-KR" altLang="en-US" sz="700" dirty="0">
                  <a:latin typeface="+mn-ea"/>
                </a:rPr>
                <a:t> </a:t>
              </a:r>
              <a:r>
                <a:rPr lang="ko-KR" altLang="en-US" sz="700" dirty="0" err="1">
                  <a:latin typeface="+mn-ea"/>
                </a:rPr>
                <a:t>중소기업’으로</a:t>
              </a:r>
              <a:r>
                <a:rPr lang="ko-KR" altLang="en-US" sz="700" dirty="0">
                  <a:latin typeface="+mn-ea"/>
                </a:rPr>
                <a:t> </a:t>
              </a:r>
              <a:r>
                <a:rPr lang="ko-KR" altLang="en-US" sz="700" dirty="0" err="1">
                  <a:latin typeface="+mn-ea"/>
                </a:rPr>
                <a:t>지정받은</a:t>
              </a:r>
              <a:r>
                <a:rPr lang="ko-KR" altLang="en-US" sz="700" dirty="0">
                  <a:latin typeface="+mn-ea"/>
                </a:rPr>
                <a:t> 기업</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95067" y="512548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719050" y="53752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7" name="TextBox 226">
              <a:extLst>
                <a:ext uri="{FF2B5EF4-FFF2-40B4-BE49-F238E27FC236}">
                  <a16:creationId xmlns:a16="http://schemas.microsoft.com/office/drawing/2014/main" id="{FFC49AEA-2A8F-250C-A86A-A7751D9706C3}"/>
                </a:ext>
              </a:extLst>
            </p:cNvPr>
            <p:cNvSpPr txBox="1"/>
            <p:nvPr/>
          </p:nvSpPr>
          <p:spPr>
            <a:xfrm>
              <a:off x="3276728" y="57499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806112" y="5409592"/>
              <a:ext cx="1480199" cy="107722"/>
            </a:xfrm>
            <a:prstGeom prst="rect">
              <a:avLst/>
            </a:prstGeom>
            <a:noFill/>
          </p:spPr>
          <p:txBody>
            <a:bodyPr wrap="square" lIns="0" tIns="0" rIns="0" bIns="0" rtlCol="0">
              <a:spAutoFit/>
            </a:bodyPr>
            <a:lstStyle/>
            <a:p>
              <a:r>
                <a:rPr lang="en-US" altLang="ko-KR" sz="700" dirty="0">
                  <a:latin typeface="+mn-ea"/>
                </a:rPr>
                <a:t>L.</a:t>
              </a:r>
              <a:r>
                <a:rPr lang="ko-KR" altLang="en-US" sz="700" dirty="0">
                  <a:latin typeface="+mn-ea"/>
                </a:rPr>
                <a:t>수출우수기업</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2595003" y="5551646"/>
              <a:ext cx="118687" cy="430887"/>
            </a:xfrm>
            <a:prstGeom prst="rect">
              <a:avLst/>
            </a:prstGeom>
            <a:noFill/>
          </p:spPr>
          <p:txBody>
            <a:bodyPr wrap="none" lIns="0" tIns="0" rIns="0" bIns="0" rtlCol="0">
              <a:spAutoFit/>
            </a:bodyPr>
            <a:lstStyle/>
            <a:p>
              <a:pPr algn="r"/>
              <a:r>
                <a:rPr lang="en-US" altLang="ko-KR" sz="700" dirty="0">
                  <a:latin typeface="+mn-ea"/>
                </a:rPr>
                <a:t>0.2</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0.1</a:t>
              </a:r>
              <a:endParaRPr lang="ko-KR" altLang="en-US" sz="700" dirty="0">
                <a:latin typeface="+mn-ea"/>
              </a:endParaRPr>
            </a:p>
          </p:txBody>
        </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TextBox 230">
              <a:extLst>
                <a:ext uri="{FF2B5EF4-FFF2-40B4-BE49-F238E27FC236}">
                  <a16:creationId xmlns:a16="http://schemas.microsoft.com/office/drawing/2014/main" id="{FFC49AEA-2A8F-250C-A86A-A7751D9706C3}"/>
                </a:ext>
              </a:extLst>
            </p:cNvPr>
            <p:cNvSpPr txBox="1"/>
            <p:nvPr/>
          </p:nvSpPr>
          <p:spPr>
            <a:xfrm>
              <a:off x="806112" y="5551646"/>
              <a:ext cx="1480199"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수출액 </a:t>
              </a:r>
              <a:r>
                <a:rPr lang="en-US" altLang="ko-KR" sz="700" dirty="0">
                  <a:latin typeface="+mn-ea"/>
                </a:rPr>
                <a:t>100</a:t>
              </a:r>
              <a:r>
                <a:rPr lang="ko-KR" altLang="en-US" sz="700" dirty="0" err="1">
                  <a:latin typeface="+mn-ea"/>
                </a:rPr>
                <a:t>만불이상이면서</a:t>
              </a:r>
              <a:r>
                <a:rPr lang="ko-KR" altLang="en-US" sz="700" dirty="0">
                  <a:latin typeface="+mn-ea"/>
                </a:rPr>
                <a:t> 수출증가율 </a:t>
              </a:r>
              <a:r>
                <a:rPr lang="en-US" altLang="ko-KR" sz="700" dirty="0">
                  <a:latin typeface="+mn-ea"/>
                </a:rPr>
                <a:t>10%</a:t>
              </a:r>
              <a:r>
                <a:rPr lang="ko-KR" altLang="en-US" sz="700" dirty="0">
                  <a:latin typeface="+mn-ea"/>
                </a:rPr>
                <a:t>이상 또는 수출액 </a:t>
              </a:r>
              <a:r>
                <a:rPr lang="en-US" altLang="ko-KR" sz="700" dirty="0">
                  <a:latin typeface="+mn-ea"/>
                </a:rPr>
                <a:t>10</a:t>
              </a:r>
              <a:r>
                <a:rPr lang="ko-KR" altLang="en-US" sz="700" dirty="0">
                  <a:latin typeface="+mn-ea"/>
                </a:rPr>
                <a:t>만불 이상이면서 수출 증가율 </a:t>
              </a:r>
              <a:r>
                <a:rPr lang="en-US" altLang="ko-KR" sz="700" dirty="0">
                  <a:latin typeface="+mn-ea"/>
                </a:rPr>
                <a:t>30%</a:t>
              </a:r>
              <a:r>
                <a:rPr lang="ko-KR" altLang="en-US" sz="700" dirty="0">
                  <a:latin typeface="+mn-ea"/>
                </a:rPr>
                <a:t>이상</a:t>
              </a:r>
            </a:p>
            <a:p>
              <a:r>
                <a:rPr lang="en-US" altLang="ko-KR" sz="700" dirty="0">
                  <a:latin typeface="+mn-ea"/>
                </a:rPr>
                <a:t>  - </a:t>
              </a:r>
              <a:r>
                <a:rPr lang="ko-KR" altLang="en-US" sz="700" dirty="0">
                  <a:latin typeface="+mn-ea"/>
                </a:rPr>
                <a:t>수출액 </a:t>
              </a:r>
              <a:r>
                <a:rPr lang="en-US" altLang="ko-KR" sz="700" dirty="0">
                  <a:latin typeface="+mn-ea"/>
                </a:rPr>
                <a:t>100</a:t>
              </a:r>
              <a:r>
                <a:rPr lang="ko-KR" altLang="en-US" sz="700" dirty="0">
                  <a:latin typeface="+mn-ea"/>
                </a:rPr>
                <a:t>만불 이상 또는 수출액 </a:t>
              </a:r>
              <a:r>
                <a:rPr lang="en-US" altLang="ko-KR" sz="700" dirty="0">
                  <a:latin typeface="+mn-ea"/>
                </a:rPr>
                <a:t>10</a:t>
              </a:r>
              <a:r>
                <a:rPr lang="ko-KR" altLang="en-US" sz="700" dirty="0">
                  <a:latin typeface="+mn-ea"/>
                </a:rPr>
                <a:t>만불 이상이면서 수출증가율 </a:t>
              </a:r>
              <a:r>
                <a:rPr lang="en-US" altLang="ko-KR" sz="700" dirty="0">
                  <a:latin typeface="+mn-ea"/>
                </a:rPr>
                <a:t>10%</a:t>
              </a:r>
              <a:r>
                <a:rPr lang="ko-KR" altLang="en-US" sz="700" dirty="0">
                  <a:latin typeface="+mn-ea"/>
                </a:rPr>
                <a:t>이상</a:t>
              </a:r>
            </a:p>
          </p:txBody>
        </p:sp>
        <p:cxnSp>
          <p:nvCxnSpPr>
            <p:cNvPr id="232" name="직선 연결선 231">
              <a:extLst>
                <a:ext uri="{FF2B5EF4-FFF2-40B4-BE49-F238E27FC236}">
                  <a16:creationId xmlns:a16="http://schemas.microsoft.com/office/drawing/2014/main" id="{E9293055-D5CD-4B9E-7F64-64B2D2CA7A52}"/>
                </a:ext>
              </a:extLst>
            </p:cNvPr>
            <p:cNvCxnSpPr/>
            <p:nvPr/>
          </p:nvCxnSpPr>
          <p:spPr>
            <a:xfrm>
              <a:off x="719050" y="14960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8" name="타원 10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8849766"/>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9" name="TextBox 17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3" name="그룹 2"/>
          <p:cNvGrpSpPr/>
          <p:nvPr/>
        </p:nvGrpSpPr>
        <p:grpSpPr>
          <a:xfrm>
            <a:off x="717412" y="1493927"/>
            <a:ext cx="2628000" cy="4580070"/>
            <a:chOff x="3832498" y="1493927"/>
            <a:chExt cx="2628000" cy="4580070"/>
          </a:xfrm>
        </p:grpSpPr>
        <p:sp>
          <p:nvSpPr>
            <p:cNvPr id="159" name="직사각형 158"/>
            <p:cNvSpPr/>
            <p:nvPr/>
          </p:nvSpPr>
          <p:spPr>
            <a:xfrm>
              <a:off x="3835002" y="1504396"/>
              <a:ext cx="1639886" cy="45696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32932"/>
              <a:ext cx="1480199" cy="215444"/>
            </a:xfrm>
            <a:prstGeom prst="rect">
              <a:avLst/>
            </a:prstGeom>
            <a:noFill/>
          </p:spPr>
          <p:txBody>
            <a:bodyPr wrap="square" lIns="0" tIns="0" rIns="0" bIns="0" rtlCol="0">
              <a:spAutoFit/>
            </a:bodyPr>
            <a:lstStyle/>
            <a:p>
              <a:r>
                <a:rPr lang="en-US" altLang="ko-KR" sz="700" dirty="0">
                  <a:latin typeface="+mn-ea"/>
                </a:rPr>
                <a:t>M.</a:t>
              </a:r>
              <a:r>
                <a:rPr lang="ko-KR" altLang="en-US" sz="700" dirty="0">
                  <a:latin typeface="+mn-ea"/>
                </a:rPr>
                <a:t>중소벤처기업부장관이 선정한 ‘월드 클래스</a:t>
              </a:r>
              <a:r>
                <a:rPr lang="en-US" altLang="ko-KR" sz="700" dirty="0">
                  <a:latin typeface="+mn-ea"/>
                </a:rPr>
                <a:t>300</a:t>
              </a:r>
              <a:r>
                <a:rPr lang="ko-KR" altLang="en-US" sz="700" dirty="0">
                  <a:latin typeface="+mn-ea"/>
                </a:rPr>
                <a:t>기업’</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87381"/>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11020" y="1586793"/>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67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3922065" y="1826386"/>
              <a:ext cx="1480199" cy="430887"/>
            </a:xfrm>
            <a:prstGeom prst="rect">
              <a:avLst/>
            </a:prstGeom>
            <a:noFill/>
          </p:spPr>
          <p:txBody>
            <a:bodyPr wrap="square" lIns="0" tIns="0" rIns="0" bIns="0" rtlCol="0">
              <a:spAutoFit/>
            </a:bodyPr>
            <a:lstStyle/>
            <a:p>
              <a:r>
                <a:rPr lang="en-US" altLang="ko-KR" sz="700" dirty="0">
                  <a:latin typeface="+mn-ea"/>
                </a:rPr>
                <a:t>N.</a:t>
              </a:r>
              <a:r>
                <a:rPr lang="ko-KR" altLang="en-US" sz="700" dirty="0">
                  <a:latin typeface="+mn-ea"/>
                </a:rPr>
                <a:t>개성공단 입주기업으로서 통일부장관</a:t>
              </a:r>
              <a:r>
                <a:rPr lang="en-US" altLang="ko-KR" sz="700" dirty="0">
                  <a:latin typeface="+mn-ea"/>
                </a:rPr>
                <a:t>(</a:t>
              </a:r>
              <a:r>
                <a:rPr lang="ko-KR" altLang="en-US" sz="700" dirty="0">
                  <a:latin typeface="+mn-ea"/>
                </a:rPr>
                <a:t>또는 위임을 </a:t>
              </a:r>
              <a:r>
                <a:rPr lang="ko-KR" altLang="en-US" sz="700" dirty="0" err="1">
                  <a:latin typeface="+mn-ea"/>
                </a:rPr>
                <a:t>받은자</a:t>
              </a:r>
              <a:r>
                <a:rPr lang="en-US" altLang="ko-KR" sz="700" dirty="0">
                  <a:latin typeface="+mn-ea"/>
                </a:rPr>
                <a:t>) </a:t>
              </a:r>
              <a:r>
                <a:rPr lang="ko-KR" altLang="en-US" sz="700" dirty="0">
                  <a:latin typeface="+mn-ea"/>
                </a:rPr>
                <a:t>으로부터 기업등록증을 발급받는 자</a:t>
              </a:r>
              <a:r>
                <a:rPr lang="en-US" altLang="ko-KR" sz="700" dirty="0">
                  <a:latin typeface="+mn-ea"/>
                </a:rPr>
                <a:t>(2018</a:t>
              </a:r>
              <a:r>
                <a:rPr lang="ko-KR" altLang="en-US" sz="700" dirty="0">
                  <a:latin typeface="+mn-ea"/>
                </a:rPr>
                <a:t>년</a:t>
              </a:r>
              <a:r>
                <a:rPr lang="en-US" altLang="ko-KR" sz="700" dirty="0">
                  <a:latin typeface="+mn-ea"/>
                </a:rPr>
                <a:t>4</a:t>
              </a:r>
              <a:r>
                <a:rPr lang="ko-KR" altLang="en-US" sz="700" dirty="0">
                  <a:latin typeface="+mn-ea"/>
                </a:rPr>
                <a:t>월 </a:t>
              </a:r>
              <a:r>
                <a:rPr lang="en-US" altLang="ko-KR" sz="700" dirty="0">
                  <a:latin typeface="+mn-ea"/>
                </a:rPr>
                <a:t>1</a:t>
              </a:r>
              <a:r>
                <a:rPr lang="ko-KR" altLang="en-US" sz="700" dirty="0">
                  <a:latin typeface="+mn-ea"/>
                </a:rPr>
                <a:t>일 이전</a:t>
              </a:r>
              <a:r>
                <a:rPr lang="en-US" altLang="ko-KR" sz="700" dirty="0">
                  <a:latin typeface="+mn-ea"/>
                </a:rPr>
                <a:t>) </a:t>
              </a:r>
              <a:r>
                <a:rPr lang="ko-KR" altLang="en-US" sz="700" dirty="0">
                  <a:latin typeface="+mn-ea"/>
                </a:rPr>
                <a:t>입찰공고에 한하여 적용</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5003" y="2296278"/>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2" name="TextBox 171">
              <a:extLst>
                <a:ext uri="{FF2B5EF4-FFF2-40B4-BE49-F238E27FC236}">
                  <a16:creationId xmlns:a16="http://schemas.microsoft.com/office/drawing/2014/main" id="{FFC49AEA-2A8F-250C-A86A-A7751D9706C3}"/>
                </a:ext>
              </a:extLst>
            </p:cNvPr>
            <p:cNvSpPr txBox="1"/>
            <p:nvPr/>
          </p:nvSpPr>
          <p:spPr>
            <a:xfrm>
              <a:off x="5711020" y="1987968"/>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6390176" y="19879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35283"/>
              <a:ext cx="1480199" cy="646331"/>
            </a:xfrm>
            <a:prstGeom prst="rect">
              <a:avLst/>
            </a:prstGeom>
            <a:noFill/>
          </p:spPr>
          <p:txBody>
            <a:bodyPr wrap="square" lIns="0" tIns="0" rIns="0" bIns="0" rtlCol="0">
              <a:spAutoFit/>
            </a:bodyPr>
            <a:lstStyle/>
            <a:p>
              <a:r>
                <a:rPr lang="en-US" altLang="ko-KR" sz="700" dirty="0">
                  <a:latin typeface="+mn-ea"/>
                </a:rPr>
                <a:t>O.</a:t>
              </a:r>
              <a:r>
                <a:rPr lang="ko-KR" altLang="en-US" sz="700" dirty="0">
                  <a:latin typeface="+mn-ea"/>
                </a:rPr>
                <a:t>정규직전환기업</a:t>
              </a:r>
            </a:p>
            <a:p>
              <a:r>
                <a:rPr lang="en-US" altLang="ko-KR" sz="700" dirty="0">
                  <a:latin typeface="+mn-ea"/>
                </a:rPr>
                <a:t>- </a:t>
              </a:r>
              <a:r>
                <a:rPr lang="ko-KR" altLang="en-US" sz="700" dirty="0">
                  <a:latin typeface="+mn-ea"/>
                </a:rPr>
                <a:t>고용노동부로부터 정규직 전환 지원사업 대상자로 승인을 받은 기업으로서</a:t>
              </a:r>
              <a:r>
                <a:rPr lang="en-US" altLang="ko-KR" sz="700" dirty="0">
                  <a:latin typeface="+mn-ea"/>
                </a:rPr>
                <a:t>, </a:t>
              </a:r>
              <a:r>
                <a:rPr lang="ko-KR" altLang="en-US" sz="700" dirty="0">
                  <a:latin typeface="+mn-ea"/>
                </a:rPr>
                <a:t>입찰서 </a:t>
              </a:r>
              <a:r>
                <a:rPr lang="ko-KR" altLang="en-US" sz="700" dirty="0" err="1">
                  <a:latin typeface="+mn-ea"/>
                </a:rPr>
                <a:t>제출마감일</a:t>
              </a:r>
              <a:r>
                <a:rPr lang="ko-KR" altLang="en-US" sz="700" dirty="0">
                  <a:latin typeface="+mn-ea"/>
                </a:rPr>
                <a:t> 전일 기준 최근 </a:t>
              </a:r>
              <a:r>
                <a:rPr lang="en-US" altLang="ko-KR" sz="700" dirty="0">
                  <a:latin typeface="+mn-ea"/>
                </a:rPr>
                <a:t>1</a:t>
              </a:r>
              <a:r>
                <a:rPr lang="ko-KR" altLang="en-US" sz="700" dirty="0">
                  <a:latin typeface="+mn-ea"/>
                </a:rPr>
                <a:t>년 이내에 정규직 전환을 이행한 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711020" y="2604587"/>
              <a:ext cx="118623" cy="107722"/>
            </a:xfrm>
            <a:prstGeom prst="rect">
              <a:avLst/>
            </a:prstGeom>
            <a:noFill/>
          </p:spPr>
          <p:txBody>
            <a:bodyPr wrap="none" lIns="0" tIns="0" rIns="0" bIns="0" rtlCol="0">
              <a:spAutoFit/>
            </a:bodyPr>
            <a:lstStyle/>
            <a:p>
              <a:pPr algn="r"/>
              <a:r>
                <a:rPr lang="en-US" altLang="ko-KR" sz="700" dirty="0">
                  <a:latin typeface="+mn-ea"/>
                </a:rPr>
                <a:t>2.0</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6390176" y="260458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32498" y="38916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6390176" y="40384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3919560" y="3930692"/>
              <a:ext cx="1480199" cy="323165"/>
            </a:xfrm>
            <a:prstGeom prst="rect">
              <a:avLst/>
            </a:prstGeom>
            <a:noFill/>
          </p:spPr>
          <p:txBody>
            <a:bodyPr wrap="square" lIns="0" tIns="0" rIns="0" bIns="0" rtlCol="0">
              <a:spAutoFit/>
            </a:bodyPr>
            <a:lstStyle/>
            <a:p>
              <a:r>
                <a:rPr lang="en-US" altLang="ko-KR" sz="700" dirty="0">
                  <a:latin typeface="+mn-ea"/>
                </a:rPr>
                <a:t>Q.</a:t>
              </a:r>
              <a:r>
                <a:rPr lang="ko-KR" altLang="en-US" sz="700" dirty="0">
                  <a:latin typeface="+mn-ea"/>
                </a:rPr>
                <a:t>노동시간단축 조기도입기입</a:t>
              </a:r>
            </a:p>
            <a:p>
              <a:r>
                <a:rPr lang="en-US" altLang="ko-KR" sz="700" dirty="0">
                  <a:latin typeface="+mn-ea"/>
                </a:rPr>
                <a:t>  - </a:t>
              </a:r>
              <a:r>
                <a:rPr lang="ko-KR" altLang="en-US" sz="700" dirty="0">
                  <a:latin typeface="+mn-ea"/>
                </a:rPr>
                <a:t>정부의 노동시간단축 일정보다 </a:t>
              </a:r>
              <a:r>
                <a:rPr lang="en-US" altLang="ko-KR" sz="700" dirty="0">
                  <a:latin typeface="+mn-ea"/>
                </a:rPr>
                <a:t>1</a:t>
              </a:r>
              <a:r>
                <a:rPr lang="ko-KR" altLang="en-US" sz="700" dirty="0" err="1">
                  <a:latin typeface="+mn-ea"/>
                </a:rPr>
                <a:t>년이상</a:t>
              </a:r>
              <a:r>
                <a:rPr lang="ko-KR" altLang="en-US" sz="700" dirty="0">
                  <a:latin typeface="+mn-ea"/>
                </a:rPr>
                <a:t> 앞당긴 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5708515" y="4038413"/>
              <a:ext cx="118623"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2498" y="4292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TextBox 206">
              <a:extLst>
                <a:ext uri="{FF2B5EF4-FFF2-40B4-BE49-F238E27FC236}">
                  <a16:creationId xmlns:a16="http://schemas.microsoft.com/office/drawing/2014/main" id="{FFC49AEA-2A8F-250C-A86A-A7751D9706C3}"/>
                </a:ext>
              </a:extLst>
            </p:cNvPr>
            <p:cNvSpPr txBox="1"/>
            <p:nvPr/>
          </p:nvSpPr>
          <p:spPr>
            <a:xfrm>
              <a:off x="6390176" y="34022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3059624"/>
              <a:ext cx="1480199" cy="107722"/>
            </a:xfrm>
            <a:prstGeom prst="rect">
              <a:avLst/>
            </a:prstGeom>
            <a:noFill/>
          </p:spPr>
          <p:txBody>
            <a:bodyPr wrap="square" lIns="0" tIns="0" rIns="0" bIns="0" rtlCol="0">
              <a:spAutoFit/>
            </a:bodyPr>
            <a:lstStyle/>
            <a:p>
              <a:r>
                <a:rPr lang="en-US" altLang="ko-KR" sz="700" dirty="0">
                  <a:latin typeface="+mn-ea"/>
                </a:rPr>
                <a:t>P.</a:t>
              </a:r>
              <a:r>
                <a:rPr lang="ko-KR" altLang="en-US" sz="700" dirty="0">
                  <a:latin typeface="+mn-ea"/>
                </a:rPr>
                <a:t>청년고용 우수기업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451" y="3206351"/>
              <a:ext cx="118687" cy="430887"/>
            </a:xfrm>
            <a:prstGeom prst="rect">
              <a:avLst/>
            </a:prstGeom>
            <a:noFill/>
          </p:spPr>
          <p:txBody>
            <a:bodyPr wrap="none" lIns="0" tIns="0" rIns="0" bIns="0" rtlCol="0">
              <a:spAutoFit/>
            </a:bodyPr>
            <a:lstStyle/>
            <a:p>
              <a:pPr algn="r"/>
              <a:r>
                <a:rPr lang="en-US" altLang="ko-KR" sz="700" dirty="0">
                  <a:latin typeface="+mn-ea"/>
                </a:rPr>
                <a:t>1.0</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9560" y="3206351"/>
              <a:ext cx="1480199" cy="646331"/>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10%</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10</a:t>
              </a:r>
              <a:r>
                <a:rPr lang="ko-KR" altLang="en-US" sz="700" dirty="0">
                  <a:latin typeface="+mn-ea"/>
                </a:rPr>
                <a:t>인 이상인 기업</a:t>
              </a: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5%</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5</a:t>
              </a:r>
              <a:r>
                <a:rPr lang="ko-KR" altLang="en-US" sz="700" dirty="0">
                  <a:latin typeface="+mn-ea"/>
                </a:rPr>
                <a:t>인 이상인 기업</a:t>
              </a:r>
            </a:p>
          </p:txBody>
        </p: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2498" y="30206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6390176" y="44395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560" y="4331867"/>
              <a:ext cx="1480199" cy="323165"/>
            </a:xfrm>
            <a:prstGeom prst="rect">
              <a:avLst/>
            </a:prstGeom>
            <a:noFill/>
          </p:spPr>
          <p:txBody>
            <a:bodyPr wrap="square" lIns="0" tIns="0" rIns="0" bIns="0" rtlCol="0">
              <a:spAutoFit/>
            </a:bodyPr>
            <a:lstStyle/>
            <a:p>
              <a:r>
                <a:rPr lang="en-US" altLang="ko-KR" sz="700" dirty="0">
                  <a:latin typeface="+mn-ea"/>
                </a:rPr>
                <a:t>R.</a:t>
              </a:r>
              <a:r>
                <a:rPr lang="ko-KR" altLang="en-US" sz="700" dirty="0" err="1">
                  <a:latin typeface="+mn-ea"/>
                </a:rPr>
                <a:t>재기기업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err="1">
                  <a:latin typeface="+mn-ea"/>
                </a:rPr>
                <a:t>년이내</a:t>
              </a:r>
              <a:r>
                <a:rPr lang="ko-KR" altLang="en-US" sz="700" dirty="0">
                  <a:latin typeface="+mn-ea"/>
                </a:rPr>
                <a:t> 중소벤처기업부로부터 </a:t>
              </a:r>
              <a:r>
                <a:rPr lang="ko-KR" altLang="en-US" sz="700" dirty="0" err="1">
                  <a:latin typeface="+mn-ea"/>
                </a:rPr>
                <a:t>재창업</a:t>
              </a:r>
              <a:r>
                <a:rPr lang="ko-KR" altLang="en-US" sz="700" dirty="0">
                  <a:latin typeface="+mn-ea"/>
                </a:rPr>
                <a:t> 프로그램 지원받은 기업</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708515" y="443958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2498" y="46940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6390176" y="48946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3919560" y="4733042"/>
              <a:ext cx="1480199" cy="430887"/>
            </a:xfrm>
            <a:prstGeom prst="rect">
              <a:avLst/>
            </a:prstGeom>
            <a:noFill/>
          </p:spPr>
          <p:txBody>
            <a:bodyPr wrap="square" lIns="0" tIns="0" rIns="0" bIns="0" rtlCol="0">
              <a:spAutoFit/>
            </a:bodyPr>
            <a:lstStyle/>
            <a:p>
              <a:r>
                <a:rPr lang="en-US" altLang="ko-KR" sz="700" dirty="0">
                  <a:latin typeface="+mn-ea"/>
                </a:rPr>
                <a:t>S.</a:t>
              </a:r>
              <a:r>
                <a:rPr lang="ko-KR" altLang="en-US" sz="700" dirty="0">
                  <a:latin typeface="+mn-ea"/>
                </a:rPr>
                <a:t>사업전환계획 </a:t>
              </a:r>
              <a:r>
                <a:rPr lang="ko-KR" altLang="en-US" sz="700" dirty="0" err="1">
                  <a:latin typeface="+mn-ea"/>
                </a:rPr>
                <a:t>승인기업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년 이내 중소기업 사업전환 촉진에 관한 특별법 제</a:t>
              </a:r>
              <a:r>
                <a:rPr lang="en-US" altLang="ko-KR" sz="700" dirty="0">
                  <a:latin typeface="+mn-ea"/>
                </a:rPr>
                <a:t>8</a:t>
              </a:r>
              <a:r>
                <a:rPr lang="ko-KR" altLang="en-US" sz="700" dirty="0">
                  <a:latin typeface="+mn-ea"/>
                </a:rPr>
                <a:t>조에 따른 사업전환계획 승인을 받은 기업</a:t>
              </a:r>
            </a:p>
          </p:txBody>
        </p:sp>
        <p:sp>
          <p:nvSpPr>
            <p:cNvPr id="235" name="TextBox 234">
              <a:extLst>
                <a:ext uri="{FF2B5EF4-FFF2-40B4-BE49-F238E27FC236}">
                  <a16:creationId xmlns:a16="http://schemas.microsoft.com/office/drawing/2014/main" id="{FFC49AEA-2A8F-250C-A86A-A7751D9706C3}"/>
                </a:ext>
              </a:extLst>
            </p:cNvPr>
            <p:cNvSpPr txBox="1"/>
            <p:nvPr/>
          </p:nvSpPr>
          <p:spPr>
            <a:xfrm>
              <a:off x="5708515" y="489462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5202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2498" y="60739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6390176" y="558460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3919560" y="5241939"/>
              <a:ext cx="1480199" cy="430887"/>
            </a:xfrm>
            <a:prstGeom prst="rect">
              <a:avLst/>
            </a:prstGeom>
            <a:noFill/>
          </p:spPr>
          <p:txBody>
            <a:bodyPr wrap="square" lIns="0" tIns="0" rIns="0" bIns="0" rtlCol="0">
              <a:spAutoFit/>
            </a:bodyPr>
            <a:lstStyle/>
            <a:p>
              <a:r>
                <a:rPr lang="en-US" altLang="ko-KR" sz="700" dirty="0">
                  <a:latin typeface="+mn-ea"/>
                </a:rPr>
                <a:t>T.</a:t>
              </a:r>
              <a:r>
                <a:rPr lang="ko-KR" altLang="en-US" sz="700" dirty="0" err="1">
                  <a:latin typeface="+mn-ea"/>
                </a:rPr>
                <a:t>스마트공장</a:t>
              </a:r>
              <a:r>
                <a:rPr lang="ko-KR" altLang="en-US" sz="700" dirty="0">
                  <a:latin typeface="+mn-ea"/>
                </a:rPr>
                <a:t> </a:t>
              </a:r>
              <a:r>
                <a:rPr lang="ko-KR" altLang="en-US" sz="700" dirty="0" err="1">
                  <a:latin typeface="+mn-ea"/>
                </a:rPr>
                <a:t>수준확인</a:t>
              </a:r>
              <a:r>
                <a:rPr lang="ko-KR" altLang="en-US" sz="700" dirty="0">
                  <a:latin typeface="+mn-ea"/>
                </a:rPr>
                <a:t> 기업</a:t>
              </a:r>
            </a:p>
            <a:p>
              <a:r>
                <a:rPr lang="en-US" altLang="ko-KR" sz="700" dirty="0">
                  <a:latin typeface="+mn-ea"/>
                </a:rPr>
                <a:t>  - </a:t>
              </a:r>
              <a:r>
                <a:rPr lang="ko-KR" altLang="en-US" sz="700" dirty="0">
                  <a:latin typeface="+mn-ea"/>
                </a:rPr>
                <a:t>중소벤처기업부장관이 지정한 기관으로부터 </a:t>
              </a:r>
              <a:r>
                <a:rPr lang="ko-KR" altLang="en-US" sz="700" dirty="0" err="1">
                  <a:latin typeface="+mn-ea"/>
                </a:rPr>
                <a:t>스마트공장</a:t>
              </a:r>
              <a:r>
                <a:rPr lang="ko-KR" altLang="en-US" sz="700" dirty="0">
                  <a:latin typeface="+mn-ea"/>
                </a:rPr>
                <a:t> </a:t>
              </a:r>
              <a:r>
                <a:rPr lang="ko-KR" altLang="en-US" sz="700" dirty="0" err="1">
                  <a:latin typeface="+mn-ea"/>
                </a:rPr>
                <a:t>수준확인을</a:t>
              </a:r>
              <a:r>
                <a:rPr lang="ko-KR" altLang="en-US" sz="700" dirty="0">
                  <a:latin typeface="+mn-ea"/>
                </a:rPr>
                <a:t> 받은 기업으로서</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708516" y="5711831"/>
              <a:ext cx="118622" cy="323165"/>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2.0</a:t>
              </a:r>
            </a:p>
            <a:p>
              <a:pPr algn="r"/>
              <a:r>
                <a:rPr lang="en-US" altLang="ko-KR" sz="700" dirty="0">
                  <a:latin typeface="+mn-ea"/>
                </a:rPr>
                <a:t>3.0</a:t>
              </a:r>
            </a:p>
          </p:txBody>
        </p:sp>
        <p:sp>
          <p:nvSpPr>
            <p:cNvPr id="249" name="TextBox 248">
              <a:extLst>
                <a:ext uri="{FF2B5EF4-FFF2-40B4-BE49-F238E27FC236}">
                  <a16:creationId xmlns:a16="http://schemas.microsoft.com/office/drawing/2014/main" id="{FFC49AEA-2A8F-250C-A86A-A7751D9706C3}"/>
                </a:ext>
              </a:extLst>
            </p:cNvPr>
            <p:cNvSpPr txBox="1"/>
            <p:nvPr/>
          </p:nvSpPr>
          <p:spPr>
            <a:xfrm>
              <a:off x="3919560" y="571183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1∼2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3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4∼5 </a:t>
              </a:r>
              <a:r>
                <a:rPr lang="ko-KR" altLang="en-US" sz="700" dirty="0">
                  <a:latin typeface="+mn-ea"/>
                </a:rPr>
                <a:t>등급</a:t>
              </a: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5003" y="1493927"/>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7" name="그룹 96"/>
          <p:cNvGrpSpPr/>
          <p:nvPr/>
        </p:nvGrpSpPr>
        <p:grpSpPr>
          <a:xfrm>
            <a:off x="3795734" y="1492460"/>
            <a:ext cx="2712027" cy="2839069"/>
            <a:chOff x="675399" y="1492460"/>
            <a:chExt cx="2712027" cy="2839069"/>
          </a:xfrm>
        </p:grpSpPr>
        <p:sp>
          <p:nvSpPr>
            <p:cNvPr id="98" name="직사각형 97"/>
            <p:cNvSpPr/>
            <p:nvPr/>
          </p:nvSpPr>
          <p:spPr>
            <a:xfrm>
              <a:off x="718007" y="2176768"/>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05070" y="21767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2533112" y="21767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5915" y="21767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18008" y="2391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008" y="280680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15915" y="32065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8008" y="30066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776886" y="1492460"/>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37" name="TextBox 136">
              <a:extLst>
                <a:ext uri="{FF2B5EF4-FFF2-40B4-BE49-F238E27FC236}">
                  <a16:creationId xmlns:a16="http://schemas.microsoft.com/office/drawing/2014/main" id="{FFC49AEA-2A8F-250C-A86A-A7751D9706C3}"/>
                </a:ext>
              </a:extLst>
            </p:cNvPr>
            <p:cNvSpPr txBox="1"/>
            <p:nvPr/>
          </p:nvSpPr>
          <p:spPr>
            <a:xfrm>
              <a:off x="2953482" y="21767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5070" y="2437572"/>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5779" y="24937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5070" y="28528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805070" y="30527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2557156" y="2859668"/>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2507463" y="3056867"/>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3275686" y="31446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54" name="직선 연결선 153">
              <a:extLst>
                <a:ext uri="{FF2B5EF4-FFF2-40B4-BE49-F238E27FC236}">
                  <a16:creationId xmlns:a16="http://schemas.microsoft.com/office/drawing/2014/main" id="{E9293055-D5CD-4B9E-7F64-64B2D2CA7A52}"/>
                </a:ext>
              </a:extLst>
            </p:cNvPr>
            <p:cNvCxnSpPr/>
            <p:nvPr/>
          </p:nvCxnSpPr>
          <p:spPr>
            <a:xfrm>
              <a:off x="718008" y="40055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5915" y="36062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8008" y="34063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805070" y="32525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805070" y="34524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57156" y="3249519"/>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2557156" y="3446718"/>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008" y="38060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TextBox 186">
              <a:extLst>
                <a:ext uri="{FF2B5EF4-FFF2-40B4-BE49-F238E27FC236}">
                  <a16:creationId xmlns:a16="http://schemas.microsoft.com/office/drawing/2014/main" id="{FFC49AEA-2A8F-250C-A86A-A7751D9706C3}"/>
                </a:ext>
              </a:extLst>
            </p:cNvPr>
            <p:cNvSpPr txBox="1"/>
            <p:nvPr/>
          </p:nvSpPr>
          <p:spPr>
            <a:xfrm>
              <a:off x="805070" y="36522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805070" y="38521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557156" y="3651366"/>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2507463" y="3848565"/>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43315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762145" y="4051863"/>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grpSp>
      <p:sp>
        <p:nvSpPr>
          <p:cNvPr id="81" name="타원 8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832625215"/>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MUI-BD-10-T15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492460"/>
            <a:ext cx="2630093" cy="3250601"/>
            <a:chOff x="3836701" y="1492460"/>
            <a:chExt cx="2630093" cy="3250601"/>
          </a:xfrm>
        </p:grpSpPr>
        <p:grpSp>
          <p:nvGrpSpPr>
            <p:cNvPr id="6" name="그룹 5"/>
            <p:cNvGrpSpPr/>
            <p:nvPr/>
          </p:nvGrpSpPr>
          <p:grpSpPr>
            <a:xfrm>
              <a:off x="3836701" y="1492460"/>
              <a:ext cx="2630093" cy="1091295"/>
              <a:chOff x="3806813" y="1707904"/>
              <a:chExt cx="2630093" cy="1091295"/>
            </a:xfrm>
          </p:grpSpPr>
          <p:sp>
            <p:nvSpPr>
              <p:cNvPr id="117" name="직사각형 116"/>
              <p:cNvSpPr/>
              <p:nvPr/>
            </p:nvSpPr>
            <p:spPr>
              <a:xfrm>
                <a:off x="3808905" y="2172131"/>
                <a:ext cx="1639886" cy="627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3895968" y="21721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5624010" y="21721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3806813" y="21721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808906" y="23868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3867784" y="170790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불공정 하도급 거래</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하도급법</a:t>
                </a:r>
                <a:r>
                  <a:rPr lang="ko-KR" altLang="en-US" sz="700" dirty="0">
                    <a:latin typeface="+mn-ea"/>
                  </a:rPr>
                  <a:t> </a:t>
                </a:r>
                <a:r>
                  <a:rPr lang="ko-KR" altLang="en-US" sz="700" dirty="0" err="1">
                    <a:latin typeface="+mn-ea"/>
                  </a:rPr>
                  <a:t>위반정도</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6044380" y="21721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3895968" y="2432934"/>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1</a:t>
                </a:r>
                <a:r>
                  <a:rPr lang="ko-KR" altLang="en-US" sz="700" dirty="0" err="1">
                    <a:latin typeface="+mn-ea"/>
                  </a:rPr>
                  <a:t>년이내에</a:t>
                </a:r>
                <a:r>
                  <a:rPr lang="ko-KR" altLang="en-US" sz="700" dirty="0">
                    <a:latin typeface="+mn-ea"/>
                  </a:rPr>
                  <a:t> 공정거래위원장으로부터 하도급 상습범위반자로 통보 받은 자</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5648054" y="254065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366584" y="254065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808906" y="2799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2" name="직사각형 211"/>
            <p:cNvSpPr/>
            <p:nvPr/>
          </p:nvSpPr>
          <p:spPr>
            <a:xfrm>
              <a:off x="3838793" y="3097009"/>
              <a:ext cx="1639886" cy="16460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0970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653898" y="30970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6701" y="30970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3117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897672" y="2632783"/>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부정당업자제재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부정당업자로 </a:t>
              </a:r>
              <a:r>
                <a:rPr lang="ko-KR" altLang="en-US" sz="700" dirty="0" err="1">
                  <a:latin typeface="+mn-ea"/>
                </a:rPr>
                <a:t>제재받은</a:t>
              </a:r>
              <a:r>
                <a:rPr lang="ko-KR" altLang="en-US" sz="700" dirty="0">
                  <a:latin typeface="+mn-ea"/>
                </a:rPr>
                <a:t> </a:t>
              </a:r>
              <a:r>
                <a:rPr lang="ko-KR" altLang="en-US" sz="700" dirty="0" err="1">
                  <a:latin typeface="+mn-ea"/>
                </a:rPr>
                <a:t>총제재기간</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6074268" y="30970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3925856" y="3357813"/>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2</a:t>
              </a:r>
              <a:r>
                <a:rPr lang="ko-KR" altLang="en-US" sz="700" dirty="0">
                  <a:latin typeface="+mn-ea"/>
                </a:rPr>
                <a:t>년 이내 부정당업자 제재를 받은 자로서 부정당업자 </a:t>
              </a:r>
              <a:r>
                <a:rPr lang="ko-KR" altLang="en-US" sz="700" dirty="0" err="1">
                  <a:latin typeface="+mn-ea"/>
                </a:rPr>
                <a:t>제재기간</a:t>
              </a:r>
              <a:r>
                <a:rPr lang="ko-KR" altLang="en-US" sz="700" dirty="0">
                  <a:latin typeface="+mn-ea"/>
                </a:rPr>
                <a:t> 종료일이 입찰공고일로부터 </a:t>
              </a:r>
              <a:r>
                <a:rPr lang="en-US" altLang="ko-KR" sz="700" dirty="0">
                  <a:latin typeface="+mn-ea"/>
                </a:rPr>
                <a:t>2</a:t>
              </a:r>
              <a:r>
                <a:rPr lang="ko-KR" altLang="en-US" sz="700" dirty="0">
                  <a:latin typeface="+mn-ea"/>
                </a:rPr>
                <a:t>년 이내에 포함된 전체 부정당업자 제재 건의 총 </a:t>
              </a:r>
              <a:r>
                <a:rPr lang="ko-KR" altLang="en-US" sz="700" dirty="0" err="1">
                  <a:latin typeface="+mn-ea"/>
                </a:rPr>
                <a:t>제재기간에</a:t>
              </a:r>
              <a:r>
                <a:rPr lang="ko-KR" altLang="en-US" sz="700" dirty="0">
                  <a:latin typeface="+mn-ea"/>
                </a:rPr>
                <a:t> 따라</a:t>
              </a:r>
            </a:p>
          </p:txBody>
        </p:sp>
        <p:sp>
          <p:nvSpPr>
            <p:cNvPr id="220" name="TextBox 219">
              <a:extLst>
                <a:ext uri="{FF2B5EF4-FFF2-40B4-BE49-F238E27FC236}">
                  <a16:creationId xmlns:a16="http://schemas.microsoft.com/office/drawing/2014/main" id="{FFC49AEA-2A8F-250C-A86A-A7751D9706C3}"/>
                </a:ext>
              </a:extLst>
            </p:cNvPr>
            <p:cNvSpPr txBox="1"/>
            <p:nvPr/>
          </p:nvSpPr>
          <p:spPr>
            <a:xfrm>
              <a:off x="5677879" y="3920768"/>
              <a:ext cx="155555" cy="754053"/>
            </a:xfrm>
            <a:prstGeom prst="rect">
              <a:avLst/>
            </a:prstGeom>
            <a:noFill/>
          </p:spPr>
          <p:txBody>
            <a:bodyPr wrap="none" lIns="0" tIns="0" rIns="0" bIns="0" rtlCol="0">
              <a:spAutoFit/>
            </a:bodyPr>
            <a:lstStyle/>
            <a:p>
              <a:pPr algn="r"/>
              <a:r>
                <a:rPr lang="en-US" altLang="ko-KR" sz="700" dirty="0">
                  <a:latin typeface="+mn-ea"/>
                </a:rPr>
                <a:t>-2.0</a:t>
              </a:r>
            </a:p>
            <a:p>
              <a:pPr algn="r"/>
              <a:endParaRPr lang="en-US" altLang="ko-KR" sz="700" dirty="0">
                <a:latin typeface="+mn-ea"/>
              </a:endParaRPr>
            </a:p>
            <a:p>
              <a:pPr algn="r"/>
              <a:r>
                <a:rPr lang="en-US" altLang="ko-KR" sz="700" dirty="0">
                  <a:latin typeface="+mn-ea"/>
                </a:rPr>
                <a:t>-1.5</a:t>
              </a:r>
            </a:p>
            <a:p>
              <a:pPr algn="r"/>
              <a:endParaRPr lang="en-US" altLang="ko-KR" sz="700" dirty="0">
                <a:latin typeface="+mn-ea"/>
              </a:endParaRPr>
            </a:p>
            <a:p>
              <a:pPr algn="r"/>
              <a:r>
                <a:rPr lang="en-US" altLang="ko-KR" sz="700" dirty="0">
                  <a:latin typeface="+mn-ea"/>
                </a:rPr>
                <a:t>-1.0</a:t>
              </a: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6396472" y="39735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3" name="직선 연결선 232">
              <a:extLst>
                <a:ext uri="{FF2B5EF4-FFF2-40B4-BE49-F238E27FC236}">
                  <a16:creationId xmlns:a16="http://schemas.microsoft.com/office/drawing/2014/main" id="{E9293055-D5CD-4B9E-7F64-64B2D2CA7A52}"/>
                </a:ext>
              </a:extLst>
            </p:cNvPr>
            <p:cNvCxnSpPr/>
            <p:nvPr/>
          </p:nvCxnSpPr>
          <p:spPr>
            <a:xfrm>
              <a:off x="3838794" y="4743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3925856" y="3920768"/>
              <a:ext cx="1480199" cy="754053"/>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총 </a:t>
              </a:r>
              <a:r>
                <a:rPr lang="ko-KR" altLang="en-US" sz="700" dirty="0" err="1">
                  <a:latin typeface="+mn-ea"/>
                </a:rPr>
                <a:t>제재기간이</a:t>
              </a:r>
              <a:r>
                <a:rPr lang="ko-KR" altLang="en-US" sz="700" dirty="0">
                  <a:latin typeface="+mn-ea"/>
                </a:rPr>
                <a:t> </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이상인 경우</a:t>
              </a:r>
            </a:p>
            <a:p>
              <a:r>
                <a:rPr lang="en-US" altLang="ko-KR" sz="700" dirty="0">
                  <a:latin typeface="+mn-ea"/>
                </a:rPr>
                <a:t>  - </a:t>
              </a:r>
              <a:r>
                <a:rPr lang="ko-KR" altLang="en-US" sz="700" dirty="0">
                  <a:latin typeface="+mn-ea"/>
                </a:rPr>
                <a:t>총제재기간이 </a:t>
              </a:r>
              <a:r>
                <a:rPr lang="en-US" altLang="ko-KR" sz="700" dirty="0">
                  <a:latin typeface="+mn-ea"/>
                </a:rPr>
                <a:t>1</a:t>
              </a:r>
              <a:r>
                <a:rPr lang="ko-KR" altLang="en-US" sz="700" dirty="0" err="1">
                  <a:latin typeface="+mn-ea"/>
                </a:rPr>
                <a:t>년이상</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이상</a:t>
              </a:r>
              <a:r>
                <a:rPr lang="en-US" altLang="ko-KR" sz="700" dirty="0">
                  <a:latin typeface="+mn-ea"/>
                </a:rPr>
                <a:t>~ 1</a:t>
              </a:r>
              <a:r>
                <a:rPr lang="ko-KR" altLang="en-US" sz="700" dirty="0">
                  <a:latin typeface="+mn-ea"/>
                </a:rPr>
                <a:t>년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미만인 경우</a:t>
              </a:r>
            </a:p>
          </p:txBody>
        </p:sp>
      </p:grpSp>
      <p:sp>
        <p:nvSpPr>
          <p:cNvPr id="35" name="타원 3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0445049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350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025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기술능력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경영상태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입찰가격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신인도 소계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소계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고도인증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고도인증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녹색 일반인증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녹색 일반인증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영세기업 지원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영세기업 지원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r h="0">
                <a:tc>
                  <a:txBody>
                    <a:bodyPr/>
                    <a:lstStyle/>
                    <a:p>
                      <a:pPr latinLnBrk="1"/>
                      <a:r>
                        <a:rPr lang="ko-KR" altLang="en-US" sz="800" dirty="0">
                          <a:latin typeface="+mn-ea"/>
                          <a:ea typeface="+mn-ea"/>
                        </a:rPr>
                        <a:t>기타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기타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6802221"/>
                  </a:ext>
                </a:extLst>
              </a:tr>
              <a:tr h="0">
                <a:tc>
                  <a:txBody>
                    <a:bodyPr/>
                    <a:lstStyle/>
                    <a:p>
                      <a:pPr latinLnBrk="1"/>
                      <a:r>
                        <a:rPr lang="ko-KR" altLang="en-US" sz="800" dirty="0">
                          <a:latin typeface="+mn-ea"/>
                          <a:ea typeface="+mn-ea"/>
                        </a:rPr>
                        <a:t>계약이행 성실도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4401118"/>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4684872"/>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Box 1">
            <a:extLst>
              <a:ext uri="{FF2B5EF4-FFF2-40B4-BE49-F238E27FC236}">
                <a16:creationId xmlns:a16="http://schemas.microsoft.com/office/drawing/2014/main" id="{CF6EE605-D329-0E4A-EC7A-0D70FDFF872A}"/>
              </a:ext>
            </a:extLst>
          </p:cNvPr>
          <p:cNvSpPr txBox="1"/>
          <p:nvPr/>
        </p:nvSpPr>
        <p:spPr>
          <a:xfrm>
            <a:off x="460676" y="5236830"/>
            <a:ext cx="249965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기술평가등급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A3124163-486D-5877-BEB7-0B70A2F4F6E8}"/>
              </a:ext>
            </a:extLst>
          </p:cNvPr>
          <p:cNvGraphicFramePr>
            <a:graphicFrameLocks noGrp="1"/>
          </p:cNvGraphicFramePr>
          <p:nvPr/>
        </p:nvGraphicFramePr>
        <p:xfrm>
          <a:off x="455558" y="5520584"/>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기술평가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Box 73">
            <a:extLst>
              <a:ext uri="{FF2B5EF4-FFF2-40B4-BE49-F238E27FC236}">
                <a16:creationId xmlns:a16="http://schemas.microsoft.com/office/drawing/2014/main" id="{321C08F5-AF91-C3F4-1F3D-88A2A572576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69849803"/>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351</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7" name="TextBox 6">
            <a:extLst>
              <a:ext uri="{FF2B5EF4-FFF2-40B4-BE49-F238E27FC236}">
                <a16:creationId xmlns:a16="http://schemas.microsoft.com/office/drawing/2014/main" id="{002DB944-9A86-DB50-83C8-56D81D2F8947}"/>
              </a:ext>
            </a:extLst>
          </p:cNvPr>
          <p:cNvSpPr txBox="1"/>
          <p:nvPr/>
        </p:nvSpPr>
        <p:spPr>
          <a:xfrm>
            <a:off x="460676" y="1786381"/>
            <a:ext cx="2810632"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874B79DF-4B71-7668-9963-F2A7028A1184}"/>
              </a:ext>
            </a:extLst>
          </p:cNvPr>
          <p:cNvGraphicFramePr>
            <a:graphicFrameLocks noGrp="1"/>
          </p:cNvGraphicFramePr>
          <p:nvPr/>
        </p:nvGraphicFramePr>
        <p:xfrm>
          <a:off x="455558" y="2070135"/>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54635"/>
            <a:ext cx="2926048"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품질관리 등 신뢰정도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38389"/>
          <a:ext cx="8994883" cy="2476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고도인증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고도인증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녹색 일반인증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녹색 일반인증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478834"/>
                  </a:ext>
                </a:extLst>
              </a:tr>
              <a:tr h="0">
                <a:tc>
                  <a:txBody>
                    <a:bodyPr/>
                    <a:lstStyle/>
                    <a:p>
                      <a:pPr latinLnBrk="1"/>
                      <a:r>
                        <a:rPr lang="ko-KR" altLang="en-US" sz="800" dirty="0">
                          <a:latin typeface="+mn-ea"/>
                          <a:ea typeface="+mn-ea"/>
                        </a:rPr>
                        <a:t>공동수급체 구성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구성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6462414"/>
                  </a:ext>
                </a:extLst>
              </a:tr>
              <a:tr h="0">
                <a:tc>
                  <a:txBody>
                    <a:bodyPr/>
                    <a:lstStyle/>
                    <a:p>
                      <a:pPr latinLnBrk="1"/>
                      <a:r>
                        <a:rPr lang="ko-KR" altLang="en-US" sz="800" dirty="0">
                          <a:latin typeface="+mn-ea"/>
                          <a:ea typeface="+mn-ea"/>
                        </a:rPr>
                        <a:t>소기업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4568076"/>
                  </a:ext>
                </a:extLst>
              </a:tr>
              <a:tr h="0">
                <a:tc>
                  <a:txBody>
                    <a:bodyPr/>
                    <a:lstStyle/>
                    <a:p>
                      <a:pPr latinLnBrk="1"/>
                      <a:r>
                        <a:rPr lang="ko-KR" altLang="en-US" sz="800" dirty="0">
                          <a:latin typeface="+mn-ea"/>
                          <a:ea typeface="+mn-ea"/>
                        </a:rPr>
                        <a:t>지역업체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지역업체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3623245"/>
                  </a:ext>
                </a:extLst>
              </a:tr>
              <a:tr h="0">
                <a:tc>
                  <a:txBody>
                    <a:bodyPr/>
                    <a:lstStyle/>
                    <a:p>
                      <a:pPr latinLnBrk="1"/>
                      <a:r>
                        <a:rPr lang="ko-KR" altLang="en-US" sz="800" dirty="0">
                          <a:latin typeface="+mn-ea"/>
                          <a:ea typeface="+mn-ea"/>
                        </a:rPr>
                        <a:t>소기업 또는 소상공인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4125833"/>
                  </a:ext>
                </a:extLst>
              </a:tr>
              <a:tr h="0">
                <a:tc>
                  <a:txBody>
                    <a:bodyPr/>
                    <a:lstStyle/>
                    <a:p>
                      <a:pPr latinLnBrk="1"/>
                      <a:r>
                        <a:rPr lang="ko-KR" altLang="en-US" sz="800" dirty="0">
                          <a:latin typeface="+mn-ea"/>
                          <a:ea typeface="+mn-ea"/>
                        </a:rPr>
                        <a:t>조달업무 우수업체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조달업무 우수업체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4129523"/>
                  </a:ext>
                </a:extLst>
              </a:tr>
              <a:tr h="0">
                <a:tc>
                  <a:txBody>
                    <a:bodyPr/>
                    <a:lstStyle/>
                    <a:p>
                      <a:pPr latinLnBrk="1"/>
                      <a:r>
                        <a:rPr lang="ko-KR" altLang="en-US" sz="800" dirty="0">
                          <a:latin typeface="+mn-ea"/>
                          <a:ea typeface="+mn-ea"/>
                        </a:rPr>
                        <a:t>여성기업지원 및 여성고용촉진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2385708"/>
                  </a:ext>
                </a:extLst>
              </a:tr>
            </a:tbl>
          </a:graphicData>
        </a:graphic>
      </p:graphicFrame>
      <p:sp>
        <p:nvSpPr>
          <p:cNvPr id="2" name="TextBox 1">
            <a:extLst>
              <a:ext uri="{FF2B5EF4-FFF2-40B4-BE49-F238E27FC236}">
                <a16:creationId xmlns:a16="http://schemas.microsoft.com/office/drawing/2014/main" id="{9588777E-9D7A-8EAF-AB18-5D4676CA1A3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380A701B-37E6-21A0-3712-5D7B150A4BE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E548BF2E-8AE1-5322-9BD9-C779D16A54FD}"/>
              </a:ext>
            </a:extLst>
          </p:cNvPr>
          <p:cNvSpPr txBox="1"/>
          <p:nvPr/>
        </p:nvSpPr>
        <p:spPr>
          <a:xfrm>
            <a:off x="458117" y="803113"/>
            <a:ext cx="2961314"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spTree>
    <p:extLst>
      <p:ext uri="{BB962C8B-B14F-4D97-AF65-F5344CB8AC3E}">
        <p14:creationId xmlns:p14="http://schemas.microsoft.com/office/powerpoint/2010/main" val="20478973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352</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96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장애인기업지원 및 장애인 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장애인기업지원 및 장애인 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7728715"/>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080893"/>
                  </a:ext>
                </a:extLst>
              </a:tr>
              <a:tr h="0">
                <a:tc>
                  <a:txBody>
                    <a:bodyPr/>
                    <a:lstStyle/>
                    <a:p>
                      <a:pPr latinLnBrk="1"/>
                      <a:r>
                        <a:rPr lang="ko-KR" altLang="en-US" sz="800" dirty="0">
                          <a:latin typeface="+mn-ea"/>
                          <a:ea typeface="+mn-ea"/>
                        </a:rPr>
                        <a:t>혁신형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혁신형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9439496"/>
                  </a:ext>
                </a:extLst>
              </a:tr>
              <a:tr h="0">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수출우수기업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수출우수기업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37210"/>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 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20964"/>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계약이행 성실도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Box 4">
            <a:extLst>
              <a:ext uri="{FF2B5EF4-FFF2-40B4-BE49-F238E27FC236}">
                <a16:creationId xmlns:a16="http://schemas.microsoft.com/office/drawing/2014/main" id="{17703D63-C6B6-8B7B-09A1-3B94BDAF265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0B0E3A76-292E-84CC-2BF1-566C4C92574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80728581"/>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353</a:t>
            </a:fld>
            <a:endParaRPr lang="ko-KR" altLang="en-US" dirty="0"/>
          </a:p>
        </p:txBody>
      </p:sp>
      <p:sp>
        <p:nvSpPr>
          <p:cNvPr id="4" name="TextBox 3">
            <a:extLst>
              <a:ext uri="{FF2B5EF4-FFF2-40B4-BE49-F238E27FC236}">
                <a16:creationId xmlns:a16="http://schemas.microsoft.com/office/drawing/2014/main" id="{81F17FA5-0571-8E7F-9860-7790B3D084C1}"/>
              </a:ext>
            </a:extLst>
          </p:cNvPr>
          <p:cNvSpPr txBox="1"/>
          <p:nvPr/>
        </p:nvSpPr>
        <p:spPr>
          <a:xfrm>
            <a:off x="460321"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1" name="표 10">
            <a:extLst>
              <a:ext uri="{FF2B5EF4-FFF2-40B4-BE49-F238E27FC236}">
                <a16:creationId xmlns:a16="http://schemas.microsoft.com/office/drawing/2014/main" id="{0441E173-2760-68F6-53D0-601DA6842A3E}"/>
              </a:ext>
            </a:extLst>
          </p:cNvPr>
          <p:cNvGraphicFramePr>
            <a:graphicFrameLocks noGrp="1"/>
          </p:cNvGraphicFramePr>
          <p:nvPr>
            <p:extLst/>
          </p:nvPr>
        </p:nvGraphicFramePr>
        <p:xfrm>
          <a:off x="455204"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153ABA90-1B64-D395-F3CD-C90267E3213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50411117"/>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62341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02517" y="4153215"/>
            <a:ext cx="2630093" cy="846249"/>
            <a:chOff x="702517" y="4937381"/>
            <a:chExt cx="2630093" cy="846249"/>
          </a:xfrm>
        </p:grpSpPr>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계약목적물과 동등이상물품</a:t>
              </a:r>
            </a:p>
            <a:p>
              <a:r>
                <a:rPr lang="ko-KR" altLang="en-US" sz="700" dirty="0">
                  <a:latin typeface="+mn-ea"/>
                </a:rPr>
                <a:t>나</a:t>
              </a:r>
              <a:r>
                <a:rPr lang="en-US" altLang="ko-KR" sz="700" dirty="0">
                  <a:latin typeface="+mn-ea"/>
                </a:rPr>
                <a:t>.</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649557" y="5557572"/>
              <a:ext cx="49693" cy="107722"/>
            </a:xfrm>
            <a:prstGeom prst="rect">
              <a:avLst/>
            </a:prstGeom>
            <a:noFill/>
          </p:spPr>
          <p:txBody>
            <a:bodyPr wrap="none" lIns="0" tIns="0" rIns="0" bIns="0" rtlCol="0">
              <a:spAutoFit/>
            </a:bodyPr>
            <a:lstStyle/>
            <a:p>
              <a:pPr algn="r"/>
              <a:r>
                <a:rPr lang="en-US" altLang="ko-KR" sz="700" dirty="0">
                  <a:latin typeface="+mn-ea"/>
                </a:rPr>
                <a:t>5</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grpSp>
        <p:nvGrpSpPr>
          <p:cNvPr id="9" name="그룹 8"/>
          <p:cNvGrpSpPr/>
          <p:nvPr/>
        </p:nvGrpSpPr>
        <p:grpSpPr>
          <a:xfrm>
            <a:off x="716366" y="5043737"/>
            <a:ext cx="2630093" cy="726195"/>
            <a:chOff x="3826887" y="1497250"/>
            <a:chExt cx="2630093" cy="726195"/>
          </a:xfrm>
        </p:grpSpPr>
        <p:sp>
          <p:nvSpPr>
            <p:cNvPr id="246" name="직사각형 245"/>
            <p:cNvSpPr/>
            <p:nvPr/>
          </p:nvSpPr>
          <p:spPr>
            <a:xfrm>
              <a:off x="3828979" y="1784364"/>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기술평가등급</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a:t>
              </a:r>
            </a:p>
          </p:txBody>
        </p:sp>
        <p:grpSp>
          <p:nvGrpSpPr>
            <p:cNvPr id="249" name="그룹 248"/>
            <p:cNvGrpSpPr/>
            <p:nvPr/>
          </p:nvGrpSpPr>
          <p:grpSpPr>
            <a:xfrm>
              <a:off x="3826887" y="1784365"/>
              <a:ext cx="2630093" cy="429480"/>
              <a:chOff x="701175" y="1835481"/>
              <a:chExt cx="2630093" cy="429480"/>
            </a:xfrm>
          </p:grpSpPr>
          <p:cxnSp>
            <p:nvCxnSpPr>
              <p:cNvPr id="250" name="직선 연결선 2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기술능력</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390" y="1784365"/>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
        <p:nvSpPr>
          <p:cNvPr id="174" name="직사각형 173"/>
          <p:cNvSpPr/>
          <p:nvPr/>
        </p:nvSpPr>
        <p:spPr>
          <a:xfrm>
            <a:off x="3823602" y="41496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5" name="TextBox 174">
            <a:extLst>
              <a:ext uri="{FF2B5EF4-FFF2-40B4-BE49-F238E27FC236}">
                <a16:creationId xmlns:a16="http://schemas.microsoft.com/office/drawing/2014/main" id="{FFC49AEA-2A8F-250C-A86A-A7751D9706C3}"/>
              </a:ext>
            </a:extLst>
          </p:cNvPr>
          <p:cNvSpPr txBox="1"/>
          <p:nvPr/>
        </p:nvSpPr>
        <p:spPr>
          <a:xfrm>
            <a:off x="3910665" y="4149606"/>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492833" y="4149606"/>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177" name="그룹 176"/>
          <p:cNvGrpSpPr/>
          <p:nvPr/>
        </p:nvGrpSpPr>
        <p:grpSpPr>
          <a:xfrm>
            <a:off x="3821510" y="4149606"/>
            <a:ext cx="2630093" cy="429480"/>
            <a:chOff x="701175" y="1835481"/>
            <a:chExt cx="2630093" cy="429480"/>
          </a:xfrm>
        </p:grpSpPr>
        <p:cxnSp>
          <p:nvCxnSpPr>
            <p:cNvPr id="178" name="직선 연결선 17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1" name="TextBox 180">
            <a:extLst>
              <a:ext uri="{FF2B5EF4-FFF2-40B4-BE49-F238E27FC236}">
                <a16:creationId xmlns:a16="http://schemas.microsoft.com/office/drawing/2014/main" id="{FFC49AEA-2A8F-250C-A86A-A7751D9706C3}"/>
              </a:ext>
            </a:extLst>
          </p:cNvPr>
          <p:cNvSpPr txBox="1"/>
          <p:nvPr/>
        </p:nvSpPr>
        <p:spPr>
          <a:xfrm>
            <a:off x="3882481" y="3662254"/>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882481" y="38624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6059077" y="4149606"/>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84" name="직사각형 183"/>
          <p:cNvSpPr/>
          <p:nvPr/>
        </p:nvSpPr>
        <p:spPr>
          <a:xfrm>
            <a:off x="3823602" y="4906289"/>
            <a:ext cx="1639886" cy="117937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TextBox 184">
            <a:extLst>
              <a:ext uri="{FF2B5EF4-FFF2-40B4-BE49-F238E27FC236}">
                <a16:creationId xmlns:a16="http://schemas.microsoft.com/office/drawing/2014/main" id="{FFC49AEA-2A8F-250C-A86A-A7751D9706C3}"/>
              </a:ext>
            </a:extLst>
          </p:cNvPr>
          <p:cNvSpPr txBox="1"/>
          <p:nvPr/>
        </p:nvSpPr>
        <p:spPr>
          <a:xfrm>
            <a:off x="3910665" y="4906289"/>
            <a:ext cx="1480199" cy="861774"/>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a:t>
            </a:r>
            <a:r>
              <a:rPr lang="ko-KR" altLang="en-US" sz="700" dirty="0" err="1">
                <a:latin typeface="+mn-ea"/>
              </a:rPr>
              <a:t>고도인증</a:t>
            </a:r>
            <a:endParaRPr lang="ko-KR" altLang="en-US" sz="700" dirty="0">
              <a:latin typeface="+mn-ea"/>
            </a:endParaRPr>
          </a:p>
          <a:p>
            <a:pPr>
              <a:lnSpc>
                <a:spcPct val="200000"/>
              </a:lnSpc>
            </a:pP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ko-KR" altLang="en-US" sz="700" dirty="0">
              <a:latin typeface="+mn-ea"/>
            </a:endParaRPr>
          </a:p>
          <a:p>
            <a:pPr>
              <a:lnSpc>
                <a:spcPct val="200000"/>
              </a:lnSpc>
            </a:pP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p:txBody>
      </p:sp>
      <p:sp>
        <p:nvSpPr>
          <p:cNvPr id="186" name="TextBox 185">
            <a:extLst>
              <a:ext uri="{FF2B5EF4-FFF2-40B4-BE49-F238E27FC236}">
                <a16:creationId xmlns:a16="http://schemas.microsoft.com/office/drawing/2014/main" id="{FFC49AEA-2A8F-250C-A86A-A7751D9706C3}"/>
              </a:ext>
            </a:extLst>
          </p:cNvPr>
          <p:cNvSpPr txBox="1"/>
          <p:nvPr/>
        </p:nvSpPr>
        <p:spPr>
          <a:xfrm>
            <a:off x="5638707" y="4906289"/>
            <a:ext cx="179536" cy="86177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1.5</a:t>
            </a:r>
          </a:p>
          <a:p>
            <a:pPr algn="r">
              <a:lnSpc>
                <a:spcPct val="200000"/>
              </a:lnSpc>
            </a:pPr>
            <a:r>
              <a:rPr lang="en-US" altLang="ko-KR" sz="700" dirty="0">
                <a:latin typeface="+mn-ea"/>
              </a:rPr>
              <a:t>0.75</a:t>
            </a:r>
          </a:p>
          <a:p>
            <a:pPr algn="r">
              <a:lnSpc>
                <a:spcPct val="200000"/>
              </a:lnSpc>
            </a:pPr>
            <a:r>
              <a:rPr lang="en-US" altLang="ko-KR" sz="700" dirty="0">
                <a:latin typeface="+mn-ea"/>
              </a:rPr>
              <a:t>3.0</a:t>
            </a:r>
          </a:p>
        </p:txBody>
      </p:sp>
      <p:grpSp>
        <p:nvGrpSpPr>
          <p:cNvPr id="187" name="그룹 186"/>
          <p:cNvGrpSpPr/>
          <p:nvPr/>
        </p:nvGrpSpPr>
        <p:grpSpPr>
          <a:xfrm>
            <a:off x="3821510" y="4906289"/>
            <a:ext cx="2630093" cy="1182064"/>
            <a:chOff x="701175" y="1835481"/>
            <a:chExt cx="2630093" cy="1182064"/>
          </a:xfrm>
        </p:grpSpPr>
        <p:cxnSp>
          <p:nvCxnSpPr>
            <p:cNvPr id="188" name="직선 연결선 18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03268" y="30175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6" name="TextBox 195">
            <a:extLst>
              <a:ext uri="{FF2B5EF4-FFF2-40B4-BE49-F238E27FC236}">
                <a16:creationId xmlns:a16="http://schemas.microsoft.com/office/drawing/2014/main" id="{FFC49AEA-2A8F-250C-A86A-A7751D9706C3}"/>
              </a:ext>
            </a:extLst>
          </p:cNvPr>
          <p:cNvSpPr txBox="1"/>
          <p:nvPr/>
        </p:nvSpPr>
        <p:spPr>
          <a:xfrm>
            <a:off x="3882481" y="4619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6059077" y="4906289"/>
            <a:ext cx="359073" cy="861774"/>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0665" y="581375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라</a:t>
            </a:r>
            <a:r>
              <a:rPr lang="en-US" altLang="ko-KR" dirty="0"/>
              <a:t>.</a:t>
            </a:r>
            <a:r>
              <a:rPr lang="ko-KR" altLang="en-US" dirty="0"/>
              <a:t>기타</a:t>
            </a:r>
            <a:r>
              <a:rPr lang="en-US" altLang="ko-KR" dirty="0"/>
              <a:t>(</a:t>
            </a:r>
            <a:r>
              <a:rPr lang="ko-KR" altLang="en-US" dirty="0"/>
              <a:t>여성기업</a:t>
            </a:r>
            <a:r>
              <a:rPr lang="en-US" altLang="ko-KR" dirty="0"/>
              <a:t>, </a:t>
            </a:r>
            <a:r>
              <a:rPr lang="ko-KR" altLang="en-US" dirty="0"/>
              <a:t>장애인기업 및 장애인고용 우수기업 </a:t>
            </a:r>
            <a:r>
              <a:rPr lang="ko-KR" altLang="en-US" dirty="0" err="1"/>
              <a:t>지원등</a:t>
            </a:r>
            <a:r>
              <a:rPr lang="en-US" altLang="ko-KR" dirty="0"/>
              <a:t>)</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695408" y="5867613"/>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6377069" y="58676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8" name="그룹 7"/>
          <p:cNvGrpSpPr/>
          <p:nvPr/>
        </p:nvGrpSpPr>
        <p:grpSpPr>
          <a:xfrm>
            <a:off x="3836701" y="2445254"/>
            <a:ext cx="2630093" cy="926432"/>
            <a:chOff x="702517" y="4991154"/>
            <a:chExt cx="2630093" cy="926432"/>
          </a:xfrm>
        </p:grpSpPr>
        <p:sp>
          <p:nvSpPr>
            <p:cNvPr id="214" name="직사각형 213"/>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TextBox 214">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55</a:t>
              </a:r>
            </a:p>
          </p:txBody>
        </p:sp>
        <p:grpSp>
          <p:nvGrpSpPr>
            <p:cNvPr id="217" name="그룹 216"/>
            <p:cNvGrpSpPr/>
            <p:nvPr/>
          </p:nvGrpSpPr>
          <p:grpSpPr>
            <a:xfrm>
              <a:off x="702517" y="5478506"/>
              <a:ext cx="2630093" cy="429480"/>
              <a:chOff x="701175" y="1835481"/>
              <a:chExt cx="2630093" cy="42948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21" name="TextBox 220">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cxnSp>
        <p:nvCxnSpPr>
          <p:cNvPr id="224" name="직선 연결선 223">
            <a:extLst>
              <a:ext uri="{FF2B5EF4-FFF2-40B4-BE49-F238E27FC236}">
                <a16:creationId xmlns:a16="http://schemas.microsoft.com/office/drawing/2014/main" id="{E9293055-D5CD-4B9E-7F64-64B2D2CA7A52}"/>
              </a:ext>
            </a:extLst>
          </p:cNvPr>
          <p:cNvCxnSpPr/>
          <p:nvPr/>
        </p:nvCxnSpPr>
        <p:spPr>
          <a:xfrm>
            <a:off x="3801111" y="24102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5" name="그룹 224"/>
          <p:cNvGrpSpPr/>
          <p:nvPr/>
        </p:nvGrpSpPr>
        <p:grpSpPr>
          <a:xfrm>
            <a:off x="3826887" y="1628794"/>
            <a:ext cx="2630093" cy="726195"/>
            <a:chOff x="3826887" y="2285533"/>
            <a:chExt cx="2630093" cy="726195"/>
          </a:xfrm>
        </p:grpSpPr>
        <p:sp>
          <p:nvSpPr>
            <p:cNvPr id="226" name="직사각형 225"/>
            <p:cNvSpPr/>
            <p:nvPr/>
          </p:nvSpPr>
          <p:spPr>
            <a:xfrm>
              <a:off x="3828979" y="257264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3916042" y="257264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644084" y="257264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29" name="그룹 228"/>
            <p:cNvGrpSpPr/>
            <p:nvPr/>
          </p:nvGrpSpPr>
          <p:grpSpPr>
            <a:xfrm>
              <a:off x="3826887" y="2572648"/>
              <a:ext cx="2630093" cy="429480"/>
              <a:chOff x="701175" y="1835481"/>
              <a:chExt cx="2630093" cy="42948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30" name="TextBox 229">
              <a:extLst>
                <a:ext uri="{FF2B5EF4-FFF2-40B4-BE49-F238E27FC236}">
                  <a16:creationId xmlns:a16="http://schemas.microsoft.com/office/drawing/2014/main" id="{FFC49AEA-2A8F-250C-A86A-A7751D9706C3}"/>
                </a:ext>
              </a:extLst>
            </p:cNvPr>
            <p:cNvSpPr txBox="1"/>
            <p:nvPr/>
          </p:nvSpPr>
          <p:spPr>
            <a:xfrm>
              <a:off x="3887858" y="22855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경영상태</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6064390" y="257264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Tree>
    <p:extLst>
      <p:ext uri="{BB962C8B-B14F-4D97-AF65-F5344CB8AC3E}">
        <p14:creationId xmlns:p14="http://schemas.microsoft.com/office/powerpoint/2010/main" val="94733054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8" name="직사각형 197"/>
          <p:cNvSpPr/>
          <p:nvPr/>
        </p:nvSpPr>
        <p:spPr>
          <a:xfrm>
            <a:off x="703267" y="1780280"/>
            <a:ext cx="1639886" cy="6422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790330" y="178028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18372" y="178028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02" name="직선 연결선 201">
            <a:extLst>
              <a:ext uri="{FF2B5EF4-FFF2-40B4-BE49-F238E27FC236}">
                <a16:creationId xmlns:a16="http://schemas.microsoft.com/office/drawing/2014/main" id="{E9293055-D5CD-4B9E-7F64-64B2D2CA7A52}"/>
              </a:ext>
            </a:extLst>
          </p:cNvPr>
          <p:cNvCxnSpPr/>
          <p:nvPr/>
        </p:nvCxnSpPr>
        <p:spPr>
          <a:xfrm>
            <a:off x="701175" y="17802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19950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4252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5" name="TextBox 204">
            <a:extLst>
              <a:ext uri="{FF2B5EF4-FFF2-40B4-BE49-F238E27FC236}">
                <a16:creationId xmlns:a16="http://schemas.microsoft.com/office/drawing/2014/main" id="{FFC49AEA-2A8F-250C-A86A-A7751D9706C3}"/>
              </a:ext>
            </a:extLst>
          </p:cNvPr>
          <p:cNvSpPr txBox="1"/>
          <p:nvPr/>
        </p:nvSpPr>
        <p:spPr>
          <a:xfrm>
            <a:off x="762146" y="149316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2938742" y="178028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0" y="205192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가</a:t>
            </a:r>
            <a:r>
              <a:rPr lang="en-US" altLang="ko-KR" dirty="0"/>
              <a:t>.</a:t>
            </a:r>
            <a:r>
              <a:rPr lang="ko-KR" altLang="en-US" dirty="0" err="1"/>
              <a:t>납품지연</a:t>
            </a:r>
            <a:endParaRPr lang="ko-KR" altLang="en-US" dirty="0"/>
          </a:p>
          <a:p>
            <a:r>
              <a:rPr lang="ko-KR" altLang="en-US" dirty="0"/>
              <a:t>나</a:t>
            </a:r>
            <a:r>
              <a:rPr lang="en-US" altLang="ko-KR" dirty="0"/>
              <a:t>.</a:t>
            </a:r>
            <a:r>
              <a:rPr lang="ko-KR" altLang="en-US" dirty="0"/>
              <a:t>불공정 하도급거래</a:t>
            </a:r>
          </a:p>
          <a:p>
            <a:r>
              <a:rPr lang="ko-KR" altLang="en-US" dirty="0"/>
              <a:t>다</a:t>
            </a:r>
            <a:r>
              <a:rPr lang="en-US" altLang="ko-KR" dirty="0"/>
              <a:t>.</a:t>
            </a:r>
            <a:r>
              <a:rPr lang="ko-KR" altLang="en-US" dirty="0"/>
              <a:t>부정당업자 제재</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2538204" y="215964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3256734" y="215964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7" name="그룹 6"/>
          <p:cNvGrpSpPr/>
          <p:nvPr/>
        </p:nvGrpSpPr>
        <p:grpSpPr>
          <a:xfrm>
            <a:off x="675399" y="2494195"/>
            <a:ext cx="2712027" cy="1150222"/>
            <a:chOff x="3795734" y="4959245"/>
            <a:chExt cx="2712027" cy="1150222"/>
          </a:xfrm>
        </p:grpSpPr>
        <p:sp>
          <p:nvSpPr>
            <p:cNvPr id="151" name="직사각형 150"/>
            <p:cNvSpPr/>
            <p:nvPr/>
          </p:nvSpPr>
          <p:spPr>
            <a:xfrm>
              <a:off x="3823602" y="5501188"/>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TextBox 151">
              <a:extLst>
                <a:ext uri="{FF2B5EF4-FFF2-40B4-BE49-F238E27FC236}">
                  <a16:creationId xmlns:a16="http://schemas.microsoft.com/office/drawing/2014/main" id="{FFC49AEA-2A8F-250C-A86A-A7751D9706C3}"/>
                </a:ext>
              </a:extLst>
            </p:cNvPr>
            <p:cNvSpPr txBox="1"/>
            <p:nvPr/>
          </p:nvSpPr>
          <p:spPr>
            <a:xfrm>
              <a:off x="3910665" y="5501189"/>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5638707" y="55011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54" name="그룹 153"/>
            <p:cNvGrpSpPr/>
            <p:nvPr/>
          </p:nvGrpSpPr>
          <p:grpSpPr>
            <a:xfrm>
              <a:off x="3821510" y="5501189"/>
              <a:ext cx="2630093" cy="608278"/>
              <a:chOff x="701175" y="1835481"/>
              <a:chExt cx="2630093" cy="608278"/>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03268" y="24437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3882481" y="501383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3882481" y="52140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162" name="TextBox 161">
              <a:extLst>
                <a:ext uri="{FF2B5EF4-FFF2-40B4-BE49-F238E27FC236}">
                  <a16:creationId xmlns:a16="http://schemas.microsoft.com/office/drawing/2014/main" id="{FFC49AEA-2A8F-250C-A86A-A7751D9706C3}"/>
                </a:ext>
              </a:extLst>
            </p:cNvPr>
            <p:cNvSpPr txBox="1"/>
            <p:nvPr/>
          </p:nvSpPr>
          <p:spPr>
            <a:xfrm>
              <a:off x="6059077" y="550118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4" y="495924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19560" y="5811265"/>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5690882" y="5865126"/>
              <a:ext cx="136256"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166" name="TextBox 165">
              <a:extLst>
                <a:ext uri="{FF2B5EF4-FFF2-40B4-BE49-F238E27FC236}">
                  <a16:creationId xmlns:a16="http://schemas.microsoft.com/office/drawing/2014/main" id="{FFC49AEA-2A8F-250C-A86A-A7751D9706C3}"/>
                </a:ext>
              </a:extLst>
            </p:cNvPr>
            <p:cNvSpPr txBox="1"/>
            <p:nvPr/>
          </p:nvSpPr>
          <p:spPr>
            <a:xfrm>
              <a:off x="6390176" y="58651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67" name="TextBox 166">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I) </a:t>
            </a:r>
            <a:r>
              <a:rPr lang="ko-KR" altLang="en-US" sz="700" dirty="0" err="1">
                <a:latin typeface="+mn-ea"/>
              </a:rPr>
              <a:t>당해물품</a:t>
            </a:r>
            <a:r>
              <a:rPr lang="ko-KR" altLang="en-US" sz="700" dirty="0">
                <a:latin typeface="+mn-ea"/>
              </a:rPr>
              <a:t> 납품이행능력</a:t>
            </a:r>
          </a:p>
        </p:txBody>
      </p:sp>
      <p:grpSp>
        <p:nvGrpSpPr>
          <p:cNvPr id="168" name="그룹 167"/>
          <p:cNvGrpSpPr/>
          <p:nvPr/>
        </p:nvGrpSpPr>
        <p:grpSpPr>
          <a:xfrm flipV="1">
            <a:off x="6245910"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TextBox 172">
            <a:extLst>
              <a:ext uri="{FF2B5EF4-FFF2-40B4-BE49-F238E27FC236}">
                <a16:creationId xmlns:a16="http://schemas.microsoft.com/office/drawing/2014/main" id="{FFC49AEA-2A8F-250C-A86A-A7751D9706C3}"/>
              </a:ext>
            </a:extLst>
          </p:cNvPr>
          <p:cNvSpPr txBox="1"/>
          <p:nvPr/>
        </p:nvSpPr>
        <p:spPr>
          <a:xfrm>
            <a:off x="3910665" y="1864633"/>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I-1.</a:t>
            </a:r>
            <a:r>
              <a:rPr lang="ko-KR" altLang="en-US" dirty="0"/>
              <a:t>납품실적</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3910665" y="224768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4435522" y="2320973"/>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910665" y="255507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4435522" y="2628365"/>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5650239" y="2139963"/>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(0.0)</a:t>
            </a:r>
          </a:p>
        </p:txBody>
      </p:sp>
      <p:sp>
        <p:nvSpPr>
          <p:cNvPr id="222" name="직사각형 221"/>
          <p:cNvSpPr/>
          <p:nvPr/>
        </p:nvSpPr>
        <p:spPr>
          <a:xfrm>
            <a:off x="3835134" y="2935541"/>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197" y="2935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5650239" y="2935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3832437" y="2935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3834530" y="3150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4530" y="38225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TextBox 227">
            <a:extLst>
              <a:ext uri="{FF2B5EF4-FFF2-40B4-BE49-F238E27FC236}">
                <a16:creationId xmlns:a16="http://schemas.microsoft.com/office/drawing/2014/main" id="{FFC49AEA-2A8F-250C-A86A-A7751D9706C3}"/>
              </a:ext>
            </a:extLst>
          </p:cNvPr>
          <p:cNvSpPr txBox="1"/>
          <p:nvPr/>
        </p:nvSpPr>
        <p:spPr>
          <a:xfrm>
            <a:off x="6070609" y="2935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36047" y="3217129"/>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5725003" y="3217129"/>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5.0</a:t>
            </a:r>
          </a:p>
          <a:p>
            <a:r>
              <a:rPr lang="en-US" altLang="ko-KR" dirty="0"/>
              <a:t>4.0</a:t>
            </a:r>
          </a:p>
          <a:p>
            <a:r>
              <a:rPr lang="en-US" altLang="ko-KR" dirty="0"/>
              <a:t>3.0</a:t>
            </a:r>
          </a:p>
          <a:p>
            <a:r>
              <a:rPr lang="en-US" altLang="ko-KR" dirty="0"/>
              <a:t>2.0</a:t>
            </a:r>
          </a:p>
          <a:p>
            <a:r>
              <a:rPr lang="en-US" altLang="ko-KR" dirty="0"/>
              <a:t>1.0</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6406663" y="3449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5</a:t>
            </a:r>
            <a:r>
              <a:rPr lang="ko-KR" altLang="en-US" dirty="0"/>
              <a:t>점 </a:t>
            </a:r>
            <a:r>
              <a:rPr lang="en-US" altLang="ko-KR" dirty="0"/>
              <a:t>(</a:t>
            </a:r>
            <a:r>
              <a:rPr lang="ko-KR" altLang="en-US" dirty="0"/>
              <a:t>기본점수</a:t>
            </a:r>
            <a:r>
              <a:rPr lang="en-US" altLang="ko-KR" dirty="0"/>
              <a:t>)</a:t>
            </a:r>
            <a:endParaRPr lang="ko-KR" altLang="en-US" dirty="0"/>
          </a:p>
        </p:txBody>
      </p:sp>
      <p:sp>
        <p:nvSpPr>
          <p:cNvPr id="244" name="TextBox 243">
            <a:extLst>
              <a:ext uri="{FF2B5EF4-FFF2-40B4-BE49-F238E27FC236}">
                <a16:creationId xmlns:a16="http://schemas.microsoft.com/office/drawing/2014/main" id="{FFC49AEA-2A8F-250C-A86A-A7751D9706C3}"/>
              </a:ext>
            </a:extLst>
          </p:cNvPr>
          <p:cNvSpPr txBox="1"/>
          <p:nvPr/>
        </p:nvSpPr>
        <p:spPr>
          <a:xfrm>
            <a:off x="3910665" y="206667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4435522" y="2139963"/>
            <a:ext cx="2010812" cy="107722"/>
          </a:xfrm>
          <a:prstGeom prst="rect">
            <a:avLst/>
          </a:prstGeom>
          <a:noFill/>
        </p:spPr>
        <p:txBody>
          <a:bodyPr wrap="square" lIns="0" tIns="0" rIns="0" bIns="0" rtlCol="0">
            <a:spAutoFit/>
          </a:bodyPr>
          <a:lstStyle/>
          <a:p>
            <a:r>
              <a:rPr lang="ko-KR" altLang="en-US" sz="700" dirty="0" err="1">
                <a:latin typeface="+mn-ea"/>
              </a:rPr>
              <a:t>중기업</a:t>
            </a:r>
            <a:endParaRPr lang="en-US" altLang="ko-KR" sz="700" dirty="0">
              <a:latin typeface="+mn-ea"/>
            </a:endParaRPr>
          </a:p>
        </p:txBody>
      </p:sp>
      <p:sp>
        <p:nvSpPr>
          <p:cNvPr id="264" name="TextBox 263">
            <a:extLst>
              <a:ext uri="{FF2B5EF4-FFF2-40B4-BE49-F238E27FC236}">
                <a16:creationId xmlns:a16="http://schemas.microsoft.com/office/drawing/2014/main" id="{FFC49AEA-2A8F-250C-A86A-A7751D9706C3}"/>
              </a:ext>
            </a:extLst>
          </p:cNvPr>
          <p:cNvSpPr txBox="1"/>
          <p:nvPr/>
        </p:nvSpPr>
        <p:spPr>
          <a:xfrm>
            <a:off x="3910665" y="38469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5" name="TextBox 264">
            <a:extLst>
              <a:ext uri="{FF2B5EF4-FFF2-40B4-BE49-F238E27FC236}">
                <a16:creationId xmlns:a16="http://schemas.microsoft.com/office/drawing/2014/main" id="{FFC49AEA-2A8F-250C-A86A-A7751D9706C3}"/>
              </a:ext>
            </a:extLst>
          </p:cNvPr>
          <p:cNvSpPr txBox="1"/>
          <p:nvPr/>
        </p:nvSpPr>
        <p:spPr>
          <a:xfrm>
            <a:off x="4435522" y="392023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10665" y="415433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4435522" y="422762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69" name="직사각형 268"/>
          <p:cNvSpPr/>
          <p:nvPr/>
        </p:nvSpPr>
        <p:spPr>
          <a:xfrm>
            <a:off x="3835134" y="4534803"/>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0" name="TextBox 269">
            <a:extLst>
              <a:ext uri="{FF2B5EF4-FFF2-40B4-BE49-F238E27FC236}">
                <a16:creationId xmlns:a16="http://schemas.microsoft.com/office/drawing/2014/main" id="{FFC49AEA-2A8F-250C-A86A-A7751D9706C3}"/>
              </a:ext>
            </a:extLst>
          </p:cNvPr>
          <p:cNvSpPr txBox="1"/>
          <p:nvPr/>
        </p:nvSpPr>
        <p:spPr>
          <a:xfrm>
            <a:off x="3922197" y="453480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5650239" y="453480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72" name="직선 연결선 271">
            <a:extLst>
              <a:ext uri="{FF2B5EF4-FFF2-40B4-BE49-F238E27FC236}">
                <a16:creationId xmlns:a16="http://schemas.microsoft.com/office/drawing/2014/main" id="{E9293055-D5CD-4B9E-7F64-64B2D2CA7A52}"/>
              </a:ext>
            </a:extLst>
          </p:cNvPr>
          <p:cNvCxnSpPr/>
          <p:nvPr/>
        </p:nvCxnSpPr>
        <p:spPr>
          <a:xfrm>
            <a:off x="3832437" y="45348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3" name="직선 연결선 272">
            <a:extLst>
              <a:ext uri="{FF2B5EF4-FFF2-40B4-BE49-F238E27FC236}">
                <a16:creationId xmlns:a16="http://schemas.microsoft.com/office/drawing/2014/main" id="{E9293055-D5CD-4B9E-7F64-64B2D2CA7A52}"/>
              </a:ext>
            </a:extLst>
          </p:cNvPr>
          <p:cNvCxnSpPr/>
          <p:nvPr/>
        </p:nvCxnSpPr>
        <p:spPr>
          <a:xfrm>
            <a:off x="3834530" y="47495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54218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5" name="TextBox 274">
            <a:extLst>
              <a:ext uri="{FF2B5EF4-FFF2-40B4-BE49-F238E27FC236}">
                <a16:creationId xmlns:a16="http://schemas.microsoft.com/office/drawing/2014/main" id="{FFC49AEA-2A8F-250C-A86A-A7751D9706C3}"/>
              </a:ext>
            </a:extLst>
          </p:cNvPr>
          <p:cNvSpPr txBox="1"/>
          <p:nvPr/>
        </p:nvSpPr>
        <p:spPr>
          <a:xfrm>
            <a:off x="6070609" y="453480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36047" y="4816391"/>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5675246" y="4816391"/>
            <a:ext cx="168379"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a:p>
            <a:r>
              <a:rPr lang="en-US" altLang="ko-KR" dirty="0"/>
              <a:t>1.25</a:t>
            </a:r>
          </a:p>
          <a:p>
            <a:r>
              <a:rPr lang="en-US" altLang="ko-KR" dirty="0"/>
              <a:t>1.0</a:t>
            </a:r>
          </a:p>
          <a:p>
            <a:r>
              <a:rPr lang="en-US" altLang="ko-KR" dirty="0"/>
              <a:t>0.75</a:t>
            </a:r>
          </a:p>
          <a:p>
            <a:r>
              <a:rPr lang="en-US" altLang="ko-KR" dirty="0"/>
              <a:t>0.5</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6406663" y="504846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1" name="직선 연결선 280">
            <a:extLst>
              <a:ext uri="{FF2B5EF4-FFF2-40B4-BE49-F238E27FC236}">
                <a16:creationId xmlns:a16="http://schemas.microsoft.com/office/drawing/2014/main" id="{E9293055-D5CD-4B9E-7F64-64B2D2CA7A52}"/>
              </a:ext>
            </a:extLst>
          </p:cNvPr>
          <p:cNvCxnSpPr/>
          <p:nvPr/>
        </p:nvCxnSpPr>
        <p:spPr>
          <a:xfrm>
            <a:off x="3795523" y="54825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타원 8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347414607"/>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794594"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90" name="TextBox 89">
            <a:extLst>
              <a:ext uri="{FF2B5EF4-FFF2-40B4-BE49-F238E27FC236}">
                <a16:creationId xmlns:a16="http://schemas.microsoft.com/office/drawing/2014/main" id="{FFC49AEA-2A8F-250C-A86A-A7751D9706C3}"/>
              </a:ext>
            </a:extLst>
          </p:cNvPr>
          <p:cNvSpPr txBox="1"/>
          <p:nvPr/>
        </p:nvSpPr>
        <p:spPr>
          <a:xfrm>
            <a:off x="1319451"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91" name="TextBox 90">
            <a:extLst>
              <a:ext uri="{FF2B5EF4-FFF2-40B4-BE49-F238E27FC236}">
                <a16:creationId xmlns:a16="http://schemas.microsoft.com/office/drawing/2014/main" id="{FFC49AEA-2A8F-250C-A86A-A7751D9706C3}"/>
              </a:ext>
            </a:extLst>
          </p:cNvPr>
          <p:cNvSpPr txBox="1"/>
          <p:nvPr/>
        </p:nvSpPr>
        <p:spPr>
          <a:xfrm>
            <a:off x="794594"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92" name="TextBox 91">
            <a:extLst>
              <a:ext uri="{FF2B5EF4-FFF2-40B4-BE49-F238E27FC236}">
                <a16:creationId xmlns:a16="http://schemas.microsoft.com/office/drawing/2014/main" id="{FFC49AEA-2A8F-250C-A86A-A7751D9706C3}"/>
              </a:ext>
            </a:extLst>
          </p:cNvPr>
          <p:cNvSpPr txBox="1"/>
          <p:nvPr/>
        </p:nvSpPr>
        <p:spPr>
          <a:xfrm>
            <a:off x="1319451"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6" name="그룹 5"/>
          <p:cNvGrpSpPr/>
          <p:nvPr/>
        </p:nvGrpSpPr>
        <p:grpSpPr>
          <a:xfrm>
            <a:off x="716366" y="2360021"/>
            <a:ext cx="2630093" cy="769487"/>
            <a:chOff x="716366" y="2360021"/>
            <a:chExt cx="2630093" cy="769487"/>
          </a:xfrm>
        </p:grpSpPr>
        <p:sp>
          <p:nvSpPr>
            <p:cNvPr id="94" name="직사각형 93"/>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05" name="TextBox 104">
            <a:extLst>
              <a:ext uri="{FF2B5EF4-FFF2-40B4-BE49-F238E27FC236}">
                <a16:creationId xmlns:a16="http://schemas.microsoft.com/office/drawing/2014/main" id="{FFC49AEA-2A8F-250C-A86A-A7751D9706C3}"/>
              </a:ext>
            </a:extLst>
          </p:cNvPr>
          <p:cNvSpPr txBox="1"/>
          <p:nvPr/>
        </p:nvSpPr>
        <p:spPr>
          <a:xfrm>
            <a:off x="794594"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ko-KR" altLang="en-US" sz="700" dirty="0">
                <a:latin typeface="+mn-ea"/>
              </a:rPr>
              <a:t>소기업 또는 소상공인</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794594"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1319451"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794594"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0" name="TextBox 109">
            <a:extLst>
              <a:ext uri="{FF2B5EF4-FFF2-40B4-BE49-F238E27FC236}">
                <a16:creationId xmlns:a16="http://schemas.microsoft.com/office/drawing/2014/main" id="{FFC49AEA-2A8F-250C-A86A-A7751D9706C3}"/>
              </a:ext>
            </a:extLst>
          </p:cNvPr>
          <p:cNvSpPr txBox="1"/>
          <p:nvPr/>
        </p:nvSpPr>
        <p:spPr>
          <a:xfrm>
            <a:off x="1319451"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93" name="TextBox 92">
            <a:extLst>
              <a:ext uri="{FF2B5EF4-FFF2-40B4-BE49-F238E27FC236}">
                <a16:creationId xmlns:a16="http://schemas.microsoft.com/office/drawing/2014/main" id="{FFC49AEA-2A8F-250C-A86A-A7751D9706C3}"/>
              </a:ext>
            </a:extLst>
          </p:cNvPr>
          <p:cNvSpPr txBox="1"/>
          <p:nvPr/>
        </p:nvSpPr>
        <p:spPr>
          <a:xfrm>
            <a:off x="2534168"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(2.0)</a:t>
            </a:r>
          </a:p>
        </p:txBody>
      </p:sp>
      <p:grpSp>
        <p:nvGrpSpPr>
          <p:cNvPr id="124" name="그룹 123"/>
          <p:cNvGrpSpPr/>
          <p:nvPr/>
        </p:nvGrpSpPr>
        <p:grpSpPr>
          <a:xfrm>
            <a:off x="716366" y="3850960"/>
            <a:ext cx="2630093" cy="769487"/>
            <a:chOff x="716366" y="2360021"/>
            <a:chExt cx="2630093" cy="769487"/>
          </a:xfrm>
        </p:grpSpPr>
        <p:sp>
          <p:nvSpPr>
            <p:cNvPr id="125" name="직사각형 124"/>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35" name="직선 연결선 134">
            <a:extLst>
              <a:ext uri="{FF2B5EF4-FFF2-40B4-BE49-F238E27FC236}">
                <a16:creationId xmlns:a16="http://schemas.microsoft.com/office/drawing/2014/main" id="{E9293055-D5CD-4B9E-7F64-64B2D2CA7A52}"/>
              </a:ext>
            </a:extLst>
          </p:cNvPr>
          <p:cNvCxnSpPr/>
          <p:nvPr/>
        </p:nvCxnSpPr>
        <p:spPr>
          <a:xfrm>
            <a:off x="675399"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135">
            <a:extLst>
              <a:ext uri="{FF2B5EF4-FFF2-40B4-BE49-F238E27FC236}">
                <a16:creationId xmlns:a16="http://schemas.microsoft.com/office/drawing/2014/main" id="{FFC49AEA-2A8F-250C-A86A-A7751D9706C3}"/>
              </a:ext>
            </a:extLst>
          </p:cNvPr>
          <p:cNvSpPr txBox="1"/>
          <p:nvPr/>
        </p:nvSpPr>
        <p:spPr>
          <a:xfrm>
            <a:off x="3911980"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4436837"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3911980"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4436837"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140" name="그룹 139"/>
          <p:cNvGrpSpPr/>
          <p:nvPr/>
        </p:nvGrpSpPr>
        <p:grpSpPr>
          <a:xfrm>
            <a:off x="3833752" y="2360021"/>
            <a:ext cx="2630093" cy="769487"/>
            <a:chOff x="716366" y="2360021"/>
            <a:chExt cx="2630093" cy="769487"/>
          </a:xfrm>
        </p:grpSpPr>
        <p:sp>
          <p:nvSpPr>
            <p:cNvPr id="141" name="직사각형 140"/>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2" name="TextBox 141">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74" name="TextBox 173">
            <a:extLst>
              <a:ext uri="{FF2B5EF4-FFF2-40B4-BE49-F238E27FC236}">
                <a16:creationId xmlns:a16="http://schemas.microsoft.com/office/drawing/2014/main" id="{FFC49AEA-2A8F-250C-A86A-A7751D9706C3}"/>
              </a:ext>
            </a:extLst>
          </p:cNvPr>
          <p:cNvSpPr txBox="1"/>
          <p:nvPr/>
        </p:nvSpPr>
        <p:spPr>
          <a:xfrm>
            <a:off x="3911980"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4436837" y="1564445"/>
            <a:ext cx="2010812" cy="107722"/>
          </a:xfrm>
          <a:prstGeom prst="rect">
            <a:avLst/>
          </a:prstGeom>
          <a:noFill/>
        </p:spPr>
        <p:txBody>
          <a:bodyPr wrap="square" lIns="0" tIns="0" rIns="0" bIns="0" rtlCol="0">
            <a:spAutoFit/>
          </a:bodyPr>
          <a:lstStyle/>
          <a:p>
            <a:r>
              <a:rPr lang="ko-KR" altLang="en-US" sz="700" dirty="0">
                <a:latin typeface="+mn-ea"/>
              </a:rPr>
              <a:t>창업기업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911980"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36837"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3911980"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9" name="TextBox 178">
            <a:extLst>
              <a:ext uri="{FF2B5EF4-FFF2-40B4-BE49-F238E27FC236}">
                <a16:creationId xmlns:a16="http://schemas.microsoft.com/office/drawing/2014/main" id="{FFC49AEA-2A8F-250C-A86A-A7751D9706C3}"/>
              </a:ext>
            </a:extLst>
          </p:cNvPr>
          <p:cNvSpPr txBox="1"/>
          <p:nvPr/>
        </p:nvSpPr>
        <p:spPr>
          <a:xfrm>
            <a:off x="4436837"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5651554"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(3.0)</a:t>
            </a:r>
          </a:p>
        </p:txBody>
      </p:sp>
      <p:grpSp>
        <p:nvGrpSpPr>
          <p:cNvPr id="181" name="그룹 180"/>
          <p:cNvGrpSpPr/>
          <p:nvPr/>
        </p:nvGrpSpPr>
        <p:grpSpPr>
          <a:xfrm>
            <a:off x="3833752" y="3850960"/>
            <a:ext cx="2630093" cy="769487"/>
            <a:chOff x="716366" y="2360021"/>
            <a:chExt cx="2630093" cy="769487"/>
          </a:xfrm>
        </p:grpSpPr>
        <p:sp>
          <p:nvSpPr>
            <p:cNvPr id="182" name="직사각형 181"/>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182">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92" name="직선 연결선 191">
            <a:extLst>
              <a:ext uri="{FF2B5EF4-FFF2-40B4-BE49-F238E27FC236}">
                <a16:creationId xmlns:a16="http://schemas.microsoft.com/office/drawing/2014/main" id="{E9293055-D5CD-4B9E-7F64-64B2D2CA7A52}"/>
              </a:ext>
            </a:extLst>
          </p:cNvPr>
          <p:cNvCxnSpPr/>
          <p:nvPr/>
        </p:nvCxnSpPr>
        <p:spPr>
          <a:xfrm>
            <a:off x="3792785"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타원 10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8496441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386311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788988" y="155350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I-2.</a:t>
            </a:r>
            <a:r>
              <a:rPr lang="ko-KR" altLang="en-US" dirty="0"/>
              <a:t>기술평가등급</a:t>
            </a:r>
          </a:p>
        </p:txBody>
      </p:sp>
      <p:sp>
        <p:nvSpPr>
          <p:cNvPr id="121" name="직사각형 120"/>
          <p:cNvSpPr/>
          <p:nvPr/>
        </p:nvSpPr>
        <p:spPr>
          <a:xfrm>
            <a:off x="713457" y="1828528"/>
            <a:ext cx="1639886" cy="19364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800520" y="1828529"/>
            <a:ext cx="1570293" cy="1938992"/>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a:p>
            <a:pPr>
              <a:lnSpc>
                <a:spcPct val="200000"/>
              </a:lnSpc>
            </a:pPr>
            <a:r>
              <a:rPr lang="en-US" altLang="ko-KR" sz="700" dirty="0">
                <a:latin typeface="+mn-ea"/>
              </a:rPr>
              <a:t>T1(</a:t>
            </a:r>
            <a:r>
              <a:rPr lang="ko-KR" altLang="en-US" sz="700" dirty="0">
                <a:latin typeface="+mn-ea"/>
              </a:rPr>
              <a:t>최고수준</a:t>
            </a:r>
            <a:r>
              <a:rPr lang="en-US" altLang="ko-KR" sz="700" dirty="0">
                <a:latin typeface="+mn-ea"/>
              </a:rPr>
              <a:t>)</a:t>
            </a:r>
          </a:p>
          <a:p>
            <a:pPr>
              <a:lnSpc>
                <a:spcPct val="200000"/>
              </a:lnSpc>
            </a:pPr>
            <a:r>
              <a:rPr lang="en-US" altLang="ko-KR" sz="700" dirty="0">
                <a:latin typeface="+mn-ea"/>
              </a:rPr>
              <a:t>T2(</a:t>
            </a:r>
            <a:r>
              <a:rPr lang="ko-KR" altLang="en-US" sz="700" dirty="0" err="1">
                <a:latin typeface="+mn-ea"/>
              </a:rPr>
              <a:t>매우우수</a:t>
            </a:r>
            <a:r>
              <a:rPr lang="en-US" altLang="ko-KR" sz="700" dirty="0">
                <a:latin typeface="+mn-ea"/>
              </a:rPr>
              <a:t>)</a:t>
            </a:r>
          </a:p>
          <a:p>
            <a:pPr>
              <a:lnSpc>
                <a:spcPct val="200000"/>
              </a:lnSpc>
            </a:pPr>
            <a:r>
              <a:rPr lang="en-US" altLang="ko-KR" sz="700" dirty="0">
                <a:latin typeface="+mn-ea"/>
              </a:rPr>
              <a:t>T3(</a:t>
            </a:r>
            <a:r>
              <a:rPr lang="ko-KR" altLang="en-US" sz="700" dirty="0" err="1">
                <a:latin typeface="+mn-ea"/>
              </a:rPr>
              <a:t>우수수준</a:t>
            </a:r>
            <a:r>
              <a:rPr lang="en-US" altLang="ko-KR" sz="700" dirty="0">
                <a:latin typeface="+mn-ea"/>
              </a:rPr>
              <a:t>)</a:t>
            </a:r>
          </a:p>
          <a:p>
            <a:pPr>
              <a:lnSpc>
                <a:spcPct val="200000"/>
              </a:lnSpc>
            </a:pPr>
            <a:r>
              <a:rPr lang="en-US" altLang="ko-KR" sz="700" dirty="0">
                <a:latin typeface="+mn-ea"/>
              </a:rPr>
              <a:t>T4(</a:t>
            </a:r>
            <a:r>
              <a:rPr lang="ko-KR" altLang="en-US" sz="700" dirty="0" err="1">
                <a:latin typeface="+mn-ea"/>
              </a:rPr>
              <a:t>양호수준</a:t>
            </a:r>
            <a:r>
              <a:rPr lang="en-US" altLang="ko-KR" sz="700" dirty="0">
                <a:latin typeface="+mn-ea"/>
              </a:rPr>
              <a:t>)</a:t>
            </a:r>
          </a:p>
          <a:p>
            <a:pPr>
              <a:lnSpc>
                <a:spcPct val="200000"/>
              </a:lnSpc>
            </a:pPr>
            <a:r>
              <a:rPr lang="en-US" altLang="ko-KR" sz="700" dirty="0">
                <a:latin typeface="+mn-ea"/>
              </a:rPr>
              <a:t>T5(</a:t>
            </a:r>
            <a:r>
              <a:rPr lang="ko-KR" altLang="en-US" sz="700" dirty="0">
                <a:latin typeface="+mn-ea"/>
              </a:rPr>
              <a:t>보통이상</a:t>
            </a:r>
            <a:r>
              <a:rPr lang="en-US" altLang="ko-KR" sz="700" dirty="0">
                <a:latin typeface="+mn-ea"/>
              </a:rPr>
              <a:t>)</a:t>
            </a:r>
          </a:p>
          <a:p>
            <a:pPr>
              <a:lnSpc>
                <a:spcPct val="200000"/>
              </a:lnSpc>
            </a:pPr>
            <a:r>
              <a:rPr lang="en-US" altLang="ko-KR" sz="700" dirty="0">
                <a:latin typeface="+mn-ea"/>
              </a:rPr>
              <a:t>T6(</a:t>
            </a:r>
            <a:r>
              <a:rPr lang="ko-KR" altLang="en-US" sz="700" dirty="0" err="1">
                <a:latin typeface="+mn-ea"/>
              </a:rPr>
              <a:t>보통수준</a:t>
            </a:r>
            <a:r>
              <a:rPr lang="en-US" altLang="ko-KR" sz="700" dirty="0">
                <a:latin typeface="+mn-ea"/>
              </a:rPr>
              <a:t>)</a:t>
            </a:r>
          </a:p>
          <a:p>
            <a:pPr>
              <a:lnSpc>
                <a:spcPct val="200000"/>
              </a:lnSpc>
            </a:pPr>
            <a:r>
              <a:rPr lang="en-US" altLang="ko-KR" sz="700" dirty="0">
                <a:latin typeface="+mn-ea"/>
              </a:rPr>
              <a:t>T7(</a:t>
            </a:r>
            <a:r>
              <a:rPr lang="ko-KR" altLang="en-US" sz="700" dirty="0" err="1">
                <a:latin typeface="+mn-ea"/>
              </a:rPr>
              <a:t>보통정도</a:t>
            </a:r>
            <a:r>
              <a:rPr lang="en-US" altLang="ko-KR" sz="700" dirty="0">
                <a:latin typeface="+mn-ea"/>
              </a:rPr>
              <a:t>)</a:t>
            </a:r>
          </a:p>
          <a:p>
            <a:pPr>
              <a:lnSpc>
                <a:spcPct val="200000"/>
              </a:lnSpc>
            </a:pPr>
            <a:r>
              <a:rPr lang="en-US" altLang="ko-KR" sz="700" dirty="0">
                <a:latin typeface="+mn-ea"/>
              </a:rPr>
              <a:t>T8</a:t>
            </a:r>
            <a:r>
              <a:rPr lang="ko-KR" altLang="en-US" sz="700" dirty="0">
                <a:latin typeface="+mn-ea"/>
              </a:rPr>
              <a:t>이하</a:t>
            </a:r>
            <a:r>
              <a:rPr lang="en-US" altLang="ko-KR" sz="700" dirty="0">
                <a:latin typeface="+mn-ea"/>
              </a:rPr>
              <a:t>(</a:t>
            </a:r>
            <a:r>
              <a:rPr lang="ko-KR" altLang="en-US" sz="700" dirty="0" err="1">
                <a:latin typeface="+mn-ea"/>
              </a:rPr>
              <a:t>보통이하</a:t>
            </a:r>
            <a:r>
              <a:rPr lang="en-US" altLang="ko-KR" sz="700" dirty="0">
                <a:latin typeface="+mn-ea"/>
              </a:rPr>
              <a:t>)</a:t>
            </a:r>
          </a:p>
        </p:txBody>
      </p:sp>
      <p:sp>
        <p:nvSpPr>
          <p:cNvPr id="123" name="TextBox 122">
            <a:extLst>
              <a:ext uri="{FF2B5EF4-FFF2-40B4-BE49-F238E27FC236}">
                <a16:creationId xmlns:a16="http://schemas.microsoft.com/office/drawing/2014/main" id="{FFC49AEA-2A8F-250C-A86A-A7751D9706C3}"/>
              </a:ext>
            </a:extLst>
          </p:cNvPr>
          <p:cNvSpPr txBox="1"/>
          <p:nvPr/>
        </p:nvSpPr>
        <p:spPr>
          <a:xfrm>
            <a:off x="2528498" y="1828529"/>
            <a:ext cx="179600" cy="1938992"/>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a:p>
            <a:pPr algn="r">
              <a:lnSpc>
                <a:spcPct val="200000"/>
              </a:lnSpc>
            </a:pPr>
            <a:r>
              <a:rPr lang="en-US" altLang="ko-KR" sz="700" dirty="0">
                <a:latin typeface="+mn-ea"/>
              </a:rPr>
              <a:t>10.0</a:t>
            </a:r>
          </a:p>
          <a:p>
            <a:pPr algn="r">
              <a:lnSpc>
                <a:spcPct val="200000"/>
              </a:lnSpc>
            </a:pPr>
            <a:r>
              <a:rPr lang="en-US" altLang="ko-KR" sz="700" dirty="0">
                <a:latin typeface="+mn-ea"/>
              </a:rPr>
              <a:t>9.8</a:t>
            </a:r>
          </a:p>
          <a:p>
            <a:pPr algn="r">
              <a:lnSpc>
                <a:spcPct val="200000"/>
              </a:lnSpc>
            </a:pPr>
            <a:r>
              <a:rPr lang="en-US" altLang="ko-KR" sz="700" dirty="0">
                <a:latin typeface="+mn-ea"/>
              </a:rPr>
              <a:t>9.6</a:t>
            </a:r>
          </a:p>
          <a:p>
            <a:pPr algn="r">
              <a:lnSpc>
                <a:spcPct val="200000"/>
              </a:lnSpc>
            </a:pPr>
            <a:r>
              <a:rPr lang="en-US" altLang="ko-KR" sz="700" dirty="0">
                <a:latin typeface="+mn-ea"/>
              </a:rPr>
              <a:t>9.4</a:t>
            </a:r>
          </a:p>
          <a:p>
            <a:pPr algn="r">
              <a:lnSpc>
                <a:spcPct val="200000"/>
              </a:lnSpc>
            </a:pPr>
            <a:r>
              <a:rPr lang="en-US" altLang="ko-KR" sz="700" dirty="0">
                <a:latin typeface="+mn-ea"/>
              </a:rPr>
              <a:t>9.2</a:t>
            </a:r>
          </a:p>
          <a:p>
            <a:pPr algn="r">
              <a:lnSpc>
                <a:spcPct val="200000"/>
              </a:lnSpc>
            </a:pPr>
            <a:r>
              <a:rPr lang="en-US" altLang="ko-KR" sz="700" dirty="0">
                <a:latin typeface="+mn-ea"/>
              </a:rPr>
              <a:t>9.0</a:t>
            </a:r>
          </a:p>
          <a:p>
            <a:pPr algn="r">
              <a:lnSpc>
                <a:spcPct val="200000"/>
              </a:lnSpc>
            </a:pPr>
            <a:r>
              <a:rPr lang="en-US" altLang="ko-KR" sz="700" dirty="0">
                <a:latin typeface="+mn-ea"/>
              </a:rPr>
              <a:t>8.8</a:t>
            </a:r>
          </a:p>
          <a:p>
            <a:pPr algn="r">
              <a:lnSpc>
                <a:spcPct val="200000"/>
              </a:lnSpc>
            </a:pPr>
            <a:r>
              <a:rPr lang="en-US" altLang="ko-KR" sz="700" dirty="0">
                <a:latin typeface="+mn-ea"/>
              </a:rPr>
              <a:t>8.0</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710760" y="18285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2853" y="20432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2853" y="376777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TextBox 150">
            <a:extLst>
              <a:ext uri="{FF2B5EF4-FFF2-40B4-BE49-F238E27FC236}">
                <a16:creationId xmlns:a16="http://schemas.microsoft.com/office/drawing/2014/main" id="{FFC49AEA-2A8F-250C-A86A-A7751D9706C3}"/>
              </a:ext>
            </a:extLst>
          </p:cNvPr>
          <p:cNvSpPr txBox="1"/>
          <p:nvPr/>
        </p:nvSpPr>
        <p:spPr>
          <a:xfrm>
            <a:off x="2948868" y="1828529"/>
            <a:ext cx="359137" cy="1938992"/>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2353343" y="1553506"/>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10760" y="22661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12853" y="248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10760" y="27090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12853" y="29237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12853" y="31344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0760" y="33625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2853" y="35773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3793173" y="1527996"/>
            <a:ext cx="2712027" cy="3109822"/>
            <a:chOff x="3793173" y="1527996"/>
            <a:chExt cx="2712027" cy="3109822"/>
          </a:xfrm>
        </p:grpSpPr>
        <p:sp>
          <p:nvSpPr>
            <p:cNvPr id="173" name="TextBox 172">
              <a:extLst>
                <a:ext uri="{FF2B5EF4-FFF2-40B4-BE49-F238E27FC236}">
                  <a16:creationId xmlns:a16="http://schemas.microsoft.com/office/drawing/2014/main" id="{FFC49AEA-2A8F-250C-A86A-A7751D9706C3}"/>
                </a:ext>
              </a:extLst>
            </p:cNvPr>
            <p:cNvSpPr txBox="1"/>
            <p:nvPr/>
          </p:nvSpPr>
          <p:spPr>
            <a:xfrm>
              <a:off x="3879920"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93" name="그룹 192"/>
            <p:cNvGrpSpPr/>
            <p:nvPr/>
          </p:nvGrpSpPr>
          <p:grpSpPr>
            <a:xfrm flipV="1">
              <a:off x="6242007" y="1641327"/>
              <a:ext cx="94010" cy="47005"/>
              <a:chOff x="6812560" y="3297172"/>
              <a:chExt cx="94010" cy="47005"/>
            </a:xfrm>
          </p:grpSpPr>
          <p:cxnSp>
            <p:nvCxnSpPr>
              <p:cNvPr id="194" name="직선 연결선 1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5" name="직선 연결선 1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6" name="직선 연결선 195">
              <a:extLst>
                <a:ext uri="{FF2B5EF4-FFF2-40B4-BE49-F238E27FC236}">
                  <a16:creationId xmlns:a16="http://schemas.microsoft.com/office/drawing/2014/main" id="{E9293055-D5CD-4B9E-7F64-64B2D2CA7A52}"/>
                </a:ext>
              </a:extLst>
            </p:cNvPr>
            <p:cNvCxnSpPr/>
            <p:nvPr/>
          </p:nvCxnSpPr>
          <p:spPr>
            <a:xfrm>
              <a:off x="3793173"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793173"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99" name="그룹 198"/>
            <p:cNvGrpSpPr/>
            <p:nvPr/>
          </p:nvGrpSpPr>
          <p:grpSpPr>
            <a:xfrm>
              <a:off x="3817607" y="1876425"/>
              <a:ext cx="2630093" cy="646331"/>
              <a:chOff x="701175" y="1835481"/>
              <a:chExt cx="2630093" cy="646331"/>
            </a:xfrm>
          </p:grpSpPr>
          <p:sp>
            <p:nvSpPr>
              <p:cNvPr id="200" name="직사각형 199"/>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1" name="TextBox 200">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203" name="그룹 202"/>
              <p:cNvGrpSpPr/>
              <p:nvPr/>
            </p:nvGrpSpPr>
            <p:grpSpPr>
              <a:xfrm>
                <a:off x="701175" y="1835481"/>
                <a:ext cx="2630093" cy="644220"/>
                <a:chOff x="701175" y="1835481"/>
                <a:chExt cx="2630093" cy="644220"/>
              </a:xfrm>
            </p:grpSpPr>
            <p:cxnSp>
              <p:nvCxnSpPr>
                <p:cNvPr id="204" name="직선 연결선 20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09" name="TextBox 208">
              <a:extLst>
                <a:ext uri="{FF2B5EF4-FFF2-40B4-BE49-F238E27FC236}">
                  <a16:creationId xmlns:a16="http://schemas.microsoft.com/office/drawing/2014/main" id="{FFC49AEA-2A8F-250C-A86A-A7751D9706C3}"/>
                </a:ext>
              </a:extLst>
            </p:cNvPr>
            <p:cNvSpPr txBox="1"/>
            <p:nvPr/>
          </p:nvSpPr>
          <p:spPr>
            <a:xfrm>
              <a:off x="3879920" y="2656994"/>
              <a:ext cx="2268636" cy="215444"/>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50</a:t>
              </a:r>
            </a:p>
          </p:txBody>
        </p:sp>
        <p:grpSp>
          <p:nvGrpSpPr>
            <p:cNvPr id="210" name="그룹 209"/>
            <p:cNvGrpSpPr/>
            <p:nvPr/>
          </p:nvGrpSpPr>
          <p:grpSpPr>
            <a:xfrm flipV="1">
              <a:off x="6242007" y="2770325"/>
              <a:ext cx="94010" cy="47005"/>
              <a:chOff x="6812560" y="3297172"/>
              <a:chExt cx="94010" cy="47005"/>
            </a:xfrm>
          </p:grpSpPr>
          <p:cxnSp>
            <p:nvCxnSpPr>
              <p:cNvPr id="212" name="직선 연결선 2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3" name="직선 연결선 21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3173"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3793173"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16" name="그룹 215"/>
            <p:cNvGrpSpPr/>
            <p:nvPr/>
          </p:nvGrpSpPr>
          <p:grpSpPr>
            <a:xfrm>
              <a:off x="3817607" y="3005422"/>
              <a:ext cx="2630093" cy="1094598"/>
              <a:chOff x="701175" y="1835480"/>
              <a:chExt cx="2630093" cy="1094598"/>
            </a:xfrm>
          </p:grpSpPr>
          <p:sp>
            <p:nvSpPr>
              <p:cNvPr id="217" name="직사각형 216"/>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TextBox 217">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60 - 4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0" name="그룹 219"/>
              <p:cNvGrpSpPr/>
              <p:nvPr/>
            </p:nvGrpSpPr>
            <p:grpSpPr>
              <a:xfrm>
                <a:off x="701175" y="1835481"/>
                <a:ext cx="2630093" cy="1094597"/>
                <a:chOff x="701175" y="1835481"/>
                <a:chExt cx="2630093" cy="1094597"/>
              </a:xfrm>
            </p:grpSpPr>
            <p:cxnSp>
              <p:nvCxnSpPr>
                <p:cNvPr id="221" name="직선 연결선 22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27" name="TextBox 226">
              <a:extLst>
                <a:ext uri="{FF2B5EF4-FFF2-40B4-BE49-F238E27FC236}">
                  <a16:creationId xmlns:a16="http://schemas.microsoft.com/office/drawing/2014/main" id="{FFC49AEA-2A8F-250C-A86A-A7751D9706C3}"/>
                </a:ext>
              </a:extLst>
            </p:cNvPr>
            <p:cNvSpPr txBox="1"/>
            <p:nvPr/>
          </p:nvSpPr>
          <p:spPr>
            <a:xfrm>
              <a:off x="3879919"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43</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grpSp>
      <p:sp>
        <p:nvSpPr>
          <p:cNvPr id="72" name="타원 7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26319174"/>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168" name="그룹 167"/>
          <p:cNvGrpSpPr/>
          <p:nvPr/>
        </p:nvGrpSpPr>
        <p:grpSpPr>
          <a:xfrm flipV="1">
            <a:off x="3124233"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675399"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직사각형 227"/>
          <p:cNvSpPr/>
          <p:nvPr/>
        </p:nvSpPr>
        <p:spPr>
          <a:xfrm>
            <a:off x="712162" y="2555584"/>
            <a:ext cx="1639886" cy="8890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9" name="TextBox 228">
            <a:extLst>
              <a:ext uri="{FF2B5EF4-FFF2-40B4-BE49-F238E27FC236}">
                <a16:creationId xmlns:a16="http://schemas.microsoft.com/office/drawing/2014/main" id="{FFC49AEA-2A8F-250C-A86A-A7751D9706C3}"/>
              </a:ext>
            </a:extLst>
          </p:cNvPr>
          <p:cNvSpPr txBox="1"/>
          <p:nvPr/>
        </p:nvSpPr>
        <p:spPr>
          <a:xfrm>
            <a:off x="799225"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2527267"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10070"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12163"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12163" y="3449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771041"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771041"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a:t>
            </a:r>
            <a:r>
              <a:rPr lang="ko-KR" altLang="en-US" sz="700" dirty="0" err="1">
                <a:latin typeface="+mn-ea"/>
              </a:rPr>
              <a:t>고도인증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고도기술에</a:t>
            </a:r>
            <a:r>
              <a:rPr lang="ko-KR" altLang="en-US" sz="700" dirty="0">
                <a:latin typeface="+mn-ea"/>
              </a:rPr>
              <a:t> 대한 인증</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2947637"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799225" y="2845534"/>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주무부 장관 등이 인증한 신기술</a:t>
            </a:r>
            <a:r>
              <a:rPr lang="en-US" altLang="ko-KR" sz="700" dirty="0">
                <a:latin typeface="+mn-ea"/>
              </a:rPr>
              <a:t>(NET, NEP)</a:t>
            </a:r>
            <a:r>
              <a:rPr lang="ko-KR" altLang="en-US" sz="700" dirty="0">
                <a:latin typeface="+mn-ea"/>
              </a:rPr>
              <a:t>인증</a:t>
            </a:r>
            <a:r>
              <a:rPr lang="en-US" altLang="ko-KR" sz="700" dirty="0">
                <a:latin typeface="+mn-ea"/>
              </a:rPr>
              <a:t>, </a:t>
            </a:r>
            <a:r>
              <a:rPr lang="ko-KR" altLang="en-US" sz="700" dirty="0">
                <a:latin typeface="+mn-ea"/>
              </a:rPr>
              <a:t>조달우수제품인증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보유자</a:t>
            </a:r>
          </a:p>
          <a:p>
            <a:r>
              <a:rPr lang="en-US" altLang="ko-KR" sz="700" dirty="0">
                <a:latin typeface="+mn-ea"/>
              </a:rPr>
              <a:t>B.</a:t>
            </a:r>
            <a:r>
              <a:rPr lang="ko-KR" altLang="en-US" sz="700" dirty="0">
                <a:latin typeface="+mn-ea"/>
              </a:rPr>
              <a:t>녹색기술인증보유자</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2588181" y="3060977"/>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39" name="직사각형 238"/>
          <p:cNvSpPr/>
          <p:nvPr/>
        </p:nvSpPr>
        <p:spPr>
          <a:xfrm>
            <a:off x="712162" y="3968929"/>
            <a:ext cx="1639886" cy="1226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799225" y="39689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2527267" y="39689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42" name="직선 연결선 241">
            <a:extLst>
              <a:ext uri="{FF2B5EF4-FFF2-40B4-BE49-F238E27FC236}">
                <a16:creationId xmlns:a16="http://schemas.microsoft.com/office/drawing/2014/main" id="{E9293055-D5CD-4B9E-7F64-64B2D2CA7A52}"/>
              </a:ext>
            </a:extLst>
          </p:cNvPr>
          <p:cNvCxnSpPr/>
          <p:nvPr/>
        </p:nvCxnSpPr>
        <p:spPr>
          <a:xfrm>
            <a:off x="710070" y="39689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712163" y="41836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12163" y="5195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771041" y="34829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일반기술</a:t>
            </a:r>
            <a:r>
              <a:rPr lang="ko-KR" altLang="en-US" sz="700" dirty="0">
                <a:latin typeface="+mn-ea"/>
              </a:rPr>
              <a:t> 및 친환경</a:t>
            </a:r>
            <a:r>
              <a:rPr lang="en-US" altLang="ko-KR" sz="700" dirty="0">
                <a:latin typeface="+mn-ea"/>
              </a:rPr>
              <a:t>,</a:t>
            </a:r>
            <a:r>
              <a:rPr lang="ko-KR" altLang="en-US" sz="700" dirty="0">
                <a:latin typeface="+mn-ea"/>
              </a:rPr>
              <a:t>품질</a:t>
            </a:r>
            <a:r>
              <a:rPr lang="en-US" altLang="ko-KR" sz="700" dirty="0">
                <a:latin typeface="+mn-ea"/>
              </a:rPr>
              <a:t>,</a:t>
            </a:r>
            <a:r>
              <a:rPr lang="ko-KR" altLang="en-US" sz="700" dirty="0" err="1">
                <a:latin typeface="+mn-ea"/>
              </a:rPr>
              <a:t>규격등에</a:t>
            </a:r>
            <a:r>
              <a:rPr lang="ko-KR" altLang="en-US" sz="700" dirty="0">
                <a:latin typeface="+mn-ea"/>
              </a:rPr>
              <a:t> 대한 인증</a:t>
            </a:r>
          </a:p>
        </p:txBody>
      </p:sp>
      <p:sp>
        <p:nvSpPr>
          <p:cNvPr id="246" name="TextBox 245">
            <a:extLst>
              <a:ext uri="{FF2B5EF4-FFF2-40B4-BE49-F238E27FC236}">
                <a16:creationId xmlns:a16="http://schemas.microsoft.com/office/drawing/2014/main" id="{FFC49AEA-2A8F-250C-A86A-A7751D9706C3}"/>
              </a:ext>
            </a:extLst>
          </p:cNvPr>
          <p:cNvSpPr txBox="1"/>
          <p:nvPr/>
        </p:nvSpPr>
        <p:spPr>
          <a:xfrm>
            <a:off x="2947637" y="39689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799225" y="4258291"/>
            <a:ext cx="1480199" cy="861774"/>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특허</a:t>
            </a:r>
            <a:r>
              <a:rPr lang="en-US" altLang="ko-KR" sz="700" dirty="0">
                <a:latin typeface="+mn-ea"/>
              </a:rPr>
              <a:t>, </a:t>
            </a:r>
            <a:r>
              <a:rPr lang="ko-KR" altLang="en-US" sz="700" dirty="0">
                <a:latin typeface="+mn-ea"/>
              </a:rPr>
              <a:t>디자인 등록 보유자</a:t>
            </a:r>
            <a:r>
              <a:rPr lang="en-US" altLang="ko-KR" sz="700" dirty="0">
                <a:latin typeface="+mn-ea"/>
              </a:rPr>
              <a:t>, GS(</a:t>
            </a:r>
            <a:r>
              <a:rPr lang="ko-KR" altLang="en-US" sz="700" dirty="0" err="1">
                <a:latin typeface="+mn-ea"/>
              </a:rPr>
              <a:t>국산우수</a:t>
            </a:r>
            <a:r>
              <a:rPr lang="ko-KR" altLang="en-US" sz="700" dirty="0">
                <a:latin typeface="+mn-ea"/>
              </a:rPr>
              <a:t> </a:t>
            </a:r>
            <a:r>
              <a:rPr lang="en-US" altLang="ko-KR" sz="700" dirty="0">
                <a:latin typeface="+mn-ea"/>
              </a:rPr>
              <a:t>S/W)</a:t>
            </a:r>
            <a:r>
              <a:rPr lang="ko-KR" altLang="en-US" sz="700" dirty="0">
                <a:latin typeface="+mn-ea"/>
              </a:rPr>
              <a:t>마크 보유자</a:t>
            </a:r>
            <a:r>
              <a:rPr lang="en-US" altLang="ko-KR" sz="700" dirty="0">
                <a:latin typeface="+mn-ea"/>
              </a:rPr>
              <a:t>, GR</a:t>
            </a:r>
            <a:r>
              <a:rPr lang="ko-KR" altLang="en-US" sz="700" dirty="0">
                <a:latin typeface="+mn-ea"/>
              </a:rPr>
              <a:t>보유자</a:t>
            </a:r>
          </a:p>
          <a:p>
            <a:r>
              <a:rPr lang="en-US" altLang="ko-KR" sz="700" dirty="0">
                <a:latin typeface="+mn-ea"/>
              </a:rPr>
              <a:t>B.</a:t>
            </a:r>
            <a:r>
              <a:rPr lang="ko-KR" altLang="en-US" sz="700" dirty="0">
                <a:latin typeface="+mn-ea"/>
              </a:rPr>
              <a:t>「산업표준화법시행규칙」 제</a:t>
            </a:r>
            <a:r>
              <a:rPr lang="en-US" altLang="ko-KR" sz="700" dirty="0">
                <a:latin typeface="+mn-ea"/>
              </a:rPr>
              <a:t>10</a:t>
            </a:r>
            <a:r>
              <a:rPr lang="ko-KR" altLang="en-US" sz="700" dirty="0">
                <a:latin typeface="+mn-ea"/>
              </a:rPr>
              <a:t>조에서 정한 </a:t>
            </a:r>
            <a:r>
              <a:rPr lang="en-US" altLang="ko-KR" sz="700" dirty="0">
                <a:latin typeface="+mn-ea"/>
              </a:rPr>
              <a:t>KS</a:t>
            </a:r>
            <a:r>
              <a:rPr lang="ko-KR" altLang="en-US" sz="700" dirty="0" err="1">
                <a:latin typeface="+mn-ea"/>
              </a:rPr>
              <a:t>제품인증서</a:t>
            </a:r>
            <a:r>
              <a:rPr lang="ko-KR" altLang="en-US" sz="700" dirty="0">
                <a:latin typeface="+mn-ea"/>
              </a:rPr>
              <a:t> 보유자</a:t>
            </a:r>
            <a:r>
              <a:rPr lang="en-US" altLang="ko-KR" sz="700" dirty="0">
                <a:latin typeface="+mn-ea"/>
              </a:rPr>
              <a:t>, </a:t>
            </a:r>
            <a:r>
              <a:rPr lang="ko-KR" altLang="en-US" sz="700" dirty="0">
                <a:latin typeface="+mn-ea"/>
              </a:rPr>
              <a:t>단체표준인증보유자</a:t>
            </a:r>
          </a:p>
          <a:p>
            <a:r>
              <a:rPr lang="en-US" altLang="ko-KR" sz="700" dirty="0">
                <a:latin typeface="+mn-ea"/>
              </a:rPr>
              <a:t>C.</a:t>
            </a:r>
            <a:r>
              <a:rPr lang="ko-KR" altLang="en-US" sz="700" dirty="0">
                <a:latin typeface="+mn-ea"/>
              </a:rPr>
              <a:t>고효율에너지기자재 인증 보유자</a:t>
            </a:r>
          </a:p>
          <a:p>
            <a:r>
              <a:rPr lang="en-US" altLang="ko-KR" sz="700" dirty="0">
                <a:latin typeface="+mn-ea"/>
              </a:rPr>
              <a:t>D.</a:t>
            </a:r>
            <a:r>
              <a:rPr lang="ko-KR" altLang="en-US" sz="700" dirty="0">
                <a:latin typeface="+mn-ea"/>
              </a:rPr>
              <a:t>「</a:t>
            </a:r>
            <a:r>
              <a:rPr lang="ko-KR" altLang="en-US" sz="700" dirty="0" err="1">
                <a:latin typeface="+mn-ea"/>
              </a:rPr>
              <a:t>에너지이용합리화법」제</a:t>
            </a:r>
            <a:r>
              <a:rPr lang="en-US" altLang="ko-KR" sz="700" dirty="0">
                <a:latin typeface="+mn-ea"/>
              </a:rPr>
              <a:t>15</a:t>
            </a:r>
            <a:r>
              <a:rPr lang="ko-KR" altLang="en-US" sz="700" dirty="0">
                <a:latin typeface="+mn-ea"/>
              </a:rPr>
              <a:t>조에 따른 에너지소비효율 </a:t>
            </a:r>
            <a:r>
              <a:rPr lang="en-US" altLang="ko-KR" sz="700" dirty="0">
                <a:latin typeface="+mn-ea"/>
              </a:rPr>
              <a:t>1</a:t>
            </a:r>
            <a:r>
              <a:rPr lang="ko-KR" altLang="en-US" sz="700" dirty="0" err="1">
                <a:latin typeface="+mn-ea"/>
              </a:rPr>
              <a:t>등급제품</a:t>
            </a:r>
            <a:endParaRPr lang="ko-KR" altLang="en-US"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2538487" y="4635317"/>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249" name="TextBox 248">
            <a:extLst>
              <a:ext uri="{FF2B5EF4-FFF2-40B4-BE49-F238E27FC236}">
                <a16:creationId xmlns:a16="http://schemas.microsoft.com/office/drawing/2014/main" id="{FFC49AEA-2A8F-250C-A86A-A7751D9706C3}"/>
              </a:ext>
            </a:extLst>
          </p:cNvPr>
          <p:cNvSpPr txBox="1"/>
          <p:nvPr/>
        </p:nvSpPr>
        <p:spPr>
          <a:xfrm>
            <a:off x="3269841" y="306097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100" name="그룹 99"/>
          <p:cNvGrpSpPr/>
          <p:nvPr/>
        </p:nvGrpSpPr>
        <p:grpSpPr>
          <a:xfrm>
            <a:off x="3836701" y="1491157"/>
            <a:ext cx="2630093" cy="4596934"/>
            <a:chOff x="716957" y="1491157"/>
            <a:chExt cx="2630093" cy="4596934"/>
          </a:xfrm>
        </p:grpSpPr>
        <p:sp>
          <p:nvSpPr>
            <p:cNvPr id="101" name="직사각형 100"/>
            <p:cNvSpPr/>
            <p:nvPr/>
          </p:nvSpPr>
          <p:spPr>
            <a:xfrm>
              <a:off x="719049" y="5494403"/>
              <a:ext cx="1639886" cy="5879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TextBox 101">
              <a:extLst>
                <a:ext uri="{FF2B5EF4-FFF2-40B4-BE49-F238E27FC236}">
                  <a16:creationId xmlns:a16="http://schemas.microsoft.com/office/drawing/2014/main" id="{FFC49AEA-2A8F-250C-A86A-A7751D9706C3}"/>
                </a:ext>
              </a:extLst>
            </p:cNvPr>
            <p:cNvSpPr txBox="1"/>
            <p:nvPr/>
          </p:nvSpPr>
          <p:spPr>
            <a:xfrm>
              <a:off x="777928" y="1491157"/>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03" name="직사각형 102"/>
            <p:cNvSpPr/>
            <p:nvPr/>
          </p:nvSpPr>
          <p:spPr>
            <a:xfrm>
              <a:off x="719049" y="2076267"/>
              <a:ext cx="1639886" cy="2953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806112" y="20762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534154" y="20762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716957" y="20762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19050" y="2291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719050" y="321019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2954524" y="2076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806112" y="2332291"/>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「중소기업제품 구매촉진 및 판로지원에 관한 법률」 제</a:t>
              </a:r>
              <a:r>
                <a:rPr lang="en-US" altLang="ko-KR" sz="700" dirty="0">
                  <a:latin typeface="+mn-ea"/>
                </a:rPr>
                <a:t>7</a:t>
              </a:r>
              <a:r>
                <a:rPr lang="ko-KR" altLang="en-US" sz="700" dirty="0">
                  <a:latin typeface="+mn-ea"/>
                </a:rPr>
                <a:t>조제</a:t>
              </a:r>
              <a:r>
                <a:rPr lang="en-US" altLang="ko-KR" sz="700" dirty="0">
                  <a:latin typeface="+mn-ea"/>
                </a:rPr>
                <a:t>3</a:t>
              </a:r>
              <a:r>
                <a:rPr lang="ko-KR" altLang="en-US" sz="700" dirty="0">
                  <a:latin typeface="+mn-ea"/>
                </a:rPr>
                <a:t>항 및 같은 </a:t>
              </a:r>
              <a:r>
                <a:rPr lang="ko-KR" altLang="en-US" sz="700" dirty="0" err="1">
                  <a:latin typeface="+mn-ea"/>
                </a:rPr>
                <a:t>법시행령</a:t>
              </a:r>
              <a:r>
                <a:rPr lang="ko-KR" altLang="en-US" sz="700" dirty="0">
                  <a:latin typeface="+mn-ea"/>
                </a:rPr>
                <a:t> 제</a:t>
              </a:r>
              <a:r>
                <a:rPr lang="en-US" altLang="ko-KR" sz="700" dirty="0">
                  <a:latin typeface="+mn-ea"/>
                </a:rPr>
                <a:t>7</a:t>
              </a:r>
              <a:r>
                <a:rPr lang="ko-KR" altLang="en-US" sz="700" dirty="0">
                  <a:latin typeface="+mn-ea"/>
                </a:rPr>
                <a:t>조제</a:t>
              </a:r>
              <a:r>
                <a:rPr lang="en-US" altLang="ko-KR" sz="700" dirty="0">
                  <a:latin typeface="+mn-ea"/>
                </a:rPr>
                <a:t>4</a:t>
              </a:r>
              <a:r>
                <a:rPr lang="ko-KR" altLang="en-US" sz="700" dirty="0">
                  <a:latin typeface="+mn-ea"/>
                </a:rPr>
                <a:t>항에 해당하는 </a:t>
              </a:r>
              <a:r>
                <a:rPr lang="ko-KR" altLang="en-US" sz="700" dirty="0" err="1">
                  <a:latin typeface="+mn-ea"/>
                </a:rPr>
                <a:t>공동수급체</a:t>
              </a:r>
              <a:r>
                <a:rPr lang="ko-KR" altLang="en-US" sz="700" dirty="0">
                  <a:latin typeface="+mn-ea"/>
                </a:rPr>
                <a:t> 구성</a:t>
              </a: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2676821" y="25477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3276728" y="404887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806112" y="325147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.40%</a:t>
              </a:r>
              <a:r>
                <a:rPr lang="ko-KR" altLang="en-US" sz="700" dirty="0">
                  <a:latin typeface="+mn-ea"/>
                </a:rPr>
                <a:t> 이상</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595068" y="325147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806112" y="344176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806112" y="382234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업체가</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412035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4310638"/>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9050" y="340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9050" y="3781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719050" y="40790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9050" y="42693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2545374" y="3441764"/>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2676821" y="3876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7" y="4120350"/>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595068" y="4310638"/>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3276728" y="30396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719050" y="6088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19050" y="46499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806112" y="450092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806112" y="469121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595068" y="4691214"/>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8" name="TextBox 137">
              <a:extLst>
                <a:ext uri="{FF2B5EF4-FFF2-40B4-BE49-F238E27FC236}">
                  <a16:creationId xmlns:a16="http://schemas.microsoft.com/office/drawing/2014/main" id="{FFC49AEA-2A8F-250C-A86A-A7751D9706C3}"/>
                </a:ext>
              </a:extLst>
            </p:cNvPr>
            <p:cNvSpPr txBox="1"/>
            <p:nvPr/>
          </p:nvSpPr>
          <p:spPr>
            <a:xfrm>
              <a:off x="806112" y="488150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806112" y="5524703"/>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806112" y="572851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593232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19050" y="48402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9050" y="547665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19050" y="56804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9050" y="58842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TextBox 145">
              <a:extLst>
                <a:ext uri="{FF2B5EF4-FFF2-40B4-BE49-F238E27FC236}">
                  <a16:creationId xmlns:a16="http://schemas.microsoft.com/office/drawing/2014/main" id="{FFC49AEA-2A8F-250C-A86A-A7751D9706C3}"/>
                </a:ext>
              </a:extLst>
            </p:cNvPr>
            <p:cNvSpPr txBox="1"/>
            <p:nvPr/>
          </p:nvSpPr>
          <p:spPr>
            <a:xfrm>
              <a:off x="2545374" y="4881502"/>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2676821" y="55247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2595067" y="5728513"/>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2545374" y="5932323"/>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2676821" y="45009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3274223" y="467796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3274223" y="5729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806112" y="295346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a:latin typeface="+mn-ea"/>
                </a:rPr>
                <a:t>소기업</a:t>
              </a:r>
              <a:r>
                <a:rPr lang="en-US" altLang="ko-KR" sz="700" dirty="0">
                  <a:latin typeface="+mn-ea"/>
                </a:rPr>
                <a:t>(</a:t>
              </a:r>
              <a:r>
                <a:rPr lang="ko-KR" altLang="en-US" sz="700" dirty="0">
                  <a:latin typeface="+mn-ea"/>
                </a:rPr>
                <a:t>소상공인포함</a:t>
              </a:r>
              <a:r>
                <a:rPr lang="en-US" altLang="ko-KR" sz="700" dirty="0">
                  <a:latin typeface="+mn-ea"/>
                </a:rPr>
                <a:t>) </a:t>
              </a:r>
              <a:r>
                <a:rPr lang="ko-KR" altLang="en-US" sz="700" dirty="0">
                  <a:latin typeface="+mn-ea"/>
                </a:rPr>
                <a:t>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19050" y="291218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2676821" y="30073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4" name="직선 연결선 173">
              <a:extLst>
                <a:ext uri="{FF2B5EF4-FFF2-40B4-BE49-F238E27FC236}">
                  <a16:creationId xmlns:a16="http://schemas.microsoft.com/office/drawing/2014/main" id="{E9293055-D5CD-4B9E-7F64-64B2D2CA7A52}"/>
                </a:ext>
              </a:extLst>
            </p:cNvPr>
            <p:cNvCxnSpPr/>
            <p:nvPr/>
          </p:nvCxnSpPr>
          <p:spPr>
            <a:xfrm>
              <a:off x="719050" y="4459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806112" y="363205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9050" y="35907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7" name="TextBox 176">
              <a:extLst>
                <a:ext uri="{FF2B5EF4-FFF2-40B4-BE49-F238E27FC236}">
                  <a16:creationId xmlns:a16="http://schemas.microsoft.com/office/drawing/2014/main" id="{FFC49AEA-2A8F-250C-A86A-A7751D9706C3}"/>
                </a:ext>
              </a:extLst>
            </p:cNvPr>
            <p:cNvSpPr txBox="1"/>
            <p:nvPr/>
          </p:nvSpPr>
          <p:spPr>
            <a:xfrm>
              <a:off x="2595067" y="363205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9050" y="5030496"/>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806112" y="5091995"/>
              <a:ext cx="2504980" cy="323165"/>
            </a:xfrm>
            <a:prstGeom prst="rect">
              <a:avLst/>
            </a:prstGeom>
            <a:noFill/>
          </p:spPr>
          <p:txBody>
            <a:bodyPr wrap="square" lIns="0" tIns="0" rIns="0" bIns="0" rtlCol="0">
              <a:spAutoFit/>
            </a:bodyPr>
            <a:lstStyle/>
            <a:p>
              <a:pPr algn="ctr"/>
              <a:r>
                <a:rPr lang="en-US" altLang="ko-KR" sz="700" dirty="0">
                  <a:latin typeface="+mn-ea"/>
                </a:rPr>
                <a:t>※</a:t>
              </a:r>
              <a:r>
                <a:rPr lang="ko-KR" altLang="en-US" sz="700" dirty="0">
                  <a:latin typeface="+mn-ea"/>
                </a:rPr>
                <a:t>다만</a:t>
              </a:r>
              <a:r>
                <a:rPr lang="en-US" altLang="ko-KR" sz="700" dirty="0">
                  <a:latin typeface="+mn-ea"/>
                </a:rPr>
                <a:t>, </a:t>
              </a:r>
              <a:r>
                <a:rPr lang="ko-KR" altLang="en-US" sz="700" dirty="0">
                  <a:latin typeface="+mn-ea"/>
                </a:rPr>
                <a:t>법령이 정한 요건을 갖추지 못한</a:t>
              </a:r>
              <a:endParaRPr lang="en-US" altLang="ko-KR" sz="700" dirty="0">
                <a:latin typeface="+mn-ea"/>
              </a:endParaRPr>
            </a:p>
            <a:p>
              <a:pPr algn="ctr"/>
              <a:r>
                <a:rPr lang="ko-KR" altLang="en-US" sz="700" dirty="0">
                  <a:latin typeface="+mn-ea"/>
                </a:rPr>
                <a:t>공동수급체는 각 평점이 </a:t>
              </a:r>
              <a:r>
                <a:rPr lang="en-US" altLang="ko-KR" sz="700" dirty="0">
                  <a:latin typeface="+mn-ea"/>
                </a:rPr>
                <a:t>50%</a:t>
              </a:r>
              <a:r>
                <a:rPr lang="ko-KR" altLang="en-US" sz="700" dirty="0">
                  <a:latin typeface="+mn-ea"/>
                </a:rPr>
                <a:t>만 인정한다</a:t>
              </a:r>
              <a:r>
                <a:rPr lang="en-US" altLang="ko-KR" sz="700" dirty="0">
                  <a:latin typeface="+mn-ea"/>
                </a:rPr>
                <a:t>.</a:t>
              </a:r>
            </a:p>
            <a:p>
              <a:pPr algn="ct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grpSp>
      <p:sp>
        <p:nvSpPr>
          <p:cNvPr id="114" name="TextBox 113">
            <a:extLst>
              <a:ext uri="{FF2B5EF4-FFF2-40B4-BE49-F238E27FC236}">
                <a16:creationId xmlns:a16="http://schemas.microsoft.com/office/drawing/2014/main" id="{FFC49AEA-2A8F-250C-A86A-A7751D9706C3}"/>
              </a:ext>
            </a:extLst>
          </p:cNvPr>
          <p:cNvSpPr txBox="1"/>
          <p:nvPr/>
        </p:nvSpPr>
        <p:spPr>
          <a:xfrm>
            <a:off x="3269841" y="46353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타원 11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942742932"/>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16366" y="1495590"/>
            <a:ext cx="2630093" cy="4736709"/>
            <a:chOff x="3830405" y="1495590"/>
            <a:chExt cx="2630093" cy="4736709"/>
          </a:xfrm>
        </p:grpSpPr>
        <p:sp>
          <p:nvSpPr>
            <p:cNvPr id="186" name="직사각형 185"/>
            <p:cNvSpPr/>
            <p:nvPr/>
          </p:nvSpPr>
          <p:spPr>
            <a:xfrm>
              <a:off x="3832497" y="1981539"/>
              <a:ext cx="1639886" cy="42507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198154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198154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19815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19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28100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26108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49559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198154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242000"/>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 조달업무 우수업체로서 중소기업청장 또는 조달청장 표창을 받은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2349721"/>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2655920"/>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26559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23497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2855767"/>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여성기업</a:t>
              </a:r>
              <a:r>
                <a:rPr lang="en-US" altLang="ko-KR" sz="700" dirty="0">
                  <a:latin typeface="+mn-ea"/>
                </a:rPr>
                <a:t>(</a:t>
              </a:r>
              <a:r>
                <a:rPr lang="ko-KR" altLang="en-US" sz="700" dirty="0">
                  <a:latin typeface="+mn-ea"/>
                </a:rPr>
                <a:t>「여성기업지원에 관한 </a:t>
              </a:r>
              <a:r>
                <a:rPr lang="ko-KR" altLang="en-US" sz="700" dirty="0" err="1">
                  <a:latin typeface="+mn-ea"/>
                </a:rPr>
                <a:t>법률」및</a:t>
              </a:r>
              <a:r>
                <a:rPr lang="ko-KR" altLang="en-US" sz="700" dirty="0">
                  <a:latin typeface="+mn-ea"/>
                </a:rPr>
                <a:t> 같은 법 시행령에서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 경우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3017349"/>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333237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337809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36311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414530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4191024"/>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4244885"/>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452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4497908"/>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45517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475907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34414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35772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3882764"/>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3838420"/>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3531536"/>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3936625"/>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337809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2498" y="52813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3919560" y="480479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장애인기업</a:t>
              </a:r>
              <a:r>
                <a:rPr lang="en-US" altLang="ko-KR" sz="700" dirty="0">
                  <a:latin typeface="+mn-ea"/>
                </a:rPr>
                <a:t>(</a:t>
              </a:r>
              <a:r>
                <a:rPr lang="ko-KR" altLang="en-US" sz="700" dirty="0">
                  <a:latin typeface="+mn-ea"/>
                </a:rPr>
                <a:t>「장애인기업활동 </a:t>
              </a:r>
              <a:r>
                <a:rPr lang="ko-KR" altLang="en-US" sz="700" dirty="0" err="1">
                  <a:latin typeface="+mn-ea"/>
                </a:rPr>
                <a:t>촉진법」에서</a:t>
              </a:r>
              <a:r>
                <a:rPr lang="ko-KR" altLang="en-US" sz="700" dirty="0">
                  <a:latin typeface="+mn-ea"/>
                </a:rPr>
                <a:t>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확인된 경우 인정</a:t>
              </a:r>
              <a:r>
                <a:rPr lang="en-US" altLang="ko-KR" sz="700" dirty="0">
                  <a:latin typeface="+mn-ea"/>
                </a:rPr>
                <a:t>))</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5708515" y="496637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526281"/>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5708516" y="5580142"/>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19560" y="5833165"/>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832498" y="57874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32498" y="6094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5708515" y="588702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3" name="TextBox 282">
              <a:extLst>
                <a:ext uri="{FF2B5EF4-FFF2-40B4-BE49-F238E27FC236}">
                  <a16:creationId xmlns:a16="http://schemas.microsoft.com/office/drawing/2014/main" id="{FFC49AEA-2A8F-250C-A86A-A7751D9706C3}"/>
                </a:ext>
              </a:extLst>
            </p:cNvPr>
            <p:cNvSpPr txBox="1"/>
            <p:nvPr/>
          </p:nvSpPr>
          <p:spPr>
            <a:xfrm>
              <a:off x="6390176" y="5225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TextBox 283">
              <a:extLst>
                <a:ext uri="{FF2B5EF4-FFF2-40B4-BE49-F238E27FC236}">
                  <a16:creationId xmlns:a16="http://schemas.microsoft.com/office/drawing/2014/main" id="{FFC49AEA-2A8F-250C-A86A-A7751D9706C3}"/>
                </a:ext>
              </a:extLst>
            </p:cNvPr>
            <p:cNvSpPr txBox="1"/>
            <p:nvPr/>
          </p:nvSpPr>
          <p:spPr>
            <a:xfrm>
              <a:off x="3919560" y="532711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 우수기업</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5790269" y="532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32498" y="548056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6" name="그룹 5"/>
          <p:cNvGrpSpPr/>
          <p:nvPr/>
        </p:nvGrpSpPr>
        <p:grpSpPr>
          <a:xfrm>
            <a:off x="3837747" y="1496022"/>
            <a:ext cx="2628001" cy="4736276"/>
            <a:chOff x="719049" y="1496022"/>
            <a:chExt cx="2628001" cy="4736276"/>
          </a:xfrm>
        </p:grpSpPr>
        <p:sp>
          <p:nvSpPr>
            <p:cNvPr id="116" name="직사각형 115"/>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719050" y="28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TextBox 117">
              <a:extLst>
                <a:ext uri="{FF2B5EF4-FFF2-40B4-BE49-F238E27FC236}">
                  <a16:creationId xmlns:a16="http://schemas.microsoft.com/office/drawing/2014/main" id="{FFC49AEA-2A8F-250C-A86A-A7751D9706C3}"/>
                </a:ext>
              </a:extLst>
            </p:cNvPr>
            <p:cNvSpPr txBox="1"/>
            <p:nvPr/>
          </p:nvSpPr>
          <p:spPr>
            <a:xfrm>
              <a:off x="3276728" y="21376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1530354"/>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1706740"/>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명 이상인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806112" y="23140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3</a:t>
              </a:r>
              <a:r>
                <a:rPr lang="ko-KR" altLang="en-US" sz="700" dirty="0">
                  <a:latin typeface="+mn-ea"/>
                </a:rPr>
                <a:t>명 이상인 기업</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719050" y="16724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19050" y="22796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5" name="TextBox 124">
              <a:extLst>
                <a:ext uri="{FF2B5EF4-FFF2-40B4-BE49-F238E27FC236}">
                  <a16:creationId xmlns:a16="http://schemas.microsoft.com/office/drawing/2014/main" id="{FFC49AEA-2A8F-250C-A86A-A7751D9706C3}"/>
                </a:ext>
              </a:extLst>
            </p:cNvPr>
            <p:cNvSpPr txBox="1"/>
            <p:nvPr/>
          </p:nvSpPr>
          <p:spPr>
            <a:xfrm>
              <a:off x="2676821" y="15303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2595067" y="1922183"/>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95067" y="25294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9050" y="35628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3276728" y="3171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806112" y="2921286"/>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806112" y="309767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중소벤처기업부장관</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혁신형</a:t>
              </a:r>
              <a:r>
                <a:rPr lang="en-US" altLang="ko-KR" sz="700" dirty="0">
                  <a:latin typeface="+mn-ea"/>
                </a:rPr>
                <a:t>(</a:t>
              </a:r>
              <a:r>
                <a:rPr lang="ko-KR" altLang="en-US" sz="700" dirty="0">
                  <a:latin typeface="+mn-ea"/>
                </a:rPr>
                <a:t>벤처</a:t>
              </a:r>
              <a:r>
                <a:rPr lang="en-US" altLang="ko-KR" sz="700" dirty="0">
                  <a:latin typeface="+mn-ea"/>
                </a:rPr>
                <a:t>, </a:t>
              </a:r>
              <a:r>
                <a:rPr lang="ko-KR" altLang="en-US" sz="700" dirty="0" err="1">
                  <a:latin typeface="+mn-ea"/>
                </a:rPr>
                <a:t>기술혁신형</a:t>
              </a:r>
              <a:r>
                <a:rPr lang="en-US" altLang="ko-KR" sz="700" dirty="0">
                  <a:latin typeface="+mn-ea"/>
                </a:rPr>
                <a:t>, </a:t>
              </a:r>
              <a:r>
                <a:rPr lang="ko-KR" altLang="en-US" sz="700" dirty="0" err="1">
                  <a:latin typeface="+mn-ea"/>
                </a:rPr>
                <a:t>경영혁신형</a:t>
              </a:r>
              <a:r>
                <a:rPr lang="en-US" altLang="ko-KR" sz="700" dirty="0">
                  <a:latin typeface="+mn-ea"/>
                </a:rPr>
                <a:t>, </a:t>
              </a:r>
              <a:r>
                <a:rPr lang="ko-KR" altLang="en-US" sz="700" dirty="0">
                  <a:latin typeface="+mn-ea"/>
                </a:rPr>
                <a:t>우수그린비즈</a:t>
              </a:r>
              <a:r>
                <a:rPr lang="en-US" altLang="ko-KR" sz="700" dirty="0">
                  <a:latin typeface="+mn-ea"/>
                </a:rPr>
                <a:t>) </a:t>
              </a:r>
              <a:r>
                <a:rPr lang="ko-KR" altLang="en-US" sz="700" dirty="0">
                  <a:latin typeface="+mn-ea"/>
                </a:rPr>
                <a:t>중소기업으로 지정</a:t>
              </a:r>
              <a:r>
                <a:rPr lang="en-US" altLang="ko-KR" sz="700" dirty="0">
                  <a:latin typeface="+mn-ea"/>
                </a:rPr>
                <a:t>(</a:t>
              </a:r>
              <a:r>
                <a:rPr lang="ko-KR" altLang="en-US" sz="700" dirty="0">
                  <a:latin typeface="+mn-ea"/>
                </a:rPr>
                <a:t>확인</a:t>
              </a:r>
              <a:r>
                <a:rPr lang="en-US" altLang="ko-KR" sz="700" dirty="0">
                  <a:latin typeface="+mn-ea"/>
                </a:rPr>
                <a:t>) </a:t>
              </a:r>
              <a:r>
                <a:rPr lang="ko-KR" altLang="en-US" sz="700" dirty="0">
                  <a:latin typeface="+mn-ea"/>
                </a:rPr>
                <a:t>받은 자</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719050" y="30633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8" name="TextBox 157">
              <a:extLst>
                <a:ext uri="{FF2B5EF4-FFF2-40B4-BE49-F238E27FC236}">
                  <a16:creationId xmlns:a16="http://schemas.microsoft.com/office/drawing/2014/main" id="{FFC49AEA-2A8F-250C-A86A-A7751D9706C3}"/>
                </a:ext>
              </a:extLst>
            </p:cNvPr>
            <p:cNvSpPr txBox="1"/>
            <p:nvPr/>
          </p:nvSpPr>
          <p:spPr>
            <a:xfrm>
              <a:off x="2676821" y="29212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9" name="TextBox 158">
              <a:extLst>
                <a:ext uri="{FF2B5EF4-FFF2-40B4-BE49-F238E27FC236}">
                  <a16:creationId xmlns:a16="http://schemas.microsoft.com/office/drawing/2014/main" id="{FFC49AEA-2A8F-250C-A86A-A7751D9706C3}"/>
                </a:ext>
              </a:extLst>
            </p:cNvPr>
            <p:cNvSpPr txBox="1"/>
            <p:nvPr/>
          </p:nvSpPr>
          <p:spPr>
            <a:xfrm>
              <a:off x="2595067" y="3259254"/>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3276728" y="36510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806112" y="3597223"/>
              <a:ext cx="1480199" cy="215444"/>
            </a:xfrm>
            <a:prstGeom prst="rect">
              <a:avLst/>
            </a:prstGeom>
            <a:noFill/>
          </p:spPr>
          <p:txBody>
            <a:bodyPr wrap="square" lIns="0" tIns="0" rIns="0" bIns="0" rtlCol="0">
              <a:spAutoFit/>
            </a:bodyPr>
            <a:lstStyle/>
            <a:p>
              <a:r>
                <a:rPr lang="en-US" altLang="ko-KR" sz="700" dirty="0">
                  <a:latin typeface="+mn-ea"/>
                </a:rPr>
                <a:t>F.</a:t>
              </a:r>
              <a:r>
                <a:rPr lang="ko-KR" altLang="en-US" sz="700" dirty="0">
                  <a:latin typeface="+mn-ea"/>
                </a:rPr>
                <a:t>산업통상자원부장관이 선정한 ‘</a:t>
              </a:r>
              <a:r>
                <a:rPr lang="ko-KR" altLang="en-US" sz="700" dirty="0" err="1">
                  <a:latin typeface="+mn-ea"/>
                </a:rPr>
                <a:t>세계일류상품인증기업</a:t>
              </a:r>
              <a:r>
                <a:rPr lang="ko-KR" altLang="en-US"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2595067" y="3651084"/>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9050" y="3846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3276728" y="39351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806112" y="388133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a:latin typeface="+mn-ea"/>
                </a:rPr>
                <a:t>중소벤처기업부장관이 지정한 수출유망중소기업’</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2595067" y="393519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9050" y="413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1" name="TextBox 190">
              <a:extLst>
                <a:ext uri="{FF2B5EF4-FFF2-40B4-BE49-F238E27FC236}">
                  <a16:creationId xmlns:a16="http://schemas.microsoft.com/office/drawing/2014/main" id="{FFC49AEA-2A8F-250C-A86A-A7751D9706C3}"/>
                </a:ext>
              </a:extLst>
            </p:cNvPr>
            <p:cNvSpPr txBox="1"/>
            <p:nvPr/>
          </p:nvSpPr>
          <p:spPr>
            <a:xfrm>
              <a:off x="3276728" y="421930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806112" y="416543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안전행정부장관이 확인해준 ‘비상대비 중점관리 대상업체’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595067" y="421930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06" name="직선 연결선 205">
              <a:extLst>
                <a:ext uri="{FF2B5EF4-FFF2-40B4-BE49-F238E27FC236}">
                  <a16:creationId xmlns:a16="http://schemas.microsoft.com/office/drawing/2014/main" id="{E9293055-D5CD-4B9E-7F64-64B2D2CA7A52}"/>
                </a:ext>
              </a:extLst>
            </p:cNvPr>
            <p:cNvCxnSpPr/>
            <p:nvPr/>
          </p:nvCxnSpPr>
          <p:spPr>
            <a:xfrm>
              <a:off x="719050" y="4415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3276728" y="450340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806112" y="444954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여성가족부에서 지정한 가족친화 </a:t>
              </a:r>
              <a:r>
                <a:rPr lang="ko-KR" altLang="en-US" sz="700" dirty="0" err="1">
                  <a:latin typeface="+mn-ea"/>
                </a:rPr>
                <a:t>인증기업</a:t>
              </a:r>
              <a:endParaRPr lang="ko-KR" altLang="en-US" sz="700" dirty="0">
                <a:latin typeface="+mn-ea"/>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2595067" y="450340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719050" y="46993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9" name="TextBox 218">
              <a:extLst>
                <a:ext uri="{FF2B5EF4-FFF2-40B4-BE49-F238E27FC236}">
                  <a16:creationId xmlns:a16="http://schemas.microsoft.com/office/drawing/2014/main" id="{FFC49AEA-2A8F-250C-A86A-A7751D9706C3}"/>
                </a:ext>
              </a:extLst>
            </p:cNvPr>
            <p:cNvSpPr txBox="1"/>
            <p:nvPr/>
          </p:nvSpPr>
          <p:spPr>
            <a:xfrm>
              <a:off x="3276728" y="47875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806112" y="4733655"/>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고용노동부장관이 인증한 사회적 기업</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2595067" y="478751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22" name="직선 연결선 221">
              <a:extLst>
                <a:ext uri="{FF2B5EF4-FFF2-40B4-BE49-F238E27FC236}">
                  <a16:creationId xmlns:a16="http://schemas.microsoft.com/office/drawing/2014/main" id="{E9293055-D5CD-4B9E-7F64-64B2D2CA7A52}"/>
                </a:ext>
              </a:extLst>
            </p:cNvPr>
            <p:cNvCxnSpPr/>
            <p:nvPr/>
          </p:nvCxnSpPr>
          <p:spPr>
            <a:xfrm>
              <a:off x="719050" y="4983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3276728" y="51254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806112" y="5017763"/>
              <a:ext cx="1480199" cy="323165"/>
            </a:xfrm>
            <a:prstGeom prst="rect">
              <a:avLst/>
            </a:prstGeom>
            <a:noFill/>
          </p:spPr>
          <p:txBody>
            <a:bodyPr wrap="square" lIns="0" tIns="0" rIns="0" bIns="0" rtlCol="0">
              <a:spAutoFit/>
            </a:bodyPr>
            <a:lstStyle/>
            <a:p>
              <a:r>
                <a:rPr lang="en-US" altLang="ko-KR" sz="700" dirty="0">
                  <a:latin typeface="+mn-ea"/>
                </a:rPr>
                <a:t>K.’</a:t>
              </a:r>
              <a:r>
                <a:rPr lang="ko-KR" altLang="en-US" sz="700" dirty="0">
                  <a:latin typeface="+mn-ea"/>
                </a:rPr>
                <a:t>중소기업인력지원특별법’ 제</a:t>
              </a:r>
              <a:r>
                <a:rPr lang="en-US" altLang="ko-KR" sz="700" dirty="0">
                  <a:latin typeface="+mn-ea"/>
                </a:rPr>
                <a:t>18</a:t>
              </a:r>
              <a:r>
                <a:rPr lang="ko-KR" altLang="en-US" sz="700" dirty="0">
                  <a:latin typeface="+mn-ea"/>
                </a:rPr>
                <a:t>조의</a:t>
              </a:r>
              <a:r>
                <a:rPr lang="en-US" altLang="ko-KR" sz="700" dirty="0">
                  <a:latin typeface="+mn-ea"/>
                </a:rPr>
                <a:t>2</a:t>
              </a:r>
              <a:r>
                <a:rPr lang="ko-KR" altLang="en-US" sz="700" dirty="0">
                  <a:latin typeface="+mn-ea"/>
                </a:rPr>
                <a:t>에 </a:t>
              </a:r>
              <a:r>
                <a:rPr lang="ko-KR" altLang="en-US" sz="700" dirty="0" err="1">
                  <a:latin typeface="+mn-ea"/>
                </a:rPr>
                <a:t>따른’인재육성형</a:t>
              </a:r>
              <a:r>
                <a:rPr lang="ko-KR" altLang="en-US" sz="700" dirty="0">
                  <a:latin typeface="+mn-ea"/>
                </a:rPr>
                <a:t> </a:t>
              </a:r>
              <a:r>
                <a:rPr lang="ko-KR" altLang="en-US" sz="700" dirty="0" err="1">
                  <a:latin typeface="+mn-ea"/>
                </a:rPr>
                <a:t>중소기업’으로</a:t>
              </a:r>
              <a:r>
                <a:rPr lang="ko-KR" altLang="en-US" sz="700" dirty="0">
                  <a:latin typeface="+mn-ea"/>
                </a:rPr>
                <a:t> </a:t>
              </a:r>
              <a:r>
                <a:rPr lang="ko-KR" altLang="en-US" sz="700" dirty="0" err="1">
                  <a:latin typeface="+mn-ea"/>
                </a:rPr>
                <a:t>지정받은</a:t>
              </a:r>
              <a:r>
                <a:rPr lang="ko-KR" altLang="en-US" sz="700" dirty="0">
                  <a:latin typeface="+mn-ea"/>
                </a:rPr>
                <a:t> 기업</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95067" y="512548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719050" y="53752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7" name="TextBox 226">
              <a:extLst>
                <a:ext uri="{FF2B5EF4-FFF2-40B4-BE49-F238E27FC236}">
                  <a16:creationId xmlns:a16="http://schemas.microsoft.com/office/drawing/2014/main" id="{FFC49AEA-2A8F-250C-A86A-A7751D9706C3}"/>
                </a:ext>
              </a:extLst>
            </p:cNvPr>
            <p:cNvSpPr txBox="1"/>
            <p:nvPr/>
          </p:nvSpPr>
          <p:spPr>
            <a:xfrm>
              <a:off x="3276728" y="57499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806112" y="5409592"/>
              <a:ext cx="1480199" cy="107722"/>
            </a:xfrm>
            <a:prstGeom prst="rect">
              <a:avLst/>
            </a:prstGeom>
            <a:noFill/>
          </p:spPr>
          <p:txBody>
            <a:bodyPr wrap="square" lIns="0" tIns="0" rIns="0" bIns="0" rtlCol="0">
              <a:spAutoFit/>
            </a:bodyPr>
            <a:lstStyle/>
            <a:p>
              <a:r>
                <a:rPr lang="en-US" altLang="ko-KR" sz="700" dirty="0">
                  <a:latin typeface="+mn-ea"/>
                </a:rPr>
                <a:t>L.</a:t>
              </a:r>
              <a:r>
                <a:rPr lang="ko-KR" altLang="en-US" sz="700" dirty="0">
                  <a:latin typeface="+mn-ea"/>
                </a:rPr>
                <a:t>수출우수기업</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2595003" y="5551646"/>
              <a:ext cx="118687" cy="430887"/>
            </a:xfrm>
            <a:prstGeom prst="rect">
              <a:avLst/>
            </a:prstGeom>
            <a:noFill/>
          </p:spPr>
          <p:txBody>
            <a:bodyPr wrap="none" lIns="0" tIns="0" rIns="0" bIns="0" rtlCol="0">
              <a:spAutoFit/>
            </a:bodyPr>
            <a:lstStyle/>
            <a:p>
              <a:pPr algn="r"/>
              <a:r>
                <a:rPr lang="en-US" altLang="ko-KR" sz="700" dirty="0">
                  <a:latin typeface="+mn-ea"/>
                </a:rPr>
                <a:t>0.2</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0.1</a:t>
              </a:r>
              <a:endParaRPr lang="ko-KR" altLang="en-US" sz="700" dirty="0">
                <a:latin typeface="+mn-ea"/>
              </a:endParaRPr>
            </a:p>
          </p:txBody>
        </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TextBox 230">
              <a:extLst>
                <a:ext uri="{FF2B5EF4-FFF2-40B4-BE49-F238E27FC236}">
                  <a16:creationId xmlns:a16="http://schemas.microsoft.com/office/drawing/2014/main" id="{FFC49AEA-2A8F-250C-A86A-A7751D9706C3}"/>
                </a:ext>
              </a:extLst>
            </p:cNvPr>
            <p:cNvSpPr txBox="1"/>
            <p:nvPr/>
          </p:nvSpPr>
          <p:spPr>
            <a:xfrm>
              <a:off x="806112" y="5551646"/>
              <a:ext cx="1480199"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수출액 </a:t>
              </a:r>
              <a:r>
                <a:rPr lang="en-US" altLang="ko-KR" sz="700" dirty="0">
                  <a:latin typeface="+mn-ea"/>
                </a:rPr>
                <a:t>100</a:t>
              </a:r>
              <a:r>
                <a:rPr lang="ko-KR" altLang="en-US" sz="700" dirty="0" err="1">
                  <a:latin typeface="+mn-ea"/>
                </a:rPr>
                <a:t>만불이상이면서</a:t>
              </a:r>
              <a:r>
                <a:rPr lang="ko-KR" altLang="en-US" sz="700" dirty="0">
                  <a:latin typeface="+mn-ea"/>
                </a:rPr>
                <a:t> 수출증가율 </a:t>
              </a:r>
              <a:r>
                <a:rPr lang="en-US" altLang="ko-KR" sz="700" dirty="0">
                  <a:latin typeface="+mn-ea"/>
                </a:rPr>
                <a:t>10%</a:t>
              </a:r>
              <a:r>
                <a:rPr lang="ko-KR" altLang="en-US" sz="700" dirty="0">
                  <a:latin typeface="+mn-ea"/>
                </a:rPr>
                <a:t>이상 또는 수출액 </a:t>
              </a:r>
              <a:r>
                <a:rPr lang="en-US" altLang="ko-KR" sz="700" dirty="0">
                  <a:latin typeface="+mn-ea"/>
                </a:rPr>
                <a:t>10</a:t>
              </a:r>
              <a:r>
                <a:rPr lang="ko-KR" altLang="en-US" sz="700" dirty="0">
                  <a:latin typeface="+mn-ea"/>
                </a:rPr>
                <a:t>만불 이상이면서 수출 증가율 </a:t>
              </a:r>
              <a:r>
                <a:rPr lang="en-US" altLang="ko-KR" sz="700" dirty="0">
                  <a:latin typeface="+mn-ea"/>
                </a:rPr>
                <a:t>30%</a:t>
              </a:r>
              <a:r>
                <a:rPr lang="ko-KR" altLang="en-US" sz="700" dirty="0">
                  <a:latin typeface="+mn-ea"/>
                </a:rPr>
                <a:t>이상</a:t>
              </a:r>
            </a:p>
            <a:p>
              <a:r>
                <a:rPr lang="en-US" altLang="ko-KR" sz="700" dirty="0">
                  <a:latin typeface="+mn-ea"/>
                </a:rPr>
                <a:t>  - </a:t>
              </a:r>
              <a:r>
                <a:rPr lang="ko-KR" altLang="en-US" sz="700" dirty="0">
                  <a:latin typeface="+mn-ea"/>
                </a:rPr>
                <a:t>수출액 </a:t>
              </a:r>
              <a:r>
                <a:rPr lang="en-US" altLang="ko-KR" sz="700" dirty="0">
                  <a:latin typeface="+mn-ea"/>
                </a:rPr>
                <a:t>100</a:t>
              </a:r>
              <a:r>
                <a:rPr lang="ko-KR" altLang="en-US" sz="700" dirty="0">
                  <a:latin typeface="+mn-ea"/>
                </a:rPr>
                <a:t>만불 이상 또는 수출액 </a:t>
              </a:r>
              <a:r>
                <a:rPr lang="en-US" altLang="ko-KR" sz="700" dirty="0">
                  <a:latin typeface="+mn-ea"/>
                </a:rPr>
                <a:t>10</a:t>
              </a:r>
              <a:r>
                <a:rPr lang="ko-KR" altLang="en-US" sz="700" dirty="0">
                  <a:latin typeface="+mn-ea"/>
                </a:rPr>
                <a:t>만불 이상이면서 수출증가율 </a:t>
              </a:r>
              <a:r>
                <a:rPr lang="en-US" altLang="ko-KR" sz="700" dirty="0">
                  <a:latin typeface="+mn-ea"/>
                </a:rPr>
                <a:t>10%</a:t>
              </a:r>
              <a:r>
                <a:rPr lang="ko-KR" altLang="en-US" sz="700" dirty="0">
                  <a:latin typeface="+mn-ea"/>
                </a:rPr>
                <a:t>이상</a:t>
              </a:r>
            </a:p>
          </p:txBody>
        </p:sp>
        <p:cxnSp>
          <p:nvCxnSpPr>
            <p:cNvPr id="232" name="직선 연결선 231">
              <a:extLst>
                <a:ext uri="{FF2B5EF4-FFF2-40B4-BE49-F238E27FC236}">
                  <a16:creationId xmlns:a16="http://schemas.microsoft.com/office/drawing/2014/main" id="{E9293055-D5CD-4B9E-7F64-64B2D2CA7A52}"/>
                </a:ext>
              </a:extLst>
            </p:cNvPr>
            <p:cNvCxnSpPr/>
            <p:nvPr/>
          </p:nvCxnSpPr>
          <p:spPr>
            <a:xfrm>
              <a:off x="719050" y="14960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8" name="타원 10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47471893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9" name="TextBox 17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3" name="그룹 2"/>
          <p:cNvGrpSpPr/>
          <p:nvPr/>
        </p:nvGrpSpPr>
        <p:grpSpPr>
          <a:xfrm>
            <a:off x="717412" y="1493927"/>
            <a:ext cx="2628000" cy="4580070"/>
            <a:chOff x="3832498" y="1493927"/>
            <a:chExt cx="2628000" cy="4580070"/>
          </a:xfrm>
        </p:grpSpPr>
        <p:sp>
          <p:nvSpPr>
            <p:cNvPr id="159" name="직사각형 158"/>
            <p:cNvSpPr/>
            <p:nvPr/>
          </p:nvSpPr>
          <p:spPr>
            <a:xfrm>
              <a:off x="3835002" y="1504396"/>
              <a:ext cx="1639886" cy="45696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32932"/>
              <a:ext cx="1480199" cy="215444"/>
            </a:xfrm>
            <a:prstGeom prst="rect">
              <a:avLst/>
            </a:prstGeom>
            <a:noFill/>
          </p:spPr>
          <p:txBody>
            <a:bodyPr wrap="square" lIns="0" tIns="0" rIns="0" bIns="0" rtlCol="0">
              <a:spAutoFit/>
            </a:bodyPr>
            <a:lstStyle/>
            <a:p>
              <a:r>
                <a:rPr lang="en-US" altLang="ko-KR" sz="700" dirty="0">
                  <a:latin typeface="+mn-ea"/>
                </a:rPr>
                <a:t>M.</a:t>
              </a:r>
              <a:r>
                <a:rPr lang="ko-KR" altLang="en-US" sz="700" dirty="0">
                  <a:latin typeface="+mn-ea"/>
                </a:rPr>
                <a:t>중소벤처기업부장관이 선정한 ‘월드 클래스</a:t>
              </a:r>
              <a:r>
                <a:rPr lang="en-US" altLang="ko-KR" sz="700" dirty="0">
                  <a:latin typeface="+mn-ea"/>
                </a:rPr>
                <a:t>300</a:t>
              </a:r>
              <a:r>
                <a:rPr lang="ko-KR" altLang="en-US" sz="700" dirty="0">
                  <a:latin typeface="+mn-ea"/>
                </a:rPr>
                <a:t>기업’</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87381"/>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11020" y="1586793"/>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67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3922065" y="1826386"/>
              <a:ext cx="1480199" cy="430887"/>
            </a:xfrm>
            <a:prstGeom prst="rect">
              <a:avLst/>
            </a:prstGeom>
            <a:noFill/>
          </p:spPr>
          <p:txBody>
            <a:bodyPr wrap="square" lIns="0" tIns="0" rIns="0" bIns="0" rtlCol="0">
              <a:spAutoFit/>
            </a:bodyPr>
            <a:lstStyle/>
            <a:p>
              <a:r>
                <a:rPr lang="en-US" altLang="ko-KR" sz="700" dirty="0">
                  <a:latin typeface="+mn-ea"/>
                </a:rPr>
                <a:t>N.</a:t>
              </a:r>
              <a:r>
                <a:rPr lang="ko-KR" altLang="en-US" sz="700" dirty="0">
                  <a:latin typeface="+mn-ea"/>
                </a:rPr>
                <a:t>개성공단 입주기업으로서 통일부장관</a:t>
              </a:r>
              <a:r>
                <a:rPr lang="en-US" altLang="ko-KR" sz="700" dirty="0">
                  <a:latin typeface="+mn-ea"/>
                </a:rPr>
                <a:t>(</a:t>
              </a:r>
              <a:r>
                <a:rPr lang="ko-KR" altLang="en-US" sz="700" dirty="0">
                  <a:latin typeface="+mn-ea"/>
                </a:rPr>
                <a:t>또는 위임을 </a:t>
              </a:r>
              <a:r>
                <a:rPr lang="ko-KR" altLang="en-US" sz="700" dirty="0" err="1">
                  <a:latin typeface="+mn-ea"/>
                </a:rPr>
                <a:t>받은자</a:t>
              </a:r>
              <a:r>
                <a:rPr lang="en-US" altLang="ko-KR" sz="700" dirty="0">
                  <a:latin typeface="+mn-ea"/>
                </a:rPr>
                <a:t>) </a:t>
              </a:r>
              <a:r>
                <a:rPr lang="ko-KR" altLang="en-US" sz="700" dirty="0">
                  <a:latin typeface="+mn-ea"/>
                </a:rPr>
                <a:t>으로부터 기업등록증을 발급받는 자</a:t>
              </a:r>
              <a:r>
                <a:rPr lang="en-US" altLang="ko-KR" sz="700" dirty="0">
                  <a:latin typeface="+mn-ea"/>
                </a:rPr>
                <a:t>(2018</a:t>
              </a:r>
              <a:r>
                <a:rPr lang="ko-KR" altLang="en-US" sz="700" dirty="0">
                  <a:latin typeface="+mn-ea"/>
                </a:rPr>
                <a:t>년</a:t>
              </a:r>
              <a:r>
                <a:rPr lang="en-US" altLang="ko-KR" sz="700" dirty="0">
                  <a:latin typeface="+mn-ea"/>
                </a:rPr>
                <a:t>4</a:t>
              </a:r>
              <a:r>
                <a:rPr lang="ko-KR" altLang="en-US" sz="700" dirty="0">
                  <a:latin typeface="+mn-ea"/>
                </a:rPr>
                <a:t>월 </a:t>
              </a:r>
              <a:r>
                <a:rPr lang="en-US" altLang="ko-KR" sz="700" dirty="0">
                  <a:latin typeface="+mn-ea"/>
                </a:rPr>
                <a:t>1</a:t>
              </a:r>
              <a:r>
                <a:rPr lang="ko-KR" altLang="en-US" sz="700" dirty="0">
                  <a:latin typeface="+mn-ea"/>
                </a:rPr>
                <a:t>일 이전</a:t>
              </a:r>
              <a:r>
                <a:rPr lang="en-US" altLang="ko-KR" sz="700" dirty="0">
                  <a:latin typeface="+mn-ea"/>
                </a:rPr>
                <a:t>) </a:t>
              </a:r>
              <a:r>
                <a:rPr lang="ko-KR" altLang="en-US" sz="700" dirty="0">
                  <a:latin typeface="+mn-ea"/>
                </a:rPr>
                <a:t>입찰공고에 한하여 적용</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5003" y="2296278"/>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2" name="TextBox 171">
              <a:extLst>
                <a:ext uri="{FF2B5EF4-FFF2-40B4-BE49-F238E27FC236}">
                  <a16:creationId xmlns:a16="http://schemas.microsoft.com/office/drawing/2014/main" id="{FFC49AEA-2A8F-250C-A86A-A7751D9706C3}"/>
                </a:ext>
              </a:extLst>
            </p:cNvPr>
            <p:cNvSpPr txBox="1"/>
            <p:nvPr/>
          </p:nvSpPr>
          <p:spPr>
            <a:xfrm>
              <a:off x="5711020" y="1987968"/>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6390176" y="19879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35283"/>
              <a:ext cx="1480199" cy="646331"/>
            </a:xfrm>
            <a:prstGeom prst="rect">
              <a:avLst/>
            </a:prstGeom>
            <a:noFill/>
          </p:spPr>
          <p:txBody>
            <a:bodyPr wrap="square" lIns="0" tIns="0" rIns="0" bIns="0" rtlCol="0">
              <a:spAutoFit/>
            </a:bodyPr>
            <a:lstStyle/>
            <a:p>
              <a:r>
                <a:rPr lang="en-US" altLang="ko-KR" sz="700" dirty="0">
                  <a:latin typeface="+mn-ea"/>
                </a:rPr>
                <a:t>O.</a:t>
              </a:r>
              <a:r>
                <a:rPr lang="ko-KR" altLang="en-US" sz="700" dirty="0">
                  <a:latin typeface="+mn-ea"/>
                </a:rPr>
                <a:t>정규직전환기업</a:t>
              </a:r>
            </a:p>
            <a:p>
              <a:r>
                <a:rPr lang="en-US" altLang="ko-KR" sz="700" dirty="0">
                  <a:latin typeface="+mn-ea"/>
                </a:rPr>
                <a:t>- </a:t>
              </a:r>
              <a:r>
                <a:rPr lang="ko-KR" altLang="en-US" sz="700" dirty="0">
                  <a:latin typeface="+mn-ea"/>
                </a:rPr>
                <a:t>고용노동부로부터 정규직 전환 지원사업 대상자로 승인을 받은 기업으로서</a:t>
              </a:r>
              <a:r>
                <a:rPr lang="en-US" altLang="ko-KR" sz="700" dirty="0">
                  <a:latin typeface="+mn-ea"/>
                </a:rPr>
                <a:t>, </a:t>
              </a:r>
              <a:r>
                <a:rPr lang="ko-KR" altLang="en-US" sz="700" dirty="0">
                  <a:latin typeface="+mn-ea"/>
                </a:rPr>
                <a:t>입찰서 </a:t>
              </a:r>
              <a:r>
                <a:rPr lang="ko-KR" altLang="en-US" sz="700" dirty="0" err="1">
                  <a:latin typeface="+mn-ea"/>
                </a:rPr>
                <a:t>제출마감일</a:t>
              </a:r>
              <a:r>
                <a:rPr lang="ko-KR" altLang="en-US" sz="700" dirty="0">
                  <a:latin typeface="+mn-ea"/>
                </a:rPr>
                <a:t> 전일 기준 최근 </a:t>
              </a:r>
              <a:r>
                <a:rPr lang="en-US" altLang="ko-KR" sz="700" dirty="0">
                  <a:latin typeface="+mn-ea"/>
                </a:rPr>
                <a:t>1</a:t>
              </a:r>
              <a:r>
                <a:rPr lang="ko-KR" altLang="en-US" sz="700" dirty="0">
                  <a:latin typeface="+mn-ea"/>
                </a:rPr>
                <a:t>년 이내에 정규직 전환을 이행한 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711020" y="2604587"/>
              <a:ext cx="118623" cy="107722"/>
            </a:xfrm>
            <a:prstGeom prst="rect">
              <a:avLst/>
            </a:prstGeom>
            <a:noFill/>
          </p:spPr>
          <p:txBody>
            <a:bodyPr wrap="none" lIns="0" tIns="0" rIns="0" bIns="0" rtlCol="0">
              <a:spAutoFit/>
            </a:bodyPr>
            <a:lstStyle/>
            <a:p>
              <a:pPr algn="r"/>
              <a:r>
                <a:rPr lang="en-US" altLang="ko-KR" sz="700" dirty="0">
                  <a:latin typeface="+mn-ea"/>
                </a:rPr>
                <a:t>2.0</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6390176" y="260458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32498" y="38916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6390176" y="40384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3919560" y="3930692"/>
              <a:ext cx="1480199" cy="323165"/>
            </a:xfrm>
            <a:prstGeom prst="rect">
              <a:avLst/>
            </a:prstGeom>
            <a:noFill/>
          </p:spPr>
          <p:txBody>
            <a:bodyPr wrap="square" lIns="0" tIns="0" rIns="0" bIns="0" rtlCol="0">
              <a:spAutoFit/>
            </a:bodyPr>
            <a:lstStyle/>
            <a:p>
              <a:r>
                <a:rPr lang="en-US" altLang="ko-KR" sz="700" dirty="0">
                  <a:latin typeface="+mn-ea"/>
                </a:rPr>
                <a:t>Q.</a:t>
              </a:r>
              <a:r>
                <a:rPr lang="ko-KR" altLang="en-US" sz="700" dirty="0">
                  <a:latin typeface="+mn-ea"/>
                </a:rPr>
                <a:t>노동시간단축 조기도입기입</a:t>
              </a:r>
            </a:p>
            <a:p>
              <a:r>
                <a:rPr lang="en-US" altLang="ko-KR" sz="700" dirty="0">
                  <a:latin typeface="+mn-ea"/>
                </a:rPr>
                <a:t>  - </a:t>
              </a:r>
              <a:r>
                <a:rPr lang="ko-KR" altLang="en-US" sz="700" dirty="0">
                  <a:latin typeface="+mn-ea"/>
                </a:rPr>
                <a:t>정부의 노동시간단축 일정보다 </a:t>
              </a:r>
              <a:r>
                <a:rPr lang="en-US" altLang="ko-KR" sz="700" dirty="0">
                  <a:latin typeface="+mn-ea"/>
                </a:rPr>
                <a:t>1</a:t>
              </a:r>
              <a:r>
                <a:rPr lang="ko-KR" altLang="en-US" sz="700" dirty="0" err="1">
                  <a:latin typeface="+mn-ea"/>
                </a:rPr>
                <a:t>년이상</a:t>
              </a:r>
              <a:r>
                <a:rPr lang="ko-KR" altLang="en-US" sz="700" dirty="0">
                  <a:latin typeface="+mn-ea"/>
                </a:rPr>
                <a:t> 앞당긴 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5708515" y="4038413"/>
              <a:ext cx="118623"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2498" y="4292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TextBox 206">
              <a:extLst>
                <a:ext uri="{FF2B5EF4-FFF2-40B4-BE49-F238E27FC236}">
                  <a16:creationId xmlns:a16="http://schemas.microsoft.com/office/drawing/2014/main" id="{FFC49AEA-2A8F-250C-A86A-A7751D9706C3}"/>
                </a:ext>
              </a:extLst>
            </p:cNvPr>
            <p:cNvSpPr txBox="1"/>
            <p:nvPr/>
          </p:nvSpPr>
          <p:spPr>
            <a:xfrm>
              <a:off x="6390176" y="34022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3059624"/>
              <a:ext cx="1480199" cy="107722"/>
            </a:xfrm>
            <a:prstGeom prst="rect">
              <a:avLst/>
            </a:prstGeom>
            <a:noFill/>
          </p:spPr>
          <p:txBody>
            <a:bodyPr wrap="square" lIns="0" tIns="0" rIns="0" bIns="0" rtlCol="0">
              <a:spAutoFit/>
            </a:bodyPr>
            <a:lstStyle/>
            <a:p>
              <a:r>
                <a:rPr lang="en-US" altLang="ko-KR" sz="700" dirty="0">
                  <a:latin typeface="+mn-ea"/>
                </a:rPr>
                <a:t>P.</a:t>
              </a:r>
              <a:r>
                <a:rPr lang="ko-KR" altLang="en-US" sz="700" dirty="0">
                  <a:latin typeface="+mn-ea"/>
                </a:rPr>
                <a:t>청년고용 우수기업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451" y="3206351"/>
              <a:ext cx="118687" cy="430887"/>
            </a:xfrm>
            <a:prstGeom prst="rect">
              <a:avLst/>
            </a:prstGeom>
            <a:noFill/>
          </p:spPr>
          <p:txBody>
            <a:bodyPr wrap="none" lIns="0" tIns="0" rIns="0" bIns="0" rtlCol="0">
              <a:spAutoFit/>
            </a:bodyPr>
            <a:lstStyle/>
            <a:p>
              <a:pPr algn="r"/>
              <a:r>
                <a:rPr lang="en-US" altLang="ko-KR" sz="700" dirty="0">
                  <a:latin typeface="+mn-ea"/>
                </a:rPr>
                <a:t>1.0</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9560" y="3206351"/>
              <a:ext cx="1480199" cy="646331"/>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10%</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10</a:t>
              </a:r>
              <a:r>
                <a:rPr lang="ko-KR" altLang="en-US" sz="700" dirty="0">
                  <a:latin typeface="+mn-ea"/>
                </a:rPr>
                <a:t>인 이상인 기업</a:t>
              </a: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5%</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5</a:t>
              </a:r>
              <a:r>
                <a:rPr lang="ko-KR" altLang="en-US" sz="700" dirty="0">
                  <a:latin typeface="+mn-ea"/>
                </a:rPr>
                <a:t>인 이상인 기업</a:t>
              </a:r>
            </a:p>
          </p:txBody>
        </p: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2498" y="30206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6390176" y="44395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560" y="4331867"/>
              <a:ext cx="1480199" cy="323165"/>
            </a:xfrm>
            <a:prstGeom prst="rect">
              <a:avLst/>
            </a:prstGeom>
            <a:noFill/>
          </p:spPr>
          <p:txBody>
            <a:bodyPr wrap="square" lIns="0" tIns="0" rIns="0" bIns="0" rtlCol="0">
              <a:spAutoFit/>
            </a:bodyPr>
            <a:lstStyle/>
            <a:p>
              <a:r>
                <a:rPr lang="en-US" altLang="ko-KR" sz="700" dirty="0">
                  <a:latin typeface="+mn-ea"/>
                </a:rPr>
                <a:t>R.</a:t>
              </a:r>
              <a:r>
                <a:rPr lang="ko-KR" altLang="en-US" sz="700" dirty="0" err="1">
                  <a:latin typeface="+mn-ea"/>
                </a:rPr>
                <a:t>재기기업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err="1">
                  <a:latin typeface="+mn-ea"/>
                </a:rPr>
                <a:t>년이내</a:t>
              </a:r>
              <a:r>
                <a:rPr lang="ko-KR" altLang="en-US" sz="700" dirty="0">
                  <a:latin typeface="+mn-ea"/>
                </a:rPr>
                <a:t> 중소벤처기업부로부터 </a:t>
              </a:r>
              <a:r>
                <a:rPr lang="ko-KR" altLang="en-US" sz="700" dirty="0" err="1">
                  <a:latin typeface="+mn-ea"/>
                </a:rPr>
                <a:t>재창업</a:t>
              </a:r>
              <a:r>
                <a:rPr lang="ko-KR" altLang="en-US" sz="700" dirty="0">
                  <a:latin typeface="+mn-ea"/>
                </a:rPr>
                <a:t> 프로그램 지원받은 기업</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708515" y="443958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2498" y="46940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6390176" y="48946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3919560" y="4733042"/>
              <a:ext cx="1480199" cy="430887"/>
            </a:xfrm>
            <a:prstGeom prst="rect">
              <a:avLst/>
            </a:prstGeom>
            <a:noFill/>
          </p:spPr>
          <p:txBody>
            <a:bodyPr wrap="square" lIns="0" tIns="0" rIns="0" bIns="0" rtlCol="0">
              <a:spAutoFit/>
            </a:bodyPr>
            <a:lstStyle/>
            <a:p>
              <a:r>
                <a:rPr lang="en-US" altLang="ko-KR" sz="700" dirty="0">
                  <a:latin typeface="+mn-ea"/>
                </a:rPr>
                <a:t>S.</a:t>
              </a:r>
              <a:r>
                <a:rPr lang="ko-KR" altLang="en-US" sz="700" dirty="0">
                  <a:latin typeface="+mn-ea"/>
                </a:rPr>
                <a:t>사업전환계획 </a:t>
              </a:r>
              <a:r>
                <a:rPr lang="ko-KR" altLang="en-US" sz="700" dirty="0" err="1">
                  <a:latin typeface="+mn-ea"/>
                </a:rPr>
                <a:t>승인기업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년 이내 중소기업 사업전환 촉진에 관한 특별법 제</a:t>
              </a:r>
              <a:r>
                <a:rPr lang="en-US" altLang="ko-KR" sz="700" dirty="0">
                  <a:latin typeface="+mn-ea"/>
                </a:rPr>
                <a:t>8</a:t>
              </a:r>
              <a:r>
                <a:rPr lang="ko-KR" altLang="en-US" sz="700" dirty="0">
                  <a:latin typeface="+mn-ea"/>
                </a:rPr>
                <a:t>조에 따른 사업전환계획 승인을 받은 기업</a:t>
              </a:r>
            </a:p>
          </p:txBody>
        </p:sp>
        <p:sp>
          <p:nvSpPr>
            <p:cNvPr id="235" name="TextBox 234">
              <a:extLst>
                <a:ext uri="{FF2B5EF4-FFF2-40B4-BE49-F238E27FC236}">
                  <a16:creationId xmlns:a16="http://schemas.microsoft.com/office/drawing/2014/main" id="{FFC49AEA-2A8F-250C-A86A-A7751D9706C3}"/>
                </a:ext>
              </a:extLst>
            </p:cNvPr>
            <p:cNvSpPr txBox="1"/>
            <p:nvPr/>
          </p:nvSpPr>
          <p:spPr>
            <a:xfrm>
              <a:off x="5708515" y="489462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5202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2498" y="60739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6390176" y="558460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3919560" y="5241939"/>
              <a:ext cx="1480199" cy="430887"/>
            </a:xfrm>
            <a:prstGeom prst="rect">
              <a:avLst/>
            </a:prstGeom>
            <a:noFill/>
          </p:spPr>
          <p:txBody>
            <a:bodyPr wrap="square" lIns="0" tIns="0" rIns="0" bIns="0" rtlCol="0">
              <a:spAutoFit/>
            </a:bodyPr>
            <a:lstStyle/>
            <a:p>
              <a:r>
                <a:rPr lang="en-US" altLang="ko-KR" sz="700" dirty="0">
                  <a:latin typeface="+mn-ea"/>
                </a:rPr>
                <a:t>T.</a:t>
              </a:r>
              <a:r>
                <a:rPr lang="ko-KR" altLang="en-US" sz="700" dirty="0" err="1">
                  <a:latin typeface="+mn-ea"/>
                </a:rPr>
                <a:t>스마트공장</a:t>
              </a:r>
              <a:r>
                <a:rPr lang="ko-KR" altLang="en-US" sz="700" dirty="0">
                  <a:latin typeface="+mn-ea"/>
                </a:rPr>
                <a:t> </a:t>
              </a:r>
              <a:r>
                <a:rPr lang="ko-KR" altLang="en-US" sz="700" dirty="0" err="1">
                  <a:latin typeface="+mn-ea"/>
                </a:rPr>
                <a:t>수준확인</a:t>
              </a:r>
              <a:r>
                <a:rPr lang="ko-KR" altLang="en-US" sz="700" dirty="0">
                  <a:latin typeface="+mn-ea"/>
                </a:rPr>
                <a:t> 기업</a:t>
              </a:r>
            </a:p>
            <a:p>
              <a:r>
                <a:rPr lang="en-US" altLang="ko-KR" sz="700" dirty="0">
                  <a:latin typeface="+mn-ea"/>
                </a:rPr>
                <a:t>  - </a:t>
              </a:r>
              <a:r>
                <a:rPr lang="ko-KR" altLang="en-US" sz="700" dirty="0">
                  <a:latin typeface="+mn-ea"/>
                </a:rPr>
                <a:t>중소벤처기업부장관이 지정한 기관으로부터 </a:t>
              </a:r>
              <a:r>
                <a:rPr lang="ko-KR" altLang="en-US" sz="700" dirty="0" err="1">
                  <a:latin typeface="+mn-ea"/>
                </a:rPr>
                <a:t>스마트공장</a:t>
              </a:r>
              <a:r>
                <a:rPr lang="ko-KR" altLang="en-US" sz="700" dirty="0">
                  <a:latin typeface="+mn-ea"/>
                </a:rPr>
                <a:t> </a:t>
              </a:r>
              <a:r>
                <a:rPr lang="ko-KR" altLang="en-US" sz="700" dirty="0" err="1">
                  <a:latin typeface="+mn-ea"/>
                </a:rPr>
                <a:t>수준확인을</a:t>
              </a:r>
              <a:r>
                <a:rPr lang="ko-KR" altLang="en-US" sz="700" dirty="0">
                  <a:latin typeface="+mn-ea"/>
                </a:rPr>
                <a:t> 받은 기업으로서</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708516" y="5711831"/>
              <a:ext cx="118622" cy="323165"/>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2.0</a:t>
              </a:r>
            </a:p>
            <a:p>
              <a:pPr algn="r"/>
              <a:r>
                <a:rPr lang="en-US" altLang="ko-KR" sz="700" dirty="0">
                  <a:latin typeface="+mn-ea"/>
                </a:rPr>
                <a:t>3.0</a:t>
              </a:r>
            </a:p>
          </p:txBody>
        </p:sp>
        <p:sp>
          <p:nvSpPr>
            <p:cNvPr id="249" name="TextBox 248">
              <a:extLst>
                <a:ext uri="{FF2B5EF4-FFF2-40B4-BE49-F238E27FC236}">
                  <a16:creationId xmlns:a16="http://schemas.microsoft.com/office/drawing/2014/main" id="{FFC49AEA-2A8F-250C-A86A-A7751D9706C3}"/>
                </a:ext>
              </a:extLst>
            </p:cNvPr>
            <p:cNvSpPr txBox="1"/>
            <p:nvPr/>
          </p:nvSpPr>
          <p:spPr>
            <a:xfrm>
              <a:off x="3919560" y="571183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1∼2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3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4∼5 </a:t>
              </a:r>
              <a:r>
                <a:rPr lang="ko-KR" altLang="en-US" sz="700" dirty="0">
                  <a:latin typeface="+mn-ea"/>
                </a:rPr>
                <a:t>등급</a:t>
              </a: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5003" y="1493927"/>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7" name="그룹 96"/>
          <p:cNvGrpSpPr/>
          <p:nvPr/>
        </p:nvGrpSpPr>
        <p:grpSpPr>
          <a:xfrm>
            <a:off x="3795734" y="1492460"/>
            <a:ext cx="2712027" cy="2839069"/>
            <a:chOff x="675399" y="1492460"/>
            <a:chExt cx="2712027" cy="2839069"/>
          </a:xfrm>
        </p:grpSpPr>
        <p:sp>
          <p:nvSpPr>
            <p:cNvPr id="98" name="직사각형 97"/>
            <p:cNvSpPr/>
            <p:nvPr/>
          </p:nvSpPr>
          <p:spPr>
            <a:xfrm>
              <a:off x="718007" y="2176768"/>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05070" y="21767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2533112" y="21767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5915" y="21767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18008" y="2391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008" y="280680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15915" y="32065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8008" y="30066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776886" y="1492460"/>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37" name="TextBox 136">
              <a:extLst>
                <a:ext uri="{FF2B5EF4-FFF2-40B4-BE49-F238E27FC236}">
                  <a16:creationId xmlns:a16="http://schemas.microsoft.com/office/drawing/2014/main" id="{FFC49AEA-2A8F-250C-A86A-A7751D9706C3}"/>
                </a:ext>
              </a:extLst>
            </p:cNvPr>
            <p:cNvSpPr txBox="1"/>
            <p:nvPr/>
          </p:nvSpPr>
          <p:spPr>
            <a:xfrm>
              <a:off x="2953482" y="21767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5070" y="2437572"/>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5779" y="24937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5070" y="28528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805070" y="30527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2557156" y="2859668"/>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2507463" y="3056867"/>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3275686" y="31446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54" name="직선 연결선 153">
              <a:extLst>
                <a:ext uri="{FF2B5EF4-FFF2-40B4-BE49-F238E27FC236}">
                  <a16:creationId xmlns:a16="http://schemas.microsoft.com/office/drawing/2014/main" id="{E9293055-D5CD-4B9E-7F64-64B2D2CA7A52}"/>
                </a:ext>
              </a:extLst>
            </p:cNvPr>
            <p:cNvCxnSpPr/>
            <p:nvPr/>
          </p:nvCxnSpPr>
          <p:spPr>
            <a:xfrm>
              <a:off x="718008" y="40055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5915" y="36062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8008" y="34063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805070" y="32525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805070" y="34524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57156" y="3249519"/>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2557156" y="3446718"/>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008" y="38060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TextBox 186">
              <a:extLst>
                <a:ext uri="{FF2B5EF4-FFF2-40B4-BE49-F238E27FC236}">
                  <a16:creationId xmlns:a16="http://schemas.microsoft.com/office/drawing/2014/main" id="{FFC49AEA-2A8F-250C-A86A-A7751D9706C3}"/>
                </a:ext>
              </a:extLst>
            </p:cNvPr>
            <p:cNvSpPr txBox="1"/>
            <p:nvPr/>
          </p:nvSpPr>
          <p:spPr>
            <a:xfrm>
              <a:off x="805070" y="36522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805070" y="38521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557156" y="3651366"/>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2507463" y="3848565"/>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43315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762145" y="4051863"/>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grpSp>
      <p:sp>
        <p:nvSpPr>
          <p:cNvPr id="81" name="타원 8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50355113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MUI-BD-10-T16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492460"/>
            <a:ext cx="2630093" cy="3250601"/>
            <a:chOff x="3836701" y="1492460"/>
            <a:chExt cx="2630093" cy="3250601"/>
          </a:xfrm>
        </p:grpSpPr>
        <p:grpSp>
          <p:nvGrpSpPr>
            <p:cNvPr id="6" name="그룹 5"/>
            <p:cNvGrpSpPr/>
            <p:nvPr/>
          </p:nvGrpSpPr>
          <p:grpSpPr>
            <a:xfrm>
              <a:off x="3836701" y="1492460"/>
              <a:ext cx="2630093" cy="1091295"/>
              <a:chOff x="3806813" y="1707904"/>
              <a:chExt cx="2630093" cy="1091295"/>
            </a:xfrm>
          </p:grpSpPr>
          <p:sp>
            <p:nvSpPr>
              <p:cNvPr id="117" name="직사각형 116"/>
              <p:cNvSpPr/>
              <p:nvPr/>
            </p:nvSpPr>
            <p:spPr>
              <a:xfrm>
                <a:off x="3808905" y="2172131"/>
                <a:ext cx="1639886" cy="627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3895968" y="21721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5624010" y="21721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3806813" y="21721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808906" y="23868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3867784" y="170790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불공정 하도급 거래</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하도급법</a:t>
                </a:r>
                <a:r>
                  <a:rPr lang="ko-KR" altLang="en-US" sz="700" dirty="0">
                    <a:latin typeface="+mn-ea"/>
                  </a:rPr>
                  <a:t> </a:t>
                </a:r>
                <a:r>
                  <a:rPr lang="ko-KR" altLang="en-US" sz="700" dirty="0" err="1">
                    <a:latin typeface="+mn-ea"/>
                  </a:rPr>
                  <a:t>위반정도</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6044380" y="21721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3895968" y="2432934"/>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1</a:t>
                </a:r>
                <a:r>
                  <a:rPr lang="ko-KR" altLang="en-US" sz="700" dirty="0" err="1">
                    <a:latin typeface="+mn-ea"/>
                  </a:rPr>
                  <a:t>년이내에</a:t>
                </a:r>
                <a:r>
                  <a:rPr lang="ko-KR" altLang="en-US" sz="700" dirty="0">
                    <a:latin typeface="+mn-ea"/>
                  </a:rPr>
                  <a:t> 공정거래위원장으로부터 하도급 상습범위반자로 통보 받은 자</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5648054" y="254065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366584" y="254065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808906" y="2799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2" name="직사각형 211"/>
            <p:cNvSpPr/>
            <p:nvPr/>
          </p:nvSpPr>
          <p:spPr>
            <a:xfrm>
              <a:off x="3838793" y="3097009"/>
              <a:ext cx="1639886" cy="16460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0970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653898" y="30970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6701" y="30970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3117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897672" y="2632783"/>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부정당업자제재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부정당업자로 </a:t>
              </a:r>
              <a:r>
                <a:rPr lang="ko-KR" altLang="en-US" sz="700" dirty="0" err="1">
                  <a:latin typeface="+mn-ea"/>
                </a:rPr>
                <a:t>제재받은</a:t>
              </a:r>
              <a:r>
                <a:rPr lang="ko-KR" altLang="en-US" sz="700" dirty="0">
                  <a:latin typeface="+mn-ea"/>
                </a:rPr>
                <a:t> </a:t>
              </a:r>
              <a:r>
                <a:rPr lang="ko-KR" altLang="en-US" sz="700" dirty="0" err="1">
                  <a:latin typeface="+mn-ea"/>
                </a:rPr>
                <a:t>총제재기간</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6074268" y="30970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3925856" y="3357813"/>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2</a:t>
              </a:r>
              <a:r>
                <a:rPr lang="ko-KR" altLang="en-US" sz="700" dirty="0">
                  <a:latin typeface="+mn-ea"/>
                </a:rPr>
                <a:t>년 이내 부정당업자 제재를 받은 자로서 부정당업자 </a:t>
              </a:r>
              <a:r>
                <a:rPr lang="ko-KR" altLang="en-US" sz="700" dirty="0" err="1">
                  <a:latin typeface="+mn-ea"/>
                </a:rPr>
                <a:t>제재기간</a:t>
              </a:r>
              <a:r>
                <a:rPr lang="ko-KR" altLang="en-US" sz="700" dirty="0">
                  <a:latin typeface="+mn-ea"/>
                </a:rPr>
                <a:t> 종료일이 입찰공고일로부터 </a:t>
              </a:r>
              <a:r>
                <a:rPr lang="en-US" altLang="ko-KR" sz="700" dirty="0">
                  <a:latin typeface="+mn-ea"/>
                </a:rPr>
                <a:t>2</a:t>
              </a:r>
              <a:r>
                <a:rPr lang="ko-KR" altLang="en-US" sz="700" dirty="0">
                  <a:latin typeface="+mn-ea"/>
                </a:rPr>
                <a:t>년 이내에 포함된 전체 부정당업자 제재 건의 총 </a:t>
              </a:r>
              <a:r>
                <a:rPr lang="ko-KR" altLang="en-US" sz="700" dirty="0" err="1">
                  <a:latin typeface="+mn-ea"/>
                </a:rPr>
                <a:t>제재기간에</a:t>
              </a:r>
              <a:r>
                <a:rPr lang="ko-KR" altLang="en-US" sz="700" dirty="0">
                  <a:latin typeface="+mn-ea"/>
                </a:rPr>
                <a:t> 따라</a:t>
              </a:r>
            </a:p>
          </p:txBody>
        </p:sp>
        <p:sp>
          <p:nvSpPr>
            <p:cNvPr id="220" name="TextBox 219">
              <a:extLst>
                <a:ext uri="{FF2B5EF4-FFF2-40B4-BE49-F238E27FC236}">
                  <a16:creationId xmlns:a16="http://schemas.microsoft.com/office/drawing/2014/main" id="{FFC49AEA-2A8F-250C-A86A-A7751D9706C3}"/>
                </a:ext>
              </a:extLst>
            </p:cNvPr>
            <p:cNvSpPr txBox="1"/>
            <p:nvPr/>
          </p:nvSpPr>
          <p:spPr>
            <a:xfrm>
              <a:off x="5677879" y="3920768"/>
              <a:ext cx="155555" cy="754053"/>
            </a:xfrm>
            <a:prstGeom prst="rect">
              <a:avLst/>
            </a:prstGeom>
            <a:noFill/>
          </p:spPr>
          <p:txBody>
            <a:bodyPr wrap="none" lIns="0" tIns="0" rIns="0" bIns="0" rtlCol="0">
              <a:spAutoFit/>
            </a:bodyPr>
            <a:lstStyle/>
            <a:p>
              <a:pPr algn="r"/>
              <a:r>
                <a:rPr lang="en-US" altLang="ko-KR" sz="700" dirty="0">
                  <a:latin typeface="+mn-ea"/>
                </a:rPr>
                <a:t>-2.0</a:t>
              </a:r>
            </a:p>
            <a:p>
              <a:pPr algn="r"/>
              <a:endParaRPr lang="en-US" altLang="ko-KR" sz="700" dirty="0">
                <a:latin typeface="+mn-ea"/>
              </a:endParaRPr>
            </a:p>
            <a:p>
              <a:pPr algn="r"/>
              <a:r>
                <a:rPr lang="en-US" altLang="ko-KR" sz="700" dirty="0">
                  <a:latin typeface="+mn-ea"/>
                </a:rPr>
                <a:t>-1.5</a:t>
              </a:r>
            </a:p>
            <a:p>
              <a:pPr algn="r"/>
              <a:endParaRPr lang="en-US" altLang="ko-KR" sz="700" dirty="0">
                <a:latin typeface="+mn-ea"/>
              </a:endParaRPr>
            </a:p>
            <a:p>
              <a:pPr algn="r"/>
              <a:r>
                <a:rPr lang="en-US" altLang="ko-KR" sz="700" dirty="0">
                  <a:latin typeface="+mn-ea"/>
                </a:rPr>
                <a:t>-1.0</a:t>
              </a: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6396472" y="39735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3" name="직선 연결선 232">
              <a:extLst>
                <a:ext uri="{FF2B5EF4-FFF2-40B4-BE49-F238E27FC236}">
                  <a16:creationId xmlns:a16="http://schemas.microsoft.com/office/drawing/2014/main" id="{E9293055-D5CD-4B9E-7F64-64B2D2CA7A52}"/>
                </a:ext>
              </a:extLst>
            </p:cNvPr>
            <p:cNvCxnSpPr/>
            <p:nvPr/>
          </p:nvCxnSpPr>
          <p:spPr>
            <a:xfrm>
              <a:off x="3838794" y="4743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3925856" y="3920768"/>
              <a:ext cx="1480199" cy="754053"/>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총 </a:t>
              </a:r>
              <a:r>
                <a:rPr lang="ko-KR" altLang="en-US" sz="700" dirty="0" err="1">
                  <a:latin typeface="+mn-ea"/>
                </a:rPr>
                <a:t>제재기간이</a:t>
              </a:r>
              <a:r>
                <a:rPr lang="ko-KR" altLang="en-US" sz="700" dirty="0">
                  <a:latin typeface="+mn-ea"/>
                </a:rPr>
                <a:t> </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이상인 경우</a:t>
              </a:r>
            </a:p>
            <a:p>
              <a:r>
                <a:rPr lang="en-US" altLang="ko-KR" sz="700" dirty="0">
                  <a:latin typeface="+mn-ea"/>
                </a:rPr>
                <a:t>  - </a:t>
              </a:r>
              <a:r>
                <a:rPr lang="ko-KR" altLang="en-US" sz="700" dirty="0">
                  <a:latin typeface="+mn-ea"/>
                </a:rPr>
                <a:t>총제재기간이 </a:t>
              </a:r>
              <a:r>
                <a:rPr lang="en-US" altLang="ko-KR" sz="700" dirty="0">
                  <a:latin typeface="+mn-ea"/>
                </a:rPr>
                <a:t>1</a:t>
              </a:r>
              <a:r>
                <a:rPr lang="ko-KR" altLang="en-US" sz="700" dirty="0" err="1">
                  <a:latin typeface="+mn-ea"/>
                </a:rPr>
                <a:t>년이상</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이상</a:t>
              </a:r>
              <a:r>
                <a:rPr lang="en-US" altLang="ko-KR" sz="700" dirty="0">
                  <a:latin typeface="+mn-ea"/>
                </a:rPr>
                <a:t>~ 1</a:t>
              </a:r>
              <a:r>
                <a:rPr lang="ko-KR" altLang="en-US" sz="700" dirty="0">
                  <a:latin typeface="+mn-ea"/>
                </a:rPr>
                <a:t>년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미만인 경우</a:t>
              </a:r>
            </a:p>
          </p:txBody>
        </p:sp>
      </p:grpSp>
      <p:sp>
        <p:nvSpPr>
          <p:cNvPr id="35" name="타원 3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0586725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025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기술능력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경영상태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입찰가격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신인도 소계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소계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고도인증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고도인증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녹색 일반인증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녹색 일반인증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영세기업 지원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영세기업 지원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r h="0">
                <a:tc>
                  <a:txBody>
                    <a:bodyPr/>
                    <a:lstStyle/>
                    <a:p>
                      <a:pPr latinLnBrk="1"/>
                      <a:r>
                        <a:rPr lang="ko-KR" altLang="en-US" sz="800" dirty="0">
                          <a:latin typeface="+mn-ea"/>
                          <a:ea typeface="+mn-ea"/>
                        </a:rPr>
                        <a:t>기타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기타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6802221"/>
                  </a:ext>
                </a:extLst>
              </a:tr>
              <a:tr h="0">
                <a:tc>
                  <a:txBody>
                    <a:bodyPr/>
                    <a:lstStyle/>
                    <a:p>
                      <a:pPr latinLnBrk="1"/>
                      <a:r>
                        <a:rPr lang="ko-KR" altLang="en-US" sz="800" dirty="0">
                          <a:latin typeface="+mn-ea"/>
                          <a:ea typeface="+mn-ea"/>
                        </a:rPr>
                        <a:t>계약이행 성실도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4401117"/>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4684871"/>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Box 1">
            <a:extLst>
              <a:ext uri="{FF2B5EF4-FFF2-40B4-BE49-F238E27FC236}">
                <a16:creationId xmlns:a16="http://schemas.microsoft.com/office/drawing/2014/main" id="{CF6EE605-D329-0E4A-EC7A-0D70FDFF872A}"/>
              </a:ext>
            </a:extLst>
          </p:cNvPr>
          <p:cNvSpPr txBox="1"/>
          <p:nvPr/>
        </p:nvSpPr>
        <p:spPr>
          <a:xfrm>
            <a:off x="460676" y="5236829"/>
            <a:ext cx="249965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기술평가등급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A3124163-486D-5877-BEB7-0B70A2F4F6E8}"/>
              </a:ext>
            </a:extLst>
          </p:cNvPr>
          <p:cNvGraphicFramePr>
            <a:graphicFrameLocks noGrp="1"/>
          </p:cNvGraphicFramePr>
          <p:nvPr/>
        </p:nvGraphicFramePr>
        <p:xfrm>
          <a:off x="455558" y="5520583"/>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103197">
                <a:tc>
                  <a:txBody>
                    <a:bodyPr/>
                    <a:lstStyle/>
                    <a:p>
                      <a:pPr latinLnBrk="1"/>
                      <a:r>
                        <a:rPr lang="ko-KR" altLang="en-US" sz="800" dirty="0">
                          <a:latin typeface="+mn-ea"/>
                          <a:ea typeface="+mn-ea"/>
                        </a:rPr>
                        <a:t>기술평가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기술평가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Box 73">
            <a:extLst>
              <a:ext uri="{FF2B5EF4-FFF2-40B4-BE49-F238E27FC236}">
                <a16:creationId xmlns:a16="http://schemas.microsoft.com/office/drawing/2014/main" id="{686C6419-F055-89F8-75E9-4996E4CD38E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744220690"/>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363</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7" name="TextBox 6">
            <a:extLst>
              <a:ext uri="{FF2B5EF4-FFF2-40B4-BE49-F238E27FC236}">
                <a16:creationId xmlns:a16="http://schemas.microsoft.com/office/drawing/2014/main" id="{002DB944-9A86-DB50-83C8-56D81D2F8947}"/>
              </a:ext>
            </a:extLst>
          </p:cNvPr>
          <p:cNvSpPr txBox="1"/>
          <p:nvPr/>
        </p:nvSpPr>
        <p:spPr>
          <a:xfrm>
            <a:off x="460676" y="1829922"/>
            <a:ext cx="2810632"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874B79DF-4B71-7668-9963-F2A7028A1184}"/>
              </a:ext>
            </a:extLst>
          </p:cNvPr>
          <p:cNvGraphicFramePr>
            <a:graphicFrameLocks noGrp="1"/>
          </p:cNvGraphicFramePr>
          <p:nvPr/>
        </p:nvGraphicFramePr>
        <p:xfrm>
          <a:off x="455558" y="211367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98176"/>
            <a:ext cx="2926048"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품질관리 등 신뢰정도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81930"/>
          <a:ext cx="8994883" cy="2476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고도인증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고도인증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녹색 일반인증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녹색 일반인증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478834"/>
                  </a:ext>
                </a:extLst>
              </a:tr>
              <a:tr h="0">
                <a:tc>
                  <a:txBody>
                    <a:bodyPr/>
                    <a:lstStyle/>
                    <a:p>
                      <a:pPr latinLnBrk="1"/>
                      <a:r>
                        <a:rPr lang="ko-KR" altLang="en-US" sz="800" dirty="0">
                          <a:latin typeface="+mn-ea"/>
                          <a:ea typeface="+mn-ea"/>
                        </a:rPr>
                        <a:t>공동수급체 구성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구성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6462414"/>
                  </a:ext>
                </a:extLst>
              </a:tr>
              <a:tr h="0">
                <a:tc>
                  <a:txBody>
                    <a:bodyPr/>
                    <a:lstStyle/>
                    <a:p>
                      <a:pPr latinLnBrk="1"/>
                      <a:r>
                        <a:rPr lang="ko-KR" altLang="en-US" sz="800" dirty="0">
                          <a:latin typeface="+mn-ea"/>
                          <a:ea typeface="+mn-ea"/>
                        </a:rPr>
                        <a:t>소기업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5960666"/>
                  </a:ext>
                </a:extLst>
              </a:tr>
              <a:tr h="0">
                <a:tc>
                  <a:txBody>
                    <a:bodyPr/>
                    <a:lstStyle/>
                    <a:p>
                      <a:pPr latinLnBrk="1"/>
                      <a:r>
                        <a:rPr lang="ko-KR" altLang="en-US" sz="800" dirty="0">
                          <a:latin typeface="+mn-ea"/>
                          <a:ea typeface="+mn-ea"/>
                        </a:rPr>
                        <a:t>지역업체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지역업체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6306104"/>
                  </a:ext>
                </a:extLst>
              </a:tr>
              <a:tr h="0">
                <a:tc>
                  <a:txBody>
                    <a:bodyPr/>
                    <a:lstStyle/>
                    <a:p>
                      <a:pPr latinLnBrk="1"/>
                      <a:r>
                        <a:rPr lang="ko-KR" altLang="en-US" sz="800" dirty="0">
                          <a:latin typeface="+mn-ea"/>
                          <a:ea typeface="+mn-ea"/>
                        </a:rPr>
                        <a:t>소기업 또는 소상공인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4125833"/>
                  </a:ext>
                </a:extLst>
              </a:tr>
              <a:tr h="0">
                <a:tc>
                  <a:txBody>
                    <a:bodyPr/>
                    <a:lstStyle/>
                    <a:p>
                      <a:pPr latinLnBrk="1"/>
                      <a:r>
                        <a:rPr lang="ko-KR" altLang="en-US" sz="800" dirty="0">
                          <a:latin typeface="+mn-ea"/>
                          <a:ea typeface="+mn-ea"/>
                        </a:rPr>
                        <a:t>조달업무 우수업체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조달업무 우수업체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4790291"/>
                  </a:ext>
                </a:extLst>
              </a:tr>
              <a:tr h="0">
                <a:tc>
                  <a:txBody>
                    <a:bodyPr/>
                    <a:lstStyle/>
                    <a:p>
                      <a:pPr latinLnBrk="1"/>
                      <a:r>
                        <a:rPr lang="ko-KR" altLang="en-US" sz="800" dirty="0">
                          <a:latin typeface="+mn-ea"/>
                          <a:ea typeface="+mn-ea"/>
                        </a:rPr>
                        <a:t>여성기업지원 및 여성고용촉진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2793"/>
                  </a:ext>
                </a:extLst>
              </a:tr>
            </a:tbl>
          </a:graphicData>
        </a:graphic>
      </p:graphicFrame>
      <p:sp>
        <p:nvSpPr>
          <p:cNvPr id="2" name="TextBox 1">
            <a:extLst>
              <a:ext uri="{FF2B5EF4-FFF2-40B4-BE49-F238E27FC236}">
                <a16:creationId xmlns:a16="http://schemas.microsoft.com/office/drawing/2014/main" id="{E7F6899F-3FC2-D4E8-8759-FA30B4F3192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D7FF04B0-6879-052A-DD98-A5926F80CD0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17E01645-659E-DB95-2FE3-CDAC30935126}"/>
              </a:ext>
            </a:extLst>
          </p:cNvPr>
          <p:cNvSpPr txBox="1"/>
          <p:nvPr/>
        </p:nvSpPr>
        <p:spPr>
          <a:xfrm>
            <a:off x="458117" y="803113"/>
            <a:ext cx="2961314"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spTree>
    <p:extLst>
      <p:ext uri="{BB962C8B-B14F-4D97-AF65-F5344CB8AC3E}">
        <p14:creationId xmlns:p14="http://schemas.microsoft.com/office/powerpoint/2010/main" val="1421916995"/>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364</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96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장애인기업지원 및 장애인 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장애인기업지원 및 장애인 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7728715"/>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080893"/>
                  </a:ext>
                </a:extLst>
              </a:tr>
              <a:tr h="0">
                <a:tc>
                  <a:txBody>
                    <a:bodyPr/>
                    <a:lstStyle/>
                    <a:p>
                      <a:pPr latinLnBrk="1"/>
                      <a:r>
                        <a:rPr lang="ko-KR" altLang="en-US" sz="800" dirty="0">
                          <a:latin typeface="+mn-ea"/>
                          <a:ea typeface="+mn-ea"/>
                        </a:rPr>
                        <a:t>혁신형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혁신형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9439496"/>
                  </a:ext>
                </a:extLst>
              </a:tr>
              <a:tr h="0">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수출우수기업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수출우수기업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28498"/>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 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12252"/>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계약이행 성실도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Box 4">
            <a:extLst>
              <a:ext uri="{FF2B5EF4-FFF2-40B4-BE49-F238E27FC236}">
                <a16:creationId xmlns:a16="http://schemas.microsoft.com/office/drawing/2014/main" id="{22C8BD14-7867-3C3F-9EE5-FB542F62B74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1EF2938C-334E-5E42-80DB-4E5B2176AA5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67500501"/>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365</a:t>
            </a:fld>
            <a:endParaRPr lang="ko-KR" altLang="en-US" dirty="0"/>
          </a:p>
        </p:txBody>
      </p:sp>
      <p:sp>
        <p:nvSpPr>
          <p:cNvPr id="4" name="TextBox 3">
            <a:extLst>
              <a:ext uri="{FF2B5EF4-FFF2-40B4-BE49-F238E27FC236}">
                <a16:creationId xmlns:a16="http://schemas.microsoft.com/office/drawing/2014/main" id="{81F17FA5-0571-8E7F-9860-7790B3D084C1}"/>
              </a:ext>
            </a:extLst>
          </p:cNvPr>
          <p:cNvSpPr txBox="1"/>
          <p:nvPr/>
        </p:nvSpPr>
        <p:spPr>
          <a:xfrm>
            <a:off x="460321"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1" name="표 10">
            <a:extLst>
              <a:ext uri="{FF2B5EF4-FFF2-40B4-BE49-F238E27FC236}">
                <a16:creationId xmlns:a16="http://schemas.microsoft.com/office/drawing/2014/main" id="{0441E173-2760-68F6-53D0-601DA6842A3E}"/>
              </a:ext>
            </a:extLst>
          </p:cNvPr>
          <p:cNvGraphicFramePr>
            <a:graphicFrameLocks noGrp="1"/>
          </p:cNvGraphicFramePr>
          <p:nvPr>
            <p:extLst>
              <p:ext uri="{D42A27DB-BD31-4B8C-83A1-F6EECF244321}">
                <p14:modId xmlns:p14="http://schemas.microsoft.com/office/powerpoint/2010/main" val="145109670"/>
              </p:ext>
            </p:extLst>
          </p:nvPr>
        </p:nvGraphicFramePr>
        <p:xfrm>
          <a:off x="455204"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76AA2F12-6CA6-D8EA-FB34-F7D405A9CB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198454021"/>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MUI-BD-10-T17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err="1">
                  <a:latin typeface="+mn-ea"/>
                </a:rPr>
                <a:t>시공경험</a:t>
              </a:r>
              <a:endParaRPr lang="en-US" altLang="ko-KR" sz="700" dirty="0">
                <a:latin typeface="+mn-ea"/>
              </a:endParaRPr>
            </a:p>
            <a:p>
              <a:pPr>
                <a:lnSpc>
                  <a:spcPct val="200000"/>
                </a:lnSpc>
              </a:pPr>
              <a:r>
                <a:rPr lang="ko-KR" altLang="en-US" sz="700" dirty="0">
                  <a:latin typeface="+mn-ea"/>
                </a:rPr>
                <a:t>기술능력</a:t>
              </a:r>
              <a:endParaRPr lang="en-US" altLang="ko-KR" sz="700" dirty="0">
                <a:latin typeface="+mn-ea"/>
              </a:endParaRPr>
            </a:p>
            <a:p>
              <a:pPr>
                <a:lnSpc>
                  <a:spcPct val="200000"/>
                </a:lnSpc>
              </a:pPr>
              <a:r>
                <a:rPr lang="ko-KR" altLang="en-US" sz="700" dirty="0">
                  <a:latin typeface="+mn-ea"/>
                </a:rPr>
                <a:t>경영상태</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err="1">
                  <a:latin typeface="+mn-ea"/>
                </a:rPr>
                <a:t>자재인력</a:t>
              </a:r>
              <a:endParaRPr lang="en-US" altLang="ko-KR" sz="700" dirty="0">
                <a:latin typeface="+mn-ea"/>
              </a:endParaRPr>
            </a:p>
            <a:p>
              <a:pPr>
                <a:lnSpc>
                  <a:spcPct val="200000"/>
                </a:lnSpc>
              </a:pPr>
              <a:r>
                <a:rPr lang="ko-KR" altLang="en-US" sz="700" dirty="0">
                  <a:latin typeface="+mn-ea"/>
                </a:rPr>
                <a:t>하도급</a:t>
              </a:r>
              <a:endParaRPr lang="en-US" altLang="ko-KR" sz="700" dirty="0">
                <a:latin typeface="+mn-ea"/>
              </a:endParaRPr>
            </a:p>
            <a:p>
              <a:pPr>
                <a:lnSpc>
                  <a:spcPct val="200000"/>
                </a:lnSpc>
              </a:pPr>
              <a:r>
                <a:rPr lang="ko-KR" altLang="en-US" sz="700" dirty="0" err="1">
                  <a:latin typeface="+mn-ea"/>
                </a:rPr>
                <a:t>시공여부</a:t>
              </a:r>
              <a:endParaRPr lang="en-US" altLang="ko-KR" sz="700" dirty="0">
                <a:latin typeface="+mn-ea"/>
              </a:endParaRP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0000 0000</a:t>
              </a:r>
            </a:p>
            <a:p>
              <a:pPr>
                <a:lnSpc>
                  <a:spcPct val="200000"/>
                </a:lnSpc>
              </a:pPr>
              <a:r>
                <a:rPr lang="en-US" altLang="ko-KR" sz="700" dirty="0">
                  <a:latin typeface="+mn-ea"/>
                </a:rPr>
                <a:t>0000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610831271"/>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시공경험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시공경험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입찰가격</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자재인력</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자재인력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하도급</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하도급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시공여부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시공여부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점수총계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판정결과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bl>
          </a:graphicData>
        </a:graphic>
      </p:graphicFrame>
      <p:sp>
        <p:nvSpPr>
          <p:cNvPr id="5" name="TextBox 4">
            <a:extLst>
              <a:ext uri="{FF2B5EF4-FFF2-40B4-BE49-F238E27FC236}">
                <a16:creationId xmlns:a16="http://schemas.microsoft.com/office/drawing/2014/main" id="{A6878851-3560-FF6A-6D77-C18C165B2840}"/>
              </a:ext>
            </a:extLst>
          </p:cNvPr>
          <p:cNvSpPr txBox="1"/>
          <p:nvPr/>
        </p:nvSpPr>
        <p:spPr>
          <a:xfrm>
            <a:off x="457408" y="335211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5A68445E-A3F2-23D6-4E24-C6809118F464}"/>
              </a:ext>
            </a:extLst>
          </p:cNvPr>
          <p:cNvGraphicFramePr>
            <a:graphicFrameLocks noGrp="1"/>
          </p:cNvGraphicFramePr>
          <p:nvPr>
            <p:extLst>
              <p:ext uri="{D42A27DB-BD31-4B8C-83A1-F6EECF244321}">
                <p14:modId xmlns:p14="http://schemas.microsoft.com/office/powerpoint/2010/main" val="3677091553"/>
              </p:ext>
            </p:extLst>
          </p:nvPr>
        </p:nvGraphicFramePr>
        <p:xfrm>
          <a:off x="452291" y="3618175"/>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030308EC-8D41-322E-8F35-41E33A2A232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76172410"/>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기술용역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기술용역일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MUI-BD-10-T18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이행실적</a:t>
              </a:r>
              <a:endParaRPr lang="en-US" altLang="ko-KR" sz="700" dirty="0">
                <a:latin typeface="+mn-ea"/>
              </a:endParaRPr>
            </a:p>
            <a:p>
              <a:pPr>
                <a:lnSpc>
                  <a:spcPct val="200000"/>
                </a:lnSpc>
              </a:pPr>
              <a:r>
                <a:rPr lang="ko-KR" altLang="en-US" sz="700" dirty="0">
                  <a:latin typeface="+mn-ea"/>
                </a:rPr>
                <a:t>기술능력</a:t>
              </a:r>
              <a:endParaRPr lang="en-US" altLang="ko-KR" sz="700" dirty="0">
                <a:latin typeface="+mn-ea"/>
              </a:endParaRPr>
            </a:p>
            <a:p>
              <a:pPr>
                <a:lnSpc>
                  <a:spcPct val="200000"/>
                </a:lnSpc>
              </a:pPr>
              <a:r>
                <a:rPr lang="ko-KR" altLang="en-US" sz="700" dirty="0">
                  <a:latin typeface="+mn-ea"/>
                </a:rPr>
                <a:t>수행능력</a:t>
              </a:r>
              <a:endParaRPr lang="en-US" altLang="ko-KR" sz="700" dirty="0">
                <a:latin typeface="+mn-ea"/>
              </a:endParaRPr>
            </a:p>
            <a:p>
              <a:pPr>
                <a:lnSpc>
                  <a:spcPct val="200000"/>
                </a:lnSpc>
              </a:pPr>
              <a:r>
                <a:rPr lang="ko-KR" altLang="en-US" sz="700" dirty="0">
                  <a:latin typeface="+mn-ea"/>
                </a:rPr>
                <a:t>경영상태</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a:latin typeface="+mn-ea"/>
                </a:rPr>
                <a:t>소계</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err="1">
                  <a:latin typeface="+mn-ea"/>
                </a:rPr>
                <a:t>결격여부</a:t>
              </a:r>
              <a:endParaRPr lang="en-US" altLang="ko-KR" sz="700" dirty="0">
                <a:latin typeface="+mn-ea"/>
              </a:endParaRP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0000 0000</a:t>
              </a:r>
            </a:p>
            <a:p>
              <a:pPr>
                <a:lnSpc>
                  <a:spcPct val="200000"/>
                </a:lnSpc>
              </a:pPr>
              <a:r>
                <a:rPr lang="en-US" altLang="ko-KR" sz="700" dirty="0">
                  <a:latin typeface="+mn-ea"/>
                </a:rPr>
                <a:t>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618122735"/>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수행능력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소계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입찰가격</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결격여부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점수총계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판정결과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bl>
          </a:graphicData>
        </a:graphic>
      </p:graphicFrame>
      <p:sp>
        <p:nvSpPr>
          <p:cNvPr id="5" name="TextBox 4">
            <a:extLst>
              <a:ext uri="{FF2B5EF4-FFF2-40B4-BE49-F238E27FC236}">
                <a16:creationId xmlns:a16="http://schemas.microsoft.com/office/drawing/2014/main" id="{A6878851-3560-FF6A-6D77-C18C165B2840}"/>
              </a:ext>
            </a:extLst>
          </p:cNvPr>
          <p:cNvSpPr txBox="1"/>
          <p:nvPr/>
        </p:nvSpPr>
        <p:spPr>
          <a:xfrm>
            <a:off x="457408" y="335211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5A68445E-A3F2-23D6-4E24-C6809118F464}"/>
              </a:ext>
            </a:extLst>
          </p:cNvPr>
          <p:cNvGraphicFramePr>
            <a:graphicFrameLocks noGrp="1"/>
          </p:cNvGraphicFramePr>
          <p:nvPr>
            <p:extLst>
              <p:ext uri="{D42A27DB-BD31-4B8C-83A1-F6EECF244321}">
                <p14:modId xmlns:p14="http://schemas.microsoft.com/office/powerpoint/2010/main" val="3443350693"/>
              </p:ext>
            </p:extLst>
          </p:nvPr>
        </p:nvGraphicFramePr>
        <p:xfrm>
          <a:off x="452291" y="3618175"/>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7DAF7B6B-8D5F-A006-EA56-86FF87B491D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58194577"/>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- 3</a:t>
            </a:r>
            <a:r>
              <a:rPr lang="ko-KR" altLang="en-US" dirty="0"/>
              <a:t>억원미만공사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3</a:t>
            </a:r>
            <a:r>
              <a:rPr lang="ko-KR" altLang="en-US" dirty="0"/>
              <a:t>억원미만공사일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MUI-BD-10-T19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1" name="TextBox 30">
            <a:extLst>
              <a:ext uri="{FF2B5EF4-FFF2-40B4-BE49-F238E27FC236}">
                <a16:creationId xmlns:a16="http://schemas.microsoft.com/office/drawing/2014/main" id="{FFC49AEA-2A8F-250C-A86A-A7751D9706C3}"/>
              </a:ext>
            </a:extLst>
          </p:cNvPr>
          <p:cNvSpPr txBox="1"/>
          <p:nvPr/>
        </p:nvSpPr>
        <p:spPr>
          <a:xfrm>
            <a:off x="762145" y="3443819"/>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경영상태</a:t>
            </a:r>
            <a:endParaRPr lang="en-US" altLang="ko-KR" sz="700" dirty="0">
              <a:latin typeface="+mn-ea"/>
            </a:endParaRPr>
          </a:p>
        </p:txBody>
      </p:sp>
      <p:grpSp>
        <p:nvGrpSpPr>
          <p:cNvPr id="32" name="그룹 31"/>
          <p:cNvGrpSpPr/>
          <p:nvPr/>
        </p:nvGrpSpPr>
        <p:grpSpPr>
          <a:xfrm flipV="1">
            <a:off x="3124232" y="3557150"/>
            <a:ext cx="94010" cy="47005"/>
            <a:chOff x="6812560" y="3297172"/>
            <a:chExt cx="94010" cy="47005"/>
          </a:xfrm>
        </p:grpSpPr>
        <p:cxnSp>
          <p:nvCxnSpPr>
            <p:cNvPr id="36" name="직선 연결선 3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7" name="직선 연결선 3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8" name="직선 연결선 37">
            <a:extLst>
              <a:ext uri="{FF2B5EF4-FFF2-40B4-BE49-F238E27FC236}">
                <a16:creationId xmlns:a16="http://schemas.microsoft.com/office/drawing/2014/main" id="{E9293055-D5CD-4B9E-7F64-64B2D2CA7A52}"/>
              </a:ext>
            </a:extLst>
          </p:cNvPr>
          <p:cNvCxnSpPr/>
          <p:nvPr/>
        </p:nvCxnSpPr>
        <p:spPr>
          <a:xfrm>
            <a:off x="675398" y="37306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896436"/>
            <a:ext cx="2630093" cy="1447916"/>
            <a:chOff x="3830405" y="2555584"/>
            <a:chExt cx="2630093" cy="1447916"/>
          </a:xfrm>
        </p:grpSpPr>
        <p:sp>
          <p:nvSpPr>
            <p:cNvPr id="39" name="직사각형 38"/>
            <p:cNvSpPr/>
            <p:nvPr/>
          </p:nvSpPr>
          <p:spPr>
            <a:xfrm>
              <a:off x="3832497" y="2555584"/>
              <a:ext cx="1639886" cy="14479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FFC49AEA-2A8F-250C-A86A-A7751D9706C3}"/>
                </a:ext>
              </a:extLst>
            </p:cNvPr>
            <p:cNvSpPr txBox="1"/>
            <p:nvPr/>
          </p:nvSpPr>
          <p:spPr>
            <a:xfrm>
              <a:off x="3919560"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항목</a:t>
              </a:r>
              <a:endParaRPr lang="en-US" altLang="ko-KR" sz="700" dirty="0">
                <a:latin typeface="+mn-ea"/>
              </a:endParaRPr>
            </a:p>
          </p:txBody>
        </p:sp>
        <p:sp>
          <p:nvSpPr>
            <p:cNvPr id="41" name="TextBox 40">
              <a:extLst>
                <a:ext uri="{FF2B5EF4-FFF2-40B4-BE49-F238E27FC236}">
                  <a16:creationId xmlns:a16="http://schemas.microsoft.com/office/drawing/2014/main" id="{FFC49AEA-2A8F-250C-A86A-A7751D9706C3}"/>
                </a:ext>
              </a:extLst>
            </p:cNvPr>
            <p:cNvSpPr txBox="1"/>
            <p:nvPr/>
          </p:nvSpPr>
          <p:spPr>
            <a:xfrm>
              <a:off x="5647602"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42" name="직선 연결선 41">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3" name="직선 연결선 42">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4" name="직선 연결선 43">
              <a:extLst>
                <a:ext uri="{FF2B5EF4-FFF2-40B4-BE49-F238E27FC236}">
                  <a16:creationId xmlns:a16="http://schemas.microsoft.com/office/drawing/2014/main" id="{E9293055-D5CD-4B9E-7F64-64B2D2CA7A52}"/>
                </a:ext>
              </a:extLst>
            </p:cNvPr>
            <p:cNvCxnSpPr/>
            <p:nvPr/>
          </p:nvCxnSpPr>
          <p:spPr>
            <a:xfrm>
              <a:off x="3832498" y="333805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7" name="TextBox 46">
              <a:extLst>
                <a:ext uri="{FF2B5EF4-FFF2-40B4-BE49-F238E27FC236}">
                  <a16:creationId xmlns:a16="http://schemas.microsoft.com/office/drawing/2014/main" id="{FFC49AEA-2A8F-250C-A86A-A7751D9706C3}"/>
                </a:ext>
              </a:extLst>
            </p:cNvPr>
            <p:cNvSpPr txBox="1"/>
            <p:nvPr/>
          </p:nvSpPr>
          <p:spPr>
            <a:xfrm>
              <a:off x="6247509"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48" name="TextBox 47">
              <a:extLst>
                <a:ext uri="{FF2B5EF4-FFF2-40B4-BE49-F238E27FC236}">
                  <a16:creationId xmlns:a16="http://schemas.microsoft.com/office/drawing/2014/main" id="{FFC49AEA-2A8F-250C-A86A-A7751D9706C3}"/>
                </a:ext>
              </a:extLst>
            </p:cNvPr>
            <p:cNvSpPr txBox="1"/>
            <p:nvPr/>
          </p:nvSpPr>
          <p:spPr>
            <a:xfrm>
              <a:off x="3919560" y="2845534"/>
              <a:ext cx="1480199" cy="430887"/>
            </a:xfrm>
            <a:prstGeom prst="rect">
              <a:avLst/>
            </a:prstGeom>
            <a:noFill/>
          </p:spPr>
          <p:txBody>
            <a:bodyPr wrap="square" lIns="0" tIns="0" rIns="0" bIns="0" rtlCol="0">
              <a:spAutoFit/>
            </a:bodyPr>
            <a:lstStyle/>
            <a:p>
              <a:r>
                <a:rPr lang="ko-KR" altLang="en-US" sz="700" dirty="0" err="1">
                  <a:latin typeface="+mn-ea"/>
                </a:rPr>
                <a:t>당해공사</a:t>
              </a:r>
              <a:r>
                <a:rPr lang="ko-KR" altLang="en-US" sz="700" dirty="0">
                  <a:latin typeface="+mn-ea"/>
                </a:rPr>
                <a:t> 수행능력</a:t>
              </a:r>
              <a:endParaRPr lang="en-US" altLang="ko-KR" sz="700" dirty="0">
                <a:latin typeface="+mn-ea"/>
              </a:endParaRPr>
            </a:p>
            <a:p>
              <a:r>
                <a:rPr lang="en-US" altLang="ko-KR" sz="700" dirty="0">
                  <a:latin typeface="+mn-ea"/>
                </a:rPr>
                <a:t>- </a:t>
              </a:r>
              <a:r>
                <a:rPr lang="ko-KR" altLang="en-US" sz="700" dirty="0">
                  <a:latin typeface="+mn-ea"/>
                </a:rPr>
                <a:t>경영상태</a:t>
              </a:r>
              <a:endParaRPr lang="en-US" altLang="ko-KR" sz="700" dirty="0">
                <a:latin typeface="+mn-ea"/>
              </a:endParaRPr>
            </a:p>
            <a:p>
              <a:r>
                <a:rPr lang="en-US" altLang="ko-KR" sz="700" dirty="0">
                  <a:latin typeface="+mn-ea"/>
                </a:rPr>
                <a:t>- </a:t>
              </a:r>
              <a:r>
                <a:rPr lang="ko-KR" altLang="en-US" sz="700" dirty="0" err="1">
                  <a:latin typeface="+mn-ea"/>
                </a:rPr>
                <a:t>특별신인도</a:t>
              </a:r>
              <a:endParaRPr lang="en-US" altLang="ko-KR" sz="700" dirty="0">
                <a:latin typeface="+mn-ea"/>
              </a:endParaRPr>
            </a:p>
            <a:p>
              <a:r>
                <a:rPr lang="en-US" altLang="ko-KR" sz="700" dirty="0">
                  <a:latin typeface="+mn-ea"/>
                </a:rPr>
                <a:t>- </a:t>
              </a:r>
              <a:r>
                <a:rPr lang="ko-KR" altLang="en-US" sz="700" dirty="0">
                  <a:latin typeface="+mn-ea"/>
                </a:rPr>
                <a:t>소계</a:t>
              </a:r>
            </a:p>
          </p:txBody>
        </p:sp>
        <p:sp>
          <p:nvSpPr>
            <p:cNvPr id="49" name="TextBox 48">
              <a:extLst>
                <a:ext uri="{FF2B5EF4-FFF2-40B4-BE49-F238E27FC236}">
                  <a16:creationId xmlns:a16="http://schemas.microsoft.com/office/drawing/2014/main" id="{FFC49AEA-2A8F-250C-A86A-A7751D9706C3}"/>
                </a:ext>
              </a:extLst>
            </p:cNvPr>
            <p:cNvSpPr txBox="1"/>
            <p:nvPr/>
          </p:nvSpPr>
          <p:spPr>
            <a:xfrm>
              <a:off x="5469604" y="2953256"/>
              <a:ext cx="357534" cy="323165"/>
            </a:xfrm>
            <a:prstGeom prst="rect">
              <a:avLst/>
            </a:prstGeom>
            <a:noFill/>
          </p:spPr>
          <p:txBody>
            <a:bodyPr wrap="none" lIns="0" tIns="0" rIns="0" bIns="0" rtlCol="0">
              <a:spAutoFit/>
            </a:bodyPr>
            <a:lstStyle/>
            <a:p>
              <a:pPr algn="r"/>
              <a:r>
                <a:rPr lang="en-US" altLang="ko-KR" sz="700" dirty="0">
                  <a:latin typeface="+mn-ea"/>
                </a:rPr>
                <a:t>10.0</a:t>
              </a:r>
            </a:p>
            <a:p>
              <a:pPr algn="r"/>
              <a:r>
                <a:rPr lang="en-US" altLang="ko-KR" sz="700" dirty="0">
                  <a:latin typeface="+mn-ea"/>
                </a:rPr>
                <a:t>+3 ~ 2.5</a:t>
              </a:r>
            </a:p>
            <a:p>
              <a:pPr algn="r"/>
              <a:r>
                <a:rPr lang="en-US" altLang="ko-KR" sz="700" dirty="0">
                  <a:latin typeface="+mn-ea"/>
                </a:rPr>
                <a:t>10.0</a:t>
              </a:r>
              <a:endParaRPr lang="ko-KR" altLang="en-US" sz="700" dirty="0">
                <a:latin typeface="+mn-ea"/>
              </a:endParaRPr>
            </a:p>
          </p:txBody>
        </p:sp>
        <p:sp>
          <p:nvSpPr>
            <p:cNvPr id="61" name="TextBox 60">
              <a:extLst>
                <a:ext uri="{FF2B5EF4-FFF2-40B4-BE49-F238E27FC236}">
                  <a16:creationId xmlns:a16="http://schemas.microsoft.com/office/drawing/2014/main" id="{FFC49AEA-2A8F-250C-A86A-A7751D9706C3}"/>
                </a:ext>
              </a:extLst>
            </p:cNvPr>
            <p:cNvSpPr txBox="1"/>
            <p:nvPr/>
          </p:nvSpPr>
          <p:spPr>
            <a:xfrm>
              <a:off x="6390176" y="30071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4" name="직선 연결선 63">
              <a:extLst>
                <a:ext uri="{FF2B5EF4-FFF2-40B4-BE49-F238E27FC236}">
                  <a16:creationId xmlns:a16="http://schemas.microsoft.com/office/drawing/2014/main" id="{E9293055-D5CD-4B9E-7F64-64B2D2CA7A52}"/>
                </a:ext>
              </a:extLst>
            </p:cNvPr>
            <p:cNvCxnSpPr/>
            <p:nvPr/>
          </p:nvCxnSpPr>
          <p:spPr>
            <a:xfrm>
              <a:off x="3832498" y="35563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3919560" y="3393165"/>
              <a:ext cx="1480199" cy="107722"/>
            </a:xfrm>
            <a:prstGeom prst="rect">
              <a:avLst/>
            </a:prstGeom>
            <a:noFill/>
          </p:spPr>
          <p:txBody>
            <a:bodyPr wrap="square" lIns="0" tIns="0" rIns="0" bIns="0" rtlCol="0">
              <a:spAutoFit/>
            </a:bodyPr>
            <a:lstStyle/>
            <a:p>
              <a:r>
                <a:rPr lang="ko-KR" altLang="en-US" sz="700" dirty="0">
                  <a:latin typeface="+mn-ea"/>
                </a:rPr>
                <a:t>입찰가격</a:t>
              </a:r>
            </a:p>
          </p:txBody>
        </p:sp>
        <p:sp>
          <p:nvSpPr>
            <p:cNvPr id="66" name="TextBox 65">
              <a:extLst>
                <a:ext uri="{FF2B5EF4-FFF2-40B4-BE49-F238E27FC236}">
                  <a16:creationId xmlns:a16="http://schemas.microsoft.com/office/drawing/2014/main" id="{FFC49AEA-2A8F-250C-A86A-A7751D9706C3}"/>
                </a:ext>
              </a:extLst>
            </p:cNvPr>
            <p:cNvSpPr txBox="1"/>
            <p:nvPr/>
          </p:nvSpPr>
          <p:spPr>
            <a:xfrm>
              <a:off x="5658822" y="3393165"/>
              <a:ext cx="168316" cy="107722"/>
            </a:xfrm>
            <a:prstGeom prst="rect">
              <a:avLst/>
            </a:prstGeom>
            <a:noFill/>
          </p:spPr>
          <p:txBody>
            <a:bodyPr wrap="none" lIns="0" tIns="0" rIns="0" bIns="0" rtlCol="0">
              <a:spAutoFit/>
            </a:bodyPr>
            <a:lstStyle/>
            <a:p>
              <a:pPr algn="r"/>
              <a:r>
                <a:rPr lang="en-US" altLang="ko-KR" sz="700" dirty="0">
                  <a:latin typeface="+mn-ea"/>
                </a:rPr>
                <a:t>90.0</a:t>
              </a:r>
              <a:endParaRPr lang="ko-KR" altLang="en-US" sz="700"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6390176" y="33931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3832498" y="3782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3919560" y="3618819"/>
              <a:ext cx="1480199" cy="107722"/>
            </a:xfrm>
            <a:prstGeom prst="rect">
              <a:avLst/>
            </a:prstGeom>
            <a:noFill/>
          </p:spPr>
          <p:txBody>
            <a:bodyPr wrap="square" lIns="0" tIns="0" rIns="0" bIns="0" rtlCol="0">
              <a:spAutoFit/>
            </a:bodyPr>
            <a:lstStyle/>
            <a:p>
              <a:r>
                <a:rPr lang="ko-KR" altLang="en-US" sz="700" dirty="0">
                  <a:latin typeface="+mn-ea"/>
                </a:rPr>
                <a:t>기타결격여부</a:t>
              </a:r>
            </a:p>
          </p:txBody>
        </p:sp>
        <p:sp>
          <p:nvSpPr>
            <p:cNvPr id="70" name="TextBox 69">
              <a:extLst>
                <a:ext uri="{FF2B5EF4-FFF2-40B4-BE49-F238E27FC236}">
                  <a16:creationId xmlns:a16="http://schemas.microsoft.com/office/drawing/2014/main" id="{FFC49AEA-2A8F-250C-A86A-A7751D9706C3}"/>
                </a:ext>
              </a:extLst>
            </p:cNvPr>
            <p:cNvSpPr txBox="1"/>
            <p:nvPr/>
          </p:nvSpPr>
          <p:spPr>
            <a:xfrm>
              <a:off x="5621953" y="3618819"/>
              <a:ext cx="205185"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6390176" y="36188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72" name="직선 연결선 71">
              <a:extLst>
                <a:ext uri="{FF2B5EF4-FFF2-40B4-BE49-F238E27FC236}">
                  <a16:creationId xmlns:a16="http://schemas.microsoft.com/office/drawing/2014/main" id="{E9293055-D5CD-4B9E-7F64-64B2D2CA7A52}"/>
                </a:ext>
              </a:extLst>
            </p:cNvPr>
            <p:cNvCxnSpPr/>
            <p:nvPr/>
          </p:nvCxnSpPr>
          <p:spPr>
            <a:xfrm>
              <a:off x="3832498" y="40035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3" name="TextBox 72">
              <a:extLst>
                <a:ext uri="{FF2B5EF4-FFF2-40B4-BE49-F238E27FC236}">
                  <a16:creationId xmlns:a16="http://schemas.microsoft.com/office/drawing/2014/main" id="{FFC49AEA-2A8F-250C-A86A-A7751D9706C3}"/>
                </a:ext>
              </a:extLst>
            </p:cNvPr>
            <p:cNvSpPr txBox="1"/>
            <p:nvPr/>
          </p:nvSpPr>
          <p:spPr>
            <a:xfrm>
              <a:off x="3919560" y="3840311"/>
              <a:ext cx="1480199" cy="107722"/>
            </a:xfrm>
            <a:prstGeom prst="rect">
              <a:avLst/>
            </a:prstGeom>
            <a:noFill/>
          </p:spPr>
          <p:txBody>
            <a:bodyPr wrap="square" lIns="0" tIns="0" rIns="0" bIns="0" rtlCol="0">
              <a:spAutoFit/>
            </a:bodyPr>
            <a:lstStyle/>
            <a:p>
              <a:r>
                <a:rPr lang="ko-KR" altLang="en-US" sz="700" dirty="0">
                  <a:latin typeface="+mn-ea"/>
                </a:rPr>
                <a:t>총계</a:t>
              </a:r>
            </a:p>
          </p:txBody>
        </p:sp>
        <p:sp>
          <p:nvSpPr>
            <p:cNvPr id="74" name="TextBox 73">
              <a:extLst>
                <a:ext uri="{FF2B5EF4-FFF2-40B4-BE49-F238E27FC236}">
                  <a16:creationId xmlns:a16="http://schemas.microsoft.com/office/drawing/2014/main" id="{FFC49AEA-2A8F-250C-A86A-A7751D9706C3}"/>
                </a:ext>
              </a:extLst>
            </p:cNvPr>
            <p:cNvSpPr txBox="1"/>
            <p:nvPr/>
          </p:nvSpPr>
          <p:spPr>
            <a:xfrm>
              <a:off x="5621953" y="3840311"/>
              <a:ext cx="205185"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5" name="TextBox 74">
              <a:extLst>
                <a:ext uri="{FF2B5EF4-FFF2-40B4-BE49-F238E27FC236}">
                  <a16:creationId xmlns:a16="http://schemas.microsoft.com/office/drawing/2014/main" id="{FFC49AEA-2A8F-250C-A86A-A7751D9706C3}"/>
                </a:ext>
              </a:extLst>
            </p:cNvPr>
            <p:cNvSpPr txBox="1"/>
            <p:nvPr/>
          </p:nvSpPr>
          <p:spPr>
            <a:xfrm>
              <a:off x="6390176" y="384031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grpSp>
        <p:nvGrpSpPr>
          <p:cNvPr id="6" name="그룹 5"/>
          <p:cNvGrpSpPr/>
          <p:nvPr/>
        </p:nvGrpSpPr>
        <p:grpSpPr>
          <a:xfrm>
            <a:off x="675400" y="1835481"/>
            <a:ext cx="2712026" cy="1587137"/>
            <a:chOff x="701175" y="1835481"/>
            <a:chExt cx="2621844" cy="1587137"/>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01175" y="342261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78" name="직사각형 77"/>
          <p:cNvSpPr/>
          <p:nvPr/>
        </p:nvSpPr>
        <p:spPr>
          <a:xfrm>
            <a:off x="718458" y="3788406"/>
            <a:ext cx="1040043" cy="2312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TextBox 78">
            <a:extLst>
              <a:ext uri="{FF2B5EF4-FFF2-40B4-BE49-F238E27FC236}">
                <a16:creationId xmlns:a16="http://schemas.microsoft.com/office/drawing/2014/main" id="{FFC49AEA-2A8F-250C-A86A-A7751D9706C3}"/>
              </a:ext>
            </a:extLst>
          </p:cNvPr>
          <p:cNvSpPr txBox="1"/>
          <p:nvPr/>
        </p:nvSpPr>
        <p:spPr>
          <a:xfrm>
            <a:off x="805521" y="3788408"/>
            <a:ext cx="948599" cy="215444"/>
          </a:xfrm>
          <a:prstGeom prst="rect">
            <a:avLst/>
          </a:prstGeom>
          <a:noFill/>
        </p:spPr>
        <p:txBody>
          <a:bodyPr wrap="square" lIns="0" tIns="0" rIns="0" bIns="0" rtlCol="0">
            <a:spAutoFit/>
          </a:bodyPr>
          <a:lstStyle/>
          <a:p>
            <a:pPr>
              <a:lnSpc>
                <a:spcPct val="200000"/>
              </a:lnSpc>
            </a:pPr>
            <a:r>
              <a:rPr lang="ko-KR" altLang="en-US" sz="700" dirty="0">
                <a:latin typeface="+mn-ea"/>
              </a:rPr>
              <a:t>평가항목</a:t>
            </a:r>
            <a:endParaRPr lang="en-US" altLang="ko-KR" sz="700" dirty="0">
              <a:latin typeface="+mn-ea"/>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2174490" y="3788408"/>
            <a:ext cx="359073" cy="215444"/>
          </a:xfrm>
          <a:prstGeom prst="rect">
            <a:avLst/>
          </a:prstGeom>
          <a:noFill/>
        </p:spPr>
        <p:txBody>
          <a:bodyPr wrap="none" lIns="0" tIns="0" rIns="0" bIns="0" rtlCol="0">
            <a:spAutoFit/>
          </a:bodyPr>
          <a:lstStyle/>
          <a:p>
            <a:pPr algn="r">
              <a:lnSpc>
                <a:spcPct val="200000"/>
              </a:lnSpc>
            </a:pPr>
            <a:r>
              <a:rPr lang="ko-KR" altLang="en-US" sz="700" dirty="0">
                <a:latin typeface="+mn-ea"/>
              </a:rPr>
              <a:t>부채비율</a:t>
            </a:r>
            <a:endParaRPr lang="en-US" altLang="ko-KR" sz="700" dirty="0">
              <a:latin typeface="+mn-ea"/>
            </a:endParaRPr>
          </a:p>
        </p:txBody>
      </p:sp>
      <p:cxnSp>
        <p:nvCxnSpPr>
          <p:cNvPr id="81" name="직선 연결선 80">
            <a:extLst>
              <a:ext uri="{FF2B5EF4-FFF2-40B4-BE49-F238E27FC236}">
                <a16:creationId xmlns:a16="http://schemas.microsoft.com/office/drawing/2014/main" id="{E9293055-D5CD-4B9E-7F64-64B2D2CA7A52}"/>
              </a:ext>
            </a:extLst>
          </p:cNvPr>
          <p:cNvCxnSpPr/>
          <p:nvPr/>
        </p:nvCxnSpPr>
        <p:spPr>
          <a:xfrm>
            <a:off x="716366" y="37884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18459" y="40031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18459" y="48488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2953933" y="3788408"/>
            <a:ext cx="359073" cy="215444"/>
          </a:xfrm>
          <a:prstGeom prst="rect">
            <a:avLst/>
          </a:prstGeom>
          <a:noFill/>
        </p:spPr>
        <p:txBody>
          <a:bodyPr wrap="none" lIns="0" tIns="0" rIns="0" bIns="0" rtlCol="0">
            <a:spAutoFit/>
          </a:bodyPr>
          <a:lstStyle/>
          <a:p>
            <a:pPr algn="r">
              <a:lnSpc>
                <a:spcPct val="200000"/>
              </a:lnSpc>
            </a:pPr>
            <a:r>
              <a:rPr lang="ko-KR" altLang="en-US" sz="700" dirty="0">
                <a:latin typeface="+mn-ea"/>
              </a:rPr>
              <a:t>유동비율</a:t>
            </a:r>
            <a:endParaRPr lang="en-US" altLang="ko-KR" sz="700" dirty="0">
              <a:latin typeface="+mn-ea"/>
            </a:endParaRPr>
          </a:p>
        </p:txBody>
      </p:sp>
      <p:sp>
        <p:nvSpPr>
          <p:cNvPr id="86" name="TextBox 85">
            <a:extLst>
              <a:ext uri="{FF2B5EF4-FFF2-40B4-BE49-F238E27FC236}">
                <a16:creationId xmlns:a16="http://schemas.microsoft.com/office/drawing/2014/main" id="{FFC49AEA-2A8F-250C-A86A-A7751D9706C3}"/>
              </a:ext>
            </a:extLst>
          </p:cNvPr>
          <p:cNvSpPr txBox="1"/>
          <p:nvPr/>
        </p:nvSpPr>
        <p:spPr>
          <a:xfrm>
            <a:off x="805522" y="4052994"/>
            <a:ext cx="952980" cy="323165"/>
          </a:xfrm>
          <a:prstGeom prst="rect">
            <a:avLst/>
          </a:prstGeom>
          <a:noFill/>
        </p:spPr>
        <p:txBody>
          <a:bodyPr wrap="square" lIns="0" tIns="0" rIns="0" bIns="0" rtlCol="0">
            <a:spAutoFit/>
          </a:bodyPr>
          <a:lstStyle/>
          <a:p>
            <a:r>
              <a:rPr lang="ko-KR" altLang="en-US" sz="700" dirty="0">
                <a:latin typeface="+mn-ea"/>
              </a:rPr>
              <a:t>평가요소 </a:t>
            </a:r>
            <a:r>
              <a:rPr lang="en-US" altLang="ko-KR" sz="700" dirty="0">
                <a:latin typeface="+mn-ea"/>
              </a:rPr>
              <a:t>– </a:t>
            </a:r>
            <a:r>
              <a:rPr lang="ko-KR" altLang="en-US" sz="700" dirty="0">
                <a:latin typeface="+mn-ea"/>
              </a:rPr>
              <a:t>금액</a:t>
            </a:r>
            <a:r>
              <a:rPr lang="en-US" altLang="ko-KR" sz="700" dirty="0">
                <a:latin typeface="+mn-ea"/>
              </a:rPr>
              <a:t>(</a:t>
            </a:r>
            <a:r>
              <a:rPr lang="ko-KR" altLang="en-US" sz="700" dirty="0">
                <a:latin typeface="+mn-ea"/>
              </a:rPr>
              <a:t>천원</a:t>
            </a:r>
            <a:r>
              <a:rPr lang="en-US" altLang="ko-KR" sz="700" dirty="0">
                <a:latin typeface="+mn-ea"/>
              </a:rPr>
              <a:t>)</a:t>
            </a:r>
          </a:p>
          <a:p>
            <a:r>
              <a:rPr lang="en-US" altLang="ko-KR" sz="700" dirty="0">
                <a:latin typeface="+mn-ea"/>
              </a:rPr>
              <a:t>– </a:t>
            </a:r>
            <a:r>
              <a:rPr lang="ko-KR" altLang="en-US" sz="700" dirty="0" err="1">
                <a:latin typeface="+mn-ea"/>
              </a:rPr>
              <a:t>부채총계</a:t>
            </a:r>
            <a:endParaRPr lang="en-US" altLang="ko-KR" sz="700" dirty="0">
              <a:latin typeface="+mn-ea"/>
            </a:endParaRPr>
          </a:p>
          <a:p>
            <a:r>
              <a:rPr lang="en-US" altLang="ko-KR" sz="700" dirty="0">
                <a:latin typeface="+mn-ea"/>
              </a:rPr>
              <a:t>– </a:t>
            </a:r>
            <a:r>
              <a:rPr lang="ko-KR" altLang="en-US" sz="700" dirty="0">
                <a:latin typeface="+mn-ea"/>
              </a:rPr>
              <a:t>자기자본</a:t>
            </a:r>
          </a:p>
        </p:txBody>
      </p:sp>
      <p:sp>
        <p:nvSpPr>
          <p:cNvPr id="87" name="TextBox 86">
            <a:extLst>
              <a:ext uri="{FF2B5EF4-FFF2-40B4-BE49-F238E27FC236}">
                <a16:creationId xmlns:a16="http://schemas.microsoft.com/office/drawing/2014/main" id="{FFC49AEA-2A8F-250C-A86A-A7751D9706C3}"/>
              </a:ext>
            </a:extLst>
          </p:cNvPr>
          <p:cNvSpPr txBox="1"/>
          <p:nvPr/>
        </p:nvSpPr>
        <p:spPr>
          <a:xfrm>
            <a:off x="1857096" y="4160715"/>
            <a:ext cx="676467" cy="215444"/>
          </a:xfrm>
          <a:prstGeom prst="rect">
            <a:avLst/>
          </a:prstGeom>
          <a:noFill/>
        </p:spPr>
        <p:txBody>
          <a:bodyPr wrap="none" lIns="0" tIns="0" rIns="0" bIns="0" rtlCol="0">
            <a:spAutoFit/>
          </a:bodyPr>
          <a:lstStyle/>
          <a:p>
            <a:pPr algn="r"/>
            <a:r>
              <a:rPr lang="en-US" altLang="ko-KR" sz="700" dirty="0">
                <a:latin typeface="+mn-ea"/>
              </a:rPr>
              <a:t>9,800,000,000 </a:t>
            </a:r>
            <a:r>
              <a:rPr lang="ko-KR" altLang="en-US" sz="700" dirty="0">
                <a:latin typeface="+mn-ea"/>
              </a:rPr>
              <a:t>원</a:t>
            </a:r>
            <a:endParaRPr lang="en-US" altLang="ko-KR" sz="700" dirty="0">
              <a:latin typeface="+mn-ea"/>
            </a:endParaRPr>
          </a:p>
          <a:p>
            <a:pPr algn="r"/>
            <a:r>
              <a:rPr lang="en-US" altLang="ko-KR" sz="700" dirty="0">
                <a:latin typeface="+mn-ea"/>
              </a:rPr>
              <a:t>9,800,000,000 </a:t>
            </a:r>
            <a:r>
              <a:rPr lang="ko-KR" altLang="en-US" sz="700" dirty="0">
                <a:latin typeface="+mn-ea"/>
              </a:rPr>
              <a:t>원</a:t>
            </a:r>
          </a:p>
        </p:txBody>
      </p:sp>
      <p:sp>
        <p:nvSpPr>
          <p:cNvPr id="88" name="TextBox 87">
            <a:extLst>
              <a:ext uri="{FF2B5EF4-FFF2-40B4-BE49-F238E27FC236}">
                <a16:creationId xmlns:a16="http://schemas.microsoft.com/office/drawing/2014/main" id="{FFC49AEA-2A8F-250C-A86A-A7751D9706C3}"/>
              </a:ext>
            </a:extLst>
          </p:cNvPr>
          <p:cNvSpPr txBox="1"/>
          <p:nvPr/>
        </p:nvSpPr>
        <p:spPr>
          <a:xfrm>
            <a:off x="3276137" y="4160715"/>
            <a:ext cx="36869" cy="215444"/>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p:txBody>
      </p:sp>
      <p:cxnSp>
        <p:nvCxnSpPr>
          <p:cNvPr id="89" name="직선 연결선 88">
            <a:extLst>
              <a:ext uri="{FF2B5EF4-FFF2-40B4-BE49-F238E27FC236}">
                <a16:creationId xmlns:a16="http://schemas.microsoft.com/office/drawing/2014/main" id="{E9293055-D5CD-4B9E-7F64-64B2D2CA7A52}"/>
              </a:ext>
            </a:extLst>
          </p:cNvPr>
          <p:cNvCxnSpPr/>
          <p:nvPr/>
        </p:nvCxnSpPr>
        <p:spPr>
          <a:xfrm>
            <a:off x="718459" y="505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TextBox 103">
            <a:extLst>
              <a:ext uri="{FF2B5EF4-FFF2-40B4-BE49-F238E27FC236}">
                <a16:creationId xmlns:a16="http://schemas.microsoft.com/office/drawing/2014/main" id="{FFC49AEA-2A8F-250C-A86A-A7751D9706C3}"/>
              </a:ext>
            </a:extLst>
          </p:cNvPr>
          <p:cNvSpPr txBox="1"/>
          <p:nvPr/>
        </p:nvSpPr>
        <p:spPr>
          <a:xfrm>
            <a:off x="805522" y="4898711"/>
            <a:ext cx="952980" cy="107722"/>
          </a:xfrm>
          <a:prstGeom prst="rect">
            <a:avLst/>
          </a:prstGeom>
          <a:noFill/>
        </p:spPr>
        <p:txBody>
          <a:bodyPr wrap="square" lIns="0" tIns="0" rIns="0" bIns="0" rtlCol="0">
            <a:spAutoFit/>
          </a:bodyPr>
          <a:lstStyle/>
          <a:p>
            <a:r>
              <a:rPr lang="ko-KR" altLang="en-US" sz="700" dirty="0">
                <a:latin typeface="+mn-ea"/>
              </a:rPr>
              <a:t>해당업체 비율</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326775" y="4898711"/>
            <a:ext cx="206788"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sp>
        <p:nvSpPr>
          <p:cNvPr id="106" name="TextBox 105">
            <a:extLst>
              <a:ext uri="{FF2B5EF4-FFF2-40B4-BE49-F238E27FC236}">
                <a16:creationId xmlns:a16="http://schemas.microsoft.com/office/drawing/2014/main" id="{FFC49AEA-2A8F-250C-A86A-A7751D9706C3}"/>
              </a:ext>
            </a:extLst>
          </p:cNvPr>
          <p:cNvSpPr txBox="1"/>
          <p:nvPr/>
        </p:nvSpPr>
        <p:spPr>
          <a:xfrm>
            <a:off x="3106218" y="4898711"/>
            <a:ext cx="206788"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cxnSp>
        <p:nvCxnSpPr>
          <p:cNvPr id="107" name="직선 연결선 106">
            <a:extLst>
              <a:ext uri="{FF2B5EF4-FFF2-40B4-BE49-F238E27FC236}">
                <a16:creationId xmlns:a16="http://schemas.microsoft.com/office/drawing/2014/main" id="{E9293055-D5CD-4B9E-7F64-64B2D2CA7A52}"/>
              </a:ext>
            </a:extLst>
          </p:cNvPr>
          <p:cNvCxnSpPr/>
          <p:nvPr/>
        </p:nvCxnSpPr>
        <p:spPr>
          <a:xfrm>
            <a:off x="718459" y="52636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8" name="TextBox 107">
            <a:extLst>
              <a:ext uri="{FF2B5EF4-FFF2-40B4-BE49-F238E27FC236}">
                <a16:creationId xmlns:a16="http://schemas.microsoft.com/office/drawing/2014/main" id="{FFC49AEA-2A8F-250C-A86A-A7751D9706C3}"/>
              </a:ext>
            </a:extLst>
          </p:cNvPr>
          <p:cNvSpPr txBox="1"/>
          <p:nvPr/>
        </p:nvSpPr>
        <p:spPr>
          <a:xfrm>
            <a:off x="805522" y="5106127"/>
            <a:ext cx="952980" cy="107722"/>
          </a:xfrm>
          <a:prstGeom prst="rect">
            <a:avLst/>
          </a:prstGeom>
          <a:noFill/>
        </p:spPr>
        <p:txBody>
          <a:bodyPr wrap="square" lIns="0" tIns="0" rIns="0" bIns="0" rtlCol="0">
            <a:spAutoFit/>
          </a:bodyPr>
          <a:lstStyle/>
          <a:p>
            <a:r>
              <a:rPr lang="ko-KR" altLang="en-US" sz="700" dirty="0" err="1">
                <a:latin typeface="+mn-ea"/>
              </a:rPr>
              <a:t>업체평균</a:t>
            </a:r>
            <a:r>
              <a:rPr lang="ko-KR" altLang="en-US" sz="700" dirty="0">
                <a:latin typeface="+mn-ea"/>
              </a:rPr>
              <a:t> 비율</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2328378" y="5106127"/>
            <a:ext cx="205185"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3106218" y="5106127"/>
            <a:ext cx="206788"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18459" y="56865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805522" y="5313543"/>
            <a:ext cx="952980" cy="323165"/>
          </a:xfrm>
          <a:prstGeom prst="rect">
            <a:avLst/>
          </a:prstGeom>
          <a:noFill/>
        </p:spPr>
        <p:txBody>
          <a:bodyPr wrap="square" lIns="0" tIns="0" rIns="0" bIns="0" rtlCol="0">
            <a:spAutoFit/>
          </a:bodyPr>
          <a:lstStyle/>
          <a:p>
            <a:r>
              <a:rPr lang="ko-KR" altLang="en-US" sz="700" dirty="0">
                <a:latin typeface="+mn-ea"/>
              </a:rPr>
              <a:t>등급</a:t>
            </a:r>
            <a:endParaRPr lang="en-US" altLang="ko-KR" sz="700" dirty="0">
              <a:latin typeface="+mn-ea"/>
            </a:endParaRPr>
          </a:p>
          <a:p>
            <a:r>
              <a:rPr lang="en-US" altLang="ko-KR" sz="700" dirty="0">
                <a:latin typeface="+mn-ea"/>
              </a:rPr>
              <a:t>- </a:t>
            </a:r>
            <a:r>
              <a:rPr lang="ko-KR" altLang="en-US" sz="700" dirty="0">
                <a:latin typeface="+mn-ea"/>
              </a:rPr>
              <a:t>비율</a:t>
            </a:r>
            <a:r>
              <a:rPr lang="en-US" altLang="ko-KR" sz="700" dirty="0">
                <a:latin typeface="+mn-ea"/>
              </a:rPr>
              <a:t>(%)</a:t>
            </a:r>
          </a:p>
          <a:p>
            <a:r>
              <a:rPr lang="en-US" altLang="ko-KR" sz="700" dirty="0">
                <a:latin typeface="+mn-ea"/>
              </a:rPr>
              <a:t>- </a:t>
            </a:r>
            <a:r>
              <a:rPr lang="ko-KR" altLang="en-US" sz="700" dirty="0">
                <a:latin typeface="+mn-ea"/>
              </a:rPr>
              <a:t>등급</a:t>
            </a:r>
          </a:p>
        </p:txBody>
      </p:sp>
      <p:sp>
        <p:nvSpPr>
          <p:cNvPr id="113" name="TextBox 112">
            <a:extLst>
              <a:ext uri="{FF2B5EF4-FFF2-40B4-BE49-F238E27FC236}">
                <a16:creationId xmlns:a16="http://schemas.microsoft.com/office/drawing/2014/main" id="{FFC49AEA-2A8F-250C-A86A-A7751D9706C3}"/>
              </a:ext>
            </a:extLst>
          </p:cNvPr>
          <p:cNvSpPr txBox="1"/>
          <p:nvPr/>
        </p:nvSpPr>
        <p:spPr>
          <a:xfrm>
            <a:off x="1845566" y="5421264"/>
            <a:ext cx="687998" cy="215444"/>
          </a:xfrm>
          <a:prstGeom prst="rect">
            <a:avLst/>
          </a:prstGeom>
          <a:noFill/>
        </p:spPr>
        <p:txBody>
          <a:bodyPr wrap="square" lIns="0" tIns="0" rIns="0" bIns="0" rtlCol="0">
            <a:spAutoFit/>
          </a:bodyPr>
          <a:lstStyle/>
          <a:p>
            <a:pPr algn="r"/>
            <a:r>
              <a:rPr lang="en-US" altLang="ko-KR" sz="700" dirty="0">
                <a:latin typeface="+mn-ea"/>
              </a:rPr>
              <a:t>00 %</a:t>
            </a:r>
          </a:p>
          <a:p>
            <a:r>
              <a:rPr lang="en-US" altLang="ko-KR" sz="700" dirty="0">
                <a:latin typeface="+mn-ea"/>
              </a:rPr>
              <a:t>00 </a:t>
            </a:r>
            <a:r>
              <a:rPr lang="ko-KR" altLang="en-US" sz="700" dirty="0">
                <a:latin typeface="+mn-ea"/>
              </a:rPr>
              <a:t>등급</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636539" y="5421264"/>
            <a:ext cx="676467" cy="215444"/>
          </a:xfrm>
          <a:prstGeom prst="rect">
            <a:avLst/>
          </a:prstGeom>
          <a:noFill/>
        </p:spPr>
        <p:txBody>
          <a:bodyPr wrap="square" lIns="0" tIns="0" rIns="0" bIns="0" rtlCol="0">
            <a:spAutoFit/>
          </a:bodyPr>
          <a:lstStyle/>
          <a:p>
            <a:pPr algn="r"/>
            <a:r>
              <a:rPr lang="en-US" altLang="ko-KR" sz="700" dirty="0">
                <a:latin typeface="+mn-ea"/>
              </a:rPr>
              <a:t>00 %</a:t>
            </a:r>
          </a:p>
          <a:p>
            <a:r>
              <a:rPr lang="en-US" altLang="ko-KR" sz="700" dirty="0">
                <a:latin typeface="+mn-ea"/>
              </a:rPr>
              <a:t>00 </a:t>
            </a:r>
            <a:r>
              <a:rPr lang="ko-KR" altLang="en-US" sz="700" dirty="0">
                <a:latin typeface="+mn-ea"/>
              </a:rPr>
              <a:t>등급</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805522" y="5736402"/>
            <a:ext cx="952980" cy="107722"/>
          </a:xfrm>
          <a:prstGeom prst="rect">
            <a:avLst/>
          </a:prstGeom>
          <a:noFill/>
        </p:spPr>
        <p:txBody>
          <a:bodyPr wrap="square" lIns="0" tIns="0" rIns="0" bIns="0" rtlCol="0">
            <a:spAutoFit/>
          </a:bodyPr>
          <a:lstStyle/>
          <a:p>
            <a:r>
              <a:rPr lang="ko-KR" altLang="en-US" sz="700" dirty="0">
                <a:latin typeface="+mn-ea"/>
              </a:rPr>
              <a:t>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2434176" y="5736402"/>
            <a:ext cx="99387" cy="107722"/>
          </a:xfrm>
          <a:prstGeom prst="rect">
            <a:avLst/>
          </a:prstGeom>
          <a:noFill/>
        </p:spPr>
        <p:txBody>
          <a:bodyPr wrap="none" lIns="0" tIns="0" rIns="0" bIns="0" rtlCol="0">
            <a:spAutoFit/>
          </a:bodyPr>
          <a:lstStyle/>
          <a:p>
            <a:pPr algn="r"/>
            <a:r>
              <a:rPr lang="en-US" altLang="ko-KR" sz="700" dirty="0">
                <a:latin typeface="+mn-ea"/>
              </a:rPr>
              <a:t>00</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3213619" y="5736402"/>
            <a:ext cx="99387" cy="107722"/>
          </a:xfrm>
          <a:prstGeom prst="rect">
            <a:avLst/>
          </a:prstGeom>
          <a:noFill/>
        </p:spPr>
        <p:txBody>
          <a:bodyPr wrap="none" lIns="0" tIns="0" rIns="0" bIns="0" rtlCol="0">
            <a:spAutoFit/>
          </a:bodyPr>
          <a:lstStyle/>
          <a:p>
            <a:pPr algn="r"/>
            <a:r>
              <a:rPr lang="en-US" altLang="ko-KR" sz="700" dirty="0">
                <a:latin typeface="+mn-ea"/>
              </a:rPr>
              <a:t>00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805522" y="4475852"/>
            <a:ext cx="952980" cy="323165"/>
          </a:xfrm>
          <a:prstGeom prst="rect">
            <a:avLst/>
          </a:prstGeom>
          <a:noFill/>
        </p:spPr>
        <p:txBody>
          <a:bodyPr wrap="square" lIns="0" tIns="0" rIns="0" bIns="0" rtlCol="0">
            <a:spAutoFit/>
          </a:bodyPr>
          <a:lstStyle/>
          <a:p>
            <a:r>
              <a:rPr lang="ko-KR" altLang="en-US" sz="700" dirty="0">
                <a:latin typeface="+mn-ea"/>
              </a:rPr>
              <a:t>평가요소 </a:t>
            </a:r>
            <a:r>
              <a:rPr lang="en-US" altLang="ko-KR" sz="700" dirty="0">
                <a:latin typeface="+mn-ea"/>
              </a:rPr>
              <a:t>– </a:t>
            </a:r>
            <a:r>
              <a:rPr lang="ko-KR" altLang="en-US" sz="700" dirty="0">
                <a:latin typeface="+mn-ea"/>
              </a:rPr>
              <a:t>금액</a:t>
            </a:r>
            <a:r>
              <a:rPr lang="en-US" altLang="ko-KR" sz="700" dirty="0">
                <a:latin typeface="+mn-ea"/>
              </a:rPr>
              <a:t>(</a:t>
            </a:r>
            <a:r>
              <a:rPr lang="ko-KR" altLang="en-US" sz="700" dirty="0">
                <a:latin typeface="+mn-ea"/>
              </a:rPr>
              <a:t>천원</a:t>
            </a:r>
            <a:r>
              <a:rPr lang="en-US" altLang="ko-KR" sz="700" dirty="0">
                <a:latin typeface="+mn-ea"/>
              </a:rPr>
              <a:t>)</a:t>
            </a:r>
          </a:p>
          <a:p>
            <a:r>
              <a:rPr lang="en-US" altLang="ko-KR" sz="700" dirty="0">
                <a:latin typeface="+mn-ea"/>
              </a:rPr>
              <a:t>– </a:t>
            </a:r>
            <a:r>
              <a:rPr lang="ko-KR" altLang="en-US" sz="700" dirty="0">
                <a:latin typeface="+mn-ea"/>
              </a:rPr>
              <a:t>유동자산</a:t>
            </a:r>
            <a:endParaRPr lang="en-US" altLang="ko-KR" sz="700" dirty="0">
              <a:latin typeface="+mn-ea"/>
            </a:endParaRPr>
          </a:p>
          <a:p>
            <a:r>
              <a:rPr lang="en-US" altLang="ko-KR" sz="700" dirty="0">
                <a:latin typeface="+mn-ea"/>
              </a:rPr>
              <a:t>– </a:t>
            </a:r>
            <a:r>
              <a:rPr lang="ko-KR" altLang="en-US" sz="700" dirty="0">
                <a:latin typeface="+mn-ea"/>
              </a:rPr>
              <a:t>유동부채</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2496694" y="4583573"/>
            <a:ext cx="36869" cy="215444"/>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2636539" y="4583573"/>
            <a:ext cx="676467" cy="215444"/>
          </a:xfrm>
          <a:prstGeom prst="rect">
            <a:avLst/>
          </a:prstGeom>
          <a:noFill/>
        </p:spPr>
        <p:txBody>
          <a:bodyPr wrap="none" lIns="0" tIns="0" rIns="0" bIns="0" rtlCol="0">
            <a:spAutoFit/>
          </a:bodyPr>
          <a:lstStyle/>
          <a:p>
            <a:pPr algn="r"/>
            <a:r>
              <a:rPr lang="en-US" altLang="ko-KR" sz="700" dirty="0">
                <a:latin typeface="+mn-ea"/>
              </a:rPr>
              <a:t>9,800,000,000 </a:t>
            </a:r>
            <a:r>
              <a:rPr lang="ko-KR" altLang="en-US" sz="700" dirty="0">
                <a:latin typeface="+mn-ea"/>
              </a:rPr>
              <a:t>원</a:t>
            </a:r>
            <a:endParaRPr lang="en-US" altLang="ko-KR" sz="700" dirty="0">
              <a:latin typeface="+mn-ea"/>
            </a:endParaRPr>
          </a:p>
          <a:p>
            <a:pPr algn="r"/>
            <a:r>
              <a:rPr lang="en-US" altLang="ko-KR" sz="700" dirty="0">
                <a:latin typeface="+mn-ea"/>
              </a:rPr>
              <a:t>9,800,000,000 </a:t>
            </a:r>
            <a:r>
              <a:rPr lang="ko-KR" altLang="en-US" sz="700" dirty="0">
                <a:latin typeface="+mn-ea"/>
              </a:rPr>
              <a:t>원</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8459" y="44260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8459" y="58939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805522" y="5943813"/>
            <a:ext cx="952980" cy="107722"/>
          </a:xfrm>
          <a:prstGeom prst="rect">
            <a:avLst/>
          </a:prstGeom>
          <a:noFill/>
        </p:spPr>
        <p:txBody>
          <a:bodyPr wrap="square" lIns="0" tIns="0" rIns="0" bIns="0" rtlCol="0">
            <a:spAutoFit/>
          </a:bodyPr>
          <a:lstStyle/>
          <a:p>
            <a:r>
              <a:rPr lang="ko-KR" altLang="en-US" sz="700" dirty="0">
                <a:latin typeface="+mn-ea"/>
              </a:rPr>
              <a:t>계</a:t>
            </a:r>
            <a:endParaRPr lang="en-US" altLang="ko-KR"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3213619" y="5943813"/>
            <a:ext cx="99387" cy="107722"/>
          </a:xfrm>
          <a:prstGeom prst="rect">
            <a:avLst/>
          </a:prstGeom>
          <a:noFill/>
        </p:spPr>
        <p:txBody>
          <a:bodyPr wrap="none" lIns="0" tIns="0" rIns="0" bIns="0" rtlCol="0">
            <a:spAutoFit/>
          </a:bodyPr>
          <a:lstStyle/>
          <a:p>
            <a:pPr algn="r"/>
            <a:r>
              <a:rPr lang="en-US" altLang="ko-KR" sz="700" dirty="0">
                <a:latin typeface="+mn-ea"/>
              </a:rPr>
              <a:t>00</a:t>
            </a:r>
            <a:endParaRPr lang="ko-KR" altLang="en-US" sz="700" dirty="0">
              <a:latin typeface="+mn-ea"/>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718459" y="6101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3795734" y="1527996"/>
            <a:ext cx="2712027" cy="1881706"/>
            <a:chOff x="675399" y="1527996"/>
            <a:chExt cx="2712027" cy="1881706"/>
          </a:xfrm>
        </p:grpSpPr>
        <p:grpSp>
          <p:nvGrpSpPr>
            <p:cNvPr id="131" name="그룹 130"/>
            <p:cNvGrpSpPr/>
            <p:nvPr/>
          </p:nvGrpSpPr>
          <p:grpSpPr>
            <a:xfrm>
              <a:off x="701175" y="1527996"/>
              <a:ext cx="2670082" cy="1815590"/>
              <a:chOff x="701175" y="1527996"/>
              <a:chExt cx="2670082" cy="1815590"/>
            </a:xfrm>
          </p:grpSpPr>
          <p:sp>
            <p:nvSpPr>
              <p:cNvPr id="132" name="TextBox 131">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특별신인도</a:t>
                </a:r>
                <a:endParaRPr lang="ko-KR" altLang="en-US" sz="700" dirty="0">
                  <a:latin typeface="+mn-ea"/>
                </a:endParaRPr>
              </a:p>
            </p:txBody>
          </p:sp>
          <p:grpSp>
            <p:nvGrpSpPr>
              <p:cNvPr id="133" name="그룹 132"/>
              <p:cNvGrpSpPr/>
              <p:nvPr/>
            </p:nvGrpSpPr>
            <p:grpSpPr>
              <a:xfrm flipV="1">
                <a:off x="3124233" y="1641327"/>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4" name="직사각형 133"/>
              <p:cNvSpPr/>
              <p:nvPr/>
            </p:nvSpPr>
            <p:spPr>
              <a:xfrm>
                <a:off x="703268" y="1835480"/>
                <a:ext cx="792000" cy="15031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TextBox 134">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err="1">
                    <a:latin typeface="+mn-ea"/>
                  </a:rPr>
                  <a:t>시공실적</a:t>
                </a:r>
                <a:endParaRPr lang="en-US" altLang="ko-KR" sz="700" dirty="0">
                  <a:latin typeface="+mn-ea"/>
                </a:endParaRPr>
              </a:p>
              <a:p>
                <a:pPr>
                  <a:lnSpc>
                    <a:spcPct val="200000"/>
                  </a:lnSpc>
                </a:pPr>
                <a:r>
                  <a:rPr lang="ko-KR" altLang="en-US" sz="700" dirty="0">
                    <a:latin typeface="+mn-ea"/>
                  </a:rPr>
                  <a:t>지체상금</a:t>
                </a:r>
                <a:endParaRPr lang="en-US" altLang="ko-KR" sz="700" dirty="0">
                  <a:latin typeface="+mn-ea"/>
                </a:endParaRPr>
              </a:p>
              <a:p>
                <a:pPr>
                  <a:lnSpc>
                    <a:spcPct val="200000"/>
                  </a:lnSpc>
                </a:pPr>
                <a:r>
                  <a:rPr lang="ko-KR" altLang="en-US" sz="700" dirty="0">
                    <a:latin typeface="+mn-ea"/>
                  </a:rPr>
                  <a:t>하자보수</a:t>
                </a:r>
                <a:endParaRPr lang="en-US" altLang="ko-KR" sz="700" dirty="0">
                  <a:latin typeface="+mn-ea"/>
                </a:endParaRPr>
              </a:p>
              <a:p>
                <a:pPr>
                  <a:lnSpc>
                    <a:spcPct val="200000"/>
                  </a:lnSpc>
                </a:pPr>
                <a:r>
                  <a:rPr lang="ko-KR" altLang="en-US" sz="700" dirty="0">
                    <a:latin typeface="+mn-ea"/>
                  </a:rPr>
                  <a:t>시공평가결과</a:t>
                </a:r>
                <a:endParaRPr lang="en-US" altLang="ko-KR" sz="700" dirty="0">
                  <a:latin typeface="+mn-ea"/>
                </a:endParaRPr>
              </a:p>
              <a:p>
                <a:pPr>
                  <a:lnSpc>
                    <a:spcPct val="200000"/>
                  </a:lnSpc>
                </a:pPr>
                <a:r>
                  <a:rPr lang="ko-KR" altLang="en-US" sz="700" dirty="0">
                    <a:latin typeface="+mn-ea"/>
                  </a:rPr>
                  <a:t>우수업체지정</a:t>
                </a:r>
                <a:endParaRPr lang="en-US" altLang="ko-KR" sz="700" dirty="0">
                  <a:latin typeface="+mn-ea"/>
                </a:endParaRPr>
              </a:p>
              <a:p>
                <a:pPr>
                  <a:lnSpc>
                    <a:spcPct val="200000"/>
                  </a:lnSpc>
                </a:pPr>
                <a:r>
                  <a:rPr lang="ko-KR" altLang="en-US" sz="700" dirty="0">
                    <a:latin typeface="+mn-ea"/>
                  </a:rPr>
                  <a:t>합계</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gn="r">
                  <a:lnSpc>
                    <a:spcPct val="200000"/>
                  </a:lnSpc>
                </a:pPr>
                <a:r>
                  <a:rPr lang="ko-KR" altLang="en-US" sz="700" dirty="0">
                    <a:latin typeface="+mn-ea"/>
                  </a:rPr>
                  <a:t>평점</a:t>
                </a:r>
                <a:endParaRPr lang="en-US" altLang="ko-KR" sz="700" dirty="0">
                  <a:latin typeface="+mn-ea"/>
                </a:endParaRP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p:txBody>
          </p:sp>
          <p:grpSp>
            <p:nvGrpSpPr>
              <p:cNvPr id="137" name="그룹 136"/>
              <p:cNvGrpSpPr/>
              <p:nvPr/>
            </p:nvGrpSpPr>
            <p:grpSpPr>
              <a:xfrm>
                <a:off x="701175" y="1835481"/>
                <a:ext cx="2670082" cy="1503180"/>
                <a:chOff x="701175" y="1835481"/>
                <a:chExt cx="2670082" cy="1503180"/>
              </a:xfrm>
            </p:grpSpPr>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51" name="직선 연결선 150">
              <a:extLst>
                <a:ext uri="{FF2B5EF4-FFF2-40B4-BE49-F238E27FC236}">
                  <a16:creationId xmlns:a16="http://schemas.microsoft.com/office/drawing/2014/main" id="{E9293055-D5CD-4B9E-7F64-64B2D2CA7A52}"/>
                </a:ext>
              </a:extLst>
            </p:cNvPr>
            <p:cNvCxnSpPr/>
            <p:nvPr/>
          </p:nvCxnSpPr>
          <p:spPr>
            <a:xfrm>
              <a:off x="675399" y="34097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2" name="TextBox 151">
            <a:extLst>
              <a:ext uri="{FF2B5EF4-FFF2-40B4-BE49-F238E27FC236}">
                <a16:creationId xmlns:a16="http://schemas.microsoft.com/office/drawing/2014/main" id="{FFC49AEA-2A8F-250C-A86A-A7751D9706C3}"/>
              </a:ext>
            </a:extLst>
          </p:cNvPr>
          <p:cNvSpPr txBox="1"/>
          <p:nvPr/>
        </p:nvSpPr>
        <p:spPr>
          <a:xfrm>
            <a:off x="3883823" y="3440687"/>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입찰가격점수</a:t>
            </a:r>
          </a:p>
        </p:txBody>
      </p:sp>
      <p:grpSp>
        <p:nvGrpSpPr>
          <p:cNvPr id="153" name="그룹 152"/>
          <p:cNvGrpSpPr/>
          <p:nvPr/>
        </p:nvGrpSpPr>
        <p:grpSpPr>
          <a:xfrm flipV="1">
            <a:off x="6245910" y="3554018"/>
            <a:ext cx="94010" cy="47005"/>
            <a:chOff x="6812560" y="3297172"/>
            <a:chExt cx="94010" cy="47005"/>
          </a:xfrm>
        </p:grpSpPr>
        <p:cxnSp>
          <p:nvCxnSpPr>
            <p:cNvPr id="154" name="직선 연결선 15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37274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40136" y="3791612"/>
            <a:ext cx="792000" cy="237603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27198" y="5274724"/>
            <a:ext cx="754231" cy="861774"/>
          </a:xfrm>
          <a:prstGeom prst="rect">
            <a:avLst/>
          </a:prstGeom>
          <a:noFill/>
        </p:spPr>
        <p:txBody>
          <a:bodyPr wrap="square" lIns="0" tIns="0" rIns="0" bIns="0" rtlCol="0">
            <a:spAutoFit/>
          </a:bodyPr>
          <a:lstStyle/>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ko-KR" altLang="en-US" sz="700" dirty="0" err="1">
                <a:latin typeface="+mn-ea"/>
              </a:rPr>
              <a:t>입찰률</a:t>
            </a:r>
            <a:r>
              <a:rPr lang="ko-KR" altLang="en-US" sz="700" dirty="0">
                <a:latin typeface="+mn-ea"/>
              </a:rPr>
              <a:t> </a:t>
            </a:r>
            <a:r>
              <a:rPr lang="en-US" altLang="ko-KR" sz="700" dirty="0">
                <a:latin typeface="+mn-ea"/>
              </a:rPr>
              <a:t>(%)</a:t>
            </a:r>
          </a:p>
          <a:p>
            <a:pPr>
              <a:lnSpc>
                <a:spcPct val="200000"/>
              </a:lnSpc>
            </a:pPr>
            <a:r>
              <a:rPr lang="ko-KR" altLang="en-US" sz="700" dirty="0">
                <a:latin typeface="+mn-ea"/>
              </a:rPr>
              <a:t>평점</a:t>
            </a:r>
            <a:endParaRPr lang="en-US" altLang="ko-KR"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4684048" y="5274724"/>
            <a:ext cx="1775839" cy="861774"/>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00.00</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38043" y="379161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3840136" y="55025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3840136" y="57172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3840136" y="5932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3840136" y="6167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3840136" y="52794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3932343" y="4481648"/>
            <a:ext cx="952980" cy="107722"/>
          </a:xfrm>
          <a:prstGeom prst="rect">
            <a:avLst/>
          </a:prstGeom>
          <a:noFill/>
        </p:spPr>
        <p:txBody>
          <a:bodyPr wrap="square" lIns="0" tIns="0" rIns="0" bIns="0" rtlCol="0">
            <a:spAutoFit/>
          </a:bodyPr>
          <a:lstStyle/>
          <a:p>
            <a:r>
              <a:rPr lang="ko-KR" altLang="en-US" sz="700" dirty="0">
                <a:latin typeface="+mn-ea"/>
              </a:rPr>
              <a:t>가격점수산식</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4681429" y="3863479"/>
            <a:ext cx="1758398" cy="400110"/>
          </a:xfrm>
          <a:prstGeom prst="rect">
            <a:avLst/>
          </a:prstGeom>
          <a:noFill/>
        </p:spPr>
        <p:txBody>
          <a:bodyPr wrap="square" lIns="0" tIns="0" rIns="0" bIns="0" rtlCol="0">
            <a:spAutoFit/>
          </a:bodyPr>
          <a:lstStyle/>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90 – 20 X {(88/100 – </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 X 100}</a:t>
            </a:r>
          </a:p>
          <a:p>
            <a:r>
              <a:rPr lang="en-US" altLang="ko-KR" sz="650" dirty="0">
                <a:latin typeface="+mn-ea"/>
              </a:rPr>
              <a:t>[</a:t>
            </a:r>
            <a:r>
              <a:rPr lang="ko-KR" altLang="en-US" sz="650" dirty="0" err="1">
                <a:latin typeface="+mn-ea"/>
              </a:rPr>
              <a:t>입찰률</a:t>
            </a:r>
            <a:r>
              <a:rPr lang="en-US" altLang="ko-KR" sz="650" dirty="0">
                <a:latin typeface="+mn-ea"/>
              </a:rPr>
              <a:t>(</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4667515" y="4407321"/>
            <a:ext cx="1772311" cy="800219"/>
          </a:xfrm>
          <a:prstGeom prst="rect">
            <a:avLst/>
          </a:prstGeom>
          <a:noFill/>
        </p:spPr>
        <p:txBody>
          <a:bodyPr wrap="square" lIns="0" tIns="0" rIns="0" bIns="0" rtlCol="0">
            <a:spAutoFit/>
          </a:bodyPr>
          <a:lstStyle/>
          <a:p>
            <a:r>
              <a:rPr lang="ko-KR" altLang="en-US" sz="650" dirty="0">
                <a:solidFill>
                  <a:srgbClr val="0070C0"/>
                </a:solidFill>
                <a:latin typeface="+mn-ea"/>
              </a:rPr>
              <a:t>* </a:t>
            </a:r>
            <a:r>
              <a:rPr lang="en-US" altLang="ko-KR" sz="650" dirty="0">
                <a:solidFill>
                  <a:srgbClr val="0070C0"/>
                </a:solidFill>
                <a:latin typeface="+mn-ea"/>
              </a:rPr>
              <a:t>2020.1.10 </a:t>
            </a:r>
            <a:r>
              <a:rPr lang="ko-KR" altLang="en-US" sz="650" dirty="0" err="1">
                <a:solidFill>
                  <a:srgbClr val="0070C0"/>
                </a:solidFill>
                <a:latin typeface="+mn-ea"/>
              </a:rPr>
              <a:t>공고건</a:t>
            </a:r>
            <a:r>
              <a:rPr lang="ko-KR" altLang="en-US" sz="650" dirty="0">
                <a:solidFill>
                  <a:srgbClr val="0070C0"/>
                </a:solidFill>
                <a:latin typeface="+mn-ea"/>
              </a:rPr>
              <a:t> 이후 산식</a:t>
            </a:r>
          </a:p>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90 – 20 X {(88/100 – </a:t>
            </a:r>
            <a:r>
              <a:rPr lang="ko-KR" altLang="en-US" sz="650" dirty="0">
                <a:latin typeface="+mn-ea"/>
              </a:rPr>
              <a:t>입찰가격 </a:t>
            </a:r>
            <a:r>
              <a:rPr lang="en-US" altLang="ko-KR" sz="650" dirty="0">
                <a:latin typeface="+mn-ea"/>
              </a:rPr>
              <a:t>- A / </a:t>
            </a:r>
            <a:r>
              <a:rPr lang="ko-KR" altLang="en-US" sz="650" dirty="0">
                <a:latin typeface="+mn-ea"/>
              </a:rPr>
              <a:t>예정가격 </a:t>
            </a:r>
            <a:r>
              <a:rPr lang="en-US" altLang="ko-KR" sz="650" dirty="0">
                <a:latin typeface="+mn-ea"/>
              </a:rPr>
              <a:t>- A) X 100}</a:t>
            </a:r>
          </a:p>
          <a:p>
            <a:r>
              <a:rPr lang="en-US" altLang="ko-KR" sz="650" dirty="0">
                <a:latin typeface="+mn-ea"/>
              </a:rPr>
              <a:t>[</a:t>
            </a:r>
            <a:r>
              <a:rPr lang="ko-KR" altLang="en-US" sz="650" dirty="0" err="1">
                <a:latin typeface="+mn-ea"/>
              </a:rPr>
              <a:t>입찰률</a:t>
            </a:r>
            <a:r>
              <a:rPr lang="en-US" altLang="ko-KR" sz="650" dirty="0">
                <a:latin typeface="+mn-ea"/>
              </a:rPr>
              <a:t>(</a:t>
            </a:r>
            <a:r>
              <a:rPr lang="ko-KR" altLang="en-US" sz="650" dirty="0">
                <a:latin typeface="+mn-ea"/>
              </a:rPr>
              <a:t>입찰가격 </a:t>
            </a:r>
            <a:r>
              <a:rPr lang="en-US" altLang="ko-KR" sz="650" dirty="0">
                <a:latin typeface="+mn-ea"/>
              </a:rPr>
              <a:t>- A / </a:t>
            </a:r>
            <a:r>
              <a:rPr lang="ko-KR" altLang="en-US" sz="650" dirty="0">
                <a:latin typeface="+mn-ea"/>
              </a:rPr>
              <a:t>예정가격 </a:t>
            </a:r>
            <a:r>
              <a:rPr lang="en-US" altLang="ko-KR" sz="650" dirty="0">
                <a:latin typeface="+mn-ea"/>
              </a:rPr>
              <a:t>- A) (%)]</a:t>
            </a:r>
          </a:p>
          <a:p>
            <a:r>
              <a:rPr lang="en-US" altLang="ko-KR" sz="650" dirty="0">
                <a:solidFill>
                  <a:srgbClr val="FF0000"/>
                </a:solidFill>
                <a:latin typeface="+mn-ea"/>
              </a:rPr>
              <a:t>A : </a:t>
            </a:r>
            <a:r>
              <a:rPr lang="ko-KR" altLang="en-US" sz="650" dirty="0">
                <a:solidFill>
                  <a:srgbClr val="FF0000"/>
                </a:solidFill>
                <a:latin typeface="+mn-ea"/>
              </a:rPr>
              <a:t>국민연금</a:t>
            </a:r>
            <a:r>
              <a:rPr lang="en-US" altLang="ko-KR" sz="650" dirty="0">
                <a:solidFill>
                  <a:srgbClr val="FF0000"/>
                </a:solidFill>
                <a:latin typeface="+mn-ea"/>
              </a:rPr>
              <a:t>, </a:t>
            </a:r>
            <a:r>
              <a:rPr lang="ko-KR" altLang="en-US" sz="650" dirty="0">
                <a:solidFill>
                  <a:srgbClr val="FF0000"/>
                </a:solidFill>
                <a:latin typeface="+mn-ea"/>
              </a:rPr>
              <a:t>건강보험</a:t>
            </a:r>
            <a:r>
              <a:rPr lang="en-US" altLang="ko-KR" sz="650" dirty="0">
                <a:solidFill>
                  <a:srgbClr val="FF0000"/>
                </a:solidFill>
                <a:latin typeface="+mn-ea"/>
              </a:rPr>
              <a:t>, </a:t>
            </a:r>
            <a:r>
              <a:rPr lang="ko-KR" altLang="en-US" sz="650" dirty="0">
                <a:solidFill>
                  <a:srgbClr val="FF0000"/>
                </a:solidFill>
                <a:latin typeface="+mn-ea"/>
              </a:rPr>
              <a:t>퇴직공제부금비</a:t>
            </a:r>
            <a:r>
              <a:rPr lang="en-US" altLang="ko-KR" sz="650" dirty="0">
                <a:solidFill>
                  <a:srgbClr val="FF0000"/>
                </a:solidFill>
                <a:latin typeface="+mn-ea"/>
              </a:rPr>
              <a:t>, </a:t>
            </a:r>
            <a:r>
              <a:rPr lang="ko-KR" altLang="en-US" sz="650" dirty="0">
                <a:solidFill>
                  <a:srgbClr val="FF0000"/>
                </a:solidFill>
                <a:latin typeface="+mn-ea"/>
              </a:rPr>
              <a:t>노인장기요양보험</a:t>
            </a:r>
            <a:r>
              <a:rPr lang="en-US" altLang="ko-KR" sz="650" dirty="0">
                <a:solidFill>
                  <a:srgbClr val="FF0000"/>
                </a:solidFill>
                <a:latin typeface="+mn-ea"/>
              </a:rPr>
              <a:t>, </a:t>
            </a:r>
            <a:r>
              <a:rPr lang="ko-KR" altLang="en-US" sz="650" dirty="0">
                <a:solidFill>
                  <a:srgbClr val="FF0000"/>
                </a:solidFill>
                <a:latin typeface="+mn-ea"/>
              </a:rPr>
              <a:t>산업안전보건관리비</a:t>
            </a:r>
            <a:r>
              <a:rPr lang="en-US" altLang="ko-KR" sz="650" dirty="0">
                <a:solidFill>
                  <a:srgbClr val="FF0000"/>
                </a:solidFill>
                <a:latin typeface="+mn-ea"/>
              </a:rPr>
              <a:t>, </a:t>
            </a:r>
            <a:r>
              <a:rPr lang="ko-KR" altLang="en-US" sz="650" dirty="0">
                <a:solidFill>
                  <a:srgbClr val="FF0000"/>
                </a:solidFill>
                <a:latin typeface="+mn-ea"/>
              </a:rPr>
              <a:t>안전관리비의 </a:t>
            </a:r>
            <a:r>
              <a:rPr lang="ko-KR" altLang="en-US" sz="650" dirty="0" err="1">
                <a:solidFill>
                  <a:srgbClr val="FF0000"/>
                </a:solidFill>
                <a:latin typeface="+mn-ea"/>
              </a:rPr>
              <a:t>합산액</a:t>
            </a:r>
            <a:endParaRPr lang="ko-KR" altLang="en-US" sz="650" dirty="0">
              <a:solidFill>
                <a:srgbClr val="FF0000"/>
              </a:solidFill>
              <a:latin typeface="+mn-ea"/>
            </a:endParaRP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4632136" y="4335455"/>
            <a:ext cx="1836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Tree>
    <p:extLst>
      <p:ext uri="{BB962C8B-B14F-4D97-AF65-F5344CB8AC3E}">
        <p14:creationId xmlns:p14="http://schemas.microsoft.com/office/powerpoint/2010/main" val="2978163692"/>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직사각형 218"/>
          <p:cNvSpPr/>
          <p:nvPr/>
        </p:nvSpPr>
        <p:spPr>
          <a:xfrm>
            <a:off x="3838794" y="2581098"/>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직사각형 219"/>
          <p:cNvSpPr/>
          <p:nvPr/>
        </p:nvSpPr>
        <p:spPr>
          <a:xfrm>
            <a:off x="3838794" y="4133985"/>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직사각형 216"/>
          <p:cNvSpPr/>
          <p:nvPr/>
        </p:nvSpPr>
        <p:spPr>
          <a:xfrm>
            <a:off x="722610" y="3872383"/>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직사각형 217"/>
          <p:cNvSpPr/>
          <p:nvPr/>
        </p:nvSpPr>
        <p:spPr>
          <a:xfrm>
            <a:off x="722610" y="5112135"/>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직사각형 215"/>
          <p:cNvSpPr/>
          <p:nvPr/>
        </p:nvSpPr>
        <p:spPr>
          <a:xfrm>
            <a:off x="722610" y="2637466"/>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직사각형 6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- 3</a:t>
            </a:r>
            <a:r>
              <a:rPr lang="ko-KR" altLang="en-US" dirty="0"/>
              <a:t>억원미만공사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3</a:t>
            </a:r>
            <a:r>
              <a:rPr lang="ko-KR" altLang="en-US" dirty="0"/>
              <a:t>억원미만공사일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MUI-BD-10-T19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특별신인도</a:t>
            </a:r>
            <a:r>
              <a:rPr lang="ko-KR" altLang="en-US" sz="700" dirty="0">
                <a:latin typeface="+mn-ea"/>
              </a:rPr>
              <a:t> 세부내용</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63578" y="186769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3</a:t>
            </a:r>
            <a:r>
              <a:rPr lang="ko-KR" altLang="en-US" sz="700" dirty="0">
                <a:latin typeface="+mn-ea"/>
              </a:rPr>
              <a:t>년간 </a:t>
            </a:r>
            <a:r>
              <a:rPr lang="ko-KR" altLang="en-US" sz="700" dirty="0" err="1">
                <a:latin typeface="+mn-ea"/>
              </a:rPr>
              <a:t>시공실적</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1933656" y="2634694"/>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28" name="TextBox 127">
            <a:extLst>
              <a:ext uri="{FF2B5EF4-FFF2-40B4-BE49-F238E27FC236}">
                <a16:creationId xmlns:a16="http://schemas.microsoft.com/office/drawing/2014/main" id="{FFC49AEA-2A8F-250C-A86A-A7751D9706C3}"/>
              </a:ext>
            </a:extLst>
          </p:cNvPr>
          <p:cNvSpPr txBox="1"/>
          <p:nvPr/>
        </p:nvSpPr>
        <p:spPr>
          <a:xfrm>
            <a:off x="1011640"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6366" y="26346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18459" y="2849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8459" y="30486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2858086"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805521" y="2315990"/>
            <a:ext cx="2507485" cy="215444"/>
          </a:xfrm>
          <a:prstGeom prst="rect">
            <a:avLst/>
          </a:prstGeom>
          <a:noFill/>
        </p:spPr>
        <p:txBody>
          <a:bodyPr wrap="square" lIns="0" tIns="0" rIns="0" bIns="0" rtlCol="0">
            <a:spAutoFit/>
          </a:bodyPr>
          <a:lstStyle/>
          <a:p>
            <a:r>
              <a:rPr lang="en-US" altLang="ko-KR" sz="700" dirty="0">
                <a:latin typeface="+mn-ea"/>
              </a:rPr>
              <a:t>A. 3</a:t>
            </a:r>
            <a:r>
              <a:rPr lang="ko-KR" altLang="en-US" sz="700" dirty="0">
                <a:latin typeface="+mn-ea"/>
              </a:rPr>
              <a:t>년간 </a:t>
            </a:r>
            <a:r>
              <a:rPr lang="ko-KR" altLang="en-US" sz="700" dirty="0" err="1">
                <a:latin typeface="+mn-ea"/>
              </a:rPr>
              <a:t>시공실적이</a:t>
            </a:r>
            <a:r>
              <a:rPr lang="ko-KR" altLang="en-US" sz="700" dirty="0">
                <a:latin typeface="+mn-ea"/>
              </a:rPr>
              <a:t> </a:t>
            </a:r>
            <a:r>
              <a:rPr lang="ko-KR" altLang="en-US" sz="700" dirty="0" err="1">
                <a:latin typeface="+mn-ea"/>
              </a:rPr>
              <a:t>추정금액의</a:t>
            </a:r>
            <a:r>
              <a:rPr lang="ko-KR" altLang="en-US" sz="700" dirty="0">
                <a:latin typeface="+mn-ea"/>
              </a:rPr>
              <a:t> </a:t>
            </a:r>
            <a:r>
              <a:rPr lang="en-US" altLang="ko-KR" sz="700" dirty="0">
                <a:latin typeface="+mn-ea"/>
              </a:rPr>
              <a:t>1</a:t>
            </a:r>
            <a:r>
              <a:rPr lang="ko-KR" altLang="en-US" sz="700" dirty="0">
                <a:latin typeface="+mn-ea"/>
              </a:rPr>
              <a:t>배 이상인 자 </a:t>
            </a:r>
            <a:r>
              <a:rPr lang="en-US" altLang="ko-KR" sz="700" dirty="0">
                <a:latin typeface="+mn-ea"/>
              </a:rPr>
              <a:t>: +2</a:t>
            </a:r>
            <a:r>
              <a:rPr lang="ko-KR" altLang="en-US" sz="700" dirty="0">
                <a:latin typeface="+mn-ea"/>
              </a:rPr>
              <a:t>점</a:t>
            </a:r>
          </a:p>
          <a:p>
            <a:r>
              <a:rPr lang="ko-KR" altLang="en-US" sz="700" dirty="0">
                <a:latin typeface="+mn-ea"/>
              </a:rPr>
              <a:t>* 평가 </a:t>
            </a:r>
            <a:r>
              <a:rPr lang="en-US" altLang="ko-KR" sz="700" dirty="0">
                <a:latin typeface="+mn-ea"/>
              </a:rPr>
              <a:t>= </a:t>
            </a:r>
            <a:r>
              <a:rPr lang="ko-KR" altLang="en-US" sz="700" dirty="0" err="1">
                <a:latin typeface="+mn-ea"/>
              </a:rPr>
              <a:t>시공실적</a:t>
            </a:r>
            <a:r>
              <a:rPr lang="ko-KR" altLang="en-US" sz="700" dirty="0">
                <a:latin typeface="+mn-ea"/>
              </a:rPr>
              <a:t> </a:t>
            </a:r>
            <a:r>
              <a:rPr lang="en-US" altLang="ko-KR" sz="700" dirty="0">
                <a:latin typeface="+mn-ea"/>
              </a:rPr>
              <a:t>: 2,000  </a:t>
            </a:r>
            <a:r>
              <a:rPr lang="ko-KR" altLang="en-US" sz="700" dirty="0">
                <a:latin typeface="+mn-ea"/>
              </a:rPr>
              <a:t>백만원 </a:t>
            </a:r>
            <a:r>
              <a:rPr lang="ko-KR" altLang="en-US" sz="700" dirty="0" err="1">
                <a:latin typeface="+mn-ea"/>
              </a:rPr>
              <a:t>추정금액</a:t>
            </a:r>
            <a:r>
              <a:rPr lang="ko-KR" altLang="en-US" sz="700" dirty="0">
                <a:latin typeface="+mn-ea"/>
              </a:rPr>
              <a:t> </a:t>
            </a:r>
            <a:r>
              <a:rPr lang="en-US" altLang="ko-KR" sz="700" dirty="0">
                <a:latin typeface="+mn-ea"/>
              </a:rPr>
              <a:t>: 1,000  </a:t>
            </a:r>
            <a:r>
              <a:rPr lang="ko-KR" altLang="en-US" sz="700" dirty="0">
                <a:latin typeface="+mn-ea"/>
              </a:rPr>
              <a:t>백만원</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763578" y="310185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지체상금 </a:t>
            </a:r>
            <a:r>
              <a:rPr lang="ko-KR" altLang="en-US" sz="700" dirty="0" err="1">
                <a:latin typeface="+mn-ea"/>
              </a:rPr>
              <a:t>부과여부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1933656" y="3868857"/>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1011640" y="386885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82" name="직선 연결선 181">
            <a:extLst>
              <a:ext uri="{FF2B5EF4-FFF2-40B4-BE49-F238E27FC236}">
                <a16:creationId xmlns:a16="http://schemas.microsoft.com/office/drawing/2014/main" id="{E9293055-D5CD-4B9E-7F64-64B2D2CA7A52}"/>
              </a:ext>
            </a:extLst>
          </p:cNvPr>
          <p:cNvCxnSpPr/>
          <p:nvPr/>
        </p:nvCxnSpPr>
        <p:spPr>
          <a:xfrm>
            <a:off x="716366" y="38688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18459" y="40835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18459" y="4282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2858086" y="386885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805521" y="3550153"/>
            <a:ext cx="2507485"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지체상금부과일수 </a:t>
            </a:r>
            <a:r>
              <a:rPr lang="en-US" altLang="ko-KR" sz="700" dirty="0">
                <a:latin typeface="+mn-ea"/>
              </a:rPr>
              <a:t>10</a:t>
            </a:r>
            <a:r>
              <a:rPr lang="ko-KR" altLang="en-US" sz="700" dirty="0">
                <a:latin typeface="+mn-ea"/>
              </a:rPr>
              <a:t>일 미만 </a:t>
            </a:r>
            <a:r>
              <a:rPr lang="en-US" altLang="ko-KR" sz="700" dirty="0">
                <a:latin typeface="+mn-ea"/>
              </a:rPr>
              <a:t>: -0.5</a:t>
            </a:r>
            <a:r>
              <a:rPr lang="ko-KR" altLang="en-US" sz="700" dirty="0">
                <a:latin typeface="+mn-ea"/>
              </a:rPr>
              <a:t>점</a:t>
            </a:r>
          </a:p>
          <a:p>
            <a:r>
              <a:rPr lang="en-US" altLang="ko-KR" sz="700" dirty="0">
                <a:latin typeface="+mn-ea"/>
              </a:rPr>
              <a:t>B. </a:t>
            </a:r>
            <a:r>
              <a:rPr lang="ko-KR" altLang="en-US" sz="700" dirty="0">
                <a:latin typeface="+mn-ea"/>
              </a:rPr>
              <a:t>지체상금부과일수 </a:t>
            </a:r>
            <a:r>
              <a:rPr lang="en-US" altLang="ko-KR" sz="700" dirty="0">
                <a:latin typeface="+mn-ea"/>
              </a:rPr>
              <a:t>10</a:t>
            </a:r>
            <a:r>
              <a:rPr lang="ko-KR" altLang="en-US" sz="700" dirty="0">
                <a:latin typeface="+mn-ea"/>
              </a:rPr>
              <a:t>일 이상 </a:t>
            </a:r>
            <a:r>
              <a:rPr lang="en-US" altLang="ko-KR" sz="700" dirty="0">
                <a:latin typeface="+mn-ea"/>
              </a:rPr>
              <a:t>: -1</a:t>
            </a:r>
            <a:r>
              <a:rPr lang="ko-KR" altLang="en-US" sz="700" dirty="0">
                <a:latin typeface="+mn-ea"/>
              </a:rPr>
              <a:t>점</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763578" y="43417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하자보수 처리결과</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1933656" y="5108780"/>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1011640" y="5108780"/>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16366" y="510878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18459" y="53235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18459" y="5522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2858086" y="5108780"/>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805521" y="4790076"/>
            <a:ext cx="2507485"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하자보수 통보를 받고 </a:t>
            </a:r>
            <a:r>
              <a:rPr lang="en-US" altLang="ko-KR" sz="700" dirty="0">
                <a:latin typeface="+mn-ea"/>
              </a:rPr>
              <a:t>15</a:t>
            </a:r>
            <a:r>
              <a:rPr lang="ko-KR" altLang="en-US" sz="700" dirty="0">
                <a:latin typeface="+mn-ea"/>
              </a:rPr>
              <a:t>일 이내에 착수하지 아니한 자 </a:t>
            </a:r>
            <a:r>
              <a:rPr lang="en-US" altLang="ko-KR" sz="700" dirty="0">
                <a:latin typeface="+mn-ea"/>
              </a:rPr>
              <a:t>: </a:t>
            </a:r>
          </a:p>
          <a:p>
            <a:r>
              <a:rPr lang="en-US" altLang="ko-KR" sz="700" dirty="0">
                <a:latin typeface="+mn-ea"/>
              </a:rPr>
              <a:t>-0.5</a:t>
            </a:r>
            <a:r>
              <a:rPr lang="ko-KR" altLang="en-US" sz="700" dirty="0">
                <a:latin typeface="+mn-ea"/>
              </a:rPr>
              <a:t>점</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3883913" y="149392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시공평가결과 </a:t>
            </a:r>
            <a:r>
              <a:rPr lang="en-US" altLang="ko-KR" sz="700" dirty="0">
                <a:latin typeface="+mn-ea"/>
              </a:rPr>
              <a:t>(</a:t>
            </a:r>
            <a:r>
              <a:rPr lang="ko-KR" altLang="en-US" sz="700" dirty="0">
                <a:latin typeface="+mn-ea"/>
              </a:rPr>
              <a:t>최근</a:t>
            </a:r>
            <a:r>
              <a:rPr lang="en-US" altLang="ko-KR" sz="700" dirty="0">
                <a:latin typeface="+mn-ea"/>
              </a:rPr>
              <a:t>3</a:t>
            </a:r>
            <a:r>
              <a:rPr lang="ko-KR" altLang="en-US" sz="700" dirty="0">
                <a:latin typeface="+mn-ea"/>
              </a:rPr>
              <a:t>년간</a:t>
            </a:r>
            <a:r>
              <a:rPr lang="en-US" altLang="ko-KR" sz="700" dirty="0">
                <a:latin typeface="+mn-ea"/>
              </a:rPr>
              <a:t>)</a:t>
            </a: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5053991" y="2572564"/>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131975" y="257256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836701" y="25725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8794" y="27873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8794" y="2986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5978421" y="257256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04" name="TextBox 203">
            <a:extLst>
              <a:ext uri="{FF2B5EF4-FFF2-40B4-BE49-F238E27FC236}">
                <a16:creationId xmlns:a16="http://schemas.microsoft.com/office/drawing/2014/main" id="{FFC49AEA-2A8F-250C-A86A-A7751D9706C3}"/>
              </a:ext>
            </a:extLst>
          </p:cNvPr>
          <p:cNvSpPr txBox="1"/>
          <p:nvPr/>
        </p:nvSpPr>
        <p:spPr>
          <a:xfrm>
            <a:off x="3925856" y="1942223"/>
            <a:ext cx="2507485" cy="538609"/>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평균점수가 </a:t>
            </a:r>
            <a:r>
              <a:rPr lang="en-US" altLang="ko-KR" sz="700" dirty="0">
                <a:latin typeface="+mn-ea"/>
              </a:rPr>
              <a:t>90</a:t>
            </a:r>
            <a:r>
              <a:rPr lang="ko-KR" altLang="en-US" sz="700" dirty="0">
                <a:latin typeface="+mn-ea"/>
              </a:rPr>
              <a:t>점 </a:t>
            </a:r>
            <a:r>
              <a:rPr lang="ko-KR" altLang="en-US" sz="700" dirty="0" err="1">
                <a:latin typeface="+mn-ea"/>
              </a:rPr>
              <a:t>이상인자</a:t>
            </a:r>
            <a:r>
              <a:rPr lang="ko-KR" altLang="en-US" sz="700" dirty="0">
                <a:latin typeface="+mn-ea"/>
              </a:rPr>
              <a:t> </a:t>
            </a:r>
            <a:r>
              <a:rPr lang="en-US" altLang="ko-KR" sz="700" dirty="0">
                <a:latin typeface="+mn-ea"/>
              </a:rPr>
              <a:t>: 0.6</a:t>
            </a:r>
            <a:r>
              <a:rPr lang="ko-KR" altLang="en-US" sz="700" dirty="0">
                <a:latin typeface="+mn-ea"/>
              </a:rPr>
              <a:t>점</a:t>
            </a:r>
          </a:p>
          <a:p>
            <a:r>
              <a:rPr lang="en-US" altLang="ko-KR" sz="700" dirty="0">
                <a:latin typeface="+mn-ea"/>
              </a:rPr>
              <a:t>B. </a:t>
            </a:r>
            <a:r>
              <a:rPr lang="ko-KR" altLang="en-US" sz="700" dirty="0">
                <a:latin typeface="+mn-ea"/>
              </a:rPr>
              <a:t>평균점수가 </a:t>
            </a:r>
            <a:r>
              <a:rPr lang="en-US" altLang="ko-KR" sz="700" dirty="0">
                <a:latin typeface="+mn-ea"/>
              </a:rPr>
              <a:t>85</a:t>
            </a:r>
            <a:r>
              <a:rPr lang="ko-KR" altLang="en-US" sz="700" dirty="0">
                <a:latin typeface="+mn-ea"/>
              </a:rPr>
              <a:t>점 이상 </a:t>
            </a:r>
            <a:r>
              <a:rPr lang="en-US" altLang="ko-KR" sz="700" dirty="0">
                <a:latin typeface="+mn-ea"/>
              </a:rPr>
              <a:t>90</a:t>
            </a:r>
            <a:r>
              <a:rPr lang="ko-KR" altLang="en-US" sz="700" dirty="0">
                <a:latin typeface="+mn-ea"/>
              </a:rPr>
              <a:t>점 미만인 자 </a:t>
            </a:r>
            <a:r>
              <a:rPr lang="en-US" altLang="ko-KR" sz="700" dirty="0">
                <a:latin typeface="+mn-ea"/>
              </a:rPr>
              <a:t>: 0.4</a:t>
            </a:r>
            <a:r>
              <a:rPr lang="ko-KR" altLang="en-US" sz="700" dirty="0">
                <a:latin typeface="+mn-ea"/>
              </a:rPr>
              <a:t>점</a:t>
            </a:r>
          </a:p>
          <a:p>
            <a:r>
              <a:rPr lang="en-US" altLang="ko-KR" sz="700" dirty="0">
                <a:latin typeface="+mn-ea"/>
              </a:rPr>
              <a:t>C. </a:t>
            </a:r>
            <a:r>
              <a:rPr lang="ko-KR" altLang="en-US" sz="700" dirty="0">
                <a:latin typeface="+mn-ea"/>
              </a:rPr>
              <a:t>평균점수가 </a:t>
            </a:r>
            <a:r>
              <a:rPr lang="en-US" altLang="ko-KR" sz="700" dirty="0">
                <a:latin typeface="+mn-ea"/>
              </a:rPr>
              <a:t>80</a:t>
            </a:r>
            <a:r>
              <a:rPr lang="ko-KR" altLang="en-US" sz="700" dirty="0">
                <a:latin typeface="+mn-ea"/>
              </a:rPr>
              <a:t>점 이상 </a:t>
            </a:r>
            <a:r>
              <a:rPr lang="en-US" altLang="ko-KR" sz="700" dirty="0">
                <a:latin typeface="+mn-ea"/>
              </a:rPr>
              <a:t>85</a:t>
            </a:r>
            <a:r>
              <a:rPr lang="ko-KR" altLang="en-US" sz="700" dirty="0">
                <a:latin typeface="+mn-ea"/>
              </a:rPr>
              <a:t>점 미만인 자 </a:t>
            </a:r>
            <a:r>
              <a:rPr lang="en-US" altLang="ko-KR" sz="700" dirty="0">
                <a:latin typeface="+mn-ea"/>
              </a:rPr>
              <a:t>: 0.2</a:t>
            </a:r>
            <a:r>
              <a:rPr lang="ko-KR" altLang="en-US" sz="700" dirty="0">
                <a:latin typeface="+mn-ea"/>
              </a:rPr>
              <a:t>점</a:t>
            </a:r>
          </a:p>
          <a:p>
            <a:r>
              <a:rPr lang="en-US" altLang="ko-KR" sz="700" dirty="0">
                <a:latin typeface="+mn-ea"/>
              </a:rPr>
              <a:t>D. </a:t>
            </a:r>
            <a:r>
              <a:rPr lang="ko-KR" altLang="en-US" sz="700" dirty="0">
                <a:latin typeface="+mn-ea"/>
              </a:rPr>
              <a:t>평균점수가 </a:t>
            </a:r>
            <a:r>
              <a:rPr lang="en-US" altLang="ko-KR" sz="700" dirty="0">
                <a:latin typeface="+mn-ea"/>
              </a:rPr>
              <a:t>70</a:t>
            </a:r>
            <a:r>
              <a:rPr lang="ko-KR" altLang="en-US" sz="700" dirty="0">
                <a:latin typeface="+mn-ea"/>
              </a:rPr>
              <a:t>점 이상 </a:t>
            </a:r>
            <a:r>
              <a:rPr lang="en-US" altLang="ko-KR" sz="700" dirty="0">
                <a:latin typeface="+mn-ea"/>
              </a:rPr>
              <a:t>80</a:t>
            </a:r>
            <a:r>
              <a:rPr lang="ko-KR" altLang="en-US" sz="700" dirty="0">
                <a:latin typeface="+mn-ea"/>
              </a:rPr>
              <a:t>점 미만인 자 </a:t>
            </a:r>
            <a:r>
              <a:rPr lang="en-US" altLang="ko-KR" sz="700" dirty="0">
                <a:latin typeface="+mn-ea"/>
              </a:rPr>
              <a:t>: 0</a:t>
            </a:r>
            <a:r>
              <a:rPr lang="ko-KR" altLang="en-US" sz="700" dirty="0">
                <a:latin typeface="+mn-ea"/>
              </a:rPr>
              <a:t>점</a:t>
            </a:r>
          </a:p>
          <a:p>
            <a:r>
              <a:rPr lang="en-US" altLang="ko-KR" sz="700" dirty="0">
                <a:latin typeface="+mn-ea"/>
              </a:rPr>
              <a:t>E. </a:t>
            </a:r>
            <a:r>
              <a:rPr lang="ko-KR" altLang="en-US" sz="700" dirty="0">
                <a:latin typeface="+mn-ea"/>
              </a:rPr>
              <a:t>평균점수가 </a:t>
            </a:r>
            <a:r>
              <a:rPr lang="en-US" altLang="ko-KR" sz="700" dirty="0">
                <a:latin typeface="+mn-ea"/>
              </a:rPr>
              <a:t>70</a:t>
            </a:r>
            <a:r>
              <a:rPr lang="ko-KR" altLang="en-US" sz="700" dirty="0">
                <a:latin typeface="+mn-ea"/>
              </a:rPr>
              <a:t>점 미만인 자 </a:t>
            </a:r>
            <a:r>
              <a:rPr lang="en-US" altLang="ko-KR" sz="700" dirty="0">
                <a:latin typeface="+mn-ea"/>
              </a:rPr>
              <a:t>: -1</a:t>
            </a:r>
            <a:r>
              <a:rPr lang="ko-KR" altLang="en-US" sz="700" dirty="0">
                <a:latin typeface="+mn-ea"/>
              </a:rPr>
              <a:t>점</a:t>
            </a:r>
          </a:p>
        </p:txBody>
      </p:sp>
      <p:sp>
        <p:nvSpPr>
          <p:cNvPr id="205" name="TextBox 204">
            <a:extLst>
              <a:ext uri="{FF2B5EF4-FFF2-40B4-BE49-F238E27FC236}">
                <a16:creationId xmlns:a16="http://schemas.microsoft.com/office/drawing/2014/main" id="{FFC49AEA-2A8F-250C-A86A-A7751D9706C3}"/>
              </a:ext>
            </a:extLst>
          </p:cNvPr>
          <p:cNvSpPr txBox="1"/>
          <p:nvPr/>
        </p:nvSpPr>
        <p:spPr>
          <a:xfrm>
            <a:off x="3883913" y="3048686"/>
            <a:ext cx="2535669" cy="396583"/>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우수건설업자 지정</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207" name="TextBox 206">
            <a:extLst>
              <a:ext uri="{FF2B5EF4-FFF2-40B4-BE49-F238E27FC236}">
                <a16:creationId xmlns:a16="http://schemas.microsoft.com/office/drawing/2014/main" id="{FFC49AEA-2A8F-250C-A86A-A7751D9706C3}"/>
              </a:ext>
            </a:extLst>
          </p:cNvPr>
          <p:cNvSpPr txBox="1"/>
          <p:nvPr/>
        </p:nvSpPr>
        <p:spPr>
          <a:xfrm>
            <a:off x="5053991" y="4127323"/>
            <a:ext cx="179536" cy="396583"/>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4131975" y="412732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209" name="직선 연결선 208">
            <a:extLst>
              <a:ext uri="{FF2B5EF4-FFF2-40B4-BE49-F238E27FC236}">
                <a16:creationId xmlns:a16="http://schemas.microsoft.com/office/drawing/2014/main" id="{E9293055-D5CD-4B9E-7F64-64B2D2CA7A52}"/>
              </a:ext>
            </a:extLst>
          </p:cNvPr>
          <p:cNvCxnSpPr/>
          <p:nvPr/>
        </p:nvCxnSpPr>
        <p:spPr>
          <a:xfrm>
            <a:off x="3836701" y="41273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8794" y="43420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8794" y="45413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5978421" y="412732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496982"/>
            <a:ext cx="2507485" cy="538609"/>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중앙관서의 장</a:t>
            </a:r>
            <a:r>
              <a:rPr lang="en-US" altLang="ko-KR" sz="700" dirty="0">
                <a:latin typeface="+mn-ea"/>
              </a:rPr>
              <a:t>, </a:t>
            </a:r>
            <a:r>
              <a:rPr lang="ko-KR" altLang="en-US" sz="700" dirty="0">
                <a:latin typeface="+mn-ea"/>
              </a:rPr>
              <a:t>광역시</a:t>
            </a:r>
            <a:r>
              <a:rPr lang="en-US" altLang="ko-KR" sz="700" dirty="0">
                <a:latin typeface="+mn-ea"/>
              </a:rPr>
              <a:t>, </a:t>
            </a:r>
            <a:r>
              <a:rPr lang="ko-KR" altLang="en-US" sz="700" dirty="0">
                <a:latin typeface="+mn-ea"/>
              </a:rPr>
              <a:t>도의 장으로부터 지정 받은 자 </a:t>
            </a:r>
            <a:r>
              <a:rPr lang="en-US" altLang="ko-KR" sz="700" dirty="0">
                <a:latin typeface="+mn-ea"/>
              </a:rPr>
              <a:t>: 0.4</a:t>
            </a:r>
            <a:r>
              <a:rPr lang="ko-KR" altLang="en-US" sz="700" dirty="0">
                <a:latin typeface="+mn-ea"/>
              </a:rPr>
              <a:t>점</a:t>
            </a:r>
          </a:p>
          <a:p>
            <a:r>
              <a:rPr lang="en-US" altLang="ko-KR" sz="700" dirty="0">
                <a:latin typeface="+mn-ea"/>
              </a:rPr>
              <a:t>B. </a:t>
            </a:r>
            <a:r>
              <a:rPr lang="ko-KR" altLang="en-US" sz="700" dirty="0">
                <a:latin typeface="+mn-ea"/>
              </a:rPr>
              <a:t>중앙관서의 장</a:t>
            </a:r>
            <a:r>
              <a:rPr lang="en-US" altLang="ko-KR" sz="700" dirty="0">
                <a:latin typeface="+mn-ea"/>
              </a:rPr>
              <a:t>, </a:t>
            </a:r>
            <a:r>
              <a:rPr lang="ko-KR" altLang="en-US" sz="700" dirty="0">
                <a:latin typeface="+mn-ea"/>
              </a:rPr>
              <a:t>광역시</a:t>
            </a:r>
            <a:r>
              <a:rPr lang="en-US" altLang="ko-KR" sz="700" dirty="0">
                <a:latin typeface="+mn-ea"/>
              </a:rPr>
              <a:t>, </a:t>
            </a:r>
            <a:r>
              <a:rPr lang="ko-KR" altLang="en-US" sz="700" dirty="0">
                <a:latin typeface="+mn-ea"/>
              </a:rPr>
              <a:t>도의 장 이외의 국가기관 또는 지방자치단체의 장으로부터 지정 받은 자 </a:t>
            </a:r>
            <a:r>
              <a:rPr lang="en-US" altLang="ko-KR" sz="700" dirty="0">
                <a:latin typeface="+mn-ea"/>
              </a:rPr>
              <a:t>: 0.2</a:t>
            </a:r>
            <a:r>
              <a:rPr lang="ko-KR" altLang="en-US" sz="700" dirty="0">
                <a:latin typeface="+mn-ea"/>
              </a:rPr>
              <a:t>점</a:t>
            </a:r>
          </a:p>
          <a:p>
            <a:r>
              <a:rPr lang="en-US" altLang="ko-KR" sz="700" dirty="0">
                <a:latin typeface="+mn-ea"/>
              </a:rPr>
              <a:t>C. </a:t>
            </a:r>
            <a:r>
              <a:rPr lang="ko-KR" altLang="en-US" sz="700" dirty="0">
                <a:latin typeface="+mn-ea"/>
              </a:rPr>
              <a:t>정부투자기관의 장으로부터 지정 받은 자 </a:t>
            </a:r>
            <a:r>
              <a:rPr lang="en-US" altLang="ko-KR" sz="700" dirty="0">
                <a:latin typeface="+mn-ea"/>
              </a:rPr>
              <a:t>: 0.1</a:t>
            </a:r>
            <a:r>
              <a:rPr lang="ko-KR" altLang="en-US" sz="700" dirty="0">
                <a:latin typeface="+mn-ea"/>
              </a:rPr>
              <a:t>점</a:t>
            </a:r>
          </a:p>
        </p:txBody>
      </p:sp>
      <p:sp>
        <p:nvSpPr>
          <p:cNvPr id="214" name="TextBox 213">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5" name="TextBox 21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62" name="타원 6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28546791"/>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- 3</a:t>
            </a:r>
            <a:r>
              <a:rPr lang="ko-KR" altLang="en-US" dirty="0"/>
              <a:t>억원미만공사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3</a:t>
            </a:r>
            <a:r>
              <a:rPr lang="ko-KR" altLang="en-US" dirty="0"/>
              <a:t>억원미만공사일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MUI-BD-10-T19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950953" cy="215444"/>
          </a:xfrm>
          <a:prstGeom prst="rect">
            <a:avLst/>
          </a:prstGeom>
          <a:noFill/>
        </p:spPr>
        <p:txBody>
          <a:bodyPr wrap="square" lIns="0" tIns="0" rIns="0" bIns="0" rtlCol="0">
            <a:spAutoFit/>
          </a:bodyPr>
          <a:lstStyle/>
          <a:p>
            <a:pPr>
              <a:lnSpc>
                <a:spcPct val="200000"/>
              </a:lnSpc>
            </a:pPr>
            <a:r>
              <a:rPr lang="ko-KR" altLang="en-US" sz="700" dirty="0">
                <a:latin typeface="+mn-ea"/>
              </a:rPr>
              <a:t>기타 당해 </a:t>
            </a:r>
            <a:r>
              <a:rPr lang="ko-KR" altLang="en-US" sz="700" dirty="0" err="1">
                <a:latin typeface="+mn-ea"/>
              </a:rPr>
              <a:t>공사수행</a:t>
            </a:r>
            <a:r>
              <a:rPr lang="ko-KR" altLang="en-US" sz="700" dirty="0">
                <a:latin typeface="+mn-ea"/>
              </a:rPr>
              <a:t> 관련 </a:t>
            </a:r>
            <a:r>
              <a:rPr lang="ko-KR" altLang="en-US" sz="700" dirty="0" err="1">
                <a:latin typeface="+mn-ea"/>
              </a:rPr>
              <a:t>결격여부</a:t>
            </a:r>
            <a:r>
              <a:rPr lang="ko-KR" altLang="en-US" sz="700" dirty="0">
                <a:latin typeface="+mn-ea"/>
              </a:rPr>
              <a:t> </a:t>
            </a:r>
            <a:r>
              <a:rPr lang="en-US" altLang="ko-KR" sz="700" dirty="0">
                <a:latin typeface="+mn-ea"/>
              </a:rPr>
              <a:t>(-10</a:t>
            </a:r>
            <a:r>
              <a:rPr lang="ko-KR" altLang="en-US" sz="700" dirty="0">
                <a:latin typeface="+mn-ea"/>
              </a:rPr>
              <a:t>점</a:t>
            </a:r>
            <a:r>
              <a:rPr lang="en-US" altLang="ko-KR" sz="700" dirty="0">
                <a:latin typeface="+mn-ea"/>
              </a:rPr>
              <a:t>)</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직사각형 117"/>
          <p:cNvSpPr/>
          <p:nvPr/>
        </p:nvSpPr>
        <p:spPr>
          <a:xfrm>
            <a:off x="718458" y="1890587"/>
            <a:ext cx="1639886" cy="286252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5521" y="189058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기술능력 평가등급 </a:t>
            </a:r>
            <a:r>
              <a:rPr lang="en-US" altLang="ko-KR" sz="700" dirty="0">
                <a:latin typeface="+mn-ea"/>
              </a:rPr>
              <a:t>(</a:t>
            </a:r>
            <a:r>
              <a:rPr lang="ko-KR" altLang="en-US" sz="700" dirty="0">
                <a:latin typeface="+mn-ea"/>
              </a:rPr>
              <a:t>건설업 등록기준</a:t>
            </a:r>
            <a:r>
              <a:rPr lang="en-US" altLang="ko-KR" sz="700" dirty="0">
                <a:latin typeface="+mn-ea"/>
              </a:rPr>
              <a:t>)</a:t>
            </a:r>
            <a:endParaRPr lang="ko-KR" altLang="en-US" sz="700" dirty="0">
              <a:latin typeface="+mn-ea"/>
            </a:endParaRP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6366" y="189058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18459" y="2105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8459" y="47531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133470" y="18905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결과</a:t>
            </a:r>
            <a:endParaRPr lang="en-US" altLang="ko-KR" sz="700" dirty="0">
              <a:latin typeface="+mn-ea"/>
            </a:endParaRPr>
          </a:p>
        </p:txBody>
      </p:sp>
      <p:sp>
        <p:nvSpPr>
          <p:cNvPr id="60" name="TextBox 59">
            <a:extLst>
              <a:ext uri="{FF2B5EF4-FFF2-40B4-BE49-F238E27FC236}">
                <a16:creationId xmlns:a16="http://schemas.microsoft.com/office/drawing/2014/main" id="{FFC49AEA-2A8F-250C-A86A-A7751D9706C3}"/>
              </a:ext>
            </a:extLst>
          </p:cNvPr>
          <p:cNvSpPr txBox="1"/>
          <p:nvPr/>
        </p:nvSpPr>
        <p:spPr>
          <a:xfrm>
            <a:off x="805522" y="2151647"/>
            <a:ext cx="1480198"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업종 </a:t>
            </a:r>
            <a:r>
              <a:rPr lang="en-US" altLang="ko-KR" sz="700" dirty="0">
                <a:latin typeface="+mn-ea"/>
              </a:rPr>
              <a:t>: </a:t>
            </a:r>
            <a:r>
              <a:rPr lang="ko-KR" altLang="en-US" sz="700" dirty="0" err="1">
                <a:latin typeface="+mn-ea"/>
              </a:rPr>
              <a:t>건축공사업</a:t>
            </a:r>
            <a:endParaRPr lang="ko-KR" altLang="en-US" sz="700" dirty="0">
              <a:latin typeface="+mn-ea"/>
            </a:endParaRPr>
          </a:p>
          <a:p>
            <a:endParaRPr lang="en-US" altLang="ko-KR" sz="700" dirty="0">
              <a:latin typeface="+mn-ea"/>
            </a:endParaRPr>
          </a:p>
          <a:p>
            <a:r>
              <a:rPr lang="en-US" altLang="ko-KR" sz="700" dirty="0">
                <a:latin typeface="+mn-ea"/>
              </a:rPr>
              <a:t>A. </a:t>
            </a:r>
            <a:r>
              <a:rPr lang="ko-KR" altLang="en-US" sz="700" dirty="0">
                <a:latin typeface="+mn-ea"/>
              </a:rPr>
              <a:t>건설기술관리법에 의한 건축기사 또는 건축분야의 </a:t>
            </a:r>
            <a:r>
              <a:rPr lang="ko-KR" altLang="en-US" sz="700" dirty="0" err="1">
                <a:latin typeface="+mn-ea"/>
              </a:rPr>
              <a:t>중급기술자</a:t>
            </a:r>
            <a:r>
              <a:rPr lang="ko-KR" altLang="en-US" sz="700" dirty="0">
                <a:latin typeface="+mn-ea"/>
              </a:rPr>
              <a:t> 이상인 자 중 </a:t>
            </a:r>
            <a:r>
              <a:rPr lang="en-US" altLang="ko-KR" sz="700" dirty="0">
                <a:latin typeface="+mn-ea"/>
              </a:rPr>
              <a:t>2</a:t>
            </a:r>
            <a:r>
              <a:rPr lang="ko-KR" altLang="en-US" sz="700" dirty="0">
                <a:latin typeface="+mn-ea"/>
              </a:rPr>
              <a:t>인을 포함한 건축분야 건설기술자 </a:t>
            </a:r>
            <a:r>
              <a:rPr lang="en-US" altLang="ko-KR" sz="700" dirty="0">
                <a:latin typeface="+mn-ea"/>
              </a:rPr>
              <a:t>5</a:t>
            </a:r>
            <a:r>
              <a:rPr lang="ko-KR" altLang="en-US" sz="700" dirty="0">
                <a:latin typeface="+mn-ea"/>
              </a:rPr>
              <a:t>인 이상</a:t>
            </a:r>
          </a:p>
        </p:txBody>
      </p:sp>
      <p:sp>
        <p:nvSpPr>
          <p:cNvPr id="61" name="TextBox 60">
            <a:extLst>
              <a:ext uri="{FF2B5EF4-FFF2-40B4-BE49-F238E27FC236}">
                <a16:creationId xmlns:a16="http://schemas.microsoft.com/office/drawing/2014/main" id="{FFC49AEA-2A8F-250C-A86A-A7751D9706C3}"/>
              </a:ext>
            </a:extLst>
          </p:cNvPr>
          <p:cNvSpPr txBox="1"/>
          <p:nvPr/>
        </p:nvSpPr>
        <p:spPr>
          <a:xfrm>
            <a:off x="3276137" y="33753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2" name="직선 연결선 61">
            <a:extLst>
              <a:ext uri="{FF2B5EF4-FFF2-40B4-BE49-F238E27FC236}">
                <a16:creationId xmlns:a16="http://schemas.microsoft.com/office/drawing/2014/main" id="{E9293055-D5CD-4B9E-7F64-64B2D2CA7A52}"/>
              </a:ext>
            </a:extLst>
          </p:cNvPr>
          <p:cNvCxnSpPr/>
          <p:nvPr/>
        </p:nvCxnSpPr>
        <p:spPr>
          <a:xfrm>
            <a:off x="718459" y="2844296"/>
            <a:ext cx="163988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6" name="TextBox 65">
            <a:extLst>
              <a:ext uri="{FF2B5EF4-FFF2-40B4-BE49-F238E27FC236}">
                <a16:creationId xmlns:a16="http://schemas.microsoft.com/office/drawing/2014/main" id="{FFC49AEA-2A8F-250C-A86A-A7751D9706C3}"/>
              </a:ext>
            </a:extLst>
          </p:cNvPr>
          <p:cNvSpPr txBox="1"/>
          <p:nvPr/>
        </p:nvSpPr>
        <p:spPr>
          <a:xfrm>
            <a:off x="805522" y="2890614"/>
            <a:ext cx="1480198"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업종 </a:t>
            </a:r>
            <a:r>
              <a:rPr lang="en-US" altLang="ko-KR" sz="700" dirty="0">
                <a:latin typeface="+mn-ea"/>
              </a:rPr>
              <a:t>: </a:t>
            </a:r>
            <a:r>
              <a:rPr lang="ko-KR" altLang="en-US" sz="700" dirty="0" err="1">
                <a:latin typeface="+mn-ea"/>
              </a:rPr>
              <a:t>토목공사업</a:t>
            </a:r>
            <a:endParaRPr lang="ko-KR" altLang="en-US" sz="700" dirty="0">
              <a:latin typeface="+mn-ea"/>
            </a:endParaRPr>
          </a:p>
          <a:p>
            <a:endParaRPr lang="en-US" altLang="ko-KR" sz="700" dirty="0">
              <a:latin typeface="+mn-ea"/>
            </a:endParaRPr>
          </a:p>
          <a:p>
            <a:r>
              <a:rPr lang="en-US" altLang="ko-KR" sz="700" dirty="0">
                <a:latin typeface="+mn-ea"/>
              </a:rPr>
              <a:t>A. </a:t>
            </a:r>
            <a:r>
              <a:rPr lang="ko-KR" altLang="en-US" sz="700" dirty="0">
                <a:latin typeface="+mn-ea"/>
              </a:rPr>
              <a:t>건설기술관리법에 의한 토목기사 또는 </a:t>
            </a:r>
            <a:r>
              <a:rPr lang="ko-KR" altLang="en-US" sz="700" dirty="0" err="1">
                <a:latin typeface="+mn-ea"/>
              </a:rPr>
              <a:t>토목분야의</a:t>
            </a:r>
            <a:r>
              <a:rPr lang="ko-KR" altLang="en-US" sz="700" dirty="0">
                <a:latin typeface="+mn-ea"/>
              </a:rPr>
              <a:t> </a:t>
            </a:r>
            <a:r>
              <a:rPr lang="ko-KR" altLang="en-US" sz="700" dirty="0" err="1">
                <a:latin typeface="+mn-ea"/>
              </a:rPr>
              <a:t>중급기술자</a:t>
            </a:r>
            <a:r>
              <a:rPr lang="ko-KR" altLang="en-US" sz="700" dirty="0">
                <a:latin typeface="+mn-ea"/>
              </a:rPr>
              <a:t> 이상인 자 중 </a:t>
            </a:r>
            <a:r>
              <a:rPr lang="en-US" altLang="ko-KR" sz="700" dirty="0">
                <a:latin typeface="+mn-ea"/>
              </a:rPr>
              <a:t>2</a:t>
            </a:r>
            <a:r>
              <a:rPr lang="ko-KR" altLang="en-US" sz="700" dirty="0">
                <a:latin typeface="+mn-ea"/>
              </a:rPr>
              <a:t>인을 포함한 </a:t>
            </a:r>
            <a:r>
              <a:rPr lang="ko-KR" altLang="en-US" sz="700" dirty="0" err="1">
                <a:latin typeface="+mn-ea"/>
              </a:rPr>
              <a:t>토목분야</a:t>
            </a:r>
            <a:r>
              <a:rPr lang="ko-KR" altLang="en-US" sz="700" dirty="0">
                <a:latin typeface="+mn-ea"/>
              </a:rPr>
              <a:t> 건설기술자 </a:t>
            </a:r>
            <a:r>
              <a:rPr lang="en-US" altLang="ko-KR" sz="700" dirty="0">
                <a:latin typeface="+mn-ea"/>
              </a:rPr>
              <a:t>6</a:t>
            </a:r>
            <a:r>
              <a:rPr lang="ko-KR" altLang="en-US" sz="700" dirty="0">
                <a:latin typeface="+mn-ea"/>
              </a:rPr>
              <a:t>인 이상</a:t>
            </a:r>
          </a:p>
        </p:txBody>
      </p:sp>
      <p:cxnSp>
        <p:nvCxnSpPr>
          <p:cNvPr id="67" name="직선 연결선 66">
            <a:extLst>
              <a:ext uri="{FF2B5EF4-FFF2-40B4-BE49-F238E27FC236}">
                <a16:creationId xmlns:a16="http://schemas.microsoft.com/office/drawing/2014/main" id="{E9293055-D5CD-4B9E-7F64-64B2D2CA7A52}"/>
              </a:ext>
            </a:extLst>
          </p:cNvPr>
          <p:cNvCxnSpPr/>
          <p:nvPr/>
        </p:nvCxnSpPr>
        <p:spPr>
          <a:xfrm>
            <a:off x="718459" y="3583263"/>
            <a:ext cx="163988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8" name="TextBox 67">
            <a:extLst>
              <a:ext uri="{FF2B5EF4-FFF2-40B4-BE49-F238E27FC236}">
                <a16:creationId xmlns:a16="http://schemas.microsoft.com/office/drawing/2014/main" id="{FFC49AEA-2A8F-250C-A86A-A7751D9706C3}"/>
              </a:ext>
            </a:extLst>
          </p:cNvPr>
          <p:cNvSpPr txBox="1"/>
          <p:nvPr/>
        </p:nvSpPr>
        <p:spPr>
          <a:xfrm>
            <a:off x="805522" y="3629581"/>
            <a:ext cx="1480198" cy="1077218"/>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업종 </a:t>
            </a:r>
            <a:r>
              <a:rPr lang="en-US" altLang="ko-KR" sz="700" dirty="0">
                <a:latin typeface="+mn-ea"/>
              </a:rPr>
              <a:t>: </a:t>
            </a:r>
            <a:r>
              <a:rPr lang="ko-KR" altLang="en-US" sz="700" dirty="0">
                <a:latin typeface="+mn-ea"/>
              </a:rPr>
              <a:t>토목건축공사업</a:t>
            </a:r>
          </a:p>
          <a:p>
            <a:endParaRPr lang="en-US" altLang="ko-KR" sz="700" dirty="0">
              <a:latin typeface="+mn-ea"/>
            </a:endParaRPr>
          </a:p>
          <a:p>
            <a:r>
              <a:rPr lang="en-US" altLang="ko-KR" sz="700" dirty="0">
                <a:latin typeface="+mn-ea"/>
              </a:rPr>
              <a:t>1. </a:t>
            </a:r>
            <a:r>
              <a:rPr lang="ko-KR" altLang="en-US" sz="700" dirty="0">
                <a:latin typeface="+mn-ea"/>
              </a:rPr>
              <a:t>건설기술관리법에 의한 건축기사 또는 건축분야의 </a:t>
            </a:r>
            <a:r>
              <a:rPr lang="ko-KR" altLang="en-US" sz="700" dirty="0" err="1">
                <a:latin typeface="+mn-ea"/>
              </a:rPr>
              <a:t>중급기술자</a:t>
            </a:r>
            <a:r>
              <a:rPr lang="ko-KR" altLang="en-US" sz="700" dirty="0">
                <a:latin typeface="+mn-ea"/>
              </a:rPr>
              <a:t> 이상인 자 중 </a:t>
            </a:r>
            <a:r>
              <a:rPr lang="en-US" altLang="ko-KR" sz="700" dirty="0">
                <a:latin typeface="+mn-ea"/>
              </a:rPr>
              <a:t>1</a:t>
            </a:r>
            <a:r>
              <a:rPr lang="ko-KR" altLang="en-US" sz="700" dirty="0">
                <a:latin typeface="+mn-ea"/>
              </a:rPr>
              <a:t>인을 포함한 건축분야 건설기술자 </a:t>
            </a:r>
            <a:r>
              <a:rPr lang="en-US" altLang="ko-KR" sz="700" dirty="0">
                <a:latin typeface="+mn-ea"/>
              </a:rPr>
              <a:t>5</a:t>
            </a:r>
            <a:r>
              <a:rPr lang="ko-KR" altLang="en-US" sz="700" dirty="0">
                <a:latin typeface="+mn-ea"/>
              </a:rPr>
              <a:t>인 이상</a:t>
            </a:r>
          </a:p>
          <a:p>
            <a:r>
              <a:rPr lang="en-US" altLang="ko-KR" sz="700" dirty="0">
                <a:latin typeface="+mn-ea"/>
              </a:rPr>
              <a:t>2. </a:t>
            </a:r>
            <a:r>
              <a:rPr lang="ko-KR" altLang="en-US" sz="700" dirty="0">
                <a:latin typeface="+mn-ea"/>
              </a:rPr>
              <a:t>건설기술관리법에 의한 토목기사 또는 </a:t>
            </a:r>
            <a:r>
              <a:rPr lang="ko-KR" altLang="en-US" sz="700" dirty="0" err="1">
                <a:latin typeface="+mn-ea"/>
              </a:rPr>
              <a:t>토목분야의</a:t>
            </a:r>
            <a:r>
              <a:rPr lang="ko-KR" altLang="en-US" sz="700" dirty="0">
                <a:latin typeface="+mn-ea"/>
              </a:rPr>
              <a:t> </a:t>
            </a:r>
            <a:r>
              <a:rPr lang="ko-KR" altLang="en-US" sz="700" dirty="0" err="1">
                <a:latin typeface="+mn-ea"/>
              </a:rPr>
              <a:t>중급기술자</a:t>
            </a:r>
            <a:r>
              <a:rPr lang="ko-KR" altLang="en-US" sz="700" dirty="0">
                <a:latin typeface="+mn-ea"/>
              </a:rPr>
              <a:t> 이상인 자 중 </a:t>
            </a:r>
            <a:r>
              <a:rPr lang="en-US" altLang="ko-KR" sz="700" dirty="0">
                <a:latin typeface="+mn-ea"/>
              </a:rPr>
              <a:t>1</a:t>
            </a:r>
            <a:r>
              <a:rPr lang="ko-KR" altLang="en-US" sz="700" dirty="0">
                <a:latin typeface="+mn-ea"/>
              </a:rPr>
              <a:t>인을 포함한 </a:t>
            </a:r>
            <a:r>
              <a:rPr lang="ko-KR" altLang="en-US" sz="700" dirty="0" err="1">
                <a:latin typeface="+mn-ea"/>
              </a:rPr>
              <a:t>토목분야</a:t>
            </a:r>
            <a:r>
              <a:rPr lang="ko-KR" altLang="en-US" sz="700" dirty="0">
                <a:latin typeface="+mn-ea"/>
              </a:rPr>
              <a:t> 건설기술자 </a:t>
            </a:r>
            <a:r>
              <a:rPr lang="en-US" altLang="ko-KR" sz="700" dirty="0">
                <a:latin typeface="+mn-ea"/>
              </a:rPr>
              <a:t>5</a:t>
            </a:r>
            <a:r>
              <a:rPr lang="ko-KR" altLang="en-US" sz="700" dirty="0">
                <a:latin typeface="+mn-ea"/>
              </a:rPr>
              <a:t>인 이상</a:t>
            </a:r>
          </a:p>
        </p:txBody>
      </p:sp>
      <p:sp>
        <p:nvSpPr>
          <p:cNvPr id="26" name="타원 2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0106160"/>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경영상태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특별신인도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평점</a:t>
                      </a:r>
                      <a:r>
                        <a:rPr lang="en-US" altLang="ko-KR" sz="800" dirty="0">
                          <a:latin typeface="+mn-ea"/>
                          <a:ea typeface="+mn-ea"/>
                        </a:rPr>
                        <a:t> </a:t>
                      </a:r>
                      <a:r>
                        <a:rPr lang="ko-KR" altLang="en-US" sz="800" dirty="0">
                          <a:latin typeface="+mn-ea"/>
                          <a:ea typeface="+mn-ea"/>
                        </a:rPr>
                        <a:t>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err="1">
                          <a:latin typeface="+mn-ea"/>
                          <a:ea typeface="+mn-ea"/>
                        </a:rPr>
                        <a:t>기타결격여부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기타결격여부</a:t>
                      </a:r>
                      <a:r>
                        <a:rPr lang="ko-KR" altLang="en-US" sz="800" dirty="0">
                          <a:latin typeface="+mn-ea"/>
                          <a:ea typeface="+mn-ea"/>
                        </a:rPr>
                        <a:t> 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2595729"/>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경영상태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2879483"/>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부채총계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tlbltAmt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부채총계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자기자본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eqcptlAmt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a:t>
                      </a:r>
                      <a:r>
                        <a:rPr lang="ko-KR" altLang="en-US" sz="800" dirty="0" err="1">
                          <a:latin typeface="+mn-ea"/>
                          <a:ea typeface="+mn-ea"/>
                        </a:rPr>
                        <a:t>부채비율</a:t>
                      </a:r>
                      <a:r>
                        <a:rPr lang="ko-KR" altLang="en-US" sz="800" dirty="0">
                          <a:latin typeface="+mn-ea"/>
                          <a:ea typeface="+mn-ea"/>
                        </a:rPr>
                        <a:t> 자기자본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r h="0">
                <a:tc>
                  <a:txBody>
                    <a:bodyPr/>
                    <a:lstStyle/>
                    <a:p>
                      <a:pPr latinLnBrk="1"/>
                      <a:r>
                        <a:rPr lang="ko-KR" altLang="en-US" sz="800" dirty="0">
                          <a:latin typeface="+mn-ea"/>
                          <a:ea typeface="+mn-ea"/>
                        </a:rPr>
                        <a:t>해당업체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bzentyLbltRt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해당업체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1259264"/>
                  </a:ext>
                </a:extLst>
              </a:tr>
              <a:tr h="0">
                <a:tc>
                  <a:txBody>
                    <a:bodyPr/>
                    <a:lstStyle/>
                    <a:p>
                      <a:pPr latinLnBrk="1"/>
                      <a:r>
                        <a:rPr lang="ko-KR" altLang="en-US" sz="800" dirty="0">
                          <a:latin typeface="+mn-ea"/>
                          <a:ea typeface="+mn-ea"/>
                        </a:rPr>
                        <a:t>업체평균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tpbizAvgLbltRt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업체평균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4753183"/>
                  </a:ext>
                </a:extLst>
              </a:tr>
              <a:tr h="0">
                <a:tc>
                  <a:txBody>
                    <a:bodyPr/>
                    <a:lstStyle/>
                    <a:p>
                      <a:pPr latinLnBrk="1"/>
                      <a:r>
                        <a:rPr lang="ko-KR" altLang="en-US" sz="800" dirty="0">
                          <a:latin typeface="+mn-ea"/>
                          <a:ea typeface="+mn-ea"/>
                        </a:rPr>
                        <a:t>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lbltRt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459453"/>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lbltRtGdcd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42920"/>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lbltRtExmgrdScr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9382"/>
                  </a:ext>
                </a:extLst>
              </a:tr>
              <a:tr h="0">
                <a:tc>
                  <a:txBody>
                    <a:bodyPr/>
                    <a:lstStyle/>
                    <a:p>
                      <a:pPr latinLnBrk="1"/>
                      <a:r>
                        <a:rPr lang="ko-KR" altLang="en-US" sz="800" dirty="0">
                          <a:latin typeface="+mn-ea"/>
                          <a:ea typeface="+mn-ea"/>
                        </a:rPr>
                        <a:t>유동자산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crastAmt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유동자산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5559650"/>
                  </a:ext>
                </a:extLst>
              </a:tr>
              <a:tr h="0">
                <a:tc>
                  <a:txBody>
                    <a:bodyPr/>
                    <a:lstStyle/>
                    <a:p>
                      <a:pPr latinLnBrk="1"/>
                      <a:r>
                        <a:rPr lang="ko-KR" altLang="en-US" sz="800" dirty="0">
                          <a:latin typeface="+mn-ea"/>
                          <a:ea typeface="+mn-ea"/>
                        </a:rPr>
                        <a:t>유동부채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crlblAmt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유동부채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017"/>
                  </a:ext>
                </a:extLst>
              </a:tr>
              <a:tr h="0">
                <a:tc>
                  <a:txBody>
                    <a:bodyPr/>
                    <a:lstStyle/>
                    <a:p>
                      <a:pPr latinLnBrk="1"/>
                      <a:r>
                        <a:rPr lang="ko-KR" altLang="en-US" sz="800" dirty="0">
                          <a:latin typeface="+mn-ea"/>
                          <a:ea typeface="+mn-ea"/>
                        </a:rPr>
                        <a:t>해당업체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해당업체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8996331"/>
                  </a:ext>
                </a:extLst>
              </a:tr>
              <a:tr h="0">
                <a:tc>
                  <a:txBody>
                    <a:bodyPr/>
                    <a:lstStyle/>
                    <a:p>
                      <a:pPr latinLnBrk="1"/>
                      <a:r>
                        <a:rPr lang="ko-KR" altLang="en-US" sz="800" dirty="0">
                          <a:latin typeface="+mn-ea"/>
                          <a:ea typeface="+mn-ea"/>
                        </a:rPr>
                        <a:t>업체평균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tpbizAvgCrrt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업체평균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274164"/>
                  </a:ext>
                </a:extLst>
              </a:tr>
              <a:tr h="0">
                <a:tc>
                  <a:txBody>
                    <a:bodyPr/>
                    <a:lstStyle/>
                    <a:p>
                      <a:pPr latinLnBrk="1"/>
                      <a:r>
                        <a:rPr lang="ko-KR" altLang="en-US" sz="800" dirty="0">
                          <a:latin typeface="+mn-ea"/>
                          <a:ea typeface="+mn-ea"/>
                        </a:rPr>
                        <a:t>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672799"/>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crrtGrdNm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0672615"/>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7362446"/>
                  </a:ext>
                </a:extLst>
              </a:tr>
              <a:tr h="0">
                <a:tc>
                  <a:txBody>
                    <a:bodyPr/>
                    <a:lstStyle/>
                    <a:p>
                      <a:pPr latinLnBrk="1"/>
                      <a:r>
                        <a:rPr lang="ko-KR" altLang="en-US" sz="800" dirty="0">
                          <a:latin typeface="+mn-ea"/>
                          <a:ea typeface="+mn-ea"/>
                        </a:rPr>
                        <a:t>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6853367"/>
                  </a:ext>
                </a:extLst>
              </a:tr>
            </a:tbl>
          </a:graphicData>
        </a:graphic>
      </p:graphicFrame>
      <p:sp>
        <p:nvSpPr>
          <p:cNvPr id="5" name="Text Box 73">
            <a:extLst>
              <a:ext uri="{FF2B5EF4-FFF2-40B4-BE49-F238E27FC236}">
                <a16:creationId xmlns:a16="http://schemas.microsoft.com/office/drawing/2014/main" id="{56B39E34-BE27-82D8-5BF7-77AA0C9E46C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3655237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24309"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특별 신인도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시공실적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지체상금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하자보수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dfrpExmgrdScr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하자보수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시공평가결과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우수업체지정</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exlnBzentyDsgnExmgrdScr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우수업체지정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합계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5" name="TextBox 4">
            <a:extLst>
              <a:ext uri="{FF2B5EF4-FFF2-40B4-BE49-F238E27FC236}">
                <a16:creationId xmlns:a16="http://schemas.microsoft.com/office/drawing/2014/main" id="{4C52D3E8-4ADB-E44B-D662-1382002BC780}"/>
              </a:ext>
            </a:extLst>
          </p:cNvPr>
          <p:cNvSpPr txBox="1"/>
          <p:nvPr/>
        </p:nvSpPr>
        <p:spPr>
          <a:xfrm>
            <a:off x="460676" y="2674659"/>
            <a:ext cx="2499650"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입찰가격점수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F59BEE52-2063-913B-F6AC-5219E2F7DD69}"/>
              </a:ext>
            </a:extLst>
          </p:cNvPr>
          <p:cNvGraphicFramePr>
            <a:graphicFrameLocks noGrp="1"/>
          </p:cNvGraphicFramePr>
          <p:nvPr/>
        </p:nvGraphicFramePr>
        <p:xfrm>
          <a:off x="455558" y="2958413"/>
          <a:ext cx="8993242"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err="1">
                          <a:latin typeface="+mn-ea"/>
                          <a:ea typeface="+mn-ea"/>
                        </a:rPr>
                        <a:t>입찰률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7" name="TextBox 6">
            <a:extLst>
              <a:ext uri="{FF2B5EF4-FFF2-40B4-BE49-F238E27FC236}">
                <a16:creationId xmlns:a16="http://schemas.microsoft.com/office/drawing/2014/main" id="{E271BBCA-F7D6-837F-35D5-F8B3BE0BA4A4}"/>
              </a:ext>
            </a:extLst>
          </p:cNvPr>
          <p:cNvSpPr txBox="1"/>
          <p:nvPr/>
        </p:nvSpPr>
        <p:spPr>
          <a:xfrm>
            <a:off x="458117" y="4067938"/>
            <a:ext cx="2885974"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특별신인도 세부내용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5D97C224-1090-C2F5-2972-97F170A94955}"/>
              </a:ext>
            </a:extLst>
          </p:cNvPr>
          <p:cNvGraphicFramePr>
            <a:graphicFrameLocks noGrp="1"/>
          </p:cNvGraphicFramePr>
          <p:nvPr/>
        </p:nvGraphicFramePr>
        <p:xfrm>
          <a:off x="452999" y="4351692"/>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cnstPrfmncRsltAmt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년간 시공실적 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년간 시공실적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년간 시공실적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lqdmgDayCnt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부과여부 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부과여부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6835720"/>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부과여부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4844170"/>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dfrpGrdNm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하자보수 처리결과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8180497"/>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dfrpExmgrdScr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하자보수 처리결과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4130366"/>
                  </a:ext>
                </a:extLst>
              </a:tr>
            </a:tbl>
          </a:graphicData>
        </a:graphic>
      </p:graphicFrame>
      <p:sp>
        <p:nvSpPr>
          <p:cNvPr id="2" name="TextBox 1">
            <a:extLst>
              <a:ext uri="{FF2B5EF4-FFF2-40B4-BE49-F238E27FC236}">
                <a16:creationId xmlns:a16="http://schemas.microsoft.com/office/drawing/2014/main" id="{32D647F8-2999-8650-541F-CBB04BB040E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22CFDCCA-1C9F-9FA2-A00A-D12DCC937D4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91100650"/>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375</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07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 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exlnBzentyDsgnGrdNm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우수건설업 등급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exlnBzentyDsgnExmgrdScr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우수건설업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A88EFD12-BBE8-3D84-0ED8-DF1E9B7E4A79}"/>
              </a:ext>
            </a:extLst>
          </p:cNvPr>
          <p:cNvSpPr txBox="1"/>
          <p:nvPr/>
        </p:nvSpPr>
        <p:spPr>
          <a:xfrm>
            <a:off x="460676" y="2709488"/>
            <a:ext cx="358328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기타 당해 공사수행 관련 결격여부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AD7B7287-4EE4-E0C9-8130-6F4BD62D8643}"/>
              </a:ext>
            </a:extLst>
          </p:cNvPr>
          <p:cNvGraphicFramePr>
            <a:graphicFrameLocks noGrp="1"/>
          </p:cNvGraphicFramePr>
          <p:nvPr/>
        </p:nvGraphicFramePr>
        <p:xfrm>
          <a:off x="455558" y="2993242"/>
          <a:ext cx="8993242"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기타 당해 공사수행 관련 결격여부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당해 공사수행 관련 결격여부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Box 4">
            <a:extLst>
              <a:ext uri="{FF2B5EF4-FFF2-40B4-BE49-F238E27FC236}">
                <a16:creationId xmlns:a16="http://schemas.microsoft.com/office/drawing/2014/main" id="{F70E1FD4-840C-55A4-803C-DC02E642D6F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DAFB187A-F50F-EE0C-8EF3-0055844CF16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458294205"/>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376</a:t>
            </a:fld>
            <a:endParaRPr lang="ko-KR" altLang="en-US" dirty="0"/>
          </a:p>
        </p:txBody>
      </p:sp>
      <p:sp>
        <p:nvSpPr>
          <p:cNvPr id="9" name="TextBox 8">
            <a:extLst>
              <a:ext uri="{FF2B5EF4-FFF2-40B4-BE49-F238E27FC236}">
                <a16:creationId xmlns:a16="http://schemas.microsoft.com/office/drawing/2014/main" id="{EA6EFC45-14C8-402B-98EA-6EF920BDEC7D}"/>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0" name="표 9">
            <a:extLst>
              <a:ext uri="{FF2B5EF4-FFF2-40B4-BE49-F238E27FC236}">
                <a16:creationId xmlns:a16="http://schemas.microsoft.com/office/drawing/2014/main" id="{FA74296B-B0BD-4E10-4485-2DDC0EC97EB2}"/>
              </a:ext>
            </a:extLst>
          </p:cNvPr>
          <p:cNvGraphicFramePr>
            <a:graphicFrameLocks noGrp="1"/>
          </p:cNvGraphicFramePr>
          <p:nvPr>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6" name="Text Box 73">
            <a:extLst>
              <a:ext uri="{FF2B5EF4-FFF2-40B4-BE49-F238E27FC236}">
                <a16:creationId xmlns:a16="http://schemas.microsoft.com/office/drawing/2014/main" id="{64B4B8AB-3290-A2BE-A130-4DEC1008175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1520394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MUI-BD-10-T20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716366" y="1896436"/>
            <a:ext cx="2630093" cy="1447916"/>
            <a:chOff x="3830405" y="2555584"/>
            <a:chExt cx="2630093" cy="1447916"/>
          </a:xfrm>
        </p:grpSpPr>
        <p:sp>
          <p:nvSpPr>
            <p:cNvPr id="39" name="직사각형 38"/>
            <p:cNvSpPr/>
            <p:nvPr/>
          </p:nvSpPr>
          <p:spPr>
            <a:xfrm>
              <a:off x="3832497" y="2555584"/>
              <a:ext cx="1639886" cy="14479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FFC49AEA-2A8F-250C-A86A-A7751D9706C3}"/>
                </a:ext>
              </a:extLst>
            </p:cNvPr>
            <p:cNvSpPr txBox="1"/>
            <p:nvPr/>
          </p:nvSpPr>
          <p:spPr>
            <a:xfrm>
              <a:off x="3919560"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항목</a:t>
              </a:r>
              <a:endParaRPr lang="en-US" altLang="ko-KR" sz="700" dirty="0">
                <a:latin typeface="+mn-ea"/>
              </a:endParaRPr>
            </a:p>
          </p:txBody>
        </p:sp>
        <p:sp>
          <p:nvSpPr>
            <p:cNvPr id="41" name="TextBox 40">
              <a:extLst>
                <a:ext uri="{FF2B5EF4-FFF2-40B4-BE49-F238E27FC236}">
                  <a16:creationId xmlns:a16="http://schemas.microsoft.com/office/drawing/2014/main" id="{FFC49AEA-2A8F-250C-A86A-A7751D9706C3}"/>
                </a:ext>
              </a:extLst>
            </p:cNvPr>
            <p:cNvSpPr txBox="1"/>
            <p:nvPr/>
          </p:nvSpPr>
          <p:spPr>
            <a:xfrm>
              <a:off x="5647602"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42" name="직선 연결선 41">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3" name="직선 연결선 42">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4" name="직선 연결선 43">
              <a:extLst>
                <a:ext uri="{FF2B5EF4-FFF2-40B4-BE49-F238E27FC236}">
                  <a16:creationId xmlns:a16="http://schemas.microsoft.com/office/drawing/2014/main" id="{E9293055-D5CD-4B9E-7F64-64B2D2CA7A52}"/>
                </a:ext>
              </a:extLst>
            </p:cNvPr>
            <p:cNvCxnSpPr/>
            <p:nvPr/>
          </p:nvCxnSpPr>
          <p:spPr>
            <a:xfrm>
              <a:off x="3832498" y="333805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7" name="TextBox 46">
              <a:extLst>
                <a:ext uri="{FF2B5EF4-FFF2-40B4-BE49-F238E27FC236}">
                  <a16:creationId xmlns:a16="http://schemas.microsoft.com/office/drawing/2014/main" id="{FFC49AEA-2A8F-250C-A86A-A7751D9706C3}"/>
                </a:ext>
              </a:extLst>
            </p:cNvPr>
            <p:cNvSpPr txBox="1"/>
            <p:nvPr/>
          </p:nvSpPr>
          <p:spPr>
            <a:xfrm>
              <a:off x="6247509"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48" name="TextBox 47">
              <a:extLst>
                <a:ext uri="{FF2B5EF4-FFF2-40B4-BE49-F238E27FC236}">
                  <a16:creationId xmlns:a16="http://schemas.microsoft.com/office/drawing/2014/main" id="{FFC49AEA-2A8F-250C-A86A-A7751D9706C3}"/>
                </a:ext>
              </a:extLst>
            </p:cNvPr>
            <p:cNvSpPr txBox="1"/>
            <p:nvPr/>
          </p:nvSpPr>
          <p:spPr>
            <a:xfrm>
              <a:off x="3919560" y="2845534"/>
              <a:ext cx="1480199" cy="430887"/>
            </a:xfrm>
            <a:prstGeom prst="rect">
              <a:avLst/>
            </a:prstGeom>
            <a:noFill/>
          </p:spPr>
          <p:txBody>
            <a:bodyPr wrap="square" lIns="0" tIns="0" rIns="0" bIns="0" rtlCol="0">
              <a:spAutoFit/>
            </a:bodyPr>
            <a:lstStyle/>
            <a:p>
              <a:r>
                <a:rPr lang="ko-KR" altLang="en-US" sz="700" dirty="0" err="1">
                  <a:latin typeface="+mn-ea"/>
                </a:rPr>
                <a:t>당해공사</a:t>
              </a:r>
              <a:r>
                <a:rPr lang="ko-KR" altLang="en-US" sz="700" dirty="0">
                  <a:latin typeface="+mn-ea"/>
                </a:rPr>
                <a:t> 수행능력</a:t>
              </a:r>
              <a:endParaRPr lang="en-US" altLang="ko-KR" sz="700" dirty="0">
                <a:latin typeface="+mn-ea"/>
              </a:endParaRPr>
            </a:p>
            <a:p>
              <a:r>
                <a:rPr lang="en-US" altLang="ko-KR" sz="700" dirty="0">
                  <a:latin typeface="+mn-ea"/>
                </a:rPr>
                <a:t>- </a:t>
              </a:r>
              <a:r>
                <a:rPr lang="ko-KR" altLang="en-US" sz="700" dirty="0">
                  <a:latin typeface="+mn-ea"/>
                </a:rPr>
                <a:t>경영상태</a:t>
              </a:r>
              <a:endParaRPr lang="en-US" altLang="ko-KR" sz="700" dirty="0">
                <a:latin typeface="+mn-ea"/>
              </a:endParaRPr>
            </a:p>
            <a:p>
              <a:r>
                <a:rPr lang="en-US" altLang="ko-KR" sz="700" dirty="0">
                  <a:latin typeface="+mn-ea"/>
                </a:rPr>
                <a:t>- </a:t>
              </a:r>
              <a:r>
                <a:rPr lang="ko-KR" altLang="en-US" sz="700" dirty="0" err="1">
                  <a:latin typeface="+mn-ea"/>
                </a:rPr>
                <a:t>특별신인도</a:t>
              </a:r>
              <a:endParaRPr lang="en-US" altLang="ko-KR" sz="700" dirty="0">
                <a:latin typeface="+mn-ea"/>
              </a:endParaRPr>
            </a:p>
            <a:p>
              <a:r>
                <a:rPr lang="en-US" altLang="ko-KR" sz="700" dirty="0">
                  <a:latin typeface="+mn-ea"/>
                </a:rPr>
                <a:t>- </a:t>
              </a:r>
              <a:r>
                <a:rPr lang="ko-KR" altLang="en-US" sz="700" dirty="0">
                  <a:latin typeface="+mn-ea"/>
                </a:rPr>
                <a:t>소계</a:t>
              </a:r>
            </a:p>
          </p:txBody>
        </p:sp>
        <p:sp>
          <p:nvSpPr>
            <p:cNvPr id="49" name="TextBox 48">
              <a:extLst>
                <a:ext uri="{FF2B5EF4-FFF2-40B4-BE49-F238E27FC236}">
                  <a16:creationId xmlns:a16="http://schemas.microsoft.com/office/drawing/2014/main" id="{FFC49AEA-2A8F-250C-A86A-A7751D9706C3}"/>
                </a:ext>
              </a:extLst>
            </p:cNvPr>
            <p:cNvSpPr txBox="1"/>
            <p:nvPr/>
          </p:nvSpPr>
          <p:spPr>
            <a:xfrm>
              <a:off x="5658822" y="2953256"/>
              <a:ext cx="168316" cy="323165"/>
            </a:xfrm>
            <a:prstGeom prst="rect">
              <a:avLst/>
            </a:prstGeom>
            <a:noFill/>
          </p:spPr>
          <p:txBody>
            <a:bodyPr wrap="none" lIns="0" tIns="0" rIns="0" bIns="0" rtlCol="0">
              <a:spAutoFit/>
            </a:bodyPr>
            <a:lstStyle/>
            <a:p>
              <a:pPr algn="r"/>
              <a:r>
                <a:rPr lang="en-US" altLang="ko-KR" sz="700" dirty="0">
                  <a:latin typeface="+mn-ea"/>
                </a:rPr>
                <a:t>10.0</a:t>
              </a:r>
            </a:p>
            <a:p>
              <a:pPr algn="r"/>
              <a:r>
                <a:rPr lang="en-US" altLang="ko-KR" sz="700" dirty="0">
                  <a:latin typeface="+mn-ea"/>
                </a:rPr>
                <a:t>2.0</a:t>
              </a:r>
            </a:p>
            <a:p>
              <a:pPr algn="r"/>
              <a:r>
                <a:rPr lang="en-US" altLang="ko-KR" sz="700" dirty="0">
                  <a:latin typeface="+mn-ea"/>
                </a:rPr>
                <a:t>10.0</a:t>
              </a:r>
              <a:endParaRPr lang="ko-KR" altLang="en-US" sz="700" dirty="0">
                <a:latin typeface="+mn-ea"/>
              </a:endParaRPr>
            </a:p>
          </p:txBody>
        </p:sp>
        <p:sp>
          <p:nvSpPr>
            <p:cNvPr id="61" name="TextBox 60">
              <a:extLst>
                <a:ext uri="{FF2B5EF4-FFF2-40B4-BE49-F238E27FC236}">
                  <a16:creationId xmlns:a16="http://schemas.microsoft.com/office/drawing/2014/main" id="{FFC49AEA-2A8F-250C-A86A-A7751D9706C3}"/>
                </a:ext>
              </a:extLst>
            </p:cNvPr>
            <p:cNvSpPr txBox="1"/>
            <p:nvPr/>
          </p:nvSpPr>
          <p:spPr>
            <a:xfrm>
              <a:off x="6390176" y="30071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4" name="직선 연결선 63">
              <a:extLst>
                <a:ext uri="{FF2B5EF4-FFF2-40B4-BE49-F238E27FC236}">
                  <a16:creationId xmlns:a16="http://schemas.microsoft.com/office/drawing/2014/main" id="{E9293055-D5CD-4B9E-7F64-64B2D2CA7A52}"/>
                </a:ext>
              </a:extLst>
            </p:cNvPr>
            <p:cNvCxnSpPr/>
            <p:nvPr/>
          </p:nvCxnSpPr>
          <p:spPr>
            <a:xfrm>
              <a:off x="3832498" y="35563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3919560" y="3393165"/>
              <a:ext cx="1480199" cy="107722"/>
            </a:xfrm>
            <a:prstGeom prst="rect">
              <a:avLst/>
            </a:prstGeom>
            <a:noFill/>
          </p:spPr>
          <p:txBody>
            <a:bodyPr wrap="square" lIns="0" tIns="0" rIns="0" bIns="0" rtlCol="0">
              <a:spAutoFit/>
            </a:bodyPr>
            <a:lstStyle/>
            <a:p>
              <a:r>
                <a:rPr lang="ko-KR" altLang="en-US" sz="700" dirty="0">
                  <a:latin typeface="+mn-ea"/>
                </a:rPr>
                <a:t>입찰가격</a:t>
              </a:r>
            </a:p>
          </p:txBody>
        </p:sp>
        <p:sp>
          <p:nvSpPr>
            <p:cNvPr id="66" name="TextBox 65">
              <a:extLst>
                <a:ext uri="{FF2B5EF4-FFF2-40B4-BE49-F238E27FC236}">
                  <a16:creationId xmlns:a16="http://schemas.microsoft.com/office/drawing/2014/main" id="{FFC49AEA-2A8F-250C-A86A-A7751D9706C3}"/>
                </a:ext>
              </a:extLst>
            </p:cNvPr>
            <p:cNvSpPr txBox="1"/>
            <p:nvPr/>
          </p:nvSpPr>
          <p:spPr>
            <a:xfrm>
              <a:off x="5658822" y="3393165"/>
              <a:ext cx="168316" cy="107722"/>
            </a:xfrm>
            <a:prstGeom prst="rect">
              <a:avLst/>
            </a:prstGeom>
            <a:noFill/>
          </p:spPr>
          <p:txBody>
            <a:bodyPr wrap="none" lIns="0" tIns="0" rIns="0" bIns="0" rtlCol="0">
              <a:spAutoFit/>
            </a:bodyPr>
            <a:lstStyle/>
            <a:p>
              <a:pPr algn="r"/>
              <a:r>
                <a:rPr lang="en-US" altLang="ko-KR" sz="700" dirty="0">
                  <a:latin typeface="+mn-ea"/>
                </a:rPr>
                <a:t>90.0</a:t>
              </a:r>
              <a:endParaRPr lang="ko-KR" altLang="en-US" sz="700"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6390176" y="33931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3832498" y="3782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3919560" y="3618819"/>
              <a:ext cx="1480199" cy="107722"/>
            </a:xfrm>
            <a:prstGeom prst="rect">
              <a:avLst/>
            </a:prstGeom>
            <a:noFill/>
          </p:spPr>
          <p:txBody>
            <a:bodyPr wrap="square" lIns="0" tIns="0" rIns="0" bIns="0" rtlCol="0">
              <a:spAutoFit/>
            </a:bodyPr>
            <a:lstStyle/>
            <a:p>
              <a:r>
                <a:rPr lang="ko-KR" altLang="en-US" sz="700" dirty="0">
                  <a:latin typeface="+mn-ea"/>
                </a:rPr>
                <a:t>기타결격여부</a:t>
              </a:r>
            </a:p>
          </p:txBody>
        </p:sp>
        <p:sp>
          <p:nvSpPr>
            <p:cNvPr id="70" name="TextBox 69">
              <a:extLst>
                <a:ext uri="{FF2B5EF4-FFF2-40B4-BE49-F238E27FC236}">
                  <a16:creationId xmlns:a16="http://schemas.microsoft.com/office/drawing/2014/main" id="{FFC49AEA-2A8F-250C-A86A-A7751D9706C3}"/>
                </a:ext>
              </a:extLst>
            </p:cNvPr>
            <p:cNvSpPr txBox="1"/>
            <p:nvPr/>
          </p:nvSpPr>
          <p:spPr>
            <a:xfrm>
              <a:off x="5621953" y="3618819"/>
              <a:ext cx="205185" cy="107722"/>
            </a:xfrm>
            <a:prstGeom prst="rect">
              <a:avLst/>
            </a:prstGeom>
            <a:noFill/>
          </p:spPr>
          <p:txBody>
            <a:bodyPr wrap="none" lIns="0" tIns="0" rIns="0" bIns="0" rtlCol="0">
              <a:spAutoFit/>
            </a:bodyPr>
            <a:lstStyle/>
            <a:p>
              <a:pPr algn="r"/>
              <a:r>
                <a:rPr lang="en-US" altLang="ko-KR" sz="700" dirty="0">
                  <a:latin typeface="+mn-ea"/>
                </a:rPr>
                <a:t>-25.0</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6390176" y="36188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72" name="직선 연결선 71">
              <a:extLst>
                <a:ext uri="{FF2B5EF4-FFF2-40B4-BE49-F238E27FC236}">
                  <a16:creationId xmlns:a16="http://schemas.microsoft.com/office/drawing/2014/main" id="{E9293055-D5CD-4B9E-7F64-64B2D2CA7A52}"/>
                </a:ext>
              </a:extLst>
            </p:cNvPr>
            <p:cNvCxnSpPr/>
            <p:nvPr/>
          </p:nvCxnSpPr>
          <p:spPr>
            <a:xfrm>
              <a:off x="3832498" y="40035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3" name="TextBox 72">
              <a:extLst>
                <a:ext uri="{FF2B5EF4-FFF2-40B4-BE49-F238E27FC236}">
                  <a16:creationId xmlns:a16="http://schemas.microsoft.com/office/drawing/2014/main" id="{FFC49AEA-2A8F-250C-A86A-A7751D9706C3}"/>
                </a:ext>
              </a:extLst>
            </p:cNvPr>
            <p:cNvSpPr txBox="1"/>
            <p:nvPr/>
          </p:nvSpPr>
          <p:spPr>
            <a:xfrm>
              <a:off x="3919560" y="3840311"/>
              <a:ext cx="1480199" cy="107722"/>
            </a:xfrm>
            <a:prstGeom prst="rect">
              <a:avLst/>
            </a:prstGeom>
            <a:noFill/>
          </p:spPr>
          <p:txBody>
            <a:bodyPr wrap="square" lIns="0" tIns="0" rIns="0" bIns="0" rtlCol="0">
              <a:spAutoFit/>
            </a:bodyPr>
            <a:lstStyle/>
            <a:p>
              <a:r>
                <a:rPr lang="ko-KR" altLang="en-US" sz="700" dirty="0">
                  <a:latin typeface="+mn-ea"/>
                </a:rPr>
                <a:t>총계</a:t>
              </a:r>
            </a:p>
          </p:txBody>
        </p:sp>
        <p:sp>
          <p:nvSpPr>
            <p:cNvPr id="74" name="TextBox 73">
              <a:extLst>
                <a:ext uri="{FF2B5EF4-FFF2-40B4-BE49-F238E27FC236}">
                  <a16:creationId xmlns:a16="http://schemas.microsoft.com/office/drawing/2014/main" id="{FFC49AEA-2A8F-250C-A86A-A7751D9706C3}"/>
                </a:ext>
              </a:extLst>
            </p:cNvPr>
            <p:cNvSpPr txBox="1"/>
            <p:nvPr/>
          </p:nvSpPr>
          <p:spPr>
            <a:xfrm>
              <a:off x="5678058" y="3840311"/>
              <a:ext cx="149080"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5" name="TextBox 74">
              <a:extLst>
                <a:ext uri="{FF2B5EF4-FFF2-40B4-BE49-F238E27FC236}">
                  <a16:creationId xmlns:a16="http://schemas.microsoft.com/office/drawing/2014/main" id="{FFC49AEA-2A8F-250C-A86A-A7751D9706C3}"/>
                </a:ext>
              </a:extLst>
            </p:cNvPr>
            <p:cNvSpPr txBox="1"/>
            <p:nvPr/>
          </p:nvSpPr>
          <p:spPr>
            <a:xfrm>
              <a:off x="6390176" y="384031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675400" y="342261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2" name="TextBox 151">
            <a:extLst>
              <a:ext uri="{FF2B5EF4-FFF2-40B4-BE49-F238E27FC236}">
                <a16:creationId xmlns:a16="http://schemas.microsoft.com/office/drawing/2014/main" id="{FFC49AEA-2A8F-250C-A86A-A7751D9706C3}"/>
              </a:ext>
            </a:extLst>
          </p:cNvPr>
          <p:cNvSpPr txBox="1"/>
          <p:nvPr/>
        </p:nvSpPr>
        <p:spPr>
          <a:xfrm>
            <a:off x="3883823" y="1513866"/>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입찰가격점수</a:t>
            </a:r>
          </a:p>
        </p:txBody>
      </p:sp>
      <p:grpSp>
        <p:nvGrpSpPr>
          <p:cNvPr id="153" name="그룹 152"/>
          <p:cNvGrpSpPr/>
          <p:nvPr/>
        </p:nvGrpSpPr>
        <p:grpSpPr>
          <a:xfrm flipV="1">
            <a:off x="6245910" y="1627197"/>
            <a:ext cx="94010" cy="47005"/>
            <a:chOff x="6812560" y="3297172"/>
            <a:chExt cx="94010" cy="47005"/>
          </a:xfrm>
        </p:grpSpPr>
        <p:cxnSp>
          <p:nvCxnSpPr>
            <p:cNvPr id="154" name="직선 연결선 15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18006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40136" y="1864792"/>
            <a:ext cx="792000" cy="15282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27198" y="2285253"/>
            <a:ext cx="754231" cy="430887"/>
          </a:xfrm>
          <a:prstGeom prst="rect">
            <a:avLst/>
          </a:prstGeom>
          <a:noFill/>
        </p:spPr>
        <p:txBody>
          <a:bodyPr wrap="square" lIns="0" tIns="0" rIns="0" bIns="0" rtlCol="0">
            <a:spAutoFit/>
          </a:bodyPr>
          <a:lstStyle/>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예정가격</a:t>
            </a:r>
            <a:endParaRPr lang="en-US" altLang="ko-KR"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4684048" y="2285253"/>
            <a:ext cx="1775839" cy="430887"/>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38043" y="18647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3840136" y="2513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3840136" y="27277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3840136" y="31573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3840136" y="3393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3840136" y="2289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3932343" y="2032838"/>
            <a:ext cx="952980" cy="107722"/>
          </a:xfrm>
          <a:prstGeom prst="rect">
            <a:avLst/>
          </a:prstGeom>
          <a:noFill/>
        </p:spPr>
        <p:txBody>
          <a:bodyPr wrap="square" lIns="0" tIns="0" rIns="0" bIns="0" rtlCol="0">
            <a:spAutoFit/>
          </a:bodyPr>
          <a:lstStyle/>
          <a:p>
            <a:r>
              <a:rPr lang="ko-KR" altLang="en-US" sz="700" dirty="0">
                <a:latin typeface="+mn-ea"/>
              </a:rPr>
              <a:t>가격점수산식</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4681429" y="1936658"/>
            <a:ext cx="1758398" cy="300082"/>
          </a:xfrm>
          <a:prstGeom prst="rect">
            <a:avLst/>
          </a:prstGeom>
          <a:noFill/>
        </p:spPr>
        <p:txBody>
          <a:bodyPr wrap="square" lIns="0" tIns="0" rIns="0" bIns="0" rtlCol="0">
            <a:spAutoFit/>
          </a:bodyPr>
          <a:lstStyle/>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90 – 20 X {(88/100 – </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 X 100}</a:t>
            </a:r>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3797076" y="345710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3927198" y="2796995"/>
            <a:ext cx="754231" cy="323165"/>
          </a:xfrm>
          <a:prstGeom prst="rect">
            <a:avLst/>
          </a:prstGeom>
          <a:noFill/>
        </p:spPr>
        <p:txBody>
          <a:bodyPr wrap="square" lIns="0" tIns="0" rIns="0" bIns="0" rtlCol="0">
            <a:spAutoFit/>
          </a:bodyPr>
          <a:lstStyle/>
          <a:p>
            <a:r>
              <a:rPr lang="ko-KR" altLang="en-US" sz="700" dirty="0" err="1">
                <a:latin typeface="+mn-ea"/>
              </a:rPr>
              <a:t>입찰률</a:t>
            </a:r>
            <a:endParaRPr lang="en-US" altLang="ko-KR" sz="700" dirty="0">
              <a:latin typeface="+mn-ea"/>
            </a:endParaRPr>
          </a:p>
          <a:p>
            <a:r>
              <a:rPr lang="en-US" altLang="ko-KR" sz="650" dirty="0">
                <a:latin typeface="+mn-ea"/>
              </a:rPr>
              <a:t>(</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a:t>
            </a:r>
            <a:r>
              <a:rPr lang="en-US" altLang="ko-KR" sz="700" dirty="0">
                <a:latin typeface="+mn-ea"/>
              </a:rPr>
              <a:t> (%)</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3927198" y="3220641"/>
            <a:ext cx="754231" cy="107722"/>
          </a:xfrm>
          <a:prstGeom prst="rect">
            <a:avLst/>
          </a:prstGeom>
          <a:noFill/>
        </p:spPr>
        <p:txBody>
          <a:bodyPr wrap="square" lIns="0" tIns="0" rIns="0" bIns="0" rtlCol="0">
            <a:spAutoFit/>
          </a:bodyPr>
          <a:lstStyle/>
          <a:p>
            <a:r>
              <a:rPr lang="ko-KR" altLang="en-US" sz="700" dirty="0">
                <a:latin typeface="+mn-ea"/>
              </a:rPr>
              <a:t>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4684048" y="2904716"/>
            <a:ext cx="1775839" cy="107722"/>
          </a:xfrm>
          <a:prstGeom prst="rect">
            <a:avLst/>
          </a:prstGeom>
          <a:noFill/>
        </p:spPr>
        <p:txBody>
          <a:bodyPr wrap="square" lIns="0" tIns="0" rIns="0" bIns="0" rtlCol="0">
            <a:spAutoFit/>
          </a:bodyPr>
          <a:lstStyle/>
          <a:p>
            <a:pPr algn="r"/>
            <a:r>
              <a:rPr lang="en-US" altLang="ko-KR" sz="700" dirty="0">
                <a:latin typeface="+mn-ea"/>
              </a:rPr>
              <a:t>00 %</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4684048" y="3220641"/>
            <a:ext cx="1775839" cy="107722"/>
          </a:xfrm>
          <a:prstGeom prst="rect">
            <a:avLst/>
          </a:prstGeom>
          <a:noFill/>
        </p:spPr>
        <p:txBody>
          <a:bodyPr wrap="square" lIns="0" tIns="0" rIns="0" bIns="0" rtlCol="0">
            <a:spAutoFit/>
          </a:bodyPr>
          <a:lstStyle/>
          <a:p>
            <a:pPr algn="r"/>
            <a:r>
              <a:rPr lang="en-US" altLang="ko-KR" sz="700" dirty="0">
                <a:latin typeface="+mn-ea"/>
              </a:rPr>
              <a:t>00</a:t>
            </a:r>
          </a:p>
        </p:txBody>
      </p:sp>
      <p:sp>
        <p:nvSpPr>
          <p:cNvPr id="148" name="직사각형 147"/>
          <p:cNvSpPr/>
          <p:nvPr/>
        </p:nvSpPr>
        <p:spPr>
          <a:xfrm>
            <a:off x="718458" y="4035587"/>
            <a:ext cx="1639886" cy="43439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TextBox 156">
            <a:extLst>
              <a:ext uri="{FF2B5EF4-FFF2-40B4-BE49-F238E27FC236}">
                <a16:creationId xmlns:a16="http://schemas.microsoft.com/office/drawing/2014/main" id="{FFC49AEA-2A8F-250C-A86A-A7751D9706C3}"/>
              </a:ext>
            </a:extLst>
          </p:cNvPr>
          <p:cNvSpPr txBox="1"/>
          <p:nvPr/>
        </p:nvSpPr>
        <p:spPr>
          <a:xfrm>
            <a:off x="805521" y="40355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회사채</a:t>
            </a:r>
            <a:r>
              <a:rPr lang="en-US" altLang="ko-KR" sz="700" dirty="0">
                <a:latin typeface="+mn-ea"/>
              </a:rPr>
              <a:t>,</a:t>
            </a:r>
            <a:r>
              <a:rPr lang="ko-KR" altLang="en-US" sz="700" dirty="0">
                <a:latin typeface="+mn-ea"/>
              </a:rPr>
              <a:t>기업신용평가</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2533563" y="403558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등급</a:t>
            </a:r>
            <a:endParaRPr lang="en-US" altLang="ko-KR" sz="700" dirty="0">
              <a:latin typeface="+mn-ea"/>
            </a:endParaRPr>
          </a:p>
        </p:txBody>
      </p:sp>
      <p:cxnSp>
        <p:nvCxnSpPr>
          <p:cNvPr id="162" name="직선 연결선 161">
            <a:extLst>
              <a:ext uri="{FF2B5EF4-FFF2-40B4-BE49-F238E27FC236}">
                <a16:creationId xmlns:a16="http://schemas.microsoft.com/office/drawing/2014/main" id="{E9293055-D5CD-4B9E-7F64-64B2D2CA7A52}"/>
              </a:ext>
            </a:extLst>
          </p:cNvPr>
          <p:cNvCxnSpPr/>
          <p:nvPr/>
        </p:nvCxnSpPr>
        <p:spPr>
          <a:xfrm>
            <a:off x="716366" y="40355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18459" y="42503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18459" y="44699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77337" y="374847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기타</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3133470" y="403558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2" name="직선 연결선 181">
            <a:extLst>
              <a:ext uri="{FF2B5EF4-FFF2-40B4-BE49-F238E27FC236}">
                <a16:creationId xmlns:a16="http://schemas.microsoft.com/office/drawing/2014/main" id="{E9293055-D5CD-4B9E-7F64-64B2D2CA7A52}"/>
              </a:ext>
            </a:extLst>
          </p:cNvPr>
          <p:cNvCxnSpPr/>
          <p:nvPr/>
        </p:nvCxnSpPr>
        <p:spPr>
          <a:xfrm>
            <a:off x="676741" y="478414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3" name="TextBox 182">
            <a:extLst>
              <a:ext uri="{FF2B5EF4-FFF2-40B4-BE49-F238E27FC236}">
                <a16:creationId xmlns:a16="http://schemas.microsoft.com/office/drawing/2014/main" id="{FFC49AEA-2A8F-250C-A86A-A7751D9706C3}"/>
              </a:ext>
            </a:extLst>
          </p:cNvPr>
          <p:cNvSpPr txBox="1"/>
          <p:nvPr/>
        </p:nvSpPr>
        <p:spPr>
          <a:xfrm>
            <a:off x="763487" y="4510578"/>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비고 내용 표시 </a:t>
            </a:r>
            <a:r>
              <a:rPr lang="en-US" altLang="ko-KR" sz="700" dirty="0">
                <a:latin typeface="+mn-ea"/>
              </a:rPr>
              <a:t>/ </a:t>
            </a:r>
            <a:r>
              <a:rPr lang="ko-KR" altLang="en-US" sz="700" dirty="0">
                <a:latin typeface="+mn-ea"/>
              </a:rPr>
              <a:t>비고가 없는 경우 라인 숨김</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762146" y="3450434"/>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신용평가</a:t>
            </a:r>
            <a:r>
              <a:rPr lang="en-US" altLang="ko-KR" sz="700" dirty="0">
                <a:latin typeface="+mn-ea"/>
              </a:rPr>
              <a:t>(10</a:t>
            </a:r>
            <a:r>
              <a:rPr lang="ko-KR" altLang="en-US" sz="700" dirty="0">
                <a:latin typeface="+mn-ea"/>
              </a:rPr>
              <a:t>점</a:t>
            </a:r>
            <a:r>
              <a:rPr lang="en-US" altLang="ko-KR" sz="700" dirty="0">
                <a:latin typeface="+mn-ea"/>
              </a:rPr>
              <a:t>)</a:t>
            </a:r>
            <a:endParaRPr lang="ko-KR" altLang="en-US" sz="700" dirty="0">
              <a:latin typeface="+mn-ea"/>
            </a:endParaRPr>
          </a:p>
        </p:txBody>
      </p:sp>
      <p:grpSp>
        <p:nvGrpSpPr>
          <p:cNvPr id="185" name="그룹 184"/>
          <p:cNvGrpSpPr/>
          <p:nvPr/>
        </p:nvGrpSpPr>
        <p:grpSpPr>
          <a:xfrm flipV="1">
            <a:off x="3124233" y="3563765"/>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88" name="직선 연결선 187">
            <a:extLst>
              <a:ext uri="{FF2B5EF4-FFF2-40B4-BE49-F238E27FC236}">
                <a16:creationId xmlns:a16="http://schemas.microsoft.com/office/drawing/2014/main" id="{E9293055-D5CD-4B9E-7F64-64B2D2CA7A52}"/>
              </a:ext>
            </a:extLst>
          </p:cNvPr>
          <p:cNvCxnSpPr/>
          <p:nvPr/>
        </p:nvCxnSpPr>
        <p:spPr>
          <a:xfrm>
            <a:off x="675400" y="3724549"/>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 name="그룹 7"/>
          <p:cNvGrpSpPr/>
          <p:nvPr/>
        </p:nvGrpSpPr>
        <p:grpSpPr>
          <a:xfrm>
            <a:off x="3795735" y="3476383"/>
            <a:ext cx="2712026" cy="1537585"/>
            <a:chOff x="675400" y="1527996"/>
            <a:chExt cx="2712026" cy="1537585"/>
          </a:xfrm>
        </p:grpSpPr>
        <p:sp>
          <p:nvSpPr>
            <p:cNvPr id="189" name="직사각형 188"/>
            <p:cNvSpPr/>
            <p:nvPr/>
          </p:nvSpPr>
          <p:spPr>
            <a:xfrm>
              <a:off x="722610" y="2637466"/>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특별신인도</a:t>
              </a:r>
              <a:r>
                <a:rPr lang="ko-KR" altLang="en-US" sz="700" dirty="0">
                  <a:latin typeface="+mn-ea"/>
                </a:rPr>
                <a:t> 세부내용</a:t>
              </a:r>
            </a:p>
          </p:txBody>
        </p:sp>
        <p:grpSp>
          <p:nvGrpSpPr>
            <p:cNvPr id="191" name="그룹 190"/>
            <p:cNvGrpSpPr/>
            <p:nvPr/>
          </p:nvGrpSpPr>
          <p:grpSpPr>
            <a:xfrm flipV="1">
              <a:off x="3124233" y="1641327"/>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4" name="직선 연결선 193">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763578" y="186769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3</a:t>
              </a:r>
              <a:r>
                <a:rPr lang="ko-KR" altLang="en-US" sz="700" dirty="0">
                  <a:latin typeface="+mn-ea"/>
                </a:rPr>
                <a:t>년간 </a:t>
              </a:r>
              <a:r>
                <a:rPr lang="ko-KR" altLang="en-US" sz="700" dirty="0" err="1">
                  <a:latin typeface="+mn-ea"/>
                </a:rPr>
                <a:t>시공실적</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1933656" y="2634694"/>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1011640"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98" name="직선 연결선 197">
              <a:extLst>
                <a:ext uri="{FF2B5EF4-FFF2-40B4-BE49-F238E27FC236}">
                  <a16:creationId xmlns:a16="http://schemas.microsoft.com/office/drawing/2014/main" id="{E9293055-D5CD-4B9E-7F64-64B2D2CA7A52}"/>
                </a:ext>
              </a:extLst>
            </p:cNvPr>
            <p:cNvCxnSpPr/>
            <p:nvPr/>
          </p:nvCxnSpPr>
          <p:spPr>
            <a:xfrm>
              <a:off x="716366" y="26346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18459" y="2849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18459" y="30486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2858086"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805521" y="2315990"/>
              <a:ext cx="2507485" cy="215444"/>
            </a:xfrm>
            <a:prstGeom prst="rect">
              <a:avLst/>
            </a:prstGeom>
            <a:noFill/>
          </p:spPr>
          <p:txBody>
            <a:bodyPr wrap="square" lIns="0" tIns="0" rIns="0" bIns="0" rtlCol="0">
              <a:spAutoFit/>
            </a:bodyPr>
            <a:lstStyle/>
            <a:p>
              <a:r>
                <a:rPr lang="en-US" altLang="ko-KR" sz="700" dirty="0">
                  <a:latin typeface="+mn-ea"/>
                </a:rPr>
                <a:t>A. 3</a:t>
              </a:r>
              <a:r>
                <a:rPr lang="ko-KR" altLang="en-US" sz="700" dirty="0">
                  <a:latin typeface="+mn-ea"/>
                </a:rPr>
                <a:t>년간 </a:t>
              </a:r>
              <a:r>
                <a:rPr lang="ko-KR" altLang="en-US" sz="700" dirty="0" err="1">
                  <a:latin typeface="+mn-ea"/>
                </a:rPr>
                <a:t>시공실적이</a:t>
              </a:r>
              <a:r>
                <a:rPr lang="ko-KR" altLang="en-US" sz="700" dirty="0">
                  <a:latin typeface="+mn-ea"/>
                </a:rPr>
                <a:t> </a:t>
              </a:r>
              <a:r>
                <a:rPr lang="ko-KR" altLang="en-US" sz="700" dirty="0" err="1">
                  <a:latin typeface="+mn-ea"/>
                </a:rPr>
                <a:t>추정금액의</a:t>
              </a:r>
              <a:r>
                <a:rPr lang="ko-KR" altLang="en-US" sz="700" dirty="0">
                  <a:latin typeface="+mn-ea"/>
                </a:rPr>
                <a:t> </a:t>
              </a:r>
              <a:r>
                <a:rPr lang="en-US" altLang="ko-KR" sz="700" dirty="0">
                  <a:latin typeface="+mn-ea"/>
                </a:rPr>
                <a:t>1</a:t>
              </a:r>
              <a:r>
                <a:rPr lang="ko-KR" altLang="en-US" sz="700" dirty="0">
                  <a:latin typeface="+mn-ea"/>
                </a:rPr>
                <a:t>배 이상인 자 </a:t>
              </a:r>
              <a:r>
                <a:rPr lang="en-US" altLang="ko-KR" sz="700" dirty="0">
                  <a:latin typeface="+mn-ea"/>
                </a:rPr>
                <a:t>: +2</a:t>
              </a:r>
              <a:r>
                <a:rPr lang="ko-KR" altLang="en-US" sz="700" dirty="0">
                  <a:latin typeface="+mn-ea"/>
                </a:rPr>
                <a:t>점</a:t>
              </a:r>
            </a:p>
            <a:p>
              <a:r>
                <a:rPr lang="ko-KR" altLang="en-US" sz="700" dirty="0">
                  <a:latin typeface="+mn-ea"/>
                </a:rPr>
                <a:t>* 평가 </a:t>
              </a:r>
              <a:r>
                <a:rPr lang="en-US" altLang="ko-KR" sz="700" dirty="0">
                  <a:latin typeface="+mn-ea"/>
                </a:rPr>
                <a:t>= </a:t>
              </a:r>
              <a:r>
                <a:rPr lang="ko-KR" altLang="en-US" sz="700" dirty="0" err="1">
                  <a:latin typeface="+mn-ea"/>
                </a:rPr>
                <a:t>시공실적</a:t>
              </a:r>
              <a:r>
                <a:rPr lang="ko-KR" altLang="en-US" sz="700" dirty="0">
                  <a:latin typeface="+mn-ea"/>
                </a:rPr>
                <a:t> </a:t>
              </a:r>
              <a:r>
                <a:rPr lang="en-US" altLang="ko-KR" sz="700" dirty="0">
                  <a:latin typeface="+mn-ea"/>
                </a:rPr>
                <a:t>: 2,000  </a:t>
              </a:r>
              <a:r>
                <a:rPr lang="ko-KR" altLang="en-US" sz="700" dirty="0">
                  <a:latin typeface="+mn-ea"/>
                </a:rPr>
                <a:t>백만원 </a:t>
              </a:r>
              <a:r>
                <a:rPr lang="ko-KR" altLang="en-US" sz="700" dirty="0" err="1">
                  <a:latin typeface="+mn-ea"/>
                </a:rPr>
                <a:t>추정금액</a:t>
              </a:r>
              <a:r>
                <a:rPr lang="ko-KR" altLang="en-US" sz="700" dirty="0">
                  <a:latin typeface="+mn-ea"/>
                </a:rPr>
                <a:t> </a:t>
              </a:r>
              <a:r>
                <a:rPr lang="en-US" altLang="ko-KR" sz="700" dirty="0">
                  <a:latin typeface="+mn-ea"/>
                </a:rPr>
                <a:t>: 1,000  </a:t>
              </a:r>
              <a:r>
                <a:rPr lang="ko-KR" altLang="en-US" sz="700" dirty="0">
                  <a:latin typeface="+mn-ea"/>
                </a:rPr>
                <a:t>백만원</a:t>
              </a:r>
            </a:p>
          </p:txBody>
        </p:sp>
      </p:grpSp>
    </p:spTree>
    <p:extLst>
      <p:ext uri="{BB962C8B-B14F-4D97-AF65-F5344CB8AC3E}">
        <p14:creationId xmlns:p14="http://schemas.microsoft.com/office/powerpoint/2010/main" val="4239388902"/>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MUI-BD-10-T20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950953" cy="181140"/>
          </a:xfrm>
          <a:prstGeom prst="rect">
            <a:avLst/>
          </a:prstGeom>
          <a:noFill/>
        </p:spPr>
        <p:txBody>
          <a:bodyPr wrap="square" lIns="0" tIns="0" rIns="0" bIns="0" rtlCol="0">
            <a:spAutoFit/>
          </a:bodyPr>
          <a:lstStyle/>
          <a:p>
            <a:pPr>
              <a:lnSpc>
                <a:spcPct val="200000"/>
              </a:lnSpc>
            </a:pPr>
            <a:r>
              <a:rPr lang="ko-KR" altLang="en-US" sz="700" dirty="0">
                <a:latin typeface="+mn-ea"/>
              </a:rPr>
              <a:t>기타 당해 </a:t>
            </a:r>
            <a:r>
              <a:rPr lang="ko-KR" altLang="en-US" sz="700" dirty="0" err="1">
                <a:latin typeface="+mn-ea"/>
              </a:rPr>
              <a:t>공사수행</a:t>
            </a:r>
            <a:r>
              <a:rPr lang="ko-KR" altLang="en-US" sz="700" dirty="0">
                <a:latin typeface="+mn-ea"/>
              </a:rPr>
              <a:t> 관련 </a:t>
            </a:r>
            <a:r>
              <a:rPr lang="ko-KR" altLang="en-US" sz="700" dirty="0" err="1">
                <a:latin typeface="+mn-ea"/>
              </a:rPr>
              <a:t>결격여부</a:t>
            </a:r>
            <a:r>
              <a:rPr lang="ko-KR" altLang="en-US" sz="700" dirty="0">
                <a:latin typeface="+mn-ea"/>
              </a:rPr>
              <a:t> </a:t>
            </a:r>
            <a:r>
              <a:rPr lang="en-US" altLang="ko-KR" sz="700" dirty="0">
                <a:latin typeface="+mn-ea"/>
              </a:rPr>
              <a:t>(-20</a:t>
            </a:r>
            <a:r>
              <a:rPr lang="ko-KR" altLang="en-US" sz="700" dirty="0">
                <a:latin typeface="+mn-ea"/>
              </a:rPr>
              <a:t>점</a:t>
            </a:r>
            <a:r>
              <a:rPr lang="en-US" altLang="ko-KR" sz="700" dirty="0">
                <a:latin typeface="+mn-ea"/>
              </a:rPr>
              <a:t>)</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직사각형 117"/>
          <p:cNvSpPr/>
          <p:nvPr/>
        </p:nvSpPr>
        <p:spPr>
          <a:xfrm>
            <a:off x="718458" y="2097494"/>
            <a:ext cx="1639886" cy="9483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5521" y="2097495"/>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6366" y="20974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18459" y="23122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8459" y="30458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133470" y="209749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결과</a:t>
            </a:r>
            <a:endParaRPr lang="en-US" altLang="ko-KR" sz="700" dirty="0">
              <a:latin typeface="+mn-ea"/>
            </a:endParaRPr>
          </a:p>
        </p:txBody>
      </p:sp>
      <p:sp>
        <p:nvSpPr>
          <p:cNvPr id="60" name="TextBox 59">
            <a:extLst>
              <a:ext uri="{FF2B5EF4-FFF2-40B4-BE49-F238E27FC236}">
                <a16:creationId xmlns:a16="http://schemas.microsoft.com/office/drawing/2014/main" id="{FFC49AEA-2A8F-250C-A86A-A7751D9706C3}"/>
              </a:ext>
            </a:extLst>
          </p:cNvPr>
          <p:cNvSpPr txBox="1"/>
          <p:nvPr/>
        </p:nvSpPr>
        <p:spPr>
          <a:xfrm>
            <a:off x="805522" y="2358553"/>
            <a:ext cx="1480198" cy="646331"/>
          </a:xfrm>
          <a:prstGeom prst="rect">
            <a:avLst/>
          </a:prstGeom>
          <a:noFill/>
        </p:spPr>
        <p:txBody>
          <a:bodyPr wrap="square" lIns="0" tIns="0" rIns="0" bIns="0" rtlCol="0">
            <a:spAutoFit/>
          </a:bodyPr>
          <a:lstStyle/>
          <a:p>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 계약 어렵다고 판단되는 경우</a:t>
            </a:r>
          </a:p>
          <a:p>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판결을 받은 경우에는 제외</a:t>
            </a:r>
            <a:r>
              <a:rPr lang="en-US" altLang="ko-KR" sz="700" dirty="0">
                <a:latin typeface="+mn-ea"/>
              </a:rPr>
              <a:t>)</a:t>
            </a:r>
          </a:p>
        </p:txBody>
      </p:sp>
      <p:sp>
        <p:nvSpPr>
          <p:cNvPr id="61" name="TextBox 60">
            <a:extLst>
              <a:ext uri="{FF2B5EF4-FFF2-40B4-BE49-F238E27FC236}">
                <a16:creationId xmlns:a16="http://schemas.microsoft.com/office/drawing/2014/main" id="{FFC49AEA-2A8F-250C-A86A-A7751D9706C3}"/>
              </a:ext>
            </a:extLst>
          </p:cNvPr>
          <p:cNvSpPr txBox="1"/>
          <p:nvPr/>
        </p:nvSpPr>
        <p:spPr>
          <a:xfrm>
            <a:off x="3276137" y="262785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6" name="TextBox 25">
            <a:extLst>
              <a:ext uri="{FF2B5EF4-FFF2-40B4-BE49-F238E27FC236}">
                <a16:creationId xmlns:a16="http://schemas.microsoft.com/office/drawing/2014/main" id="{FFC49AEA-2A8F-250C-A86A-A7751D9706C3}"/>
              </a:ext>
            </a:extLst>
          </p:cNvPr>
          <p:cNvSpPr txBox="1"/>
          <p:nvPr/>
        </p:nvSpPr>
        <p:spPr>
          <a:xfrm>
            <a:off x="810790" y="187806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업종 </a:t>
            </a:r>
            <a:r>
              <a:rPr lang="en-US" altLang="ko-KR" sz="700" dirty="0">
                <a:latin typeface="+mn-ea"/>
              </a:rPr>
              <a:t>: </a:t>
            </a:r>
            <a:r>
              <a:rPr lang="ko-KR" altLang="en-US" sz="700" dirty="0" err="1">
                <a:latin typeface="+mn-ea"/>
              </a:rPr>
              <a:t>당해용역</a:t>
            </a:r>
            <a:r>
              <a:rPr lang="ko-KR" altLang="en-US" sz="700" dirty="0">
                <a:latin typeface="+mn-ea"/>
              </a:rPr>
              <a:t> 수행능력결격</a:t>
            </a:r>
          </a:p>
        </p:txBody>
      </p:sp>
      <p:cxnSp>
        <p:nvCxnSpPr>
          <p:cNvPr id="27" name="직선 연결선 26">
            <a:extLst>
              <a:ext uri="{FF2B5EF4-FFF2-40B4-BE49-F238E27FC236}">
                <a16:creationId xmlns:a16="http://schemas.microsoft.com/office/drawing/2014/main" id="{E9293055-D5CD-4B9E-7F64-64B2D2CA7A52}"/>
              </a:ext>
            </a:extLst>
          </p:cNvPr>
          <p:cNvCxnSpPr/>
          <p:nvPr/>
        </p:nvCxnSpPr>
        <p:spPr>
          <a:xfrm>
            <a:off x="675400" y="3130325"/>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 name="타원 2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538383081"/>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경영상태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특별신인도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평점</a:t>
                      </a:r>
                      <a:r>
                        <a:rPr lang="en-US" altLang="ko-KR" sz="800" dirty="0">
                          <a:latin typeface="+mn-ea"/>
                          <a:ea typeface="+mn-ea"/>
                        </a:rPr>
                        <a:t> </a:t>
                      </a:r>
                      <a:r>
                        <a:rPr lang="ko-KR" altLang="en-US" sz="800" dirty="0">
                          <a:latin typeface="+mn-ea"/>
                          <a:ea typeface="+mn-ea"/>
                        </a:rPr>
                        <a:t>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err="1">
                          <a:latin typeface="+mn-ea"/>
                          <a:ea typeface="+mn-ea"/>
                        </a:rPr>
                        <a:t>기타결격여부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기타결격여부</a:t>
                      </a:r>
                      <a:r>
                        <a:rPr lang="ko-KR" altLang="en-US" sz="800" dirty="0">
                          <a:latin typeface="+mn-ea"/>
                          <a:ea typeface="+mn-ea"/>
                        </a:rPr>
                        <a:t> 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2595729"/>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신용평가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2879483"/>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bl>
          </a:graphicData>
        </a:graphic>
      </p:graphicFrame>
      <p:sp>
        <p:nvSpPr>
          <p:cNvPr id="5" name="TextBox 4">
            <a:extLst>
              <a:ext uri="{FF2B5EF4-FFF2-40B4-BE49-F238E27FC236}">
                <a16:creationId xmlns:a16="http://schemas.microsoft.com/office/drawing/2014/main" id="{36A07937-B446-FFF6-4732-0DB8F4AC39E0}"/>
              </a:ext>
            </a:extLst>
          </p:cNvPr>
          <p:cNvSpPr txBox="1"/>
          <p:nvPr/>
        </p:nvSpPr>
        <p:spPr>
          <a:xfrm>
            <a:off x="460676" y="3667432"/>
            <a:ext cx="249965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입찰가격점수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EF9DAD4E-A2DC-8B84-04E3-D1030F108327}"/>
              </a:ext>
            </a:extLst>
          </p:cNvPr>
          <p:cNvGraphicFramePr>
            <a:graphicFrameLocks noGrp="1"/>
          </p:cNvGraphicFramePr>
          <p:nvPr/>
        </p:nvGraphicFramePr>
        <p:xfrm>
          <a:off x="455558" y="3951186"/>
          <a:ext cx="8993242" cy="10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65C7CDE5-2BC7-407A-E706-A4D246F60DFD}"/>
              </a:ext>
            </a:extLst>
          </p:cNvPr>
          <p:cNvSpPr txBox="1"/>
          <p:nvPr/>
        </p:nvSpPr>
        <p:spPr>
          <a:xfrm>
            <a:off x="467435" y="5257605"/>
            <a:ext cx="2885974"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특별신인도 세부내용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2CF15CF-E1E7-852B-B086-07FA30E753DD}"/>
              </a:ext>
            </a:extLst>
          </p:cNvPr>
          <p:cNvGraphicFramePr>
            <a:graphicFrameLocks noGrp="1"/>
          </p:cNvGraphicFramePr>
          <p:nvPr/>
        </p:nvGraphicFramePr>
        <p:xfrm>
          <a:off x="462317" y="5541359"/>
          <a:ext cx="8993242"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cnstPrfmncRsltAmt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bl>
          </a:graphicData>
        </a:graphic>
      </p:graphicFrame>
      <p:sp>
        <p:nvSpPr>
          <p:cNvPr id="12" name="Text Box 73">
            <a:extLst>
              <a:ext uri="{FF2B5EF4-FFF2-40B4-BE49-F238E27FC236}">
                <a16:creationId xmlns:a16="http://schemas.microsoft.com/office/drawing/2014/main" id="{D95D9E26-190A-2FC7-6DB5-A841F76E728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0660291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380</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583280"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 당해 공사수행 관련 결격여부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Box 1">
            <a:extLst>
              <a:ext uri="{FF2B5EF4-FFF2-40B4-BE49-F238E27FC236}">
                <a16:creationId xmlns:a16="http://schemas.microsoft.com/office/drawing/2014/main" id="{AC3EB013-CC1A-FCEA-3D0B-D3016FA806D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3E09A670-B9B4-8061-7435-EE09444836E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98268766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381</a:t>
            </a:fld>
            <a:endParaRPr lang="ko-KR" altLang="en-US" dirty="0"/>
          </a:p>
        </p:txBody>
      </p:sp>
      <p:sp>
        <p:nvSpPr>
          <p:cNvPr id="12" name="TextBox 11">
            <a:extLst>
              <a:ext uri="{FF2B5EF4-FFF2-40B4-BE49-F238E27FC236}">
                <a16:creationId xmlns:a16="http://schemas.microsoft.com/office/drawing/2014/main" id="{EB25AED5-74F7-0C53-F2FA-FF50A9F0BDE4}"/>
              </a:ext>
            </a:extLst>
          </p:cNvPr>
          <p:cNvSpPr txBox="1"/>
          <p:nvPr/>
        </p:nvSpPr>
        <p:spPr>
          <a:xfrm>
            <a:off x="460321"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E74D3AE3-A8D1-7BB9-2F41-73DC099C9611}"/>
              </a:ext>
            </a:extLst>
          </p:cNvPr>
          <p:cNvGraphicFramePr>
            <a:graphicFrameLocks noGrp="1"/>
          </p:cNvGraphicFramePr>
          <p:nvPr>
            <p:extLst/>
          </p:nvPr>
        </p:nvGraphicFramePr>
        <p:xfrm>
          <a:off x="455204"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4" name="Text Box 73">
            <a:extLst>
              <a:ext uri="{FF2B5EF4-FFF2-40B4-BE49-F238E27FC236}">
                <a16:creationId xmlns:a16="http://schemas.microsoft.com/office/drawing/2014/main" id="{978B6709-A527-CF91-FC1B-F9B8AFB1DC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4163404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382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MUI-BD-10-T21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9" name="직사각형 38"/>
          <p:cNvSpPr/>
          <p:nvPr/>
        </p:nvSpPr>
        <p:spPr>
          <a:xfrm>
            <a:off x="718458" y="1896436"/>
            <a:ext cx="1639886" cy="186995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FFC49AEA-2A8F-250C-A86A-A7751D9706C3}"/>
              </a:ext>
            </a:extLst>
          </p:cNvPr>
          <p:cNvSpPr txBox="1"/>
          <p:nvPr/>
        </p:nvSpPr>
        <p:spPr>
          <a:xfrm>
            <a:off x="805521" y="189643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항목</a:t>
            </a:r>
            <a:endParaRPr lang="en-US" altLang="ko-KR" sz="700" dirty="0">
              <a:latin typeface="+mn-ea"/>
            </a:endParaRPr>
          </a:p>
        </p:txBody>
      </p:sp>
      <p:sp>
        <p:nvSpPr>
          <p:cNvPr id="41" name="TextBox 40">
            <a:extLst>
              <a:ext uri="{FF2B5EF4-FFF2-40B4-BE49-F238E27FC236}">
                <a16:creationId xmlns:a16="http://schemas.microsoft.com/office/drawing/2014/main" id="{FFC49AEA-2A8F-250C-A86A-A7751D9706C3}"/>
              </a:ext>
            </a:extLst>
          </p:cNvPr>
          <p:cNvSpPr txBox="1"/>
          <p:nvPr/>
        </p:nvSpPr>
        <p:spPr>
          <a:xfrm>
            <a:off x="2533563" y="189643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42" name="직선 연결선 41">
            <a:extLst>
              <a:ext uri="{FF2B5EF4-FFF2-40B4-BE49-F238E27FC236}">
                <a16:creationId xmlns:a16="http://schemas.microsoft.com/office/drawing/2014/main" id="{E9293055-D5CD-4B9E-7F64-64B2D2CA7A52}"/>
              </a:ext>
            </a:extLst>
          </p:cNvPr>
          <p:cNvCxnSpPr/>
          <p:nvPr/>
        </p:nvCxnSpPr>
        <p:spPr>
          <a:xfrm>
            <a:off x="716366" y="18964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3" name="직선 연결선 42">
            <a:extLst>
              <a:ext uri="{FF2B5EF4-FFF2-40B4-BE49-F238E27FC236}">
                <a16:creationId xmlns:a16="http://schemas.microsoft.com/office/drawing/2014/main" id="{E9293055-D5CD-4B9E-7F64-64B2D2CA7A52}"/>
              </a:ext>
            </a:extLst>
          </p:cNvPr>
          <p:cNvCxnSpPr/>
          <p:nvPr/>
        </p:nvCxnSpPr>
        <p:spPr>
          <a:xfrm>
            <a:off x="718459" y="21111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4" name="직선 연결선 43">
            <a:extLst>
              <a:ext uri="{FF2B5EF4-FFF2-40B4-BE49-F238E27FC236}">
                <a16:creationId xmlns:a16="http://schemas.microsoft.com/office/drawing/2014/main" id="{E9293055-D5CD-4B9E-7F64-64B2D2CA7A52}"/>
              </a:ext>
            </a:extLst>
          </p:cNvPr>
          <p:cNvCxnSpPr/>
          <p:nvPr/>
        </p:nvCxnSpPr>
        <p:spPr>
          <a:xfrm>
            <a:off x="718459" y="30936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7" name="TextBox 46">
            <a:extLst>
              <a:ext uri="{FF2B5EF4-FFF2-40B4-BE49-F238E27FC236}">
                <a16:creationId xmlns:a16="http://schemas.microsoft.com/office/drawing/2014/main" id="{FFC49AEA-2A8F-250C-A86A-A7751D9706C3}"/>
              </a:ext>
            </a:extLst>
          </p:cNvPr>
          <p:cNvSpPr txBox="1"/>
          <p:nvPr/>
        </p:nvSpPr>
        <p:spPr>
          <a:xfrm>
            <a:off x="3133470" y="189643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48" name="TextBox 47">
            <a:extLst>
              <a:ext uri="{FF2B5EF4-FFF2-40B4-BE49-F238E27FC236}">
                <a16:creationId xmlns:a16="http://schemas.microsoft.com/office/drawing/2014/main" id="{FFC49AEA-2A8F-250C-A86A-A7751D9706C3}"/>
              </a:ext>
            </a:extLst>
          </p:cNvPr>
          <p:cNvSpPr txBox="1"/>
          <p:nvPr/>
        </p:nvSpPr>
        <p:spPr>
          <a:xfrm>
            <a:off x="805521" y="2186386"/>
            <a:ext cx="1480199" cy="861774"/>
          </a:xfrm>
          <a:prstGeom prst="rect">
            <a:avLst/>
          </a:prstGeom>
          <a:noFill/>
        </p:spPr>
        <p:txBody>
          <a:bodyPr wrap="square" lIns="0" tIns="0" rIns="0" bIns="0" rtlCol="0">
            <a:spAutoFit/>
          </a:bodyPr>
          <a:lstStyle/>
          <a:p>
            <a:r>
              <a:rPr lang="ko-KR" altLang="en-US" sz="700" dirty="0" err="1">
                <a:latin typeface="+mn-ea"/>
              </a:rPr>
              <a:t>당해공사</a:t>
            </a:r>
            <a:r>
              <a:rPr lang="ko-KR" altLang="en-US" sz="700" dirty="0">
                <a:latin typeface="+mn-ea"/>
              </a:rPr>
              <a:t> 수행능력</a:t>
            </a:r>
            <a:endParaRPr lang="en-US" altLang="ko-KR" sz="700" dirty="0">
              <a:latin typeface="+mn-ea"/>
            </a:endParaRPr>
          </a:p>
          <a:p>
            <a:r>
              <a:rPr lang="en-US" altLang="ko-KR" sz="700" dirty="0">
                <a:latin typeface="+mn-ea"/>
              </a:rPr>
              <a:t>- </a:t>
            </a:r>
            <a:r>
              <a:rPr lang="ko-KR" altLang="en-US" sz="700" dirty="0" err="1">
                <a:latin typeface="+mn-ea"/>
              </a:rPr>
              <a:t>이행능력</a:t>
            </a:r>
            <a:endParaRPr lang="en-US" altLang="ko-KR" sz="700" dirty="0">
              <a:latin typeface="+mn-ea"/>
            </a:endParaRPr>
          </a:p>
          <a:p>
            <a:r>
              <a:rPr lang="en-US" altLang="ko-KR" sz="700" dirty="0">
                <a:latin typeface="+mn-ea"/>
              </a:rPr>
              <a:t>    - </a:t>
            </a:r>
            <a:r>
              <a:rPr lang="ko-KR" altLang="en-US" sz="700" dirty="0">
                <a:latin typeface="+mn-ea"/>
              </a:rPr>
              <a:t>이행실적</a:t>
            </a:r>
            <a:endParaRPr lang="en-US" altLang="ko-KR" sz="700" dirty="0">
              <a:latin typeface="+mn-ea"/>
            </a:endParaRPr>
          </a:p>
          <a:p>
            <a:r>
              <a:rPr lang="en-US" altLang="ko-KR" sz="700" dirty="0">
                <a:latin typeface="+mn-ea"/>
              </a:rPr>
              <a:t>    - </a:t>
            </a:r>
            <a:r>
              <a:rPr lang="ko-KR" altLang="en-US" sz="700" dirty="0">
                <a:latin typeface="+mn-ea"/>
              </a:rPr>
              <a:t>기술능력</a:t>
            </a:r>
            <a:endParaRPr lang="en-US" altLang="ko-KR" sz="700" dirty="0">
              <a:latin typeface="+mn-ea"/>
            </a:endParaRPr>
          </a:p>
          <a:p>
            <a:r>
              <a:rPr lang="en-US" altLang="ko-KR" sz="700" dirty="0">
                <a:latin typeface="+mn-ea"/>
              </a:rPr>
              <a:t>    - </a:t>
            </a:r>
            <a:r>
              <a:rPr lang="ko-KR" altLang="en-US" sz="700" dirty="0">
                <a:latin typeface="+mn-ea"/>
              </a:rPr>
              <a:t>수행능력</a:t>
            </a:r>
            <a:endParaRPr lang="en-US" altLang="ko-KR" sz="700" dirty="0">
              <a:latin typeface="+mn-ea"/>
            </a:endParaRPr>
          </a:p>
          <a:p>
            <a:r>
              <a:rPr lang="en-US" altLang="ko-KR" sz="700" dirty="0">
                <a:latin typeface="+mn-ea"/>
              </a:rPr>
              <a:t>- </a:t>
            </a:r>
            <a:r>
              <a:rPr lang="ko-KR" altLang="en-US" sz="700" dirty="0">
                <a:latin typeface="+mn-ea"/>
              </a:rPr>
              <a:t>경영상태</a:t>
            </a:r>
            <a:endParaRPr lang="en-US" altLang="ko-KR" sz="700" dirty="0">
              <a:latin typeface="+mn-ea"/>
            </a:endParaRPr>
          </a:p>
          <a:p>
            <a:r>
              <a:rPr lang="en-US" altLang="ko-KR" sz="700" dirty="0">
                <a:latin typeface="+mn-ea"/>
              </a:rPr>
              <a:t>- </a:t>
            </a:r>
            <a:r>
              <a:rPr lang="ko-KR" altLang="en-US" sz="700" dirty="0" err="1">
                <a:latin typeface="+mn-ea"/>
              </a:rPr>
              <a:t>특별신인도</a:t>
            </a:r>
            <a:endParaRPr lang="en-US" altLang="ko-KR" sz="700" dirty="0">
              <a:latin typeface="+mn-ea"/>
            </a:endParaRPr>
          </a:p>
          <a:p>
            <a:r>
              <a:rPr lang="en-US" altLang="ko-KR" sz="700" dirty="0">
                <a:latin typeface="+mn-ea"/>
              </a:rPr>
              <a:t>- </a:t>
            </a:r>
            <a:r>
              <a:rPr lang="ko-KR" altLang="en-US" sz="700" dirty="0">
                <a:latin typeface="+mn-ea"/>
              </a:rPr>
              <a:t>소계</a:t>
            </a:r>
          </a:p>
        </p:txBody>
      </p:sp>
      <p:sp>
        <p:nvSpPr>
          <p:cNvPr id="49" name="TextBox 48">
            <a:extLst>
              <a:ext uri="{FF2B5EF4-FFF2-40B4-BE49-F238E27FC236}">
                <a16:creationId xmlns:a16="http://schemas.microsoft.com/office/drawing/2014/main" id="{FFC49AEA-2A8F-250C-A86A-A7751D9706C3}"/>
              </a:ext>
            </a:extLst>
          </p:cNvPr>
          <p:cNvSpPr txBox="1"/>
          <p:nvPr/>
        </p:nvSpPr>
        <p:spPr>
          <a:xfrm>
            <a:off x="2450143" y="2401829"/>
            <a:ext cx="262956" cy="646331"/>
          </a:xfrm>
          <a:prstGeom prst="rect">
            <a:avLst/>
          </a:prstGeom>
          <a:noFill/>
        </p:spPr>
        <p:txBody>
          <a:bodyPr wrap="none" lIns="0" tIns="0" rIns="0" bIns="0" rtlCol="0">
            <a:spAutoFit/>
          </a:bodyPr>
          <a:lstStyle/>
          <a:p>
            <a:pPr algn="r"/>
            <a:r>
              <a:rPr lang="en-US" altLang="ko-KR" sz="700" dirty="0">
                <a:latin typeface="+mn-ea"/>
              </a:rPr>
              <a:t>8.0</a:t>
            </a:r>
          </a:p>
          <a:p>
            <a:pPr algn="r"/>
            <a:r>
              <a:rPr lang="en-US" altLang="ko-KR" sz="700" dirty="0">
                <a:latin typeface="+mn-ea"/>
              </a:rPr>
              <a:t>4.0</a:t>
            </a:r>
          </a:p>
          <a:p>
            <a:pPr algn="r"/>
            <a:r>
              <a:rPr lang="en-US" altLang="ko-KR" sz="700" dirty="0">
                <a:latin typeface="+mn-ea"/>
              </a:rPr>
              <a:t>8.0</a:t>
            </a:r>
          </a:p>
          <a:p>
            <a:pPr algn="r"/>
            <a:r>
              <a:rPr lang="en-US" altLang="ko-KR" sz="700" dirty="0">
                <a:latin typeface="+mn-ea"/>
              </a:rPr>
              <a:t>10.0</a:t>
            </a:r>
          </a:p>
          <a:p>
            <a:pPr algn="r"/>
            <a:r>
              <a:rPr lang="en-US" altLang="ko-KR" sz="700" dirty="0">
                <a:latin typeface="+mn-ea"/>
              </a:rPr>
              <a:t>0 ~ -6</a:t>
            </a:r>
          </a:p>
          <a:p>
            <a:pPr algn="r"/>
            <a:r>
              <a:rPr lang="en-US" altLang="ko-KR" sz="700" dirty="0">
                <a:latin typeface="+mn-ea"/>
              </a:rPr>
              <a:t>30.0</a:t>
            </a:r>
            <a:endParaRPr lang="ko-KR" altLang="en-US" sz="700" dirty="0">
              <a:latin typeface="+mn-ea"/>
            </a:endParaRPr>
          </a:p>
        </p:txBody>
      </p:sp>
      <p:sp>
        <p:nvSpPr>
          <p:cNvPr id="61" name="TextBox 60">
            <a:extLst>
              <a:ext uri="{FF2B5EF4-FFF2-40B4-BE49-F238E27FC236}">
                <a16:creationId xmlns:a16="http://schemas.microsoft.com/office/drawing/2014/main" id="{FFC49AEA-2A8F-250C-A86A-A7751D9706C3}"/>
              </a:ext>
            </a:extLst>
          </p:cNvPr>
          <p:cNvSpPr txBox="1"/>
          <p:nvPr/>
        </p:nvSpPr>
        <p:spPr>
          <a:xfrm>
            <a:off x="3276136" y="2401829"/>
            <a:ext cx="36870" cy="646331"/>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p:txBody>
      </p:sp>
      <p:cxnSp>
        <p:nvCxnSpPr>
          <p:cNvPr id="64" name="직선 연결선 63">
            <a:extLst>
              <a:ext uri="{FF2B5EF4-FFF2-40B4-BE49-F238E27FC236}">
                <a16:creationId xmlns:a16="http://schemas.microsoft.com/office/drawing/2014/main" id="{E9293055-D5CD-4B9E-7F64-64B2D2CA7A52}"/>
              </a:ext>
            </a:extLst>
          </p:cNvPr>
          <p:cNvCxnSpPr/>
          <p:nvPr/>
        </p:nvCxnSpPr>
        <p:spPr>
          <a:xfrm>
            <a:off x="718459" y="33119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805521" y="3148722"/>
            <a:ext cx="1480199" cy="107722"/>
          </a:xfrm>
          <a:prstGeom prst="rect">
            <a:avLst/>
          </a:prstGeom>
          <a:noFill/>
        </p:spPr>
        <p:txBody>
          <a:bodyPr wrap="square" lIns="0" tIns="0" rIns="0" bIns="0" rtlCol="0">
            <a:spAutoFit/>
          </a:bodyPr>
          <a:lstStyle/>
          <a:p>
            <a:r>
              <a:rPr lang="ko-KR" altLang="en-US" sz="700" dirty="0">
                <a:latin typeface="+mn-ea"/>
              </a:rPr>
              <a:t>입찰가격</a:t>
            </a:r>
          </a:p>
        </p:txBody>
      </p:sp>
      <p:sp>
        <p:nvSpPr>
          <p:cNvPr id="66" name="TextBox 65">
            <a:extLst>
              <a:ext uri="{FF2B5EF4-FFF2-40B4-BE49-F238E27FC236}">
                <a16:creationId xmlns:a16="http://schemas.microsoft.com/office/drawing/2014/main" id="{FFC49AEA-2A8F-250C-A86A-A7751D9706C3}"/>
              </a:ext>
            </a:extLst>
          </p:cNvPr>
          <p:cNvSpPr txBox="1"/>
          <p:nvPr/>
        </p:nvSpPr>
        <p:spPr>
          <a:xfrm>
            <a:off x="2544783" y="3148722"/>
            <a:ext cx="168316" cy="107722"/>
          </a:xfrm>
          <a:prstGeom prst="rect">
            <a:avLst/>
          </a:prstGeom>
          <a:noFill/>
        </p:spPr>
        <p:txBody>
          <a:bodyPr wrap="none" lIns="0" tIns="0" rIns="0" bIns="0" rtlCol="0">
            <a:spAutoFit/>
          </a:bodyPr>
          <a:lstStyle/>
          <a:p>
            <a:pPr algn="r"/>
            <a:r>
              <a:rPr lang="en-US" altLang="ko-KR" sz="700" dirty="0">
                <a:latin typeface="+mn-ea"/>
              </a:rPr>
              <a:t>70.0</a:t>
            </a:r>
            <a:endParaRPr lang="ko-KR" altLang="en-US" sz="700"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3276137" y="314872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718459" y="35375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805521" y="3374376"/>
            <a:ext cx="1480199" cy="107722"/>
          </a:xfrm>
          <a:prstGeom prst="rect">
            <a:avLst/>
          </a:prstGeom>
          <a:noFill/>
        </p:spPr>
        <p:txBody>
          <a:bodyPr wrap="square" lIns="0" tIns="0" rIns="0" bIns="0" rtlCol="0">
            <a:spAutoFit/>
          </a:bodyPr>
          <a:lstStyle/>
          <a:p>
            <a:r>
              <a:rPr lang="ko-KR" altLang="en-US" sz="700" dirty="0">
                <a:latin typeface="+mn-ea"/>
              </a:rPr>
              <a:t>기타결격여부</a:t>
            </a:r>
          </a:p>
        </p:txBody>
      </p:sp>
      <p:sp>
        <p:nvSpPr>
          <p:cNvPr id="70" name="TextBox 69">
            <a:extLst>
              <a:ext uri="{FF2B5EF4-FFF2-40B4-BE49-F238E27FC236}">
                <a16:creationId xmlns:a16="http://schemas.microsoft.com/office/drawing/2014/main" id="{FFC49AEA-2A8F-250C-A86A-A7751D9706C3}"/>
              </a:ext>
            </a:extLst>
          </p:cNvPr>
          <p:cNvSpPr txBox="1"/>
          <p:nvPr/>
        </p:nvSpPr>
        <p:spPr>
          <a:xfrm>
            <a:off x="2507914" y="3374376"/>
            <a:ext cx="205185" cy="107722"/>
          </a:xfrm>
          <a:prstGeom prst="rect">
            <a:avLst/>
          </a:prstGeom>
          <a:noFill/>
        </p:spPr>
        <p:txBody>
          <a:bodyPr wrap="none" lIns="0" tIns="0" rIns="0" bIns="0" rtlCol="0">
            <a:spAutoFit/>
          </a:bodyPr>
          <a:lstStyle/>
          <a:p>
            <a:pPr algn="r"/>
            <a:r>
              <a:rPr lang="en-US" altLang="ko-KR" sz="700" dirty="0">
                <a:latin typeface="+mn-ea"/>
              </a:rPr>
              <a:t>-45.0</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3276137" y="33743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72" name="직선 연결선 71">
            <a:extLst>
              <a:ext uri="{FF2B5EF4-FFF2-40B4-BE49-F238E27FC236}">
                <a16:creationId xmlns:a16="http://schemas.microsoft.com/office/drawing/2014/main" id="{E9293055-D5CD-4B9E-7F64-64B2D2CA7A52}"/>
              </a:ext>
            </a:extLst>
          </p:cNvPr>
          <p:cNvCxnSpPr/>
          <p:nvPr/>
        </p:nvCxnSpPr>
        <p:spPr>
          <a:xfrm>
            <a:off x="718459" y="3759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3" name="TextBox 72">
            <a:extLst>
              <a:ext uri="{FF2B5EF4-FFF2-40B4-BE49-F238E27FC236}">
                <a16:creationId xmlns:a16="http://schemas.microsoft.com/office/drawing/2014/main" id="{FFC49AEA-2A8F-250C-A86A-A7751D9706C3}"/>
              </a:ext>
            </a:extLst>
          </p:cNvPr>
          <p:cNvSpPr txBox="1"/>
          <p:nvPr/>
        </p:nvSpPr>
        <p:spPr>
          <a:xfrm>
            <a:off x="805521" y="3595868"/>
            <a:ext cx="1480199" cy="107722"/>
          </a:xfrm>
          <a:prstGeom prst="rect">
            <a:avLst/>
          </a:prstGeom>
          <a:noFill/>
        </p:spPr>
        <p:txBody>
          <a:bodyPr wrap="square" lIns="0" tIns="0" rIns="0" bIns="0" rtlCol="0">
            <a:spAutoFit/>
          </a:bodyPr>
          <a:lstStyle/>
          <a:p>
            <a:r>
              <a:rPr lang="ko-KR" altLang="en-US" sz="700" dirty="0">
                <a:latin typeface="+mn-ea"/>
              </a:rPr>
              <a:t>총계</a:t>
            </a:r>
          </a:p>
        </p:txBody>
      </p:sp>
      <p:sp>
        <p:nvSpPr>
          <p:cNvPr id="74" name="TextBox 73">
            <a:extLst>
              <a:ext uri="{FF2B5EF4-FFF2-40B4-BE49-F238E27FC236}">
                <a16:creationId xmlns:a16="http://schemas.microsoft.com/office/drawing/2014/main" id="{FFC49AEA-2A8F-250C-A86A-A7751D9706C3}"/>
              </a:ext>
            </a:extLst>
          </p:cNvPr>
          <p:cNvSpPr txBox="1"/>
          <p:nvPr/>
        </p:nvSpPr>
        <p:spPr>
          <a:xfrm>
            <a:off x="2564019" y="3595868"/>
            <a:ext cx="149080"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5" name="TextBox 74">
            <a:extLst>
              <a:ext uri="{FF2B5EF4-FFF2-40B4-BE49-F238E27FC236}">
                <a16:creationId xmlns:a16="http://schemas.microsoft.com/office/drawing/2014/main" id="{FFC49AEA-2A8F-250C-A86A-A7751D9706C3}"/>
              </a:ext>
            </a:extLst>
          </p:cNvPr>
          <p:cNvSpPr txBox="1"/>
          <p:nvPr/>
        </p:nvSpPr>
        <p:spPr>
          <a:xfrm>
            <a:off x="3276137" y="35958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762146" y="3828450"/>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비고 내용 표시 </a:t>
            </a:r>
            <a:r>
              <a:rPr lang="en-US" altLang="ko-KR" sz="700" dirty="0">
                <a:latin typeface="+mn-ea"/>
              </a:rPr>
              <a:t>/ </a:t>
            </a:r>
            <a:r>
              <a:rPr lang="ko-KR" altLang="en-US" sz="700" dirty="0">
                <a:latin typeface="+mn-ea"/>
              </a:rPr>
              <a:t>비고가 없는 경우 라인 숨김</a:t>
            </a:r>
            <a:endParaRPr lang="en-US" altLang="ko-KR" sz="700" dirty="0">
              <a:latin typeface="+mn-ea"/>
            </a:endParaRP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41132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3789297" y="1493927"/>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직사각형 93"/>
          <p:cNvSpPr/>
          <p:nvPr/>
        </p:nvSpPr>
        <p:spPr>
          <a:xfrm>
            <a:off x="3832354" y="2101228"/>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3919418" y="210122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평가요소</a:t>
            </a:r>
          </a:p>
        </p:txBody>
      </p:sp>
      <p:cxnSp>
        <p:nvCxnSpPr>
          <p:cNvPr id="98" name="직선 연결선 97">
            <a:extLst>
              <a:ext uri="{FF2B5EF4-FFF2-40B4-BE49-F238E27FC236}">
                <a16:creationId xmlns:a16="http://schemas.microsoft.com/office/drawing/2014/main" id="{E9293055-D5CD-4B9E-7F64-64B2D2CA7A52}"/>
              </a:ext>
            </a:extLst>
          </p:cNvPr>
          <p:cNvCxnSpPr/>
          <p:nvPr/>
        </p:nvCxnSpPr>
        <p:spPr>
          <a:xfrm>
            <a:off x="3830263" y="21012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832356" y="23159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3832356" y="28626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1" name="TextBox 100">
            <a:extLst>
              <a:ext uri="{FF2B5EF4-FFF2-40B4-BE49-F238E27FC236}">
                <a16:creationId xmlns:a16="http://schemas.microsoft.com/office/drawing/2014/main" id="{FFC49AEA-2A8F-250C-A86A-A7751D9706C3}"/>
              </a:ext>
            </a:extLst>
          </p:cNvPr>
          <p:cNvSpPr txBox="1"/>
          <p:nvPr/>
        </p:nvSpPr>
        <p:spPr>
          <a:xfrm>
            <a:off x="3891234" y="182313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당해 </a:t>
            </a:r>
            <a:r>
              <a:rPr lang="ko-KR" altLang="en-US" sz="700" dirty="0" err="1">
                <a:latin typeface="+mn-ea"/>
              </a:rPr>
              <a:t>용역금액</a:t>
            </a:r>
            <a:r>
              <a:rPr lang="ko-KR" altLang="en-US" sz="700" dirty="0">
                <a:latin typeface="+mn-ea"/>
              </a:rPr>
              <a:t> 대비 최근 </a:t>
            </a:r>
            <a:r>
              <a:rPr lang="en-US" altLang="ko-KR" sz="700" dirty="0">
                <a:latin typeface="+mn-ea"/>
              </a:rPr>
              <a:t>3</a:t>
            </a:r>
            <a:r>
              <a:rPr lang="ko-KR" altLang="en-US" sz="700" dirty="0">
                <a:latin typeface="+mn-ea"/>
              </a:rPr>
              <a:t>년간 용역 </a:t>
            </a:r>
            <a:r>
              <a:rPr lang="ko-KR" altLang="en-US" sz="700" dirty="0" err="1">
                <a:latin typeface="+mn-ea"/>
              </a:rPr>
              <a:t>수행금액</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6247367" y="210122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3876043" y="1525097"/>
            <a:ext cx="1598477" cy="181140"/>
          </a:xfrm>
          <a:prstGeom prst="rect">
            <a:avLst/>
          </a:prstGeom>
          <a:noFill/>
        </p:spPr>
        <p:txBody>
          <a:bodyPr wrap="square" lIns="0" tIns="0" rIns="0" bIns="0" rtlCol="0">
            <a:spAutoFit/>
          </a:bodyPr>
          <a:lstStyle/>
          <a:p>
            <a:pPr>
              <a:lnSpc>
                <a:spcPct val="200000"/>
              </a:lnSpc>
            </a:pPr>
            <a:r>
              <a:rPr lang="en-US" altLang="ko-KR" sz="700" dirty="0">
                <a:latin typeface="+mn-ea"/>
              </a:rPr>
              <a:t>2.</a:t>
            </a:r>
            <a:r>
              <a:rPr lang="ko-KR" altLang="en-US" sz="700" dirty="0">
                <a:latin typeface="+mn-ea"/>
              </a:rPr>
              <a:t>이행실적</a:t>
            </a:r>
            <a:r>
              <a:rPr lang="en-US" altLang="ko-KR" sz="700" dirty="0">
                <a:latin typeface="+mn-ea"/>
              </a:rPr>
              <a:t>(8</a:t>
            </a:r>
            <a:r>
              <a:rPr lang="ko-KR" altLang="en-US" sz="700" dirty="0">
                <a:latin typeface="+mn-ea"/>
              </a:rPr>
              <a:t>점</a:t>
            </a:r>
            <a:r>
              <a:rPr lang="en-US" altLang="ko-KR" sz="700" dirty="0">
                <a:latin typeface="+mn-ea"/>
              </a:rPr>
              <a:t>)</a:t>
            </a:r>
          </a:p>
        </p:txBody>
      </p:sp>
      <p:grpSp>
        <p:nvGrpSpPr>
          <p:cNvPr id="106" name="그룹 105"/>
          <p:cNvGrpSpPr/>
          <p:nvPr/>
        </p:nvGrpSpPr>
        <p:grpSpPr>
          <a:xfrm flipV="1">
            <a:off x="6238130" y="1638428"/>
            <a:ext cx="94010" cy="47005"/>
            <a:chOff x="6812560" y="3297172"/>
            <a:chExt cx="94010" cy="47005"/>
          </a:xfrm>
        </p:grpSpPr>
        <p:cxnSp>
          <p:nvCxnSpPr>
            <p:cNvPr id="107" name="직선 연결선 10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8" name="직선 연결선 10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9" name="직선 연결선 108">
            <a:extLst>
              <a:ext uri="{FF2B5EF4-FFF2-40B4-BE49-F238E27FC236}">
                <a16:creationId xmlns:a16="http://schemas.microsoft.com/office/drawing/2014/main" id="{E9293055-D5CD-4B9E-7F64-64B2D2CA7A52}"/>
              </a:ext>
            </a:extLst>
          </p:cNvPr>
          <p:cNvCxnSpPr/>
          <p:nvPr/>
        </p:nvCxnSpPr>
        <p:spPr>
          <a:xfrm>
            <a:off x="3789297" y="1799212"/>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TextBox 115">
            <a:extLst>
              <a:ext uri="{FF2B5EF4-FFF2-40B4-BE49-F238E27FC236}">
                <a16:creationId xmlns:a16="http://schemas.microsoft.com/office/drawing/2014/main" id="{FFC49AEA-2A8F-250C-A86A-A7751D9706C3}"/>
              </a:ext>
            </a:extLst>
          </p:cNvPr>
          <p:cNvSpPr txBox="1"/>
          <p:nvPr/>
        </p:nvSpPr>
        <p:spPr>
          <a:xfrm>
            <a:off x="3919418" y="2377777"/>
            <a:ext cx="1480199" cy="430887"/>
          </a:xfrm>
          <a:prstGeom prst="rect">
            <a:avLst/>
          </a:prstGeom>
          <a:noFill/>
        </p:spPr>
        <p:txBody>
          <a:bodyPr wrap="square" lIns="0" tIns="0" rIns="0" bIns="0" rtlCol="0">
            <a:spAutoFit/>
          </a:bodyPr>
          <a:lstStyle/>
          <a:p>
            <a:r>
              <a:rPr lang="ko-KR" altLang="en-US" sz="700" dirty="0">
                <a:latin typeface="+mn-ea"/>
              </a:rPr>
              <a:t>수집</a:t>
            </a:r>
            <a:r>
              <a:rPr lang="en-US" altLang="ko-KR" sz="700" dirty="0">
                <a:latin typeface="+mn-ea"/>
              </a:rPr>
              <a:t>/</a:t>
            </a:r>
            <a:r>
              <a:rPr lang="ko-KR" altLang="en-US" sz="700" dirty="0">
                <a:latin typeface="+mn-ea"/>
              </a:rPr>
              <a:t>운반</a:t>
            </a:r>
          </a:p>
          <a:p>
            <a:r>
              <a:rPr lang="en-US" altLang="ko-KR" sz="700" dirty="0">
                <a:latin typeface="+mn-ea"/>
              </a:rPr>
              <a:t>- A) 100%</a:t>
            </a:r>
            <a:r>
              <a:rPr lang="ko-KR" altLang="en-US" sz="700" dirty="0">
                <a:latin typeface="+mn-ea"/>
              </a:rPr>
              <a:t>이상</a:t>
            </a:r>
          </a:p>
          <a:p>
            <a:r>
              <a:rPr lang="en-US" altLang="ko-KR" sz="700" dirty="0">
                <a:latin typeface="+mn-ea"/>
              </a:rPr>
              <a:t>-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80%</a:t>
            </a:r>
            <a:r>
              <a:rPr lang="ko-KR" altLang="en-US" sz="700" dirty="0">
                <a:latin typeface="+mn-ea"/>
              </a:rPr>
              <a:t>미만</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6308280" y="2485499"/>
            <a:ext cx="118623" cy="323165"/>
          </a:xfrm>
          <a:prstGeom prst="rect">
            <a:avLst/>
          </a:prstGeom>
          <a:noFill/>
        </p:spPr>
        <p:txBody>
          <a:bodyPr wrap="none" lIns="0" tIns="0" rIns="0" bIns="0" rtlCol="0">
            <a:spAutoFit/>
          </a:bodyPr>
          <a:lstStyle/>
          <a:p>
            <a:pPr algn="r"/>
            <a:r>
              <a:rPr lang="en-US" altLang="ko-KR" sz="700" dirty="0">
                <a:latin typeface="+mn-ea"/>
              </a:rPr>
              <a:t>3.0</a:t>
            </a:r>
          </a:p>
          <a:p>
            <a:pPr algn="r"/>
            <a:r>
              <a:rPr lang="en-US" altLang="ko-KR" sz="700" dirty="0">
                <a:latin typeface="+mn-ea"/>
              </a:rPr>
              <a:t>2.6</a:t>
            </a:r>
          </a:p>
          <a:p>
            <a:pPr algn="r"/>
            <a:r>
              <a:rPr lang="en-US" altLang="ko-KR" sz="700" dirty="0">
                <a:latin typeface="+mn-ea"/>
              </a:rPr>
              <a:t>2.2</a:t>
            </a:r>
          </a:p>
        </p:txBody>
      </p:sp>
      <p:cxnSp>
        <p:nvCxnSpPr>
          <p:cNvPr id="120" name="직선 연결선 119">
            <a:extLst>
              <a:ext uri="{FF2B5EF4-FFF2-40B4-BE49-F238E27FC236}">
                <a16:creationId xmlns:a16="http://schemas.microsoft.com/office/drawing/2014/main" id="{E9293055-D5CD-4B9E-7F64-64B2D2CA7A52}"/>
              </a:ext>
            </a:extLst>
          </p:cNvPr>
          <p:cNvCxnSpPr/>
          <p:nvPr/>
        </p:nvCxnSpPr>
        <p:spPr>
          <a:xfrm>
            <a:off x="3832356" y="34156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3919418" y="2930751"/>
            <a:ext cx="1480199" cy="430887"/>
          </a:xfrm>
          <a:prstGeom prst="rect">
            <a:avLst/>
          </a:prstGeom>
          <a:noFill/>
        </p:spPr>
        <p:txBody>
          <a:bodyPr wrap="square" lIns="0" tIns="0" rIns="0" bIns="0" rtlCol="0">
            <a:spAutoFit/>
          </a:bodyPr>
          <a:lstStyle/>
          <a:p>
            <a:r>
              <a:rPr lang="ko-KR" altLang="en-US" sz="700" dirty="0">
                <a:latin typeface="+mn-ea"/>
              </a:rPr>
              <a:t>중간처리</a:t>
            </a:r>
            <a:endParaRPr lang="en-US" altLang="ko-KR" sz="700" dirty="0">
              <a:latin typeface="+mn-ea"/>
            </a:endParaRPr>
          </a:p>
          <a:p>
            <a:r>
              <a:rPr lang="en-US" altLang="ko-KR" sz="700" dirty="0">
                <a:latin typeface="+mn-ea"/>
              </a:rPr>
              <a:t>- A) 100%</a:t>
            </a:r>
            <a:r>
              <a:rPr lang="ko-KR" altLang="en-US" sz="700" dirty="0">
                <a:latin typeface="+mn-ea"/>
              </a:rPr>
              <a:t>이상</a:t>
            </a:r>
          </a:p>
          <a:p>
            <a:r>
              <a:rPr lang="en-US" altLang="ko-KR" sz="700" dirty="0">
                <a:latin typeface="+mn-ea"/>
              </a:rPr>
              <a:t>-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80%</a:t>
            </a:r>
            <a:r>
              <a:rPr lang="ko-KR" altLang="en-US" sz="700" dirty="0">
                <a:latin typeface="+mn-ea"/>
              </a:rPr>
              <a:t>미만</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6308280" y="3038473"/>
            <a:ext cx="118623" cy="323165"/>
          </a:xfrm>
          <a:prstGeom prst="rect">
            <a:avLst/>
          </a:prstGeom>
          <a:noFill/>
        </p:spPr>
        <p:txBody>
          <a:bodyPr wrap="none" lIns="0" tIns="0" rIns="0" bIns="0" rtlCol="0">
            <a:spAutoFit/>
          </a:bodyPr>
          <a:lstStyle/>
          <a:p>
            <a:pPr algn="r"/>
            <a:r>
              <a:rPr lang="en-US" altLang="ko-KR" sz="700" dirty="0">
                <a:latin typeface="+mn-ea"/>
              </a:rPr>
              <a:t>3.0</a:t>
            </a:r>
          </a:p>
          <a:p>
            <a:pPr algn="r"/>
            <a:r>
              <a:rPr lang="en-US" altLang="ko-KR" sz="700" dirty="0">
                <a:latin typeface="+mn-ea"/>
              </a:rPr>
              <a:t>2.6</a:t>
            </a:r>
          </a:p>
          <a:p>
            <a:pPr algn="r"/>
            <a:r>
              <a:rPr lang="en-US" altLang="ko-KR" sz="700" dirty="0">
                <a:latin typeface="+mn-ea"/>
              </a:rPr>
              <a:t>2.2</a:t>
            </a: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3832356" y="39696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4" name="TextBox 123">
            <a:extLst>
              <a:ext uri="{FF2B5EF4-FFF2-40B4-BE49-F238E27FC236}">
                <a16:creationId xmlns:a16="http://schemas.microsoft.com/office/drawing/2014/main" id="{FFC49AEA-2A8F-250C-A86A-A7751D9706C3}"/>
              </a:ext>
            </a:extLst>
          </p:cNvPr>
          <p:cNvSpPr txBox="1"/>
          <p:nvPr/>
        </p:nvSpPr>
        <p:spPr>
          <a:xfrm>
            <a:off x="3919418" y="3484768"/>
            <a:ext cx="1480199" cy="430887"/>
          </a:xfrm>
          <a:prstGeom prst="rect">
            <a:avLst/>
          </a:prstGeom>
          <a:noFill/>
        </p:spPr>
        <p:txBody>
          <a:bodyPr wrap="square" lIns="0" tIns="0" rIns="0" bIns="0" rtlCol="0">
            <a:spAutoFit/>
          </a:bodyPr>
          <a:lstStyle/>
          <a:p>
            <a:r>
              <a:rPr lang="ko-KR" altLang="en-US" sz="700" dirty="0" err="1">
                <a:latin typeface="+mn-ea"/>
              </a:rPr>
              <a:t>최종처리</a:t>
            </a:r>
            <a:endParaRPr lang="en-US" altLang="ko-KR" sz="700" dirty="0">
              <a:latin typeface="+mn-ea"/>
            </a:endParaRPr>
          </a:p>
          <a:p>
            <a:r>
              <a:rPr lang="en-US" altLang="ko-KR" sz="700" dirty="0">
                <a:latin typeface="+mn-ea"/>
              </a:rPr>
              <a:t>- A) 100%</a:t>
            </a:r>
            <a:r>
              <a:rPr lang="ko-KR" altLang="en-US" sz="700" dirty="0">
                <a:latin typeface="+mn-ea"/>
              </a:rPr>
              <a:t>이상</a:t>
            </a:r>
          </a:p>
          <a:p>
            <a:r>
              <a:rPr lang="en-US" altLang="ko-KR" sz="700" dirty="0">
                <a:latin typeface="+mn-ea"/>
              </a:rPr>
              <a:t>-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80%</a:t>
            </a:r>
            <a:r>
              <a:rPr lang="ko-KR" altLang="en-US" sz="700" dirty="0">
                <a:latin typeface="+mn-ea"/>
              </a:rPr>
              <a:t>미만</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6308280" y="3592490"/>
            <a:ext cx="118623"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89297" y="4056089"/>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3891234" y="4385298"/>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수집운반</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3876043" y="4087259"/>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평가결과</a:t>
            </a:r>
            <a:endParaRPr lang="en-US" altLang="ko-KR" sz="700" dirty="0">
              <a:latin typeface="+mn-ea"/>
            </a:endParaRPr>
          </a:p>
        </p:txBody>
      </p:sp>
      <p:grpSp>
        <p:nvGrpSpPr>
          <p:cNvPr id="131" name="그룹 130"/>
          <p:cNvGrpSpPr/>
          <p:nvPr/>
        </p:nvGrpSpPr>
        <p:grpSpPr>
          <a:xfrm flipV="1">
            <a:off x="6238130" y="4200590"/>
            <a:ext cx="94010" cy="47005"/>
            <a:chOff x="6812560" y="3297172"/>
            <a:chExt cx="94010" cy="47005"/>
          </a:xfrm>
        </p:grpSpPr>
        <p:cxnSp>
          <p:nvCxnSpPr>
            <p:cNvPr id="132" name="직선 연결선 13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3" name="직선 연결선 13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3789297" y="4361374"/>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직사각형 138"/>
          <p:cNvSpPr/>
          <p:nvPr/>
        </p:nvSpPr>
        <p:spPr>
          <a:xfrm>
            <a:off x="3832354" y="4639098"/>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3919419" y="4639099"/>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41" name="직선 연결선 140">
            <a:extLst>
              <a:ext uri="{FF2B5EF4-FFF2-40B4-BE49-F238E27FC236}">
                <a16:creationId xmlns:a16="http://schemas.microsoft.com/office/drawing/2014/main" id="{E9293055-D5CD-4B9E-7F64-64B2D2CA7A52}"/>
              </a:ext>
            </a:extLst>
          </p:cNvPr>
          <p:cNvCxnSpPr/>
          <p:nvPr/>
        </p:nvCxnSpPr>
        <p:spPr>
          <a:xfrm>
            <a:off x="3830263" y="463909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2356" y="48538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4678792" y="4639099"/>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57" name="직선 연결선 156">
            <a:extLst>
              <a:ext uri="{FF2B5EF4-FFF2-40B4-BE49-F238E27FC236}">
                <a16:creationId xmlns:a16="http://schemas.microsoft.com/office/drawing/2014/main" id="{E9293055-D5CD-4B9E-7F64-64B2D2CA7A52}"/>
              </a:ext>
            </a:extLst>
          </p:cNvPr>
          <p:cNvCxnSpPr/>
          <p:nvPr/>
        </p:nvCxnSpPr>
        <p:spPr>
          <a:xfrm>
            <a:off x="3832356" y="550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3832356" y="52851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832356" y="5069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832356" y="57211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832356" y="59262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402231958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383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MUI-BD-10-T21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3" name="그룹 2"/>
          <p:cNvGrpSpPr/>
          <p:nvPr/>
        </p:nvGrpSpPr>
        <p:grpSpPr>
          <a:xfrm>
            <a:off x="716366" y="1491157"/>
            <a:ext cx="2630093" cy="1546463"/>
            <a:chOff x="686517" y="1856764"/>
            <a:chExt cx="2630093" cy="1546463"/>
          </a:xfrm>
        </p:grpSpPr>
        <p:sp>
          <p:nvSpPr>
            <p:cNvPr id="80" name="TextBox 79">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중간처리</a:t>
              </a:r>
            </a:p>
          </p:txBody>
        </p:sp>
        <p:sp>
          <p:nvSpPr>
            <p:cNvPr id="81" name="직사각형 80"/>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86" name="직선 연결선 85">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3" name="그룹 92"/>
          <p:cNvGrpSpPr/>
          <p:nvPr/>
        </p:nvGrpSpPr>
        <p:grpSpPr>
          <a:xfrm>
            <a:off x="716366" y="3089881"/>
            <a:ext cx="2630093" cy="1546463"/>
            <a:chOff x="686517" y="1856764"/>
            <a:chExt cx="2630093" cy="1546463"/>
          </a:xfrm>
        </p:grpSpPr>
        <p:sp>
          <p:nvSpPr>
            <p:cNvPr id="97" name="TextBox 96">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err="1">
                  <a:latin typeface="+mn-ea"/>
                </a:rPr>
                <a:t>최종처리</a:t>
              </a:r>
              <a:endParaRPr lang="ko-KR" altLang="en-US" sz="700" dirty="0">
                <a:latin typeface="+mn-ea"/>
              </a:endParaRPr>
            </a:p>
          </p:txBody>
        </p:sp>
        <p:sp>
          <p:nvSpPr>
            <p:cNvPr id="103" name="직사각형 102"/>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3883823" y="151386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2-1. </a:t>
            </a:r>
            <a:r>
              <a:rPr lang="ko-KR" altLang="en-US" sz="700" dirty="0">
                <a:latin typeface="+mn-ea"/>
              </a:rPr>
              <a:t>기술능력</a:t>
            </a:r>
            <a:r>
              <a:rPr lang="en-US" altLang="ko-KR" sz="700" dirty="0">
                <a:latin typeface="+mn-ea"/>
              </a:rPr>
              <a:t>/</a:t>
            </a:r>
            <a:r>
              <a:rPr lang="ko-KR" altLang="en-US" sz="700" dirty="0">
                <a:latin typeface="+mn-ea"/>
              </a:rPr>
              <a:t>수행능력</a:t>
            </a:r>
          </a:p>
        </p:txBody>
      </p:sp>
      <p:grpSp>
        <p:nvGrpSpPr>
          <p:cNvPr id="161" name="그룹 160"/>
          <p:cNvGrpSpPr/>
          <p:nvPr/>
        </p:nvGrpSpPr>
        <p:grpSpPr>
          <a:xfrm flipV="1">
            <a:off x="6245910" y="1627197"/>
            <a:ext cx="94010" cy="47005"/>
            <a:chOff x="6812560" y="3297172"/>
            <a:chExt cx="94010" cy="47005"/>
          </a:xfrm>
        </p:grpSpPr>
        <p:cxnSp>
          <p:nvCxnSpPr>
            <p:cNvPr id="162" name="직선 연결선 1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4" name="직선 연결선 163">
            <a:extLst>
              <a:ext uri="{FF2B5EF4-FFF2-40B4-BE49-F238E27FC236}">
                <a16:creationId xmlns:a16="http://schemas.microsoft.com/office/drawing/2014/main" id="{E9293055-D5CD-4B9E-7F64-64B2D2CA7A52}"/>
              </a:ext>
            </a:extLst>
          </p:cNvPr>
          <p:cNvCxnSpPr/>
          <p:nvPr/>
        </p:nvCxnSpPr>
        <p:spPr>
          <a:xfrm>
            <a:off x="3797076" y="18006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6" name="직사각형 185"/>
          <p:cNvSpPr/>
          <p:nvPr/>
        </p:nvSpPr>
        <p:spPr>
          <a:xfrm>
            <a:off x="3832355" y="2099610"/>
            <a:ext cx="1639886" cy="52992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418" y="2099611"/>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460" y="209961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263" y="209961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356" y="23143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6247367" y="209961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3919418" y="2369538"/>
            <a:ext cx="1480199" cy="215444"/>
          </a:xfrm>
          <a:prstGeom prst="rect">
            <a:avLst/>
          </a:prstGeom>
          <a:noFill/>
        </p:spPr>
        <p:txBody>
          <a:bodyPr wrap="square" lIns="0" tIns="0" rIns="0" bIns="0" rtlCol="0">
            <a:spAutoFit/>
          </a:bodyPr>
          <a:lstStyle/>
          <a:p>
            <a:r>
              <a:rPr lang="ko-KR" altLang="en-US" sz="700" dirty="0">
                <a:latin typeface="+mn-ea"/>
              </a:rPr>
              <a:t>법정 요건 충족 </a:t>
            </a:r>
            <a:r>
              <a:rPr lang="en-US" altLang="ko-KR" sz="700" dirty="0">
                <a:latin typeface="+mn-ea"/>
              </a:rPr>
              <a:t>: 4</a:t>
            </a:r>
          </a:p>
          <a:p>
            <a:r>
              <a:rPr lang="ko-KR" altLang="en-US" sz="700" dirty="0">
                <a:latin typeface="+mn-ea"/>
              </a:rPr>
              <a:t>법정 요건 </a:t>
            </a:r>
            <a:r>
              <a:rPr lang="ko-KR" altLang="en-US" sz="700" dirty="0" err="1">
                <a:latin typeface="+mn-ea"/>
              </a:rPr>
              <a:t>미충족</a:t>
            </a:r>
            <a:r>
              <a:rPr lang="ko-KR" altLang="en-US" sz="700" dirty="0">
                <a:latin typeface="+mn-ea"/>
              </a:rPr>
              <a:t> </a:t>
            </a:r>
            <a:r>
              <a:rPr lang="en-US" altLang="ko-KR" sz="700" dirty="0">
                <a:latin typeface="+mn-ea"/>
              </a:rPr>
              <a:t>: 0.2</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5708373" y="2423399"/>
            <a:ext cx="118623" cy="107722"/>
          </a:xfrm>
          <a:prstGeom prst="rect">
            <a:avLst/>
          </a:prstGeom>
          <a:noFill/>
        </p:spPr>
        <p:txBody>
          <a:bodyPr wrap="none" lIns="0" tIns="0" rIns="0" bIns="0" rtlCol="0">
            <a:spAutoFit/>
          </a:bodyPr>
          <a:lstStyle/>
          <a:p>
            <a:pPr algn="r"/>
            <a:r>
              <a:rPr lang="en-US" altLang="ko-KR" sz="700" dirty="0">
                <a:latin typeface="+mn-ea"/>
              </a:rPr>
              <a:t>4.0</a:t>
            </a:r>
            <a:endParaRPr lang="ko-KR" altLang="en-US" sz="700" dirty="0">
              <a:latin typeface="+mn-ea"/>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6390033" y="2423399"/>
            <a:ext cx="36870"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1" name="TextBox 210">
            <a:extLst>
              <a:ext uri="{FF2B5EF4-FFF2-40B4-BE49-F238E27FC236}">
                <a16:creationId xmlns:a16="http://schemas.microsoft.com/office/drawing/2014/main" id="{FFC49AEA-2A8F-250C-A86A-A7751D9706C3}"/>
              </a:ext>
            </a:extLst>
          </p:cNvPr>
          <p:cNvSpPr txBox="1"/>
          <p:nvPr/>
        </p:nvSpPr>
        <p:spPr>
          <a:xfrm>
            <a:off x="3891234" y="182313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기술인력</a:t>
            </a:r>
            <a:r>
              <a:rPr lang="en-US" altLang="ko-KR" sz="700" dirty="0">
                <a:latin typeface="+mn-ea"/>
              </a:rPr>
              <a:t>,</a:t>
            </a:r>
            <a:r>
              <a:rPr lang="ko-KR" altLang="en-US" sz="700" dirty="0">
                <a:latin typeface="+mn-ea"/>
              </a:rPr>
              <a:t>시설</a:t>
            </a:r>
            <a:r>
              <a:rPr lang="en-US" altLang="ko-KR" sz="700" dirty="0">
                <a:latin typeface="+mn-ea"/>
              </a:rPr>
              <a:t>,</a:t>
            </a:r>
            <a:r>
              <a:rPr lang="ko-KR" altLang="en-US" sz="700" dirty="0">
                <a:latin typeface="+mn-ea"/>
              </a:rPr>
              <a:t>장비 확보</a:t>
            </a:r>
            <a:r>
              <a:rPr lang="en-US" altLang="ko-KR" sz="700" dirty="0">
                <a:latin typeface="+mn-ea"/>
              </a:rPr>
              <a:t>(4)</a:t>
            </a: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3832356" y="26295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직사각형 215"/>
          <p:cNvSpPr/>
          <p:nvPr/>
        </p:nvSpPr>
        <p:spPr>
          <a:xfrm>
            <a:off x="3832355" y="2949627"/>
            <a:ext cx="1639886" cy="27034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TextBox 216">
            <a:extLst>
              <a:ext uri="{FF2B5EF4-FFF2-40B4-BE49-F238E27FC236}">
                <a16:creationId xmlns:a16="http://schemas.microsoft.com/office/drawing/2014/main" id="{FFC49AEA-2A8F-250C-A86A-A7751D9706C3}"/>
              </a:ext>
            </a:extLst>
          </p:cNvPr>
          <p:cNvSpPr txBox="1"/>
          <p:nvPr/>
        </p:nvSpPr>
        <p:spPr>
          <a:xfrm>
            <a:off x="3919418" y="294962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47460" y="294962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30263" y="29496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2356" y="31643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6247367" y="294962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222" name="TextBox 221">
            <a:extLst>
              <a:ext uri="{FF2B5EF4-FFF2-40B4-BE49-F238E27FC236}">
                <a16:creationId xmlns:a16="http://schemas.microsoft.com/office/drawing/2014/main" id="{FFC49AEA-2A8F-250C-A86A-A7751D9706C3}"/>
              </a:ext>
            </a:extLst>
          </p:cNvPr>
          <p:cNvSpPr txBox="1"/>
          <p:nvPr/>
        </p:nvSpPr>
        <p:spPr>
          <a:xfrm>
            <a:off x="3919418" y="3207258"/>
            <a:ext cx="1480199" cy="538609"/>
          </a:xfrm>
          <a:prstGeom prst="rect">
            <a:avLst/>
          </a:prstGeom>
          <a:noFill/>
        </p:spPr>
        <p:txBody>
          <a:bodyPr wrap="square" lIns="0" tIns="0" rIns="0" bIns="0" rtlCol="0">
            <a:spAutoFit/>
          </a:bodyPr>
          <a:lstStyle/>
          <a:p>
            <a:r>
              <a:rPr lang="ko-KR" altLang="en-US" sz="700" dirty="0" err="1">
                <a:latin typeface="+mn-ea"/>
              </a:rPr>
              <a:t>수집운반차량총적재량대비당해용역</a:t>
            </a:r>
            <a:r>
              <a:rPr lang="en-US" altLang="ko-KR" sz="700" dirty="0">
                <a:latin typeface="+mn-ea"/>
              </a:rPr>
              <a:t>1</a:t>
            </a:r>
            <a:r>
              <a:rPr lang="ko-KR" altLang="en-US" sz="700" dirty="0">
                <a:latin typeface="+mn-ea"/>
              </a:rPr>
              <a:t>일평균처리물량</a:t>
            </a:r>
            <a:r>
              <a:rPr lang="en-US" altLang="ko-KR" sz="700" dirty="0">
                <a:latin typeface="+mn-ea"/>
              </a:rPr>
              <a:t>(2)</a:t>
            </a:r>
          </a:p>
          <a:p>
            <a:r>
              <a:rPr lang="en-US" altLang="ko-KR" sz="700" dirty="0">
                <a:latin typeface="+mn-ea"/>
              </a:rPr>
              <a:t>- A) 100%</a:t>
            </a:r>
            <a:r>
              <a:rPr lang="ko-KR" altLang="en-US" sz="700" dirty="0">
                <a:latin typeface="+mn-ea"/>
              </a:rPr>
              <a:t>이상</a:t>
            </a:r>
          </a:p>
          <a:p>
            <a:r>
              <a:rPr lang="en-US" altLang="ko-KR" sz="700" dirty="0">
                <a:latin typeface="+mn-ea"/>
              </a:rPr>
              <a:t>- B) 50%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50%</a:t>
            </a:r>
            <a:r>
              <a:rPr lang="ko-KR" altLang="en-US" sz="700" dirty="0">
                <a:latin typeface="+mn-ea"/>
              </a:rPr>
              <a:t>미만</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5708309" y="3422702"/>
            <a:ext cx="118687"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6389970" y="3422702"/>
            <a:ext cx="36933" cy="323165"/>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p>
          <a:p>
            <a:pPr algn="r"/>
            <a:r>
              <a:rPr lang="en-US" altLang="ko-KR" sz="700" dirty="0">
                <a:latin typeface="+mn-ea"/>
              </a:rPr>
              <a:t>-</a:t>
            </a:r>
            <a:endParaRPr lang="ko-KR" altLang="en-US"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3891234" y="26731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err="1">
                <a:latin typeface="+mn-ea"/>
              </a:rPr>
              <a:t>당해용역</a:t>
            </a:r>
            <a:r>
              <a:rPr lang="ko-KR" altLang="en-US" sz="700" dirty="0">
                <a:latin typeface="+mn-ea"/>
              </a:rPr>
              <a:t> </a:t>
            </a:r>
            <a:r>
              <a:rPr lang="ko-KR" altLang="en-US" sz="700" dirty="0" err="1">
                <a:latin typeface="+mn-ea"/>
              </a:rPr>
              <a:t>이행능력</a:t>
            </a:r>
            <a:r>
              <a:rPr lang="en-US" altLang="ko-KR" sz="700" dirty="0">
                <a:latin typeface="+mn-ea"/>
              </a:rPr>
              <a:t>(8)</a:t>
            </a: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3832356" y="37887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7" name="TextBox 226">
            <a:extLst>
              <a:ext uri="{FF2B5EF4-FFF2-40B4-BE49-F238E27FC236}">
                <a16:creationId xmlns:a16="http://schemas.microsoft.com/office/drawing/2014/main" id="{FFC49AEA-2A8F-250C-A86A-A7751D9706C3}"/>
              </a:ext>
            </a:extLst>
          </p:cNvPr>
          <p:cNvSpPr txBox="1"/>
          <p:nvPr/>
        </p:nvSpPr>
        <p:spPr>
          <a:xfrm>
            <a:off x="3919418" y="3831645"/>
            <a:ext cx="1480199" cy="646331"/>
          </a:xfrm>
          <a:prstGeom prst="rect">
            <a:avLst/>
          </a:prstGeom>
          <a:noFill/>
        </p:spPr>
        <p:txBody>
          <a:bodyPr wrap="square" lIns="0" tIns="0" rIns="0" bIns="0" rtlCol="0">
            <a:spAutoFit/>
          </a:bodyPr>
          <a:lstStyle/>
          <a:p>
            <a:r>
              <a:rPr lang="ko-KR" altLang="en-US" sz="700" dirty="0">
                <a:latin typeface="+mn-ea"/>
              </a:rPr>
              <a:t>중간재활용처리</a:t>
            </a:r>
            <a:r>
              <a:rPr lang="en-US" altLang="ko-KR" sz="700" dirty="0">
                <a:latin typeface="+mn-ea"/>
              </a:rPr>
              <a:t>(4)</a:t>
            </a:r>
          </a:p>
          <a:p>
            <a:r>
              <a:rPr lang="en-US" altLang="ko-KR" sz="700" dirty="0">
                <a:latin typeface="+mn-ea"/>
              </a:rPr>
              <a:t>- 1</a:t>
            </a:r>
            <a:r>
              <a:rPr lang="ko-KR" altLang="en-US" sz="700" dirty="0" err="1">
                <a:latin typeface="+mn-ea"/>
              </a:rPr>
              <a:t>일처리용량대비당해용역</a:t>
            </a:r>
            <a:r>
              <a:rPr lang="en-US" altLang="ko-KR" sz="700" dirty="0">
                <a:latin typeface="+mn-ea"/>
              </a:rPr>
              <a:t>1</a:t>
            </a:r>
            <a:r>
              <a:rPr lang="ko-KR" altLang="en-US" sz="700" dirty="0">
                <a:latin typeface="+mn-ea"/>
              </a:rPr>
              <a:t>일평균처리량</a:t>
            </a:r>
            <a:r>
              <a:rPr lang="en-US" altLang="ko-KR" sz="700" dirty="0">
                <a:latin typeface="+mn-ea"/>
              </a:rPr>
              <a:t>(2)</a:t>
            </a:r>
          </a:p>
          <a:p>
            <a:r>
              <a:rPr lang="en-US" altLang="ko-KR" sz="700" dirty="0">
                <a:latin typeface="+mn-ea"/>
              </a:rPr>
              <a:t>    - A) 100%</a:t>
            </a:r>
            <a:r>
              <a:rPr lang="ko-KR" altLang="en-US" sz="700" dirty="0">
                <a:latin typeface="+mn-ea"/>
              </a:rPr>
              <a:t>이상</a:t>
            </a:r>
          </a:p>
          <a:p>
            <a:r>
              <a:rPr lang="en-US" altLang="ko-KR" sz="700" dirty="0">
                <a:latin typeface="+mn-ea"/>
              </a:rPr>
              <a:t>    - B) 50%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 C) 50%</a:t>
            </a:r>
            <a:r>
              <a:rPr lang="ko-KR" altLang="en-US" sz="700" dirty="0">
                <a:latin typeface="+mn-ea"/>
              </a:rPr>
              <a:t>미만</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708309" y="4154811"/>
            <a:ext cx="118687"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endParaRPr lang="ko-KR" altLang="en-US" sz="700" dirty="0">
              <a:latin typeface="+mn-ea"/>
            </a:endParaRPr>
          </a:p>
        </p:txBody>
      </p:sp>
      <p:sp>
        <p:nvSpPr>
          <p:cNvPr id="229" name="TextBox 228">
            <a:extLst>
              <a:ext uri="{FF2B5EF4-FFF2-40B4-BE49-F238E27FC236}">
                <a16:creationId xmlns:a16="http://schemas.microsoft.com/office/drawing/2014/main" id="{FFC49AEA-2A8F-250C-A86A-A7751D9706C3}"/>
              </a:ext>
            </a:extLst>
          </p:cNvPr>
          <p:cNvSpPr txBox="1"/>
          <p:nvPr/>
        </p:nvSpPr>
        <p:spPr>
          <a:xfrm>
            <a:off x="6389970" y="4154811"/>
            <a:ext cx="36933" cy="323165"/>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p>
          <a:p>
            <a:pPr algn="r"/>
            <a:r>
              <a:rPr lang="en-US" altLang="ko-KR" sz="700" dirty="0">
                <a:latin typeface="+mn-ea"/>
              </a:rPr>
              <a:t>-</a:t>
            </a:r>
            <a:endParaRPr lang="ko-KR" altLang="en-US" sz="700" dirty="0">
              <a:latin typeface="+mn-ea"/>
            </a:endParaRPr>
          </a:p>
        </p:txBody>
      </p:sp>
      <p:sp>
        <p:nvSpPr>
          <p:cNvPr id="231" name="TextBox 230">
            <a:extLst>
              <a:ext uri="{FF2B5EF4-FFF2-40B4-BE49-F238E27FC236}">
                <a16:creationId xmlns:a16="http://schemas.microsoft.com/office/drawing/2014/main" id="{FFC49AEA-2A8F-250C-A86A-A7751D9706C3}"/>
              </a:ext>
            </a:extLst>
          </p:cNvPr>
          <p:cNvSpPr txBox="1"/>
          <p:nvPr/>
        </p:nvSpPr>
        <p:spPr>
          <a:xfrm>
            <a:off x="3919418" y="4563754"/>
            <a:ext cx="1480199" cy="323165"/>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순환골재 품질인증</a:t>
            </a:r>
            <a:r>
              <a:rPr lang="en-US" altLang="ko-KR" sz="700" dirty="0">
                <a:latin typeface="+mn-ea"/>
              </a:rPr>
              <a:t>(2)</a:t>
            </a:r>
          </a:p>
          <a:p>
            <a:r>
              <a:rPr lang="en-US" altLang="ko-KR" sz="700" dirty="0">
                <a:latin typeface="+mn-ea"/>
              </a:rPr>
              <a:t>    - A) </a:t>
            </a:r>
            <a:r>
              <a:rPr lang="ko-KR" altLang="en-US" sz="700" dirty="0">
                <a:latin typeface="+mn-ea"/>
              </a:rPr>
              <a:t>품질인증</a:t>
            </a:r>
          </a:p>
          <a:p>
            <a:r>
              <a:rPr lang="en-US" altLang="ko-KR" sz="700" dirty="0">
                <a:latin typeface="+mn-ea"/>
              </a:rPr>
              <a:t>    - B) </a:t>
            </a:r>
            <a:r>
              <a:rPr lang="ko-KR" altLang="en-US" sz="700" dirty="0" err="1">
                <a:latin typeface="+mn-ea"/>
              </a:rPr>
              <a:t>기본배점</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5708309" y="4671475"/>
            <a:ext cx="118687" cy="215444"/>
          </a:xfrm>
          <a:prstGeom prst="rect">
            <a:avLst/>
          </a:prstGeom>
          <a:noFill/>
        </p:spPr>
        <p:txBody>
          <a:bodyPr wrap="none" lIns="0" tIns="0" rIns="0" bIns="0" rtlCol="0">
            <a:spAutoFit/>
          </a:bodyPr>
          <a:lstStyle/>
          <a:p>
            <a:pPr algn="r"/>
            <a:r>
              <a:rPr lang="en-US" altLang="ko-KR" sz="700" dirty="0">
                <a:latin typeface="+mn-ea"/>
              </a:rPr>
              <a:t>0.2</a:t>
            </a:r>
          </a:p>
          <a:p>
            <a:pPr algn="r"/>
            <a:r>
              <a:rPr lang="en-US" altLang="ko-KR" sz="700" dirty="0">
                <a:latin typeface="+mn-ea"/>
              </a:rPr>
              <a:t>1.8</a:t>
            </a:r>
            <a:endParaRPr lang="ko-KR" altLang="en-US" sz="700" dirty="0">
              <a:latin typeface="+mn-ea"/>
            </a:endParaRPr>
          </a:p>
        </p:txBody>
      </p:sp>
      <p:sp>
        <p:nvSpPr>
          <p:cNvPr id="233" name="TextBox 232">
            <a:extLst>
              <a:ext uri="{FF2B5EF4-FFF2-40B4-BE49-F238E27FC236}">
                <a16:creationId xmlns:a16="http://schemas.microsoft.com/office/drawing/2014/main" id="{FFC49AEA-2A8F-250C-A86A-A7751D9706C3}"/>
              </a:ext>
            </a:extLst>
          </p:cNvPr>
          <p:cNvSpPr txBox="1"/>
          <p:nvPr/>
        </p:nvSpPr>
        <p:spPr>
          <a:xfrm>
            <a:off x="6390033" y="4671475"/>
            <a:ext cx="36870" cy="215444"/>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p:txBody>
      </p:sp>
      <p:cxnSp>
        <p:nvCxnSpPr>
          <p:cNvPr id="234" name="직선 연결선 233">
            <a:extLst>
              <a:ext uri="{FF2B5EF4-FFF2-40B4-BE49-F238E27FC236}">
                <a16:creationId xmlns:a16="http://schemas.microsoft.com/office/drawing/2014/main" id="{E9293055-D5CD-4B9E-7F64-64B2D2CA7A52}"/>
              </a:ext>
            </a:extLst>
          </p:cNvPr>
          <p:cNvCxnSpPr/>
          <p:nvPr/>
        </p:nvCxnSpPr>
        <p:spPr>
          <a:xfrm>
            <a:off x="3832356" y="49209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TextBox 234">
            <a:extLst>
              <a:ext uri="{FF2B5EF4-FFF2-40B4-BE49-F238E27FC236}">
                <a16:creationId xmlns:a16="http://schemas.microsoft.com/office/drawing/2014/main" id="{FFC49AEA-2A8F-250C-A86A-A7751D9706C3}"/>
              </a:ext>
            </a:extLst>
          </p:cNvPr>
          <p:cNvSpPr txBox="1"/>
          <p:nvPr/>
        </p:nvSpPr>
        <p:spPr>
          <a:xfrm>
            <a:off x="3919418" y="4963837"/>
            <a:ext cx="1480199" cy="646331"/>
          </a:xfrm>
          <a:prstGeom prst="rect">
            <a:avLst/>
          </a:prstGeom>
          <a:noFill/>
        </p:spPr>
        <p:txBody>
          <a:bodyPr wrap="square" lIns="0" tIns="0" rIns="0" bIns="0" rtlCol="0">
            <a:spAutoFit/>
          </a:bodyPr>
          <a:lstStyle/>
          <a:p>
            <a:r>
              <a:rPr lang="ko-KR" altLang="en-US" sz="700" dirty="0" err="1">
                <a:latin typeface="+mn-ea"/>
              </a:rPr>
              <a:t>최종처리</a:t>
            </a:r>
            <a:r>
              <a:rPr lang="en-US" altLang="ko-KR" sz="700" dirty="0">
                <a:latin typeface="+mn-ea"/>
              </a:rPr>
              <a:t>(2)</a:t>
            </a:r>
          </a:p>
          <a:p>
            <a:r>
              <a:rPr lang="en-US" altLang="ko-KR" sz="700" dirty="0">
                <a:latin typeface="+mn-ea"/>
              </a:rPr>
              <a:t>- 1</a:t>
            </a:r>
            <a:r>
              <a:rPr lang="ko-KR" altLang="en-US" sz="700" dirty="0" err="1">
                <a:latin typeface="+mn-ea"/>
              </a:rPr>
              <a:t>일처리용량대비당해용역</a:t>
            </a:r>
            <a:r>
              <a:rPr lang="en-US" altLang="ko-KR" sz="700" dirty="0">
                <a:latin typeface="+mn-ea"/>
              </a:rPr>
              <a:t>1</a:t>
            </a:r>
            <a:r>
              <a:rPr lang="ko-KR" altLang="en-US" sz="700" dirty="0">
                <a:latin typeface="+mn-ea"/>
              </a:rPr>
              <a:t>일평균처리량</a:t>
            </a:r>
            <a:r>
              <a:rPr lang="en-US" altLang="ko-KR" sz="700" dirty="0">
                <a:latin typeface="+mn-ea"/>
              </a:rPr>
              <a:t>(2)</a:t>
            </a:r>
          </a:p>
          <a:p>
            <a:r>
              <a:rPr lang="en-US" altLang="ko-KR" sz="700" dirty="0">
                <a:latin typeface="+mn-ea"/>
              </a:rPr>
              <a:t>    - A) 100%</a:t>
            </a:r>
            <a:r>
              <a:rPr lang="ko-KR" altLang="en-US" sz="700" dirty="0">
                <a:latin typeface="+mn-ea"/>
              </a:rPr>
              <a:t>이상</a:t>
            </a:r>
          </a:p>
          <a:p>
            <a:r>
              <a:rPr lang="en-US" altLang="ko-KR" sz="700" dirty="0">
                <a:latin typeface="+mn-ea"/>
              </a:rPr>
              <a:t>    -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 C) 80%</a:t>
            </a:r>
            <a:r>
              <a:rPr lang="ko-KR" altLang="en-US" sz="700" dirty="0">
                <a:latin typeface="+mn-ea"/>
              </a:rPr>
              <a:t>미만</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5708374" y="5287003"/>
            <a:ext cx="118622"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endParaRPr lang="ko-KR" altLang="en-US"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6389970" y="5287003"/>
            <a:ext cx="36933" cy="323165"/>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p>
          <a:p>
            <a:pPr algn="r"/>
            <a:r>
              <a:rPr lang="en-US" altLang="ko-KR" sz="700" dirty="0">
                <a:latin typeface="+mn-ea"/>
              </a:rPr>
              <a:t>-</a:t>
            </a:r>
            <a:endParaRPr lang="ko-KR" altLang="en-US" sz="700" dirty="0">
              <a:latin typeface="+mn-ea"/>
            </a:endParaRP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2356" y="56530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4" name="타원 7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18514624"/>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384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t>MUI-BD-10-T21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6" name="그룹 5"/>
          <p:cNvGrpSpPr/>
          <p:nvPr/>
        </p:nvGrpSpPr>
        <p:grpSpPr>
          <a:xfrm>
            <a:off x="675399" y="1493927"/>
            <a:ext cx="2712026" cy="1875672"/>
            <a:chOff x="3789297" y="4056089"/>
            <a:chExt cx="2712026" cy="1875672"/>
          </a:xfrm>
        </p:grpSpPr>
        <p:cxnSp>
          <p:nvCxnSpPr>
            <p:cNvPr id="75" name="직선 연결선 74">
              <a:extLst>
                <a:ext uri="{FF2B5EF4-FFF2-40B4-BE49-F238E27FC236}">
                  <a16:creationId xmlns:a16="http://schemas.microsoft.com/office/drawing/2014/main" id="{E9293055-D5CD-4B9E-7F64-64B2D2CA7A52}"/>
                </a:ext>
              </a:extLst>
            </p:cNvPr>
            <p:cNvCxnSpPr/>
            <p:nvPr/>
          </p:nvCxnSpPr>
          <p:spPr>
            <a:xfrm>
              <a:off x="3789297" y="4056089"/>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6" name="TextBox 75">
              <a:extLst>
                <a:ext uri="{FF2B5EF4-FFF2-40B4-BE49-F238E27FC236}">
                  <a16:creationId xmlns:a16="http://schemas.microsoft.com/office/drawing/2014/main" id="{FFC49AEA-2A8F-250C-A86A-A7751D9706C3}"/>
                </a:ext>
              </a:extLst>
            </p:cNvPr>
            <p:cNvSpPr txBox="1"/>
            <p:nvPr/>
          </p:nvSpPr>
          <p:spPr>
            <a:xfrm>
              <a:off x="3891234" y="4385298"/>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수집운반</a:t>
              </a:r>
            </a:p>
          </p:txBody>
        </p:sp>
        <p:sp>
          <p:nvSpPr>
            <p:cNvPr id="77" name="TextBox 76">
              <a:extLst>
                <a:ext uri="{FF2B5EF4-FFF2-40B4-BE49-F238E27FC236}">
                  <a16:creationId xmlns:a16="http://schemas.microsoft.com/office/drawing/2014/main" id="{FFC49AEA-2A8F-250C-A86A-A7751D9706C3}"/>
                </a:ext>
              </a:extLst>
            </p:cNvPr>
            <p:cNvSpPr txBox="1"/>
            <p:nvPr/>
          </p:nvSpPr>
          <p:spPr>
            <a:xfrm>
              <a:off x="3876043" y="4087259"/>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평가결과</a:t>
              </a:r>
              <a:endParaRPr lang="en-US" altLang="ko-KR" sz="700" dirty="0">
                <a:latin typeface="+mn-ea"/>
              </a:endParaRPr>
            </a:p>
          </p:txBody>
        </p:sp>
        <p:grpSp>
          <p:nvGrpSpPr>
            <p:cNvPr id="78" name="그룹 77"/>
            <p:cNvGrpSpPr/>
            <p:nvPr/>
          </p:nvGrpSpPr>
          <p:grpSpPr>
            <a:xfrm flipV="1">
              <a:off x="6238130" y="4200590"/>
              <a:ext cx="94010" cy="47005"/>
              <a:chOff x="6812560" y="3297172"/>
              <a:chExt cx="94010" cy="47005"/>
            </a:xfrm>
          </p:grpSpPr>
          <p:cxnSp>
            <p:nvCxnSpPr>
              <p:cNvPr id="79" name="직선 연결선 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0" name="직선 연결선 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3789297" y="4361374"/>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직사각형 93"/>
            <p:cNvSpPr/>
            <p:nvPr/>
          </p:nvSpPr>
          <p:spPr>
            <a:xfrm>
              <a:off x="3832354" y="4639098"/>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3919419" y="4639099"/>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3830263" y="463909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832356" y="48538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9" name="TextBox 98">
              <a:extLst>
                <a:ext uri="{FF2B5EF4-FFF2-40B4-BE49-F238E27FC236}">
                  <a16:creationId xmlns:a16="http://schemas.microsoft.com/office/drawing/2014/main" id="{FFC49AEA-2A8F-250C-A86A-A7751D9706C3}"/>
                </a:ext>
              </a:extLst>
            </p:cNvPr>
            <p:cNvSpPr txBox="1"/>
            <p:nvPr/>
          </p:nvSpPr>
          <p:spPr>
            <a:xfrm>
              <a:off x="4678792" y="4639099"/>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00" name="직선 연결선 99">
              <a:extLst>
                <a:ext uri="{FF2B5EF4-FFF2-40B4-BE49-F238E27FC236}">
                  <a16:creationId xmlns:a16="http://schemas.microsoft.com/office/drawing/2014/main" id="{E9293055-D5CD-4B9E-7F64-64B2D2CA7A52}"/>
                </a:ext>
              </a:extLst>
            </p:cNvPr>
            <p:cNvCxnSpPr/>
            <p:nvPr/>
          </p:nvCxnSpPr>
          <p:spPr>
            <a:xfrm>
              <a:off x="3832356" y="550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3832356" y="52851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832356" y="5069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832356" y="57211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3832356" y="59262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7" name="그룹 106"/>
          <p:cNvGrpSpPr/>
          <p:nvPr/>
        </p:nvGrpSpPr>
        <p:grpSpPr>
          <a:xfrm>
            <a:off x="716366" y="3486214"/>
            <a:ext cx="2630093" cy="1546463"/>
            <a:chOff x="686517" y="1856764"/>
            <a:chExt cx="2630093" cy="1546463"/>
          </a:xfrm>
        </p:grpSpPr>
        <p:sp>
          <p:nvSpPr>
            <p:cNvPr id="108" name="TextBox 107">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중간처리</a:t>
              </a:r>
            </a:p>
          </p:txBody>
        </p:sp>
        <p:sp>
          <p:nvSpPr>
            <p:cNvPr id="109" name="직사각형 108"/>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3" name="그룹 122"/>
          <p:cNvGrpSpPr/>
          <p:nvPr/>
        </p:nvGrpSpPr>
        <p:grpSpPr>
          <a:xfrm>
            <a:off x="3830263" y="1493927"/>
            <a:ext cx="2630093" cy="1546463"/>
            <a:chOff x="686517" y="1856764"/>
            <a:chExt cx="2630093" cy="1546463"/>
          </a:xfrm>
        </p:grpSpPr>
        <p:sp>
          <p:nvSpPr>
            <p:cNvPr id="124" name="TextBox 123">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err="1">
                  <a:latin typeface="+mn-ea"/>
                </a:rPr>
                <a:t>최종처리</a:t>
              </a:r>
              <a:endParaRPr lang="ko-KR" altLang="en-US" sz="700" dirty="0">
                <a:latin typeface="+mn-ea"/>
              </a:endParaRPr>
            </a:p>
          </p:txBody>
        </p:sp>
        <p:sp>
          <p:nvSpPr>
            <p:cNvPr id="125" name="직사각형 124"/>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29" name="직선 연결선 128">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39" name="그룹 138"/>
          <p:cNvGrpSpPr/>
          <p:nvPr/>
        </p:nvGrpSpPr>
        <p:grpSpPr>
          <a:xfrm>
            <a:off x="3787956" y="3125829"/>
            <a:ext cx="2713368" cy="1361524"/>
            <a:chOff x="675400" y="4950731"/>
            <a:chExt cx="2713368" cy="1361524"/>
          </a:xfrm>
        </p:grpSpPr>
        <p:cxnSp>
          <p:nvCxnSpPr>
            <p:cNvPr id="140" name="직선 연결선 139">
              <a:extLst>
                <a:ext uri="{FF2B5EF4-FFF2-40B4-BE49-F238E27FC236}">
                  <a16:creationId xmlns:a16="http://schemas.microsoft.com/office/drawing/2014/main" id="{E9293055-D5CD-4B9E-7F64-64B2D2CA7A52}"/>
                </a:ext>
              </a:extLst>
            </p:cNvPr>
            <p:cNvCxnSpPr/>
            <p:nvPr/>
          </p:nvCxnSpPr>
          <p:spPr>
            <a:xfrm>
              <a:off x="675400" y="495073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직사각형 140"/>
            <p:cNvSpPr/>
            <p:nvPr/>
          </p:nvSpPr>
          <p:spPr>
            <a:xfrm>
              <a:off x="718458" y="5563700"/>
              <a:ext cx="1639886" cy="43439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2" name="TextBox 141">
              <a:extLst>
                <a:ext uri="{FF2B5EF4-FFF2-40B4-BE49-F238E27FC236}">
                  <a16:creationId xmlns:a16="http://schemas.microsoft.com/office/drawing/2014/main" id="{FFC49AEA-2A8F-250C-A86A-A7751D9706C3}"/>
                </a:ext>
              </a:extLst>
            </p:cNvPr>
            <p:cNvSpPr txBox="1"/>
            <p:nvPr/>
          </p:nvSpPr>
          <p:spPr>
            <a:xfrm>
              <a:off x="805521" y="5563701"/>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회사채</a:t>
              </a:r>
              <a:r>
                <a:rPr lang="en-US" altLang="ko-KR" sz="700" dirty="0">
                  <a:latin typeface="+mn-ea"/>
                </a:rPr>
                <a:t>,</a:t>
              </a:r>
              <a:r>
                <a:rPr lang="ko-KR" altLang="en-US" sz="700" dirty="0">
                  <a:latin typeface="+mn-ea"/>
                </a:rPr>
                <a:t>기업신용평가</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2533563" y="556370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등급</a:t>
              </a:r>
              <a:endParaRPr lang="en-US" altLang="ko-KR" sz="700" dirty="0">
                <a:latin typeface="+mn-ea"/>
              </a:endParaRPr>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6366" y="55637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5778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59980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777337" y="527658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기타</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3133470" y="556370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49" name="직선 연결선 148">
              <a:extLst>
                <a:ext uri="{FF2B5EF4-FFF2-40B4-BE49-F238E27FC236}">
                  <a16:creationId xmlns:a16="http://schemas.microsoft.com/office/drawing/2014/main" id="{E9293055-D5CD-4B9E-7F64-64B2D2CA7A52}"/>
                </a:ext>
              </a:extLst>
            </p:cNvPr>
            <p:cNvCxnSpPr/>
            <p:nvPr/>
          </p:nvCxnSpPr>
          <p:spPr>
            <a:xfrm>
              <a:off x="676741" y="631225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763487" y="603869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비고 내용 표시 </a:t>
              </a:r>
              <a:r>
                <a:rPr lang="en-US" altLang="ko-KR" sz="700" dirty="0">
                  <a:latin typeface="+mn-ea"/>
                </a:rPr>
                <a:t>/ </a:t>
              </a:r>
              <a:r>
                <a:rPr lang="ko-KR" altLang="en-US" sz="700" dirty="0">
                  <a:latin typeface="+mn-ea"/>
                </a:rPr>
                <a:t>비고가 없는 경우 라인 숨김</a:t>
              </a:r>
              <a:endParaRPr lang="en-US" altLang="ko-KR"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762146" y="4978547"/>
              <a:ext cx="1598477" cy="215444"/>
            </a:xfrm>
            <a:prstGeom prst="rect">
              <a:avLst/>
            </a:prstGeom>
            <a:noFill/>
          </p:spPr>
          <p:txBody>
            <a:bodyPr wrap="square" lIns="0" tIns="0" rIns="0" bIns="0" rtlCol="0">
              <a:spAutoFit/>
            </a:bodyPr>
            <a:lstStyle/>
            <a:p>
              <a:pPr>
                <a:lnSpc>
                  <a:spcPct val="200000"/>
                </a:lnSpc>
              </a:pPr>
              <a:r>
                <a:rPr lang="en-US" altLang="ko-KR" sz="700" dirty="0">
                  <a:latin typeface="+mn-ea"/>
                </a:rPr>
                <a:t>3.</a:t>
              </a:r>
              <a:r>
                <a:rPr lang="ko-KR" altLang="en-US" sz="700" dirty="0">
                  <a:latin typeface="+mn-ea"/>
                </a:rPr>
                <a:t>신용평가</a:t>
              </a:r>
              <a:r>
                <a:rPr lang="en-US" altLang="ko-KR" sz="700" dirty="0">
                  <a:latin typeface="+mn-ea"/>
                </a:rPr>
                <a:t>(10</a:t>
              </a:r>
              <a:r>
                <a:rPr lang="ko-KR" altLang="en-US" sz="700" dirty="0">
                  <a:latin typeface="+mn-ea"/>
                </a:rPr>
                <a:t>점</a:t>
              </a:r>
              <a:r>
                <a:rPr lang="en-US" altLang="ko-KR" sz="700" dirty="0">
                  <a:latin typeface="+mn-ea"/>
                </a:rPr>
                <a:t>)</a:t>
              </a:r>
              <a:endParaRPr lang="ko-KR" altLang="en-US" sz="700" dirty="0">
                <a:latin typeface="+mn-ea"/>
              </a:endParaRPr>
            </a:p>
          </p:txBody>
        </p:sp>
        <p:grpSp>
          <p:nvGrpSpPr>
            <p:cNvPr id="152" name="그룹 151"/>
            <p:cNvGrpSpPr/>
            <p:nvPr/>
          </p:nvGrpSpPr>
          <p:grpSpPr>
            <a:xfrm flipV="1">
              <a:off x="3124233" y="5091878"/>
              <a:ext cx="94010" cy="47005"/>
              <a:chOff x="6812560" y="3297172"/>
              <a:chExt cx="94010" cy="47005"/>
            </a:xfrm>
          </p:grpSpPr>
          <p:cxnSp>
            <p:nvCxnSpPr>
              <p:cNvPr id="154" name="직선 연결선 15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3" name="직선 연결선 152">
              <a:extLst>
                <a:ext uri="{FF2B5EF4-FFF2-40B4-BE49-F238E27FC236}">
                  <a16:creationId xmlns:a16="http://schemas.microsoft.com/office/drawing/2014/main" id="{E9293055-D5CD-4B9E-7F64-64B2D2CA7A52}"/>
                </a:ext>
              </a:extLst>
            </p:cNvPr>
            <p:cNvCxnSpPr/>
            <p:nvPr/>
          </p:nvCxnSpPr>
          <p:spPr>
            <a:xfrm>
              <a:off x="675400" y="5252662"/>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71" name="타원 7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583932128"/>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385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t>MUI-BD-10-T21 </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675399" y="1513866"/>
            <a:ext cx="2712027" cy="1879154"/>
            <a:chOff x="3797076" y="1513866"/>
            <a:chExt cx="2712027" cy="1879154"/>
          </a:xfrm>
        </p:grpSpPr>
        <p:sp>
          <p:nvSpPr>
            <p:cNvPr id="160" name="TextBox 159">
              <a:extLst>
                <a:ext uri="{FF2B5EF4-FFF2-40B4-BE49-F238E27FC236}">
                  <a16:creationId xmlns:a16="http://schemas.microsoft.com/office/drawing/2014/main" id="{FFC49AEA-2A8F-250C-A86A-A7751D9706C3}"/>
                </a:ext>
              </a:extLst>
            </p:cNvPr>
            <p:cNvSpPr txBox="1"/>
            <p:nvPr/>
          </p:nvSpPr>
          <p:spPr>
            <a:xfrm>
              <a:off x="3883823" y="151386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4.</a:t>
              </a:r>
              <a:r>
                <a:rPr lang="ko-KR" altLang="en-US" sz="700" dirty="0">
                  <a:latin typeface="+mn-ea"/>
                </a:rPr>
                <a:t>입찰가격점수</a:t>
              </a:r>
            </a:p>
          </p:txBody>
        </p:sp>
        <p:grpSp>
          <p:nvGrpSpPr>
            <p:cNvPr id="161" name="그룹 160"/>
            <p:cNvGrpSpPr/>
            <p:nvPr/>
          </p:nvGrpSpPr>
          <p:grpSpPr>
            <a:xfrm flipV="1">
              <a:off x="6245910" y="1627197"/>
              <a:ext cx="94010" cy="47005"/>
              <a:chOff x="6812560" y="3297172"/>
              <a:chExt cx="94010" cy="47005"/>
            </a:xfrm>
          </p:grpSpPr>
          <p:cxnSp>
            <p:nvCxnSpPr>
              <p:cNvPr id="162" name="직선 연결선 1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4" name="직선 연결선 163">
              <a:extLst>
                <a:ext uri="{FF2B5EF4-FFF2-40B4-BE49-F238E27FC236}">
                  <a16:creationId xmlns:a16="http://schemas.microsoft.com/office/drawing/2014/main" id="{E9293055-D5CD-4B9E-7F64-64B2D2CA7A52}"/>
                </a:ext>
              </a:extLst>
            </p:cNvPr>
            <p:cNvCxnSpPr/>
            <p:nvPr/>
          </p:nvCxnSpPr>
          <p:spPr>
            <a:xfrm>
              <a:off x="3797076" y="18006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5" name="직사각형 164"/>
            <p:cNvSpPr/>
            <p:nvPr/>
          </p:nvSpPr>
          <p:spPr>
            <a:xfrm>
              <a:off x="3840136" y="1864792"/>
              <a:ext cx="792000" cy="15282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7198" y="2285253"/>
              <a:ext cx="754231" cy="430887"/>
            </a:xfrm>
            <a:prstGeom prst="rect">
              <a:avLst/>
            </a:prstGeom>
            <a:noFill/>
          </p:spPr>
          <p:txBody>
            <a:bodyPr wrap="square" lIns="0" tIns="0" rIns="0" bIns="0" rtlCol="0">
              <a:spAutoFit/>
            </a:bodyPr>
            <a:lstStyle/>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예정가격</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84048" y="2285253"/>
              <a:ext cx="1775839" cy="430887"/>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838043" y="18647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3840136" y="2513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3840136" y="27277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3840136" y="31573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0136" y="3393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0136" y="2289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3932343" y="2032838"/>
              <a:ext cx="952980" cy="107722"/>
            </a:xfrm>
            <a:prstGeom prst="rect">
              <a:avLst/>
            </a:prstGeom>
            <a:noFill/>
          </p:spPr>
          <p:txBody>
            <a:bodyPr wrap="square" lIns="0" tIns="0" rIns="0" bIns="0" rtlCol="0">
              <a:spAutoFit/>
            </a:bodyPr>
            <a:lstStyle/>
            <a:p>
              <a:r>
                <a:rPr lang="ko-KR" altLang="en-US" sz="700" dirty="0">
                  <a:latin typeface="+mn-ea"/>
                </a:rPr>
                <a:t>가격점수산식</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4681429" y="1936658"/>
              <a:ext cx="1758398" cy="300082"/>
            </a:xfrm>
            <a:prstGeom prst="rect">
              <a:avLst/>
            </a:prstGeom>
            <a:noFill/>
          </p:spPr>
          <p:txBody>
            <a:bodyPr wrap="square" lIns="0" tIns="0" rIns="0" bIns="0" rtlCol="0">
              <a:spAutoFit/>
            </a:bodyPr>
            <a:lstStyle/>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70 – 20 X {(88/100 – </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 X 100}</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927198" y="2796995"/>
              <a:ext cx="754231" cy="323165"/>
            </a:xfrm>
            <a:prstGeom prst="rect">
              <a:avLst/>
            </a:prstGeom>
            <a:noFill/>
          </p:spPr>
          <p:txBody>
            <a:bodyPr wrap="square" lIns="0" tIns="0" rIns="0" bIns="0" rtlCol="0">
              <a:spAutoFit/>
            </a:bodyPr>
            <a:lstStyle/>
            <a:p>
              <a:r>
                <a:rPr lang="ko-KR" altLang="en-US" sz="700" dirty="0" err="1">
                  <a:latin typeface="+mn-ea"/>
                </a:rPr>
                <a:t>입찰률</a:t>
              </a:r>
              <a:endParaRPr lang="en-US" altLang="ko-KR" sz="700" dirty="0">
                <a:latin typeface="+mn-ea"/>
              </a:endParaRPr>
            </a:p>
            <a:p>
              <a:r>
                <a:rPr lang="en-US" altLang="ko-KR" sz="650" dirty="0">
                  <a:latin typeface="+mn-ea"/>
                </a:rPr>
                <a:t>(</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a:t>
              </a:r>
              <a:r>
                <a:rPr lang="en-US" altLang="ko-KR" sz="700" dirty="0">
                  <a:latin typeface="+mn-ea"/>
                </a:rPr>
                <a:t> (%)</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3927198" y="3220641"/>
              <a:ext cx="754231" cy="107722"/>
            </a:xfrm>
            <a:prstGeom prst="rect">
              <a:avLst/>
            </a:prstGeom>
            <a:noFill/>
          </p:spPr>
          <p:txBody>
            <a:bodyPr wrap="square" lIns="0" tIns="0" rIns="0" bIns="0" rtlCol="0">
              <a:spAutoFit/>
            </a:bodyPr>
            <a:lstStyle/>
            <a:p>
              <a:r>
                <a:rPr lang="ko-KR" altLang="en-US" sz="700" dirty="0">
                  <a:latin typeface="+mn-ea"/>
                </a:rPr>
                <a:t>평점</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4684048" y="2904716"/>
              <a:ext cx="1775839" cy="107722"/>
            </a:xfrm>
            <a:prstGeom prst="rect">
              <a:avLst/>
            </a:prstGeom>
            <a:noFill/>
          </p:spPr>
          <p:txBody>
            <a:bodyPr wrap="square" lIns="0" tIns="0" rIns="0" bIns="0" rtlCol="0">
              <a:spAutoFit/>
            </a:bodyPr>
            <a:lstStyle/>
            <a:p>
              <a:pPr algn="r"/>
              <a:r>
                <a:rPr lang="en-US" altLang="ko-KR" sz="700" dirty="0">
                  <a:latin typeface="+mn-ea"/>
                </a:rPr>
                <a:t>00 %</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4684048" y="3220641"/>
              <a:ext cx="1775839" cy="107722"/>
            </a:xfrm>
            <a:prstGeom prst="rect">
              <a:avLst/>
            </a:prstGeom>
            <a:noFill/>
          </p:spPr>
          <p:txBody>
            <a:bodyPr wrap="square" lIns="0" tIns="0" rIns="0" bIns="0" rtlCol="0">
              <a:spAutoFit/>
            </a:bodyPr>
            <a:lstStyle/>
            <a:p>
              <a:pPr algn="r"/>
              <a:r>
                <a:rPr lang="en-US" altLang="ko-KR" sz="700" dirty="0">
                  <a:latin typeface="+mn-ea"/>
                </a:rPr>
                <a:t>00</a:t>
              </a:r>
            </a:p>
          </p:txBody>
        </p:sp>
      </p:grpSp>
      <p:sp>
        <p:nvSpPr>
          <p:cNvPr id="75" name="직사각형 74"/>
          <p:cNvSpPr/>
          <p:nvPr/>
        </p:nvSpPr>
        <p:spPr>
          <a:xfrm>
            <a:off x="722609" y="4585853"/>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6" name="TextBox 75">
            <a:extLst>
              <a:ext uri="{FF2B5EF4-FFF2-40B4-BE49-F238E27FC236}">
                <a16:creationId xmlns:a16="http://schemas.microsoft.com/office/drawing/2014/main" id="{FFC49AEA-2A8F-250C-A86A-A7751D9706C3}"/>
              </a:ext>
            </a:extLst>
          </p:cNvPr>
          <p:cNvSpPr txBox="1"/>
          <p:nvPr/>
        </p:nvSpPr>
        <p:spPr>
          <a:xfrm>
            <a:off x="762145" y="3489731"/>
            <a:ext cx="1598477" cy="181140"/>
          </a:xfrm>
          <a:prstGeom prst="rect">
            <a:avLst/>
          </a:prstGeom>
          <a:noFill/>
        </p:spPr>
        <p:txBody>
          <a:bodyPr wrap="square" lIns="0" tIns="0" rIns="0" bIns="0" rtlCol="0">
            <a:spAutoFit/>
          </a:bodyPr>
          <a:lstStyle/>
          <a:p>
            <a:pPr>
              <a:lnSpc>
                <a:spcPct val="200000"/>
              </a:lnSpc>
            </a:pPr>
            <a:r>
              <a:rPr lang="en-US" altLang="ko-KR" sz="700" dirty="0">
                <a:latin typeface="+mn-ea"/>
              </a:rPr>
              <a:t>5.</a:t>
            </a:r>
            <a:r>
              <a:rPr lang="ko-KR" altLang="en-US" sz="700" dirty="0">
                <a:latin typeface="+mn-ea"/>
              </a:rPr>
              <a:t>신인도</a:t>
            </a:r>
            <a:r>
              <a:rPr lang="en-US" altLang="ko-KR" sz="700" dirty="0">
                <a:latin typeface="+mn-ea"/>
              </a:rPr>
              <a:t>(0~6</a:t>
            </a:r>
            <a:r>
              <a:rPr lang="ko-KR" altLang="en-US" sz="700" dirty="0">
                <a:latin typeface="+mn-ea"/>
              </a:rPr>
              <a:t>점</a:t>
            </a:r>
            <a:r>
              <a:rPr lang="en-US" altLang="ko-KR" sz="700" dirty="0">
                <a:latin typeface="+mn-ea"/>
              </a:rPr>
              <a:t>)</a:t>
            </a:r>
          </a:p>
        </p:txBody>
      </p:sp>
      <p:grpSp>
        <p:nvGrpSpPr>
          <p:cNvPr id="77" name="그룹 76"/>
          <p:cNvGrpSpPr/>
          <p:nvPr/>
        </p:nvGrpSpPr>
        <p:grpSpPr>
          <a:xfrm flipV="1">
            <a:off x="3124232" y="3589714"/>
            <a:ext cx="94010" cy="47005"/>
            <a:chOff x="6812560" y="3297172"/>
            <a:chExt cx="94010" cy="47005"/>
          </a:xfrm>
        </p:grpSpPr>
        <p:cxnSp>
          <p:nvCxnSpPr>
            <p:cNvPr id="100" name="직선 연결선 9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1" name="직선 연결선 10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78" name="직선 연결선 77">
            <a:extLst>
              <a:ext uri="{FF2B5EF4-FFF2-40B4-BE49-F238E27FC236}">
                <a16:creationId xmlns:a16="http://schemas.microsoft.com/office/drawing/2014/main" id="{E9293055-D5CD-4B9E-7F64-64B2D2CA7A52}"/>
              </a:ext>
            </a:extLst>
          </p:cNvPr>
          <p:cNvCxnSpPr/>
          <p:nvPr/>
        </p:nvCxnSpPr>
        <p:spPr>
          <a:xfrm>
            <a:off x="675399" y="378386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9" name="TextBox 78">
            <a:extLst>
              <a:ext uri="{FF2B5EF4-FFF2-40B4-BE49-F238E27FC236}">
                <a16:creationId xmlns:a16="http://schemas.microsoft.com/office/drawing/2014/main" id="{FFC49AEA-2A8F-250C-A86A-A7751D9706C3}"/>
              </a:ext>
            </a:extLst>
          </p:cNvPr>
          <p:cNvSpPr txBox="1"/>
          <p:nvPr/>
        </p:nvSpPr>
        <p:spPr>
          <a:xfrm>
            <a:off x="763577" y="3816081"/>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부정적 처리 가능성</a:t>
            </a:r>
            <a:endParaRPr lang="en-US" altLang="ko-KR" sz="700"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90" name="TextBox 89">
            <a:extLst>
              <a:ext uri="{FF2B5EF4-FFF2-40B4-BE49-F238E27FC236}">
                <a16:creationId xmlns:a16="http://schemas.microsoft.com/office/drawing/2014/main" id="{FFC49AEA-2A8F-250C-A86A-A7751D9706C3}"/>
              </a:ext>
            </a:extLst>
          </p:cNvPr>
          <p:cNvSpPr txBox="1"/>
          <p:nvPr/>
        </p:nvSpPr>
        <p:spPr>
          <a:xfrm>
            <a:off x="1843886" y="4569733"/>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1011639" y="456973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-3.0</a:t>
            </a:r>
          </a:p>
        </p:txBody>
      </p:sp>
      <p:cxnSp>
        <p:nvCxnSpPr>
          <p:cNvPr id="94" name="직선 연결선 93">
            <a:extLst>
              <a:ext uri="{FF2B5EF4-FFF2-40B4-BE49-F238E27FC236}">
                <a16:creationId xmlns:a16="http://schemas.microsoft.com/office/drawing/2014/main" id="{E9293055-D5CD-4B9E-7F64-64B2D2CA7A52}"/>
              </a:ext>
            </a:extLst>
          </p:cNvPr>
          <p:cNvCxnSpPr/>
          <p:nvPr/>
        </p:nvCxnSpPr>
        <p:spPr>
          <a:xfrm>
            <a:off x="716365" y="45830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18458" y="47978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18458" y="49970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8" name="TextBox 97">
            <a:extLst>
              <a:ext uri="{FF2B5EF4-FFF2-40B4-BE49-F238E27FC236}">
                <a16:creationId xmlns:a16="http://schemas.microsoft.com/office/drawing/2014/main" id="{FFC49AEA-2A8F-250C-A86A-A7751D9706C3}"/>
              </a:ext>
            </a:extLst>
          </p:cNvPr>
          <p:cNvSpPr txBox="1"/>
          <p:nvPr/>
        </p:nvSpPr>
        <p:spPr>
          <a:xfrm>
            <a:off x="2858085" y="456973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99" name="TextBox 98">
            <a:extLst>
              <a:ext uri="{FF2B5EF4-FFF2-40B4-BE49-F238E27FC236}">
                <a16:creationId xmlns:a16="http://schemas.microsoft.com/office/drawing/2014/main" id="{FFC49AEA-2A8F-250C-A86A-A7751D9706C3}"/>
              </a:ext>
            </a:extLst>
          </p:cNvPr>
          <p:cNvSpPr txBox="1"/>
          <p:nvPr/>
        </p:nvSpPr>
        <p:spPr>
          <a:xfrm>
            <a:off x="805520" y="4264377"/>
            <a:ext cx="2507485"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2</a:t>
            </a:r>
            <a:r>
              <a:rPr lang="ko-KR" altLang="en-US" sz="700" dirty="0">
                <a:latin typeface="+mn-ea"/>
              </a:rPr>
              <a:t>년 내 사업장폐기물을 버리거나 매립하여 벌금형 이상을 받은 자나 행정처분을 받은 자</a:t>
            </a:r>
            <a:r>
              <a:rPr lang="en-US" altLang="ko-KR" sz="700" dirty="0">
                <a:latin typeface="+mn-ea"/>
              </a:rPr>
              <a:t>(</a:t>
            </a:r>
            <a:r>
              <a:rPr lang="ko-KR" altLang="en-US" sz="700" dirty="0">
                <a:latin typeface="+mn-ea"/>
              </a:rPr>
              <a:t>폐기물관리법 제</a:t>
            </a:r>
            <a:r>
              <a:rPr lang="en-US" altLang="ko-KR" sz="700" dirty="0">
                <a:latin typeface="+mn-ea"/>
              </a:rPr>
              <a:t>7</a:t>
            </a:r>
            <a:r>
              <a:rPr lang="ko-KR" altLang="en-US" sz="700" dirty="0">
                <a:latin typeface="+mn-ea"/>
              </a:rPr>
              <a:t>조 위반</a:t>
            </a:r>
            <a:r>
              <a:rPr lang="en-US" altLang="ko-KR" sz="700" dirty="0">
                <a:latin typeface="+mn-ea"/>
              </a:rPr>
              <a:t>)</a:t>
            </a:r>
          </a:p>
        </p:txBody>
      </p:sp>
      <p:sp>
        <p:nvSpPr>
          <p:cNvPr id="102" name="직사각형 101"/>
          <p:cNvSpPr/>
          <p:nvPr/>
        </p:nvSpPr>
        <p:spPr>
          <a:xfrm>
            <a:off x="722609" y="5571762"/>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763577" y="501392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06" name="TextBox 105">
            <a:extLst>
              <a:ext uri="{FF2B5EF4-FFF2-40B4-BE49-F238E27FC236}">
                <a16:creationId xmlns:a16="http://schemas.microsoft.com/office/drawing/2014/main" id="{FFC49AEA-2A8F-250C-A86A-A7751D9706C3}"/>
              </a:ext>
            </a:extLst>
          </p:cNvPr>
          <p:cNvSpPr txBox="1"/>
          <p:nvPr/>
        </p:nvSpPr>
        <p:spPr>
          <a:xfrm>
            <a:off x="1843886" y="5555642"/>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1011639" y="555564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-2.0</a:t>
            </a:r>
          </a:p>
        </p:txBody>
      </p:sp>
      <p:cxnSp>
        <p:nvCxnSpPr>
          <p:cNvPr id="108" name="직선 연결선 107">
            <a:extLst>
              <a:ext uri="{FF2B5EF4-FFF2-40B4-BE49-F238E27FC236}">
                <a16:creationId xmlns:a16="http://schemas.microsoft.com/office/drawing/2014/main" id="{E9293055-D5CD-4B9E-7F64-64B2D2CA7A52}"/>
              </a:ext>
            </a:extLst>
          </p:cNvPr>
          <p:cNvCxnSpPr/>
          <p:nvPr/>
        </p:nvCxnSpPr>
        <p:spPr>
          <a:xfrm>
            <a:off x="716365" y="556899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9" name="직선 연결선 108">
            <a:extLst>
              <a:ext uri="{FF2B5EF4-FFF2-40B4-BE49-F238E27FC236}">
                <a16:creationId xmlns:a16="http://schemas.microsoft.com/office/drawing/2014/main" id="{E9293055-D5CD-4B9E-7F64-64B2D2CA7A52}"/>
              </a:ext>
            </a:extLst>
          </p:cNvPr>
          <p:cNvCxnSpPr/>
          <p:nvPr/>
        </p:nvCxnSpPr>
        <p:spPr>
          <a:xfrm>
            <a:off x="718458" y="57837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18458" y="59829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2858085" y="555564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805520" y="5250286"/>
            <a:ext cx="2507485"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2</a:t>
            </a:r>
            <a:r>
              <a:rPr lang="ko-KR" altLang="en-US" sz="700" dirty="0">
                <a:latin typeface="+mn-ea"/>
              </a:rPr>
              <a:t>년 내 건설폐기물관리법령 규정에 의한 영업정지 </a:t>
            </a:r>
            <a:r>
              <a:rPr lang="en-US" altLang="ko-KR" sz="700" dirty="0">
                <a:latin typeface="+mn-ea"/>
              </a:rPr>
              <a:t>3</a:t>
            </a:r>
            <a:r>
              <a:rPr lang="ko-KR" altLang="en-US" sz="700" dirty="0">
                <a:latin typeface="+mn-ea"/>
              </a:rPr>
              <a:t>월 이상 또는 </a:t>
            </a:r>
            <a:r>
              <a:rPr lang="en-US" altLang="ko-KR" sz="700" dirty="0">
                <a:latin typeface="+mn-ea"/>
              </a:rPr>
              <a:t>5</a:t>
            </a:r>
            <a:r>
              <a:rPr lang="ko-KR" altLang="en-US" sz="700" dirty="0">
                <a:latin typeface="+mn-ea"/>
              </a:rPr>
              <a:t>천만원 이상 과징금 처분을 받은 자 </a:t>
            </a:r>
          </a:p>
        </p:txBody>
      </p:sp>
      <p:grpSp>
        <p:nvGrpSpPr>
          <p:cNvPr id="6" name="그룹 5"/>
          <p:cNvGrpSpPr/>
          <p:nvPr/>
        </p:nvGrpSpPr>
        <p:grpSpPr>
          <a:xfrm>
            <a:off x="3830264" y="1493927"/>
            <a:ext cx="2630093" cy="969059"/>
            <a:chOff x="3886219" y="1776747"/>
            <a:chExt cx="2630093" cy="969059"/>
          </a:xfrm>
        </p:grpSpPr>
        <p:sp>
          <p:nvSpPr>
            <p:cNvPr id="115" name="직사각형 114"/>
            <p:cNvSpPr/>
            <p:nvPr/>
          </p:nvSpPr>
          <p:spPr>
            <a:xfrm>
              <a:off x="3892463" y="2334586"/>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33431" y="17767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5013740" y="2318466"/>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4181493" y="2318466"/>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-1.0</a:t>
              </a:r>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886219" y="23318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3888312" y="25465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888312" y="27458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4" name="TextBox 123">
              <a:extLst>
                <a:ext uri="{FF2B5EF4-FFF2-40B4-BE49-F238E27FC236}">
                  <a16:creationId xmlns:a16="http://schemas.microsoft.com/office/drawing/2014/main" id="{FFC49AEA-2A8F-250C-A86A-A7751D9706C3}"/>
                </a:ext>
              </a:extLst>
            </p:cNvPr>
            <p:cNvSpPr txBox="1"/>
            <p:nvPr/>
          </p:nvSpPr>
          <p:spPr>
            <a:xfrm>
              <a:off x="6027939" y="2318466"/>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3975374" y="2013110"/>
              <a:ext cx="2507485" cy="215444"/>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최근 </a:t>
              </a:r>
              <a:r>
                <a:rPr lang="en-US" altLang="ko-KR" sz="700" dirty="0">
                  <a:latin typeface="+mn-ea"/>
                </a:rPr>
                <a:t>1</a:t>
              </a:r>
              <a:r>
                <a:rPr lang="ko-KR" altLang="en-US" sz="700" dirty="0">
                  <a:latin typeface="+mn-ea"/>
                </a:rPr>
                <a:t>년 내 건설폐기물관리법령 규정에 의한 영업정지 </a:t>
              </a:r>
              <a:r>
                <a:rPr lang="en-US" altLang="ko-KR" sz="700" dirty="0">
                  <a:latin typeface="+mn-ea"/>
                </a:rPr>
                <a:t>1</a:t>
              </a:r>
              <a:r>
                <a:rPr lang="ko-KR" altLang="en-US" sz="700" dirty="0">
                  <a:latin typeface="+mn-ea"/>
                </a:rPr>
                <a:t>월 이상 또는 </a:t>
              </a:r>
              <a:r>
                <a:rPr lang="en-US" altLang="ko-KR" sz="700" dirty="0">
                  <a:latin typeface="+mn-ea"/>
                </a:rPr>
                <a:t>2</a:t>
              </a:r>
              <a:r>
                <a:rPr lang="ko-KR" altLang="en-US" sz="700" dirty="0">
                  <a:latin typeface="+mn-ea"/>
                </a:rPr>
                <a:t>천만원 이상 과징금 처분을 받은 자</a:t>
              </a:r>
            </a:p>
          </p:txBody>
        </p: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345636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직사각형 128"/>
          <p:cNvSpPr/>
          <p:nvPr/>
        </p:nvSpPr>
        <p:spPr>
          <a:xfrm>
            <a:off x="3837940" y="3693349"/>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TextBox 129">
            <a:extLst>
              <a:ext uri="{FF2B5EF4-FFF2-40B4-BE49-F238E27FC236}">
                <a16:creationId xmlns:a16="http://schemas.microsoft.com/office/drawing/2014/main" id="{FFC49AEA-2A8F-250C-A86A-A7751D9706C3}"/>
              </a:ext>
            </a:extLst>
          </p:cNvPr>
          <p:cNvSpPr txBox="1"/>
          <p:nvPr/>
        </p:nvSpPr>
        <p:spPr>
          <a:xfrm>
            <a:off x="3877476" y="2571668"/>
            <a:ext cx="1598477" cy="181140"/>
          </a:xfrm>
          <a:prstGeom prst="rect">
            <a:avLst/>
          </a:prstGeom>
          <a:noFill/>
        </p:spPr>
        <p:txBody>
          <a:bodyPr wrap="square" lIns="0" tIns="0" rIns="0" bIns="0" rtlCol="0">
            <a:spAutoFit/>
          </a:bodyPr>
          <a:lstStyle/>
          <a:p>
            <a:pPr>
              <a:lnSpc>
                <a:spcPct val="200000"/>
              </a:lnSpc>
            </a:pPr>
            <a:r>
              <a:rPr lang="en-US" altLang="ko-KR" sz="700" dirty="0">
                <a:latin typeface="+mn-ea"/>
              </a:rPr>
              <a:t>6.</a:t>
            </a:r>
            <a:r>
              <a:rPr lang="ko-KR" altLang="en-US" sz="700" dirty="0">
                <a:latin typeface="+mn-ea"/>
              </a:rPr>
              <a:t>결격사유 </a:t>
            </a:r>
            <a:r>
              <a:rPr lang="en-US" altLang="ko-KR" sz="700" dirty="0">
                <a:latin typeface="+mn-ea"/>
              </a:rPr>
              <a:t>(-45</a:t>
            </a:r>
            <a:r>
              <a:rPr lang="ko-KR" altLang="en-US" sz="700" dirty="0">
                <a:latin typeface="+mn-ea"/>
              </a:rPr>
              <a:t>점</a:t>
            </a:r>
            <a:r>
              <a:rPr lang="en-US" altLang="ko-KR" sz="700" dirty="0">
                <a:latin typeface="+mn-ea"/>
              </a:rPr>
              <a:t>)</a:t>
            </a:r>
          </a:p>
        </p:txBody>
      </p:sp>
      <p:grpSp>
        <p:nvGrpSpPr>
          <p:cNvPr id="131" name="그룹 130"/>
          <p:cNvGrpSpPr/>
          <p:nvPr/>
        </p:nvGrpSpPr>
        <p:grpSpPr>
          <a:xfrm flipV="1">
            <a:off x="6239563" y="2671651"/>
            <a:ext cx="94010" cy="47005"/>
            <a:chOff x="6812560" y="3297172"/>
            <a:chExt cx="94010" cy="47005"/>
          </a:xfrm>
        </p:grpSpPr>
        <p:cxnSp>
          <p:nvCxnSpPr>
            <p:cNvPr id="132" name="직선 연결선 13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3" name="직선 연결선 13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0730" y="2865805"/>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3878908" y="2871322"/>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err="1">
                <a:latin typeface="+mn-ea"/>
              </a:rPr>
              <a:t>부실수행</a:t>
            </a:r>
            <a:endParaRPr lang="en-US" altLang="ko-KR" sz="700"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40" name="TextBox 139">
            <a:extLst>
              <a:ext uri="{FF2B5EF4-FFF2-40B4-BE49-F238E27FC236}">
                <a16:creationId xmlns:a16="http://schemas.microsoft.com/office/drawing/2014/main" id="{FFC49AEA-2A8F-250C-A86A-A7751D9706C3}"/>
              </a:ext>
            </a:extLst>
          </p:cNvPr>
          <p:cNvSpPr txBox="1"/>
          <p:nvPr/>
        </p:nvSpPr>
        <p:spPr>
          <a:xfrm>
            <a:off x="4959217" y="3677229"/>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4126970" y="3677229"/>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-15.0</a:t>
            </a: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1696" y="36905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833789" y="39053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3833789" y="41045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5973416" y="3677229"/>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3920851" y="3319618"/>
            <a:ext cx="2507485" cy="323165"/>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당해 업체가 </a:t>
            </a:r>
            <a:r>
              <a:rPr lang="ko-KR" altLang="en-US" sz="700" dirty="0" err="1">
                <a:latin typeface="+mn-ea"/>
              </a:rPr>
              <a:t>수행중이거나</a:t>
            </a:r>
            <a:r>
              <a:rPr lang="ko-KR" altLang="en-US" sz="700" dirty="0">
                <a:latin typeface="+mn-ea"/>
              </a:rPr>
              <a:t> 수행한 용역과 관련하여 최근 </a:t>
            </a:r>
            <a:r>
              <a:rPr lang="en-US" altLang="ko-KR" sz="700" dirty="0">
                <a:latin typeface="+mn-ea"/>
              </a:rPr>
              <a:t>1</a:t>
            </a:r>
            <a:r>
              <a:rPr lang="ko-KR" altLang="en-US" sz="700" dirty="0">
                <a:latin typeface="+mn-ea"/>
              </a:rPr>
              <a:t>년 이내에  </a:t>
            </a:r>
            <a:r>
              <a:rPr lang="ko-KR" altLang="en-US" sz="700" dirty="0" err="1">
                <a:latin typeface="+mn-ea"/>
              </a:rPr>
              <a:t>계약목적</a:t>
            </a:r>
            <a:r>
              <a:rPr lang="en-US" altLang="ko-KR" sz="700" dirty="0">
                <a:latin typeface="+mn-ea"/>
              </a:rPr>
              <a:t>(</a:t>
            </a:r>
            <a:r>
              <a:rPr lang="ko-KR" altLang="en-US" sz="700" dirty="0">
                <a:latin typeface="+mn-ea"/>
              </a:rPr>
              <a:t>물</a:t>
            </a:r>
            <a:r>
              <a:rPr lang="en-US" altLang="ko-KR" sz="700" dirty="0">
                <a:latin typeface="+mn-ea"/>
              </a:rPr>
              <a:t>)</a:t>
            </a:r>
            <a:r>
              <a:rPr lang="ko-KR" altLang="en-US" sz="700" dirty="0">
                <a:latin typeface="+mn-ea"/>
              </a:rPr>
              <a:t>의 현저한 손괴를 일으킨 경우 </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천재지변 등 불가항력적 사우 제외</a:t>
            </a:r>
            <a:r>
              <a:rPr lang="en-US" altLang="ko-KR" sz="700" dirty="0">
                <a:latin typeface="+mn-ea"/>
              </a:rPr>
              <a:t>)</a:t>
            </a:r>
          </a:p>
        </p:txBody>
      </p: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0730" y="253829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직사각형 194"/>
          <p:cNvSpPr/>
          <p:nvPr/>
        </p:nvSpPr>
        <p:spPr>
          <a:xfrm>
            <a:off x="3837940" y="4847032"/>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6" name="TextBox 195">
            <a:extLst>
              <a:ext uri="{FF2B5EF4-FFF2-40B4-BE49-F238E27FC236}">
                <a16:creationId xmlns:a16="http://schemas.microsoft.com/office/drawing/2014/main" id="{FFC49AEA-2A8F-250C-A86A-A7751D9706C3}"/>
              </a:ext>
            </a:extLst>
          </p:cNvPr>
          <p:cNvSpPr txBox="1"/>
          <p:nvPr/>
        </p:nvSpPr>
        <p:spPr>
          <a:xfrm>
            <a:off x="3878908" y="4113526"/>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재무위험</a:t>
            </a:r>
            <a:endParaRPr lang="en-US" altLang="ko-KR" sz="700"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4959217" y="4830912"/>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126970" y="483091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-15.0</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31696" y="48442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3833789" y="50590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3789" y="52582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2" name="TextBox 201">
            <a:extLst>
              <a:ext uri="{FF2B5EF4-FFF2-40B4-BE49-F238E27FC236}">
                <a16:creationId xmlns:a16="http://schemas.microsoft.com/office/drawing/2014/main" id="{FFC49AEA-2A8F-250C-A86A-A7751D9706C3}"/>
              </a:ext>
            </a:extLst>
          </p:cNvPr>
          <p:cNvSpPr txBox="1"/>
          <p:nvPr/>
        </p:nvSpPr>
        <p:spPr>
          <a:xfrm>
            <a:off x="5973416" y="483091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3920851" y="4561822"/>
            <a:ext cx="2507485"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부도 또는 파산 우려가 있어 당해 계약이행이 어렵다고 판단되는 경우</a:t>
            </a:r>
          </a:p>
        </p:txBody>
      </p:sp>
      <p:sp>
        <p:nvSpPr>
          <p:cNvPr id="204" name="직사각형 203"/>
          <p:cNvSpPr/>
          <p:nvPr/>
        </p:nvSpPr>
        <p:spPr>
          <a:xfrm>
            <a:off x="3837940" y="5834427"/>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5" name="TextBox 204">
            <a:extLst>
              <a:ext uri="{FF2B5EF4-FFF2-40B4-BE49-F238E27FC236}">
                <a16:creationId xmlns:a16="http://schemas.microsoft.com/office/drawing/2014/main" id="{FFC49AEA-2A8F-250C-A86A-A7751D9706C3}"/>
              </a:ext>
            </a:extLst>
          </p:cNvPr>
          <p:cNvSpPr txBox="1"/>
          <p:nvPr/>
        </p:nvSpPr>
        <p:spPr>
          <a:xfrm>
            <a:off x="3878908" y="526517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4959217" y="5818307"/>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207" name="TextBox 206">
            <a:extLst>
              <a:ext uri="{FF2B5EF4-FFF2-40B4-BE49-F238E27FC236}">
                <a16:creationId xmlns:a16="http://schemas.microsoft.com/office/drawing/2014/main" id="{FFC49AEA-2A8F-250C-A86A-A7751D9706C3}"/>
              </a:ext>
            </a:extLst>
          </p:cNvPr>
          <p:cNvSpPr txBox="1"/>
          <p:nvPr/>
        </p:nvSpPr>
        <p:spPr>
          <a:xfrm>
            <a:off x="4126970" y="581830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-15.0</a:t>
            </a:r>
          </a:p>
        </p:txBody>
      </p:sp>
      <p:cxnSp>
        <p:nvCxnSpPr>
          <p:cNvPr id="208" name="직선 연결선 207">
            <a:extLst>
              <a:ext uri="{FF2B5EF4-FFF2-40B4-BE49-F238E27FC236}">
                <a16:creationId xmlns:a16="http://schemas.microsoft.com/office/drawing/2014/main" id="{E9293055-D5CD-4B9E-7F64-64B2D2CA7A52}"/>
              </a:ext>
            </a:extLst>
          </p:cNvPr>
          <p:cNvCxnSpPr/>
          <p:nvPr/>
        </p:nvCxnSpPr>
        <p:spPr>
          <a:xfrm>
            <a:off x="3831696" y="583165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3833789" y="60463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3789" y="624564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5973416" y="581830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3920851" y="5495825"/>
            <a:ext cx="2507485" cy="323165"/>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법정관리 또는 </a:t>
            </a:r>
            <a:r>
              <a:rPr lang="ko-KR" altLang="en-US" sz="700" dirty="0" err="1">
                <a:latin typeface="+mn-ea"/>
              </a:rPr>
              <a:t>화의결정</a:t>
            </a:r>
            <a:r>
              <a:rPr lang="ko-KR" altLang="en-US" sz="700" dirty="0">
                <a:latin typeface="+mn-ea"/>
              </a:rPr>
              <a:t> 후 당좌거래가 재개되어도 동 재개일로부터 </a:t>
            </a:r>
            <a:r>
              <a:rPr lang="en-US" altLang="ko-KR" sz="700" dirty="0">
                <a:latin typeface="+mn-ea"/>
              </a:rPr>
              <a:t>1</a:t>
            </a:r>
            <a:r>
              <a:rPr lang="ko-KR" altLang="en-US" sz="700" dirty="0">
                <a:latin typeface="+mn-ea"/>
              </a:rPr>
              <a:t>년간 보증서 발급 가능 확인서를 제출하지 못하는 경우</a:t>
            </a:r>
          </a:p>
        </p:txBody>
      </p:sp>
      <p:sp>
        <p:nvSpPr>
          <p:cNvPr id="103" name="타원 10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401847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impltPrfmncExmgrdScr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이행실적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463197"/>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1083736"/>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flfmtAbltExmgrdScr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a:t>
                      </a:r>
                      <a:r>
                        <a:rPr lang="ko-KR" altLang="en-US" sz="800" dirty="0" err="1">
                          <a:latin typeface="+mn-ea"/>
                          <a:ea typeface="+mn-ea"/>
                        </a:rPr>
                        <a:t>수행능력</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1186608"/>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경영상태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특별신인도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평점</a:t>
                      </a:r>
                      <a:r>
                        <a:rPr lang="en-US" altLang="ko-KR" sz="800" dirty="0">
                          <a:latin typeface="+mn-ea"/>
                          <a:ea typeface="+mn-ea"/>
                        </a:rPr>
                        <a:t> </a:t>
                      </a:r>
                      <a:r>
                        <a:rPr lang="ko-KR" altLang="en-US" sz="800" dirty="0">
                          <a:latin typeface="+mn-ea"/>
                          <a:ea typeface="+mn-ea"/>
                        </a:rPr>
                        <a:t>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err="1">
                          <a:latin typeface="+mn-ea"/>
                          <a:ea typeface="+mn-ea"/>
                        </a:rPr>
                        <a:t>기타결격여부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기타결격여부</a:t>
                      </a:r>
                      <a:r>
                        <a:rPr lang="ko-KR" altLang="en-US" sz="800" dirty="0">
                          <a:latin typeface="+mn-ea"/>
                          <a:ea typeface="+mn-ea"/>
                        </a:rPr>
                        <a:t> 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3205339"/>
            <a:ext cx="2770558"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이행실적 평가결과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3489093"/>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impltPrfmncAmt1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impltLbsvcAmt1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1259264"/>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impltScorScr1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4753183"/>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impltPrfmncAmt2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459453"/>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impltLbsvcAmt2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42920"/>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9382"/>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impltScorScr2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5559650"/>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impltPrfmncAmt3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017"/>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impltLbsvcAmt3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8996331"/>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274164"/>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impltScorScr3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672799"/>
                  </a:ext>
                </a:extLst>
              </a:tr>
            </a:tbl>
          </a:graphicData>
        </a:graphic>
      </p:graphicFrame>
      <p:sp>
        <p:nvSpPr>
          <p:cNvPr id="5" name="Text Box 73">
            <a:extLst>
              <a:ext uri="{FF2B5EF4-FFF2-40B4-BE49-F238E27FC236}">
                <a16:creationId xmlns:a16="http://schemas.microsoft.com/office/drawing/2014/main" id="{A0192E70-0F3A-83BF-4798-D10E62646C9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01483118"/>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781778"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a:t>
            </a:r>
            <a:r>
              <a:rPr lang="ko-KR" altLang="en-US" sz="900" b="1" dirty="0">
                <a:solidFill>
                  <a:prstClr val="black"/>
                </a:solidFill>
              </a:rPr>
              <a:t>수행능력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기술인력</a:t>
                      </a:r>
                      <a:r>
                        <a:rPr lang="en-US" altLang="ko-KR" sz="800" dirty="0">
                          <a:latin typeface="+mn-ea"/>
                          <a:ea typeface="+mn-ea"/>
                        </a:rPr>
                        <a:t>,</a:t>
                      </a:r>
                      <a:r>
                        <a:rPr lang="ko-KR" altLang="en-US" sz="800" dirty="0">
                          <a:latin typeface="+mn-ea"/>
                          <a:ea typeface="+mn-ea"/>
                        </a:rPr>
                        <a:t>시설</a:t>
                      </a:r>
                      <a:r>
                        <a:rPr lang="en-US" altLang="ko-KR" sz="800" dirty="0">
                          <a:latin typeface="+mn-ea"/>
                          <a:ea typeface="+mn-ea"/>
                        </a:rPr>
                        <a:t>,</a:t>
                      </a:r>
                      <a:r>
                        <a:rPr lang="ko-KR" altLang="en-US" sz="800" dirty="0">
                          <a:latin typeface="+mn-ea"/>
                          <a:ea typeface="+mn-ea"/>
                        </a:rPr>
                        <a:t>장비 확보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sttyRqmtExmgrdScr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기술인력</a:t>
                      </a:r>
                      <a:r>
                        <a:rPr lang="en-US" altLang="ko-KR" sz="800" dirty="0">
                          <a:latin typeface="+mn-ea"/>
                          <a:ea typeface="+mn-ea"/>
                        </a:rPr>
                        <a:t>,</a:t>
                      </a:r>
                      <a:r>
                        <a:rPr lang="ko-KR" altLang="en-US" sz="800" dirty="0">
                          <a:latin typeface="+mn-ea"/>
                          <a:ea typeface="+mn-ea"/>
                        </a:rPr>
                        <a:t>시설</a:t>
                      </a:r>
                      <a:r>
                        <a:rPr lang="en-US" altLang="ko-KR" sz="800" dirty="0">
                          <a:latin typeface="+mn-ea"/>
                          <a:ea typeface="+mn-ea"/>
                        </a:rPr>
                        <a:t>,</a:t>
                      </a:r>
                      <a:r>
                        <a:rPr lang="ko-KR" altLang="en-US" sz="800" dirty="0">
                          <a:latin typeface="+mn-ea"/>
                          <a:ea typeface="+mn-ea"/>
                        </a:rPr>
                        <a:t>장비 확보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순환골재 품질인증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순환골재 품질인증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5" name="TextBox 4">
            <a:extLst>
              <a:ext uri="{FF2B5EF4-FFF2-40B4-BE49-F238E27FC236}">
                <a16:creationId xmlns:a16="http://schemas.microsoft.com/office/drawing/2014/main" id="{4C52D3E8-4ADB-E44B-D662-1382002BC780}"/>
              </a:ext>
            </a:extLst>
          </p:cNvPr>
          <p:cNvSpPr txBox="1"/>
          <p:nvPr/>
        </p:nvSpPr>
        <p:spPr>
          <a:xfrm>
            <a:off x="460676" y="1995387"/>
            <a:ext cx="328351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기술능력</a:t>
            </a:r>
            <a:r>
              <a:rPr lang="en-US" altLang="ko-KR" sz="900" b="1" dirty="0">
                <a:solidFill>
                  <a:prstClr val="black"/>
                </a:solidFill>
              </a:rPr>
              <a:t>/</a:t>
            </a:r>
            <a:r>
              <a:rPr lang="ko-KR" altLang="en-US" sz="900" b="1" dirty="0">
                <a:solidFill>
                  <a:prstClr val="black"/>
                </a:solidFill>
              </a:rPr>
              <a:t>수행능력 평가결과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F59BEE52-2063-913B-F6AC-5219E2F7DD69}"/>
              </a:ext>
            </a:extLst>
          </p:cNvPr>
          <p:cNvGraphicFramePr>
            <a:graphicFrameLocks noGrp="1"/>
          </p:cNvGraphicFramePr>
          <p:nvPr/>
        </p:nvGraphicFramePr>
        <p:xfrm>
          <a:off x="455558" y="2279141"/>
          <a:ext cx="8993242"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techPrfmncAmt1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techLbsvcAmt1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3412536"/>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2740591"/>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techScorScr1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0109789"/>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techPrfmncAmt2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40646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techLbsvcAmt2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9229673"/>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9375838"/>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techScorScr2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0026552"/>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techPrfmncAmt3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829876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techLbsvcAmt3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techScorScr3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2" name="TextBox 1">
            <a:extLst>
              <a:ext uri="{FF2B5EF4-FFF2-40B4-BE49-F238E27FC236}">
                <a16:creationId xmlns:a16="http://schemas.microsoft.com/office/drawing/2014/main" id="{2076A81D-3599-1EEE-67D8-3442D15DF8DD}"/>
              </a:ext>
            </a:extLst>
          </p:cNvPr>
          <p:cNvSpPr txBox="1"/>
          <p:nvPr/>
        </p:nvSpPr>
        <p:spPr>
          <a:xfrm>
            <a:off x="458117" y="4991958"/>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신용평가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09C7583A-F236-CB9D-21A5-186CEEA821DB}"/>
              </a:ext>
            </a:extLst>
          </p:cNvPr>
          <p:cNvGraphicFramePr>
            <a:graphicFrameLocks noGrp="1"/>
          </p:cNvGraphicFramePr>
          <p:nvPr/>
        </p:nvGraphicFramePr>
        <p:xfrm>
          <a:off x="452999" y="5275712"/>
          <a:ext cx="8993242"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3412536"/>
                  </a:ext>
                </a:extLst>
              </a:tr>
            </a:tbl>
          </a:graphicData>
        </a:graphic>
      </p:graphicFrame>
      <p:sp>
        <p:nvSpPr>
          <p:cNvPr id="7" name="TextBox 6">
            <a:extLst>
              <a:ext uri="{FF2B5EF4-FFF2-40B4-BE49-F238E27FC236}">
                <a16:creationId xmlns:a16="http://schemas.microsoft.com/office/drawing/2014/main" id="{A263B071-0058-6AD5-FAD1-5CCC7043A3BE}"/>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8" name="Text Box 73">
            <a:extLst>
              <a:ext uri="{FF2B5EF4-FFF2-40B4-BE49-F238E27FC236}">
                <a16:creationId xmlns:a16="http://schemas.microsoft.com/office/drawing/2014/main" id="{90435182-D9A6-5004-0D54-90861352C8C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3020227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388</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9965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입찰가격점수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0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8364202"/>
                  </a:ext>
                </a:extLst>
              </a:tr>
              <a:tr h="0">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5509144"/>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7" name="TextBox 6">
            <a:extLst>
              <a:ext uri="{FF2B5EF4-FFF2-40B4-BE49-F238E27FC236}">
                <a16:creationId xmlns:a16="http://schemas.microsoft.com/office/drawing/2014/main" id="{75D50404-2C21-D793-D4BD-673DE9572644}"/>
              </a:ext>
            </a:extLst>
          </p:cNvPr>
          <p:cNvSpPr txBox="1"/>
          <p:nvPr/>
        </p:nvSpPr>
        <p:spPr>
          <a:xfrm>
            <a:off x="460676" y="2274063"/>
            <a:ext cx="215340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신인도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C4BB9DBB-2928-1699-0546-3B19A6DC37ED}"/>
              </a:ext>
            </a:extLst>
          </p:cNvPr>
          <p:cNvGraphicFramePr>
            <a:graphicFrameLocks noGrp="1"/>
          </p:cNvGraphicFramePr>
          <p:nvPr/>
        </p:nvGraphicFramePr>
        <p:xfrm>
          <a:off x="455558" y="2557817"/>
          <a:ext cx="8993242"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rcgdgrExmgrdScr1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부정적 처리 가능성 심사항목</a:t>
                      </a:r>
                      <a:r>
                        <a:rPr lang="en-US" altLang="ko-KR" sz="800" dirty="0">
                          <a:latin typeface="+mn-ea"/>
                          <a:ea typeface="+mn-ea"/>
                        </a:rPr>
                        <a:t>1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rcgdgrExmgrdScr2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부정적 처리 가능성 심사항목</a:t>
                      </a:r>
                      <a:r>
                        <a:rPr lang="en-US" altLang="ko-KR" sz="800" dirty="0">
                          <a:latin typeface="+mn-ea"/>
                          <a:ea typeface="+mn-ea"/>
                        </a:rPr>
                        <a:t>2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274059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rcgdgrExmgrdScr3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부정적 처리 가능성 심사항목</a:t>
                      </a:r>
                      <a:r>
                        <a:rPr lang="en-US" altLang="ko-KR" sz="800" dirty="0">
                          <a:latin typeface="+mn-ea"/>
                          <a:ea typeface="+mn-ea"/>
                        </a:rPr>
                        <a:t>3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406462"/>
                  </a:ext>
                </a:extLst>
              </a:tr>
            </a:tbl>
          </a:graphicData>
        </a:graphic>
      </p:graphicFrame>
      <p:sp>
        <p:nvSpPr>
          <p:cNvPr id="12" name="TextBox 11">
            <a:extLst>
              <a:ext uri="{FF2B5EF4-FFF2-40B4-BE49-F238E27FC236}">
                <a16:creationId xmlns:a16="http://schemas.microsoft.com/office/drawing/2014/main" id="{C205803D-CC98-4879-732E-69A0826BB7DA}"/>
              </a:ext>
            </a:extLst>
          </p:cNvPr>
          <p:cNvSpPr txBox="1"/>
          <p:nvPr/>
        </p:nvSpPr>
        <p:spPr>
          <a:xfrm>
            <a:off x="458117" y="3631972"/>
            <a:ext cx="2268817"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결격사유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F2F84E02-B612-1DD2-0391-74E7551455F2}"/>
              </a:ext>
            </a:extLst>
          </p:cNvPr>
          <p:cNvGraphicFramePr>
            <a:graphicFrameLocks noGrp="1"/>
          </p:cNvGraphicFramePr>
          <p:nvPr/>
        </p:nvGraphicFramePr>
        <p:xfrm>
          <a:off x="452999" y="3915726"/>
          <a:ext cx="8993242"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dsqlRsnExmgrdScr1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부실수행</a:t>
                      </a:r>
                      <a:r>
                        <a:rPr lang="en-US" altLang="ko-KR" sz="800" dirty="0">
                          <a:latin typeface="+mn-ea"/>
                          <a:ea typeface="+mn-ea"/>
                        </a:rPr>
                        <a:t>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dsqlRsnExmgrdScr2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재무위험 심사항목</a:t>
                      </a:r>
                      <a:r>
                        <a:rPr lang="en-US" altLang="ko-KR" sz="800" dirty="0">
                          <a:latin typeface="+mn-ea"/>
                          <a:ea typeface="+mn-ea"/>
                        </a:rPr>
                        <a:t>1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274059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dsqlRsnExmgrdScr3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재무위험</a:t>
                      </a:r>
                      <a:r>
                        <a:rPr lang="en-US" altLang="ko-KR" sz="800" dirty="0">
                          <a:latin typeface="+mn-ea"/>
                          <a:ea typeface="+mn-ea"/>
                        </a:rPr>
                        <a:t> </a:t>
                      </a:r>
                      <a:r>
                        <a:rPr lang="ko-KR" altLang="en-US" sz="800" dirty="0">
                          <a:latin typeface="+mn-ea"/>
                          <a:ea typeface="+mn-ea"/>
                        </a:rPr>
                        <a:t>심사항목</a:t>
                      </a:r>
                      <a:r>
                        <a:rPr lang="en-US" altLang="ko-KR" sz="800" dirty="0">
                          <a:latin typeface="+mn-ea"/>
                          <a:ea typeface="+mn-ea"/>
                        </a:rPr>
                        <a:t>2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406462"/>
                  </a:ext>
                </a:extLst>
              </a:tr>
            </a:tbl>
          </a:graphicData>
        </a:graphic>
      </p:graphicFrame>
      <p:sp>
        <p:nvSpPr>
          <p:cNvPr id="2" name="TextBox 1">
            <a:extLst>
              <a:ext uri="{FF2B5EF4-FFF2-40B4-BE49-F238E27FC236}">
                <a16:creationId xmlns:a16="http://schemas.microsoft.com/office/drawing/2014/main" id="{3EF5EF16-06F9-9636-D609-7E619C499996}"/>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2DE6F62F-4AE0-BF34-C662-0E08A615310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11275609"/>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389</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5" name="Text Box 73">
            <a:extLst>
              <a:ext uri="{FF2B5EF4-FFF2-40B4-BE49-F238E27FC236}">
                <a16:creationId xmlns:a16="http://schemas.microsoft.com/office/drawing/2014/main" id="{DA1835E5-EED9-024F-DF7B-ADF92002731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567195005"/>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390</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7. </a:t>
            </a:r>
            <a:r>
              <a:rPr lang="ko-KR" altLang="en-US" dirty="0"/>
              <a:t>국외입찰공고상세</a:t>
            </a:r>
            <a:endParaRPr lang="en-US" altLang="ko-KR" dirty="0"/>
          </a:p>
          <a:p>
            <a:r>
              <a:rPr lang="en-US" altLang="ko-KR" dirty="0"/>
              <a:t>7.1 </a:t>
            </a:r>
            <a:r>
              <a:rPr lang="ko-KR" altLang="en-US" dirty="0"/>
              <a:t>화면 목록 </a:t>
            </a:r>
            <a:r>
              <a:rPr lang="en-US" altLang="ko-KR" dirty="0"/>
              <a:t>(1/2)</a:t>
            </a:r>
            <a:endParaRPr lang="ko-KR" altLang="en-US" dirty="0"/>
          </a:p>
        </p:txBody>
      </p:sp>
      <p:graphicFrame>
        <p:nvGraphicFramePr>
          <p:cNvPr id="5" name="표 4"/>
          <p:cNvGraphicFramePr>
            <a:graphicFrameLocks noGrp="1"/>
          </p:cNvGraphicFramePr>
          <p:nvPr>
            <p:extLst/>
          </p:nvPr>
        </p:nvGraphicFramePr>
        <p:xfrm>
          <a:off x="635474" y="1413419"/>
          <a:ext cx="8701200" cy="471742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sz="800" kern="1200" dirty="0">
                          <a:solidFill>
                            <a:schemeClr val="tx1"/>
                          </a:solidFill>
                          <a:latin typeface="+mn-ea"/>
                          <a:ea typeface="+mn-ea"/>
                          <a:cs typeface="+mn-cs"/>
                        </a:rPr>
                        <a:t>MUI-BD-01-M01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kern="1200" dirty="0" smtClean="0">
                          <a:solidFill>
                            <a:schemeClr val="tx1"/>
                          </a:solidFill>
                          <a:latin typeface="+mn-ea"/>
                          <a:ea typeface="+mn-ea"/>
                          <a:cs typeface="+mn-cs"/>
                        </a:rPr>
                        <a:t>입찰공고 </a:t>
                      </a:r>
                      <a:r>
                        <a:rPr lang="ko-KR" altLang="en-US" sz="800" kern="1200" dirty="0" err="1" smtClean="0">
                          <a:solidFill>
                            <a:schemeClr val="tx1"/>
                          </a:solidFill>
                          <a:latin typeface="+mn-ea"/>
                          <a:ea typeface="+mn-ea"/>
                          <a:cs typeface="+mn-cs"/>
                        </a:rPr>
                        <a:t>통합목록</a:t>
                      </a:r>
                      <a:endParaRPr lang="en-US" altLang="ko-KR"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AnlBfhdSpcfctDtlPage</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입찰공고 통합 목록 조회 화면</a:t>
                      </a:r>
                      <a:endParaRPr lang="en-US" altLang="ko-KR" sz="800" dirty="0">
                        <a:latin typeface="+mn-ea"/>
                        <a:ea typeface="+mn-ea"/>
                      </a:endParaRPr>
                    </a:p>
                    <a:p>
                      <a:pPr algn="l" latinLnBrk="1"/>
                      <a:r>
                        <a:rPr lang="ko-KR" altLang="en-US" sz="800" dirty="0">
                          <a:latin typeface="+mn-ea"/>
                          <a:ea typeface="+mn-ea"/>
                        </a:rPr>
                        <a:t>국내 화면과 동일함</a:t>
                      </a:r>
                      <a:r>
                        <a:rPr lang="en-US" altLang="ko-KR" sz="800" dirty="0">
                          <a:latin typeface="+mn-ea"/>
                          <a:ea typeface="+mn-ea"/>
                        </a:rPr>
                        <a:t>.</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anlBfhdSpcfctDtl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A</a:t>
                      </a:r>
                      <a:r>
                        <a:rPr lang="en-US" altLang="ko-KR" sz="800" b="0" i="0" u="none" strike="noStrike" dirty="0" err="1">
                          <a:solidFill>
                            <a:schemeClr val="tx1"/>
                          </a:solidFill>
                          <a:effectLst/>
                          <a:latin typeface="+mn-lt"/>
                        </a:rPr>
                        <a:t>nlBfhdSpcfctDtlPage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latin typeface="+mn-ea"/>
                          <a:ea typeface="+mn-ea"/>
                        </a:rPr>
                        <a:t>UC-BD-01-01</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l" fontAlgn="ctr"/>
                      <a:r>
                        <a:rPr lang="en-US" sz="800" kern="1200" dirty="0">
                          <a:solidFill>
                            <a:schemeClr val="tx1"/>
                          </a:solidFill>
                          <a:latin typeface="+mn-ea"/>
                          <a:ea typeface="+mn-ea"/>
                          <a:cs typeface="+mn-cs"/>
                        </a:rPr>
                        <a:t>MUI-BD-01-M71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입찰공고상세</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OvsBidPbancDtlPage</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국외 입찰공고를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ovsBidPbancDtl</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OvsBidPbancDtlPage</a:t>
                      </a:r>
                      <a:r>
                        <a:rPr lang="en-US" altLang="ko-KR" sz="800" dirty="0" err="1"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smtClean="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1450384"/>
                  </a:ext>
                </a:extLst>
              </a:tr>
              <a:tr h="180000">
                <a:tc>
                  <a:txBody>
                    <a:bodyPr/>
                    <a:lstStyle/>
                    <a:p>
                      <a:pPr algn="l" fontAlgn="t"/>
                      <a:r>
                        <a:rPr lang="en-US" altLang="ko-KR" sz="800" kern="1200" dirty="0" smtClean="0">
                          <a:solidFill>
                            <a:schemeClr val="tx1"/>
                          </a:solidFill>
                          <a:latin typeface="+mn-ea"/>
                          <a:ea typeface="+mn-ea"/>
                          <a:cs typeface="+mn-cs"/>
                        </a:rPr>
                        <a:t>MUI-BD-01-T71</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OvsBidPbancDtl</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국외 </a:t>
                      </a:r>
                      <a:r>
                        <a:rPr lang="ko-KR" altLang="en-US" sz="800" kern="1200" dirty="0" smtClean="0">
                          <a:solidFill>
                            <a:schemeClr val="tx1"/>
                          </a:solidFill>
                          <a:latin typeface="+mn-ea"/>
                          <a:ea typeface="+mn-ea"/>
                          <a:cs typeface="+mn-cs"/>
                        </a:rPr>
                        <a:t>입찰공고 중</a:t>
                      </a:r>
                      <a:r>
                        <a:rPr lang="ko-KR" altLang="en-US" sz="800" kern="1200" baseline="0" dirty="0" smtClean="0">
                          <a:solidFill>
                            <a:schemeClr val="tx1"/>
                          </a:solidFill>
                          <a:latin typeface="+mn-ea"/>
                          <a:ea typeface="+mn-ea"/>
                          <a:cs typeface="+mn-cs"/>
                        </a:rPr>
                        <a:t> 일반정보 탭</a:t>
                      </a:r>
                      <a:r>
                        <a:rPr lang="ko-KR" altLang="en-US" sz="800" kern="1200" dirty="0" smtClean="0">
                          <a:solidFill>
                            <a:schemeClr val="tx1"/>
                          </a:solidFill>
                          <a:latin typeface="+mn-ea"/>
                          <a:ea typeface="+mn-ea"/>
                          <a:cs typeface="+mn-cs"/>
                        </a:rPr>
                        <a:t> </a:t>
                      </a:r>
                      <a:r>
                        <a:rPr lang="ko-KR" altLang="en-US" sz="800" kern="1200" dirty="0">
                          <a:solidFill>
                            <a:schemeClr val="tx1"/>
                          </a:solidFill>
                          <a:latin typeface="+mn-ea"/>
                          <a:ea typeface="+mn-ea"/>
                          <a:cs typeface="+mn-cs"/>
                        </a:rPr>
                        <a:t>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ovsBidPbancDtl</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OvsBidPbancDtl</a:t>
                      </a:r>
                      <a:r>
                        <a:rPr lang="en-US" altLang="ko-KR" sz="800" dirty="0" err="1" smtClean="0">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l" fontAlgn="ctr"/>
                      <a:r>
                        <a:rPr lang="en-US" altLang="ko-KR" sz="800" kern="1200" dirty="0" smtClean="0">
                          <a:solidFill>
                            <a:schemeClr val="tx1"/>
                          </a:solidFill>
                          <a:latin typeface="+mn-ea"/>
                          <a:ea typeface="+mn-ea"/>
                          <a:cs typeface="+mn-cs"/>
                        </a:rPr>
                        <a:t>MUI-BD-01-T72</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품목목록</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a:solidFill>
                            <a:schemeClr val="tx1"/>
                          </a:solidFill>
                          <a:effectLst/>
                          <a:latin typeface="+mn-lt"/>
                          <a:ea typeface="+mn-ea"/>
                          <a:cs typeface="+mn-cs"/>
                        </a:rPr>
                        <a:t>OvsBidPbancDtl1</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국외 </a:t>
                      </a: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입찰공고</a:t>
                      </a:r>
                      <a:r>
                        <a:rPr lang="ko-KR" altLang="en-US" sz="800" kern="1200" dirty="0" smtClean="0">
                          <a:solidFill>
                            <a:schemeClr val="tx1"/>
                          </a:solidFill>
                          <a:latin typeface="+mn-ea"/>
                          <a:ea typeface="+mn-ea"/>
                          <a:cs typeface="+mn-cs"/>
                        </a:rPr>
                        <a:t> 중</a:t>
                      </a:r>
                      <a:r>
                        <a:rPr lang="ko-KR" altLang="en-US" sz="800" kern="1200" baseline="0" dirty="0" smtClean="0">
                          <a:solidFill>
                            <a:schemeClr val="tx1"/>
                          </a:solidFill>
                          <a:latin typeface="+mn-ea"/>
                          <a:ea typeface="+mn-ea"/>
                          <a:cs typeface="+mn-cs"/>
                        </a:rPr>
                        <a:t> </a:t>
                      </a:r>
                      <a:r>
                        <a:rPr lang="ko-KR" altLang="en-US" sz="800" kern="1200" baseline="0" dirty="0" err="1" smtClean="0">
                          <a:solidFill>
                            <a:schemeClr val="tx1"/>
                          </a:solidFill>
                          <a:latin typeface="+mn-ea"/>
                          <a:ea typeface="+mn-ea"/>
                          <a:cs typeface="+mn-cs"/>
                        </a:rPr>
                        <a:t>품목목록</a:t>
                      </a:r>
                      <a:r>
                        <a:rPr lang="ko-KR" altLang="en-US" sz="800" kern="1200" baseline="0" dirty="0" smtClean="0">
                          <a:solidFill>
                            <a:schemeClr val="tx1"/>
                          </a:solidFill>
                          <a:latin typeface="+mn-ea"/>
                          <a:ea typeface="+mn-ea"/>
                          <a:cs typeface="+mn-cs"/>
                        </a:rPr>
                        <a:t> 탭</a:t>
                      </a: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ovsBidPbancDtl</a:t>
                      </a:r>
                      <a:r>
                        <a:rPr lang="en-US" altLang="ko-KR" sz="800" dirty="0" smtClean="0">
                          <a:solidFill>
                            <a:schemeClr val="tx1"/>
                          </a:solidFill>
                          <a:latin typeface="+mn-ea"/>
                          <a:ea typeface="+mn-ea"/>
                        </a:rPr>
                        <a:t>/</a:t>
                      </a:r>
                      <a:r>
                        <a:rPr lang="en-US" altLang="ko-KR" sz="800" b="0" i="0" u="none" strike="noStrike" dirty="0" smtClean="0">
                          <a:solidFill>
                            <a:schemeClr val="tx1"/>
                          </a:solidFill>
                          <a:effectLst/>
                          <a:latin typeface="+mn-lt"/>
                        </a:rPr>
                        <a:t>OvsBidPbancDtl1</a:t>
                      </a:r>
                      <a:r>
                        <a:rPr lang="en-US" altLang="ko-KR" sz="800" dirty="0" smtClean="0">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9929360"/>
                  </a:ext>
                </a:extLst>
              </a:tr>
              <a:tr h="180000">
                <a:tc>
                  <a:txBody>
                    <a:bodyPr/>
                    <a:lstStyle/>
                    <a:p>
                      <a:pPr marL="0" marR="0" indent="0" algn="l" defTabSz="914400" rtl="0" eaLnBrk="1" fontAlgn="t" latinLnBrk="1" hangingPunct="1">
                        <a:lnSpc>
                          <a:spcPct val="100000"/>
                        </a:lnSpc>
                        <a:spcBef>
                          <a:spcPts val="0"/>
                        </a:spcBef>
                        <a:spcAft>
                          <a:spcPts val="0"/>
                        </a:spcAft>
                        <a:buClrTx/>
                        <a:buSzTx/>
                        <a:buFontTx/>
                        <a:buNone/>
                        <a:tabLst/>
                        <a:defRPr/>
                      </a:pPr>
                      <a:r>
                        <a:rPr lang="en-US" altLang="ko-KR" sz="800" kern="1200" dirty="0" smtClean="0">
                          <a:solidFill>
                            <a:schemeClr val="tx1"/>
                          </a:solidFill>
                          <a:latin typeface="+mn-ea"/>
                          <a:ea typeface="+mn-ea"/>
                          <a:cs typeface="+mn-cs"/>
                        </a:rPr>
                        <a:t>MUI-BD-01-T73</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첨부파일</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a:solidFill>
                            <a:schemeClr val="tx1"/>
                          </a:solidFill>
                          <a:effectLst/>
                          <a:latin typeface="+mn-lt"/>
                          <a:ea typeface="+mn-ea"/>
                          <a:cs typeface="+mn-cs"/>
                        </a:rPr>
                        <a:t>OvsBidPbancDtl2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국외 </a:t>
                      </a: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입찰공고</a:t>
                      </a:r>
                      <a:r>
                        <a:rPr lang="ko-KR" altLang="en-US" sz="800" kern="1200" dirty="0" smtClean="0">
                          <a:solidFill>
                            <a:schemeClr val="tx1"/>
                          </a:solidFill>
                          <a:latin typeface="+mn-ea"/>
                          <a:ea typeface="+mn-ea"/>
                          <a:cs typeface="+mn-cs"/>
                        </a:rPr>
                        <a:t> 중</a:t>
                      </a:r>
                      <a:r>
                        <a:rPr lang="ko-KR" altLang="en-US" sz="800" kern="1200" baseline="0" dirty="0" smtClean="0">
                          <a:solidFill>
                            <a:schemeClr val="tx1"/>
                          </a:solidFill>
                          <a:latin typeface="+mn-ea"/>
                          <a:ea typeface="+mn-ea"/>
                          <a:cs typeface="+mn-cs"/>
                        </a:rPr>
                        <a:t> 첨부파일 탭</a:t>
                      </a:r>
                      <a:r>
                        <a:rPr kumimoji="0" lang="ko-KR" altLang="en-US"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ovsBidPbancDtl</a:t>
                      </a:r>
                      <a:r>
                        <a:rPr lang="en-US" altLang="ko-KR" sz="800" dirty="0">
                          <a:solidFill>
                            <a:schemeClr val="tx1"/>
                          </a:solidFill>
                          <a:latin typeface="+mn-ea"/>
                          <a:ea typeface="+mn-ea"/>
                        </a:rPr>
                        <a:t>/</a:t>
                      </a:r>
                      <a:r>
                        <a:rPr lang="en-US" altLang="ko-KR" sz="800" b="0" i="0" u="none" strike="noStrike" dirty="0">
                          <a:solidFill>
                            <a:schemeClr val="tx1"/>
                          </a:solidFill>
                          <a:effectLst/>
                          <a:latin typeface="+mn-lt"/>
                        </a:rPr>
                        <a:t>OvsBidPbancDtl2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altLang="ko-KR" sz="800" kern="1200" dirty="0">
                          <a:solidFill>
                            <a:schemeClr val="tx1"/>
                          </a:solidFill>
                          <a:latin typeface="+mn-ea"/>
                          <a:ea typeface="+mn-ea"/>
                          <a:cs typeface="+mn-cs"/>
                        </a:rPr>
                        <a:t>MUI-BD-01-M74</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환율정보조회</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OvsExchrtListPage</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일별 </a:t>
                      </a:r>
                      <a:r>
                        <a:rPr lang="ko-KR" altLang="en-US" sz="800" kern="1200" dirty="0" err="1">
                          <a:solidFill>
                            <a:schemeClr val="tx1"/>
                          </a:solidFill>
                          <a:latin typeface="+mn-ea"/>
                          <a:ea typeface="+mn-ea"/>
                          <a:cs typeface="+mn-cs"/>
                        </a:rPr>
                        <a:t>환율정보를</a:t>
                      </a:r>
                      <a:r>
                        <a:rPr lang="ko-KR" altLang="en-US" sz="800" kern="1200" dirty="0">
                          <a:solidFill>
                            <a:schemeClr val="tx1"/>
                          </a:solidFill>
                          <a:latin typeface="+mn-ea"/>
                          <a:ea typeface="+mn-ea"/>
                          <a:cs typeface="+mn-cs"/>
                        </a:rPr>
                        <a:t>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ovsExchrtList</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OvsExchrtListPage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l" fontAlgn="ctr"/>
                      <a:r>
                        <a:rPr lang="en-US" altLang="ko-KR" sz="800" kern="1200" dirty="0">
                          <a:solidFill>
                            <a:schemeClr val="tx1"/>
                          </a:solidFill>
                          <a:latin typeface="+mn-ea"/>
                          <a:ea typeface="+mn-ea"/>
                          <a:cs typeface="+mn-cs"/>
                        </a:rPr>
                        <a:t>MUI-BD-01-M75</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목표가공개품목조회</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OvsGoalPrcRlsItemListPage</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목표가공개품목을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ovsGoalPrcRlsItemList</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OvsGoalPrcRlsItemListPage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latin typeface="+mn-ea"/>
                          <a:ea typeface="+mn-ea"/>
                        </a:rPr>
                        <a:t>UC-BD-01-02</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algn="l" fontAlgn="ctr"/>
                      <a:r>
                        <a:rPr lang="en-US" sz="800" kern="1200" dirty="0" smtClean="0">
                          <a:solidFill>
                            <a:schemeClr val="tx1"/>
                          </a:solidFill>
                          <a:latin typeface="+mn-ea"/>
                          <a:ea typeface="+mn-ea"/>
                          <a:cs typeface="+mn-cs"/>
                        </a:rPr>
                        <a:t>MUI-BD-01-P76</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첨부파일조회</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OvsBidPbanc_AtchFileInq</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첨부파일을 조회하는 </a:t>
                      </a:r>
                      <a:r>
                        <a:rPr lang="ko-KR" altLang="en-US" sz="800" kern="1200" dirty="0" err="1" smtClean="0">
                          <a:solidFill>
                            <a:schemeClr val="tx1"/>
                          </a:solidFill>
                          <a:latin typeface="+mn-ea"/>
                          <a:ea typeface="+mn-ea"/>
                          <a:cs typeface="+mn-cs"/>
                        </a:rPr>
                        <a:t>팝업화면</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ovsBidPbancDtl</a:t>
                      </a:r>
                      <a:r>
                        <a:rPr lang="en-US" altLang="ko-KR" sz="800" dirty="0" smtClean="0">
                          <a:solidFill>
                            <a:schemeClr val="tx1"/>
                          </a:solidFill>
                          <a:latin typeface="+mn-ea"/>
                          <a:ea typeface="+mn-ea"/>
                        </a:rPr>
                        <a:t>/</a:t>
                      </a:r>
                      <a:r>
                        <a:rPr lang="en-US" altLang="ko-KR" sz="800" b="0" i="0" u="none" strike="noStrike" dirty="0" err="1" smtClean="0">
                          <a:solidFill>
                            <a:srgbClr val="000000"/>
                          </a:solidFill>
                          <a:effectLst/>
                          <a:latin typeface="맑은 고딕" panose="020B0503020000020004" pitchFamily="50" charset="-127"/>
                          <a:ea typeface="+mn-ea"/>
                        </a:rPr>
                        <a:t>OvsBidPbanc_AtchFileInq</a:t>
                      </a:r>
                      <a:r>
                        <a:rPr lang="en-US" altLang="ko-KR" sz="800" dirty="0" err="1"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base" latinLnBrk="1"/>
                      <a:r>
                        <a:rPr lang="en-US" altLang="ko-KR" sz="800" dirty="0" smtClean="0">
                          <a:latin typeface="+mn-ea"/>
                          <a:ea typeface="+mn-ea"/>
                        </a:rPr>
                        <a:t>UC-BD-01-02</a:t>
                      </a:r>
                      <a:endParaRPr lang="en-US" altLang="ko-KR"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37464548"/>
                  </a:ext>
                </a:extLst>
              </a:tr>
              <a:tr h="180000">
                <a:tc>
                  <a:txBody>
                    <a:bodyPr/>
                    <a:lstStyle/>
                    <a:p>
                      <a:pPr algn="l" fontAlgn="ctr"/>
                      <a:r>
                        <a:rPr lang="en-US" altLang="ko-KR" sz="800" kern="1200" dirty="0">
                          <a:solidFill>
                            <a:schemeClr val="tx1"/>
                          </a:solidFill>
                          <a:latin typeface="+mn-ea"/>
                          <a:ea typeface="+mn-ea"/>
                          <a:cs typeface="+mn-cs"/>
                        </a:rPr>
                        <a:t>MUI-CM-01-M71</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국외보관함목록</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OvsLockerPbanListPage</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보관함에 추가한 공고를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ovsLockerPbanList</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OvsLockerPbanListPage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base" latinLnBrk="1"/>
                      <a:r>
                        <a:rPr lang="en-US" altLang="ko-KR" sz="800" kern="1200" dirty="0" smtClean="0">
                          <a:solidFill>
                            <a:schemeClr val="tx1"/>
                          </a:solidFill>
                          <a:latin typeface="+mn-ea"/>
                          <a:ea typeface="+mn-ea"/>
                          <a:cs typeface="+mn-cs"/>
                        </a:rPr>
                        <a:t>UC-BD-03-01</a:t>
                      </a:r>
                      <a:endParaRPr lang="en-US" altLang="ko-KR"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r h="180000">
                <a:tc>
                  <a:txBody>
                    <a:bodyPr/>
                    <a:lstStyle/>
                    <a:p>
                      <a:pPr algn="l" fontAlgn="ctr"/>
                      <a:r>
                        <a:rPr lang="en-US" sz="800" kern="1200" dirty="0" smtClean="0">
                          <a:solidFill>
                            <a:schemeClr val="tx1"/>
                          </a:solidFill>
                          <a:latin typeface="+mn-ea"/>
                          <a:ea typeface="+mn-ea"/>
                          <a:cs typeface="+mn-cs"/>
                        </a:rPr>
                        <a:t>MUI-CM-01-P72</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smtClean="0">
                          <a:solidFill>
                            <a:schemeClr val="tx1"/>
                          </a:solidFill>
                          <a:latin typeface="+mn-ea"/>
                          <a:ea typeface="+mn-ea"/>
                          <a:cs typeface="+mn-cs"/>
                        </a:rPr>
                        <a:t>검색필터</a:t>
                      </a:r>
                      <a:r>
                        <a:rPr lang="en-US" altLang="ko-KR" sz="800" kern="1200" dirty="0" smtClean="0">
                          <a:solidFill>
                            <a:schemeClr val="tx1"/>
                          </a:solidFill>
                          <a:latin typeface="+mn-ea"/>
                          <a:ea typeface="+mn-ea"/>
                          <a:cs typeface="+mn-cs"/>
                        </a:rPr>
                        <a:t>-</a:t>
                      </a:r>
                      <a:r>
                        <a:rPr lang="ko-KR" altLang="en-US" sz="800" kern="1200" dirty="0" err="1" smtClean="0">
                          <a:solidFill>
                            <a:schemeClr val="tx1"/>
                          </a:solidFill>
                          <a:latin typeface="+mn-ea"/>
                          <a:ea typeface="+mn-ea"/>
                          <a:cs typeface="+mn-cs"/>
                        </a:rPr>
                        <a:t>국외보관함</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smtClean="0">
                          <a:solidFill>
                            <a:schemeClr val="tx1"/>
                          </a:solidFill>
                          <a:effectLst/>
                          <a:latin typeface="+mn-lt"/>
                          <a:ea typeface="+mn-ea"/>
                          <a:cs typeface="+mn-cs"/>
                        </a:rPr>
                        <a:t>ovsLockerPbanList_SrchFilter</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국외 보관함 </a:t>
                      </a:r>
                      <a:r>
                        <a:rPr lang="ko-KR" altLang="en-US" sz="800" kern="1200" dirty="0" err="1" smtClean="0">
                          <a:solidFill>
                            <a:schemeClr val="tx1"/>
                          </a:solidFill>
                          <a:latin typeface="+mn-ea"/>
                          <a:ea typeface="+mn-ea"/>
                          <a:cs typeface="+mn-cs"/>
                        </a:rPr>
                        <a:t>검색필터</a:t>
                      </a:r>
                      <a:r>
                        <a:rPr lang="ko-KR" altLang="en-US" sz="800" kern="1200" dirty="0" smtClean="0">
                          <a:solidFill>
                            <a:schemeClr val="tx1"/>
                          </a:solidFill>
                          <a:latin typeface="+mn-ea"/>
                          <a:ea typeface="+mn-ea"/>
                          <a:cs typeface="+mn-cs"/>
                        </a:rPr>
                        <a:t> 화면</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ovsLockerPbanList</a:t>
                      </a:r>
                      <a:r>
                        <a:rPr lang="en-US" altLang="ko-KR" sz="800" b="0" i="0" u="none" strike="noStrike" dirty="0" smtClean="0">
                          <a:solidFill>
                            <a:schemeClr val="tx1"/>
                          </a:solidFill>
                          <a:effectLst/>
                          <a:latin typeface="+mn-lt"/>
                        </a:rPr>
                        <a:t>/</a:t>
                      </a:r>
                      <a:r>
                        <a:rPr lang="en-US" altLang="ko-KR" sz="800" b="0" i="0" u="none" strike="noStrike" kern="1200" dirty="0" err="1" smtClean="0">
                          <a:solidFill>
                            <a:schemeClr val="tx1"/>
                          </a:solidFill>
                          <a:effectLst/>
                          <a:latin typeface="+mn-lt"/>
                          <a:ea typeface="+mn-ea"/>
                          <a:cs typeface="+mn-cs"/>
                        </a:rPr>
                        <a:t>ovsLockerPbanList_SrchFilter</a:t>
                      </a:r>
                      <a:r>
                        <a:rPr lang="en-US" altLang="ko-KR" sz="800" dirty="0" err="1"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lang="en-US" altLang="ko-KR" sz="800" kern="1200" dirty="0" smtClean="0">
                          <a:solidFill>
                            <a:schemeClr val="tx1"/>
                          </a:solidFill>
                          <a:latin typeface="+mn-ea"/>
                          <a:ea typeface="+mn-ea"/>
                          <a:cs typeface="+mn-cs"/>
                        </a:rPr>
                        <a:t>UC-BD-03-01</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1410671"/>
                  </a:ext>
                </a:extLst>
              </a:tr>
              <a:tr h="180000">
                <a:tc>
                  <a:txBody>
                    <a:bodyPr/>
                    <a:lstStyle/>
                    <a:p>
                      <a:pPr algn="l" fontAlgn="ctr"/>
                      <a:r>
                        <a:rPr lang="en-US" altLang="ko-KR" sz="800" kern="1200" dirty="0" smtClean="0">
                          <a:solidFill>
                            <a:schemeClr val="tx1"/>
                          </a:solidFill>
                          <a:latin typeface="+mn-ea"/>
                          <a:ea typeface="+mn-ea"/>
                          <a:cs typeface="+mn-cs"/>
                        </a:rPr>
                        <a:t>MUI-CM-01-M74</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보관함 품목 관리</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OvsLockerItemRegPage</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공고입찰품목 중 보관함에 품목을 추가 및 삭제하는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ovsLockerItemReg</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OvsLockerItemRegPage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UC-BD-03-01</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r h="180000">
                <a:tc>
                  <a:txBody>
                    <a:bodyPr/>
                    <a:lstStyle/>
                    <a:p>
                      <a:pPr algn="l" fontAlgn="ctr"/>
                      <a:r>
                        <a:rPr lang="en-US" sz="800" kern="1200" dirty="0" smtClean="0">
                          <a:solidFill>
                            <a:schemeClr val="tx1"/>
                          </a:solidFill>
                          <a:latin typeface="+mn-ea"/>
                          <a:ea typeface="+mn-ea"/>
                          <a:cs typeface="+mn-cs"/>
                        </a:rPr>
                        <a:t>MUI-CM-01-P75</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smtClean="0">
                          <a:solidFill>
                            <a:schemeClr val="tx1"/>
                          </a:solidFill>
                          <a:latin typeface="+mn-ea"/>
                          <a:ea typeface="+mn-ea"/>
                          <a:cs typeface="+mn-cs"/>
                        </a:rPr>
                        <a:t>검색필터</a:t>
                      </a:r>
                      <a:r>
                        <a:rPr lang="en-US" altLang="ko-KR" sz="800" kern="1200" dirty="0" smtClean="0">
                          <a:solidFill>
                            <a:schemeClr val="tx1"/>
                          </a:solidFill>
                          <a:latin typeface="+mn-ea"/>
                          <a:ea typeface="+mn-ea"/>
                          <a:cs typeface="+mn-cs"/>
                        </a:rPr>
                        <a:t>-</a:t>
                      </a:r>
                      <a:r>
                        <a:rPr lang="ko-KR" altLang="en-US" sz="800" kern="1200" dirty="0" err="1" smtClean="0">
                          <a:solidFill>
                            <a:schemeClr val="tx1"/>
                          </a:solidFill>
                          <a:latin typeface="+mn-ea"/>
                          <a:ea typeface="+mn-ea"/>
                          <a:cs typeface="+mn-cs"/>
                        </a:rPr>
                        <a:t>보관함품목</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smtClean="0">
                          <a:solidFill>
                            <a:schemeClr val="tx1"/>
                          </a:solidFill>
                          <a:effectLst/>
                          <a:latin typeface="+mn-lt"/>
                          <a:ea typeface="+mn-ea"/>
                          <a:cs typeface="+mn-cs"/>
                        </a:rPr>
                        <a:t>ovsLockerItemMng</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smtClean="0">
                          <a:solidFill>
                            <a:schemeClr val="tx1"/>
                          </a:solidFill>
                          <a:latin typeface="+mn-ea"/>
                          <a:ea typeface="+mn-ea"/>
                          <a:cs typeface="+mn-cs"/>
                        </a:rPr>
                        <a:t>보관함품목</a:t>
                      </a:r>
                      <a:r>
                        <a:rPr lang="ko-KR" altLang="en-US" sz="800" kern="1200" dirty="0" smtClean="0">
                          <a:solidFill>
                            <a:schemeClr val="tx1"/>
                          </a:solidFill>
                          <a:latin typeface="+mn-ea"/>
                          <a:ea typeface="+mn-ea"/>
                          <a:cs typeface="+mn-cs"/>
                        </a:rPr>
                        <a:t> </a:t>
                      </a:r>
                      <a:r>
                        <a:rPr lang="ko-KR" altLang="en-US" sz="800" kern="1200" dirty="0" err="1" smtClean="0">
                          <a:solidFill>
                            <a:schemeClr val="tx1"/>
                          </a:solidFill>
                          <a:latin typeface="+mn-ea"/>
                          <a:ea typeface="+mn-ea"/>
                          <a:cs typeface="+mn-cs"/>
                        </a:rPr>
                        <a:t>검색필터</a:t>
                      </a:r>
                      <a:r>
                        <a:rPr lang="ko-KR" altLang="en-US" sz="800" kern="1200" dirty="0" smtClean="0">
                          <a:solidFill>
                            <a:schemeClr val="tx1"/>
                          </a:solidFill>
                          <a:latin typeface="+mn-ea"/>
                          <a:ea typeface="+mn-ea"/>
                          <a:cs typeface="+mn-cs"/>
                        </a:rPr>
                        <a:t> 화면</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ovsLockerItemReg</a:t>
                      </a:r>
                      <a:r>
                        <a:rPr lang="en-US" altLang="ko-KR" sz="800" b="0" i="0" u="none" strike="noStrike" dirty="0" smtClean="0">
                          <a:solidFill>
                            <a:schemeClr val="tx1"/>
                          </a:solidFill>
                          <a:effectLst/>
                          <a:latin typeface="+mn-lt"/>
                        </a:rPr>
                        <a:t>/</a:t>
                      </a:r>
                      <a:r>
                        <a:rPr lang="en-US" altLang="ko-KR" sz="800" b="0" i="0" u="none" strike="noStrike" kern="1200" dirty="0" err="1" smtClean="0">
                          <a:solidFill>
                            <a:schemeClr val="tx1"/>
                          </a:solidFill>
                          <a:effectLst/>
                          <a:latin typeface="+mn-lt"/>
                          <a:ea typeface="+mn-ea"/>
                          <a:cs typeface="+mn-cs"/>
                        </a:rPr>
                        <a:t>ovsLockerItemMng</a:t>
                      </a:r>
                      <a:r>
                        <a:rPr lang="en-US" altLang="ko-KR" sz="800" dirty="0" err="1"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UC-BD-03-01</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2404372"/>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grpSp>
        <p:nvGrpSpPr>
          <p:cNvPr id="7" name="그룹 6"/>
          <p:cNvGrpSpPr/>
          <p:nvPr/>
        </p:nvGrpSpPr>
        <p:grpSpPr>
          <a:xfrm>
            <a:off x="8223250" y="569392"/>
            <a:ext cx="3365500" cy="634511"/>
            <a:chOff x="8223250" y="569392"/>
            <a:chExt cx="3365500" cy="634511"/>
          </a:xfrm>
        </p:grpSpPr>
        <p:sp>
          <p:nvSpPr>
            <p:cNvPr id="8" name="직사각형 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2026-06-19 </a:t>
              </a:r>
              <a:r>
                <a:rPr lang="ko-KR" altLang="en-US" dirty="0" smtClean="0"/>
                <a:t>내용 </a:t>
              </a:r>
              <a:r>
                <a:rPr lang="ko-KR" altLang="en-US" dirty="0"/>
                <a:t>수정</a:t>
              </a:r>
            </a:p>
          </p:txBody>
        </p:sp>
        <p:sp>
          <p:nvSpPr>
            <p:cNvPr id="9" name="직사각형 8"/>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t">
              <a:noAutofit/>
            </a:bodyPr>
            <a:lstStyle/>
            <a:p>
              <a:pPr marL="228600" indent="-228600">
                <a:buAutoNum type="arabicPeriod"/>
              </a:pPr>
              <a:r>
                <a:rPr lang="ko-KR" altLang="en-US" sz="700" dirty="0" smtClean="0"/>
                <a:t>국외 보관함 </a:t>
              </a:r>
              <a:r>
                <a:rPr lang="ko-KR" altLang="en-US" sz="700" dirty="0" err="1" smtClean="0"/>
                <a:t>유스케이스</a:t>
              </a:r>
              <a:r>
                <a:rPr lang="ko-KR" altLang="en-US" sz="700" dirty="0" smtClean="0"/>
                <a:t> </a:t>
              </a:r>
              <a:r>
                <a:rPr lang="en-US" altLang="ko-KR" sz="700" dirty="0" smtClean="0"/>
                <a:t>ID</a:t>
              </a:r>
              <a:r>
                <a:rPr lang="ko-KR" altLang="en-US" sz="700" dirty="0" smtClean="0"/>
                <a:t>추가</a:t>
              </a:r>
              <a:endParaRPr lang="en-US" altLang="ko-KR" sz="700" dirty="0"/>
            </a:p>
          </p:txBody>
        </p:sp>
      </p:grpSp>
      <p:grpSp>
        <p:nvGrpSpPr>
          <p:cNvPr id="10" name="그룹 9"/>
          <p:cNvGrpSpPr/>
          <p:nvPr/>
        </p:nvGrpSpPr>
        <p:grpSpPr>
          <a:xfrm>
            <a:off x="8223250" y="789392"/>
            <a:ext cx="3365500" cy="634511"/>
            <a:chOff x="8223250" y="569392"/>
            <a:chExt cx="3365500" cy="634511"/>
          </a:xfrm>
        </p:grpSpPr>
        <p:sp>
          <p:nvSpPr>
            <p:cNvPr id="11" name="직사각형 10"/>
            <p:cNvSpPr/>
            <p:nvPr/>
          </p:nvSpPr>
          <p:spPr>
            <a:xfrm>
              <a:off x="8223250" y="569392"/>
              <a:ext cx="1682750" cy="2194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normAutofit fontScale="55000" lnSpcReduction="20000"/>
            </a:bodyPr>
            <a:lstStyle/>
            <a:p>
              <a:pPr algn="ctr"/>
              <a:r>
                <a:rPr lang="en-US" altLang="ko-KR" dirty="0" smtClean="0"/>
                <a:t>2026-07-06 </a:t>
              </a:r>
              <a:r>
                <a:rPr lang="ko-KR" altLang="en-US" dirty="0" smtClean="0"/>
                <a:t>내용 </a:t>
              </a:r>
              <a:r>
                <a:rPr lang="ko-KR" altLang="en-US" dirty="0"/>
                <a:t>수정</a:t>
              </a:r>
            </a:p>
          </p:txBody>
        </p:sp>
        <p:sp>
          <p:nvSpPr>
            <p:cNvPr id="12" name="직사각형 11"/>
            <p:cNvSpPr/>
            <p:nvPr/>
          </p:nvSpPr>
          <p:spPr>
            <a:xfrm>
              <a:off x="9906000" y="569392"/>
              <a:ext cx="1682750" cy="63451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t">
              <a:noAutofit/>
            </a:bodyPr>
            <a:lstStyle/>
            <a:p>
              <a:pPr marL="228600" indent="-228600">
                <a:buAutoNum type="arabicPeriod"/>
              </a:pPr>
              <a:r>
                <a:rPr lang="ko-KR" altLang="en-US" sz="700" dirty="0" smtClean="0"/>
                <a:t>화면 </a:t>
              </a:r>
              <a:r>
                <a:rPr lang="en-US" altLang="ko-KR" sz="700" dirty="0" smtClean="0"/>
                <a:t>ID </a:t>
              </a:r>
              <a:r>
                <a:rPr lang="ko-KR" altLang="en-US" sz="700" dirty="0" smtClean="0"/>
                <a:t>변경</a:t>
              </a:r>
              <a:endParaRPr lang="en-US" altLang="ko-KR" sz="700" dirty="0" smtClean="0"/>
            </a:p>
            <a:p>
              <a:pPr marL="228600" indent="-228600">
                <a:buAutoNum type="arabicPeriod"/>
              </a:pPr>
              <a:r>
                <a:rPr lang="ko-KR" altLang="en-US" sz="700" dirty="0" smtClean="0"/>
                <a:t>첨부파일조회 추가</a:t>
              </a:r>
              <a:endParaRPr lang="en-US" altLang="ko-KR" sz="700" dirty="0" smtClean="0"/>
            </a:p>
            <a:p>
              <a:pPr marL="228600" indent="-228600">
                <a:buAutoNum type="arabicPeriod"/>
              </a:pPr>
              <a:r>
                <a:rPr lang="ko-KR" altLang="en-US" sz="700" dirty="0" smtClean="0"/>
                <a:t>국외보관함상세</a:t>
              </a:r>
              <a:r>
                <a:rPr lang="en-US" altLang="ko-KR" sz="700" dirty="0" smtClean="0"/>
                <a:t> </a:t>
              </a:r>
              <a:r>
                <a:rPr lang="ko-KR" altLang="en-US" sz="700" dirty="0" smtClean="0"/>
                <a:t>삭제</a:t>
              </a:r>
              <a:endParaRPr lang="en-US" altLang="ko-KR" sz="700" dirty="0"/>
            </a:p>
          </p:txBody>
        </p:sp>
      </p:grpSp>
    </p:spTree>
    <p:extLst>
      <p:ext uri="{BB962C8B-B14F-4D97-AF65-F5344CB8AC3E}">
        <p14:creationId xmlns:p14="http://schemas.microsoft.com/office/powerpoint/2010/main" val="2445137013"/>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391</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7. </a:t>
            </a:r>
            <a:r>
              <a:rPr lang="ko-KR" altLang="en-US" dirty="0"/>
              <a:t>국외입찰공고상세</a:t>
            </a:r>
            <a:endParaRPr lang="en-US" altLang="ko-KR" dirty="0"/>
          </a:p>
          <a:p>
            <a:r>
              <a:rPr lang="en-US" altLang="ko-KR" dirty="0"/>
              <a:t>7.1 </a:t>
            </a:r>
            <a:r>
              <a:rPr lang="ko-KR" altLang="en-US" dirty="0"/>
              <a:t>화면 목록 </a:t>
            </a:r>
            <a:r>
              <a:rPr lang="en-US" altLang="ko-KR" dirty="0"/>
              <a:t>(2/2)</a:t>
            </a:r>
            <a:endParaRPr lang="ko-KR" altLang="en-US" dirty="0"/>
          </a:p>
        </p:txBody>
      </p:sp>
      <p:graphicFrame>
        <p:nvGraphicFramePr>
          <p:cNvPr id="5" name="표 4"/>
          <p:cNvGraphicFramePr>
            <a:graphicFrameLocks noGrp="1"/>
          </p:cNvGraphicFramePr>
          <p:nvPr>
            <p:extLst/>
          </p:nvPr>
        </p:nvGraphicFramePr>
        <p:xfrm>
          <a:off x="635474" y="1413419"/>
          <a:ext cx="8701200" cy="257854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800" kern="1200" dirty="0">
                          <a:solidFill>
                            <a:schemeClr val="tx1"/>
                          </a:solidFill>
                          <a:latin typeface="+mn-ea"/>
                          <a:ea typeface="+mn-ea"/>
                          <a:cs typeface="+mn-cs"/>
                        </a:rPr>
                        <a:t>MUI-BD-01-M76</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작성</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kern="1200" dirty="0" err="1">
                          <a:solidFill>
                            <a:schemeClr val="tx1"/>
                          </a:solidFill>
                          <a:effectLst/>
                          <a:latin typeface="+mn-lt"/>
                          <a:ea typeface="+mn-ea"/>
                          <a:cs typeface="+mn-cs"/>
                        </a:rPr>
                        <a:t>OvsTmprBidCnRegPage</a:t>
                      </a:r>
                      <a:endParaRPr lang="en-US" sz="800" b="0" i="0" u="none" strike="noStrike" kern="1200" dirty="0">
                        <a:solidFill>
                          <a:schemeClr val="tx1"/>
                        </a:solidFill>
                        <a:effectLst/>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보관함에 추가된 사업 품목에 대한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작성하는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ovsTmprBidCnReg</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OvsTmprBidCnRegPage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ase" latinLnBrk="1"/>
                      <a:r>
                        <a:rPr kumimoji="0" lang="en-US" altLang="ko-KR" sz="800" b="0" i="0" u="none" strike="noStrike" kern="1200" cap="none" spc="0" normalizeH="0" baseline="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2499257"/>
                  </a:ext>
                </a:extLst>
              </a:tr>
              <a:tr h="180000">
                <a:tc>
                  <a:txBody>
                    <a:bodyPr/>
                    <a:lstStyle/>
                    <a:p>
                      <a:pPr algn="l" fontAlgn="ctr"/>
                      <a:r>
                        <a:rPr lang="en-US" sz="800" kern="1200" dirty="0" smtClean="0">
                          <a:solidFill>
                            <a:schemeClr val="tx1"/>
                          </a:solidFill>
                          <a:latin typeface="+mn-ea"/>
                          <a:ea typeface="+mn-ea"/>
                          <a:cs typeface="+mn-cs"/>
                        </a:rPr>
                        <a:t>MUI-BD-01-T74</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일반정보</a:t>
                      </a:r>
                      <a:endParaRPr lang="en-US" altLang="ko-KR"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lt"/>
                          <a:ea typeface="+mn-ea"/>
                        </a:rPr>
                        <a:t>ovsTmprBidCnReg_info</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smtClean="0">
                          <a:solidFill>
                            <a:schemeClr val="tx1"/>
                          </a:solidFill>
                          <a:latin typeface="+mn-ea"/>
                          <a:ea typeface="+mn-ea"/>
                          <a:cs typeface="+mn-cs"/>
                        </a:rPr>
                        <a:t>보관함에 추가된 사업 품목에 대한 </a:t>
                      </a:r>
                      <a:r>
                        <a:rPr lang="ko-KR" altLang="en-US" sz="800" kern="1200" dirty="0" err="1" smtClean="0">
                          <a:solidFill>
                            <a:schemeClr val="tx1"/>
                          </a:solidFill>
                          <a:latin typeface="+mn-ea"/>
                          <a:ea typeface="+mn-ea"/>
                          <a:cs typeface="+mn-cs"/>
                        </a:rPr>
                        <a:t>입찰내역을</a:t>
                      </a:r>
                      <a:r>
                        <a:rPr lang="ko-KR" altLang="en-US" sz="800" kern="1200" dirty="0" smtClean="0">
                          <a:solidFill>
                            <a:schemeClr val="tx1"/>
                          </a:solidFill>
                          <a:latin typeface="+mn-ea"/>
                          <a:ea typeface="+mn-ea"/>
                          <a:cs typeface="+mn-cs"/>
                        </a:rPr>
                        <a:t> 작성하는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lt"/>
                        </a:rPr>
                        <a:t>ovsTmprBidCnReg</a:t>
                      </a:r>
                      <a:r>
                        <a:rPr lang="en-US" altLang="ko-KR" sz="800" b="0" i="0" u="none" strike="noStrike" dirty="0" smtClean="0">
                          <a:solidFill>
                            <a:schemeClr val="tx1"/>
                          </a:solidFill>
                          <a:effectLst/>
                          <a:latin typeface="+mn-lt"/>
                        </a:rPr>
                        <a:t>/</a:t>
                      </a:r>
                      <a:r>
                        <a:rPr lang="en-US" altLang="ko-KR" sz="800" dirty="0" err="1" smtClean="0">
                          <a:solidFill>
                            <a:schemeClr val="tx1"/>
                          </a:solidFill>
                          <a:latin typeface="+mn-lt"/>
                          <a:ea typeface="+mn-ea"/>
                        </a:rPr>
                        <a:t>ovsTmprBidCnReg_info</a:t>
                      </a:r>
                      <a:r>
                        <a:rPr lang="en-US" altLang="ko-KR" sz="800" dirty="0" err="1"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dirty="0" smtClean="0">
                          <a:ln>
                            <a:noFill/>
                          </a:ln>
                          <a:solidFill>
                            <a:prstClr val="black"/>
                          </a:solidFill>
                          <a:effectLst/>
                          <a:uLnTx/>
                          <a:uFillTx/>
                          <a:latin typeface="맑은 고딕" panose="020B0503020000020004" pitchFamily="50" charset="-127"/>
                          <a:ea typeface="+mn-ea"/>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4673405"/>
                  </a:ext>
                </a:extLst>
              </a:tr>
              <a:tr h="180000">
                <a:tc>
                  <a:txBody>
                    <a:bodyPr/>
                    <a:lstStyle/>
                    <a:p>
                      <a:pPr algn="l" fontAlgn="ctr"/>
                      <a:r>
                        <a:rPr lang="en-US" altLang="ko-KR" sz="800" kern="1200" noProof="0" dirty="0" smtClean="0">
                          <a:solidFill>
                            <a:schemeClr val="tx1"/>
                          </a:solidFill>
                          <a:latin typeface="+mn-ea"/>
                          <a:ea typeface="+mn-ea"/>
                          <a:cs typeface="+mn-cs"/>
                        </a:rPr>
                        <a:t>MUI-BD-01-T75</a:t>
                      </a:r>
                      <a:endParaRPr 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단가제</a:t>
                      </a:r>
                      <a:r>
                        <a:rPr lang="en-US" altLang="ko-KR" sz="800" kern="1200" dirty="0">
                          <a:solidFill>
                            <a:schemeClr val="tx1"/>
                          </a:solidFill>
                          <a:latin typeface="+mn-ea"/>
                          <a:ea typeface="+mn-ea"/>
                          <a:cs typeface="+mn-cs"/>
                        </a:rPr>
                        <a:t>)</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BidDsctn</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보관함에 추가된 사업 품목에 대한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작성하는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ovsTmprBidCnReg</a:t>
                      </a:r>
                      <a:r>
                        <a:rPr lang="en-US" altLang="ko-KR" sz="800" b="0" i="0" u="none" strike="noStrike" dirty="0">
                          <a:solidFill>
                            <a:schemeClr val="tx1"/>
                          </a:solidFill>
                          <a:effectLst/>
                          <a:latin typeface="+mn-lt"/>
                        </a:rPr>
                        <a:t>/</a:t>
                      </a:r>
                      <a:r>
                        <a:rPr lang="en-US" altLang="ko-KR" sz="800" dirty="0" err="1">
                          <a:solidFill>
                            <a:schemeClr val="tx1"/>
                          </a:solidFill>
                          <a:latin typeface="+mn-lt"/>
                          <a:ea typeface="+mn-ea"/>
                        </a:rPr>
                        <a:t>BidDsctn</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4139824"/>
                  </a:ext>
                </a:extLst>
              </a:tr>
              <a:tr h="180000">
                <a:tc>
                  <a:txBody>
                    <a:bodyPr/>
                    <a:lstStyle/>
                    <a:p>
                      <a:pPr algn="l" fontAlgn="ct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MUI-BD-01-T76</a:t>
                      </a:r>
                      <a:endParaRPr lang="en-US" sz="8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총액제</a:t>
                      </a:r>
                      <a:r>
                        <a:rPr lang="en-US" altLang="ko-KR" sz="800" kern="1200" dirty="0">
                          <a:solidFill>
                            <a:schemeClr val="tx1"/>
                          </a:solidFill>
                          <a:latin typeface="+mn-ea"/>
                          <a:ea typeface="+mn-ea"/>
                          <a:cs typeface="+mn-cs"/>
                        </a:rPr>
                        <a:t>)</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BidDsctn2</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보관함에 추가된 사업 품목에 대한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작성하는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ovsTmprBidCnReg</a:t>
                      </a:r>
                      <a:r>
                        <a:rPr lang="en-US" altLang="ko-KR" sz="800" b="0" i="0" u="none" strike="noStrike" dirty="0">
                          <a:solidFill>
                            <a:schemeClr val="tx1"/>
                          </a:solidFill>
                          <a:effectLst/>
                          <a:latin typeface="+mn-lt"/>
                        </a:rPr>
                        <a:t>/</a:t>
                      </a:r>
                      <a:r>
                        <a:rPr lang="en-US" altLang="ko-KR" sz="800" dirty="0">
                          <a:solidFill>
                            <a:schemeClr val="tx1"/>
                          </a:solidFill>
                          <a:latin typeface="+mn-lt"/>
                          <a:ea typeface="+mn-ea"/>
                        </a:rPr>
                        <a:t>BidDsctn2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5404868"/>
                  </a:ext>
                </a:extLst>
              </a:tr>
              <a:tr h="180000">
                <a:tc>
                  <a:txBody>
                    <a:bodyPr/>
                    <a:lstStyle/>
                    <a:p>
                      <a:pPr algn="l" fontAlgn="ct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MUI-BD-01-P79</a:t>
                      </a:r>
                      <a:endParaRPr lang="en-US" sz="8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이전공고입찰내역등록</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OvsBfrTmprBidBidCnRegPage</a:t>
                      </a:r>
                      <a:endParaRPr lang="en-US" sz="800" b="0" i="0" u="none" strike="noStrike" dirty="0">
                        <a:solidFill>
                          <a:schemeClr val="tx1"/>
                        </a:solidFill>
                        <a:effectLst/>
                        <a:latin typeface="+mn-lt"/>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이전 공고 보관함 목록의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현재 공고의 입찰내역으로 불러오는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ovsBfrTmprBidBidCnReg</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OvsBfrTmprBidBidCnRegPage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8334899"/>
                  </a:ext>
                </a:extLst>
              </a:tr>
              <a:tr h="180000">
                <a:tc>
                  <a:txBody>
                    <a:bodyPr/>
                    <a:lstStyle/>
                    <a:p>
                      <a:pPr algn="l" fontAlgn="ct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MUI-BD-01-P80</a:t>
                      </a:r>
                      <a:endParaRPr lang="en-US" sz="8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이전공고입찰내역품목상세</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BfrPbancBidDsctnItemDtl</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이전 공고 보관함 목록의 </a:t>
                      </a: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품목 확인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ovsBfrTmprBidBidCnReg</a:t>
                      </a:r>
                      <a:r>
                        <a:rPr lang="en-US" altLang="ko-KR" sz="800" dirty="0">
                          <a:solidFill>
                            <a:schemeClr val="tx1"/>
                          </a:solidFill>
                          <a:latin typeface="+mn-lt"/>
                          <a:ea typeface="+mn-ea"/>
                        </a:rPr>
                        <a:t>/</a:t>
                      </a:r>
                      <a:r>
                        <a:rPr lang="en-US" altLang="ko-KR" sz="800" dirty="0" err="1">
                          <a:solidFill>
                            <a:schemeClr val="tx1"/>
                          </a:solidFill>
                          <a:latin typeface="+mn-lt"/>
                          <a:ea typeface="+mn-ea"/>
                        </a:rPr>
                        <a:t>BfrPbancBidDsctnItemDtl</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4968145"/>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6255109"/>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392</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7.2. </a:t>
            </a:r>
            <a:r>
              <a:rPr lang="ko-KR" altLang="en-US" dirty="0"/>
              <a:t>화면 흐름도</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a:t>
            </a:r>
          </a:p>
          <a:p>
            <a:pPr algn="ctr"/>
            <a:r>
              <a:rPr lang="ko-KR" altLang="en-US" sz="800" dirty="0" err="1">
                <a:solidFill>
                  <a:schemeClr val="tx1"/>
                </a:solidFill>
              </a:rPr>
              <a:t>통합목록</a:t>
            </a:r>
            <a:endParaRPr lang="ko-KR" altLang="en-US" sz="800" dirty="0">
              <a:solidFill>
                <a:schemeClr val="tx1"/>
              </a:solidFill>
            </a:endParaRP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2366608" y="2274791"/>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입찰공고상세</a:t>
            </a: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2"/>
            <a:endCxn id="77" idx="0"/>
          </p:cNvCxnSpPr>
          <p:nvPr/>
        </p:nvCxnSpPr>
        <p:spPr>
          <a:xfrm>
            <a:off x="2816608" y="1916964"/>
            <a:ext cx="0" cy="357827"/>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4193499" y="292061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첨부파일</a:t>
            </a:r>
          </a:p>
        </p:txBody>
      </p:sp>
      <p:sp>
        <p:nvSpPr>
          <p:cNvPr id="52" name="사각형: 둥근 모서리 5">
            <a:extLst>
              <a:ext uri="{FF2B5EF4-FFF2-40B4-BE49-F238E27FC236}">
                <a16:creationId xmlns:a16="http://schemas.microsoft.com/office/drawing/2014/main" id="{410E5459-200D-7630-863C-88E5109259DF}"/>
              </a:ext>
            </a:extLst>
          </p:cNvPr>
          <p:cNvSpPr/>
          <p:nvPr/>
        </p:nvSpPr>
        <p:spPr>
          <a:xfrm>
            <a:off x="4193499"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일반정보</a:t>
            </a:r>
          </a:p>
        </p:txBody>
      </p:sp>
      <p:sp>
        <p:nvSpPr>
          <p:cNvPr id="53" name="사각형: 둥근 모서리 5">
            <a:extLst>
              <a:ext uri="{FF2B5EF4-FFF2-40B4-BE49-F238E27FC236}">
                <a16:creationId xmlns:a16="http://schemas.microsoft.com/office/drawing/2014/main" id="{410E5459-200D-7630-863C-88E5109259DF}"/>
              </a:ext>
            </a:extLst>
          </p:cNvPr>
          <p:cNvSpPr/>
          <p:nvPr/>
        </p:nvSpPr>
        <p:spPr>
          <a:xfrm>
            <a:off x="4193499" y="227479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품목 목록</a:t>
            </a:r>
          </a:p>
        </p:txBody>
      </p:sp>
      <p:cxnSp>
        <p:nvCxnSpPr>
          <p:cNvPr id="63" name="직선 화살표 연결선 62">
            <a:extLst>
              <a:ext uri="{FF2B5EF4-FFF2-40B4-BE49-F238E27FC236}">
                <a16:creationId xmlns:a16="http://schemas.microsoft.com/office/drawing/2014/main" id="{9A519F08-B829-E35F-09D8-DFCD1F68B911}"/>
              </a:ext>
            </a:extLst>
          </p:cNvPr>
          <p:cNvCxnSpPr>
            <a:cxnSpLocks/>
            <a:stCxn id="77" idx="3"/>
          </p:cNvCxnSpPr>
          <p:nvPr/>
        </p:nvCxnSpPr>
        <p:spPr>
          <a:xfrm>
            <a:off x="3266608" y="2418791"/>
            <a:ext cx="82450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8" name="직사각형 77">
            <a:extLst>
              <a:ext uri="{FF2B5EF4-FFF2-40B4-BE49-F238E27FC236}">
                <a16:creationId xmlns:a16="http://schemas.microsoft.com/office/drawing/2014/main" id="{4FB9FCCA-B5F3-C0E2-F563-4F0CE0FC24CF}"/>
              </a:ext>
            </a:extLst>
          </p:cNvPr>
          <p:cNvSpPr/>
          <p:nvPr/>
        </p:nvSpPr>
        <p:spPr>
          <a:xfrm>
            <a:off x="7578850" y="3175772"/>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7607847" y="2974618"/>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0" name="사각형: 둥근 모서리 5">
            <a:extLst>
              <a:ext uri="{FF2B5EF4-FFF2-40B4-BE49-F238E27FC236}">
                <a16:creationId xmlns:a16="http://schemas.microsoft.com/office/drawing/2014/main" id="{410E5459-200D-7630-863C-88E5109259DF}"/>
              </a:ext>
            </a:extLst>
          </p:cNvPr>
          <p:cNvSpPr/>
          <p:nvPr/>
        </p:nvSpPr>
        <p:spPr>
          <a:xfrm>
            <a:off x="4193499" y="356644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환율정보조회</a:t>
            </a:r>
          </a:p>
        </p:txBody>
      </p:sp>
      <p:cxnSp>
        <p:nvCxnSpPr>
          <p:cNvPr id="41" name="연결선: 꺾임 7">
            <a:extLst>
              <a:ext uri="{FF2B5EF4-FFF2-40B4-BE49-F238E27FC236}">
                <a16:creationId xmlns:a16="http://schemas.microsoft.com/office/drawing/2014/main" id="{89A2D828-4C18-4F90-6B31-722E89773AA8}"/>
              </a:ext>
            </a:extLst>
          </p:cNvPr>
          <p:cNvCxnSpPr>
            <a:cxnSpLocks/>
            <a:stCxn id="77" idx="2"/>
            <a:endCxn id="40" idx="1"/>
          </p:cNvCxnSpPr>
          <p:nvPr/>
        </p:nvCxnSpPr>
        <p:spPr>
          <a:xfrm rot="16200000" flipH="1">
            <a:off x="2931226" y="2448172"/>
            <a:ext cx="1147654" cy="137689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사각형: 둥근 모서리 5">
            <a:extLst>
              <a:ext uri="{FF2B5EF4-FFF2-40B4-BE49-F238E27FC236}">
                <a16:creationId xmlns:a16="http://schemas.microsoft.com/office/drawing/2014/main" id="{410E5459-200D-7630-863C-88E5109259DF}"/>
              </a:ext>
            </a:extLst>
          </p:cNvPr>
          <p:cNvSpPr/>
          <p:nvPr/>
        </p:nvSpPr>
        <p:spPr>
          <a:xfrm>
            <a:off x="4193499" y="421227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목표가공개품목조회</a:t>
            </a:r>
            <a:endParaRPr lang="ko-KR" altLang="en-US" sz="800" dirty="0">
              <a:solidFill>
                <a:schemeClr val="tx1"/>
              </a:solidFill>
            </a:endParaRPr>
          </a:p>
        </p:txBody>
      </p:sp>
      <p:cxnSp>
        <p:nvCxnSpPr>
          <p:cNvPr id="48" name="연결선: 꺾임 7">
            <a:extLst>
              <a:ext uri="{FF2B5EF4-FFF2-40B4-BE49-F238E27FC236}">
                <a16:creationId xmlns:a16="http://schemas.microsoft.com/office/drawing/2014/main" id="{89A2D828-4C18-4F90-6B31-722E89773AA8}"/>
              </a:ext>
            </a:extLst>
          </p:cNvPr>
          <p:cNvCxnSpPr>
            <a:cxnSpLocks/>
            <a:stCxn id="77" idx="2"/>
            <a:endCxn id="47" idx="1"/>
          </p:cNvCxnSpPr>
          <p:nvPr/>
        </p:nvCxnSpPr>
        <p:spPr>
          <a:xfrm rot="16200000" flipH="1">
            <a:off x="2608313" y="2771085"/>
            <a:ext cx="1793481" cy="137689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직사각형 48">
            <a:extLst>
              <a:ext uri="{FF2B5EF4-FFF2-40B4-BE49-F238E27FC236}">
                <a16:creationId xmlns:a16="http://schemas.microsoft.com/office/drawing/2014/main" id="{F249990F-1DE5-C694-BDBD-2DE7009D57EA}"/>
              </a:ext>
            </a:extLst>
          </p:cNvPr>
          <p:cNvSpPr/>
          <p:nvPr/>
        </p:nvSpPr>
        <p:spPr>
          <a:xfrm>
            <a:off x="2909452" y="3501369"/>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플로팅</a:t>
            </a:r>
            <a:r>
              <a:rPr lang="ko-KR" altLang="en-US" sz="800" dirty="0">
                <a:solidFill>
                  <a:schemeClr val="tx1"/>
                </a:solidFill>
              </a:rPr>
              <a:t> 버튼으로 진입</a:t>
            </a:r>
          </a:p>
        </p:txBody>
      </p:sp>
      <p:cxnSp>
        <p:nvCxnSpPr>
          <p:cNvPr id="61" name="연결선: 꺾임 7">
            <a:extLst>
              <a:ext uri="{FF2B5EF4-FFF2-40B4-BE49-F238E27FC236}">
                <a16:creationId xmlns:a16="http://schemas.microsoft.com/office/drawing/2014/main" id="{89A2D828-4C18-4F90-6B31-722E89773AA8}"/>
              </a:ext>
            </a:extLst>
          </p:cNvPr>
          <p:cNvCxnSpPr>
            <a:cxnSpLocks/>
            <a:stCxn id="40" idx="3"/>
            <a:endCxn id="80" idx="2"/>
          </p:cNvCxnSpPr>
          <p:nvPr/>
        </p:nvCxnSpPr>
        <p:spPr>
          <a:xfrm flipV="1">
            <a:off x="5093499" y="3064618"/>
            <a:ext cx="2514348"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연결선: 꺾임 7">
            <a:extLst>
              <a:ext uri="{FF2B5EF4-FFF2-40B4-BE49-F238E27FC236}">
                <a16:creationId xmlns:a16="http://schemas.microsoft.com/office/drawing/2014/main" id="{89A2D828-4C18-4F90-6B31-722E89773AA8}"/>
              </a:ext>
            </a:extLst>
          </p:cNvPr>
          <p:cNvCxnSpPr>
            <a:cxnSpLocks/>
            <a:endCxn id="80" idx="0"/>
          </p:cNvCxnSpPr>
          <p:nvPr/>
        </p:nvCxnSpPr>
        <p:spPr>
          <a:xfrm>
            <a:off x="5214634" y="1828856"/>
            <a:ext cx="2483213" cy="114576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연결선: 꺾임 7">
            <a:extLst>
              <a:ext uri="{FF2B5EF4-FFF2-40B4-BE49-F238E27FC236}">
                <a16:creationId xmlns:a16="http://schemas.microsoft.com/office/drawing/2014/main" id="{89A2D828-4C18-4F90-6B31-722E89773AA8}"/>
              </a:ext>
            </a:extLst>
          </p:cNvPr>
          <p:cNvCxnSpPr>
            <a:cxnSpLocks/>
            <a:stCxn id="47" idx="3"/>
            <a:endCxn id="80" idx="2"/>
          </p:cNvCxnSpPr>
          <p:nvPr/>
        </p:nvCxnSpPr>
        <p:spPr>
          <a:xfrm flipV="1">
            <a:off x="5093499" y="3064618"/>
            <a:ext cx="2514348" cy="12916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직사각형 81">
            <a:extLst>
              <a:ext uri="{FF2B5EF4-FFF2-40B4-BE49-F238E27FC236}">
                <a16:creationId xmlns:a16="http://schemas.microsoft.com/office/drawing/2014/main" id="{F249990F-1DE5-C694-BDBD-2DE7009D57EA}"/>
              </a:ext>
            </a:extLst>
          </p:cNvPr>
          <p:cNvSpPr/>
          <p:nvPr/>
        </p:nvSpPr>
        <p:spPr>
          <a:xfrm>
            <a:off x="2909452" y="4171978"/>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플로팅</a:t>
            </a:r>
            <a:r>
              <a:rPr lang="ko-KR" altLang="en-US" sz="800" dirty="0">
                <a:solidFill>
                  <a:schemeClr val="tx1"/>
                </a:solidFill>
              </a:rPr>
              <a:t> 버튼으로 진입</a:t>
            </a:r>
          </a:p>
        </p:txBody>
      </p:sp>
      <p:sp>
        <p:nvSpPr>
          <p:cNvPr id="93" name="사각형: 둥근 모서리 5">
            <a:extLst>
              <a:ext uri="{FF2B5EF4-FFF2-40B4-BE49-F238E27FC236}">
                <a16:creationId xmlns:a16="http://schemas.microsoft.com/office/drawing/2014/main" id="{410E5459-200D-7630-863C-88E5109259DF}"/>
              </a:ext>
            </a:extLst>
          </p:cNvPr>
          <p:cNvSpPr/>
          <p:nvPr/>
        </p:nvSpPr>
        <p:spPr>
          <a:xfrm>
            <a:off x="6030043" y="2274791"/>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국외 보관함 목록</a:t>
            </a:r>
            <a:endParaRPr lang="en-US" altLang="ko-KR" sz="800" dirty="0">
              <a:solidFill>
                <a:schemeClr val="tx1"/>
              </a:solidFill>
              <a:latin typeface="+mn-ea"/>
            </a:endParaRPr>
          </a:p>
          <a:p>
            <a:pPr algn="ctr" fontAlgn="ctr"/>
            <a:r>
              <a:rPr lang="ko-KR" altLang="en-US" sz="800" dirty="0">
                <a:solidFill>
                  <a:schemeClr val="tx1"/>
                </a:solidFill>
                <a:latin typeface="+mn-ea"/>
              </a:rPr>
              <a:t>추가</a:t>
            </a:r>
            <a:r>
              <a:rPr lang="en-US" altLang="ko-KR" sz="800" dirty="0">
                <a:solidFill>
                  <a:schemeClr val="tx1"/>
                </a:solidFill>
                <a:latin typeface="+mn-ea"/>
              </a:rPr>
              <a:t>/</a:t>
            </a:r>
            <a:r>
              <a:rPr lang="ko-KR" altLang="en-US" sz="800" dirty="0">
                <a:solidFill>
                  <a:schemeClr val="tx1"/>
                </a:solidFill>
                <a:latin typeface="+mn-ea"/>
              </a:rPr>
              <a:t>삭제</a:t>
            </a:r>
          </a:p>
        </p:txBody>
      </p:sp>
      <p:cxnSp>
        <p:nvCxnSpPr>
          <p:cNvPr id="102" name="연결선: 꺾임 7">
            <a:extLst>
              <a:ext uri="{FF2B5EF4-FFF2-40B4-BE49-F238E27FC236}">
                <a16:creationId xmlns:a16="http://schemas.microsoft.com/office/drawing/2014/main" id="{89A2D828-4C18-4F90-6B31-722E89773AA8}"/>
              </a:ext>
            </a:extLst>
          </p:cNvPr>
          <p:cNvCxnSpPr>
            <a:cxnSpLocks/>
            <a:stCxn id="93" idx="3"/>
            <a:endCxn id="80" idx="0"/>
          </p:cNvCxnSpPr>
          <p:nvPr/>
        </p:nvCxnSpPr>
        <p:spPr>
          <a:xfrm>
            <a:off x="6930043" y="2418791"/>
            <a:ext cx="767804" cy="55582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사각형: 둥근 모서리 5">
            <a:extLst>
              <a:ext uri="{FF2B5EF4-FFF2-40B4-BE49-F238E27FC236}">
                <a16:creationId xmlns:a16="http://schemas.microsoft.com/office/drawing/2014/main" id="{410E5459-200D-7630-863C-88E5109259DF}"/>
              </a:ext>
            </a:extLst>
          </p:cNvPr>
          <p:cNvSpPr/>
          <p:nvPr/>
        </p:nvSpPr>
        <p:spPr>
          <a:xfrm>
            <a:off x="895473" y="4858099"/>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마이페이지</a:t>
            </a:r>
            <a:endParaRPr lang="ko-KR" altLang="en-US" sz="800" dirty="0">
              <a:solidFill>
                <a:schemeClr val="tx1"/>
              </a:solidFill>
            </a:endParaRPr>
          </a:p>
        </p:txBody>
      </p:sp>
      <p:sp>
        <p:nvSpPr>
          <p:cNvPr id="44" name="사각형: 둥근 모서리 5">
            <a:extLst>
              <a:ext uri="{FF2B5EF4-FFF2-40B4-BE49-F238E27FC236}">
                <a16:creationId xmlns:a16="http://schemas.microsoft.com/office/drawing/2014/main" id="{410E5459-200D-7630-863C-88E5109259DF}"/>
              </a:ext>
            </a:extLst>
          </p:cNvPr>
          <p:cNvSpPr/>
          <p:nvPr/>
        </p:nvSpPr>
        <p:spPr>
          <a:xfrm>
            <a:off x="2366608" y="485809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국외 보관함 목록</a:t>
            </a:r>
          </a:p>
        </p:txBody>
      </p:sp>
      <p:sp>
        <p:nvSpPr>
          <p:cNvPr id="51" name="사각형: 둥근 모서리 5">
            <a:extLst>
              <a:ext uri="{FF2B5EF4-FFF2-40B4-BE49-F238E27FC236}">
                <a16:creationId xmlns:a16="http://schemas.microsoft.com/office/drawing/2014/main" id="{410E5459-200D-7630-863C-88E5109259DF}"/>
              </a:ext>
            </a:extLst>
          </p:cNvPr>
          <p:cNvSpPr/>
          <p:nvPr/>
        </p:nvSpPr>
        <p:spPr>
          <a:xfrm>
            <a:off x="6030043" y="55039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err="1">
                <a:solidFill>
                  <a:schemeClr val="tx1"/>
                </a:solidFill>
                <a:latin typeface="+mn-ea"/>
              </a:rPr>
              <a:t>입찰내역</a:t>
            </a:r>
            <a:r>
              <a:rPr lang="ko-KR" altLang="en-US" sz="800" dirty="0">
                <a:solidFill>
                  <a:schemeClr val="tx1"/>
                </a:solidFill>
                <a:latin typeface="+mn-ea"/>
              </a:rPr>
              <a:t> 작성</a:t>
            </a:r>
          </a:p>
        </p:txBody>
      </p:sp>
      <p:sp>
        <p:nvSpPr>
          <p:cNvPr id="54" name="사각형: 둥근 모서리 5">
            <a:extLst>
              <a:ext uri="{FF2B5EF4-FFF2-40B4-BE49-F238E27FC236}">
                <a16:creationId xmlns:a16="http://schemas.microsoft.com/office/drawing/2014/main" id="{410E5459-200D-7630-863C-88E5109259DF}"/>
              </a:ext>
            </a:extLst>
          </p:cNvPr>
          <p:cNvSpPr/>
          <p:nvPr/>
        </p:nvSpPr>
        <p:spPr>
          <a:xfrm>
            <a:off x="6030043" y="485809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보관함 품목 관리</a:t>
            </a:r>
          </a:p>
        </p:txBody>
      </p:sp>
      <p:cxnSp>
        <p:nvCxnSpPr>
          <p:cNvPr id="55" name="연결선: 꺾임 7">
            <a:extLst>
              <a:ext uri="{FF2B5EF4-FFF2-40B4-BE49-F238E27FC236}">
                <a16:creationId xmlns:a16="http://schemas.microsoft.com/office/drawing/2014/main" id="{89A2D828-4C18-4F90-6B31-722E89773AA8}"/>
              </a:ext>
            </a:extLst>
          </p:cNvPr>
          <p:cNvCxnSpPr>
            <a:cxnSpLocks/>
            <a:stCxn id="9" idx="6"/>
            <a:endCxn id="43" idx="0"/>
          </p:cNvCxnSpPr>
          <p:nvPr/>
        </p:nvCxnSpPr>
        <p:spPr>
          <a:xfrm flipH="1">
            <a:off x="1345473" y="1772964"/>
            <a:ext cx="90001" cy="3085135"/>
          </a:xfrm>
          <a:prstGeom prst="bentConnector4">
            <a:avLst>
              <a:gd name="adj1" fmla="val -253997"/>
              <a:gd name="adj2" fmla="val 5145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직선 화살표 연결선 57">
            <a:extLst>
              <a:ext uri="{FF2B5EF4-FFF2-40B4-BE49-F238E27FC236}">
                <a16:creationId xmlns:a16="http://schemas.microsoft.com/office/drawing/2014/main" id="{9A519F08-B829-E35F-09D8-DFCD1F68B911}"/>
              </a:ext>
            </a:extLst>
          </p:cNvPr>
          <p:cNvCxnSpPr>
            <a:cxnSpLocks/>
            <a:stCxn id="43" idx="3"/>
            <a:endCxn id="44" idx="1"/>
          </p:cNvCxnSpPr>
          <p:nvPr/>
        </p:nvCxnSpPr>
        <p:spPr>
          <a:xfrm>
            <a:off x="1795473" y="5002099"/>
            <a:ext cx="57113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직선 화살표 연결선 63">
            <a:extLst>
              <a:ext uri="{FF2B5EF4-FFF2-40B4-BE49-F238E27FC236}">
                <a16:creationId xmlns:a16="http://schemas.microsoft.com/office/drawing/2014/main" id="{9A519F08-B829-E35F-09D8-DFCD1F68B911}"/>
              </a:ext>
            </a:extLst>
          </p:cNvPr>
          <p:cNvCxnSpPr>
            <a:cxnSpLocks/>
            <a:stCxn id="77" idx="2"/>
            <a:endCxn id="44" idx="0"/>
          </p:cNvCxnSpPr>
          <p:nvPr/>
        </p:nvCxnSpPr>
        <p:spPr>
          <a:xfrm>
            <a:off x="2816608" y="2562791"/>
            <a:ext cx="0" cy="2295308"/>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 name="사각형: 둥근 모서리 5">
            <a:extLst>
              <a:ext uri="{FF2B5EF4-FFF2-40B4-BE49-F238E27FC236}">
                <a16:creationId xmlns:a16="http://schemas.microsoft.com/office/drawing/2014/main" id="{410E5459-200D-7630-863C-88E5109259DF}"/>
              </a:ext>
            </a:extLst>
          </p:cNvPr>
          <p:cNvSpPr/>
          <p:nvPr/>
        </p:nvSpPr>
        <p:spPr>
          <a:xfrm>
            <a:off x="4193499" y="485809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보관함 상세</a:t>
            </a:r>
          </a:p>
        </p:txBody>
      </p:sp>
      <p:cxnSp>
        <p:nvCxnSpPr>
          <p:cNvPr id="72" name="직선 화살표 연결선 71">
            <a:extLst>
              <a:ext uri="{FF2B5EF4-FFF2-40B4-BE49-F238E27FC236}">
                <a16:creationId xmlns:a16="http://schemas.microsoft.com/office/drawing/2014/main" id="{9A519F08-B829-E35F-09D8-DFCD1F68B911}"/>
              </a:ext>
            </a:extLst>
          </p:cNvPr>
          <p:cNvCxnSpPr>
            <a:cxnSpLocks/>
            <a:stCxn id="53" idx="3"/>
            <a:endCxn id="93" idx="1"/>
          </p:cNvCxnSpPr>
          <p:nvPr/>
        </p:nvCxnSpPr>
        <p:spPr>
          <a:xfrm>
            <a:off x="5093499" y="2418791"/>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3" name="직선 화살표 연결선 72">
            <a:extLst>
              <a:ext uri="{FF2B5EF4-FFF2-40B4-BE49-F238E27FC236}">
                <a16:creationId xmlns:a16="http://schemas.microsoft.com/office/drawing/2014/main" id="{9A519F08-B829-E35F-09D8-DFCD1F68B911}"/>
              </a:ext>
            </a:extLst>
          </p:cNvPr>
          <p:cNvCxnSpPr>
            <a:cxnSpLocks/>
            <a:stCxn id="44" idx="3"/>
            <a:endCxn id="67" idx="1"/>
          </p:cNvCxnSpPr>
          <p:nvPr/>
        </p:nvCxnSpPr>
        <p:spPr>
          <a:xfrm>
            <a:off x="3266608" y="5002099"/>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연결선: 꺾임 7">
            <a:extLst>
              <a:ext uri="{FF2B5EF4-FFF2-40B4-BE49-F238E27FC236}">
                <a16:creationId xmlns:a16="http://schemas.microsoft.com/office/drawing/2014/main" id="{89A2D828-4C18-4F90-6B31-722E89773AA8}"/>
              </a:ext>
            </a:extLst>
          </p:cNvPr>
          <p:cNvCxnSpPr>
            <a:cxnSpLocks/>
            <a:stCxn id="67" idx="3"/>
            <a:endCxn id="51" idx="1"/>
          </p:cNvCxnSpPr>
          <p:nvPr/>
        </p:nvCxnSpPr>
        <p:spPr>
          <a:xfrm>
            <a:off x="5093499" y="5002099"/>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직사각형 75">
            <a:extLst>
              <a:ext uri="{FF2B5EF4-FFF2-40B4-BE49-F238E27FC236}">
                <a16:creationId xmlns:a16="http://schemas.microsoft.com/office/drawing/2014/main" id="{F249990F-1DE5-C694-BDBD-2DE7009D57EA}"/>
              </a:ext>
            </a:extLst>
          </p:cNvPr>
          <p:cNvSpPr/>
          <p:nvPr/>
        </p:nvSpPr>
        <p:spPr>
          <a:xfrm>
            <a:off x="2909452" y="4615118"/>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플로팅</a:t>
            </a:r>
            <a:r>
              <a:rPr lang="ko-KR" altLang="en-US" sz="800" dirty="0">
                <a:solidFill>
                  <a:schemeClr val="tx1"/>
                </a:solidFill>
              </a:rPr>
              <a:t> 버튼으로 진입</a:t>
            </a:r>
          </a:p>
        </p:txBody>
      </p:sp>
      <p:cxnSp>
        <p:nvCxnSpPr>
          <p:cNvPr id="86" name="직선 화살표 연결선 85">
            <a:extLst>
              <a:ext uri="{FF2B5EF4-FFF2-40B4-BE49-F238E27FC236}">
                <a16:creationId xmlns:a16="http://schemas.microsoft.com/office/drawing/2014/main" id="{9A519F08-B829-E35F-09D8-DFCD1F68B911}"/>
              </a:ext>
            </a:extLst>
          </p:cNvPr>
          <p:cNvCxnSpPr>
            <a:cxnSpLocks/>
            <a:stCxn id="67" idx="3"/>
            <a:endCxn id="54" idx="1"/>
          </p:cNvCxnSpPr>
          <p:nvPr/>
        </p:nvCxnSpPr>
        <p:spPr>
          <a:xfrm>
            <a:off x="5093499" y="5002099"/>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연결선: 꺾임 7">
            <a:extLst>
              <a:ext uri="{FF2B5EF4-FFF2-40B4-BE49-F238E27FC236}">
                <a16:creationId xmlns:a16="http://schemas.microsoft.com/office/drawing/2014/main" id="{89A2D828-4C18-4F90-6B31-722E89773AA8}"/>
              </a:ext>
            </a:extLst>
          </p:cNvPr>
          <p:cNvCxnSpPr>
            <a:cxnSpLocks/>
            <a:stCxn id="56" idx="3"/>
            <a:endCxn id="80" idx="6"/>
          </p:cNvCxnSpPr>
          <p:nvPr/>
        </p:nvCxnSpPr>
        <p:spPr>
          <a:xfrm flipH="1" flipV="1">
            <a:off x="7787847" y="3064618"/>
            <a:ext cx="928997" cy="2583308"/>
          </a:xfrm>
          <a:prstGeom prst="bentConnector3">
            <a:avLst>
              <a:gd name="adj1" fmla="val -24607"/>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연결선: 꺾임 7">
            <a:extLst>
              <a:ext uri="{FF2B5EF4-FFF2-40B4-BE49-F238E27FC236}">
                <a16:creationId xmlns:a16="http://schemas.microsoft.com/office/drawing/2014/main" id="{89A2D828-4C18-4F90-6B31-722E89773AA8}"/>
              </a:ext>
            </a:extLst>
          </p:cNvPr>
          <p:cNvCxnSpPr>
            <a:cxnSpLocks/>
            <a:stCxn id="54" idx="3"/>
            <a:endCxn id="80" idx="2"/>
          </p:cNvCxnSpPr>
          <p:nvPr/>
        </p:nvCxnSpPr>
        <p:spPr>
          <a:xfrm flipV="1">
            <a:off x="6930043" y="3064618"/>
            <a:ext cx="677804" cy="193748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사각형: 둥근 모서리 5">
            <a:extLst>
              <a:ext uri="{FF2B5EF4-FFF2-40B4-BE49-F238E27FC236}">
                <a16:creationId xmlns:a16="http://schemas.microsoft.com/office/drawing/2014/main" id="{410E5459-200D-7630-863C-88E5109259DF}"/>
              </a:ext>
            </a:extLst>
          </p:cNvPr>
          <p:cNvSpPr/>
          <p:nvPr/>
        </p:nvSpPr>
        <p:spPr>
          <a:xfrm>
            <a:off x="7816844" y="55039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err="1">
                <a:solidFill>
                  <a:schemeClr val="tx1"/>
                </a:solidFill>
                <a:latin typeface="+mn-ea"/>
              </a:rPr>
              <a:t>이전공고</a:t>
            </a:r>
            <a:endParaRPr lang="en-US" altLang="ko-KR" sz="800" dirty="0">
              <a:solidFill>
                <a:schemeClr val="tx1"/>
              </a:solidFill>
              <a:latin typeface="+mn-ea"/>
            </a:endParaRPr>
          </a:p>
          <a:p>
            <a:pPr algn="ctr" fontAlgn="ctr"/>
            <a:r>
              <a:rPr lang="ko-KR" altLang="en-US" sz="800" dirty="0">
                <a:solidFill>
                  <a:schemeClr val="tx1"/>
                </a:solidFill>
                <a:latin typeface="+mn-ea"/>
              </a:rPr>
              <a:t>입찰내역등록</a:t>
            </a:r>
          </a:p>
        </p:txBody>
      </p:sp>
      <p:cxnSp>
        <p:nvCxnSpPr>
          <p:cNvPr id="59" name="직선 화살표 연결선 58">
            <a:extLst>
              <a:ext uri="{FF2B5EF4-FFF2-40B4-BE49-F238E27FC236}">
                <a16:creationId xmlns:a16="http://schemas.microsoft.com/office/drawing/2014/main" id="{9A519F08-B829-E35F-09D8-DFCD1F68B911}"/>
              </a:ext>
            </a:extLst>
          </p:cNvPr>
          <p:cNvCxnSpPr>
            <a:cxnSpLocks/>
            <a:stCxn id="51" idx="3"/>
            <a:endCxn id="56" idx="1"/>
          </p:cNvCxnSpPr>
          <p:nvPr/>
        </p:nvCxnSpPr>
        <p:spPr>
          <a:xfrm>
            <a:off x="6930043" y="5647926"/>
            <a:ext cx="88680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사각형: 둥근 모서리 5">
            <a:extLst>
              <a:ext uri="{FF2B5EF4-FFF2-40B4-BE49-F238E27FC236}">
                <a16:creationId xmlns:a16="http://schemas.microsoft.com/office/drawing/2014/main" id="{410E5459-200D-7630-863C-88E5109259DF}"/>
              </a:ext>
            </a:extLst>
          </p:cNvPr>
          <p:cNvSpPr/>
          <p:nvPr/>
        </p:nvSpPr>
        <p:spPr>
          <a:xfrm>
            <a:off x="7816844" y="6149753"/>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입찰 참가 신청</a:t>
            </a:r>
          </a:p>
        </p:txBody>
      </p:sp>
      <p:cxnSp>
        <p:nvCxnSpPr>
          <p:cNvPr id="75" name="연결선: 꺾임 7">
            <a:extLst>
              <a:ext uri="{FF2B5EF4-FFF2-40B4-BE49-F238E27FC236}">
                <a16:creationId xmlns:a16="http://schemas.microsoft.com/office/drawing/2014/main" id="{89A2D828-4C18-4F90-6B31-722E89773AA8}"/>
              </a:ext>
            </a:extLst>
          </p:cNvPr>
          <p:cNvCxnSpPr>
            <a:cxnSpLocks/>
            <a:stCxn id="51" idx="3"/>
            <a:endCxn id="71" idx="1"/>
          </p:cNvCxnSpPr>
          <p:nvPr/>
        </p:nvCxnSpPr>
        <p:spPr>
          <a:xfrm>
            <a:off x="6930043" y="5647926"/>
            <a:ext cx="886801"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연결선: 꺾임 7">
            <a:extLst>
              <a:ext uri="{FF2B5EF4-FFF2-40B4-BE49-F238E27FC236}">
                <a16:creationId xmlns:a16="http://schemas.microsoft.com/office/drawing/2014/main" id="{89A2D828-4C18-4F90-6B31-722E89773AA8}"/>
              </a:ext>
            </a:extLst>
          </p:cNvPr>
          <p:cNvCxnSpPr>
            <a:cxnSpLocks/>
            <a:stCxn id="71" idx="3"/>
            <a:endCxn id="80" idx="6"/>
          </p:cNvCxnSpPr>
          <p:nvPr/>
        </p:nvCxnSpPr>
        <p:spPr>
          <a:xfrm flipH="1" flipV="1">
            <a:off x="7787847" y="3064618"/>
            <a:ext cx="928997" cy="3229135"/>
          </a:xfrm>
          <a:prstGeom prst="bentConnector3">
            <a:avLst>
              <a:gd name="adj1" fmla="val -24607"/>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5" name="직사각형 84">
            <a:extLst>
              <a:ext uri="{FF2B5EF4-FFF2-40B4-BE49-F238E27FC236}">
                <a16:creationId xmlns:a16="http://schemas.microsoft.com/office/drawing/2014/main" id="{F249990F-1DE5-C694-BDBD-2DE7009D57EA}"/>
              </a:ext>
            </a:extLst>
          </p:cNvPr>
          <p:cNvSpPr/>
          <p:nvPr/>
        </p:nvSpPr>
        <p:spPr>
          <a:xfrm>
            <a:off x="6033977" y="5799054"/>
            <a:ext cx="819135"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일반정보</a:t>
            </a:r>
          </a:p>
          <a:p>
            <a:r>
              <a:rPr lang="ko-KR" altLang="en-US" sz="800" dirty="0" err="1">
                <a:solidFill>
                  <a:schemeClr val="tx1"/>
                </a:solidFill>
              </a:rPr>
              <a:t>입찰내역</a:t>
            </a:r>
            <a:r>
              <a:rPr lang="ko-KR" altLang="en-US" sz="800" dirty="0">
                <a:solidFill>
                  <a:schemeClr val="tx1"/>
                </a:solidFill>
              </a:rPr>
              <a:t> </a:t>
            </a:r>
            <a:r>
              <a:rPr lang="en-US" altLang="ko-KR" sz="800" dirty="0">
                <a:solidFill>
                  <a:schemeClr val="tx1"/>
                </a:solidFill>
              </a:rPr>
              <a:t>(</a:t>
            </a:r>
            <a:r>
              <a:rPr lang="ko-KR" altLang="en-US" sz="800" dirty="0" err="1">
                <a:solidFill>
                  <a:schemeClr val="tx1"/>
                </a:solidFill>
              </a:rPr>
              <a:t>단가제</a:t>
            </a:r>
            <a:r>
              <a:rPr lang="en-US" altLang="ko-KR" sz="800" dirty="0">
                <a:solidFill>
                  <a:schemeClr val="tx1"/>
                </a:solidFill>
              </a:rPr>
              <a:t>)</a:t>
            </a:r>
          </a:p>
          <a:p>
            <a:r>
              <a:rPr lang="ko-KR" altLang="en-US" sz="800" dirty="0" err="1">
                <a:solidFill>
                  <a:schemeClr val="tx1"/>
                </a:solidFill>
              </a:rPr>
              <a:t>입찰내역</a:t>
            </a:r>
            <a:r>
              <a:rPr lang="ko-KR" altLang="en-US" sz="800" dirty="0">
                <a:solidFill>
                  <a:schemeClr val="tx1"/>
                </a:solidFill>
              </a:rPr>
              <a:t> </a:t>
            </a:r>
            <a:r>
              <a:rPr lang="en-US" altLang="ko-KR" sz="800" dirty="0">
                <a:solidFill>
                  <a:schemeClr val="tx1"/>
                </a:solidFill>
              </a:rPr>
              <a:t>(</a:t>
            </a:r>
            <a:r>
              <a:rPr lang="ko-KR" altLang="en-US" sz="800" dirty="0" err="1">
                <a:solidFill>
                  <a:schemeClr val="tx1"/>
                </a:solidFill>
              </a:rPr>
              <a:t>총액제</a:t>
            </a:r>
            <a:r>
              <a:rPr lang="en-US" altLang="ko-KR" sz="800" dirty="0">
                <a:solidFill>
                  <a:schemeClr val="tx1"/>
                </a:solidFill>
              </a:rPr>
              <a:t>)</a:t>
            </a:r>
            <a:endParaRPr lang="ko-KR" altLang="en-US" sz="800" dirty="0">
              <a:solidFill>
                <a:schemeClr val="tx1"/>
              </a:solidFill>
            </a:endParaRPr>
          </a:p>
        </p:txBody>
      </p:sp>
      <p:sp>
        <p:nvSpPr>
          <p:cNvPr id="57" name="직사각형 56">
            <a:extLst>
              <a:ext uri="{FF2B5EF4-FFF2-40B4-BE49-F238E27FC236}">
                <a16:creationId xmlns:a16="http://schemas.microsoft.com/office/drawing/2014/main" id="{F249990F-1DE5-C694-BDBD-2DE7009D57EA}"/>
              </a:ext>
            </a:extLst>
          </p:cNvPr>
          <p:cNvSpPr/>
          <p:nvPr/>
        </p:nvSpPr>
        <p:spPr>
          <a:xfrm>
            <a:off x="7697847" y="5799054"/>
            <a:ext cx="1231106"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latin typeface="+mn-ea"/>
              </a:rPr>
              <a:t>이전공고입찰내역목록</a:t>
            </a:r>
            <a:endParaRPr lang="en-US" altLang="ko-KR" sz="800" dirty="0">
              <a:solidFill>
                <a:schemeClr val="tx1"/>
              </a:solidFill>
              <a:latin typeface="+mn-ea"/>
            </a:endParaRPr>
          </a:p>
          <a:p>
            <a:r>
              <a:rPr lang="ko-KR" altLang="en-US" sz="800" dirty="0" err="1">
                <a:solidFill>
                  <a:schemeClr val="tx1"/>
                </a:solidFill>
                <a:latin typeface="+mn-ea"/>
              </a:rPr>
              <a:t>이전공고입찰내역품목상세</a:t>
            </a:r>
            <a:endParaRPr lang="ko-KR" altLang="en-US" sz="800" dirty="0">
              <a:solidFill>
                <a:schemeClr val="tx1"/>
              </a:solidFill>
            </a:endParaRPr>
          </a:p>
        </p:txBody>
      </p:sp>
      <p:sp>
        <p:nvSpPr>
          <p:cNvPr id="60" name="직사각형 59">
            <a:extLst>
              <a:ext uri="{FF2B5EF4-FFF2-40B4-BE49-F238E27FC236}">
                <a16:creationId xmlns:a16="http://schemas.microsoft.com/office/drawing/2014/main" id="{58089D19-DA24-C60B-3B55-C19DA3E3E3D8}"/>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smtClean="0">
                <a:solidFill>
                  <a:schemeClr val="tx1"/>
                </a:solidFill>
              </a:rPr>
              <a:t>1.2.1. </a:t>
            </a:r>
            <a:r>
              <a:rPr lang="ko-KR" altLang="en-US" sz="1200" dirty="0">
                <a:solidFill>
                  <a:schemeClr val="tx1"/>
                </a:solidFill>
              </a:rPr>
              <a:t>입찰공고</a:t>
            </a:r>
          </a:p>
        </p:txBody>
      </p:sp>
      <p:sp>
        <p:nvSpPr>
          <p:cNvPr id="87" name="사각형: 둥근 모서리 5">
            <a:extLst>
              <a:ext uri="{FF2B5EF4-FFF2-40B4-BE49-F238E27FC236}">
                <a16:creationId xmlns:a16="http://schemas.microsoft.com/office/drawing/2014/main" id="{410E5459-200D-7630-863C-88E5109259DF}"/>
              </a:ext>
            </a:extLst>
          </p:cNvPr>
          <p:cNvSpPr/>
          <p:nvPr/>
        </p:nvSpPr>
        <p:spPr>
          <a:xfrm>
            <a:off x="4091112" y="1415136"/>
            <a:ext cx="1104771" cy="1857061"/>
          </a:xfrm>
          <a:prstGeom prst="roundRect">
            <a:avLst>
              <a:gd name="adj" fmla="val 5227"/>
            </a:avLst>
          </a:prstGeom>
          <a:noFill/>
          <a:ln>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t"/>
          <a:lstStyle/>
          <a:p>
            <a:r>
              <a:rPr lang="ko-KR" altLang="en-US" sz="800" b="1" dirty="0" smtClean="0">
                <a:solidFill>
                  <a:schemeClr val="tx1"/>
                </a:solidFill>
              </a:rPr>
              <a:t>국외 보관함 탭</a:t>
            </a:r>
            <a:endParaRPr lang="ko-KR" altLang="en-US" sz="800" b="1" dirty="0">
              <a:solidFill>
                <a:schemeClr val="tx1"/>
              </a:solidFill>
            </a:endParaRPr>
          </a:p>
        </p:txBody>
      </p:sp>
    </p:spTree>
    <p:extLst>
      <p:ext uri="{BB962C8B-B14F-4D97-AF65-F5344CB8AC3E}">
        <p14:creationId xmlns:p14="http://schemas.microsoft.com/office/powerpoint/2010/main" val="979292127"/>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3C45F9C1-4B20-0B09-F5C4-18055F80D9A7}"/>
              </a:ext>
            </a:extLst>
          </p:cNvPr>
          <p:cNvSpPr>
            <a:spLocks noGrp="1"/>
          </p:cNvSpPr>
          <p:nvPr>
            <p:ph type="sldNum" sz="quarter" idx="4"/>
          </p:nvPr>
        </p:nvSpPr>
        <p:spPr/>
        <p:txBody>
          <a:bodyPr/>
          <a:lstStyle/>
          <a:p>
            <a:fld id="{34C8E023-7346-48FC-AB24-9A3388C53208}" type="slidenum">
              <a:rPr lang="ko-KR" altLang="en-US" smtClean="0"/>
              <a:pPr/>
              <a:t>393</a:t>
            </a:fld>
            <a:endParaRPr lang="ko-KR" altLang="en-US" dirty="0"/>
          </a:p>
        </p:txBody>
      </p:sp>
      <p:sp>
        <p:nvSpPr>
          <p:cNvPr id="4" name="텍스트 개체 틀 2">
            <a:extLst>
              <a:ext uri="{FF2B5EF4-FFF2-40B4-BE49-F238E27FC236}">
                <a16:creationId xmlns:a16="http://schemas.microsoft.com/office/drawing/2014/main" id="{8DBCF2F0-B2B0-DF34-38F0-DB208C3D9428}"/>
              </a:ext>
            </a:extLst>
          </p:cNvPr>
          <p:cNvSpPr>
            <a:spLocks noGrp="1"/>
          </p:cNvSpPr>
          <p:nvPr>
            <p:ph type="body" sz="quarter" idx="10"/>
          </p:nvPr>
        </p:nvSpPr>
        <p:spPr>
          <a:xfrm>
            <a:off x="457199" y="612000"/>
            <a:ext cx="9001125" cy="324000"/>
          </a:xfrm>
        </p:spPr>
        <p:txBody>
          <a:bodyPr/>
          <a:lstStyle/>
          <a:p>
            <a:r>
              <a:rPr lang="en-US" altLang="ko-KR" dirty="0" smtClean="0"/>
              <a:t>7.2. </a:t>
            </a:r>
            <a:r>
              <a:rPr lang="ko-KR" altLang="en-US" dirty="0"/>
              <a:t>화면 흐름도</a:t>
            </a:r>
          </a:p>
        </p:txBody>
      </p:sp>
      <p:sp>
        <p:nvSpPr>
          <p:cNvPr id="5" name="직사각형 4">
            <a:extLst>
              <a:ext uri="{FF2B5EF4-FFF2-40B4-BE49-F238E27FC236}">
                <a16:creationId xmlns:a16="http://schemas.microsoft.com/office/drawing/2014/main" id="{D06A425C-709E-EF0E-2A1E-4EB9A2D5C832}"/>
              </a:ext>
            </a:extLst>
          </p:cNvPr>
          <p:cNvSpPr/>
          <p:nvPr/>
        </p:nvSpPr>
        <p:spPr>
          <a:xfrm>
            <a:off x="749717" y="1026000"/>
            <a:ext cx="2331413"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smtClean="0">
                <a:solidFill>
                  <a:schemeClr val="tx1"/>
                </a:solidFill>
              </a:rPr>
              <a:t>7.2.2. </a:t>
            </a:r>
            <a:r>
              <a:rPr lang="ko-KR" altLang="en-US" sz="1200" dirty="0">
                <a:solidFill>
                  <a:schemeClr val="tx1"/>
                </a:solidFill>
              </a:rPr>
              <a:t>계약방법</a:t>
            </a:r>
            <a:r>
              <a:rPr lang="en-US" altLang="ko-KR" sz="1200" dirty="0">
                <a:solidFill>
                  <a:schemeClr val="tx1"/>
                </a:solidFill>
              </a:rPr>
              <a:t>/</a:t>
            </a:r>
            <a:r>
              <a:rPr lang="ko-KR" altLang="en-US" sz="1200" dirty="0" err="1">
                <a:solidFill>
                  <a:schemeClr val="tx1"/>
                </a:solidFill>
              </a:rPr>
              <a:t>낙찰방법</a:t>
            </a:r>
            <a:endParaRPr lang="ko-KR" altLang="en-US" sz="1200" dirty="0">
              <a:solidFill>
                <a:schemeClr val="tx1"/>
              </a:solidFill>
            </a:endParaRPr>
          </a:p>
        </p:txBody>
      </p:sp>
      <p:graphicFrame>
        <p:nvGraphicFramePr>
          <p:cNvPr id="6" name="표 5">
            <a:extLst>
              <a:ext uri="{FF2B5EF4-FFF2-40B4-BE49-F238E27FC236}">
                <a16:creationId xmlns:a16="http://schemas.microsoft.com/office/drawing/2014/main" id="{4496FE2F-2FC2-AB28-8574-4AE4E7467F7F}"/>
              </a:ext>
            </a:extLst>
          </p:cNvPr>
          <p:cNvGraphicFramePr>
            <a:graphicFrameLocks noGrp="1"/>
          </p:cNvGraphicFramePr>
          <p:nvPr>
            <p:extLst/>
          </p:nvPr>
        </p:nvGraphicFramePr>
        <p:xfrm>
          <a:off x="457200" y="1294316"/>
          <a:ext cx="9001126" cy="1573199"/>
        </p:xfrm>
        <a:graphic>
          <a:graphicData uri="http://schemas.openxmlformats.org/drawingml/2006/table">
            <a:tbl>
              <a:tblPr>
                <a:tableStyleId>{073A0DAA-6AF3-43AB-8588-CEC1D06C72B9}</a:tableStyleId>
              </a:tblPr>
              <a:tblGrid>
                <a:gridCol w="486485">
                  <a:extLst>
                    <a:ext uri="{9D8B030D-6E8A-4147-A177-3AD203B41FA5}">
                      <a16:colId xmlns:a16="http://schemas.microsoft.com/office/drawing/2014/main" val="1514238136"/>
                    </a:ext>
                  </a:extLst>
                </a:gridCol>
                <a:gridCol w="449062">
                  <a:extLst>
                    <a:ext uri="{9D8B030D-6E8A-4147-A177-3AD203B41FA5}">
                      <a16:colId xmlns:a16="http://schemas.microsoft.com/office/drawing/2014/main" val="3149676768"/>
                    </a:ext>
                  </a:extLst>
                </a:gridCol>
                <a:gridCol w="785859">
                  <a:extLst>
                    <a:ext uri="{9D8B030D-6E8A-4147-A177-3AD203B41FA5}">
                      <a16:colId xmlns:a16="http://schemas.microsoft.com/office/drawing/2014/main" val="3492731607"/>
                    </a:ext>
                  </a:extLst>
                </a:gridCol>
                <a:gridCol w="727972">
                  <a:extLst>
                    <a:ext uri="{9D8B030D-6E8A-4147-A177-3AD203B41FA5}">
                      <a16:colId xmlns:a16="http://schemas.microsoft.com/office/drawing/2014/main" val="1852613810"/>
                    </a:ext>
                  </a:extLst>
                </a:gridCol>
                <a:gridCol w="727972">
                  <a:extLst>
                    <a:ext uri="{9D8B030D-6E8A-4147-A177-3AD203B41FA5}">
                      <a16:colId xmlns:a16="http://schemas.microsoft.com/office/drawing/2014/main" val="3339308243"/>
                    </a:ext>
                  </a:extLst>
                </a:gridCol>
                <a:gridCol w="727972">
                  <a:extLst>
                    <a:ext uri="{9D8B030D-6E8A-4147-A177-3AD203B41FA5}">
                      <a16:colId xmlns:a16="http://schemas.microsoft.com/office/drawing/2014/main" val="3178130443"/>
                    </a:ext>
                  </a:extLst>
                </a:gridCol>
                <a:gridCol w="727972">
                  <a:extLst>
                    <a:ext uri="{9D8B030D-6E8A-4147-A177-3AD203B41FA5}">
                      <a16:colId xmlns:a16="http://schemas.microsoft.com/office/drawing/2014/main" val="54136518"/>
                    </a:ext>
                  </a:extLst>
                </a:gridCol>
                <a:gridCol w="727972">
                  <a:extLst>
                    <a:ext uri="{9D8B030D-6E8A-4147-A177-3AD203B41FA5}">
                      <a16:colId xmlns:a16="http://schemas.microsoft.com/office/drawing/2014/main" val="3072629197"/>
                    </a:ext>
                  </a:extLst>
                </a:gridCol>
                <a:gridCol w="727972">
                  <a:extLst>
                    <a:ext uri="{9D8B030D-6E8A-4147-A177-3AD203B41FA5}">
                      <a16:colId xmlns:a16="http://schemas.microsoft.com/office/drawing/2014/main" val="3951177224"/>
                    </a:ext>
                  </a:extLst>
                </a:gridCol>
                <a:gridCol w="727972">
                  <a:extLst>
                    <a:ext uri="{9D8B030D-6E8A-4147-A177-3AD203B41FA5}">
                      <a16:colId xmlns:a16="http://schemas.microsoft.com/office/drawing/2014/main" val="3584942108"/>
                    </a:ext>
                  </a:extLst>
                </a:gridCol>
                <a:gridCol w="727972">
                  <a:extLst>
                    <a:ext uri="{9D8B030D-6E8A-4147-A177-3AD203B41FA5}">
                      <a16:colId xmlns:a16="http://schemas.microsoft.com/office/drawing/2014/main" val="2654666997"/>
                    </a:ext>
                  </a:extLst>
                </a:gridCol>
                <a:gridCol w="727972">
                  <a:extLst>
                    <a:ext uri="{9D8B030D-6E8A-4147-A177-3AD203B41FA5}">
                      <a16:colId xmlns:a16="http://schemas.microsoft.com/office/drawing/2014/main" val="1536767752"/>
                    </a:ext>
                  </a:extLst>
                </a:gridCol>
                <a:gridCol w="727972">
                  <a:extLst>
                    <a:ext uri="{9D8B030D-6E8A-4147-A177-3AD203B41FA5}">
                      <a16:colId xmlns:a16="http://schemas.microsoft.com/office/drawing/2014/main" val="51061382"/>
                    </a:ext>
                  </a:extLst>
                </a:gridCol>
              </a:tblGrid>
              <a:tr h="177613">
                <a:tc rowSpan="2" gridSpan="3">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　</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2"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10">
                  <a:txBody>
                    <a:bodyPr/>
                    <a:lstStyle/>
                    <a:p>
                      <a:pPr algn="ctr" fontAlgn="ctr"/>
                      <a:r>
                        <a:rPr lang="ko-KR" altLang="en-US" sz="700" b="0" i="0" u="none" strike="noStrike" dirty="0">
                          <a:solidFill>
                            <a:srgbClr val="000000"/>
                          </a:solidFill>
                          <a:effectLst/>
                          <a:latin typeface="맑은 고딕" panose="020B0503020000020004" pitchFamily="50" charset="-127"/>
                          <a:ea typeface="맑은 고딕" panose="020B0503020000020004" pitchFamily="50" charset="-127"/>
                        </a:rPr>
                        <a:t>입        찰</a:t>
                      </a: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algn="ctr" fontAlgn="ct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algn="ctr" fontAlgn="ct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algn="ctr" fontAlgn="ct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algn="ctr" fontAlgn="ct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algn="ctr" fontAlgn="ct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algn="ctr" fontAlgn="ct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2413800"/>
                  </a:ext>
                </a:extLst>
              </a:tr>
              <a:tr h="222306">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gridSpan="2">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입찰공고</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fontAlgn="ctr"/>
                      <a:endParaRPr lang="ko-KR" altLang="en-US" sz="55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550" b="0" i="0" u="none" strike="noStrike">
                          <a:solidFill>
                            <a:srgbClr val="000000"/>
                          </a:solidFill>
                          <a:effectLst/>
                          <a:latin typeface="맑은 고딕" panose="020B0503020000020004" pitchFamily="50" charset="-127"/>
                          <a:ea typeface="맑은 고딕" panose="020B0503020000020004" pitchFamily="50" charset="-127"/>
                        </a:rPr>
                        <a:t>입찰참가신청</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입찰등록심사</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입찰서 제출</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fontAlgn="ctr"/>
                      <a:endParaRPr lang="ko-KR" alt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견적서제출</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기술평가</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550" b="0" i="0" u="none" strike="sngStrike" dirty="0">
                          <a:solidFill>
                            <a:srgbClr val="000000"/>
                          </a:solidFill>
                          <a:effectLst/>
                          <a:latin typeface="맑은 고딕" panose="020B0503020000020004" pitchFamily="50" charset="-127"/>
                          <a:ea typeface="맑은 고딕" panose="020B0503020000020004" pitchFamily="50" charset="-127"/>
                        </a:rPr>
                        <a:t>입찰실시</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550" b="0" i="0" u="none" strike="sngStrike" dirty="0">
                          <a:solidFill>
                            <a:srgbClr val="000000"/>
                          </a:solidFill>
                          <a:effectLst/>
                          <a:latin typeface="맑은 고딕" panose="020B0503020000020004" pitchFamily="50" charset="-127"/>
                          <a:ea typeface="맑은 고딕" panose="020B0503020000020004" pitchFamily="50" charset="-127"/>
                        </a:rPr>
                        <a:t>공개수의결과등록</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74685977"/>
                  </a:ext>
                </a:extLst>
              </a:tr>
              <a:tr h="44461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업무구분</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계약방법</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낙찰방법</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입찰공고통합목록</a:t>
                      </a:r>
                      <a:r>
                        <a:rPr lang="en-US" altLang="ko-KR" sz="55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입찰공고</a:t>
                      </a:r>
                      <a:b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br>
                      <a:r>
                        <a:rPr lang="en-US" altLang="ko-KR" sz="550" b="0" i="0" u="none" strike="noStrike" dirty="0">
                          <a:solidFill>
                            <a:srgbClr val="000000"/>
                          </a:solidFill>
                          <a:effectLst/>
                          <a:latin typeface="맑은 고딕" panose="020B0503020000020004" pitchFamily="50" charset="-127"/>
                          <a:ea typeface="맑은 고딕" panose="020B0503020000020004" pitchFamily="50" charset="-127"/>
                        </a:rPr>
                        <a:t>(UI-BD-01-M01)</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입찰내역작성</a:t>
                      </a:r>
                      <a:endParaRPr lang="en-US" altLang="ko-KR" sz="550" b="0" i="0" u="none" strike="noStrike" dirty="0">
                        <a:solidFill>
                          <a:srgbClr val="000000"/>
                        </a:solidFill>
                        <a:effectLst/>
                        <a:latin typeface="맑은 고딕" panose="020B0503020000020004" pitchFamily="50" charset="-127"/>
                        <a:ea typeface="맑은 고딕" panose="020B0503020000020004" pitchFamily="50" charset="-127"/>
                      </a:endParaRPr>
                    </a:p>
                    <a:p>
                      <a:pPr algn="ctr" fontAlgn="t"/>
                      <a:r>
                        <a:rPr lang="en-US" altLang="ko-KR" sz="550" b="0" i="0" u="none" strike="noStrike" dirty="0">
                          <a:solidFill>
                            <a:srgbClr val="000000"/>
                          </a:solidFill>
                          <a:effectLst/>
                          <a:latin typeface="맑은 고딕" panose="020B0503020000020004" pitchFamily="50" charset="-127"/>
                          <a:ea typeface="+mn-ea"/>
                        </a:rPr>
                        <a:t>(UI-BD-01-M77</a:t>
                      </a:r>
                      <a:r>
                        <a:rPr lang="en-US" altLang="ko-KR" sz="550" b="0" i="0" u="none" strike="noStrike" dirty="0">
                          <a:solidFill>
                            <a:srgbClr val="000000"/>
                          </a:solidFill>
                          <a:effectLst/>
                          <a:latin typeface="맑은 고딕" panose="020B0503020000020004" pitchFamily="50" charset="-127"/>
                          <a:ea typeface="맑은 고딕" panose="020B0503020000020004" pitchFamily="50" charset="-127"/>
                        </a:rPr>
                        <a:t>)</a:t>
                      </a:r>
                      <a:endParaRPr lang="en-US" altLang="ko-KR" sz="550" b="0" i="0" u="none" strike="noStrike" dirty="0">
                        <a:solidFill>
                          <a:srgbClr val="000000"/>
                        </a:solidFill>
                        <a:effectLst/>
                        <a:latin typeface="맑은 고딕" panose="020B0503020000020004" pitchFamily="50" charset="-127"/>
                        <a:ea typeface="+mn-ea"/>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noStrike" dirty="0" err="1">
                          <a:solidFill>
                            <a:srgbClr val="000000"/>
                          </a:solidFill>
                          <a:effectLst/>
                          <a:latin typeface="맑은 고딕" panose="020B0503020000020004" pitchFamily="50" charset="-127"/>
                          <a:ea typeface="맑은 고딕" panose="020B0503020000020004" pitchFamily="50" charset="-127"/>
                        </a:rPr>
                        <a:t>입찰참가신청서작성</a:t>
                      </a: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
                      </a:r>
                      <a:b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br>
                      <a:r>
                        <a:rPr lang="en-US" altLang="ko-KR" sz="550" b="0" i="0" u="none" strike="noStrike" dirty="0">
                          <a:solidFill>
                            <a:srgbClr val="000000"/>
                          </a:solidFill>
                          <a:effectLst/>
                          <a:latin typeface="맑은 고딕" panose="020B0503020000020004" pitchFamily="50" charset="-127"/>
                          <a:ea typeface="맑은 고딕" panose="020B0503020000020004" pitchFamily="50" charset="-127"/>
                        </a:rPr>
                        <a:t>(UI-BD-04-M72)</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입찰등록심사</a:t>
                      </a:r>
                      <a:b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br>
                      <a:r>
                        <a:rPr lang="en-US" altLang="ko-KR" sz="550" b="0" i="0" u="none" strike="noStrike" dirty="0">
                          <a:solidFill>
                            <a:srgbClr val="000000"/>
                          </a:solidFill>
                          <a:effectLst/>
                          <a:latin typeface="맑은 고딕" panose="020B0503020000020004" pitchFamily="50" charset="-127"/>
                          <a:ea typeface="+mn-ea"/>
                        </a:rPr>
                        <a:t>(UI-BD-05-M71)</a:t>
                      </a:r>
                      <a:endParaRPr lang="en-US" altLang="ko-KR"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입찰서제출</a:t>
                      </a:r>
                      <a:b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br>
                      <a:r>
                        <a:rPr lang="en-US" altLang="ko-KR" sz="550" b="0" i="0" u="none" strike="noStrike" dirty="0">
                          <a:solidFill>
                            <a:srgbClr val="000000"/>
                          </a:solidFill>
                          <a:effectLst/>
                          <a:latin typeface="맑은 고딕" panose="020B0503020000020004" pitchFamily="50" charset="-127"/>
                          <a:ea typeface="맑은 고딕" panose="020B0503020000020004" pitchFamily="50" charset="-127"/>
                        </a:rPr>
                        <a:t>(</a:t>
                      </a:r>
                      <a:r>
                        <a:rPr lang="en-US" sz="550" b="0" i="0" u="none" strike="noStrike" dirty="0">
                          <a:solidFill>
                            <a:srgbClr val="000000"/>
                          </a:solidFill>
                          <a:effectLst/>
                          <a:latin typeface="맑은 고딕" panose="020B0503020000020004" pitchFamily="50" charset="-127"/>
                          <a:ea typeface="맑은 고딕" panose="020B0503020000020004" pitchFamily="50" charset="-127"/>
                        </a:rPr>
                        <a:t>UI-BD-06-M71)</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sngStrike" dirty="0" err="1">
                          <a:solidFill>
                            <a:srgbClr val="000000"/>
                          </a:solidFill>
                          <a:effectLst/>
                          <a:latin typeface="맑은 고딕" panose="020B0503020000020004" pitchFamily="50" charset="-127"/>
                          <a:ea typeface="맑은 고딕" panose="020B0503020000020004" pitchFamily="50" charset="-127"/>
                        </a:rPr>
                        <a:t>역경매입찰서제출</a:t>
                      </a:r>
                      <a:endParaRPr lang="en-US" altLang="ko-KR" sz="550" b="0" i="0" u="none" strike="sngStrike" dirty="0">
                        <a:solidFill>
                          <a:srgbClr val="000000"/>
                        </a:solidFill>
                        <a:effectLst/>
                        <a:latin typeface="맑은 고딕" panose="020B0503020000020004" pitchFamily="50" charset="-127"/>
                        <a:ea typeface="맑은 고딕" panose="020B0503020000020004" pitchFamily="50" charset="-127"/>
                      </a:endParaRPr>
                    </a:p>
                    <a:p>
                      <a:pPr algn="ctr" fontAlgn="t"/>
                      <a:r>
                        <a:rPr lang="en-US" altLang="ko-KR" sz="550" b="0" i="0" u="none" strike="sngStrike" dirty="0">
                          <a:solidFill>
                            <a:srgbClr val="000000"/>
                          </a:solidFill>
                          <a:effectLst/>
                          <a:latin typeface="맑은 고딕" panose="020B0503020000020004" pitchFamily="50" charset="-127"/>
                          <a:ea typeface="+mn-ea"/>
                        </a:rPr>
                        <a:t>(UI-BD-06-M72)</a:t>
                      </a:r>
                      <a:endParaRPr lang="en-US" sz="550" b="0" i="0" u="none" strike="sng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noStrike" dirty="0" err="1">
                          <a:solidFill>
                            <a:srgbClr val="000000"/>
                          </a:solidFill>
                          <a:effectLst/>
                          <a:latin typeface="맑은 고딕" panose="020B0503020000020004" pitchFamily="50" charset="-127"/>
                          <a:ea typeface="+mn-ea"/>
                        </a:rPr>
                        <a:t>공개수의협상견적서제출</a:t>
                      </a:r>
                      <a:endParaRPr lang="en-US" altLang="ko-KR" sz="550" b="0" i="0" u="none" strike="noStrike" dirty="0">
                        <a:solidFill>
                          <a:srgbClr val="000000"/>
                        </a:solidFill>
                        <a:effectLst/>
                        <a:latin typeface="맑은 고딕" panose="020B0503020000020004" pitchFamily="50" charset="-127"/>
                        <a:ea typeface="+mn-ea"/>
                      </a:endParaRPr>
                    </a:p>
                    <a:p>
                      <a:pPr algn="ctr" fontAlgn="t"/>
                      <a:r>
                        <a:rPr lang="en-US" sz="550" b="0" i="0" u="none" strike="noStrike" dirty="0">
                          <a:solidFill>
                            <a:srgbClr val="000000"/>
                          </a:solidFill>
                          <a:effectLst/>
                          <a:latin typeface="맑은 고딕" panose="020B0503020000020004" pitchFamily="50" charset="-127"/>
                          <a:ea typeface="+mn-ea"/>
                        </a:rPr>
                        <a:t>(</a:t>
                      </a:r>
                      <a:r>
                        <a:rPr lang="en-US" altLang="ko-KR" sz="550" b="0" i="0" u="none" strike="noStrike" dirty="0">
                          <a:solidFill>
                            <a:srgbClr val="000000"/>
                          </a:solidFill>
                          <a:effectLst/>
                          <a:latin typeface="맑은 고딕" panose="020B0503020000020004" pitchFamily="50" charset="-127"/>
                          <a:ea typeface="+mn-ea"/>
                        </a:rPr>
                        <a:t>UI-BD-12-M74)</a:t>
                      </a:r>
                      <a:endParaRPr 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기술평가결과등록</a:t>
                      </a:r>
                      <a:b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br>
                      <a:r>
                        <a:rPr lang="en-US" altLang="ko-KR" sz="550" b="0" i="0" u="none" strike="noStrike" dirty="0">
                          <a:solidFill>
                            <a:srgbClr val="000000"/>
                          </a:solidFill>
                          <a:effectLst/>
                          <a:latin typeface="맑은 고딕" panose="020B0503020000020004" pitchFamily="50" charset="-127"/>
                          <a:ea typeface="+mn-ea"/>
                        </a:rPr>
                        <a:t>(UI-BD-07-M72)</a:t>
                      </a:r>
                      <a:endParaRPr lang="en-US" altLang="ko-KR"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sngStrike" dirty="0">
                          <a:solidFill>
                            <a:srgbClr val="000000"/>
                          </a:solidFill>
                          <a:effectLst/>
                          <a:latin typeface="맑은 고딕" panose="020B0503020000020004" pitchFamily="50" charset="-127"/>
                          <a:ea typeface="맑은 고딕" panose="020B0503020000020004" pitchFamily="50" charset="-127"/>
                        </a:rPr>
                        <a:t>입찰실시</a:t>
                      </a:r>
                      <a:br>
                        <a:rPr lang="ko-KR" altLang="en-US" sz="550" b="0" i="0" u="none" strike="sngStrike" dirty="0">
                          <a:solidFill>
                            <a:srgbClr val="000000"/>
                          </a:solidFill>
                          <a:effectLst/>
                          <a:latin typeface="맑은 고딕" panose="020B0503020000020004" pitchFamily="50" charset="-127"/>
                          <a:ea typeface="맑은 고딕" panose="020B0503020000020004" pitchFamily="50" charset="-127"/>
                        </a:rPr>
                      </a:br>
                      <a:r>
                        <a:rPr lang="en-US" altLang="ko-KR" sz="550" b="0" i="0" u="none" strike="sngStrike" dirty="0">
                          <a:solidFill>
                            <a:srgbClr val="000000"/>
                          </a:solidFill>
                          <a:effectLst/>
                          <a:latin typeface="맑은 고딕" panose="020B0503020000020004" pitchFamily="50" charset="-127"/>
                          <a:ea typeface="+mn-ea"/>
                        </a:rPr>
                        <a:t>(UI-BD-08-M71)</a:t>
                      </a:r>
                      <a:endParaRPr lang="en-US" altLang="ko-KR" sz="550" b="0" i="0" u="none" strike="sng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t"/>
                      <a:r>
                        <a:rPr lang="ko-KR" altLang="en-US" sz="550" b="0" i="0" u="none" strike="sngStrike" dirty="0" err="1">
                          <a:solidFill>
                            <a:srgbClr val="000000"/>
                          </a:solidFill>
                          <a:effectLst/>
                          <a:latin typeface="맑은 고딕" panose="020B0503020000020004" pitchFamily="50" charset="-127"/>
                          <a:ea typeface="맑은 고딕" panose="020B0503020000020004" pitchFamily="50" charset="-127"/>
                        </a:rPr>
                        <a:t>공개수의협상결과등록</a:t>
                      </a:r>
                      <a:endParaRPr lang="en-US" altLang="ko-KR" sz="550" b="0" i="0" u="none" strike="sngStrike" dirty="0">
                        <a:solidFill>
                          <a:srgbClr val="000000"/>
                        </a:solidFill>
                        <a:effectLst/>
                        <a:latin typeface="맑은 고딕" panose="020B0503020000020004" pitchFamily="50" charset="-127"/>
                        <a:ea typeface="맑은 고딕" panose="020B0503020000020004" pitchFamily="50" charset="-127"/>
                      </a:endParaRPr>
                    </a:p>
                    <a:p>
                      <a:pPr marL="0" marR="0" lvl="0" indent="0" algn="ctr" defTabSz="914400" rtl="0" eaLnBrk="1" fontAlgn="t" latinLnBrk="1" hangingPunct="1">
                        <a:lnSpc>
                          <a:spcPct val="100000"/>
                        </a:lnSpc>
                        <a:spcBef>
                          <a:spcPts val="0"/>
                        </a:spcBef>
                        <a:spcAft>
                          <a:spcPts val="0"/>
                        </a:spcAft>
                        <a:buClrTx/>
                        <a:buSzTx/>
                        <a:buFontTx/>
                        <a:buNone/>
                        <a:tabLst/>
                        <a:defRPr/>
                      </a:pPr>
                      <a:r>
                        <a:rPr lang="en-US" altLang="ko-KR" sz="550" b="0" i="0" u="none" strike="sngStrike" dirty="0">
                          <a:solidFill>
                            <a:srgbClr val="000000"/>
                          </a:solidFill>
                          <a:effectLst/>
                          <a:latin typeface="맑은 고딕" panose="020B0503020000020004" pitchFamily="50" charset="-127"/>
                          <a:ea typeface="+mn-ea"/>
                        </a:rPr>
                        <a:t>(UI-BD-12-M77)</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3535347"/>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a:ln>
                            <a:noFill/>
                          </a:ln>
                          <a:solidFill>
                            <a:srgbClr val="000000"/>
                          </a:solidFill>
                          <a:effectLst/>
                          <a:uLnTx/>
                          <a:uFillTx/>
                          <a:latin typeface="+mn-lt"/>
                          <a:ea typeface="맑은 고딕" panose="020B0503020000020004" pitchFamily="50" charset="-127"/>
                          <a:cs typeface="+mn-cs"/>
                        </a:rPr>
                        <a:t>외자</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일반경쟁</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최저가격제</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a:effectLst/>
                          <a:latin typeface="나눔고딕" panose="020D0604000000000000" pitchFamily="50" charset="-127"/>
                          <a:ea typeface="나눔고딕" panose="020D0604000000000000" pitchFamily="50" charset="-127"/>
                        </a:rPr>
                        <a:t>●</a:t>
                      </a: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a:effectLst/>
                          <a:latin typeface="나눔고딕" panose="020D0604000000000000" pitchFamily="50" charset="-127"/>
                          <a:ea typeface="나눔고딕" panose="020D0604000000000000" pitchFamily="50" charset="-127"/>
                        </a:rPr>
                        <a:t>　</a:t>
                      </a: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60359"/>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a:ln>
                            <a:noFill/>
                          </a:ln>
                          <a:solidFill>
                            <a:srgbClr val="000000"/>
                          </a:solidFill>
                          <a:effectLst/>
                          <a:uLnTx/>
                          <a:uFillTx/>
                          <a:latin typeface="+mn-lt"/>
                          <a:ea typeface="맑은 고딕" panose="020B0503020000020004" pitchFamily="50" charset="-127"/>
                          <a:cs typeface="+mn-cs"/>
                        </a:rPr>
                        <a:t>외자</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a:ln>
                            <a:noFill/>
                          </a:ln>
                          <a:solidFill>
                            <a:srgbClr val="000000"/>
                          </a:solidFill>
                          <a:effectLst/>
                          <a:uLnTx/>
                          <a:uFillTx/>
                          <a:latin typeface="+mn-lt"/>
                          <a:ea typeface="맑은 고딕" panose="020B0503020000020004" pitchFamily="50" charset="-127"/>
                          <a:cs typeface="+mn-cs"/>
                        </a:rPr>
                        <a:t>일반경쟁</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a:ln>
                            <a:noFill/>
                          </a:ln>
                          <a:solidFill>
                            <a:srgbClr val="000000"/>
                          </a:solidFill>
                          <a:effectLst/>
                          <a:uLnTx/>
                          <a:uFillTx/>
                          <a:latin typeface="+mn-lt"/>
                          <a:ea typeface="맑은 고딕" panose="020B0503020000020004" pitchFamily="50" charset="-127"/>
                          <a:cs typeface="+mn-cs"/>
                        </a:rPr>
                        <a:t>역경매</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700" u="none" strike="noStrike">
                          <a:effectLst/>
                          <a:latin typeface="나눔고딕" panose="020D0604000000000000" pitchFamily="50" charset="-127"/>
                          <a:ea typeface="나눔고딕" panose="020D0604000000000000" pitchFamily="50" charset="-127"/>
                        </a:rPr>
                        <a:t>●</a:t>
                      </a: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a:effectLst/>
                          <a:latin typeface="나눔고딕" panose="020D0604000000000000" pitchFamily="50" charset="-127"/>
                          <a:ea typeface="나눔고딕" panose="020D0604000000000000" pitchFamily="50" charset="-127"/>
                        </a:rPr>
                        <a:t>　</a:t>
                      </a: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a:effectLst/>
                          <a:latin typeface="나눔고딕" panose="020D0604000000000000" pitchFamily="50" charset="-127"/>
                          <a:ea typeface="나눔고딕" panose="020D0604000000000000" pitchFamily="50" charset="-127"/>
                        </a:rPr>
                        <a:t>●</a:t>
                      </a: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7828166"/>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noProof="0">
                          <a:ln>
                            <a:noFill/>
                          </a:ln>
                          <a:solidFill>
                            <a:srgbClr val="000000"/>
                          </a:solidFill>
                          <a:effectLst/>
                          <a:uLnTx/>
                          <a:uFillTx/>
                          <a:latin typeface="맑은 고딕" panose="020F0502020204030204"/>
                          <a:ea typeface="맑은 고딕" panose="020B0503020000020004" pitchFamily="50" charset="-127"/>
                          <a:cs typeface="+mn-cs"/>
                        </a:rPr>
                        <a:t>외자</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noProof="0">
                          <a:ln>
                            <a:noFill/>
                          </a:ln>
                          <a:solidFill>
                            <a:srgbClr val="000000"/>
                          </a:solidFill>
                          <a:effectLst/>
                          <a:uLnTx/>
                          <a:uFillTx/>
                          <a:latin typeface="맑은 고딕" panose="020F0502020204030204"/>
                          <a:ea typeface="맑은 고딕" panose="020B0503020000020004" pitchFamily="50" charset="-127"/>
                          <a:cs typeface="+mn-cs"/>
                        </a:rPr>
                        <a:t>일반경쟁</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2</a:t>
                      </a: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단계경쟁</a:t>
                      </a:r>
                      <a:r>
                        <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a:t>
                      </a: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동시</a:t>
                      </a:r>
                      <a:r>
                        <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a:effectLst/>
                          <a:latin typeface="나눔고딕" panose="020D0604000000000000" pitchFamily="50" charset="-127"/>
                          <a:ea typeface="나눔고딕" panose="020D0604000000000000" pitchFamily="50" charset="-127"/>
                        </a:rPr>
                        <a:t>●</a:t>
                      </a: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9477746"/>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noProof="0" dirty="0">
                          <a:ln>
                            <a:noFill/>
                          </a:ln>
                          <a:solidFill>
                            <a:srgbClr val="000000"/>
                          </a:solidFill>
                          <a:effectLst/>
                          <a:uLnTx/>
                          <a:uFillTx/>
                          <a:latin typeface="맑은 고딕" panose="020F0502020204030204"/>
                          <a:ea typeface="맑은 고딕" panose="020B0503020000020004" pitchFamily="50" charset="-127"/>
                          <a:cs typeface="+mn-cs"/>
                        </a:rPr>
                        <a:t>외자</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noProof="0">
                          <a:ln>
                            <a:noFill/>
                          </a:ln>
                          <a:solidFill>
                            <a:srgbClr val="000000"/>
                          </a:solidFill>
                          <a:effectLst/>
                          <a:uLnTx/>
                          <a:uFillTx/>
                          <a:latin typeface="맑은 고딕" panose="020F0502020204030204"/>
                          <a:ea typeface="맑은 고딕" panose="020B0503020000020004" pitchFamily="50" charset="-127"/>
                          <a:cs typeface="+mn-cs"/>
                        </a:rPr>
                        <a:t>일반경쟁</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2</a:t>
                      </a: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단계경쟁</a:t>
                      </a:r>
                      <a:r>
                        <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a:t>
                      </a: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분리</a:t>
                      </a:r>
                      <a:r>
                        <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a:effectLst/>
                          <a:latin typeface="나눔고딕" panose="020D0604000000000000" pitchFamily="50" charset="-127"/>
                          <a:ea typeface="나눔고딕" panose="020D0604000000000000" pitchFamily="50" charset="-127"/>
                        </a:rPr>
                        <a:t>●</a:t>
                      </a: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778211"/>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외자</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수의계약</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최저가격제</a:t>
                      </a:r>
                      <a:endPar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5100053"/>
                  </a:ext>
                </a:extLst>
              </a:tr>
            </a:tbl>
          </a:graphicData>
        </a:graphic>
      </p:graphicFrame>
      <p:sp>
        <p:nvSpPr>
          <p:cNvPr id="9" name="직사각형 8">
            <a:extLst>
              <a:ext uri="{FF2B5EF4-FFF2-40B4-BE49-F238E27FC236}">
                <a16:creationId xmlns:a16="http://schemas.microsoft.com/office/drawing/2014/main" id="{96CDF256-7132-BAD7-0F10-1EFD5D5D95E6}"/>
              </a:ext>
            </a:extLst>
          </p:cNvPr>
          <p:cNvSpPr/>
          <p:nvPr/>
        </p:nvSpPr>
        <p:spPr>
          <a:xfrm>
            <a:off x="5853114" y="3876836"/>
            <a:ext cx="1581150" cy="3876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000"/>
              <a:t>역경매</a:t>
            </a:r>
            <a:r>
              <a:rPr lang="en-US" altLang="ko-KR" sz="1000"/>
              <a:t>?</a:t>
            </a:r>
            <a:endParaRPr lang="ko-KR" altLang="en-US" sz="1000"/>
          </a:p>
        </p:txBody>
      </p:sp>
      <p:graphicFrame>
        <p:nvGraphicFramePr>
          <p:cNvPr id="10" name="표 9">
            <a:extLst>
              <a:ext uri="{FF2B5EF4-FFF2-40B4-BE49-F238E27FC236}">
                <a16:creationId xmlns:a16="http://schemas.microsoft.com/office/drawing/2014/main" id="{4496FE2F-2FC2-AB28-8574-4AE4E7467F7F}"/>
              </a:ext>
            </a:extLst>
          </p:cNvPr>
          <p:cNvGraphicFramePr>
            <a:graphicFrameLocks noGrp="1"/>
          </p:cNvGraphicFramePr>
          <p:nvPr>
            <p:extLst/>
          </p:nvPr>
        </p:nvGraphicFramePr>
        <p:xfrm>
          <a:off x="457200" y="3789866"/>
          <a:ext cx="9001127" cy="1281731"/>
        </p:xfrm>
        <a:graphic>
          <a:graphicData uri="http://schemas.openxmlformats.org/drawingml/2006/table">
            <a:tbl>
              <a:tblPr>
                <a:tableStyleId>{073A0DAA-6AF3-43AB-8588-CEC1D06C72B9}</a:tableStyleId>
              </a:tblPr>
              <a:tblGrid>
                <a:gridCol w="486485">
                  <a:extLst>
                    <a:ext uri="{9D8B030D-6E8A-4147-A177-3AD203B41FA5}">
                      <a16:colId xmlns:a16="http://schemas.microsoft.com/office/drawing/2014/main" val="1514238136"/>
                    </a:ext>
                  </a:extLst>
                </a:gridCol>
                <a:gridCol w="449062">
                  <a:extLst>
                    <a:ext uri="{9D8B030D-6E8A-4147-A177-3AD203B41FA5}">
                      <a16:colId xmlns:a16="http://schemas.microsoft.com/office/drawing/2014/main" val="3149676768"/>
                    </a:ext>
                  </a:extLst>
                </a:gridCol>
                <a:gridCol w="785860">
                  <a:extLst>
                    <a:ext uri="{9D8B030D-6E8A-4147-A177-3AD203B41FA5}">
                      <a16:colId xmlns:a16="http://schemas.microsoft.com/office/drawing/2014/main" val="3492731607"/>
                    </a:ext>
                  </a:extLst>
                </a:gridCol>
                <a:gridCol w="727972">
                  <a:extLst>
                    <a:ext uri="{9D8B030D-6E8A-4147-A177-3AD203B41FA5}">
                      <a16:colId xmlns:a16="http://schemas.microsoft.com/office/drawing/2014/main" val="1852613810"/>
                    </a:ext>
                  </a:extLst>
                </a:gridCol>
                <a:gridCol w="727972">
                  <a:extLst>
                    <a:ext uri="{9D8B030D-6E8A-4147-A177-3AD203B41FA5}">
                      <a16:colId xmlns:a16="http://schemas.microsoft.com/office/drawing/2014/main" val="3872983152"/>
                    </a:ext>
                  </a:extLst>
                </a:gridCol>
                <a:gridCol w="727972">
                  <a:extLst>
                    <a:ext uri="{9D8B030D-6E8A-4147-A177-3AD203B41FA5}">
                      <a16:colId xmlns:a16="http://schemas.microsoft.com/office/drawing/2014/main" val="3178130443"/>
                    </a:ext>
                  </a:extLst>
                </a:gridCol>
                <a:gridCol w="727972">
                  <a:extLst>
                    <a:ext uri="{9D8B030D-6E8A-4147-A177-3AD203B41FA5}">
                      <a16:colId xmlns:a16="http://schemas.microsoft.com/office/drawing/2014/main" val="54136518"/>
                    </a:ext>
                  </a:extLst>
                </a:gridCol>
                <a:gridCol w="727972">
                  <a:extLst>
                    <a:ext uri="{9D8B030D-6E8A-4147-A177-3AD203B41FA5}">
                      <a16:colId xmlns:a16="http://schemas.microsoft.com/office/drawing/2014/main" val="3072629197"/>
                    </a:ext>
                  </a:extLst>
                </a:gridCol>
                <a:gridCol w="727972">
                  <a:extLst>
                    <a:ext uri="{9D8B030D-6E8A-4147-A177-3AD203B41FA5}">
                      <a16:colId xmlns:a16="http://schemas.microsoft.com/office/drawing/2014/main" val="853219770"/>
                    </a:ext>
                  </a:extLst>
                </a:gridCol>
                <a:gridCol w="727972">
                  <a:extLst>
                    <a:ext uri="{9D8B030D-6E8A-4147-A177-3AD203B41FA5}">
                      <a16:colId xmlns:a16="http://schemas.microsoft.com/office/drawing/2014/main" val="2654666997"/>
                    </a:ext>
                  </a:extLst>
                </a:gridCol>
                <a:gridCol w="727972">
                  <a:extLst>
                    <a:ext uri="{9D8B030D-6E8A-4147-A177-3AD203B41FA5}">
                      <a16:colId xmlns:a16="http://schemas.microsoft.com/office/drawing/2014/main" val="1536767752"/>
                    </a:ext>
                  </a:extLst>
                </a:gridCol>
                <a:gridCol w="727972">
                  <a:extLst>
                    <a:ext uri="{9D8B030D-6E8A-4147-A177-3AD203B41FA5}">
                      <a16:colId xmlns:a16="http://schemas.microsoft.com/office/drawing/2014/main" val="2640426324"/>
                    </a:ext>
                  </a:extLst>
                </a:gridCol>
                <a:gridCol w="727972">
                  <a:extLst>
                    <a:ext uri="{9D8B030D-6E8A-4147-A177-3AD203B41FA5}">
                      <a16:colId xmlns:a16="http://schemas.microsoft.com/office/drawing/2014/main" val="3093499088"/>
                    </a:ext>
                  </a:extLst>
                </a:gridCol>
              </a:tblGrid>
              <a:tr h="177613">
                <a:tc rowSpan="2" gridSpan="3">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a:ln>
                            <a:noFill/>
                          </a:ln>
                          <a:solidFill>
                            <a:srgbClr val="000000"/>
                          </a:solidFill>
                          <a:effectLst/>
                          <a:uLnTx/>
                          <a:uFillTx/>
                          <a:latin typeface="+mn-lt"/>
                          <a:ea typeface="맑은 고딕" panose="020B0503020000020004" pitchFamily="50" charset="-127"/>
                          <a:cs typeface="+mn-cs"/>
                        </a:rPr>
                        <a:t>　</a:t>
                      </a:r>
                      <a:endParaRPr kumimoji="0" lang="ko-KR" altLang="en-US" sz="70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hMerge="1">
                  <a:txBody>
                    <a:bodyPr/>
                    <a:lstStyle/>
                    <a:p>
                      <a:pPr latinLnBrk="1"/>
                      <a:endParaRPr lang="ko-KR" altLang="en-US"/>
                    </a:p>
                  </a:txBody>
                  <a:tcPr/>
                </a:tc>
                <a:tc rowSpan="2" hMerge="1">
                  <a:txBody>
                    <a:bodyPr/>
                    <a:lstStyle/>
                    <a:p>
                      <a:pPr latinLnBrk="1"/>
                      <a:endParaRPr lang="ko-KR" altLang="en-US"/>
                    </a:p>
                  </a:txBody>
                  <a:tcPr/>
                </a:tc>
                <a:tc gridSpan="10">
                  <a:txBody>
                    <a:bodyPr/>
                    <a:lstStyle/>
                    <a:p>
                      <a:pPr algn="ctr" fontAlgn="ctr"/>
                      <a:r>
                        <a:rPr lang="ko-KR" altLang="en-US" sz="700" b="0" i="0" u="none" strike="noStrike" dirty="0">
                          <a:solidFill>
                            <a:srgbClr val="000000"/>
                          </a:solidFill>
                          <a:effectLst/>
                          <a:latin typeface="맑은 고딕" panose="020B0503020000020004" pitchFamily="50" charset="-127"/>
                          <a:ea typeface="맑은 고딕" panose="020B0503020000020004" pitchFamily="50" charset="-127"/>
                        </a:rPr>
                        <a:t>협        상</a:t>
                      </a:r>
                      <a:endParaRPr lang="en-US" altLang="ko-KR" sz="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312413800"/>
                  </a:ext>
                </a:extLst>
              </a:tr>
              <a:tr h="222306">
                <a:tc gridSpan="3"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a:p>
                  </a:txBody>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협상등록</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견적서작성</a:t>
                      </a:r>
                      <a:endParaRPr 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결과처리</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mn-ea"/>
                        </a:rPr>
                        <a:t>협상등록</a:t>
                      </a:r>
                      <a:endParaRPr lang="ko-KR" alt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mn-ea"/>
                        </a:rPr>
                        <a:t>견적서작성</a:t>
                      </a:r>
                      <a:endParaRPr lang="ko-KR" alt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mn-ea"/>
                        </a:rPr>
                        <a:t>결과처리</a:t>
                      </a:r>
                      <a:endParaRPr lang="ko-KR" alt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장비수의계약</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파일제출</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2">
                  <a:txBody>
                    <a:bodyPr/>
                    <a:lstStyle/>
                    <a:p>
                      <a:pPr algn="ctr" fontAlgn="ctr"/>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가격협상</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algn="ctr" fontAlgn="ctr"/>
                      <a:endParaRPr lang="ko-KR" alt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4685977"/>
                  </a:ext>
                </a:extLst>
              </a:tr>
              <a:tr h="44461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a:ln>
                            <a:noFill/>
                          </a:ln>
                          <a:solidFill>
                            <a:srgbClr val="000000"/>
                          </a:solidFill>
                          <a:effectLst/>
                          <a:uLnTx/>
                          <a:uFillTx/>
                          <a:latin typeface="+mn-lt"/>
                          <a:ea typeface="맑은 고딕" panose="020B0503020000020004" pitchFamily="50" charset="-127"/>
                          <a:cs typeface="+mn-cs"/>
                        </a:rPr>
                        <a:t>업무구분</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a:ln>
                            <a:noFill/>
                          </a:ln>
                          <a:solidFill>
                            <a:srgbClr val="000000"/>
                          </a:solidFill>
                          <a:effectLst/>
                          <a:uLnTx/>
                          <a:uFillTx/>
                          <a:latin typeface="+mn-lt"/>
                          <a:ea typeface="맑은 고딕" panose="020B0503020000020004" pitchFamily="50" charset="-127"/>
                          <a:cs typeface="+mn-cs"/>
                        </a:rPr>
                        <a:t>계약방법</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a:ln>
                            <a:noFill/>
                          </a:ln>
                          <a:solidFill>
                            <a:srgbClr val="000000"/>
                          </a:solidFill>
                          <a:effectLst/>
                          <a:uLnTx/>
                          <a:uFillTx/>
                          <a:latin typeface="+mn-lt"/>
                          <a:ea typeface="맑은 고딕" panose="020B0503020000020004" pitchFamily="50" charset="-127"/>
                          <a:cs typeface="+mn-cs"/>
                        </a:rPr>
                        <a:t>낙찰방법</a:t>
                      </a:r>
                      <a:endPar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ko-KR" altLang="en-US" sz="550" b="0" i="0" u="none" strike="sngStrike" dirty="0">
                          <a:solidFill>
                            <a:srgbClr val="000000"/>
                          </a:solidFill>
                          <a:effectLst/>
                          <a:latin typeface="맑은 고딕" panose="020B0503020000020004" pitchFamily="50" charset="-127"/>
                          <a:ea typeface="맑은 고딕" panose="020B0503020000020004" pitchFamily="50" charset="-127"/>
                        </a:rPr>
                        <a:t>유찰수의협상등록</a:t>
                      </a:r>
                      <a:endParaRPr lang="en-US" altLang="ko-KR" sz="550" b="0" i="0" u="none" strike="sngStrike" dirty="0">
                        <a:solidFill>
                          <a:srgbClr val="000000"/>
                        </a:solidFill>
                        <a:effectLst/>
                        <a:latin typeface="맑은 고딕" panose="020B0503020000020004" pitchFamily="50" charset="-127"/>
                        <a:ea typeface="맑은 고딕" panose="020B0503020000020004" pitchFamily="50" charset="-127"/>
                      </a:endParaRPr>
                    </a:p>
                    <a:p>
                      <a:pPr algn="ctr" fontAlgn="t"/>
                      <a:r>
                        <a:rPr lang="en-US" altLang="ko-KR" sz="550" b="0" i="0" u="none" strike="sngStrike" dirty="0">
                          <a:solidFill>
                            <a:srgbClr val="000000"/>
                          </a:solidFill>
                          <a:effectLst/>
                          <a:latin typeface="맑은 고딕" panose="020B0503020000020004" pitchFamily="50" charset="-127"/>
                          <a:ea typeface="+mn-ea"/>
                        </a:rPr>
                        <a:t>(UI-BD-13-M71)</a:t>
                      </a:r>
                      <a:endParaRPr lang="en-US" sz="550" b="0" i="0" u="none" strike="sng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ko-KR" altLang="en-US" sz="550" b="0" i="0" u="none" strike="noStrike" dirty="0" err="1">
                          <a:solidFill>
                            <a:srgbClr val="000000"/>
                          </a:solidFill>
                          <a:effectLst/>
                          <a:latin typeface="맑은 고딕" panose="020B0503020000020004" pitchFamily="50" charset="-127"/>
                          <a:ea typeface="+mn-ea"/>
                        </a:rPr>
                        <a:t>유찰수의견적서작성</a:t>
                      </a:r>
                      <a:endParaRPr lang="en-US" altLang="ko-KR" sz="550" b="0" i="0" u="none" strike="noStrike" dirty="0">
                        <a:solidFill>
                          <a:srgbClr val="000000"/>
                        </a:solidFill>
                        <a:effectLst/>
                        <a:latin typeface="맑은 고딕" panose="020B0503020000020004" pitchFamily="50" charset="-127"/>
                        <a:ea typeface="+mn-ea"/>
                      </a:endParaRPr>
                    </a:p>
                    <a:p>
                      <a:pPr algn="ctr" fontAlgn="t"/>
                      <a:r>
                        <a:rPr lang="en-US" altLang="ko-KR" sz="550" b="0" i="0" u="none" strike="noStrike" dirty="0">
                          <a:solidFill>
                            <a:srgbClr val="000000"/>
                          </a:solidFill>
                          <a:effectLst/>
                          <a:latin typeface="맑은 고딕" panose="020B0503020000020004" pitchFamily="50" charset="-127"/>
                          <a:ea typeface="+mn-ea"/>
                        </a:rPr>
                        <a:t>(UI-BD-13-M79)</a:t>
                      </a:r>
                      <a:endParaRPr lang="en-US" altLang="ko-KR"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ko-KR" altLang="en-US" sz="550" b="0" i="0" u="none" strike="sngStrike" dirty="0" err="1">
                          <a:solidFill>
                            <a:srgbClr val="000000"/>
                          </a:solidFill>
                          <a:effectLst/>
                          <a:latin typeface="맑은 고딕" panose="020B0503020000020004" pitchFamily="50" charset="-127"/>
                          <a:ea typeface="+mn-ea"/>
                        </a:rPr>
                        <a:t>유찰수의견적서처리</a:t>
                      </a:r>
                      <a:endParaRPr lang="en-US" altLang="ko-KR" sz="550" b="0" i="0" u="none" strike="sngStrike" dirty="0">
                        <a:solidFill>
                          <a:srgbClr val="000000"/>
                        </a:solidFill>
                        <a:effectLst/>
                        <a:latin typeface="맑은 고딕" panose="020B0503020000020004" pitchFamily="50" charset="-127"/>
                        <a:ea typeface="+mn-ea"/>
                      </a:endParaRPr>
                    </a:p>
                    <a:p>
                      <a:pPr algn="ctr" fontAlgn="t"/>
                      <a:r>
                        <a:rPr lang="en-US" altLang="ko-KR" sz="550" b="0" i="0" u="none" strike="sngStrike" dirty="0">
                          <a:solidFill>
                            <a:srgbClr val="000000"/>
                          </a:solidFill>
                          <a:effectLst/>
                          <a:latin typeface="맑은 고딕" panose="020B0503020000020004" pitchFamily="50" charset="-127"/>
                          <a:ea typeface="+mn-ea"/>
                        </a:rPr>
                        <a:t>(UI-BD-13-M76)</a:t>
                      </a:r>
                      <a:endParaRPr lang="en-US" altLang="ko-KR" sz="550" b="0" i="0" u="none" strike="sng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맑은 고딕" panose="020B0503020000020004" pitchFamily="50" charset="-127"/>
                        </a:rPr>
                        <a:t>협상등록</a:t>
                      </a:r>
                      <a:endParaRPr lang="en-US" altLang="ko-KR" sz="550" b="0" i="0" u="none" strike="noStrike" dirty="0">
                        <a:solidFill>
                          <a:srgbClr val="000000"/>
                        </a:solidFill>
                        <a:effectLst/>
                        <a:latin typeface="맑은 고딕" panose="020B0503020000020004" pitchFamily="50" charset="-127"/>
                        <a:ea typeface="맑은 고딕" panose="020B0503020000020004" pitchFamily="50" charset="-127"/>
                      </a:endParaRPr>
                    </a:p>
                    <a:p>
                      <a:pPr algn="ctr" fontAlgn="t"/>
                      <a:r>
                        <a:rPr lang="en-US" altLang="ko-KR" sz="550" b="0" i="0" u="none" strike="noStrike" dirty="0">
                          <a:solidFill>
                            <a:srgbClr val="000000"/>
                          </a:solidFill>
                          <a:effectLst/>
                          <a:latin typeface="맑은 고딕" panose="020B0503020000020004" pitchFamily="50" charset="-127"/>
                          <a:ea typeface="+mn-ea"/>
                        </a:rPr>
                        <a:t>(UI-BD-14-M71)</a:t>
                      </a:r>
                      <a:endParaRPr lang="en-US"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mn-ea"/>
                        </a:rPr>
                        <a:t>견적서작성</a:t>
                      </a:r>
                      <a:endParaRPr lang="en-US" altLang="ko-KR" sz="550" b="0" i="0" u="none" strike="noStrike" dirty="0">
                        <a:solidFill>
                          <a:srgbClr val="000000"/>
                        </a:solidFill>
                        <a:effectLst/>
                        <a:latin typeface="맑은 고딕" panose="020B0503020000020004" pitchFamily="50" charset="-127"/>
                        <a:ea typeface="+mn-ea"/>
                      </a:endParaRPr>
                    </a:p>
                    <a:p>
                      <a:pPr algn="ctr" fontAlgn="t"/>
                      <a:r>
                        <a:rPr lang="en-US" altLang="ko-KR" sz="550" b="0" i="0" u="none" strike="noStrike" dirty="0">
                          <a:solidFill>
                            <a:srgbClr val="000000"/>
                          </a:solidFill>
                          <a:effectLst/>
                          <a:latin typeface="맑은 고딕" panose="020B0503020000020004" pitchFamily="50" charset="-127"/>
                          <a:ea typeface="+mn-ea"/>
                        </a:rPr>
                        <a:t>(UI-BD-14-M77)</a:t>
                      </a:r>
                      <a:endParaRPr lang="en-US" altLang="ko-KR"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ko-KR" altLang="en-US" sz="550" b="0" i="0" u="none" strike="sngStrike" dirty="0">
                          <a:solidFill>
                            <a:srgbClr val="000000"/>
                          </a:solidFill>
                          <a:effectLst/>
                          <a:latin typeface="맑은 고딕" panose="020B0503020000020004" pitchFamily="50" charset="-127"/>
                          <a:ea typeface="+mn-ea"/>
                        </a:rPr>
                        <a:t>견적서처리</a:t>
                      </a:r>
                      <a:endParaRPr lang="en-US" altLang="ko-KR" sz="550" b="0" i="0" u="none" strike="sngStrike" dirty="0">
                        <a:solidFill>
                          <a:srgbClr val="000000"/>
                        </a:solidFill>
                        <a:effectLst/>
                        <a:latin typeface="맑은 고딕" panose="020B0503020000020004" pitchFamily="50" charset="-127"/>
                        <a:ea typeface="+mn-ea"/>
                      </a:endParaRPr>
                    </a:p>
                    <a:p>
                      <a:pPr marL="0" marR="0" lvl="0" indent="0" algn="ctr" defTabSz="914400" rtl="0" eaLnBrk="1" fontAlgn="t" latinLnBrk="1" hangingPunct="1">
                        <a:lnSpc>
                          <a:spcPct val="100000"/>
                        </a:lnSpc>
                        <a:spcBef>
                          <a:spcPts val="0"/>
                        </a:spcBef>
                        <a:spcAft>
                          <a:spcPts val="0"/>
                        </a:spcAft>
                        <a:buClrTx/>
                        <a:buSzTx/>
                        <a:buFontTx/>
                        <a:buNone/>
                        <a:tabLst/>
                        <a:defRPr/>
                      </a:pPr>
                      <a:r>
                        <a:rPr lang="en-US" altLang="ko-KR" sz="550" b="0" i="0" u="none" strike="sngStrike" dirty="0">
                          <a:solidFill>
                            <a:srgbClr val="000000"/>
                          </a:solidFill>
                          <a:effectLst/>
                          <a:latin typeface="맑은 고딕" panose="020B0503020000020004" pitchFamily="50" charset="-127"/>
                          <a:ea typeface="+mn-ea"/>
                        </a:rPr>
                        <a:t>(UI-BD-14-M74)</a:t>
                      </a:r>
                      <a:endParaRPr lang="en-US" altLang="ko-KR" sz="550" b="0" i="0" u="none" strike="sng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r>
                        <a:rPr lang="ko-KR" altLang="en-US" sz="550" b="0" i="0" u="none" strike="noStrike" dirty="0">
                          <a:solidFill>
                            <a:srgbClr val="000000"/>
                          </a:solidFill>
                          <a:effectLst/>
                          <a:latin typeface="맑은 고딕" panose="020B0503020000020004" pitchFamily="50" charset="-127"/>
                          <a:ea typeface="+mn-ea"/>
                        </a:rPr>
                        <a:t>장비수의계약목록</a:t>
                      </a:r>
                      <a:endParaRPr lang="en-US" altLang="ko-KR" sz="550" b="0" i="0" u="none" strike="noStrike" dirty="0">
                        <a:solidFill>
                          <a:srgbClr val="000000"/>
                        </a:solidFill>
                        <a:effectLst/>
                        <a:latin typeface="맑은 고딕" panose="020B0503020000020004" pitchFamily="50" charset="-127"/>
                        <a:ea typeface="+mn-ea"/>
                      </a:endParaRPr>
                    </a:p>
                    <a:p>
                      <a:pPr marL="0" marR="0" lvl="0" indent="0" algn="ctr" defTabSz="914400" rtl="0" eaLnBrk="1" fontAlgn="t" latinLnBrk="1" hangingPunct="1">
                        <a:lnSpc>
                          <a:spcPct val="100000"/>
                        </a:lnSpc>
                        <a:spcBef>
                          <a:spcPts val="0"/>
                        </a:spcBef>
                        <a:spcAft>
                          <a:spcPts val="0"/>
                        </a:spcAft>
                        <a:buClrTx/>
                        <a:buSzTx/>
                        <a:buFontTx/>
                        <a:buNone/>
                        <a:tabLst/>
                        <a:defRPr/>
                      </a:pPr>
                      <a:r>
                        <a:rPr lang="en-US" altLang="ko-KR" sz="550" b="0" i="0" u="none" strike="noStrike" dirty="0">
                          <a:solidFill>
                            <a:srgbClr val="000000"/>
                          </a:solidFill>
                          <a:effectLst/>
                          <a:latin typeface="맑은 고딕" panose="020B0503020000020004" pitchFamily="50" charset="-127"/>
                          <a:ea typeface="+mn-ea"/>
                        </a:rPr>
                        <a:t>(UI-BD-15-M71)</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t" latinLnBrk="1" hangingPunct="1">
                        <a:lnSpc>
                          <a:spcPct val="100000"/>
                        </a:lnSpc>
                        <a:spcBef>
                          <a:spcPts val="0"/>
                        </a:spcBef>
                        <a:spcAft>
                          <a:spcPts val="0"/>
                        </a:spcAft>
                        <a:buClrTx/>
                        <a:buSzTx/>
                        <a:buFontTx/>
                        <a:buNone/>
                        <a:tabLst/>
                        <a:defRPr/>
                      </a:pPr>
                      <a:r>
                        <a:rPr lang="ko-KR" altLang="en-US" sz="550" b="0" i="0" u="none" strike="noStrike" dirty="0" err="1">
                          <a:solidFill>
                            <a:srgbClr val="000000"/>
                          </a:solidFill>
                          <a:effectLst/>
                          <a:latin typeface="맑은 고딕" panose="020B0503020000020004" pitchFamily="50" charset="-127"/>
                          <a:ea typeface="+mn-ea"/>
                        </a:rPr>
                        <a:t>제출상세</a:t>
                      </a:r>
                      <a:endParaRPr lang="en-US" altLang="ko-KR" sz="550" b="0" i="0" u="none" strike="noStrike" dirty="0">
                        <a:solidFill>
                          <a:srgbClr val="000000"/>
                        </a:solidFill>
                        <a:effectLst/>
                        <a:latin typeface="맑은 고딕" panose="020B0503020000020004" pitchFamily="50" charset="-127"/>
                        <a:ea typeface="+mn-ea"/>
                      </a:endParaRPr>
                    </a:p>
                    <a:p>
                      <a:pPr marL="0" marR="0" lvl="0" indent="0" algn="ctr" defTabSz="914400" rtl="0" eaLnBrk="1" fontAlgn="t" latinLnBrk="1" hangingPunct="1">
                        <a:lnSpc>
                          <a:spcPct val="100000"/>
                        </a:lnSpc>
                        <a:spcBef>
                          <a:spcPts val="0"/>
                        </a:spcBef>
                        <a:spcAft>
                          <a:spcPts val="0"/>
                        </a:spcAft>
                        <a:buClrTx/>
                        <a:buSzTx/>
                        <a:buFontTx/>
                        <a:buNone/>
                        <a:tabLst/>
                        <a:defRPr/>
                      </a:pPr>
                      <a:r>
                        <a:rPr lang="en-US" altLang="ko-KR" sz="550" b="0" i="0" u="none" strike="noStrike" dirty="0">
                          <a:solidFill>
                            <a:srgbClr val="000000"/>
                          </a:solidFill>
                          <a:effectLst/>
                          <a:latin typeface="맑은 고딕" panose="020B0503020000020004" pitchFamily="50" charset="-127"/>
                          <a:ea typeface="+mn-ea"/>
                        </a:rPr>
                        <a:t>(UI-BD-15-M81)</a:t>
                      </a:r>
                      <a:endParaRPr lang="en-US" altLang="ko-KR" sz="55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t" latinLnBrk="1" hangingPunct="1">
                        <a:lnSpc>
                          <a:spcPct val="100000"/>
                        </a:lnSpc>
                        <a:spcBef>
                          <a:spcPts val="0"/>
                        </a:spcBef>
                        <a:spcAft>
                          <a:spcPts val="0"/>
                        </a:spcAft>
                        <a:buClrTx/>
                        <a:buSzTx/>
                        <a:buFontTx/>
                        <a:buNone/>
                        <a:tabLst/>
                        <a:defRPr/>
                      </a:pPr>
                      <a:r>
                        <a:rPr lang="ko-KR" altLang="en-US" sz="550" b="0" i="0" u="none" strike="sngStrike" dirty="0" err="1">
                          <a:solidFill>
                            <a:srgbClr val="000000"/>
                          </a:solidFill>
                          <a:effectLst/>
                          <a:latin typeface="맑은 고딕" panose="020B0503020000020004" pitchFamily="50" charset="-127"/>
                          <a:ea typeface="+mn-ea"/>
                        </a:rPr>
                        <a:t>수의계약상세</a:t>
                      </a:r>
                      <a:r>
                        <a:rPr lang="en-US" altLang="ko-KR" sz="550" b="0" i="0" u="none" strike="sngStrike" dirty="0">
                          <a:solidFill>
                            <a:srgbClr val="000000"/>
                          </a:solidFill>
                          <a:effectLst/>
                          <a:latin typeface="맑은 고딕" panose="020B0503020000020004" pitchFamily="50" charset="-127"/>
                          <a:ea typeface="+mn-ea"/>
                        </a:rPr>
                        <a:t>-</a:t>
                      </a:r>
                      <a:r>
                        <a:rPr lang="ko-KR" altLang="en-US" sz="550" b="0" i="0" u="none" strike="sngStrike" dirty="0">
                          <a:solidFill>
                            <a:srgbClr val="000000"/>
                          </a:solidFill>
                          <a:effectLst/>
                          <a:latin typeface="맑은 고딕" panose="020B0503020000020004" pitchFamily="50" charset="-127"/>
                          <a:ea typeface="+mn-ea"/>
                        </a:rPr>
                        <a:t>가격협상</a:t>
                      </a:r>
                      <a:r>
                        <a:rPr lang="en-US" altLang="ko-KR" sz="550" b="0" i="0" u="none" strike="sngStrike" dirty="0">
                          <a:solidFill>
                            <a:srgbClr val="000000"/>
                          </a:solidFill>
                          <a:effectLst/>
                          <a:latin typeface="맑은 고딕" panose="020B0503020000020004" pitchFamily="50" charset="-127"/>
                          <a:ea typeface="+mn-ea"/>
                        </a:rPr>
                        <a:t>(</a:t>
                      </a:r>
                      <a:r>
                        <a:rPr lang="ko-KR" altLang="en-US" sz="550" b="0" i="0" u="none" strike="sngStrike" dirty="0">
                          <a:solidFill>
                            <a:srgbClr val="000000"/>
                          </a:solidFill>
                          <a:effectLst/>
                          <a:latin typeface="맑은 고딕" panose="020B0503020000020004" pitchFamily="50" charset="-127"/>
                          <a:ea typeface="+mn-ea"/>
                        </a:rPr>
                        <a:t>계약관</a:t>
                      </a:r>
                      <a:r>
                        <a:rPr lang="en-US" altLang="ko-KR" sz="550" b="0" i="0" u="none" strike="sngStrike" dirty="0">
                          <a:solidFill>
                            <a:srgbClr val="000000"/>
                          </a:solidFill>
                          <a:effectLst/>
                          <a:latin typeface="맑은 고딕" panose="020B0503020000020004" pitchFamily="50" charset="-127"/>
                          <a:ea typeface="+mn-ea"/>
                        </a:rPr>
                        <a:t>)</a:t>
                      </a:r>
                    </a:p>
                    <a:p>
                      <a:pPr marL="0" marR="0" lvl="0" indent="0" algn="ctr" defTabSz="914400" rtl="0" eaLnBrk="1" fontAlgn="t" latinLnBrk="1" hangingPunct="1">
                        <a:lnSpc>
                          <a:spcPct val="100000"/>
                        </a:lnSpc>
                        <a:spcBef>
                          <a:spcPts val="0"/>
                        </a:spcBef>
                        <a:spcAft>
                          <a:spcPts val="0"/>
                        </a:spcAft>
                        <a:buClrTx/>
                        <a:buSzTx/>
                        <a:buFontTx/>
                        <a:buNone/>
                        <a:tabLst/>
                        <a:defRPr/>
                      </a:pPr>
                      <a:r>
                        <a:rPr lang="en-US" altLang="ko-KR" sz="550" b="0" i="0" u="none" strike="sngStrike" dirty="0">
                          <a:solidFill>
                            <a:srgbClr val="000000"/>
                          </a:solidFill>
                          <a:effectLst/>
                          <a:latin typeface="맑은 고딕" panose="020B0503020000020004" pitchFamily="50" charset="-127"/>
                          <a:ea typeface="+mn-ea"/>
                        </a:rPr>
                        <a:t>(UI-BD-15-M76)</a:t>
                      </a:r>
                      <a:endParaRPr lang="ko-KR" altLang="en-US" sz="550" b="0" i="0" u="none" strike="sngStrike" dirty="0">
                        <a:solidFill>
                          <a:srgbClr val="000000"/>
                        </a:solidFill>
                        <a:effectLst/>
                        <a:latin typeface="맑은 고딕" panose="020B0503020000020004" pitchFamily="50" charset="-127"/>
                        <a:ea typeface="+mn-ea"/>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t" latinLnBrk="1" hangingPunct="1">
                        <a:lnSpc>
                          <a:spcPct val="100000"/>
                        </a:lnSpc>
                        <a:spcBef>
                          <a:spcPts val="0"/>
                        </a:spcBef>
                        <a:spcAft>
                          <a:spcPts val="0"/>
                        </a:spcAft>
                        <a:buClrTx/>
                        <a:buSzTx/>
                        <a:buFontTx/>
                        <a:buNone/>
                        <a:tabLst/>
                        <a:defRPr/>
                      </a:pPr>
                      <a:r>
                        <a:rPr lang="ko-KR" altLang="en-US" sz="550" b="0" i="0" u="none" strike="sngStrike" dirty="0" err="1">
                          <a:solidFill>
                            <a:srgbClr val="000000"/>
                          </a:solidFill>
                          <a:effectLst/>
                          <a:latin typeface="맑은 고딕" panose="020B0503020000020004" pitchFamily="50" charset="-127"/>
                          <a:ea typeface="+mn-ea"/>
                        </a:rPr>
                        <a:t>수의계약상세</a:t>
                      </a:r>
                      <a:r>
                        <a:rPr lang="en-US" altLang="ko-KR" sz="550" b="0" i="0" u="none" strike="sngStrike" dirty="0">
                          <a:solidFill>
                            <a:srgbClr val="000000"/>
                          </a:solidFill>
                          <a:effectLst/>
                          <a:latin typeface="맑은 고딕" panose="020B0503020000020004" pitchFamily="50" charset="-127"/>
                          <a:ea typeface="+mn-ea"/>
                        </a:rPr>
                        <a:t>-</a:t>
                      </a:r>
                      <a:r>
                        <a:rPr lang="ko-KR" altLang="en-US" sz="550" b="0" i="0" u="none" strike="sngStrike" dirty="0">
                          <a:solidFill>
                            <a:srgbClr val="000000"/>
                          </a:solidFill>
                          <a:effectLst/>
                          <a:latin typeface="맑은 고딕" panose="020B0503020000020004" pitchFamily="50" charset="-127"/>
                          <a:ea typeface="+mn-ea"/>
                        </a:rPr>
                        <a:t>가격협상</a:t>
                      </a:r>
                      <a:r>
                        <a:rPr lang="en-US" altLang="ko-KR" sz="550" b="0" i="0" u="none" strike="sngStrike" dirty="0">
                          <a:solidFill>
                            <a:srgbClr val="000000"/>
                          </a:solidFill>
                          <a:effectLst/>
                          <a:latin typeface="맑은 고딕" panose="020B0503020000020004" pitchFamily="50" charset="-127"/>
                          <a:ea typeface="+mn-ea"/>
                        </a:rPr>
                        <a:t>(</a:t>
                      </a:r>
                      <a:r>
                        <a:rPr lang="ko-KR" altLang="en-US" sz="550" b="0" i="0" u="none" strike="sngStrike" dirty="0">
                          <a:solidFill>
                            <a:srgbClr val="000000"/>
                          </a:solidFill>
                          <a:effectLst/>
                          <a:latin typeface="맑은 고딕" panose="020B0503020000020004" pitchFamily="50" charset="-127"/>
                          <a:ea typeface="+mn-ea"/>
                        </a:rPr>
                        <a:t>조달업체</a:t>
                      </a:r>
                      <a:r>
                        <a:rPr lang="en-US" altLang="ko-KR" sz="550" b="0" i="0" u="none" strike="sngStrike" dirty="0">
                          <a:solidFill>
                            <a:srgbClr val="000000"/>
                          </a:solidFill>
                          <a:effectLst/>
                          <a:latin typeface="맑은 고딕" panose="020B0503020000020004" pitchFamily="50" charset="-127"/>
                          <a:ea typeface="+mn-ea"/>
                        </a:rPr>
                        <a:t>)</a:t>
                      </a:r>
                    </a:p>
                    <a:p>
                      <a:pPr marL="0" marR="0" lvl="0" indent="0" algn="ctr" defTabSz="914400" rtl="0" eaLnBrk="1" fontAlgn="t" latinLnBrk="1" hangingPunct="1">
                        <a:lnSpc>
                          <a:spcPct val="100000"/>
                        </a:lnSpc>
                        <a:spcBef>
                          <a:spcPts val="0"/>
                        </a:spcBef>
                        <a:spcAft>
                          <a:spcPts val="0"/>
                        </a:spcAft>
                        <a:buClrTx/>
                        <a:buSzTx/>
                        <a:buFontTx/>
                        <a:buNone/>
                        <a:tabLst/>
                        <a:defRPr/>
                      </a:pPr>
                      <a:r>
                        <a:rPr lang="en-US" altLang="ko-KR" sz="550" b="0" i="0" u="none" strike="sngStrike" dirty="0">
                          <a:solidFill>
                            <a:srgbClr val="000000"/>
                          </a:solidFill>
                          <a:effectLst/>
                          <a:latin typeface="맑은 고딕" panose="020B0503020000020004" pitchFamily="50" charset="-127"/>
                          <a:ea typeface="+mn-ea"/>
                        </a:rPr>
                        <a:t>(UI-BD-15-M77)</a:t>
                      </a:r>
                      <a:endParaRPr lang="ko-KR" altLang="en-US" sz="550" b="0" i="0" u="none" strike="sngStrike" dirty="0">
                        <a:solidFill>
                          <a:srgbClr val="000000"/>
                        </a:solidFill>
                        <a:effectLst/>
                        <a:latin typeface="맑은 고딕" panose="020B0503020000020004" pitchFamily="50" charset="-127"/>
                        <a:ea typeface="+mn-ea"/>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3535347"/>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외자</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수의계약</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유찰수의협상</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6160359"/>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외자</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수의계약</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국외협상</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5874029"/>
                  </a:ext>
                </a:extLst>
              </a:tr>
              <a:tr h="145734">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외자</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수의계약</a:t>
                      </a: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ko-KR" altLang="en-US"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rPr>
                        <a:t>장비수의계약</a:t>
                      </a:r>
                      <a:endParaRPr kumimoji="0" lang="en-US" altLang="ko-KR" sz="550" b="0" i="0" u="none" strike="noStrike" kern="1200" cap="none" spc="0" normalizeH="0" baseline="0" dirty="0">
                        <a:ln>
                          <a:noFill/>
                        </a:ln>
                        <a:solidFill>
                          <a:srgbClr val="000000"/>
                        </a:solidFill>
                        <a:effectLst/>
                        <a:uLnTx/>
                        <a:uFillTx/>
                        <a:latin typeface="+mn-lt"/>
                        <a:ea typeface="맑은 고딕" panose="020B0503020000020004" pitchFamily="50" charset="-127"/>
                        <a:cs typeface="+mn-cs"/>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700" u="none" strike="noStrike" dirty="0">
                          <a:effectLst/>
                          <a:latin typeface="나눔고딕" panose="020D0604000000000000" pitchFamily="50" charset="-127"/>
                          <a:ea typeface="나눔고딕" panose="020D0604000000000000" pitchFamily="50" charset="-127"/>
                        </a:rPr>
                        <a:t>●</a:t>
                      </a:r>
                      <a:endParaRPr lang="ko-KR" altLang="en-US" sz="700" b="0" i="0" u="none" strike="noStrike" dirty="0">
                        <a:solidFill>
                          <a:srgbClr val="000000"/>
                        </a:solidFill>
                        <a:effectLst/>
                        <a:latin typeface="나눔고딕" panose="020D0604000000000000" pitchFamily="50" charset="-127"/>
                        <a:ea typeface="나눔고딕" panose="020D0604000000000000" pitchFamily="50" charset="-127"/>
                      </a:endParaRPr>
                    </a:p>
                  </a:txBody>
                  <a:tcPr marL="3218" marR="3218" marT="3218"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94854274"/>
                  </a:ext>
                </a:extLst>
              </a:tr>
            </a:tbl>
          </a:graphicData>
        </a:graphic>
      </p:graphicFrame>
    </p:spTree>
    <p:extLst>
      <p:ext uri="{BB962C8B-B14F-4D97-AF65-F5344CB8AC3E}">
        <p14:creationId xmlns:p14="http://schemas.microsoft.com/office/powerpoint/2010/main" val="789716580"/>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394</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7.3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070244"/>
            <a:ext cx="967509" cy="9199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627770"/>
            <a:ext cx="967509" cy="3624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1951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850693"/>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rPr>
              <a:t>입찰공고상세</a:t>
            </a:r>
            <a:endParaRPr lang="en-US" altLang="ko-KR" sz="1050" dirty="0">
              <a:solidFill>
                <a:schemeClr val="tx1"/>
              </a:solidFill>
            </a:endParaRPr>
          </a:p>
          <a:p>
            <a:pPr algn="ctr">
              <a:lnSpc>
                <a:spcPct val="120000"/>
              </a:lnSpc>
            </a:pPr>
            <a:r>
              <a:rPr lang="en-US" altLang="ko-KR" sz="1050" dirty="0">
                <a:solidFill>
                  <a:schemeClr val="tx1"/>
                </a:solidFill>
              </a:rPr>
              <a:t>AnlBfhdSpcfctDtlPage.tsx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408219"/>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rPr>
              <a:t>OvsBidPbancDtl.tsx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2965745"/>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품목 목록</a:t>
            </a:r>
            <a:endParaRPr lang="en-US" altLang="ko-KR" sz="1050" dirty="0">
              <a:solidFill>
                <a:schemeClr val="tx1"/>
              </a:solidFill>
            </a:endParaRPr>
          </a:p>
          <a:p>
            <a:pPr algn="ctr">
              <a:lnSpc>
                <a:spcPct val="120000"/>
              </a:lnSpc>
            </a:pPr>
            <a:r>
              <a:rPr lang="en-US" altLang="ko-KR" sz="1050" dirty="0">
                <a:solidFill>
                  <a:schemeClr val="tx1"/>
                </a:solidFill>
              </a:rPr>
              <a:t>OvsBidPbancDtl.tsx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265382" y="3523271"/>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rPr>
              <a:t>OvsBidPbancDtl2.tsx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265382" y="4080797"/>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환율정보조회</a:t>
            </a:r>
            <a:endParaRPr lang="en-US" altLang="ko-KR" sz="1050" dirty="0">
              <a:solidFill>
                <a:schemeClr val="tx1"/>
              </a:solidFill>
            </a:endParaRPr>
          </a:p>
          <a:p>
            <a:pPr algn="ctr">
              <a:lnSpc>
                <a:spcPct val="120000"/>
              </a:lnSpc>
            </a:pPr>
            <a:r>
              <a:rPr lang="en-US" altLang="ko-KR" sz="1050" dirty="0">
                <a:solidFill>
                  <a:schemeClr val="tx1"/>
                </a:solidFill>
              </a:rPr>
              <a:t>OvsExchrtListPage.tsx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265382" y="4638323"/>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목표가공개품목조회</a:t>
            </a:r>
            <a:endParaRPr lang="en-US" altLang="ko-KR" sz="1050" dirty="0">
              <a:solidFill>
                <a:schemeClr val="tx1"/>
              </a:solidFill>
            </a:endParaRPr>
          </a:p>
          <a:p>
            <a:pPr algn="ctr">
              <a:lnSpc>
                <a:spcPct val="120000"/>
              </a:lnSpc>
            </a:pPr>
            <a:r>
              <a:rPr lang="en-US" altLang="ko-KR" sz="1050" dirty="0">
                <a:solidFill>
                  <a:schemeClr val="tx1"/>
                </a:solidFill>
              </a:rPr>
              <a:t>OvsGoalPrcRlsItemListPage.tsx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265382" y="5195851"/>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국외 보관함 목록</a:t>
            </a:r>
            <a:endParaRPr lang="en-US" altLang="ko-KR" sz="1050" dirty="0">
              <a:solidFill>
                <a:schemeClr val="tx1"/>
              </a:solidFill>
            </a:endParaRPr>
          </a:p>
          <a:p>
            <a:pPr algn="ctr">
              <a:lnSpc>
                <a:spcPct val="120000"/>
              </a:lnSpc>
            </a:pPr>
            <a:r>
              <a:rPr lang="en-US" altLang="ko-KR" sz="1050" dirty="0">
                <a:solidFill>
                  <a:schemeClr val="tx1"/>
                </a:solidFill>
              </a:rPr>
              <a:t>OvsLockerPbanListPage.tsx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992582" y="2990174"/>
            <a:ext cx="967509" cy="7526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992582" y="2990174"/>
            <a:ext cx="967509" cy="13101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992582" y="2990174"/>
            <a:ext cx="967509" cy="18677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992582" y="2990174"/>
            <a:ext cx="967509" cy="24252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265382" y="5749940"/>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국외 보관함 상세</a:t>
            </a:r>
            <a:endParaRPr lang="en-US" altLang="ko-KR" sz="1050" dirty="0">
              <a:solidFill>
                <a:schemeClr val="tx1"/>
              </a:solidFill>
            </a:endParaRPr>
          </a:p>
          <a:p>
            <a:pPr algn="ctr">
              <a:lnSpc>
                <a:spcPct val="120000"/>
              </a:lnSpc>
            </a:pPr>
            <a:r>
              <a:rPr lang="en-US" altLang="ko-KR" sz="1050" dirty="0">
                <a:solidFill>
                  <a:schemeClr val="tx1"/>
                </a:solidFill>
              </a:rPr>
              <a:t>OvsLockerPbanDtlPage.tsx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992582" y="2990174"/>
            <a:ext cx="967509" cy="29793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326CB017-8967-4DC4-0EAD-ADB3B9EAB841}"/>
              </a:ext>
            </a:extLst>
          </p:cNvPr>
          <p:cNvSpPr/>
          <p:nvPr/>
        </p:nvSpPr>
        <p:spPr>
          <a:xfrm>
            <a:off x="3191164" y="5749940"/>
            <a:ext cx="1384466"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보관함 품목 관리</a:t>
            </a:r>
            <a:endParaRPr lang="en-US" altLang="ko-KR" sz="1050" dirty="0">
              <a:solidFill>
                <a:schemeClr val="tx1"/>
              </a:solidFill>
            </a:endParaRPr>
          </a:p>
          <a:p>
            <a:pPr algn="ctr">
              <a:lnSpc>
                <a:spcPct val="120000"/>
              </a:lnSpc>
            </a:pPr>
            <a:r>
              <a:rPr lang="en-US" altLang="ko-KR" sz="1050" dirty="0">
                <a:solidFill>
                  <a:schemeClr val="tx1"/>
                </a:solidFill>
              </a:rPr>
              <a:t>OvsLockerItemRegPage.tsx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40" name="직사각형 39">
            <a:extLst>
              <a:ext uri="{FF2B5EF4-FFF2-40B4-BE49-F238E27FC236}">
                <a16:creationId xmlns:a16="http://schemas.microsoft.com/office/drawing/2014/main" id="{BE6CF8B0-B538-B16B-F0EB-F1F49287D1E5}"/>
              </a:ext>
            </a:extLst>
          </p:cNvPr>
          <p:cNvSpPr/>
          <p:nvPr/>
        </p:nvSpPr>
        <p:spPr>
          <a:xfrm>
            <a:off x="6913418" y="3476133"/>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1100" dirty="0"/>
              <a:t>&lt;&lt;Controller&gt;&gt;</a:t>
            </a:r>
          </a:p>
          <a:p>
            <a:pPr algn="ctr"/>
            <a:r>
              <a:rPr lang="ko-KR" altLang="en-US" sz="1100" dirty="0"/>
              <a:t>국외 보관함 </a:t>
            </a:r>
            <a:r>
              <a:rPr lang="en-US" altLang="ko-KR" sz="1100" dirty="0"/>
              <a:t>Controller</a:t>
            </a:r>
          </a:p>
        </p:txBody>
      </p:sp>
      <p:cxnSp>
        <p:nvCxnSpPr>
          <p:cNvPr id="41" name="직선 연결선 40">
            <a:extLst>
              <a:ext uri="{FF2B5EF4-FFF2-40B4-BE49-F238E27FC236}">
                <a16:creationId xmlns:a16="http://schemas.microsoft.com/office/drawing/2014/main" id="{A8B10782-0A07-A41D-DB15-978B72410A31}"/>
              </a:ext>
            </a:extLst>
          </p:cNvPr>
          <p:cNvCxnSpPr>
            <a:stCxn id="9" idx="3"/>
            <a:endCxn id="40" idx="1"/>
          </p:cNvCxnSpPr>
          <p:nvPr/>
        </p:nvCxnSpPr>
        <p:spPr>
          <a:xfrm>
            <a:off x="5687291" y="2990174"/>
            <a:ext cx="1226127" cy="728939"/>
          </a:xfrm>
          <a:prstGeom prst="line">
            <a:avLst/>
          </a:prstGeom>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326CB017-8967-4DC4-0EAD-ADB3B9EAB841}"/>
              </a:ext>
            </a:extLst>
          </p:cNvPr>
          <p:cNvSpPr/>
          <p:nvPr/>
        </p:nvSpPr>
        <p:spPr>
          <a:xfrm>
            <a:off x="4634345" y="5749940"/>
            <a:ext cx="1384466"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입찰내역</a:t>
            </a:r>
            <a:r>
              <a:rPr lang="ko-KR" altLang="en-US" sz="1050" dirty="0">
                <a:solidFill>
                  <a:schemeClr val="tx1"/>
                </a:solidFill>
                <a:latin typeface="+mn-ea"/>
              </a:rPr>
              <a:t> 작성</a:t>
            </a:r>
            <a:endParaRPr lang="en-US" altLang="ko-KR" sz="1050" dirty="0">
              <a:solidFill>
                <a:schemeClr val="tx1"/>
              </a:solidFill>
            </a:endParaRPr>
          </a:p>
          <a:p>
            <a:pPr algn="ctr">
              <a:lnSpc>
                <a:spcPct val="120000"/>
              </a:lnSpc>
            </a:pPr>
            <a:r>
              <a:rPr lang="en-US" altLang="ko-KR" sz="1050" dirty="0">
                <a:solidFill>
                  <a:schemeClr val="tx1"/>
                </a:solidFill>
              </a:rPr>
              <a:t>OvsTmprBidCnRegPage.tsx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42" name="직선 화살표 연결선 41">
            <a:extLst>
              <a:ext uri="{FF2B5EF4-FFF2-40B4-BE49-F238E27FC236}">
                <a16:creationId xmlns:a16="http://schemas.microsoft.com/office/drawing/2014/main" id="{418E1257-E5C2-5705-1378-45505004ABAF}"/>
              </a:ext>
            </a:extLst>
          </p:cNvPr>
          <p:cNvCxnSpPr>
            <a:cxnSpLocks/>
            <a:stCxn id="39" idx="0"/>
            <a:endCxn id="9" idx="2"/>
          </p:cNvCxnSpPr>
          <p:nvPr/>
        </p:nvCxnSpPr>
        <p:spPr>
          <a:xfrm flipV="1">
            <a:off x="3883397" y="3810190"/>
            <a:ext cx="940294" cy="19397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직선 화살표 연결선 42">
            <a:extLst>
              <a:ext uri="{FF2B5EF4-FFF2-40B4-BE49-F238E27FC236}">
                <a16:creationId xmlns:a16="http://schemas.microsoft.com/office/drawing/2014/main" id="{418E1257-E5C2-5705-1378-45505004ABAF}"/>
              </a:ext>
            </a:extLst>
          </p:cNvPr>
          <p:cNvCxnSpPr>
            <a:cxnSpLocks/>
            <a:stCxn id="32" idx="0"/>
            <a:endCxn id="9" idx="2"/>
          </p:cNvCxnSpPr>
          <p:nvPr/>
        </p:nvCxnSpPr>
        <p:spPr>
          <a:xfrm flipH="1" flipV="1">
            <a:off x="4823691" y="3810190"/>
            <a:ext cx="502887" cy="19397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630371032"/>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입찰공고 타이틀 표시</a:t>
            </a:r>
            <a:endParaRPr lang="en-US" altLang="ko-KR" dirty="0"/>
          </a:p>
          <a:p>
            <a:pPr marL="88900" indent="-88900">
              <a:buFont typeface="+mj-lt"/>
              <a:buAutoNum type="arabicPeriod"/>
            </a:pPr>
            <a:r>
              <a:rPr lang="ko-KR" altLang="en-US" dirty="0" err="1"/>
              <a:t>단계표시기</a:t>
            </a:r>
            <a:endParaRPr lang="en-US" altLang="ko-KR" dirty="0"/>
          </a:p>
          <a:p>
            <a:pPr marL="88900" indent="-88900">
              <a:buFont typeface="+mj-lt"/>
              <a:buAutoNum type="arabicPeriod"/>
            </a:pPr>
            <a:r>
              <a:rPr lang="ko-KR" altLang="en-US" dirty="0"/>
              <a:t>탭 </a:t>
            </a:r>
            <a:r>
              <a:rPr lang="ko-KR" altLang="en-US" dirty="0" smtClean="0"/>
              <a:t>메뉴</a:t>
            </a:r>
            <a:r>
              <a:rPr lang="en-US" altLang="ko-KR" dirty="0" smtClean="0"/>
              <a:t/>
            </a:r>
            <a:br>
              <a:rPr lang="en-US" altLang="ko-KR" dirty="0" smtClean="0"/>
            </a:br>
            <a:r>
              <a:rPr lang="en-US" altLang="ko-KR" dirty="0" smtClean="0"/>
              <a:t>- </a:t>
            </a:r>
            <a:r>
              <a:rPr lang="ko-KR" altLang="en-US" dirty="0" smtClean="0"/>
              <a:t>국외 입찰공고</a:t>
            </a:r>
            <a:r>
              <a:rPr lang="en-US" altLang="ko-KR" dirty="0" smtClean="0"/>
              <a:t/>
            </a:r>
            <a:br>
              <a:rPr lang="en-US" altLang="ko-KR" dirty="0" smtClean="0"/>
            </a:br>
            <a:r>
              <a:rPr lang="en-US" altLang="ko-KR" dirty="0" smtClean="0"/>
              <a:t>  &gt; </a:t>
            </a:r>
            <a:r>
              <a:rPr lang="ko-KR" altLang="en-US" dirty="0" smtClean="0"/>
              <a:t>일반정보 탭 </a:t>
            </a:r>
            <a:r>
              <a:rPr lang="en-US" altLang="ko-KR" dirty="0"/>
              <a:t>MUI-BD-01-T71</a:t>
            </a:r>
            <a:r>
              <a:rPr lang="en-US" altLang="ko-KR" dirty="0" smtClean="0"/>
              <a:t/>
            </a:r>
            <a:br>
              <a:rPr lang="en-US" altLang="ko-KR" dirty="0" smtClean="0"/>
            </a:br>
            <a:r>
              <a:rPr lang="en-US" altLang="ko-KR" dirty="0" smtClean="0"/>
              <a:t>  &gt; </a:t>
            </a:r>
            <a:r>
              <a:rPr lang="ko-KR" altLang="en-US" dirty="0" err="1" smtClean="0"/>
              <a:t>품목목록</a:t>
            </a:r>
            <a:r>
              <a:rPr lang="ko-KR" altLang="en-US" dirty="0" smtClean="0"/>
              <a:t> 탭 </a:t>
            </a:r>
            <a:r>
              <a:rPr lang="en-US" altLang="ko-KR" dirty="0" smtClean="0"/>
              <a:t>MUI-BD-01-T72</a:t>
            </a:r>
            <a:br>
              <a:rPr lang="en-US" altLang="ko-KR" dirty="0" smtClean="0"/>
            </a:br>
            <a:r>
              <a:rPr lang="en-US" altLang="ko-KR" dirty="0" smtClean="0"/>
              <a:t>  &gt; </a:t>
            </a:r>
            <a:r>
              <a:rPr lang="ko-KR" altLang="en-US" dirty="0" smtClean="0"/>
              <a:t>첨부파일 탭 </a:t>
            </a:r>
            <a:r>
              <a:rPr lang="en-US" altLang="ko-KR" dirty="0" smtClean="0"/>
              <a:t>MUI-BD-01-T73</a:t>
            </a:r>
            <a:endParaRPr lang="en-US" altLang="ko-KR" dirty="0"/>
          </a:p>
          <a:p>
            <a:pPr marL="88900" indent="-88900">
              <a:buFont typeface="+mj-lt"/>
              <a:buAutoNum type="arabicPeriod"/>
            </a:pPr>
            <a:r>
              <a:rPr lang="ko-KR" altLang="en-US" dirty="0" smtClean="0"/>
              <a:t>각 탭에 해당하는 정보 표시 영역</a:t>
            </a:r>
            <a:endParaRPr lang="en-US" altLang="ko-KR" dirty="0" smtClean="0"/>
          </a:p>
          <a:p>
            <a:pPr marL="88900" indent="-88900">
              <a:buFont typeface="+mj-lt"/>
              <a:buAutoNum type="arabicPeriod"/>
            </a:pPr>
            <a:r>
              <a:rPr lang="ko-KR" altLang="en-US" dirty="0" smtClean="0"/>
              <a:t>추가 버튼 노출</a:t>
            </a:r>
            <a:r>
              <a:rPr lang="en-US" altLang="ko-KR" dirty="0" smtClean="0"/>
              <a:t/>
            </a:r>
            <a:br>
              <a:rPr lang="en-US" altLang="ko-KR" dirty="0" smtClean="0"/>
            </a:br>
            <a:r>
              <a:rPr lang="en-US" altLang="ko-KR" dirty="0" smtClean="0"/>
              <a:t>- </a:t>
            </a:r>
            <a:r>
              <a:rPr lang="en-US" altLang="ko-KR" dirty="0"/>
              <a:t>MUI-BD-01-P75 </a:t>
            </a:r>
            <a:r>
              <a:rPr lang="ko-KR" altLang="en-US" dirty="0" err="1" smtClean="0">
                <a:latin typeface="+mn-ea"/>
              </a:rPr>
              <a:t>목표가공개품목조회</a:t>
            </a:r>
            <a:r>
              <a:rPr lang="en-US" altLang="ko-KR" dirty="0" smtClean="0">
                <a:latin typeface="+mn-ea"/>
              </a:rPr>
              <a:t/>
            </a:r>
            <a:br>
              <a:rPr lang="en-US" altLang="ko-KR" dirty="0" smtClean="0">
                <a:latin typeface="+mn-ea"/>
              </a:rPr>
            </a:br>
            <a:r>
              <a:rPr lang="en-US" altLang="ko-KR" dirty="0" smtClean="0">
                <a:latin typeface="+mn-ea"/>
              </a:rPr>
              <a:t>- </a:t>
            </a:r>
            <a:r>
              <a:rPr lang="en-US" altLang="ko-KR" dirty="0"/>
              <a:t>MUI-BD-01-M74 </a:t>
            </a:r>
            <a:r>
              <a:rPr lang="ko-KR" altLang="en-US" dirty="0" smtClean="0">
                <a:latin typeface="+mn-ea"/>
              </a:rPr>
              <a:t>환율정보조회</a:t>
            </a:r>
            <a:r>
              <a:rPr lang="en-US" altLang="ko-KR" dirty="0"/>
              <a:t/>
            </a:r>
            <a:br>
              <a:rPr lang="en-US" altLang="ko-KR" dirty="0"/>
            </a:br>
            <a:r>
              <a:rPr lang="en-US" altLang="ko-KR" dirty="0" smtClean="0"/>
              <a:t>- </a:t>
            </a:r>
            <a:r>
              <a:rPr lang="ko-KR" altLang="en-US" dirty="0" smtClean="0"/>
              <a:t>입찰결과 </a:t>
            </a:r>
            <a:r>
              <a:rPr lang="en-US" altLang="ko-KR" dirty="0" smtClean="0"/>
              <a:t>(MUI-BD-09-M71 </a:t>
            </a:r>
            <a:r>
              <a:rPr lang="ko-KR" altLang="en-US" dirty="0" smtClean="0">
                <a:latin typeface="+mn-ea"/>
              </a:rPr>
              <a:t>입찰결과상세조회</a:t>
            </a:r>
            <a:r>
              <a:rPr lang="en-US" altLang="ko-KR" dirty="0" smtClean="0">
                <a:latin typeface="+mn-ea"/>
              </a:rPr>
              <a:t>)</a:t>
            </a:r>
            <a:br>
              <a:rPr lang="en-US" altLang="ko-KR" dirty="0" smtClean="0">
                <a:latin typeface="+mn-ea"/>
              </a:rPr>
            </a:br>
            <a:r>
              <a:rPr lang="en-US" altLang="ko-KR" dirty="0" smtClean="0">
                <a:latin typeface="+mn-ea"/>
              </a:rPr>
              <a:t>- MUI-CM-01-M71 </a:t>
            </a:r>
            <a:r>
              <a:rPr lang="ko-KR" altLang="en-US" dirty="0" smtClean="0">
                <a:latin typeface="+mn-ea"/>
              </a:rPr>
              <a:t>보관함</a:t>
            </a:r>
            <a:r>
              <a:rPr lang="en-US" altLang="ko-KR" dirty="0" smtClean="0">
                <a:latin typeface="+mn-ea"/>
              </a:rPr>
              <a:t/>
            </a:r>
            <a:br>
              <a:rPr lang="en-US" altLang="ko-KR" dirty="0" smtClean="0">
                <a:latin typeface="+mn-ea"/>
              </a:rPr>
            </a:br>
            <a:r>
              <a:rPr lang="en-US" altLang="ko-KR" dirty="0">
                <a:latin typeface="+mn-ea"/>
              </a:rPr>
              <a:t>- </a:t>
            </a:r>
            <a:r>
              <a:rPr lang="ko-KR" altLang="en-US" dirty="0" err="1" smtClean="0">
                <a:latin typeface="+mn-ea"/>
              </a:rPr>
              <a:t>이전공고입찰내역불러오기</a:t>
            </a:r>
            <a:r>
              <a:rPr lang="ko-KR" altLang="en-US" dirty="0" smtClean="0">
                <a:latin typeface="+mn-ea"/>
              </a:rPr>
              <a:t> </a:t>
            </a:r>
            <a:r>
              <a:rPr lang="en-US" altLang="ko-KR" dirty="0" smtClean="0">
                <a:latin typeface="+mn-ea"/>
              </a:rPr>
              <a:t>(MUI-BD-01-P79 </a:t>
            </a:r>
            <a:r>
              <a:rPr lang="ko-KR" altLang="en-US" dirty="0" err="1" smtClean="0">
                <a:latin typeface="+mn-ea"/>
              </a:rPr>
              <a:t>이전공고입찰내역등록</a:t>
            </a:r>
            <a:r>
              <a:rPr lang="en-US" altLang="ko-KR" dirty="0" smtClean="0">
                <a:latin typeface="+mn-ea"/>
              </a:rPr>
              <a:t>)</a:t>
            </a:r>
            <a:br>
              <a:rPr lang="en-US" altLang="ko-KR" dirty="0" smtClean="0">
                <a:latin typeface="+mn-ea"/>
              </a:rPr>
            </a:br>
            <a:r>
              <a:rPr lang="en-US" altLang="ko-KR" dirty="0" smtClean="0">
                <a:latin typeface="+mn-ea"/>
              </a:rPr>
              <a:t/>
            </a:r>
            <a:br>
              <a:rPr lang="en-US" altLang="ko-KR" dirty="0" smtClean="0">
                <a:latin typeface="+mn-ea"/>
              </a:rPr>
            </a:br>
            <a:r>
              <a:rPr lang="en-US" altLang="ko-KR" dirty="0" smtClean="0">
                <a:latin typeface="+mn-ea"/>
              </a:rPr>
              <a:t>  &gt; </a:t>
            </a:r>
            <a:r>
              <a:rPr lang="ko-KR" altLang="en-US" dirty="0" smtClean="0">
                <a:latin typeface="+mn-ea"/>
              </a:rPr>
              <a:t>화면 </a:t>
            </a:r>
            <a:r>
              <a:rPr lang="en-US" altLang="ko-KR" dirty="0" smtClean="0">
                <a:latin typeface="+mn-ea"/>
              </a:rPr>
              <a:t>ID, </a:t>
            </a:r>
            <a:r>
              <a:rPr lang="ko-KR" altLang="en-US" dirty="0" err="1" smtClean="0">
                <a:latin typeface="+mn-ea"/>
              </a:rPr>
              <a:t>화면명</a:t>
            </a:r>
            <a:r>
              <a:rPr lang="ko-KR" altLang="en-US" dirty="0" smtClean="0">
                <a:latin typeface="+mn-ea"/>
              </a:rPr>
              <a:t> 앞 별도의 명칭이 있는 경우 작성된 명칭을 </a:t>
            </a:r>
            <a:r>
              <a:rPr lang="ko-KR" altLang="en-US" dirty="0" err="1" smtClean="0">
                <a:latin typeface="+mn-ea"/>
              </a:rPr>
              <a:t>버튼명으로</a:t>
            </a:r>
            <a:r>
              <a:rPr lang="ko-KR" altLang="en-US" dirty="0" smtClean="0">
                <a:latin typeface="+mn-ea"/>
              </a:rPr>
              <a:t> 활용</a:t>
            </a:r>
            <a:r>
              <a:rPr lang="en-US" altLang="ko-KR" dirty="0" smtClean="0">
                <a:latin typeface="+mn-ea"/>
              </a:rPr>
              <a:t>. </a:t>
            </a:r>
            <a:br>
              <a:rPr lang="en-US" altLang="ko-KR" dirty="0" smtClean="0">
                <a:latin typeface="+mn-ea"/>
              </a:rPr>
            </a:br>
            <a:r>
              <a:rPr lang="en-US" altLang="ko-KR" dirty="0" smtClean="0">
                <a:latin typeface="+mn-ea"/>
              </a:rPr>
              <a:t>  &gt; </a:t>
            </a:r>
            <a:r>
              <a:rPr lang="ko-KR" altLang="en-US" dirty="0" smtClean="0">
                <a:latin typeface="+mn-ea"/>
              </a:rPr>
              <a:t>별도의 작성이 없는 경우 </a:t>
            </a:r>
            <a:r>
              <a:rPr lang="ko-KR" altLang="en-US" dirty="0" err="1" smtClean="0">
                <a:latin typeface="+mn-ea"/>
              </a:rPr>
              <a:t>화면명을</a:t>
            </a:r>
            <a:r>
              <a:rPr lang="ko-KR" altLang="en-US" dirty="0" smtClean="0">
                <a:latin typeface="+mn-ea"/>
              </a:rPr>
              <a:t> </a:t>
            </a:r>
            <a:r>
              <a:rPr lang="ko-KR" altLang="en-US" dirty="0" err="1" smtClean="0">
                <a:latin typeface="+mn-ea"/>
              </a:rPr>
              <a:t>버튼명으로</a:t>
            </a:r>
            <a:r>
              <a:rPr lang="ko-KR" altLang="en-US" dirty="0" smtClean="0">
                <a:latin typeface="+mn-ea"/>
              </a:rPr>
              <a:t> 활용</a:t>
            </a:r>
            <a:r>
              <a:rPr lang="en-US" altLang="ko-KR" dirty="0" smtClean="0">
                <a:latin typeface="+mn-ea"/>
              </a:rPr>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395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a:xfrm>
            <a:off x="956623" y="759997"/>
            <a:ext cx="1404000" cy="193878"/>
          </a:xfrm>
        </p:spPr>
        <p:txBody>
          <a:bodyPr/>
          <a:lstStyle/>
          <a:p>
            <a:r>
              <a:rPr lang="en-US" altLang="ko-KR" dirty="0">
                <a:solidFill>
                  <a:srgbClr val="000000"/>
                </a:solidFill>
                <a:latin typeface="맑은 고딕" panose="020B0503020000020004" pitchFamily="50" charset="-127"/>
              </a:rPr>
              <a:t>MUI-BD-01-M71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237114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71" name="타원 270">
            <a:extLst>
              <a:ext uri="{FF2B5EF4-FFF2-40B4-BE49-F238E27FC236}">
                <a16:creationId xmlns:a16="http://schemas.microsoft.com/office/drawing/2014/main" id="{37A7FF4F-0EAA-1463-560A-D5EC24416103}"/>
              </a:ext>
            </a:extLst>
          </p:cNvPr>
          <p:cNvSpPr/>
          <p:nvPr/>
        </p:nvSpPr>
        <p:spPr>
          <a:xfrm>
            <a:off x="571127" y="369640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44220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18592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1642639"/>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1642639"/>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4994275" y="1642639"/>
            <a:ext cx="414132" cy="107722"/>
          </a:xfrm>
          <a:prstGeom prst="rect">
            <a:avLst/>
          </a:prstGeom>
          <a:noFill/>
        </p:spPr>
        <p:txBody>
          <a:bodyPr wrap="square" lIns="0" tIns="0" rIns="0" bIns="0" rtlCol="0">
            <a:spAutoFit/>
          </a:bodyPr>
          <a:lstStyle/>
          <a:p>
            <a:pPr algn="ctr"/>
            <a:r>
              <a:rPr lang="ko-KR" altLang="en-US" sz="700" dirty="0">
                <a:latin typeface="+mn-ea"/>
              </a:rPr>
              <a:t>첨부서류</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1859246"/>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1604516"/>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51" name="TextBox 250">
            <a:extLst>
              <a:ext uri="{FF2B5EF4-FFF2-40B4-BE49-F238E27FC236}">
                <a16:creationId xmlns:a16="http://schemas.microsoft.com/office/drawing/2014/main" id="{FFC49AEA-2A8F-250C-A86A-A7751D9706C3}"/>
              </a:ext>
            </a:extLst>
          </p:cNvPr>
          <p:cNvSpPr txBox="1"/>
          <p:nvPr/>
        </p:nvSpPr>
        <p:spPr>
          <a:xfrm>
            <a:off x="3884993" y="196557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52" name="그룹 251"/>
          <p:cNvGrpSpPr/>
          <p:nvPr/>
        </p:nvGrpSpPr>
        <p:grpSpPr>
          <a:xfrm flipV="1">
            <a:off x="6247080" y="2078908"/>
            <a:ext cx="94010" cy="47005"/>
            <a:chOff x="6812560" y="3297172"/>
            <a:chExt cx="94010" cy="47005"/>
          </a:xfrm>
        </p:grpSpPr>
        <p:cxnSp>
          <p:nvCxnSpPr>
            <p:cNvPr id="253" name="직선 연결선 2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1" name="직선 연결선 2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2" name="직사각형 261"/>
          <p:cNvSpPr/>
          <p:nvPr/>
        </p:nvSpPr>
        <p:spPr>
          <a:xfrm>
            <a:off x="3826115" y="2273062"/>
            <a:ext cx="792000" cy="1092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24022" y="227306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TextBox 263">
            <a:extLst>
              <a:ext uri="{FF2B5EF4-FFF2-40B4-BE49-F238E27FC236}">
                <a16:creationId xmlns:a16="http://schemas.microsoft.com/office/drawing/2014/main" id="{FFC49AEA-2A8F-250C-A86A-A7751D9706C3}"/>
              </a:ext>
            </a:extLst>
          </p:cNvPr>
          <p:cNvSpPr txBox="1"/>
          <p:nvPr/>
        </p:nvSpPr>
        <p:spPr>
          <a:xfrm>
            <a:off x="3913179" y="2273062"/>
            <a:ext cx="670770" cy="107721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en-US" altLang="ko-KR" sz="700" dirty="0">
                <a:latin typeface="+mn-ea"/>
              </a:rPr>
              <a:t>⁞</a:t>
            </a:r>
          </a:p>
        </p:txBody>
      </p:sp>
      <p:sp>
        <p:nvSpPr>
          <p:cNvPr id="265" name="TextBox 264">
            <a:extLst>
              <a:ext uri="{FF2B5EF4-FFF2-40B4-BE49-F238E27FC236}">
                <a16:creationId xmlns:a16="http://schemas.microsoft.com/office/drawing/2014/main" id="{FFC49AEA-2A8F-250C-A86A-A7751D9706C3}"/>
              </a:ext>
            </a:extLst>
          </p:cNvPr>
          <p:cNvSpPr txBox="1"/>
          <p:nvPr/>
        </p:nvSpPr>
        <p:spPr>
          <a:xfrm>
            <a:off x="4670027" y="2273062"/>
            <a:ext cx="1814470" cy="1077218"/>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a:t>
            </a:r>
          </a:p>
        </p:txBody>
      </p:sp>
      <p:cxnSp>
        <p:nvCxnSpPr>
          <p:cNvPr id="266" name="직선 연결선 265">
            <a:extLst>
              <a:ext uri="{FF2B5EF4-FFF2-40B4-BE49-F238E27FC236}">
                <a16:creationId xmlns:a16="http://schemas.microsoft.com/office/drawing/2014/main" id="{E9293055-D5CD-4B9E-7F64-64B2D2CA7A52}"/>
              </a:ext>
            </a:extLst>
          </p:cNvPr>
          <p:cNvCxnSpPr/>
          <p:nvPr/>
        </p:nvCxnSpPr>
        <p:spPr>
          <a:xfrm>
            <a:off x="3826115" y="25041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6115" y="27178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6115" y="2931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26115" y="31452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1" name="직선 연결선 280">
            <a:extLst>
              <a:ext uri="{FF2B5EF4-FFF2-40B4-BE49-F238E27FC236}">
                <a16:creationId xmlns:a16="http://schemas.microsoft.com/office/drawing/2014/main" id="{E9293055-D5CD-4B9E-7F64-64B2D2CA7A52}"/>
              </a:ext>
            </a:extLst>
          </p:cNvPr>
          <p:cNvCxnSpPr/>
          <p:nvPr/>
        </p:nvCxnSpPr>
        <p:spPr>
          <a:xfrm>
            <a:off x="3826115" y="33589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모서리가 둥근 직사각형 281"/>
          <p:cNvSpPr/>
          <p:nvPr/>
        </p:nvSpPr>
        <p:spPr>
          <a:xfrm rot="5400000">
            <a:off x="6098765" y="2518832"/>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319" name="직선 연결선 318">
            <a:extLst>
              <a:ext uri="{FF2B5EF4-FFF2-40B4-BE49-F238E27FC236}">
                <a16:creationId xmlns:a16="http://schemas.microsoft.com/office/drawing/2014/main" id="{E9293055-D5CD-4B9E-7F64-64B2D2CA7A52}"/>
              </a:ext>
            </a:extLst>
          </p:cNvPr>
          <p:cNvCxnSpPr/>
          <p:nvPr/>
        </p:nvCxnSpPr>
        <p:spPr>
          <a:xfrm>
            <a:off x="3795734" y="349106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2" name="타원 331">
            <a:extLst>
              <a:ext uri="{FF2B5EF4-FFF2-40B4-BE49-F238E27FC236}">
                <a16:creationId xmlns:a16="http://schemas.microsoft.com/office/drawing/2014/main" id="{37A7FF4F-0EAA-1463-560A-D5EC24416103}"/>
              </a:ext>
            </a:extLst>
          </p:cNvPr>
          <p:cNvSpPr/>
          <p:nvPr/>
        </p:nvSpPr>
        <p:spPr>
          <a:xfrm>
            <a:off x="3717693" y="199921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6" name="그룹 5"/>
          <p:cNvGrpSpPr/>
          <p:nvPr/>
        </p:nvGrpSpPr>
        <p:grpSpPr>
          <a:xfrm>
            <a:off x="675399" y="2268652"/>
            <a:ext cx="2717198" cy="4385362"/>
            <a:chOff x="675399" y="2114682"/>
            <a:chExt cx="2717198" cy="4385362"/>
          </a:xfrm>
        </p:grpSpPr>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114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5" name="TextBox 58">
              <a:extLst>
                <a:ext uri="{FF2B5EF4-FFF2-40B4-BE49-F238E27FC236}">
                  <a16:creationId xmlns:a16="http://schemas.microsoft.com/office/drawing/2014/main" id="{02FC114B-B48B-345F-BD70-2B5A196F5B3E}"/>
                </a:ext>
              </a:extLst>
            </p:cNvPr>
            <p:cNvSpPr txBox="1"/>
            <p:nvPr/>
          </p:nvSpPr>
          <p:spPr>
            <a:xfrm>
              <a:off x="781461" y="2426155"/>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EFD0007-2</a:t>
              </a:r>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761220"/>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745831"/>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2025-11-22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2241824"/>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68" name="모서리가 둥근 직사각형 67"/>
            <p:cNvSpPr/>
            <p:nvPr/>
          </p:nvSpPr>
          <p:spPr>
            <a:xfrm>
              <a:off x="1075655" y="2241824"/>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7803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412154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814062"/>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84540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927393"/>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3058822" y="2217721"/>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4759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4259353"/>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4259353"/>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1890743" y="4259353"/>
              <a:ext cx="414132" cy="107722"/>
            </a:xfrm>
            <a:prstGeom prst="rect">
              <a:avLst/>
            </a:prstGeom>
            <a:noFill/>
          </p:spPr>
          <p:txBody>
            <a:bodyPr wrap="square" lIns="0" tIns="0" rIns="0" bIns="0" rtlCol="0">
              <a:spAutoFit/>
            </a:bodyPr>
            <a:lstStyle/>
            <a:p>
              <a:pPr algn="ctr"/>
              <a:r>
                <a:rPr lang="ko-KR" altLang="en-US" sz="700" dirty="0">
                  <a:latin typeface="+mn-ea"/>
                </a:rPr>
                <a:t>첨부서류</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47596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422123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58229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695622"/>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889776"/>
              <a:ext cx="792000" cy="16102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88977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889776"/>
              <a:ext cx="670770"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889776"/>
              <a:ext cx="1814470"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2025LDG56349</a:t>
              </a:r>
            </a:p>
            <a:p>
              <a:pPr>
                <a:lnSpc>
                  <a:spcPct val="200000"/>
                </a:lnSpc>
              </a:pPr>
              <a:r>
                <a:rPr lang="en-US" altLang="ko-KR" sz="700" dirty="0">
                  <a:latin typeface="+mn-ea"/>
                </a:rPr>
                <a:t>1 AY</a:t>
              </a:r>
            </a:p>
            <a:p>
              <a:pPr>
                <a:lnSpc>
                  <a:spcPct val="200000"/>
                </a:lnSpc>
              </a:pPr>
              <a:r>
                <a:rPr lang="ko-KR" altLang="en-US" sz="700" dirty="0">
                  <a:latin typeface="+mn-ea"/>
                </a:rPr>
                <a:t>제조</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5120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3345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5482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7620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9757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61894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64031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42263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575454"/>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504975"/>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575454"/>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575454"/>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504975"/>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504975"/>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grpSp>
          <p:nvGrpSpPr>
            <p:cNvPr id="166" name="그룹 165"/>
            <p:cNvGrpSpPr/>
            <p:nvPr/>
          </p:nvGrpSpPr>
          <p:grpSpPr>
            <a:xfrm>
              <a:off x="2714860" y="3504975"/>
              <a:ext cx="603798" cy="187961"/>
              <a:chOff x="2714860" y="3237230"/>
              <a:chExt cx="603798" cy="187961"/>
            </a:xfrm>
          </p:grpSpPr>
          <p:grpSp>
            <p:nvGrpSpPr>
              <p:cNvPr id="167" name="그룹 166"/>
              <p:cNvGrpSpPr/>
              <p:nvPr/>
            </p:nvGrpSpPr>
            <p:grpSpPr>
              <a:xfrm>
                <a:off x="2714860" y="3237230"/>
                <a:ext cx="187961" cy="187961"/>
                <a:chOff x="2714860" y="3237230"/>
                <a:chExt cx="187961" cy="187961"/>
              </a:xfrm>
            </p:grpSpPr>
            <p:sp>
              <p:nvSpPr>
                <p:cNvPr id="169" name="타원 168"/>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68" name="TextBox 167">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1" name="그룹 170"/>
            <p:cNvGrpSpPr/>
            <p:nvPr/>
          </p:nvGrpSpPr>
          <p:grpSpPr>
            <a:xfrm rot="5400000">
              <a:off x="3158978" y="3500340"/>
              <a:ext cx="187961" cy="187961"/>
              <a:chOff x="3876200" y="2234886"/>
              <a:chExt cx="187961" cy="187961"/>
            </a:xfrm>
          </p:grpSpPr>
          <p:sp>
            <p:nvSpPr>
              <p:cNvPr id="172" name="타원 17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3" name="그룹 172"/>
              <p:cNvGrpSpPr/>
              <p:nvPr/>
            </p:nvGrpSpPr>
            <p:grpSpPr>
              <a:xfrm rot="16200000">
                <a:off x="3931564" y="2305364"/>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sp>
        <p:nvSpPr>
          <p:cNvPr id="145" name="TextBox 144">
            <a:extLst>
              <a:ext uri="{FF2B5EF4-FFF2-40B4-BE49-F238E27FC236}">
                <a16:creationId xmlns:a16="http://schemas.microsoft.com/office/drawing/2014/main" id="{FFC49AEA-2A8F-250C-A86A-A7751D9706C3}"/>
              </a:ext>
            </a:extLst>
          </p:cNvPr>
          <p:cNvSpPr txBox="1"/>
          <p:nvPr/>
        </p:nvSpPr>
        <p:spPr>
          <a:xfrm>
            <a:off x="1558854" y="2030452"/>
            <a:ext cx="945116"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7" name="그룹 146"/>
          <p:cNvGrpSpPr/>
          <p:nvPr/>
        </p:nvGrpSpPr>
        <p:grpSpPr>
          <a:xfrm rot="5400000">
            <a:off x="852159" y="2062596"/>
            <a:ext cx="94010" cy="47005"/>
            <a:chOff x="6812560" y="3297172"/>
            <a:chExt cx="94010" cy="47005"/>
          </a:xfrm>
        </p:grpSpPr>
        <p:cxnSp>
          <p:nvCxnSpPr>
            <p:cNvPr id="148" name="직선 연결선 14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9" name="직선 연결선 14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0" name="그룹 149"/>
          <p:cNvGrpSpPr/>
          <p:nvPr/>
        </p:nvGrpSpPr>
        <p:grpSpPr>
          <a:xfrm>
            <a:off x="677960" y="1582647"/>
            <a:ext cx="2712027" cy="324286"/>
            <a:chOff x="677960" y="1582647"/>
            <a:chExt cx="2712027" cy="324286"/>
          </a:xfrm>
        </p:grpSpPr>
        <p:pic>
          <p:nvPicPr>
            <p:cNvPr id="151"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52" name="직선 연결선 151">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4" name="타원 153"/>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5" name="타원 154"/>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8" name="그룹 157"/>
          <p:cNvGrpSpPr/>
          <p:nvPr/>
        </p:nvGrpSpPr>
        <p:grpSpPr>
          <a:xfrm>
            <a:off x="8223250" y="569392"/>
            <a:ext cx="3365500" cy="634511"/>
            <a:chOff x="8223250" y="569392"/>
            <a:chExt cx="3365500" cy="634511"/>
          </a:xfrm>
        </p:grpSpPr>
        <p:sp>
          <p:nvSpPr>
            <p:cNvPr id="159" name="직사각형 158"/>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2026-07-06 </a:t>
              </a:r>
              <a:r>
                <a:rPr lang="ko-KR" altLang="en-US" dirty="0"/>
                <a:t>화면 수정</a:t>
              </a:r>
            </a:p>
          </p:txBody>
        </p:sp>
        <p:sp>
          <p:nvSpPr>
            <p:cNvPr id="160" name="직사각형 159"/>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sym typeface="Wingdings" panose="05000000000000000000" pitchFamily="2" charset="2"/>
                </a:rPr>
                <a:t>디렉션</a:t>
              </a:r>
              <a:r>
                <a:rPr lang="ko-KR" altLang="en-US" sz="700" dirty="0" smtClean="0">
                  <a:sym typeface="Wingdings" panose="05000000000000000000" pitchFamily="2" charset="2"/>
                </a:rPr>
                <a:t> 설명 추가</a:t>
              </a:r>
              <a:endParaRPr lang="en-US" altLang="ko-KR" sz="700" dirty="0"/>
            </a:p>
          </p:txBody>
        </p:sp>
      </p:grpSp>
      <p:sp>
        <p:nvSpPr>
          <p:cNvPr id="157" name="TextBox 156">
            <a:extLst>
              <a:ext uri="{FF2B5EF4-FFF2-40B4-BE49-F238E27FC236}">
                <a16:creationId xmlns:a16="http://schemas.microsoft.com/office/drawing/2014/main" id="{FFC49AEA-2A8F-250C-A86A-A7751D9706C3}"/>
              </a:ext>
            </a:extLst>
          </p:cNvPr>
          <p:cNvSpPr txBox="1"/>
          <p:nvPr/>
        </p:nvSpPr>
        <p:spPr>
          <a:xfrm>
            <a:off x="3927928" y="3860460"/>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sp>
        <p:nvSpPr>
          <p:cNvPr id="161" name="양쪽 모서리가 둥근 사각형 160"/>
          <p:cNvSpPr/>
          <p:nvPr/>
        </p:nvSpPr>
        <p:spPr>
          <a:xfrm>
            <a:off x="3795734" y="3683975"/>
            <a:ext cx="2712027" cy="2548324"/>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62" name="모서리가 둥근 직사각형 161"/>
          <p:cNvSpPr/>
          <p:nvPr/>
        </p:nvSpPr>
        <p:spPr>
          <a:xfrm>
            <a:off x="4881747" y="3720602"/>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3" name="그룹 162"/>
          <p:cNvGrpSpPr/>
          <p:nvPr/>
        </p:nvGrpSpPr>
        <p:grpSpPr>
          <a:xfrm>
            <a:off x="6284673" y="3855018"/>
            <a:ext cx="94010" cy="94010"/>
            <a:chOff x="6812560" y="3297172"/>
            <a:chExt cx="94010" cy="94010"/>
          </a:xfrm>
        </p:grpSpPr>
        <p:cxnSp>
          <p:nvCxnSpPr>
            <p:cNvPr id="164" name="직선 연결선 16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5" name="직선 연결선 16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76" name="TextBox 175">
            <a:extLst>
              <a:ext uri="{FF2B5EF4-FFF2-40B4-BE49-F238E27FC236}">
                <a16:creationId xmlns:a16="http://schemas.microsoft.com/office/drawing/2014/main" id="{FFC49AEA-2A8F-250C-A86A-A7751D9706C3}"/>
              </a:ext>
            </a:extLst>
          </p:cNvPr>
          <p:cNvSpPr txBox="1"/>
          <p:nvPr/>
        </p:nvSpPr>
        <p:spPr>
          <a:xfrm>
            <a:off x="3924811" y="3835697"/>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795734" y="40970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8" name="모서리가 둥근 직사각형 40">
            <a:extLst>
              <a:ext uri="{FF2B5EF4-FFF2-40B4-BE49-F238E27FC236}">
                <a16:creationId xmlns:a16="http://schemas.microsoft.com/office/drawing/2014/main" id="{3BE5C28A-F0C3-8BA2-3AC1-EFA405ADE137}"/>
              </a:ext>
            </a:extLst>
          </p:cNvPr>
          <p:cNvSpPr/>
          <p:nvPr/>
        </p:nvSpPr>
        <p:spPr bwMode="auto">
          <a:xfrm>
            <a:off x="3888037" y="420938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rPr>
              <a:t>입찰결과상세조회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79" name="모서리가 둥근 직사각형 40">
            <a:extLst>
              <a:ext uri="{FF2B5EF4-FFF2-40B4-BE49-F238E27FC236}">
                <a16:creationId xmlns:a16="http://schemas.microsoft.com/office/drawing/2014/main" id="{3BE5C28A-F0C3-8BA2-3AC1-EFA405ADE137}"/>
              </a:ext>
            </a:extLst>
          </p:cNvPr>
          <p:cNvSpPr/>
          <p:nvPr/>
        </p:nvSpPr>
        <p:spPr bwMode="auto">
          <a:xfrm>
            <a:off x="3888037" y="450863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보관함</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80" name="모서리가 둥근 직사각형 40">
            <a:extLst>
              <a:ext uri="{FF2B5EF4-FFF2-40B4-BE49-F238E27FC236}">
                <a16:creationId xmlns:a16="http://schemas.microsoft.com/office/drawing/2014/main" id="{3BE5C28A-F0C3-8BA2-3AC1-EFA405ADE137}"/>
              </a:ext>
            </a:extLst>
          </p:cNvPr>
          <p:cNvSpPr/>
          <p:nvPr/>
        </p:nvSpPr>
        <p:spPr bwMode="auto">
          <a:xfrm>
            <a:off x="3888037" y="480788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a:solidFill>
                  <a:schemeClr val="bg1"/>
                </a:solidFill>
                <a:latin typeface="맑은 고딕" panose="020B0503020000020004" pitchFamily="50" charset="-127"/>
              </a:rPr>
              <a:t>목표가공개품목조회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83" name="모서리가 둥근 직사각형 40">
            <a:extLst>
              <a:ext uri="{FF2B5EF4-FFF2-40B4-BE49-F238E27FC236}">
                <a16:creationId xmlns:a16="http://schemas.microsoft.com/office/drawing/2014/main" id="{3BE5C28A-F0C3-8BA2-3AC1-EFA405ADE137}"/>
              </a:ext>
            </a:extLst>
          </p:cNvPr>
          <p:cNvSpPr/>
          <p:nvPr/>
        </p:nvSpPr>
        <p:spPr bwMode="auto">
          <a:xfrm>
            <a:off x="3888037" y="510713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입찰취소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84" name="사각형: 둥근 모서리 15">
            <a:extLst>
              <a:ext uri="{FF2B5EF4-FFF2-40B4-BE49-F238E27FC236}">
                <a16:creationId xmlns:a16="http://schemas.microsoft.com/office/drawing/2014/main" id="{E2B61CFB-AD16-68D0-8752-50D9C5E01971}"/>
              </a:ext>
            </a:extLst>
          </p:cNvPr>
          <p:cNvSpPr/>
          <p:nvPr/>
        </p:nvSpPr>
        <p:spPr>
          <a:xfrm>
            <a:off x="3885476" y="5406390"/>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sp>
        <p:nvSpPr>
          <p:cNvPr id="156" name="타원 155">
            <a:extLst>
              <a:ext uri="{FF2B5EF4-FFF2-40B4-BE49-F238E27FC236}">
                <a16:creationId xmlns:a16="http://schemas.microsoft.com/office/drawing/2014/main" id="{37A7FF4F-0EAA-1463-560A-D5EC24416103}"/>
              </a:ext>
            </a:extLst>
          </p:cNvPr>
          <p:cNvSpPr/>
          <p:nvPr/>
        </p:nvSpPr>
        <p:spPr>
          <a:xfrm>
            <a:off x="3676887" y="413105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
        <p:nvSpPr>
          <p:cNvPr id="185" name="사각형: 둥근 모서리 15">
            <a:extLst>
              <a:ext uri="{FF2B5EF4-FFF2-40B4-BE49-F238E27FC236}">
                <a16:creationId xmlns:a16="http://schemas.microsoft.com/office/drawing/2014/main" id="{E2B61CFB-AD16-68D0-8752-50D9C5E01971}"/>
              </a:ext>
            </a:extLst>
          </p:cNvPr>
          <p:cNvSpPr/>
          <p:nvPr/>
        </p:nvSpPr>
        <p:spPr>
          <a:xfrm>
            <a:off x="3885476" y="5683932"/>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3435296432"/>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396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solidFill>
                  <a:srgbClr val="000000"/>
                </a:solidFill>
                <a:latin typeface="맑은 고딕" panose="020B0503020000020004" pitchFamily="50" charset="-127"/>
              </a:rPr>
              <a:t>MUI-BD-01-T71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3754583"/>
            <a:chOff x="701175" y="1527996"/>
            <a:chExt cx="2630093" cy="375458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34358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00692" cy="344709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a:latin typeface="+mn-ea"/>
                </a:rPr>
                <a:t>입찰방식</a:t>
              </a:r>
            </a:p>
            <a:p>
              <a:pPr>
                <a:lnSpc>
                  <a:spcPct val="200000"/>
                </a:lnSpc>
              </a:pPr>
              <a:r>
                <a:rPr lang="ko-KR" altLang="en-US" sz="700" dirty="0" err="1">
                  <a:latin typeface="+mn-ea"/>
                </a:rPr>
                <a:t>총금액</a:t>
              </a:r>
              <a:endParaRPr lang="ko-KR" altLang="en-US" sz="700" dirty="0">
                <a:latin typeface="+mn-ea"/>
              </a:endParaRPr>
            </a:p>
            <a:p>
              <a:pPr>
                <a:lnSpc>
                  <a:spcPct val="200000"/>
                </a:lnSpc>
              </a:pPr>
              <a:r>
                <a:rPr lang="ko-KR" altLang="en-US" sz="700" dirty="0">
                  <a:latin typeface="+mn-ea"/>
                </a:rPr>
                <a:t>환율적용일자</a:t>
              </a:r>
            </a:p>
            <a:p>
              <a:pPr>
                <a:lnSpc>
                  <a:spcPct val="200000"/>
                </a:lnSpc>
              </a:pPr>
              <a:r>
                <a:rPr lang="ko-KR" altLang="en-US" sz="700" dirty="0" err="1">
                  <a:latin typeface="+mn-ea"/>
                </a:rPr>
                <a:t>공고품목수</a:t>
              </a:r>
              <a:endParaRPr lang="ko-KR" altLang="en-US" sz="700" dirty="0">
                <a:latin typeface="+mn-ea"/>
              </a:endParaRPr>
            </a:p>
            <a:p>
              <a:pPr>
                <a:lnSpc>
                  <a:spcPct val="200000"/>
                </a:lnSpc>
              </a:pPr>
              <a:endParaRPr lang="ko-KR" altLang="en-US" sz="700" dirty="0">
                <a:latin typeface="+mn-ea"/>
              </a:endParaRPr>
            </a:p>
            <a:p>
              <a:pPr>
                <a:lnSpc>
                  <a:spcPct val="200000"/>
                </a:lnSpc>
              </a:pPr>
              <a:endParaRPr lang="ko-KR" altLang="en-US"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3447098"/>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ko-KR" altLang="en-US"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ko-KR" altLang="en-US" sz="700" dirty="0">
                <a:latin typeface="+mn-ea"/>
              </a:endParaRPr>
            </a:p>
            <a:p>
              <a:pPr>
                <a:lnSpc>
                  <a:spcPct val="200000"/>
                </a:lnSpc>
              </a:pPr>
              <a:r>
                <a:rPr lang="ko-KR" altLang="en-US" sz="700" dirty="0">
                  <a:latin typeface="+mn-ea"/>
                </a:rPr>
                <a:t>전자입찰</a:t>
              </a:r>
            </a:p>
            <a:p>
              <a:pPr>
                <a:lnSpc>
                  <a:spcPct val="200000"/>
                </a:lnSpc>
              </a:pPr>
              <a:r>
                <a:rPr lang="ko-KR" altLang="en-US" sz="700" dirty="0">
                  <a:latin typeface="+mn-ea"/>
                </a:rPr>
                <a:t>일반경쟁</a:t>
              </a:r>
            </a:p>
            <a:p>
              <a:pPr>
                <a:lnSpc>
                  <a:spcPct val="200000"/>
                </a:lnSpc>
              </a:pPr>
              <a:r>
                <a:rPr lang="ko-KR" altLang="en-US" sz="700" dirty="0" err="1">
                  <a:latin typeface="+mn-ea"/>
                </a:rPr>
                <a:t>일반투찰</a:t>
              </a:r>
              <a:endParaRPr lang="ko-KR" altLang="en-US"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2025-02-13</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p:txBody>
        </p:sp>
        <p:grpSp>
          <p:nvGrpSpPr>
            <p:cNvPr id="17" name="그룹 16"/>
            <p:cNvGrpSpPr/>
            <p:nvPr/>
          </p:nvGrpSpPr>
          <p:grpSpPr>
            <a:xfrm>
              <a:off x="701175" y="1835481"/>
              <a:ext cx="2630093" cy="3435840"/>
              <a:chOff x="701175" y="1835481"/>
              <a:chExt cx="2630093" cy="34358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4629327"/>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4846415"/>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3795735" y="1527996"/>
            <a:ext cx="2712026" cy="899454"/>
            <a:chOff x="3795735" y="4615832"/>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4729163"/>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spTree>
    <p:extLst>
      <p:ext uri="{BB962C8B-B14F-4D97-AF65-F5344CB8AC3E}">
        <p14:creationId xmlns:p14="http://schemas.microsoft.com/office/powerpoint/2010/main" val="257161909"/>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a:t>
            </a:r>
            <a:r>
              <a:rPr lang="ko-KR" altLang="en-US" dirty="0" smtClean="0"/>
              <a:t>영역</a:t>
            </a:r>
            <a:endParaRPr lang="en-US" altLang="ko-KR" dirty="0" smtClean="0"/>
          </a:p>
          <a:p>
            <a:pPr>
              <a:buFont typeface="+mj-lt"/>
              <a:buAutoNum type="arabicPeriod"/>
            </a:pPr>
            <a:endParaRPr lang="en-US" altLang="ko-KR" dirty="0"/>
          </a:p>
          <a:p>
            <a:pPr>
              <a:buFont typeface="+mj-lt"/>
              <a:buAutoNum type="arabicPeriod"/>
            </a:pPr>
            <a:r>
              <a:rPr lang="ko-KR" altLang="en-US" dirty="0" err="1"/>
              <a:t>첨부문서</a:t>
            </a:r>
            <a:r>
              <a:rPr lang="ko-KR" altLang="en-US" dirty="0"/>
              <a:t> 클릭 </a:t>
            </a:r>
            <a:r>
              <a:rPr lang="ko-KR" altLang="en-US" dirty="0" smtClean="0"/>
              <a:t>이벤트</a:t>
            </a:r>
            <a:r>
              <a:rPr lang="en-US" altLang="ko-KR" dirty="0"/>
              <a:t/>
            </a:r>
            <a:br>
              <a:rPr lang="en-US" altLang="ko-KR" dirty="0"/>
            </a:br>
            <a:r>
              <a:rPr lang="en-US" altLang="ko-KR" dirty="0" smtClean="0">
                <a:solidFill>
                  <a:srgbClr val="FF0000"/>
                </a:solidFill>
              </a:rPr>
              <a:t>- </a:t>
            </a:r>
            <a:r>
              <a:rPr lang="ko-KR" altLang="en-US" dirty="0">
                <a:solidFill>
                  <a:srgbClr val="FF0000"/>
                </a:solidFill>
              </a:rPr>
              <a:t>첨부파일 조회 </a:t>
            </a:r>
            <a:r>
              <a:rPr lang="en-US" altLang="ko-KR" dirty="0" smtClean="0">
                <a:solidFill>
                  <a:srgbClr val="FF0000"/>
                </a:solidFill>
                <a:latin typeface="맑은 고딕" panose="020B0503020000020004" pitchFamily="50" charset="-127"/>
              </a:rPr>
              <a:t>MUI-BD-01-P76 </a:t>
            </a:r>
            <a:r>
              <a:rPr lang="ko-KR" altLang="en-US" dirty="0" smtClean="0">
                <a:solidFill>
                  <a:srgbClr val="FF0000"/>
                </a:solidFill>
                <a:latin typeface="맑은 고딕" panose="020B0503020000020004" pitchFamily="50" charset="-127"/>
              </a:rPr>
              <a:t>팝업 호출</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a:t>
            </a:r>
            <a:r>
              <a:rPr lang="ko-KR" altLang="en-US" dirty="0" err="1" smtClean="0">
                <a:solidFill>
                  <a:srgbClr val="FF0000"/>
                </a:solidFill>
              </a:rPr>
              <a:t>첨부문서</a:t>
            </a:r>
            <a:r>
              <a:rPr lang="ko-KR" altLang="en-US" dirty="0" smtClean="0">
                <a:solidFill>
                  <a:srgbClr val="FF0000"/>
                </a:solidFill>
              </a:rPr>
              <a:t> 유무를 </a:t>
            </a:r>
            <a:r>
              <a:rPr lang="en-US" altLang="ko-KR" dirty="0" smtClean="0">
                <a:solidFill>
                  <a:srgbClr val="FF0000"/>
                </a:solidFill>
              </a:rPr>
              <a:t>O, X</a:t>
            </a:r>
            <a:r>
              <a:rPr lang="ko-KR" altLang="en-US" dirty="0" smtClean="0">
                <a:solidFill>
                  <a:srgbClr val="FF0000"/>
                </a:solidFill>
              </a:rPr>
              <a:t>로 표시</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a:t>
            </a:r>
            <a:r>
              <a:rPr lang="ko-KR" altLang="en-US" dirty="0" err="1" smtClean="0">
                <a:solidFill>
                  <a:srgbClr val="FF0000"/>
                </a:solidFill>
              </a:rPr>
              <a:t>첨부문서가</a:t>
            </a:r>
            <a:r>
              <a:rPr lang="ko-KR" altLang="en-US" dirty="0" smtClean="0">
                <a:solidFill>
                  <a:srgbClr val="FF0000"/>
                </a:solidFill>
              </a:rPr>
              <a:t> 있는 경우 보기 버튼 표시</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&gt; </a:t>
            </a:r>
            <a:r>
              <a:rPr lang="ko-KR" altLang="en-US" dirty="0" smtClean="0">
                <a:solidFill>
                  <a:srgbClr val="FF0000"/>
                </a:solidFill>
              </a:rPr>
              <a:t>클릭 시 해당 품목의 첨부파일을 </a:t>
            </a:r>
            <a:r>
              <a:rPr lang="ko-KR" altLang="en-US" dirty="0" err="1" smtClean="0">
                <a:solidFill>
                  <a:srgbClr val="FF0000"/>
                </a:solidFill>
              </a:rPr>
              <a:t>바텀</a:t>
            </a:r>
            <a:r>
              <a:rPr lang="ko-KR" altLang="en-US" dirty="0" smtClean="0">
                <a:solidFill>
                  <a:srgbClr val="FF0000"/>
                </a:solidFill>
              </a:rPr>
              <a:t> 시트로 표시</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a:t>
            </a:r>
            <a:r>
              <a:rPr lang="ko-KR" altLang="en-US" dirty="0" err="1" smtClean="0">
                <a:solidFill>
                  <a:srgbClr val="FF0000"/>
                </a:solidFill>
              </a:rPr>
              <a:t>첨부문서가</a:t>
            </a:r>
            <a:r>
              <a:rPr lang="ko-KR" altLang="en-US" dirty="0" smtClean="0">
                <a:solidFill>
                  <a:srgbClr val="FF0000"/>
                </a:solidFill>
              </a:rPr>
              <a:t> </a:t>
            </a:r>
            <a:r>
              <a:rPr lang="en-US" altLang="ko-KR" dirty="0" smtClean="0">
                <a:solidFill>
                  <a:srgbClr val="FF0000"/>
                </a:solidFill>
              </a:rPr>
              <a:t>X</a:t>
            </a:r>
            <a:r>
              <a:rPr lang="ko-KR" altLang="en-US" dirty="0" smtClean="0">
                <a:solidFill>
                  <a:srgbClr val="FF0000"/>
                </a:solidFill>
              </a:rPr>
              <a:t>인 경우 버튼 숨김</a:t>
            </a:r>
            <a:r>
              <a:rPr lang="en-US" altLang="ko-KR" dirty="0" smtClean="0">
                <a:solidFill>
                  <a:srgbClr val="FF0000"/>
                </a:solidFill>
              </a:rPr>
              <a:t>.</a:t>
            </a:r>
          </a:p>
          <a:p>
            <a:pPr>
              <a:buFont typeface="+mj-lt"/>
              <a:buAutoNum type="arabicPeriod"/>
            </a:pPr>
            <a:endParaRPr lang="en-US" altLang="ko-KR" dirty="0" smtClean="0">
              <a:solidFill>
                <a:srgbClr val="FF0000"/>
              </a:solidFill>
            </a:endParaRPr>
          </a:p>
          <a:p>
            <a:pPr>
              <a:buFont typeface="+mj-lt"/>
              <a:buAutoNum type="arabicPeriod"/>
            </a:pPr>
            <a:r>
              <a:rPr lang="ko-KR" altLang="en-US" dirty="0" err="1" smtClean="0"/>
              <a:t>재고번호</a:t>
            </a:r>
            <a:r>
              <a:rPr lang="ko-KR" altLang="en-US" dirty="0" smtClean="0"/>
              <a:t> </a:t>
            </a:r>
            <a:r>
              <a:rPr lang="ko-KR" altLang="en-US" dirty="0"/>
              <a:t>클릭 </a:t>
            </a:r>
            <a:r>
              <a:rPr lang="ko-KR" altLang="en-US" dirty="0" smtClean="0"/>
              <a:t>이벤트</a:t>
            </a:r>
            <a:r>
              <a:rPr lang="en-US" altLang="ko-KR" dirty="0" smtClean="0"/>
              <a:t/>
            </a:r>
            <a:br>
              <a:rPr lang="en-US" altLang="ko-KR" dirty="0" smtClean="0"/>
            </a:br>
            <a:r>
              <a:rPr lang="en-US" altLang="ko-KR" dirty="0" smtClean="0">
                <a:solidFill>
                  <a:srgbClr val="FF0000"/>
                </a:solidFill>
              </a:rPr>
              <a:t>- </a:t>
            </a:r>
            <a:r>
              <a:rPr lang="ko-KR" altLang="en-US" dirty="0" smtClean="0">
                <a:solidFill>
                  <a:srgbClr val="FF0000"/>
                </a:solidFill>
              </a:rPr>
              <a:t>목록정보조회 </a:t>
            </a:r>
            <a:r>
              <a:rPr lang="en-US" altLang="ko-KR" dirty="0" smtClean="0">
                <a:solidFill>
                  <a:srgbClr val="FF0000"/>
                </a:solidFill>
              </a:rPr>
              <a:t>MUI-OP-01-P76 </a:t>
            </a:r>
            <a:r>
              <a:rPr lang="ko-KR" altLang="en-US" dirty="0" smtClean="0">
                <a:solidFill>
                  <a:srgbClr val="FF0000"/>
                </a:solidFill>
              </a:rPr>
              <a:t>호출</a:t>
            </a:r>
            <a:endParaRPr lang="en-US" altLang="ko-KR" dirty="0" smtClean="0">
              <a:solidFill>
                <a:srgbClr val="FF0000"/>
              </a:solidFill>
            </a:endParaRPr>
          </a:p>
          <a:p>
            <a:pPr>
              <a:buFont typeface="+mj-lt"/>
              <a:buAutoNum type="arabicPeriod"/>
            </a:pPr>
            <a:endParaRPr lang="en-US" altLang="ko-KR" dirty="0">
              <a:solidFill>
                <a:srgbClr val="FF0000"/>
              </a:solidFill>
            </a:endParaRPr>
          </a:p>
          <a:p>
            <a:pPr>
              <a:buFont typeface="+mj-lt"/>
              <a:buAutoNum type="arabicPeriod"/>
            </a:pPr>
            <a:r>
              <a:rPr lang="ko-KR" altLang="en-US" dirty="0"/>
              <a:t>보관함 여부 추가</a:t>
            </a:r>
            <a:r>
              <a:rPr lang="en-US" altLang="ko-KR" dirty="0"/>
              <a:t>, </a:t>
            </a:r>
            <a:r>
              <a:rPr lang="ko-KR" altLang="en-US" dirty="0"/>
              <a:t>삭제 클릭 </a:t>
            </a:r>
            <a:r>
              <a:rPr lang="ko-KR" altLang="en-US" dirty="0" smtClean="0"/>
              <a:t>이벤트</a:t>
            </a:r>
            <a:r>
              <a:rPr lang="en-US" altLang="ko-KR" dirty="0" smtClean="0"/>
              <a:t/>
            </a:r>
            <a:br>
              <a:rPr lang="en-US" altLang="ko-KR" dirty="0" smtClean="0"/>
            </a:br>
            <a:r>
              <a:rPr lang="en-US" altLang="ko-KR" dirty="0" smtClean="0">
                <a:solidFill>
                  <a:srgbClr val="FF0000"/>
                </a:solidFill>
              </a:rPr>
              <a:t>- </a:t>
            </a:r>
            <a:r>
              <a:rPr lang="ko-KR" altLang="en-US" dirty="0" smtClean="0">
                <a:solidFill>
                  <a:srgbClr val="FF0000"/>
                </a:solidFill>
              </a:rPr>
              <a:t>로그인한 사용자에게만 표시됨</a:t>
            </a:r>
            <a:r>
              <a:rPr lang="en-US" altLang="ko-KR" dirty="0" smtClean="0">
                <a:solidFill>
                  <a:srgbClr val="FF0000"/>
                </a:solidFill>
              </a:rPr>
              <a:t>.</a:t>
            </a:r>
            <a:br>
              <a:rPr lang="en-US" altLang="ko-KR" dirty="0" smtClean="0">
                <a:solidFill>
                  <a:srgbClr val="FF0000"/>
                </a:solidFill>
              </a:rPr>
            </a:br>
            <a:r>
              <a:rPr lang="en-US" altLang="ko-KR" dirty="0" smtClean="0">
                <a:solidFill>
                  <a:srgbClr val="FF0000"/>
                </a:solidFill>
              </a:rPr>
              <a:t>- </a:t>
            </a:r>
            <a:r>
              <a:rPr lang="ko-KR" altLang="en-US" dirty="0" smtClean="0">
                <a:solidFill>
                  <a:srgbClr val="FF0000"/>
                </a:solidFill>
              </a:rPr>
              <a:t>로그인한 사용자가 해당 품목을 보관함에 보관하고</a:t>
            </a:r>
            <a:r>
              <a:rPr lang="en-US" altLang="ko-KR" dirty="0" smtClean="0">
                <a:solidFill>
                  <a:srgbClr val="FF0000"/>
                </a:solidFill>
              </a:rPr>
              <a:t> </a:t>
            </a:r>
            <a:r>
              <a:rPr lang="ko-KR" altLang="en-US" dirty="0" smtClean="0">
                <a:solidFill>
                  <a:srgbClr val="FF0000"/>
                </a:solidFill>
              </a:rPr>
              <a:t>있는 경우 </a:t>
            </a:r>
            <a:r>
              <a:rPr lang="en-US" altLang="ko-KR" dirty="0" smtClean="0">
                <a:solidFill>
                  <a:srgbClr val="FF0000"/>
                </a:solidFill>
              </a:rPr>
              <a:t>Y </a:t>
            </a:r>
            <a:r>
              <a:rPr lang="ko-KR" altLang="en-US" dirty="0" smtClean="0">
                <a:solidFill>
                  <a:srgbClr val="FF0000"/>
                </a:solidFill>
              </a:rPr>
              <a:t>및 보관함 삭제 버튼 표시</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a:t>
            </a:r>
            <a:r>
              <a:rPr lang="ko-KR" altLang="en-US" dirty="0" smtClean="0">
                <a:solidFill>
                  <a:srgbClr val="FF0000"/>
                </a:solidFill>
              </a:rPr>
              <a:t>보관함에 보관되고 있지 않은 경우 </a:t>
            </a:r>
            <a:r>
              <a:rPr lang="en-US" altLang="ko-KR" dirty="0" smtClean="0">
                <a:solidFill>
                  <a:srgbClr val="FF0000"/>
                </a:solidFill>
              </a:rPr>
              <a:t>N</a:t>
            </a:r>
            <a:r>
              <a:rPr lang="ko-KR" altLang="en-US" dirty="0" smtClean="0">
                <a:solidFill>
                  <a:srgbClr val="FF0000"/>
                </a:solidFill>
              </a:rPr>
              <a:t>과 보관함 추가 버튼 표시</a:t>
            </a:r>
            <a:endParaRPr lang="en-US" altLang="ko-KR" dirty="0">
              <a:solidFill>
                <a:srgbClr val="FF0000"/>
              </a:solidFill>
            </a:endParaRPr>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397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품목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latin typeface="+mn-ea"/>
              </a:rPr>
              <a:t>품목 목록</a:t>
            </a:r>
            <a:r>
              <a:rPr lang="ko-KR" altLang="en-US" dirty="0"/>
              <a:t>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품목 목록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solidFill>
                  <a:srgbClr val="000000"/>
                </a:solidFill>
                <a:latin typeface="맑은 고딕" panose="020B0503020000020004" pitchFamily="50" charset="-127"/>
              </a:rPr>
              <a:t>MUI-BD-01-T72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4704303"/>
            <a:chOff x="701175" y="1527996"/>
            <a:chExt cx="2630093" cy="47043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430887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품질등급</a:t>
              </a:r>
              <a:endParaRPr lang="ko-KR" altLang="en-US" sz="700" dirty="0">
                <a:latin typeface="+mn-ea"/>
              </a:endParaRPr>
            </a:p>
            <a:p>
              <a:pPr>
                <a:lnSpc>
                  <a:spcPct val="200000"/>
                </a:lnSpc>
              </a:pP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규격번호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납기기준일자</a:t>
              </a:r>
            </a:p>
            <a:p>
              <a:pPr>
                <a:lnSpc>
                  <a:spcPct val="200000"/>
                </a:lnSpc>
              </a:pPr>
              <a:r>
                <a:rPr lang="ko-KR" altLang="en-US" sz="700" dirty="0">
                  <a:latin typeface="+mn-ea"/>
                </a:rPr>
                <a:t>단위</a:t>
              </a:r>
            </a:p>
            <a:p>
              <a:pPr>
                <a:lnSpc>
                  <a:spcPct val="200000"/>
                </a:lnSpc>
              </a:pPr>
              <a:r>
                <a:rPr lang="ko-KR" altLang="en-US" sz="700" dirty="0" err="1">
                  <a:latin typeface="+mn-ea"/>
                </a:rPr>
                <a:t>본조수량</a:t>
              </a:r>
              <a:endParaRPr lang="ko-KR" altLang="en-US" sz="700" dirty="0">
                <a:latin typeface="+mn-ea"/>
              </a:endParaRPr>
            </a:p>
            <a:p>
              <a:pPr>
                <a:lnSpc>
                  <a:spcPct val="200000"/>
                </a:lnSpc>
              </a:pPr>
              <a:r>
                <a:rPr lang="ko-KR" altLang="en-US" sz="700" dirty="0" err="1">
                  <a:latin typeface="+mn-ea"/>
                </a:rPr>
                <a:t>당국수량</a:t>
              </a:r>
              <a:endParaRPr lang="ko-KR" altLang="en-US" sz="700" dirty="0">
                <a:latin typeface="+mn-ea"/>
              </a:endParaRPr>
            </a:p>
            <a:p>
              <a:pPr>
                <a:lnSpc>
                  <a:spcPct val="200000"/>
                </a:lnSpc>
              </a:pPr>
              <a:r>
                <a:rPr lang="ko-KR" altLang="en-US" sz="700" dirty="0" err="1">
                  <a:latin typeface="+mn-ea"/>
                </a:rPr>
                <a:t>장국수량</a:t>
              </a:r>
              <a:endParaRPr lang="ko-KR" altLang="en-US" sz="700" dirty="0">
                <a:latin typeface="+mn-ea"/>
              </a:endParaRPr>
            </a:p>
            <a:p>
              <a:pPr>
                <a:lnSpc>
                  <a:spcPct val="200000"/>
                </a:lnSpc>
              </a:pPr>
              <a:r>
                <a:rPr lang="ko-KR" altLang="en-US" sz="700" dirty="0" err="1">
                  <a:latin typeface="+mn-ea"/>
                </a:rPr>
                <a:t>본조예산</a:t>
              </a:r>
              <a:endParaRPr lang="ko-KR" altLang="en-US" sz="700" dirty="0">
                <a:latin typeface="+mn-ea"/>
              </a:endParaRPr>
            </a:p>
            <a:p>
              <a:pPr>
                <a:lnSpc>
                  <a:spcPct val="200000"/>
                </a:lnSpc>
              </a:pPr>
              <a:r>
                <a:rPr lang="ko-KR" altLang="en-US" sz="700" dirty="0" err="1">
                  <a:latin typeface="+mn-ea"/>
                </a:rPr>
                <a:t>당국예산</a:t>
              </a:r>
              <a:endParaRPr lang="ko-KR" altLang="en-US" sz="700" dirty="0">
                <a:latin typeface="+mn-ea"/>
              </a:endParaRPr>
            </a:p>
            <a:p>
              <a:pPr>
                <a:lnSpc>
                  <a:spcPct val="200000"/>
                </a:lnSpc>
              </a:pPr>
              <a:r>
                <a:rPr lang="ko-KR" altLang="en-US" sz="700" dirty="0" err="1">
                  <a:latin typeface="+mn-ea"/>
                </a:rPr>
                <a:t>장국예산</a:t>
              </a:r>
              <a:endParaRPr lang="ko-KR" altLang="en-US" sz="700" dirty="0">
                <a:latin typeface="+mn-ea"/>
              </a:endParaRPr>
            </a:p>
            <a:p>
              <a:pPr>
                <a:lnSpc>
                  <a:spcPct val="200000"/>
                </a:lnSpc>
              </a:pPr>
              <a:r>
                <a:rPr lang="ko-KR" altLang="en-US" sz="700" dirty="0" err="1">
                  <a:latin typeface="+mn-ea"/>
                </a:rPr>
                <a:t>수량합계</a:t>
              </a:r>
              <a:endParaRPr lang="ko-KR" altLang="en-US" sz="700" dirty="0">
                <a:latin typeface="+mn-ea"/>
              </a:endParaRPr>
            </a:p>
            <a:p>
              <a:pPr>
                <a:lnSpc>
                  <a:spcPct val="200000"/>
                </a:lnSpc>
              </a:pPr>
              <a:r>
                <a:rPr lang="ko-KR" altLang="en-US" sz="700" dirty="0">
                  <a:latin typeface="+mn-ea"/>
                </a:rPr>
                <a:t>화폐단위</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err="1">
                  <a:latin typeface="+mn-ea"/>
                </a:rPr>
                <a:t>지시금액</a:t>
              </a:r>
              <a:endParaRPr lang="ko-KR" altLang="en-US" sz="700" dirty="0">
                <a:latin typeface="+mn-ea"/>
              </a:endParaRPr>
            </a:p>
            <a:p>
              <a:pPr>
                <a:lnSpc>
                  <a:spcPct val="200000"/>
                </a:lnSpc>
              </a:pPr>
              <a:r>
                <a:rPr lang="ko-KR" altLang="en-US" sz="700" dirty="0" err="1">
                  <a:latin typeface="+mn-ea"/>
                </a:rPr>
                <a:t>장비부호</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84088" cy="430887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p>
            <a:p>
              <a:pPr>
                <a:lnSpc>
                  <a:spcPct val="200000"/>
                </a:lnSpc>
              </a:pPr>
              <a:r>
                <a:rPr lang="en-US" altLang="ko-KR" sz="700" dirty="0">
                  <a:solidFill>
                    <a:srgbClr val="0070C0"/>
                  </a:solidFill>
                  <a:latin typeface="+mn-ea"/>
                </a:rPr>
                <a:t>O</a:t>
              </a:r>
              <a:endParaRPr lang="ko-KR" altLang="en-US" sz="700" dirty="0">
                <a:solidFill>
                  <a:srgbClr val="0070C0"/>
                </a:solidFill>
                <a:latin typeface="+mn-ea"/>
              </a:endParaRP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369A2093-2</a:t>
              </a:r>
            </a:p>
            <a:p>
              <a:pPr>
                <a:lnSpc>
                  <a:spcPct val="200000"/>
                </a:lnSpc>
              </a:pPr>
              <a:r>
                <a:rPr lang="en-US" altLang="ko-KR" sz="700" dirty="0">
                  <a:latin typeface="+mn-ea"/>
                </a:rPr>
                <a:t>11112</a:t>
              </a:r>
            </a:p>
            <a:p>
              <a:pPr>
                <a:lnSpc>
                  <a:spcPct val="200000"/>
                </a:lnSpc>
              </a:pPr>
              <a:r>
                <a:rPr lang="ko-KR" altLang="en-US" sz="700" dirty="0">
                  <a:latin typeface="+mn-ea"/>
                </a:rPr>
                <a:t>품명 표시</a:t>
              </a:r>
              <a:endParaRPr lang="en-US" altLang="ko-KR" sz="700" dirty="0">
                <a:latin typeface="+mn-ea"/>
              </a:endParaRPr>
            </a:p>
            <a:p>
              <a:pPr>
                <a:lnSpc>
                  <a:spcPct val="200000"/>
                </a:lnSpc>
              </a:pPr>
              <a:r>
                <a:rPr lang="en-US" altLang="ko-KR" sz="700" dirty="0">
                  <a:latin typeface="+mn-ea"/>
                </a:rPr>
                <a:t>-2016-11-25</a:t>
              </a:r>
            </a:p>
            <a:p>
              <a:pPr>
                <a:lnSpc>
                  <a:spcPct val="200000"/>
                </a:lnSpc>
              </a:pPr>
              <a:r>
                <a:rPr lang="en-US" altLang="ko-KR" sz="700" dirty="0">
                  <a:latin typeface="+mn-ea"/>
                </a:rPr>
                <a:t>EA</a:t>
              </a:r>
            </a:p>
            <a:p>
              <a:pPr>
                <a:lnSpc>
                  <a:spcPct val="200000"/>
                </a:lnSpc>
              </a:pPr>
              <a:r>
                <a:rPr lang="en-US" altLang="ko-KR" sz="700" dirty="0">
                  <a:latin typeface="+mn-ea"/>
                </a:rPr>
                <a:t>1</a:t>
              </a:r>
            </a:p>
            <a:p>
              <a:pPr>
                <a:lnSpc>
                  <a:spcPct val="200000"/>
                </a:lnSpc>
              </a:pPr>
              <a:r>
                <a:rPr lang="en-US" altLang="ko-KR" sz="700" dirty="0">
                  <a:latin typeface="+mn-ea"/>
                </a:rPr>
                <a:t>1</a:t>
              </a:r>
            </a:p>
            <a:p>
              <a:pPr>
                <a:lnSpc>
                  <a:spcPct val="200000"/>
                </a:lnSpc>
              </a:pPr>
              <a:r>
                <a:rPr lang="en-US" altLang="ko-KR" sz="700" dirty="0">
                  <a:latin typeface="+mn-ea"/>
                </a:rPr>
                <a:t>1</a:t>
              </a:r>
            </a:p>
            <a:p>
              <a:pPr algn="r">
                <a:lnSpc>
                  <a:spcPct val="200000"/>
                </a:lnSpc>
              </a:pPr>
              <a:r>
                <a:rPr lang="en-US" altLang="ko-KR" sz="700" dirty="0">
                  <a:latin typeface="+mn-ea"/>
                </a:rPr>
                <a:t>608,000.00 USD</a:t>
              </a:r>
              <a:endParaRPr lang="ko-KR" altLang="en-US" sz="700" dirty="0">
                <a:latin typeface="+mn-ea"/>
              </a:endParaRPr>
            </a:p>
            <a:p>
              <a:pPr algn="r">
                <a:lnSpc>
                  <a:spcPct val="200000"/>
                </a:lnSpc>
              </a:pPr>
              <a:r>
                <a:rPr lang="en-US" altLang="ko-KR" sz="700" dirty="0">
                  <a:latin typeface="+mn-ea"/>
                </a:rPr>
                <a:t>608,000.00 USD</a:t>
              </a:r>
              <a:endParaRPr lang="ko-KR" altLang="en-US" sz="700" dirty="0">
                <a:latin typeface="+mn-ea"/>
              </a:endParaRPr>
            </a:p>
            <a:p>
              <a:pPr algn="r">
                <a:lnSpc>
                  <a:spcPct val="200000"/>
                </a:lnSpc>
              </a:pPr>
              <a:r>
                <a:rPr lang="en-US" altLang="ko-KR" sz="700" dirty="0">
                  <a:latin typeface="+mn-ea"/>
                </a:rPr>
                <a:t>608,000.00 USD</a:t>
              </a:r>
              <a:endParaRPr lang="ko-KR" altLang="en-US" sz="700" dirty="0">
                <a:latin typeface="+mn-ea"/>
              </a:endParaRPr>
            </a:p>
            <a:p>
              <a:pPr>
                <a:lnSpc>
                  <a:spcPct val="200000"/>
                </a:lnSpc>
              </a:pPr>
              <a:r>
                <a:rPr lang="en-US" altLang="ko-KR" sz="700" dirty="0">
                  <a:latin typeface="+mn-ea"/>
                </a:rPr>
                <a:t>3</a:t>
              </a:r>
            </a:p>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latin typeface="+mn-ea"/>
                </a:rPr>
                <a:t>608,000.00 USD</a:t>
              </a:r>
            </a:p>
            <a:p>
              <a:pPr algn="r">
                <a:lnSpc>
                  <a:spcPct val="200000"/>
                </a:lnSpc>
              </a:pPr>
              <a:r>
                <a:rPr lang="en-US" altLang="ko-KR" sz="700" dirty="0">
                  <a:latin typeface="+mn-ea"/>
                </a:rPr>
                <a:t>608,000.00 USD</a:t>
              </a:r>
            </a:p>
            <a:p>
              <a:pPr>
                <a:lnSpc>
                  <a:spcPct val="200000"/>
                </a:lnSpc>
              </a:pPr>
              <a:r>
                <a:rPr lang="en-US" altLang="ko-KR" sz="700" dirty="0">
                  <a:latin typeface="+mn-ea"/>
                </a:rPr>
                <a:t>11111</a:t>
              </a:r>
            </a:p>
          </p:txBody>
        </p:sp>
        <p:grpSp>
          <p:nvGrpSpPr>
            <p:cNvPr id="17" name="그룹 16"/>
            <p:cNvGrpSpPr/>
            <p:nvPr/>
          </p:nvGrpSpPr>
          <p:grpSpPr>
            <a:xfrm>
              <a:off x="701175" y="1835481"/>
              <a:ext cx="2630093" cy="4286740"/>
              <a:chOff x="701175" y="1835481"/>
              <a:chExt cx="2630093" cy="42867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56927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59074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6122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8" name="타원 257">
            <a:extLst>
              <a:ext uri="{FF2B5EF4-FFF2-40B4-BE49-F238E27FC236}">
                <a16:creationId xmlns:a16="http://schemas.microsoft.com/office/drawing/2014/main" id="{37A7FF4F-0EAA-1463-560A-D5EC24416103}"/>
              </a:ext>
            </a:extLst>
          </p:cNvPr>
          <p:cNvSpPr/>
          <p:nvPr/>
        </p:nvSpPr>
        <p:spPr>
          <a:xfrm>
            <a:off x="571127" y="227654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4" name="사각형: 둥근 모서리 15">
            <a:extLst>
              <a:ext uri="{FF2B5EF4-FFF2-40B4-BE49-F238E27FC236}">
                <a16:creationId xmlns:a16="http://schemas.microsoft.com/office/drawing/2014/main" id="{E2B61CFB-AD16-68D0-8752-50D9C5E01971}"/>
              </a:ext>
            </a:extLst>
          </p:cNvPr>
          <p:cNvSpPr/>
          <p:nvPr/>
        </p:nvSpPr>
        <p:spPr>
          <a:xfrm>
            <a:off x="2836921" y="251012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7"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5113316" y="3483247"/>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13" name="사각형: 둥근 모서리 15">
            <a:extLst>
              <a:ext uri="{FF2B5EF4-FFF2-40B4-BE49-F238E27FC236}">
                <a16:creationId xmlns:a16="http://schemas.microsoft.com/office/drawing/2014/main" id="{E2B61CFB-AD16-68D0-8752-50D9C5E01971}"/>
              </a:ext>
            </a:extLst>
          </p:cNvPr>
          <p:cNvSpPr/>
          <p:nvPr/>
        </p:nvSpPr>
        <p:spPr>
          <a:xfrm>
            <a:off x="2836921" y="229959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smtClean="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8" name="TextBox 11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19" name="그룹 118"/>
          <p:cNvGrpSpPr/>
          <p:nvPr/>
        </p:nvGrpSpPr>
        <p:grpSpPr>
          <a:xfrm>
            <a:off x="3821510" y="1493927"/>
            <a:ext cx="2630093" cy="465721"/>
            <a:chOff x="701175" y="1800647"/>
            <a:chExt cx="2630093" cy="465721"/>
          </a:xfrm>
        </p:grpSpPr>
        <p:sp>
          <p:nvSpPr>
            <p:cNvPr id="122" name="직사각형 121"/>
            <p:cNvSpPr/>
            <p:nvPr/>
          </p:nvSpPr>
          <p:spPr>
            <a:xfrm>
              <a:off x="703268" y="1800647"/>
              <a:ext cx="792000" cy="46431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790331" y="1835481"/>
              <a:ext cx="725552" cy="396583"/>
            </a:xfrm>
            <a:prstGeom prst="rect">
              <a:avLst/>
            </a:prstGeom>
            <a:noFill/>
          </p:spPr>
          <p:txBody>
            <a:bodyPr wrap="square" lIns="0" tIns="0" rIns="0" bIns="0" rtlCol="0">
              <a:spAutoFit/>
            </a:bodyPr>
            <a:lstStyle/>
            <a:p>
              <a:pPr>
                <a:lnSpc>
                  <a:spcPct val="200000"/>
                </a:lnSpc>
              </a:pPr>
              <a:r>
                <a:rPr lang="ko-KR" altLang="en-US" sz="700" dirty="0" err="1">
                  <a:latin typeface="+mn-ea"/>
                </a:rPr>
                <a:t>장비명</a:t>
              </a:r>
              <a:endParaRPr lang="en-US" altLang="ko-KR" sz="700" dirty="0">
                <a:latin typeface="+mn-ea"/>
              </a:endParaRPr>
            </a:p>
            <a:p>
              <a:pPr>
                <a:lnSpc>
                  <a:spcPct val="200000"/>
                </a:lnSpc>
              </a:pPr>
              <a:r>
                <a:rPr lang="ko-KR" altLang="en-US" sz="700" dirty="0">
                  <a:latin typeface="+mn-ea"/>
                </a:rPr>
                <a:t>보관함 여부</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547180" y="1835481"/>
              <a:ext cx="1775839" cy="430887"/>
            </a:xfrm>
            <a:prstGeom prst="rect">
              <a:avLst/>
            </a:prstGeom>
            <a:noFill/>
          </p:spPr>
          <p:txBody>
            <a:bodyPr wrap="square" lIns="0" tIns="0" rIns="0" bIns="0" rtlCol="0">
              <a:spAutoFit/>
            </a:bodyPr>
            <a:lstStyle/>
            <a:p>
              <a:pPr>
                <a:lnSpc>
                  <a:spcPct val="200000"/>
                </a:lnSpc>
              </a:pPr>
              <a:r>
                <a:rPr lang="ko-KR" altLang="en-US" sz="700" dirty="0">
                  <a:latin typeface="+mn-ea"/>
                </a:rPr>
                <a:t>장비 명칭 표시</a:t>
              </a:r>
              <a:endParaRPr lang="en-US" altLang="ko-KR" sz="700" dirty="0">
                <a:latin typeface="+mn-ea"/>
              </a:endParaRPr>
            </a:p>
            <a:p>
              <a:pPr>
                <a:lnSpc>
                  <a:spcPct val="200000"/>
                </a:lnSpc>
              </a:pPr>
              <a:r>
                <a:rPr lang="en-US" altLang="ko-KR" sz="700" dirty="0">
                  <a:latin typeface="+mn-ea"/>
                </a:rPr>
                <a:t>Y</a:t>
              </a:r>
            </a:p>
          </p:txBody>
        </p:sp>
        <p:grpSp>
          <p:nvGrpSpPr>
            <p:cNvPr id="125" name="그룹 124"/>
            <p:cNvGrpSpPr/>
            <p:nvPr/>
          </p:nvGrpSpPr>
          <p:grpSpPr>
            <a:xfrm>
              <a:off x="701175" y="1835481"/>
              <a:ext cx="2630093" cy="429480"/>
              <a:chOff x="701175" y="1835481"/>
              <a:chExt cx="2630093" cy="429480"/>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9" name="타원 238">
            <a:extLst>
              <a:ext uri="{FF2B5EF4-FFF2-40B4-BE49-F238E27FC236}">
                <a16:creationId xmlns:a16="http://schemas.microsoft.com/office/drawing/2014/main" id="{37A7FF4F-0EAA-1463-560A-D5EC24416103}"/>
              </a:ext>
            </a:extLst>
          </p:cNvPr>
          <p:cNvSpPr/>
          <p:nvPr/>
        </p:nvSpPr>
        <p:spPr>
          <a:xfrm>
            <a:off x="571127" y="249829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40" name="사각형: 둥근 모서리 15">
            <a:extLst>
              <a:ext uri="{FF2B5EF4-FFF2-40B4-BE49-F238E27FC236}">
                <a16:creationId xmlns:a16="http://schemas.microsoft.com/office/drawing/2014/main" id="{E2B61CFB-AD16-68D0-8752-50D9C5E01971}"/>
              </a:ext>
            </a:extLst>
          </p:cNvPr>
          <p:cNvSpPr/>
          <p:nvPr/>
        </p:nvSpPr>
        <p:spPr>
          <a:xfrm>
            <a:off x="5948994" y="1772621"/>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rPr>
              <a:t>보관함 삭제</a:t>
            </a:r>
            <a:endParaRPr kumimoji="1" lang="en-US" sz="700" b="0" i="0" u="none" strike="noStrike" kern="0" cap="none" spc="0" normalizeH="0" baseline="0" noProof="0" dirty="0">
              <a:ln>
                <a:noFill/>
              </a:ln>
              <a:effectLst/>
              <a:uLnTx/>
              <a:uFillTx/>
              <a:latin typeface="맑은 고딕"/>
            </a:endParaRPr>
          </a:p>
        </p:txBody>
      </p:sp>
      <p:sp>
        <p:nvSpPr>
          <p:cNvPr id="241" name="타원 240">
            <a:extLst>
              <a:ext uri="{FF2B5EF4-FFF2-40B4-BE49-F238E27FC236}">
                <a16:creationId xmlns:a16="http://schemas.microsoft.com/office/drawing/2014/main" id="{37A7FF4F-0EAA-1463-560A-D5EC24416103}"/>
              </a:ext>
            </a:extLst>
          </p:cNvPr>
          <p:cNvSpPr/>
          <p:nvPr/>
        </p:nvSpPr>
        <p:spPr>
          <a:xfrm>
            <a:off x="3689767" y="1762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grpSp>
        <p:nvGrpSpPr>
          <p:cNvPr id="61" name="그룹 60"/>
          <p:cNvGrpSpPr/>
          <p:nvPr/>
        </p:nvGrpSpPr>
        <p:grpSpPr>
          <a:xfrm>
            <a:off x="8223250" y="569392"/>
            <a:ext cx="3365500" cy="634511"/>
            <a:chOff x="8223250" y="569392"/>
            <a:chExt cx="3365500" cy="634511"/>
          </a:xfrm>
        </p:grpSpPr>
        <p:sp>
          <p:nvSpPr>
            <p:cNvPr id="62" name="직사각형 61"/>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2026-07-06 </a:t>
              </a:r>
              <a:r>
                <a:rPr lang="ko-KR" altLang="en-US" dirty="0"/>
                <a:t>화면 수정</a:t>
              </a:r>
            </a:p>
          </p:txBody>
        </p:sp>
        <p:sp>
          <p:nvSpPr>
            <p:cNvPr id="63" name="직사각형 62"/>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sym typeface="Wingdings" panose="05000000000000000000" pitchFamily="2" charset="2"/>
                </a:rPr>
                <a:t>설명 추가</a:t>
              </a:r>
              <a:endParaRPr lang="en-US" altLang="ko-KR" sz="700" dirty="0"/>
            </a:p>
          </p:txBody>
        </p:sp>
      </p:grpSp>
    </p:spTree>
    <p:extLst>
      <p:ext uri="{BB962C8B-B14F-4D97-AF65-F5344CB8AC3E}">
        <p14:creationId xmlns:p14="http://schemas.microsoft.com/office/powerpoint/2010/main" val="112316728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smtClean="0"/>
              <a:t>품목 목록에서 첨부파일이 </a:t>
            </a:r>
            <a:r>
              <a:rPr lang="en-US" altLang="ko-KR" dirty="0" smtClean="0"/>
              <a:t>O</a:t>
            </a:r>
            <a:r>
              <a:rPr lang="ko-KR" altLang="en-US" dirty="0" smtClean="0"/>
              <a:t>인 품목의 경우</a:t>
            </a:r>
            <a:r>
              <a:rPr lang="en-US" altLang="ko-KR" dirty="0"/>
              <a:t/>
            </a:r>
            <a:br>
              <a:rPr lang="en-US" altLang="ko-KR" dirty="0"/>
            </a:br>
            <a:r>
              <a:rPr lang="ko-KR" altLang="en-US" dirty="0" smtClean="0"/>
              <a:t>보기 버튼을 클릭하여 첨부파일이 표시됨</a:t>
            </a:r>
            <a:r>
              <a:rPr lang="en-US" altLang="ko-KR" dirty="0" smtClean="0"/>
              <a:t>.</a:t>
            </a:r>
          </a:p>
          <a:p>
            <a:pPr>
              <a:buFont typeface="+mj-lt"/>
              <a:buAutoNum type="arabicPeriod"/>
            </a:pPr>
            <a:r>
              <a:rPr lang="ko-KR" altLang="en-US" dirty="0" smtClean="0"/>
              <a:t>파일명 클릭으로 뷰어 솔루션 호출</a:t>
            </a:r>
            <a:r>
              <a:rPr lang="en-US" altLang="ko-KR" dirty="0" smtClean="0"/>
              <a:t/>
            </a:r>
            <a:br>
              <a:rPr lang="en-US" altLang="ko-KR" dirty="0" smtClean="0"/>
            </a:br>
            <a:r>
              <a:rPr lang="en-US" altLang="ko-KR" dirty="0" smtClean="0"/>
              <a:t>- </a:t>
            </a:r>
            <a:r>
              <a:rPr lang="ko-KR" altLang="en-US" dirty="0" smtClean="0"/>
              <a:t>다운로드 클릭 시 다운로드 실행</a:t>
            </a:r>
            <a:endParaRPr lang="en-US" altLang="ko-KR" dirty="0" smtClean="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398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첨부파일 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a:t>
            </a:r>
            <a:r>
              <a:rPr lang="ko-KR" altLang="en-US" dirty="0" smtClean="0"/>
              <a:t>입찰공고 상세에서</a:t>
            </a:r>
            <a:r>
              <a:rPr lang="en-US" altLang="ko-KR" dirty="0" smtClean="0"/>
              <a:t> </a:t>
            </a:r>
            <a:r>
              <a:rPr lang="ko-KR" altLang="en-US" dirty="0" smtClean="0"/>
              <a:t>개별 품목의 첨부파일을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smtClean="0">
                <a:latin typeface="+mn-ea"/>
              </a:rPr>
              <a:t>상세</a:t>
            </a:r>
            <a:r>
              <a:rPr lang="en-US" altLang="ko-KR" dirty="0" smtClean="0">
                <a:latin typeface="+mn-ea"/>
              </a:rPr>
              <a:t> &gt; </a:t>
            </a:r>
            <a:r>
              <a:rPr lang="ko-KR" altLang="en-US" dirty="0">
                <a:latin typeface="+mn-ea"/>
              </a:rPr>
              <a:t>첨부파일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MUI-BD-01-P76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 name="그룹 16"/>
          <p:cNvGrpSpPr/>
          <p:nvPr/>
        </p:nvGrpSpPr>
        <p:grpSpPr>
          <a:xfrm>
            <a:off x="701175" y="1835481"/>
            <a:ext cx="2630093" cy="4286740"/>
            <a:chOff x="701175" y="1835481"/>
            <a:chExt cx="2630093" cy="42867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56927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59074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6122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61" name="그룹 60"/>
          <p:cNvGrpSpPr/>
          <p:nvPr/>
        </p:nvGrpSpPr>
        <p:grpSpPr>
          <a:xfrm>
            <a:off x="8223250" y="569392"/>
            <a:ext cx="3365500" cy="634511"/>
            <a:chOff x="8223250" y="569392"/>
            <a:chExt cx="3365500" cy="634511"/>
          </a:xfrm>
        </p:grpSpPr>
        <p:sp>
          <p:nvSpPr>
            <p:cNvPr id="62" name="직사각형 61"/>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2026-07-06 </a:t>
              </a:r>
              <a:r>
                <a:rPr lang="ko-KR" altLang="en-US" dirty="0"/>
                <a:t>화면 </a:t>
              </a:r>
              <a:r>
                <a:rPr lang="ko-KR" altLang="en-US" dirty="0" smtClean="0"/>
                <a:t>추가</a:t>
              </a:r>
              <a:endParaRPr lang="ko-KR" altLang="en-US" dirty="0"/>
            </a:p>
          </p:txBody>
        </p:sp>
        <p:sp>
          <p:nvSpPr>
            <p:cNvPr id="63" name="직사각형 62"/>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첨부문서를</a:t>
              </a:r>
              <a:r>
                <a:rPr lang="ko-KR" altLang="en-US" sz="700" dirty="0" smtClean="0"/>
                <a:t> 조회하는 팝업 화면</a:t>
              </a:r>
              <a:endParaRPr lang="en-US" altLang="ko-KR" sz="700" dirty="0"/>
            </a:p>
          </p:txBody>
        </p:sp>
      </p:grpSp>
      <p:sp>
        <p:nvSpPr>
          <p:cNvPr id="64" name="양쪽 모서리가 둥근 사각형 63"/>
          <p:cNvSpPr/>
          <p:nvPr/>
        </p:nvSpPr>
        <p:spPr>
          <a:xfrm>
            <a:off x="675399" y="3011653"/>
            <a:ext cx="2712027" cy="3215510"/>
          </a:xfrm>
          <a:prstGeom prst="round2SameRect">
            <a:avLst>
              <a:gd name="adj1" fmla="val 4887"/>
              <a:gd name="adj2" fmla="val 0"/>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65" name="모서리가 둥근 직사각형 64"/>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66" name="그룹 65"/>
          <p:cNvGrpSpPr/>
          <p:nvPr/>
        </p:nvGrpSpPr>
        <p:grpSpPr>
          <a:xfrm>
            <a:off x="3164338" y="3182696"/>
            <a:ext cx="94010" cy="94010"/>
            <a:chOff x="6812560" y="3297172"/>
            <a:chExt cx="94010" cy="94010"/>
          </a:xfrm>
        </p:grpSpPr>
        <p:cxnSp>
          <p:nvCxnSpPr>
            <p:cNvPr id="67" name="직선 연결선 6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69" name="TextBox 68">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a:latin typeface="+mn-ea"/>
              </a:rPr>
              <a:t>첨부파일 조회</a:t>
            </a:r>
          </a:p>
        </p:txBody>
      </p:sp>
      <p:cxnSp>
        <p:nvCxnSpPr>
          <p:cNvPr id="70" name="직선 연결선 69">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9" name="그룹 88"/>
          <p:cNvGrpSpPr/>
          <p:nvPr/>
        </p:nvGrpSpPr>
        <p:grpSpPr>
          <a:xfrm>
            <a:off x="675399" y="5614711"/>
            <a:ext cx="2712027" cy="617588"/>
            <a:chOff x="675399" y="5614711"/>
            <a:chExt cx="2712027" cy="617588"/>
          </a:xfrm>
        </p:grpSpPr>
        <p:sp>
          <p:nvSpPr>
            <p:cNvPr id="90" name="직사각형 8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94" name="TextBox 93">
            <a:extLst>
              <a:ext uri="{FF2B5EF4-FFF2-40B4-BE49-F238E27FC236}">
                <a16:creationId xmlns:a16="http://schemas.microsoft.com/office/drawing/2014/main" id="{FFC49AEA-2A8F-250C-A86A-A7751D9706C3}"/>
              </a:ext>
            </a:extLst>
          </p:cNvPr>
          <p:cNvSpPr txBox="1"/>
          <p:nvPr/>
        </p:nvSpPr>
        <p:spPr>
          <a:xfrm>
            <a:off x="757744" y="3491443"/>
            <a:ext cx="728875" cy="215444"/>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96" name="모서리가 둥근 직사각형 95"/>
          <p:cNvSpPr/>
          <p:nvPr/>
        </p:nvSpPr>
        <p:spPr>
          <a:xfrm>
            <a:off x="711214" y="388982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TextBox 96">
            <a:extLst>
              <a:ext uri="{FF2B5EF4-FFF2-40B4-BE49-F238E27FC236}">
                <a16:creationId xmlns:a16="http://schemas.microsoft.com/office/drawing/2014/main" id="{FFC49AEA-2A8F-250C-A86A-A7751D9706C3}"/>
              </a:ext>
            </a:extLst>
          </p:cNvPr>
          <p:cNvSpPr txBox="1"/>
          <p:nvPr/>
        </p:nvSpPr>
        <p:spPr>
          <a:xfrm>
            <a:off x="1211882" y="396435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98" name="TextBox 97">
            <a:extLst>
              <a:ext uri="{FF2B5EF4-FFF2-40B4-BE49-F238E27FC236}">
                <a16:creationId xmlns:a16="http://schemas.microsoft.com/office/drawing/2014/main" id="{FFC49AEA-2A8F-250C-A86A-A7751D9706C3}"/>
              </a:ext>
            </a:extLst>
          </p:cNvPr>
          <p:cNvSpPr txBox="1"/>
          <p:nvPr/>
        </p:nvSpPr>
        <p:spPr>
          <a:xfrm>
            <a:off x="789410" y="401821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99" name="타원 98"/>
          <p:cNvSpPr/>
          <p:nvPr/>
        </p:nvSpPr>
        <p:spPr>
          <a:xfrm>
            <a:off x="3071333" y="400007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모서리가 둥근 직사각형 99"/>
          <p:cNvSpPr/>
          <p:nvPr/>
        </p:nvSpPr>
        <p:spPr>
          <a:xfrm>
            <a:off x="711214" y="429651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1882" y="4371036"/>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9410" y="442489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3" name="타원 102"/>
          <p:cNvSpPr/>
          <p:nvPr/>
        </p:nvSpPr>
        <p:spPr>
          <a:xfrm>
            <a:off x="3071333" y="4406758"/>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675399" y="541594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1211882" y="3754711"/>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2980849" y="3754711"/>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717978" y="3754711"/>
            <a:ext cx="390650"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순번</a:t>
            </a:r>
            <a:endParaRPr lang="en-US" altLang="ko-KR" sz="600" dirty="0">
              <a:solidFill>
                <a:schemeClr val="tx1">
                  <a:lumMod val="85000"/>
                  <a:lumOff val="15000"/>
                </a:schemeClr>
              </a:solidFill>
              <a:latin typeface="맑은 고딕" panose="020B0503020000020004" pitchFamily="50" charset="-127"/>
            </a:endParaRPr>
          </a:p>
        </p:txBody>
      </p:sp>
      <p:grpSp>
        <p:nvGrpSpPr>
          <p:cNvPr id="129" name="그룹 128">
            <a:extLst>
              <a:ext uri="{FF2B5EF4-FFF2-40B4-BE49-F238E27FC236}">
                <a16:creationId xmlns:a16="http://schemas.microsoft.com/office/drawing/2014/main" id="{22BC05EE-C648-7CA2-4CCC-6E1C1A7E9BDA}"/>
              </a:ext>
            </a:extLst>
          </p:cNvPr>
          <p:cNvGrpSpPr/>
          <p:nvPr/>
        </p:nvGrpSpPr>
        <p:grpSpPr>
          <a:xfrm>
            <a:off x="1992981" y="4927594"/>
            <a:ext cx="76863" cy="292489"/>
            <a:chOff x="3750067" y="4683795"/>
            <a:chExt cx="76863" cy="292489"/>
          </a:xfrm>
        </p:grpSpPr>
        <p:sp>
          <p:nvSpPr>
            <p:cNvPr id="130" name="타원 12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1" name="타원 13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2" name="타원 13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31519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33" name="타원 132">
            <a:extLst>
              <a:ext uri="{FF2B5EF4-FFF2-40B4-BE49-F238E27FC236}">
                <a16:creationId xmlns:a16="http://schemas.microsoft.com/office/drawing/2014/main" id="{37A7FF4F-0EAA-1463-560A-D5EC24416103}"/>
              </a:ext>
            </a:extLst>
          </p:cNvPr>
          <p:cNvSpPr/>
          <p:nvPr/>
        </p:nvSpPr>
        <p:spPr>
          <a:xfrm>
            <a:off x="571127" y="39870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354496894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smtClean="0"/>
              <a:t>첨부서류 탭 </a:t>
            </a: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399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첨부파일</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latin typeface="+mn-ea"/>
              </a:rPr>
              <a:t>첨부파일</a:t>
            </a:r>
            <a:r>
              <a:rPr lang="ko-KR" altLang="en-US" dirty="0"/>
              <a:t>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첨부파일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solidFill>
                  <a:srgbClr val="000000"/>
                </a:solidFill>
                <a:latin typeface="맑은 고딕" panose="020B0503020000020004" pitchFamily="50" charset="-127"/>
              </a:rPr>
              <a:t>MUI-BD-01-T73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5399" y="1532195"/>
            <a:ext cx="2712026" cy="1602288"/>
            <a:chOff x="3795735" y="2878425"/>
            <a:chExt cx="2712026" cy="1602288"/>
          </a:xfrm>
        </p:grpSpPr>
        <p:sp>
          <p:nvSpPr>
            <p:cNvPr id="54" name="TextBox 53">
              <a:extLst>
                <a:ext uri="{FF2B5EF4-FFF2-40B4-BE49-F238E27FC236}">
                  <a16:creationId xmlns:a16="http://schemas.microsoft.com/office/drawing/2014/main" id="{FFC49AEA-2A8F-250C-A86A-A7751D9706C3}"/>
                </a:ext>
              </a:extLst>
            </p:cNvPr>
            <p:cNvSpPr txBox="1"/>
            <p:nvPr/>
          </p:nvSpPr>
          <p:spPr>
            <a:xfrm>
              <a:off x="3878080" y="2878425"/>
              <a:ext cx="728875" cy="215444"/>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55" name="그룹 54"/>
            <p:cNvGrpSpPr/>
            <p:nvPr/>
          </p:nvGrpSpPr>
          <p:grpSpPr>
            <a:xfrm flipV="1">
              <a:off x="6240167" y="2991756"/>
              <a:ext cx="94010" cy="47005"/>
              <a:chOff x="6812560" y="3297172"/>
              <a:chExt cx="94010" cy="47005"/>
            </a:xfrm>
          </p:grpSpPr>
          <p:cxnSp>
            <p:nvCxnSpPr>
              <p:cNvPr id="56" name="직선 연결선 5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7" name="직선 연결선 5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8" name="모서리가 둥근 직사각형 57"/>
            <p:cNvSpPr/>
            <p:nvPr/>
          </p:nvSpPr>
          <p:spPr>
            <a:xfrm>
              <a:off x="3831550" y="327681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TextBox 58">
              <a:extLst>
                <a:ext uri="{FF2B5EF4-FFF2-40B4-BE49-F238E27FC236}">
                  <a16:creationId xmlns:a16="http://schemas.microsoft.com/office/drawing/2014/main" id="{FFC49AEA-2A8F-250C-A86A-A7751D9706C3}"/>
                </a:ext>
              </a:extLst>
            </p:cNvPr>
            <p:cNvSpPr txBox="1"/>
            <p:nvPr/>
          </p:nvSpPr>
          <p:spPr>
            <a:xfrm>
              <a:off x="4332218" y="335133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60" name="TextBox 59">
              <a:extLst>
                <a:ext uri="{FF2B5EF4-FFF2-40B4-BE49-F238E27FC236}">
                  <a16:creationId xmlns:a16="http://schemas.microsoft.com/office/drawing/2014/main" id="{FFC49AEA-2A8F-250C-A86A-A7751D9706C3}"/>
                </a:ext>
              </a:extLst>
            </p:cNvPr>
            <p:cNvSpPr txBox="1"/>
            <p:nvPr/>
          </p:nvSpPr>
          <p:spPr>
            <a:xfrm>
              <a:off x="3909746" y="3405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61" name="타원 60"/>
            <p:cNvSpPr/>
            <p:nvPr/>
          </p:nvSpPr>
          <p:spPr>
            <a:xfrm>
              <a:off x="6191669" y="338705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모서리가 둥근 직사각형 61"/>
            <p:cNvSpPr/>
            <p:nvPr/>
          </p:nvSpPr>
          <p:spPr>
            <a:xfrm>
              <a:off x="3831550" y="368349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TextBox 62">
              <a:extLst>
                <a:ext uri="{FF2B5EF4-FFF2-40B4-BE49-F238E27FC236}">
                  <a16:creationId xmlns:a16="http://schemas.microsoft.com/office/drawing/2014/main" id="{FFC49AEA-2A8F-250C-A86A-A7751D9706C3}"/>
                </a:ext>
              </a:extLst>
            </p:cNvPr>
            <p:cNvSpPr txBox="1"/>
            <p:nvPr/>
          </p:nvSpPr>
          <p:spPr>
            <a:xfrm>
              <a:off x="4332218" y="375801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64" name="TextBox 63">
              <a:extLst>
                <a:ext uri="{FF2B5EF4-FFF2-40B4-BE49-F238E27FC236}">
                  <a16:creationId xmlns:a16="http://schemas.microsoft.com/office/drawing/2014/main" id="{FFC49AEA-2A8F-250C-A86A-A7751D9706C3}"/>
                </a:ext>
              </a:extLst>
            </p:cNvPr>
            <p:cNvSpPr txBox="1"/>
            <p:nvPr/>
          </p:nvSpPr>
          <p:spPr>
            <a:xfrm>
              <a:off x="3909746" y="381187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65" name="타원 64"/>
            <p:cNvSpPr/>
            <p:nvPr/>
          </p:nvSpPr>
          <p:spPr>
            <a:xfrm>
              <a:off x="6191669" y="379374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1" name="직선 연결선 80">
              <a:extLst>
                <a:ext uri="{FF2B5EF4-FFF2-40B4-BE49-F238E27FC236}">
                  <a16:creationId xmlns:a16="http://schemas.microsoft.com/office/drawing/2014/main" id="{E9293055-D5CD-4B9E-7F64-64B2D2CA7A52}"/>
                </a:ext>
              </a:extLst>
            </p:cNvPr>
            <p:cNvCxnSpPr/>
            <p:nvPr/>
          </p:nvCxnSpPr>
          <p:spPr>
            <a:xfrm>
              <a:off x="3795735" y="4480713"/>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4" name="TextBox 83">
              <a:extLst>
                <a:ext uri="{FF2B5EF4-FFF2-40B4-BE49-F238E27FC236}">
                  <a16:creationId xmlns:a16="http://schemas.microsoft.com/office/drawing/2014/main" id="{FFC49AEA-2A8F-250C-A86A-A7751D9706C3}"/>
                </a:ext>
              </a:extLst>
            </p:cNvPr>
            <p:cNvSpPr txBox="1"/>
            <p:nvPr/>
          </p:nvSpPr>
          <p:spPr>
            <a:xfrm>
              <a:off x="4332218" y="314169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6101185" y="314169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86" name="TextBox 85">
              <a:extLst>
                <a:ext uri="{FF2B5EF4-FFF2-40B4-BE49-F238E27FC236}">
                  <a16:creationId xmlns:a16="http://schemas.microsoft.com/office/drawing/2014/main" id="{FFC49AEA-2A8F-250C-A86A-A7751D9706C3}"/>
                </a:ext>
              </a:extLst>
            </p:cNvPr>
            <p:cNvSpPr txBox="1"/>
            <p:nvPr/>
          </p:nvSpPr>
          <p:spPr>
            <a:xfrm>
              <a:off x="3838314" y="3141693"/>
              <a:ext cx="390650"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순번</a:t>
              </a:r>
              <a:endParaRPr lang="en-US" altLang="ko-KR" sz="600" dirty="0">
                <a:solidFill>
                  <a:schemeClr val="tx1">
                    <a:lumMod val="85000"/>
                    <a:lumOff val="15000"/>
                  </a:schemeClr>
                </a:solidFill>
                <a:latin typeface="맑은 고딕" panose="020B0503020000020004" pitchFamily="50" charset="-127"/>
              </a:endParaRPr>
            </a:p>
          </p:txBody>
        </p:sp>
      </p:grpSp>
    </p:spTree>
    <p:extLst>
      <p:ext uri="{BB962C8B-B14F-4D97-AF65-F5344CB8AC3E}">
        <p14:creationId xmlns:p14="http://schemas.microsoft.com/office/powerpoint/2010/main" val="636816400"/>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400</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17103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공지사항 데이터 영역 </a:t>
            </a:r>
            <a:r>
              <a:rPr lang="en-US" altLang="ko-KR" sz="900" b="1" dirty="0">
                <a:solidFill>
                  <a:prstClr val="black"/>
                </a:solidFill>
              </a:rPr>
              <a:t>(</a:t>
            </a:r>
            <a:r>
              <a:rPr lang="en-US" altLang="ko-KR" sz="900" b="1" dirty="0" err="1">
                <a:solidFill>
                  <a:prstClr val="black"/>
                </a:solidFill>
              </a:rPr>
              <a:t>dm_ntcInfo</a:t>
            </a:r>
            <a:r>
              <a:rPr lang="en-US" altLang="ko-KR" sz="900" b="1" dirty="0">
                <a:solidFill>
                  <a:prstClr val="black"/>
                </a:solidFill>
              </a:rPr>
              <a:t>)</a:t>
            </a:r>
            <a:endParaRPr lang="ko-KR" altLang="en-US" sz="900" b="1" dirty="0">
              <a:solidFill>
                <a:prstClr val="black"/>
              </a:solidFill>
            </a:endParaRPr>
          </a:p>
        </p:txBody>
      </p:sp>
      <p:sp>
        <p:nvSpPr>
          <p:cNvPr id="11" name="TextBox 10">
            <a:extLst>
              <a:ext uri="{FF2B5EF4-FFF2-40B4-BE49-F238E27FC236}">
                <a16:creationId xmlns:a16="http://schemas.microsoft.com/office/drawing/2014/main" id="{83358D31-792E-1F31-CE2A-A2AE122E42CC}"/>
              </a:ext>
            </a:extLst>
          </p:cNvPr>
          <p:cNvSpPr txBox="1"/>
          <p:nvPr/>
        </p:nvSpPr>
        <p:spPr>
          <a:xfrm>
            <a:off x="458117" y="1911471"/>
            <a:ext cx="251247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공지가 등록된 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ntcCn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공고에 등록된 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graphicFrame>
        <p:nvGraphicFramePr>
          <p:cNvPr id="2" name="표 1">
            <a:extLst>
              <a:ext uri="{FF2B5EF4-FFF2-40B4-BE49-F238E27FC236}">
                <a16:creationId xmlns:a16="http://schemas.microsoft.com/office/drawing/2014/main" id="{3969C2BD-BAE7-E4E1-6BA5-91005212D745}"/>
              </a:ext>
            </a:extLst>
          </p:cNvPr>
          <p:cNvGraphicFramePr>
            <a:graphicFrameLocks noGrp="1"/>
          </p:cNvGraphicFramePr>
          <p:nvPr/>
        </p:nvGraphicFramePr>
        <p:xfrm>
          <a:off x="452999" y="2131282"/>
          <a:ext cx="8994883" cy="40723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9516148"/>
                  </a:ext>
                </a:extLst>
              </a:tr>
              <a:tr h="0">
                <a:tc>
                  <a:txBody>
                    <a:bodyPr/>
                    <a:lstStyle/>
                    <a:p>
                      <a:pPr algn="l" fontAlgn="ctr"/>
                      <a:r>
                        <a:rPr lang="ko-KR" altLang="en-US" sz="800" b="0" i="0" u="none" strike="noStrike" dirty="0">
                          <a:solidFill>
                            <a:srgbClr val="000000"/>
                          </a:solidFill>
                          <a:effectLst/>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공고구분</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5136005"/>
                  </a:ext>
                </a:extLst>
              </a:tr>
              <a:tr h="0">
                <a:tc>
                  <a:txBody>
                    <a:bodyPr/>
                    <a:lstStyle/>
                    <a:p>
                      <a:pPr algn="l" fontAlgn="ctr"/>
                      <a:r>
                        <a:rPr lang="ko-KR" altLang="en-US" sz="800" b="0" i="0" u="none" strike="noStrike" dirty="0">
                          <a:solidFill>
                            <a:srgbClr val="000000"/>
                          </a:solidFill>
                          <a:effectLst/>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9167462"/>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5625234"/>
                  </a:ext>
                </a:extLst>
              </a:tr>
              <a:tr h="0">
                <a:tc>
                  <a:txBody>
                    <a:bodyPr/>
                    <a:lstStyle/>
                    <a:p>
                      <a:pPr algn="l" fontAlgn="ct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36784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3656418"/>
                  </a:ext>
                </a:extLst>
              </a:tr>
              <a:tr h="0">
                <a:tc>
                  <a:txBody>
                    <a:bodyPr/>
                    <a:lstStyle/>
                    <a:p>
                      <a:pPr algn="l" fontAlgn="ctr"/>
                      <a:r>
                        <a:rPr lang="ko-KR" altLang="en-US" sz="800" b="0" i="0" u="none" strike="noStrike">
                          <a:solidFill>
                            <a:srgbClr val="000000"/>
                          </a:solidFill>
                          <a:effectLst/>
                          <a:latin typeface="+mn-ea"/>
                          <a:ea typeface="+mn-ea"/>
                        </a:rPr>
                        <a:t>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819665"/>
                  </a:ext>
                </a:extLst>
              </a:tr>
              <a:tr h="0">
                <a:tc>
                  <a:txBody>
                    <a:bodyPr/>
                    <a:lstStyle/>
                    <a:p>
                      <a:pPr algn="l" fontAlgn="ctr"/>
                      <a:r>
                        <a:rPr lang="ko-KR" altLang="en-US" sz="800" b="0" i="0" u="none" strike="noStrike">
                          <a:solidFill>
                            <a:srgbClr val="000000"/>
                          </a:solidFill>
                          <a:effectLst/>
                          <a:latin typeface="+mn-ea"/>
                          <a:ea typeface="+mn-ea"/>
                        </a:rPr>
                        <a:t>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bidMedia</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3514083"/>
                  </a:ext>
                </a:extLst>
              </a:tr>
              <a:tr h="0">
                <a:tc>
                  <a:txBody>
                    <a:bodyPr/>
                    <a:lstStyle/>
                    <a:p>
                      <a:pPr algn="l" fontAlgn="ctr"/>
                      <a:r>
                        <a:rPr lang="ko-KR" altLang="en-US" sz="800" b="0" i="0" u="none" strike="noStrike" dirty="0">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8368488"/>
                  </a:ext>
                </a:extLst>
              </a:tr>
              <a:tr h="0">
                <a:tc>
                  <a:txBody>
                    <a:bodyPr/>
                    <a:lstStyle/>
                    <a:p>
                      <a:pPr algn="l" fontAlgn="ctr"/>
                      <a:r>
                        <a:rPr lang="ko-KR" altLang="en-US" sz="800" b="0" i="0" u="none" strike="noStrike" dirty="0">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919282"/>
                  </a:ext>
                </a:extLst>
              </a:tr>
              <a:tr h="0">
                <a:tc>
                  <a:txBody>
                    <a:bodyPr/>
                    <a:lstStyle/>
                    <a:p>
                      <a:pPr algn="l" fontAlgn="ctr"/>
                      <a:r>
                        <a:rPr lang="ko-KR" altLang="en-US" sz="800" b="0" i="0" u="none" strike="noStrike" dirty="0" err="1">
                          <a:solidFill>
                            <a:srgbClr val="000000"/>
                          </a:solidFill>
                          <a:effectLst/>
                          <a:latin typeface="+mn-ea"/>
                          <a:ea typeface="+mn-ea"/>
                        </a:rPr>
                        <a:t>총금액</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총금액</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92075" indent="-92075" algn="l" latinLnBrk="1">
                        <a:buFont typeface="Arial" panose="020B0604020202020204" pitchFamily="34" charset="0"/>
                        <a:buChar char="•"/>
                      </a:pPr>
                      <a:r>
                        <a:rPr lang="ko-KR" altLang="en-US" sz="800" dirty="0">
                          <a:solidFill>
                            <a:schemeClr val="tx1"/>
                          </a:solidFill>
                          <a:latin typeface="+mn-ea"/>
                          <a:ea typeface="+mn-ea"/>
                        </a:rPr>
                        <a:t>달러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7241225"/>
                  </a:ext>
                </a:extLst>
              </a:tr>
              <a:tr h="0">
                <a:tc>
                  <a:txBody>
                    <a:bodyPr/>
                    <a:lstStyle/>
                    <a:p>
                      <a:pPr algn="l" fontAlgn="ctr"/>
                      <a:r>
                        <a:rPr lang="ko-KR" altLang="en-US" sz="800" b="0" i="0" u="none" strike="noStrike">
                          <a:solidFill>
                            <a:srgbClr val="000000"/>
                          </a:solidFill>
                          <a:effectLst/>
                          <a:latin typeface="+mn-ea"/>
                          <a:ea typeface="+mn-ea"/>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7904097"/>
                  </a:ext>
                </a:extLst>
              </a:tr>
              <a:tr h="0">
                <a:tc>
                  <a:txBody>
                    <a:bodyPr/>
                    <a:lstStyle/>
                    <a:p>
                      <a:pPr algn="l" fontAlgn="ctr"/>
                      <a:r>
                        <a:rPr lang="ko-KR" altLang="en-US" sz="800" b="0" i="0" u="none" strike="noStrike" dirty="0" err="1">
                          <a:solidFill>
                            <a:srgbClr val="000000"/>
                          </a:solidFill>
                          <a:effectLst/>
                          <a:latin typeface="+mn-ea"/>
                          <a:ea typeface="+mn-ea"/>
                        </a:rPr>
                        <a:t>공고품목수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3795502"/>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입찰참가등록마감일시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6528358"/>
                  </a:ext>
                </a:extLst>
              </a:tr>
              <a:tr h="0">
                <a:tc>
                  <a:txBody>
                    <a:bodyPr/>
                    <a:lstStyle/>
                    <a:p>
                      <a:pPr algn="l" fontAlgn="ctr"/>
                      <a:r>
                        <a:rPr lang="ko-KR" altLang="en-US" sz="800" b="0" i="0" u="none" strike="noStrike" dirty="0">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682420"/>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2363760"/>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4561903"/>
                  </a:ext>
                </a:extLst>
              </a:tr>
              <a:tr h="0">
                <a:tc>
                  <a:txBody>
                    <a:bodyPr/>
                    <a:lstStyle/>
                    <a:p>
                      <a:pPr algn="l" fontAlgn="ctr"/>
                      <a:r>
                        <a:rPr lang="ko-KR" altLang="en-US" sz="800" b="0" i="0" u="none" strike="noStrike" dirty="0">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5" name="Text Box 73">
            <a:extLst>
              <a:ext uri="{FF2B5EF4-FFF2-40B4-BE49-F238E27FC236}">
                <a16:creationId xmlns:a16="http://schemas.microsoft.com/office/drawing/2014/main" id="{6F704B4B-1EA4-54DD-D927-32B048F785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40498459"/>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첨부서류 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5613054"/>
                  </a:ext>
                </a:extLst>
              </a:tr>
              <a:tr h="0">
                <a:tc>
                  <a:txBody>
                    <a:bodyPr/>
                    <a:lstStyle/>
                    <a:p>
                      <a:pPr algn="l" fontAlgn="ctr"/>
                      <a:r>
                        <a:rPr lang="ko-KR" altLang="en-US" sz="800" b="0" i="0" u="none" strike="noStrike" dirty="0">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슬라이드 번호 개체 틀 4">
            <a:extLst>
              <a:ext uri="{FF2B5EF4-FFF2-40B4-BE49-F238E27FC236}">
                <a16:creationId xmlns:a16="http://schemas.microsoft.com/office/drawing/2014/main" id="{D1E2B51F-C120-CDEF-93BC-81FB21430B02}"/>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401</a:t>
            </a:fld>
            <a:endParaRPr lang="ko-KR" altLang="en-US"/>
          </a:p>
        </p:txBody>
      </p:sp>
      <p:sp>
        <p:nvSpPr>
          <p:cNvPr id="3" name="Text Box 73">
            <a:extLst>
              <a:ext uri="{FF2B5EF4-FFF2-40B4-BE49-F238E27FC236}">
                <a16:creationId xmlns:a16="http://schemas.microsoft.com/office/drawing/2014/main" id="{F2DE5AB1-D284-71B0-AB9F-294A08641C9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1968180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402</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(3/3</a:t>
            </a:r>
            <a:r>
              <a:rPr lang="en-US" altLang="ko-KR" sz="1000" b="1" dirty="0">
                <a:solidFill>
                  <a:prstClr val="black"/>
                </a:solidFill>
              </a:rPr>
              <a:t>)</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140577"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품목목록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(dl_itemList)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45820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103206">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mn-ea"/>
                          <a:ea typeface="+mn-ea"/>
                        </a:rPr>
                        <a:t>Y</a:t>
                      </a:r>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inspShpNm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2395805"/>
                  </a:ext>
                </a:extLst>
              </a:tr>
              <a:tr h="0">
                <a:tc>
                  <a:txBody>
                    <a:bodyPr/>
                    <a:lstStyle/>
                    <a:p>
                      <a:pPr algn="l" fontAlgn="ctr"/>
                      <a:r>
                        <a:rPr lang="ko-KR" altLang="en-US" sz="800" b="0" i="0" u="none" strike="noStrike">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첨부 문서</a:t>
                      </a:r>
                      <a:r>
                        <a:rPr lang="en-US" altLang="ko-KR" sz="800" b="0" i="0" u="none" strike="noStrike" dirty="0">
                          <a:solidFill>
                            <a:srgbClr val="000000"/>
                          </a:solidFill>
                          <a:effectLst/>
                          <a:latin typeface="+mn-ea"/>
                          <a:ea typeface="+mn-ea"/>
                        </a:rPr>
                        <a:t>ID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8313790"/>
                  </a:ext>
                </a:extLst>
              </a:tr>
              <a:tr h="0">
                <a:tc>
                  <a:txBody>
                    <a:bodyPr/>
                    <a:lstStyle/>
                    <a:p>
                      <a:pPr algn="l" fontAlgn="ctr"/>
                      <a:r>
                        <a:rPr lang="ko-KR" altLang="en-US" sz="800" b="0" i="0" u="none" strike="noStrike" dirty="0" err="1">
                          <a:solidFill>
                            <a:srgbClr val="000000"/>
                          </a:solidFill>
                          <a:effectLst/>
                          <a:latin typeface="+mn-ea"/>
                          <a:ea typeface="+mn-ea"/>
                        </a:rPr>
                        <a:t>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9877418"/>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폼목의</a:t>
                      </a:r>
                      <a:r>
                        <a:rPr lang="ko-KR" altLang="en-US" sz="800" b="0" i="0" u="none" strike="noStrike" dirty="0">
                          <a:solidFill>
                            <a:srgbClr val="000000"/>
                          </a:solidFill>
                          <a:effectLst/>
                          <a:latin typeface="+mn-ea"/>
                          <a:ea typeface="+mn-ea"/>
                        </a:rPr>
                        <a:t>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2335966"/>
                  </a:ext>
                </a:extLst>
              </a:tr>
              <a:tr h="0">
                <a:tc>
                  <a:txBody>
                    <a:bodyPr/>
                    <a:lstStyle/>
                    <a:p>
                      <a:pPr algn="l" fontAlgn="ctr"/>
                      <a:r>
                        <a:rPr lang="ko-KR" altLang="en-US" sz="800" b="0" i="0" u="none" strike="noStrike">
                          <a:solidFill>
                            <a:srgbClr val="000000"/>
                          </a:solidFill>
                          <a:effectLst/>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spcfctNo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996289"/>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09395"/>
                  </a:ext>
                </a:extLst>
              </a:tr>
              <a:tr h="0">
                <a:tc>
                  <a:txBody>
                    <a:bodyPr/>
                    <a:lstStyle/>
                    <a:p>
                      <a:pPr algn="l" fontAlgn="ctr"/>
                      <a:r>
                        <a:rPr lang="ko-KR" altLang="en-US" sz="800" b="0" i="0" u="none" strike="noStrike">
                          <a:solidFill>
                            <a:srgbClr val="000000"/>
                          </a:solidFill>
                          <a:effectLst/>
                          <a:latin typeface="+mn-ea"/>
                          <a:ea typeface="+mn-ea"/>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6072090"/>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6703505"/>
                  </a:ext>
                </a:extLst>
              </a:tr>
              <a:tr h="0">
                <a:tc>
                  <a:txBody>
                    <a:bodyPr/>
                    <a:lstStyle/>
                    <a:p>
                      <a:pPr algn="l" fontAlgn="ctr"/>
                      <a:r>
                        <a:rPr lang="ko-KR" altLang="en-US" sz="800" b="0" i="0" u="none" strike="noStrike">
                          <a:solidFill>
                            <a:srgbClr val="000000"/>
                          </a:solidFill>
                          <a:effectLst/>
                          <a:latin typeface="+mn-ea"/>
                          <a:ea typeface="+mn-ea"/>
                        </a:rPr>
                        <a:t>본조수량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9844663"/>
                  </a:ext>
                </a:extLst>
              </a:tr>
              <a:tr h="0">
                <a:tc>
                  <a:txBody>
                    <a:bodyPr/>
                    <a:lstStyle/>
                    <a:p>
                      <a:pPr algn="l" fontAlgn="ctr"/>
                      <a:r>
                        <a:rPr lang="ko-KR" altLang="en-US" sz="800" b="0" i="0" u="none" strike="noStrike" dirty="0">
                          <a:solidFill>
                            <a:srgbClr val="000000"/>
                          </a:solidFill>
                          <a:effectLst/>
                          <a:latin typeface="+mn-ea"/>
                          <a:ea typeface="+mn-ea"/>
                        </a:rPr>
                        <a:t>당국수량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1850839"/>
                  </a:ext>
                </a:extLst>
              </a:tr>
              <a:tr h="0">
                <a:tc>
                  <a:txBody>
                    <a:bodyPr/>
                    <a:lstStyle/>
                    <a:p>
                      <a:pPr algn="l" fontAlgn="ctr"/>
                      <a:r>
                        <a:rPr lang="ko-KR" altLang="en-US" sz="800" b="0" i="0" u="none" strike="noStrike">
                          <a:solidFill>
                            <a:srgbClr val="000000"/>
                          </a:solidFill>
                          <a:effectLst/>
                          <a:latin typeface="+mn-ea"/>
                          <a:ea typeface="+mn-ea"/>
                        </a:rPr>
                        <a:t>장국수량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장기국채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7697221"/>
                  </a:ext>
                </a:extLst>
              </a:tr>
              <a:tr h="0">
                <a:tc>
                  <a:txBody>
                    <a:bodyPr/>
                    <a:lstStyle/>
                    <a:p>
                      <a:pPr algn="l" fontAlgn="ctr"/>
                      <a:r>
                        <a:rPr lang="ko-KR" altLang="en-US" sz="800" b="0" i="0" u="none" strike="noStrike">
                          <a:solidFill>
                            <a:srgbClr val="000000"/>
                          </a:solidFill>
                          <a:effectLst/>
                          <a:latin typeface="+mn-ea"/>
                          <a:ea typeface="+mn-ea"/>
                        </a:rPr>
                        <a:t>본조예산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 예산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8235322"/>
                  </a:ext>
                </a:extLst>
              </a:tr>
              <a:tr h="0">
                <a:tc>
                  <a:txBody>
                    <a:bodyPr/>
                    <a:lstStyle/>
                    <a:p>
                      <a:pPr algn="l" fontAlgn="ctr"/>
                      <a:r>
                        <a:rPr lang="ko-KR" altLang="en-US" sz="800" b="0" i="0" u="none" strike="noStrike">
                          <a:solidFill>
                            <a:srgbClr val="000000"/>
                          </a:solidFill>
                          <a:effectLst/>
                          <a:latin typeface="+mn-ea"/>
                          <a:ea typeface="+mn-ea"/>
                        </a:rPr>
                        <a:t>당국예산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1718300"/>
                  </a:ext>
                </a:extLst>
              </a:tr>
              <a:tr h="0">
                <a:tc>
                  <a:txBody>
                    <a:bodyPr/>
                    <a:lstStyle/>
                    <a:p>
                      <a:pPr algn="l" fontAlgn="ctr"/>
                      <a:r>
                        <a:rPr lang="ko-KR" altLang="en-US" sz="800" b="0" i="0" u="none" strike="noStrike">
                          <a:solidFill>
                            <a:srgbClr val="000000"/>
                          </a:solidFill>
                          <a:effectLst/>
                          <a:latin typeface="+mn-ea"/>
                          <a:ea typeface="+mn-ea"/>
                        </a:rPr>
                        <a:t>장국예산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장기국채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9331676"/>
                  </a:ext>
                </a:extLst>
              </a:tr>
              <a:tr h="0">
                <a:tc>
                  <a:txBody>
                    <a:bodyPr/>
                    <a:lstStyle/>
                    <a:p>
                      <a:pPr algn="l" fontAlgn="ctr"/>
                      <a:r>
                        <a:rPr lang="ko-KR" altLang="en-US" sz="800" b="0" i="0" u="none" strike="noStrike">
                          <a:solidFill>
                            <a:srgbClr val="000000"/>
                          </a:solidFill>
                          <a:effectLst/>
                          <a:latin typeface="+mn-ea"/>
                          <a:ea typeface="+mn-ea"/>
                        </a:rPr>
                        <a:t>수량합계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수량합계</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b="0" i="0" u="none" strike="noStrike" dirty="0">
                          <a:solidFill>
                            <a:srgbClr val="000000"/>
                          </a:solidFill>
                          <a:effectLst/>
                          <a:latin typeface="+mn-ea"/>
                          <a:ea typeface="+mn-ea"/>
                        </a:rPr>
                        <a:t>본조수량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당국수량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장국수량</a:t>
                      </a:r>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5868606"/>
                  </a:ext>
                </a:extLst>
              </a:tr>
              <a:tr h="0">
                <a:tc>
                  <a:txBody>
                    <a:bodyPr/>
                    <a:lstStyle/>
                    <a:p>
                      <a:pPr algn="l" fontAlgn="ctr"/>
                      <a:r>
                        <a:rPr lang="ko-KR" altLang="en-US" sz="800" b="0" i="0" u="none" strike="noStrike" dirty="0">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화페단위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8505758"/>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5560114"/>
                  </a:ext>
                </a:extLst>
              </a:tr>
              <a:tr h="0">
                <a:tc>
                  <a:txBody>
                    <a:bodyPr/>
                    <a:lstStyle/>
                    <a:p>
                      <a:pPr algn="l" fontAlgn="ctr"/>
                      <a:r>
                        <a:rPr lang="ko-KR" altLang="en-US" sz="800" b="0" i="0" u="none" strike="noStrike" dirty="0">
                          <a:solidFill>
                            <a:srgbClr val="000000"/>
                          </a:solidFill>
                          <a:effectLst/>
                          <a:latin typeface="+mn-ea"/>
                          <a:ea typeface="+mn-ea"/>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6767"/>
                  </a:ext>
                </a:extLst>
              </a:tr>
              <a:tr h="0">
                <a:tc>
                  <a:txBody>
                    <a:bodyPr/>
                    <a:lstStyle/>
                    <a:p>
                      <a:pPr algn="l" fontAlgn="ctr"/>
                      <a:r>
                        <a:rPr lang="ko-KR" altLang="en-US" sz="800" b="0" i="0" u="none" strike="noStrike">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8711295"/>
                  </a:ext>
                </a:extLst>
              </a:tr>
              <a:tr h="0">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보관함여부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lockerYn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보관함에 추가된 품목인지 표시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r>
                        <a:rPr lang="ko-KR" altLang="en-US" sz="800" b="0" dirty="0">
                          <a:solidFill>
                            <a:schemeClr val="tx1"/>
                          </a:solidFill>
                          <a:latin typeface="+mn-ea"/>
                          <a:ea typeface="+mn-ea"/>
                        </a:rPr>
                        <a:t>값 </a:t>
                      </a:r>
                      <a:r>
                        <a:rPr lang="en-US" altLang="ko-KR" sz="800" b="0" dirty="0">
                          <a:solidFill>
                            <a:schemeClr val="tx1"/>
                          </a:solidFill>
                          <a:latin typeface="+mn-ea"/>
                          <a:ea typeface="+mn-ea"/>
                        </a:rPr>
                        <a:t>(Y, N)</a:t>
                      </a:r>
                    </a:p>
                    <a:p>
                      <a:pPr marL="88900" indent="-88900" algn="l" latinLnBrk="1">
                        <a:buFont typeface="Arial" panose="020B0604020202020204" pitchFamily="34" charset="0"/>
                        <a:buChar char="•"/>
                      </a:pPr>
                      <a:r>
                        <a:rPr lang="ko-KR" altLang="en-US" sz="800" kern="1200">
                          <a:solidFill>
                            <a:schemeClr val="tx1"/>
                          </a:solidFill>
                          <a:latin typeface="+mn-lt"/>
                          <a:ea typeface="+mn-ea"/>
                          <a:cs typeface="+mn-cs"/>
                        </a:rPr>
                        <a:t>업체담당자인</a:t>
                      </a:r>
                      <a:r>
                        <a:rPr lang="ko-KR" altLang="en-US" sz="800" b="0">
                          <a:solidFill>
                            <a:schemeClr val="tx1"/>
                          </a:solidFill>
                          <a:latin typeface="+mn-ea"/>
                          <a:ea typeface="+mn-ea"/>
                        </a:rPr>
                        <a:t> </a:t>
                      </a:r>
                      <a:r>
                        <a:rPr lang="ko-KR" altLang="en-US" sz="800" b="0" dirty="0">
                          <a:solidFill>
                            <a:schemeClr val="tx1"/>
                          </a:solidFill>
                          <a:latin typeface="+mn-ea"/>
                          <a:ea typeface="+mn-ea"/>
                        </a:rPr>
                        <a:t>경우에만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Text Box 73">
            <a:extLst>
              <a:ext uri="{FF2B5EF4-FFF2-40B4-BE49-F238E27FC236}">
                <a16:creationId xmlns:a16="http://schemas.microsoft.com/office/drawing/2014/main" id="{ADA51300-06F1-4ACA-D27E-E24C195B5C8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164610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403</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A31F6A43-1297-CF99-ABFA-B1F80565E966}"/>
              </a:ext>
            </a:extLst>
          </p:cNvPr>
          <p:cNvGraphicFramePr>
            <a:graphicFrameLocks noGrp="1"/>
          </p:cNvGraphicFramePr>
          <p:nvPr>
            <p:extLst>
              <p:ext uri="{D42A27DB-BD31-4B8C-83A1-F6EECF244321}">
                <p14:modId xmlns:p14="http://schemas.microsoft.com/office/powerpoint/2010/main" val="3208294671"/>
              </p:ext>
            </p:extLst>
          </p:nvPr>
        </p:nvGraphicFramePr>
        <p:xfrm>
          <a:off x="458117" y="799547"/>
          <a:ext cx="8995590" cy="3424320"/>
        </p:xfrm>
        <a:graphic>
          <a:graphicData uri="http://schemas.openxmlformats.org/drawingml/2006/table">
            <a:tbl>
              <a:tblPr>
                <a:tableStyleId>{616DA210-FB5B-4158-B5E0-FEB733F419BA}</a:tableStyleId>
              </a:tblPr>
              <a:tblGrid>
                <a:gridCol w="1380208">
                  <a:extLst>
                    <a:ext uri="{9D8B030D-6E8A-4147-A177-3AD203B41FA5}">
                      <a16:colId xmlns:a16="http://schemas.microsoft.com/office/drawing/2014/main" val="20000"/>
                    </a:ext>
                  </a:extLst>
                </a:gridCol>
                <a:gridCol w="1514475">
                  <a:extLst>
                    <a:ext uri="{9D8B030D-6E8A-4147-A177-3AD203B41FA5}">
                      <a16:colId xmlns:a16="http://schemas.microsoft.com/office/drawing/2014/main" val="624624882"/>
                    </a:ext>
                  </a:extLst>
                </a:gridCol>
                <a:gridCol w="3305174">
                  <a:extLst>
                    <a:ext uri="{9D8B030D-6E8A-4147-A177-3AD203B41FA5}">
                      <a16:colId xmlns:a16="http://schemas.microsoft.com/office/drawing/2014/main" val="20001"/>
                    </a:ext>
                  </a:extLst>
                </a:gridCol>
                <a:gridCol w="279573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공고상세정보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입찰공고상세조회</a:t>
                      </a:r>
                      <a:r>
                        <a:rPr lang="en-US" altLang="ko-KR" sz="800" dirty="0">
                          <a:latin typeface="+mn-ea"/>
                          <a:ea typeface="+mn-ea"/>
                        </a:rPr>
                        <a:t>, </a:t>
                      </a:r>
                      <a:r>
                        <a:rPr lang="ko-KR" altLang="en-US" sz="800" dirty="0">
                          <a:latin typeface="+mn-ea"/>
                          <a:ea typeface="+mn-ea"/>
                        </a:rPr>
                        <a:t>입찰품목목록조회</a:t>
                      </a:r>
                      <a:r>
                        <a:rPr lang="en-US" altLang="ko-KR" sz="800" dirty="0">
                          <a:latin typeface="+mn-ea"/>
                          <a:ea typeface="+mn-ea"/>
                        </a:rPr>
                        <a:t>, </a:t>
                      </a:r>
                      <a:r>
                        <a:rPr lang="ko-KR" altLang="en-US" sz="800" dirty="0">
                          <a:latin typeface="+mn-ea"/>
                          <a:ea typeface="+mn-ea"/>
                        </a:rPr>
                        <a:t>공지사항조회</a:t>
                      </a:r>
                      <a:r>
                        <a:rPr lang="en-US" altLang="ko-KR" sz="800" dirty="0">
                          <a:latin typeface="+mn-ea"/>
                          <a:ea typeface="+mn-ea"/>
                        </a:rPr>
                        <a:t>, </a:t>
                      </a:r>
                      <a:r>
                        <a:rPr lang="ko-KR" altLang="en-US" sz="800" dirty="0">
                          <a:latin typeface="+mn-ea"/>
                          <a:ea typeface="+mn-ea"/>
                        </a:rPr>
                        <a:t>첨부서류목록조회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첨부문서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smtClean="0">
                          <a:latin typeface="+mn-ea"/>
                          <a:ea typeface="+mn-ea"/>
                        </a:rPr>
                        <a:t>첨부파일 조회 팝업을 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fontAlgn="ctr">
                        <a:buFont typeface="Arial" panose="020B0604020202020204" pitchFamily="34" charset="0"/>
                        <a:buChar char="•"/>
                      </a:pPr>
                      <a:r>
                        <a:rPr lang="en-US" sz="800" b="0" i="0" u="none" strike="noStrike" kern="1200" dirty="0">
                          <a:solidFill>
                            <a:srgbClr val="000000"/>
                          </a:solidFill>
                          <a:effectLst/>
                          <a:latin typeface="맑은 고딕" panose="020B0503020000020004" pitchFamily="50" charset="-127"/>
                          <a:ea typeface="맑은 고딕" panose="020B0503020000020004" pitchFamily="50" charset="-127"/>
                          <a:cs typeface="+mn-cs"/>
                        </a:rPr>
                        <a:t>MUI-BD-01-P76</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4047301"/>
                  </a:ext>
                </a:extLst>
              </a:tr>
              <a:tr h="0">
                <a:tc>
                  <a:txBody>
                    <a:bodyPr/>
                    <a:lstStyle/>
                    <a:p>
                      <a:r>
                        <a:rPr lang="ko-KR" altLang="en-US" sz="800" dirty="0" err="1"/>
                        <a:t>재고번호</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scwin.grd_list_oncellclick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목록정보조회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smtClean="0">
                          <a:solidFill>
                            <a:srgbClr val="000000"/>
                          </a:solidFill>
                          <a:effectLst/>
                          <a:latin typeface="맑은 고딕" panose="020B0503020000020004" pitchFamily="50" charset="-127"/>
                          <a:ea typeface="맑은 고딕" panose="020B0503020000020004" pitchFamily="50" charset="-127"/>
                        </a:rPr>
                        <a:t>MUI-OP-01-P76 </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참조</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6658"/>
                  </a:ext>
                </a:extLst>
              </a:tr>
              <a:tr h="158451">
                <a:tc>
                  <a:txBody>
                    <a:bodyPr/>
                    <a:lstStyle/>
                    <a:p>
                      <a:r>
                        <a:rPr lang="ko-KR" altLang="en-US" sz="800" dirty="0" err="1"/>
                        <a:t>목표가공개품목조회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scnwin.btn_openGoalPrice_onclick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목표가공개품목조회</a:t>
                      </a:r>
                      <a:r>
                        <a:rPr lang="ko-KR" altLang="en-US" sz="800" dirty="0">
                          <a:latin typeface="+mn-ea"/>
                          <a:ea typeface="+mn-ea"/>
                        </a:rPr>
                        <a:t>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MUI-BD-01-P75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8151849"/>
                  </a:ext>
                </a:extLst>
              </a:tr>
              <a:tr h="158451">
                <a:tc>
                  <a:txBody>
                    <a:bodyPr/>
                    <a:lstStyle/>
                    <a:p>
                      <a:r>
                        <a:rPr lang="ko-KR" altLang="en-US" sz="800" dirty="0"/>
                        <a:t>환율정보조회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scnwin.btn_openExchangeRate_onclick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환율정보조회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MUI-BD-01-M74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0450998"/>
                  </a:ext>
                </a:extLst>
              </a:tr>
              <a:tr h="158451">
                <a:tc>
                  <a:txBody>
                    <a:bodyPr/>
                    <a:lstStyle/>
                    <a:p>
                      <a:r>
                        <a:rPr lang="ko-KR" altLang="en-US" sz="800" strike="noStrike" dirty="0">
                          <a:solidFill>
                            <a:schemeClr val="tx1"/>
                          </a:solidFill>
                        </a:rPr>
                        <a:t>입찰결과 클릭</a:t>
                      </a:r>
                      <a:endParaRPr lang="en-US" altLang="ko-KR" sz="800" strike="noStrike" dirty="0">
                        <a:solidFill>
                          <a:schemeClr val="tx1"/>
                        </a:solidFill>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scnwin.btn_moveBidResult_onclick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strike="noStrike">
                          <a:solidFill>
                            <a:schemeClr val="tx1"/>
                          </a:solidFill>
                          <a:latin typeface="+mn-ea"/>
                          <a:ea typeface="+mn-ea"/>
                        </a:rPr>
                        <a:t>입찰결과상세조회 화면으로 이동</a:t>
                      </a:r>
                      <a:endParaRPr lang="en-US" altLang="ko-KR" sz="800" strike="noStrike"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b="0" i="0" u="none" strike="noStrike" dirty="0" smtClean="0">
                          <a:solidFill>
                            <a:srgbClr val="000000"/>
                          </a:solidFill>
                          <a:effectLst/>
                          <a:latin typeface="맑은 고딕" panose="020B0503020000020004" pitchFamily="50" charset="-127"/>
                          <a:ea typeface="+mn-ea"/>
                        </a:rPr>
                        <a:t>MUI-BD-09-M71</a:t>
                      </a:r>
                      <a:r>
                        <a:rPr lang="en-US" altLang="ko-KR" sz="800" strike="noStrike" dirty="0" smtClean="0">
                          <a:solidFill>
                            <a:schemeClr val="tx1"/>
                          </a:solidFill>
                          <a:latin typeface="+mn-ea"/>
                          <a:ea typeface="+mn-ea"/>
                        </a:rPr>
                        <a:t> </a:t>
                      </a:r>
                      <a:r>
                        <a:rPr lang="ko-KR" altLang="en-US" sz="800" strike="noStrike" dirty="0">
                          <a:solidFill>
                            <a:schemeClr val="tx1"/>
                          </a:solidFill>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3293891"/>
                  </a:ext>
                </a:extLst>
              </a:tr>
              <a:tr h="158451">
                <a:tc>
                  <a:txBody>
                    <a:bodyPr/>
                    <a:lstStyle/>
                    <a:p>
                      <a:r>
                        <a:rPr lang="ko-KR" altLang="en-US" sz="800" strike="noStrike" dirty="0">
                          <a:solidFill>
                            <a:schemeClr val="tx1"/>
                          </a:solidFill>
                        </a:rPr>
                        <a:t>보관함 클릭</a:t>
                      </a:r>
                      <a:endParaRPr lang="en-US" altLang="ko-KR" sz="800" strike="noStrike" dirty="0">
                        <a:solidFill>
                          <a:schemeClr val="tx1"/>
                        </a:solidFill>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scnwin.btn_moveLocker_onclick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strike="noStrike">
                          <a:solidFill>
                            <a:schemeClr val="tx1"/>
                          </a:solidFill>
                          <a:latin typeface="+mn-ea"/>
                          <a:ea typeface="+mn-ea"/>
                        </a:rPr>
                        <a:t>보관함 화면으로 이동</a:t>
                      </a:r>
                      <a:endParaRPr lang="en-US" altLang="ko-KR" sz="800" strike="noStrike"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kern="1200" dirty="0">
                          <a:solidFill>
                            <a:schemeClr val="tx1"/>
                          </a:solidFill>
                          <a:latin typeface="+mn-lt"/>
                          <a:ea typeface="+mn-ea"/>
                          <a:cs typeface="+mn-cs"/>
                        </a:rPr>
                        <a:t>업체담당자인 경우 버튼 노출</a:t>
                      </a:r>
                      <a:endParaRPr lang="en-US" altLang="ko-KR" sz="800" strike="noStrike" dirty="0">
                        <a:solidFill>
                          <a:schemeClr val="tx1"/>
                        </a:solidFill>
                        <a:latin typeface="+mn-ea"/>
                        <a:ea typeface="+mn-ea"/>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b="0" i="0" u="none" strike="noStrike" dirty="0" smtClean="0">
                          <a:solidFill>
                            <a:srgbClr val="000000"/>
                          </a:solidFill>
                          <a:effectLst/>
                          <a:latin typeface="맑은 고딕" panose="020B0503020000020004" pitchFamily="50" charset="-127"/>
                          <a:ea typeface="+mn-ea"/>
                        </a:rPr>
                        <a:t>MUI-CM-01-M71</a:t>
                      </a:r>
                      <a:r>
                        <a:rPr lang="ko-KR" altLang="en-US" sz="800" strike="noStrike" dirty="0" smtClean="0">
                          <a:solidFill>
                            <a:schemeClr val="tx1"/>
                          </a:solidFill>
                          <a:latin typeface="+mn-ea"/>
                          <a:ea typeface="+mn-ea"/>
                        </a:rPr>
                        <a:t> </a:t>
                      </a:r>
                      <a:r>
                        <a:rPr lang="ko-KR" altLang="en-US" sz="800" strike="noStrike" dirty="0">
                          <a:solidFill>
                            <a:schemeClr val="tx1"/>
                          </a:solidFill>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1653615"/>
                  </a:ext>
                </a:extLst>
              </a:tr>
              <a:tr h="193284">
                <a:tc>
                  <a:txBody>
                    <a:bodyPr/>
                    <a:lstStyle/>
                    <a:p>
                      <a:r>
                        <a:rPr lang="ko-KR" altLang="en-US" sz="800" strike="noStrike" dirty="0">
                          <a:solidFill>
                            <a:schemeClr val="tx1"/>
                          </a:solidFill>
                        </a:rPr>
                        <a:t>이전입찰내역불러오기 클릭 </a:t>
                      </a:r>
                      <a:endParaRPr lang="en-US" altLang="ko-KR" sz="800" strike="noStrike" dirty="0">
                        <a:solidFill>
                          <a:schemeClr val="tx1"/>
                        </a:solidFill>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scnwin.btn_openPreviousBidDetail_onclick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strike="noStrike" dirty="0" err="1">
                          <a:solidFill>
                            <a:schemeClr val="tx1"/>
                          </a:solidFill>
                          <a:latin typeface="+mn-ea"/>
                          <a:ea typeface="+mn-ea"/>
                        </a:rPr>
                        <a:t>이전공고입찰내역등록</a:t>
                      </a:r>
                      <a:r>
                        <a:rPr lang="ko-KR" altLang="en-US" sz="800" strike="noStrike" dirty="0">
                          <a:solidFill>
                            <a:schemeClr val="tx1"/>
                          </a:solidFill>
                          <a:latin typeface="+mn-ea"/>
                          <a:ea typeface="+mn-ea"/>
                        </a:rPr>
                        <a:t> 팝업을 호출</a:t>
                      </a:r>
                      <a:endParaRPr lang="en-US" altLang="ko-KR" sz="800" strike="noStrike"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dirty="0">
                          <a:solidFill>
                            <a:schemeClr val="tx1"/>
                          </a:solidFill>
                          <a:latin typeface="+mn-lt"/>
                          <a:ea typeface="+mn-ea"/>
                          <a:cs typeface="+mn-cs"/>
                        </a:rPr>
                        <a:t>업체담당자인 경우 버튼 노출</a:t>
                      </a:r>
                      <a:endParaRPr lang="en-US" altLang="ko-KR" sz="800" kern="1200" dirty="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en-US" altLang="ko-KR" sz="800" b="0" i="0" u="none" strike="noStrike" dirty="0" smtClean="0">
                          <a:solidFill>
                            <a:srgbClr val="000000"/>
                          </a:solidFill>
                          <a:effectLst/>
                          <a:latin typeface="맑은 고딕" panose="020B0503020000020004" pitchFamily="50" charset="-127"/>
                          <a:ea typeface="+mn-ea"/>
                        </a:rPr>
                        <a:t>MUI-BD-01-P79</a:t>
                      </a:r>
                      <a:r>
                        <a:rPr lang="ko-KR" altLang="en-US" sz="800" b="0" i="0" u="none" strike="noStrike" dirty="0" smtClean="0">
                          <a:solidFill>
                            <a:schemeClr val="tx1"/>
                          </a:solidFill>
                          <a:effectLst/>
                          <a:latin typeface="+mn-ea"/>
                          <a:ea typeface="+mn-ea"/>
                        </a:rPr>
                        <a:t> </a:t>
                      </a:r>
                      <a:r>
                        <a:rPr lang="ko-KR" altLang="en-US" sz="800" b="0" i="0" u="none" strike="noStrike" dirty="0">
                          <a:solidFill>
                            <a:schemeClr val="tx1"/>
                          </a:solidFill>
                          <a:effectLst/>
                          <a:latin typeface="+mn-ea"/>
                          <a:ea typeface="+mn-ea"/>
                        </a:rPr>
                        <a:t>참조</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7303301"/>
                  </a:ext>
                </a:extLst>
              </a:tr>
              <a:tr h="248047">
                <a:tc>
                  <a:txBody>
                    <a:bodyPr/>
                    <a:lstStyle/>
                    <a:p>
                      <a:r>
                        <a:rPr lang="ko-KR" altLang="en-US" sz="800" dirty="0" err="1"/>
                        <a:t>보관함추가</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scnwin.btn_addItem_onclick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선택된 품목을 보관함에 추가함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dirty="0">
                          <a:solidFill>
                            <a:schemeClr val="tx1"/>
                          </a:solidFill>
                          <a:latin typeface="+mn-lt"/>
                          <a:ea typeface="+mn-ea"/>
                          <a:cs typeface="+mn-cs"/>
                        </a:rPr>
                        <a:t>업체담당자인 경우 버튼 노출</a:t>
                      </a:r>
                      <a:endParaRPr lang="en-US" altLang="ko-KR" sz="800" kern="1200" dirty="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b="0" i="0" u="none" strike="noStrike" dirty="0" err="1">
                          <a:solidFill>
                            <a:srgbClr val="000000"/>
                          </a:solidFill>
                          <a:effectLst/>
                          <a:latin typeface="맑은 고딕" panose="020B0503020000020004" pitchFamily="50" charset="-127"/>
                          <a:ea typeface="+mn-ea"/>
                        </a:rPr>
                        <a:t>보관함추가</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5647824"/>
                  </a:ext>
                </a:extLst>
              </a:tr>
              <a:tr h="193284">
                <a:tc>
                  <a:txBody>
                    <a:bodyPr/>
                    <a:lstStyle/>
                    <a:p>
                      <a:r>
                        <a:rPr lang="ko-KR" altLang="en-US" sz="800" dirty="0" err="1"/>
                        <a:t>보관함삭제</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scnwin.btn_deleteItem_onclick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선택된 품목을 보관함에서 제거함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dirty="0">
                          <a:solidFill>
                            <a:schemeClr val="tx1"/>
                          </a:solidFill>
                          <a:latin typeface="+mn-lt"/>
                          <a:ea typeface="+mn-ea"/>
                          <a:cs typeface="+mn-cs"/>
                        </a:rPr>
                        <a:t>업체담당자인 경우 버튼 노출</a:t>
                      </a:r>
                      <a:endParaRPr lang="en-US" altLang="ko-KR" sz="800" kern="1200" dirty="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b="0" i="0" u="none" strike="noStrike" dirty="0" err="1">
                          <a:solidFill>
                            <a:srgbClr val="000000"/>
                          </a:solidFill>
                          <a:effectLst/>
                          <a:latin typeface="맑은 고딕" panose="020B0503020000020004" pitchFamily="50" charset="-127"/>
                          <a:ea typeface="+mn-ea"/>
                        </a:rPr>
                        <a:t>보관함제거</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9332849"/>
                  </a:ext>
                </a:extLst>
              </a:tr>
              <a:tr h="0">
                <a:tc>
                  <a:txBody>
                    <a:bodyPr/>
                    <a:lstStyle/>
                    <a:p>
                      <a:r>
                        <a:rPr lang="ko-KR" altLang="en-US" sz="800" dirty="0">
                          <a:solidFill>
                            <a:schemeClr val="tx1"/>
                          </a:solidFill>
                        </a:rPr>
                        <a:t>관심공고등록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scnwin.btn_favorite_onclick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solidFill>
                            <a:schemeClr val="tx1"/>
                          </a:solidFill>
                          <a:latin typeface="+mn-ea"/>
                          <a:ea typeface="+mn-ea"/>
                        </a:rPr>
                        <a:t>해당 공고를 </a:t>
                      </a:r>
                      <a:r>
                        <a:rPr lang="ko-KR" altLang="en-US" sz="800" dirty="0" err="1">
                          <a:solidFill>
                            <a:schemeClr val="tx1"/>
                          </a:solidFill>
                          <a:latin typeface="+mn-ea"/>
                          <a:ea typeface="+mn-ea"/>
                        </a:rPr>
                        <a:t>나의입찰정보에</a:t>
                      </a:r>
                      <a:r>
                        <a:rPr lang="ko-KR" altLang="en-US" sz="800" dirty="0">
                          <a:solidFill>
                            <a:schemeClr val="tx1"/>
                          </a:solidFill>
                          <a:latin typeface="+mn-ea"/>
                          <a:ea typeface="+mn-ea"/>
                        </a:rPr>
                        <a:t> 관심공고여부를 등록 </a:t>
                      </a:r>
                      <a:r>
                        <a:rPr lang="ko-KR" altLang="en-US" sz="800">
                          <a:solidFill>
                            <a:schemeClr val="tx1"/>
                          </a:solidFill>
                          <a:latin typeface="+mn-ea"/>
                          <a:ea typeface="+mn-ea"/>
                        </a:rPr>
                        <a:t>또는 수정</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dirty="0">
                          <a:solidFill>
                            <a:schemeClr val="tx1"/>
                          </a:solidFill>
                          <a:latin typeface="+mn-lt"/>
                          <a:ea typeface="+mn-ea"/>
                          <a:cs typeface="+mn-cs"/>
                        </a:rPr>
                        <a:t>업체담당자인 경우 버튼 노출</a:t>
                      </a:r>
                      <a:endParaRPr lang="en-US" altLang="ko-KR" sz="800" kern="1200" dirty="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b="0" i="0" u="none" strike="noStrike" dirty="0">
                          <a:solidFill>
                            <a:srgbClr val="000000"/>
                          </a:solidFill>
                          <a:effectLst/>
                          <a:latin typeface="맑은 고딕" panose="020B0503020000020004" pitchFamily="50" charset="-127"/>
                          <a:ea typeface="+mn-ea"/>
                        </a:rPr>
                        <a:t>관심공고등록</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535087"/>
                  </a:ext>
                </a:extLst>
              </a:tr>
            </a:tbl>
          </a:graphicData>
        </a:graphic>
      </p:graphicFrame>
      <p:sp>
        <p:nvSpPr>
          <p:cNvPr id="2" name="Text Box 73">
            <a:extLst>
              <a:ext uri="{FF2B5EF4-FFF2-40B4-BE49-F238E27FC236}">
                <a16:creationId xmlns:a16="http://schemas.microsoft.com/office/drawing/2014/main" id="{343E5917-E922-4264-3D1B-FE11E3A7A9A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50608114"/>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조회일자</a:t>
            </a:r>
            <a:r>
              <a:rPr lang="ko-KR" altLang="en-US" dirty="0"/>
              <a:t> 정보 표시</a:t>
            </a:r>
            <a:r>
              <a:rPr lang="en-US" altLang="ko-KR" dirty="0"/>
              <a:t/>
            </a:r>
            <a:br>
              <a:rPr lang="en-US" altLang="ko-KR" dirty="0"/>
            </a:br>
            <a:r>
              <a:rPr lang="en-US" altLang="ko-KR" dirty="0"/>
              <a:t>- </a:t>
            </a:r>
            <a:r>
              <a:rPr lang="ko-KR" altLang="en-US" dirty="0"/>
              <a:t>직접입력</a:t>
            </a:r>
            <a:r>
              <a:rPr lang="en-US" altLang="ko-KR" dirty="0"/>
              <a:t>, </a:t>
            </a:r>
            <a:r>
              <a:rPr lang="ko-KR" altLang="en-US" dirty="0"/>
              <a:t>날짜 설정을 통한 검색</a:t>
            </a:r>
            <a:endParaRPr lang="en-US" altLang="ko-KR" dirty="0"/>
          </a:p>
          <a:p>
            <a:pPr marL="228600" indent="-228600">
              <a:buFont typeface="+mj-lt"/>
              <a:buAutoNum type="arabicPeriod"/>
            </a:pPr>
            <a:r>
              <a:rPr lang="ko-KR" altLang="en-US" dirty="0"/>
              <a:t>총 건수 표시</a:t>
            </a:r>
            <a:endParaRPr lang="en-US" altLang="ko-KR" dirty="0"/>
          </a:p>
          <a:p>
            <a:pPr marL="228600" indent="-228600">
              <a:buFont typeface="+mj-lt"/>
              <a:buAutoNum type="arabicPeriod"/>
            </a:pPr>
            <a:r>
              <a:rPr lang="ko-KR" altLang="en-US" dirty="0"/>
              <a:t>목록에서 기준이 되는 </a:t>
            </a:r>
            <a:r>
              <a:rPr lang="ko-KR" altLang="en-US" dirty="0" err="1"/>
              <a:t>미국환</a:t>
            </a:r>
            <a:r>
              <a:rPr lang="ko-KR" altLang="en-US" dirty="0"/>
              <a:t> 정보 </a:t>
            </a:r>
            <a:r>
              <a:rPr lang="ko-KR" altLang="en-US" dirty="0" err="1"/>
              <a:t>최상단</a:t>
            </a:r>
            <a:r>
              <a:rPr lang="ko-KR" altLang="en-US" dirty="0"/>
              <a:t> 표시</a:t>
            </a:r>
            <a:r>
              <a:rPr lang="en-US" altLang="ko-KR" dirty="0"/>
              <a:t/>
            </a:r>
            <a:br>
              <a:rPr lang="en-US" altLang="ko-KR" dirty="0"/>
            </a:br>
            <a:r>
              <a:rPr lang="en-US" altLang="ko-KR" dirty="0"/>
              <a:t>- </a:t>
            </a:r>
            <a:r>
              <a:rPr lang="ko-KR" altLang="en-US" dirty="0"/>
              <a:t>이후 </a:t>
            </a:r>
            <a:r>
              <a:rPr lang="en-US" altLang="ko-KR" dirty="0"/>
              <a:t>DB</a:t>
            </a:r>
            <a:r>
              <a:rPr lang="ko-KR" altLang="en-US" dirty="0"/>
              <a:t>상에 존재하는 순서대로 표시</a:t>
            </a:r>
            <a:r>
              <a:rPr lang="en-US" altLang="ko-KR" dirty="0"/>
              <a:t/>
            </a:r>
            <a:br>
              <a:rPr lang="en-US" altLang="ko-KR" dirty="0"/>
            </a:br>
            <a:r>
              <a:rPr lang="en-US" altLang="ko-KR" dirty="0"/>
              <a:t>- </a:t>
            </a:r>
            <a:r>
              <a:rPr lang="ko-KR" altLang="en-US" dirty="0" err="1"/>
              <a:t>매도율</a:t>
            </a:r>
            <a:r>
              <a:rPr lang="en-US" altLang="ko-KR" dirty="0"/>
              <a:t>, </a:t>
            </a:r>
            <a:r>
              <a:rPr lang="ko-KR" altLang="en-US" dirty="0"/>
              <a:t>기준율</a:t>
            </a:r>
            <a:r>
              <a:rPr lang="en-US" altLang="ko-KR" dirty="0"/>
              <a:t>, </a:t>
            </a:r>
            <a:r>
              <a:rPr lang="ko-KR" altLang="en-US" dirty="0"/>
              <a:t>달러환산율에서 기준율</a:t>
            </a:r>
            <a:r>
              <a:rPr lang="en-US" altLang="ko-KR" dirty="0"/>
              <a:t>, </a:t>
            </a:r>
            <a:r>
              <a:rPr lang="ko-KR" altLang="en-US" dirty="0" err="1"/>
              <a:t>달러환산율</a:t>
            </a:r>
            <a:r>
              <a:rPr lang="ko-KR" altLang="en-US" dirty="0"/>
              <a:t> 뒤 </a:t>
            </a:r>
            <a:r>
              <a:rPr lang="en-US" altLang="ko-KR" dirty="0"/>
              <a:t>KRW, USD </a:t>
            </a:r>
            <a:r>
              <a:rPr lang="ko-KR" altLang="en-US" dirty="0"/>
              <a:t>표시를 고정하여 추가 노출</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환율정보</a:t>
            </a:r>
            <a:r>
              <a:rPr lang="ko-KR" altLang="en-US" dirty="0">
                <a:latin typeface="+mn-ea"/>
              </a:rPr>
              <a:t> 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환율정보</a:t>
            </a:r>
            <a:r>
              <a:rPr lang="ko-KR" altLang="en-US" dirty="0">
                <a:latin typeface="+mn-ea"/>
              </a:rPr>
              <a:t> 조회</a:t>
            </a:r>
            <a:r>
              <a:rPr lang="ko-KR" altLang="en-US" dirty="0"/>
              <a:t> 화면</a:t>
            </a:r>
            <a:endParaRPr lang="ko-KR" altLang="en-US"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latin typeface="+mn-ea"/>
              </a:rPr>
              <a:t>&gt; </a:t>
            </a:r>
            <a:r>
              <a:rPr lang="ko-KR" altLang="en-US" dirty="0">
                <a:latin typeface="+mn-ea"/>
              </a:rPr>
              <a:t>입찰 공고 </a:t>
            </a:r>
            <a:r>
              <a:rPr lang="en-US" altLang="ko-KR" dirty="0">
                <a:latin typeface="+mn-ea"/>
              </a:rPr>
              <a:t>&gt; </a:t>
            </a:r>
            <a:r>
              <a:rPr lang="ko-KR" altLang="en-US" dirty="0" err="1">
                <a:latin typeface="+mn-ea"/>
              </a:rPr>
              <a:t>환율정보</a:t>
            </a:r>
            <a:r>
              <a:rPr lang="ko-KR" altLang="en-US" dirty="0">
                <a:latin typeface="+mn-ea"/>
              </a:rPr>
              <a:t>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MUI-BD-01-M74</a:t>
            </a:r>
            <a:endParaRPr lang="ko-KR" altLang="en-US" dirty="0">
              <a:solidFill>
                <a:srgbClr val="000000"/>
              </a:solidFill>
              <a:latin typeface="맑은 고딕" panose="020B0503020000020004" pitchFamily="50" charset="-127"/>
            </a:endParaRPr>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23" name="직사각형 12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3" name="양쪽 모서리가 둥근 사각형 152"/>
          <p:cNvSpPr/>
          <p:nvPr/>
        </p:nvSpPr>
        <p:spPr>
          <a:xfrm>
            <a:off x="3795734"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4" name="모서리가 둥근 직사각형 153"/>
          <p:cNvSpPr/>
          <p:nvPr/>
        </p:nvSpPr>
        <p:spPr>
          <a:xfrm>
            <a:off x="4881747"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1" name="그룹 160"/>
          <p:cNvGrpSpPr/>
          <p:nvPr/>
        </p:nvGrpSpPr>
        <p:grpSpPr>
          <a:xfrm>
            <a:off x="6284673" y="3182696"/>
            <a:ext cx="94010" cy="94010"/>
            <a:chOff x="6812560" y="3297172"/>
            <a:chExt cx="94010" cy="94010"/>
          </a:xfrm>
        </p:grpSpPr>
        <p:cxnSp>
          <p:nvCxnSpPr>
            <p:cNvPr id="162" name="직선 연결선 16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4" name="TextBox 163">
            <a:extLst>
              <a:ext uri="{FF2B5EF4-FFF2-40B4-BE49-F238E27FC236}">
                <a16:creationId xmlns:a16="http://schemas.microsoft.com/office/drawing/2014/main" id="{FFC49AEA-2A8F-250C-A86A-A7751D9706C3}"/>
              </a:ext>
            </a:extLst>
          </p:cNvPr>
          <p:cNvSpPr txBox="1"/>
          <p:nvPr/>
        </p:nvSpPr>
        <p:spPr>
          <a:xfrm>
            <a:off x="3924811"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3795734"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6" name="그룹 165"/>
          <p:cNvGrpSpPr/>
          <p:nvPr/>
        </p:nvGrpSpPr>
        <p:grpSpPr>
          <a:xfrm>
            <a:off x="3949297" y="3591898"/>
            <a:ext cx="2404900" cy="1793599"/>
            <a:chOff x="853448" y="3591898"/>
            <a:chExt cx="2404900" cy="1793599"/>
          </a:xfrm>
        </p:grpSpPr>
        <p:grpSp>
          <p:nvGrpSpPr>
            <p:cNvPr id="167" name="그룹 166">
              <a:extLst>
                <a:ext uri="{FF2B5EF4-FFF2-40B4-BE49-F238E27FC236}">
                  <a16:creationId xmlns:a16="http://schemas.microsoft.com/office/drawing/2014/main" id="{88B5F951-FD18-C7AD-4712-954CD1C500E7}"/>
                </a:ext>
              </a:extLst>
            </p:cNvPr>
            <p:cNvGrpSpPr/>
            <p:nvPr/>
          </p:nvGrpSpPr>
          <p:grpSpPr>
            <a:xfrm>
              <a:off x="853448" y="3591898"/>
              <a:ext cx="2404900" cy="1793599"/>
              <a:chOff x="6330232" y="1877976"/>
              <a:chExt cx="1507175" cy="1793599"/>
            </a:xfrm>
          </p:grpSpPr>
          <p:sp>
            <p:nvSpPr>
              <p:cNvPr id="169" name="자유형: 도형 138">
                <a:extLst>
                  <a:ext uri="{FF2B5EF4-FFF2-40B4-BE49-F238E27FC236}">
                    <a16:creationId xmlns:a16="http://schemas.microsoft.com/office/drawing/2014/main" id="{22B087CA-85B4-CEE4-100E-D11384B46CD9}"/>
                  </a:ext>
                </a:extLst>
              </p:cNvPr>
              <p:cNvSpPr/>
              <p:nvPr/>
            </p:nvSpPr>
            <p:spPr>
              <a:xfrm>
                <a:off x="6330232" y="2230424"/>
                <a:ext cx="1507175" cy="1441151"/>
              </a:xfrm>
              <a:custGeom>
                <a:avLst/>
                <a:gdLst>
                  <a:gd name="connsiteX0" fmla="*/ 0 w 1598734"/>
                  <a:gd name="connsiteY0" fmla="*/ 0 h 1380106"/>
                  <a:gd name="connsiteX1" fmla="*/ 1598734 w 1598734"/>
                  <a:gd name="connsiteY1" fmla="*/ 0 h 1380106"/>
                  <a:gd name="connsiteX2" fmla="*/ 1598734 w 1598734"/>
                  <a:gd name="connsiteY2" fmla="*/ 102684 h 1380106"/>
                  <a:gd name="connsiteX3" fmla="*/ 1598734 w 1598734"/>
                  <a:gd name="connsiteY3" fmla="*/ 146050 h 1380106"/>
                  <a:gd name="connsiteX4" fmla="*/ 1598734 w 1598734"/>
                  <a:gd name="connsiteY4" fmla="*/ 1321871 h 1380106"/>
                  <a:gd name="connsiteX5" fmla="*/ 1540499 w 1598734"/>
                  <a:gd name="connsiteY5" fmla="*/ 1380106 h 1380106"/>
                  <a:gd name="connsiteX6" fmla="*/ 58235 w 1598734"/>
                  <a:gd name="connsiteY6" fmla="*/ 1380106 h 1380106"/>
                  <a:gd name="connsiteX7" fmla="*/ 0 w 1598734"/>
                  <a:gd name="connsiteY7" fmla="*/ 1321871 h 1380106"/>
                  <a:gd name="connsiteX8" fmla="*/ 0 w 1598734"/>
                  <a:gd name="connsiteY8" fmla="*/ 146050 h 1380106"/>
                  <a:gd name="connsiteX9" fmla="*/ 0 w 1598734"/>
                  <a:gd name="connsiteY9" fmla="*/ 102684 h 1380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734" h="1380106">
                    <a:moveTo>
                      <a:pt x="0" y="0"/>
                    </a:moveTo>
                    <a:lnTo>
                      <a:pt x="1598734" y="0"/>
                    </a:lnTo>
                    <a:lnTo>
                      <a:pt x="1598734" y="102684"/>
                    </a:lnTo>
                    <a:lnTo>
                      <a:pt x="1598734" y="146050"/>
                    </a:lnTo>
                    <a:lnTo>
                      <a:pt x="1598734" y="1321871"/>
                    </a:lnTo>
                    <a:cubicBezTo>
                      <a:pt x="1598734" y="1354033"/>
                      <a:pt x="1572661" y="1380106"/>
                      <a:pt x="1540499" y="1380106"/>
                    </a:cubicBezTo>
                    <a:lnTo>
                      <a:pt x="58235" y="1380106"/>
                    </a:lnTo>
                    <a:cubicBezTo>
                      <a:pt x="26073" y="1380106"/>
                      <a:pt x="0" y="1354033"/>
                      <a:pt x="0" y="1321871"/>
                    </a:cubicBezTo>
                    <a:lnTo>
                      <a:pt x="0" y="146050"/>
                    </a:lnTo>
                    <a:lnTo>
                      <a:pt x="0" y="102684"/>
                    </a:lnTo>
                    <a:close/>
                  </a:path>
                </a:pathLst>
              </a:custGeom>
              <a:solidFill>
                <a:sysClr val="window" lastClr="FFFFFF"/>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black">
                      <a:lumMod val="50000"/>
                      <a:lumOff val="50000"/>
                    </a:prstClr>
                  </a:solidFill>
                  <a:effectLst/>
                  <a:uLnTx/>
                  <a:uFillTx/>
                  <a:latin typeface="맑은 고딕"/>
                  <a:ea typeface="+mn-ea"/>
                  <a:cs typeface="+mn-cs"/>
                </a:endParaRPr>
              </a:p>
            </p:txBody>
          </p:sp>
          <p:sp>
            <p:nvSpPr>
              <p:cNvPr id="170" name="자유형: 도형 139">
                <a:extLst>
                  <a:ext uri="{FF2B5EF4-FFF2-40B4-BE49-F238E27FC236}">
                    <a16:creationId xmlns:a16="http://schemas.microsoft.com/office/drawing/2014/main" id="{3A3F8C14-4350-473F-BE56-A3F310114A55}"/>
                  </a:ext>
                </a:extLst>
              </p:cNvPr>
              <p:cNvSpPr/>
              <p:nvPr/>
            </p:nvSpPr>
            <p:spPr>
              <a:xfrm>
                <a:off x="6330232" y="1877976"/>
                <a:ext cx="1507174" cy="352448"/>
              </a:xfrm>
              <a:custGeom>
                <a:avLst/>
                <a:gdLst>
                  <a:gd name="connsiteX0" fmla="*/ 68452 w 1598734"/>
                  <a:gd name="connsiteY0" fmla="*/ 0 h 306657"/>
                  <a:gd name="connsiteX1" fmla="*/ 1530282 w 1598734"/>
                  <a:gd name="connsiteY1" fmla="*/ 0 h 306657"/>
                  <a:gd name="connsiteX2" fmla="*/ 1598734 w 1598734"/>
                  <a:gd name="connsiteY2" fmla="*/ 68452 h 306657"/>
                  <a:gd name="connsiteX3" fmla="*/ 1598734 w 1598734"/>
                  <a:gd name="connsiteY3" fmla="*/ 160607 h 306657"/>
                  <a:gd name="connsiteX4" fmla="*/ 1598734 w 1598734"/>
                  <a:gd name="connsiteY4" fmla="*/ 193756 h 306657"/>
                  <a:gd name="connsiteX5" fmla="*/ 1598734 w 1598734"/>
                  <a:gd name="connsiteY5" fmla="*/ 306657 h 306657"/>
                  <a:gd name="connsiteX6" fmla="*/ 0 w 1598734"/>
                  <a:gd name="connsiteY6" fmla="*/ 306657 h 306657"/>
                  <a:gd name="connsiteX7" fmla="*/ 0 w 1598734"/>
                  <a:gd name="connsiteY7" fmla="*/ 193756 h 306657"/>
                  <a:gd name="connsiteX8" fmla="*/ 0 w 1598734"/>
                  <a:gd name="connsiteY8" fmla="*/ 160607 h 306657"/>
                  <a:gd name="connsiteX9" fmla="*/ 0 w 1598734"/>
                  <a:gd name="connsiteY9" fmla="*/ 68452 h 306657"/>
                  <a:gd name="connsiteX10" fmla="*/ 68452 w 1598734"/>
                  <a:gd name="connsiteY10" fmla="*/ 0 h 306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98734" h="306657">
                    <a:moveTo>
                      <a:pt x="68452" y="0"/>
                    </a:moveTo>
                    <a:lnTo>
                      <a:pt x="1530282" y="0"/>
                    </a:lnTo>
                    <a:cubicBezTo>
                      <a:pt x="1568087" y="0"/>
                      <a:pt x="1598734" y="30647"/>
                      <a:pt x="1598734" y="68452"/>
                    </a:cubicBezTo>
                    <a:lnTo>
                      <a:pt x="1598734" y="160607"/>
                    </a:lnTo>
                    <a:lnTo>
                      <a:pt x="1598734" y="193756"/>
                    </a:lnTo>
                    <a:lnTo>
                      <a:pt x="1598734" y="306657"/>
                    </a:lnTo>
                    <a:lnTo>
                      <a:pt x="0" y="306657"/>
                    </a:lnTo>
                    <a:lnTo>
                      <a:pt x="0" y="193756"/>
                    </a:lnTo>
                    <a:lnTo>
                      <a:pt x="0" y="160607"/>
                    </a:lnTo>
                    <a:lnTo>
                      <a:pt x="0" y="68452"/>
                    </a:lnTo>
                    <a:cubicBezTo>
                      <a:pt x="0" y="30647"/>
                      <a:pt x="30647" y="0"/>
                      <a:pt x="68452" y="0"/>
                    </a:cubicBezTo>
                    <a:close/>
                  </a:path>
                </a:pathLst>
              </a:custGeom>
              <a:solidFill>
                <a:schemeClr val="bg1"/>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900" b="1" i="0" u="none" strike="noStrike" kern="0" cap="none" spc="0" normalizeH="0" baseline="0" noProof="0">
                  <a:ln>
                    <a:noFill/>
                  </a:ln>
                  <a:effectLst/>
                  <a:uLnTx/>
                  <a:uFillTx/>
                  <a:latin typeface="맑은 고딕"/>
                  <a:ea typeface="+mn-ea"/>
                  <a:cs typeface="+mn-cs"/>
                </a:endParaRPr>
              </a:p>
            </p:txBody>
          </p:sp>
          <p:grpSp>
            <p:nvGrpSpPr>
              <p:cNvPr id="171" name="그룹 170">
                <a:extLst>
                  <a:ext uri="{FF2B5EF4-FFF2-40B4-BE49-F238E27FC236}">
                    <a16:creationId xmlns:a16="http://schemas.microsoft.com/office/drawing/2014/main" id="{A137B8AF-CE16-FE87-200C-9B7042587058}"/>
                  </a:ext>
                </a:extLst>
              </p:cNvPr>
              <p:cNvGrpSpPr/>
              <p:nvPr/>
            </p:nvGrpSpPr>
            <p:grpSpPr>
              <a:xfrm>
                <a:off x="6585805" y="1935304"/>
                <a:ext cx="996029" cy="251744"/>
                <a:chOff x="6656745" y="1935304"/>
                <a:chExt cx="996029" cy="251744"/>
              </a:xfrm>
            </p:grpSpPr>
            <p:grpSp>
              <p:nvGrpSpPr>
                <p:cNvPr id="176" name="그룹 175">
                  <a:extLst>
                    <a:ext uri="{FF2B5EF4-FFF2-40B4-BE49-F238E27FC236}">
                      <a16:creationId xmlns:a16="http://schemas.microsoft.com/office/drawing/2014/main" id="{A87E2622-4B77-D690-F5F9-A7024A74E708}"/>
                    </a:ext>
                  </a:extLst>
                </p:cNvPr>
                <p:cNvGrpSpPr/>
                <p:nvPr/>
              </p:nvGrpSpPr>
              <p:grpSpPr>
                <a:xfrm>
                  <a:off x="6656745" y="1935304"/>
                  <a:ext cx="391505" cy="251744"/>
                  <a:chOff x="14465912" y="2621448"/>
                  <a:chExt cx="373142" cy="251744"/>
                </a:xfrm>
              </p:grpSpPr>
              <p:sp>
                <p:nvSpPr>
                  <p:cNvPr id="182" name="사각형: 둥근 모서리 144">
                    <a:extLst>
                      <a:ext uri="{FF2B5EF4-FFF2-40B4-BE49-F238E27FC236}">
                        <a16:creationId xmlns:a16="http://schemas.microsoft.com/office/drawing/2014/main" id="{D1B5AE77-5D23-E70D-56C2-4B07B89912D6}"/>
                      </a:ext>
                    </a:extLst>
                  </p:cNvPr>
                  <p:cNvSpPr/>
                  <p:nvPr/>
                </p:nvSpPr>
                <p:spPr>
                  <a:xfrm>
                    <a:off x="14465912" y="2621448"/>
                    <a:ext cx="373142"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2026</a:t>
                    </a:r>
                    <a:endParaRPr kumimoji="1" lang="en-US" sz="800" b="0" i="0" u="none" strike="noStrike" kern="0" cap="none" spc="0" normalizeH="0" baseline="0" noProof="0">
                      <a:ln>
                        <a:noFill/>
                      </a:ln>
                      <a:effectLst/>
                      <a:uLnTx/>
                      <a:uFillTx/>
                      <a:latin typeface="맑은 고딕"/>
                      <a:ea typeface="+mn-ea"/>
                      <a:cs typeface="+mn-cs"/>
                    </a:endParaRPr>
                  </a:p>
                </p:txBody>
              </p:sp>
              <p:sp>
                <p:nvSpPr>
                  <p:cNvPr id="183" name="이등변 삼각형 182">
                    <a:extLst>
                      <a:ext uri="{FF2B5EF4-FFF2-40B4-BE49-F238E27FC236}">
                        <a16:creationId xmlns:a16="http://schemas.microsoft.com/office/drawing/2014/main" id="{3B4ED1E8-ADBF-6251-5AE2-8AA6EED0EC85}"/>
                      </a:ext>
                    </a:extLst>
                  </p:cNvPr>
                  <p:cNvSpPr/>
                  <p:nvPr/>
                </p:nvSpPr>
                <p:spPr>
                  <a:xfrm flipV="1">
                    <a:off x="14730144" y="2724461"/>
                    <a:ext cx="85725"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grpSp>
              <p:nvGrpSpPr>
                <p:cNvPr id="177" name="그룹 176">
                  <a:extLst>
                    <a:ext uri="{FF2B5EF4-FFF2-40B4-BE49-F238E27FC236}">
                      <a16:creationId xmlns:a16="http://schemas.microsoft.com/office/drawing/2014/main" id="{EA122917-E998-AFF8-0017-87D415E2F4C1}"/>
                    </a:ext>
                  </a:extLst>
                </p:cNvPr>
                <p:cNvGrpSpPr/>
                <p:nvPr/>
              </p:nvGrpSpPr>
              <p:grpSpPr>
                <a:xfrm>
                  <a:off x="7227970" y="1935304"/>
                  <a:ext cx="283649" cy="251744"/>
                  <a:chOff x="6204909" y="3981827"/>
                  <a:chExt cx="283649" cy="251744"/>
                </a:xfrm>
              </p:grpSpPr>
              <p:sp>
                <p:nvSpPr>
                  <p:cNvPr id="180" name="사각형: 둥근 모서리 147">
                    <a:extLst>
                      <a:ext uri="{FF2B5EF4-FFF2-40B4-BE49-F238E27FC236}">
                        <a16:creationId xmlns:a16="http://schemas.microsoft.com/office/drawing/2014/main" id="{4D308691-DE94-C033-764E-E5D1F0BF3524}"/>
                      </a:ext>
                    </a:extLst>
                  </p:cNvPr>
                  <p:cNvSpPr/>
                  <p:nvPr/>
                </p:nvSpPr>
                <p:spPr>
                  <a:xfrm>
                    <a:off x="6204909" y="3981827"/>
                    <a:ext cx="283649"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1</a:t>
                    </a:r>
                    <a:endParaRPr kumimoji="1" lang="en-US" sz="800" b="0" i="0" u="none" strike="noStrike" kern="0" cap="none" spc="0" normalizeH="0" baseline="0" noProof="0">
                      <a:ln>
                        <a:noFill/>
                      </a:ln>
                      <a:effectLst/>
                      <a:uLnTx/>
                      <a:uFillTx/>
                      <a:latin typeface="맑은 고딕"/>
                      <a:ea typeface="+mn-ea"/>
                      <a:cs typeface="+mn-cs"/>
                    </a:endParaRPr>
                  </a:p>
                </p:txBody>
              </p:sp>
              <p:sp>
                <p:nvSpPr>
                  <p:cNvPr id="181" name="이등변 삼각형 180">
                    <a:extLst>
                      <a:ext uri="{FF2B5EF4-FFF2-40B4-BE49-F238E27FC236}">
                        <a16:creationId xmlns:a16="http://schemas.microsoft.com/office/drawing/2014/main" id="{21A750D1-1A64-CDE6-935B-2CDA4AF0C094}"/>
                      </a:ext>
                    </a:extLst>
                  </p:cNvPr>
                  <p:cNvSpPr/>
                  <p:nvPr/>
                </p:nvSpPr>
                <p:spPr>
                  <a:xfrm flipV="1">
                    <a:off x="6372421" y="4084840"/>
                    <a:ext cx="89944"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sp>
              <p:nvSpPr>
                <p:cNvPr id="178" name="TextBox 149">
                  <a:extLst>
                    <a:ext uri="{FF2B5EF4-FFF2-40B4-BE49-F238E27FC236}">
                      <a16:creationId xmlns:a16="http://schemas.microsoft.com/office/drawing/2014/main" id="{B5390AFF-87C5-1EB0-E4C9-DFE8DE8D1A0A}"/>
                    </a:ext>
                  </a:extLst>
                </p:cNvPr>
                <p:cNvSpPr txBox="1"/>
                <p:nvPr/>
              </p:nvSpPr>
              <p:spPr>
                <a:xfrm>
                  <a:off x="7086814"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년</a:t>
                  </a:r>
                </a:p>
              </p:txBody>
            </p:sp>
            <p:sp>
              <p:nvSpPr>
                <p:cNvPr id="179" name="TextBox 152">
                  <a:extLst>
                    <a:ext uri="{FF2B5EF4-FFF2-40B4-BE49-F238E27FC236}">
                      <a16:creationId xmlns:a16="http://schemas.microsoft.com/office/drawing/2014/main" id="{A6C09F56-B1D3-B9C4-043F-21D7BB9E7303}"/>
                    </a:ext>
                  </a:extLst>
                </p:cNvPr>
                <p:cNvSpPr txBox="1"/>
                <p:nvPr/>
              </p:nvSpPr>
              <p:spPr>
                <a:xfrm>
                  <a:off x="7550182"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월</a:t>
                  </a:r>
                </a:p>
              </p:txBody>
            </p:sp>
          </p:grpSp>
          <p:pic>
            <p:nvPicPr>
              <p:cNvPr id="172" name="그래픽 159">
                <a:extLst>
                  <a:ext uri="{FF2B5EF4-FFF2-40B4-BE49-F238E27FC236}">
                    <a16:creationId xmlns:a16="http://schemas.microsoft.com/office/drawing/2014/main" id="{3F60CD29-6457-57CE-2207-590D5C49DC6F}"/>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6443575" y="2011321"/>
                <a:ext cx="124829" cy="124829"/>
              </a:xfrm>
              <a:prstGeom prst="rect">
                <a:avLst/>
              </a:prstGeom>
            </p:spPr>
          </p:pic>
          <p:pic>
            <p:nvPicPr>
              <p:cNvPr id="173" name="그래픽 161">
                <a:extLst>
                  <a:ext uri="{FF2B5EF4-FFF2-40B4-BE49-F238E27FC236}">
                    <a16:creationId xmlns:a16="http://schemas.microsoft.com/office/drawing/2014/main" id="{B3146EC9-2E57-C788-18FF-97995F8296C4}"/>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a:off x="6337510" y="2006235"/>
                <a:ext cx="135001" cy="135001"/>
              </a:xfrm>
              <a:prstGeom prst="rect">
                <a:avLst/>
              </a:prstGeom>
            </p:spPr>
          </p:pic>
          <p:pic>
            <p:nvPicPr>
              <p:cNvPr id="174" name="그래픽 166">
                <a:extLst>
                  <a:ext uri="{FF2B5EF4-FFF2-40B4-BE49-F238E27FC236}">
                    <a16:creationId xmlns:a16="http://schemas.microsoft.com/office/drawing/2014/main" id="{13D2C4D0-FC1C-780E-EBE1-F1214DFD963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flipH="1">
                <a:off x="7582427" y="2011321"/>
                <a:ext cx="124829" cy="124829"/>
              </a:xfrm>
              <a:prstGeom prst="rect">
                <a:avLst/>
              </a:prstGeom>
            </p:spPr>
          </p:pic>
          <p:pic>
            <p:nvPicPr>
              <p:cNvPr id="175" name="그래픽 167">
                <a:extLst>
                  <a:ext uri="{FF2B5EF4-FFF2-40B4-BE49-F238E27FC236}">
                    <a16:creationId xmlns:a16="http://schemas.microsoft.com/office/drawing/2014/main" id="{AD93A727-98BC-1CD1-0745-64C3352C25E0}"/>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flipH="1">
                <a:off x="7685706" y="2006235"/>
                <a:ext cx="135001" cy="135001"/>
              </a:xfrm>
              <a:prstGeom prst="rect">
                <a:avLst/>
              </a:prstGeom>
            </p:spPr>
          </p:pic>
        </p:grpSp>
        <p:pic>
          <p:nvPicPr>
            <p:cNvPr id="168" name="table"/>
            <p:cNvPicPr>
              <a:picLocks noChangeAspect="1"/>
            </p:cNvPicPr>
            <p:nvPr/>
          </p:nvPicPr>
          <p:blipFill>
            <a:blip r:embed="rId6"/>
            <a:stretch>
              <a:fillRect/>
            </a:stretch>
          </p:blipFill>
          <p:spPr>
            <a:xfrm>
              <a:off x="871664" y="3994890"/>
              <a:ext cx="2346766" cy="1352526"/>
            </a:xfrm>
            <a:prstGeom prst="rect">
              <a:avLst/>
            </a:prstGeom>
          </p:spPr>
        </p:pic>
      </p:grpSp>
      <p:grpSp>
        <p:nvGrpSpPr>
          <p:cNvPr id="184" name="그룹 183"/>
          <p:cNvGrpSpPr/>
          <p:nvPr/>
        </p:nvGrpSpPr>
        <p:grpSpPr>
          <a:xfrm>
            <a:off x="3795734" y="5614711"/>
            <a:ext cx="2712027" cy="617588"/>
            <a:chOff x="675399" y="5614711"/>
            <a:chExt cx="2712027" cy="617588"/>
          </a:xfrm>
        </p:grpSpPr>
        <p:sp>
          <p:nvSpPr>
            <p:cNvPr id="185" name="직사각형 18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88" name="TextBox 187">
            <a:extLst>
              <a:ext uri="{FF2B5EF4-FFF2-40B4-BE49-F238E27FC236}">
                <a16:creationId xmlns:a16="http://schemas.microsoft.com/office/drawing/2014/main" id="{FFC49AEA-2A8F-250C-A86A-A7751D9706C3}"/>
              </a:ext>
            </a:extLst>
          </p:cNvPr>
          <p:cNvSpPr txBox="1"/>
          <p:nvPr/>
        </p:nvSpPr>
        <p:spPr>
          <a:xfrm>
            <a:off x="3795734" y="1352885"/>
            <a:ext cx="1338241" cy="138499"/>
          </a:xfrm>
          <a:prstGeom prst="rect">
            <a:avLst/>
          </a:prstGeom>
          <a:noFill/>
        </p:spPr>
        <p:txBody>
          <a:bodyPr wrap="square" lIns="0" tIns="0" rIns="0" bIns="0" rtlCol="0">
            <a:spAutoFit/>
          </a:bodyPr>
          <a:lstStyle/>
          <a:p>
            <a:r>
              <a:rPr lang="en-US" altLang="ko-KR" sz="900" dirty="0">
                <a:solidFill>
                  <a:srgbClr val="000000"/>
                </a:solidFill>
                <a:latin typeface="맑은 고딕" panose="020B0503020000020004" pitchFamily="50" charset="-127"/>
              </a:rPr>
              <a:t>MUI-BD-01-P06</a:t>
            </a:r>
            <a:endParaRPr lang="ko-KR" altLang="en-US" sz="9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5169520" y="1352885"/>
            <a:ext cx="1338241" cy="138499"/>
          </a:xfrm>
          <a:prstGeom prst="rect">
            <a:avLst/>
          </a:prstGeom>
          <a:noFill/>
        </p:spPr>
        <p:txBody>
          <a:bodyPr wrap="square" lIns="0" tIns="0" rIns="0" bIns="0" rtlCol="0">
            <a:spAutoFit/>
          </a:bodyPr>
          <a:lstStyle/>
          <a:p>
            <a:pPr algn="r"/>
            <a:r>
              <a:rPr lang="ko-KR" altLang="en-US" sz="900" dirty="0">
                <a:solidFill>
                  <a:srgbClr val="000000"/>
                </a:solidFill>
                <a:latin typeface="맑은 고딕" panose="020B0503020000020004" pitchFamily="50" charset="-127"/>
              </a:rPr>
              <a:t>날짜 설정</a:t>
            </a:r>
            <a:endParaRPr lang="ko-KR" altLang="en-US" sz="900" dirty="0">
              <a:latin typeface="+mn-ea"/>
            </a:endParaRPr>
          </a:p>
        </p:txBody>
      </p:sp>
      <p:sp>
        <p:nvSpPr>
          <p:cNvPr id="89" name="직사각형 8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0" name="직선 연결선 89">
            <a:extLst>
              <a:ext uri="{FF2B5EF4-FFF2-40B4-BE49-F238E27FC236}">
                <a16:creationId xmlns:a16="http://schemas.microsoft.com/office/drawing/2014/main" id="{E9293055-D5CD-4B9E-7F64-64B2D2CA7A52}"/>
              </a:ext>
            </a:extLst>
          </p:cNvPr>
          <p:cNvCxnSpPr/>
          <p:nvPr/>
        </p:nvCxnSpPr>
        <p:spPr>
          <a:xfrm>
            <a:off x="680570" y="227356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1" name="TextBox 90">
            <a:extLst>
              <a:ext uri="{FF2B5EF4-FFF2-40B4-BE49-F238E27FC236}">
                <a16:creationId xmlns:a16="http://schemas.microsoft.com/office/drawing/2014/main" id="{FFC49AEA-2A8F-250C-A86A-A7751D9706C3}"/>
              </a:ext>
            </a:extLst>
          </p:cNvPr>
          <p:cNvSpPr txBox="1"/>
          <p:nvPr/>
        </p:nvSpPr>
        <p:spPr>
          <a:xfrm>
            <a:off x="748417" y="3224184"/>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순번</a:t>
            </a:r>
            <a:endParaRPr lang="en-US" altLang="ko-KR" sz="600" dirty="0">
              <a:solidFill>
                <a:schemeClr val="tx1">
                  <a:lumMod val="85000"/>
                  <a:lumOff val="15000"/>
                </a:schemeClr>
              </a:solidFill>
              <a:latin typeface="맑은 고딕" panose="020B0503020000020004" pitchFamily="50" charset="-127"/>
            </a:endParaRPr>
          </a:p>
        </p:txBody>
      </p:sp>
      <p:sp>
        <p:nvSpPr>
          <p:cNvPr id="92" name="TextBox 91">
            <a:extLst>
              <a:ext uri="{FF2B5EF4-FFF2-40B4-BE49-F238E27FC236}">
                <a16:creationId xmlns:a16="http://schemas.microsoft.com/office/drawing/2014/main" id="{FFC49AEA-2A8F-250C-A86A-A7751D9706C3}"/>
              </a:ext>
            </a:extLst>
          </p:cNvPr>
          <p:cNvSpPr txBox="1"/>
          <p:nvPr/>
        </p:nvSpPr>
        <p:spPr>
          <a:xfrm>
            <a:off x="1041640" y="3224184"/>
            <a:ext cx="498650"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국가 및 화폐</a:t>
            </a:r>
            <a:endParaRPr lang="en-US" altLang="ko-KR" sz="600" dirty="0">
              <a:solidFill>
                <a:schemeClr val="tx1">
                  <a:lumMod val="85000"/>
                  <a:lumOff val="15000"/>
                </a:schemeClr>
              </a:solidFill>
              <a:latin typeface="맑은 고딕" panose="020B0503020000020004" pitchFamily="50" charset="-127"/>
            </a:endParaRPr>
          </a:p>
        </p:txBody>
      </p:sp>
      <p:sp>
        <p:nvSpPr>
          <p:cNvPr id="93" name="TextBox 92">
            <a:extLst>
              <a:ext uri="{FF2B5EF4-FFF2-40B4-BE49-F238E27FC236}">
                <a16:creationId xmlns:a16="http://schemas.microsoft.com/office/drawing/2014/main" id="{FFC49AEA-2A8F-250C-A86A-A7751D9706C3}"/>
              </a:ext>
            </a:extLst>
          </p:cNvPr>
          <p:cNvSpPr txBox="1"/>
          <p:nvPr/>
        </p:nvSpPr>
        <p:spPr>
          <a:xfrm>
            <a:off x="2289144" y="3224184"/>
            <a:ext cx="979869" cy="92333"/>
          </a:xfrm>
          <a:prstGeom prst="rect">
            <a:avLst/>
          </a:prstGeom>
          <a:noFill/>
        </p:spPr>
        <p:txBody>
          <a:bodyPr wrap="square" lIns="0" tIns="0" rIns="0" bIns="0" rtlCol="0">
            <a:spAutoFit/>
          </a:bodyPr>
          <a:lstStyle/>
          <a:p>
            <a:pPr algn="r"/>
            <a:r>
              <a:rPr lang="ko-KR" altLang="en-US" sz="600" dirty="0" err="1">
                <a:solidFill>
                  <a:schemeClr val="tx1">
                    <a:lumMod val="85000"/>
                    <a:lumOff val="15000"/>
                  </a:schemeClr>
                </a:solidFill>
                <a:latin typeface="맑은 고딕" panose="020B0503020000020004" pitchFamily="50" charset="-127"/>
              </a:rPr>
              <a:t>매도율</a:t>
            </a:r>
            <a:r>
              <a:rPr lang="en-US" altLang="ko-KR" sz="600" dirty="0">
                <a:solidFill>
                  <a:schemeClr val="tx1">
                    <a:lumMod val="85000"/>
                    <a:lumOff val="15000"/>
                  </a:schemeClr>
                </a:solidFill>
                <a:latin typeface="맑은 고딕" panose="020B0503020000020004" pitchFamily="50" charset="-127"/>
              </a:rPr>
              <a:t>, </a:t>
            </a:r>
            <a:r>
              <a:rPr lang="ko-KR" altLang="en-US" sz="600" dirty="0">
                <a:solidFill>
                  <a:schemeClr val="tx1">
                    <a:lumMod val="85000"/>
                    <a:lumOff val="15000"/>
                  </a:schemeClr>
                </a:solidFill>
                <a:latin typeface="맑은 고딕" panose="020B0503020000020004" pitchFamily="50" charset="-127"/>
              </a:rPr>
              <a:t>기준율</a:t>
            </a:r>
            <a:r>
              <a:rPr lang="en-US" altLang="ko-KR" sz="600" dirty="0">
                <a:solidFill>
                  <a:schemeClr val="tx1">
                    <a:lumMod val="85000"/>
                    <a:lumOff val="15000"/>
                  </a:schemeClr>
                </a:solidFill>
                <a:latin typeface="맑은 고딕" panose="020B0503020000020004" pitchFamily="50" charset="-127"/>
              </a:rPr>
              <a:t>, </a:t>
            </a:r>
            <a:r>
              <a:rPr lang="ko-KR" altLang="en-US" sz="600" dirty="0" err="1">
                <a:solidFill>
                  <a:schemeClr val="tx1">
                    <a:lumMod val="85000"/>
                    <a:lumOff val="15000"/>
                  </a:schemeClr>
                </a:solidFill>
                <a:latin typeface="맑은 고딕" panose="020B0503020000020004" pitchFamily="50" charset="-127"/>
              </a:rPr>
              <a:t>달러환산율</a:t>
            </a:r>
            <a:endParaRPr lang="en-US" altLang="ko-KR" sz="600" dirty="0">
              <a:solidFill>
                <a:schemeClr val="tx1">
                  <a:lumMod val="85000"/>
                  <a:lumOff val="15000"/>
                </a:schemeClr>
              </a:solidFill>
              <a:latin typeface="맑은 고딕" panose="020B0503020000020004" pitchFamily="50" charset="-127"/>
            </a:endParaRPr>
          </a:p>
        </p:txBody>
      </p:sp>
      <p:grpSp>
        <p:nvGrpSpPr>
          <p:cNvPr id="94" name="그룹 93"/>
          <p:cNvGrpSpPr/>
          <p:nvPr/>
        </p:nvGrpSpPr>
        <p:grpSpPr>
          <a:xfrm>
            <a:off x="715616" y="3388538"/>
            <a:ext cx="2652743" cy="467510"/>
            <a:chOff x="715616" y="3407067"/>
            <a:chExt cx="2652743" cy="467510"/>
          </a:xfrm>
        </p:grpSpPr>
        <p:sp>
          <p:nvSpPr>
            <p:cNvPr id="95" name="모서리가 둥근 직사각형 94"/>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US-</a:t>
              </a:r>
              <a:r>
                <a:rPr lang="ko-KR" altLang="en-US" sz="700" dirty="0">
                  <a:solidFill>
                    <a:schemeClr val="tx1">
                      <a:lumMod val="85000"/>
                      <a:lumOff val="15000"/>
                    </a:schemeClr>
                  </a:solidFill>
                  <a:latin typeface="맑은 고딕" panose="020B0503020000020004" pitchFamily="50" charset="-127"/>
                </a:rPr>
                <a:t>미국</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USD-</a:t>
              </a:r>
              <a:r>
                <a:rPr lang="ko-KR" altLang="en-US" sz="700" dirty="0">
                  <a:solidFill>
                    <a:schemeClr val="tx1">
                      <a:lumMod val="85000"/>
                      <a:lumOff val="15000"/>
                    </a:schemeClr>
                  </a:solidFill>
                  <a:latin typeface="맑은 고딕" panose="020B0503020000020004" pitchFamily="50" charset="-127"/>
                </a:rPr>
                <a:t>미 달러</a:t>
              </a:r>
              <a:endParaRPr lang="en-US" altLang="ko-KR" sz="700" dirty="0">
                <a:solidFill>
                  <a:schemeClr val="tx1">
                    <a:lumMod val="85000"/>
                    <a:lumOff val="15000"/>
                  </a:schemeClr>
                </a:solidFill>
                <a:latin typeface="맑은 고딕" panose="020B0503020000020004" pitchFamily="50" charset="-127"/>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1,464.30 KRW</a:t>
              </a:r>
            </a:p>
            <a:p>
              <a:pPr algn="r"/>
              <a:r>
                <a:rPr lang="en-US" altLang="ko-KR" sz="700" dirty="0">
                  <a:solidFill>
                    <a:schemeClr val="tx1">
                      <a:lumMod val="85000"/>
                      <a:lumOff val="15000"/>
                    </a:schemeClr>
                  </a:solidFill>
                  <a:latin typeface="맑은 고딕" panose="020B0503020000020004" pitchFamily="50" charset="-127"/>
                </a:rPr>
                <a:t>1.0000 USD</a:t>
              </a:r>
            </a:p>
          </p:txBody>
        </p:sp>
      </p:grpSp>
      <p:grpSp>
        <p:nvGrpSpPr>
          <p:cNvPr id="99" name="그룹 98"/>
          <p:cNvGrpSpPr/>
          <p:nvPr/>
        </p:nvGrpSpPr>
        <p:grpSpPr>
          <a:xfrm>
            <a:off x="715616" y="3912045"/>
            <a:ext cx="2652743" cy="467510"/>
            <a:chOff x="715616" y="3407067"/>
            <a:chExt cx="2652743" cy="467510"/>
          </a:xfrm>
        </p:grpSpPr>
        <p:sp>
          <p:nvSpPr>
            <p:cNvPr id="100" name="모서리가 둥근 직사각형 99"/>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NO-</a:t>
              </a:r>
              <a:r>
                <a:rPr lang="ko-KR" altLang="en-US" sz="700" dirty="0">
                  <a:solidFill>
                    <a:schemeClr val="tx1">
                      <a:lumMod val="85000"/>
                      <a:lumOff val="15000"/>
                    </a:schemeClr>
                  </a:solidFill>
                  <a:latin typeface="맑은 고딕" panose="020B0503020000020004" pitchFamily="50" charset="-127"/>
                </a:rPr>
                <a:t>노르웨이</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NOK-</a:t>
              </a:r>
              <a:r>
                <a:rPr lang="ko-KR" altLang="en-US" sz="700" dirty="0">
                  <a:solidFill>
                    <a:schemeClr val="tx1">
                      <a:lumMod val="85000"/>
                      <a:lumOff val="15000"/>
                    </a:schemeClr>
                  </a:solidFill>
                  <a:latin typeface="맑은 고딕" panose="020B0503020000020004" pitchFamily="50" charset="-127"/>
                </a:rPr>
                <a:t>노르웨이 </a:t>
              </a:r>
              <a:r>
                <a:rPr lang="ko-KR" altLang="en-US" sz="700" dirty="0" err="1">
                  <a:solidFill>
                    <a:schemeClr val="tx1">
                      <a:lumMod val="85000"/>
                      <a:lumOff val="15000"/>
                    </a:schemeClr>
                  </a:solidFill>
                  <a:latin typeface="맑은 고딕" panose="020B0503020000020004" pitchFamily="50" charset="-127"/>
                </a:rPr>
                <a:t>크로네</a:t>
              </a:r>
              <a:endParaRPr lang="en-US" altLang="ko-KR" sz="700" dirty="0">
                <a:solidFill>
                  <a:schemeClr val="tx1">
                    <a:lumMod val="85000"/>
                    <a:lumOff val="15000"/>
                  </a:schemeClr>
                </a:solidFill>
                <a:latin typeface="맑은 고딕" panose="020B0503020000020004" pitchFamily="50" charset="-127"/>
              </a:endParaRPr>
            </a:p>
          </p:txBody>
        </p:sp>
        <p:sp>
          <p:nvSpPr>
            <p:cNvPr id="103" name="TextBox 102">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151.33 KRW</a:t>
              </a:r>
            </a:p>
            <a:p>
              <a:pPr algn="r"/>
              <a:r>
                <a:rPr lang="en-US" altLang="ko-KR" sz="700" dirty="0">
                  <a:solidFill>
                    <a:schemeClr val="tx1">
                      <a:lumMod val="85000"/>
                      <a:lumOff val="15000"/>
                    </a:schemeClr>
                  </a:solidFill>
                  <a:latin typeface="맑은 고딕" panose="020B0503020000020004" pitchFamily="50" charset="-127"/>
                </a:rPr>
                <a:t>0.1033 USD</a:t>
              </a:r>
            </a:p>
          </p:txBody>
        </p:sp>
      </p:grpSp>
      <p:sp>
        <p:nvSpPr>
          <p:cNvPr id="104" name="TextBox 103">
            <a:extLst>
              <a:ext uri="{FF2B5EF4-FFF2-40B4-BE49-F238E27FC236}">
                <a16:creationId xmlns:a16="http://schemas.microsoft.com/office/drawing/2014/main" id="{FFC49AEA-2A8F-250C-A86A-A7751D9706C3}"/>
              </a:ext>
            </a:extLst>
          </p:cNvPr>
          <p:cNvSpPr txBox="1"/>
          <p:nvPr/>
        </p:nvSpPr>
        <p:spPr>
          <a:xfrm>
            <a:off x="778515" y="2359374"/>
            <a:ext cx="2305144" cy="181140"/>
          </a:xfrm>
          <a:prstGeom prst="rect">
            <a:avLst/>
          </a:prstGeom>
          <a:noFill/>
        </p:spPr>
        <p:txBody>
          <a:bodyPr wrap="square" lIns="0" tIns="0" rIns="0" bIns="0" rtlCol="0">
            <a:spAutoFit/>
          </a:bodyPr>
          <a:lstStyle/>
          <a:p>
            <a:pPr>
              <a:lnSpc>
                <a:spcPct val="200000"/>
              </a:lnSpc>
            </a:pPr>
            <a:r>
              <a:rPr lang="ko-KR" altLang="en-US" sz="700" b="1">
                <a:latin typeface="+mn-ea"/>
              </a:rPr>
              <a:t>조회일자</a:t>
            </a:r>
            <a:endParaRPr lang="ko-KR" altLang="en-US" sz="700" b="1" dirty="0">
              <a:latin typeface="+mn-ea"/>
            </a:endParaRPr>
          </a:p>
        </p:txBody>
      </p:sp>
      <p:grpSp>
        <p:nvGrpSpPr>
          <p:cNvPr id="105" name="그룹 104">
            <a:extLst>
              <a:ext uri="{FF2B5EF4-FFF2-40B4-BE49-F238E27FC236}">
                <a16:creationId xmlns:a16="http://schemas.microsoft.com/office/drawing/2014/main" id="{8F2F56C4-B606-212C-F131-A4A30AE19BC8}"/>
              </a:ext>
            </a:extLst>
          </p:cNvPr>
          <p:cNvGrpSpPr/>
          <p:nvPr/>
        </p:nvGrpSpPr>
        <p:grpSpPr>
          <a:xfrm>
            <a:off x="1464780" y="2381808"/>
            <a:ext cx="1845146" cy="188244"/>
            <a:chOff x="5613534" y="2854836"/>
            <a:chExt cx="1727805" cy="188244"/>
          </a:xfrm>
        </p:grpSpPr>
        <p:sp>
          <p:nvSpPr>
            <p:cNvPr id="106" name="사각형: 둥근 모서리 86">
              <a:extLst>
                <a:ext uri="{FF2B5EF4-FFF2-40B4-BE49-F238E27FC236}">
                  <a16:creationId xmlns:a16="http://schemas.microsoft.com/office/drawing/2014/main" id="{C84908FA-11D4-E687-3603-3EA5852F6FAE}"/>
                </a:ext>
              </a:extLst>
            </p:cNvPr>
            <p:cNvSpPr/>
            <p:nvPr/>
          </p:nvSpPr>
          <p:spPr>
            <a:xfrm>
              <a:off x="5613534" y="2854836"/>
              <a:ext cx="1727805"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2026-03-06</a:t>
              </a:r>
              <a:endParaRPr kumimoji="1" lang="en-US" sz="700" b="0" i="0" u="none" strike="noStrike" kern="0" cap="none" spc="0" normalizeH="0" baseline="0" noProof="0" dirty="0">
                <a:ln>
                  <a:noFill/>
                </a:ln>
                <a:effectLst/>
                <a:uLnTx/>
                <a:uFillTx/>
                <a:latin typeface="맑은 고딕"/>
              </a:endParaRPr>
            </a:p>
          </p:txBody>
        </p:sp>
        <p:pic>
          <p:nvPicPr>
            <p:cNvPr id="107" name="그림 106">
              <a:extLst>
                <a:ext uri="{FF2B5EF4-FFF2-40B4-BE49-F238E27FC236}">
                  <a16:creationId xmlns:a16="http://schemas.microsoft.com/office/drawing/2014/main" id="{B217D5BC-8335-EED4-D47A-F3F41108453E}"/>
                </a:ext>
              </a:extLst>
            </p:cNvPr>
            <p:cNvPicPr>
              <a:picLocks noChangeAspect="1"/>
            </p:cNvPicPr>
            <p:nvPr/>
          </p:nvPicPr>
          <p:blipFill>
            <a:blip r:embed="rId7"/>
            <a:stretch>
              <a:fillRect/>
            </a:stretch>
          </p:blipFill>
          <p:spPr>
            <a:xfrm>
              <a:off x="7115110" y="2876004"/>
              <a:ext cx="126296" cy="137278"/>
            </a:xfrm>
            <a:prstGeom prst="rect">
              <a:avLst/>
            </a:prstGeom>
          </p:spPr>
        </p:pic>
      </p:grpSp>
      <p:sp>
        <p:nvSpPr>
          <p:cNvPr id="108" name="사각형: 둥근 모서리 169">
            <a:extLst>
              <a:ext uri="{FF2B5EF4-FFF2-40B4-BE49-F238E27FC236}">
                <a16:creationId xmlns:a16="http://schemas.microsoft.com/office/drawing/2014/main" id="{A28DD831-0E4B-31EE-CB08-9E188754698D}"/>
              </a:ext>
            </a:extLst>
          </p:cNvPr>
          <p:cNvSpPr/>
          <p:nvPr/>
        </p:nvSpPr>
        <p:spPr>
          <a:xfrm>
            <a:off x="1464781" y="2612477"/>
            <a:ext cx="1845145"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검색</a:t>
            </a:r>
            <a:endParaRPr kumimoji="1" lang="en-US" sz="700" kern="0" dirty="0">
              <a:solidFill>
                <a:srgbClr val="0070C0"/>
              </a:solidFill>
              <a:latin typeface="맑은 고딕"/>
              <a:ea typeface="맑은 고딕" panose="020B0503020000020004" pitchFamily="50" charset="-127"/>
            </a:endParaRPr>
          </a:p>
        </p:txBody>
      </p:sp>
      <p:cxnSp>
        <p:nvCxnSpPr>
          <p:cNvPr id="109" name="직선 연결선 108">
            <a:extLst>
              <a:ext uri="{FF2B5EF4-FFF2-40B4-BE49-F238E27FC236}">
                <a16:creationId xmlns:a16="http://schemas.microsoft.com/office/drawing/2014/main" id="{E9293055-D5CD-4B9E-7F64-64B2D2CA7A52}"/>
              </a:ext>
            </a:extLst>
          </p:cNvPr>
          <p:cNvCxnSpPr/>
          <p:nvPr/>
        </p:nvCxnSpPr>
        <p:spPr>
          <a:xfrm>
            <a:off x="714149" y="2932595"/>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1"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(10/43)</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12" name="그룹 111">
            <a:extLst>
              <a:ext uri="{FF2B5EF4-FFF2-40B4-BE49-F238E27FC236}">
                <a16:creationId xmlns:a16="http://schemas.microsoft.com/office/drawing/2014/main" id="{22BC05EE-C648-7CA2-4CCC-6E1C1A7E9BDA}"/>
              </a:ext>
            </a:extLst>
          </p:cNvPr>
          <p:cNvGrpSpPr/>
          <p:nvPr/>
        </p:nvGrpSpPr>
        <p:grpSpPr>
          <a:xfrm>
            <a:off x="1992981" y="5428880"/>
            <a:ext cx="76863" cy="292489"/>
            <a:chOff x="3750067" y="4683795"/>
            <a:chExt cx="76863" cy="292489"/>
          </a:xfrm>
        </p:grpSpPr>
        <p:sp>
          <p:nvSpPr>
            <p:cNvPr id="113" name="타원 112">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4" name="타원 11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5" name="타원 11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116" name="그룹 115"/>
          <p:cNvGrpSpPr/>
          <p:nvPr/>
        </p:nvGrpSpPr>
        <p:grpSpPr>
          <a:xfrm>
            <a:off x="715616" y="4428310"/>
            <a:ext cx="2652743" cy="467510"/>
            <a:chOff x="715616" y="3407067"/>
            <a:chExt cx="2652743" cy="467510"/>
          </a:xfrm>
        </p:grpSpPr>
        <p:sp>
          <p:nvSpPr>
            <p:cNvPr id="117" name="모서리가 둥근 직사각형 116"/>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TextBox 117">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NZ-</a:t>
              </a:r>
              <a:r>
                <a:rPr lang="ko-KR" altLang="en-US" sz="700" dirty="0">
                  <a:solidFill>
                    <a:schemeClr val="tx1">
                      <a:lumMod val="85000"/>
                      <a:lumOff val="15000"/>
                    </a:schemeClr>
                  </a:solidFill>
                  <a:latin typeface="맑은 고딕" panose="020B0503020000020004" pitchFamily="50" charset="-127"/>
                </a:rPr>
                <a:t>뉴질랜드</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NZD-</a:t>
              </a:r>
              <a:r>
                <a:rPr lang="ko-KR" altLang="en-US" sz="700" dirty="0">
                  <a:solidFill>
                    <a:schemeClr val="tx1">
                      <a:lumMod val="85000"/>
                      <a:lumOff val="15000"/>
                    </a:schemeClr>
                  </a:solidFill>
                  <a:latin typeface="맑은 고딕" panose="020B0503020000020004" pitchFamily="50" charset="-127"/>
                </a:rPr>
                <a:t>뉴질랜드 달러</a:t>
              </a:r>
              <a:endParaRPr lang="en-US" altLang="ko-KR" sz="700" dirty="0">
                <a:solidFill>
                  <a:schemeClr val="tx1">
                    <a:lumMod val="85000"/>
                    <a:lumOff val="15000"/>
                  </a:schemeClr>
                </a:solidFill>
                <a:latin typeface="맑은 고딕" panose="020B0503020000020004" pitchFamily="50" charset="-127"/>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863.28 KRW</a:t>
              </a:r>
            </a:p>
            <a:p>
              <a:pPr algn="r"/>
              <a:r>
                <a:rPr lang="en-US" altLang="ko-KR" sz="700" dirty="0">
                  <a:solidFill>
                    <a:schemeClr val="tx1">
                      <a:lumMod val="85000"/>
                      <a:lumOff val="15000"/>
                    </a:schemeClr>
                  </a:solidFill>
                  <a:latin typeface="맑은 고딕" panose="020B0503020000020004" pitchFamily="50" charset="-127"/>
                </a:rPr>
                <a:t>0.5896 USD</a:t>
              </a:r>
            </a:p>
          </p:txBody>
        </p:sp>
      </p:grpSp>
      <p:grpSp>
        <p:nvGrpSpPr>
          <p:cNvPr id="121" name="그룹 120"/>
          <p:cNvGrpSpPr/>
          <p:nvPr/>
        </p:nvGrpSpPr>
        <p:grpSpPr>
          <a:xfrm>
            <a:off x="715616" y="4934269"/>
            <a:ext cx="2652743" cy="467510"/>
            <a:chOff x="715616" y="3407067"/>
            <a:chExt cx="2652743" cy="467510"/>
          </a:xfrm>
        </p:grpSpPr>
        <p:sp>
          <p:nvSpPr>
            <p:cNvPr id="122" name="모서리가 둥근 직사각형 121"/>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TW-</a:t>
              </a:r>
              <a:r>
                <a:rPr lang="ko-KR" altLang="en-US" sz="700" dirty="0">
                  <a:solidFill>
                    <a:schemeClr val="tx1">
                      <a:lumMod val="85000"/>
                      <a:lumOff val="15000"/>
                    </a:schemeClr>
                  </a:solidFill>
                  <a:latin typeface="맑은 고딕" panose="020B0503020000020004" pitchFamily="50" charset="-127"/>
                </a:rPr>
                <a:t>대만</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TWD-</a:t>
              </a:r>
              <a:r>
                <a:rPr lang="ko-KR" altLang="en-US" sz="700" dirty="0">
                  <a:solidFill>
                    <a:schemeClr val="tx1">
                      <a:lumMod val="85000"/>
                      <a:lumOff val="15000"/>
                    </a:schemeClr>
                  </a:solidFill>
                  <a:latin typeface="맑은 고딕" panose="020B0503020000020004" pitchFamily="50" charset="-127"/>
                </a:rPr>
                <a:t>뉴 타이완 달러</a:t>
              </a:r>
              <a:endParaRPr lang="en-US" altLang="ko-KR" sz="700" dirty="0">
                <a:solidFill>
                  <a:schemeClr val="tx1">
                    <a:lumMod val="85000"/>
                    <a:lumOff val="15000"/>
                  </a:schemeClr>
                </a:solidFill>
                <a:latin typeface="맑은 고딕" panose="020B0503020000020004" pitchFamily="50" charset="-127"/>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46.08 KRW</a:t>
              </a:r>
            </a:p>
            <a:p>
              <a:pPr algn="r"/>
              <a:r>
                <a:rPr lang="en-US" altLang="ko-KR" sz="700" dirty="0">
                  <a:solidFill>
                    <a:schemeClr val="tx1">
                      <a:lumMod val="85000"/>
                      <a:lumOff val="15000"/>
                    </a:schemeClr>
                  </a:solidFill>
                  <a:latin typeface="맑은 고딕" panose="020B0503020000020004" pitchFamily="50" charset="-127"/>
                </a:rPr>
                <a:t>0.0315 USD</a:t>
              </a:r>
            </a:p>
          </p:txBody>
        </p:sp>
      </p:gr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4149" y="3166058"/>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748417" y="3003160"/>
            <a:ext cx="989592"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총 </a:t>
            </a:r>
            <a:r>
              <a:rPr lang="en-US" altLang="ko-KR" sz="600" dirty="0">
                <a:solidFill>
                  <a:srgbClr val="0070C0"/>
                </a:solidFill>
                <a:latin typeface="맑은 고딕" panose="020B0503020000020004" pitchFamily="50" charset="-127"/>
              </a:rPr>
              <a:t>43</a:t>
            </a:r>
            <a:r>
              <a:rPr lang="ko-KR" altLang="en-US" sz="600" dirty="0">
                <a:solidFill>
                  <a:schemeClr val="tx1">
                    <a:lumMod val="85000"/>
                    <a:lumOff val="15000"/>
                  </a:schemeClr>
                </a:solidFill>
                <a:latin typeface="맑은 고딕" panose="020B0503020000020004" pitchFamily="50" charset="-127"/>
              </a:rPr>
              <a:t>건</a:t>
            </a:r>
            <a:endParaRPr lang="en-US" altLang="ko-KR" sz="600" dirty="0">
              <a:solidFill>
                <a:schemeClr val="tx1">
                  <a:lumMod val="85000"/>
                  <a:lumOff val="15000"/>
                </a:schemeClr>
              </a:solidFill>
              <a:latin typeface="맑은 고딕" panose="020B0503020000020004" pitchFamily="50" charset="-127"/>
            </a:endParaRPr>
          </a:p>
        </p:txBody>
      </p:sp>
      <p:grpSp>
        <p:nvGrpSpPr>
          <p:cNvPr id="130" name="그룹 129"/>
          <p:cNvGrpSpPr/>
          <p:nvPr/>
        </p:nvGrpSpPr>
        <p:grpSpPr>
          <a:xfrm>
            <a:off x="677960" y="1582647"/>
            <a:ext cx="2714637" cy="686386"/>
            <a:chOff x="677960" y="1582647"/>
            <a:chExt cx="2714637" cy="686386"/>
          </a:xfrm>
        </p:grpSpPr>
        <p:sp>
          <p:nvSpPr>
            <p:cNvPr id="131" name="TextBox 130">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err="1">
                  <a:latin typeface="+mn-ea"/>
                </a:rPr>
                <a:t>환율정보</a:t>
              </a:r>
              <a:r>
                <a:rPr lang="ko-KR" altLang="en-US" sz="800" dirty="0">
                  <a:latin typeface="+mn-ea"/>
                </a:rPr>
                <a:t> 조회</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rot="5400000">
              <a:off x="852159" y="2062596"/>
              <a:ext cx="94010" cy="47005"/>
              <a:chOff x="6812560" y="3297172"/>
              <a:chExt cx="94010" cy="47005"/>
            </a:xfrm>
          </p:grpSpPr>
          <p:cxnSp>
            <p:nvCxnSpPr>
              <p:cNvPr id="151" name="직선 연결선 15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39" name="그룹 138"/>
            <p:cNvGrpSpPr/>
            <p:nvPr/>
          </p:nvGrpSpPr>
          <p:grpSpPr>
            <a:xfrm>
              <a:off x="677960" y="1582647"/>
              <a:ext cx="2712027" cy="324286"/>
              <a:chOff x="677960" y="1582647"/>
              <a:chExt cx="2712027" cy="324286"/>
            </a:xfrm>
          </p:grpSpPr>
          <p:pic>
            <p:nvPicPr>
              <p:cNvPr id="140"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41" name="직선 연결선 140">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타원 141"/>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3" name="타원 142"/>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타원 145"/>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216" name="타원 215">
            <a:extLst>
              <a:ext uri="{FF2B5EF4-FFF2-40B4-BE49-F238E27FC236}">
                <a16:creationId xmlns:a16="http://schemas.microsoft.com/office/drawing/2014/main" id="{37A7FF4F-0EAA-1463-560A-D5EC24416103}"/>
              </a:ext>
            </a:extLst>
          </p:cNvPr>
          <p:cNvSpPr/>
          <p:nvPr/>
        </p:nvSpPr>
        <p:spPr>
          <a:xfrm>
            <a:off x="573754" y="19505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49" name="타원 248">
            <a:extLst>
              <a:ext uri="{FF2B5EF4-FFF2-40B4-BE49-F238E27FC236}">
                <a16:creationId xmlns:a16="http://schemas.microsoft.com/office/drawing/2014/main" id="{37A7FF4F-0EAA-1463-560A-D5EC24416103}"/>
              </a:ext>
            </a:extLst>
          </p:cNvPr>
          <p:cNvSpPr/>
          <p:nvPr/>
        </p:nvSpPr>
        <p:spPr>
          <a:xfrm>
            <a:off x="573754" y="30923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0" name="타원 249">
            <a:extLst>
              <a:ext uri="{FF2B5EF4-FFF2-40B4-BE49-F238E27FC236}">
                <a16:creationId xmlns:a16="http://schemas.microsoft.com/office/drawing/2014/main" id="{37A7FF4F-0EAA-1463-560A-D5EC24416103}"/>
              </a:ext>
            </a:extLst>
          </p:cNvPr>
          <p:cNvSpPr/>
          <p:nvPr/>
        </p:nvSpPr>
        <p:spPr>
          <a:xfrm>
            <a:off x="573754" y="252785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51" name="타원 250">
            <a:extLst>
              <a:ext uri="{FF2B5EF4-FFF2-40B4-BE49-F238E27FC236}">
                <a16:creationId xmlns:a16="http://schemas.microsoft.com/office/drawing/2014/main" id="{37A7FF4F-0EAA-1463-560A-D5EC24416103}"/>
              </a:ext>
            </a:extLst>
          </p:cNvPr>
          <p:cNvSpPr/>
          <p:nvPr/>
        </p:nvSpPr>
        <p:spPr>
          <a:xfrm>
            <a:off x="573754" y="58807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Tree>
    <p:extLst>
      <p:ext uri="{BB962C8B-B14F-4D97-AF65-F5344CB8AC3E}">
        <p14:creationId xmlns:p14="http://schemas.microsoft.com/office/powerpoint/2010/main" val="2761342257"/>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405</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196424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환율</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dm_searchInfo</a:t>
            </a:r>
            <a:r>
              <a:rPr lang="en-US" altLang="ko-KR" sz="900" b="1" dirty="0">
                <a:solidFill>
                  <a:prstClr val="black"/>
                </a:solidFill>
              </a:rPr>
              <a:t>)</a:t>
            </a:r>
            <a:endParaRPr lang="ko-KR" altLang="en-US" sz="900" b="1" dirty="0">
              <a:solidFill>
                <a:prstClr val="black"/>
              </a:solidFill>
            </a:endParaRPr>
          </a:p>
        </p:txBody>
      </p:sp>
      <p:sp>
        <p:nvSpPr>
          <p:cNvPr id="10" name="TextBox 9">
            <a:extLst>
              <a:ext uri="{FF2B5EF4-FFF2-40B4-BE49-F238E27FC236}">
                <a16:creationId xmlns:a16="http://schemas.microsoft.com/office/drawing/2014/main" id="{7F545FD0-B8C5-4B98-203E-A36908FB8DD4}"/>
              </a:ext>
            </a:extLst>
          </p:cNvPr>
          <p:cNvSpPr txBox="1"/>
          <p:nvPr/>
        </p:nvSpPr>
        <p:spPr>
          <a:xfrm>
            <a:off x="458117" y="41506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11" name="TextBox 10">
            <a:extLst>
              <a:ext uri="{FF2B5EF4-FFF2-40B4-BE49-F238E27FC236}">
                <a16:creationId xmlns:a16="http://schemas.microsoft.com/office/drawing/2014/main" id="{83358D31-792E-1F31-CE2A-A2AE122E42CC}"/>
              </a:ext>
            </a:extLst>
          </p:cNvPr>
          <p:cNvSpPr txBox="1"/>
          <p:nvPr/>
        </p:nvSpPr>
        <p:spPr>
          <a:xfrm>
            <a:off x="458117" y="1970468"/>
            <a:ext cx="224316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조회결과</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조회일자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crtrYmd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조회기준일자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초기값을 당일일자로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6" name="표 15">
            <a:extLst>
              <a:ext uri="{FF2B5EF4-FFF2-40B4-BE49-F238E27FC236}">
                <a16:creationId xmlns:a16="http://schemas.microsoft.com/office/drawing/2014/main" id="{A31F6A43-1297-CF99-ABFA-B1F80565E966}"/>
              </a:ext>
            </a:extLst>
          </p:cNvPr>
          <p:cNvGraphicFramePr>
            <a:graphicFrameLocks noGrp="1"/>
          </p:cNvGraphicFramePr>
          <p:nvPr>
            <p:extLst/>
          </p:nvPr>
        </p:nvGraphicFramePr>
        <p:xfrm>
          <a:off x="453000" y="442878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환율정보조회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algn="l"/>
                      <a:r>
                        <a:rPr lang="ko-KR" altLang="en-US" sz="800" dirty="0"/>
                        <a:t>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환율정보조회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4083906"/>
                  </a:ext>
                </a:extLst>
              </a:tr>
            </a:tbl>
          </a:graphicData>
        </a:graphic>
      </p:graphicFrame>
      <p:graphicFrame>
        <p:nvGraphicFramePr>
          <p:cNvPr id="2" name="표 1">
            <a:extLst>
              <a:ext uri="{FF2B5EF4-FFF2-40B4-BE49-F238E27FC236}">
                <a16:creationId xmlns:a16="http://schemas.microsoft.com/office/drawing/2014/main" id="{3969C2BD-BAE7-E4E1-6BA5-91005212D745}"/>
              </a:ext>
            </a:extLst>
          </p:cNvPr>
          <p:cNvGraphicFramePr>
            <a:graphicFrameLocks noGrp="1"/>
          </p:cNvGraphicFramePr>
          <p:nvPr/>
        </p:nvGraphicFramePr>
        <p:xfrm>
          <a:off x="452999" y="2254222"/>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화폐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화페구분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416773"/>
                  </a:ext>
                </a:extLst>
              </a:tr>
              <a:tr h="0">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ntnNm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0907113"/>
                  </a:ext>
                </a:extLst>
              </a:tr>
              <a:tr h="0">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ttsrt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3152709"/>
                  </a:ext>
                </a:extLst>
              </a:tr>
              <a:tr h="0">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trdStdrt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5" name="Text Box 73">
            <a:extLst>
              <a:ext uri="{FF2B5EF4-FFF2-40B4-BE49-F238E27FC236}">
                <a16:creationId xmlns:a16="http://schemas.microsoft.com/office/drawing/2014/main" id="{620EE0D2-F5DA-2FDD-3DE6-6D0785641F1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638604283"/>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조회결과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목표가공개품목조회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목표가공개품목 조회</a:t>
            </a:r>
            <a:r>
              <a:rPr lang="ko-KR" altLang="en-US" dirty="0"/>
              <a:t> 화면</a:t>
            </a:r>
            <a:endParaRPr lang="ko-KR" altLang="en-US"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latin typeface="+mn-ea"/>
              </a:rPr>
              <a:t>&gt; </a:t>
            </a:r>
            <a:r>
              <a:rPr lang="ko-KR" altLang="en-US" dirty="0">
                <a:latin typeface="+mn-ea"/>
              </a:rPr>
              <a:t>입찰 공고 </a:t>
            </a:r>
            <a:r>
              <a:rPr lang="en-US" altLang="ko-KR" dirty="0">
                <a:latin typeface="+mn-ea"/>
              </a:rPr>
              <a:t>&gt; </a:t>
            </a:r>
            <a:r>
              <a:rPr lang="ko-KR" altLang="en-US" dirty="0" err="1">
                <a:latin typeface="+mn-ea"/>
              </a:rPr>
              <a:t>목표가공개품목조회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MUI-BD-01-M75</a:t>
            </a:r>
            <a:endParaRPr lang="ko-KR" altLang="en-US" dirty="0">
              <a:solidFill>
                <a:srgbClr val="000000"/>
              </a:solidFill>
              <a:latin typeface="맑은 고딕" panose="020B0503020000020004" pitchFamily="50" charset="-127"/>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70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246" name="직선 연결선 245">
            <a:extLst>
              <a:ext uri="{FF2B5EF4-FFF2-40B4-BE49-F238E27FC236}">
                <a16:creationId xmlns:a16="http://schemas.microsoft.com/office/drawing/2014/main" id="{E9293055-D5CD-4B9E-7F64-64B2D2CA7A52}"/>
              </a:ext>
            </a:extLst>
          </p:cNvPr>
          <p:cNvCxnSpPr/>
          <p:nvPr/>
        </p:nvCxnSpPr>
        <p:spPr>
          <a:xfrm>
            <a:off x="714149" y="2514554"/>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7" name="TextBox 246">
            <a:extLst>
              <a:ext uri="{FF2B5EF4-FFF2-40B4-BE49-F238E27FC236}">
                <a16:creationId xmlns:a16="http://schemas.microsoft.com/office/drawing/2014/main" id="{FFC49AEA-2A8F-250C-A86A-A7751D9706C3}"/>
              </a:ext>
            </a:extLst>
          </p:cNvPr>
          <p:cNvSpPr txBox="1"/>
          <p:nvPr/>
        </p:nvSpPr>
        <p:spPr>
          <a:xfrm>
            <a:off x="748417" y="2351656"/>
            <a:ext cx="989592"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총 </a:t>
            </a:r>
            <a:r>
              <a:rPr lang="en-US" altLang="ko-KR" sz="600" dirty="0">
                <a:solidFill>
                  <a:srgbClr val="0070C0"/>
                </a:solidFill>
                <a:latin typeface="맑은 고딕" panose="020B0503020000020004" pitchFamily="50" charset="-127"/>
              </a:rPr>
              <a:t>43</a:t>
            </a:r>
            <a:r>
              <a:rPr lang="ko-KR" altLang="en-US" sz="600" dirty="0">
                <a:solidFill>
                  <a:schemeClr val="tx1">
                    <a:lumMod val="85000"/>
                    <a:lumOff val="15000"/>
                  </a:schemeClr>
                </a:solidFill>
                <a:latin typeface="맑은 고딕" panose="020B0503020000020004" pitchFamily="50" charset="-127"/>
              </a:rPr>
              <a:t>건</a:t>
            </a:r>
            <a:endParaRPr lang="en-US" altLang="ko-KR" sz="600" dirty="0">
              <a:solidFill>
                <a:schemeClr val="tx1">
                  <a:lumMod val="85000"/>
                  <a:lumOff val="15000"/>
                </a:schemeClr>
              </a:solidFill>
              <a:latin typeface="맑은 고딕" panose="020B0503020000020004" pitchFamily="50" charset="-127"/>
            </a:endParaRPr>
          </a:p>
        </p:txBody>
      </p:sp>
      <p:grpSp>
        <p:nvGrpSpPr>
          <p:cNvPr id="89" name="그룹 88"/>
          <p:cNvGrpSpPr/>
          <p:nvPr/>
        </p:nvGrpSpPr>
        <p:grpSpPr>
          <a:xfrm>
            <a:off x="701175" y="2570891"/>
            <a:ext cx="2630093" cy="3877985"/>
            <a:chOff x="701175" y="1835481"/>
            <a:chExt cx="2630093" cy="3877985"/>
          </a:xfrm>
        </p:grpSpPr>
        <p:sp>
          <p:nvSpPr>
            <p:cNvPr id="92" name="직사각형 91"/>
            <p:cNvSpPr/>
            <p:nvPr/>
          </p:nvSpPr>
          <p:spPr>
            <a:xfrm>
              <a:off x="703268" y="1835481"/>
              <a:ext cx="792000" cy="38572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3877985"/>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규격번호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납기기준일자</a:t>
              </a:r>
            </a:p>
            <a:p>
              <a:pPr>
                <a:lnSpc>
                  <a:spcPct val="200000"/>
                </a:lnSpc>
              </a:pPr>
              <a:r>
                <a:rPr lang="ko-KR" altLang="en-US" sz="700" dirty="0">
                  <a:latin typeface="+mn-ea"/>
                </a:rPr>
                <a:t>단위</a:t>
              </a:r>
            </a:p>
            <a:p>
              <a:pPr>
                <a:lnSpc>
                  <a:spcPct val="200000"/>
                </a:lnSpc>
              </a:pPr>
              <a:r>
                <a:rPr lang="ko-KR" altLang="en-US" sz="700" dirty="0" err="1">
                  <a:latin typeface="+mn-ea"/>
                </a:rPr>
                <a:t>본조수량</a:t>
              </a:r>
              <a:endParaRPr lang="ko-KR" altLang="en-US" sz="700" dirty="0">
                <a:latin typeface="+mn-ea"/>
              </a:endParaRPr>
            </a:p>
            <a:p>
              <a:pPr>
                <a:lnSpc>
                  <a:spcPct val="200000"/>
                </a:lnSpc>
              </a:pPr>
              <a:r>
                <a:rPr lang="ko-KR" altLang="en-US" sz="700" dirty="0" err="1">
                  <a:latin typeface="+mn-ea"/>
                </a:rPr>
                <a:t>당국수량</a:t>
              </a:r>
              <a:endParaRPr lang="ko-KR" altLang="en-US" sz="700" dirty="0">
                <a:latin typeface="+mn-ea"/>
              </a:endParaRPr>
            </a:p>
            <a:p>
              <a:pPr>
                <a:lnSpc>
                  <a:spcPct val="200000"/>
                </a:lnSpc>
              </a:pPr>
              <a:r>
                <a:rPr lang="ko-KR" altLang="en-US" sz="700" dirty="0" err="1">
                  <a:latin typeface="+mn-ea"/>
                </a:rPr>
                <a:t>장국수량</a:t>
              </a:r>
              <a:endParaRPr lang="ko-KR" altLang="en-US" sz="700" dirty="0">
                <a:latin typeface="+mn-ea"/>
              </a:endParaRPr>
            </a:p>
            <a:p>
              <a:pPr>
                <a:lnSpc>
                  <a:spcPct val="200000"/>
                </a:lnSpc>
              </a:pPr>
              <a:r>
                <a:rPr lang="ko-KR" altLang="en-US" sz="700" dirty="0" err="1">
                  <a:latin typeface="+mn-ea"/>
                </a:rPr>
                <a:t>본조예산</a:t>
              </a:r>
              <a:endParaRPr lang="ko-KR" altLang="en-US" sz="700" dirty="0">
                <a:latin typeface="+mn-ea"/>
              </a:endParaRPr>
            </a:p>
            <a:p>
              <a:pPr>
                <a:lnSpc>
                  <a:spcPct val="200000"/>
                </a:lnSpc>
              </a:pPr>
              <a:r>
                <a:rPr lang="ko-KR" altLang="en-US" sz="700" dirty="0" err="1">
                  <a:latin typeface="+mn-ea"/>
                </a:rPr>
                <a:t>당국예산</a:t>
              </a:r>
              <a:endParaRPr lang="ko-KR" altLang="en-US" sz="700" dirty="0">
                <a:latin typeface="+mn-ea"/>
              </a:endParaRPr>
            </a:p>
            <a:p>
              <a:pPr>
                <a:lnSpc>
                  <a:spcPct val="200000"/>
                </a:lnSpc>
              </a:pPr>
              <a:r>
                <a:rPr lang="ko-KR" altLang="en-US" sz="700" dirty="0" err="1">
                  <a:latin typeface="+mn-ea"/>
                </a:rPr>
                <a:t>장국예산</a:t>
              </a:r>
              <a:endParaRPr lang="ko-KR" altLang="en-US" sz="700" dirty="0">
                <a:latin typeface="+mn-ea"/>
              </a:endParaRPr>
            </a:p>
            <a:p>
              <a:pPr>
                <a:lnSpc>
                  <a:spcPct val="200000"/>
                </a:lnSpc>
              </a:pPr>
              <a:r>
                <a:rPr lang="ko-KR" altLang="en-US" sz="700" dirty="0" err="1">
                  <a:latin typeface="+mn-ea"/>
                </a:rPr>
                <a:t>수량합계</a:t>
              </a:r>
              <a:endParaRPr lang="ko-KR" altLang="en-US" sz="700" dirty="0">
                <a:latin typeface="+mn-ea"/>
              </a:endParaRP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err="1">
                  <a:latin typeface="+mn-ea"/>
                </a:rPr>
                <a:t>지시금액</a:t>
              </a:r>
              <a:endParaRPr lang="ko-KR" altLang="en-US" sz="700" dirty="0">
                <a:latin typeface="+mn-ea"/>
              </a:endParaRPr>
            </a:p>
            <a:p>
              <a:pPr>
                <a:lnSpc>
                  <a:spcPct val="200000"/>
                </a:lnSpc>
              </a:pPr>
              <a:r>
                <a:rPr lang="ko-KR" altLang="en-US" sz="700" dirty="0" err="1">
                  <a:latin typeface="+mn-ea"/>
                </a:rPr>
                <a:t>장비부호</a:t>
              </a:r>
              <a:endParaRPr lang="en-US" altLang="ko-KR" sz="700" dirty="0">
                <a:latin typeface="+mn-ea"/>
              </a:endParaRPr>
            </a:p>
            <a:p>
              <a:pPr>
                <a:lnSpc>
                  <a:spcPct val="200000"/>
                </a:lnSpc>
              </a:pPr>
              <a:r>
                <a:rPr lang="ko-KR" altLang="en-US" sz="700" dirty="0" err="1">
                  <a:latin typeface="+mn-ea"/>
                </a:rPr>
                <a:t>장비명</a:t>
              </a:r>
              <a:endParaRPr lang="ko-KR" altLang="en-US"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84088" cy="3843681"/>
            </a:xfrm>
            <a:prstGeom prst="rect">
              <a:avLst/>
            </a:prstGeom>
            <a:noFill/>
          </p:spPr>
          <p:txBody>
            <a:bodyPr wrap="square" lIns="0" tIns="0" rIns="0" bIns="0" rtlCol="0">
              <a:spAutoFit/>
            </a:bodyPr>
            <a:lstStyle/>
            <a:p>
              <a:pPr>
                <a:lnSpc>
                  <a:spcPct val="200000"/>
                </a:lnSpc>
              </a:pPr>
              <a:r>
                <a:rPr lang="en-US" altLang="ko-KR" sz="700" dirty="0">
                  <a:latin typeface="+mn-ea"/>
                </a:rPr>
                <a:t>6</a:t>
              </a:r>
            </a:p>
            <a:p>
              <a:pPr>
                <a:lnSpc>
                  <a:spcPct val="200000"/>
                </a:lnSpc>
              </a:pPr>
              <a:r>
                <a:rPr lang="en-US" altLang="ko-KR" sz="700" dirty="0">
                  <a:latin typeface="+mn-ea"/>
                </a:rPr>
                <a:t>1005000529558 </a:t>
              </a:r>
            </a:p>
            <a:p>
              <a:pPr>
                <a:lnSpc>
                  <a:spcPct val="200000"/>
                </a:lnSpc>
              </a:pPr>
              <a:r>
                <a:rPr lang="en-US" altLang="ko-KR" sz="700" dirty="0">
                  <a:latin typeface="+mn-ea"/>
                </a:rPr>
                <a:t>5910873</a:t>
              </a:r>
            </a:p>
            <a:p>
              <a:pPr>
                <a:lnSpc>
                  <a:spcPct val="200000"/>
                </a:lnSpc>
              </a:pPr>
              <a:r>
                <a:rPr lang="en-US" altLang="ko-KR" sz="700" dirty="0">
                  <a:latin typeface="+mn-ea"/>
                </a:rPr>
                <a:t>0001-P4001</a:t>
              </a:r>
            </a:p>
            <a:p>
              <a:pPr>
                <a:lnSpc>
                  <a:spcPct val="200000"/>
                </a:lnSpc>
              </a:pPr>
              <a:r>
                <a:rPr lang="en-US" altLang="ko-KR" sz="700" dirty="0">
                  <a:latin typeface="+mn-ea"/>
                </a:rPr>
                <a:t>COLLAR,BREECH RING</a:t>
              </a:r>
            </a:p>
            <a:p>
              <a:pPr>
                <a:lnSpc>
                  <a:spcPct val="200000"/>
                </a:lnSpc>
              </a:pPr>
              <a:r>
                <a:rPr lang="en-US" altLang="ko-KR" sz="700" dirty="0">
                  <a:latin typeface="+mn-ea"/>
                </a:rPr>
                <a:t>2015-12-13</a:t>
              </a:r>
            </a:p>
            <a:p>
              <a:pPr>
                <a:lnSpc>
                  <a:spcPct val="200000"/>
                </a:lnSpc>
              </a:pPr>
              <a:r>
                <a:rPr lang="en-US" altLang="ko-KR" sz="700" dirty="0">
                  <a:latin typeface="+mn-ea"/>
                </a:rPr>
                <a:t>EA</a:t>
              </a:r>
            </a:p>
            <a:p>
              <a:pPr>
                <a:lnSpc>
                  <a:spcPct val="200000"/>
                </a:lnSpc>
              </a:pPr>
              <a:r>
                <a:rPr lang="en-US" altLang="ko-KR" sz="700" dirty="0">
                  <a:latin typeface="+mn-ea"/>
                </a:rPr>
                <a:t>10</a:t>
              </a:r>
            </a:p>
            <a:p>
              <a:pPr>
                <a:lnSpc>
                  <a:spcPct val="200000"/>
                </a:lnSpc>
              </a:pPr>
              <a:r>
                <a:rPr lang="en-US" altLang="ko-KR" sz="700" dirty="0">
                  <a:latin typeface="+mn-ea"/>
                </a:rPr>
                <a:t>10</a:t>
              </a:r>
            </a:p>
            <a:p>
              <a:pPr>
                <a:lnSpc>
                  <a:spcPct val="200000"/>
                </a:lnSpc>
              </a:pPr>
              <a:r>
                <a:rPr lang="en-US" altLang="ko-KR" sz="700" dirty="0">
                  <a:latin typeface="+mn-ea"/>
                </a:rPr>
                <a:t>10</a:t>
              </a:r>
            </a:p>
            <a:p>
              <a:pPr algn="r">
                <a:lnSpc>
                  <a:spcPct val="200000"/>
                </a:lnSpc>
              </a:pPr>
              <a:r>
                <a:rPr lang="en-US" altLang="ko-KR" sz="700" dirty="0">
                  <a:latin typeface="+mn-ea"/>
                </a:rPr>
                <a:t>1,000.00</a:t>
              </a:r>
            </a:p>
            <a:p>
              <a:pPr algn="r">
                <a:lnSpc>
                  <a:spcPct val="200000"/>
                </a:lnSpc>
              </a:pPr>
              <a:r>
                <a:rPr lang="en-US" altLang="ko-KR" sz="700" dirty="0">
                  <a:latin typeface="+mn-ea"/>
                </a:rPr>
                <a:t>1,000.00</a:t>
              </a:r>
            </a:p>
            <a:p>
              <a:pPr algn="r">
                <a:lnSpc>
                  <a:spcPct val="200000"/>
                </a:lnSpc>
              </a:pPr>
              <a:r>
                <a:rPr lang="en-US" altLang="ko-KR" sz="700" dirty="0">
                  <a:latin typeface="+mn-ea"/>
                </a:rPr>
                <a:t>1,000.00</a:t>
              </a:r>
            </a:p>
            <a:p>
              <a:pPr>
                <a:lnSpc>
                  <a:spcPct val="200000"/>
                </a:lnSpc>
              </a:pPr>
              <a:r>
                <a:rPr lang="en-US" altLang="ko-KR" sz="700" dirty="0">
                  <a:latin typeface="+mn-ea"/>
                </a:rPr>
                <a:t>30</a:t>
              </a:r>
            </a:p>
            <a:p>
              <a:pPr algn="r">
                <a:lnSpc>
                  <a:spcPct val="200000"/>
                </a:lnSpc>
              </a:pPr>
              <a:r>
                <a:rPr lang="en-US" altLang="ko-KR" sz="700" dirty="0">
                  <a:latin typeface="+mn-ea"/>
                </a:rPr>
                <a:t>100</a:t>
              </a:r>
            </a:p>
            <a:p>
              <a:pPr algn="r">
                <a:lnSpc>
                  <a:spcPct val="200000"/>
                </a:lnSpc>
              </a:pPr>
              <a:r>
                <a:rPr lang="en-US" altLang="ko-KR" sz="700" dirty="0">
                  <a:latin typeface="+mn-ea"/>
                </a:rPr>
                <a:t>3,000.00</a:t>
              </a:r>
            </a:p>
            <a:p>
              <a:pPr>
                <a:lnSpc>
                  <a:spcPct val="200000"/>
                </a:lnSpc>
              </a:pPr>
              <a:r>
                <a:rPr lang="en-US" altLang="ko-KR" sz="700" dirty="0">
                  <a:latin typeface="+mn-ea"/>
                </a:rPr>
                <a:t>33100401</a:t>
              </a:r>
            </a:p>
            <a:p>
              <a:pPr>
                <a:lnSpc>
                  <a:spcPct val="200000"/>
                </a:lnSpc>
              </a:pPr>
              <a:r>
                <a:rPr lang="ko-KR" altLang="en-US" sz="700" dirty="0">
                  <a:latin typeface="+mn-ea"/>
                </a:rPr>
                <a:t>발칸 </a:t>
              </a:r>
              <a:r>
                <a:rPr lang="en-US" altLang="ko-KR" sz="700" dirty="0">
                  <a:latin typeface="+mn-ea"/>
                </a:rPr>
                <a:t>20</a:t>
              </a:r>
              <a:r>
                <a:rPr lang="ko-KR" altLang="en-US" sz="700" dirty="0">
                  <a:latin typeface="+mn-ea"/>
                </a:rPr>
                <a:t>미리</a:t>
              </a:r>
              <a:endParaRPr lang="en-US" altLang="ko-KR" sz="700" dirty="0">
                <a:latin typeface="+mn-ea"/>
              </a:endParaRPr>
            </a:p>
          </p:txBody>
        </p:sp>
        <p:grpSp>
          <p:nvGrpSpPr>
            <p:cNvPr id="95" name="그룹 94"/>
            <p:cNvGrpSpPr/>
            <p:nvPr/>
          </p:nvGrpSpPr>
          <p:grpSpPr>
            <a:xfrm>
              <a:off x="701175" y="1835481"/>
              <a:ext cx="2630093" cy="3857260"/>
              <a:chOff x="701175" y="1835481"/>
              <a:chExt cx="2630093" cy="3857260"/>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9" name="직선 연결선 108">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56927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21" name="그룹 120">
            <a:extLst>
              <a:ext uri="{FF2B5EF4-FFF2-40B4-BE49-F238E27FC236}">
                <a16:creationId xmlns:a16="http://schemas.microsoft.com/office/drawing/2014/main" id="{22BC05EE-C648-7CA2-4CCC-6E1C1A7E9BDA}"/>
              </a:ext>
            </a:extLst>
          </p:cNvPr>
          <p:cNvGrpSpPr/>
          <p:nvPr/>
        </p:nvGrpSpPr>
        <p:grpSpPr>
          <a:xfrm>
            <a:off x="5113316" y="3483247"/>
            <a:ext cx="76863" cy="292489"/>
            <a:chOff x="3750067" y="4683795"/>
            <a:chExt cx="76863" cy="292489"/>
          </a:xfrm>
        </p:grpSpPr>
        <p:sp>
          <p:nvSpPr>
            <p:cNvPr id="122" name="타원 1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5" name="타원 12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40" name="직사각형 139">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타원 215">
            <a:extLst>
              <a:ext uri="{FF2B5EF4-FFF2-40B4-BE49-F238E27FC236}">
                <a16:creationId xmlns:a16="http://schemas.microsoft.com/office/drawing/2014/main" id="{37A7FF4F-0EAA-1463-560A-D5EC24416103}"/>
              </a:ext>
            </a:extLst>
          </p:cNvPr>
          <p:cNvSpPr/>
          <p:nvPr/>
        </p:nvSpPr>
        <p:spPr>
          <a:xfrm>
            <a:off x="573754" y="238058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42" name="TextBox 141">
            <a:extLst>
              <a:ext uri="{FF2B5EF4-FFF2-40B4-BE49-F238E27FC236}">
                <a16:creationId xmlns:a16="http://schemas.microsoft.com/office/drawing/2014/main" id="{FFC49AEA-2A8F-250C-A86A-A7751D9706C3}"/>
              </a:ext>
            </a:extLst>
          </p:cNvPr>
          <p:cNvSpPr txBox="1"/>
          <p:nvPr/>
        </p:nvSpPr>
        <p:spPr>
          <a:xfrm>
            <a:off x="2428604" y="2288690"/>
            <a:ext cx="393849" cy="155299"/>
          </a:xfrm>
          <a:prstGeom prst="rect">
            <a:avLst/>
          </a:prstGeom>
          <a:noFill/>
        </p:spPr>
        <p:txBody>
          <a:bodyPr wrap="square" lIns="0" tIns="0" rIns="0" bIns="0" rtlCol="0">
            <a:spAutoFit/>
          </a:bodyPr>
          <a:lstStyle/>
          <a:p>
            <a:pPr>
              <a:lnSpc>
                <a:spcPct val="200000"/>
              </a:lnSpc>
            </a:pPr>
            <a:r>
              <a:rPr lang="ko-KR" altLang="en-US" sz="600" b="1" dirty="0">
                <a:latin typeface="+mn-ea"/>
              </a:rPr>
              <a:t>표시 개수</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2727990" y="2288690"/>
            <a:ext cx="368553" cy="155299"/>
          </a:xfrm>
          <a:prstGeom prst="rect">
            <a:avLst/>
          </a:prstGeom>
          <a:noFill/>
        </p:spPr>
        <p:txBody>
          <a:bodyPr wrap="square" lIns="0" tIns="0" rIns="0" bIns="0" rtlCol="0">
            <a:spAutoFit/>
          </a:bodyPr>
          <a:lstStyle/>
          <a:p>
            <a:pPr algn="r">
              <a:lnSpc>
                <a:spcPct val="200000"/>
              </a:lnSpc>
            </a:pPr>
            <a:r>
              <a:rPr lang="en-US" altLang="ko-KR" sz="600" dirty="0">
                <a:latin typeface="+mn-ea"/>
              </a:rPr>
              <a:t>10 </a:t>
            </a:r>
            <a:r>
              <a:rPr lang="ko-KR" altLang="en-US" sz="600" dirty="0">
                <a:latin typeface="+mn-ea"/>
              </a:rPr>
              <a:t>개</a:t>
            </a:r>
          </a:p>
        </p:txBody>
      </p:sp>
      <p:grpSp>
        <p:nvGrpSpPr>
          <p:cNvPr id="146" name="그룹 145"/>
          <p:cNvGrpSpPr/>
          <p:nvPr/>
        </p:nvGrpSpPr>
        <p:grpSpPr>
          <a:xfrm>
            <a:off x="3143548" y="2378336"/>
            <a:ext cx="94010" cy="47005"/>
            <a:chOff x="6812560" y="3297172"/>
            <a:chExt cx="94010" cy="47005"/>
          </a:xfrm>
        </p:grpSpPr>
        <p:cxnSp>
          <p:nvCxnSpPr>
            <p:cNvPr id="151" name="직선 연결선 15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54" name="그룹 53"/>
          <p:cNvGrpSpPr/>
          <p:nvPr/>
        </p:nvGrpSpPr>
        <p:grpSpPr>
          <a:xfrm>
            <a:off x="677960" y="1582647"/>
            <a:ext cx="2714637" cy="686386"/>
            <a:chOff x="677960" y="1582647"/>
            <a:chExt cx="2714637" cy="686386"/>
          </a:xfrm>
        </p:grpSpPr>
        <p:sp>
          <p:nvSpPr>
            <p:cNvPr id="55" name="TextBox 54">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smtClean="0">
                  <a:latin typeface="+mn-ea"/>
                </a:rPr>
                <a:t>목표가공개품목</a:t>
              </a:r>
              <a:endParaRPr lang="ko-KR" altLang="en-US" sz="800" dirty="0">
                <a:latin typeface="+mn-ea"/>
              </a:endParaRPr>
            </a:p>
          </p:txBody>
        </p:sp>
        <p:cxnSp>
          <p:nvCxnSpPr>
            <p:cNvPr id="56" name="직선 연결선 55">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7" name="그룹 56"/>
            <p:cNvGrpSpPr/>
            <p:nvPr/>
          </p:nvGrpSpPr>
          <p:grpSpPr>
            <a:xfrm rot="5400000">
              <a:off x="852159" y="2062596"/>
              <a:ext cx="94010" cy="47005"/>
              <a:chOff x="6812560" y="3297172"/>
              <a:chExt cx="94010" cy="47005"/>
            </a:xfrm>
          </p:grpSpPr>
          <p:cxnSp>
            <p:nvCxnSpPr>
              <p:cNvPr id="64" name="직선 연결선 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5" name="직선 연결선 6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58" name="그룹 57"/>
            <p:cNvGrpSpPr/>
            <p:nvPr/>
          </p:nvGrpSpPr>
          <p:grpSpPr>
            <a:xfrm>
              <a:off x="677960" y="1582647"/>
              <a:ext cx="2712027" cy="324286"/>
              <a:chOff x="677960" y="1582647"/>
              <a:chExt cx="2712027" cy="324286"/>
            </a:xfrm>
          </p:grpSpPr>
          <p:pic>
            <p:nvPicPr>
              <p:cNvPr id="59"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직선 연결선 59">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타원 60"/>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14688191"/>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407</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212713"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조회결과 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sp>
        <p:nvSpPr>
          <p:cNvPr id="10" name="TextBox 9">
            <a:extLst>
              <a:ext uri="{FF2B5EF4-FFF2-40B4-BE49-F238E27FC236}">
                <a16:creationId xmlns:a16="http://schemas.microsoft.com/office/drawing/2014/main" id="{7F545FD0-B8C5-4B98-203E-A36908FB8DD4}"/>
              </a:ext>
            </a:extLst>
          </p:cNvPr>
          <p:cNvSpPr txBox="1"/>
          <p:nvPr/>
        </p:nvSpPr>
        <p:spPr>
          <a:xfrm>
            <a:off x="458117" y="5310864"/>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36844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b="0" dirty="0">
                          <a:latin typeface="+mn-ea"/>
                          <a:ea typeface="+mn-ea"/>
                        </a:rPr>
                        <a:t>R</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b="0" dirty="0">
                          <a:latin typeface="+mn-ea"/>
                          <a:ea typeface="+mn-ea"/>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301553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54944"/>
                  </a:ext>
                </a:extLst>
              </a:tr>
              <a:tr h="0">
                <a:tc>
                  <a:txBody>
                    <a:bodyPr/>
                    <a:lstStyle/>
                    <a:p>
                      <a:pPr algn="l" fontAlgn="ctr"/>
                      <a:r>
                        <a:rPr lang="ko-KR" altLang="en-US" sz="800" b="0" i="0" u="none" strike="noStrike">
                          <a:solidFill>
                            <a:srgbClr val="000000"/>
                          </a:solidFill>
                          <a:effectLst/>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spcfctNo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3909892"/>
                  </a:ext>
                </a:extLst>
              </a:tr>
              <a:tr h="0">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2352817"/>
                  </a:ext>
                </a:extLst>
              </a:tr>
              <a:tr h="0">
                <a:tc>
                  <a:txBody>
                    <a:bodyPr/>
                    <a:lstStyle/>
                    <a:p>
                      <a:pPr algn="l" fontAlgn="ctr"/>
                      <a:r>
                        <a:rPr lang="ko-KR" altLang="en-US" sz="800" b="0" i="0" u="none" strike="noStrike">
                          <a:solidFill>
                            <a:srgbClr val="000000"/>
                          </a:solidFill>
                          <a:effectLst/>
                          <a:latin typeface="+mn-ea"/>
                          <a:ea typeface="+mn-ea"/>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7936035"/>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8637190"/>
                  </a:ext>
                </a:extLst>
              </a:tr>
              <a:tr h="0">
                <a:tc>
                  <a:txBody>
                    <a:bodyPr/>
                    <a:lstStyle/>
                    <a:p>
                      <a:pPr algn="l" fontAlgn="ctr"/>
                      <a:r>
                        <a:rPr lang="ko-KR" altLang="en-US" sz="800" b="0" i="0" u="none" strike="noStrike">
                          <a:solidFill>
                            <a:srgbClr val="000000"/>
                          </a:solidFill>
                          <a:effectLst/>
                          <a:latin typeface="+mn-ea"/>
                          <a:ea typeface="+mn-ea"/>
                        </a:rPr>
                        <a:t>본조수량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 예산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9096579"/>
                  </a:ext>
                </a:extLst>
              </a:tr>
              <a:tr h="0">
                <a:tc>
                  <a:txBody>
                    <a:bodyPr/>
                    <a:lstStyle/>
                    <a:p>
                      <a:pPr algn="l" fontAlgn="ctr"/>
                      <a:r>
                        <a:rPr lang="ko-KR" altLang="en-US" sz="800" b="0" i="0" u="none" strike="noStrike">
                          <a:solidFill>
                            <a:srgbClr val="000000"/>
                          </a:solidFill>
                          <a:effectLst/>
                          <a:latin typeface="+mn-ea"/>
                          <a:ea typeface="+mn-ea"/>
                        </a:rPr>
                        <a:t>당국수량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4344343"/>
                  </a:ext>
                </a:extLst>
              </a:tr>
              <a:tr h="0">
                <a:tc>
                  <a:txBody>
                    <a:bodyPr/>
                    <a:lstStyle/>
                    <a:p>
                      <a:pPr algn="l" fontAlgn="ctr"/>
                      <a:r>
                        <a:rPr lang="ko-KR" altLang="en-US" sz="800" b="0" i="0" u="none" strike="noStrike" dirty="0">
                          <a:solidFill>
                            <a:srgbClr val="000000"/>
                          </a:solidFill>
                          <a:effectLst/>
                          <a:latin typeface="+mn-ea"/>
                          <a:ea typeface="+mn-ea"/>
                        </a:rPr>
                        <a:t>장국수량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495526"/>
                  </a:ext>
                </a:extLst>
              </a:tr>
              <a:tr h="0">
                <a:tc>
                  <a:txBody>
                    <a:bodyPr/>
                    <a:lstStyle/>
                    <a:p>
                      <a:pPr algn="l" fontAlgn="ctr"/>
                      <a:r>
                        <a:rPr lang="ko-KR" altLang="en-US" sz="800" b="0" i="0" u="none" strike="noStrike">
                          <a:solidFill>
                            <a:srgbClr val="000000"/>
                          </a:solidFill>
                          <a:effectLst/>
                          <a:latin typeface="+mn-ea"/>
                          <a:ea typeface="+mn-ea"/>
                        </a:rPr>
                        <a:t>본조예산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6802690"/>
                  </a:ext>
                </a:extLst>
              </a:tr>
              <a:tr h="0">
                <a:tc>
                  <a:txBody>
                    <a:bodyPr/>
                    <a:lstStyle/>
                    <a:p>
                      <a:pPr algn="l" fontAlgn="ctr"/>
                      <a:r>
                        <a:rPr lang="ko-KR" altLang="en-US" sz="800" b="0" i="0" u="none" strike="noStrike" dirty="0">
                          <a:solidFill>
                            <a:srgbClr val="000000"/>
                          </a:solidFill>
                          <a:effectLst/>
                          <a:latin typeface="+mn-ea"/>
                          <a:ea typeface="+mn-ea"/>
                        </a:rPr>
                        <a:t>당국예산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9499603"/>
                  </a:ext>
                </a:extLst>
              </a:tr>
              <a:tr h="0">
                <a:tc>
                  <a:txBody>
                    <a:bodyPr/>
                    <a:lstStyle/>
                    <a:p>
                      <a:pPr algn="l" fontAlgn="ctr"/>
                      <a:r>
                        <a:rPr lang="ko-KR" altLang="en-US" sz="800" b="0" i="0" u="none" strike="noStrike" dirty="0">
                          <a:solidFill>
                            <a:srgbClr val="000000"/>
                          </a:solidFill>
                          <a:effectLst/>
                          <a:latin typeface="+mn-ea"/>
                          <a:ea typeface="+mn-ea"/>
                        </a:rPr>
                        <a:t>장국예산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장기국채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21352762"/>
                  </a:ext>
                </a:extLst>
              </a:tr>
              <a:tr h="0">
                <a:tc>
                  <a:txBody>
                    <a:bodyPr/>
                    <a:lstStyle/>
                    <a:p>
                      <a:pPr algn="l" fontAlgn="ctr"/>
                      <a:r>
                        <a:rPr lang="ko-KR" altLang="en-US" sz="800" b="0" i="0" u="none" strike="noStrike" dirty="0">
                          <a:solidFill>
                            <a:srgbClr val="000000"/>
                          </a:solidFill>
                          <a:effectLst/>
                          <a:latin typeface="+mn-ea"/>
                          <a:ea typeface="+mn-ea"/>
                        </a:rPr>
                        <a:t>수량합계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수량합계</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본조수량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당국수량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장국수량</a:t>
                      </a:r>
                      <a:r>
                        <a:rPr lang="en-US" altLang="ko-KR" sz="800" b="0" i="0" u="none" strike="noStrike" dirty="0">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0916125"/>
                  </a:ext>
                </a:extLst>
              </a:tr>
              <a:tr h="0">
                <a:tc>
                  <a:txBody>
                    <a:bodyPr/>
                    <a:lstStyle/>
                    <a:p>
                      <a:pPr algn="l" fontAlgn="ctr"/>
                      <a:r>
                        <a:rPr lang="ko-KR" altLang="en-US" sz="800" b="0" i="0" u="none" strike="noStrike" dirty="0">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9751966"/>
                  </a:ext>
                </a:extLst>
              </a:tr>
              <a:tr h="0">
                <a:tc>
                  <a:txBody>
                    <a:bodyPr/>
                    <a:lstStyle/>
                    <a:p>
                      <a:pPr algn="l" fontAlgn="ctr"/>
                      <a:r>
                        <a:rPr lang="ko-KR" altLang="en-US" sz="800" b="0" i="0" u="none" strike="noStrike" dirty="0">
                          <a:solidFill>
                            <a:srgbClr val="000000"/>
                          </a:solidFill>
                          <a:effectLst/>
                          <a:latin typeface="+mn-ea"/>
                          <a:ea typeface="+mn-ea"/>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3002223"/>
                  </a:ext>
                </a:extLst>
              </a:tr>
              <a:tr h="0">
                <a:tc>
                  <a:txBody>
                    <a:bodyPr/>
                    <a:lstStyle/>
                    <a:p>
                      <a:pPr algn="l" fontAlgn="ctr"/>
                      <a:r>
                        <a:rPr lang="ko-KR" altLang="en-US" sz="800" b="0" i="0" u="none" strike="noStrike" dirty="0">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16" name="표 15">
            <a:extLst>
              <a:ext uri="{FF2B5EF4-FFF2-40B4-BE49-F238E27FC236}">
                <a16:creationId xmlns:a16="http://schemas.microsoft.com/office/drawing/2014/main" id="{A31F6A43-1297-CF99-ABFA-B1F80565E966}"/>
              </a:ext>
            </a:extLst>
          </p:cNvPr>
          <p:cNvGraphicFramePr>
            <a:graphicFrameLocks noGrp="1"/>
          </p:cNvGraphicFramePr>
          <p:nvPr/>
        </p:nvGraphicFramePr>
        <p:xfrm>
          <a:off x="453000" y="5588995"/>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입찰공고의 목표가공개 품목 목록을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목표가공개품목조회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2" name="Text Box 73">
            <a:extLst>
              <a:ext uri="{FF2B5EF4-FFF2-40B4-BE49-F238E27FC236}">
                <a16:creationId xmlns:a16="http://schemas.microsoft.com/office/drawing/2014/main" id="{2AE89417-BE49-1735-E089-E72765E53CD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93968866"/>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검색영역</a:t>
            </a:r>
            <a:endParaRPr lang="en-US" altLang="ko-KR" dirty="0"/>
          </a:p>
          <a:p>
            <a:pPr marL="228600" indent="-228600">
              <a:buFont typeface="+mj-lt"/>
              <a:buAutoNum type="arabicPeriod"/>
            </a:pPr>
            <a:r>
              <a:rPr lang="ko-KR" altLang="en-US" dirty="0"/>
              <a:t>건수</a:t>
            </a:r>
            <a:r>
              <a:rPr lang="en-US" altLang="ko-KR" dirty="0"/>
              <a:t>, </a:t>
            </a:r>
            <a:r>
              <a:rPr lang="ko-KR" altLang="en-US" dirty="0"/>
              <a:t>개수 표시</a:t>
            </a:r>
            <a:endParaRPr lang="en-US" altLang="ko-KR" dirty="0"/>
          </a:p>
          <a:p>
            <a:pPr marL="228600" indent="-228600">
              <a:buFont typeface="+mj-lt"/>
              <a:buAutoNum type="arabicPeriod"/>
            </a:pPr>
            <a:r>
              <a:rPr lang="ko-KR" altLang="en-US" dirty="0"/>
              <a:t>보관된 공고 목록 </a:t>
            </a:r>
            <a:r>
              <a:rPr lang="ko-KR" altLang="en-US" dirty="0" smtClean="0"/>
              <a:t>표시</a:t>
            </a:r>
            <a:r>
              <a:rPr lang="en-US" altLang="ko-KR" dirty="0" smtClean="0"/>
              <a:t/>
            </a:r>
            <a:br>
              <a:rPr lang="en-US" altLang="ko-KR" dirty="0" smtClean="0"/>
            </a:br>
            <a:r>
              <a:rPr lang="en-US" altLang="ko-KR" dirty="0" smtClean="0"/>
              <a:t>- </a:t>
            </a:r>
            <a:r>
              <a:rPr lang="ko-KR" altLang="en-US" dirty="0" err="1" smtClean="0"/>
              <a:t>차수별로</a:t>
            </a:r>
            <a:r>
              <a:rPr lang="ko-KR" altLang="en-US" dirty="0" smtClean="0"/>
              <a:t> 별도의 목록으로 표시됨</a:t>
            </a:r>
            <a:r>
              <a:rPr lang="en-US" altLang="ko-KR" dirty="0" smtClean="0"/>
              <a:t>.</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r>
              <a:rPr lang="ko-KR" altLang="en-US" dirty="0"/>
              <a:t>표시 레이블</a:t>
            </a:r>
            <a:r>
              <a:rPr lang="en-US" altLang="ko-KR" dirty="0"/>
              <a:t/>
            </a:r>
            <a:br>
              <a:rPr lang="en-US" altLang="ko-KR" dirty="0"/>
            </a:br>
            <a:r>
              <a:rPr lang="en-US" altLang="ko-KR" dirty="0"/>
              <a:t>- 3</a:t>
            </a:r>
            <a:r>
              <a:rPr lang="ko-KR" altLang="en-US" dirty="0" err="1"/>
              <a:t>번항</a:t>
            </a:r>
            <a:r>
              <a:rPr lang="ko-KR" altLang="en-US" dirty="0"/>
              <a:t> </a:t>
            </a:r>
            <a:r>
              <a:rPr lang="ko-KR" altLang="en-US" dirty="0" err="1"/>
              <a:t>검색필터</a:t>
            </a:r>
            <a:r>
              <a:rPr lang="ko-KR" altLang="en-US" dirty="0"/>
              <a:t> 적용 시 표시</a:t>
            </a:r>
            <a:r>
              <a:rPr lang="en-US" altLang="ko-KR" dirty="0"/>
              <a:t/>
            </a:r>
            <a:br>
              <a:rPr lang="en-US" altLang="ko-KR" dirty="0"/>
            </a:br>
            <a:r>
              <a:rPr lang="en-US" altLang="ko-KR" dirty="0"/>
              <a:t>  &gt; </a:t>
            </a:r>
            <a:r>
              <a:rPr lang="ko-KR" altLang="en-US" dirty="0"/>
              <a:t>레이블이 화면을 넘치는 경우 드래그하여 확인 가능</a:t>
            </a:r>
            <a:r>
              <a:rPr lang="en-US" altLang="ko-KR" dirty="0"/>
              <a:t/>
            </a:r>
            <a:br>
              <a:rPr lang="en-US" altLang="ko-KR" dirty="0"/>
            </a:br>
            <a:r>
              <a:rPr lang="en-US" altLang="ko-KR" dirty="0"/>
              <a:t>- 4</a:t>
            </a:r>
            <a:r>
              <a:rPr lang="ko-KR" altLang="en-US" dirty="0" err="1"/>
              <a:t>번항</a:t>
            </a:r>
            <a:r>
              <a:rPr lang="ko-KR" altLang="en-US" dirty="0"/>
              <a:t> 공고 상단 표시</a:t>
            </a:r>
            <a:r>
              <a:rPr lang="en-US" altLang="ko-KR" dirty="0"/>
              <a:t/>
            </a:r>
            <a:br>
              <a:rPr lang="en-US" altLang="ko-KR" dirty="0"/>
            </a:br>
            <a:r>
              <a:rPr lang="en-US" altLang="ko-KR" dirty="0"/>
              <a:t>  &gt; </a:t>
            </a:r>
            <a:r>
              <a:rPr lang="ko-KR" altLang="en-US" dirty="0"/>
              <a:t>레이블이 화면을 넘치는 경우 드래그하여 확인 </a:t>
            </a:r>
            <a:r>
              <a:rPr lang="ko-KR" altLang="en-US" dirty="0" smtClean="0"/>
              <a:t>가능</a:t>
            </a:r>
            <a:endParaRPr lang="en-US" altLang="ko-KR" dirty="0" smtClean="0"/>
          </a:p>
          <a:p>
            <a:pPr marL="228600" indent="-228600">
              <a:buFont typeface="+mj-lt"/>
              <a:buAutoNum type="arabicPeriod"/>
            </a:pPr>
            <a:endParaRPr lang="en-US" altLang="ko-KR" dirty="0"/>
          </a:p>
          <a:p>
            <a:pPr marL="228600" indent="-228600">
              <a:buFont typeface="+mj-lt"/>
              <a:buAutoNum type="arabicPeriod"/>
            </a:pPr>
            <a:r>
              <a:rPr lang="ko-KR" altLang="en-US" dirty="0" smtClean="0"/>
              <a:t>목록에서 카드 하단 버튼 </a:t>
            </a:r>
            <a:r>
              <a:rPr lang="ko-KR" altLang="en-US" dirty="0" err="1" smtClean="0"/>
              <a:t>버튼</a:t>
            </a:r>
            <a:r>
              <a:rPr lang="ko-KR" altLang="en-US" dirty="0" smtClean="0"/>
              <a:t> 표시</a:t>
            </a:r>
            <a:r>
              <a:rPr lang="en-US" altLang="ko-KR" dirty="0" smtClean="0"/>
              <a:t/>
            </a:r>
            <a:br>
              <a:rPr lang="en-US" altLang="ko-KR" dirty="0" smtClean="0"/>
            </a:br>
            <a:r>
              <a:rPr lang="en-US" altLang="ko-KR" dirty="0" smtClean="0"/>
              <a:t>- </a:t>
            </a:r>
            <a:r>
              <a:rPr lang="ko-KR" altLang="en-US" dirty="0" smtClean="0"/>
              <a:t>버튼 </a:t>
            </a:r>
            <a:r>
              <a:rPr lang="ko-KR" altLang="en-US" dirty="0" err="1" smtClean="0"/>
              <a:t>바텀시트</a:t>
            </a:r>
            <a:r>
              <a:rPr lang="ko-KR" altLang="en-US" dirty="0" smtClean="0"/>
              <a:t> 호출</a:t>
            </a:r>
            <a:r>
              <a:rPr lang="en-US" altLang="ko-KR" dirty="0" smtClean="0"/>
              <a:t/>
            </a:r>
            <a:br>
              <a:rPr lang="en-US" altLang="ko-KR" dirty="0" smtClean="0"/>
            </a:br>
            <a:r>
              <a:rPr lang="en-US" altLang="ko-KR" dirty="0" smtClean="0"/>
              <a:t>- </a:t>
            </a:r>
            <a:r>
              <a:rPr lang="ko-KR" altLang="en-US" dirty="0" smtClean="0"/>
              <a:t>노출 버튼은 아래 참조</a:t>
            </a:r>
            <a:r>
              <a:rPr lang="en-US" altLang="ko-KR" dirty="0" smtClean="0"/>
              <a:t/>
            </a:r>
            <a:br>
              <a:rPr lang="en-US" altLang="ko-KR" dirty="0" smtClean="0"/>
            </a:br>
            <a:r>
              <a:rPr lang="en-US" altLang="ko-KR" dirty="0" smtClean="0"/>
              <a:t/>
            </a:r>
            <a:br>
              <a:rPr lang="en-US" altLang="ko-KR" dirty="0" smtClean="0"/>
            </a:br>
            <a:r>
              <a:rPr lang="en-US" altLang="ko-KR" dirty="0" smtClean="0"/>
              <a:t>- </a:t>
            </a:r>
            <a:r>
              <a:rPr lang="ko-KR" altLang="en-US" dirty="0" err="1">
                <a:latin typeface="+mn-ea"/>
              </a:rPr>
              <a:t>입찰내역</a:t>
            </a:r>
            <a:r>
              <a:rPr lang="ko-KR" altLang="en-US" dirty="0">
                <a:latin typeface="+mn-ea"/>
              </a:rPr>
              <a:t> </a:t>
            </a:r>
            <a:r>
              <a:rPr lang="ko-KR" altLang="en-US" dirty="0" err="1" smtClean="0">
                <a:latin typeface="+mn-ea"/>
              </a:rPr>
              <a:t>작성수정</a:t>
            </a:r>
            <a:r>
              <a:rPr lang="ko-KR" altLang="en-US" dirty="0" smtClean="0">
                <a:latin typeface="+mn-ea"/>
              </a:rPr>
              <a:t> </a:t>
            </a:r>
            <a:r>
              <a:rPr lang="en-US" altLang="ko-KR" dirty="0" smtClean="0">
                <a:latin typeface="+mn-ea"/>
              </a:rPr>
              <a:t>: </a:t>
            </a:r>
            <a:r>
              <a:rPr lang="ko-KR" altLang="en-US" dirty="0" smtClean="0">
                <a:latin typeface="+mn-ea"/>
              </a:rPr>
              <a:t>입찰 내역 </a:t>
            </a:r>
            <a:r>
              <a:rPr lang="ko-KR" altLang="en-US" dirty="0" err="1" smtClean="0">
                <a:latin typeface="+mn-ea"/>
              </a:rPr>
              <a:t>작성해야하거나</a:t>
            </a:r>
            <a:r>
              <a:rPr lang="en-US" altLang="ko-KR" dirty="0" smtClean="0">
                <a:latin typeface="+mn-ea"/>
              </a:rPr>
              <a:t>, </a:t>
            </a:r>
            <a:r>
              <a:rPr lang="ko-KR" altLang="en-US" dirty="0" smtClean="0">
                <a:latin typeface="+mn-ea"/>
              </a:rPr>
              <a:t>저장한 내역을 수정하는 상태에서 노출</a:t>
            </a:r>
            <a:r>
              <a:rPr lang="en-US" altLang="ko-KR" dirty="0" smtClean="0">
                <a:latin typeface="+mn-ea"/>
              </a:rPr>
              <a:t/>
            </a:r>
            <a:br>
              <a:rPr lang="en-US" altLang="ko-KR" dirty="0" smtClean="0">
                <a:latin typeface="+mn-ea"/>
              </a:rPr>
            </a:br>
            <a:r>
              <a:rPr lang="en-US" altLang="ko-KR" dirty="0" smtClean="0">
                <a:latin typeface="+mn-ea"/>
              </a:rPr>
              <a:t>  &gt; </a:t>
            </a:r>
            <a:r>
              <a:rPr lang="ko-KR" altLang="en-US" dirty="0" smtClean="0">
                <a:latin typeface="+mn-ea"/>
              </a:rPr>
              <a:t>작성하여 제출이 완료된 경우 </a:t>
            </a:r>
            <a:r>
              <a:rPr lang="ko-KR" altLang="en-US" dirty="0" err="1" smtClean="0">
                <a:latin typeface="+mn-ea"/>
              </a:rPr>
              <a:t>버튼명</a:t>
            </a:r>
            <a:r>
              <a:rPr lang="ko-KR" altLang="en-US" dirty="0" smtClean="0">
                <a:latin typeface="+mn-ea"/>
              </a:rPr>
              <a:t> </a:t>
            </a:r>
            <a:r>
              <a:rPr lang="en-US" altLang="ko-KR" dirty="0" smtClean="0">
                <a:latin typeface="+mn-ea"/>
              </a:rPr>
              <a:t>[</a:t>
            </a:r>
            <a:r>
              <a:rPr lang="ko-KR" altLang="en-US" dirty="0" err="1" smtClean="0">
                <a:latin typeface="+mn-ea"/>
              </a:rPr>
              <a:t>입찰내역</a:t>
            </a:r>
            <a:r>
              <a:rPr lang="ko-KR" altLang="en-US" dirty="0" smtClean="0">
                <a:latin typeface="+mn-ea"/>
              </a:rPr>
              <a:t> 완료</a:t>
            </a:r>
            <a:r>
              <a:rPr lang="en-US" altLang="ko-KR" dirty="0" smtClean="0">
                <a:latin typeface="+mn-ea"/>
              </a:rPr>
              <a:t>]</a:t>
            </a:r>
            <a:r>
              <a:rPr lang="ko-KR" altLang="en-US" dirty="0" smtClean="0">
                <a:latin typeface="+mn-ea"/>
              </a:rPr>
              <a:t>로 표시</a:t>
            </a:r>
            <a:r>
              <a:rPr lang="en-US" altLang="ko-KR" dirty="0"/>
              <a:t/>
            </a:r>
            <a:br>
              <a:rPr lang="en-US" altLang="ko-KR" dirty="0"/>
            </a:br>
            <a:r>
              <a:rPr lang="en-US" altLang="ko-KR" dirty="0" smtClean="0"/>
              <a:t>- </a:t>
            </a:r>
            <a:r>
              <a:rPr lang="ko-KR" altLang="en-US" dirty="0"/>
              <a:t>입찰참가신청 </a:t>
            </a:r>
            <a:r>
              <a:rPr lang="ko-KR" altLang="en-US" dirty="0" err="1" smtClean="0"/>
              <a:t>작성수정</a:t>
            </a:r>
            <a:r>
              <a:rPr lang="ko-KR" altLang="en-US" dirty="0" smtClean="0"/>
              <a:t> </a:t>
            </a:r>
            <a:r>
              <a:rPr lang="en-US" altLang="ko-KR" dirty="0" smtClean="0"/>
              <a:t>: </a:t>
            </a:r>
            <a:r>
              <a:rPr lang="ko-KR" altLang="en-US" dirty="0" smtClean="0"/>
              <a:t>입찰 내역을 작성</a:t>
            </a:r>
            <a:r>
              <a:rPr lang="en-US" altLang="ko-KR" dirty="0" smtClean="0"/>
              <a:t>, </a:t>
            </a:r>
            <a:r>
              <a:rPr lang="ko-KR" altLang="en-US" dirty="0" smtClean="0"/>
              <a:t>저장한 상태에서 버튼 노출</a:t>
            </a:r>
            <a:r>
              <a:rPr lang="en-US" altLang="ko-KR" dirty="0" smtClean="0"/>
              <a:t/>
            </a:r>
            <a:br>
              <a:rPr lang="en-US" altLang="ko-KR" dirty="0" smtClean="0"/>
            </a:br>
            <a:r>
              <a:rPr lang="en-US" altLang="ko-KR" dirty="0" smtClean="0"/>
              <a:t>- </a:t>
            </a:r>
            <a:r>
              <a:rPr lang="ko-KR" altLang="en-US" dirty="0" err="1" smtClean="0"/>
              <a:t>입찰진행</a:t>
            </a:r>
            <a:r>
              <a:rPr lang="ko-KR" altLang="en-US" dirty="0" smtClean="0"/>
              <a:t> </a:t>
            </a:r>
            <a:r>
              <a:rPr lang="ko-KR" altLang="en-US" dirty="0" err="1" smtClean="0"/>
              <a:t>바로가기</a:t>
            </a:r>
            <a:r>
              <a:rPr lang="ko-KR" altLang="en-US" dirty="0" smtClean="0"/>
              <a:t> </a:t>
            </a:r>
            <a:r>
              <a:rPr lang="en-US" altLang="ko-KR" dirty="0" smtClean="0"/>
              <a:t>: </a:t>
            </a:r>
            <a:r>
              <a:rPr lang="ko-KR" altLang="en-US" dirty="0" smtClean="0"/>
              <a:t>입찰참가 신청이 완료된 상태에서 버튼 노출</a:t>
            </a:r>
            <a:r>
              <a:rPr lang="en-US" altLang="ko-KR" dirty="0" smtClean="0"/>
              <a:t/>
            </a:r>
            <a:br>
              <a:rPr lang="en-US" altLang="ko-KR" dirty="0" smtClean="0"/>
            </a:br>
            <a:r>
              <a:rPr lang="en-US" altLang="ko-KR" dirty="0" smtClean="0"/>
              <a:t>- </a:t>
            </a:r>
            <a:r>
              <a:rPr lang="ko-KR" altLang="en-US" dirty="0" smtClean="0"/>
              <a:t>보관함품목관리 </a:t>
            </a:r>
            <a:r>
              <a:rPr lang="en-US" altLang="ko-KR" dirty="0" smtClean="0"/>
              <a:t>: </a:t>
            </a:r>
            <a:r>
              <a:rPr lang="ko-KR" altLang="en-US" dirty="0" smtClean="0"/>
              <a:t>항시 노출</a:t>
            </a:r>
            <a:endParaRPr lang="en-US" altLang="ko-KR" dirty="0" smtClean="0">
              <a:latin typeface="+mn-ea"/>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보관함에 추가한 국외 공고를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690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809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2" name="타원 51">
            <a:extLst>
              <a:ext uri="{FF2B5EF4-FFF2-40B4-BE49-F238E27FC236}">
                <a16:creationId xmlns:a16="http://schemas.microsoft.com/office/drawing/2014/main" id="{37A7FF4F-0EAA-1463-560A-D5EC24416103}"/>
              </a:ext>
            </a:extLst>
          </p:cNvPr>
          <p:cNvSpPr/>
          <p:nvPr/>
        </p:nvSpPr>
        <p:spPr>
          <a:xfrm>
            <a:off x="571127" y="29658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69" name="그룹 68">
            <a:extLst>
              <a:ext uri="{FF2B5EF4-FFF2-40B4-BE49-F238E27FC236}">
                <a16:creationId xmlns:a16="http://schemas.microsoft.com/office/drawing/2014/main" id="{22BC05EE-C648-7CA2-4CCC-6E1C1A7E9BDA}"/>
              </a:ext>
            </a:extLst>
          </p:cNvPr>
          <p:cNvGrpSpPr/>
          <p:nvPr/>
        </p:nvGrpSpPr>
        <p:grpSpPr>
          <a:xfrm>
            <a:off x="1992981" y="6273543"/>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9" name="직선 연결선 78">
            <a:extLst>
              <a:ext uri="{FF2B5EF4-FFF2-40B4-BE49-F238E27FC236}">
                <a16:creationId xmlns:a16="http://schemas.microsoft.com/office/drawing/2014/main" id="{E9293055-D5CD-4B9E-7F64-64B2D2CA7A52}"/>
              </a:ext>
            </a:extLst>
          </p:cNvPr>
          <p:cNvCxnSpPr/>
          <p:nvPr/>
        </p:nvCxnSpPr>
        <p:spPr>
          <a:xfrm>
            <a:off x="720490" y="495085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32185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타원 133">
            <a:extLst>
              <a:ext uri="{FF2B5EF4-FFF2-40B4-BE49-F238E27FC236}">
                <a16:creationId xmlns:a16="http://schemas.microsoft.com/office/drawing/2014/main" id="{37A7FF4F-0EAA-1463-560A-D5EC24416103}"/>
              </a:ext>
            </a:extLst>
          </p:cNvPr>
          <p:cNvSpPr/>
          <p:nvPr/>
        </p:nvSpPr>
        <p:spPr>
          <a:xfrm>
            <a:off x="571127" y="378349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35" name="타원 134">
            <a:extLst>
              <a:ext uri="{FF2B5EF4-FFF2-40B4-BE49-F238E27FC236}">
                <a16:creationId xmlns:a16="http://schemas.microsoft.com/office/drawing/2014/main" id="{37A7FF4F-0EAA-1463-560A-D5EC24416103}"/>
              </a:ext>
            </a:extLst>
          </p:cNvPr>
          <p:cNvSpPr/>
          <p:nvPr/>
        </p:nvSpPr>
        <p:spPr>
          <a:xfrm>
            <a:off x="571127"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60" name="타원 159">
            <a:extLst>
              <a:ext uri="{FF2B5EF4-FFF2-40B4-BE49-F238E27FC236}">
                <a16:creationId xmlns:a16="http://schemas.microsoft.com/office/drawing/2014/main" id="{37A7FF4F-0EAA-1463-560A-D5EC24416103}"/>
              </a:ext>
            </a:extLst>
          </p:cNvPr>
          <p:cNvSpPr/>
          <p:nvPr/>
        </p:nvSpPr>
        <p:spPr>
          <a:xfrm>
            <a:off x="3578911" y="153243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grpSp>
        <p:nvGrpSpPr>
          <p:cNvPr id="178" name="그룹 177"/>
          <p:cNvGrpSpPr/>
          <p:nvPr/>
        </p:nvGrpSpPr>
        <p:grpSpPr>
          <a:xfrm>
            <a:off x="767702" y="2327788"/>
            <a:ext cx="2527420" cy="477995"/>
            <a:chOff x="786326" y="2270279"/>
            <a:chExt cx="2527420" cy="477995"/>
          </a:xfrm>
        </p:grpSpPr>
        <p:sp>
          <p:nvSpPr>
            <p:cNvPr id="179" name="모서리가 둥근 직사각형 178"/>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타원 179"/>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1" name="TextBox 180">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82" name="그룹 181"/>
            <p:cNvGrpSpPr/>
            <p:nvPr/>
          </p:nvGrpSpPr>
          <p:grpSpPr>
            <a:xfrm>
              <a:off x="795624" y="2274581"/>
              <a:ext cx="1475293" cy="155984"/>
              <a:chOff x="808107" y="2288229"/>
              <a:chExt cx="1350888" cy="168318"/>
            </a:xfrm>
          </p:grpSpPr>
          <p:sp>
            <p:nvSpPr>
              <p:cNvPr id="189" name="사각형: 둥근 모서리 31">
                <a:extLst>
                  <a:ext uri="{FF2B5EF4-FFF2-40B4-BE49-F238E27FC236}">
                    <a16:creationId xmlns:a16="http://schemas.microsoft.com/office/drawing/2014/main" id="{2AC143EE-93CF-3518-F0CB-8469E98507E0}"/>
                  </a:ext>
                </a:extLst>
              </p:cNvPr>
              <p:cNvSpPr/>
              <p:nvPr/>
            </p:nvSpPr>
            <p:spPr>
              <a:xfrm>
                <a:off x="808107" y="2288229"/>
                <a:ext cx="644418"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통합참조번호</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0" name="사각형: 둥근 모서리 31">
                <a:extLst>
                  <a:ext uri="{FF2B5EF4-FFF2-40B4-BE49-F238E27FC236}">
                    <a16:creationId xmlns:a16="http://schemas.microsoft.com/office/drawing/2014/main" id="{2AC143EE-93CF-3518-F0CB-8469E98507E0}"/>
                  </a:ext>
                </a:extLst>
              </p:cNvPr>
              <p:cNvSpPr/>
              <p:nvPr/>
            </p:nvSpPr>
            <p:spPr>
              <a:xfrm>
                <a:off x="1491295" y="2288229"/>
                <a:ext cx="667700"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a:latin typeface="맑은 고딕"/>
                    <a:ea typeface="맑은 고딕" panose="020B0503020000020004" pitchFamily="50" charset="-127"/>
                  </a:rPr>
                  <a:t>구매요청번호</a:t>
                </a:r>
                <a:endParaRPr kumimoji="1" lang="en-US" sz="800" b="0" i="0" u="none" strike="noStrike" kern="0" cap="none" spc="0" normalizeH="0" baseline="0" noProof="0" dirty="0">
                  <a:ln>
                    <a:noFill/>
                  </a:ln>
                  <a:effectLst/>
                  <a:uLnTx/>
                  <a:uFillTx/>
                  <a:latin typeface="맑은 고딕"/>
                </a:endParaRP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85" name="타원 184"/>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a:off x="2901631" y="2585953"/>
              <a:ext cx="58075" cy="58074"/>
              <a:chOff x="6812560" y="3297172"/>
              <a:chExt cx="94010" cy="94010"/>
            </a:xfrm>
          </p:grpSpPr>
          <p:cxnSp>
            <p:nvCxnSpPr>
              <p:cNvPr id="187" name="직선 연결선 18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286324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778515" y="2932231"/>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99</a:t>
            </a:r>
            <a:r>
              <a:rPr lang="en-US" altLang="ko-KR" sz="700" dirty="0">
                <a:latin typeface="+mn-ea"/>
              </a:rPr>
              <a:t> </a:t>
            </a:r>
            <a:r>
              <a:rPr lang="ko-KR" altLang="en-US" sz="700" dirty="0">
                <a:latin typeface="+mn-ea"/>
              </a:rPr>
              <a:t>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278206" y="2928177"/>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2727990" y="2928177"/>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202" name="그룹 201"/>
          <p:cNvGrpSpPr/>
          <p:nvPr/>
        </p:nvGrpSpPr>
        <p:grpSpPr>
          <a:xfrm>
            <a:off x="3143548" y="3030000"/>
            <a:ext cx="94010" cy="47005"/>
            <a:chOff x="6812560" y="3297172"/>
            <a:chExt cx="94010" cy="47005"/>
          </a:xfrm>
        </p:grpSpPr>
        <p:cxnSp>
          <p:nvCxnSpPr>
            <p:cNvPr id="203" name="직선 연결선 2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4" name="직선 연결선 2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 name="그룹 2"/>
          <p:cNvGrpSpPr/>
          <p:nvPr/>
        </p:nvGrpSpPr>
        <p:grpSpPr>
          <a:xfrm>
            <a:off x="777000" y="3315828"/>
            <a:ext cx="2477718" cy="1237060"/>
            <a:chOff x="777000" y="2893707"/>
            <a:chExt cx="2477718" cy="1237060"/>
          </a:xfrm>
        </p:grpSpPr>
        <p:sp>
          <p:nvSpPr>
            <p:cNvPr id="55"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smtClean="0"/>
                <a:t>T-80U/TBE-3</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3438270"/>
              <a:ext cx="769441"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240" y="3422881"/>
              <a:ext cx="614014"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ko-KR" altLang="en-US" sz="600" dirty="0" err="1">
                  <a:latin typeface="+mn-ea"/>
                </a:rPr>
                <a:t>미작성</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sp>
          <p:nvSpPr>
            <p:cNvPr id="208" name="모서리가 둥근 직사각형 207"/>
            <p:cNvSpPr/>
            <p:nvPr/>
          </p:nvSpPr>
          <p:spPr>
            <a:xfrm>
              <a:off x="777000" y="2893707"/>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작성</a:t>
              </a:r>
            </a:p>
          </p:txBody>
        </p:sp>
        <p:sp>
          <p:nvSpPr>
            <p:cNvPr id="209" name="모서리가 둥근 직사각형 208"/>
            <p:cNvSpPr/>
            <p:nvPr/>
          </p:nvSpPr>
          <p:spPr>
            <a:xfrm>
              <a:off x="1399238" y="2893707"/>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a:t>
              </a:r>
              <a:r>
                <a:rPr lang="ko-KR" altLang="en-US" sz="600" dirty="0" err="1"/>
                <a:t>미신청</a:t>
              </a:r>
              <a:endParaRPr lang="ko-KR" altLang="en-US" sz="600" dirty="0"/>
            </a:p>
          </p:txBody>
        </p:sp>
      </p:grpSp>
      <p:grpSp>
        <p:nvGrpSpPr>
          <p:cNvPr id="210" name="그룹 209"/>
          <p:cNvGrpSpPr/>
          <p:nvPr/>
        </p:nvGrpSpPr>
        <p:grpSpPr>
          <a:xfrm>
            <a:off x="777000" y="5051872"/>
            <a:ext cx="2477718" cy="1237060"/>
            <a:chOff x="777000" y="2893707"/>
            <a:chExt cx="2477718" cy="1237060"/>
          </a:xfrm>
        </p:grpSpPr>
        <p:sp>
          <p:nvSpPr>
            <p:cNvPr id="211"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T-80U/TBE-3</a:t>
              </a:r>
              <a:endParaRPr lang="ko-KR" altLang="en-US" sz="900" b="1" dirty="0"/>
            </a:p>
          </p:txBody>
        </p:sp>
        <p:sp>
          <p:nvSpPr>
            <p:cNvPr id="212" name="TextBox 59">
              <a:extLst>
                <a:ext uri="{FF2B5EF4-FFF2-40B4-BE49-F238E27FC236}">
                  <a16:creationId xmlns:a16="http://schemas.microsoft.com/office/drawing/2014/main" id="{F77C802D-3BC8-270F-87FC-5F442BD8054D}"/>
                </a:ext>
              </a:extLst>
            </p:cNvPr>
            <p:cNvSpPr txBox="1"/>
            <p:nvPr/>
          </p:nvSpPr>
          <p:spPr>
            <a:xfrm>
              <a:off x="781461" y="3438270"/>
              <a:ext cx="769441"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213" name="TextBox 60">
              <a:extLst>
                <a:ext uri="{FF2B5EF4-FFF2-40B4-BE49-F238E27FC236}">
                  <a16:creationId xmlns:a16="http://schemas.microsoft.com/office/drawing/2014/main" id="{8F5E3227-69E6-C89F-B8C5-534226E95EA8}"/>
                </a:ext>
              </a:extLst>
            </p:cNvPr>
            <p:cNvSpPr txBox="1"/>
            <p:nvPr/>
          </p:nvSpPr>
          <p:spPr>
            <a:xfrm>
              <a:off x="2596240" y="3422881"/>
              <a:ext cx="614014"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A </a:t>
              </a:r>
              <a:r>
                <a:rPr lang="ko-KR" altLang="en-US" sz="600" dirty="0">
                  <a:latin typeface="+mn-ea"/>
                </a:rPr>
                <a:t>업체</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sp>
          <p:nvSpPr>
            <p:cNvPr id="216" name="모서리가 둥근 직사각형 215"/>
            <p:cNvSpPr/>
            <p:nvPr/>
          </p:nvSpPr>
          <p:spPr>
            <a:xfrm>
              <a:off x="777000" y="2893707"/>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완료</a:t>
              </a:r>
            </a:p>
          </p:txBody>
        </p:sp>
        <p:sp>
          <p:nvSpPr>
            <p:cNvPr id="217" name="모서리가 둥근 직사각형 216"/>
            <p:cNvSpPr/>
            <p:nvPr/>
          </p:nvSpPr>
          <p:spPr>
            <a:xfrm>
              <a:off x="1399238" y="2893707"/>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신청</a:t>
              </a:r>
            </a:p>
          </p:txBody>
        </p:sp>
      </p:grpSp>
      <p:cxnSp>
        <p:nvCxnSpPr>
          <p:cNvPr id="218" name="직선 연결선 217">
            <a:extLst>
              <a:ext uri="{FF2B5EF4-FFF2-40B4-BE49-F238E27FC236}">
                <a16:creationId xmlns:a16="http://schemas.microsoft.com/office/drawing/2014/main" id="{E9293055-D5CD-4B9E-7F64-64B2D2CA7A52}"/>
              </a:ext>
            </a:extLst>
          </p:cNvPr>
          <p:cNvCxnSpPr/>
          <p:nvPr/>
        </p:nvCxnSpPr>
        <p:spPr>
          <a:xfrm>
            <a:off x="720490" y="63583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 name="그룹 7"/>
          <p:cNvGrpSpPr/>
          <p:nvPr/>
        </p:nvGrpSpPr>
        <p:grpSpPr>
          <a:xfrm>
            <a:off x="10089626" y="2010226"/>
            <a:ext cx="2763396" cy="1322604"/>
            <a:chOff x="3840446" y="2025433"/>
            <a:chExt cx="2763396" cy="1322604"/>
          </a:xfrm>
        </p:grpSpPr>
        <p:sp>
          <p:nvSpPr>
            <p:cNvPr id="82" name="모서리가 둥근 직사각형 81"/>
            <p:cNvSpPr/>
            <p:nvPr/>
          </p:nvSpPr>
          <p:spPr>
            <a:xfrm>
              <a:off x="4712435" y="287715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83" name="TextBox 82">
              <a:extLst>
                <a:ext uri="{FF2B5EF4-FFF2-40B4-BE49-F238E27FC236}">
                  <a16:creationId xmlns:a16="http://schemas.microsoft.com/office/drawing/2014/main" id="{FFC49AEA-2A8F-250C-A86A-A7751D9706C3}"/>
                </a:ext>
              </a:extLst>
            </p:cNvPr>
            <p:cNvSpPr txBox="1"/>
            <p:nvPr/>
          </p:nvSpPr>
          <p:spPr>
            <a:xfrm>
              <a:off x="4706886" y="2025433"/>
              <a:ext cx="547346" cy="107722"/>
            </a:xfrm>
            <a:prstGeom prst="rect">
              <a:avLst/>
            </a:prstGeom>
            <a:noFill/>
          </p:spPr>
          <p:txBody>
            <a:bodyPr wrap="square" lIns="0" tIns="0" rIns="0" bIns="0" rtlCol="0">
              <a:spAutoFit/>
            </a:bodyPr>
            <a:lstStyle/>
            <a:p>
              <a:r>
                <a:rPr lang="ko-KR" altLang="en-US" sz="700" dirty="0">
                  <a:latin typeface="+mn-ea"/>
                </a:rPr>
                <a:t>표시 레이블</a:t>
              </a:r>
            </a:p>
          </p:txBody>
        </p:sp>
        <p:sp>
          <p:nvSpPr>
            <p:cNvPr id="88" name="모서리가 둥근 직사각형 87"/>
            <p:cNvSpPr/>
            <p:nvPr/>
          </p:nvSpPr>
          <p:spPr>
            <a:xfrm>
              <a:off x="5171408"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공개수의</a:t>
              </a:r>
              <a:endParaRPr lang="ko-KR" altLang="en-US" sz="600" dirty="0"/>
            </a:p>
          </p:txBody>
        </p:sp>
        <p:sp>
          <p:nvSpPr>
            <p:cNvPr id="89" name="모서리가 둥근 직사각형 88"/>
            <p:cNvSpPr/>
            <p:nvPr/>
          </p:nvSpPr>
          <p:spPr>
            <a:xfrm>
              <a:off x="5630555"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3840446" y="2550467"/>
              <a:ext cx="868861" cy="107722"/>
            </a:xfrm>
            <a:prstGeom prst="rect">
              <a:avLst/>
            </a:prstGeom>
            <a:noFill/>
          </p:spPr>
          <p:txBody>
            <a:bodyPr wrap="square" lIns="0" tIns="0" rIns="0" bIns="0" rtlCol="0">
              <a:spAutoFit/>
            </a:bodyPr>
            <a:lstStyle/>
            <a:p>
              <a:r>
                <a:rPr lang="ko-KR" altLang="en-US" sz="700" dirty="0">
                  <a:solidFill>
                    <a:srgbClr val="000000"/>
                  </a:solidFill>
                  <a:latin typeface="+mn-ea"/>
                </a:rPr>
                <a:t>입찰참가신청여부</a:t>
              </a:r>
              <a:endParaRPr lang="ko-KR" altLang="en-US"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3840446" y="2882998"/>
              <a:ext cx="866439" cy="107722"/>
            </a:xfrm>
            <a:prstGeom prst="rect">
              <a:avLst/>
            </a:prstGeom>
            <a:noFill/>
          </p:spPr>
          <p:txBody>
            <a:bodyPr wrap="square" lIns="0" tIns="0" rIns="0" bIns="0" rtlCol="0">
              <a:spAutoFit/>
            </a:bodyPr>
            <a:lstStyle/>
            <a:p>
              <a:r>
                <a:rPr lang="ko-KR" altLang="en-US" sz="700" dirty="0" err="1">
                  <a:latin typeface="+mn-ea"/>
                </a:rPr>
                <a:t>입찰구분</a:t>
              </a:r>
              <a:endParaRPr lang="ko-KR" altLang="en-US" sz="700" dirty="0">
                <a:latin typeface="+mn-ea"/>
              </a:endParaRPr>
            </a:p>
          </p:txBody>
        </p:sp>
        <p:sp>
          <p:nvSpPr>
            <p:cNvPr id="103" name="모서리가 둥근 직사각형 102"/>
            <p:cNvSpPr/>
            <p:nvPr/>
          </p:nvSpPr>
          <p:spPr>
            <a:xfrm>
              <a:off x="4712435" y="3228637"/>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단가제</a:t>
              </a:r>
              <a:endParaRPr lang="ko-KR" altLang="en-US" sz="600" dirty="0"/>
            </a:p>
          </p:txBody>
        </p:sp>
        <p:sp>
          <p:nvSpPr>
            <p:cNvPr id="104" name="TextBox 103">
              <a:extLst>
                <a:ext uri="{FF2B5EF4-FFF2-40B4-BE49-F238E27FC236}">
                  <a16:creationId xmlns:a16="http://schemas.microsoft.com/office/drawing/2014/main" id="{FFC49AEA-2A8F-250C-A86A-A7751D9706C3}"/>
                </a:ext>
              </a:extLst>
            </p:cNvPr>
            <p:cNvSpPr txBox="1"/>
            <p:nvPr/>
          </p:nvSpPr>
          <p:spPr>
            <a:xfrm>
              <a:off x="3840446" y="3234476"/>
              <a:ext cx="866439" cy="107722"/>
            </a:xfrm>
            <a:prstGeom prst="rect">
              <a:avLst/>
            </a:prstGeom>
            <a:noFill/>
          </p:spPr>
          <p:txBody>
            <a:bodyPr wrap="square" lIns="0" tIns="0" rIns="0" bIns="0" rtlCol="0">
              <a:spAutoFit/>
            </a:bodyPr>
            <a:lstStyle/>
            <a:p>
              <a:r>
                <a:rPr lang="ko-KR" altLang="en-US" sz="700" dirty="0">
                  <a:latin typeface="+mn-ea"/>
                </a:rPr>
                <a:t>가격제</a:t>
              </a:r>
            </a:p>
          </p:txBody>
        </p:sp>
        <p:sp>
          <p:nvSpPr>
            <p:cNvPr id="148" name="모서리가 둥근 직사각형 147"/>
            <p:cNvSpPr/>
            <p:nvPr/>
          </p:nvSpPr>
          <p:spPr>
            <a:xfrm>
              <a:off x="4709307" y="2203671"/>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작성</a:t>
              </a:r>
            </a:p>
          </p:txBody>
        </p:sp>
        <p:sp>
          <p:nvSpPr>
            <p:cNvPr id="156" name="모서리가 둥근 직사각형 155"/>
            <p:cNvSpPr/>
            <p:nvPr/>
          </p:nvSpPr>
          <p:spPr>
            <a:xfrm>
              <a:off x="5331545" y="2203671"/>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a:t>
              </a:r>
              <a:r>
                <a:rPr lang="ko-KR" altLang="en-US" sz="600" dirty="0" err="1"/>
                <a:t>미작성</a:t>
              </a:r>
              <a:endParaRPr lang="ko-KR" altLang="en-US" sz="600" dirty="0"/>
            </a:p>
          </p:txBody>
        </p:sp>
        <p:sp>
          <p:nvSpPr>
            <p:cNvPr id="177" name="TextBox 176">
              <a:extLst>
                <a:ext uri="{FF2B5EF4-FFF2-40B4-BE49-F238E27FC236}">
                  <a16:creationId xmlns:a16="http://schemas.microsoft.com/office/drawing/2014/main" id="{FFC49AEA-2A8F-250C-A86A-A7751D9706C3}"/>
                </a:ext>
              </a:extLst>
            </p:cNvPr>
            <p:cNvSpPr txBox="1"/>
            <p:nvPr/>
          </p:nvSpPr>
          <p:spPr>
            <a:xfrm>
              <a:off x="3840446" y="2209510"/>
              <a:ext cx="874607" cy="107722"/>
            </a:xfrm>
            <a:prstGeom prst="rect">
              <a:avLst/>
            </a:prstGeom>
            <a:noFill/>
          </p:spPr>
          <p:txBody>
            <a:bodyPr wrap="square" lIns="0" tIns="0" rIns="0" bIns="0" rtlCol="0">
              <a:spAutoFit/>
            </a:bodyPr>
            <a:lstStyle/>
            <a:p>
              <a:r>
                <a:rPr lang="ko-KR" altLang="en-US" sz="700" dirty="0">
                  <a:solidFill>
                    <a:srgbClr val="000000"/>
                  </a:solidFill>
                  <a:latin typeface="+mn-ea"/>
                </a:rPr>
                <a:t>입찰내역작성여부</a:t>
              </a:r>
              <a:endParaRPr lang="ko-KR" altLang="en-US" sz="700" dirty="0">
                <a:latin typeface="+mn-ea"/>
              </a:endParaRPr>
            </a:p>
          </p:txBody>
        </p:sp>
        <p:sp>
          <p:nvSpPr>
            <p:cNvPr id="205" name="모서리가 둥근 직사각형 204"/>
            <p:cNvSpPr/>
            <p:nvPr/>
          </p:nvSpPr>
          <p:spPr>
            <a:xfrm>
              <a:off x="4709307" y="2544628"/>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신청</a:t>
              </a:r>
            </a:p>
          </p:txBody>
        </p:sp>
        <p:sp>
          <p:nvSpPr>
            <p:cNvPr id="206" name="모서리가 둥근 직사각형 205"/>
            <p:cNvSpPr/>
            <p:nvPr/>
          </p:nvSpPr>
          <p:spPr>
            <a:xfrm>
              <a:off x="5331545" y="2544628"/>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a:t>
              </a:r>
              <a:r>
                <a:rPr lang="ko-KR" altLang="en-US" sz="600" dirty="0" err="1"/>
                <a:t>미신청</a:t>
              </a:r>
              <a:endParaRPr lang="ko-KR" altLang="en-US" sz="600" dirty="0"/>
            </a:p>
          </p:txBody>
        </p:sp>
        <p:sp>
          <p:nvSpPr>
            <p:cNvPr id="207" name="모서리가 둥근 직사각형 206"/>
            <p:cNvSpPr/>
            <p:nvPr/>
          </p:nvSpPr>
          <p:spPr>
            <a:xfrm>
              <a:off x="5080198" y="3228637"/>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총액제</a:t>
              </a:r>
              <a:endParaRPr lang="ko-KR" altLang="en-US" sz="600" dirty="0"/>
            </a:p>
          </p:txBody>
        </p:sp>
        <p:sp>
          <p:nvSpPr>
            <p:cNvPr id="77" name="모서리가 둥근 직사각형 76"/>
            <p:cNvSpPr/>
            <p:nvPr/>
          </p:nvSpPr>
          <p:spPr>
            <a:xfrm>
              <a:off x="6026346" y="2203671"/>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완료</a:t>
              </a:r>
            </a:p>
          </p:txBody>
        </p:sp>
      </p:grpSp>
      <p:grpSp>
        <p:nvGrpSpPr>
          <p:cNvPr id="78" name="그룹 77"/>
          <p:cNvGrpSpPr/>
          <p:nvPr/>
        </p:nvGrpSpPr>
        <p:grpSpPr>
          <a:xfrm>
            <a:off x="677960" y="1582647"/>
            <a:ext cx="2714637" cy="686386"/>
            <a:chOff x="677960" y="1582647"/>
            <a:chExt cx="2714637" cy="686386"/>
          </a:xfrm>
        </p:grpSpPr>
        <p:sp>
          <p:nvSpPr>
            <p:cNvPr id="80" name="TextBox 79">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a:latin typeface="+mn-ea"/>
                </a:rPr>
                <a:t>국외 보관함 </a:t>
              </a:r>
            </a:p>
          </p:txBody>
        </p:sp>
        <p:cxnSp>
          <p:nvCxnSpPr>
            <p:cNvPr id="81" name="직선 연결선 80">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4" name="그룹 83"/>
            <p:cNvGrpSpPr/>
            <p:nvPr/>
          </p:nvGrpSpPr>
          <p:grpSpPr>
            <a:xfrm rot="5400000">
              <a:off x="852159" y="2062596"/>
              <a:ext cx="94010" cy="47005"/>
              <a:chOff x="6812560" y="3297172"/>
              <a:chExt cx="94010" cy="47005"/>
            </a:xfrm>
          </p:grpSpPr>
          <p:cxnSp>
            <p:nvCxnSpPr>
              <p:cNvPr id="93" name="직선 연결선 9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4" name="직선 연결선 9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85" name="그룹 84"/>
            <p:cNvGrpSpPr/>
            <p:nvPr/>
          </p:nvGrpSpPr>
          <p:grpSpPr>
            <a:xfrm>
              <a:off x="677960" y="1582647"/>
              <a:ext cx="2712027" cy="324286"/>
              <a:chOff x="677960" y="1582647"/>
              <a:chExt cx="2712027" cy="324286"/>
            </a:xfrm>
          </p:grpSpPr>
          <p:pic>
            <p:nvPicPr>
              <p:cNvPr id="86"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직선 연결선 86">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0" name="타원 89"/>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타원 90"/>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54"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95" name="타원 94"/>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6" name="그룹 95"/>
          <p:cNvGrpSpPr/>
          <p:nvPr/>
        </p:nvGrpSpPr>
        <p:grpSpPr>
          <a:xfrm>
            <a:off x="6726256" y="4802272"/>
            <a:ext cx="124144" cy="148935"/>
            <a:chOff x="161606" y="5392781"/>
            <a:chExt cx="97885" cy="117432"/>
          </a:xfrm>
        </p:grpSpPr>
        <p:cxnSp>
          <p:nvCxnSpPr>
            <p:cNvPr id="97" name="직선 연결선 96"/>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8" name="직선 연결선 97"/>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02" name="직선 연결선 101"/>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09" name="타원 108">
            <a:extLst>
              <a:ext uri="{FF2B5EF4-FFF2-40B4-BE49-F238E27FC236}">
                <a16:creationId xmlns:a16="http://schemas.microsoft.com/office/drawing/2014/main" id="{37A7FF4F-0EAA-1463-560A-D5EC24416103}"/>
              </a:ext>
            </a:extLst>
          </p:cNvPr>
          <p:cNvSpPr/>
          <p:nvPr/>
        </p:nvSpPr>
        <p:spPr>
          <a:xfrm>
            <a:off x="3344205" y="463370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grpSp>
        <p:nvGrpSpPr>
          <p:cNvPr id="110" name="그룹 109"/>
          <p:cNvGrpSpPr/>
          <p:nvPr/>
        </p:nvGrpSpPr>
        <p:grpSpPr>
          <a:xfrm>
            <a:off x="8223250" y="569392"/>
            <a:ext cx="3365500" cy="634511"/>
            <a:chOff x="8223250" y="569392"/>
            <a:chExt cx="3365500" cy="634511"/>
          </a:xfrm>
        </p:grpSpPr>
        <p:sp>
          <p:nvSpPr>
            <p:cNvPr id="111" name="직사각형 110"/>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2026-07-06 </a:t>
              </a:r>
              <a:r>
                <a:rPr lang="ko-KR" altLang="en-US" dirty="0" smtClean="0"/>
                <a:t>화면 </a:t>
              </a:r>
              <a:r>
                <a:rPr lang="ko-KR" altLang="en-US" dirty="0"/>
                <a:t>수정</a:t>
              </a:r>
            </a:p>
          </p:txBody>
        </p:sp>
        <p:sp>
          <p:nvSpPr>
            <p:cNvPr id="112" name="직사각형 11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t">
              <a:noAutofit/>
            </a:bodyPr>
            <a:lstStyle/>
            <a:p>
              <a:pPr marL="228600" indent="-228600">
                <a:buAutoNum type="arabicPeriod"/>
              </a:pPr>
              <a:r>
                <a:rPr lang="ko-KR" altLang="en-US" sz="700" dirty="0" err="1" smtClean="0"/>
                <a:t>우측화면</a:t>
              </a:r>
              <a:r>
                <a:rPr lang="ko-KR" altLang="en-US" sz="700" dirty="0" smtClean="0"/>
                <a:t> 상단 헤더 고정 영역 제거</a:t>
              </a:r>
              <a:endParaRPr lang="en-US" altLang="ko-KR" sz="700" dirty="0"/>
            </a:p>
          </p:txBody>
        </p:sp>
      </p:grpSp>
      <p:sp>
        <p:nvSpPr>
          <p:cNvPr id="113" name="사각형: 둥근 모서리 31">
            <a:extLst>
              <a:ext uri="{FF2B5EF4-FFF2-40B4-BE49-F238E27FC236}">
                <a16:creationId xmlns:a16="http://schemas.microsoft.com/office/drawing/2014/main" id="{2AC143EE-93CF-3518-F0CB-8469E98507E0}"/>
              </a:ext>
            </a:extLst>
          </p:cNvPr>
          <p:cNvSpPr/>
          <p:nvPr/>
        </p:nvSpPr>
        <p:spPr>
          <a:xfrm>
            <a:off x="808106" y="4631939"/>
            <a:ext cx="2446612"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fontAlgn="base" latinLnBrk="0">
              <a:spcBef>
                <a:spcPct val="0"/>
              </a:spcBef>
              <a:spcAft>
                <a:spcPct val="0"/>
              </a:spcAft>
              <a:defRPr/>
            </a:pPr>
            <a:r>
              <a:rPr lang="en-US" altLang="ko-KR" sz="800" dirty="0" smtClean="0"/>
              <a:t>+ </a:t>
            </a:r>
            <a:r>
              <a:rPr lang="ko-KR" altLang="en-US" sz="800" dirty="0" smtClean="0"/>
              <a:t>공고</a:t>
            </a:r>
            <a:r>
              <a:rPr lang="en-US" altLang="ko-KR" sz="800" dirty="0" smtClean="0"/>
              <a:t> </a:t>
            </a:r>
            <a:r>
              <a:rPr lang="ko-KR" altLang="en-US" sz="800" dirty="0" smtClean="0"/>
              <a:t>신청 버튼 보기</a:t>
            </a:r>
            <a:endParaRPr kumimoji="1" lang="en-US" sz="800" b="0" i="0" u="none" strike="noStrike" kern="0" cap="none" spc="0" normalizeH="0" baseline="0" noProof="0" dirty="0">
              <a:ln>
                <a:noFill/>
              </a:ln>
              <a:effectLst/>
              <a:uLnTx/>
              <a:uFillTx/>
              <a:latin typeface="맑은 고딕"/>
            </a:endParaRPr>
          </a:p>
        </p:txBody>
      </p:sp>
      <p:graphicFrame>
        <p:nvGraphicFramePr>
          <p:cNvPr id="5" name="표 4"/>
          <p:cNvGraphicFramePr>
            <a:graphicFrameLocks noGrp="1"/>
          </p:cNvGraphicFramePr>
          <p:nvPr/>
        </p:nvGraphicFramePr>
        <p:xfrm>
          <a:off x="10089626" y="4717726"/>
          <a:ext cx="1437358" cy="116352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1332925844"/>
                    </a:ext>
                  </a:extLst>
                </a:gridCol>
              </a:tblGrid>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strike="sngStrike" dirty="0" err="1" smtClean="0">
                          <a:latin typeface="+mn-ea"/>
                          <a:ea typeface="+mn-ea"/>
                        </a:rPr>
                        <a:t>모의투찰</a:t>
                      </a:r>
                      <a:endParaRPr lang="en-US" altLang="ko-KR" sz="800" strike="sngStrike"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4051647"/>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smtClean="0">
                          <a:latin typeface="+mn-ea"/>
                          <a:ea typeface="+mn-ea"/>
                        </a:rPr>
                        <a:t>입찰내역</a:t>
                      </a:r>
                      <a:r>
                        <a:rPr lang="ko-KR" altLang="en-US" sz="800" dirty="0" smtClean="0">
                          <a:latin typeface="+mn-ea"/>
                          <a:ea typeface="+mn-ea"/>
                        </a:rPr>
                        <a:t> </a:t>
                      </a:r>
                      <a:r>
                        <a:rPr lang="ko-KR" altLang="en-US" sz="800" dirty="0" err="1" smtClean="0">
                          <a:latin typeface="+mn-ea"/>
                          <a:ea typeface="+mn-ea"/>
                        </a:rPr>
                        <a:t>작성수정</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588845"/>
                  </a:ext>
                </a:extLst>
              </a:tr>
              <a:tr h="0">
                <a:tc>
                  <a:txBody>
                    <a:bodyPr/>
                    <a:lstStyle/>
                    <a:p>
                      <a:r>
                        <a:rPr lang="ko-KR" altLang="en-US" sz="800" dirty="0" smtClean="0"/>
                        <a:t>입찰참가신청 </a:t>
                      </a:r>
                      <a:r>
                        <a:rPr lang="ko-KR" altLang="en-US" sz="800" dirty="0" err="1" smtClean="0"/>
                        <a:t>작성수정</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0801531"/>
                  </a:ext>
                </a:extLst>
              </a:tr>
              <a:tr h="0">
                <a:tc>
                  <a:txBody>
                    <a:bodyPr/>
                    <a:lstStyle/>
                    <a:p>
                      <a:r>
                        <a:rPr lang="ko-KR" altLang="en-US" sz="800" strike="sngStrike" dirty="0" err="1" smtClean="0"/>
                        <a:t>부정당내역</a:t>
                      </a:r>
                      <a:endParaRPr lang="ko-KR" altLang="en-US" sz="800" strike="sngStrike"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01053932"/>
                  </a:ext>
                </a:extLst>
              </a:tr>
              <a:tr h="0">
                <a:tc>
                  <a:txBody>
                    <a:bodyPr/>
                    <a:lstStyle/>
                    <a:p>
                      <a:r>
                        <a:rPr lang="ko-KR" altLang="en-US" sz="800" dirty="0" err="1" smtClean="0"/>
                        <a:t>입찰진행</a:t>
                      </a:r>
                      <a:r>
                        <a:rPr lang="ko-KR" altLang="en-US" sz="800" dirty="0" smtClean="0"/>
                        <a:t> </a:t>
                      </a:r>
                      <a:r>
                        <a:rPr lang="ko-KR" altLang="en-US" sz="800" dirty="0" err="1" smtClean="0"/>
                        <a:t>바로가기</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8030712"/>
                  </a:ext>
                </a:extLst>
              </a:tr>
              <a:tr h="0">
                <a:tc>
                  <a:txBody>
                    <a:bodyPr/>
                    <a:lstStyle/>
                    <a:p>
                      <a:r>
                        <a:rPr lang="ko-KR" altLang="en-US" sz="800" dirty="0" smtClean="0"/>
                        <a:t>보관함품목관리</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981744"/>
                  </a:ext>
                </a:extLst>
              </a:tr>
            </a:tbl>
          </a:graphicData>
        </a:graphic>
      </p:graphicFrame>
      <p:sp>
        <p:nvSpPr>
          <p:cNvPr id="6" name="TextBox 5"/>
          <p:cNvSpPr txBox="1"/>
          <p:nvPr/>
        </p:nvSpPr>
        <p:spPr>
          <a:xfrm>
            <a:off x="10089626" y="4273826"/>
            <a:ext cx="1412566" cy="430887"/>
          </a:xfrm>
          <a:prstGeom prst="rect">
            <a:avLst/>
          </a:prstGeom>
          <a:noFill/>
        </p:spPr>
        <p:txBody>
          <a:bodyPr wrap="none" rtlCol="0">
            <a:spAutoFit/>
          </a:bodyPr>
          <a:lstStyle/>
          <a:p>
            <a:r>
              <a:rPr lang="ko-KR" altLang="en-US" sz="1100" dirty="0" smtClean="0"/>
              <a:t>추후 </a:t>
            </a:r>
            <a:r>
              <a:rPr lang="ko-KR" altLang="en-US" sz="1100" dirty="0" err="1" smtClean="0"/>
              <a:t>모의투찰</a:t>
            </a:r>
            <a:r>
              <a:rPr lang="ko-KR" altLang="en-US" sz="1100" dirty="0" smtClean="0"/>
              <a:t> 등이</a:t>
            </a:r>
            <a:endParaRPr lang="en-US" altLang="ko-KR" sz="1100" dirty="0" smtClean="0"/>
          </a:p>
          <a:p>
            <a:r>
              <a:rPr lang="ko-KR" altLang="en-US" sz="1100" dirty="0" smtClean="0"/>
              <a:t>추가될 수 있음</a:t>
            </a:r>
            <a:endParaRPr lang="ko-KR" altLang="en-US" sz="1100" dirty="0"/>
          </a:p>
        </p:txBody>
      </p:sp>
      <p:grpSp>
        <p:nvGrpSpPr>
          <p:cNvPr id="119" name="그룹 118"/>
          <p:cNvGrpSpPr/>
          <p:nvPr/>
        </p:nvGrpSpPr>
        <p:grpSpPr>
          <a:xfrm>
            <a:off x="8223250" y="859416"/>
            <a:ext cx="3365500" cy="634511"/>
            <a:chOff x="8223250" y="569392"/>
            <a:chExt cx="3365500" cy="634511"/>
          </a:xfrm>
        </p:grpSpPr>
        <p:sp>
          <p:nvSpPr>
            <p:cNvPr id="120" name="직사각형 119"/>
            <p:cNvSpPr/>
            <p:nvPr/>
          </p:nvSpPr>
          <p:spPr>
            <a:xfrm>
              <a:off x="8223250" y="569392"/>
              <a:ext cx="1682750" cy="2194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normAutofit fontScale="55000" lnSpcReduction="20000"/>
            </a:bodyPr>
            <a:lstStyle/>
            <a:p>
              <a:pPr algn="ctr"/>
              <a:r>
                <a:rPr lang="en-US" altLang="ko-KR" dirty="0" smtClean="0"/>
                <a:t>2026-07-09 </a:t>
              </a:r>
              <a:r>
                <a:rPr lang="ko-KR" altLang="en-US" dirty="0" smtClean="0"/>
                <a:t>화면 </a:t>
              </a:r>
              <a:r>
                <a:rPr lang="ko-KR" altLang="en-US" dirty="0"/>
                <a:t>수정</a:t>
              </a:r>
            </a:p>
          </p:txBody>
        </p:sp>
        <p:sp>
          <p:nvSpPr>
            <p:cNvPr id="122" name="직사각형 121"/>
            <p:cNvSpPr/>
            <p:nvPr/>
          </p:nvSpPr>
          <p:spPr>
            <a:xfrm>
              <a:off x="9906000" y="569392"/>
              <a:ext cx="1682750" cy="63451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t">
              <a:noAutofit/>
            </a:bodyPr>
            <a:lstStyle/>
            <a:p>
              <a:pPr marL="228600" indent="-228600">
                <a:buAutoNum type="arabicPeriod"/>
              </a:pPr>
              <a:r>
                <a:rPr lang="ko-KR" altLang="en-US" sz="700" dirty="0" smtClean="0"/>
                <a:t>공고 신청 버튼으로 팝업 버튼 일원화</a:t>
              </a:r>
              <a:r>
                <a:rPr lang="en-US" altLang="ko-KR" sz="700" dirty="0" smtClean="0"/>
                <a:t>.</a:t>
              </a:r>
              <a:endParaRPr lang="en-US" altLang="ko-KR" sz="700" dirty="0"/>
            </a:p>
          </p:txBody>
        </p:sp>
      </p:grpSp>
      <p:sp>
        <p:nvSpPr>
          <p:cNvPr id="105" name="TextBox 104">
            <a:extLst>
              <a:ext uri="{FF2B5EF4-FFF2-40B4-BE49-F238E27FC236}">
                <a16:creationId xmlns:a16="http://schemas.microsoft.com/office/drawing/2014/main" id="{FFC49AEA-2A8F-250C-A86A-A7751D9706C3}"/>
              </a:ext>
            </a:extLst>
          </p:cNvPr>
          <p:cNvSpPr txBox="1"/>
          <p:nvPr/>
        </p:nvSpPr>
        <p:spPr>
          <a:xfrm>
            <a:off x="3810036" y="1349367"/>
            <a:ext cx="547346" cy="107722"/>
          </a:xfrm>
          <a:prstGeom prst="rect">
            <a:avLst/>
          </a:prstGeom>
          <a:noFill/>
        </p:spPr>
        <p:txBody>
          <a:bodyPr wrap="square" lIns="0" tIns="0" rIns="0" bIns="0" rtlCol="0">
            <a:spAutoFit/>
          </a:bodyPr>
          <a:lstStyle/>
          <a:p>
            <a:r>
              <a:rPr lang="ko-KR" altLang="en-US" sz="700" dirty="0" smtClean="0">
                <a:latin typeface="+mn-ea"/>
              </a:rPr>
              <a:t>표시 레이블</a:t>
            </a:r>
            <a:endParaRPr lang="ko-KR" altLang="en-US" sz="700" dirty="0">
              <a:latin typeface="+mn-ea"/>
            </a:endParaRPr>
          </a:p>
        </p:txBody>
      </p:sp>
      <p:graphicFrame>
        <p:nvGraphicFramePr>
          <p:cNvPr id="106" name="표 105"/>
          <p:cNvGraphicFramePr>
            <a:graphicFrameLocks noGrp="1"/>
          </p:cNvGraphicFramePr>
          <p:nvPr>
            <p:extLst>
              <p:ext uri="{D42A27DB-BD31-4B8C-83A1-F6EECF244321}">
                <p14:modId xmlns:p14="http://schemas.microsoft.com/office/powerpoint/2010/main" val="2721426651"/>
              </p:ext>
            </p:extLst>
          </p:nvPr>
        </p:nvGraphicFramePr>
        <p:xfrm>
          <a:off x="3801286" y="1542277"/>
          <a:ext cx="3069778" cy="1112520"/>
        </p:xfrm>
        <a:graphic>
          <a:graphicData uri="http://schemas.openxmlformats.org/drawingml/2006/table">
            <a:tbl>
              <a:tblPr firstRow="1" bandRow="1">
                <a:tableStyleId>{7E9639D4-E3E2-4D34-9284-5A2195B3D0D7}</a:tableStyleId>
              </a:tblPr>
              <a:tblGrid>
                <a:gridCol w="1534889">
                  <a:extLst>
                    <a:ext uri="{9D8B030D-6E8A-4147-A177-3AD203B41FA5}">
                      <a16:colId xmlns:a16="http://schemas.microsoft.com/office/drawing/2014/main" val="3115782702"/>
                    </a:ext>
                  </a:extLst>
                </a:gridCol>
                <a:gridCol w="1534889">
                  <a:extLst>
                    <a:ext uri="{9D8B030D-6E8A-4147-A177-3AD203B41FA5}">
                      <a16:colId xmlns:a16="http://schemas.microsoft.com/office/drawing/2014/main" val="393582204"/>
                    </a:ext>
                  </a:extLst>
                </a:gridCol>
              </a:tblGrid>
              <a:tr h="370840">
                <a:tc>
                  <a:txBody>
                    <a:bodyPr/>
                    <a:lstStyle/>
                    <a:p>
                      <a:pPr algn="ctr" latinLnBrk="1"/>
                      <a:r>
                        <a:rPr lang="ko-KR" altLang="en-US" sz="700" dirty="0" smtClean="0"/>
                        <a:t>항목명</a:t>
                      </a:r>
                      <a:endParaRPr lang="ko-KR" altLang="en-US" sz="700" dirty="0"/>
                    </a:p>
                  </a:txBody>
                  <a:tcPr anchor="ctr"/>
                </a:tc>
                <a:tc>
                  <a:txBody>
                    <a:bodyPr/>
                    <a:lstStyle/>
                    <a:p>
                      <a:pPr algn="ctr" latinLnBrk="1"/>
                      <a:r>
                        <a:rPr lang="ko-KR" altLang="en-US" sz="700" dirty="0" smtClean="0"/>
                        <a:t>표시 값</a:t>
                      </a:r>
                      <a:endParaRPr lang="ko-KR" altLang="en-US" sz="700" dirty="0"/>
                    </a:p>
                  </a:txBody>
                  <a:tcPr anchor="ctr"/>
                </a:tc>
                <a:extLst>
                  <a:ext uri="{0D108BD9-81ED-4DB2-BD59-A6C34878D82A}">
                    <a16:rowId xmlns:a16="http://schemas.microsoft.com/office/drawing/2014/main" val="139709430"/>
                  </a:ext>
                </a:extLst>
              </a:tr>
              <a:tr h="370840">
                <a:tc>
                  <a:txBody>
                    <a:bodyPr/>
                    <a:lstStyle/>
                    <a:p>
                      <a:pPr algn="ctr" latinLnBrk="1"/>
                      <a:r>
                        <a:rPr lang="ko-KR" altLang="en-US" sz="700" b="0" i="0" u="none" strike="noStrike" kern="1200" dirty="0" smtClean="0">
                          <a:solidFill>
                            <a:srgbClr val="000000"/>
                          </a:solidFill>
                          <a:effectLst/>
                          <a:latin typeface="맑은 고딕" panose="020B0503020000020004" pitchFamily="50" charset="-127"/>
                          <a:ea typeface="+mn-ea"/>
                          <a:cs typeface="+mn-cs"/>
                        </a:rPr>
                        <a:t>입찰내역작성여부 </a:t>
                      </a:r>
                      <a:r>
                        <a:rPr lang="en-US" altLang="ko-KR" sz="700" b="0" i="0" u="none" strike="noStrike" kern="1200" dirty="0" smtClean="0">
                          <a:solidFill>
                            <a:srgbClr val="000000"/>
                          </a:solidFill>
                          <a:effectLst/>
                          <a:latin typeface="맑은 고딕" panose="020B0503020000020004" pitchFamily="50" charset="-127"/>
                          <a:ea typeface="+mn-ea"/>
                          <a:cs typeface="+mn-cs"/>
                        </a:rPr>
                        <a:t>(</a:t>
                      </a:r>
                      <a:r>
                        <a:rPr lang="en-US" altLang="ko-KR" sz="700" b="0" i="0" u="none" strike="noStrike" kern="1200" dirty="0" err="1" smtClean="0">
                          <a:solidFill>
                            <a:srgbClr val="000000"/>
                          </a:solidFill>
                          <a:effectLst/>
                          <a:latin typeface="맑은 고딕" panose="020B0503020000020004" pitchFamily="50" charset="-127"/>
                          <a:ea typeface="+mn-ea"/>
                          <a:cs typeface="+mn-cs"/>
                        </a:rPr>
                        <a:t>tmprBidCnEn</a:t>
                      </a:r>
                      <a:r>
                        <a:rPr lang="en-US" altLang="ko-KR" sz="700" b="0" i="0" u="none" strike="noStrike" kern="1200" dirty="0" smtClean="0">
                          <a:solidFill>
                            <a:srgbClr val="000000"/>
                          </a:solidFill>
                          <a:effectLst/>
                          <a:latin typeface="맑은 고딕" panose="020B0503020000020004" pitchFamily="50" charset="-127"/>
                          <a:ea typeface="+mn-ea"/>
                          <a:cs typeface="+mn-cs"/>
                        </a:rPr>
                        <a:t>)</a:t>
                      </a:r>
                      <a:endParaRPr lang="ko-KR" altLang="en-US" sz="700" b="0" i="0" u="none" strike="noStrike" kern="1200" dirty="0">
                        <a:solidFill>
                          <a:srgbClr val="000000"/>
                        </a:solidFill>
                        <a:effectLst/>
                        <a:latin typeface="맑은 고딕" panose="020B0503020000020004" pitchFamily="50" charset="-127"/>
                        <a:ea typeface="+mn-ea"/>
                        <a:cs typeface="+mn-cs"/>
                      </a:endParaRPr>
                    </a:p>
                  </a:txBody>
                  <a:tcPr anchor="ctr"/>
                </a:tc>
                <a:tc>
                  <a:txBody>
                    <a:bodyPr/>
                    <a:lstStyle/>
                    <a:p>
                      <a:pPr algn="ctr" latinLnBrk="1"/>
                      <a:r>
                        <a:rPr lang="ko-KR" altLang="en-US" sz="700" dirty="0" err="1" smtClean="0"/>
                        <a:t>입찰내역</a:t>
                      </a:r>
                      <a:r>
                        <a:rPr lang="ko-KR" altLang="en-US" sz="700" dirty="0" smtClean="0"/>
                        <a:t> 작성</a:t>
                      </a:r>
                      <a:r>
                        <a:rPr lang="en-US" altLang="ko-KR" sz="700" dirty="0" smtClean="0"/>
                        <a:t>, </a:t>
                      </a:r>
                      <a:r>
                        <a:rPr lang="ko-KR" altLang="en-US" sz="700" dirty="0" err="1" smtClean="0"/>
                        <a:t>입찰내역</a:t>
                      </a:r>
                      <a:r>
                        <a:rPr lang="ko-KR" altLang="en-US" sz="700" dirty="0" smtClean="0"/>
                        <a:t> </a:t>
                      </a:r>
                      <a:r>
                        <a:rPr lang="ko-KR" altLang="en-US" sz="700" dirty="0" err="1" smtClean="0"/>
                        <a:t>미작성</a:t>
                      </a:r>
                      <a:r>
                        <a:rPr lang="en-US" altLang="ko-KR" sz="700" dirty="0" smtClean="0"/>
                        <a:t>, </a:t>
                      </a:r>
                      <a:r>
                        <a:rPr lang="ko-KR" altLang="en-US" sz="700" dirty="0" err="1" smtClean="0"/>
                        <a:t>입찰내역</a:t>
                      </a:r>
                      <a:r>
                        <a:rPr lang="ko-KR" altLang="en-US" sz="700" dirty="0" smtClean="0"/>
                        <a:t> 완료</a:t>
                      </a:r>
                      <a:endParaRPr lang="ko-KR" altLang="en-US" sz="700" dirty="0"/>
                    </a:p>
                  </a:txBody>
                  <a:tcPr anchor="ctr"/>
                </a:tc>
                <a:extLst>
                  <a:ext uri="{0D108BD9-81ED-4DB2-BD59-A6C34878D82A}">
                    <a16:rowId xmlns:a16="http://schemas.microsoft.com/office/drawing/2014/main" val="1160468422"/>
                  </a:ext>
                </a:extLst>
              </a:tr>
              <a:tr h="370840">
                <a:tc>
                  <a:txBody>
                    <a:bodyPr/>
                    <a:lstStyle/>
                    <a:p>
                      <a:pPr algn="ctr" latinLnBrk="1"/>
                      <a:r>
                        <a:rPr lang="ko-KR" altLang="en-US" sz="700" b="0" i="0" u="none" strike="noStrike" kern="1200" dirty="0" smtClean="0">
                          <a:solidFill>
                            <a:srgbClr val="000000"/>
                          </a:solidFill>
                          <a:effectLst/>
                          <a:latin typeface="맑은 고딕" panose="020B0503020000020004" pitchFamily="50" charset="-127"/>
                          <a:ea typeface="+mn-ea"/>
                          <a:cs typeface="+mn-cs"/>
                        </a:rPr>
                        <a:t>입찰참가신청여부 </a:t>
                      </a:r>
                      <a:r>
                        <a:rPr lang="en-US" altLang="ko-KR" sz="700" b="0" i="0" u="none" strike="noStrike" kern="1200" dirty="0" smtClean="0">
                          <a:solidFill>
                            <a:srgbClr val="000000"/>
                          </a:solidFill>
                          <a:effectLst/>
                          <a:latin typeface="맑은 고딕" panose="020B0503020000020004" pitchFamily="50" charset="-127"/>
                          <a:ea typeface="+mn-ea"/>
                          <a:cs typeface="+mn-cs"/>
                        </a:rPr>
                        <a:t>(</a:t>
                      </a:r>
                      <a:r>
                        <a:rPr lang="en-US" altLang="ko-KR" sz="700" b="0" i="0" u="none" strike="noStrike" kern="1200" dirty="0" err="1" smtClean="0">
                          <a:solidFill>
                            <a:srgbClr val="000000"/>
                          </a:solidFill>
                          <a:effectLst/>
                          <a:latin typeface="맑은 고딕" panose="020B0503020000020004" pitchFamily="50" charset="-127"/>
                          <a:ea typeface="+mn-ea"/>
                          <a:cs typeface="+mn-cs"/>
                        </a:rPr>
                        <a:t>bidPrtcpAplyYn</a:t>
                      </a:r>
                      <a:r>
                        <a:rPr lang="en-US" altLang="ko-KR" sz="700" b="0" i="0" u="none" strike="noStrike" kern="1200" dirty="0" smtClean="0">
                          <a:solidFill>
                            <a:srgbClr val="000000"/>
                          </a:solidFill>
                          <a:effectLst/>
                          <a:latin typeface="맑은 고딕" panose="020B0503020000020004" pitchFamily="50" charset="-127"/>
                          <a:ea typeface="+mn-ea"/>
                          <a:cs typeface="+mn-cs"/>
                        </a:rPr>
                        <a:t>)</a:t>
                      </a:r>
                      <a:endParaRPr lang="ko-KR" altLang="en-US" sz="700" b="0" i="0" u="none" strike="noStrike" kern="1200" dirty="0">
                        <a:solidFill>
                          <a:srgbClr val="000000"/>
                        </a:solidFill>
                        <a:effectLst/>
                        <a:latin typeface="맑은 고딕" panose="020B0503020000020004" pitchFamily="50" charset="-127"/>
                        <a:ea typeface="+mn-ea"/>
                        <a:cs typeface="+mn-cs"/>
                      </a:endParaRPr>
                    </a:p>
                  </a:txBody>
                  <a:tcPr anchor="ctr"/>
                </a:tc>
                <a:tc>
                  <a:txBody>
                    <a:bodyPr/>
                    <a:lstStyle/>
                    <a:p>
                      <a:pPr algn="ctr" latinLnBrk="1"/>
                      <a:r>
                        <a:rPr lang="ko-KR" altLang="en-US" sz="700" dirty="0" smtClean="0"/>
                        <a:t>입찰참가 신청</a:t>
                      </a:r>
                      <a:r>
                        <a:rPr lang="en-US" altLang="ko-KR" sz="700" dirty="0" smtClean="0"/>
                        <a:t>, </a:t>
                      </a:r>
                      <a:r>
                        <a:rPr lang="ko-KR" altLang="en-US" sz="700" dirty="0" smtClean="0"/>
                        <a:t>입찰참가신청 </a:t>
                      </a:r>
                      <a:r>
                        <a:rPr lang="ko-KR" altLang="en-US" sz="700" dirty="0" err="1" smtClean="0"/>
                        <a:t>미작성</a:t>
                      </a:r>
                      <a:endParaRPr lang="ko-KR" altLang="en-US" sz="700" dirty="0"/>
                    </a:p>
                  </a:txBody>
                  <a:tcPr anchor="ctr"/>
                </a:tc>
                <a:extLst>
                  <a:ext uri="{0D108BD9-81ED-4DB2-BD59-A6C34878D82A}">
                    <a16:rowId xmlns:a16="http://schemas.microsoft.com/office/drawing/2014/main" val="729087243"/>
                  </a:ext>
                </a:extLst>
              </a:tr>
            </a:tbl>
          </a:graphicData>
        </a:graphic>
      </p:graphicFrame>
    </p:spTree>
    <p:extLst>
      <p:ext uri="{BB962C8B-B14F-4D97-AF65-F5344CB8AC3E}">
        <p14:creationId xmlns:p14="http://schemas.microsoft.com/office/powerpoint/2010/main" val="1714191168"/>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검색필터</a:t>
            </a:r>
            <a:r>
              <a:rPr lang="ko-KR" altLang="en-US" dirty="0"/>
              <a:t> 페이지 타이틀</a:t>
            </a:r>
            <a:r>
              <a:rPr lang="en-US" altLang="ko-KR" dirty="0"/>
              <a:t/>
            </a:r>
            <a:br>
              <a:rPr lang="en-US" altLang="ko-KR" dirty="0"/>
            </a:br>
            <a:r>
              <a:rPr lang="en-US" altLang="ko-KR" dirty="0"/>
              <a:t>- </a:t>
            </a:r>
            <a:r>
              <a:rPr lang="ko-KR" altLang="en-US" dirty="0"/>
              <a:t>초기화</a:t>
            </a:r>
            <a:r>
              <a:rPr lang="en-US" altLang="ko-KR" dirty="0"/>
              <a:t>, </a:t>
            </a:r>
            <a:r>
              <a:rPr lang="ko-KR" altLang="en-US" dirty="0"/>
              <a:t>닫기 버튼</a:t>
            </a:r>
            <a:endParaRPr lang="en-US" altLang="ko-KR" dirty="0"/>
          </a:p>
          <a:p>
            <a:pPr marL="228600" indent="-228600">
              <a:buFont typeface="+mj-lt"/>
              <a:buAutoNum type="arabicPeriod"/>
            </a:pPr>
            <a:r>
              <a:rPr lang="ko-KR" altLang="en-US" dirty="0"/>
              <a:t>일자 설정</a:t>
            </a:r>
            <a:r>
              <a:rPr lang="en-US" altLang="ko-KR" dirty="0"/>
              <a:t/>
            </a:r>
            <a:br>
              <a:rPr lang="en-US" altLang="ko-KR" dirty="0"/>
            </a:br>
            <a:r>
              <a:rPr lang="en-US" altLang="ko-KR" dirty="0"/>
              <a:t>- </a:t>
            </a:r>
            <a:r>
              <a:rPr lang="ko-KR" altLang="en-US" dirty="0" err="1"/>
              <a:t>개찰일자</a:t>
            </a:r>
            <a:r>
              <a:rPr lang="en-US" altLang="ko-KR" dirty="0"/>
              <a:t>, </a:t>
            </a:r>
            <a:r>
              <a:rPr lang="ko-KR" altLang="en-US" dirty="0" err="1"/>
              <a:t>공고일자</a:t>
            </a:r>
            <a:r>
              <a:rPr lang="ko-KR" altLang="en-US" dirty="0"/>
              <a:t> </a:t>
            </a:r>
            <a:r>
              <a:rPr lang="ko-KR" altLang="en-US" dirty="0" err="1"/>
              <a:t>토글</a:t>
            </a:r>
            <a:r>
              <a:rPr lang="ko-KR" altLang="en-US" dirty="0"/>
              <a:t> 스위치</a:t>
            </a:r>
            <a:r>
              <a:rPr lang="en-US" altLang="ko-KR" dirty="0"/>
              <a:t/>
            </a:r>
            <a:br>
              <a:rPr lang="en-US" altLang="ko-KR" dirty="0"/>
            </a:br>
            <a:r>
              <a:rPr lang="en-US" altLang="ko-KR" dirty="0"/>
              <a:t>- </a:t>
            </a:r>
            <a:r>
              <a:rPr lang="ko-KR" altLang="en-US" dirty="0" smtClean="0"/>
              <a:t>일자 설정 직접 </a:t>
            </a:r>
            <a:r>
              <a:rPr lang="ko-KR" altLang="en-US" dirty="0"/>
              <a:t>입력 </a:t>
            </a:r>
            <a:r>
              <a:rPr lang="ko-KR" altLang="en-US" dirty="0" smtClean="0"/>
              <a:t>가능</a:t>
            </a:r>
            <a:r>
              <a:rPr lang="en-US" altLang="ko-KR" dirty="0" smtClean="0"/>
              <a:t/>
            </a:r>
            <a:br>
              <a:rPr lang="en-US" altLang="ko-KR" dirty="0" smtClean="0"/>
            </a:br>
            <a:r>
              <a:rPr lang="en-US" altLang="ko-KR" dirty="0" smtClean="0"/>
              <a:t>  &gt; </a:t>
            </a:r>
            <a:r>
              <a:rPr lang="ko-KR" altLang="en-US" dirty="0" smtClean="0"/>
              <a:t>팝업에서 </a:t>
            </a:r>
            <a:r>
              <a:rPr lang="ko-KR" altLang="en-US" dirty="0" err="1" smtClean="0"/>
              <a:t>입력처리</a:t>
            </a:r>
            <a:r>
              <a:rPr lang="en-US" altLang="ko-KR" dirty="0"/>
              <a:t/>
            </a:r>
            <a:br>
              <a:rPr lang="en-US" altLang="ko-KR" dirty="0"/>
            </a:br>
            <a:r>
              <a:rPr lang="en-US" altLang="ko-KR" dirty="0"/>
              <a:t>- </a:t>
            </a:r>
            <a:r>
              <a:rPr lang="ko-KR" altLang="en-US" dirty="0"/>
              <a:t>아이콘 </a:t>
            </a:r>
            <a:r>
              <a:rPr lang="en-US" altLang="ko-KR" dirty="0">
                <a:sym typeface="Wingdings" panose="05000000000000000000" pitchFamily="2" charset="2"/>
              </a:rPr>
              <a:t> </a:t>
            </a:r>
            <a:r>
              <a:rPr lang="ko-KR" altLang="en-US" dirty="0">
                <a:sym typeface="Wingdings" panose="05000000000000000000" pitchFamily="2" charset="2"/>
              </a:rPr>
              <a:t>데이트 </a:t>
            </a:r>
            <a:r>
              <a:rPr lang="ko-KR" altLang="en-US" dirty="0" err="1">
                <a:sym typeface="Wingdings" panose="05000000000000000000" pitchFamily="2" charset="2"/>
              </a:rPr>
              <a:t>피커</a:t>
            </a:r>
            <a:r>
              <a:rPr lang="ko-KR" altLang="en-US" dirty="0">
                <a:sym typeface="Wingdings" panose="05000000000000000000" pitchFamily="2" charset="2"/>
              </a:rPr>
              <a:t> 호출</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지정 설정으로 날짜 즉시 </a:t>
            </a:r>
            <a:r>
              <a:rPr lang="ko-KR" altLang="en-US" dirty="0" smtClean="0">
                <a:sym typeface="Wingdings" panose="05000000000000000000" pitchFamily="2" charset="2"/>
              </a:rPr>
              <a:t>업데이트</a:t>
            </a:r>
            <a:endParaRPr lang="en-US" altLang="ko-KR" dirty="0" smtClean="0">
              <a:sym typeface="Wingdings" panose="05000000000000000000" pitchFamily="2" charset="2"/>
            </a:endParaRPr>
          </a:p>
          <a:p>
            <a:pPr marL="228600" indent="-228600">
              <a:buFont typeface="+mj-lt"/>
              <a:buAutoNum type="arabicPeriod"/>
            </a:pPr>
            <a:endParaRPr lang="en-US" altLang="ko-KR" dirty="0">
              <a:sym typeface="Wingdings" panose="05000000000000000000" pitchFamily="2" charset="2"/>
            </a:endParaRPr>
          </a:p>
          <a:p>
            <a:pPr marL="228600" indent="-228600">
              <a:buFont typeface="+mj-lt"/>
              <a:buAutoNum type="arabicPeriod"/>
            </a:pPr>
            <a:r>
              <a:rPr lang="ko-KR" altLang="en-US" dirty="0" err="1">
                <a:sym typeface="Wingdings" panose="05000000000000000000" pitchFamily="2" charset="2"/>
              </a:rPr>
              <a:t>검색어</a:t>
            </a:r>
            <a:r>
              <a:rPr lang="ko-KR" altLang="en-US" dirty="0">
                <a:sym typeface="Wingdings" panose="05000000000000000000" pitchFamily="2" charset="2"/>
              </a:rPr>
              <a:t> 영역</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사용자가 입력하고자 하는 내역만 입력 후 검색 </a:t>
            </a:r>
            <a:r>
              <a:rPr lang="ko-KR" altLang="en-US" dirty="0" smtClean="0">
                <a:sym typeface="Wingdings" panose="05000000000000000000" pitchFamily="2" charset="2"/>
              </a:rPr>
              <a:t>가능</a:t>
            </a:r>
            <a:r>
              <a:rPr lang="en-US" altLang="ko-KR" dirty="0" smtClean="0">
                <a:sym typeface="Wingdings" panose="05000000000000000000" pitchFamily="2" charset="2"/>
              </a:rPr>
              <a:t/>
            </a:r>
            <a:br>
              <a:rPr lang="en-US" altLang="ko-KR" dirty="0" smtClean="0">
                <a:sym typeface="Wingdings" panose="05000000000000000000" pitchFamily="2" charset="2"/>
              </a:rPr>
            </a:br>
            <a:r>
              <a:rPr lang="en-US" altLang="ko-KR" dirty="0" smtClean="0">
                <a:sym typeface="Wingdings" panose="05000000000000000000" pitchFamily="2" charset="2"/>
              </a:rPr>
              <a:t>- </a:t>
            </a:r>
            <a:r>
              <a:rPr lang="ko-KR" altLang="en-US" dirty="0" smtClean="0">
                <a:sym typeface="Wingdings" panose="05000000000000000000" pitchFamily="2" charset="2"/>
              </a:rPr>
              <a:t>참가신청상태</a:t>
            </a:r>
            <a:r>
              <a:rPr lang="en-US" altLang="ko-KR" dirty="0" smtClean="0">
                <a:sym typeface="Wingdings" panose="05000000000000000000" pitchFamily="2" charset="2"/>
              </a:rPr>
              <a:t>: </a:t>
            </a:r>
            <a:r>
              <a:rPr lang="ko-KR" altLang="en-US" dirty="0" smtClean="0">
                <a:sym typeface="Wingdings" panose="05000000000000000000" pitchFamily="2" charset="2"/>
              </a:rPr>
              <a:t>전체</a:t>
            </a:r>
            <a:r>
              <a:rPr lang="en-US" altLang="ko-KR" dirty="0" smtClean="0">
                <a:sym typeface="Wingdings" panose="05000000000000000000" pitchFamily="2" charset="2"/>
              </a:rPr>
              <a:t>, </a:t>
            </a:r>
            <a:r>
              <a:rPr lang="ko-KR" altLang="en-US" dirty="0" smtClean="0">
                <a:sym typeface="Wingdings" panose="05000000000000000000" pitchFamily="2" charset="2"/>
              </a:rPr>
              <a:t>작성</a:t>
            </a:r>
            <a:r>
              <a:rPr lang="en-US" altLang="ko-KR" dirty="0" smtClean="0">
                <a:sym typeface="Wingdings" panose="05000000000000000000" pitchFamily="2" charset="2"/>
              </a:rPr>
              <a:t>, </a:t>
            </a:r>
            <a:r>
              <a:rPr lang="ko-KR" altLang="en-US" dirty="0" err="1" smtClean="0">
                <a:sym typeface="Wingdings" panose="05000000000000000000" pitchFamily="2" charset="2"/>
              </a:rPr>
              <a:t>미작성</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검색 필터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5" name="타원 154">
            <a:extLst>
              <a:ext uri="{FF2B5EF4-FFF2-40B4-BE49-F238E27FC236}">
                <a16:creationId xmlns:a16="http://schemas.microsoft.com/office/drawing/2014/main" id="{37A7FF4F-0EAA-1463-560A-D5EC24416103}"/>
              </a:ext>
            </a:extLst>
          </p:cNvPr>
          <p:cNvSpPr/>
          <p:nvPr/>
        </p:nvSpPr>
        <p:spPr>
          <a:xfrm>
            <a:off x="573754" y="201535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1997596"/>
            <a:ext cx="2305144" cy="181140"/>
          </a:xfrm>
          <a:prstGeom prst="rect">
            <a:avLst/>
          </a:prstGeom>
          <a:noFill/>
        </p:spPr>
        <p:txBody>
          <a:bodyPr wrap="square" lIns="0" tIns="0" rIns="0" bIns="0" rtlCol="0">
            <a:spAutoFit/>
          </a:bodyPr>
          <a:lstStyle/>
          <a:p>
            <a:pPr>
              <a:lnSpc>
                <a:spcPct val="200000"/>
              </a:lnSpc>
            </a:pPr>
            <a:r>
              <a:rPr lang="ko-KR" altLang="en-US" sz="700" b="1" dirty="0" smtClean="0">
                <a:latin typeface="+mn-ea"/>
              </a:rPr>
              <a:t>일자 설정</a:t>
            </a:r>
            <a:endParaRPr lang="ko-KR" altLang="en-US" sz="700" b="1"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2220134"/>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2095286"/>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2039778"/>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2039778"/>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2066318"/>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2066318"/>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공고</a:t>
            </a: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2247765"/>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2267712"/>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2478434"/>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2247765"/>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27951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2895300"/>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2992990"/>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317579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3132291"/>
            <a:ext cx="670770" cy="646331"/>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참가신청상태</a:t>
            </a:r>
            <a:endParaRPr lang="en-US" altLang="ko-KR" sz="700" dirty="0">
              <a:latin typeface="+mn-ea"/>
            </a:endParaRPr>
          </a:p>
        </p:txBody>
      </p:sp>
      <p:sp>
        <p:nvSpPr>
          <p:cNvPr id="207" name="모서리가 둥근 직사각형 206"/>
          <p:cNvSpPr/>
          <p:nvPr/>
        </p:nvSpPr>
        <p:spPr>
          <a:xfrm>
            <a:off x="1449284" y="339053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221" name="그룹 220"/>
          <p:cNvGrpSpPr/>
          <p:nvPr/>
        </p:nvGrpSpPr>
        <p:grpSpPr>
          <a:xfrm>
            <a:off x="670744"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66" name="모서리가 둥근 직사각형 265"/>
          <p:cNvSpPr/>
          <p:nvPr/>
        </p:nvSpPr>
        <p:spPr>
          <a:xfrm>
            <a:off x="1449284" y="3613255"/>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92" name="타원 291">
            <a:extLst>
              <a:ext uri="{FF2B5EF4-FFF2-40B4-BE49-F238E27FC236}">
                <a16:creationId xmlns:a16="http://schemas.microsoft.com/office/drawing/2014/main" id="{37A7FF4F-0EAA-1463-560A-D5EC24416103}"/>
              </a:ext>
            </a:extLst>
          </p:cNvPr>
          <p:cNvSpPr/>
          <p:nvPr/>
        </p:nvSpPr>
        <p:spPr>
          <a:xfrm>
            <a:off x="573754" y="292380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41" name="그룹 140"/>
          <p:cNvGrpSpPr/>
          <p:nvPr/>
        </p:nvGrpSpPr>
        <p:grpSpPr>
          <a:xfrm>
            <a:off x="3140952" y="3681719"/>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66036356"/>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410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a:solidFill>
                  <a:prstClr val="black"/>
                </a:solidFill>
              </a:rPr>
              <a:t>항목 설명</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79663" cy="211203"/>
          </a:xfrm>
          <a:prstGeom prst="rect">
            <a:avLst/>
          </a:prstGeom>
          <a:noFill/>
        </p:spPr>
        <p:txBody>
          <a:bodyPr wrap="none" lIns="36000" tIns="36000" rIns="36000" bIns="36000" rtlCol="0">
            <a:spAutoFit/>
          </a:bodyPr>
          <a:lstStyle/>
          <a:p>
            <a:r>
              <a:rPr lang="en-US" altLang="ko-KR" sz="900" b="1">
                <a:solidFill>
                  <a:prstClr val="black"/>
                </a:solidFill>
              </a:rPr>
              <a:t>1.1. </a:t>
            </a:r>
            <a:r>
              <a:rPr lang="ko-KR" altLang="en-US" sz="900" b="1">
                <a:solidFill>
                  <a:prstClr val="black"/>
                </a:solidFill>
              </a:rPr>
              <a:t>보관함 검색조건</a:t>
            </a:r>
            <a:r>
              <a:rPr lang="en-US" altLang="ko-KR" sz="900" b="1">
                <a:solidFill>
                  <a:prstClr val="black"/>
                </a:solidFill>
              </a:rPr>
              <a:t> (dm_searchInfo)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285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일자구분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srchYmdSe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검색할 일자구분자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구분코드 </a:t>
                      </a:r>
                      <a:r>
                        <a:rPr lang="en-US" altLang="ko-KR" sz="800">
                          <a:latin typeface="+mn-ea"/>
                          <a:ea typeface="+mn-ea"/>
                        </a:rPr>
                        <a:t>GTSB0001</a:t>
                      </a:r>
                      <a:r>
                        <a:rPr lang="ko-KR" altLang="en-US" sz="800">
                          <a:latin typeface="+mn-ea"/>
                          <a:ea typeface="+mn-ea"/>
                        </a:rPr>
                        <a:t> </a:t>
                      </a:r>
                      <a:r>
                        <a:rPr lang="en-US" altLang="ko-KR" sz="800">
                          <a:latin typeface="+mn-ea"/>
                          <a:ea typeface="+mn-ea"/>
                        </a:rPr>
                        <a:t>(</a:t>
                      </a:r>
                      <a:r>
                        <a:rPr lang="ko-KR" altLang="en-US" sz="800">
                          <a:latin typeface="+mn-ea"/>
                          <a:ea typeface="+mn-ea"/>
                        </a:rPr>
                        <a:t>개찰일자</a:t>
                      </a:r>
                      <a:r>
                        <a:rPr lang="en-US" altLang="ko-KR" sz="800">
                          <a:latin typeface="+mn-ea"/>
                          <a:ea typeface="+mn-ea"/>
                        </a:rPr>
                        <a:t>, </a:t>
                      </a:r>
                      <a:r>
                        <a:rPr lang="ko-KR" altLang="en-US" sz="800">
                          <a:latin typeface="+mn-ea"/>
                          <a:ea typeface="+mn-ea"/>
                        </a:rPr>
                        <a:t>입찰참가</a:t>
                      </a:r>
                      <a:r>
                        <a:rPr lang="en-US" altLang="ko-KR" sz="800">
                          <a:latin typeface="+mn-ea"/>
                          <a:ea typeface="+mn-ea"/>
                        </a:rPr>
                        <a:t>, </a:t>
                      </a:r>
                      <a:r>
                        <a:rPr lang="ko-KR" altLang="en-US" sz="800">
                          <a:latin typeface="+mn-ea"/>
                          <a:ea typeface="+mn-ea"/>
                        </a:rPr>
                        <a:t>입찰서제출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srchEndYmd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기준일자끝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srchBgngYmd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기준일자끝</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참가신청상태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bidPrtcpAplyStts</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입찰참가신청 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a:t>
                      </a:r>
                      <a:r>
                        <a:rPr lang="ko-KR" altLang="en-US" sz="800">
                          <a:latin typeface="+mn-ea"/>
                          <a:ea typeface="+mn-ea"/>
                        </a:rPr>
                        <a:t>전체</a:t>
                      </a:r>
                      <a:r>
                        <a:rPr lang="en-US" altLang="ko-KR" sz="800">
                          <a:latin typeface="+mn-ea"/>
                          <a:ea typeface="+mn-ea"/>
                        </a:rPr>
                        <a:t>, </a:t>
                      </a:r>
                      <a:r>
                        <a:rPr lang="ko-KR" altLang="en-US" sz="800">
                          <a:latin typeface="+mn-ea"/>
                          <a:ea typeface="+mn-ea"/>
                        </a:rPr>
                        <a:t>작성</a:t>
                      </a:r>
                      <a:r>
                        <a:rPr lang="en-US" altLang="ko-KR" sz="800">
                          <a:latin typeface="+mn-ea"/>
                          <a:ea typeface="+mn-ea"/>
                        </a:rPr>
                        <a:t>, </a:t>
                      </a:r>
                      <a:r>
                        <a:rPr lang="ko-KR" altLang="en-US" sz="800">
                          <a:latin typeface="+mn-ea"/>
                          <a:ea typeface="+mn-ea"/>
                        </a:rPr>
                        <a:t>미작성</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189499"/>
                  </a:ext>
                </a:extLst>
              </a:tr>
            </a:tbl>
          </a:graphicData>
        </a:graphic>
      </p:graphicFrame>
      <p:sp>
        <p:nvSpPr>
          <p:cNvPr id="4" name="Text Box 73">
            <a:extLst>
              <a:ext uri="{FF2B5EF4-FFF2-40B4-BE49-F238E27FC236}">
                <a16:creationId xmlns:a16="http://schemas.microsoft.com/office/drawing/2014/main" id="{B8CDDD2D-4887-09C2-7266-AB4432087CE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FFF584A0-A213-C065-D9B7-64DE203FBB20}"/>
              </a:ext>
            </a:extLst>
          </p:cNvPr>
          <p:cNvSpPr txBox="1"/>
          <p:nvPr/>
        </p:nvSpPr>
        <p:spPr>
          <a:xfrm>
            <a:off x="458117" y="2330703"/>
            <a:ext cx="2212713"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검색결과 데이터 영역 </a:t>
            </a:r>
            <a:r>
              <a:rPr lang="en-US" altLang="ko-KR" sz="900" b="1">
                <a:solidFill>
                  <a:prstClr val="black"/>
                </a:solidFill>
              </a:rPr>
              <a:t>(dl_resultList)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35A9AE08-7971-6FCE-A248-9932928B4551}"/>
              </a:ext>
            </a:extLst>
          </p:cNvPr>
          <p:cNvGraphicFramePr>
            <a:graphicFrameLocks noGrp="1"/>
          </p:cNvGraphicFramePr>
          <p:nvPr/>
        </p:nvGraphicFramePr>
        <p:xfrm>
          <a:off x="452999" y="2541906"/>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공고년도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pbancYr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공고년도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2020068"/>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7559299"/>
                  </a:ext>
                </a:extLst>
              </a:tr>
              <a:tr h="0">
                <a:tc>
                  <a:txBody>
                    <a:bodyPr/>
                    <a:lstStyle/>
                    <a:p>
                      <a:pPr algn="l" fontAlgn="ctr"/>
                      <a:r>
                        <a:rPr lang="ko-KR" altLang="en-US" sz="800" b="0" i="0" u="none" strike="noStrike">
                          <a:solidFill>
                            <a:srgbClr val="000000"/>
                          </a:solidFill>
                          <a:effectLst/>
                          <a:latin typeface="+mn-ea"/>
                          <a:ea typeface="+mn-ea"/>
                        </a:rPr>
                        <a:t>입찰내역작성여부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tmprBidCnEn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입찰내역작성여부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(Y,</a:t>
                      </a:r>
                      <a:r>
                        <a:rPr lang="ko-KR" altLang="en-US" sz="800">
                          <a:latin typeface="+mn-ea"/>
                          <a:ea typeface="+mn-ea"/>
                        </a:rPr>
                        <a:t> </a:t>
                      </a:r>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48019"/>
                  </a:ext>
                </a:extLst>
              </a:tr>
              <a:tr h="0">
                <a:tc>
                  <a:txBody>
                    <a:bodyPr/>
                    <a:lstStyle/>
                    <a:p>
                      <a:pPr algn="l" fontAlgn="ctr"/>
                      <a:r>
                        <a:rPr lang="ko-KR" altLang="en-US" sz="800" b="0" i="0" u="none" strike="noStrike">
                          <a:solidFill>
                            <a:srgbClr val="000000"/>
                          </a:solidFill>
                          <a:effectLst/>
                          <a:latin typeface="+mn-ea"/>
                          <a:ea typeface="+mn-ea"/>
                        </a:rPr>
                        <a:t>입찰업체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lang="en-US" altLang="ko-KR" sz="800" kern="1200">
                          <a:solidFill>
                            <a:schemeClr val="tx1"/>
                          </a:solidFill>
                          <a:latin typeface="+mn-ea"/>
                          <a:ea typeface="+mn-ea"/>
                          <a:cs typeface="+mn-cs"/>
                        </a:rPr>
                        <a:t>N</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0570774"/>
                  </a:ext>
                </a:extLst>
              </a:tr>
              <a:tr h="0">
                <a:tc>
                  <a:txBody>
                    <a:bodyPr/>
                    <a:lstStyle/>
                    <a:p>
                      <a:pPr algn="l" fontAlgn="ctr"/>
                      <a:r>
                        <a:rPr lang="ko-KR" altLang="en-US" sz="800" b="0" i="0" u="none" strike="noStrike">
                          <a:solidFill>
                            <a:srgbClr val="000000"/>
                          </a:solidFill>
                          <a:effectLst/>
                          <a:latin typeface="+mn-ea"/>
                          <a:ea typeface="+mn-ea"/>
                        </a:rPr>
                        <a:t>입찰참가신청여부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bidPrtcpAplyYn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입찰참가신청여부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(Y,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4493747"/>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3808974"/>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9984697"/>
                  </a:ext>
                </a:extLst>
              </a:tr>
              <a:tr h="0">
                <a:tc>
                  <a:txBody>
                    <a:bodyPr/>
                    <a:lstStyle/>
                    <a:p>
                      <a:pPr algn="l" fontAlgn="ctr"/>
                      <a:r>
                        <a:rPr lang="ko-KR" altLang="en-US" sz="800" b="0" i="0" u="none" strike="noStrike">
                          <a:solidFill>
                            <a:srgbClr val="000000"/>
                          </a:solidFill>
                          <a:effectLst/>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959059"/>
                  </a:ext>
                </a:extLst>
              </a:tr>
              <a:tr h="0">
                <a:tc>
                  <a:txBody>
                    <a:bodyPr/>
                    <a:lstStyle/>
                    <a:p>
                      <a:pPr algn="l" fontAlgn="ctr"/>
                      <a:r>
                        <a:rPr lang="ko-KR" altLang="en-US" sz="800" b="0" i="0" u="none" strike="noStrike">
                          <a:solidFill>
                            <a:srgbClr val="000000"/>
                          </a:solidFill>
                          <a:effectLst/>
                          <a:latin typeface="+mn-ea"/>
                          <a:ea typeface="+mn-ea"/>
                        </a:rPr>
                        <a:t>환율일자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환율일자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1341434"/>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8383827"/>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보관품목수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lockerItemQty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보관품목수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0482144"/>
                  </a:ext>
                </a:extLst>
              </a:tr>
            </a:tbl>
          </a:graphicData>
        </a:graphic>
      </p:graphicFrame>
    </p:spTree>
    <p:extLst>
      <p:ext uri="{BB962C8B-B14F-4D97-AF65-F5344CB8AC3E}">
        <p14:creationId xmlns:p14="http://schemas.microsoft.com/office/powerpoint/2010/main" val="1859748291"/>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0D6F7229-F560-C0E4-D100-D0CDED309D46}"/>
              </a:ext>
            </a:extLst>
          </p:cNvPr>
          <p:cNvSpPr>
            <a:spLocks noGrp="1"/>
          </p:cNvSpPr>
          <p:nvPr>
            <p:ph type="sldNum" sz="quarter" idx="4"/>
          </p:nvPr>
        </p:nvSpPr>
        <p:spPr/>
        <p:txBody>
          <a:bodyPr/>
          <a:lstStyle/>
          <a:p>
            <a:fld id="{34C8E023-7346-48FC-AB24-9A3388C53208}" type="slidenum">
              <a:rPr lang="ko-KR" altLang="en-US" smtClean="0"/>
              <a:pPr/>
              <a:t>411</a:t>
            </a:fld>
            <a:endParaRPr lang="ko-KR" altLang="en-US" dirty="0"/>
          </a:p>
        </p:txBody>
      </p:sp>
      <p:sp>
        <p:nvSpPr>
          <p:cNvPr id="4" name="슬라이드 번호 개체 틀 1">
            <a:extLst>
              <a:ext uri="{FF2B5EF4-FFF2-40B4-BE49-F238E27FC236}">
                <a16:creationId xmlns:a16="http://schemas.microsoft.com/office/drawing/2014/main" id="{91A30C36-8FD5-4B7D-2AED-5A6E2FE5E18C}"/>
              </a:ext>
            </a:extLst>
          </p:cNvPr>
          <p:cNvSpPr txBox="1">
            <a:spLocks/>
          </p:cNvSpPr>
          <p:nvPr/>
        </p:nvSpPr>
        <p:spPr>
          <a:xfrm>
            <a:off x="4327200" y="6590501"/>
            <a:ext cx="1258128" cy="216000"/>
          </a:xfrm>
          <a:prstGeom prst="rect">
            <a:avLst/>
          </a:prstGeom>
        </p:spPr>
        <p:txBody>
          <a:bodyPr vert="horz" lIns="91440" tIns="45720" rIns="91440" bIns="45720" rtlCol="0" anchor="ctr"/>
          <a:lstStyle>
            <a:defPPr>
              <a:defRPr lang="ko-KR"/>
            </a:defPPr>
            <a:lvl1pPr marL="0" algn="ctr" defTabSz="914400" rtl="0" eaLnBrk="1" latinLnBrk="1" hangingPunct="1">
              <a:defRPr sz="10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34C8E023-7346-48FC-AB24-9A3388C53208}" type="slidenum">
              <a:rPr lang="ko-KR" altLang="en-US" smtClean="0"/>
              <a:pPr/>
              <a:t>411</a:t>
            </a:fld>
            <a:endParaRPr lang="ko-KR" altLang="en-US" dirty="0"/>
          </a:p>
        </p:txBody>
      </p:sp>
      <p:sp>
        <p:nvSpPr>
          <p:cNvPr id="5" name="TextBox 4">
            <a:extLst>
              <a:ext uri="{FF2B5EF4-FFF2-40B4-BE49-F238E27FC236}">
                <a16:creationId xmlns:a16="http://schemas.microsoft.com/office/drawing/2014/main" id="{419A1B9D-98AF-0515-89CE-B83C245EA7EA}"/>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6" name="표 5">
            <a:extLst>
              <a:ext uri="{FF2B5EF4-FFF2-40B4-BE49-F238E27FC236}">
                <a16:creationId xmlns:a16="http://schemas.microsoft.com/office/drawing/2014/main" id="{0FAB8D0A-631F-3C8E-395B-07F109C3BE9A}"/>
              </a:ext>
            </a:extLst>
          </p:cNvPr>
          <p:cNvGraphicFramePr>
            <a:graphicFrameLocks noGrp="1"/>
          </p:cNvGraphicFramePr>
          <p:nvPr/>
        </p:nvGraphicFramePr>
        <p:xfrm>
          <a:off x="458117" y="799547"/>
          <a:ext cx="8995591" cy="235488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검색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검색조건에 해당하는 보관함 목록 조회</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보관함공고목록조회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100933"/>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모의투찰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en-US" altLang="ko-KR" sz="800"/>
                        <a:t>scwin.btn_simtBdng_onclick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모의투찰 상태로 변경되며</a:t>
                      </a:r>
                      <a:r>
                        <a:rPr lang="en-US" altLang="ko-KR" sz="800">
                          <a:latin typeface="+mn-ea"/>
                          <a:ea typeface="+mn-ea"/>
                        </a:rPr>
                        <a:t>, </a:t>
                      </a:r>
                      <a:r>
                        <a:rPr lang="ko-KR" altLang="en-US" sz="800">
                          <a:latin typeface="+mn-ea"/>
                          <a:ea typeface="+mn-ea"/>
                        </a:rPr>
                        <a:t>모의투찰용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5964643"/>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입찰내역작성수정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scnwin.btn_moveBidDetail_onclick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입찰내역작성 화면으로 이동</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u="none" strike="noStrike">
                          <a:solidFill>
                            <a:srgbClr val="000000"/>
                          </a:solidFill>
                          <a:effectLst/>
                          <a:latin typeface="맑은 고딕" panose="020B0503020000020004" pitchFamily="50" charset="-127"/>
                          <a:ea typeface="+mn-ea"/>
                        </a:rPr>
                        <a:t>UI-BD-01-M77</a:t>
                      </a:r>
                      <a:r>
                        <a:rPr lang="en-US" altLang="ko-KR" sz="800">
                          <a:latin typeface="+mn-ea"/>
                          <a:ea typeface="+mn-ea"/>
                        </a:rPr>
                        <a:t> </a:t>
                      </a:r>
                      <a:r>
                        <a:rPr lang="ko-KR" altLang="en-US" sz="80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1043613"/>
                  </a:ext>
                </a:extLst>
              </a:tr>
              <a:tr h="0">
                <a:tc>
                  <a:txBody>
                    <a:bodyPr/>
                    <a:lstStyle/>
                    <a:p>
                      <a:r>
                        <a:rPr lang="ko-KR" altLang="en-US" sz="800"/>
                        <a:t>입찰참가신청작성수정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scnwin.btn_moveApplFormEdit_onlick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청렴계약이행서약서동의 팝업 호출 또는 입찰참가신청서작성 화면으로 이동</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solidFill>
                            <a:schemeClr val="tx1"/>
                          </a:solidFill>
                          <a:latin typeface="+mn-ea"/>
                          <a:ea typeface="+mn-ea"/>
                        </a:rPr>
                        <a:t>청렴계약이행서약서동의</a:t>
                      </a:r>
                      <a:r>
                        <a:rPr lang="en-US" altLang="ko-KR" sz="800">
                          <a:solidFill>
                            <a:schemeClr val="tx1"/>
                          </a:solidFill>
                          <a:latin typeface="+mn-ea"/>
                          <a:ea typeface="+mn-ea"/>
                        </a:rPr>
                        <a:t>(</a:t>
                      </a:r>
                      <a:r>
                        <a:rPr lang="en-US" altLang="ko-KR" sz="800" b="0" i="0" u="none" strike="noStrike">
                          <a:solidFill>
                            <a:schemeClr val="tx1"/>
                          </a:solidFill>
                          <a:effectLst/>
                          <a:latin typeface="맑은 고딕" panose="020B0503020000020004" pitchFamily="50" charset="-127"/>
                          <a:ea typeface="+mn-ea"/>
                        </a:rPr>
                        <a:t>UI-BD-04-P71</a:t>
                      </a:r>
                      <a:r>
                        <a:rPr lang="en-US" altLang="ko-KR" sz="800">
                          <a:solidFill>
                            <a:schemeClr val="tx1"/>
                          </a:solidFill>
                          <a:latin typeface="+mn-ea"/>
                          <a:ea typeface="+mn-ea"/>
                        </a:rPr>
                        <a:t>) </a:t>
                      </a:r>
                      <a:r>
                        <a:rPr lang="ko-KR" altLang="en-US" sz="800">
                          <a:solidFill>
                            <a:schemeClr val="tx1"/>
                          </a:solidFill>
                          <a:latin typeface="+mn-ea"/>
                          <a:ea typeface="+mn-ea"/>
                        </a:rPr>
                        <a:t>참조</a:t>
                      </a:r>
                      <a:endParaRPr lang="en-US" altLang="ko-KR" sz="800">
                        <a:solidFill>
                          <a:schemeClr val="tx1"/>
                        </a:solidFill>
                        <a:latin typeface="+mn-ea"/>
                        <a:ea typeface="+mn-ea"/>
                      </a:endParaRPr>
                    </a:p>
                    <a:p>
                      <a:pPr marL="87313" indent="-87313" algn="l" latinLnBrk="1">
                        <a:buFont typeface="Arial" panose="020B0604020202020204" pitchFamily="34" charset="0"/>
                        <a:buChar char="•"/>
                      </a:pPr>
                      <a:r>
                        <a:rPr lang="ko-KR" altLang="en-US" sz="800">
                          <a:solidFill>
                            <a:schemeClr val="tx1"/>
                          </a:solidFill>
                          <a:latin typeface="+mn-ea"/>
                          <a:ea typeface="+mn-ea"/>
                        </a:rPr>
                        <a:t>입찰참가신청서작성</a:t>
                      </a:r>
                      <a:r>
                        <a:rPr lang="en-US" altLang="ko-KR" sz="800">
                          <a:solidFill>
                            <a:schemeClr val="tx1"/>
                          </a:solidFill>
                          <a:latin typeface="+mn-ea"/>
                          <a:ea typeface="+mn-ea"/>
                        </a:rPr>
                        <a:t>(</a:t>
                      </a:r>
                      <a:r>
                        <a:rPr lang="en-US" altLang="ko-KR" sz="800" b="0" i="0" u="none" strike="noStrike">
                          <a:solidFill>
                            <a:schemeClr val="tx1"/>
                          </a:solidFill>
                          <a:effectLst/>
                          <a:latin typeface="맑은 고딕" panose="020B0503020000020004" pitchFamily="50" charset="-127"/>
                          <a:ea typeface="+mn-ea"/>
                        </a:rPr>
                        <a:t>UI-BD-04-M72</a:t>
                      </a:r>
                      <a:r>
                        <a:rPr lang="en-US" altLang="ko-KR" sz="800">
                          <a:solidFill>
                            <a:schemeClr val="tx1"/>
                          </a:solidFill>
                          <a:latin typeface="+mn-ea"/>
                          <a:ea typeface="+mn-ea"/>
                        </a:rPr>
                        <a:t>) </a:t>
                      </a:r>
                      <a:r>
                        <a:rPr lang="ko-KR" altLang="en-US" sz="800">
                          <a:solidFill>
                            <a:schemeClr val="tx1"/>
                          </a:solidFill>
                          <a:latin typeface="+mn-ea"/>
                          <a:ea typeface="+mn-ea"/>
                        </a:rPr>
                        <a:t>참조</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r h="0">
                <a:tc>
                  <a:txBody>
                    <a:bodyPr/>
                    <a:lstStyle/>
                    <a:p>
                      <a:r>
                        <a:rPr lang="ko-KR" altLang="en-US" sz="800" dirty="0" err="1"/>
                        <a:t>부정당내역</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scnwin.btn_openPenaltyStatus_onclick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부정당내역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UI-BD-05-P73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475007"/>
                  </a:ext>
                </a:extLst>
              </a:tr>
              <a:tr h="0">
                <a:tc>
                  <a:txBody>
                    <a:bodyPr/>
                    <a:lstStyle/>
                    <a:p>
                      <a:r>
                        <a:rPr lang="ko-KR" altLang="en-US" sz="800"/>
                        <a:t>입찰진행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scnwin.btn_moveBidProgress_onclick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입찰진행</a:t>
                      </a:r>
                      <a:r>
                        <a:rPr lang="en-US" altLang="ko-KR" sz="800">
                          <a:latin typeface="+mn-ea"/>
                          <a:ea typeface="+mn-ea"/>
                        </a:rPr>
                        <a:t>(</a:t>
                      </a:r>
                      <a:r>
                        <a:rPr lang="ko-KR" altLang="en-US" sz="800">
                          <a:latin typeface="+mn-ea"/>
                          <a:ea typeface="+mn-ea"/>
                        </a:rPr>
                        <a:t>조달업체</a:t>
                      </a:r>
                      <a:r>
                        <a:rPr lang="en-US" altLang="ko-KR" sz="800">
                          <a:latin typeface="+mn-ea"/>
                          <a:ea typeface="+mn-ea"/>
                        </a:rPr>
                        <a:t>)</a:t>
                      </a:r>
                      <a:r>
                        <a:rPr lang="ko-KR" altLang="en-US" sz="800">
                          <a:latin typeface="+mn-ea"/>
                          <a:ea typeface="+mn-ea"/>
                        </a:rPr>
                        <a:t> 화면으로 이동</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a:latin typeface="+mn-ea"/>
                          <a:ea typeface="+mn-ea"/>
                        </a:rPr>
                        <a:t>UI-BD-03-M01</a:t>
                      </a:r>
                      <a:r>
                        <a:rPr lang="ko-KR" altLang="en-US" sz="800">
                          <a:latin typeface="+mn-ea"/>
                          <a:ea typeface="+mn-ea"/>
                        </a:rPr>
                        <a:t> 참조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9504750"/>
                  </a:ext>
                </a:extLst>
              </a:tr>
              <a:tr h="0">
                <a:tc>
                  <a:txBody>
                    <a:bodyPr/>
                    <a:lstStyle/>
                    <a:p>
                      <a:r>
                        <a:rPr lang="ko-KR" altLang="en-US" sz="800"/>
                        <a:t>보관함품목관리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scnwin.btn_openLockerItemMng_onclick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보관함품목관리 팝업 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u="none" strike="noStrike">
                          <a:solidFill>
                            <a:srgbClr val="000000"/>
                          </a:solidFill>
                          <a:effectLst/>
                          <a:latin typeface="맑은 고딕" panose="020B0503020000020004" pitchFamily="50" charset="-127"/>
                          <a:ea typeface="+mn-ea"/>
                        </a:rPr>
                        <a:t>UI-BD-01-P76</a:t>
                      </a:r>
                      <a:r>
                        <a:rPr lang="ko-KR" altLang="en-US" sz="800" b="0" i="0" u="none" strike="noStrike">
                          <a:solidFill>
                            <a:srgbClr val="000000"/>
                          </a:solidFill>
                          <a:effectLst/>
                          <a:latin typeface="+mn-ea"/>
                          <a:ea typeface="+mn-ea"/>
                        </a:rPr>
                        <a:t> 참조</a:t>
                      </a:r>
                      <a:endParaRPr lang="ko-KR" altLang="en-US" sz="80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29653022"/>
                  </a:ext>
                </a:extLst>
              </a:tr>
            </a:tbl>
          </a:graphicData>
        </a:graphic>
      </p:graphicFrame>
      <p:sp>
        <p:nvSpPr>
          <p:cNvPr id="7" name="Text Box 73">
            <a:extLst>
              <a:ext uri="{FF2B5EF4-FFF2-40B4-BE49-F238E27FC236}">
                <a16:creationId xmlns:a16="http://schemas.microsoft.com/office/drawing/2014/main" id="{860FF1B4-A3DF-BB80-AB27-34226C4E462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7422119"/>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보관함에 추가한 공고 상세 정보를 조회하는 화면</a:t>
            </a:r>
            <a:r>
              <a:rPr lang="ko-KR" altLang="en-US" dirty="0"/>
              <a:t>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70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858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848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T-80U/TBE-3</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23552"/>
            <a:ext cx="769441"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1493" y="2908163"/>
            <a:ext cx="613951"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ko-KR" altLang="en-US" sz="600" dirty="0" err="1">
                <a:latin typeface="+mn-ea"/>
              </a:rPr>
              <a:t>미작성</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77270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12712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10513"/>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910513"/>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12712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87239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87830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150221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1858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164158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1641588"/>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185819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1603465"/>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199816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2542716" y="2404156"/>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2099025" y="240415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151" name="모서리가 둥근 직사각형 150"/>
          <p:cNvSpPr/>
          <p:nvPr/>
        </p:nvSpPr>
        <p:spPr>
          <a:xfrm>
            <a:off x="777000" y="2404156"/>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작성</a:t>
            </a:r>
          </a:p>
        </p:txBody>
      </p:sp>
      <p:sp>
        <p:nvSpPr>
          <p:cNvPr id="152" name="모서리가 둥근 직사각형 151"/>
          <p:cNvSpPr/>
          <p:nvPr/>
        </p:nvSpPr>
        <p:spPr>
          <a:xfrm>
            <a:off x="1399238" y="2404156"/>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a:t>
            </a:r>
            <a:r>
              <a:rPr lang="ko-KR" altLang="en-US" sz="600" dirty="0" err="1"/>
              <a:t>미신청</a:t>
            </a:r>
            <a:endParaRPr lang="ko-KR" altLang="en-US" sz="600" dirty="0"/>
          </a:p>
        </p:txBody>
      </p:sp>
      <p:grpSp>
        <p:nvGrpSpPr>
          <p:cNvPr id="6" name="그룹 5"/>
          <p:cNvGrpSpPr/>
          <p:nvPr/>
        </p:nvGrpSpPr>
        <p:grpSpPr>
          <a:xfrm>
            <a:off x="720490" y="4233451"/>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p>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err="1">
                  <a:latin typeface="+mn-ea"/>
                </a:rPr>
                <a:t>공고년도</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입찰내역작성여부</a:t>
              </a: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a:latin typeface="+mn-ea"/>
                </a:rPr>
                <a:t>입찰참가신청여부</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BDF01823EFE</a:t>
              </a:r>
            </a:p>
            <a:p>
              <a:pPr>
                <a:lnSpc>
                  <a:spcPct val="200000"/>
                </a:lnSpc>
              </a:pPr>
              <a:r>
                <a:rPr lang="en-US" altLang="ko-KR" sz="700" dirty="0">
                  <a:latin typeface="+mn-ea"/>
                </a:rPr>
                <a:t>EFE00012-2</a:t>
              </a:r>
            </a:p>
            <a:p>
              <a:pPr>
                <a:lnSpc>
                  <a:spcPct val="200000"/>
                </a:lnSpc>
              </a:pPr>
              <a:r>
                <a:rPr lang="en-US" altLang="ko-KR" sz="700" dirty="0">
                  <a:latin typeface="맑은 고딕" panose="020B0503020000020004" pitchFamily="50" charset="-127"/>
                  <a:cs typeface="Segoe UI" panose="020B0502040204020203" pitchFamily="34" charset="0"/>
                </a:rPr>
                <a:t>2025</a:t>
              </a:r>
            </a:p>
            <a:p>
              <a:pPr>
                <a:lnSpc>
                  <a:spcPct val="200000"/>
                </a:lnSpc>
              </a:pPr>
              <a:r>
                <a:rPr lang="en-US" altLang="ko-KR" sz="700" dirty="0">
                  <a:latin typeface="맑은 고딕" panose="020B0503020000020004" pitchFamily="50" charset="-127"/>
                  <a:cs typeface="Segoe UI" panose="020B0502040204020203" pitchFamily="34" charset="0"/>
                </a:rPr>
                <a:t>BDF01823-002</a:t>
              </a:r>
            </a:p>
            <a:p>
              <a:pPr>
                <a:lnSpc>
                  <a:spcPct val="200000"/>
                </a:lnSpc>
              </a:pPr>
              <a:r>
                <a:rPr lang="en-US" altLang="ko-KR" sz="700" dirty="0">
                  <a:latin typeface="맑은 고딕" panose="020B0503020000020004" pitchFamily="50" charset="-127"/>
                  <a:cs typeface="Segoe UI" panose="020B0502040204020203" pitchFamily="34" charset="0"/>
                </a:rPr>
                <a:t>T-80U/TBE-3</a:t>
              </a:r>
            </a:p>
            <a:p>
              <a:pPr>
                <a:lnSpc>
                  <a:spcPct val="200000"/>
                </a:lnSpc>
              </a:pPr>
              <a:r>
                <a:rPr lang="ko-KR" altLang="en-US" sz="700" dirty="0">
                  <a:latin typeface="맑은 고딕" panose="020B0503020000020004" pitchFamily="50" charset="-127"/>
                  <a:cs typeface="Segoe UI" panose="020B0502040204020203" pitchFamily="34" charset="0"/>
                </a:rPr>
                <a:t>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미신청</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2025-12-23 10:00</a:t>
              </a: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790330" y="5835557"/>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1956502"/>
            <a:ext cx="2660475" cy="2461921"/>
            <a:chOff x="720490" y="3803374"/>
            <a:chExt cx="2660475" cy="2461921"/>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p>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err="1">
                  <a:latin typeface="+mn-ea"/>
                </a:rPr>
                <a:t>공고년도</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입찰내역작성여부</a:t>
              </a: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a:latin typeface="+mn-ea"/>
                </a:rPr>
                <a:t>입찰참가신청여부</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BDF01823EFE</a:t>
              </a:r>
            </a:p>
            <a:p>
              <a:pPr>
                <a:lnSpc>
                  <a:spcPct val="200000"/>
                </a:lnSpc>
              </a:pPr>
              <a:r>
                <a:rPr lang="en-US" altLang="ko-KR" sz="700" dirty="0">
                  <a:latin typeface="+mn-ea"/>
                </a:rPr>
                <a:t>EFE00012-2</a:t>
              </a:r>
            </a:p>
            <a:p>
              <a:pPr>
                <a:lnSpc>
                  <a:spcPct val="200000"/>
                </a:lnSpc>
              </a:pPr>
              <a:r>
                <a:rPr lang="en-US" altLang="ko-KR" sz="700" dirty="0">
                  <a:latin typeface="맑은 고딕" panose="020B0503020000020004" pitchFamily="50" charset="-127"/>
                  <a:cs typeface="Segoe UI" panose="020B0502040204020203" pitchFamily="34" charset="0"/>
                </a:rPr>
                <a:t>2025</a:t>
              </a:r>
            </a:p>
            <a:p>
              <a:pPr>
                <a:lnSpc>
                  <a:spcPct val="200000"/>
                </a:lnSpc>
              </a:pPr>
              <a:r>
                <a:rPr lang="en-US" altLang="ko-KR" sz="700" dirty="0">
                  <a:latin typeface="맑은 고딕" panose="020B0503020000020004" pitchFamily="50" charset="-127"/>
                  <a:cs typeface="Segoe UI" panose="020B0502040204020203" pitchFamily="34" charset="0"/>
                </a:rPr>
                <a:t>BDF01823-002</a:t>
              </a:r>
            </a:p>
            <a:p>
              <a:pPr>
                <a:lnSpc>
                  <a:spcPct val="200000"/>
                </a:lnSpc>
              </a:pPr>
              <a:r>
                <a:rPr lang="en-US" altLang="ko-KR" sz="700" dirty="0">
                  <a:latin typeface="맑은 고딕" panose="020B0503020000020004" pitchFamily="50" charset="-127"/>
                  <a:cs typeface="Segoe UI" panose="020B0502040204020203" pitchFamily="34" charset="0"/>
                </a:rPr>
                <a:t>T-80U/TBE-3</a:t>
              </a:r>
            </a:p>
            <a:p>
              <a:pPr>
                <a:lnSpc>
                  <a:spcPct val="200000"/>
                </a:lnSpc>
              </a:pPr>
              <a:r>
                <a:rPr lang="ko-KR" altLang="en-US" sz="700" dirty="0">
                  <a:latin typeface="맑은 고딕" panose="020B0503020000020004" pitchFamily="50" charset="-127"/>
                  <a:cs typeface="Segoe UI" panose="020B0502040204020203" pitchFamily="34" charset="0"/>
                </a:rPr>
                <a:t>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미신청</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2025-12-23 10:00</a:t>
              </a: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790330" y="5835557"/>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4568551"/>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 name="직사각형 2"/>
          <p:cNvSpPr/>
          <p:nvPr/>
        </p:nvSpPr>
        <p:spPr>
          <a:xfrm>
            <a:off x="7072313" y="5975364"/>
            <a:ext cx="2363989" cy="29610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10000"/>
          </a:bodyPr>
          <a:lstStyle/>
          <a:p>
            <a:pPr algn="ctr"/>
            <a:r>
              <a:rPr lang="ko-KR" altLang="en-US" sz="700" dirty="0"/>
              <a:t>보관함 상세에서 품목 목록은 제거함</a:t>
            </a:r>
            <a:r>
              <a:rPr lang="en-US" altLang="ko-KR" sz="700" dirty="0"/>
              <a:t>.</a:t>
            </a:r>
          </a:p>
          <a:p>
            <a:pPr algn="ctr"/>
            <a:r>
              <a:rPr lang="ko-KR" altLang="en-US" sz="700" dirty="0"/>
              <a:t>품목 목록은 </a:t>
            </a:r>
            <a:r>
              <a:rPr lang="en-US" altLang="ko-KR" sz="700" dirty="0"/>
              <a:t>+ </a:t>
            </a:r>
            <a:r>
              <a:rPr lang="ko-KR" altLang="en-US" sz="700" dirty="0"/>
              <a:t>버튼을 눌러 내역 작성에서 처리</a:t>
            </a:r>
          </a:p>
        </p:txBody>
      </p:sp>
      <p:grpSp>
        <p:nvGrpSpPr>
          <p:cNvPr id="124" name="그룹 123"/>
          <p:cNvGrpSpPr/>
          <p:nvPr/>
        </p:nvGrpSpPr>
        <p:grpSpPr>
          <a:xfrm>
            <a:off x="8223250" y="569392"/>
            <a:ext cx="3365500" cy="634511"/>
            <a:chOff x="8223250" y="569392"/>
            <a:chExt cx="3365500" cy="634511"/>
          </a:xfrm>
        </p:grpSpPr>
        <p:sp>
          <p:nvSpPr>
            <p:cNvPr id="125" name="직사각형 12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2026-06-22 </a:t>
              </a:r>
              <a:r>
                <a:rPr lang="ko-KR" altLang="en-US" dirty="0" smtClean="0"/>
                <a:t>화면 </a:t>
              </a:r>
              <a:r>
                <a:rPr lang="ko-KR" altLang="en-US" dirty="0"/>
                <a:t>수정</a:t>
              </a:r>
            </a:p>
          </p:txBody>
        </p:sp>
        <p:sp>
          <p:nvSpPr>
            <p:cNvPr id="126" name="직사각형 125"/>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t">
              <a:noAutofit/>
            </a:bodyPr>
            <a:lstStyle/>
            <a:p>
              <a:pPr marL="228600" indent="-228600">
                <a:buAutoNum type="arabicPeriod"/>
              </a:pPr>
              <a:r>
                <a:rPr lang="ko-KR" altLang="en-US" sz="700" dirty="0" err="1" smtClean="0"/>
                <a:t>우측화면</a:t>
              </a:r>
              <a:r>
                <a:rPr lang="ko-KR" altLang="en-US" sz="700" dirty="0" smtClean="0"/>
                <a:t> 상단 헤더 고정 영역 제거</a:t>
              </a:r>
              <a:endParaRPr lang="en-US" altLang="ko-KR" sz="700" dirty="0"/>
            </a:p>
          </p:txBody>
        </p:sp>
      </p:grpSp>
      <p:grpSp>
        <p:nvGrpSpPr>
          <p:cNvPr id="121" name="그룹 120"/>
          <p:cNvGrpSpPr/>
          <p:nvPr/>
        </p:nvGrpSpPr>
        <p:grpSpPr>
          <a:xfrm>
            <a:off x="677960" y="1582647"/>
            <a:ext cx="2714637" cy="686386"/>
            <a:chOff x="677960" y="1582647"/>
            <a:chExt cx="2714637" cy="686386"/>
          </a:xfrm>
        </p:grpSpPr>
        <p:sp>
          <p:nvSpPr>
            <p:cNvPr id="122" name="TextBox 121">
              <a:extLst>
                <a:ext uri="{FF2B5EF4-FFF2-40B4-BE49-F238E27FC236}">
                  <a16:creationId xmlns:a16="http://schemas.microsoft.com/office/drawing/2014/main" id="{FFC49AEA-2A8F-250C-A86A-A7751D9706C3}"/>
                </a:ext>
              </a:extLst>
            </p:cNvPr>
            <p:cNvSpPr txBox="1"/>
            <p:nvPr/>
          </p:nvSpPr>
          <p:spPr>
            <a:xfrm>
              <a:off x="1000027" y="2030452"/>
              <a:ext cx="2062770" cy="123111"/>
            </a:xfrm>
            <a:prstGeom prst="rect">
              <a:avLst/>
            </a:prstGeom>
            <a:noFill/>
          </p:spPr>
          <p:txBody>
            <a:bodyPr wrap="square" lIns="0" tIns="0" rIns="0" bIns="0" rtlCol="0">
              <a:spAutoFit/>
            </a:bodyPr>
            <a:lstStyle/>
            <a:p>
              <a:pPr algn="ctr"/>
              <a:r>
                <a:rPr lang="ko-KR" altLang="en-US" sz="800" dirty="0">
                  <a:latin typeface="+mn-ea"/>
                </a:rPr>
                <a:t>국외 보관함 상세</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9" name="그룹 128"/>
            <p:cNvGrpSpPr/>
            <p:nvPr/>
          </p:nvGrpSpPr>
          <p:grpSpPr>
            <a:xfrm rot="5400000">
              <a:off x="852159" y="2062596"/>
              <a:ext cx="94010" cy="47005"/>
              <a:chOff x="6812560" y="3297172"/>
              <a:chExt cx="94010" cy="47005"/>
            </a:xfrm>
          </p:grpSpPr>
          <p:cxnSp>
            <p:nvCxnSpPr>
              <p:cNvPr id="136" name="직선 연결선 13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7" name="직선 연결선 13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30" name="그룹 129"/>
            <p:cNvGrpSpPr/>
            <p:nvPr/>
          </p:nvGrpSpPr>
          <p:grpSpPr>
            <a:xfrm>
              <a:off x="677960" y="1582647"/>
              <a:ext cx="2712027" cy="324286"/>
              <a:chOff x="677960" y="1582647"/>
              <a:chExt cx="2712027" cy="324286"/>
            </a:xfrm>
          </p:grpSpPr>
          <p:pic>
            <p:nvPicPr>
              <p:cNvPr id="131"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2" name="직선 연결선 131">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타원 132"/>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타원 133"/>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타원 134"/>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138" name="그룹 137"/>
          <p:cNvGrpSpPr/>
          <p:nvPr/>
        </p:nvGrpSpPr>
        <p:grpSpPr>
          <a:xfrm>
            <a:off x="8223250" y="804408"/>
            <a:ext cx="3365500" cy="634511"/>
            <a:chOff x="8223250" y="569392"/>
            <a:chExt cx="3365500" cy="634511"/>
          </a:xfrm>
        </p:grpSpPr>
        <p:sp>
          <p:nvSpPr>
            <p:cNvPr id="139" name="직사각형 138"/>
            <p:cNvSpPr/>
            <p:nvPr/>
          </p:nvSpPr>
          <p:spPr>
            <a:xfrm>
              <a:off x="8223250" y="569392"/>
              <a:ext cx="1682750" cy="219465"/>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b="1" dirty="0" smtClean="0"/>
                <a:t>2026-07-06 </a:t>
              </a:r>
              <a:r>
                <a:rPr lang="ko-KR" altLang="en-US" b="1" dirty="0" smtClean="0"/>
                <a:t>삭제 화면</a:t>
              </a:r>
              <a:endParaRPr lang="ko-KR" altLang="en-US" b="1" dirty="0"/>
            </a:p>
          </p:txBody>
        </p:sp>
        <p:sp>
          <p:nvSpPr>
            <p:cNvPr id="140" name="직사각형 139"/>
            <p:cNvSpPr/>
            <p:nvPr/>
          </p:nvSpPr>
          <p:spPr>
            <a:xfrm>
              <a:off x="9906000" y="569392"/>
              <a:ext cx="1682750" cy="634511"/>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t">
              <a:noAutofit/>
            </a:bodyPr>
            <a:lstStyle/>
            <a:p>
              <a:pPr marL="228600" indent="-228600">
                <a:buAutoNum type="arabicPeriod"/>
              </a:pPr>
              <a:r>
                <a:rPr lang="en-US" altLang="ko-KR" sz="700" dirty="0" smtClean="0"/>
                <a:t>PC </a:t>
              </a:r>
              <a:r>
                <a:rPr lang="ko-KR" altLang="en-US" sz="700" dirty="0" smtClean="0"/>
                <a:t>버전에서 상세 내역이 삭제됨</a:t>
              </a:r>
              <a:r>
                <a:rPr lang="en-US" altLang="ko-KR" sz="700" dirty="0" smtClean="0"/>
                <a:t>.</a:t>
              </a:r>
            </a:p>
            <a:p>
              <a:pPr marL="228600" indent="-228600">
                <a:buAutoNum type="arabicPeriod"/>
              </a:pPr>
              <a:r>
                <a:rPr lang="ko-KR" altLang="en-US" sz="700" dirty="0" smtClean="0"/>
                <a:t>보관한 품목 관리에서 일원 관리</a:t>
              </a:r>
              <a:endParaRPr lang="en-US" altLang="ko-KR" sz="700" dirty="0"/>
            </a:p>
          </p:txBody>
        </p:sp>
      </p:grpSp>
      <p:cxnSp>
        <p:nvCxnSpPr>
          <p:cNvPr id="141" name="직선 연결선 140"/>
          <p:cNvCxnSpPr/>
          <p:nvPr/>
        </p:nvCxnSpPr>
        <p:spPr>
          <a:xfrm flipH="1">
            <a:off x="391886" y="853440"/>
            <a:ext cx="9178834" cy="547304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7930282"/>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보관함에 추가한 공고 상세 정보를 조회하는 화면</a:t>
            </a:r>
            <a:r>
              <a:rPr lang="ko-KR" altLang="en-US" dirty="0"/>
              <a:t>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3552487"/>
            <a:chOff x="701175" y="1527996"/>
            <a:chExt cx="2630093" cy="3552487"/>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3245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1723549"/>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p>
            <a:p>
              <a:pPr>
                <a:lnSpc>
                  <a:spcPct val="200000"/>
                </a:lnSpc>
              </a:pPr>
              <a:r>
                <a:rPr lang="ko-KR" altLang="en-US" sz="700" dirty="0" err="1">
                  <a:latin typeface="+mn-ea"/>
                </a:rPr>
                <a:t>공고번호</a:t>
              </a:r>
              <a:r>
                <a:rPr lang="ko-KR" altLang="en-US" sz="700" dirty="0">
                  <a:latin typeface="+mn-ea"/>
                </a:rPr>
                <a:t> </a:t>
              </a:r>
              <a:r>
                <a:rPr lang="en-US" altLang="ko-KR" sz="700" dirty="0">
                  <a:latin typeface="+mn-ea"/>
                </a:rPr>
                <a:t>- </a:t>
              </a:r>
              <a:r>
                <a:rPr lang="ko-KR" altLang="en-US" sz="700" dirty="0">
                  <a:latin typeface="+mn-ea"/>
                </a:rPr>
                <a:t>차수</a:t>
              </a:r>
            </a:p>
            <a:p>
              <a:pPr>
                <a:lnSpc>
                  <a:spcPct val="200000"/>
                </a:lnSpc>
              </a:pPr>
              <a:r>
                <a:rPr lang="ko-KR" altLang="en-US" sz="700" dirty="0" err="1">
                  <a:latin typeface="+mn-ea"/>
                </a:rPr>
                <a:t>공고년도</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입찰내역작성여부</a:t>
              </a: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a:latin typeface="+mn-ea"/>
                </a:rPr>
                <a:t>입찰참가신청여부</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3231654"/>
            </a:xfrm>
            <a:prstGeom prst="rect">
              <a:avLst/>
            </a:prstGeom>
            <a:noFill/>
          </p:spPr>
          <p:txBody>
            <a:bodyPr wrap="square" lIns="0" tIns="0" rIns="0" bIns="0" rtlCol="0">
              <a:spAutoFit/>
            </a:bodyPr>
            <a:lstStyle/>
            <a:p>
              <a:pPr>
                <a:lnSpc>
                  <a:spcPct val="200000"/>
                </a:lnSpc>
              </a:pPr>
              <a:r>
                <a:rPr lang="en-US" altLang="ko-KR" sz="700" dirty="0">
                  <a:latin typeface="+mn-ea"/>
                </a:rPr>
                <a:t>BDF01823EFE</a:t>
              </a:r>
            </a:p>
            <a:p>
              <a:pPr>
                <a:lnSpc>
                  <a:spcPct val="200000"/>
                </a:lnSpc>
              </a:pPr>
              <a:r>
                <a:rPr lang="en-US" altLang="ko-KR" sz="700" dirty="0">
                  <a:latin typeface="+mn-ea"/>
                </a:rPr>
                <a:t>EFE00012-2</a:t>
              </a:r>
            </a:p>
            <a:p>
              <a:pPr>
                <a:lnSpc>
                  <a:spcPct val="200000"/>
                </a:lnSpc>
              </a:pPr>
              <a:r>
                <a:rPr lang="en-US" altLang="ko-KR" sz="700" dirty="0">
                  <a:latin typeface="맑은 고딕" panose="020B0503020000020004" pitchFamily="50" charset="-127"/>
                  <a:cs typeface="Segoe UI" panose="020B0502040204020203" pitchFamily="34" charset="0"/>
                </a:rPr>
                <a:t>2025</a:t>
              </a:r>
            </a:p>
            <a:p>
              <a:pPr>
                <a:lnSpc>
                  <a:spcPct val="200000"/>
                </a:lnSpc>
              </a:pPr>
              <a:r>
                <a:rPr lang="en-US" altLang="ko-KR" sz="700" dirty="0">
                  <a:latin typeface="맑은 고딕" panose="020B0503020000020004" pitchFamily="50" charset="-127"/>
                  <a:cs typeface="Segoe UI" panose="020B0502040204020203" pitchFamily="34" charset="0"/>
                </a:rPr>
                <a:t>BDF01823-002</a:t>
              </a:r>
            </a:p>
            <a:p>
              <a:pPr>
                <a:lnSpc>
                  <a:spcPct val="200000"/>
                </a:lnSpc>
              </a:pPr>
              <a:r>
                <a:rPr lang="en-US" altLang="ko-KR" sz="700" dirty="0">
                  <a:latin typeface="맑은 고딕" panose="020B0503020000020004" pitchFamily="50" charset="-127"/>
                  <a:cs typeface="Segoe UI" panose="020B0502040204020203" pitchFamily="34" charset="0"/>
                </a:rPr>
                <a:t>T-80U/TBE-3</a:t>
              </a:r>
            </a:p>
            <a:p>
              <a:pPr>
                <a:lnSpc>
                  <a:spcPct val="200000"/>
                </a:lnSpc>
              </a:pPr>
              <a:r>
                <a:rPr lang="ko-KR" altLang="en-US" sz="700" dirty="0">
                  <a:latin typeface="맑은 고딕" panose="020B0503020000020004" pitchFamily="50" charset="-127"/>
                  <a:cs typeface="Segoe UI" panose="020B0502040204020203" pitchFamily="34" charset="0"/>
                </a:rPr>
                <a:t>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미신청</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2026-03-17 15:00</a:t>
              </a:r>
            </a:p>
            <a:p>
              <a:pPr>
                <a:lnSpc>
                  <a:spcPct val="200000"/>
                </a:lnSpc>
              </a:pPr>
              <a:r>
                <a:rPr lang="en-US" altLang="ko-KR" sz="700" dirty="0">
                  <a:latin typeface="+mn-ea"/>
                </a:rPr>
                <a:t>2026-03-26 11:00</a:t>
              </a:r>
            </a:p>
            <a:p>
              <a:pPr>
                <a:lnSpc>
                  <a:spcPct val="200000"/>
                </a:lnSpc>
              </a:pPr>
              <a:r>
                <a:rPr lang="en-US" altLang="ko-KR" sz="700" dirty="0">
                  <a:latin typeface="+mn-ea"/>
                </a:rPr>
                <a:t>2026-03-30</a:t>
              </a:r>
            </a:p>
            <a:p>
              <a:pPr>
                <a:lnSpc>
                  <a:spcPct val="200000"/>
                </a:lnSpc>
              </a:pPr>
              <a:r>
                <a:rPr lang="en-US" altLang="ko-KR" sz="700" dirty="0">
                  <a:latin typeface="+mn-ea"/>
                </a:rPr>
                <a:t>2026-03-17</a:t>
              </a:r>
            </a:p>
            <a:p>
              <a:pPr>
                <a:lnSpc>
                  <a:spcPct val="200000"/>
                </a:lnSpc>
              </a:pPr>
              <a:r>
                <a:rPr lang="ko-KR" altLang="en-US" sz="700" dirty="0" err="1">
                  <a:latin typeface="+mn-ea"/>
                </a:rPr>
                <a:t>일반투찰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en-US" altLang="ko-KR" sz="700" dirty="0">
                  <a:latin typeface="+mn-ea"/>
                </a:rPr>
                <a:t>100</a:t>
              </a:r>
            </a:p>
          </p:txBody>
        </p:sp>
        <p:grpSp>
          <p:nvGrpSpPr>
            <p:cNvPr id="17" name="그룹 16"/>
            <p:cNvGrpSpPr/>
            <p:nvPr/>
          </p:nvGrpSpPr>
          <p:grpSpPr>
            <a:xfrm>
              <a:off x="701175" y="1835481"/>
              <a:ext cx="2630093" cy="3245002"/>
              <a:chOff x="701175" y="1835481"/>
              <a:chExt cx="2630093" cy="3245002"/>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5" name="직선 연결선 54">
                <a:extLst>
                  <a:ext uri="{FF2B5EF4-FFF2-40B4-BE49-F238E27FC236}">
                    <a16:creationId xmlns:a16="http://schemas.microsoft.com/office/drawing/2014/main" id="{E9293055-D5CD-4B9E-7F64-64B2D2CA7A52}"/>
                  </a:ext>
                </a:extLst>
              </p:cNvPr>
              <p:cNvCxnSpPr/>
              <p:nvPr/>
            </p:nvCxnSpPr>
            <p:spPr>
              <a:xfrm>
                <a:off x="703268" y="50804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3553401"/>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3770489"/>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54" name="TextBox 53">
              <a:extLst>
                <a:ext uri="{FF2B5EF4-FFF2-40B4-BE49-F238E27FC236}">
                  <a16:creationId xmlns:a16="http://schemas.microsoft.com/office/drawing/2014/main" id="{FFC49AEA-2A8F-250C-A86A-A7751D9706C3}"/>
                </a:ext>
              </a:extLst>
            </p:cNvPr>
            <p:cNvSpPr txBox="1"/>
            <p:nvPr/>
          </p:nvSpPr>
          <p:spPr>
            <a:xfrm>
              <a:off x="790330" y="3957309"/>
              <a:ext cx="728979" cy="1077218"/>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err="1">
                  <a:latin typeface="+mn-ea"/>
                </a:rPr>
                <a:t>환율일자</a:t>
              </a:r>
              <a:endParaRPr lang="ko-KR" altLang="en-US" sz="700" dirty="0">
                <a:latin typeface="+mn-ea"/>
              </a:endParaRPr>
            </a:p>
            <a:p>
              <a:pPr>
                <a:lnSpc>
                  <a:spcPct val="200000"/>
                </a:lnSpc>
              </a:pPr>
              <a:r>
                <a:rPr lang="ko-KR" altLang="en-US" sz="700" dirty="0">
                  <a:latin typeface="+mn-ea"/>
                </a:rPr>
                <a:t>입찰방식</a:t>
              </a:r>
              <a:endParaRPr lang="en-US" altLang="ko-KR" sz="700" dirty="0">
                <a:latin typeface="+mn-ea"/>
              </a:endParaRPr>
            </a:p>
            <a:p>
              <a:pPr>
                <a:lnSpc>
                  <a:spcPct val="200000"/>
                </a:lnSpc>
              </a:pPr>
              <a:r>
                <a:rPr lang="ko-KR" altLang="en-US" sz="700" dirty="0" err="1">
                  <a:latin typeface="+mn-ea"/>
                </a:rPr>
                <a:t>계약방식</a:t>
              </a:r>
              <a:endParaRPr lang="ko-KR" altLang="en-US" sz="700" dirty="0">
                <a:latin typeface="+mn-ea"/>
              </a:endParaRPr>
            </a:p>
            <a:p>
              <a:pPr>
                <a:lnSpc>
                  <a:spcPct val="200000"/>
                </a:lnSpc>
              </a:pPr>
              <a:r>
                <a:rPr lang="ko-KR" altLang="en-US" sz="700" dirty="0" err="1">
                  <a:latin typeface="+mn-ea"/>
                </a:rPr>
                <a:t>보관품목수</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3795735" y="1527996"/>
            <a:ext cx="2712026" cy="899454"/>
            <a:chOff x="3795735" y="4615832"/>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4729163"/>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grpSp>
        <p:nvGrpSpPr>
          <p:cNvPr id="53" name="그룹 52"/>
          <p:cNvGrpSpPr/>
          <p:nvPr/>
        </p:nvGrpSpPr>
        <p:grpSpPr>
          <a:xfrm>
            <a:off x="8223250" y="569392"/>
            <a:ext cx="3365500" cy="634511"/>
            <a:chOff x="8223250" y="569392"/>
            <a:chExt cx="3365500" cy="634511"/>
          </a:xfrm>
        </p:grpSpPr>
        <p:sp>
          <p:nvSpPr>
            <p:cNvPr id="56" name="직사각형 55"/>
            <p:cNvSpPr/>
            <p:nvPr/>
          </p:nvSpPr>
          <p:spPr>
            <a:xfrm>
              <a:off x="8223250" y="569392"/>
              <a:ext cx="1682750" cy="219465"/>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b="1" dirty="0" smtClean="0"/>
                <a:t>2026-07-06 </a:t>
              </a:r>
              <a:r>
                <a:rPr lang="ko-KR" altLang="en-US" b="1" dirty="0" smtClean="0"/>
                <a:t>삭제 화면</a:t>
              </a:r>
              <a:endParaRPr lang="ko-KR" altLang="en-US" b="1" dirty="0"/>
            </a:p>
          </p:txBody>
        </p:sp>
        <p:sp>
          <p:nvSpPr>
            <p:cNvPr id="57" name="직사각형 56"/>
            <p:cNvSpPr/>
            <p:nvPr/>
          </p:nvSpPr>
          <p:spPr>
            <a:xfrm>
              <a:off x="9906000" y="569392"/>
              <a:ext cx="1682750" cy="634511"/>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en-US" altLang="ko-KR" sz="700" dirty="0"/>
                <a:t>PC </a:t>
              </a:r>
              <a:r>
                <a:rPr lang="ko-KR" altLang="en-US" sz="700" dirty="0"/>
                <a:t>버전에서 상세 내역이 삭제됨</a:t>
              </a:r>
              <a:r>
                <a:rPr lang="en-US" altLang="ko-KR" sz="700" dirty="0"/>
                <a:t>.</a:t>
              </a:r>
            </a:p>
            <a:p>
              <a:pPr marL="228600" indent="-228600">
                <a:buAutoNum type="arabicPeriod"/>
              </a:pPr>
              <a:r>
                <a:rPr lang="ko-KR" altLang="en-US" sz="700" dirty="0"/>
                <a:t>보관한 품목 관리에서 일원 관리</a:t>
              </a:r>
              <a:endParaRPr lang="en-US" altLang="ko-KR" sz="700" dirty="0"/>
            </a:p>
          </p:txBody>
        </p:sp>
      </p:grpSp>
      <p:cxnSp>
        <p:nvCxnSpPr>
          <p:cNvPr id="58" name="직선 연결선 57"/>
          <p:cNvCxnSpPr/>
          <p:nvPr/>
        </p:nvCxnSpPr>
        <p:spPr>
          <a:xfrm flipH="1">
            <a:off x="391886" y="853440"/>
            <a:ext cx="9178834" cy="547304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7843793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상세 </a:t>
            </a:r>
            <a:r>
              <a:rPr lang="en-US" altLang="ko-KR" dirty="0">
                <a:latin typeface="+mn-ea"/>
              </a:rPr>
              <a:t>– </a:t>
            </a:r>
            <a:r>
              <a:rPr lang="ko-KR" altLang="en-US" dirty="0">
                <a:latin typeface="+mn-ea"/>
              </a:rPr>
              <a:t>품목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en-US" altLang="ko-KR" dirty="0">
                <a:latin typeface="+mn-ea"/>
              </a:rPr>
              <a:t>[</a:t>
            </a:r>
            <a:r>
              <a:rPr lang="ko-KR" altLang="en-US" dirty="0" err="1">
                <a:latin typeface="+mn-ea"/>
              </a:rPr>
              <a:t>단가제</a:t>
            </a:r>
            <a:r>
              <a:rPr lang="en-US" altLang="ko-KR" dirty="0">
                <a:latin typeface="+mn-ea"/>
              </a:rPr>
              <a:t>] </a:t>
            </a:r>
            <a:r>
              <a:rPr lang="ko-KR" altLang="en-US" dirty="0">
                <a:latin typeface="+mn-ea"/>
              </a:rPr>
              <a:t>공고입찰품목 중 보관함에 품목을 추가 및 삭제하는 화면</a:t>
            </a:r>
            <a:r>
              <a:rPr lang="ko-KR" altLang="en-US" dirty="0"/>
              <a:t> </a:t>
            </a:r>
            <a:r>
              <a:rPr lang="en-US" altLang="ko-KR" dirty="0"/>
              <a:t>– </a:t>
            </a:r>
            <a:r>
              <a:rPr lang="ko-KR" altLang="en-US" dirty="0">
                <a:latin typeface="+mn-ea"/>
              </a:rPr>
              <a:t>품목 목록</a:t>
            </a:r>
            <a:r>
              <a:rPr lang="ko-KR" altLang="en-US" dirty="0"/>
              <a:t>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품목 목록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MUI-CM-01-M72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4704303"/>
            <a:chOff x="701175" y="1527996"/>
            <a:chExt cx="2630093" cy="47043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4274568"/>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84088" cy="430887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Replace</a:t>
              </a:r>
            </a:p>
            <a:p>
              <a:pPr>
                <a:lnSpc>
                  <a:spcPct val="200000"/>
                </a:lnSpc>
              </a:pPr>
              <a:r>
                <a:rPr lang="en-US" altLang="ko-KR" sz="700" dirty="0">
                  <a:latin typeface="+mn-ea"/>
                </a:rPr>
                <a:t>O</a:t>
              </a:r>
            </a:p>
            <a:p>
              <a:pPr>
                <a:lnSpc>
                  <a:spcPct val="200000"/>
                </a:lnSpc>
              </a:pPr>
              <a:r>
                <a:rPr lang="en-US" altLang="ko-KR" sz="700" dirty="0">
                  <a:latin typeface="+mn-ea"/>
                </a:rPr>
                <a:t>1</a:t>
              </a:r>
            </a:p>
            <a:p>
              <a:pPr>
                <a:lnSpc>
                  <a:spcPct val="200000"/>
                </a:lnSpc>
              </a:pPr>
              <a:r>
                <a:rPr lang="en-US" altLang="ko-KR" sz="700" dirty="0">
                  <a:latin typeface="+mn-ea"/>
                </a:rPr>
                <a:t>2</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latin typeface="+mn-ea"/>
                </a:rPr>
                <a:t>O</a:t>
              </a:r>
            </a:p>
            <a:p>
              <a:pPr>
                <a:lnSpc>
                  <a:spcPct val="200000"/>
                </a:lnSpc>
              </a:pPr>
              <a:r>
                <a:rPr lang="en-US" altLang="ko-KR" sz="700" dirty="0">
                  <a:latin typeface="+mn-ea"/>
                </a:rPr>
                <a:t>2025-03-25</a:t>
              </a:r>
            </a:p>
            <a:p>
              <a:pPr>
                <a:lnSpc>
                  <a:spcPct val="200000"/>
                </a:lnSpc>
              </a:pPr>
              <a:r>
                <a:rPr lang="en-US" altLang="ko-KR" sz="700" dirty="0">
                  <a:latin typeface="+mn-ea"/>
                </a:rPr>
                <a:t>2025-03-25</a:t>
              </a:r>
            </a:p>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r>
                <a:rPr lang="en-US" altLang="ko-KR" sz="700" dirty="0">
                  <a:latin typeface="+mn-ea"/>
                </a:rPr>
                <a:t>608,000.00</a:t>
              </a:r>
            </a:p>
            <a:p>
              <a:pPr algn="r">
                <a:lnSpc>
                  <a:spcPct val="200000"/>
                </a:lnSpc>
              </a:pPr>
              <a:r>
                <a:rPr lang="en-US" altLang="ko-KR" sz="700" dirty="0">
                  <a:latin typeface="+mn-ea"/>
                </a:rPr>
                <a:t>608,000.00</a:t>
              </a:r>
            </a:p>
          </p:txBody>
        </p:sp>
        <p:grpSp>
          <p:nvGrpSpPr>
            <p:cNvPr id="17" name="그룹 16"/>
            <p:cNvGrpSpPr/>
            <p:nvPr/>
          </p:nvGrpSpPr>
          <p:grpSpPr>
            <a:xfrm>
              <a:off x="701175" y="1835481"/>
              <a:ext cx="2630093" cy="4286740"/>
              <a:chOff x="701175" y="1835481"/>
              <a:chExt cx="2630093" cy="42867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56927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59074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6122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7"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5113316" y="3483247"/>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18" name="TextBox 11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19" name="그룹 118"/>
          <p:cNvGrpSpPr/>
          <p:nvPr/>
        </p:nvGrpSpPr>
        <p:grpSpPr>
          <a:xfrm>
            <a:off x="3821510" y="1493927"/>
            <a:ext cx="2630093" cy="703814"/>
            <a:chOff x="701175" y="1800647"/>
            <a:chExt cx="2630093" cy="703814"/>
          </a:xfrm>
        </p:grpSpPr>
        <p:sp>
          <p:nvSpPr>
            <p:cNvPr id="122" name="직사각형 121"/>
            <p:cNvSpPr/>
            <p:nvPr/>
          </p:nvSpPr>
          <p:spPr>
            <a:xfrm>
              <a:off x="703268" y="1800647"/>
              <a:ext cx="792000" cy="70381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125" name="그룹 124"/>
            <p:cNvGrpSpPr/>
            <p:nvPr/>
          </p:nvGrpSpPr>
          <p:grpSpPr>
            <a:xfrm>
              <a:off x="701175" y="1835481"/>
              <a:ext cx="2630093" cy="668980"/>
              <a:chOff x="701175" y="1835481"/>
              <a:chExt cx="2630093" cy="668980"/>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3268" y="25044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6" name="그룹 55"/>
          <p:cNvGrpSpPr/>
          <p:nvPr/>
        </p:nvGrpSpPr>
        <p:grpSpPr>
          <a:xfrm>
            <a:off x="8223250" y="569392"/>
            <a:ext cx="3365500" cy="634511"/>
            <a:chOff x="8223250" y="569392"/>
            <a:chExt cx="3365500" cy="634511"/>
          </a:xfrm>
        </p:grpSpPr>
        <p:sp>
          <p:nvSpPr>
            <p:cNvPr id="57" name="직사각형 56"/>
            <p:cNvSpPr/>
            <p:nvPr/>
          </p:nvSpPr>
          <p:spPr>
            <a:xfrm>
              <a:off x="8223250" y="569392"/>
              <a:ext cx="1682750" cy="219465"/>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b="1" dirty="0" smtClean="0"/>
                <a:t>2026-06-22 </a:t>
              </a:r>
              <a:r>
                <a:rPr lang="ko-KR" altLang="en-US" b="1" dirty="0" smtClean="0"/>
                <a:t>삭제 화면</a:t>
              </a:r>
              <a:endParaRPr lang="ko-KR" altLang="en-US" b="1" dirty="0"/>
            </a:p>
          </p:txBody>
        </p:sp>
        <p:sp>
          <p:nvSpPr>
            <p:cNvPr id="58" name="직사각형 57"/>
            <p:cNvSpPr/>
            <p:nvPr/>
          </p:nvSpPr>
          <p:spPr>
            <a:xfrm>
              <a:off x="9906000" y="569392"/>
              <a:ext cx="1682750" cy="634511"/>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en-US" altLang="ko-KR" sz="700" dirty="0" smtClean="0"/>
                <a:t>PC </a:t>
              </a:r>
              <a:r>
                <a:rPr lang="ko-KR" altLang="en-US" sz="700" dirty="0" smtClean="0"/>
                <a:t>버전에서 상세 내역에 품목 목록이 삭제됨</a:t>
              </a:r>
              <a:r>
                <a:rPr lang="en-US" altLang="ko-KR" sz="700" dirty="0" smtClean="0"/>
                <a:t>.</a:t>
              </a:r>
            </a:p>
            <a:p>
              <a:pPr marL="228600" indent="-228600">
                <a:buAutoNum type="arabicPeriod"/>
              </a:pPr>
              <a:r>
                <a:rPr lang="ko-KR" altLang="en-US" sz="700" dirty="0" smtClean="0"/>
                <a:t>보관한 품목 관리에서 일원 관리</a:t>
              </a:r>
              <a:endParaRPr lang="en-US" altLang="ko-KR" sz="700" dirty="0"/>
            </a:p>
          </p:txBody>
        </p:sp>
      </p:grpSp>
      <p:cxnSp>
        <p:nvCxnSpPr>
          <p:cNvPr id="5" name="직선 연결선 4"/>
          <p:cNvCxnSpPr/>
          <p:nvPr/>
        </p:nvCxnSpPr>
        <p:spPr>
          <a:xfrm flipH="1">
            <a:off x="391886" y="853440"/>
            <a:ext cx="9178834" cy="547304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9080623"/>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검색영역</a:t>
            </a:r>
            <a:endParaRPr lang="en-US" altLang="ko-KR" dirty="0"/>
          </a:p>
          <a:p>
            <a:pPr marL="228600" indent="-228600">
              <a:buFont typeface="+mj-lt"/>
              <a:buAutoNum type="arabicPeriod"/>
            </a:pPr>
            <a:r>
              <a:rPr lang="ko-KR" altLang="en-US" dirty="0"/>
              <a:t>건수</a:t>
            </a:r>
            <a:r>
              <a:rPr lang="en-US" altLang="ko-KR" dirty="0"/>
              <a:t>, </a:t>
            </a:r>
            <a:r>
              <a:rPr lang="ko-KR" altLang="en-US" dirty="0"/>
              <a:t>개수 표시</a:t>
            </a:r>
            <a:endParaRPr lang="en-US" altLang="ko-KR" dirty="0"/>
          </a:p>
          <a:p>
            <a:pPr marL="228600" indent="-228600">
              <a:buFont typeface="+mj-lt"/>
              <a:buAutoNum type="arabicPeriod"/>
            </a:pPr>
            <a:r>
              <a:rPr lang="ko-KR" altLang="en-US" dirty="0"/>
              <a:t>품목 목록 표시</a:t>
            </a:r>
            <a:r>
              <a:rPr lang="en-US" altLang="ko-KR" dirty="0"/>
              <a:t/>
            </a:r>
            <a:br>
              <a:rPr lang="en-US" altLang="ko-KR" dirty="0"/>
            </a:br>
            <a:r>
              <a:rPr lang="en-US" altLang="ko-KR" dirty="0"/>
              <a:t>- </a:t>
            </a:r>
            <a:r>
              <a:rPr lang="ko-KR" altLang="en-US" dirty="0"/>
              <a:t>상세 페이지 없음</a:t>
            </a:r>
            <a:r>
              <a:rPr lang="en-US" altLang="ko-KR" dirty="0"/>
              <a:t>.</a:t>
            </a:r>
            <a:br>
              <a:rPr lang="en-US" altLang="ko-KR" dirty="0"/>
            </a:br>
            <a:r>
              <a:rPr lang="en-US" altLang="ko-KR" dirty="0"/>
              <a:t>- </a:t>
            </a:r>
            <a:r>
              <a:rPr lang="ko-KR" altLang="en-US" dirty="0" err="1"/>
              <a:t>클릭시</a:t>
            </a:r>
            <a:r>
              <a:rPr lang="ko-KR" altLang="en-US" dirty="0"/>
              <a:t> 선택 활성</a:t>
            </a:r>
            <a:r>
              <a:rPr lang="en-US" altLang="ko-KR" dirty="0"/>
              <a:t>/</a:t>
            </a:r>
            <a:r>
              <a:rPr lang="ko-KR" altLang="en-US" dirty="0" smtClean="0"/>
              <a:t>비활성</a:t>
            </a:r>
            <a:r>
              <a:rPr lang="en-US" altLang="ko-KR" dirty="0"/>
              <a:t/>
            </a:r>
            <a:br>
              <a:rPr lang="en-US" altLang="ko-KR" dirty="0"/>
            </a:br>
            <a:r>
              <a:rPr lang="en-US" altLang="ko-KR" dirty="0" smtClean="0"/>
              <a:t>- </a:t>
            </a:r>
            <a:r>
              <a:rPr lang="ko-KR" altLang="en-US" dirty="0" smtClean="0"/>
              <a:t>보관함 품목 목록</a:t>
            </a:r>
            <a:r>
              <a:rPr lang="en-US" altLang="ko-KR" dirty="0" smtClean="0"/>
              <a:t/>
            </a:r>
            <a:br>
              <a:rPr lang="en-US" altLang="ko-KR" dirty="0" smtClean="0"/>
            </a:br>
            <a:r>
              <a:rPr lang="en-US" altLang="ko-KR" dirty="0" smtClean="0"/>
              <a:t>  &gt; </a:t>
            </a:r>
            <a:r>
              <a:rPr lang="ko-KR" altLang="en-US" dirty="0" smtClean="0"/>
              <a:t>보관함에 추가된 목록의 경우 보관함 삭제 버튼 표시</a:t>
            </a:r>
            <a:r>
              <a:rPr lang="en-US" altLang="ko-KR" dirty="0" smtClean="0"/>
              <a:t/>
            </a:r>
            <a:br>
              <a:rPr lang="en-US" altLang="ko-KR" dirty="0" smtClean="0"/>
            </a:br>
            <a:r>
              <a:rPr lang="en-US" altLang="ko-KR" dirty="0" smtClean="0"/>
              <a:t>  &gt; </a:t>
            </a:r>
            <a:r>
              <a:rPr lang="ko-KR" altLang="en-US" dirty="0" smtClean="0"/>
              <a:t>보관함에 추가되지 않은 항목은 보관함 추가 버튼 표시</a:t>
            </a:r>
            <a:endParaRPr lang="en-US" altLang="ko-KR" dirty="0"/>
          </a:p>
          <a:p>
            <a:pPr marL="228600" indent="-228600">
              <a:buFont typeface="+mj-lt"/>
              <a:buAutoNum type="arabicPeriod"/>
            </a:pPr>
            <a:r>
              <a:rPr lang="ko-KR" altLang="en-US" dirty="0" smtClean="0"/>
              <a:t>항목 선택이 </a:t>
            </a:r>
            <a:r>
              <a:rPr lang="ko-KR" altLang="en-US" dirty="0"/>
              <a:t>발생한 경우 </a:t>
            </a:r>
            <a:r>
              <a:rPr lang="ko-KR" altLang="en-US" dirty="0" smtClean="0"/>
              <a:t>일괄 버튼 표시</a:t>
            </a:r>
            <a:endParaRPr lang="en-US" altLang="ko-KR" dirty="0"/>
          </a:p>
          <a:p>
            <a:pPr marL="228600" indent="-228600">
              <a:buFont typeface="+mj-lt"/>
              <a:buAutoNum type="arabicPeriod"/>
            </a:pPr>
            <a:endParaRPr lang="en-US" altLang="ko-KR" dirty="0" smtClean="0"/>
          </a:p>
          <a:p>
            <a:pPr marL="228600" indent="-228600">
              <a:buFont typeface="+mj-lt"/>
              <a:buAutoNum type="arabicPeriod"/>
            </a:pPr>
            <a:endParaRPr lang="en-US" altLang="ko-KR" dirty="0"/>
          </a:p>
          <a:p>
            <a:pPr marL="228600" indent="-228600">
              <a:buFont typeface="+mj-lt"/>
              <a:buAutoNum type="arabicPeriod"/>
            </a:pPr>
            <a:r>
              <a:rPr lang="en-US" altLang="ko-KR" dirty="0" smtClean="0">
                <a:solidFill>
                  <a:srgbClr val="FF0000"/>
                </a:solidFill>
              </a:rPr>
              <a:t>[0818 </a:t>
            </a:r>
            <a:r>
              <a:rPr lang="ko-KR" altLang="en-US" dirty="0" smtClean="0">
                <a:solidFill>
                  <a:srgbClr val="FF0000"/>
                </a:solidFill>
              </a:rPr>
              <a:t>추가</a:t>
            </a:r>
            <a:r>
              <a:rPr lang="en-US" altLang="ko-KR" dirty="0" smtClean="0">
                <a:solidFill>
                  <a:srgbClr val="FF0000"/>
                </a:solidFill>
              </a:rPr>
              <a:t>]</a:t>
            </a:r>
            <a:r>
              <a:rPr lang="en-US" altLang="ko-KR" dirty="0" smtClean="0"/>
              <a:t> </a:t>
            </a:r>
            <a:r>
              <a:rPr lang="ko-KR" altLang="en-US" dirty="0" smtClean="0"/>
              <a:t>삭제 버튼 클릭 시 팝업 안내 </a:t>
            </a:r>
            <a:r>
              <a:rPr lang="en-US" altLang="ko-KR" dirty="0" smtClean="0"/>
              <a:t>–</a:t>
            </a:r>
            <a:br>
              <a:rPr lang="en-US" altLang="ko-KR" dirty="0" smtClean="0"/>
            </a:br>
            <a:r>
              <a:rPr lang="en-US" altLang="ko-KR" dirty="0" smtClean="0"/>
              <a:t>- </a:t>
            </a:r>
            <a:r>
              <a:rPr lang="ko-KR" altLang="en-US" dirty="0" err="1" smtClean="0"/>
              <a:t>입찰내역이</a:t>
            </a:r>
            <a:r>
              <a:rPr lang="ko-KR" altLang="en-US" dirty="0" smtClean="0"/>
              <a:t> 작성된 품목은 삭제가 불가능하며 팝업 안내 표시</a:t>
            </a:r>
            <a:r>
              <a:rPr lang="en-US" altLang="ko-KR" dirty="0" smtClean="0"/>
              <a:t/>
            </a:r>
            <a:br>
              <a:rPr lang="en-US" altLang="ko-KR" dirty="0" smtClean="0"/>
            </a:br>
            <a:r>
              <a:rPr lang="en-US" altLang="ko-KR" dirty="0" smtClean="0"/>
              <a:t>  &gt; </a:t>
            </a:r>
            <a:r>
              <a:rPr lang="ko-KR" altLang="en-US" dirty="0" err="1" smtClean="0"/>
              <a:t>입찰내역이</a:t>
            </a:r>
            <a:r>
              <a:rPr lang="ko-KR" altLang="en-US" dirty="0" smtClean="0"/>
              <a:t> </a:t>
            </a:r>
            <a:r>
              <a:rPr lang="ko-KR" altLang="en-US" dirty="0"/>
              <a:t>작성된 </a:t>
            </a:r>
            <a:r>
              <a:rPr lang="ko-KR" altLang="en-US" dirty="0" err="1"/>
              <a:t>입찰품목은</a:t>
            </a:r>
            <a:r>
              <a:rPr lang="ko-KR" altLang="en-US" dirty="0"/>
              <a:t> 보관함에서 삭제할 수 없습니다</a:t>
            </a:r>
            <a:r>
              <a:rPr lang="en-US" altLang="ko-KR" dirty="0"/>
              <a:t>. </a:t>
            </a:r>
            <a:r>
              <a:rPr lang="ko-KR" altLang="en-US" dirty="0" err="1"/>
              <a:t>입찰내역</a:t>
            </a:r>
            <a:r>
              <a:rPr lang="ko-KR" altLang="en-US" dirty="0"/>
              <a:t> 삭제를 먼저 진행해주시기 바랍니다</a:t>
            </a:r>
            <a:r>
              <a:rPr lang="en-US" altLang="ko-KR" dirty="0" smtClean="0"/>
              <a:t>. (</a:t>
            </a:r>
            <a:r>
              <a:rPr lang="ko-KR" altLang="en-US" dirty="0" smtClean="0"/>
              <a:t>확인</a:t>
            </a:r>
            <a:r>
              <a:rPr lang="en-US" altLang="ko-KR" dirty="0" smtClean="0"/>
              <a:t>)</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보관함 품목 관리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공고입찰품목 중 보관함에 품목을 추가 및 삭제하는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보관함 품목 관리</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MUI-CM-01-M74</a:t>
            </a:r>
            <a:endParaRPr lang="en-US" altLang="ko-KR" dirty="0">
              <a:latin typeface="+mn-ea"/>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68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8874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2" name="타원 51">
            <a:extLst>
              <a:ext uri="{FF2B5EF4-FFF2-40B4-BE49-F238E27FC236}">
                <a16:creationId xmlns:a16="http://schemas.microsoft.com/office/drawing/2014/main" id="{37A7FF4F-0EAA-1463-560A-D5EC24416103}"/>
              </a:ext>
            </a:extLst>
          </p:cNvPr>
          <p:cNvSpPr/>
          <p:nvPr/>
        </p:nvSpPr>
        <p:spPr>
          <a:xfrm>
            <a:off x="571127" y="297362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3928441" y="5227315"/>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69" name="그룹 68">
            <a:extLst>
              <a:ext uri="{FF2B5EF4-FFF2-40B4-BE49-F238E27FC236}">
                <a16:creationId xmlns:a16="http://schemas.microsoft.com/office/drawing/2014/main" id="{22BC05EE-C648-7CA2-4CCC-6E1C1A7E9BDA}"/>
              </a:ext>
            </a:extLst>
          </p:cNvPr>
          <p:cNvGrpSpPr/>
          <p:nvPr/>
        </p:nvGrpSpPr>
        <p:grpSpPr>
          <a:xfrm>
            <a:off x="5113316" y="4221551"/>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9" name="직선 연결선 78">
            <a:extLst>
              <a:ext uri="{FF2B5EF4-FFF2-40B4-BE49-F238E27FC236}">
                <a16:creationId xmlns:a16="http://schemas.microsoft.com/office/drawing/2014/main" id="{E9293055-D5CD-4B9E-7F64-64B2D2CA7A52}"/>
              </a:ext>
            </a:extLst>
          </p:cNvPr>
          <p:cNvCxnSpPr/>
          <p:nvPr/>
        </p:nvCxnSpPr>
        <p:spPr>
          <a:xfrm>
            <a:off x="720490" y="526052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322637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타원 133">
            <a:extLst>
              <a:ext uri="{FF2B5EF4-FFF2-40B4-BE49-F238E27FC236}">
                <a16:creationId xmlns:a16="http://schemas.microsoft.com/office/drawing/2014/main" id="{37A7FF4F-0EAA-1463-560A-D5EC24416103}"/>
              </a:ext>
            </a:extLst>
          </p:cNvPr>
          <p:cNvSpPr/>
          <p:nvPr/>
        </p:nvSpPr>
        <p:spPr>
          <a:xfrm>
            <a:off x="571127" y="38028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5" name="그룹 4"/>
          <p:cNvGrpSpPr/>
          <p:nvPr/>
        </p:nvGrpSpPr>
        <p:grpSpPr>
          <a:xfrm>
            <a:off x="767702" y="2335569"/>
            <a:ext cx="2527420" cy="477995"/>
            <a:chOff x="767702" y="1905667"/>
            <a:chExt cx="2527420" cy="477995"/>
          </a:xfrm>
        </p:grpSpPr>
        <p:sp>
          <p:nvSpPr>
            <p:cNvPr id="179" name="모서리가 둥근 직사각형 178"/>
            <p:cNvSpPr/>
            <p:nvPr/>
          </p:nvSpPr>
          <p:spPr>
            <a:xfrm>
              <a:off x="767702" y="2117095"/>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타원 179"/>
            <p:cNvSpPr/>
            <p:nvPr/>
          </p:nvSpPr>
          <p:spPr>
            <a:xfrm>
              <a:off x="3052827" y="218645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1" name="TextBox 180">
              <a:extLst>
                <a:ext uri="{FF2B5EF4-FFF2-40B4-BE49-F238E27FC236}">
                  <a16:creationId xmlns:a16="http://schemas.microsoft.com/office/drawing/2014/main" id="{FFC49AEA-2A8F-250C-A86A-A7751D9706C3}"/>
                </a:ext>
              </a:extLst>
            </p:cNvPr>
            <p:cNvSpPr txBox="1"/>
            <p:nvPr/>
          </p:nvSpPr>
          <p:spPr>
            <a:xfrm>
              <a:off x="871389" y="2196517"/>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82" name="그룹 181"/>
            <p:cNvGrpSpPr/>
            <p:nvPr/>
          </p:nvGrpSpPr>
          <p:grpSpPr>
            <a:xfrm>
              <a:off x="777000" y="1909969"/>
              <a:ext cx="1475293" cy="155984"/>
              <a:chOff x="808107" y="2288229"/>
              <a:chExt cx="1350888" cy="168318"/>
            </a:xfrm>
          </p:grpSpPr>
          <p:sp>
            <p:nvSpPr>
              <p:cNvPr id="189" name="사각형: 둥근 모서리 31">
                <a:extLst>
                  <a:ext uri="{FF2B5EF4-FFF2-40B4-BE49-F238E27FC236}">
                    <a16:creationId xmlns:a16="http://schemas.microsoft.com/office/drawing/2014/main" id="{2AC143EE-93CF-3518-F0CB-8469E98507E0}"/>
                  </a:ext>
                </a:extLst>
              </p:cNvPr>
              <p:cNvSpPr/>
              <p:nvPr/>
            </p:nvSpPr>
            <p:spPr>
              <a:xfrm>
                <a:off x="808107" y="2288229"/>
                <a:ext cx="644418"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통합참조번호</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0" name="사각형: 둥근 모서리 31">
                <a:extLst>
                  <a:ext uri="{FF2B5EF4-FFF2-40B4-BE49-F238E27FC236}">
                    <a16:creationId xmlns:a16="http://schemas.microsoft.com/office/drawing/2014/main" id="{2AC143EE-93CF-3518-F0CB-8469E98507E0}"/>
                  </a:ext>
                </a:extLst>
              </p:cNvPr>
              <p:cNvSpPr/>
              <p:nvPr/>
            </p:nvSpPr>
            <p:spPr>
              <a:xfrm>
                <a:off x="1491295" y="2288229"/>
                <a:ext cx="667700"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a:latin typeface="맑은 고딕"/>
                    <a:ea typeface="맑은 고딕" panose="020B0503020000020004" pitchFamily="50" charset="-127"/>
                  </a:rPr>
                  <a:t>구매요청번호</a:t>
                </a:r>
                <a:endParaRPr kumimoji="1" lang="en-US" sz="800" b="0" i="0" u="none" strike="noStrike" kern="0" cap="none" spc="0" normalizeH="0" baseline="0" noProof="0" dirty="0">
                  <a:ln>
                    <a:noFill/>
                  </a:ln>
                  <a:effectLst/>
                  <a:uLnTx/>
                  <a:uFillTx/>
                  <a:latin typeface="맑은 고딕"/>
                </a:endParaRP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2707397" y="1905667"/>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85" name="타원 184"/>
            <p:cNvSpPr/>
            <p:nvPr/>
          </p:nvSpPr>
          <p:spPr>
            <a:xfrm>
              <a:off x="2839102" y="218645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a:off x="2883007" y="2221341"/>
              <a:ext cx="58075" cy="58074"/>
              <a:chOff x="6812560" y="3297172"/>
              <a:chExt cx="94010" cy="94010"/>
            </a:xfrm>
          </p:grpSpPr>
          <p:cxnSp>
            <p:nvCxnSpPr>
              <p:cNvPr id="187" name="직선 연결선 18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287102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778515" y="2940012"/>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99</a:t>
            </a:r>
            <a:r>
              <a:rPr lang="en-US" altLang="ko-KR" sz="700" dirty="0">
                <a:latin typeface="+mn-ea"/>
              </a:rPr>
              <a:t> </a:t>
            </a:r>
            <a:r>
              <a:rPr lang="ko-KR" altLang="en-US" sz="700" dirty="0">
                <a:latin typeface="+mn-ea"/>
              </a:rPr>
              <a:t>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278206" y="2935958"/>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2727990" y="2935958"/>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202" name="그룹 201"/>
          <p:cNvGrpSpPr/>
          <p:nvPr/>
        </p:nvGrpSpPr>
        <p:grpSpPr>
          <a:xfrm>
            <a:off x="3143548" y="3037781"/>
            <a:ext cx="94010" cy="47005"/>
            <a:chOff x="6812560" y="3297172"/>
            <a:chExt cx="94010" cy="47005"/>
          </a:xfrm>
        </p:grpSpPr>
        <p:cxnSp>
          <p:nvCxnSpPr>
            <p:cNvPr id="203" name="직선 연결선 2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4" name="직선 연결선 2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 name="그룹 2"/>
          <p:cNvGrpSpPr/>
          <p:nvPr/>
        </p:nvGrpSpPr>
        <p:grpSpPr>
          <a:xfrm>
            <a:off x="781461" y="3519494"/>
            <a:ext cx="2473257" cy="1329728"/>
            <a:chOff x="781461" y="3078038"/>
            <a:chExt cx="2473257" cy="1329728"/>
          </a:xfrm>
        </p:grpSpPr>
        <p:sp>
          <p:nvSpPr>
            <p:cNvPr id="55"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RECOIL</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3438270"/>
              <a:ext cx="700513"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재고번호</a:t>
              </a:r>
              <a:endParaRPr lang="en-US" altLang="ko-KR" sz="600" dirty="0">
                <a:latin typeface="+mn-ea"/>
              </a:endParaRPr>
            </a:p>
            <a:p>
              <a:pPr>
                <a:lnSpc>
                  <a:spcPct val="150000"/>
                </a:lnSpc>
              </a:pPr>
              <a:r>
                <a:rPr lang="ko-KR" altLang="en-US" sz="600" dirty="0" err="1">
                  <a:latin typeface="+mn-ea"/>
                </a:rPr>
                <a:t>부품번호</a:t>
              </a:r>
              <a:endParaRPr lang="en-US" altLang="ko-KR" sz="600" dirty="0">
                <a:latin typeface="+mn-ea"/>
              </a:endParaRPr>
            </a:p>
            <a:p>
              <a:pPr>
                <a:lnSpc>
                  <a:spcPct val="150000"/>
                </a:lnSpc>
              </a:pPr>
              <a:r>
                <a:rPr lang="ko-KR" altLang="en-US" sz="600" dirty="0">
                  <a:latin typeface="+mn-ea"/>
                </a:rPr>
                <a:t>수량 </a:t>
              </a:r>
              <a:r>
                <a:rPr lang="en-US" altLang="ko-KR" sz="600" dirty="0">
                  <a:latin typeface="+mn-ea"/>
                </a:rPr>
                <a:t>/ </a:t>
              </a:r>
              <a:r>
                <a:rPr lang="ko-KR" altLang="en-US" sz="600" dirty="0">
                  <a:latin typeface="+mn-ea"/>
                </a:rPr>
                <a:t>단위</a:t>
              </a:r>
              <a:endParaRPr lang="en-US" altLang="ko-KR" sz="600" dirty="0">
                <a:latin typeface="+mn-ea"/>
              </a:endParaRPr>
            </a:p>
            <a:p>
              <a:pPr>
                <a:lnSpc>
                  <a:spcPct val="150000"/>
                </a:lnSpc>
              </a:pPr>
              <a:r>
                <a:rPr lang="ko-KR" altLang="en-US" sz="600" dirty="0" err="1">
                  <a:latin typeface="+mn-ea"/>
                </a:rPr>
                <a:t>지시단가</a:t>
              </a:r>
              <a:r>
                <a:rPr lang="ko-KR" altLang="en-US" sz="600" dirty="0">
                  <a:latin typeface="+mn-ea"/>
                </a:rPr>
                <a:t> </a:t>
              </a:r>
              <a:r>
                <a:rPr lang="en-US" altLang="ko-KR" sz="600" dirty="0">
                  <a:latin typeface="+mn-ea"/>
                </a:rPr>
                <a:t>/ </a:t>
              </a:r>
              <a:r>
                <a:rPr lang="ko-KR" altLang="en-US" sz="600" dirty="0">
                  <a:latin typeface="+mn-ea"/>
                </a:rPr>
                <a:t>화폐단위</a:t>
              </a:r>
              <a:endParaRPr lang="en-US" altLang="ko-KR" sz="600" dirty="0">
                <a:latin typeface="+mn-ea"/>
              </a:endParaRPr>
            </a:p>
            <a:p>
              <a:pPr>
                <a:lnSpc>
                  <a:spcPct val="150000"/>
                </a:lnSpc>
              </a:pPr>
              <a:r>
                <a:rPr lang="ko-KR" altLang="en-US" sz="600" dirty="0" err="1">
                  <a:latin typeface="+mn-ea"/>
                </a:rPr>
                <a:t>보환함</a:t>
              </a:r>
              <a:r>
                <a:rPr lang="ko-KR" altLang="en-US" sz="600" dirty="0">
                  <a:latin typeface="+mn-ea"/>
                </a:rPr>
                <a:t> 여부</a:t>
              </a:r>
              <a:endParaRPr lang="en-US" altLang="ko-KR" sz="600" dirty="0">
                <a:latin typeface="+mn-ea"/>
              </a:endParaRPr>
            </a:p>
            <a:p>
              <a:pPr>
                <a:lnSpc>
                  <a:spcPct val="150000"/>
                </a:lnSpc>
              </a:pPr>
              <a:r>
                <a:rPr lang="ko-KR" altLang="en-US" sz="600" dirty="0" err="1">
                  <a:latin typeface="+mn-ea"/>
                </a:rPr>
                <a:t>입찰내역</a:t>
              </a:r>
              <a:r>
                <a:rPr lang="ko-KR" altLang="en-US" sz="600" dirty="0">
                  <a:latin typeface="+mn-ea"/>
                </a:rPr>
                <a:t> 작성 여부</a:t>
              </a:r>
              <a:endParaRPr lang="en-US" altLang="ko-KR"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399135" y="3422881"/>
              <a:ext cx="811119"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101537518</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2A46MSB0</a:t>
              </a:r>
            </a:p>
            <a:p>
              <a:pPr algn="r">
                <a:lnSpc>
                  <a:spcPct val="150000"/>
                </a:lnSpc>
              </a:pPr>
              <a:r>
                <a:rPr lang="en-US" altLang="ko-KR" sz="600" dirty="0">
                  <a:latin typeface="+mn-ea"/>
                </a:rPr>
                <a:t>2 EA</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20,767.85 USD (</a:t>
              </a:r>
              <a:r>
                <a:rPr lang="ko-KR" altLang="en-US" sz="600" dirty="0" err="1">
                  <a:solidFill>
                    <a:prstClr val="black"/>
                  </a:solidFill>
                  <a:latin typeface="맑은 고딕" panose="020B0503020000020004" pitchFamily="50" charset="-127"/>
                  <a:cs typeface="Segoe UI" panose="020B0502040204020203" pitchFamily="34" charset="0"/>
                </a:rPr>
                <a:t>미달러</a:t>
              </a:r>
              <a:r>
                <a:rPr lang="en-US" altLang="ko-KR" sz="600" dirty="0">
                  <a:solidFill>
                    <a:prstClr val="black"/>
                  </a:solidFill>
                  <a:latin typeface="맑은 고딕" panose="020B0503020000020004" pitchFamily="50" charset="-127"/>
                  <a:cs typeface="Segoe UI" panose="020B0502040204020203" pitchFamily="34" charset="0"/>
                </a:rPr>
                <a:t>)</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O</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X</a:t>
              </a:r>
              <a:endParaRPr lang="en-US" altLang="ko-KR" sz="600" dirty="0">
                <a:latin typeface="+mn-ea"/>
              </a:endParaRPr>
            </a:p>
          </p:txBody>
        </p:sp>
      </p:grpSp>
      <p:sp>
        <p:nvSpPr>
          <p:cNvPr id="81" name="모서리가 둥근 직사각형 80"/>
          <p:cNvSpPr/>
          <p:nvPr/>
        </p:nvSpPr>
        <p:spPr>
          <a:xfrm>
            <a:off x="792650" y="3325894"/>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선택</a:t>
            </a:r>
          </a:p>
        </p:txBody>
      </p:sp>
      <p:sp>
        <p:nvSpPr>
          <p:cNvPr id="84" name="사각형: 둥근 모서리 31">
            <a:extLst>
              <a:ext uri="{FF2B5EF4-FFF2-40B4-BE49-F238E27FC236}">
                <a16:creationId xmlns:a16="http://schemas.microsoft.com/office/drawing/2014/main" id="{2AC143EE-93CF-3518-F0CB-8469E98507E0}"/>
              </a:ext>
            </a:extLst>
          </p:cNvPr>
          <p:cNvSpPr/>
          <p:nvPr/>
        </p:nvSpPr>
        <p:spPr>
          <a:xfrm>
            <a:off x="808106" y="4943942"/>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a:latin typeface="맑은 고딕"/>
                <a:ea typeface="맑은 고딕" panose="020B0503020000020004" pitchFamily="50" charset="-127"/>
              </a:rPr>
              <a:t>보관함 삭제</a:t>
            </a:r>
            <a:endParaRPr kumimoji="1" lang="en-US" sz="800" b="0" i="0" u="none" strike="noStrike" kern="0" cap="none" spc="0" normalizeH="0" baseline="0" noProof="0" dirty="0">
              <a:ln>
                <a:noFill/>
              </a:ln>
              <a:effectLst/>
              <a:uLnTx/>
              <a:uFillTx/>
              <a:latin typeface="맑은 고딕"/>
            </a:endParaRPr>
          </a:p>
        </p:txBody>
      </p:sp>
      <p:sp>
        <p:nvSpPr>
          <p:cNvPr id="85" name="직사각형 8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 name="그룹 5"/>
          <p:cNvGrpSpPr/>
          <p:nvPr/>
        </p:nvGrpSpPr>
        <p:grpSpPr>
          <a:xfrm>
            <a:off x="3840825" y="1593447"/>
            <a:ext cx="2621844" cy="1934626"/>
            <a:chOff x="3879257" y="2145017"/>
            <a:chExt cx="2621844" cy="1934626"/>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3879257" y="40796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0" name="그룹 89"/>
            <p:cNvGrpSpPr/>
            <p:nvPr/>
          </p:nvGrpSpPr>
          <p:grpSpPr>
            <a:xfrm>
              <a:off x="3940228" y="2338617"/>
              <a:ext cx="2473257" cy="1329728"/>
              <a:chOff x="781461" y="3078038"/>
              <a:chExt cx="2473257" cy="1329728"/>
            </a:xfrm>
          </p:grpSpPr>
          <p:sp>
            <p:nvSpPr>
              <p:cNvPr id="91"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RECOIL</a:t>
                </a:r>
                <a:endParaRPr lang="ko-KR" altLang="en-US" sz="900" b="1" dirty="0"/>
              </a:p>
            </p:txBody>
          </p:sp>
          <p:sp>
            <p:nvSpPr>
              <p:cNvPr id="92" name="TextBox 59">
                <a:extLst>
                  <a:ext uri="{FF2B5EF4-FFF2-40B4-BE49-F238E27FC236}">
                    <a16:creationId xmlns:a16="http://schemas.microsoft.com/office/drawing/2014/main" id="{F77C802D-3BC8-270F-87FC-5F442BD8054D}"/>
                  </a:ext>
                </a:extLst>
              </p:cNvPr>
              <p:cNvSpPr txBox="1"/>
              <p:nvPr/>
            </p:nvSpPr>
            <p:spPr>
              <a:xfrm>
                <a:off x="781461" y="3438270"/>
                <a:ext cx="700513"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재고번호</a:t>
                </a:r>
                <a:endParaRPr lang="en-US" altLang="ko-KR" sz="600" dirty="0">
                  <a:latin typeface="+mn-ea"/>
                </a:endParaRPr>
              </a:p>
              <a:p>
                <a:pPr>
                  <a:lnSpc>
                    <a:spcPct val="150000"/>
                  </a:lnSpc>
                </a:pPr>
                <a:r>
                  <a:rPr lang="ko-KR" altLang="en-US" sz="600" dirty="0" err="1">
                    <a:latin typeface="+mn-ea"/>
                  </a:rPr>
                  <a:t>부품번호</a:t>
                </a:r>
                <a:endParaRPr lang="en-US" altLang="ko-KR" sz="600" dirty="0">
                  <a:latin typeface="+mn-ea"/>
                </a:endParaRPr>
              </a:p>
              <a:p>
                <a:pPr>
                  <a:lnSpc>
                    <a:spcPct val="150000"/>
                  </a:lnSpc>
                </a:pPr>
                <a:r>
                  <a:rPr lang="ko-KR" altLang="en-US" sz="600" dirty="0">
                    <a:latin typeface="+mn-ea"/>
                  </a:rPr>
                  <a:t>수량 </a:t>
                </a:r>
                <a:r>
                  <a:rPr lang="en-US" altLang="ko-KR" sz="600" dirty="0">
                    <a:latin typeface="+mn-ea"/>
                  </a:rPr>
                  <a:t>/ </a:t>
                </a:r>
                <a:r>
                  <a:rPr lang="ko-KR" altLang="en-US" sz="600" dirty="0">
                    <a:latin typeface="+mn-ea"/>
                  </a:rPr>
                  <a:t>단위</a:t>
                </a:r>
                <a:endParaRPr lang="en-US" altLang="ko-KR" sz="600" dirty="0">
                  <a:latin typeface="+mn-ea"/>
                </a:endParaRPr>
              </a:p>
              <a:p>
                <a:pPr>
                  <a:lnSpc>
                    <a:spcPct val="150000"/>
                  </a:lnSpc>
                </a:pPr>
                <a:r>
                  <a:rPr lang="ko-KR" altLang="en-US" sz="600" dirty="0" err="1">
                    <a:latin typeface="+mn-ea"/>
                  </a:rPr>
                  <a:t>지시단가</a:t>
                </a:r>
                <a:r>
                  <a:rPr lang="ko-KR" altLang="en-US" sz="600" dirty="0">
                    <a:latin typeface="+mn-ea"/>
                  </a:rPr>
                  <a:t> </a:t>
                </a:r>
                <a:r>
                  <a:rPr lang="en-US" altLang="ko-KR" sz="600" dirty="0">
                    <a:latin typeface="+mn-ea"/>
                  </a:rPr>
                  <a:t>/ </a:t>
                </a:r>
                <a:r>
                  <a:rPr lang="ko-KR" altLang="en-US" sz="600" dirty="0">
                    <a:latin typeface="+mn-ea"/>
                  </a:rPr>
                  <a:t>화폐단위</a:t>
                </a:r>
                <a:endParaRPr lang="en-US" altLang="ko-KR" sz="600" dirty="0">
                  <a:latin typeface="+mn-ea"/>
                </a:endParaRPr>
              </a:p>
              <a:p>
                <a:pPr>
                  <a:lnSpc>
                    <a:spcPct val="150000"/>
                  </a:lnSpc>
                </a:pPr>
                <a:r>
                  <a:rPr lang="ko-KR" altLang="en-US" sz="600" dirty="0" err="1">
                    <a:latin typeface="+mn-ea"/>
                  </a:rPr>
                  <a:t>보환함</a:t>
                </a:r>
                <a:r>
                  <a:rPr lang="ko-KR" altLang="en-US" sz="600" dirty="0">
                    <a:latin typeface="+mn-ea"/>
                  </a:rPr>
                  <a:t> 여부</a:t>
                </a:r>
                <a:endParaRPr lang="en-US" altLang="ko-KR" sz="600" dirty="0">
                  <a:latin typeface="+mn-ea"/>
                </a:endParaRPr>
              </a:p>
              <a:p>
                <a:pPr>
                  <a:lnSpc>
                    <a:spcPct val="150000"/>
                  </a:lnSpc>
                </a:pPr>
                <a:r>
                  <a:rPr lang="ko-KR" altLang="en-US" sz="600" dirty="0" err="1">
                    <a:latin typeface="+mn-ea"/>
                  </a:rPr>
                  <a:t>입찰내역</a:t>
                </a:r>
                <a:r>
                  <a:rPr lang="ko-KR" altLang="en-US" sz="600" dirty="0">
                    <a:latin typeface="+mn-ea"/>
                  </a:rPr>
                  <a:t> 작성 여부</a:t>
                </a:r>
                <a:endParaRPr lang="en-US" altLang="ko-KR" sz="600" dirty="0">
                  <a:latin typeface="+mn-ea"/>
                </a:endParaRPr>
              </a:p>
            </p:txBody>
          </p:sp>
          <p:sp>
            <p:nvSpPr>
              <p:cNvPr id="93" name="TextBox 60">
                <a:extLst>
                  <a:ext uri="{FF2B5EF4-FFF2-40B4-BE49-F238E27FC236}">
                    <a16:creationId xmlns:a16="http://schemas.microsoft.com/office/drawing/2014/main" id="{8F5E3227-69E6-C89F-B8C5-534226E95EA8}"/>
                  </a:ext>
                </a:extLst>
              </p:cNvPr>
              <p:cNvSpPr txBox="1"/>
              <p:nvPr/>
            </p:nvSpPr>
            <p:spPr>
              <a:xfrm>
                <a:off x="2399135" y="3422881"/>
                <a:ext cx="811119"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101537518</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2A46MSB0</a:t>
                </a:r>
              </a:p>
              <a:p>
                <a:pPr algn="r">
                  <a:lnSpc>
                    <a:spcPct val="150000"/>
                  </a:lnSpc>
                </a:pPr>
                <a:r>
                  <a:rPr lang="en-US" altLang="ko-KR" sz="600" dirty="0">
                    <a:latin typeface="+mn-ea"/>
                  </a:rPr>
                  <a:t>2 EA</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20,767.85 USD (</a:t>
                </a:r>
                <a:r>
                  <a:rPr lang="ko-KR" altLang="en-US" sz="600" dirty="0" err="1">
                    <a:solidFill>
                      <a:prstClr val="black"/>
                    </a:solidFill>
                    <a:latin typeface="맑은 고딕" panose="020B0503020000020004" pitchFamily="50" charset="-127"/>
                    <a:cs typeface="Segoe UI" panose="020B0502040204020203" pitchFamily="34" charset="0"/>
                  </a:rPr>
                  <a:t>미달러</a:t>
                </a:r>
                <a:r>
                  <a:rPr lang="en-US" altLang="ko-KR" sz="600" dirty="0">
                    <a:solidFill>
                      <a:prstClr val="black"/>
                    </a:solidFill>
                    <a:latin typeface="맑은 고딕" panose="020B0503020000020004" pitchFamily="50" charset="-127"/>
                    <a:cs typeface="Segoe UI" panose="020B0502040204020203" pitchFamily="34" charset="0"/>
                  </a:rPr>
                  <a:t>)</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X</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X</a:t>
                </a:r>
                <a:endParaRPr lang="en-US" altLang="ko-KR" sz="600" dirty="0">
                  <a:latin typeface="+mn-ea"/>
                </a:endParaRPr>
              </a:p>
            </p:txBody>
          </p:sp>
        </p:grpSp>
        <p:sp>
          <p:nvSpPr>
            <p:cNvPr id="94" name="모서리가 둥근 직사각형 93"/>
            <p:cNvSpPr/>
            <p:nvPr/>
          </p:nvSpPr>
          <p:spPr>
            <a:xfrm>
              <a:off x="3951417" y="2145017"/>
              <a:ext cx="327945" cy="119400"/>
            </a:xfrm>
            <a:prstGeom prst="roundRect">
              <a:avLst>
                <a:gd name="adj" fmla="val 23409"/>
              </a:avLst>
            </a:prstGeom>
            <a:ln>
              <a:solidFill>
                <a:srgbClr val="0070C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rgbClr val="0070C0"/>
                  </a:solidFill>
                </a:rPr>
                <a:t>선택</a:t>
              </a:r>
            </a:p>
          </p:txBody>
        </p:sp>
        <p:sp>
          <p:nvSpPr>
            <p:cNvPr id="95" name="사각형: 둥근 모서리 31">
              <a:extLst>
                <a:ext uri="{FF2B5EF4-FFF2-40B4-BE49-F238E27FC236}">
                  <a16:creationId xmlns:a16="http://schemas.microsoft.com/office/drawing/2014/main" id="{2AC143EE-93CF-3518-F0CB-8469E98507E0}"/>
                </a:ext>
              </a:extLst>
            </p:cNvPr>
            <p:cNvSpPr/>
            <p:nvPr/>
          </p:nvSpPr>
          <p:spPr>
            <a:xfrm>
              <a:off x="3966873" y="3763065"/>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a:latin typeface="맑은 고딕"/>
                  <a:ea typeface="맑은 고딕" panose="020B0503020000020004" pitchFamily="50" charset="-127"/>
                </a:rPr>
                <a:t>보관함 </a:t>
              </a:r>
              <a:r>
                <a:rPr kumimoji="1" lang="ko-KR" altLang="en-US" sz="800" kern="0" dirty="0">
                  <a:latin typeface="맑은 고딕"/>
                  <a:ea typeface="맑은 고딕" panose="020B0503020000020004" pitchFamily="50" charset="-127"/>
                </a:rPr>
                <a:t>추가</a:t>
              </a:r>
              <a:endParaRPr kumimoji="1" lang="en-US" sz="800" b="0" i="0" u="none" strike="noStrike" kern="0" cap="none" spc="0" normalizeH="0" baseline="0" noProof="0" dirty="0">
                <a:ln>
                  <a:noFill/>
                </a:ln>
                <a:effectLst/>
                <a:uLnTx/>
                <a:uFillTx/>
                <a:latin typeface="맑은 고딕"/>
              </a:endParaRPr>
            </a:p>
          </p:txBody>
        </p:sp>
      </p:grpSp>
      <p:grpSp>
        <p:nvGrpSpPr>
          <p:cNvPr id="96" name="그룹 95"/>
          <p:cNvGrpSpPr/>
          <p:nvPr/>
        </p:nvGrpSpPr>
        <p:grpSpPr>
          <a:xfrm>
            <a:off x="3795734" y="5614711"/>
            <a:ext cx="2712027" cy="617588"/>
            <a:chOff x="675399" y="5614711"/>
            <a:chExt cx="2712027" cy="617588"/>
          </a:xfrm>
        </p:grpSpPr>
        <p:sp>
          <p:nvSpPr>
            <p:cNvPr id="97" name="직사각형 9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사각형: 둥근 모서리 15">
              <a:extLst>
                <a:ext uri="{FF2B5EF4-FFF2-40B4-BE49-F238E27FC236}">
                  <a16:creationId xmlns:a16="http://schemas.microsoft.com/office/drawing/2014/main" id="{E2B61CFB-AD16-68D0-8752-50D9C5E01971}"/>
                </a:ext>
              </a:extLst>
            </p:cNvPr>
            <p:cNvSpPr/>
            <p:nvPr/>
          </p:nvSpPr>
          <p:spPr>
            <a:xfrm>
              <a:off x="2069844" y="5745391"/>
              <a:ext cx="1225277" cy="317083"/>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solidFill>
                    <a:srgbClr val="0070C0"/>
                  </a:solidFill>
                </a:rPr>
                <a:t>일괄 추가</a:t>
              </a:r>
            </a:p>
          </p:txBody>
        </p:sp>
        <p:sp>
          <p:nvSpPr>
            <p:cNvPr id="99" name="사각형: 둥근 모서리 15">
              <a:extLst>
                <a:ext uri="{FF2B5EF4-FFF2-40B4-BE49-F238E27FC236}">
                  <a16:creationId xmlns:a16="http://schemas.microsoft.com/office/drawing/2014/main" id="{E2B61CFB-AD16-68D0-8752-50D9C5E01971}"/>
                </a:ext>
              </a:extLst>
            </p:cNvPr>
            <p:cNvSpPr/>
            <p:nvPr/>
          </p:nvSpPr>
          <p:spPr>
            <a:xfrm>
              <a:off x="767701" y="5745391"/>
              <a:ext cx="1225279"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일괄 삭제</a:t>
              </a:r>
            </a:p>
          </p:txBody>
        </p:sp>
      </p:grpSp>
      <p:sp>
        <p:nvSpPr>
          <p:cNvPr id="135" name="타원 134">
            <a:extLst>
              <a:ext uri="{FF2B5EF4-FFF2-40B4-BE49-F238E27FC236}">
                <a16:creationId xmlns:a16="http://schemas.microsoft.com/office/drawing/2014/main" id="{37A7FF4F-0EAA-1463-560A-D5EC24416103}"/>
              </a:ext>
            </a:extLst>
          </p:cNvPr>
          <p:cNvSpPr/>
          <p:nvPr/>
        </p:nvSpPr>
        <p:spPr>
          <a:xfrm>
            <a:off x="3668695"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grpSp>
        <p:nvGrpSpPr>
          <p:cNvPr id="64" name="그룹 63"/>
          <p:cNvGrpSpPr/>
          <p:nvPr/>
        </p:nvGrpSpPr>
        <p:grpSpPr>
          <a:xfrm>
            <a:off x="677960" y="1582647"/>
            <a:ext cx="2714637" cy="686386"/>
            <a:chOff x="677960" y="1582647"/>
            <a:chExt cx="2714637" cy="686386"/>
          </a:xfrm>
        </p:grpSpPr>
        <p:sp>
          <p:nvSpPr>
            <p:cNvPr id="65" name="TextBox 64">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보관함 품목 관리</a:t>
              </a:r>
            </a:p>
          </p:txBody>
        </p:sp>
        <p:cxnSp>
          <p:nvCxnSpPr>
            <p:cNvPr id="66" name="직선 연결선 65">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67" name="그룹 66"/>
            <p:cNvGrpSpPr/>
            <p:nvPr/>
          </p:nvGrpSpPr>
          <p:grpSpPr>
            <a:xfrm rot="5400000">
              <a:off x="852159" y="2062596"/>
              <a:ext cx="94010" cy="47005"/>
              <a:chOff x="6812560" y="3297172"/>
              <a:chExt cx="94010" cy="47005"/>
            </a:xfrm>
          </p:grpSpPr>
          <p:cxnSp>
            <p:nvCxnSpPr>
              <p:cNvPr id="78" name="직선 연결선 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68" name="그룹 67"/>
            <p:cNvGrpSpPr/>
            <p:nvPr/>
          </p:nvGrpSpPr>
          <p:grpSpPr>
            <a:xfrm>
              <a:off x="677960" y="1582647"/>
              <a:ext cx="2712027" cy="324286"/>
              <a:chOff x="677960" y="1582647"/>
              <a:chExt cx="2712027" cy="324286"/>
            </a:xfrm>
          </p:grpSpPr>
          <p:pic>
            <p:nvPicPr>
              <p:cNvPr id="73"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직선 연결선 73">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5" name="타원 74"/>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6" name="타원 75"/>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타원 76"/>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26579696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검색필터</a:t>
            </a:r>
            <a:r>
              <a:rPr lang="ko-KR" altLang="en-US" dirty="0"/>
              <a:t> 페이지 타이틀</a:t>
            </a:r>
            <a:r>
              <a:rPr lang="en-US" altLang="ko-KR" dirty="0"/>
              <a:t/>
            </a:r>
            <a:br>
              <a:rPr lang="en-US" altLang="ko-KR" dirty="0"/>
            </a:br>
            <a:r>
              <a:rPr lang="en-US" altLang="ko-KR" dirty="0"/>
              <a:t>- </a:t>
            </a:r>
            <a:r>
              <a:rPr lang="ko-KR" altLang="en-US" dirty="0"/>
              <a:t>초기화</a:t>
            </a:r>
            <a:r>
              <a:rPr lang="en-US" altLang="ko-KR" dirty="0"/>
              <a:t>, </a:t>
            </a:r>
            <a:r>
              <a:rPr lang="ko-KR" altLang="en-US" dirty="0"/>
              <a:t>닫기 버튼</a:t>
            </a:r>
            <a:endParaRPr lang="en-US" altLang="ko-KR" dirty="0"/>
          </a:p>
          <a:p>
            <a:pPr marL="228600" indent="-228600">
              <a:buFont typeface="+mj-lt"/>
              <a:buAutoNum type="arabicPeriod"/>
            </a:pPr>
            <a:r>
              <a:rPr lang="ko-KR" altLang="en-US" dirty="0"/>
              <a:t>일자 설정</a:t>
            </a:r>
            <a:r>
              <a:rPr lang="en-US" altLang="ko-KR" dirty="0"/>
              <a:t/>
            </a:r>
            <a:br>
              <a:rPr lang="en-US" altLang="ko-KR" dirty="0"/>
            </a:br>
            <a:r>
              <a:rPr lang="en-US" altLang="ko-KR" dirty="0"/>
              <a:t>- </a:t>
            </a:r>
            <a:r>
              <a:rPr lang="ko-KR" altLang="en-US" dirty="0" err="1"/>
              <a:t>개찰일자</a:t>
            </a:r>
            <a:r>
              <a:rPr lang="en-US" altLang="ko-KR" dirty="0"/>
              <a:t>, </a:t>
            </a:r>
            <a:r>
              <a:rPr lang="ko-KR" altLang="en-US" dirty="0" err="1"/>
              <a:t>공고일자</a:t>
            </a:r>
            <a:r>
              <a:rPr lang="ko-KR" altLang="en-US" dirty="0"/>
              <a:t> </a:t>
            </a:r>
            <a:r>
              <a:rPr lang="ko-KR" altLang="en-US" dirty="0" err="1"/>
              <a:t>토글</a:t>
            </a:r>
            <a:r>
              <a:rPr lang="ko-KR" altLang="en-US" dirty="0"/>
              <a:t> 스위치</a:t>
            </a:r>
            <a:r>
              <a:rPr lang="en-US" altLang="ko-KR" dirty="0"/>
              <a:t/>
            </a:r>
            <a:br>
              <a:rPr lang="en-US" altLang="ko-KR" dirty="0"/>
            </a:br>
            <a:r>
              <a:rPr lang="en-US" altLang="ko-KR" dirty="0"/>
              <a:t>- </a:t>
            </a:r>
            <a:r>
              <a:rPr lang="ko-KR" altLang="en-US" dirty="0"/>
              <a:t>직접 입력 가능</a:t>
            </a:r>
            <a:r>
              <a:rPr lang="en-US" altLang="ko-KR" dirty="0"/>
              <a:t/>
            </a:r>
            <a:br>
              <a:rPr lang="en-US" altLang="ko-KR" dirty="0"/>
            </a:br>
            <a:r>
              <a:rPr lang="en-US" altLang="ko-KR" dirty="0"/>
              <a:t>- </a:t>
            </a:r>
            <a:r>
              <a:rPr lang="ko-KR" altLang="en-US" dirty="0"/>
              <a:t>아이콘 </a:t>
            </a:r>
            <a:r>
              <a:rPr lang="en-US" altLang="ko-KR" dirty="0">
                <a:sym typeface="Wingdings" panose="05000000000000000000" pitchFamily="2" charset="2"/>
              </a:rPr>
              <a:t> </a:t>
            </a:r>
            <a:r>
              <a:rPr lang="ko-KR" altLang="en-US" dirty="0">
                <a:sym typeface="Wingdings" panose="05000000000000000000" pitchFamily="2" charset="2"/>
              </a:rPr>
              <a:t>데이트 </a:t>
            </a:r>
            <a:r>
              <a:rPr lang="ko-KR" altLang="en-US" dirty="0" err="1">
                <a:sym typeface="Wingdings" panose="05000000000000000000" pitchFamily="2" charset="2"/>
              </a:rPr>
              <a:t>피커</a:t>
            </a:r>
            <a:r>
              <a:rPr lang="ko-KR" altLang="en-US" dirty="0">
                <a:sym typeface="Wingdings" panose="05000000000000000000" pitchFamily="2" charset="2"/>
              </a:rPr>
              <a:t> 호출</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지정 설정으로 날짜 즉시 업데이트</a:t>
            </a:r>
            <a:endParaRPr lang="en-US" altLang="ko-KR" dirty="0">
              <a:sym typeface="Wingdings" panose="05000000000000000000" pitchFamily="2" charset="2"/>
            </a:endParaRPr>
          </a:p>
          <a:p>
            <a:pPr marL="228600" indent="-228600">
              <a:buFont typeface="+mj-lt"/>
              <a:buAutoNum type="arabicPeriod"/>
            </a:pPr>
            <a:r>
              <a:rPr lang="ko-KR" altLang="en-US" dirty="0" err="1">
                <a:sym typeface="Wingdings" panose="05000000000000000000" pitchFamily="2" charset="2"/>
              </a:rPr>
              <a:t>검색어</a:t>
            </a:r>
            <a:r>
              <a:rPr lang="ko-KR" altLang="en-US" dirty="0">
                <a:sym typeface="Wingdings" panose="05000000000000000000" pitchFamily="2" charset="2"/>
              </a:rPr>
              <a:t> 영역</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사용자가 입력하고자 하는 내역만 입력 후 검색 가능</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검색 필터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92500" lnSpcReduction="20000"/>
          </a:bodyPr>
          <a:lstStyle/>
          <a:p>
            <a:r>
              <a:rPr lang="ko-KR" altLang="en-US" dirty="0"/>
              <a:t>홈 </a:t>
            </a:r>
            <a:r>
              <a:rPr lang="en-US" altLang="ko-KR" dirty="0"/>
              <a:t>&gt; </a:t>
            </a:r>
            <a:r>
              <a:rPr lang="ko-KR" altLang="en-US" dirty="0" err="1"/>
              <a:t>마이페이지</a:t>
            </a:r>
            <a:r>
              <a:rPr lang="ko-KR" altLang="en-US" dirty="0"/>
              <a:t> </a:t>
            </a:r>
            <a:r>
              <a:rPr lang="en-US" altLang="ko-KR" dirty="0"/>
              <a:t>&gt; </a:t>
            </a:r>
            <a:r>
              <a:rPr lang="ko-KR" altLang="en-US" dirty="0"/>
              <a:t>국외 보관함 </a:t>
            </a:r>
            <a:r>
              <a:rPr lang="en-US" altLang="ko-KR" dirty="0"/>
              <a:t>&gt; </a:t>
            </a:r>
            <a:r>
              <a:rPr lang="ko-KR" altLang="en-US" dirty="0"/>
              <a:t>보관함 품목 관리</a:t>
            </a:r>
            <a:r>
              <a:rPr lang="ko-KR" altLang="en-US" dirty="0">
                <a:latin typeface="+mn-ea"/>
              </a:rPr>
              <a:t>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MUI-CM-01-P75</a:t>
            </a:r>
            <a:endParaRPr lang="en-US" altLang="ko-KR" dirty="0">
              <a:latin typeface="+mn-ea"/>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5" name="타원 154">
            <a:extLst>
              <a:ext uri="{FF2B5EF4-FFF2-40B4-BE49-F238E27FC236}">
                <a16:creationId xmlns:a16="http://schemas.microsoft.com/office/drawing/2014/main" id="{37A7FF4F-0EAA-1463-560A-D5EC24416103}"/>
              </a:ext>
            </a:extLst>
          </p:cNvPr>
          <p:cNvSpPr/>
          <p:nvPr/>
        </p:nvSpPr>
        <p:spPr>
          <a:xfrm>
            <a:off x="573754" y="201535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1997596"/>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일자 설정</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2220134"/>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2095286"/>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2039778"/>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2039778"/>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2066318"/>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2066318"/>
            <a:ext cx="233466" cy="107722"/>
          </a:xfrm>
          <a:prstGeom prst="rect">
            <a:avLst/>
          </a:prstGeom>
          <a:noFill/>
        </p:spPr>
        <p:txBody>
          <a:bodyPr wrap="square" lIns="0" tIns="0" rIns="0" bIns="0" rtlCol="0">
            <a:spAutoFit/>
          </a:bodyPr>
          <a:lstStyle/>
          <a:p>
            <a:pPr algn="ctr"/>
            <a:r>
              <a:rPr lang="ko-KR" altLang="en-US" sz="700">
                <a:solidFill>
                  <a:schemeClr val="bg1"/>
                </a:solidFill>
                <a:latin typeface="+mn-ea"/>
              </a:rPr>
              <a:t>공고</a:t>
            </a:r>
            <a:endParaRPr lang="ko-KR" altLang="en-US" sz="700" dirty="0">
              <a:solidFill>
                <a:schemeClr val="bg1"/>
              </a:solidFill>
              <a:latin typeface="+mn-ea"/>
            </a:endParaRP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2247765"/>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2267712"/>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2478434"/>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2247765"/>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27951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2895300"/>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2992990"/>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317579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3132291"/>
            <a:ext cx="670770" cy="1077218"/>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a:p>
            <a:pPr>
              <a:lnSpc>
                <a:spcPct val="200000"/>
              </a:lnSpc>
            </a:pPr>
            <a:r>
              <a:rPr lang="ko-KR" altLang="en-US" sz="700" dirty="0" err="1">
                <a:latin typeface="+mn-ea"/>
              </a:rPr>
              <a:t>보관함여부</a:t>
            </a:r>
            <a:endParaRPr lang="en-US" altLang="ko-KR" sz="700" dirty="0">
              <a:latin typeface="+mn-ea"/>
            </a:endParaRPr>
          </a:p>
        </p:txBody>
      </p:sp>
      <p:sp>
        <p:nvSpPr>
          <p:cNvPr id="207" name="모서리가 둥근 직사각형 206"/>
          <p:cNvSpPr/>
          <p:nvPr/>
        </p:nvSpPr>
        <p:spPr>
          <a:xfrm>
            <a:off x="1449284" y="339053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221" name="그룹 220"/>
          <p:cNvGrpSpPr/>
          <p:nvPr/>
        </p:nvGrpSpPr>
        <p:grpSpPr>
          <a:xfrm>
            <a:off x="670744"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66" name="모서리가 둥근 직사각형 265"/>
          <p:cNvSpPr/>
          <p:nvPr/>
        </p:nvSpPr>
        <p:spPr>
          <a:xfrm>
            <a:off x="1449284" y="4038677"/>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보관</a:t>
            </a:r>
          </a:p>
        </p:txBody>
      </p:sp>
      <p:sp>
        <p:nvSpPr>
          <p:cNvPr id="292" name="타원 291">
            <a:extLst>
              <a:ext uri="{FF2B5EF4-FFF2-40B4-BE49-F238E27FC236}">
                <a16:creationId xmlns:a16="http://schemas.microsoft.com/office/drawing/2014/main" id="{37A7FF4F-0EAA-1463-560A-D5EC24416103}"/>
              </a:ext>
            </a:extLst>
          </p:cNvPr>
          <p:cNvSpPr/>
          <p:nvPr/>
        </p:nvSpPr>
        <p:spPr>
          <a:xfrm>
            <a:off x="573754" y="292380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41" name="그룹 140"/>
          <p:cNvGrpSpPr/>
          <p:nvPr/>
        </p:nvGrpSpPr>
        <p:grpSpPr>
          <a:xfrm>
            <a:off x="3140952" y="4107141"/>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5" name="모서리가 둥근 직사각형 54"/>
          <p:cNvSpPr/>
          <p:nvPr/>
        </p:nvSpPr>
        <p:spPr>
          <a:xfrm>
            <a:off x="1449284" y="360203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56" name="모서리가 둥근 직사각형 55"/>
          <p:cNvSpPr/>
          <p:nvPr/>
        </p:nvSpPr>
        <p:spPr>
          <a:xfrm>
            <a:off x="1449284" y="381677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Tree>
    <p:extLst>
      <p:ext uri="{BB962C8B-B14F-4D97-AF65-F5344CB8AC3E}">
        <p14:creationId xmlns:p14="http://schemas.microsoft.com/office/powerpoint/2010/main" val="1892437415"/>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417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10495" cy="211203"/>
          </a:xfrm>
          <a:prstGeom prst="rect">
            <a:avLst/>
          </a:prstGeom>
          <a:noFill/>
        </p:spPr>
        <p:txBody>
          <a:bodyPr wrap="none" lIns="36000" tIns="36000" rIns="36000" bIns="36000" rtlCol="0">
            <a:spAutoFit/>
          </a:bodyPr>
          <a:lstStyle/>
          <a:p>
            <a:r>
              <a:rPr lang="en-US" altLang="ko-KR" sz="900" b="1" dirty="0">
                <a:solidFill>
                  <a:prstClr val="black"/>
                </a:solidFill>
              </a:rPr>
              <a:t>1.1</a:t>
            </a:r>
            <a:r>
              <a:rPr lang="en-US" altLang="ko-KR" sz="900" b="1">
                <a:solidFill>
                  <a:prstClr val="black"/>
                </a:solidFill>
              </a:rPr>
              <a:t>. </a:t>
            </a:r>
            <a:r>
              <a:rPr lang="ko-KR" altLang="en-US" sz="900" b="1">
                <a:solidFill>
                  <a:prstClr val="black"/>
                </a:solidFill>
              </a:rPr>
              <a:t>보관함품목 검색조건 </a:t>
            </a:r>
            <a:r>
              <a:rPr lang="en-US" altLang="ko-KR" sz="900" b="1">
                <a:solidFill>
                  <a:prstClr val="black"/>
                </a:solidFill>
              </a:rPr>
              <a:t>(dm_searchInfo)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867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일자구분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srchYmdSe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검색할 일자구분자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구분코드 </a:t>
                      </a:r>
                      <a:r>
                        <a:rPr lang="en-US" altLang="ko-KR" sz="800">
                          <a:latin typeface="+mn-ea"/>
                          <a:ea typeface="+mn-ea"/>
                        </a:rPr>
                        <a:t>GTSB0001(</a:t>
                      </a:r>
                      <a:r>
                        <a:rPr lang="ko-KR" altLang="en-US" sz="800">
                          <a:latin typeface="+mn-ea"/>
                          <a:ea typeface="+mn-ea"/>
                        </a:rPr>
                        <a:t>개찰일자</a:t>
                      </a:r>
                      <a:r>
                        <a:rPr lang="en-US" altLang="ko-KR" sz="800">
                          <a:latin typeface="+mn-ea"/>
                          <a:ea typeface="+mn-ea"/>
                        </a:rPr>
                        <a:t>, </a:t>
                      </a:r>
                      <a:r>
                        <a:rPr lang="ko-KR" altLang="en-US" sz="800">
                          <a:latin typeface="+mn-ea"/>
                          <a:ea typeface="+mn-ea"/>
                        </a:rPr>
                        <a:t>입찰참가</a:t>
                      </a:r>
                      <a:r>
                        <a:rPr lang="en-US" altLang="ko-KR" sz="800">
                          <a:latin typeface="+mn-ea"/>
                          <a:ea typeface="+mn-ea"/>
                        </a:rPr>
                        <a:t>, </a:t>
                      </a:r>
                      <a:r>
                        <a:rPr lang="ko-KR" altLang="en-US" sz="800">
                          <a:latin typeface="+mn-ea"/>
                          <a:ea typeface="+mn-ea"/>
                        </a:rPr>
                        <a:t>입찰서제출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srchEndYmd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기준일자끝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srchBgngYmd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기준일자끝</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1121168"/>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5474453"/>
                  </a:ext>
                </a:extLst>
              </a:tr>
              <a:tr h="0">
                <a:tc>
                  <a:txBody>
                    <a:bodyPr/>
                    <a:lstStyle/>
                    <a:p>
                      <a:pPr algn="l" fontAlgn="ctr"/>
                      <a:r>
                        <a:rPr lang="ko-KR" altLang="en-US" sz="800" b="0" i="0" u="none" strike="noStrike">
                          <a:solidFill>
                            <a:srgbClr val="000000"/>
                          </a:solidFill>
                          <a:effectLst/>
                          <a:latin typeface="+mn-ea"/>
                          <a:ea typeface="+mn-ea"/>
                        </a:rPr>
                        <a:t>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2530895"/>
                  </a:ext>
                </a:extLst>
              </a:tr>
              <a:tr h="0">
                <a:tc>
                  <a:txBody>
                    <a:bodyPr/>
                    <a:lstStyle/>
                    <a:p>
                      <a:pPr algn="l" fontAlgn="ctr"/>
                      <a:r>
                        <a:rPr lang="ko-KR" altLang="en-US" sz="800" b="0" i="0" u="none" strike="noStrike">
                          <a:solidFill>
                            <a:srgbClr val="000000"/>
                          </a:solidFill>
                          <a:effectLst/>
                          <a:latin typeface="+mn-ea"/>
                          <a:ea typeface="+mn-ea"/>
                        </a:rPr>
                        <a:t>부품번호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폼목의</a:t>
                      </a:r>
                      <a:r>
                        <a:rPr lang="ko-KR" altLang="en-US" sz="800" b="0" i="0" u="none" strike="noStrike" dirty="0">
                          <a:solidFill>
                            <a:srgbClr val="000000"/>
                          </a:solidFill>
                          <a:effectLst/>
                          <a:latin typeface="+mn-ea"/>
                          <a:ea typeface="+mn-ea"/>
                        </a:rPr>
                        <a:t>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889392"/>
                  </a:ext>
                </a:extLst>
              </a:tr>
              <a:tr h="0">
                <a:tc>
                  <a:txBody>
                    <a:bodyPr/>
                    <a:lstStyle/>
                    <a:p>
                      <a:pPr algn="l" fontAlgn="ctr"/>
                      <a:r>
                        <a:rPr lang="ko-KR" altLang="en-US" sz="800" b="0" i="0" u="none" strike="noStrike">
                          <a:solidFill>
                            <a:srgbClr val="000000"/>
                          </a:solidFill>
                          <a:effectLst/>
                          <a:latin typeface="+mn-ea"/>
                          <a:ea typeface="+mn-ea"/>
                        </a:rPr>
                        <a:t>보관함여부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lockerYn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보관함에 추가된 품목인지 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5868777"/>
                  </a:ext>
                </a:extLst>
              </a:tr>
            </a:tbl>
          </a:graphicData>
        </a:graphic>
      </p:graphicFrame>
      <p:sp>
        <p:nvSpPr>
          <p:cNvPr id="8" name="TextBox 7">
            <a:extLst>
              <a:ext uri="{FF2B5EF4-FFF2-40B4-BE49-F238E27FC236}">
                <a16:creationId xmlns:a16="http://schemas.microsoft.com/office/drawing/2014/main" id="{E5ED50AF-87A5-B4A3-77D6-79745A71255B}"/>
              </a:ext>
            </a:extLst>
          </p:cNvPr>
          <p:cNvSpPr txBox="1"/>
          <p:nvPr/>
        </p:nvSpPr>
        <p:spPr>
          <a:xfrm>
            <a:off x="452291" y="3018484"/>
            <a:ext cx="2474002" cy="211203"/>
          </a:xfrm>
          <a:prstGeom prst="rect">
            <a:avLst/>
          </a:prstGeom>
          <a:noFill/>
        </p:spPr>
        <p:txBody>
          <a:bodyPr wrap="none" lIns="36000" tIns="36000" rIns="36000" bIns="36000" rtlCol="0">
            <a:spAutoFit/>
          </a:bodyPr>
          <a:lstStyle/>
          <a:p>
            <a:r>
              <a:rPr lang="en-US" altLang="ko-KR" sz="900" b="1" dirty="0">
                <a:solidFill>
                  <a:prstClr val="black"/>
                </a:solidFill>
              </a:rPr>
              <a:t>1.2</a:t>
            </a:r>
            <a:r>
              <a:rPr lang="en-US" altLang="ko-KR" sz="900" b="1">
                <a:solidFill>
                  <a:prstClr val="black"/>
                </a:solidFill>
              </a:rPr>
              <a:t>. </a:t>
            </a:r>
            <a:r>
              <a:rPr lang="ko-KR" altLang="en-US" sz="900" b="1">
                <a:solidFill>
                  <a:prstClr val="black"/>
                </a:solidFill>
              </a:rPr>
              <a:t>입찰품목목록 데이터 영역 </a:t>
            </a:r>
            <a:r>
              <a:rPr lang="en-US" altLang="ko-KR" sz="900" b="1">
                <a:solidFill>
                  <a:prstClr val="black"/>
                </a:solidFill>
              </a:rPr>
              <a:t>(dl_resultList)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839F3F3-16EE-51B4-D780-C1A0CE7FF48C}"/>
              </a:ext>
            </a:extLst>
          </p:cNvPr>
          <p:cNvGraphicFramePr>
            <a:graphicFrameLocks noGrp="1"/>
          </p:cNvGraphicFramePr>
          <p:nvPr/>
        </p:nvGraphicFramePr>
        <p:xfrm>
          <a:off x="447173" y="3229687"/>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err="1">
                          <a:solidFill>
                            <a:srgbClr val="000000"/>
                          </a:solidFill>
                          <a:effectLst/>
                          <a:latin typeface="+mn-ea"/>
                          <a:ea typeface="+mn-ea"/>
                        </a:rPr>
                        <a:t>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r h="0">
                <a:tc>
                  <a:txBody>
                    <a:bodyPr/>
                    <a:lstStyle/>
                    <a:p>
                      <a:pPr algn="l" fontAlgn="ctr"/>
                      <a:r>
                        <a:rPr lang="ko-KR" altLang="en-US" sz="800" b="0" i="0" u="none" strike="noStrike" dirty="0">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0839463"/>
                  </a:ext>
                </a:extLst>
              </a:tr>
              <a:tr h="0">
                <a:tc>
                  <a:txBody>
                    <a:bodyPr/>
                    <a:lstStyle/>
                    <a:p>
                      <a:pPr algn="l" fontAlgn="ctr"/>
                      <a:r>
                        <a:rPr lang="ko-KR" altLang="en-US" sz="800" b="0" i="0" u="none" strike="noStrike" dirty="0" err="1">
                          <a:solidFill>
                            <a:srgbClr val="000000"/>
                          </a:solidFill>
                          <a:effectLst/>
                          <a:latin typeface="+mn-ea"/>
                          <a:ea typeface="+mn-ea"/>
                        </a:rPr>
                        <a:t>항목번호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품목의 항목번호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09746"/>
                  </a:ext>
                </a:extLst>
              </a:tr>
              <a:tr h="0">
                <a:tc>
                  <a:txBody>
                    <a:bodyPr/>
                    <a:lstStyle/>
                    <a:p>
                      <a:pPr algn="l" fontAlgn="ctr"/>
                      <a:r>
                        <a:rPr lang="ko-KR" altLang="en-US" sz="800" b="0" i="0" u="none" strike="noStrike" dirty="0" err="1">
                          <a:solidFill>
                            <a:srgbClr val="000000"/>
                          </a:solidFill>
                          <a:effectLst/>
                          <a:latin typeface="+mn-ea"/>
                          <a:ea typeface="+mn-ea"/>
                        </a:rPr>
                        <a:t>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품목의 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8237886"/>
                  </a:ext>
                </a:extLst>
              </a:tr>
              <a:tr h="0">
                <a:tc>
                  <a:txBody>
                    <a:bodyPr/>
                    <a:lstStyle/>
                    <a:p>
                      <a:pPr algn="l" fontAlgn="ctr"/>
                      <a:r>
                        <a:rPr lang="ko-KR" altLang="en-US" sz="800" b="0" i="0" u="none" strike="noStrike" dirty="0" err="1">
                          <a:solidFill>
                            <a:srgbClr val="000000"/>
                          </a:solidFill>
                          <a:effectLst/>
                          <a:latin typeface="+mn-ea"/>
                          <a:ea typeface="+mn-ea"/>
                        </a:rPr>
                        <a:t>부품번호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폼목의 부품번호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5746876"/>
                  </a:ext>
                </a:extLst>
              </a:tr>
              <a:tr h="0">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684965"/>
                  </a:ext>
                </a:extLst>
              </a:tr>
              <a:tr h="0">
                <a:tc>
                  <a:txBody>
                    <a:bodyPr/>
                    <a:lstStyle/>
                    <a:p>
                      <a:pPr algn="l" fontAlgn="ctr"/>
                      <a:r>
                        <a:rPr lang="ko-KR" altLang="en-US" sz="800" b="0" i="0" u="none" strike="noStrike" dirty="0">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품목의 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6290597"/>
                  </a:ext>
                </a:extLst>
              </a:tr>
              <a:tr h="0">
                <a:tc>
                  <a:txBody>
                    <a:bodyPr/>
                    <a:lstStyle/>
                    <a:p>
                      <a:pPr algn="l" fontAlgn="ctr"/>
                      <a:r>
                        <a:rPr lang="ko-KR" altLang="en-US" sz="800" b="0" i="0" u="none" strike="noStrike" dirty="0">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수량</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5491152"/>
                  </a:ext>
                </a:extLst>
              </a:tr>
              <a:tr h="0">
                <a:tc>
                  <a:txBody>
                    <a:bodyPr/>
                    <a:lstStyle/>
                    <a:p>
                      <a:pPr algn="l" fontAlgn="ctr"/>
                      <a:r>
                        <a:rPr lang="ko-KR" altLang="en-US" sz="800" b="0" i="0" u="none" strike="noStrike" dirty="0" err="1">
                          <a:solidFill>
                            <a:srgbClr val="000000"/>
                          </a:solidFill>
                          <a:effectLst/>
                          <a:latin typeface="+mn-ea"/>
                          <a:ea typeface="+mn-ea"/>
                        </a:rPr>
                        <a:t>지시단가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지시단가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7954286"/>
                  </a:ext>
                </a:extLst>
              </a:tr>
              <a:tr h="0">
                <a:tc>
                  <a:txBody>
                    <a:bodyPr/>
                    <a:lstStyle/>
                    <a:p>
                      <a:pPr algn="l" fontAlgn="ctr"/>
                      <a:r>
                        <a:rPr lang="ko-KR" altLang="en-US" sz="800" b="0" i="0" u="none" strike="noStrike" dirty="0">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crncNm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지시단가의 화폐단위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961819"/>
                  </a:ext>
                </a:extLst>
              </a:tr>
              <a:tr h="0">
                <a:tc>
                  <a:txBody>
                    <a:bodyPr/>
                    <a:lstStyle/>
                    <a:p>
                      <a:pPr algn="l" fontAlgn="ctr"/>
                      <a:r>
                        <a:rPr lang="ko-KR" altLang="en-US" sz="800" b="0" i="0" u="none" strike="noStrike">
                          <a:solidFill>
                            <a:srgbClr val="000000"/>
                          </a:solidFill>
                          <a:effectLst/>
                          <a:latin typeface="+mn-ea"/>
                          <a:ea typeface="+mn-ea"/>
                        </a:rPr>
                        <a:t>보관함여부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lockerYn</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보관함에 추가된 품목인지 표시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b="0">
                          <a:solidFill>
                            <a:schemeClr val="tx1"/>
                          </a:solidFill>
                          <a:latin typeface="+mn-ea"/>
                          <a:ea typeface="+mn-ea"/>
                        </a:rPr>
                        <a:t>값 </a:t>
                      </a:r>
                      <a:r>
                        <a:rPr lang="en-US" altLang="ko-KR" sz="800" b="0">
                          <a:solidFill>
                            <a:schemeClr val="tx1"/>
                          </a:solidFill>
                          <a:latin typeface="+mn-ea"/>
                          <a:ea typeface="+mn-ea"/>
                        </a:rPr>
                        <a:t>(Y, N)</a:t>
                      </a:r>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5913209"/>
                  </a:ext>
                </a:extLst>
              </a:tr>
              <a:tr h="0">
                <a:tc>
                  <a:txBody>
                    <a:bodyPr/>
                    <a:lstStyle/>
                    <a:p>
                      <a:pPr algn="l" fontAlgn="ctr"/>
                      <a:r>
                        <a:rPr lang="ko-KR" altLang="en-US" sz="800" b="0" i="0" u="none" strike="noStrike">
                          <a:solidFill>
                            <a:srgbClr val="000000"/>
                          </a:solidFill>
                          <a:effectLst/>
                          <a:latin typeface="+mn-ea"/>
                          <a:ea typeface="+mn-ea"/>
                        </a:rPr>
                        <a:t>입찰내역작성여부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tmprBidCnEn</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입찰내역 작성된 품목인지 표시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b="0" dirty="0">
                          <a:solidFill>
                            <a:schemeClr val="tx1"/>
                          </a:solidFill>
                          <a:latin typeface="+mn-ea"/>
                          <a:ea typeface="+mn-ea"/>
                        </a:rPr>
                        <a:t>값 </a:t>
                      </a:r>
                      <a:r>
                        <a:rPr lang="en-US" altLang="ko-KR" sz="800" b="0" dirty="0">
                          <a:solidFill>
                            <a:schemeClr val="tx1"/>
                          </a:solidFill>
                          <a:latin typeface="+mn-ea"/>
                          <a:ea typeface="+mn-ea"/>
                        </a:rPr>
                        <a:t>(Y, N)</a:t>
                      </a:r>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2591919"/>
                  </a:ext>
                </a:extLst>
              </a:tr>
            </a:tbl>
          </a:graphicData>
        </a:graphic>
      </p:graphicFrame>
      <p:sp>
        <p:nvSpPr>
          <p:cNvPr id="2" name="Text Box 73">
            <a:extLst>
              <a:ext uri="{FF2B5EF4-FFF2-40B4-BE49-F238E27FC236}">
                <a16:creationId xmlns:a16="http://schemas.microsoft.com/office/drawing/2014/main" id="{6596C6E5-8511-95E3-F3D2-FCFFE48FFEE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272458411"/>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418</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a:solidFill>
                  <a:prstClr val="black"/>
                </a:solidFill>
                <a:latin typeface="+mn-ea"/>
              </a:rPr>
              <a:t>2.</a:t>
            </a:r>
            <a:r>
              <a:rPr lang="ko-KR" altLang="en-US" sz="1000" b="1">
                <a:solidFill>
                  <a:prstClr val="black"/>
                </a:solidFill>
                <a:latin typeface="+mn-ea"/>
              </a:rPr>
              <a:t> 이벤트 설명</a:t>
            </a:r>
            <a:endParaRPr lang="ko-KR" altLang="en-US" sz="1000" b="1" dirty="0">
              <a:solidFill>
                <a:prstClr val="black"/>
              </a:solidFill>
              <a:latin typeface="+mn-ea"/>
            </a:endParaRPr>
          </a:p>
        </p:txBody>
      </p:sp>
      <p:sp>
        <p:nvSpPr>
          <p:cNvPr id="2" name="Text Box 73">
            <a:extLst>
              <a:ext uri="{FF2B5EF4-FFF2-40B4-BE49-F238E27FC236}">
                <a16:creationId xmlns:a16="http://schemas.microsoft.com/office/drawing/2014/main" id="{6596C6E5-8511-95E3-F3D2-FCFFE48FFEE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a:t>
            </a:r>
            <a:r>
              <a:rPr lang="en-US" altLang="ko-KR" sz="700">
                <a:solidFill>
                  <a:prstClr val="black"/>
                </a:solidFill>
                <a:latin typeface="+mn-ea"/>
              </a:rPr>
              <a:t>) </a:t>
            </a:r>
            <a:r>
              <a:rPr lang="ko-KR" altLang="en-US" sz="700">
                <a:solidFill>
                  <a:prstClr val="black"/>
                </a:solidFill>
                <a:latin typeface="+mn-ea"/>
              </a:rPr>
              <a:t>상세설계 </a:t>
            </a:r>
            <a:r>
              <a:rPr lang="ko-KR" altLang="en-US" sz="700" dirty="0">
                <a:solidFill>
                  <a:prstClr val="black"/>
                </a:solidFill>
                <a:latin typeface="+mn-ea"/>
              </a:rPr>
              <a:t>기간에 작성 예정</a:t>
            </a:r>
            <a:endParaRPr lang="en-US" altLang="ko-KR" sz="700" dirty="0">
              <a:solidFill>
                <a:prstClr val="black"/>
              </a:solidFill>
              <a:latin typeface="+mn-ea"/>
            </a:endParaRPr>
          </a:p>
        </p:txBody>
      </p:sp>
      <p:graphicFrame>
        <p:nvGraphicFramePr>
          <p:cNvPr id="6" name="표 5">
            <a:extLst>
              <a:ext uri="{FF2B5EF4-FFF2-40B4-BE49-F238E27FC236}">
                <a16:creationId xmlns:a16="http://schemas.microsoft.com/office/drawing/2014/main" id="{88323539-5B01-5A98-0306-670ED46DA89A}"/>
              </a:ext>
            </a:extLst>
          </p:cNvPr>
          <p:cNvGraphicFramePr>
            <a:graphicFrameLocks noGrp="1"/>
          </p:cNvGraphicFramePr>
          <p:nvPr/>
        </p:nvGraphicFramePr>
        <p:xfrm>
          <a:off x="458117" y="799547"/>
          <a:ext cx="8995591" cy="96960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l" latinLnBrk="1"/>
                      <a:r>
                        <a:rPr lang="ko-KR" altLang="en-US" sz="800" b="1" dirty="0">
                          <a:latin typeface="+mn-ea"/>
                          <a:ea typeface="+mn-ea"/>
                        </a:rPr>
                        <a:t>이벤트명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l"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l"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l"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04593">
                <a:tc>
                  <a:txBody>
                    <a:bodyPr/>
                    <a:lstStyle/>
                    <a:p>
                      <a:pPr algn="l"/>
                      <a:r>
                        <a:rPr lang="ko-KR" altLang="en-US" sz="800"/>
                        <a:t>검색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검색조건의 입찰품목목록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입찰품목목록조회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100933"/>
                  </a:ext>
                </a:extLst>
              </a:tr>
              <a:tr h="0">
                <a:tc>
                  <a:txBody>
                    <a:bodyPr/>
                    <a:lstStyle/>
                    <a:p>
                      <a:pPr algn="l"/>
                      <a:r>
                        <a:rPr lang="ko-KR" altLang="en-US" sz="800"/>
                        <a:t>보관함삭제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scnwin.btn_deleteItem_onclick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a:latin typeface="+mn-ea"/>
                          <a:ea typeface="+mn-ea"/>
                        </a:rPr>
                        <a:t>선택된 품목을 보관함에 추가함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보관함추가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1043613"/>
                  </a:ext>
                </a:extLst>
              </a:tr>
              <a:tr h="0">
                <a:tc>
                  <a:txBody>
                    <a:bodyPr/>
                    <a:lstStyle/>
                    <a:p>
                      <a:pPr algn="l" fontAlgn="ctr"/>
                      <a:r>
                        <a:rPr lang="ko-KR" altLang="en-US" sz="800" b="0" i="0" u="none" strike="noStrike">
                          <a:solidFill>
                            <a:srgbClr val="000000"/>
                          </a:solidFill>
                          <a:effectLst/>
                          <a:latin typeface="+mn-ea"/>
                          <a:ea typeface="+mn-ea"/>
                        </a:rPr>
                        <a:t>보관함추가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scnwin.btn_addItem_onclick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a:latin typeface="+mn-ea"/>
                          <a:ea typeface="+mn-ea"/>
                        </a:rPr>
                        <a:t>선택된 품목을 보관함에서 제거함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보관함삭제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bl>
          </a:graphicData>
        </a:graphic>
      </p:graphicFrame>
    </p:spTree>
    <p:extLst>
      <p:ext uri="{BB962C8B-B14F-4D97-AF65-F5344CB8AC3E}">
        <p14:creationId xmlns:p14="http://schemas.microsoft.com/office/powerpoint/2010/main" val="2172878904"/>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a:t>
            </a:r>
            <a:r>
              <a:rPr lang="ko-KR" altLang="en-US" dirty="0" smtClean="0"/>
              <a:t>메뉴</a:t>
            </a:r>
            <a:r>
              <a:rPr lang="en-US" altLang="ko-KR" dirty="0" smtClean="0"/>
              <a:t/>
            </a:r>
            <a:br>
              <a:rPr lang="en-US" altLang="ko-KR" dirty="0" smtClean="0"/>
            </a:br>
            <a:r>
              <a:rPr lang="en-US" altLang="ko-KR" dirty="0" smtClean="0"/>
              <a:t>- </a:t>
            </a:r>
            <a:r>
              <a:rPr lang="ko-KR" altLang="en-US" dirty="0" err="1" smtClean="0"/>
              <a:t>입찰내역</a:t>
            </a:r>
            <a:r>
              <a:rPr lang="ko-KR" altLang="en-US" dirty="0" smtClean="0"/>
              <a:t> 탭은 입찰 공고 </a:t>
            </a:r>
            <a:r>
              <a:rPr lang="en-US" altLang="ko-KR" dirty="0" smtClean="0"/>
              <a:t>-</a:t>
            </a:r>
            <a:r>
              <a:rPr lang="ko-KR" altLang="en-US" dirty="0" smtClean="0"/>
              <a:t> </a:t>
            </a:r>
            <a:r>
              <a:rPr lang="ko-KR" altLang="en-US" dirty="0" err="1" smtClean="0"/>
              <a:t>단가제</a:t>
            </a:r>
            <a:r>
              <a:rPr lang="en-US" altLang="ko-KR" dirty="0" smtClean="0"/>
              <a:t>, </a:t>
            </a:r>
            <a:r>
              <a:rPr lang="ko-KR" altLang="en-US" dirty="0" err="1" smtClean="0"/>
              <a:t>총액제에</a:t>
            </a:r>
            <a:r>
              <a:rPr lang="ko-KR" altLang="en-US" dirty="0" smtClean="0"/>
              <a:t> 따라 분기되어 표시</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fontAlgn="ctr"/>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694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103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0933"/>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15998"/>
            <a:ext cx="769441"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77067" y="2900609"/>
            <a:ext cx="628377"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40495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7593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542757"/>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542757"/>
            <a:ext cx="597592" cy="107722"/>
          </a:xfrm>
          <a:prstGeom prst="rect">
            <a:avLst/>
          </a:prstGeom>
          <a:noFill/>
        </p:spPr>
        <p:txBody>
          <a:bodyPr wrap="square" lIns="0" tIns="0" rIns="0" bIns="0" rtlCol="0">
            <a:spAutoFit/>
          </a:bodyPr>
          <a:lstStyle/>
          <a:p>
            <a:pPr algn="ctr"/>
            <a:r>
              <a:rPr lang="ko-KR" altLang="en-US" sz="700" dirty="0" err="1" smtClean="0">
                <a:latin typeface="+mn-ea"/>
              </a:rPr>
              <a:t>입찰내역</a:t>
            </a:r>
            <a:endParaRPr lang="ko-KR" altLang="en-US" sz="700" dirty="0">
              <a:latin typeface="+mn-ea"/>
            </a:endParaRP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759364"/>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504634"/>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51055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14975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1853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1636907"/>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1636907"/>
            <a:ext cx="620438" cy="107722"/>
          </a:xfrm>
          <a:prstGeom prst="rect">
            <a:avLst/>
          </a:prstGeom>
          <a:noFill/>
        </p:spPr>
        <p:txBody>
          <a:bodyPr wrap="square" lIns="0" tIns="0" rIns="0" bIns="0" rtlCol="0">
            <a:spAutoFit/>
          </a:bodyPr>
          <a:lstStyle/>
          <a:p>
            <a:pPr algn="ctr"/>
            <a:r>
              <a:rPr lang="ko-KR" altLang="en-US" sz="700" dirty="0" err="1">
                <a:latin typeface="+mn-ea"/>
              </a:rPr>
              <a:t>입찰내역</a:t>
            </a:r>
            <a:endParaRPr lang="ko-KR" altLang="en-US" sz="700" dirty="0">
              <a:latin typeface="+mn-ea"/>
            </a:endParaRP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1853514"/>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1598784"/>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566514" y="395889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1220691" y="2396602"/>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777000" y="2396602"/>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grpSp>
        <p:nvGrpSpPr>
          <p:cNvPr id="208" name="그룹 207"/>
          <p:cNvGrpSpPr/>
          <p:nvPr/>
        </p:nvGrpSpPr>
        <p:grpSpPr>
          <a:xfrm>
            <a:off x="3795735" y="1982788"/>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그룹 127"/>
          <p:cNvGrpSpPr/>
          <p:nvPr/>
        </p:nvGrpSpPr>
        <p:grpSpPr>
          <a:xfrm>
            <a:off x="716366" y="3886709"/>
            <a:ext cx="2630093" cy="2454885"/>
            <a:chOff x="701175" y="1527996"/>
            <a:chExt cx="2630093" cy="2454885"/>
          </a:xfrm>
        </p:grpSpPr>
        <p:sp>
          <p:nvSpPr>
            <p:cNvPr id="129" name="TextBox 128">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30" name="그룹 129"/>
            <p:cNvGrpSpPr/>
            <p:nvPr/>
          </p:nvGrpSpPr>
          <p:grpSpPr>
            <a:xfrm flipV="1">
              <a:off x="3124233" y="1641327"/>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1" name="직사각형 130"/>
            <p:cNvSpPr/>
            <p:nvPr/>
          </p:nvSpPr>
          <p:spPr>
            <a:xfrm>
              <a:off x="703268" y="1835482"/>
              <a:ext cx="792000" cy="2147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TextBox 13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547180" y="1835481"/>
              <a:ext cx="1775839" cy="212013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a:latin typeface="+mn-ea"/>
                </a:rPr>
                <a:t>일반경쟁</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134" name="그룹 133"/>
            <p:cNvGrpSpPr/>
            <p:nvPr/>
          </p:nvGrpSpPr>
          <p:grpSpPr>
            <a:xfrm>
              <a:off x="701175" y="1835481"/>
              <a:ext cx="2630093" cy="2147400"/>
              <a:chOff x="701175" y="1835481"/>
              <a:chExt cx="2630093" cy="2147400"/>
            </a:xfrm>
          </p:grpSpPr>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5" name="TextBox 134">
              <a:extLst>
                <a:ext uri="{FF2B5EF4-FFF2-40B4-BE49-F238E27FC236}">
                  <a16:creationId xmlns:a16="http://schemas.microsoft.com/office/drawing/2014/main" id="{FFC49AEA-2A8F-250C-A86A-A7751D9706C3}"/>
                </a:ext>
              </a:extLst>
            </p:cNvPr>
            <p:cNvSpPr txBox="1"/>
            <p:nvPr/>
          </p:nvSpPr>
          <p:spPr>
            <a:xfrm>
              <a:off x="790330" y="31206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790330" y="33377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137" name="TextBox 136">
              <a:extLst>
                <a:ext uri="{FF2B5EF4-FFF2-40B4-BE49-F238E27FC236}">
                  <a16:creationId xmlns:a16="http://schemas.microsoft.com/office/drawing/2014/main" id="{FFC49AEA-2A8F-250C-A86A-A7751D9706C3}"/>
                </a:ext>
              </a:extLst>
            </p:cNvPr>
            <p:cNvSpPr txBox="1"/>
            <p:nvPr/>
          </p:nvSpPr>
          <p:spPr>
            <a:xfrm>
              <a:off x="790330" y="3524557"/>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grpSp>
        <p:nvGrpSpPr>
          <p:cNvPr id="102" name="그룹 101"/>
          <p:cNvGrpSpPr/>
          <p:nvPr/>
        </p:nvGrpSpPr>
        <p:grpSpPr>
          <a:xfrm>
            <a:off x="677960" y="1582647"/>
            <a:ext cx="2714637" cy="686386"/>
            <a:chOff x="677960" y="1582647"/>
            <a:chExt cx="2714637" cy="686386"/>
          </a:xfrm>
        </p:grpSpPr>
        <p:sp>
          <p:nvSpPr>
            <p:cNvPr id="103" name="TextBox 102">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err="1">
                  <a:latin typeface="+mn-ea"/>
                </a:rPr>
                <a:t>입찰내역</a:t>
              </a:r>
              <a:r>
                <a:rPr lang="ko-KR" altLang="en-US" sz="800" dirty="0">
                  <a:latin typeface="+mn-ea"/>
                </a:rPr>
                <a:t> 작성</a:t>
              </a:r>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6" name="그룹 105"/>
            <p:cNvGrpSpPr/>
            <p:nvPr/>
          </p:nvGrpSpPr>
          <p:grpSpPr>
            <a:xfrm rot="5400000">
              <a:off x="852159" y="2062596"/>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7" name="그룹 106"/>
            <p:cNvGrpSpPr/>
            <p:nvPr/>
          </p:nvGrpSpPr>
          <p:grpSpPr>
            <a:xfrm>
              <a:off x="677960" y="1582647"/>
              <a:ext cx="2712027" cy="324286"/>
              <a:chOff x="677960" y="1582647"/>
              <a:chExt cx="2712027" cy="324286"/>
            </a:xfrm>
          </p:grpSpPr>
          <p:pic>
            <p:nvPicPr>
              <p:cNvPr id="108"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09" name="직선 연결선 108">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타원 109"/>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타원 110"/>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2" name="타원 111"/>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1920774879"/>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16366" y="1527996"/>
            <a:ext cx="2630093" cy="2454885"/>
            <a:chOff x="701175" y="1527996"/>
            <a:chExt cx="2630093" cy="2454885"/>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2147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212013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a:latin typeface="+mn-ea"/>
                </a:rPr>
                <a:t>일반경쟁</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17" name="그룹 16"/>
            <p:cNvGrpSpPr/>
            <p:nvPr/>
          </p:nvGrpSpPr>
          <p:grpSpPr>
            <a:xfrm>
              <a:off x="701175" y="1835481"/>
              <a:ext cx="2630093" cy="2147400"/>
              <a:chOff x="701175" y="1835481"/>
              <a:chExt cx="2630093" cy="214740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31206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33377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54" name="TextBox 53">
              <a:extLst>
                <a:ext uri="{FF2B5EF4-FFF2-40B4-BE49-F238E27FC236}">
                  <a16:creationId xmlns:a16="http://schemas.microsoft.com/office/drawing/2014/main" id="{FFC49AEA-2A8F-250C-A86A-A7751D9706C3}"/>
                </a:ext>
              </a:extLst>
            </p:cNvPr>
            <p:cNvSpPr txBox="1"/>
            <p:nvPr/>
          </p:nvSpPr>
          <p:spPr>
            <a:xfrm>
              <a:off x="790330" y="3524557"/>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675399" y="4073350"/>
            <a:ext cx="2712026" cy="931649"/>
            <a:chOff x="3795735" y="4583637"/>
            <a:chExt cx="2712026" cy="931649"/>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4729163"/>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98" name="직선 연결선 97">
              <a:extLst>
                <a:ext uri="{FF2B5EF4-FFF2-40B4-BE49-F238E27FC236}">
                  <a16:creationId xmlns:a16="http://schemas.microsoft.com/office/drawing/2014/main" id="{E9293055-D5CD-4B9E-7F64-64B2D2CA7A52}"/>
                </a:ext>
              </a:extLst>
            </p:cNvPr>
            <p:cNvCxnSpPr/>
            <p:nvPr/>
          </p:nvCxnSpPr>
          <p:spPr>
            <a:xfrm>
              <a:off x="3795735" y="4583637"/>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280292967"/>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직사각형 186"/>
          <p:cNvSpPr/>
          <p:nvPr/>
        </p:nvSpPr>
        <p:spPr>
          <a:xfrm>
            <a:off x="3820170" y="3974872"/>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직사각형 139"/>
          <p:cNvSpPr/>
          <p:nvPr/>
        </p:nvSpPr>
        <p:spPr>
          <a:xfrm>
            <a:off x="722060" y="1836758"/>
            <a:ext cx="792000" cy="4106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normAutofit/>
          </a:bodyPr>
          <a:lstStyle/>
          <a:p>
            <a:pPr>
              <a:buFont typeface="+mj-lt"/>
              <a:buAutoNum type="arabicPeriod"/>
            </a:pPr>
            <a:r>
              <a:rPr lang="ko-KR" altLang="en-US" dirty="0" err="1"/>
              <a:t>품목목록</a:t>
            </a:r>
            <a:r>
              <a:rPr lang="ko-KR" altLang="en-US" dirty="0"/>
              <a:t> 데이터 </a:t>
            </a:r>
            <a:r>
              <a:rPr lang="ko-KR" altLang="en-US" dirty="0" smtClean="0"/>
              <a:t>영역</a:t>
            </a:r>
            <a:r>
              <a:rPr lang="en-US" altLang="ko-KR" dirty="0" smtClean="0"/>
              <a:t/>
            </a:r>
            <a:br>
              <a:rPr lang="en-US" altLang="ko-KR" dirty="0" smtClean="0"/>
            </a:br>
            <a:r>
              <a:rPr lang="en-US" altLang="ko-KR" dirty="0" smtClean="0"/>
              <a:t>- </a:t>
            </a:r>
            <a:r>
              <a:rPr lang="ko-KR" altLang="en-US" dirty="0" err="1" smtClean="0"/>
              <a:t>단가제</a:t>
            </a:r>
            <a:r>
              <a:rPr lang="ko-KR" altLang="en-US" dirty="0" smtClean="0"/>
              <a:t> 목록</a:t>
            </a:r>
            <a:endParaRPr lang="en-US" altLang="ko-KR" dirty="0" smtClean="0"/>
          </a:p>
          <a:p>
            <a:pPr>
              <a:buFont typeface="+mj-lt"/>
              <a:buAutoNum type="arabicPeriod"/>
            </a:pPr>
            <a:r>
              <a:rPr lang="ko-KR" altLang="en-US" dirty="0" err="1" smtClean="0"/>
              <a:t>입찰업체</a:t>
            </a:r>
            <a:r>
              <a:rPr lang="en-US" altLang="ko-KR" dirty="0" smtClean="0"/>
              <a:t>, </a:t>
            </a:r>
            <a:r>
              <a:rPr lang="ko-KR" altLang="en-US" dirty="0" smtClean="0"/>
              <a:t>화폐단위 일괄 적용</a:t>
            </a:r>
            <a:r>
              <a:rPr lang="en-US" altLang="ko-KR" dirty="0" smtClean="0"/>
              <a:t/>
            </a:r>
            <a:br>
              <a:rPr lang="en-US" altLang="ko-KR" dirty="0" smtClean="0"/>
            </a:br>
            <a:r>
              <a:rPr lang="en-US" altLang="ko-KR" dirty="0" smtClean="0"/>
              <a:t>- </a:t>
            </a:r>
            <a:r>
              <a:rPr lang="ko-KR" altLang="en-US" dirty="0" smtClean="0"/>
              <a:t>각 품목에 개별적으로 </a:t>
            </a:r>
            <a:r>
              <a:rPr lang="ko-KR" altLang="en-US" dirty="0" err="1" smtClean="0"/>
              <a:t>입찰업체</a:t>
            </a:r>
            <a:r>
              <a:rPr lang="en-US" altLang="ko-KR" dirty="0" smtClean="0"/>
              <a:t>, </a:t>
            </a:r>
            <a:r>
              <a:rPr lang="ko-KR" altLang="en-US" dirty="0" smtClean="0"/>
              <a:t>화폐단위를 설정할 수 있음</a:t>
            </a:r>
            <a:r>
              <a:rPr lang="en-US" altLang="ko-KR" dirty="0" smtClean="0"/>
              <a:t>. </a:t>
            </a:r>
            <a:br>
              <a:rPr lang="en-US" altLang="ko-KR" dirty="0" smtClean="0"/>
            </a:br>
            <a:r>
              <a:rPr lang="en-US" altLang="ko-KR" dirty="0" smtClean="0"/>
              <a:t>- </a:t>
            </a:r>
            <a:r>
              <a:rPr lang="ko-KR" altLang="en-US" dirty="0" smtClean="0"/>
              <a:t>개별 입력 시 항목이 많기 때문에 가장 상단 </a:t>
            </a:r>
            <a:r>
              <a:rPr lang="ko-KR" altLang="en-US" dirty="0" err="1" smtClean="0"/>
              <a:t>일괄적용</a:t>
            </a:r>
            <a:r>
              <a:rPr lang="ko-KR" altLang="en-US" dirty="0" smtClean="0"/>
              <a:t> 항목을 통해서 선택 정보를 </a:t>
            </a:r>
            <a:r>
              <a:rPr lang="ko-KR" altLang="en-US" dirty="0" err="1" smtClean="0"/>
              <a:t>항목선택한</a:t>
            </a:r>
            <a:r>
              <a:rPr lang="ko-KR" altLang="en-US" dirty="0" smtClean="0"/>
              <a:t> 목록 또는 전체에 일괄 적용함</a:t>
            </a:r>
            <a:r>
              <a:rPr lang="en-US" altLang="ko-KR" dirty="0" smtClean="0"/>
              <a:t>.</a:t>
            </a:r>
            <a:br>
              <a:rPr lang="en-US" altLang="ko-KR" dirty="0" smtClean="0"/>
            </a:br>
            <a:r>
              <a:rPr lang="en-US" altLang="ko-KR" dirty="0" smtClean="0"/>
              <a:t>  &gt; </a:t>
            </a:r>
            <a:r>
              <a:rPr lang="ko-KR" altLang="en-US" dirty="0" smtClean="0"/>
              <a:t>항목이 </a:t>
            </a:r>
            <a:r>
              <a:rPr lang="ko-KR" altLang="en-US" dirty="0" err="1" smtClean="0"/>
              <a:t>미선택된</a:t>
            </a:r>
            <a:r>
              <a:rPr lang="ko-KR" altLang="en-US" dirty="0" smtClean="0"/>
              <a:t> 상태에서 선택 적용</a:t>
            </a:r>
            <a:r>
              <a:rPr lang="en-US" altLang="ko-KR" dirty="0" smtClean="0"/>
              <a:t>, </a:t>
            </a:r>
            <a:r>
              <a:rPr lang="ko-KR" altLang="en-US" dirty="0" smtClean="0"/>
              <a:t>전체 적용 클릭 시 토스트 메시지 </a:t>
            </a:r>
            <a:r>
              <a:rPr lang="en-US" altLang="ko-KR" dirty="0" smtClean="0"/>
              <a:t>– </a:t>
            </a:r>
            <a:r>
              <a:rPr lang="ko-KR" altLang="en-US" dirty="0" smtClean="0"/>
              <a:t>선택된 항목이 없습니다</a:t>
            </a:r>
            <a:r>
              <a:rPr lang="en-US" altLang="ko-KR" dirty="0" smtClean="0"/>
              <a:t>.</a:t>
            </a:r>
          </a:p>
          <a:p>
            <a:pPr>
              <a:buFont typeface="+mj-lt"/>
              <a:buAutoNum type="arabicPeriod"/>
            </a:pPr>
            <a:r>
              <a:rPr lang="ko-KR" altLang="en-US" dirty="0" smtClean="0"/>
              <a:t>선택 버튼 </a:t>
            </a:r>
            <a:r>
              <a:rPr lang="en-US" altLang="ko-KR" dirty="0" smtClean="0"/>
              <a:t>(ON/OFF)</a:t>
            </a:r>
          </a:p>
          <a:p>
            <a:pPr>
              <a:buFont typeface="+mj-lt"/>
              <a:buAutoNum type="arabicPeriod"/>
            </a:pPr>
            <a:endParaRPr lang="en-US" altLang="ko-KR" dirty="0" smtClean="0"/>
          </a:p>
          <a:p>
            <a:pPr>
              <a:buFont typeface="+mj-lt"/>
              <a:buAutoNum type="arabicPeriod"/>
            </a:pPr>
            <a:r>
              <a:rPr lang="ko-KR" altLang="en-US" dirty="0" smtClean="0"/>
              <a:t>품목대체구분</a:t>
            </a:r>
            <a:r>
              <a:rPr lang="en-US" altLang="ko-KR" dirty="0" smtClean="0"/>
              <a:t>, </a:t>
            </a:r>
            <a:r>
              <a:rPr lang="ko-KR" altLang="en-US" dirty="0" smtClean="0"/>
              <a:t>수정재고번호</a:t>
            </a:r>
            <a:r>
              <a:rPr lang="en-US" altLang="ko-KR" dirty="0" smtClean="0"/>
              <a:t>, </a:t>
            </a:r>
            <a:r>
              <a:rPr lang="ko-KR" altLang="en-US" dirty="0" smtClean="0"/>
              <a:t>수정부품번호</a:t>
            </a:r>
            <a:r>
              <a:rPr lang="en-US" altLang="ko-KR" dirty="0" smtClean="0"/>
              <a:t/>
            </a:r>
            <a:br>
              <a:rPr lang="en-US" altLang="ko-KR" dirty="0" smtClean="0"/>
            </a:br>
            <a:r>
              <a:rPr lang="en-US" altLang="ko-KR" dirty="0" smtClean="0"/>
              <a:t>- </a:t>
            </a:r>
            <a:r>
              <a:rPr lang="ko-KR" altLang="en-US" dirty="0" smtClean="0"/>
              <a:t>개발 시 추가 확인 필요사항</a:t>
            </a:r>
            <a:r>
              <a:rPr lang="en-US" altLang="ko-KR" dirty="0" smtClean="0"/>
              <a:t>.</a:t>
            </a:r>
            <a:br>
              <a:rPr lang="en-US" altLang="ko-KR" dirty="0" smtClean="0"/>
            </a:br>
            <a:r>
              <a:rPr lang="en-US" altLang="ko-KR" dirty="0" smtClean="0"/>
              <a:t>  &gt; </a:t>
            </a:r>
            <a:r>
              <a:rPr lang="ko-KR" altLang="en-US" dirty="0" smtClean="0"/>
              <a:t>관리자만 수정 가능한 항목으로 보이는데</a:t>
            </a:r>
            <a:r>
              <a:rPr lang="en-US" altLang="ko-KR" dirty="0" smtClean="0"/>
              <a:t>, </a:t>
            </a:r>
            <a:r>
              <a:rPr lang="ko-KR" altLang="en-US" dirty="0" err="1" smtClean="0"/>
              <a:t>응용팀</a:t>
            </a:r>
            <a:r>
              <a:rPr lang="ko-KR" altLang="en-US" dirty="0" smtClean="0"/>
              <a:t> 설계에 별도 명시된 수정 가능 사용자 정의 없음</a:t>
            </a:r>
            <a:endParaRPr lang="en-US" altLang="ko-KR" dirty="0" smtClean="0"/>
          </a:p>
          <a:p>
            <a:pPr>
              <a:buFont typeface="+mj-lt"/>
              <a:buAutoNum type="arabicPeriod"/>
            </a:pPr>
            <a:endParaRPr lang="en-US" altLang="ko-KR" dirty="0" smtClean="0"/>
          </a:p>
          <a:p>
            <a:pPr>
              <a:buFont typeface="+mj-lt"/>
              <a:buAutoNum type="arabicPeriod"/>
            </a:pPr>
            <a:r>
              <a:rPr lang="en-US" altLang="ko-KR" dirty="0" smtClean="0"/>
              <a:t>MOQ </a:t>
            </a:r>
            <a:r>
              <a:rPr lang="ko-KR" altLang="en-US" dirty="0" smtClean="0"/>
              <a:t>최소주문수량</a:t>
            </a:r>
            <a:r>
              <a:rPr lang="en-US" altLang="ko-KR" dirty="0" smtClean="0"/>
              <a:t/>
            </a:r>
            <a:br>
              <a:rPr lang="en-US" altLang="ko-KR" dirty="0" smtClean="0"/>
            </a:br>
            <a:r>
              <a:rPr lang="en-US" altLang="ko-KR" dirty="0" smtClean="0"/>
              <a:t>- Y </a:t>
            </a:r>
            <a:r>
              <a:rPr lang="ko-KR" altLang="en-US" dirty="0" err="1" smtClean="0"/>
              <a:t>인경우</a:t>
            </a:r>
            <a:r>
              <a:rPr lang="ko-KR" altLang="en-US" dirty="0" smtClean="0"/>
              <a:t> 수량 입력 가능</a:t>
            </a:r>
            <a:r>
              <a:rPr lang="en-US" altLang="ko-KR" dirty="0" smtClean="0"/>
              <a:t>, </a:t>
            </a:r>
            <a:r>
              <a:rPr lang="ko-KR" altLang="en-US" dirty="0" err="1" smtClean="0"/>
              <a:t>첨부문서</a:t>
            </a:r>
            <a:r>
              <a:rPr lang="ko-KR" altLang="en-US" dirty="0" smtClean="0"/>
              <a:t> 업로드 가능</a:t>
            </a:r>
            <a:endParaRPr lang="en-US" altLang="ko-KR" dirty="0" smtClean="0"/>
          </a:p>
          <a:p>
            <a:pPr>
              <a:buFont typeface="+mj-lt"/>
              <a:buAutoNum type="arabicPeriod"/>
            </a:pPr>
            <a:endParaRPr lang="en-US" altLang="ko-KR" dirty="0" smtClean="0"/>
          </a:p>
          <a:p>
            <a:pPr>
              <a:buFont typeface="+mj-lt"/>
              <a:buAutoNum type="arabicPeriod"/>
            </a:pPr>
            <a:r>
              <a:rPr lang="ko-KR" altLang="en-US" dirty="0" err="1" smtClean="0"/>
              <a:t>입찰업체</a:t>
            </a:r>
            <a:r>
              <a:rPr lang="en-US" altLang="ko-KR" dirty="0" smtClean="0"/>
              <a:t>, </a:t>
            </a:r>
            <a:r>
              <a:rPr lang="ko-KR" altLang="en-US" dirty="0" smtClean="0"/>
              <a:t>화폐단위 입력</a:t>
            </a:r>
            <a:endParaRPr lang="en-US" altLang="ko-KR" dirty="0" smtClean="0"/>
          </a:p>
          <a:p>
            <a:pPr>
              <a:buFont typeface="+mj-lt"/>
              <a:buAutoNum type="arabicPeriod"/>
            </a:pPr>
            <a:endParaRPr lang="en-US" altLang="ko-KR" dirty="0"/>
          </a:p>
          <a:p>
            <a:pPr>
              <a:buFont typeface="+mj-lt"/>
              <a:buAutoNum type="arabicPeriod"/>
            </a:pPr>
            <a:r>
              <a:rPr lang="ko-KR" altLang="en-US" dirty="0" smtClean="0"/>
              <a:t>최초 목록 표시 시점에 내역 닫힘 상태</a:t>
            </a:r>
            <a:r>
              <a:rPr lang="en-US" altLang="ko-KR" dirty="0" smtClean="0"/>
              <a:t/>
            </a:r>
            <a:br>
              <a:rPr lang="en-US" altLang="ko-KR" dirty="0" smtClean="0"/>
            </a:br>
            <a:r>
              <a:rPr lang="en-US" altLang="ko-KR" dirty="0" smtClean="0"/>
              <a:t>- </a:t>
            </a:r>
            <a:r>
              <a:rPr lang="ko-KR" altLang="en-US" dirty="0" smtClean="0"/>
              <a:t>클릭으로 내역 확장 표시</a:t>
            </a:r>
            <a:endParaRPr lang="en-US" altLang="ko-KR" dirty="0" smtClean="0"/>
          </a:p>
          <a:p>
            <a:pPr>
              <a:buFont typeface="+mj-lt"/>
              <a:buAutoNum type="arabicPeriod"/>
            </a:pPr>
            <a:endParaRPr lang="en-US" altLang="ko-KR" dirty="0"/>
          </a:p>
          <a:p>
            <a:pPr>
              <a:buFont typeface="+mj-lt"/>
              <a:buAutoNum type="arabicPeriod"/>
            </a:pPr>
            <a:r>
              <a:rPr lang="ko-KR" altLang="en-US" dirty="0" err="1" smtClean="0"/>
              <a:t>입찰내역</a:t>
            </a:r>
            <a:r>
              <a:rPr lang="ko-KR" altLang="en-US" dirty="0" smtClean="0"/>
              <a:t> 삭제 </a:t>
            </a:r>
            <a:r>
              <a:rPr lang="en-US" altLang="ko-KR" dirty="0" smtClean="0"/>
              <a:t>– </a:t>
            </a:r>
            <a:r>
              <a:rPr lang="ko-KR" altLang="en-US" dirty="0" smtClean="0"/>
              <a:t>확인 팝업 이후 삭제</a:t>
            </a:r>
            <a:r>
              <a:rPr lang="en-US" altLang="ko-KR" dirty="0" smtClean="0"/>
              <a:t/>
            </a:r>
            <a:br>
              <a:rPr lang="en-US" altLang="ko-KR" dirty="0" smtClean="0"/>
            </a:br>
            <a:r>
              <a:rPr lang="ko-KR" altLang="en-US" dirty="0" smtClean="0"/>
              <a:t>입찰 내역 저장 </a:t>
            </a:r>
            <a:r>
              <a:rPr lang="en-US" altLang="ko-KR" dirty="0" smtClean="0"/>
              <a:t>– </a:t>
            </a:r>
            <a:r>
              <a:rPr lang="ko-KR" altLang="en-US" dirty="0" smtClean="0"/>
              <a:t>토스트 메시지 </a:t>
            </a:r>
            <a:r>
              <a:rPr lang="en-US" altLang="ko-KR" dirty="0" smtClean="0"/>
              <a:t>: </a:t>
            </a:r>
            <a:r>
              <a:rPr lang="ko-KR" altLang="en-US" dirty="0" smtClean="0"/>
              <a:t>저장되었습니다</a:t>
            </a:r>
            <a:r>
              <a:rPr lang="en-US" altLang="ko-KR" dirty="0" smtClean="0"/>
              <a:t>.</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err="1">
                <a:latin typeface="+mn-ea"/>
              </a:rPr>
              <a:t>입찰내역</a:t>
            </a:r>
            <a:r>
              <a:rPr lang="ko-KR" altLang="en-US" dirty="0">
                <a:latin typeface="+mn-ea"/>
              </a:rPr>
              <a:t> </a:t>
            </a:r>
            <a:r>
              <a:rPr lang="en-US" altLang="ko-KR" dirty="0">
                <a:latin typeface="+mn-ea"/>
              </a:rPr>
              <a:t>(</a:t>
            </a:r>
            <a:r>
              <a:rPr lang="ko-KR" altLang="en-US" dirty="0" err="1">
                <a:latin typeface="+mn-ea"/>
              </a:rPr>
              <a:t>단가제</a:t>
            </a:r>
            <a:r>
              <a:rPr lang="en-US" altLang="ko-KR" dirty="0">
                <a:latin typeface="+mn-ea"/>
              </a:rPr>
              <a:t>)</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en-US" altLang="ko-KR" dirty="0">
                <a:latin typeface="+mn-ea"/>
              </a:rPr>
              <a:t>[</a:t>
            </a:r>
            <a:r>
              <a:rPr lang="ko-KR" altLang="en-US" dirty="0" err="1">
                <a:latin typeface="+mn-ea"/>
              </a:rPr>
              <a:t>단가제</a:t>
            </a:r>
            <a:r>
              <a:rPr lang="en-US" altLang="ko-KR" dirty="0">
                <a:latin typeface="+mn-ea"/>
              </a:rPr>
              <a:t>] </a:t>
            </a:r>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MUI-BD-01-M77</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2795014"/>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0" name="직사각형 159"/>
          <p:cNvSpPr/>
          <p:nvPr/>
        </p:nvSpPr>
        <p:spPr>
          <a:xfrm>
            <a:off x="703268" y="3102500"/>
            <a:ext cx="792000" cy="31297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3102499"/>
            <a:ext cx="725552" cy="3016210"/>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p:txBody>
      </p:sp>
      <p:grpSp>
        <p:nvGrpSpPr>
          <p:cNvPr id="17" name="그룹 16"/>
          <p:cNvGrpSpPr/>
          <p:nvPr/>
        </p:nvGrpSpPr>
        <p:grpSpPr>
          <a:xfrm>
            <a:off x="701175" y="3102499"/>
            <a:ext cx="2630093" cy="3006360"/>
            <a:chOff x="701175" y="1835481"/>
            <a:chExt cx="2630093" cy="300636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5113316" y="5058667"/>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18" name="TextBox 11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19" name="그룹 118"/>
          <p:cNvGrpSpPr/>
          <p:nvPr/>
        </p:nvGrpSpPr>
        <p:grpSpPr>
          <a:xfrm>
            <a:off x="3821510" y="1493926"/>
            <a:ext cx="2630093" cy="2417558"/>
            <a:chOff x="701175" y="1800646"/>
            <a:chExt cx="2630093" cy="2417558"/>
          </a:xfrm>
        </p:grpSpPr>
        <p:sp>
          <p:nvSpPr>
            <p:cNvPr id="122" name="직사각형 121"/>
            <p:cNvSpPr/>
            <p:nvPr/>
          </p:nvSpPr>
          <p:spPr>
            <a:xfrm>
              <a:off x="703268" y="1800646"/>
              <a:ext cx="792000" cy="21892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2025-03-25</a:t>
              </a:r>
            </a:p>
            <a:p>
              <a:pPr>
                <a:lnSpc>
                  <a:spcPct val="200000"/>
                </a:lnSpc>
              </a:pPr>
              <a:r>
                <a:rPr lang="en-US" altLang="ko-KR" sz="700" dirty="0">
                  <a:latin typeface="+mn-ea"/>
                </a:rPr>
                <a:t>2025-03-25</a:t>
              </a:r>
            </a:p>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endParaRPr lang="en-US" altLang="ko-KR" sz="700" dirty="0">
                <a:latin typeface="+mn-ea"/>
              </a:endParaRPr>
            </a:p>
            <a:p>
              <a:pPr algn="r">
                <a:lnSpc>
                  <a:spcPct val="200000"/>
                </a:lnSpc>
              </a:pPr>
              <a:endParaRPr lang="en-US" altLang="ko-KR" sz="700" dirty="0">
                <a:latin typeface="+mn-ea"/>
              </a:endParaRPr>
            </a:p>
            <a:p>
              <a:pPr algn="r">
                <a:lnSpc>
                  <a:spcPct val="200000"/>
                </a:lnSpc>
              </a:pPr>
              <a:r>
                <a:rPr lang="en-US" altLang="ko-KR" sz="700" dirty="0">
                  <a:latin typeface="+mn-ea"/>
                </a:rPr>
                <a:t>608,000.00</a:t>
              </a:r>
            </a:p>
            <a:p>
              <a:pPr>
                <a:lnSpc>
                  <a:spcPct val="200000"/>
                </a:lnSpc>
              </a:pP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125" name="그룹 124"/>
            <p:cNvGrpSpPr/>
            <p:nvPr/>
          </p:nvGrpSpPr>
          <p:grpSpPr>
            <a:xfrm>
              <a:off x="701175" y="1835481"/>
              <a:ext cx="2630093" cy="2382723"/>
              <a:chOff x="701175" y="1835481"/>
              <a:chExt cx="2630093" cy="2382723"/>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3268" y="25044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27006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2915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31355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33390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35700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3790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39937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42182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63" name="TextBox 162">
            <a:extLst>
              <a:ext uri="{FF2B5EF4-FFF2-40B4-BE49-F238E27FC236}">
                <a16:creationId xmlns:a16="http://schemas.microsoft.com/office/drawing/2014/main" id="{FFC49AEA-2A8F-250C-A86A-A7751D9706C3}"/>
              </a:ext>
            </a:extLst>
          </p:cNvPr>
          <p:cNvSpPr txBox="1"/>
          <p:nvPr/>
        </p:nvSpPr>
        <p:spPr>
          <a:xfrm>
            <a:off x="1547180" y="3102499"/>
            <a:ext cx="1784088" cy="301621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endParaRPr lang="en-US" altLang="ko-KR" sz="700" dirty="0">
              <a:latin typeface="+mn-ea"/>
            </a:endParaRPr>
          </a:p>
          <a:p>
            <a:pPr>
              <a:lnSpc>
                <a:spcPct val="200000"/>
              </a:lnSpc>
            </a:pPr>
            <a:r>
              <a:rPr lang="en-US" altLang="ko-KR" sz="700" dirty="0">
                <a:latin typeface="+mn-ea"/>
              </a:rPr>
              <a:t>O</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O</a:t>
            </a:r>
          </a:p>
        </p:txBody>
      </p:sp>
      <p:sp>
        <p:nvSpPr>
          <p:cNvPr id="61" name="사각형: 둥근 모서리 15">
            <a:extLst>
              <a:ext uri="{FF2B5EF4-FFF2-40B4-BE49-F238E27FC236}">
                <a16:creationId xmlns:a16="http://schemas.microsoft.com/office/drawing/2014/main" id="{E2B61CFB-AD16-68D0-8752-50D9C5E01971}"/>
              </a:ext>
            </a:extLst>
          </p:cNvPr>
          <p:cNvSpPr/>
          <p:nvPr/>
        </p:nvSpPr>
        <p:spPr>
          <a:xfrm>
            <a:off x="1561065" y="463357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Replace</a:t>
            </a:r>
            <a:endParaRPr kumimoji="1" lang="en-US" sz="700" b="0" i="0" u="none" strike="noStrike" kern="0" cap="none" spc="0" normalizeH="0" baseline="0" noProof="0" dirty="0">
              <a:ln>
                <a:noFill/>
              </a:ln>
              <a:effectLst/>
              <a:uLnTx/>
              <a:uFillTx/>
              <a:latin typeface="맑은 고딕"/>
            </a:endParaRPr>
          </a:p>
        </p:txBody>
      </p:sp>
      <p:grpSp>
        <p:nvGrpSpPr>
          <p:cNvPr id="64" name="그룹 63"/>
          <p:cNvGrpSpPr/>
          <p:nvPr/>
        </p:nvGrpSpPr>
        <p:grpSpPr>
          <a:xfrm>
            <a:off x="3124233" y="4691071"/>
            <a:ext cx="94010" cy="47005"/>
            <a:chOff x="6812560" y="3297172"/>
            <a:chExt cx="94010" cy="47005"/>
          </a:xfrm>
        </p:grpSpPr>
        <p:cxnSp>
          <p:nvCxnSpPr>
            <p:cNvPr id="65" name="직선 연결선 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7" name="사각형: 둥근 모서리 15">
            <a:extLst>
              <a:ext uri="{FF2B5EF4-FFF2-40B4-BE49-F238E27FC236}">
                <a16:creationId xmlns:a16="http://schemas.microsoft.com/office/drawing/2014/main" id="{E2B61CFB-AD16-68D0-8752-50D9C5E01971}"/>
              </a:ext>
            </a:extLst>
          </p:cNvPr>
          <p:cNvSpPr/>
          <p:nvPr/>
        </p:nvSpPr>
        <p:spPr>
          <a:xfrm>
            <a:off x="2836921" y="4845557"/>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업로드</a:t>
            </a:r>
            <a:endParaRPr kumimoji="1" lang="en-US" sz="700" b="0" i="0" u="none" strike="noStrike" kern="0" cap="none" spc="0" normalizeH="0" baseline="0" noProof="0" dirty="0">
              <a:ln>
                <a:noFill/>
              </a:ln>
              <a:effectLst/>
              <a:uLnTx/>
              <a:uFillTx/>
              <a:latin typeface="맑은 고딕"/>
            </a:endParaRPr>
          </a:p>
        </p:txBody>
      </p:sp>
      <p:sp>
        <p:nvSpPr>
          <p:cNvPr id="68" name="사각형: 둥근 모서리 15">
            <a:extLst>
              <a:ext uri="{FF2B5EF4-FFF2-40B4-BE49-F238E27FC236}">
                <a16:creationId xmlns:a16="http://schemas.microsoft.com/office/drawing/2014/main" id="{E2B61CFB-AD16-68D0-8752-50D9C5E01971}"/>
              </a:ext>
            </a:extLst>
          </p:cNvPr>
          <p:cNvSpPr/>
          <p:nvPr/>
        </p:nvSpPr>
        <p:spPr>
          <a:xfrm>
            <a:off x="1561065" y="5065559"/>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72" name="사각형: 둥근 모서리 15">
            <a:extLst>
              <a:ext uri="{FF2B5EF4-FFF2-40B4-BE49-F238E27FC236}">
                <a16:creationId xmlns:a16="http://schemas.microsoft.com/office/drawing/2014/main" id="{E2B61CFB-AD16-68D0-8752-50D9C5E01971}"/>
              </a:ext>
            </a:extLst>
          </p:cNvPr>
          <p:cNvSpPr/>
          <p:nvPr/>
        </p:nvSpPr>
        <p:spPr>
          <a:xfrm>
            <a:off x="1561065" y="527876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73" name="사각형: 둥근 모서리 15">
            <a:extLst>
              <a:ext uri="{FF2B5EF4-FFF2-40B4-BE49-F238E27FC236}">
                <a16:creationId xmlns:a16="http://schemas.microsoft.com/office/drawing/2014/main" id="{E2B61CFB-AD16-68D0-8752-50D9C5E01971}"/>
              </a:ext>
            </a:extLst>
          </p:cNvPr>
          <p:cNvSpPr/>
          <p:nvPr/>
        </p:nvSpPr>
        <p:spPr>
          <a:xfrm>
            <a:off x="1561065" y="5487477"/>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Y</a:t>
            </a:r>
            <a:endParaRPr kumimoji="1" lang="en-US" sz="700" b="0" i="0" u="none" strike="noStrike" kern="0" cap="none" spc="0" normalizeH="0" baseline="0" noProof="0" dirty="0">
              <a:ln>
                <a:noFill/>
              </a:ln>
              <a:effectLst/>
              <a:uLnTx/>
              <a:uFillTx/>
              <a:latin typeface="맑은 고딕"/>
            </a:endParaRPr>
          </a:p>
        </p:txBody>
      </p:sp>
      <p:grpSp>
        <p:nvGrpSpPr>
          <p:cNvPr id="74" name="그룹 73"/>
          <p:cNvGrpSpPr/>
          <p:nvPr/>
        </p:nvGrpSpPr>
        <p:grpSpPr>
          <a:xfrm>
            <a:off x="3124233" y="5544975"/>
            <a:ext cx="94010" cy="47005"/>
            <a:chOff x="6812560" y="3297172"/>
            <a:chExt cx="94010" cy="47005"/>
          </a:xfrm>
        </p:grpSpPr>
        <p:cxnSp>
          <p:nvCxnSpPr>
            <p:cNvPr id="75" name="직선 연결선 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6" name="직선 연결선 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9" name="사각형: 둥근 모서리 15">
            <a:extLst>
              <a:ext uri="{FF2B5EF4-FFF2-40B4-BE49-F238E27FC236}">
                <a16:creationId xmlns:a16="http://schemas.microsoft.com/office/drawing/2014/main" id="{E2B61CFB-AD16-68D0-8752-50D9C5E01971}"/>
              </a:ext>
            </a:extLst>
          </p:cNvPr>
          <p:cNvSpPr/>
          <p:nvPr/>
        </p:nvSpPr>
        <p:spPr>
          <a:xfrm>
            <a:off x="2836921" y="5922125"/>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업로드</a:t>
            </a:r>
            <a:endParaRPr kumimoji="1" lang="en-US" sz="700" b="0" i="0" u="none" strike="noStrike" kern="0" cap="none" spc="0" normalizeH="0" baseline="0" noProof="0" dirty="0">
              <a:ln>
                <a:noFill/>
              </a:ln>
              <a:effectLst/>
              <a:uLnTx/>
              <a:uFillTx/>
              <a:latin typeface="맑은 고딕"/>
            </a:endParaRPr>
          </a:p>
        </p:txBody>
      </p:sp>
      <p:sp>
        <p:nvSpPr>
          <p:cNvPr id="80" name="사각형: 둥근 모서리 15">
            <a:extLst>
              <a:ext uri="{FF2B5EF4-FFF2-40B4-BE49-F238E27FC236}">
                <a16:creationId xmlns:a16="http://schemas.microsoft.com/office/drawing/2014/main" id="{E2B61CFB-AD16-68D0-8752-50D9C5E01971}"/>
              </a:ext>
            </a:extLst>
          </p:cNvPr>
          <p:cNvSpPr/>
          <p:nvPr/>
        </p:nvSpPr>
        <p:spPr>
          <a:xfrm>
            <a:off x="1561065" y="570364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4659266" y="242405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err="1">
                <a:latin typeface="맑은 고딕"/>
              </a:rPr>
              <a:t>미업체</a:t>
            </a:r>
            <a:endParaRPr kumimoji="1" lang="en-US" sz="700" b="0" i="0" u="none" strike="noStrike" kern="0" cap="none" spc="0" normalizeH="0" baseline="0" noProof="0" dirty="0">
              <a:ln>
                <a:noFill/>
              </a:ln>
              <a:effectLst/>
              <a:uLnTx/>
              <a:uFillTx/>
              <a:latin typeface="맑은 고딕"/>
            </a:endParaRPr>
          </a:p>
        </p:txBody>
      </p:sp>
      <p:grpSp>
        <p:nvGrpSpPr>
          <p:cNvPr id="87" name="그룹 86"/>
          <p:cNvGrpSpPr/>
          <p:nvPr/>
        </p:nvGrpSpPr>
        <p:grpSpPr>
          <a:xfrm>
            <a:off x="6222434" y="2481549"/>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9" name="직선 연결선 8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0" name="사각형: 둥근 모서리 15">
            <a:extLst>
              <a:ext uri="{FF2B5EF4-FFF2-40B4-BE49-F238E27FC236}">
                <a16:creationId xmlns:a16="http://schemas.microsoft.com/office/drawing/2014/main" id="{E2B61CFB-AD16-68D0-8752-50D9C5E01971}"/>
              </a:ext>
            </a:extLst>
          </p:cNvPr>
          <p:cNvSpPr/>
          <p:nvPr/>
        </p:nvSpPr>
        <p:spPr>
          <a:xfrm>
            <a:off x="4659266" y="263242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91" name="사각형: 둥근 모서리 15">
            <a:extLst>
              <a:ext uri="{FF2B5EF4-FFF2-40B4-BE49-F238E27FC236}">
                <a16:creationId xmlns:a16="http://schemas.microsoft.com/office/drawing/2014/main" id="{E2B61CFB-AD16-68D0-8752-50D9C5E01971}"/>
              </a:ext>
            </a:extLst>
          </p:cNvPr>
          <p:cNvSpPr/>
          <p:nvPr/>
        </p:nvSpPr>
        <p:spPr>
          <a:xfrm>
            <a:off x="4663578" y="306918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b="0" i="0" u="none" strike="noStrike" kern="0" cap="none" spc="0" normalizeH="0" baseline="0" noProof="0" dirty="0">
                <a:ln>
                  <a:noFill/>
                </a:ln>
                <a:effectLst/>
                <a:uLnTx/>
                <a:uFillTx/>
                <a:latin typeface="맑은 고딕"/>
              </a:rPr>
              <a:t>USD</a:t>
            </a:r>
          </a:p>
        </p:txBody>
      </p:sp>
      <p:grpSp>
        <p:nvGrpSpPr>
          <p:cNvPr id="92" name="그룹 91"/>
          <p:cNvGrpSpPr/>
          <p:nvPr/>
        </p:nvGrpSpPr>
        <p:grpSpPr>
          <a:xfrm>
            <a:off x="6226746" y="3126682"/>
            <a:ext cx="94010" cy="47005"/>
            <a:chOff x="6812560" y="3297172"/>
            <a:chExt cx="94010" cy="47005"/>
          </a:xfrm>
        </p:grpSpPr>
        <p:cxnSp>
          <p:nvCxnSpPr>
            <p:cNvPr id="93" name="직선 연결선 9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4" name="직선 연결선 9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9" name="사각형: 둥근 모서리 15">
            <a:extLst>
              <a:ext uri="{FF2B5EF4-FFF2-40B4-BE49-F238E27FC236}">
                <a16:creationId xmlns:a16="http://schemas.microsoft.com/office/drawing/2014/main" id="{E2B61CFB-AD16-68D0-8752-50D9C5E01971}"/>
              </a:ext>
            </a:extLst>
          </p:cNvPr>
          <p:cNvSpPr/>
          <p:nvPr/>
        </p:nvSpPr>
        <p:spPr>
          <a:xfrm>
            <a:off x="1561065" y="184585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err="1">
                <a:latin typeface="맑은 고딕"/>
              </a:rPr>
              <a:t>미업체</a:t>
            </a:r>
            <a:endParaRPr kumimoji="1" lang="en-US" sz="700" b="0" i="0" u="none" strike="noStrike" kern="0" cap="none" spc="0" normalizeH="0" baseline="0" noProof="0" dirty="0">
              <a:ln>
                <a:noFill/>
              </a:ln>
              <a:effectLst/>
              <a:uLnTx/>
              <a:uFillTx/>
              <a:latin typeface="맑은 고딕"/>
            </a:endParaRPr>
          </a:p>
        </p:txBody>
      </p:sp>
      <p:grpSp>
        <p:nvGrpSpPr>
          <p:cNvPr id="100" name="그룹 99"/>
          <p:cNvGrpSpPr/>
          <p:nvPr/>
        </p:nvGrpSpPr>
        <p:grpSpPr>
          <a:xfrm>
            <a:off x="3124233" y="1903349"/>
            <a:ext cx="94010" cy="47005"/>
            <a:chOff x="6812560" y="3297172"/>
            <a:chExt cx="94010" cy="47005"/>
          </a:xfrm>
        </p:grpSpPr>
        <p:cxnSp>
          <p:nvCxnSpPr>
            <p:cNvPr id="101" name="직선 연결선 10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2" name="직선 연결선 10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3" name="TextBox 102">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r>
              <a:rPr lang="ko-KR" altLang="en-US" sz="700" dirty="0">
                <a:latin typeface="+mn-ea"/>
              </a:rPr>
              <a:t> </a:t>
            </a:r>
            <a:r>
              <a:rPr lang="ko-KR" altLang="en-US" sz="700" dirty="0" err="1">
                <a:latin typeface="+mn-ea"/>
              </a:rPr>
              <a:t>일괄적용</a:t>
            </a:r>
            <a:endParaRPr lang="ko-KR" altLang="en-US" sz="700" dirty="0">
              <a:latin typeface="+mn-ea"/>
            </a:endParaRPr>
          </a:p>
        </p:txBody>
      </p:sp>
      <p:grpSp>
        <p:nvGrpSpPr>
          <p:cNvPr id="104" name="그룹 103"/>
          <p:cNvGrpSpPr/>
          <p:nvPr/>
        </p:nvGrpSpPr>
        <p:grpSpPr>
          <a:xfrm flipV="1">
            <a:off x="3124233" y="1641327"/>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720490" y="18256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20490" y="203175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675399" y="275326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0490" y="22492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790331" y="1807602"/>
            <a:ext cx="725552" cy="430887"/>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1561065" y="205296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noProof="0" dirty="0" err="1">
                <a:latin typeface="맑은 고딕"/>
              </a:rPr>
              <a:t>미선택</a:t>
            </a:r>
            <a:endParaRPr kumimoji="1" lang="en-US" sz="700" b="0" i="0" u="none" strike="noStrike" kern="0" cap="none" spc="0" normalizeH="0" baseline="0" noProof="0" dirty="0">
              <a:ln>
                <a:noFill/>
              </a:ln>
              <a:effectLst/>
              <a:uLnTx/>
              <a:uFillTx/>
              <a:latin typeface="맑은 고딕"/>
            </a:endParaRPr>
          </a:p>
        </p:txBody>
      </p:sp>
      <p:grpSp>
        <p:nvGrpSpPr>
          <p:cNvPr id="133" name="그룹 132"/>
          <p:cNvGrpSpPr/>
          <p:nvPr/>
        </p:nvGrpSpPr>
        <p:grpSpPr>
          <a:xfrm>
            <a:off x="3124233" y="2110458"/>
            <a:ext cx="94010" cy="47005"/>
            <a:chOff x="6812560" y="3297172"/>
            <a:chExt cx="94010" cy="47005"/>
          </a:xfrm>
        </p:grpSpPr>
        <p:cxnSp>
          <p:nvCxnSpPr>
            <p:cNvPr id="134" name="직선 연결선 1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5" name="직선 연결선 1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7" name="그룹 6"/>
          <p:cNvGrpSpPr/>
          <p:nvPr/>
        </p:nvGrpSpPr>
        <p:grpSpPr>
          <a:xfrm>
            <a:off x="767702" y="2343435"/>
            <a:ext cx="2527420" cy="220756"/>
            <a:chOff x="730855" y="2304671"/>
            <a:chExt cx="2527420" cy="223884"/>
          </a:xfrm>
        </p:grpSpPr>
        <p:sp>
          <p:nvSpPr>
            <p:cNvPr id="136" name="사각형: 둥근 모서리 15">
              <a:extLst>
                <a:ext uri="{FF2B5EF4-FFF2-40B4-BE49-F238E27FC236}">
                  <a16:creationId xmlns:a16="http://schemas.microsoft.com/office/drawing/2014/main" id="{E2B61CFB-AD16-68D0-8752-50D9C5E01971}"/>
                </a:ext>
              </a:extLst>
            </p:cNvPr>
            <p:cNvSpPr/>
            <p:nvPr/>
          </p:nvSpPr>
          <p:spPr>
            <a:xfrm>
              <a:off x="2032998" y="2304671"/>
              <a:ext cx="1225277" cy="223884"/>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전체 적용</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7" name="사각형: 둥근 모서리 15">
              <a:extLst>
                <a:ext uri="{FF2B5EF4-FFF2-40B4-BE49-F238E27FC236}">
                  <a16:creationId xmlns:a16="http://schemas.microsoft.com/office/drawing/2014/main" id="{E2B61CFB-AD16-68D0-8752-50D9C5E01971}"/>
                </a:ext>
              </a:extLst>
            </p:cNvPr>
            <p:cNvSpPr/>
            <p:nvPr/>
          </p:nvSpPr>
          <p:spPr>
            <a:xfrm>
              <a:off x="730855" y="2304671"/>
              <a:ext cx="1225279" cy="22388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선택 적용</a:t>
              </a:r>
              <a:endParaRPr kumimoji="1" lang="en-US" sz="700" b="0" i="0" u="none" strike="noStrike" kern="0" cap="none" spc="0" normalizeH="0" baseline="0" noProof="0" dirty="0">
                <a:ln>
                  <a:noFill/>
                </a:ln>
                <a:effectLst/>
                <a:uLnTx/>
                <a:uFillTx/>
                <a:latin typeface="맑은 고딕"/>
              </a:endParaRPr>
            </a:p>
          </p:txBody>
        </p:sp>
      </p:grpSp>
      <p:sp>
        <p:nvSpPr>
          <p:cNvPr id="141" name="사각형: 둥근 모서리 15">
            <a:extLst>
              <a:ext uri="{FF2B5EF4-FFF2-40B4-BE49-F238E27FC236}">
                <a16:creationId xmlns:a16="http://schemas.microsoft.com/office/drawing/2014/main" id="{E2B61CFB-AD16-68D0-8752-50D9C5E01971}"/>
              </a:ext>
            </a:extLst>
          </p:cNvPr>
          <p:cNvSpPr/>
          <p:nvPr/>
        </p:nvSpPr>
        <p:spPr>
          <a:xfrm>
            <a:off x="2836921" y="3132738"/>
            <a:ext cx="494347" cy="162000"/>
          </a:xfrm>
          <a:prstGeom prst="roundRect">
            <a:avLst/>
          </a:prstGeom>
          <a:solidFill>
            <a:srgbClr val="0070C0"/>
          </a:solid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err="1">
                <a:solidFill>
                  <a:schemeClr val="bg1"/>
                </a:solidFill>
                <a:latin typeface="맑은 고딕"/>
                <a:ea typeface="맑은 고딕" panose="020B0503020000020004" pitchFamily="50" charset="-127"/>
              </a:rPr>
              <a:t>항목선택</a:t>
            </a:r>
            <a:endParaRPr kumimoji="1" lang="en-US" sz="700" kern="0" dirty="0">
              <a:solidFill>
                <a:schemeClr val="bg1"/>
              </a:solidFill>
              <a:latin typeface="맑은 고딕"/>
              <a:ea typeface="맑은 고딕" panose="020B0503020000020004" pitchFamily="50" charset="-127"/>
            </a:endParaRPr>
          </a:p>
        </p:txBody>
      </p:sp>
      <p:sp>
        <p:nvSpPr>
          <p:cNvPr id="142" name="TextBox 141">
            <a:extLst>
              <a:ext uri="{FF2B5EF4-FFF2-40B4-BE49-F238E27FC236}">
                <a16:creationId xmlns:a16="http://schemas.microsoft.com/office/drawing/2014/main" id="{FFC49AEA-2A8F-250C-A86A-A7751D9706C3}"/>
              </a:ext>
            </a:extLst>
          </p:cNvPr>
          <p:cNvSpPr txBox="1"/>
          <p:nvPr/>
        </p:nvSpPr>
        <p:spPr>
          <a:xfrm>
            <a:off x="3910666" y="3974873"/>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143" name="그룹 142"/>
          <p:cNvGrpSpPr/>
          <p:nvPr/>
        </p:nvGrpSpPr>
        <p:grpSpPr>
          <a:xfrm>
            <a:off x="3821510" y="3974873"/>
            <a:ext cx="2630093" cy="1075182"/>
            <a:chOff x="701175" y="1835481"/>
            <a:chExt cx="2630093" cy="1075182"/>
          </a:xfrm>
        </p:grpSpPr>
        <p:cxnSp>
          <p:nvCxnSpPr>
            <p:cNvPr id="144" name="직선 연결선 14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8" name="TextBox 177">
            <a:extLst>
              <a:ext uri="{FF2B5EF4-FFF2-40B4-BE49-F238E27FC236}">
                <a16:creationId xmlns:a16="http://schemas.microsoft.com/office/drawing/2014/main" id="{FFC49AEA-2A8F-250C-A86A-A7751D9706C3}"/>
              </a:ext>
            </a:extLst>
          </p:cNvPr>
          <p:cNvSpPr txBox="1"/>
          <p:nvPr/>
        </p:nvSpPr>
        <p:spPr>
          <a:xfrm>
            <a:off x="4667515" y="3974873"/>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5957256" y="4005112"/>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항목선택</a:t>
            </a:r>
            <a:endParaRPr kumimoji="1" lang="en-US" sz="700" b="0" i="0" u="none" strike="noStrike" kern="0" cap="none" spc="0" normalizeH="0" baseline="0" noProof="0" dirty="0">
              <a:ln>
                <a:noFill/>
              </a:ln>
              <a:effectLst/>
              <a:uLnTx/>
              <a:uFillTx/>
              <a:latin typeface="맑은 고딕"/>
            </a:endParaRP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3933132" y="4860372"/>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189" name="사각형: 둥근 모서리 15">
            <a:extLst>
              <a:ext uri="{FF2B5EF4-FFF2-40B4-BE49-F238E27FC236}">
                <a16:creationId xmlns:a16="http://schemas.microsoft.com/office/drawing/2014/main" id="{E2B61CFB-AD16-68D0-8752-50D9C5E01971}"/>
              </a:ext>
            </a:extLst>
          </p:cNvPr>
          <p:cNvSpPr/>
          <p:nvPr/>
        </p:nvSpPr>
        <p:spPr>
          <a:xfrm>
            <a:off x="3933132" y="3720010"/>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sp>
        <p:nvSpPr>
          <p:cNvPr id="115" name="사각형: 둥근 모서리 15">
            <a:extLst>
              <a:ext uri="{FF2B5EF4-FFF2-40B4-BE49-F238E27FC236}">
                <a16:creationId xmlns:a16="http://schemas.microsoft.com/office/drawing/2014/main" id="{E2B61CFB-AD16-68D0-8752-50D9C5E01971}"/>
              </a:ext>
            </a:extLst>
          </p:cNvPr>
          <p:cNvSpPr/>
          <p:nvPr/>
        </p:nvSpPr>
        <p:spPr>
          <a:xfrm>
            <a:off x="3825376" y="545396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57" name="그룹 56"/>
          <p:cNvGrpSpPr/>
          <p:nvPr/>
        </p:nvGrpSpPr>
        <p:grpSpPr>
          <a:xfrm>
            <a:off x="3795734" y="5614711"/>
            <a:ext cx="2712027" cy="617588"/>
            <a:chOff x="675399" y="5614711"/>
            <a:chExt cx="2712027" cy="617588"/>
          </a:xfrm>
        </p:grpSpPr>
        <p:sp>
          <p:nvSpPr>
            <p:cNvPr id="58" name="직사각형 57">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2069844" y="5745391"/>
              <a:ext cx="12252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입찰내역</a:t>
              </a:r>
              <a:r>
                <a:rPr kumimoji="1" lang="ko-KR" altLang="en-US" sz="1000" kern="0" dirty="0">
                  <a:solidFill>
                    <a:srgbClr val="0070C0"/>
                  </a:solidFill>
                  <a:latin typeface="맑은 고딕"/>
                  <a:ea typeface="맑은 고딕" panose="020B0503020000020004" pitchFamily="50" charset="-127"/>
                </a:rPr>
                <a:t> 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60" name="사각형: 둥근 모서리 15">
              <a:extLst>
                <a:ext uri="{FF2B5EF4-FFF2-40B4-BE49-F238E27FC236}">
                  <a16:creationId xmlns:a16="http://schemas.microsoft.com/office/drawing/2014/main" id="{E2B61CFB-AD16-68D0-8752-50D9C5E01971}"/>
                </a:ext>
              </a:extLst>
            </p:cNvPr>
            <p:cNvSpPr/>
            <p:nvPr/>
          </p:nvSpPr>
          <p:spPr>
            <a:xfrm>
              <a:off x="767701" y="5745391"/>
              <a:ext cx="122527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latin typeface="맑은 고딕"/>
                  <a:ea typeface="맑은 고딕" panose="020B0503020000020004" pitchFamily="50" charset="-127"/>
                </a:rPr>
                <a:t>입찰내역</a:t>
              </a:r>
              <a:r>
                <a:rPr kumimoji="1" lang="ko-KR" altLang="en-US" sz="1000" kern="0" dirty="0">
                  <a:latin typeface="맑은 고딕"/>
                  <a:ea typeface="맑은 고딕" panose="020B0503020000020004" pitchFamily="50" charset="-127"/>
                </a:rPr>
                <a:t> 삭제</a:t>
              </a:r>
              <a:endParaRPr kumimoji="1" lang="en-US" sz="1000" b="0" i="0" u="none" strike="noStrike" kern="0" cap="none" spc="0" normalizeH="0" baseline="0" noProof="0" dirty="0">
                <a:ln>
                  <a:noFill/>
                </a:ln>
                <a:effectLst/>
                <a:uLnTx/>
                <a:uFillTx/>
                <a:latin typeface="맑은 고딕"/>
              </a:endParaRPr>
            </a:p>
          </p:txBody>
        </p:sp>
      </p:grpSp>
      <p:sp>
        <p:nvSpPr>
          <p:cNvPr id="116" name="타원 115">
            <a:extLst>
              <a:ext uri="{FF2B5EF4-FFF2-40B4-BE49-F238E27FC236}">
                <a16:creationId xmlns:a16="http://schemas.microsoft.com/office/drawing/2014/main" id="{37A7FF4F-0EAA-1463-560A-D5EC24416103}"/>
              </a:ext>
            </a:extLst>
          </p:cNvPr>
          <p:cNvSpPr/>
          <p:nvPr/>
        </p:nvSpPr>
        <p:spPr>
          <a:xfrm>
            <a:off x="571127" y="194273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38" name="타원 137">
            <a:extLst>
              <a:ext uri="{FF2B5EF4-FFF2-40B4-BE49-F238E27FC236}">
                <a16:creationId xmlns:a16="http://schemas.microsoft.com/office/drawing/2014/main" id="{37A7FF4F-0EAA-1463-560A-D5EC24416103}"/>
              </a:ext>
            </a:extLst>
          </p:cNvPr>
          <p:cNvSpPr/>
          <p:nvPr/>
        </p:nvSpPr>
        <p:spPr>
          <a:xfrm>
            <a:off x="571127" y="310038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49" name="타원 148">
            <a:extLst>
              <a:ext uri="{FF2B5EF4-FFF2-40B4-BE49-F238E27FC236}">
                <a16:creationId xmlns:a16="http://schemas.microsoft.com/office/drawing/2014/main" id="{37A7FF4F-0EAA-1463-560A-D5EC24416103}"/>
              </a:ext>
            </a:extLst>
          </p:cNvPr>
          <p:cNvSpPr/>
          <p:nvPr/>
        </p:nvSpPr>
        <p:spPr>
          <a:xfrm>
            <a:off x="571127" y="46335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52" name="타원 151">
            <a:extLst>
              <a:ext uri="{FF2B5EF4-FFF2-40B4-BE49-F238E27FC236}">
                <a16:creationId xmlns:a16="http://schemas.microsoft.com/office/drawing/2014/main" id="{37A7FF4F-0EAA-1463-560A-D5EC24416103}"/>
              </a:ext>
            </a:extLst>
          </p:cNvPr>
          <p:cNvSpPr/>
          <p:nvPr/>
        </p:nvSpPr>
        <p:spPr>
          <a:xfrm>
            <a:off x="3697732" y="240442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sp>
        <p:nvSpPr>
          <p:cNvPr id="155" name="타원 154">
            <a:extLst>
              <a:ext uri="{FF2B5EF4-FFF2-40B4-BE49-F238E27FC236}">
                <a16:creationId xmlns:a16="http://schemas.microsoft.com/office/drawing/2014/main" id="{37A7FF4F-0EAA-1463-560A-D5EC24416103}"/>
              </a:ext>
            </a:extLst>
          </p:cNvPr>
          <p:cNvSpPr/>
          <p:nvPr/>
        </p:nvSpPr>
        <p:spPr>
          <a:xfrm>
            <a:off x="571127" y="56024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
        <p:nvSpPr>
          <p:cNvPr id="157" name="타원 156">
            <a:extLst>
              <a:ext uri="{FF2B5EF4-FFF2-40B4-BE49-F238E27FC236}">
                <a16:creationId xmlns:a16="http://schemas.microsoft.com/office/drawing/2014/main" id="{37A7FF4F-0EAA-1463-560A-D5EC24416103}"/>
              </a:ext>
            </a:extLst>
          </p:cNvPr>
          <p:cNvSpPr/>
          <p:nvPr/>
        </p:nvSpPr>
        <p:spPr>
          <a:xfrm>
            <a:off x="3697732" y="370722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7</a:t>
            </a:r>
            <a:endParaRPr lang="ko-KR" altLang="en-US" sz="900" b="1" dirty="0"/>
          </a:p>
        </p:txBody>
      </p:sp>
      <p:sp>
        <p:nvSpPr>
          <p:cNvPr id="158" name="타원 157">
            <a:extLst>
              <a:ext uri="{FF2B5EF4-FFF2-40B4-BE49-F238E27FC236}">
                <a16:creationId xmlns:a16="http://schemas.microsoft.com/office/drawing/2014/main" id="{37A7FF4F-0EAA-1463-560A-D5EC24416103}"/>
              </a:ext>
            </a:extLst>
          </p:cNvPr>
          <p:cNvSpPr/>
          <p:nvPr/>
        </p:nvSpPr>
        <p:spPr>
          <a:xfrm>
            <a:off x="3697732" y="580803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8</a:t>
            </a:r>
            <a:endParaRPr lang="ko-KR" altLang="en-US" sz="900" b="1" dirty="0"/>
          </a:p>
        </p:txBody>
      </p:sp>
    </p:spTree>
    <p:extLst>
      <p:ext uri="{BB962C8B-B14F-4D97-AF65-F5344CB8AC3E}">
        <p14:creationId xmlns:p14="http://schemas.microsoft.com/office/powerpoint/2010/main" val="1734943477"/>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직사각형 139"/>
          <p:cNvSpPr/>
          <p:nvPr/>
        </p:nvSpPr>
        <p:spPr>
          <a:xfrm>
            <a:off x="722060" y="1836758"/>
            <a:ext cx="792000" cy="10608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a:t>
            </a:r>
            <a:r>
              <a:rPr lang="ko-KR" altLang="en-US" dirty="0" smtClean="0"/>
              <a:t>영역</a:t>
            </a:r>
            <a:endParaRPr lang="en-US" altLang="ko-KR" dirty="0" smtClean="0"/>
          </a:p>
          <a:p>
            <a:pPr>
              <a:buFont typeface="+mj-lt"/>
              <a:buAutoNum type="arabicPeriod"/>
            </a:pPr>
            <a:r>
              <a:rPr lang="ko-KR" altLang="en-US" dirty="0" err="1" smtClean="0"/>
              <a:t>총액제는</a:t>
            </a:r>
            <a:r>
              <a:rPr lang="ko-KR" altLang="en-US" dirty="0" smtClean="0"/>
              <a:t> </a:t>
            </a:r>
            <a:r>
              <a:rPr lang="ko-KR" altLang="en-US" dirty="0" err="1" smtClean="0"/>
              <a:t>입찰업체</a:t>
            </a:r>
            <a:r>
              <a:rPr lang="en-US" altLang="ko-KR" dirty="0" smtClean="0"/>
              <a:t>, </a:t>
            </a:r>
            <a:r>
              <a:rPr lang="ko-KR" altLang="en-US" dirty="0" smtClean="0"/>
              <a:t>화폐단위</a:t>
            </a:r>
            <a:r>
              <a:rPr lang="en-US" altLang="ko-KR" dirty="0" smtClean="0"/>
              <a:t>, </a:t>
            </a:r>
            <a:r>
              <a:rPr lang="ko-KR" altLang="en-US" dirty="0" smtClean="0"/>
              <a:t>입찰금액을 입력</a:t>
            </a:r>
            <a:endParaRPr lang="en-US" altLang="ko-KR" dirty="0"/>
          </a:p>
          <a:p>
            <a:pPr>
              <a:buFont typeface="+mj-lt"/>
              <a:buAutoNum type="arabicPeriod"/>
            </a:pPr>
            <a:r>
              <a:rPr lang="ko-KR" altLang="en-US" dirty="0" smtClean="0"/>
              <a:t>입찰 품목 목록 표시</a:t>
            </a:r>
            <a:endParaRPr lang="en-US" altLang="ko-KR" dirty="0" smtClean="0"/>
          </a:p>
          <a:p>
            <a:pPr>
              <a:buFont typeface="+mj-lt"/>
              <a:buAutoNum type="arabicPeriod"/>
            </a:pPr>
            <a:r>
              <a:rPr lang="ko-KR" altLang="en-US" dirty="0" err="1" smtClean="0"/>
              <a:t>총액제</a:t>
            </a:r>
            <a:r>
              <a:rPr lang="ko-KR" altLang="en-US" dirty="0" smtClean="0"/>
              <a:t> 일괄 버튼은 항시 노출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err="1">
                <a:latin typeface="+mn-ea"/>
              </a:rPr>
              <a:t>입찰내역</a:t>
            </a:r>
            <a:r>
              <a:rPr lang="ko-KR" altLang="en-US" dirty="0">
                <a:latin typeface="+mn-ea"/>
              </a:rPr>
              <a:t> </a:t>
            </a:r>
            <a:r>
              <a:rPr lang="en-US" altLang="ko-KR" dirty="0">
                <a:latin typeface="+mn-ea"/>
              </a:rPr>
              <a:t>(</a:t>
            </a:r>
            <a:r>
              <a:rPr lang="ko-KR" altLang="en-US" dirty="0" err="1">
                <a:latin typeface="+mn-ea"/>
              </a:rPr>
              <a:t>총액제</a:t>
            </a:r>
            <a:r>
              <a:rPr lang="en-US" altLang="ko-KR" dirty="0">
                <a:latin typeface="+mn-ea"/>
              </a:rPr>
              <a:t>)</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en-US" altLang="ko-KR" dirty="0">
                <a:latin typeface="+mn-ea"/>
              </a:rPr>
              <a:t>[</a:t>
            </a:r>
            <a:r>
              <a:rPr lang="ko-KR" altLang="en-US" dirty="0" err="1">
                <a:latin typeface="+mn-ea"/>
              </a:rPr>
              <a:t>총액제</a:t>
            </a:r>
            <a:r>
              <a:rPr lang="en-US" altLang="ko-KR" dirty="0">
                <a:latin typeface="+mn-ea"/>
              </a:rPr>
              <a:t>] </a:t>
            </a:r>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MUI-BD-01-M78</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3121559"/>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0" name="직사각형 159"/>
          <p:cNvSpPr/>
          <p:nvPr/>
        </p:nvSpPr>
        <p:spPr>
          <a:xfrm>
            <a:off x="703268" y="3429045"/>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3429044"/>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p:txBody>
      </p:sp>
      <p:grpSp>
        <p:nvGrpSpPr>
          <p:cNvPr id="17" name="그룹 16"/>
          <p:cNvGrpSpPr/>
          <p:nvPr/>
        </p:nvGrpSpPr>
        <p:grpSpPr>
          <a:xfrm>
            <a:off x="701175" y="3429044"/>
            <a:ext cx="2630093" cy="1288440"/>
            <a:chOff x="701175" y="1835481"/>
            <a:chExt cx="2630093" cy="12884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1992981" y="4956336"/>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63" name="TextBox 162">
            <a:extLst>
              <a:ext uri="{FF2B5EF4-FFF2-40B4-BE49-F238E27FC236}">
                <a16:creationId xmlns:a16="http://schemas.microsoft.com/office/drawing/2014/main" id="{FFC49AEA-2A8F-250C-A86A-A7751D9706C3}"/>
              </a:ext>
            </a:extLst>
          </p:cNvPr>
          <p:cNvSpPr txBox="1"/>
          <p:nvPr/>
        </p:nvSpPr>
        <p:spPr>
          <a:xfrm>
            <a:off x="1547180" y="3429044"/>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p:txBody>
      </p:sp>
      <p:sp>
        <p:nvSpPr>
          <p:cNvPr id="99" name="사각형: 둥근 모서리 15">
            <a:extLst>
              <a:ext uri="{FF2B5EF4-FFF2-40B4-BE49-F238E27FC236}">
                <a16:creationId xmlns:a16="http://schemas.microsoft.com/office/drawing/2014/main" id="{E2B61CFB-AD16-68D0-8752-50D9C5E01971}"/>
              </a:ext>
            </a:extLst>
          </p:cNvPr>
          <p:cNvSpPr/>
          <p:nvPr/>
        </p:nvSpPr>
        <p:spPr>
          <a:xfrm>
            <a:off x="1561065" y="184585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err="1">
                <a:latin typeface="맑은 고딕"/>
              </a:rPr>
              <a:t>미업체</a:t>
            </a:r>
            <a:endParaRPr kumimoji="1" lang="en-US" sz="700" b="0" i="0" u="none" strike="noStrike" kern="0" cap="none" spc="0" normalizeH="0" baseline="0" noProof="0" dirty="0">
              <a:ln>
                <a:noFill/>
              </a:ln>
              <a:effectLst/>
              <a:uLnTx/>
              <a:uFillTx/>
              <a:latin typeface="맑은 고딕"/>
            </a:endParaRPr>
          </a:p>
        </p:txBody>
      </p:sp>
      <p:grpSp>
        <p:nvGrpSpPr>
          <p:cNvPr id="100" name="그룹 99"/>
          <p:cNvGrpSpPr/>
          <p:nvPr/>
        </p:nvGrpSpPr>
        <p:grpSpPr>
          <a:xfrm>
            <a:off x="3124233" y="1903349"/>
            <a:ext cx="94010" cy="47005"/>
            <a:chOff x="6812560" y="3297172"/>
            <a:chExt cx="94010" cy="47005"/>
          </a:xfrm>
        </p:grpSpPr>
        <p:cxnSp>
          <p:nvCxnSpPr>
            <p:cNvPr id="101" name="직선 연결선 10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2" name="직선 연결선 10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3" name="TextBox 102">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endParaRPr lang="ko-KR" altLang="en-US" sz="700" dirty="0">
              <a:latin typeface="+mn-ea"/>
            </a:endParaRPr>
          </a:p>
        </p:txBody>
      </p:sp>
      <p:grpSp>
        <p:nvGrpSpPr>
          <p:cNvPr id="104" name="그룹 103"/>
          <p:cNvGrpSpPr/>
          <p:nvPr/>
        </p:nvGrpSpPr>
        <p:grpSpPr>
          <a:xfrm flipV="1">
            <a:off x="3124233" y="1641327"/>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720490" y="18256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20490" y="203175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675399" y="30798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0490" y="22492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790331" y="1807602"/>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err="1">
                <a:latin typeface="+mn-ea"/>
              </a:rPr>
              <a:t>달러환산율</a:t>
            </a:r>
            <a:endParaRPr lang="ko-KR" altLang="en-US" sz="700" dirty="0">
              <a:latin typeface="+mn-ea"/>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1561065" y="205296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700" kern="0" noProof="0" dirty="0">
                <a:latin typeface="맑은 고딕"/>
              </a:rPr>
              <a:t>USD</a:t>
            </a:r>
            <a:endParaRPr kumimoji="1" lang="en-US" sz="700" b="0" i="0" u="none" strike="noStrike" kern="0" cap="none" spc="0" normalizeH="0" baseline="0" noProof="0" dirty="0">
              <a:ln>
                <a:noFill/>
              </a:ln>
              <a:effectLst/>
              <a:uLnTx/>
              <a:uFillTx/>
              <a:latin typeface="맑은 고딕"/>
            </a:endParaRPr>
          </a:p>
        </p:txBody>
      </p:sp>
      <p:grpSp>
        <p:nvGrpSpPr>
          <p:cNvPr id="133" name="그룹 132"/>
          <p:cNvGrpSpPr/>
          <p:nvPr/>
        </p:nvGrpSpPr>
        <p:grpSpPr>
          <a:xfrm>
            <a:off x="3124233" y="2110458"/>
            <a:ext cx="94010" cy="47005"/>
            <a:chOff x="6812560" y="3297172"/>
            <a:chExt cx="94010" cy="47005"/>
          </a:xfrm>
        </p:grpSpPr>
        <p:cxnSp>
          <p:nvCxnSpPr>
            <p:cNvPr id="134" name="직선 연결선 1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5" name="직선 연결선 1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0" name="직선 연결선 149">
            <a:extLst>
              <a:ext uri="{FF2B5EF4-FFF2-40B4-BE49-F238E27FC236}">
                <a16:creationId xmlns:a16="http://schemas.microsoft.com/office/drawing/2014/main" id="{E9293055-D5CD-4B9E-7F64-64B2D2CA7A52}"/>
              </a:ext>
            </a:extLst>
          </p:cNvPr>
          <p:cNvCxnSpPr/>
          <p:nvPr/>
        </p:nvCxnSpPr>
        <p:spPr>
          <a:xfrm>
            <a:off x="720490" y="246327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20490" y="26693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20490" y="28868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사각형: 둥근 모서리 15">
            <a:extLst>
              <a:ext uri="{FF2B5EF4-FFF2-40B4-BE49-F238E27FC236}">
                <a16:creationId xmlns:a16="http://schemas.microsoft.com/office/drawing/2014/main" id="{E2B61CFB-AD16-68D0-8752-50D9C5E01971}"/>
              </a:ext>
            </a:extLst>
          </p:cNvPr>
          <p:cNvSpPr/>
          <p:nvPr/>
        </p:nvSpPr>
        <p:spPr>
          <a:xfrm>
            <a:off x="1561065" y="226522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ko-KR" altLang="en-US" sz="700" kern="0" noProof="0" dirty="0" err="1">
                <a:latin typeface="맑은 고딕"/>
              </a:rPr>
              <a:t>미선택</a:t>
            </a:r>
            <a:endParaRPr kumimoji="1" lang="en-US" sz="700" b="0" i="0" u="none" strike="noStrike" kern="0" cap="none" spc="0" normalizeH="0" baseline="0" noProof="0" dirty="0">
              <a:ln>
                <a:noFill/>
              </a:ln>
              <a:effectLst/>
              <a:uLnTx/>
              <a:uFillTx/>
              <a:latin typeface="맑은 고딕"/>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1547180" y="2431360"/>
            <a:ext cx="1784088" cy="396583"/>
          </a:xfrm>
          <a:prstGeom prst="rect">
            <a:avLst/>
          </a:prstGeom>
          <a:noFill/>
        </p:spPr>
        <p:txBody>
          <a:bodyPr wrap="square" lIns="0" tIns="0" rIns="0" bIns="0" rtlCol="0">
            <a:spAutoFit/>
          </a:bodyPr>
          <a:lstStyle/>
          <a:p>
            <a:pPr algn="r">
              <a:lnSpc>
                <a:spcPct val="200000"/>
              </a:lnSpc>
            </a:pPr>
            <a:r>
              <a:rPr lang="en-US" altLang="ko-KR" sz="700" dirty="0">
                <a:latin typeface="+mn-ea"/>
              </a:rPr>
              <a:t>608,000.00</a:t>
            </a:r>
          </a:p>
          <a:p>
            <a:pPr algn="r">
              <a:lnSpc>
                <a:spcPct val="200000"/>
              </a:lnSpc>
            </a:pPr>
            <a:r>
              <a:rPr lang="en-US" altLang="ko-KR" sz="700" dirty="0">
                <a:latin typeface="+mn-ea"/>
              </a:rPr>
              <a:t>1.0000 USD</a:t>
            </a:r>
          </a:p>
        </p:txBody>
      </p:sp>
      <p:sp>
        <p:nvSpPr>
          <p:cNvPr id="54" name="사각형: 둥근 모서리 15">
            <a:extLst>
              <a:ext uri="{FF2B5EF4-FFF2-40B4-BE49-F238E27FC236}">
                <a16:creationId xmlns:a16="http://schemas.microsoft.com/office/drawing/2014/main" id="{E2B61CFB-AD16-68D0-8752-50D9C5E01971}"/>
              </a:ext>
            </a:extLst>
          </p:cNvPr>
          <p:cNvSpPr/>
          <p:nvPr/>
        </p:nvSpPr>
        <p:spPr>
          <a:xfrm>
            <a:off x="705041" y="545396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57" name="그룹 56"/>
          <p:cNvGrpSpPr/>
          <p:nvPr/>
        </p:nvGrpSpPr>
        <p:grpSpPr>
          <a:xfrm>
            <a:off x="675399" y="5614711"/>
            <a:ext cx="2712027" cy="617588"/>
            <a:chOff x="675399" y="5614711"/>
            <a:chExt cx="2712027" cy="617588"/>
          </a:xfrm>
        </p:grpSpPr>
        <p:sp>
          <p:nvSpPr>
            <p:cNvPr id="58" name="직사각형 57">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2069844" y="5745391"/>
              <a:ext cx="12252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입찰내역</a:t>
              </a:r>
              <a:r>
                <a:rPr kumimoji="1" lang="ko-KR" altLang="en-US" sz="1000" kern="0" dirty="0">
                  <a:solidFill>
                    <a:srgbClr val="0070C0"/>
                  </a:solidFill>
                  <a:latin typeface="맑은 고딕"/>
                  <a:ea typeface="맑은 고딕" panose="020B0503020000020004" pitchFamily="50" charset="-127"/>
                </a:rPr>
                <a:t> 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60" name="사각형: 둥근 모서리 15">
              <a:extLst>
                <a:ext uri="{FF2B5EF4-FFF2-40B4-BE49-F238E27FC236}">
                  <a16:creationId xmlns:a16="http://schemas.microsoft.com/office/drawing/2014/main" id="{E2B61CFB-AD16-68D0-8752-50D9C5E01971}"/>
                </a:ext>
              </a:extLst>
            </p:cNvPr>
            <p:cNvSpPr/>
            <p:nvPr/>
          </p:nvSpPr>
          <p:spPr>
            <a:xfrm>
              <a:off x="767701" y="5745391"/>
              <a:ext cx="122527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latin typeface="맑은 고딕"/>
                  <a:ea typeface="맑은 고딕" panose="020B0503020000020004" pitchFamily="50" charset="-127"/>
                </a:rPr>
                <a:t>입찰내역</a:t>
              </a:r>
              <a:r>
                <a:rPr kumimoji="1" lang="ko-KR" altLang="en-US" sz="1000" kern="0" dirty="0">
                  <a:latin typeface="맑은 고딕"/>
                  <a:ea typeface="맑은 고딕" panose="020B0503020000020004" pitchFamily="50" charset="-127"/>
                </a:rPr>
                <a:t> 삭제</a:t>
              </a:r>
              <a:endParaRPr kumimoji="1" lang="en-US" sz="1000" b="0" i="0" u="none" strike="noStrike" kern="0" cap="none" spc="0" normalizeH="0" baseline="0" noProof="0" dirty="0">
                <a:ln>
                  <a:noFill/>
                </a:ln>
                <a:effectLst/>
                <a:uLnTx/>
                <a:uFillTx/>
                <a:latin typeface="맑은 고딕"/>
              </a:endParaRPr>
            </a:p>
          </p:txBody>
        </p:sp>
      </p:grpSp>
      <p:sp>
        <p:nvSpPr>
          <p:cNvPr id="55" name="타원 54">
            <a:extLst>
              <a:ext uri="{FF2B5EF4-FFF2-40B4-BE49-F238E27FC236}">
                <a16:creationId xmlns:a16="http://schemas.microsoft.com/office/drawing/2014/main" id="{37A7FF4F-0EAA-1463-560A-D5EC24416103}"/>
              </a:ext>
            </a:extLst>
          </p:cNvPr>
          <p:cNvSpPr/>
          <p:nvPr/>
        </p:nvSpPr>
        <p:spPr>
          <a:xfrm>
            <a:off x="571127" y="19426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56" name="타원 55">
            <a:extLst>
              <a:ext uri="{FF2B5EF4-FFF2-40B4-BE49-F238E27FC236}">
                <a16:creationId xmlns:a16="http://schemas.microsoft.com/office/drawing/2014/main" id="{37A7FF4F-0EAA-1463-560A-D5EC24416103}"/>
              </a:ext>
            </a:extLst>
          </p:cNvPr>
          <p:cNvSpPr/>
          <p:nvPr/>
        </p:nvSpPr>
        <p:spPr>
          <a:xfrm>
            <a:off x="571127" y="314372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61" name="타원 60">
            <a:extLst>
              <a:ext uri="{FF2B5EF4-FFF2-40B4-BE49-F238E27FC236}">
                <a16:creationId xmlns:a16="http://schemas.microsoft.com/office/drawing/2014/main" id="{37A7FF4F-0EAA-1463-560A-D5EC24416103}"/>
              </a:ext>
            </a:extLst>
          </p:cNvPr>
          <p:cNvSpPr/>
          <p:nvPr/>
        </p:nvSpPr>
        <p:spPr>
          <a:xfrm>
            <a:off x="571127" y="58036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Tree>
    <p:extLst>
      <p:ext uri="{BB962C8B-B14F-4D97-AF65-F5344CB8AC3E}">
        <p14:creationId xmlns:p14="http://schemas.microsoft.com/office/powerpoint/2010/main" val="4288753622"/>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1751346"/>
                  </a:ext>
                </a:extLst>
              </a:tr>
              <a:tr h="0">
                <a:tc>
                  <a:txBody>
                    <a:bodyPr/>
                    <a:lstStyle/>
                    <a:p>
                      <a:pPr algn="l" fontAlgn="ct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9223821"/>
                  </a:ext>
                </a:extLst>
              </a:tr>
              <a:tr h="0">
                <a:tc>
                  <a:txBody>
                    <a:bodyPr/>
                    <a:lstStyle/>
                    <a:p>
                      <a:pPr algn="l" fontAlgn="ctr"/>
                      <a:r>
                        <a:rPr lang="ko-KR" altLang="en-US" sz="800" b="0" i="0" u="none" strike="noStrike">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5825386"/>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2167756"/>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684685"/>
                  </a:ext>
                </a:extLst>
              </a:tr>
              <a:tr h="0">
                <a:tc>
                  <a:txBody>
                    <a:bodyPr/>
                    <a:lstStyle/>
                    <a:p>
                      <a:pPr algn="l" fontAlgn="ctr"/>
                      <a:r>
                        <a:rPr lang="ko-KR" altLang="en-US" sz="800" b="0" i="0" u="none" strike="noStrike">
                          <a:solidFill>
                            <a:srgbClr val="000000"/>
                          </a:solidFill>
                          <a:effectLst/>
                          <a:latin typeface="+mn-ea"/>
                          <a:ea typeface="+mn-ea"/>
                        </a:rPr>
                        <a:t>개찰일시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6532521"/>
                  </a:ext>
                </a:extLst>
              </a:tr>
              <a:tr h="0">
                <a:tc>
                  <a:txBody>
                    <a:bodyPr/>
                    <a:lstStyle/>
                    <a:p>
                      <a:pPr algn="l" fontAlgn="ctr"/>
                      <a:r>
                        <a:rPr lang="ko-KR" altLang="en-US" sz="800" b="0" i="0" u="none" strike="noStrike">
                          <a:solidFill>
                            <a:srgbClr val="000000"/>
                          </a:solidFill>
                          <a:effectLst/>
                          <a:latin typeface="+mn-ea"/>
                          <a:ea typeface="+mn-ea"/>
                        </a:rPr>
                        <a:t>환율적용일자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환율적용일자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1664787"/>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8347116"/>
                  </a:ext>
                </a:extLst>
              </a:tr>
              <a:tr h="0">
                <a:tc>
                  <a:txBody>
                    <a:bodyPr/>
                    <a:lstStyle/>
                    <a:p>
                      <a:pPr algn="l" fontAlgn="ctr"/>
                      <a:r>
                        <a:rPr lang="ko-KR" altLang="en-US" sz="800" b="0" i="0" u="none" strike="noStrike">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연락처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연락처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B8CDDD2D-4887-09C2-7266-AB4432087CE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D5EA5C09-12B5-B078-3C9A-7C9DFD9C4D01}"/>
              </a:ext>
            </a:extLst>
          </p:cNvPr>
          <p:cNvSpPr txBox="1"/>
          <p:nvPr/>
        </p:nvSpPr>
        <p:spPr>
          <a:xfrm>
            <a:off x="458117" y="4726698"/>
            <a:ext cx="2586212"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입찰내역일괄적용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(dl_fwkInfo)</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AA6DE14E-3F2D-C3AF-BE80-02E00C38DB2C}"/>
              </a:ext>
            </a:extLst>
          </p:cNvPr>
          <p:cNvGraphicFramePr>
            <a:graphicFrameLocks noGrp="1"/>
          </p:cNvGraphicFramePr>
          <p:nvPr/>
        </p:nvGraphicFramePr>
        <p:xfrm>
          <a:off x="452999" y="4937901"/>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bl>
          </a:graphicData>
        </a:graphic>
      </p:graphicFrame>
    </p:spTree>
    <p:extLst>
      <p:ext uri="{BB962C8B-B14F-4D97-AF65-F5344CB8AC3E}">
        <p14:creationId xmlns:p14="http://schemas.microsoft.com/office/powerpoint/2010/main" val="1565665308"/>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(2/2)</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2871546"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(dl_ititbBidCnList)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526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4568633"/>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(As it is / Replace)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4155434"/>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품목대체구분이 </a:t>
                      </a:r>
                      <a:r>
                        <a:rPr lang="en-US" altLang="ko-KR" sz="800" dirty="0">
                          <a:latin typeface="+mn-ea"/>
                          <a:ea typeface="+mn-ea"/>
                        </a:rPr>
                        <a:t>“Replace”</a:t>
                      </a:r>
                      <a:r>
                        <a:rPr lang="ko-KR" altLang="en-US" sz="800" dirty="0">
                          <a:latin typeface="+mn-ea"/>
                          <a:ea typeface="+mn-ea"/>
                        </a:rPr>
                        <a:t>인 경우</a:t>
                      </a:r>
                      <a:r>
                        <a:rPr lang="en-US" altLang="ko-KR" sz="800" dirty="0">
                          <a:latin typeface="+mn-ea"/>
                          <a:ea typeface="+mn-ea"/>
                        </a:rPr>
                        <a:t>, </a:t>
                      </a:r>
                      <a:r>
                        <a:rPr lang="ko-KR" altLang="en-US" sz="800" dirty="0">
                          <a:latin typeface="+mn-ea"/>
                          <a:ea typeface="+mn-ea"/>
                        </a:rPr>
                        <a:t>활성화</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품목대체구분이 </a:t>
                      </a:r>
                      <a:r>
                        <a:rPr lang="en-US" altLang="ko-KR" sz="800" dirty="0">
                          <a:latin typeface="+mn-ea"/>
                          <a:ea typeface="+mn-ea"/>
                        </a:rPr>
                        <a:t>“Replace”</a:t>
                      </a:r>
                      <a:r>
                        <a:rPr lang="ko-KR" altLang="en-US" sz="800" dirty="0">
                          <a:latin typeface="+mn-ea"/>
                          <a:ea typeface="+mn-ea"/>
                        </a:rPr>
                        <a:t>인 경우</a:t>
                      </a:r>
                      <a:r>
                        <a:rPr lang="en-US" altLang="ko-KR" sz="800" dirty="0">
                          <a:latin typeface="+mn-ea"/>
                          <a:ea typeface="+mn-ea"/>
                        </a:rPr>
                        <a:t>, </a:t>
                      </a:r>
                      <a:r>
                        <a:rPr lang="ko-KR" altLang="en-US" sz="800" dirty="0" err="1">
                          <a:latin typeface="+mn-ea"/>
                          <a:ea typeface="+mn-ea"/>
                        </a:rPr>
                        <a:t>필수입력</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941089"/>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품목대체구분이 </a:t>
                      </a:r>
                      <a:r>
                        <a:rPr lang="en-US" altLang="ko-KR" sz="800" dirty="0">
                          <a:latin typeface="+mn-ea"/>
                          <a:ea typeface="+mn-ea"/>
                        </a:rPr>
                        <a:t>“Replace”</a:t>
                      </a:r>
                      <a:r>
                        <a:rPr lang="ko-KR" altLang="en-US" sz="800" dirty="0">
                          <a:latin typeface="+mn-ea"/>
                          <a:ea typeface="+mn-ea"/>
                        </a:rPr>
                        <a:t>인 경우</a:t>
                      </a:r>
                      <a:r>
                        <a:rPr lang="en-US" altLang="ko-KR" sz="800" dirty="0">
                          <a:latin typeface="+mn-ea"/>
                          <a:ea typeface="+mn-ea"/>
                        </a:rPr>
                        <a:t>, </a:t>
                      </a:r>
                      <a:r>
                        <a:rPr lang="ko-KR" altLang="en-US" sz="800" dirty="0">
                          <a:latin typeface="+mn-ea"/>
                          <a:ea typeface="+mn-ea"/>
                        </a:rPr>
                        <a:t>활성화</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품목대체구분이 </a:t>
                      </a:r>
                      <a:r>
                        <a:rPr lang="en-US" altLang="ko-KR" sz="800" dirty="0">
                          <a:latin typeface="+mn-ea"/>
                          <a:ea typeface="+mn-ea"/>
                        </a:rPr>
                        <a:t>“Replace”</a:t>
                      </a:r>
                      <a:r>
                        <a:rPr lang="ko-KR" altLang="en-US" sz="800" dirty="0">
                          <a:latin typeface="+mn-ea"/>
                          <a:ea typeface="+mn-ea"/>
                        </a:rPr>
                        <a:t>인 경우</a:t>
                      </a:r>
                      <a:r>
                        <a:rPr lang="en-US" altLang="ko-KR" sz="800" dirty="0">
                          <a:latin typeface="+mn-ea"/>
                          <a:ea typeface="+mn-ea"/>
                        </a:rPr>
                        <a:t>, </a:t>
                      </a:r>
                      <a:r>
                        <a:rPr lang="ko-KR" altLang="en-US" sz="800" dirty="0" err="1">
                          <a:latin typeface="+mn-ea"/>
                          <a:ea typeface="+mn-ea"/>
                        </a:rPr>
                        <a:t>필수입력</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929951"/>
                  </a:ext>
                </a:extLst>
              </a:tr>
              <a:tr h="0">
                <a:tc>
                  <a:txBody>
                    <a:bodyPr/>
                    <a:lstStyle/>
                    <a:p>
                      <a:pPr algn="l" fontAlgn="ctr"/>
                      <a:r>
                        <a:rPr lang="ko-KR" altLang="en-US" sz="800" b="0" i="0" u="none" strike="noStrike">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품목대체구분이 </a:t>
                      </a:r>
                      <a:r>
                        <a:rPr lang="en-US" altLang="ko-KR" sz="800" dirty="0">
                          <a:latin typeface="+mn-ea"/>
                          <a:ea typeface="+mn-ea"/>
                        </a:rPr>
                        <a:t>“Replace”</a:t>
                      </a:r>
                      <a:r>
                        <a:rPr lang="ko-KR" altLang="en-US" sz="800" dirty="0">
                          <a:latin typeface="+mn-ea"/>
                          <a:ea typeface="+mn-ea"/>
                        </a:rPr>
                        <a:t>인 경우</a:t>
                      </a:r>
                      <a:r>
                        <a:rPr lang="en-US" altLang="ko-KR" sz="800" dirty="0">
                          <a:latin typeface="+mn-ea"/>
                          <a:ea typeface="+mn-ea"/>
                        </a:rPr>
                        <a:t>, </a:t>
                      </a:r>
                      <a:r>
                        <a:rPr lang="ko-KR" altLang="en-US" sz="800" dirty="0">
                          <a:latin typeface="+mn-ea"/>
                          <a:ea typeface="+mn-ea"/>
                        </a:rPr>
                        <a:t>활성화</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품목대체구분이 </a:t>
                      </a:r>
                      <a:r>
                        <a:rPr lang="en-US" altLang="ko-KR" sz="800" dirty="0">
                          <a:latin typeface="+mn-ea"/>
                          <a:ea typeface="+mn-ea"/>
                        </a:rPr>
                        <a:t>“Replace”</a:t>
                      </a:r>
                      <a:r>
                        <a:rPr lang="ko-KR" altLang="en-US" sz="800" dirty="0">
                          <a:latin typeface="+mn-ea"/>
                          <a:ea typeface="+mn-ea"/>
                        </a:rPr>
                        <a:t>인 경우</a:t>
                      </a:r>
                      <a:r>
                        <a:rPr lang="en-US" altLang="ko-KR" sz="800" dirty="0">
                          <a:latin typeface="+mn-ea"/>
                          <a:ea typeface="+mn-ea"/>
                        </a:rPr>
                        <a:t>, </a:t>
                      </a:r>
                      <a:r>
                        <a:rPr lang="ko-KR" altLang="en-US" sz="800" dirty="0" err="1">
                          <a:latin typeface="+mn-ea"/>
                          <a:ea typeface="+mn-ea"/>
                        </a:rPr>
                        <a:t>필수입력</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7599421"/>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ea"/>
                          <a:ea typeface="+mn-ea"/>
                        </a:rPr>
                        <a:t>MOQ </a:t>
                      </a:r>
                      <a:r>
                        <a:rPr lang="ko-KR" altLang="en-US" sz="800" b="0" i="0" u="none" strike="noStrike" dirty="0">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(Y /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9061956"/>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활성화</a:t>
                      </a:r>
                      <a:endParaRPr lang="en-US" altLang="ko-KR" sz="80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필수입력</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9809737"/>
                  </a:ext>
                </a:extLst>
              </a:tr>
              <a:tr h="0">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활성화</a:t>
                      </a:r>
                      <a:endParaRPr lang="en-US" altLang="ko-KR" sz="80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필수입력</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0739781"/>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본조</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848704"/>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당국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당해년도 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3670449"/>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장국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640405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595397"/>
                  </a:ext>
                </a:extLst>
              </a:tr>
              <a:tr h="0">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9750289"/>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3809566"/>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입찰단가의 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8185639"/>
                  </a:ext>
                </a:extLst>
              </a:tr>
              <a:tr h="0">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C6D8C3C5-92D6-644C-4F38-14715FB864C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3315723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(3/3)</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2935666"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입찰품목</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(dl_alonbsItemList)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bl>
          </a:graphicData>
        </a:graphic>
      </p:graphicFrame>
      <p:sp>
        <p:nvSpPr>
          <p:cNvPr id="4" name="Text Box 73">
            <a:extLst>
              <a:ext uri="{FF2B5EF4-FFF2-40B4-BE49-F238E27FC236}">
                <a16:creationId xmlns:a16="http://schemas.microsoft.com/office/drawing/2014/main" id="{C6D8C3C5-92D6-644C-4F38-14715FB864C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267B3668-0026-4623-457A-028378931DF7}"/>
              </a:ext>
            </a:extLst>
          </p:cNvPr>
          <p:cNvSpPr txBox="1"/>
          <p:nvPr/>
        </p:nvSpPr>
        <p:spPr>
          <a:xfrm>
            <a:off x="458117" y="3217797"/>
            <a:ext cx="3039862"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(dl_alonbsBidCnInfo)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DD01AC2E-06FD-EA6C-DF65-3E217C5B5B75}"/>
              </a:ext>
            </a:extLst>
          </p:cNvPr>
          <p:cNvGraphicFramePr>
            <a:graphicFrameLocks noGrp="1"/>
          </p:cNvGraphicFramePr>
          <p:nvPr/>
        </p:nvGraphicFramePr>
        <p:xfrm>
          <a:off x="452999" y="3429000"/>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bl>
          </a:graphicData>
        </a:graphic>
      </p:graphicFrame>
    </p:spTree>
    <p:extLst>
      <p:ext uri="{BB962C8B-B14F-4D97-AF65-F5344CB8AC3E}">
        <p14:creationId xmlns:p14="http://schemas.microsoft.com/office/powerpoint/2010/main" val="852616012"/>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7FB2BC88-D058-584B-6E43-87812BA1225D}"/>
              </a:ext>
            </a:extLst>
          </p:cNvPr>
          <p:cNvSpPr>
            <a:spLocks noGrp="1"/>
          </p:cNvSpPr>
          <p:nvPr>
            <p:ph type="sldNum" sz="quarter" idx="4"/>
          </p:nvPr>
        </p:nvSpPr>
        <p:spPr/>
        <p:txBody>
          <a:bodyPr/>
          <a:lstStyle/>
          <a:p>
            <a:fld id="{34C8E023-7346-48FC-AB24-9A3388C53208}" type="slidenum">
              <a:rPr lang="ko-KR" altLang="en-US" smtClean="0"/>
              <a:pPr/>
              <a:t>426</a:t>
            </a:fld>
            <a:endParaRPr lang="ko-KR" altLang="en-US" dirty="0"/>
          </a:p>
        </p:txBody>
      </p:sp>
      <p:sp>
        <p:nvSpPr>
          <p:cNvPr id="3" name="TextBox 2">
            <a:extLst>
              <a:ext uri="{FF2B5EF4-FFF2-40B4-BE49-F238E27FC236}">
                <a16:creationId xmlns:a16="http://schemas.microsoft.com/office/drawing/2014/main" id="{AFC0F452-7196-DE77-373F-0BCB0D49FFBC}"/>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C29C8687-867B-CB07-ACAF-8274E0069D46}"/>
              </a:ext>
            </a:extLst>
          </p:cNvPr>
          <p:cNvGraphicFramePr>
            <a:graphicFrameLocks noGrp="1"/>
          </p:cNvGraphicFramePr>
          <p:nvPr>
            <p:extLst>
              <p:ext uri="{D42A27DB-BD31-4B8C-83A1-F6EECF244321}">
                <p14:modId xmlns:p14="http://schemas.microsoft.com/office/powerpoint/2010/main" val="2936946063"/>
              </p:ext>
            </p:extLst>
          </p:nvPr>
        </p:nvGraphicFramePr>
        <p:xfrm>
          <a:off x="458117" y="799547"/>
          <a:ext cx="8995591" cy="349632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공고상세</a:t>
                      </a:r>
                      <a:r>
                        <a:rPr lang="en-US" altLang="ko-KR" sz="800">
                          <a:latin typeface="+mn-ea"/>
                          <a:ea typeface="+mn-ea"/>
                        </a:rPr>
                        <a:t>, </a:t>
                      </a:r>
                      <a:r>
                        <a:rPr lang="ko-KR" altLang="en-US" sz="800">
                          <a:latin typeface="+mn-ea"/>
                          <a:ea typeface="+mn-ea"/>
                        </a:rPr>
                        <a:t>보관함품목 </a:t>
                      </a:r>
                      <a:r>
                        <a:rPr lang="ko-KR" altLang="en-US" sz="800" dirty="0">
                          <a:latin typeface="+mn-ea"/>
                          <a:ea typeface="+mn-ea"/>
                        </a:rPr>
                        <a:t>조회</a:t>
                      </a:r>
                      <a:r>
                        <a:rPr lang="en-US" altLang="ko-KR" sz="800">
                          <a:latin typeface="+mn-ea"/>
                          <a:ea typeface="+mn-ea"/>
                        </a:rPr>
                        <a:t>,  </a:t>
                      </a:r>
                      <a:r>
                        <a:rPr lang="ko-KR" altLang="en-US" sz="800">
                          <a:latin typeface="+mn-ea"/>
                          <a:ea typeface="+mn-ea"/>
                        </a:rPr>
                        <a:t>입찰업체목록 조회</a:t>
                      </a:r>
                      <a:r>
                        <a:rPr lang="en-US" altLang="ko-KR" sz="800">
                          <a:latin typeface="+mn-ea"/>
                          <a:ea typeface="+mn-ea"/>
                        </a:rPr>
                        <a:t>, </a:t>
                      </a:r>
                      <a:r>
                        <a:rPr lang="ko-KR" altLang="en-US" sz="800" dirty="0">
                          <a:latin typeface="+mn-ea"/>
                          <a:ea typeface="+mn-ea"/>
                        </a:rPr>
                        <a:t>화폐단위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입찰공고상세</a:t>
                      </a:r>
                      <a:r>
                        <a:rPr lang="en-US" altLang="ko-KR" sz="800" dirty="0">
                          <a:latin typeface="+mn-ea"/>
                          <a:ea typeface="+mn-ea"/>
                        </a:rPr>
                        <a:t>, </a:t>
                      </a:r>
                      <a:r>
                        <a:rPr lang="ko-KR" altLang="en-US" sz="800" dirty="0">
                          <a:latin typeface="+mn-ea"/>
                          <a:ea typeface="+mn-ea"/>
                        </a:rPr>
                        <a:t>입찰업체목록조회</a:t>
                      </a:r>
                      <a:r>
                        <a:rPr lang="en-US" altLang="ko-KR" sz="800" dirty="0">
                          <a:latin typeface="+mn-ea"/>
                          <a:ea typeface="+mn-ea"/>
                        </a:rPr>
                        <a:t>, </a:t>
                      </a:r>
                      <a:r>
                        <a:rPr lang="ko-KR" altLang="en-US" sz="800" dirty="0">
                          <a:latin typeface="+mn-ea"/>
                          <a:ea typeface="+mn-ea"/>
                        </a:rPr>
                        <a:t>화폐단위조회</a:t>
                      </a:r>
                      <a:r>
                        <a:rPr lang="en-US" altLang="ko-KR" sz="800" dirty="0">
                          <a:latin typeface="+mn-ea"/>
                          <a:ea typeface="+mn-ea"/>
                        </a:rPr>
                        <a:t>, </a:t>
                      </a:r>
                      <a:r>
                        <a:rPr lang="ko-KR" altLang="en-US" sz="800" dirty="0">
                          <a:latin typeface="+mn-ea"/>
                          <a:ea typeface="+mn-ea"/>
                        </a:rPr>
                        <a:t>임시입찰내용조회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선택적용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scnwin.btn_applySelected_onclick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선택된 입찰업체 및 화폐단위로 선택된 입찰내역</a:t>
                      </a:r>
                      <a:r>
                        <a:rPr lang="en-US" altLang="ko-KR" sz="800">
                          <a:latin typeface="+mn-ea"/>
                          <a:ea typeface="+mn-ea"/>
                        </a:rPr>
                        <a:t>(</a:t>
                      </a:r>
                      <a:r>
                        <a:rPr lang="ko-KR" altLang="en-US" sz="800">
                          <a:latin typeface="+mn-ea"/>
                          <a:ea typeface="+mn-ea"/>
                        </a:rPr>
                        <a:t>단가제</a:t>
                      </a:r>
                      <a:r>
                        <a:rPr lang="en-US" altLang="ko-KR" sz="800">
                          <a:latin typeface="+mn-ea"/>
                          <a:ea typeface="+mn-ea"/>
                        </a:rPr>
                        <a:t>) </a:t>
                      </a:r>
                      <a:r>
                        <a:rPr lang="ko-KR" altLang="en-US" sz="800">
                          <a:latin typeface="+mn-ea"/>
                          <a:ea typeface="+mn-ea"/>
                        </a:rPr>
                        <a:t>그리드행의 값을 변경</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100933"/>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전체적용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scnwin.btn_applyAll_onclick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선택된 입찰업체 및 화폐단위로 전체 입찰내역</a:t>
                      </a:r>
                      <a:r>
                        <a:rPr lang="en-US" altLang="ko-KR" sz="800">
                          <a:latin typeface="+mn-ea"/>
                          <a:ea typeface="+mn-ea"/>
                        </a:rPr>
                        <a:t>(</a:t>
                      </a:r>
                      <a:r>
                        <a:rPr lang="ko-KR" altLang="en-US" sz="800">
                          <a:latin typeface="+mn-ea"/>
                          <a:ea typeface="+mn-ea"/>
                        </a:rPr>
                        <a:t>단가제</a:t>
                      </a:r>
                      <a:r>
                        <a:rPr lang="en-US" altLang="ko-KR" sz="800">
                          <a:latin typeface="+mn-ea"/>
                          <a:ea typeface="+mn-ea"/>
                        </a:rPr>
                        <a:t>)</a:t>
                      </a:r>
                      <a:r>
                        <a:rPr lang="ko-KR" altLang="en-US" sz="800">
                          <a:latin typeface="+mn-ea"/>
                          <a:ea typeface="+mn-ea"/>
                        </a:rPr>
                        <a:t>그리드행의 값을 변경</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1043613"/>
                  </a:ext>
                </a:extLst>
              </a:tr>
              <a:tr h="0">
                <a:tc>
                  <a:txBody>
                    <a:bodyPr/>
                    <a:lstStyle/>
                    <a:p>
                      <a:r>
                        <a:rPr lang="ko-KR" altLang="en-US" sz="800" dirty="0"/>
                        <a:t>품목대체구분 변경</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scnwin.sbx_itemReplaceType_onchange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값이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품목대체문서업로드</a:t>
                      </a:r>
                      <a:r>
                        <a:rPr lang="en-US" altLang="ko-KR" sz="800">
                          <a:latin typeface="+mn-ea"/>
                          <a:ea typeface="+mn-ea"/>
                        </a:rPr>
                        <a:t>, </a:t>
                      </a:r>
                      <a:r>
                        <a:rPr lang="ko-KR" altLang="en-US" sz="800">
                          <a:latin typeface="+mn-ea"/>
                          <a:ea typeface="+mn-ea"/>
                        </a:rPr>
                        <a:t>수정재고번호</a:t>
                      </a:r>
                      <a:r>
                        <a:rPr lang="en-US" altLang="ko-KR" sz="800">
                          <a:latin typeface="+mn-ea"/>
                          <a:ea typeface="+mn-ea"/>
                        </a:rPr>
                        <a:t>, </a:t>
                      </a:r>
                      <a:r>
                        <a:rPr lang="ko-KR" altLang="en-US" sz="800">
                          <a:latin typeface="+mn-ea"/>
                          <a:ea typeface="+mn-ea"/>
                        </a:rPr>
                        <a:t>수정부품번호 입력 활성화</a:t>
                      </a:r>
                      <a:r>
                        <a:rPr lang="en-US" altLang="ko-KR" sz="800">
                          <a:latin typeface="+mn-ea"/>
                          <a:ea typeface="+mn-ea"/>
                        </a:rPr>
                        <a:t>. </a:t>
                      </a:r>
                      <a:r>
                        <a:rPr lang="ko-KR" altLang="en-US" sz="800">
                          <a:latin typeface="+mn-ea"/>
                          <a:ea typeface="+mn-ea"/>
                        </a:rPr>
                        <a:t>그 외 비활성화</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r h="0">
                <a:tc>
                  <a:txBody>
                    <a:bodyPr/>
                    <a:lstStyle/>
                    <a:p>
                      <a:r>
                        <a:rPr lang="ko-KR" altLang="en-US" sz="800"/>
                        <a:t>업로드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scnwin.btn_openUpload_onclick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첨부문서업로드</a:t>
                      </a:r>
                      <a:r>
                        <a:rPr lang="ko-KR" altLang="en-US" sz="800" dirty="0">
                          <a:latin typeface="+mn-ea"/>
                          <a:ea typeface="+mn-ea"/>
                        </a:rPr>
                        <a:t>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MUI-BD-04-P13 </a:t>
                      </a:r>
                      <a:r>
                        <a:rPr lang="ko-KR" altLang="en-US" sz="800" dirty="0" err="1" smtClean="0">
                          <a:latin typeface="+mn-ea"/>
                          <a:ea typeface="+mn-ea"/>
                        </a:rPr>
                        <a:t>캐비닛연결</a:t>
                      </a:r>
                      <a:r>
                        <a:rPr lang="en-US" altLang="ko-KR" sz="800" dirty="0" smtClean="0">
                          <a:latin typeface="+mn-ea"/>
                          <a:ea typeface="+mn-ea"/>
                        </a:rPr>
                        <a:t>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475007"/>
                  </a:ext>
                </a:extLst>
              </a:tr>
              <a:tr h="0">
                <a:tc>
                  <a:txBody>
                    <a:bodyPr/>
                    <a:lstStyle/>
                    <a:p>
                      <a:r>
                        <a:rPr lang="en-US" altLang="ko-KR" sz="800"/>
                        <a:t>MOQ</a:t>
                      </a:r>
                      <a:r>
                        <a:rPr lang="ko-KR" altLang="en-US" sz="800"/>
                        <a:t>구분 변경</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scnwin.sbx_moqType_onchange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값이 </a:t>
                      </a:r>
                      <a:r>
                        <a:rPr lang="en-US" altLang="ko-KR" sz="800">
                          <a:latin typeface="+mn-ea"/>
                          <a:ea typeface="+mn-ea"/>
                        </a:rPr>
                        <a:t>Y</a:t>
                      </a:r>
                      <a:r>
                        <a:rPr lang="ko-KR" altLang="en-US" sz="800">
                          <a:latin typeface="+mn-ea"/>
                          <a:ea typeface="+mn-ea"/>
                        </a:rPr>
                        <a:t>인 경우</a:t>
                      </a:r>
                      <a:r>
                        <a:rPr lang="en-US" altLang="ko-KR" sz="800">
                          <a:latin typeface="+mn-ea"/>
                          <a:ea typeface="+mn-ea"/>
                        </a:rPr>
                        <a:t>, MOQ</a:t>
                      </a:r>
                      <a:r>
                        <a:rPr lang="ko-KR" altLang="en-US" sz="800">
                          <a:latin typeface="+mn-ea"/>
                          <a:ea typeface="+mn-ea"/>
                        </a:rPr>
                        <a:t>첨부문서업로드</a:t>
                      </a:r>
                      <a:r>
                        <a:rPr lang="en-US" altLang="ko-KR" sz="800">
                          <a:latin typeface="+mn-ea"/>
                          <a:ea typeface="+mn-ea"/>
                        </a:rPr>
                        <a:t>, MOQ</a:t>
                      </a:r>
                      <a:r>
                        <a:rPr lang="ko-KR" altLang="en-US" sz="800">
                          <a:latin typeface="+mn-ea"/>
                          <a:ea typeface="+mn-ea"/>
                        </a:rPr>
                        <a:t>수량 입력 활성화</a:t>
                      </a:r>
                      <a:r>
                        <a:rPr lang="en-US" altLang="ko-KR" sz="800">
                          <a:latin typeface="+mn-ea"/>
                          <a:ea typeface="+mn-ea"/>
                        </a:rPr>
                        <a:t>. </a:t>
                      </a:r>
                      <a:r>
                        <a:rPr lang="ko-KR" altLang="en-US" sz="800">
                          <a:latin typeface="+mn-ea"/>
                          <a:ea typeface="+mn-ea"/>
                        </a:rPr>
                        <a:t>그 외 비활성화</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2809718"/>
                  </a:ext>
                </a:extLst>
              </a:tr>
              <a:tr h="0">
                <a:tc>
                  <a:txBody>
                    <a:bodyPr/>
                    <a:lstStyle/>
                    <a:p>
                      <a:r>
                        <a:rPr lang="ko-KR" altLang="en-US" sz="800" dirty="0"/>
                        <a:t>입찰단가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scnwin.ibx_unitPrice_onchange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입찰단가 변경</a:t>
                      </a:r>
                      <a:r>
                        <a:rPr lang="en-US" altLang="ko-KR" sz="800">
                          <a:latin typeface="+mn-ea"/>
                          <a:ea typeface="+mn-ea"/>
                        </a:rPr>
                        <a:t> </a:t>
                      </a:r>
                      <a:r>
                        <a:rPr lang="ko-KR" altLang="en-US" sz="800">
                          <a:latin typeface="+mn-ea"/>
                          <a:ea typeface="+mn-ea"/>
                        </a:rPr>
                        <a:t>시</a:t>
                      </a:r>
                      <a:r>
                        <a:rPr lang="en-US" altLang="ko-KR" sz="800">
                          <a:latin typeface="+mn-ea"/>
                          <a:ea typeface="+mn-ea"/>
                        </a:rPr>
                        <a:t>, </a:t>
                      </a:r>
                      <a:r>
                        <a:rPr lang="ko-KR" altLang="en-US" sz="800">
                          <a:latin typeface="+mn-ea"/>
                          <a:ea typeface="+mn-ea"/>
                        </a:rPr>
                        <a:t>입찰금액</a:t>
                      </a:r>
                      <a:r>
                        <a:rPr lang="en-US" altLang="ko-KR" sz="800">
                          <a:latin typeface="+mn-ea"/>
                          <a:ea typeface="+mn-ea"/>
                        </a:rPr>
                        <a:t>/</a:t>
                      </a:r>
                      <a:r>
                        <a:rPr lang="ko-KR" altLang="en-US" sz="800">
                          <a:latin typeface="+mn-ea"/>
                          <a:ea typeface="+mn-ea"/>
                        </a:rPr>
                        <a:t>달러단가</a:t>
                      </a:r>
                      <a:r>
                        <a:rPr lang="en-US" altLang="ko-KR" sz="800">
                          <a:latin typeface="+mn-ea"/>
                          <a:ea typeface="+mn-ea"/>
                        </a:rPr>
                        <a:t>/</a:t>
                      </a:r>
                      <a:r>
                        <a:rPr lang="ko-KR" altLang="en-US" sz="800">
                          <a:latin typeface="+mn-ea"/>
                          <a:ea typeface="+mn-ea"/>
                        </a:rPr>
                        <a:t>달러금액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0435977"/>
                  </a:ext>
                </a:extLst>
              </a:tr>
              <a:tr h="0">
                <a:tc>
                  <a:txBody>
                    <a:bodyPr/>
                    <a:lstStyle/>
                    <a:p>
                      <a:r>
                        <a:rPr lang="ko-KR" altLang="en-US" sz="800"/>
                        <a:t>단가제화폐단위 </a:t>
                      </a:r>
                      <a:r>
                        <a:rPr lang="ko-KR" altLang="en-US" sz="800" dirty="0"/>
                        <a:t>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scnwin.sbx_currency_onchange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화폐단위 변경 시</a:t>
                      </a:r>
                      <a:r>
                        <a:rPr lang="en-US" altLang="ko-KR" sz="800">
                          <a:latin typeface="+mn-ea"/>
                          <a:ea typeface="+mn-ea"/>
                        </a:rPr>
                        <a:t>, </a:t>
                      </a:r>
                      <a:r>
                        <a:rPr lang="ko-KR" altLang="en-US" sz="800">
                          <a:latin typeface="+mn-ea"/>
                          <a:ea typeface="+mn-ea"/>
                        </a:rPr>
                        <a:t>달러단가</a:t>
                      </a:r>
                      <a:r>
                        <a:rPr lang="en-US" altLang="ko-KR" sz="800">
                          <a:latin typeface="+mn-ea"/>
                          <a:ea typeface="+mn-ea"/>
                        </a:rPr>
                        <a:t>/</a:t>
                      </a:r>
                      <a:r>
                        <a:rPr lang="ko-KR" altLang="en-US" sz="800">
                          <a:latin typeface="+mn-ea"/>
                          <a:ea typeface="+mn-ea"/>
                        </a:rPr>
                        <a:t>달러금액</a:t>
                      </a:r>
                      <a:r>
                        <a:rPr lang="en-US" altLang="ko-KR" sz="800">
                          <a:latin typeface="+mn-ea"/>
                          <a:ea typeface="+mn-ea"/>
                        </a:rPr>
                        <a:t>/</a:t>
                      </a:r>
                      <a:r>
                        <a:rPr lang="ko-KR" altLang="en-US" sz="800">
                          <a:latin typeface="+mn-ea"/>
                          <a:ea typeface="+mn-ea"/>
                        </a:rPr>
                        <a:t>달러환산율 </a:t>
                      </a:r>
                      <a:r>
                        <a:rPr lang="ko-KR" altLang="en-US" sz="800" dirty="0">
                          <a:latin typeface="+mn-ea"/>
                          <a:ea typeface="+mn-ea"/>
                        </a:rPr>
                        <a:t>계산하여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4271960"/>
                  </a:ext>
                </a:extLst>
              </a:tr>
              <a:tr h="0">
                <a:tc>
                  <a:txBody>
                    <a:bodyPr/>
                    <a:lstStyle/>
                    <a:p>
                      <a:r>
                        <a:rPr lang="ko-KR" altLang="en-US" sz="800"/>
                        <a:t>입찰금액 변경</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scnwin.ibx_amountPrice_onchange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입찰금액 변경 시</a:t>
                      </a:r>
                      <a:r>
                        <a:rPr lang="en-US" altLang="ko-KR" sz="800">
                          <a:latin typeface="+mn-ea"/>
                          <a:ea typeface="+mn-ea"/>
                        </a:rPr>
                        <a:t>, </a:t>
                      </a:r>
                      <a:r>
                        <a:rPr lang="ko-KR" altLang="en-US" sz="800">
                          <a:latin typeface="+mn-ea"/>
                          <a:ea typeface="+mn-ea"/>
                        </a:rPr>
                        <a:t>달러금액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011282"/>
                  </a:ext>
                </a:extLst>
              </a:tr>
              <a:tr h="0">
                <a:tc>
                  <a:txBody>
                    <a:bodyPr/>
                    <a:lstStyle/>
                    <a:p>
                      <a:r>
                        <a:rPr lang="ko-KR" altLang="en-US" sz="800"/>
                        <a:t>총액제화폐단위 변경</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scnwin.sbx_currency_onchange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화폐단위 변경 시</a:t>
                      </a:r>
                      <a:r>
                        <a:rPr lang="en-US" altLang="ko-KR" sz="800">
                          <a:latin typeface="+mn-ea"/>
                          <a:ea typeface="+mn-ea"/>
                        </a:rPr>
                        <a:t>, </a:t>
                      </a:r>
                      <a:r>
                        <a:rPr lang="ko-KR" altLang="en-US" sz="800">
                          <a:latin typeface="+mn-ea"/>
                          <a:ea typeface="+mn-ea"/>
                        </a:rPr>
                        <a:t>달러금액</a:t>
                      </a:r>
                      <a:r>
                        <a:rPr lang="en-US" altLang="ko-KR" sz="800">
                          <a:latin typeface="+mn-ea"/>
                          <a:ea typeface="+mn-ea"/>
                        </a:rPr>
                        <a:t>/</a:t>
                      </a:r>
                      <a:r>
                        <a:rPr lang="ko-KR" altLang="en-US" sz="800">
                          <a:latin typeface="+mn-ea"/>
                          <a:ea typeface="+mn-ea"/>
                        </a:rPr>
                        <a:t>달러환산율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79201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입찰내역삭제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swcin.btn_delete_onclick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선택한 품목의 입찰내역을 제거</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임시입찰내용삭제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8936998"/>
                  </a:ext>
                </a:extLst>
              </a:tr>
              <a:tr h="0">
                <a:tc>
                  <a:txBody>
                    <a:bodyPr/>
                    <a:lstStyle/>
                    <a:p>
                      <a:r>
                        <a:rPr lang="ko-KR" altLang="en-US" sz="800"/>
                        <a:t>입찰내역저장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swcin.btn_save_onclick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작성내역을 암호화하여 저장</a:t>
                      </a:r>
                      <a:r>
                        <a:rPr lang="en-US" altLang="ko-KR" sz="80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임시입찰내용저장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967640"/>
                  </a:ext>
                </a:extLst>
              </a:tr>
            </a:tbl>
          </a:graphicData>
        </a:graphic>
      </p:graphicFrame>
      <p:sp>
        <p:nvSpPr>
          <p:cNvPr id="5" name="Text Box 73">
            <a:extLst>
              <a:ext uri="{FF2B5EF4-FFF2-40B4-BE49-F238E27FC236}">
                <a16:creationId xmlns:a16="http://schemas.microsoft.com/office/drawing/2014/main" id="{7358A102-B5BB-33BB-2B3E-6DCF5FA394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2157302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보관함목록</a:t>
            </a:r>
            <a:r>
              <a:rPr lang="ko-KR" altLang="en-US" dirty="0"/>
              <a:t> 데이터 </a:t>
            </a:r>
            <a:r>
              <a:rPr lang="ko-KR" altLang="en-US" dirty="0" smtClean="0"/>
              <a:t>영역</a:t>
            </a:r>
            <a:r>
              <a:rPr lang="en-US" altLang="ko-KR" dirty="0" smtClean="0"/>
              <a:t/>
            </a:r>
            <a:br>
              <a:rPr lang="en-US" altLang="ko-KR" dirty="0" smtClean="0"/>
            </a:br>
            <a:r>
              <a:rPr lang="en-US" altLang="ko-KR" dirty="0" smtClean="0"/>
              <a:t>- </a:t>
            </a:r>
            <a:r>
              <a:rPr lang="ko-KR" altLang="en-US" dirty="0" err="1" smtClean="0"/>
              <a:t>입찰내역</a:t>
            </a:r>
            <a:r>
              <a:rPr lang="ko-KR" altLang="en-US" dirty="0" smtClean="0"/>
              <a:t> 품목 보기 버튼 </a:t>
            </a:r>
            <a:r>
              <a:rPr lang="en-US" altLang="ko-KR" dirty="0" smtClean="0"/>
              <a:t/>
            </a:r>
            <a:br>
              <a:rPr lang="en-US" altLang="ko-KR" dirty="0" smtClean="0"/>
            </a:br>
            <a:r>
              <a:rPr lang="en-US" altLang="ko-KR" dirty="0" smtClean="0"/>
              <a:t>  &gt; </a:t>
            </a:r>
            <a:r>
              <a:rPr lang="en-US" altLang="ko-KR" dirty="0" smtClean="0">
                <a:latin typeface="+mn-ea"/>
              </a:rPr>
              <a:t>MUI-BD-01-P80 </a:t>
            </a:r>
            <a:r>
              <a:rPr lang="ko-KR" altLang="en-US" dirty="0" err="1">
                <a:latin typeface="+mn-ea"/>
              </a:rPr>
              <a:t>이전공고입찰내역품목상세</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이전공고입찰내역등록</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이전 공고 보관함 목록의 </a:t>
            </a:r>
            <a:r>
              <a:rPr lang="ko-KR" altLang="en-US" dirty="0" err="1"/>
              <a:t>입찰내역을</a:t>
            </a:r>
            <a:r>
              <a:rPr lang="ko-KR" altLang="en-US" dirty="0"/>
              <a:t> 현재 공고의 입찰내역으로 불러오는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 </a:t>
            </a:r>
            <a:r>
              <a:rPr lang="en-US" altLang="ko-KR" dirty="0">
                <a:latin typeface="+mn-ea"/>
              </a:rPr>
              <a:t>&gt; </a:t>
            </a:r>
            <a:r>
              <a:rPr lang="ko-KR" altLang="en-US" dirty="0" err="1">
                <a:latin typeface="+mn-ea"/>
              </a:rPr>
              <a:t>이전공고입찰내역등록</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MUI-BD-01-P79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등록</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269964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21" name="그룹 220"/>
          <p:cNvGrpSpPr/>
          <p:nvPr/>
        </p:nvGrpSpPr>
        <p:grpSpPr>
          <a:xfrm>
            <a:off x="675399"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cxnSp>
        <p:nvCxnSpPr>
          <p:cNvPr id="163" name="직선 연결선 162">
            <a:extLst>
              <a:ext uri="{FF2B5EF4-FFF2-40B4-BE49-F238E27FC236}">
                <a16:creationId xmlns:a16="http://schemas.microsoft.com/office/drawing/2014/main" id="{E9293055-D5CD-4B9E-7F64-64B2D2CA7A52}"/>
              </a:ext>
            </a:extLst>
          </p:cNvPr>
          <p:cNvCxnSpPr/>
          <p:nvPr/>
        </p:nvCxnSpPr>
        <p:spPr>
          <a:xfrm>
            <a:off x="675399" y="22883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1019814" y="198089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165" name="타원 164"/>
          <p:cNvSpPr/>
          <p:nvPr/>
        </p:nvSpPr>
        <p:spPr>
          <a:xfrm>
            <a:off x="783686" y="201224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6" name="그룹 165"/>
          <p:cNvGrpSpPr/>
          <p:nvPr/>
        </p:nvGrpSpPr>
        <p:grpSpPr>
          <a:xfrm>
            <a:off x="3143548" y="2094230"/>
            <a:ext cx="94010" cy="47005"/>
            <a:chOff x="6812560" y="3297172"/>
            <a:chExt cx="94010" cy="47005"/>
          </a:xfrm>
        </p:grpSpPr>
        <p:cxnSp>
          <p:nvCxnSpPr>
            <p:cNvPr id="167" name="직선 연결선 1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8" name="직선 연결선 1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9" name="직선 연결선 168">
            <a:extLst>
              <a:ext uri="{FF2B5EF4-FFF2-40B4-BE49-F238E27FC236}">
                <a16:creationId xmlns:a16="http://schemas.microsoft.com/office/drawing/2014/main" id="{E9293055-D5CD-4B9E-7F64-64B2D2CA7A52}"/>
              </a:ext>
            </a:extLst>
          </p:cNvPr>
          <p:cNvCxnSpPr/>
          <p:nvPr/>
        </p:nvCxnSpPr>
        <p:spPr>
          <a:xfrm>
            <a:off x="720490" y="397792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0490" y="26313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778515" y="2345016"/>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5</a:t>
            </a:r>
            <a:r>
              <a:rPr lang="en-US" altLang="ko-KR" sz="700" dirty="0">
                <a:latin typeface="+mn-ea"/>
              </a:rPr>
              <a:t> </a:t>
            </a:r>
            <a:r>
              <a:rPr lang="ko-KR" altLang="en-US" sz="700" dirty="0">
                <a:latin typeface="+mn-ea"/>
              </a:rPr>
              <a:t>건</a:t>
            </a:r>
          </a:p>
        </p:txBody>
      </p:sp>
      <p:grpSp>
        <p:nvGrpSpPr>
          <p:cNvPr id="177" name="그룹 176"/>
          <p:cNvGrpSpPr/>
          <p:nvPr/>
        </p:nvGrpSpPr>
        <p:grpSpPr>
          <a:xfrm>
            <a:off x="781461" y="2766254"/>
            <a:ext cx="2473257" cy="775730"/>
            <a:chOff x="781461" y="3078038"/>
            <a:chExt cx="2473257" cy="775730"/>
          </a:xfrm>
        </p:grpSpPr>
        <p:sp>
          <p:nvSpPr>
            <p:cNvPr id="179"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solidFill>
                    <a:srgbClr val="595959"/>
                  </a:solidFill>
                  <a:latin typeface="+mn-ea"/>
                  <a:cs typeface="Segoe UI" panose="020B0502040204020203" pitchFamily="34" charset="0"/>
                </a:rPr>
                <a:t>VDW2523-03</a:t>
              </a:r>
              <a:endParaRPr lang="en-US" altLang="ko-KR" sz="700" dirty="0"/>
            </a:p>
            <a:p>
              <a:r>
                <a:rPr lang="en-US" altLang="ko-KR" sz="900" b="1" dirty="0"/>
                <a:t>RECOIL</a:t>
              </a:r>
              <a:endParaRPr lang="ko-KR" altLang="en-US" sz="900" b="1" dirty="0"/>
            </a:p>
          </p:txBody>
        </p:sp>
        <p:sp>
          <p:nvSpPr>
            <p:cNvPr id="180" name="TextBox 59">
              <a:extLst>
                <a:ext uri="{FF2B5EF4-FFF2-40B4-BE49-F238E27FC236}">
                  <a16:creationId xmlns:a16="http://schemas.microsoft.com/office/drawing/2014/main" id="{F77C802D-3BC8-270F-87FC-5F442BD8054D}"/>
                </a:ext>
              </a:extLst>
            </p:cNvPr>
            <p:cNvSpPr txBox="1"/>
            <p:nvPr/>
          </p:nvSpPr>
          <p:spPr>
            <a:xfrm>
              <a:off x="781461" y="3438270"/>
              <a:ext cx="461665"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개찰일자</a:t>
              </a:r>
              <a:endParaRPr lang="en-US" altLang="ko-KR" sz="600" dirty="0">
                <a:latin typeface="+mn-ea"/>
              </a:endParaRPr>
            </a:p>
            <a:p>
              <a:pPr>
                <a:lnSpc>
                  <a:spcPct val="150000"/>
                </a:lnSpc>
              </a:pPr>
              <a:r>
                <a:rPr lang="ko-KR" altLang="en-US" sz="600" dirty="0">
                  <a:latin typeface="+mn-ea"/>
                </a:rPr>
                <a:t>참가 </a:t>
              </a:r>
              <a:r>
                <a:rPr lang="ko-KR" altLang="en-US" sz="600" dirty="0" err="1">
                  <a:latin typeface="+mn-ea"/>
                </a:rPr>
                <a:t>품목수</a:t>
              </a:r>
              <a:endParaRPr lang="en-US" altLang="ko-KR" sz="600" dirty="0">
                <a:latin typeface="+mn-ea"/>
              </a:endParaRPr>
            </a:p>
          </p:txBody>
        </p:sp>
        <p:sp>
          <p:nvSpPr>
            <p:cNvPr id="183" name="TextBox 60">
              <a:extLst>
                <a:ext uri="{FF2B5EF4-FFF2-40B4-BE49-F238E27FC236}">
                  <a16:creationId xmlns:a16="http://schemas.microsoft.com/office/drawing/2014/main" id="{8F5E3227-69E6-C89F-B8C5-534226E95EA8}"/>
                </a:ext>
              </a:extLst>
            </p:cNvPr>
            <p:cNvSpPr txBox="1"/>
            <p:nvPr/>
          </p:nvSpPr>
          <p:spPr>
            <a:xfrm>
              <a:off x="2706847" y="3422881"/>
              <a:ext cx="503407"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2024-12-25</a:t>
              </a:r>
            </a:p>
            <a:p>
              <a:pPr algn="r">
                <a:lnSpc>
                  <a:spcPct val="150000"/>
                </a:lnSpc>
              </a:pPr>
              <a:r>
                <a:rPr lang="en-US" altLang="ko-KR" sz="600" dirty="0">
                  <a:latin typeface="+mn-ea"/>
                </a:rPr>
                <a:t>6</a:t>
              </a: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808106" y="3626020"/>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err="1">
                <a:latin typeface="맑은 고딕"/>
                <a:ea typeface="맑은 고딕" panose="020B0503020000020004" pitchFamily="50" charset="-127"/>
              </a:rPr>
              <a:t>입찰내역</a:t>
            </a:r>
            <a:r>
              <a:rPr kumimoji="1" lang="ko-KR" altLang="en-US" sz="800" kern="0" noProof="0" dirty="0">
                <a:latin typeface="맑은 고딕"/>
                <a:ea typeface="맑은 고딕" panose="020B0503020000020004" pitchFamily="50" charset="-127"/>
              </a:rPr>
              <a:t> 품목 보기</a:t>
            </a:r>
            <a:endParaRPr kumimoji="1" lang="en-US" sz="800" b="0" i="0" u="none" strike="noStrike" kern="0" cap="none" spc="0" normalizeH="0" baseline="0" noProof="0" dirty="0">
              <a:ln>
                <a:noFill/>
              </a:ln>
              <a:effectLst/>
              <a:uLnTx/>
              <a:uFillTx/>
              <a:latin typeface="맑은 고딕"/>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20490" y="53256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87" name="그룹 186"/>
          <p:cNvGrpSpPr/>
          <p:nvPr/>
        </p:nvGrpSpPr>
        <p:grpSpPr>
          <a:xfrm>
            <a:off x="781461" y="4114027"/>
            <a:ext cx="2473257" cy="775730"/>
            <a:chOff x="781461" y="3078038"/>
            <a:chExt cx="2473257" cy="775730"/>
          </a:xfrm>
        </p:grpSpPr>
        <p:sp>
          <p:nvSpPr>
            <p:cNvPr id="188"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solidFill>
                    <a:srgbClr val="595959"/>
                  </a:solidFill>
                  <a:latin typeface="+mn-ea"/>
                  <a:cs typeface="Segoe UI" panose="020B0502040204020203" pitchFamily="34" charset="0"/>
                </a:rPr>
                <a:t>VDW2523-03</a:t>
              </a:r>
              <a:endParaRPr lang="en-US" altLang="ko-KR" sz="700" dirty="0"/>
            </a:p>
            <a:p>
              <a:r>
                <a:rPr lang="en-US" altLang="ko-KR" sz="900" b="1" dirty="0"/>
                <a:t>RECOIL</a:t>
              </a:r>
              <a:endParaRPr lang="ko-KR" altLang="en-US" sz="900" b="1" dirty="0"/>
            </a:p>
          </p:txBody>
        </p:sp>
        <p:sp>
          <p:nvSpPr>
            <p:cNvPr id="192" name="TextBox 59">
              <a:extLst>
                <a:ext uri="{FF2B5EF4-FFF2-40B4-BE49-F238E27FC236}">
                  <a16:creationId xmlns:a16="http://schemas.microsoft.com/office/drawing/2014/main" id="{F77C802D-3BC8-270F-87FC-5F442BD8054D}"/>
                </a:ext>
              </a:extLst>
            </p:cNvPr>
            <p:cNvSpPr txBox="1"/>
            <p:nvPr/>
          </p:nvSpPr>
          <p:spPr>
            <a:xfrm>
              <a:off x="781461" y="3438270"/>
              <a:ext cx="461665"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개찰일자</a:t>
              </a:r>
              <a:endParaRPr lang="en-US" altLang="ko-KR" sz="600" dirty="0">
                <a:latin typeface="+mn-ea"/>
              </a:endParaRPr>
            </a:p>
            <a:p>
              <a:pPr>
                <a:lnSpc>
                  <a:spcPct val="150000"/>
                </a:lnSpc>
              </a:pPr>
              <a:r>
                <a:rPr lang="ko-KR" altLang="en-US" sz="600" dirty="0">
                  <a:latin typeface="+mn-ea"/>
                </a:rPr>
                <a:t>참가 </a:t>
              </a:r>
              <a:r>
                <a:rPr lang="ko-KR" altLang="en-US" sz="600" dirty="0" err="1">
                  <a:latin typeface="+mn-ea"/>
                </a:rPr>
                <a:t>품목수</a:t>
              </a:r>
              <a:endParaRPr lang="en-US" altLang="ko-KR" sz="600" dirty="0">
                <a:latin typeface="+mn-ea"/>
              </a:endParaRPr>
            </a:p>
          </p:txBody>
        </p:sp>
        <p:sp>
          <p:nvSpPr>
            <p:cNvPr id="193" name="TextBox 60">
              <a:extLst>
                <a:ext uri="{FF2B5EF4-FFF2-40B4-BE49-F238E27FC236}">
                  <a16:creationId xmlns:a16="http://schemas.microsoft.com/office/drawing/2014/main" id="{8F5E3227-69E6-C89F-B8C5-534226E95EA8}"/>
                </a:ext>
              </a:extLst>
            </p:cNvPr>
            <p:cNvSpPr txBox="1"/>
            <p:nvPr/>
          </p:nvSpPr>
          <p:spPr>
            <a:xfrm>
              <a:off x="2706847" y="3422881"/>
              <a:ext cx="503407"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2024-12-25</a:t>
              </a:r>
            </a:p>
            <a:p>
              <a:pPr algn="r">
                <a:lnSpc>
                  <a:spcPct val="150000"/>
                </a:lnSpc>
              </a:pPr>
              <a:r>
                <a:rPr lang="en-US" altLang="ko-KR" sz="600" dirty="0">
                  <a:latin typeface="+mn-ea"/>
                </a:rPr>
                <a:t>6</a:t>
              </a:r>
            </a:p>
          </p:txBody>
        </p:sp>
      </p:grpSp>
      <p:sp>
        <p:nvSpPr>
          <p:cNvPr id="194" name="사각형: 둥근 모서리 31">
            <a:extLst>
              <a:ext uri="{FF2B5EF4-FFF2-40B4-BE49-F238E27FC236}">
                <a16:creationId xmlns:a16="http://schemas.microsoft.com/office/drawing/2014/main" id="{2AC143EE-93CF-3518-F0CB-8469E98507E0}"/>
              </a:ext>
            </a:extLst>
          </p:cNvPr>
          <p:cNvSpPr/>
          <p:nvPr/>
        </p:nvSpPr>
        <p:spPr>
          <a:xfrm>
            <a:off x="808106" y="4973793"/>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fontAlgn="base" latinLnBrk="0">
              <a:spcBef>
                <a:spcPct val="0"/>
              </a:spcBef>
              <a:spcAft>
                <a:spcPct val="0"/>
              </a:spcAft>
              <a:defRPr/>
            </a:pPr>
            <a:r>
              <a:rPr kumimoji="1" lang="ko-KR" altLang="en-US" sz="800" kern="0" dirty="0" err="1"/>
              <a:t>입찰내역</a:t>
            </a:r>
            <a:r>
              <a:rPr kumimoji="1" lang="ko-KR" altLang="en-US" sz="800" kern="0" dirty="0"/>
              <a:t> 품목 보기</a:t>
            </a:r>
            <a:endParaRPr kumimoji="1" lang="en-US" altLang="ko-KR" sz="800" kern="0" dirty="0"/>
          </a:p>
        </p:txBody>
      </p:sp>
      <p:grpSp>
        <p:nvGrpSpPr>
          <p:cNvPr id="198" name="그룹 197">
            <a:extLst>
              <a:ext uri="{FF2B5EF4-FFF2-40B4-BE49-F238E27FC236}">
                <a16:creationId xmlns:a16="http://schemas.microsoft.com/office/drawing/2014/main" id="{22BC05EE-C648-7CA2-4CCC-6E1C1A7E9BDA}"/>
              </a:ext>
            </a:extLst>
          </p:cNvPr>
          <p:cNvGrpSpPr/>
          <p:nvPr/>
        </p:nvGrpSpPr>
        <p:grpSpPr>
          <a:xfrm>
            <a:off x="1992981" y="5335031"/>
            <a:ext cx="76863" cy="292489"/>
            <a:chOff x="3750067" y="4683795"/>
            <a:chExt cx="76863" cy="292489"/>
          </a:xfrm>
        </p:grpSpPr>
        <p:sp>
          <p:nvSpPr>
            <p:cNvPr id="205" name="타원 204">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09" name="타원 20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10" name="타원 20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Tree>
    <p:extLst>
      <p:ext uri="{BB962C8B-B14F-4D97-AF65-F5344CB8AC3E}">
        <p14:creationId xmlns:p14="http://schemas.microsoft.com/office/powerpoint/2010/main" val="488441870"/>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입찰내역목록 데이터 영역</a:t>
            </a:r>
            <a:endParaRPr lang="en-US" altLang="ko-KR" dirty="0"/>
          </a:p>
          <a:p>
            <a:pPr marL="228600" indent="-228600">
              <a:buFont typeface="+mj-lt"/>
              <a:buAutoNum type="arabicPeriod"/>
            </a:pPr>
            <a:r>
              <a:rPr lang="ko-KR" altLang="en-US" dirty="0"/>
              <a:t>불러오기</a:t>
            </a:r>
            <a:r>
              <a:rPr lang="en-US" altLang="ko-KR" dirty="0"/>
              <a:t>,</a:t>
            </a:r>
            <a:r>
              <a:rPr lang="ko-KR" altLang="en-US" dirty="0"/>
              <a:t> 취소 클릭 </a:t>
            </a:r>
            <a:r>
              <a:rPr lang="ko-KR" altLang="en-US" dirty="0" smtClean="0"/>
              <a:t>이벤트</a:t>
            </a:r>
            <a:r>
              <a:rPr lang="en-US" altLang="ko-KR" dirty="0" smtClean="0"/>
              <a:t/>
            </a:r>
            <a:br>
              <a:rPr lang="en-US" altLang="ko-KR" dirty="0" smtClean="0"/>
            </a:br>
            <a:r>
              <a:rPr lang="en-US" altLang="ko-KR" dirty="0" smtClean="0"/>
              <a:t>- </a:t>
            </a:r>
            <a:r>
              <a:rPr lang="ko-KR" altLang="en-US" dirty="0" smtClean="0"/>
              <a:t>취소 클릭 </a:t>
            </a:r>
            <a:r>
              <a:rPr lang="en-US" altLang="ko-KR" dirty="0" smtClean="0"/>
              <a:t>– </a:t>
            </a:r>
            <a:r>
              <a:rPr lang="ko-KR" altLang="en-US" dirty="0" smtClean="0"/>
              <a:t>팝업 닫기</a:t>
            </a:r>
            <a:r>
              <a:rPr lang="en-US" altLang="ko-KR" dirty="0" smtClean="0"/>
              <a:t/>
            </a:r>
            <a:br>
              <a:rPr lang="en-US" altLang="ko-KR" dirty="0" smtClean="0"/>
            </a:br>
            <a:r>
              <a:rPr lang="en-US" altLang="ko-KR" dirty="0" smtClean="0"/>
              <a:t>- </a:t>
            </a:r>
            <a:r>
              <a:rPr lang="ko-KR" altLang="en-US" dirty="0" smtClean="0"/>
              <a:t>불러오기 </a:t>
            </a:r>
            <a:r>
              <a:rPr lang="en-US" altLang="ko-KR" dirty="0" smtClean="0"/>
              <a:t>– </a:t>
            </a:r>
            <a:r>
              <a:rPr lang="ko-KR" altLang="en-US" dirty="0" smtClean="0"/>
              <a:t>확인 팝업</a:t>
            </a:r>
            <a:r>
              <a:rPr lang="en-US" altLang="ko-KR" dirty="0" smtClean="0"/>
              <a:t/>
            </a:r>
            <a:br>
              <a:rPr lang="en-US" altLang="ko-KR" dirty="0" smtClean="0"/>
            </a:br>
            <a:r>
              <a:rPr lang="en-US" altLang="ko-KR" dirty="0" smtClean="0"/>
              <a:t>  &gt; </a:t>
            </a:r>
            <a:r>
              <a:rPr lang="ko-KR" altLang="en-US" dirty="0" err="1" smtClean="0"/>
              <a:t>이전공고를</a:t>
            </a:r>
            <a:r>
              <a:rPr lang="ko-KR" altLang="en-US" dirty="0" smtClean="0"/>
              <a:t> 불러올까요</a:t>
            </a:r>
            <a:r>
              <a:rPr lang="en-US" altLang="ko-KR" dirty="0" smtClean="0"/>
              <a:t>?</a:t>
            </a:r>
            <a:br>
              <a:rPr lang="en-US" altLang="ko-KR" dirty="0" smtClean="0"/>
            </a:br>
            <a:r>
              <a:rPr lang="en-US" altLang="ko-KR" dirty="0" smtClean="0"/>
              <a:t>  &gt; Y </a:t>
            </a:r>
            <a:r>
              <a:rPr lang="ko-KR" altLang="en-US" dirty="0" smtClean="0"/>
              <a:t>시 팝업</a:t>
            </a:r>
            <a:r>
              <a:rPr lang="en-US" altLang="ko-KR" dirty="0" smtClean="0"/>
              <a:t>, </a:t>
            </a:r>
            <a:r>
              <a:rPr lang="ko-KR" altLang="en-US" dirty="0" err="1" smtClean="0"/>
              <a:t>풀페이지</a:t>
            </a:r>
            <a:r>
              <a:rPr lang="ko-KR" altLang="en-US" dirty="0" smtClean="0"/>
              <a:t> 팝업 모두 닫히고 선택 항목 불러오기</a:t>
            </a:r>
            <a:r>
              <a:rPr lang="en-US" altLang="ko-KR" dirty="0" smtClean="0"/>
              <a:t/>
            </a:r>
            <a:br>
              <a:rPr lang="en-US" altLang="ko-KR" dirty="0" smtClean="0"/>
            </a:br>
            <a:r>
              <a:rPr lang="en-US" altLang="ko-KR" dirty="0" smtClean="0"/>
              <a:t>- </a:t>
            </a:r>
            <a:r>
              <a:rPr lang="ko-KR" altLang="en-US" dirty="0" smtClean="0"/>
              <a:t>항목 선택 없이 불러오기 클릭</a:t>
            </a:r>
            <a:r>
              <a:rPr lang="en-US" altLang="ko-KR" dirty="0" smtClean="0"/>
              <a:t/>
            </a:r>
            <a:br>
              <a:rPr lang="en-US" altLang="ko-KR" dirty="0" smtClean="0"/>
            </a:br>
            <a:r>
              <a:rPr lang="en-US" altLang="ko-KR" dirty="0" smtClean="0"/>
              <a:t>  &gt; </a:t>
            </a:r>
            <a:r>
              <a:rPr lang="ko-KR" altLang="en-US" dirty="0" smtClean="0"/>
              <a:t>항목을 선택해주세요</a:t>
            </a:r>
            <a:r>
              <a:rPr lang="en-US" altLang="ko-KR" dirty="0" smtClean="0"/>
              <a:t>. </a:t>
            </a:r>
            <a:r>
              <a:rPr lang="ko-KR" altLang="en-US" dirty="0" smtClean="0"/>
              <a:t>토스트 메시지</a:t>
            </a:r>
            <a:endParaRPr lang="ko-KR" altLang="en-US"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이전공고입찰내역품목상세</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지역검색을</a:t>
            </a:r>
            <a:r>
              <a:rPr lang="ko-KR" altLang="en-US" dirty="0"/>
              <a:t>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55000" lnSpcReduction="20000"/>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 </a:t>
            </a:r>
            <a:r>
              <a:rPr lang="en-US" altLang="ko-KR" dirty="0">
                <a:latin typeface="+mn-ea"/>
              </a:rPr>
              <a:t>&gt; </a:t>
            </a:r>
            <a:r>
              <a:rPr lang="ko-KR" altLang="en-US" dirty="0" err="1">
                <a:latin typeface="+mn-ea"/>
              </a:rPr>
              <a:t>이전공고입찰내역등록</a:t>
            </a:r>
            <a:r>
              <a:rPr lang="ko-KR" altLang="en-US" dirty="0">
                <a:latin typeface="+mn-ea"/>
              </a:rPr>
              <a:t> </a:t>
            </a:r>
            <a:r>
              <a:rPr lang="en-US" altLang="ko-KR" dirty="0">
                <a:latin typeface="+mn-ea"/>
              </a:rPr>
              <a:t>&gt; </a:t>
            </a:r>
            <a:r>
              <a:rPr lang="ko-KR" altLang="en-US" dirty="0" err="1">
                <a:latin typeface="+mn-ea"/>
              </a:rPr>
              <a:t>이전공고입찰내역품목상세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MUI-BD-01-P80</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등록</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a:t>
            </a:r>
            <a:r>
              <a:rPr lang="ko-KR" altLang="en-US" sz="900" dirty="0" err="1">
                <a:latin typeface="+mn-ea"/>
              </a:rPr>
              <a:t>품목상세</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a:t>
            </a:r>
            <a:r>
              <a:rPr lang="ko-KR" altLang="en-US" sz="900" dirty="0" err="1">
                <a:latin typeface="+mn-ea"/>
              </a:rPr>
              <a:t>품목상세</a:t>
            </a:r>
            <a:endParaRPr lang="ko-KR" altLang="en-US" sz="9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0" name="직사각형 79"/>
          <p:cNvSpPr/>
          <p:nvPr/>
        </p:nvSpPr>
        <p:spPr>
          <a:xfrm>
            <a:off x="3820170" y="2858809"/>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215444"/>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82" name="직사각형 81"/>
          <p:cNvSpPr/>
          <p:nvPr/>
        </p:nvSpPr>
        <p:spPr>
          <a:xfrm>
            <a:off x="703268" y="2899796"/>
            <a:ext cx="792000" cy="32119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3197350"/>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화폐단위</a:t>
            </a:r>
          </a:p>
        </p:txBody>
      </p:sp>
      <p:grpSp>
        <p:nvGrpSpPr>
          <p:cNvPr id="85" name="그룹 84"/>
          <p:cNvGrpSpPr/>
          <p:nvPr/>
        </p:nvGrpSpPr>
        <p:grpSpPr>
          <a:xfrm>
            <a:off x="701175" y="2899795"/>
            <a:ext cx="2630093" cy="3211945"/>
            <a:chOff x="701175" y="1835481"/>
            <a:chExt cx="2630093" cy="3211945"/>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03268" y="50474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1" name="사각형: 둥근 모서리 31">
            <a:extLst>
              <a:ext uri="{FF2B5EF4-FFF2-40B4-BE49-F238E27FC236}">
                <a16:creationId xmlns:a16="http://schemas.microsoft.com/office/drawing/2014/main" id="{2AC143EE-93CF-3518-F0CB-8469E98507E0}"/>
              </a:ext>
            </a:extLst>
          </p:cNvPr>
          <p:cNvSpPr/>
          <p:nvPr/>
        </p:nvSpPr>
        <p:spPr>
          <a:xfrm>
            <a:off x="3928441" y="5385816"/>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02" name="그룹 101">
            <a:extLst>
              <a:ext uri="{FF2B5EF4-FFF2-40B4-BE49-F238E27FC236}">
                <a16:creationId xmlns:a16="http://schemas.microsoft.com/office/drawing/2014/main" id="{22BC05EE-C648-7CA2-4CCC-6E1C1A7E9BDA}"/>
              </a:ext>
            </a:extLst>
          </p:cNvPr>
          <p:cNvGrpSpPr/>
          <p:nvPr/>
        </p:nvGrpSpPr>
        <p:grpSpPr>
          <a:xfrm>
            <a:off x="5113316" y="4471470"/>
            <a:ext cx="76863" cy="292489"/>
            <a:chOff x="3750067" y="4683795"/>
            <a:chExt cx="76863" cy="292489"/>
          </a:xfrm>
        </p:grpSpPr>
        <p:sp>
          <p:nvSpPr>
            <p:cNvPr id="104" name="타원 10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5" name="타원 10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6" name="타원 10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3231654"/>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latin typeface="+mn-ea"/>
              </a:rPr>
              <a:t>237323423</a:t>
            </a:r>
          </a:p>
          <a:p>
            <a:pPr>
              <a:lnSpc>
                <a:spcPct val="200000"/>
              </a:lnSpc>
            </a:pPr>
            <a:r>
              <a:rPr lang="en-US" altLang="ko-KR" sz="700" dirty="0">
                <a:latin typeface="+mn-ea"/>
              </a:rPr>
              <a:t>5235235235</a:t>
            </a:r>
          </a:p>
          <a:p>
            <a:pPr>
              <a:lnSpc>
                <a:spcPct val="200000"/>
              </a:lnSpc>
            </a:pPr>
            <a:r>
              <a:rPr lang="en-US" altLang="ko-KR" sz="700" dirty="0">
                <a:latin typeface="+mn-ea"/>
              </a:rPr>
              <a:t>Y</a:t>
            </a:r>
          </a:p>
          <a:p>
            <a:pPr>
              <a:lnSpc>
                <a:spcPct val="200000"/>
              </a:lnSpc>
            </a:pPr>
            <a:r>
              <a:rPr lang="en-US" altLang="ko-KR" sz="700" dirty="0">
                <a:latin typeface="+mn-ea"/>
              </a:rPr>
              <a:t>2</a:t>
            </a:r>
          </a:p>
          <a:p>
            <a:pPr>
              <a:lnSpc>
                <a:spcPct val="200000"/>
              </a:lnSpc>
            </a:pPr>
            <a:r>
              <a:rPr lang="en-US" altLang="ko-KR" sz="700" dirty="0">
                <a:latin typeface="+mn-ea"/>
              </a:rPr>
              <a:t>O</a:t>
            </a:r>
          </a:p>
          <a:p>
            <a:pPr>
              <a:lnSpc>
                <a:spcPct val="200000"/>
              </a:lnSpc>
            </a:pPr>
            <a:r>
              <a:rPr lang="en-US" altLang="ko-KR" sz="700" dirty="0">
                <a:latin typeface="+mn-ea"/>
              </a:rPr>
              <a:t>A </a:t>
            </a:r>
            <a:r>
              <a:rPr lang="ko-KR" altLang="en-US" sz="700" dirty="0">
                <a:latin typeface="+mn-ea"/>
              </a:rPr>
              <a:t>업체</a:t>
            </a:r>
            <a:endParaRPr lang="en-US" altLang="ko-KR" sz="700" dirty="0">
              <a:latin typeface="+mn-ea"/>
            </a:endParaRPr>
          </a:p>
          <a:p>
            <a:pPr algn="r">
              <a:lnSpc>
                <a:spcPct val="200000"/>
              </a:lnSpc>
            </a:pPr>
            <a:r>
              <a:rPr lang="en-US" altLang="ko-KR" sz="700" dirty="0">
                <a:latin typeface="+mn-ea"/>
              </a:rPr>
              <a:t>10,000</a:t>
            </a:r>
          </a:p>
          <a:p>
            <a:pPr algn="r">
              <a:lnSpc>
                <a:spcPct val="200000"/>
              </a:lnSpc>
            </a:pPr>
            <a:r>
              <a:rPr lang="en-US" altLang="ko-KR" sz="700" dirty="0">
                <a:latin typeface="+mn-ea"/>
              </a:rPr>
              <a:t>10,000</a:t>
            </a:r>
          </a:p>
          <a:p>
            <a:pPr algn="r">
              <a:lnSpc>
                <a:spcPct val="200000"/>
              </a:lnSpc>
            </a:pPr>
            <a:r>
              <a:rPr lang="en-US" altLang="ko-KR" sz="700" dirty="0">
                <a:latin typeface="+mn-ea"/>
              </a:rPr>
              <a:t>USD</a:t>
            </a:r>
          </a:p>
        </p:txBody>
      </p:sp>
      <p:sp>
        <p:nvSpPr>
          <p:cNvPr id="124" name="사각형: 둥근 모서리 15">
            <a:extLst>
              <a:ext uri="{FF2B5EF4-FFF2-40B4-BE49-F238E27FC236}">
                <a16:creationId xmlns:a16="http://schemas.microsoft.com/office/drawing/2014/main" id="{E2B61CFB-AD16-68D0-8752-50D9C5E01971}"/>
              </a:ext>
            </a:extLst>
          </p:cNvPr>
          <p:cNvSpPr/>
          <p:nvPr/>
        </p:nvSpPr>
        <p:spPr>
          <a:xfrm>
            <a:off x="2836921" y="2930034"/>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항목선택</a:t>
            </a:r>
            <a:endParaRPr kumimoji="1" lang="en-US" sz="700" b="0" i="0" u="none" strike="noStrike" kern="0" cap="none" spc="0" normalizeH="0" baseline="0" noProof="0" dirty="0">
              <a:ln>
                <a:noFill/>
              </a:ln>
              <a:effectLst/>
              <a:uLnTx/>
              <a:uFillTx/>
              <a:latin typeface="맑은 고딕"/>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3910666" y="2858810"/>
            <a:ext cx="725552" cy="827471"/>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126" name="그룹 125"/>
          <p:cNvGrpSpPr/>
          <p:nvPr/>
        </p:nvGrpSpPr>
        <p:grpSpPr>
          <a:xfrm>
            <a:off x="3821510" y="2858810"/>
            <a:ext cx="2630093" cy="1075182"/>
            <a:chOff x="701175" y="1835481"/>
            <a:chExt cx="2630093" cy="1075182"/>
          </a:xfrm>
        </p:grpSpPr>
        <p:cxnSp>
          <p:nvCxnSpPr>
            <p:cNvPr id="128" name="직선 연결선 12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6" name="TextBox 135">
            <a:extLst>
              <a:ext uri="{FF2B5EF4-FFF2-40B4-BE49-F238E27FC236}">
                <a16:creationId xmlns:a16="http://schemas.microsoft.com/office/drawing/2014/main" id="{FFC49AEA-2A8F-250C-A86A-A7751D9706C3}"/>
              </a:ext>
            </a:extLst>
          </p:cNvPr>
          <p:cNvSpPr txBox="1"/>
          <p:nvPr/>
        </p:nvSpPr>
        <p:spPr>
          <a:xfrm>
            <a:off x="4667515" y="2858810"/>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137" name="사각형: 둥근 모서리 15">
            <a:extLst>
              <a:ext uri="{FF2B5EF4-FFF2-40B4-BE49-F238E27FC236}">
                <a16:creationId xmlns:a16="http://schemas.microsoft.com/office/drawing/2014/main" id="{E2B61CFB-AD16-68D0-8752-50D9C5E01971}"/>
              </a:ext>
            </a:extLst>
          </p:cNvPr>
          <p:cNvSpPr/>
          <p:nvPr/>
        </p:nvSpPr>
        <p:spPr>
          <a:xfrm>
            <a:off x="5957256" y="2889049"/>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항목선택</a:t>
            </a:r>
            <a:endParaRPr kumimoji="1" lang="en-US" sz="700" b="0" i="0" u="none" strike="noStrike" kern="0" cap="none" spc="0" normalizeH="0" baseline="0" noProof="0" dirty="0">
              <a:ln>
                <a:noFill/>
              </a:ln>
              <a:effectLst/>
              <a:uLnTx/>
              <a:uFillTx/>
              <a:latin typeface="맑은 고딕"/>
            </a:endParaRPr>
          </a:p>
        </p:txBody>
      </p:sp>
      <p:sp>
        <p:nvSpPr>
          <p:cNvPr id="138" name="사각형: 둥근 모서리 15">
            <a:extLst>
              <a:ext uri="{FF2B5EF4-FFF2-40B4-BE49-F238E27FC236}">
                <a16:creationId xmlns:a16="http://schemas.microsoft.com/office/drawing/2014/main" id="{E2B61CFB-AD16-68D0-8752-50D9C5E01971}"/>
              </a:ext>
            </a:extLst>
          </p:cNvPr>
          <p:cNvSpPr/>
          <p:nvPr/>
        </p:nvSpPr>
        <p:spPr>
          <a:xfrm>
            <a:off x="3933132" y="3744309"/>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nvGrpSpPr>
          <p:cNvPr id="3" name="그룹 2"/>
          <p:cNvGrpSpPr/>
          <p:nvPr/>
        </p:nvGrpSpPr>
        <p:grpSpPr>
          <a:xfrm>
            <a:off x="3795734" y="5614711"/>
            <a:ext cx="2712027" cy="617588"/>
            <a:chOff x="3795734" y="5614711"/>
            <a:chExt cx="2712027" cy="617588"/>
          </a:xfrm>
        </p:grpSpPr>
        <p:sp>
          <p:nvSpPr>
            <p:cNvPr id="171" name="직사각형 170">
              <a:extLst>
                <a:ext uri="{FF2B5EF4-FFF2-40B4-BE49-F238E27FC236}">
                  <a16:creationId xmlns:a16="http://schemas.microsoft.com/office/drawing/2014/main" id="{F56F1743-11A0-EA94-9184-4E42C0A37F9C}"/>
                </a:ext>
              </a:extLst>
            </p:cNvPr>
            <p:cNvSpPr/>
            <p:nvPr/>
          </p:nvSpPr>
          <p:spPr>
            <a:xfrm>
              <a:off x="3795734"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4569618" y="5745391"/>
              <a:ext cx="1845838" cy="317271"/>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a:solidFill>
                    <a:srgbClr val="0070C0"/>
                  </a:solidFill>
                  <a:latin typeface="맑은 고딕"/>
                  <a:ea typeface="맑은 고딕" panose="020B0503020000020004" pitchFamily="50" charset="-127"/>
                </a:rPr>
                <a:t>불러오기</a:t>
              </a:r>
              <a:endParaRPr kumimoji="1" lang="en-US" sz="1000" b="0" i="0" u="none" strike="noStrike" kern="0" cap="none" spc="0" normalizeH="0" baseline="0" noProof="0" dirty="0">
                <a:ln>
                  <a:noFill/>
                </a:ln>
                <a:solidFill>
                  <a:srgbClr val="0070C0"/>
                </a:solidFill>
                <a:effectLst/>
                <a:uLnTx/>
                <a:uFillTx/>
                <a:latin typeface="맑은 고딕"/>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3893442" y="5745391"/>
              <a:ext cx="608074" cy="3172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338" name="타원 337">
            <a:extLst>
              <a:ext uri="{FF2B5EF4-FFF2-40B4-BE49-F238E27FC236}">
                <a16:creationId xmlns:a16="http://schemas.microsoft.com/office/drawing/2014/main" id="{37A7FF4F-0EAA-1463-560A-D5EC24416103}"/>
              </a:ext>
            </a:extLst>
          </p:cNvPr>
          <p:cNvSpPr/>
          <p:nvPr/>
        </p:nvSpPr>
        <p:spPr>
          <a:xfrm>
            <a:off x="3699494" y="59018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76" name="그룹 175"/>
          <p:cNvGrpSpPr/>
          <p:nvPr/>
        </p:nvGrpSpPr>
        <p:grpSpPr>
          <a:xfrm>
            <a:off x="3823603" y="2518824"/>
            <a:ext cx="2628000" cy="216222"/>
            <a:chOff x="703268" y="2694441"/>
            <a:chExt cx="2628000" cy="216222"/>
          </a:xfrm>
        </p:grpSpPr>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3933132" y="254536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Tree>
    <p:extLst>
      <p:ext uri="{BB962C8B-B14F-4D97-AF65-F5344CB8AC3E}">
        <p14:creationId xmlns:p14="http://schemas.microsoft.com/office/powerpoint/2010/main" val="1359965054"/>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a:solidFill>
                  <a:prstClr val="black"/>
                </a:solidFill>
              </a:rPr>
              <a:t>항목 설명</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74615" cy="211203"/>
          </a:xfrm>
          <a:prstGeom prst="rect">
            <a:avLst/>
          </a:prstGeom>
          <a:noFill/>
        </p:spPr>
        <p:txBody>
          <a:bodyPr wrap="none" lIns="36000" tIns="36000" rIns="36000" bIns="36000" rtlCol="0">
            <a:spAutoFit/>
          </a:bodyPr>
          <a:lstStyle/>
          <a:p>
            <a:r>
              <a:rPr lang="en-US" altLang="ko-KR" sz="900" b="1">
                <a:solidFill>
                  <a:prstClr val="black"/>
                </a:solidFill>
              </a:rPr>
              <a:t>1.1. </a:t>
            </a:r>
            <a:r>
              <a:rPr lang="ko-KR" altLang="en-US" sz="900" b="1">
                <a:solidFill>
                  <a:prstClr val="black"/>
                </a:solidFill>
              </a:rPr>
              <a:t>보관함목록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순번</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순번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0377941"/>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3084642"/>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9935159"/>
                  </a:ext>
                </a:extLst>
              </a:tr>
              <a:tr h="0">
                <a:tc>
                  <a:txBody>
                    <a:bodyPr/>
                    <a:lstStyle/>
                    <a:p>
                      <a:pPr algn="l" fontAlgn="ctr"/>
                      <a:r>
                        <a:rPr lang="ko-KR" altLang="en-US" sz="800" b="0" i="0" u="none" strike="noStrike">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2038175"/>
                  </a:ext>
                </a:extLst>
              </a:tr>
              <a:tr h="0">
                <a:tc>
                  <a:txBody>
                    <a:bodyPr/>
                    <a:lstStyle/>
                    <a:p>
                      <a:pPr algn="l" fontAlgn="ctr"/>
                      <a:r>
                        <a:rPr lang="ko-KR" altLang="en-US" sz="800" b="0" i="0" u="none" strike="noStrike">
                          <a:solidFill>
                            <a:srgbClr val="000000"/>
                          </a:solidFill>
                          <a:effectLst/>
                          <a:latin typeface="+mn-ea"/>
                          <a:ea typeface="+mn-ea"/>
                        </a:rPr>
                        <a:t>참가품목수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prtcpItemQty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참가신청한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145801"/>
                  </a:ext>
                </a:extLst>
              </a:tr>
            </a:tbl>
          </a:graphicData>
        </a:graphic>
      </p:graphicFrame>
      <p:sp>
        <p:nvSpPr>
          <p:cNvPr id="2" name="Text Box 73">
            <a:extLst>
              <a:ext uri="{FF2B5EF4-FFF2-40B4-BE49-F238E27FC236}">
                <a16:creationId xmlns:a16="http://schemas.microsoft.com/office/drawing/2014/main" id="{BC4D4D2A-1822-51BA-39E9-C5D0F22DD9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4" name="TextBox 3">
            <a:extLst>
              <a:ext uri="{FF2B5EF4-FFF2-40B4-BE49-F238E27FC236}">
                <a16:creationId xmlns:a16="http://schemas.microsoft.com/office/drawing/2014/main" id="{E3DDA5AB-9329-01A0-541C-DD61116BF022}"/>
              </a:ext>
            </a:extLst>
          </p:cNvPr>
          <p:cNvSpPr txBox="1"/>
          <p:nvPr/>
        </p:nvSpPr>
        <p:spPr>
          <a:xfrm>
            <a:off x="458117" y="2670505"/>
            <a:ext cx="2445147"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입찰내역목록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(dl_bidCnList)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77349398-50BA-8BCF-B918-1D919357217B}"/>
              </a:ext>
            </a:extLst>
          </p:cNvPr>
          <p:cNvGraphicFramePr>
            <a:graphicFrameLocks noGrp="1"/>
          </p:cNvGraphicFramePr>
          <p:nvPr/>
        </p:nvGraphicFramePr>
        <p:xfrm>
          <a:off x="452999" y="2881708"/>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순번</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0377941"/>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3084642"/>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9935159"/>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2038175"/>
                  </a:ext>
                </a:extLst>
              </a:tr>
              <a:tr h="0">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145801"/>
                  </a:ext>
                </a:extLst>
              </a:tr>
              <a:tr h="0">
                <a:tc>
                  <a:txBody>
                    <a:bodyPr/>
                    <a:lstStyle/>
                    <a:p>
                      <a:pPr algn="l" fontAlgn="ctr"/>
                      <a:r>
                        <a:rPr lang="ko-KR" altLang="en-US" sz="800" b="0" i="0" u="none" strike="noStrike" dirty="0">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수정재고번호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9760845"/>
                  </a:ext>
                </a:extLst>
              </a:tr>
              <a:tr h="0">
                <a:tc>
                  <a:txBody>
                    <a:bodyPr/>
                    <a:lstStyle/>
                    <a:p>
                      <a:pPr algn="l" fontAlgn="ctr"/>
                      <a:r>
                        <a:rPr lang="ko-KR" altLang="en-US" sz="800" b="0" i="0" u="none" strike="noStrike" dirty="0">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수정부품번호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6854908"/>
                  </a:ext>
                </a:extLst>
              </a:tr>
              <a:tr h="0">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2410842"/>
                  </a:ext>
                </a:extLst>
              </a:tr>
              <a:tr h="0">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4569023"/>
                  </a:ext>
                </a:extLst>
              </a:tr>
              <a:tr h="0">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err="1">
                          <a:solidFill>
                            <a:srgbClr val="000000"/>
                          </a:solidFill>
                          <a:effectLst/>
                          <a:latin typeface="+mn-ea"/>
                          <a:ea typeface="+mn-ea"/>
                        </a:rPr>
                        <a:t>첨부문서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err="1">
                          <a:solidFill>
                            <a:srgbClr val="000000"/>
                          </a:solidFill>
                          <a:effectLst/>
                          <a:latin typeface="+mn-ea"/>
                          <a:ea typeface="+mn-ea"/>
                        </a:rPr>
                        <a:t>첨부문서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3503611"/>
                  </a:ext>
                </a:extLst>
              </a:tr>
              <a:tr h="0">
                <a:tc>
                  <a:txBody>
                    <a:bodyPr/>
                    <a:lstStyle/>
                    <a:p>
                      <a:pPr algn="l" fontAlgn="ctr"/>
                      <a:r>
                        <a:rPr lang="ko-KR" altLang="en-US" sz="800" b="0" i="0" u="none" strike="noStrike" dirty="0" err="1">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5035385"/>
                  </a:ext>
                </a:extLst>
              </a:tr>
              <a:tr h="0">
                <a:tc>
                  <a:txBody>
                    <a:bodyPr/>
                    <a:lstStyle/>
                    <a:p>
                      <a:pPr algn="l" fontAlgn="ctr"/>
                      <a:r>
                        <a:rPr lang="ko-KR" altLang="en-US" sz="800" b="0" i="0" u="none" strike="noStrike" dirty="0" err="1">
                          <a:solidFill>
                            <a:srgbClr val="000000"/>
                          </a:solidFill>
                          <a:effectLst/>
                          <a:latin typeface="+mn-ea"/>
                          <a:ea typeface="+mn-ea"/>
                        </a:rPr>
                        <a:t>입찰단가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입찰단가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026334"/>
                  </a:ext>
                </a:extLst>
              </a:tr>
              <a:tr h="0">
                <a:tc>
                  <a:txBody>
                    <a:bodyPr/>
                    <a:lstStyle/>
                    <a:p>
                      <a:pPr algn="l" fontAlgn="ctr"/>
                      <a:r>
                        <a:rPr lang="ko-KR" altLang="en-US" sz="800" b="0" i="0" u="none" strike="noStrike" dirty="0">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652739"/>
                  </a:ext>
                </a:extLst>
              </a:tr>
              <a:tr h="0">
                <a:tc>
                  <a:txBody>
                    <a:bodyPr/>
                    <a:lstStyle/>
                    <a:p>
                      <a:pPr algn="l" fontAlgn="ctr"/>
                      <a:r>
                        <a:rPr lang="ko-KR" altLang="en-US" sz="800" b="0" i="0" u="none" strike="noStrike" dirty="0">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9514727"/>
                  </a:ext>
                </a:extLst>
              </a:tr>
            </a:tbl>
          </a:graphicData>
        </a:graphic>
      </p:graphicFrame>
    </p:spTree>
    <p:extLst>
      <p:ext uri="{BB962C8B-B14F-4D97-AF65-F5344CB8AC3E}">
        <p14:creationId xmlns:p14="http://schemas.microsoft.com/office/powerpoint/2010/main" val="219136673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11A31DEB-7767-2B92-FE4C-FA157C28290E}"/>
              </a:ext>
            </a:extLst>
          </p:cNvPr>
          <p:cNvSpPr>
            <a:spLocks noGrp="1"/>
          </p:cNvSpPr>
          <p:nvPr>
            <p:ph type="sldNum" sz="quarter" idx="4"/>
          </p:nvPr>
        </p:nvSpPr>
        <p:spPr/>
        <p:txBody>
          <a:bodyPr/>
          <a:lstStyle/>
          <a:p>
            <a:fld id="{34C8E023-7346-48FC-AB24-9A3388C53208}" type="slidenum">
              <a:rPr lang="ko-KR" altLang="en-US" smtClean="0"/>
              <a:pPr/>
              <a:t>430</a:t>
            </a:fld>
            <a:endParaRPr lang="ko-KR" altLang="en-US" dirty="0"/>
          </a:p>
        </p:txBody>
      </p:sp>
      <p:sp>
        <p:nvSpPr>
          <p:cNvPr id="3" name="TextBox 2">
            <a:extLst>
              <a:ext uri="{FF2B5EF4-FFF2-40B4-BE49-F238E27FC236}">
                <a16:creationId xmlns:a16="http://schemas.microsoft.com/office/drawing/2014/main" id="{9CF7DA6E-2BA7-22C9-80ED-7DC19673C6BD}"/>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0E23908-20F6-EB17-9DC3-43EE5C2F8A17}"/>
              </a:ext>
            </a:extLst>
          </p:cNvPr>
          <p:cNvGraphicFramePr>
            <a:graphicFrameLocks noGrp="1"/>
          </p:cNvGraphicFramePr>
          <p:nvPr/>
        </p:nvGraphicFramePr>
        <p:xfrm>
          <a:off x="458117" y="799547"/>
          <a:ext cx="8995591" cy="13353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보관함목록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보관함이전공고목록조회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a:t>보관함목록행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scnwin.grd_list_oncecllclick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클릭한 공고의 입찰내역 목록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이전공고입찰내역목록조회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2306955"/>
                  </a:ext>
                </a:extLst>
              </a:tr>
              <a:tr h="0">
                <a:tc>
                  <a:txBody>
                    <a:bodyPr/>
                    <a:lstStyle/>
                    <a:p>
                      <a:r>
                        <a:rPr lang="ko-KR" altLang="en-US" sz="800"/>
                        <a:t>취소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작업내용을 반영하지 않고 현재 팝업을 종료</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2903495"/>
                  </a:ext>
                </a:extLst>
              </a:tr>
              <a:tr h="0">
                <a:tc>
                  <a:txBody>
                    <a:bodyPr/>
                    <a:lstStyle/>
                    <a:p>
                      <a:r>
                        <a:rPr lang="ko-KR" altLang="en-US" sz="800"/>
                        <a:t>불러오기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scnwin.btn_loadSave_onclick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클릭한 공고의 입찰내역을 현재 공고의 입찰내역으로 저장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이전공고입찰내역불러오기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7594737"/>
                  </a:ext>
                </a:extLst>
              </a:tr>
            </a:tbl>
          </a:graphicData>
        </a:graphic>
      </p:graphicFrame>
      <p:sp>
        <p:nvSpPr>
          <p:cNvPr id="5" name="Text Box 73">
            <a:extLst>
              <a:ext uri="{FF2B5EF4-FFF2-40B4-BE49-F238E27FC236}">
                <a16:creationId xmlns:a16="http://schemas.microsoft.com/office/drawing/2014/main" id="{1C32AD44-1BCD-BB77-5C7E-C241CBF1750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61114481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431</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8. </a:t>
            </a:r>
            <a:r>
              <a:rPr lang="ko-KR" altLang="en-US" dirty="0"/>
              <a:t>국외 </a:t>
            </a:r>
            <a:r>
              <a:rPr lang="ko-KR" altLang="en-US" dirty="0" err="1"/>
              <a:t>입찰진행</a:t>
            </a:r>
            <a:endParaRPr lang="en-US" altLang="ko-KR" dirty="0"/>
          </a:p>
          <a:p>
            <a:r>
              <a:rPr lang="en-US" altLang="ko-KR" dirty="0"/>
              <a:t>8.1 </a:t>
            </a:r>
            <a:r>
              <a:rPr lang="ko-KR" altLang="en-US" dirty="0"/>
              <a:t>화면 목록 </a:t>
            </a:r>
            <a:r>
              <a:rPr lang="en-US" altLang="ko-KR" dirty="0"/>
              <a:t>(1/2)</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4254289629"/>
              </p:ext>
            </p:extLst>
          </p:nvPr>
        </p:nvGraphicFramePr>
        <p:xfrm>
          <a:off x="635474" y="1413419"/>
          <a:ext cx="8701200" cy="498334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sz="800" b="0" i="0" u="none" strike="noStrike" kern="1200" dirty="0">
                          <a:solidFill>
                            <a:srgbClr val="000000"/>
                          </a:solidFill>
                          <a:effectLst/>
                          <a:latin typeface="+mn-lt"/>
                          <a:ea typeface="맑은 고딕" panose="020B0503020000020004" pitchFamily="50" charset="-127"/>
                          <a:cs typeface="+mn-cs"/>
                        </a:rPr>
                        <a:t>MUI-BD-03-M01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smtClean="0">
                          <a:latin typeface="+mn-lt"/>
                          <a:ea typeface="+mn-ea"/>
                        </a:rPr>
                        <a:t>입찰진행목록</a:t>
                      </a:r>
                      <a:endParaRPr lang="en-US" altLang="ko-KR"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BidPrgrsListForBzentyPage</a:t>
                      </a:r>
                      <a:endParaRPr lang="en-US" sz="800" b="0" i="0" u="none" strike="noStrike" dirty="0">
                        <a:solidFill>
                          <a:srgbClr val="000000"/>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lt"/>
                          <a:ea typeface="+mn-ea"/>
                        </a:rPr>
                        <a:t>입찰진행</a:t>
                      </a:r>
                      <a:r>
                        <a:rPr lang="ko-KR" altLang="en-US" sz="800" dirty="0">
                          <a:latin typeface="+mn-lt"/>
                          <a:ea typeface="+mn-ea"/>
                        </a:rPr>
                        <a:t> 목록 조회 화면</a:t>
                      </a:r>
                      <a:endParaRPr lang="en-US" altLang="ko-KR" sz="800" dirty="0">
                        <a:latin typeface="+mn-lt"/>
                        <a:ea typeface="+mn-ea"/>
                      </a:endParaRPr>
                    </a:p>
                    <a:p>
                      <a:pPr algn="l" latinLnBrk="1"/>
                      <a:r>
                        <a:rPr lang="ko-KR" altLang="en-US" sz="800" dirty="0">
                          <a:latin typeface="+mn-lt"/>
                          <a:ea typeface="+mn-ea"/>
                        </a:rPr>
                        <a:t>국내 화면과 동일함</a:t>
                      </a:r>
                      <a:r>
                        <a:rPr lang="en-US" altLang="ko-KR" sz="800" dirty="0">
                          <a:latin typeface="+mn-lt"/>
                          <a:ea typeface="+mn-ea"/>
                        </a:rPr>
                        <a:t>.</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rPr>
                        <a:t>bidPrgrsListForBzenty</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BidPrgrsListForBzentyPage</a:t>
                      </a:r>
                      <a:r>
                        <a:rPr lang="en-US" altLang="ko-KR" sz="800" dirty="0" err="1">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UC-BD-02-01</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UC-BD-07-01</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UC-BD-08-01</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UC-BD-09-01</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l" fontAlgn="ctr"/>
                      <a:r>
                        <a:rPr lang="en-US" altLang="ko-KR" sz="800" b="0" i="0" u="none" strike="noStrike" kern="1200" dirty="0">
                          <a:solidFill>
                            <a:srgbClr val="000000"/>
                          </a:solidFill>
                          <a:effectLst/>
                          <a:latin typeface="+mn-lt"/>
                          <a:ea typeface="맑은 고딕" panose="020B0503020000020004" pitchFamily="50" charset="-127"/>
                          <a:cs typeface="+mn-cs"/>
                        </a:rPr>
                        <a:t>MUI-BD-03-M02</a:t>
                      </a:r>
                      <a:endParaRPr lang="en-US" sz="800" b="0" i="0" u="none" strike="noStrike" kern="1200" dirty="0">
                        <a:solidFill>
                          <a:srgbClr val="000000"/>
                        </a:solidFill>
                        <a:effectLst/>
                        <a:latin typeface="+mn-lt"/>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lt"/>
                          <a:ea typeface="+mn-ea"/>
                          <a:cs typeface="+mn-cs"/>
                        </a:rPr>
                        <a:t>입찰진행상세</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kern="1200" dirty="0" err="1">
                          <a:solidFill>
                            <a:schemeClr val="tx1"/>
                          </a:solidFill>
                          <a:latin typeface="+mn-lt"/>
                          <a:ea typeface="+mn-ea"/>
                          <a:cs typeface="+mn-cs"/>
                        </a:rPr>
                        <a:t>BidPrgsDtlInqPage</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lt"/>
                          <a:ea typeface="+mn-ea"/>
                          <a:cs typeface="+mn-cs"/>
                        </a:rPr>
                        <a:t>신청한 입찰 상세 내역 </a:t>
                      </a:r>
                      <a:r>
                        <a:rPr lang="ko-KR" altLang="en-US" sz="800" kern="1200" dirty="0" smtClean="0">
                          <a:solidFill>
                            <a:schemeClr val="tx1"/>
                          </a:solidFill>
                          <a:latin typeface="+mn-lt"/>
                          <a:ea typeface="+mn-ea"/>
                          <a:cs typeface="+mn-cs"/>
                        </a:rPr>
                        <a:t>조회</a:t>
                      </a:r>
                      <a:endParaRPr lang="en-US" altLang="ko-KR" sz="800" kern="1200" dirty="0" smtClean="0">
                        <a:solidFill>
                          <a:schemeClr val="tx1"/>
                        </a:solidFill>
                        <a:latin typeface="+mn-lt"/>
                        <a:ea typeface="+mn-ea"/>
                        <a:cs typeface="+mn-cs"/>
                      </a:endParaRPr>
                    </a:p>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dirty="0" smtClean="0">
                          <a:latin typeface="+mn-lt"/>
                          <a:ea typeface="+mn-ea"/>
                        </a:rPr>
                        <a:t>국내 화면과 동일함</a:t>
                      </a:r>
                      <a:r>
                        <a:rPr lang="en-US" altLang="ko-KR" sz="800" dirty="0" smtClean="0">
                          <a:latin typeface="+mn-lt"/>
                          <a:ea typeface="+mn-ea"/>
                        </a:rPr>
                        <a:t>.</a:t>
                      </a:r>
                      <a:endParaRPr lang="ko-KR" altLang="en-US" sz="800" dirty="0" smtClean="0">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b="0" i="0" u="none" strike="noStrike" kern="1200" dirty="0" err="1">
                          <a:solidFill>
                            <a:schemeClr val="tx1"/>
                          </a:solidFill>
                          <a:effectLst/>
                          <a:latin typeface="+mn-lt"/>
                          <a:ea typeface="+mn-ea"/>
                          <a:cs typeface="+mn-cs"/>
                        </a:rPr>
                        <a:t>src</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ui</a:t>
                      </a:r>
                      <a:r>
                        <a:rPr lang="en-US" altLang="ko-KR" sz="800" b="0" i="0" u="none" strike="noStrike" kern="1200" dirty="0">
                          <a:solidFill>
                            <a:schemeClr val="tx1"/>
                          </a:solidFill>
                          <a:effectLst/>
                          <a:latin typeface="+mn-lt"/>
                          <a:ea typeface="+mn-ea"/>
                          <a:cs typeface="+mn-cs"/>
                        </a:rPr>
                        <a:t>/biz/</a:t>
                      </a:r>
                      <a:r>
                        <a:rPr lang="en-US" altLang="ko-KR" sz="800" b="0" i="0" u="none" strike="noStrike" kern="1200" dirty="0" err="1">
                          <a:solidFill>
                            <a:schemeClr val="tx1"/>
                          </a:solidFill>
                          <a:effectLst/>
                          <a:latin typeface="+mn-lt"/>
                          <a:ea typeface="+mn-ea"/>
                          <a:cs typeface="+mn-cs"/>
                        </a:rPr>
                        <a:t>bd</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bidPrgsDtlInq</a:t>
                      </a:r>
                      <a:r>
                        <a:rPr lang="en-US" altLang="ko-KR" sz="800" b="0" i="0" u="none" strike="noStrike" kern="1200" dirty="0">
                          <a:solidFill>
                            <a:schemeClr val="tx1"/>
                          </a:solidFill>
                          <a:effectLst/>
                          <a:latin typeface="+mn-lt"/>
                          <a:ea typeface="+mn-ea"/>
                          <a:cs typeface="+mn-cs"/>
                        </a:rPr>
                        <a:t>/</a:t>
                      </a:r>
                      <a:r>
                        <a:rPr lang="en-US" altLang="ko-KR" sz="800" b="0" i="0" u="none" strike="noStrike" kern="1200" dirty="0" err="1">
                          <a:solidFill>
                            <a:schemeClr val="tx1"/>
                          </a:solidFill>
                          <a:effectLst/>
                          <a:latin typeface="+mn-lt"/>
                          <a:ea typeface="+mn-ea"/>
                          <a:cs typeface="+mn-cs"/>
                        </a:rPr>
                        <a:t>BidPrgsDtlInqPage.tsx</a:t>
                      </a:r>
                      <a:endParaRPr lang="ko-KR" altLang="en-US" sz="800" b="0" i="0" u="none" strike="noStrike"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UC-BD-02-01</a:t>
                      </a:r>
                      <a:endParaRPr lang="en-US" altLang="ko-KR" sz="800" dirty="0">
                        <a:solidFill>
                          <a:srgbClr val="FF0000"/>
                        </a:solidFill>
                        <a:latin typeface="+mn-lt"/>
                        <a:ea typeface="+mn-ea"/>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lt"/>
                          <a:ea typeface="+mn-ea"/>
                        </a:rPr>
                        <a:t>UC-BD-08-01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3647484"/>
                  </a:ext>
                </a:extLst>
              </a:tr>
              <a:tr h="180000">
                <a:tc>
                  <a:txBody>
                    <a:bodyPr/>
                    <a:lstStyle/>
                    <a:p>
                      <a:pPr algn="l" fontAlgn="ctr"/>
                      <a:r>
                        <a:rPr lang="en-US" sz="800" b="0" i="0" u="none" strike="noStrike" kern="1200" dirty="0">
                          <a:solidFill>
                            <a:srgbClr val="000000"/>
                          </a:solidFill>
                          <a:effectLst/>
                          <a:latin typeface="+mn-lt"/>
                          <a:ea typeface="맑은 고딕" panose="020B0503020000020004" pitchFamily="50" charset="-127"/>
                          <a:cs typeface="+mn-cs"/>
                        </a:rPr>
                        <a:t>MUI-BD-04-M71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smtClean="0">
                          <a:latin typeface="+mn-lt"/>
                          <a:ea typeface="+mn-ea"/>
                        </a:rPr>
                        <a:t>입찰참가신청서작성</a:t>
                      </a:r>
                      <a:endParaRPr lang="en-US" altLang="ko-KR"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ovsBidPrtcpAply</a:t>
                      </a:r>
                      <a:endParaRPr lang="en-US" sz="800" b="0" i="0" u="none" strike="noStrike" dirty="0">
                        <a:solidFill>
                          <a:srgbClr val="000000"/>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smtClean="0">
                          <a:solidFill>
                            <a:srgbClr val="000000"/>
                          </a:solidFill>
                          <a:effectLst/>
                          <a:latin typeface="+mn-lt"/>
                          <a:ea typeface="+mn-ea"/>
                        </a:rPr>
                        <a:t>입찰참가신청서 작성 </a:t>
                      </a:r>
                      <a:r>
                        <a:rPr lang="ko-KR" altLang="en-US" sz="800" b="0" i="0" u="none" strike="noStrike" dirty="0">
                          <a:solidFill>
                            <a:srgbClr val="000000"/>
                          </a:solidFill>
                          <a:effectLst/>
                          <a:latin typeface="+mn-lt"/>
                          <a:ea typeface="+mn-ea"/>
                        </a:rPr>
                        <a:t>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mn-lt"/>
                          <a:ea typeface="+mn-ea"/>
                        </a:rPr>
                        <a:t>ovsBidPrtcpAply</a:t>
                      </a:r>
                      <a:r>
                        <a:rPr lang="en-US" altLang="ko-KR" sz="800" b="0" i="0" u="none" strike="noStrike" dirty="0" smtClean="0">
                          <a:solidFill>
                            <a:schemeClr val="tx1"/>
                          </a:solidFill>
                          <a:effectLst/>
                          <a:latin typeface="+mn-lt"/>
                          <a:ea typeface="+mn-ea"/>
                        </a:rPr>
                        <a:t>/</a:t>
                      </a:r>
                      <a:r>
                        <a:rPr lang="en-US" altLang="ko-KR" sz="800" b="0" i="0" u="none" strike="noStrike" dirty="0" err="1" smtClean="0">
                          <a:solidFill>
                            <a:schemeClr val="tx1"/>
                          </a:solidFill>
                          <a:effectLst/>
                          <a:latin typeface="+mn-lt"/>
                          <a:ea typeface="+mn-ea"/>
                        </a:rPr>
                        <a:t>ovsBidPrtcpAply</a:t>
                      </a:r>
                      <a:r>
                        <a:rPr lang="en-US" altLang="ko-KR" sz="800" dirty="0" err="1" smtClean="0">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UC-BD-02-01</a:t>
                      </a:r>
                      <a:endParaRPr kumimoji="0" lang="ko-KR" altLang="en-US" sz="800" b="0" i="0" u="none" strike="noStrike" kern="1200" cap="none" spc="0" normalizeH="0" baseline="0" noProof="0" dirty="0">
                        <a:ln>
                          <a:noFill/>
                        </a:ln>
                        <a:solidFill>
                          <a:prstClr val="black"/>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l" fontAlgn="ctr"/>
                      <a:r>
                        <a:rPr lang="en-US" sz="800" b="0" i="0" u="none" strike="noStrike" kern="1200" dirty="0">
                          <a:solidFill>
                            <a:srgbClr val="000000"/>
                          </a:solidFill>
                          <a:effectLst/>
                          <a:latin typeface="+mn-lt"/>
                          <a:ea typeface="맑은 고딕" panose="020B0503020000020004" pitchFamily="50" charset="-127"/>
                          <a:cs typeface="+mn-cs"/>
                        </a:rPr>
                        <a:t>MUI-BD-04-T71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smtClean="0">
                          <a:latin typeface="+mn-lt"/>
                          <a:ea typeface="+mn-ea"/>
                        </a:rPr>
                        <a:t>서약서동의목록</a:t>
                      </a:r>
                      <a:endParaRPr lang="en-US" altLang="ko-KR"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ovsBidPrtcpAplyPage</a:t>
                      </a:r>
                      <a:endParaRPr lang="en-US" sz="800" b="0" i="0" u="none" strike="noStrike" dirty="0">
                        <a:solidFill>
                          <a:srgbClr val="000000"/>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smtClean="0">
                          <a:solidFill>
                            <a:srgbClr val="000000"/>
                          </a:solidFill>
                          <a:effectLst/>
                          <a:latin typeface="+mn-lt"/>
                          <a:ea typeface="+mn-ea"/>
                        </a:rPr>
                        <a:t>업체담당자가 입찰참여 전</a:t>
                      </a:r>
                      <a:r>
                        <a:rPr lang="en-US" altLang="ko-KR" sz="800" b="0" i="0" u="none" strike="noStrike" dirty="0" smtClean="0">
                          <a:solidFill>
                            <a:srgbClr val="000000"/>
                          </a:solidFill>
                          <a:effectLst/>
                          <a:latin typeface="+mn-lt"/>
                          <a:ea typeface="+mn-ea"/>
                        </a:rPr>
                        <a:t>, </a:t>
                      </a:r>
                      <a:r>
                        <a:rPr lang="ko-KR" altLang="en-US" sz="800" b="0" i="0" u="none" strike="noStrike" dirty="0" smtClean="0">
                          <a:solidFill>
                            <a:srgbClr val="000000"/>
                          </a:solidFill>
                          <a:effectLst/>
                          <a:latin typeface="+mn-lt"/>
                          <a:ea typeface="+mn-ea"/>
                        </a:rPr>
                        <a:t>청렴계약이행서약서를 확인하고 동의여부를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mn-lt"/>
                          <a:ea typeface="+mn-ea"/>
                        </a:rPr>
                        <a:t>ovsBidPrtcpAply</a:t>
                      </a:r>
                      <a:r>
                        <a:rPr lang="en-US" altLang="ko-KR" sz="800" b="0" i="0" u="none" strike="noStrike" dirty="0" smtClean="0">
                          <a:solidFill>
                            <a:schemeClr val="tx1"/>
                          </a:solidFill>
                          <a:effectLst/>
                          <a:latin typeface="+mn-lt"/>
                          <a:ea typeface="+mn-ea"/>
                        </a:rPr>
                        <a:t>/</a:t>
                      </a:r>
                      <a:r>
                        <a:rPr lang="en-US" altLang="ko-KR" sz="800" b="0" i="0" u="none" strike="noStrike" dirty="0" err="1" smtClean="0">
                          <a:solidFill>
                            <a:srgbClr val="000000"/>
                          </a:solidFill>
                          <a:effectLst/>
                          <a:latin typeface="+mn-lt"/>
                          <a:ea typeface="+mn-ea"/>
                        </a:rPr>
                        <a:t>ovsBidPrtcpAplyPage</a:t>
                      </a:r>
                      <a:r>
                        <a:rPr lang="en-US" altLang="ko-KR" sz="800" dirty="0" err="1" smtClean="0">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srgbClr val="000000"/>
                          </a:solidFill>
                          <a:effectLst/>
                          <a:uLnTx/>
                          <a:uFillTx/>
                          <a:latin typeface="+mn-lt"/>
                          <a:ea typeface="+mn-ea"/>
                          <a:cs typeface="+mn-cs"/>
                        </a:rPr>
                        <a:t>UC-BD-02-01</a:t>
                      </a:r>
                      <a:endParaRPr kumimoji="0" lang="ko-KR" altLang="en-US" sz="800" b="0" i="0" u="none" strike="noStrike" kern="1200" cap="none" spc="0" normalizeH="0" baseline="0" noProof="0" dirty="0">
                        <a:ln>
                          <a:noFill/>
                        </a:ln>
                        <a:solidFill>
                          <a:prstClr val="black"/>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619849995"/>
                  </a:ext>
                </a:extLst>
              </a:tr>
              <a:tr h="305003">
                <a:tc>
                  <a:txBody>
                    <a:bodyPr/>
                    <a:lstStyle/>
                    <a:p>
                      <a:pPr algn="l" fontAlgn="ctr"/>
                      <a:r>
                        <a:rPr lang="en-US" sz="800" b="0" i="0" u="none" strike="noStrike" kern="1200">
                          <a:solidFill>
                            <a:srgbClr val="000000"/>
                          </a:solidFill>
                          <a:effectLst/>
                          <a:latin typeface="+mn-lt"/>
                          <a:ea typeface="맑은 고딕" panose="020B0503020000020004" pitchFamily="50" charset="-127"/>
                          <a:cs typeface="+mn-cs"/>
                        </a:rPr>
                        <a:t>MUI-BD-04-P03</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smtClean="0">
                          <a:latin typeface="+mn-lt"/>
                          <a:ea typeface="+mn-ea"/>
                        </a:rPr>
                        <a:t>서약서</a:t>
                      </a:r>
                      <a:r>
                        <a:rPr lang="en-US" altLang="ko-KR" sz="800" dirty="0" smtClean="0">
                          <a:latin typeface="+mn-lt"/>
                          <a:ea typeface="+mn-ea"/>
                        </a:rPr>
                        <a:t>2</a:t>
                      </a:r>
                      <a:endParaRPr lang="ko-KR" altLang="en-US" sz="800" kern="1200" dirty="0">
                        <a:solidFill>
                          <a:schemeClr val="tx1"/>
                        </a:solidFill>
                        <a:latin typeface="+mn-lt"/>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ovsProbWrotAgre</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lt"/>
                          <a:ea typeface="+mn-ea"/>
                        </a:rPr>
                        <a:t>청렴계약이행서약서</a:t>
                      </a:r>
                      <a:endParaRPr lang="en-US" altLang="ko-KR" sz="800" dirty="0">
                        <a:latin typeface="+mn-lt"/>
                        <a:ea typeface="+mn-ea"/>
                      </a:endParaRPr>
                    </a:p>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dirty="0">
                          <a:latin typeface="+mn-lt"/>
                          <a:ea typeface="+mn-ea"/>
                        </a:rPr>
                        <a:t>국내 화면과 동일함</a:t>
                      </a:r>
                      <a:r>
                        <a:rPr lang="en-US" altLang="ko-KR" sz="800" dirty="0">
                          <a:latin typeface="+mn-lt"/>
                          <a:ea typeface="+mn-ea"/>
                        </a:rPr>
                        <a:t>.</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ovsProbWrotAgre</a:t>
                      </a:r>
                      <a:r>
                        <a:rPr lang="en-US" altLang="ko-KR" sz="800" dirty="0" err="1">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UC-BD-02-01</a:t>
                      </a:r>
                      <a:endParaRPr kumimoji="0" lang="ko-KR" altLang="en-US" sz="800" b="0" i="0" u="none" strike="noStrike" kern="1200" cap="none" spc="0" normalizeH="0" baseline="0" noProof="0" dirty="0">
                        <a:ln>
                          <a:noFill/>
                        </a:ln>
                        <a:solidFill>
                          <a:prstClr val="black"/>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9929360"/>
                  </a:ext>
                </a:extLst>
              </a:tr>
              <a:tr h="180000">
                <a:tc>
                  <a:txBody>
                    <a:bodyPr/>
                    <a:lstStyle/>
                    <a:p>
                      <a:pPr algn="l" fontAlgn="ctr"/>
                      <a:r>
                        <a:rPr lang="en-US" sz="800" b="0" i="0" u="none" strike="noStrike" kern="1200" dirty="0">
                          <a:solidFill>
                            <a:srgbClr val="000000"/>
                          </a:solidFill>
                          <a:effectLst/>
                          <a:latin typeface="+mn-lt"/>
                          <a:ea typeface="맑은 고딕" panose="020B0503020000020004" pitchFamily="50" charset="-127"/>
                          <a:cs typeface="+mn-cs"/>
                        </a:rPr>
                        <a:t>MUI-BD-04-T72</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lt"/>
                          <a:ea typeface="맑은 고딕" panose="020B0503020000020004" pitchFamily="50" charset="-127"/>
                        </a:rPr>
                        <a:t>스탭</a:t>
                      </a:r>
                      <a:r>
                        <a:rPr lang="en-US" altLang="ko-KR" sz="800" b="0" i="0" u="none" strike="noStrike" dirty="0">
                          <a:solidFill>
                            <a:srgbClr val="000000"/>
                          </a:solidFill>
                          <a:effectLst/>
                          <a:latin typeface="+mn-lt"/>
                          <a:ea typeface="맑은 고딕" panose="020B0503020000020004" pitchFamily="50" charset="-127"/>
                        </a:rPr>
                        <a:t>1-</a:t>
                      </a:r>
                      <a:r>
                        <a:rPr lang="ko-KR" altLang="en-US" sz="800" b="0" i="0" u="none" strike="noStrike" dirty="0">
                          <a:solidFill>
                            <a:srgbClr val="000000"/>
                          </a:solidFill>
                          <a:effectLst/>
                          <a:latin typeface="+mn-lt"/>
                          <a:ea typeface="맑은 고딕" panose="020B0503020000020004" pitchFamily="50" charset="-127"/>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ovsBidPrtcpAplyPage_Stp1</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lt"/>
                          <a:ea typeface="+mn-ea"/>
                        </a:rPr>
                        <a:t>업체담당자가 입찰에 참가하기 위해</a:t>
                      </a:r>
                      <a:r>
                        <a:rPr lang="en-US" altLang="ko-KR" sz="800" b="0" i="0" u="none" strike="noStrike" dirty="0">
                          <a:solidFill>
                            <a:srgbClr val="000000"/>
                          </a:solidFill>
                          <a:effectLst/>
                          <a:latin typeface="+mn-lt"/>
                          <a:ea typeface="+mn-ea"/>
                        </a:rPr>
                        <a:t>, </a:t>
                      </a:r>
                      <a:r>
                        <a:rPr lang="ko-KR" altLang="en-US" sz="800" b="0" i="0" u="none" strike="noStrike" dirty="0" err="1">
                          <a:solidFill>
                            <a:srgbClr val="000000"/>
                          </a:solidFill>
                          <a:effectLst/>
                          <a:latin typeface="+mn-lt"/>
                          <a:ea typeface="+mn-ea"/>
                        </a:rPr>
                        <a:t>참여품목</a:t>
                      </a:r>
                      <a:r>
                        <a:rPr lang="ko-KR" altLang="en-US" sz="800" b="0" i="0" u="none" strike="noStrike" dirty="0">
                          <a:solidFill>
                            <a:srgbClr val="000000"/>
                          </a:solidFill>
                          <a:effectLst/>
                          <a:latin typeface="+mn-lt"/>
                          <a:ea typeface="+mn-ea"/>
                        </a:rPr>
                        <a:t> 및 보증서 </a:t>
                      </a:r>
                      <a:endParaRPr lang="en-US" altLang="ko-KR" sz="800" b="0" i="0" u="none" strike="noStrike" dirty="0">
                        <a:solidFill>
                          <a:srgbClr val="000000"/>
                        </a:solidFill>
                        <a:effectLst/>
                        <a:latin typeface="+mn-lt"/>
                        <a:ea typeface="+mn-ea"/>
                      </a:endParaRPr>
                    </a:p>
                    <a:p>
                      <a:pPr algn="l" fontAlgn="ctr"/>
                      <a:r>
                        <a:rPr lang="ko-KR" altLang="en-US" sz="800" b="0" i="0" u="none" strike="noStrike" dirty="0">
                          <a:solidFill>
                            <a:srgbClr val="000000"/>
                          </a:solidFill>
                          <a:effectLst/>
                          <a:latin typeface="+mn-lt"/>
                          <a:ea typeface="+mn-ea"/>
                        </a:rPr>
                        <a:t>정보를 등록하는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Stp1.tsx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lt"/>
                          <a:ea typeface="맑은 고딕" panose="020B0503020000020004" pitchFamily="50" charset="-127"/>
                          <a:cs typeface="+mn-cs"/>
                        </a:rPr>
                        <a:t>UC-BD-02-01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lt"/>
                          <a:ea typeface="맑은 고딕" panose="020B0503020000020004" pitchFamily="50" charset="-127"/>
                          <a:cs typeface="+mn-cs"/>
                        </a:rPr>
                        <a:t>UC-BD-07-01</a:t>
                      </a:r>
                      <a:endPar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sz="800" b="0" i="0" u="none" strike="noStrike" kern="1200" dirty="0">
                          <a:solidFill>
                            <a:srgbClr val="000000"/>
                          </a:solidFill>
                          <a:effectLst/>
                          <a:latin typeface="+mn-lt"/>
                          <a:ea typeface="맑은 고딕" panose="020B0503020000020004" pitchFamily="50" charset="-127"/>
                          <a:cs typeface="+mn-cs"/>
                        </a:rPr>
                        <a:t>MUI-BD-04-T73</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lt"/>
                          <a:ea typeface="맑은 고딕" panose="020B0503020000020004" pitchFamily="50" charset="-127"/>
                        </a:rPr>
                        <a:t>스탭</a:t>
                      </a:r>
                      <a:r>
                        <a:rPr lang="en-US" altLang="ko-KR" sz="800" b="0" i="0" u="none" strike="noStrike" dirty="0">
                          <a:solidFill>
                            <a:srgbClr val="000000"/>
                          </a:solidFill>
                          <a:effectLst/>
                          <a:latin typeface="+mn-lt"/>
                          <a:ea typeface="맑은 고딕" panose="020B0503020000020004" pitchFamily="50" charset="-127"/>
                        </a:rPr>
                        <a:t>2-</a:t>
                      </a:r>
                      <a:r>
                        <a:rPr lang="ko-KR" altLang="en-US" sz="800" b="0" i="0" u="none" strike="noStrike" dirty="0">
                          <a:solidFill>
                            <a:srgbClr val="000000"/>
                          </a:solidFill>
                          <a:effectLst/>
                          <a:latin typeface="+mn-lt"/>
                          <a:ea typeface="맑은 고딕" panose="020B0503020000020004" pitchFamily="50" charset="-127"/>
                        </a:rPr>
                        <a:t>업체정보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lt"/>
                          <a:ea typeface="맑은 고딕" panose="020B0503020000020004" pitchFamily="50" charset="-127"/>
                        </a:rPr>
                        <a:t>ovsBidPrtcpAplyPage_Stp2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업체담당자가 입찰에 참가하기 위해</a:t>
                      </a: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 </a:t>
                      </a:r>
                      <a:r>
                        <a:rPr kumimoji="0" lang="ko-KR" altLang="en-US" sz="800" b="0" i="0" u="none" strike="noStrike" kern="1200" cap="none" spc="0" normalizeH="0" baseline="0" noProof="0" dirty="0" err="1">
                          <a:ln>
                            <a:noFill/>
                          </a:ln>
                          <a:solidFill>
                            <a:srgbClr val="000000"/>
                          </a:solidFill>
                          <a:effectLst/>
                          <a:uLnTx/>
                          <a:uFillTx/>
                          <a:latin typeface="+mn-lt"/>
                          <a:ea typeface="맑은 고딕" panose="020B0503020000020004" pitchFamily="50" charset="-127"/>
                          <a:cs typeface="+mn-cs"/>
                        </a:rPr>
                        <a:t>참여품목</a:t>
                      </a: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 및 보증서 </a:t>
                      </a:r>
                      <a:endPar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endParaRPr>
                    </a:p>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정보를 등록하는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Stp2.tsx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lt"/>
                          <a:ea typeface="맑은 고딕" panose="020B0503020000020004" pitchFamily="50" charset="-127"/>
                          <a:cs typeface="+mn-cs"/>
                        </a:rPr>
                        <a:t>UC-BD-02-01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lt"/>
                          <a:ea typeface="맑은 고딕" panose="020B0503020000020004" pitchFamily="50" charset="-127"/>
                          <a:cs typeface="+mn-cs"/>
                        </a:rPr>
                        <a:t>UC-BD-07-01</a:t>
                      </a:r>
                      <a:endPar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l" fontAlgn="ctr"/>
                      <a:r>
                        <a:rPr lang="en-US" sz="800" b="0" i="0" u="none" strike="noStrike" dirty="0">
                          <a:solidFill>
                            <a:srgbClr val="000000"/>
                          </a:solidFill>
                          <a:effectLst/>
                          <a:latin typeface="+mn-lt"/>
                          <a:ea typeface="맑은 고딕" panose="020B0503020000020004" pitchFamily="50" charset="-127"/>
                        </a:rPr>
                        <a:t>MUI-BD-04-T74</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lt"/>
                          <a:ea typeface="맑은 고딕" panose="020B0503020000020004" pitchFamily="50" charset="-127"/>
                        </a:rPr>
                        <a:t>스탭</a:t>
                      </a:r>
                      <a:r>
                        <a:rPr lang="en-US" altLang="ko-KR" sz="800" b="0" i="0" u="none" strike="noStrike" dirty="0">
                          <a:solidFill>
                            <a:srgbClr val="000000"/>
                          </a:solidFill>
                          <a:effectLst/>
                          <a:latin typeface="+mn-lt"/>
                          <a:ea typeface="맑은 고딕" panose="020B0503020000020004" pitchFamily="50" charset="-127"/>
                        </a:rPr>
                        <a:t>3-</a:t>
                      </a:r>
                      <a:r>
                        <a:rPr lang="ko-KR" altLang="en-US" sz="800" b="0" i="0" u="none" strike="noStrike" dirty="0">
                          <a:solidFill>
                            <a:srgbClr val="000000"/>
                          </a:solidFill>
                          <a:effectLst/>
                          <a:latin typeface="+mn-lt"/>
                          <a:ea typeface="맑은 고딕" panose="020B0503020000020004" pitchFamily="50" charset="-127"/>
                        </a:rPr>
                        <a:t>입찰보증금</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lt"/>
                          <a:ea typeface="맑은 고딕" panose="020B0503020000020004" pitchFamily="50" charset="-127"/>
                        </a:rPr>
                        <a:t>ovsBidPrtcpAplyPage_Stp3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업체담당자가 입찰에 참가하기 위해</a:t>
                      </a: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 </a:t>
                      </a:r>
                      <a:r>
                        <a:rPr kumimoji="0" lang="ko-KR" altLang="en-US" sz="800" b="0" i="0" u="none" strike="noStrike" kern="1200" cap="none" spc="0" normalizeH="0" baseline="0" noProof="0" dirty="0" err="1">
                          <a:ln>
                            <a:noFill/>
                          </a:ln>
                          <a:solidFill>
                            <a:srgbClr val="000000"/>
                          </a:solidFill>
                          <a:effectLst/>
                          <a:uLnTx/>
                          <a:uFillTx/>
                          <a:latin typeface="+mn-lt"/>
                          <a:ea typeface="맑은 고딕" panose="020B0503020000020004" pitchFamily="50" charset="-127"/>
                          <a:cs typeface="+mn-cs"/>
                        </a:rPr>
                        <a:t>참여품목</a:t>
                      </a: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 및 보증서 </a:t>
                      </a:r>
                      <a:endPar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endParaRPr>
                    </a:p>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정보를 등록하는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Stp3.tsx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UC-BD-02-01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lt"/>
                          <a:ea typeface="맑은 고딕" panose="020B0503020000020004" pitchFamily="50" charset="-127"/>
                          <a:cs typeface="+mn-cs"/>
                        </a:rPr>
                        <a:t>UC-BD-07-01</a:t>
                      </a:r>
                      <a:endPar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algn="l" fontAlgn="ctr"/>
                      <a:r>
                        <a:rPr lang="en-US" sz="800" b="0" i="0" u="none" strike="noStrike">
                          <a:solidFill>
                            <a:srgbClr val="000000"/>
                          </a:solidFill>
                          <a:effectLst/>
                          <a:latin typeface="+mn-lt"/>
                          <a:ea typeface="맑은 고딕" panose="020B0503020000020004" pitchFamily="50" charset="-127"/>
                        </a:rPr>
                        <a:t>MUI-BD-04-P75</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lt"/>
                          <a:ea typeface="맑은 고딕" panose="020B0503020000020004" pitchFamily="50" charset="-127"/>
                        </a:rPr>
                        <a:t>입찰보증서선택</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ovsBidWtgrInq</a:t>
                      </a:r>
                      <a:endParaRPr lang="en-US" sz="800" b="0" i="0" u="none" strike="noStrike" dirty="0">
                        <a:solidFill>
                          <a:srgbClr val="000000"/>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lt"/>
                          <a:ea typeface="+mn-ea"/>
                        </a:rPr>
                        <a:t>전자입찰보증서를 조회하고 입찰에 사용할 보증서를 선택</a:t>
                      </a:r>
                      <a:endParaRPr lang="en-US" altLang="ko-KR" sz="800" b="0" i="0" u="none" strike="noStrike" dirty="0">
                        <a:solidFill>
                          <a:srgbClr val="000000"/>
                        </a:solidFill>
                        <a:effectLst/>
                        <a:latin typeface="+mn-lt"/>
                        <a:ea typeface="+mn-ea"/>
                      </a:endParaRPr>
                    </a:p>
                    <a:p>
                      <a:pPr algn="l" fontAlgn="ctr"/>
                      <a:r>
                        <a:rPr lang="ko-KR" altLang="en-US" sz="800" b="0" i="0" u="none" strike="noStrike" dirty="0">
                          <a:solidFill>
                            <a:srgbClr val="000000"/>
                          </a:solidFill>
                          <a:effectLst/>
                          <a:latin typeface="+mn-lt"/>
                          <a:ea typeface="+mn-ea"/>
                        </a:rPr>
                        <a:t>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ovsBidWtgrInq</a:t>
                      </a:r>
                      <a:r>
                        <a:rPr lang="en-US" altLang="ko-KR" sz="800" dirty="0" err="1">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mn-lt"/>
                          <a:ea typeface="+mn-ea"/>
                        </a:rPr>
                        <a:t>UC-BD-02-01</a:t>
                      </a:r>
                      <a:endParaRPr kumimoji="0" lang="ko-KR" altLang="en-US" sz="800" b="0" i="0" u="none" strike="noStrike" kern="1200" cap="none" spc="0" normalizeH="0" baseline="0" noProof="0" dirty="0">
                        <a:ln>
                          <a:noFill/>
                        </a:ln>
                        <a:solidFill>
                          <a:prstClr val="black"/>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r h="180000">
                <a:tc>
                  <a:txBody>
                    <a:bodyPr/>
                    <a:lstStyle/>
                    <a:p>
                      <a:pPr algn="l" fontAlgn="ctr"/>
                      <a:r>
                        <a:rPr lang="en-US" sz="800" b="0" i="0" u="none" strike="noStrike">
                          <a:solidFill>
                            <a:srgbClr val="000000"/>
                          </a:solidFill>
                          <a:effectLst/>
                          <a:latin typeface="+mn-lt"/>
                          <a:ea typeface="맑은 고딕" panose="020B0503020000020004" pitchFamily="50" charset="-127"/>
                        </a:rPr>
                        <a:t>MUI-BD-04-P76</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lt"/>
                          <a:ea typeface="맑은 고딕" panose="020B0503020000020004" pitchFamily="50" charset="-127"/>
                        </a:rPr>
                        <a:t>보증서정보조회</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ovsBidWtgrDtl</a:t>
                      </a:r>
                      <a:endParaRPr lang="en-US" sz="800" b="0" i="0" u="none" strike="noStrike" dirty="0">
                        <a:solidFill>
                          <a:srgbClr val="000000"/>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lt"/>
                          <a:ea typeface="+mn-ea"/>
                        </a:rPr>
                        <a:t>입찰보증서의 계약자</a:t>
                      </a:r>
                      <a:r>
                        <a:rPr lang="en-US" altLang="ko-KR" sz="800" b="0" i="0" u="none" strike="noStrike" dirty="0">
                          <a:solidFill>
                            <a:srgbClr val="000000"/>
                          </a:solidFill>
                          <a:effectLst/>
                          <a:latin typeface="+mn-lt"/>
                          <a:ea typeface="+mn-ea"/>
                        </a:rPr>
                        <a:t>, </a:t>
                      </a:r>
                      <a:r>
                        <a:rPr lang="ko-KR" altLang="en-US" sz="800" b="0" i="0" u="none" strike="noStrike" dirty="0">
                          <a:solidFill>
                            <a:srgbClr val="000000"/>
                          </a:solidFill>
                          <a:effectLst/>
                          <a:latin typeface="+mn-lt"/>
                          <a:ea typeface="+mn-ea"/>
                        </a:rPr>
                        <a:t>채권자</a:t>
                      </a:r>
                      <a:r>
                        <a:rPr lang="en-US" altLang="ko-KR" sz="800" b="0" i="0" u="none" strike="noStrike" dirty="0">
                          <a:solidFill>
                            <a:srgbClr val="000000"/>
                          </a:solidFill>
                          <a:effectLst/>
                          <a:latin typeface="+mn-lt"/>
                          <a:ea typeface="+mn-ea"/>
                        </a:rPr>
                        <a:t>, </a:t>
                      </a:r>
                      <a:r>
                        <a:rPr lang="ko-KR" altLang="en-US" sz="800" b="0" i="0" u="none" strike="noStrike" dirty="0">
                          <a:solidFill>
                            <a:srgbClr val="000000"/>
                          </a:solidFill>
                          <a:effectLst/>
                          <a:latin typeface="+mn-lt"/>
                          <a:ea typeface="+mn-ea"/>
                        </a:rPr>
                        <a:t>발행일자등의 상세정보를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ovsBidWtgrDtl</a:t>
                      </a:r>
                      <a:r>
                        <a:rPr lang="en-US" altLang="ko-KR" sz="800" dirty="0" err="1">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mn-lt"/>
                          <a:ea typeface="+mn-ea"/>
                        </a:rPr>
                        <a:t>UC-BD-02-01</a:t>
                      </a:r>
                      <a:endParaRPr kumimoji="0" lang="ko-KR" altLang="en-US" sz="800" b="0" i="0" u="none" strike="noStrike" kern="1200" cap="none" spc="0" normalizeH="0" baseline="0" noProof="0" dirty="0">
                        <a:ln>
                          <a:noFill/>
                        </a:ln>
                        <a:solidFill>
                          <a:prstClr val="black"/>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614496"/>
                  </a:ext>
                </a:extLst>
              </a:tr>
              <a:tr h="180000">
                <a:tc>
                  <a:txBody>
                    <a:bodyPr/>
                    <a:lstStyle/>
                    <a:p>
                      <a:pPr algn="l" fontAlgn="ctr"/>
                      <a:r>
                        <a:rPr lang="en-US" sz="800" b="0" i="0" u="none" strike="noStrike">
                          <a:solidFill>
                            <a:srgbClr val="000000"/>
                          </a:solidFill>
                          <a:effectLst/>
                          <a:latin typeface="+mn-lt"/>
                          <a:ea typeface="맑은 고딕" panose="020B0503020000020004" pitchFamily="50" charset="-127"/>
                        </a:rPr>
                        <a:t>MUI-BD-04-T75</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lt"/>
                          <a:ea typeface="맑은 고딕" panose="020B0503020000020004" pitchFamily="50" charset="-127"/>
                        </a:rPr>
                        <a:t>스탭</a:t>
                      </a:r>
                      <a:r>
                        <a:rPr lang="en-US" altLang="ko-KR" sz="800" b="0" i="0" u="none" strike="noStrike" dirty="0">
                          <a:solidFill>
                            <a:srgbClr val="000000"/>
                          </a:solidFill>
                          <a:effectLst/>
                          <a:latin typeface="+mn-lt"/>
                          <a:ea typeface="맑은 고딕" panose="020B0503020000020004" pitchFamily="50" charset="-127"/>
                        </a:rPr>
                        <a:t>4-</a:t>
                      </a:r>
                      <a:r>
                        <a:rPr lang="ko-KR" altLang="en-US" sz="800" b="0" i="0" u="none" strike="noStrike" dirty="0">
                          <a:solidFill>
                            <a:srgbClr val="000000"/>
                          </a:solidFill>
                          <a:effectLst/>
                          <a:latin typeface="+mn-lt"/>
                          <a:ea typeface="맑은 고딕" panose="020B0503020000020004" pitchFamily="50" charset="-127"/>
                        </a:rPr>
                        <a:t>첨부파일</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ovsBidPrtcpAplyPage_AtchDocReg</a:t>
                      </a:r>
                      <a:endParaRPr lang="en-US" sz="800" b="0" i="0" u="none" strike="noStrike" dirty="0">
                        <a:solidFill>
                          <a:srgbClr val="000000"/>
                        </a:solidFill>
                        <a:effectLst/>
                        <a:latin typeface="+mn-lt"/>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lt"/>
                          <a:ea typeface="+mn-ea"/>
                        </a:rPr>
                        <a:t>업체담당자가 입찰에 참가하기 위해</a:t>
                      </a:r>
                      <a:r>
                        <a:rPr lang="en-US" altLang="ko-KR" sz="800" b="0" i="0" u="none" strike="noStrike" dirty="0">
                          <a:solidFill>
                            <a:srgbClr val="000000"/>
                          </a:solidFill>
                          <a:effectLst/>
                          <a:latin typeface="+mn-lt"/>
                          <a:ea typeface="+mn-ea"/>
                        </a:rPr>
                        <a:t>, </a:t>
                      </a:r>
                      <a:r>
                        <a:rPr lang="ko-KR" altLang="en-US" sz="800" b="0" i="0" u="none" strike="noStrike" dirty="0" err="1">
                          <a:solidFill>
                            <a:srgbClr val="000000"/>
                          </a:solidFill>
                          <a:effectLst/>
                          <a:latin typeface="+mn-lt"/>
                          <a:ea typeface="+mn-ea"/>
                        </a:rPr>
                        <a:t>참여품목</a:t>
                      </a:r>
                      <a:r>
                        <a:rPr lang="ko-KR" altLang="en-US" sz="800" b="0" i="0" u="none" strike="noStrike" dirty="0">
                          <a:solidFill>
                            <a:srgbClr val="000000"/>
                          </a:solidFill>
                          <a:effectLst/>
                          <a:latin typeface="+mn-lt"/>
                          <a:ea typeface="+mn-ea"/>
                        </a:rPr>
                        <a:t> 및 보증서 </a:t>
                      </a:r>
                      <a:endParaRPr lang="en-US" altLang="ko-KR" sz="800" b="0" i="0" u="none" strike="noStrike" dirty="0">
                        <a:solidFill>
                          <a:srgbClr val="000000"/>
                        </a:solidFill>
                        <a:effectLst/>
                        <a:latin typeface="+mn-lt"/>
                        <a:ea typeface="+mn-ea"/>
                      </a:endParaRPr>
                    </a:p>
                    <a:p>
                      <a:pPr algn="l" fontAlgn="ctr"/>
                      <a:r>
                        <a:rPr lang="ko-KR" altLang="en-US" sz="800" b="0" i="0" u="none" strike="noStrike" dirty="0">
                          <a:solidFill>
                            <a:srgbClr val="000000"/>
                          </a:solidFill>
                          <a:effectLst/>
                          <a:latin typeface="+mn-lt"/>
                          <a:ea typeface="+mn-ea"/>
                        </a:rPr>
                        <a:t>정보를 등록하는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A</a:t>
                      </a:r>
                      <a:r>
                        <a:rPr lang="en-US" altLang="ko-KR" sz="800" b="0" i="0" u="none" strike="noStrike" dirty="0" err="1">
                          <a:solidFill>
                            <a:schemeClr val="tx1"/>
                          </a:solidFill>
                          <a:effectLst/>
                          <a:latin typeface="+mn-lt"/>
                        </a:rPr>
                        <a:t>tchDocReg</a:t>
                      </a:r>
                      <a:r>
                        <a:rPr lang="en-US" altLang="ko-KR" sz="800" dirty="0" err="1">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mn-lt"/>
                          <a:ea typeface="+mn-ea"/>
                        </a:rPr>
                        <a:t>UC-BD-02-01</a:t>
                      </a:r>
                    </a:p>
                    <a:p>
                      <a:pPr algn="l" fontAlgn="ctr"/>
                      <a:r>
                        <a:rPr lang="en-US" altLang="ko-KR" sz="800" dirty="0">
                          <a:latin typeface="+mn-lt"/>
                          <a:ea typeface="+mn-ea"/>
                        </a:rPr>
                        <a:t>UC-BD-07-01</a:t>
                      </a:r>
                      <a:endParaRPr lang="en-US" altLang="ko-KR" sz="800" b="0" i="0" u="none" strike="noStrike" dirty="0">
                        <a:solidFill>
                          <a:srgbClr val="000000"/>
                        </a:solidFill>
                        <a:effectLst/>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r h="180000">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MUI-BD-04-M78</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입찰참가신청서상세</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ovsBidPrtcpApfrDtl</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업체담당자가 제출한 입찰참가신청서를 조회하는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mn-lt"/>
                          <a:ea typeface="+mn-ea"/>
                        </a:rPr>
                        <a:t>ovsBidPrtcpApfrDtl</a:t>
                      </a:r>
                      <a:r>
                        <a:rPr lang="en-US" altLang="ko-KR" sz="800" b="0" i="0" u="none" strike="noStrike" dirty="0" smtClean="0">
                          <a:solidFill>
                            <a:schemeClr val="tx1"/>
                          </a:solidFill>
                          <a:effectLst/>
                          <a:latin typeface="+mn-lt"/>
                          <a:ea typeface="+mn-ea"/>
                        </a:rPr>
                        <a:t>/</a:t>
                      </a:r>
                      <a:r>
                        <a:rPr lang="en-US" altLang="ko-KR" sz="800" b="0" i="0" u="none" strike="noStrike" dirty="0" err="1" smtClean="0">
                          <a:solidFill>
                            <a:schemeClr val="tx1"/>
                          </a:solidFill>
                          <a:effectLst/>
                          <a:latin typeface="+mn-lt"/>
                          <a:ea typeface="+mn-ea"/>
                        </a:rPr>
                        <a:t>OvsBidPrtcpApfrDtl</a:t>
                      </a:r>
                      <a:r>
                        <a:rPr lang="en-US" altLang="ko-KR" sz="800" dirty="0" err="1" smtClean="0">
                          <a:solidFill>
                            <a:schemeClr val="tx1"/>
                          </a:solidFill>
                          <a:latin typeface="+mn-lt"/>
                          <a:ea typeface="+mn-ea"/>
                        </a:rPr>
                        <a:t>.tsx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UC-BD-02-01</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884088"/>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MUI-BD-04-T76</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ovsBidPrtcpApfrDtlPage</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srgbClr val="000000"/>
                          </a:solidFill>
                          <a:effectLst/>
                          <a:uLnTx/>
                          <a:uFillTx/>
                          <a:latin typeface="+mn-lt"/>
                          <a:ea typeface="+mn-ea"/>
                          <a:cs typeface="+mn-cs"/>
                        </a:rPr>
                        <a:t>업체담당자가 제출한 입찰참가신청서를 조회하는 화면 </a:t>
                      </a:r>
                    </a:p>
                    <a:p>
                      <a:pPr marL="0" marR="0" lvl="0" indent="0" algn="l" defTabSz="914400" rtl="0" eaLnBrk="1" fontAlgn="ctr"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lt"/>
                          <a:ea typeface="+mn-ea"/>
                        </a:rPr>
                        <a:t>src</a:t>
                      </a:r>
                      <a:r>
                        <a:rPr lang="en-US" altLang="ko-KR" sz="800" dirty="0" smtClean="0">
                          <a:solidFill>
                            <a:schemeClr val="tx1"/>
                          </a:solidFill>
                          <a:latin typeface="+mn-lt"/>
                          <a:ea typeface="+mn-ea"/>
                        </a:rPr>
                        <a:t>/</a:t>
                      </a:r>
                      <a:r>
                        <a:rPr lang="en-US" altLang="ko-KR" sz="800" dirty="0" err="1" smtClean="0">
                          <a:solidFill>
                            <a:schemeClr val="tx1"/>
                          </a:solidFill>
                          <a:latin typeface="+mn-lt"/>
                          <a:ea typeface="+mn-ea"/>
                        </a:rPr>
                        <a:t>ui</a:t>
                      </a:r>
                      <a:r>
                        <a:rPr lang="en-US" altLang="ko-KR" sz="800" dirty="0" smtClean="0">
                          <a:solidFill>
                            <a:schemeClr val="tx1"/>
                          </a:solidFill>
                          <a:latin typeface="+mn-lt"/>
                          <a:ea typeface="+mn-ea"/>
                        </a:rPr>
                        <a:t>/biz/</a:t>
                      </a:r>
                      <a:r>
                        <a:rPr lang="en-US" altLang="ko-KR" sz="800" dirty="0" err="1" smtClean="0">
                          <a:solidFill>
                            <a:schemeClr val="tx1"/>
                          </a:solidFill>
                          <a:latin typeface="+mn-lt"/>
                          <a:ea typeface="+mn-ea"/>
                        </a:rPr>
                        <a:t>bd</a:t>
                      </a:r>
                      <a:r>
                        <a:rPr lang="en-US" altLang="ko-KR" sz="800" dirty="0" smtClean="0">
                          <a:solidFill>
                            <a:schemeClr val="tx1"/>
                          </a:solidFill>
                          <a:latin typeface="+mn-lt"/>
                          <a:ea typeface="+mn-ea"/>
                        </a:rPr>
                        <a:t>/</a:t>
                      </a:r>
                      <a:r>
                        <a:rPr lang="en-US" altLang="ko-KR" sz="800" b="0" i="0" u="none" strike="noStrike" dirty="0" err="1" smtClean="0">
                          <a:solidFill>
                            <a:schemeClr val="tx1"/>
                          </a:solidFill>
                          <a:effectLst/>
                          <a:latin typeface="+mn-lt"/>
                          <a:ea typeface="+mn-ea"/>
                        </a:rPr>
                        <a:t>ovsBidPrtcpApfrDtl</a:t>
                      </a:r>
                      <a:r>
                        <a:rPr lang="en-US" altLang="ko-KR" sz="800" b="0" i="0" u="none" strike="noStrike" dirty="0" smtClean="0">
                          <a:solidFill>
                            <a:schemeClr val="tx1"/>
                          </a:solidFill>
                          <a:effectLst/>
                          <a:latin typeface="+mn-lt"/>
                          <a:ea typeface="+mn-ea"/>
                        </a:rPr>
                        <a:t>/</a:t>
                      </a:r>
                      <a:r>
                        <a:rPr lang="en-US" altLang="ko-KR" sz="800" b="0" i="0" u="none" strike="noStrike" dirty="0" err="1" smtClean="0">
                          <a:solidFill>
                            <a:schemeClr val="tx1"/>
                          </a:solidFill>
                          <a:effectLst/>
                          <a:latin typeface="+mn-lt"/>
                          <a:ea typeface="+mn-ea"/>
                        </a:rPr>
                        <a:t>OvsBidPrtcpApfrDtlPage</a:t>
                      </a:r>
                      <a:r>
                        <a:rPr lang="en-US" altLang="ko-KR" sz="800" dirty="0" err="1" smtClean="0">
                          <a:solidFill>
                            <a:schemeClr val="tx1"/>
                          </a:solidFill>
                          <a:latin typeface="+mn-lt"/>
                          <a:ea typeface="+mn-ea"/>
                        </a:rPr>
                        <a:t>.tsx</a:t>
                      </a:r>
                      <a:endParaRPr lang="ko-KR" altLang="en-US" sz="800" dirty="0" smtClean="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dirty="0" smtClean="0">
                          <a:ln>
                            <a:noFill/>
                          </a:ln>
                          <a:solidFill>
                            <a:srgbClr val="000000"/>
                          </a:solidFill>
                          <a:effectLst/>
                          <a:uLnTx/>
                          <a:uFillTx/>
                          <a:latin typeface="+mn-lt"/>
                          <a:ea typeface="+mn-ea"/>
                          <a:cs typeface="+mn-cs"/>
                        </a:rPr>
                        <a:t>UC-BD-02-01</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0131870"/>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MUI-BD-04-T77</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업체정보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ovsBidPrtcpApfrDtlPage_Tab2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업체담당자가 제출한 입찰참가신청서를 조회하는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Tab2.tsx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UC-BD-02-01</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7923704"/>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42132623"/>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432</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8. </a:t>
            </a:r>
            <a:r>
              <a:rPr lang="ko-KR" altLang="en-US" dirty="0"/>
              <a:t>국외 </a:t>
            </a:r>
            <a:r>
              <a:rPr lang="ko-KR" altLang="en-US" dirty="0" err="1"/>
              <a:t>입찰진행</a:t>
            </a:r>
            <a:endParaRPr lang="en-US" altLang="ko-KR" dirty="0"/>
          </a:p>
          <a:p>
            <a:r>
              <a:rPr lang="en-US" altLang="ko-KR" dirty="0"/>
              <a:t>8.1 </a:t>
            </a:r>
            <a:r>
              <a:rPr lang="ko-KR" altLang="en-US" dirty="0"/>
              <a:t>화면 목록 </a:t>
            </a:r>
            <a:r>
              <a:rPr lang="en-US" altLang="ko-KR" dirty="0"/>
              <a:t>(2/3)</a:t>
            </a:r>
            <a:endParaRPr lang="ko-KR" altLang="en-US" dirty="0"/>
          </a:p>
        </p:txBody>
      </p:sp>
      <p:graphicFrame>
        <p:nvGraphicFramePr>
          <p:cNvPr id="5" name="표 4"/>
          <p:cNvGraphicFramePr>
            <a:graphicFrameLocks noGrp="1"/>
          </p:cNvGraphicFramePr>
          <p:nvPr>
            <p:extLst/>
          </p:nvPr>
        </p:nvGraphicFramePr>
        <p:xfrm>
          <a:off x="635474" y="1413419"/>
          <a:ext cx="8701200" cy="376990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MUI-BD-04-T78</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3-</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입찰보증금</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ovsBidPrtcpApfrDtlPage_Tab3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업체담당자가 제출한 입찰참가신청서를 조회하는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src</a:t>
                      </a:r>
                      <a:r>
                        <a:rPr lang="en-US" altLang="ko-KR" sz="800" dirty="0">
                          <a:solidFill>
                            <a:schemeClr val="tx1"/>
                          </a:solidFill>
                          <a:latin typeface="+mn-lt"/>
                          <a:ea typeface="+mn-ea"/>
                        </a:rPr>
                        <a:t>/</a:t>
                      </a:r>
                      <a:r>
                        <a:rPr lang="en-US" altLang="ko-KR" sz="800" dirty="0" err="1">
                          <a:solidFill>
                            <a:schemeClr val="tx1"/>
                          </a:solidFill>
                          <a:latin typeface="+mn-lt"/>
                          <a:ea typeface="+mn-ea"/>
                        </a:rPr>
                        <a:t>ui</a:t>
                      </a:r>
                      <a:r>
                        <a:rPr lang="en-US" altLang="ko-KR" sz="800" dirty="0">
                          <a:solidFill>
                            <a:schemeClr val="tx1"/>
                          </a:solidFill>
                          <a:latin typeface="+mn-lt"/>
                          <a:ea typeface="+mn-ea"/>
                        </a:rPr>
                        <a:t>/biz/</a:t>
                      </a:r>
                      <a:r>
                        <a:rPr lang="en-US" altLang="ko-KR" sz="800" dirty="0" err="1">
                          <a:solidFill>
                            <a:schemeClr val="tx1"/>
                          </a:solidFill>
                          <a:latin typeface="+mn-lt"/>
                          <a:ea typeface="+mn-ea"/>
                        </a:rPr>
                        <a:t>bd</a:t>
                      </a:r>
                      <a:r>
                        <a:rPr lang="en-US" altLang="ko-KR" sz="800" dirty="0">
                          <a:solidFill>
                            <a:schemeClr val="tx1"/>
                          </a:solidFill>
                          <a:latin typeface="+mn-lt"/>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Tab3.tsx</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dirty="0">
                          <a:ln>
                            <a:noFill/>
                          </a:ln>
                          <a:solidFill>
                            <a:srgbClr val="000000"/>
                          </a:solidFill>
                          <a:effectLst/>
                          <a:uLnTx/>
                          <a:uFillTx/>
                          <a:latin typeface="+mn-lt"/>
                          <a:ea typeface="맑은 고딕" panose="020B0503020000020004" pitchFamily="50" charset="-127"/>
                          <a:cs typeface="+mn-cs"/>
                        </a:rPr>
                        <a:t>UC-BD-02-01</a:t>
                      </a:r>
                      <a:endParaRPr lang="ko-KR" altLang="en-US" sz="800" dirty="0">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8861289"/>
                  </a:ext>
                </a:extLst>
              </a:tr>
              <a:tr h="180000">
                <a:tc>
                  <a:txBody>
                    <a:bodyPr/>
                    <a:lstStyle/>
                    <a:p>
                      <a:pPr algn="l" fontAlgn="ct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MUI-BD-04-T79</a:t>
                      </a:r>
                      <a:endParaRPr lang="en-US" sz="8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smtClean="0">
                          <a:solidFill>
                            <a:schemeClr val="tx1"/>
                          </a:solidFill>
                          <a:latin typeface="+mn-ea"/>
                          <a:ea typeface="+mn-ea"/>
                          <a:cs typeface="+mn-cs"/>
                        </a:rPr>
                        <a:t>탭</a:t>
                      </a:r>
                      <a:r>
                        <a:rPr lang="en-US" altLang="ko-KR" sz="800" kern="1200" dirty="0" smtClean="0">
                          <a:solidFill>
                            <a:schemeClr val="tx1"/>
                          </a:solidFill>
                          <a:latin typeface="+mn-ea"/>
                          <a:ea typeface="+mn-ea"/>
                          <a:cs typeface="+mn-cs"/>
                        </a:rPr>
                        <a:t>4-</a:t>
                      </a:r>
                      <a:r>
                        <a:rPr lang="ko-KR" altLang="en-US" sz="800" kern="1200" dirty="0" smtClean="0">
                          <a:solidFill>
                            <a:schemeClr val="tx1"/>
                          </a:solidFill>
                          <a:latin typeface="+mn-ea"/>
                          <a:ea typeface="+mn-ea"/>
                          <a:cs typeface="+mn-cs"/>
                        </a:rPr>
                        <a:t>첨부파일</a:t>
                      </a:r>
                      <a:endParaRPr lang="ko-KR" altLang="en-US" sz="800" kern="1200" dirty="0">
                        <a:solidFill>
                          <a:schemeClr val="tx1"/>
                        </a:solidFill>
                        <a:latin typeface="+mn-ea"/>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smtClean="0">
                          <a:solidFill>
                            <a:schemeClr val="tx1"/>
                          </a:solidFill>
                          <a:effectLst/>
                          <a:latin typeface="+mn-lt"/>
                          <a:ea typeface="+mn-ea"/>
                        </a:rPr>
                        <a:t>ovsBidPrtcpApfrDtlPage_Tab4</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제출한 입찰참가신청서를 조회하는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Tab4</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3202093"/>
                  </a:ext>
                </a:extLst>
              </a:tr>
              <a:tr h="180000">
                <a:tc>
                  <a:txBody>
                    <a:bodyPr/>
                    <a:lstStyle/>
                    <a:p>
                      <a:pPr algn="l" fontAlgn="ct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MUI-BD-04-P82</a:t>
                      </a:r>
                      <a:endParaRPr lang="en-US" sz="800" b="0" i="0" u="none" strike="noStrike" kern="1200" dirty="0">
                        <a:solidFill>
                          <a:srgbClr val="000000"/>
                        </a:solidFill>
                        <a:effectLst/>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입찰참가신청서취소</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ea typeface="+mn-ea"/>
                        </a:rPr>
                        <a:t>OvsBidPrtcpRtrcnAply</a:t>
                      </a:r>
                      <a:endParaRPr lang="ko-KR" altLang="en-US" sz="800" dirty="0">
                        <a:solidFill>
                          <a:schemeClr val="tx1"/>
                        </a:solidFill>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입찰참가신청 취소를 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OvsBidPrtcpRtrcnAply</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rgbClr val="000000"/>
                          </a:solidFill>
                          <a:effectLst/>
                          <a:latin typeface="맑은 고딕" panose="020B0503020000020004" pitchFamily="50" charset="-127"/>
                          <a:ea typeface="+mn-ea"/>
                        </a:rPr>
                        <a:t>UC-BD-02-01</a:t>
                      </a:r>
                      <a:endParaRPr lang="ko-KR" altLang="en-US" sz="800" dirty="0">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8948502"/>
                  </a:ext>
                </a:extLst>
              </a:tr>
              <a:tr h="18000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MUI-BD-04-P83</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kumimoji="0" lang="ko-KR" altLang="en-US" sz="800" b="0" i="0" u="none" strike="noStrike" kern="1200" cap="none" spc="0" normalizeH="0" baseline="0" dirty="0" err="1">
                          <a:ln>
                            <a:noFill/>
                          </a:ln>
                          <a:solidFill>
                            <a:prstClr val="black"/>
                          </a:solidFill>
                          <a:effectLst/>
                          <a:uLnTx/>
                          <a:uFillTx/>
                          <a:latin typeface="맑은 고딕" panose="020B0503020000020004" pitchFamily="50" charset="-127"/>
                          <a:ea typeface="+mn-ea"/>
                          <a:cs typeface="+mn-cs"/>
                        </a:rPr>
                        <a:t>사업별입찰등록결과조회</a:t>
                      </a:r>
                      <a:endParaRPr kumimoji="0" lang="ko-KR" altLang="en-US" sz="800" b="0" i="0" u="none" strike="noStrike" kern="1200" cap="none" spc="0" normalizeH="0" baseline="0" dirty="0">
                        <a:ln>
                          <a:noFill/>
                        </a:ln>
                        <a:solidFill>
                          <a:prstClr val="black"/>
                        </a:solidFill>
                        <a:effectLst/>
                        <a:uLnTx/>
                        <a:uFillTx/>
                        <a:latin typeface="맑은 고딕" panose="020B0503020000020004" pitchFamily="50" charset="-127"/>
                        <a:ea typeface="+mn-ea"/>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err="1">
                          <a:solidFill>
                            <a:schemeClr val="tx1"/>
                          </a:solidFill>
                          <a:effectLst/>
                          <a:latin typeface="+mn-lt"/>
                          <a:ea typeface="+mn-ea"/>
                        </a:rPr>
                        <a:t>OvsBidRegRsltByBiz</a:t>
                      </a:r>
                      <a:endParaRPr lang="en-US" altLang="ko-KR" sz="800" b="0" i="0" u="none" strike="noStrike" dirty="0">
                        <a:solidFill>
                          <a:schemeClr val="tx1"/>
                        </a:solidFill>
                        <a:effectLst/>
                        <a:latin typeface="+mn-lt"/>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입찰등록심사의 결과를 사업별로 조회하는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OvsBidRegRsltByBiz</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737581"/>
                  </a:ext>
                </a:extLst>
              </a:tr>
              <a:tr h="180000">
                <a:tc>
                  <a:txBody>
                    <a:bodyPr/>
                    <a:lstStyle/>
                    <a:p>
                      <a:pPr algn="l" fontAlgn="ctr"/>
                      <a:r>
                        <a:rPr lang="en-US" sz="800" b="0" i="0" u="none" strike="noStrike" kern="1200" dirty="0">
                          <a:solidFill>
                            <a:srgbClr val="000000"/>
                          </a:solidFill>
                          <a:effectLst/>
                          <a:latin typeface="맑은 고딕" panose="020B0503020000020004" pitchFamily="50" charset="-127"/>
                          <a:ea typeface="+mn-ea"/>
                          <a:cs typeface="+mn-cs"/>
                        </a:rPr>
                        <a:t>MUI-BD-06-M71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입찰서제출</a:t>
                      </a:r>
                      <a:endParaRPr lang="en-US" altLang="ko-KR" sz="800" kern="1200" dirty="0">
                        <a:solidFill>
                          <a:schemeClr val="tx1"/>
                        </a:solidFill>
                        <a:latin typeface="+mn-ea"/>
                        <a:ea typeface="+mn-ea"/>
                        <a:cs typeface="+mn-cs"/>
                      </a:endParaRPr>
                    </a:p>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 </a:t>
                      </a:r>
                      <a:r>
                        <a:rPr lang="ko-KR" altLang="en-US" sz="800" kern="1200" dirty="0">
                          <a:solidFill>
                            <a:schemeClr val="tx1"/>
                          </a:solidFill>
                          <a:latin typeface="+mn-ea"/>
                          <a:ea typeface="+mn-ea"/>
                          <a:cs typeface="+mn-cs"/>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OvsTndrSbmsnPage</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OvsTndrSbmsnPage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2072448"/>
                  </a:ext>
                </a:extLst>
              </a:tr>
              <a:tr h="180000">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MUI-BD-06-T71</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스탭</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ovsTndrSbmsnPage_Stp1</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업체담당자가 일반경쟁 공고에 </a:t>
                      </a:r>
                      <a:r>
                        <a:rPr kumimoji="0" lang="ko-KR" altLang="en-US" sz="800" b="0" i="0" u="none" strike="noStrike" kern="1200" cap="none" spc="0" normalizeH="0" baseline="0" noProof="0" dirty="0" err="1" smtClean="0">
                          <a:ln>
                            <a:noFill/>
                          </a:ln>
                          <a:solidFill>
                            <a:srgbClr val="000000"/>
                          </a:solidFill>
                          <a:effectLst/>
                          <a:uLnTx/>
                          <a:uFillTx/>
                          <a:latin typeface="맑은 고딕" panose="020B0503020000020004" pitchFamily="50" charset="-127"/>
                          <a:ea typeface="+mn-ea"/>
                          <a:cs typeface="+mn-cs"/>
                        </a:rPr>
                        <a:t>참가신청한</a:t>
                      </a:r>
                      <a:r>
                        <a:rPr kumimoji="0" lang="ko-KR" altLang="en-US"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 품목을 조회하고 각 품목별로 금액 제출 및 필요한 문서를 제출하는 화면 </a:t>
                      </a:r>
                    </a:p>
                    <a:p>
                      <a:pPr marL="0" marR="0" lvl="0" indent="0" algn="l" defTabSz="914400" rtl="0" eaLnBrk="1" fontAlgn="ctr"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ovsTndrSbmsn</a:t>
                      </a:r>
                      <a:r>
                        <a:rPr lang="en-US" altLang="ko-KR" sz="800" b="0" i="0" u="none" strike="noStrike" dirty="0" smtClean="0">
                          <a:solidFill>
                            <a:schemeClr val="tx1"/>
                          </a:solidFill>
                          <a:effectLst/>
                          <a:latin typeface="맑은 고딕" panose="020B0503020000020004" pitchFamily="50" charset="-127"/>
                          <a:ea typeface="+mn-ea"/>
                        </a:rPr>
                        <a:t>/</a:t>
                      </a:r>
                      <a:r>
                        <a:rPr lang="en-US" altLang="ko-KR" sz="800" dirty="0" err="1" smtClean="0">
                          <a:solidFill>
                            <a:schemeClr val="tx1"/>
                          </a:solidFill>
                          <a:latin typeface="+mn-ea"/>
                          <a:ea typeface="+mn-ea"/>
                        </a:rPr>
                        <a:t>Stp.tsx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UC-BD-04-01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UC-BD-07-01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UC-ZZ-19-03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0468114"/>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MUI-BD-06-T72</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스탭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입찰참여품목</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단가제</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ovsTndrSbmsnPage_Stp2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Stp2.tsx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884160"/>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MUI-BD-06-T73</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스탭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입찰참여품목</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총액제</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ovsTndrSbmsnPage_Stp2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Stp2.tsx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8584678"/>
                  </a:ext>
                </a:extLst>
              </a:tr>
              <a:tr h="180000">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MUI-BD-06-T74</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스탭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첨부파일</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ovsTndrSbmsnPage_Stp3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_Stp3.tsx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2122866"/>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86377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433</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8. </a:t>
            </a:r>
            <a:r>
              <a:rPr lang="ko-KR" altLang="en-US" dirty="0"/>
              <a:t>국외 </a:t>
            </a:r>
            <a:r>
              <a:rPr lang="ko-KR" altLang="en-US" dirty="0" err="1"/>
              <a:t>입찰진행</a:t>
            </a:r>
            <a:endParaRPr lang="en-US" altLang="ko-KR" dirty="0"/>
          </a:p>
          <a:p>
            <a:r>
              <a:rPr lang="en-US" altLang="ko-KR" dirty="0"/>
              <a:t>8.1 </a:t>
            </a:r>
            <a:r>
              <a:rPr lang="ko-KR" altLang="en-US" dirty="0"/>
              <a:t>화면 목록 </a:t>
            </a:r>
            <a:r>
              <a:rPr lang="en-US" altLang="ko-KR" dirty="0"/>
              <a:t>(3/3)</a:t>
            </a:r>
            <a:endParaRPr lang="ko-KR" altLang="en-US" dirty="0"/>
          </a:p>
        </p:txBody>
      </p:sp>
      <p:graphicFrame>
        <p:nvGraphicFramePr>
          <p:cNvPr id="5" name="표 4"/>
          <p:cNvGraphicFramePr>
            <a:graphicFrameLocks noGrp="1"/>
          </p:cNvGraphicFramePr>
          <p:nvPr>
            <p:extLst/>
          </p:nvPr>
        </p:nvGraphicFramePr>
        <p:xfrm>
          <a:off x="635474" y="1413419"/>
          <a:ext cx="8701200" cy="303838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MUI-BD-06-M75</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입찰서상세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ovsTndrDtlPage</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OvsTndrDtlPage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MUI-BD-06-T75</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일반정보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ovsTndrDtlPage_Tab1</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smtClean="0">
                          <a:ln>
                            <a:noFill/>
                          </a:ln>
                          <a:solidFill>
                            <a:srgbClr val="000000"/>
                          </a:solidFill>
                          <a:effectLst/>
                          <a:uLnTx/>
                          <a:uFillTx/>
                          <a:latin typeface="맑은 고딕" panose="020B0503020000020004" pitchFamily="50" charset="-127"/>
                          <a:ea typeface="+mn-ea"/>
                          <a:cs typeface="+mn-cs"/>
                        </a:rPr>
                        <a:t>조달업체가</a:t>
                      </a:r>
                      <a:r>
                        <a:rPr kumimoji="0" lang="ko-KR" altLang="en-US"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 제출한 입찰서를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ovsTndrDtl</a:t>
                      </a:r>
                      <a:r>
                        <a:rPr lang="en-US" altLang="ko-KR" sz="800" b="0" i="0" u="none" strike="noStrike" dirty="0" smtClean="0">
                          <a:solidFill>
                            <a:schemeClr val="tx1"/>
                          </a:solidFill>
                          <a:effectLst/>
                          <a:latin typeface="맑은 고딕" panose="020B0503020000020004" pitchFamily="50" charset="-127"/>
                          <a:ea typeface="+mn-ea"/>
                        </a:rPr>
                        <a:t>/</a:t>
                      </a:r>
                      <a:r>
                        <a:rPr lang="en-US" altLang="ko-KR" sz="800" dirty="0" smtClean="0">
                          <a:solidFill>
                            <a:schemeClr val="tx1"/>
                          </a:solidFill>
                          <a:latin typeface="+mn-ea"/>
                          <a:ea typeface="+mn-ea"/>
                        </a:rPr>
                        <a:t>Tab2.tsx</a:t>
                      </a:r>
                      <a:endParaRPr lang="ko-KR" altLang="en-US" sz="800" dirty="0" smtClean="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7312636"/>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MUI-BD-06-T76</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업체정보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ovsTndrDtlPage_Tab2</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mn-ea"/>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mn-ea"/>
                          <a:cs typeface="+mn-cs"/>
                        </a:rPr>
                        <a:t> 제출한 입찰서를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Tab2.tsx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mn-ea"/>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5233118"/>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MUI-BD-06-T77</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입찰참여품목</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단가제</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ovsTndrDtlPage_Tab3a</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ovsTndrDtl</a:t>
                      </a:r>
                      <a:r>
                        <a:rPr lang="en-US" altLang="ko-KR" sz="800" b="0" i="0" u="none" strike="noStrike" dirty="0" smtClean="0">
                          <a:solidFill>
                            <a:schemeClr val="tx1"/>
                          </a:solidFill>
                          <a:effectLst/>
                          <a:latin typeface="맑은 고딕" panose="020B0503020000020004" pitchFamily="50" charset="-127"/>
                          <a:ea typeface="+mn-ea"/>
                        </a:rPr>
                        <a:t>/</a:t>
                      </a:r>
                      <a:r>
                        <a:rPr lang="en-US" altLang="ko-KR" sz="800" dirty="0" smtClean="0">
                          <a:solidFill>
                            <a:schemeClr val="tx1"/>
                          </a:solidFill>
                          <a:latin typeface="+mn-ea"/>
                          <a:ea typeface="+mn-ea"/>
                        </a:rPr>
                        <a:t>Tab3a.tsx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MUI-BD-06-T78</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입찰참여품목</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총액제</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ovsTndrDtlPage_Tab3b</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ovsTndrDtl</a:t>
                      </a:r>
                      <a:r>
                        <a:rPr lang="en-US" altLang="ko-KR" sz="800" b="0" i="0" u="none" strike="noStrike" dirty="0" smtClean="0">
                          <a:solidFill>
                            <a:schemeClr val="tx1"/>
                          </a:solidFill>
                          <a:effectLst/>
                          <a:latin typeface="맑은 고딕" panose="020B0503020000020004" pitchFamily="50" charset="-127"/>
                          <a:ea typeface="+mn-ea"/>
                        </a:rPr>
                        <a:t>/</a:t>
                      </a:r>
                      <a:r>
                        <a:rPr lang="en-US" altLang="ko-KR" sz="800" dirty="0" smtClean="0">
                          <a:solidFill>
                            <a:schemeClr val="tx1"/>
                          </a:solidFill>
                          <a:latin typeface="+mn-ea"/>
                          <a:ea typeface="+mn-ea"/>
                        </a:rPr>
                        <a:t>Tab3b.tsx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9929360"/>
                  </a:ext>
                </a:extLst>
              </a:tr>
              <a:tr h="180000">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MUI-BD-06-T79</a:t>
                      </a: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탭</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4-</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ovsTndrDtlPage_Tab4</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ovsTndrDtl</a:t>
                      </a:r>
                      <a:r>
                        <a:rPr lang="en-US" altLang="ko-KR" sz="800" b="0" i="0" u="none" strike="noStrike" dirty="0" smtClean="0">
                          <a:solidFill>
                            <a:schemeClr val="tx1"/>
                          </a:solidFill>
                          <a:effectLst/>
                          <a:latin typeface="맑은 고딕" panose="020B0503020000020004" pitchFamily="50" charset="-127"/>
                          <a:ea typeface="+mn-ea"/>
                        </a:rPr>
                        <a:t>/</a:t>
                      </a:r>
                      <a:r>
                        <a:rPr lang="en-US" altLang="ko-KR" sz="800" dirty="0" smtClean="0">
                          <a:solidFill>
                            <a:schemeClr val="tx1"/>
                          </a:solidFill>
                          <a:latin typeface="+mn-ea"/>
                          <a:ea typeface="+mn-ea"/>
                        </a:rPr>
                        <a:t>Tab4.tsx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MUI-BD-06-M80</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입찰등록결과조회</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OvsBidRegRslt</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입찰등록심사의 결과를 조회하는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OvsBidRegRslt</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MUI-BD-06-P81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kumimoji="0" lang="ko-KR" altLang="en-US" sz="800" b="0" i="0" u="none" strike="noStrike" kern="1200" cap="none" spc="0" normalizeH="0" baseline="0" dirty="0">
                          <a:ln>
                            <a:noFill/>
                          </a:ln>
                          <a:solidFill>
                            <a:prstClr val="black"/>
                          </a:solidFill>
                          <a:effectLst/>
                          <a:uLnTx/>
                          <a:uFillTx/>
                          <a:latin typeface="맑은 고딕" panose="020B0503020000020004" pitchFamily="50" charset="-127"/>
                          <a:ea typeface="+mn-ea"/>
                          <a:cs typeface="+mn-cs"/>
                        </a:rPr>
                        <a:t>입찰취소신청서작성</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OvsBidRtrcnAply</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업체담당자가 입찰 취소신청을 하는 화면 </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OvsBidRtrcnAply</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UC-BD-04-01</a:t>
                      </a:r>
                    </a:p>
                    <a:p>
                      <a:pPr algn="l" fontAlgn="ctr"/>
                      <a:r>
                        <a:rPr lang="en-US" altLang="ko-KR" sz="800" dirty="0">
                          <a:latin typeface="+mn-ea"/>
                          <a:ea typeface="+mn-ea"/>
                        </a:rPr>
                        <a:t>UC-BD-07-01</a:t>
                      </a:r>
                      <a:endParaRPr lang="en-US" altLang="ko-KR" sz="800" b="0" i="0" u="none" strike="noStrike" dirty="0">
                        <a:solidFill>
                          <a:srgbClr val="000000"/>
                        </a:solidFill>
                        <a:effectLst/>
                        <a:latin typeface="맑은 고딕" panose="020B0503020000020004" pitchFamily="50" charset="-127"/>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MUI-BD-07-P71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kumimoji="0" lang="ko-KR" altLang="en-US" sz="800" b="0" i="0" u="none" strike="noStrike" kern="1200" cap="none" spc="0" normalizeH="0" baseline="0" dirty="0">
                          <a:ln>
                            <a:noFill/>
                          </a:ln>
                          <a:solidFill>
                            <a:prstClr val="black"/>
                          </a:solidFill>
                          <a:effectLst/>
                          <a:uLnTx/>
                          <a:uFillTx/>
                          <a:latin typeface="맑은 고딕" panose="020B0503020000020004" pitchFamily="50" charset="-127"/>
                          <a:ea typeface="+mn-ea"/>
                          <a:cs typeface="+mn-cs"/>
                        </a:rPr>
                        <a:t>기술평가결과조회</a:t>
                      </a: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OvsTechEvlRslt</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기술평가 점수 및 결과를 조회하는 화면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OvsTechEvlRslt</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UC-BD-09-03</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614496"/>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233813519"/>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434</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8.2. </a:t>
            </a:r>
            <a:r>
              <a:rPr lang="ko-KR" altLang="en-US" dirty="0"/>
              <a:t>화면 흐름도</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79580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00266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193379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a:t>
            </a:r>
          </a:p>
          <a:p>
            <a:pPr algn="ctr"/>
            <a:r>
              <a:rPr lang="ko-KR" altLang="en-US" sz="800" dirty="0" err="1">
                <a:solidFill>
                  <a:schemeClr val="tx1"/>
                </a:solidFill>
              </a:rPr>
              <a:t>통합목록</a:t>
            </a:r>
            <a:endParaRPr lang="ko-KR" altLang="en-US" sz="800" dirty="0">
              <a:solidFill>
                <a:schemeClr val="tx1"/>
              </a:solidFill>
            </a:endParaRP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1933798" y="2923907"/>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입찰진행</a:t>
            </a:r>
            <a:r>
              <a:rPr lang="ko-KR" altLang="en-US" sz="800" dirty="0">
                <a:solidFill>
                  <a:schemeClr val="tx1"/>
                </a:solidFill>
              </a:rPr>
              <a:t> 목록</a:t>
            </a: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3"/>
            <a:endCxn id="52" idx="1"/>
          </p:cNvCxnSpPr>
          <p:nvPr/>
        </p:nvCxnSpPr>
        <p:spPr>
          <a:xfrm>
            <a:off x="2833798" y="1772964"/>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75877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7424124" y="356973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입찰서제출</a:t>
            </a:r>
            <a:endParaRPr lang="ko-KR" altLang="en-US" sz="800" dirty="0">
              <a:solidFill>
                <a:schemeClr val="tx1"/>
              </a:solidFill>
            </a:endParaRPr>
          </a:p>
        </p:txBody>
      </p:sp>
      <p:sp>
        <p:nvSpPr>
          <p:cNvPr id="52" name="사각형: 둥근 모서리 5">
            <a:extLst>
              <a:ext uri="{FF2B5EF4-FFF2-40B4-BE49-F238E27FC236}">
                <a16:creationId xmlns:a16="http://schemas.microsoft.com/office/drawing/2014/main" id="{410E5459-200D-7630-863C-88E5109259DF}"/>
              </a:ext>
            </a:extLst>
          </p:cNvPr>
          <p:cNvSpPr/>
          <p:nvPr/>
        </p:nvSpPr>
        <p:spPr>
          <a:xfrm>
            <a:off x="3760689"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입찰공고상세</a:t>
            </a:r>
          </a:p>
        </p:txBody>
      </p:sp>
      <p:sp>
        <p:nvSpPr>
          <p:cNvPr id="53" name="사각형: 둥근 모서리 5">
            <a:extLst>
              <a:ext uri="{FF2B5EF4-FFF2-40B4-BE49-F238E27FC236}">
                <a16:creationId xmlns:a16="http://schemas.microsoft.com/office/drawing/2014/main" id="{410E5459-200D-7630-863C-88E5109259DF}"/>
              </a:ext>
            </a:extLst>
          </p:cNvPr>
          <p:cNvSpPr/>
          <p:nvPr/>
        </p:nvSpPr>
        <p:spPr>
          <a:xfrm>
            <a:off x="5587580"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 상세</a:t>
            </a:r>
          </a:p>
        </p:txBody>
      </p:sp>
      <p:cxnSp>
        <p:nvCxnSpPr>
          <p:cNvPr id="63" name="직선 화살표 연결선 62">
            <a:extLst>
              <a:ext uri="{FF2B5EF4-FFF2-40B4-BE49-F238E27FC236}">
                <a16:creationId xmlns:a16="http://schemas.microsoft.com/office/drawing/2014/main" id="{9A519F08-B829-E35F-09D8-DFCD1F68B911}"/>
              </a:ext>
            </a:extLst>
          </p:cNvPr>
          <p:cNvCxnSpPr>
            <a:cxnSpLocks/>
            <a:stCxn id="59" idx="3"/>
            <a:endCxn id="53" idx="1"/>
          </p:cNvCxnSpPr>
          <p:nvPr/>
        </p:nvCxnSpPr>
        <p:spPr>
          <a:xfrm>
            <a:off x="4660689" y="3067907"/>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8" name="직사각형 77">
            <a:extLst>
              <a:ext uri="{FF2B5EF4-FFF2-40B4-BE49-F238E27FC236}">
                <a16:creationId xmlns:a16="http://schemas.microsoft.com/office/drawing/2014/main" id="{4FB9FCCA-B5F3-C0E2-F563-4F0CE0FC24CF}"/>
              </a:ext>
            </a:extLst>
          </p:cNvPr>
          <p:cNvSpPr/>
          <p:nvPr/>
        </p:nvSpPr>
        <p:spPr>
          <a:xfrm>
            <a:off x="8972931" y="3824888"/>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9001928" y="3623734"/>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0" name="사각형: 둥근 모서리 5">
            <a:extLst>
              <a:ext uri="{FF2B5EF4-FFF2-40B4-BE49-F238E27FC236}">
                <a16:creationId xmlns:a16="http://schemas.microsoft.com/office/drawing/2014/main" id="{410E5459-200D-7630-863C-88E5109259DF}"/>
              </a:ext>
            </a:extLst>
          </p:cNvPr>
          <p:cNvSpPr/>
          <p:nvPr/>
        </p:nvSpPr>
        <p:spPr>
          <a:xfrm>
            <a:off x="7424124" y="485958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rgbClr val="000000"/>
                </a:solidFill>
                <a:latin typeface="+mn-ea"/>
              </a:rPr>
              <a:t>입찰등록결과</a:t>
            </a:r>
            <a:endParaRPr lang="en-US" altLang="ko-KR" sz="800" dirty="0">
              <a:solidFill>
                <a:srgbClr val="000000"/>
              </a:solidFill>
              <a:latin typeface="+mn-ea"/>
            </a:endParaRPr>
          </a:p>
          <a:p>
            <a:pPr algn="ctr"/>
            <a:r>
              <a:rPr lang="ko-KR" altLang="en-US" sz="800" dirty="0">
                <a:solidFill>
                  <a:srgbClr val="000000"/>
                </a:solidFill>
                <a:latin typeface="+mn-ea"/>
              </a:rPr>
              <a:t>조회</a:t>
            </a:r>
            <a:endParaRPr lang="ko-KR" altLang="en-US" sz="800" dirty="0">
              <a:solidFill>
                <a:schemeClr val="tx1"/>
              </a:solidFill>
            </a:endParaRPr>
          </a:p>
        </p:txBody>
      </p:sp>
      <p:sp>
        <p:nvSpPr>
          <p:cNvPr id="93" name="사각형: 둥근 모서리 5">
            <a:extLst>
              <a:ext uri="{FF2B5EF4-FFF2-40B4-BE49-F238E27FC236}">
                <a16:creationId xmlns:a16="http://schemas.microsoft.com/office/drawing/2014/main" id="{410E5459-200D-7630-863C-88E5109259DF}"/>
              </a:ext>
            </a:extLst>
          </p:cNvPr>
          <p:cNvSpPr/>
          <p:nvPr/>
        </p:nvSpPr>
        <p:spPr>
          <a:xfrm>
            <a:off x="7424124"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입찰참가신청서취소</a:t>
            </a:r>
          </a:p>
        </p:txBody>
      </p:sp>
      <p:cxnSp>
        <p:nvCxnSpPr>
          <p:cNvPr id="55" name="연결선: 꺾임 7">
            <a:extLst>
              <a:ext uri="{FF2B5EF4-FFF2-40B4-BE49-F238E27FC236}">
                <a16:creationId xmlns:a16="http://schemas.microsoft.com/office/drawing/2014/main" id="{89A2D828-4C18-4F90-6B31-722E89773AA8}"/>
              </a:ext>
            </a:extLst>
          </p:cNvPr>
          <p:cNvCxnSpPr>
            <a:cxnSpLocks/>
            <a:stCxn id="9" idx="6"/>
            <a:endCxn id="77" idx="1"/>
          </p:cNvCxnSpPr>
          <p:nvPr/>
        </p:nvCxnSpPr>
        <p:spPr>
          <a:xfrm>
            <a:off x="1002664" y="1772964"/>
            <a:ext cx="931134" cy="1294943"/>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직선 화살표 연결선 71">
            <a:extLst>
              <a:ext uri="{FF2B5EF4-FFF2-40B4-BE49-F238E27FC236}">
                <a16:creationId xmlns:a16="http://schemas.microsoft.com/office/drawing/2014/main" id="{9A519F08-B829-E35F-09D8-DFCD1F68B911}"/>
              </a:ext>
            </a:extLst>
          </p:cNvPr>
          <p:cNvCxnSpPr>
            <a:cxnSpLocks/>
            <a:stCxn id="53" idx="3"/>
            <a:endCxn id="93" idx="1"/>
          </p:cNvCxnSpPr>
          <p:nvPr/>
        </p:nvCxnSpPr>
        <p:spPr>
          <a:xfrm>
            <a:off x="6487580" y="3067907"/>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연결선: 꺾임 7">
            <a:extLst>
              <a:ext uri="{FF2B5EF4-FFF2-40B4-BE49-F238E27FC236}">
                <a16:creationId xmlns:a16="http://schemas.microsoft.com/office/drawing/2014/main" id="{89A2D828-4C18-4F90-6B31-722E89773AA8}"/>
              </a:ext>
            </a:extLst>
          </p:cNvPr>
          <p:cNvCxnSpPr>
            <a:cxnSpLocks/>
            <a:stCxn id="60" idx="3"/>
            <a:endCxn id="80" idx="0"/>
          </p:cNvCxnSpPr>
          <p:nvPr/>
        </p:nvCxnSpPr>
        <p:spPr>
          <a:xfrm>
            <a:off x="6497233" y="1772964"/>
            <a:ext cx="2594695" cy="185077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 name="사각형: 둥근 모서리 5">
            <a:extLst>
              <a:ext uri="{FF2B5EF4-FFF2-40B4-BE49-F238E27FC236}">
                <a16:creationId xmlns:a16="http://schemas.microsoft.com/office/drawing/2014/main" id="{410E5459-200D-7630-863C-88E5109259DF}"/>
              </a:ext>
            </a:extLst>
          </p:cNvPr>
          <p:cNvSpPr/>
          <p:nvPr/>
        </p:nvSpPr>
        <p:spPr>
          <a:xfrm>
            <a:off x="5597233"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입찰참가신청서작성</a:t>
            </a:r>
            <a:endParaRPr lang="ko-KR" altLang="en-US" sz="800" dirty="0">
              <a:solidFill>
                <a:schemeClr val="tx1"/>
              </a:solidFill>
            </a:endParaRPr>
          </a:p>
        </p:txBody>
      </p:sp>
      <p:sp>
        <p:nvSpPr>
          <p:cNvPr id="88" name="직사각형 87">
            <a:extLst>
              <a:ext uri="{FF2B5EF4-FFF2-40B4-BE49-F238E27FC236}">
                <a16:creationId xmlns:a16="http://schemas.microsoft.com/office/drawing/2014/main" id="{F249990F-1DE5-C694-BDBD-2DE7009D57EA}"/>
              </a:ext>
            </a:extLst>
          </p:cNvPr>
          <p:cNvSpPr/>
          <p:nvPr/>
        </p:nvSpPr>
        <p:spPr>
          <a:xfrm>
            <a:off x="5597233" y="1918133"/>
            <a:ext cx="963405" cy="86177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서약서동의</a:t>
            </a:r>
            <a:r>
              <a:rPr lang="ko-KR" altLang="en-US" sz="800" dirty="0">
                <a:solidFill>
                  <a:schemeClr val="tx1"/>
                </a:solidFill>
              </a:rPr>
              <a:t> 목록</a:t>
            </a:r>
            <a:endParaRPr lang="en-US" altLang="ko-KR" sz="800" dirty="0">
              <a:solidFill>
                <a:schemeClr val="tx1"/>
              </a:solidFill>
            </a:endParaRPr>
          </a:p>
          <a:p>
            <a:r>
              <a:rPr lang="ko-KR" altLang="en-US" sz="800" dirty="0">
                <a:solidFill>
                  <a:schemeClr val="tx1"/>
                </a:solidFill>
              </a:rPr>
              <a:t>서약서 상세</a:t>
            </a:r>
          </a:p>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1 - </a:t>
            </a:r>
            <a:r>
              <a:rPr lang="ko-KR" altLang="en-US" sz="800" dirty="0">
                <a:solidFill>
                  <a:schemeClr val="tx1"/>
                </a:solidFill>
              </a:rPr>
              <a:t>일반정보</a:t>
            </a:r>
          </a:p>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2 – </a:t>
            </a:r>
            <a:r>
              <a:rPr lang="ko-KR" altLang="en-US" sz="800" dirty="0">
                <a:solidFill>
                  <a:schemeClr val="tx1"/>
                </a:solidFill>
              </a:rPr>
              <a:t>업체정보</a:t>
            </a: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3 - </a:t>
            </a:r>
            <a:r>
              <a:rPr lang="ko-KR" altLang="en-US" sz="800" dirty="0">
                <a:solidFill>
                  <a:schemeClr val="tx1"/>
                </a:solidFill>
                <a:latin typeface="+mn-ea"/>
              </a:rPr>
              <a:t>입찰 보증금</a:t>
            </a:r>
            <a:endParaRPr lang="en-US" altLang="ko-KR" sz="800" dirty="0">
              <a:solidFill>
                <a:schemeClr val="tx1"/>
              </a:solidFill>
              <a:latin typeface="+mn-ea"/>
            </a:endParaRP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4 – </a:t>
            </a:r>
            <a:r>
              <a:rPr lang="ko-KR" altLang="en-US" sz="800" dirty="0">
                <a:solidFill>
                  <a:schemeClr val="tx1"/>
                </a:solidFill>
                <a:latin typeface="+mn-ea"/>
              </a:rPr>
              <a:t>첨부파일</a:t>
            </a:r>
            <a:endParaRPr lang="en-US" altLang="ko-KR" sz="800" dirty="0">
              <a:solidFill>
                <a:schemeClr val="tx1"/>
              </a:solidFill>
              <a:latin typeface="+mn-ea"/>
            </a:endParaRPr>
          </a:p>
          <a:p>
            <a:r>
              <a:rPr lang="ko-KR" altLang="en-US" sz="800" dirty="0">
                <a:solidFill>
                  <a:schemeClr val="tx1"/>
                </a:solidFill>
                <a:latin typeface="+mn-ea"/>
              </a:rPr>
              <a:t>신청 완료</a:t>
            </a:r>
          </a:p>
        </p:txBody>
      </p:sp>
      <p:sp>
        <p:nvSpPr>
          <p:cNvPr id="90" name="직사각형 89">
            <a:extLst>
              <a:ext uri="{FF2B5EF4-FFF2-40B4-BE49-F238E27FC236}">
                <a16:creationId xmlns:a16="http://schemas.microsoft.com/office/drawing/2014/main" id="{F249990F-1DE5-C694-BDBD-2DE7009D57EA}"/>
              </a:ext>
            </a:extLst>
          </p:cNvPr>
          <p:cNvSpPr/>
          <p:nvPr/>
        </p:nvSpPr>
        <p:spPr>
          <a:xfrm>
            <a:off x="5587580" y="3211907"/>
            <a:ext cx="860813" cy="4924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탭 </a:t>
            </a:r>
            <a:r>
              <a:rPr lang="en-US" altLang="ko-KR" sz="800" dirty="0">
                <a:solidFill>
                  <a:schemeClr val="tx1"/>
                </a:solidFill>
              </a:rPr>
              <a:t>1 - </a:t>
            </a:r>
            <a:r>
              <a:rPr lang="ko-KR" altLang="en-US" sz="800" dirty="0">
                <a:solidFill>
                  <a:schemeClr val="tx1"/>
                </a:solidFill>
              </a:rPr>
              <a:t>일반정보</a:t>
            </a:r>
          </a:p>
          <a:p>
            <a:r>
              <a:rPr lang="ko-KR" altLang="en-US" sz="800" dirty="0">
                <a:solidFill>
                  <a:schemeClr val="tx1"/>
                </a:solidFill>
              </a:rPr>
              <a:t>탭 </a:t>
            </a:r>
            <a:r>
              <a:rPr lang="en-US" altLang="ko-KR" sz="800" dirty="0">
                <a:solidFill>
                  <a:schemeClr val="tx1"/>
                </a:solidFill>
              </a:rPr>
              <a:t>2 – </a:t>
            </a:r>
            <a:r>
              <a:rPr lang="ko-KR" altLang="en-US" sz="800" dirty="0">
                <a:solidFill>
                  <a:schemeClr val="tx1"/>
                </a:solidFill>
              </a:rPr>
              <a:t>업체정보</a:t>
            </a:r>
          </a:p>
          <a:p>
            <a:r>
              <a:rPr lang="ko-KR" altLang="en-US" sz="800" dirty="0">
                <a:solidFill>
                  <a:schemeClr val="tx1"/>
                </a:solidFill>
                <a:latin typeface="+mn-ea"/>
              </a:rPr>
              <a:t>탭 </a:t>
            </a:r>
            <a:r>
              <a:rPr lang="en-US" altLang="ko-KR" sz="800" dirty="0">
                <a:solidFill>
                  <a:schemeClr val="tx1"/>
                </a:solidFill>
                <a:latin typeface="+mn-ea"/>
              </a:rPr>
              <a:t>3 - </a:t>
            </a:r>
            <a:r>
              <a:rPr lang="ko-KR" altLang="en-US" sz="800" dirty="0">
                <a:solidFill>
                  <a:schemeClr val="tx1"/>
                </a:solidFill>
                <a:latin typeface="+mn-ea"/>
              </a:rPr>
              <a:t>입찰 보증금</a:t>
            </a:r>
            <a:endParaRPr lang="en-US" altLang="ko-KR" sz="800" dirty="0">
              <a:solidFill>
                <a:schemeClr val="tx1"/>
              </a:solidFill>
              <a:latin typeface="+mn-ea"/>
            </a:endParaRPr>
          </a:p>
          <a:p>
            <a:r>
              <a:rPr lang="ko-KR" altLang="en-US" sz="800" dirty="0">
                <a:solidFill>
                  <a:schemeClr val="tx1"/>
                </a:solidFill>
                <a:latin typeface="+mn-ea"/>
              </a:rPr>
              <a:t>탭 </a:t>
            </a:r>
            <a:r>
              <a:rPr lang="en-US" altLang="ko-KR" sz="800" dirty="0">
                <a:solidFill>
                  <a:schemeClr val="tx1"/>
                </a:solidFill>
                <a:latin typeface="+mn-ea"/>
              </a:rPr>
              <a:t>4 - </a:t>
            </a:r>
            <a:r>
              <a:rPr lang="ko-KR" altLang="en-US" sz="800" dirty="0">
                <a:solidFill>
                  <a:schemeClr val="tx1"/>
                </a:solidFill>
                <a:latin typeface="+mn-ea"/>
              </a:rPr>
              <a:t>첨부파일</a:t>
            </a:r>
          </a:p>
        </p:txBody>
      </p:sp>
      <p:sp>
        <p:nvSpPr>
          <p:cNvPr id="91" name="직사각형 90">
            <a:extLst>
              <a:ext uri="{FF2B5EF4-FFF2-40B4-BE49-F238E27FC236}">
                <a16:creationId xmlns:a16="http://schemas.microsoft.com/office/drawing/2014/main" id="{F249990F-1DE5-C694-BDBD-2DE7009D57EA}"/>
              </a:ext>
            </a:extLst>
          </p:cNvPr>
          <p:cNvSpPr/>
          <p:nvPr/>
        </p:nvSpPr>
        <p:spPr>
          <a:xfrm>
            <a:off x="4803764" y="1599670"/>
            <a:ext cx="61555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latin typeface="+mn-ea"/>
              </a:rPr>
              <a:t>입찰참가신청</a:t>
            </a:r>
          </a:p>
        </p:txBody>
      </p:sp>
      <p:sp>
        <p:nvSpPr>
          <p:cNvPr id="95" name="사각형: 둥근 모서리 5">
            <a:extLst>
              <a:ext uri="{FF2B5EF4-FFF2-40B4-BE49-F238E27FC236}">
                <a16:creationId xmlns:a16="http://schemas.microsoft.com/office/drawing/2014/main" id="{410E5459-200D-7630-863C-88E5109259DF}"/>
              </a:ext>
            </a:extLst>
          </p:cNvPr>
          <p:cNvSpPr/>
          <p:nvPr/>
        </p:nvSpPr>
        <p:spPr>
          <a:xfrm>
            <a:off x="7433777"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입찰보증서선택</a:t>
            </a:r>
            <a:endParaRPr lang="en-US" altLang="ko-KR" sz="800" dirty="0">
              <a:solidFill>
                <a:schemeClr val="tx1"/>
              </a:solidFill>
              <a:latin typeface="+mn-ea"/>
            </a:endParaRPr>
          </a:p>
          <a:p>
            <a:pPr algn="ctr"/>
            <a:r>
              <a:rPr lang="ko-KR" altLang="en-US" sz="800" dirty="0">
                <a:solidFill>
                  <a:schemeClr val="tx1"/>
                </a:solidFill>
                <a:latin typeface="+mn-ea"/>
              </a:rPr>
              <a:t>보증서정보조회</a:t>
            </a:r>
            <a:endParaRPr lang="ko-KR" altLang="en-US" sz="800" dirty="0">
              <a:solidFill>
                <a:schemeClr val="tx1"/>
              </a:solidFill>
            </a:endParaRPr>
          </a:p>
        </p:txBody>
      </p:sp>
      <p:cxnSp>
        <p:nvCxnSpPr>
          <p:cNvPr id="96" name="직선 화살표 연결선 95">
            <a:extLst>
              <a:ext uri="{FF2B5EF4-FFF2-40B4-BE49-F238E27FC236}">
                <a16:creationId xmlns:a16="http://schemas.microsoft.com/office/drawing/2014/main" id="{9A519F08-B829-E35F-09D8-DFCD1F68B911}"/>
              </a:ext>
            </a:extLst>
          </p:cNvPr>
          <p:cNvCxnSpPr>
            <a:cxnSpLocks/>
          </p:cNvCxnSpPr>
          <p:nvPr/>
        </p:nvCxnSpPr>
        <p:spPr>
          <a:xfrm>
            <a:off x="6497233" y="1699143"/>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7" name="사각형: 둥근 모서리 5">
            <a:extLst>
              <a:ext uri="{FF2B5EF4-FFF2-40B4-BE49-F238E27FC236}">
                <a16:creationId xmlns:a16="http://schemas.microsoft.com/office/drawing/2014/main" id="{410E5459-200D-7630-863C-88E5109259DF}"/>
              </a:ext>
            </a:extLst>
          </p:cNvPr>
          <p:cNvSpPr/>
          <p:nvPr/>
        </p:nvSpPr>
        <p:spPr>
          <a:xfrm>
            <a:off x="3760689" y="2276436"/>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입찰내역</a:t>
            </a:r>
            <a:r>
              <a:rPr lang="ko-KR" altLang="en-US" sz="800" dirty="0">
                <a:solidFill>
                  <a:schemeClr val="tx1"/>
                </a:solidFill>
                <a:latin typeface="+mn-ea"/>
              </a:rPr>
              <a:t> 작성</a:t>
            </a:r>
          </a:p>
        </p:txBody>
      </p:sp>
      <p:cxnSp>
        <p:nvCxnSpPr>
          <p:cNvPr id="98" name="연결선: 꺾임 7">
            <a:extLst>
              <a:ext uri="{FF2B5EF4-FFF2-40B4-BE49-F238E27FC236}">
                <a16:creationId xmlns:a16="http://schemas.microsoft.com/office/drawing/2014/main" id="{89A2D828-4C18-4F90-6B31-722E89773AA8}"/>
              </a:ext>
            </a:extLst>
          </p:cNvPr>
          <p:cNvCxnSpPr>
            <a:cxnSpLocks/>
            <a:stCxn id="97" idx="3"/>
            <a:endCxn id="60" idx="1"/>
          </p:cNvCxnSpPr>
          <p:nvPr/>
        </p:nvCxnSpPr>
        <p:spPr>
          <a:xfrm flipV="1">
            <a:off x="4660689" y="1772964"/>
            <a:ext cx="936544" cy="64747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사각형: 둥근 모서리 5">
            <a:extLst>
              <a:ext uri="{FF2B5EF4-FFF2-40B4-BE49-F238E27FC236}">
                <a16:creationId xmlns:a16="http://schemas.microsoft.com/office/drawing/2014/main" id="{410E5459-200D-7630-863C-88E5109259DF}"/>
              </a:ext>
            </a:extLst>
          </p:cNvPr>
          <p:cNvSpPr/>
          <p:nvPr/>
        </p:nvSpPr>
        <p:spPr>
          <a:xfrm>
            <a:off x="1933798" y="2276436"/>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마이페이지</a:t>
            </a:r>
            <a:endParaRPr lang="en-US" altLang="ko-KR" sz="800" dirty="0">
              <a:solidFill>
                <a:schemeClr val="tx1"/>
              </a:solidFill>
            </a:endParaRPr>
          </a:p>
          <a:p>
            <a:pPr algn="ctr"/>
            <a:r>
              <a:rPr lang="ko-KR" altLang="en-US" sz="800" dirty="0">
                <a:solidFill>
                  <a:schemeClr val="tx1"/>
                </a:solidFill>
              </a:rPr>
              <a:t>보관함</a:t>
            </a:r>
          </a:p>
        </p:txBody>
      </p:sp>
      <p:cxnSp>
        <p:nvCxnSpPr>
          <p:cNvPr id="100" name="연결선: 꺾임 7">
            <a:extLst>
              <a:ext uri="{FF2B5EF4-FFF2-40B4-BE49-F238E27FC236}">
                <a16:creationId xmlns:a16="http://schemas.microsoft.com/office/drawing/2014/main" id="{89A2D828-4C18-4F90-6B31-722E89773AA8}"/>
              </a:ext>
            </a:extLst>
          </p:cNvPr>
          <p:cNvCxnSpPr>
            <a:cxnSpLocks/>
            <a:stCxn id="52" idx="2"/>
            <a:endCxn id="99" idx="0"/>
          </p:cNvCxnSpPr>
          <p:nvPr/>
        </p:nvCxnSpPr>
        <p:spPr>
          <a:xfrm rot="5400000">
            <a:off x="3117508" y="1183255"/>
            <a:ext cx="359472" cy="182689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직선 화살표 연결선 100">
            <a:extLst>
              <a:ext uri="{FF2B5EF4-FFF2-40B4-BE49-F238E27FC236}">
                <a16:creationId xmlns:a16="http://schemas.microsoft.com/office/drawing/2014/main" id="{9A519F08-B829-E35F-09D8-DFCD1F68B911}"/>
              </a:ext>
            </a:extLst>
          </p:cNvPr>
          <p:cNvCxnSpPr>
            <a:cxnSpLocks/>
            <a:stCxn id="99" idx="3"/>
            <a:endCxn id="97" idx="1"/>
          </p:cNvCxnSpPr>
          <p:nvPr/>
        </p:nvCxnSpPr>
        <p:spPr>
          <a:xfrm>
            <a:off x="2833798" y="2420436"/>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연결선: 꺾임 7">
            <a:extLst>
              <a:ext uri="{FF2B5EF4-FFF2-40B4-BE49-F238E27FC236}">
                <a16:creationId xmlns:a16="http://schemas.microsoft.com/office/drawing/2014/main" id="{89A2D828-4C18-4F90-6B31-722E89773AA8}"/>
              </a:ext>
            </a:extLst>
          </p:cNvPr>
          <p:cNvCxnSpPr>
            <a:cxnSpLocks/>
            <a:stCxn id="9" idx="6"/>
            <a:endCxn id="99" idx="1"/>
          </p:cNvCxnSpPr>
          <p:nvPr/>
        </p:nvCxnSpPr>
        <p:spPr>
          <a:xfrm>
            <a:off x="1002664" y="1772964"/>
            <a:ext cx="931134" cy="64747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4" name="사각형: 둥근 모서리 5">
            <a:extLst>
              <a:ext uri="{FF2B5EF4-FFF2-40B4-BE49-F238E27FC236}">
                <a16:creationId xmlns:a16="http://schemas.microsoft.com/office/drawing/2014/main" id="{410E5459-200D-7630-863C-88E5109259DF}"/>
              </a:ext>
            </a:extLst>
          </p:cNvPr>
          <p:cNvSpPr/>
          <p:nvPr/>
        </p:nvSpPr>
        <p:spPr>
          <a:xfrm>
            <a:off x="5587580" y="485958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입찰서 상세</a:t>
            </a:r>
          </a:p>
        </p:txBody>
      </p:sp>
      <p:cxnSp>
        <p:nvCxnSpPr>
          <p:cNvPr id="105" name="연결선: 꺾임 7">
            <a:extLst>
              <a:ext uri="{FF2B5EF4-FFF2-40B4-BE49-F238E27FC236}">
                <a16:creationId xmlns:a16="http://schemas.microsoft.com/office/drawing/2014/main" id="{89A2D828-4C18-4F90-6B31-722E89773AA8}"/>
              </a:ext>
            </a:extLst>
          </p:cNvPr>
          <p:cNvCxnSpPr>
            <a:cxnSpLocks/>
            <a:stCxn id="59" idx="3"/>
            <a:endCxn id="104" idx="1"/>
          </p:cNvCxnSpPr>
          <p:nvPr/>
        </p:nvCxnSpPr>
        <p:spPr>
          <a:xfrm>
            <a:off x="4660689" y="3067907"/>
            <a:ext cx="926891" cy="193568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6" name="직사각형 105">
            <a:extLst>
              <a:ext uri="{FF2B5EF4-FFF2-40B4-BE49-F238E27FC236}">
                <a16:creationId xmlns:a16="http://schemas.microsoft.com/office/drawing/2014/main" id="{F249990F-1DE5-C694-BDBD-2DE7009D57EA}"/>
              </a:ext>
            </a:extLst>
          </p:cNvPr>
          <p:cNvSpPr/>
          <p:nvPr/>
        </p:nvSpPr>
        <p:spPr>
          <a:xfrm>
            <a:off x="5587580" y="5176062"/>
            <a:ext cx="1346522" cy="6155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탭 </a:t>
            </a:r>
            <a:r>
              <a:rPr lang="en-US" altLang="ko-KR" sz="800" dirty="0">
                <a:solidFill>
                  <a:schemeClr val="tx1"/>
                </a:solidFill>
              </a:rPr>
              <a:t>1 – </a:t>
            </a:r>
            <a:r>
              <a:rPr lang="ko-KR" altLang="en-US" sz="800" dirty="0">
                <a:solidFill>
                  <a:schemeClr val="tx1"/>
                </a:solidFill>
              </a:rPr>
              <a:t>일반정보</a:t>
            </a:r>
            <a:endParaRPr lang="en-US" altLang="ko-KR" sz="800" dirty="0">
              <a:solidFill>
                <a:schemeClr val="tx1"/>
              </a:solidFill>
            </a:endParaRPr>
          </a:p>
          <a:p>
            <a:r>
              <a:rPr lang="ko-KR" altLang="en-US" sz="800" dirty="0">
                <a:solidFill>
                  <a:schemeClr val="tx1"/>
                </a:solidFill>
              </a:rPr>
              <a:t>탭 </a:t>
            </a:r>
            <a:r>
              <a:rPr lang="en-US" altLang="ko-KR" sz="800" dirty="0">
                <a:solidFill>
                  <a:schemeClr val="tx1"/>
                </a:solidFill>
              </a:rPr>
              <a:t>2 – </a:t>
            </a:r>
            <a:r>
              <a:rPr lang="ko-KR" altLang="en-US" sz="800" dirty="0">
                <a:solidFill>
                  <a:schemeClr val="tx1"/>
                </a:solidFill>
              </a:rPr>
              <a:t>업체정보</a:t>
            </a:r>
          </a:p>
          <a:p>
            <a:pPr lvl="0"/>
            <a:r>
              <a:rPr lang="ko-KR" altLang="en-US" sz="800" dirty="0">
                <a:solidFill>
                  <a:schemeClr val="tx1"/>
                </a:solidFill>
              </a:rPr>
              <a:t>탭 </a:t>
            </a:r>
            <a:r>
              <a:rPr lang="en-US" altLang="ko-KR" sz="800" dirty="0">
                <a:solidFill>
                  <a:schemeClr val="tx1"/>
                </a:solidFill>
              </a:rPr>
              <a:t>3 – </a:t>
            </a:r>
            <a:r>
              <a:rPr lang="ko-KR" altLang="en-US" sz="800" dirty="0">
                <a:solidFill>
                  <a:prstClr val="black"/>
                </a:solidFill>
                <a:latin typeface="맑은 고딕" panose="020B0503020000020004" pitchFamily="50" charset="-127"/>
              </a:rPr>
              <a:t>입찰참여품목 </a:t>
            </a:r>
            <a:r>
              <a:rPr lang="en-US" altLang="ko-KR" sz="800" dirty="0">
                <a:solidFill>
                  <a:prstClr val="black"/>
                </a:solidFill>
                <a:latin typeface="맑은 고딕" panose="020B0503020000020004" pitchFamily="50" charset="-127"/>
              </a:rPr>
              <a:t>(</a:t>
            </a:r>
            <a:r>
              <a:rPr lang="ko-KR" altLang="en-US" sz="800" dirty="0" err="1">
                <a:solidFill>
                  <a:prstClr val="black"/>
                </a:solidFill>
                <a:latin typeface="맑은 고딕" panose="020B0503020000020004" pitchFamily="50" charset="-127"/>
              </a:rPr>
              <a:t>단가제</a:t>
            </a:r>
            <a:r>
              <a:rPr lang="en-US" altLang="ko-KR" sz="800" dirty="0">
                <a:solidFill>
                  <a:prstClr val="black"/>
                </a:solidFill>
                <a:latin typeface="맑은 고딕" panose="020B0503020000020004" pitchFamily="50" charset="-127"/>
              </a:rPr>
              <a:t>)</a:t>
            </a:r>
            <a:endParaRPr lang="ko-KR" altLang="en-US" sz="800" dirty="0">
              <a:solidFill>
                <a:schemeClr val="tx1"/>
              </a:solidFill>
            </a:endParaRPr>
          </a:p>
          <a:p>
            <a:r>
              <a:rPr lang="ko-KR" altLang="en-US" sz="800" dirty="0">
                <a:solidFill>
                  <a:schemeClr val="tx1"/>
                </a:solidFill>
                <a:latin typeface="+mn-ea"/>
              </a:rPr>
              <a:t>탭 </a:t>
            </a:r>
            <a:r>
              <a:rPr lang="en-US" altLang="ko-KR" sz="800" dirty="0">
                <a:solidFill>
                  <a:schemeClr val="tx1"/>
                </a:solidFill>
                <a:latin typeface="+mn-ea"/>
              </a:rPr>
              <a:t>3 - </a:t>
            </a:r>
            <a:r>
              <a:rPr lang="ko-KR" altLang="en-US" sz="800" dirty="0">
                <a:solidFill>
                  <a:prstClr val="black"/>
                </a:solidFill>
                <a:latin typeface="맑은 고딕" panose="020B0503020000020004" pitchFamily="50" charset="-127"/>
              </a:rPr>
              <a:t>입찰참여품목 </a:t>
            </a:r>
            <a:r>
              <a:rPr lang="en-US" altLang="ko-KR" sz="800" dirty="0">
                <a:solidFill>
                  <a:prstClr val="black"/>
                </a:solidFill>
                <a:latin typeface="맑은 고딕" panose="020B0503020000020004" pitchFamily="50" charset="-127"/>
              </a:rPr>
              <a:t>(</a:t>
            </a:r>
            <a:r>
              <a:rPr lang="ko-KR" altLang="en-US" sz="800" dirty="0" err="1">
                <a:solidFill>
                  <a:prstClr val="black"/>
                </a:solidFill>
                <a:latin typeface="맑은 고딕" panose="020B0503020000020004" pitchFamily="50" charset="-127"/>
              </a:rPr>
              <a:t>총액제</a:t>
            </a:r>
            <a:r>
              <a:rPr lang="en-US" altLang="ko-KR" sz="800" dirty="0">
                <a:solidFill>
                  <a:prstClr val="black"/>
                </a:solidFill>
                <a:latin typeface="맑은 고딕" panose="020B0503020000020004" pitchFamily="50" charset="-127"/>
              </a:rPr>
              <a:t>)</a:t>
            </a:r>
            <a:endParaRPr lang="en-US" altLang="ko-KR" sz="800" dirty="0">
              <a:solidFill>
                <a:schemeClr val="tx1"/>
              </a:solidFill>
              <a:latin typeface="+mn-ea"/>
            </a:endParaRPr>
          </a:p>
          <a:p>
            <a:r>
              <a:rPr lang="ko-KR" altLang="en-US" sz="800" dirty="0">
                <a:solidFill>
                  <a:schemeClr val="tx1"/>
                </a:solidFill>
                <a:latin typeface="+mn-ea"/>
              </a:rPr>
              <a:t>탭 </a:t>
            </a:r>
            <a:r>
              <a:rPr lang="en-US" altLang="ko-KR" sz="800" dirty="0">
                <a:solidFill>
                  <a:schemeClr val="tx1"/>
                </a:solidFill>
                <a:latin typeface="+mn-ea"/>
              </a:rPr>
              <a:t>4 - </a:t>
            </a:r>
            <a:r>
              <a:rPr lang="ko-KR" altLang="en-US" sz="800" dirty="0">
                <a:solidFill>
                  <a:schemeClr val="tx1"/>
                </a:solidFill>
                <a:latin typeface="+mn-ea"/>
              </a:rPr>
              <a:t>첨부파일</a:t>
            </a:r>
          </a:p>
        </p:txBody>
      </p:sp>
      <p:sp>
        <p:nvSpPr>
          <p:cNvPr id="107" name="사각형: 둥근 모서리 5">
            <a:extLst>
              <a:ext uri="{FF2B5EF4-FFF2-40B4-BE49-F238E27FC236}">
                <a16:creationId xmlns:a16="http://schemas.microsoft.com/office/drawing/2014/main" id="{410E5459-200D-7630-863C-88E5109259DF}"/>
              </a:ext>
            </a:extLst>
          </p:cNvPr>
          <p:cNvSpPr/>
          <p:nvPr/>
        </p:nvSpPr>
        <p:spPr>
          <a:xfrm>
            <a:off x="7424124" y="550541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prstClr val="black"/>
                </a:solidFill>
                <a:latin typeface="맑은 고딕" panose="020B0503020000020004" pitchFamily="50" charset="-127"/>
              </a:rPr>
              <a:t>입찰취소신청서작성</a:t>
            </a:r>
            <a:endParaRPr lang="ko-KR" altLang="en-US" sz="800" dirty="0">
              <a:solidFill>
                <a:schemeClr val="tx1"/>
              </a:solidFill>
            </a:endParaRPr>
          </a:p>
        </p:txBody>
      </p:sp>
      <p:sp>
        <p:nvSpPr>
          <p:cNvPr id="108" name="사각형: 둥근 모서리 5">
            <a:extLst>
              <a:ext uri="{FF2B5EF4-FFF2-40B4-BE49-F238E27FC236}">
                <a16:creationId xmlns:a16="http://schemas.microsoft.com/office/drawing/2014/main" id="{410E5459-200D-7630-863C-88E5109259DF}"/>
              </a:ext>
            </a:extLst>
          </p:cNvPr>
          <p:cNvSpPr/>
          <p:nvPr/>
        </p:nvSpPr>
        <p:spPr>
          <a:xfrm>
            <a:off x="7424124" y="615124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rgbClr val="000000"/>
                </a:solidFill>
                <a:latin typeface="+mn-ea"/>
              </a:rPr>
              <a:t>기술평가결과</a:t>
            </a:r>
            <a:endParaRPr lang="en-US" altLang="ko-KR" sz="800" dirty="0">
              <a:solidFill>
                <a:srgbClr val="000000"/>
              </a:solidFill>
              <a:latin typeface="+mn-ea"/>
            </a:endParaRPr>
          </a:p>
          <a:p>
            <a:pPr algn="ctr"/>
            <a:r>
              <a:rPr lang="ko-KR" altLang="en-US" sz="800" dirty="0">
                <a:solidFill>
                  <a:srgbClr val="000000"/>
                </a:solidFill>
                <a:latin typeface="+mn-ea"/>
              </a:rPr>
              <a:t>조회</a:t>
            </a:r>
            <a:endParaRPr lang="ko-KR" altLang="en-US" sz="800" dirty="0">
              <a:solidFill>
                <a:schemeClr val="tx1"/>
              </a:solidFill>
            </a:endParaRPr>
          </a:p>
        </p:txBody>
      </p:sp>
      <p:cxnSp>
        <p:nvCxnSpPr>
          <p:cNvPr id="109" name="연결선: 꺾임 7">
            <a:extLst>
              <a:ext uri="{FF2B5EF4-FFF2-40B4-BE49-F238E27FC236}">
                <a16:creationId xmlns:a16="http://schemas.microsoft.com/office/drawing/2014/main" id="{89A2D828-4C18-4F90-6B31-722E89773AA8}"/>
              </a:ext>
            </a:extLst>
          </p:cNvPr>
          <p:cNvCxnSpPr>
            <a:cxnSpLocks/>
            <a:stCxn id="93" idx="3"/>
            <a:endCxn id="80" idx="2"/>
          </p:cNvCxnSpPr>
          <p:nvPr/>
        </p:nvCxnSpPr>
        <p:spPr>
          <a:xfrm>
            <a:off x="8324124" y="3067907"/>
            <a:ext cx="67780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직선 화살표 연결선 109">
            <a:extLst>
              <a:ext uri="{FF2B5EF4-FFF2-40B4-BE49-F238E27FC236}">
                <a16:creationId xmlns:a16="http://schemas.microsoft.com/office/drawing/2014/main" id="{9A519F08-B829-E35F-09D8-DFCD1F68B911}"/>
              </a:ext>
            </a:extLst>
          </p:cNvPr>
          <p:cNvCxnSpPr>
            <a:cxnSpLocks/>
            <a:stCxn id="22" idx="3"/>
            <a:endCxn id="80" idx="2"/>
          </p:cNvCxnSpPr>
          <p:nvPr/>
        </p:nvCxnSpPr>
        <p:spPr>
          <a:xfrm>
            <a:off x="8324124" y="3713734"/>
            <a:ext cx="67780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연결선: 꺾임 7">
            <a:extLst>
              <a:ext uri="{FF2B5EF4-FFF2-40B4-BE49-F238E27FC236}">
                <a16:creationId xmlns:a16="http://schemas.microsoft.com/office/drawing/2014/main" id="{89A2D828-4C18-4F90-6B31-722E89773AA8}"/>
              </a:ext>
            </a:extLst>
          </p:cNvPr>
          <p:cNvCxnSpPr>
            <a:cxnSpLocks/>
            <a:stCxn id="40" idx="3"/>
            <a:endCxn id="80" idx="2"/>
          </p:cNvCxnSpPr>
          <p:nvPr/>
        </p:nvCxnSpPr>
        <p:spPr>
          <a:xfrm flipV="1">
            <a:off x="8324124" y="3713734"/>
            <a:ext cx="677804" cy="12898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연결선: 꺾임 7">
            <a:extLst>
              <a:ext uri="{FF2B5EF4-FFF2-40B4-BE49-F238E27FC236}">
                <a16:creationId xmlns:a16="http://schemas.microsoft.com/office/drawing/2014/main" id="{89A2D828-4C18-4F90-6B31-722E89773AA8}"/>
              </a:ext>
            </a:extLst>
          </p:cNvPr>
          <p:cNvCxnSpPr>
            <a:cxnSpLocks/>
            <a:stCxn id="107" idx="3"/>
            <a:endCxn id="80" idx="2"/>
          </p:cNvCxnSpPr>
          <p:nvPr/>
        </p:nvCxnSpPr>
        <p:spPr>
          <a:xfrm flipV="1">
            <a:off x="8324124" y="3713734"/>
            <a:ext cx="677804" cy="193568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연결선: 꺾임 7">
            <a:extLst>
              <a:ext uri="{FF2B5EF4-FFF2-40B4-BE49-F238E27FC236}">
                <a16:creationId xmlns:a16="http://schemas.microsoft.com/office/drawing/2014/main" id="{89A2D828-4C18-4F90-6B31-722E89773AA8}"/>
              </a:ext>
            </a:extLst>
          </p:cNvPr>
          <p:cNvCxnSpPr>
            <a:cxnSpLocks/>
            <a:stCxn id="108" idx="3"/>
            <a:endCxn id="80" idx="2"/>
          </p:cNvCxnSpPr>
          <p:nvPr/>
        </p:nvCxnSpPr>
        <p:spPr>
          <a:xfrm flipV="1">
            <a:off x="8324124" y="3713734"/>
            <a:ext cx="677804" cy="258150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연결선: 꺾임 7">
            <a:extLst>
              <a:ext uri="{FF2B5EF4-FFF2-40B4-BE49-F238E27FC236}">
                <a16:creationId xmlns:a16="http://schemas.microsoft.com/office/drawing/2014/main" id="{89A2D828-4C18-4F90-6B31-722E89773AA8}"/>
              </a:ext>
            </a:extLst>
          </p:cNvPr>
          <p:cNvCxnSpPr>
            <a:cxnSpLocks/>
            <a:stCxn id="53" idx="3"/>
            <a:endCxn id="22" idx="1"/>
          </p:cNvCxnSpPr>
          <p:nvPr/>
        </p:nvCxnSpPr>
        <p:spPr>
          <a:xfrm>
            <a:off x="6487580" y="3067907"/>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직선 화살표 연결선 123">
            <a:extLst>
              <a:ext uri="{FF2B5EF4-FFF2-40B4-BE49-F238E27FC236}">
                <a16:creationId xmlns:a16="http://schemas.microsoft.com/office/drawing/2014/main" id="{9A519F08-B829-E35F-09D8-DFCD1F68B911}"/>
              </a:ext>
            </a:extLst>
          </p:cNvPr>
          <p:cNvCxnSpPr>
            <a:cxnSpLocks/>
            <a:stCxn id="104" idx="3"/>
            <a:endCxn id="40" idx="1"/>
          </p:cNvCxnSpPr>
          <p:nvPr/>
        </p:nvCxnSpPr>
        <p:spPr>
          <a:xfrm>
            <a:off x="6487580" y="5003588"/>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5" name="연결선: 꺾임 7">
            <a:extLst>
              <a:ext uri="{FF2B5EF4-FFF2-40B4-BE49-F238E27FC236}">
                <a16:creationId xmlns:a16="http://schemas.microsoft.com/office/drawing/2014/main" id="{89A2D828-4C18-4F90-6B31-722E89773AA8}"/>
              </a:ext>
            </a:extLst>
          </p:cNvPr>
          <p:cNvCxnSpPr>
            <a:cxnSpLocks/>
            <a:stCxn id="104" idx="3"/>
            <a:endCxn id="107" idx="1"/>
          </p:cNvCxnSpPr>
          <p:nvPr/>
        </p:nvCxnSpPr>
        <p:spPr>
          <a:xfrm>
            <a:off x="6487580" y="5003588"/>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2" name="사각형: 둥근 모서리 5">
            <a:extLst>
              <a:ext uri="{FF2B5EF4-FFF2-40B4-BE49-F238E27FC236}">
                <a16:creationId xmlns:a16="http://schemas.microsoft.com/office/drawing/2014/main" id="{410E5459-200D-7630-863C-88E5109259DF}"/>
              </a:ext>
            </a:extLst>
          </p:cNvPr>
          <p:cNvSpPr/>
          <p:nvPr/>
        </p:nvSpPr>
        <p:spPr>
          <a:xfrm>
            <a:off x="7424124" y="421556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prstClr val="black"/>
                </a:solidFill>
                <a:latin typeface="맑은 고딕" panose="020B0503020000020004" pitchFamily="50" charset="-127"/>
              </a:rPr>
              <a:t>사업별입찰등록결과조회</a:t>
            </a:r>
            <a:endParaRPr lang="ko-KR" altLang="en-US" sz="800" dirty="0">
              <a:solidFill>
                <a:schemeClr val="tx1"/>
              </a:solidFill>
            </a:endParaRPr>
          </a:p>
        </p:txBody>
      </p:sp>
      <p:cxnSp>
        <p:nvCxnSpPr>
          <p:cNvPr id="143" name="연결선: 꺾임 7">
            <a:extLst>
              <a:ext uri="{FF2B5EF4-FFF2-40B4-BE49-F238E27FC236}">
                <a16:creationId xmlns:a16="http://schemas.microsoft.com/office/drawing/2014/main" id="{89A2D828-4C18-4F90-6B31-722E89773AA8}"/>
              </a:ext>
            </a:extLst>
          </p:cNvPr>
          <p:cNvCxnSpPr>
            <a:cxnSpLocks/>
            <a:stCxn id="53" idx="3"/>
            <a:endCxn id="132" idx="1"/>
          </p:cNvCxnSpPr>
          <p:nvPr/>
        </p:nvCxnSpPr>
        <p:spPr>
          <a:xfrm>
            <a:off x="6487580" y="3067907"/>
            <a:ext cx="936544" cy="12916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연결선: 꺾임 7">
            <a:extLst>
              <a:ext uri="{FF2B5EF4-FFF2-40B4-BE49-F238E27FC236}">
                <a16:creationId xmlns:a16="http://schemas.microsoft.com/office/drawing/2014/main" id="{89A2D828-4C18-4F90-6B31-722E89773AA8}"/>
              </a:ext>
            </a:extLst>
          </p:cNvPr>
          <p:cNvCxnSpPr>
            <a:cxnSpLocks/>
            <a:stCxn id="104" idx="3"/>
            <a:endCxn id="108" idx="1"/>
          </p:cNvCxnSpPr>
          <p:nvPr/>
        </p:nvCxnSpPr>
        <p:spPr>
          <a:xfrm>
            <a:off x="6487580" y="5003588"/>
            <a:ext cx="936544" cy="12916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연결선: 꺾임 7">
            <a:extLst>
              <a:ext uri="{FF2B5EF4-FFF2-40B4-BE49-F238E27FC236}">
                <a16:creationId xmlns:a16="http://schemas.microsoft.com/office/drawing/2014/main" id="{89A2D828-4C18-4F90-6B31-722E89773AA8}"/>
              </a:ext>
            </a:extLst>
          </p:cNvPr>
          <p:cNvCxnSpPr>
            <a:cxnSpLocks/>
            <a:stCxn id="95" idx="0"/>
            <a:endCxn id="60" idx="0"/>
          </p:cNvCxnSpPr>
          <p:nvPr/>
        </p:nvCxnSpPr>
        <p:spPr>
          <a:xfrm rot="16200000" flipV="1">
            <a:off x="6965505" y="710692"/>
            <a:ext cx="12700" cy="1836544"/>
          </a:xfrm>
          <a:prstGeom prst="bentConnector3">
            <a:avLst>
              <a:gd name="adj1" fmla="val 180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사각형: 둥근 모서리 5">
            <a:extLst>
              <a:ext uri="{FF2B5EF4-FFF2-40B4-BE49-F238E27FC236}">
                <a16:creationId xmlns:a16="http://schemas.microsoft.com/office/drawing/2014/main" id="{410E5459-200D-7630-863C-88E5109259DF}"/>
              </a:ext>
            </a:extLst>
          </p:cNvPr>
          <p:cNvSpPr/>
          <p:nvPr/>
        </p:nvSpPr>
        <p:spPr>
          <a:xfrm>
            <a:off x="3760689" y="2923907"/>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입찰진행</a:t>
            </a:r>
            <a:r>
              <a:rPr lang="ko-KR" altLang="en-US" sz="800" dirty="0">
                <a:solidFill>
                  <a:schemeClr val="tx1"/>
                </a:solidFill>
              </a:rPr>
              <a:t> 상세</a:t>
            </a:r>
          </a:p>
        </p:txBody>
      </p:sp>
      <p:cxnSp>
        <p:nvCxnSpPr>
          <p:cNvPr id="64" name="직선 화살표 연결선 63">
            <a:extLst>
              <a:ext uri="{FF2B5EF4-FFF2-40B4-BE49-F238E27FC236}">
                <a16:creationId xmlns:a16="http://schemas.microsoft.com/office/drawing/2014/main" id="{9A519F08-B829-E35F-09D8-DFCD1F68B911}"/>
              </a:ext>
            </a:extLst>
          </p:cNvPr>
          <p:cNvCxnSpPr>
            <a:cxnSpLocks/>
            <a:stCxn id="77" idx="3"/>
            <a:endCxn id="59" idx="1"/>
          </p:cNvCxnSpPr>
          <p:nvPr/>
        </p:nvCxnSpPr>
        <p:spPr>
          <a:xfrm>
            <a:off x="2833798" y="3067907"/>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054757"/>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435</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8.3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입찰진행</a:t>
            </a:r>
            <a:r>
              <a:rPr lang="en-US" altLang="ko-KR" sz="1100" dirty="0"/>
              <a:t>Controller&gt;&gt;</a:t>
            </a:r>
          </a:p>
          <a:p>
            <a:pPr algn="ctr"/>
            <a:r>
              <a:rPr lang="en-US" altLang="ko-KR" sz="1100" kern="0" dirty="0" err="1">
                <a:solidFill>
                  <a:srgbClr val="000000"/>
                </a:solidFill>
                <a:latin typeface="+mn-ea"/>
              </a:rPr>
              <a:t>BidPrgrsController</a:t>
            </a:r>
            <a:endParaRPr lang="en-US" altLang="ko-KR" sz="1100" kern="0" dirty="0">
              <a:solidFill>
                <a:srgbClr val="000000"/>
              </a:solidFill>
              <a:latin typeface="+mn-ea"/>
            </a:endParaRP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err="1">
                <a:solidFill>
                  <a:schemeClr val="tx1"/>
                </a:solidFill>
                <a:latin typeface="+mn-ea"/>
              </a:rPr>
              <a:t>서약서동의</a:t>
            </a:r>
            <a:r>
              <a:rPr lang="ko-KR" altLang="en-US" sz="1050" dirty="0">
                <a:solidFill>
                  <a:schemeClr val="tx1"/>
                </a:solidFill>
                <a:latin typeface="+mn-ea"/>
              </a:rPr>
              <a:t> 목록</a:t>
            </a:r>
            <a:endParaRPr lang="en-US" altLang="ko-KR" sz="1050" dirty="0">
              <a:solidFill>
                <a:schemeClr val="tx1"/>
              </a:solidFill>
            </a:endParaRPr>
          </a:p>
          <a:p>
            <a:pPr algn="ctr">
              <a:lnSpc>
                <a:spcPct val="120000"/>
              </a:lnSpc>
            </a:pPr>
            <a:r>
              <a:rPr lang="en-US" altLang="ko-KR" sz="1050" dirty="0">
                <a:solidFill>
                  <a:schemeClr val="tx1"/>
                </a:solidFill>
              </a:rPr>
              <a:t>OvsBidPrtcpAplyPage.tsx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서약서 상세</a:t>
            </a:r>
            <a:endParaRPr lang="en-US" altLang="ko-KR" sz="1050" dirty="0">
              <a:solidFill>
                <a:schemeClr val="tx1"/>
              </a:solidFill>
            </a:endParaRPr>
          </a:p>
          <a:p>
            <a:pPr algn="ctr">
              <a:lnSpc>
                <a:spcPct val="120000"/>
              </a:lnSpc>
            </a:pPr>
            <a:r>
              <a:rPr lang="en-US" altLang="ko-KR" sz="1050" dirty="0">
                <a:solidFill>
                  <a:schemeClr val="tx1"/>
                </a:solidFill>
              </a:rPr>
              <a:t>OvsProbWrotAgre.tsx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rPr>
              <a:t>Stp1.tsx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2 - </a:t>
            </a:r>
            <a:r>
              <a:rPr lang="ko-KR" altLang="en-US" sz="1050" dirty="0">
                <a:solidFill>
                  <a:schemeClr val="tx1"/>
                </a:solidFill>
                <a:latin typeface="+mn-ea"/>
              </a:rPr>
              <a:t>업체정보</a:t>
            </a:r>
            <a:endParaRPr lang="en-US" altLang="ko-KR" sz="1050" dirty="0">
              <a:solidFill>
                <a:schemeClr val="tx1"/>
              </a:solidFill>
            </a:endParaRPr>
          </a:p>
          <a:p>
            <a:pPr algn="ctr">
              <a:lnSpc>
                <a:spcPct val="120000"/>
              </a:lnSpc>
            </a:pPr>
            <a:r>
              <a:rPr lang="en-US" altLang="ko-KR" sz="1050" dirty="0">
                <a:solidFill>
                  <a:schemeClr val="tx1"/>
                </a:solidFill>
              </a:rPr>
              <a:t>Stp2.tsx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3 - </a:t>
            </a:r>
            <a:r>
              <a:rPr lang="ko-KR" altLang="en-US" sz="1050" dirty="0">
                <a:solidFill>
                  <a:schemeClr val="tx1"/>
                </a:solidFill>
                <a:latin typeface="+mn-ea"/>
              </a:rPr>
              <a:t>입찰 보증금</a:t>
            </a:r>
            <a:endParaRPr lang="en-US" altLang="ko-KR" sz="1050" dirty="0">
              <a:solidFill>
                <a:schemeClr val="tx1"/>
              </a:solidFill>
            </a:endParaRPr>
          </a:p>
          <a:p>
            <a:pPr algn="ctr">
              <a:lnSpc>
                <a:spcPct val="120000"/>
              </a:lnSpc>
            </a:pPr>
            <a:r>
              <a:rPr lang="en-US" altLang="ko-KR" sz="1050" dirty="0">
                <a:solidFill>
                  <a:schemeClr val="tx1"/>
                </a:solidFill>
              </a:rPr>
              <a:t>Stp3.tsx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4 - </a:t>
            </a: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latin typeface="Calibri" panose="020F0502020204030204" pitchFamily="34" charset="0"/>
              </a:rPr>
              <a:t>AtchDocReg</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038044" y="4882211"/>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입찰보증서선택</a:t>
            </a:r>
            <a:endParaRPr lang="en-US" altLang="ko-KR" sz="1050" dirty="0">
              <a:solidFill>
                <a:schemeClr val="tx1"/>
              </a:solidFill>
            </a:endParaRPr>
          </a:p>
          <a:p>
            <a:pPr algn="ctr">
              <a:lnSpc>
                <a:spcPct val="120000"/>
              </a:lnSpc>
            </a:pPr>
            <a:r>
              <a:rPr lang="en-US" altLang="ko-KR" sz="1050" dirty="0">
                <a:solidFill>
                  <a:schemeClr val="tx1"/>
                </a:solidFill>
              </a:rPr>
              <a:t>OvsBidWtgrInq.tsx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765244" y="2990174"/>
            <a:ext cx="1194847" cy="20983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038044" y="5387467"/>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보증서정보조회</a:t>
            </a:r>
            <a:endParaRPr lang="en-US" altLang="ko-KR" sz="1050" dirty="0">
              <a:solidFill>
                <a:schemeClr val="tx1"/>
              </a:solidFill>
            </a:endParaRPr>
          </a:p>
          <a:p>
            <a:pPr algn="ctr">
              <a:lnSpc>
                <a:spcPct val="120000"/>
              </a:lnSpc>
            </a:pPr>
            <a:r>
              <a:rPr lang="en-US" altLang="ko-KR" sz="1050" dirty="0">
                <a:solidFill>
                  <a:schemeClr val="tx1"/>
                </a:solidFill>
              </a:rPr>
              <a:t>OvsBidWtgrDtl.tsx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765244" y="2990174"/>
            <a:ext cx="1194847" cy="26035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직선 화살표 연결선 41">
            <a:extLst>
              <a:ext uri="{FF2B5EF4-FFF2-40B4-BE49-F238E27FC236}">
                <a16:creationId xmlns:a16="http://schemas.microsoft.com/office/drawing/2014/main" id="{418E1257-E5C2-5705-1378-45505004ABAF}"/>
              </a:ext>
            </a:extLst>
          </p:cNvPr>
          <p:cNvCxnSpPr>
            <a:cxnSpLocks/>
            <a:stCxn id="66" idx="0"/>
            <a:endCxn id="9" idx="2"/>
          </p:cNvCxnSpPr>
          <p:nvPr/>
        </p:nvCxnSpPr>
        <p:spPr>
          <a:xfrm flipV="1">
            <a:off x="3642541" y="3810190"/>
            <a:ext cx="1181150"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직선 화살표 연결선 42">
            <a:extLst>
              <a:ext uri="{FF2B5EF4-FFF2-40B4-BE49-F238E27FC236}">
                <a16:creationId xmlns:a16="http://schemas.microsoft.com/office/drawing/2014/main" id="{418E1257-E5C2-5705-1378-45505004ABAF}"/>
              </a:ext>
            </a:extLst>
          </p:cNvPr>
          <p:cNvCxnSpPr>
            <a:cxnSpLocks/>
            <a:stCxn id="67" idx="0"/>
            <a:endCxn id="9" idx="2"/>
          </p:cNvCxnSpPr>
          <p:nvPr/>
        </p:nvCxnSpPr>
        <p:spPr>
          <a:xfrm flipH="1" flipV="1">
            <a:off x="4823691" y="3810190"/>
            <a:ext cx="416808"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8.3.1 </a:t>
            </a:r>
            <a:r>
              <a:rPr lang="ko-KR" altLang="en-US" sz="1200" dirty="0">
                <a:solidFill>
                  <a:schemeClr val="tx1"/>
                </a:solidFill>
              </a:rPr>
              <a:t>국외 </a:t>
            </a:r>
            <a:r>
              <a:rPr lang="ko-KR" altLang="en-US" sz="1200" dirty="0" err="1">
                <a:solidFill>
                  <a:schemeClr val="tx1"/>
                </a:solidFill>
              </a:rPr>
              <a:t>입찰진행</a:t>
            </a:r>
            <a:r>
              <a:rPr lang="ko-KR" altLang="en-US" sz="1200" dirty="0">
                <a:solidFill>
                  <a:schemeClr val="tx1"/>
                </a:solidFill>
              </a:rPr>
              <a:t> </a:t>
            </a:r>
            <a:r>
              <a:rPr lang="en-US" altLang="ko-KR" sz="1200" dirty="0">
                <a:solidFill>
                  <a:schemeClr val="tx1"/>
                </a:solidFill>
              </a:rPr>
              <a:t>(1/2)</a:t>
            </a:r>
            <a:endParaRPr lang="ko-KR" altLang="en-US" sz="1200" dirty="0">
              <a:solidFill>
                <a:schemeClr val="tx1"/>
              </a:solidFill>
            </a:endParaRPr>
          </a:p>
        </p:txBody>
      </p:sp>
      <p:sp>
        <p:nvSpPr>
          <p:cNvPr id="61" name="직사각형 60">
            <a:extLst>
              <a:ext uri="{FF2B5EF4-FFF2-40B4-BE49-F238E27FC236}">
                <a16:creationId xmlns:a16="http://schemas.microsoft.com/office/drawing/2014/main" id="{326CB017-8967-4DC4-0EAD-ADB3B9EAB841}"/>
              </a:ext>
            </a:extLst>
          </p:cNvPr>
          <p:cNvSpPr/>
          <p:nvPr/>
        </p:nvSpPr>
        <p:spPr>
          <a:xfrm>
            <a:off x="1038044" y="589158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rPr>
              <a:t>OvsBidPrtcpApfrDtlPage.tsx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66" name="직사각형 65">
            <a:extLst>
              <a:ext uri="{FF2B5EF4-FFF2-40B4-BE49-F238E27FC236}">
                <a16:creationId xmlns:a16="http://schemas.microsoft.com/office/drawing/2014/main" id="{326CB017-8967-4DC4-0EAD-ADB3B9EAB841}"/>
              </a:ext>
            </a:extLst>
          </p:cNvPr>
          <p:cNvSpPr/>
          <p:nvPr/>
        </p:nvSpPr>
        <p:spPr>
          <a:xfrm>
            <a:off x="2864228"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4 - </a:t>
            </a: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rPr>
              <a:t>Tab4.tsx</a:t>
            </a:r>
            <a:r>
              <a:rPr lang="en-US" altLang="ko-KR" sz="1050" b="1" baseline="30000" dirty="0">
                <a:solidFill>
                  <a:schemeClr val="tx1"/>
                </a:solidFill>
                <a:latin typeface="+mn-ea"/>
              </a:rPr>
              <a:t>1)</a:t>
            </a:r>
            <a:endParaRPr lang="en-US" altLang="ko-KR" sz="1050" dirty="0">
              <a:solidFill>
                <a:schemeClr val="tx1"/>
              </a:solidFill>
            </a:endParaRPr>
          </a:p>
        </p:txBody>
      </p:sp>
      <p:sp>
        <p:nvSpPr>
          <p:cNvPr id="67" name="직사각형 66">
            <a:extLst>
              <a:ext uri="{FF2B5EF4-FFF2-40B4-BE49-F238E27FC236}">
                <a16:creationId xmlns:a16="http://schemas.microsoft.com/office/drawing/2014/main" id="{326CB017-8967-4DC4-0EAD-ADB3B9EAB841}"/>
              </a:ext>
            </a:extLst>
          </p:cNvPr>
          <p:cNvSpPr/>
          <p:nvPr/>
        </p:nvSpPr>
        <p:spPr>
          <a:xfrm>
            <a:off x="4462186"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입찰참가신청서취소</a:t>
            </a:r>
            <a:endParaRPr lang="en-US" altLang="ko-KR" sz="1050" dirty="0">
              <a:solidFill>
                <a:schemeClr val="tx1"/>
              </a:solidFill>
            </a:endParaRPr>
          </a:p>
          <a:p>
            <a:pPr algn="ctr">
              <a:lnSpc>
                <a:spcPct val="120000"/>
              </a:lnSpc>
            </a:pPr>
            <a:r>
              <a:rPr lang="en-US" altLang="ko-KR" sz="1050" dirty="0">
                <a:solidFill>
                  <a:schemeClr val="tx1"/>
                </a:solidFill>
              </a:rPr>
              <a:t>OvsBidPrtcpRtrcnAply.tsx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68" name="직선 화살표 연결선 67">
            <a:extLst>
              <a:ext uri="{FF2B5EF4-FFF2-40B4-BE49-F238E27FC236}">
                <a16:creationId xmlns:a16="http://schemas.microsoft.com/office/drawing/2014/main" id="{418E1257-E5C2-5705-1378-45505004ABAF}"/>
              </a:ext>
            </a:extLst>
          </p:cNvPr>
          <p:cNvCxnSpPr>
            <a:cxnSpLocks/>
            <a:stCxn id="61" idx="3"/>
            <a:endCxn id="9" idx="1"/>
          </p:cNvCxnSpPr>
          <p:nvPr/>
        </p:nvCxnSpPr>
        <p:spPr>
          <a:xfrm flipV="1">
            <a:off x="2765244" y="2990174"/>
            <a:ext cx="1194847" cy="31077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326CB017-8967-4DC4-0EAD-ADB3B9EAB841}"/>
              </a:ext>
            </a:extLst>
          </p:cNvPr>
          <p:cNvSpPr/>
          <p:nvPr/>
        </p:nvSpPr>
        <p:spPr>
          <a:xfrm>
            <a:off x="2864228" y="5387467"/>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2 – </a:t>
            </a:r>
            <a:r>
              <a:rPr lang="ko-KR" altLang="en-US" sz="1050" dirty="0">
                <a:solidFill>
                  <a:schemeClr val="tx1"/>
                </a:solidFill>
                <a:latin typeface="+mn-ea"/>
              </a:rPr>
              <a:t>업체정보</a:t>
            </a:r>
            <a:endParaRPr lang="en-US" altLang="ko-KR" sz="1050" dirty="0">
              <a:solidFill>
                <a:schemeClr val="tx1"/>
              </a:solidFill>
            </a:endParaRPr>
          </a:p>
          <a:p>
            <a:pPr algn="ctr">
              <a:lnSpc>
                <a:spcPct val="120000"/>
              </a:lnSpc>
            </a:pPr>
            <a:r>
              <a:rPr lang="en-US" altLang="ko-KR" sz="1050" dirty="0">
                <a:solidFill>
                  <a:schemeClr val="tx1"/>
                </a:solidFill>
              </a:rPr>
              <a:t>Tab2.tsx</a:t>
            </a:r>
            <a:r>
              <a:rPr lang="en-US" altLang="ko-KR" sz="1050" b="1" baseline="30000" dirty="0">
                <a:solidFill>
                  <a:schemeClr val="tx1"/>
                </a:solidFill>
                <a:latin typeface="+mn-ea"/>
              </a:rPr>
              <a:t>1)</a:t>
            </a:r>
            <a:endParaRPr lang="en-US" altLang="ko-KR" sz="1050" dirty="0">
              <a:solidFill>
                <a:schemeClr val="tx1"/>
              </a:solidFill>
            </a:endParaRPr>
          </a:p>
        </p:txBody>
      </p:sp>
      <p:sp>
        <p:nvSpPr>
          <p:cNvPr id="32" name="직사각형 31">
            <a:extLst>
              <a:ext uri="{FF2B5EF4-FFF2-40B4-BE49-F238E27FC236}">
                <a16:creationId xmlns:a16="http://schemas.microsoft.com/office/drawing/2014/main" id="{326CB017-8967-4DC4-0EAD-ADB3B9EAB841}"/>
              </a:ext>
            </a:extLst>
          </p:cNvPr>
          <p:cNvSpPr/>
          <p:nvPr/>
        </p:nvSpPr>
        <p:spPr>
          <a:xfrm>
            <a:off x="4462186" y="5387467"/>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475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3 - </a:t>
            </a:r>
            <a:r>
              <a:rPr lang="ko-KR" altLang="en-US" sz="1050" dirty="0">
                <a:solidFill>
                  <a:schemeClr val="tx1"/>
                </a:solidFill>
                <a:latin typeface="+mn-ea"/>
              </a:rPr>
              <a:t>입찰 보증금</a:t>
            </a:r>
            <a:endParaRPr lang="en-US" altLang="ko-KR" sz="1050" dirty="0">
              <a:solidFill>
                <a:schemeClr val="tx1"/>
              </a:solidFill>
            </a:endParaRPr>
          </a:p>
          <a:p>
            <a:pPr algn="ctr">
              <a:lnSpc>
                <a:spcPct val="120000"/>
              </a:lnSpc>
            </a:pPr>
            <a:r>
              <a:rPr lang="en-US" altLang="ko-KR" sz="1050" dirty="0">
                <a:solidFill>
                  <a:schemeClr val="tx1"/>
                </a:solidFill>
              </a:rPr>
              <a:t>Tab3.tsx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73" name="직선 화살표 연결선 72">
            <a:extLst>
              <a:ext uri="{FF2B5EF4-FFF2-40B4-BE49-F238E27FC236}">
                <a16:creationId xmlns:a16="http://schemas.microsoft.com/office/drawing/2014/main" id="{418E1257-E5C2-5705-1378-45505004ABAF}"/>
              </a:ext>
            </a:extLst>
          </p:cNvPr>
          <p:cNvCxnSpPr>
            <a:cxnSpLocks/>
            <a:stCxn id="39" idx="0"/>
            <a:endCxn id="9" idx="2"/>
          </p:cNvCxnSpPr>
          <p:nvPr/>
        </p:nvCxnSpPr>
        <p:spPr>
          <a:xfrm flipV="1">
            <a:off x="3642541" y="3810190"/>
            <a:ext cx="1181150" cy="15772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4" name="직선 화살표 연결선 73">
            <a:extLst>
              <a:ext uri="{FF2B5EF4-FFF2-40B4-BE49-F238E27FC236}">
                <a16:creationId xmlns:a16="http://schemas.microsoft.com/office/drawing/2014/main" id="{418E1257-E5C2-5705-1378-45505004ABAF}"/>
              </a:ext>
            </a:extLst>
          </p:cNvPr>
          <p:cNvCxnSpPr>
            <a:cxnSpLocks/>
            <a:stCxn id="32" idx="0"/>
            <a:endCxn id="9" idx="2"/>
          </p:cNvCxnSpPr>
          <p:nvPr/>
        </p:nvCxnSpPr>
        <p:spPr>
          <a:xfrm flipH="1" flipV="1">
            <a:off x="4823691" y="3810190"/>
            <a:ext cx="416808" cy="15772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직사각형 37">
            <a:extLst>
              <a:ext uri="{FF2B5EF4-FFF2-40B4-BE49-F238E27FC236}">
                <a16:creationId xmlns:a16="http://schemas.microsoft.com/office/drawing/2014/main" id="{BE6CF8B0-B538-B16B-F0EB-F1F49287D1E5}"/>
              </a:ext>
            </a:extLst>
          </p:cNvPr>
          <p:cNvSpPr/>
          <p:nvPr/>
        </p:nvSpPr>
        <p:spPr>
          <a:xfrm>
            <a:off x="6913418" y="3366452"/>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40" name="직선 연결선 39">
            <a:extLst>
              <a:ext uri="{FF2B5EF4-FFF2-40B4-BE49-F238E27FC236}">
                <a16:creationId xmlns:a16="http://schemas.microsoft.com/office/drawing/2014/main" id="{A8B10782-0A07-A41D-DB15-978B72410A31}"/>
              </a:ext>
            </a:extLst>
          </p:cNvPr>
          <p:cNvCxnSpPr>
            <a:endCxn id="38" idx="1"/>
          </p:cNvCxnSpPr>
          <p:nvPr/>
        </p:nvCxnSpPr>
        <p:spPr>
          <a:xfrm>
            <a:off x="5687291" y="2990174"/>
            <a:ext cx="1226127" cy="619258"/>
          </a:xfrm>
          <a:prstGeom prst="line">
            <a:avLst/>
          </a:prstGeom>
        </p:spPr>
        <p:style>
          <a:lnRef idx="1">
            <a:schemeClr val="dk1"/>
          </a:lnRef>
          <a:fillRef idx="0">
            <a:schemeClr val="dk1"/>
          </a:fillRef>
          <a:effectRef idx="0">
            <a:schemeClr val="dk1"/>
          </a:effectRef>
          <a:fontRef idx="minor">
            <a:schemeClr val="tx1"/>
          </a:fontRef>
        </p:style>
      </p:cxnSp>
      <p:sp>
        <p:nvSpPr>
          <p:cNvPr id="41" name="직사각형 40">
            <a:extLst>
              <a:ext uri="{FF2B5EF4-FFF2-40B4-BE49-F238E27FC236}">
                <a16:creationId xmlns:a16="http://schemas.microsoft.com/office/drawing/2014/main" id="{BE6CF8B0-B538-B16B-F0EB-F1F49287D1E5}"/>
              </a:ext>
            </a:extLst>
          </p:cNvPr>
          <p:cNvSpPr/>
          <p:nvPr/>
        </p:nvSpPr>
        <p:spPr>
          <a:xfrm>
            <a:off x="6913418" y="3985710"/>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cxnSp>
        <p:nvCxnSpPr>
          <p:cNvPr id="45" name="직선 연결선 44">
            <a:extLst>
              <a:ext uri="{FF2B5EF4-FFF2-40B4-BE49-F238E27FC236}">
                <a16:creationId xmlns:a16="http://schemas.microsoft.com/office/drawing/2014/main" id="{A8B10782-0A07-A41D-DB15-978B72410A31}"/>
              </a:ext>
            </a:extLst>
          </p:cNvPr>
          <p:cNvCxnSpPr>
            <a:stCxn id="9" idx="3"/>
            <a:endCxn id="41" idx="1"/>
          </p:cNvCxnSpPr>
          <p:nvPr/>
        </p:nvCxnSpPr>
        <p:spPr>
          <a:xfrm>
            <a:off x="5687291" y="2990174"/>
            <a:ext cx="1226127" cy="1238516"/>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201301519"/>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436</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8.3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OvsTndrSbmsnPage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단가제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mn-ea"/>
              </a:rPr>
              <a:t>Stp2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총액제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mn-ea"/>
              </a:rPr>
              <a:t>Stp2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3 - </a:t>
            </a: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latin typeface="+mn-ea"/>
              </a:rPr>
              <a:t>Stp3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OvsTndrDtlPage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t>&lt;&lt;App Page&gt;&gt;</a:t>
            </a:r>
          </a:p>
          <a:p>
            <a:pPr algn="ctr">
              <a:lnSpc>
                <a:spcPct val="120000"/>
              </a:lnSpc>
            </a:pPr>
            <a:r>
              <a:rPr lang="ko-KR" altLang="en-US" sz="1050" dirty="0">
                <a:latin typeface="+mn-ea"/>
              </a:rPr>
              <a:t>입찰서 상세 </a:t>
            </a:r>
            <a:r>
              <a:rPr lang="en-US" altLang="ko-KR" sz="1050" dirty="0">
                <a:latin typeface="+mn-ea"/>
              </a:rPr>
              <a:t>- </a:t>
            </a:r>
            <a:r>
              <a:rPr lang="ko-KR" altLang="en-US" sz="1050" dirty="0" err="1">
                <a:latin typeface="+mn-ea"/>
              </a:rPr>
              <a:t>스탭</a:t>
            </a:r>
            <a:r>
              <a:rPr lang="ko-KR" altLang="en-US" sz="1050" dirty="0">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단가제</a:t>
            </a:r>
            <a:r>
              <a:rPr lang="en-US" altLang="ko-KR" sz="1050" dirty="0">
                <a:solidFill>
                  <a:schemeClr val="tx1"/>
                </a:solidFill>
                <a:latin typeface="+mn-ea"/>
              </a:rPr>
              <a:t>)</a:t>
            </a:r>
            <a:endParaRPr lang="en-US" altLang="ko-KR" sz="1050" dirty="0"/>
          </a:p>
          <a:p>
            <a:pPr algn="ctr">
              <a:lnSpc>
                <a:spcPct val="120000"/>
              </a:lnSpc>
            </a:pPr>
            <a:r>
              <a:rPr lang="en-US" altLang="ko-KR" sz="1050" dirty="0"/>
              <a:t>Tab2.tsx</a:t>
            </a:r>
            <a:r>
              <a:rPr lang="en-US" altLang="ko-KR" sz="1050" b="1" baseline="30000" dirty="0">
                <a:latin typeface="+mn-ea"/>
              </a:rPr>
              <a:t>1)</a:t>
            </a:r>
            <a:endParaRPr lang="en-US" altLang="ko-KR" sz="1050" dirty="0"/>
          </a:p>
        </p:txBody>
      </p:sp>
      <p:sp>
        <p:nvSpPr>
          <p:cNvPr id="29" name="직사각형 28">
            <a:extLst>
              <a:ext uri="{FF2B5EF4-FFF2-40B4-BE49-F238E27FC236}">
                <a16:creationId xmlns:a16="http://schemas.microsoft.com/office/drawing/2014/main" id="{326CB017-8967-4DC4-0EAD-ADB3B9EAB841}"/>
              </a:ext>
            </a:extLst>
          </p:cNvPr>
          <p:cNvSpPr/>
          <p:nvPr/>
        </p:nvSpPr>
        <p:spPr>
          <a:xfrm>
            <a:off x="1038044" y="4882211"/>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t>&lt;&lt;App Page&gt;&gt;</a:t>
            </a:r>
          </a:p>
          <a:p>
            <a:pPr algn="ctr">
              <a:lnSpc>
                <a:spcPct val="120000"/>
              </a:lnSpc>
            </a:pPr>
            <a:r>
              <a:rPr lang="ko-KR" altLang="en-US" sz="1050" dirty="0">
                <a:latin typeface="+mn-ea"/>
              </a:rPr>
              <a:t>입찰서 상세 </a:t>
            </a:r>
            <a:r>
              <a:rPr lang="en-US" altLang="ko-KR" sz="1050" dirty="0">
                <a:latin typeface="+mn-ea"/>
              </a:rPr>
              <a:t>- </a:t>
            </a:r>
            <a:r>
              <a:rPr lang="ko-KR" altLang="en-US" sz="1050" dirty="0" err="1">
                <a:latin typeface="+mn-ea"/>
              </a:rPr>
              <a:t>스탭</a:t>
            </a:r>
            <a:r>
              <a:rPr lang="ko-KR" altLang="en-US" sz="1050" dirty="0">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총액제</a:t>
            </a:r>
            <a:r>
              <a:rPr lang="en-US" altLang="ko-KR" sz="1050" dirty="0">
                <a:solidFill>
                  <a:schemeClr val="tx1"/>
                </a:solidFill>
                <a:latin typeface="+mn-ea"/>
              </a:rPr>
              <a:t>)</a:t>
            </a:r>
            <a:endParaRPr lang="en-US" altLang="ko-KR" sz="1050" dirty="0"/>
          </a:p>
          <a:p>
            <a:pPr algn="ctr">
              <a:lnSpc>
                <a:spcPct val="120000"/>
              </a:lnSpc>
            </a:pPr>
            <a:r>
              <a:rPr lang="en-US" altLang="ko-KR" sz="1050" dirty="0"/>
              <a:t>Tab2.tsx</a:t>
            </a:r>
            <a:r>
              <a:rPr lang="en-US" altLang="ko-KR" sz="1050" b="1" baseline="30000" dirty="0">
                <a:latin typeface="+mn-ea"/>
              </a:rPr>
              <a:t>1)</a:t>
            </a:r>
            <a:endParaRPr lang="en-US" altLang="ko-KR" sz="1050" dirty="0"/>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765244" y="2990174"/>
            <a:ext cx="1194847" cy="20983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038044" y="5387467"/>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t>&lt;&lt;App Page&gt;&gt;</a:t>
            </a:r>
          </a:p>
          <a:p>
            <a:pPr algn="ctr">
              <a:lnSpc>
                <a:spcPct val="120000"/>
              </a:lnSpc>
            </a:pPr>
            <a:r>
              <a:rPr lang="ko-KR" altLang="en-US" sz="1050" dirty="0">
                <a:latin typeface="+mn-ea"/>
              </a:rPr>
              <a:t>입찰서 상세 </a:t>
            </a:r>
            <a:r>
              <a:rPr lang="en-US" altLang="ko-KR" sz="1050" dirty="0">
                <a:latin typeface="+mn-ea"/>
              </a:rPr>
              <a:t>- </a:t>
            </a:r>
            <a:r>
              <a:rPr lang="ko-KR" altLang="en-US" sz="1050" dirty="0">
                <a:latin typeface="+mn-ea"/>
              </a:rPr>
              <a:t>탭 </a:t>
            </a:r>
            <a:r>
              <a:rPr lang="en-US" altLang="ko-KR" sz="1050" dirty="0">
                <a:solidFill>
                  <a:prstClr val="black"/>
                </a:solidFill>
                <a:latin typeface="맑은 고딕" panose="020B0503020000020004" pitchFamily="50" charset="-127"/>
              </a:rPr>
              <a:t>3 - </a:t>
            </a:r>
            <a:r>
              <a:rPr lang="ko-KR" altLang="en-US" sz="1050" dirty="0">
                <a:solidFill>
                  <a:prstClr val="black"/>
                </a:solidFill>
                <a:latin typeface="맑은 고딕" panose="020B0503020000020004" pitchFamily="50" charset="-127"/>
              </a:rPr>
              <a:t>첨부파일</a:t>
            </a:r>
            <a:endParaRPr lang="en-US" altLang="ko-KR" sz="1050" dirty="0"/>
          </a:p>
          <a:p>
            <a:pPr algn="ctr">
              <a:lnSpc>
                <a:spcPct val="120000"/>
              </a:lnSpc>
            </a:pPr>
            <a:r>
              <a:rPr lang="en-US" altLang="ko-KR" sz="1050" dirty="0"/>
              <a:t>Tab3.tsx</a:t>
            </a:r>
            <a:r>
              <a:rPr lang="en-US" altLang="ko-KR" sz="1050" b="1" baseline="30000" dirty="0">
                <a:latin typeface="+mn-ea"/>
              </a:rPr>
              <a:t>1)</a:t>
            </a:r>
            <a:endParaRPr lang="en-US" altLang="ko-KR" sz="1050" dirty="0"/>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765244" y="2990174"/>
            <a:ext cx="1194847" cy="26035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직선 화살표 연결선 41">
            <a:extLst>
              <a:ext uri="{FF2B5EF4-FFF2-40B4-BE49-F238E27FC236}">
                <a16:creationId xmlns:a16="http://schemas.microsoft.com/office/drawing/2014/main" id="{418E1257-E5C2-5705-1378-45505004ABAF}"/>
              </a:ext>
            </a:extLst>
          </p:cNvPr>
          <p:cNvCxnSpPr>
            <a:cxnSpLocks/>
            <a:stCxn id="66" idx="0"/>
            <a:endCxn id="9" idx="2"/>
          </p:cNvCxnSpPr>
          <p:nvPr/>
        </p:nvCxnSpPr>
        <p:spPr>
          <a:xfrm flipV="1">
            <a:off x="3642541" y="3810190"/>
            <a:ext cx="1181150"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직선 화살표 연결선 42">
            <a:extLst>
              <a:ext uri="{FF2B5EF4-FFF2-40B4-BE49-F238E27FC236}">
                <a16:creationId xmlns:a16="http://schemas.microsoft.com/office/drawing/2014/main" id="{418E1257-E5C2-5705-1378-45505004ABAF}"/>
              </a:ext>
            </a:extLst>
          </p:cNvPr>
          <p:cNvCxnSpPr>
            <a:cxnSpLocks/>
            <a:stCxn id="67" idx="0"/>
            <a:endCxn id="9" idx="2"/>
          </p:cNvCxnSpPr>
          <p:nvPr/>
        </p:nvCxnSpPr>
        <p:spPr>
          <a:xfrm flipH="1" flipV="1">
            <a:off x="4823691" y="3810190"/>
            <a:ext cx="416808"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8.3.1 </a:t>
            </a:r>
            <a:r>
              <a:rPr lang="ko-KR" altLang="en-US" sz="1200" dirty="0">
                <a:solidFill>
                  <a:schemeClr val="tx1"/>
                </a:solidFill>
              </a:rPr>
              <a:t>국외 </a:t>
            </a:r>
            <a:r>
              <a:rPr lang="ko-KR" altLang="en-US" sz="1200" dirty="0" err="1">
                <a:solidFill>
                  <a:schemeClr val="tx1"/>
                </a:solidFill>
              </a:rPr>
              <a:t>입찰진행</a:t>
            </a:r>
            <a:r>
              <a:rPr lang="ko-KR" altLang="en-US" sz="1200" dirty="0">
                <a:solidFill>
                  <a:schemeClr val="tx1"/>
                </a:solidFill>
              </a:rPr>
              <a:t> </a:t>
            </a:r>
            <a:r>
              <a:rPr lang="en-US" altLang="ko-KR" sz="1200" dirty="0">
                <a:solidFill>
                  <a:schemeClr val="tx1"/>
                </a:solidFill>
              </a:rPr>
              <a:t>(1/2)</a:t>
            </a:r>
            <a:endParaRPr lang="ko-KR" altLang="en-US" sz="1200" dirty="0">
              <a:solidFill>
                <a:schemeClr val="tx1"/>
              </a:solidFill>
            </a:endParaRPr>
          </a:p>
        </p:txBody>
      </p:sp>
      <p:sp>
        <p:nvSpPr>
          <p:cNvPr id="61" name="직사각형 60">
            <a:extLst>
              <a:ext uri="{FF2B5EF4-FFF2-40B4-BE49-F238E27FC236}">
                <a16:creationId xmlns:a16="http://schemas.microsoft.com/office/drawing/2014/main" id="{326CB017-8967-4DC4-0EAD-ADB3B9EAB841}"/>
              </a:ext>
            </a:extLst>
          </p:cNvPr>
          <p:cNvSpPr/>
          <p:nvPr/>
        </p:nvSpPr>
        <p:spPr>
          <a:xfrm>
            <a:off x="1038044" y="589158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맑은 고딕" panose="020B0503020000020004" pitchFamily="50" charset="-127"/>
              </a:rPr>
              <a:t>입찰등록결과조회</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OvsBidRegRslt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66" name="직사각형 65">
            <a:extLst>
              <a:ext uri="{FF2B5EF4-FFF2-40B4-BE49-F238E27FC236}">
                <a16:creationId xmlns:a16="http://schemas.microsoft.com/office/drawing/2014/main" id="{326CB017-8967-4DC4-0EAD-ADB3B9EAB841}"/>
              </a:ext>
            </a:extLst>
          </p:cNvPr>
          <p:cNvSpPr/>
          <p:nvPr/>
        </p:nvSpPr>
        <p:spPr>
          <a:xfrm>
            <a:off x="2864228"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맑은 고딕" panose="020B0503020000020004" pitchFamily="50" charset="-127"/>
              </a:rPr>
              <a:t>입찰취소신청서작성</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OvsBidRtrcnAply</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67" name="직사각형 66">
            <a:extLst>
              <a:ext uri="{FF2B5EF4-FFF2-40B4-BE49-F238E27FC236}">
                <a16:creationId xmlns:a16="http://schemas.microsoft.com/office/drawing/2014/main" id="{326CB017-8967-4DC4-0EAD-ADB3B9EAB841}"/>
              </a:ext>
            </a:extLst>
          </p:cNvPr>
          <p:cNvSpPr/>
          <p:nvPr/>
        </p:nvSpPr>
        <p:spPr>
          <a:xfrm>
            <a:off x="4462186"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맑은 고딕" panose="020B0503020000020004" pitchFamily="50" charset="-127"/>
              </a:rPr>
              <a:t>기술평가결과조회</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OvsTechEvlRslt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68" name="직선 화살표 연결선 67">
            <a:extLst>
              <a:ext uri="{FF2B5EF4-FFF2-40B4-BE49-F238E27FC236}">
                <a16:creationId xmlns:a16="http://schemas.microsoft.com/office/drawing/2014/main" id="{418E1257-E5C2-5705-1378-45505004ABAF}"/>
              </a:ext>
            </a:extLst>
          </p:cNvPr>
          <p:cNvCxnSpPr>
            <a:cxnSpLocks/>
            <a:stCxn id="61" idx="3"/>
            <a:endCxn id="9" idx="1"/>
          </p:cNvCxnSpPr>
          <p:nvPr/>
        </p:nvCxnSpPr>
        <p:spPr>
          <a:xfrm flipV="1">
            <a:off x="2765244" y="2990174"/>
            <a:ext cx="1194847" cy="31077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326CB017-8967-4DC4-0EAD-ADB3B9EAB841}"/>
              </a:ext>
            </a:extLst>
          </p:cNvPr>
          <p:cNvSpPr/>
          <p:nvPr/>
        </p:nvSpPr>
        <p:spPr>
          <a:xfrm>
            <a:off x="4462186" y="5387467"/>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사업별입찰등록결과조회</a:t>
            </a:r>
            <a:endParaRPr lang="en-US" altLang="ko-KR" sz="1050" dirty="0">
              <a:solidFill>
                <a:schemeClr val="tx1"/>
              </a:solidFill>
            </a:endParaRPr>
          </a:p>
          <a:p>
            <a:pPr algn="ctr">
              <a:lnSpc>
                <a:spcPct val="120000"/>
              </a:lnSpc>
            </a:pPr>
            <a:r>
              <a:rPr lang="en-US" altLang="ko-KR" sz="1050" dirty="0">
                <a:solidFill>
                  <a:schemeClr val="tx1"/>
                </a:solidFill>
              </a:rPr>
              <a:t>OvsBidRegRsltByBiz.tsx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74" name="직선 화살표 연결선 73">
            <a:extLst>
              <a:ext uri="{FF2B5EF4-FFF2-40B4-BE49-F238E27FC236}">
                <a16:creationId xmlns:a16="http://schemas.microsoft.com/office/drawing/2014/main" id="{418E1257-E5C2-5705-1378-45505004ABAF}"/>
              </a:ext>
            </a:extLst>
          </p:cNvPr>
          <p:cNvCxnSpPr>
            <a:cxnSpLocks/>
            <a:stCxn id="32" idx="0"/>
            <a:endCxn id="9" idx="2"/>
          </p:cNvCxnSpPr>
          <p:nvPr/>
        </p:nvCxnSpPr>
        <p:spPr>
          <a:xfrm flipH="1" flipV="1">
            <a:off x="4823691" y="3810190"/>
            <a:ext cx="416808" cy="15772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6" name="직사각형 35">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입찰진행</a:t>
            </a:r>
            <a:r>
              <a:rPr lang="en-US" altLang="ko-KR" sz="1100" dirty="0"/>
              <a:t>Controller&gt;&gt;</a:t>
            </a:r>
          </a:p>
          <a:p>
            <a:pPr algn="ctr"/>
            <a:r>
              <a:rPr lang="en-US" altLang="ko-KR" sz="1100" kern="0" dirty="0" err="1">
                <a:solidFill>
                  <a:srgbClr val="000000"/>
                </a:solidFill>
                <a:latin typeface="+mn-ea"/>
              </a:rPr>
              <a:t>BidPrgrsController</a:t>
            </a:r>
            <a:endParaRPr lang="en-US" altLang="ko-KR" sz="1100" kern="0" dirty="0">
              <a:solidFill>
                <a:srgbClr val="000000"/>
              </a:solidFill>
              <a:latin typeface="+mn-ea"/>
            </a:endParaRPr>
          </a:p>
        </p:txBody>
      </p:sp>
      <p:cxnSp>
        <p:nvCxnSpPr>
          <p:cNvPr id="38" name="직선 연결선 37">
            <a:extLst>
              <a:ext uri="{FF2B5EF4-FFF2-40B4-BE49-F238E27FC236}">
                <a16:creationId xmlns:a16="http://schemas.microsoft.com/office/drawing/2014/main" id="{A8B10782-0A07-A41D-DB15-978B72410A31}"/>
              </a:ext>
            </a:extLst>
          </p:cNvPr>
          <p:cNvCxnSpPr>
            <a:endCxn id="36"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BE6CF8B0-B538-B16B-F0EB-F1F49287D1E5}"/>
              </a:ext>
            </a:extLst>
          </p:cNvPr>
          <p:cNvSpPr/>
          <p:nvPr/>
        </p:nvSpPr>
        <p:spPr>
          <a:xfrm>
            <a:off x="6913418" y="3366452"/>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40" name="직선 연결선 39">
            <a:extLst>
              <a:ext uri="{FF2B5EF4-FFF2-40B4-BE49-F238E27FC236}">
                <a16:creationId xmlns:a16="http://schemas.microsoft.com/office/drawing/2014/main" id="{A8B10782-0A07-A41D-DB15-978B72410A31}"/>
              </a:ext>
            </a:extLst>
          </p:cNvPr>
          <p:cNvCxnSpPr>
            <a:endCxn id="39" idx="1"/>
          </p:cNvCxnSpPr>
          <p:nvPr/>
        </p:nvCxnSpPr>
        <p:spPr>
          <a:xfrm>
            <a:off x="5687291" y="2990174"/>
            <a:ext cx="1226127" cy="619258"/>
          </a:xfrm>
          <a:prstGeom prst="line">
            <a:avLst/>
          </a:prstGeom>
        </p:spPr>
        <p:style>
          <a:lnRef idx="1">
            <a:schemeClr val="dk1"/>
          </a:lnRef>
          <a:fillRef idx="0">
            <a:schemeClr val="dk1"/>
          </a:fillRef>
          <a:effectRef idx="0">
            <a:schemeClr val="dk1"/>
          </a:effectRef>
          <a:fontRef idx="minor">
            <a:schemeClr val="tx1"/>
          </a:fontRef>
        </p:style>
      </p:cxnSp>
      <p:sp>
        <p:nvSpPr>
          <p:cNvPr id="41" name="직사각형 40">
            <a:extLst>
              <a:ext uri="{FF2B5EF4-FFF2-40B4-BE49-F238E27FC236}">
                <a16:creationId xmlns:a16="http://schemas.microsoft.com/office/drawing/2014/main" id="{BE6CF8B0-B538-B16B-F0EB-F1F49287D1E5}"/>
              </a:ext>
            </a:extLst>
          </p:cNvPr>
          <p:cNvSpPr/>
          <p:nvPr/>
        </p:nvSpPr>
        <p:spPr>
          <a:xfrm>
            <a:off x="6913418" y="3985710"/>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cxnSp>
        <p:nvCxnSpPr>
          <p:cNvPr id="45" name="직선 연결선 44">
            <a:extLst>
              <a:ext uri="{FF2B5EF4-FFF2-40B4-BE49-F238E27FC236}">
                <a16:creationId xmlns:a16="http://schemas.microsoft.com/office/drawing/2014/main" id="{A8B10782-0A07-A41D-DB15-978B72410A31}"/>
              </a:ext>
            </a:extLst>
          </p:cNvPr>
          <p:cNvCxnSpPr>
            <a:endCxn id="41" idx="1"/>
          </p:cNvCxnSpPr>
          <p:nvPr/>
        </p:nvCxnSpPr>
        <p:spPr>
          <a:xfrm>
            <a:off x="5687291" y="2990174"/>
            <a:ext cx="1226127" cy="1238516"/>
          </a:xfrm>
          <a:prstGeom prst="line">
            <a:avLst/>
          </a:prstGeom>
        </p:spPr>
        <p:style>
          <a:lnRef idx="1">
            <a:schemeClr val="dk1"/>
          </a:lnRef>
          <a:fillRef idx="0">
            <a:schemeClr val="dk1"/>
          </a:fillRef>
          <a:effectRef idx="0">
            <a:schemeClr val="dk1"/>
          </a:effectRef>
          <a:fontRef idx="minor">
            <a:schemeClr val="tx1"/>
          </a:fontRef>
        </p:style>
      </p:cxnSp>
      <p:sp>
        <p:nvSpPr>
          <p:cNvPr id="46" name="직사각형 45">
            <a:extLst>
              <a:ext uri="{FF2B5EF4-FFF2-40B4-BE49-F238E27FC236}">
                <a16:creationId xmlns:a16="http://schemas.microsoft.com/office/drawing/2014/main" id="{BE6CF8B0-B538-B16B-F0EB-F1F49287D1E5}"/>
              </a:ext>
            </a:extLst>
          </p:cNvPr>
          <p:cNvSpPr/>
          <p:nvPr/>
        </p:nvSpPr>
        <p:spPr>
          <a:xfrm>
            <a:off x="6913418" y="4619689"/>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기술평가</a:t>
            </a:r>
            <a:r>
              <a:rPr lang="en-US" altLang="ko-KR" sz="900" dirty="0"/>
              <a:t>Controller&gt;&gt;</a:t>
            </a:r>
          </a:p>
          <a:p>
            <a:pPr algn="ctr"/>
            <a:r>
              <a:rPr lang="en-US" altLang="ko-KR" sz="900" dirty="0" err="1"/>
              <a:t>TechEvlController</a:t>
            </a:r>
            <a:endParaRPr lang="en-US" altLang="ko-KR" sz="900" dirty="0"/>
          </a:p>
        </p:txBody>
      </p:sp>
      <p:cxnSp>
        <p:nvCxnSpPr>
          <p:cNvPr id="47" name="직선 연결선 46">
            <a:extLst>
              <a:ext uri="{FF2B5EF4-FFF2-40B4-BE49-F238E27FC236}">
                <a16:creationId xmlns:a16="http://schemas.microsoft.com/office/drawing/2014/main" id="{A8B10782-0A07-A41D-DB15-978B72410A31}"/>
              </a:ext>
            </a:extLst>
          </p:cNvPr>
          <p:cNvCxnSpPr>
            <a:stCxn id="9" idx="3"/>
            <a:endCxn id="46" idx="1"/>
          </p:cNvCxnSpPr>
          <p:nvPr/>
        </p:nvCxnSpPr>
        <p:spPr>
          <a:xfrm>
            <a:off x="5687291" y="2990174"/>
            <a:ext cx="1226127" cy="1872495"/>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30311607"/>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p:txBody>
          <a:bodyPr/>
          <a:lstStyle/>
          <a:p>
            <a:pPr marL="228600" indent="-228600">
              <a:buFont typeface="+mj-lt"/>
              <a:buAutoNum type="arabicPeriod"/>
            </a:pPr>
            <a:r>
              <a:rPr lang="ko-KR" altLang="en-US" dirty="0"/>
              <a:t>업무 도움말 </a:t>
            </a:r>
            <a:r>
              <a:rPr lang="ko-KR" altLang="en-US" dirty="0" smtClean="0"/>
              <a:t>표시</a:t>
            </a:r>
            <a:endParaRPr lang="en-US" altLang="ko-KR" dirty="0"/>
          </a:p>
          <a:p>
            <a:pPr marL="228600" indent="-228600">
              <a:buFont typeface="+mj-lt"/>
              <a:buAutoNum type="arabicPeriod"/>
            </a:pPr>
            <a:r>
              <a:rPr lang="ko-KR" altLang="en-US" dirty="0" smtClean="0"/>
              <a:t>공고 </a:t>
            </a:r>
            <a:r>
              <a:rPr lang="ko-KR" altLang="en-US" dirty="0" err="1" smtClean="0"/>
              <a:t>목록중</a:t>
            </a:r>
            <a:r>
              <a:rPr lang="ko-KR" altLang="en-US" dirty="0" smtClean="0"/>
              <a:t> 로그인한 사용자가 신청서를 작성한 입찰 항목을 노출함</a:t>
            </a:r>
            <a:r>
              <a:rPr lang="en-US" altLang="ko-KR" dirty="0"/>
              <a:t/>
            </a:r>
            <a:br>
              <a:rPr lang="en-US" altLang="ko-KR" dirty="0"/>
            </a:br>
            <a:r>
              <a:rPr lang="en-US" altLang="ko-KR" dirty="0" smtClean="0"/>
              <a:t>(</a:t>
            </a:r>
            <a:r>
              <a:rPr lang="ko-KR" altLang="en-US" dirty="0" smtClean="0"/>
              <a:t>개인화된 목록</a:t>
            </a:r>
            <a:r>
              <a:rPr lang="en-US" altLang="ko-KR" dirty="0" smtClean="0"/>
              <a:t>)</a:t>
            </a:r>
            <a:endParaRPr lang="en-US" altLang="ko-KR" dirty="0"/>
          </a:p>
          <a:p>
            <a:pPr marL="0" indent="0">
              <a:buNone/>
            </a:pPr>
            <a:endParaRPr lang="en-US" altLang="ko-KR" sz="600" dirty="0"/>
          </a:p>
          <a:p>
            <a:pPr marL="228600" indent="-228600">
              <a:buFont typeface="+mj-lt"/>
              <a:buAutoNum type="arabicPeriod"/>
            </a:pPr>
            <a:r>
              <a:rPr lang="ko-KR" altLang="en-US" sz="600" strike="sngStrike" dirty="0" smtClean="0">
                <a:solidFill>
                  <a:srgbClr val="FF0000"/>
                </a:solidFill>
              </a:rPr>
              <a:t>공고 전체 </a:t>
            </a:r>
            <a:r>
              <a:rPr lang="ko-KR" altLang="en-US" sz="600" strike="sngStrike" dirty="0">
                <a:solidFill>
                  <a:srgbClr val="FF0000"/>
                </a:solidFill>
              </a:rPr>
              <a:t>목록 </a:t>
            </a:r>
            <a:r>
              <a:rPr lang="ko-KR" altLang="en-US" sz="600" strike="sngStrike" dirty="0" smtClean="0">
                <a:solidFill>
                  <a:srgbClr val="FF0000"/>
                </a:solidFill>
              </a:rPr>
              <a:t>표시</a:t>
            </a:r>
            <a:r>
              <a:rPr lang="en-US" altLang="ko-KR" sz="600" strike="sngStrike" dirty="0" smtClean="0">
                <a:solidFill>
                  <a:srgbClr val="FF0000"/>
                </a:solidFill>
              </a:rPr>
              <a:t/>
            </a:r>
            <a:br>
              <a:rPr lang="en-US" altLang="ko-KR" sz="600" strike="sngStrike" dirty="0" smtClean="0">
                <a:solidFill>
                  <a:srgbClr val="FF0000"/>
                </a:solidFill>
              </a:rPr>
            </a:br>
            <a:r>
              <a:rPr lang="en-US" altLang="ko-KR" sz="600" strike="sngStrike" dirty="0" smtClean="0">
                <a:solidFill>
                  <a:srgbClr val="FF0000"/>
                </a:solidFill>
              </a:rPr>
              <a:t>- </a:t>
            </a:r>
            <a:r>
              <a:rPr lang="ko-KR" altLang="en-US" sz="600" strike="sngStrike" dirty="0" smtClean="0">
                <a:solidFill>
                  <a:srgbClr val="FF0000"/>
                </a:solidFill>
              </a:rPr>
              <a:t>입찰 진행 일시가 도래하지 않은 경우 진입할 수 없음</a:t>
            </a:r>
            <a:r>
              <a:rPr lang="en-US" altLang="ko-KR" sz="600" strike="sngStrike" dirty="0" smtClean="0">
                <a:solidFill>
                  <a:srgbClr val="FF0000"/>
                </a:solidFill>
              </a:rPr>
              <a:t/>
            </a:r>
            <a:br>
              <a:rPr lang="en-US" altLang="ko-KR" sz="600" strike="sngStrike" dirty="0" smtClean="0">
                <a:solidFill>
                  <a:srgbClr val="FF0000"/>
                </a:solidFill>
              </a:rPr>
            </a:br>
            <a:r>
              <a:rPr lang="en-US" altLang="ko-KR" sz="600" strike="sngStrike" dirty="0" smtClean="0">
                <a:solidFill>
                  <a:srgbClr val="FF0000"/>
                </a:solidFill>
              </a:rPr>
              <a:t>  &gt; </a:t>
            </a:r>
            <a:r>
              <a:rPr lang="ko-KR" altLang="en-US" sz="600" strike="sngStrike" dirty="0" smtClean="0">
                <a:solidFill>
                  <a:srgbClr val="FF0000"/>
                </a:solidFill>
              </a:rPr>
              <a:t>토스트 메시지 </a:t>
            </a:r>
            <a:r>
              <a:rPr lang="en-US" altLang="ko-KR" sz="600" strike="sngStrike" dirty="0" smtClean="0">
                <a:solidFill>
                  <a:srgbClr val="FF0000"/>
                </a:solidFill>
              </a:rPr>
              <a:t>– </a:t>
            </a:r>
            <a:r>
              <a:rPr lang="ko-KR" altLang="en-US" sz="600" strike="sngStrike" dirty="0" smtClean="0">
                <a:solidFill>
                  <a:srgbClr val="FF0000"/>
                </a:solidFill>
              </a:rPr>
              <a:t>입찰 진행 일이 아닙니다</a:t>
            </a:r>
            <a:r>
              <a:rPr lang="en-US" altLang="ko-KR" sz="600" strike="sngStrike" dirty="0" smtClean="0">
                <a:solidFill>
                  <a:srgbClr val="FF0000"/>
                </a:solidFill>
              </a:rPr>
              <a:t>.</a:t>
            </a:r>
            <a:br>
              <a:rPr lang="en-US" altLang="ko-KR" sz="600" strike="sngStrike" dirty="0" smtClean="0">
                <a:solidFill>
                  <a:srgbClr val="FF0000"/>
                </a:solidFill>
              </a:rPr>
            </a:br>
            <a:r>
              <a:rPr lang="en-US" altLang="ko-KR" sz="600" strike="sngStrike" dirty="0" smtClean="0">
                <a:solidFill>
                  <a:srgbClr val="FF0000"/>
                </a:solidFill>
              </a:rPr>
              <a:t>- </a:t>
            </a:r>
            <a:r>
              <a:rPr lang="ko-KR" altLang="en-US" sz="600" strike="sngStrike" dirty="0" smtClean="0">
                <a:solidFill>
                  <a:srgbClr val="FF0000"/>
                </a:solidFill>
              </a:rPr>
              <a:t>입찰한 내역이 있어야 진입할 수 있음</a:t>
            </a:r>
            <a:r>
              <a:rPr lang="en-US" altLang="ko-KR" sz="600" strike="sngStrike" dirty="0" smtClean="0">
                <a:solidFill>
                  <a:srgbClr val="FF0000"/>
                </a:solidFill>
              </a:rPr>
              <a:t>.</a:t>
            </a:r>
            <a:br>
              <a:rPr lang="en-US" altLang="ko-KR" sz="600" strike="sngStrike" dirty="0" smtClean="0">
                <a:solidFill>
                  <a:srgbClr val="FF0000"/>
                </a:solidFill>
              </a:rPr>
            </a:br>
            <a:r>
              <a:rPr lang="en-US" altLang="ko-KR" sz="600" strike="sngStrike" dirty="0" smtClean="0">
                <a:solidFill>
                  <a:srgbClr val="FF0000"/>
                </a:solidFill>
              </a:rPr>
              <a:t>  &gt; </a:t>
            </a:r>
            <a:r>
              <a:rPr lang="ko-KR" altLang="en-US" sz="600" strike="sngStrike" dirty="0" smtClean="0">
                <a:solidFill>
                  <a:srgbClr val="FF0000"/>
                </a:solidFill>
              </a:rPr>
              <a:t>토스트 메시지</a:t>
            </a:r>
            <a:r>
              <a:rPr lang="en-US" altLang="ko-KR" sz="600" strike="sngStrike" dirty="0" smtClean="0">
                <a:solidFill>
                  <a:srgbClr val="FF0000"/>
                </a:solidFill>
              </a:rPr>
              <a:t> – </a:t>
            </a:r>
            <a:r>
              <a:rPr lang="ko-KR" altLang="en-US" sz="600" strike="sngStrike" dirty="0" smtClean="0">
                <a:solidFill>
                  <a:srgbClr val="FF0000"/>
                </a:solidFill>
              </a:rPr>
              <a:t>입찰 진행 이력이 없습니다</a:t>
            </a:r>
            <a:r>
              <a:rPr lang="en-US" altLang="ko-KR" sz="600" strike="sngStrike" dirty="0" smtClean="0">
                <a:solidFill>
                  <a:srgbClr val="FF0000"/>
                </a:solidFill>
              </a:rPr>
              <a:t>.</a:t>
            </a:r>
            <a:br>
              <a:rPr lang="en-US" altLang="ko-KR" sz="600" strike="sngStrike" dirty="0" smtClean="0">
                <a:solidFill>
                  <a:srgbClr val="FF0000"/>
                </a:solidFill>
              </a:rPr>
            </a:br>
            <a:endParaRPr lang="en-US" altLang="ko-KR" strike="sngStrike" dirty="0" smtClean="0">
              <a:solidFill>
                <a:srgbClr val="FF0000"/>
              </a:solidFill>
            </a:endParaRPr>
          </a:p>
          <a:p>
            <a:pPr marL="0" indent="0">
              <a:buNone/>
            </a:pPr>
            <a:endParaRPr lang="en-US" altLang="ko-KR" strike="sngStrike" dirty="0">
              <a:solidFill>
                <a:srgbClr val="FF0000"/>
              </a:solidFill>
            </a:endParaRPr>
          </a:p>
        </p:txBody>
      </p:sp>
      <p:sp>
        <p:nvSpPr>
          <p:cNvPr id="2" name="슬라이드 번호 개체 틀 1"/>
          <p:cNvSpPr>
            <a:spLocks noGrp="1"/>
          </p:cNvSpPr>
          <p:nvPr>
            <p:ph type="sldNum" sz="quarter" idx="4"/>
          </p:nvPr>
        </p:nvSpPr>
        <p:spPr/>
        <p:txBody>
          <a:bodyPr/>
          <a:lstStyle/>
          <a:p>
            <a:fld id="{34C8E023-7346-48FC-AB24-9A3388C53208}" type="slidenum">
              <a:rPr lang="ko-KR" altLang="en-US" smtClean="0"/>
              <a:pPr/>
              <a:t>437</a:t>
            </a:fld>
            <a:endParaRPr lang="ko-KR" altLang="en-US" dirty="0"/>
          </a:p>
        </p:txBody>
      </p:sp>
      <p:sp>
        <p:nvSpPr>
          <p:cNvPr id="5" name="텍스트 개체 틀 4"/>
          <p:cNvSpPr>
            <a:spLocks noGrp="1"/>
          </p:cNvSpPr>
          <p:nvPr>
            <p:ph type="body" sz="quarter" idx="12"/>
          </p:nvPr>
        </p:nvSpPr>
        <p:spPr/>
        <p:txBody>
          <a:bodyPr/>
          <a:lstStyle/>
          <a:p>
            <a:pPr fontAlgn="ctr"/>
            <a:r>
              <a:rPr lang="ko-KR" altLang="en-US" dirty="0" smtClean="0">
                <a:latin typeface="+mn-ea"/>
              </a:rPr>
              <a:t>입찰진행목록</a:t>
            </a:r>
            <a:endParaRPr lang="ko-KR" altLang="en-US" dirty="0">
              <a:latin typeface="+mn-ea"/>
            </a:endParaRPr>
          </a:p>
        </p:txBody>
      </p:sp>
      <p:sp>
        <p:nvSpPr>
          <p:cNvPr id="6" name="텍스트 개체 틀 5"/>
          <p:cNvSpPr>
            <a:spLocks noGrp="1"/>
          </p:cNvSpPr>
          <p:nvPr>
            <p:ph type="body" sz="quarter" idx="13"/>
          </p:nvPr>
        </p:nvSpPr>
        <p:spPr/>
        <p:txBody>
          <a:bodyPr/>
          <a:lstStyle/>
          <a:p>
            <a:r>
              <a:rPr lang="ko-KR" altLang="en-US" dirty="0"/>
              <a:t>입찰 진행 목록 화면 </a:t>
            </a:r>
            <a:r>
              <a:rPr lang="en-US" altLang="ko-KR" dirty="0"/>
              <a:t>– </a:t>
            </a:r>
            <a:r>
              <a:rPr lang="ko-KR" altLang="en-US" dirty="0"/>
              <a:t>조달업체에서 신청서를 작성한 목록</a:t>
            </a:r>
          </a:p>
        </p:txBody>
      </p:sp>
      <p:sp>
        <p:nvSpPr>
          <p:cNvPr id="7" name="텍스트 개체 틀 6"/>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a:t>
            </a:r>
          </a:p>
        </p:txBody>
      </p:sp>
      <p:sp>
        <p:nvSpPr>
          <p:cNvPr id="8" name="텍스트 개체 틀 7"/>
          <p:cNvSpPr>
            <a:spLocks noGrp="1"/>
          </p:cNvSpPr>
          <p:nvPr>
            <p:ph type="body" sz="quarter" idx="15"/>
          </p:nvPr>
        </p:nvSpPr>
        <p:spPr/>
        <p:txBody>
          <a:bodyPr/>
          <a:lstStyle/>
          <a:p>
            <a:r>
              <a:rPr lang="en-US" altLang="ko-KR" dirty="0">
                <a:latin typeface="+mn-ea"/>
              </a:rPr>
              <a:t>MUI-BD-03-M01</a:t>
            </a:r>
            <a:endParaRPr lang="ko-KR" altLang="en-US" dirty="0">
              <a:latin typeface="+mn-ea"/>
            </a:endParaRPr>
          </a:p>
        </p:txBody>
      </p:sp>
      <p:sp>
        <p:nvSpPr>
          <p:cNvPr id="9" name="직사각형 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 name="직선 연결선 18">
            <a:extLst>
              <a:ext uri="{FF2B5EF4-FFF2-40B4-BE49-F238E27FC236}">
                <a16:creationId xmlns:a16="http://schemas.microsoft.com/office/drawing/2014/main" id="{E9293055-D5CD-4B9E-7F64-64B2D2CA7A52}"/>
              </a:ext>
            </a:extLst>
          </p:cNvPr>
          <p:cNvCxnSpPr/>
          <p:nvPr/>
        </p:nvCxnSpPr>
        <p:spPr>
          <a:xfrm>
            <a:off x="680570" y="226901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 name="타원 23">
            <a:extLst>
              <a:ext uri="{FF2B5EF4-FFF2-40B4-BE49-F238E27FC236}">
                <a16:creationId xmlns:a16="http://schemas.microsoft.com/office/drawing/2014/main" id="{37A7FF4F-0EAA-1463-560A-D5EC24416103}"/>
              </a:ext>
            </a:extLst>
          </p:cNvPr>
          <p:cNvSpPr/>
          <p:nvPr/>
        </p:nvSpPr>
        <p:spPr>
          <a:xfrm>
            <a:off x="571127" y="23809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5" name="그룹 24"/>
          <p:cNvGrpSpPr/>
          <p:nvPr/>
        </p:nvGrpSpPr>
        <p:grpSpPr>
          <a:xfrm>
            <a:off x="781461" y="3706883"/>
            <a:ext cx="2473257" cy="1098561"/>
            <a:chOff x="781461" y="2610063"/>
            <a:chExt cx="2473257" cy="1098561"/>
          </a:xfrm>
        </p:grpSpPr>
        <p:sp>
          <p:nvSpPr>
            <p:cNvPr id="26"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27"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28"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29" name="모서리가 둥근 직사각형 28"/>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30" name="모서리가 둥근 직사각형 29"/>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31" name="모서리가 둥근 직사각형 30"/>
            <p:cNvSpPr/>
            <p:nvPr/>
          </p:nvSpPr>
          <p:spPr>
            <a:xfrm>
              <a:off x="1522790"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32" name="모서리가 둥근 직사각형 31"/>
            <p:cNvSpPr/>
            <p:nvPr/>
          </p:nvSpPr>
          <p:spPr>
            <a:xfrm>
              <a:off x="1964204"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grpSp>
        <p:nvGrpSpPr>
          <p:cNvPr id="33" name="그룹 32">
            <a:extLst>
              <a:ext uri="{FF2B5EF4-FFF2-40B4-BE49-F238E27FC236}">
                <a16:creationId xmlns:a16="http://schemas.microsoft.com/office/drawing/2014/main" id="{22BC05EE-C648-7CA2-4CCC-6E1C1A7E9BDA}"/>
              </a:ext>
            </a:extLst>
          </p:cNvPr>
          <p:cNvGrpSpPr/>
          <p:nvPr/>
        </p:nvGrpSpPr>
        <p:grpSpPr>
          <a:xfrm>
            <a:off x="1992981" y="5915412"/>
            <a:ext cx="76863" cy="292489"/>
            <a:chOff x="3750067" y="4683795"/>
            <a:chExt cx="76863" cy="292489"/>
          </a:xfrm>
        </p:grpSpPr>
        <p:sp>
          <p:nvSpPr>
            <p:cNvPr id="34" name="타원 3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5" name="타원 3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6" name="타원 3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37" name="그룹 36"/>
          <p:cNvGrpSpPr/>
          <p:nvPr/>
        </p:nvGrpSpPr>
        <p:grpSpPr>
          <a:xfrm>
            <a:off x="778515" y="5037401"/>
            <a:ext cx="2476203" cy="1098561"/>
            <a:chOff x="778515" y="2610063"/>
            <a:chExt cx="2476203" cy="1098561"/>
          </a:xfrm>
        </p:grpSpPr>
        <p:sp>
          <p:nvSpPr>
            <p:cNvPr id="38"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39"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40"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41" name="모서리가 둥근 직사각형 40"/>
            <p:cNvSpPr/>
            <p:nvPr/>
          </p:nvSpPr>
          <p:spPr>
            <a:xfrm>
              <a:off x="778515" y="261006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42" name="모서리가 둥근 직사각형 41"/>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공개수의</a:t>
              </a:r>
              <a:endParaRPr lang="ko-KR" altLang="en-US" sz="600" dirty="0"/>
            </a:p>
          </p:txBody>
        </p:sp>
        <p:sp>
          <p:nvSpPr>
            <p:cNvPr id="43" name="모서리가 둥근 직사각형 42"/>
            <p:cNvSpPr/>
            <p:nvPr/>
          </p:nvSpPr>
          <p:spPr>
            <a:xfrm>
              <a:off x="1534668"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취소공고</a:t>
              </a:r>
              <a:endParaRPr lang="ko-KR" altLang="en-US" sz="600" dirty="0"/>
            </a:p>
          </p:txBody>
        </p:sp>
        <p:sp>
          <p:nvSpPr>
            <p:cNvPr id="44" name="모서리가 둥근 직사각형 43"/>
            <p:cNvSpPr/>
            <p:nvPr/>
          </p:nvSpPr>
          <p:spPr>
            <a:xfrm>
              <a:off x="1992981" y="2610063"/>
              <a:ext cx="319213"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견적서</a:t>
              </a:r>
            </a:p>
          </p:txBody>
        </p:sp>
      </p:grpSp>
      <p:cxnSp>
        <p:nvCxnSpPr>
          <p:cNvPr id="45" name="직선 연결선 44">
            <a:extLst>
              <a:ext uri="{FF2B5EF4-FFF2-40B4-BE49-F238E27FC236}">
                <a16:creationId xmlns:a16="http://schemas.microsoft.com/office/drawing/2014/main" id="{E9293055-D5CD-4B9E-7F64-64B2D2CA7A52}"/>
              </a:ext>
            </a:extLst>
          </p:cNvPr>
          <p:cNvCxnSpPr/>
          <p:nvPr/>
        </p:nvCxnSpPr>
        <p:spPr>
          <a:xfrm>
            <a:off x="720490" y="49188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6" name="직선 연결선 45">
            <a:extLst>
              <a:ext uri="{FF2B5EF4-FFF2-40B4-BE49-F238E27FC236}">
                <a16:creationId xmlns:a16="http://schemas.microsoft.com/office/drawing/2014/main" id="{E9293055-D5CD-4B9E-7F64-64B2D2CA7A52}"/>
              </a:ext>
            </a:extLst>
          </p:cNvPr>
          <p:cNvCxnSpPr/>
          <p:nvPr/>
        </p:nvCxnSpPr>
        <p:spPr>
          <a:xfrm>
            <a:off x="720490" y="358232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8" name="직선 연결선 47">
            <a:extLst>
              <a:ext uri="{FF2B5EF4-FFF2-40B4-BE49-F238E27FC236}">
                <a16:creationId xmlns:a16="http://schemas.microsoft.com/office/drawing/2014/main" id="{E9293055-D5CD-4B9E-7F64-64B2D2CA7A52}"/>
              </a:ext>
            </a:extLst>
          </p:cNvPr>
          <p:cNvCxnSpPr/>
          <p:nvPr/>
        </p:nvCxnSpPr>
        <p:spPr>
          <a:xfrm>
            <a:off x="675399" y="26322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9" name="TextBox 48">
            <a:extLst>
              <a:ext uri="{FF2B5EF4-FFF2-40B4-BE49-F238E27FC236}">
                <a16:creationId xmlns:a16="http://schemas.microsoft.com/office/drawing/2014/main" id="{FFC49AEA-2A8F-250C-A86A-A7751D9706C3}"/>
              </a:ext>
            </a:extLst>
          </p:cNvPr>
          <p:cNvSpPr txBox="1"/>
          <p:nvPr/>
        </p:nvSpPr>
        <p:spPr>
          <a:xfrm>
            <a:off x="1019814" y="232474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50" name="타원 49"/>
          <p:cNvSpPr/>
          <p:nvPr/>
        </p:nvSpPr>
        <p:spPr>
          <a:xfrm>
            <a:off x="783686" y="235609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1" name="그룹 50"/>
          <p:cNvGrpSpPr/>
          <p:nvPr/>
        </p:nvGrpSpPr>
        <p:grpSpPr>
          <a:xfrm>
            <a:off x="3143548" y="2438078"/>
            <a:ext cx="94010" cy="47005"/>
            <a:chOff x="6812560" y="3297172"/>
            <a:chExt cx="94010" cy="47005"/>
          </a:xfrm>
        </p:grpSpPr>
        <p:cxnSp>
          <p:nvCxnSpPr>
            <p:cNvPr id="52" name="직선 연결선 5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3" name="직선 연결선 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4" name="타원 53">
            <a:extLst>
              <a:ext uri="{FF2B5EF4-FFF2-40B4-BE49-F238E27FC236}">
                <a16:creationId xmlns:a16="http://schemas.microsoft.com/office/drawing/2014/main" id="{37A7FF4F-0EAA-1463-560A-D5EC24416103}"/>
              </a:ext>
            </a:extLst>
          </p:cNvPr>
          <p:cNvSpPr/>
          <p:nvPr/>
        </p:nvSpPr>
        <p:spPr>
          <a:xfrm>
            <a:off x="571127" y="40727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322781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9" name="TextBox 58">
            <a:extLst>
              <a:ext uri="{FF2B5EF4-FFF2-40B4-BE49-F238E27FC236}">
                <a16:creationId xmlns:a16="http://schemas.microsoft.com/office/drawing/2014/main" id="{FFC49AEA-2A8F-250C-A86A-A7751D9706C3}"/>
              </a:ext>
            </a:extLst>
          </p:cNvPr>
          <p:cNvSpPr txBox="1"/>
          <p:nvPr/>
        </p:nvSpPr>
        <p:spPr>
          <a:xfrm>
            <a:off x="778515" y="3296796"/>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2,010</a:t>
            </a:r>
            <a:r>
              <a:rPr lang="en-US" altLang="ko-KR" sz="700" dirty="0">
                <a:latin typeface="+mn-ea"/>
              </a:rPr>
              <a:t> </a:t>
            </a:r>
            <a:r>
              <a:rPr lang="ko-KR" altLang="en-US" sz="700" dirty="0">
                <a:latin typeface="+mn-ea"/>
              </a:rPr>
              <a:t>건</a:t>
            </a:r>
          </a:p>
        </p:txBody>
      </p:sp>
      <p:sp>
        <p:nvSpPr>
          <p:cNvPr id="60" name="TextBox 59">
            <a:extLst>
              <a:ext uri="{FF2B5EF4-FFF2-40B4-BE49-F238E27FC236}">
                <a16:creationId xmlns:a16="http://schemas.microsoft.com/office/drawing/2014/main" id="{FFC49AEA-2A8F-250C-A86A-A7751D9706C3}"/>
              </a:ext>
            </a:extLst>
          </p:cNvPr>
          <p:cNvSpPr txBox="1"/>
          <p:nvPr/>
        </p:nvSpPr>
        <p:spPr>
          <a:xfrm>
            <a:off x="2278206" y="3292742"/>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61" name="TextBox 60">
            <a:extLst>
              <a:ext uri="{FF2B5EF4-FFF2-40B4-BE49-F238E27FC236}">
                <a16:creationId xmlns:a16="http://schemas.microsoft.com/office/drawing/2014/main" id="{FFC49AEA-2A8F-250C-A86A-A7751D9706C3}"/>
              </a:ext>
            </a:extLst>
          </p:cNvPr>
          <p:cNvSpPr txBox="1"/>
          <p:nvPr/>
        </p:nvSpPr>
        <p:spPr>
          <a:xfrm>
            <a:off x="2727990" y="3292742"/>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62" name="그룹 61"/>
          <p:cNvGrpSpPr/>
          <p:nvPr/>
        </p:nvGrpSpPr>
        <p:grpSpPr>
          <a:xfrm>
            <a:off x="3143548" y="3394565"/>
            <a:ext cx="94010" cy="47005"/>
            <a:chOff x="6812560" y="3297172"/>
            <a:chExt cx="94010" cy="47005"/>
          </a:xfrm>
        </p:grpSpPr>
        <p:cxnSp>
          <p:nvCxnSpPr>
            <p:cNvPr id="63" name="직선 연결선 6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4" name="직선 연결선 6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65" name="그룹 64"/>
          <p:cNvGrpSpPr/>
          <p:nvPr/>
        </p:nvGrpSpPr>
        <p:grpSpPr>
          <a:xfrm>
            <a:off x="767702" y="2692353"/>
            <a:ext cx="2527420" cy="477995"/>
            <a:chOff x="786326" y="2270279"/>
            <a:chExt cx="2527420" cy="477995"/>
          </a:xfrm>
        </p:grpSpPr>
        <p:sp>
          <p:nvSpPr>
            <p:cNvPr id="66" name="모서리가 둥근 직사각형 65"/>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TextBox 67">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69" name="그룹 68"/>
            <p:cNvGrpSpPr/>
            <p:nvPr/>
          </p:nvGrpSpPr>
          <p:grpSpPr>
            <a:xfrm>
              <a:off x="795624" y="2274581"/>
              <a:ext cx="1299303" cy="155984"/>
              <a:chOff x="808107" y="2288229"/>
              <a:chExt cx="1189739" cy="168318"/>
            </a:xfrm>
          </p:grpSpPr>
          <p:sp>
            <p:nvSpPr>
              <p:cNvPr id="76"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공고명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77"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공고번호</a:t>
                </a:r>
                <a:endParaRPr kumimoji="1" lang="en-US" sz="800" b="0" i="0" u="none" strike="noStrike" kern="0" cap="none" spc="0" normalizeH="0" baseline="0" noProof="0" dirty="0">
                  <a:ln>
                    <a:noFill/>
                  </a:ln>
                  <a:effectLst/>
                  <a:uLnTx/>
                  <a:uFillTx/>
                  <a:latin typeface="맑은 고딕"/>
                </a:endParaRPr>
              </a:p>
            </p:txBody>
          </p:sp>
        </p:grpSp>
        <p:sp>
          <p:nvSpPr>
            <p:cNvPr id="70" name="타원 69"/>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71"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72" name="타원 71"/>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2901631" y="2585953"/>
              <a:ext cx="58075" cy="58074"/>
              <a:chOff x="6812560" y="3297172"/>
              <a:chExt cx="94010" cy="94010"/>
            </a:xfrm>
          </p:grpSpPr>
          <p:cxnSp>
            <p:nvCxnSpPr>
              <p:cNvPr id="74" name="직선 연결선 7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75" name="직선 연결선 7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78" name="TextBox 77"/>
          <p:cNvSpPr txBox="1"/>
          <p:nvPr/>
        </p:nvSpPr>
        <p:spPr>
          <a:xfrm flipH="1">
            <a:off x="3000338" y="2938525"/>
            <a:ext cx="274434" cy="200055"/>
          </a:xfrm>
          <a:prstGeom prst="rect">
            <a:avLst/>
          </a:prstGeom>
          <a:noFill/>
        </p:spPr>
        <p:txBody>
          <a:bodyPr wrap="none" rtlCol="0">
            <a:spAutoFit/>
          </a:bodyPr>
          <a:lstStyle/>
          <a:p>
            <a:r>
              <a:rPr lang="ko-KR" altLang="en-US" sz="700" dirty="0"/>
              <a:t>🔎</a:t>
            </a:r>
          </a:p>
        </p:txBody>
      </p:sp>
      <p:grpSp>
        <p:nvGrpSpPr>
          <p:cNvPr id="79" name="그룹 78"/>
          <p:cNvGrpSpPr/>
          <p:nvPr/>
        </p:nvGrpSpPr>
        <p:grpSpPr>
          <a:xfrm>
            <a:off x="8223250" y="569392"/>
            <a:ext cx="3365500" cy="219465"/>
            <a:chOff x="8223250" y="569392"/>
            <a:chExt cx="3365500" cy="219465"/>
          </a:xfrm>
        </p:grpSpPr>
        <p:sp>
          <p:nvSpPr>
            <p:cNvPr id="80" name="직사각형 7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2026-06-18 </a:t>
              </a:r>
              <a:r>
                <a:rPr lang="ko-KR" altLang="en-US" dirty="0" smtClean="0"/>
                <a:t>설명 </a:t>
              </a:r>
              <a:r>
                <a:rPr lang="ko-KR" altLang="en-US" dirty="0"/>
                <a:t>수정</a:t>
              </a:r>
            </a:p>
          </p:txBody>
        </p:sp>
        <p:sp>
          <p:nvSpPr>
            <p:cNvPr id="81" name="직사각형 80"/>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공고 목록 설명 변경</a:t>
              </a:r>
              <a:endParaRPr lang="ko-KR" altLang="en-US" sz="700" dirty="0"/>
            </a:p>
          </p:txBody>
        </p:sp>
      </p:grpSp>
      <p:grpSp>
        <p:nvGrpSpPr>
          <p:cNvPr id="82" name="그룹 81"/>
          <p:cNvGrpSpPr/>
          <p:nvPr/>
        </p:nvGrpSpPr>
        <p:grpSpPr>
          <a:xfrm>
            <a:off x="677960" y="1582647"/>
            <a:ext cx="2714637" cy="686386"/>
            <a:chOff x="677960" y="1582647"/>
            <a:chExt cx="2714637" cy="686386"/>
          </a:xfrm>
        </p:grpSpPr>
        <p:sp>
          <p:nvSpPr>
            <p:cNvPr id="83" name="TextBox 82">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smtClean="0">
                  <a:latin typeface="+mn-ea"/>
                </a:rPr>
                <a:t>입찰진행목록</a:t>
              </a:r>
              <a:endParaRPr lang="ko-KR" altLang="en-US" sz="800" dirty="0">
                <a:latin typeface="+mn-ea"/>
              </a:endParaRPr>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5" name="그룹 84"/>
            <p:cNvGrpSpPr/>
            <p:nvPr/>
          </p:nvGrpSpPr>
          <p:grpSpPr>
            <a:xfrm rot="5400000">
              <a:off x="852159" y="2062596"/>
              <a:ext cx="94010" cy="47005"/>
              <a:chOff x="6812560" y="3297172"/>
              <a:chExt cx="94010" cy="47005"/>
            </a:xfrm>
          </p:grpSpPr>
          <p:cxnSp>
            <p:nvCxnSpPr>
              <p:cNvPr id="92" name="직선 연결선 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3" name="직선 연결선 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86" name="그룹 85"/>
            <p:cNvGrpSpPr/>
            <p:nvPr/>
          </p:nvGrpSpPr>
          <p:grpSpPr>
            <a:xfrm>
              <a:off x="677960" y="1582647"/>
              <a:ext cx="2712027" cy="324286"/>
              <a:chOff x="677960" y="1582647"/>
              <a:chExt cx="2712027" cy="324286"/>
            </a:xfrm>
          </p:grpSpPr>
          <p:pic>
            <p:nvPicPr>
              <p:cNvPr id="87"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88" name="직선 연결선 87">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9" name="타원 88"/>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타원 90"/>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94" name="TextBox 93">
            <a:extLst>
              <a:ext uri="{FF2B5EF4-FFF2-40B4-BE49-F238E27FC236}">
                <a16:creationId xmlns:a16="http://schemas.microsoft.com/office/drawing/2014/main" id="{FFC49AEA-2A8F-250C-A86A-A7751D9706C3}"/>
              </a:ext>
            </a:extLst>
          </p:cNvPr>
          <p:cNvSpPr txBox="1"/>
          <p:nvPr/>
        </p:nvSpPr>
        <p:spPr>
          <a:xfrm>
            <a:off x="3810036" y="1349367"/>
            <a:ext cx="547346" cy="107722"/>
          </a:xfrm>
          <a:prstGeom prst="rect">
            <a:avLst/>
          </a:prstGeom>
          <a:noFill/>
        </p:spPr>
        <p:txBody>
          <a:bodyPr wrap="square" lIns="0" tIns="0" rIns="0" bIns="0" rtlCol="0">
            <a:spAutoFit/>
          </a:bodyPr>
          <a:lstStyle/>
          <a:p>
            <a:r>
              <a:rPr lang="ko-KR" altLang="en-US" sz="700" dirty="0" smtClean="0">
                <a:latin typeface="+mn-ea"/>
              </a:rPr>
              <a:t>표시 레이블</a:t>
            </a:r>
            <a:endParaRPr lang="ko-KR" altLang="en-US" sz="700" dirty="0">
              <a:latin typeface="+mn-ea"/>
            </a:endParaRPr>
          </a:p>
        </p:txBody>
      </p:sp>
      <p:graphicFrame>
        <p:nvGraphicFramePr>
          <p:cNvPr id="95" name="표 94"/>
          <p:cNvGraphicFramePr>
            <a:graphicFrameLocks noGrp="1"/>
          </p:cNvGraphicFramePr>
          <p:nvPr>
            <p:extLst/>
          </p:nvPr>
        </p:nvGraphicFramePr>
        <p:xfrm>
          <a:off x="3801286" y="1542277"/>
          <a:ext cx="3069778" cy="4988560"/>
        </p:xfrm>
        <a:graphic>
          <a:graphicData uri="http://schemas.openxmlformats.org/drawingml/2006/table">
            <a:tbl>
              <a:tblPr firstRow="1" bandRow="1">
                <a:tableStyleId>{7E9639D4-E3E2-4D34-9284-5A2195B3D0D7}</a:tableStyleId>
              </a:tblPr>
              <a:tblGrid>
                <a:gridCol w="1534889">
                  <a:extLst>
                    <a:ext uri="{9D8B030D-6E8A-4147-A177-3AD203B41FA5}">
                      <a16:colId xmlns:a16="http://schemas.microsoft.com/office/drawing/2014/main" val="3115782702"/>
                    </a:ext>
                  </a:extLst>
                </a:gridCol>
                <a:gridCol w="1534889">
                  <a:extLst>
                    <a:ext uri="{9D8B030D-6E8A-4147-A177-3AD203B41FA5}">
                      <a16:colId xmlns:a16="http://schemas.microsoft.com/office/drawing/2014/main" val="393582204"/>
                    </a:ext>
                  </a:extLst>
                </a:gridCol>
              </a:tblGrid>
              <a:tr h="370840">
                <a:tc>
                  <a:txBody>
                    <a:bodyPr/>
                    <a:lstStyle/>
                    <a:p>
                      <a:pPr algn="ctr" latinLnBrk="1"/>
                      <a:r>
                        <a:rPr lang="ko-KR" altLang="en-US" sz="700" dirty="0" smtClean="0"/>
                        <a:t>항목명</a:t>
                      </a:r>
                      <a:endParaRPr lang="ko-KR" altLang="en-US" sz="700" dirty="0"/>
                    </a:p>
                  </a:txBody>
                  <a:tcPr anchor="ctr"/>
                </a:tc>
                <a:tc>
                  <a:txBody>
                    <a:bodyPr/>
                    <a:lstStyle/>
                    <a:p>
                      <a:pPr algn="ctr" latinLnBrk="1"/>
                      <a:r>
                        <a:rPr lang="ko-KR" altLang="en-US" sz="700" dirty="0" smtClean="0"/>
                        <a:t>표시 값</a:t>
                      </a:r>
                      <a:endParaRPr lang="ko-KR" altLang="en-US" sz="700" dirty="0"/>
                    </a:p>
                  </a:txBody>
                  <a:tcPr anchor="ctr"/>
                </a:tc>
                <a:extLst>
                  <a:ext uri="{0D108BD9-81ED-4DB2-BD59-A6C34878D82A}">
                    <a16:rowId xmlns:a16="http://schemas.microsoft.com/office/drawing/2014/main" val="139709430"/>
                  </a:ext>
                </a:extLst>
              </a:tr>
              <a:tr h="370840">
                <a:tc>
                  <a:txBody>
                    <a:bodyPr/>
                    <a:lstStyle/>
                    <a:p>
                      <a:pPr algn="ctr" latinLnBrk="1"/>
                      <a:r>
                        <a:rPr lang="ko-KR" altLang="en-US" sz="700" dirty="0" err="1" smtClean="0">
                          <a:latin typeface="+mn-ea"/>
                        </a:rPr>
                        <a:t>업무구분</a:t>
                      </a:r>
                      <a:r>
                        <a:rPr lang="ko-KR" altLang="en-US" sz="700" dirty="0" smtClean="0"/>
                        <a:t> </a:t>
                      </a:r>
                      <a:r>
                        <a:rPr lang="en-US" altLang="ko-KR" sz="700" dirty="0" smtClean="0"/>
                        <a:t>(</a:t>
                      </a:r>
                      <a:r>
                        <a:rPr lang="en-US" altLang="ko-KR" sz="700" b="0" i="0" u="none" strike="noStrike" dirty="0" err="1" smtClean="0">
                          <a:solidFill>
                            <a:srgbClr val="000000"/>
                          </a:solidFill>
                          <a:effectLst/>
                          <a:latin typeface="+mn-lt"/>
                          <a:ea typeface="+mn-ea"/>
                        </a:rPr>
                        <a:t>taskSecd</a:t>
                      </a:r>
                      <a:r>
                        <a:rPr lang="en-US" altLang="ko-KR" sz="700" dirty="0" smtClean="0"/>
                        <a:t>)</a:t>
                      </a:r>
                      <a:endParaRPr lang="ko-KR" altLang="en-US" sz="700" dirty="0"/>
                    </a:p>
                  </a:txBody>
                  <a:tcPr anchor="ctr"/>
                </a:tc>
                <a:tc>
                  <a:txBody>
                    <a:bodyPr/>
                    <a:lstStyle/>
                    <a:p>
                      <a:pPr algn="ctr" latinLnBrk="1"/>
                      <a:r>
                        <a:rPr lang="ko-KR" altLang="en-US" sz="700" dirty="0" smtClean="0"/>
                        <a:t>물품</a:t>
                      </a:r>
                      <a:r>
                        <a:rPr lang="en-US" altLang="ko-KR" sz="700" dirty="0" smtClean="0"/>
                        <a:t>, </a:t>
                      </a:r>
                      <a:r>
                        <a:rPr lang="ko-KR" altLang="en-US" sz="700" dirty="0" smtClean="0"/>
                        <a:t>용역</a:t>
                      </a:r>
                      <a:r>
                        <a:rPr lang="en-US" altLang="ko-KR" sz="700" dirty="0" smtClean="0"/>
                        <a:t>, </a:t>
                      </a:r>
                      <a:r>
                        <a:rPr lang="ko-KR" altLang="en-US" sz="700" dirty="0" smtClean="0"/>
                        <a:t>공사</a:t>
                      </a:r>
                      <a:r>
                        <a:rPr lang="en-US" altLang="ko-KR" sz="700" dirty="0" smtClean="0"/>
                        <a:t>, </a:t>
                      </a:r>
                      <a:r>
                        <a:rPr lang="ko-KR" altLang="en-US" sz="700" dirty="0" smtClean="0"/>
                        <a:t>국외</a:t>
                      </a:r>
                      <a:endParaRPr lang="ko-KR" altLang="en-US" sz="700" dirty="0"/>
                    </a:p>
                  </a:txBody>
                  <a:tcPr anchor="ctr"/>
                </a:tc>
                <a:extLst>
                  <a:ext uri="{0D108BD9-81ED-4DB2-BD59-A6C34878D82A}">
                    <a16:rowId xmlns:a16="http://schemas.microsoft.com/office/drawing/2014/main" val="1160468422"/>
                  </a:ext>
                </a:extLst>
              </a:tr>
              <a:tr h="370840">
                <a:tc>
                  <a:txBody>
                    <a:bodyPr/>
                    <a:lstStyle/>
                    <a:p>
                      <a:pPr algn="ctr" latinLnBrk="1"/>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As-Is</a:t>
                      </a:r>
                      <a:endParaRPr lang="ko-KR" altLang="en-US" sz="700" dirty="0"/>
                    </a:p>
                  </a:txBody>
                  <a:tcPr anchor="ctr"/>
                </a:tc>
                <a:tc>
                  <a:txBody>
                    <a:bodyPr/>
                    <a:lstStyle/>
                    <a:p>
                      <a:pPr algn="ctr" latinLnBrk="1"/>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r>
                        <a:rPr lang="en-US" altLang="ko-KR" sz="700" dirty="0" smtClean="0"/>
                        <a:t>, </a:t>
                      </a:r>
                      <a:r>
                        <a:rPr lang="ko-KR" altLang="en-US" sz="700" dirty="0" err="1" smtClean="0"/>
                        <a:t>역경매</a:t>
                      </a:r>
                      <a:r>
                        <a:rPr lang="en-US" altLang="ko-KR" sz="700" dirty="0" smtClean="0"/>
                        <a:t>, </a:t>
                      </a:r>
                      <a:r>
                        <a:rPr lang="ko-KR" altLang="en-US" sz="700" dirty="0" err="1" smtClean="0"/>
                        <a:t>복수경쟁</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endParaRPr lang="ko-KR" altLang="en-US" sz="700" dirty="0"/>
                    </a:p>
                  </a:txBody>
                  <a:tcPr anchor="ctr"/>
                </a:tc>
                <a:extLst>
                  <a:ext uri="{0D108BD9-81ED-4DB2-BD59-A6C34878D82A}">
                    <a16:rowId xmlns:a16="http://schemas.microsoft.com/office/drawing/2014/main" val="729087243"/>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latin typeface="+mn-ea"/>
                          <a:ea typeface="+mn-ea"/>
                        </a:rPr>
                        <a:t>계약방법 </a:t>
                      </a:r>
                      <a:r>
                        <a:rPr lang="en-US" altLang="ko-KR" sz="700" dirty="0" smtClean="0">
                          <a:latin typeface="+mn-ea"/>
                          <a:ea typeface="+mn-ea"/>
                        </a:rPr>
                        <a:t>(</a:t>
                      </a:r>
                      <a:r>
                        <a:rPr lang="en-US" altLang="ko-KR" sz="700" dirty="0" err="1" smtClean="0">
                          <a:latin typeface="+mn-ea"/>
                          <a:ea typeface="+mn-ea"/>
                        </a:rPr>
                        <a:t>ctrtMthdCd</a:t>
                      </a:r>
                      <a:r>
                        <a:rPr lang="en-US" altLang="ko-KR" sz="700" dirty="0" smtClean="0">
                          <a:latin typeface="+mn-ea"/>
                          <a:ea typeface="+mn-ea"/>
                        </a:rPr>
                        <a:t>)</a:t>
                      </a:r>
                      <a:br>
                        <a:rPr lang="en-US" altLang="ko-KR" sz="700" dirty="0" smtClean="0">
                          <a:latin typeface="+mn-ea"/>
                          <a:ea typeface="+mn-ea"/>
                        </a:rPr>
                      </a:br>
                      <a:r>
                        <a:rPr lang="en-US" altLang="ko-KR" sz="700" dirty="0" smtClean="0">
                          <a:latin typeface="+mn-ea"/>
                          <a:ea typeface="+mn-ea"/>
                        </a:rPr>
                        <a:t>To-Be</a:t>
                      </a:r>
                      <a:endParaRPr lang="ko-KR" altLang="en-US" sz="700" dirty="0" smtClean="0"/>
                    </a:p>
                  </a:txBody>
                  <a:tcPr anchor="ct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일반경쟁</a:t>
                      </a:r>
                      <a:r>
                        <a:rPr lang="en-US" altLang="ko-KR" sz="700" dirty="0" smtClean="0"/>
                        <a:t>, </a:t>
                      </a:r>
                      <a:r>
                        <a:rPr lang="ko-KR" altLang="en-US" sz="700" dirty="0" smtClean="0"/>
                        <a:t>지명경쟁</a:t>
                      </a:r>
                      <a:r>
                        <a:rPr lang="en-US" altLang="ko-KR" sz="700" dirty="0" smtClean="0"/>
                        <a:t>, </a:t>
                      </a:r>
                      <a:r>
                        <a:rPr lang="ko-KR" altLang="en-US" sz="700" dirty="0" smtClean="0"/>
                        <a:t>제한경쟁</a:t>
                      </a:r>
                      <a:r>
                        <a:rPr lang="en-US" altLang="ko-KR" sz="700" dirty="0" smtClean="0"/>
                        <a:t>, </a:t>
                      </a:r>
                      <a:r>
                        <a:rPr lang="ko-KR" altLang="en-US" sz="700" dirty="0" smtClean="0"/>
                        <a:t>수의계약</a:t>
                      </a:r>
                    </a:p>
                  </a:txBody>
                  <a:tcPr anchor="ctr"/>
                </a:tc>
                <a:extLst>
                  <a:ext uri="{0D108BD9-81ED-4DB2-BD59-A6C34878D82A}">
                    <a16:rowId xmlns:a16="http://schemas.microsoft.com/office/drawing/2014/main" val="1753565295"/>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r>
                        <a:rPr lang="en-US" altLang="ko-KR" sz="700" dirty="0" smtClean="0"/>
                        <a:t>, </a:t>
                      </a:r>
                      <a:r>
                        <a:rPr lang="ko-KR" altLang="en-US" sz="700" dirty="0" err="1" smtClean="0"/>
                        <a:t>단가제</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최저가</a:t>
                      </a:r>
                      <a:r>
                        <a:rPr lang="en-US" altLang="ko-KR" sz="700" dirty="0" smtClean="0"/>
                        <a:t>), </a:t>
                      </a:r>
                      <a:r>
                        <a:rPr lang="ko-KR" altLang="en-US" sz="700" dirty="0" err="1" smtClean="0"/>
                        <a:t>내역입찰</a:t>
                      </a:r>
                      <a:r>
                        <a:rPr lang="en-US" altLang="ko-KR" sz="700" dirty="0" smtClean="0"/>
                        <a:t>(</a:t>
                      </a:r>
                      <a:r>
                        <a:rPr lang="ko-KR" altLang="en-US" sz="700" dirty="0" smtClean="0"/>
                        <a:t>적격심사</a:t>
                      </a:r>
                      <a:r>
                        <a:rPr lang="en-US" altLang="ko-KR" sz="700" dirty="0" smtClean="0"/>
                        <a:t>), </a:t>
                      </a:r>
                      <a:r>
                        <a:rPr lang="ko-KR" altLang="en-US" sz="700" dirty="0" err="1" smtClean="0"/>
                        <a:t>내역입찰</a:t>
                      </a:r>
                      <a:r>
                        <a:rPr lang="en-US" altLang="ko-KR" sz="700" dirty="0" smtClean="0"/>
                        <a:t>(</a:t>
                      </a:r>
                      <a:r>
                        <a:rPr lang="ko-KR" altLang="en-US" sz="700" dirty="0" err="1" smtClean="0"/>
                        <a:t>종합심사</a:t>
                      </a:r>
                      <a:r>
                        <a:rPr lang="en-US" altLang="ko-KR" sz="700" dirty="0" smtClean="0"/>
                        <a:t>), </a:t>
                      </a:r>
                      <a:r>
                        <a:rPr lang="ko-KR" altLang="en-US" sz="700" dirty="0" err="1" smtClean="0"/>
                        <a:t>내역입찰</a:t>
                      </a:r>
                      <a:r>
                        <a:rPr lang="en-US" altLang="ko-KR" sz="700" dirty="0" smtClean="0"/>
                        <a:t>(</a:t>
                      </a:r>
                      <a:r>
                        <a:rPr lang="ko-KR" altLang="en-US" sz="700" dirty="0" smtClean="0"/>
                        <a:t>설계시공일괄입찰</a:t>
                      </a:r>
                      <a:r>
                        <a:rPr lang="en-US" altLang="ko-KR" sz="700" dirty="0" smtClean="0"/>
                        <a:t>)</a:t>
                      </a:r>
                      <a:endParaRPr lang="ko-KR" altLang="en-US" sz="700" dirty="0"/>
                    </a:p>
                  </a:txBody>
                  <a:tcPr anchor="ctr"/>
                </a:tc>
                <a:extLst>
                  <a:ext uri="{0D108BD9-81ED-4DB2-BD59-A6C34878D82A}">
                    <a16:rowId xmlns:a16="http://schemas.microsoft.com/office/drawing/2014/main" val="2357552286"/>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smtClean="0"/>
                        <a:t>입찰방법 </a:t>
                      </a:r>
                      <a:r>
                        <a:rPr lang="en-US" altLang="ko-KR" sz="700" dirty="0" smtClean="0"/>
                        <a:t>(</a:t>
                      </a:r>
                      <a:r>
                        <a:rPr lang="en-US" altLang="ko-KR" sz="700" dirty="0" err="1" smtClean="0">
                          <a:latin typeface="+mn-ea"/>
                          <a:ea typeface="+mn-ea"/>
                        </a:rPr>
                        <a:t>bidMthdCd</a:t>
                      </a:r>
                      <a:r>
                        <a:rPr lang="en-US" altLang="ko-KR" sz="700" dirty="0" smtClean="0"/>
                        <a:t>)</a:t>
                      </a:r>
                      <a:endParaRPr lang="ko-KR" altLang="en-US" sz="700" dirty="0" smtClean="0"/>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err="1" smtClean="0"/>
                        <a:t>총액제</a:t>
                      </a:r>
                      <a:r>
                        <a:rPr lang="en-US" altLang="ko-KR" sz="700" dirty="0" smtClean="0"/>
                        <a:t>, </a:t>
                      </a:r>
                      <a:r>
                        <a:rPr lang="ko-KR" altLang="en-US" sz="700" dirty="0" err="1" smtClean="0"/>
                        <a:t>단가제</a:t>
                      </a:r>
                      <a:r>
                        <a:rPr lang="en-US" altLang="ko-KR" sz="700" dirty="0" smtClean="0"/>
                        <a:t>, </a:t>
                      </a:r>
                      <a:r>
                        <a:rPr lang="ko-KR" altLang="en-US" sz="700" dirty="0" err="1" smtClean="0"/>
                        <a:t>리스입찰</a:t>
                      </a:r>
                      <a:endParaRPr lang="ko-KR" altLang="en-US" sz="700" dirty="0"/>
                    </a:p>
                  </a:txBody>
                  <a:tcPr anchor="ctr"/>
                </a:tc>
                <a:extLst>
                  <a:ext uri="{0D108BD9-81ED-4DB2-BD59-A6C34878D82A}">
                    <a16:rowId xmlns:a16="http://schemas.microsoft.com/office/drawing/2014/main" val="1157640162"/>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As-Is</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a:t>
                      </a:r>
                      <a:r>
                        <a:rPr lang="ko-KR" altLang="en-US" sz="700" dirty="0" smtClean="0"/>
                        <a:t>협상</a:t>
                      </a:r>
                      <a:r>
                        <a:rPr lang="en-US" altLang="ko-KR" sz="700" dirty="0" smtClean="0"/>
                        <a:t>, </a:t>
                      </a:r>
                      <a:r>
                        <a:rPr lang="ko-KR" altLang="en-US" sz="700" dirty="0" err="1" smtClean="0"/>
                        <a:t>최저가격제</a:t>
                      </a:r>
                      <a:endParaRPr lang="ko-KR" altLang="en-US" sz="700" dirty="0"/>
                    </a:p>
                  </a:txBody>
                  <a:tcPr anchor="ctr"/>
                </a:tc>
                <a:extLst>
                  <a:ext uri="{0D108BD9-81ED-4DB2-BD59-A6C34878D82A}">
                    <a16:rowId xmlns:a16="http://schemas.microsoft.com/office/drawing/2014/main" val="3907289756"/>
                  </a:ext>
                </a:extLst>
              </a:tr>
              <a:tr h="370840">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dirty="0" err="1" smtClean="0"/>
                        <a:t>낙찰방법</a:t>
                      </a:r>
                      <a:r>
                        <a:rPr lang="ko-KR" altLang="en-US" sz="700" dirty="0" smtClean="0"/>
                        <a:t> </a:t>
                      </a:r>
                      <a:r>
                        <a:rPr lang="en-US" altLang="ko-KR" sz="700" dirty="0" smtClean="0"/>
                        <a:t>(</a:t>
                      </a:r>
                      <a:r>
                        <a:rPr lang="en-US" altLang="ko-KR" sz="700" dirty="0" err="1" smtClean="0">
                          <a:latin typeface="+mn-ea"/>
                          <a:ea typeface="+mn-ea"/>
                        </a:rPr>
                        <a:t>scsbdMthdCd</a:t>
                      </a:r>
                      <a:r>
                        <a:rPr lang="en-US" altLang="ko-KR" sz="700" dirty="0" smtClean="0"/>
                        <a:t>)</a:t>
                      </a:r>
                    </a:p>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dirty="0" smtClean="0">
                          <a:latin typeface="+mn-ea"/>
                          <a:ea typeface="+mn-ea"/>
                        </a:rPr>
                        <a:t>To-Be</a:t>
                      </a:r>
                      <a:endParaRPr lang="ko-KR" altLang="en-US" sz="700" dirty="0" smtClean="0"/>
                    </a:p>
                  </a:txBody>
                  <a:tcPr anchor="ctr"/>
                </a:tc>
                <a:tc>
                  <a:txBody>
                    <a:bodyPr/>
                    <a:lstStyle/>
                    <a:p>
                      <a:pPr algn="ctr" latinLnBrk="1"/>
                      <a:r>
                        <a:rPr lang="ko-KR" altLang="en-US" sz="700" dirty="0" smtClean="0"/>
                        <a:t>제한적최저가격제</a:t>
                      </a:r>
                      <a:r>
                        <a:rPr lang="en-US" altLang="ko-KR" sz="700" dirty="0" smtClean="0"/>
                        <a:t>, </a:t>
                      </a:r>
                      <a:r>
                        <a:rPr lang="ko-KR" altLang="en-US" sz="700" dirty="0" err="1" smtClean="0"/>
                        <a:t>적격심사제</a:t>
                      </a:r>
                      <a:r>
                        <a:rPr lang="en-US" altLang="ko-KR" sz="700" dirty="0" smtClean="0"/>
                        <a:t>, 2</a:t>
                      </a:r>
                      <a:r>
                        <a:rPr lang="ko-KR" altLang="en-US" sz="700" dirty="0" err="1" smtClean="0"/>
                        <a:t>단계경쟁</a:t>
                      </a:r>
                      <a:r>
                        <a:rPr lang="en-US" altLang="ko-KR" sz="700" dirty="0" smtClean="0"/>
                        <a:t>(</a:t>
                      </a:r>
                      <a:r>
                        <a:rPr lang="ko-KR" altLang="en-US" sz="700" dirty="0" smtClean="0"/>
                        <a:t>동시</a:t>
                      </a:r>
                      <a:r>
                        <a:rPr lang="en-US" altLang="ko-KR" sz="700" dirty="0" smtClean="0"/>
                        <a:t>), 2</a:t>
                      </a:r>
                      <a:r>
                        <a:rPr lang="ko-KR" altLang="en-US" sz="700" dirty="0" err="1" smtClean="0"/>
                        <a:t>단계경쟁</a:t>
                      </a:r>
                      <a:r>
                        <a:rPr lang="en-US" altLang="ko-KR" sz="700" dirty="0" smtClean="0"/>
                        <a:t>(</a:t>
                      </a:r>
                      <a:r>
                        <a:rPr lang="ko-KR" altLang="en-US" sz="700" dirty="0" smtClean="0"/>
                        <a:t>분리</a:t>
                      </a:r>
                      <a:r>
                        <a:rPr lang="en-US" altLang="ko-KR" sz="700" dirty="0" smtClean="0"/>
                        <a:t>), </a:t>
                      </a:r>
                      <a:r>
                        <a:rPr lang="ko-KR" altLang="en-US" sz="700" dirty="0" err="1" smtClean="0"/>
                        <a:t>역경매</a:t>
                      </a:r>
                      <a:r>
                        <a:rPr lang="en-US" altLang="ko-KR" sz="700" dirty="0" smtClean="0"/>
                        <a:t>, </a:t>
                      </a:r>
                      <a:r>
                        <a:rPr lang="ko-KR" altLang="en-US" sz="700" dirty="0" err="1" smtClean="0"/>
                        <a:t>협상에의한계약</a:t>
                      </a:r>
                      <a:r>
                        <a:rPr lang="en-US" altLang="ko-KR" sz="700" dirty="0" smtClean="0"/>
                        <a:t>(</a:t>
                      </a:r>
                      <a:r>
                        <a:rPr lang="ko-KR" altLang="en-US" sz="700" dirty="0" smtClean="0"/>
                        <a:t>서류</a:t>
                      </a:r>
                      <a:r>
                        <a:rPr lang="en-US" altLang="ko-KR" sz="700" dirty="0" smtClean="0"/>
                        <a:t>), </a:t>
                      </a:r>
                      <a:r>
                        <a:rPr lang="ko-KR" altLang="en-US" sz="700" dirty="0" err="1" smtClean="0"/>
                        <a:t>협상에의한계약</a:t>
                      </a:r>
                      <a:r>
                        <a:rPr lang="en-US" altLang="ko-KR" sz="700" dirty="0" smtClean="0"/>
                        <a:t>(</a:t>
                      </a:r>
                      <a:r>
                        <a:rPr lang="ko-KR" altLang="en-US" sz="700" dirty="0" smtClean="0"/>
                        <a:t>전자</a:t>
                      </a:r>
                      <a:r>
                        <a:rPr lang="en-US" altLang="ko-KR" sz="700" dirty="0" smtClean="0"/>
                        <a:t>), </a:t>
                      </a:r>
                      <a:r>
                        <a:rPr lang="ko-KR" altLang="en-US" sz="700" dirty="0" err="1" smtClean="0"/>
                        <a:t>종합낙찰제</a:t>
                      </a:r>
                      <a:r>
                        <a:rPr lang="en-US" altLang="ko-KR" sz="700" dirty="0" smtClean="0"/>
                        <a:t>, </a:t>
                      </a:r>
                      <a:r>
                        <a:rPr lang="ko-KR" altLang="en-US" sz="700" dirty="0" err="1" smtClean="0"/>
                        <a:t>종합심사제</a:t>
                      </a:r>
                      <a:r>
                        <a:rPr lang="en-US" altLang="ko-KR" sz="700" dirty="0" smtClean="0"/>
                        <a:t>, </a:t>
                      </a:r>
                      <a:r>
                        <a:rPr lang="ko-KR" altLang="en-US" sz="700" dirty="0" smtClean="0"/>
                        <a:t>설계시공일괄입찰</a:t>
                      </a:r>
                      <a:r>
                        <a:rPr lang="en-US" altLang="ko-KR" sz="700" dirty="0" smtClean="0"/>
                        <a:t>, </a:t>
                      </a:r>
                      <a:r>
                        <a:rPr lang="ko-KR" altLang="en-US" sz="700" dirty="0" smtClean="0"/>
                        <a:t>공개수의협상</a:t>
                      </a:r>
                      <a:r>
                        <a:rPr lang="en-US" altLang="ko-KR" sz="700" dirty="0" smtClean="0"/>
                        <a:t>(</a:t>
                      </a:r>
                      <a:r>
                        <a:rPr lang="ko-KR" altLang="en-US" sz="700" dirty="0" smtClean="0"/>
                        <a:t>가칭</a:t>
                      </a:r>
                      <a:r>
                        <a:rPr lang="en-US" altLang="ko-KR" sz="700" dirty="0" smtClean="0"/>
                        <a:t>)</a:t>
                      </a:r>
                      <a:endParaRPr lang="ko-KR" altLang="en-US" sz="700" dirty="0"/>
                    </a:p>
                  </a:txBody>
                  <a:tcPr anchor="ctr"/>
                </a:tc>
                <a:extLst>
                  <a:ext uri="{0D108BD9-81ED-4DB2-BD59-A6C34878D82A}">
                    <a16:rowId xmlns:a16="http://schemas.microsoft.com/office/drawing/2014/main" val="1494051991"/>
                  </a:ext>
                </a:extLst>
              </a:tr>
              <a:tr h="370840">
                <a:tc>
                  <a:txBody>
                    <a:bodyPr/>
                    <a:lstStyle/>
                    <a:p>
                      <a:pPr algn="ctr" latinLnBrk="1"/>
                      <a:r>
                        <a:rPr lang="ko-KR" altLang="en-US" sz="700" dirty="0" err="1" smtClean="0">
                          <a:latin typeface="+mn-ea"/>
                          <a:ea typeface="+mn-ea"/>
                        </a:rPr>
                        <a:t>진행상태명</a:t>
                      </a:r>
                      <a:r>
                        <a:rPr lang="ko-KR" altLang="en-US" sz="700" dirty="0" smtClean="0">
                          <a:latin typeface="+mn-ea"/>
                          <a:ea typeface="+mn-ea"/>
                        </a:rPr>
                        <a:t> </a:t>
                      </a:r>
                      <a:r>
                        <a:rPr lang="en-US" altLang="ko-KR" sz="700" dirty="0" smtClean="0">
                          <a:latin typeface="+mn-ea"/>
                          <a:ea typeface="+mn-ea"/>
                        </a:rPr>
                        <a:t>(</a:t>
                      </a:r>
                      <a:r>
                        <a:rPr lang="en-US" altLang="ko-KR" sz="700" dirty="0" err="1" smtClean="0">
                          <a:latin typeface="+mn-ea"/>
                          <a:ea typeface="+mn-ea"/>
                        </a:rPr>
                        <a:t>bidStatNm</a:t>
                      </a:r>
                      <a:r>
                        <a:rPr lang="en-US" altLang="ko-KR" sz="700" dirty="0" smtClean="0">
                          <a:latin typeface="+mn-ea"/>
                          <a:ea typeface="+mn-ea"/>
                        </a:rPr>
                        <a:t>)</a:t>
                      </a:r>
                      <a:endParaRPr lang="ko-KR" altLang="en-US" sz="700" dirty="0"/>
                    </a:p>
                  </a:txBody>
                  <a:tcPr anchor="ctr"/>
                </a:tc>
                <a:tc>
                  <a:txBody>
                    <a:bodyPr/>
                    <a:lstStyle/>
                    <a:p>
                      <a:pPr algn="ctr" latinLnBrk="1"/>
                      <a:r>
                        <a:rPr lang="ko-KR" altLang="en-US" sz="700" dirty="0" err="1" smtClean="0"/>
                        <a:t>서류요청</a:t>
                      </a:r>
                      <a:r>
                        <a:rPr lang="en-US" altLang="ko-KR" sz="700" dirty="0" smtClean="0"/>
                        <a:t>, </a:t>
                      </a:r>
                      <a:r>
                        <a:rPr lang="ko-KR" altLang="en-US" sz="700" dirty="0" err="1" smtClean="0"/>
                        <a:t>서류등록</a:t>
                      </a:r>
                      <a:r>
                        <a:rPr lang="en-US" altLang="ko-KR" sz="700" dirty="0" smtClean="0"/>
                        <a:t>, </a:t>
                      </a:r>
                      <a:r>
                        <a:rPr lang="ko-KR" altLang="en-US" sz="700" dirty="0" err="1" smtClean="0"/>
                        <a:t>서류반려</a:t>
                      </a:r>
                      <a:r>
                        <a:rPr lang="en-US" altLang="ko-KR" sz="700" dirty="0" smtClean="0"/>
                        <a:t>, </a:t>
                      </a:r>
                      <a:r>
                        <a:rPr lang="ko-KR" altLang="en-US" sz="700" dirty="0" err="1" smtClean="0"/>
                        <a:t>체결의뢰</a:t>
                      </a:r>
                      <a:r>
                        <a:rPr lang="ko-KR" altLang="en-US" sz="700" dirty="0" smtClean="0"/>
                        <a:t> 등</a:t>
                      </a:r>
                      <a:endParaRPr lang="ko-KR" altLang="en-US" sz="700" dirty="0"/>
                    </a:p>
                  </a:txBody>
                  <a:tcPr anchor="ctr"/>
                </a:tc>
                <a:extLst>
                  <a:ext uri="{0D108BD9-81ED-4DB2-BD59-A6C34878D82A}">
                    <a16:rowId xmlns:a16="http://schemas.microsoft.com/office/drawing/2014/main" val="2086675074"/>
                  </a:ext>
                </a:extLst>
              </a:tr>
              <a:tr h="370840">
                <a:tc>
                  <a:txBody>
                    <a:bodyPr/>
                    <a:lstStyle/>
                    <a:p>
                      <a:pPr algn="ctr" latinLnBrk="1"/>
                      <a:r>
                        <a:rPr lang="ko-KR" altLang="en-US" sz="700" dirty="0" err="1" smtClean="0">
                          <a:latin typeface="+mn-ea"/>
                          <a:ea typeface="+mn-ea"/>
                        </a:rPr>
                        <a:t>공고구분</a:t>
                      </a:r>
                      <a:endParaRPr lang="ko-KR" altLang="en-US" sz="700" dirty="0"/>
                    </a:p>
                  </a:txBody>
                  <a:tcPr anchor="ctr"/>
                </a:tc>
                <a:tc>
                  <a:txBody>
                    <a:bodyPr/>
                    <a:lstStyle/>
                    <a:p>
                      <a:pPr algn="ctr" latinLnBrk="1"/>
                      <a:r>
                        <a:rPr lang="ko-KR" altLang="en-US" sz="700" dirty="0" err="1" smtClean="0"/>
                        <a:t>정상공고</a:t>
                      </a:r>
                      <a:r>
                        <a:rPr lang="en-US" altLang="ko-KR" sz="700" dirty="0" smtClean="0"/>
                        <a:t>, </a:t>
                      </a:r>
                      <a:r>
                        <a:rPr lang="ko-KR" altLang="en-US" sz="700" dirty="0" err="1" smtClean="0"/>
                        <a:t>긴급공고</a:t>
                      </a:r>
                      <a:r>
                        <a:rPr lang="en-US" altLang="ko-KR" sz="700" dirty="0" smtClean="0"/>
                        <a:t>, </a:t>
                      </a:r>
                      <a:r>
                        <a:rPr lang="ko-KR" altLang="en-US" sz="700" dirty="0" err="1" smtClean="0"/>
                        <a:t>재공고</a:t>
                      </a:r>
                      <a:r>
                        <a:rPr lang="en-US" altLang="ko-KR" sz="700" dirty="0" smtClean="0"/>
                        <a:t>, </a:t>
                      </a:r>
                      <a:r>
                        <a:rPr lang="ko-KR" altLang="en-US" sz="700" dirty="0" err="1" smtClean="0"/>
                        <a:t>긴급갱신</a:t>
                      </a:r>
                      <a:r>
                        <a:rPr lang="en-US" altLang="ko-KR" sz="700" dirty="0" smtClean="0"/>
                        <a:t>, </a:t>
                      </a:r>
                      <a:r>
                        <a:rPr lang="ko-KR" altLang="en-US" sz="700" dirty="0" err="1" smtClean="0"/>
                        <a:t>재공고</a:t>
                      </a:r>
                      <a:r>
                        <a:rPr lang="en-US" altLang="ko-KR" sz="700" dirty="0" smtClean="0"/>
                        <a:t>(3</a:t>
                      </a:r>
                      <a:r>
                        <a:rPr lang="ko-KR" altLang="en-US" sz="700" dirty="0" smtClean="0"/>
                        <a:t>차</a:t>
                      </a:r>
                      <a:r>
                        <a:rPr lang="en-US" altLang="ko-KR" sz="700" dirty="0" smtClean="0"/>
                        <a:t>),</a:t>
                      </a:r>
                      <a:r>
                        <a:rPr lang="ko-KR" altLang="en-US" sz="700" dirty="0" smtClean="0"/>
                        <a:t>긴급갱신재공고</a:t>
                      </a:r>
                      <a:r>
                        <a:rPr lang="en-US" altLang="ko-KR" sz="700" dirty="0" smtClean="0"/>
                        <a:t>, </a:t>
                      </a:r>
                      <a:r>
                        <a:rPr lang="ko-KR" altLang="en-US" sz="700" dirty="0" err="1" smtClean="0"/>
                        <a:t>정정공고</a:t>
                      </a:r>
                      <a:r>
                        <a:rPr lang="en-US" altLang="ko-KR" sz="700" dirty="0" smtClean="0"/>
                        <a:t>, </a:t>
                      </a:r>
                      <a:r>
                        <a:rPr lang="ko-KR" altLang="en-US" sz="700" dirty="0" err="1" smtClean="0"/>
                        <a:t>취소공고</a:t>
                      </a:r>
                      <a:r>
                        <a:rPr lang="en-US" altLang="ko-KR" sz="700" dirty="0" smtClean="0"/>
                        <a:t>, </a:t>
                      </a:r>
                      <a:r>
                        <a:rPr lang="ko-KR" altLang="en-US" sz="700" dirty="0" err="1" smtClean="0"/>
                        <a:t>연기공고</a:t>
                      </a:r>
                      <a:r>
                        <a:rPr lang="en-US" altLang="ko-KR" sz="700" dirty="0" smtClean="0"/>
                        <a:t>, </a:t>
                      </a:r>
                      <a:r>
                        <a:rPr lang="ko-KR" altLang="en-US" sz="700" dirty="0" smtClean="0"/>
                        <a:t>게시</a:t>
                      </a:r>
                      <a:r>
                        <a:rPr lang="en-US" altLang="ko-KR" sz="700" dirty="0" smtClean="0"/>
                        <a:t>, </a:t>
                      </a:r>
                      <a:r>
                        <a:rPr lang="ko-KR" altLang="en-US" sz="700" dirty="0" smtClean="0"/>
                        <a:t>모의입찰코드</a:t>
                      </a:r>
                      <a:endParaRPr lang="ko-KR" altLang="en-US" sz="700" dirty="0"/>
                    </a:p>
                  </a:txBody>
                  <a:tcPr anchor="ctr"/>
                </a:tc>
                <a:extLst>
                  <a:ext uri="{0D108BD9-81ED-4DB2-BD59-A6C34878D82A}">
                    <a16:rowId xmlns:a16="http://schemas.microsoft.com/office/drawing/2014/main" val="3252512344"/>
                  </a:ext>
                </a:extLst>
              </a:tr>
              <a:tr h="370840">
                <a:tc>
                  <a:txBody>
                    <a:bodyPr/>
                    <a:lstStyle/>
                    <a:p>
                      <a:pPr algn="ctr" latinLnBrk="1"/>
                      <a:r>
                        <a:rPr lang="ko-KR" altLang="en-US" sz="700" dirty="0" err="1" smtClean="0">
                          <a:latin typeface="+mn-ea"/>
                          <a:ea typeface="+mn-ea"/>
                        </a:rPr>
                        <a:t>입찰형태</a:t>
                      </a:r>
                      <a:endParaRPr lang="ko-KR" altLang="en-US" sz="700" dirty="0" smtClean="0"/>
                    </a:p>
                  </a:txBody>
                  <a:tcPr anchor="ctr"/>
                </a:tc>
                <a:tc>
                  <a:txBody>
                    <a:bodyPr/>
                    <a:lstStyle/>
                    <a:p>
                      <a:pPr algn="ctr" latinLnBrk="1"/>
                      <a:r>
                        <a:rPr lang="ko-KR" altLang="en-US" sz="700" dirty="0" err="1" smtClean="0">
                          <a:latin typeface="+mn-ea"/>
                          <a:ea typeface="+mn-ea"/>
                        </a:rPr>
                        <a:t>일반입찰</a:t>
                      </a:r>
                      <a:r>
                        <a:rPr lang="en-US" altLang="ko-KR" sz="700" dirty="0" smtClean="0">
                          <a:latin typeface="+mn-ea"/>
                          <a:ea typeface="+mn-ea"/>
                        </a:rPr>
                        <a:t>, </a:t>
                      </a:r>
                      <a:r>
                        <a:rPr lang="ko-KR" altLang="en-US" sz="700" dirty="0" smtClean="0">
                          <a:latin typeface="+mn-ea"/>
                          <a:ea typeface="+mn-ea"/>
                        </a:rPr>
                        <a:t>전자입찰</a:t>
                      </a:r>
                      <a:r>
                        <a:rPr lang="en-US" altLang="ko-KR" sz="700" dirty="0" smtClean="0">
                          <a:latin typeface="+mn-ea"/>
                          <a:ea typeface="+mn-ea"/>
                        </a:rPr>
                        <a:t>, OMR</a:t>
                      </a:r>
                      <a:r>
                        <a:rPr lang="ko-KR" altLang="en-US" sz="700" dirty="0" smtClean="0">
                          <a:latin typeface="+mn-ea"/>
                          <a:ea typeface="+mn-ea"/>
                        </a:rPr>
                        <a:t>입찰</a:t>
                      </a:r>
                      <a:r>
                        <a:rPr lang="en-US" altLang="ko-KR" sz="700" dirty="0" smtClean="0">
                          <a:latin typeface="+mn-ea"/>
                          <a:ea typeface="+mn-ea"/>
                        </a:rPr>
                        <a:t>, OCR </a:t>
                      </a:r>
                      <a:r>
                        <a:rPr lang="ko-KR" altLang="en-US" sz="700" dirty="0" smtClean="0">
                          <a:latin typeface="+mn-ea"/>
                          <a:ea typeface="+mn-ea"/>
                        </a:rPr>
                        <a:t>입찰</a:t>
                      </a:r>
                      <a:r>
                        <a:rPr lang="en-US" altLang="ko-KR" sz="700" dirty="0" smtClean="0">
                          <a:latin typeface="+mn-ea"/>
                          <a:ea typeface="+mn-ea"/>
                        </a:rPr>
                        <a:t>, </a:t>
                      </a:r>
                      <a:r>
                        <a:rPr lang="ko-KR" altLang="en-US" sz="700" dirty="0" err="1" smtClean="0">
                          <a:latin typeface="+mn-ea"/>
                          <a:ea typeface="+mn-ea"/>
                        </a:rPr>
                        <a:t>역경매</a:t>
                      </a:r>
                      <a:r>
                        <a:rPr lang="en-US" altLang="ko-KR" sz="700" dirty="0" smtClean="0">
                          <a:latin typeface="+mn-ea"/>
                          <a:ea typeface="+mn-ea"/>
                        </a:rPr>
                        <a:t>, </a:t>
                      </a:r>
                      <a:r>
                        <a:rPr lang="ko-KR" altLang="en-US" sz="700" dirty="0" err="1" smtClean="0">
                          <a:latin typeface="+mn-ea"/>
                          <a:ea typeface="+mn-ea"/>
                        </a:rPr>
                        <a:t>전산입찰</a:t>
                      </a:r>
                      <a:endParaRPr lang="ko-KR" altLang="en-US" sz="700" dirty="0"/>
                    </a:p>
                  </a:txBody>
                  <a:tcPr anchor="ctr"/>
                </a:tc>
                <a:extLst>
                  <a:ext uri="{0D108BD9-81ED-4DB2-BD59-A6C34878D82A}">
                    <a16:rowId xmlns:a16="http://schemas.microsoft.com/office/drawing/2014/main" val="1300407882"/>
                  </a:ext>
                </a:extLst>
              </a:tr>
            </a:tbl>
          </a:graphicData>
        </a:graphic>
      </p:graphicFrame>
      <p:grpSp>
        <p:nvGrpSpPr>
          <p:cNvPr id="96" name="그룹 95"/>
          <p:cNvGrpSpPr/>
          <p:nvPr/>
        </p:nvGrpSpPr>
        <p:grpSpPr>
          <a:xfrm>
            <a:off x="8223250" y="807554"/>
            <a:ext cx="3365500" cy="634511"/>
            <a:chOff x="8223250" y="569392"/>
            <a:chExt cx="3365500" cy="634511"/>
          </a:xfrm>
        </p:grpSpPr>
        <p:sp>
          <p:nvSpPr>
            <p:cNvPr id="97" name="직사각형 96"/>
            <p:cNvSpPr/>
            <p:nvPr/>
          </p:nvSpPr>
          <p:spPr>
            <a:xfrm>
              <a:off x="8223250" y="569392"/>
              <a:ext cx="1682750" cy="2194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normAutofit fontScale="55000" lnSpcReduction="20000"/>
            </a:bodyPr>
            <a:lstStyle/>
            <a:p>
              <a:pPr algn="ctr"/>
              <a:r>
                <a:rPr lang="en-US" altLang="ko-KR" dirty="0" smtClean="0"/>
                <a:t>2026-08-18 </a:t>
              </a:r>
              <a:r>
                <a:rPr lang="ko-KR" altLang="en-US" dirty="0"/>
                <a:t>화면 </a:t>
              </a:r>
              <a:r>
                <a:rPr lang="ko-KR" altLang="en-US" dirty="0" smtClean="0"/>
                <a:t>추가</a:t>
              </a:r>
              <a:endParaRPr lang="ko-KR" altLang="en-US" dirty="0"/>
            </a:p>
          </p:txBody>
        </p:sp>
        <p:sp>
          <p:nvSpPr>
            <p:cNvPr id="98" name="직사각형 97"/>
            <p:cNvSpPr/>
            <p:nvPr/>
          </p:nvSpPr>
          <p:spPr>
            <a:xfrm>
              <a:off x="9906000" y="569392"/>
              <a:ext cx="1682750" cy="63451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t">
              <a:noAutofit/>
            </a:bodyPr>
            <a:lstStyle/>
            <a:p>
              <a:pPr marL="228600" indent="-228600">
                <a:buAutoNum type="arabicPeriod"/>
              </a:pPr>
              <a:r>
                <a:rPr lang="ko-KR" altLang="en-US" sz="700" dirty="0" smtClean="0"/>
                <a:t>표시 레이블 항목 추가</a:t>
              </a:r>
              <a:endParaRPr lang="en-US" altLang="ko-KR" sz="700" dirty="0" smtClean="0"/>
            </a:p>
          </p:txBody>
        </p:sp>
      </p:grpSp>
      <p:sp>
        <p:nvSpPr>
          <p:cNvPr id="99" name="직사각형 98"/>
          <p:cNvSpPr/>
          <p:nvPr/>
        </p:nvSpPr>
        <p:spPr>
          <a:xfrm>
            <a:off x="476794" y="1260503"/>
            <a:ext cx="6577149" cy="200704"/>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bg1"/>
                </a:solidFill>
              </a:rPr>
              <a:t>이해를 돕기 위한 화면</a:t>
            </a:r>
          </a:p>
        </p:txBody>
      </p:sp>
    </p:spTree>
    <p:extLst>
      <p:ext uri="{BB962C8B-B14F-4D97-AF65-F5344CB8AC3E}">
        <p14:creationId xmlns:p14="http://schemas.microsoft.com/office/powerpoint/2010/main" val="409111274"/>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a:xfrm>
            <a:off x="7090845" y="1497761"/>
            <a:ext cx="2300284" cy="4981517"/>
          </a:xfrm>
        </p:spPr>
        <p:txBody>
          <a:bodyPr/>
          <a:lstStyle/>
          <a:p>
            <a:pPr marL="228600" indent="-228600">
              <a:buFont typeface="+mj-lt"/>
              <a:buAutoNum type="arabicPeriod"/>
            </a:pPr>
            <a:r>
              <a:rPr lang="ko-KR" altLang="en-US" sz="800" dirty="0"/>
              <a:t>상세정보 화면</a:t>
            </a:r>
            <a:r>
              <a:rPr lang="en-US" altLang="ko-KR" sz="800" dirty="0"/>
              <a:t> </a:t>
            </a:r>
            <a:r>
              <a:rPr lang="ko-KR" altLang="en-US" sz="800" dirty="0" smtClean="0"/>
              <a:t>세부 </a:t>
            </a:r>
            <a:r>
              <a:rPr lang="ko-KR" altLang="en-US" sz="800" dirty="0"/>
              <a:t>내역 표시</a:t>
            </a:r>
            <a:r>
              <a:rPr lang="en-US" altLang="ko-KR" sz="800" dirty="0"/>
              <a:t/>
            </a:r>
            <a:br>
              <a:rPr lang="en-US" altLang="ko-KR" sz="800" dirty="0"/>
            </a:br>
            <a:r>
              <a:rPr lang="en-US" altLang="ko-KR" sz="800" dirty="0"/>
              <a:t>- </a:t>
            </a:r>
            <a:r>
              <a:rPr lang="ko-KR" altLang="en-US" sz="800" dirty="0"/>
              <a:t>표시 내역이 없는 항목은 숨김</a:t>
            </a:r>
            <a:endParaRPr lang="en-US" altLang="ko-KR" sz="800" dirty="0"/>
          </a:p>
          <a:p>
            <a:pPr marL="228600" indent="-228600">
              <a:buFont typeface="+mj-lt"/>
              <a:buAutoNum type="arabicPeriod"/>
            </a:pPr>
            <a:r>
              <a:rPr lang="ko-KR" altLang="en-US" sz="800" dirty="0"/>
              <a:t>버튼 노출 및 클릭 시 해당 내역 </a:t>
            </a:r>
            <a:r>
              <a:rPr lang="ko-KR" altLang="en-US" sz="800" dirty="0" smtClean="0"/>
              <a:t>표시</a:t>
            </a:r>
            <a:r>
              <a:rPr lang="en-US" altLang="ko-KR" sz="800" dirty="0" smtClean="0"/>
              <a:t/>
            </a:r>
            <a:br>
              <a:rPr lang="en-US" altLang="ko-KR" sz="800" dirty="0" smtClean="0"/>
            </a:br>
            <a:r>
              <a:rPr lang="en-US" altLang="ko-KR" sz="800" dirty="0" smtClean="0"/>
              <a:t>-</a:t>
            </a:r>
            <a:r>
              <a:rPr lang="en-US" altLang="ko-KR" sz="800" dirty="0">
                <a:solidFill>
                  <a:srgbClr val="000000"/>
                </a:solidFill>
                <a:latin typeface="맑은 고딕" panose="020B0503020000020004" pitchFamily="50" charset="-127"/>
              </a:rPr>
              <a:t> </a:t>
            </a:r>
            <a:r>
              <a:rPr lang="en-US" altLang="ko-KR" sz="800" dirty="0" smtClean="0">
                <a:solidFill>
                  <a:srgbClr val="000000"/>
                </a:solidFill>
                <a:latin typeface="맑은 고딕" panose="020B0503020000020004" pitchFamily="50" charset="-127"/>
              </a:rPr>
              <a:t>MUI-BD-01-M07 </a:t>
            </a:r>
            <a:r>
              <a:rPr lang="ko-KR" altLang="en-US" sz="800" dirty="0" smtClean="0">
                <a:solidFill>
                  <a:srgbClr val="000000"/>
                </a:solidFill>
                <a:latin typeface="맑은 고딕" panose="020B0503020000020004" pitchFamily="50" charset="-127"/>
              </a:rPr>
              <a:t>화면이동</a:t>
            </a:r>
            <a:endParaRPr lang="en-US" altLang="ko-KR" sz="800" dirty="0" smtClean="0">
              <a:solidFill>
                <a:srgbClr val="000000"/>
              </a:solidFill>
              <a:latin typeface="맑은 고딕" panose="020B0503020000020004" pitchFamily="50" charset="-127"/>
            </a:endParaRPr>
          </a:p>
          <a:p>
            <a:pPr marL="228600" indent="-228600">
              <a:buFont typeface="+mj-lt"/>
              <a:buAutoNum type="arabicPeriod"/>
            </a:pPr>
            <a:r>
              <a:rPr lang="ko-KR" altLang="en-US" sz="800" dirty="0" smtClean="0"/>
              <a:t>작성한 입찰의 진행 상태 확인</a:t>
            </a:r>
            <a:r>
              <a:rPr lang="en-US" altLang="ko-KR" sz="800" dirty="0" smtClean="0"/>
              <a:t>.</a:t>
            </a:r>
            <a:br>
              <a:rPr lang="en-US" altLang="ko-KR" sz="800" dirty="0" smtClean="0"/>
            </a:br>
            <a:r>
              <a:rPr lang="en-US" altLang="ko-KR" sz="800" dirty="0" smtClean="0"/>
              <a:t>- 3-1] </a:t>
            </a:r>
            <a:r>
              <a:rPr lang="ko-KR" altLang="en-US" sz="800" dirty="0" smtClean="0"/>
              <a:t>입찰참가신청서 </a:t>
            </a:r>
            <a:r>
              <a:rPr lang="ko-KR" altLang="en-US" sz="800" dirty="0" err="1" smtClean="0"/>
              <a:t>상태값</a:t>
            </a:r>
            <a:r>
              <a:rPr lang="en-US" altLang="ko-KR" sz="800" dirty="0" smtClean="0"/>
              <a:t/>
            </a:r>
            <a:br>
              <a:rPr lang="en-US" altLang="ko-KR" sz="800" dirty="0" smtClean="0"/>
            </a:br>
            <a:r>
              <a:rPr lang="en-US" altLang="ko-KR" sz="800" dirty="0" smtClean="0"/>
              <a:t>:</a:t>
            </a:r>
            <a:r>
              <a:rPr lang="ko-KR" altLang="en-US" sz="800" dirty="0" smtClean="0"/>
              <a:t>신청</a:t>
            </a:r>
            <a:r>
              <a:rPr lang="en-US" altLang="ko-KR" sz="800" dirty="0" smtClean="0"/>
              <a:t>(</a:t>
            </a:r>
            <a:r>
              <a:rPr lang="en-US" altLang="ko-KR" sz="800" dirty="0" smtClean="0">
                <a:solidFill>
                  <a:srgbClr val="000000"/>
                </a:solidFill>
                <a:latin typeface="맑은 고딕" panose="020B0503020000020004" pitchFamily="50" charset="-127"/>
              </a:rPr>
              <a:t>MUI-BD-04-M01)</a:t>
            </a:r>
            <a:r>
              <a:rPr lang="en-US" altLang="ko-KR" sz="800" dirty="0" smtClean="0"/>
              <a:t/>
            </a:r>
            <a:br>
              <a:rPr lang="en-US" altLang="ko-KR" sz="800" dirty="0" smtClean="0"/>
            </a:br>
            <a:r>
              <a:rPr lang="en-US" altLang="ko-KR" sz="800" dirty="0" smtClean="0"/>
              <a:t>:</a:t>
            </a:r>
            <a:r>
              <a:rPr lang="ko-KR" altLang="en-US" sz="800" dirty="0" err="1" smtClean="0"/>
              <a:t>등록불가</a:t>
            </a:r>
            <a:r>
              <a:rPr lang="en-US" altLang="ko-KR" sz="800" dirty="0" smtClean="0"/>
              <a:t>, </a:t>
            </a:r>
            <a:r>
              <a:rPr lang="ko-KR" altLang="en-US" sz="800" dirty="0" err="1" smtClean="0"/>
              <a:t>등록확정</a:t>
            </a:r>
            <a:r>
              <a:rPr lang="en-US" altLang="ko-KR" sz="800" dirty="0" smtClean="0"/>
              <a:t>, </a:t>
            </a:r>
            <a:r>
              <a:rPr lang="ko-KR" altLang="en-US" sz="800" dirty="0" smtClean="0"/>
              <a:t>반려</a:t>
            </a:r>
            <a:r>
              <a:rPr lang="en-US" altLang="ko-KR" sz="800" dirty="0" smtClean="0"/>
              <a:t>(</a:t>
            </a:r>
            <a:r>
              <a:rPr lang="en-US" altLang="ko-KR" sz="800" dirty="0" smtClean="0">
                <a:latin typeface="+mn-ea"/>
              </a:rPr>
              <a:t>MUI-BD-03-M05</a:t>
            </a:r>
            <a:r>
              <a:rPr lang="en-US" altLang="ko-KR" sz="800" dirty="0" smtClean="0"/>
              <a:t>)</a:t>
            </a:r>
            <a:br>
              <a:rPr lang="en-US" altLang="ko-KR" sz="800" dirty="0" smtClean="0"/>
            </a:br>
            <a:r>
              <a:rPr lang="en-US" altLang="ko-KR" sz="800" dirty="0" smtClean="0"/>
              <a:t>:</a:t>
            </a:r>
            <a:r>
              <a:rPr lang="ko-KR" altLang="en-US" sz="800" dirty="0" err="1" smtClean="0"/>
              <a:t>신청완료</a:t>
            </a:r>
            <a:r>
              <a:rPr lang="en-US" altLang="ko-KR" sz="800" dirty="0" smtClean="0"/>
              <a:t>, </a:t>
            </a:r>
            <a:r>
              <a:rPr lang="ko-KR" altLang="en-US" sz="800" dirty="0" smtClean="0"/>
              <a:t>미동의</a:t>
            </a:r>
            <a:r>
              <a:rPr lang="en-US" altLang="ko-KR" sz="800" dirty="0" smtClean="0"/>
              <a:t>,  </a:t>
            </a:r>
            <a:r>
              <a:rPr lang="ko-KR" altLang="en-US" sz="800" dirty="0" err="1" smtClean="0"/>
              <a:t>동의완료</a:t>
            </a:r>
            <a:r>
              <a:rPr lang="en-US" altLang="ko-KR" sz="800" dirty="0" smtClean="0"/>
              <a:t>(MUI-BD-04-M22)</a:t>
            </a:r>
            <a:br>
              <a:rPr lang="en-US" altLang="ko-KR" sz="800" dirty="0" smtClean="0"/>
            </a:br>
            <a:r>
              <a:rPr lang="en-US" altLang="ko-KR" sz="800" dirty="0" smtClean="0"/>
              <a:t/>
            </a:r>
            <a:br>
              <a:rPr lang="en-US" altLang="ko-KR" sz="800" dirty="0" smtClean="0"/>
            </a:br>
            <a:r>
              <a:rPr lang="en-US" altLang="ko-KR" sz="800" dirty="0" smtClean="0"/>
              <a:t>- 3-2] </a:t>
            </a:r>
            <a:r>
              <a:rPr lang="ko-KR" altLang="en-US" sz="800" dirty="0" smtClean="0"/>
              <a:t>입찰서 </a:t>
            </a:r>
            <a:r>
              <a:rPr lang="ko-KR" altLang="en-US" sz="800" dirty="0" err="1" smtClean="0"/>
              <a:t>상태값</a:t>
            </a:r>
            <a:r>
              <a:rPr lang="en-US" altLang="ko-KR" sz="800" dirty="0" smtClean="0"/>
              <a:t/>
            </a:r>
            <a:br>
              <a:rPr lang="en-US" altLang="ko-KR" sz="800" dirty="0" smtClean="0"/>
            </a:br>
            <a:r>
              <a:rPr lang="en-US" altLang="ko-KR" sz="800" dirty="0" smtClean="0"/>
              <a:t>:</a:t>
            </a:r>
            <a:r>
              <a:rPr lang="ko-KR" altLang="en-US" sz="800" dirty="0" smtClean="0"/>
              <a:t>제출</a:t>
            </a:r>
            <a:r>
              <a:rPr lang="en-US" altLang="ko-KR" sz="800" dirty="0" smtClean="0"/>
              <a:t> (</a:t>
            </a:r>
            <a:r>
              <a:rPr lang="en-US" altLang="ko-KR" sz="800" dirty="0" smtClean="0">
                <a:solidFill>
                  <a:srgbClr val="000000"/>
                </a:solidFill>
                <a:latin typeface="맑은 고딕" panose="020B0503020000020004" pitchFamily="50" charset="-127"/>
              </a:rPr>
              <a:t>MUI-BD-06-M01)</a:t>
            </a:r>
            <a:r>
              <a:rPr lang="en-US" altLang="ko-KR" sz="800" dirty="0" smtClean="0"/>
              <a:t/>
            </a:r>
            <a:br>
              <a:rPr lang="en-US" altLang="ko-KR" sz="800" dirty="0" smtClean="0"/>
            </a:br>
            <a:r>
              <a:rPr lang="en-US" altLang="ko-KR" sz="800" dirty="0" smtClean="0"/>
              <a:t>:</a:t>
            </a:r>
            <a:r>
              <a:rPr lang="ko-KR" altLang="en-US" sz="800" dirty="0" err="1" smtClean="0"/>
              <a:t>신청완료</a:t>
            </a:r>
            <a:r>
              <a:rPr lang="en-US" altLang="ko-KR" sz="800" dirty="0"/>
              <a:t>(MUI-BD-04-M22</a:t>
            </a:r>
            <a:r>
              <a:rPr lang="en-US" altLang="ko-KR" sz="800" dirty="0" smtClean="0"/>
              <a:t>)</a:t>
            </a:r>
            <a:br>
              <a:rPr lang="en-US" altLang="ko-KR" sz="800" dirty="0" smtClean="0"/>
            </a:br>
            <a:r>
              <a:rPr lang="en-US" altLang="ko-KR" sz="800" dirty="0" smtClean="0"/>
              <a:t>:</a:t>
            </a:r>
            <a:r>
              <a:rPr lang="ko-KR" altLang="en-US" sz="800" dirty="0" smtClean="0"/>
              <a:t>완료</a:t>
            </a:r>
            <a:r>
              <a:rPr lang="en-US" altLang="ko-KR" sz="800" dirty="0" smtClean="0"/>
              <a:t>(</a:t>
            </a:r>
            <a:r>
              <a:rPr lang="en-US" altLang="ko-KR" sz="800" dirty="0" smtClean="0">
                <a:latin typeface="+mn-ea"/>
              </a:rPr>
              <a:t>MUI-BD-09-M01)</a:t>
            </a:r>
            <a:r>
              <a:rPr lang="en-US" altLang="ko-KR" sz="800" dirty="0" smtClean="0"/>
              <a:t/>
            </a:r>
            <a:br>
              <a:rPr lang="en-US" altLang="ko-KR" sz="800" dirty="0" smtClean="0"/>
            </a:br>
            <a:r>
              <a:rPr lang="en-US" altLang="ko-KR" sz="800" dirty="0" smtClean="0"/>
              <a:t>:</a:t>
            </a:r>
            <a:r>
              <a:rPr lang="ko-KR" altLang="en-US" sz="800" dirty="0" err="1" smtClean="0"/>
              <a:t>입찰취소</a:t>
            </a:r>
            <a:r>
              <a:rPr lang="en-US" altLang="ko-KR" sz="800" dirty="0" smtClean="0"/>
              <a:t>(</a:t>
            </a:r>
            <a:r>
              <a:rPr lang="en-US" altLang="ko-KR" sz="800" dirty="0" smtClean="0">
                <a:latin typeface="+mn-ea"/>
              </a:rPr>
              <a:t>MUI-BD-03-P05)</a:t>
            </a:r>
            <a:r>
              <a:rPr lang="en-US" altLang="ko-KR" sz="800" dirty="0" smtClean="0"/>
              <a:t/>
            </a:r>
            <a:br>
              <a:rPr lang="en-US" altLang="ko-KR" sz="800" dirty="0" smtClean="0"/>
            </a:br>
            <a:r>
              <a:rPr lang="en-US" altLang="ko-KR" sz="800" dirty="0" smtClean="0"/>
              <a:t>:</a:t>
            </a:r>
            <a:r>
              <a:rPr lang="ko-KR" altLang="en-US" sz="800" dirty="0" err="1" smtClean="0"/>
              <a:t>입찰포기</a:t>
            </a:r>
            <a:r>
              <a:rPr lang="en-US" altLang="ko-KR" sz="800" dirty="0" smtClean="0"/>
              <a:t>(</a:t>
            </a:r>
            <a:r>
              <a:rPr lang="en-US" altLang="ko-KR" sz="800" dirty="0" smtClean="0">
                <a:latin typeface="+mn-ea"/>
              </a:rPr>
              <a:t>MUI-BD-03-P08</a:t>
            </a:r>
            <a:r>
              <a:rPr lang="en-US" altLang="ko-KR" sz="800" dirty="0" smtClean="0"/>
              <a:t>)</a:t>
            </a:r>
            <a:br>
              <a:rPr lang="en-US" altLang="ko-KR" sz="800" dirty="0" smtClean="0"/>
            </a:br>
            <a:r>
              <a:rPr lang="en-US" altLang="ko-KR" sz="800" dirty="0" smtClean="0"/>
              <a:t/>
            </a:r>
            <a:br>
              <a:rPr lang="en-US" altLang="ko-KR" sz="800" dirty="0" smtClean="0"/>
            </a:br>
            <a:r>
              <a:rPr lang="en-US" altLang="ko-KR" sz="800" dirty="0" smtClean="0"/>
              <a:t>- 3-3] </a:t>
            </a:r>
            <a:r>
              <a:rPr lang="ko-KR" altLang="en-US" sz="800" dirty="0" smtClean="0"/>
              <a:t>사전심사 </a:t>
            </a:r>
            <a:r>
              <a:rPr lang="ko-KR" altLang="en-US" sz="800" dirty="0" err="1" smtClean="0"/>
              <a:t>상태값</a:t>
            </a:r>
            <a:r>
              <a:rPr lang="en-US" altLang="ko-KR" sz="800" dirty="0" smtClean="0"/>
              <a:t/>
            </a:r>
            <a:br>
              <a:rPr lang="en-US" altLang="ko-KR" sz="800" dirty="0" smtClean="0"/>
            </a:br>
            <a:r>
              <a:rPr lang="en-US" altLang="ko-KR" sz="800" dirty="0" smtClean="0"/>
              <a:t>: </a:t>
            </a:r>
            <a:r>
              <a:rPr lang="ko-KR" altLang="en-US" sz="800" dirty="0" smtClean="0"/>
              <a:t>신청 </a:t>
            </a:r>
            <a:r>
              <a:rPr lang="en-US" altLang="ko-KR" sz="800" dirty="0" smtClean="0"/>
              <a:t>(</a:t>
            </a:r>
            <a:r>
              <a:rPr lang="en-US" altLang="ko-KR" sz="800" dirty="0" smtClean="0">
                <a:solidFill>
                  <a:srgbClr val="000000"/>
                </a:solidFill>
                <a:latin typeface="맑은 고딕" panose="020B0503020000020004" pitchFamily="50" charset="-127"/>
              </a:rPr>
              <a:t>MUI-BD-02-M01)</a:t>
            </a:r>
            <a:r>
              <a:rPr lang="en-US" altLang="ko-KR" sz="800" dirty="0" smtClean="0"/>
              <a:t/>
            </a:r>
            <a:br>
              <a:rPr lang="en-US" altLang="ko-KR" sz="800" dirty="0" smtClean="0"/>
            </a:br>
            <a:r>
              <a:rPr lang="en-US" altLang="ko-KR" sz="800" dirty="0" smtClean="0"/>
              <a:t>:</a:t>
            </a:r>
            <a:r>
              <a:rPr lang="ko-KR" altLang="en-US" sz="800" dirty="0"/>
              <a:t> </a:t>
            </a:r>
            <a:r>
              <a:rPr lang="ko-KR" altLang="en-US" sz="800" dirty="0" err="1" smtClean="0"/>
              <a:t>신청중</a:t>
            </a:r>
            <a:r>
              <a:rPr lang="ko-KR" altLang="en-US" sz="800" dirty="0" smtClean="0"/>
              <a:t> </a:t>
            </a:r>
            <a:r>
              <a:rPr lang="en-US" altLang="ko-KR" sz="800" dirty="0" smtClean="0"/>
              <a:t>(</a:t>
            </a:r>
            <a:r>
              <a:rPr lang="en-US" altLang="ko-KR" sz="800" dirty="0">
                <a:solidFill>
                  <a:srgbClr val="000000"/>
                </a:solidFill>
                <a:latin typeface="맑은 고딕" panose="020B0503020000020004" pitchFamily="50" charset="-127"/>
              </a:rPr>
              <a:t>MUI-BD-02-M01</a:t>
            </a:r>
            <a:r>
              <a:rPr lang="en-US" altLang="ko-KR" sz="800" dirty="0" smtClean="0"/>
              <a:t>) – </a:t>
            </a:r>
            <a:r>
              <a:rPr lang="ko-KR" altLang="en-US" sz="800" dirty="0" smtClean="0"/>
              <a:t>작성된 내용을 불러와서 표시</a:t>
            </a:r>
            <a:r>
              <a:rPr lang="en-US" altLang="ko-KR" sz="800" dirty="0" smtClean="0"/>
              <a:t>. </a:t>
            </a:r>
            <a:r>
              <a:rPr lang="ko-KR" altLang="en-US" sz="800" dirty="0" smtClean="0"/>
              <a:t>수정 불가</a:t>
            </a:r>
            <a:r>
              <a:rPr lang="en-US" altLang="ko-KR" sz="800" dirty="0" smtClean="0"/>
              <a:t/>
            </a:r>
            <a:br>
              <a:rPr lang="en-US" altLang="ko-KR" sz="800" dirty="0" smtClean="0"/>
            </a:br>
            <a:r>
              <a:rPr lang="en-US" altLang="ko-KR" sz="800" dirty="0" smtClean="0"/>
              <a:t>: </a:t>
            </a:r>
            <a:r>
              <a:rPr lang="ko-KR" altLang="en-US" sz="800" dirty="0" smtClean="0"/>
              <a:t>결과 </a:t>
            </a:r>
            <a:r>
              <a:rPr lang="en-US" altLang="ko-KR" sz="800" dirty="0" smtClean="0"/>
              <a:t>(</a:t>
            </a:r>
            <a:r>
              <a:rPr lang="en-US" altLang="ko-KR" sz="800" dirty="0">
                <a:solidFill>
                  <a:srgbClr val="000000"/>
                </a:solidFill>
                <a:latin typeface="맑은 고딕" panose="020B0503020000020004" pitchFamily="50" charset="-127"/>
              </a:rPr>
              <a:t>MUI-BD-02-M03</a:t>
            </a:r>
            <a:r>
              <a:rPr lang="en-US" altLang="ko-KR" sz="800" dirty="0" smtClean="0">
                <a:latin typeface="+mn-ea"/>
              </a:rPr>
              <a:t>)</a:t>
            </a:r>
            <a:r>
              <a:rPr lang="en-US" altLang="ko-KR" sz="800" dirty="0" smtClean="0"/>
              <a:t/>
            </a:r>
            <a:br>
              <a:rPr lang="en-US" altLang="ko-KR" sz="800" dirty="0" smtClean="0"/>
            </a:br>
            <a:r>
              <a:rPr lang="en-US" altLang="ko-KR" sz="800" dirty="0" smtClean="0"/>
              <a:t/>
            </a:r>
            <a:br>
              <a:rPr lang="en-US" altLang="ko-KR" sz="800" dirty="0" smtClean="0"/>
            </a:br>
            <a:r>
              <a:rPr lang="en-US" altLang="ko-KR" sz="800" dirty="0" smtClean="0"/>
              <a:t>- 3-4] </a:t>
            </a:r>
            <a:r>
              <a:rPr lang="ko-KR" altLang="en-US" sz="800" dirty="0" smtClean="0"/>
              <a:t>기술평가 </a:t>
            </a:r>
            <a:r>
              <a:rPr lang="ko-KR" altLang="en-US" sz="800" dirty="0" err="1" smtClean="0"/>
              <a:t>상태값</a:t>
            </a:r>
            <a:r>
              <a:rPr lang="en-US" altLang="ko-KR" sz="800" dirty="0" smtClean="0"/>
              <a:t/>
            </a:r>
            <a:br>
              <a:rPr lang="en-US" altLang="ko-KR" sz="800" dirty="0" smtClean="0"/>
            </a:br>
            <a:r>
              <a:rPr lang="en-US" altLang="ko-KR" sz="800" dirty="0" smtClean="0"/>
              <a:t>: </a:t>
            </a:r>
            <a:r>
              <a:rPr lang="ko-KR" altLang="en-US" sz="800" dirty="0" smtClean="0"/>
              <a:t>신청</a:t>
            </a:r>
            <a:r>
              <a:rPr lang="en-US" altLang="ko-KR" sz="800" dirty="0" smtClean="0"/>
              <a:t/>
            </a:r>
            <a:br>
              <a:rPr lang="en-US" altLang="ko-KR" sz="800" dirty="0" smtClean="0"/>
            </a:br>
            <a:r>
              <a:rPr lang="en-US" altLang="ko-KR" sz="800" dirty="0" smtClean="0"/>
              <a:t>: </a:t>
            </a:r>
            <a:r>
              <a:rPr lang="ko-KR" altLang="en-US" sz="800" dirty="0" smtClean="0"/>
              <a:t>결과 </a:t>
            </a:r>
            <a:r>
              <a:rPr lang="en-US" altLang="ko-KR" sz="800" dirty="0" smtClean="0"/>
              <a:t>(</a:t>
            </a:r>
            <a:r>
              <a:rPr lang="en-US" altLang="ko-KR" sz="800" dirty="0" smtClean="0">
                <a:latin typeface="+mn-ea"/>
              </a:rPr>
              <a:t>MUI-BD-07-P01)</a:t>
            </a:r>
            <a:r>
              <a:rPr lang="en-US" altLang="ko-KR" sz="800" dirty="0"/>
              <a:t/>
            </a:r>
            <a:br>
              <a:rPr lang="en-US" altLang="ko-KR" sz="800" dirty="0"/>
            </a:br>
            <a:r>
              <a:rPr lang="en-US" altLang="ko-KR" sz="800" dirty="0" smtClean="0"/>
              <a:t/>
            </a:r>
            <a:br>
              <a:rPr lang="en-US" altLang="ko-KR" sz="800" dirty="0" smtClean="0"/>
            </a:br>
            <a:r>
              <a:rPr lang="en-US" altLang="ko-KR" sz="800" dirty="0" smtClean="0"/>
              <a:t>- 3-5] </a:t>
            </a:r>
            <a:r>
              <a:rPr lang="ko-KR" altLang="en-US" sz="800" dirty="0" smtClean="0"/>
              <a:t>생산능력서류 </a:t>
            </a:r>
            <a:r>
              <a:rPr lang="ko-KR" altLang="en-US" sz="800" dirty="0" err="1" smtClean="0"/>
              <a:t>상태값</a:t>
            </a:r>
            <a:r>
              <a:rPr lang="en-US" altLang="ko-KR" sz="800" dirty="0" smtClean="0"/>
              <a:t/>
            </a:r>
            <a:br>
              <a:rPr lang="en-US" altLang="ko-KR" sz="800" dirty="0" smtClean="0"/>
            </a:br>
            <a:r>
              <a:rPr lang="en-US" altLang="ko-KR" sz="800" dirty="0" smtClean="0"/>
              <a:t>: </a:t>
            </a:r>
            <a:r>
              <a:rPr lang="ko-KR" altLang="en-US" sz="800" dirty="0" smtClean="0"/>
              <a:t>신청</a:t>
            </a:r>
            <a:r>
              <a:rPr lang="en-US" altLang="ko-KR" sz="800" dirty="0" smtClean="0"/>
              <a:t/>
            </a:r>
            <a:br>
              <a:rPr lang="en-US" altLang="ko-KR" sz="800" dirty="0" smtClean="0"/>
            </a:br>
            <a:r>
              <a:rPr lang="en-US" altLang="ko-KR" sz="800" dirty="0" smtClean="0"/>
              <a:t>: </a:t>
            </a:r>
            <a:r>
              <a:rPr lang="ko-KR" altLang="en-US" sz="800" dirty="0" smtClean="0"/>
              <a:t>제출 </a:t>
            </a:r>
            <a:r>
              <a:rPr lang="en-US" altLang="ko-KR" sz="800" dirty="0" smtClean="0"/>
              <a:t>(</a:t>
            </a:r>
            <a:r>
              <a:rPr lang="en-US" altLang="ko-KR" sz="800" dirty="0" smtClean="0">
                <a:latin typeface="+mn-ea"/>
              </a:rPr>
              <a:t>MUI-BD-03-P06)</a:t>
            </a:r>
            <a:r>
              <a:rPr lang="en-US" altLang="ko-KR" sz="800" dirty="0"/>
              <a:t/>
            </a:r>
            <a:br>
              <a:rPr lang="en-US" altLang="ko-KR" sz="800" dirty="0"/>
            </a:br>
            <a:r>
              <a:rPr lang="en-US" altLang="ko-KR" sz="800" dirty="0"/>
              <a:t/>
            </a:r>
            <a:br>
              <a:rPr lang="en-US" altLang="ko-KR" sz="800" dirty="0"/>
            </a:br>
            <a:r>
              <a:rPr lang="en-US" altLang="ko-KR" sz="800" dirty="0" smtClean="0">
                <a:latin typeface="+mn-ea"/>
              </a:rPr>
              <a:t/>
            </a:r>
            <a:br>
              <a:rPr lang="en-US" altLang="ko-KR" sz="800" dirty="0" smtClean="0">
                <a:latin typeface="+mn-ea"/>
              </a:rPr>
            </a:br>
            <a:endParaRPr lang="en-US" altLang="ko-KR" sz="800" dirty="0" smtClean="0">
              <a:latin typeface="+mn-ea"/>
            </a:endParaRPr>
          </a:p>
          <a:p>
            <a:pPr marL="228600" indent="-228600">
              <a:buFont typeface="+mj-lt"/>
              <a:buAutoNum type="arabicPeriod"/>
            </a:pPr>
            <a:r>
              <a:rPr lang="ko-KR" altLang="en-US" sz="800" dirty="0" err="1" smtClean="0"/>
              <a:t>플로팅버튼영역</a:t>
            </a:r>
            <a:r>
              <a:rPr lang="en-US" altLang="ko-KR" sz="800" dirty="0" smtClean="0"/>
              <a:t/>
            </a:r>
            <a:br>
              <a:rPr lang="en-US" altLang="ko-KR" sz="800" dirty="0" smtClean="0"/>
            </a:br>
            <a:r>
              <a:rPr lang="en-US" altLang="ko-KR" sz="800" dirty="0" smtClean="0"/>
              <a:t>- 3</a:t>
            </a:r>
            <a:r>
              <a:rPr lang="ko-KR" altLang="en-US" sz="800" dirty="0" smtClean="0"/>
              <a:t>번 </a:t>
            </a:r>
            <a:r>
              <a:rPr lang="ko-KR" altLang="en-US" sz="800" dirty="0" err="1" smtClean="0"/>
              <a:t>상태값에</a:t>
            </a:r>
            <a:r>
              <a:rPr lang="ko-KR" altLang="en-US" sz="800" dirty="0" smtClean="0"/>
              <a:t> 따라 버튼 노출 </a:t>
            </a:r>
            <a:r>
              <a:rPr lang="ko-KR" altLang="en-US" sz="800" dirty="0" err="1" smtClean="0"/>
              <a:t>여부결정</a:t>
            </a:r>
            <a:r>
              <a:rPr lang="en-US" altLang="ko-KR" sz="800" dirty="0" smtClean="0"/>
              <a:t/>
            </a:r>
            <a:br>
              <a:rPr lang="en-US" altLang="ko-KR" sz="800" dirty="0" smtClean="0"/>
            </a:br>
            <a:r>
              <a:rPr lang="en-US" altLang="ko-KR" sz="800" dirty="0" smtClean="0"/>
              <a:t>- </a:t>
            </a:r>
            <a:r>
              <a:rPr lang="ko-KR" altLang="en-US" sz="800" dirty="0" smtClean="0"/>
              <a:t>현재 명확한 조건은 알 수 없음</a:t>
            </a:r>
            <a:endParaRPr lang="ko-KR" altLang="en-US" sz="800" dirty="0"/>
          </a:p>
          <a:p>
            <a:pPr marL="228600" indent="-228600">
              <a:buFont typeface="+mj-lt"/>
              <a:buAutoNum type="arabicPeriod"/>
            </a:pPr>
            <a:endParaRPr lang="en-US" altLang="ko-KR" sz="800" dirty="0" smtClean="0"/>
          </a:p>
        </p:txBody>
      </p:sp>
      <p:sp>
        <p:nvSpPr>
          <p:cNvPr id="2" name="슬라이드 번호 개체 틀 1"/>
          <p:cNvSpPr>
            <a:spLocks noGrp="1"/>
          </p:cNvSpPr>
          <p:nvPr>
            <p:ph type="sldNum" sz="quarter" idx="4"/>
          </p:nvPr>
        </p:nvSpPr>
        <p:spPr/>
        <p:txBody>
          <a:bodyPr/>
          <a:lstStyle/>
          <a:p>
            <a:fld id="{34C8E023-7346-48FC-AB24-9A3388C53208}" type="slidenum">
              <a:rPr lang="ko-KR" altLang="en-US" smtClean="0"/>
              <a:pPr/>
              <a:t>438</a:t>
            </a:fld>
            <a:endParaRPr lang="ko-KR" altLang="en-US" dirty="0"/>
          </a:p>
        </p:txBody>
      </p:sp>
      <p:sp>
        <p:nvSpPr>
          <p:cNvPr id="5" name="텍스트 개체 틀 4"/>
          <p:cNvSpPr>
            <a:spLocks noGrp="1"/>
          </p:cNvSpPr>
          <p:nvPr>
            <p:ph type="body" sz="quarter" idx="12"/>
          </p:nvPr>
        </p:nvSpPr>
        <p:spPr/>
        <p:txBody>
          <a:bodyPr/>
          <a:lstStyle/>
          <a:p>
            <a:pPr fontAlgn="ctr"/>
            <a:r>
              <a:rPr lang="ko-KR" altLang="en-US" dirty="0"/>
              <a:t>입찰진행상세</a:t>
            </a:r>
            <a:endParaRPr lang="ko-KR" altLang="en-US" dirty="0">
              <a:latin typeface="+mn-ea"/>
            </a:endParaRPr>
          </a:p>
        </p:txBody>
      </p:sp>
      <p:sp>
        <p:nvSpPr>
          <p:cNvPr id="6" name="텍스트 개체 틀 5"/>
          <p:cNvSpPr>
            <a:spLocks noGrp="1"/>
          </p:cNvSpPr>
          <p:nvPr>
            <p:ph type="body" sz="quarter" idx="13"/>
          </p:nvPr>
        </p:nvSpPr>
        <p:spPr>
          <a:xfrm>
            <a:off x="956623" y="1010025"/>
            <a:ext cx="8434506" cy="193878"/>
          </a:xfrm>
        </p:spPr>
        <p:txBody>
          <a:bodyPr/>
          <a:lstStyle/>
          <a:p>
            <a:r>
              <a:rPr lang="ko-KR" altLang="en-US" dirty="0" smtClean="0"/>
              <a:t>입찰 진행 상세 화면 </a:t>
            </a:r>
            <a:r>
              <a:rPr lang="en-US" altLang="ko-KR" dirty="0" smtClean="0"/>
              <a:t>– </a:t>
            </a:r>
            <a:r>
              <a:rPr lang="ko-KR" altLang="en-US" dirty="0" smtClean="0"/>
              <a:t>입찰</a:t>
            </a:r>
            <a:r>
              <a:rPr lang="en-US" altLang="ko-KR" dirty="0" smtClean="0"/>
              <a:t>, </a:t>
            </a:r>
            <a:r>
              <a:rPr lang="ko-KR" altLang="en-US" dirty="0" smtClean="0"/>
              <a:t>사전심사를 진행한 상세 정보 표시</a:t>
            </a:r>
            <a:endParaRPr lang="ko-KR" altLang="en-US" dirty="0"/>
          </a:p>
        </p:txBody>
      </p:sp>
      <p:sp>
        <p:nvSpPr>
          <p:cNvPr id="7" name="텍스트 개체 틀 6"/>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a:t>
            </a:r>
          </a:p>
        </p:txBody>
      </p:sp>
      <p:sp>
        <p:nvSpPr>
          <p:cNvPr id="8" name="텍스트 개체 틀 7"/>
          <p:cNvSpPr>
            <a:spLocks noGrp="1"/>
          </p:cNvSpPr>
          <p:nvPr>
            <p:ph type="body" sz="quarter" idx="15"/>
          </p:nvPr>
        </p:nvSpPr>
        <p:spPr/>
        <p:txBody>
          <a:bodyPr lIns="72000" tIns="36000" rIns="72000" bIns="36000"/>
          <a:lstStyle/>
          <a:p>
            <a:pPr fontAlgn="ctr"/>
            <a:r>
              <a:rPr lang="en-US" altLang="ko-KR" dirty="0">
                <a:latin typeface="+mn-ea"/>
              </a:rPr>
              <a:t>MUI-BD-03-M02</a:t>
            </a:r>
            <a:endParaRPr lang="ko-KR" altLang="en-US" dirty="0">
              <a:latin typeface="+mn-ea"/>
            </a:endParaRPr>
          </a:p>
        </p:txBody>
      </p:sp>
      <p:sp>
        <p:nvSpPr>
          <p:cNvPr id="58" name="직사각형 5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80570" y="227612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타원 64">
            <a:extLst>
              <a:ext uri="{FF2B5EF4-FFF2-40B4-BE49-F238E27FC236}">
                <a16:creationId xmlns:a16="http://schemas.microsoft.com/office/drawing/2014/main" id="{37A7FF4F-0EAA-1463-560A-D5EC24416103}"/>
              </a:ext>
            </a:extLst>
          </p:cNvPr>
          <p:cNvSpPr/>
          <p:nvPr/>
        </p:nvSpPr>
        <p:spPr>
          <a:xfrm>
            <a:off x="571127" y="238803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66" name="TextBox 65">
            <a:extLst>
              <a:ext uri="{FF2B5EF4-FFF2-40B4-BE49-F238E27FC236}">
                <a16:creationId xmlns:a16="http://schemas.microsoft.com/office/drawing/2014/main" id="{FFC49AEA-2A8F-250C-A86A-A7751D9706C3}"/>
              </a:ext>
            </a:extLst>
          </p:cNvPr>
          <p:cNvSpPr txBox="1"/>
          <p:nvPr/>
        </p:nvSpPr>
        <p:spPr>
          <a:xfrm>
            <a:off x="817932" y="2994848"/>
            <a:ext cx="670770" cy="107722"/>
          </a:xfrm>
          <a:prstGeom prst="rect">
            <a:avLst/>
          </a:prstGeom>
          <a:noFill/>
        </p:spPr>
        <p:txBody>
          <a:bodyPr wrap="square" lIns="0" tIns="0" rIns="0" bIns="0" rtlCol="0">
            <a:spAutoFit/>
          </a:bodyPr>
          <a:lstStyle/>
          <a:p>
            <a:r>
              <a:rPr lang="ko-KR" altLang="en-US" sz="700" b="1" dirty="0">
                <a:latin typeface="+mn-ea"/>
              </a:rPr>
              <a:t>구분</a:t>
            </a:r>
            <a:endParaRPr lang="en-US" altLang="ko-KR" sz="700" b="1"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1510284" y="2994848"/>
            <a:ext cx="670770" cy="107722"/>
          </a:xfrm>
          <a:prstGeom prst="rect">
            <a:avLst/>
          </a:prstGeom>
          <a:noFill/>
        </p:spPr>
        <p:txBody>
          <a:bodyPr wrap="square" lIns="0" tIns="0" rIns="0" bIns="0" rtlCol="0">
            <a:spAutoFit/>
          </a:bodyPr>
          <a:lstStyle/>
          <a:p>
            <a:r>
              <a:rPr lang="ko-KR" altLang="en-US" sz="700" b="1" dirty="0">
                <a:latin typeface="+mn-ea"/>
              </a:rPr>
              <a:t>내용</a:t>
            </a:r>
            <a:endParaRPr lang="en-US" altLang="ko-KR" sz="700" b="1"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88855" y="32002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817932" y="3211679"/>
            <a:ext cx="963760" cy="2800767"/>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업무구분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 연락처</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err="1">
                <a:latin typeface="+mn-ea"/>
              </a:rPr>
              <a:t>업체구분</a:t>
            </a:r>
            <a:endParaRPr lang="en-US" altLang="ko-KR" sz="700" dirty="0">
              <a:latin typeface="+mn-ea"/>
            </a:endParaRPr>
          </a:p>
          <a:p>
            <a:pPr>
              <a:lnSpc>
                <a:spcPct val="200000"/>
              </a:lnSpc>
            </a:pPr>
            <a:r>
              <a:rPr lang="ko-KR" altLang="en-US" sz="700" dirty="0">
                <a:latin typeface="+mn-ea"/>
              </a:rPr>
              <a:t>입찰참가신청서</a:t>
            </a:r>
            <a:endParaRPr lang="en-US" altLang="ko-KR" sz="700" dirty="0">
              <a:latin typeface="+mn-ea"/>
            </a:endParaRPr>
          </a:p>
          <a:p>
            <a:pPr>
              <a:lnSpc>
                <a:spcPct val="200000"/>
              </a:lnSpc>
            </a:pPr>
            <a:r>
              <a:rPr lang="ko-KR" altLang="en-US" sz="700" dirty="0">
                <a:latin typeface="+mn-ea"/>
              </a:rPr>
              <a:t>입찰서</a:t>
            </a:r>
            <a:endParaRPr lang="en-US" altLang="ko-KR" sz="700" dirty="0">
              <a:latin typeface="+mn-ea"/>
            </a:endParaRPr>
          </a:p>
        </p:txBody>
      </p:sp>
      <p:sp>
        <p:nvSpPr>
          <p:cNvPr id="70" name="TextBox 69">
            <a:extLst>
              <a:ext uri="{FF2B5EF4-FFF2-40B4-BE49-F238E27FC236}">
                <a16:creationId xmlns:a16="http://schemas.microsoft.com/office/drawing/2014/main" id="{FFC49AEA-2A8F-250C-A86A-A7751D9706C3}"/>
              </a:ext>
            </a:extLst>
          </p:cNvPr>
          <p:cNvSpPr txBox="1"/>
          <p:nvPr/>
        </p:nvSpPr>
        <p:spPr>
          <a:xfrm>
            <a:off x="1510284" y="3211679"/>
            <a:ext cx="1814470" cy="280076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ko-KR" altLang="en-US" sz="700" dirty="0">
                <a:latin typeface="+mn-ea"/>
              </a:rPr>
              <a:t>물품</a:t>
            </a:r>
            <a:endParaRPr lang="en-US" altLang="ko-KR" sz="700" dirty="0">
              <a:latin typeface="+mn-ea"/>
            </a:endParaRPr>
          </a:p>
          <a:p>
            <a:pPr>
              <a:lnSpc>
                <a:spcPct val="200000"/>
              </a:lnSpc>
            </a:pPr>
            <a:r>
              <a:rPr lang="en-US" altLang="ko-KR" sz="700" dirty="0">
                <a:latin typeface="+mn-ea"/>
              </a:rPr>
              <a:t>000 000 0000</a:t>
            </a:r>
          </a:p>
          <a:p>
            <a:pPr>
              <a:lnSpc>
                <a:spcPct val="200000"/>
              </a:lnSpc>
            </a:pPr>
            <a:r>
              <a:rPr lang="en-US" altLang="ko-KR" sz="700" dirty="0">
                <a:latin typeface="+mn-ea"/>
              </a:rPr>
              <a:t>00 00 00 00</a:t>
            </a:r>
          </a:p>
          <a:p>
            <a:pPr>
              <a:lnSpc>
                <a:spcPct val="200000"/>
              </a:lnSpc>
            </a:pPr>
            <a:r>
              <a:rPr lang="en-US" altLang="ko-KR" sz="700" dirty="0">
                <a:latin typeface="+mn-ea"/>
              </a:rPr>
              <a:t>00 00 00000</a:t>
            </a:r>
          </a:p>
          <a:p>
            <a:pPr>
              <a:lnSpc>
                <a:spcPct val="200000"/>
              </a:lnSpc>
            </a:pPr>
            <a:r>
              <a:rPr lang="ko-KR" altLang="en-US" sz="700" dirty="0">
                <a:latin typeface="+mn-ea"/>
              </a:rPr>
              <a:t>간편한 </a:t>
            </a:r>
            <a:r>
              <a:rPr lang="ko-KR" altLang="en-US" sz="700" dirty="0" err="1">
                <a:latin typeface="+mn-ea"/>
              </a:rPr>
              <a:t>아침식</a:t>
            </a:r>
            <a:r>
              <a:rPr lang="ko-KR" altLang="en-US" sz="700" dirty="0">
                <a:latin typeface="+mn-ea"/>
              </a:rPr>
              <a:t> 제조 및 납품</a:t>
            </a:r>
            <a:endParaRPr lang="en-US" altLang="ko-KR" sz="700" dirty="0">
              <a:latin typeface="+mn-ea"/>
            </a:endParaRPr>
          </a:p>
          <a:p>
            <a:pPr>
              <a:lnSpc>
                <a:spcPct val="200000"/>
              </a:lnSpc>
            </a:pPr>
            <a:r>
              <a:rPr lang="en-US" altLang="ko-KR" sz="700" dirty="0">
                <a:latin typeface="+mn-ea"/>
              </a:rPr>
              <a:t>0000 0000</a:t>
            </a:r>
          </a:p>
          <a:p>
            <a:pPr>
              <a:lnSpc>
                <a:spcPct val="200000"/>
              </a:lnSpc>
            </a:pPr>
            <a:r>
              <a:rPr lang="en-US" altLang="ko-KR" sz="700" dirty="0">
                <a:latin typeface="+mn-ea"/>
              </a:rPr>
              <a:t>000-0000-0000</a:t>
            </a:r>
          </a:p>
          <a:p>
            <a:pPr>
              <a:lnSpc>
                <a:spcPct val="200000"/>
              </a:lnSpc>
            </a:pPr>
            <a:r>
              <a:rPr lang="ko-KR" altLang="en-US" sz="700" dirty="0">
                <a:latin typeface="+mn-ea"/>
              </a:rPr>
              <a:t>경쟁입찰</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대표</a:t>
            </a:r>
            <a:endParaRPr lang="en-US" altLang="ko-KR" sz="700" dirty="0">
              <a:latin typeface="+mn-ea"/>
            </a:endParaRPr>
          </a:p>
          <a:p>
            <a:pPr>
              <a:lnSpc>
                <a:spcPct val="200000"/>
              </a:lnSpc>
            </a:pPr>
            <a:r>
              <a:rPr lang="ko-KR" altLang="en-US" sz="700" dirty="0">
                <a:latin typeface="+mn-ea"/>
              </a:rPr>
              <a:t>신청 </a:t>
            </a:r>
            <a:r>
              <a:rPr lang="en-US" altLang="ko-KR" sz="700" dirty="0">
                <a:latin typeface="+mn-ea"/>
              </a:rPr>
              <a:t>/ </a:t>
            </a:r>
            <a:r>
              <a:rPr lang="ko-KR" altLang="en-US" sz="700" dirty="0">
                <a:latin typeface="+mn-ea"/>
              </a:rPr>
              <a:t>미동의 </a:t>
            </a:r>
            <a:r>
              <a:rPr lang="en-US" altLang="ko-KR" sz="700" dirty="0">
                <a:latin typeface="+mn-ea"/>
              </a:rPr>
              <a:t>/ </a:t>
            </a:r>
            <a:r>
              <a:rPr lang="ko-KR" altLang="en-US" sz="700" dirty="0" err="1">
                <a:latin typeface="+mn-ea"/>
              </a:rPr>
              <a:t>등록확정</a:t>
            </a:r>
            <a:r>
              <a:rPr lang="ko-KR" altLang="en-US" sz="700" dirty="0">
                <a:latin typeface="+mn-ea"/>
              </a:rPr>
              <a:t> </a:t>
            </a:r>
            <a:r>
              <a:rPr lang="en-US" altLang="ko-KR" sz="700" dirty="0">
                <a:latin typeface="+mn-ea"/>
              </a:rPr>
              <a:t>/ </a:t>
            </a:r>
            <a:r>
              <a:rPr lang="ko-KR" altLang="en-US" sz="700" dirty="0">
                <a:latin typeface="+mn-ea"/>
              </a:rPr>
              <a:t>등</a:t>
            </a:r>
            <a:r>
              <a:rPr lang="en-US" altLang="ko-KR" sz="700" dirty="0">
                <a:latin typeface="+mn-ea"/>
              </a:rPr>
              <a:t>…</a:t>
            </a:r>
          </a:p>
          <a:p>
            <a:pPr>
              <a:lnSpc>
                <a:spcPct val="200000"/>
              </a:lnSpc>
            </a:pPr>
            <a:r>
              <a:rPr lang="ko-KR" altLang="en-US" sz="700" dirty="0">
                <a:latin typeface="+mn-ea"/>
              </a:rPr>
              <a:t>제출 </a:t>
            </a:r>
            <a:r>
              <a:rPr lang="en-US" altLang="ko-KR" sz="700" dirty="0">
                <a:latin typeface="+mn-ea"/>
              </a:rPr>
              <a:t>/ </a:t>
            </a:r>
            <a:r>
              <a:rPr lang="ko-KR" altLang="en-US" sz="700" dirty="0">
                <a:latin typeface="+mn-ea"/>
              </a:rPr>
              <a:t>완료 </a:t>
            </a:r>
            <a:r>
              <a:rPr lang="en-US" altLang="ko-KR" sz="700" dirty="0">
                <a:latin typeface="+mn-ea"/>
              </a:rPr>
              <a:t>/ </a:t>
            </a:r>
            <a:r>
              <a:rPr lang="ko-KR" altLang="en-US" sz="700" dirty="0" err="1">
                <a:latin typeface="+mn-ea"/>
              </a:rPr>
              <a:t>입찰취소</a:t>
            </a:r>
            <a:endParaRPr lang="en-US" altLang="ko-KR" sz="700" dirty="0">
              <a:latin typeface="+mn-ea"/>
            </a:endParaRPr>
          </a:p>
        </p:txBody>
      </p:sp>
      <p:cxnSp>
        <p:nvCxnSpPr>
          <p:cNvPr id="71" name="직선 연결선 70">
            <a:extLst>
              <a:ext uri="{FF2B5EF4-FFF2-40B4-BE49-F238E27FC236}">
                <a16:creationId xmlns:a16="http://schemas.microsoft.com/office/drawing/2014/main" id="{E9293055-D5CD-4B9E-7F64-64B2D2CA7A52}"/>
              </a:ext>
            </a:extLst>
          </p:cNvPr>
          <p:cNvCxnSpPr/>
          <p:nvPr/>
        </p:nvCxnSpPr>
        <p:spPr>
          <a:xfrm>
            <a:off x="730868" y="34427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2" name="직선 연결선 71">
            <a:extLst>
              <a:ext uri="{FF2B5EF4-FFF2-40B4-BE49-F238E27FC236}">
                <a16:creationId xmlns:a16="http://schemas.microsoft.com/office/drawing/2014/main" id="{E9293055-D5CD-4B9E-7F64-64B2D2CA7A52}"/>
              </a:ext>
            </a:extLst>
          </p:cNvPr>
          <p:cNvCxnSpPr/>
          <p:nvPr/>
        </p:nvCxnSpPr>
        <p:spPr>
          <a:xfrm>
            <a:off x="730868" y="36564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3" name="직선 연결선 72">
            <a:extLst>
              <a:ext uri="{FF2B5EF4-FFF2-40B4-BE49-F238E27FC236}">
                <a16:creationId xmlns:a16="http://schemas.microsoft.com/office/drawing/2014/main" id="{E9293055-D5CD-4B9E-7F64-64B2D2CA7A52}"/>
              </a:ext>
            </a:extLst>
          </p:cNvPr>
          <p:cNvCxnSpPr/>
          <p:nvPr/>
        </p:nvCxnSpPr>
        <p:spPr>
          <a:xfrm>
            <a:off x="730868" y="3870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4" name="직선 연결선 73">
            <a:extLst>
              <a:ext uri="{FF2B5EF4-FFF2-40B4-BE49-F238E27FC236}">
                <a16:creationId xmlns:a16="http://schemas.microsoft.com/office/drawing/2014/main" id="{E9293055-D5CD-4B9E-7F64-64B2D2CA7A52}"/>
              </a:ext>
            </a:extLst>
          </p:cNvPr>
          <p:cNvCxnSpPr/>
          <p:nvPr/>
        </p:nvCxnSpPr>
        <p:spPr>
          <a:xfrm>
            <a:off x="730868" y="40839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5" name="직선 연결선 74">
            <a:extLst>
              <a:ext uri="{FF2B5EF4-FFF2-40B4-BE49-F238E27FC236}">
                <a16:creationId xmlns:a16="http://schemas.microsoft.com/office/drawing/2014/main" id="{E9293055-D5CD-4B9E-7F64-64B2D2CA7A52}"/>
              </a:ext>
            </a:extLst>
          </p:cNvPr>
          <p:cNvCxnSpPr/>
          <p:nvPr/>
        </p:nvCxnSpPr>
        <p:spPr>
          <a:xfrm>
            <a:off x="730868" y="42976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30868" y="45113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7" name="직선 연결선 76">
            <a:extLst>
              <a:ext uri="{FF2B5EF4-FFF2-40B4-BE49-F238E27FC236}">
                <a16:creationId xmlns:a16="http://schemas.microsoft.com/office/drawing/2014/main" id="{E9293055-D5CD-4B9E-7F64-64B2D2CA7A52}"/>
              </a:ext>
            </a:extLst>
          </p:cNvPr>
          <p:cNvCxnSpPr/>
          <p:nvPr/>
        </p:nvCxnSpPr>
        <p:spPr>
          <a:xfrm>
            <a:off x="730868" y="47250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30868" y="49387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9" name="직선 연결선 78">
            <a:extLst>
              <a:ext uri="{FF2B5EF4-FFF2-40B4-BE49-F238E27FC236}">
                <a16:creationId xmlns:a16="http://schemas.microsoft.com/office/drawing/2014/main" id="{E9293055-D5CD-4B9E-7F64-64B2D2CA7A52}"/>
              </a:ext>
            </a:extLst>
          </p:cNvPr>
          <p:cNvCxnSpPr/>
          <p:nvPr/>
        </p:nvCxnSpPr>
        <p:spPr>
          <a:xfrm>
            <a:off x="730868" y="53661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730868" y="55808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30868" y="57945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30868" y="60082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3" name="사각형: 둥근 모서리 15">
            <a:extLst>
              <a:ext uri="{FF2B5EF4-FFF2-40B4-BE49-F238E27FC236}">
                <a16:creationId xmlns:a16="http://schemas.microsoft.com/office/drawing/2014/main" id="{E2B61CFB-AD16-68D0-8752-50D9C5E01971}"/>
              </a:ext>
            </a:extLst>
          </p:cNvPr>
          <p:cNvSpPr/>
          <p:nvPr/>
        </p:nvSpPr>
        <p:spPr>
          <a:xfrm>
            <a:off x="2864521" y="3682345"/>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공고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4" name="모서리가 둥근 직사각형 83"/>
          <p:cNvSpPr/>
          <p:nvPr/>
        </p:nvSpPr>
        <p:spPr>
          <a:xfrm rot="5400000">
            <a:off x="2675698" y="361296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85" name="사각형: 둥근 모서리 15">
            <a:extLst>
              <a:ext uri="{FF2B5EF4-FFF2-40B4-BE49-F238E27FC236}">
                <a16:creationId xmlns:a16="http://schemas.microsoft.com/office/drawing/2014/main" id="{E2B61CFB-AD16-68D0-8752-50D9C5E01971}"/>
              </a:ext>
            </a:extLst>
          </p:cNvPr>
          <p:cNvSpPr/>
          <p:nvPr/>
        </p:nvSpPr>
        <p:spPr>
          <a:xfrm>
            <a:off x="2864521" y="5606713"/>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2864521" y="5820817"/>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7" name="타원 86">
            <a:extLst>
              <a:ext uri="{FF2B5EF4-FFF2-40B4-BE49-F238E27FC236}">
                <a16:creationId xmlns:a16="http://schemas.microsoft.com/office/drawing/2014/main" id="{37A7FF4F-0EAA-1463-560A-D5EC24416103}"/>
              </a:ext>
            </a:extLst>
          </p:cNvPr>
          <p:cNvSpPr/>
          <p:nvPr/>
        </p:nvSpPr>
        <p:spPr>
          <a:xfrm>
            <a:off x="3327015" y="36039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89" name="그룹 88"/>
          <p:cNvGrpSpPr/>
          <p:nvPr/>
        </p:nvGrpSpPr>
        <p:grpSpPr>
          <a:xfrm>
            <a:off x="677935" y="2382893"/>
            <a:ext cx="2712027" cy="508898"/>
            <a:chOff x="697390" y="2606886"/>
            <a:chExt cx="2712027" cy="508898"/>
          </a:xfrm>
        </p:grpSpPr>
        <p:sp>
          <p:nvSpPr>
            <p:cNvPr id="90"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1" name="모서리가 둥근 직사각형 90"/>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2" name="모서리가 둥근 직사각형 91"/>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모서리가 둥근 직사각형 9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97" name="모서리가 둥근 직사각형 9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sp>
        <p:nvSpPr>
          <p:cNvPr id="98" name="직사각형 9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3924811" y="1492793"/>
            <a:ext cx="963760"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업체구분</a:t>
            </a:r>
            <a:endParaRPr lang="en-US" altLang="ko-KR" sz="700" dirty="0">
              <a:latin typeface="+mn-ea"/>
            </a:endParaRPr>
          </a:p>
          <a:p>
            <a:pPr>
              <a:lnSpc>
                <a:spcPct val="200000"/>
              </a:lnSpc>
            </a:pPr>
            <a:r>
              <a:rPr lang="ko-KR" altLang="en-US" sz="700" dirty="0">
                <a:latin typeface="+mn-ea"/>
              </a:rPr>
              <a:t>입찰참가신청서</a:t>
            </a:r>
            <a:endParaRPr lang="en-US" altLang="ko-KR" sz="700" dirty="0">
              <a:latin typeface="+mn-ea"/>
            </a:endParaRPr>
          </a:p>
          <a:p>
            <a:pPr>
              <a:lnSpc>
                <a:spcPct val="200000"/>
              </a:lnSpc>
            </a:pPr>
            <a:r>
              <a:rPr lang="ko-KR" altLang="en-US" sz="700" dirty="0">
                <a:latin typeface="+mn-ea"/>
              </a:rPr>
              <a:t>입찰서</a:t>
            </a:r>
            <a:endParaRPr lang="en-US" altLang="ko-KR" sz="700" dirty="0">
              <a:latin typeface="+mn-ea"/>
            </a:endParaRPr>
          </a:p>
          <a:p>
            <a:pPr>
              <a:lnSpc>
                <a:spcPct val="200000"/>
              </a:lnSpc>
            </a:pPr>
            <a:r>
              <a:rPr lang="ko-KR" altLang="en-US" sz="700" dirty="0">
                <a:latin typeface="+mn-ea"/>
              </a:rPr>
              <a:t>사전심사</a:t>
            </a:r>
            <a:r>
              <a:rPr lang="en-US" altLang="ko-KR" sz="700" dirty="0">
                <a:latin typeface="+mn-ea"/>
              </a:rPr>
              <a:t>(PQ)</a:t>
            </a:r>
          </a:p>
          <a:p>
            <a:pPr>
              <a:lnSpc>
                <a:spcPct val="200000"/>
              </a:lnSpc>
            </a:pPr>
            <a:r>
              <a:rPr lang="ko-KR" altLang="en-US" sz="700" dirty="0">
                <a:latin typeface="+mn-ea"/>
              </a:rPr>
              <a:t>기술평가</a:t>
            </a:r>
            <a:endParaRPr lang="en-US" altLang="ko-KR" sz="700" dirty="0">
              <a:latin typeface="+mn-ea"/>
            </a:endParaRPr>
          </a:p>
          <a:p>
            <a:pPr>
              <a:lnSpc>
                <a:spcPct val="200000"/>
              </a:lnSpc>
            </a:pPr>
            <a:r>
              <a:rPr lang="ko-KR" altLang="en-US" sz="700" dirty="0">
                <a:latin typeface="+mn-ea"/>
              </a:rPr>
              <a:t>생산능력서류</a:t>
            </a:r>
            <a:endParaRPr lang="en-US" altLang="ko-KR" sz="700" dirty="0">
              <a:latin typeface="+mn-ea"/>
            </a:endParaRPr>
          </a:p>
          <a:p>
            <a:pPr>
              <a:lnSpc>
                <a:spcPct val="200000"/>
              </a:lnSpc>
            </a:pPr>
            <a:r>
              <a:rPr lang="ko-KR" altLang="en-US" sz="700" dirty="0">
                <a:latin typeface="+mn-ea"/>
              </a:rPr>
              <a:t>입찰참가등록 </a:t>
            </a:r>
            <a:r>
              <a:rPr lang="ko-KR" altLang="en-US" sz="700" dirty="0" err="1">
                <a:latin typeface="+mn-ea"/>
              </a:rPr>
              <a:t>마감일시</a:t>
            </a:r>
            <a:endParaRPr lang="en-US" altLang="ko-KR" sz="700" dirty="0">
              <a:latin typeface="+mn-ea"/>
            </a:endParaRPr>
          </a:p>
          <a:p>
            <a:pPr>
              <a:lnSpc>
                <a:spcPct val="200000"/>
              </a:lnSpc>
            </a:pPr>
            <a:r>
              <a:rPr lang="ko-KR" altLang="en-US" sz="700" dirty="0" err="1">
                <a:latin typeface="+mn-ea"/>
              </a:rPr>
              <a:t>입찰서제출</a:t>
            </a:r>
            <a:r>
              <a:rPr lang="ko-KR" altLang="en-US" sz="700" dirty="0">
                <a:latin typeface="+mn-ea"/>
              </a:rPr>
              <a:t> </a:t>
            </a:r>
            <a:r>
              <a:rPr lang="ko-KR" altLang="en-US" sz="700" dirty="0" err="1">
                <a:latin typeface="+mn-ea"/>
              </a:rPr>
              <a:t>마감일시</a:t>
            </a:r>
            <a:endParaRPr lang="en-US" altLang="ko-KR" sz="700" dirty="0">
              <a:latin typeface="+mn-ea"/>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4617163" y="1492793"/>
            <a:ext cx="1814470" cy="1723549"/>
          </a:xfrm>
          <a:prstGeom prst="rect">
            <a:avLst/>
          </a:prstGeom>
          <a:noFill/>
        </p:spPr>
        <p:txBody>
          <a:bodyPr wrap="square" lIns="0" tIns="0" rIns="0" bIns="0" rtlCol="0">
            <a:spAutoFit/>
          </a:bodyPr>
          <a:lstStyle/>
          <a:p>
            <a:pPr>
              <a:lnSpc>
                <a:spcPct val="200000"/>
              </a:lnSpc>
            </a:pPr>
            <a:r>
              <a:rPr lang="ko-KR" altLang="en-US" sz="700" dirty="0">
                <a:latin typeface="+mn-ea"/>
              </a:rPr>
              <a:t>대표</a:t>
            </a:r>
            <a:endParaRPr lang="en-US" altLang="ko-KR" sz="700" dirty="0">
              <a:latin typeface="+mn-ea"/>
            </a:endParaRPr>
          </a:p>
          <a:p>
            <a:pPr>
              <a:lnSpc>
                <a:spcPct val="200000"/>
              </a:lnSpc>
            </a:pPr>
            <a:r>
              <a:rPr lang="ko-KR" altLang="en-US" sz="700" dirty="0" err="1" smtClean="0">
                <a:latin typeface="+mn-ea"/>
              </a:rPr>
              <a:t>신청완료</a:t>
            </a:r>
            <a:r>
              <a:rPr lang="ko-KR" altLang="en-US" sz="700" dirty="0" smtClean="0">
                <a:latin typeface="+mn-ea"/>
              </a:rPr>
              <a:t> </a:t>
            </a:r>
            <a:r>
              <a:rPr lang="en-US" altLang="ko-KR" sz="700" dirty="0">
                <a:latin typeface="+mn-ea"/>
              </a:rPr>
              <a:t>/ </a:t>
            </a:r>
            <a:r>
              <a:rPr lang="ko-KR" altLang="en-US" sz="700" dirty="0">
                <a:latin typeface="+mn-ea"/>
              </a:rPr>
              <a:t>미동의 </a:t>
            </a:r>
            <a:r>
              <a:rPr lang="en-US" altLang="ko-KR" sz="700" dirty="0">
                <a:latin typeface="+mn-ea"/>
              </a:rPr>
              <a:t>/ </a:t>
            </a:r>
            <a:r>
              <a:rPr lang="ko-KR" altLang="en-US" sz="700" dirty="0" err="1">
                <a:latin typeface="+mn-ea"/>
              </a:rPr>
              <a:t>등록확정</a:t>
            </a:r>
            <a:r>
              <a:rPr lang="ko-KR" altLang="en-US" sz="700" dirty="0">
                <a:latin typeface="+mn-ea"/>
              </a:rPr>
              <a:t> </a:t>
            </a:r>
            <a:r>
              <a:rPr lang="en-US" altLang="ko-KR" sz="700" dirty="0">
                <a:latin typeface="+mn-ea"/>
              </a:rPr>
              <a:t>/ </a:t>
            </a:r>
            <a:r>
              <a:rPr lang="ko-KR" altLang="en-US" sz="700" dirty="0">
                <a:latin typeface="+mn-ea"/>
              </a:rPr>
              <a:t>등</a:t>
            </a:r>
            <a:r>
              <a:rPr lang="en-US" altLang="ko-KR" sz="700" dirty="0">
                <a:latin typeface="+mn-ea"/>
              </a:rPr>
              <a:t>…</a:t>
            </a:r>
          </a:p>
          <a:p>
            <a:pPr>
              <a:lnSpc>
                <a:spcPct val="200000"/>
              </a:lnSpc>
            </a:pPr>
            <a:r>
              <a:rPr lang="ko-KR" altLang="en-US" sz="700" dirty="0">
                <a:latin typeface="+mn-ea"/>
              </a:rPr>
              <a:t>제출 </a:t>
            </a:r>
            <a:r>
              <a:rPr lang="en-US" altLang="ko-KR" sz="700" dirty="0">
                <a:latin typeface="+mn-ea"/>
              </a:rPr>
              <a:t>/ </a:t>
            </a:r>
            <a:r>
              <a:rPr lang="ko-KR" altLang="en-US" sz="700" dirty="0" err="1" smtClean="0">
                <a:latin typeface="+mn-ea"/>
              </a:rPr>
              <a:t>제출완료</a:t>
            </a:r>
            <a:r>
              <a:rPr lang="ko-KR" altLang="en-US" sz="700" dirty="0" smtClean="0">
                <a:latin typeface="+mn-ea"/>
              </a:rPr>
              <a:t> </a:t>
            </a:r>
            <a:r>
              <a:rPr lang="en-US" altLang="ko-KR" sz="700" dirty="0">
                <a:latin typeface="+mn-ea"/>
              </a:rPr>
              <a:t>/ </a:t>
            </a:r>
            <a:r>
              <a:rPr lang="ko-KR" altLang="en-US" sz="700" dirty="0" err="1" smtClean="0">
                <a:latin typeface="+mn-ea"/>
              </a:rPr>
              <a:t>입찰취소</a:t>
            </a:r>
            <a:r>
              <a:rPr lang="ko-KR" altLang="en-US" sz="700" dirty="0" smtClean="0">
                <a:latin typeface="+mn-ea"/>
              </a:rPr>
              <a:t> </a:t>
            </a:r>
            <a:r>
              <a:rPr lang="en-US" altLang="ko-KR" sz="700" dirty="0" smtClean="0">
                <a:latin typeface="+mn-ea"/>
              </a:rPr>
              <a:t>/ </a:t>
            </a:r>
            <a:r>
              <a:rPr lang="ko-KR" altLang="en-US" sz="700" dirty="0" err="1" smtClean="0">
                <a:latin typeface="+mn-ea"/>
              </a:rPr>
              <a:t>입찰포기</a:t>
            </a:r>
            <a:r>
              <a:rPr lang="ko-KR" altLang="en-US" sz="700" dirty="0" smtClean="0">
                <a:latin typeface="+mn-ea"/>
              </a:rPr>
              <a:t> </a:t>
            </a:r>
            <a:endParaRPr lang="en-US" altLang="ko-KR" sz="700" dirty="0">
              <a:latin typeface="+mn-ea"/>
            </a:endParaRPr>
          </a:p>
          <a:p>
            <a:pPr>
              <a:lnSpc>
                <a:spcPct val="200000"/>
              </a:lnSpc>
            </a:pPr>
            <a:r>
              <a:rPr lang="ko-KR" altLang="en-US" sz="700" dirty="0">
                <a:latin typeface="+mn-ea"/>
              </a:rPr>
              <a:t>결과</a:t>
            </a:r>
            <a:endParaRPr lang="en-US" altLang="ko-KR" sz="700" dirty="0">
              <a:latin typeface="+mn-ea"/>
            </a:endParaRPr>
          </a:p>
          <a:p>
            <a:pPr>
              <a:lnSpc>
                <a:spcPct val="200000"/>
              </a:lnSpc>
            </a:pPr>
            <a:r>
              <a:rPr lang="ko-KR" altLang="en-US" sz="700" dirty="0">
                <a:latin typeface="+mn-ea"/>
              </a:rPr>
              <a:t>결과</a:t>
            </a:r>
            <a:endParaRPr lang="en-US" altLang="ko-KR" sz="700" dirty="0">
              <a:latin typeface="+mn-ea"/>
            </a:endParaRPr>
          </a:p>
          <a:p>
            <a:pPr>
              <a:lnSpc>
                <a:spcPct val="200000"/>
              </a:lnSpc>
            </a:pPr>
            <a:r>
              <a:rPr lang="ko-KR" altLang="en-US" sz="700" dirty="0">
                <a:latin typeface="+mn-ea"/>
              </a:rPr>
              <a:t>제출</a:t>
            </a:r>
            <a:endParaRPr lang="en-US" altLang="ko-KR" sz="700" dirty="0">
              <a:latin typeface="+mn-ea"/>
            </a:endParaRPr>
          </a:p>
          <a:p>
            <a:pPr>
              <a:lnSpc>
                <a:spcPct val="200000"/>
              </a:lnSpc>
            </a:pPr>
            <a:r>
              <a:rPr lang="en-US" altLang="ko-KR" sz="700" dirty="0">
                <a:latin typeface="+mn-ea"/>
              </a:rPr>
              <a:t>              2026-03-16 15:00</a:t>
            </a:r>
          </a:p>
          <a:p>
            <a:pPr>
              <a:lnSpc>
                <a:spcPct val="200000"/>
              </a:lnSpc>
            </a:pPr>
            <a:r>
              <a:rPr lang="en-US" altLang="ko-KR" sz="700" dirty="0">
                <a:latin typeface="+mn-ea"/>
              </a:rPr>
              <a:t>              2026-03-17 15:00</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3837747" y="17238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837747" y="19376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837747" y="21513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837747" y="2365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837747" y="25787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3837747" y="27924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3837747" y="30061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3837747" y="321984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사각형: 둥근 모서리 15">
            <a:extLst>
              <a:ext uri="{FF2B5EF4-FFF2-40B4-BE49-F238E27FC236}">
                <a16:creationId xmlns:a16="http://schemas.microsoft.com/office/drawing/2014/main" id="{E2B61CFB-AD16-68D0-8752-50D9C5E01971}"/>
              </a:ext>
            </a:extLst>
          </p:cNvPr>
          <p:cNvSpPr/>
          <p:nvPr/>
        </p:nvSpPr>
        <p:spPr>
          <a:xfrm>
            <a:off x="5971400" y="1753703"/>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0" name="사각형: 둥근 모서리 15">
            <a:extLst>
              <a:ext uri="{FF2B5EF4-FFF2-40B4-BE49-F238E27FC236}">
                <a16:creationId xmlns:a16="http://schemas.microsoft.com/office/drawing/2014/main" id="{E2B61CFB-AD16-68D0-8752-50D9C5E01971}"/>
              </a:ext>
            </a:extLst>
          </p:cNvPr>
          <p:cNvSpPr/>
          <p:nvPr/>
        </p:nvSpPr>
        <p:spPr>
          <a:xfrm>
            <a:off x="5971400" y="1967807"/>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5971400" y="2184734"/>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2" name="사각형: 둥근 모서리 15">
            <a:extLst>
              <a:ext uri="{FF2B5EF4-FFF2-40B4-BE49-F238E27FC236}">
                <a16:creationId xmlns:a16="http://schemas.microsoft.com/office/drawing/2014/main" id="{E2B61CFB-AD16-68D0-8752-50D9C5E01971}"/>
              </a:ext>
            </a:extLst>
          </p:cNvPr>
          <p:cNvSpPr/>
          <p:nvPr/>
        </p:nvSpPr>
        <p:spPr>
          <a:xfrm>
            <a:off x="5971400" y="239376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3" name="사각형: 둥근 모서리 15">
            <a:extLst>
              <a:ext uri="{FF2B5EF4-FFF2-40B4-BE49-F238E27FC236}">
                <a16:creationId xmlns:a16="http://schemas.microsoft.com/office/drawing/2014/main" id="{E2B61CFB-AD16-68D0-8752-50D9C5E01971}"/>
              </a:ext>
            </a:extLst>
          </p:cNvPr>
          <p:cNvSpPr/>
          <p:nvPr/>
        </p:nvSpPr>
        <p:spPr>
          <a:xfrm>
            <a:off x="5971400" y="260455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4" name="타원 113">
            <a:extLst>
              <a:ext uri="{FF2B5EF4-FFF2-40B4-BE49-F238E27FC236}">
                <a16:creationId xmlns:a16="http://schemas.microsoft.com/office/drawing/2014/main" id="{37A7FF4F-0EAA-1463-560A-D5EC24416103}"/>
              </a:ext>
            </a:extLst>
          </p:cNvPr>
          <p:cNvSpPr/>
          <p:nvPr/>
        </p:nvSpPr>
        <p:spPr>
          <a:xfrm>
            <a:off x="3772314" y="15338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8851" y="14938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타원 120"/>
          <p:cNvSpPr/>
          <p:nvPr/>
        </p:nvSpPr>
        <p:spPr>
          <a:xfrm>
            <a:off x="6616821" y="515396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2" name="그룹 121"/>
          <p:cNvGrpSpPr/>
          <p:nvPr/>
        </p:nvGrpSpPr>
        <p:grpSpPr>
          <a:xfrm>
            <a:off x="6746287" y="5271034"/>
            <a:ext cx="124144" cy="148935"/>
            <a:chOff x="161606" y="5392781"/>
            <a:chExt cx="97885" cy="117432"/>
          </a:xfrm>
        </p:grpSpPr>
        <p:cxnSp>
          <p:nvCxnSpPr>
            <p:cNvPr id="123" name="직선 연결선 122"/>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4" name="직선 연결선 123"/>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26" name="직선 연결선 125"/>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6616821" y="563921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8" name="그룹 127"/>
          <p:cNvGrpSpPr/>
          <p:nvPr/>
        </p:nvGrpSpPr>
        <p:grpSpPr>
          <a:xfrm>
            <a:off x="6746288" y="5768679"/>
            <a:ext cx="124144" cy="124144"/>
            <a:chOff x="162544" y="5299917"/>
            <a:chExt cx="124144" cy="124144"/>
          </a:xfrm>
        </p:grpSpPr>
        <p:cxnSp>
          <p:nvCxnSpPr>
            <p:cNvPr id="129" name="직선 연결선 128"/>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30" name="직선 연결선 129"/>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36" name="TextBox 135">
            <a:extLst>
              <a:ext uri="{FF2B5EF4-FFF2-40B4-BE49-F238E27FC236}">
                <a16:creationId xmlns:a16="http://schemas.microsoft.com/office/drawing/2014/main" id="{FFC49AEA-2A8F-250C-A86A-A7751D9706C3}"/>
              </a:ext>
            </a:extLst>
          </p:cNvPr>
          <p:cNvSpPr txBox="1"/>
          <p:nvPr/>
        </p:nvSpPr>
        <p:spPr>
          <a:xfrm>
            <a:off x="3927928" y="3860460"/>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sp>
        <p:nvSpPr>
          <p:cNvPr id="148" name="모서리가 둥근 직사각형 147"/>
          <p:cNvSpPr/>
          <p:nvPr/>
        </p:nvSpPr>
        <p:spPr>
          <a:xfrm rot="5400000">
            <a:off x="5782577" y="281776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0" name="TextBox 14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40" name="그룹 139"/>
          <p:cNvGrpSpPr/>
          <p:nvPr/>
        </p:nvGrpSpPr>
        <p:grpSpPr>
          <a:xfrm>
            <a:off x="677960" y="1582647"/>
            <a:ext cx="2714637" cy="686386"/>
            <a:chOff x="677960" y="1582647"/>
            <a:chExt cx="2714637" cy="686386"/>
          </a:xfrm>
        </p:grpSpPr>
        <p:sp>
          <p:nvSpPr>
            <p:cNvPr id="151" name="TextBox 15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err="1">
                  <a:latin typeface="+mn-ea"/>
                </a:rPr>
                <a:t>입찰진행</a:t>
              </a:r>
              <a:r>
                <a:rPr lang="ko-KR" altLang="en-US" sz="800" dirty="0">
                  <a:latin typeface="+mn-ea"/>
                </a:rPr>
                <a:t> </a:t>
              </a:r>
              <a:r>
                <a:rPr lang="ko-KR" altLang="en-US" sz="800" dirty="0" smtClean="0">
                  <a:latin typeface="+mn-ea"/>
                </a:rPr>
                <a:t>상세</a:t>
              </a:r>
              <a:endParaRPr lang="ko-KR" altLang="en-US" sz="800" dirty="0">
                <a:latin typeface="+mn-ea"/>
              </a:endParaRPr>
            </a:p>
          </p:txBody>
        </p:sp>
        <p:cxnSp>
          <p:nvCxnSpPr>
            <p:cNvPr id="152" name="직선 연결선 151">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3" name="그룹 152"/>
            <p:cNvGrpSpPr/>
            <p:nvPr/>
          </p:nvGrpSpPr>
          <p:grpSpPr>
            <a:xfrm rot="5400000">
              <a:off x="852159" y="2062596"/>
              <a:ext cx="94010" cy="47005"/>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4" name="그룹 153"/>
            <p:cNvGrpSpPr/>
            <p:nvPr/>
          </p:nvGrpSpPr>
          <p:grpSpPr>
            <a:xfrm>
              <a:off x="677960" y="1582647"/>
              <a:ext cx="2712027" cy="324286"/>
              <a:chOff x="677960" y="1582647"/>
              <a:chExt cx="2712027" cy="324286"/>
            </a:xfrm>
          </p:grpSpPr>
          <p:pic>
            <p:nvPicPr>
              <p:cNvPr id="155"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56" name="직선 연결선 155">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타원 15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8" name="타원 15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타원 15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17" name="타원 116">
            <a:extLst>
              <a:ext uri="{FF2B5EF4-FFF2-40B4-BE49-F238E27FC236}">
                <a16:creationId xmlns:a16="http://schemas.microsoft.com/office/drawing/2014/main" id="{37A7FF4F-0EAA-1463-560A-D5EC24416103}"/>
              </a:ext>
            </a:extLst>
          </p:cNvPr>
          <p:cNvSpPr/>
          <p:nvPr/>
        </p:nvSpPr>
        <p:spPr>
          <a:xfrm>
            <a:off x="5882218" y="167570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3-1</a:t>
            </a:r>
            <a:endParaRPr lang="ko-KR" altLang="en-US" sz="600" b="1" dirty="0"/>
          </a:p>
        </p:txBody>
      </p:sp>
      <p:sp>
        <p:nvSpPr>
          <p:cNvPr id="118" name="타원 117">
            <a:extLst>
              <a:ext uri="{FF2B5EF4-FFF2-40B4-BE49-F238E27FC236}">
                <a16:creationId xmlns:a16="http://schemas.microsoft.com/office/drawing/2014/main" id="{37A7FF4F-0EAA-1463-560A-D5EC24416103}"/>
              </a:ext>
            </a:extLst>
          </p:cNvPr>
          <p:cNvSpPr/>
          <p:nvPr/>
        </p:nvSpPr>
        <p:spPr>
          <a:xfrm>
            <a:off x="5882218" y="190982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3-2</a:t>
            </a:r>
            <a:endParaRPr lang="ko-KR" altLang="en-US" sz="600" b="1" dirty="0"/>
          </a:p>
        </p:txBody>
      </p:sp>
      <p:sp>
        <p:nvSpPr>
          <p:cNvPr id="119" name="타원 118">
            <a:extLst>
              <a:ext uri="{FF2B5EF4-FFF2-40B4-BE49-F238E27FC236}">
                <a16:creationId xmlns:a16="http://schemas.microsoft.com/office/drawing/2014/main" id="{37A7FF4F-0EAA-1463-560A-D5EC24416103}"/>
              </a:ext>
            </a:extLst>
          </p:cNvPr>
          <p:cNvSpPr/>
          <p:nvPr/>
        </p:nvSpPr>
        <p:spPr>
          <a:xfrm>
            <a:off x="5882218" y="215059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3-3</a:t>
            </a:r>
            <a:endParaRPr lang="ko-KR" altLang="en-US" sz="600" b="1" dirty="0"/>
          </a:p>
        </p:txBody>
      </p:sp>
      <p:sp>
        <p:nvSpPr>
          <p:cNvPr id="120" name="타원 119">
            <a:extLst>
              <a:ext uri="{FF2B5EF4-FFF2-40B4-BE49-F238E27FC236}">
                <a16:creationId xmlns:a16="http://schemas.microsoft.com/office/drawing/2014/main" id="{37A7FF4F-0EAA-1463-560A-D5EC24416103}"/>
              </a:ext>
            </a:extLst>
          </p:cNvPr>
          <p:cNvSpPr/>
          <p:nvPr/>
        </p:nvSpPr>
        <p:spPr>
          <a:xfrm>
            <a:off x="5882218" y="23708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3-4</a:t>
            </a:r>
            <a:endParaRPr lang="ko-KR" altLang="en-US" sz="600" b="1" dirty="0"/>
          </a:p>
        </p:txBody>
      </p:sp>
      <p:sp>
        <p:nvSpPr>
          <p:cNvPr id="138" name="타원 137">
            <a:extLst>
              <a:ext uri="{FF2B5EF4-FFF2-40B4-BE49-F238E27FC236}">
                <a16:creationId xmlns:a16="http://schemas.microsoft.com/office/drawing/2014/main" id="{37A7FF4F-0EAA-1463-560A-D5EC24416103}"/>
              </a:ext>
            </a:extLst>
          </p:cNvPr>
          <p:cNvSpPr/>
          <p:nvPr/>
        </p:nvSpPr>
        <p:spPr>
          <a:xfrm>
            <a:off x="5882218" y="256650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600" b="1" dirty="0" smtClean="0"/>
              <a:t>3-5</a:t>
            </a:r>
            <a:endParaRPr lang="ko-KR" altLang="en-US" sz="600" b="1" dirty="0"/>
          </a:p>
        </p:txBody>
      </p:sp>
      <p:sp>
        <p:nvSpPr>
          <p:cNvPr id="95" name="양쪽 모서리가 둥근 사각형 94"/>
          <p:cNvSpPr/>
          <p:nvPr/>
        </p:nvSpPr>
        <p:spPr>
          <a:xfrm>
            <a:off x="3795734" y="3683975"/>
            <a:ext cx="2712027" cy="2548324"/>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5" name="모서리가 둥근 직사각형 114"/>
          <p:cNvSpPr/>
          <p:nvPr/>
        </p:nvSpPr>
        <p:spPr>
          <a:xfrm>
            <a:off x="4881747" y="3720602"/>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31" name="그룹 130"/>
          <p:cNvGrpSpPr/>
          <p:nvPr/>
        </p:nvGrpSpPr>
        <p:grpSpPr>
          <a:xfrm>
            <a:off x="6284673" y="3855018"/>
            <a:ext cx="94010" cy="94010"/>
            <a:chOff x="6812560" y="3297172"/>
            <a:chExt cx="94010" cy="94010"/>
          </a:xfrm>
        </p:grpSpPr>
        <p:cxnSp>
          <p:nvCxnSpPr>
            <p:cNvPr id="132" name="직선 연결선 13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33" name="직선 연결선 13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3924811" y="3835697"/>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5734" y="40970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모서리가 둥근 직사각형 40">
            <a:extLst>
              <a:ext uri="{FF2B5EF4-FFF2-40B4-BE49-F238E27FC236}">
                <a16:creationId xmlns:a16="http://schemas.microsoft.com/office/drawing/2014/main" id="{3BE5C28A-F0C3-8BA2-3AC1-EFA405ADE137}"/>
              </a:ext>
            </a:extLst>
          </p:cNvPr>
          <p:cNvSpPr/>
          <p:nvPr/>
        </p:nvSpPr>
        <p:spPr bwMode="auto">
          <a:xfrm>
            <a:off x="3888037" y="420938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smtClean="0">
                <a:solidFill>
                  <a:schemeClr val="bg1"/>
                </a:solidFill>
                <a:latin typeface="맑은 고딕" panose="020B0503020000020004" pitchFamily="50" charset="-127"/>
                <a:ea typeface="맑은 고딕" panose="020B0503020000020004" pitchFamily="50" charset="-127"/>
              </a:rPr>
              <a:t>생산능력서류제출</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nvGrpSpPr>
          <p:cNvPr id="143" name="그룹 142"/>
          <p:cNvGrpSpPr/>
          <p:nvPr/>
        </p:nvGrpSpPr>
        <p:grpSpPr>
          <a:xfrm>
            <a:off x="6120790" y="6441001"/>
            <a:ext cx="124144" cy="124144"/>
            <a:chOff x="162544" y="5299917"/>
            <a:chExt cx="124144" cy="124144"/>
          </a:xfrm>
        </p:grpSpPr>
        <p:cxnSp>
          <p:nvCxnSpPr>
            <p:cNvPr id="144" name="직선 연결선 143"/>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46" name="모서리가 둥근 직사각형 40">
            <a:extLst>
              <a:ext uri="{FF2B5EF4-FFF2-40B4-BE49-F238E27FC236}">
                <a16:creationId xmlns:a16="http://schemas.microsoft.com/office/drawing/2014/main" id="{3BE5C28A-F0C3-8BA2-3AC1-EFA405ADE137}"/>
              </a:ext>
            </a:extLst>
          </p:cNvPr>
          <p:cNvSpPr/>
          <p:nvPr/>
        </p:nvSpPr>
        <p:spPr bwMode="auto">
          <a:xfrm>
            <a:off x="3888037" y="450863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입찰참가등록반려신청</a:t>
            </a:r>
            <a:r>
              <a:rPr lang="ko-KR" altLang="en-US" sz="800" dirty="0" smtClean="0">
                <a:solidFill>
                  <a:schemeClr val="bg1"/>
                </a:solidFill>
                <a:latin typeface="맑은 고딕" panose="020B0503020000020004" pitchFamily="50" charset="-127"/>
                <a:ea typeface="맑은 고딕" panose="020B0503020000020004" pitchFamily="50" charset="-127"/>
              </a:rPr>
              <a:t> </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47" name="모서리가 둥근 직사각형 40">
            <a:extLst>
              <a:ext uri="{FF2B5EF4-FFF2-40B4-BE49-F238E27FC236}">
                <a16:creationId xmlns:a16="http://schemas.microsoft.com/office/drawing/2014/main" id="{3BE5C28A-F0C3-8BA2-3AC1-EFA405ADE137}"/>
              </a:ext>
            </a:extLst>
          </p:cNvPr>
          <p:cNvSpPr/>
          <p:nvPr/>
        </p:nvSpPr>
        <p:spPr bwMode="auto">
          <a:xfrm>
            <a:off x="3888037" y="480788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입찰포기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2" name="모서리가 둥근 직사각형 40">
            <a:extLst>
              <a:ext uri="{FF2B5EF4-FFF2-40B4-BE49-F238E27FC236}">
                <a16:creationId xmlns:a16="http://schemas.microsoft.com/office/drawing/2014/main" id="{3BE5C28A-F0C3-8BA2-3AC1-EFA405ADE137}"/>
              </a:ext>
            </a:extLst>
          </p:cNvPr>
          <p:cNvSpPr/>
          <p:nvPr/>
        </p:nvSpPr>
        <p:spPr bwMode="auto">
          <a:xfrm>
            <a:off x="3888037" y="510713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err="1" smtClean="0">
                <a:solidFill>
                  <a:schemeClr val="bg1"/>
                </a:solidFill>
                <a:latin typeface="맑은 고딕" panose="020B0503020000020004" pitchFamily="50" charset="-127"/>
                <a:ea typeface="맑은 고딕" panose="020B0503020000020004" pitchFamily="50" charset="-127"/>
              </a:rPr>
              <a:t>입찰취소</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3885476" y="5406390"/>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smtClean="0"/>
              <a:t>환율정보</a:t>
            </a:r>
            <a:r>
              <a:rPr kumimoji="1" lang="en-US" altLang="ko-KR" sz="800" kern="0" dirty="0" smtClean="0"/>
              <a:t>(</a:t>
            </a:r>
            <a:r>
              <a:rPr kumimoji="1" lang="ko-KR" altLang="en-US" sz="800" kern="0" dirty="0" smtClean="0"/>
              <a:t>국외</a:t>
            </a:r>
            <a:r>
              <a:rPr kumimoji="1" lang="en-US" altLang="ko-KR" sz="800" kern="0" dirty="0" smtClean="0"/>
              <a:t>)</a:t>
            </a:r>
            <a:r>
              <a:rPr kumimoji="1" lang="ko-KR" altLang="en-US" sz="800" kern="0" dirty="0" smtClean="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sp>
        <p:nvSpPr>
          <p:cNvPr id="165" name="타원 164">
            <a:extLst>
              <a:ext uri="{FF2B5EF4-FFF2-40B4-BE49-F238E27FC236}">
                <a16:creationId xmlns:a16="http://schemas.microsoft.com/office/drawing/2014/main" id="{37A7FF4F-0EAA-1463-560A-D5EC24416103}"/>
              </a:ext>
            </a:extLst>
          </p:cNvPr>
          <p:cNvSpPr/>
          <p:nvPr/>
        </p:nvSpPr>
        <p:spPr>
          <a:xfrm>
            <a:off x="3762005" y="364444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37" name="직사각형 13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2026-07-20 </a:t>
            </a:r>
            <a:r>
              <a:rPr lang="ko-KR" altLang="en-US" dirty="0" smtClean="0"/>
              <a:t>특이사항수정</a:t>
            </a:r>
            <a:endParaRPr lang="ko-KR" altLang="en-US" dirty="0"/>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30868" y="51506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직사각형 140"/>
          <p:cNvSpPr/>
          <p:nvPr/>
        </p:nvSpPr>
        <p:spPr>
          <a:xfrm>
            <a:off x="476794" y="1260503"/>
            <a:ext cx="6577149" cy="200704"/>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bg1"/>
                </a:solidFill>
              </a:rPr>
              <a:t>이해를 돕기 위한 화면</a:t>
            </a:r>
          </a:p>
        </p:txBody>
      </p:sp>
    </p:spTree>
    <p:extLst>
      <p:ext uri="{BB962C8B-B14F-4D97-AF65-F5344CB8AC3E}">
        <p14:creationId xmlns:p14="http://schemas.microsoft.com/office/powerpoint/2010/main" val="3995206925"/>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탭 아이디 별도 표시</a:t>
            </a:r>
            <a:endParaRPr lang="en-US" altLang="ko-KR" dirty="0" smtClean="0"/>
          </a:p>
          <a:p>
            <a:pPr marL="228600" indent="-228600">
              <a:buFont typeface="+mj-lt"/>
              <a:buAutoNum type="arabicPeriod"/>
            </a:pPr>
            <a:r>
              <a:rPr lang="ko-KR" altLang="en-US" dirty="0" err="1" smtClean="0"/>
              <a:t>진행단계</a:t>
            </a:r>
            <a:r>
              <a:rPr lang="ko-KR" altLang="en-US" dirty="0" smtClean="0"/>
              <a:t> </a:t>
            </a:r>
            <a:r>
              <a:rPr lang="ko-KR" altLang="en-US" dirty="0"/>
              <a:t>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신청 시에는 </a:t>
            </a:r>
            <a:r>
              <a:rPr lang="ko-KR" altLang="en-US" dirty="0" err="1"/>
              <a:t>진행단계</a:t>
            </a:r>
            <a:r>
              <a:rPr lang="ko-KR" altLang="en-US" dirty="0"/>
              <a:t> </a:t>
            </a:r>
            <a:r>
              <a:rPr lang="ko-KR" altLang="en-US" dirty="0" err="1"/>
              <a:t>미표시</a:t>
            </a:r>
            <a:endParaRPr lang="en-US" altLang="ko-KR" dirty="0"/>
          </a:p>
          <a:p>
            <a:pPr marL="228600" indent="-228600">
              <a:buFont typeface="+mj-lt"/>
              <a:buAutoNum type="arabicPeriod"/>
            </a:pPr>
            <a:r>
              <a:rPr lang="ko-KR" altLang="en-US" dirty="0"/>
              <a:t>서약서 동의</a:t>
            </a:r>
            <a:r>
              <a:rPr lang="en-US" altLang="ko-KR" dirty="0"/>
              <a:t/>
            </a:r>
            <a:br>
              <a:rPr lang="en-US" altLang="ko-KR" dirty="0"/>
            </a:br>
            <a:r>
              <a:rPr lang="en-US" altLang="ko-KR" dirty="0"/>
              <a:t>- </a:t>
            </a:r>
            <a:r>
              <a:rPr lang="ko-KR" altLang="en-US" dirty="0"/>
              <a:t>팝업을 통해 내용 확인 및 </a:t>
            </a:r>
            <a:r>
              <a:rPr lang="ko-KR" altLang="en-US" dirty="0" smtClean="0"/>
              <a:t>동의</a:t>
            </a:r>
            <a:r>
              <a:rPr lang="en-US" altLang="ko-KR" dirty="0" smtClean="0"/>
              <a:t/>
            </a:r>
            <a:br>
              <a:rPr lang="en-US" altLang="ko-KR" dirty="0" smtClean="0"/>
            </a:br>
            <a:r>
              <a:rPr lang="en-US" altLang="ko-KR" dirty="0" smtClean="0"/>
              <a:t>- </a:t>
            </a:r>
            <a:r>
              <a:rPr lang="en-US" altLang="ko-KR" dirty="0" smtClean="0">
                <a:solidFill>
                  <a:srgbClr val="000000"/>
                </a:solidFill>
                <a:latin typeface="맑은 고딕" panose="020B0503020000020004" pitchFamily="50" charset="-127"/>
              </a:rPr>
              <a:t>MUI-BD-04-P03 </a:t>
            </a:r>
            <a:r>
              <a:rPr lang="ko-KR" altLang="en-US" dirty="0">
                <a:latin typeface="+mn-ea"/>
              </a:rPr>
              <a:t>서약서 </a:t>
            </a:r>
            <a:r>
              <a:rPr lang="en-US" altLang="ko-KR" dirty="0" smtClean="0">
                <a:latin typeface="+mn-ea"/>
              </a:rPr>
              <a:t>2</a:t>
            </a:r>
            <a:endParaRPr lang="en-US" altLang="ko-KR" dirty="0"/>
          </a:p>
          <a:p>
            <a:pPr marL="228600" indent="-228600">
              <a:buFont typeface="+mj-lt"/>
              <a:buAutoNum type="arabicPeriod"/>
            </a:pPr>
            <a:r>
              <a:rPr lang="ko-KR" altLang="en-US" dirty="0"/>
              <a:t>사후심사대상인 경우 추가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439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동의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서약서 동의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62889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13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300516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5647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48991"/>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8033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62322"/>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571127" y="370274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grpSp>
        <p:nvGrpSpPr>
          <p:cNvPr id="3" name="그룹 2"/>
          <p:cNvGrpSpPr/>
          <p:nvPr/>
        </p:nvGrpSpPr>
        <p:grpSpPr>
          <a:xfrm>
            <a:off x="747926" y="3356649"/>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11" name="그룹 110"/>
            <p:cNvGrpSpPr/>
            <p:nvPr/>
          </p:nvGrpSpPr>
          <p:grpSpPr>
            <a:xfrm>
              <a:off x="747926" y="2310331"/>
              <a:ext cx="601001" cy="187961"/>
              <a:chOff x="747925" y="3237230"/>
              <a:chExt cx="601001" cy="187961"/>
            </a:xfrm>
          </p:grpSpPr>
          <p:grpSp>
            <p:nvGrpSpPr>
              <p:cNvPr id="112" name="그룹 111"/>
              <p:cNvGrpSpPr/>
              <p:nvPr/>
            </p:nvGrpSpPr>
            <p:grpSpPr>
              <a:xfrm>
                <a:off x="747925" y="3237230"/>
                <a:ext cx="187961" cy="187961"/>
                <a:chOff x="747925" y="3237230"/>
                <a:chExt cx="187961" cy="187961"/>
              </a:xfrm>
            </p:grpSpPr>
            <p:sp>
              <p:nvSpPr>
                <p:cNvPr id="114" name="타원 113"/>
                <p:cNvSpPr/>
                <p:nvPr/>
              </p:nvSpPr>
              <p:spPr>
                <a:xfrm>
                  <a:off x="747925"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3730874"/>
            <a:ext cx="2522014" cy="342712"/>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3840675"/>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7" y="3840675"/>
            <a:ext cx="1033937"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t>청렴 계약 이행 서약서</a:t>
            </a:r>
          </a:p>
        </p:txBody>
      </p:sp>
      <p:sp>
        <p:nvSpPr>
          <p:cNvPr id="132" name="모서리가 둥근 직사각형 131"/>
          <p:cNvSpPr/>
          <p:nvPr/>
        </p:nvSpPr>
        <p:spPr>
          <a:xfrm>
            <a:off x="2958909" y="3842530"/>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3844373"/>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675399" y="41733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5399" y="2361016"/>
            <a:ext cx="2712027" cy="508898"/>
            <a:chOff x="3795734" y="1602341"/>
            <a:chExt cx="2712027" cy="508898"/>
          </a:xfrm>
        </p:grpSpPr>
        <p:sp>
          <p:nvSpPr>
            <p:cNvPr id="14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151" name="모서리가 둥근 직사각형 150"/>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152" name="모서리가 둥근 직사각형 151"/>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7" name="직사각형 126">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795733"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711758" y="4228359"/>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800528" y="4326643"/>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sp>
        <p:nvSpPr>
          <p:cNvPr id="194" name="타원 193"/>
          <p:cNvSpPr/>
          <p:nvPr/>
        </p:nvSpPr>
        <p:spPr>
          <a:xfrm>
            <a:off x="796570" y="431699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3145391" y="4365490"/>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2" name="타원 211">
            <a:extLst>
              <a:ext uri="{FF2B5EF4-FFF2-40B4-BE49-F238E27FC236}">
                <a16:creationId xmlns:a16="http://schemas.microsoft.com/office/drawing/2014/main" id="{37A7FF4F-0EAA-1463-560A-D5EC24416103}"/>
              </a:ext>
            </a:extLst>
          </p:cNvPr>
          <p:cNvSpPr/>
          <p:nvPr/>
        </p:nvSpPr>
        <p:spPr>
          <a:xfrm>
            <a:off x="596013" y="42258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grpSp>
        <p:nvGrpSpPr>
          <p:cNvPr id="85" name="그룹 84"/>
          <p:cNvGrpSpPr/>
          <p:nvPr/>
        </p:nvGrpSpPr>
        <p:grpSpPr>
          <a:xfrm>
            <a:off x="677960" y="1582647"/>
            <a:ext cx="2714637" cy="686386"/>
            <a:chOff x="677960" y="1582647"/>
            <a:chExt cx="2714637" cy="686386"/>
          </a:xfrm>
        </p:grpSpPr>
        <p:sp>
          <p:nvSpPr>
            <p:cNvPr id="86" name="TextBox 85">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smtClean="0">
                  <a:latin typeface="+mn-ea"/>
                </a:rPr>
                <a:t>입찰참가 신청서 작성</a:t>
              </a:r>
              <a:endParaRPr lang="ko-KR" altLang="en-US" sz="800" dirty="0">
                <a:latin typeface="+mn-ea"/>
              </a:endParaRPr>
            </a:p>
          </p:txBody>
        </p:sp>
        <p:cxnSp>
          <p:nvCxnSpPr>
            <p:cNvPr id="87" name="직선 연결선 86">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8" name="그룹 87"/>
            <p:cNvGrpSpPr/>
            <p:nvPr/>
          </p:nvGrpSpPr>
          <p:grpSpPr>
            <a:xfrm rot="5400000">
              <a:off x="852159" y="2062596"/>
              <a:ext cx="94010" cy="47005"/>
              <a:chOff x="6812560" y="3297172"/>
              <a:chExt cx="94010" cy="47005"/>
            </a:xfrm>
          </p:grpSpPr>
          <p:cxnSp>
            <p:nvCxnSpPr>
              <p:cNvPr id="95" name="직선 연결선 9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6" name="직선 연결선 9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89" name="그룹 88"/>
            <p:cNvGrpSpPr/>
            <p:nvPr/>
          </p:nvGrpSpPr>
          <p:grpSpPr>
            <a:xfrm>
              <a:off x="677960" y="1582647"/>
              <a:ext cx="2712027" cy="324286"/>
              <a:chOff x="677960" y="1582647"/>
              <a:chExt cx="2712027" cy="324286"/>
            </a:xfrm>
          </p:grpSpPr>
          <p:pic>
            <p:nvPicPr>
              <p:cNvPr id="90"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91" name="직선 연결선 90">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타원 91"/>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29" name="타원 128">
            <a:extLst>
              <a:ext uri="{FF2B5EF4-FFF2-40B4-BE49-F238E27FC236}">
                <a16:creationId xmlns:a16="http://schemas.microsoft.com/office/drawing/2014/main" id="{37A7FF4F-0EAA-1463-560A-D5EC24416103}"/>
              </a:ext>
            </a:extLst>
          </p:cNvPr>
          <p:cNvSpPr/>
          <p:nvPr/>
        </p:nvSpPr>
        <p:spPr>
          <a:xfrm>
            <a:off x="571127" y="13607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71131963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a:t>
            </a:r>
            <a:r>
              <a:rPr lang="en-US" altLang="ko-KR" dirty="0">
                <a:latin typeface="+mn-ea"/>
              </a:rPr>
              <a:t>2</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청렴 계약 이행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a:xfrm>
            <a:off x="956623" y="755764"/>
            <a:ext cx="1404000" cy="193878"/>
          </a:xfrm>
        </p:spPr>
        <p:txBody>
          <a:bodyPr/>
          <a:lstStyle/>
          <a:p>
            <a:r>
              <a:rPr lang="en-US" altLang="ko-KR" dirty="0">
                <a:solidFill>
                  <a:srgbClr val="000000"/>
                </a:solidFill>
                <a:latin typeface="맑은 고딕" panose="020B0503020000020004" pitchFamily="50" charset="-127"/>
              </a:rPr>
              <a:t>MUI-BD-04-P03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033936"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청렴 계약 이행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754053"/>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우리회사는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부패없는</a:t>
            </a:r>
            <a:r>
              <a:rPr lang="ko-KR" altLang="en-US" sz="700" dirty="0">
                <a:solidFill>
                  <a:srgbClr val="000000"/>
                </a:solidFill>
                <a:latin typeface="Consolas" panose="020B0609020204030204" pitchFamily="49" charset="0"/>
              </a:rPr>
              <a:t> 투명한 기업경영과 공정한 행정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 사회발전과 국가 경쟁력에 중요한 관건이 됨을 깊이 인식하며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국제적으로도 </a:t>
            </a:r>
            <a:r>
              <a:rPr lang="en-US" altLang="ko-KR" sz="700" dirty="0">
                <a:solidFill>
                  <a:srgbClr val="000000"/>
                </a:solidFill>
                <a:latin typeface="Consolas" panose="020B0609020204030204" pitchFamily="49" charset="0"/>
              </a:rPr>
              <a:t>OECD</a:t>
            </a:r>
            <a:r>
              <a:rPr lang="ko-KR" altLang="en-US" sz="700" dirty="0">
                <a:solidFill>
                  <a:srgbClr val="000000"/>
                </a:solidFill>
                <a:latin typeface="Consolas" panose="020B0609020204030204" pitchFamily="49" charset="0"/>
              </a:rPr>
              <a:t>뇌물방지 협약이 발효되고 </a:t>
            </a:r>
            <a:r>
              <a:rPr lang="ko-KR" altLang="en-US" sz="700" dirty="0" err="1">
                <a:solidFill>
                  <a:srgbClr val="000000"/>
                </a:solidFill>
                <a:latin typeface="Consolas" panose="020B0609020204030204" pitchFamily="49" charset="0"/>
              </a:rPr>
              <a:t>부패기업</a:t>
            </a:r>
            <a:r>
              <a:rPr lang="ko-KR" altLang="en-US" sz="700" dirty="0">
                <a:solidFill>
                  <a:srgbClr val="000000"/>
                </a:solidFill>
                <a:latin typeface="Consolas" panose="020B0609020204030204" pitchFamily="49" charset="0"/>
              </a:rPr>
              <a:t> 및 국가에 대한 제재가 강화되는 추세에 맞추어 청렴계약 취지에 적극적으로 호응하여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가</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발주하는 모든 공사</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용역</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물품구매 등의 입찰에 참여함에 있어 우리 회사의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직원과 대리인은</a:t>
            </a:r>
            <a:endParaRPr lang="en-US" altLang="ko-KR" sz="700" dirty="0">
              <a:latin typeface="맑은 고딕" panose="020B0503020000020004" pitchFamily="50" charset="-127"/>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975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263926"/>
            <a:ext cx="2473940" cy="2477601"/>
          </a:xfrm>
          <a:prstGeom prst="rect">
            <a:avLst/>
          </a:prstGeom>
          <a:noFill/>
        </p:spPr>
        <p:txBody>
          <a:bodyPr wrap="square" lIns="0" tIns="0" rIns="0" bIns="0" rtlCol="0">
            <a:spAutoFit/>
          </a:bodyPr>
          <a:lstStyle/>
          <a:p>
            <a:pPr marL="228600" indent="-228600">
              <a:buAutoNum type="arabicPeriod"/>
            </a:pPr>
            <a:r>
              <a:rPr lang="ko-KR" altLang="en-US" sz="700" dirty="0">
                <a:solidFill>
                  <a:srgbClr val="000000"/>
                </a:solidFill>
                <a:latin typeface="Consolas" panose="020B0609020204030204" pitchFamily="49" charset="0"/>
              </a:rPr>
              <a:t>입찰가격의 사전협의나 특정인의 낙찰을 위한 담합 및 </a:t>
            </a:r>
            <a:r>
              <a:rPr lang="ko-KR" altLang="en-US" sz="700" dirty="0" err="1">
                <a:solidFill>
                  <a:srgbClr val="000000"/>
                </a:solidFill>
                <a:latin typeface="Consolas" panose="020B0609020204030204" pitchFamily="49" charset="0"/>
              </a:rPr>
              <a:t>다른업체와</a:t>
            </a:r>
            <a:r>
              <a:rPr lang="ko-KR" altLang="en-US" sz="700" dirty="0">
                <a:solidFill>
                  <a:srgbClr val="000000"/>
                </a:solidFill>
                <a:latin typeface="Consolas" panose="020B0609020204030204" pitchFamily="49" charset="0"/>
              </a:rPr>
              <a:t> 협정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결의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협의하여 입찰의 자유경쟁을 부당하게 저해하는 일체의 불공정한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a:t>
            </a:r>
            <a:r>
              <a:rPr lang="en-US" altLang="ko-KR" sz="700" dirty="0">
                <a:solidFill>
                  <a:srgbClr val="2A00FF"/>
                </a:solidFill>
                <a:latin typeface="Consolas" panose="020B0609020204030204" pitchFamily="49" charset="0"/>
              </a:rPr>
              <a:t>‘</a:t>
            </a:r>
            <a:r>
              <a:rPr lang="ko-KR" altLang="en-US" sz="700" dirty="0" err="1">
                <a:solidFill>
                  <a:srgbClr val="000000"/>
                </a:solidFill>
                <a:latin typeface="Consolas" panose="020B0609020204030204" pitchFamily="49" charset="0"/>
              </a:rPr>
              <a:t>독점규제및공정거래에관한법률</a:t>
            </a:r>
            <a:r>
              <a:rPr lang="en-US" altLang="ko-KR" sz="700" dirty="0">
                <a:solidFill>
                  <a:srgbClr val="2A00FF"/>
                </a:solidFill>
                <a:latin typeface="Consolas" panose="020B0609020204030204" pitchFamily="49" charset="0"/>
              </a:rPr>
              <a:t>’</a:t>
            </a:r>
            <a:r>
              <a:rPr lang="ko-KR" altLang="en-US" sz="700" dirty="0">
                <a:solidFill>
                  <a:srgbClr val="000000"/>
                </a:solidFill>
                <a:latin typeface="Consolas" panose="020B0609020204030204" pitchFamily="49" charset="0"/>
              </a:rPr>
              <a:t>에 따른 공정거래위원회고발 및 형사고발과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입찰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계약체결 및 계약이행과정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준공</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납품이후를</a:t>
            </a:r>
            <a:r>
              <a:rPr lang="ko-KR" altLang="en-US" sz="700" dirty="0">
                <a:solidFill>
                  <a:srgbClr val="000000"/>
                </a:solidFill>
                <a:latin typeface="Consolas" panose="020B0609020204030204" pitchFamily="49" charset="0"/>
              </a:rPr>
              <a:t> 포함</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에서 관계공무원에게 직</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간접적으로 금품</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향응 등의 뇌물을 제공하거나 제공함을 약속하지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a:t>
            </a:r>
            <a:endParaRPr lang="en-US" altLang="ko-KR" sz="700" dirty="0">
              <a:latin typeface="맑은 고딕" panose="020B0503020000020004" pitchFamily="50" charset="-127"/>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46" name="양쪽 모서리가 둥근 사각형 145"/>
          <p:cNvSpPr/>
          <p:nvPr/>
        </p:nvSpPr>
        <p:spPr>
          <a:xfrm>
            <a:off x="3793783"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9" name="모서리가 둥근 직사각형 198"/>
          <p:cNvSpPr/>
          <p:nvPr/>
        </p:nvSpPr>
        <p:spPr>
          <a:xfrm>
            <a:off x="4879796"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00" name="그룹 199"/>
          <p:cNvGrpSpPr/>
          <p:nvPr/>
        </p:nvGrpSpPr>
        <p:grpSpPr>
          <a:xfrm>
            <a:off x="6282722" y="1773925"/>
            <a:ext cx="94010" cy="94010"/>
            <a:chOff x="6812560" y="3297172"/>
            <a:chExt cx="94010" cy="94010"/>
          </a:xfrm>
        </p:grpSpPr>
        <p:cxnSp>
          <p:nvCxnSpPr>
            <p:cNvPr id="202" name="직선 연결선 20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04" name="TextBox 203">
            <a:extLst>
              <a:ext uri="{FF2B5EF4-FFF2-40B4-BE49-F238E27FC236}">
                <a16:creationId xmlns:a16="http://schemas.microsoft.com/office/drawing/2014/main" id="{FFC49AEA-2A8F-250C-A86A-A7751D9706C3}"/>
              </a:ext>
            </a:extLst>
          </p:cNvPr>
          <p:cNvSpPr txBox="1"/>
          <p:nvPr/>
        </p:nvSpPr>
        <p:spPr>
          <a:xfrm>
            <a:off x="3922860"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3783"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2860" y="2033176"/>
            <a:ext cx="2473940" cy="1508105"/>
          </a:xfrm>
          <a:prstGeom prst="rect">
            <a:avLst/>
          </a:prstGeom>
          <a:noFill/>
        </p:spPr>
        <p:txBody>
          <a:bodyPr wrap="square" lIns="0" tIns="0" rIns="0" bIns="0" rtlCol="0">
            <a:spAutoFit/>
          </a:bodyPr>
          <a:lstStyle/>
          <a:p>
            <a:pPr marL="228600" indent="-228600">
              <a:buFont typeface="+mj-lt"/>
              <a:buAutoNum type="arabicPeriod" startAt="3"/>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우리회사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직원이 관계공무원에게 뇌물을 제공하거나 담합 등 불공정 행위를 하지 않도록 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내부 비리 제보자에 대해서도 일체의 불이익을 받지 않도록 노력하겠습니다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본 건과 관련한 하도급 계약의 체결 및 이행에 있어서 </a:t>
            </a:r>
            <a:r>
              <a:rPr lang="ko-KR" altLang="en-US" sz="700" dirty="0" err="1">
                <a:solidFill>
                  <a:srgbClr val="000000"/>
                </a:solidFill>
                <a:latin typeface="Consolas" panose="020B0609020204030204" pitchFamily="49" charset="0"/>
              </a:rPr>
              <a:t>원도급자로서의</a:t>
            </a:r>
            <a:r>
              <a:rPr lang="ko-KR" altLang="en-US" sz="700" dirty="0">
                <a:solidFill>
                  <a:srgbClr val="000000"/>
                </a:solidFill>
                <a:latin typeface="Consolas" panose="020B0609020204030204" pitchFamily="49" charset="0"/>
              </a:rPr>
              <a:t> 우월한 지위를 이용하여 </a:t>
            </a:r>
            <a:r>
              <a:rPr lang="ko-KR" altLang="en-US" sz="700" dirty="0" err="1">
                <a:solidFill>
                  <a:srgbClr val="000000"/>
                </a:solidFill>
                <a:latin typeface="Consolas" panose="020B0609020204030204" pitchFamily="49" charset="0"/>
              </a:rPr>
              <a:t>하도급자에게로부터</a:t>
            </a:r>
            <a:r>
              <a:rPr lang="ko-KR" altLang="en-US" sz="700" dirty="0">
                <a:solidFill>
                  <a:srgbClr val="000000"/>
                </a:solidFill>
                <a:latin typeface="Consolas" panose="020B0609020204030204" pitchFamily="49" charset="0"/>
              </a:rPr>
              <a:t> 금품을 수수하거나 부당 또는 불공정한 행위를 하지 아니하겠습니다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grpSp>
        <p:nvGrpSpPr>
          <p:cNvPr id="211" name="그룹 210"/>
          <p:cNvGrpSpPr/>
          <p:nvPr/>
        </p:nvGrpSpPr>
        <p:grpSpPr>
          <a:xfrm>
            <a:off x="3793783" y="5614711"/>
            <a:ext cx="2712027" cy="617588"/>
            <a:chOff x="675399" y="5614711"/>
            <a:chExt cx="2712027" cy="617588"/>
          </a:xfrm>
        </p:grpSpPr>
        <p:sp>
          <p:nvSpPr>
            <p:cNvPr id="213" name="직사각형 2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6"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17" name="직선 연결선 216">
            <a:extLst>
              <a:ext uri="{FF2B5EF4-FFF2-40B4-BE49-F238E27FC236}">
                <a16:creationId xmlns:a16="http://schemas.microsoft.com/office/drawing/2014/main" id="{E9293055-D5CD-4B9E-7F64-64B2D2CA7A52}"/>
              </a:ext>
            </a:extLst>
          </p:cNvPr>
          <p:cNvCxnSpPr/>
          <p:nvPr/>
        </p:nvCxnSpPr>
        <p:spPr>
          <a:xfrm>
            <a:off x="3835796" y="3573476"/>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FFC49AEA-2A8F-250C-A86A-A7751D9706C3}"/>
              </a:ext>
            </a:extLst>
          </p:cNvPr>
          <p:cNvSpPr txBox="1"/>
          <p:nvPr/>
        </p:nvSpPr>
        <p:spPr>
          <a:xfrm>
            <a:off x="3922860" y="3639872"/>
            <a:ext cx="2473940" cy="861774"/>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위 청렴계약이행 서약은 상호 신뢰를 바탕으로 한 </a:t>
            </a:r>
            <a:r>
              <a:rPr lang="ko-KR" altLang="en-US" sz="700" dirty="0" err="1">
                <a:solidFill>
                  <a:srgbClr val="000000"/>
                </a:solidFill>
                <a:latin typeface="Consolas" panose="020B0609020204030204" pitchFamily="49" charset="0"/>
              </a:rPr>
              <a:t>약속으로서</a:t>
            </a:r>
            <a:r>
              <a:rPr lang="ko-KR" altLang="en-US" sz="700" dirty="0">
                <a:solidFill>
                  <a:srgbClr val="000000"/>
                </a:solidFill>
                <a:latin typeface="Consolas" panose="020B0609020204030204" pitchFamily="49" charset="0"/>
              </a:rPr>
              <a:t> 반드시 지킬 것이며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우리회사가 낙찰자로 결정될 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이 서약 내용을 그대로 계약특수조건으로 계약하여 이행하고</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불이행시</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귀부대가</a:t>
            </a:r>
            <a:r>
              <a:rPr lang="ko-KR" altLang="en-US" sz="700" dirty="0">
                <a:solidFill>
                  <a:srgbClr val="000000"/>
                </a:solidFill>
                <a:latin typeface="Consolas" panose="020B0609020204030204" pitchFamily="49" charset="0"/>
              </a:rPr>
              <a:t> 입찰참가 자격제한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입찰 및 낙찰 취소</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계약해제</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해지</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등의 조치 또는 우리 회사를 배제하는 입찰에 관한 조치를 하더라도 우리 회사는 </a:t>
            </a:r>
            <a:r>
              <a:rPr lang="ko-KR" altLang="en-US" sz="700" dirty="0" err="1">
                <a:solidFill>
                  <a:srgbClr val="000000"/>
                </a:solidFill>
                <a:latin typeface="Consolas" panose="020B0609020204030204" pitchFamily="49" charset="0"/>
              </a:rPr>
              <a:t>귀부대를</a:t>
            </a:r>
            <a:r>
              <a:rPr lang="ko-KR" altLang="en-US" sz="700" dirty="0">
                <a:solidFill>
                  <a:srgbClr val="000000"/>
                </a:solidFill>
                <a:latin typeface="Consolas" panose="020B0609020204030204" pitchFamily="49" charset="0"/>
              </a:rPr>
              <a:t> 상대로 손해배상을 청구하거나 민</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형사상 이의를 제기하지 않을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35796" y="4558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5796" y="48025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5796" y="515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2" name="TextBox 221">
            <a:extLst>
              <a:ext uri="{FF2B5EF4-FFF2-40B4-BE49-F238E27FC236}">
                <a16:creationId xmlns:a16="http://schemas.microsoft.com/office/drawing/2014/main" id="{FFC49AEA-2A8F-250C-A86A-A7751D9706C3}"/>
              </a:ext>
            </a:extLst>
          </p:cNvPr>
          <p:cNvSpPr txBox="1"/>
          <p:nvPr/>
        </p:nvSpPr>
        <p:spPr>
          <a:xfrm>
            <a:off x="3922860" y="4628442"/>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860" y="4868956"/>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latin typeface="맑은 고딕" panose="020B0503020000020004" pitchFamily="50" charset="-127"/>
              </a:rPr>
              <a:t> 귀하</a:t>
            </a:r>
            <a:endParaRPr lang="en-US" altLang="ko-KR" sz="700" dirty="0">
              <a:latin typeface="맑은 고딕" panose="020B0503020000020004" pitchFamily="50" charset="-127"/>
            </a:endParaRPr>
          </a:p>
        </p:txBody>
      </p:sp>
      <p:grpSp>
        <p:nvGrpSpPr>
          <p:cNvPr id="224" name="그룹 223"/>
          <p:cNvGrpSpPr/>
          <p:nvPr/>
        </p:nvGrpSpPr>
        <p:grpSpPr>
          <a:xfrm>
            <a:off x="4551173" y="5228743"/>
            <a:ext cx="1197246" cy="107722"/>
            <a:chOff x="4526323" y="5902014"/>
            <a:chExt cx="1197246" cy="107722"/>
          </a:xfrm>
        </p:grpSpPr>
        <p:sp>
          <p:nvSpPr>
            <p:cNvPr id="225" name="타원 224"/>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6" name="타원 225"/>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sp>
        <p:nvSpPr>
          <p:cNvPr id="229" name="TextBox 22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54" name="타원 53">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타원 54">
            <a:extLst>
              <a:ext uri="{FF2B5EF4-FFF2-40B4-BE49-F238E27FC236}">
                <a16:creationId xmlns:a16="http://schemas.microsoft.com/office/drawing/2014/main" id="{37A7FF4F-0EAA-1463-560A-D5EC24416103}"/>
              </a:ext>
            </a:extLst>
          </p:cNvPr>
          <p:cNvSpPr/>
          <p:nvPr/>
        </p:nvSpPr>
        <p:spPr>
          <a:xfrm>
            <a:off x="3701811" y="46156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56" name="타원 55">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3701811" y="49128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58" name="타원 57">
            <a:extLst>
              <a:ext uri="{FF2B5EF4-FFF2-40B4-BE49-F238E27FC236}">
                <a16:creationId xmlns:a16="http://schemas.microsoft.com/office/drawing/2014/main" id="{37A7FF4F-0EAA-1463-560A-D5EC24416103}"/>
              </a:ext>
            </a:extLst>
          </p:cNvPr>
          <p:cNvSpPr/>
          <p:nvPr/>
        </p:nvSpPr>
        <p:spPr>
          <a:xfrm>
            <a:off x="3701811" y="52307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3213716914"/>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441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119738"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서약서 데이터 영역 </a:t>
            </a:r>
            <a:r>
              <a:rPr lang="en-US" altLang="ko-KR" sz="900" b="1" dirty="0">
                <a:solidFill>
                  <a:prstClr val="black"/>
                </a:solidFill>
              </a:rPr>
              <a:t>(</a:t>
            </a:r>
            <a:r>
              <a:rPr lang="en-US" altLang="ko-KR" sz="900" b="1" dirty="0" err="1">
                <a:solidFill>
                  <a:prstClr val="black"/>
                </a:solidFill>
              </a:rPr>
              <a:t>dl_resultInfo</a:t>
            </a:r>
            <a:r>
              <a:rPr lang="en-US" altLang="ko-KR" sz="900" b="1" dirty="0">
                <a:solidFill>
                  <a:prstClr val="black"/>
                </a:solidFill>
              </a:rPr>
              <a:t>)</a:t>
            </a:r>
            <a:endParaRPr lang="ko-KR" altLang="en-US" sz="900" b="1" dirty="0">
              <a:solidFill>
                <a:prstClr val="black"/>
              </a:solidFill>
            </a:endParaRPr>
          </a:p>
        </p:txBody>
      </p:sp>
      <p:sp>
        <p:nvSpPr>
          <p:cNvPr id="23" name="TextBox 22">
            <a:extLst>
              <a:ext uri="{FF2B5EF4-FFF2-40B4-BE49-F238E27FC236}">
                <a16:creationId xmlns:a16="http://schemas.microsoft.com/office/drawing/2014/main" id="{3DE9AA4C-D963-36B3-1B0C-BA042EBA36E5}"/>
              </a:ext>
            </a:extLst>
          </p:cNvPr>
          <p:cNvSpPr txBox="1"/>
          <p:nvPr/>
        </p:nvSpPr>
        <p:spPr>
          <a:xfrm>
            <a:off x="458117" y="41506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2071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서약일자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wrotAgreYmd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서약일자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당일일자를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35146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담당자명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담당자명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로그인한 조달업체사용자의 명을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693773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로그인한 조달업체사용자의 업체명을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발주기관명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prcmRqtInstNm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발주기관명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공고의 발주기관명을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8" name="표 27">
            <a:extLst>
              <a:ext uri="{FF2B5EF4-FFF2-40B4-BE49-F238E27FC236}">
                <a16:creationId xmlns:a16="http://schemas.microsoft.com/office/drawing/2014/main" id="{89E1827E-1988-380A-F9F3-3955A79B0FE9}"/>
              </a:ext>
            </a:extLst>
          </p:cNvPr>
          <p:cNvGraphicFramePr>
            <a:graphicFrameLocks noGrp="1"/>
          </p:cNvGraphicFramePr>
          <p:nvPr/>
        </p:nvGraphicFramePr>
        <p:xfrm>
          <a:off x="453000" y="4428787"/>
          <a:ext cx="8995591" cy="11414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발주기관 및 로그인 사용자 </a:t>
                      </a:r>
                      <a:r>
                        <a:rPr lang="ko-KR" altLang="en-US" sz="800">
                          <a:latin typeface="+mn-ea"/>
                          <a:ea typeface="+mn-ea"/>
                        </a:rPr>
                        <a:t>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저장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입찰참가신청서작성</a:t>
                      </a:r>
                      <a:r>
                        <a:rPr lang="ko-KR" altLang="en-US" sz="800" dirty="0">
                          <a:latin typeface="+mn-ea"/>
                          <a:ea typeface="+mn-ea"/>
                        </a:rPr>
                        <a:t> 화면을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동의함 체크 시</a:t>
                      </a:r>
                      <a:r>
                        <a:rPr lang="en-US" altLang="ko-KR" sz="800">
                          <a:latin typeface="+mn-ea"/>
                          <a:ea typeface="+mn-ea"/>
                        </a:rPr>
                        <a:t>, </a:t>
                      </a:r>
                      <a:r>
                        <a:rPr lang="ko-KR" altLang="en-US" sz="800">
                          <a:latin typeface="+mn-ea"/>
                          <a:ea typeface="+mn-ea"/>
                        </a:rPr>
                        <a:t>버튼 </a:t>
                      </a:r>
                      <a:r>
                        <a:rPr lang="ko-KR" altLang="en-US" sz="800" dirty="0">
                          <a:latin typeface="+mn-ea"/>
                          <a:ea typeface="+mn-ea"/>
                        </a:rPr>
                        <a:t>활성화</a:t>
                      </a:r>
                      <a:endParaRPr lang="en-US" altLang="ko-KR" sz="800">
                        <a:latin typeface="+mn-ea"/>
                        <a:ea typeface="+mn-ea"/>
                      </a:endParaRPr>
                    </a:p>
                    <a:p>
                      <a:pPr marL="87313" indent="-87313" algn="l" latinLnBrk="1">
                        <a:buFont typeface="Arial" panose="020B0604020202020204" pitchFamily="34" charset="0"/>
                        <a:buChar char="•"/>
                      </a:pPr>
                      <a:r>
                        <a:rPr lang="ko-KR" altLang="en-US" sz="800">
                          <a:latin typeface="+mn-ea"/>
                          <a:ea typeface="+mn-ea"/>
                        </a:rPr>
                        <a:t>동의함 </a:t>
                      </a:r>
                      <a:r>
                        <a:rPr lang="ko-KR" altLang="en-US" sz="800" dirty="0">
                          <a:latin typeface="+mn-ea"/>
                          <a:ea typeface="+mn-ea"/>
                        </a:rPr>
                        <a:t>미 체크 시</a:t>
                      </a:r>
                      <a:r>
                        <a:rPr lang="en-US" altLang="ko-KR" sz="800" dirty="0">
                          <a:latin typeface="+mn-ea"/>
                          <a:ea typeface="+mn-ea"/>
                        </a:rPr>
                        <a:t>, </a:t>
                      </a:r>
                      <a:r>
                        <a:rPr lang="ko-KR" altLang="en-US" sz="800" dirty="0">
                          <a:latin typeface="+mn-ea"/>
                          <a:ea typeface="+mn-ea"/>
                        </a:rPr>
                        <a:t>버튼 비활성화</a:t>
                      </a:r>
                      <a:endParaRPr lang="en-US" altLang="ko-KR" sz="800">
                        <a:latin typeface="+mn-ea"/>
                        <a:ea typeface="+mn-ea"/>
                      </a:endParaRPr>
                    </a:p>
                    <a:p>
                      <a:pPr marL="87313" indent="-87313" algn="l" latinLnBrk="1">
                        <a:buFont typeface="Arial" panose="020B0604020202020204" pitchFamily="34" charset="0"/>
                        <a:buChar char="•"/>
                      </a:pPr>
                      <a:r>
                        <a:rPr lang="en-US" altLang="ko-KR" sz="800">
                          <a:latin typeface="+mn-ea"/>
                          <a:ea typeface="+mn-ea"/>
                        </a:rPr>
                        <a:t>UI-BD-04-M72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3183806"/>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ext Box 73">
            <a:extLst>
              <a:ext uri="{FF2B5EF4-FFF2-40B4-BE49-F238E27FC236}">
                <a16:creationId xmlns:a16="http://schemas.microsoft.com/office/drawing/2014/main" id="{4F32DA2C-5290-3901-9488-3C9FD03E195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4827283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a:t>
            </a:r>
            <a:r>
              <a:rPr lang="ko-KR" altLang="en-US" dirty="0" smtClean="0"/>
              <a:t>탭</a:t>
            </a:r>
            <a:r>
              <a:rPr lang="en-US" altLang="ko-KR" dirty="0"/>
              <a:t/>
            </a:r>
            <a:br>
              <a:rPr lang="en-US" altLang="ko-KR" dirty="0"/>
            </a:br>
            <a:r>
              <a:rPr lang="en-US" altLang="ko-KR" dirty="0"/>
              <a:t>- </a:t>
            </a:r>
            <a:r>
              <a:rPr lang="en-US" altLang="ko-KR" dirty="0" smtClean="0"/>
              <a:t>MUI-BD-04-T72 </a:t>
            </a:r>
            <a:r>
              <a:rPr lang="ko-KR" altLang="en-US" dirty="0" err="1"/>
              <a:t>스탭</a:t>
            </a:r>
            <a:r>
              <a:rPr lang="en-US" altLang="ko-KR" dirty="0"/>
              <a:t>1-</a:t>
            </a:r>
            <a:r>
              <a:rPr lang="ko-KR" altLang="en-US" dirty="0"/>
              <a:t>일반정보</a:t>
            </a:r>
            <a:r>
              <a:rPr lang="en-US" altLang="ko-KR" dirty="0"/>
              <a:t/>
            </a:r>
            <a:br>
              <a:rPr lang="en-US" altLang="ko-KR" dirty="0"/>
            </a:br>
            <a:r>
              <a:rPr lang="en-US" altLang="ko-KR" dirty="0"/>
              <a:t>- </a:t>
            </a:r>
            <a:r>
              <a:rPr lang="en-US" altLang="ko-KR" dirty="0" smtClean="0"/>
              <a:t>MUI-BD-04-T73 </a:t>
            </a:r>
            <a:r>
              <a:rPr lang="ko-KR" altLang="en-US" dirty="0" err="1"/>
              <a:t>스탭</a:t>
            </a:r>
            <a:r>
              <a:rPr lang="en-US" altLang="ko-KR" dirty="0"/>
              <a:t>2-</a:t>
            </a:r>
            <a:r>
              <a:rPr lang="ko-KR" altLang="en-US" dirty="0"/>
              <a:t>업체정보</a:t>
            </a:r>
            <a:r>
              <a:rPr lang="en-US" altLang="ko-KR" dirty="0"/>
              <a:t/>
            </a:r>
            <a:br>
              <a:rPr lang="en-US" altLang="ko-KR" dirty="0"/>
            </a:br>
            <a:r>
              <a:rPr lang="en-US" altLang="ko-KR" dirty="0"/>
              <a:t>- </a:t>
            </a:r>
            <a:r>
              <a:rPr lang="en-US" altLang="ko-KR" dirty="0" smtClean="0"/>
              <a:t>MUI-BD-04-T74 </a:t>
            </a:r>
            <a:r>
              <a:rPr lang="ko-KR" altLang="en-US" dirty="0" err="1"/>
              <a:t>스탭</a:t>
            </a:r>
            <a:r>
              <a:rPr lang="en-US" altLang="ko-KR" dirty="0"/>
              <a:t>3-</a:t>
            </a:r>
            <a:r>
              <a:rPr lang="ko-KR" altLang="en-US" dirty="0"/>
              <a:t>입찰보증금</a:t>
            </a:r>
            <a:r>
              <a:rPr lang="en-US" altLang="ko-KR" dirty="0"/>
              <a:t/>
            </a:r>
            <a:br>
              <a:rPr lang="en-US" altLang="ko-KR" dirty="0"/>
            </a:br>
            <a:r>
              <a:rPr lang="en-US" altLang="ko-KR" dirty="0"/>
              <a:t>- </a:t>
            </a:r>
            <a:r>
              <a:rPr lang="en-US" altLang="ko-KR" dirty="0" smtClean="0"/>
              <a:t>MUI-BD-04-T75 </a:t>
            </a:r>
            <a:r>
              <a:rPr lang="ko-KR" altLang="en-US" dirty="0" err="1"/>
              <a:t>스탭</a:t>
            </a:r>
            <a:r>
              <a:rPr lang="en-US" altLang="ko-KR" dirty="0"/>
              <a:t>4-</a:t>
            </a:r>
            <a:r>
              <a:rPr lang="ko-KR" altLang="en-US" dirty="0"/>
              <a:t>첨부파일</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121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704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217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14248"/>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45593"/>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27579"/>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 name="그룹 7"/>
          <p:cNvGrpSpPr/>
          <p:nvPr/>
        </p:nvGrpSpPr>
        <p:grpSpPr>
          <a:xfrm>
            <a:off x="747926" y="3321906"/>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7" name="그룹 6"/>
            <p:cNvGrpSpPr/>
            <p:nvPr/>
          </p:nvGrpSpPr>
          <p:grpSpPr>
            <a:xfrm>
              <a:off x="747926" y="2310331"/>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81461" y="436632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4673810"/>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46738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4673809"/>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입찰보증금 총액</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4673809"/>
            <a:ext cx="1784088" cy="646331"/>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2025-12-24 10:30</a:t>
            </a:r>
          </a:p>
          <a:p>
            <a:pPr algn="r">
              <a:lnSpc>
                <a:spcPct val="200000"/>
              </a:lnSpc>
            </a:pPr>
            <a:r>
              <a:rPr lang="en-US" altLang="ko-KR" sz="700" dirty="0">
                <a:latin typeface="+mn-ea"/>
              </a:rPr>
              <a:t>511.18</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9049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118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53323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431933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4102731"/>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4102731"/>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4102731"/>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4102731"/>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4319338"/>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4064608"/>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98441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60896"/>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45079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59414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67635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70770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789690"/>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40611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442232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3840473" y="18092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3884151" y="1592664"/>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4438614" y="1592664"/>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4980121" y="1592664"/>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5681515" y="1592664"/>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3840473" y="1809271"/>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6044069" y="1554541"/>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51" name="모서리가 둥근 직사각형 150"/>
          <p:cNvSpPr/>
          <p:nvPr/>
        </p:nvSpPr>
        <p:spPr>
          <a:xfrm rot="5400000">
            <a:off x="2662242" y="317164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10022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543638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836701" y="1877407"/>
            <a:ext cx="2630093" cy="2016047"/>
            <a:chOff x="3791188" y="2611009"/>
            <a:chExt cx="2630093" cy="2016047"/>
          </a:xfrm>
        </p:grpSpPr>
        <p:sp>
          <p:nvSpPr>
            <p:cNvPr id="166" name="TextBox 16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67" name="직사각형 166"/>
            <p:cNvSpPr/>
            <p:nvPr/>
          </p:nvSpPr>
          <p:spPr>
            <a:xfrm>
              <a:off x="3793281" y="2918495"/>
              <a:ext cx="792000" cy="150267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3914777" y="3980710"/>
            <a:ext cx="2473940" cy="430887"/>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본인은 낙찰 후 계약을 체결하지 아니하거나 서류제출 기피 등 </a:t>
            </a:r>
            <a:r>
              <a:rPr lang="ko-KR" altLang="en-US" sz="700" dirty="0" err="1">
                <a:solidFill>
                  <a:srgbClr val="000000"/>
                </a:solidFill>
                <a:latin typeface="Consolas" panose="020B0609020204030204" pitchFamily="49" charset="0"/>
              </a:rPr>
              <a:t>귀사로부터</a:t>
            </a:r>
            <a:r>
              <a:rPr lang="ko-KR" altLang="en-US" sz="700" dirty="0">
                <a:solidFill>
                  <a:srgbClr val="000000"/>
                </a:solidFill>
                <a:latin typeface="Consolas" panose="020B0609020204030204" pitchFamily="49" charset="0"/>
              </a:rPr>
              <a:t> 상기 입찰보증금을 한도로 해당품목 입찰보증금액의 납입 요청 이견 없이 </a:t>
            </a:r>
            <a:r>
              <a:rPr lang="en-US" altLang="ko-KR" sz="700" dirty="0">
                <a:solidFill>
                  <a:srgbClr val="000000"/>
                </a:solidFill>
                <a:latin typeface="Consolas" panose="020B0609020204030204" pitchFamily="49" charset="0"/>
              </a:rPr>
              <a:t>30</a:t>
            </a:r>
            <a:r>
              <a:rPr lang="ko-KR" altLang="en-US" sz="700" dirty="0">
                <a:solidFill>
                  <a:srgbClr val="000000"/>
                </a:solidFill>
                <a:latin typeface="Consolas" panose="020B0609020204030204" pitchFamily="49" charset="0"/>
              </a:rPr>
              <a:t>일 이내 납부할 것을 서약합니다 </a:t>
            </a:r>
          </a:p>
        </p:txBody>
      </p:sp>
      <p:grpSp>
        <p:nvGrpSpPr>
          <p:cNvPr id="135" name="그룹 134"/>
          <p:cNvGrpSpPr/>
          <p:nvPr/>
        </p:nvGrpSpPr>
        <p:grpSpPr>
          <a:xfrm>
            <a:off x="8223250" y="569392"/>
            <a:ext cx="3365500" cy="634511"/>
            <a:chOff x="8223250" y="569392"/>
            <a:chExt cx="3365500" cy="634511"/>
          </a:xfrm>
        </p:grpSpPr>
        <p:sp>
          <p:nvSpPr>
            <p:cNvPr id="136" name="직사각형 13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137" name="직사각형 13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grpSp>
        <p:nvGrpSpPr>
          <p:cNvPr id="138" name="그룹 137"/>
          <p:cNvGrpSpPr/>
          <p:nvPr/>
        </p:nvGrpSpPr>
        <p:grpSpPr>
          <a:xfrm>
            <a:off x="677960" y="1582647"/>
            <a:ext cx="2714637" cy="686386"/>
            <a:chOff x="677960" y="1582647"/>
            <a:chExt cx="2714637" cy="686386"/>
          </a:xfrm>
        </p:grpSpPr>
        <p:sp>
          <p:nvSpPr>
            <p:cNvPr id="140" name="TextBox 139">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smtClean="0">
                  <a:latin typeface="+mn-ea"/>
                </a:rPr>
                <a:t>입찰참가 신청서 작성</a:t>
              </a:r>
              <a:endParaRPr lang="ko-KR" altLang="en-US" sz="800" dirty="0">
                <a:latin typeface="+mn-ea"/>
              </a:endParaRPr>
            </a:p>
          </p:txBody>
        </p:sp>
        <p:cxnSp>
          <p:nvCxnSpPr>
            <p:cNvPr id="141" name="직선 연결선 140">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2" name="그룹 141"/>
            <p:cNvGrpSpPr/>
            <p:nvPr/>
          </p:nvGrpSpPr>
          <p:grpSpPr>
            <a:xfrm rot="5400000">
              <a:off x="852159" y="2062596"/>
              <a:ext cx="94010" cy="47005"/>
              <a:chOff x="6812560" y="3297172"/>
              <a:chExt cx="94010" cy="47005"/>
            </a:xfrm>
          </p:grpSpPr>
          <p:cxnSp>
            <p:nvCxnSpPr>
              <p:cNvPr id="164" name="직선 연결선 1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1" name="직선 연결선 18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3" name="그룹 142"/>
            <p:cNvGrpSpPr/>
            <p:nvPr/>
          </p:nvGrpSpPr>
          <p:grpSpPr>
            <a:xfrm>
              <a:off x="677960" y="1582647"/>
              <a:ext cx="2712027" cy="324286"/>
              <a:chOff x="677960" y="1582647"/>
              <a:chExt cx="2712027" cy="324286"/>
            </a:xfrm>
          </p:grpSpPr>
          <p:pic>
            <p:nvPicPr>
              <p:cNvPr id="144"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45" name="직선 연결선 144">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타원 145"/>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7" name="타원 146"/>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3" name="타원 162"/>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3301611927"/>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 업체 데이터</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업체정보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01324"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78" name="직선 연결선 277">
            <a:extLst>
              <a:ext uri="{FF2B5EF4-FFF2-40B4-BE49-F238E27FC236}">
                <a16:creationId xmlns:a16="http://schemas.microsoft.com/office/drawing/2014/main" id="{E9293055-D5CD-4B9E-7F64-64B2D2CA7A52}"/>
              </a:ext>
            </a:extLst>
          </p:cNvPr>
          <p:cNvCxnSpPr/>
          <p:nvPr/>
        </p:nvCxnSpPr>
        <p:spPr>
          <a:xfrm>
            <a:off x="3840474"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3884152"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4438615"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4980122"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90" name="TextBox 289">
            <a:extLst>
              <a:ext uri="{FF2B5EF4-FFF2-40B4-BE49-F238E27FC236}">
                <a16:creationId xmlns:a16="http://schemas.microsoft.com/office/drawing/2014/main" id="{FFC49AEA-2A8F-250C-A86A-A7751D9706C3}"/>
              </a:ext>
            </a:extLst>
          </p:cNvPr>
          <p:cNvSpPr txBox="1"/>
          <p:nvPr/>
        </p:nvSpPr>
        <p:spPr>
          <a:xfrm>
            <a:off x="5681516"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4421659"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2" name="그룹 291"/>
          <p:cNvGrpSpPr/>
          <p:nvPr/>
        </p:nvGrpSpPr>
        <p:grpSpPr>
          <a:xfrm>
            <a:off x="6044070" y="2163124"/>
            <a:ext cx="422853" cy="187961"/>
            <a:chOff x="3641308" y="2234886"/>
            <a:chExt cx="422853" cy="187961"/>
          </a:xfrm>
        </p:grpSpPr>
        <p:sp>
          <p:nvSpPr>
            <p:cNvPr id="293" name="타원 29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5400000" flipH="1">
              <a:off x="3679895" y="2305364"/>
              <a:ext cx="94010" cy="47005"/>
              <a:chOff x="6812560" y="3297172"/>
              <a:chExt cx="94010" cy="47005"/>
            </a:xfrm>
          </p:grpSpPr>
          <p:cxnSp>
            <p:nvCxnSpPr>
              <p:cNvPr id="344" name="직선 연결선 3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5" name="직선 연결선 3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12" name="타원 3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3" name="그룹 312"/>
            <p:cNvGrpSpPr/>
            <p:nvPr/>
          </p:nvGrpSpPr>
          <p:grpSpPr>
            <a:xfrm rot="16200000">
              <a:off x="3931564"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3" name="직선 연결선 3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80270" y="458210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6" name="그룹 115"/>
          <p:cNvGrpSpPr/>
          <p:nvPr/>
        </p:nvGrpSpPr>
        <p:grpSpPr>
          <a:xfrm>
            <a:off x="721238" y="2485990"/>
            <a:ext cx="2630093" cy="2031034"/>
            <a:chOff x="3791188" y="2611009"/>
            <a:chExt cx="2630093" cy="2031034"/>
          </a:xfrm>
        </p:grpSpPr>
        <p:sp>
          <p:nvSpPr>
            <p:cNvPr id="117" name="TextBox 116">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8" name="직사각형 117"/>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smtClean="0">
                  <a:latin typeface="+mn-ea"/>
                </a:rPr>
                <a:t>abc@d2b.go.kr</a:t>
              </a:r>
              <a:endParaRPr lang="en-US" altLang="ko-KR" sz="700" dirty="0">
                <a:latin typeface="+mn-ea"/>
              </a:endParaRP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3914777" y="2486725"/>
            <a:ext cx="2473940" cy="3675880"/>
            <a:chOff x="3930894" y="2486725"/>
            <a:chExt cx="2473940" cy="3675880"/>
          </a:xfrm>
        </p:grpSpPr>
        <p:sp>
          <p:nvSpPr>
            <p:cNvPr id="131" name="TextBox 130">
              <a:extLst>
                <a:ext uri="{FF2B5EF4-FFF2-40B4-BE49-F238E27FC236}">
                  <a16:creationId xmlns:a16="http://schemas.microsoft.com/office/drawing/2014/main" id="{FFC49AEA-2A8F-250C-A86A-A7751D9706C3}"/>
                </a:ext>
              </a:extLst>
            </p:cNvPr>
            <p:cNvSpPr txBox="1"/>
            <p:nvPr/>
          </p:nvSpPr>
          <p:spPr>
            <a:xfrm>
              <a:off x="3930894" y="2486725"/>
              <a:ext cx="2473940" cy="107722"/>
            </a:xfrm>
            <a:prstGeom prst="rect">
              <a:avLst/>
            </a:prstGeom>
            <a:noFill/>
          </p:spPr>
          <p:txBody>
            <a:bodyPr wrap="square" lIns="0" tIns="0" rIns="0" bIns="0" rtlCol="0">
              <a:spAutoFit/>
            </a:bodyPr>
            <a:lstStyle/>
            <a:p>
              <a:r>
                <a:rPr lang="en-US" altLang="ko-KR" sz="700" b="1" dirty="0">
                  <a:solidFill>
                    <a:srgbClr val="000000"/>
                  </a:solidFill>
                  <a:latin typeface="+mn-ea"/>
                </a:rPr>
                <a:t>LETTER OF GUARANTEE FOR PAYMENT OF BID BOND</a:t>
              </a:r>
              <a:endParaRPr lang="ko-KR" altLang="en-US" sz="700" b="1" dirty="0">
                <a:solidFill>
                  <a:srgbClr val="000000"/>
                </a:solidFill>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3930894" y="2715507"/>
              <a:ext cx="2473940" cy="3447098"/>
            </a:xfrm>
            <a:prstGeom prst="rect">
              <a:avLst/>
            </a:prstGeom>
            <a:noFill/>
          </p:spPr>
          <p:txBody>
            <a:bodyPr wrap="square" lIns="0" tIns="0" rIns="0" bIns="0" rtlCol="0">
              <a:spAutoFit/>
            </a:bodyPr>
            <a:lstStyle/>
            <a:p>
              <a:r>
                <a:rPr lang="en-US" altLang="ko-KR" sz="700" dirty="0">
                  <a:solidFill>
                    <a:srgbClr val="000000"/>
                  </a:solidFill>
                  <a:latin typeface="+mn-ea"/>
                </a:rPr>
                <a:t>Name and address of Beneficiary</a:t>
              </a:r>
            </a:p>
            <a:p>
              <a:r>
                <a:rPr lang="en-US" altLang="ko-KR" sz="700" dirty="0">
                  <a:solidFill>
                    <a:srgbClr val="000000"/>
                  </a:solidFill>
                  <a:latin typeface="+mn-ea"/>
                </a:rPr>
                <a:t>Defense Acquisition Program Administration, Republic of Korea, #2-15 </a:t>
              </a:r>
              <a:r>
                <a:rPr lang="en-US" altLang="ko-KR" sz="700" dirty="0" err="1">
                  <a:solidFill>
                    <a:srgbClr val="000000"/>
                  </a:solidFill>
                  <a:latin typeface="+mn-ea"/>
                </a:rPr>
                <a:t>Younsan</a:t>
              </a:r>
              <a:r>
                <a:rPr lang="en-US" altLang="ko-KR" sz="700" dirty="0">
                  <a:solidFill>
                    <a:srgbClr val="000000"/>
                  </a:solidFill>
                  <a:latin typeface="+mn-ea"/>
                </a:rPr>
                <a:t> 2Ga-Dong, </a:t>
              </a:r>
              <a:r>
                <a:rPr lang="en-US" altLang="ko-KR" sz="700" dirty="0" err="1">
                  <a:solidFill>
                    <a:srgbClr val="000000"/>
                  </a:solidFill>
                  <a:latin typeface="+mn-ea"/>
                </a:rPr>
                <a:t>Younsan-Gu</a:t>
              </a:r>
              <a:r>
                <a:rPr lang="en-US" altLang="ko-KR" sz="700" dirty="0">
                  <a:solidFill>
                    <a:srgbClr val="000000"/>
                  </a:solidFill>
                  <a:latin typeface="+mn-ea"/>
                </a:rPr>
                <a:t>, Seoul, Korea</a:t>
              </a:r>
            </a:p>
            <a:p>
              <a:r>
                <a:rPr lang="en-US" altLang="ko-KR" sz="700" dirty="0">
                  <a:solidFill>
                    <a:srgbClr val="000000"/>
                  </a:solidFill>
                  <a:latin typeface="+mn-ea"/>
                </a:rPr>
                <a:t>(Whom the solicitation defines as the “DAPA” or the “</a:t>
              </a:r>
              <a:r>
                <a:rPr lang="en-US" altLang="ko-KR" sz="700" dirty="0" err="1">
                  <a:solidFill>
                    <a:srgbClr val="000000"/>
                  </a:solidFill>
                  <a:latin typeface="+mn-ea"/>
                </a:rPr>
                <a:t>Buer</a:t>
              </a:r>
              <a:r>
                <a:rPr lang="en-US" altLang="ko-KR" sz="700" dirty="0">
                  <a:solidFill>
                    <a:srgbClr val="000000"/>
                  </a:solidFill>
                  <a:latin typeface="+mn-ea"/>
                </a:rPr>
                <a:t>”)</a:t>
              </a:r>
            </a:p>
            <a:p>
              <a:r>
                <a:rPr lang="en-US" altLang="ko-KR" sz="700" dirty="0">
                  <a:solidFill>
                    <a:srgbClr val="000000"/>
                  </a:solidFill>
                  <a:latin typeface="+mn-ea"/>
                </a:rPr>
                <a:t>We, #</a:t>
              </a:r>
              <a:r>
                <a:rPr lang="ko-KR" altLang="en-US" sz="700" dirty="0" err="1">
                  <a:solidFill>
                    <a:srgbClr val="000000"/>
                  </a:solidFill>
                  <a:latin typeface="+mn-ea"/>
                </a:rPr>
                <a:t>입찰업체명</a:t>
              </a:r>
              <a:endParaRPr lang="ko-KR" altLang="en-US" sz="700" dirty="0">
                <a:solidFill>
                  <a:srgbClr val="000000"/>
                </a:solidFill>
                <a:latin typeface="+mn-ea"/>
              </a:endParaRPr>
            </a:p>
            <a:p>
              <a:r>
                <a:rPr lang="en-US" altLang="ko-KR" sz="700" dirty="0">
                  <a:solidFill>
                    <a:srgbClr val="000000"/>
                  </a:solidFill>
                  <a:latin typeface="+mn-ea"/>
                </a:rPr>
                <a:t>The bidder of the above referenced solicitation, have been informed of the eligibility for an exemption from establishing a bid bond, pol Relevant Laws and Regulation of the Republic of Korea.</a:t>
              </a:r>
            </a:p>
            <a:p>
              <a:r>
                <a:rPr lang="en-US" altLang="ko-KR" sz="700" dirty="0">
                  <a:solidFill>
                    <a:srgbClr val="000000"/>
                  </a:solidFill>
                  <a:latin typeface="+mn-ea"/>
                </a:rPr>
                <a:t>Bidders are exempted from establishing bid bond unless he or she fails the following category.</a:t>
              </a:r>
            </a:p>
            <a:p>
              <a:endParaRPr lang="en-US" altLang="ko-KR" sz="700" dirty="0">
                <a:solidFill>
                  <a:srgbClr val="000000"/>
                </a:solidFill>
                <a:latin typeface="+mn-ea"/>
              </a:endParaRPr>
            </a:p>
            <a:p>
              <a:r>
                <a:rPr lang="en-US" altLang="ko-KR" sz="700" dirty="0">
                  <a:solidFill>
                    <a:srgbClr val="000000"/>
                  </a:solidFill>
                  <a:latin typeface="+mn-ea"/>
                </a:rPr>
                <a:t>1. A bidder who fails to meet the bond collection of the Bidding Authorities in connection with any contract.</a:t>
              </a:r>
            </a:p>
            <a:p>
              <a:r>
                <a:rPr lang="en-US" altLang="ko-KR" sz="700" dirty="0">
                  <a:solidFill>
                    <a:srgbClr val="000000"/>
                  </a:solidFill>
                  <a:latin typeface="+mn-ea"/>
                </a:rPr>
                <a:t>2. A bidder who had debarred form any bid pursuant to the Art. 76 of the Enforcement Act on Contracts to Which the State is a Party and the same sanction period has not been gone by after the expiration of the debarment.</a:t>
              </a:r>
            </a:p>
            <a:p>
              <a:r>
                <a:rPr lang="en-US" altLang="ko-KR" sz="700" dirty="0">
                  <a:solidFill>
                    <a:srgbClr val="000000"/>
                  </a:solidFill>
                  <a:latin typeface="+mn-ea"/>
                </a:rPr>
                <a:t>3. A bidder who has not been in the business for more than one(1) year as of the closing date of bid registration.</a:t>
              </a:r>
            </a:p>
            <a:p>
              <a:r>
                <a:rPr lang="en-US" altLang="ko-KR" sz="700" dirty="0">
                  <a:solidFill>
                    <a:srgbClr val="000000"/>
                  </a:solidFill>
                  <a:latin typeface="+mn-ea"/>
                </a:rPr>
                <a:t>In consideration of the DAPA granting the above mentioned exemption, we hereby irrevocably and unconditionally guarantee to pay DAPA</a:t>
              </a:r>
            </a:p>
            <a:p>
              <a:r>
                <a:rPr lang="en-US" altLang="ko-KR" sz="700" dirty="0">
                  <a:solidFill>
                    <a:srgbClr val="000000"/>
                  </a:solidFill>
                  <a:latin typeface="+mn-ea"/>
                </a:rPr>
                <a:t>US$(#</a:t>
              </a:r>
              <a:r>
                <a:rPr lang="ko-KR" altLang="en-US" sz="700" dirty="0">
                  <a:solidFill>
                    <a:srgbClr val="000000"/>
                  </a:solidFill>
                  <a:latin typeface="+mn-ea"/>
                </a:rPr>
                <a:t>보증금액</a:t>
              </a:r>
              <a:r>
                <a:rPr lang="en-US" altLang="ko-KR" sz="700" dirty="0">
                  <a:solidFill>
                    <a:srgbClr val="000000"/>
                  </a:solidFill>
                  <a:latin typeface="+mn-ea"/>
                </a:rPr>
                <a:t>) the amount which would have otherwise been established as the bid bond, within 30 days upon fail to execute the contract with DAPA after the bid is awarded to us or we do not respond timely to the evaluation formalities of the bidder's qualification if we are designated as an eligible bidder.</a:t>
              </a:r>
            </a:p>
            <a:p>
              <a:r>
                <a:rPr lang="en-US" altLang="ko-KR" sz="700" dirty="0">
                  <a:solidFill>
                    <a:srgbClr val="000000"/>
                  </a:solidFill>
                  <a:latin typeface="+mn-ea"/>
                </a:rPr>
                <a:t>We further agree that the DAPA is hereby authorized to deduct form any money due to us if we fail to make payment of such guaranteed amount</a:t>
              </a:r>
              <a:endParaRPr lang="ko-KR" altLang="en-US" sz="700" dirty="0">
                <a:solidFill>
                  <a:srgbClr val="000000"/>
                </a:solidFill>
                <a:latin typeface="+mn-ea"/>
              </a:endParaRPr>
            </a:p>
          </p:txBody>
        </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34" name="TextBox 133">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1786116342"/>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a:t>
            </a:r>
            <a:r>
              <a:rPr lang="ko-KR" altLang="en-US" dirty="0" smtClean="0"/>
              <a:t>변경</a:t>
            </a:r>
            <a:r>
              <a:rPr lang="en-US" altLang="ko-KR" dirty="0" smtClean="0"/>
              <a:t/>
            </a:r>
            <a:br>
              <a:rPr lang="en-US" altLang="ko-KR" dirty="0" smtClean="0"/>
            </a:br>
            <a:r>
              <a:rPr lang="en-US" altLang="ko-KR" dirty="0" smtClean="0"/>
              <a:t>- </a:t>
            </a:r>
            <a:r>
              <a:rPr lang="ko-KR" altLang="en-US" dirty="0" smtClean="0"/>
              <a:t>보증금 면제</a:t>
            </a:r>
            <a:r>
              <a:rPr lang="en-US" altLang="ko-KR" dirty="0" smtClean="0"/>
              <a:t>, </a:t>
            </a:r>
            <a:r>
              <a:rPr lang="ko-KR" altLang="en-US" dirty="0" err="1" smtClean="0"/>
              <a:t>비면제에</a:t>
            </a:r>
            <a:r>
              <a:rPr lang="ko-KR" altLang="en-US" dirty="0" smtClean="0"/>
              <a:t> 따라 하단 표시 정보 변경</a:t>
            </a:r>
            <a:r>
              <a:rPr lang="en-US" altLang="ko-KR" dirty="0" smtClean="0"/>
              <a:t>.</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err="1"/>
              <a:t>보증금면제</a:t>
            </a:r>
            <a:r>
              <a:rPr lang="en-US" altLang="ko-KR" dirty="0"/>
              <a:t>)</a:t>
            </a:r>
            <a:r>
              <a:rPr lang="ko-KR" altLang="en-US" dirty="0"/>
              <a:t> 데이터 </a:t>
            </a:r>
            <a:r>
              <a:rPr lang="ko-KR" altLang="en-US" dirty="0" smtClean="0"/>
              <a:t>영역</a:t>
            </a:r>
            <a:endParaRPr lang="en-US" altLang="ko-KR" dirty="0"/>
          </a:p>
          <a:p>
            <a:pPr marL="228600" indent="-228600">
              <a:buFont typeface="+mj-lt"/>
              <a:buAutoNum type="arabicPeriod"/>
            </a:pPr>
            <a:r>
              <a:rPr lang="ko-KR" altLang="en-US" dirty="0" err="1" smtClean="0"/>
              <a:t>연대보증서</a:t>
            </a:r>
            <a:r>
              <a:rPr lang="en-US" altLang="ko-KR" dirty="0" smtClean="0"/>
              <a:t>, </a:t>
            </a:r>
            <a:r>
              <a:rPr lang="ko-KR" altLang="en-US" dirty="0" err="1" smtClean="0"/>
              <a:t>지급각서</a:t>
            </a:r>
            <a:r>
              <a:rPr lang="ko-KR" altLang="en-US" dirty="0" smtClean="0"/>
              <a:t> 파일 선택 업로드</a:t>
            </a:r>
            <a:r>
              <a:rPr lang="en-US" altLang="ko-KR" dirty="0" smtClean="0"/>
              <a:t/>
            </a:r>
            <a:br>
              <a:rPr lang="en-US" altLang="ko-KR" dirty="0" smtClean="0"/>
            </a:br>
            <a:r>
              <a:rPr lang="en-US" altLang="ko-KR" dirty="0" smtClean="0"/>
              <a:t>- </a:t>
            </a:r>
            <a:r>
              <a:rPr lang="ko-KR" altLang="en-US" dirty="0" smtClean="0"/>
              <a:t>삭제 버튼으로 </a:t>
            </a:r>
            <a:r>
              <a:rPr lang="ko-KR" altLang="en-US" dirty="0" err="1" smtClean="0"/>
              <a:t>업로드된</a:t>
            </a:r>
            <a:r>
              <a:rPr lang="ko-KR" altLang="en-US" dirty="0" smtClean="0"/>
              <a:t> 파일 삭제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latin typeface="+mn-ea"/>
              </a:rPr>
              <a:t>공종</a:t>
            </a:r>
            <a:r>
              <a:rPr lang="ko-KR" altLang="en-US" dirty="0">
                <a:latin typeface="+mn-ea"/>
              </a:rPr>
              <a:t> 및 면허</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a:t>
              </a:r>
              <a:r>
                <a:rPr kumimoji="1" lang="ko-KR" altLang="en-US" sz="700" kern="0" dirty="0" err="1">
                  <a:latin typeface="맑은 고딕"/>
                  <a:ea typeface="맑은 고딕" panose="020B0503020000020004" pitchFamily="50" charset="-127"/>
                </a:rPr>
                <a:t>비면제</a:t>
              </a:r>
              <a:endParaRPr kumimoji="1" lang="en-US" sz="700" b="0" i="0" u="none" strike="noStrike" kern="0" cap="none" spc="0" normalizeH="0" baseline="0" noProof="0" dirty="0">
                <a:ln>
                  <a:noFill/>
                </a:ln>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면제</a:t>
              </a:r>
              <a:endParaRPr kumimoji="1" lang="en-US" sz="700" b="0" i="0" u="none" strike="noStrike" kern="0" cap="none" spc="0" normalizeH="0" baseline="0" noProof="0" dirty="0">
                <a:ln>
                  <a:noFill/>
                </a:ln>
                <a:solidFill>
                  <a:srgbClr val="0070C0"/>
                </a:solidFill>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822037"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763817"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193899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193899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err="1">
                <a:latin typeface="+mn-ea"/>
              </a:rPr>
              <a:t>연대보증서</a:t>
            </a:r>
            <a:endParaRPr lang="ko-KR" altLang="en-US" sz="700" dirty="0">
              <a:latin typeface="+mn-ea"/>
            </a:endParaRPr>
          </a:p>
          <a:p>
            <a:pPr>
              <a:lnSpc>
                <a:spcPct val="200000"/>
              </a:lnSpc>
            </a:pPr>
            <a:r>
              <a:rPr lang="ko-KR" altLang="en-US" sz="700" dirty="0" err="1">
                <a:latin typeface="+mn-ea"/>
              </a:rPr>
              <a:t>지급각서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193899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endParaRPr lang="en-US" altLang="ko-KR" sz="700" dirty="0">
              <a:latin typeface="+mn-ea"/>
            </a:endParaRPr>
          </a:p>
          <a:p>
            <a:pPr>
              <a:lnSpc>
                <a:spcPct val="200000"/>
              </a:lnSpc>
            </a:pPr>
            <a:r>
              <a:rPr lang="en-US" altLang="ko-KR" sz="700" dirty="0">
                <a:latin typeface="+mn-ea"/>
              </a:rPr>
              <a:t>File.pdf</a:t>
            </a:r>
          </a:p>
          <a:p>
            <a:pPr>
              <a:lnSpc>
                <a:spcPct val="200000"/>
              </a:lnSpc>
            </a:pPr>
            <a:r>
              <a:rPr lang="en-US" altLang="ko-KR" sz="700" dirty="0">
                <a:latin typeface="+mn-ea"/>
              </a:rPr>
              <a:t>File.pdf</a:t>
            </a:r>
          </a:p>
        </p:txBody>
      </p:sp>
      <p:grpSp>
        <p:nvGrpSpPr>
          <p:cNvPr id="172" name="그룹 171"/>
          <p:cNvGrpSpPr/>
          <p:nvPr/>
        </p:nvGrpSpPr>
        <p:grpSpPr>
          <a:xfrm>
            <a:off x="720139" y="3378381"/>
            <a:ext cx="2630093" cy="1939635"/>
            <a:chOff x="701175" y="1835481"/>
            <a:chExt cx="2630093" cy="1939635"/>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37751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1561065" y="466046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48" name="사각형: 둥근 모서리 15">
            <a:extLst>
              <a:ext uri="{FF2B5EF4-FFF2-40B4-BE49-F238E27FC236}">
                <a16:creationId xmlns:a16="http://schemas.microsoft.com/office/drawing/2014/main" id="{E2B61CFB-AD16-68D0-8752-50D9C5E01971}"/>
              </a:ext>
            </a:extLst>
          </p:cNvPr>
          <p:cNvSpPr/>
          <p:nvPr/>
        </p:nvSpPr>
        <p:spPr>
          <a:xfrm>
            <a:off x="1563085" y="469613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4664865"/>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67" name="사각형: 둥근 모서리 15">
            <a:extLst>
              <a:ext uri="{FF2B5EF4-FFF2-40B4-BE49-F238E27FC236}">
                <a16:creationId xmlns:a16="http://schemas.microsoft.com/office/drawing/2014/main" id="{E2B61CFB-AD16-68D0-8752-50D9C5E01971}"/>
              </a:ext>
            </a:extLst>
          </p:cNvPr>
          <p:cNvSpPr/>
          <p:nvPr/>
        </p:nvSpPr>
        <p:spPr>
          <a:xfrm>
            <a:off x="3061115" y="4921435"/>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81" name="사각형: 둥근 모서리 15">
            <a:extLst>
              <a:ext uri="{FF2B5EF4-FFF2-40B4-BE49-F238E27FC236}">
                <a16:creationId xmlns:a16="http://schemas.microsoft.com/office/drawing/2014/main" id="{E2B61CFB-AD16-68D0-8752-50D9C5E01971}"/>
              </a:ext>
            </a:extLst>
          </p:cNvPr>
          <p:cNvSpPr/>
          <p:nvPr/>
        </p:nvSpPr>
        <p:spPr>
          <a:xfrm>
            <a:off x="3061115" y="513202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68" name="타원 167">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타원 181"/>
          <p:cNvSpPr/>
          <p:nvPr/>
        </p:nvSpPr>
        <p:spPr>
          <a:xfrm>
            <a:off x="2843161" y="5139735"/>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a:off x="2887066" y="5174622"/>
            <a:ext cx="58075" cy="58074"/>
            <a:chOff x="6812560" y="3297172"/>
            <a:chExt cx="94010" cy="94010"/>
          </a:xfrm>
        </p:grpSpPr>
        <p:cxnSp>
          <p:nvCxnSpPr>
            <p:cNvPr id="184" name="직선 연결선 18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87" name="타원 186"/>
          <p:cNvSpPr/>
          <p:nvPr/>
        </p:nvSpPr>
        <p:spPr>
          <a:xfrm>
            <a:off x="2843161" y="4920591"/>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8" name="그룹 187"/>
          <p:cNvGrpSpPr/>
          <p:nvPr/>
        </p:nvGrpSpPr>
        <p:grpSpPr>
          <a:xfrm>
            <a:off x="2887066" y="4955478"/>
            <a:ext cx="58075" cy="58074"/>
            <a:chOff x="6812560" y="3297172"/>
            <a:chExt cx="94010" cy="94010"/>
          </a:xfrm>
        </p:grpSpPr>
        <p:cxnSp>
          <p:nvCxnSpPr>
            <p:cNvPr id="189" name="직선 연결선 18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0" name="타원 99">
            <a:extLst>
              <a:ext uri="{FF2B5EF4-FFF2-40B4-BE49-F238E27FC236}">
                <a16:creationId xmlns:a16="http://schemas.microsoft.com/office/drawing/2014/main" id="{37A7FF4F-0EAA-1463-560A-D5EC24416103}"/>
              </a:ext>
            </a:extLst>
          </p:cNvPr>
          <p:cNvSpPr/>
          <p:nvPr/>
        </p:nvSpPr>
        <p:spPr>
          <a:xfrm>
            <a:off x="589334" y="50229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grpSp>
        <p:nvGrpSpPr>
          <p:cNvPr id="102" name="그룹 101"/>
          <p:cNvGrpSpPr/>
          <p:nvPr/>
        </p:nvGrpSpPr>
        <p:grpSpPr>
          <a:xfrm>
            <a:off x="8223250" y="569392"/>
            <a:ext cx="3365500" cy="634511"/>
            <a:chOff x="8223250" y="569392"/>
            <a:chExt cx="3365500" cy="634511"/>
          </a:xfrm>
        </p:grpSpPr>
        <p:sp>
          <p:nvSpPr>
            <p:cNvPr id="103" name="직사각형 102"/>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2026-07-06 </a:t>
              </a:r>
              <a:r>
                <a:rPr lang="ko-KR" altLang="en-US" dirty="0" smtClean="0"/>
                <a:t>설명 추가</a:t>
              </a:r>
              <a:endParaRPr lang="ko-KR" altLang="en-US" dirty="0"/>
            </a:p>
          </p:txBody>
        </p:sp>
        <p:sp>
          <p:nvSpPr>
            <p:cNvPr id="104" name="직사각형 103"/>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284441779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변경</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a:t>보증금비면제</a:t>
            </a:r>
            <a:r>
              <a:rPr lang="en-US" altLang="ko-KR" dirty="0"/>
              <a:t>)</a:t>
            </a:r>
            <a:r>
              <a:rPr lang="ko-KR" altLang="en-US" dirty="0"/>
              <a:t> 데이터 영역</a:t>
            </a:r>
            <a:endParaRPr lang="en-US" altLang="ko-KR" dirty="0"/>
          </a:p>
          <a:p>
            <a:pPr marL="228600" indent="-228600">
              <a:buFont typeface="+mj-lt"/>
              <a:buAutoNum type="arabicPeriod"/>
            </a:pPr>
            <a:r>
              <a:rPr lang="ko-KR" altLang="en-US" dirty="0" smtClean="0"/>
              <a:t>보증금납부방법</a:t>
            </a:r>
            <a:r>
              <a:rPr lang="en-US" altLang="ko-KR" dirty="0" smtClean="0"/>
              <a:t/>
            </a:r>
            <a:br>
              <a:rPr lang="en-US" altLang="ko-KR" dirty="0" smtClean="0"/>
            </a:br>
            <a:r>
              <a:rPr lang="en-US" altLang="ko-KR" dirty="0" smtClean="0"/>
              <a:t>- </a:t>
            </a:r>
            <a:r>
              <a:rPr lang="ko-KR" altLang="en-US" dirty="0" smtClean="0"/>
              <a:t>보증보험</a:t>
            </a:r>
            <a:r>
              <a:rPr lang="en-US" altLang="ko-KR" dirty="0" smtClean="0"/>
              <a:t>, </a:t>
            </a:r>
            <a:r>
              <a:rPr lang="ko-KR" altLang="en-US" dirty="0" err="1" smtClean="0"/>
              <a:t>전자보증서</a:t>
            </a:r>
            <a:endParaRPr lang="en-US" altLang="ko-KR" dirty="0" smtClean="0"/>
          </a:p>
          <a:p>
            <a:pPr marL="228600" indent="-228600">
              <a:buFont typeface="+mj-lt"/>
              <a:buAutoNum type="arabicPeriod"/>
            </a:pPr>
            <a:r>
              <a:rPr lang="ko-KR" altLang="en-US" dirty="0" err="1" smtClean="0"/>
              <a:t>보증서선택</a:t>
            </a:r>
            <a:r>
              <a:rPr lang="ko-KR" altLang="en-US" dirty="0" smtClean="0"/>
              <a:t> </a:t>
            </a:r>
            <a:r>
              <a:rPr lang="ko-KR" altLang="en-US" dirty="0"/>
              <a:t>클릭 이벤트</a:t>
            </a:r>
            <a:r>
              <a:rPr lang="en-US" altLang="ko-KR" dirty="0"/>
              <a:t/>
            </a:r>
            <a:br>
              <a:rPr lang="en-US" altLang="ko-KR" dirty="0"/>
            </a:br>
            <a:r>
              <a:rPr lang="en-US" altLang="ko-KR" dirty="0"/>
              <a:t>- </a:t>
            </a:r>
            <a:r>
              <a:rPr lang="ko-KR" altLang="en-US" dirty="0"/>
              <a:t>전자보증서인 경우 팝업 </a:t>
            </a:r>
            <a:r>
              <a:rPr lang="ko-KR" altLang="en-US" dirty="0" smtClean="0"/>
              <a:t>호출</a:t>
            </a:r>
            <a:r>
              <a:rPr lang="en-US" altLang="ko-KR" dirty="0" smtClean="0"/>
              <a:t/>
            </a:r>
            <a:br>
              <a:rPr lang="en-US" altLang="ko-KR" dirty="0" smtClean="0"/>
            </a:br>
            <a:r>
              <a:rPr lang="en-US" altLang="ko-KR" dirty="0" smtClean="0"/>
              <a:t>  &gt; </a:t>
            </a:r>
            <a:r>
              <a:rPr lang="en-US" altLang="ko-KR" dirty="0" smtClean="0">
                <a:latin typeface="+mn-ea"/>
              </a:rPr>
              <a:t>MUI-BD-04-P75 </a:t>
            </a:r>
            <a:r>
              <a:rPr lang="ko-KR" altLang="en-US" dirty="0">
                <a:latin typeface="+mn-ea"/>
              </a:rPr>
              <a:t>입찰보증서선택</a:t>
            </a:r>
            <a:r>
              <a:rPr lang="en-US" altLang="ko-KR" dirty="0"/>
              <a:t/>
            </a:r>
            <a:br>
              <a:rPr lang="en-US" altLang="ko-KR" dirty="0"/>
            </a:br>
            <a:r>
              <a:rPr lang="en-US" altLang="ko-KR" dirty="0"/>
              <a:t>- </a:t>
            </a:r>
            <a:r>
              <a:rPr lang="ko-KR" altLang="en-US" dirty="0"/>
              <a:t>보증보험인 경우 파일 선택 업로드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latin typeface="+mn-ea"/>
              </a:rPr>
              <a:t>공종</a:t>
            </a:r>
            <a:r>
              <a:rPr lang="ko-KR" altLang="en-US" dirty="0">
                <a:latin typeface="+mn-ea"/>
              </a:rPr>
              <a:t> 및 면허</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a:t>
              </a:r>
              <a:r>
                <a:rPr kumimoji="1" lang="ko-KR" altLang="en-US" sz="700" kern="0" dirty="0" err="1">
                  <a:solidFill>
                    <a:srgbClr val="0070C0"/>
                  </a:solidFill>
                  <a:latin typeface="맑은 고딕"/>
                  <a:ea typeface="맑은 고딕" panose="020B0503020000020004" pitchFamily="50" charset="-127"/>
                </a:rPr>
                <a:t>비면제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면제</a:t>
              </a:r>
              <a:endParaRPr kumimoji="1" lang="en-US" sz="700" b="0" i="0" u="none" strike="noStrike" kern="0" cap="none" spc="0" normalizeH="0" baseline="0" noProof="0" dirty="0">
                <a:ln>
                  <a:noFill/>
                </a:ln>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2126891"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2068671"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23670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2369880"/>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a:latin typeface="+mn-ea"/>
              </a:rPr>
              <a:t>보증금납부방법</a:t>
            </a:r>
          </a:p>
          <a:p>
            <a:pPr>
              <a:lnSpc>
                <a:spcPct val="200000"/>
              </a:lnSpc>
            </a:pPr>
            <a:r>
              <a:rPr lang="ko-KR" altLang="en-US" sz="700" dirty="0">
                <a:latin typeface="+mn-ea"/>
              </a:rPr>
              <a:t>보증금증권번호</a:t>
            </a:r>
          </a:p>
          <a:p>
            <a:pPr>
              <a:lnSpc>
                <a:spcPct val="200000"/>
              </a:lnSpc>
            </a:pPr>
            <a:r>
              <a:rPr lang="ko-KR" altLang="en-US" sz="700" dirty="0" err="1">
                <a:latin typeface="+mn-ea"/>
              </a:rPr>
              <a:t>보증기관명</a:t>
            </a:r>
            <a:endParaRPr lang="ko-KR" altLang="en-US" sz="700" dirty="0">
              <a:latin typeface="+mn-ea"/>
            </a:endParaRPr>
          </a:p>
          <a:p>
            <a:pPr>
              <a:lnSpc>
                <a:spcPct val="200000"/>
              </a:lnSpc>
            </a:pPr>
            <a:r>
              <a:rPr lang="ko-KR" altLang="en-US" sz="700" dirty="0">
                <a:latin typeface="+mn-ea"/>
              </a:rPr>
              <a:t>입찰보증금납부서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236988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File.pdf</a:t>
            </a:r>
          </a:p>
        </p:txBody>
      </p:sp>
      <p:grpSp>
        <p:nvGrpSpPr>
          <p:cNvPr id="172" name="그룹 171"/>
          <p:cNvGrpSpPr/>
          <p:nvPr/>
        </p:nvGrpSpPr>
        <p:grpSpPr>
          <a:xfrm>
            <a:off x="720139" y="3378381"/>
            <a:ext cx="2630093" cy="2367010"/>
            <a:chOff x="701175" y="1835481"/>
            <a:chExt cx="2630093" cy="236701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3772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01175" y="39872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1175" y="420249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2" name="TextBox 101">
            <a:extLst>
              <a:ext uri="{FF2B5EF4-FFF2-40B4-BE49-F238E27FC236}">
                <a16:creationId xmlns:a16="http://schemas.microsoft.com/office/drawing/2014/main" id="{FFC49AEA-2A8F-250C-A86A-A7751D9706C3}"/>
              </a:ext>
            </a:extLst>
          </p:cNvPr>
          <p:cNvSpPr txBox="1"/>
          <p:nvPr/>
        </p:nvSpPr>
        <p:spPr>
          <a:xfrm>
            <a:off x="1556765" y="486788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03" name="사각형: 둥근 모서리 15">
            <a:extLst>
              <a:ext uri="{FF2B5EF4-FFF2-40B4-BE49-F238E27FC236}">
                <a16:creationId xmlns:a16="http://schemas.microsoft.com/office/drawing/2014/main" id="{E2B61CFB-AD16-68D0-8752-50D9C5E01971}"/>
              </a:ext>
            </a:extLst>
          </p:cNvPr>
          <p:cNvSpPr/>
          <p:nvPr/>
        </p:nvSpPr>
        <p:spPr>
          <a:xfrm>
            <a:off x="1558785" y="490355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04" name="그룹 103"/>
          <p:cNvGrpSpPr/>
          <p:nvPr/>
        </p:nvGrpSpPr>
        <p:grpSpPr>
          <a:xfrm>
            <a:off x="3136394" y="4961052"/>
            <a:ext cx="94010" cy="47005"/>
            <a:chOff x="6812560" y="3297172"/>
            <a:chExt cx="94010" cy="47005"/>
          </a:xfrm>
        </p:grpSpPr>
        <p:cxnSp>
          <p:nvCxnSpPr>
            <p:cNvPr id="145" name="직선 연결선 1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6" name="직선 연결선 1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1561065" y="465351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48" name="사각형: 둥근 모서리 15">
            <a:extLst>
              <a:ext uri="{FF2B5EF4-FFF2-40B4-BE49-F238E27FC236}">
                <a16:creationId xmlns:a16="http://schemas.microsoft.com/office/drawing/2014/main" id="{E2B61CFB-AD16-68D0-8752-50D9C5E01971}"/>
              </a:ext>
            </a:extLst>
          </p:cNvPr>
          <p:cNvSpPr/>
          <p:nvPr/>
        </p:nvSpPr>
        <p:spPr>
          <a:xfrm>
            <a:off x="1563085" y="468918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4665734"/>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561065" y="5092011"/>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63" name="사각형: 둥근 모서리 15">
            <a:extLst>
              <a:ext uri="{FF2B5EF4-FFF2-40B4-BE49-F238E27FC236}">
                <a16:creationId xmlns:a16="http://schemas.microsoft.com/office/drawing/2014/main" id="{E2B61CFB-AD16-68D0-8752-50D9C5E01971}"/>
              </a:ext>
            </a:extLst>
          </p:cNvPr>
          <p:cNvSpPr/>
          <p:nvPr/>
        </p:nvSpPr>
        <p:spPr>
          <a:xfrm>
            <a:off x="1563085" y="512767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1561065" y="5303661"/>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66" name="사각형: 둥근 모서리 15">
            <a:extLst>
              <a:ext uri="{FF2B5EF4-FFF2-40B4-BE49-F238E27FC236}">
                <a16:creationId xmlns:a16="http://schemas.microsoft.com/office/drawing/2014/main" id="{E2B61CFB-AD16-68D0-8752-50D9C5E01971}"/>
              </a:ext>
            </a:extLst>
          </p:cNvPr>
          <p:cNvSpPr/>
          <p:nvPr/>
        </p:nvSpPr>
        <p:spPr>
          <a:xfrm>
            <a:off x="1563085" y="533932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7" name="사각형: 둥근 모서리 15">
            <a:extLst>
              <a:ext uri="{FF2B5EF4-FFF2-40B4-BE49-F238E27FC236}">
                <a16:creationId xmlns:a16="http://schemas.microsoft.com/office/drawing/2014/main" id="{E2B61CFB-AD16-68D0-8752-50D9C5E01971}"/>
              </a:ext>
            </a:extLst>
          </p:cNvPr>
          <p:cNvSpPr/>
          <p:nvPr/>
        </p:nvSpPr>
        <p:spPr>
          <a:xfrm>
            <a:off x="3061115" y="5558813"/>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05" name="타원 104"/>
          <p:cNvSpPr/>
          <p:nvPr/>
        </p:nvSpPr>
        <p:spPr>
          <a:xfrm>
            <a:off x="2843161" y="555498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6" name="그룹 105"/>
          <p:cNvGrpSpPr/>
          <p:nvPr/>
        </p:nvGrpSpPr>
        <p:grpSpPr>
          <a:xfrm>
            <a:off x="2887066" y="5589873"/>
            <a:ext cx="58075" cy="58074"/>
            <a:chOff x="6812560" y="3297172"/>
            <a:chExt cx="94010" cy="94010"/>
          </a:xfrm>
        </p:grpSpPr>
        <p:cxnSp>
          <p:nvCxnSpPr>
            <p:cNvPr id="107" name="직선 연결선 10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08" name="직선 연결선 10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11" name="타원 110">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12" name="타원 111">
            <a:extLst>
              <a:ext uri="{FF2B5EF4-FFF2-40B4-BE49-F238E27FC236}">
                <a16:creationId xmlns:a16="http://schemas.microsoft.com/office/drawing/2014/main" id="{37A7FF4F-0EAA-1463-560A-D5EC24416103}"/>
              </a:ext>
            </a:extLst>
          </p:cNvPr>
          <p:cNvSpPr/>
          <p:nvPr/>
        </p:nvSpPr>
        <p:spPr>
          <a:xfrm>
            <a:off x="589334" y="55651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09" name="타원 108">
            <a:extLst>
              <a:ext uri="{FF2B5EF4-FFF2-40B4-BE49-F238E27FC236}">
                <a16:creationId xmlns:a16="http://schemas.microsoft.com/office/drawing/2014/main" id="{37A7FF4F-0EAA-1463-560A-D5EC24416103}"/>
              </a:ext>
            </a:extLst>
          </p:cNvPr>
          <p:cNvSpPr/>
          <p:nvPr/>
        </p:nvSpPr>
        <p:spPr>
          <a:xfrm>
            <a:off x="589334" y="492043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376590488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직사각형 7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3795734" y="1578465"/>
            <a:ext cx="2712027" cy="508898"/>
            <a:chOff x="3795734" y="1602341"/>
            <a:chExt cx="2712027" cy="508898"/>
          </a:xfrm>
        </p:grpSpPr>
        <p:sp>
          <p:nvSpPr>
            <p:cNvPr id="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75" name="모서리가 둥근 직사각형 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76" name="모서리가 둥근 직사각형 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7" name="직선 연결선 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입찰참가용</a:t>
            </a:r>
            <a:r>
              <a:rPr lang="ko-KR" altLang="en-US" dirty="0"/>
              <a:t> 서류가 있는 경우 </a:t>
            </a:r>
            <a:r>
              <a:rPr lang="ko-KR" altLang="en-US" dirty="0" err="1"/>
              <a:t>파일선택을</a:t>
            </a:r>
            <a:r>
              <a:rPr lang="ko-KR" altLang="en-US" dirty="0"/>
              <a:t> 클릭하여 입찰참가 서류를 </a:t>
            </a:r>
            <a:r>
              <a:rPr lang="ko-KR" altLang="en-US" dirty="0" smtClean="0"/>
              <a:t>첨부</a:t>
            </a:r>
            <a:endParaRPr lang="en-US" altLang="ko-KR" dirty="0" smtClean="0"/>
          </a:p>
          <a:p>
            <a:pPr marL="228600" indent="-228600">
              <a:buFont typeface="+mj-lt"/>
              <a:buAutoNum type="arabicPeriod"/>
            </a:pPr>
            <a:r>
              <a:rPr lang="ko-KR" altLang="en-US" dirty="0" err="1" smtClean="0"/>
              <a:t>신청청하기</a:t>
            </a:r>
            <a:r>
              <a:rPr lang="ko-KR" altLang="en-US" dirty="0" smtClean="0"/>
              <a:t> 클릭 시</a:t>
            </a:r>
            <a:r>
              <a:rPr lang="en-US" altLang="ko-KR" dirty="0" smtClean="0"/>
              <a:t/>
            </a:r>
            <a:br>
              <a:rPr lang="en-US" altLang="ko-KR" dirty="0" smtClean="0"/>
            </a:br>
            <a:r>
              <a:rPr lang="en-US" altLang="ko-KR" dirty="0"/>
              <a:t>- </a:t>
            </a:r>
            <a:r>
              <a:rPr lang="en-US" altLang="ko-KR" dirty="0" smtClean="0"/>
              <a:t>MUI-BD-06-M08 </a:t>
            </a:r>
            <a:r>
              <a:rPr lang="ko-KR" altLang="en-US" dirty="0" smtClean="0"/>
              <a:t>신청 완료</a:t>
            </a:r>
            <a:r>
              <a:rPr lang="en-US" altLang="ko-KR" dirty="0"/>
              <a:t/>
            </a:r>
            <a:br>
              <a:rPr lang="en-US" altLang="ko-KR" dirty="0"/>
            </a:br>
            <a:r>
              <a:rPr lang="en-US" altLang="ko-KR" dirty="0" smtClean="0"/>
              <a:t>- </a:t>
            </a:r>
            <a:r>
              <a:rPr lang="ko-KR" altLang="en-US" dirty="0" smtClean="0"/>
              <a:t>유효성 검사</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파일첨부</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1362037"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2028414"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2053491"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318431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3258834"/>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해외업체위임장</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31269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59099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665520"/>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71938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746569"/>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3049195"/>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52628" y="3049195"/>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3049195"/>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73049" y="3695800"/>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73049" y="3279008"/>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6" name="그룹 55"/>
          <p:cNvGrpSpPr/>
          <p:nvPr/>
        </p:nvGrpSpPr>
        <p:grpSpPr>
          <a:xfrm>
            <a:off x="3795733" y="5614711"/>
            <a:ext cx="2712027" cy="617588"/>
            <a:chOff x="675399" y="5614711"/>
            <a:chExt cx="2712027" cy="617588"/>
          </a:xfrm>
        </p:grpSpPr>
        <p:sp>
          <p:nvSpPr>
            <p:cNvPr id="57" name="직사각형 5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64" name="TextBox 63">
            <a:extLst>
              <a:ext uri="{FF2B5EF4-FFF2-40B4-BE49-F238E27FC236}">
                <a16:creationId xmlns:a16="http://schemas.microsoft.com/office/drawing/2014/main" id="{FFC49AEA-2A8F-250C-A86A-A7751D9706C3}"/>
              </a:ext>
            </a:extLst>
          </p:cNvPr>
          <p:cNvSpPr txBox="1"/>
          <p:nvPr/>
        </p:nvSpPr>
        <p:spPr>
          <a:xfrm>
            <a:off x="775229"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95" name="TextBox 94">
            <a:extLst>
              <a:ext uri="{FF2B5EF4-FFF2-40B4-BE49-F238E27FC236}">
                <a16:creationId xmlns:a16="http://schemas.microsoft.com/office/drawing/2014/main" id="{FFC49AEA-2A8F-250C-A86A-A7751D9706C3}"/>
              </a:ext>
            </a:extLst>
          </p:cNvPr>
          <p:cNvSpPr txBox="1"/>
          <p:nvPr/>
        </p:nvSpPr>
        <p:spPr>
          <a:xfrm>
            <a:off x="3914777" y="2522318"/>
            <a:ext cx="2473940" cy="1723549"/>
          </a:xfrm>
          <a:prstGeom prst="rect">
            <a:avLst/>
          </a:prstGeom>
          <a:noFill/>
        </p:spPr>
        <p:txBody>
          <a:bodyPr wrap="square" lIns="0" tIns="0" rIns="0" bIns="0" rtlCol="0">
            <a:spAutoFit/>
          </a:bodyPr>
          <a:lstStyle/>
          <a:p>
            <a:r>
              <a:rPr lang="ko-KR" altLang="en-US" sz="700" dirty="0">
                <a:solidFill>
                  <a:srgbClr val="000000"/>
                </a:solidFill>
                <a:latin typeface="+mn-ea"/>
              </a:rPr>
              <a:t>본인은 위의 번호로 공고한 귀청의 일반경쟁입찰에 참가하고자 귀청에서 정한 물품구매</a:t>
            </a:r>
            <a:r>
              <a:rPr lang="en-US" altLang="ko-KR" sz="700" dirty="0">
                <a:solidFill>
                  <a:srgbClr val="000000"/>
                </a:solidFill>
                <a:latin typeface="+mn-ea"/>
              </a:rPr>
              <a:t>(</a:t>
            </a:r>
            <a:r>
              <a:rPr lang="ko-KR" altLang="en-US" sz="700" dirty="0">
                <a:solidFill>
                  <a:srgbClr val="000000"/>
                </a:solidFill>
                <a:latin typeface="+mn-ea"/>
              </a:rPr>
              <a:t>용역</a:t>
            </a:r>
            <a:r>
              <a:rPr lang="en-US" altLang="ko-KR" sz="700" dirty="0">
                <a:solidFill>
                  <a:srgbClr val="000000"/>
                </a:solidFill>
                <a:latin typeface="+mn-ea"/>
              </a:rPr>
              <a:t>)</a:t>
            </a:r>
            <a:r>
              <a:rPr lang="ko-KR" altLang="en-US" sz="700" dirty="0">
                <a:solidFill>
                  <a:srgbClr val="000000"/>
                </a:solidFill>
                <a:latin typeface="+mn-ea"/>
              </a:rPr>
              <a:t>입찰유의서</a:t>
            </a:r>
            <a:r>
              <a:rPr lang="en-US" altLang="ko-KR" sz="700" dirty="0">
                <a:solidFill>
                  <a:srgbClr val="000000"/>
                </a:solidFill>
                <a:latin typeface="+mn-ea"/>
              </a:rPr>
              <a:t>, </a:t>
            </a:r>
            <a:r>
              <a:rPr lang="ko-KR" altLang="en-US" sz="700" dirty="0">
                <a:solidFill>
                  <a:srgbClr val="000000"/>
                </a:solidFill>
                <a:latin typeface="+mn-ea"/>
              </a:rPr>
              <a:t>계약 일반조건 및 입찰 공고 사항을 모두 숙지하여 수락하고 계약일반조건 및 계약 </a:t>
            </a:r>
            <a:r>
              <a:rPr lang="ko-KR" altLang="en-US" sz="700" dirty="0" err="1">
                <a:solidFill>
                  <a:srgbClr val="000000"/>
                </a:solidFill>
                <a:latin typeface="+mn-ea"/>
              </a:rPr>
              <a:t>특수조건에</a:t>
            </a:r>
            <a:r>
              <a:rPr lang="ko-KR" altLang="en-US" sz="700" dirty="0">
                <a:solidFill>
                  <a:srgbClr val="000000"/>
                </a:solidFill>
                <a:latin typeface="+mn-ea"/>
              </a:rPr>
              <a:t> 따라 </a:t>
            </a:r>
            <a:r>
              <a:rPr lang="ko-KR" altLang="en-US" sz="700" dirty="0" err="1">
                <a:solidFill>
                  <a:srgbClr val="000000"/>
                </a:solidFill>
                <a:latin typeface="+mn-ea"/>
              </a:rPr>
              <a:t>계약품목을</a:t>
            </a:r>
            <a:r>
              <a:rPr lang="ko-KR" altLang="en-US" sz="700" dirty="0">
                <a:solidFill>
                  <a:srgbClr val="000000"/>
                </a:solidFill>
                <a:latin typeface="+mn-ea"/>
              </a:rPr>
              <a:t> 기한 내에 납부할 것을 확약하며 입찰 참가 신청서 및 아래 입찰서류를 제출합니다</a:t>
            </a:r>
            <a:r>
              <a:rPr lang="en-US" altLang="ko-KR" sz="700" dirty="0">
                <a:solidFill>
                  <a:srgbClr val="000000"/>
                </a:solidFill>
                <a:latin typeface="+mn-ea"/>
              </a:rPr>
              <a:t>.</a:t>
            </a:r>
          </a:p>
          <a:p>
            <a:r>
              <a:rPr lang="ko-KR" altLang="en-US" sz="700" dirty="0">
                <a:solidFill>
                  <a:srgbClr val="000000"/>
                </a:solidFill>
                <a:latin typeface="+mn-ea"/>
              </a:rPr>
              <a:t>단 </a:t>
            </a:r>
            <a:r>
              <a:rPr lang="ko-KR" altLang="en-US" sz="700" dirty="0" err="1">
                <a:solidFill>
                  <a:srgbClr val="000000"/>
                </a:solidFill>
                <a:latin typeface="+mn-ea"/>
              </a:rPr>
              <a:t>전차입찰의</a:t>
            </a:r>
            <a:r>
              <a:rPr lang="ko-KR" altLang="en-US" sz="700" dirty="0">
                <a:solidFill>
                  <a:srgbClr val="000000"/>
                </a:solidFill>
                <a:latin typeface="+mn-ea"/>
              </a:rPr>
              <a:t> 경우 아래의 구비서류를 첨부 자료로써 제출하시고</a:t>
            </a:r>
            <a:r>
              <a:rPr lang="en-US" altLang="ko-KR" sz="700" dirty="0">
                <a:solidFill>
                  <a:srgbClr val="000000"/>
                </a:solidFill>
                <a:latin typeface="+mn-ea"/>
              </a:rPr>
              <a:t>, </a:t>
            </a:r>
            <a:r>
              <a:rPr lang="ko-KR" altLang="en-US" sz="700" dirty="0">
                <a:solidFill>
                  <a:srgbClr val="000000"/>
                </a:solidFill>
                <a:latin typeface="+mn-ea"/>
              </a:rPr>
              <a:t>필요시 직접방문 및 우편으로 </a:t>
            </a:r>
            <a:r>
              <a:rPr lang="ko-KR" altLang="en-US" sz="700" dirty="0" err="1">
                <a:solidFill>
                  <a:srgbClr val="000000"/>
                </a:solidFill>
                <a:latin typeface="+mn-ea"/>
              </a:rPr>
              <a:t>제출요청을</a:t>
            </a:r>
            <a:r>
              <a:rPr lang="ko-KR" altLang="en-US" sz="700" dirty="0">
                <a:solidFill>
                  <a:srgbClr val="000000"/>
                </a:solidFill>
                <a:latin typeface="+mn-ea"/>
              </a:rPr>
              <a:t> 받을 경우 제시하여야 함</a:t>
            </a:r>
          </a:p>
          <a:p>
            <a:endParaRPr lang="ko-KR" altLang="en-US" sz="700" dirty="0">
              <a:solidFill>
                <a:srgbClr val="000000"/>
              </a:solidFill>
              <a:latin typeface="+mn-ea"/>
            </a:endParaRPr>
          </a:p>
          <a:p>
            <a:r>
              <a:rPr lang="en-US" altLang="ko-KR" sz="700" dirty="0">
                <a:solidFill>
                  <a:srgbClr val="000000"/>
                </a:solidFill>
                <a:latin typeface="+mn-ea"/>
              </a:rPr>
              <a:t>1. </a:t>
            </a:r>
            <a:r>
              <a:rPr lang="ko-KR" altLang="en-US" sz="700" dirty="0">
                <a:solidFill>
                  <a:srgbClr val="000000"/>
                </a:solidFill>
                <a:latin typeface="+mn-ea"/>
              </a:rPr>
              <a:t>입찰 구비서류</a:t>
            </a:r>
          </a:p>
          <a:p>
            <a:r>
              <a:rPr lang="ko-KR" altLang="en-US" sz="700" dirty="0">
                <a:solidFill>
                  <a:srgbClr val="000000"/>
                </a:solidFill>
                <a:latin typeface="+mn-ea"/>
              </a:rPr>
              <a:t>  가</a:t>
            </a:r>
            <a:r>
              <a:rPr lang="en-US" altLang="ko-KR" sz="700" dirty="0">
                <a:solidFill>
                  <a:srgbClr val="000000"/>
                </a:solidFill>
                <a:latin typeface="+mn-ea"/>
              </a:rPr>
              <a:t>. </a:t>
            </a:r>
            <a:r>
              <a:rPr lang="ko-KR" altLang="en-US" sz="700" dirty="0" err="1">
                <a:solidFill>
                  <a:srgbClr val="000000"/>
                </a:solidFill>
                <a:latin typeface="+mn-ea"/>
              </a:rPr>
              <a:t>입찰등록시</a:t>
            </a:r>
            <a:r>
              <a:rPr lang="ko-KR" altLang="en-US" sz="700" dirty="0">
                <a:solidFill>
                  <a:srgbClr val="000000"/>
                </a:solidFill>
                <a:latin typeface="+mn-ea"/>
              </a:rPr>
              <a:t> 제출서류</a:t>
            </a:r>
          </a:p>
          <a:p>
            <a:r>
              <a:rPr lang="en-US" altLang="ko-KR" sz="700" dirty="0">
                <a:solidFill>
                  <a:srgbClr val="000000"/>
                </a:solidFill>
                <a:latin typeface="+mn-ea"/>
              </a:rPr>
              <a:t>    - </a:t>
            </a:r>
            <a:r>
              <a:rPr lang="ko-KR" altLang="en-US" sz="700" dirty="0">
                <a:solidFill>
                  <a:srgbClr val="000000"/>
                </a:solidFill>
                <a:latin typeface="+mn-ea"/>
              </a:rPr>
              <a:t>해외업체 위임장</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공급자증명서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제작자 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계약특수조건</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서약서</a:t>
            </a:r>
          </a:p>
        </p:txBody>
      </p:sp>
      <p:sp>
        <p:nvSpPr>
          <p:cNvPr id="96" name="TextBox 95">
            <a:extLst>
              <a:ext uri="{FF2B5EF4-FFF2-40B4-BE49-F238E27FC236}">
                <a16:creationId xmlns:a16="http://schemas.microsoft.com/office/drawing/2014/main" id="{FFC49AEA-2A8F-250C-A86A-A7751D9706C3}"/>
              </a:ext>
            </a:extLst>
          </p:cNvPr>
          <p:cNvSpPr txBox="1"/>
          <p:nvPr/>
        </p:nvSpPr>
        <p:spPr>
          <a:xfrm>
            <a:off x="3914777" y="3707258"/>
            <a:ext cx="2473940" cy="538609"/>
          </a:xfrm>
          <a:prstGeom prst="rect">
            <a:avLst/>
          </a:prstGeom>
          <a:noFill/>
        </p:spPr>
        <p:txBody>
          <a:bodyPr wrap="square" lIns="0" tIns="0" rIns="0" bIns="0" rtlCol="0">
            <a:spAutoFit/>
          </a:bodyPr>
          <a:lstStyle/>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5733" y="49815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8" name="TextBox 97">
            <a:extLst>
              <a:ext uri="{FF2B5EF4-FFF2-40B4-BE49-F238E27FC236}">
                <a16:creationId xmlns:a16="http://schemas.microsoft.com/office/drawing/2014/main" id="{FFC49AEA-2A8F-250C-A86A-A7751D9706C3}"/>
              </a:ext>
            </a:extLst>
          </p:cNvPr>
          <p:cNvSpPr txBox="1"/>
          <p:nvPr/>
        </p:nvSpPr>
        <p:spPr>
          <a:xfrm>
            <a:off x="3914777" y="4454294"/>
            <a:ext cx="2473940" cy="430887"/>
          </a:xfrm>
          <a:prstGeom prst="rect">
            <a:avLst/>
          </a:prstGeom>
          <a:noFill/>
        </p:spPr>
        <p:txBody>
          <a:bodyPr wrap="square" lIns="0" tIns="0" rIns="0" bIns="0" rtlCol="0">
            <a:spAutoFit/>
          </a:bodyPr>
          <a:lstStyle/>
          <a:p>
            <a:r>
              <a:rPr lang="en-US" altLang="ko-KR" sz="700" dirty="0">
                <a:solidFill>
                  <a:srgbClr val="0070C0"/>
                </a:solidFill>
                <a:latin typeface="+mn-ea"/>
              </a:rPr>
              <a:t>※ </a:t>
            </a:r>
            <a:r>
              <a:rPr lang="ko-KR" altLang="en-US" sz="700" dirty="0">
                <a:solidFill>
                  <a:srgbClr val="0070C0"/>
                </a:solidFill>
                <a:latin typeface="+mn-ea"/>
              </a:rPr>
              <a:t>위 제출된 서류에 만약 이상이 있을 시에는 본 입찰 건을 무효 처리 하여도 이의가 없음을 확인합니다</a:t>
            </a:r>
            <a:r>
              <a:rPr lang="en-US" altLang="ko-KR" sz="700" dirty="0">
                <a:solidFill>
                  <a:srgbClr val="0070C0"/>
                </a:solidFill>
                <a:latin typeface="+mn-ea"/>
              </a:rPr>
              <a:t>.</a:t>
            </a:r>
          </a:p>
          <a:p>
            <a:r>
              <a:rPr lang="en-US" altLang="ko-KR" sz="700" dirty="0">
                <a:solidFill>
                  <a:srgbClr val="FF0000"/>
                </a:solidFill>
                <a:latin typeface="+mn-ea"/>
              </a:rPr>
              <a:t>※ </a:t>
            </a:r>
            <a:r>
              <a:rPr lang="ko-KR" altLang="en-US" sz="700" dirty="0">
                <a:solidFill>
                  <a:srgbClr val="FF0000"/>
                </a:solidFill>
                <a:latin typeface="+mn-ea"/>
              </a:rPr>
              <a:t>입찰 참가신청서 작성 후 입찰 담당관의 심사를 받으셔야 입찰서제출이 가능합니다</a:t>
            </a:r>
            <a:r>
              <a:rPr lang="en-US" altLang="ko-KR" sz="700" dirty="0">
                <a:solidFill>
                  <a:srgbClr val="FF0000"/>
                </a:solidFill>
                <a:latin typeface="+mn-ea"/>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43440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모서리가 둥근 직사각형 99"/>
          <p:cNvSpPr/>
          <p:nvPr/>
        </p:nvSpPr>
        <p:spPr>
          <a:xfrm>
            <a:off x="710315" y="399236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4066883"/>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412074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4" name="모서리가 둥근 직사각형 103"/>
          <p:cNvSpPr/>
          <p:nvPr/>
        </p:nvSpPr>
        <p:spPr>
          <a:xfrm>
            <a:off x="710315" y="439904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47356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52743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2973049" y="4503849"/>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31" name="사각형: 둥근 모서리 15">
            <a:extLst>
              <a:ext uri="{FF2B5EF4-FFF2-40B4-BE49-F238E27FC236}">
                <a16:creationId xmlns:a16="http://schemas.microsoft.com/office/drawing/2014/main" id="{E2B61CFB-AD16-68D0-8752-50D9C5E01971}"/>
              </a:ext>
            </a:extLst>
          </p:cNvPr>
          <p:cNvSpPr/>
          <p:nvPr/>
        </p:nvSpPr>
        <p:spPr>
          <a:xfrm>
            <a:off x="2973049" y="408705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grpSp>
        <p:nvGrpSpPr>
          <p:cNvPr id="3" name="그룹 2"/>
          <p:cNvGrpSpPr/>
          <p:nvPr/>
        </p:nvGrpSpPr>
        <p:grpSpPr>
          <a:xfrm>
            <a:off x="3838523" y="2163124"/>
            <a:ext cx="2626449" cy="254730"/>
            <a:chOff x="3859687" y="2163124"/>
            <a:chExt cx="2626449" cy="254730"/>
          </a:xfrm>
        </p:grpSpPr>
        <p:cxnSp>
          <p:nvCxnSpPr>
            <p:cNvPr id="132" name="직선 연결선 131">
              <a:extLst>
                <a:ext uri="{FF2B5EF4-FFF2-40B4-BE49-F238E27FC236}">
                  <a16:creationId xmlns:a16="http://schemas.microsoft.com/office/drawing/2014/main" id="{E9293055-D5CD-4B9E-7F64-64B2D2CA7A52}"/>
                </a:ext>
              </a:extLst>
            </p:cNvPr>
            <p:cNvCxnSpPr/>
            <p:nvPr/>
          </p:nvCxnSpPr>
          <p:spPr>
            <a:xfrm>
              <a:off x="3859687"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4501585"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167962"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5193039"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63283"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16200000">
                <a:off x="3931564" y="2305364"/>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6" name="TextBox 145">
              <a:extLst>
                <a:ext uri="{FF2B5EF4-FFF2-40B4-BE49-F238E27FC236}">
                  <a16:creationId xmlns:a16="http://schemas.microsoft.com/office/drawing/2014/main" id="{FFC49AEA-2A8F-250C-A86A-A7751D9706C3}"/>
                </a:ext>
              </a:extLst>
            </p:cNvPr>
            <p:cNvSpPr txBox="1"/>
            <p:nvPr/>
          </p:nvSpPr>
          <p:spPr>
            <a:xfrm>
              <a:off x="3914777"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47" name="TextBox 14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82" name="그룹 81"/>
          <p:cNvGrpSpPr/>
          <p:nvPr/>
        </p:nvGrpSpPr>
        <p:grpSpPr>
          <a:xfrm>
            <a:off x="8223250" y="569392"/>
            <a:ext cx="3365500" cy="634511"/>
            <a:chOff x="8223250" y="569392"/>
            <a:chExt cx="3365500" cy="634511"/>
          </a:xfrm>
        </p:grpSpPr>
        <p:sp>
          <p:nvSpPr>
            <p:cNvPr id="83" name="직사각형 82"/>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화면 수정</a:t>
              </a:r>
              <a:endParaRPr lang="ko-KR" altLang="en-US" dirty="0"/>
            </a:p>
          </p:txBody>
        </p:sp>
        <p:sp>
          <p:nvSpPr>
            <p:cNvPr id="84" name="직사각형 83"/>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전자서명 </a:t>
              </a:r>
              <a:r>
                <a:rPr lang="en-US" altLang="ko-KR" sz="700" dirty="0" smtClean="0">
                  <a:sym typeface="Wingdings" panose="05000000000000000000" pitchFamily="2" charset="2"/>
                </a:rPr>
                <a:t> </a:t>
              </a:r>
              <a:r>
                <a:rPr lang="ko-KR" altLang="en-US" sz="700" dirty="0" smtClean="0">
                  <a:sym typeface="Wingdings" panose="05000000000000000000" pitchFamily="2" charset="2"/>
                </a:rPr>
                <a:t>신청하기 버튼 변경</a:t>
              </a:r>
              <a:endParaRPr lang="ko-KR" altLang="en-US" sz="700" dirty="0"/>
            </a:p>
          </p:txBody>
        </p:sp>
      </p:grpSp>
      <p:sp>
        <p:nvSpPr>
          <p:cNvPr id="85" name="타원 84">
            <a:extLst>
              <a:ext uri="{FF2B5EF4-FFF2-40B4-BE49-F238E27FC236}">
                <a16:creationId xmlns:a16="http://schemas.microsoft.com/office/drawing/2014/main" id="{37A7FF4F-0EAA-1463-560A-D5EC24416103}"/>
              </a:ext>
            </a:extLst>
          </p:cNvPr>
          <p:cNvSpPr/>
          <p:nvPr/>
        </p:nvSpPr>
        <p:spPr>
          <a:xfrm>
            <a:off x="3691719" y="583744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969554161"/>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447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a:t>
            </a:r>
            <a:r>
              <a:rPr lang="en-US" altLang="ko-KR" sz="900" b="1">
                <a:solidFill>
                  <a:prstClr val="black"/>
                </a:solidFill>
              </a:rPr>
              <a:t>. </a:t>
            </a:r>
            <a:r>
              <a:rPr lang="ko-KR" altLang="en-US" sz="900" b="1">
                <a:solidFill>
                  <a:prstClr val="black"/>
                </a:solidFill>
              </a:rPr>
              <a:t>공고일반</a:t>
            </a:r>
            <a:r>
              <a:rPr lang="en-US" altLang="ko-KR" sz="900" b="1">
                <a:solidFill>
                  <a:prstClr val="black"/>
                </a:solidFill>
              </a:rPr>
              <a:t> </a:t>
            </a:r>
            <a:r>
              <a:rPr lang="ko-KR" altLang="en-US" sz="900" b="1">
                <a:solidFill>
                  <a:prstClr val="black"/>
                </a:solidFill>
              </a:rPr>
              <a:t>데이터 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9512543"/>
                  </a:ext>
                </a:extLst>
              </a:tr>
              <a:tr h="0">
                <a:tc>
                  <a:txBody>
                    <a:bodyPr/>
                    <a:lstStyle/>
                    <a:p>
                      <a:pPr algn="l" fontAlgn="ctr"/>
                      <a:r>
                        <a:rPr lang="ko-KR" altLang="en-US" sz="800" b="0" i="0" u="none" strike="noStrike">
                          <a:solidFill>
                            <a:srgbClr val="000000"/>
                          </a:solidFill>
                          <a:effectLst/>
                          <a:latin typeface="+mn-ea"/>
                          <a:ea typeface="+mn-ea"/>
                        </a:rPr>
                        <a:t>입찰보증금총액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입찰보증금총액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달러금액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3795882"/>
                  </a:ext>
                </a:extLst>
              </a:tr>
            </a:tbl>
          </a:graphicData>
        </a:graphic>
      </p:graphicFrame>
      <p:sp>
        <p:nvSpPr>
          <p:cNvPr id="2" name="Text Box 73">
            <a:extLst>
              <a:ext uri="{FF2B5EF4-FFF2-40B4-BE49-F238E27FC236}">
                <a16:creationId xmlns:a16="http://schemas.microsoft.com/office/drawing/2014/main" id="{0383604A-1C6C-743B-6376-DE39CDA61C3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4" name="TextBox 3">
            <a:extLst>
              <a:ext uri="{FF2B5EF4-FFF2-40B4-BE49-F238E27FC236}">
                <a16:creationId xmlns:a16="http://schemas.microsoft.com/office/drawing/2014/main" id="{14F0C01A-D4D3-F542-732A-5EC23775E5C7}"/>
              </a:ext>
            </a:extLst>
          </p:cNvPr>
          <p:cNvSpPr txBox="1"/>
          <p:nvPr/>
        </p:nvSpPr>
        <p:spPr>
          <a:xfrm>
            <a:off x="458117" y="2145353"/>
            <a:ext cx="2169431"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sp>
        <p:nvSpPr>
          <p:cNvPr id="5" name="TextBox 4">
            <a:extLst>
              <a:ext uri="{FF2B5EF4-FFF2-40B4-BE49-F238E27FC236}">
                <a16:creationId xmlns:a16="http://schemas.microsoft.com/office/drawing/2014/main" id="{94DFA1C3-87C5-6C87-2D34-CB6EF208B31F}"/>
              </a:ext>
            </a:extLst>
          </p:cNvPr>
          <p:cNvSpPr txBox="1"/>
          <p:nvPr/>
        </p:nvSpPr>
        <p:spPr>
          <a:xfrm>
            <a:off x="458117" y="4230887"/>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dirty="0">
                <a:solidFill>
                  <a:prstClr val="black"/>
                </a:solidFill>
              </a:rPr>
              <a:t>입찰업체</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51A0A3FB-EA15-3CE5-70F2-AD3265DD9D26}"/>
              </a:ext>
            </a:extLst>
          </p:cNvPr>
          <p:cNvGraphicFramePr>
            <a:graphicFrameLocks noGrp="1"/>
          </p:cNvGraphicFramePr>
          <p:nvPr>
            <p:extLst/>
          </p:nvPr>
        </p:nvGraphicFramePr>
        <p:xfrm>
          <a:off x="452999" y="2356556"/>
          <a:ext cx="8994883" cy="155136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dirty="0">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dirty="0">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dirty="0">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dirty="0">
                          <a:solidFill>
                            <a:srgbClr val="000000"/>
                          </a:solidFill>
                          <a:effectLst/>
                          <a:latin typeface="+mn-ea"/>
                          <a:ea typeface="+mn-ea"/>
                        </a:rPr>
                        <a:t>신청업체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7" name="표 6">
            <a:extLst>
              <a:ext uri="{FF2B5EF4-FFF2-40B4-BE49-F238E27FC236}">
                <a16:creationId xmlns:a16="http://schemas.microsoft.com/office/drawing/2014/main" id="{22A2E90D-242B-C2AE-215B-F0648565EA35}"/>
              </a:ext>
            </a:extLst>
          </p:cNvPr>
          <p:cNvGraphicFramePr>
            <a:graphicFrameLocks noGrp="1"/>
          </p:cNvGraphicFramePr>
          <p:nvPr/>
        </p:nvGraphicFramePr>
        <p:xfrm>
          <a:off x="452999" y="4442090"/>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dirty="0">
                          <a:solidFill>
                            <a:srgbClr val="000000"/>
                          </a:solidFill>
                          <a:effectLst/>
                          <a:latin typeface="+mn-ea"/>
                          <a:ea typeface="+mn-ea"/>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dirty="0">
                          <a:solidFill>
                            <a:srgbClr val="000000"/>
                          </a:solidFill>
                          <a:effectLst/>
                          <a:latin typeface="+mn-ea"/>
                          <a:ea typeface="+mn-ea"/>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입찰업체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2830705944"/>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448</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833348"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보증금비면제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(dl_bizList)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3652046"/>
            <a:ext cx="4136316"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보증금면제</a:t>
            </a:r>
            <a:r>
              <a:rPr lang="en-US" altLang="ko-KR" sz="900" b="1">
                <a:solidFill>
                  <a:prstClr val="black"/>
                </a:solidFill>
              </a:rPr>
              <a:t>)</a:t>
            </a:r>
            <a:r>
              <a:rPr lang="ko-KR" altLang="en-US" sz="900" b="1">
                <a:solidFill>
                  <a:prstClr val="black"/>
                </a:solidFill>
              </a:rPr>
              <a:t> 데이터 영역 </a:t>
            </a:r>
            <a:r>
              <a:rPr lang="en-US" altLang="ko-KR" sz="900" b="1">
                <a:solidFill>
                  <a:prstClr val="black"/>
                </a:solidFill>
              </a:rPr>
              <a:t>(dl_bizExmptnList)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37696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dirty="0" err="1">
                          <a:solidFill>
                            <a:srgbClr val="000000"/>
                          </a:solidFill>
                          <a:effectLst/>
                          <a:latin typeface="+mn-ea"/>
                          <a:ea typeface="+mn-ea"/>
                        </a:rPr>
                        <a:t>입찰품목수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dirty="0">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17849"/>
                  </a:ext>
                </a:extLst>
              </a:tr>
              <a:tr h="0">
                <a:tc>
                  <a:txBody>
                    <a:bodyPr/>
                    <a:lstStyle/>
                    <a:p>
                      <a:pPr algn="l" fontAlgn="ctr"/>
                      <a:r>
                        <a:rPr lang="ko-KR" altLang="en-US" sz="800" b="0" i="0" u="none" strike="noStrike" dirty="0">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dirty="0">
                          <a:solidFill>
                            <a:srgbClr val="000000"/>
                          </a:solidFill>
                          <a:effectLst/>
                          <a:latin typeface="+mn-ea"/>
                          <a:ea typeface="+mn-ea"/>
                        </a:rPr>
                        <a:t>입찰보증금</a:t>
                      </a:r>
                      <a:r>
                        <a:rPr lang="en-US" altLang="ko-KR" sz="800" b="0" i="0" u="none" strike="noStrike" dirty="0">
                          <a:solidFill>
                            <a:srgbClr val="000000"/>
                          </a:solidFill>
                          <a:effectLst/>
                          <a:latin typeface="+mn-ea"/>
                          <a:ea typeface="+mn-ea"/>
                        </a:rPr>
                        <a:t>(</a:t>
                      </a:r>
                      <a:r>
                        <a:rPr lang="ko-KR" altLang="en-US" sz="800" b="0" i="0" u="none" strike="noStrike" dirty="0" err="1">
                          <a:solidFill>
                            <a:srgbClr val="000000"/>
                          </a:solidFill>
                          <a:effectLst/>
                          <a:latin typeface="+mn-ea"/>
                          <a:ea typeface="+mn-ea"/>
                        </a:rPr>
                        <a:t>확인입력</a:t>
                      </a:r>
                      <a:r>
                        <a:rPr lang="en-US" altLang="ko-KR" sz="800" b="0" i="0" u="none" strike="noStrike" dirty="0">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dirty="0">
                          <a:solidFill>
                            <a:srgbClr val="000000"/>
                          </a:solidFill>
                          <a:effectLst/>
                          <a:latin typeface="+mn-ea"/>
                          <a:ea typeface="+mn-ea"/>
                        </a:rPr>
                        <a:t>보증금납부방법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grntePayMth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보증금납부방법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a:t>
                      </a:r>
                      <a:r>
                        <a:rPr lang="ko-KR" altLang="en-US" sz="800">
                          <a:latin typeface="+mn-ea"/>
                          <a:ea typeface="+mn-ea"/>
                        </a:rPr>
                        <a:t>보증보험</a:t>
                      </a:r>
                      <a:r>
                        <a:rPr lang="en-US" altLang="ko-KR" sz="800">
                          <a:latin typeface="+mn-ea"/>
                          <a:ea typeface="+mn-ea"/>
                        </a:rPr>
                        <a:t>, </a:t>
                      </a:r>
                      <a:r>
                        <a:rPr lang="ko-KR" altLang="en-US" sz="800">
                          <a:latin typeface="+mn-ea"/>
                          <a:ea typeface="+mn-ea"/>
                        </a:rPr>
                        <a:t>전자보증서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보증금증권번호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보증금증권번호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보증금납부방법이 </a:t>
                      </a:r>
                      <a:r>
                        <a:rPr lang="en-US" altLang="ko-KR" sz="800">
                          <a:latin typeface="+mn-ea"/>
                          <a:ea typeface="+mn-ea"/>
                        </a:rPr>
                        <a:t>‘</a:t>
                      </a:r>
                      <a:r>
                        <a:rPr lang="ko-KR" altLang="en-US" sz="800">
                          <a:latin typeface="+mn-ea"/>
                          <a:ea typeface="+mn-ea"/>
                        </a:rPr>
                        <a:t>전자보증서</a:t>
                      </a:r>
                      <a:r>
                        <a:rPr lang="en-US" altLang="ko-KR" sz="800">
                          <a:latin typeface="+mn-ea"/>
                          <a:ea typeface="+mn-ea"/>
                        </a:rPr>
                        <a:t>’</a:t>
                      </a:r>
                      <a:r>
                        <a:rPr lang="ko-KR" altLang="en-US" sz="800">
                          <a:latin typeface="+mn-ea"/>
                          <a:ea typeface="+mn-ea"/>
                        </a:rPr>
                        <a:t>인 경우</a:t>
                      </a:r>
                      <a:r>
                        <a:rPr lang="en-US" altLang="ko-KR" sz="800">
                          <a:latin typeface="+mn-ea"/>
                          <a:ea typeface="+mn-ea"/>
                        </a:rPr>
                        <a:t>, </a:t>
                      </a:r>
                      <a:r>
                        <a:rPr lang="ko-KR" altLang="en-US" sz="800">
                          <a:latin typeface="+mn-ea"/>
                          <a:ea typeface="+mn-ea"/>
                        </a:rPr>
                        <a:t>전자보증서의 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algn="l" fontAlgn="ctr"/>
                      <a:r>
                        <a:rPr lang="ko-KR" altLang="en-US" sz="800" b="0" i="0" u="none" strike="noStrike" dirty="0" err="1">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보증금납부방법이 </a:t>
                      </a:r>
                      <a:r>
                        <a:rPr lang="en-US" altLang="ko-KR" sz="800">
                          <a:latin typeface="+mn-ea"/>
                          <a:ea typeface="+mn-ea"/>
                        </a:rPr>
                        <a:t>‘</a:t>
                      </a:r>
                      <a:r>
                        <a:rPr lang="ko-KR" altLang="en-US" sz="800">
                          <a:latin typeface="+mn-ea"/>
                          <a:ea typeface="+mn-ea"/>
                        </a:rPr>
                        <a:t>전자보증서</a:t>
                      </a:r>
                      <a:r>
                        <a:rPr lang="en-US" altLang="ko-KR" sz="800">
                          <a:latin typeface="+mn-ea"/>
                          <a:ea typeface="+mn-ea"/>
                        </a:rPr>
                        <a:t>’</a:t>
                      </a:r>
                      <a:r>
                        <a:rPr lang="ko-KR" altLang="en-US" sz="800">
                          <a:latin typeface="+mn-ea"/>
                          <a:ea typeface="+mn-ea"/>
                        </a:rPr>
                        <a:t>인 경우</a:t>
                      </a:r>
                      <a:r>
                        <a:rPr lang="en-US" altLang="ko-KR" sz="800">
                          <a:latin typeface="+mn-ea"/>
                          <a:ea typeface="+mn-ea"/>
                        </a:rPr>
                        <a:t>, </a:t>
                      </a:r>
                      <a:r>
                        <a:rPr lang="ko-KR" altLang="en-US" sz="800">
                          <a:latin typeface="+mn-ea"/>
                          <a:ea typeface="+mn-ea"/>
                        </a:rPr>
                        <a:t>전자보증서의 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6925270"/>
                  </a:ext>
                </a:extLst>
              </a:tr>
              <a:tr h="0">
                <a:tc>
                  <a:txBody>
                    <a:bodyPr/>
                    <a:lstStyle/>
                    <a:p>
                      <a:pPr algn="l" fontAlgn="ctr"/>
                      <a:r>
                        <a:rPr lang="ko-KR" altLang="en-US" sz="800" b="0" i="0" u="none" strike="noStrike" dirty="0">
                          <a:solidFill>
                            <a:srgbClr val="000000"/>
                          </a:solidFill>
                          <a:effectLst/>
                          <a:latin typeface="+mn-ea"/>
                          <a:ea typeface="+mn-ea"/>
                        </a:rPr>
                        <a:t>입찰보증금납부서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grntePyslDocNo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입찰보증금납부서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6281910"/>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3863249"/>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a:solidFill>
                            <a:srgbClr val="000000"/>
                          </a:solidFill>
                          <a:effectLst/>
                          <a:latin typeface="+mn-ea"/>
                          <a:ea typeface="+mn-ea"/>
                        </a:rPr>
                        <a:t>입찰품목수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입찰보증금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a:solidFill>
                            <a:srgbClr val="000000"/>
                          </a:solidFill>
                          <a:effectLst/>
                          <a:latin typeface="+mn-ea"/>
                          <a:ea typeface="+mn-ea"/>
                        </a:rPr>
                        <a:t>입찰보증금</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확인입력</a:t>
                      </a:r>
                      <a:r>
                        <a:rPr lang="en-US" altLang="ko-KR" sz="800" b="0" i="0" u="none" strike="noStrike">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연대보증서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gurnAgreDocNo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연대보증서 파일명</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지급각서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giveWrtprmDocNo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지급각서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Text Box 73">
            <a:extLst>
              <a:ext uri="{FF2B5EF4-FFF2-40B4-BE49-F238E27FC236}">
                <a16:creationId xmlns:a16="http://schemas.microsoft.com/office/drawing/2014/main" id="{267A0A7B-A28B-1EE4-BC50-81D0FA27FC9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7154726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449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(3/3)</a:t>
            </a:r>
            <a:endParaRPr lang="ko-KR" altLang="en-US" sz="1000" b="1" dirty="0">
              <a:solidFill>
                <a:prstClr val="black"/>
              </a:solidFill>
            </a:endParaRPr>
          </a:p>
        </p:txBody>
      </p:sp>
      <p:sp>
        <p:nvSpPr>
          <p:cNvPr id="2" name="Text Box 73">
            <a:extLst>
              <a:ext uri="{FF2B5EF4-FFF2-40B4-BE49-F238E27FC236}">
                <a16:creationId xmlns:a16="http://schemas.microsoft.com/office/drawing/2014/main" id="{35260BFB-837F-4E04-16E1-26ACA0B60E6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4" name="TextBox 3">
            <a:extLst>
              <a:ext uri="{FF2B5EF4-FFF2-40B4-BE49-F238E27FC236}">
                <a16:creationId xmlns:a16="http://schemas.microsoft.com/office/drawing/2014/main" id="{3F675825-BD2C-2618-2FC5-F703DB5C35B2}"/>
              </a:ext>
            </a:extLst>
          </p:cNvPr>
          <p:cNvSpPr txBox="1"/>
          <p:nvPr/>
        </p:nvSpPr>
        <p:spPr>
          <a:xfrm>
            <a:off x="452999" y="796115"/>
            <a:ext cx="2094090" cy="211203"/>
          </a:xfrm>
          <a:prstGeom prst="rect">
            <a:avLst/>
          </a:prstGeom>
          <a:noFill/>
        </p:spPr>
        <p:txBody>
          <a:bodyPr wrap="none" lIns="36000" tIns="36000" rIns="36000" bIns="36000" rtlCol="0">
            <a:spAutoFit/>
          </a:bodyPr>
          <a:lstStyle/>
          <a:p>
            <a:r>
              <a:rPr lang="en-US" altLang="ko-KR" sz="900" b="1">
                <a:solidFill>
                  <a:prstClr val="black"/>
                </a:solidFill>
              </a:rPr>
              <a:t>1.6. </a:t>
            </a:r>
            <a:r>
              <a:rPr lang="ko-KR" altLang="en-US" sz="900" b="1">
                <a:solidFill>
                  <a:prstClr val="black"/>
                </a:solidFill>
              </a:rPr>
              <a:t>첨부서류</a:t>
            </a:r>
            <a:r>
              <a:rPr lang="en-US" altLang="ko-KR"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3C080D70-70E8-E937-F1C3-F23B73E73650}"/>
              </a:ext>
            </a:extLst>
          </p:cNvPr>
          <p:cNvGraphicFramePr>
            <a:graphicFrameLocks noGrp="1"/>
          </p:cNvGraphicFramePr>
          <p:nvPr/>
        </p:nvGraphicFramePr>
        <p:xfrm>
          <a:off x="452999" y="1007318"/>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제출해야할</a:t>
                      </a:r>
                      <a:r>
                        <a:rPr lang="ko-KR" altLang="en-US" sz="800" b="0" i="0" u="none" strike="noStrike" dirty="0">
                          <a:solidFill>
                            <a:srgbClr val="000000"/>
                          </a:solidFill>
                          <a:effectLst/>
                          <a:latin typeface="+mn-ea"/>
                          <a:ea typeface="+mn-ea"/>
                        </a:rPr>
                        <a:t> 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150573035"/>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450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26" name="Text Box 73">
            <a:extLst>
              <a:ext uri="{FF2B5EF4-FFF2-40B4-BE49-F238E27FC236}">
                <a16:creationId xmlns:a16="http://schemas.microsoft.com/office/drawing/2014/main" id="{2AAB1026-6B50-DBEE-D4D1-ED82E13491C2}"/>
              </a:ext>
            </a:extLst>
          </p:cNvPr>
          <p:cNvSpPr txBox="1">
            <a:spLocks noChangeArrowheads="1"/>
          </p:cNvSpPr>
          <p:nvPr/>
        </p:nvSpPr>
        <p:spPr bwMode="auto">
          <a:xfrm>
            <a:off x="7740000" y="862324"/>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a:t>
            </a:r>
          </a:p>
        </p:txBody>
      </p:sp>
      <p:graphicFrame>
        <p:nvGraphicFramePr>
          <p:cNvPr id="4" name="표 3">
            <a:extLst>
              <a:ext uri="{FF2B5EF4-FFF2-40B4-BE49-F238E27FC236}">
                <a16:creationId xmlns:a16="http://schemas.microsoft.com/office/drawing/2014/main" id="{89E1827E-1988-380A-F9F3-3955A79B0FE9}"/>
              </a:ext>
            </a:extLst>
          </p:cNvPr>
          <p:cNvGraphicFramePr>
            <a:graphicFrameLocks noGrp="1"/>
          </p:cNvGraphicFramePr>
          <p:nvPr>
            <p:extLst/>
          </p:nvPr>
        </p:nvGraphicFramePr>
        <p:xfrm>
          <a:off x="452291" y="799547"/>
          <a:ext cx="8995591" cy="1529280"/>
        </p:xfrm>
        <a:graphic>
          <a:graphicData uri="http://schemas.openxmlformats.org/drawingml/2006/table">
            <a:tbl>
              <a:tblPr>
                <a:tableStyleId>{616DA210-FB5B-4158-B5E0-FEB733F419BA}</a:tableStyleId>
              </a:tblPr>
              <a:tblGrid>
                <a:gridCol w="1538434">
                  <a:extLst>
                    <a:ext uri="{9D8B030D-6E8A-4147-A177-3AD203B41FA5}">
                      <a16:colId xmlns:a16="http://schemas.microsoft.com/office/drawing/2014/main" val="20000"/>
                    </a:ext>
                  </a:extLst>
                </a:gridCol>
                <a:gridCol w="1428750">
                  <a:extLst>
                    <a:ext uri="{9D8B030D-6E8A-4147-A177-3AD203B41FA5}">
                      <a16:colId xmlns:a16="http://schemas.microsoft.com/office/drawing/2014/main" val="3103963203"/>
                    </a:ext>
                  </a:extLst>
                </a:gridCol>
                <a:gridCol w="3867150">
                  <a:extLst>
                    <a:ext uri="{9D8B030D-6E8A-4147-A177-3AD203B41FA5}">
                      <a16:colId xmlns:a16="http://schemas.microsoft.com/office/drawing/2014/main" val="20001"/>
                    </a:ext>
                  </a:extLst>
                </a:gridCol>
                <a:gridCol w="2161257">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입찰참가사업정보 및 업체정보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입찰참가사업목록조회</a:t>
                      </a:r>
                      <a:r>
                        <a:rPr lang="en-US" altLang="ko-KR" sz="800">
                          <a:latin typeface="+mn-ea"/>
                          <a:ea typeface="+mn-ea"/>
                        </a:rPr>
                        <a:t>,</a:t>
                      </a:r>
                      <a:r>
                        <a:rPr lang="ko-KR" altLang="en-US" sz="800">
                          <a:latin typeface="+mn-ea"/>
                          <a:ea typeface="+mn-ea"/>
                        </a:rPr>
                        <a:t> 업체정보조회</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입찰보증금구분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scnwin.sbx_depositType_onchange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입찰보증금구분값에 따라 입찰참가사업 및 입찰보증금 데이터 영역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4958856"/>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보증금납부방법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scnwin.sbx_depositPaymentType_onchange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보증금납부방법이 </a:t>
                      </a:r>
                      <a:r>
                        <a:rPr lang="en-US" altLang="ko-KR" sz="800">
                          <a:latin typeface="+mn-ea"/>
                          <a:ea typeface="+mn-ea"/>
                        </a:rPr>
                        <a:t>‘</a:t>
                      </a:r>
                      <a:r>
                        <a:rPr lang="ko-KR" altLang="en-US" sz="800">
                          <a:latin typeface="+mn-ea"/>
                          <a:ea typeface="+mn-ea"/>
                        </a:rPr>
                        <a:t>전자보증서</a:t>
                      </a:r>
                      <a:r>
                        <a:rPr lang="en-US" altLang="ko-KR" sz="800">
                          <a:latin typeface="+mn-ea"/>
                          <a:ea typeface="+mn-ea"/>
                        </a:rPr>
                        <a:t>’</a:t>
                      </a:r>
                      <a:r>
                        <a:rPr lang="ko-KR" altLang="en-US" sz="800">
                          <a:latin typeface="+mn-ea"/>
                          <a:ea typeface="+mn-ea"/>
                        </a:rPr>
                        <a:t>인 경우</a:t>
                      </a:r>
                      <a:r>
                        <a:rPr lang="en-US" altLang="ko-KR" sz="800">
                          <a:latin typeface="+mn-ea"/>
                          <a:ea typeface="+mn-ea"/>
                        </a:rPr>
                        <a:t>, </a:t>
                      </a:r>
                      <a:r>
                        <a:rPr lang="ko-KR" altLang="en-US" sz="800">
                          <a:latin typeface="+mn-ea"/>
                          <a:ea typeface="+mn-ea"/>
                        </a:rPr>
                        <a:t>보증금증권번호</a:t>
                      </a:r>
                      <a:r>
                        <a:rPr lang="en-US" altLang="ko-KR" sz="800">
                          <a:latin typeface="+mn-ea"/>
                          <a:ea typeface="+mn-ea"/>
                        </a:rPr>
                        <a:t>/</a:t>
                      </a:r>
                      <a:r>
                        <a:rPr lang="ko-KR" altLang="en-US" sz="800">
                          <a:latin typeface="+mn-ea"/>
                          <a:ea typeface="+mn-ea"/>
                        </a:rPr>
                        <a:t>보증기관명 입력 비활성화</a:t>
                      </a:r>
                      <a:r>
                        <a:rPr lang="en-US" altLang="ko-KR" sz="800">
                          <a:latin typeface="+mn-ea"/>
                          <a:ea typeface="+mn-ea"/>
                        </a:rPr>
                        <a:t>. </a:t>
                      </a:r>
                      <a:r>
                        <a:rPr lang="ko-KR" altLang="en-US" sz="800">
                          <a:latin typeface="+mn-ea"/>
                          <a:ea typeface="+mn-ea"/>
                        </a:rPr>
                        <a:t>보증서선택 버튼 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881698"/>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보증서선택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scnwin.btn_openBond_onclick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입찰보증서선택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tabLst>
                          <a:tab pos="88900" algn="l"/>
                        </a:tabLst>
                      </a:pPr>
                      <a:r>
                        <a:rPr lang="en-US" altLang="ko-KR" sz="800" dirty="0">
                          <a:latin typeface="+mn-ea"/>
                          <a:ea typeface="+mn-ea"/>
                        </a:rPr>
                        <a:t>UI-BD-04-P73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8940457"/>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신청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scwin.btn_submit_onclick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입찰참가신청서를 등록</a:t>
                      </a:r>
                      <a:r>
                        <a:rPr lang="en-US" altLang="ko-KR" sz="800">
                          <a:latin typeface="+mn-ea"/>
                          <a:ea typeface="+mn-ea"/>
                        </a:rPr>
                        <a:t>. </a:t>
                      </a:r>
                      <a:r>
                        <a:rPr lang="ko-KR" altLang="en-US" sz="800">
                          <a:latin typeface="+mn-ea"/>
                          <a:ea typeface="+mn-ea"/>
                        </a:rPr>
                        <a:t>모의입찰 상태인 경우</a:t>
                      </a:r>
                      <a:r>
                        <a:rPr lang="en-US" altLang="ko-KR" sz="800">
                          <a:latin typeface="+mn-ea"/>
                          <a:ea typeface="+mn-ea"/>
                        </a:rPr>
                        <a:t>, </a:t>
                      </a:r>
                      <a:r>
                        <a:rPr lang="ko-KR" altLang="en-US" sz="800">
                          <a:latin typeface="+mn-ea"/>
                          <a:ea typeface="+mn-ea"/>
                        </a:rPr>
                        <a:t>모의입찰참가신청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r>
                        <a:rPr lang="ko-KR" altLang="en-US" sz="800" dirty="0">
                          <a:latin typeface="+mn-ea"/>
                          <a:ea typeface="+mn-ea"/>
                        </a:rPr>
                        <a:t>입찰참가신청</a:t>
                      </a:r>
                      <a:r>
                        <a:rPr lang="en-US" altLang="ko-KR" sz="800" dirty="0">
                          <a:latin typeface="+mn-ea"/>
                          <a:ea typeface="+mn-ea"/>
                        </a:rPr>
                        <a:t>,</a:t>
                      </a:r>
                      <a:r>
                        <a:rPr lang="ko-KR" altLang="en-US" sz="800" dirty="0">
                          <a:latin typeface="+mn-ea"/>
                          <a:ea typeface="+mn-ea"/>
                        </a:rPr>
                        <a:t> 모의입찰참가신청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5799267"/>
                  </a:ext>
                </a:extLst>
              </a:tr>
            </a:tbl>
          </a:graphicData>
        </a:graphic>
      </p:graphicFrame>
      <p:sp>
        <p:nvSpPr>
          <p:cNvPr id="2" name="Text Box 73">
            <a:extLst>
              <a:ext uri="{FF2B5EF4-FFF2-40B4-BE49-F238E27FC236}">
                <a16:creationId xmlns:a16="http://schemas.microsoft.com/office/drawing/2014/main" id="{4EA101DA-42E2-F567-1DAF-00FB22A4AF3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57110267"/>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입찰보증서</a:t>
            </a:r>
            <a:r>
              <a:rPr lang="ko-KR" altLang="en-US" dirty="0"/>
              <a:t> 데이터 </a:t>
            </a:r>
            <a:r>
              <a:rPr lang="ko-KR" altLang="en-US" dirty="0" smtClean="0"/>
              <a:t>영역</a:t>
            </a:r>
            <a:r>
              <a:rPr lang="en-US" altLang="ko-KR" dirty="0" smtClean="0"/>
              <a:t/>
            </a:r>
            <a:br>
              <a:rPr lang="en-US" altLang="ko-KR" dirty="0" smtClean="0"/>
            </a:br>
            <a:r>
              <a:rPr lang="en-US" altLang="ko-KR" dirty="0" smtClean="0"/>
              <a:t>- </a:t>
            </a:r>
            <a:r>
              <a:rPr lang="ko-KR" altLang="en-US" dirty="0" smtClean="0"/>
              <a:t>보증서 정보 보기 클릭 </a:t>
            </a:r>
            <a:r>
              <a:rPr lang="en-US" altLang="ko-KR" dirty="0"/>
              <a:t/>
            </a:r>
            <a:br>
              <a:rPr lang="en-US" altLang="ko-KR" dirty="0"/>
            </a:br>
            <a:r>
              <a:rPr lang="en-US" altLang="ko-KR" dirty="0"/>
              <a:t>  &gt; </a:t>
            </a:r>
            <a:r>
              <a:rPr lang="en-US" altLang="ko-KR" dirty="0" smtClean="0"/>
              <a:t>MUI-BD-04-P76 </a:t>
            </a:r>
            <a:r>
              <a:rPr lang="ko-KR" altLang="en-US" dirty="0" err="1" smtClean="0"/>
              <a:t>바텀시트</a:t>
            </a:r>
            <a:r>
              <a:rPr lang="en-US" altLang="ko-KR" dirty="0" smtClean="0"/>
              <a:t/>
            </a:r>
            <a:br>
              <a:rPr lang="en-US" altLang="ko-KR" dirty="0" smtClean="0"/>
            </a:br>
            <a:r>
              <a:rPr lang="en-US" altLang="ko-KR" dirty="0" smtClean="0"/>
              <a:t>- </a:t>
            </a:r>
            <a:r>
              <a:rPr lang="ko-KR" altLang="en-US" dirty="0" smtClean="0"/>
              <a:t>보증서 적용</a:t>
            </a:r>
            <a:r>
              <a:rPr lang="en-US" altLang="ko-KR" dirty="0" smtClean="0"/>
              <a:t/>
            </a:r>
            <a:br>
              <a:rPr lang="en-US" altLang="ko-KR" dirty="0" smtClean="0"/>
            </a:br>
            <a:r>
              <a:rPr lang="en-US" altLang="ko-KR" dirty="0" smtClean="0"/>
              <a:t>  &gt; </a:t>
            </a:r>
            <a:r>
              <a:rPr lang="ko-KR" altLang="en-US" dirty="0" smtClean="0"/>
              <a:t>세부 내용 보이지 않고 이전 화면에 정보 반환</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451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입찰보증서선택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smtClean="0"/>
              <a:t>입찰보증서</a:t>
            </a:r>
            <a:r>
              <a:rPr lang="ko-KR" altLang="en-US" dirty="0" smtClean="0"/>
              <a:t> 선택 </a:t>
            </a:r>
            <a:r>
              <a:rPr lang="ko-KR" altLang="en-US" dirty="0"/>
              <a:t>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 </a:t>
            </a:r>
            <a:r>
              <a:rPr lang="en-US" altLang="ko-KR" dirty="0">
                <a:latin typeface="+mn-ea"/>
              </a:rPr>
              <a:t>&gt; </a:t>
            </a:r>
            <a:r>
              <a:rPr lang="ko-KR" altLang="en-US" dirty="0">
                <a:latin typeface="+mn-ea"/>
              </a:rPr>
              <a:t>입찰보증서선택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MUI-BD-04-P75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입찰보증서</a:t>
            </a:r>
            <a:r>
              <a:rPr lang="ko-KR" altLang="en-US" sz="900" dirty="0">
                <a:latin typeface="+mn-ea"/>
              </a:rPr>
              <a:t> 선택</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269964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21" name="그룹 220"/>
          <p:cNvGrpSpPr/>
          <p:nvPr/>
        </p:nvGrpSpPr>
        <p:grpSpPr>
          <a:xfrm>
            <a:off x="675399"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cxnSp>
        <p:nvCxnSpPr>
          <p:cNvPr id="163" name="직선 연결선 162">
            <a:extLst>
              <a:ext uri="{FF2B5EF4-FFF2-40B4-BE49-F238E27FC236}">
                <a16:creationId xmlns:a16="http://schemas.microsoft.com/office/drawing/2014/main" id="{E9293055-D5CD-4B9E-7F64-64B2D2CA7A52}"/>
              </a:ext>
            </a:extLst>
          </p:cNvPr>
          <p:cNvCxnSpPr/>
          <p:nvPr/>
        </p:nvCxnSpPr>
        <p:spPr>
          <a:xfrm>
            <a:off x="675399" y="22883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1019814" y="198089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165" name="타원 164"/>
          <p:cNvSpPr/>
          <p:nvPr/>
        </p:nvSpPr>
        <p:spPr>
          <a:xfrm>
            <a:off x="783686" y="201224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6" name="그룹 165"/>
          <p:cNvGrpSpPr/>
          <p:nvPr/>
        </p:nvGrpSpPr>
        <p:grpSpPr>
          <a:xfrm>
            <a:off x="3143548" y="2094230"/>
            <a:ext cx="94010" cy="47005"/>
            <a:chOff x="6812560" y="3297172"/>
            <a:chExt cx="94010" cy="47005"/>
          </a:xfrm>
        </p:grpSpPr>
        <p:cxnSp>
          <p:nvCxnSpPr>
            <p:cNvPr id="167" name="직선 연결선 1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8" name="직선 연결선 1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9" name="직선 연결선 168">
            <a:extLst>
              <a:ext uri="{FF2B5EF4-FFF2-40B4-BE49-F238E27FC236}">
                <a16:creationId xmlns:a16="http://schemas.microsoft.com/office/drawing/2014/main" id="{E9293055-D5CD-4B9E-7F64-64B2D2CA7A52}"/>
              </a:ext>
            </a:extLst>
          </p:cNvPr>
          <p:cNvCxnSpPr/>
          <p:nvPr/>
        </p:nvCxnSpPr>
        <p:spPr>
          <a:xfrm>
            <a:off x="720490" y="41580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0490" y="26313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778515" y="2345016"/>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5</a:t>
            </a:r>
            <a:r>
              <a:rPr lang="en-US" altLang="ko-KR" sz="700" dirty="0">
                <a:latin typeface="+mn-ea"/>
              </a:rPr>
              <a:t> </a:t>
            </a:r>
            <a:r>
              <a:rPr lang="ko-KR" altLang="en-US" sz="700" dirty="0">
                <a:latin typeface="+mn-ea"/>
              </a:rPr>
              <a:t>건</a:t>
            </a:r>
          </a:p>
        </p:txBody>
      </p:sp>
      <p:grpSp>
        <p:nvGrpSpPr>
          <p:cNvPr id="177" name="그룹 176"/>
          <p:cNvGrpSpPr/>
          <p:nvPr/>
        </p:nvGrpSpPr>
        <p:grpSpPr>
          <a:xfrm>
            <a:off x="781461" y="2766254"/>
            <a:ext cx="2473257" cy="914230"/>
            <a:chOff x="781461" y="3078038"/>
            <a:chExt cx="2473257" cy="914230"/>
          </a:xfrm>
        </p:grpSpPr>
        <p:sp>
          <p:nvSpPr>
            <p:cNvPr id="179"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cs typeface="Segoe UI" panose="020B0502040204020203" pitchFamily="34" charset="0"/>
                </a:rPr>
                <a:t>보증서번호</a:t>
              </a:r>
              <a:r>
                <a:rPr lang="ko-KR" altLang="en-US" sz="700" dirty="0">
                  <a:latin typeface="맑은 고딕" panose="020B0503020000020004" pitchFamily="50" charset="-127"/>
                  <a:cs typeface="Segoe UI" panose="020B0502040204020203" pitchFamily="34" charset="0"/>
                </a:rPr>
                <a:t> </a:t>
              </a:r>
              <a:r>
                <a:rPr lang="en-US" altLang="ko-KR" sz="700" dirty="0">
                  <a:solidFill>
                    <a:srgbClr val="595959"/>
                  </a:solidFill>
                  <a:latin typeface="+mn-ea"/>
                  <a:cs typeface="Segoe UI" panose="020B0502040204020203" pitchFamily="34" charset="0"/>
                </a:rPr>
                <a:t>00800107204AA2003BJ000111500</a:t>
              </a:r>
              <a:endParaRPr lang="en-US" altLang="ko-KR" sz="700" dirty="0"/>
            </a:p>
            <a:p>
              <a:r>
                <a:rPr lang="en-US" altLang="ko-KR" sz="900" b="1" dirty="0"/>
                <a:t>00</a:t>
              </a:r>
              <a:r>
                <a:rPr lang="ko-KR" altLang="en-US" sz="900" b="1" dirty="0"/>
                <a:t>지역 전기공사</a:t>
              </a:r>
            </a:p>
          </p:txBody>
        </p:sp>
        <p:sp>
          <p:nvSpPr>
            <p:cNvPr id="180" name="TextBox 59">
              <a:extLst>
                <a:ext uri="{FF2B5EF4-FFF2-40B4-BE49-F238E27FC236}">
                  <a16:creationId xmlns:a16="http://schemas.microsoft.com/office/drawing/2014/main" id="{F77C802D-3BC8-270F-87FC-5F442BD8054D}"/>
                </a:ext>
              </a:extLst>
            </p:cNvPr>
            <p:cNvSpPr txBox="1"/>
            <p:nvPr/>
          </p:nvSpPr>
          <p:spPr>
            <a:xfrm>
              <a:off x="781461" y="3438270"/>
              <a:ext cx="546625"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개찰일자</a:t>
              </a:r>
              <a:endParaRPr lang="en-US" altLang="ko-KR" sz="600" dirty="0">
                <a:latin typeface="+mn-ea"/>
              </a:endParaRPr>
            </a:p>
            <a:p>
              <a:pPr>
                <a:lnSpc>
                  <a:spcPct val="150000"/>
                </a:lnSpc>
              </a:pPr>
              <a:r>
                <a:rPr lang="ko-KR" altLang="en-US" sz="600" dirty="0">
                  <a:latin typeface="+mn-ea"/>
                </a:rPr>
                <a:t>보증금액</a:t>
              </a:r>
              <a:endParaRPr lang="en-US" altLang="ko-KR" sz="600" dirty="0">
                <a:latin typeface="+mn-ea"/>
              </a:endParaRPr>
            </a:p>
            <a:p>
              <a:pPr>
                <a:lnSpc>
                  <a:spcPct val="150000"/>
                </a:lnSpc>
              </a:pPr>
              <a:r>
                <a:rPr lang="ko-KR" altLang="en-US" sz="600" dirty="0" err="1">
                  <a:latin typeface="+mn-ea"/>
                </a:rPr>
                <a:t>보증채권자</a:t>
              </a:r>
              <a:endParaRPr lang="en-US" altLang="ko-KR" sz="600" dirty="0">
                <a:latin typeface="+mn-ea"/>
              </a:endParaRPr>
            </a:p>
            <a:p>
              <a:pPr>
                <a:lnSpc>
                  <a:spcPct val="150000"/>
                </a:lnSpc>
              </a:pPr>
              <a:r>
                <a:rPr lang="ko-KR" altLang="en-US" sz="600" dirty="0">
                  <a:latin typeface="+mn-ea"/>
                </a:rPr>
                <a:t>계약자 </a:t>
              </a:r>
              <a:r>
                <a:rPr lang="en-US" altLang="ko-KR" sz="600" dirty="0">
                  <a:latin typeface="+mn-ea"/>
                </a:rPr>
                <a:t>/ </a:t>
              </a:r>
              <a:r>
                <a:rPr lang="ko-KR" altLang="en-US" sz="600" dirty="0">
                  <a:latin typeface="+mn-ea"/>
                </a:rPr>
                <a:t>발행자</a:t>
              </a:r>
              <a:endParaRPr lang="en-US" altLang="ko-KR" sz="600" dirty="0">
                <a:latin typeface="+mn-ea"/>
              </a:endParaRPr>
            </a:p>
          </p:txBody>
        </p:sp>
        <p:sp>
          <p:nvSpPr>
            <p:cNvPr id="183" name="TextBox 60">
              <a:extLst>
                <a:ext uri="{FF2B5EF4-FFF2-40B4-BE49-F238E27FC236}">
                  <a16:creationId xmlns:a16="http://schemas.microsoft.com/office/drawing/2014/main" id="{8F5E3227-69E6-C89F-B8C5-534226E95EA8}"/>
                </a:ext>
              </a:extLst>
            </p:cNvPr>
            <p:cNvSpPr txBox="1"/>
            <p:nvPr/>
          </p:nvSpPr>
          <p:spPr>
            <a:xfrm>
              <a:off x="2201965" y="3422881"/>
              <a:ext cx="1008289"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solidFill>
                    <a:prstClr val="black"/>
                  </a:solidFill>
                  <a:latin typeface="+mn-ea"/>
                  <a:cs typeface="Segoe UI" panose="020B0502040204020203" pitchFamily="34" charset="0"/>
                </a:rPr>
                <a:t>2003-09-08</a:t>
              </a:r>
            </a:p>
            <a:p>
              <a:pPr algn="r">
                <a:lnSpc>
                  <a:spcPct val="150000"/>
                </a:lnSpc>
              </a:pPr>
              <a:r>
                <a:rPr lang="en-US" altLang="ko-KR" sz="600" dirty="0">
                  <a:solidFill>
                    <a:prstClr val="black"/>
                  </a:solidFill>
                  <a:latin typeface="+mn-ea"/>
                  <a:cs typeface="Segoe UI" panose="020B0502040204020203" pitchFamily="34" charset="0"/>
                </a:rPr>
                <a:t>3,000,000</a:t>
              </a:r>
            </a:p>
            <a:p>
              <a:pPr lvl="0" algn="r">
                <a:lnSpc>
                  <a:spcPct val="150000"/>
                </a:lnSpc>
              </a:pPr>
              <a:r>
                <a:rPr lang="ko-KR" altLang="en-US" sz="600" dirty="0">
                  <a:solidFill>
                    <a:prstClr val="black"/>
                  </a:solidFill>
                  <a:latin typeface="+mn-ea"/>
                  <a:cs typeface="Segoe UI" panose="020B0502040204020203" pitchFamily="34" charset="0"/>
                </a:rPr>
                <a:t>제</a:t>
              </a:r>
              <a:r>
                <a:rPr lang="en-US" altLang="ko-KR" sz="600" dirty="0">
                  <a:solidFill>
                    <a:prstClr val="black"/>
                  </a:solidFill>
                  <a:latin typeface="+mn-ea"/>
                  <a:cs typeface="Segoe UI" panose="020B0502040204020203" pitchFamily="34" charset="0"/>
                </a:rPr>
                <a:t>6685</a:t>
              </a:r>
              <a:r>
                <a:rPr lang="ko-KR" altLang="en-US" sz="600" dirty="0">
                  <a:solidFill>
                    <a:prstClr val="black"/>
                  </a:solidFill>
                  <a:latin typeface="+mn-ea"/>
                  <a:cs typeface="Segoe UI" panose="020B0502040204020203" pitchFamily="34" charset="0"/>
                </a:rPr>
                <a:t>부대</a:t>
              </a:r>
              <a:endParaRPr lang="en-US" altLang="ko-KR" sz="600" dirty="0">
                <a:solidFill>
                  <a:prstClr val="black"/>
                </a:solidFill>
                <a:latin typeface="+mn-ea"/>
                <a:cs typeface="Segoe UI" panose="020B0502040204020203" pitchFamily="34" charset="0"/>
              </a:endParaRPr>
            </a:p>
            <a:p>
              <a:pPr algn="r">
                <a:lnSpc>
                  <a:spcPct val="150000"/>
                </a:lnSpc>
              </a:pPr>
              <a:r>
                <a:rPr lang="ko-KR" altLang="en-US" sz="600" dirty="0" err="1">
                  <a:solidFill>
                    <a:prstClr val="black"/>
                  </a:solidFill>
                  <a:latin typeface="+mn-ea"/>
                  <a:cs typeface="Segoe UI" panose="020B0502040204020203" pitchFamily="34" charset="0"/>
                </a:rPr>
                <a:t>금동전기</a:t>
              </a:r>
              <a:r>
                <a:rPr lang="ko-KR" altLang="en-US" sz="600" dirty="0">
                  <a:solidFill>
                    <a:prstClr val="black"/>
                  </a:solidFill>
                  <a:latin typeface="+mn-ea"/>
                  <a:cs typeface="Segoe UI" panose="020B0502040204020203" pitchFamily="34" charset="0"/>
                </a:rPr>
                <a:t> </a:t>
              </a:r>
              <a:r>
                <a:rPr lang="en-US" altLang="ko-KR" sz="600" dirty="0">
                  <a:solidFill>
                    <a:prstClr val="black"/>
                  </a:solidFill>
                  <a:latin typeface="+mn-ea"/>
                  <a:cs typeface="Segoe UI" panose="020B0502040204020203" pitchFamily="34" charset="0"/>
                </a:rPr>
                <a:t>/ </a:t>
              </a:r>
              <a:r>
                <a:rPr lang="ko-KR" altLang="en-US" sz="600" dirty="0">
                  <a:solidFill>
                    <a:prstClr val="black"/>
                  </a:solidFill>
                  <a:latin typeface="+mn-ea"/>
                  <a:cs typeface="Segoe UI" panose="020B0502040204020203" pitchFamily="34" charset="0"/>
                </a:rPr>
                <a:t>전기공사공제조합</a:t>
              </a:r>
              <a:endParaRPr lang="en-US" altLang="ko-KR" sz="600" dirty="0">
                <a:latin typeface="+mn-ea"/>
              </a:endParaRP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808106" y="3806139"/>
            <a:ext cx="1184875"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a:latin typeface="맑은 고딕"/>
                <a:ea typeface="맑은 고딕" panose="020B0503020000020004" pitchFamily="50" charset="-127"/>
              </a:rPr>
              <a:t>보증서 정보 보기</a:t>
            </a:r>
            <a:endParaRPr kumimoji="1" lang="en-US" sz="800" b="0" i="0" u="none" strike="noStrike" kern="0" cap="none" spc="0" normalizeH="0" baseline="0" noProof="0" dirty="0">
              <a:ln>
                <a:noFill/>
              </a:ln>
              <a:effectLst/>
              <a:uLnTx/>
              <a:uFillTx/>
              <a:latin typeface="맑은 고딕"/>
            </a:endParaRPr>
          </a:p>
        </p:txBody>
      </p:sp>
      <p:grpSp>
        <p:nvGrpSpPr>
          <p:cNvPr id="198" name="그룹 197">
            <a:extLst>
              <a:ext uri="{FF2B5EF4-FFF2-40B4-BE49-F238E27FC236}">
                <a16:creationId xmlns:a16="http://schemas.microsoft.com/office/drawing/2014/main" id="{22BC05EE-C648-7CA2-4CCC-6E1C1A7E9BDA}"/>
              </a:ext>
            </a:extLst>
          </p:cNvPr>
          <p:cNvGrpSpPr/>
          <p:nvPr/>
        </p:nvGrpSpPr>
        <p:grpSpPr>
          <a:xfrm>
            <a:off x="1992981" y="4876821"/>
            <a:ext cx="76863" cy="292489"/>
            <a:chOff x="3750067" y="4683795"/>
            <a:chExt cx="76863" cy="292489"/>
          </a:xfrm>
        </p:grpSpPr>
        <p:sp>
          <p:nvSpPr>
            <p:cNvPr id="205" name="타원 204">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09" name="타원 20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10" name="타원 20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43" name="사각형: 둥근 모서리 31">
            <a:extLst>
              <a:ext uri="{FF2B5EF4-FFF2-40B4-BE49-F238E27FC236}">
                <a16:creationId xmlns:a16="http://schemas.microsoft.com/office/drawing/2014/main" id="{2AC143EE-93CF-3518-F0CB-8469E98507E0}"/>
              </a:ext>
            </a:extLst>
          </p:cNvPr>
          <p:cNvSpPr/>
          <p:nvPr/>
        </p:nvSpPr>
        <p:spPr>
          <a:xfrm>
            <a:off x="2069844" y="3806139"/>
            <a:ext cx="1184875" cy="195304"/>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보증서 적용</a:t>
            </a:r>
            <a:endParaRPr kumimoji="1" lang="en-US" sz="8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2536575363"/>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452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5858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입찰보증서 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보증서번호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보증서번호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1121168"/>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보증채권자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crdtrRprsvNm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보증채권자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547445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ctrtrNm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253089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발행자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발행자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889392"/>
                  </a:ext>
                </a:extLst>
              </a:tr>
            </a:tbl>
          </a:graphicData>
        </a:graphic>
      </p:graphicFrame>
      <p:sp>
        <p:nvSpPr>
          <p:cNvPr id="4" name="TextBox 3">
            <a:extLst>
              <a:ext uri="{FF2B5EF4-FFF2-40B4-BE49-F238E27FC236}">
                <a16:creationId xmlns:a16="http://schemas.microsoft.com/office/drawing/2014/main" id="{8F127CFE-2FCF-A183-CCB0-D4DE74416F61}"/>
              </a:ext>
            </a:extLst>
          </p:cNvPr>
          <p:cNvSpPr txBox="1"/>
          <p:nvPr/>
        </p:nvSpPr>
        <p:spPr>
          <a:xfrm>
            <a:off x="458117" y="355999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0DB94E96-F279-C1D0-427D-FF5F0AE1FFC1}"/>
              </a:ext>
            </a:extLst>
          </p:cNvPr>
          <p:cNvGraphicFramePr>
            <a:graphicFrameLocks noGrp="1"/>
          </p:cNvGraphicFramePr>
          <p:nvPr/>
        </p:nvGraphicFramePr>
        <p:xfrm>
          <a:off x="452291" y="3786587"/>
          <a:ext cx="8995591" cy="13353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입찰보증서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보증서번호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scwin.btn_openWtgrDetail_onclick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보증서정보조회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UI-BD-04-P76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7242562"/>
                  </a:ext>
                </a:extLst>
              </a:tr>
              <a:tr h="0">
                <a:tc>
                  <a:txBody>
                    <a:bodyPr/>
                    <a:lstStyle/>
                    <a:p>
                      <a:r>
                        <a:rPr lang="ko-KR" altLang="en-US" sz="800" dirty="0"/>
                        <a:t>확인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scwin.btn_confirm_onclick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선택한 입찰보증서를 부모화면에 적용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2801107"/>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5464775"/>
                  </a:ext>
                </a:extLst>
              </a:tr>
            </a:tbl>
          </a:graphicData>
        </a:graphic>
      </p:graphicFrame>
      <p:sp>
        <p:nvSpPr>
          <p:cNvPr id="6" name="Text Box 73">
            <a:extLst>
              <a:ext uri="{FF2B5EF4-FFF2-40B4-BE49-F238E27FC236}">
                <a16:creationId xmlns:a16="http://schemas.microsoft.com/office/drawing/2014/main" id="{AA67BFD4-4EBA-8F9A-0E08-2EE7A865C36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30990574"/>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입찰내역목록 데이터 영역</a:t>
            </a:r>
            <a:endParaRPr lang="en-US" altLang="ko-KR" dirty="0"/>
          </a:p>
          <a:p>
            <a:pPr marL="228600" indent="-228600">
              <a:buFont typeface="+mj-lt"/>
              <a:buAutoNum type="arabicPeriod"/>
            </a:pPr>
            <a:r>
              <a:rPr lang="ko-KR" altLang="en-US" dirty="0"/>
              <a:t>보증서 적용</a:t>
            </a:r>
            <a:r>
              <a:rPr lang="en-US" altLang="ko-KR" dirty="0"/>
              <a:t>,</a:t>
            </a:r>
            <a:r>
              <a:rPr lang="ko-KR" altLang="en-US" dirty="0"/>
              <a:t> 닫기 클릭 </a:t>
            </a:r>
            <a:r>
              <a:rPr lang="ko-KR" altLang="en-US" dirty="0" smtClean="0"/>
              <a:t>이벤트</a:t>
            </a:r>
            <a:r>
              <a:rPr lang="en-US" altLang="ko-KR" dirty="0" smtClean="0"/>
              <a:t/>
            </a:r>
            <a:br>
              <a:rPr lang="en-US" altLang="ko-KR" dirty="0" smtClean="0"/>
            </a:br>
            <a:r>
              <a:rPr lang="en-US" altLang="ko-KR" dirty="0" smtClean="0"/>
              <a:t>- </a:t>
            </a:r>
            <a:r>
              <a:rPr lang="ko-KR" altLang="en-US" dirty="0" smtClean="0"/>
              <a:t>닫기 버튼</a:t>
            </a:r>
            <a:r>
              <a:rPr lang="en-US" altLang="ko-KR" dirty="0" smtClean="0"/>
              <a:t/>
            </a:r>
            <a:br>
              <a:rPr lang="en-US" altLang="ko-KR" dirty="0" smtClean="0"/>
            </a:br>
            <a:r>
              <a:rPr lang="en-US" altLang="ko-KR" dirty="0" smtClean="0"/>
              <a:t>  &gt; </a:t>
            </a:r>
            <a:r>
              <a:rPr lang="ko-KR" altLang="en-US" dirty="0" err="1" smtClean="0"/>
              <a:t>바텀시트만</a:t>
            </a:r>
            <a:r>
              <a:rPr lang="ko-KR" altLang="en-US" dirty="0" smtClean="0"/>
              <a:t> 닫음</a:t>
            </a:r>
            <a:r>
              <a:rPr lang="en-US" altLang="ko-KR" dirty="0" smtClean="0"/>
              <a:t/>
            </a:r>
            <a:br>
              <a:rPr lang="en-US" altLang="ko-KR" dirty="0" smtClean="0"/>
            </a:br>
            <a:r>
              <a:rPr lang="en-US" altLang="ko-KR" dirty="0" smtClean="0"/>
              <a:t>- </a:t>
            </a:r>
            <a:r>
              <a:rPr lang="ko-KR" altLang="en-US" dirty="0" smtClean="0"/>
              <a:t>보증서 적용 버튼</a:t>
            </a:r>
            <a:r>
              <a:rPr lang="en-US" altLang="ko-KR" dirty="0" smtClean="0"/>
              <a:t/>
            </a:r>
            <a:br>
              <a:rPr lang="en-US" altLang="ko-KR" dirty="0" smtClean="0"/>
            </a:br>
            <a:r>
              <a:rPr lang="en-US" altLang="ko-KR" dirty="0" smtClean="0"/>
              <a:t>  &gt; </a:t>
            </a:r>
            <a:r>
              <a:rPr lang="ko-KR" altLang="en-US" dirty="0" err="1" smtClean="0"/>
              <a:t>바텀시트</a:t>
            </a:r>
            <a:r>
              <a:rPr lang="en-US" altLang="ko-KR" dirty="0" smtClean="0"/>
              <a:t>, </a:t>
            </a:r>
            <a:r>
              <a:rPr lang="ko-KR" altLang="en-US" dirty="0" err="1" smtClean="0"/>
              <a:t>풀페이지</a:t>
            </a:r>
            <a:r>
              <a:rPr lang="ko-KR" altLang="en-US" dirty="0" smtClean="0"/>
              <a:t> 팝업 모두 닫음</a:t>
            </a:r>
            <a:r>
              <a:rPr lang="en-US" altLang="ko-KR" dirty="0" smtClean="0"/>
              <a:t>.</a:t>
            </a:r>
            <a:br>
              <a:rPr lang="en-US" altLang="ko-KR" dirty="0" smtClean="0"/>
            </a:br>
            <a:r>
              <a:rPr lang="en-US" altLang="ko-KR" dirty="0" smtClean="0"/>
              <a:t>  &gt; </a:t>
            </a:r>
            <a:r>
              <a:rPr lang="ko-KR" altLang="en-US" dirty="0" smtClean="0"/>
              <a:t>적용된 보증서 정보 </a:t>
            </a:r>
            <a:r>
              <a:rPr lang="en-US" altLang="ko-KR" dirty="0" smtClean="0"/>
              <a:t>MUI-BD-04-T74 </a:t>
            </a:r>
            <a:r>
              <a:rPr lang="ko-KR" altLang="en-US" dirty="0" err="1"/>
              <a:t>스탭</a:t>
            </a:r>
            <a:r>
              <a:rPr lang="en-US" altLang="ko-KR" dirty="0"/>
              <a:t>3-</a:t>
            </a:r>
            <a:r>
              <a:rPr lang="ko-KR" altLang="en-US" dirty="0" smtClean="0"/>
              <a:t>입찰보증금 표시</a:t>
            </a:r>
            <a:endParaRPr lang="ko-KR" altLang="en-US"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453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보증서정보조회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smtClean="0"/>
              <a:t>보증서 정보 조회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5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 </a:t>
            </a:r>
            <a:r>
              <a:rPr lang="en-US" altLang="ko-KR" dirty="0">
                <a:latin typeface="+mn-ea"/>
              </a:rPr>
              <a:t>&gt; </a:t>
            </a:r>
            <a:r>
              <a:rPr lang="ko-KR" altLang="en-US" dirty="0">
                <a:latin typeface="+mn-ea"/>
              </a:rPr>
              <a:t>입찰보증서선택 </a:t>
            </a:r>
            <a:r>
              <a:rPr lang="en-US" altLang="ko-KR" dirty="0">
                <a:latin typeface="+mn-ea"/>
              </a:rPr>
              <a:t>&gt; </a:t>
            </a:r>
            <a:r>
              <a:rPr lang="ko-KR" altLang="en-US" dirty="0">
                <a:latin typeface="+mn-ea"/>
              </a:rPr>
              <a:t>보증서정보조회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MUI-BD-04-P76</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입찰보증서</a:t>
            </a:r>
            <a:r>
              <a:rPr lang="ko-KR" altLang="en-US" sz="900" dirty="0">
                <a:latin typeface="+mn-ea"/>
              </a:rPr>
              <a:t> 선택</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보증서정보</a:t>
            </a:r>
            <a:r>
              <a:rPr lang="ko-KR" altLang="en-US" sz="900" dirty="0">
                <a:latin typeface="+mn-ea"/>
              </a:rPr>
              <a:t> 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보증서정보</a:t>
            </a:r>
            <a:r>
              <a:rPr lang="ko-KR" altLang="en-US" sz="900" dirty="0">
                <a:latin typeface="+mn-ea"/>
              </a:rPr>
              <a:t>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보증서 정보</a:t>
            </a:r>
          </a:p>
        </p:txBody>
      </p:sp>
      <p:sp>
        <p:nvSpPr>
          <p:cNvPr id="82" name="직사각형 81"/>
          <p:cNvSpPr/>
          <p:nvPr/>
        </p:nvSpPr>
        <p:spPr>
          <a:xfrm>
            <a:off x="703268" y="2899796"/>
            <a:ext cx="792000" cy="10828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증권번호</a:t>
            </a:r>
            <a:endParaRPr lang="ko-KR" altLang="en-US" sz="700" dirty="0">
              <a:latin typeface="+mn-ea"/>
            </a:endParaRPr>
          </a:p>
          <a:p>
            <a:pPr>
              <a:lnSpc>
                <a:spcPct val="200000"/>
              </a:lnSpc>
            </a:pPr>
            <a:r>
              <a:rPr lang="ko-KR" altLang="en-US" sz="700" dirty="0">
                <a:latin typeface="+mn-ea"/>
              </a:rPr>
              <a:t>보증금액</a:t>
            </a:r>
          </a:p>
          <a:p>
            <a:pPr>
              <a:lnSpc>
                <a:spcPct val="200000"/>
              </a:lnSpc>
            </a:pPr>
            <a:r>
              <a:rPr lang="ko-KR" altLang="en-US" sz="700" dirty="0">
                <a:latin typeface="+mn-ea"/>
              </a:rPr>
              <a:t>보증기간</a:t>
            </a:r>
          </a:p>
          <a:p>
            <a:pPr>
              <a:lnSpc>
                <a:spcPct val="200000"/>
              </a:lnSpc>
            </a:pPr>
            <a:r>
              <a:rPr lang="ko-KR" altLang="en-US" sz="700" dirty="0" err="1">
                <a:latin typeface="+mn-ea"/>
              </a:rPr>
              <a:t>보증료</a:t>
            </a:r>
            <a:endParaRPr lang="ko-KR" altLang="en-US" sz="700" dirty="0">
              <a:latin typeface="+mn-ea"/>
            </a:endParaRPr>
          </a:p>
          <a:p>
            <a:pPr>
              <a:lnSpc>
                <a:spcPct val="200000"/>
              </a:lnSpc>
            </a:pPr>
            <a:r>
              <a:rPr lang="ko-KR" altLang="en-US" sz="700" dirty="0" err="1">
                <a:latin typeface="+mn-ea"/>
              </a:rPr>
              <a:t>보증금율</a:t>
            </a:r>
            <a:endParaRPr lang="ko-KR" altLang="en-US" sz="700" dirty="0">
              <a:latin typeface="+mn-ea"/>
            </a:endParaRPr>
          </a:p>
        </p:txBody>
      </p:sp>
      <p:grpSp>
        <p:nvGrpSpPr>
          <p:cNvPr id="85" name="그룹 84"/>
          <p:cNvGrpSpPr/>
          <p:nvPr/>
        </p:nvGrpSpPr>
        <p:grpSpPr>
          <a:xfrm>
            <a:off x="701175" y="2899795"/>
            <a:ext cx="2630093" cy="1073700"/>
            <a:chOff x="701175" y="1835481"/>
            <a:chExt cx="2630093" cy="107370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1077218"/>
          </a:xfrm>
          <a:prstGeom prst="rect">
            <a:avLst/>
          </a:prstGeom>
          <a:noFill/>
        </p:spPr>
        <p:txBody>
          <a:bodyPr wrap="square" lIns="0" tIns="0" rIns="0" bIns="0" rtlCol="0">
            <a:spAutoFit/>
          </a:bodyPr>
          <a:lstStyle/>
          <a:p>
            <a:pPr>
              <a:lnSpc>
                <a:spcPct val="200000"/>
              </a:lnSpc>
            </a:pPr>
            <a:r>
              <a:rPr lang="en-US" altLang="ko-KR" sz="700" dirty="0">
                <a:latin typeface="+mn-ea"/>
              </a:rPr>
              <a:t>0010011053320031100675611100</a:t>
            </a:r>
          </a:p>
          <a:p>
            <a:pPr>
              <a:lnSpc>
                <a:spcPct val="200000"/>
              </a:lnSpc>
            </a:pPr>
            <a:r>
              <a:rPr lang="en-US" altLang="ko-KR" sz="700" dirty="0">
                <a:latin typeface="+mn-ea"/>
              </a:rPr>
              <a:t>2,700,000 </a:t>
            </a:r>
            <a:r>
              <a:rPr lang="ko-KR" altLang="en-US" sz="700" dirty="0">
                <a:latin typeface="+mn-ea"/>
              </a:rPr>
              <a:t>원</a:t>
            </a:r>
          </a:p>
          <a:p>
            <a:pPr>
              <a:lnSpc>
                <a:spcPct val="200000"/>
              </a:lnSpc>
            </a:pPr>
            <a:r>
              <a:rPr lang="en-US" altLang="ko-KR" sz="700" dirty="0">
                <a:latin typeface="+mn-ea"/>
              </a:rPr>
              <a:t>2003-09-08  </a:t>
            </a:r>
            <a:r>
              <a:rPr lang="ko-KR" altLang="en-US" sz="700" dirty="0">
                <a:latin typeface="+mn-ea"/>
              </a:rPr>
              <a:t>부터 </a:t>
            </a:r>
            <a:r>
              <a:rPr lang="en-US" altLang="ko-KR" sz="700" dirty="0">
                <a:latin typeface="+mn-ea"/>
              </a:rPr>
              <a:t>2003-10-09 </a:t>
            </a:r>
            <a:r>
              <a:rPr lang="ko-KR" altLang="en-US" sz="700" dirty="0">
                <a:latin typeface="+mn-ea"/>
              </a:rPr>
              <a:t>까지</a:t>
            </a:r>
          </a:p>
          <a:p>
            <a:pPr algn="r">
              <a:lnSpc>
                <a:spcPct val="200000"/>
              </a:lnSpc>
            </a:pPr>
            <a:r>
              <a:rPr lang="en-US" altLang="ko-KR" sz="700" dirty="0">
                <a:latin typeface="+mn-ea"/>
              </a:rPr>
              <a:t>15,000 </a:t>
            </a:r>
            <a:r>
              <a:rPr lang="ko-KR" altLang="en-US" sz="700" dirty="0">
                <a:latin typeface="+mn-ea"/>
              </a:rPr>
              <a:t>원</a:t>
            </a:r>
          </a:p>
          <a:p>
            <a:pPr algn="r">
              <a:lnSpc>
                <a:spcPct val="200000"/>
              </a:lnSpc>
            </a:pPr>
            <a:r>
              <a:rPr lang="en-US" altLang="ko-KR" sz="700" dirty="0">
                <a:latin typeface="+mn-ea"/>
              </a:rPr>
              <a:t>0 %</a:t>
            </a:r>
          </a:p>
        </p:txBody>
      </p:sp>
      <p:grpSp>
        <p:nvGrpSpPr>
          <p:cNvPr id="3" name="그룹 2"/>
          <p:cNvGrpSpPr/>
          <p:nvPr/>
        </p:nvGrpSpPr>
        <p:grpSpPr>
          <a:xfrm>
            <a:off x="3795734" y="5614711"/>
            <a:ext cx="2712027" cy="617588"/>
            <a:chOff x="3795734" y="5614711"/>
            <a:chExt cx="2712027" cy="617588"/>
          </a:xfrm>
        </p:grpSpPr>
        <p:sp>
          <p:nvSpPr>
            <p:cNvPr id="171" name="직사각형 170">
              <a:extLst>
                <a:ext uri="{FF2B5EF4-FFF2-40B4-BE49-F238E27FC236}">
                  <a16:creationId xmlns:a16="http://schemas.microsoft.com/office/drawing/2014/main" id="{F56F1743-11A0-EA94-9184-4E42C0A37F9C}"/>
                </a:ext>
              </a:extLst>
            </p:cNvPr>
            <p:cNvSpPr/>
            <p:nvPr/>
          </p:nvSpPr>
          <p:spPr>
            <a:xfrm>
              <a:off x="3795734"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4569618" y="5745391"/>
              <a:ext cx="1845838" cy="317271"/>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solidFill>
                    <a:srgbClr val="0070C0"/>
                  </a:solidFill>
                </a:rPr>
                <a:t>보증서 적용</a:t>
              </a:r>
              <a:endParaRPr kumimoji="1" lang="en-US" altLang="ko-KR" sz="1000" kern="0" dirty="0">
                <a:solidFill>
                  <a:srgbClr val="0070C0"/>
                </a:solidFill>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3893442" y="5745391"/>
              <a:ext cx="608074" cy="3172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338" name="타원 337">
            <a:extLst>
              <a:ext uri="{FF2B5EF4-FFF2-40B4-BE49-F238E27FC236}">
                <a16:creationId xmlns:a16="http://schemas.microsoft.com/office/drawing/2014/main" id="{37A7FF4F-0EAA-1463-560A-D5EC24416103}"/>
              </a:ext>
            </a:extLst>
          </p:cNvPr>
          <p:cNvSpPr/>
          <p:nvPr/>
        </p:nvSpPr>
        <p:spPr>
          <a:xfrm>
            <a:off x="3699494" y="59018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7" name="그룹 6"/>
          <p:cNvGrpSpPr/>
          <p:nvPr/>
        </p:nvGrpSpPr>
        <p:grpSpPr>
          <a:xfrm>
            <a:off x="701175" y="4872432"/>
            <a:ext cx="2630093" cy="1178996"/>
            <a:chOff x="701175" y="4672224"/>
            <a:chExt cx="2630093" cy="1178996"/>
          </a:xfrm>
        </p:grpSpPr>
        <p:sp>
          <p:nvSpPr>
            <p:cNvPr id="109" name="직사각형 108"/>
            <p:cNvSpPr/>
            <p:nvPr/>
          </p:nvSpPr>
          <p:spPr>
            <a:xfrm>
              <a:off x="703268" y="4976266"/>
              <a:ext cx="792000" cy="87495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0331" y="4976264"/>
              <a:ext cx="725552" cy="861774"/>
            </a:xfrm>
            <a:prstGeom prst="rect">
              <a:avLst/>
            </a:prstGeom>
            <a:noFill/>
          </p:spPr>
          <p:txBody>
            <a:bodyPr wrap="square" lIns="0" tIns="0" rIns="0" bIns="0" rtlCol="0">
              <a:spAutoFit/>
            </a:bodyPr>
            <a:lstStyle/>
            <a:p>
              <a:pPr>
                <a:lnSpc>
                  <a:spcPct val="200000"/>
                </a:lnSpc>
              </a:pPr>
              <a:r>
                <a:rPr lang="ko-KR" altLang="en-US" sz="700" dirty="0">
                  <a:latin typeface="+mn-ea"/>
                </a:rPr>
                <a:t>보증 계약자 상호</a:t>
              </a:r>
            </a:p>
            <a:p>
              <a:pPr>
                <a:lnSpc>
                  <a:spcPct val="200000"/>
                </a:lnSpc>
              </a:pPr>
              <a:endParaRPr lang="en-US" altLang="ko-KR" sz="700" dirty="0">
                <a:latin typeface="+mn-ea"/>
              </a:endParaRPr>
            </a:p>
            <a:p>
              <a:pPr>
                <a:lnSpc>
                  <a:spcPct val="200000"/>
                </a:lnSpc>
              </a:pPr>
              <a:r>
                <a:rPr lang="ko-KR" altLang="en-US" sz="700" dirty="0">
                  <a:latin typeface="+mn-ea"/>
                </a:rPr>
                <a:t>보증 채권자 상호</a:t>
              </a:r>
            </a:p>
            <a:p>
              <a:pPr>
                <a:lnSpc>
                  <a:spcPct val="200000"/>
                </a:lnSpc>
              </a:pPr>
              <a:endParaRPr lang="en-US" altLang="ko-KR" sz="700" dirty="0">
                <a:latin typeface="+mn-ea"/>
              </a:endParaRPr>
            </a:p>
          </p:txBody>
        </p:sp>
        <p:grpSp>
          <p:nvGrpSpPr>
            <p:cNvPr id="111" name="그룹 110"/>
            <p:cNvGrpSpPr/>
            <p:nvPr/>
          </p:nvGrpSpPr>
          <p:grpSpPr>
            <a:xfrm>
              <a:off x="701175" y="4976264"/>
              <a:ext cx="2630093" cy="858960"/>
              <a:chOff x="701175" y="1835481"/>
              <a:chExt cx="2630093" cy="858960"/>
            </a:xfrm>
          </p:grpSpPr>
          <p:cxnSp>
            <p:nvCxnSpPr>
              <p:cNvPr id="112" name="직선 연결선 1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1547180" y="497626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주</a:t>
              </a:r>
              <a:r>
                <a:rPr lang="en-US" altLang="ko-KR" sz="700" dirty="0">
                  <a:latin typeface="+mn-ea"/>
                </a:rPr>
                <a:t>) </a:t>
              </a:r>
              <a:r>
                <a:rPr lang="ko-KR" altLang="en-US" sz="700" dirty="0" err="1">
                  <a:latin typeface="+mn-ea"/>
                </a:rPr>
                <a:t>선일이이앤써사</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ko-KR" altLang="en-US" sz="700" dirty="0" smtClean="0">
                  <a:latin typeface="+mn-ea"/>
                </a:rPr>
                <a:t>제</a:t>
              </a:r>
              <a:r>
                <a:rPr lang="en-US" altLang="ko-KR" sz="700" dirty="0">
                  <a:latin typeface="+mn-ea"/>
                </a:rPr>
                <a:t>6950</a:t>
              </a:r>
              <a:r>
                <a:rPr lang="ko-KR" altLang="en-US" sz="700" dirty="0">
                  <a:latin typeface="+mn-ea"/>
                </a:rPr>
                <a:t>부대</a:t>
              </a:r>
              <a:endParaRPr lang="en-US" altLang="ko-KR" sz="700" dirty="0">
                <a:latin typeface="+mn-ea"/>
              </a:endParaRPr>
            </a:p>
            <a:p>
              <a:pPr>
                <a:lnSpc>
                  <a:spcPct val="200000"/>
                </a:lnSpc>
              </a:pPr>
              <a:r>
                <a:rPr lang="ko-KR" altLang="en-US" sz="700" dirty="0" smtClean="0">
                  <a:latin typeface="+mn-ea"/>
                </a:rPr>
                <a:t>홍길동</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762146" y="4672224"/>
              <a:ext cx="2010684" cy="215444"/>
            </a:xfrm>
            <a:prstGeom prst="rect">
              <a:avLst/>
            </a:prstGeom>
            <a:noFill/>
          </p:spPr>
          <p:txBody>
            <a:bodyPr wrap="square" lIns="0" tIns="0" rIns="0" bIns="0" rtlCol="0">
              <a:spAutoFit/>
            </a:bodyPr>
            <a:lstStyle/>
            <a:p>
              <a:pPr>
                <a:lnSpc>
                  <a:spcPct val="200000"/>
                </a:lnSpc>
              </a:pPr>
              <a:r>
                <a:rPr lang="ko-KR" altLang="en-US" sz="700" dirty="0">
                  <a:latin typeface="+mn-ea"/>
                </a:rPr>
                <a:t>보증 계약자 </a:t>
              </a:r>
              <a:r>
                <a:rPr lang="en-US" altLang="ko-KR" sz="700" dirty="0">
                  <a:latin typeface="+mn-ea"/>
                </a:rPr>
                <a:t>(</a:t>
              </a:r>
              <a:r>
                <a:rPr lang="ko-KR" altLang="en-US" sz="700" dirty="0" err="1">
                  <a:latin typeface="+mn-ea"/>
                </a:rPr>
                <a:t>피보증인</a:t>
              </a:r>
              <a:r>
                <a:rPr lang="en-US" altLang="ko-KR" sz="700" dirty="0">
                  <a:latin typeface="+mn-ea"/>
                </a:rPr>
                <a:t>) </a:t>
              </a:r>
              <a:r>
                <a:rPr lang="ko-KR" altLang="en-US" sz="700" dirty="0">
                  <a:latin typeface="+mn-ea"/>
                </a:rPr>
                <a:t>및 보증 채권자 </a:t>
              </a:r>
              <a:r>
                <a:rPr lang="en-US" altLang="ko-KR" sz="700" dirty="0">
                  <a:latin typeface="+mn-ea"/>
                </a:rPr>
                <a:t>(</a:t>
              </a:r>
              <a:r>
                <a:rPr lang="ko-KR" altLang="en-US" sz="700" dirty="0">
                  <a:latin typeface="+mn-ea"/>
                </a:rPr>
                <a:t>피보험자</a:t>
              </a:r>
              <a:r>
                <a:rPr lang="en-US" altLang="ko-KR" sz="700" dirty="0">
                  <a:latin typeface="+mn-ea"/>
                </a:rPr>
                <a:t>) </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790331" y="5635776"/>
              <a:ext cx="725552" cy="215444"/>
            </a:xfrm>
            <a:prstGeom prst="rect">
              <a:avLst/>
            </a:prstGeom>
            <a:noFill/>
          </p:spPr>
          <p:txBody>
            <a:bodyPr wrap="square" lIns="0" tIns="0" rIns="0" bIns="0" rtlCol="0">
              <a:spAutoFit/>
            </a:bodyPr>
            <a:lstStyle/>
            <a:p>
              <a:r>
                <a:rPr lang="ko-KR" altLang="en-US" sz="700" dirty="0">
                  <a:latin typeface="+mn-ea"/>
                </a:rPr>
                <a:t>보증 채권자</a:t>
              </a:r>
              <a:endParaRPr lang="en-US" altLang="ko-KR" sz="700" dirty="0">
                <a:latin typeface="+mn-ea"/>
              </a:endParaRPr>
            </a:p>
            <a:p>
              <a:r>
                <a:rPr lang="ko-KR" altLang="en-US" sz="700" dirty="0" smtClean="0">
                  <a:latin typeface="+mn-ea"/>
                </a:rPr>
                <a:t>대표자</a:t>
              </a:r>
              <a:endParaRPr lang="ko-KR" altLang="en-US" sz="700" dirty="0">
                <a:latin typeface="+mn-ea"/>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1" y="5197345"/>
              <a:ext cx="725552" cy="215444"/>
            </a:xfrm>
            <a:prstGeom prst="rect">
              <a:avLst/>
            </a:prstGeom>
            <a:noFill/>
          </p:spPr>
          <p:txBody>
            <a:bodyPr wrap="square" lIns="0" tIns="0" rIns="0" bIns="0" rtlCol="0">
              <a:spAutoFit/>
            </a:bodyPr>
            <a:lstStyle/>
            <a:p>
              <a:r>
                <a:rPr lang="ko-KR" altLang="en-US" sz="700" dirty="0">
                  <a:latin typeface="+mn-ea"/>
                </a:rPr>
                <a:t>보증 계약자</a:t>
              </a:r>
              <a:endParaRPr lang="en-US" altLang="ko-KR" sz="700" dirty="0">
                <a:latin typeface="+mn-ea"/>
              </a:endParaRPr>
            </a:p>
            <a:p>
              <a:r>
                <a:rPr lang="ko-KR" altLang="en-US" sz="700" dirty="0" smtClean="0">
                  <a:latin typeface="+mn-ea"/>
                </a:rPr>
                <a:t>대표자</a:t>
              </a:r>
              <a:endParaRPr lang="ko-KR" altLang="en-US" sz="700" dirty="0">
                <a:latin typeface="+mn-ea"/>
              </a:endParaRPr>
            </a:p>
          </p:txBody>
        </p:sp>
      </p:grpSp>
      <p:grpSp>
        <p:nvGrpSpPr>
          <p:cNvPr id="6" name="그룹 5"/>
          <p:cNvGrpSpPr/>
          <p:nvPr/>
        </p:nvGrpSpPr>
        <p:grpSpPr>
          <a:xfrm>
            <a:off x="701175" y="3972865"/>
            <a:ext cx="2631433" cy="870032"/>
            <a:chOff x="3820170" y="3024668"/>
            <a:chExt cx="2631433" cy="870032"/>
          </a:xfrm>
        </p:grpSpPr>
        <p:sp>
          <p:nvSpPr>
            <p:cNvPr id="80" name="직사각형 79"/>
            <p:cNvSpPr/>
            <p:nvPr/>
          </p:nvSpPr>
          <p:spPr>
            <a:xfrm>
              <a:off x="3820170" y="3024668"/>
              <a:ext cx="792000" cy="87003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3910666" y="3024669"/>
              <a:ext cx="725552" cy="861774"/>
            </a:xfrm>
            <a:prstGeom prst="rect">
              <a:avLst/>
            </a:prstGeom>
            <a:noFill/>
          </p:spPr>
          <p:txBody>
            <a:bodyPr wrap="square" lIns="0" tIns="0" rIns="0" bIns="0" rtlCol="0">
              <a:spAutoFit/>
            </a:bodyPr>
            <a:lstStyle/>
            <a:p>
              <a:pPr>
                <a:lnSpc>
                  <a:spcPct val="200000"/>
                </a:lnSpc>
              </a:pPr>
              <a:r>
                <a:rPr lang="ko-KR" altLang="en-US" sz="700" dirty="0">
                  <a:latin typeface="+mn-ea"/>
                </a:rPr>
                <a:t>특기사항</a:t>
              </a:r>
            </a:p>
            <a:p>
              <a:pPr>
                <a:lnSpc>
                  <a:spcPct val="200000"/>
                </a:lnSpc>
              </a:pPr>
              <a:endParaRPr lang="en-US" altLang="ko-KR" sz="700" dirty="0">
                <a:latin typeface="+mn-ea"/>
              </a:endParaRPr>
            </a:p>
            <a:p>
              <a:pPr>
                <a:lnSpc>
                  <a:spcPct val="200000"/>
                </a:lnSpc>
              </a:pPr>
              <a:endParaRPr lang="ko-KR" altLang="en-US" sz="700" dirty="0">
                <a:latin typeface="+mn-ea"/>
              </a:endParaRPr>
            </a:p>
            <a:p>
              <a:pPr>
                <a:lnSpc>
                  <a:spcPct val="200000"/>
                </a:lnSpc>
              </a:pPr>
              <a:r>
                <a:rPr lang="ko-KR" altLang="en-US" sz="700" dirty="0">
                  <a:latin typeface="+mn-ea"/>
                </a:rPr>
                <a:t>발행일자</a:t>
              </a:r>
            </a:p>
          </p:txBody>
        </p:sp>
        <p:grpSp>
          <p:nvGrpSpPr>
            <p:cNvPr id="126" name="그룹 125"/>
            <p:cNvGrpSpPr/>
            <p:nvPr/>
          </p:nvGrpSpPr>
          <p:grpSpPr>
            <a:xfrm>
              <a:off x="3821510" y="3024669"/>
              <a:ext cx="2630093" cy="870031"/>
              <a:chOff x="701175" y="1835481"/>
              <a:chExt cx="2630093" cy="870031"/>
            </a:xfrm>
          </p:grpSpPr>
          <p:cxnSp>
            <p:nvCxnSpPr>
              <p:cNvPr id="128" name="직선 연결선 12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490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7055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6" name="TextBox 135">
              <a:extLst>
                <a:ext uri="{FF2B5EF4-FFF2-40B4-BE49-F238E27FC236}">
                  <a16:creationId xmlns:a16="http://schemas.microsoft.com/office/drawing/2014/main" id="{FFC49AEA-2A8F-250C-A86A-A7751D9706C3}"/>
                </a:ext>
              </a:extLst>
            </p:cNvPr>
            <p:cNvSpPr txBox="1"/>
            <p:nvPr/>
          </p:nvSpPr>
          <p:spPr>
            <a:xfrm>
              <a:off x="4667515" y="3024669"/>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해당사항없음	</a:t>
              </a:r>
            </a:p>
            <a:p>
              <a:pPr>
                <a:lnSpc>
                  <a:spcPct val="200000"/>
                </a:lnSpc>
              </a:pPr>
              <a:endParaRPr lang="en-US" altLang="ko-KR" sz="700" dirty="0">
                <a:latin typeface="+mn-ea"/>
              </a:endParaRPr>
            </a:p>
            <a:p>
              <a:pPr>
                <a:lnSpc>
                  <a:spcPct val="200000"/>
                </a:lnSpc>
              </a:pPr>
              <a:r>
                <a:rPr lang="en-US" altLang="ko-KR" sz="700" dirty="0">
                  <a:latin typeface="+mn-ea"/>
                </a:rPr>
                <a:t>	</a:t>
              </a:r>
            </a:p>
            <a:p>
              <a:pPr>
                <a:lnSpc>
                  <a:spcPct val="200000"/>
                </a:lnSpc>
              </a:pPr>
              <a:r>
                <a:rPr lang="en-US" altLang="ko-KR" sz="700" dirty="0">
                  <a:latin typeface="+mn-ea"/>
                </a:rPr>
                <a:t>2024-12-09	</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4667515" y="3292814"/>
              <a:ext cx="1784088" cy="323165"/>
            </a:xfrm>
            <a:prstGeom prst="rect">
              <a:avLst/>
            </a:prstGeom>
            <a:noFill/>
          </p:spPr>
          <p:txBody>
            <a:bodyPr wrap="square" lIns="0" tIns="0" rIns="0" bIns="0" rtlCol="0">
              <a:spAutoFit/>
            </a:bodyPr>
            <a:lstStyle/>
            <a:p>
              <a:r>
                <a:rPr lang="ko-KR" altLang="en-US" sz="700" dirty="0">
                  <a:latin typeface="+mn-ea"/>
                </a:rPr>
                <a:t>위 보증금을 전기공사공제조합법 제</a:t>
              </a:r>
              <a:r>
                <a:rPr lang="en-US" altLang="ko-KR" sz="700" dirty="0">
                  <a:latin typeface="+mn-ea"/>
                </a:rPr>
                <a:t>46</a:t>
              </a:r>
              <a:r>
                <a:rPr lang="ko-KR" altLang="en-US" sz="700" dirty="0">
                  <a:latin typeface="+mn-ea"/>
                </a:rPr>
                <a:t>조 및 제</a:t>
              </a:r>
              <a:r>
                <a:rPr lang="en-US" altLang="ko-KR" sz="700" dirty="0">
                  <a:latin typeface="+mn-ea"/>
                </a:rPr>
                <a:t>47</a:t>
              </a:r>
              <a:r>
                <a:rPr lang="ko-KR" altLang="en-US" sz="700" dirty="0">
                  <a:latin typeface="+mn-ea"/>
                </a:rPr>
                <a:t>조와 첨부된 약관에 의하여 우리 조합이 보증합니다</a:t>
              </a:r>
              <a:r>
                <a:rPr lang="en-US" altLang="ko-KR" sz="700" dirty="0">
                  <a:latin typeface="+mn-ea"/>
                </a:rPr>
                <a:t>. 	</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910666" y="3400535"/>
              <a:ext cx="725552" cy="107722"/>
            </a:xfrm>
            <a:prstGeom prst="rect">
              <a:avLst/>
            </a:prstGeom>
            <a:noFill/>
          </p:spPr>
          <p:txBody>
            <a:bodyPr wrap="square" lIns="0" tIns="0" rIns="0" bIns="0" rtlCol="0">
              <a:spAutoFit/>
            </a:bodyPr>
            <a:lstStyle/>
            <a:p>
              <a:r>
                <a:rPr lang="ko-KR" altLang="en-US" sz="700" dirty="0" err="1">
                  <a:latin typeface="+mn-ea"/>
                </a:rPr>
                <a:t>보증문</a:t>
              </a:r>
              <a:endParaRPr lang="en-US" altLang="ko-KR" sz="700" dirty="0">
                <a:latin typeface="+mn-ea"/>
              </a:endParaRPr>
            </a:p>
          </p:txBody>
        </p:sp>
      </p:grpSp>
      <p:grpSp>
        <p:nvGrpSpPr>
          <p:cNvPr id="157" name="그룹 156"/>
          <p:cNvGrpSpPr/>
          <p:nvPr/>
        </p:nvGrpSpPr>
        <p:grpSpPr>
          <a:xfrm>
            <a:off x="3836701" y="2573569"/>
            <a:ext cx="2630093" cy="950371"/>
            <a:chOff x="701175" y="4672224"/>
            <a:chExt cx="2630093" cy="950371"/>
          </a:xfrm>
        </p:grpSpPr>
        <p:sp>
          <p:nvSpPr>
            <p:cNvPr id="158" name="직사각형 157"/>
            <p:cNvSpPr/>
            <p:nvPr/>
          </p:nvSpPr>
          <p:spPr>
            <a:xfrm>
              <a:off x="703268" y="4976265"/>
              <a:ext cx="792000" cy="6442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TextBox 158">
              <a:extLst>
                <a:ext uri="{FF2B5EF4-FFF2-40B4-BE49-F238E27FC236}">
                  <a16:creationId xmlns:a16="http://schemas.microsoft.com/office/drawing/2014/main" id="{FFC49AEA-2A8F-250C-A86A-A7751D9706C3}"/>
                </a:ext>
              </a:extLst>
            </p:cNvPr>
            <p:cNvSpPr txBox="1"/>
            <p:nvPr/>
          </p:nvSpPr>
          <p:spPr>
            <a:xfrm>
              <a:off x="790331" y="4976264"/>
              <a:ext cx="725552" cy="646331"/>
            </a:xfrm>
            <a:prstGeom prst="rect">
              <a:avLst/>
            </a:prstGeom>
            <a:noFill/>
          </p:spPr>
          <p:txBody>
            <a:bodyPr wrap="square" lIns="0" tIns="0" rIns="0" bIns="0" rtlCol="0">
              <a:spAutoFit/>
            </a:bodyPr>
            <a:lstStyle/>
            <a:p>
              <a:pPr>
                <a:lnSpc>
                  <a:spcPct val="200000"/>
                </a:lnSpc>
              </a:pPr>
              <a:r>
                <a:rPr lang="ko-KR" altLang="en-US" sz="700" dirty="0">
                  <a:latin typeface="+mn-ea"/>
                </a:rPr>
                <a:t>상호</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주소</a:t>
              </a:r>
            </a:p>
          </p:txBody>
        </p:sp>
        <p:grpSp>
          <p:nvGrpSpPr>
            <p:cNvPr id="160" name="그룹 159"/>
            <p:cNvGrpSpPr/>
            <p:nvPr/>
          </p:nvGrpSpPr>
          <p:grpSpPr>
            <a:xfrm>
              <a:off x="701175" y="4976264"/>
              <a:ext cx="2630093" cy="644220"/>
              <a:chOff x="701175" y="1835481"/>
              <a:chExt cx="2630093" cy="644220"/>
            </a:xfrm>
          </p:grpSpPr>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5" name="TextBox 164">
              <a:extLst>
                <a:ext uri="{FF2B5EF4-FFF2-40B4-BE49-F238E27FC236}">
                  <a16:creationId xmlns:a16="http://schemas.microsoft.com/office/drawing/2014/main" id="{FFC49AEA-2A8F-250C-A86A-A7751D9706C3}"/>
                </a:ext>
              </a:extLst>
            </p:cNvPr>
            <p:cNvSpPr txBox="1"/>
            <p:nvPr/>
          </p:nvSpPr>
          <p:spPr>
            <a:xfrm>
              <a:off x="1547180" y="4976264"/>
              <a:ext cx="1784088" cy="612027"/>
            </a:xfrm>
            <a:prstGeom prst="rect">
              <a:avLst/>
            </a:prstGeom>
            <a:noFill/>
          </p:spPr>
          <p:txBody>
            <a:bodyPr wrap="square" lIns="0" tIns="0" rIns="0" bIns="0" rtlCol="0">
              <a:spAutoFit/>
            </a:bodyPr>
            <a:lstStyle/>
            <a:p>
              <a:pPr>
                <a:lnSpc>
                  <a:spcPct val="200000"/>
                </a:lnSpc>
              </a:pPr>
              <a:r>
                <a:rPr lang="ko-KR" altLang="en-US" sz="700" dirty="0">
                  <a:latin typeface="+mn-ea"/>
                </a:rPr>
                <a:t>서울보증보험주식회사</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ko-KR" altLang="en-US" sz="700" dirty="0">
                  <a:latin typeface="+mn-ea"/>
                </a:rPr>
                <a:t>서울특별시 종로구</a:t>
              </a:r>
              <a:r>
                <a:rPr lang="en-US" altLang="ko-KR" sz="700" dirty="0">
                  <a:latin typeface="+mn-ea"/>
                </a:rPr>
                <a:t>…</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762146" y="4672224"/>
              <a:ext cx="2010684" cy="181140"/>
            </a:xfrm>
            <a:prstGeom prst="rect">
              <a:avLst/>
            </a:prstGeom>
            <a:noFill/>
          </p:spPr>
          <p:txBody>
            <a:bodyPr wrap="square" lIns="0" tIns="0" rIns="0" bIns="0" rtlCol="0">
              <a:spAutoFit/>
            </a:bodyPr>
            <a:lstStyle/>
            <a:p>
              <a:pPr>
                <a:lnSpc>
                  <a:spcPct val="200000"/>
                </a:lnSpc>
              </a:pPr>
              <a:r>
                <a:rPr lang="ko-KR" altLang="en-US" sz="700" dirty="0">
                  <a:latin typeface="+mn-ea"/>
                </a:rPr>
                <a:t>발행자 정보</a:t>
              </a:r>
            </a:p>
          </p:txBody>
        </p:sp>
      </p:grpSp>
      <p:grpSp>
        <p:nvGrpSpPr>
          <p:cNvPr id="178" name="그룹 177"/>
          <p:cNvGrpSpPr/>
          <p:nvPr/>
        </p:nvGrpSpPr>
        <p:grpSpPr>
          <a:xfrm>
            <a:off x="3836701" y="3634970"/>
            <a:ext cx="2630093" cy="734927"/>
            <a:chOff x="701175" y="4672224"/>
            <a:chExt cx="2630093" cy="734927"/>
          </a:xfrm>
        </p:grpSpPr>
        <p:sp>
          <p:nvSpPr>
            <p:cNvPr id="179" name="직사각형 178"/>
            <p:cNvSpPr/>
            <p:nvPr/>
          </p:nvSpPr>
          <p:spPr>
            <a:xfrm>
              <a:off x="703268" y="4976265"/>
              <a:ext cx="792000" cy="4280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TextBox 179">
              <a:extLst>
                <a:ext uri="{FF2B5EF4-FFF2-40B4-BE49-F238E27FC236}">
                  <a16:creationId xmlns:a16="http://schemas.microsoft.com/office/drawing/2014/main" id="{FFC49AEA-2A8F-250C-A86A-A7751D9706C3}"/>
                </a:ext>
              </a:extLst>
            </p:cNvPr>
            <p:cNvSpPr txBox="1"/>
            <p:nvPr/>
          </p:nvSpPr>
          <p:spPr>
            <a:xfrm>
              <a:off x="790331" y="4976264"/>
              <a:ext cx="725552" cy="430887"/>
            </a:xfrm>
            <a:prstGeom prst="rect">
              <a:avLst/>
            </a:prstGeom>
            <a:noFill/>
          </p:spPr>
          <p:txBody>
            <a:bodyPr wrap="square" lIns="0" tIns="0" rIns="0" bIns="0" rtlCol="0">
              <a:spAutoFit/>
            </a:bodyPr>
            <a:lstStyle/>
            <a:p>
              <a:pPr>
                <a:lnSpc>
                  <a:spcPct val="200000"/>
                </a:lnSpc>
              </a:pPr>
              <a:r>
                <a:rPr lang="ko-KR" altLang="en-US" sz="700" dirty="0">
                  <a:latin typeface="+mn-ea"/>
                </a:rPr>
                <a:t>성명</a:t>
              </a:r>
              <a:endParaRPr lang="en-US" altLang="ko-KR" sz="700" dirty="0">
                <a:latin typeface="+mn-ea"/>
              </a:endParaRPr>
            </a:p>
            <a:p>
              <a:pPr>
                <a:lnSpc>
                  <a:spcPct val="200000"/>
                </a:lnSpc>
              </a:pPr>
              <a:r>
                <a:rPr lang="ko-KR" altLang="en-US" sz="700" dirty="0">
                  <a:latin typeface="+mn-ea"/>
                </a:rPr>
                <a:t>부서</a:t>
              </a:r>
            </a:p>
          </p:txBody>
        </p:sp>
        <p:grpSp>
          <p:nvGrpSpPr>
            <p:cNvPr id="181" name="그룹 180"/>
            <p:cNvGrpSpPr/>
            <p:nvPr/>
          </p:nvGrpSpPr>
          <p:grpSpPr>
            <a:xfrm>
              <a:off x="701175" y="4976264"/>
              <a:ext cx="2630093" cy="429480"/>
              <a:chOff x="701175" y="1835481"/>
              <a:chExt cx="2630093" cy="429480"/>
            </a:xfrm>
          </p:grpSpPr>
          <p:cxnSp>
            <p:nvCxnSpPr>
              <p:cNvPr id="187" name="직선 연결선 18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4" name="TextBox 183">
              <a:extLst>
                <a:ext uri="{FF2B5EF4-FFF2-40B4-BE49-F238E27FC236}">
                  <a16:creationId xmlns:a16="http://schemas.microsoft.com/office/drawing/2014/main" id="{FFC49AEA-2A8F-250C-A86A-A7751D9706C3}"/>
                </a:ext>
              </a:extLst>
            </p:cNvPr>
            <p:cNvSpPr txBox="1"/>
            <p:nvPr/>
          </p:nvSpPr>
          <p:spPr>
            <a:xfrm>
              <a:off x="1547180" y="4976264"/>
              <a:ext cx="1784088" cy="430887"/>
            </a:xfrm>
            <a:prstGeom prst="rect">
              <a:avLst/>
            </a:prstGeom>
            <a:noFill/>
          </p:spPr>
          <p:txBody>
            <a:bodyPr wrap="square" lIns="0" tIns="0" rIns="0" bIns="0" rtlCol="0">
              <a:spAutoFit/>
            </a:bodyPr>
            <a:lstStyle/>
            <a:p>
              <a:pPr>
                <a:lnSpc>
                  <a:spcPct val="200000"/>
                </a:lnSpc>
              </a:pPr>
              <a:r>
                <a:rPr lang="ko-KR" altLang="en-US" sz="700" dirty="0" err="1">
                  <a:latin typeface="+mn-ea"/>
                </a:rPr>
                <a:t>김길동</a:t>
              </a:r>
              <a:endParaRPr lang="en-US" altLang="ko-KR" sz="700" dirty="0">
                <a:latin typeface="+mn-ea"/>
              </a:endParaRPr>
            </a:p>
            <a:p>
              <a:pPr>
                <a:lnSpc>
                  <a:spcPct val="200000"/>
                </a:lnSpc>
              </a:pPr>
              <a:r>
                <a:rPr lang="ko-KR" altLang="en-US" sz="700" dirty="0" err="1">
                  <a:latin typeface="+mn-ea"/>
                </a:rPr>
                <a:t>과천지점</a:t>
              </a:r>
              <a:endParaRPr lang="en-US" altLang="ko-KR"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762146" y="4672224"/>
              <a:ext cx="2010684" cy="215444"/>
            </a:xfrm>
            <a:prstGeom prst="rect">
              <a:avLst/>
            </a:prstGeom>
            <a:noFill/>
          </p:spPr>
          <p:txBody>
            <a:bodyPr wrap="square" lIns="0" tIns="0" rIns="0" bIns="0" rtlCol="0">
              <a:spAutoFit/>
            </a:bodyPr>
            <a:lstStyle/>
            <a:p>
              <a:pPr>
                <a:lnSpc>
                  <a:spcPct val="200000"/>
                </a:lnSpc>
              </a:pPr>
              <a:r>
                <a:rPr lang="ko-KR" altLang="en-US" sz="700" dirty="0">
                  <a:latin typeface="+mn-ea"/>
                </a:rPr>
                <a:t>대리인 정보</a:t>
              </a:r>
            </a:p>
          </p:txBody>
        </p:sp>
      </p:grpSp>
      <p:grpSp>
        <p:nvGrpSpPr>
          <p:cNvPr id="191" name="그룹 190"/>
          <p:cNvGrpSpPr/>
          <p:nvPr/>
        </p:nvGrpSpPr>
        <p:grpSpPr>
          <a:xfrm>
            <a:off x="3836701" y="4477710"/>
            <a:ext cx="2630093" cy="950371"/>
            <a:chOff x="701175" y="4672224"/>
            <a:chExt cx="2630093" cy="950371"/>
          </a:xfrm>
        </p:grpSpPr>
        <p:sp>
          <p:nvSpPr>
            <p:cNvPr id="192" name="직사각형 191"/>
            <p:cNvSpPr/>
            <p:nvPr/>
          </p:nvSpPr>
          <p:spPr>
            <a:xfrm>
              <a:off x="703268" y="4976265"/>
              <a:ext cx="792000" cy="6442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3" name="TextBox 192">
              <a:extLst>
                <a:ext uri="{FF2B5EF4-FFF2-40B4-BE49-F238E27FC236}">
                  <a16:creationId xmlns:a16="http://schemas.microsoft.com/office/drawing/2014/main" id="{FFC49AEA-2A8F-250C-A86A-A7751D9706C3}"/>
                </a:ext>
              </a:extLst>
            </p:cNvPr>
            <p:cNvSpPr txBox="1"/>
            <p:nvPr/>
          </p:nvSpPr>
          <p:spPr>
            <a:xfrm>
              <a:off x="790331" y="4976264"/>
              <a:ext cx="725552" cy="612027"/>
            </a:xfrm>
            <a:prstGeom prst="rect">
              <a:avLst/>
            </a:prstGeom>
            <a:noFill/>
          </p:spPr>
          <p:txBody>
            <a:bodyPr wrap="square" lIns="0" tIns="0" rIns="0" bIns="0" rtlCol="0">
              <a:spAutoFit/>
            </a:bodyPr>
            <a:lstStyle/>
            <a:p>
              <a:pPr>
                <a:lnSpc>
                  <a:spcPct val="200000"/>
                </a:lnSpc>
              </a:pPr>
              <a:r>
                <a:rPr lang="ko-KR" altLang="en-US" sz="700" dirty="0">
                  <a:latin typeface="+mn-ea"/>
                </a:rPr>
                <a:t>성명</a:t>
              </a:r>
              <a:endParaRPr lang="en-US" altLang="ko-KR" sz="700" dirty="0">
                <a:latin typeface="+mn-ea"/>
              </a:endParaRPr>
            </a:p>
            <a:p>
              <a:pPr>
                <a:lnSpc>
                  <a:spcPct val="200000"/>
                </a:lnSpc>
              </a:pPr>
              <a:r>
                <a:rPr lang="ko-KR" altLang="en-US" sz="700" dirty="0">
                  <a:latin typeface="+mn-ea"/>
                </a:rPr>
                <a:t>전화</a:t>
              </a:r>
              <a:endParaRPr lang="en-US" altLang="ko-KR" sz="700" dirty="0">
                <a:latin typeface="+mn-ea"/>
              </a:endParaRPr>
            </a:p>
            <a:p>
              <a:pPr>
                <a:lnSpc>
                  <a:spcPct val="200000"/>
                </a:lnSpc>
              </a:pPr>
              <a:r>
                <a:rPr lang="en-US" altLang="ko-KR" sz="700" dirty="0">
                  <a:latin typeface="+mn-ea"/>
                </a:rPr>
                <a:t>FAX</a:t>
              </a:r>
              <a:endParaRPr lang="ko-KR" altLang="en-US" sz="700" dirty="0">
                <a:latin typeface="+mn-ea"/>
              </a:endParaRPr>
            </a:p>
          </p:txBody>
        </p:sp>
        <p:grpSp>
          <p:nvGrpSpPr>
            <p:cNvPr id="194" name="그룹 193"/>
            <p:cNvGrpSpPr/>
            <p:nvPr/>
          </p:nvGrpSpPr>
          <p:grpSpPr>
            <a:xfrm>
              <a:off x="701175" y="4976264"/>
              <a:ext cx="2630093" cy="644220"/>
              <a:chOff x="701175" y="1835481"/>
              <a:chExt cx="2630093" cy="644220"/>
            </a:xfrm>
          </p:grpSpPr>
          <p:cxnSp>
            <p:nvCxnSpPr>
              <p:cNvPr id="197" name="직선 연결선 19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5" name="TextBox 194">
              <a:extLst>
                <a:ext uri="{FF2B5EF4-FFF2-40B4-BE49-F238E27FC236}">
                  <a16:creationId xmlns:a16="http://schemas.microsoft.com/office/drawing/2014/main" id="{FFC49AEA-2A8F-250C-A86A-A7751D9706C3}"/>
                </a:ext>
              </a:extLst>
            </p:cNvPr>
            <p:cNvSpPr txBox="1"/>
            <p:nvPr/>
          </p:nvSpPr>
          <p:spPr>
            <a:xfrm>
              <a:off x="1547180" y="4976264"/>
              <a:ext cx="1784088" cy="646331"/>
            </a:xfrm>
            <a:prstGeom prst="rect">
              <a:avLst/>
            </a:prstGeom>
            <a:noFill/>
          </p:spPr>
          <p:txBody>
            <a:bodyPr wrap="square" lIns="0" tIns="0" rIns="0" bIns="0" rtlCol="0">
              <a:spAutoFit/>
            </a:bodyPr>
            <a:lstStyle/>
            <a:p>
              <a:pPr>
                <a:lnSpc>
                  <a:spcPct val="200000"/>
                </a:lnSpc>
              </a:pPr>
              <a:r>
                <a:rPr lang="ko-KR" altLang="en-US" sz="700" dirty="0" err="1">
                  <a:latin typeface="+mn-ea"/>
                </a:rPr>
                <a:t>박길동</a:t>
              </a:r>
              <a:endParaRPr lang="en-US" altLang="ko-KR" sz="700" dirty="0">
                <a:latin typeface="+mn-ea"/>
              </a:endParaRPr>
            </a:p>
            <a:p>
              <a:pPr>
                <a:lnSpc>
                  <a:spcPct val="200000"/>
                </a:lnSpc>
              </a:pPr>
              <a:r>
                <a:rPr lang="en-US" altLang="ko-KR" sz="700" dirty="0">
                  <a:latin typeface="+mn-ea"/>
                </a:rPr>
                <a:t>02-1234-5678</a:t>
              </a:r>
            </a:p>
            <a:p>
              <a:pPr>
                <a:lnSpc>
                  <a:spcPct val="200000"/>
                </a:lnSpc>
              </a:pPr>
              <a:r>
                <a:rPr lang="en-US" altLang="ko-KR" sz="700" dirty="0">
                  <a:latin typeface="+mn-ea"/>
                </a:rPr>
                <a:t>02-2345-6789</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762146" y="4672224"/>
              <a:ext cx="2010684" cy="215444"/>
            </a:xfrm>
            <a:prstGeom prst="rect">
              <a:avLst/>
            </a:prstGeom>
            <a:noFill/>
          </p:spPr>
          <p:txBody>
            <a:bodyPr wrap="square" lIns="0" tIns="0" rIns="0" bIns="0" rtlCol="0">
              <a:spAutoFit/>
            </a:bodyPr>
            <a:lstStyle/>
            <a:p>
              <a:pPr>
                <a:lnSpc>
                  <a:spcPct val="200000"/>
                </a:lnSpc>
              </a:pPr>
              <a:r>
                <a:rPr lang="ko-KR" altLang="en-US" sz="700" dirty="0">
                  <a:latin typeface="+mn-ea"/>
                </a:rPr>
                <a:t>담당자 정보</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04" name="그룹 103"/>
          <p:cNvGrpSpPr/>
          <p:nvPr/>
        </p:nvGrpSpPr>
        <p:grpSpPr>
          <a:xfrm>
            <a:off x="8223250" y="569392"/>
            <a:ext cx="3365500" cy="634511"/>
            <a:chOff x="8223250" y="569392"/>
            <a:chExt cx="3365500" cy="634511"/>
          </a:xfrm>
        </p:grpSpPr>
        <p:sp>
          <p:nvSpPr>
            <p:cNvPr id="105" name="직사각형 10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106" name="직사각형 105"/>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245840113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입찰내역목록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454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보증서정보조회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보증서 정보 조회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5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 </a:t>
            </a:r>
            <a:r>
              <a:rPr lang="en-US" altLang="ko-KR" dirty="0">
                <a:latin typeface="+mn-ea"/>
              </a:rPr>
              <a:t>&gt; </a:t>
            </a:r>
            <a:r>
              <a:rPr lang="ko-KR" altLang="en-US" dirty="0">
                <a:latin typeface="+mn-ea"/>
              </a:rPr>
              <a:t>입찰보증서선택 </a:t>
            </a:r>
            <a:r>
              <a:rPr lang="en-US" altLang="ko-KR" dirty="0">
                <a:latin typeface="+mn-ea"/>
              </a:rPr>
              <a:t>&gt; </a:t>
            </a:r>
            <a:r>
              <a:rPr lang="ko-KR" altLang="en-US" dirty="0">
                <a:latin typeface="+mn-ea"/>
              </a:rPr>
              <a:t>보증서정보조회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MUI-BD-04-P76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입찰보증서</a:t>
            </a:r>
            <a:r>
              <a:rPr lang="ko-KR" altLang="en-US" sz="900" dirty="0">
                <a:latin typeface="+mn-ea"/>
              </a:rPr>
              <a:t> 선택</a:t>
            </a:r>
          </a:p>
        </p:txBody>
      </p: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보증서정보</a:t>
            </a:r>
            <a:r>
              <a:rPr lang="ko-KR" altLang="en-US" sz="900" dirty="0">
                <a:latin typeface="+mn-ea"/>
              </a:rPr>
              <a:t>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보증계약 </a:t>
            </a:r>
            <a:r>
              <a:rPr lang="en-US" altLang="ko-KR" sz="700" dirty="0">
                <a:latin typeface="+mn-ea"/>
              </a:rPr>
              <a:t>- </a:t>
            </a:r>
            <a:r>
              <a:rPr lang="ko-KR" altLang="en-US" sz="700" dirty="0" err="1">
                <a:latin typeface="+mn-ea"/>
              </a:rPr>
              <a:t>주계약</a:t>
            </a:r>
            <a:endParaRPr lang="ko-KR" altLang="en-US" sz="700" dirty="0">
              <a:latin typeface="+mn-ea"/>
            </a:endParaRPr>
          </a:p>
        </p:txBody>
      </p:sp>
      <p:sp>
        <p:nvSpPr>
          <p:cNvPr id="82" name="직사각형 81"/>
          <p:cNvSpPr/>
          <p:nvPr/>
        </p:nvSpPr>
        <p:spPr>
          <a:xfrm>
            <a:off x="703268" y="2899796"/>
            <a:ext cx="792000" cy="8667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err="1">
                <a:latin typeface="+mn-ea"/>
              </a:rPr>
              <a:t>입찰번호</a:t>
            </a:r>
            <a:endParaRPr lang="ko-KR" altLang="en-US" sz="700" dirty="0">
              <a:latin typeface="+mn-ea"/>
            </a:endParaRPr>
          </a:p>
        </p:txBody>
      </p:sp>
      <p:grpSp>
        <p:nvGrpSpPr>
          <p:cNvPr id="85" name="그룹 84"/>
          <p:cNvGrpSpPr/>
          <p:nvPr/>
        </p:nvGrpSpPr>
        <p:grpSpPr>
          <a:xfrm>
            <a:off x="701175" y="2899795"/>
            <a:ext cx="2630093" cy="858960"/>
            <a:chOff x="701175" y="1835481"/>
            <a:chExt cx="2630093" cy="85896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861774"/>
          </a:xfrm>
          <a:prstGeom prst="rect">
            <a:avLst/>
          </a:prstGeom>
          <a:noFill/>
        </p:spPr>
        <p:txBody>
          <a:bodyPr wrap="square" lIns="0" tIns="0" rIns="0" bIns="0" rtlCol="0">
            <a:spAutoFit/>
          </a:bodyPr>
          <a:lstStyle/>
          <a:p>
            <a:pPr lvl="0">
              <a:lnSpc>
                <a:spcPct val="200000"/>
              </a:lnSpc>
            </a:pPr>
            <a:r>
              <a:rPr kumimoji="1" lang="en-US" altLang="ko-KR" sz="700" spc="-60" dirty="0">
                <a:latin typeface="+mn-ea"/>
              </a:rPr>
              <a:t>00</a:t>
            </a:r>
            <a:r>
              <a:rPr kumimoji="1" lang="ko-KR" altLang="en-US" sz="700" spc="-60" dirty="0">
                <a:latin typeface="+mn-ea"/>
              </a:rPr>
              <a:t>지역 </a:t>
            </a:r>
            <a:r>
              <a:rPr kumimoji="1" lang="ko-KR" altLang="en-US" sz="700" spc="-60" dirty="0" err="1">
                <a:latin typeface="+mn-ea"/>
              </a:rPr>
              <a:t>내무생활관</a:t>
            </a:r>
            <a:r>
              <a:rPr kumimoji="1" lang="ko-KR" altLang="en-US" sz="700" spc="-60" dirty="0">
                <a:latin typeface="+mn-ea"/>
              </a:rPr>
              <a:t> 전기공사</a:t>
            </a:r>
            <a:endParaRPr lang="en-US" altLang="ko-KR" sz="700" dirty="0">
              <a:latin typeface="+mn-ea"/>
            </a:endParaRPr>
          </a:p>
          <a:p>
            <a:pPr algn="r">
              <a:lnSpc>
                <a:spcPct val="200000"/>
              </a:lnSpc>
            </a:pPr>
            <a:r>
              <a:rPr lang="en-US" altLang="ko-KR" sz="700" dirty="0">
                <a:latin typeface="+mn-ea"/>
              </a:rPr>
              <a:t>2,700,000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0010011053320031100675611100</a:t>
            </a:r>
            <a:endParaRPr lang="ko-KR" altLang="en-US" sz="700" dirty="0">
              <a:latin typeface="+mn-ea"/>
            </a:endParaRPr>
          </a:p>
          <a:p>
            <a:pPr>
              <a:lnSpc>
                <a:spcPct val="200000"/>
              </a:lnSpc>
            </a:pPr>
            <a:r>
              <a:rPr lang="en-US" altLang="ko-KR" sz="700" dirty="0">
                <a:latin typeface="+mn-ea"/>
              </a:rPr>
              <a:t>2003-09-08</a:t>
            </a:r>
          </a:p>
        </p:txBody>
      </p:sp>
      <p:grpSp>
        <p:nvGrpSpPr>
          <p:cNvPr id="3" name="그룹 2"/>
          <p:cNvGrpSpPr/>
          <p:nvPr/>
        </p:nvGrpSpPr>
        <p:grpSpPr>
          <a:xfrm>
            <a:off x="675399" y="5614711"/>
            <a:ext cx="2712027" cy="617588"/>
            <a:chOff x="3795734" y="5614711"/>
            <a:chExt cx="2712027" cy="617588"/>
          </a:xfrm>
        </p:grpSpPr>
        <p:sp>
          <p:nvSpPr>
            <p:cNvPr id="171" name="직사각형 170">
              <a:extLst>
                <a:ext uri="{FF2B5EF4-FFF2-40B4-BE49-F238E27FC236}">
                  <a16:creationId xmlns:a16="http://schemas.microsoft.com/office/drawing/2014/main" id="{F56F1743-11A0-EA94-9184-4E42C0A37F9C}"/>
                </a:ext>
              </a:extLst>
            </p:cNvPr>
            <p:cNvSpPr/>
            <p:nvPr/>
          </p:nvSpPr>
          <p:spPr>
            <a:xfrm>
              <a:off x="3795734"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4569618" y="5745391"/>
              <a:ext cx="1845838" cy="317271"/>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solidFill>
                    <a:srgbClr val="0070C0"/>
                  </a:solidFill>
                </a:rPr>
                <a:t>보증서 적용</a:t>
              </a:r>
              <a:endParaRPr kumimoji="1" lang="en-US" altLang="ko-KR" sz="1000" kern="0" dirty="0">
                <a:solidFill>
                  <a:srgbClr val="0070C0"/>
                </a:solidFill>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3893442" y="5745391"/>
              <a:ext cx="608074" cy="3172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04" name="TextBox 103">
            <a:extLst>
              <a:ext uri="{FF2B5EF4-FFF2-40B4-BE49-F238E27FC236}">
                <a16:creationId xmlns:a16="http://schemas.microsoft.com/office/drawing/2014/main" id="{FFC49AEA-2A8F-250C-A86A-A7751D9706C3}"/>
              </a:ext>
            </a:extLst>
          </p:cNvPr>
          <p:cNvSpPr txBox="1"/>
          <p:nvPr/>
        </p:nvSpPr>
        <p:spPr>
          <a:xfrm>
            <a:off x="790331" y="3551099"/>
            <a:ext cx="725552"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a:latin typeface="+mn-ea"/>
              </a:rPr>
              <a:t>마감일자</a:t>
            </a:r>
          </a:p>
        </p:txBody>
      </p:sp>
    </p:spTree>
    <p:extLst>
      <p:ext uri="{BB962C8B-B14F-4D97-AF65-F5344CB8AC3E}">
        <p14:creationId xmlns:p14="http://schemas.microsoft.com/office/powerpoint/2010/main" val="1310642803"/>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455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9446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보증서정보 데이터 영역 </a:t>
            </a:r>
            <a:r>
              <a:rPr lang="en-US" altLang="ko-KR" sz="900" b="1" dirty="0">
                <a:solidFill>
                  <a:prstClr val="black"/>
                </a:solidFill>
              </a:rPr>
              <a:t>(</a:t>
            </a:r>
            <a:r>
              <a:rPr lang="en-US" altLang="ko-KR" sz="900" b="1" dirty="0" err="1">
                <a:solidFill>
                  <a:prstClr val="black"/>
                </a:solidFill>
              </a:rPr>
              <a:t>dl_wtgrInfo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extLst/>
          </p:nvPr>
        </p:nvGraphicFramePr>
        <p:xfrm>
          <a:off x="452999" y="1014316"/>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증권번호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증권번호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보증기간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grnteBgngPrd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보증기간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16</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보증료</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grfe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보증금율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grnteAmtDepstRt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보증금율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206398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16476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3567366"/>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보증채권자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crdtrBzentyNm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6590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crdtrRprsvNm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180698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특기사항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spcltMttr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특기사항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11913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grntePhrsCn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819275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발행일자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bl>
          </a:graphicData>
        </a:graphic>
      </p:graphicFrame>
      <p:sp>
        <p:nvSpPr>
          <p:cNvPr id="2" name="Text Box 73">
            <a:extLst>
              <a:ext uri="{FF2B5EF4-FFF2-40B4-BE49-F238E27FC236}">
                <a16:creationId xmlns:a16="http://schemas.microsoft.com/office/drawing/2014/main" id="{99E1FD21-60AA-A504-D440-8EA7CA0D60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68388823"/>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456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1943408"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발행자 데이터 </a:t>
            </a:r>
            <a:r>
              <a:rPr lang="ko-KR" altLang="en-US" sz="900" b="1">
                <a:solidFill>
                  <a:prstClr val="black"/>
                </a:solidFill>
              </a:rPr>
              <a:t>영역 </a:t>
            </a:r>
            <a:r>
              <a:rPr lang="en-US" altLang="ko-KR" sz="900" b="1">
                <a:solidFill>
                  <a:prstClr val="black"/>
                </a:solidFill>
              </a:rPr>
              <a:t>(dl_IsrInfo)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상호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상호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주소</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agtNm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agtDeptNm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206398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성명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16476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전화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전화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35673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a:t>
                      </a:r>
                      <a:r>
                        <a:rPr lang="en-US" sz="800" b="0" i="0" u="none" strike="noStrike">
                          <a:solidFill>
                            <a:srgbClr val="000000"/>
                          </a:solidFill>
                          <a:effectLst/>
                          <a:latin typeface="맑은 고딕" panose="020B0503020000020004" pitchFamily="50" charset="-127"/>
                          <a:ea typeface="맑은 고딕" panose="020B0503020000020004" pitchFamily="50" charset="-127"/>
                        </a:rPr>
                        <a:t>FAX</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a:t>
                      </a:r>
                      <a:r>
                        <a:rPr lang="en-US" sz="800" b="0" i="0" u="none" strike="noStrike">
                          <a:solidFill>
                            <a:srgbClr val="000000"/>
                          </a:solidFill>
                          <a:effectLst/>
                          <a:latin typeface="맑은 고딕" panose="020B0503020000020004" pitchFamily="50" charset="-127"/>
                          <a:ea typeface="맑은 고딕" panose="020B0503020000020004" pitchFamily="50" charset="-127"/>
                        </a:rPr>
                        <a:t>FAX</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184092"/>
                  </a:ext>
                </a:extLst>
              </a:tr>
            </a:tbl>
          </a:graphicData>
        </a:graphic>
      </p:graphicFrame>
      <p:sp>
        <p:nvSpPr>
          <p:cNvPr id="6" name="TextBox 5">
            <a:extLst>
              <a:ext uri="{FF2B5EF4-FFF2-40B4-BE49-F238E27FC236}">
                <a16:creationId xmlns:a16="http://schemas.microsoft.com/office/drawing/2014/main" id="{0704E1BD-38F5-55DB-BAD3-13B26DEB1EE4}"/>
              </a:ext>
            </a:extLst>
          </p:cNvPr>
          <p:cNvSpPr txBox="1"/>
          <p:nvPr/>
        </p:nvSpPr>
        <p:spPr>
          <a:xfrm>
            <a:off x="458117" y="3250557"/>
            <a:ext cx="2116532"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보증계약 데이터 </a:t>
            </a:r>
            <a:r>
              <a:rPr lang="ko-KR" altLang="en-US" sz="900" b="1">
                <a:solidFill>
                  <a:prstClr val="black"/>
                </a:solidFill>
              </a:rPr>
              <a:t>영역 </a:t>
            </a:r>
            <a:r>
              <a:rPr lang="en-US" altLang="ko-KR" sz="900" b="1">
                <a:solidFill>
                  <a:prstClr val="black"/>
                </a:solidFill>
              </a:rPr>
              <a:t>(dl_ctrtInfo)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E926DE23-EF93-C082-D8E9-074411A05D1A}"/>
              </a:ext>
            </a:extLst>
          </p:cNvPr>
          <p:cNvGraphicFramePr>
            <a:graphicFrameLocks noGrp="1"/>
          </p:cNvGraphicFramePr>
          <p:nvPr/>
        </p:nvGraphicFramePr>
        <p:xfrm>
          <a:off x="452999" y="346176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입찰서제출마감일자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입찰서제출마감일자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bl>
          </a:graphicData>
        </a:graphic>
      </p:graphicFrame>
      <p:sp>
        <p:nvSpPr>
          <p:cNvPr id="8" name="Text Box 73">
            <a:extLst>
              <a:ext uri="{FF2B5EF4-FFF2-40B4-BE49-F238E27FC236}">
                <a16:creationId xmlns:a16="http://schemas.microsoft.com/office/drawing/2014/main" id="{4B5C1F74-3735-F84A-FA19-B5C15A37E38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172700612"/>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D67880BC-6DDB-6329-4178-180CD551DD2F}"/>
              </a:ext>
            </a:extLst>
          </p:cNvPr>
          <p:cNvSpPr>
            <a:spLocks noGrp="1"/>
          </p:cNvSpPr>
          <p:nvPr>
            <p:ph type="sldNum" sz="quarter" idx="4"/>
          </p:nvPr>
        </p:nvSpPr>
        <p:spPr/>
        <p:txBody>
          <a:bodyPr/>
          <a:lstStyle/>
          <a:p>
            <a:fld id="{34C8E023-7346-48FC-AB24-9A3388C53208}" type="slidenum">
              <a:rPr lang="ko-KR" altLang="en-US" smtClean="0"/>
              <a:pPr/>
              <a:t>457</a:t>
            </a:fld>
            <a:endParaRPr lang="ko-KR" altLang="en-US" dirty="0"/>
          </a:p>
        </p:txBody>
      </p:sp>
      <p:sp>
        <p:nvSpPr>
          <p:cNvPr id="6" name="TextBox 5">
            <a:extLst>
              <a:ext uri="{FF2B5EF4-FFF2-40B4-BE49-F238E27FC236}">
                <a16:creationId xmlns:a16="http://schemas.microsoft.com/office/drawing/2014/main" id="{A308B143-F893-186B-7813-58F5FC716CF0}"/>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9" name="표 8">
            <a:extLst>
              <a:ext uri="{FF2B5EF4-FFF2-40B4-BE49-F238E27FC236}">
                <a16:creationId xmlns:a16="http://schemas.microsoft.com/office/drawing/2014/main" id="{83BC0E6E-3934-8737-B0BC-7C980B5993FC}"/>
              </a:ext>
            </a:extLst>
          </p:cNvPr>
          <p:cNvGraphicFramePr>
            <a:graphicFrameLocks noGrp="1"/>
          </p:cNvGraphicFramePr>
          <p:nvPr>
            <p:extLst/>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보증서 정보 상세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입찰보증서정보조회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10" name="Text Box 73">
            <a:extLst>
              <a:ext uri="{FF2B5EF4-FFF2-40B4-BE49-F238E27FC236}">
                <a16:creationId xmlns:a16="http://schemas.microsoft.com/office/drawing/2014/main" id="{F1EE667B-B3CA-A2DE-0461-57C74A6FDCB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92705615"/>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공지사항</a:t>
            </a:r>
            <a:r>
              <a:rPr lang="en-US" altLang="ko-KR" dirty="0" smtClean="0"/>
              <a:t>, </a:t>
            </a:r>
            <a:r>
              <a:rPr lang="ko-KR" altLang="en-US" dirty="0" err="1" smtClean="0"/>
              <a:t>업무도움이</a:t>
            </a:r>
            <a:r>
              <a:rPr lang="ko-KR" altLang="en-US" dirty="0" smtClean="0"/>
              <a:t> 있는 경우 표시</a:t>
            </a:r>
            <a:endParaRPr lang="en-US" altLang="ko-KR" dirty="0"/>
          </a:p>
          <a:p>
            <a:pPr marL="228600" indent="-228600">
              <a:buFont typeface="+mj-lt"/>
              <a:buAutoNum type="arabicPeriod"/>
            </a:pPr>
            <a:r>
              <a:rPr lang="ko-KR" altLang="en-US" dirty="0" smtClean="0"/>
              <a:t>신청서 </a:t>
            </a:r>
            <a:r>
              <a:rPr lang="ko-KR" altLang="en-US" dirty="0"/>
              <a:t>탭</a:t>
            </a:r>
            <a:endParaRPr lang="en-US" altLang="ko-KR" dirty="0"/>
          </a:p>
          <a:p>
            <a:pPr marL="228600" indent="-228600">
              <a:buFont typeface="+mj-lt"/>
              <a:buAutoNum type="arabicPeriod"/>
            </a:pPr>
            <a:r>
              <a:rPr lang="ko-KR" altLang="en-US" dirty="0"/>
              <a:t>데이터 </a:t>
            </a:r>
            <a:r>
              <a:rPr lang="ko-KR" altLang="en-US" dirty="0" smtClean="0"/>
              <a:t>영역</a:t>
            </a:r>
            <a:endParaRPr lang="en-US" altLang="ko-KR" dirty="0"/>
          </a:p>
          <a:p>
            <a:pPr marL="228600" indent="-228600">
              <a:buFont typeface="+mj-lt"/>
              <a:buAutoNum type="arabicPeriod"/>
            </a:pPr>
            <a:r>
              <a:rPr lang="ko-KR" altLang="en-US" dirty="0" err="1" smtClean="0"/>
              <a:t>더보기</a:t>
            </a:r>
            <a:r>
              <a:rPr lang="ko-KR" altLang="en-US" dirty="0" smtClean="0"/>
              <a:t> 버튼</a:t>
            </a:r>
            <a:r>
              <a:rPr lang="en-US" altLang="ko-KR" dirty="0" smtClean="0"/>
              <a:t/>
            </a:r>
            <a:br>
              <a:rPr lang="en-US" altLang="ko-KR" dirty="0" smtClean="0"/>
            </a:br>
            <a:r>
              <a:rPr lang="en-US" altLang="ko-KR" dirty="0" smtClean="0"/>
              <a:t>- </a:t>
            </a:r>
            <a:r>
              <a:rPr lang="ko-KR" altLang="en-US" dirty="0"/>
              <a:t>입찰결과 </a:t>
            </a:r>
            <a:r>
              <a:rPr lang="en-US" altLang="ko-KR" dirty="0"/>
              <a:t>(MUI-BD-09-M71 </a:t>
            </a:r>
            <a:r>
              <a:rPr lang="ko-KR" altLang="en-US" dirty="0">
                <a:latin typeface="+mn-ea"/>
              </a:rPr>
              <a:t>입찰결과상세조회</a:t>
            </a:r>
            <a:r>
              <a:rPr lang="en-US" altLang="ko-KR" dirty="0" smtClean="0">
                <a:latin typeface="+mn-ea"/>
              </a:rPr>
              <a:t>)</a:t>
            </a:r>
            <a:br>
              <a:rPr lang="en-US" altLang="ko-KR" dirty="0" smtClean="0">
                <a:latin typeface="+mn-ea"/>
              </a:rPr>
            </a:br>
            <a:r>
              <a:rPr lang="en-US" altLang="ko-KR" dirty="0" smtClean="0">
                <a:latin typeface="+mn-ea"/>
              </a:rPr>
              <a:t>- </a:t>
            </a:r>
            <a:r>
              <a:rPr lang="ko-KR" altLang="en-US" dirty="0" smtClean="0">
                <a:latin typeface="+mn-ea"/>
              </a:rPr>
              <a:t>입찰참가신청서 취소 </a:t>
            </a:r>
            <a:r>
              <a:rPr lang="en-US" altLang="ko-KR" dirty="0">
                <a:latin typeface="+mn-ea"/>
              </a:rPr>
              <a:t>MUI-BD-04-P82</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458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869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679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FFC49AEA-2A8F-250C-A86A-A7751D9706C3}"/>
              </a:ext>
            </a:extLst>
          </p:cNvPr>
          <p:cNvSpPr txBox="1"/>
          <p:nvPr/>
        </p:nvSpPr>
        <p:spPr>
          <a:xfrm>
            <a:off x="781461" y="364240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3949888"/>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394988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3949887"/>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입찰보증금 총액</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3949887"/>
            <a:ext cx="1784088" cy="646331"/>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2025-12-24 10:30</a:t>
            </a:r>
          </a:p>
          <a:p>
            <a:pPr algn="r">
              <a:lnSpc>
                <a:spcPct val="200000"/>
              </a:lnSpc>
            </a:pPr>
            <a:r>
              <a:rPr lang="en-US" altLang="ko-KR" sz="700" dirty="0">
                <a:latin typeface="+mn-ea"/>
              </a:rPr>
              <a:t>511.18</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1809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43946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6084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59541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378809"/>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3378809"/>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3378809"/>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3378809"/>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595416"/>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340686"/>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260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2358377"/>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45251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295243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98378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065768"/>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333722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6984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3840473" y="182639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3884151" y="1609791"/>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4438614" y="1609791"/>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4980121" y="1609791"/>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5681515" y="1609791"/>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3840473" y="1826398"/>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6044069" y="1571668"/>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51" name="모서리가 둥근 직사각형 150"/>
          <p:cNvSpPr/>
          <p:nvPr/>
        </p:nvSpPr>
        <p:spPr>
          <a:xfrm rot="5400000">
            <a:off x="2662242" y="316913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11734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471246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836701" y="1894534"/>
            <a:ext cx="2630093" cy="2016047"/>
            <a:chOff x="3791188" y="2611009"/>
            <a:chExt cx="2630093" cy="2016047"/>
          </a:xfrm>
        </p:grpSpPr>
        <p:sp>
          <p:nvSpPr>
            <p:cNvPr id="166" name="TextBox 16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67" name="직사각형 166"/>
            <p:cNvSpPr/>
            <p:nvPr/>
          </p:nvSpPr>
          <p:spPr>
            <a:xfrm>
              <a:off x="3793281" y="2918495"/>
              <a:ext cx="792000" cy="15075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3914777" y="3997837"/>
            <a:ext cx="2473940" cy="430887"/>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본인은 낙찰 후 계약을 체결하지 아니하거나 서류제출 기피 등 </a:t>
            </a:r>
            <a:r>
              <a:rPr lang="ko-KR" altLang="en-US" sz="700" dirty="0" err="1">
                <a:solidFill>
                  <a:srgbClr val="000000"/>
                </a:solidFill>
                <a:latin typeface="Consolas" panose="020B0609020204030204" pitchFamily="49" charset="0"/>
              </a:rPr>
              <a:t>귀사로부터</a:t>
            </a:r>
            <a:r>
              <a:rPr lang="ko-KR" altLang="en-US" sz="700" dirty="0">
                <a:solidFill>
                  <a:srgbClr val="000000"/>
                </a:solidFill>
                <a:latin typeface="Consolas" panose="020B0609020204030204" pitchFamily="49" charset="0"/>
              </a:rPr>
              <a:t> 상기 입찰보증금을 한도로 해당품목 입찰보증금액의 납입 요청 이견 없이 </a:t>
            </a:r>
            <a:r>
              <a:rPr lang="en-US" altLang="ko-KR" sz="700" dirty="0">
                <a:solidFill>
                  <a:srgbClr val="000000"/>
                </a:solidFill>
                <a:latin typeface="Consolas" panose="020B0609020204030204" pitchFamily="49" charset="0"/>
              </a:rPr>
              <a:t>30</a:t>
            </a:r>
            <a:r>
              <a:rPr lang="ko-KR" altLang="en-US" sz="700" dirty="0">
                <a:solidFill>
                  <a:srgbClr val="000000"/>
                </a:solidFill>
                <a:latin typeface="Consolas" panose="020B0609020204030204" pitchFamily="49" charset="0"/>
              </a:rPr>
              <a:t>일 이내 납부할 것을 서약합니다 </a:t>
            </a:r>
          </a:p>
        </p:txBody>
      </p:sp>
      <p:grpSp>
        <p:nvGrpSpPr>
          <p:cNvPr id="93" name="그룹 92"/>
          <p:cNvGrpSpPr/>
          <p:nvPr/>
        </p:nvGrpSpPr>
        <p:grpSpPr>
          <a:xfrm>
            <a:off x="8223250" y="569392"/>
            <a:ext cx="3365500" cy="219465"/>
            <a:chOff x="8223250" y="569392"/>
            <a:chExt cx="3365500" cy="219465"/>
          </a:xfrm>
        </p:grpSpPr>
        <p:sp>
          <p:nvSpPr>
            <p:cNvPr id="94" name="직사각형 9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95" name="직사각형 94"/>
            <p:cNvSpPr/>
            <p:nvPr/>
          </p:nvSpPr>
          <p:spPr>
            <a:xfrm>
              <a:off x="990600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grpSp>
        <p:nvGrpSpPr>
          <p:cNvPr id="91" name="그룹 90"/>
          <p:cNvGrpSpPr/>
          <p:nvPr/>
        </p:nvGrpSpPr>
        <p:grpSpPr>
          <a:xfrm>
            <a:off x="677960" y="1582647"/>
            <a:ext cx="2714637" cy="686386"/>
            <a:chOff x="677960" y="1582647"/>
            <a:chExt cx="2714637" cy="686386"/>
          </a:xfrm>
        </p:grpSpPr>
        <p:sp>
          <p:nvSpPr>
            <p:cNvPr id="92" name="TextBox 91">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입찰참가신청서 상세</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7" name="그룹 96"/>
            <p:cNvGrpSpPr/>
            <p:nvPr/>
          </p:nvGrpSpPr>
          <p:grpSpPr>
            <a:xfrm rot="5400000">
              <a:off x="852159" y="2062596"/>
              <a:ext cx="94010" cy="47005"/>
              <a:chOff x="6812560" y="3297172"/>
              <a:chExt cx="94010" cy="47005"/>
            </a:xfrm>
          </p:grpSpPr>
          <p:cxnSp>
            <p:nvCxnSpPr>
              <p:cNvPr id="104" name="직선 연결선 1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5" name="직선 연결선 1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8" name="그룹 97"/>
            <p:cNvGrpSpPr/>
            <p:nvPr/>
          </p:nvGrpSpPr>
          <p:grpSpPr>
            <a:xfrm>
              <a:off x="677960" y="1582647"/>
              <a:ext cx="2712027" cy="324286"/>
              <a:chOff x="677960" y="1582647"/>
              <a:chExt cx="2712027" cy="324286"/>
            </a:xfrm>
          </p:grpSpPr>
          <p:pic>
            <p:nvPicPr>
              <p:cNvPr id="99"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00" name="직선 연결선 99">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1" name="타원 100"/>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06" name="텍스트 개체 틀 12">
            <a:extLst>
              <a:ext uri="{FF2B5EF4-FFF2-40B4-BE49-F238E27FC236}">
                <a16:creationId xmlns:a16="http://schemas.microsoft.com/office/drawing/2014/main" id="{0643EE08-B324-56D6-CB41-C4D8C5E38320}"/>
              </a:ext>
            </a:extLst>
          </p:cNvPr>
          <p:cNvSpPr txBox="1">
            <a:spLocks/>
          </p:cNvSpPr>
          <p:nvPr/>
        </p:nvSpPr>
        <p:spPr>
          <a:xfrm>
            <a:off x="675399" y="1268834"/>
            <a:ext cx="1404000" cy="193878"/>
          </a:xfrm>
          <a:prstGeom prst="rect">
            <a:avLst/>
          </a:prstGeom>
        </p:spPr>
        <p:txBody>
          <a:bodyPr lIns="72000" tIns="36000" rIns="72000" bIns="36000"/>
          <a:lstStyle>
            <a:lvl1pPr marL="0" indent="0" algn="l" defTabSz="914400" rtl="0" eaLnBrk="1" latinLnBrk="1" hangingPunct="1">
              <a:lnSpc>
                <a:spcPct val="100000"/>
              </a:lnSpc>
              <a:spcBef>
                <a:spcPts val="0"/>
              </a:spcBef>
              <a:buFont typeface="Arial" panose="020B0604020202020204" pitchFamily="34" charset="0"/>
              <a:buNone/>
              <a:defRPr sz="900" kern="1200">
                <a:solidFill>
                  <a:schemeClr val="tx1"/>
                </a:solidFill>
                <a:latin typeface="+mn-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ko-KR" dirty="0">
                <a:solidFill>
                  <a:srgbClr val="000000"/>
                </a:solidFill>
                <a:latin typeface="맑은 고딕" panose="020B0503020000020004" pitchFamily="50" charset="-127"/>
              </a:rPr>
              <a:t>MUI-BD-04-T76</a:t>
            </a:r>
            <a:endParaRPr lang="ko-KR" altLang="en-US" dirty="0">
              <a:solidFill>
                <a:srgbClr val="000000"/>
              </a:solidFill>
              <a:latin typeface="맑은 고딕" panose="020B0503020000020004" pitchFamily="50" charset="-127"/>
            </a:endParaRPr>
          </a:p>
        </p:txBody>
      </p:sp>
      <p:sp>
        <p:nvSpPr>
          <p:cNvPr id="107" name="타원 10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8" name="그룹 107"/>
          <p:cNvGrpSpPr/>
          <p:nvPr/>
        </p:nvGrpSpPr>
        <p:grpSpPr>
          <a:xfrm>
            <a:off x="6726256" y="4802272"/>
            <a:ext cx="124144" cy="148935"/>
            <a:chOff x="161606" y="5392781"/>
            <a:chExt cx="97885" cy="117432"/>
          </a:xfrm>
        </p:grpSpPr>
        <p:cxnSp>
          <p:nvCxnSpPr>
            <p:cNvPr id="109" name="직선 연결선 10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12" name="직선 연결선 111"/>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13" name="타원 112"/>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4" name="그룹 113"/>
          <p:cNvGrpSpPr/>
          <p:nvPr/>
        </p:nvGrpSpPr>
        <p:grpSpPr>
          <a:xfrm>
            <a:off x="6726257" y="5299917"/>
            <a:ext cx="124144" cy="124144"/>
            <a:chOff x="162544" y="5299917"/>
            <a:chExt cx="124144" cy="124144"/>
          </a:xfrm>
        </p:grpSpPr>
        <p:cxnSp>
          <p:nvCxnSpPr>
            <p:cNvPr id="115" name="직선 연결선 114"/>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16" name="직선 연결선 115"/>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17" name="타원 116">
            <a:extLst>
              <a:ext uri="{FF2B5EF4-FFF2-40B4-BE49-F238E27FC236}">
                <a16:creationId xmlns:a16="http://schemas.microsoft.com/office/drawing/2014/main" id="{37A7FF4F-0EAA-1463-560A-D5EC24416103}"/>
              </a:ext>
            </a:extLst>
          </p:cNvPr>
          <p:cNvSpPr/>
          <p:nvPr/>
        </p:nvSpPr>
        <p:spPr>
          <a:xfrm>
            <a:off x="6405545" y="517045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Tree>
    <p:extLst>
      <p:ext uri="{BB962C8B-B14F-4D97-AF65-F5344CB8AC3E}">
        <p14:creationId xmlns:p14="http://schemas.microsoft.com/office/powerpoint/2010/main" val="2027386300"/>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입찰업체</a:t>
            </a:r>
            <a:r>
              <a:rPr lang="ko-KR" altLang="en-US" dirty="0"/>
              <a:t> </a:t>
            </a:r>
            <a:r>
              <a:rPr lang="ko-KR" altLang="en-US" dirty="0" smtClean="0"/>
              <a:t>데이터</a:t>
            </a:r>
            <a:r>
              <a:rPr lang="en-US" altLang="ko-KR" dirty="0" smtClean="0"/>
              <a:t/>
            </a:r>
            <a:br>
              <a:rPr lang="en-US" altLang="ko-KR" dirty="0" smtClean="0"/>
            </a:br>
            <a:r>
              <a:rPr lang="en-US" altLang="ko-KR" dirty="0" smtClean="0"/>
              <a:t>- </a:t>
            </a:r>
            <a:r>
              <a:rPr lang="ko-KR" altLang="en-US" dirty="0" smtClean="0"/>
              <a:t>암호화 </a:t>
            </a:r>
            <a:r>
              <a:rPr lang="ko-KR" altLang="en-US" dirty="0" err="1" smtClean="0"/>
              <a:t>대상항목</a:t>
            </a:r>
            <a:r>
              <a:rPr lang="ko-KR" altLang="en-US" dirty="0" smtClean="0"/>
              <a:t> 암호화 처리</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459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업체정보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01324"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8" name="직선 연결선 277">
            <a:extLst>
              <a:ext uri="{FF2B5EF4-FFF2-40B4-BE49-F238E27FC236}">
                <a16:creationId xmlns:a16="http://schemas.microsoft.com/office/drawing/2014/main" id="{E9293055-D5CD-4B9E-7F64-64B2D2CA7A52}"/>
              </a:ext>
            </a:extLst>
          </p:cNvPr>
          <p:cNvCxnSpPr/>
          <p:nvPr/>
        </p:nvCxnSpPr>
        <p:spPr>
          <a:xfrm>
            <a:off x="3840474" y="183006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3884152" y="1613459"/>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4438615" y="1613459"/>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4980122" y="1613459"/>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90" name="TextBox 289">
            <a:extLst>
              <a:ext uri="{FF2B5EF4-FFF2-40B4-BE49-F238E27FC236}">
                <a16:creationId xmlns:a16="http://schemas.microsoft.com/office/drawing/2014/main" id="{FFC49AEA-2A8F-250C-A86A-A7751D9706C3}"/>
              </a:ext>
            </a:extLst>
          </p:cNvPr>
          <p:cNvSpPr txBox="1"/>
          <p:nvPr/>
        </p:nvSpPr>
        <p:spPr>
          <a:xfrm>
            <a:off x="5681516" y="1613459"/>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4421659" y="1830066"/>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2" name="그룹 291"/>
          <p:cNvGrpSpPr/>
          <p:nvPr/>
        </p:nvGrpSpPr>
        <p:grpSpPr>
          <a:xfrm>
            <a:off x="6044070" y="1575336"/>
            <a:ext cx="422853" cy="187961"/>
            <a:chOff x="3641308" y="2234886"/>
            <a:chExt cx="422853" cy="187961"/>
          </a:xfrm>
        </p:grpSpPr>
        <p:sp>
          <p:nvSpPr>
            <p:cNvPr id="293" name="타원 29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5400000" flipH="1">
              <a:off x="3679895" y="2305364"/>
              <a:ext cx="94010" cy="47005"/>
              <a:chOff x="6812560" y="3297172"/>
              <a:chExt cx="94010" cy="47005"/>
            </a:xfrm>
          </p:grpSpPr>
          <p:cxnSp>
            <p:nvCxnSpPr>
              <p:cNvPr id="344" name="직선 연결선 3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5" name="직선 연결선 3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12" name="타원 3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3" name="그룹 312"/>
            <p:cNvGrpSpPr/>
            <p:nvPr/>
          </p:nvGrpSpPr>
          <p:grpSpPr>
            <a:xfrm rot="16200000">
              <a:off x="3931564"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3" name="직선 연결선 3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80270" y="458210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6" name="그룹 115"/>
          <p:cNvGrpSpPr/>
          <p:nvPr/>
        </p:nvGrpSpPr>
        <p:grpSpPr>
          <a:xfrm>
            <a:off x="721238" y="2485990"/>
            <a:ext cx="2630093" cy="2031034"/>
            <a:chOff x="3791188" y="2611009"/>
            <a:chExt cx="2630093" cy="2031034"/>
          </a:xfrm>
        </p:grpSpPr>
        <p:sp>
          <p:nvSpPr>
            <p:cNvPr id="117" name="TextBox 116">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8" name="직사각형 117"/>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smtClean="0">
                  <a:latin typeface="+mn-ea"/>
                </a:rPr>
                <a:t>abc@abc.com</a:t>
              </a:r>
              <a:endParaRPr lang="en-US" altLang="ko-KR" sz="700" dirty="0">
                <a:latin typeface="+mn-ea"/>
              </a:endParaRP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3914777" y="1898937"/>
            <a:ext cx="2473940" cy="3675880"/>
            <a:chOff x="3930894" y="2486725"/>
            <a:chExt cx="2473940" cy="3675880"/>
          </a:xfrm>
        </p:grpSpPr>
        <p:sp>
          <p:nvSpPr>
            <p:cNvPr id="131" name="TextBox 130">
              <a:extLst>
                <a:ext uri="{FF2B5EF4-FFF2-40B4-BE49-F238E27FC236}">
                  <a16:creationId xmlns:a16="http://schemas.microsoft.com/office/drawing/2014/main" id="{FFC49AEA-2A8F-250C-A86A-A7751D9706C3}"/>
                </a:ext>
              </a:extLst>
            </p:cNvPr>
            <p:cNvSpPr txBox="1"/>
            <p:nvPr/>
          </p:nvSpPr>
          <p:spPr>
            <a:xfrm>
              <a:off x="3930894" y="2486725"/>
              <a:ext cx="2473940" cy="107722"/>
            </a:xfrm>
            <a:prstGeom prst="rect">
              <a:avLst/>
            </a:prstGeom>
            <a:noFill/>
          </p:spPr>
          <p:txBody>
            <a:bodyPr wrap="square" lIns="0" tIns="0" rIns="0" bIns="0" rtlCol="0">
              <a:spAutoFit/>
            </a:bodyPr>
            <a:lstStyle/>
            <a:p>
              <a:r>
                <a:rPr lang="en-US" altLang="ko-KR" sz="700" b="1" dirty="0">
                  <a:solidFill>
                    <a:srgbClr val="000000"/>
                  </a:solidFill>
                  <a:latin typeface="+mn-ea"/>
                </a:rPr>
                <a:t>LETTER OF GUARANTEE FOR PAYMENT OF BID BOND</a:t>
              </a:r>
              <a:endParaRPr lang="ko-KR" altLang="en-US" sz="700" b="1" dirty="0">
                <a:solidFill>
                  <a:srgbClr val="000000"/>
                </a:solidFill>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3930894" y="2715507"/>
              <a:ext cx="2473940" cy="3447098"/>
            </a:xfrm>
            <a:prstGeom prst="rect">
              <a:avLst/>
            </a:prstGeom>
            <a:noFill/>
          </p:spPr>
          <p:txBody>
            <a:bodyPr wrap="square" lIns="0" tIns="0" rIns="0" bIns="0" rtlCol="0">
              <a:spAutoFit/>
            </a:bodyPr>
            <a:lstStyle/>
            <a:p>
              <a:r>
                <a:rPr lang="en-US" altLang="ko-KR" sz="700" dirty="0">
                  <a:solidFill>
                    <a:srgbClr val="000000"/>
                  </a:solidFill>
                  <a:latin typeface="+mn-ea"/>
                </a:rPr>
                <a:t>Name and address of Beneficiary</a:t>
              </a:r>
            </a:p>
            <a:p>
              <a:r>
                <a:rPr lang="en-US" altLang="ko-KR" sz="700" dirty="0">
                  <a:solidFill>
                    <a:srgbClr val="000000"/>
                  </a:solidFill>
                  <a:latin typeface="+mn-ea"/>
                </a:rPr>
                <a:t>Defense Acquisition Program Administration, Republic of Korea, #2-15 </a:t>
              </a:r>
              <a:r>
                <a:rPr lang="en-US" altLang="ko-KR" sz="700" dirty="0" err="1">
                  <a:solidFill>
                    <a:srgbClr val="000000"/>
                  </a:solidFill>
                  <a:latin typeface="+mn-ea"/>
                </a:rPr>
                <a:t>Younsan</a:t>
              </a:r>
              <a:r>
                <a:rPr lang="en-US" altLang="ko-KR" sz="700" dirty="0">
                  <a:solidFill>
                    <a:srgbClr val="000000"/>
                  </a:solidFill>
                  <a:latin typeface="+mn-ea"/>
                </a:rPr>
                <a:t> 2Ga-Dong, </a:t>
              </a:r>
              <a:r>
                <a:rPr lang="en-US" altLang="ko-KR" sz="700" dirty="0" err="1">
                  <a:solidFill>
                    <a:srgbClr val="000000"/>
                  </a:solidFill>
                  <a:latin typeface="+mn-ea"/>
                </a:rPr>
                <a:t>Younsan-Gu</a:t>
              </a:r>
              <a:r>
                <a:rPr lang="en-US" altLang="ko-KR" sz="700" dirty="0">
                  <a:solidFill>
                    <a:srgbClr val="000000"/>
                  </a:solidFill>
                  <a:latin typeface="+mn-ea"/>
                </a:rPr>
                <a:t>, Seoul, Korea</a:t>
              </a:r>
            </a:p>
            <a:p>
              <a:r>
                <a:rPr lang="en-US" altLang="ko-KR" sz="700" dirty="0">
                  <a:solidFill>
                    <a:srgbClr val="000000"/>
                  </a:solidFill>
                  <a:latin typeface="+mn-ea"/>
                </a:rPr>
                <a:t>(Whom the solicitation defines as the “DAPA” or the “</a:t>
              </a:r>
              <a:r>
                <a:rPr lang="en-US" altLang="ko-KR" sz="700" dirty="0" err="1">
                  <a:solidFill>
                    <a:srgbClr val="000000"/>
                  </a:solidFill>
                  <a:latin typeface="+mn-ea"/>
                </a:rPr>
                <a:t>Buer</a:t>
              </a:r>
              <a:r>
                <a:rPr lang="en-US" altLang="ko-KR" sz="700" dirty="0">
                  <a:solidFill>
                    <a:srgbClr val="000000"/>
                  </a:solidFill>
                  <a:latin typeface="+mn-ea"/>
                </a:rPr>
                <a:t>”)</a:t>
              </a:r>
            </a:p>
            <a:p>
              <a:r>
                <a:rPr lang="en-US" altLang="ko-KR" sz="700" dirty="0">
                  <a:solidFill>
                    <a:srgbClr val="000000"/>
                  </a:solidFill>
                  <a:latin typeface="+mn-ea"/>
                </a:rPr>
                <a:t>We, #</a:t>
              </a:r>
              <a:r>
                <a:rPr lang="ko-KR" altLang="en-US" sz="700" dirty="0" err="1">
                  <a:solidFill>
                    <a:srgbClr val="000000"/>
                  </a:solidFill>
                  <a:latin typeface="+mn-ea"/>
                </a:rPr>
                <a:t>입찰업체명</a:t>
              </a:r>
              <a:endParaRPr lang="ko-KR" altLang="en-US" sz="700" dirty="0">
                <a:solidFill>
                  <a:srgbClr val="000000"/>
                </a:solidFill>
                <a:latin typeface="+mn-ea"/>
              </a:endParaRPr>
            </a:p>
            <a:p>
              <a:r>
                <a:rPr lang="en-US" altLang="ko-KR" sz="700" dirty="0">
                  <a:solidFill>
                    <a:srgbClr val="000000"/>
                  </a:solidFill>
                  <a:latin typeface="+mn-ea"/>
                </a:rPr>
                <a:t>The bidder of the above referenced solicitation, have been informed of the eligibility for an exemption from establishing a bid bond, pol Relevant Laws and Regulation of the Republic of Korea.</a:t>
              </a:r>
            </a:p>
            <a:p>
              <a:r>
                <a:rPr lang="en-US" altLang="ko-KR" sz="700" dirty="0">
                  <a:solidFill>
                    <a:srgbClr val="000000"/>
                  </a:solidFill>
                  <a:latin typeface="+mn-ea"/>
                </a:rPr>
                <a:t>Bidders are exempted from establishing bid bond unless he or she fails the following category.</a:t>
              </a:r>
            </a:p>
            <a:p>
              <a:endParaRPr lang="en-US" altLang="ko-KR" sz="700" dirty="0">
                <a:solidFill>
                  <a:srgbClr val="000000"/>
                </a:solidFill>
                <a:latin typeface="+mn-ea"/>
              </a:endParaRPr>
            </a:p>
            <a:p>
              <a:r>
                <a:rPr lang="en-US" altLang="ko-KR" sz="700" dirty="0">
                  <a:solidFill>
                    <a:srgbClr val="000000"/>
                  </a:solidFill>
                  <a:latin typeface="+mn-ea"/>
                </a:rPr>
                <a:t>1. A bidder who fails to meet the bond collection of the Bidding Authorities in connection with any contract.</a:t>
              </a:r>
            </a:p>
            <a:p>
              <a:r>
                <a:rPr lang="en-US" altLang="ko-KR" sz="700" dirty="0">
                  <a:solidFill>
                    <a:srgbClr val="000000"/>
                  </a:solidFill>
                  <a:latin typeface="+mn-ea"/>
                </a:rPr>
                <a:t>2. A bidder who had debarred form any bid pursuant to the Art. 76 of the Enforcement Act on Contracts to Which the State is a Party and the same sanction period has not been gone by after the expiration of the debarment.</a:t>
              </a:r>
            </a:p>
            <a:p>
              <a:r>
                <a:rPr lang="en-US" altLang="ko-KR" sz="700" dirty="0">
                  <a:solidFill>
                    <a:srgbClr val="000000"/>
                  </a:solidFill>
                  <a:latin typeface="+mn-ea"/>
                </a:rPr>
                <a:t>3. A bidder who has not been in the business for more than one(1) year as of the closing date of bid registration.</a:t>
              </a:r>
            </a:p>
            <a:p>
              <a:r>
                <a:rPr lang="en-US" altLang="ko-KR" sz="700" dirty="0">
                  <a:solidFill>
                    <a:srgbClr val="000000"/>
                  </a:solidFill>
                  <a:latin typeface="+mn-ea"/>
                </a:rPr>
                <a:t>In consideration of the DAPA granting the above mentioned exemption, we hereby irrevocably and unconditionally guarantee to pay DAPA</a:t>
              </a:r>
            </a:p>
            <a:p>
              <a:r>
                <a:rPr lang="en-US" altLang="ko-KR" sz="700" dirty="0">
                  <a:solidFill>
                    <a:srgbClr val="000000"/>
                  </a:solidFill>
                  <a:latin typeface="+mn-ea"/>
                </a:rPr>
                <a:t>US$(#</a:t>
              </a:r>
              <a:r>
                <a:rPr lang="ko-KR" altLang="en-US" sz="700" dirty="0">
                  <a:solidFill>
                    <a:srgbClr val="000000"/>
                  </a:solidFill>
                  <a:latin typeface="+mn-ea"/>
                </a:rPr>
                <a:t>보증금액</a:t>
              </a:r>
              <a:r>
                <a:rPr lang="en-US" altLang="ko-KR" sz="700" dirty="0">
                  <a:solidFill>
                    <a:srgbClr val="000000"/>
                  </a:solidFill>
                  <a:latin typeface="+mn-ea"/>
                </a:rPr>
                <a:t>) the amount which would have otherwise been established as the bid bond, within 30 days upon fail to execute the contract with DAPA after the bid is awarded to us or we do not respond timely to the evaluation formalities of the bidder's qualification if we are designated as an eligible bidder.</a:t>
              </a:r>
            </a:p>
            <a:p>
              <a:r>
                <a:rPr lang="en-US" altLang="ko-KR" sz="700" dirty="0">
                  <a:solidFill>
                    <a:srgbClr val="000000"/>
                  </a:solidFill>
                  <a:latin typeface="+mn-ea"/>
                </a:rPr>
                <a:t>We further agree that the DAPA is hereby authorized to deduct form any money due to us if we fail to make payment of such guaranteed amount</a:t>
              </a:r>
              <a:endParaRPr lang="ko-KR" altLang="en-US" sz="700" dirty="0">
                <a:solidFill>
                  <a:srgbClr val="000000"/>
                </a:solidFill>
                <a:latin typeface="+mn-ea"/>
              </a:endParaRPr>
            </a:p>
          </p:txBody>
        </p:sp>
      </p:grpSp>
      <p:sp>
        <p:nvSpPr>
          <p:cNvPr id="134" name="TextBox 133">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252840004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변경</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a:t>보증금비면제</a:t>
            </a:r>
            <a:r>
              <a:rPr lang="en-US" altLang="ko-KR" dirty="0"/>
              <a:t>)</a:t>
            </a:r>
            <a:r>
              <a:rPr lang="ko-KR" altLang="en-US" dirty="0"/>
              <a:t> 데이터 영역</a:t>
            </a:r>
            <a:endParaRPr lang="en-US" altLang="ko-KR" dirty="0"/>
          </a:p>
          <a:p>
            <a:pPr marL="228600" indent="-228600">
              <a:buFont typeface="+mj-lt"/>
              <a:buAutoNum type="arabicPeriod"/>
            </a:pPr>
            <a:r>
              <a:rPr lang="ko-KR" altLang="en-US" dirty="0" smtClean="0"/>
              <a:t>선택 버튼 </a:t>
            </a:r>
            <a:r>
              <a:rPr lang="en-US" altLang="ko-KR" dirty="0" smtClean="0"/>
              <a:t>(ON/OFF)</a:t>
            </a:r>
          </a:p>
          <a:p>
            <a:pPr marL="228600" indent="-228600">
              <a:buFont typeface="+mj-lt"/>
              <a:buAutoNum type="arabicPeriod"/>
            </a:pPr>
            <a:r>
              <a:rPr lang="ko-KR" altLang="en-US" dirty="0" smtClean="0"/>
              <a:t>입찰 취소</a:t>
            </a:r>
            <a:r>
              <a:rPr lang="en-US" altLang="ko-KR" dirty="0" smtClean="0"/>
              <a:t/>
            </a:r>
            <a:br>
              <a:rPr lang="en-US" altLang="ko-KR" dirty="0" smtClean="0"/>
            </a:br>
            <a:r>
              <a:rPr lang="en-US" altLang="ko-KR" dirty="0" smtClean="0"/>
              <a:t>- </a:t>
            </a:r>
            <a:r>
              <a:rPr lang="ko-KR" altLang="en-US" dirty="0" smtClean="0"/>
              <a:t>개별 건</a:t>
            </a:r>
            <a:r>
              <a:rPr lang="en-US" altLang="ko-KR" dirty="0" smtClean="0"/>
              <a:t>(</a:t>
            </a:r>
            <a:r>
              <a:rPr lang="ko-KR" altLang="en-US" dirty="0" smtClean="0"/>
              <a:t>선택 건</a:t>
            </a:r>
            <a:r>
              <a:rPr lang="en-US" altLang="ko-KR" dirty="0" smtClean="0"/>
              <a:t>)</a:t>
            </a:r>
            <a:r>
              <a:rPr lang="ko-KR" altLang="en-US" dirty="0" smtClean="0"/>
              <a:t> 입찰 </a:t>
            </a:r>
            <a:r>
              <a:rPr lang="ko-KR" altLang="en-US" dirty="0"/>
              <a:t>취소</a:t>
            </a:r>
            <a:r>
              <a:rPr lang="en-US" altLang="ko-KR" dirty="0"/>
              <a:t/>
            </a:r>
            <a:br>
              <a:rPr lang="en-US" altLang="ko-KR" dirty="0"/>
            </a:br>
            <a:r>
              <a:rPr lang="en-US" altLang="ko-KR" dirty="0" smtClean="0"/>
              <a:t>  &gt; </a:t>
            </a:r>
            <a:r>
              <a:rPr lang="ko-KR" altLang="en-US" dirty="0"/>
              <a:t>입찰참가 취소 팝업 </a:t>
            </a:r>
            <a:r>
              <a:rPr lang="ko-KR" altLang="en-US" dirty="0" smtClean="0"/>
              <a:t>호출</a:t>
            </a:r>
            <a:r>
              <a:rPr lang="en-US" altLang="ko-KR" dirty="0"/>
              <a:t/>
            </a:r>
            <a:br>
              <a:rPr lang="en-US" altLang="ko-KR" dirty="0"/>
            </a:br>
            <a:r>
              <a:rPr lang="en-US" altLang="ko-KR" dirty="0"/>
              <a:t>  &gt; MUI-BD-04-P82 </a:t>
            </a:r>
            <a:r>
              <a:rPr lang="ko-KR" altLang="en-US" dirty="0" smtClean="0"/>
              <a:t>입찰참가신청서취소</a:t>
            </a:r>
            <a:r>
              <a:rPr lang="en-US" altLang="ko-KR" dirty="0" smtClean="0"/>
              <a:t/>
            </a:r>
            <a:br>
              <a:rPr lang="en-US" altLang="ko-KR" dirty="0" smtClean="0"/>
            </a:br>
            <a:r>
              <a:rPr lang="en-US" altLang="ko-KR" dirty="0" smtClean="0"/>
              <a:t>- </a:t>
            </a:r>
            <a:r>
              <a:rPr lang="ko-KR" altLang="en-US" dirty="0" smtClean="0"/>
              <a:t>전체 입찰 취소</a:t>
            </a:r>
            <a:r>
              <a:rPr lang="en-US" altLang="ko-KR" dirty="0" smtClean="0"/>
              <a:t/>
            </a:r>
            <a:br>
              <a:rPr lang="en-US" altLang="ko-KR" dirty="0" smtClean="0"/>
            </a:br>
            <a:r>
              <a:rPr lang="en-US" altLang="ko-KR" dirty="0" smtClean="0"/>
              <a:t>  &gt; </a:t>
            </a:r>
            <a:r>
              <a:rPr lang="ko-KR" altLang="en-US" dirty="0" smtClean="0"/>
              <a:t>입찰참가 취소 팝업 호출</a:t>
            </a:r>
            <a:r>
              <a:rPr lang="en-US" altLang="ko-KR" dirty="0" smtClean="0"/>
              <a:t/>
            </a:r>
            <a:br>
              <a:rPr lang="en-US" altLang="ko-KR" dirty="0" smtClean="0"/>
            </a:br>
            <a:r>
              <a:rPr lang="en-US" altLang="ko-KR" dirty="0" smtClean="0"/>
              <a:t>  </a:t>
            </a:r>
            <a:r>
              <a:rPr lang="en-US" altLang="ko-KR" dirty="0"/>
              <a:t>&gt; </a:t>
            </a:r>
            <a:r>
              <a:rPr lang="en-US" altLang="ko-KR" dirty="0" smtClean="0"/>
              <a:t>MUI-BD-04-P82 </a:t>
            </a:r>
            <a:r>
              <a:rPr lang="ko-KR" altLang="en-US" dirty="0" smtClean="0"/>
              <a:t>입찰참가신청서취소</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460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179454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1577938"/>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1577938"/>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1577938"/>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1577938"/>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1794545"/>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1539815"/>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a:t>
              </a:r>
              <a:r>
                <a:rPr kumimoji="1" lang="ko-KR" altLang="en-US" sz="700" kern="0" dirty="0" err="1">
                  <a:latin typeface="맑은 고딕"/>
                  <a:ea typeface="맑은 고딕" panose="020B0503020000020004" pitchFamily="50" charset="-127"/>
                </a:rPr>
                <a:t>비면제</a:t>
              </a:r>
              <a:endParaRPr kumimoji="1" lang="en-US" sz="700" b="0" i="0" u="none" strike="noStrike" kern="0" cap="none" spc="0" normalizeH="0" baseline="0" noProof="0" dirty="0">
                <a:ln>
                  <a:noFill/>
                </a:ln>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면제</a:t>
              </a:r>
              <a:endParaRPr kumimoji="1" lang="en-US" sz="700" b="0" i="0" u="none" strike="noStrike" kern="0" cap="none" spc="0" normalizeH="0" baseline="0" noProof="0" dirty="0">
                <a:ln>
                  <a:noFill/>
                </a:ln>
                <a:solidFill>
                  <a:srgbClr val="0070C0"/>
                </a:solidFill>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822037"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763817"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193899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193899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err="1">
                <a:latin typeface="+mn-ea"/>
              </a:rPr>
              <a:t>연대보증서</a:t>
            </a:r>
            <a:endParaRPr lang="ko-KR" altLang="en-US" sz="700" dirty="0">
              <a:latin typeface="+mn-ea"/>
            </a:endParaRPr>
          </a:p>
          <a:p>
            <a:pPr>
              <a:lnSpc>
                <a:spcPct val="200000"/>
              </a:lnSpc>
            </a:pPr>
            <a:r>
              <a:rPr lang="ko-KR" altLang="en-US" sz="700" dirty="0" err="1">
                <a:latin typeface="+mn-ea"/>
              </a:rPr>
              <a:t>지급각서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193899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r>
              <a:rPr lang="en-US" altLang="ko-KR" sz="700" dirty="0">
                <a:solidFill>
                  <a:srgbClr val="0070C0"/>
                </a:solidFill>
                <a:latin typeface="+mn-ea"/>
              </a:rPr>
              <a:t>File.pdf</a:t>
            </a:r>
          </a:p>
          <a:p>
            <a:pPr>
              <a:lnSpc>
                <a:spcPct val="200000"/>
              </a:lnSpc>
            </a:pPr>
            <a:r>
              <a:rPr lang="en-US" altLang="ko-KR" sz="700" dirty="0">
                <a:solidFill>
                  <a:srgbClr val="0070C0"/>
                </a:solidFill>
                <a:latin typeface="+mn-ea"/>
              </a:rPr>
              <a:t>File.pdf</a:t>
            </a:r>
          </a:p>
        </p:txBody>
      </p:sp>
      <p:grpSp>
        <p:nvGrpSpPr>
          <p:cNvPr id="172" name="그룹 171"/>
          <p:cNvGrpSpPr/>
          <p:nvPr/>
        </p:nvGrpSpPr>
        <p:grpSpPr>
          <a:xfrm>
            <a:off x="720139" y="3378381"/>
            <a:ext cx="2630093" cy="1939635"/>
            <a:chOff x="701175" y="1835481"/>
            <a:chExt cx="2630093" cy="1939635"/>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37751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809295" y="4664865"/>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68" name="타원 167">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0" name="사각형: 둥근 모서리 15">
            <a:extLst>
              <a:ext uri="{FF2B5EF4-FFF2-40B4-BE49-F238E27FC236}">
                <a16:creationId xmlns:a16="http://schemas.microsoft.com/office/drawing/2014/main" id="{E2B61CFB-AD16-68D0-8752-50D9C5E01971}"/>
              </a:ext>
            </a:extLst>
          </p:cNvPr>
          <p:cNvSpPr/>
          <p:nvPr/>
        </p:nvSpPr>
        <p:spPr>
          <a:xfrm>
            <a:off x="2923735" y="5131583"/>
            <a:ext cx="421506" cy="154884"/>
          </a:xfrm>
          <a:prstGeom prst="roundRect">
            <a:avLst/>
          </a:prstGeom>
          <a:noFill/>
          <a:ln w="3175"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solidFill>
                  <a:srgbClr val="0070C0"/>
                </a:solidFill>
                <a:latin typeface="맑은 고딕"/>
                <a:ea typeface="맑은 고딕" panose="020B0503020000020004" pitchFamily="50" charset="-127"/>
              </a:rPr>
              <a:t>다운로드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3" name="사각형: 둥근 모서리 15">
            <a:extLst>
              <a:ext uri="{FF2B5EF4-FFF2-40B4-BE49-F238E27FC236}">
                <a16:creationId xmlns:a16="http://schemas.microsoft.com/office/drawing/2014/main" id="{E2B61CFB-AD16-68D0-8752-50D9C5E01971}"/>
              </a:ext>
            </a:extLst>
          </p:cNvPr>
          <p:cNvSpPr/>
          <p:nvPr/>
        </p:nvSpPr>
        <p:spPr>
          <a:xfrm>
            <a:off x="2923735" y="4910914"/>
            <a:ext cx="421506" cy="154884"/>
          </a:xfrm>
          <a:prstGeom prst="roundRect">
            <a:avLst/>
          </a:prstGeom>
          <a:noFill/>
          <a:ln w="3175"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solidFill>
                  <a:srgbClr val="0070C0"/>
                </a:solidFill>
                <a:latin typeface="맑은 고딕"/>
                <a:ea typeface="맑은 고딕" panose="020B0503020000020004" pitchFamily="50" charset="-127"/>
              </a:rPr>
              <a:t>다운로드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5" name="사각형: 둥근 모서리 15">
            <a:extLst>
              <a:ext uri="{FF2B5EF4-FFF2-40B4-BE49-F238E27FC236}">
                <a16:creationId xmlns:a16="http://schemas.microsoft.com/office/drawing/2014/main" id="{E2B61CFB-AD16-68D0-8752-50D9C5E01971}"/>
              </a:ext>
            </a:extLst>
          </p:cNvPr>
          <p:cNvSpPr/>
          <p:nvPr/>
        </p:nvSpPr>
        <p:spPr>
          <a:xfrm>
            <a:off x="2976500" y="3411419"/>
            <a:ext cx="368741"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smtClean="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6" name="타원 105">
            <a:extLst>
              <a:ext uri="{FF2B5EF4-FFF2-40B4-BE49-F238E27FC236}">
                <a16:creationId xmlns:a16="http://schemas.microsoft.com/office/drawing/2014/main" id="{37A7FF4F-0EAA-1463-560A-D5EC24416103}"/>
              </a:ext>
            </a:extLst>
          </p:cNvPr>
          <p:cNvSpPr/>
          <p:nvPr/>
        </p:nvSpPr>
        <p:spPr>
          <a:xfrm>
            <a:off x="3384808"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83" name="사각형: 둥근 모서리 15">
            <a:extLst>
              <a:ext uri="{FF2B5EF4-FFF2-40B4-BE49-F238E27FC236}">
                <a16:creationId xmlns:a16="http://schemas.microsoft.com/office/drawing/2014/main" id="{E2B61CFB-AD16-68D0-8752-50D9C5E01971}"/>
              </a:ext>
            </a:extLst>
          </p:cNvPr>
          <p:cNvSpPr/>
          <p:nvPr/>
        </p:nvSpPr>
        <p:spPr>
          <a:xfrm>
            <a:off x="3825376" y="5288718"/>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84" name="그룹 83"/>
          <p:cNvGrpSpPr/>
          <p:nvPr/>
        </p:nvGrpSpPr>
        <p:grpSpPr>
          <a:xfrm>
            <a:off x="3795734" y="5614711"/>
            <a:ext cx="2712027" cy="617588"/>
            <a:chOff x="675399" y="5614711"/>
            <a:chExt cx="2712027" cy="617588"/>
          </a:xfrm>
        </p:grpSpPr>
        <p:sp>
          <p:nvSpPr>
            <p:cNvPr id="85" name="직사각형 8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전체 </a:t>
              </a:r>
              <a:r>
                <a:rPr kumimoji="1" lang="ko-KR" altLang="en-US" sz="1000" kern="0" noProof="0" dirty="0" err="1" smtClean="0">
                  <a:solidFill>
                    <a:srgbClr val="0070C0"/>
                  </a:solidFill>
                  <a:latin typeface="맑은 고딕"/>
                  <a:ea typeface="맑은 고딕" panose="020B0503020000020004" pitchFamily="50" charset="-127"/>
                </a:rPr>
                <a:t>입찰취소</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87"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smtClean="0"/>
                <a:t>선택 </a:t>
              </a:r>
              <a:r>
                <a:rPr kumimoji="1" lang="ko-KR" altLang="en-US" sz="1000" kern="0" dirty="0" err="1" smtClean="0"/>
                <a:t>입찰취소</a:t>
              </a:r>
              <a:endParaRPr kumimoji="1" lang="en-US" sz="1000" b="0" i="0" u="none" strike="noStrike" kern="0" cap="none" spc="0" normalizeH="0" baseline="0" noProof="0" dirty="0">
                <a:ln>
                  <a:noFill/>
                </a:ln>
                <a:effectLst/>
                <a:uLnTx/>
                <a:uFillTx/>
                <a:latin typeface="맑은 고딕"/>
              </a:endParaRPr>
            </a:p>
          </p:txBody>
        </p:sp>
      </p:grpSp>
      <p:sp>
        <p:nvSpPr>
          <p:cNvPr id="88" name="타원 87">
            <a:extLst>
              <a:ext uri="{FF2B5EF4-FFF2-40B4-BE49-F238E27FC236}">
                <a16:creationId xmlns:a16="http://schemas.microsoft.com/office/drawing/2014/main" id="{37A7FF4F-0EAA-1463-560A-D5EC24416103}"/>
              </a:ext>
            </a:extLst>
          </p:cNvPr>
          <p:cNvSpPr/>
          <p:nvPr/>
        </p:nvSpPr>
        <p:spPr>
          <a:xfrm>
            <a:off x="3669753" y="57865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grpSp>
        <p:nvGrpSpPr>
          <p:cNvPr id="89" name="그룹 88"/>
          <p:cNvGrpSpPr/>
          <p:nvPr/>
        </p:nvGrpSpPr>
        <p:grpSpPr>
          <a:xfrm>
            <a:off x="8223250" y="569392"/>
            <a:ext cx="3365500" cy="634511"/>
            <a:chOff x="8223250" y="569392"/>
            <a:chExt cx="3365500" cy="634511"/>
          </a:xfrm>
        </p:grpSpPr>
        <p:sp>
          <p:nvSpPr>
            <p:cNvPr id="90" name="직사각형 8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2026-07-07 </a:t>
              </a:r>
              <a:r>
                <a:rPr lang="ko-KR" altLang="en-US" dirty="0" smtClean="0"/>
                <a:t>화면 </a:t>
              </a:r>
              <a:r>
                <a:rPr lang="ko-KR" altLang="en-US" dirty="0"/>
                <a:t>수정</a:t>
              </a:r>
            </a:p>
          </p:txBody>
        </p:sp>
        <p:sp>
          <p:nvSpPr>
            <p:cNvPr id="91" name="직사각형 9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선택 </a:t>
              </a:r>
              <a:r>
                <a:rPr lang="ko-KR" altLang="en-US" sz="700" dirty="0" err="1" smtClean="0"/>
                <a:t>입찰취소</a:t>
              </a:r>
              <a:r>
                <a:rPr lang="en-US" altLang="ko-KR" sz="700" dirty="0" smtClean="0"/>
                <a:t>, </a:t>
              </a:r>
              <a:r>
                <a:rPr lang="ko-KR" altLang="en-US" sz="700" dirty="0" smtClean="0"/>
                <a:t>전체 </a:t>
              </a:r>
              <a:r>
                <a:rPr lang="ko-KR" altLang="en-US" sz="700" dirty="0" err="1" smtClean="0"/>
                <a:t>입찰취소</a:t>
              </a:r>
              <a:r>
                <a:rPr lang="ko-KR" altLang="en-US" sz="700" dirty="0" smtClean="0"/>
                <a:t> 버튼 추가</a:t>
              </a:r>
              <a:endParaRPr lang="ko-KR" altLang="en-US" sz="700" dirty="0"/>
            </a:p>
          </p:txBody>
        </p:sp>
      </p:grpSp>
    </p:spTree>
    <p:extLst>
      <p:ext uri="{BB962C8B-B14F-4D97-AF65-F5344CB8AC3E}">
        <p14:creationId xmlns:p14="http://schemas.microsoft.com/office/powerpoint/2010/main" val="2895798038"/>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변경</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a:t>보증금비면제</a:t>
            </a:r>
            <a:r>
              <a:rPr lang="en-US" altLang="ko-KR" dirty="0"/>
              <a:t>)</a:t>
            </a:r>
            <a:r>
              <a:rPr lang="ko-KR" altLang="en-US" dirty="0"/>
              <a:t> 데이터 영역</a:t>
            </a:r>
            <a:endParaRPr lang="en-US" altLang="ko-KR" dirty="0"/>
          </a:p>
          <a:p>
            <a:pPr marL="228600" indent="-228600">
              <a:buFont typeface="+mj-lt"/>
              <a:buAutoNum type="arabicPeriod"/>
            </a:pPr>
            <a:r>
              <a:rPr lang="ko-KR" altLang="en-US" dirty="0"/>
              <a:t>선택 버튼 </a:t>
            </a:r>
            <a:r>
              <a:rPr lang="en-US" altLang="ko-KR" dirty="0"/>
              <a:t>(ON/OFF)</a:t>
            </a:r>
          </a:p>
          <a:p>
            <a:pPr marL="228600" indent="-228600">
              <a:buFont typeface="+mj-lt"/>
              <a:buAutoNum type="arabicPeriod"/>
            </a:pPr>
            <a:r>
              <a:rPr lang="ko-KR" altLang="en-US" dirty="0" err="1" smtClean="0"/>
              <a:t>보증서선택</a:t>
            </a:r>
            <a:r>
              <a:rPr lang="ko-KR" altLang="en-US" dirty="0" smtClean="0"/>
              <a:t> </a:t>
            </a:r>
            <a:r>
              <a:rPr lang="ko-KR" altLang="en-US" dirty="0"/>
              <a:t>클릭 이벤트</a:t>
            </a:r>
            <a:r>
              <a:rPr lang="en-US" altLang="ko-KR" dirty="0"/>
              <a:t/>
            </a:r>
            <a:br>
              <a:rPr lang="en-US" altLang="ko-KR" dirty="0"/>
            </a:br>
            <a:r>
              <a:rPr lang="en-US" altLang="ko-KR" dirty="0"/>
              <a:t>- </a:t>
            </a:r>
            <a:r>
              <a:rPr lang="ko-KR" altLang="en-US" dirty="0"/>
              <a:t>전자보증서인 경우 팝업 </a:t>
            </a:r>
            <a:r>
              <a:rPr lang="ko-KR" altLang="en-US" dirty="0" smtClean="0"/>
              <a:t>호출</a:t>
            </a:r>
            <a:r>
              <a:rPr lang="en-US" altLang="ko-KR" dirty="0" smtClean="0"/>
              <a:t/>
            </a:r>
            <a:br>
              <a:rPr lang="en-US" altLang="ko-KR" dirty="0" smtClean="0"/>
            </a:br>
            <a:r>
              <a:rPr lang="en-US" altLang="ko-KR" dirty="0" smtClean="0"/>
              <a:t>  &gt; </a:t>
            </a:r>
            <a:r>
              <a:rPr lang="ko-KR" altLang="en-US" dirty="0" err="1" smtClean="0"/>
              <a:t>버튼명</a:t>
            </a:r>
            <a:r>
              <a:rPr lang="ko-KR" altLang="en-US" dirty="0" smtClean="0"/>
              <a:t> 보기로 표시</a:t>
            </a:r>
            <a:r>
              <a:rPr lang="en-US" altLang="ko-KR" dirty="0"/>
              <a:t/>
            </a:r>
            <a:br>
              <a:rPr lang="en-US" altLang="ko-KR" dirty="0"/>
            </a:br>
            <a:r>
              <a:rPr lang="en-US" altLang="ko-KR" dirty="0"/>
              <a:t>  &gt; </a:t>
            </a:r>
            <a:r>
              <a:rPr lang="en-US" altLang="ko-KR" dirty="0" smtClean="0"/>
              <a:t>MUI-BD-04-P76 </a:t>
            </a:r>
            <a:r>
              <a:rPr lang="ko-KR" altLang="en-US" dirty="0"/>
              <a:t>보증서정보조회</a:t>
            </a:r>
            <a:r>
              <a:rPr lang="en-US" altLang="ko-KR" dirty="0"/>
              <a:t/>
            </a:r>
            <a:br>
              <a:rPr lang="en-US" altLang="ko-KR" dirty="0"/>
            </a:br>
            <a:r>
              <a:rPr lang="en-US" altLang="ko-KR" dirty="0"/>
              <a:t>- </a:t>
            </a:r>
            <a:r>
              <a:rPr lang="ko-KR" altLang="en-US" dirty="0"/>
              <a:t>보증보험인 </a:t>
            </a:r>
            <a:r>
              <a:rPr lang="ko-KR" altLang="en-US" dirty="0" smtClean="0"/>
              <a:t>경우</a:t>
            </a:r>
            <a:r>
              <a:rPr lang="en-US" altLang="ko-KR" dirty="0" smtClean="0"/>
              <a:t/>
            </a:r>
            <a:br>
              <a:rPr lang="en-US" altLang="ko-KR" dirty="0" smtClean="0"/>
            </a:br>
            <a:r>
              <a:rPr lang="en-US" altLang="ko-KR" dirty="0" smtClean="0"/>
              <a:t>  &gt; </a:t>
            </a:r>
            <a:r>
              <a:rPr lang="ko-KR" altLang="en-US" dirty="0" err="1" smtClean="0"/>
              <a:t>버튼명</a:t>
            </a:r>
            <a:r>
              <a:rPr lang="ko-KR" altLang="en-US" dirty="0" smtClean="0"/>
              <a:t> 다운로드로 표시</a:t>
            </a:r>
            <a:r>
              <a:rPr lang="en-US" altLang="ko-KR" dirty="0" smtClean="0"/>
              <a:t/>
            </a:r>
            <a:br>
              <a:rPr lang="en-US" altLang="ko-KR" dirty="0" smtClean="0"/>
            </a:br>
            <a:r>
              <a:rPr lang="en-US" altLang="ko-KR" dirty="0" smtClean="0"/>
              <a:t>  &gt; </a:t>
            </a:r>
            <a:r>
              <a:rPr lang="ko-KR" altLang="en-US" dirty="0" smtClean="0"/>
              <a:t>업로드한 파일 다운로드 실행</a:t>
            </a:r>
            <a:endParaRPr lang="en-US" altLang="ko-KR" dirty="0" smtClean="0"/>
          </a:p>
          <a:p>
            <a:pPr marL="228600" indent="-228600">
              <a:buFont typeface="+mj-lt"/>
              <a:buAutoNum type="arabicPeriod"/>
            </a:pPr>
            <a:r>
              <a:rPr lang="ko-KR" altLang="en-US" dirty="0"/>
              <a:t>입찰 취소</a:t>
            </a:r>
            <a:r>
              <a:rPr lang="en-US" altLang="ko-KR" dirty="0"/>
              <a:t/>
            </a:r>
            <a:br>
              <a:rPr lang="en-US" altLang="ko-KR" dirty="0"/>
            </a:br>
            <a:r>
              <a:rPr lang="en-US" altLang="ko-KR" dirty="0"/>
              <a:t>- </a:t>
            </a:r>
            <a:r>
              <a:rPr lang="ko-KR" altLang="en-US" dirty="0"/>
              <a:t>개별 건</a:t>
            </a:r>
            <a:r>
              <a:rPr lang="en-US" altLang="ko-KR" dirty="0"/>
              <a:t>(</a:t>
            </a:r>
            <a:r>
              <a:rPr lang="ko-KR" altLang="en-US" dirty="0"/>
              <a:t>선택 건</a:t>
            </a:r>
            <a:r>
              <a:rPr lang="en-US" altLang="ko-KR" dirty="0"/>
              <a:t>)</a:t>
            </a:r>
            <a:r>
              <a:rPr lang="ko-KR" altLang="en-US" dirty="0"/>
              <a:t> 입찰참가 취소</a:t>
            </a:r>
            <a:r>
              <a:rPr lang="en-US" altLang="ko-KR" dirty="0"/>
              <a:t/>
            </a:r>
            <a:br>
              <a:rPr lang="en-US" altLang="ko-KR" dirty="0"/>
            </a:br>
            <a:r>
              <a:rPr lang="en-US" altLang="ko-KR" dirty="0"/>
              <a:t>  &gt; </a:t>
            </a:r>
            <a:r>
              <a:rPr lang="ko-KR" altLang="en-US" dirty="0"/>
              <a:t>입찰참가 취소 팝업 호출</a:t>
            </a:r>
            <a:r>
              <a:rPr lang="en-US" altLang="ko-KR" dirty="0"/>
              <a:t/>
            </a:r>
            <a:br>
              <a:rPr lang="en-US" altLang="ko-KR" dirty="0"/>
            </a:br>
            <a:r>
              <a:rPr lang="en-US" altLang="ko-KR" dirty="0"/>
              <a:t>  &gt; </a:t>
            </a:r>
            <a:r>
              <a:rPr lang="ko-KR" altLang="en-US" dirty="0" err="1"/>
              <a:t>플로팅</a:t>
            </a:r>
            <a:r>
              <a:rPr lang="ko-KR" altLang="en-US" dirty="0"/>
              <a:t> 버튼의 </a:t>
            </a:r>
            <a:r>
              <a:rPr lang="en-US" altLang="ko-KR" dirty="0"/>
              <a:t>(+) </a:t>
            </a:r>
            <a:r>
              <a:rPr lang="ko-KR" altLang="en-US" dirty="0"/>
              <a:t>버튼으로 전체 입찰참가 취소 진입</a:t>
            </a:r>
            <a:r>
              <a:rPr lang="en-US" altLang="ko-KR" dirty="0"/>
              <a:t/>
            </a:r>
            <a:br>
              <a:rPr lang="en-US" altLang="ko-KR" dirty="0"/>
            </a:br>
            <a:r>
              <a:rPr lang="en-US" altLang="ko-KR" dirty="0"/>
              <a:t>- </a:t>
            </a:r>
            <a:r>
              <a:rPr lang="ko-KR" altLang="en-US" dirty="0"/>
              <a:t>전체 입찰 취소</a:t>
            </a:r>
            <a:r>
              <a:rPr lang="en-US" altLang="ko-KR" dirty="0"/>
              <a:t/>
            </a:r>
            <a:br>
              <a:rPr lang="en-US" altLang="ko-KR" dirty="0"/>
            </a:br>
            <a:r>
              <a:rPr lang="en-US" altLang="ko-KR" dirty="0"/>
              <a:t>  &gt; </a:t>
            </a:r>
            <a:r>
              <a:rPr lang="ko-KR" altLang="en-US" dirty="0"/>
              <a:t>입찰참가 취소 팝업 호출</a:t>
            </a:r>
            <a:r>
              <a:rPr lang="en-US" altLang="ko-KR" dirty="0"/>
              <a:t/>
            </a:r>
            <a:br>
              <a:rPr lang="en-US" altLang="ko-KR" dirty="0"/>
            </a:br>
            <a:r>
              <a:rPr lang="en-US" altLang="ko-KR" dirty="0"/>
              <a:t>  &gt; MUI-BD-04-P82 </a:t>
            </a:r>
            <a:r>
              <a:rPr lang="ko-KR" altLang="en-US" dirty="0"/>
              <a:t>입찰참가신청서취소</a:t>
            </a:r>
            <a:endParaRPr lang="en-US" altLang="ko-KR" dirty="0"/>
          </a:p>
          <a:p>
            <a:pPr marL="228600" indent="-228600">
              <a:buFont typeface="+mj-lt"/>
              <a:buAutoNum type="arabicPeriod"/>
            </a:pP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461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846844"/>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288718"/>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181264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1596042"/>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1596042"/>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1596042"/>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1596042"/>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1812649"/>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1557919"/>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a:t>
              </a:r>
              <a:r>
                <a:rPr kumimoji="1" lang="ko-KR" altLang="en-US" sz="700" kern="0" dirty="0" err="1">
                  <a:solidFill>
                    <a:srgbClr val="0070C0"/>
                  </a:solidFill>
                  <a:latin typeface="맑은 고딕"/>
                  <a:ea typeface="맑은 고딕" panose="020B0503020000020004" pitchFamily="50" charset="-127"/>
                </a:rPr>
                <a:t>비면제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면제</a:t>
              </a:r>
              <a:endParaRPr kumimoji="1" lang="en-US" sz="700" b="0" i="0" u="none" strike="noStrike" kern="0" cap="none" spc="0" normalizeH="0" baseline="0" noProof="0" dirty="0">
                <a:ln>
                  <a:noFill/>
                </a:ln>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2126891"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2068671"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23670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2369880"/>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a:latin typeface="+mn-ea"/>
              </a:rPr>
              <a:t>보증금납부방법</a:t>
            </a:r>
          </a:p>
          <a:p>
            <a:pPr>
              <a:lnSpc>
                <a:spcPct val="200000"/>
              </a:lnSpc>
            </a:pPr>
            <a:r>
              <a:rPr lang="ko-KR" altLang="en-US" sz="700" dirty="0">
                <a:latin typeface="+mn-ea"/>
              </a:rPr>
              <a:t>보증금증권번호</a:t>
            </a:r>
          </a:p>
          <a:p>
            <a:pPr>
              <a:lnSpc>
                <a:spcPct val="200000"/>
              </a:lnSpc>
            </a:pPr>
            <a:r>
              <a:rPr lang="ko-KR" altLang="en-US" sz="700" dirty="0" err="1">
                <a:latin typeface="+mn-ea"/>
              </a:rPr>
              <a:t>보증기관명</a:t>
            </a:r>
            <a:endParaRPr lang="ko-KR" altLang="en-US" sz="700" dirty="0">
              <a:latin typeface="+mn-ea"/>
            </a:endParaRPr>
          </a:p>
          <a:p>
            <a:pPr>
              <a:lnSpc>
                <a:spcPct val="200000"/>
              </a:lnSpc>
            </a:pPr>
            <a:r>
              <a:rPr lang="ko-KR" altLang="en-US" sz="700" dirty="0">
                <a:latin typeface="+mn-ea"/>
              </a:rPr>
              <a:t>입찰보증금납부서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236988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r>
              <a:rPr lang="ko-KR" altLang="en-US" sz="700" dirty="0">
                <a:latin typeface="+mn-ea"/>
              </a:rPr>
              <a:t>보증보험</a:t>
            </a:r>
            <a:endParaRPr lang="en-US" altLang="ko-KR" sz="700" dirty="0">
              <a:latin typeface="+mn-ea"/>
            </a:endParaRPr>
          </a:p>
          <a:p>
            <a:pPr>
              <a:lnSpc>
                <a:spcPct val="200000"/>
              </a:lnSpc>
            </a:pPr>
            <a:r>
              <a:rPr lang="en-US" altLang="ko-KR" sz="700" dirty="0">
                <a:latin typeface="+mn-ea"/>
              </a:rPr>
              <a:t>1234567890abcedfg</a:t>
            </a:r>
          </a:p>
          <a:p>
            <a:pPr>
              <a:lnSpc>
                <a:spcPct val="200000"/>
              </a:lnSpc>
            </a:pPr>
            <a:r>
              <a:rPr lang="en-US" altLang="ko-KR" sz="700" dirty="0">
                <a:latin typeface="+mn-ea"/>
              </a:rPr>
              <a:t>1015375183999</a:t>
            </a:r>
          </a:p>
          <a:p>
            <a:pPr>
              <a:lnSpc>
                <a:spcPct val="200000"/>
              </a:lnSpc>
            </a:pPr>
            <a:r>
              <a:rPr lang="en-US" altLang="ko-KR" sz="700" dirty="0">
                <a:solidFill>
                  <a:srgbClr val="0070C0"/>
                </a:solidFill>
                <a:latin typeface="+mn-ea"/>
              </a:rPr>
              <a:t>File.pdf</a:t>
            </a:r>
          </a:p>
        </p:txBody>
      </p:sp>
      <p:grpSp>
        <p:nvGrpSpPr>
          <p:cNvPr id="172" name="그룹 171"/>
          <p:cNvGrpSpPr/>
          <p:nvPr/>
        </p:nvGrpSpPr>
        <p:grpSpPr>
          <a:xfrm>
            <a:off x="720139" y="3378381"/>
            <a:ext cx="2630093" cy="2367010"/>
            <a:chOff x="701175" y="1835481"/>
            <a:chExt cx="2630093" cy="236701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3772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01175" y="39872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1175" y="420249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809295" y="4665734"/>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11" name="타원 110">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12" name="타원 111">
            <a:extLst>
              <a:ext uri="{FF2B5EF4-FFF2-40B4-BE49-F238E27FC236}">
                <a16:creationId xmlns:a16="http://schemas.microsoft.com/office/drawing/2014/main" id="{37A7FF4F-0EAA-1463-560A-D5EC24416103}"/>
              </a:ext>
            </a:extLst>
          </p:cNvPr>
          <p:cNvSpPr/>
          <p:nvPr/>
        </p:nvSpPr>
        <p:spPr>
          <a:xfrm>
            <a:off x="589334" y="55651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09" name="사각형: 둥근 모서리 15">
            <a:extLst>
              <a:ext uri="{FF2B5EF4-FFF2-40B4-BE49-F238E27FC236}">
                <a16:creationId xmlns:a16="http://schemas.microsoft.com/office/drawing/2014/main" id="{E2B61CFB-AD16-68D0-8752-50D9C5E01971}"/>
              </a:ext>
            </a:extLst>
          </p:cNvPr>
          <p:cNvSpPr/>
          <p:nvPr/>
        </p:nvSpPr>
        <p:spPr>
          <a:xfrm>
            <a:off x="2923735" y="5562051"/>
            <a:ext cx="421506" cy="154884"/>
          </a:xfrm>
          <a:prstGeom prst="roundRect">
            <a:avLst/>
          </a:prstGeom>
          <a:noFill/>
          <a:ln w="3175"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solidFill>
                  <a:srgbClr val="0070C0"/>
                </a:solidFill>
                <a:latin typeface="맑은 고딕"/>
                <a:ea typeface="맑은 고딕" panose="020B0503020000020004" pitchFamily="50" charset="-127"/>
              </a:rPr>
              <a:t>다운로드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3" name="사각형: 둥근 모서리 15">
            <a:extLst>
              <a:ext uri="{FF2B5EF4-FFF2-40B4-BE49-F238E27FC236}">
                <a16:creationId xmlns:a16="http://schemas.microsoft.com/office/drawing/2014/main" id="{E2B61CFB-AD16-68D0-8752-50D9C5E01971}"/>
              </a:ext>
            </a:extLst>
          </p:cNvPr>
          <p:cNvSpPr/>
          <p:nvPr/>
        </p:nvSpPr>
        <p:spPr>
          <a:xfrm>
            <a:off x="2985824" y="3411419"/>
            <a:ext cx="359417"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smtClean="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14" name="타원 113">
            <a:extLst>
              <a:ext uri="{FF2B5EF4-FFF2-40B4-BE49-F238E27FC236}">
                <a16:creationId xmlns:a16="http://schemas.microsoft.com/office/drawing/2014/main" id="{37A7FF4F-0EAA-1463-560A-D5EC24416103}"/>
              </a:ext>
            </a:extLst>
          </p:cNvPr>
          <p:cNvSpPr/>
          <p:nvPr/>
        </p:nvSpPr>
        <p:spPr>
          <a:xfrm>
            <a:off x="3397065" y="34209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84" name="그룹 83"/>
          <p:cNvGrpSpPr/>
          <p:nvPr/>
        </p:nvGrpSpPr>
        <p:grpSpPr>
          <a:xfrm>
            <a:off x="3795734" y="5614711"/>
            <a:ext cx="2712027" cy="617588"/>
            <a:chOff x="675399" y="5614711"/>
            <a:chExt cx="2712027" cy="617588"/>
          </a:xfrm>
        </p:grpSpPr>
        <p:sp>
          <p:nvSpPr>
            <p:cNvPr id="85" name="직사각형 8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전체 </a:t>
              </a:r>
              <a:r>
                <a:rPr kumimoji="1" lang="ko-KR" altLang="en-US" sz="1000" kern="0" noProof="0" dirty="0" err="1" smtClean="0">
                  <a:solidFill>
                    <a:srgbClr val="0070C0"/>
                  </a:solidFill>
                  <a:latin typeface="맑은 고딕"/>
                  <a:ea typeface="맑은 고딕" panose="020B0503020000020004" pitchFamily="50" charset="-127"/>
                </a:rPr>
                <a:t>입찰취소</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87"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smtClean="0"/>
                <a:t>선택 </a:t>
              </a:r>
              <a:r>
                <a:rPr kumimoji="1" lang="ko-KR" altLang="en-US" sz="1000" kern="0" dirty="0" err="1" smtClean="0"/>
                <a:t>입찰취소</a:t>
              </a:r>
              <a:endParaRPr kumimoji="1" lang="en-US" sz="1000" b="0" i="0" u="none" strike="noStrike" kern="0" cap="none" spc="0" normalizeH="0" baseline="0" noProof="0" dirty="0">
                <a:ln>
                  <a:noFill/>
                </a:ln>
                <a:effectLst/>
                <a:uLnTx/>
                <a:uFillTx/>
                <a:latin typeface="맑은 고딕"/>
              </a:endParaRPr>
            </a:p>
          </p:txBody>
        </p:sp>
      </p:grpSp>
      <p:grpSp>
        <p:nvGrpSpPr>
          <p:cNvPr id="88" name="그룹 87"/>
          <p:cNvGrpSpPr/>
          <p:nvPr/>
        </p:nvGrpSpPr>
        <p:grpSpPr>
          <a:xfrm>
            <a:off x="8223250" y="569392"/>
            <a:ext cx="3365500" cy="634511"/>
            <a:chOff x="8223250" y="569392"/>
            <a:chExt cx="3365500" cy="634511"/>
          </a:xfrm>
        </p:grpSpPr>
        <p:sp>
          <p:nvSpPr>
            <p:cNvPr id="89" name="직사각형 88"/>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2026-07-07 </a:t>
              </a:r>
              <a:r>
                <a:rPr lang="ko-KR" altLang="en-US" dirty="0" smtClean="0"/>
                <a:t>화면 </a:t>
              </a:r>
              <a:r>
                <a:rPr lang="ko-KR" altLang="en-US" dirty="0"/>
                <a:t>수정</a:t>
              </a:r>
            </a:p>
          </p:txBody>
        </p:sp>
        <p:sp>
          <p:nvSpPr>
            <p:cNvPr id="90" name="직사각형 89"/>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선택 </a:t>
              </a:r>
              <a:r>
                <a:rPr lang="ko-KR" altLang="en-US" sz="700" dirty="0" err="1" smtClean="0"/>
                <a:t>입찰취소</a:t>
              </a:r>
              <a:r>
                <a:rPr lang="en-US" altLang="ko-KR" sz="700" dirty="0" smtClean="0"/>
                <a:t>, </a:t>
              </a:r>
              <a:r>
                <a:rPr lang="ko-KR" altLang="en-US" sz="700" dirty="0" smtClean="0"/>
                <a:t>전체 </a:t>
              </a:r>
              <a:r>
                <a:rPr lang="ko-KR" altLang="en-US" sz="700" dirty="0" err="1" smtClean="0"/>
                <a:t>입찰취소</a:t>
              </a:r>
              <a:r>
                <a:rPr lang="ko-KR" altLang="en-US" sz="700" dirty="0" smtClean="0"/>
                <a:t> 버튼 추가</a:t>
              </a:r>
              <a:endParaRPr lang="ko-KR" altLang="en-US" sz="700" dirty="0"/>
            </a:p>
          </p:txBody>
        </p:sp>
      </p:grpSp>
      <p:sp>
        <p:nvSpPr>
          <p:cNvPr id="91" name="타원 90">
            <a:extLst>
              <a:ext uri="{FF2B5EF4-FFF2-40B4-BE49-F238E27FC236}">
                <a16:creationId xmlns:a16="http://schemas.microsoft.com/office/drawing/2014/main" id="{37A7FF4F-0EAA-1463-560A-D5EC24416103}"/>
              </a:ext>
            </a:extLst>
          </p:cNvPr>
          <p:cNvSpPr/>
          <p:nvPr/>
        </p:nvSpPr>
        <p:spPr>
          <a:xfrm>
            <a:off x="3704798" y="581786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21706550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직사각형 7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3795734" y="1578465"/>
            <a:ext cx="2712027" cy="508898"/>
            <a:chOff x="3795734" y="1602341"/>
            <a:chExt cx="2712027" cy="508898"/>
          </a:xfrm>
        </p:grpSpPr>
        <p:sp>
          <p:nvSpPr>
            <p:cNvPr id="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75" name="모서리가 둥근 직사각형 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76" name="모서리가 둥근 직사각형 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7" name="직선 연결선 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첨부파일 건수 표시</a:t>
            </a:r>
            <a:r>
              <a:rPr lang="en-US" altLang="ko-KR" dirty="0" smtClean="0"/>
              <a:t/>
            </a:r>
            <a:br>
              <a:rPr lang="en-US" altLang="ko-KR" dirty="0" smtClean="0"/>
            </a:br>
            <a:r>
              <a:rPr lang="en-US" altLang="ko-KR" dirty="0" smtClean="0"/>
              <a:t>- </a:t>
            </a:r>
            <a:r>
              <a:rPr lang="ko-KR" altLang="en-US" dirty="0" smtClean="0"/>
              <a:t>항목 선택 시 뷰어 솔루션 호출</a:t>
            </a:r>
            <a:r>
              <a:rPr lang="en-US" altLang="ko-KR" dirty="0" smtClean="0"/>
              <a:t/>
            </a:r>
            <a:br>
              <a:rPr lang="en-US" altLang="ko-KR" dirty="0" smtClean="0"/>
            </a:br>
            <a:r>
              <a:rPr lang="en-US" altLang="ko-KR" dirty="0" smtClean="0"/>
              <a:t>- </a:t>
            </a:r>
            <a:r>
              <a:rPr lang="ko-KR" altLang="en-US" dirty="0" smtClean="0"/>
              <a:t>다운로드 아이콘 클릭 시 다운로드 실행</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462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첨부파일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MUI-BD-04-T79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1362037"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2028414"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2053491"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883010"/>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957531"/>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해외업체위임장</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01139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33810" y="299325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328969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364217"/>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41807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33810" y="33999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747892"/>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43326" y="2747892"/>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747892"/>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64" name="TextBox 63">
            <a:extLst>
              <a:ext uri="{FF2B5EF4-FFF2-40B4-BE49-F238E27FC236}">
                <a16:creationId xmlns:a16="http://schemas.microsoft.com/office/drawing/2014/main" id="{FFC49AEA-2A8F-250C-A86A-A7751D9706C3}"/>
              </a:ext>
            </a:extLst>
          </p:cNvPr>
          <p:cNvSpPr txBox="1"/>
          <p:nvPr/>
        </p:nvSpPr>
        <p:spPr>
          <a:xfrm>
            <a:off x="775229"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95" name="TextBox 94">
            <a:extLst>
              <a:ext uri="{FF2B5EF4-FFF2-40B4-BE49-F238E27FC236}">
                <a16:creationId xmlns:a16="http://schemas.microsoft.com/office/drawing/2014/main" id="{FFC49AEA-2A8F-250C-A86A-A7751D9706C3}"/>
              </a:ext>
            </a:extLst>
          </p:cNvPr>
          <p:cNvSpPr txBox="1"/>
          <p:nvPr/>
        </p:nvSpPr>
        <p:spPr>
          <a:xfrm>
            <a:off x="3914777" y="2522318"/>
            <a:ext cx="2473940" cy="1723549"/>
          </a:xfrm>
          <a:prstGeom prst="rect">
            <a:avLst/>
          </a:prstGeom>
          <a:noFill/>
        </p:spPr>
        <p:txBody>
          <a:bodyPr wrap="square" lIns="0" tIns="0" rIns="0" bIns="0" rtlCol="0">
            <a:spAutoFit/>
          </a:bodyPr>
          <a:lstStyle/>
          <a:p>
            <a:r>
              <a:rPr lang="ko-KR" altLang="en-US" sz="700" dirty="0">
                <a:solidFill>
                  <a:srgbClr val="000000"/>
                </a:solidFill>
                <a:latin typeface="+mn-ea"/>
              </a:rPr>
              <a:t>본인은 위의 번호로 공고한 귀청의 일반경쟁입찰에 참가하고자 귀청에서 정한 물품구매</a:t>
            </a:r>
            <a:r>
              <a:rPr lang="en-US" altLang="ko-KR" sz="700" dirty="0">
                <a:solidFill>
                  <a:srgbClr val="000000"/>
                </a:solidFill>
                <a:latin typeface="+mn-ea"/>
              </a:rPr>
              <a:t>(</a:t>
            </a:r>
            <a:r>
              <a:rPr lang="ko-KR" altLang="en-US" sz="700" dirty="0">
                <a:solidFill>
                  <a:srgbClr val="000000"/>
                </a:solidFill>
                <a:latin typeface="+mn-ea"/>
              </a:rPr>
              <a:t>용역</a:t>
            </a:r>
            <a:r>
              <a:rPr lang="en-US" altLang="ko-KR" sz="700" dirty="0">
                <a:solidFill>
                  <a:srgbClr val="000000"/>
                </a:solidFill>
                <a:latin typeface="+mn-ea"/>
              </a:rPr>
              <a:t>)</a:t>
            </a:r>
            <a:r>
              <a:rPr lang="ko-KR" altLang="en-US" sz="700" dirty="0">
                <a:solidFill>
                  <a:srgbClr val="000000"/>
                </a:solidFill>
                <a:latin typeface="+mn-ea"/>
              </a:rPr>
              <a:t>입찰유의서</a:t>
            </a:r>
            <a:r>
              <a:rPr lang="en-US" altLang="ko-KR" sz="700" dirty="0">
                <a:solidFill>
                  <a:srgbClr val="000000"/>
                </a:solidFill>
                <a:latin typeface="+mn-ea"/>
              </a:rPr>
              <a:t>, </a:t>
            </a:r>
            <a:r>
              <a:rPr lang="ko-KR" altLang="en-US" sz="700" dirty="0">
                <a:solidFill>
                  <a:srgbClr val="000000"/>
                </a:solidFill>
                <a:latin typeface="+mn-ea"/>
              </a:rPr>
              <a:t>계약 일반조건 및 입찰 공고 사항을 모두 숙지하여 수락하고 계약일반조건 및 계약 </a:t>
            </a:r>
            <a:r>
              <a:rPr lang="ko-KR" altLang="en-US" sz="700" dirty="0" err="1">
                <a:solidFill>
                  <a:srgbClr val="000000"/>
                </a:solidFill>
                <a:latin typeface="+mn-ea"/>
              </a:rPr>
              <a:t>특수조건에</a:t>
            </a:r>
            <a:r>
              <a:rPr lang="ko-KR" altLang="en-US" sz="700" dirty="0">
                <a:solidFill>
                  <a:srgbClr val="000000"/>
                </a:solidFill>
                <a:latin typeface="+mn-ea"/>
              </a:rPr>
              <a:t> 따라 </a:t>
            </a:r>
            <a:r>
              <a:rPr lang="ko-KR" altLang="en-US" sz="700" dirty="0" err="1">
                <a:solidFill>
                  <a:srgbClr val="000000"/>
                </a:solidFill>
                <a:latin typeface="+mn-ea"/>
              </a:rPr>
              <a:t>계약품목을</a:t>
            </a:r>
            <a:r>
              <a:rPr lang="ko-KR" altLang="en-US" sz="700" dirty="0">
                <a:solidFill>
                  <a:srgbClr val="000000"/>
                </a:solidFill>
                <a:latin typeface="+mn-ea"/>
              </a:rPr>
              <a:t> 기한 내에 납부할 것을 확약하며 입찰 참가 신청서 및 아래 입찰서류를 제출합니다</a:t>
            </a:r>
            <a:r>
              <a:rPr lang="en-US" altLang="ko-KR" sz="700" dirty="0">
                <a:solidFill>
                  <a:srgbClr val="000000"/>
                </a:solidFill>
                <a:latin typeface="+mn-ea"/>
              </a:rPr>
              <a:t>.</a:t>
            </a:r>
          </a:p>
          <a:p>
            <a:r>
              <a:rPr lang="ko-KR" altLang="en-US" sz="700" dirty="0">
                <a:solidFill>
                  <a:srgbClr val="000000"/>
                </a:solidFill>
                <a:latin typeface="+mn-ea"/>
              </a:rPr>
              <a:t>단 </a:t>
            </a:r>
            <a:r>
              <a:rPr lang="ko-KR" altLang="en-US" sz="700" dirty="0" err="1">
                <a:solidFill>
                  <a:srgbClr val="000000"/>
                </a:solidFill>
                <a:latin typeface="+mn-ea"/>
              </a:rPr>
              <a:t>전차입찰의</a:t>
            </a:r>
            <a:r>
              <a:rPr lang="ko-KR" altLang="en-US" sz="700" dirty="0">
                <a:solidFill>
                  <a:srgbClr val="000000"/>
                </a:solidFill>
                <a:latin typeface="+mn-ea"/>
              </a:rPr>
              <a:t> 경우 아래의 구비서류를 첨부 자료로써 제출하시고</a:t>
            </a:r>
            <a:r>
              <a:rPr lang="en-US" altLang="ko-KR" sz="700" dirty="0">
                <a:solidFill>
                  <a:srgbClr val="000000"/>
                </a:solidFill>
                <a:latin typeface="+mn-ea"/>
              </a:rPr>
              <a:t>, </a:t>
            </a:r>
            <a:r>
              <a:rPr lang="ko-KR" altLang="en-US" sz="700" dirty="0">
                <a:solidFill>
                  <a:srgbClr val="000000"/>
                </a:solidFill>
                <a:latin typeface="+mn-ea"/>
              </a:rPr>
              <a:t>필요시 직접방문 및 우편으로 </a:t>
            </a:r>
            <a:r>
              <a:rPr lang="ko-KR" altLang="en-US" sz="700" dirty="0" err="1">
                <a:solidFill>
                  <a:srgbClr val="000000"/>
                </a:solidFill>
                <a:latin typeface="+mn-ea"/>
              </a:rPr>
              <a:t>제출요청을</a:t>
            </a:r>
            <a:r>
              <a:rPr lang="ko-KR" altLang="en-US" sz="700" dirty="0">
                <a:solidFill>
                  <a:srgbClr val="000000"/>
                </a:solidFill>
                <a:latin typeface="+mn-ea"/>
              </a:rPr>
              <a:t> 받을 경우 제시하여야 함</a:t>
            </a:r>
          </a:p>
          <a:p>
            <a:endParaRPr lang="ko-KR" altLang="en-US" sz="700" dirty="0">
              <a:solidFill>
                <a:srgbClr val="000000"/>
              </a:solidFill>
              <a:latin typeface="+mn-ea"/>
            </a:endParaRPr>
          </a:p>
          <a:p>
            <a:r>
              <a:rPr lang="en-US" altLang="ko-KR" sz="700" dirty="0">
                <a:solidFill>
                  <a:srgbClr val="000000"/>
                </a:solidFill>
                <a:latin typeface="+mn-ea"/>
              </a:rPr>
              <a:t>1. </a:t>
            </a:r>
            <a:r>
              <a:rPr lang="ko-KR" altLang="en-US" sz="700" dirty="0">
                <a:solidFill>
                  <a:srgbClr val="000000"/>
                </a:solidFill>
                <a:latin typeface="+mn-ea"/>
              </a:rPr>
              <a:t>입찰 구비서류</a:t>
            </a:r>
          </a:p>
          <a:p>
            <a:r>
              <a:rPr lang="ko-KR" altLang="en-US" sz="700" dirty="0">
                <a:solidFill>
                  <a:srgbClr val="000000"/>
                </a:solidFill>
                <a:latin typeface="+mn-ea"/>
              </a:rPr>
              <a:t>  가</a:t>
            </a:r>
            <a:r>
              <a:rPr lang="en-US" altLang="ko-KR" sz="700" dirty="0">
                <a:solidFill>
                  <a:srgbClr val="000000"/>
                </a:solidFill>
                <a:latin typeface="+mn-ea"/>
              </a:rPr>
              <a:t>. </a:t>
            </a:r>
            <a:r>
              <a:rPr lang="ko-KR" altLang="en-US" sz="700" dirty="0" err="1">
                <a:solidFill>
                  <a:srgbClr val="000000"/>
                </a:solidFill>
                <a:latin typeface="+mn-ea"/>
              </a:rPr>
              <a:t>입찰등록시</a:t>
            </a:r>
            <a:r>
              <a:rPr lang="ko-KR" altLang="en-US" sz="700" dirty="0">
                <a:solidFill>
                  <a:srgbClr val="000000"/>
                </a:solidFill>
                <a:latin typeface="+mn-ea"/>
              </a:rPr>
              <a:t> 제출서류</a:t>
            </a:r>
          </a:p>
          <a:p>
            <a:r>
              <a:rPr lang="en-US" altLang="ko-KR" sz="700" dirty="0">
                <a:solidFill>
                  <a:srgbClr val="000000"/>
                </a:solidFill>
                <a:latin typeface="+mn-ea"/>
              </a:rPr>
              <a:t>    - </a:t>
            </a:r>
            <a:r>
              <a:rPr lang="ko-KR" altLang="en-US" sz="700" dirty="0">
                <a:solidFill>
                  <a:srgbClr val="000000"/>
                </a:solidFill>
                <a:latin typeface="+mn-ea"/>
              </a:rPr>
              <a:t>해외업체 위임장</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공급자증명서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제작자 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계약특수조건</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서약서</a:t>
            </a:r>
          </a:p>
        </p:txBody>
      </p:sp>
      <p:sp>
        <p:nvSpPr>
          <p:cNvPr id="96" name="TextBox 95">
            <a:extLst>
              <a:ext uri="{FF2B5EF4-FFF2-40B4-BE49-F238E27FC236}">
                <a16:creationId xmlns:a16="http://schemas.microsoft.com/office/drawing/2014/main" id="{FFC49AEA-2A8F-250C-A86A-A7751D9706C3}"/>
              </a:ext>
            </a:extLst>
          </p:cNvPr>
          <p:cNvSpPr txBox="1"/>
          <p:nvPr/>
        </p:nvSpPr>
        <p:spPr>
          <a:xfrm>
            <a:off x="3914777" y="3707258"/>
            <a:ext cx="2473940" cy="538609"/>
          </a:xfrm>
          <a:prstGeom prst="rect">
            <a:avLst/>
          </a:prstGeom>
          <a:noFill/>
        </p:spPr>
        <p:txBody>
          <a:bodyPr wrap="square" lIns="0" tIns="0" rIns="0" bIns="0" rtlCol="0">
            <a:spAutoFit/>
          </a:bodyPr>
          <a:lstStyle/>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5733" y="49815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8" name="TextBox 97">
            <a:extLst>
              <a:ext uri="{FF2B5EF4-FFF2-40B4-BE49-F238E27FC236}">
                <a16:creationId xmlns:a16="http://schemas.microsoft.com/office/drawing/2014/main" id="{FFC49AEA-2A8F-250C-A86A-A7751D9706C3}"/>
              </a:ext>
            </a:extLst>
          </p:cNvPr>
          <p:cNvSpPr txBox="1"/>
          <p:nvPr/>
        </p:nvSpPr>
        <p:spPr>
          <a:xfrm>
            <a:off x="3914777" y="4454294"/>
            <a:ext cx="2473940" cy="430887"/>
          </a:xfrm>
          <a:prstGeom prst="rect">
            <a:avLst/>
          </a:prstGeom>
          <a:noFill/>
        </p:spPr>
        <p:txBody>
          <a:bodyPr wrap="square" lIns="0" tIns="0" rIns="0" bIns="0" rtlCol="0">
            <a:spAutoFit/>
          </a:bodyPr>
          <a:lstStyle/>
          <a:p>
            <a:r>
              <a:rPr lang="en-US" altLang="ko-KR" sz="700" dirty="0">
                <a:solidFill>
                  <a:srgbClr val="0070C0"/>
                </a:solidFill>
                <a:latin typeface="+mn-ea"/>
              </a:rPr>
              <a:t>※ </a:t>
            </a:r>
            <a:r>
              <a:rPr lang="ko-KR" altLang="en-US" sz="700" dirty="0">
                <a:solidFill>
                  <a:srgbClr val="0070C0"/>
                </a:solidFill>
                <a:latin typeface="+mn-ea"/>
              </a:rPr>
              <a:t>위 제출된 서류에 만약 이상이 있을 시에는 본 입찰 건을 무효 처리 하여도 이의가 없음을 확인합니다</a:t>
            </a:r>
            <a:r>
              <a:rPr lang="en-US" altLang="ko-KR" sz="700" dirty="0">
                <a:solidFill>
                  <a:srgbClr val="0070C0"/>
                </a:solidFill>
                <a:latin typeface="+mn-ea"/>
              </a:rPr>
              <a:t>.</a:t>
            </a:r>
          </a:p>
          <a:p>
            <a:r>
              <a:rPr lang="en-US" altLang="ko-KR" sz="700" dirty="0">
                <a:solidFill>
                  <a:srgbClr val="FF0000"/>
                </a:solidFill>
                <a:latin typeface="+mn-ea"/>
              </a:rPr>
              <a:t>※ </a:t>
            </a:r>
            <a:r>
              <a:rPr lang="ko-KR" altLang="en-US" sz="700" dirty="0">
                <a:solidFill>
                  <a:srgbClr val="FF0000"/>
                </a:solidFill>
                <a:latin typeface="+mn-ea"/>
              </a:rPr>
              <a:t>입찰 참가신청서 작성 후 입찰 담당관의 심사를 받으셔야 입찰서제출이 가능합니다</a:t>
            </a:r>
            <a:r>
              <a:rPr lang="en-US" altLang="ko-KR" sz="700" dirty="0">
                <a:solidFill>
                  <a:srgbClr val="FF0000"/>
                </a:solidFill>
                <a:latin typeface="+mn-ea"/>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43440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모서리가 둥근 직사각형 99"/>
          <p:cNvSpPr/>
          <p:nvPr/>
        </p:nvSpPr>
        <p:spPr>
          <a:xfrm>
            <a:off x="710315" y="369105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765580"/>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81944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33810" y="380130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409774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172266"/>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22612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33810" y="4207988"/>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p:cNvGrpSpPr/>
          <p:nvPr/>
        </p:nvGrpSpPr>
        <p:grpSpPr>
          <a:xfrm>
            <a:off x="3838523" y="2163124"/>
            <a:ext cx="2626449" cy="254730"/>
            <a:chOff x="3859687" y="2163124"/>
            <a:chExt cx="2626449" cy="254730"/>
          </a:xfrm>
        </p:grpSpPr>
        <p:cxnSp>
          <p:nvCxnSpPr>
            <p:cNvPr id="132" name="직선 연결선 131">
              <a:extLst>
                <a:ext uri="{FF2B5EF4-FFF2-40B4-BE49-F238E27FC236}">
                  <a16:creationId xmlns:a16="http://schemas.microsoft.com/office/drawing/2014/main" id="{E9293055-D5CD-4B9E-7F64-64B2D2CA7A52}"/>
                </a:ext>
              </a:extLst>
            </p:cNvPr>
            <p:cNvCxnSpPr/>
            <p:nvPr/>
          </p:nvCxnSpPr>
          <p:spPr>
            <a:xfrm>
              <a:off x="3859687"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4501585"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167962"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5193039"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63283"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16200000">
                <a:off x="3931564" y="2305364"/>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6" name="TextBox 145">
              <a:extLst>
                <a:ext uri="{FF2B5EF4-FFF2-40B4-BE49-F238E27FC236}">
                  <a16:creationId xmlns:a16="http://schemas.microsoft.com/office/drawing/2014/main" id="{FFC49AEA-2A8F-250C-A86A-A7751D9706C3}"/>
                </a:ext>
              </a:extLst>
            </p:cNvPr>
            <p:cNvSpPr txBox="1"/>
            <p:nvPr/>
          </p:nvSpPr>
          <p:spPr>
            <a:xfrm>
              <a:off x="3914777"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47" name="TextBox 14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83070493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57173212-2A31-2CDA-DA99-1173127D2BDD}"/>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463</a:t>
            </a:fld>
            <a:endParaRPr lang="ko-KR" altLang="en-US" dirty="0"/>
          </a:p>
        </p:txBody>
      </p:sp>
      <p:sp>
        <p:nvSpPr>
          <p:cNvPr id="5" name="TextBox 4">
            <a:extLst>
              <a:ext uri="{FF2B5EF4-FFF2-40B4-BE49-F238E27FC236}">
                <a16:creationId xmlns:a16="http://schemas.microsoft.com/office/drawing/2014/main" id="{BB82F638-FAE8-B513-A2FF-ED713A4A871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(1/3)</a:t>
            </a:r>
            <a:endParaRPr lang="ko-KR" altLang="en-US" sz="1000" b="1" dirty="0">
              <a:solidFill>
                <a:prstClr val="black"/>
              </a:solidFill>
            </a:endParaRPr>
          </a:p>
        </p:txBody>
      </p:sp>
      <p:sp>
        <p:nvSpPr>
          <p:cNvPr id="8" name="TextBox 7">
            <a:extLst>
              <a:ext uri="{FF2B5EF4-FFF2-40B4-BE49-F238E27FC236}">
                <a16:creationId xmlns:a16="http://schemas.microsoft.com/office/drawing/2014/main" id="{9EED3274-A590-A70C-B372-FCD9D7855AD4}"/>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a:t>
            </a:r>
            <a:r>
              <a:rPr lang="en-US" altLang="ko-KR" sz="900" b="1">
                <a:solidFill>
                  <a:prstClr val="black"/>
                </a:solidFill>
              </a:rPr>
              <a:t>. </a:t>
            </a:r>
            <a:r>
              <a:rPr lang="ko-KR" altLang="en-US" sz="900" b="1">
                <a:solidFill>
                  <a:prstClr val="black"/>
                </a:solidFill>
              </a:rPr>
              <a:t>공고일반</a:t>
            </a:r>
            <a:r>
              <a:rPr lang="en-US" altLang="ko-KR" sz="900" b="1">
                <a:solidFill>
                  <a:prstClr val="black"/>
                </a:solidFill>
              </a:rPr>
              <a:t> </a:t>
            </a:r>
            <a:r>
              <a:rPr lang="ko-KR" altLang="en-US" sz="900" b="1">
                <a:solidFill>
                  <a:prstClr val="black"/>
                </a:solidFill>
              </a:rPr>
              <a:t>데이터 영역 </a:t>
            </a:r>
            <a:r>
              <a:rPr lang="en-US" altLang="ko-KR" sz="900" b="1">
                <a:solidFill>
                  <a:prstClr val="black"/>
                </a:solidFill>
              </a:rPr>
              <a:t>(dm_bscPbancInfo)</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096B890-7217-D769-3AA6-5A4DC3AFB8E7}"/>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9512543"/>
                  </a:ext>
                </a:extLst>
              </a:tr>
              <a:tr h="0">
                <a:tc>
                  <a:txBody>
                    <a:bodyPr/>
                    <a:lstStyle/>
                    <a:p>
                      <a:pPr algn="l" fontAlgn="ctr"/>
                      <a:r>
                        <a:rPr lang="ko-KR" altLang="en-US" sz="800" b="0" i="0" u="none" strike="noStrike">
                          <a:solidFill>
                            <a:srgbClr val="000000"/>
                          </a:solidFill>
                          <a:effectLst/>
                          <a:latin typeface="+mn-ea"/>
                          <a:ea typeface="+mn-ea"/>
                        </a:rPr>
                        <a:t>입찰보증금총액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입찰보증금총액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달러금액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3795882"/>
                  </a:ext>
                </a:extLst>
              </a:tr>
            </a:tbl>
          </a:graphicData>
        </a:graphic>
      </p:graphicFrame>
      <p:sp>
        <p:nvSpPr>
          <p:cNvPr id="10" name="Text Box 73">
            <a:extLst>
              <a:ext uri="{FF2B5EF4-FFF2-40B4-BE49-F238E27FC236}">
                <a16:creationId xmlns:a16="http://schemas.microsoft.com/office/drawing/2014/main" id="{706CF0EE-3332-F1F6-CDAF-CBEE97C8928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AD0BC6FD-9BF4-CC9F-0C84-718E40C8813E}"/>
              </a:ext>
            </a:extLst>
          </p:cNvPr>
          <p:cNvSpPr txBox="1"/>
          <p:nvPr/>
        </p:nvSpPr>
        <p:spPr>
          <a:xfrm>
            <a:off x="458117" y="2145353"/>
            <a:ext cx="2169431"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sp>
        <p:nvSpPr>
          <p:cNvPr id="12" name="TextBox 11">
            <a:extLst>
              <a:ext uri="{FF2B5EF4-FFF2-40B4-BE49-F238E27FC236}">
                <a16:creationId xmlns:a16="http://schemas.microsoft.com/office/drawing/2014/main" id="{1A6EE07D-8818-6382-73E6-3B66AF62E86C}"/>
              </a:ext>
            </a:extLst>
          </p:cNvPr>
          <p:cNvSpPr txBox="1"/>
          <p:nvPr/>
        </p:nvSpPr>
        <p:spPr>
          <a:xfrm>
            <a:off x="458117" y="4230887"/>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dirty="0">
                <a:solidFill>
                  <a:prstClr val="black"/>
                </a:solidFill>
              </a:rPr>
              <a:t>입찰업체</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5F40EC03-1B71-131D-33EC-9CD9BAEA1BCD}"/>
              </a:ext>
            </a:extLst>
          </p:cNvPr>
          <p:cNvGraphicFramePr>
            <a:graphicFrameLocks noGrp="1"/>
          </p:cNvGraphicFramePr>
          <p:nvPr>
            <p:extLst/>
          </p:nvPr>
        </p:nvGraphicFramePr>
        <p:xfrm>
          <a:off x="452999" y="2356556"/>
          <a:ext cx="8994883" cy="155136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dirty="0">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dirty="0">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dirty="0">
                          <a:solidFill>
                            <a:srgbClr val="000000"/>
                          </a:solidFill>
                          <a:effectLst/>
                          <a:latin typeface="+mn-ea"/>
                          <a:ea typeface="+mn-ea"/>
                        </a:rPr>
                        <a:t>신청업체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14" name="표 13">
            <a:extLst>
              <a:ext uri="{FF2B5EF4-FFF2-40B4-BE49-F238E27FC236}">
                <a16:creationId xmlns:a16="http://schemas.microsoft.com/office/drawing/2014/main" id="{81473B5E-D952-96D2-4714-429B801E749E}"/>
              </a:ext>
            </a:extLst>
          </p:cNvPr>
          <p:cNvGraphicFramePr>
            <a:graphicFrameLocks noGrp="1"/>
          </p:cNvGraphicFramePr>
          <p:nvPr/>
        </p:nvGraphicFramePr>
        <p:xfrm>
          <a:off x="452999" y="4442090"/>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dirty="0">
                          <a:solidFill>
                            <a:srgbClr val="000000"/>
                          </a:solidFill>
                          <a:effectLst/>
                          <a:latin typeface="+mn-ea"/>
                          <a:ea typeface="+mn-ea"/>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dirty="0">
                          <a:solidFill>
                            <a:srgbClr val="000000"/>
                          </a:solidFill>
                          <a:effectLst/>
                          <a:latin typeface="+mn-ea"/>
                          <a:ea typeface="+mn-ea"/>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입찰업체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35608841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2">
            <a:extLst>
              <a:ext uri="{FF2B5EF4-FFF2-40B4-BE49-F238E27FC236}">
                <a16:creationId xmlns:a16="http://schemas.microsoft.com/office/drawing/2014/main" id="{EADF6B28-6495-3BB2-E99F-C95ABCFEB3B4}"/>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464</a:t>
            </a:fld>
            <a:endParaRPr lang="ko-KR" altLang="en-US" dirty="0"/>
          </a:p>
        </p:txBody>
      </p:sp>
      <p:sp>
        <p:nvSpPr>
          <p:cNvPr id="5" name="TextBox 4">
            <a:extLst>
              <a:ext uri="{FF2B5EF4-FFF2-40B4-BE49-F238E27FC236}">
                <a16:creationId xmlns:a16="http://schemas.microsoft.com/office/drawing/2014/main" id="{374C37C3-3D9C-C39F-A787-D914DCD5ECD6}"/>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(2/3)</a:t>
            </a:r>
            <a:endParaRPr lang="ko-KR" altLang="en-US" sz="1000" b="1" dirty="0">
              <a:solidFill>
                <a:prstClr val="black"/>
              </a:solidFill>
            </a:endParaRPr>
          </a:p>
        </p:txBody>
      </p:sp>
      <p:sp>
        <p:nvSpPr>
          <p:cNvPr id="8" name="TextBox 7">
            <a:extLst>
              <a:ext uri="{FF2B5EF4-FFF2-40B4-BE49-F238E27FC236}">
                <a16:creationId xmlns:a16="http://schemas.microsoft.com/office/drawing/2014/main" id="{58EF83F8-382F-1F9E-01D7-8F12C93D382B}"/>
              </a:ext>
            </a:extLst>
          </p:cNvPr>
          <p:cNvSpPr txBox="1"/>
          <p:nvPr/>
        </p:nvSpPr>
        <p:spPr>
          <a:xfrm>
            <a:off x="458117" y="803113"/>
            <a:ext cx="3833348"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보증금비면제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(dl_bizList)</a:t>
            </a:r>
            <a:endParaRPr lang="ko-KR" altLang="en-US" sz="900" b="1" dirty="0">
              <a:solidFill>
                <a:prstClr val="black"/>
              </a:solidFill>
            </a:endParaRPr>
          </a:p>
        </p:txBody>
      </p:sp>
      <p:sp>
        <p:nvSpPr>
          <p:cNvPr id="9" name="TextBox 8">
            <a:extLst>
              <a:ext uri="{FF2B5EF4-FFF2-40B4-BE49-F238E27FC236}">
                <a16:creationId xmlns:a16="http://schemas.microsoft.com/office/drawing/2014/main" id="{7485602E-6EF2-FEE0-0585-58A51A6D6259}"/>
              </a:ext>
            </a:extLst>
          </p:cNvPr>
          <p:cNvSpPr txBox="1"/>
          <p:nvPr/>
        </p:nvSpPr>
        <p:spPr>
          <a:xfrm>
            <a:off x="458117" y="3652046"/>
            <a:ext cx="4136316"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보증금면제</a:t>
            </a:r>
            <a:r>
              <a:rPr lang="en-US" altLang="ko-KR" sz="900" b="1">
                <a:solidFill>
                  <a:prstClr val="black"/>
                </a:solidFill>
              </a:rPr>
              <a:t>)</a:t>
            </a:r>
            <a:r>
              <a:rPr lang="ko-KR" altLang="en-US" sz="900" b="1">
                <a:solidFill>
                  <a:prstClr val="black"/>
                </a:solidFill>
              </a:rPr>
              <a:t> 데이터 영역 </a:t>
            </a:r>
            <a:r>
              <a:rPr lang="en-US" altLang="ko-KR" sz="900" b="1">
                <a:solidFill>
                  <a:prstClr val="black"/>
                </a:solidFill>
              </a:rPr>
              <a:t>(dl_bizExmptnList)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0912E143-C26F-CEA0-EBA7-8196D2D8FBBD}"/>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a:solidFill>
                            <a:srgbClr val="000000"/>
                          </a:solidFill>
                          <a:effectLst/>
                          <a:latin typeface="+mn-ea"/>
                          <a:ea typeface="+mn-ea"/>
                        </a:rPr>
                        <a:t>입찰품목수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17849"/>
                  </a:ext>
                </a:extLst>
              </a:tr>
              <a:tr h="0">
                <a:tc>
                  <a:txBody>
                    <a:bodyPr/>
                    <a:lstStyle/>
                    <a:p>
                      <a:pPr algn="l" fontAlgn="ctr"/>
                      <a:r>
                        <a:rPr lang="ko-KR" altLang="en-US" sz="800" b="0" i="0" u="none" strike="noStrike">
                          <a:solidFill>
                            <a:srgbClr val="000000"/>
                          </a:solidFill>
                          <a:effectLst/>
                          <a:latin typeface="+mn-ea"/>
                          <a:ea typeface="+mn-ea"/>
                        </a:rPr>
                        <a:t>입찰보증금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a:solidFill>
                            <a:srgbClr val="000000"/>
                          </a:solidFill>
                          <a:effectLst/>
                          <a:latin typeface="+mn-ea"/>
                          <a:ea typeface="+mn-ea"/>
                        </a:rPr>
                        <a:t>입찰보증금</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확인입력</a:t>
                      </a:r>
                      <a:r>
                        <a:rPr lang="en-US" altLang="ko-KR" sz="800" b="0" i="0" u="none" strike="noStrike">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a:solidFill>
                            <a:srgbClr val="000000"/>
                          </a:solidFill>
                          <a:effectLst/>
                          <a:latin typeface="+mn-ea"/>
                          <a:ea typeface="+mn-ea"/>
                        </a:rPr>
                        <a:t>보증금납부방법</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grntePayMth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보증금납부방법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보증금증권번호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보증금증권번호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algn="l" fontAlgn="ctr"/>
                      <a:r>
                        <a:rPr lang="ko-KR" altLang="en-US" sz="800" b="0" i="0" u="none" strike="noStrike">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6925270"/>
                  </a:ext>
                </a:extLst>
              </a:tr>
              <a:tr h="0">
                <a:tc>
                  <a:txBody>
                    <a:bodyPr/>
                    <a:lstStyle/>
                    <a:p>
                      <a:pPr algn="l" fontAlgn="ctr"/>
                      <a:r>
                        <a:rPr lang="ko-KR" altLang="en-US" sz="800" b="0" i="0" u="none" strike="noStrike">
                          <a:solidFill>
                            <a:srgbClr val="000000"/>
                          </a:solidFill>
                          <a:effectLst/>
                          <a:latin typeface="+mn-ea"/>
                          <a:ea typeface="+mn-ea"/>
                        </a:rPr>
                        <a:t>입찰보증금납부서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grntePyslDocNo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입찰보증금납부서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6281910"/>
                  </a:ext>
                </a:extLst>
              </a:tr>
            </a:tbl>
          </a:graphicData>
        </a:graphic>
      </p:graphicFrame>
      <p:graphicFrame>
        <p:nvGraphicFramePr>
          <p:cNvPr id="11" name="표 10">
            <a:extLst>
              <a:ext uri="{FF2B5EF4-FFF2-40B4-BE49-F238E27FC236}">
                <a16:creationId xmlns:a16="http://schemas.microsoft.com/office/drawing/2014/main" id="{CD24AF3B-2F7D-B9FB-BE59-0DCB171F56FB}"/>
              </a:ext>
            </a:extLst>
          </p:cNvPr>
          <p:cNvGraphicFramePr>
            <a:graphicFrameLocks noGrp="1"/>
          </p:cNvGraphicFramePr>
          <p:nvPr/>
        </p:nvGraphicFramePr>
        <p:xfrm>
          <a:off x="452999" y="3863249"/>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a:solidFill>
                            <a:srgbClr val="000000"/>
                          </a:solidFill>
                          <a:effectLst/>
                          <a:latin typeface="+mn-ea"/>
                          <a:ea typeface="+mn-ea"/>
                        </a:rPr>
                        <a:t>입찰품목수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입찰보증금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a:solidFill>
                            <a:srgbClr val="000000"/>
                          </a:solidFill>
                          <a:effectLst/>
                          <a:latin typeface="+mn-ea"/>
                          <a:ea typeface="+mn-ea"/>
                        </a:rPr>
                        <a:t>입찰보증금</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확인입력</a:t>
                      </a:r>
                      <a:r>
                        <a:rPr lang="en-US" altLang="ko-KR" sz="800" b="0" i="0" u="none" strike="noStrike">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연대보증서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gurnAgreDocNo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연대보증서 파일명</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지급각서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giveWrtprmDocNo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지급각서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12" name="Text Box 73">
            <a:extLst>
              <a:ext uri="{FF2B5EF4-FFF2-40B4-BE49-F238E27FC236}">
                <a16:creationId xmlns:a16="http://schemas.microsoft.com/office/drawing/2014/main" id="{BB0BD2A9-5C30-9253-867D-4DD0B85EC49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8183322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07CDEDB8-0A7B-012F-9DFC-76C8BAC18A72}"/>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465</a:t>
            </a:fld>
            <a:endParaRPr lang="ko-KR" altLang="en-US" dirty="0"/>
          </a:p>
        </p:txBody>
      </p:sp>
      <p:sp>
        <p:nvSpPr>
          <p:cNvPr id="5" name="TextBox 4">
            <a:extLst>
              <a:ext uri="{FF2B5EF4-FFF2-40B4-BE49-F238E27FC236}">
                <a16:creationId xmlns:a16="http://schemas.microsoft.com/office/drawing/2014/main" id="{D57566C7-DDEC-1239-BBFD-695049E589A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599796C5-68AE-CD84-A57F-6F565BC0472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7" name="TextBox 6">
            <a:extLst>
              <a:ext uri="{FF2B5EF4-FFF2-40B4-BE49-F238E27FC236}">
                <a16:creationId xmlns:a16="http://schemas.microsoft.com/office/drawing/2014/main" id="{0A197180-876D-2974-1D53-55DE1C688016}"/>
              </a:ext>
            </a:extLst>
          </p:cNvPr>
          <p:cNvSpPr txBox="1"/>
          <p:nvPr/>
        </p:nvSpPr>
        <p:spPr>
          <a:xfrm>
            <a:off x="452999" y="796115"/>
            <a:ext cx="2094090" cy="211203"/>
          </a:xfrm>
          <a:prstGeom prst="rect">
            <a:avLst/>
          </a:prstGeom>
          <a:noFill/>
        </p:spPr>
        <p:txBody>
          <a:bodyPr wrap="none" lIns="36000" tIns="36000" rIns="36000" bIns="36000" rtlCol="0">
            <a:spAutoFit/>
          </a:bodyPr>
          <a:lstStyle/>
          <a:p>
            <a:r>
              <a:rPr lang="en-US" altLang="ko-KR" sz="900" b="1">
                <a:solidFill>
                  <a:prstClr val="black"/>
                </a:solidFill>
              </a:rPr>
              <a:t>1.6. </a:t>
            </a:r>
            <a:r>
              <a:rPr lang="ko-KR" altLang="en-US" sz="900" b="1">
                <a:solidFill>
                  <a:prstClr val="black"/>
                </a:solidFill>
              </a:rPr>
              <a:t>첨부서류</a:t>
            </a:r>
            <a:r>
              <a:rPr lang="en-US" altLang="ko-KR"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871D6820-0DCA-1658-FE75-0998ABF16C59}"/>
              </a:ext>
            </a:extLst>
          </p:cNvPr>
          <p:cNvGraphicFramePr>
            <a:graphicFrameLocks noGrp="1"/>
          </p:cNvGraphicFramePr>
          <p:nvPr/>
        </p:nvGraphicFramePr>
        <p:xfrm>
          <a:off x="452999" y="1007318"/>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제출해야할</a:t>
                      </a:r>
                      <a:r>
                        <a:rPr lang="ko-KR" altLang="en-US" sz="800" b="0" i="0" u="none" strike="noStrike" dirty="0">
                          <a:solidFill>
                            <a:srgbClr val="000000"/>
                          </a:solidFill>
                          <a:effectLst/>
                          <a:latin typeface="+mn-ea"/>
                          <a:ea typeface="+mn-ea"/>
                        </a:rPr>
                        <a:t> 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83754770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466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26" name="Text Box 73">
            <a:extLst>
              <a:ext uri="{FF2B5EF4-FFF2-40B4-BE49-F238E27FC236}">
                <a16:creationId xmlns:a16="http://schemas.microsoft.com/office/drawing/2014/main" id="{2AAB1026-6B50-DBEE-D4D1-ED82E13491C2}"/>
              </a:ext>
            </a:extLst>
          </p:cNvPr>
          <p:cNvSpPr txBox="1">
            <a:spLocks noChangeArrowheads="1"/>
          </p:cNvSpPr>
          <p:nvPr/>
        </p:nvSpPr>
        <p:spPr bwMode="auto">
          <a:xfrm>
            <a:off x="7740000" y="862324"/>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a:t>
            </a:r>
          </a:p>
        </p:txBody>
      </p:sp>
      <p:graphicFrame>
        <p:nvGraphicFramePr>
          <p:cNvPr id="2" name="표 1">
            <a:extLst>
              <a:ext uri="{FF2B5EF4-FFF2-40B4-BE49-F238E27FC236}">
                <a16:creationId xmlns:a16="http://schemas.microsoft.com/office/drawing/2014/main" id="{4E4C9296-2F7C-C186-3149-368715FAEC96}"/>
              </a:ext>
            </a:extLst>
          </p:cNvPr>
          <p:cNvGraphicFramePr>
            <a:graphicFrameLocks noGrp="1"/>
          </p:cNvGraphicFramePr>
          <p:nvPr>
            <p:extLst/>
          </p:nvPr>
        </p:nvGraphicFramePr>
        <p:xfrm>
          <a:off x="452291" y="796562"/>
          <a:ext cx="8995591" cy="15792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74371">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입찰참가신청정보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입찰참가신청조회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입찰참가취소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scwin.btn_openCancleRequestSelected_onclick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선택된 입찰참가사업건에 대해 입찰참가신청서취소 팝업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a:latin typeface="+mn-ea"/>
                          <a:ea typeface="+mn-ea"/>
                        </a:rPr>
                        <a:t>UI-BD-04-P78 </a:t>
                      </a:r>
                      <a:r>
                        <a:rPr lang="ko-KR" altLang="en-US" sz="800">
                          <a:latin typeface="+mn-ea"/>
                          <a:ea typeface="+mn-ea"/>
                        </a:rPr>
                        <a:t>참조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4042325"/>
                  </a:ext>
                </a:extLst>
              </a:tr>
              <a:tr h="0">
                <a:tc>
                  <a:txBody>
                    <a:bodyPr/>
                    <a:lstStyle/>
                    <a:p>
                      <a:r>
                        <a:rPr lang="ko-KR" altLang="en-US" sz="800"/>
                        <a:t>입찰등록결과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scwin.btn_moveBidResult_onclick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t>사업별입찰등록결과조회</a:t>
                      </a:r>
                      <a:r>
                        <a:rPr lang="ko-KR" altLang="en-US" sz="800">
                          <a:latin typeface="+mn-ea"/>
                          <a:ea typeface="+mn-ea"/>
                        </a:rPr>
                        <a:t> 화면으로 이동</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b="0" i="0" u="none" strike="noStrike">
                          <a:solidFill>
                            <a:srgbClr val="000000"/>
                          </a:solidFill>
                          <a:effectLst/>
                          <a:latin typeface="맑은 고딕" panose="020B0503020000020004" pitchFamily="50" charset="-127"/>
                          <a:ea typeface="+mn-ea"/>
                        </a:rPr>
                        <a:t>UI-BD-04-P79 </a:t>
                      </a:r>
                      <a:r>
                        <a:rPr lang="ko-KR" altLang="en-US" sz="800" b="0" i="0" u="none" strike="noStrike">
                          <a:solidFill>
                            <a:srgbClr val="000000"/>
                          </a:solidFill>
                          <a:effectLst/>
                          <a:latin typeface="맑은 고딕" panose="020B0503020000020004" pitchFamily="50" charset="-127"/>
                          <a:ea typeface="+mn-ea"/>
                        </a:rPr>
                        <a:t>참조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9973157"/>
                  </a:ext>
                </a:extLst>
              </a:tr>
              <a:tr h="0">
                <a:tc>
                  <a:txBody>
                    <a:bodyPr/>
                    <a:lstStyle/>
                    <a:p>
                      <a:r>
                        <a:rPr lang="ko-KR" altLang="en-US" sz="800"/>
                        <a:t>전체입찰참가취소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scwin.btn_openCancleRequestAll_onclick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전체 입찰참가사업건에 대해 입찰참가신청서취소 팝업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UI-BD-04-P78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7689514"/>
                  </a:ext>
                </a:extLst>
              </a:tr>
            </a:tbl>
          </a:graphicData>
        </a:graphic>
      </p:graphicFrame>
      <p:sp>
        <p:nvSpPr>
          <p:cNvPr id="4" name="Text Box 73">
            <a:extLst>
              <a:ext uri="{FF2B5EF4-FFF2-40B4-BE49-F238E27FC236}">
                <a16:creationId xmlns:a16="http://schemas.microsoft.com/office/drawing/2014/main" id="{86E3B3BA-AC35-FA83-66A2-E135AE5C2B2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88519940"/>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a:t>
            </a:r>
            <a:r>
              <a:rPr lang="ko-KR" altLang="en-US" dirty="0" smtClean="0"/>
              <a:t>영역</a:t>
            </a:r>
            <a:r>
              <a:rPr lang="en-US" altLang="ko-KR" dirty="0" smtClean="0"/>
              <a:t/>
            </a:r>
            <a:br>
              <a:rPr lang="en-US" altLang="ko-KR" dirty="0" smtClean="0"/>
            </a:br>
            <a:r>
              <a:rPr lang="en-US" altLang="ko-KR" dirty="0" smtClean="0"/>
              <a:t>- </a:t>
            </a:r>
            <a:r>
              <a:rPr lang="ko-KR" altLang="en-US" dirty="0" smtClean="0"/>
              <a:t>필수 입력</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467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입찰참가신청서취소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입찰참가신청서취소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&gt; </a:t>
            </a:r>
            <a:r>
              <a:rPr lang="ko-KR" altLang="en-US" dirty="0">
                <a:latin typeface="+mn-ea"/>
              </a:rPr>
              <a:t>입찰참가신청서취소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MUI-BD-04-P82</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입찰참가신청서 취소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입찰참가신청서 취소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1606948"/>
            <a:chOff x="701175" y="2592310"/>
            <a:chExt cx="2630093" cy="1606948"/>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취소신청내역</a:t>
              </a:r>
            </a:p>
          </p:txBody>
        </p:sp>
        <p:sp>
          <p:nvSpPr>
            <p:cNvPr id="82" name="직사각형 81"/>
            <p:cNvSpPr/>
            <p:nvPr/>
          </p:nvSpPr>
          <p:spPr>
            <a:xfrm>
              <a:off x="703268" y="2899796"/>
              <a:ext cx="792000" cy="12983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개찰일자</a:t>
              </a:r>
              <a:endParaRPr lang="en-US" altLang="ko-KR" sz="700" dirty="0">
                <a:latin typeface="+mn-ea"/>
              </a:endParaRPr>
            </a:p>
            <a:p>
              <a:pPr>
                <a:lnSpc>
                  <a:spcPct val="200000"/>
                </a:lnSpc>
              </a:pPr>
              <a:r>
                <a:rPr lang="ko-KR" altLang="en-US" sz="700" dirty="0">
                  <a:latin typeface="+mn-ea"/>
                </a:rPr>
                <a:t>취소신청품목수</a:t>
              </a:r>
            </a:p>
          </p:txBody>
        </p:sp>
        <p:grpSp>
          <p:nvGrpSpPr>
            <p:cNvPr id="85" name="그룹 84"/>
            <p:cNvGrpSpPr/>
            <p:nvPr/>
          </p:nvGrpSpPr>
          <p:grpSpPr>
            <a:xfrm>
              <a:off x="701175" y="2899795"/>
              <a:ext cx="2630093" cy="1299463"/>
              <a:chOff x="701175" y="1835481"/>
              <a:chExt cx="2630093" cy="1299463"/>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31349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2025-03-13</a:t>
              </a:r>
            </a:p>
            <a:p>
              <a:pPr>
                <a:lnSpc>
                  <a:spcPct val="200000"/>
                </a:lnSpc>
              </a:pPr>
              <a:r>
                <a:rPr lang="en-US" altLang="ko-KR" sz="700" dirty="0">
                  <a:latin typeface="+mn-ea"/>
                </a:rPr>
                <a:t>3</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05" name="그룹 104"/>
          <p:cNvGrpSpPr/>
          <p:nvPr/>
        </p:nvGrpSpPr>
        <p:grpSpPr>
          <a:xfrm>
            <a:off x="716366" y="4263520"/>
            <a:ext cx="2630093" cy="1184228"/>
            <a:chOff x="3791188" y="2611009"/>
            <a:chExt cx="2630093" cy="1184228"/>
          </a:xfrm>
        </p:grpSpPr>
        <p:sp>
          <p:nvSpPr>
            <p:cNvPr id="106" name="TextBox 10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08" name="직사각형 107"/>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142" name="그룹 141"/>
          <p:cNvGrpSpPr/>
          <p:nvPr/>
        </p:nvGrpSpPr>
        <p:grpSpPr>
          <a:xfrm>
            <a:off x="3836701" y="2592310"/>
            <a:ext cx="2630093" cy="1184228"/>
            <a:chOff x="3791188" y="2611009"/>
            <a:chExt cx="2630093" cy="1184228"/>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45" name="직사각형 14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7" name="TextBox 176">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sp>
        <p:nvSpPr>
          <p:cNvPr id="219" name="모서리가 둥근 직사각형 218"/>
          <p:cNvSpPr/>
          <p:nvPr/>
        </p:nvSpPr>
        <p:spPr>
          <a:xfrm>
            <a:off x="3859820" y="4890313"/>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3997244" y="5061093"/>
            <a:ext cx="2305144" cy="646331"/>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청에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방위사업청장 귀하</a:t>
            </a:r>
            <a:endParaRPr lang="en-US" altLang="ko-KR" sz="700" dirty="0">
              <a:latin typeface="맑은 고딕" panose="020B0503020000020004" pitchFamily="50" charset="-127"/>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5401" y="41057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7494" y="47969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직사각형 213"/>
          <p:cNvSpPr/>
          <p:nvPr/>
        </p:nvSpPr>
        <p:spPr>
          <a:xfrm>
            <a:off x="3835401" y="4105760"/>
            <a:ext cx="2621844" cy="6137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4557" y="4106633"/>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859820" y="3849095"/>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3655647" y="389862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55647" y="572508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3425919270"/>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468</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6598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취소신청내역 데이터 </a:t>
            </a:r>
            <a:r>
              <a:rPr lang="ko-KR" altLang="en-US" sz="900" b="1">
                <a:solidFill>
                  <a:prstClr val="black"/>
                </a:solidFill>
              </a:rPr>
              <a:t>영역 </a:t>
            </a:r>
            <a:r>
              <a:rPr lang="en-US" altLang="ko-KR" sz="900" b="1">
                <a:solidFill>
                  <a:prstClr val="black"/>
                </a:solidFill>
              </a:rPr>
              <a:t>(dl_resultInfo)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2063988"/>
                  </a:ext>
                </a:extLst>
              </a:tr>
              <a:tr h="0">
                <a:tc>
                  <a:txBody>
                    <a:bodyPr/>
                    <a:lstStyle/>
                    <a:p>
                      <a:pPr algn="l" fontAlgn="ctr"/>
                      <a:r>
                        <a:rPr lang="ko-KR" altLang="en-US" sz="800" b="0" i="0" u="none" strike="noStrike">
                          <a:solidFill>
                            <a:srgbClr val="000000"/>
                          </a:solidFill>
                          <a:effectLst/>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164767"/>
                  </a:ext>
                </a:extLst>
              </a:tr>
              <a:tr h="0">
                <a:tc>
                  <a:txBody>
                    <a:bodyPr/>
                    <a:lstStyle/>
                    <a:p>
                      <a:pPr algn="l" fontAlgn="ctr"/>
                      <a:r>
                        <a:rPr lang="ko-KR" altLang="en-US" sz="800" b="0" i="0" u="none" strike="noStrike">
                          <a:solidFill>
                            <a:srgbClr val="000000"/>
                          </a:solidFill>
                          <a:effectLst/>
                          <a:latin typeface="+mn-ea"/>
                          <a:ea typeface="+mn-ea"/>
                        </a:rPr>
                        <a:t>취소신청품목수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rtrcnItemQty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입찰참가취소 신청할 품목 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3567366"/>
                  </a:ext>
                </a:extLst>
              </a:tr>
              <a:tr h="0">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184092"/>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659004"/>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1806982"/>
                  </a:ext>
                </a:extLst>
              </a:tr>
              <a:tr h="0">
                <a:tc>
                  <a:txBody>
                    <a:bodyPr/>
                    <a:lstStyle/>
                    <a:p>
                      <a:pPr algn="l" fontAlgn="ctr"/>
                      <a:r>
                        <a:rPr lang="ko-KR" altLang="en-US" sz="800" b="0" i="0" u="none" strike="noStrike" dirty="0">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103567"/>
                  </a:ext>
                </a:extLst>
              </a:tr>
              <a:tr h="0">
                <a:tc>
                  <a:txBody>
                    <a:bodyPr/>
                    <a:lstStyle/>
                    <a:p>
                      <a:pPr algn="l" fontAlgn="ctr"/>
                      <a:r>
                        <a:rPr lang="ko-KR" altLang="en-US" sz="800" b="0" i="0" u="none" strike="noStrike">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1191375"/>
                  </a:ext>
                </a:extLst>
              </a:tr>
              <a:tr h="0">
                <a:tc>
                  <a:txBody>
                    <a:bodyPr/>
                    <a:lstStyle/>
                    <a:p>
                      <a:pPr algn="l" fontAlgn="ctr"/>
                      <a:r>
                        <a:rPr lang="ko-KR" altLang="en-US" sz="800" b="0" i="0" u="none" strike="noStrike">
                          <a:solidFill>
                            <a:srgbClr val="000000"/>
                          </a:solidFill>
                          <a:effectLst/>
                          <a:latin typeface="+mn-ea"/>
                          <a:ea typeface="+mn-ea"/>
                        </a:rPr>
                        <a:t>입찰업체 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8192758"/>
                  </a:ext>
                </a:extLst>
              </a:tr>
              <a:tr h="0">
                <a:tc>
                  <a:txBody>
                    <a:bodyPr/>
                    <a:lstStyle/>
                    <a:p>
                      <a:pPr algn="l" fontAlgn="ctr"/>
                      <a:r>
                        <a:rPr lang="ko-KR" altLang="en-US" sz="800" b="0" i="0" u="none" strike="noStrike">
                          <a:solidFill>
                            <a:srgbClr val="000000"/>
                          </a:solidFill>
                          <a:effectLst/>
                          <a:latin typeface="+mn-ea"/>
                          <a:ea typeface="+mn-ea"/>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입찰업체 사업자번호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6" name="TextBox 5">
            <a:extLst>
              <a:ext uri="{FF2B5EF4-FFF2-40B4-BE49-F238E27FC236}">
                <a16:creationId xmlns:a16="http://schemas.microsoft.com/office/drawing/2014/main" id="{27987DD4-854F-30B9-F4A0-220B1CD0AC82}"/>
              </a:ext>
            </a:extLst>
          </p:cNvPr>
          <p:cNvSpPr txBox="1"/>
          <p:nvPr/>
        </p:nvSpPr>
        <p:spPr>
          <a:xfrm>
            <a:off x="458117" y="5034456"/>
            <a:ext cx="228003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a:t>
            </a:r>
            <a:r>
              <a:rPr lang="ko-KR" altLang="en-US" sz="900" b="1">
                <a:solidFill>
                  <a:prstClr val="black"/>
                </a:solidFill>
              </a:rPr>
              <a:t>영역 </a:t>
            </a:r>
            <a:r>
              <a:rPr lang="en-US" altLang="ko-KR" sz="900" b="1">
                <a:solidFill>
                  <a:prstClr val="black"/>
                </a:solidFill>
              </a:rPr>
              <a:t>(dl_sbmsnInfo)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2DC32904-139C-D979-06E0-1EF887892900}"/>
              </a:ext>
            </a:extLst>
          </p:cNvPr>
          <p:cNvGraphicFramePr>
            <a:graphicFrameLocks noGrp="1"/>
          </p:cNvGraphicFramePr>
          <p:nvPr/>
        </p:nvGraphicFramePr>
        <p:xfrm>
          <a:off x="452999" y="5245659"/>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입찰참가신청 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 Box 73">
            <a:extLst>
              <a:ext uri="{FF2B5EF4-FFF2-40B4-BE49-F238E27FC236}">
                <a16:creationId xmlns:a16="http://schemas.microsoft.com/office/drawing/2014/main" id="{6C7AA30B-6AE9-D838-590D-718356DCD3C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925483441"/>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469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2" name="표 1">
            <a:extLst>
              <a:ext uri="{FF2B5EF4-FFF2-40B4-BE49-F238E27FC236}">
                <a16:creationId xmlns:a16="http://schemas.microsoft.com/office/drawing/2014/main" id="{0DB94E96-F279-C1D0-427D-FF5F0AE1FFC1}"/>
              </a:ext>
            </a:extLst>
          </p:cNvPr>
          <p:cNvGraphicFramePr>
            <a:graphicFrameLocks noGrp="1"/>
          </p:cNvGraphicFramePr>
          <p:nvPr>
            <p:extLst/>
          </p:nvPr>
        </p:nvGraphicFramePr>
        <p:xfrm>
          <a:off x="455204" y="799547"/>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입찰참가신청정보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제출하기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입찰참가신청 취소신청서를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입찰참가취소신청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39605859"/>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4042325"/>
                  </a:ext>
                </a:extLst>
              </a:tr>
            </a:tbl>
          </a:graphicData>
        </a:graphic>
      </p:graphicFrame>
      <p:sp>
        <p:nvSpPr>
          <p:cNvPr id="4" name="Text Box 73">
            <a:extLst>
              <a:ext uri="{FF2B5EF4-FFF2-40B4-BE49-F238E27FC236}">
                <a16:creationId xmlns:a16="http://schemas.microsoft.com/office/drawing/2014/main" id="{B6DF3E90-230E-A900-2B7D-A9EF62F2176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89993194"/>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공고일반</a:t>
            </a:r>
            <a:r>
              <a:rPr lang="ko-KR" altLang="en-US" dirty="0"/>
              <a:t> 데이터 영역</a:t>
            </a:r>
          </a:p>
          <a:p>
            <a:pPr marL="228600" indent="-228600">
              <a:buFont typeface="+mj-lt"/>
              <a:buAutoNum type="arabicPeriod"/>
            </a:pPr>
            <a:r>
              <a:rPr lang="ko-KR" altLang="en-US" dirty="0"/>
              <a:t>업체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470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사업별입찰등록결과조회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사업별입찰등록결과조회</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&gt; </a:t>
            </a:r>
            <a:r>
              <a:rPr lang="ko-KR" altLang="en-US" dirty="0" err="1">
                <a:latin typeface="+mn-ea"/>
              </a:rPr>
              <a:t>사업별입찰등록결과조회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MUI-BD-04-P83</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739270"/>
            <a:chOff x="701175" y="2592310"/>
            <a:chExt cx="2630093" cy="739270"/>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공고 일반정보</a:t>
              </a:r>
            </a:p>
          </p:txBody>
        </p:sp>
        <p:sp>
          <p:nvSpPr>
            <p:cNvPr id="82" name="직사각형 81"/>
            <p:cNvSpPr/>
            <p:nvPr/>
          </p:nvSpPr>
          <p:spPr>
            <a:xfrm>
              <a:off x="703268" y="2899796"/>
              <a:ext cx="792000" cy="4317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430887"/>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개찰일자</a:t>
              </a:r>
              <a:endParaRPr lang="ko-KR" altLang="en-US" sz="700" dirty="0">
                <a:latin typeface="+mn-ea"/>
              </a:endParaRPr>
            </a:p>
          </p:txBody>
        </p:sp>
        <p:grpSp>
          <p:nvGrpSpPr>
            <p:cNvPr id="85" name="그룹 84"/>
            <p:cNvGrpSpPr/>
            <p:nvPr/>
          </p:nvGrpSpPr>
          <p:grpSpPr>
            <a:xfrm>
              <a:off x="701175" y="2899795"/>
              <a:ext cx="2630093" cy="429480"/>
              <a:chOff x="701175" y="1835481"/>
              <a:chExt cx="2630093" cy="42948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430887"/>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2025-03-13</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577496" y="348669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75" name="그룹 74"/>
          <p:cNvGrpSpPr/>
          <p:nvPr/>
        </p:nvGrpSpPr>
        <p:grpSpPr>
          <a:xfrm>
            <a:off x="716366" y="3404560"/>
            <a:ext cx="2630093" cy="1815590"/>
            <a:chOff x="3791188" y="2611009"/>
            <a:chExt cx="2630093" cy="1815590"/>
          </a:xfrm>
        </p:grpSpPr>
        <p:sp>
          <p:nvSpPr>
            <p:cNvPr id="76" name="TextBox 7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77" name="직사각형 76"/>
            <p:cNvSpPr/>
            <p:nvPr/>
          </p:nvSpPr>
          <p:spPr>
            <a:xfrm>
              <a:off x="3793281" y="2918495"/>
              <a:ext cx="792000" cy="15075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8" name="직선 연결선 7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9" name="TextBox 78">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92" name="직선 연결선 9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0" name="그룹 99"/>
          <p:cNvGrpSpPr/>
          <p:nvPr/>
        </p:nvGrpSpPr>
        <p:grpSpPr>
          <a:xfrm>
            <a:off x="3836701" y="2592310"/>
            <a:ext cx="2630093" cy="2031034"/>
            <a:chOff x="3791188" y="2611009"/>
            <a:chExt cx="2630093" cy="2031034"/>
          </a:xfrm>
        </p:grpSpPr>
        <p:sp>
          <p:nvSpPr>
            <p:cNvPr id="101" name="TextBox 1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02" name="직사각형 1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9" name="TextBox 118">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69" name="그룹 68"/>
          <p:cNvGrpSpPr/>
          <p:nvPr/>
        </p:nvGrpSpPr>
        <p:grpSpPr>
          <a:xfrm>
            <a:off x="8223250" y="569392"/>
            <a:ext cx="3365500" cy="634511"/>
            <a:chOff x="8223250" y="569392"/>
            <a:chExt cx="3365500" cy="634511"/>
          </a:xfrm>
        </p:grpSpPr>
        <p:sp>
          <p:nvSpPr>
            <p:cNvPr id="70" name="직사각형 6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71" name="직사각형 7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979205438"/>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사업별등록결과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471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사업별입찰등록결과조회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사업별입찰등록결과조회</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&gt; </a:t>
            </a:r>
            <a:r>
              <a:rPr lang="ko-KR" altLang="en-US" dirty="0" err="1">
                <a:latin typeface="+mn-ea"/>
              </a:rPr>
              <a:t>사업별입찰등록결과조회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MUI-BD-04-P83</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grpSp>
        <p:nvGrpSpPr>
          <p:cNvPr id="75" name="그룹 74"/>
          <p:cNvGrpSpPr/>
          <p:nvPr/>
        </p:nvGrpSpPr>
        <p:grpSpPr>
          <a:xfrm>
            <a:off x="716366" y="2592310"/>
            <a:ext cx="2630093" cy="1607126"/>
            <a:chOff x="3791188" y="2611009"/>
            <a:chExt cx="2630093" cy="1607126"/>
          </a:xfrm>
        </p:grpSpPr>
        <p:sp>
          <p:nvSpPr>
            <p:cNvPr id="76" name="TextBox 75">
              <a:extLst>
                <a:ext uri="{FF2B5EF4-FFF2-40B4-BE49-F238E27FC236}">
                  <a16:creationId xmlns:a16="http://schemas.microsoft.com/office/drawing/2014/main" id="{FFC49AEA-2A8F-250C-A86A-A7751D9706C3}"/>
                </a:ext>
              </a:extLst>
            </p:cNvPr>
            <p:cNvSpPr txBox="1"/>
            <p:nvPr/>
          </p:nvSpPr>
          <p:spPr>
            <a:xfrm>
              <a:off x="3852159" y="2611009"/>
              <a:ext cx="1186691" cy="215444"/>
            </a:xfrm>
            <a:prstGeom prst="rect">
              <a:avLst/>
            </a:prstGeom>
            <a:noFill/>
          </p:spPr>
          <p:txBody>
            <a:bodyPr wrap="square" lIns="0" tIns="0" rIns="0" bIns="0" rtlCol="0">
              <a:spAutoFit/>
            </a:bodyPr>
            <a:lstStyle/>
            <a:p>
              <a:pPr>
                <a:lnSpc>
                  <a:spcPct val="200000"/>
                </a:lnSpc>
              </a:pPr>
              <a:r>
                <a:rPr lang="ko-KR" altLang="en-US" sz="700" dirty="0">
                  <a:latin typeface="+mn-ea"/>
                </a:rPr>
                <a:t>사업별등록결과</a:t>
              </a:r>
            </a:p>
          </p:txBody>
        </p:sp>
        <p:sp>
          <p:nvSpPr>
            <p:cNvPr id="77" name="직사각형 76"/>
            <p:cNvSpPr/>
            <p:nvPr/>
          </p:nvSpPr>
          <p:spPr>
            <a:xfrm>
              <a:off x="3793281" y="2918495"/>
              <a:ext cx="792000" cy="12996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8" name="직선 연결선 7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9" name="TextBox 78">
              <a:extLst>
                <a:ext uri="{FF2B5EF4-FFF2-40B4-BE49-F238E27FC236}">
                  <a16:creationId xmlns:a16="http://schemas.microsoft.com/office/drawing/2014/main" id="{FFC49AEA-2A8F-250C-A86A-A7751D9706C3}"/>
                </a:ext>
              </a:extLst>
            </p:cNvPr>
            <p:cNvSpPr txBox="1"/>
            <p:nvPr/>
          </p:nvSpPr>
          <p:spPr>
            <a:xfrm>
              <a:off x="3880345" y="2918494"/>
              <a:ext cx="756848" cy="129266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등록결과</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4637193" y="2918494"/>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BDC23453-001</a:t>
              </a:r>
            </a:p>
            <a:p>
              <a:pPr>
                <a:lnSpc>
                  <a:spcPct val="200000"/>
                </a:lnSpc>
              </a:pPr>
              <a:r>
                <a:rPr lang="en-US" altLang="ko-KR" sz="700" dirty="0">
                  <a:latin typeface="+mn-ea"/>
                </a:rPr>
                <a:t>T-</a:t>
              </a:r>
              <a:r>
                <a:rPr lang="en-US" altLang="ko-KR" sz="700" dirty="0" err="1">
                  <a:latin typeface="+mn-ea"/>
                </a:rPr>
                <a:t>ATeTMEP</a:t>
              </a:r>
              <a:r>
                <a:rPr lang="en-US" altLang="ko-KR" sz="700" dirty="0">
                  <a:latin typeface="+mn-ea"/>
                </a:rPr>
                <a:t>- </a:t>
              </a:r>
              <a:r>
                <a:rPr lang="ko-KR" altLang="en-US" sz="700" dirty="0" err="1">
                  <a:latin typeface="+mn-ea"/>
                </a:rPr>
                <a:t>수리부속</a:t>
              </a:r>
              <a:endParaRPr lang="ko-KR" altLang="en-US" sz="700" dirty="0">
                <a:latin typeface="+mn-ea"/>
              </a:endParaRPr>
            </a:p>
            <a:p>
              <a:pPr>
                <a:lnSpc>
                  <a:spcPct val="200000"/>
                </a:lnSpc>
              </a:pPr>
              <a:r>
                <a:rPr lang="ko-KR" altLang="en-US" sz="700" dirty="0" err="1">
                  <a:latin typeface="+mn-ea"/>
                </a:rPr>
                <a:t>등록심사중</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p:txBody>
        </p:sp>
        <p:cxnSp>
          <p:nvCxnSpPr>
            <p:cNvPr id="92" name="직선 연결선 9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70" name="그룹 69"/>
          <p:cNvGrpSpPr/>
          <p:nvPr/>
        </p:nvGrpSpPr>
        <p:grpSpPr>
          <a:xfrm>
            <a:off x="716366" y="4308385"/>
            <a:ext cx="2630093" cy="1299641"/>
            <a:chOff x="3791188" y="2918494"/>
            <a:chExt cx="2630093" cy="1299641"/>
          </a:xfrm>
        </p:grpSpPr>
        <p:sp>
          <p:nvSpPr>
            <p:cNvPr id="72" name="직사각형 71"/>
            <p:cNvSpPr/>
            <p:nvPr/>
          </p:nvSpPr>
          <p:spPr>
            <a:xfrm>
              <a:off x="3793281" y="2918495"/>
              <a:ext cx="792000" cy="12996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3" name="직선 연결선 7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4" name="TextBox 73">
              <a:extLst>
                <a:ext uri="{FF2B5EF4-FFF2-40B4-BE49-F238E27FC236}">
                  <a16:creationId xmlns:a16="http://schemas.microsoft.com/office/drawing/2014/main" id="{FFC49AEA-2A8F-250C-A86A-A7751D9706C3}"/>
                </a:ext>
              </a:extLst>
            </p:cNvPr>
            <p:cNvSpPr txBox="1"/>
            <p:nvPr/>
          </p:nvSpPr>
          <p:spPr>
            <a:xfrm>
              <a:off x="3880345" y="2918494"/>
              <a:ext cx="756848" cy="129266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등록결과</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4637193" y="2918494"/>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BDC23453-002</a:t>
              </a:r>
            </a:p>
            <a:p>
              <a:pPr>
                <a:lnSpc>
                  <a:spcPct val="200000"/>
                </a:lnSpc>
              </a:pPr>
              <a:r>
                <a:rPr lang="en-US" altLang="ko-KR" sz="700" dirty="0">
                  <a:latin typeface="+mn-ea"/>
                </a:rPr>
                <a:t>T-</a:t>
              </a:r>
              <a:r>
                <a:rPr lang="en-US" altLang="ko-KR" sz="700" dirty="0" err="1">
                  <a:latin typeface="+mn-ea"/>
                </a:rPr>
                <a:t>ATeTMEP</a:t>
              </a:r>
              <a:r>
                <a:rPr lang="en-US" altLang="ko-KR" sz="700" dirty="0">
                  <a:latin typeface="+mn-ea"/>
                </a:rPr>
                <a:t>- </a:t>
              </a:r>
              <a:r>
                <a:rPr lang="ko-KR" altLang="en-US" sz="700" dirty="0" err="1">
                  <a:latin typeface="+mn-ea"/>
                </a:rPr>
                <a:t>수리부속</a:t>
              </a:r>
              <a:r>
                <a:rPr lang="ko-KR" altLang="en-US" sz="700" dirty="0">
                  <a:latin typeface="+mn-ea"/>
                </a:rPr>
                <a:t> </a:t>
              </a:r>
              <a:r>
                <a:rPr lang="en-US" altLang="ko-KR" sz="700" dirty="0">
                  <a:latin typeface="+mn-ea"/>
                </a:rPr>
                <a:t>2</a:t>
              </a:r>
              <a:endParaRPr lang="ko-KR" altLang="en-US" sz="700" dirty="0">
                <a:latin typeface="+mn-ea"/>
              </a:endParaRPr>
            </a:p>
            <a:p>
              <a:pPr>
                <a:lnSpc>
                  <a:spcPct val="200000"/>
                </a:lnSpc>
              </a:pPr>
              <a:r>
                <a:rPr lang="ko-KR" altLang="en-US" sz="700" dirty="0" err="1">
                  <a:latin typeface="+mn-ea"/>
                </a:rPr>
                <a:t>등록불가</a:t>
              </a:r>
              <a:endParaRPr lang="en-US" altLang="ko-KR" sz="700" dirty="0">
                <a:latin typeface="+mn-ea"/>
              </a:endParaRPr>
            </a:p>
            <a:p>
              <a:pPr>
                <a:lnSpc>
                  <a:spcPct val="200000"/>
                </a:lnSpc>
              </a:pPr>
              <a:r>
                <a:rPr lang="ko-KR" altLang="en-US" sz="700" dirty="0">
                  <a:latin typeface="+mn-ea"/>
                </a:rPr>
                <a:t>서류미비</a:t>
              </a:r>
              <a:endParaRPr lang="en-US" altLang="ko-KR" sz="700" dirty="0">
                <a:latin typeface="+mn-ea"/>
              </a:endParaRPr>
            </a:p>
            <a:p>
              <a:pPr>
                <a:lnSpc>
                  <a:spcPct val="200000"/>
                </a:lnSpc>
              </a:pPr>
              <a:r>
                <a:rPr lang="en-US" altLang="ko-KR" sz="700" dirty="0">
                  <a:latin typeface="+mn-ea"/>
                </a:rPr>
                <a:t>2026-02-19</a:t>
              </a:r>
            </a:p>
          </p:txBody>
        </p:sp>
        <p:cxnSp>
          <p:nvCxnSpPr>
            <p:cNvPr id="90" name="직선 연결선 89">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0" name="그룹 119">
            <a:extLst>
              <a:ext uri="{FF2B5EF4-FFF2-40B4-BE49-F238E27FC236}">
                <a16:creationId xmlns:a16="http://schemas.microsoft.com/office/drawing/2014/main" id="{22BC05EE-C648-7CA2-4CCC-6E1C1A7E9BDA}"/>
              </a:ext>
            </a:extLst>
          </p:cNvPr>
          <p:cNvGrpSpPr/>
          <p:nvPr/>
        </p:nvGrpSpPr>
        <p:grpSpPr>
          <a:xfrm>
            <a:off x="5113316" y="3846844"/>
            <a:ext cx="76863" cy="292489"/>
            <a:chOff x="3750067" y="4683795"/>
            <a:chExt cx="76863" cy="292489"/>
          </a:xfrm>
        </p:grpSpPr>
        <p:sp>
          <p:nvSpPr>
            <p:cNvPr id="121" name="타원 12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2" name="타원 121">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3" name="타원 122">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24" name="사각형: 둥근 모서리 15">
            <a:extLst>
              <a:ext uri="{FF2B5EF4-FFF2-40B4-BE49-F238E27FC236}">
                <a16:creationId xmlns:a16="http://schemas.microsoft.com/office/drawing/2014/main" id="{E2B61CFB-AD16-68D0-8752-50D9C5E01971}"/>
              </a:ext>
            </a:extLst>
          </p:cNvPr>
          <p:cNvSpPr/>
          <p:nvPr/>
        </p:nvSpPr>
        <p:spPr>
          <a:xfrm>
            <a:off x="3825376" y="5265529"/>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241178412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472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8628418"/>
                  </a:ext>
                </a:extLst>
              </a:tr>
              <a:tr h="0">
                <a:tc>
                  <a:txBody>
                    <a:bodyPr/>
                    <a:lstStyle/>
                    <a:p>
                      <a:pPr algn="l" fontAlgn="ctr"/>
                      <a:r>
                        <a:rPr lang="ko-KR" altLang="en-US" sz="800" b="0" i="0" u="none" strike="noStrike">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Box 1">
            <a:extLst>
              <a:ext uri="{FF2B5EF4-FFF2-40B4-BE49-F238E27FC236}">
                <a16:creationId xmlns:a16="http://schemas.microsoft.com/office/drawing/2014/main" id="{F14B9E18-8370-82BF-6FF1-2BF59AD83A65}"/>
              </a:ext>
            </a:extLst>
          </p:cNvPr>
          <p:cNvSpPr txBox="1"/>
          <p:nvPr/>
        </p:nvSpPr>
        <p:spPr>
          <a:xfrm>
            <a:off x="458117" y="1973732"/>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3C8C0F55-53BA-811A-AE86-BF9603714E45}"/>
              </a:ext>
            </a:extLst>
          </p:cNvPr>
          <p:cNvGraphicFramePr>
            <a:graphicFrameLocks noGrp="1"/>
          </p:cNvGraphicFramePr>
          <p:nvPr>
            <p:extLst/>
          </p:nvPr>
        </p:nvGraphicFramePr>
        <p:xfrm>
          <a:off x="452999" y="2184935"/>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a:solidFill>
                            <a:srgbClr val="000000"/>
                          </a:solidFill>
                          <a:effectLst/>
                          <a:latin typeface="+mn-ea"/>
                          <a:ea typeface="+mn-ea"/>
                        </a:rPr>
                        <a:t>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dirty="0">
                          <a:solidFill>
                            <a:srgbClr val="000000"/>
                          </a:solidFill>
                          <a:effectLst/>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a:solidFill>
                            <a:srgbClr val="000000"/>
                          </a:solidFill>
                          <a:effectLst/>
                          <a:latin typeface="+mn-ea"/>
                          <a:ea typeface="+mn-ea"/>
                        </a:rPr>
                        <a:t>시업자번호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사업자등록번호 또는 </a:t>
                      </a:r>
                      <a:r>
                        <a:rPr lang="en-US" altLang="ko-KR" sz="800" b="0" i="0" u="none" strike="noStrike">
                          <a:solidFill>
                            <a:srgbClr val="000000"/>
                          </a:solidFill>
                          <a:effectLst/>
                          <a:latin typeface="+mn-ea"/>
                          <a:ea typeface="+mn-ea"/>
                        </a:rPr>
                        <a:t>DUNSNUM</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a:solidFill>
                            <a:srgbClr val="000000"/>
                          </a:solidFill>
                          <a:effectLst/>
                          <a:latin typeface="+mn-ea"/>
                          <a:ea typeface="+mn-ea"/>
                        </a:rPr>
                        <a:t>팩스</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63329AAB-17D3-0F22-F460-85676E4330B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4F7C8E8F-E382-7B13-9296-3993B70E3B45}"/>
              </a:ext>
            </a:extLst>
          </p:cNvPr>
          <p:cNvSpPr txBox="1"/>
          <p:nvPr/>
        </p:nvSpPr>
        <p:spPr>
          <a:xfrm>
            <a:off x="458117" y="4278014"/>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입찰업체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5F23F511-62F4-2C8C-ADB1-9F5C0BC72DE2}"/>
              </a:ext>
            </a:extLst>
          </p:cNvPr>
          <p:cNvGraphicFramePr>
            <a:graphicFrameLocks noGrp="1"/>
          </p:cNvGraphicFramePr>
          <p:nvPr>
            <p:extLst/>
          </p:nvPr>
        </p:nvGraphicFramePr>
        <p:xfrm>
          <a:off x="452999" y="4489217"/>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dirty="0">
                          <a:solidFill>
                            <a:srgbClr val="000000"/>
                          </a:solidFill>
                          <a:effectLst/>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a:solidFill>
                            <a:srgbClr val="000000"/>
                          </a:solidFill>
                          <a:effectLst/>
                          <a:latin typeface="+mn-ea"/>
                          <a:ea typeface="+mn-ea"/>
                        </a:rPr>
                        <a:t>이메일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입찰업체</a:t>
                      </a:r>
                      <a:r>
                        <a:rPr lang="ko-KR" altLang="en-US" sz="800" b="0" i="0" u="none" strike="noStrike" dirty="0">
                          <a:solidFill>
                            <a:srgbClr val="000000"/>
                          </a:solidFill>
                          <a:effectLst/>
                          <a:latin typeface="+mn-ea"/>
                          <a:ea typeface="+mn-ea"/>
                        </a:rPr>
                        <a:t> 대표자 </a:t>
                      </a:r>
                      <a:r>
                        <a:rPr lang="ko-KR" altLang="en-US" sz="800" b="0" i="0" u="none" strike="noStrike" dirty="0" smtClean="0">
                          <a:solidFill>
                            <a:srgbClr val="000000"/>
                          </a:solidFill>
                          <a:effectLst/>
                          <a:latin typeface="+mn-ea"/>
                          <a:ea typeface="+mn-ea"/>
                        </a:rPr>
                        <a:t>이메일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1840538"/>
                  </a:ext>
                </a:extLst>
              </a:tr>
              <a:tr h="0">
                <a:tc>
                  <a:txBody>
                    <a:bodyPr/>
                    <a:lstStyle/>
                    <a:p>
                      <a:pPr algn="l" fontAlgn="ctr"/>
                      <a:r>
                        <a:rPr lang="ko-KR" altLang="en-US" sz="800" b="0" i="0" u="none" strike="noStrike" dirty="0">
                          <a:solidFill>
                            <a:srgbClr val="000000"/>
                          </a:solidFill>
                          <a:effectLst/>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dirty="0">
                          <a:solidFill>
                            <a:srgbClr val="000000"/>
                          </a:solidFill>
                          <a:effectLst/>
                          <a:latin typeface="+mn-ea"/>
                          <a:ea typeface="+mn-ea"/>
                        </a:rPr>
                        <a:t>시업자번호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dirty="0">
                          <a:solidFill>
                            <a:srgbClr val="000000"/>
                          </a:solidFill>
                          <a:effectLst/>
                          <a:latin typeface="+mn-ea"/>
                          <a:ea typeface="+mn-ea"/>
                        </a:rPr>
                        <a:t>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Tree>
    <p:extLst>
      <p:ext uri="{BB962C8B-B14F-4D97-AF65-F5344CB8AC3E}">
        <p14:creationId xmlns:p14="http://schemas.microsoft.com/office/powerpoint/2010/main" val="3133931616"/>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473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89418"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사업별등록결과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순번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순번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참가신청한 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2314043"/>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참가신청한 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6036380"/>
                  </a:ext>
                </a:extLst>
              </a:tr>
              <a:tr h="0">
                <a:tc>
                  <a:txBody>
                    <a:bodyPr/>
                    <a:lstStyle/>
                    <a:p>
                      <a:pPr algn="l" fontAlgn="ctr"/>
                      <a:r>
                        <a:rPr lang="ko-KR" altLang="en-US" sz="800" b="0" i="0" u="none" strike="noStrike">
                          <a:solidFill>
                            <a:srgbClr val="000000"/>
                          </a:solidFill>
                          <a:effectLst/>
                          <a:latin typeface="+mn-ea"/>
                          <a:ea typeface="+mn-ea"/>
                        </a:rPr>
                        <a:t>등록결과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입찰참가등록심사 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6879692"/>
                  </a:ext>
                </a:extLst>
              </a:tr>
              <a:tr h="0">
                <a:tc>
                  <a:txBody>
                    <a:bodyPr/>
                    <a:lstStyle/>
                    <a:p>
                      <a:pPr algn="l" fontAlgn="ctr"/>
                      <a:r>
                        <a:rPr lang="ko-KR" altLang="en-US" sz="800" b="0" i="0" u="none" strike="noStrike">
                          <a:solidFill>
                            <a:srgbClr val="000000"/>
                          </a:solidFill>
                          <a:effectLst/>
                          <a:latin typeface="+mn-ea"/>
                          <a:ea typeface="+mn-ea"/>
                        </a:rPr>
                        <a:t>등록불가사유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입찰참가등록심사 </a:t>
                      </a:r>
                      <a:r>
                        <a:rPr lang="ko-KR" altLang="en-US" sz="800" b="0" i="0" u="none" strike="noStrike" dirty="0" err="1">
                          <a:solidFill>
                            <a:srgbClr val="000000"/>
                          </a:solidFill>
                          <a:effectLst/>
                          <a:latin typeface="+mn-ea"/>
                          <a:ea typeface="+mn-ea"/>
                        </a:rPr>
                        <a:t>반려사유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등록확정일자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입찰참가등록 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C27DC7BC-6A09-C354-B70A-EB381929B66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10988379"/>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B208F9F9-6ABE-41C6-390A-0656DE7E5EB5}"/>
              </a:ext>
            </a:extLst>
          </p:cNvPr>
          <p:cNvSpPr>
            <a:spLocks noGrp="1"/>
          </p:cNvSpPr>
          <p:nvPr>
            <p:ph type="sldNum" sz="quarter" idx="4"/>
          </p:nvPr>
        </p:nvSpPr>
        <p:spPr/>
        <p:txBody>
          <a:bodyPr/>
          <a:lstStyle/>
          <a:p>
            <a:fld id="{34C8E023-7346-48FC-AB24-9A3388C53208}" type="slidenum">
              <a:rPr lang="ko-KR" altLang="en-US" smtClean="0"/>
              <a:pPr/>
              <a:t>474</a:t>
            </a:fld>
            <a:endParaRPr lang="ko-KR" altLang="en-US" dirty="0"/>
          </a:p>
        </p:txBody>
      </p:sp>
      <p:sp>
        <p:nvSpPr>
          <p:cNvPr id="3" name="TextBox 2">
            <a:extLst>
              <a:ext uri="{FF2B5EF4-FFF2-40B4-BE49-F238E27FC236}">
                <a16:creationId xmlns:a16="http://schemas.microsoft.com/office/drawing/2014/main" id="{18AFABCF-67E3-D442-8A32-B597790BE182}"/>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02552709-63E3-D17D-BFDB-CA54709D354C}"/>
              </a:ext>
            </a:extLst>
          </p:cNvPr>
          <p:cNvGraphicFramePr>
            <a:graphicFrameLocks noGrp="1"/>
          </p:cNvGraphicFramePr>
          <p:nvPr>
            <p:extLst/>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err="1">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이벤트명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사업별입찰등록결과 상세조회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err="1">
                          <a:latin typeface="+mn-ea"/>
                          <a:ea typeface="+mn-ea"/>
                        </a:rPr>
                        <a:t>사업별입찰등록결과조회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9A4B47C0-D81A-D4B4-6973-6C10AA9F2C5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762161842"/>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475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682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195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12068"/>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43413"/>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25399"/>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7" name="그룹 96"/>
          <p:cNvGrpSpPr/>
          <p:nvPr/>
        </p:nvGrpSpPr>
        <p:grpSpPr>
          <a:xfrm rot="16200000">
            <a:off x="1250698" y="3390205"/>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5" name="그룹 4"/>
          <p:cNvGrpSpPr/>
          <p:nvPr/>
        </p:nvGrpSpPr>
        <p:grpSpPr>
          <a:xfrm>
            <a:off x="1628592" y="3319726"/>
            <a:ext cx="601002" cy="187961"/>
            <a:chOff x="1404036" y="2897630"/>
            <a:chExt cx="601002" cy="187961"/>
          </a:xfrm>
        </p:grpSpPr>
        <p:grpSp>
          <p:nvGrpSpPr>
            <p:cNvPr id="100" name="그룹 99"/>
            <p:cNvGrpSpPr/>
            <p:nvPr/>
          </p:nvGrpSpPr>
          <p:grpSpPr>
            <a:xfrm>
              <a:off x="1404036" y="2897630"/>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서명</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968109"/>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7" name="그룹 6"/>
          <p:cNvGrpSpPr/>
          <p:nvPr/>
        </p:nvGrpSpPr>
        <p:grpSpPr>
          <a:xfrm>
            <a:off x="747926" y="3319726"/>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신청서</a:t>
              </a:r>
            </a:p>
          </p:txBody>
        </p:sp>
      </p:grpSp>
      <p:grpSp>
        <p:nvGrpSpPr>
          <p:cNvPr id="116" name="그룹 115"/>
          <p:cNvGrpSpPr/>
          <p:nvPr/>
        </p:nvGrpSpPr>
        <p:grpSpPr>
          <a:xfrm>
            <a:off x="2509258" y="3319726"/>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9" name="그룹 8"/>
          <p:cNvGrpSpPr/>
          <p:nvPr/>
        </p:nvGrpSpPr>
        <p:grpSpPr>
          <a:xfrm>
            <a:off x="675399" y="3979997"/>
            <a:ext cx="2712027" cy="337161"/>
            <a:chOff x="675399" y="3557901"/>
            <a:chExt cx="2712027" cy="337161"/>
          </a:xfrm>
        </p:grpSpPr>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40332"/>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40" name="그룹 239"/>
          <p:cNvGrpSpPr/>
          <p:nvPr/>
        </p:nvGrpSpPr>
        <p:grpSpPr>
          <a:xfrm>
            <a:off x="675399" y="2358716"/>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5919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67417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70552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787510"/>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40589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44201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1" name="모서리가 둥근 직사각형 150"/>
          <p:cNvSpPr/>
          <p:nvPr/>
        </p:nvSpPr>
        <p:spPr>
          <a:xfrm rot="5400000">
            <a:off x="2662242" y="316946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2754432"/>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716366" y="4360000"/>
            <a:ext cx="2630093" cy="1872299"/>
            <a:chOff x="701175" y="1527996"/>
            <a:chExt cx="2630093" cy="1872299"/>
          </a:xfrm>
        </p:grpSpPr>
        <p:sp>
          <p:nvSpPr>
            <p:cNvPr id="209" name="TextBox 208">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0" name="그룹 209"/>
            <p:cNvGrpSpPr/>
            <p:nvPr/>
          </p:nvGrpSpPr>
          <p:grpSpPr>
            <a:xfrm flipV="1">
              <a:off x="3124233" y="1641327"/>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직사각형 210"/>
            <p:cNvSpPr/>
            <p:nvPr/>
          </p:nvSpPr>
          <p:spPr>
            <a:xfrm>
              <a:off x="703268" y="1835482"/>
              <a:ext cx="792000" cy="156481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1547180" y="1835481"/>
              <a:ext cx="1775839" cy="129266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smtClean="0">
                  <a:latin typeface="+mn-ea"/>
                </a:rPr>
                <a:t>일반경쟁</a:t>
              </a:r>
              <a:endParaRPr lang="en-US" altLang="ko-KR" sz="700" dirty="0">
                <a:latin typeface="+mn-ea"/>
              </a:endParaRPr>
            </a:p>
          </p:txBody>
        </p:sp>
        <p:grpSp>
          <p:nvGrpSpPr>
            <p:cNvPr id="214" name="그룹 213"/>
            <p:cNvGrpSpPr/>
            <p:nvPr/>
          </p:nvGrpSpPr>
          <p:grpSpPr>
            <a:xfrm>
              <a:off x="701175" y="1835481"/>
              <a:ext cx="2630093" cy="1288440"/>
              <a:chOff x="701175" y="1835481"/>
              <a:chExt cx="2630093" cy="128844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155" name="그룹 154"/>
          <p:cNvGrpSpPr/>
          <p:nvPr/>
        </p:nvGrpSpPr>
        <p:grpSpPr>
          <a:xfrm>
            <a:off x="677960" y="1582647"/>
            <a:ext cx="2714637" cy="686386"/>
            <a:chOff x="677960" y="1582647"/>
            <a:chExt cx="2714637" cy="686386"/>
          </a:xfrm>
        </p:grpSpPr>
        <p:sp>
          <p:nvSpPr>
            <p:cNvPr id="156" name="TextBox 155">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입찰서 제출</a:t>
              </a:r>
            </a:p>
          </p:txBody>
        </p:sp>
        <p:cxnSp>
          <p:nvCxnSpPr>
            <p:cNvPr id="157" name="직선 연결선 156">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8" name="그룹 157"/>
            <p:cNvGrpSpPr/>
            <p:nvPr/>
          </p:nvGrpSpPr>
          <p:grpSpPr>
            <a:xfrm rot="5400000">
              <a:off x="852159" y="2062596"/>
              <a:ext cx="94010" cy="47005"/>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9" name="그룹 158"/>
            <p:cNvGrpSpPr/>
            <p:nvPr/>
          </p:nvGrpSpPr>
          <p:grpSpPr>
            <a:xfrm>
              <a:off x="677960" y="1582647"/>
              <a:ext cx="2712027" cy="324286"/>
              <a:chOff x="677960" y="1582647"/>
              <a:chExt cx="2712027" cy="324286"/>
            </a:xfrm>
          </p:grpSpPr>
          <p:pic>
            <p:nvPicPr>
              <p:cNvPr id="160"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62" name="직선 연결선 161">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5" name="타원 164"/>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타원 165"/>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7" name="타원 166"/>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170" name="그룹 169"/>
          <p:cNvGrpSpPr/>
          <p:nvPr/>
        </p:nvGrpSpPr>
        <p:grpSpPr>
          <a:xfrm>
            <a:off x="3858829" y="1840758"/>
            <a:ext cx="2630093" cy="865332"/>
            <a:chOff x="701175" y="1835481"/>
            <a:chExt cx="2630093" cy="865332"/>
          </a:xfrm>
        </p:grpSpPr>
        <p:sp>
          <p:nvSpPr>
            <p:cNvPr id="173" name="직사각형 172"/>
            <p:cNvSpPr/>
            <p:nvPr/>
          </p:nvSpPr>
          <p:spPr>
            <a:xfrm>
              <a:off x="703268" y="1835483"/>
              <a:ext cx="792000" cy="86533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5" name="TextBox 174">
              <a:extLst>
                <a:ext uri="{FF2B5EF4-FFF2-40B4-BE49-F238E27FC236}">
                  <a16:creationId xmlns:a16="http://schemas.microsoft.com/office/drawing/2014/main" id="{FFC49AEA-2A8F-250C-A86A-A7751D9706C3}"/>
                </a:ext>
              </a:extLst>
            </p:cNvPr>
            <p:cNvSpPr txBox="1"/>
            <p:nvPr/>
          </p:nvSpPr>
          <p:spPr>
            <a:xfrm>
              <a:off x="1547180" y="1835481"/>
              <a:ext cx="1775839" cy="861774"/>
            </a:xfrm>
            <a:prstGeom prst="rect">
              <a:avLst/>
            </a:prstGeom>
            <a:noFill/>
          </p:spPr>
          <p:txBody>
            <a:bodyPr wrap="square" lIns="0" tIns="0" rIns="0" bIns="0" rtlCol="0">
              <a:spAutoFit/>
            </a:bodyPr>
            <a:lstStyle/>
            <a:p>
              <a:pPr>
                <a:lnSpc>
                  <a:spcPct val="200000"/>
                </a:lnSpc>
              </a:pPr>
              <a:r>
                <a:rPr lang="en-US" altLang="ko-KR" sz="700" dirty="0" smtClean="0">
                  <a:latin typeface="+mn-ea"/>
                </a:rPr>
                <a:t>2025-03-02 </a:t>
              </a:r>
              <a:r>
                <a:rPr lang="en-US" altLang="ko-KR" sz="700" dirty="0">
                  <a:latin typeface="+mn-ea"/>
                </a:rPr>
                <a:t>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176" name="그룹 175"/>
            <p:cNvGrpSpPr/>
            <p:nvPr/>
          </p:nvGrpSpPr>
          <p:grpSpPr>
            <a:xfrm>
              <a:off x="701175" y="1835481"/>
              <a:ext cx="2630093" cy="858960"/>
              <a:chOff x="701175" y="1835481"/>
              <a:chExt cx="2630093" cy="858960"/>
            </a:xfrm>
          </p:grpSpPr>
          <p:cxnSp>
            <p:nvCxnSpPr>
              <p:cNvPr id="228" name="직선 연결선 22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3" name="직선 연결선 25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4" name="직선 연결선 25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5" name="직선 연결선 25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790330" y="1849766"/>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179" name="TextBox 178">
              <a:extLst>
                <a:ext uri="{FF2B5EF4-FFF2-40B4-BE49-F238E27FC236}">
                  <a16:creationId xmlns:a16="http://schemas.microsoft.com/office/drawing/2014/main" id="{FFC49AEA-2A8F-250C-A86A-A7751D9706C3}"/>
                </a:ext>
              </a:extLst>
            </p:cNvPr>
            <p:cNvSpPr txBox="1"/>
            <p:nvPr/>
          </p:nvSpPr>
          <p:spPr>
            <a:xfrm>
              <a:off x="790330" y="2066854"/>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790330" y="2253674"/>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grpSp>
        <p:nvGrpSpPr>
          <p:cNvPr id="140" name="그룹 139"/>
          <p:cNvGrpSpPr/>
          <p:nvPr/>
        </p:nvGrpSpPr>
        <p:grpSpPr>
          <a:xfrm>
            <a:off x="3795734" y="1500228"/>
            <a:ext cx="2712027" cy="337161"/>
            <a:chOff x="675399" y="3557901"/>
            <a:chExt cx="2712027" cy="337161"/>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45" name="직선 연결선 144">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6" name="그룹 145"/>
            <p:cNvGrpSpPr/>
            <p:nvPr/>
          </p:nvGrpSpPr>
          <p:grpSpPr>
            <a:xfrm>
              <a:off x="2924086" y="3640332"/>
              <a:ext cx="422853" cy="187961"/>
              <a:chOff x="3641308" y="2234886"/>
              <a:chExt cx="422853" cy="187961"/>
            </a:xfrm>
          </p:grpSpPr>
          <p:sp>
            <p:nvSpPr>
              <p:cNvPr id="164" name="타원 16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9" name="텍스트 개체 틀 12">
            <a:extLst>
              <a:ext uri="{FF2B5EF4-FFF2-40B4-BE49-F238E27FC236}">
                <a16:creationId xmlns:a16="http://schemas.microsoft.com/office/drawing/2014/main" id="{0643EE08-B324-56D6-CB41-C4D8C5E38320}"/>
              </a:ext>
            </a:extLst>
          </p:cNvPr>
          <p:cNvSpPr txBox="1">
            <a:spLocks/>
          </p:cNvSpPr>
          <p:nvPr/>
        </p:nvSpPr>
        <p:spPr>
          <a:xfrm>
            <a:off x="676047" y="1288145"/>
            <a:ext cx="1404000" cy="193878"/>
          </a:xfrm>
          <a:prstGeom prst="rect">
            <a:avLst/>
          </a:prstGeom>
        </p:spPr>
        <p:txBody>
          <a:bodyPr lIns="72000" tIns="36000" rIns="72000" bIns="36000"/>
          <a:lstStyle>
            <a:lvl1pPr marL="0" indent="0" algn="l" defTabSz="914400" rtl="0" eaLnBrk="1" latinLnBrk="1" hangingPunct="1">
              <a:lnSpc>
                <a:spcPct val="100000"/>
              </a:lnSpc>
              <a:spcBef>
                <a:spcPts val="0"/>
              </a:spcBef>
              <a:buFont typeface="Arial" panose="020B0604020202020204" pitchFamily="34" charset="0"/>
              <a:buNone/>
              <a:defRPr sz="900" kern="1200">
                <a:solidFill>
                  <a:schemeClr val="tx1"/>
                </a:solidFill>
                <a:latin typeface="+mn-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ko-KR" dirty="0">
                <a:solidFill>
                  <a:srgbClr val="000000"/>
                </a:solidFill>
                <a:latin typeface="맑은 고딕" panose="020B0503020000020004" pitchFamily="50" charset="-127"/>
              </a:rPr>
              <a:t>MUI-BD-06-T71</a:t>
            </a:r>
            <a:endParaRPr lang="ko-KR" altLang="en-US" dirty="0">
              <a:solidFill>
                <a:srgbClr val="000000"/>
              </a:solidFill>
              <a:latin typeface="맑은 고딕" panose="020B0503020000020004" pitchFamily="50" charset="-127"/>
            </a:endParaRPr>
          </a:p>
        </p:txBody>
      </p:sp>
    </p:spTree>
    <p:extLst>
      <p:ext uri="{BB962C8B-B14F-4D97-AF65-F5344CB8AC3E}">
        <p14:creationId xmlns:p14="http://schemas.microsoft.com/office/powerpoint/2010/main" val="803557768"/>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a:t>
            </a:r>
            <a:r>
              <a:rPr lang="ko-KR" altLang="en-US" dirty="0" smtClean="0"/>
              <a:t>영역</a:t>
            </a:r>
            <a:endParaRPr lang="en-US" altLang="ko-KR" dirty="0" smtClean="0"/>
          </a:p>
          <a:p>
            <a:pPr marL="228600" indent="-228600">
              <a:buFont typeface="+mj-lt"/>
              <a:buAutoNum type="arabicPeriod"/>
            </a:pPr>
            <a:r>
              <a:rPr lang="ko-KR" altLang="en-US" dirty="0" smtClean="0"/>
              <a:t>품목대체첨부문서</a:t>
            </a:r>
            <a:r>
              <a:rPr lang="en-US" altLang="ko-KR" dirty="0" smtClean="0"/>
              <a:t>, MOQ </a:t>
            </a:r>
            <a:r>
              <a:rPr lang="ko-KR" altLang="en-US" dirty="0" smtClean="0"/>
              <a:t>문서</a:t>
            </a:r>
            <a:r>
              <a:rPr lang="en-US" altLang="ko-KR" dirty="0" smtClean="0"/>
              <a:t/>
            </a:r>
            <a:br>
              <a:rPr lang="en-US" altLang="ko-KR" dirty="0" smtClean="0"/>
            </a:br>
            <a:r>
              <a:rPr lang="en-US" altLang="ko-KR" dirty="0" smtClean="0"/>
              <a:t>- O, X</a:t>
            </a:r>
            <a:r>
              <a:rPr lang="ko-KR" altLang="en-US" dirty="0" smtClean="0"/>
              <a:t>로 표시되고</a:t>
            </a:r>
            <a:r>
              <a:rPr lang="en-US" altLang="ko-KR" dirty="0" smtClean="0"/>
              <a:t>, O</a:t>
            </a:r>
            <a:r>
              <a:rPr lang="ko-KR" altLang="en-US" dirty="0" smtClean="0"/>
              <a:t>인 경우 버튼 표시</a:t>
            </a:r>
            <a:r>
              <a:rPr lang="en-US" altLang="ko-KR" dirty="0" smtClean="0"/>
              <a:t/>
            </a:r>
            <a:br>
              <a:rPr lang="en-US" altLang="ko-KR" dirty="0" smtClean="0"/>
            </a:br>
            <a:r>
              <a:rPr lang="en-US" altLang="ko-KR" dirty="0" smtClean="0"/>
              <a:t>- </a:t>
            </a:r>
            <a:r>
              <a:rPr lang="ko-KR" altLang="en-US" dirty="0" smtClean="0"/>
              <a:t>첨부파일조회 </a:t>
            </a:r>
            <a:r>
              <a:rPr lang="en-US" altLang="ko-KR" dirty="0" smtClean="0"/>
              <a:t>MUI-BD-01-P76 </a:t>
            </a:r>
            <a:r>
              <a:rPr lang="ko-KR" altLang="en-US" dirty="0" smtClean="0"/>
              <a:t>팝업 호출</a:t>
            </a:r>
            <a:endParaRPr lang="en-US" altLang="ko-KR" dirty="0" smtClean="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476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입찰참여품목 </a:t>
            </a:r>
            <a:r>
              <a:rPr lang="en-US" altLang="ko-KR" dirty="0">
                <a:latin typeface="+mn-ea"/>
              </a:rPr>
              <a:t>(</a:t>
            </a:r>
            <a:r>
              <a:rPr lang="ko-KR" altLang="en-US" dirty="0" err="1">
                <a:latin typeface="+mn-ea"/>
              </a:rPr>
              <a:t>단가제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입찰참여품목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MUI-BD-06-T72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533058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595526"/>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00" name="그룹 99"/>
          <p:cNvGrpSpPr/>
          <p:nvPr/>
        </p:nvGrpSpPr>
        <p:grpSpPr>
          <a:xfrm>
            <a:off x="3795734" y="2083489"/>
            <a:ext cx="2712027" cy="337161"/>
            <a:chOff x="675399" y="3557901"/>
            <a:chExt cx="2712027" cy="337161"/>
          </a:xfrm>
        </p:grpSpPr>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1345598" y="3895062"/>
              <a:ext cx="7336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7" name="그룹 106"/>
            <p:cNvGrpSpPr/>
            <p:nvPr/>
          </p:nvGrpSpPr>
          <p:grpSpPr>
            <a:xfrm>
              <a:off x="2924086" y="3640332"/>
              <a:ext cx="422853" cy="187961"/>
              <a:chOff x="3641308" y="2234886"/>
              <a:chExt cx="422853" cy="187961"/>
            </a:xfrm>
          </p:grpSpPr>
          <p:sp>
            <p:nvSpPr>
              <p:cNvPr id="110" name="타원 10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1" name="그룹 110"/>
              <p:cNvGrpSpPr/>
              <p:nvPr/>
            </p:nvGrpSpPr>
            <p:grpSpPr>
              <a:xfrm rot="5400000" flipH="1">
                <a:off x="3679895" y="2305364"/>
                <a:ext cx="94010" cy="47005"/>
                <a:chOff x="6812560" y="3297172"/>
                <a:chExt cx="94010" cy="47005"/>
              </a:xfrm>
            </p:grpSpPr>
            <p:cxnSp>
              <p:nvCxnSpPr>
                <p:cNvPr id="116" name="직선 연결선 11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7" name="직선 연결선 11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2" name="타원 1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rot="16200000">
                <a:off x="3931564" y="2305364"/>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18" name="그룹 117"/>
          <p:cNvGrpSpPr/>
          <p:nvPr/>
        </p:nvGrpSpPr>
        <p:grpSpPr>
          <a:xfrm>
            <a:off x="675399" y="2083489"/>
            <a:ext cx="2712027" cy="337161"/>
            <a:chOff x="675399" y="3557901"/>
            <a:chExt cx="2712027" cy="337161"/>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1340397" y="3895062"/>
              <a:ext cx="72803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24" name="그룹 123"/>
            <p:cNvGrpSpPr/>
            <p:nvPr/>
          </p:nvGrpSpPr>
          <p:grpSpPr>
            <a:xfrm>
              <a:off x="2924086" y="3640332"/>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5400000" flipH="1">
                <a:off x="3679895" y="2305364"/>
                <a:ext cx="94010" cy="47005"/>
                <a:chOff x="6812560" y="3297172"/>
                <a:chExt cx="94010" cy="47005"/>
              </a:xfrm>
            </p:grpSpPr>
            <p:cxnSp>
              <p:nvCxnSpPr>
                <p:cNvPr id="157" name="직선 연결선 15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8" name="직선 연결선 15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2" name="그룹 151"/>
              <p:cNvGrpSpPr/>
              <p:nvPr/>
            </p:nvGrpSpPr>
            <p:grpSpPr>
              <a:xfrm rot="16200000">
                <a:off x="3931564" y="2305364"/>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25" name="직선 연결선 124">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9" name="그룹 158"/>
          <p:cNvGrpSpPr/>
          <p:nvPr/>
        </p:nvGrpSpPr>
        <p:grpSpPr>
          <a:xfrm>
            <a:off x="701175" y="2489455"/>
            <a:ext cx="2630093" cy="3754583"/>
            <a:chOff x="701175" y="1527996"/>
            <a:chExt cx="2630093" cy="3754583"/>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1"/>
              <a:ext cx="792000" cy="34438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3447098"/>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3447098"/>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Replace</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1</a:t>
              </a:r>
            </a:p>
            <a:p>
              <a:pPr>
                <a:lnSpc>
                  <a:spcPct val="200000"/>
                </a:lnSpc>
              </a:pPr>
              <a:r>
                <a:rPr lang="en-US" altLang="ko-KR" sz="700" dirty="0">
                  <a:latin typeface="+mn-ea"/>
                </a:rPr>
                <a:t>2</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2025-03-25</a:t>
              </a:r>
            </a:p>
            <a:p>
              <a:pPr>
                <a:lnSpc>
                  <a:spcPct val="200000"/>
                </a:lnSpc>
              </a:pPr>
              <a:r>
                <a:rPr lang="en-US" altLang="ko-KR" sz="700" dirty="0">
                  <a:latin typeface="+mn-ea"/>
                </a:rPr>
                <a:t>2025-03-25</a:t>
              </a:r>
            </a:p>
          </p:txBody>
        </p:sp>
        <p:grpSp>
          <p:nvGrpSpPr>
            <p:cNvPr id="194" name="그룹 193"/>
            <p:cNvGrpSpPr/>
            <p:nvPr/>
          </p:nvGrpSpPr>
          <p:grpSpPr>
            <a:xfrm>
              <a:off x="701175" y="1835481"/>
              <a:ext cx="2630093" cy="3435840"/>
              <a:chOff x="701175" y="1835481"/>
              <a:chExt cx="2630093" cy="3435840"/>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1" name="직선 연결선 210">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18" name="그룹 217"/>
          <p:cNvGrpSpPr/>
          <p:nvPr/>
        </p:nvGrpSpPr>
        <p:grpSpPr>
          <a:xfrm>
            <a:off x="3821510" y="2455385"/>
            <a:ext cx="2630093" cy="1567215"/>
            <a:chOff x="701175" y="1800646"/>
            <a:chExt cx="2630093" cy="1567215"/>
          </a:xfrm>
        </p:grpSpPr>
        <p:sp>
          <p:nvSpPr>
            <p:cNvPr id="219" name="직사각형 218"/>
            <p:cNvSpPr/>
            <p:nvPr/>
          </p:nvSpPr>
          <p:spPr>
            <a:xfrm>
              <a:off x="703268" y="1800646"/>
              <a:ext cx="792000" cy="15672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endParaRPr lang="en-US" altLang="ko-KR" sz="700" dirty="0">
                <a:latin typeface="+mn-ea"/>
              </a:endParaRPr>
            </a:p>
            <a:p>
              <a:pPr algn="r">
                <a:lnSpc>
                  <a:spcPct val="200000"/>
                </a:lnSpc>
              </a:pPr>
              <a:r>
                <a:rPr lang="en-US" altLang="ko-KR" sz="700" dirty="0">
                  <a:latin typeface="+mn-ea"/>
                </a:rPr>
                <a:t>608,000.00</a:t>
              </a:r>
            </a:p>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224" name="그룹 223"/>
            <p:cNvGrpSpPr/>
            <p:nvPr/>
          </p:nvGrpSpPr>
          <p:grpSpPr>
            <a:xfrm>
              <a:off x="701175" y="1835481"/>
              <a:ext cx="2630093" cy="1524858"/>
              <a:chOff x="701175" y="1835481"/>
              <a:chExt cx="2630093" cy="1524858"/>
            </a:xfrm>
          </p:grpSpPr>
          <p:cxnSp>
            <p:nvCxnSpPr>
              <p:cNvPr id="226" name="직선 연결선 2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491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707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9217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31484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3360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69" name="그룹 268"/>
          <p:cNvGrpSpPr/>
          <p:nvPr/>
        </p:nvGrpSpPr>
        <p:grpSpPr>
          <a:xfrm>
            <a:off x="3795734" y="5743373"/>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48" name="사각형: 둥근 모서리 15">
            <a:extLst>
              <a:ext uri="{FF2B5EF4-FFF2-40B4-BE49-F238E27FC236}">
                <a16:creationId xmlns:a16="http://schemas.microsoft.com/office/drawing/2014/main" id="{E2B61CFB-AD16-68D0-8752-50D9C5E01971}"/>
              </a:ext>
            </a:extLst>
          </p:cNvPr>
          <p:cNvSpPr/>
          <p:nvPr/>
        </p:nvSpPr>
        <p:spPr>
          <a:xfrm>
            <a:off x="4672608" y="295020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234" name="직사각형 233"/>
          <p:cNvSpPr/>
          <p:nvPr/>
        </p:nvSpPr>
        <p:spPr>
          <a:xfrm>
            <a:off x="3820170" y="431506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431506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431506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431506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520056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3933132" y="406020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sp>
        <p:nvSpPr>
          <p:cNvPr id="248" name="사각형: 둥근 모서리 15">
            <a:extLst>
              <a:ext uri="{FF2B5EF4-FFF2-40B4-BE49-F238E27FC236}">
                <a16:creationId xmlns:a16="http://schemas.microsoft.com/office/drawing/2014/main" id="{E2B61CFB-AD16-68D0-8752-50D9C5E01971}"/>
              </a:ext>
            </a:extLst>
          </p:cNvPr>
          <p:cNvSpPr/>
          <p:nvPr/>
        </p:nvSpPr>
        <p:spPr>
          <a:xfrm>
            <a:off x="2836921" y="4546899"/>
            <a:ext cx="494347" cy="162000"/>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defRPr/>
            </a:pPr>
            <a:r>
              <a:rPr kumimoji="1" lang="ko-KR" altLang="en-US" sz="700" kern="0" dirty="0">
                <a:solidFill>
                  <a:srgbClr val="0070C0"/>
                </a:solidFill>
              </a:rPr>
              <a:t>보기</a:t>
            </a:r>
            <a:endParaRPr kumimoji="1" lang="en-US" altLang="ko-KR" sz="700" kern="0" dirty="0">
              <a:solidFill>
                <a:srgbClr val="0070C0"/>
              </a:solidFill>
            </a:endParaRPr>
          </a:p>
        </p:txBody>
      </p:sp>
      <p:sp>
        <p:nvSpPr>
          <p:cNvPr id="249" name="사각형: 둥근 모서리 15">
            <a:extLst>
              <a:ext uri="{FF2B5EF4-FFF2-40B4-BE49-F238E27FC236}">
                <a16:creationId xmlns:a16="http://schemas.microsoft.com/office/drawing/2014/main" id="{E2B61CFB-AD16-68D0-8752-50D9C5E01971}"/>
              </a:ext>
            </a:extLst>
          </p:cNvPr>
          <p:cNvSpPr/>
          <p:nvPr/>
        </p:nvSpPr>
        <p:spPr>
          <a:xfrm>
            <a:off x="2836921" y="5617202"/>
            <a:ext cx="494347" cy="16200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solidFill>
                  <a:srgbClr val="0070C0"/>
                </a:solidFill>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0" name="타원 129">
            <a:extLst>
              <a:ext uri="{FF2B5EF4-FFF2-40B4-BE49-F238E27FC236}">
                <a16:creationId xmlns:a16="http://schemas.microsoft.com/office/drawing/2014/main" id="{37A7FF4F-0EAA-1463-560A-D5EC24416103}"/>
              </a:ext>
            </a:extLst>
          </p:cNvPr>
          <p:cNvSpPr/>
          <p:nvPr/>
        </p:nvSpPr>
        <p:spPr>
          <a:xfrm>
            <a:off x="589334" y="454168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31" name="타원 130">
            <a:extLst>
              <a:ext uri="{FF2B5EF4-FFF2-40B4-BE49-F238E27FC236}">
                <a16:creationId xmlns:a16="http://schemas.microsoft.com/office/drawing/2014/main" id="{37A7FF4F-0EAA-1463-560A-D5EC24416103}"/>
              </a:ext>
            </a:extLst>
          </p:cNvPr>
          <p:cNvSpPr/>
          <p:nvPr/>
        </p:nvSpPr>
        <p:spPr>
          <a:xfrm>
            <a:off x="589334" y="559552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32" name="타원 131">
            <a:extLst>
              <a:ext uri="{FF2B5EF4-FFF2-40B4-BE49-F238E27FC236}">
                <a16:creationId xmlns:a16="http://schemas.microsoft.com/office/drawing/2014/main" id="{37A7FF4F-0EAA-1463-560A-D5EC24416103}"/>
              </a:ext>
            </a:extLst>
          </p:cNvPr>
          <p:cNvSpPr/>
          <p:nvPr/>
        </p:nvSpPr>
        <p:spPr>
          <a:xfrm>
            <a:off x="3698869" y="293907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Tree>
    <p:extLst>
      <p:ext uri="{BB962C8B-B14F-4D97-AF65-F5344CB8AC3E}">
        <p14:creationId xmlns:p14="http://schemas.microsoft.com/office/powerpoint/2010/main" val="3647300594"/>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입찰내역</a:t>
            </a:r>
            <a:r>
              <a:rPr lang="en-US" altLang="ko-KR" dirty="0"/>
              <a:t>(</a:t>
            </a:r>
            <a:r>
              <a:rPr lang="ko-KR" altLang="en-US" dirty="0" err="1"/>
              <a:t>총액제</a:t>
            </a:r>
            <a:r>
              <a:rPr lang="en-US" altLang="ko-KR" dirty="0"/>
              <a:t>) </a:t>
            </a:r>
            <a:r>
              <a:rPr lang="ko-KR" altLang="en-US" dirty="0"/>
              <a:t>데이터 영역</a:t>
            </a:r>
            <a:endParaRPr lang="en-US" altLang="ko-KR" dirty="0"/>
          </a:p>
          <a:p>
            <a:pPr marL="228600" indent="-228600">
              <a:buFont typeface="+mj-lt"/>
              <a:buAutoNum type="arabicPeriod"/>
            </a:pPr>
            <a:r>
              <a:rPr lang="ko-KR" altLang="en-US" dirty="0" err="1"/>
              <a:t>입찰품목</a:t>
            </a:r>
            <a:r>
              <a:rPr lang="en-US" altLang="ko-KR" dirty="0"/>
              <a:t>(</a:t>
            </a:r>
            <a:r>
              <a:rPr lang="ko-KR" altLang="en-US" dirty="0" err="1"/>
              <a:t>총액제</a:t>
            </a:r>
            <a:r>
              <a:rPr lang="en-US" altLang="ko-KR" dirty="0"/>
              <a:t>)</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477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입찰참여품목 </a:t>
            </a:r>
            <a:r>
              <a:rPr lang="en-US" altLang="ko-KR" dirty="0" smtClean="0">
                <a:latin typeface="+mn-ea"/>
              </a:rPr>
              <a:t>(</a:t>
            </a:r>
            <a:r>
              <a:rPr lang="ko-KR" altLang="en-US" dirty="0" err="1" smtClean="0">
                <a:latin typeface="+mn-ea"/>
              </a:rPr>
              <a:t>총액제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MUI-BD-06-T73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09" name="그룹 108"/>
          <p:cNvGrpSpPr/>
          <p:nvPr/>
        </p:nvGrpSpPr>
        <p:grpSpPr>
          <a:xfrm>
            <a:off x="3795734" y="2083489"/>
            <a:ext cx="2712027" cy="337161"/>
            <a:chOff x="675399" y="3557901"/>
            <a:chExt cx="2712027" cy="337161"/>
          </a:xfrm>
        </p:grpSpPr>
        <p:cxnSp>
          <p:nvCxnSpPr>
            <p:cNvPr id="113" name="직선 연결선 11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1345598" y="3895062"/>
              <a:ext cx="7336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2924086" y="3640332"/>
              <a:ext cx="422853" cy="187961"/>
              <a:chOff x="3641308" y="2234886"/>
              <a:chExt cx="422853" cy="187961"/>
            </a:xfrm>
          </p:grpSpPr>
          <p:sp>
            <p:nvSpPr>
              <p:cNvPr id="121" name="타원 12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2" name="그룹 121"/>
              <p:cNvGrpSpPr/>
              <p:nvPr/>
            </p:nvGrpSpPr>
            <p:grpSpPr>
              <a:xfrm rot="5400000" flipH="1">
                <a:off x="3679895" y="2305364"/>
                <a:ext cx="94010" cy="47005"/>
                <a:chOff x="6812560" y="3297172"/>
                <a:chExt cx="94010" cy="47005"/>
              </a:xfrm>
            </p:grpSpPr>
            <p:cxnSp>
              <p:nvCxnSpPr>
                <p:cNvPr id="151" name="직선 연결선 15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3" name="타원 12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4" name="그룹 123"/>
              <p:cNvGrpSpPr/>
              <p:nvPr/>
            </p:nvGrpSpPr>
            <p:grpSpPr>
              <a:xfrm rot="16200000">
                <a:off x="3931564" y="2305364"/>
                <a:ext cx="94010" cy="47005"/>
                <a:chOff x="6812560" y="3297172"/>
                <a:chExt cx="94010" cy="47005"/>
              </a:xfrm>
            </p:grpSpPr>
            <p:cxnSp>
              <p:nvCxnSpPr>
                <p:cNvPr id="125" name="직선 연결선 12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7" name="직선 연결선 12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19" name="직선 연결선 11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3" name="그룹 152"/>
          <p:cNvGrpSpPr/>
          <p:nvPr/>
        </p:nvGrpSpPr>
        <p:grpSpPr>
          <a:xfrm>
            <a:off x="675399" y="2083489"/>
            <a:ext cx="2712027" cy="337161"/>
            <a:chOff x="675399" y="3557901"/>
            <a:chExt cx="2712027" cy="337161"/>
          </a:xfrm>
        </p:grpSpPr>
        <p:cxnSp>
          <p:nvCxnSpPr>
            <p:cNvPr id="154" name="직선 연결선 15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82" name="직선 연결선 181">
              <a:extLst>
                <a:ext uri="{FF2B5EF4-FFF2-40B4-BE49-F238E27FC236}">
                  <a16:creationId xmlns:a16="http://schemas.microsoft.com/office/drawing/2014/main" id="{E9293055-D5CD-4B9E-7F64-64B2D2CA7A52}"/>
                </a:ext>
              </a:extLst>
            </p:cNvPr>
            <p:cNvCxnSpPr/>
            <p:nvPr/>
          </p:nvCxnSpPr>
          <p:spPr>
            <a:xfrm>
              <a:off x="1340397" y="3895062"/>
              <a:ext cx="72803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3" name="그룹 182"/>
            <p:cNvGrpSpPr/>
            <p:nvPr/>
          </p:nvGrpSpPr>
          <p:grpSpPr>
            <a:xfrm>
              <a:off x="2924086" y="3640332"/>
              <a:ext cx="422853" cy="187961"/>
              <a:chOff x="3641308" y="2234886"/>
              <a:chExt cx="422853" cy="187961"/>
            </a:xfrm>
          </p:grpSpPr>
          <p:sp>
            <p:nvSpPr>
              <p:cNvPr id="186" name="타원 185"/>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7" name="그룹 186"/>
              <p:cNvGrpSpPr/>
              <p:nvPr/>
            </p:nvGrpSpPr>
            <p:grpSpPr>
              <a:xfrm rot="5400000" flipH="1">
                <a:off x="3679895" y="2305364"/>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8" name="타원 187"/>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9" name="그룹 188"/>
              <p:cNvGrpSpPr/>
              <p:nvPr/>
            </p:nvGrpSpPr>
            <p:grpSpPr>
              <a:xfrm rot="16200000">
                <a:off x="3931564" y="2305364"/>
                <a:ext cx="94010" cy="47005"/>
                <a:chOff x="6812560" y="3297172"/>
                <a:chExt cx="94010" cy="47005"/>
              </a:xfrm>
            </p:grpSpPr>
            <p:cxnSp>
              <p:nvCxnSpPr>
                <p:cNvPr id="190" name="직선 연결선 18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1" name="직선 연결선 19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4" name="직사각형 193"/>
          <p:cNvSpPr/>
          <p:nvPr/>
        </p:nvSpPr>
        <p:spPr>
          <a:xfrm>
            <a:off x="722060" y="2791902"/>
            <a:ext cx="792000" cy="10608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TextBox 194">
            <a:extLst>
              <a:ext uri="{FF2B5EF4-FFF2-40B4-BE49-F238E27FC236}">
                <a16:creationId xmlns:a16="http://schemas.microsoft.com/office/drawing/2014/main" id="{FFC49AEA-2A8F-250C-A86A-A7751D9706C3}"/>
              </a:ext>
            </a:extLst>
          </p:cNvPr>
          <p:cNvSpPr txBox="1"/>
          <p:nvPr/>
        </p:nvSpPr>
        <p:spPr>
          <a:xfrm>
            <a:off x="762146" y="4076703"/>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96" name="직사각형 195"/>
          <p:cNvSpPr/>
          <p:nvPr/>
        </p:nvSpPr>
        <p:spPr>
          <a:xfrm>
            <a:off x="703268" y="4384189"/>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7" name="TextBox 196">
            <a:extLst>
              <a:ext uri="{FF2B5EF4-FFF2-40B4-BE49-F238E27FC236}">
                <a16:creationId xmlns:a16="http://schemas.microsoft.com/office/drawing/2014/main" id="{FFC49AEA-2A8F-250C-A86A-A7751D9706C3}"/>
              </a:ext>
            </a:extLst>
          </p:cNvPr>
          <p:cNvSpPr txBox="1"/>
          <p:nvPr/>
        </p:nvSpPr>
        <p:spPr>
          <a:xfrm>
            <a:off x="790331" y="4384188"/>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p:txBody>
      </p:sp>
      <p:grpSp>
        <p:nvGrpSpPr>
          <p:cNvPr id="198" name="그룹 197"/>
          <p:cNvGrpSpPr/>
          <p:nvPr/>
        </p:nvGrpSpPr>
        <p:grpSpPr>
          <a:xfrm>
            <a:off x="701175" y="4384188"/>
            <a:ext cx="2630093" cy="1288440"/>
            <a:chOff x="701175" y="1835481"/>
            <a:chExt cx="2630093" cy="1288440"/>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0" name="TextBox 209">
            <a:extLst>
              <a:ext uri="{FF2B5EF4-FFF2-40B4-BE49-F238E27FC236}">
                <a16:creationId xmlns:a16="http://schemas.microsoft.com/office/drawing/2014/main" id="{FFC49AEA-2A8F-250C-A86A-A7751D9706C3}"/>
              </a:ext>
            </a:extLst>
          </p:cNvPr>
          <p:cNvSpPr txBox="1"/>
          <p:nvPr/>
        </p:nvSpPr>
        <p:spPr>
          <a:xfrm>
            <a:off x="1547180" y="438418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762146" y="2483140"/>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endParaRPr lang="ko-KR" altLang="en-US" sz="700" dirty="0">
              <a:latin typeface="+mn-ea"/>
            </a:endParaRPr>
          </a:p>
        </p:txBody>
      </p:sp>
      <p:grpSp>
        <p:nvGrpSpPr>
          <p:cNvPr id="216" name="그룹 215"/>
          <p:cNvGrpSpPr/>
          <p:nvPr/>
        </p:nvGrpSpPr>
        <p:grpSpPr>
          <a:xfrm flipV="1">
            <a:off x="3124233" y="2596471"/>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720490" y="27808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20490" y="29868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40349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20490" y="320439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6" name="TextBox 225">
            <a:extLst>
              <a:ext uri="{FF2B5EF4-FFF2-40B4-BE49-F238E27FC236}">
                <a16:creationId xmlns:a16="http://schemas.microsoft.com/office/drawing/2014/main" id="{FFC49AEA-2A8F-250C-A86A-A7751D9706C3}"/>
              </a:ext>
            </a:extLst>
          </p:cNvPr>
          <p:cNvSpPr txBox="1"/>
          <p:nvPr/>
        </p:nvSpPr>
        <p:spPr>
          <a:xfrm>
            <a:off x="790331" y="2762746"/>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err="1">
                <a:latin typeface="+mn-ea"/>
              </a:rPr>
              <a:t>달러환산율</a:t>
            </a:r>
            <a:endParaRPr lang="ko-KR" altLang="en-US"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20490" y="34184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20490" y="3624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20490" y="384198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사각형: 둥근 모서리 15">
            <a:extLst>
              <a:ext uri="{FF2B5EF4-FFF2-40B4-BE49-F238E27FC236}">
                <a16:creationId xmlns:a16="http://schemas.microsoft.com/office/drawing/2014/main" id="{E2B61CFB-AD16-68D0-8752-50D9C5E01971}"/>
              </a:ext>
            </a:extLst>
          </p:cNvPr>
          <p:cNvSpPr/>
          <p:nvPr/>
        </p:nvSpPr>
        <p:spPr>
          <a:xfrm>
            <a:off x="1561065" y="322036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altLang="ko-KR" sz="700" kern="0" noProof="0" dirty="0">
                <a:latin typeface="맑은 고딕"/>
              </a:rPr>
              <a:t>10,000</a:t>
            </a:r>
            <a:endParaRPr kumimoji="1" lang="en-US" sz="700" b="0" i="0" u="none" strike="noStrike" kern="0" cap="none" spc="0" normalizeH="0" baseline="0" noProof="0" dirty="0">
              <a:ln>
                <a:noFill/>
              </a:ln>
              <a:effectLst/>
              <a:uLnTx/>
              <a:uFillTx/>
              <a:latin typeface="맑은 고딕"/>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1547180" y="2762746"/>
            <a:ext cx="1784088" cy="1077218"/>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a:latin typeface="+mn-ea"/>
              </a:rPr>
              <a:t>해외업체</a:t>
            </a:r>
            <a:endParaRPr lang="en-US" altLang="ko-KR" sz="700" dirty="0">
              <a:latin typeface="+mn-ea"/>
            </a:endParaRPr>
          </a:p>
          <a:p>
            <a:pPr>
              <a:lnSpc>
                <a:spcPct val="200000"/>
              </a:lnSpc>
            </a:pPr>
            <a:r>
              <a:rPr lang="en-US" altLang="ko-KR" sz="700" dirty="0">
                <a:latin typeface="+mn-ea"/>
              </a:rPr>
              <a:t>USD</a:t>
            </a:r>
          </a:p>
          <a:p>
            <a:pPr algn="r">
              <a:lnSpc>
                <a:spcPct val="200000"/>
              </a:lnSpc>
            </a:pPr>
            <a:endParaRPr lang="en-US" altLang="ko-KR" sz="700" dirty="0">
              <a:latin typeface="+mn-ea"/>
            </a:endParaRPr>
          </a:p>
          <a:p>
            <a:pPr algn="r">
              <a:lnSpc>
                <a:spcPct val="200000"/>
              </a:lnSpc>
            </a:pPr>
            <a:r>
              <a:rPr lang="en-US" altLang="ko-KR" sz="700" dirty="0">
                <a:latin typeface="+mn-ea"/>
              </a:rPr>
              <a:t>608,000.00</a:t>
            </a:r>
          </a:p>
          <a:p>
            <a:pPr algn="r">
              <a:lnSpc>
                <a:spcPct val="200000"/>
              </a:lnSpc>
            </a:pPr>
            <a:r>
              <a:rPr lang="en-US" altLang="ko-KR" sz="700" dirty="0">
                <a:latin typeface="+mn-ea"/>
              </a:rPr>
              <a:t>1.0000 USD</a:t>
            </a:r>
          </a:p>
        </p:txBody>
      </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11" name="타원 110">
            <a:extLst>
              <a:ext uri="{FF2B5EF4-FFF2-40B4-BE49-F238E27FC236}">
                <a16:creationId xmlns:a16="http://schemas.microsoft.com/office/drawing/2014/main" id="{37A7FF4F-0EAA-1463-560A-D5EC24416103}"/>
              </a:ext>
            </a:extLst>
          </p:cNvPr>
          <p:cNvSpPr/>
          <p:nvPr/>
        </p:nvSpPr>
        <p:spPr>
          <a:xfrm>
            <a:off x="589334" y="41111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128958860"/>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478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smtClean="0">
                <a:latin typeface="+mn-ea"/>
              </a:rPr>
              <a:t>입찰서제출</a:t>
            </a:r>
            <a:r>
              <a:rPr lang="ko-KR" altLang="en-US" dirty="0" smtClean="0">
                <a:latin typeface="+mn-ea"/>
              </a:rPr>
              <a:t>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MUI-BD-06-T74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320977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3284292"/>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33815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61645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690978"/>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74483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759178"/>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307465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24170" y="307465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307465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44591" y="3721258"/>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44591" y="3304466"/>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6" name="그룹 55"/>
          <p:cNvGrpSpPr/>
          <p:nvPr/>
        </p:nvGrpSpPr>
        <p:grpSpPr>
          <a:xfrm>
            <a:off x="675399" y="5614711"/>
            <a:ext cx="2712027" cy="617588"/>
            <a:chOff x="675399" y="5614711"/>
            <a:chExt cx="2712027" cy="617588"/>
          </a:xfrm>
        </p:grpSpPr>
        <p:sp>
          <p:nvSpPr>
            <p:cNvPr id="57" name="직사각형 5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100" name="모서리가 둥근 직사각형 99"/>
          <p:cNvSpPr/>
          <p:nvPr/>
        </p:nvSpPr>
        <p:spPr>
          <a:xfrm>
            <a:off x="710315" y="4017820"/>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4092341"/>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414620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4" name="모서리가 둥근 직사각형 103"/>
          <p:cNvSpPr/>
          <p:nvPr/>
        </p:nvSpPr>
        <p:spPr>
          <a:xfrm>
            <a:off x="710315" y="442450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499027"/>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55288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2944591" y="452930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31" name="사각형: 둥근 모서리 15">
            <a:extLst>
              <a:ext uri="{FF2B5EF4-FFF2-40B4-BE49-F238E27FC236}">
                <a16:creationId xmlns:a16="http://schemas.microsoft.com/office/drawing/2014/main" id="{E2B61CFB-AD16-68D0-8752-50D9C5E01971}"/>
              </a:ext>
            </a:extLst>
          </p:cNvPr>
          <p:cNvSpPr/>
          <p:nvPr/>
        </p:nvSpPr>
        <p:spPr>
          <a:xfrm>
            <a:off x="2944591" y="4112515"/>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0" name="그룹 149"/>
          <p:cNvGrpSpPr/>
          <p:nvPr/>
        </p:nvGrpSpPr>
        <p:grpSpPr>
          <a:xfrm>
            <a:off x="675399" y="2083489"/>
            <a:ext cx="2712027" cy="337161"/>
            <a:chOff x="675399" y="3557901"/>
            <a:chExt cx="2712027" cy="337161"/>
          </a:xfrm>
        </p:grpSpPr>
        <p:cxnSp>
          <p:nvCxnSpPr>
            <p:cNvPr id="151" name="직선 연결선 15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2" name="TextBox 15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첨부파일</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2234484" y="3895062"/>
              <a:ext cx="4965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56" name="그룹 155"/>
            <p:cNvGrpSpPr/>
            <p:nvPr/>
          </p:nvGrpSpPr>
          <p:grpSpPr>
            <a:xfrm>
              <a:off x="2924086" y="3640332"/>
              <a:ext cx="422853" cy="187961"/>
              <a:chOff x="3641308" y="2234886"/>
              <a:chExt cx="422853" cy="187961"/>
            </a:xfrm>
          </p:grpSpPr>
          <p:sp>
            <p:nvSpPr>
              <p:cNvPr id="159" name="타원 158"/>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0" name="그룹 159"/>
              <p:cNvGrpSpPr/>
              <p:nvPr/>
            </p:nvGrpSpPr>
            <p:grpSpPr>
              <a:xfrm rot="5400000" flipH="1">
                <a:off x="3679895" y="2305364"/>
                <a:ext cx="94010" cy="47005"/>
                <a:chOff x="6812560" y="3297172"/>
                <a:chExt cx="94010" cy="47005"/>
              </a:xfrm>
            </p:grpSpPr>
            <p:cxnSp>
              <p:nvCxnSpPr>
                <p:cNvPr id="165" name="직선 연결선 1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6" name="직선 연결선 1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1" name="타원 16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rot="16200000">
                <a:off x="3931564" y="2305364"/>
                <a:ext cx="94010" cy="47005"/>
                <a:chOff x="6812560" y="3297172"/>
                <a:chExt cx="94010" cy="47005"/>
              </a:xfrm>
            </p:grpSpPr>
            <p:cxnSp>
              <p:nvCxnSpPr>
                <p:cNvPr id="163" name="직선 연결선 16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4" name="직선 연결선 16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57" name="직선 연결선 15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60" name="그룹 59"/>
          <p:cNvGrpSpPr/>
          <p:nvPr/>
        </p:nvGrpSpPr>
        <p:grpSpPr>
          <a:xfrm>
            <a:off x="8223250" y="569392"/>
            <a:ext cx="3365500" cy="634511"/>
            <a:chOff x="8223250" y="569392"/>
            <a:chExt cx="3365500" cy="634511"/>
          </a:xfrm>
        </p:grpSpPr>
        <p:sp>
          <p:nvSpPr>
            <p:cNvPr id="61" name="직사각형 60"/>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2026-07-02 </a:t>
              </a:r>
              <a:r>
                <a:rPr lang="ko-KR" altLang="en-US" dirty="0" smtClean="0"/>
                <a:t>화면 수정</a:t>
              </a:r>
              <a:endParaRPr lang="ko-KR" altLang="en-US" dirty="0"/>
            </a:p>
          </p:txBody>
        </p:sp>
        <p:sp>
          <p:nvSpPr>
            <p:cNvPr id="62" name="직사각형 61"/>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전자서명하기 </a:t>
              </a:r>
              <a:r>
                <a:rPr lang="en-US" altLang="ko-KR" sz="700" dirty="0" smtClean="0">
                  <a:sym typeface="Wingdings" panose="05000000000000000000" pitchFamily="2" charset="2"/>
                </a:rPr>
                <a:t> </a:t>
              </a:r>
              <a:r>
                <a:rPr lang="ko-KR" altLang="en-US" sz="700" dirty="0" smtClean="0">
                  <a:sym typeface="Wingdings" panose="05000000000000000000" pitchFamily="2" charset="2"/>
                </a:rPr>
                <a:t>신청하기로 변경</a:t>
              </a:r>
              <a:endParaRPr lang="ko-KR" altLang="en-US" sz="700" dirty="0"/>
            </a:p>
          </p:txBody>
        </p:sp>
      </p:grpSp>
    </p:spTree>
    <p:extLst>
      <p:ext uri="{BB962C8B-B14F-4D97-AF65-F5344CB8AC3E}">
        <p14:creationId xmlns:p14="http://schemas.microsoft.com/office/powerpoint/2010/main" val="4008578957"/>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479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(1/4)</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1751346"/>
                  </a:ext>
                </a:extLst>
              </a:tr>
              <a:tr h="0">
                <a:tc>
                  <a:txBody>
                    <a:bodyPr/>
                    <a:lstStyle/>
                    <a:p>
                      <a:pPr algn="l" fontAlgn="ct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9223821"/>
                  </a:ext>
                </a:extLst>
              </a:tr>
              <a:tr h="0">
                <a:tc>
                  <a:txBody>
                    <a:bodyPr/>
                    <a:lstStyle/>
                    <a:p>
                      <a:pPr algn="l" fontAlgn="ctr"/>
                      <a:r>
                        <a:rPr lang="ko-KR" altLang="en-US" sz="800" b="0" i="0" u="none" strike="noStrike">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5825386"/>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2167756"/>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684685"/>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6532521"/>
                  </a:ext>
                </a:extLst>
              </a:tr>
              <a:tr h="0">
                <a:tc>
                  <a:txBody>
                    <a:bodyPr/>
                    <a:lstStyle/>
                    <a:p>
                      <a:pPr algn="l" fontAlgn="ctr"/>
                      <a:r>
                        <a:rPr lang="ko-KR" altLang="en-US" sz="800" b="0" i="0" u="none" strike="noStrike" dirty="0">
                          <a:solidFill>
                            <a:srgbClr val="000000"/>
                          </a:solidFill>
                          <a:effectLst/>
                          <a:latin typeface="+mn-ea"/>
                          <a:ea typeface="+mn-ea"/>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1664787"/>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8347116"/>
                  </a:ext>
                </a:extLst>
              </a:tr>
              <a:tr h="0">
                <a:tc>
                  <a:txBody>
                    <a:bodyPr/>
                    <a:lstStyle/>
                    <a:p>
                      <a:pPr algn="l" fontAlgn="ctr"/>
                      <a:r>
                        <a:rPr lang="ko-KR" altLang="en-US" sz="800" b="0" i="0" u="none" strike="noStrike">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B8CDDD2D-4887-09C2-7266-AB4432087CE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430770360"/>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480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(2/4)</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3102379"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입찰참여품목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(dl_ititbBidCnList)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5091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입찰업체</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065627"/>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4568633"/>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6714837"/>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(As it is / Replace)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4155434"/>
                  </a:ext>
                </a:extLst>
              </a:tr>
              <a:tr h="0">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품목대체첨부문서가</a:t>
                      </a:r>
                      <a:r>
                        <a:rPr lang="ko-KR" altLang="en-US" sz="800" dirty="0">
                          <a:latin typeface="+mn-ea"/>
                          <a:ea typeface="+mn-ea"/>
                        </a:rPr>
                        <a:t>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941089"/>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929951"/>
                  </a:ext>
                </a:extLst>
              </a:tr>
              <a:tr h="0">
                <a:tc>
                  <a:txBody>
                    <a:bodyPr/>
                    <a:lstStyle/>
                    <a:p>
                      <a:pPr algn="l" fontAlgn="ctr"/>
                      <a:r>
                        <a:rPr lang="ko-KR" altLang="en-US" sz="800" b="0" i="0" u="none" strike="noStrike">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7599421"/>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ea"/>
                          <a:ea typeface="+mn-ea"/>
                        </a:rPr>
                        <a:t>MOQ </a:t>
                      </a:r>
                      <a:r>
                        <a:rPr lang="ko-KR" altLang="en-US" sz="800" b="0" i="0" u="none" strike="noStrike" dirty="0">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(Y /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9061956"/>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9809737"/>
                  </a:ext>
                </a:extLst>
              </a:tr>
              <a:tr h="0">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err="1">
                          <a:solidFill>
                            <a:srgbClr val="000000"/>
                          </a:solidFill>
                          <a:effectLst/>
                          <a:latin typeface="+mn-ea"/>
                          <a:ea typeface="+mn-ea"/>
                        </a:rPr>
                        <a:t>첨부문서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MOQ</a:t>
                      </a:r>
                      <a:r>
                        <a:rPr lang="ko-KR" altLang="en-US" sz="800" dirty="0">
                          <a:latin typeface="+mn-ea"/>
                          <a:ea typeface="+mn-ea"/>
                        </a:rPr>
                        <a:t>첨부문서가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0739781"/>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본조</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848704"/>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당국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당해년도 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3670449"/>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장국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640405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595397"/>
                  </a:ext>
                </a:extLst>
              </a:tr>
              <a:tr h="0">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9750289"/>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3809566"/>
                  </a:ext>
                </a:extLst>
              </a:tr>
              <a:tr h="0">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C6D8C3C5-92D6-644C-4F38-14715FB864C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42248086"/>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09BAFFE9-3B78-1532-1EED-6D78A507389A}"/>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481</a:t>
            </a:fld>
            <a:endParaRPr lang="ko-KR" altLang="en-US" dirty="0"/>
          </a:p>
        </p:txBody>
      </p:sp>
      <p:sp>
        <p:nvSpPr>
          <p:cNvPr id="5" name="TextBox 4">
            <a:extLst>
              <a:ext uri="{FF2B5EF4-FFF2-40B4-BE49-F238E27FC236}">
                <a16:creationId xmlns:a16="http://schemas.microsoft.com/office/drawing/2014/main" id="{851C048D-8B08-B247-CB04-F52756322ECD}"/>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(3/4)</a:t>
            </a:r>
            <a:endParaRPr lang="ko-KR" altLang="en-US" sz="1000" b="1" dirty="0">
              <a:solidFill>
                <a:prstClr val="black"/>
              </a:solidFill>
            </a:endParaRPr>
          </a:p>
        </p:txBody>
      </p:sp>
      <p:sp>
        <p:nvSpPr>
          <p:cNvPr id="6" name="TextBox 5">
            <a:extLst>
              <a:ext uri="{FF2B5EF4-FFF2-40B4-BE49-F238E27FC236}">
                <a16:creationId xmlns:a16="http://schemas.microsoft.com/office/drawing/2014/main" id="{BFC5E42C-41DA-3907-8E77-DFA2779459D2}"/>
              </a:ext>
            </a:extLst>
          </p:cNvPr>
          <p:cNvSpPr txBox="1"/>
          <p:nvPr/>
        </p:nvSpPr>
        <p:spPr>
          <a:xfrm>
            <a:off x="458117" y="799547"/>
            <a:ext cx="2935666"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입찰품목</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(dl_alonbsItemList)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DDA5753-DEFE-B33D-028E-58786715017D}"/>
              </a:ext>
            </a:extLst>
          </p:cNvPr>
          <p:cNvGraphicFramePr>
            <a:graphicFrameLocks noGrp="1"/>
          </p:cNvGraphicFramePr>
          <p:nvPr/>
        </p:nvGraphicFramePr>
        <p:xfrm>
          <a:off x="452999" y="101075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bl>
          </a:graphicData>
        </a:graphic>
      </p:graphicFrame>
      <p:sp>
        <p:nvSpPr>
          <p:cNvPr id="10" name="Text Box 73">
            <a:extLst>
              <a:ext uri="{FF2B5EF4-FFF2-40B4-BE49-F238E27FC236}">
                <a16:creationId xmlns:a16="http://schemas.microsoft.com/office/drawing/2014/main" id="{F53ABECC-44BD-0648-AA57-7F6B4B7F71E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49702F92-C00A-98FC-B199-F4DD38CEE456}"/>
              </a:ext>
            </a:extLst>
          </p:cNvPr>
          <p:cNvSpPr txBox="1"/>
          <p:nvPr/>
        </p:nvSpPr>
        <p:spPr>
          <a:xfrm>
            <a:off x="458117" y="3217797"/>
            <a:ext cx="3039862"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(dl_alonbsBidCnInfo)</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FAF49F32-7EA4-ABEA-C323-13D03B69B825}"/>
              </a:ext>
            </a:extLst>
          </p:cNvPr>
          <p:cNvGraphicFramePr>
            <a:graphicFrameLocks noGrp="1"/>
          </p:cNvGraphicFramePr>
          <p:nvPr/>
        </p:nvGraphicFramePr>
        <p:xfrm>
          <a:off x="452999" y="3429000"/>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bl>
          </a:graphicData>
        </a:graphic>
      </p:graphicFrame>
    </p:spTree>
    <p:extLst>
      <p:ext uri="{BB962C8B-B14F-4D97-AF65-F5344CB8AC3E}">
        <p14:creationId xmlns:p14="http://schemas.microsoft.com/office/powerpoint/2010/main" val="863608745"/>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482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(4/4)</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dirty="0">
                <a:solidFill>
                  <a:prstClr val="black"/>
                </a:solidFill>
              </a:rPr>
              <a:t>첨부파일 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9FBAE9F6-BB22-00F0-039C-E68728BB4EC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50857194"/>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7FB2BC88-D058-584B-6E43-87812BA1225D}"/>
              </a:ext>
            </a:extLst>
          </p:cNvPr>
          <p:cNvSpPr>
            <a:spLocks noGrp="1"/>
          </p:cNvSpPr>
          <p:nvPr>
            <p:ph type="sldNum" sz="quarter" idx="4"/>
          </p:nvPr>
        </p:nvSpPr>
        <p:spPr/>
        <p:txBody>
          <a:bodyPr/>
          <a:lstStyle/>
          <a:p>
            <a:fld id="{34C8E023-7346-48FC-AB24-9A3388C53208}" type="slidenum">
              <a:rPr lang="ko-KR" altLang="en-US" smtClean="0"/>
              <a:pPr/>
              <a:t>483</a:t>
            </a:fld>
            <a:endParaRPr lang="ko-KR" altLang="en-US" dirty="0"/>
          </a:p>
        </p:txBody>
      </p:sp>
      <p:sp>
        <p:nvSpPr>
          <p:cNvPr id="3" name="TextBox 2">
            <a:extLst>
              <a:ext uri="{FF2B5EF4-FFF2-40B4-BE49-F238E27FC236}">
                <a16:creationId xmlns:a16="http://schemas.microsoft.com/office/drawing/2014/main" id="{AFC0F452-7196-DE77-373F-0BCB0D49FFBC}"/>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C29C8687-867B-CB07-ACAF-8274E0069D46}"/>
              </a:ext>
            </a:extLst>
          </p:cNvPr>
          <p:cNvGraphicFramePr>
            <a:graphicFrameLocks noGrp="1"/>
          </p:cNvGraphicFramePr>
          <p:nvPr/>
        </p:nvGraphicFramePr>
        <p:xfrm>
          <a:off x="458117" y="799547"/>
          <a:ext cx="8995591" cy="167328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공고상세</a:t>
                      </a:r>
                      <a:r>
                        <a:rPr lang="en-US" altLang="ko-KR" sz="800" dirty="0">
                          <a:latin typeface="+mn-ea"/>
                          <a:ea typeface="+mn-ea"/>
                        </a:rPr>
                        <a:t>, </a:t>
                      </a:r>
                      <a:r>
                        <a:rPr lang="ko-KR" altLang="en-US" sz="800" dirty="0">
                          <a:latin typeface="+mn-ea"/>
                          <a:ea typeface="+mn-ea"/>
                        </a:rPr>
                        <a:t>신청업체</a:t>
                      </a:r>
                      <a:r>
                        <a:rPr lang="en-US" altLang="ko-KR" sz="800" dirty="0">
                          <a:latin typeface="+mn-ea"/>
                          <a:ea typeface="+mn-ea"/>
                        </a:rPr>
                        <a:t>, </a:t>
                      </a:r>
                      <a:r>
                        <a:rPr lang="ko-KR" altLang="en-US" sz="800" dirty="0">
                          <a:latin typeface="+mn-ea"/>
                          <a:ea typeface="+mn-ea"/>
                        </a:rPr>
                        <a:t>입찰업체</a:t>
                      </a:r>
                      <a:r>
                        <a:rPr lang="en-US" altLang="ko-KR" sz="800" dirty="0">
                          <a:latin typeface="+mn-ea"/>
                          <a:ea typeface="+mn-ea"/>
                        </a:rPr>
                        <a:t>, </a:t>
                      </a:r>
                      <a:r>
                        <a:rPr lang="ko-KR" altLang="en-US" sz="800" dirty="0">
                          <a:latin typeface="+mn-ea"/>
                          <a:ea typeface="+mn-ea"/>
                        </a:rPr>
                        <a:t>입찰참여품목 조회</a:t>
                      </a:r>
                      <a:r>
                        <a:rPr lang="en-US" altLang="ko-KR" sz="800" dirty="0">
                          <a:latin typeface="+mn-ea"/>
                          <a:ea typeface="+mn-ea"/>
                        </a:rPr>
                        <a:t>,  </a:t>
                      </a:r>
                      <a:r>
                        <a:rPr lang="ko-KR" altLang="en-US" sz="800" dirty="0">
                          <a:latin typeface="+mn-ea"/>
                          <a:ea typeface="+mn-ea"/>
                        </a:rPr>
                        <a:t>화폐단위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입찰공고상세조회</a:t>
                      </a:r>
                      <a:r>
                        <a:rPr lang="en-US" altLang="ko-KR" sz="800" dirty="0">
                          <a:latin typeface="+mn-ea"/>
                          <a:ea typeface="+mn-ea"/>
                        </a:rPr>
                        <a:t>, </a:t>
                      </a:r>
                      <a:r>
                        <a:rPr lang="ko-KR" altLang="en-US" sz="800" dirty="0">
                          <a:latin typeface="+mn-ea"/>
                          <a:ea typeface="+mn-ea"/>
                        </a:rPr>
                        <a:t>임시입찰내용조회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err="1"/>
                        <a:t>품목대체첨부문서</a:t>
                      </a:r>
                      <a:r>
                        <a:rPr lang="ko-KR" altLang="en-US" sz="800" dirty="0"/>
                        <a:t>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r h="0">
                <a:tc>
                  <a:txBody>
                    <a:bodyPr/>
                    <a:lstStyle/>
                    <a:p>
                      <a:r>
                        <a:rPr lang="en-US" altLang="ko-KR" sz="800" dirty="0"/>
                        <a:t>MOQ</a:t>
                      </a:r>
                      <a:r>
                        <a:rPr lang="ko-KR" altLang="en-US" sz="800" dirty="0"/>
                        <a:t>첨부문서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475007"/>
                  </a:ext>
                </a:extLst>
              </a:tr>
              <a:tr h="0">
                <a:tc>
                  <a:txBody>
                    <a:bodyPr/>
                    <a:lstStyle/>
                    <a:p>
                      <a:r>
                        <a:rPr lang="ko-KR" altLang="en-US" sz="800" dirty="0"/>
                        <a:t>입찰단가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scnwin.ibx_unitPrice_onchange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입찰단가 변경</a:t>
                      </a:r>
                      <a:r>
                        <a:rPr lang="en-US" altLang="ko-KR" sz="800" dirty="0">
                          <a:latin typeface="+mn-ea"/>
                          <a:ea typeface="+mn-ea"/>
                        </a:rPr>
                        <a:t> </a:t>
                      </a:r>
                      <a:r>
                        <a:rPr lang="ko-KR" altLang="en-US" sz="800" dirty="0">
                          <a:latin typeface="+mn-ea"/>
                          <a:ea typeface="+mn-ea"/>
                        </a:rPr>
                        <a:t>시</a:t>
                      </a:r>
                      <a:r>
                        <a:rPr lang="en-US" altLang="ko-KR" sz="800">
                          <a:latin typeface="+mn-ea"/>
                          <a:ea typeface="+mn-ea"/>
                        </a:rPr>
                        <a:t>, </a:t>
                      </a:r>
                      <a:r>
                        <a:rPr lang="ko-KR" altLang="en-US" sz="800">
                          <a:latin typeface="+mn-ea"/>
                          <a:ea typeface="+mn-ea"/>
                        </a:rPr>
                        <a:t>입찰금액</a:t>
                      </a:r>
                      <a:r>
                        <a:rPr lang="en-US" altLang="ko-KR" sz="800">
                          <a:latin typeface="+mn-ea"/>
                          <a:ea typeface="+mn-ea"/>
                        </a:rPr>
                        <a:t>/</a:t>
                      </a:r>
                      <a:r>
                        <a:rPr lang="ko-KR" altLang="en-US" sz="800">
                          <a:latin typeface="+mn-ea"/>
                          <a:ea typeface="+mn-ea"/>
                        </a:rPr>
                        <a:t>달러금액</a:t>
                      </a:r>
                      <a:r>
                        <a:rPr lang="en-US" altLang="ko-KR" sz="800">
                          <a:latin typeface="+mn-ea"/>
                          <a:ea typeface="+mn-ea"/>
                        </a:rPr>
                        <a:t>/</a:t>
                      </a:r>
                      <a:r>
                        <a:rPr lang="ko-KR" altLang="en-US" sz="800">
                          <a:latin typeface="+mn-ea"/>
                          <a:ea typeface="+mn-ea"/>
                        </a:rPr>
                        <a:t>달러단가 </a:t>
                      </a:r>
                      <a:r>
                        <a:rPr lang="ko-KR" altLang="en-US" sz="800" dirty="0">
                          <a:latin typeface="+mn-ea"/>
                          <a:ea typeface="+mn-ea"/>
                        </a:rPr>
                        <a:t>계산하여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0435977"/>
                  </a:ext>
                </a:extLst>
              </a:tr>
              <a:tr h="0">
                <a:tc>
                  <a:txBody>
                    <a:bodyPr/>
                    <a:lstStyle/>
                    <a:p>
                      <a:r>
                        <a:rPr lang="ko-KR" altLang="en-US" sz="800"/>
                        <a:t>입찰금액 변경</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scnwin.ibx_amountPrice_onchange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입찰금액 변경 시</a:t>
                      </a:r>
                      <a:r>
                        <a:rPr lang="en-US" altLang="ko-KR" sz="800">
                          <a:latin typeface="+mn-ea"/>
                          <a:ea typeface="+mn-ea"/>
                        </a:rPr>
                        <a:t>, </a:t>
                      </a:r>
                      <a:r>
                        <a:rPr lang="ko-KR" altLang="en-US" sz="800">
                          <a:latin typeface="+mn-ea"/>
                          <a:ea typeface="+mn-ea"/>
                        </a:rPr>
                        <a:t>달러금액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4917941"/>
                  </a:ext>
                </a:extLst>
              </a:tr>
              <a:tr h="0">
                <a:tc>
                  <a:txBody>
                    <a:bodyPr/>
                    <a:lstStyle/>
                    <a:p>
                      <a:r>
                        <a:rPr lang="ko-KR" altLang="en-US" sz="800"/>
                        <a:t>투찰 </a:t>
                      </a:r>
                      <a:r>
                        <a:rPr lang="ko-KR" altLang="en-US" sz="800" dirty="0"/>
                        <a:t>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scwin.btn_submitBid_onclick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작성내역을 암호화하여 저장</a:t>
                      </a:r>
                      <a:r>
                        <a:rPr lang="en-US" altLang="ko-KR" sz="800" dirty="0">
                          <a:latin typeface="+mn-ea"/>
                          <a:ea typeface="+mn-ea"/>
                        </a:rPr>
                        <a:t>. </a:t>
                      </a:r>
                      <a:r>
                        <a:rPr lang="ko-KR" altLang="en-US" sz="800" dirty="0">
                          <a:latin typeface="+mn-ea"/>
                          <a:ea typeface="+mn-ea"/>
                        </a:rPr>
                        <a:t>모의입찰 상태인 경우</a:t>
                      </a:r>
                      <a:r>
                        <a:rPr lang="en-US" altLang="ko-KR" sz="800" dirty="0">
                          <a:latin typeface="+mn-ea"/>
                          <a:ea typeface="+mn-ea"/>
                        </a:rPr>
                        <a:t>, </a:t>
                      </a:r>
                      <a:r>
                        <a:rPr lang="ko-KR" altLang="en-US" sz="800" dirty="0" err="1">
                          <a:latin typeface="+mn-ea"/>
                          <a:ea typeface="+mn-ea"/>
                        </a:rPr>
                        <a:t>모의투찰</a:t>
                      </a:r>
                      <a:r>
                        <a:rPr lang="en-US" altLang="ko-KR" sz="800" dirty="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입찰서제출</a:t>
                      </a:r>
                      <a:r>
                        <a:rPr lang="en-US" altLang="ko-KR" sz="800">
                          <a:latin typeface="+mn-ea"/>
                          <a:ea typeface="+mn-ea"/>
                        </a:rPr>
                        <a:t>, </a:t>
                      </a:r>
                      <a:r>
                        <a:rPr lang="ko-KR" altLang="en-US" sz="800">
                          <a:latin typeface="+mn-ea"/>
                          <a:ea typeface="+mn-ea"/>
                        </a:rPr>
                        <a:t>모의입찰서제출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967640"/>
                  </a:ext>
                </a:extLst>
              </a:tr>
              <a:tr h="0">
                <a:tc>
                  <a:txBody>
                    <a:bodyPr/>
                    <a:lstStyle/>
                    <a:p>
                      <a:r>
                        <a:rPr lang="ko-KR" altLang="en-US" sz="800" dirty="0"/>
                        <a:t>목록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scwin.btn_moveList_onclick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입찰진행</a:t>
                      </a:r>
                      <a:r>
                        <a:rPr lang="en-US" altLang="ko-KR" sz="800" dirty="0">
                          <a:latin typeface="+mn-ea"/>
                          <a:ea typeface="+mn-ea"/>
                        </a:rPr>
                        <a:t>(</a:t>
                      </a:r>
                      <a:r>
                        <a:rPr lang="ko-KR" altLang="en-US" sz="800" dirty="0">
                          <a:latin typeface="+mn-ea"/>
                          <a:ea typeface="+mn-ea"/>
                        </a:rPr>
                        <a:t>조달업체</a:t>
                      </a:r>
                      <a:r>
                        <a:rPr lang="en-US" altLang="ko-KR" sz="800" dirty="0">
                          <a:latin typeface="+mn-ea"/>
                          <a:ea typeface="+mn-ea"/>
                        </a:rPr>
                        <a:t>)</a:t>
                      </a:r>
                      <a:r>
                        <a:rPr lang="ko-KR" altLang="en-US" sz="800" dirty="0">
                          <a:latin typeface="+mn-ea"/>
                          <a:ea typeface="+mn-ea"/>
                        </a:rPr>
                        <a:t>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UI-BD-03-M01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4047301"/>
                  </a:ext>
                </a:extLst>
              </a:tr>
            </a:tbl>
          </a:graphicData>
        </a:graphic>
      </p:graphicFrame>
      <p:sp>
        <p:nvSpPr>
          <p:cNvPr id="5" name="Text Box 73">
            <a:extLst>
              <a:ext uri="{FF2B5EF4-FFF2-40B4-BE49-F238E27FC236}">
                <a16:creationId xmlns:a16="http://schemas.microsoft.com/office/drawing/2014/main" id="{7358A102-B5BB-33BB-2B3E-6DCF5FA394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64363204"/>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484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70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7628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0" name="그룹 239"/>
          <p:cNvGrpSpPr/>
          <p:nvPr/>
        </p:nvGrpSpPr>
        <p:grpSpPr>
          <a:xfrm>
            <a:off x="675399" y="2366764"/>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56" name="그룹 255"/>
          <p:cNvGrpSpPr/>
          <p:nvPr/>
        </p:nvGrpSpPr>
        <p:grpSpPr>
          <a:xfrm>
            <a:off x="3795733"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7" name="TextBox 316">
            <a:extLst>
              <a:ext uri="{FF2B5EF4-FFF2-40B4-BE49-F238E27FC236}">
                <a16:creationId xmlns:a16="http://schemas.microsoft.com/office/drawing/2014/main" id="{FFC49AEA-2A8F-250C-A86A-A7751D9706C3}"/>
              </a:ext>
            </a:extLst>
          </p:cNvPr>
          <p:cNvSpPr txBox="1"/>
          <p:nvPr/>
        </p:nvSpPr>
        <p:spPr>
          <a:xfrm>
            <a:off x="1019814" y="295696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98831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070297"/>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334175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70293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1" name="모서리가 둥근 직사각형 150"/>
          <p:cNvSpPr/>
          <p:nvPr/>
        </p:nvSpPr>
        <p:spPr>
          <a:xfrm rot="5400000">
            <a:off x="2662242" y="317751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2420077"/>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716366" y="3642787"/>
            <a:ext cx="2630093" cy="2454885"/>
            <a:chOff x="701175" y="1527996"/>
            <a:chExt cx="2630093" cy="2454885"/>
          </a:xfrm>
        </p:grpSpPr>
        <p:sp>
          <p:nvSpPr>
            <p:cNvPr id="209" name="TextBox 208">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0" name="그룹 209"/>
            <p:cNvGrpSpPr/>
            <p:nvPr/>
          </p:nvGrpSpPr>
          <p:grpSpPr>
            <a:xfrm flipV="1">
              <a:off x="3124233" y="1641327"/>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직사각형 210"/>
            <p:cNvSpPr/>
            <p:nvPr/>
          </p:nvSpPr>
          <p:spPr>
            <a:xfrm>
              <a:off x="703268" y="1835482"/>
              <a:ext cx="792000" cy="2147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1547180" y="1835481"/>
              <a:ext cx="1775839" cy="212013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a:latin typeface="+mn-ea"/>
                </a:rPr>
                <a:t>일반경쟁</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214" name="그룹 213"/>
            <p:cNvGrpSpPr/>
            <p:nvPr/>
          </p:nvGrpSpPr>
          <p:grpSpPr>
            <a:xfrm>
              <a:off x="701175" y="1835481"/>
              <a:ext cx="2630093" cy="2147400"/>
              <a:chOff x="701175" y="1835481"/>
              <a:chExt cx="2630093" cy="214740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7" name="직선 연결선 246">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5" name="TextBox 214">
              <a:extLst>
                <a:ext uri="{FF2B5EF4-FFF2-40B4-BE49-F238E27FC236}">
                  <a16:creationId xmlns:a16="http://schemas.microsoft.com/office/drawing/2014/main" id="{FFC49AEA-2A8F-250C-A86A-A7751D9706C3}"/>
                </a:ext>
              </a:extLst>
            </p:cNvPr>
            <p:cNvSpPr txBox="1"/>
            <p:nvPr/>
          </p:nvSpPr>
          <p:spPr>
            <a:xfrm>
              <a:off x="790330" y="31206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790330" y="33377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790330" y="3524557"/>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grpSp>
        <p:nvGrpSpPr>
          <p:cNvPr id="155" name="그룹 154"/>
          <p:cNvGrpSpPr/>
          <p:nvPr/>
        </p:nvGrpSpPr>
        <p:grpSpPr>
          <a:xfrm>
            <a:off x="675399" y="3262784"/>
            <a:ext cx="2712027" cy="337161"/>
            <a:chOff x="675399" y="3557901"/>
            <a:chExt cx="2712027" cy="337161"/>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159" name="TextBox 158">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2" name="그룹 161"/>
            <p:cNvGrpSpPr/>
            <p:nvPr/>
          </p:nvGrpSpPr>
          <p:grpSpPr>
            <a:xfrm>
              <a:off x="2924086" y="3640332"/>
              <a:ext cx="422853" cy="187961"/>
              <a:chOff x="3641308" y="2234886"/>
              <a:chExt cx="422853" cy="187961"/>
            </a:xfrm>
          </p:grpSpPr>
          <p:sp>
            <p:nvSpPr>
              <p:cNvPr id="168" name="타원 16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9" name="그룹 168"/>
              <p:cNvGrpSpPr/>
              <p:nvPr/>
            </p:nvGrpSpPr>
            <p:grpSpPr>
              <a:xfrm rot="5400000" flipH="1">
                <a:off x="3679895" y="2305364"/>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0" name="타원 169"/>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1" name="그룹 170"/>
              <p:cNvGrpSpPr/>
              <p:nvPr/>
            </p:nvGrpSpPr>
            <p:grpSpPr>
              <a:xfrm rot="16200000">
                <a:off x="3931564" y="2305364"/>
                <a:ext cx="94010" cy="47005"/>
                <a:chOff x="6812560" y="3297172"/>
                <a:chExt cx="94010" cy="47005"/>
              </a:xfrm>
            </p:grpSpPr>
            <p:cxnSp>
              <p:nvCxnSpPr>
                <p:cNvPr id="172" name="직선 연결선 17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3" name="직선 연결선 17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76" name="그룹 175"/>
          <p:cNvGrpSpPr/>
          <p:nvPr/>
        </p:nvGrpSpPr>
        <p:grpSpPr>
          <a:xfrm>
            <a:off x="3795734" y="2084581"/>
            <a:ext cx="2712027" cy="337161"/>
            <a:chOff x="675399" y="3557901"/>
            <a:chExt cx="2712027" cy="337161"/>
          </a:xfrm>
        </p:grpSpPr>
        <p:cxnSp>
          <p:nvCxnSpPr>
            <p:cNvPr id="177" name="직선 연결선 176">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52" name="직선 연결선 251">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53" name="그룹 252"/>
            <p:cNvGrpSpPr/>
            <p:nvPr/>
          </p:nvGrpSpPr>
          <p:grpSpPr>
            <a:xfrm>
              <a:off x="2924086" y="3640332"/>
              <a:ext cx="422853" cy="187961"/>
              <a:chOff x="3641308" y="2234886"/>
              <a:chExt cx="422853" cy="187961"/>
            </a:xfrm>
          </p:grpSpPr>
          <p:sp>
            <p:nvSpPr>
              <p:cNvPr id="262" name="타원 26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3" name="그룹 262"/>
              <p:cNvGrpSpPr/>
              <p:nvPr/>
            </p:nvGrpSpPr>
            <p:grpSpPr>
              <a:xfrm rot="5400000" flipH="1">
                <a:off x="3679895" y="2305364"/>
                <a:ext cx="94010" cy="47005"/>
                <a:chOff x="6812560" y="3297172"/>
                <a:chExt cx="94010" cy="47005"/>
              </a:xfrm>
            </p:grpSpPr>
            <p:cxnSp>
              <p:nvCxnSpPr>
                <p:cNvPr id="268" name="직선 연결선 2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3" name="직선 연결선 27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4" name="타원 26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5" name="그룹 264"/>
              <p:cNvGrpSpPr/>
              <p:nvPr/>
            </p:nvGrpSpPr>
            <p:grpSpPr>
              <a:xfrm rot="16200000">
                <a:off x="3931564" y="2305364"/>
                <a:ext cx="94010" cy="47005"/>
                <a:chOff x="6812560" y="3297172"/>
                <a:chExt cx="94010" cy="47005"/>
              </a:xfrm>
            </p:grpSpPr>
            <p:cxnSp>
              <p:nvCxnSpPr>
                <p:cNvPr id="266" name="직선 연결선 26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7" name="직선 연결선 2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54" name="직선 연결선 25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5" name="직선 연결선 254">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1" name="TextBox 260">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10" name="그룹 109"/>
          <p:cNvGrpSpPr/>
          <p:nvPr/>
        </p:nvGrpSpPr>
        <p:grpSpPr>
          <a:xfrm>
            <a:off x="677960" y="1582647"/>
            <a:ext cx="2714637" cy="686386"/>
            <a:chOff x="677960" y="1582647"/>
            <a:chExt cx="2714637" cy="686386"/>
          </a:xfrm>
        </p:grpSpPr>
        <p:sp>
          <p:nvSpPr>
            <p:cNvPr id="111" name="TextBox 11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입찰서 </a:t>
              </a:r>
              <a:r>
                <a:rPr lang="ko-KR" altLang="en-US" sz="800" dirty="0" smtClean="0">
                  <a:latin typeface="+mn-ea"/>
                </a:rPr>
                <a:t>상세</a:t>
              </a:r>
              <a:endParaRPr lang="ko-KR" altLang="en-US" sz="800" dirty="0">
                <a:latin typeface="+mn-ea"/>
              </a:endParaRP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3" name="그룹 112"/>
            <p:cNvGrpSpPr/>
            <p:nvPr/>
          </p:nvGrpSpPr>
          <p:grpSpPr>
            <a:xfrm rot="5400000">
              <a:off x="852159" y="2062596"/>
              <a:ext cx="94010" cy="47005"/>
              <a:chOff x="6812560" y="3297172"/>
              <a:chExt cx="94010" cy="47005"/>
            </a:xfrm>
          </p:grpSpPr>
          <p:cxnSp>
            <p:nvCxnSpPr>
              <p:cNvPr id="120" name="직선 연결선 1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14" name="그룹 113"/>
            <p:cNvGrpSpPr/>
            <p:nvPr/>
          </p:nvGrpSpPr>
          <p:grpSpPr>
            <a:xfrm>
              <a:off x="677960" y="1582647"/>
              <a:ext cx="2712027" cy="324286"/>
              <a:chOff x="677960" y="1582647"/>
              <a:chExt cx="2712027" cy="324286"/>
            </a:xfrm>
          </p:grpSpPr>
          <p:pic>
            <p:nvPicPr>
              <p:cNvPr id="115"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16" name="직선 연결선 115">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타원 116"/>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타원 117"/>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타원 118"/>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22" name="텍스트 개체 틀 12">
            <a:extLst>
              <a:ext uri="{FF2B5EF4-FFF2-40B4-BE49-F238E27FC236}">
                <a16:creationId xmlns:a16="http://schemas.microsoft.com/office/drawing/2014/main" id="{0643EE08-B324-56D6-CB41-C4D8C5E38320}"/>
              </a:ext>
            </a:extLst>
          </p:cNvPr>
          <p:cNvSpPr txBox="1">
            <a:spLocks/>
          </p:cNvSpPr>
          <p:nvPr/>
        </p:nvSpPr>
        <p:spPr>
          <a:xfrm>
            <a:off x="686684" y="1277429"/>
            <a:ext cx="1404000" cy="193878"/>
          </a:xfrm>
          <a:prstGeom prst="rect">
            <a:avLst/>
          </a:prstGeom>
        </p:spPr>
        <p:txBody>
          <a:bodyPr lIns="72000" tIns="36000" rIns="72000" bIns="36000"/>
          <a:lstStyle>
            <a:lvl1pPr marL="0" indent="0" algn="l" defTabSz="914400" rtl="0" eaLnBrk="1" latinLnBrk="1" hangingPunct="1">
              <a:lnSpc>
                <a:spcPct val="100000"/>
              </a:lnSpc>
              <a:spcBef>
                <a:spcPts val="0"/>
              </a:spcBef>
              <a:buFont typeface="Arial" panose="020B0604020202020204" pitchFamily="34" charset="0"/>
              <a:buNone/>
              <a:defRPr sz="900" kern="1200">
                <a:solidFill>
                  <a:schemeClr val="tx1"/>
                </a:solidFill>
                <a:latin typeface="+mn-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9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ko-KR" dirty="0">
                <a:solidFill>
                  <a:srgbClr val="000000"/>
                </a:solidFill>
                <a:latin typeface="맑은 고딕" panose="020B0503020000020004" pitchFamily="50" charset="-127"/>
              </a:rPr>
              <a:t>MUI-BD-06-T75</a:t>
            </a:r>
            <a:endParaRPr lang="ko-KR" altLang="en-US" dirty="0">
              <a:solidFill>
                <a:srgbClr val="000000"/>
              </a:solidFill>
              <a:latin typeface="맑은 고딕" panose="020B0503020000020004" pitchFamily="50" charset="-127"/>
            </a:endParaRPr>
          </a:p>
        </p:txBody>
      </p:sp>
    </p:spTree>
    <p:extLst>
      <p:ext uri="{BB962C8B-B14F-4D97-AF65-F5344CB8AC3E}">
        <p14:creationId xmlns:p14="http://schemas.microsoft.com/office/powerpoint/2010/main" val="3773663262"/>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485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업체정보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MUI-BD-06-T76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10" name="그룹 209"/>
          <p:cNvGrpSpPr/>
          <p:nvPr/>
        </p:nvGrpSpPr>
        <p:grpSpPr>
          <a:xfrm flipV="1">
            <a:off x="3139424" y="2577189"/>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6" name="그룹 155"/>
          <p:cNvGrpSpPr/>
          <p:nvPr/>
        </p:nvGrpSpPr>
        <p:grpSpPr>
          <a:xfrm>
            <a:off x="3795733" y="1578465"/>
            <a:ext cx="2712027" cy="508898"/>
            <a:chOff x="3795734" y="1602341"/>
            <a:chExt cx="2712027" cy="508898"/>
          </a:xfrm>
        </p:grpSpPr>
        <p:sp>
          <p:nvSpPr>
            <p:cNvPr id="1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158" name="모서리가 둥근 직사각형 1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59" name="모서리가 둥근 직사각형 1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2" name="그룹 161"/>
          <p:cNvGrpSpPr/>
          <p:nvPr/>
        </p:nvGrpSpPr>
        <p:grpSpPr>
          <a:xfrm>
            <a:off x="3795734" y="2084581"/>
            <a:ext cx="2712027" cy="337161"/>
            <a:chOff x="675399" y="3557901"/>
            <a:chExt cx="2712027" cy="337161"/>
          </a:xfrm>
        </p:grpSpPr>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131942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70" name="그룹 169"/>
            <p:cNvGrpSpPr/>
            <p:nvPr/>
          </p:nvGrpSpPr>
          <p:grpSpPr>
            <a:xfrm>
              <a:off x="2924086" y="3640332"/>
              <a:ext cx="422853" cy="187961"/>
              <a:chOff x="3641308" y="2234886"/>
              <a:chExt cx="422853" cy="187961"/>
            </a:xfrm>
          </p:grpSpPr>
          <p:sp>
            <p:nvSpPr>
              <p:cNvPr id="174" name="타원 17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5" name="그룹 174"/>
              <p:cNvGrpSpPr/>
              <p:nvPr/>
            </p:nvGrpSpPr>
            <p:grpSpPr>
              <a:xfrm rot="5400000" flipH="1">
                <a:off x="3679895" y="2305364"/>
                <a:ext cx="94010" cy="47005"/>
                <a:chOff x="6812560" y="3297172"/>
                <a:chExt cx="94010" cy="47005"/>
              </a:xfrm>
            </p:grpSpPr>
            <p:cxnSp>
              <p:nvCxnSpPr>
                <p:cNvPr id="228" name="직선 연결선 22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2" name="직선 연결선 25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6" name="타원 17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7" name="그룹 176"/>
              <p:cNvGrpSpPr/>
              <p:nvPr/>
            </p:nvGrpSpPr>
            <p:grpSpPr>
              <a:xfrm rot="16200000">
                <a:off x="3931564" y="2305364"/>
                <a:ext cx="94010" cy="47005"/>
                <a:chOff x="6812560" y="3297172"/>
                <a:chExt cx="94010" cy="47005"/>
              </a:xfrm>
            </p:grpSpPr>
            <p:cxnSp>
              <p:nvCxnSpPr>
                <p:cNvPr id="179" name="직선 연결선 1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0" name="직선 연결선 1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71" name="직선 연결선 17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TextBox 172">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53" name="그룹 252"/>
          <p:cNvGrpSpPr/>
          <p:nvPr/>
        </p:nvGrpSpPr>
        <p:grpSpPr>
          <a:xfrm>
            <a:off x="675399" y="1578465"/>
            <a:ext cx="2712027" cy="508898"/>
            <a:chOff x="3795734" y="1602341"/>
            <a:chExt cx="2712027" cy="508898"/>
          </a:xfrm>
        </p:grpSpPr>
        <p:sp>
          <p:nvSpPr>
            <p:cNvPr id="25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5" name="모서리가 둥근 직사각형 25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61" name="모서리가 둥근 직사각형 260"/>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2" name="직선 연결선 261">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63" name="그룹 262"/>
          <p:cNvGrpSpPr/>
          <p:nvPr/>
        </p:nvGrpSpPr>
        <p:grpSpPr>
          <a:xfrm>
            <a:off x="675400" y="2084581"/>
            <a:ext cx="2712027" cy="337161"/>
            <a:chOff x="675399" y="3557901"/>
            <a:chExt cx="2712027" cy="337161"/>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129964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85" name="그룹 284"/>
          <p:cNvGrpSpPr/>
          <p:nvPr/>
        </p:nvGrpSpPr>
        <p:grpSpPr>
          <a:xfrm>
            <a:off x="716366" y="2485990"/>
            <a:ext cx="2630093" cy="1826414"/>
            <a:chOff x="3791188" y="2611009"/>
            <a:chExt cx="2630093" cy="1826414"/>
          </a:xfrm>
        </p:grpSpPr>
        <p:sp>
          <p:nvSpPr>
            <p:cNvPr id="286" name="TextBox 28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287" name="직사각형 286"/>
            <p:cNvSpPr/>
            <p:nvPr/>
          </p:nvSpPr>
          <p:spPr>
            <a:xfrm>
              <a:off x="3793281" y="2918495"/>
              <a:ext cx="792000" cy="15189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8" name="직선 연결선 28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9" name="TextBox 288">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290" name="TextBox 289">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2" name="직선 연결선 29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3" name="직선 연결선 29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4" name="직선 연결선 29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7" name="직선 연결선 2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300" name="그룹 299"/>
          <p:cNvGrpSpPr/>
          <p:nvPr/>
        </p:nvGrpSpPr>
        <p:grpSpPr>
          <a:xfrm>
            <a:off x="3836701" y="2485990"/>
            <a:ext cx="2630093" cy="2031034"/>
            <a:chOff x="3791188" y="2611009"/>
            <a:chExt cx="2630093" cy="2031034"/>
          </a:xfrm>
        </p:grpSpPr>
        <p:sp>
          <p:nvSpPr>
            <p:cNvPr id="301" name="TextBox 3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302" name="직사각형 3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3" name="직선 연결선 3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4" name="TextBox 303">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smtClean="0">
                  <a:latin typeface="+mn-ea"/>
                </a:rPr>
                <a:t>test@test.com</a:t>
              </a: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3" name="직선 연결선 312">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15" name="그룹 314"/>
          <p:cNvGrpSpPr/>
          <p:nvPr/>
        </p:nvGrpSpPr>
        <p:grpSpPr>
          <a:xfrm flipV="1">
            <a:off x="6279313" y="2577189"/>
            <a:ext cx="94010" cy="47005"/>
            <a:chOff x="6812560" y="3297172"/>
            <a:chExt cx="94010" cy="47005"/>
          </a:xfrm>
        </p:grpSpPr>
        <p:cxnSp>
          <p:nvCxnSpPr>
            <p:cNvPr id="320" name="직선 연결선 3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3" name="직선 연결선 3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4" name="그룹 93"/>
          <p:cNvGrpSpPr/>
          <p:nvPr/>
        </p:nvGrpSpPr>
        <p:grpSpPr>
          <a:xfrm>
            <a:off x="8223250" y="569392"/>
            <a:ext cx="3365500" cy="634511"/>
            <a:chOff x="8223250" y="569392"/>
            <a:chExt cx="3365500" cy="634511"/>
          </a:xfrm>
        </p:grpSpPr>
        <p:sp>
          <p:nvSpPr>
            <p:cNvPr id="95" name="직사각형 9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96" name="직사각형 95"/>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129684040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a:t>
            </a:r>
            <a:r>
              <a:rPr lang="ko-KR" altLang="en-US" dirty="0" smtClean="0"/>
              <a:t>영역</a:t>
            </a:r>
            <a:endParaRPr lang="en-US" altLang="ko-KR" dirty="0" smtClean="0"/>
          </a:p>
          <a:p>
            <a:pPr marL="228600" indent="-228600">
              <a:buFont typeface="+mj-lt"/>
              <a:buAutoNum type="arabicPeriod"/>
            </a:pPr>
            <a:r>
              <a:rPr lang="ko-KR" altLang="en-US" dirty="0"/>
              <a:t>품목대체첨부문서</a:t>
            </a:r>
            <a:r>
              <a:rPr lang="en-US" altLang="ko-KR" dirty="0"/>
              <a:t>, MOQ </a:t>
            </a:r>
            <a:r>
              <a:rPr lang="ko-KR" altLang="en-US" dirty="0"/>
              <a:t>문서</a:t>
            </a:r>
            <a:r>
              <a:rPr lang="en-US" altLang="ko-KR" dirty="0"/>
              <a:t/>
            </a:r>
            <a:br>
              <a:rPr lang="en-US" altLang="ko-KR" dirty="0"/>
            </a:br>
            <a:r>
              <a:rPr lang="en-US" altLang="ko-KR" dirty="0"/>
              <a:t>- O, X</a:t>
            </a:r>
            <a:r>
              <a:rPr lang="ko-KR" altLang="en-US" dirty="0"/>
              <a:t>로 표시되고</a:t>
            </a:r>
            <a:r>
              <a:rPr lang="en-US" altLang="ko-KR" dirty="0"/>
              <a:t>, O</a:t>
            </a:r>
            <a:r>
              <a:rPr lang="ko-KR" altLang="en-US" dirty="0"/>
              <a:t>인 경우 버튼 표시</a:t>
            </a:r>
            <a:r>
              <a:rPr lang="en-US" altLang="ko-KR" dirty="0"/>
              <a:t/>
            </a:r>
            <a:br>
              <a:rPr lang="en-US" altLang="ko-KR" dirty="0"/>
            </a:br>
            <a:r>
              <a:rPr lang="en-US" altLang="ko-KR" dirty="0"/>
              <a:t>- </a:t>
            </a:r>
            <a:r>
              <a:rPr lang="ko-KR" altLang="en-US" dirty="0"/>
              <a:t>첨부파일조회 </a:t>
            </a:r>
            <a:r>
              <a:rPr lang="en-US" altLang="ko-KR" dirty="0"/>
              <a:t>MUI-BD-01-P76 </a:t>
            </a:r>
            <a:r>
              <a:rPr lang="ko-KR" altLang="en-US" dirty="0"/>
              <a:t>팝업 호출</a:t>
            </a:r>
            <a:endParaRPr lang="en-US" altLang="ko-KR" dirty="0"/>
          </a:p>
          <a:p>
            <a:pPr marL="228600" indent="-228600">
              <a:buFont typeface="+mj-lt"/>
              <a:buAutoNum type="arabicPeriod"/>
            </a:pP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486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 </a:t>
            </a:r>
            <a:r>
              <a:rPr lang="en-US" altLang="ko-KR" dirty="0">
                <a:latin typeface="+mn-ea"/>
              </a:rPr>
              <a:t>(</a:t>
            </a:r>
            <a:r>
              <a:rPr lang="ko-KR" altLang="en-US" dirty="0" err="1">
                <a:latin typeface="+mn-ea"/>
              </a:rPr>
              <a:t>단가제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MUI-BD-06-T77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556250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975081"/>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59" name="그룹 158"/>
          <p:cNvGrpSpPr/>
          <p:nvPr/>
        </p:nvGrpSpPr>
        <p:grpSpPr>
          <a:xfrm>
            <a:off x="701175" y="2489455"/>
            <a:ext cx="2630093" cy="3754583"/>
            <a:chOff x="701175" y="1527996"/>
            <a:chExt cx="2630093" cy="3754583"/>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1"/>
              <a:ext cx="792000" cy="34438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3447098"/>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3447098"/>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Replace</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1</a:t>
              </a:r>
            </a:p>
            <a:p>
              <a:pPr>
                <a:lnSpc>
                  <a:spcPct val="200000"/>
                </a:lnSpc>
              </a:pPr>
              <a:r>
                <a:rPr lang="en-US" altLang="ko-KR" sz="700" dirty="0">
                  <a:latin typeface="+mn-ea"/>
                </a:rPr>
                <a:t>2</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2025-03-25</a:t>
              </a:r>
            </a:p>
            <a:p>
              <a:pPr>
                <a:lnSpc>
                  <a:spcPct val="200000"/>
                </a:lnSpc>
              </a:pPr>
              <a:r>
                <a:rPr lang="en-US" altLang="ko-KR" sz="700" dirty="0">
                  <a:latin typeface="+mn-ea"/>
                </a:rPr>
                <a:t>2025-03-25</a:t>
              </a:r>
            </a:p>
          </p:txBody>
        </p:sp>
        <p:grpSp>
          <p:nvGrpSpPr>
            <p:cNvPr id="194" name="그룹 193"/>
            <p:cNvGrpSpPr/>
            <p:nvPr/>
          </p:nvGrpSpPr>
          <p:grpSpPr>
            <a:xfrm>
              <a:off x="701175" y="1835481"/>
              <a:ext cx="2630093" cy="3435840"/>
              <a:chOff x="701175" y="1835481"/>
              <a:chExt cx="2630093" cy="3435840"/>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1" name="직선 연결선 210">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18" name="그룹 217"/>
          <p:cNvGrpSpPr/>
          <p:nvPr/>
        </p:nvGrpSpPr>
        <p:grpSpPr>
          <a:xfrm>
            <a:off x="3821510" y="2455385"/>
            <a:ext cx="2630093" cy="1567215"/>
            <a:chOff x="701175" y="1800646"/>
            <a:chExt cx="2630093" cy="1567215"/>
          </a:xfrm>
        </p:grpSpPr>
        <p:sp>
          <p:nvSpPr>
            <p:cNvPr id="219" name="직사각형 218"/>
            <p:cNvSpPr/>
            <p:nvPr/>
          </p:nvSpPr>
          <p:spPr>
            <a:xfrm>
              <a:off x="703268" y="1800646"/>
              <a:ext cx="792000" cy="15672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r>
                <a:rPr lang="en-US" altLang="ko-KR" sz="700" dirty="0">
                  <a:latin typeface="+mn-ea"/>
                </a:rPr>
                <a:t>608,000.00</a:t>
              </a:r>
            </a:p>
            <a:p>
              <a:pPr algn="r">
                <a:lnSpc>
                  <a:spcPct val="200000"/>
                </a:lnSpc>
              </a:pPr>
              <a:r>
                <a:rPr lang="en-US" altLang="ko-KR" sz="700" dirty="0">
                  <a:latin typeface="+mn-ea"/>
                </a:rPr>
                <a:t>608,000.00</a:t>
              </a:r>
            </a:p>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224" name="그룹 223"/>
            <p:cNvGrpSpPr/>
            <p:nvPr/>
          </p:nvGrpSpPr>
          <p:grpSpPr>
            <a:xfrm>
              <a:off x="701175" y="1835481"/>
              <a:ext cx="2630093" cy="1524858"/>
              <a:chOff x="701175" y="1835481"/>
              <a:chExt cx="2630093" cy="1524858"/>
            </a:xfrm>
          </p:grpSpPr>
          <p:cxnSp>
            <p:nvCxnSpPr>
              <p:cNvPr id="226" name="직선 연결선 2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491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707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9217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31484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3360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4" name="직사각형 233"/>
          <p:cNvSpPr/>
          <p:nvPr/>
        </p:nvSpPr>
        <p:spPr>
          <a:xfrm>
            <a:off x="3820170" y="431506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431506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431506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431506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520056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3933132" y="406020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sp>
        <p:nvSpPr>
          <p:cNvPr id="248" name="사각형: 둥근 모서리 15">
            <a:extLst>
              <a:ext uri="{FF2B5EF4-FFF2-40B4-BE49-F238E27FC236}">
                <a16:creationId xmlns:a16="http://schemas.microsoft.com/office/drawing/2014/main" id="{E2B61CFB-AD16-68D0-8752-50D9C5E01971}"/>
              </a:ext>
            </a:extLst>
          </p:cNvPr>
          <p:cNvSpPr/>
          <p:nvPr/>
        </p:nvSpPr>
        <p:spPr>
          <a:xfrm>
            <a:off x="2836921" y="4546899"/>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49" name="사각형: 둥근 모서리 15">
            <a:extLst>
              <a:ext uri="{FF2B5EF4-FFF2-40B4-BE49-F238E27FC236}">
                <a16:creationId xmlns:a16="http://schemas.microsoft.com/office/drawing/2014/main" id="{E2B61CFB-AD16-68D0-8752-50D9C5E01971}"/>
              </a:ext>
            </a:extLst>
          </p:cNvPr>
          <p:cNvSpPr/>
          <p:nvPr/>
        </p:nvSpPr>
        <p:spPr>
          <a:xfrm>
            <a:off x="2836921" y="5617202"/>
            <a:ext cx="494347" cy="16200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solidFill>
                  <a:srgbClr val="0070C0"/>
                </a:solidFill>
              </a:rPr>
              <a:t>보기</a:t>
            </a:r>
            <a:endParaRPr kumimoji="1" lang="en-US" altLang="ko-KR" sz="700" kern="0" dirty="0">
              <a:solidFill>
                <a:srgbClr val="0070C0"/>
              </a:solidFill>
            </a:endParaRPr>
          </a:p>
        </p:txBody>
      </p:sp>
      <p:grpSp>
        <p:nvGrpSpPr>
          <p:cNvPr id="130" name="그룹 129"/>
          <p:cNvGrpSpPr/>
          <p:nvPr/>
        </p:nvGrpSpPr>
        <p:grpSpPr>
          <a:xfrm>
            <a:off x="3795734" y="2084581"/>
            <a:ext cx="2712027" cy="337161"/>
            <a:chOff x="675399" y="3557901"/>
            <a:chExt cx="2712027" cy="337161"/>
          </a:xfrm>
        </p:grpSpPr>
        <p:cxnSp>
          <p:nvCxnSpPr>
            <p:cNvPr id="131" name="직선 연결선 13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1903958" y="3895062"/>
              <a:ext cx="647376"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2924086" y="3640332"/>
              <a:ext cx="422853" cy="187961"/>
              <a:chOff x="3641308" y="2234886"/>
              <a:chExt cx="422853" cy="187961"/>
            </a:xfrm>
          </p:grpSpPr>
          <p:sp>
            <p:nvSpPr>
              <p:cNvPr id="140" name="타원 13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2" name="타원 14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3" name="그룹 142"/>
              <p:cNvGrpSpPr/>
              <p:nvPr/>
            </p:nvGrpSpPr>
            <p:grpSpPr>
              <a:xfrm rot="16200000">
                <a:off x="3931564"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7" name="직선 연결선 13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55" name="그룹 154"/>
          <p:cNvGrpSpPr/>
          <p:nvPr/>
        </p:nvGrpSpPr>
        <p:grpSpPr>
          <a:xfrm>
            <a:off x="675400" y="2084581"/>
            <a:ext cx="2712027" cy="337161"/>
            <a:chOff x="675399" y="3557901"/>
            <a:chExt cx="2712027" cy="337161"/>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1897519" y="3895062"/>
              <a:ext cx="6666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7" name="그룹 166"/>
            <p:cNvGrpSpPr/>
            <p:nvPr/>
          </p:nvGrpSpPr>
          <p:grpSpPr>
            <a:xfrm>
              <a:off x="2924086" y="3640332"/>
              <a:ext cx="422853" cy="187961"/>
              <a:chOff x="3641308" y="2234886"/>
              <a:chExt cx="422853" cy="187961"/>
            </a:xfrm>
          </p:grpSpPr>
          <p:sp>
            <p:nvSpPr>
              <p:cNvPr id="171" name="타원 17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2" name="그룹 171"/>
              <p:cNvGrpSpPr/>
              <p:nvPr/>
            </p:nvGrpSpPr>
            <p:grpSpPr>
              <a:xfrm rot="5400000" flipH="1">
                <a:off x="3679895"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타원 17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4" name="그룹 173"/>
              <p:cNvGrpSpPr/>
              <p:nvPr/>
            </p:nvGrpSpPr>
            <p:grpSpPr>
              <a:xfrm rot="16200000">
                <a:off x="3931564" y="2305364"/>
                <a:ext cx="94010" cy="47005"/>
                <a:chOff x="6812560" y="3297172"/>
                <a:chExt cx="94010" cy="47005"/>
              </a:xfrm>
            </p:grpSpPr>
            <p:cxnSp>
              <p:nvCxnSpPr>
                <p:cNvPr id="175" name="직선 연결선 1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6" name="직선 연결선 1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8" name="직선 연결선 16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16" name="타원 115">
            <a:extLst>
              <a:ext uri="{FF2B5EF4-FFF2-40B4-BE49-F238E27FC236}">
                <a16:creationId xmlns:a16="http://schemas.microsoft.com/office/drawing/2014/main" id="{37A7FF4F-0EAA-1463-560A-D5EC24416103}"/>
              </a:ext>
            </a:extLst>
          </p:cNvPr>
          <p:cNvSpPr/>
          <p:nvPr/>
        </p:nvSpPr>
        <p:spPr>
          <a:xfrm>
            <a:off x="589334" y="45724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17" name="타원 116">
            <a:extLst>
              <a:ext uri="{FF2B5EF4-FFF2-40B4-BE49-F238E27FC236}">
                <a16:creationId xmlns:a16="http://schemas.microsoft.com/office/drawing/2014/main" id="{37A7FF4F-0EAA-1463-560A-D5EC24416103}"/>
              </a:ext>
            </a:extLst>
          </p:cNvPr>
          <p:cNvSpPr/>
          <p:nvPr/>
        </p:nvSpPr>
        <p:spPr>
          <a:xfrm>
            <a:off x="589334" y="560093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974814447"/>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입찰내역</a:t>
            </a:r>
            <a:r>
              <a:rPr lang="en-US" altLang="ko-KR" dirty="0"/>
              <a:t>(</a:t>
            </a:r>
            <a:r>
              <a:rPr lang="ko-KR" altLang="en-US" dirty="0" err="1"/>
              <a:t>총액제</a:t>
            </a:r>
            <a:r>
              <a:rPr lang="en-US" altLang="ko-KR" dirty="0"/>
              <a:t>) </a:t>
            </a:r>
            <a:r>
              <a:rPr lang="ko-KR" altLang="en-US" dirty="0"/>
              <a:t>데이터 영역</a:t>
            </a:r>
            <a:endParaRPr lang="en-US" altLang="ko-KR" dirty="0"/>
          </a:p>
          <a:p>
            <a:pPr marL="228600" indent="-228600">
              <a:buFont typeface="+mj-lt"/>
              <a:buAutoNum type="arabicPeriod"/>
            </a:pPr>
            <a:r>
              <a:rPr lang="ko-KR" altLang="en-US" dirty="0" err="1"/>
              <a:t>입찰품목</a:t>
            </a:r>
            <a:r>
              <a:rPr lang="en-US" altLang="ko-KR" dirty="0"/>
              <a:t>(</a:t>
            </a:r>
            <a:r>
              <a:rPr lang="ko-KR" altLang="en-US" dirty="0" err="1"/>
              <a:t>총액제</a:t>
            </a:r>
            <a:r>
              <a:rPr lang="en-US" altLang="ko-KR" dirty="0"/>
              <a:t>)</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487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 </a:t>
            </a:r>
            <a:r>
              <a:rPr lang="en-US" altLang="ko-KR" dirty="0">
                <a:latin typeface="+mn-ea"/>
              </a:rPr>
              <a:t>(</a:t>
            </a:r>
            <a:r>
              <a:rPr lang="ko-KR" altLang="en-US" dirty="0" err="1">
                <a:latin typeface="+mn-ea"/>
              </a:rPr>
              <a:t>총액제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MUI-BD-06-T78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4" name="직사각형 193"/>
          <p:cNvSpPr/>
          <p:nvPr/>
        </p:nvSpPr>
        <p:spPr>
          <a:xfrm>
            <a:off x="722060" y="2791902"/>
            <a:ext cx="792000" cy="10608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TextBox 194">
            <a:extLst>
              <a:ext uri="{FF2B5EF4-FFF2-40B4-BE49-F238E27FC236}">
                <a16:creationId xmlns:a16="http://schemas.microsoft.com/office/drawing/2014/main" id="{FFC49AEA-2A8F-250C-A86A-A7751D9706C3}"/>
              </a:ext>
            </a:extLst>
          </p:cNvPr>
          <p:cNvSpPr txBox="1"/>
          <p:nvPr/>
        </p:nvSpPr>
        <p:spPr>
          <a:xfrm>
            <a:off x="762146" y="4076703"/>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96" name="직사각형 195"/>
          <p:cNvSpPr/>
          <p:nvPr/>
        </p:nvSpPr>
        <p:spPr>
          <a:xfrm>
            <a:off x="703268" y="4384189"/>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7" name="TextBox 196">
            <a:extLst>
              <a:ext uri="{FF2B5EF4-FFF2-40B4-BE49-F238E27FC236}">
                <a16:creationId xmlns:a16="http://schemas.microsoft.com/office/drawing/2014/main" id="{FFC49AEA-2A8F-250C-A86A-A7751D9706C3}"/>
              </a:ext>
            </a:extLst>
          </p:cNvPr>
          <p:cNvSpPr txBox="1"/>
          <p:nvPr/>
        </p:nvSpPr>
        <p:spPr>
          <a:xfrm>
            <a:off x="790331" y="4384188"/>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p:txBody>
      </p:sp>
      <p:grpSp>
        <p:nvGrpSpPr>
          <p:cNvPr id="198" name="그룹 197"/>
          <p:cNvGrpSpPr/>
          <p:nvPr/>
        </p:nvGrpSpPr>
        <p:grpSpPr>
          <a:xfrm>
            <a:off x="701175" y="4384188"/>
            <a:ext cx="2630093" cy="1288440"/>
            <a:chOff x="701175" y="1835481"/>
            <a:chExt cx="2630093" cy="1288440"/>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0" name="TextBox 209">
            <a:extLst>
              <a:ext uri="{FF2B5EF4-FFF2-40B4-BE49-F238E27FC236}">
                <a16:creationId xmlns:a16="http://schemas.microsoft.com/office/drawing/2014/main" id="{FFC49AEA-2A8F-250C-A86A-A7751D9706C3}"/>
              </a:ext>
            </a:extLst>
          </p:cNvPr>
          <p:cNvSpPr txBox="1"/>
          <p:nvPr/>
        </p:nvSpPr>
        <p:spPr>
          <a:xfrm>
            <a:off x="1547180" y="438418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762146" y="2483140"/>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endParaRPr lang="ko-KR" altLang="en-US" sz="700" dirty="0">
              <a:latin typeface="+mn-ea"/>
            </a:endParaRPr>
          </a:p>
        </p:txBody>
      </p:sp>
      <p:grpSp>
        <p:nvGrpSpPr>
          <p:cNvPr id="216" name="그룹 215"/>
          <p:cNvGrpSpPr/>
          <p:nvPr/>
        </p:nvGrpSpPr>
        <p:grpSpPr>
          <a:xfrm flipV="1">
            <a:off x="3124233" y="2596471"/>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720490" y="27808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20490" y="29868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40349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20490" y="320439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6" name="TextBox 225">
            <a:extLst>
              <a:ext uri="{FF2B5EF4-FFF2-40B4-BE49-F238E27FC236}">
                <a16:creationId xmlns:a16="http://schemas.microsoft.com/office/drawing/2014/main" id="{FFC49AEA-2A8F-250C-A86A-A7751D9706C3}"/>
              </a:ext>
            </a:extLst>
          </p:cNvPr>
          <p:cNvSpPr txBox="1"/>
          <p:nvPr/>
        </p:nvSpPr>
        <p:spPr>
          <a:xfrm>
            <a:off x="790331" y="2762746"/>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err="1">
                <a:latin typeface="+mn-ea"/>
              </a:rPr>
              <a:t>달러환산율</a:t>
            </a:r>
            <a:endParaRPr lang="ko-KR" altLang="en-US"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20490" y="34184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20490" y="3624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20490" y="384198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TextBox 234">
            <a:extLst>
              <a:ext uri="{FF2B5EF4-FFF2-40B4-BE49-F238E27FC236}">
                <a16:creationId xmlns:a16="http://schemas.microsoft.com/office/drawing/2014/main" id="{FFC49AEA-2A8F-250C-A86A-A7751D9706C3}"/>
              </a:ext>
            </a:extLst>
          </p:cNvPr>
          <p:cNvSpPr txBox="1"/>
          <p:nvPr/>
        </p:nvSpPr>
        <p:spPr>
          <a:xfrm>
            <a:off x="1547180" y="2762746"/>
            <a:ext cx="1784088" cy="1077218"/>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a:latin typeface="+mn-ea"/>
              </a:rPr>
              <a:t>해외업체</a:t>
            </a:r>
            <a:endParaRPr lang="en-US" altLang="ko-KR" sz="700" dirty="0">
              <a:latin typeface="+mn-ea"/>
            </a:endParaRPr>
          </a:p>
          <a:p>
            <a:pPr>
              <a:lnSpc>
                <a:spcPct val="200000"/>
              </a:lnSpc>
            </a:pPr>
            <a:r>
              <a:rPr lang="en-US" altLang="ko-KR" sz="700" dirty="0">
                <a:latin typeface="+mn-ea"/>
              </a:rPr>
              <a:t>USD</a:t>
            </a:r>
          </a:p>
          <a:p>
            <a:pPr algn="r">
              <a:lnSpc>
                <a:spcPct val="200000"/>
              </a:lnSpc>
            </a:pPr>
            <a:r>
              <a:rPr lang="en-US" altLang="ko-KR" sz="700" dirty="0">
                <a:latin typeface="+mn-ea"/>
              </a:rPr>
              <a:t>608,000.00</a:t>
            </a:r>
          </a:p>
          <a:p>
            <a:pPr algn="r">
              <a:lnSpc>
                <a:spcPct val="200000"/>
              </a:lnSpc>
            </a:pPr>
            <a:r>
              <a:rPr lang="en-US" altLang="ko-KR" sz="700" dirty="0">
                <a:latin typeface="+mn-ea"/>
              </a:rPr>
              <a:t>608,000.00</a:t>
            </a:r>
          </a:p>
          <a:p>
            <a:pPr algn="r">
              <a:lnSpc>
                <a:spcPct val="200000"/>
              </a:lnSpc>
            </a:pPr>
            <a:r>
              <a:rPr lang="en-US" altLang="ko-KR" sz="700" dirty="0">
                <a:latin typeface="+mn-ea"/>
              </a:rPr>
              <a:t>1.0000 USD</a:t>
            </a:r>
          </a:p>
        </p:txBody>
      </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11" name="타원 110">
            <a:extLst>
              <a:ext uri="{FF2B5EF4-FFF2-40B4-BE49-F238E27FC236}">
                <a16:creationId xmlns:a16="http://schemas.microsoft.com/office/drawing/2014/main" id="{37A7FF4F-0EAA-1463-560A-D5EC24416103}"/>
              </a:ext>
            </a:extLst>
          </p:cNvPr>
          <p:cNvSpPr/>
          <p:nvPr/>
        </p:nvSpPr>
        <p:spPr>
          <a:xfrm>
            <a:off x="589334" y="41111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95" name="그룹 94"/>
          <p:cNvGrpSpPr/>
          <p:nvPr/>
        </p:nvGrpSpPr>
        <p:grpSpPr>
          <a:xfrm>
            <a:off x="3795734" y="2084581"/>
            <a:ext cx="2712027" cy="337161"/>
            <a:chOff x="675399" y="3557901"/>
            <a:chExt cx="2712027" cy="33716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TextBox 96">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98" name="TextBox 97">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99" name="TextBox 98">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00" name="직선 연결선 99">
              <a:extLst>
                <a:ext uri="{FF2B5EF4-FFF2-40B4-BE49-F238E27FC236}">
                  <a16:creationId xmlns:a16="http://schemas.microsoft.com/office/drawing/2014/main" id="{E9293055-D5CD-4B9E-7F64-64B2D2CA7A52}"/>
                </a:ext>
              </a:extLst>
            </p:cNvPr>
            <p:cNvCxnSpPr/>
            <p:nvPr/>
          </p:nvCxnSpPr>
          <p:spPr>
            <a:xfrm>
              <a:off x="1903958" y="3895062"/>
              <a:ext cx="647376"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1" name="그룹 100"/>
            <p:cNvGrpSpPr/>
            <p:nvPr/>
          </p:nvGrpSpPr>
          <p:grpSpPr>
            <a:xfrm>
              <a:off x="2924086" y="3640332"/>
              <a:ext cx="422853" cy="187961"/>
              <a:chOff x="3641308" y="2234886"/>
              <a:chExt cx="422853" cy="187961"/>
            </a:xfrm>
          </p:grpSpPr>
          <p:sp>
            <p:nvSpPr>
              <p:cNvPr id="105" name="타원 10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6" name="그룹 105"/>
              <p:cNvGrpSpPr/>
              <p:nvPr/>
            </p:nvGrpSpPr>
            <p:grpSpPr>
              <a:xfrm rot="5400000" flipH="1">
                <a:off x="3679895" y="2305364"/>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7" name="타원 10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8" name="그룹 107"/>
              <p:cNvGrpSpPr/>
              <p:nvPr/>
            </p:nvGrpSpPr>
            <p:grpSpPr>
              <a:xfrm rot="16200000">
                <a:off x="3931564" y="2305364"/>
                <a:ext cx="94010" cy="47005"/>
                <a:chOff x="6812560" y="3297172"/>
                <a:chExt cx="94010" cy="47005"/>
              </a:xfrm>
            </p:grpSpPr>
            <p:cxnSp>
              <p:nvCxnSpPr>
                <p:cNvPr id="112" name="직선 연결선 1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0" name="직선 연결선 12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TextBox 103">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33" name="그룹 132"/>
          <p:cNvGrpSpPr/>
          <p:nvPr/>
        </p:nvGrpSpPr>
        <p:grpSpPr>
          <a:xfrm>
            <a:off x="675400" y="2084581"/>
            <a:ext cx="2712027" cy="337161"/>
            <a:chOff x="675399" y="3557901"/>
            <a:chExt cx="2712027" cy="337161"/>
          </a:xfrm>
        </p:grpSpPr>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1897519" y="3895062"/>
              <a:ext cx="6666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9" name="그룹 138"/>
            <p:cNvGrpSpPr/>
            <p:nvPr/>
          </p:nvGrpSpPr>
          <p:grpSpPr>
            <a:xfrm>
              <a:off x="2924086" y="3640332"/>
              <a:ext cx="422853" cy="187961"/>
              <a:chOff x="3641308" y="2234886"/>
              <a:chExt cx="422853" cy="187961"/>
            </a:xfrm>
          </p:grpSpPr>
          <p:sp>
            <p:nvSpPr>
              <p:cNvPr id="143" name="타원 14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타원 14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16200000">
                <a:off x="3931564" y="2305364"/>
                <a:ext cx="94010" cy="47005"/>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0" name="직선 연결선 139">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Tree>
    <p:extLst>
      <p:ext uri="{BB962C8B-B14F-4D97-AF65-F5344CB8AC3E}">
        <p14:creationId xmlns:p14="http://schemas.microsoft.com/office/powerpoint/2010/main" val="2339234498"/>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488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a:t>
            </a:r>
            <a:r>
              <a:rPr lang="ko-KR" altLang="en-US" dirty="0">
                <a:latin typeface="+mn-ea"/>
              </a:rPr>
              <a:t>첨부파일</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첨부파일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MUI-BD-06-T79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883010"/>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957531"/>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01139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25190" y="299325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328969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364217"/>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41807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25190" y="33999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747892"/>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34706" y="2747892"/>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747892"/>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0" name="모서리가 둥근 직사각형 99"/>
          <p:cNvSpPr/>
          <p:nvPr/>
        </p:nvSpPr>
        <p:spPr>
          <a:xfrm>
            <a:off x="710315" y="369105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765580"/>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81944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25190" y="380130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409774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172266"/>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22612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25190" y="4207988"/>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63" name="그룹 62"/>
          <p:cNvGrpSpPr/>
          <p:nvPr/>
        </p:nvGrpSpPr>
        <p:grpSpPr>
          <a:xfrm>
            <a:off x="675400" y="2084581"/>
            <a:ext cx="2712027" cy="337161"/>
            <a:chOff x="675399" y="3557901"/>
            <a:chExt cx="2712027" cy="337161"/>
          </a:xfrm>
        </p:grpSpPr>
        <p:cxnSp>
          <p:nvCxnSpPr>
            <p:cNvPr id="64" name="직선 연결선 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66" name="TextBox 65">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67" name="TextBox 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1897519" y="3895062"/>
              <a:ext cx="6666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9" name="그룹 68"/>
            <p:cNvGrpSpPr/>
            <p:nvPr/>
          </p:nvGrpSpPr>
          <p:grpSpPr>
            <a:xfrm>
              <a:off x="2924086" y="3640332"/>
              <a:ext cx="422853" cy="187961"/>
              <a:chOff x="3641308" y="2234886"/>
              <a:chExt cx="422853" cy="187961"/>
            </a:xfrm>
          </p:grpSpPr>
          <p:sp>
            <p:nvSpPr>
              <p:cNvPr id="73" name="타원 7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4" name="그룹 73"/>
              <p:cNvGrpSpPr/>
              <p:nvPr/>
            </p:nvGrpSpPr>
            <p:grpSpPr>
              <a:xfrm rot="5400000" flipH="1">
                <a:off x="3679895" y="2305364"/>
                <a:ext cx="94010" cy="47005"/>
                <a:chOff x="6812560" y="3297172"/>
                <a:chExt cx="94010" cy="47005"/>
              </a:xfrm>
            </p:grpSpPr>
            <p:cxnSp>
              <p:nvCxnSpPr>
                <p:cNvPr id="79" name="직선 연결선 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5" name="타원 7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6" name="그룹 75"/>
              <p:cNvGrpSpPr/>
              <p:nvPr/>
            </p:nvGrpSpPr>
            <p:grpSpPr>
              <a:xfrm rot="16200000">
                <a:off x="3931564" y="2305364"/>
                <a:ext cx="94010" cy="47005"/>
                <a:chOff x="6812560" y="3297172"/>
                <a:chExt cx="94010" cy="47005"/>
              </a:xfrm>
            </p:grpSpPr>
            <p:cxnSp>
              <p:nvCxnSpPr>
                <p:cNvPr id="77" name="직선 연결선 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8" name="직선 연결선 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70" name="직선 연결선 69">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1" name="직선 연결선 70">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2" name="TextBox 71">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Tree>
    <p:extLst>
      <p:ext uri="{BB962C8B-B14F-4D97-AF65-F5344CB8AC3E}">
        <p14:creationId xmlns:p14="http://schemas.microsoft.com/office/powerpoint/2010/main" val="4036894105"/>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489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(1/5)</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1751346"/>
                  </a:ext>
                </a:extLst>
              </a:tr>
              <a:tr h="0">
                <a:tc>
                  <a:txBody>
                    <a:bodyPr/>
                    <a:lstStyle/>
                    <a:p>
                      <a:pPr algn="l" fontAlgn="ct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9223821"/>
                  </a:ext>
                </a:extLst>
              </a:tr>
              <a:tr h="0">
                <a:tc>
                  <a:txBody>
                    <a:bodyPr/>
                    <a:lstStyle/>
                    <a:p>
                      <a:pPr algn="l" fontAlgn="ctr"/>
                      <a:r>
                        <a:rPr lang="ko-KR" altLang="en-US" sz="800" b="0" i="0" u="none" strike="noStrike">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5825386"/>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입찰참가등록마감일시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2167756"/>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684685"/>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6532521"/>
                  </a:ext>
                </a:extLst>
              </a:tr>
              <a:tr h="0">
                <a:tc>
                  <a:txBody>
                    <a:bodyPr/>
                    <a:lstStyle/>
                    <a:p>
                      <a:pPr algn="l" fontAlgn="ctr"/>
                      <a:r>
                        <a:rPr lang="ko-KR" altLang="en-US" sz="800" b="0" i="0" u="none" strike="noStrike" dirty="0">
                          <a:solidFill>
                            <a:srgbClr val="000000"/>
                          </a:solidFill>
                          <a:effectLst/>
                          <a:latin typeface="+mn-ea"/>
                          <a:ea typeface="+mn-ea"/>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1664787"/>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8347116"/>
                  </a:ext>
                </a:extLst>
              </a:tr>
              <a:tr h="0">
                <a:tc>
                  <a:txBody>
                    <a:bodyPr/>
                    <a:lstStyle/>
                    <a:p>
                      <a:pPr algn="l" fontAlgn="ctr"/>
                      <a:r>
                        <a:rPr lang="ko-KR" altLang="en-US" sz="800" b="0" i="0" u="none" strike="noStrike">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Box 1">
            <a:extLst>
              <a:ext uri="{FF2B5EF4-FFF2-40B4-BE49-F238E27FC236}">
                <a16:creationId xmlns:a16="http://schemas.microsoft.com/office/drawing/2014/main" id="{6EC1DB6F-756B-3ECF-DF5B-01F7E95AC086}"/>
              </a:ext>
            </a:extLst>
          </p:cNvPr>
          <p:cNvSpPr txBox="1"/>
          <p:nvPr/>
        </p:nvSpPr>
        <p:spPr>
          <a:xfrm>
            <a:off x="458117" y="4257092"/>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extLst/>
          </p:nvPr>
        </p:nvGraphicFramePr>
        <p:xfrm>
          <a:off x="452999" y="4468295"/>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8760619"/>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3364519"/>
                  </a:ext>
                </a:extLst>
              </a:tr>
              <a:tr h="0">
                <a:tc>
                  <a:txBody>
                    <a:bodyPr/>
                    <a:lstStyle/>
                    <a:p>
                      <a:pPr algn="l" fontAlgn="ctr"/>
                      <a:r>
                        <a:rPr lang="ko-KR" altLang="en-US" sz="800" b="0" i="0" u="none" strike="noStrike" dirty="0">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8760337"/>
                  </a:ext>
                </a:extLst>
              </a:tr>
              <a:tr h="0">
                <a:tc>
                  <a:txBody>
                    <a:bodyPr/>
                    <a:lstStyle/>
                    <a:p>
                      <a:pPr algn="l" fontAlgn="ctr"/>
                      <a:r>
                        <a:rPr lang="ko-KR" altLang="en-US" sz="800" b="0" i="0" u="none" strike="noStrike">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910159"/>
                  </a:ext>
                </a:extLst>
              </a:tr>
              <a:tr h="0">
                <a:tc>
                  <a:txBody>
                    <a:bodyPr/>
                    <a:lstStyle/>
                    <a:p>
                      <a:pPr algn="l" fontAlgn="ctr"/>
                      <a:r>
                        <a:rPr lang="ko-KR" altLang="en-US" sz="800" b="0" i="0" u="none" strike="noStrike">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사업자등록번호 또는 </a:t>
                      </a:r>
                      <a:r>
                        <a:rPr lang="en-US" altLang="ko-KR" sz="800" b="0" i="0" u="none" strike="noStrike">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EE135505-43F6-C8AA-BD12-23164516F4E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505257500"/>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490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(2/5)</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191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42901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646879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731729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85475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04576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00CCF613-0C5E-A1C5-2F5D-E8D53127C3F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4252167"/>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491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(3/5)</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3102379" cy="211203"/>
          </a:xfrm>
          <a:prstGeom prst="rect">
            <a:avLst/>
          </a:prstGeom>
          <a:noFill/>
        </p:spPr>
        <p:txBody>
          <a:bodyPr wrap="none" lIns="36000" tIns="36000" rIns="36000" bIns="36000" rtlCol="0">
            <a:spAutoFit/>
          </a:bodyPr>
          <a:lstStyle/>
          <a:p>
            <a:r>
              <a:rPr lang="en-US" altLang="ko-KR" sz="900" b="1" dirty="0">
                <a:solidFill>
                  <a:prstClr val="black"/>
                </a:solidFill>
              </a:rPr>
              <a:t>1.4</a:t>
            </a:r>
            <a:r>
              <a:rPr lang="en-US" altLang="ko-KR" sz="900" b="1">
                <a:solidFill>
                  <a:prstClr val="black"/>
                </a:solidFill>
              </a:rPr>
              <a:t>. </a:t>
            </a:r>
            <a:r>
              <a:rPr lang="ko-KR" altLang="en-US" sz="900" b="1">
                <a:solidFill>
                  <a:prstClr val="black"/>
                </a:solidFill>
              </a:rPr>
              <a:t>입찰참여품목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(dl_ititbBidCnList)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48979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4568633"/>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6714837"/>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(As it is / Replace)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4155434"/>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품목대체첨부문서가</a:t>
                      </a:r>
                      <a:r>
                        <a:rPr lang="ko-KR" altLang="en-US" sz="800" dirty="0">
                          <a:latin typeface="+mn-ea"/>
                          <a:ea typeface="+mn-ea"/>
                        </a:rPr>
                        <a:t>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941089"/>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929951"/>
                  </a:ext>
                </a:extLst>
              </a:tr>
              <a:tr h="0">
                <a:tc>
                  <a:txBody>
                    <a:bodyPr/>
                    <a:lstStyle/>
                    <a:p>
                      <a:pPr algn="l" fontAlgn="ctr"/>
                      <a:r>
                        <a:rPr lang="ko-KR" altLang="en-US" sz="800" b="0" i="0" u="none" strike="noStrike">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7599421"/>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 </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(Y /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9061956"/>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9809737"/>
                  </a:ext>
                </a:extLst>
              </a:tr>
              <a:tr h="0">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MOQ</a:t>
                      </a:r>
                      <a:r>
                        <a:rPr lang="ko-KR" altLang="en-US" sz="800" dirty="0">
                          <a:latin typeface="+mn-ea"/>
                          <a:ea typeface="+mn-ea"/>
                        </a:rPr>
                        <a:t>첨부문서가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0739781"/>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본조</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848704"/>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당국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당해년도 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3670449"/>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장국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640405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595397"/>
                  </a:ext>
                </a:extLst>
              </a:tr>
              <a:tr h="0">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9750289"/>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3809566"/>
                  </a:ext>
                </a:extLst>
              </a:tr>
              <a:tr h="0">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B865F701-0081-CABA-3317-C510CF9DBA6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75827463"/>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09BAFFE9-3B78-1532-1EED-6D78A507389A}"/>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492</a:t>
            </a:fld>
            <a:endParaRPr lang="ko-KR" altLang="en-US" dirty="0"/>
          </a:p>
        </p:txBody>
      </p:sp>
      <p:sp>
        <p:nvSpPr>
          <p:cNvPr id="5" name="TextBox 4">
            <a:extLst>
              <a:ext uri="{FF2B5EF4-FFF2-40B4-BE49-F238E27FC236}">
                <a16:creationId xmlns:a16="http://schemas.microsoft.com/office/drawing/2014/main" id="{851C048D-8B08-B247-CB04-F52756322ECD}"/>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(4/5)</a:t>
            </a:r>
            <a:endParaRPr lang="ko-KR" altLang="en-US" sz="1000" b="1" dirty="0">
              <a:solidFill>
                <a:prstClr val="black"/>
              </a:solidFill>
            </a:endParaRPr>
          </a:p>
        </p:txBody>
      </p:sp>
      <p:sp>
        <p:nvSpPr>
          <p:cNvPr id="6" name="TextBox 5">
            <a:extLst>
              <a:ext uri="{FF2B5EF4-FFF2-40B4-BE49-F238E27FC236}">
                <a16:creationId xmlns:a16="http://schemas.microsoft.com/office/drawing/2014/main" id="{BFC5E42C-41DA-3907-8E77-DFA2779459D2}"/>
              </a:ext>
            </a:extLst>
          </p:cNvPr>
          <p:cNvSpPr txBox="1"/>
          <p:nvPr/>
        </p:nvSpPr>
        <p:spPr>
          <a:xfrm>
            <a:off x="458117" y="799547"/>
            <a:ext cx="2935666"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입찰품목</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(dl_alonbsItemList)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DDA5753-DEFE-B33D-028E-58786715017D}"/>
              </a:ext>
            </a:extLst>
          </p:cNvPr>
          <p:cNvGraphicFramePr>
            <a:graphicFrameLocks noGrp="1"/>
          </p:cNvGraphicFramePr>
          <p:nvPr/>
        </p:nvGraphicFramePr>
        <p:xfrm>
          <a:off x="452999" y="101075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bl>
          </a:graphicData>
        </a:graphic>
      </p:graphicFrame>
      <p:sp>
        <p:nvSpPr>
          <p:cNvPr id="10" name="Text Box 73">
            <a:extLst>
              <a:ext uri="{FF2B5EF4-FFF2-40B4-BE49-F238E27FC236}">
                <a16:creationId xmlns:a16="http://schemas.microsoft.com/office/drawing/2014/main" id="{F53ABECC-44BD-0648-AA57-7F6B4B7F71E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49702F92-C00A-98FC-B199-F4DD38CEE456}"/>
              </a:ext>
            </a:extLst>
          </p:cNvPr>
          <p:cNvSpPr txBox="1"/>
          <p:nvPr/>
        </p:nvSpPr>
        <p:spPr>
          <a:xfrm>
            <a:off x="458117" y="3217797"/>
            <a:ext cx="3039862" cy="211203"/>
          </a:xfrm>
          <a:prstGeom prst="rect">
            <a:avLst/>
          </a:prstGeom>
          <a:noFill/>
        </p:spPr>
        <p:txBody>
          <a:bodyPr wrap="none" lIns="36000" tIns="36000" rIns="36000" bIns="36000" rtlCol="0">
            <a:spAutoFit/>
          </a:bodyPr>
          <a:lstStyle/>
          <a:p>
            <a:r>
              <a:rPr lang="en-US" altLang="ko-KR" sz="900" b="1">
                <a:solidFill>
                  <a:prstClr val="black"/>
                </a:solidFill>
              </a:rPr>
              <a:t>1.6.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(dl_alonbsBidCnInfo)</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FAF49F32-7EA4-ABEA-C323-13D03B69B825}"/>
              </a:ext>
            </a:extLst>
          </p:cNvPr>
          <p:cNvGraphicFramePr>
            <a:graphicFrameLocks noGrp="1"/>
          </p:cNvGraphicFramePr>
          <p:nvPr/>
        </p:nvGraphicFramePr>
        <p:xfrm>
          <a:off x="452999" y="3429000"/>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bl>
          </a:graphicData>
        </a:graphic>
      </p:graphicFrame>
    </p:spTree>
    <p:extLst>
      <p:ext uri="{BB962C8B-B14F-4D97-AF65-F5344CB8AC3E}">
        <p14:creationId xmlns:p14="http://schemas.microsoft.com/office/powerpoint/2010/main" val="702450867"/>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493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(5/5)</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a:solidFill>
                  <a:prstClr val="black"/>
                </a:solidFill>
              </a:rPr>
              <a:t>1.7. </a:t>
            </a:r>
            <a:r>
              <a:rPr lang="ko-KR" altLang="en-US" sz="900" b="1" dirty="0">
                <a:solidFill>
                  <a:prstClr val="black"/>
                </a:solidFill>
              </a:rPr>
              <a:t>첨부파일 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A99AA0B8-076C-8C26-20E0-2CF398D5400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99741295"/>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3F20DDAC-86E5-B924-A032-6F934EE4D118}"/>
              </a:ext>
            </a:extLst>
          </p:cNvPr>
          <p:cNvSpPr>
            <a:spLocks noGrp="1"/>
          </p:cNvSpPr>
          <p:nvPr>
            <p:ph type="sldNum" sz="quarter" idx="4"/>
          </p:nvPr>
        </p:nvSpPr>
        <p:spPr/>
        <p:txBody>
          <a:bodyPr/>
          <a:lstStyle/>
          <a:p>
            <a:fld id="{34C8E023-7346-48FC-AB24-9A3388C53208}" type="slidenum">
              <a:rPr lang="ko-KR" altLang="en-US" smtClean="0"/>
              <a:pPr/>
              <a:t>494</a:t>
            </a:fld>
            <a:endParaRPr lang="ko-KR" altLang="en-US" dirty="0"/>
          </a:p>
        </p:txBody>
      </p:sp>
      <p:sp>
        <p:nvSpPr>
          <p:cNvPr id="3" name="TextBox 2">
            <a:extLst>
              <a:ext uri="{FF2B5EF4-FFF2-40B4-BE49-F238E27FC236}">
                <a16:creationId xmlns:a16="http://schemas.microsoft.com/office/drawing/2014/main" id="{76A8809E-D65E-49DE-4DB4-07EAE9803EB1}"/>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19B714E3-F1E0-CB09-40E2-CC9553957C58}"/>
              </a:ext>
            </a:extLst>
          </p:cNvPr>
          <p:cNvGraphicFramePr>
            <a:graphicFrameLocks noGrp="1"/>
          </p:cNvGraphicFramePr>
          <p:nvPr>
            <p:extLst>
              <p:ext uri="{D42A27DB-BD31-4B8C-83A1-F6EECF244321}">
                <p14:modId xmlns:p14="http://schemas.microsoft.com/office/powerpoint/2010/main" val="4122091522"/>
              </p:ext>
            </p:extLst>
          </p:nvPr>
        </p:nvGraphicFramePr>
        <p:xfrm>
          <a:off x="458117" y="799547"/>
          <a:ext cx="8995591" cy="1091520"/>
        </p:xfrm>
        <a:graphic>
          <a:graphicData uri="http://schemas.openxmlformats.org/drawingml/2006/table">
            <a:tbl>
              <a:tblPr>
                <a:tableStyleId>{616DA210-FB5B-4158-B5E0-FEB733F419BA}</a:tableStyleId>
              </a:tblPr>
              <a:tblGrid>
                <a:gridCol w="1465933">
                  <a:extLst>
                    <a:ext uri="{9D8B030D-6E8A-4147-A177-3AD203B41FA5}">
                      <a16:colId xmlns:a16="http://schemas.microsoft.com/office/drawing/2014/main" val="20000"/>
                    </a:ext>
                  </a:extLst>
                </a:gridCol>
                <a:gridCol w="1504950">
                  <a:extLst>
                    <a:ext uri="{9D8B030D-6E8A-4147-A177-3AD203B41FA5}">
                      <a16:colId xmlns:a16="http://schemas.microsoft.com/office/drawing/2014/main" val="624624882"/>
                    </a:ext>
                  </a:extLst>
                </a:gridCol>
                <a:gridCol w="2933700">
                  <a:extLst>
                    <a:ext uri="{9D8B030D-6E8A-4147-A177-3AD203B41FA5}">
                      <a16:colId xmlns:a16="http://schemas.microsoft.com/office/drawing/2014/main" val="20001"/>
                    </a:ext>
                  </a:extLst>
                </a:gridCol>
                <a:gridCol w="3091008">
                  <a:extLst>
                    <a:ext uri="{9D8B030D-6E8A-4147-A177-3AD203B41FA5}">
                      <a16:colId xmlns:a16="http://schemas.microsoft.com/office/drawing/2014/main" val="20002"/>
                    </a:ext>
                  </a:extLst>
                </a:gridCol>
              </a:tblGrid>
              <a:tr h="0">
                <a:tc>
                  <a:txBody>
                    <a:bodyPr/>
                    <a:lstStyle/>
                    <a:p>
                      <a:pPr algn="ctr" latinLnBrk="1"/>
                      <a:r>
                        <a:rPr lang="ko-KR" altLang="en-US" sz="800" b="1" dirty="0" err="1">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scwin.onpageload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입찰서 상세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err="1">
                          <a:latin typeface="+mn-ea"/>
                          <a:ea typeface="+mn-ea"/>
                        </a:rPr>
                        <a:t>입찰서조회</a:t>
                      </a:r>
                      <a:r>
                        <a:rPr lang="en-US" altLang="ko-KR" sz="800" dirty="0">
                          <a:latin typeface="+mn-ea"/>
                          <a:ea typeface="+mn-ea"/>
                        </a:rPr>
                        <a:t>, </a:t>
                      </a:r>
                      <a:r>
                        <a:rPr lang="ko-KR" altLang="en-US" sz="800" dirty="0">
                          <a:latin typeface="+mn-ea"/>
                          <a:ea typeface="+mn-ea"/>
                        </a:rPr>
                        <a:t>입찰서품목조회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err="1"/>
                        <a:t>품목대체첨부문서</a:t>
                      </a:r>
                      <a:r>
                        <a:rPr lang="ko-KR" altLang="en-US" sz="800" dirty="0"/>
                        <a:t>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MUI-BD-01-P76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7463526"/>
                  </a:ext>
                </a:extLst>
              </a:tr>
              <a:tr h="0">
                <a:tc>
                  <a:txBody>
                    <a:bodyPr/>
                    <a:lstStyle/>
                    <a:p>
                      <a:r>
                        <a:rPr lang="en-US" altLang="ko-KR" sz="800" dirty="0"/>
                        <a:t>MOQ</a:t>
                      </a:r>
                      <a:r>
                        <a:rPr lang="ko-KR" altLang="en-US" sz="800" dirty="0"/>
                        <a:t>첨부문서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MUI-BD-01-P76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4308018"/>
                  </a:ext>
                </a:extLst>
              </a:tr>
              <a:tr h="0">
                <a:tc>
                  <a:txBody>
                    <a:bodyPr/>
                    <a:lstStyle/>
                    <a:p>
                      <a:r>
                        <a:rPr lang="ko-KR" altLang="en-US" sz="800" dirty="0" err="1"/>
                        <a:t>투찰취소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scwin.btn_openCancleRequest_onclick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입찰취소신청서작성</a:t>
                      </a:r>
                      <a:r>
                        <a:rPr lang="ko-KR" altLang="en-US" sz="800" dirty="0">
                          <a:latin typeface="+mn-ea"/>
                          <a:ea typeface="+mn-ea"/>
                        </a:rPr>
                        <a:t>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rPr>
                        <a:t>MUI-BD-06-P81</a:t>
                      </a:r>
                      <a:r>
                        <a:rPr lang="en-US" altLang="ko-KR" sz="800" dirty="0" smtClean="0">
                          <a:latin typeface="+mn-ea"/>
                          <a:ea typeface="+mn-ea"/>
                        </a:rPr>
                        <a:t>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738773"/>
                  </a:ext>
                </a:extLst>
              </a:tr>
            </a:tbl>
          </a:graphicData>
        </a:graphic>
      </p:graphicFrame>
      <p:sp>
        <p:nvSpPr>
          <p:cNvPr id="5" name="Text Box 73">
            <a:extLst>
              <a:ext uri="{FF2B5EF4-FFF2-40B4-BE49-F238E27FC236}">
                <a16:creationId xmlns:a16="http://schemas.microsoft.com/office/drawing/2014/main" id="{FAEFD060-8A5E-317B-E449-391A17D23A6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6452282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495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입찰등록결과조회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입찰등록결과조회</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&gt; </a:t>
            </a:r>
            <a:r>
              <a:rPr lang="ko-KR" altLang="en-US" dirty="0"/>
              <a:t>입찰등록결과조회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MUI-BD-06-P80</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t>입찰등록결과조회</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t>입찰등록결과조회</a:t>
            </a:r>
            <a:endParaRPr lang="ko-KR" altLang="en-US" sz="9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42" name="그룹 141"/>
          <p:cNvGrpSpPr/>
          <p:nvPr/>
        </p:nvGrpSpPr>
        <p:grpSpPr>
          <a:xfrm>
            <a:off x="3836701" y="4661567"/>
            <a:ext cx="2630093" cy="966004"/>
            <a:chOff x="3791188" y="2611009"/>
            <a:chExt cx="2630093" cy="966004"/>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1279635" cy="181140"/>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ko-KR" altLang="en-US" sz="700" dirty="0">
                <a:latin typeface="+mn-ea"/>
              </a:endParaRPr>
            </a:p>
          </p:txBody>
        </p:sp>
        <p:sp>
          <p:nvSpPr>
            <p:cNvPr id="145" name="직사각형 144"/>
            <p:cNvSpPr/>
            <p:nvPr/>
          </p:nvSpPr>
          <p:spPr>
            <a:xfrm>
              <a:off x="3793281" y="2918495"/>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612027"/>
            </a:xfrm>
            <a:prstGeom prst="rect">
              <a:avLst/>
            </a:prstGeom>
            <a:noFill/>
          </p:spPr>
          <p:txBody>
            <a:bodyPr wrap="square" lIns="0" tIns="0" rIns="0" bIns="0" rtlCol="0">
              <a:spAutoFit/>
            </a:bodyPr>
            <a:lstStyle/>
            <a:p>
              <a:pPr>
                <a:lnSpc>
                  <a:spcPct val="200000"/>
                </a:lnSpc>
              </a:pPr>
              <a:r>
                <a:rPr lang="ko-KR" altLang="en-US" sz="700" dirty="0" err="1">
                  <a:latin typeface="+mn-ea"/>
                </a:rPr>
                <a:t>등록불가</a:t>
              </a:r>
              <a:endParaRPr lang="en-US" altLang="ko-KR" sz="700" dirty="0">
                <a:latin typeface="+mn-ea"/>
              </a:endParaRPr>
            </a:p>
            <a:p>
              <a:pPr>
                <a:lnSpc>
                  <a:spcPct val="200000"/>
                </a:lnSpc>
              </a:pPr>
              <a:r>
                <a:rPr lang="ko-KR" altLang="en-US" sz="700" dirty="0">
                  <a:latin typeface="+mn-ea"/>
                </a:rPr>
                <a:t>서류미비</a:t>
              </a:r>
              <a:endParaRPr lang="en-US" altLang="ko-KR" sz="700" dirty="0">
                <a:latin typeface="+mn-ea"/>
              </a:endParaRPr>
            </a:p>
            <a:p>
              <a:pPr>
                <a:lnSpc>
                  <a:spcPct val="200000"/>
                </a:lnSpc>
              </a:pPr>
              <a:r>
                <a:rPr lang="en-US" altLang="ko-KR" sz="700" dirty="0">
                  <a:latin typeface="+mn-ea"/>
                </a:rPr>
                <a:t>2026-02-19</a:t>
              </a: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grpSp>
        <p:nvGrpSpPr>
          <p:cNvPr id="91" name="그룹 90"/>
          <p:cNvGrpSpPr/>
          <p:nvPr/>
        </p:nvGrpSpPr>
        <p:grpSpPr>
          <a:xfrm>
            <a:off x="716366" y="4231117"/>
            <a:ext cx="2630093" cy="1815590"/>
            <a:chOff x="3791188" y="2611009"/>
            <a:chExt cx="2630093" cy="1815590"/>
          </a:xfrm>
        </p:grpSpPr>
        <p:sp>
          <p:nvSpPr>
            <p:cNvPr id="92" name="TextBox 91">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93" name="직사각형 92"/>
            <p:cNvSpPr/>
            <p:nvPr/>
          </p:nvSpPr>
          <p:spPr>
            <a:xfrm>
              <a:off x="3793281" y="2918495"/>
              <a:ext cx="792000" cy="15075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4" name="직선 연결선 93">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TextBox 94">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9" name="그룹 108"/>
          <p:cNvGrpSpPr/>
          <p:nvPr/>
        </p:nvGrpSpPr>
        <p:grpSpPr>
          <a:xfrm>
            <a:off x="3836701" y="2583230"/>
            <a:ext cx="2630093" cy="2031034"/>
            <a:chOff x="3791188" y="2611009"/>
            <a:chExt cx="2630093" cy="2031034"/>
          </a:xfrm>
        </p:grpSpPr>
        <p:sp>
          <p:nvSpPr>
            <p:cNvPr id="110" name="TextBox 109">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1" name="직사각형 110"/>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smtClean="0">
                  <a:latin typeface="+mn-ea"/>
                </a:rPr>
                <a:t>abc@abc.com</a:t>
              </a:r>
              <a:endParaRPr lang="en-US" altLang="ko-KR" sz="700" dirty="0">
                <a:latin typeface="+mn-ea"/>
              </a:endParaRP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TextBox 148">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716366" y="2583230"/>
            <a:ext cx="2630093" cy="1600147"/>
            <a:chOff x="-2016425" y="2681700"/>
            <a:chExt cx="2630093" cy="1600147"/>
          </a:xfrm>
        </p:grpSpPr>
        <p:sp>
          <p:nvSpPr>
            <p:cNvPr id="157" name="TextBox 156">
              <a:extLst>
                <a:ext uri="{FF2B5EF4-FFF2-40B4-BE49-F238E27FC236}">
                  <a16:creationId xmlns:a16="http://schemas.microsoft.com/office/drawing/2014/main" id="{FFC49AEA-2A8F-250C-A86A-A7751D9706C3}"/>
                </a:ext>
              </a:extLst>
            </p:cNvPr>
            <p:cNvSpPr txBox="1"/>
            <p:nvPr/>
          </p:nvSpPr>
          <p:spPr>
            <a:xfrm>
              <a:off x="-1955454" y="268170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9" name="직사각형 158"/>
            <p:cNvSpPr/>
            <p:nvPr/>
          </p:nvSpPr>
          <p:spPr>
            <a:xfrm>
              <a:off x="-2014332" y="2989186"/>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1927270" y="2989185"/>
              <a:ext cx="728979"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개찰일자</a:t>
              </a:r>
              <a:endParaRPr lang="ko-KR" altLang="en-US"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170420" y="2989185"/>
              <a:ext cx="1775839" cy="129266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p:txBody>
        </p:sp>
        <p:grpSp>
          <p:nvGrpSpPr>
            <p:cNvPr id="166" name="그룹 165"/>
            <p:cNvGrpSpPr/>
            <p:nvPr/>
          </p:nvGrpSpPr>
          <p:grpSpPr>
            <a:xfrm>
              <a:off x="-2016425" y="2989185"/>
              <a:ext cx="2630093" cy="1288440"/>
              <a:chOff x="701175" y="1835481"/>
              <a:chExt cx="2630093" cy="1288440"/>
            </a:xfrm>
          </p:grpSpPr>
          <p:cxnSp>
            <p:nvCxnSpPr>
              <p:cNvPr id="172" name="직선 연결선 17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0" name="TextBox 169">
              <a:extLst>
                <a:ext uri="{FF2B5EF4-FFF2-40B4-BE49-F238E27FC236}">
                  <a16:creationId xmlns:a16="http://schemas.microsoft.com/office/drawing/2014/main" id="{FFC49AEA-2A8F-250C-A86A-A7751D9706C3}"/>
                </a:ext>
              </a:extLst>
            </p:cNvPr>
            <p:cNvSpPr txBox="1"/>
            <p:nvPr/>
          </p:nvSpPr>
          <p:spPr>
            <a:xfrm>
              <a:off x="-1927270" y="384886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729303405"/>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496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a:solidFill>
                  <a:prstClr val="black"/>
                </a:solidFill>
              </a:rPr>
              <a:t>1. </a:t>
            </a:r>
            <a:r>
              <a:rPr lang="ko-KR" altLang="en-US" sz="1000" b="1">
                <a:solidFill>
                  <a:prstClr val="black"/>
                </a:solidFill>
              </a:rPr>
              <a:t>항목 설명 </a:t>
            </a:r>
            <a:r>
              <a:rPr lang="en-US" altLang="ko-KR" sz="1000" b="1">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a:solidFill>
                  <a:prstClr val="black"/>
                </a:solidFill>
              </a:rPr>
              <a:t>1.1. </a:t>
            </a:r>
            <a:r>
              <a:rPr lang="ko-KR" altLang="en-US" sz="900" b="1">
                <a:solidFill>
                  <a:prstClr val="black"/>
                </a:solidFill>
              </a:rPr>
              <a:t>공고일반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2691495"/>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9273148"/>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8908815"/>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541765"/>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2038175"/>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개찰일시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145801"/>
                  </a:ext>
                </a:extLst>
              </a:tr>
            </a:tbl>
          </a:graphicData>
        </a:graphic>
      </p:graphicFrame>
      <p:sp>
        <p:nvSpPr>
          <p:cNvPr id="2" name="Text Box 73">
            <a:extLst>
              <a:ext uri="{FF2B5EF4-FFF2-40B4-BE49-F238E27FC236}">
                <a16:creationId xmlns:a16="http://schemas.microsoft.com/office/drawing/2014/main" id="{BC4D4D2A-1822-51BA-39E9-C5D0F22DD9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D68F501D-B70F-F31D-D54D-85FA46FAA104}"/>
              </a:ext>
            </a:extLst>
          </p:cNvPr>
          <p:cNvSpPr txBox="1"/>
          <p:nvPr/>
        </p:nvSpPr>
        <p:spPr>
          <a:xfrm>
            <a:off x="458117" y="2964332"/>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AA5DB000-44F6-7049-9830-F1A341D4A9D1}"/>
              </a:ext>
            </a:extLst>
          </p:cNvPr>
          <p:cNvGraphicFramePr>
            <a:graphicFrameLocks noGrp="1"/>
          </p:cNvGraphicFramePr>
          <p:nvPr>
            <p:extLst/>
          </p:nvPr>
        </p:nvGraphicFramePr>
        <p:xfrm>
          <a:off x="452999" y="3175535"/>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a:solidFill>
                            <a:srgbClr val="000000"/>
                          </a:solidFill>
                          <a:effectLst/>
                          <a:latin typeface="+mn-ea"/>
                          <a:ea typeface="+mn-ea"/>
                        </a:rPr>
                        <a:t>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dirty="0">
                          <a:solidFill>
                            <a:srgbClr val="000000"/>
                          </a:solidFill>
                          <a:effectLst/>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a:solidFill>
                            <a:srgbClr val="000000"/>
                          </a:solidFill>
                          <a:effectLst/>
                          <a:latin typeface="+mn-ea"/>
                          <a:ea typeface="+mn-ea"/>
                        </a:rPr>
                        <a:t>시업자번호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사업자등록번호 또는 </a:t>
                      </a:r>
                      <a:r>
                        <a:rPr lang="en-US" altLang="ko-KR" sz="800" b="0" i="0" u="none" strike="noStrike">
                          <a:solidFill>
                            <a:srgbClr val="000000"/>
                          </a:solidFill>
                          <a:effectLst/>
                          <a:latin typeface="+mn-ea"/>
                          <a:ea typeface="+mn-ea"/>
                        </a:rPr>
                        <a:t>DUNSNUM</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a:solidFill>
                            <a:srgbClr val="000000"/>
                          </a:solidFill>
                          <a:effectLst/>
                          <a:latin typeface="+mn-ea"/>
                          <a:ea typeface="+mn-ea"/>
                        </a:rPr>
                        <a:t>팩스</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Tree>
    <p:extLst>
      <p:ext uri="{BB962C8B-B14F-4D97-AF65-F5344CB8AC3E}">
        <p14:creationId xmlns:p14="http://schemas.microsoft.com/office/powerpoint/2010/main" val="3007547627"/>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4B4A1045-46F0-1D1D-A586-BF9C3203A725}"/>
              </a:ext>
            </a:extLst>
          </p:cNvPr>
          <p:cNvSpPr txBox="1">
            <a:spLocks/>
          </p:cNvSpPr>
          <p:nvPr/>
        </p:nvSpPr>
        <p:spPr>
          <a:xfrm>
            <a:off x="4327200" y="6590501"/>
            <a:ext cx="1258128" cy="216000"/>
          </a:xfrm>
          <a:prstGeom prst="rect">
            <a:avLst/>
          </a:prstGeom>
        </p:spPr>
        <p:txBody>
          <a:bodyPr vert="horz" lIns="91440" tIns="45720" rIns="91440" bIns="45720" rtlCol="0" anchor="ctr"/>
          <a:lstStyle>
            <a:defPPr>
              <a:defRPr lang="ko-KR"/>
            </a:defPPr>
            <a:lvl1pPr marL="0" algn="ctr" defTabSz="914400" rtl="0" eaLnBrk="1" latinLnBrk="1" hangingPunct="1">
              <a:defRPr sz="10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9DF8E3FD-B4FB-473B-BCAD-C4534B9A9D97}" type="slidenum">
              <a:rPr lang="ko-KR" altLang="en-US" smtClean="0"/>
              <a:pPr/>
              <a:t>497</a:t>
            </a:fld>
            <a:endParaRPr lang="ko-KR" altLang="en-US" dirty="0"/>
          </a:p>
        </p:txBody>
      </p:sp>
      <p:sp>
        <p:nvSpPr>
          <p:cNvPr id="4" name="TextBox 3">
            <a:extLst>
              <a:ext uri="{FF2B5EF4-FFF2-40B4-BE49-F238E27FC236}">
                <a16:creationId xmlns:a16="http://schemas.microsoft.com/office/drawing/2014/main" id="{D08BF167-F639-9C0A-B763-78467E58807D}"/>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(2/2</a:t>
            </a:r>
            <a:r>
              <a:rPr lang="en-US" altLang="ko-KR" sz="1000" b="1" dirty="0">
                <a:solidFill>
                  <a:prstClr val="black"/>
                </a:solidFill>
              </a:rPr>
              <a:t>)</a:t>
            </a:r>
            <a:endParaRPr lang="ko-KR" altLang="en-US" sz="1000" b="1" dirty="0">
              <a:solidFill>
                <a:prstClr val="black"/>
              </a:solidFill>
            </a:endParaRPr>
          </a:p>
        </p:txBody>
      </p:sp>
      <p:sp>
        <p:nvSpPr>
          <p:cNvPr id="7" name="TextBox 6">
            <a:extLst>
              <a:ext uri="{FF2B5EF4-FFF2-40B4-BE49-F238E27FC236}">
                <a16:creationId xmlns:a16="http://schemas.microsoft.com/office/drawing/2014/main" id="{66917E2D-833E-D0F7-67A3-343B7671F0FE}"/>
              </a:ext>
            </a:extLst>
          </p:cNvPr>
          <p:cNvSpPr txBox="1"/>
          <p:nvPr/>
        </p:nvSpPr>
        <p:spPr>
          <a:xfrm>
            <a:off x="458117" y="802157"/>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입찰업체 데이터 영역 </a:t>
            </a:r>
            <a:r>
              <a:rPr lang="en-US" altLang="ko-KR" sz="900" b="1">
                <a:solidFill>
                  <a:prstClr val="black"/>
                </a:solidFill>
              </a:rPr>
              <a:t>(dm_splyInfo)</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58F0E4BB-634F-0539-DE1E-BFF7239092F4}"/>
              </a:ext>
            </a:extLst>
          </p:cNvPr>
          <p:cNvGraphicFramePr>
            <a:graphicFrameLocks noGrp="1"/>
          </p:cNvGraphicFramePr>
          <p:nvPr>
            <p:extLst/>
          </p:nvPr>
        </p:nvGraphicFramePr>
        <p:xfrm>
          <a:off x="452999" y="1013360"/>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splyBzentyCd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splyBzentyNm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dirty="0">
                          <a:solidFill>
                            <a:srgbClr val="000000"/>
                          </a:solidFill>
                          <a:effectLst/>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a:solidFill>
                            <a:srgbClr val="000000"/>
                          </a:solidFill>
                          <a:effectLst/>
                          <a:latin typeface="+mn-ea"/>
                          <a:ea typeface="+mn-ea"/>
                        </a:rPr>
                        <a:t>이메일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입찰업체</a:t>
                      </a:r>
                      <a:r>
                        <a:rPr lang="ko-KR" altLang="en-US" sz="800" b="0" i="0" u="none" strike="noStrike" dirty="0">
                          <a:solidFill>
                            <a:srgbClr val="000000"/>
                          </a:solidFill>
                          <a:effectLst/>
                          <a:latin typeface="+mn-ea"/>
                          <a:ea typeface="+mn-ea"/>
                        </a:rPr>
                        <a:t> 대표자 </a:t>
                      </a:r>
                      <a:r>
                        <a:rPr lang="ko-KR" altLang="en-US" sz="800" b="0" i="0" u="none" strike="noStrike" dirty="0" smtClean="0">
                          <a:solidFill>
                            <a:srgbClr val="000000"/>
                          </a:solidFill>
                          <a:effectLst/>
                          <a:latin typeface="+mn-ea"/>
                          <a:ea typeface="+mn-ea"/>
                        </a:rPr>
                        <a:t>이메일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1840538"/>
                  </a:ext>
                </a:extLst>
              </a:tr>
              <a:tr h="0">
                <a:tc>
                  <a:txBody>
                    <a:bodyPr/>
                    <a:lstStyle/>
                    <a:p>
                      <a:pPr algn="l" fontAlgn="ctr"/>
                      <a:r>
                        <a:rPr lang="ko-KR" altLang="en-US" sz="800" b="0" i="0" u="none" strike="noStrike" dirty="0">
                          <a:solidFill>
                            <a:srgbClr val="000000"/>
                          </a:solidFill>
                          <a:effectLst/>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dirty="0">
                          <a:solidFill>
                            <a:srgbClr val="000000"/>
                          </a:solidFill>
                          <a:effectLst/>
                          <a:latin typeface="+mn-ea"/>
                          <a:ea typeface="+mn-ea"/>
                        </a:rPr>
                        <a:t>시업자번호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dirty="0">
                          <a:solidFill>
                            <a:srgbClr val="000000"/>
                          </a:solidFill>
                          <a:effectLst/>
                          <a:latin typeface="+mn-ea"/>
                          <a:ea typeface="+mn-ea"/>
                        </a:rPr>
                        <a:t>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9" name="Text Box 73">
            <a:extLst>
              <a:ext uri="{FF2B5EF4-FFF2-40B4-BE49-F238E27FC236}">
                <a16:creationId xmlns:a16="http://schemas.microsoft.com/office/drawing/2014/main" id="{FDB94FB0-A796-6CBE-A555-D05F8AA2C6E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32AEBDAA-6E52-BB67-E659-9DD24CB93629}"/>
              </a:ext>
            </a:extLst>
          </p:cNvPr>
          <p:cNvSpPr txBox="1"/>
          <p:nvPr/>
        </p:nvSpPr>
        <p:spPr>
          <a:xfrm>
            <a:off x="458117" y="3106439"/>
            <a:ext cx="2243169"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등록결과 데이터 영역 </a:t>
            </a:r>
            <a:r>
              <a:rPr lang="en-US" altLang="ko-KR" sz="900" b="1">
                <a:solidFill>
                  <a:prstClr val="black"/>
                </a:solidFill>
              </a:rPr>
              <a:t>(dl_resultList)</a:t>
            </a:r>
            <a:endParaRPr lang="ko-KR" altLang="en-US" sz="900" b="1" dirty="0">
              <a:solidFill>
                <a:prstClr val="black"/>
              </a:solidFill>
            </a:endParaRPr>
          </a:p>
        </p:txBody>
      </p:sp>
      <p:graphicFrame>
        <p:nvGraphicFramePr>
          <p:cNvPr id="11" name="표 10">
            <a:extLst>
              <a:ext uri="{FF2B5EF4-FFF2-40B4-BE49-F238E27FC236}">
                <a16:creationId xmlns:a16="http://schemas.microsoft.com/office/drawing/2014/main" id="{1A9AC4A5-C661-7F31-B255-44DA50D2B0A4}"/>
              </a:ext>
            </a:extLst>
          </p:cNvPr>
          <p:cNvGraphicFramePr>
            <a:graphicFrameLocks noGrp="1"/>
          </p:cNvGraphicFramePr>
          <p:nvPr/>
        </p:nvGraphicFramePr>
        <p:xfrm>
          <a:off x="452999" y="3317642"/>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등록결과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등록결과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등록불가사유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등록불가사유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a:solidFill>
                            <a:srgbClr val="000000"/>
                          </a:solidFill>
                          <a:effectLst/>
                          <a:latin typeface="+mn-ea"/>
                          <a:ea typeface="+mn-ea"/>
                        </a:rPr>
                        <a:t>등록확정일자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등록확정일자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bl>
          </a:graphicData>
        </a:graphic>
      </p:graphicFrame>
    </p:spTree>
    <p:extLst>
      <p:ext uri="{BB962C8B-B14F-4D97-AF65-F5344CB8AC3E}">
        <p14:creationId xmlns:p14="http://schemas.microsoft.com/office/powerpoint/2010/main" val="922514060"/>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11A31DEB-7767-2B92-FE4C-FA157C28290E}"/>
              </a:ext>
            </a:extLst>
          </p:cNvPr>
          <p:cNvSpPr>
            <a:spLocks noGrp="1"/>
          </p:cNvSpPr>
          <p:nvPr>
            <p:ph type="sldNum" sz="quarter" idx="4"/>
          </p:nvPr>
        </p:nvSpPr>
        <p:spPr/>
        <p:txBody>
          <a:bodyPr/>
          <a:lstStyle/>
          <a:p>
            <a:fld id="{34C8E023-7346-48FC-AB24-9A3388C53208}" type="slidenum">
              <a:rPr lang="ko-KR" altLang="en-US" smtClean="0"/>
              <a:pPr/>
              <a:t>498</a:t>
            </a:fld>
            <a:endParaRPr lang="ko-KR" altLang="en-US" dirty="0"/>
          </a:p>
        </p:txBody>
      </p:sp>
      <p:sp>
        <p:nvSpPr>
          <p:cNvPr id="3" name="TextBox 2">
            <a:extLst>
              <a:ext uri="{FF2B5EF4-FFF2-40B4-BE49-F238E27FC236}">
                <a16:creationId xmlns:a16="http://schemas.microsoft.com/office/drawing/2014/main" id="{9CF7DA6E-2BA7-22C9-80ED-7DC19673C6BD}"/>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0E23908-20F6-EB17-9DC3-43EE5C2F8A17}"/>
              </a:ext>
            </a:extLst>
          </p:cNvPr>
          <p:cNvGraphicFramePr>
            <a:graphicFrameLocks noGrp="1"/>
          </p:cNvGraphicFramePr>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a:latin typeface="+mn-ea"/>
                          <a:ea typeface="+mn-ea"/>
                        </a:rPr>
                        <a:t>이벤트명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1C32AD44-1BCD-BB77-5C7E-C241CBF1750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716885037"/>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499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입찰취소신청서작성</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입찰취소신청서작성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&gt; </a:t>
            </a:r>
            <a:r>
              <a:rPr lang="ko-KR" altLang="en-US" dirty="0">
                <a:latin typeface="+mn-ea"/>
              </a:rPr>
              <a:t>입찰취소신청서작성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MUI-BD-06-P81</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입찰취소</a:t>
            </a:r>
            <a:r>
              <a:rPr lang="ko-KR" altLang="en-US" sz="900" dirty="0">
                <a:latin typeface="+mn-ea"/>
              </a:rPr>
              <a:t> 신청서</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입찰취소</a:t>
            </a:r>
            <a:r>
              <a:rPr lang="ko-KR" altLang="en-US" sz="900" dirty="0">
                <a:latin typeface="+mn-ea"/>
              </a:rPr>
              <a:t> 신청서</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1169259"/>
            <a:chOff x="701175" y="2592310"/>
            <a:chExt cx="2630093" cy="1169259"/>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취소신청내역</a:t>
              </a:r>
            </a:p>
          </p:txBody>
        </p:sp>
        <p:sp>
          <p:nvSpPr>
            <p:cNvPr id="82" name="직사각형 81"/>
            <p:cNvSpPr/>
            <p:nvPr/>
          </p:nvSpPr>
          <p:spPr>
            <a:xfrm>
              <a:off x="703268" y="2899796"/>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통합참조번호</a:t>
              </a:r>
            </a:p>
          </p:txBody>
        </p:sp>
        <p:grpSp>
          <p:nvGrpSpPr>
            <p:cNvPr id="85" name="그룹 84"/>
            <p:cNvGrpSpPr/>
            <p:nvPr/>
          </p:nvGrpSpPr>
          <p:grpSpPr>
            <a:xfrm>
              <a:off x="701175" y="2899795"/>
              <a:ext cx="2630093" cy="858960"/>
              <a:chOff x="701175" y="1835481"/>
              <a:chExt cx="2630093" cy="85896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BAD839380-001</a:t>
              </a:r>
            </a:p>
            <a:p>
              <a:pPr>
                <a:lnSpc>
                  <a:spcPct val="200000"/>
                </a:lnSpc>
              </a:pPr>
              <a:r>
                <a:rPr lang="en-US" altLang="ko-KR" sz="700" dirty="0">
                  <a:latin typeface="+mn-ea"/>
                </a:rPr>
                <a:t>BAD83990EFD</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05" name="그룹 104"/>
          <p:cNvGrpSpPr/>
          <p:nvPr/>
        </p:nvGrpSpPr>
        <p:grpSpPr>
          <a:xfrm>
            <a:off x="716366" y="3832747"/>
            <a:ext cx="2630093" cy="1184228"/>
            <a:chOff x="3791188" y="2611009"/>
            <a:chExt cx="2630093" cy="1184228"/>
          </a:xfrm>
        </p:grpSpPr>
        <p:sp>
          <p:nvSpPr>
            <p:cNvPr id="106" name="TextBox 10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08" name="직사각형 107"/>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142" name="그룹 141"/>
          <p:cNvGrpSpPr/>
          <p:nvPr/>
        </p:nvGrpSpPr>
        <p:grpSpPr>
          <a:xfrm>
            <a:off x="3836701" y="2592310"/>
            <a:ext cx="2630093" cy="1179712"/>
            <a:chOff x="3791188" y="2611009"/>
            <a:chExt cx="2630093" cy="1179712"/>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1279635" cy="181140"/>
            </a:xfrm>
            <a:prstGeom prst="rect">
              <a:avLst/>
            </a:prstGeom>
            <a:noFill/>
          </p:spPr>
          <p:txBody>
            <a:bodyPr wrap="square" lIns="0" tIns="0" rIns="0" bIns="0" rtlCol="0">
              <a:spAutoFit/>
            </a:bodyPr>
            <a:lstStyle/>
            <a:p>
              <a:pPr>
                <a:lnSpc>
                  <a:spcPct val="200000"/>
                </a:lnSpc>
              </a:pPr>
              <a:r>
                <a:rPr lang="ko-KR" altLang="en-US" sz="700" dirty="0">
                  <a:latin typeface="+mn-ea"/>
                </a:rPr>
                <a:t>취소 </a:t>
              </a:r>
              <a:r>
                <a:rPr lang="ko-KR" altLang="en-US" sz="700" dirty="0" err="1">
                  <a:latin typeface="+mn-ea"/>
                </a:rPr>
                <a:t>신청건</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45" name="직사각형 14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1015375183975</a:t>
              </a:r>
            </a:p>
            <a:p>
              <a:pPr>
                <a:lnSpc>
                  <a:spcPct val="200000"/>
                </a:lnSpc>
              </a:pPr>
              <a:r>
                <a:rPr lang="en-US" altLang="ko-KR" sz="700" dirty="0">
                  <a:solidFill>
                    <a:schemeClr val="tx1">
                      <a:lumMod val="85000"/>
                      <a:lumOff val="15000"/>
                    </a:schemeClr>
                  </a:solidFill>
                  <a:latin typeface="맑은 고딕" panose="020B0503020000020004" pitchFamily="50" charset="-127"/>
                  <a:cs typeface="Segoe UI" panose="020B0502040204020203" pitchFamily="34" charset="0"/>
                </a:rPr>
                <a:t>2A46MSB07</a:t>
              </a:r>
            </a:p>
            <a:p>
              <a:pPr>
                <a:lnSpc>
                  <a:spcPct val="200000"/>
                </a:lnSpc>
              </a:pPr>
              <a:r>
                <a:rPr lang="ko-KR" altLang="en-US" sz="700" dirty="0">
                  <a:solidFill>
                    <a:schemeClr val="tx1">
                      <a:lumMod val="85000"/>
                      <a:lumOff val="15000"/>
                    </a:schemeClr>
                  </a:solidFill>
                  <a:latin typeface="맑은 고딕" panose="020B0503020000020004" pitchFamily="50" charset="-127"/>
                  <a:cs typeface="Segoe UI" panose="020B0502040204020203" pitchFamily="34" charset="0"/>
                </a:rPr>
                <a:t>품명 표시</a:t>
              </a:r>
              <a:endParaRPr lang="en-US" altLang="ko-KR" sz="700" dirty="0">
                <a:latin typeface="+mn-ea"/>
              </a:endParaRP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9" name="모서리가 둥근 직사각형 218"/>
          <p:cNvSpPr/>
          <p:nvPr/>
        </p:nvSpPr>
        <p:spPr>
          <a:xfrm>
            <a:off x="3859820" y="4890313"/>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3997244" y="5053398"/>
            <a:ext cx="2305144" cy="661720"/>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청에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방위사업청장 귀하</a:t>
            </a:r>
            <a:endParaRPr lang="en-US" altLang="ko-KR" sz="700" dirty="0">
              <a:latin typeface="맑은 고딕" panose="020B0503020000020004" pitchFamily="50" charset="-127"/>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5401" y="41057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7494" y="47969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직사각형 213"/>
          <p:cNvSpPr/>
          <p:nvPr/>
        </p:nvSpPr>
        <p:spPr>
          <a:xfrm>
            <a:off x="3835401" y="4105760"/>
            <a:ext cx="2621844" cy="6137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4557" y="4106633"/>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859820" y="3849095"/>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3655647" y="389862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55647" y="572508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13" name="그룹 112"/>
          <p:cNvGrpSpPr/>
          <p:nvPr/>
        </p:nvGrpSpPr>
        <p:grpSpPr>
          <a:xfrm>
            <a:off x="716366" y="5040019"/>
            <a:ext cx="2630093" cy="1184228"/>
            <a:chOff x="3791188" y="2611009"/>
            <a:chExt cx="2630093" cy="1184228"/>
          </a:xfrm>
        </p:grpSpPr>
        <p:sp>
          <p:nvSpPr>
            <p:cNvPr id="114" name="TextBox 113">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5" name="직사각형 11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128" name="그룹 127">
            <a:extLst>
              <a:ext uri="{FF2B5EF4-FFF2-40B4-BE49-F238E27FC236}">
                <a16:creationId xmlns:a16="http://schemas.microsoft.com/office/drawing/2014/main" id="{22BC05EE-C648-7CA2-4CCC-6E1C1A7E9BDA}"/>
              </a:ext>
            </a:extLst>
          </p:cNvPr>
          <p:cNvGrpSpPr/>
          <p:nvPr/>
        </p:nvGrpSpPr>
        <p:grpSpPr>
          <a:xfrm>
            <a:off x="5113316" y="3786104"/>
            <a:ext cx="76863" cy="292489"/>
            <a:chOff x="3750067" y="4683795"/>
            <a:chExt cx="76863" cy="292489"/>
          </a:xfrm>
        </p:grpSpPr>
        <p:sp>
          <p:nvSpPr>
            <p:cNvPr id="129" name="타원 128">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1" name="타원 13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2" name="타원 13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Tree>
    <p:extLst>
      <p:ext uri="{BB962C8B-B14F-4D97-AF65-F5344CB8AC3E}">
        <p14:creationId xmlns:p14="http://schemas.microsoft.com/office/powerpoint/2010/main" val="2296764753"/>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500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2999" y="576522"/>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6598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취소신청내역 데이터 </a:t>
            </a:r>
            <a:r>
              <a:rPr lang="ko-KR" altLang="en-US" sz="900" b="1">
                <a:solidFill>
                  <a:prstClr val="black"/>
                </a:solidFill>
              </a:rPr>
              <a:t>영역 </a:t>
            </a:r>
            <a:r>
              <a:rPr lang="en-US" altLang="ko-KR" sz="900" b="1">
                <a:solidFill>
                  <a:prstClr val="black"/>
                </a:solidFill>
              </a:rPr>
              <a:t>(dl_resultInfo)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4905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3727826"/>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4561915"/>
                  </a:ext>
                </a:extLst>
              </a:tr>
              <a:tr h="0">
                <a:tc>
                  <a:txBody>
                    <a:bodyPr/>
                    <a:lstStyle/>
                    <a:p>
                      <a:pPr algn="l" fontAlgn="ctr"/>
                      <a:r>
                        <a:rPr lang="ko-KR" altLang="en-US" sz="800" b="0" i="0" u="none" strike="noStrike" dirty="0">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9609735"/>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6966361"/>
                  </a:ext>
                </a:extLst>
              </a:tr>
              <a:tr h="0">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8688069"/>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0879488"/>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6942432"/>
                  </a:ext>
                </a:extLst>
              </a:tr>
              <a:tr h="0">
                <a:tc>
                  <a:txBody>
                    <a:bodyPr/>
                    <a:lstStyle/>
                    <a:p>
                      <a:pPr algn="l" fontAlgn="ctr"/>
                      <a:r>
                        <a:rPr lang="ko-KR" altLang="en-US" sz="800" b="0" i="0" u="none" strike="noStrike" dirty="0">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202406"/>
                  </a:ext>
                </a:extLst>
              </a:tr>
              <a:tr h="0">
                <a:tc>
                  <a:txBody>
                    <a:bodyPr/>
                    <a:lstStyle/>
                    <a:p>
                      <a:pPr algn="l" fontAlgn="ctr"/>
                      <a:r>
                        <a:rPr lang="ko-KR" altLang="en-US" sz="800" b="0" i="0" u="none" strike="noStrike">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7101673"/>
                  </a:ext>
                </a:extLst>
              </a:tr>
              <a:tr h="0">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8711047"/>
                  </a:ext>
                </a:extLst>
              </a:tr>
              <a:tr h="0">
                <a:tc>
                  <a:txBody>
                    <a:bodyPr/>
                    <a:lstStyle/>
                    <a:p>
                      <a:pPr algn="l" fontAlgn="ctr"/>
                      <a:r>
                        <a:rPr lang="ko-KR" altLang="en-US" sz="800" b="0" i="0" u="none" strike="noStrike">
                          <a:solidFill>
                            <a:srgbClr val="000000"/>
                          </a:solidFill>
                          <a:effectLst/>
                          <a:latin typeface="+mn-ea"/>
                          <a:ea typeface="+mn-ea"/>
                        </a:rPr>
                        <a:t>입찰업체 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4994190"/>
                  </a:ext>
                </a:extLst>
              </a:tr>
              <a:tr h="0">
                <a:tc>
                  <a:txBody>
                    <a:bodyPr/>
                    <a:lstStyle/>
                    <a:p>
                      <a:pPr algn="l" fontAlgn="ctr"/>
                      <a:r>
                        <a:rPr lang="ko-KR" altLang="en-US" sz="800" b="0" i="0" u="none" strike="noStrike">
                          <a:solidFill>
                            <a:srgbClr val="000000"/>
                          </a:solidFill>
                          <a:effectLst/>
                          <a:latin typeface="+mn-ea"/>
                          <a:ea typeface="+mn-ea"/>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6104340"/>
                  </a:ext>
                </a:extLst>
              </a:tr>
              <a:tr h="0">
                <a:tc>
                  <a:txBody>
                    <a:bodyPr/>
                    <a:lstStyle/>
                    <a:p>
                      <a:pPr algn="l" fontAlgn="ctr"/>
                      <a:r>
                        <a:rPr lang="ko-KR" altLang="en-US" sz="800" b="0" i="0" u="none" strike="noStrike">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취소신청건의 품목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9316380"/>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취소신청건의 품목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9176376"/>
                  </a:ext>
                </a:extLst>
              </a:tr>
              <a:tr h="0">
                <a:tc>
                  <a:txBody>
                    <a:bodyPr/>
                    <a:lstStyle/>
                    <a:p>
                      <a:pPr algn="l" fontAlgn="ctr"/>
                      <a:r>
                        <a:rPr lang="ko-KR" altLang="en-US" sz="800" b="0" i="0" u="none" strike="noStrike" dirty="0">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취소신청건의 품목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취소신청건의 품목 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Box 1">
            <a:extLst>
              <a:ext uri="{FF2B5EF4-FFF2-40B4-BE49-F238E27FC236}">
                <a16:creationId xmlns:a16="http://schemas.microsoft.com/office/drawing/2014/main" id="{F0BBC3CC-4D13-297D-D7EA-92D6015D35F4}"/>
              </a:ext>
            </a:extLst>
          </p:cNvPr>
          <p:cNvSpPr txBox="1"/>
          <p:nvPr/>
        </p:nvSpPr>
        <p:spPr>
          <a:xfrm>
            <a:off x="458117" y="5393770"/>
            <a:ext cx="228003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a:t>
            </a:r>
            <a:r>
              <a:rPr lang="ko-KR" altLang="en-US" sz="900" b="1">
                <a:solidFill>
                  <a:prstClr val="black"/>
                </a:solidFill>
              </a:rPr>
              <a:t>영역 </a:t>
            </a:r>
            <a:r>
              <a:rPr lang="en-US" altLang="ko-KR" sz="900" b="1">
                <a:solidFill>
                  <a:prstClr val="black"/>
                </a:solidFill>
              </a:rPr>
              <a:t>(dl_sbmsnInfo)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D1EA2A2B-59C1-89BB-53C6-2191652642C5}"/>
              </a:ext>
            </a:extLst>
          </p:cNvPr>
          <p:cNvGraphicFramePr>
            <a:graphicFrameLocks noGrp="1"/>
          </p:cNvGraphicFramePr>
          <p:nvPr/>
        </p:nvGraphicFramePr>
        <p:xfrm>
          <a:off x="452999" y="5604973"/>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 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4" name="Text Box 73">
            <a:extLst>
              <a:ext uri="{FF2B5EF4-FFF2-40B4-BE49-F238E27FC236}">
                <a16:creationId xmlns:a16="http://schemas.microsoft.com/office/drawing/2014/main" id="{11211737-99CA-DABB-C3A8-C6A77F61DD2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7972597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501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0DB94E96-F279-C1D0-427D-FF5F0AE1FFC1}"/>
              </a:ext>
            </a:extLst>
          </p:cNvPr>
          <p:cNvGraphicFramePr>
            <a:graphicFrameLocks noGrp="1"/>
          </p:cNvGraphicFramePr>
          <p:nvPr>
            <p:extLst>
              <p:ext uri="{D42A27DB-BD31-4B8C-83A1-F6EECF244321}">
                <p14:modId xmlns:p14="http://schemas.microsoft.com/office/powerpoint/2010/main" val="3285937127"/>
              </p:ext>
            </p:extLst>
          </p:nvPr>
        </p:nvGraphicFramePr>
        <p:xfrm>
          <a:off x="455204" y="79954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 및 신청업체</a:t>
                      </a:r>
                      <a:r>
                        <a:rPr lang="en-US" altLang="ko-KR" sz="800">
                          <a:latin typeface="+mn-ea"/>
                          <a:ea typeface="+mn-ea"/>
                        </a:rPr>
                        <a:t>, </a:t>
                      </a:r>
                      <a:r>
                        <a:rPr lang="ko-KR" altLang="en-US" sz="800">
                          <a:latin typeface="+mn-ea"/>
                          <a:ea typeface="+mn-ea"/>
                        </a:rPr>
                        <a:t>입찰업체 정보 표시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smtClean="0"/>
                        <a:t>신청 </a:t>
                      </a:r>
                      <a:r>
                        <a:rPr lang="ko-KR" altLang="en-US" sz="800" dirty="0"/>
                        <a:t>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취소신청서를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err="1">
                          <a:latin typeface="+mn-ea"/>
                          <a:ea typeface="+mn-ea"/>
                        </a:rPr>
                        <a:t>투찰취소신청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39605859"/>
                  </a:ext>
                </a:extLst>
              </a:tr>
            </a:tbl>
          </a:graphicData>
        </a:graphic>
      </p:graphicFrame>
      <p:sp>
        <p:nvSpPr>
          <p:cNvPr id="2" name="Text Box 73">
            <a:extLst>
              <a:ext uri="{FF2B5EF4-FFF2-40B4-BE49-F238E27FC236}">
                <a16:creationId xmlns:a16="http://schemas.microsoft.com/office/drawing/2014/main" id="{0DA3C2B3-73A2-F5C6-1A06-468BBD1823C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501094299"/>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502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기술평가결과조회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기술평가결과조회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&gt; </a:t>
            </a:r>
            <a:r>
              <a:rPr lang="ko-KR" altLang="en-US" dirty="0">
                <a:latin typeface="+mn-ea"/>
              </a:rPr>
              <a:t>기술평가결과조회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MUI-BD-07-P71</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42" name="그룹 141"/>
          <p:cNvGrpSpPr/>
          <p:nvPr/>
        </p:nvGrpSpPr>
        <p:grpSpPr>
          <a:xfrm>
            <a:off x="3836701" y="4661567"/>
            <a:ext cx="2630093" cy="966004"/>
            <a:chOff x="3791188" y="2611009"/>
            <a:chExt cx="2630093" cy="966004"/>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1279635" cy="181140"/>
            </a:xfrm>
            <a:prstGeom prst="rect">
              <a:avLst/>
            </a:prstGeom>
            <a:noFill/>
          </p:spPr>
          <p:txBody>
            <a:bodyPr wrap="square" lIns="0" tIns="0" rIns="0" bIns="0" rtlCol="0">
              <a:spAutoFit/>
            </a:bodyPr>
            <a:lstStyle/>
            <a:p>
              <a:pPr>
                <a:lnSpc>
                  <a:spcPct val="200000"/>
                </a:lnSpc>
              </a:pPr>
              <a:r>
                <a:rPr lang="ko-KR" altLang="en-US" sz="700" dirty="0">
                  <a:latin typeface="+mn-ea"/>
                </a:rPr>
                <a:t>평가결과</a:t>
              </a:r>
            </a:p>
          </p:txBody>
        </p:sp>
        <p:sp>
          <p:nvSpPr>
            <p:cNvPr id="145" name="직사각형 144"/>
            <p:cNvSpPr/>
            <p:nvPr/>
          </p:nvSpPr>
          <p:spPr>
            <a:xfrm>
              <a:off x="3793281" y="2918495"/>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a:latin typeface="+mn-ea"/>
                </a:rPr>
                <a:t>참여 </a:t>
              </a:r>
              <a:r>
                <a:rPr lang="ko-KR" altLang="en-US" sz="700" dirty="0" err="1">
                  <a:latin typeface="+mn-ea"/>
                </a:rPr>
                <a:t>품목수</a:t>
              </a:r>
              <a:endParaRPr lang="en-US" altLang="ko-KR" sz="700" dirty="0">
                <a:latin typeface="+mn-ea"/>
              </a:endParaRPr>
            </a:p>
            <a:p>
              <a:pPr>
                <a:lnSpc>
                  <a:spcPct val="200000"/>
                </a:lnSpc>
              </a:pPr>
              <a:r>
                <a:rPr lang="ko-KR" altLang="en-US" sz="700" dirty="0">
                  <a:latin typeface="+mn-ea"/>
                </a:rPr>
                <a:t>기술평가점수</a:t>
              </a:r>
              <a:endParaRPr lang="en-US" altLang="ko-KR" sz="700" dirty="0">
                <a:latin typeface="+mn-ea"/>
              </a:endParaRPr>
            </a:p>
            <a:p>
              <a:pPr>
                <a:lnSpc>
                  <a:spcPct val="200000"/>
                </a:lnSpc>
              </a:pPr>
              <a:r>
                <a:rPr lang="ko-KR" altLang="en-US" sz="700" dirty="0">
                  <a:latin typeface="+mn-ea"/>
                </a:rPr>
                <a:t>기술평과결과</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646331"/>
            </a:xfrm>
            <a:prstGeom prst="rect">
              <a:avLst/>
            </a:prstGeom>
            <a:noFill/>
          </p:spPr>
          <p:txBody>
            <a:bodyPr wrap="square" lIns="0" tIns="0" rIns="0" bIns="0" rtlCol="0">
              <a:spAutoFit/>
            </a:bodyPr>
            <a:lstStyle/>
            <a:p>
              <a:pPr>
                <a:lnSpc>
                  <a:spcPct val="200000"/>
                </a:lnSpc>
              </a:pPr>
              <a:r>
                <a:rPr lang="en-US" altLang="ko-KR" sz="700" dirty="0">
                  <a:latin typeface="+mn-ea"/>
                </a:rPr>
                <a:t>1 </a:t>
              </a:r>
              <a:r>
                <a:rPr lang="ko-KR" altLang="en-US" sz="700" dirty="0">
                  <a:latin typeface="+mn-ea"/>
                </a:rPr>
                <a:t>건</a:t>
              </a:r>
              <a:endParaRPr lang="en-US" altLang="ko-KR" sz="700" dirty="0">
                <a:latin typeface="+mn-ea"/>
              </a:endParaRPr>
            </a:p>
            <a:p>
              <a:pPr>
                <a:lnSpc>
                  <a:spcPct val="200000"/>
                </a:lnSpc>
              </a:pPr>
              <a:r>
                <a:rPr lang="en-US" altLang="ko-KR" sz="700" dirty="0">
                  <a:latin typeface="+mn-ea"/>
                </a:rPr>
                <a:t>77.3</a:t>
              </a:r>
            </a:p>
            <a:p>
              <a:pPr>
                <a:lnSpc>
                  <a:spcPct val="200000"/>
                </a:lnSpc>
              </a:pPr>
              <a:r>
                <a:rPr lang="ko-KR" altLang="en-US" sz="700" dirty="0">
                  <a:latin typeface="+mn-ea"/>
                </a:rPr>
                <a:t>합격</a:t>
              </a:r>
              <a:endParaRPr lang="en-US" altLang="ko-KR" sz="700" dirty="0">
                <a:latin typeface="+mn-ea"/>
              </a:endParaRP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grpSp>
        <p:nvGrpSpPr>
          <p:cNvPr id="91" name="그룹 90"/>
          <p:cNvGrpSpPr/>
          <p:nvPr/>
        </p:nvGrpSpPr>
        <p:grpSpPr>
          <a:xfrm>
            <a:off x="716366" y="4231117"/>
            <a:ext cx="2630093" cy="1815590"/>
            <a:chOff x="3791188" y="2611009"/>
            <a:chExt cx="2630093" cy="1815590"/>
          </a:xfrm>
        </p:grpSpPr>
        <p:sp>
          <p:nvSpPr>
            <p:cNvPr id="92" name="TextBox 91">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93" name="직사각형 92"/>
            <p:cNvSpPr/>
            <p:nvPr/>
          </p:nvSpPr>
          <p:spPr>
            <a:xfrm>
              <a:off x="3793281" y="2918495"/>
              <a:ext cx="792000" cy="15075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4" name="직선 연결선 93">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TextBox 94">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9" name="그룹 108"/>
          <p:cNvGrpSpPr/>
          <p:nvPr/>
        </p:nvGrpSpPr>
        <p:grpSpPr>
          <a:xfrm>
            <a:off x="3836701" y="2583230"/>
            <a:ext cx="2630093" cy="2031034"/>
            <a:chOff x="3791188" y="2611009"/>
            <a:chExt cx="2630093" cy="2031034"/>
          </a:xfrm>
        </p:grpSpPr>
        <p:sp>
          <p:nvSpPr>
            <p:cNvPr id="110" name="TextBox 109">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1" name="직사각형 110"/>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abcde@abc.com</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TextBox 148">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716366" y="2583230"/>
            <a:ext cx="2630093" cy="1600147"/>
            <a:chOff x="-2016425" y="2681700"/>
            <a:chExt cx="2630093" cy="1600147"/>
          </a:xfrm>
        </p:grpSpPr>
        <p:sp>
          <p:nvSpPr>
            <p:cNvPr id="157" name="TextBox 156">
              <a:extLst>
                <a:ext uri="{FF2B5EF4-FFF2-40B4-BE49-F238E27FC236}">
                  <a16:creationId xmlns:a16="http://schemas.microsoft.com/office/drawing/2014/main" id="{FFC49AEA-2A8F-250C-A86A-A7751D9706C3}"/>
                </a:ext>
              </a:extLst>
            </p:cNvPr>
            <p:cNvSpPr txBox="1"/>
            <p:nvPr/>
          </p:nvSpPr>
          <p:spPr>
            <a:xfrm>
              <a:off x="-1955454" y="268170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9" name="직사각형 158"/>
            <p:cNvSpPr/>
            <p:nvPr/>
          </p:nvSpPr>
          <p:spPr>
            <a:xfrm>
              <a:off x="-2014332" y="2989186"/>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1927270" y="2989185"/>
              <a:ext cx="728979"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개찰일자</a:t>
              </a:r>
              <a:endParaRPr lang="ko-KR" altLang="en-US"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170420" y="2989185"/>
              <a:ext cx="1775839" cy="129266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p:txBody>
        </p:sp>
        <p:grpSp>
          <p:nvGrpSpPr>
            <p:cNvPr id="166" name="그룹 165"/>
            <p:cNvGrpSpPr/>
            <p:nvPr/>
          </p:nvGrpSpPr>
          <p:grpSpPr>
            <a:xfrm>
              <a:off x="-2016425" y="2989185"/>
              <a:ext cx="2630093" cy="1288440"/>
              <a:chOff x="701175" y="1835481"/>
              <a:chExt cx="2630093" cy="1288440"/>
            </a:xfrm>
          </p:grpSpPr>
          <p:cxnSp>
            <p:nvCxnSpPr>
              <p:cNvPr id="172" name="직선 연결선 17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0" name="TextBox 169">
              <a:extLst>
                <a:ext uri="{FF2B5EF4-FFF2-40B4-BE49-F238E27FC236}">
                  <a16:creationId xmlns:a16="http://schemas.microsoft.com/office/drawing/2014/main" id="{FFC49AEA-2A8F-250C-A86A-A7751D9706C3}"/>
                </a:ext>
              </a:extLst>
            </p:cNvPr>
            <p:cNvSpPr txBox="1"/>
            <p:nvPr/>
          </p:nvSpPr>
          <p:spPr>
            <a:xfrm>
              <a:off x="-1927270" y="384886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2" name="그룹 81"/>
          <p:cNvGrpSpPr/>
          <p:nvPr/>
        </p:nvGrpSpPr>
        <p:grpSpPr>
          <a:xfrm>
            <a:off x="8223250" y="569392"/>
            <a:ext cx="3365500" cy="634511"/>
            <a:chOff x="8223250" y="569392"/>
            <a:chExt cx="3365500" cy="634511"/>
          </a:xfrm>
        </p:grpSpPr>
        <p:sp>
          <p:nvSpPr>
            <p:cNvPr id="84" name="직사각형 8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85" name="직사각형 84"/>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3561060288"/>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503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dm_bscPbancInfo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6684623"/>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1099610"/>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80256742"/>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5715968"/>
                  </a:ext>
                </a:extLst>
              </a:tr>
              <a:tr h="0">
                <a:tc>
                  <a:txBody>
                    <a:bodyPr/>
                    <a:lstStyle/>
                    <a:p>
                      <a:pPr algn="l" fontAlgn="ctr"/>
                      <a:r>
                        <a:rPr lang="ko-KR" altLang="en-US" sz="800" b="0" i="0" u="none" strike="noStrike" dirty="0">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8577761"/>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8447953"/>
                  </a:ext>
                </a:extLst>
              </a:tr>
            </a:tbl>
          </a:graphicData>
        </a:graphic>
      </p:graphicFrame>
      <p:sp>
        <p:nvSpPr>
          <p:cNvPr id="2" name="TextBox 1">
            <a:extLst>
              <a:ext uri="{FF2B5EF4-FFF2-40B4-BE49-F238E27FC236}">
                <a16:creationId xmlns:a16="http://schemas.microsoft.com/office/drawing/2014/main" id="{DAD16FEC-7D25-9461-A9BD-1D17ABA59B5C}"/>
              </a:ext>
            </a:extLst>
          </p:cNvPr>
          <p:cNvSpPr txBox="1"/>
          <p:nvPr/>
        </p:nvSpPr>
        <p:spPr>
          <a:xfrm>
            <a:off x="458117" y="3355907"/>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85CE7719-1ECA-40F2-D468-F0E6FA62F8E9}"/>
              </a:ext>
            </a:extLst>
          </p:cNvPr>
          <p:cNvGraphicFramePr>
            <a:graphicFrameLocks noGrp="1"/>
          </p:cNvGraphicFramePr>
          <p:nvPr>
            <p:extLst/>
          </p:nvPr>
        </p:nvGraphicFramePr>
        <p:xfrm>
          <a:off x="452999" y="3567110"/>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1734577"/>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6391048"/>
                  </a:ext>
                </a:extLst>
              </a:tr>
              <a:tr h="0">
                <a:tc>
                  <a:txBody>
                    <a:bodyPr/>
                    <a:lstStyle/>
                    <a:p>
                      <a:pPr algn="l" fontAlgn="ctr"/>
                      <a:r>
                        <a:rPr lang="ko-KR" altLang="en-US" sz="800" b="0" i="0" u="none" strike="noStrike" dirty="0">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4715961"/>
                  </a:ext>
                </a:extLst>
              </a:tr>
              <a:tr h="0">
                <a:tc>
                  <a:txBody>
                    <a:bodyPr/>
                    <a:lstStyle/>
                    <a:p>
                      <a:pPr algn="l" fontAlgn="ctr"/>
                      <a:r>
                        <a:rPr lang="ko-KR" altLang="en-US" sz="800" b="0" i="0" u="none" strike="noStrike">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2583604"/>
                  </a:ext>
                </a:extLst>
              </a:tr>
              <a:tr h="0">
                <a:tc>
                  <a:txBody>
                    <a:bodyPr/>
                    <a:lstStyle/>
                    <a:p>
                      <a:pPr algn="l" fontAlgn="ctr"/>
                      <a:r>
                        <a:rPr lang="ko-KR" altLang="en-US" sz="800" b="0" i="0" u="none" strike="noStrike">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F3173C2B-B636-75FC-7909-6BC1D7479EC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0125370"/>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504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3717763"/>
            <a:ext cx="2235155"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dirty="0">
                <a:solidFill>
                  <a:prstClr val="black"/>
                </a:solidFill>
              </a:rPr>
              <a:t>평가결과 데이터 </a:t>
            </a:r>
            <a:r>
              <a:rPr lang="ko-KR" altLang="en-US" sz="900" b="1">
                <a:solidFill>
                  <a:prstClr val="black"/>
                </a:solidFill>
              </a:rPr>
              <a:t>영역 </a:t>
            </a:r>
            <a:r>
              <a:rPr lang="en-US" altLang="ko-KR" sz="900" b="1">
                <a:solidFill>
                  <a:prstClr val="black"/>
                </a:solidFill>
              </a:rPr>
              <a:t>(dl_resultInfo)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392896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참여품목수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prtcpItemQty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입찰참가신청한 </a:t>
                      </a:r>
                      <a:r>
                        <a:rPr lang="ko-KR" altLang="en-US" sz="800" b="0" i="0" u="none" strike="noStrike" dirty="0" err="1">
                          <a:solidFill>
                            <a:srgbClr val="000000"/>
                          </a:solidFill>
                          <a:effectLst/>
                          <a:latin typeface="+mn-ea"/>
                          <a:ea typeface="+mn-ea"/>
                        </a:rPr>
                        <a:t>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2454789"/>
                  </a:ext>
                </a:extLst>
              </a:tr>
              <a:tr h="0">
                <a:tc>
                  <a:txBody>
                    <a:bodyPr/>
                    <a:lstStyle/>
                    <a:p>
                      <a:pPr algn="l" fontAlgn="ctr"/>
                      <a:r>
                        <a:rPr lang="ko-KR" altLang="en-US" sz="800" b="0" i="0" u="none" strike="noStrike" dirty="0">
                          <a:solidFill>
                            <a:srgbClr val="000000"/>
                          </a:solidFill>
                          <a:effectLst/>
                          <a:latin typeface="+mn-ea"/>
                          <a:ea typeface="+mn-ea"/>
                        </a:rPr>
                        <a:t>기술평가결과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techEvlRslt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입찰참가등록심사 </a:t>
                      </a:r>
                      <a:r>
                        <a:rPr lang="ko-KR" altLang="en-US" sz="800" b="0" i="0" u="none" strike="noStrike" dirty="0" err="1">
                          <a:solidFill>
                            <a:srgbClr val="000000"/>
                          </a:solidFill>
                          <a:effectLst/>
                          <a:latin typeface="+mn-ea"/>
                          <a:ea typeface="+mn-ea"/>
                        </a:rPr>
                        <a:t>반려사유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6" name="Text Box 73">
            <a:extLst>
              <a:ext uri="{FF2B5EF4-FFF2-40B4-BE49-F238E27FC236}">
                <a16:creationId xmlns:a16="http://schemas.microsoft.com/office/drawing/2014/main" id="{4E7D816A-5161-B4E7-F1FB-2E40D8BBD40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3A1B9097-B564-E1C7-F98C-30B008D9CD82}"/>
              </a:ext>
            </a:extLst>
          </p:cNvPr>
          <p:cNvSpPr txBox="1"/>
          <p:nvPr/>
        </p:nvSpPr>
        <p:spPr>
          <a:xfrm>
            <a:off x="458117" y="803113"/>
            <a:ext cx="22191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DE650B0E-C631-3C6F-9BFA-F4D2987B1B88}"/>
              </a:ext>
            </a:extLst>
          </p:cNvPr>
          <p:cNvGraphicFramePr>
            <a:graphicFrameLocks noGrp="1"/>
          </p:cNvGraphicFramePr>
          <p:nvPr/>
        </p:nvGraphicFramePr>
        <p:xfrm>
          <a:off x="452999" y="101431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42901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646879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731729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85475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04576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Tree>
    <p:extLst>
      <p:ext uri="{BB962C8B-B14F-4D97-AF65-F5344CB8AC3E}">
        <p14:creationId xmlns:p14="http://schemas.microsoft.com/office/powerpoint/2010/main" val="164368070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66C72FC8-5D61-438A-12CC-220C9991D1B5}"/>
              </a:ext>
            </a:extLst>
          </p:cNvPr>
          <p:cNvSpPr>
            <a:spLocks noGrp="1"/>
          </p:cNvSpPr>
          <p:nvPr>
            <p:ph type="sldNum" sz="quarter" idx="4"/>
          </p:nvPr>
        </p:nvSpPr>
        <p:spPr/>
        <p:txBody>
          <a:bodyPr/>
          <a:lstStyle/>
          <a:p>
            <a:fld id="{34C8E023-7346-48FC-AB24-9A3388C53208}" type="slidenum">
              <a:rPr lang="ko-KR" altLang="en-US" smtClean="0"/>
              <a:pPr/>
              <a:t>505</a:t>
            </a:fld>
            <a:endParaRPr lang="ko-KR" altLang="en-US" dirty="0"/>
          </a:p>
        </p:txBody>
      </p:sp>
      <p:sp>
        <p:nvSpPr>
          <p:cNvPr id="3" name="TextBox 2">
            <a:extLst>
              <a:ext uri="{FF2B5EF4-FFF2-40B4-BE49-F238E27FC236}">
                <a16:creationId xmlns:a16="http://schemas.microsoft.com/office/drawing/2014/main" id="{D38B8307-DF34-E6D2-E525-929008B1F8E1}"/>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83041B98-E042-1BC8-2EC5-CC5BF413D70F}"/>
              </a:ext>
            </a:extLst>
          </p:cNvPr>
          <p:cNvGraphicFramePr>
            <a:graphicFrameLocks noGrp="1"/>
          </p:cNvGraphicFramePr>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입찰참가신청 정보 </a:t>
                      </a:r>
                      <a:r>
                        <a:rPr lang="ko-KR" altLang="en-US" sz="800">
                          <a:latin typeface="+mn-ea"/>
                          <a:ea typeface="+mn-ea"/>
                        </a:rPr>
                        <a:t>및 평가결과 </a:t>
                      </a:r>
                      <a:r>
                        <a:rPr lang="ko-KR" altLang="en-US" sz="800" dirty="0">
                          <a:latin typeface="+mn-ea"/>
                          <a:ea typeface="+mn-ea"/>
                        </a:rPr>
                        <a:t>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5725" indent="-85725" algn="l" latinLnBrk="1">
                        <a:buFont typeface="Arial" panose="020B0604020202020204" pitchFamily="34" charset="0"/>
                        <a:buChar char="•"/>
                      </a:pPr>
                      <a:r>
                        <a:rPr lang="ko-KR" altLang="en-US" sz="800" dirty="0">
                          <a:latin typeface="+mn-ea"/>
                          <a:ea typeface="+mn-ea"/>
                        </a:rPr>
                        <a:t>기술평가결과조회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D59FFB1E-0D9D-A528-F9CA-6F306A5316A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00558082"/>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군수품</a:t>
            </a:r>
            <a:r>
              <a:rPr lang="en-US" altLang="ko-KR" dirty="0"/>
              <a:t> </a:t>
            </a:r>
            <a:r>
              <a:rPr lang="ko-KR" altLang="en-US" dirty="0"/>
              <a:t>정보 </a:t>
            </a:r>
            <a:r>
              <a:rPr lang="en-US" altLang="ko-KR" dirty="0"/>
              <a:t>NIIN</a:t>
            </a:r>
            <a:br>
              <a:rPr lang="en-US" altLang="ko-KR" dirty="0"/>
            </a:br>
            <a:r>
              <a:rPr lang="en-US" altLang="ko-KR" dirty="0"/>
              <a:t>- </a:t>
            </a:r>
            <a:r>
              <a:rPr lang="ko-KR" altLang="en-US" dirty="0"/>
              <a:t>페이지 접근 시 </a:t>
            </a:r>
            <a:r>
              <a:rPr lang="en-US" altLang="ko-KR" dirty="0"/>
              <a:t>NIIN</a:t>
            </a:r>
            <a:r>
              <a:rPr lang="ko-KR" altLang="en-US" dirty="0"/>
              <a:t>이 있는 경우</a:t>
            </a:r>
            <a:r>
              <a:rPr lang="en-US" altLang="ko-KR" dirty="0"/>
              <a:t> </a:t>
            </a:r>
            <a:r>
              <a:rPr lang="ko-KR" altLang="en-US" dirty="0"/>
              <a:t>자동 채우기</a:t>
            </a:r>
            <a:r>
              <a:rPr lang="en-US" altLang="ko-KR" dirty="0"/>
              <a:t/>
            </a:r>
            <a:br>
              <a:rPr lang="en-US" altLang="ko-KR" dirty="0"/>
            </a:br>
            <a:r>
              <a:rPr lang="en-US" altLang="ko-KR" dirty="0"/>
              <a:t>- </a:t>
            </a:r>
            <a:r>
              <a:rPr lang="ko-KR" altLang="en-US" dirty="0"/>
              <a:t>다른 탭 페이지에서 </a:t>
            </a:r>
            <a:r>
              <a:rPr lang="en-US" altLang="ko-KR" dirty="0"/>
              <a:t>NIIN </a:t>
            </a:r>
            <a:r>
              <a:rPr lang="ko-KR" altLang="en-US" dirty="0"/>
              <a:t>설정 시 탭에 모두 </a:t>
            </a:r>
            <a:r>
              <a:rPr lang="en-US" altLang="ko-KR" dirty="0"/>
              <a:t>NIIN </a:t>
            </a:r>
            <a:r>
              <a:rPr lang="ko-KR" altLang="en-US" dirty="0"/>
              <a:t>유지</a:t>
            </a:r>
            <a:r>
              <a:rPr lang="en-US" altLang="ko-KR" dirty="0"/>
              <a:t/>
            </a:r>
            <a:br>
              <a:rPr lang="en-US" altLang="ko-KR" dirty="0"/>
            </a:br>
            <a:r>
              <a:rPr lang="en-US" altLang="ko-KR" dirty="0"/>
              <a:t>- </a:t>
            </a:r>
            <a:r>
              <a:rPr lang="ko-KR" altLang="en-US" dirty="0"/>
              <a:t>내용이 있는 경우 삭제</a:t>
            </a:r>
            <a:r>
              <a:rPr lang="en-US" altLang="ko-KR" dirty="0"/>
              <a:t>(X)</a:t>
            </a:r>
            <a:r>
              <a:rPr lang="ko-KR" altLang="en-US" dirty="0"/>
              <a:t> 버튼 활성화</a:t>
            </a:r>
            <a:r>
              <a:rPr lang="en-US" altLang="ko-KR" dirty="0"/>
              <a:t>. </a:t>
            </a:r>
            <a:br>
              <a:rPr lang="en-US" altLang="ko-KR" dirty="0"/>
            </a:br>
            <a:r>
              <a:rPr lang="en-US" altLang="ko-KR" dirty="0"/>
              <a:t>- </a:t>
            </a:r>
            <a:r>
              <a:rPr lang="ko-KR" altLang="en-US" dirty="0"/>
              <a:t>내용이 없는 경우 삭제 버튼 숨김</a:t>
            </a:r>
            <a:endParaRPr lang="en-US" altLang="ko-KR" dirty="0"/>
          </a:p>
          <a:p>
            <a:pPr marL="228600" indent="-228600">
              <a:buFont typeface="+mj-lt"/>
              <a:buAutoNum type="arabicPeriod"/>
            </a:pPr>
            <a:r>
              <a:rPr lang="ko-KR" altLang="en-US" dirty="0"/>
              <a:t>식별정보 데이터 영역</a:t>
            </a:r>
          </a:p>
          <a:p>
            <a:pPr marL="228600" indent="-228600">
              <a:buFont typeface="+mj-lt"/>
              <a:buAutoNum type="arabicPeriod"/>
            </a:pPr>
            <a:r>
              <a:rPr lang="ko-KR" altLang="en-US" dirty="0" err="1"/>
              <a:t>참조번호</a:t>
            </a:r>
            <a:r>
              <a:rPr lang="ko-KR" altLang="en-US" dirty="0"/>
              <a:t> 데이터 영역</a:t>
            </a:r>
          </a:p>
          <a:p>
            <a:pPr marL="228600" indent="-228600">
              <a:buFont typeface="+mj-lt"/>
              <a:buAutoNum type="arabicPeriod"/>
            </a:pPr>
            <a:r>
              <a:rPr lang="ko-KR" altLang="en-US" dirty="0"/>
              <a:t>업체정보 데이터 영역</a:t>
            </a:r>
            <a:r>
              <a:rPr lang="en-US" altLang="ko-KR" dirty="0"/>
              <a:t/>
            </a:r>
            <a:br>
              <a:rPr lang="en-US" altLang="ko-KR" dirty="0"/>
            </a:br>
            <a:r>
              <a:rPr lang="en-US" altLang="ko-KR" dirty="0"/>
              <a:t>- </a:t>
            </a:r>
            <a:r>
              <a:rPr lang="en-US" altLang="ko-KR" dirty="0">
                <a:solidFill>
                  <a:srgbClr val="000000"/>
                </a:solidFill>
                <a:latin typeface="맑은 고딕" panose="020B0503020000020004" pitchFamily="50" charset="-127"/>
              </a:rPr>
              <a:t>MUI-OP-01-P77 </a:t>
            </a:r>
            <a:r>
              <a:rPr lang="ko-KR" altLang="en-US" dirty="0">
                <a:latin typeface="+mn-ea"/>
              </a:rPr>
              <a:t>업체정보 팝업 호출</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506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형상자료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a:lnSpc>
                <a:spcPct val="100000"/>
              </a:lnSpc>
              <a:spcBef>
                <a:spcPts val="0"/>
              </a:spcBef>
              <a:defRPr/>
            </a:pPr>
            <a:r>
              <a:rPr lang="ko-KR" altLang="en-US" dirty="0"/>
              <a:t>국외연간조달계획에서 목록정보조회 </a:t>
            </a:r>
            <a:r>
              <a:rPr lang="en-US" altLang="ko-KR" dirty="0"/>
              <a:t>(</a:t>
            </a:r>
            <a:r>
              <a:rPr lang="ko-KR" altLang="en-US" dirty="0"/>
              <a:t>군수품 목록</a:t>
            </a:r>
            <a:r>
              <a:rPr lang="en-US" altLang="ko-KR" dirty="0"/>
              <a:t>) </a:t>
            </a:r>
            <a:r>
              <a:rPr lang="ko-KR" altLang="en-US" dirty="0"/>
              <a:t>중 </a:t>
            </a:r>
            <a:r>
              <a:rPr lang="ko-KR" altLang="en-US" dirty="0" err="1"/>
              <a:t>형상자료</a:t>
            </a:r>
            <a:r>
              <a:rPr lang="ko-KR" altLang="en-US" dirty="0"/>
              <a:t> 정보를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조달 계획 </a:t>
            </a:r>
            <a:r>
              <a:rPr lang="en-US" altLang="ko-KR" dirty="0">
                <a:latin typeface="+mn-ea"/>
              </a:rPr>
              <a:t>&gt; </a:t>
            </a:r>
            <a:r>
              <a:rPr lang="ko-KR" altLang="en-US" dirty="0">
                <a:latin typeface="+mn-ea"/>
              </a:rPr>
              <a:t>목록정보조회 </a:t>
            </a:r>
            <a:r>
              <a:rPr lang="en-US" altLang="ko-KR" dirty="0">
                <a:latin typeface="+mn-ea"/>
              </a:rPr>
              <a:t>- </a:t>
            </a:r>
            <a:r>
              <a:rPr lang="ko-KR" altLang="en-US" dirty="0" err="1">
                <a:latin typeface="+mn-ea"/>
              </a:rPr>
              <a:t>형상자료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MUI-OP-01-T73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0889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675399" y="21726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1956033"/>
            <a:ext cx="359782" cy="107722"/>
          </a:xfrm>
          <a:prstGeom prst="rect">
            <a:avLst/>
          </a:prstGeom>
          <a:noFill/>
        </p:spPr>
        <p:txBody>
          <a:bodyPr wrap="square" lIns="0" tIns="0" rIns="0" bIns="0" rtlCol="0">
            <a:spAutoFit/>
          </a:bodyPr>
          <a:lstStyle/>
          <a:p>
            <a:pPr algn="ctr"/>
            <a:r>
              <a:rPr lang="ko-KR" altLang="en-US" sz="700" b="1" dirty="0" err="1">
                <a:latin typeface="+mn-ea"/>
              </a:rPr>
              <a:t>형상자료</a:t>
            </a:r>
            <a:endParaRPr lang="ko-KR" altLang="en-US" sz="700" b="1"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1218545" y="1956033"/>
            <a:ext cx="447776" cy="107722"/>
          </a:xfrm>
          <a:prstGeom prst="rect">
            <a:avLst/>
          </a:prstGeom>
          <a:noFill/>
        </p:spPr>
        <p:txBody>
          <a:bodyPr wrap="square" lIns="0" tIns="0" rIns="0" bIns="0" rtlCol="0">
            <a:spAutoFit/>
          </a:bodyPr>
          <a:lstStyle/>
          <a:p>
            <a:pPr algn="ctr"/>
            <a:r>
              <a:rPr lang="ko-KR" altLang="en-US" sz="700" dirty="0" err="1">
                <a:latin typeface="+mn-ea"/>
              </a:rPr>
              <a:t>식별자료</a:t>
            </a:r>
            <a:endParaRPr lang="ko-KR" altLang="en-US" sz="700" dirty="0">
              <a:latin typeface="+mn-ea"/>
            </a:endParaRP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217264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191791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298844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식별정보</a:t>
            </a:r>
          </a:p>
        </p:txBody>
      </p:sp>
      <p:grpSp>
        <p:nvGrpSpPr>
          <p:cNvPr id="107" name="그룹 106"/>
          <p:cNvGrpSpPr/>
          <p:nvPr/>
        </p:nvGrpSpPr>
        <p:grpSpPr>
          <a:xfrm flipV="1">
            <a:off x="3143548" y="3101773"/>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3295927"/>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32959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3295927"/>
            <a:ext cx="670770" cy="861774"/>
          </a:xfrm>
          <a:prstGeom prst="rect">
            <a:avLst/>
          </a:prstGeom>
          <a:noFill/>
        </p:spPr>
        <p:txBody>
          <a:bodyPr wrap="square" lIns="0" tIns="0" rIns="0" bIns="0" rtlCol="0">
            <a:spAutoFit/>
          </a:bodyPr>
          <a:lstStyle/>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영문품명</a:t>
            </a:r>
            <a:endParaRPr lang="en-US" altLang="ko-KR" sz="700" dirty="0">
              <a:latin typeface="+mn-ea"/>
            </a:endParaRPr>
          </a:p>
          <a:p>
            <a:pPr>
              <a:lnSpc>
                <a:spcPct val="200000"/>
              </a:lnSpc>
            </a:pPr>
            <a:r>
              <a:rPr lang="ko-KR" altLang="en-US" sz="700" dirty="0" err="1">
                <a:latin typeface="+mn-ea"/>
              </a:rPr>
              <a:t>한글품명</a:t>
            </a:r>
            <a:endParaRPr lang="en-US" altLang="ko-KR" sz="700" dirty="0">
              <a:latin typeface="+mn-ea"/>
            </a:endParaRPr>
          </a:p>
          <a:p>
            <a:pPr>
              <a:lnSpc>
                <a:spcPct val="200000"/>
              </a:lnSpc>
            </a:pPr>
            <a:r>
              <a:rPr lang="ko-KR" altLang="en-US" sz="700" dirty="0" err="1">
                <a:latin typeface="+mn-ea"/>
              </a:rPr>
              <a:t>군급</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3295927"/>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1523-12-1251232</a:t>
            </a:r>
          </a:p>
          <a:p>
            <a:pPr>
              <a:lnSpc>
                <a:spcPct val="200000"/>
              </a:lnSpc>
            </a:pPr>
            <a:r>
              <a:rPr lang="en-US" altLang="ko-KR" sz="700" dirty="0">
                <a:latin typeface="+mn-ea"/>
              </a:rPr>
              <a:t>BELSCDFE ASSEMVGBY</a:t>
            </a:r>
          </a:p>
          <a:p>
            <a:pPr>
              <a:lnSpc>
                <a:spcPct val="200000"/>
              </a:lnSpc>
            </a:pPr>
            <a:r>
              <a:rPr lang="ko-KR" altLang="en-US" sz="700" dirty="0" err="1">
                <a:latin typeface="+mn-ea"/>
              </a:rPr>
              <a:t>밸크랭크</a:t>
            </a:r>
            <a:r>
              <a:rPr lang="ko-KR" altLang="en-US" sz="700" dirty="0">
                <a:latin typeface="+mn-ea"/>
              </a:rPr>
              <a:t> </a:t>
            </a:r>
            <a:r>
              <a:rPr lang="ko-KR" altLang="en-US" sz="700" dirty="0" err="1">
                <a:latin typeface="+mn-ea"/>
              </a:rPr>
              <a:t>조립체</a:t>
            </a:r>
            <a:endParaRPr lang="ko-KR" altLang="en-US" sz="700" dirty="0">
              <a:latin typeface="+mn-ea"/>
            </a:endParaRPr>
          </a:p>
          <a:p>
            <a:pPr>
              <a:lnSpc>
                <a:spcPct val="200000"/>
              </a:lnSpc>
            </a:pPr>
            <a:r>
              <a:rPr lang="en-US" altLang="ko-KR" sz="700" dirty="0">
                <a:latin typeface="+mn-ea"/>
              </a:rPr>
              <a:t>1612</a:t>
            </a:r>
            <a:endParaRPr lang="ko-KR" altLang="en-US"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35270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37407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395444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1681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30392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1" name="TextBox 250">
            <a:extLst>
              <a:ext uri="{FF2B5EF4-FFF2-40B4-BE49-F238E27FC236}">
                <a16:creationId xmlns:a16="http://schemas.microsoft.com/office/drawing/2014/main" id="{FFC49AEA-2A8F-250C-A86A-A7751D9706C3}"/>
              </a:ext>
            </a:extLst>
          </p:cNvPr>
          <p:cNvSpPr txBox="1"/>
          <p:nvPr/>
        </p:nvSpPr>
        <p:spPr>
          <a:xfrm>
            <a:off x="3884993" y="1890123"/>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참조번호</a:t>
            </a:r>
            <a:endParaRPr lang="ko-KR" altLang="en-US" sz="700" dirty="0">
              <a:latin typeface="+mn-ea"/>
            </a:endParaRPr>
          </a:p>
        </p:txBody>
      </p:sp>
      <p:grpSp>
        <p:nvGrpSpPr>
          <p:cNvPr id="252" name="그룹 251"/>
          <p:cNvGrpSpPr/>
          <p:nvPr/>
        </p:nvGrpSpPr>
        <p:grpSpPr>
          <a:xfrm flipV="1">
            <a:off x="6247080" y="2003454"/>
            <a:ext cx="94010" cy="47005"/>
            <a:chOff x="6812560" y="3297172"/>
            <a:chExt cx="94010" cy="47005"/>
          </a:xfrm>
        </p:grpSpPr>
        <p:cxnSp>
          <p:nvCxnSpPr>
            <p:cNvPr id="253" name="직선 연결선 2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1" name="직선 연결선 2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2" name="직사각형 261"/>
          <p:cNvSpPr/>
          <p:nvPr/>
        </p:nvSpPr>
        <p:spPr>
          <a:xfrm>
            <a:off x="3826115" y="2197608"/>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24022" y="21976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TextBox 263">
            <a:extLst>
              <a:ext uri="{FF2B5EF4-FFF2-40B4-BE49-F238E27FC236}">
                <a16:creationId xmlns:a16="http://schemas.microsoft.com/office/drawing/2014/main" id="{FFC49AEA-2A8F-250C-A86A-A7751D9706C3}"/>
              </a:ext>
            </a:extLst>
          </p:cNvPr>
          <p:cNvSpPr txBox="1"/>
          <p:nvPr/>
        </p:nvSpPr>
        <p:spPr>
          <a:xfrm>
            <a:off x="3913179" y="2197608"/>
            <a:ext cx="670770" cy="861774"/>
          </a:xfrm>
          <a:prstGeom prst="rect">
            <a:avLst/>
          </a:prstGeom>
          <a:noFill/>
        </p:spPr>
        <p:txBody>
          <a:bodyPr wrap="square" lIns="0" tIns="0" rIns="0" bIns="0" rtlCol="0">
            <a:spAutoFit/>
          </a:bodyPr>
          <a:lstStyle/>
          <a:p>
            <a:pPr>
              <a:lnSpc>
                <a:spcPct val="200000"/>
              </a:lnSpc>
            </a:pPr>
            <a:r>
              <a:rPr lang="ko-KR" altLang="en-US" sz="700" dirty="0" err="1">
                <a:latin typeface="+mn-ea"/>
              </a:rPr>
              <a:t>참조번호</a:t>
            </a:r>
            <a:endParaRPr lang="en-US" altLang="ko-KR" sz="700" dirty="0">
              <a:latin typeface="+mn-ea"/>
            </a:endParaRPr>
          </a:p>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err="1">
                <a:latin typeface="+mn-ea"/>
              </a:rPr>
              <a:t>생산자부호</a:t>
            </a:r>
            <a:endParaRPr lang="en-US" altLang="ko-KR" sz="700" dirty="0">
              <a:latin typeface="+mn-ea"/>
            </a:endParaRPr>
          </a:p>
          <a:p>
            <a:pPr>
              <a:lnSpc>
                <a:spcPct val="200000"/>
              </a:lnSpc>
            </a:pPr>
            <a:r>
              <a:rPr lang="ko-KR" altLang="en-US" sz="700" dirty="0" err="1">
                <a:latin typeface="+mn-ea"/>
              </a:rPr>
              <a:t>생산자명</a:t>
            </a:r>
            <a:endParaRPr lang="en-US" altLang="ko-KR" sz="700" dirty="0">
              <a:latin typeface="+mn-ea"/>
            </a:endParaRPr>
          </a:p>
        </p:txBody>
      </p:sp>
      <p:sp>
        <p:nvSpPr>
          <p:cNvPr id="265" name="TextBox 264">
            <a:extLst>
              <a:ext uri="{FF2B5EF4-FFF2-40B4-BE49-F238E27FC236}">
                <a16:creationId xmlns:a16="http://schemas.microsoft.com/office/drawing/2014/main" id="{FFC49AEA-2A8F-250C-A86A-A7751D9706C3}"/>
              </a:ext>
            </a:extLst>
          </p:cNvPr>
          <p:cNvSpPr txBox="1"/>
          <p:nvPr/>
        </p:nvSpPr>
        <p:spPr>
          <a:xfrm>
            <a:off x="4670028" y="2197608"/>
            <a:ext cx="1784650" cy="861774"/>
          </a:xfrm>
          <a:prstGeom prst="rect">
            <a:avLst/>
          </a:prstGeom>
          <a:noFill/>
        </p:spPr>
        <p:txBody>
          <a:bodyPr wrap="square" lIns="0" tIns="0" rIns="0" bIns="0" rtlCol="0">
            <a:spAutoFit/>
          </a:bodyPr>
          <a:lstStyle/>
          <a:p>
            <a:pPr>
              <a:lnSpc>
                <a:spcPct val="200000"/>
              </a:lnSpc>
            </a:pPr>
            <a:r>
              <a:rPr lang="en-US" altLang="ko-KR" sz="700" dirty="0">
                <a:latin typeface="+mn-ea"/>
              </a:rPr>
              <a:t>70400-01230-023</a:t>
            </a:r>
          </a:p>
          <a:p>
            <a:pPr>
              <a:lnSpc>
                <a:spcPct val="200000"/>
              </a:lnSpc>
            </a:pPr>
            <a:r>
              <a:rPr lang="ko-KR" altLang="en-US" sz="700" dirty="0" err="1">
                <a:latin typeface="+mn-ea"/>
              </a:rPr>
              <a:t>도면번호</a:t>
            </a:r>
            <a:endParaRPr lang="en-US" altLang="ko-KR" sz="700" dirty="0">
              <a:latin typeface="+mn-ea"/>
            </a:endParaRPr>
          </a:p>
          <a:p>
            <a:pPr>
              <a:lnSpc>
                <a:spcPct val="200000"/>
              </a:lnSpc>
            </a:pPr>
            <a:r>
              <a:rPr lang="en-US" altLang="ko-KR" sz="700" dirty="0">
                <a:latin typeface="+mn-ea"/>
              </a:rPr>
              <a:t>78245</a:t>
            </a:r>
          </a:p>
          <a:p>
            <a:pPr>
              <a:lnSpc>
                <a:spcPct val="200000"/>
              </a:lnSpc>
            </a:pPr>
            <a:r>
              <a:rPr lang="en-US" altLang="ko-KR" sz="700" dirty="0">
                <a:latin typeface="+mn-ea"/>
              </a:rPr>
              <a:t>SIBSK ERKAS EKCORPO</a:t>
            </a:r>
          </a:p>
        </p:txBody>
      </p:sp>
      <p:cxnSp>
        <p:nvCxnSpPr>
          <p:cNvPr id="266" name="직선 연결선 265">
            <a:extLst>
              <a:ext uri="{FF2B5EF4-FFF2-40B4-BE49-F238E27FC236}">
                <a16:creationId xmlns:a16="http://schemas.microsoft.com/office/drawing/2014/main" id="{E9293055-D5CD-4B9E-7F64-64B2D2CA7A52}"/>
              </a:ext>
            </a:extLst>
          </p:cNvPr>
          <p:cNvCxnSpPr/>
          <p:nvPr/>
        </p:nvCxnSpPr>
        <p:spPr>
          <a:xfrm>
            <a:off x="3826115" y="24287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6115" y="26424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6115" y="28561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26115" y="30698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모서리가 둥근 직사각형 281"/>
          <p:cNvSpPr/>
          <p:nvPr/>
        </p:nvSpPr>
        <p:spPr>
          <a:xfrm rot="5400000">
            <a:off x="6098765" y="2443378"/>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319" name="직선 연결선 318">
            <a:extLst>
              <a:ext uri="{FF2B5EF4-FFF2-40B4-BE49-F238E27FC236}">
                <a16:creationId xmlns:a16="http://schemas.microsoft.com/office/drawing/2014/main" id="{E9293055-D5CD-4B9E-7F64-64B2D2CA7A52}"/>
              </a:ext>
            </a:extLst>
          </p:cNvPr>
          <p:cNvCxnSpPr/>
          <p:nvPr/>
        </p:nvCxnSpPr>
        <p:spPr>
          <a:xfrm>
            <a:off x="3795734" y="475840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2" name="타원 331">
            <a:extLst>
              <a:ext uri="{FF2B5EF4-FFF2-40B4-BE49-F238E27FC236}">
                <a16:creationId xmlns:a16="http://schemas.microsoft.com/office/drawing/2014/main" id="{37A7FF4F-0EAA-1463-560A-D5EC24416103}"/>
              </a:ext>
            </a:extLst>
          </p:cNvPr>
          <p:cNvSpPr/>
          <p:nvPr/>
        </p:nvSpPr>
        <p:spPr>
          <a:xfrm>
            <a:off x="3717693" y="192375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48" name="TextBox 147">
            <a:extLst>
              <a:ext uri="{FF2B5EF4-FFF2-40B4-BE49-F238E27FC236}">
                <a16:creationId xmlns:a16="http://schemas.microsoft.com/office/drawing/2014/main" id="{FFC49AEA-2A8F-250C-A86A-A7751D9706C3}"/>
              </a:ext>
            </a:extLst>
          </p:cNvPr>
          <p:cNvSpPr txBox="1"/>
          <p:nvPr/>
        </p:nvSpPr>
        <p:spPr>
          <a:xfrm>
            <a:off x="1754660" y="1956033"/>
            <a:ext cx="447776" cy="107722"/>
          </a:xfrm>
          <a:prstGeom prst="rect">
            <a:avLst/>
          </a:prstGeom>
          <a:noFill/>
        </p:spPr>
        <p:txBody>
          <a:bodyPr wrap="square" lIns="0" tIns="0" rIns="0" bIns="0" rtlCol="0">
            <a:spAutoFit/>
          </a:bodyPr>
          <a:lstStyle/>
          <a:p>
            <a:pPr algn="ctr"/>
            <a:r>
              <a:rPr lang="ko-KR" altLang="en-US" sz="700" dirty="0">
                <a:latin typeface="+mn-ea"/>
              </a:rPr>
              <a:t>참고자료</a:t>
            </a: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767702" y="2604413"/>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51" name="모서리가 둥근 직사각형 150"/>
          <p:cNvSpPr/>
          <p:nvPr/>
        </p:nvSpPr>
        <p:spPr>
          <a:xfrm>
            <a:off x="1443878" y="2270698"/>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ko-KR" sz="700" dirty="0">
                <a:solidFill>
                  <a:schemeClr val="bg1">
                    <a:lumMod val="65000"/>
                  </a:schemeClr>
                </a:solidFill>
              </a:rPr>
              <a:t>NIIN</a:t>
            </a:r>
            <a:r>
              <a:rPr lang="ko-KR" altLang="en-US" sz="700" dirty="0">
                <a:solidFill>
                  <a:schemeClr val="bg1">
                    <a:lumMod val="65000"/>
                  </a:schemeClr>
                </a:solidFill>
              </a:rPr>
              <a:t>을 입력하세요</a:t>
            </a:r>
            <a:r>
              <a:rPr lang="en-US" altLang="ko-KR" sz="700" dirty="0">
                <a:solidFill>
                  <a:schemeClr val="bg1">
                    <a:lumMod val="65000"/>
                  </a:schemeClr>
                </a:solidFill>
              </a:rPr>
              <a:t>.</a:t>
            </a:r>
            <a:endParaRPr lang="ko-KR" altLang="en-US" sz="700" dirty="0">
              <a:solidFill>
                <a:schemeClr val="tx1"/>
              </a:solidFill>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804476" y="2339011"/>
            <a:ext cx="670770" cy="107722"/>
          </a:xfrm>
          <a:prstGeom prst="rect">
            <a:avLst/>
          </a:prstGeom>
          <a:noFill/>
        </p:spPr>
        <p:txBody>
          <a:bodyPr wrap="square" lIns="0" tIns="0" rIns="0" bIns="0" rtlCol="0">
            <a:spAutoFit/>
          </a:bodyPr>
          <a:lstStyle/>
          <a:p>
            <a:r>
              <a:rPr lang="en-US" altLang="ko-KR" sz="700" dirty="0">
                <a:latin typeface="+mn-ea"/>
              </a:rPr>
              <a:t>NIIN</a:t>
            </a:r>
          </a:p>
        </p:txBody>
      </p:sp>
      <p:grpSp>
        <p:nvGrpSpPr>
          <p:cNvPr id="153" name="그룹 152"/>
          <p:cNvGrpSpPr/>
          <p:nvPr/>
        </p:nvGrpSpPr>
        <p:grpSpPr>
          <a:xfrm>
            <a:off x="3112794" y="2308984"/>
            <a:ext cx="145884" cy="145882"/>
            <a:chOff x="3112794" y="3984500"/>
            <a:chExt cx="145884" cy="145882"/>
          </a:xfrm>
        </p:grpSpPr>
        <p:sp>
          <p:nvSpPr>
            <p:cNvPr id="154" name="타원 153"/>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5" name="그룹 154"/>
            <p:cNvGrpSpPr/>
            <p:nvPr/>
          </p:nvGrpSpPr>
          <p:grpSpPr>
            <a:xfrm>
              <a:off x="3156699" y="4028404"/>
              <a:ext cx="58075" cy="58074"/>
              <a:chOff x="6812560" y="3297172"/>
              <a:chExt cx="94010" cy="94010"/>
            </a:xfrm>
          </p:grpSpPr>
          <p:cxnSp>
            <p:nvCxnSpPr>
              <p:cNvPr id="167" name="직선 연결선 16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8" name="직선 연결선 16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5399" y="29437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직사각형 169"/>
          <p:cNvSpPr/>
          <p:nvPr/>
        </p:nvSpPr>
        <p:spPr>
          <a:xfrm>
            <a:off x="3826115" y="3426381"/>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3" name="직선 연결선 172">
            <a:extLst>
              <a:ext uri="{FF2B5EF4-FFF2-40B4-BE49-F238E27FC236}">
                <a16:creationId xmlns:a16="http://schemas.microsoft.com/office/drawing/2014/main" id="{E9293055-D5CD-4B9E-7F64-64B2D2CA7A52}"/>
              </a:ext>
            </a:extLst>
          </p:cNvPr>
          <p:cNvCxnSpPr/>
          <p:nvPr/>
        </p:nvCxnSpPr>
        <p:spPr>
          <a:xfrm>
            <a:off x="3824022" y="34263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3913179" y="3426381"/>
            <a:ext cx="670770" cy="861774"/>
          </a:xfrm>
          <a:prstGeom prst="rect">
            <a:avLst/>
          </a:prstGeom>
          <a:noFill/>
        </p:spPr>
        <p:txBody>
          <a:bodyPr wrap="square" lIns="0" tIns="0" rIns="0" bIns="0" rtlCol="0">
            <a:spAutoFit/>
          </a:bodyPr>
          <a:lstStyle/>
          <a:p>
            <a:pPr>
              <a:lnSpc>
                <a:spcPct val="200000"/>
              </a:lnSpc>
            </a:pPr>
            <a:r>
              <a:rPr lang="ko-KR" altLang="en-US" sz="700" dirty="0" err="1">
                <a:latin typeface="+mn-ea"/>
              </a:rPr>
              <a:t>참조번호</a:t>
            </a:r>
            <a:endParaRPr lang="en-US" altLang="ko-KR" sz="700" dirty="0">
              <a:latin typeface="+mn-ea"/>
            </a:endParaRPr>
          </a:p>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err="1">
                <a:latin typeface="+mn-ea"/>
              </a:rPr>
              <a:t>생산자부호</a:t>
            </a:r>
            <a:endParaRPr lang="en-US" altLang="ko-KR" sz="700" dirty="0">
              <a:latin typeface="+mn-ea"/>
            </a:endParaRPr>
          </a:p>
          <a:p>
            <a:pPr>
              <a:lnSpc>
                <a:spcPct val="200000"/>
              </a:lnSpc>
            </a:pPr>
            <a:r>
              <a:rPr lang="ko-KR" altLang="en-US" sz="700" dirty="0" err="1">
                <a:latin typeface="+mn-ea"/>
              </a:rPr>
              <a:t>생산자명</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4670028" y="3426381"/>
            <a:ext cx="1784650" cy="861774"/>
          </a:xfrm>
          <a:prstGeom prst="rect">
            <a:avLst/>
          </a:prstGeom>
          <a:noFill/>
        </p:spPr>
        <p:txBody>
          <a:bodyPr wrap="square" lIns="0" tIns="0" rIns="0" bIns="0" rtlCol="0">
            <a:spAutoFit/>
          </a:bodyPr>
          <a:lstStyle/>
          <a:p>
            <a:pPr>
              <a:lnSpc>
                <a:spcPct val="200000"/>
              </a:lnSpc>
            </a:pPr>
            <a:r>
              <a:rPr lang="en-US" altLang="ko-KR" sz="700" dirty="0">
                <a:latin typeface="+mn-ea"/>
              </a:rPr>
              <a:t>70400-01230-024</a:t>
            </a:r>
          </a:p>
          <a:p>
            <a:pPr>
              <a:lnSpc>
                <a:spcPct val="200000"/>
              </a:lnSpc>
            </a:pPr>
            <a:r>
              <a:rPr lang="ko-KR" altLang="en-US" sz="700" dirty="0">
                <a:latin typeface="+mn-ea"/>
              </a:rPr>
              <a:t>기타</a:t>
            </a:r>
            <a:endParaRPr lang="en-US" altLang="ko-KR" sz="700" dirty="0">
              <a:latin typeface="+mn-ea"/>
            </a:endParaRPr>
          </a:p>
          <a:p>
            <a:pPr>
              <a:lnSpc>
                <a:spcPct val="200000"/>
              </a:lnSpc>
            </a:pPr>
            <a:r>
              <a:rPr lang="en-US" altLang="ko-KR" sz="700" dirty="0">
                <a:latin typeface="+mn-ea"/>
              </a:rPr>
              <a:t>23129</a:t>
            </a:r>
          </a:p>
          <a:p>
            <a:pPr>
              <a:lnSpc>
                <a:spcPct val="200000"/>
              </a:lnSpc>
            </a:pPr>
            <a:r>
              <a:rPr lang="en-US" altLang="ko-KR" sz="700" dirty="0">
                <a:latin typeface="+mn-ea"/>
              </a:rPr>
              <a:t>US ARPY ACLHGET ASLTM</a:t>
            </a: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3826115" y="36574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3826115" y="387119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6115" y="40849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5" name="직선 연결선 194">
            <a:extLst>
              <a:ext uri="{FF2B5EF4-FFF2-40B4-BE49-F238E27FC236}">
                <a16:creationId xmlns:a16="http://schemas.microsoft.com/office/drawing/2014/main" id="{E9293055-D5CD-4B9E-7F64-64B2D2CA7A52}"/>
              </a:ext>
            </a:extLst>
          </p:cNvPr>
          <p:cNvCxnSpPr/>
          <p:nvPr/>
        </p:nvCxnSpPr>
        <p:spPr>
          <a:xfrm>
            <a:off x="3826115" y="42986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24" name="타원 223">
            <a:extLst>
              <a:ext uri="{FF2B5EF4-FFF2-40B4-BE49-F238E27FC236}">
                <a16:creationId xmlns:a16="http://schemas.microsoft.com/office/drawing/2014/main" id="{37A7FF4F-0EAA-1463-560A-D5EC24416103}"/>
              </a:ext>
            </a:extLst>
          </p:cNvPr>
          <p:cNvSpPr/>
          <p:nvPr/>
        </p:nvSpPr>
        <p:spPr>
          <a:xfrm>
            <a:off x="3717693" y="422901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3826115" y="33227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사각형: 둥근 모서리 15">
            <a:extLst>
              <a:ext uri="{FF2B5EF4-FFF2-40B4-BE49-F238E27FC236}">
                <a16:creationId xmlns:a16="http://schemas.microsoft.com/office/drawing/2014/main" id="{E2B61CFB-AD16-68D0-8752-50D9C5E01971}"/>
              </a:ext>
            </a:extLst>
          </p:cNvPr>
          <p:cNvSpPr/>
          <p:nvPr/>
        </p:nvSpPr>
        <p:spPr>
          <a:xfrm>
            <a:off x="3890740" y="3104583"/>
            <a:ext cx="2522014" cy="18574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업체정보 보기</a:t>
            </a:r>
            <a:endParaRPr kumimoji="1" lang="en-US" sz="800" b="0" i="0" u="none" strike="noStrike" kern="0" cap="none" spc="0" normalizeH="0" baseline="0" noProof="0" dirty="0">
              <a:ln>
                <a:noFill/>
              </a:ln>
              <a:effectLst/>
              <a:uLnTx/>
              <a:uFillTx/>
              <a:latin typeface="맑은 고딕"/>
            </a:endParaRP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3826115" y="45532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사각형: 둥근 모서리 15">
            <a:extLst>
              <a:ext uri="{FF2B5EF4-FFF2-40B4-BE49-F238E27FC236}">
                <a16:creationId xmlns:a16="http://schemas.microsoft.com/office/drawing/2014/main" id="{E2B61CFB-AD16-68D0-8752-50D9C5E01971}"/>
              </a:ext>
            </a:extLst>
          </p:cNvPr>
          <p:cNvSpPr/>
          <p:nvPr/>
        </p:nvSpPr>
        <p:spPr>
          <a:xfrm>
            <a:off x="3890740" y="4335074"/>
            <a:ext cx="2522014" cy="18574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업체정보 보기</a:t>
            </a:r>
            <a:endParaRPr kumimoji="1" lang="en-US" sz="800" b="0" i="0" u="none" strike="noStrike" kern="0" cap="none" spc="0" normalizeH="0" baseline="0" noProof="0" dirty="0">
              <a:ln>
                <a:noFill/>
              </a:ln>
              <a:effectLst/>
              <a:uLnTx/>
              <a:uFillTx/>
              <a:latin typeface="맑은 고딕"/>
            </a:endParaRPr>
          </a:p>
        </p:txBody>
      </p:sp>
      <p:grpSp>
        <p:nvGrpSpPr>
          <p:cNvPr id="125" name="그룹 124"/>
          <p:cNvGrpSpPr/>
          <p:nvPr/>
        </p:nvGrpSpPr>
        <p:grpSpPr>
          <a:xfrm>
            <a:off x="3138377" y="1650089"/>
            <a:ext cx="94010" cy="94010"/>
            <a:chOff x="6812560" y="3297172"/>
            <a:chExt cx="94010" cy="94010"/>
          </a:xfrm>
        </p:grpSpPr>
        <p:cxnSp>
          <p:nvCxnSpPr>
            <p:cNvPr id="126" name="직선 연결선 12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7" name="직선 연결선 12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목록정보</a:t>
            </a:r>
            <a:r>
              <a:rPr lang="ko-KR" altLang="en-US" sz="900" dirty="0">
                <a:latin typeface="+mn-ea"/>
              </a:rPr>
              <a:t> 조회</a:t>
            </a:r>
          </a:p>
        </p:txBody>
      </p:sp>
      <p:grpSp>
        <p:nvGrpSpPr>
          <p:cNvPr id="3" name="그룹 2"/>
          <p:cNvGrpSpPr/>
          <p:nvPr/>
        </p:nvGrpSpPr>
        <p:grpSpPr>
          <a:xfrm>
            <a:off x="3795734" y="1630768"/>
            <a:ext cx="2712027" cy="216169"/>
            <a:chOff x="3795734" y="1630768"/>
            <a:chExt cx="2712027" cy="216169"/>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3795734"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0" name="그룹 119"/>
            <p:cNvGrpSpPr/>
            <p:nvPr/>
          </p:nvGrpSpPr>
          <p:grpSpPr>
            <a:xfrm>
              <a:off x="6253541" y="1650089"/>
              <a:ext cx="94010" cy="94010"/>
              <a:chOff x="6812560" y="3297172"/>
              <a:chExt cx="94010" cy="94010"/>
            </a:xfrm>
          </p:grpSpPr>
          <p:cxnSp>
            <p:nvCxnSpPr>
              <p:cNvPr id="121" name="직선 연결선 12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3" name="TextBox 122">
              <a:extLst>
                <a:ext uri="{FF2B5EF4-FFF2-40B4-BE49-F238E27FC236}">
                  <a16:creationId xmlns:a16="http://schemas.microsoft.com/office/drawing/2014/main" id="{FFC49AEA-2A8F-250C-A86A-A7751D9706C3}"/>
                </a:ext>
              </a:extLst>
            </p:cNvPr>
            <p:cNvSpPr txBox="1"/>
            <p:nvPr/>
          </p:nvSpPr>
          <p:spPr>
            <a:xfrm>
              <a:off x="3893679" y="1630768"/>
              <a:ext cx="1798758" cy="138499"/>
            </a:xfrm>
            <a:prstGeom prst="rect">
              <a:avLst/>
            </a:prstGeom>
            <a:noFill/>
          </p:spPr>
          <p:txBody>
            <a:bodyPr wrap="square" lIns="0" tIns="0" rIns="0" bIns="0" rtlCol="0">
              <a:spAutoFit/>
            </a:bodyPr>
            <a:lstStyle/>
            <a:p>
              <a:r>
                <a:rPr lang="ko-KR" altLang="en-US" sz="900" dirty="0" err="1">
                  <a:latin typeface="+mn-ea"/>
                </a:rPr>
                <a:t>목록정보</a:t>
              </a:r>
              <a:r>
                <a:rPr lang="ko-KR" altLang="en-US" sz="900" dirty="0">
                  <a:latin typeface="+mn-ea"/>
                </a:rPr>
                <a:t> 조회</a:t>
              </a:r>
            </a:p>
          </p:txBody>
        </p:sp>
      </p:grpSp>
      <p:grpSp>
        <p:nvGrpSpPr>
          <p:cNvPr id="87" name="그룹 86"/>
          <p:cNvGrpSpPr/>
          <p:nvPr/>
        </p:nvGrpSpPr>
        <p:grpSpPr>
          <a:xfrm>
            <a:off x="8223250" y="569392"/>
            <a:ext cx="3365500" cy="634511"/>
            <a:chOff x="8223250" y="569392"/>
            <a:chExt cx="3365500" cy="634511"/>
          </a:xfrm>
        </p:grpSpPr>
        <p:sp>
          <p:nvSpPr>
            <p:cNvPr id="89" name="직사각형 88"/>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a:t>2026-05-27 </a:t>
              </a:r>
              <a:r>
                <a:rPr lang="ko-KR" altLang="en-US" dirty="0"/>
                <a:t>화면 수정</a:t>
              </a:r>
            </a:p>
          </p:txBody>
        </p:sp>
        <p:sp>
          <p:nvSpPr>
            <p:cNvPr id="90" name="직사각형 89"/>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a:t>아이디 변경</a:t>
              </a:r>
              <a:endParaRPr lang="en-US" altLang="ko-KR" sz="700" dirty="0"/>
            </a:p>
            <a:p>
              <a:pPr marL="228600" indent="-228600">
                <a:buAutoNum type="arabicPeriod"/>
              </a:pPr>
              <a:r>
                <a:rPr lang="ko-KR" altLang="en-US" sz="700" dirty="0" err="1"/>
                <a:t>풀페이지</a:t>
              </a:r>
              <a:r>
                <a:rPr lang="ko-KR" altLang="en-US" sz="700" dirty="0"/>
                <a:t> 팝업으로 변경</a:t>
              </a:r>
              <a:endParaRPr lang="en-US" altLang="ko-KR" sz="700" dirty="0"/>
            </a:p>
          </p:txBody>
        </p:sp>
      </p:grpSp>
      <p:cxnSp>
        <p:nvCxnSpPr>
          <p:cNvPr id="102" name="직선 연결선 101"/>
          <p:cNvCxnSpPr/>
          <p:nvPr/>
        </p:nvCxnSpPr>
        <p:spPr>
          <a:xfrm flipH="1">
            <a:off x="330926" y="917965"/>
            <a:ext cx="9413965" cy="554701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91" name="그룹 90"/>
          <p:cNvGrpSpPr/>
          <p:nvPr/>
        </p:nvGrpSpPr>
        <p:grpSpPr>
          <a:xfrm>
            <a:off x="8223250" y="960471"/>
            <a:ext cx="3365500" cy="634511"/>
            <a:chOff x="8223250" y="569392"/>
            <a:chExt cx="3365500" cy="634511"/>
          </a:xfrm>
          <a:solidFill>
            <a:srgbClr val="FF0000"/>
          </a:solidFill>
        </p:grpSpPr>
        <p:sp>
          <p:nvSpPr>
            <p:cNvPr id="92" name="직사각형 91"/>
            <p:cNvSpPr/>
            <p:nvPr/>
          </p:nvSpPr>
          <p:spPr>
            <a:xfrm>
              <a:off x="8223250" y="569392"/>
              <a:ext cx="1682750" cy="219465"/>
            </a:xfrm>
            <a:prstGeom prst="rect">
              <a:avLst/>
            </a:prstGeom>
            <a:grpFill/>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2026-08-14 </a:t>
              </a:r>
              <a:r>
                <a:rPr lang="ko-KR" altLang="en-US" dirty="0"/>
                <a:t>화면 </a:t>
              </a:r>
              <a:r>
                <a:rPr lang="ko-KR" altLang="en-US" dirty="0" smtClean="0"/>
                <a:t>삭제</a:t>
              </a:r>
              <a:endParaRPr lang="ko-KR" altLang="en-US" dirty="0"/>
            </a:p>
          </p:txBody>
        </p:sp>
        <p:sp>
          <p:nvSpPr>
            <p:cNvPr id="96" name="직사각형 95"/>
            <p:cNvSpPr/>
            <p:nvPr/>
          </p:nvSpPr>
          <p:spPr>
            <a:xfrm>
              <a:off x="9906000" y="569392"/>
              <a:ext cx="1682750" cy="634511"/>
            </a:xfrm>
            <a:prstGeom prst="rect">
              <a:avLst/>
            </a:prstGeom>
            <a:grpFill/>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조달계획 </a:t>
              </a:r>
              <a:r>
                <a:rPr lang="ko-KR" altLang="en-US" sz="700" dirty="0" err="1" smtClean="0"/>
                <a:t>바텀시트</a:t>
              </a:r>
              <a:r>
                <a:rPr lang="ko-KR" altLang="en-US" sz="700" dirty="0" smtClean="0"/>
                <a:t> 참조</a:t>
              </a:r>
              <a:r>
                <a:rPr lang="en-US" altLang="ko-KR" sz="700" dirty="0" smtClean="0"/>
                <a:t>.</a:t>
              </a:r>
            </a:p>
            <a:p>
              <a:pPr marL="228600" indent="-228600">
                <a:buAutoNum type="arabicPeriod"/>
              </a:pPr>
              <a:r>
                <a:rPr lang="ko-KR" altLang="en-US" sz="700" dirty="0" smtClean="0"/>
                <a:t>현재 화면은 이해를 </a:t>
              </a:r>
              <a:r>
                <a:rPr lang="ko-KR" altLang="en-US" sz="700" dirty="0" err="1" smtClean="0"/>
                <a:t>돕기위해</a:t>
              </a:r>
              <a:r>
                <a:rPr lang="ko-KR" altLang="en-US" sz="700" dirty="0" smtClean="0"/>
                <a:t> 삽입된 화면으로 </a:t>
              </a:r>
              <a:r>
                <a:rPr lang="en-US" altLang="ko-KR" sz="700" dirty="0" smtClean="0"/>
                <a:t>_old </a:t>
              </a:r>
              <a:r>
                <a:rPr lang="ko-KR" altLang="en-US" sz="700" dirty="0" err="1" smtClean="0"/>
                <a:t>버전임</a:t>
              </a:r>
              <a:endParaRPr lang="en-US" altLang="ko-KR" sz="700" dirty="0"/>
            </a:p>
          </p:txBody>
        </p:sp>
      </p:grpSp>
    </p:spTree>
    <p:extLst>
      <p:ext uri="{BB962C8B-B14F-4D97-AF65-F5344CB8AC3E}">
        <p14:creationId xmlns:p14="http://schemas.microsoft.com/office/powerpoint/2010/main" val="3697842049"/>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식별자료</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507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식별자료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a:lnSpc>
                <a:spcPct val="100000"/>
              </a:lnSpc>
              <a:spcBef>
                <a:spcPts val="0"/>
              </a:spcBef>
              <a:defRPr/>
            </a:pPr>
            <a:r>
              <a:rPr lang="ko-KR" altLang="en-US" dirty="0"/>
              <a:t>국외연간조달계획에서 목록정보조회 </a:t>
            </a:r>
            <a:r>
              <a:rPr lang="en-US" altLang="ko-KR" dirty="0"/>
              <a:t>(</a:t>
            </a:r>
            <a:r>
              <a:rPr lang="ko-KR" altLang="en-US" dirty="0"/>
              <a:t>군수품 목록</a:t>
            </a:r>
            <a:r>
              <a:rPr lang="en-US" altLang="ko-KR" dirty="0"/>
              <a:t>) </a:t>
            </a:r>
            <a:r>
              <a:rPr lang="ko-KR" altLang="en-US" dirty="0"/>
              <a:t>중 </a:t>
            </a:r>
            <a:r>
              <a:rPr lang="ko-KR" altLang="en-US" dirty="0" err="1"/>
              <a:t>식별자료</a:t>
            </a:r>
            <a:r>
              <a:rPr lang="ko-KR" altLang="en-US" dirty="0"/>
              <a:t> 정보를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조달 계획 </a:t>
            </a:r>
            <a:r>
              <a:rPr lang="en-US" altLang="ko-KR" dirty="0">
                <a:latin typeface="+mn-ea"/>
              </a:rPr>
              <a:t>&gt; </a:t>
            </a:r>
            <a:r>
              <a:rPr lang="ko-KR" altLang="en-US" dirty="0">
                <a:latin typeface="+mn-ea"/>
              </a:rPr>
              <a:t>목록정보조회 </a:t>
            </a:r>
            <a:r>
              <a:rPr lang="en-US" altLang="ko-KR" dirty="0">
                <a:latin typeface="+mn-ea"/>
              </a:rPr>
              <a:t>- </a:t>
            </a:r>
            <a:r>
              <a:rPr lang="ko-KR" altLang="en-US" dirty="0" err="1">
                <a:latin typeface="+mn-ea"/>
              </a:rPr>
              <a:t>식별자료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MUI-OP-01-T74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2999834"/>
            <a:ext cx="452259" cy="181140"/>
          </a:xfrm>
          <a:prstGeom prst="rect">
            <a:avLst/>
          </a:prstGeom>
          <a:noFill/>
        </p:spPr>
        <p:txBody>
          <a:bodyPr wrap="square" lIns="0" tIns="0" rIns="0" bIns="0" rtlCol="0">
            <a:spAutoFit/>
          </a:bodyPr>
          <a:lstStyle>
            <a:defPPr>
              <a:defRPr lang="ko-KR"/>
            </a:defPPr>
            <a:lvl1pPr>
              <a:lnSpc>
                <a:spcPct val="200000"/>
              </a:lnSpc>
              <a:defRPr sz="700">
                <a:latin typeface="+mn-ea"/>
              </a:defRPr>
            </a:lvl1pPr>
          </a:lstStyle>
          <a:p>
            <a:r>
              <a:rPr lang="ko-KR" altLang="en-US" dirty="0" err="1"/>
              <a:t>식별자료</a:t>
            </a:r>
            <a:endParaRPr lang="ko-KR" altLang="en-US" dirty="0"/>
          </a:p>
        </p:txBody>
      </p:sp>
      <p:grpSp>
        <p:nvGrpSpPr>
          <p:cNvPr id="157" name="그룹 156"/>
          <p:cNvGrpSpPr/>
          <p:nvPr/>
        </p:nvGrpSpPr>
        <p:grpSpPr>
          <a:xfrm flipV="1">
            <a:off x="3124233" y="3113165"/>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304846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74" name="직사각형 73"/>
          <p:cNvSpPr/>
          <p:nvPr/>
        </p:nvSpPr>
        <p:spPr>
          <a:xfrm>
            <a:off x="3832577" y="1873082"/>
            <a:ext cx="933066" cy="42745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TextBox 74">
            <a:extLst>
              <a:ext uri="{FF2B5EF4-FFF2-40B4-BE49-F238E27FC236}">
                <a16:creationId xmlns:a16="http://schemas.microsoft.com/office/drawing/2014/main" id="{FFC49AEA-2A8F-250C-A86A-A7751D9706C3}"/>
              </a:ext>
            </a:extLst>
          </p:cNvPr>
          <p:cNvSpPr txBox="1"/>
          <p:nvPr/>
        </p:nvSpPr>
        <p:spPr>
          <a:xfrm>
            <a:off x="3919640" y="1873082"/>
            <a:ext cx="725552" cy="4308872"/>
          </a:xfrm>
          <a:prstGeom prst="rect">
            <a:avLst/>
          </a:prstGeom>
          <a:noFill/>
        </p:spPr>
        <p:txBody>
          <a:bodyPr wrap="square" lIns="0" tIns="0" rIns="0" bIns="0" rtlCol="0">
            <a:spAutoFit/>
          </a:bodyPr>
          <a:lstStyle/>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품명부호</a:t>
            </a:r>
            <a:r>
              <a:rPr lang="en-US" altLang="ko-KR" sz="700" dirty="0">
                <a:latin typeface="+mn-ea"/>
              </a:rPr>
              <a:t>(INC)</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대체재고</a:t>
            </a:r>
            <a:r>
              <a:rPr lang="ko-KR" altLang="en-US" sz="700" dirty="0">
                <a:latin typeface="+mn-ea"/>
              </a:rPr>
              <a:t> 번호</a:t>
            </a:r>
          </a:p>
          <a:p>
            <a:pPr>
              <a:lnSpc>
                <a:spcPct val="200000"/>
              </a:lnSpc>
            </a:pPr>
            <a:endParaRPr lang="en-US" altLang="ko-KR" sz="700" dirty="0">
              <a:latin typeface="+mn-ea"/>
            </a:endParaRPr>
          </a:p>
          <a:p>
            <a:pPr>
              <a:lnSpc>
                <a:spcPct val="200000"/>
              </a:lnSpc>
            </a:pPr>
            <a:r>
              <a:rPr lang="ko-KR" altLang="en-US" sz="700" dirty="0">
                <a:latin typeface="+mn-ea"/>
              </a:rPr>
              <a:t>품종 </a:t>
            </a:r>
            <a:r>
              <a:rPr lang="ko-KR" altLang="en-US" sz="700" dirty="0" err="1">
                <a:latin typeface="+mn-ea"/>
              </a:rPr>
              <a:t>구분번호</a:t>
            </a:r>
            <a:r>
              <a:rPr lang="en-US" altLang="ko-KR" sz="700" dirty="0">
                <a:latin typeface="+mn-ea"/>
              </a:rPr>
              <a:t>(CS)</a:t>
            </a:r>
          </a:p>
          <a:p>
            <a:pPr>
              <a:lnSpc>
                <a:spcPct val="200000"/>
              </a:lnSpc>
            </a:pPr>
            <a:r>
              <a:rPr lang="ko-KR" altLang="en-US" sz="700" dirty="0" err="1">
                <a:latin typeface="+mn-ea"/>
              </a:rPr>
              <a:t>제조국부호</a:t>
            </a:r>
            <a:r>
              <a:rPr lang="en-US" altLang="ko-KR" sz="700" dirty="0">
                <a:latin typeface="+mn-ea"/>
              </a:rPr>
              <a:t>(NTL)</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목록화담당자</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자료변경일자</a:t>
            </a:r>
            <a:endParaRPr lang="en-US" altLang="ko-KR" sz="700" dirty="0">
              <a:latin typeface="+mn-ea"/>
            </a:endParaRPr>
          </a:p>
        </p:txBody>
      </p:sp>
      <p:sp>
        <p:nvSpPr>
          <p:cNvPr id="76" name="TextBox 75">
            <a:extLst>
              <a:ext uri="{FF2B5EF4-FFF2-40B4-BE49-F238E27FC236}">
                <a16:creationId xmlns:a16="http://schemas.microsoft.com/office/drawing/2014/main" id="{FFC49AEA-2A8F-250C-A86A-A7751D9706C3}"/>
              </a:ext>
            </a:extLst>
          </p:cNvPr>
          <p:cNvSpPr txBox="1"/>
          <p:nvPr/>
        </p:nvSpPr>
        <p:spPr>
          <a:xfrm>
            <a:off x="4800394" y="1873082"/>
            <a:ext cx="1672616" cy="4308872"/>
          </a:xfrm>
          <a:prstGeom prst="rect">
            <a:avLst/>
          </a:prstGeom>
          <a:noFill/>
        </p:spPr>
        <p:txBody>
          <a:bodyPr wrap="square" lIns="0" tIns="0" rIns="0" bIns="0" rtlCol="0">
            <a:spAutoFit/>
          </a:bodyPr>
          <a:lstStyle/>
          <a:p>
            <a:pPr>
              <a:lnSpc>
                <a:spcPct val="200000"/>
              </a:lnSpc>
            </a:pPr>
            <a:r>
              <a:rPr lang="en-US" altLang="ko-KR" sz="700" dirty="0">
                <a:latin typeface="+mn-ea"/>
              </a:rPr>
              <a:t>111</a:t>
            </a:r>
          </a:p>
          <a:p>
            <a:pPr>
              <a:lnSpc>
                <a:spcPct val="200000"/>
              </a:lnSpc>
            </a:pPr>
            <a:endParaRPr lang="en-US" altLang="ko-KR" sz="700" dirty="0">
              <a:latin typeface="+mn-ea"/>
            </a:endParaRPr>
          </a:p>
          <a:p>
            <a:pPr>
              <a:lnSpc>
                <a:spcPct val="200000"/>
              </a:lnSpc>
            </a:pPr>
            <a:r>
              <a:rPr lang="en-US" altLang="ko-KR" sz="700" dirty="0">
                <a:latin typeface="+mn-ea"/>
              </a:rPr>
              <a:t>A12000</a:t>
            </a:r>
          </a:p>
          <a:p>
            <a:pPr>
              <a:lnSpc>
                <a:spcPct val="200000"/>
              </a:lnSpc>
            </a:pPr>
            <a:r>
              <a:rPr lang="en-US" altLang="ko-KR" sz="700" dirty="0">
                <a:latin typeface="+mn-ea"/>
              </a:rPr>
              <a:t>11112</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a:t>
            </a:r>
          </a:p>
          <a:p>
            <a:pPr>
              <a:lnSpc>
                <a:spcPct val="200000"/>
              </a:lnSpc>
            </a:pPr>
            <a:endParaRPr lang="en-US" altLang="ko-KR" sz="700" dirty="0">
              <a:latin typeface="+mn-ea"/>
            </a:endParaRPr>
          </a:p>
          <a:p>
            <a:pPr>
              <a:lnSpc>
                <a:spcPct val="200000"/>
              </a:lnSpc>
            </a:pPr>
            <a:r>
              <a:rPr lang="en-US" altLang="ko-KR" sz="700" dirty="0">
                <a:latin typeface="+mn-ea"/>
              </a:rPr>
              <a:t>M</a:t>
            </a:r>
          </a:p>
          <a:p>
            <a:pPr>
              <a:lnSpc>
                <a:spcPct val="200000"/>
              </a:lnSpc>
            </a:pPr>
            <a:r>
              <a:rPr lang="en-US" altLang="ko-KR" sz="700" dirty="0">
                <a:latin typeface="+mn-ea"/>
              </a:rPr>
              <a:t>9</a:t>
            </a:r>
          </a:p>
          <a:p>
            <a:pPr>
              <a:lnSpc>
                <a:spcPct val="200000"/>
              </a:lnSpc>
            </a:pPr>
            <a:endParaRPr lang="en-US" altLang="ko-KR" sz="700" dirty="0">
              <a:latin typeface="+mn-ea"/>
            </a:endParaRPr>
          </a:p>
          <a:p>
            <a:pPr>
              <a:lnSpc>
                <a:spcPct val="200000"/>
              </a:lnSpc>
            </a:pPr>
            <a:r>
              <a:rPr lang="en-US" altLang="ko-KR" sz="700" dirty="0">
                <a:latin typeface="+mn-ea"/>
              </a:rPr>
              <a:t>A</a:t>
            </a:r>
          </a:p>
          <a:p>
            <a:pPr>
              <a:lnSpc>
                <a:spcPct val="200000"/>
              </a:lnSpc>
            </a:pPr>
            <a:r>
              <a:rPr lang="en-US" altLang="ko-KR" sz="700" dirty="0">
                <a:latin typeface="+mn-ea"/>
              </a:rPr>
              <a:t>B</a:t>
            </a:r>
          </a:p>
          <a:p>
            <a:pPr>
              <a:lnSpc>
                <a:spcPct val="200000"/>
              </a:lnSpc>
            </a:pPr>
            <a:endParaRPr lang="en-US" altLang="ko-KR" sz="700" dirty="0">
              <a:latin typeface="+mn-ea"/>
            </a:endParaRPr>
          </a:p>
          <a:p>
            <a:pPr>
              <a:lnSpc>
                <a:spcPct val="200000"/>
              </a:lnSpc>
            </a:pPr>
            <a:r>
              <a:rPr lang="en-US" altLang="ko-KR" sz="700" dirty="0">
                <a:latin typeface="+mn-ea"/>
              </a:rPr>
              <a:t>0</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1980-01-05</a:t>
            </a:r>
          </a:p>
          <a:p>
            <a:pPr>
              <a:lnSpc>
                <a:spcPct val="200000"/>
              </a:lnSpc>
            </a:pPr>
            <a:r>
              <a:rPr lang="en-US" altLang="ko-KR" sz="700" dirty="0">
                <a:latin typeface="+mn-ea"/>
              </a:rPr>
              <a:t>2026-03-06</a:t>
            </a:r>
          </a:p>
        </p:txBody>
      </p:sp>
      <p:cxnSp>
        <p:nvCxnSpPr>
          <p:cNvPr id="78" name="직선 연결선 77">
            <a:extLst>
              <a:ext uri="{FF2B5EF4-FFF2-40B4-BE49-F238E27FC236}">
                <a16:creationId xmlns:a16="http://schemas.microsoft.com/office/drawing/2014/main" id="{E9293055-D5CD-4B9E-7F64-64B2D2CA7A52}"/>
              </a:ext>
            </a:extLst>
          </p:cNvPr>
          <p:cNvCxnSpPr/>
          <p:nvPr/>
        </p:nvCxnSpPr>
        <p:spPr>
          <a:xfrm>
            <a:off x="3830484" y="187308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9" name="직선 연결선 78">
            <a:extLst>
              <a:ext uri="{FF2B5EF4-FFF2-40B4-BE49-F238E27FC236}">
                <a16:creationId xmlns:a16="http://schemas.microsoft.com/office/drawing/2014/main" id="{E9293055-D5CD-4B9E-7F64-64B2D2CA7A52}"/>
              </a:ext>
            </a:extLst>
          </p:cNvPr>
          <p:cNvCxnSpPr/>
          <p:nvPr/>
        </p:nvCxnSpPr>
        <p:spPr>
          <a:xfrm>
            <a:off x="3832577" y="20878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3832577" y="23025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3832577" y="25173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3832577" y="2732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3832577" y="29467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3830484" y="316152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3832577" y="33762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3832577" y="35910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3832577" y="38057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3832577" y="40348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3832577" y="42291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3830484" y="44370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3832577" y="46517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832577" y="48811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6" name="직선 연결선 55">
            <a:extLst>
              <a:ext uri="{FF2B5EF4-FFF2-40B4-BE49-F238E27FC236}">
                <a16:creationId xmlns:a16="http://schemas.microsoft.com/office/drawing/2014/main" id="{E9293055-D5CD-4B9E-7F64-64B2D2CA7A52}"/>
              </a:ext>
            </a:extLst>
          </p:cNvPr>
          <p:cNvCxnSpPr/>
          <p:nvPr/>
        </p:nvCxnSpPr>
        <p:spPr>
          <a:xfrm>
            <a:off x="669260" y="330665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3832577" y="51008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832577" y="52951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3830484" y="55030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3832577" y="57177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832577" y="5947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832577" y="61600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직사각형 104"/>
          <p:cNvSpPr/>
          <p:nvPr/>
        </p:nvSpPr>
        <p:spPr>
          <a:xfrm>
            <a:off x="722583" y="3391949"/>
            <a:ext cx="792000" cy="6585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720490" y="339194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7" name="TextBox 106">
            <a:extLst>
              <a:ext uri="{FF2B5EF4-FFF2-40B4-BE49-F238E27FC236}">
                <a16:creationId xmlns:a16="http://schemas.microsoft.com/office/drawing/2014/main" id="{FFC49AEA-2A8F-250C-A86A-A7751D9706C3}"/>
              </a:ext>
            </a:extLst>
          </p:cNvPr>
          <p:cNvSpPr txBox="1"/>
          <p:nvPr/>
        </p:nvSpPr>
        <p:spPr>
          <a:xfrm>
            <a:off x="809647" y="3391949"/>
            <a:ext cx="670770" cy="646331"/>
          </a:xfrm>
          <a:prstGeom prst="rect">
            <a:avLst/>
          </a:prstGeom>
          <a:noFill/>
        </p:spPr>
        <p:txBody>
          <a:bodyPr wrap="square" lIns="0" tIns="0" rIns="0" bIns="0" rtlCol="0">
            <a:spAutoFit/>
          </a:bodyPr>
          <a:lstStyle/>
          <a:p>
            <a:pPr>
              <a:lnSpc>
                <a:spcPct val="200000"/>
              </a:lnSpc>
            </a:pPr>
            <a:r>
              <a:rPr lang="ko-KR" altLang="en-US" sz="700" dirty="0" err="1">
                <a:latin typeface="+mn-ea"/>
              </a:rPr>
              <a:t>군급분류</a:t>
            </a:r>
            <a:endParaRPr lang="en-US" altLang="ko-KR" sz="700" dirty="0">
              <a:latin typeface="+mn-ea"/>
            </a:endParaRPr>
          </a:p>
          <a:p>
            <a:pPr>
              <a:lnSpc>
                <a:spcPct val="200000"/>
              </a:lnSpc>
            </a:pPr>
            <a:r>
              <a:rPr lang="ko-KR" altLang="en-US" sz="700" dirty="0" err="1">
                <a:latin typeface="+mn-ea"/>
              </a:rPr>
              <a:t>영문품명</a:t>
            </a:r>
            <a:endParaRPr lang="en-US" altLang="ko-KR" sz="700" dirty="0">
              <a:latin typeface="+mn-ea"/>
            </a:endParaRPr>
          </a:p>
          <a:p>
            <a:pPr>
              <a:lnSpc>
                <a:spcPct val="200000"/>
              </a:lnSpc>
            </a:pPr>
            <a:r>
              <a:rPr lang="ko-KR" altLang="en-US" sz="700" dirty="0" err="1">
                <a:latin typeface="+mn-ea"/>
              </a:rPr>
              <a:t>한글품명</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1566495" y="3391949"/>
            <a:ext cx="1784088" cy="646331"/>
          </a:xfrm>
          <a:prstGeom prst="rect">
            <a:avLst/>
          </a:prstGeom>
          <a:noFill/>
        </p:spPr>
        <p:txBody>
          <a:bodyPr wrap="square" lIns="0" tIns="0" rIns="0" bIns="0" rtlCol="0">
            <a:spAutoFit/>
          </a:bodyPr>
          <a:lstStyle/>
          <a:p>
            <a:pPr>
              <a:lnSpc>
                <a:spcPct val="200000"/>
              </a:lnSpc>
            </a:pPr>
            <a:r>
              <a:rPr lang="en-US" altLang="ko-KR" sz="700" dirty="0">
                <a:latin typeface="+mn-ea"/>
              </a:rPr>
              <a:t>1000</a:t>
            </a:r>
          </a:p>
          <a:p>
            <a:pPr>
              <a:lnSpc>
                <a:spcPct val="200000"/>
              </a:lnSpc>
            </a:pPr>
            <a:r>
              <a:rPr lang="en-US" altLang="ko-KR" sz="700" dirty="0">
                <a:latin typeface="+mn-ea"/>
              </a:rPr>
              <a:t>MODEL-Y</a:t>
            </a:r>
          </a:p>
          <a:p>
            <a:pPr>
              <a:lnSpc>
                <a:spcPct val="200000"/>
              </a:lnSpc>
            </a:pPr>
            <a:r>
              <a:rPr lang="ko-KR" altLang="en-US" sz="700" dirty="0">
                <a:latin typeface="+mn-ea"/>
              </a:rPr>
              <a:t>모델</a:t>
            </a:r>
            <a:r>
              <a:rPr lang="en-US" altLang="ko-KR" sz="700" dirty="0">
                <a:latin typeface="+mn-ea"/>
              </a:rPr>
              <a:t>Y</a:t>
            </a:r>
          </a:p>
        </p:txBody>
      </p:sp>
      <p:cxnSp>
        <p:nvCxnSpPr>
          <p:cNvPr id="109" name="직선 연결선 108">
            <a:extLst>
              <a:ext uri="{FF2B5EF4-FFF2-40B4-BE49-F238E27FC236}">
                <a16:creationId xmlns:a16="http://schemas.microsoft.com/office/drawing/2014/main" id="{E9293055-D5CD-4B9E-7F64-64B2D2CA7A52}"/>
              </a:ext>
            </a:extLst>
          </p:cNvPr>
          <p:cNvCxnSpPr/>
          <p:nvPr/>
        </p:nvCxnSpPr>
        <p:spPr>
          <a:xfrm>
            <a:off x="722583" y="36230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0" name="직선 연결선 109">
            <a:extLst>
              <a:ext uri="{FF2B5EF4-FFF2-40B4-BE49-F238E27FC236}">
                <a16:creationId xmlns:a16="http://schemas.microsoft.com/office/drawing/2014/main" id="{E9293055-D5CD-4B9E-7F64-64B2D2CA7A52}"/>
              </a:ext>
            </a:extLst>
          </p:cNvPr>
          <p:cNvCxnSpPr/>
          <p:nvPr/>
        </p:nvCxnSpPr>
        <p:spPr>
          <a:xfrm>
            <a:off x="722583" y="3836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22583" y="40504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사각형: 둥근 모서리 15">
            <a:extLst>
              <a:ext uri="{FF2B5EF4-FFF2-40B4-BE49-F238E27FC236}">
                <a16:creationId xmlns:a16="http://schemas.microsoft.com/office/drawing/2014/main" id="{E2B61CFB-AD16-68D0-8752-50D9C5E01971}"/>
              </a:ext>
            </a:extLst>
          </p:cNvPr>
          <p:cNvSpPr/>
          <p:nvPr/>
        </p:nvSpPr>
        <p:spPr>
          <a:xfrm>
            <a:off x="767702" y="263361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14" name="모서리가 둥근 직사각형 113"/>
          <p:cNvSpPr/>
          <p:nvPr/>
        </p:nvSpPr>
        <p:spPr>
          <a:xfrm>
            <a:off x="1443878" y="229990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ko-KR" sz="700" dirty="0">
                <a:solidFill>
                  <a:schemeClr val="bg1">
                    <a:lumMod val="65000"/>
                  </a:schemeClr>
                </a:solidFill>
              </a:rPr>
              <a:t>NIIN</a:t>
            </a:r>
            <a:r>
              <a:rPr lang="ko-KR" altLang="en-US" sz="700" dirty="0">
                <a:solidFill>
                  <a:schemeClr val="bg1">
                    <a:lumMod val="65000"/>
                  </a:schemeClr>
                </a:solidFill>
              </a:rPr>
              <a:t>을 입력하세요</a:t>
            </a:r>
            <a:r>
              <a:rPr lang="en-US" altLang="ko-KR" sz="700" dirty="0">
                <a:solidFill>
                  <a:schemeClr val="bg1">
                    <a:lumMod val="65000"/>
                  </a:schemeClr>
                </a:solidFill>
              </a:rPr>
              <a:t>.</a:t>
            </a:r>
            <a:endParaRPr lang="ko-KR" altLang="en-US" sz="700" dirty="0">
              <a:solidFill>
                <a:schemeClr val="tx1"/>
              </a:solidFill>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04476" y="2368217"/>
            <a:ext cx="670770" cy="107722"/>
          </a:xfrm>
          <a:prstGeom prst="rect">
            <a:avLst/>
          </a:prstGeom>
          <a:noFill/>
        </p:spPr>
        <p:txBody>
          <a:bodyPr wrap="square" lIns="0" tIns="0" rIns="0" bIns="0" rtlCol="0">
            <a:spAutoFit/>
          </a:bodyPr>
          <a:lstStyle/>
          <a:p>
            <a:r>
              <a:rPr lang="en-US" altLang="ko-KR" sz="700" dirty="0">
                <a:latin typeface="+mn-ea"/>
              </a:rPr>
              <a:t>NIIN</a:t>
            </a:r>
          </a:p>
        </p:txBody>
      </p:sp>
      <p:grpSp>
        <p:nvGrpSpPr>
          <p:cNvPr id="116" name="그룹 115"/>
          <p:cNvGrpSpPr/>
          <p:nvPr/>
        </p:nvGrpSpPr>
        <p:grpSpPr>
          <a:xfrm>
            <a:off x="3112794" y="2338190"/>
            <a:ext cx="145884" cy="145882"/>
            <a:chOff x="3112794" y="3984500"/>
            <a:chExt cx="145884" cy="145882"/>
          </a:xfrm>
        </p:grpSpPr>
        <p:sp>
          <p:nvSpPr>
            <p:cNvPr id="117" name="타원 116"/>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8" name="그룹 117"/>
            <p:cNvGrpSpPr/>
            <p:nvPr/>
          </p:nvGrpSpPr>
          <p:grpSpPr>
            <a:xfrm>
              <a:off x="3156699" y="4028404"/>
              <a:ext cx="58075" cy="58074"/>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0" name="직선 연결선 11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21" name="직선 연결선 120">
            <a:extLst>
              <a:ext uri="{FF2B5EF4-FFF2-40B4-BE49-F238E27FC236}">
                <a16:creationId xmlns:a16="http://schemas.microsoft.com/office/drawing/2014/main" id="{E9293055-D5CD-4B9E-7F64-64B2D2CA7A52}"/>
              </a:ext>
            </a:extLst>
          </p:cNvPr>
          <p:cNvCxnSpPr/>
          <p:nvPr/>
        </p:nvCxnSpPr>
        <p:spPr>
          <a:xfrm>
            <a:off x="675399" y="297293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3919640" y="1873082"/>
            <a:ext cx="725552" cy="215444"/>
          </a:xfrm>
          <a:prstGeom prst="rect">
            <a:avLst/>
          </a:prstGeom>
          <a:noFill/>
        </p:spPr>
        <p:txBody>
          <a:bodyPr wrap="square" lIns="0" tIns="0" rIns="0" bIns="0" rtlCol="0">
            <a:spAutoFit/>
          </a:bodyPr>
          <a:lstStyle/>
          <a:p>
            <a:r>
              <a:rPr lang="en-US" altLang="ko-KR" sz="700" dirty="0">
                <a:latin typeface="+mn-ea"/>
              </a:rPr>
              <a:t>FIIG</a:t>
            </a:r>
            <a:r>
              <a:rPr lang="ko-KR" altLang="en-US" sz="700" dirty="0" err="1">
                <a:latin typeface="+mn-ea"/>
              </a:rPr>
              <a:t>긴요도부호</a:t>
            </a:r>
            <a:r>
              <a:rPr lang="ko-KR" altLang="en-US" sz="700" dirty="0">
                <a:latin typeface="+mn-ea"/>
              </a:rPr>
              <a:t> </a:t>
            </a:r>
            <a:r>
              <a:rPr lang="en-US" altLang="ko-KR" sz="700" dirty="0">
                <a:latin typeface="+mn-ea"/>
              </a:rPr>
              <a:t>(FCC)</a:t>
            </a:r>
          </a:p>
        </p:txBody>
      </p:sp>
      <p:sp>
        <p:nvSpPr>
          <p:cNvPr id="123" name="TextBox 122">
            <a:extLst>
              <a:ext uri="{FF2B5EF4-FFF2-40B4-BE49-F238E27FC236}">
                <a16:creationId xmlns:a16="http://schemas.microsoft.com/office/drawing/2014/main" id="{FFC49AEA-2A8F-250C-A86A-A7751D9706C3}"/>
              </a:ext>
            </a:extLst>
          </p:cNvPr>
          <p:cNvSpPr txBox="1"/>
          <p:nvPr/>
        </p:nvSpPr>
        <p:spPr>
          <a:xfrm>
            <a:off x="3919640" y="2088699"/>
            <a:ext cx="725552" cy="215444"/>
          </a:xfrm>
          <a:prstGeom prst="rect">
            <a:avLst/>
          </a:prstGeom>
          <a:noFill/>
        </p:spPr>
        <p:txBody>
          <a:bodyPr wrap="square" lIns="0" tIns="0" rIns="0" bIns="0" rtlCol="0">
            <a:spAutoFit/>
          </a:bodyPr>
          <a:lstStyle/>
          <a:p>
            <a:r>
              <a:rPr lang="ko-KR" altLang="en-US" sz="700" dirty="0" err="1">
                <a:latin typeface="+mn-ea"/>
              </a:rPr>
              <a:t>취소이유</a:t>
            </a:r>
            <a:r>
              <a:rPr lang="ko-KR" altLang="en-US" sz="700" dirty="0">
                <a:latin typeface="+mn-ea"/>
              </a:rPr>
              <a:t> 부호</a:t>
            </a:r>
            <a:r>
              <a:rPr lang="en-US" altLang="ko-KR" sz="700" dirty="0">
                <a:latin typeface="+mn-ea"/>
              </a:rPr>
              <a:t>(DRC)</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3919640" y="2299904"/>
            <a:ext cx="725552" cy="215444"/>
          </a:xfrm>
          <a:prstGeom prst="rect">
            <a:avLst/>
          </a:prstGeom>
          <a:noFill/>
        </p:spPr>
        <p:txBody>
          <a:bodyPr wrap="square" lIns="0" tIns="0" rIns="0" bIns="0" rtlCol="0">
            <a:spAutoFit/>
          </a:bodyPr>
          <a:lstStyle/>
          <a:p>
            <a:r>
              <a:rPr lang="ko-KR" altLang="en-US" sz="700" dirty="0" err="1">
                <a:latin typeface="+mn-ea"/>
              </a:rPr>
              <a:t>품목식별</a:t>
            </a:r>
            <a:r>
              <a:rPr lang="ko-KR" altLang="en-US" sz="700" dirty="0">
                <a:latin typeface="+mn-ea"/>
              </a:rPr>
              <a:t> </a:t>
            </a:r>
            <a:r>
              <a:rPr lang="ko-KR" altLang="en-US" sz="700" dirty="0" err="1">
                <a:latin typeface="+mn-ea"/>
              </a:rPr>
              <a:t>지침서번호</a:t>
            </a:r>
            <a:r>
              <a:rPr lang="en-US" altLang="ko-KR" sz="700" dirty="0">
                <a:latin typeface="+mn-ea"/>
              </a:rPr>
              <a:t>(FIIG </a:t>
            </a:r>
            <a:r>
              <a:rPr lang="ko-KR" altLang="en-US" sz="700" dirty="0">
                <a:latin typeface="+mn-ea"/>
              </a:rPr>
              <a:t>순번</a:t>
            </a:r>
            <a:r>
              <a:rPr lang="en-US" altLang="ko-KR" sz="700" dirty="0">
                <a:latin typeface="+mn-ea"/>
              </a:rPr>
              <a:t>)</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3919640" y="2744986"/>
            <a:ext cx="725552" cy="215444"/>
          </a:xfrm>
          <a:prstGeom prst="rect">
            <a:avLst/>
          </a:prstGeom>
          <a:noFill/>
        </p:spPr>
        <p:txBody>
          <a:bodyPr wrap="square" lIns="0" tIns="0" rIns="0" bIns="0" rtlCol="0">
            <a:spAutoFit/>
          </a:bodyPr>
          <a:lstStyle/>
          <a:p>
            <a:r>
              <a:rPr lang="ko-KR" altLang="en-US" sz="700" dirty="0">
                <a:latin typeface="+mn-ea"/>
              </a:rPr>
              <a:t>자동자료처리 </a:t>
            </a:r>
            <a:r>
              <a:rPr lang="ko-KR" altLang="en-US" sz="700" dirty="0" err="1">
                <a:latin typeface="+mn-ea"/>
              </a:rPr>
              <a:t>장비부호</a:t>
            </a:r>
            <a:r>
              <a:rPr lang="en-US" altLang="ko-KR" sz="700" dirty="0">
                <a:latin typeface="+mn-ea"/>
              </a:rPr>
              <a:t>(ADPEC)</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3919640" y="2947669"/>
            <a:ext cx="725552" cy="215444"/>
          </a:xfrm>
          <a:prstGeom prst="rect">
            <a:avLst/>
          </a:prstGeom>
          <a:noFill/>
        </p:spPr>
        <p:txBody>
          <a:bodyPr wrap="square" lIns="0" tIns="0" rIns="0" bIns="0" rtlCol="0">
            <a:spAutoFit/>
          </a:bodyPr>
          <a:lstStyle/>
          <a:p>
            <a:r>
              <a:rPr lang="ko-KR" altLang="en-US" sz="700" dirty="0">
                <a:latin typeface="+mn-ea"/>
              </a:rPr>
              <a:t>귀금속 </a:t>
            </a:r>
            <a:r>
              <a:rPr lang="ko-KR" altLang="en-US" sz="700" dirty="0" err="1">
                <a:latin typeface="+mn-ea"/>
              </a:rPr>
              <a:t>지시부호</a:t>
            </a:r>
            <a:r>
              <a:rPr lang="en-US" altLang="ko-KR" sz="700" dirty="0">
                <a:latin typeface="+mn-ea"/>
              </a:rPr>
              <a:t>(PMIC)</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3919639" y="3156726"/>
            <a:ext cx="756849" cy="215444"/>
          </a:xfrm>
          <a:prstGeom prst="rect">
            <a:avLst/>
          </a:prstGeom>
          <a:noFill/>
        </p:spPr>
        <p:txBody>
          <a:bodyPr wrap="square" lIns="0" tIns="0" rIns="0" bIns="0" rtlCol="0">
            <a:spAutoFit/>
          </a:bodyPr>
          <a:lstStyle/>
          <a:p>
            <a:r>
              <a:rPr lang="ko-KR" altLang="en-US" sz="700" dirty="0">
                <a:latin typeface="+mn-ea"/>
              </a:rPr>
              <a:t>참조</a:t>
            </a:r>
            <a:r>
              <a:rPr lang="en-US" altLang="ko-KR" sz="700" dirty="0">
                <a:latin typeface="+mn-ea"/>
              </a:rPr>
              <a:t>/</a:t>
            </a:r>
            <a:r>
              <a:rPr lang="ko-KR" altLang="en-US" sz="700" dirty="0">
                <a:latin typeface="+mn-ea"/>
              </a:rPr>
              <a:t>부분 서술형 </a:t>
            </a:r>
            <a:r>
              <a:rPr lang="ko-KR" altLang="en-US" sz="700" dirty="0" err="1">
                <a:latin typeface="+mn-ea"/>
              </a:rPr>
              <a:t>원인부호</a:t>
            </a:r>
            <a:r>
              <a:rPr lang="en-US" altLang="ko-KR" sz="700" dirty="0">
                <a:latin typeface="+mn-ea"/>
              </a:rPr>
              <a:t>(RPDMRC)</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3919639" y="3594949"/>
            <a:ext cx="756849" cy="215444"/>
          </a:xfrm>
          <a:prstGeom prst="rect">
            <a:avLst/>
          </a:prstGeom>
          <a:noFill/>
        </p:spPr>
        <p:txBody>
          <a:bodyPr wrap="square" lIns="0" tIns="0" rIns="0" bIns="0" rtlCol="0">
            <a:spAutoFit/>
          </a:bodyPr>
          <a:lstStyle/>
          <a:p>
            <a:r>
              <a:rPr lang="ko-KR" altLang="en-US" sz="700" dirty="0" err="1">
                <a:latin typeface="+mn-ea"/>
              </a:rPr>
              <a:t>품목식별</a:t>
            </a:r>
            <a:r>
              <a:rPr lang="ko-KR" altLang="en-US" sz="700" dirty="0">
                <a:latin typeface="+mn-ea"/>
              </a:rPr>
              <a:t> </a:t>
            </a:r>
            <a:r>
              <a:rPr lang="ko-KR" altLang="en-US" sz="700" dirty="0" err="1">
                <a:latin typeface="+mn-ea"/>
              </a:rPr>
              <a:t>형태부호</a:t>
            </a:r>
            <a:r>
              <a:rPr lang="ko-KR" altLang="en-US" sz="700" dirty="0">
                <a:latin typeface="+mn-ea"/>
              </a:rPr>
              <a:t> </a:t>
            </a:r>
            <a:r>
              <a:rPr lang="en-US" altLang="ko-KR" sz="700" dirty="0">
                <a:latin typeface="+mn-ea"/>
              </a:rPr>
              <a:t>(TIIC)</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3919639" y="4235259"/>
            <a:ext cx="756849" cy="215444"/>
          </a:xfrm>
          <a:prstGeom prst="rect">
            <a:avLst/>
          </a:prstGeom>
          <a:noFill/>
        </p:spPr>
        <p:txBody>
          <a:bodyPr wrap="square" lIns="0" tIns="0" rIns="0" bIns="0" rtlCol="0">
            <a:spAutoFit/>
          </a:bodyPr>
          <a:lstStyle/>
          <a:p>
            <a:r>
              <a:rPr lang="ko-KR" altLang="en-US" sz="700" dirty="0" err="1">
                <a:latin typeface="+mn-ea"/>
              </a:rPr>
              <a:t>재고번호</a:t>
            </a:r>
            <a:r>
              <a:rPr lang="ko-KR" altLang="en-US" sz="700" dirty="0">
                <a:latin typeface="+mn-ea"/>
              </a:rPr>
              <a:t> </a:t>
            </a:r>
            <a:r>
              <a:rPr lang="ko-KR" altLang="en-US" sz="700" dirty="0" err="1">
                <a:latin typeface="+mn-ea"/>
              </a:rPr>
              <a:t>식별부호</a:t>
            </a:r>
            <a:r>
              <a:rPr lang="en-US" altLang="ko-KR" sz="700" dirty="0">
                <a:latin typeface="+mn-ea"/>
              </a:rPr>
              <a:t>(IS)</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3919639" y="4438170"/>
            <a:ext cx="756849" cy="215444"/>
          </a:xfrm>
          <a:prstGeom prst="rect">
            <a:avLst/>
          </a:prstGeom>
          <a:noFill/>
        </p:spPr>
        <p:txBody>
          <a:bodyPr wrap="square" lIns="0" tIns="0" rIns="0" bIns="0" rtlCol="0">
            <a:spAutoFit/>
          </a:bodyPr>
          <a:lstStyle/>
          <a:p>
            <a:r>
              <a:rPr lang="ko-KR" altLang="en-US" sz="700" dirty="0">
                <a:latin typeface="+mn-ea"/>
              </a:rPr>
              <a:t>비군사화 부호</a:t>
            </a:r>
            <a:r>
              <a:rPr lang="en-US" altLang="ko-KR" sz="700" dirty="0">
                <a:latin typeface="+mn-ea"/>
              </a:rPr>
              <a:t>(DEMIL)</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3919639" y="4661071"/>
            <a:ext cx="756849" cy="215444"/>
          </a:xfrm>
          <a:prstGeom prst="rect">
            <a:avLst/>
          </a:prstGeom>
          <a:noFill/>
        </p:spPr>
        <p:txBody>
          <a:bodyPr wrap="square" lIns="0" tIns="0" rIns="0" bIns="0" rtlCol="0">
            <a:spAutoFit/>
          </a:bodyPr>
          <a:lstStyle/>
          <a:p>
            <a:r>
              <a:rPr lang="ko-KR" altLang="en-US" sz="700" dirty="0">
                <a:latin typeface="+mn-ea"/>
              </a:rPr>
              <a:t>정전기 </a:t>
            </a:r>
            <a:r>
              <a:rPr lang="ko-KR" altLang="en-US" sz="700" dirty="0" err="1">
                <a:latin typeface="+mn-ea"/>
              </a:rPr>
              <a:t>방전부호</a:t>
            </a:r>
            <a:r>
              <a:rPr lang="en-US" altLang="ko-KR" sz="700" dirty="0">
                <a:latin typeface="+mn-ea"/>
              </a:rPr>
              <a:t>(ESDC)</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3919639" y="4882515"/>
            <a:ext cx="756849" cy="215444"/>
          </a:xfrm>
          <a:prstGeom prst="rect">
            <a:avLst/>
          </a:prstGeom>
          <a:noFill/>
        </p:spPr>
        <p:txBody>
          <a:bodyPr wrap="square" lIns="0" tIns="0" rIns="0" bIns="0" rtlCol="0">
            <a:spAutoFit/>
          </a:bodyPr>
          <a:lstStyle/>
          <a:p>
            <a:r>
              <a:rPr lang="ko-KR" altLang="en-US" sz="700" dirty="0">
                <a:latin typeface="+mn-ea"/>
              </a:rPr>
              <a:t>품목식별번호 </a:t>
            </a:r>
            <a:r>
              <a:rPr lang="ko-KR" altLang="en-US" sz="700" dirty="0" err="1">
                <a:latin typeface="+mn-ea"/>
              </a:rPr>
              <a:t>상태부호</a:t>
            </a:r>
            <a:r>
              <a:rPr lang="en-US" altLang="ko-KR" sz="700" dirty="0">
                <a:latin typeface="+mn-ea"/>
              </a:rPr>
              <a:t>(NSC)</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3919639" y="5092514"/>
            <a:ext cx="756849" cy="215444"/>
          </a:xfrm>
          <a:prstGeom prst="rect">
            <a:avLst/>
          </a:prstGeom>
          <a:noFill/>
        </p:spPr>
        <p:txBody>
          <a:bodyPr wrap="square" lIns="0" tIns="0" rIns="0" bIns="0" rtlCol="0">
            <a:spAutoFit/>
          </a:bodyPr>
          <a:lstStyle/>
          <a:p>
            <a:r>
              <a:rPr lang="ko-KR" altLang="en-US" sz="700" dirty="0">
                <a:latin typeface="+mn-ea"/>
              </a:rPr>
              <a:t>위험물자부호</a:t>
            </a:r>
            <a:r>
              <a:rPr lang="en-US" altLang="ko-KR" sz="700" dirty="0">
                <a:latin typeface="+mn-ea"/>
              </a:rPr>
              <a:t>(HMIC)</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3919639" y="5294791"/>
            <a:ext cx="756849" cy="215444"/>
          </a:xfrm>
          <a:prstGeom prst="rect">
            <a:avLst/>
          </a:prstGeom>
          <a:noFill/>
        </p:spPr>
        <p:txBody>
          <a:bodyPr wrap="square" lIns="0" tIns="0" rIns="0" bIns="0" rtlCol="0">
            <a:spAutoFit/>
          </a:bodyPr>
          <a:lstStyle/>
          <a:p>
            <a:r>
              <a:rPr lang="ko-KR" altLang="en-US" sz="700" dirty="0">
                <a:latin typeface="+mn-ea"/>
              </a:rPr>
              <a:t>위험특성부호 </a:t>
            </a:r>
            <a:r>
              <a:rPr lang="en-US" altLang="ko-KR" sz="700" dirty="0">
                <a:latin typeface="+mn-ea"/>
              </a:rPr>
              <a:t>(HCC)</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3919639" y="5733773"/>
            <a:ext cx="756849" cy="215444"/>
          </a:xfrm>
          <a:prstGeom prst="rect">
            <a:avLst/>
          </a:prstGeom>
          <a:noFill/>
        </p:spPr>
        <p:txBody>
          <a:bodyPr wrap="square" lIns="0" tIns="0" rIns="0" bIns="0" rtlCol="0">
            <a:spAutoFit/>
          </a:bodyPr>
          <a:lstStyle/>
          <a:p>
            <a:r>
              <a:rPr lang="ko-KR" altLang="en-US" sz="700" dirty="0" err="1">
                <a:latin typeface="+mn-ea"/>
              </a:rPr>
              <a:t>국가품목</a:t>
            </a:r>
            <a:r>
              <a:rPr lang="ko-KR" altLang="en-US" sz="700" dirty="0">
                <a:latin typeface="+mn-ea"/>
              </a:rPr>
              <a:t> 식별번호</a:t>
            </a:r>
            <a:r>
              <a:rPr lang="en-US" altLang="ko-KR" sz="700" dirty="0">
                <a:latin typeface="+mn-ea"/>
              </a:rPr>
              <a:t>(NIIN)</a:t>
            </a:r>
            <a:r>
              <a:rPr lang="ko-KR" altLang="en-US" sz="700" dirty="0" err="1">
                <a:latin typeface="+mn-ea"/>
              </a:rPr>
              <a:t>부여일자</a:t>
            </a:r>
            <a:endParaRPr lang="ko-KR" altLang="en-US" sz="700" dirty="0">
              <a:latin typeface="+mn-ea"/>
            </a:endParaRPr>
          </a:p>
        </p:txBody>
      </p:sp>
      <p:cxnSp>
        <p:nvCxnSpPr>
          <p:cNvPr id="151" name="직선 연결선 150">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675399" y="21726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TextBox 152">
            <a:extLst>
              <a:ext uri="{FF2B5EF4-FFF2-40B4-BE49-F238E27FC236}">
                <a16:creationId xmlns:a16="http://schemas.microsoft.com/office/drawing/2014/main" id="{FFC49AEA-2A8F-250C-A86A-A7751D9706C3}"/>
              </a:ext>
            </a:extLst>
          </p:cNvPr>
          <p:cNvSpPr txBox="1"/>
          <p:nvPr/>
        </p:nvSpPr>
        <p:spPr>
          <a:xfrm>
            <a:off x="764169" y="1956033"/>
            <a:ext cx="359782" cy="107722"/>
          </a:xfrm>
          <a:prstGeom prst="rect">
            <a:avLst/>
          </a:prstGeom>
          <a:noFill/>
        </p:spPr>
        <p:txBody>
          <a:bodyPr wrap="square" lIns="0" tIns="0" rIns="0" bIns="0" rtlCol="0">
            <a:spAutoFit/>
          </a:bodyPr>
          <a:lstStyle/>
          <a:p>
            <a:pPr algn="ctr"/>
            <a:r>
              <a:rPr lang="ko-KR" altLang="en-US" sz="700" dirty="0" err="1">
                <a:latin typeface="+mn-ea"/>
              </a:rPr>
              <a:t>형상자료</a:t>
            </a:r>
            <a:endParaRPr lang="ko-KR" altLang="en-US" sz="700" dirty="0">
              <a:latin typeface="+mn-ea"/>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1218545" y="1956033"/>
            <a:ext cx="447776" cy="107722"/>
          </a:xfrm>
          <a:prstGeom prst="rect">
            <a:avLst/>
          </a:prstGeom>
          <a:noFill/>
        </p:spPr>
        <p:txBody>
          <a:bodyPr wrap="square" lIns="0" tIns="0" rIns="0" bIns="0" rtlCol="0">
            <a:spAutoFit/>
          </a:bodyPr>
          <a:lstStyle/>
          <a:p>
            <a:pPr algn="ctr"/>
            <a:r>
              <a:rPr lang="ko-KR" altLang="en-US" sz="700" b="1" dirty="0" err="1">
                <a:latin typeface="+mn-ea"/>
              </a:rPr>
              <a:t>식별자료</a:t>
            </a:r>
            <a:endParaRPr lang="ko-KR" altLang="en-US" sz="700" b="1" dirty="0">
              <a:latin typeface="+mn-ea"/>
            </a:endParaRP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1226273" y="217264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0" name="그룹 159"/>
          <p:cNvGrpSpPr/>
          <p:nvPr/>
        </p:nvGrpSpPr>
        <p:grpSpPr>
          <a:xfrm>
            <a:off x="2924086" y="1917910"/>
            <a:ext cx="422853" cy="187961"/>
            <a:chOff x="3641308" y="2234886"/>
            <a:chExt cx="422853" cy="187961"/>
          </a:xfrm>
        </p:grpSpPr>
        <p:sp>
          <p:nvSpPr>
            <p:cNvPr id="161" name="타원 16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rot="5400000" flipH="1">
              <a:off x="3679895" y="2305364"/>
              <a:ext cx="94010" cy="47005"/>
              <a:chOff x="6812560" y="3297172"/>
              <a:chExt cx="94010" cy="47005"/>
            </a:xfrm>
          </p:grpSpPr>
          <p:cxnSp>
            <p:nvCxnSpPr>
              <p:cNvPr id="167" name="직선 연결선 1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8" name="직선 연결선 1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3" name="타원 16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4" name="그룹 163"/>
            <p:cNvGrpSpPr/>
            <p:nvPr/>
          </p:nvGrpSpPr>
          <p:grpSpPr>
            <a:xfrm rot="16200000">
              <a:off x="3931564" y="2305364"/>
              <a:ext cx="94010" cy="47005"/>
              <a:chOff x="6812560" y="3297172"/>
              <a:chExt cx="94010" cy="47005"/>
            </a:xfrm>
          </p:grpSpPr>
          <p:cxnSp>
            <p:nvCxnSpPr>
              <p:cNvPr id="165" name="직선 연결선 1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6" name="직선 연결선 1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9" name="TextBox 168">
            <a:extLst>
              <a:ext uri="{FF2B5EF4-FFF2-40B4-BE49-F238E27FC236}">
                <a16:creationId xmlns:a16="http://schemas.microsoft.com/office/drawing/2014/main" id="{FFC49AEA-2A8F-250C-A86A-A7751D9706C3}"/>
              </a:ext>
            </a:extLst>
          </p:cNvPr>
          <p:cNvSpPr txBox="1"/>
          <p:nvPr/>
        </p:nvSpPr>
        <p:spPr>
          <a:xfrm>
            <a:off x="1754660" y="1956033"/>
            <a:ext cx="447776" cy="107722"/>
          </a:xfrm>
          <a:prstGeom prst="rect">
            <a:avLst/>
          </a:prstGeom>
          <a:noFill/>
        </p:spPr>
        <p:txBody>
          <a:bodyPr wrap="square" lIns="0" tIns="0" rIns="0" bIns="0" rtlCol="0">
            <a:spAutoFit/>
          </a:bodyPr>
          <a:lstStyle/>
          <a:p>
            <a:pPr algn="ctr"/>
            <a:r>
              <a:rPr lang="ko-KR" altLang="en-US" sz="700" dirty="0">
                <a:latin typeface="+mn-ea"/>
              </a:rPr>
              <a:t>참고자료</a:t>
            </a:r>
          </a:p>
        </p:txBody>
      </p:sp>
      <p:grpSp>
        <p:nvGrpSpPr>
          <p:cNvPr id="170" name="그룹 169"/>
          <p:cNvGrpSpPr/>
          <p:nvPr/>
        </p:nvGrpSpPr>
        <p:grpSpPr>
          <a:xfrm>
            <a:off x="3138377" y="1650089"/>
            <a:ext cx="94010" cy="94010"/>
            <a:chOff x="6812560" y="3297172"/>
            <a:chExt cx="94010" cy="94010"/>
          </a:xfrm>
        </p:grpSpPr>
        <p:cxnSp>
          <p:nvCxnSpPr>
            <p:cNvPr id="171" name="직선 연결선 17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72" name="직선 연결선 17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73" name="TextBox 172">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목록정보</a:t>
            </a:r>
            <a:r>
              <a:rPr lang="ko-KR" altLang="en-US" sz="900" dirty="0">
                <a:latin typeface="+mn-ea"/>
              </a:rPr>
              <a:t> 조회</a:t>
            </a:r>
          </a:p>
        </p:txBody>
      </p:sp>
      <p:grpSp>
        <p:nvGrpSpPr>
          <p:cNvPr id="174" name="그룹 173"/>
          <p:cNvGrpSpPr/>
          <p:nvPr/>
        </p:nvGrpSpPr>
        <p:grpSpPr>
          <a:xfrm>
            <a:off x="3795734" y="1630768"/>
            <a:ext cx="2712027" cy="216169"/>
            <a:chOff x="3795734" y="1630768"/>
            <a:chExt cx="2712027" cy="216169"/>
          </a:xfrm>
        </p:grpSpPr>
        <p:cxnSp>
          <p:nvCxnSpPr>
            <p:cNvPr id="175" name="직선 연결선 174">
              <a:extLst>
                <a:ext uri="{FF2B5EF4-FFF2-40B4-BE49-F238E27FC236}">
                  <a16:creationId xmlns:a16="http://schemas.microsoft.com/office/drawing/2014/main" id="{E9293055-D5CD-4B9E-7F64-64B2D2CA7A52}"/>
                </a:ext>
              </a:extLst>
            </p:cNvPr>
            <p:cNvCxnSpPr/>
            <p:nvPr/>
          </p:nvCxnSpPr>
          <p:spPr>
            <a:xfrm>
              <a:off x="3795734"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76" name="그룹 175"/>
            <p:cNvGrpSpPr/>
            <p:nvPr/>
          </p:nvGrpSpPr>
          <p:grpSpPr>
            <a:xfrm>
              <a:off x="6253541" y="1650089"/>
              <a:ext cx="94010" cy="94010"/>
              <a:chOff x="6812560" y="3297172"/>
              <a:chExt cx="94010" cy="94010"/>
            </a:xfrm>
          </p:grpSpPr>
          <p:cxnSp>
            <p:nvCxnSpPr>
              <p:cNvPr id="178" name="직선 연결선 17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79" name="직선 연결선 17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3893679" y="1630768"/>
              <a:ext cx="1798758" cy="138499"/>
            </a:xfrm>
            <a:prstGeom prst="rect">
              <a:avLst/>
            </a:prstGeom>
            <a:noFill/>
          </p:spPr>
          <p:txBody>
            <a:bodyPr wrap="square" lIns="0" tIns="0" rIns="0" bIns="0" rtlCol="0">
              <a:spAutoFit/>
            </a:bodyPr>
            <a:lstStyle/>
            <a:p>
              <a:r>
                <a:rPr lang="ko-KR" altLang="en-US" sz="900" dirty="0" err="1">
                  <a:latin typeface="+mn-ea"/>
                </a:rPr>
                <a:t>목록정보</a:t>
              </a:r>
              <a:r>
                <a:rPr lang="ko-KR" altLang="en-US" sz="900" dirty="0">
                  <a:latin typeface="+mn-ea"/>
                </a:rPr>
                <a:t> 조회</a:t>
              </a:r>
            </a:p>
          </p:txBody>
        </p:sp>
      </p:grpSp>
      <p:grpSp>
        <p:nvGrpSpPr>
          <p:cNvPr id="97" name="그룹 96"/>
          <p:cNvGrpSpPr/>
          <p:nvPr/>
        </p:nvGrpSpPr>
        <p:grpSpPr>
          <a:xfrm>
            <a:off x="8223250" y="569392"/>
            <a:ext cx="3365500" cy="634511"/>
            <a:chOff x="8223250" y="569392"/>
            <a:chExt cx="3365500" cy="634511"/>
          </a:xfrm>
        </p:grpSpPr>
        <p:sp>
          <p:nvSpPr>
            <p:cNvPr id="98" name="직사각형 9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a:t>2026-05-27 </a:t>
              </a:r>
              <a:r>
                <a:rPr lang="ko-KR" altLang="en-US" dirty="0"/>
                <a:t>화면 수정</a:t>
              </a:r>
            </a:p>
          </p:txBody>
        </p:sp>
        <p:sp>
          <p:nvSpPr>
            <p:cNvPr id="104" name="직사각형 103"/>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a:t>아이디 변경</a:t>
              </a:r>
              <a:endParaRPr lang="en-US" altLang="ko-KR" sz="700" dirty="0"/>
            </a:p>
            <a:p>
              <a:pPr marL="228600" indent="-228600">
                <a:buAutoNum type="arabicPeriod"/>
              </a:pPr>
              <a:r>
                <a:rPr lang="ko-KR" altLang="en-US" sz="700" dirty="0" err="1"/>
                <a:t>풀페이지</a:t>
              </a:r>
              <a:r>
                <a:rPr lang="ko-KR" altLang="en-US" sz="700" dirty="0"/>
                <a:t> 팝업으로 변경</a:t>
              </a:r>
              <a:endParaRPr lang="en-US" altLang="ko-KR" sz="700" dirty="0"/>
            </a:p>
          </p:txBody>
        </p:sp>
      </p:grpSp>
      <p:cxnSp>
        <p:nvCxnSpPr>
          <p:cNvPr id="112" name="직선 연결선 111"/>
          <p:cNvCxnSpPr/>
          <p:nvPr/>
        </p:nvCxnSpPr>
        <p:spPr>
          <a:xfrm flipH="1">
            <a:off x="330926" y="917965"/>
            <a:ext cx="9413965" cy="554701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34" name="그룹 133"/>
          <p:cNvGrpSpPr/>
          <p:nvPr/>
        </p:nvGrpSpPr>
        <p:grpSpPr>
          <a:xfrm>
            <a:off x="8223250" y="960471"/>
            <a:ext cx="3365500" cy="634511"/>
            <a:chOff x="8223250" y="569392"/>
            <a:chExt cx="3365500" cy="634511"/>
          </a:xfrm>
          <a:solidFill>
            <a:srgbClr val="FF0000"/>
          </a:solidFill>
        </p:grpSpPr>
        <p:sp>
          <p:nvSpPr>
            <p:cNvPr id="137" name="직사각형 136"/>
            <p:cNvSpPr/>
            <p:nvPr/>
          </p:nvSpPr>
          <p:spPr>
            <a:xfrm>
              <a:off x="8223250" y="569392"/>
              <a:ext cx="1682750" cy="219465"/>
            </a:xfrm>
            <a:prstGeom prst="rect">
              <a:avLst/>
            </a:prstGeom>
            <a:grpFill/>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2026-08-14 </a:t>
              </a:r>
              <a:r>
                <a:rPr lang="ko-KR" altLang="en-US" dirty="0"/>
                <a:t>화면 </a:t>
              </a:r>
              <a:r>
                <a:rPr lang="ko-KR" altLang="en-US" dirty="0" smtClean="0"/>
                <a:t>삭제</a:t>
              </a:r>
              <a:endParaRPr lang="ko-KR" altLang="en-US" dirty="0"/>
            </a:p>
          </p:txBody>
        </p:sp>
        <p:sp>
          <p:nvSpPr>
            <p:cNvPr id="138" name="직사각형 137"/>
            <p:cNvSpPr/>
            <p:nvPr/>
          </p:nvSpPr>
          <p:spPr>
            <a:xfrm>
              <a:off x="9906000" y="569392"/>
              <a:ext cx="1682750" cy="634511"/>
            </a:xfrm>
            <a:prstGeom prst="rect">
              <a:avLst/>
            </a:prstGeom>
            <a:grpFill/>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조달계획 </a:t>
              </a:r>
              <a:r>
                <a:rPr lang="ko-KR" altLang="en-US" sz="700" dirty="0" err="1" smtClean="0"/>
                <a:t>바텀시트</a:t>
              </a:r>
              <a:r>
                <a:rPr lang="ko-KR" altLang="en-US" sz="700" dirty="0" smtClean="0"/>
                <a:t> 참조</a:t>
              </a:r>
              <a:r>
                <a:rPr lang="en-US" altLang="ko-KR" sz="700" dirty="0" smtClean="0"/>
                <a:t>.</a:t>
              </a:r>
            </a:p>
            <a:p>
              <a:pPr marL="228600" indent="-228600">
                <a:buAutoNum type="arabicPeriod"/>
              </a:pPr>
              <a:r>
                <a:rPr lang="ko-KR" altLang="en-US" sz="700" dirty="0" smtClean="0"/>
                <a:t>현재 화면은 이해를 </a:t>
              </a:r>
              <a:r>
                <a:rPr lang="ko-KR" altLang="en-US" sz="700" dirty="0" err="1" smtClean="0"/>
                <a:t>돕기위해</a:t>
              </a:r>
              <a:r>
                <a:rPr lang="ko-KR" altLang="en-US" sz="700" dirty="0" smtClean="0"/>
                <a:t> 삽입된 화면으로 </a:t>
              </a:r>
              <a:r>
                <a:rPr lang="en-US" altLang="ko-KR" sz="700" dirty="0" smtClean="0"/>
                <a:t>_old </a:t>
              </a:r>
              <a:r>
                <a:rPr lang="ko-KR" altLang="en-US" sz="700" dirty="0" err="1" smtClean="0"/>
                <a:t>버전임</a:t>
              </a:r>
              <a:endParaRPr lang="en-US" altLang="ko-KR" sz="700" dirty="0"/>
            </a:p>
          </p:txBody>
        </p:sp>
      </p:grpSp>
    </p:spTree>
    <p:extLst>
      <p:ext uri="{BB962C8B-B14F-4D97-AF65-F5344CB8AC3E}">
        <p14:creationId xmlns:p14="http://schemas.microsoft.com/office/powerpoint/2010/main" val="4120486045"/>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참고자료 목록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508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참고자료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a:lnSpc>
                <a:spcPct val="100000"/>
              </a:lnSpc>
              <a:spcBef>
                <a:spcPts val="0"/>
              </a:spcBef>
              <a:defRPr/>
            </a:pPr>
            <a:r>
              <a:rPr lang="ko-KR" altLang="en-US" dirty="0"/>
              <a:t>국외연간조달계획에서 목록정보조회 </a:t>
            </a:r>
            <a:r>
              <a:rPr lang="en-US" altLang="ko-KR" dirty="0"/>
              <a:t>(</a:t>
            </a:r>
            <a:r>
              <a:rPr lang="ko-KR" altLang="en-US" dirty="0"/>
              <a:t>군수품 목록</a:t>
            </a:r>
            <a:r>
              <a:rPr lang="en-US" altLang="ko-KR" dirty="0"/>
              <a:t>) </a:t>
            </a:r>
            <a:r>
              <a:rPr lang="ko-KR" altLang="en-US" dirty="0"/>
              <a:t>중 참고자료 정보를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조달 계획 </a:t>
            </a:r>
            <a:r>
              <a:rPr lang="en-US" altLang="ko-KR" dirty="0">
                <a:latin typeface="+mn-ea"/>
              </a:rPr>
              <a:t>&gt; </a:t>
            </a:r>
            <a:r>
              <a:rPr lang="ko-KR" altLang="en-US" dirty="0">
                <a:latin typeface="+mn-ea"/>
              </a:rPr>
              <a:t>목록정보조회 </a:t>
            </a:r>
            <a:r>
              <a:rPr lang="en-US" altLang="ko-KR" dirty="0">
                <a:latin typeface="+mn-ea"/>
              </a:rPr>
              <a:t>- </a:t>
            </a:r>
            <a:r>
              <a:rPr lang="ko-KR" altLang="en-US" dirty="0"/>
              <a:t>참고자료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MUI-OP-01-T75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3109080"/>
            <a:ext cx="452259" cy="181140"/>
          </a:xfrm>
          <a:prstGeom prst="rect">
            <a:avLst/>
          </a:prstGeom>
          <a:noFill/>
        </p:spPr>
        <p:txBody>
          <a:bodyPr wrap="square" lIns="0" tIns="0" rIns="0" bIns="0" rtlCol="0">
            <a:spAutoFit/>
          </a:bodyPr>
          <a:lstStyle>
            <a:defPPr>
              <a:defRPr lang="ko-KR"/>
            </a:defPPr>
            <a:lvl1pPr>
              <a:lnSpc>
                <a:spcPct val="200000"/>
              </a:lnSpc>
              <a:defRPr sz="700">
                <a:latin typeface="+mn-ea"/>
              </a:defRPr>
            </a:lvl1pPr>
          </a:lstStyle>
          <a:p>
            <a:r>
              <a:rPr lang="ko-KR" altLang="en-US" dirty="0"/>
              <a:t>참고자료</a:t>
            </a:r>
          </a:p>
        </p:txBody>
      </p:sp>
      <p:grpSp>
        <p:nvGrpSpPr>
          <p:cNvPr id="157" name="그룹 156"/>
          <p:cNvGrpSpPr/>
          <p:nvPr/>
        </p:nvGrpSpPr>
        <p:grpSpPr>
          <a:xfrm flipV="1">
            <a:off x="3124233" y="3222411"/>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315770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56" name="직선 연결선 55">
            <a:extLst>
              <a:ext uri="{FF2B5EF4-FFF2-40B4-BE49-F238E27FC236}">
                <a16:creationId xmlns:a16="http://schemas.microsoft.com/office/drawing/2014/main" id="{E9293055-D5CD-4B9E-7F64-64B2D2CA7A52}"/>
              </a:ext>
            </a:extLst>
          </p:cNvPr>
          <p:cNvCxnSpPr/>
          <p:nvPr/>
        </p:nvCxnSpPr>
        <p:spPr>
          <a:xfrm>
            <a:off x="669260" y="3415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5" name="직사각형 104"/>
          <p:cNvSpPr/>
          <p:nvPr/>
        </p:nvSpPr>
        <p:spPr>
          <a:xfrm>
            <a:off x="722583" y="3501195"/>
            <a:ext cx="792000" cy="1938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720490" y="3501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7" name="TextBox 106">
            <a:extLst>
              <a:ext uri="{FF2B5EF4-FFF2-40B4-BE49-F238E27FC236}">
                <a16:creationId xmlns:a16="http://schemas.microsoft.com/office/drawing/2014/main" id="{FFC49AEA-2A8F-250C-A86A-A7751D9706C3}"/>
              </a:ext>
            </a:extLst>
          </p:cNvPr>
          <p:cNvSpPr txBox="1"/>
          <p:nvPr/>
        </p:nvSpPr>
        <p:spPr>
          <a:xfrm>
            <a:off x="809647" y="3501195"/>
            <a:ext cx="670770" cy="1938992"/>
          </a:xfrm>
          <a:prstGeom prst="rect">
            <a:avLst/>
          </a:prstGeom>
          <a:noFill/>
        </p:spPr>
        <p:txBody>
          <a:bodyPr wrap="square" lIns="0" tIns="0" rIns="0" bIns="0" rtlCol="0">
            <a:spAutoFit/>
          </a:bodyPr>
          <a:lstStyle/>
          <a:p>
            <a:pPr>
              <a:lnSpc>
                <a:spcPct val="200000"/>
              </a:lnSpc>
            </a:pPr>
            <a:r>
              <a:rPr lang="ko-KR" altLang="en-US" sz="700" dirty="0" err="1">
                <a:latin typeface="+mn-ea"/>
              </a:rPr>
              <a:t>참고번호</a:t>
            </a:r>
            <a:r>
              <a:rPr lang="ko-KR" altLang="en-US" sz="700" dirty="0">
                <a:latin typeface="+mn-ea"/>
              </a:rPr>
              <a:t> </a:t>
            </a:r>
            <a:r>
              <a:rPr lang="en-US" altLang="ko-KR" sz="700" dirty="0">
                <a:latin typeface="+mn-ea"/>
              </a:rPr>
              <a:t>R/N</a:t>
            </a:r>
          </a:p>
          <a:p>
            <a:pPr>
              <a:lnSpc>
                <a:spcPct val="200000"/>
              </a:lnSpc>
            </a:pPr>
            <a:r>
              <a:rPr lang="ko-KR" altLang="en-US" sz="700" dirty="0">
                <a:latin typeface="+mn-ea"/>
              </a:rPr>
              <a:t>생산자 </a:t>
            </a:r>
            <a:r>
              <a:rPr lang="en-US" altLang="ko-KR" sz="700" dirty="0">
                <a:latin typeface="+mn-ea"/>
              </a:rPr>
              <a:t>NSCM</a:t>
            </a:r>
          </a:p>
          <a:p>
            <a:pPr>
              <a:lnSpc>
                <a:spcPct val="200000"/>
              </a:lnSpc>
            </a:pPr>
            <a:r>
              <a:rPr lang="ko-KR" altLang="en-US" sz="700" dirty="0">
                <a:latin typeface="+mn-ea"/>
              </a:rPr>
              <a:t>형태 </a:t>
            </a:r>
            <a:r>
              <a:rPr lang="en-US" altLang="ko-KR" sz="700" dirty="0">
                <a:latin typeface="+mn-ea"/>
              </a:rPr>
              <a:t>RNFC</a:t>
            </a:r>
          </a:p>
          <a:p>
            <a:pPr>
              <a:lnSpc>
                <a:spcPct val="200000"/>
              </a:lnSpc>
            </a:pPr>
            <a:r>
              <a:rPr lang="ko-KR" altLang="en-US" sz="700" dirty="0">
                <a:latin typeface="+mn-ea"/>
              </a:rPr>
              <a:t>범주 </a:t>
            </a:r>
            <a:r>
              <a:rPr lang="en-US" altLang="ko-KR" sz="700" dirty="0">
                <a:latin typeface="+mn-ea"/>
              </a:rPr>
              <a:t>RNCC</a:t>
            </a:r>
          </a:p>
          <a:p>
            <a:pPr>
              <a:lnSpc>
                <a:spcPct val="200000"/>
              </a:lnSpc>
            </a:pPr>
            <a:r>
              <a:rPr lang="ko-KR" altLang="en-US" sz="700" dirty="0">
                <a:latin typeface="+mn-ea"/>
              </a:rPr>
              <a:t>분류 </a:t>
            </a:r>
            <a:r>
              <a:rPr lang="en-US" altLang="ko-KR" sz="700" dirty="0">
                <a:latin typeface="+mn-ea"/>
              </a:rPr>
              <a:t>RNVC</a:t>
            </a:r>
          </a:p>
          <a:p>
            <a:pPr>
              <a:lnSpc>
                <a:spcPct val="200000"/>
              </a:lnSpc>
            </a:pPr>
            <a:r>
              <a:rPr lang="ko-KR" altLang="en-US" sz="700" dirty="0">
                <a:latin typeface="+mn-ea"/>
              </a:rPr>
              <a:t>가용성 </a:t>
            </a:r>
            <a:r>
              <a:rPr lang="en-US" altLang="ko-KR" sz="700" dirty="0">
                <a:latin typeface="+mn-ea"/>
              </a:rPr>
              <a:t>DAC</a:t>
            </a:r>
          </a:p>
          <a:p>
            <a:pPr>
              <a:lnSpc>
                <a:spcPct val="200000"/>
              </a:lnSpc>
            </a:pPr>
            <a:r>
              <a:rPr lang="ko-KR" altLang="en-US" sz="700" dirty="0">
                <a:latin typeface="+mn-ea"/>
              </a:rPr>
              <a:t>조치 </a:t>
            </a:r>
            <a:r>
              <a:rPr lang="en-US" altLang="ko-KR" sz="700" dirty="0">
                <a:latin typeface="+mn-ea"/>
              </a:rPr>
              <a:t>RNAA</a:t>
            </a:r>
          </a:p>
          <a:p>
            <a:pPr>
              <a:lnSpc>
                <a:spcPct val="200000"/>
              </a:lnSpc>
            </a:pPr>
            <a:r>
              <a:rPr lang="ko-KR" altLang="en-US" sz="700" dirty="0">
                <a:latin typeface="+mn-ea"/>
              </a:rPr>
              <a:t>상태 </a:t>
            </a:r>
            <a:r>
              <a:rPr lang="en-US" altLang="ko-KR" sz="700" dirty="0">
                <a:latin typeface="+mn-ea"/>
              </a:rPr>
              <a:t>RNSC</a:t>
            </a:r>
          </a:p>
          <a:p>
            <a:pPr>
              <a:lnSpc>
                <a:spcPct val="200000"/>
              </a:lnSpc>
            </a:pPr>
            <a:r>
              <a:rPr lang="ko-KR" altLang="en-US" sz="700" dirty="0">
                <a:latin typeface="+mn-ea"/>
              </a:rPr>
              <a:t>교정 </a:t>
            </a:r>
            <a:r>
              <a:rPr lang="en-US" altLang="ko-KR" sz="700" dirty="0">
                <a:latin typeface="+mn-ea"/>
              </a:rPr>
              <a:t>RNIC</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1566495" y="3501195"/>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10000-012345-123</a:t>
            </a:r>
          </a:p>
          <a:p>
            <a:pPr>
              <a:lnSpc>
                <a:spcPct val="200000"/>
              </a:lnSpc>
            </a:pPr>
            <a:r>
              <a:rPr lang="en-US" altLang="ko-KR" sz="700" dirty="0">
                <a:latin typeface="+mn-ea"/>
              </a:rPr>
              <a:t>12345</a:t>
            </a:r>
          </a:p>
          <a:p>
            <a:pPr>
              <a:lnSpc>
                <a:spcPct val="200000"/>
              </a:lnSpc>
            </a:pPr>
            <a:r>
              <a:rPr lang="en-US" altLang="ko-KR" sz="700" dirty="0">
                <a:latin typeface="+mn-ea"/>
              </a:rPr>
              <a:t>4</a:t>
            </a:r>
          </a:p>
          <a:p>
            <a:pPr>
              <a:lnSpc>
                <a:spcPct val="200000"/>
              </a:lnSpc>
            </a:pPr>
            <a:r>
              <a:rPr lang="en-US" altLang="ko-KR" sz="700" dirty="0">
                <a:latin typeface="+mn-ea"/>
              </a:rPr>
              <a:t>3</a:t>
            </a:r>
          </a:p>
          <a:p>
            <a:pPr>
              <a:lnSpc>
                <a:spcPct val="200000"/>
              </a:lnSpc>
            </a:pPr>
            <a:r>
              <a:rPr lang="en-US" altLang="ko-KR" sz="700" dirty="0">
                <a:latin typeface="+mn-ea"/>
              </a:rPr>
              <a:t>2</a:t>
            </a:r>
          </a:p>
          <a:p>
            <a:pPr>
              <a:lnSpc>
                <a:spcPct val="200000"/>
              </a:lnSpc>
            </a:pPr>
            <a:r>
              <a:rPr lang="en-US" altLang="ko-KR" sz="700" dirty="0">
                <a:latin typeface="+mn-ea"/>
              </a:rPr>
              <a:t>1</a:t>
            </a:r>
          </a:p>
          <a:p>
            <a:pPr>
              <a:lnSpc>
                <a:spcPct val="200000"/>
              </a:lnSpc>
            </a:pPr>
            <a:r>
              <a:rPr lang="en-US" altLang="ko-KR" sz="700" dirty="0">
                <a:latin typeface="+mn-ea"/>
              </a:rPr>
              <a:t>KE</a:t>
            </a:r>
          </a:p>
          <a:p>
            <a:pPr>
              <a:lnSpc>
                <a:spcPct val="200000"/>
              </a:lnSpc>
            </a:pPr>
            <a:r>
              <a:rPr lang="en-US" altLang="ko-KR" sz="700" dirty="0">
                <a:latin typeface="+mn-ea"/>
              </a:rPr>
              <a:t>0</a:t>
            </a:r>
          </a:p>
        </p:txBody>
      </p:sp>
      <p:cxnSp>
        <p:nvCxnSpPr>
          <p:cNvPr id="109" name="직선 연결선 108">
            <a:extLst>
              <a:ext uri="{FF2B5EF4-FFF2-40B4-BE49-F238E27FC236}">
                <a16:creationId xmlns:a16="http://schemas.microsoft.com/office/drawing/2014/main" id="{E9293055-D5CD-4B9E-7F64-64B2D2CA7A52}"/>
              </a:ext>
            </a:extLst>
          </p:cNvPr>
          <p:cNvCxnSpPr/>
          <p:nvPr/>
        </p:nvCxnSpPr>
        <p:spPr>
          <a:xfrm>
            <a:off x="722583" y="37323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0" name="직선 연결선 109">
            <a:extLst>
              <a:ext uri="{FF2B5EF4-FFF2-40B4-BE49-F238E27FC236}">
                <a16:creationId xmlns:a16="http://schemas.microsoft.com/office/drawing/2014/main" id="{E9293055-D5CD-4B9E-7F64-64B2D2CA7A52}"/>
              </a:ext>
            </a:extLst>
          </p:cNvPr>
          <p:cNvCxnSpPr/>
          <p:nvPr/>
        </p:nvCxnSpPr>
        <p:spPr>
          <a:xfrm>
            <a:off x="722583" y="39460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22583" y="41597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사각형: 둥근 모서리 15">
            <a:extLst>
              <a:ext uri="{FF2B5EF4-FFF2-40B4-BE49-F238E27FC236}">
                <a16:creationId xmlns:a16="http://schemas.microsoft.com/office/drawing/2014/main" id="{E2B61CFB-AD16-68D0-8752-50D9C5E01971}"/>
              </a:ext>
            </a:extLst>
          </p:cNvPr>
          <p:cNvSpPr/>
          <p:nvPr/>
        </p:nvSpPr>
        <p:spPr>
          <a:xfrm>
            <a:off x="767702" y="2742865"/>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14" name="모서리가 둥근 직사각형 113"/>
          <p:cNvSpPr/>
          <p:nvPr/>
        </p:nvSpPr>
        <p:spPr>
          <a:xfrm>
            <a:off x="1443878" y="2409150"/>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ko-KR" sz="700" dirty="0">
                <a:solidFill>
                  <a:schemeClr val="bg1">
                    <a:lumMod val="65000"/>
                  </a:schemeClr>
                </a:solidFill>
              </a:rPr>
              <a:t>NIIN</a:t>
            </a:r>
            <a:r>
              <a:rPr lang="ko-KR" altLang="en-US" sz="700" dirty="0">
                <a:solidFill>
                  <a:schemeClr val="bg1">
                    <a:lumMod val="65000"/>
                  </a:schemeClr>
                </a:solidFill>
              </a:rPr>
              <a:t>을 입력하세요</a:t>
            </a:r>
            <a:r>
              <a:rPr lang="en-US" altLang="ko-KR" sz="700" dirty="0">
                <a:solidFill>
                  <a:schemeClr val="bg1">
                    <a:lumMod val="65000"/>
                  </a:schemeClr>
                </a:solidFill>
              </a:rPr>
              <a:t>.</a:t>
            </a:r>
            <a:endParaRPr lang="ko-KR" altLang="en-US" sz="700" dirty="0">
              <a:solidFill>
                <a:schemeClr val="tx1"/>
              </a:solidFill>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04476" y="2477463"/>
            <a:ext cx="670770" cy="107722"/>
          </a:xfrm>
          <a:prstGeom prst="rect">
            <a:avLst/>
          </a:prstGeom>
          <a:noFill/>
        </p:spPr>
        <p:txBody>
          <a:bodyPr wrap="square" lIns="0" tIns="0" rIns="0" bIns="0" rtlCol="0">
            <a:spAutoFit/>
          </a:bodyPr>
          <a:lstStyle/>
          <a:p>
            <a:r>
              <a:rPr lang="en-US" altLang="ko-KR" sz="700" dirty="0">
                <a:latin typeface="+mn-ea"/>
              </a:rPr>
              <a:t>NIIN</a:t>
            </a:r>
          </a:p>
        </p:txBody>
      </p:sp>
      <p:grpSp>
        <p:nvGrpSpPr>
          <p:cNvPr id="116" name="그룹 115"/>
          <p:cNvGrpSpPr/>
          <p:nvPr/>
        </p:nvGrpSpPr>
        <p:grpSpPr>
          <a:xfrm>
            <a:off x="3112794" y="2447436"/>
            <a:ext cx="145884" cy="145882"/>
            <a:chOff x="3112794" y="3984500"/>
            <a:chExt cx="145884" cy="145882"/>
          </a:xfrm>
        </p:grpSpPr>
        <p:sp>
          <p:nvSpPr>
            <p:cNvPr id="117" name="타원 116"/>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8" name="그룹 117"/>
            <p:cNvGrpSpPr/>
            <p:nvPr/>
          </p:nvGrpSpPr>
          <p:grpSpPr>
            <a:xfrm>
              <a:off x="3156699" y="4028404"/>
              <a:ext cx="58075" cy="58074"/>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0" name="직선 연결선 11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21" name="직선 연결선 120">
            <a:extLst>
              <a:ext uri="{FF2B5EF4-FFF2-40B4-BE49-F238E27FC236}">
                <a16:creationId xmlns:a16="http://schemas.microsoft.com/office/drawing/2014/main" id="{E9293055-D5CD-4B9E-7F64-64B2D2CA7A52}"/>
              </a:ext>
            </a:extLst>
          </p:cNvPr>
          <p:cNvCxnSpPr/>
          <p:nvPr/>
        </p:nvCxnSpPr>
        <p:spPr>
          <a:xfrm>
            <a:off x="675399" y="30821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1" name="직선 연결선 70">
            <a:extLst>
              <a:ext uri="{FF2B5EF4-FFF2-40B4-BE49-F238E27FC236}">
                <a16:creationId xmlns:a16="http://schemas.microsoft.com/office/drawing/2014/main" id="{E9293055-D5CD-4B9E-7F64-64B2D2CA7A52}"/>
              </a:ext>
            </a:extLst>
          </p:cNvPr>
          <p:cNvCxnSpPr/>
          <p:nvPr/>
        </p:nvCxnSpPr>
        <p:spPr>
          <a:xfrm>
            <a:off x="720490" y="43633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2" name="직선 연결선 71">
            <a:extLst>
              <a:ext uri="{FF2B5EF4-FFF2-40B4-BE49-F238E27FC236}">
                <a16:creationId xmlns:a16="http://schemas.microsoft.com/office/drawing/2014/main" id="{E9293055-D5CD-4B9E-7F64-64B2D2CA7A52}"/>
              </a:ext>
            </a:extLst>
          </p:cNvPr>
          <p:cNvCxnSpPr/>
          <p:nvPr/>
        </p:nvCxnSpPr>
        <p:spPr>
          <a:xfrm>
            <a:off x="722583" y="45944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3" name="직선 연결선 72">
            <a:extLst>
              <a:ext uri="{FF2B5EF4-FFF2-40B4-BE49-F238E27FC236}">
                <a16:creationId xmlns:a16="http://schemas.microsoft.com/office/drawing/2014/main" id="{E9293055-D5CD-4B9E-7F64-64B2D2CA7A52}"/>
              </a:ext>
            </a:extLst>
          </p:cNvPr>
          <p:cNvCxnSpPr/>
          <p:nvPr/>
        </p:nvCxnSpPr>
        <p:spPr>
          <a:xfrm>
            <a:off x="722583" y="48081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7" name="직선 연결선 76">
            <a:extLst>
              <a:ext uri="{FF2B5EF4-FFF2-40B4-BE49-F238E27FC236}">
                <a16:creationId xmlns:a16="http://schemas.microsoft.com/office/drawing/2014/main" id="{E9293055-D5CD-4B9E-7F64-64B2D2CA7A52}"/>
              </a:ext>
            </a:extLst>
          </p:cNvPr>
          <p:cNvCxnSpPr/>
          <p:nvPr/>
        </p:nvCxnSpPr>
        <p:spPr>
          <a:xfrm>
            <a:off x="722583" y="5021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3" name="직선 연결선 82">
            <a:extLst>
              <a:ext uri="{FF2B5EF4-FFF2-40B4-BE49-F238E27FC236}">
                <a16:creationId xmlns:a16="http://schemas.microsoft.com/office/drawing/2014/main" id="{E9293055-D5CD-4B9E-7F64-64B2D2CA7A52}"/>
              </a:ext>
            </a:extLst>
          </p:cNvPr>
          <p:cNvCxnSpPr/>
          <p:nvPr/>
        </p:nvCxnSpPr>
        <p:spPr>
          <a:xfrm>
            <a:off x="722583" y="52326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22583" y="54464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직사각형 9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TextBox 9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98" name="직사각형 97"/>
          <p:cNvSpPr/>
          <p:nvPr/>
        </p:nvSpPr>
        <p:spPr>
          <a:xfrm>
            <a:off x="3840699" y="2057748"/>
            <a:ext cx="792000" cy="1938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3838606" y="20577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3927763" y="2057748"/>
            <a:ext cx="670770" cy="1938992"/>
          </a:xfrm>
          <a:prstGeom prst="rect">
            <a:avLst/>
          </a:prstGeom>
          <a:noFill/>
        </p:spPr>
        <p:txBody>
          <a:bodyPr wrap="square" lIns="0" tIns="0" rIns="0" bIns="0" rtlCol="0">
            <a:spAutoFit/>
          </a:bodyPr>
          <a:lstStyle/>
          <a:p>
            <a:pPr>
              <a:lnSpc>
                <a:spcPct val="200000"/>
              </a:lnSpc>
            </a:pPr>
            <a:r>
              <a:rPr lang="ko-KR" altLang="en-US" sz="700" dirty="0" err="1">
                <a:latin typeface="+mn-ea"/>
              </a:rPr>
              <a:t>참고번호</a:t>
            </a:r>
            <a:r>
              <a:rPr lang="ko-KR" altLang="en-US" sz="700" dirty="0">
                <a:latin typeface="+mn-ea"/>
              </a:rPr>
              <a:t> </a:t>
            </a:r>
            <a:r>
              <a:rPr lang="en-US" altLang="ko-KR" sz="700" dirty="0">
                <a:latin typeface="+mn-ea"/>
              </a:rPr>
              <a:t>R/N</a:t>
            </a:r>
          </a:p>
          <a:p>
            <a:pPr>
              <a:lnSpc>
                <a:spcPct val="200000"/>
              </a:lnSpc>
            </a:pPr>
            <a:r>
              <a:rPr lang="ko-KR" altLang="en-US" sz="700" dirty="0">
                <a:latin typeface="+mn-ea"/>
              </a:rPr>
              <a:t>생산자 </a:t>
            </a:r>
            <a:r>
              <a:rPr lang="en-US" altLang="ko-KR" sz="700" dirty="0">
                <a:latin typeface="+mn-ea"/>
              </a:rPr>
              <a:t>NSCM</a:t>
            </a:r>
          </a:p>
          <a:p>
            <a:pPr>
              <a:lnSpc>
                <a:spcPct val="200000"/>
              </a:lnSpc>
            </a:pPr>
            <a:r>
              <a:rPr lang="ko-KR" altLang="en-US" sz="700" dirty="0">
                <a:latin typeface="+mn-ea"/>
              </a:rPr>
              <a:t>형태 </a:t>
            </a:r>
            <a:r>
              <a:rPr lang="en-US" altLang="ko-KR" sz="700" dirty="0">
                <a:latin typeface="+mn-ea"/>
              </a:rPr>
              <a:t>RNFC</a:t>
            </a:r>
          </a:p>
          <a:p>
            <a:pPr>
              <a:lnSpc>
                <a:spcPct val="200000"/>
              </a:lnSpc>
            </a:pPr>
            <a:r>
              <a:rPr lang="ko-KR" altLang="en-US" sz="700" dirty="0">
                <a:latin typeface="+mn-ea"/>
              </a:rPr>
              <a:t>범주 </a:t>
            </a:r>
            <a:r>
              <a:rPr lang="en-US" altLang="ko-KR" sz="700" dirty="0">
                <a:latin typeface="+mn-ea"/>
              </a:rPr>
              <a:t>RNCC</a:t>
            </a:r>
          </a:p>
          <a:p>
            <a:pPr>
              <a:lnSpc>
                <a:spcPct val="200000"/>
              </a:lnSpc>
            </a:pPr>
            <a:r>
              <a:rPr lang="ko-KR" altLang="en-US" sz="700" dirty="0">
                <a:latin typeface="+mn-ea"/>
              </a:rPr>
              <a:t>분류 </a:t>
            </a:r>
            <a:r>
              <a:rPr lang="en-US" altLang="ko-KR" sz="700" dirty="0">
                <a:latin typeface="+mn-ea"/>
              </a:rPr>
              <a:t>RNVC</a:t>
            </a:r>
          </a:p>
          <a:p>
            <a:pPr>
              <a:lnSpc>
                <a:spcPct val="200000"/>
              </a:lnSpc>
            </a:pPr>
            <a:r>
              <a:rPr lang="ko-KR" altLang="en-US" sz="700" dirty="0">
                <a:latin typeface="+mn-ea"/>
              </a:rPr>
              <a:t>가용성 </a:t>
            </a:r>
            <a:r>
              <a:rPr lang="en-US" altLang="ko-KR" sz="700" dirty="0">
                <a:latin typeface="+mn-ea"/>
              </a:rPr>
              <a:t>DAC</a:t>
            </a:r>
          </a:p>
          <a:p>
            <a:pPr>
              <a:lnSpc>
                <a:spcPct val="200000"/>
              </a:lnSpc>
            </a:pPr>
            <a:r>
              <a:rPr lang="ko-KR" altLang="en-US" sz="700" dirty="0">
                <a:latin typeface="+mn-ea"/>
              </a:rPr>
              <a:t>조치 </a:t>
            </a:r>
            <a:r>
              <a:rPr lang="en-US" altLang="ko-KR" sz="700" dirty="0">
                <a:latin typeface="+mn-ea"/>
              </a:rPr>
              <a:t>RNAA</a:t>
            </a:r>
          </a:p>
          <a:p>
            <a:pPr>
              <a:lnSpc>
                <a:spcPct val="200000"/>
              </a:lnSpc>
            </a:pPr>
            <a:r>
              <a:rPr lang="ko-KR" altLang="en-US" sz="700" dirty="0">
                <a:latin typeface="+mn-ea"/>
              </a:rPr>
              <a:t>상태 </a:t>
            </a:r>
            <a:r>
              <a:rPr lang="en-US" altLang="ko-KR" sz="700" dirty="0">
                <a:latin typeface="+mn-ea"/>
              </a:rPr>
              <a:t>RNSC</a:t>
            </a:r>
          </a:p>
          <a:p>
            <a:pPr>
              <a:lnSpc>
                <a:spcPct val="200000"/>
              </a:lnSpc>
            </a:pPr>
            <a:r>
              <a:rPr lang="ko-KR" altLang="en-US" sz="700" dirty="0">
                <a:latin typeface="+mn-ea"/>
              </a:rPr>
              <a:t>교정 </a:t>
            </a:r>
            <a:r>
              <a:rPr lang="en-US" altLang="ko-KR" sz="700" dirty="0">
                <a:latin typeface="+mn-ea"/>
              </a:rPr>
              <a:t>RNIC</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4684611" y="2057748"/>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10000-012345-123</a:t>
            </a:r>
          </a:p>
          <a:p>
            <a:pPr>
              <a:lnSpc>
                <a:spcPct val="200000"/>
              </a:lnSpc>
            </a:pPr>
            <a:r>
              <a:rPr lang="en-US" altLang="ko-KR" sz="700" dirty="0">
                <a:latin typeface="+mn-ea"/>
              </a:rPr>
              <a:t>12345</a:t>
            </a:r>
          </a:p>
          <a:p>
            <a:pPr>
              <a:lnSpc>
                <a:spcPct val="200000"/>
              </a:lnSpc>
            </a:pPr>
            <a:r>
              <a:rPr lang="en-US" altLang="ko-KR" sz="700" dirty="0">
                <a:latin typeface="+mn-ea"/>
              </a:rPr>
              <a:t>4</a:t>
            </a:r>
          </a:p>
          <a:p>
            <a:pPr>
              <a:lnSpc>
                <a:spcPct val="200000"/>
              </a:lnSpc>
            </a:pPr>
            <a:r>
              <a:rPr lang="en-US" altLang="ko-KR" sz="700" dirty="0">
                <a:latin typeface="+mn-ea"/>
              </a:rPr>
              <a:t>3</a:t>
            </a:r>
          </a:p>
          <a:p>
            <a:pPr>
              <a:lnSpc>
                <a:spcPct val="200000"/>
              </a:lnSpc>
            </a:pPr>
            <a:r>
              <a:rPr lang="en-US" altLang="ko-KR" sz="700" dirty="0">
                <a:latin typeface="+mn-ea"/>
              </a:rPr>
              <a:t>2</a:t>
            </a:r>
          </a:p>
          <a:p>
            <a:pPr>
              <a:lnSpc>
                <a:spcPct val="200000"/>
              </a:lnSpc>
            </a:pPr>
            <a:r>
              <a:rPr lang="en-US" altLang="ko-KR" sz="700" dirty="0">
                <a:latin typeface="+mn-ea"/>
              </a:rPr>
              <a:t>1</a:t>
            </a:r>
          </a:p>
          <a:p>
            <a:pPr>
              <a:lnSpc>
                <a:spcPct val="200000"/>
              </a:lnSpc>
            </a:pPr>
            <a:r>
              <a:rPr lang="en-US" altLang="ko-KR" sz="700" dirty="0">
                <a:latin typeface="+mn-ea"/>
              </a:rPr>
              <a:t>KE</a:t>
            </a:r>
          </a:p>
          <a:p>
            <a:pPr>
              <a:lnSpc>
                <a:spcPct val="200000"/>
              </a:lnSpc>
            </a:pPr>
            <a:r>
              <a:rPr lang="en-US" altLang="ko-KR" sz="700" dirty="0">
                <a:latin typeface="+mn-ea"/>
              </a:rPr>
              <a:t>0</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3840699" y="22888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3840699" y="25025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3840699" y="27162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3838606" y="29198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3840699" y="31510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3840699" y="3364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840699" y="35784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3840699" y="37892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3840699" y="400295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직사각형 146"/>
          <p:cNvSpPr/>
          <p:nvPr/>
        </p:nvSpPr>
        <p:spPr>
          <a:xfrm>
            <a:off x="3840699" y="4133227"/>
            <a:ext cx="792000" cy="1938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3838606" y="41332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TextBox 148">
            <a:extLst>
              <a:ext uri="{FF2B5EF4-FFF2-40B4-BE49-F238E27FC236}">
                <a16:creationId xmlns:a16="http://schemas.microsoft.com/office/drawing/2014/main" id="{FFC49AEA-2A8F-250C-A86A-A7751D9706C3}"/>
              </a:ext>
            </a:extLst>
          </p:cNvPr>
          <p:cNvSpPr txBox="1"/>
          <p:nvPr/>
        </p:nvSpPr>
        <p:spPr>
          <a:xfrm>
            <a:off x="3927763" y="4133227"/>
            <a:ext cx="670770" cy="1938992"/>
          </a:xfrm>
          <a:prstGeom prst="rect">
            <a:avLst/>
          </a:prstGeom>
          <a:noFill/>
        </p:spPr>
        <p:txBody>
          <a:bodyPr wrap="square" lIns="0" tIns="0" rIns="0" bIns="0" rtlCol="0">
            <a:spAutoFit/>
          </a:bodyPr>
          <a:lstStyle/>
          <a:p>
            <a:pPr>
              <a:lnSpc>
                <a:spcPct val="200000"/>
              </a:lnSpc>
            </a:pPr>
            <a:r>
              <a:rPr lang="ko-KR" altLang="en-US" sz="700" dirty="0" err="1">
                <a:latin typeface="+mn-ea"/>
              </a:rPr>
              <a:t>참고번호</a:t>
            </a:r>
            <a:r>
              <a:rPr lang="ko-KR" altLang="en-US" sz="700" dirty="0">
                <a:latin typeface="+mn-ea"/>
              </a:rPr>
              <a:t> </a:t>
            </a:r>
            <a:r>
              <a:rPr lang="en-US" altLang="ko-KR" sz="700" dirty="0">
                <a:latin typeface="+mn-ea"/>
              </a:rPr>
              <a:t>R/N</a:t>
            </a:r>
          </a:p>
          <a:p>
            <a:pPr>
              <a:lnSpc>
                <a:spcPct val="200000"/>
              </a:lnSpc>
            </a:pPr>
            <a:r>
              <a:rPr lang="ko-KR" altLang="en-US" sz="700" dirty="0">
                <a:latin typeface="+mn-ea"/>
              </a:rPr>
              <a:t>생산자 </a:t>
            </a:r>
            <a:r>
              <a:rPr lang="en-US" altLang="ko-KR" sz="700" dirty="0">
                <a:latin typeface="+mn-ea"/>
              </a:rPr>
              <a:t>NSCM</a:t>
            </a:r>
          </a:p>
          <a:p>
            <a:pPr>
              <a:lnSpc>
                <a:spcPct val="200000"/>
              </a:lnSpc>
            </a:pPr>
            <a:r>
              <a:rPr lang="ko-KR" altLang="en-US" sz="700" dirty="0">
                <a:latin typeface="+mn-ea"/>
              </a:rPr>
              <a:t>형태 </a:t>
            </a:r>
            <a:r>
              <a:rPr lang="en-US" altLang="ko-KR" sz="700" dirty="0">
                <a:latin typeface="+mn-ea"/>
              </a:rPr>
              <a:t>RNFC</a:t>
            </a:r>
          </a:p>
          <a:p>
            <a:pPr>
              <a:lnSpc>
                <a:spcPct val="200000"/>
              </a:lnSpc>
            </a:pPr>
            <a:r>
              <a:rPr lang="ko-KR" altLang="en-US" sz="700" dirty="0">
                <a:latin typeface="+mn-ea"/>
              </a:rPr>
              <a:t>범주 </a:t>
            </a:r>
            <a:r>
              <a:rPr lang="en-US" altLang="ko-KR" sz="700" dirty="0">
                <a:latin typeface="+mn-ea"/>
              </a:rPr>
              <a:t>RNCC</a:t>
            </a:r>
          </a:p>
          <a:p>
            <a:pPr>
              <a:lnSpc>
                <a:spcPct val="200000"/>
              </a:lnSpc>
            </a:pPr>
            <a:r>
              <a:rPr lang="ko-KR" altLang="en-US" sz="700" dirty="0">
                <a:latin typeface="+mn-ea"/>
              </a:rPr>
              <a:t>분류 </a:t>
            </a:r>
            <a:r>
              <a:rPr lang="en-US" altLang="ko-KR" sz="700" dirty="0">
                <a:latin typeface="+mn-ea"/>
              </a:rPr>
              <a:t>RNVC</a:t>
            </a:r>
          </a:p>
          <a:p>
            <a:pPr>
              <a:lnSpc>
                <a:spcPct val="200000"/>
              </a:lnSpc>
            </a:pPr>
            <a:r>
              <a:rPr lang="ko-KR" altLang="en-US" sz="700" dirty="0">
                <a:latin typeface="+mn-ea"/>
              </a:rPr>
              <a:t>가용성 </a:t>
            </a:r>
            <a:r>
              <a:rPr lang="en-US" altLang="ko-KR" sz="700" dirty="0">
                <a:latin typeface="+mn-ea"/>
              </a:rPr>
              <a:t>DAC</a:t>
            </a:r>
          </a:p>
          <a:p>
            <a:pPr>
              <a:lnSpc>
                <a:spcPct val="200000"/>
              </a:lnSpc>
            </a:pPr>
            <a:r>
              <a:rPr lang="ko-KR" altLang="en-US" sz="700" dirty="0">
                <a:latin typeface="+mn-ea"/>
              </a:rPr>
              <a:t>조치 </a:t>
            </a:r>
            <a:r>
              <a:rPr lang="en-US" altLang="ko-KR" sz="700" dirty="0">
                <a:latin typeface="+mn-ea"/>
              </a:rPr>
              <a:t>RNAA</a:t>
            </a:r>
          </a:p>
          <a:p>
            <a:pPr>
              <a:lnSpc>
                <a:spcPct val="200000"/>
              </a:lnSpc>
            </a:pPr>
            <a:r>
              <a:rPr lang="ko-KR" altLang="en-US" sz="700" dirty="0">
                <a:latin typeface="+mn-ea"/>
              </a:rPr>
              <a:t>상태 </a:t>
            </a:r>
            <a:r>
              <a:rPr lang="en-US" altLang="ko-KR" sz="700" dirty="0">
                <a:latin typeface="+mn-ea"/>
              </a:rPr>
              <a:t>RNSC</a:t>
            </a:r>
          </a:p>
          <a:p>
            <a:pPr>
              <a:lnSpc>
                <a:spcPct val="200000"/>
              </a:lnSpc>
            </a:pPr>
            <a:r>
              <a:rPr lang="ko-KR" altLang="en-US" sz="700" dirty="0">
                <a:latin typeface="+mn-ea"/>
              </a:rPr>
              <a:t>교정 </a:t>
            </a:r>
            <a:r>
              <a:rPr lang="en-US" altLang="ko-KR" sz="700" dirty="0">
                <a:latin typeface="+mn-ea"/>
              </a:rPr>
              <a:t>RNIC</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4684611" y="4133227"/>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10000-012345-123</a:t>
            </a:r>
          </a:p>
          <a:p>
            <a:pPr>
              <a:lnSpc>
                <a:spcPct val="200000"/>
              </a:lnSpc>
            </a:pPr>
            <a:r>
              <a:rPr lang="en-US" altLang="ko-KR" sz="700" dirty="0">
                <a:latin typeface="+mn-ea"/>
              </a:rPr>
              <a:t>12345</a:t>
            </a:r>
          </a:p>
          <a:p>
            <a:pPr>
              <a:lnSpc>
                <a:spcPct val="200000"/>
              </a:lnSpc>
            </a:pPr>
            <a:r>
              <a:rPr lang="en-US" altLang="ko-KR" sz="700" dirty="0">
                <a:latin typeface="+mn-ea"/>
              </a:rPr>
              <a:t>4</a:t>
            </a:r>
          </a:p>
          <a:p>
            <a:pPr>
              <a:lnSpc>
                <a:spcPct val="200000"/>
              </a:lnSpc>
            </a:pPr>
            <a:r>
              <a:rPr lang="en-US" altLang="ko-KR" sz="700" dirty="0">
                <a:latin typeface="+mn-ea"/>
              </a:rPr>
              <a:t>3</a:t>
            </a:r>
          </a:p>
          <a:p>
            <a:pPr>
              <a:lnSpc>
                <a:spcPct val="200000"/>
              </a:lnSpc>
            </a:pPr>
            <a:r>
              <a:rPr lang="en-US" altLang="ko-KR" sz="700" dirty="0">
                <a:latin typeface="+mn-ea"/>
              </a:rPr>
              <a:t>2</a:t>
            </a:r>
          </a:p>
          <a:p>
            <a:pPr>
              <a:lnSpc>
                <a:spcPct val="200000"/>
              </a:lnSpc>
            </a:pPr>
            <a:r>
              <a:rPr lang="en-US" altLang="ko-KR" sz="700" dirty="0">
                <a:latin typeface="+mn-ea"/>
              </a:rPr>
              <a:t>1</a:t>
            </a:r>
          </a:p>
          <a:p>
            <a:pPr>
              <a:lnSpc>
                <a:spcPct val="200000"/>
              </a:lnSpc>
            </a:pPr>
            <a:r>
              <a:rPr lang="en-US" altLang="ko-KR" sz="700" dirty="0">
                <a:latin typeface="+mn-ea"/>
              </a:rPr>
              <a:t>KE</a:t>
            </a:r>
          </a:p>
          <a:p>
            <a:pPr>
              <a:lnSpc>
                <a:spcPct val="200000"/>
              </a:lnSpc>
            </a:pPr>
            <a:r>
              <a:rPr lang="en-US" altLang="ko-KR" sz="700" dirty="0">
                <a:latin typeface="+mn-ea"/>
              </a:rPr>
              <a:t>0</a:t>
            </a:r>
          </a:p>
        </p:txBody>
      </p:sp>
      <p:cxnSp>
        <p:nvCxnSpPr>
          <p:cNvPr id="151" name="직선 연결선 150">
            <a:extLst>
              <a:ext uri="{FF2B5EF4-FFF2-40B4-BE49-F238E27FC236}">
                <a16:creationId xmlns:a16="http://schemas.microsoft.com/office/drawing/2014/main" id="{E9293055-D5CD-4B9E-7F64-64B2D2CA7A52}"/>
              </a:ext>
            </a:extLst>
          </p:cNvPr>
          <p:cNvCxnSpPr/>
          <p:nvPr/>
        </p:nvCxnSpPr>
        <p:spPr>
          <a:xfrm>
            <a:off x="3840699" y="43643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3840699" y="45780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3840699" y="479174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3838606" y="499537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3840699" y="52264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3840699" y="54401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3840699" y="56538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3840699" y="58647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0699" y="60784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5" name="직선 연결선 64">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6" name="직선 연결선 65">
            <a:extLst>
              <a:ext uri="{FF2B5EF4-FFF2-40B4-BE49-F238E27FC236}">
                <a16:creationId xmlns:a16="http://schemas.microsoft.com/office/drawing/2014/main" id="{E9293055-D5CD-4B9E-7F64-64B2D2CA7A52}"/>
              </a:ext>
            </a:extLst>
          </p:cNvPr>
          <p:cNvCxnSpPr/>
          <p:nvPr/>
        </p:nvCxnSpPr>
        <p:spPr>
          <a:xfrm>
            <a:off x="675399" y="21726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7" name="TextBox 66">
            <a:extLst>
              <a:ext uri="{FF2B5EF4-FFF2-40B4-BE49-F238E27FC236}">
                <a16:creationId xmlns:a16="http://schemas.microsoft.com/office/drawing/2014/main" id="{FFC49AEA-2A8F-250C-A86A-A7751D9706C3}"/>
              </a:ext>
            </a:extLst>
          </p:cNvPr>
          <p:cNvSpPr txBox="1"/>
          <p:nvPr/>
        </p:nvSpPr>
        <p:spPr>
          <a:xfrm>
            <a:off x="764169" y="1956033"/>
            <a:ext cx="359782" cy="107722"/>
          </a:xfrm>
          <a:prstGeom prst="rect">
            <a:avLst/>
          </a:prstGeom>
          <a:noFill/>
        </p:spPr>
        <p:txBody>
          <a:bodyPr wrap="square" lIns="0" tIns="0" rIns="0" bIns="0" rtlCol="0">
            <a:spAutoFit/>
          </a:bodyPr>
          <a:lstStyle/>
          <a:p>
            <a:pPr algn="ctr"/>
            <a:r>
              <a:rPr lang="ko-KR" altLang="en-US" sz="700" dirty="0" err="1">
                <a:latin typeface="+mn-ea"/>
              </a:rPr>
              <a:t>형상자료</a:t>
            </a:r>
            <a:endParaRPr lang="ko-KR" altLang="en-US" sz="700" dirty="0">
              <a:latin typeface="+mn-ea"/>
            </a:endParaRPr>
          </a:p>
        </p:txBody>
      </p:sp>
      <p:sp>
        <p:nvSpPr>
          <p:cNvPr id="68" name="TextBox 67">
            <a:extLst>
              <a:ext uri="{FF2B5EF4-FFF2-40B4-BE49-F238E27FC236}">
                <a16:creationId xmlns:a16="http://schemas.microsoft.com/office/drawing/2014/main" id="{FFC49AEA-2A8F-250C-A86A-A7751D9706C3}"/>
              </a:ext>
            </a:extLst>
          </p:cNvPr>
          <p:cNvSpPr txBox="1"/>
          <p:nvPr/>
        </p:nvSpPr>
        <p:spPr>
          <a:xfrm>
            <a:off x="1218545" y="1956033"/>
            <a:ext cx="447776" cy="107722"/>
          </a:xfrm>
          <a:prstGeom prst="rect">
            <a:avLst/>
          </a:prstGeom>
          <a:noFill/>
        </p:spPr>
        <p:txBody>
          <a:bodyPr wrap="square" lIns="0" tIns="0" rIns="0" bIns="0" rtlCol="0">
            <a:spAutoFit/>
          </a:bodyPr>
          <a:lstStyle/>
          <a:p>
            <a:pPr algn="ctr"/>
            <a:r>
              <a:rPr lang="ko-KR" altLang="en-US" sz="700" dirty="0" err="1">
                <a:latin typeface="+mn-ea"/>
              </a:rPr>
              <a:t>식별자료</a:t>
            </a:r>
            <a:endParaRPr lang="ko-KR" altLang="en-US" sz="700" dirty="0">
              <a:latin typeface="+mn-ea"/>
            </a:endParaRPr>
          </a:p>
        </p:txBody>
      </p:sp>
      <p:cxnSp>
        <p:nvCxnSpPr>
          <p:cNvPr id="69" name="직선 연결선 68">
            <a:extLst>
              <a:ext uri="{FF2B5EF4-FFF2-40B4-BE49-F238E27FC236}">
                <a16:creationId xmlns:a16="http://schemas.microsoft.com/office/drawing/2014/main" id="{E9293055-D5CD-4B9E-7F64-64B2D2CA7A52}"/>
              </a:ext>
            </a:extLst>
          </p:cNvPr>
          <p:cNvCxnSpPr/>
          <p:nvPr/>
        </p:nvCxnSpPr>
        <p:spPr>
          <a:xfrm>
            <a:off x="1754660" y="217264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0" name="그룹 69"/>
          <p:cNvGrpSpPr/>
          <p:nvPr/>
        </p:nvGrpSpPr>
        <p:grpSpPr>
          <a:xfrm>
            <a:off x="2924086" y="1917910"/>
            <a:ext cx="422853" cy="187961"/>
            <a:chOff x="3641308" y="2234886"/>
            <a:chExt cx="422853" cy="187961"/>
          </a:xfrm>
        </p:grpSpPr>
        <p:sp>
          <p:nvSpPr>
            <p:cNvPr id="74" name="타원 7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5" name="그룹 74"/>
            <p:cNvGrpSpPr/>
            <p:nvPr/>
          </p:nvGrpSpPr>
          <p:grpSpPr>
            <a:xfrm rot="5400000" flipH="1">
              <a:off x="3679895" y="2305364"/>
              <a:ext cx="94010" cy="47005"/>
              <a:chOff x="6812560" y="3297172"/>
              <a:chExt cx="94010" cy="47005"/>
            </a:xfrm>
          </p:grpSpPr>
          <p:cxnSp>
            <p:nvCxnSpPr>
              <p:cNvPr id="81" name="직선 연결선 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2" name="직선 연결선 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6" name="타원 7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8" name="그룹 77"/>
            <p:cNvGrpSpPr/>
            <p:nvPr/>
          </p:nvGrpSpPr>
          <p:grpSpPr>
            <a:xfrm rot="16200000">
              <a:off x="3931564" y="2305364"/>
              <a:ext cx="94010" cy="47005"/>
              <a:chOff x="6812560" y="3297172"/>
              <a:chExt cx="94010" cy="47005"/>
            </a:xfrm>
          </p:grpSpPr>
          <p:cxnSp>
            <p:nvCxnSpPr>
              <p:cNvPr id="79" name="직선 연결선 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84" name="TextBox 83">
            <a:extLst>
              <a:ext uri="{FF2B5EF4-FFF2-40B4-BE49-F238E27FC236}">
                <a16:creationId xmlns:a16="http://schemas.microsoft.com/office/drawing/2014/main" id="{FFC49AEA-2A8F-250C-A86A-A7751D9706C3}"/>
              </a:ext>
            </a:extLst>
          </p:cNvPr>
          <p:cNvSpPr txBox="1"/>
          <p:nvPr/>
        </p:nvSpPr>
        <p:spPr>
          <a:xfrm>
            <a:off x="1754660" y="1956033"/>
            <a:ext cx="447776" cy="107722"/>
          </a:xfrm>
          <a:prstGeom prst="rect">
            <a:avLst/>
          </a:prstGeom>
          <a:noFill/>
        </p:spPr>
        <p:txBody>
          <a:bodyPr wrap="square" lIns="0" tIns="0" rIns="0" bIns="0" rtlCol="0">
            <a:spAutoFit/>
          </a:bodyPr>
          <a:lstStyle/>
          <a:p>
            <a:pPr algn="ctr"/>
            <a:r>
              <a:rPr lang="ko-KR" altLang="en-US" sz="700" b="1" dirty="0">
                <a:latin typeface="+mn-ea"/>
              </a:rPr>
              <a:t>참고자료</a:t>
            </a:r>
          </a:p>
        </p:txBody>
      </p:sp>
      <p:grpSp>
        <p:nvGrpSpPr>
          <p:cNvPr id="85" name="그룹 84"/>
          <p:cNvGrpSpPr/>
          <p:nvPr/>
        </p:nvGrpSpPr>
        <p:grpSpPr>
          <a:xfrm>
            <a:off x="3138377" y="1650089"/>
            <a:ext cx="94010" cy="94010"/>
            <a:chOff x="6812560" y="3297172"/>
            <a:chExt cx="94010" cy="94010"/>
          </a:xfrm>
        </p:grpSpPr>
        <p:cxnSp>
          <p:nvCxnSpPr>
            <p:cNvPr id="86" name="직선 연결선 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87" name="직선 연결선 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88" name="TextBox 87">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목록정보</a:t>
            </a:r>
            <a:r>
              <a:rPr lang="ko-KR" altLang="en-US" sz="900" dirty="0">
                <a:latin typeface="+mn-ea"/>
              </a:rPr>
              <a:t> 조회</a:t>
            </a:r>
          </a:p>
        </p:txBody>
      </p:sp>
      <p:grpSp>
        <p:nvGrpSpPr>
          <p:cNvPr id="89" name="그룹 88"/>
          <p:cNvGrpSpPr/>
          <p:nvPr/>
        </p:nvGrpSpPr>
        <p:grpSpPr>
          <a:xfrm>
            <a:off x="3795734" y="1630768"/>
            <a:ext cx="2712027" cy="216169"/>
            <a:chOff x="3795734" y="1630768"/>
            <a:chExt cx="2712027" cy="216169"/>
          </a:xfrm>
        </p:grpSpPr>
        <p:cxnSp>
          <p:nvCxnSpPr>
            <p:cNvPr id="90" name="직선 연결선 89">
              <a:extLst>
                <a:ext uri="{FF2B5EF4-FFF2-40B4-BE49-F238E27FC236}">
                  <a16:creationId xmlns:a16="http://schemas.microsoft.com/office/drawing/2014/main" id="{E9293055-D5CD-4B9E-7F64-64B2D2CA7A52}"/>
                </a:ext>
              </a:extLst>
            </p:cNvPr>
            <p:cNvCxnSpPr/>
            <p:nvPr/>
          </p:nvCxnSpPr>
          <p:spPr>
            <a:xfrm>
              <a:off x="3795734"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1" name="그룹 90"/>
            <p:cNvGrpSpPr/>
            <p:nvPr/>
          </p:nvGrpSpPr>
          <p:grpSpPr>
            <a:xfrm>
              <a:off x="6253541" y="1650089"/>
              <a:ext cx="94010" cy="94010"/>
              <a:chOff x="6812560" y="3297172"/>
              <a:chExt cx="94010" cy="94010"/>
            </a:xfrm>
          </p:grpSpPr>
          <p:cxnSp>
            <p:nvCxnSpPr>
              <p:cNvPr id="93" name="직선 연결선 92"/>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6" name="직선 연결선 95"/>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92" name="TextBox 91">
              <a:extLst>
                <a:ext uri="{FF2B5EF4-FFF2-40B4-BE49-F238E27FC236}">
                  <a16:creationId xmlns:a16="http://schemas.microsoft.com/office/drawing/2014/main" id="{FFC49AEA-2A8F-250C-A86A-A7751D9706C3}"/>
                </a:ext>
              </a:extLst>
            </p:cNvPr>
            <p:cNvSpPr txBox="1"/>
            <p:nvPr/>
          </p:nvSpPr>
          <p:spPr>
            <a:xfrm>
              <a:off x="3893679" y="1630768"/>
              <a:ext cx="1798758" cy="138499"/>
            </a:xfrm>
            <a:prstGeom prst="rect">
              <a:avLst/>
            </a:prstGeom>
            <a:noFill/>
          </p:spPr>
          <p:txBody>
            <a:bodyPr wrap="square" lIns="0" tIns="0" rIns="0" bIns="0" rtlCol="0">
              <a:spAutoFit/>
            </a:bodyPr>
            <a:lstStyle/>
            <a:p>
              <a:r>
                <a:rPr lang="ko-KR" altLang="en-US" sz="900" dirty="0" err="1">
                  <a:latin typeface="+mn-ea"/>
                </a:rPr>
                <a:t>목록정보</a:t>
              </a:r>
              <a:r>
                <a:rPr lang="ko-KR" altLang="en-US" sz="900" dirty="0">
                  <a:latin typeface="+mn-ea"/>
                </a:rPr>
                <a:t> 조회</a:t>
              </a:r>
            </a:p>
          </p:txBody>
        </p:sp>
      </p:grpSp>
      <p:grpSp>
        <p:nvGrpSpPr>
          <p:cNvPr id="99" name="그룹 98"/>
          <p:cNvGrpSpPr/>
          <p:nvPr/>
        </p:nvGrpSpPr>
        <p:grpSpPr>
          <a:xfrm>
            <a:off x="8223250" y="569392"/>
            <a:ext cx="3365500" cy="634511"/>
            <a:chOff x="8223250" y="569392"/>
            <a:chExt cx="3365500" cy="634511"/>
          </a:xfrm>
        </p:grpSpPr>
        <p:sp>
          <p:nvSpPr>
            <p:cNvPr id="100" name="직사각형 9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a:t>2026-05-27 </a:t>
              </a:r>
              <a:r>
                <a:rPr lang="ko-KR" altLang="en-US" dirty="0"/>
                <a:t>화면 수정</a:t>
              </a:r>
            </a:p>
          </p:txBody>
        </p:sp>
        <p:sp>
          <p:nvSpPr>
            <p:cNvPr id="101" name="직사각형 10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a:t>아이디 변경</a:t>
              </a:r>
              <a:endParaRPr lang="en-US" altLang="ko-KR" sz="700" dirty="0"/>
            </a:p>
            <a:p>
              <a:pPr marL="228600" indent="-228600">
                <a:buAutoNum type="arabicPeriod"/>
              </a:pPr>
              <a:r>
                <a:rPr lang="ko-KR" altLang="en-US" sz="700" dirty="0" err="1"/>
                <a:t>풀페이지</a:t>
              </a:r>
              <a:r>
                <a:rPr lang="ko-KR" altLang="en-US" sz="700" dirty="0"/>
                <a:t> 팝업으로 변경</a:t>
              </a:r>
              <a:endParaRPr lang="en-US" altLang="ko-KR" sz="700" dirty="0"/>
            </a:p>
          </p:txBody>
        </p:sp>
      </p:grpSp>
      <p:cxnSp>
        <p:nvCxnSpPr>
          <p:cNvPr id="102" name="직선 연결선 101"/>
          <p:cNvCxnSpPr/>
          <p:nvPr/>
        </p:nvCxnSpPr>
        <p:spPr>
          <a:xfrm flipH="1">
            <a:off x="330926" y="917965"/>
            <a:ext cx="9413965" cy="554701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3" name="그룹 102"/>
          <p:cNvGrpSpPr/>
          <p:nvPr/>
        </p:nvGrpSpPr>
        <p:grpSpPr>
          <a:xfrm>
            <a:off x="8223250" y="960471"/>
            <a:ext cx="3365500" cy="634511"/>
            <a:chOff x="8223250" y="569392"/>
            <a:chExt cx="3365500" cy="634511"/>
          </a:xfrm>
          <a:solidFill>
            <a:srgbClr val="FF0000"/>
          </a:solidFill>
        </p:grpSpPr>
        <p:sp>
          <p:nvSpPr>
            <p:cNvPr id="122" name="직사각형 121"/>
            <p:cNvSpPr/>
            <p:nvPr/>
          </p:nvSpPr>
          <p:spPr>
            <a:xfrm>
              <a:off x="8223250" y="569392"/>
              <a:ext cx="1682750" cy="219465"/>
            </a:xfrm>
            <a:prstGeom prst="rect">
              <a:avLst/>
            </a:prstGeom>
            <a:grpFill/>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2026-08-14 </a:t>
              </a:r>
              <a:r>
                <a:rPr lang="ko-KR" altLang="en-US" dirty="0"/>
                <a:t>화면 </a:t>
              </a:r>
              <a:r>
                <a:rPr lang="ko-KR" altLang="en-US" dirty="0" smtClean="0"/>
                <a:t>삭제</a:t>
              </a:r>
              <a:endParaRPr lang="ko-KR" altLang="en-US" dirty="0"/>
            </a:p>
          </p:txBody>
        </p:sp>
        <p:sp>
          <p:nvSpPr>
            <p:cNvPr id="123" name="직사각형 122"/>
            <p:cNvSpPr/>
            <p:nvPr/>
          </p:nvSpPr>
          <p:spPr>
            <a:xfrm>
              <a:off x="9906000" y="569392"/>
              <a:ext cx="1682750" cy="634511"/>
            </a:xfrm>
            <a:prstGeom prst="rect">
              <a:avLst/>
            </a:prstGeom>
            <a:grpFill/>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조달계획 </a:t>
              </a:r>
              <a:r>
                <a:rPr lang="ko-KR" altLang="en-US" sz="700" dirty="0" err="1" smtClean="0"/>
                <a:t>바텀시트</a:t>
              </a:r>
              <a:r>
                <a:rPr lang="ko-KR" altLang="en-US" sz="700" dirty="0" smtClean="0"/>
                <a:t> 참조</a:t>
              </a:r>
              <a:r>
                <a:rPr lang="en-US" altLang="ko-KR" sz="700" dirty="0" smtClean="0"/>
                <a:t>.</a:t>
              </a:r>
            </a:p>
            <a:p>
              <a:pPr marL="228600" indent="-228600">
                <a:buAutoNum type="arabicPeriod"/>
              </a:pPr>
              <a:r>
                <a:rPr lang="ko-KR" altLang="en-US" sz="700" dirty="0" smtClean="0"/>
                <a:t>현재 화면은 이해를 </a:t>
              </a:r>
              <a:r>
                <a:rPr lang="ko-KR" altLang="en-US" sz="700" dirty="0" err="1" smtClean="0"/>
                <a:t>돕기위해</a:t>
              </a:r>
              <a:r>
                <a:rPr lang="ko-KR" altLang="en-US" sz="700" dirty="0" smtClean="0"/>
                <a:t> 삽입된 화면으로 </a:t>
              </a:r>
              <a:r>
                <a:rPr lang="en-US" altLang="ko-KR" sz="700" dirty="0" smtClean="0"/>
                <a:t>_old </a:t>
              </a:r>
              <a:r>
                <a:rPr lang="ko-KR" altLang="en-US" sz="700" dirty="0" err="1" smtClean="0"/>
                <a:t>버전임</a:t>
              </a:r>
              <a:endParaRPr lang="en-US" altLang="ko-KR" sz="700" dirty="0"/>
            </a:p>
          </p:txBody>
        </p:sp>
      </p:grpSp>
    </p:spTree>
    <p:extLst>
      <p:ext uri="{BB962C8B-B14F-4D97-AF65-F5344CB8AC3E}">
        <p14:creationId xmlns:p14="http://schemas.microsoft.com/office/powerpoint/2010/main" val="3788842003"/>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업체정보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509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a:lnSpc>
                <a:spcPct val="100000"/>
              </a:lnSpc>
              <a:spcBef>
                <a:spcPts val="0"/>
              </a:spcBef>
              <a:defRPr/>
            </a:pPr>
            <a:r>
              <a:rPr lang="ko-KR" altLang="en-US" dirty="0"/>
              <a:t>군수품 </a:t>
            </a:r>
            <a:r>
              <a:rPr lang="ko-KR" altLang="en-US" dirty="0" err="1"/>
              <a:t>형상자료의</a:t>
            </a:r>
            <a:r>
              <a:rPr lang="ko-KR" altLang="en-US" dirty="0"/>
              <a:t> 업체정보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t>조달 계획 </a:t>
            </a:r>
            <a:r>
              <a:rPr lang="en-US" altLang="ko-KR" dirty="0"/>
              <a:t>&gt; </a:t>
            </a:r>
            <a:r>
              <a:rPr lang="ko-KR" altLang="en-US" dirty="0"/>
              <a:t>상세 조회 </a:t>
            </a:r>
            <a:r>
              <a:rPr lang="en-US" altLang="ko-KR" dirty="0"/>
              <a:t>- </a:t>
            </a:r>
            <a:r>
              <a:rPr lang="ko-KR" altLang="en-US" dirty="0" err="1"/>
              <a:t>결과목록</a:t>
            </a:r>
            <a:r>
              <a:rPr lang="en-US" altLang="ko-KR" dirty="0">
                <a:latin typeface="+mn-ea"/>
              </a:rPr>
              <a:t> &gt; </a:t>
            </a:r>
            <a:r>
              <a:rPr lang="ko-KR" altLang="en-US" dirty="0">
                <a:latin typeface="+mn-ea"/>
              </a:rPr>
              <a:t>품목별가격자료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MUI-OP-01-P77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5" name="양쪽 모서리가 둥근 사각형 4"/>
          <p:cNvSpPr/>
          <p:nvPr/>
        </p:nvSpPr>
        <p:spPr>
          <a:xfrm>
            <a:off x="675399" y="3658716"/>
            <a:ext cx="2712027" cy="2573583"/>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695344"/>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829760"/>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810439"/>
            <a:ext cx="1798758" cy="138499"/>
          </a:xfrm>
          <a:prstGeom prst="rect">
            <a:avLst/>
          </a:prstGeom>
          <a:noFill/>
        </p:spPr>
        <p:txBody>
          <a:bodyPr wrap="square" lIns="0" tIns="0" rIns="0" bIns="0" rtlCol="0">
            <a:spAutoFit/>
          </a:bodyPr>
          <a:lstStyle/>
          <a:p>
            <a:r>
              <a:rPr lang="ko-KR" altLang="en-US" sz="900" dirty="0">
                <a:latin typeface="+mn-ea"/>
              </a:rPr>
              <a:t>업체정보</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40718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3790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 name="그룹 5"/>
          <p:cNvGrpSpPr/>
          <p:nvPr/>
        </p:nvGrpSpPr>
        <p:grpSpPr>
          <a:xfrm>
            <a:off x="716084" y="4288140"/>
            <a:ext cx="2630656" cy="1292662"/>
            <a:chOff x="3824022" y="5160789"/>
            <a:chExt cx="2630656" cy="1292662"/>
          </a:xfrm>
        </p:grpSpPr>
        <p:sp>
          <p:nvSpPr>
            <p:cNvPr id="75" name="직사각형 74"/>
            <p:cNvSpPr/>
            <p:nvPr/>
          </p:nvSpPr>
          <p:spPr>
            <a:xfrm>
              <a:off x="3826115" y="5160789"/>
              <a:ext cx="792000" cy="1285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824022" y="516078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TextBox 76">
              <a:extLst>
                <a:ext uri="{FF2B5EF4-FFF2-40B4-BE49-F238E27FC236}">
                  <a16:creationId xmlns:a16="http://schemas.microsoft.com/office/drawing/2014/main" id="{FFC49AEA-2A8F-250C-A86A-A7751D9706C3}"/>
                </a:ext>
              </a:extLst>
            </p:cNvPr>
            <p:cNvSpPr txBox="1"/>
            <p:nvPr/>
          </p:nvSpPr>
          <p:spPr>
            <a:xfrm>
              <a:off x="3913179" y="5160789"/>
              <a:ext cx="670770" cy="1292662"/>
            </a:xfrm>
            <a:prstGeom prst="rect">
              <a:avLst/>
            </a:prstGeom>
            <a:noFill/>
          </p:spPr>
          <p:txBody>
            <a:bodyPr wrap="square" lIns="0" tIns="0" rIns="0" bIns="0" rtlCol="0">
              <a:spAutoFit/>
            </a:bodyPr>
            <a:lstStyle/>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err="1">
                  <a:latin typeface="+mn-ea"/>
                </a:rPr>
                <a:t>본사주소</a:t>
              </a:r>
              <a:endParaRPr lang="en-US" altLang="ko-KR" sz="700" dirty="0">
                <a:latin typeface="+mn-ea"/>
              </a:endParaRPr>
            </a:p>
            <a:p>
              <a:pPr>
                <a:lnSpc>
                  <a:spcPct val="200000"/>
                </a:lnSpc>
              </a:pPr>
              <a:r>
                <a:rPr lang="ko-KR" altLang="en-US" sz="700" dirty="0" err="1">
                  <a:latin typeface="+mn-ea"/>
                </a:rPr>
                <a:t>사업자번호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en-US" altLang="ko-KR" sz="700" dirty="0">
                  <a:latin typeface="+mn-ea"/>
                </a:rPr>
                <a:t>FAX</a:t>
              </a:r>
            </a:p>
          </p:txBody>
        </p:sp>
        <p:sp>
          <p:nvSpPr>
            <p:cNvPr id="80" name="TextBox 79">
              <a:extLst>
                <a:ext uri="{FF2B5EF4-FFF2-40B4-BE49-F238E27FC236}">
                  <a16:creationId xmlns:a16="http://schemas.microsoft.com/office/drawing/2014/main" id="{FFC49AEA-2A8F-250C-A86A-A7751D9706C3}"/>
                </a:ext>
              </a:extLst>
            </p:cNvPr>
            <p:cNvSpPr txBox="1"/>
            <p:nvPr/>
          </p:nvSpPr>
          <p:spPr>
            <a:xfrm>
              <a:off x="4670028" y="5160789"/>
              <a:ext cx="1784650" cy="1292662"/>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a:latin typeface="+mn-ea"/>
                </a:rPr>
                <a:t>업체</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ko-KR" altLang="en-US" sz="700" dirty="0">
                  <a:latin typeface="+mn-ea"/>
                </a:rPr>
                <a:t>서울특별시 종로구</a:t>
              </a:r>
              <a:r>
                <a:rPr lang="en-US" altLang="ko-KR" sz="700" dirty="0">
                  <a:latin typeface="+mn-ea"/>
                </a:rPr>
                <a:t>…</a:t>
              </a:r>
            </a:p>
            <a:p>
              <a:pPr>
                <a:lnSpc>
                  <a:spcPct val="200000"/>
                </a:lnSpc>
              </a:pPr>
              <a:r>
                <a:rPr lang="en-US" altLang="ko-KR" sz="700" dirty="0">
                  <a:latin typeface="+mn-ea"/>
                </a:rPr>
                <a:t>123-45-67890</a:t>
              </a:r>
            </a:p>
            <a:p>
              <a:pPr>
                <a:lnSpc>
                  <a:spcPct val="200000"/>
                </a:lnSpc>
              </a:pPr>
              <a:r>
                <a:rPr lang="en-US" altLang="ko-KR" sz="700" dirty="0">
                  <a:latin typeface="+mn-ea"/>
                </a:rPr>
                <a:t>02-1234-5678</a:t>
              </a:r>
            </a:p>
            <a:p>
              <a:pPr>
                <a:lnSpc>
                  <a:spcPct val="200000"/>
                </a:lnSpc>
              </a:pPr>
              <a:r>
                <a:rPr lang="en-US" altLang="ko-KR" sz="700" dirty="0">
                  <a:latin typeface="+mn-ea"/>
                </a:rPr>
                <a:t>02-1234-6789</a:t>
              </a:r>
            </a:p>
          </p:txBody>
        </p:sp>
        <p:cxnSp>
          <p:nvCxnSpPr>
            <p:cNvPr id="81" name="직선 연결선 80">
              <a:extLst>
                <a:ext uri="{FF2B5EF4-FFF2-40B4-BE49-F238E27FC236}">
                  <a16:creationId xmlns:a16="http://schemas.microsoft.com/office/drawing/2014/main" id="{E9293055-D5CD-4B9E-7F64-64B2D2CA7A52}"/>
                </a:ext>
              </a:extLst>
            </p:cNvPr>
            <p:cNvCxnSpPr/>
            <p:nvPr/>
          </p:nvCxnSpPr>
          <p:spPr>
            <a:xfrm>
              <a:off x="3826115" y="53918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3826115" y="56056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3826115" y="58193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3826115" y="60330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826115" y="64514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826115" y="62453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b="0" i="0" u="none" strike="noStrike" kern="0" cap="none" spc="0" normalizeH="0" baseline="0" noProof="0" dirty="0">
                <a:ln>
                  <a:noFill/>
                </a:ln>
                <a:solidFill>
                  <a:srgbClr val="0070C0"/>
                </a:solidFill>
                <a:effectLst/>
                <a:uLnTx/>
                <a:uFillTx/>
                <a:latin typeface="맑은 고딕"/>
                <a:ea typeface="+mn-ea"/>
                <a:cs typeface="+mn-cs"/>
              </a:rPr>
              <a:t>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Tree>
    <p:extLst>
      <p:ext uri="{BB962C8B-B14F-4D97-AF65-F5344CB8AC3E}">
        <p14:creationId xmlns:p14="http://schemas.microsoft.com/office/powerpoint/2010/main" val="3362085799"/>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510</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41F184BE-29FB-6417-8CB3-7896BA9DCC9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D2898AB1-8736-AB97-26CD-6A60F05FD8FF}"/>
              </a:ext>
            </a:extLst>
          </p:cNvPr>
          <p:cNvSpPr txBox="1"/>
          <p:nvPr/>
        </p:nvSpPr>
        <p:spPr>
          <a:xfrm>
            <a:off x="458117" y="811270"/>
            <a:ext cx="2780176"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품목명세서</a:t>
            </a:r>
            <a:r>
              <a:rPr lang="en-US" altLang="ko-KR" sz="900" b="1" dirty="0">
                <a:solidFill>
                  <a:prstClr val="black"/>
                </a:solidFill>
              </a:rPr>
              <a:t>(</a:t>
            </a:r>
            <a:r>
              <a:rPr lang="ko-KR" altLang="en-US" sz="900" b="1" dirty="0" err="1">
                <a:solidFill>
                  <a:prstClr val="black"/>
                </a:solidFill>
              </a:rPr>
              <a:t>총액제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dlt_ItemDtst</a:t>
            </a:r>
            <a:r>
              <a:rPr lang="en-US" altLang="ko-KR" sz="900" b="1" dirty="0">
                <a:solidFill>
                  <a:prstClr val="black"/>
                </a:solidFill>
              </a:rPr>
              <a:t>)</a:t>
            </a:r>
            <a:endParaRPr lang="ko-KR" altLang="en-US" sz="900" b="1" dirty="0">
              <a:solidFill>
                <a:prstClr val="black"/>
              </a:solidFill>
            </a:endParaRPr>
          </a:p>
        </p:txBody>
      </p:sp>
      <p:graphicFrame>
        <p:nvGraphicFramePr>
          <p:cNvPr id="11" name="표 10">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95024"/>
          <a:ext cx="8994883" cy="4853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889184">
                  <a:extLst>
                    <a:ext uri="{9D8B030D-6E8A-4147-A177-3AD203B41FA5}">
                      <a16:colId xmlns:a16="http://schemas.microsoft.com/office/drawing/2014/main" val="20001"/>
                    </a:ext>
                  </a:extLst>
                </a:gridCol>
                <a:gridCol w="409303">
                  <a:extLst>
                    <a:ext uri="{9D8B030D-6E8A-4147-A177-3AD203B41FA5}">
                      <a16:colId xmlns:a16="http://schemas.microsoft.com/office/drawing/2014/main" val="20002"/>
                    </a:ext>
                  </a:extLst>
                </a:gridCol>
                <a:gridCol w="505097">
                  <a:extLst>
                    <a:ext uri="{9D8B030D-6E8A-4147-A177-3AD203B41FA5}">
                      <a16:colId xmlns:a16="http://schemas.microsoft.com/office/drawing/2014/main" val="20003"/>
                    </a:ext>
                  </a:extLst>
                </a:gridCol>
                <a:gridCol w="435428">
                  <a:extLst>
                    <a:ext uri="{9D8B030D-6E8A-4147-A177-3AD203B41FA5}">
                      <a16:colId xmlns:a16="http://schemas.microsoft.com/office/drawing/2014/main" val="20004"/>
                    </a:ext>
                  </a:extLst>
                </a:gridCol>
                <a:gridCol w="250715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품목명세서 목록의 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ROWNUM</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dirty="0" err="1">
                          <a:latin typeface="+mn-ea"/>
                          <a:ea typeface="+mn-ea"/>
                        </a:rPr>
                        <a:t>군급분류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WTB_PVB166.FSC_CODE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취급품목명세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.FSC</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3371819"/>
                  </a:ext>
                </a:extLst>
              </a:tr>
              <a:tr h="0">
                <a:tc>
                  <a:txBody>
                    <a:bodyPr/>
                    <a:lstStyle/>
                    <a:p>
                      <a:pPr latinLnBrk="1"/>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0081124"/>
                  </a:ext>
                </a:extLst>
              </a:tr>
              <a:tr h="0">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628599"/>
                  </a:ext>
                </a:extLst>
              </a:tr>
              <a:tr h="0">
                <a:tc>
                  <a:txBody>
                    <a:bodyPr/>
                    <a:lstStyle/>
                    <a:p>
                      <a:pPr latinLnBrk="1"/>
                      <a:r>
                        <a:rPr lang="ko-KR" altLang="en-US" sz="800" dirty="0">
                          <a:latin typeface="+mn-ea"/>
                          <a:ea typeface="+mn-ea"/>
                        </a:rPr>
                        <a:t>규격종류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spcfctKndCd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규격종류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:CSC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2502729"/>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:UI</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0552881"/>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0406556"/>
                  </a:ext>
                </a:extLst>
              </a:tr>
              <a:tr h="0">
                <a:tc>
                  <a:txBody>
                    <a:bodyPr/>
                    <a:lstStyle/>
                    <a:p>
                      <a:pPr latinLnBrk="1"/>
                      <a:r>
                        <a:rPr lang="ko-KR" altLang="en-US" sz="800" dirty="0">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prtsNo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157412"/>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8627936"/>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7679206"/>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3754778"/>
                  </a:ext>
                </a:extLst>
              </a:tr>
              <a:tr h="0">
                <a:tc>
                  <a:txBody>
                    <a:bodyPr/>
                    <a:lstStyle/>
                    <a:p>
                      <a:pPr latinLnBrk="1"/>
                      <a:r>
                        <a:rPr lang="ko-KR" altLang="en-US" sz="800" dirty="0">
                          <a:latin typeface="+mn-ea"/>
                          <a:ea typeface="+mn-ea"/>
                        </a:rPr>
                        <a:t>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7703084"/>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9082383"/>
                  </a:ext>
                </a:extLst>
              </a:tr>
              <a:tr h="0">
                <a:tc>
                  <a:txBody>
                    <a:bodyPr/>
                    <a:lstStyle/>
                    <a:p>
                      <a:pPr latinLnBrk="1"/>
                      <a:r>
                        <a:rPr lang="ko-KR" altLang="en-US" sz="800" dirty="0">
                          <a:latin typeface="+mn-ea"/>
                          <a:ea typeface="+mn-ea"/>
                        </a:rPr>
                        <a:t>납기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dudtYmd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5251317"/>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5084264"/>
                  </a:ext>
                </a:extLst>
              </a:tr>
            </a:tbl>
          </a:graphicData>
        </a:graphic>
      </p:graphicFrame>
    </p:spTree>
    <p:extLst>
      <p:ext uri="{BB962C8B-B14F-4D97-AF65-F5344CB8AC3E}">
        <p14:creationId xmlns:p14="http://schemas.microsoft.com/office/powerpoint/2010/main" val="3008393756"/>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511</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277376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품목명세서</a:t>
            </a:r>
            <a:r>
              <a:rPr lang="en-US" altLang="ko-KR" sz="900" b="1" dirty="0">
                <a:solidFill>
                  <a:prstClr val="black"/>
                </a:solidFill>
              </a:rPr>
              <a:t>(</a:t>
            </a:r>
            <a:r>
              <a:rPr lang="ko-KR" altLang="en-US" sz="900" b="1" dirty="0" err="1">
                <a:solidFill>
                  <a:prstClr val="black"/>
                </a:solidFill>
              </a:rPr>
              <a:t>단가제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dlt_ItemDtst</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nvGraphicFramePr>
        <p:xfrm>
          <a:off x="452999" y="1095176"/>
          <a:ext cx="8994883" cy="35184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395987">
                  <a:extLst>
                    <a:ext uri="{9D8B030D-6E8A-4147-A177-3AD203B41FA5}">
                      <a16:colId xmlns:a16="http://schemas.microsoft.com/office/drawing/2014/main" val="20002"/>
                    </a:ext>
                  </a:extLst>
                </a:gridCol>
                <a:gridCol w="496389">
                  <a:extLst>
                    <a:ext uri="{9D8B030D-6E8A-4147-A177-3AD203B41FA5}">
                      <a16:colId xmlns:a16="http://schemas.microsoft.com/office/drawing/2014/main" val="20003"/>
                    </a:ext>
                  </a:extLst>
                </a:gridCol>
                <a:gridCol w="444137">
                  <a:extLst>
                    <a:ext uri="{9D8B030D-6E8A-4147-A177-3AD203B41FA5}">
                      <a16:colId xmlns:a16="http://schemas.microsoft.com/office/drawing/2014/main" val="20004"/>
                    </a:ext>
                  </a:extLst>
                </a:gridCol>
                <a:gridCol w="2411356">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군급분류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WTB_PVB166.FSC_CODE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취급품목명세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.FSC</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7030752"/>
                  </a:ext>
                </a:extLst>
              </a:tr>
              <a:tr h="0">
                <a:tc>
                  <a:txBody>
                    <a:bodyPr/>
                    <a:lstStyle/>
                    <a:p>
                      <a:pPr latinLnBrk="1"/>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1928661"/>
                  </a:ext>
                </a:extLst>
              </a:tr>
              <a:tr h="0">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규격종류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spcfctKndCd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규격종류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:CSC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:UI</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prtsNo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a:latin typeface="+mn-ea"/>
                          <a:ea typeface="+mn-ea"/>
                        </a:rPr>
                        <a:t>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6737147"/>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0519030"/>
                  </a:ext>
                </a:extLst>
              </a:tr>
              <a:tr h="0">
                <a:tc>
                  <a:txBody>
                    <a:bodyPr/>
                    <a:lstStyle/>
                    <a:p>
                      <a:pPr latinLnBrk="1"/>
                      <a:r>
                        <a:rPr lang="ko-KR" altLang="en-US" sz="800" dirty="0" err="1">
                          <a:latin typeface="+mn-ea"/>
                          <a:ea typeface="+mn-ea"/>
                        </a:rPr>
                        <a:t>총금액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총금액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7917182"/>
                  </a:ext>
                </a:extLst>
              </a:tr>
            </a:tbl>
          </a:graphicData>
        </a:graphic>
      </p:graphicFrame>
      <p:sp>
        <p:nvSpPr>
          <p:cNvPr id="2" name="TextBox 1">
            <a:extLst>
              <a:ext uri="{FF2B5EF4-FFF2-40B4-BE49-F238E27FC236}">
                <a16:creationId xmlns:a16="http://schemas.microsoft.com/office/drawing/2014/main" id="{14FFD3C4-48A8-9572-1C49-25F68DC3BD31}"/>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451C4F42-7186-1C0A-1597-341F2803A36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291654423"/>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512</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3902278"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err="1">
                <a:solidFill>
                  <a:prstClr val="black"/>
                </a:solidFill>
              </a:rPr>
              <a:t>품목명세서상세</a:t>
            </a:r>
            <a:r>
              <a:rPr lang="en-US" altLang="ko-KR" sz="900" b="1" dirty="0">
                <a:solidFill>
                  <a:prstClr val="black"/>
                </a:solidFill>
              </a:rPr>
              <a:t>(</a:t>
            </a:r>
            <a:r>
              <a:rPr lang="ko-KR" altLang="en-US" sz="900" b="1" dirty="0">
                <a:solidFill>
                  <a:prstClr val="black"/>
                </a:solidFill>
              </a:rPr>
              <a:t>통합사업관리시스템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dmt_ItemDtstDtl</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nvGraphicFramePr>
        <p:xfrm>
          <a:off x="452999" y="1095176"/>
          <a:ext cx="8994883" cy="32524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ROWNUM</a:t>
                      </a:r>
                    </a:p>
                    <a:p>
                      <a:pPr algn="l" latinLnBrk="1"/>
                      <a:r>
                        <a:rPr lang="en-US" altLang="ko-KR" sz="800" dirty="0">
                          <a:latin typeface="+mn-ea"/>
                          <a:ea typeface="+mn-ea"/>
                        </a:rPr>
                        <a:t>- </a:t>
                      </a:r>
                      <a:r>
                        <a:rPr lang="ko-KR" altLang="en-US" sz="800" dirty="0">
                          <a:latin typeface="+mn-ea"/>
                          <a:ea typeface="+mn-ea"/>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:AC</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err="1">
                          <a:latin typeface="+mn-ea"/>
                          <a:ea typeface="+mn-ea"/>
                        </a:rPr>
                        <a:t>군구분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prcmRqtInstCd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군구분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:RS</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busiName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매핑영문명이</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없음</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Asis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로 작성</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추후 수정</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납기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dudtYmd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5530222"/>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1122618"/>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3762317"/>
                  </a:ext>
                </a:extLst>
              </a:tr>
              <a:tr h="0">
                <a:tc>
                  <a:txBody>
                    <a:bodyPr/>
                    <a:lstStyle/>
                    <a:p>
                      <a:pPr latinLnBrk="1"/>
                      <a:r>
                        <a:rPr lang="ko-KR" altLang="en-US" sz="800" dirty="0" err="1">
                          <a:latin typeface="+mn-ea"/>
                          <a:ea typeface="+mn-ea"/>
                        </a:rPr>
                        <a:t>총금액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총금액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0664758"/>
                  </a:ext>
                </a:extLst>
              </a:tr>
            </a:tbl>
          </a:graphicData>
        </a:graphic>
      </p:graphicFrame>
      <p:sp>
        <p:nvSpPr>
          <p:cNvPr id="8" name="TextBox 7">
            <a:extLst>
              <a:ext uri="{FF2B5EF4-FFF2-40B4-BE49-F238E27FC236}">
                <a16:creationId xmlns:a16="http://schemas.microsoft.com/office/drawing/2014/main" id="{A99DC3EC-FEB0-3897-369B-556B07609FD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9" name="Text Box 73">
            <a:extLst>
              <a:ext uri="{FF2B5EF4-FFF2-40B4-BE49-F238E27FC236}">
                <a16:creationId xmlns:a16="http://schemas.microsoft.com/office/drawing/2014/main" id="{4A4A6CA4-5F2F-1032-8987-FF62233AA3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548370148"/>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513</a:t>
            </a:fld>
            <a:endParaRPr lang="ko-KR" altLang="en-US" dirty="0"/>
          </a:p>
        </p:txBody>
      </p:sp>
      <p:sp>
        <p:nvSpPr>
          <p:cNvPr id="10" name="Text Box 73">
            <a:extLst>
              <a:ext uri="{FF2B5EF4-FFF2-40B4-BE49-F238E27FC236}">
                <a16:creationId xmlns:a16="http://schemas.microsoft.com/office/drawing/2014/main" id="{796FF3F0-E8FC-C55A-2F77-C5CEF1203745}"/>
              </a:ext>
            </a:extLst>
          </p:cNvPr>
          <p:cNvSpPr txBox="1">
            <a:spLocks noChangeArrowheads="1"/>
          </p:cNvSpPr>
          <p:nvPr/>
        </p:nvSpPr>
        <p:spPr bwMode="auto">
          <a:xfrm>
            <a:off x="7769866" y="3615778"/>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2" name="TextBox 11">
            <a:extLst>
              <a:ext uri="{FF2B5EF4-FFF2-40B4-BE49-F238E27FC236}">
                <a16:creationId xmlns:a16="http://schemas.microsoft.com/office/drawing/2014/main" id="{C24F1A0C-392E-45F9-4145-F8DD2A3A911D}"/>
              </a:ext>
            </a:extLst>
          </p:cNvPr>
          <p:cNvSpPr txBox="1"/>
          <p:nvPr/>
        </p:nvSpPr>
        <p:spPr>
          <a:xfrm>
            <a:off x="458117" y="355716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F4BDD1B7-C6C6-7D80-62BD-6F529F0AEAB9}"/>
              </a:ext>
            </a:extLst>
          </p:cNvPr>
          <p:cNvGraphicFramePr>
            <a:graphicFrameLocks noGrp="1"/>
          </p:cNvGraphicFramePr>
          <p:nvPr>
            <p:extLst/>
          </p:nvPr>
        </p:nvGraphicFramePr>
        <p:xfrm>
          <a:off x="453000" y="3835294"/>
          <a:ext cx="8995591" cy="8256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출력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scwin.btn_itemListOtpt_onclick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품목명세서 </a:t>
                      </a:r>
                      <a:r>
                        <a:rPr lang="en-US" altLang="ko-KR" sz="800" dirty="0">
                          <a:latin typeface="+mn-ea"/>
                        </a:rPr>
                        <a:t>Tab</a:t>
                      </a:r>
                      <a:r>
                        <a:rPr lang="ko-KR" altLang="en-US" sz="800" dirty="0">
                          <a:latin typeface="+mn-ea"/>
                        </a:rPr>
                        <a:t>화면의 내용을 </a:t>
                      </a:r>
                      <a:r>
                        <a:rPr lang="en-US" altLang="ko-KR" sz="800" dirty="0">
                          <a:latin typeface="+mn-ea"/>
                        </a:rPr>
                        <a:t>Report</a:t>
                      </a:r>
                      <a:r>
                        <a:rPr lang="ko-KR" altLang="en-US" sz="800" dirty="0">
                          <a:latin typeface="+mn-ea"/>
                        </a:rPr>
                        <a:t>로 출력 및 파일저장 처리를 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1. </a:t>
                      </a:r>
                      <a:r>
                        <a:rPr lang="ko-KR" altLang="en-US" sz="800" dirty="0">
                          <a:latin typeface="+mn-ea"/>
                          <a:ea typeface="+mn-ea"/>
                        </a:rPr>
                        <a:t>부서코드</a:t>
                      </a:r>
                      <a:r>
                        <a:rPr lang="en-US" altLang="ko-KR" sz="800" dirty="0">
                          <a:latin typeface="+mn-ea"/>
                          <a:ea typeface="+mn-ea"/>
                        </a:rPr>
                        <a:t>.substring(0.1) </a:t>
                      </a:r>
                    </a:p>
                    <a:p>
                      <a:pPr marL="0" indent="0" algn="l" latinLnBrk="1">
                        <a:buFont typeface="Arial" panose="020B0604020202020204" pitchFamily="34" charset="0"/>
                        <a:buNone/>
                      </a:pPr>
                      <a:r>
                        <a:rPr lang="en-US" altLang="ko-KR" sz="800" dirty="0">
                          <a:latin typeface="+mn-ea"/>
                          <a:ea typeface="+mn-ea"/>
                        </a:rPr>
                        <a:t>- ‘E :</a:t>
                      </a:r>
                      <a:r>
                        <a:rPr lang="ko-KR" altLang="en-US" sz="800" dirty="0">
                          <a:latin typeface="+mn-ea"/>
                          <a:ea typeface="+mn-ea"/>
                        </a:rPr>
                        <a:t>방위사업청</a:t>
                      </a:r>
                      <a:r>
                        <a:rPr lang="en-US" altLang="ko-KR" sz="800" dirty="0">
                          <a:latin typeface="+mn-ea"/>
                          <a:ea typeface="+mn-ea"/>
                        </a:rPr>
                        <a:t>‘  / ‘J:</a:t>
                      </a:r>
                      <a:r>
                        <a:rPr lang="ko-KR" altLang="en-US" sz="800" dirty="0">
                          <a:latin typeface="+mn-ea"/>
                          <a:ea typeface="+mn-ea"/>
                        </a:rPr>
                        <a:t>국방조달본부</a:t>
                      </a:r>
                      <a:r>
                        <a:rPr lang="en-US" altLang="ko-KR" sz="800" dirty="0">
                          <a:latin typeface="+mn-ea"/>
                          <a:ea typeface="+mn-ea"/>
                        </a:rPr>
                        <a:t>‘ :</a:t>
                      </a:r>
                      <a:r>
                        <a:rPr lang="ko-KR" altLang="en-US" sz="800" dirty="0">
                          <a:latin typeface="+mn-ea"/>
                          <a:ea typeface="+mn-ea"/>
                        </a:rPr>
                        <a:t> 품목명세서 </a:t>
                      </a:r>
                      <a:r>
                        <a:rPr lang="en-US" altLang="ko-KR" sz="800" dirty="0">
                          <a:latin typeface="+mn-ea"/>
                          <a:ea typeface="+mn-ea"/>
                        </a:rPr>
                        <a:t>(PDB025BC.ozr)</a:t>
                      </a: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 </a:t>
                      </a:r>
                      <a:r>
                        <a:rPr lang="ko-KR" altLang="en-US" sz="800" dirty="0">
                          <a:latin typeface="+mn-ea"/>
                          <a:ea typeface="+mn-ea"/>
                        </a:rPr>
                        <a:t>그 외 </a:t>
                      </a:r>
                      <a:r>
                        <a:rPr lang="en-US" altLang="ko-KR" sz="800" dirty="0">
                          <a:latin typeface="+mn-ea"/>
                          <a:ea typeface="+mn-ea"/>
                        </a:rPr>
                        <a:t>:</a:t>
                      </a:r>
                      <a:r>
                        <a:rPr lang="ko-KR" altLang="en-US" sz="800" dirty="0">
                          <a:latin typeface="+mn-ea"/>
                          <a:ea typeface="+mn-ea"/>
                        </a:rPr>
                        <a:t> 품목명세서 </a:t>
                      </a:r>
                      <a:r>
                        <a:rPr lang="en-US" altLang="ko-KR" sz="800" dirty="0">
                          <a:latin typeface="+mn-ea"/>
                          <a:ea typeface="+mn-ea"/>
                        </a:rPr>
                        <a:t>(PDB025BD.ozr)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bl>
          </a:graphicData>
        </a:graphic>
      </p:graphicFrame>
      <p:sp>
        <p:nvSpPr>
          <p:cNvPr id="8" name="TextBox 7">
            <a:extLst>
              <a:ext uri="{FF2B5EF4-FFF2-40B4-BE49-F238E27FC236}">
                <a16:creationId xmlns:a16="http://schemas.microsoft.com/office/drawing/2014/main" id="{1AB17BD7-28F4-C680-69D6-3B26D8F19914}"/>
              </a:ext>
            </a:extLst>
          </p:cNvPr>
          <p:cNvSpPr txBox="1"/>
          <p:nvPr/>
        </p:nvSpPr>
        <p:spPr>
          <a:xfrm>
            <a:off x="458117" y="805938"/>
            <a:ext cx="381892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품목명세서상세</a:t>
            </a:r>
            <a:r>
              <a:rPr lang="en-US" altLang="ko-KR" sz="900" b="1" dirty="0">
                <a:solidFill>
                  <a:prstClr val="black"/>
                </a:solidFill>
              </a:rPr>
              <a:t>(</a:t>
            </a:r>
            <a:r>
              <a:rPr lang="ko-KR" altLang="en-US" sz="900" b="1" dirty="0">
                <a:solidFill>
                  <a:prstClr val="black"/>
                </a:solidFill>
              </a:rPr>
              <a:t>부대조달정보체계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dmt_ItemDtstDtl</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6508B470-D95E-FC7E-EE5F-E89DC172522A}"/>
              </a:ext>
            </a:extLst>
          </p:cNvPr>
          <p:cNvGraphicFramePr>
            <a:graphicFrameLocks noGrp="1"/>
          </p:cNvGraphicFramePr>
          <p:nvPr/>
        </p:nvGraphicFramePr>
        <p:xfrm>
          <a:off x="452999" y="1089692"/>
          <a:ext cx="8994883" cy="2111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ROWNUM</a:t>
                      </a:r>
                    </a:p>
                    <a:p>
                      <a:pPr algn="l" latinLnBrk="1"/>
                      <a:r>
                        <a:rPr lang="en-US" altLang="ko-KR" sz="800" dirty="0">
                          <a:latin typeface="+mn-ea"/>
                          <a:ea typeface="+mn-ea"/>
                        </a:rPr>
                        <a:t>- </a:t>
                      </a:r>
                      <a:r>
                        <a:rPr lang="ko-KR" altLang="en-US" sz="800" dirty="0">
                          <a:latin typeface="+mn-ea"/>
                          <a:ea typeface="+mn-ea"/>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bl>
          </a:graphicData>
        </a:graphic>
      </p:graphicFrame>
    </p:spTree>
    <p:extLst>
      <p:ext uri="{BB962C8B-B14F-4D97-AF65-F5344CB8AC3E}">
        <p14:creationId xmlns:p14="http://schemas.microsoft.com/office/powerpoint/2010/main" val="1812040847"/>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514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9. </a:t>
            </a:r>
            <a:r>
              <a:rPr lang="ko-KR" altLang="en-US" dirty="0"/>
              <a:t>국외 개찰</a:t>
            </a:r>
            <a:endParaRPr lang="en-US" altLang="ko-KR" dirty="0"/>
          </a:p>
          <a:p>
            <a:r>
              <a:rPr lang="en-US" altLang="ko-KR" dirty="0"/>
              <a:t>9.1 </a:t>
            </a:r>
            <a:r>
              <a:rPr lang="ko-KR" altLang="en-US" dirty="0"/>
              <a:t>화면 목록 </a:t>
            </a:r>
            <a:r>
              <a:rPr lang="en-US" altLang="ko-KR" dirty="0"/>
              <a:t>(</a:t>
            </a:r>
            <a:r>
              <a:rPr lang="en-US" altLang="ko-KR" dirty="0" smtClean="0"/>
              <a:t>1/3)</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148400701"/>
              </p:ext>
            </p:extLst>
          </p:nvPr>
        </p:nvGraphicFramePr>
        <p:xfrm>
          <a:off x="635474" y="1413419"/>
          <a:ext cx="8701200" cy="437950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MUI-BD-08-M01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개찰목록</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ea"/>
                        </a:rPr>
                        <a:t>BdopnListPage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 목록 조회 화면</a:t>
                      </a:r>
                      <a:endParaRPr lang="en-US" altLang="ko-KR" sz="800" dirty="0">
                        <a:latin typeface="+mn-ea"/>
                        <a:ea typeface="+mn-ea"/>
                      </a:endParaRPr>
                    </a:p>
                    <a:p>
                      <a:pPr latinLnBrk="1"/>
                      <a:r>
                        <a:rPr lang="ko-KR" altLang="en-US" sz="800" dirty="0">
                          <a:latin typeface="+mn-ea"/>
                          <a:ea typeface="+mn-ea"/>
                        </a:rPr>
                        <a:t>국내 화면과 동일함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bdopnList</a:t>
                      </a:r>
                      <a:r>
                        <a:rPr lang="en-US" altLang="ko-KR" sz="800" b="0" i="0" u="none" strike="noStrike" dirty="0">
                          <a:solidFill>
                            <a:schemeClr val="tx1"/>
                          </a:solidFill>
                          <a:effectLst/>
                          <a:latin typeface="+mn-ea"/>
                        </a:rPr>
                        <a:t>/</a:t>
                      </a:r>
                      <a:r>
                        <a:rPr lang="en-US" altLang="ko-KR" sz="800" b="0" i="0" u="none" strike="noStrike" dirty="0" err="1">
                          <a:solidFill>
                            <a:schemeClr val="tx1"/>
                          </a:solidFill>
                          <a:effectLst/>
                          <a:latin typeface="+mn-ea"/>
                        </a:rPr>
                        <a:t>BdopnListPage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UC-BD-10-01</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UC-BD-11-02</a:t>
                      </a:r>
                    </a:p>
                    <a:p>
                      <a:pPr algn="ctr" latinLnBrk="1">
                        <a:defRPr/>
                      </a:pPr>
                      <a:r>
                        <a:rPr lang="en-US" altLang="ko-KR" sz="800" dirty="0">
                          <a:latin typeface="+mn-ea"/>
                          <a:ea typeface="+mn-ea"/>
                        </a:rPr>
                        <a:t>UC-BD-12-01</a:t>
                      </a:r>
                    </a:p>
                    <a:p>
                      <a:pPr algn="ctr" latinLnBrk="1">
                        <a:defRPr/>
                      </a:pPr>
                      <a:r>
                        <a:rPr lang="en-US" altLang="ko-KR" sz="800" dirty="0">
                          <a:latin typeface="+mn-ea"/>
                          <a:ea typeface="+mn-ea"/>
                        </a:rPr>
                        <a:t>UC-BD-12-02</a:t>
                      </a:r>
                    </a:p>
                    <a:p>
                      <a:pPr algn="ctr" latinLnBrk="1">
                        <a:defRPr/>
                      </a:pPr>
                      <a:r>
                        <a:rPr lang="en-US" altLang="ko-KR" sz="800" dirty="0">
                          <a:latin typeface="+mn-ea"/>
                          <a:ea typeface="+mn-ea"/>
                        </a:rPr>
                        <a:t>UC-BD-13-01</a:t>
                      </a:r>
                    </a:p>
                    <a:p>
                      <a:pPr algn="ctr" latinLnBrk="1">
                        <a:defRPr/>
                      </a:pPr>
                      <a:r>
                        <a:rPr lang="en-US" altLang="ko-KR" sz="800" dirty="0">
                          <a:latin typeface="+mn-ea"/>
                          <a:ea typeface="+mn-ea"/>
                        </a:rPr>
                        <a:t>UC-BD-14-01</a:t>
                      </a:r>
                    </a:p>
                    <a:p>
                      <a:pPr algn="ctr" latinLnBrk="1">
                        <a:defRPr/>
                      </a:pPr>
                      <a:r>
                        <a:rPr lang="en-US" altLang="ko-KR" sz="800" dirty="0">
                          <a:latin typeface="+mn-ea"/>
                          <a:ea typeface="+mn-ea"/>
                        </a:rPr>
                        <a:t>UC-BD-14-02</a:t>
                      </a:r>
                    </a:p>
                    <a:p>
                      <a:pPr algn="ctr" latinLnBrk="1">
                        <a:defRPr/>
                      </a:pPr>
                      <a:r>
                        <a:rPr lang="en-US" altLang="ko-KR" sz="800" dirty="0">
                          <a:latin typeface="+mn-ea"/>
                          <a:ea typeface="+mn-ea"/>
                        </a:rPr>
                        <a:t>UC-BD-15-01</a:t>
                      </a:r>
                    </a:p>
                    <a:p>
                      <a:pPr algn="ctr" latinLnBrk="1">
                        <a:defRPr/>
                      </a:pPr>
                      <a:r>
                        <a:rPr lang="en-US" altLang="ko-KR" sz="800" dirty="0">
                          <a:latin typeface="+mn-ea"/>
                          <a:ea typeface="+mn-ea"/>
                        </a:rPr>
                        <a:t>UC-BD-15-02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ctr" fontAlgn="ctr"/>
                      <a:r>
                        <a:rPr lang="en-US" sz="700" kern="1200" dirty="0">
                          <a:solidFill>
                            <a:schemeClr val="tx1"/>
                          </a:solidFill>
                          <a:latin typeface="+mn-ea"/>
                          <a:ea typeface="+mn-ea"/>
                          <a:cs typeface="+mn-cs"/>
                        </a:rPr>
                        <a:t>MUI-BD-09-M71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kern="1200" dirty="0" smtClean="0">
                          <a:solidFill>
                            <a:schemeClr val="tx1"/>
                          </a:solidFill>
                          <a:latin typeface="+mn-ea"/>
                          <a:ea typeface="+mn-ea"/>
                          <a:cs typeface="+mn-cs"/>
                        </a:rPr>
                        <a:t>입찰결과상세</a:t>
                      </a:r>
                      <a:endParaRPr lang="en-US" altLang="ko-KR"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OvsBidRsltDtlPage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공고의 입찰결과를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ovsBidRsltDtl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OvsBidRsltDtlPage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7432397"/>
                  </a:ext>
                </a:extLst>
              </a:tr>
              <a:tr h="180000">
                <a:tc>
                  <a:txBody>
                    <a:bodyPr/>
                    <a:lstStyle/>
                    <a:p>
                      <a:pPr algn="ctr" fontAlgn="ctr"/>
                      <a:r>
                        <a:rPr lang="en-US" sz="700" kern="1200" dirty="0">
                          <a:solidFill>
                            <a:schemeClr val="tx1"/>
                          </a:solidFill>
                          <a:latin typeface="+mn-ea"/>
                          <a:ea typeface="+mn-ea"/>
                          <a:cs typeface="+mn-cs"/>
                        </a:rPr>
                        <a:t>MUI-BD-09-T71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일반정보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smtClean="0">
                          <a:solidFill>
                            <a:schemeClr val="tx1"/>
                          </a:solidFill>
                          <a:effectLst/>
                          <a:latin typeface="맑은 고딕" panose="020B0503020000020004" pitchFamily="50" charset="-127"/>
                          <a:ea typeface="+mn-ea"/>
                        </a:rPr>
                        <a:t>OvsBidRsltDtl1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srgbClr val="000000"/>
                          </a:solidFill>
                          <a:effectLst/>
                          <a:uLnTx/>
                          <a:uFillTx/>
                          <a:latin typeface="휴먼명조"/>
                          <a:ea typeface="+mn-ea"/>
                          <a:cs typeface="+mn-cs"/>
                        </a:rPr>
                        <a:t>공고의 입찰결과를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맑은 고딕" panose="020B0503020000020004" pitchFamily="50" charset="-127"/>
                          <a:ea typeface="+mn-ea"/>
                        </a:rPr>
                        <a:t>ovsBidRsltDtl</a:t>
                      </a:r>
                      <a:r>
                        <a:rPr lang="en-US" altLang="ko-KR" sz="800" b="0" i="0" u="none" strike="noStrike" dirty="0" smtClean="0">
                          <a:solidFill>
                            <a:schemeClr val="tx1"/>
                          </a:solidFill>
                          <a:effectLst/>
                          <a:latin typeface="맑은 고딕" panose="020B0503020000020004" pitchFamily="50" charset="-127"/>
                          <a:ea typeface="+mn-ea"/>
                        </a:rPr>
                        <a:t>/OvsBidRsltDtl1</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4767938"/>
                  </a:ext>
                </a:extLst>
              </a:tr>
              <a:tr h="180000">
                <a:tc>
                  <a:txBody>
                    <a:bodyPr/>
                    <a:lstStyle/>
                    <a:p>
                      <a:pPr algn="ctr" fontAlgn="ctr"/>
                      <a:r>
                        <a:rPr lang="en-US" sz="700" kern="1200" dirty="0">
                          <a:solidFill>
                            <a:schemeClr val="tx1"/>
                          </a:solidFill>
                          <a:latin typeface="+mn-ea"/>
                          <a:ea typeface="+mn-ea"/>
                          <a:cs typeface="+mn-cs"/>
                        </a:rPr>
                        <a:t>MUI-BD-09-T72</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입찰결과</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단가제</a:t>
                      </a:r>
                      <a:r>
                        <a:rPr lang="en-US" altLang="ko-KR" sz="800" kern="1200" dirty="0">
                          <a:solidFill>
                            <a:schemeClr val="tx1"/>
                          </a:solidFill>
                          <a:latin typeface="+mn-ea"/>
                          <a:ea typeface="+mn-ea"/>
                          <a:cs typeface="+mn-cs"/>
                        </a:rPr>
                        <a:t>)</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OvsBidRsltDtl2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공고의 입찰결과를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ovsBidRsltDtl</a:t>
                      </a:r>
                      <a:r>
                        <a:rPr lang="en-US" altLang="ko-KR" sz="800" b="0" i="0" u="none" strike="noStrike" dirty="0">
                          <a:solidFill>
                            <a:schemeClr val="tx1"/>
                          </a:solidFill>
                          <a:effectLst/>
                          <a:latin typeface="맑은 고딕" panose="020B0503020000020004" pitchFamily="50" charset="-127"/>
                          <a:ea typeface="+mn-ea"/>
                        </a:rPr>
                        <a:t>/OvsBidRsltDtl2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6192327"/>
                  </a:ext>
                </a:extLst>
              </a:tr>
              <a:tr h="180000">
                <a:tc>
                  <a:txBody>
                    <a:bodyPr/>
                    <a:lstStyle/>
                    <a:p>
                      <a:pPr algn="ctr" fontAlgn="ctr"/>
                      <a:r>
                        <a:rPr lang="en-US" sz="700" kern="1200" dirty="0">
                          <a:solidFill>
                            <a:schemeClr val="tx1"/>
                          </a:solidFill>
                          <a:latin typeface="+mn-ea"/>
                          <a:ea typeface="+mn-ea"/>
                          <a:cs typeface="+mn-cs"/>
                        </a:rPr>
                        <a:t>MUI-BD-09-T73</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입찰결과</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총액제</a:t>
                      </a:r>
                      <a:r>
                        <a:rPr lang="en-US" altLang="ko-KR" sz="800" kern="1200" dirty="0">
                          <a:solidFill>
                            <a:schemeClr val="tx1"/>
                          </a:solidFill>
                          <a:latin typeface="+mn-ea"/>
                          <a:ea typeface="+mn-ea"/>
                          <a:cs typeface="+mn-cs"/>
                        </a:rPr>
                        <a:t>)</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OvsBidRsltDtl3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공고의 입찰결과를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ovsBidRsltDtl</a:t>
                      </a:r>
                      <a:r>
                        <a:rPr lang="en-US" altLang="ko-KR" sz="800" b="0" i="0" u="none" strike="noStrike" dirty="0">
                          <a:solidFill>
                            <a:schemeClr val="tx1"/>
                          </a:solidFill>
                          <a:effectLst/>
                          <a:latin typeface="맑은 고딕" panose="020B0503020000020004" pitchFamily="50" charset="-127"/>
                          <a:ea typeface="+mn-ea"/>
                        </a:rPr>
                        <a:t>/OvsBidRsltDtl3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3810038"/>
                  </a:ext>
                </a:extLst>
              </a:tr>
              <a:tr h="180000">
                <a:tc>
                  <a:txBody>
                    <a:bodyPr/>
                    <a:lstStyle/>
                    <a:p>
                      <a:pPr algn="ctr" fontAlgn="ctr"/>
                      <a:r>
                        <a:rPr lang="en-US" sz="700" kern="1200" dirty="0">
                          <a:solidFill>
                            <a:schemeClr val="tx1"/>
                          </a:solidFill>
                          <a:latin typeface="+mn-ea"/>
                          <a:ea typeface="+mn-ea"/>
                          <a:cs typeface="+mn-cs"/>
                        </a:rPr>
                        <a:t>MUI-BD-12-M71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공개수의협상계획상세</a:t>
                      </a:r>
                      <a:endParaRPr lang="ko-KR" alt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공개수의협상 상세정보를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r>
                        <a:rPr lang="en-US" altLang="ko-KR" sz="800" b="0" i="0" u="none" strike="noStrike" kern="1200" dirty="0">
                          <a:solidFill>
                            <a:schemeClr val="tx1"/>
                          </a:solidFill>
                          <a:effectLst/>
                          <a:latin typeface="맑은 고딕" panose="020B0503020000020004" pitchFamily="50" charset="-127"/>
                          <a:ea typeface="+mn-ea"/>
                          <a:cs typeface="+mn-cs"/>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b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b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UC-BD-12-01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2603775"/>
                  </a:ext>
                </a:extLst>
              </a:tr>
              <a:tr h="180000">
                <a:tc>
                  <a:txBody>
                    <a:bodyPr/>
                    <a:lstStyle/>
                    <a:p>
                      <a:pPr algn="ctr" fontAlgn="ctr"/>
                      <a:r>
                        <a:rPr lang="en-US" sz="700" kern="1200" dirty="0">
                          <a:solidFill>
                            <a:schemeClr val="tx1"/>
                          </a:solidFill>
                          <a:latin typeface="+mn-ea"/>
                          <a:ea typeface="+mn-ea"/>
                          <a:cs typeface="+mn-cs"/>
                        </a:rPr>
                        <a:t>MUI-BD-12-T71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일반정보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smtClean="0">
                          <a:solidFill>
                            <a:schemeClr val="tx1"/>
                          </a:solidFill>
                          <a:effectLst/>
                          <a:latin typeface="맑은 고딕" panose="020B0503020000020004" pitchFamily="50" charset="-127"/>
                          <a:ea typeface="+mn-ea"/>
                          <a:cs typeface="+mn-cs"/>
                        </a:rPr>
                        <a:t>OvsRlsVltrnsNgtnPlanDtl1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srgbClr val="000000"/>
                          </a:solidFill>
                          <a:effectLst/>
                          <a:uLnTx/>
                          <a:uFillTx/>
                          <a:latin typeface="휴먼명조"/>
                          <a:ea typeface="+mn-ea"/>
                          <a:cs typeface="+mn-cs"/>
                        </a:rPr>
                        <a:t>공개수의협상 상세정보를 조회하는 화면</a:t>
                      </a:r>
                    </a:p>
                    <a:p>
                      <a:pPr marL="0" marR="0" lvl="0" indent="0" algn="just" defTabSz="914400" rtl="0" eaLnBrk="1" fontAlgn="ctr"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kern="1200" dirty="0" err="1" smtClean="0">
                          <a:solidFill>
                            <a:schemeClr val="tx1"/>
                          </a:solidFill>
                          <a:effectLst/>
                          <a:latin typeface="맑은 고딕" panose="020B0503020000020004" pitchFamily="50" charset="-127"/>
                          <a:ea typeface="+mn-ea"/>
                          <a:cs typeface="+mn-cs"/>
                        </a:rPr>
                        <a:t>ovsRlsVltrnsNgtnPlanDtl</a:t>
                      </a:r>
                      <a:r>
                        <a:rPr lang="en-US" altLang="ko-KR" sz="800" b="0" i="0" u="none" strike="noStrike" kern="1200" dirty="0" smtClean="0">
                          <a:solidFill>
                            <a:schemeClr val="tx1"/>
                          </a:solidFill>
                          <a:effectLst/>
                          <a:latin typeface="맑은 고딕" panose="020B0503020000020004" pitchFamily="50" charset="-127"/>
                          <a:ea typeface="+mn-ea"/>
                          <a:cs typeface="+mn-cs"/>
                        </a:rPr>
                        <a:t>/OvsRlsVltrnsNgtnPlanDtlPage1</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UC-BD-01-02</a:t>
                      </a:r>
                      <a:b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br>
                      <a: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UC-BD-12-01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496953"/>
                  </a:ext>
                </a:extLst>
              </a:tr>
              <a:tr h="180000">
                <a:tc>
                  <a:txBody>
                    <a:bodyPr/>
                    <a:lstStyle/>
                    <a:p>
                      <a:pPr algn="ctr" fontAlgn="ctr"/>
                      <a:r>
                        <a:rPr lang="en-US" sz="700" kern="1200" dirty="0">
                          <a:solidFill>
                            <a:schemeClr val="tx1"/>
                          </a:solidFill>
                          <a:latin typeface="+mn-ea"/>
                          <a:ea typeface="+mn-ea"/>
                          <a:cs typeface="+mn-cs"/>
                        </a:rPr>
                        <a:t>MUI-BD-12-T72</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품목정보</a:t>
                      </a:r>
                      <a:endParaRPr lang="ko-KR" alt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a:solidFill>
                            <a:schemeClr val="tx1"/>
                          </a:solidFill>
                          <a:effectLst/>
                          <a:latin typeface="맑은 고딕" panose="020B0503020000020004" pitchFamily="50" charset="-127"/>
                          <a:ea typeface="+mn-ea"/>
                          <a:cs typeface="+mn-cs"/>
                        </a:rPr>
                        <a:t>OvsRlsVltrnsNgtnPlanDtl2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휴먼명조"/>
                          <a:ea typeface="맑은 고딕" panose="020B0503020000020004" pitchFamily="50" charset="-127"/>
                          <a:cs typeface="+mn-cs"/>
                        </a:rPr>
                        <a:t>공개수의협상 상세정보를 조회하는 화면</a:t>
                      </a: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r>
                        <a:rPr lang="en-US" altLang="ko-KR" sz="800" b="0" i="0" u="none" strike="noStrike" kern="1200" dirty="0">
                          <a:solidFill>
                            <a:schemeClr val="tx1"/>
                          </a:solidFill>
                          <a:effectLst/>
                          <a:latin typeface="맑은 고딕" panose="020B0503020000020004" pitchFamily="50" charset="-127"/>
                          <a:ea typeface="+mn-ea"/>
                          <a:cs typeface="+mn-cs"/>
                        </a:rPr>
                        <a:t>/OvsRlsVltrnsNgtnPlanDtl2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b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b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UC-BD-12-01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970412"/>
                  </a:ext>
                </a:extLst>
              </a:tr>
              <a:tr h="180000">
                <a:tc>
                  <a:txBody>
                    <a:bodyPr/>
                    <a:lstStyle/>
                    <a:p>
                      <a:pPr algn="ctr" fontAlgn="ctr"/>
                      <a:r>
                        <a:rPr lang="en-US" sz="700" kern="1200" dirty="0">
                          <a:solidFill>
                            <a:schemeClr val="tx1"/>
                          </a:solidFill>
                          <a:latin typeface="+mn-ea"/>
                          <a:ea typeface="+mn-ea"/>
                          <a:cs typeface="+mn-cs"/>
                        </a:rPr>
                        <a:t>MUI-BD-12-T73</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첨부서류</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a:solidFill>
                            <a:schemeClr val="tx1"/>
                          </a:solidFill>
                          <a:effectLst/>
                          <a:latin typeface="맑은 고딕" panose="020B0503020000020004" pitchFamily="50" charset="-127"/>
                          <a:ea typeface="+mn-ea"/>
                          <a:cs typeface="+mn-cs"/>
                        </a:rPr>
                        <a:t>OvsRlsVltrnsNgtnPlanDtl3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공개수의협상 상세정보를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r>
                        <a:rPr lang="en-US" altLang="ko-KR" sz="800" b="0" i="0" u="none" strike="noStrike" kern="1200" dirty="0">
                          <a:solidFill>
                            <a:schemeClr val="tx1"/>
                          </a:solidFill>
                          <a:effectLst/>
                          <a:latin typeface="맑은 고딕" panose="020B0503020000020004" pitchFamily="50" charset="-127"/>
                          <a:ea typeface="+mn-ea"/>
                          <a:cs typeface="+mn-cs"/>
                        </a:rPr>
                        <a:t>/OvsRlsVltrnsNgtnPlanDtl3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b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b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UC-BD-12-01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4960235"/>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80819300"/>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515</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9. </a:t>
            </a:r>
            <a:r>
              <a:rPr lang="ko-KR" altLang="en-US" dirty="0"/>
              <a:t>국외 개찰</a:t>
            </a:r>
            <a:endParaRPr lang="en-US" altLang="ko-KR" dirty="0"/>
          </a:p>
          <a:p>
            <a:r>
              <a:rPr lang="en-US" altLang="ko-KR" dirty="0"/>
              <a:t>9.1 </a:t>
            </a:r>
            <a:r>
              <a:rPr lang="ko-KR" altLang="en-US" dirty="0"/>
              <a:t>화면 목록 </a:t>
            </a:r>
            <a:r>
              <a:rPr lang="en-US" altLang="ko-KR" dirty="0"/>
              <a:t>(</a:t>
            </a:r>
            <a:r>
              <a:rPr lang="en-US" altLang="ko-KR" dirty="0" smtClean="0"/>
              <a:t>2/3)</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837687229"/>
              </p:ext>
            </p:extLst>
          </p:nvPr>
        </p:nvGraphicFramePr>
        <p:xfrm>
          <a:off x="635474" y="1413419"/>
          <a:ext cx="8701200" cy="469534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MUI-BD-12-M74</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공개수의협상견적서제출</a:t>
                      </a:r>
                      <a:endParaRPr lang="ko-KR" alt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kern="1200" dirty="0" err="1">
                          <a:solidFill>
                            <a:schemeClr val="tx1"/>
                          </a:solidFill>
                          <a:latin typeface="+mn-ea"/>
                          <a:ea typeface="+mn-ea"/>
                          <a:cs typeface="+mn-cs"/>
                        </a:rPr>
                        <a:t>OvsRlsVltrnsNgtnEtdcSbmsnPage</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0173655"/>
                  </a:ext>
                </a:extLst>
              </a:tr>
              <a:tr h="180000">
                <a:tc>
                  <a:txBody>
                    <a:bodyPr/>
                    <a:lstStyle/>
                    <a:p>
                      <a:pPr algn="ctr" fontAlgn="ctr"/>
                      <a:r>
                        <a:rPr kumimoji="0" lang="en-US" sz="700" b="0" i="0" u="none" strike="noStrike" kern="1200" cap="none" spc="0" normalizeH="0" baseline="0">
                          <a:ln>
                            <a:noFill/>
                          </a:ln>
                          <a:solidFill>
                            <a:prstClr val="black"/>
                          </a:solidFill>
                          <a:effectLst/>
                          <a:uLnTx/>
                          <a:uFillTx/>
                          <a:latin typeface="맑은 고딕" panose="020B0503020000020004" pitchFamily="50" charset="-127"/>
                          <a:ea typeface="맑은 고딕" panose="020B0503020000020004" pitchFamily="50" charset="-127"/>
                          <a:cs typeface="+mn-cs"/>
                        </a:rPr>
                        <a:t>MUI-BD-12-T74</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a:solidFill>
                            <a:schemeClr val="tx1"/>
                          </a:solidFill>
                          <a:latin typeface="+mn-ea"/>
                          <a:ea typeface="+mn-ea"/>
                          <a:cs typeface="+mn-cs"/>
                        </a:rPr>
                        <a:t>스탭</a:t>
                      </a:r>
                      <a:r>
                        <a:rPr lang="en-US" altLang="ko-KR" sz="800" kern="1200">
                          <a:solidFill>
                            <a:schemeClr val="tx1"/>
                          </a:solidFill>
                          <a:latin typeface="+mn-ea"/>
                          <a:ea typeface="+mn-ea"/>
                          <a:cs typeface="+mn-cs"/>
                        </a:rPr>
                        <a:t>1-</a:t>
                      </a:r>
                      <a:r>
                        <a:rPr lang="ko-KR" altLang="en-US" sz="800" kern="1200">
                          <a:solidFill>
                            <a:schemeClr val="tx1"/>
                          </a:solidFill>
                          <a:latin typeface="+mn-ea"/>
                          <a:ea typeface="+mn-ea"/>
                          <a:cs typeface="+mn-cs"/>
                        </a:rPr>
                        <a:t>일반정보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smtClean="0">
                          <a:solidFill>
                            <a:schemeClr val="tx1"/>
                          </a:solidFill>
                          <a:latin typeface="+mn-ea"/>
                          <a:ea typeface="+mn-ea"/>
                          <a:cs typeface="+mn-cs"/>
                        </a:rPr>
                        <a:t>OvsRlsVltrnsNgtnEtdcSbmsn1</a:t>
                      </a:r>
                      <a:endParaRPr lang="ko-KR" altLang="en-US" sz="800" kern="1200" dirty="0" smtClean="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srgbClr val="000000"/>
                          </a:solidFill>
                          <a:effectLst/>
                          <a:uLnTx/>
                          <a:uFillTx/>
                          <a:latin typeface="휴먼명조"/>
                          <a:ea typeface="+mn-ea"/>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kern="1200" dirty="0" err="1" smtClean="0">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smtClean="0">
                          <a:solidFill>
                            <a:schemeClr val="tx1"/>
                          </a:solidFill>
                          <a:effectLst/>
                          <a:latin typeface="맑은 고딕" panose="020B0503020000020004" pitchFamily="50" charset="-127"/>
                          <a:ea typeface="+mn-ea"/>
                          <a:cs typeface="+mn-cs"/>
                        </a:rPr>
                        <a:t>/OvsRlsVltrnsNgtnEtdcSbmsn1</a:t>
                      </a:r>
                      <a:r>
                        <a:rPr lang="en-US" altLang="ko-KR" sz="800" dirty="0" smtClean="0">
                          <a:solidFill>
                            <a:schemeClr val="tx1"/>
                          </a:solidFill>
                          <a:latin typeface="+mn-ea"/>
                          <a:ea typeface="+mn-ea"/>
                        </a:rPr>
                        <a:t>.tsx</a:t>
                      </a:r>
                      <a:endParaRPr lang="ko-KR" altLang="en-US" sz="800" dirty="0" smtClean="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smtClean="0">
                          <a:ln>
                            <a:noFill/>
                          </a:ln>
                          <a:solidFill>
                            <a:srgbClr val="000000"/>
                          </a:solidFill>
                          <a:effectLst/>
                          <a:uLnTx/>
                          <a:uFillTx/>
                          <a:latin typeface="맑은 고딕" panose="020B0503020000020004" pitchFamily="50" charset="-127"/>
                          <a:ea typeface="+mn-ea"/>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9416547"/>
                  </a:ext>
                </a:extLst>
              </a:tr>
              <a:tr h="180000">
                <a:tc>
                  <a:txBody>
                    <a:bodyPr/>
                    <a:lstStyle/>
                    <a:p>
                      <a:pPr algn="ctr" fontAlgn="ctr"/>
                      <a:r>
                        <a:rPr kumimoji="0" lang="en-US" sz="700" b="0" i="0" u="none" strike="noStrike" kern="1200" cap="none" spc="0" normalizeH="0" baseline="0">
                          <a:ln>
                            <a:noFill/>
                          </a:ln>
                          <a:solidFill>
                            <a:prstClr val="black"/>
                          </a:solidFill>
                          <a:effectLst/>
                          <a:uLnTx/>
                          <a:uFillTx/>
                          <a:latin typeface="맑은 고딕" panose="020B0503020000020004" pitchFamily="50" charset="-127"/>
                          <a:ea typeface="맑은 고딕" panose="020B0503020000020004" pitchFamily="50" charset="-127"/>
                          <a:cs typeface="+mn-cs"/>
                        </a:rPr>
                        <a:t>MUI-BD-12-T75</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a:solidFill>
                            <a:schemeClr val="tx1"/>
                          </a:solidFill>
                          <a:latin typeface="+mn-ea"/>
                          <a:ea typeface="+mn-ea"/>
                          <a:cs typeface="+mn-cs"/>
                        </a:rPr>
                        <a:t>스탭</a:t>
                      </a:r>
                      <a:r>
                        <a:rPr lang="en-US" altLang="ko-KR" sz="800" kern="1200">
                          <a:solidFill>
                            <a:schemeClr val="tx1"/>
                          </a:solidFill>
                          <a:latin typeface="+mn-ea"/>
                          <a:ea typeface="+mn-ea"/>
                          <a:cs typeface="+mn-cs"/>
                        </a:rPr>
                        <a:t>2-</a:t>
                      </a:r>
                      <a:r>
                        <a:rPr lang="ko-KR" altLang="en-US" sz="800" kern="1200">
                          <a:solidFill>
                            <a:schemeClr val="tx1"/>
                          </a:solidFill>
                          <a:latin typeface="+mn-ea"/>
                          <a:ea typeface="+mn-ea"/>
                          <a:cs typeface="+mn-cs"/>
                        </a:rPr>
                        <a:t>업체정보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ea"/>
                          <a:ea typeface="+mn-ea"/>
                          <a:cs typeface="+mn-cs"/>
                        </a:rPr>
                        <a:t>OvsRlsVltrnsNgtnEtdcSbmsn2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/OvsRlsVltrnsNgtnEtdcSbmsn2.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4893758"/>
                  </a:ext>
                </a:extLst>
              </a:tr>
              <a:tr h="180000">
                <a:tc>
                  <a:txBody>
                    <a:bodyPr/>
                    <a:lstStyle/>
                    <a:p>
                      <a:pPr algn="ctr" fontAlgn="ctr"/>
                      <a:r>
                        <a:rPr kumimoji="0" lang="en-US" sz="700" b="0" i="0" u="none" strike="noStrike" kern="1200" cap="none" spc="0" normalizeH="0" baseline="0">
                          <a:ln>
                            <a:noFill/>
                          </a:ln>
                          <a:solidFill>
                            <a:prstClr val="black"/>
                          </a:solidFill>
                          <a:effectLst/>
                          <a:uLnTx/>
                          <a:uFillTx/>
                          <a:latin typeface="맑은 고딕" panose="020B0503020000020004" pitchFamily="50" charset="-127"/>
                          <a:ea typeface="맑은 고딕" panose="020B0503020000020004" pitchFamily="50" charset="-127"/>
                          <a:cs typeface="+mn-cs"/>
                        </a:rPr>
                        <a:t>MUI-BD-12-T76</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a:solidFill>
                            <a:schemeClr val="tx1"/>
                          </a:solidFill>
                          <a:latin typeface="+mn-ea"/>
                          <a:ea typeface="+mn-ea"/>
                          <a:cs typeface="+mn-cs"/>
                        </a:rPr>
                        <a:t>스탭</a:t>
                      </a:r>
                      <a:r>
                        <a:rPr lang="en-US" altLang="ko-KR" sz="800" kern="1200">
                          <a:solidFill>
                            <a:schemeClr val="tx1"/>
                          </a:solidFill>
                          <a:latin typeface="+mn-ea"/>
                          <a:ea typeface="+mn-ea"/>
                          <a:cs typeface="+mn-cs"/>
                        </a:rPr>
                        <a:t>3-</a:t>
                      </a:r>
                      <a:r>
                        <a:rPr lang="ko-KR" altLang="en-US" sz="800" kern="1200">
                          <a:solidFill>
                            <a:schemeClr val="tx1"/>
                          </a:solidFill>
                          <a:latin typeface="+mn-ea"/>
                          <a:ea typeface="+mn-ea"/>
                          <a:cs typeface="+mn-cs"/>
                        </a:rPr>
                        <a:t>입찰품목</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ea"/>
                          <a:ea typeface="+mn-ea"/>
                          <a:cs typeface="+mn-cs"/>
                        </a:rPr>
                        <a:t>OvsRlsVltrnsNgtnEtdcSbmsn3</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/OvsRlsVltrnsNgtnEtdcSbmsn3.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5677601"/>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MUI-BD-12-T77</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en-US" altLang="ko-KR" sz="800" kern="1200" dirty="0">
                          <a:solidFill>
                            <a:schemeClr val="tx1"/>
                          </a:solidFill>
                          <a:latin typeface="+mn-ea"/>
                          <a:ea typeface="+mn-ea"/>
                          <a:cs typeface="+mn-cs"/>
                        </a:rPr>
                        <a:t>4-</a:t>
                      </a:r>
                      <a:r>
                        <a:rPr lang="ko-KR" altLang="en-US" sz="800" kern="1200" dirty="0">
                          <a:solidFill>
                            <a:schemeClr val="tx1"/>
                          </a:solidFill>
                          <a:latin typeface="+mn-ea"/>
                          <a:ea typeface="+mn-ea"/>
                          <a:cs typeface="+mn-cs"/>
                        </a:rPr>
                        <a:t>첨부파일</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ea"/>
                          <a:ea typeface="+mn-ea"/>
                          <a:cs typeface="+mn-cs"/>
                        </a:rPr>
                        <a:t>OvsRlsVltrnsNgtnEtdcSbmsn4</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/OvsRlsVltrnsNgtnEtdcSbmsn4.</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1959960"/>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MUI-BD-12-M78</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공개수의협상견적서상세</a:t>
                      </a:r>
                      <a:endParaRPr lang="ko-KR" alt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kern="1200" dirty="0" err="1">
                          <a:solidFill>
                            <a:schemeClr val="tx1"/>
                          </a:solidFill>
                          <a:latin typeface="+mn-ea"/>
                          <a:ea typeface="+mn-ea"/>
                          <a:cs typeface="+mn-cs"/>
                        </a:rPr>
                        <a:t>OvsRlsVltrnsNgtnEtdcDtlPage</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a:t>
                      </a:r>
                      <a:r>
                        <a:rPr lang="en-US" altLang="ko-KR" sz="800" b="0" i="0" u="none" strike="noStrike" dirty="0" err="1">
                          <a:solidFill>
                            <a:schemeClr val="tx1"/>
                          </a:solidFill>
                          <a:effectLst/>
                          <a:latin typeface="+mn-ea"/>
                        </a:rPr>
                        <a:t>OvsRlsVltrnsNgtnEtdcDtlPage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b="0" i="0" u="none" strike="noStrike" dirty="0">
                          <a:solidFill>
                            <a:srgbClr val="000000"/>
                          </a:solidFill>
                          <a:effectLst/>
                          <a:latin typeface="맑은 고딕" panose="020B0503020000020004" pitchFamily="50" charset="-127"/>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MUI-BD-12-T78</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일반정보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ovsRlsVltrnsNgtnEtdcDtl1</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smtClean="0">
                          <a:ln>
                            <a:noFill/>
                          </a:ln>
                          <a:solidFill>
                            <a:srgbClr val="000000"/>
                          </a:solidFill>
                          <a:effectLst/>
                          <a:uLnTx/>
                          <a:uFillTx/>
                          <a:latin typeface="휴먼명조"/>
                          <a:ea typeface="+mn-ea"/>
                          <a:cs typeface="+mn-cs"/>
                        </a:rPr>
                        <a:t>업체담당자가 제출한 공개수의협상 견적서를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b="0" i="0" u="none" strike="noStrike" dirty="0" err="1" smtClean="0">
                          <a:solidFill>
                            <a:schemeClr val="tx1"/>
                          </a:solidFill>
                          <a:effectLst/>
                          <a:latin typeface="+mn-ea"/>
                        </a:rPr>
                        <a:t>ovsRlsVltrnsNgtnEtdcDtl</a:t>
                      </a:r>
                      <a:r>
                        <a:rPr lang="en-US" altLang="ko-KR" sz="800" b="0" i="0" u="none" strike="noStrike" dirty="0" smtClean="0">
                          <a:solidFill>
                            <a:schemeClr val="tx1"/>
                          </a:solidFill>
                          <a:effectLst/>
                          <a:latin typeface="+mn-ea"/>
                        </a:rPr>
                        <a:t>/OvsRlsVltrnsNgtnEtdcDtl1</a:t>
                      </a:r>
                      <a:r>
                        <a:rPr lang="en-US" altLang="ko-KR" sz="800" dirty="0" smtClean="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5689468"/>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MUI-BD-12-T79</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업체정보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ea"/>
                          <a:ea typeface="+mn-ea"/>
                          <a:cs typeface="+mn-cs"/>
                        </a:rPr>
                        <a:t>OvsRlsVltrnsNgtnEtdcDtl2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/OvsRlsVltrnsNgtnEtdcDtl2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7432397"/>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MUI-BD-12-T80</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입찰품목</a:t>
                      </a:r>
                      <a:endParaRPr lang="ko-KR" alt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ea"/>
                          <a:ea typeface="+mn-ea"/>
                          <a:cs typeface="+mn-cs"/>
                        </a:rPr>
                        <a:t>OvsRlsVltrnsNgtnEtdcDtl3</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/OvsRlsVltrnsNgtnEtdcDtl3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6192327"/>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MUI-BD-12-T81</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첨부파일</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kern="1200" dirty="0">
                          <a:solidFill>
                            <a:schemeClr val="tx1"/>
                          </a:solidFill>
                          <a:latin typeface="+mn-ea"/>
                          <a:ea typeface="+mn-ea"/>
                          <a:cs typeface="+mn-cs"/>
                        </a:rPr>
                        <a:t>OvsRlsVltrnsNgtnEtdcDtl4</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/OvsRlsVltrnsNgtnEtdcDtl4</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3810038"/>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72164419"/>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516</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9. </a:t>
            </a:r>
            <a:r>
              <a:rPr lang="ko-KR" altLang="en-US" dirty="0"/>
              <a:t>국외 개찰</a:t>
            </a:r>
            <a:endParaRPr lang="en-US" altLang="ko-KR" dirty="0"/>
          </a:p>
          <a:p>
            <a:r>
              <a:rPr lang="en-US" altLang="ko-KR" dirty="0"/>
              <a:t>9.1 </a:t>
            </a:r>
            <a:r>
              <a:rPr lang="ko-KR" altLang="en-US" dirty="0"/>
              <a:t>화면 목록 </a:t>
            </a:r>
            <a:r>
              <a:rPr lang="en-US" altLang="ko-KR" dirty="0" smtClean="0"/>
              <a:t>(3/3)</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4160346590"/>
              </p:ext>
            </p:extLst>
          </p:nvPr>
        </p:nvGraphicFramePr>
        <p:xfrm>
          <a:off x="635474" y="1413419"/>
          <a:ext cx="8701200" cy="194686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MUI-BD-12-P82</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kern="1200" dirty="0" err="1">
                          <a:solidFill>
                            <a:schemeClr val="tx1"/>
                          </a:solidFill>
                          <a:latin typeface="+mn-ea"/>
                          <a:ea typeface="+mn-ea"/>
                          <a:cs typeface="+mn-cs"/>
                        </a:rPr>
                        <a:t>공개수의협상견적서취소신청서작성</a:t>
                      </a:r>
                      <a:endParaRPr lang="en-US" altLang="ko-KR"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kern="1200" dirty="0" err="1">
                          <a:solidFill>
                            <a:schemeClr val="tx1"/>
                          </a:solidFill>
                          <a:latin typeface="+mn-ea"/>
                          <a:ea typeface="+mn-ea"/>
                          <a:cs typeface="+mn-cs"/>
                        </a:rPr>
                        <a:t>OvsRlsVltrnsNgtnEtdcRtrcnApfrWrt</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휴먼명조"/>
                          <a:ea typeface="+mn-ea"/>
                        </a:rPr>
                        <a:t>공개수의협상 견적서 취소신청서를 작성하는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a:t>
                      </a:r>
                      <a:r>
                        <a:rPr lang="en-US" altLang="ko-KR" sz="800" dirty="0" err="1">
                          <a:solidFill>
                            <a:schemeClr val="tx1"/>
                          </a:solidFill>
                          <a:latin typeface="+mn-ea"/>
                          <a:ea typeface="+mn-ea"/>
                        </a:rPr>
                        <a:t>OvsRlsVltrnsNgtnEtdcRtrcnApfrWrt.tsx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b="0" i="0" u="none" strike="noStrike" dirty="0">
                          <a:solidFill>
                            <a:srgbClr val="000000"/>
                          </a:solidFill>
                          <a:effectLst/>
                          <a:latin typeface="맑은 고딕" panose="020B0503020000020004" pitchFamily="50" charset="-127"/>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8881036"/>
                  </a:ext>
                </a:extLst>
              </a:tr>
              <a:tr h="180000">
                <a:tc>
                  <a:txBody>
                    <a:bodyPr/>
                    <a:lstStyle/>
                    <a:p>
                      <a:pPr algn="ctr" fontAlgn="ctr"/>
                      <a:r>
                        <a:rPr kumimoji="0" lang="en-US" sz="700" b="0" i="0" u="none" strike="noStrike" kern="1200" cap="none" spc="0" normalizeH="0" baseline="0">
                          <a:ln>
                            <a:noFill/>
                          </a:ln>
                          <a:solidFill>
                            <a:prstClr val="black"/>
                          </a:solidFill>
                          <a:effectLst/>
                          <a:uLnTx/>
                          <a:uFillTx/>
                          <a:latin typeface="맑은 고딕" panose="020B0503020000020004" pitchFamily="50" charset="-127"/>
                          <a:ea typeface="맑은 고딕" panose="020B0503020000020004" pitchFamily="50" charset="-127"/>
                          <a:cs typeface="+mn-cs"/>
                        </a:rPr>
                        <a:t>MUI-BD-12-M83</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공개수의협상결과상세</a:t>
                      </a:r>
                      <a:endParaRPr lang="ko-KR" altLang="en-US" sz="800" kern="1200" dirty="0">
                        <a:solidFill>
                          <a:schemeClr val="tx1"/>
                        </a:solidFill>
                        <a:latin typeface="+mn-ea"/>
                        <a:ea typeface="+mn-ea"/>
                        <a:cs typeface="+mn-cs"/>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a:solidFill>
                            <a:schemeClr val="tx1"/>
                          </a:solidFill>
                          <a:latin typeface="+mn-ea"/>
                          <a:ea typeface="+mn-ea"/>
                          <a:cs typeface="+mn-cs"/>
                        </a:rPr>
                        <a:t>ovsRlsVltrnsNgtnSrngRsltPage</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공개수의협상의 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ovsRlsVltrnsNgtnSrngRsltInq</a:t>
                      </a:r>
                      <a:r>
                        <a:rPr lang="en-US" altLang="ko-KR" sz="800" dirty="0">
                          <a:solidFill>
                            <a:schemeClr val="tx1"/>
                          </a:solidFill>
                          <a:latin typeface="+mn-ea"/>
                          <a:ea typeface="+mn-ea"/>
                        </a:rPr>
                        <a:t>/</a:t>
                      </a:r>
                      <a:r>
                        <a:rPr lang="en-US" altLang="ko-KR" sz="800" dirty="0" err="1">
                          <a:solidFill>
                            <a:schemeClr val="tx1"/>
                          </a:solidFill>
                          <a:latin typeface="+mn-ea"/>
                          <a:ea typeface="+mn-ea"/>
                        </a:rPr>
                        <a:t>OvsRlsVltrnsNgtnSrngRsltInqPage.tsx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UC-BD-12-02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6676810"/>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MUI-BD-12-T82</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일반정보</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a:solidFill>
                            <a:schemeClr val="tx1"/>
                          </a:solidFill>
                          <a:latin typeface="+mn-ea"/>
                          <a:ea typeface="+mn-ea"/>
                          <a:cs typeface="+mn-cs"/>
                        </a:rPr>
                        <a:t>ovsRlsVltrnsNgtnSrngRslt1</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공개수의협상의 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ovsRlsVltrnsNgtnSrngRsltInq</a:t>
                      </a:r>
                      <a:r>
                        <a:rPr lang="en-US" altLang="ko-KR" sz="800" dirty="0" smtClean="0">
                          <a:solidFill>
                            <a:schemeClr val="tx1"/>
                          </a:solidFill>
                          <a:latin typeface="+mn-ea"/>
                          <a:ea typeface="+mn-ea"/>
                        </a:rPr>
                        <a:t>/OvsRlsVltrnsNgtnSrngRslt1.tsx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UC-BD-12-02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2305333"/>
                  </a:ext>
                </a:extLst>
              </a:tr>
              <a:tr h="180000">
                <a:tc>
                  <a:txBody>
                    <a:bodyPr/>
                    <a:lstStyle/>
                    <a:p>
                      <a:pPr algn="ctr" fontAlgn="ctr"/>
                      <a:r>
                        <a:rPr kumimoji="0" lang="en-US" sz="7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MUI-BD-12-T83</a:t>
                      </a:r>
                    </a:p>
                  </a:txBody>
                  <a:tcPr marL="0" marR="0" marT="0"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조회결과</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ea"/>
                          <a:ea typeface="+mn-ea"/>
                          <a:cs typeface="+mn-cs"/>
                        </a:rPr>
                        <a:t>ovsRlsVltrnsNgtnSrngRslt2</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공개수의협상의 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smtClean="0">
                          <a:solidFill>
                            <a:schemeClr val="tx1"/>
                          </a:solidFill>
                          <a:latin typeface="+mn-ea"/>
                          <a:ea typeface="+mn-ea"/>
                        </a:rPr>
                        <a:t>src</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ui</a:t>
                      </a:r>
                      <a:r>
                        <a:rPr lang="en-US" altLang="ko-KR" sz="800" dirty="0" smtClean="0">
                          <a:solidFill>
                            <a:schemeClr val="tx1"/>
                          </a:solidFill>
                          <a:latin typeface="+mn-ea"/>
                          <a:ea typeface="+mn-ea"/>
                        </a:rPr>
                        <a:t>/biz/</a:t>
                      </a:r>
                      <a:r>
                        <a:rPr lang="en-US" altLang="ko-KR" sz="800" dirty="0" err="1" smtClean="0">
                          <a:solidFill>
                            <a:schemeClr val="tx1"/>
                          </a:solidFill>
                          <a:latin typeface="+mn-ea"/>
                          <a:ea typeface="+mn-ea"/>
                        </a:rPr>
                        <a:t>bd</a:t>
                      </a:r>
                      <a:r>
                        <a:rPr lang="en-US" altLang="ko-KR" sz="800" dirty="0" smtClean="0">
                          <a:solidFill>
                            <a:schemeClr val="tx1"/>
                          </a:solidFill>
                          <a:latin typeface="+mn-ea"/>
                          <a:ea typeface="+mn-ea"/>
                        </a:rPr>
                        <a:t>/</a:t>
                      </a:r>
                      <a:r>
                        <a:rPr lang="en-US" altLang="ko-KR" sz="800" dirty="0" err="1" smtClean="0">
                          <a:solidFill>
                            <a:schemeClr val="tx1"/>
                          </a:solidFill>
                          <a:latin typeface="+mn-ea"/>
                          <a:ea typeface="+mn-ea"/>
                        </a:rPr>
                        <a:t>ovsRlsVltrnsNgtnSrngRsltInq</a:t>
                      </a:r>
                      <a:r>
                        <a:rPr lang="en-US" altLang="ko-KR" sz="800" dirty="0" smtClean="0">
                          <a:solidFill>
                            <a:schemeClr val="tx1"/>
                          </a:solidFill>
                          <a:latin typeface="+mn-ea"/>
                          <a:ea typeface="+mn-ea"/>
                        </a:rPr>
                        <a:t>/OvsRlsVltrnsNgtnSrngRslt2.tsx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UC-BD-12-02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3052848"/>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96471161"/>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1" name="연결선: 꺾임 7">
            <a:extLst>
              <a:ext uri="{FF2B5EF4-FFF2-40B4-BE49-F238E27FC236}">
                <a16:creationId xmlns:a16="http://schemas.microsoft.com/office/drawing/2014/main" id="{89A2D828-4C18-4F90-6B31-722E89773AA8}"/>
              </a:ext>
            </a:extLst>
          </p:cNvPr>
          <p:cNvCxnSpPr>
            <a:cxnSpLocks/>
            <a:stCxn id="52" idx="3"/>
            <a:endCxn id="53" idx="0"/>
          </p:cNvCxnSpPr>
          <p:nvPr/>
        </p:nvCxnSpPr>
        <p:spPr>
          <a:xfrm flipH="1">
            <a:off x="4643499" y="1772964"/>
            <a:ext cx="450000" cy="2442267"/>
          </a:xfrm>
          <a:prstGeom prst="bentConnector4">
            <a:avLst>
              <a:gd name="adj1" fmla="val -50800"/>
              <a:gd name="adj2" fmla="val 7826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직사각형 68"/>
          <p:cNvSpPr/>
          <p:nvPr/>
        </p:nvSpPr>
        <p:spPr>
          <a:xfrm>
            <a:off x="5248141" y="3000536"/>
            <a:ext cx="128789" cy="128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517</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9.2. </a:t>
            </a:r>
            <a:r>
              <a:rPr lang="ko-KR" altLang="en-US" dirty="0"/>
              <a:t>화면 흐름도</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개찰목록</a:t>
            </a:r>
            <a:endParaRPr lang="ko-KR" altLang="en-US" sz="800" dirty="0">
              <a:solidFill>
                <a:schemeClr val="tx1"/>
              </a:solidFill>
            </a:endParaRP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3"/>
            <a:endCxn id="52" idx="1"/>
          </p:cNvCxnSpPr>
          <p:nvPr/>
        </p:nvCxnSpPr>
        <p:spPr>
          <a:xfrm>
            <a:off x="3266608" y="1772964"/>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6030043" y="486105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공개수의협상결과조회</a:t>
            </a:r>
            <a:endParaRPr lang="ko-KR" altLang="en-US" sz="800" dirty="0">
              <a:solidFill>
                <a:schemeClr val="tx1"/>
              </a:solidFill>
            </a:endParaRPr>
          </a:p>
        </p:txBody>
      </p:sp>
      <p:sp>
        <p:nvSpPr>
          <p:cNvPr id="52" name="사각형: 둥근 모서리 5">
            <a:extLst>
              <a:ext uri="{FF2B5EF4-FFF2-40B4-BE49-F238E27FC236}">
                <a16:creationId xmlns:a16="http://schemas.microsoft.com/office/drawing/2014/main" id="{410E5459-200D-7630-863C-88E5109259DF}"/>
              </a:ext>
            </a:extLst>
          </p:cNvPr>
          <p:cNvSpPr/>
          <p:nvPr/>
        </p:nvSpPr>
        <p:spPr>
          <a:xfrm>
            <a:off x="4193499"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입찰결과상세</a:t>
            </a:r>
          </a:p>
        </p:txBody>
      </p:sp>
      <p:sp>
        <p:nvSpPr>
          <p:cNvPr id="53" name="사각형: 둥근 모서리 5">
            <a:extLst>
              <a:ext uri="{FF2B5EF4-FFF2-40B4-BE49-F238E27FC236}">
                <a16:creationId xmlns:a16="http://schemas.microsoft.com/office/drawing/2014/main" id="{410E5459-200D-7630-863C-88E5109259DF}"/>
              </a:ext>
            </a:extLst>
          </p:cNvPr>
          <p:cNvSpPr/>
          <p:nvPr/>
        </p:nvSpPr>
        <p:spPr>
          <a:xfrm>
            <a:off x="4193499" y="42152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공개수의협상</a:t>
            </a:r>
            <a:endParaRPr lang="en-US" altLang="ko-KR" sz="800" dirty="0">
              <a:solidFill>
                <a:schemeClr val="tx1"/>
              </a:solidFill>
              <a:latin typeface="+mn-ea"/>
            </a:endParaRPr>
          </a:p>
          <a:p>
            <a:pPr algn="ctr"/>
            <a:r>
              <a:rPr lang="ko-KR" altLang="en-US" sz="800" dirty="0" err="1">
                <a:solidFill>
                  <a:schemeClr val="tx1"/>
                </a:solidFill>
                <a:latin typeface="+mn-ea"/>
              </a:rPr>
              <a:t>견적서</a:t>
            </a:r>
            <a:r>
              <a:rPr lang="ko-KR" altLang="en-US" sz="800" dirty="0" err="1">
                <a:solidFill>
                  <a:schemeClr val="tx1"/>
                </a:solidFill>
              </a:rPr>
              <a:t>상세</a:t>
            </a:r>
            <a:endParaRPr lang="ko-KR" altLang="en-US" sz="800"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7578850" y="3824888"/>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7607847" y="3623734"/>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93" name="사각형: 둥근 모서리 5">
            <a:extLst>
              <a:ext uri="{FF2B5EF4-FFF2-40B4-BE49-F238E27FC236}">
                <a16:creationId xmlns:a16="http://schemas.microsoft.com/office/drawing/2014/main" id="{410E5459-200D-7630-863C-88E5109259DF}"/>
              </a:ext>
            </a:extLst>
          </p:cNvPr>
          <p:cNvSpPr/>
          <p:nvPr/>
        </p:nvSpPr>
        <p:spPr>
          <a:xfrm>
            <a:off x="6030043" y="42152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공개수의협상견적서취소신청서작성</a:t>
            </a:r>
            <a:endParaRPr lang="ko-KR" altLang="en-US" sz="800" dirty="0">
              <a:solidFill>
                <a:schemeClr val="tx1"/>
              </a:solidFill>
            </a:endParaRPr>
          </a:p>
        </p:txBody>
      </p:sp>
      <p:cxnSp>
        <p:nvCxnSpPr>
          <p:cNvPr id="72" name="직선 화살표 연결선 71">
            <a:extLst>
              <a:ext uri="{FF2B5EF4-FFF2-40B4-BE49-F238E27FC236}">
                <a16:creationId xmlns:a16="http://schemas.microsoft.com/office/drawing/2014/main" id="{9A519F08-B829-E35F-09D8-DFCD1F68B911}"/>
              </a:ext>
            </a:extLst>
          </p:cNvPr>
          <p:cNvCxnSpPr>
            <a:cxnSpLocks/>
            <a:stCxn id="53" idx="3"/>
            <a:endCxn id="93" idx="1"/>
          </p:cNvCxnSpPr>
          <p:nvPr/>
        </p:nvCxnSpPr>
        <p:spPr>
          <a:xfrm>
            <a:off x="5093499" y="4359231"/>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연결선: 꺾임 7">
            <a:extLst>
              <a:ext uri="{FF2B5EF4-FFF2-40B4-BE49-F238E27FC236}">
                <a16:creationId xmlns:a16="http://schemas.microsoft.com/office/drawing/2014/main" id="{89A2D828-4C18-4F90-6B31-722E89773AA8}"/>
              </a:ext>
            </a:extLst>
          </p:cNvPr>
          <p:cNvCxnSpPr>
            <a:cxnSpLocks/>
            <a:stCxn id="60" idx="3"/>
            <a:endCxn id="80" idx="2"/>
          </p:cNvCxnSpPr>
          <p:nvPr/>
        </p:nvCxnSpPr>
        <p:spPr>
          <a:xfrm>
            <a:off x="6930043" y="3067907"/>
            <a:ext cx="67780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 name="사각형: 둥근 모서리 5">
            <a:extLst>
              <a:ext uri="{FF2B5EF4-FFF2-40B4-BE49-F238E27FC236}">
                <a16:creationId xmlns:a16="http://schemas.microsoft.com/office/drawing/2014/main" id="{410E5459-200D-7630-863C-88E5109259DF}"/>
              </a:ext>
            </a:extLst>
          </p:cNvPr>
          <p:cNvSpPr/>
          <p:nvPr/>
        </p:nvSpPr>
        <p:spPr>
          <a:xfrm>
            <a:off x="6030043"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공개수의협상</a:t>
            </a:r>
            <a:endParaRPr lang="en-US" altLang="ko-KR" sz="800" dirty="0">
              <a:solidFill>
                <a:schemeClr val="tx1"/>
              </a:solidFill>
              <a:latin typeface="+mn-ea"/>
            </a:endParaRPr>
          </a:p>
          <a:p>
            <a:pPr algn="ctr"/>
            <a:r>
              <a:rPr lang="ko-KR" altLang="en-US" sz="800" dirty="0" err="1">
                <a:solidFill>
                  <a:schemeClr val="tx1"/>
                </a:solidFill>
                <a:latin typeface="+mn-ea"/>
              </a:rPr>
              <a:t>견적서제출</a:t>
            </a:r>
            <a:endParaRPr lang="ko-KR" altLang="en-US" sz="800" dirty="0">
              <a:solidFill>
                <a:schemeClr val="tx1"/>
              </a:solidFill>
            </a:endParaRPr>
          </a:p>
        </p:txBody>
      </p:sp>
      <p:sp>
        <p:nvSpPr>
          <p:cNvPr id="88" name="직사각형 87">
            <a:extLst>
              <a:ext uri="{FF2B5EF4-FFF2-40B4-BE49-F238E27FC236}">
                <a16:creationId xmlns:a16="http://schemas.microsoft.com/office/drawing/2014/main" id="{F249990F-1DE5-C694-BDBD-2DE7009D57EA}"/>
              </a:ext>
            </a:extLst>
          </p:cNvPr>
          <p:cNvSpPr/>
          <p:nvPr/>
        </p:nvSpPr>
        <p:spPr>
          <a:xfrm>
            <a:off x="4193498" y="1918609"/>
            <a:ext cx="819135"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일반정보</a:t>
            </a:r>
          </a:p>
          <a:p>
            <a:r>
              <a:rPr lang="ko-KR" altLang="en-US" sz="800" dirty="0">
                <a:solidFill>
                  <a:schemeClr val="tx1"/>
                </a:solidFill>
              </a:rPr>
              <a:t>입찰결과 </a:t>
            </a:r>
            <a:r>
              <a:rPr lang="en-US" altLang="ko-KR" sz="800" dirty="0">
                <a:solidFill>
                  <a:schemeClr val="tx1"/>
                </a:solidFill>
              </a:rPr>
              <a:t>(</a:t>
            </a:r>
            <a:r>
              <a:rPr lang="ko-KR" altLang="en-US" sz="800" dirty="0" err="1">
                <a:solidFill>
                  <a:schemeClr val="tx1"/>
                </a:solidFill>
              </a:rPr>
              <a:t>단가제</a:t>
            </a:r>
            <a:r>
              <a:rPr lang="en-US" altLang="ko-KR" sz="800" dirty="0">
                <a:solidFill>
                  <a:schemeClr val="tx1"/>
                </a:solidFill>
              </a:rPr>
              <a:t>)</a:t>
            </a:r>
          </a:p>
          <a:p>
            <a:r>
              <a:rPr lang="ko-KR" altLang="en-US" sz="800" dirty="0">
                <a:solidFill>
                  <a:schemeClr val="tx1"/>
                </a:solidFill>
                <a:latin typeface="+mn-ea"/>
              </a:rPr>
              <a:t>입찰결과 </a:t>
            </a:r>
            <a:r>
              <a:rPr lang="en-US" altLang="ko-KR" sz="800" dirty="0">
                <a:solidFill>
                  <a:schemeClr val="tx1"/>
                </a:solidFill>
                <a:latin typeface="+mn-ea"/>
              </a:rPr>
              <a:t>(</a:t>
            </a:r>
            <a:r>
              <a:rPr lang="ko-KR" altLang="en-US" sz="800" dirty="0" err="1">
                <a:solidFill>
                  <a:schemeClr val="tx1"/>
                </a:solidFill>
                <a:latin typeface="+mn-ea"/>
              </a:rPr>
              <a:t>총액제</a:t>
            </a:r>
            <a:r>
              <a:rPr lang="en-US" altLang="ko-KR" sz="800" dirty="0">
                <a:solidFill>
                  <a:schemeClr val="tx1"/>
                </a:solidFill>
                <a:latin typeface="+mn-ea"/>
              </a:rPr>
              <a:t>)</a:t>
            </a:r>
            <a:endParaRPr lang="ko-KR" altLang="en-US" sz="800" dirty="0">
              <a:solidFill>
                <a:schemeClr val="tx1"/>
              </a:solidFill>
              <a:latin typeface="+mn-ea"/>
            </a:endParaRPr>
          </a:p>
        </p:txBody>
      </p:sp>
      <p:sp>
        <p:nvSpPr>
          <p:cNvPr id="90" name="직사각형 89">
            <a:extLst>
              <a:ext uri="{FF2B5EF4-FFF2-40B4-BE49-F238E27FC236}">
                <a16:creationId xmlns:a16="http://schemas.microsoft.com/office/drawing/2014/main" id="{F249990F-1DE5-C694-BDBD-2DE7009D57EA}"/>
              </a:ext>
            </a:extLst>
          </p:cNvPr>
          <p:cNvSpPr/>
          <p:nvPr/>
        </p:nvSpPr>
        <p:spPr>
          <a:xfrm>
            <a:off x="4193499" y="4503231"/>
            <a:ext cx="732573" cy="4924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탭 </a:t>
            </a:r>
            <a:r>
              <a:rPr lang="en-US" altLang="ko-KR" sz="800" dirty="0">
                <a:solidFill>
                  <a:schemeClr val="tx1"/>
                </a:solidFill>
              </a:rPr>
              <a:t>1 - </a:t>
            </a:r>
            <a:r>
              <a:rPr lang="ko-KR" altLang="en-US" sz="800" dirty="0">
                <a:solidFill>
                  <a:schemeClr val="tx1"/>
                </a:solidFill>
              </a:rPr>
              <a:t>일반정보</a:t>
            </a:r>
          </a:p>
          <a:p>
            <a:r>
              <a:rPr lang="ko-KR" altLang="en-US" sz="800" dirty="0">
                <a:solidFill>
                  <a:schemeClr val="tx1"/>
                </a:solidFill>
              </a:rPr>
              <a:t>탭 </a:t>
            </a:r>
            <a:r>
              <a:rPr lang="en-US" altLang="ko-KR" sz="800" dirty="0">
                <a:solidFill>
                  <a:schemeClr val="tx1"/>
                </a:solidFill>
              </a:rPr>
              <a:t>2 – </a:t>
            </a:r>
            <a:r>
              <a:rPr lang="ko-KR" altLang="en-US" sz="800" dirty="0">
                <a:solidFill>
                  <a:schemeClr val="tx1"/>
                </a:solidFill>
              </a:rPr>
              <a:t>업체정보</a:t>
            </a:r>
          </a:p>
          <a:p>
            <a:r>
              <a:rPr lang="ko-KR" altLang="en-US" sz="800" dirty="0">
                <a:solidFill>
                  <a:schemeClr val="tx1"/>
                </a:solidFill>
                <a:latin typeface="+mn-ea"/>
              </a:rPr>
              <a:t>탭 </a:t>
            </a:r>
            <a:r>
              <a:rPr lang="en-US" altLang="ko-KR" sz="800" dirty="0">
                <a:solidFill>
                  <a:schemeClr val="tx1"/>
                </a:solidFill>
                <a:latin typeface="+mn-ea"/>
              </a:rPr>
              <a:t>3 - </a:t>
            </a:r>
            <a:r>
              <a:rPr lang="ko-KR" altLang="en-US" sz="800" dirty="0" err="1">
                <a:solidFill>
                  <a:prstClr val="black"/>
                </a:solidFill>
                <a:latin typeface="맑은 고딕" panose="020B0503020000020004" pitchFamily="50" charset="-127"/>
              </a:rPr>
              <a:t>입찰품목</a:t>
            </a:r>
            <a:endParaRPr lang="en-US" altLang="ko-KR" sz="800" dirty="0">
              <a:solidFill>
                <a:schemeClr val="tx1"/>
              </a:solidFill>
              <a:latin typeface="+mn-ea"/>
            </a:endParaRPr>
          </a:p>
          <a:p>
            <a:r>
              <a:rPr lang="ko-KR" altLang="en-US" sz="800" dirty="0">
                <a:solidFill>
                  <a:schemeClr val="tx1"/>
                </a:solidFill>
                <a:latin typeface="+mn-ea"/>
              </a:rPr>
              <a:t>탭 </a:t>
            </a:r>
            <a:r>
              <a:rPr lang="en-US" altLang="ko-KR" sz="800" dirty="0">
                <a:solidFill>
                  <a:schemeClr val="tx1"/>
                </a:solidFill>
                <a:latin typeface="+mn-ea"/>
              </a:rPr>
              <a:t>4 - </a:t>
            </a:r>
            <a:r>
              <a:rPr lang="ko-KR" altLang="en-US" sz="800" dirty="0">
                <a:solidFill>
                  <a:schemeClr val="tx1"/>
                </a:solidFill>
                <a:latin typeface="+mn-ea"/>
              </a:rPr>
              <a:t>첨부파일</a:t>
            </a:r>
          </a:p>
        </p:txBody>
      </p:sp>
      <p:sp>
        <p:nvSpPr>
          <p:cNvPr id="97" name="사각형: 둥근 모서리 5">
            <a:extLst>
              <a:ext uri="{FF2B5EF4-FFF2-40B4-BE49-F238E27FC236}">
                <a16:creationId xmlns:a16="http://schemas.microsoft.com/office/drawing/2014/main" id="{410E5459-200D-7630-863C-88E5109259DF}"/>
              </a:ext>
            </a:extLst>
          </p:cNvPr>
          <p:cNvSpPr/>
          <p:nvPr/>
        </p:nvSpPr>
        <p:spPr>
          <a:xfrm>
            <a:off x="4193499"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공개수의협상</a:t>
            </a:r>
            <a:endParaRPr lang="en-US" altLang="ko-KR" sz="800" dirty="0">
              <a:solidFill>
                <a:schemeClr val="tx1"/>
              </a:solidFill>
            </a:endParaRPr>
          </a:p>
          <a:p>
            <a:pPr algn="ctr"/>
            <a:r>
              <a:rPr lang="ko-KR" altLang="en-US" sz="800" dirty="0" err="1">
                <a:solidFill>
                  <a:schemeClr val="tx1"/>
                </a:solidFill>
              </a:rPr>
              <a:t>계획상세</a:t>
            </a:r>
            <a:endParaRPr lang="ko-KR" altLang="en-US" sz="800" dirty="0">
              <a:solidFill>
                <a:schemeClr val="tx1"/>
              </a:solidFill>
            </a:endParaRPr>
          </a:p>
        </p:txBody>
      </p:sp>
      <p:sp>
        <p:nvSpPr>
          <p:cNvPr id="99" name="사각형: 둥근 모서리 5">
            <a:extLst>
              <a:ext uri="{FF2B5EF4-FFF2-40B4-BE49-F238E27FC236}">
                <a16:creationId xmlns:a16="http://schemas.microsoft.com/office/drawing/2014/main" id="{410E5459-200D-7630-863C-88E5109259DF}"/>
              </a:ext>
            </a:extLst>
          </p:cNvPr>
          <p:cNvSpPr/>
          <p:nvPr/>
        </p:nvSpPr>
        <p:spPr>
          <a:xfrm>
            <a:off x="2366608" y="2923907"/>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a:t>
            </a:r>
          </a:p>
        </p:txBody>
      </p:sp>
      <p:cxnSp>
        <p:nvCxnSpPr>
          <p:cNvPr id="101" name="직선 화살표 연결선 100">
            <a:extLst>
              <a:ext uri="{FF2B5EF4-FFF2-40B4-BE49-F238E27FC236}">
                <a16:creationId xmlns:a16="http://schemas.microsoft.com/office/drawing/2014/main" id="{9A519F08-B829-E35F-09D8-DFCD1F68B911}"/>
              </a:ext>
            </a:extLst>
          </p:cNvPr>
          <p:cNvCxnSpPr>
            <a:cxnSpLocks/>
            <a:stCxn id="99" idx="3"/>
            <a:endCxn id="97" idx="1"/>
          </p:cNvCxnSpPr>
          <p:nvPr/>
        </p:nvCxnSpPr>
        <p:spPr>
          <a:xfrm>
            <a:off x="3266608" y="3067907"/>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연결선: 꺾임 7">
            <a:extLst>
              <a:ext uri="{FF2B5EF4-FFF2-40B4-BE49-F238E27FC236}">
                <a16:creationId xmlns:a16="http://schemas.microsoft.com/office/drawing/2014/main" id="{89A2D828-4C18-4F90-6B31-722E89773AA8}"/>
              </a:ext>
            </a:extLst>
          </p:cNvPr>
          <p:cNvCxnSpPr>
            <a:cxnSpLocks/>
            <a:stCxn id="9" idx="6"/>
            <a:endCxn id="99" idx="1"/>
          </p:cNvCxnSpPr>
          <p:nvPr/>
        </p:nvCxnSpPr>
        <p:spPr>
          <a:xfrm>
            <a:off x="1435474" y="1772964"/>
            <a:ext cx="931134" cy="1294943"/>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연결선: 꺾임 7">
            <a:extLst>
              <a:ext uri="{FF2B5EF4-FFF2-40B4-BE49-F238E27FC236}">
                <a16:creationId xmlns:a16="http://schemas.microsoft.com/office/drawing/2014/main" id="{89A2D828-4C18-4F90-6B31-722E89773AA8}"/>
              </a:ext>
            </a:extLst>
          </p:cNvPr>
          <p:cNvCxnSpPr>
            <a:cxnSpLocks/>
            <a:stCxn id="99" idx="3"/>
            <a:endCxn id="53" idx="1"/>
          </p:cNvCxnSpPr>
          <p:nvPr/>
        </p:nvCxnSpPr>
        <p:spPr>
          <a:xfrm>
            <a:off x="3266608" y="3067907"/>
            <a:ext cx="926891" cy="129132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연결선: 꺾임 7">
            <a:extLst>
              <a:ext uri="{FF2B5EF4-FFF2-40B4-BE49-F238E27FC236}">
                <a16:creationId xmlns:a16="http://schemas.microsoft.com/office/drawing/2014/main" id="{89A2D828-4C18-4F90-6B31-722E89773AA8}"/>
              </a:ext>
            </a:extLst>
          </p:cNvPr>
          <p:cNvCxnSpPr>
            <a:cxnSpLocks/>
            <a:stCxn id="93" idx="3"/>
            <a:endCxn id="80" idx="2"/>
          </p:cNvCxnSpPr>
          <p:nvPr/>
        </p:nvCxnSpPr>
        <p:spPr>
          <a:xfrm>
            <a:off x="6930043" y="3067907"/>
            <a:ext cx="67780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연결선: 꺾임 7">
            <a:extLst>
              <a:ext uri="{FF2B5EF4-FFF2-40B4-BE49-F238E27FC236}">
                <a16:creationId xmlns:a16="http://schemas.microsoft.com/office/drawing/2014/main" id="{89A2D828-4C18-4F90-6B31-722E89773AA8}"/>
              </a:ext>
            </a:extLst>
          </p:cNvPr>
          <p:cNvCxnSpPr>
            <a:cxnSpLocks/>
            <a:stCxn id="53" idx="3"/>
            <a:endCxn id="22" idx="1"/>
          </p:cNvCxnSpPr>
          <p:nvPr/>
        </p:nvCxnSpPr>
        <p:spPr>
          <a:xfrm>
            <a:off x="5093499" y="4359231"/>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직선 화살표 연결선 56">
            <a:extLst>
              <a:ext uri="{FF2B5EF4-FFF2-40B4-BE49-F238E27FC236}">
                <a16:creationId xmlns:a16="http://schemas.microsoft.com/office/drawing/2014/main" id="{9A519F08-B829-E35F-09D8-DFCD1F68B911}"/>
              </a:ext>
            </a:extLst>
          </p:cNvPr>
          <p:cNvCxnSpPr>
            <a:cxnSpLocks/>
            <a:stCxn id="97" idx="3"/>
            <a:endCxn id="60" idx="1"/>
          </p:cNvCxnSpPr>
          <p:nvPr/>
        </p:nvCxnSpPr>
        <p:spPr>
          <a:xfrm>
            <a:off x="5093499" y="3067907"/>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1" name="직선 화살표 연결선 60">
            <a:extLst>
              <a:ext uri="{FF2B5EF4-FFF2-40B4-BE49-F238E27FC236}">
                <a16:creationId xmlns:a16="http://schemas.microsoft.com/office/drawing/2014/main" id="{9A519F08-B829-E35F-09D8-DFCD1F68B911}"/>
              </a:ext>
            </a:extLst>
          </p:cNvPr>
          <p:cNvCxnSpPr>
            <a:cxnSpLocks/>
            <a:stCxn id="52" idx="2"/>
            <a:endCxn id="97" idx="0"/>
          </p:cNvCxnSpPr>
          <p:nvPr/>
        </p:nvCxnSpPr>
        <p:spPr>
          <a:xfrm>
            <a:off x="4643499" y="1916964"/>
            <a:ext cx="0" cy="1006943"/>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 name="직사각형 66">
            <a:extLst>
              <a:ext uri="{FF2B5EF4-FFF2-40B4-BE49-F238E27FC236}">
                <a16:creationId xmlns:a16="http://schemas.microsoft.com/office/drawing/2014/main" id="{F249990F-1DE5-C694-BDBD-2DE7009D57EA}"/>
              </a:ext>
            </a:extLst>
          </p:cNvPr>
          <p:cNvSpPr/>
          <p:nvPr/>
        </p:nvSpPr>
        <p:spPr>
          <a:xfrm>
            <a:off x="6030043" y="3221125"/>
            <a:ext cx="835165" cy="4924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1 – </a:t>
            </a:r>
            <a:r>
              <a:rPr lang="ko-KR" altLang="en-US" sz="800" dirty="0">
                <a:solidFill>
                  <a:schemeClr val="tx1"/>
                </a:solidFill>
              </a:rPr>
              <a:t>일반정보</a:t>
            </a:r>
          </a:p>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2 – </a:t>
            </a:r>
            <a:r>
              <a:rPr lang="ko-KR" altLang="en-US" sz="800" dirty="0">
                <a:solidFill>
                  <a:schemeClr val="tx1"/>
                </a:solidFill>
              </a:rPr>
              <a:t>업체정보</a:t>
            </a: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3 – </a:t>
            </a:r>
            <a:r>
              <a:rPr lang="ko-KR" altLang="en-US" sz="800" dirty="0" err="1">
                <a:solidFill>
                  <a:schemeClr val="tx1"/>
                </a:solidFill>
                <a:latin typeface="+mn-ea"/>
              </a:rPr>
              <a:t>입찰품목</a:t>
            </a:r>
            <a:endParaRPr lang="en-US" altLang="ko-KR" sz="800" dirty="0">
              <a:solidFill>
                <a:schemeClr val="tx1"/>
              </a:solidFill>
              <a:latin typeface="+mn-ea"/>
            </a:endParaRP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4 - </a:t>
            </a:r>
            <a:r>
              <a:rPr lang="ko-KR" altLang="en-US" sz="800" dirty="0">
                <a:solidFill>
                  <a:schemeClr val="tx1"/>
                </a:solidFill>
                <a:latin typeface="+mn-ea"/>
              </a:rPr>
              <a:t>첨부파일</a:t>
            </a:r>
          </a:p>
        </p:txBody>
      </p:sp>
      <p:cxnSp>
        <p:nvCxnSpPr>
          <p:cNvPr id="111" name="연결선: 꺾임 7">
            <a:extLst>
              <a:ext uri="{FF2B5EF4-FFF2-40B4-BE49-F238E27FC236}">
                <a16:creationId xmlns:a16="http://schemas.microsoft.com/office/drawing/2014/main" id="{89A2D828-4C18-4F90-6B31-722E89773AA8}"/>
              </a:ext>
            </a:extLst>
          </p:cNvPr>
          <p:cNvCxnSpPr>
            <a:cxnSpLocks/>
            <a:stCxn id="93" idx="3"/>
            <a:endCxn id="80" idx="2"/>
          </p:cNvCxnSpPr>
          <p:nvPr/>
        </p:nvCxnSpPr>
        <p:spPr>
          <a:xfrm flipV="1">
            <a:off x="6930043" y="3713734"/>
            <a:ext cx="677804" cy="64549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직사각형 112">
            <a:extLst>
              <a:ext uri="{FF2B5EF4-FFF2-40B4-BE49-F238E27FC236}">
                <a16:creationId xmlns:a16="http://schemas.microsoft.com/office/drawing/2014/main" id="{F249990F-1DE5-C694-BDBD-2DE7009D57EA}"/>
              </a:ext>
            </a:extLst>
          </p:cNvPr>
          <p:cNvSpPr/>
          <p:nvPr/>
        </p:nvSpPr>
        <p:spPr>
          <a:xfrm>
            <a:off x="4193498" y="3225426"/>
            <a:ext cx="410369"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일반정보</a:t>
            </a:r>
          </a:p>
          <a:p>
            <a:r>
              <a:rPr lang="ko-KR" altLang="en-US" sz="800" dirty="0" err="1">
                <a:solidFill>
                  <a:schemeClr val="tx1"/>
                </a:solidFill>
              </a:rPr>
              <a:t>품목정보</a:t>
            </a:r>
            <a:endParaRPr lang="ko-KR" altLang="en-US" sz="800" dirty="0">
              <a:solidFill>
                <a:schemeClr val="tx1"/>
              </a:solidFill>
            </a:endParaRPr>
          </a:p>
          <a:p>
            <a:r>
              <a:rPr lang="ko-KR" altLang="en-US" sz="800" dirty="0">
                <a:solidFill>
                  <a:schemeClr val="tx1"/>
                </a:solidFill>
                <a:latin typeface="+mn-ea"/>
              </a:rPr>
              <a:t>입찰결과</a:t>
            </a:r>
          </a:p>
        </p:txBody>
      </p:sp>
      <p:cxnSp>
        <p:nvCxnSpPr>
          <p:cNvPr id="120" name="연결선: 꺾임 7">
            <a:extLst>
              <a:ext uri="{FF2B5EF4-FFF2-40B4-BE49-F238E27FC236}">
                <a16:creationId xmlns:a16="http://schemas.microsoft.com/office/drawing/2014/main" id="{89A2D828-4C18-4F90-6B31-722E89773AA8}"/>
              </a:ext>
            </a:extLst>
          </p:cNvPr>
          <p:cNvCxnSpPr>
            <a:cxnSpLocks/>
            <a:stCxn id="22" idx="3"/>
            <a:endCxn id="80" idx="2"/>
          </p:cNvCxnSpPr>
          <p:nvPr/>
        </p:nvCxnSpPr>
        <p:spPr>
          <a:xfrm flipV="1">
            <a:off x="6930043" y="3713734"/>
            <a:ext cx="677804" cy="129132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7922375"/>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518</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9.3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입찰실시</a:t>
            </a:r>
            <a:r>
              <a:rPr lang="en-US" altLang="ko-KR" sz="1100" dirty="0"/>
              <a:t>Controller&gt;&gt;</a:t>
            </a:r>
          </a:p>
          <a:p>
            <a:pPr algn="ctr"/>
            <a:r>
              <a:rPr lang="en-US" altLang="ko-KR" sz="1100" dirty="0" err="1" smtClean="0"/>
              <a:t>BidEnfrcController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입찰결과상세 </a:t>
            </a:r>
            <a:r>
              <a:rPr lang="en-US" altLang="ko-KR" sz="1050" dirty="0">
                <a:solidFill>
                  <a:schemeClr val="tx1"/>
                </a:solidFill>
                <a:latin typeface="+mn-ea"/>
              </a:rPr>
              <a:t>-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OvsBidRsltDtlPage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입찰결과상세 </a:t>
            </a:r>
            <a:r>
              <a:rPr lang="en-US" altLang="ko-KR" sz="1050" dirty="0">
                <a:solidFill>
                  <a:schemeClr val="tx1"/>
                </a:solidFill>
                <a:latin typeface="+mn-ea"/>
              </a:rPr>
              <a:t>– </a:t>
            </a:r>
            <a:r>
              <a:rPr lang="ko-KR" altLang="en-US" sz="1050" dirty="0">
                <a:solidFill>
                  <a:schemeClr val="tx1"/>
                </a:solidFill>
                <a:latin typeface="+mn-ea"/>
              </a:rPr>
              <a:t>입찰결과 </a:t>
            </a:r>
            <a:r>
              <a:rPr lang="en-US" altLang="ko-KR" sz="1050" dirty="0">
                <a:solidFill>
                  <a:schemeClr val="tx1"/>
                </a:solidFill>
                <a:latin typeface="+mn-ea"/>
              </a:rPr>
              <a:t>(</a:t>
            </a:r>
            <a:r>
              <a:rPr lang="ko-KR" altLang="en-US" sz="1050" dirty="0" err="1">
                <a:solidFill>
                  <a:schemeClr val="tx1"/>
                </a:solidFill>
                <a:latin typeface="+mn-ea"/>
              </a:rPr>
              <a:t>단가제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OvsBidRsltDtl2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입찰결과상세 </a:t>
            </a:r>
            <a:r>
              <a:rPr lang="en-US" altLang="ko-KR" sz="1050" dirty="0">
                <a:solidFill>
                  <a:schemeClr val="tx1"/>
                </a:solidFill>
                <a:latin typeface="+mn-ea"/>
              </a:rPr>
              <a:t>– </a:t>
            </a:r>
            <a:r>
              <a:rPr lang="ko-KR" altLang="en-US" sz="1050" dirty="0">
                <a:solidFill>
                  <a:schemeClr val="tx1"/>
                </a:solidFill>
                <a:latin typeface="+mn-ea"/>
              </a:rPr>
              <a:t>입찰결과 </a:t>
            </a:r>
            <a:r>
              <a:rPr lang="en-US" altLang="ko-KR" sz="1050" dirty="0">
                <a:solidFill>
                  <a:schemeClr val="tx1"/>
                </a:solidFill>
                <a:latin typeface="+mn-ea"/>
              </a:rPr>
              <a:t>(</a:t>
            </a:r>
            <a:r>
              <a:rPr lang="ko-KR" altLang="en-US" sz="1050" dirty="0" err="1">
                <a:solidFill>
                  <a:schemeClr val="tx1"/>
                </a:solidFill>
                <a:latin typeface="+mn-ea"/>
              </a:rPr>
              <a:t>총액제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OvsBidRsltDtl3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공개수의협상계획상세</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OvsRlsVltrnsNgtnPlanDtl</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공개수의협상계획상세</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mn-ea"/>
              </a:rPr>
              <a:t>– </a:t>
            </a:r>
            <a:r>
              <a:rPr lang="ko-KR" altLang="en-US" sz="1050" dirty="0" err="1">
                <a:solidFill>
                  <a:schemeClr val="tx1"/>
                </a:solidFill>
                <a:latin typeface="+mn-ea"/>
              </a:rPr>
              <a:t>품목정보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OvsRlsVltrnsNgtnPlanDtl2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공개수의협상계획상세</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mn-ea"/>
              </a:rPr>
              <a:t>- </a:t>
            </a:r>
            <a:r>
              <a:rPr lang="ko-KR" altLang="en-US" sz="1050" dirty="0">
                <a:solidFill>
                  <a:schemeClr val="tx1"/>
                </a:solidFill>
                <a:latin typeface="+mn-ea"/>
              </a:rPr>
              <a:t>첨부서류</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OvsRlsVltrnsNgtnPlanDtl</a:t>
            </a:r>
            <a:r>
              <a:rPr lang="en-US" altLang="ko-KR" sz="1050" dirty="0">
                <a:solidFill>
                  <a:schemeClr val="tx1"/>
                </a:solidFill>
                <a:latin typeface="+mn-ea"/>
              </a:rPr>
              <a:t>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038044" y="4882211"/>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공개수의협상견적서제출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OvsRlsVltrnsNgtnEtdcSbmsnPage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765244" y="2990174"/>
            <a:ext cx="1194847" cy="20983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038044" y="5387467"/>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공개수의협상견적서제출</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맑은 고딕" panose="020B0503020000020004" pitchFamily="50" charset="-127"/>
              </a:rPr>
              <a:t>- </a:t>
            </a:r>
            <a:r>
              <a:rPr lang="ko-KR" altLang="en-US" sz="1050" dirty="0" err="1">
                <a:solidFill>
                  <a:schemeClr val="tx1"/>
                </a:solidFill>
                <a:latin typeface="맑은 고딕" panose="020B0503020000020004" pitchFamily="50" charset="-127"/>
              </a:rPr>
              <a:t>스탭</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맑은 고딕" panose="020B0503020000020004" pitchFamily="50" charset="-127"/>
              </a:rPr>
              <a:t>2 - </a:t>
            </a:r>
            <a:r>
              <a:rPr lang="ko-KR" altLang="en-US" sz="1050" dirty="0">
                <a:solidFill>
                  <a:schemeClr val="tx1"/>
                </a:solidFill>
                <a:latin typeface="맑은 고딕" panose="020B0503020000020004" pitchFamily="50" charset="-127"/>
              </a:rPr>
              <a:t>업체정보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OvsRlsVltrnsNgtnEtdcSbmsn2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765244" y="2990174"/>
            <a:ext cx="1194847" cy="26035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9.3.1 </a:t>
            </a:r>
            <a:r>
              <a:rPr lang="ko-KR" altLang="en-US" sz="1200" dirty="0">
                <a:solidFill>
                  <a:schemeClr val="tx1"/>
                </a:solidFill>
              </a:rPr>
              <a:t>국외 개찰 </a:t>
            </a:r>
            <a:r>
              <a:rPr lang="en-US" altLang="ko-KR" sz="1200" dirty="0">
                <a:solidFill>
                  <a:schemeClr val="tx1"/>
                </a:solidFill>
              </a:rPr>
              <a:t>(1/2)</a:t>
            </a:r>
            <a:endParaRPr lang="ko-KR" altLang="en-US" sz="1200" dirty="0">
              <a:solidFill>
                <a:schemeClr val="tx1"/>
              </a:solidFill>
            </a:endParaRPr>
          </a:p>
        </p:txBody>
      </p:sp>
      <p:sp>
        <p:nvSpPr>
          <p:cNvPr id="61" name="직사각형 60">
            <a:extLst>
              <a:ext uri="{FF2B5EF4-FFF2-40B4-BE49-F238E27FC236}">
                <a16:creationId xmlns:a16="http://schemas.microsoft.com/office/drawing/2014/main" id="{326CB017-8967-4DC4-0EAD-ADB3B9EAB841}"/>
              </a:ext>
            </a:extLst>
          </p:cNvPr>
          <p:cNvSpPr/>
          <p:nvPr/>
        </p:nvSpPr>
        <p:spPr>
          <a:xfrm>
            <a:off x="1038044" y="589158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t>&lt;&lt;App Page&gt;&gt;</a:t>
            </a:r>
          </a:p>
          <a:p>
            <a:pPr lvl="0" algn="ctr">
              <a:lnSpc>
                <a:spcPct val="120000"/>
              </a:lnSpc>
            </a:pPr>
            <a:r>
              <a:rPr lang="ko-KR" altLang="en-US" sz="1050" dirty="0" err="1">
                <a:solidFill>
                  <a:prstClr val="black"/>
                </a:solidFill>
                <a:latin typeface="맑은 고딕" panose="020B0503020000020004" pitchFamily="50" charset="-127"/>
              </a:rPr>
              <a:t>공개수의협상견적서제출</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 </a:t>
            </a:r>
            <a:r>
              <a:rPr lang="ko-KR" altLang="en-US" sz="1050" dirty="0" err="1">
                <a:solidFill>
                  <a:prstClr val="black"/>
                </a:solidFill>
                <a:latin typeface="맑은 고딕" panose="020B0503020000020004" pitchFamily="50" charset="-127"/>
              </a:rPr>
              <a:t>스탭</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3 - </a:t>
            </a:r>
            <a:r>
              <a:rPr lang="ko-KR" altLang="en-US" sz="1050" dirty="0" err="1">
                <a:solidFill>
                  <a:prstClr val="black"/>
                </a:solidFill>
                <a:latin typeface="맑은 고딕" panose="020B0503020000020004" pitchFamily="50" charset="-127"/>
              </a:rPr>
              <a:t>입찰품목</a:t>
            </a:r>
            <a:endParaRPr lang="en-US" altLang="ko-KR" sz="1050" dirty="0"/>
          </a:p>
          <a:p>
            <a:pPr algn="ctr">
              <a:lnSpc>
                <a:spcPct val="120000"/>
              </a:lnSpc>
            </a:pPr>
            <a:r>
              <a:rPr lang="ko-KR" altLang="en-US" sz="1050" dirty="0" err="1"/>
              <a:t>화면명</a:t>
            </a:r>
            <a:r>
              <a:rPr lang="en-US" altLang="ko-KR" sz="1050" dirty="0"/>
              <a:t> .tsx</a:t>
            </a:r>
            <a:r>
              <a:rPr lang="en-US" altLang="ko-KR" sz="1050" b="1" baseline="30000" dirty="0">
                <a:latin typeface="+mn-ea"/>
              </a:rPr>
              <a:t>1)</a:t>
            </a:r>
            <a:endParaRPr lang="en-US" altLang="ko-KR" sz="1050" dirty="0"/>
          </a:p>
        </p:txBody>
      </p:sp>
      <p:cxnSp>
        <p:nvCxnSpPr>
          <p:cNvPr id="68" name="직선 화살표 연결선 67">
            <a:extLst>
              <a:ext uri="{FF2B5EF4-FFF2-40B4-BE49-F238E27FC236}">
                <a16:creationId xmlns:a16="http://schemas.microsoft.com/office/drawing/2014/main" id="{418E1257-E5C2-5705-1378-45505004ABAF}"/>
              </a:ext>
            </a:extLst>
          </p:cNvPr>
          <p:cNvCxnSpPr>
            <a:cxnSpLocks/>
            <a:stCxn id="61" idx="3"/>
            <a:endCxn id="9" idx="1"/>
          </p:cNvCxnSpPr>
          <p:nvPr/>
        </p:nvCxnSpPr>
        <p:spPr>
          <a:xfrm flipV="1">
            <a:off x="2765244" y="2990174"/>
            <a:ext cx="1194847" cy="31077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326CB017-8967-4DC4-0EAD-ADB3B9EAB841}"/>
              </a:ext>
            </a:extLst>
          </p:cNvPr>
          <p:cNvSpPr/>
          <p:nvPr/>
        </p:nvSpPr>
        <p:spPr>
          <a:xfrm>
            <a:off x="2864228" y="5891586"/>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47500" lnSpcReduction="20000"/>
          </a:bodyPr>
          <a:lstStyle/>
          <a:p>
            <a:pPr algn="ctr">
              <a:lnSpc>
                <a:spcPct val="120000"/>
              </a:lnSpc>
            </a:pPr>
            <a:r>
              <a:rPr lang="en-US" altLang="ko-KR" sz="1050" dirty="0"/>
              <a:t>&lt;&lt;App Page&gt;&gt;</a:t>
            </a:r>
          </a:p>
          <a:p>
            <a:pPr lvl="0" algn="ctr">
              <a:lnSpc>
                <a:spcPct val="120000"/>
              </a:lnSpc>
            </a:pPr>
            <a:r>
              <a:rPr lang="ko-KR" altLang="en-US" sz="1050" dirty="0" err="1">
                <a:solidFill>
                  <a:prstClr val="black"/>
                </a:solidFill>
                <a:latin typeface="맑은 고딕" panose="020B0503020000020004" pitchFamily="50" charset="-127"/>
              </a:rPr>
              <a:t>공개수의협상견적서제출</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 </a:t>
            </a:r>
            <a:r>
              <a:rPr lang="ko-KR" altLang="en-US" sz="1050" dirty="0" err="1">
                <a:solidFill>
                  <a:prstClr val="black"/>
                </a:solidFill>
                <a:latin typeface="맑은 고딕" panose="020B0503020000020004" pitchFamily="50" charset="-127"/>
              </a:rPr>
              <a:t>스탭</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4 - </a:t>
            </a:r>
            <a:r>
              <a:rPr lang="ko-KR" altLang="en-US" sz="1050" dirty="0">
                <a:solidFill>
                  <a:prstClr val="black"/>
                </a:solidFill>
                <a:latin typeface="맑은 고딕" panose="020B0503020000020004" pitchFamily="50" charset="-127"/>
              </a:rPr>
              <a:t>첨부파일</a:t>
            </a:r>
            <a:endParaRPr lang="en-US" altLang="ko-KR" sz="1050" dirty="0"/>
          </a:p>
          <a:p>
            <a:pPr algn="ctr">
              <a:lnSpc>
                <a:spcPct val="120000"/>
              </a:lnSpc>
            </a:pPr>
            <a:r>
              <a:rPr lang="ko-KR" altLang="en-US" sz="1050" dirty="0" err="1"/>
              <a:t>화면명</a:t>
            </a:r>
            <a:r>
              <a:rPr lang="en-US" altLang="ko-KR" sz="1050" dirty="0"/>
              <a:t> .tsx</a:t>
            </a:r>
            <a:r>
              <a:rPr lang="en-US" altLang="ko-KR" sz="1050" b="1" baseline="30000" dirty="0">
                <a:latin typeface="+mn-ea"/>
              </a:rPr>
              <a:t>1)</a:t>
            </a:r>
            <a:endParaRPr lang="en-US" altLang="ko-KR" sz="1050" dirty="0"/>
          </a:p>
        </p:txBody>
      </p:sp>
      <p:cxnSp>
        <p:nvCxnSpPr>
          <p:cNvPr id="73" name="직선 화살표 연결선 72">
            <a:extLst>
              <a:ext uri="{FF2B5EF4-FFF2-40B4-BE49-F238E27FC236}">
                <a16:creationId xmlns:a16="http://schemas.microsoft.com/office/drawing/2014/main" id="{418E1257-E5C2-5705-1378-45505004ABAF}"/>
              </a:ext>
            </a:extLst>
          </p:cNvPr>
          <p:cNvCxnSpPr>
            <a:cxnSpLocks/>
            <a:stCxn id="39" idx="0"/>
            <a:endCxn id="9" idx="2"/>
          </p:cNvCxnSpPr>
          <p:nvPr/>
        </p:nvCxnSpPr>
        <p:spPr>
          <a:xfrm flipV="1">
            <a:off x="3642541" y="3810190"/>
            <a:ext cx="1181150" cy="20813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BE6CF8B0-B538-B16B-F0EB-F1F49287D1E5}"/>
              </a:ext>
            </a:extLst>
          </p:cNvPr>
          <p:cNvSpPr/>
          <p:nvPr/>
        </p:nvSpPr>
        <p:spPr>
          <a:xfrm>
            <a:off x="6913418" y="3476133"/>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입찰결과</a:t>
            </a:r>
            <a:r>
              <a:rPr lang="en-US" altLang="ko-KR" sz="1100" dirty="0"/>
              <a:t>Controller&gt;&gt;</a:t>
            </a:r>
          </a:p>
          <a:p>
            <a:pPr algn="ctr"/>
            <a:r>
              <a:rPr lang="en-US" altLang="ko-KR" sz="1100" dirty="0" err="1" smtClean="0"/>
              <a:t>BidRsltController</a:t>
            </a:r>
            <a:endParaRPr lang="en-US" altLang="ko-KR" sz="1100" dirty="0"/>
          </a:p>
        </p:txBody>
      </p:sp>
      <p:cxnSp>
        <p:nvCxnSpPr>
          <p:cNvPr id="36" name="직선 연결선 35">
            <a:extLst>
              <a:ext uri="{FF2B5EF4-FFF2-40B4-BE49-F238E27FC236}">
                <a16:creationId xmlns:a16="http://schemas.microsoft.com/office/drawing/2014/main" id="{A8B10782-0A07-A41D-DB15-978B72410A31}"/>
              </a:ext>
            </a:extLst>
          </p:cNvPr>
          <p:cNvCxnSpPr>
            <a:stCxn id="9" idx="3"/>
            <a:endCxn id="32" idx="1"/>
          </p:cNvCxnSpPr>
          <p:nvPr/>
        </p:nvCxnSpPr>
        <p:spPr>
          <a:xfrm>
            <a:off x="5687291" y="2990174"/>
            <a:ext cx="1226127" cy="728939"/>
          </a:xfrm>
          <a:prstGeom prst="line">
            <a:avLst/>
          </a:prstGeom>
        </p:spPr>
        <p:style>
          <a:lnRef idx="1">
            <a:schemeClr val="dk1"/>
          </a:lnRef>
          <a:fillRef idx="0">
            <a:schemeClr val="dk1"/>
          </a:fillRef>
          <a:effectRef idx="0">
            <a:schemeClr val="dk1"/>
          </a:effectRef>
          <a:fontRef idx="minor">
            <a:schemeClr val="tx1"/>
          </a:fontRef>
        </p:style>
      </p:cxnSp>
      <p:sp>
        <p:nvSpPr>
          <p:cNvPr id="38" name="직사각형 37">
            <a:extLst>
              <a:ext uri="{FF2B5EF4-FFF2-40B4-BE49-F238E27FC236}">
                <a16:creationId xmlns:a16="http://schemas.microsoft.com/office/drawing/2014/main" id="{BE6CF8B0-B538-B16B-F0EB-F1F49287D1E5}"/>
              </a:ext>
            </a:extLst>
          </p:cNvPr>
          <p:cNvSpPr/>
          <p:nvPr/>
        </p:nvSpPr>
        <p:spPr>
          <a:xfrm>
            <a:off x="6913418" y="424727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공개수의협상</a:t>
            </a:r>
            <a:r>
              <a:rPr lang="en-US" altLang="ko-KR" sz="800" dirty="0"/>
              <a:t>Controller&gt;&gt;</a:t>
            </a:r>
          </a:p>
          <a:p>
            <a:pPr algn="ctr"/>
            <a:r>
              <a:rPr lang="en-US" altLang="ko-KR" sz="800" dirty="0" err="1"/>
              <a:t>RlsVltrnsNgtnController</a:t>
            </a:r>
            <a:endParaRPr lang="en-US" altLang="ko-KR" sz="800" dirty="0"/>
          </a:p>
        </p:txBody>
      </p:sp>
      <p:cxnSp>
        <p:nvCxnSpPr>
          <p:cNvPr id="40" name="직선 연결선 39">
            <a:extLst>
              <a:ext uri="{FF2B5EF4-FFF2-40B4-BE49-F238E27FC236}">
                <a16:creationId xmlns:a16="http://schemas.microsoft.com/office/drawing/2014/main" id="{A8B10782-0A07-A41D-DB15-978B72410A31}"/>
              </a:ext>
            </a:extLst>
          </p:cNvPr>
          <p:cNvCxnSpPr>
            <a:stCxn id="9" idx="3"/>
            <a:endCxn id="38" idx="1"/>
          </p:cNvCxnSpPr>
          <p:nvPr/>
        </p:nvCxnSpPr>
        <p:spPr>
          <a:xfrm>
            <a:off x="5687291" y="2990174"/>
            <a:ext cx="1226127" cy="1500084"/>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7278610"/>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519</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9.3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공개수의협상견적서상세</a:t>
            </a:r>
            <a:r>
              <a:rPr lang="en-US" altLang="ko-KR" sz="1050" dirty="0">
                <a:solidFill>
                  <a:schemeClr val="tx1"/>
                </a:solidFill>
                <a:latin typeface="+mn-ea"/>
              </a:rPr>
              <a:t>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a:t>
            </a:r>
            <a:r>
              <a:rPr lang="ko-KR" altLang="en-US" sz="1050" dirty="0" err="1">
                <a:solidFill>
                  <a:schemeClr val="tx1"/>
                </a:solidFill>
                <a:latin typeface="+mn-ea"/>
              </a:rPr>
              <a:t>상세</a:t>
            </a:r>
            <a:r>
              <a:rPr lang="en-US" altLang="ko-KR" sz="1050" dirty="0">
                <a:solidFill>
                  <a:schemeClr val="tx1"/>
                </a:solidFill>
                <a:latin typeface="맑은 고딕" panose="020B0503020000020004" pitchFamily="50" charset="-127"/>
              </a:rPr>
              <a:t> - </a:t>
            </a:r>
            <a:r>
              <a:rPr lang="ko-KR" altLang="en-US" sz="1050" dirty="0">
                <a:solidFill>
                  <a:schemeClr val="tx1"/>
                </a:solidFill>
                <a:latin typeface="맑은 고딕" panose="020B0503020000020004" pitchFamily="50" charset="-127"/>
              </a:rPr>
              <a:t>업체정보</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a:t>
            </a:r>
            <a:r>
              <a:rPr lang="ko-KR" altLang="en-US" sz="1050" dirty="0" err="1">
                <a:solidFill>
                  <a:schemeClr val="tx1"/>
                </a:solidFill>
                <a:latin typeface="+mn-ea"/>
              </a:rPr>
              <a:t>상세</a:t>
            </a:r>
            <a:r>
              <a:rPr lang="en-US" altLang="ko-KR" sz="1050" dirty="0">
                <a:solidFill>
                  <a:schemeClr val="tx1"/>
                </a:solidFill>
                <a:latin typeface="맑은 고딕" panose="020B0503020000020004" pitchFamily="50" charset="-127"/>
              </a:rPr>
              <a:t> - </a:t>
            </a:r>
            <a:r>
              <a:rPr lang="ko-KR" altLang="en-US" sz="1050" dirty="0" err="1">
                <a:solidFill>
                  <a:schemeClr val="tx1"/>
                </a:solidFill>
                <a:latin typeface="맑은 고딕" panose="020B0503020000020004" pitchFamily="50" charset="-127"/>
              </a:rPr>
              <a:t>입찰품목</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a:t>
            </a:r>
            <a:r>
              <a:rPr lang="ko-KR" altLang="en-US" sz="1050" dirty="0" err="1">
                <a:solidFill>
                  <a:schemeClr val="tx1"/>
                </a:solidFill>
                <a:latin typeface="+mn-ea"/>
              </a:rPr>
              <a:t>상세</a:t>
            </a:r>
            <a:r>
              <a:rPr lang="en-US" altLang="ko-KR" sz="1050" dirty="0">
                <a:solidFill>
                  <a:schemeClr val="tx1"/>
                </a:solidFill>
                <a:latin typeface="맑은 고딕" panose="020B0503020000020004" pitchFamily="50" charset="-127"/>
              </a:rPr>
              <a:t> - </a:t>
            </a:r>
            <a:r>
              <a:rPr lang="ko-KR" altLang="en-US" sz="1050" dirty="0">
                <a:solidFill>
                  <a:schemeClr val="tx1"/>
                </a:solidFill>
                <a:latin typeface="맑은 고딕" panose="020B0503020000020004" pitchFamily="50" charset="-127"/>
              </a:rPr>
              <a:t>첨부파일</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OvsRlsVltrnsNgtnEtdcDtl4</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공개수의협상견적서취소신청서작성</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OvsRlsVltrnsNgtnEtdcRtrcnApfrWrt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공개수의협상결과조회</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OvsRlsVltrnsNgtnSrngRsltInqPage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9.3.1 </a:t>
            </a:r>
            <a:r>
              <a:rPr lang="ko-KR" altLang="en-US" sz="1200" dirty="0">
                <a:solidFill>
                  <a:schemeClr val="tx1"/>
                </a:solidFill>
              </a:rPr>
              <a:t>국외 개찰 </a:t>
            </a:r>
            <a:r>
              <a:rPr lang="en-US" altLang="ko-KR" sz="1200" dirty="0">
                <a:solidFill>
                  <a:schemeClr val="tx1"/>
                </a:solidFill>
              </a:rPr>
              <a:t>(2/2)</a:t>
            </a:r>
            <a:endParaRPr lang="ko-KR" altLang="en-US" sz="1200" dirty="0">
              <a:solidFill>
                <a:schemeClr val="tx1"/>
              </a:solidFill>
            </a:endParaRPr>
          </a:p>
        </p:txBody>
      </p:sp>
      <p:sp>
        <p:nvSpPr>
          <p:cNvPr id="23" name="직사각형 22">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입찰실시</a:t>
            </a:r>
            <a:r>
              <a:rPr lang="en-US" altLang="ko-KR" sz="1100" dirty="0"/>
              <a:t>Controller&gt;&gt;</a:t>
            </a:r>
          </a:p>
          <a:p>
            <a:pPr algn="ctr"/>
            <a:r>
              <a:rPr lang="en-US" altLang="ko-KR" sz="1100" dirty="0" err="1" smtClean="0"/>
              <a:t>BidEnfrcController</a:t>
            </a:r>
            <a:endParaRPr lang="en-US" altLang="ko-KR" sz="1100" dirty="0"/>
          </a:p>
        </p:txBody>
      </p:sp>
      <p:cxnSp>
        <p:nvCxnSpPr>
          <p:cNvPr id="29" name="직선 연결선 28">
            <a:extLst>
              <a:ext uri="{FF2B5EF4-FFF2-40B4-BE49-F238E27FC236}">
                <a16:creationId xmlns:a16="http://schemas.microsoft.com/office/drawing/2014/main" id="{A8B10782-0A07-A41D-DB15-978B72410A31}"/>
              </a:ext>
            </a:extLst>
          </p:cNvPr>
          <p:cNvCxnSpPr>
            <a:endCxn id="23"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BE6CF8B0-B538-B16B-F0EB-F1F49287D1E5}"/>
              </a:ext>
            </a:extLst>
          </p:cNvPr>
          <p:cNvSpPr/>
          <p:nvPr/>
        </p:nvSpPr>
        <p:spPr>
          <a:xfrm>
            <a:off x="6913418" y="3476133"/>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입찰결과</a:t>
            </a:r>
            <a:r>
              <a:rPr lang="en-US" altLang="ko-KR" sz="1100" dirty="0"/>
              <a:t>Controller&gt;&gt;</a:t>
            </a:r>
          </a:p>
          <a:p>
            <a:pPr algn="ctr"/>
            <a:r>
              <a:rPr lang="en-US" altLang="ko-KR" sz="1100" dirty="0" err="1" smtClean="0"/>
              <a:t>BidRsltController</a:t>
            </a:r>
            <a:endParaRPr lang="en-US" altLang="ko-KR" sz="1100" dirty="0"/>
          </a:p>
        </p:txBody>
      </p:sp>
      <p:cxnSp>
        <p:nvCxnSpPr>
          <p:cNvPr id="33" name="직선 연결선 32">
            <a:extLst>
              <a:ext uri="{FF2B5EF4-FFF2-40B4-BE49-F238E27FC236}">
                <a16:creationId xmlns:a16="http://schemas.microsoft.com/office/drawing/2014/main" id="{A8B10782-0A07-A41D-DB15-978B72410A31}"/>
              </a:ext>
            </a:extLst>
          </p:cNvPr>
          <p:cNvCxnSpPr>
            <a:endCxn id="32" idx="1"/>
          </p:cNvCxnSpPr>
          <p:nvPr/>
        </p:nvCxnSpPr>
        <p:spPr>
          <a:xfrm>
            <a:off x="5687291" y="2990174"/>
            <a:ext cx="1226127" cy="728939"/>
          </a:xfrm>
          <a:prstGeom prst="line">
            <a:avLst/>
          </a:prstGeom>
        </p:spPr>
        <p:style>
          <a:lnRef idx="1">
            <a:schemeClr val="dk1"/>
          </a:lnRef>
          <a:fillRef idx="0">
            <a:schemeClr val="dk1"/>
          </a:fillRef>
          <a:effectRef idx="0">
            <a:schemeClr val="dk1"/>
          </a:effectRef>
          <a:fontRef idx="minor">
            <a:schemeClr val="tx1"/>
          </a:fontRef>
        </p:style>
      </p:cxnSp>
      <p:sp>
        <p:nvSpPr>
          <p:cNvPr id="35" name="직사각형 34">
            <a:extLst>
              <a:ext uri="{FF2B5EF4-FFF2-40B4-BE49-F238E27FC236}">
                <a16:creationId xmlns:a16="http://schemas.microsoft.com/office/drawing/2014/main" id="{BE6CF8B0-B538-B16B-F0EB-F1F49287D1E5}"/>
              </a:ext>
            </a:extLst>
          </p:cNvPr>
          <p:cNvSpPr/>
          <p:nvPr/>
        </p:nvSpPr>
        <p:spPr>
          <a:xfrm>
            <a:off x="6913418" y="424727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공개수의협상</a:t>
            </a:r>
            <a:r>
              <a:rPr lang="en-US" altLang="ko-KR" sz="800" dirty="0"/>
              <a:t>Controller&gt;&gt;</a:t>
            </a:r>
          </a:p>
          <a:p>
            <a:pPr algn="ctr"/>
            <a:r>
              <a:rPr lang="en-US" altLang="ko-KR" sz="800" dirty="0" err="1"/>
              <a:t>RlsVltrnsNgtnController</a:t>
            </a:r>
            <a:endParaRPr lang="en-US" altLang="ko-KR" sz="800" dirty="0"/>
          </a:p>
        </p:txBody>
      </p:sp>
      <p:cxnSp>
        <p:nvCxnSpPr>
          <p:cNvPr id="36" name="직선 연결선 35">
            <a:extLst>
              <a:ext uri="{FF2B5EF4-FFF2-40B4-BE49-F238E27FC236}">
                <a16:creationId xmlns:a16="http://schemas.microsoft.com/office/drawing/2014/main" id="{A8B10782-0A07-A41D-DB15-978B72410A31}"/>
              </a:ext>
            </a:extLst>
          </p:cNvPr>
          <p:cNvCxnSpPr>
            <a:endCxn id="35" idx="1"/>
          </p:cNvCxnSpPr>
          <p:nvPr/>
        </p:nvCxnSpPr>
        <p:spPr>
          <a:xfrm>
            <a:off x="5687291" y="2990174"/>
            <a:ext cx="1226127" cy="1500084"/>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989746357"/>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060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0506"/>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15571"/>
            <a:ext cx="769441"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86685" y="2900182"/>
            <a:ext cx="618759"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A </a:t>
            </a:r>
            <a:r>
              <a:rPr lang="ko-KR" altLang="en-US" sz="600" dirty="0">
                <a:latin typeface="+mn-ea"/>
              </a:rPr>
              <a:t>해외업체</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76472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1191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0253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902532"/>
            <a:ext cx="447776" cy="107722"/>
          </a:xfrm>
          <a:prstGeom prst="rect">
            <a:avLst/>
          </a:prstGeom>
          <a:noFill/>
        </p:spPr>
        <p:txBody>
          <a:bodyPr wrap="square" lIns="0" tIns="0" rIns="0" bIns="0" rtlCol="0">
            <a:spAutoFit/>
          </a:bodyPr>
          <a:lstStyle/>
          <a:p>
            <a:pPr algn="ctr"/>
            <a:r>
              <a:rPr lang="ko-KR" altLang="en-US" sz="700" dirty="0">
                <a:latin typeface="+mn-ea"/>
              </a:rPr>
              <a:t>입찰 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11913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864409"/>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87032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2250612"/>
            <a:ext cx="447776" cy="107722"/>
          </a:xfrm>
          <a:prstGeom prst="rect">
            <a:avLst/>
          </a:prstGeom>
          <a:noFill/>
        </p:spPr>
        <p:txBody>
          <a:bodyPr wrap="square" lIns="0" tIns="0" rIns="0" bIns="0" rtlCol="0">
            <a:spAutoFit/>
          </a:bodyPr>
          <a:lstStyle/>
          <a:p>
            <a:pPr algn="ctr"/>
            <a:r>
              <a:rPr lang="ko-KR" altLang="en-US" sz="700" dirty="0">
                <a:latin typeface="+mn-ea"/>
              </a:rPr>
              <a:t>입찰 결과</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26071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1501250" y="2396175"/>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1057559" y="2396175"/>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151" name="모서리가 둥근 직사각형 150"/>
          <p:cNvSpPr/>
          <p:nvPr/>
        </p:nvSpPr>
        <p:spPr>
          <a:xfrm>
            <a:off x="777000" y="2396175"/>
            <a:ext cx="24217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55" name="모서리가 둥근 직사각형 154"/>
          <p:cNvSpPr/>
          <p:nvPr/>
        </p:nvSpPr>
        <p:spPr>
          <a:xfrm>
            <a:off x="4595114" y="1600627"/>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6" name="모서리가 둥근 직사각형 155"/>
          <p:cNvSpPr/>
          <p:nvPr/>
        </p:nvSpPr>
        <p:spPr>
          <a:xfrm>
            <a:off x="4151423" y="160062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157" name="모서리가 둥근 직사각형 156"/>
          <p:cNvSpPr/>
          <p:nvPr/>
        </p:nvSpPr>
        <p:spPr>
          <a:xfrm>
            <a:off x="3864811" y="1600627"/>
            <a:ext cx="2428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grpSp>
        <p:nvGrpSpPr>
          <p:cNvPr id="6" name="그룹 5"/>
          <p:cNvGrpSpPr/>
          <p:nvPr/>
        </p:nvGrpSpPr>
        <p:grpSpPr>
          <a:xfrm>
            <a:off x="720490" y="4225470"/>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en-US" altLang="ko-KR" sz="700" dirty="0">
                <a:latin typeface="+mn-ea"/>
              </a:endParaRPr>
            </a:p>
            <a:p>
              <a:pPr>
                <a:lnSpc>
                  <a:spcPct val="200000"/>
                </a:lnSpc>
              </a:pPr>
              <a:r>
                <a:rPr lang="ko-KR" altLang="en-US" sz="700" dirty="0">
                  <a:latin typeface="+mn-ea"/>
                </a:rPr>
                <a:t>계약방법</a:t>
              </a: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2565526"/>
            <a:ext cx="2660475" cy="2461921"/>
            <a:chOff x="720490" y="3803374"/>
            <a:chExt cx="2660475" cy="2461921"/>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en-US" altLang="ko-KR" sz="700" dirty="0">
                <a:latin typeface="+mn-ea"/>
              </a:endParaRPr>
            </a:p>
            <a:p>
              <a:pPr>
                <a:lnSpc>
                  <a:spcPct val="200000"/>
                </a:lnSpc>
              </a:pPr>
              <a:r>
                <a:rPr lang="ko-KR" altLang="en-US" sz="700" dirty="0">
                  <a:latin typeface="+mn-ea"/>
                </a:rPr>
                <a:t>계약방법</a:t>
              </a: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5177575"/>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1" name="그룹 120"/>
          <p:cNvGrpSpPr/>
          <p:nvPr/>
        </p:nvGrpSpPr>
        <p:grpSpPr>
          <a:xfrm>
            <a:off x="677960" y="1582647"/>
            <a:ext cx="2714637" cy="686386"/>
            <a:chOff x="677960" y="1582647"/>
            <a:chExt cx="2714637" cy="686386"/>
          </a:xfrm>
        </p:grpSpPr>
        <p:sp>
          <p:nvSpPr>
            <p:cNvPr id="122" name="TextBox 121">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입찰 결과 조회</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5" name="그룹 124"/>
            <p:cNvGrpSpPr/>
            <p:nvPr/>
          </p:nvGrpSpPr>
          <p:grpSpPr>
            <a:xfrm rot="5400000">
              <a:off x="852159" y="2062596"/>
              <a:ext cx="94010" cy="47005"/>
              <a:chOff x="6812560" y="3297172"/>
              <a:chExt cx="94010" cy="47005"/>
            </a:xfrm>
          </p:grpSpPr>
          <p:cxnSp>
            <p:nvCxnSpPr>
              <p:cNvPr id="133" name="직선 연결선 13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4" name="직선 연결선 13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6" name="그룹 125"/>
            <p:cNvGrpSpPr/>
            <p:nvPr/>
          </p:nvGrpSpPr>
          <p:grpSpPr>
            <a:xfrm>
              <a:off x="677960" y="1582647"/>
              <a:ext cx="2712027" cy="324286"/>
              <a:chOff x="677960" y="1582647"/>
              <a:chExt cx="2712027" cy="324286"/>
            </a:xfrm>
          </p:grpSpPr>
          <p:pic>
            <p:nvPicPr>
              <p:cNvPr id="128"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29" name="직선 연결선 128">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0" name="타원 129"/>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1" name="타원 130"/>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타원 131"/>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269254714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일반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521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MUI-BD-09-T71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3767229"/>
            <a:chOff x="701175" y="1527996"/>
            <a:chExt cx="2630093" cy="3767229"/>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34597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344709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a:latin typeface="+mn-ea"/>
                </a:rPr>
                <a:t>입찰방식</a:t>
              </a:r>
            </a:p>
            <a:p>
              <a:pPr>
                <a:lnSpc>
                  <a:spcPct val="200000"/>
                </a:lnSpc>
              </a:pPr>
              <a:r>
                <a:rPr lang="ko-KR" altLang="en-US" sz="700" dirty="0" err="1">
                  <a:latin typeface="+mn-ea"/>
                </a:rPr>
                <a:t>총금액</a:t>
              </a:r>
              <a:endParaRPr lang="ko-KR" altLang="en-US" sz="700" dirty="0">
                <a:latin typeface="+mn-ea"/>
              </a:endParaRPr>
            </a:p>
            <a:p>
              <a:pPr>
                <a:lnSpc>
                  <a:spcPct val="200000"/>
                </a:lnSpc>
              </a:pPr>
              <a:r>
                <a:rPr lang="ko-KR" altLang="en-US" sz="700" dirty="0">
                  <a:latin typeface="+mn-ea"/>
                </a:rPr>
                <a:t>환율적용일자</a:t>
              </a:r>
            </a:p>
            <a:p>
              <a:pPr>
                <a:lnSpc>
                  <a:spcPct val="200000"/>
                </a:lnSpc>
              </a:pPr>
              <a:r>
                <a:rPr lang="ko-KR" altLang="en-US" sz="700" dirty="0">
                  <a:latin typeface="+mn-ea"/>
                </a:rPr>
                <a:t>공고 </a:t>
              </a:r>
              <a:r>
                <a:rPr lang="ko-KR" altLang="en-US" sz="700" dirty="0" err="1">
                  <a:latin typeface="+mn-ea"/>
                </a:rPr>
                <a:t>품목수</a:t>
              </a:r>
              <a:endParaRPr lang="ko-KR" altLang="en-US"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개찰일시</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3447098"/>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ko-KR" altLang="en-US" sz="700" dirty="0" err="1">
                  <a:latin typeface="+mn-ea"/>
                </a:rPr>
                <a:t>일반투찰</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2025-02-13</a:t>
              </a:r>
            </a:p>
            <a:p>
              <a:pPr>
                <a:lnSpc>
                  <a:spcPct val="200000"/>
                </a:lnSpc>
              </a:pPr>
              <a:r>
                <a:rPr lang="en-US" altLang="ko-KR" sz="700" dirty="0">
                  <a:latin typeface="+mn-ea"/>
                </a:rPr>
                <a:t>100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endParaRPr lang="en-US" altLang="ko-KR" sz="700" dirty="0">
                <a:latin typeface="+mn-ea"/>
              </a:endParaRPr>
            </a:p>
          </p:txBody>
        </p:sp>
        <p:grpSp>
          <p:nvGrpSpPr>
            <p:cNvPr id="17" name="그룹 16"/>
            <p:cNvGrpSpPr/>
            <p:nvPr/>
          </p:nvGrpSpPr>
          <p:grpSpPr>
            <a:xfrm>
              <a:off x="701175" y="1835481"/>
              <a:ext cx="2630093" cy="3459744"/>
              <a:chOff x="701175" y="1835481"/>
              <a:chExt cx="2630093" cy="3459744"/>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5" name="직선 연결선 54">
                <a:extLst>
                  <a:ext uri="{FF2B5EF4-FFF2-40B4-BE49-F238E27FC236}">
                    <a16:creationId xmlns:a16="http://schemas.microsoft.com/office/drawing/2014/main" id="{E9293055-D5CD-4B9E-7F64-64B2D2CA7A52}"/>
                  </a:ext>
                </a:extLst>
              </p:cNvPr>
              <p:cNvCxnSpPr/>
              <p:nvPr/>
            </p:nvCxnSpPr>
            <p:spPr>
              <a:xfrm>
                <a:off x="703268" y="50804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3" name="직선 연결선 52">
                <a:extLst>
                  <a:ext uri="{FF2B5EF4-FFF2-40B4-BE49-F238E27FC236}">
                    <a16:creationId xmlns:a16="http://schemas.microsoft.com/office/drawing/2014/main" id="{E9293055-D5CD-4B9E-7F64-64B2D2CA7A52}"/>
                  </a:ext>
                </a:extLst>
              </p:cNvPr>
              <p:cNvCxnSpPr/>
              <p:nvPr/>
            </p:nvCxnSpPr>
            <p:spPr>
              <a:xfrm>
                <a:off x="703268" y="52952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46293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48464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3795735" y="1527996"/>
            <a:ext cx="2712026" cy="899454"/>
            <a:chOff x="3795735" y="1527996"/>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152799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1641327"/>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242745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200031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2118856"/>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2118856"/>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2064995"/>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spTree>
    <p:extLst>
      <p:ext uri="{BB962C8B-B14F-4D97-AF65-F5344CB8AC3E}">
        <p14:creationId xmlns:p14="http://schemas.microsoft.com/office/powerpoint/2010/main" val="262407712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입찰결과현황</a:t>
            </a:r>
            <a:r>
              <a:rPr lang="en-US" altLang="ko-KR" dirty="0"/>
              <a:t>(</a:t>
            </a:r>
            <a:r>
              <a:rPr lang="ko-KR" altLang="en-US" dirty="0" err="1"/>
              <a:t>단가제</a:t>
            </a:r>
            <a:r>
              <a:rPr lang="en-US" altLang="ko-KR" dirty="0"/>
              <a:t>) </a:t>
            </a:r>
            <a:r>
              <a:rPr lang="ko-KR" altLang="en-US" dirty="0"/>
              <a:t>데이터 영역</a:t>
            </a:r>
          </a:p>
          <a:p>
            <a:pPr>
              <a:buFont typeface="+mj-lt"/>
              <a:buAutoNum type="arabicPeriod"/>
            </a:pPr>
            <a:r>
              <a:rPr lang="ko-KR" altLang="en-US" dirty="0"/>
              <a:t>입찰결과</a:t>
            </a:r>
            <a:r>
              <a:rPr lang="en-US" altLang="ko-KR" dirty="0"/>
              <a:t>(</a:t>
            </a:r>
            <a:r>
              <a:rPr lang="ko-KR" altLang="en-US" dirty="0" err="1"/>
              <a:t>단가제</a:t>
            </a:r>
            <a:r>
              <a:rPr lang="en-US" altLang="ko-KR" dirty="0"/>
              <a:t>) </a:t>
            </a:r>
            <a:r>
              <a:rPr lang="ko-KR" altLang="en-US" dirty="0"/>
              <a:t>데이터 </a:t>
            </a:r>
            <a:r>
              <a:rPr lang="ko-KR" altLang="en-US" dirty="0" smtClean="0"/>
              <a:t>영역</a:t>
            </a:r>
            <a:r>
              <a:rPr lang="en-US" altLang="ko-KR" dirty="0" smtClean="0"/>
              <a:t/>
            </a:r>
            <a:br>
              <a:rPr lang="en-US" altLang="ko-KR" dirty="0" smtClean="0"/>
            </a:br>
            <a:r>
              <a:rPr lang="en-US" altLang="ko-KR" dirty="0" smtClean="0"/>
              <a:t>- </a:t>
            </a:r>
            <a:r>
              <a:rPr lang="ko-KR" altLang="en-US" dirty="0" smtClean="0"/>
              <a:t>필터 정보</a:t>
            </a:r>
            <a:r>
              <a:rPr lang="en-US" altLang="ko-KR" dirty="0" smtClean="0"/>
              <a:t/>
            </a:r>
            <a:br>
              <a:rPr lang="en-US" altLang="ko-KR" dirty="0" smtClean="0"/>
            </a:br>
            <a:r>
              <a:rPr lang="en-US" altLang="ko-KR" dirty="0" smtClean="0"/>
              <a:t>- </a:t>
            </a:r>
            <a:r>
              <a:rPr lang="ko-KR" altLang="en-US" dirty="0" smtClean="0"/>
              <a:t>결과 전체</a:t>
            </a:r>
            <a:r>
              <a:rPr lang="en-US" altLang="ko-KR" dirty="0"/>
              <a:t>/</a:t>
            </a:r>
            <a:r>
              <a:rPr lang="ko-KR" altLang="en-US" dirty="0"/>
              <a:t>낙찰</a:t>
            </a:r>
            <a:r>
              <a:rPr lang="en-US" altLang="ko-KR" dirty="0"/>
              <a:t>/</a:t>
            </a:r>
            <a:r>
              <a:rPr lang="ko-KR" altLang="en-US" dirty="0" err="1"/>
              <a:t>조건부낙찰</a:t>
            </a:r>
            <a:r>
              <a:rPr lang="en-US" altLang="ko-KR" dirty="0"/>
              <a:t>/</a:t>
            </a:r>
            <a:r>
              <a:rPr lang="ko-KR" altLang="en-US" dirty="0" err="1"/>
              <a:t>동가낙찰</a:t>
            </a:r>
            <a:r>
              <a:rPr lang="en-US" altLang="ko-KR" dirty="0"/>
              <a:t>/</a:t>
            </a:r>
            <a:r>
              <a:rPr lang="ko-KR" altLang="en-US" dirty="0" smtClean="0"/>
              <a:t>유찰</a:t>
            </a:r>
            <a:r>
              <a:rPr lang="en-US" altLang="ko-KR" dirty="0" smtClean="0"/>
              <a:t/>
            </a:r>
            <a:br>
              <a:rPr lang="en-US" altLang="ko-KR" dirty="0" smtClean="0"/>
            </a:b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522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입찰결과 </a:t>
            </a:r>
            <a:r>
              <a:rPr lang="en-US" altLang="ko-KR" dirty="0">
                <a:latin typeface="+mn-ea"/>
              </a:rPr>
              <a:t>(</a:t>
            </a:r>
            <a:r>
              <a:rPr lang="ko-KR" altLang="en-US" dirty="0" err="1">
                <a:latin typeface="+mn-ea"/>
              </a:rPr>
              <a:t>단가제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MUI-BD-09-T72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738372"/>
            <a:chOff x="701175" y="1527996"/>
            <a:chExt cx="2630093" cy="738372"/>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79155" cy="215444"/>
            </a:xfrm>
            <a:prstGeom prst="rect">
              <a:avLst/>
            </a:prstGeom>
            <a:noFill/>
          </p:spPr>
          <p:txBody>
            <a:bodyPr wrap="square" lIns="0" tIns="0" rIns="0" bIns="0" rtlCol="0">
              <a:spAutoFit/>
            </a:bodyPr>
            <a:lstStyle/>
            <a:p>
              <a:pPr>
                <a:lnSpc>
                  <a:spcPct val="200000"/>
                </a:lnSpc>
              </a:pPr>
              <a:r>
                <a:rPr lang="ko-KR" altLang="en-US" sz="700" dirty="0">
                  <a:latin typeface="+mn-ea"/>
                </a:rPr>
                <a:t>입찰 결과 현황 </a:t>
              </a:r>
              <a:r>
                <a:rPr lang="en-US" altLang="ko-KR" sz="700" dirty="0">
                  <a:latin typeface="+mn-ea"/>
                </a:rPr>
                <a:t>- </a:t>
              </a:r>
              <a:r>
                <a:rPr lang="ko-KR" altLang="en-US" sz="700" dirty="0" err="1">
                  <a:latin typeface="+mn-ea"/>
                </a:rPr>
                <a:t>단가제</a:t>
              </a:r>
              <a:endParaRPr lang="ko-KR" altLang="en-US" sz="700" dirty="0">
                <a:latin typeface="+mn-ea"/>
              </a:endParaRPr>
            </a:p>
          </p:txBody>
        </p:sp>
        <p:sp>
          <p:nvSpPr>
            <p:cNvPr id="160" name="직사각형 159"/>
            <p:cNvSpPr/>
            <p:nvPr/>
          </p:nvSpPr>
          <p:spPr>
            <a:xfrm>
              <a:off x="703268" y="1835482"/>
              <a:ext cx="792000" cy="4280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396583"/>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ko-KR" altLang="en-US" sz="700" dirty="0" err="1">
                  <a:latin typeface="+mn-ea"/>
                </a:rPr>
                <a:t>참여품목수</a:t>
              </a:r>
              <a:endParaRPr lang="en-US" altLang="ko-KR" sz="700" dirty="0">
                <a:latin typeface="+mn-ea"/>
              </a:endParaRPr>
            </a:p>
            <a:p>
              <a:pPr>
                <a:lnSpc>
                  <a:spcPct val="200000"/>
                </a:lnSpc>
              </a:pPr>
              <a:r>
                <a:rPr lang="ko-KR" altLang="en-US" sz="700" dirty="0">
                  <a:latin typeface="+mn-ea"/>
                </a:rPr>
                <a:t>총 낙찰</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430887"/>
            </a:xfrm>
            <a:prstGeom prst="rect">
              <a:avLst/>
            </a:prstGeom>
            <a:noFill/>
          </p:spPr>
          <p:txBody>
            <a:bodyPr wrap="square" lIns="0" tIns="0" rIns="0" bIns="0" rtlCol="0">
              <a:spAutoFit/>
            </a:bodyPr>
            <a:lstStyle/>
            <a:p>
              <a:pPr>
                <a:lnSpc>
                  <a:spcPct val="200000"/>
                </a:lnSpc>
              </a:pPr>
              <a:r>
                <a:rPr lang="en-US" altLang="ko-KR" sz="700" dirty="0">
                  <a:latin typeface="+mn-ea"/>
                </a:rPr>
                <a:t>5</a:t>
              </a:r>
            </a:p>
            <a:p>
              <a:pPr>
                <a:lnSpc>
                  <a:spcPct val="200000"/>
                </a:lnSpc>
              </a:pPr>
              <a:r>
                <a:rPr lang="en-US" altLang="ko-KR" sz="700" dirty="0">
                  <a:latin typeface="+mn-ea"/>
                </a:rPr>
                <a:t>3</a:t>
              </a:r>
            </a:p>
          </p:txBody>
        </p:sp>
        <p:grpSp>
          <p:nvGrpSpPr>
            <p:cNvPr id="17" name="그룹 16"/>
            <p:cNvGrpSpPr/>
            <p:nvPr/>
          </p:nvGrpSpPr>
          <p:grpSpPr>
            <a:xfrm>
              <a:off x="701175" y="1835481"/>
              <a:ext cx="2630093" cy="430887"/>
              <a:chOff x="701175" y="1835481"/>
              <a:chExt cx="2630093" cy="430887"/>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4" name="그룹 53"/>
          <p:cNvGrpSpPr/>
          <p:nvPr/>
        </p:nvGrpSpPr>
        <p:grpSpPr>
          <a:xfrm>
            <a:off x="701175" y="2615478"/>
            <a:ext cx="2630093" cy="861774"/>
            <a:chOff x="701175" y="1835481"/>
            <a:chExt cx="2630093" cy="861774"/>
          </a:xfrm>
        </p:grpSpPr>
        <p:sp>
          <p:nvSpPr>
            <p:cNvPr id="58" name="직사각형 57"/>
            <p:cNvSpPr/>
            <p:nvPr/>
          </p:nvSpPr>
          <p:spPr>
            <a:xfrm>
              <a:off x="703268" y="1835482"/>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TextBox 58">
              <a:extLst>
                <a:ext uri="{FF2B5EF4-FFF2-40B4-BE49-F238E27FC236}">
                  <a16:creationId xmlns:a16="http://schemas.microsoft.com/office/drawing/2014/main" id="{FFC49AEA-2A8F-250C-A86A-A7751D9706C3}"/>
                </a:ext>
              </a:extLst>
            </p:cNvPr>
            <p:cNvSpPr txBox="1"/>
            <p:nvPr/>
          </p:nvSpPr>
          <p:spPr>
            <a:xfrm>
              <a:off x="790330" y="1835481"/>
              <a:ext cx="728979" cy="861774"/>
            </a:xfrm>
            <a:prstGeom prst="rect">
              <a:avLst/>
            </a:prstGeom>
            <a:noFill/>
          </p:spPr>
          <p:txBody>
            <a:bodyPr wrap="square" lIns="0" tIns="0" rIns="0" bIns="0" rtlCol="0">
              <a:spAutoFit/>
            </a:bodyPr>
            <a:lstStyle/>
            <a:p>
              <a:pPr>
                <a:lnSpc>
                  <a:spcPct val="200000"/>
                </a:lnSpc>
              </a:pPr>
              <a:r>
                <a:rPr lang="ko-KR" altLang="en-US" sz="700" dirty="0">
                  <a:latin typeface="+mn-ea"/>
                </a:rPr>
                <a:t>낙찰</a:t>
              </a:r>
              <a:endParaRPr lang="en-US" altLang="ko-KR" sz="700" dirty="0">
                <a:latin typeface="+mn-ea"/>
              </a:endParaRPr>
            </a:p>
            <a:p>
              <a:pPr>
                <a:lnSpc>
                  <a:spcPct val="200000"/>
                </a:lnSpc>
              </a:pPr>
              <a:r>
                <a:rPr lang="ko-KR" altLang="en-US" sz="700" dirty="0">
                  <a:latin typeface="+mn-ea"/>
                </a:rPr>
                <a:t>조건부</a:t>
              </a:r>
              <a:endParaRPr lang="en-US" altLang="ko-KR" sz="700" dirty="0">
                <a:latin typeface="+mn-ea"/>
              </a:endParaRPr>
            </a:p>
            <a:p>
              <a:pPr>
                <a:lnSpc>
                  <a:spcPct val="200000"/>
                </a:lnSpc>
              </a:pPr>
              <a:r>
                <a:rPr lang="ko-KR" altLang="en-US" sz="700" dirty="0" err="1" smtClean="0">
                  <a:latin typeface="+mn-ea"/>
                </a:rPr>
                <a:t>동가낙찰</a:t>
              </a:r>
              <a:endParaRPr lang="en-US" altLang="ko-KR" sz="700" dirty="0">
                <a:latin typeface="+mn-ea"/>
              </a:endParaRPr>
            </a:p>
            <a:p>
              <a:pPr>
                <a:lnSpc>
                  <a:spcPct val="200000"/>
                </a:lnSpc>
              </a:pPr>
              <a:r>
                <a:rPr lang="ko-KR" altLang="en-US" sz="700" dirty="0">
                  <a:latin typeface="+mn-ea"/>
                </a:rPr>
                <a:t>소계</a:t>
              </a:r>
            </a:p>
          </p:txBody>
        </p:sp>
        <p:sp>
          <p:nvSpPr>
            <p:cNvPr id="60" name="TextBox 59">
              <a:extLst>
                <a:ext uri="{FF2B5EF4-FFF2-40B4-BE49-F238E27FC236}">
                  <a16:creationId xmlns:a16="http://schemas.microsoft.com/office/drawing/2014/main" id="{FFC49AEA-2A8F-250C-A86A-A7751D9706C3}"/>
                </a:ext>
              </a:extLst>
            </p:cNvPr>
            <p:cNvSpPr txBox="1"/>
            <p:nvPr/>
          </p:nvSpPr>
          <p:spPr>
            <a:xfrm>
              <a:off x="1547180" y="1835481"/>
              <a:ext cx="1775839"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1</a:t>
              </a:r>
            </a:p>
            <a:p>
              <a:pPr>
                <a:lnSpc>
                  <a:spcPct val="200000"/>
                </a:lnSpc>
              </a:pPr>
              <a:r>
                <a:rPr lang="en-US" altLang="ko-KR" sz="700" dirty="0">
                  <a:latin typeface="+mn-ea"/>
                </a:rPr>
                <a:t>1</a:t>
              </a:r>
            </a:p>
            <a:p>
              <a:pPr>
                <a:lnSpc>
                  <a:spcPct val="200000"/>
                </a:lnSpc>
              </a:pPr>
              <a:r>
                <a:rPr lang="en-US" altLang="ko-KR" sz="700" dirty="0" smtClean="0">
                  <a:latin typeface="+mn-ea"/>
                </a:rPr>
                <a:t>4</a:t>
              </a:r>
              <a:endParaRPr lang="en-US" altLang="ko-KR" sz="700" dirty="0">
                <a:latin typeface="+mn-ea"/>
              </a:endParaRPr>
            </a:p>
          </p:txBody>
        </p:sp>
        <p:grpSp>
          <p:nvGrpSpPr>
            <p:cNvPr id="61" name="그룹 60"/>
            <p:cNvGrpSpPr/>
            <p:nvPr/>
          </p:nvGrpSpPr>
          <p:grpSpPr>
            <a:xfrm>
              <a:off x="701175" y="1835481"/>
              <a:ext cx="2630093" cy="858960"/>
              <a:chOff x="701175" y="1835481"/>
              <a:chExt cx="2630093" cy="858960"/>
            </a:xfrm>
          </p:grpSpPr>
          <p:cxnSp>
            <p:nvCxnSpPr>
              <p:cNvPr id="62" name="직선 연결선 6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3" name="직선 연결선 6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4" name="직선 연결선 6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5" name="직선 연결선 6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6" name="직선 연결선 6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96" name="TextBox 95">
            <a:extLst>
              <a:ext uri="{FF2B5EF4-FFF2-40B4-BE49-F238E27FC236}">
                <a16:creationId xmlns:a16="http://schemas.microsoft.com/office/drawing/2014/main" id="{FFC49AEA-2A8F-250C-A86A-A7751D9706C3}"/>
              </a:ext>
            </a:extLst>
          </p:cNvPr>
          <p:cNvSpPr txBox="1"/>
          <p:nvPr/>
        </p:nvSpPr>
        <p:spPr>
          <a:xfrm>
            <a:off x="762146" y="2322947"/>
            <a:ext cx="1279155" cy="181140"/>
          </a:xfrm>
          <a:prstGeom prst="rect">
            <a:avLst/>
          </a:prstGeom>
          <a:noFill/>
        </p:spPr>
        <p:txBody>
          <a:bodyPr wrap="square" lIns="0" tIns="0" rIns="0" bIns="0" rtlCol="0">
            <a:spAutoFit/>
          </a:bodyPr>
          <a:lstStyle/>
          <a:p>
            <a:pPr>
              <a:lnSpc>
                <a:spcPct val="200000"/>
              </a:lnSpc>
            </a:pPr>
            <a:r>
              <a:rPr lang="ko-KR" altLang="en-US" sz="700" dirty="0" err="1">
                <a:latin typeface="+mn-ea"/>
              </a:rPr>
              <a:t>결과품목</a:t>
            </a:r>
            <a:endParaRPr lang="ko-KR" altLang="en-US" sz="700" dirty="0">
              <a:latin typeface="+mn-ea"/>
            </a:endParaRPr>
          </a:p>
        </p:txBody>
      </p:sp>
      <p:grpSp>
        <p:nvGrpSpPr>
          <p:cNvPr id="98" name="그룹 97"/>
          <p:cNvGrpSpPr/>
          <p:nvPr/>
        </p:nvGrpSpPr>
        <p:grpSpPr>
          <a:xfrm>
            <a:off x="701175" y="3871328"/>
            <a:ext cx="2630093" cy="861774"/>
            <a:chOff x="701175" y="1835481"/>
            <a:chExt cx="2630093" cy="861774"/>
          </a:xfrm>
        </p:grpSpPr>
        <p:sp>
          <p:nvSpPr>
            <p:cNvPr id="99" name="직사각형 98"/>
            <p:cNvSpPr/>
            <p:nvPr/>
          </p:nvSpPr>
          <p:spPr>
            <a:xfrm>
              <a:off x="703268" y="1835482"/>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TextBox 99">
              <a:extLst>
                <a:ext uri="{FF2B5EF4-FFF2-40B4-BE49-F238E27FC236}">
                  <a16:creationId xmlns:a16="http://schemas.microsoft.com/office/drawing/2014/main" id="{FFC49AEA-2A8F-250C-A86A-A7751D9706C3}"/>
                </a:ext>
              </a:extLst>
            </p:cNvPr>
            <p:cNvSpPr txBox="1"/>
            <p:nvPr/>
          </p:nvSpPr>
          <p:spPr>
            <a:xfrm>
              <a:off x="790330" y="1835481"/>
              <a:ext cx="728979" cy="861774"/>
            </a:xfrm>
            <a:prstGeom prst="rect">
              <a:avLst/>
            </a:prstGeom>
            <a:noFill/>
          </p:spPr>
          <p:txBody>
            <a:bodyPr wrap="square" lIns="0" tIns="0" rIns="0" bIns="0" rtlCol="0">
              <a:spAutoFit/>
            </a:bodyPr>
            <a:lstStyle/>
            <a:p>
              <a:pPr>
                <a:lnSpc>
                  <a:spcPct val="200000"/>
                </a:lnSpc>
              </a:pPr>
              <a:r>
                <a:rPr lang="ko-KR" altLang="en-US" sz="700" dirty="0">
                  <a:latin typeface="+mn-ea"/>
                </a:rPr>
                <a:t>낙찰</a:t>
              </a:r>
              <a:endParaRPr lang="en-US" altLang="ko-KR" sz="700" dirty="0">
                <a:latin typeface="+mn-ea"/>
              </a:endParaRPr>
            </a:p>
            <a:p>
              <a:pPr>
                <a:lnSpc>
                  <a:spcPct val="200000"/>
                </a:lnSpc>
              </a:pPr>
              <a:r>
                <a:rPr lang="ko-KR" altLang="en-US" sz="700" dirty="0">
                  <a:latin typeface="+mn-ea"/>
                </a:rPr>
                <a:t>조건부</a:t>
              </a:r>
              <a:endParaRPr lang="en-US" altLang="ko-KR" sz="700" dirty="0">
                <a:latin typeface="+mn-ea"/>
              </a:endParaRPr>
            </a:p>
            <a:p>
              <a:pPr>
                <a:lnSpc>
                  <a:spcPct val="200000"/>
                </a:lnSpc>
              </a:pPr>
              <a:r>
                <a:rPr lang="ko-KR" altLang="en-US" sz="700" dirty="0" err="1">
                  <a:latin typeface="+mn-ea"/>
                </a:rPr>
                <a:t>동가낙찰</a:t>
              </a:r>
              <a:endParaRPr lang="en-US" altLang="ko-KR" sz="700" dirty="0">
                <a:latin typeface="+mn-ea"/>
              </a:endParaRPr>
            </a:p>
            <a:p>
              <a:pPr>
                <a:lnSpc>
                  <a:spcPct val="200000"/>
                </a:lnSpc>
              </a:pPr>
              <a:r>
                <a:rPr lang="ko-KR" altLang="en-US" sz="700" dirty="0">
                  <a:latin typeface="+mn-ea"/>
                </a:rPr>
                <a:t>소계</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547180" y="1835481"/>
              <a:ext cx="1775839" cy="861774"/>
            </a:xfrm>
            <a:prstGeom prst="rect">
              <a:avLst/>
            </a:prstGeom>
            <a:noFill/>
          </p:spPr>
          <p:txBody>
            <a:bodyPr wrap="square" lIns="0" tIns="0" rIns="0" bIns="0" rtlCol="0">
              <a:spAutoFit/>
            </a:bodyPr>
            <a:lstStyle/>
            <a:p>
              <a:pPr algn="r">
                <a:lnSpc>
                  <a:spcPct val="200000"/>
                </a:lnSpc>
              </a:pPr>
              <a:r>
                <a:rPr lang="en-US" altLang="ko-KR" sz="700" dirty="0">
                  <a:latin typeface="+mn-ea"/>
                </a:rPr>
                <a:t>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 </a:t>
              </a:r>
              <a:r>
                <a:rPr lang="ko-KR" altLang="en-US" sz="700" dirty="0">
                  <a:latin typeface="+mn-ea"/>
                </a:rPr>
                <a:t>원</a:t>
              </a:r>
              <a:endParaRPr lang="en-US" altLang="ko-KR" sz="700" dirty="0">
                <a:latin typeface="+mn-ea"/>
              </a:endParaRPr>
            </a:p>
          </p:txBody>
        </p:sp>
        <p:grpSp>
          <p:nvGrpSpPr>
            <p:cNvPr id="102" name="그룹 101"/>
            <p:cNvGrpSpPr/>
            <p:nvPr/>
          </p:nvGrpSpPr>
          <p:grpSpPr>
            <a:xfrm>
              <a:off x="701175" y="1835481"/>
              <a:ext cx="2630093" cy="858960"/>
              <a:chOff x="701175" y="1835481"/>
              <a:chExt cx="2630093" cy="858960"/>
            </a:xfrm>
          </p:grpSpPr>
          <p:cxnSp>
            <p:nvCxnSpPr>
              <p:cNvPr id="103" name="직선 연결선 10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08" name="TextBox 107">
            <a:extLst>
              <a:ext uri="{FF2B5EF4-FFF2-40B4-BE49-F238E27FC236}">
                <a16:creationId xmlns:a16="http://schemas.microsoft.com/office/drawing/2014/main" id="{FFC49AEA-2A8F-250C-A86A-A7751D9706C3}"/>
              </a:ext>
            </a:extLst>
          </p:cNvPr>
          <p:cNvSpPr txBox="1"/>
          <p:nvPr/>
        </p:nvSpPr>
        <p:spPr>
          <a:xfrm>
            <a:off x="762146" y="3578797"/>
            <a:ext cx="1279155" cy="181140"/>
          </a:xfrm>
          <a:prstGeom prst="rect">
            <a:avLst/>
          </a:prstGeom>
          <a:noFill/>
        </p:spPr>
        <p:txBody>
          <a:bodyPr wrap="square" lIns="0" tIns="0" rIns="0" bIns="0" rtlCol="0">
            <a:spAutoFit/>
          </a:bodyPr>
          <a:lstStyle/>
          <a:p>
            <a:pPr>
              <a:lnSpc>
                <a:spcPct val="200000"/>
              </a:lnSpc>
            </a:pPr>
            <a:r>
              <a:rPr lang="ko-KR" altLang="en-US" sz="700" dirty="0" err="1">
                <a:latin typeface="+mn-ea"/>
              </a:rPr>
              <a:t>화폐금액</a:t>
            </a:r>
            <a:endParaRPr lang="ko-KR" altLang="en-US" sz="700" dirty="0">
              <a:latin typeface="+mn-ea"/>
            </a:endParaRPr>
          </a:p>
        </p:txBody>
      </p:sp>
      <p:grpSp>
        <p:nvGrpSpPr>
          <p:cNvPr id="109" name="그룹 108"/>
          <p:cNvGrpSpPr/>
          <p:nvPr/>
        </p:nvGrpSpPr>
        <p:grpSpPr>
          <a:xfrm>
            <a:off x="701175" y="5121227"/>
            <a:ext cx="2630093" cy="861774"/>
            <a:chOff x="701175" y="1835481"/>
            <a:chExt cx="2630093" cy="861774"/>
          </a:xfrm>
        </p:grpSpPr>
        <p:sp>
          <p:nvSpPr>
            <p:cNvPr id="110" name="직사각형 109"/>
            <p:cNvSpPr/>
            <p:nvPr/>
          </p:nvSpPr>
          <p:spPr>
            <a:xfrm>
              <a:off x="703268" y="1835482"/>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28979" cy="861774"/>
            </a:xfrm>
            <a:prstGeom prst="rect">
              <a:avLst/>
            </a:prstGeom>
            <a:noFill/>
          </p:spPr>
          <p:txBody>
            <a:bodyPr wrap="square" lIns="0" tIns="0" rIns="0" bIns="0" rtlCol="0">
              <a:spAutoFit/>
            </a:bodyPr>
            <a:lstStyle/>
            <a:p>
              <a:pPr>
                <a:lnSpc>
                  <a:spcPct val="200000"/>
                </a:lnSpc>
              </a:pPr>
              <a:r>
                <a:rPr lang="ko-KR" altLang="en-US" sz="700" dirty="0">
                  <a:latin typeface="+mn-ea"/>
                </a:rPr>
                <a:t>낙찰</a:t>
              </a:r>
              <a:endParaRPr lang="en-US" altLang="ko-KR" sz="700" dirty="0">
                <a:latin typeface="+mn-ea"/>
              </a:endParaRPr>
            </a:p>
            <a:p>
              <a:pPr>
                <a:lnSpc>
                  <a:spcPct val="200000"/>
                </a:lnSpc>
              </a:pPr>
              <a:r>
                <a:rPr lang="ko-KR" altLang="en-US" sz="700" dirty="0">
                  <a:latin typeface="+mn-ea"/>
                </a:rPr>
                <a:t>조건부</a:t>
              </a:r>
              <a:endParaRPr lang="en-US" altLang="ko-KR" sz="700" dirty="0">
                <a:latin typeface="+mn-ea"/>
              </a:endParaRPr>
            </a:p>
            <a:p>
              <a:pPr>
                <a:lnSpc>
                  <a:spcPct val="200000"/>
                </a:lnSpc>
              </a:pPr>
              <a:r>
                <a:rPr lang="ko-KR" altLang="en-US" sz="700" dirty="0" err="1">
                  <a:latin typeface="+mn-ea"/>
                </a:rPr>
                <a:t>동가낙찰</a:t>
              </a:r>
              <a:endParaRPr lang="en-US" altLang="ko-KR" sz="700" dirty="0">
                <a:latin typeface="+mn-ea"/>
              </a:endParaRPr>
            </a:p>
            <a:p>
              <a:pPr>
                <a:lnSpc>
                  <a:spcPct val="200000"/>
                </a:lnSpc>
              </a:pPr>
              <a:r>
                <a:rPr lang="ko-KR" altLang="en-US" sz="700" dirty="0">
                  <a:latin typeface="+mn-ea"/>
                </a:rPr>
                <a:t>소계</a:t>
              </a: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861774"/>
            </a:xfrm>
            <a:prstGeom prst="rect">
              <a:avLst/>
            </a:prstGeom>
            <a:noFill/>
          </p:spPr>
          <p:txBody>
            <a:bodyPr wrap="square" lIns="0" tIns="0" rIns="0" bIns="0" rtlCol="0">
              <a:spAutoFit/>
            </a:bodyPr>
            <a:lstStyle/>
            <a:p>
              <a:pPr algn="r">
                <a:lnSpc>
                  <a:spcPct val="200000"/>
                </a:lnSpc>
              </a:pPr>
              <a:r>
                <a:rPr lang="en-US" altLang="ko-KR" sz="700" dirty="0">
                  <a:latin typeface="+mn-ea"/>
                </a:rPr>
                <a:t>000,000,000.00 USD</a:t>
              </a:r>
            </a:p>
            <a:p>
              <a:pPr algn="r">
                <a:lnSpc>
                  <a:spcPct val="200000"/>
                </a:lnSpc>
              </a:pPr>
              <a:r>
                <a:rPr lang="en-US" altLang="ko-KR" sz="700" dirty="0">
                  <a:latin typeface="+mn-ea"/>
                </a:rPr>
                <a:t>000,000,000.00 USD</a:t>
              </a:r>
            </a:p>
            <a:p>
              <a:pPr algn="r">
                <a:lnSpc>
                  <a:spcPct val="200000"/>
                </a:lnSpc>
              </a:pPr>
              <a:r>
                <a:rPr lang="en-US" altLang="ko-KR" sz="700" dirty="0">
                  <a:latin typeface="+mn-ea"/>
                </a:rPr>
                <a:t>0.00 USD</a:t>
              </a:r>
            </a:p>
            <a:p>
              <a:pPr algn="r">
                <a:lnSpc>
                  <a:spcPct val="200000"/>
                </a:lnSpc>
              </a:pPr>
              <a:r>
                <a:rPr lang="en-US" altLang="ko-KR" sz="700" dirty="0">
                  <a:latin typeface="+mn-ea"/>
                </a:rPr>
                <a:t>000,000,000.00 USD</a:t>
              </a:r>
            </a:p>
          </p:txBody>
        </p:sp>
        <p:grpSp>
          <p:nvGrpSpPr>
            <p:cNvPr id="113" name="그룹 112"/>
            <p:cNvGrpSpPr/>
            <p:nvPr/>
          </p:nvGrpSpPr>
          <p:grpSpPr>
            <a:xfrm>
              <a:off x="701175" y="1835481"/>
              <a:ext cx="2630093" cy="858960"/>
              <a:chOff x="701175" y="1835481"/>
              <a:chExt cx="2630093" cy="858960"/>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19" name="TextBox 118">
            <a:extLst>
              <a:ext uri="{FF2B5EF4-FFF2-40B4-BE49-F238E27FC236}">
                <a16:creationId xmlns:a16="http://schemas.microsoft.com/office/drawing/2014/main" id="{FFC49AEA-2A8F-250C-A86A-A7751D9706C3}"/>
              </a:ext>
            </a:extLst>
          </p:cNvPr>
          <p:cNvSpPr txBox="1"/>
          <p:nvPr/>
        </p:nvSpPr>
        <p:spPr>
          <a:xfrm>
            <a:off x="762146" y="4828696"/>
            <a:ext cx="1279155" cy="181140"/>
          </a:xfrm>
          <a:prstGeom prst="rect">
            <a:avLst/>
          </a:prstGeom>
          <a:noFill/>
        </p:spPr>
        <p:txBody>
          <a:bodyPr wrap="square" lIns="0" tIns="0" rIns="0" bIns="0" rtlCol="0">
            <a:spAutoFit/>
          </a:bodyPr>
          <a:lstStyle/>
          <a:p>
            <a:pPr>
              <a:lnSpc>
                <a:spcPct val="200000"/>
              </a:lnSpc>
            </a:pPr>
            <a:r>
              <a:rPr lang="ko-KR" altLang="en-US" sz="700" dirty="0" err="1">
                <a:latin typeface="+mn-ea"/>
              </a:rPr>
              <a:t>달러금액</a:t>
            </a:r>
            <a:endParaRPr lang="ko-KR" altLang="en-US" sz="700" dirty="0">
              <a:latin typeface="+mn-ea"/>
            </a:endParaRPr>
          </a:p>
        </p:txBody>
      </p:sp>
      <p:grpSp>
        <p:nvGrpSpPr>
          <p:cNvPr id="120" name="그룹 119"/>
          <p:cNvGrpSpPr/>
          <p:nvPr/>
        </p:nvGrpSpPr>
        <p:grpSpPr>
          <a:xfrm>
            <a:off x="3836701" y="1527996"/>
            <a:ext cx="2630093" cy="2677365"/>
            <a:chOff x="701175" y="1527996"/>
            <a:chExt cx="2630093" cy="2677365"/>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181140"/>
            </a:xfrm>
            <a:prstGeom prst="rect">
              <a:avLst/>
            </a:prstGeom>
            <a:noFill/>
          </p:spPr>
          <p:txBody>
            <a:bodyPr wrap="square" lIns="0" tIns="0" rIns="0" bIns="0" rtlCol="0">
              <a:spAutoFit/>
            </a:bodyPr>
            <a:lstStyle/>
            <a:p>
              <a:pPr>
                <a:lnSpc>
                  <a:spcPct val="200000"/>
                </a:lnSpc>
              </a:pPr>
              <a:r>
                <a:rPr lang="ko-KR" altLang="en-US" sz="700" dirty="0">
                  <a:latin typeface="+mn-ea"/>
                </a:rPr>
                <a:t>입찰 결과 목록 </a:t>
              </a:r>
              <a:r>
                <a:rPr lang="en-US" altLang="ko-KR" sz="700" dirty="0">
                  <a:latin typeface="+mn-ea"/>
                </a:rPr>
                <a:t>- </a:t>
              </a:r>
              <a:r>
                <a:rPr lang="ko-KR" altLang="en-US" sz="700" dirty="0" err="1">
                  <a:latin typeface="+mn-ea"/>
                </a:rPr>
                <a:t>단가제</a:t>
              </a:r>
              <a:endParaRPr lang="ko-KR" altLang="en-US" sz="700" dirty="0">
                <a:latin typeface="+mn-ea"/>
              </a:endParaRPr>
            </a:p>
          </p:txBody>
        </p:sp>
        <p:sp>
          <p:nvSpPr>
            <p:cNvPr id="123" name="직사각형 122"/>
            <p:cNvSpPr/>
            <p:nvPr/>
          </p:nvSpPr>
          <p:spPr>
            <a:xfrm>
              <a:off x="703268" y="1835482"/>
              <a:ext cx="792000" cy="2369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369880"/>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err="1">
                  <a:latin typeface="+mn-ea"/>
                </a:rPr>
                <a:t>지시단가</a:t>
              </a:r>
              <a:endParaRPr lang="en-US" altLang="ko-KR" sz="700" dirty="0">
                <a:latin typeface="+mn-ea"/>
              </a:endParaRPr>
            </a:p>
            <a:p>
              <a:pPr>
                <a:lnSpc>
                  <a:spcPct val="200000"/>
                </a:lnSpc>
              </a:pPr>
              <a:r>
                <a:rPr lang="ko-KR" altLang="en-US" sz="700" dirty="0" err="1">
                  <a:latin typeface="+mn-ea"/>
                </a:rPr>
                <a:t>입찰단가</a:t>
              </a:r>
              <a:endParaRPr lang="en-US" altLang="ko-KR" sz="700" dirty="0">
                <a:latin typeface="+mn-ea"/>
              </a:endParaRPr>
            </a:p>
            <a:p>
              <a:pPr>
                <a:lnSpc>
                  <a:spcPct val="200000"/>
                </a:lnSpc>
              </a:pPr>
              <a:r>
                <a:rPr lang="ko-KR" altLang="en-US" sz="700" dirty="0" err="1">
                  <a:latin typeface="+mn-ea"/>
                </a:rPr>
                <a:t>달러단가</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a:latin typeface="+mn-ea"/>
                </a:rPr>
                <a:t>입찰결과</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36988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500MD</a:t>
              </a:r>
            </a:p>
            <a:p>
              <a:pPr>
                <a:lnSpc>
                  <a:spcPct val="200000"/>
                </a:lnSpc>
              </a:pPr>
              <a:r>
                <a:rPr lang="en-US" altLang="ko-KR" sz="700" dirty="0">
                  <a:latin typeface="+mn-ea"/>
                </a:rPr>
                <a:t>000 000 0000</a:t>
              </a:r>
            </a:p>
            <a:p>
              <a:pPr>
                <a:lnSpc>
                  <a:spcPct val="200000"/>
                </a:lnSpc>
              </a:pPr>
              <a:r>
                <a:rPr lang="en-US" altLang="ko-KR" sz="700" dirty="0">
                  <a:latin typeface="+mn-ea"/>
                </a:rPr>
                <a:t>0000</a:t>
              </a:r>
            </a:p>
            <a:p>
              <a:pPr>
                <a:lnSpc>
                  <a:spcPct val="200000"/>
                </a:lnSpc>
              </a:pPr>
              <a:r>
                <a:rPr lang="en-US" altLang="ko-KR" sz="700" dirty="0">
                  <a:latin typeface="+mn-ea"/>
                </a:rPr>
                <a:t>EA</a:t>
              </a:r>
            </a:p>
            <a:p>
              <a:pPr>
                <a:lnSpc>
                  <a:spcPct val="200000"/>
                </a:lnSpc>
              </a:pPr>
              <a:r>
                <a:rPr lang="en-US" altLang="ko-KR" sz="700" dirty="0">
                  <a:latin typeface="+mn-ea"/>
                </a:rPr>
                <a:t>5</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USD</a:t>
              </a:r>
            </a:p>
            <a:p>
              <a:pPr algn="r">
                <a:lnSpc>
                  <a:spcPct val="200000"/>
                </a:lnSpc>
              </a:pPr>
              <a:r>
                <a:rPr lang="en-US" altLang="ko-KR" sz="700" dirty="0">
                  <a:latin typeface="+mn-ea"/>
                </a:rPr>
                <a:t>1,000.00 USD</a:t>
              </a:r>
            </a:p>
            <a:p>
              <a:pPr>
                <a:lnSpc>
                  <a:spcPct val="200000"/>
                </a:lnSpc>
              </a:pPr>
              <a:r>
                <a:rPr lang="ko-KR" altLang="en-US" sz="700" dirty="0" err="1">
                  <a:latin typeface="+mn-ea"/>
                </a:rPr>
                <a:t>동가낙찰</a:t>
              </a:r>
              <a:endParaRPr lang="en-US" altLang="ko-KR" sz="700" dirty="0">
                <a:latin typeface="+mn-ea"/>
              </a:endParaRPr>
            </a:p>
          </p:txBody>
        </p:sp>
        <p:grpSp>
          <p:nvGrpSpPr>
            <p:cNvPr id="126" name="그룹 125"/>
            <p:cNvGrpSpPr/>
            <p:nvPr/>
          </p:nvGrpSpPr>
          <p:grpSpPr>
            <a:xfrm>
              <a:off x="701175" y="1835481"/>
              <a:ext cx="2630093" cy="2361170"/>
              <a:chOff x="701175" y="1835481"/>
              <a:chExt cx="2630093" cy="2361170"/>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501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6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37657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3980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4196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44" name="직사각형 143"/>
          <p:cNvSpPr/>
          <p:nvPr/>
        </p:nvSpPr>
        <p:spPr>
          <a:xfrm>
            <a:off x="3820170" y="4535412"/>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사각형: 둥근 모서리 31">
            <a:extLst>
              <a:ext uri="{FF2B5EF4-FFF2-40B4-BE49-F238E27FC236}">
                <a16:creationId xmlns:a16="http://schemas.microsoft.com/office/drawing/2014/main" id="{2AC143EE-93CF-3518-F0CB-8469E98507E0}"/>
              </a:ext>
            </a:extLst>
          </p:cNvPr>
          <p:cNvSpPr/>
          <p:nvPr/>
        </p:nvSpPr>
        <p:spPr>
          <a:xfrm>
            <a:off x="3928441" y="598300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5113316" y="5681839"/>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50" name="TextBox 149">
            <a:extLst>
              <a:ext uri="{FF2B5EF4-FFF2-40B4-BE49-F238E27FC236}">
                <a16:creationId xmlns:a16="http://schemas.microsoft.com/office/drawing/2014/main" id="{FFC49AEA-2A8F-250C-A86A-A7751D9706C3}"/>
              </a:ext>
            </a:extLst>
          </p:cNvPr>
          <p:cNvSpPr txBox="1"/>
          <p:nvPr/>
        </p:nvSpPr>
        <p:spPr>
          <a:xfrm>
            <a:off x="3910666" y="4535413"/>
            <a:ext cx="725552" cy="827471"/>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p:txBody>
      </p:sp>
      <p:grpSp>
        <p:nvGrpSpPr>
          <p:cNvPr id="151" name="그룹 150"/>
          <p:cNvGrpSpPr/>
          <p:nvPr/>
        </p:nvGrpSpPr>
        <p:grpSpPr>
          <a:xfrm>
            <a:off x="3821510" y="4535413"/>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4535413"/>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500MD</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0000</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5420912"/>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nvGrpSpPr>
          <p:cNvPr id="180" name="그룹 179"/>
          <p:cNvGrpSpPr/>
          <p:nvPr/>
        </p:nvGrpSpPr>
        <p:grpSpPr>
          <a:xfrm>
            <a:off x="3823603" y="4195427"/>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3933132" y="4221966"/>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5754600" y="1572457"/>
            <a:ext cx="697003" cy="162000"/>
          </a:xfrm>
          <a:prstGeom prst="roundRect">
            <a:avLst/>
          </a:prstGeom>
          <a:noFill/>
          <a:ln w="12700"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a:latin typeface="맑은 고딕"/>
              </a:rPr>
              <a:t>결과 전체</a:t>
            </a:r>
            <a:endParaRPr kumimoji="1" lang="en-US" sz="700" b="0" i="0" u="none" strike="noStrike" kern="0" cap="none" spc="0" normalizeH="0" baseline="0" noProof="0" dirty="0">
              <a:ln>
                <a:noFill/>
              </a:ln>
              <a:effectLst/>
              <a:uLnTx/>
              <a:uFillTx/>
              <a:latin typeface="맑은 고딕"/>
            </a:endParaRPr>
          </a:p>
        </p:txBody>
      </p:sp>
      <p:grpSp>
        <p:nvGrpSpPr>
          <p:cNvPr id="188" name="그룹 187"/>
          <p:cNvGrpSpPr/>
          <p:nvPr/>
        </p:nvGrpSpPr>
        <p:grpSpPr>
          <a:xfrm>
            <a:off x="6285240" y="1629955"/>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1" name="타원 190">
            <a:extLst>
              <a:ext uri="{FF2B5EF4-FFF2-40B4-BE49-F238E27FC236}">
                <a16:creationId xmlns:a16="http://schemas.microsoft.com/office/drawing/2014/main" id="{37A7FF4F-0EAA-1463-560A-D5EC24416103}"/>
              </a:ext>
            </a:extLst>
          </p:cNvPr>
          <p:cNvSpPr/>
          <p:nvPr/>
        </p:nvSpPr>
        <p:spPr>
          <a:xfrm>
            <a:off x="3674573"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1310932128"/>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입찰결과</a:t>
            </a:r>
            <a:r>
              <a:rPr lang="en-US" altLang="ko-KR" dirty="0"/>
              <a:t>(</a:t>
            </a:r>
            <a:r>
              <a:rPr lang="ko-KR" altLang="en-US" dirty="0" err="1"/>
              <a:t>총액제</a:t>
            </a:r>
            <a:r>
              <a:rPr lang="en-US" altLang="ko-KR" dirty="0"/>
              <a:t>) </a:t>
            </a:r>
            <a:r>
              <a:rPr lang="ko-KR" altLang="en-US" dirty="0"/>
              <a:t>데이터 </a:t>
            </a:r>
            <a:r>
              <a:rPr lang="ko-KR" altLang="en-US" dirty="0" smtClean="0"/>
              <a:t>영역</a:t>
            </a:r>
            <a:r>
              <a:rPr lang="en-US" altLang="ko-KR" dirty="0"/>
              <a:t/>
            </a:r>
            <a:br>
              <a:rPr lang="en-US" altLang="ko-KR" dirty="0"/>
            </a:br>
            <a:r>
              <a:rPr lang="en-US" altLang="ko-KR" dirty="0" smtClean="0"/>
              <a:t>- </a:t>
            </a:r>
            <a:r>
              <a:rPr lang="ko-KR" altLang="en-US" dirty="0"/>
              <a:t>필터 정보</a:t>
            </a:r>
            <a:r>
              <a:rPr lang="en-US" altLang="ko-KR" dirty="0"/>
              <a:t/>
            </a:r>
            <a:br>
              <a:rPr lang="en-US" altLang="ko-KR" dirty="0"/>
            </a:br>
            <a:r>
              <a:rPr lang="en-US" altLang="ko-KR" dirty="0"/>
              <a:t>- </a:t>
            </a:r>
            <a:r>
              <a:rPr lang="ko-KR" altLang="en-US" dirty="0"/>
              <a:t>결과 전체</a:t>
            </a:r>
            <a:r>
              <a:rPr lang="en-US" altLang="ko-KR" dirty="0"/>
              <a:t>/</a:t>
            </a:r>
            <a:r>
              <a:rPr lang="ko-KR" altLang="en-US" dirty="0"/>
              <a:t>낙찰</a:t>
            </a:r>
            <a:r>
              <a:rPr lang="en-US" altLang="ko-KR" dirty="0"/>
              <a:t>/</a:t>
            </a:r>
            <a:r>
              <a:rPr lang="ko-KR" altLang="en-US" dirty="0" err="1"/>
              <a:t>조건부낙찰</a:t>
            </a:r>
            <a:r>
              <a:rPr lang="en-US" altLang="ko-KR" dirty="0"/>
              <a:t>/</a:t>
            </a:r>
            <a:r>
              <a:rPr lang="ko-KR" altLang="en-US" dirty="0" err="1"/>
              <a:t>동가낙찰</a:t>
            </a:r>
            <a:r>
              <a:rPr lang="en-US" altLang="ko-KR" dirty="0"/>
              <a:t>/</a:t>
            </a:r>
            <a:r>
              <a:rPr lang="ko-KR" altLang="en-US" dirty="0"/>
              <a:t>유찰</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523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입찰결과 </a:t>
            </a:r>
            <a:r>
              <a:rPr lang="en-US" altLang="ko-KR" dirty="0">
                <a:latin typeface="+mn-ea"/>
              </a:rPr>
              <a:t>(</a:t>
            </a:r>
            <a:r>
              <a:rPr lang="ko-KR" altLang="en-US" dirty="0" err="1">
                <a:latin typeface="+mn-ea"/>
              </a:rPr>
              <a:t>총액제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MUI-BD-09-T73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20" name="그룹 119"/>
          <p:cNvGrpSpPr/>
          <p:nvPr/>
        </p:nvGrpSpPr>
        <p:grpSpPr>
          <a:xfrm>
            <a:off x="716366" y="1527996"/>
            <a:ext cx="2630093" cy="1607397"/>
            <a:chOff x="701175" y="1527996"/>
            <a:chExt cx="2630093" cy="1607397"/>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215444"/>
            </a:xfrm>
            <a:prstGeom prst="rect">
              <a:avLst/>
            </a:prstGeom>
            <a:noFill/>
          </p:spPr>
          <p:txBody>
            <a:bodyPr wrap="square" lIns="0" tIns="0" rIns="0" bIns="0" rtlCol="0">
              <a:spAutoFit/>
            </a:bodyPr>
            <a:lstStyle/>
            <a:p>
              <a:pPr>
                <a:lnSpc>
                  <a:spcPct val="200000"/>
                </a:lnSpc>
              </a:pPr>
              <a:r>
                <a:rPr lang="ko-KR" altLang="en-US" sz="700" dirty="0">
                  <a:latin typeface="+mn-ea"/>
                </a:rPr>
                <a:t>입찰 결과 목록 </a:t>
              </a:r>
              <a:r>
                <a:rPr lang="en-US" altLang="ko-KR" sz="700" dirty="0">
                  <a:latin typeface="+mn-ea"/>
                </a:rPr>
                <a:t>- </a:t>
              </a:r>
              <a:r>
                <a:rPr lang="ko-KR" altLang="en-US" sz="700" dirty="0" err="1">
                  <a:latin typeface="+mn-ea"/>
                </a:rPr>
                <a:t>총액제</a:t>
              </a:r>
              <a:endParaRPr lang="ko-KR" altLang="en-US" sz="700" dirty="0">
                <a:latin typeface="+mn-ea"/>
              </a:endParaRPr>
            </a:p>
          </p:txBody>
        </p:sp>
        <p:sp>
          <p:nvSpPr>
            <p:cNvPr id="123" name="직사각형 122"/>
            <p:cNvSpPr/>
            <p:nvPr/>
          </p:nvSpPr>
          <p:spPr>
            <a:xfrm>
              <a:off x="703268" y="1835482"/>
              <a:ext cx="792000" cy="1299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1292662"/>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지시금액</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a:latin typeface="+mn-ea"/>
                </a:rPr>
                <a:t>입찰결과</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1292662"/>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err="1">
                  <a:latin typeface="+mn-ea"/>
                </a:rPr>
                <a:t>국외업체</a:t>
              </a:r>
              <a:endParaRPr lang="en-US" altLang="ko-KR" sz="700" dirty="0">
                <a:latin typeface="+mn-ea"/>
              </a:endParaRPr>
            </a:p>
            <a:p>
              <a:pPr>
                <a:lnSpc>
                  <a:spcPct val="200000"/>
                </a:lnSpc>
              </a:pPr>
              <a:r>
                <a:rPr lang="en-US" altLang="ko-KR" sz="700" dirty="0">
                  <a:latin typeface="+mn-ea"/>
                </a:rPr>
                <a:t>123-45-67890</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USD</a:t>
              </a:r>
            </a:p>
            <a:p>
              <a:pPr>
                <a:lnSpc>
                  <a:spcPct val="200000"/>
                </a:lnSpc>
              </a:pPr>
              <a:r>
                <a:rPr lang="ko-KR" altLang="en-US" sz="700" dirty="0" err="1">
                  <a:latin typeface="+mn-ea"/>
                </a:rPr>
                <a:t>동가낙찰</a:t>
              </a:r>
              <a:endParaRPr lang="en-US" altLang="ko-KR" sz="700" dirty="0">
                <a:latin typeface="+mn-ea"/>
              </a:endParaRPr>
            </a:p>
          </p:txBody>
        </p:sp>
        <p:grpSp>
          <p:nvGrpSpPr>
            <p:cNvPr id="126" name="그룹 125"/>
            <p:cNvGrpSpPr/>
            <p:nvPr/>
          </p:nvGrpSpPr>
          <p:grpSpPr>
            <a:xfrm>
              <a:off x="701175" y="1835481"/>
              <a:ext cx="2630093" cy="1299912"/>
              <a:chOff x="701175" y="1835481"/>
              <a:chExt cx="2630093" cy="1299912"/>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2" name="TextBox 121">
              <a:extLst>
                <a:ext uri="{FF2B5EF4-FFF2-40B4-BE49-F238E27FC236}">
                  <a16:creationId xmlns:a16="http://schemas.microsoft.com/office/drawing/2014/main" id="{FFC49AEA-2A8F-250C-A86A-A7751D9706C3}"/>
                </a:ext>
              </a:extLst>
            </p:cNvPr>
            <p:cNvSpPr txBox="1"/>
            <p:nvPr/>
          </p:nvSpPr>
          <p:spPr>
            <a:xfrm>
              <a:off x="790330" y="2048035"/>
              <a:ext cx="728979" cy="215444"/>
            </a:xfrm>
            <a:prstGeom prst="rect">
              <a:avLst/>
            </a:prstGeom>
            <a:noFill/>
          </p:spPr>
          <p:txBody>
            <a:bodyPr wrap="square" lIns="0" tIns="0" rIns="0" bIns="0" rtlCol="0">
              <a:spAutoFit/>
            </a:bodyPr>
            <a:lstStyle/>
            <a:p>
              <a:r>
                <a:rPr lang="ko-KR" altLang="en-US" sz="700" dirty="0" err="1">
                  <a:latin typeface="+mn-ea"/>
                </a:rPr>
                <a:t>입찰업체</a:t>
              </a:r>
              <a:endParaRPr lang="en-US" altLang="ko-KR" sz="700" dirty="0">
                <a:latin typeface="+mn-ea"/>
              </a:endParaRPr>
            </a:p>
            <a:p>
              <a:r>
                <a:rPr lang="ko-KR" altLang="en-US" sz="700" dirty="0" err="1">
                  <a:latin typeface="+mn-ea"/>
                </a:rPr>
                <a:t>사업자번호</a:t>
              </a:r>
              <a:endParaRPr lang="ko-KR" altLang="en-US" sz="700" dirty="0">
                <a:latin typeface="+mn-ea"/>
              </a:endParaRPr>
            </a:p>
          </p:txBody>
        </p:sp>
      </p:grpSp>
      <p:sp>
        <p:nvSpPr>
          <p:cNvPr id="145" name="사각형: 둥근 모서리 31">
            <a:extLst>
              <a:ext uri="{FF2B5EF4-FFF2-40B4-BE49-F238E27FC236}">
                <a16:creationId xmlns:a16="http://schemas.microsoft.com/office/drawing/2014/main" id="{2AC143EE-93CF-3518-F0CB-8469E98507E0}"/>
              </a:ext>
            </a:extLst>
          </p:cNvPr>
          <p:cNvSpPr/>
          <p:nvPr/>
        </p:nvSpPr>
        <p:spPr>
          <a:xfrm>
            <a:off x="808106" y="586857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1992981" y="5070784"/>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180" name="그룹 179"/>
          <p:cNvGrpSpPr/>
          <p:nvPr/>
        </p:nvGrpSpPr>
        <p:grpSpPr>
          <a:xfrm>
            <a:off x="717412" y="3134448"/>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790250" y="316098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2642807" y="1572457"/>
            <a:ext cx="697003" cy="162000"/>
          </a:xfrm>
          <a:prstGeom prst="roundRect">
            <a:avLst/>
          </a:prstGeom>
          <a:noFill/>
          <a:ln w="12700"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a:latin typeface="맑은 고딕"/>
              </a:rPr>
              <a:t>결과 전체</a:t>
            </a:r>
            <a:endParaRPr kumimoji="1" lang="en-US" sz="700" b="0" i="0" u="none" strike="noStrike" kern="0" cap="none" spc="0" normalizeH="0" baseline="0" noProof="0" dirty="0">
              <a:ln>
                <a:noFill/>
              </a:ln>
              <a:effectLst/>
              <a:uLnTx/>
              <a:uFillTx/>
              <a:latin typeface="맑은 고딕"/>
            </a:endParaRPr>
          </a:p>
        </p:txBody>
      </p:sp>
      <p:grpSp>
        <p:nvGrpSpPr>
          <p:cNvPr id="188" name="그룹 187"/>
          <p:cNvGrpSpPr/>
          <p:nvPr/>
        </p:nvGrpSpPr>
        <p:grpSpPr>
          <a:xfrm>
            <a:off x="3178564" y="1629955"/>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 name="그룹 2"/>
          <p:cNvGrpSpPr/>
          <p:nvPr/>
        </p:nvGrpSpPr>
        <p:grpSpPr>
          <a:xfrm>
            <a:off x="715696" y="3474433"/>
            <a:ext cx="2631433" cy="1075183"/>
            <a:chOff x="3820170" y="3474433"/>
            <a:chExt cx="2631433" cy="1075183"/>
          </a:xfrm>
        </p:grpSpPr>
        <p:sp>
          <p:nvSpPr>
            <p:cNvPr id="144" name="직사각형 143"/>
            <p:cNvSpPr/>
            <p:nvPr/>
          </p:nvSpPr>
          <p:spPr>
            <a:xfrm>
              <a:off x="3820170" y="3474433"/>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0" name="TextBox 149">
              <a:extLst>
                <a:ext uri="{FF2B5EF4-FFF2-40B4-BE49-F238E27FC236}">
                  <a16:creationId xmlns:a16="http://schemas.microsoft.com/office/drawing/2014/main" id="{FFC49AEA-2A8F-250C-A86A-A7751D9706C3}"/>
                </a:ext>
              </a:extLst>
            </p:cNvPr>
            <p:cNvSpPr txBox="1"/>
            <p:nvPr/>
          </p:nvSpPr>
          <p:spPr>
            <a:xfrm>
              <a:off x="3910666" y="3474434"/>
              <a:ext cx="725552" cy="827471"/>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지시금액</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p:txBody>
        </p:sp>
        <p:grpSp>
          <p:nvGrpSpPr>
            <p:cNvPr id="151" name="그룹 150"/>
            <p:cNvGrpSpPr/>
            <p:nvPr/>
          </p:nvGrpSpPr>
          <p:grpSpPr>
            <a:xfrm>
              <a:off x="3821510" y="3474434"/>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3474434"/>
              <a:ext cx="1784088" cy="827471"/>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err="1">
                  <a:latin typeface="+mn-ea"/>
                </a:rPr>
                <a:t>국외업체</a:t>
              </a:r>
              <a:endParaRPr lang="en-US" altLang="ko-KR" sz="700" dirty="0">
                <a:latin typeface="+mn-ea"/>
              </a:endParaRPr>
            </a:p>
            <a:p>
              <a:pPr>
                <a:lnSpc>
                  <a:spcPct val="200000"/>
                </a:lnSpc>
              </a:pPr>
              <a:r>
                <a:rPr lang="en-US" altLang="ko-KR" sz="700" dirty="0">
                  <a:latin typeface="+mn-ea"/>
                </a:rPr>
                <a:t>123-45-67890</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435993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3910666" y="3688103"/>
              <a:ext cx="725552" cy="215444"/>
            </a:xfrm>
            <a:prstGeom prst="rect">
              <a:avLst/>
            </a:prstGeom>
            <a:noFill/>
          </p:spPr>
          <p:txBody>
            <a:bodyPr wrap="square" lIns="0" tIns="0" rIns="0" bIns="0" rtlCol="0">
              <a:spAutoFit/>
            </a:bodyPr>
            <a:lstStyle/>
            <a:p>
              <a:r>
                <a:rPr lang="ko-KR" altLang="en-US" sz="700" dirty="0" err="1">
                  <a:latin typeface="+mn-ea"/>
                </a:rPr>
                <a:t>입찰업체</a:t>
              </a:r>
              <a:endParaRPr lang="en-US" altLang="ko-KR" sz="700" dirty="0">
                <a:latin typeface="+mn-ea"/>
              </a:endParaRPr>
            </a:p>
            <a:p>
              <a:r>
                <a:rPr lang="ko-KR" altLang="en-US" sz="700" dirty="0" err="1">
                  <a:latin typeface="+mn-ea"/>
                </a:rPr>
                <a:t>사업자번호</a:t>
              </a:r>
              <a:endParaRPr lang="ko-KR" altLang="en-US" sz="700" dirty="0">
                <a:latin typeface="+mn-ea"/>
              </a:endParaRPr>
            </a:p>
          </p:txBody>
        </p:sp>
      </p:grpSp>
    </p:spTree>
    <p:extLst>
      <p:ext uri="{BB962C8B-B14F-4D97-AF65-F5344CB8AC3E}">
        <p14:creationId xmlns:p14="http://schemas.microsoft.com/office/powerpoint/2010/main" val="3525846749"/>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524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17103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공지사항 데이터 영역 </a:t>
            </a:r>
            <a:r>
              <a:rPr lang="en-US" altLang="ko-KR" sz="900" b="1" dirty="0">
                <a:solidFill>
                  <a:prstClr val="black"/>
                </a:solidFill>
              </a:rPr>
              <a:t>(</a:t>
            </a:r>
            <a:r>
              <a:rPr lang="en-US" altLang="ko-KR" sz="900" b="1" dirty="0" err="1">
                <a:solidFill>
                  <a:prstClr val="black"/>
                </a:solidFill>
              </a:rPr>
              <a:t>dm_ntcInfo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1882961"/>
            <a:ext cx="251247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rtl="0"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공지가 등록된 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ntcCn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rtl="0"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공고에 등록된 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2098135"/>
          <a:ext cx="8994883" cy="40723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1524817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1412260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542429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0582332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8176733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7355004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0158002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130630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bidMedia</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172055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계약방법</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8011012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0485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206156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953094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5969468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9912340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8138891"/>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개찰일시</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0934530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01267422"/>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693887" cy="211203"/>
          </a:xfrm>
          <a:prstGeom prst="rect">
            <a:avLst/>
          </a:prstGeom>
          <a:noFill/>
        </p:spPr>
        <p:txBody>
          <a:bodyPr wrap="none" lIns="36000" tIns="36000" rIns="36000" bIns="36000" rtlCol="0">
            <a:spAutoFit/>
          </a:bodyPr>
          <a:lstStyle/>
          <a:p>
            <a:r>
              <a:rPr lang="en-US" altLang="ko-KR" sz="900" b="1" dirty="0">
                <a:solidFill>
                  <a:prstClr val="black"/>
                </a:solidFill>
              </a:rPr>
              <a:t>1.3</a:t>
            </a:r>
            <a:r>
              <a:rPr lang="en-US" altLang="ko-KR" sz="900" b="1">
                <a:solidFill>
                  <a:prstClr val="black"/>
                </a:solidFill>
              </a:rPr>
              <a:t>. </a:t>
            </a:r>
            <a:r>
              <a:rPr lang="ko-KR" altLang="en-US" sz="900" b="1">
                <a:solidFill>
                  <a:prstClr val="black"/>
                </a:solidFill>
              </a:rPr>
              <a:t>입찰결과현황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(dm_bidResultSummaryInfo)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836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총참여품목수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총참여품목수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결과품목수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720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2529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9875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90742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26232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639677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08212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035681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6337899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329257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소계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소계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슬라이드 번호 개체 틀 4">
            <a:extLst>
              <a:ext uri="{FF2B5EF4-FFF2-40B4-BE49-F238E27FC236}">
                <a16:creationId xmlns:a16="http://schemas.microsoft.com/office/drawing/2014/main" id="{8CC5CA5F-A56C-947E-3DA0-50BEC1B4EB71}"/>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525</a:t>
            </a:fld>
            <a:endParaRPr lang="ko-KR" altLang="en-US"/>
          </a:p>
        </p:txBody>
      </p:sp>
    </p:spTree>
    <p:extLst>
      <p:ext uri="{BB962C8B-B14F-4D97-AF65-F5344CB8AC3E}">
        <p14:creationId xmlns:p14="http://schemas.microsoft.com/office/powerpoint/2010/main" val="199640774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526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693887" cy="211203"/>
          </a:xfrm>
          <a:prstGeom prst="rect">
            <a:avLst/>
          </a:prstGeom>
          <a:noFill/>
        </p:spPr>
        <p:txBody>
          <a:bodyPr wrap="none" lIns="36000" tIns="36000" rIns="36000" bIns="36000" rtlCol="0">
            <a:spAutoFit/>
          </a:bodyPr>
          <a:lstStyle/>
          <a:p>
            <a:r>
              <a:rPr lang="en-US" altLang="ko-KR" sz="900" b="1" dirty="0">
                <a:solidFill>
                  <a:prstClr val="black"/>
                </a:solidFill>
              </a:rPr>
              <a:t>1.3</a:t>
            </a:r>
            <a:r>
              <a:rPr lang="en-US" altLang="ko-KR" sz="900" b="1">
                <a:solidFill>
                  <a:prstClr val="black"/>
                </a:solidFill>
              </a:rPr>
              <a:t>. </a:t>
            </a:r>
            <a:r>
              <a:rPr lang="ko-KR" altLang="en-US" sz="900" b="1">
                <a:solidFill>
                  <a:prstClr val="black"/>
                </a:solidFill>
              </a:rPr>
              <a:t>입찰결과현황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(dm_bidResultSummaryInfo)</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2443059"/>
            <a:ext cx="3140851" cy="211203"/>
          </a:xfrm>
          <a:prstGeom prst="rect">
            <a:avLst/>
          </a:prstGeom>
          <a:noFill/>
        </p:spPr>
        <p:txBody>
          <a:bodyPr wrap="none" lIns="36000" tIns="36000" rIns="36000" bIns="36000" rtlCol="0">
            <a:spAutoFit/>
          </a:bodyPr>
          <a:lstStyle/>
          <a:p>
            <a:r>
              <a:rPr lang="en-US" altLang="ko-KR" sz="900" b="1" dirty="0">
                <a:solidFill>
                  <a:prstClr val="black"/>
                </a:solidFill>
              </a:rPr>
              <a:t>1.4</a:t>
            </a:r>
            <a:r>
              <a:rPr lang="en-US" altLang="ko-KR" sz="900" b="1">
                <a:solidFill>
                  <a:prstClr val="black"/>
                </a:solidFill>
              </a:rPr>
              <a:t>.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낙찰품목수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mn-ea"/>
                        </a:rPr>
                        <a:t>조건부낙찰</a:t>
                      </a:r>
                      <a:r>
                        <a:rPr lang="en-US" altLang="ko-KR" sz="800" b="0" i="0" u="none" strike="noStrike" dirty="0">
                          <a:solidFill>
                            <a:srgbClr val="000000"/>
                          </a:solidFill>
                          <a:effectLst/>
                          <a:latin typeface="맑은 고딕" panose="020B0503020000020004" pitchFamily="50" charset="-127"/>
                          <a:ea typeface="+mn-ea"/>
                        </a:rPr>
                        <a:t>, </a:t>
                      </a:r>
                      <a:r>
                        <a:rPr lang="ko-KR" altLang="en-US" sz="800" b="0" i="0" u="none" strike="noStrike" dirty="0">
                          <a:solidFill>
                            <a:srgbClr val="000000"/>
                          </a:solidFill>
                          <a:effectLst/>
                          <a:latin typeface="맑은 고딕" panose="020B0503020000020004" pitchFamily="50" charset="-127"/>
                          <a:ea typeface="+mn-ea"/>
                        </a:rPr>
                        <a:t>동가낙찰 제외</a:t>
                      </a:r>
                      <a:r>
                        <a:rPr lang="en-US" altLang="ko-KR" sz="800" b="0" i="0" u="none" strike="noStrike" dirty="0">
                          <a:solidFill>
                            <a:srgbClr val="000000"/>
                          </a:solidFill>
                          <a:effectLst/>
                          <a:latin typeface="맑은 고딕" panose="020B0503020000020004" pitchFamily="50" charset="-127"/>
                          <a:ea typeface="+mn-ea"/>
                        </a:rPr>
                        <a:t> </a:t>
                      </a:r>
                      <a:r>
                        <a:rPr lang="ko-KR" altLang="en-US" sz="800" b="0" i="0" u="none" strike="noStrike" dirty="0">
                          <a:solidFill>
                            <a:srgbClr val="000000"/>
                          </a:solidFill>
                          <a:effectLst/>
                          <a:latin typeface="맑은 고딕" panose="020B0503020000020004" pitchFamily="50" charset="-127"/>
                          <a:ea typeface="+mn-ea"/>
                        </a:rPr>
                        <a:t>한 </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품목수</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 개수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009718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동가낙찰 개수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76210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낙찰품목수소계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품목수 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유찰품목수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flbdItemQty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유찰 개수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2657920"/>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447718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928210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159289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049618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415281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784731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1C12B8AE-5B19-18BA-D496-3D089AB6925F}"/>
              </a:ext>
            </a:extLst>
          </p:cNvPr>
          <p:cNvSpPr txBox="1"/>
          <p:nvPr/>
        </p:nvSpPr>
        <p:spPr>
          <a:xfrm>
            <a:off x="458117" y="4861187"/>
            <a:ext cx="3203368"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(dl_alonbsBidResultList)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06BB5DAA-99C5-BA21-5A3C-6F00793397F1}"/>
              </a:ext>
            </a:extLst>
          </p:cNvPr>
          <p:cNvGraphicFramePr>
            <a:graphicFrameLocks noGrp="1"/>
          </p:cNvGraphicFramePr>
          <p:nvPr/>
        </p:nvGraphicFramePr>
        <p:xfrm>
          <a:off x="452999" y="507239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낙찰업체</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업체의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009718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업체의 대표자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 </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성명</a:t>
                      </a:r>
                      <a:endParaRPr lang="en-US" altLang="ko-KR"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76210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spTree>
    <p:extLst>
      <p:ext uri="{BB962C8B-B14F-4D97-AF65-F5344CB8AC3E}">
        <p14:creationId xmlns:p14="http://schemas.microsoft.com/office/powerpoint/2010/main" val="1680648147"/>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182529" cy="211203"/>
          </a:xfrm>
          <a:prstGeom prst="rect">
            <a:avLst/>
          </a:prstGeom>
          <a:noFill/>
        </p:spPr>
        <p:txBody>
          <a:bodyPr wrap="none" lIns="36000" tIns="36000" rIns="36000" bIns="36000" rtlCol="0">
            <a:spAutoFit/>
          </a:bodyPr>
          <a:lstStyle/>
          <a:p>
            <a:r>
              <a:rPr lang="en-US" altLang="ko-KR" sz="900" b="1" dirty="0">
                <a:solidFill>
                  <a:prstClr val="black"/>
                </a:solidFill>
              </a:rPr>
              <a:t>1.4</a:t>
            </a:r>
            <a:r>
              <a:rPr lang="en-US" altLang="ko-KR" sz="900" b="1">
                <a:solidFill>
                  <a:prstClr val="black"/>
                </a:solidFill>
              </a:rPr>
              <a:t>.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720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2529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9875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90742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26232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639677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08212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035681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63378997"/>
                  </a:ext>
                </a:extLst>
              </a:tr>
              <a:tr h="118124">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3292573"/>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슬라이드 번호 개체 틀 4">
            <a:extLst>
              <a:ext uri="{FF2B5EF4-FFF2-40B4-BE49-F238E27FC236}">
                <a16:creationId xmlns:a16="http://schemas.microsoft.com/office/drawing/2014/main" id="{8E7CF87E-2DAB-D141-F31D-820DE47E7484}"/>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527</a:t>
            </a:fld>
            <a:endParaRPr lang="ko-KR" altLang="en-US"/>
          </a:p>
        </p:txBody>
      </p:sp>
      <p:sp>
        <p:nvSpPr>
          <p:cNvPr id="3" name="TextBox 2">
            <a:extLst>
              <a:ext uri="{FF2B5EF4-FFF2-40B4-BE49-F238E27FC236}">
                <a16:creationId xmlns:a16="http://schemas.microsoft.com/office/drawing/2014/main" id="{1419C45B-659A-1634-F61C-734ECF2B62B4}"/>
              </a:ext>
            </a:extLst>
          </p:cNvPr>
          <p:cNvSpPr txBox="1"/>
          <p:nvPr/>
        </p:nvSpPr>
        <p:spPr>
          <a:xfrm>
            <a:off x="458117" y="3680997"/>
            <a:ext cx="3203368"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(dl_alonbsBidResultList)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67B091E4-EF5E-BBA1-BB46-5D38DD32D237}"/>
              </a:ext>
            </a:extLst>
          </p:cNvPr>
          <p:cNvGraphicFramePr>
            <a:graphicFrameLocks noGrp="1"/>
          </p:cNvGraphicFramePr>
          <p:nvPr/>
        </p:nvGraphicFramePr>
        <p:xfrm>
          <a:off x="452999" y="389220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입찰업체의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720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en-US" altLang="ko-KR" sz="800" b="0" i="0" u="none" strike="noStrike">
                          <a:solidFill>
                            <a:srgbClr val="000000"/>
                          </a:solidFill>
                          <a:effectLst/>
                          <a:latin typeface="맑은 고딕" panose="020B0503020000020004" pitchFamily="50" charset="-127"/>
                          <a:ea typeface="+mn-ea"/>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2529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mn-ea"/>
                        </a:rPr>
                        <a:t>bdngTccrAmt</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9875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mn-ea"/>
                        </a:rPr>
                        <a:t>bdngUsdAmt</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90742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mn-ea"/>
                        </a:rPr>
                        <a:t>bidRslt</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262322"/>
                  </a:ext>
                </a:extLst>
              </a:tr>
            </a:tbl>
          </a:graphicData>
        </a:graphic>
      </p:graphicFrame>
    </p:spTree>
    <p:extLst>
      <p:ext uri="{BB962C8B-B14F-4D97-AF65-F5344CB8AC3E}">
        <p14:creationId xmlns:p14="http://schemas.microsoft.com/office/powerpoint/2010/main" val="188590738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4503872-DC52-2719-594F-B132D1F61CBD}"/>
              </a:ext>
            </a:extLst>
          </p:cNvPr>
          <p:cNvSpPr>
            <a:spLocks noGrp="1"/>
          </p:cNvSpPr>
          <p:nvPr>
            <p:ph type="sldNum" sz="quarter" idx="4"/>
          </p:nvPr>
        </p:nvSpPr>
        <p:spPr/>
        <p:txBody>
          <a:bodyPr/>
          <a:lstStyle/>
          <a:p>
            <a:fld id="{34C8E023-7346-48FC-AB24-9A3388C53208}" type="slidenum">
              <a:rPr lang="ko-KR" altLang="en-US" smtClean="0"/>
              <a:pPr/>
              <a:t>528</a:t>
            </a:fld>
            <a:endParaRPr lang="ko-KR" altLang="en-US" dirty="0"/>
          </a:p>
        </p:txBody>
      </p:sp>
      <p:sp>
        <p:nvSpPr>
          <p:cNvPr id="3" name="TextBox 2">
            <a:extLst>
              <a:ext uri="{FF2B5EF4-FFF2-40B4-BE49-F238E27FC236}">
                <a16:creationId xmlns:a16="http://schemas.microsoft.com/office/drawing/2014/main" id="{B0C640B7-6606-C01A-7E64-B6327FC84EBD}"/>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6DAC90FD-3651-F4AA-9B00-0621ACA72A51}"/>
              </a:ext>
            </a:extLst>
          </p:cNvPr>
          <p:cNvGraphicFramePr>
            <a:graphicFrameLocks noGrp="1"/>
          </p:cNvGraphicFramePr>
          <p:nvPr>
            <p:extLst/>
          </p:nvPr>
        </p:nvGraphicFramePr>
        <p:xfrm>
          <a:off x="458117" y="799547"/>
          <a:ext cx="8995591" cy="387840"/>
        </p:xfrm>
        <a:graphic>
          <a:graphicData uri="http://schemas.openxmlformats.org/drawingml/2006/table">
            <a:tbl>
              <a:tblPr>
                <a:tableStyleId>{616DA210-FB5B-4158-B5E0-FEB733F419BA}</a:tableStyleId>
              </a:tblPr>
              <a:tblGrid>
                <a:gridCol w="1475458">
                  <a:extLst>
                    <a:ext uri="{9D8B030D-6E8A-4147-A177-3AD203B41FA5}">
                      <a16:colId xmlns:a16="http://schemas.microsoft.com/office/drawing/2014/main" val="20000"/>
                    </a:ext>
                  </a:extLst>
                </a:gridCol>
                <a:gridCol w="1485900">
                  <a:extLst>
                    <a:ext uri="{9D8B030D-6E8A-4147-A177-3AD203B41FA5}">
                      <a16:colId xmlns:a16="http://schemas.microsoft.com/office/drawing/2014/main" val="624624882"/>
                    </a:ext>
                  </a:extLst>
                </a:gridCol>
                <a:gridCol w="3067050">
                  <a:extLst>
                    <a:ext uri="{9D8B030D-6E8A-4147-A177-3AD203B41FA5}">
                      <a16:colId xmlns:a16="http://schemas.microsoft.com/office/drawing/2014/main" val="20001"/>
                    </a:ext>
                  </a:extLst>
                </a:gridCol>
                <a:gridCol w="296718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 및 입찰결과현황</a:t>
                      </a:r>
                      <a:r>
                        <a:rPr lang="en-US" altLang="ko-KR" sz="800" dirty="0">
                          <a:latin typeface="+mn-ea"/>
                          <a:ea typeface="+mn-ea"/>
                        </a:rPr>
                        <a:t>, </a:t>
                      </a:r>
                      <a:r>
                        <a:rPr lang="ko-KR" altLang="en-US" sz="800" dirty="0">
                          <a:latin typeface="+mn-ea"/>
                          <a:ea typeface="+mn-ea"/>
                        </a:rPr>
                        <a:t>품목별입찰결과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입찰공고상세조회</a:t>
                      </a:r>
                      <a:r>
                        <a:rPr lang="en-US" altLang="ko-KR" sz="800" dirty="0">
                          <a:latin typeface="+mn-ea"/>
                          <a:ea typeface="+mn-ea"/>
                        </a:rPr>
                        <a:t>, </a:t>
                      </a:r>
                      <a:r>
                        <a:rPr lang="ko-KR" altLang="en-US" sz="800" dirty="0">
                          <a:latin typeface="+mn-ea"/>
                          <a:ea typeface="+mn-ea"/>
                        </a:rPr>
                        <a:t>항목별입찰내역목록</a:t>
                      </a:r>
                      <a:r>
                        <a:rPr lang="en-US" altLang="ko-KR" sz="800" dirty="0">
                          <a:latin typeface="+mn-ea"/>
                          <a:ea typeface="+mn-ea"/>
                        </a:rPr>
                        <a:t>, </a:t>
                      </a:r>
                      <a:r>
                        <a:rPr lang="ko-KR" altLang="en-US" sz="800" dirty="0">
                          <a:latin typeface="+mn-ea"/>
                          <a:ea typeface="+mn-ea"/>
                        </a:rPr>
                        <a:t>입찰결과현황조회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6D42CA82-C372-AB60-2BE8-BE0015D2F38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3586889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err="1" smtClean="0"/>
              <a:t>뒤로가기</a:t>
            </a:r>
            <a:r>
              <a:rPr lang="ko-KR" altLang="en-US" dirty="0" smtClean="0"/>
              <a:t> 버튼 클릭</a:t>
            </a:r>
            <a:r>
              <a:rPr lang="en-US" altLang="ko-KR" dirty="0" smtClean="0"/>
              <a:t/>
            </a:r>
            <a:br>
              <a:rPr lang="en-US" altLang="ko-KR" dirty="0" smtClean="0"/>
            </a:br>
            <a:r>
              <a:rPr lang="en-US" altLang="ko-KR" dirty="0" smtClean="0"/>
              <a:t>- </a:t>
            </a:r>
            <a:r>
              <a:rPr lang="ko-KR" altLang="en-US" dirty="0" smtClean="0"/>
              <a:t>진입한 공고 목록으로 이동</a:t>
            </a:r>
            <a:endParaRPr lang="en-US" altLang="ko-KR" dirty="0" smtClean="0"/>
          </a:p>
          <a:p>
            <a:pPr marL="88900" indent="-88900">
              <a:buFont typeface="+mj-lt"/>
              <a:buAutoNum type="arabicPeriod"/>
            </a:pPr>
            <a:r>
              <a:rPr lang="ko-KR" altLang="en-US" dirty="0" smtClean="0"/>
              <a:t>타이틀 </a:t>
            </a:r>
            <a:r>
              <a:rPr lang="ko-KR" altLang="en-US" dirty="0"/>
              <a:t>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a:t>
            </a:r>
            <a:r>
              <a:rPr lang="ko-KR" altLang="en-US" dirty="0" smtClean="0"/>
              <a:t>표시</a:t>
            </a:r>
            <a:endParaRPr lang="en-US" altLang="ko-KR" dirty="0" smtClean="0"/>
          </a:p>
          <a:p>
            <a:pPr marL="88900" indent="-88900">
              <a:buFont typeface="+mj-lt"/>
              <a:buAutoNum type="arabicPeriod"/>
            </a:pPr>
            <a:r>
              <a:rPr lang="en-US" altLang="ko-KR" dirty="0" smtClean="0"/>
              <a:t>+ </a:t>
            </a:r>
            <a:r>
              <a:rPr lang="ko-KR" altLang="en-US" dirty="0" err="1" smtClean="0"/>
              <a:t>더보기</a:t>
            </a:r>
            <a:r>
              <a:rPr lang="ko-KR" altLang="en-US" dirty="0"/>
              <a:t> </a:t>
            </a:r>
            <a:r>
              <a:rPr lang="ko-KR" altLang="en-US" dirty="0" smtClean="0"/>
              <a:t>버튼</a:t>
            </a:r>
            <a:r>
              <a:rPr lang="en-US" altLang="ko-KR" dirty="0" smtClean="0"/>
              <a:t/>
            </a:r>
            <a:br>
              <a:rPr lang="en-US" altLang="ko-KR" dirty="0" smtClean="0"/>
            </a:br>
            <a:r>
              <a:rPr lang="en-US" altLang="ko-KR" dirty="0" smtClean="0"/>
              <a:t>- </a:t>
            </a:r>
            <a:r>
              <a:rPr lang="ko-KR" altLang="en-US" dirty="0" smtClean="0"/>
              <a:t>견적서 작성 </a:t>
            </a:r>
            <a:r>
              <a:rPr lang="en-US" altLang="ko-KR" dirty="0" smtClean="0"/>
              <a:t>(MUI-BD-12-M74 </a:t>
            </a:r>
            <a:r>
              <a:rPr lang="ko-KR" altLang="en-US" dirty="0" err="1" smtClean="0"/>
              <a:t>공개수의협상견적서제출</a:t>
            </a:r>
            <a:r>
              <a:rPr lang="en-US" altLang="ko-KR" dirty="0" smtClean="0"/>
              <a:t>)</a:t>
            </a:r>
            <a:br>
              <a:rPr lang="en-US" altLang="ko-KR" dirty="0" smtClean="0"/>
            </a:br>
            <a:r>
              <a:rPr lang="en-US" altLang="ko-KR" dirty="0" smtClean="0"/>
              <a:t>  &gt; </a:t>
            </a:r>
            <a:r>
              <a:rPr lang="ko-KR" altLang="en-US" dirty="0" smtClean="0"/>
              <a:t>협상 대상이 아닌 경우 토스트 메시지</a:t>
            </a:r>
            <a:r>
              <a:rPr lang="en-US" altLang="ko-KR" dirty="0" smtClean="0"/>
              <a:t/>
            </a:r>
            <a:br>
              <a:rPr lang="en-US" altLang="ko-KR" dirty="0" smtClean="0"/>
            </a:br>
            <a:r>
              <a:rPr lang="en-US" altLang="ko-KR" dirty="0" smtClean="0"/>
              <a:t>  &gt; </a:t>
            </a:r>
            <a:r>
              <a:rPr lang="ko-KR" altLang="en-US" dirty="0" smtClean="0"/>
              <a:t>견적서 작성을 할 수 없습니다</a:t>
            </a:r>
            <a:r>
              <a:rPr lang="en-US" altLang="ko-KR" dirty="0" smtClean="0"/>
              <a:t>.</a:t>
            </a:r>
            <a:br>
              <a:rPr lang="en-US" altLang="ko-KR" dirty="0" smtClean="0"/>
            </a:br>
            <a:r>
              <a:rPr lang="en-US" altLang="ko-KR" dirty="0" smtClean="0"/>
              <a:t>- </a:t>
            </a:r>
            <a:r>
              <a:rPr lang="ko-KR" altLang="en-US" dirty="0" smtClean="0"/>
              <a:t>견적서 조회 (</a:t>
            </a:r>
            <a:r>
              <a:rPr lang="en-US" altLang="ko-KR" dirty="0" smtClean="0"/>
              <a:t>MUI-BD-12-M78 </a:t>
            </a:r>
            <a:r>
              <a:rPr lang="ko-KR" altLang="en-US" dirty="0" err="1"/>
              <a:t>공개수의협상견적서상세</a:t>
            </a:r>
            <a:r>
              <a:rPr lang="en-US" altLang="ko-KR" dirty="0" smtClean="0"/>
              <a:t>)</a:t>
            </a:r>
            <a:br>
              <a:rPr lang="en-US" altLang="ko-KR" dirty="0" smtClean="0"/>
            </a:br>
            <a:r>
              <a:rPr lang="en-US" altLang="ko-KR" dirty="0" smtClean="0"/>
              <a:t>  &gt; </a:t>
            </a:r>
            <a:r>
              <a:rPr lang="ko-KR" altLang="en-US" dirty="0" smtClean="0"/>
              <a:t>작성된 견적서가 없는 경우 토스트 메시지</a:t>
            </a:r>
            <a:r>
              <a:rPr lang="en-US" altLang="ko-KR" dirty="0" smtClean="0"/>
              <a:t/>
            </a:r>
            <a:br>
              <a:rPr lang="en-US" altLang="ko-KR" dirty="0" smtClean="0"/>
            </a:br>
            <a:r>
              <a:rPr lang="en-US" altLang="ko-KR" dirty="0" smtClean="0"/>
              <a:t>  &gt; </a:t>
            </a:r>
            <a:r>
              <a:rPr lang="ko-KR" altLang="en-US" dirty="0" smtClean="0"/>
              <a:t>조회할 견적서가 없습니다</a:t>
            </a:r>
            <a:r>
              <a:rPr lang="en-US" altLang="ko-KR" dirty="0" smtClean="0"/>
              <a:t>.</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529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공개수의협상계획상세</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210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368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3581"/>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18646"/>
            <a:ext cx="692497"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a:latin typeface="+mn-ea"/>
              </a:rPr>
              <a:t>총 금액</a:t>
            </a:r>
            <a:endParaRPr lang="en-US" altLang="ko-KR" sz="600" dirty="0">
              <a:latin typeface="+mn-ea"/>
            </a:endParaRPr>
          </a:p>
          <a:p>
            <a:pPr>
              <a:lnSpc>
                <a:spcPct val="150000"/>
              </a:lnSpc>
            </a:pPr>
            <a:r>
              <a:rPr lang="ko-KR" altLang="en-US" sz="600" dirty="0">
                <a:latin typeface="+mn-ea"/>
              </a:rPr>
              <a:t>견적서제출마감일시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623357" y="290325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$ 126,000.18</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5614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9159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699294"/>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699294"/>
            <a:ext cx="447776" cy="107722"/>
          </a:xfrm>
          <a:prstGeom prst="rect">
            <a:avLst/>
          </a:prstGeom>
          <a:noFill/>
        </p:spPr>
        <p:txBody>
          <a:bodyPr wrap="square" lIns="0" tIns="0" rIns="0" bIns="0" rtlCol="0">
            <a:spAutoFit/>
          </a:bodyPr>
          <a:lstStyle/>
          <a:p>
            <a:pPr algn="ctr"/>
            <a:r>
              <a:rPr lang="ko-KR" altLang="en-US" sz="700" dirty="0" smtClean="0">
                <a:latin typeface="+mn-ea"/>
              </a:rPr>
              <a:t>품목 목록</a:t>
            </a:r>
            <a:endParaRPr lang="ko-KR" altLang="en-US" sz="700" dirty="0">
              <a:latin typeface="+mn-ea"/>
            </a:endParaRP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915901"/>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661171"/>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66709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2250612"/>
            <a:ext cx="447776" cy="107722"/>
          </a:xfrm>
          <a:prstGeom prst="rect">
            <a:avLst/>
          </a:prstGeom>
          <a:noFill/>
        </p:spPr>
        <p:txBody>
          <a:bodyPr wrap="square" lIns="0" tIns="0" rIns="0" bIns="0" rtlCol="0">
            <a:spAutoFit/>
          </a:bodyPr>
          <a:lstStyle/>
          <a:p>
            <a:pPr algn="ctr"/>
            <a:r>
              <a:rPr lang="ko-KR" altLang="en-US" sz="700" dirty="0">
                <a:latin typeface="+mn-ea"/>
              </a:rPr>
              <a:t>입찰 결과</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26071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50" name="모서리가 둥근 직사각형 149"/>
          <p:cNvSpPr/>
          <p:nvPr/>
        </p:nvSpPr>
        <p:spPr>
          <a:xfrm>
            <a:off x="1057559" y="2399250"/>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1" name="모서리가 둥근 직사각형 150"/>
          <p:cNvSpPr/>
          <p:nvPr/>
        </p:nvSpPr>
        <p:spPr>
          <a:xfrm>
            <a:off x="777000" y="2399250"/>
            <a:ext cx="24217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56" name="모서리가 둥근 직사각형 155"/>
          <p:cNvSpPr/>
          <p:nvPr/>
        </p:nvSpPr>
        <p:spPr>
          <a:xfrm>
            <a:off x="4151423" y="160062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7" name="모서리가 둥근 직사각형 156"/>
          <p:cNvSpPr/>
          <p:nvPr/>
        </p:nvSpPr>
        <p:spPr>
          <a:xfrm>
            <a:off x="3864811" y="1600627"/>
            <a:ext cx="2428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grpSp>
        <p:nvGrpSpPr>
          <p:cNvPr id="6" name="그룹 5"/>
          <p:cNvGrpSpPr/>
          <p:nvPr/>
        </p:nvGrpSpPr>
        <p:grpSpPr>
          <a:xfrm>
            <a:off x="720490" y="4022232"/>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2565526"/>
            <a:ext cx="2660475" cy="2461921"/>
            <a:chOff x="720490" y="3803374"/>
            <a:chExt cx="2660475" cy="2461921"/>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5177575"/>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2" name="TextBox 121">
            <a:extLst>
              <a:ext uri="{FF2B5EF4-FFF2-40B4-BE49-F238E27FC236}">
                <a16:creationId xmlns:a16="http://schemas.microsoft.com/office/drawing/2014/main" id="{FFC49AEA-2A8F-250C-A86A-A7751D9706C3}"/>
              </a:ext>
            </a:extLst>
          </p:cNvPr>
          <p:cNvSpPr txBox="1"/>
          <p:nvPr/>
        </p:nvSpPr>
        <p:spPr>
          <a:xfrm>
            <a:off x="1890743" y="3699294"/>
            <a:ext cx="447776" cy="107722"/>
          </a:xfrm>
          <a:prstGeom prst="rect">
            <a:avLst/>
          </a:prstGeom>
          <a:noFill/>
        </p:spPr>
        <p:txBody>
          <a:bodyPr wrap="square" lIns="0" tIns="0" rIns="0" bIns="0" rtlCol="0">
            <a:spAutoFit/>
          </a:bodyPr>
          <a:lstStyle/>
          <a:p>
            <a:pPr algn="ctr"/>
            <a:r>
              <a:rPr lang="ko-KR" altLang="en-US" sz="700" dirty="0">
                <a:latin typeface="+mn-ea"/>
              </a:rPr>
              <a:t>첨부서류</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994275" y="2250612"/>
            <a:ext cx="447776" cy="107722"/>
          </a:xfrm>
          <a:prstGeom prst="rect">
            <a:avLst/>
          </a:prstGeom>
          <a:noFill/>
        </p:spPr>
        <p:txBody>
          <a:bodyPr wrap="square" lIns="0" tIns="0" rIns="0" bIns="0" rtlCol="0">
            <a:spAutoFit/>
          </a:bodyPr>
          <a:lstStyle/>
          <a:p>
            <a:pPr algn="ctr"/>
            <a:r>
              <a:rPr lang="ko-KR" altLang="en-US" sz="700" dirty="0">
                <a:latin typeface="+mn-ea"/>
              </a:rPr>
              <a:t>첨부서류</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2432020" y="3699294"/>
            <a:ext cx="447776" cy="107722"/>
          </a:xfrm>
          <a:prstGeom prst="rect">
            <a:avLst/>
          </a:prstGeom>
          <a:noFill/>
        </p:spPr>
        <p:txBody>
          <a:bodyPr wrap="square" lIns="0" tIns="0" rIns="0" bIns="0" rtlCol="0">
            <a:spAutoFit/>
          </a:bodyPr>
          <a:lstStyle/>
          <a:p>
            <a:pPr algn="ctr"/>
            <a:r>
              <a:rPr lang="ko-KR" altLang="en-US" sz="700" smtClean="0">
                <a:latin typeface="+mn-ea"/>
              </a:rPr>
              <a:t>견적서목록</a:t>
            </a:r>
            <a:endParaRPr lang="ko-KR" altLang="en-US" sz="700" dirty="0">
              <a:latin typeface="+mn-ea"/>
            </a:endParaRPr>
          </a:p>
        </p:txBody>
      </p:sp>
      <p:grpSp>
        <p:nvGrpSpPr>
          <p:cNvPr id="125" name="그룹 124"/>
          <p:cNvGrpSpPr/>
          <p:nvPr/>
        </p:nvGrpSpPr>
        <p:grpSpPr>
          <a:xfrm>
            <a:off x="677960" y="1582647"/>
            <a:ext cx="2714637" cy="686386"/>
            <a:chOff x="677960" y="1582647"/>
            <a:chExt cx="2714637" cy="686386"/>
          </a:xfrm>
        </p:grpSpPr>
        <p:sp>
          <p:nvSpPr>
            <p:cNvPr id="126" name="TextBox 125">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smtClean="0">
                  <a:latin typeface="+mn-ea"/>
                </a:rPr>
                <a:t>공개수의협상 </a:t>
              </a:r>
              <a:r>
                <a:rPr lang="ko-KR" altLang="en-US" sz="800" dirty="0" err="1">
                  <a:latin typeface="+mn-ea"/>
                </a:rPr>
                <a:t>계획상세</a:t>
              </a:r>
              <a:endParaRPr lang="ko-KR" altLang="en-US" sz="8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9" name="그룹 128"/>
            <p:cNvGrpSpPr/>
            <p:nvPr/>
          </p:nvGrpSpPr>
          <p:grpSpPr>
            <a:xfrm rot="5400000">
              <a:off x="852159" y="2062596"/>
              <a:ext cx="94010" cy="47005"/>
              <a:chOff x="6812560" y="3297172"/>
              <a:chExt cx="94010" cy="47005"/>
            </a:xfrm>
          </p:grpSpPr>
          <p:cxnSp>
            <p:nvCxnSpPr>
              <p:cNvPr id="136" name="직선 연결선 13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7" name="직선 연결선 13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30" name="그룹 129"/>
            <p:cNvGrpSpPr/>
            <p:nvPr/>
          </p:nvGrpSpPr>
          <p:grpSpPr>
            <a:xfrm>
              <a:off x="677960" y="1582647"/>
              <a:ext cx="2712027" cy="324286"/>
              <a:chOff x="677960" y="1582647"/>
              <a:chExt cx="2712027" cy="324286"/>
            </a:xfrm>
          </p:grpSpPr>
          <p:pic>
            <p:nvPicPr>
              <p:cNvPr id="131"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2" name="직선 연결선 131">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타원 132"/>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타원 133"/>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타원 134"/>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38" name="타원 137">
            <a:extLst>
              <a:ext uri="{FF2B5EF4-FFF2-40B4-BE49-F238E27FC236}">
                <a16:creationId xmlns:a16="http://schemas.microsoft.com/office/drawing/2014/main" id="{37A7FF4F-0EAA-1463-560A-D5EC24416103}"/>
              </a:ext>
            </a:extLst>
          </p:cNvPr>
          <p:cNvSpPr/>
          <p:nvPr/>
        </p:nvSpPr>
        <p:spPr>
          <a:xfrm>
            <a:off x="571127" y="192428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39" name="타원 138">
            <a:extLst>
              <a:ext uri="{FF2B5EF4-FFF2-40B4-BE49-F238E27FC236}">
                <a16:creationId xmlns:a16="http://schemas.microsoft.com/office/drawing/2014/main" id="{37A7FF4F-0EAA-1463-560A-D5EC24416103}"/>
              </a:ext>
            </a:extLst>
          </p:cNvPr>
          <p:cNvSpPr/>
          <p:nvPr/>
        </p:nvSpPr>
        <p:spPr>
          <a:xfrm>
            <a:off x="6719458" y="569551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Tree>
    <p:extLst>
      <p:ext uri="{BB962C8B-B14F-4D97-AF65-F5344CB8AC3E}">
        <p14:creationId xmlns:p14="http://schemas.microsoft.com/office/powerpoint/2010/main" val="2277941956"/>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530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공개수의협상계획상세</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MUI-BD-12-T71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2892808"/>
            <a:chOff x="701175" y="1527996"/>
            <a:chExt cx="2630093" cy="2892808"/>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2576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2025-03-02</a:t>
              </a:r>
            </a:p>
            <a:p>
              <a:pPr>
                <a:lnSpc>
                  <a:spcPct val="200000"/>
                </a:lnSpc>
              </a:pPr>
              <a:r>
                <a:rPr lang="en-US" altLang="ko-KR" sz="700" dirty="0">
                  <a:latin typeface="+mn-ea"/>
                </a:rPr>
                <a:t>2025-03-02 15:00:00</a:t>
              </a:r>
            </a:p>
          </p:txBody>
        </p:sp>
        <p:grpSp>
          <p:nvGrpSpPr>
            <p:cNvPr id="17" name="그룹 16"/>
            <p:cNvGrpSpPr/>
            <p:nvPr/>
          </p:nvGrpSpPr>
          <p:grpSpPr>
            <a:xfrm>
              <a:off x="701175" y="1835481"/>
              <a:ext cx="2630093" cy="2576880"/>
              <a:chOff x="701175" y="1835481"/>
              <a:chExt cx="2630093" cy="257688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3" name="TextBox 82">
              <a:extLst>
                <a:ext uri="{FF2B5EF4-FFF2-40B4-BE49-F238E27FC236}">
                  <a16:creationId xmlns:a16="http://schemas.microsoft.com/office/drawing/2014/main" id="{FFC49AEA-2A8F-250C-A86A-A7751D9706C3}"/>
                </a:ext>
              </a:extLst>
            </p:cNvPr>
            <p:cNvSpPr txBox="1"/>
            <p:nvPr/>
          </p:nvSpPr>
          <p:spPr>
            <a:xfrm>
              <a:off x="790330" y="3767437"/>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5400" y="4520145"/>
            <a:ext cx="2712026" cy="965915"/>
            <a:chOff x="3795735" y="1461535"/>
            <a:chExt cx="2712026" cy="965915"/>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152799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1641327"/>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242745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200031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2118856"/>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2118856"/>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2064995"/>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54" name="직선 연결선 53">
              <a:extLst>
                <a:ext uri="{FF2B5EF4-FFF2-40B4-BE49-F238E27FC236}">
                  <a16:creationId xmlns:a16="http://schemas.microsoft.com/office/drawing/2014/main" id="{E9293055-D5CD-4B9E-7F64-64B2D2CA7A52}"/>
                </a:ext>
              </a:extLst>
            </p:cNvPr>
            <p:cNvCxnSpPr/>
            <p:nvPr/>
          </p:nvCxnSpPr>
          <p:spPr>
            <a:xfrm>
              <a:off x="3795735" y="1461535"/>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2100887522"/>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a:t>
            </a:r>
            <a:r>
              <a:rPr lang="ko-KR" altLang="en-US" dirty="0" smtClean="0"/>
              <a:t>영역</a:t>
            </a:r>
            <a:endParaRPr lang="en-US" altLang="ko-KR" dirty="0" smtClean="0"/>
          </a:p>
          <a:p>
            <a:pPr>
              <a:buFont typeface="+mj-lt"/>
              <a:buAutoNum type="arabicPeriod"/>
            </a:pPr>
            <a:r>
              <a:rPr lang="ko-KR" altLang="en-US" dirty="0" err="1"/>
              <a:t>첨부문서</a:t>
            </a:r>
            <a:r>
              <a:rPr lang="ko-KR" altLang="en-US" dirty="0"/>
              <a:t> 클릭 이벤트</a:t>
            </a:r>
            <a:r>
              <a:rPr lang="en-US" altLang="ko-KR" dirty="0"/>
              <a:t/>
            </a:r>
            <a:br>
              <a:rPr lang="en-US" altLang="ko-KR" dirty="0"/>
            </a:br>
            <a:r>
              <a:rPr lang="en-US" altLang="ko-KR" dirty="0">
                <a:solidFill>
                  <a:srgbClr val="FF0000"/>
                </a:solidFill>
              </a:rPr>
              <a:t>- </a:t>
            </a:r>
            <a:r>
              <a:rPr lang="ko-KR" altLang="en-US" dirty="0">
                <a:solidFill>
                  <a:srgbClr val="FF0000"/>
                </a:solidFill>
              </a:rPr>
              <a:t>첨부파일 조회 </a:t>
            </a:r>
            <a:r>
              <a:rPr lang="en-US" altLang="ko-KR" dirty="0">
                <a:solidFill>
                  <a:srgbClr val="FF0000"/>
                </a:solidFill>
                <a:latin typeface="맑은 고딕" panose="020B0503020000020004" pitchFamily="50" charset="-127"/>
              </a:rPr>
              <a:t>MUI-BD-01-P76 </a:t>
            </a:r>
            <a:r>
              <a:rPr lang="ko-KR" altLang="en-US" dirty="0">
                <a:solidFill>
                  <a:srgbClr val="FF0000"/>
                </a:solidFill>
                <a:latin typeface="맑은 고딕" panose="020B0503020000020004" pitchFamily="50" charset="-127"/>
              </a:rPr>
              <a:t>팝업 호출</a:t>
            </a:r>
            <a:r>
              <a:rPr lang="en-US" altLang="ko-KR" dirty="0">
                <a:solidFill>
                  <a:srgbClr val="FF0000"/>
                </a:solidFill>
              </a:rPr>
              <a:t/>
            </a:r>
            <a:br>
              <a:rPr lang="en-US" altLang="ko-KR" dirty="0">
                <a:solidFill>
                  <a:srgbClr val="FF0000"/>
                </a:solidFill>
              </a:rPr>
            </a:br>
            <a:r>
              <a:rPr lang="en-US" altLang="ko-KR" dirty="0">
                <a:solidFill>
                  <a:srgbClr val="FF0000"/>
                </a:solidFill>
              </a:rPr>
              <a:t>- </a:t>
            </a:r>
            <a:r>
              <a:rPr lang="ko-KR" altLang="en-US" dirty="0" err="1">
                <a:solidFill>
                  <a:srgbClr val="FF0000"/>
                </a:solidFill>
              </a:rPr>
              <a:t>첨부문서</a:t>
            </a:r>
            <a:r>
              <a:rPr lang="ko-KR" altLang="en-US" dirty="0">
                <a:solidFill>
                  <a:srgbClr val="FF0000"/>
                </a:solidFill>
              </a:rPr>
              <a:t> 유무를 </a:t>
            </a:r>
            <a:r>
              <a:rPr lang="en-US" altLang="ko-KR" dirty="0">
                <a:solidFill>
                  <a:srgbClr val="FF0000"/>
                </a:solidFill>
              </a:rPr>
              <a:t>O, X</a:t>
            </a:r>
            <a:r>
              <a:rPr lang="ko-KR" altLang="en-US" dirty="0">
                <a:solidFill>
                  <a:srgbClr val="FF0000"/>
                </a:solidFill>
              </a:rPr>
              <a:t>로 표시</a:t>
            </a:r>
            <a:r>
              <a:rPr lang="en-US" altLang="ko-KR" dirty="0">
                <a:solidFill>
                  <a:srgbClr val="FF0000"/>
                </a:solidFill>
              </a:rPr>
              <a:t/>
            </a:r>
            <a:br>
              <a:rPr lang="en-US" altLang="ko-KR" dirty="0">
                <a:solidFill>
                  <a:srgbClr val="FF0000"/>
                </a:solidFill>
              </a:rPr>
            </a:br>
            <a:r>
              <a:rPr lang="en-US" altLang="ko-KR" dirty="0">
                <a:solidFill>
                  <a:srgbClr val="FF0000"/>
                </a:solidFill>
              </a:rPr>
              <a:t>- </a:t>
            </a:r>
            <a:r>
              <a:rPr lang="ko-KR" altLang="en-US" dirty="0" err="1">
                <a:solidFill>
                  <a:srgbClr val="FF0000"/>
                </a:solidFill>
              </a:rPr>
              <a:t>첨부문서가</a:t>
            </a:r>
            <a:r>
              <a:rPr lang="ko-KR" altLang="en-US" dirty="0">
                <a:solidFill>
                  <a:srgbClr val="FF0000"/>
                </a:solidFill>
              </a:rPr>
              <a:t> 있는 경우 보기 버튼 표시</a:t>
            </a:r>
            <a:r>
              <a:rPr lang="en-US" altLang="ko-KR" dirty="0">
                <a:solidFill>
                  <a:srgbClr val="FF0000"/>
                </a:solidFill>
              </a:rPr>
              <a:t/>
            </a:r>
            <a:br>
              <a:rPr lang="en-US" altLang="ko-KR" dirty="0">
                <a:solidFill>
                  <a:srgbClr val="FF0000"/>
                </a:solidFill>
              </a:rPr>
            </a:br>
            <a:r>
              <a:rPr lang="en-US" altLang="ko-KR" dirty="0">
                <a:solidFill>
                  <a:srgbClr val="FF0000"/>
                </a:solidFill>
              </a:rPr>
              <a:t>  &gt; </a:t>
            </a:r>
            <a:r>
              <a:rPr lang="ko-KR" altLang="en-US" dirty="0">
                <a:solidFill>
                  <a:srgbClr val="FF0000"/>
                </a:solidFill>
              </a:rPr>
              <a:t>클릭 시 해당 품목의 첨부파일을 </a:t>
            </a:r>
            <a:r>
              <a:rPr lang="ko-KR" altLang="en-US" dirty="0" err="1">
                <a:solidFill>
                  <a:srgbClr val="FF0000"/>
                </a:solidFill>
              </a:rPr>
              <a:t>바텀</a:t>
            </a:r>
            <a:r>
              <a:rPr lang="ko-KR" altLang="en-US" dirty="0">
                <a:solidFill>
                  <a:srgbClr val="FF0000"/>
                </a:solidFill>
              </a:rPr>
              <a:t> 시트로 표시</a:t>
            </a:r>
            <a:r>
              <a:rPr lang="en-US" altLang="ko-KR" dirty="0">
                <a:solidFill>
                  <a:srgbClr val="FF0000"/>
                </a:solidFill>
              </a:rPr>
              <a:t/>
            </a:r>
            <a:br>
              <a:rPr lang="en-US" altLang="ko-KR" dirty="0">
                <a:solidFill>
                  <a:srgbClr val="FF0000"/>
                </a:solidFill>
              </a:rPr>
            </a:br>
            <a:r>
              <a:rPr lang="en-US" altLang="ko-KR" dirty="0">
                <a:solidFill>
                  <a:srgbClr val="FF0000"/>
                </a:solidFill>
              </a:rPr>
              <a:t>- </a:t>
            </a:r>
            <a:r>
              <a:rPr lang="ko-KR" altLang="en-US" dirty="0" err="1">
                <a:solidFill>
                  <a:srgbClr val="FF0000"/>
                </a:solidFill>
              </a:rPr>
              <a:t>첨부문서가</a:t>
            </a:r>
            <a:r>
              <a:rPr lang="ko-KR" altLang="en-US" dirty="0">
                <a:solidFill>
                  <a:srgbClr val="FF0000"/>
                </a:solidFill>
              </a:rPr>
              <a:t> </a:t>
            </a:r>
            <a:r>
              <a:rPr lang="en-US" altLang="ko-KR" dirty="0">
                <a:solidFill>
                  <a:srgbClr val="FF0000"/>
                </a:solidFill>
              </a:rPr>
              <a:t>X</a:t>
            </a:r>
            <a:r>
              <a:rPr lang="ko-KR" altLang="en-US" dirty="0">
                <a:solidFill>
                  <a:srgbClr val="FF0000"/>
                </a:solidFill>
              </a:rPr>
              <a:t>인 경우 버튼 숨김</a:t>
            </a:r>
            <a:r>
              <a:rPr lang="en-US" altLang="ko-KR" dirty="0">
                <a:solidFill>
                  <a:srgbClr val="FF0000"/>
                </a:solidFill>
              </a:rPr>
              <a:t>.</a:t>
            </a:r>
          </a:p>
          <a:p>
            <a:pPr>
              <a:buFont typeface="+mj-lt"/>
              <a:buAutoNum type="arabicPeriod"/>
            </a:pPr>
            <a:r>
              <a:rPr lang="ko-KR" altLang="en-US" dirty="0" err="1"/>
              <a:t>재고번호</a:t>
            </a:r>
            <a:r>
              <a:rPr lang="ko-KR" altLang="en-US" dirty="0"/>
              <a:t> 클릭 이벤트</a:t>
            </a:r>
            <a:r>
              <a:rPr lang="en-US" altLang="ko-KR" dirty="0"/>
              <a:t/>
            </a:r>
            <a:br>
              <a:rPr lang="en-US" altLang="ko-KR" dirty="0"/>
            </a:br>
            <a:r>
              <a:rPr lang="en-US" altLang="ko-KR" dirty="0">
                <a:solidFill>
                  <a:srgbClr val="FF0000"/>
                </a:solidFill>
              </a:rPr>
              <a:t>- </a:t>
            </a:r>
            <a:r>
              <a:rPr lang="ko-KR" altLang="en-US" dirty="0">
                <a:solidFill>
                  <a:srgbClr val="FF0000"/>
                </a:solidFill>
              </a:rPr>
              <a:t>목록정보조회 </a:t>
            </a:r>
            <a:r>
              <a:rPr lang="en-US" altLang="ko-KR" dirty="0">
                <a:solidFill>
                  <a:srgbClr val="FF0000"/>
                </a:solidFill>
              </a:rPr>
              <a:t>MUI-OP-01-P76 </a:t>
            </a:r>
            <a:r>
              <a:rPr lang="ko-KR" altLang="en-US" dirty="0">
                <a:solidFill>
                  <a:srgbClr val="FF0000"/>
                </a:solidFill>
              </a:rPr>
              <a:t>호출</a:t>
            </a:r>
            <a:endParaRPr lang="en-US" altLang="ko-KR" dirty="0">
              <a:solidFill>
                <a:srgbClr val="FF0000"/>
              </a:solidFill>
            </a:endParaRPr>
          </a:p>
          <a:p>
            <a:pPr>
              <a:buFont typeface="+mj-lt"/>
              <a:buAutoNum type="arabicPeriod"/>
            </a:pP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531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Autofit/>
          </a:bodyPr>
          <a:lstStyle/>
          <a:p>
            <a:r>
              <a:rPr lang="ko-KR" altLang="en-US" dirty="0" err="1"/>
              <a:t>공개수의협상계획상세</a:t>
            </a:r>
            <a:r>
              <a:rPr lang="ko-KR" altLang="en-US" dirty="0">
                <a:latin typeface="+mn-ea"/>
              </a:rPr>
              <a:t> </a:t>
            </a:r>
            <a:r>
              <a:rPr lang="en-US" altLang="ko-KR" dirty="0">
                <a:latin typeface="+mn-ea"/>
              </a:rPr>
              <a:t>– </a:t>
            </a:r>
            <a:r>
              <a:rPr lang="ko-KR" altLang="en-US" dirty="0" err="1">
                <a:latin typeface="+mn-ea"/>
              </a:rPr>
              <a:t>품목정보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MUI-BD-12-T72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20" name="그룹 119"/>
          <p:cNvGrpSpPr/>
          <p:nvPr/>
        </p:nvGrpSpPr>
        <p:grpSpPr>
          <a:xfrm>
            <a:off x="716366" y="1527996"/>
            <a:ext cx="2630093" cy="4697491"/>
            <a:chOff x="701175" y="1527996"/>
            <a:chExt cx="2630093" cy="4697491"/>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23" name="직사각형 122"/>
            <p:cNvSpPr/>
            <p:nvPr/>
          </p:nvSpPr>
          <p:spPr>
            <a:xfrm>
              <a:off x="703268" y="1835482"/>
              <a:ext cx="792000" cy="439000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430887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품질등급</a:t>
              </a:r>
              <a:endParaRPr lang="ko-KR" altLang="en-US" sz="700" dirty="0">
                <a:latin typeface="+mn-ea"/>
              </a:endParaRPr>
            </a:p>
            <a:p>
              <a:pPr>
                <a:lnSpc>
                  <a:spcPct val="200000"/>
                </a:lnSpc>
              </a:pP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규격번호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납기기준일자</a:t>
              </a:r>
            </a:p>
            <a:p>
              <a:pPr>
                <a:lnSpc>
                  <a:spcPct val="200000"/>
                </a:lnSpc>
              </a:pPr>
              <a:r>
                <a:rPr lang="ko-KR" altLang="en-US" sz="700" dirty="0">
                  <a:latin typeface="+mn-ea"/>
                </a:rPr>
                <a:t>단위</a:t>
              </a:r>
            </a:p>
            <a:p>
              <a:pPr>
                <a:lnSpc>
                  <a:spcPct val="200000"/>
                </a:lnSpc>
              </a:pPr>
              <a:r>
                <a:rPr lang="ko-KR" altLang="en-US" sz="700" dirty="0" err="1">
                  <a:latin typeface="+mn-ea"/>
                </a:rPr>
                <a:t>본조수량</a:t>
              </a:r>
              <a:endParaRPr lang="ko-KR" altLang="en-US" sz="700" dirty="0">
                <a:latin typeface="+mn-ea"/>
              </a:endParaRPr>
            </a:p>
            <a:p>
              <a:pPr>
                <a:lnSpc>
                  <a:spcPct val="200000"/>
                </a:lnSpc>
              </a:pPr>
              <a:r>
                <a:rPr lang="ko-KR" altLang="en-US" sz="700" dirty="0" err="1">
                  <a:latin typeface="+mn-ea"/>
                </a:rPr>
                <a:t>당국수량</a:t>
              </a:r>
              <a:endParaRPr lang="ko-KR" altLang="en-US" sz="700" dirty="0">
                <a:latin typeface="+mn-ea"/>
              </a:endParaRPr>
            </a:p>
            <a:p>
              <a:pPr>
                <a:lnSpc>
                  <a:spcPct val="200000"/>
                </a:lnSpc>
              </a:pPr>
              <a:r>
                <a:rPr lang="ko-KR" altLang="en-US" sz="700" dirty="0" err="1">
                  <a:latin typeface="+mn-ea"/>
                </a:rPr>
                <a:t>장국수량</a:t>
              </a:r>
              <a:endParaRPr lang="ko-KR" altLang="en-US" sz="700" dirty="0">
                <a:latin typeface="+mn-ea"/>
              </a:endParaRPr>
            </a:p>
            <a:p>
              <a:pPr>
                <a:lnSpc>
                  <a:spcPct val="200000"/>
                </a:lnSpc>
              </a:pPr>
              <a:r>
                <a:rPr lang="ko-KR" altLang="en-US" sz="700" dirty="0" err="1">
                  <a:latin typeface="+mn-ea"/>
                </a:rPr>
                <a:t>본조예산</a:t>
              </a:r>
              <a:endParaRPr lang="ko-KR" altLang="en-US" sz="700" dirty="0">
                <a:latin typeface="+mn-ea"/>
              </a:endParaRPr>
            </a:p>
            <a:p>
              <a:pPr>
                <a:lnSpc>
                  <a:spcPct val="200000"/>
                </a:lnSpc>
              </a:pPr>
              <a:r>
                <a:rPr lang="ko-KR" altLang="en-US" sz="700" dirty="0" err="1">
                  <a:latin typeface="+mn-ea"/>
                </a:rPr>
                <a:t>당국예산</a:t>
              </a:r>
              <a:endParaRPr lang="ko-KR" altLang="en-US" sz="700" dirty="0">
                <a:latin typeface="+mn-ea"/>
              </a:endParaRPr>
            </a:p>
            <a:p>
              <a:pPr>
                <a:lnSpc>
                  <a:spcPct val="200000"/>
                </a:lnSpc>
              </a:pPr>
              <a:r>
                <a:rPr lang="ko-KR" altLang="en-US" sz="700" dirty="0" err="1">
                  <a:latin typeface="+mn-ea"/>
                </a:rPr>
                <a:t>장국예산</a:t>
              </a:r>
              <a:endParaRPr lang="ko-KR" altLang="en-US" sz="700" dirty="0">
                <a:latin typeface="+mn-ea"/>
              </a:endParaRPr>
            </a:p>
            <a:p>
              <a:pPr>
                <a:lnSpc>
                  <a:spcPct val="200000"/>
                </a:lnSpc>
              </a:pPr>
              <a:r>
                <a:rPr lang="ko-KR" altLang="en-US" sz="700" dirty="0" err="1">
                  <a:latin typeface="+mn-ea"/>
                </a:rPr>
                <a:t>수량합계</a:t>
              </a:r>
              <a:endParaRPr lang="ko-KR" altLang="en-US" sz="700" dirty="0">
                <a:latin typeface="+mn-ea"/>
              </a:endParaRPr>
            </a:p>
            <a:p>
              <a:pPr>
                <a:lnSpc>
                  <a:spcPct val="200000"/>
                </a:lnSpc>
              </a:pPr>
              <a:r>
                <a:rPr lang="ko-KR" altLang="en-US" sz="700" dirty="0">
                  <a:latin typeface="+mn-ea"/>
                </a:rPr>
                <a:t>화폐단위</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err="1">
                  <a:latin typeface="+mn-ea"/>
                </a:rPr>
                <a:t>지시금액</a:t>
              </a:r>
              <a:endParaRPr lang="ko-KR" altLang="en-US" sz="700" dirty="0">
                <a:latin typeface="+mn-ea"/>
              </a:endParaRPr>
            </a:p>
            <a:p>
              <a:pPr>
                <a:lnSpc>
                  <a:spcPct val="200000"/>
                </a:lnSpc>
              </a:pPr>
              <a:r>
                <a:rPr lang="ko-KR" altLang="en-US" sz="700" dirty="0" err="1">
                  <a:latin typeface="+mn-ea"/>
                </a:rPr>
                <a:t>장비부호</a:t>
              </a:r>
              <a:endParaRPr lang="ko-KR" altLang="en-US"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430887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p>
            <a:p>
              <a:pPr>
                <a:lnSpc>
                  <a:spcPct val="200000"/>
                </a:lnSpc>
              </a:pPr>
              <a:r>
                <a:rPr lang="en-US" altLang="ko-KR" sz="700" dirty="0">
                  <a:solidFill>
                    <a:srgbClr val="0070C0"/>
                  </a:solidFill>
                  <a:latin typeface="+mn-ea"/>
                </a:rPr>
                <a:t>O</a:t>
              </a:r>
            </a:p>
            <a:p>
              <a:pPr>
                <a:lnSpc>
                  <a:spcPct val="200000"/>
                </a:lnSpc>
              </a:pPr>
              <a:r>
                <a:rPr lang="en-US" altLang="ko-KR" sz="700" dirty="0">
                  <a:solidFill>
                    <a:srgbClr val="0070C0"/>
                  </a:solidFill>
                  <a:latin typeface="+mn-ea"/>
                </a:rPr>
                <a:t>156037A017759</a:t>
              </a:r>
            </a:p>
            <a:p>
              <a:pPr>
                <a:lnSpc>
                  <a:spcPct val="200000"/>
                </a:lnSpc>
              </a:pPr>
              <a:r>
                <a:rPr lang="en-US" altLang="ko-KR" sz="700" dirty="0">
                  <a:latin typeface="+mn-ea"/>
                </a:rPr>
                <a:t>369A2093-2</a:t>
              </a:r>
            </a:p>
            <a:p>
              <a:pPr>
                <a:lnSpc>
                  <a:spcPct val="200000"/>
                </a:lnSpc>
              </a:pPr>
              <a:r>
                <a:rPr lang="en-US" altLang="ko-KR" sz="700" dirty="0">
                  <a:latin typeface="+mn-ea"/>
                </a:rPr>
                <a:t>1560-D0001</a:t>
              </a:r>
            </a:p>
            <a:p>
              <a:pPr>
                <a:lnSpc>
                  <a:spcPct val="200000"/>
                </a:lnSpc>
              </a:pPr>
              <a:r>
                <a:rPr lang="en-US" altLang="ko-KR" sz="700" dirty="0">
                  <a:latin typeface="+mn-ea"/>
                </a:rPr>
                <a:t>500MD</a:t>
              </a:r>
            </a:p>
            <a:p>
              <a:pPr>
                <a:lnSpc>
                  <a:spcPct val="200000"/>
                </a:lnSpc>
              </a:pPr>
              <a:r>
                <a:rPr lang="en-US" altLang="ko-KR" sz="700" dirty="0">
                  <a:latin typeface="+mn-ea"/>
                </a:rPr>
                <a:t>2025-03-02</a:t>
              </a:r>
            </a:p>
            <a:p>
              <a:pPr>
                <a:lnSpc>
                  <a:spcPct val="200000"/>
                </a:lnSpc>
              </a:pPr>
              <a:r>
                <a:rPr lang="en-US" altLang="ko-KR" sz="700" dirty="0">
                  <a:latin typeface="+mn-ea"/>
                </a:rPr>
                <a:t>EA</a:t>
              </a:r>
            </a:p>
            <a:p>
              <a:pPr>
                <a:lnSpc>
                  <a:spcPct val="200000"/>
                </a:lnSpc>
              </a:pPr>
              <a:r>
                <a:rPr lang="en-US" altLang="ko-KR" sz="700" dirty="0">
                  <a:latin typeface="+mn-ea"/>
                </a:rPr>
                <a:t>5</a:t>
              </a:r>
            </a:p>
            <a:p>
              <a:pPr>
                <a:lnSpc>
                  <a:spcPct val="200000"/>
                </a:lnSpc>
              </a:pPr>
              <a:r>
                <a:rPr lang="en-US" altLang="ko-KR" sz="700" dirty="0">
                  <a:latin typeface="+mn-ea"/>
                </a:rPr>
                <a:t>3</a:t>
              </a:r>
            </a:p>
            <a:p>
              <a:pPr>
                <a:lnSpc>
                  <a:spcPct val="200000"/>
                </a:lnSpc>
              </a:pPr>
              <a:r>
                <a:rPr lang="en-US" altLang="ko-KR" sz="700" dirty="0">
                  <a:latin typeface="+mn-ea"/>
                </a:rPr>
                <a:t>2</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10</a:t>
              </a:r>
            </a:p>
            <a:p>
              <a:pPr algn="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latin typeface="+mn-ea"/>
                </a:rPr>
                <a:t>145.58</a:t>
              </a:r>
            </a:p>
            <a:p>
              <a:pPr algn="r">
                <a:lnSpc>
                  <a:spcPct val="200000"/>
                </a:lnSpc>
              </a:pPr>
              <a:r>
                <a:rPr lang="en-US" altLang="ko-KR" sz="700" dirty="0">
                  <a:latin typeface="+mn-ea"/>
                </a:rPr>
                <a:t>2,473.16</a:t>
              </a:r>
            </a:p>
            <a:p>
              <a:pPr>
                <a:lnSpc>
                  <a:spcPct val="200000"/>
                </a:lnSpc>
              </a:pPr>
              <a:r>
                <a:rPr lang="en-US" altLang="ko-KR" sz="700" dirty="0">
                  <a:latin typeface="+mn-ea"/>
                </a:rPr>
                <a:t>30310201</a:t>
              </a:r>
            </a:p>
          </p:txBody>
        </p:sp>
        <p:grpSp>
          <p:nvGrpSpPr>
            <p:cNvPr id="126" name="그룹 125"/>
            <p:cNvGrpSpPr/>
            <p:nvPr/>
          </p:nvGrpSpPr>
          <p:grpSpPr>
            <a:xfrm>
              <a:off x="701175" y="1835481"/>
              <a:ext cx="2630093" cy="4290528"/>
              <a:chOff x="701175" y="1835481"/>
              <a:chExt cx="2630093" cy="4290528"/>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501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6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37657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3980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4196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44073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1175" y="462687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484161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50577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1175" y="52572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54719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56881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5909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61260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44" name="직사각형 143"/>
          <p:cNvSpPr/>
          <p:nvPr/>
        </p:nvSpPr>
        <p:spPr>
          <a:xfrm>
            <a:off x="3820170" y="208951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사각형: 둥근 모서리 31">
            <a:extLst>
              <a:ext uri="{FF2B5EF4-FFF2-40B4-BE49-F238E27FC236}">
                <a16:creationId xmlns:a16="http://schemas.microsoft.com/office/drawing/2014/main" id="{2AC143EE-93CF-3518-F0CB-8469E98507E0}"/>
              </a:ext>
            </a:extLst>
          </p:cNvPr>
          <p:cNvSpPr/>
          <p:nvPr/>
        </p:nvSpPr>
        <p:spPr>
          <a:xfrm>
            <a:off x="3928441" y="598300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5113316" y="4299652"/>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50" name="TextBox 149">
            <a:extLst>
              <a:ext uri="{FF2B5EF4-FFF2-40B4-BE49-F238E27FC236}">
                <a16:creationId xmlns:a16="http://schemas.microsoft.com/office/drawing/2014/main" id="{FFC49AEA-2A8F-250C-A86A-A7751D9706C3}"/>
              </a:ext>
            </a:extLst>
          </p:cNvPr>
          <p:cNvSpPr txBox="1"/>
          <p:nvPr/>
        </p:nvSpPr>
        <p:spPr>
          <a:xfrm>
            <a:off x="3910666" y="2089518"/>
            <a:ext cx="725552" cy="827471"/>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품질등급</a:t>
            </a:r>
            <a:endParaRPr lang="ko-KR" altLang="en-US" sz="700" dirty="0">
              <a:latin typeface="+mn-ea"/>
            </a:endParaRPr>
          </a:p>
          <a:p>
            <a:pPr>
              <a:lnSpc>
                <a:spcPct val="200000"/>
              </a:lnSpc>
            </a:pP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p:txBody>
      </p:sp>
      <p:grpSp>
        <p:nvGrpSpPr>
          <p:cNvPr id="151" name="그룹 150"/>
          <p:cNvGrpSpPr/>
          <p:nvPr/>
        </p:nvGrpSpPr>
        <p:grpSpPr>
          <a:xfrm>
            <a:off x="3821510" y="2089518"/>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208951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500MD</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0000</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297501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nvGrpSpPr>
          <p:cNvPr id="180" name="그룹 179"/>
          <p:cNvGrpSpPr/>
          <p:nvPr/>
        </p:nvGrpSpPr>
        <p:grpSpPr>
          <a:xfrm>
            <a:off x="3819892" y="1771904"/>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3892730" y="179844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
        <p:nvSpPr>
          <p:cNvPr id="122" name="직사각형 121"/>
          <p:cNvSpPr/>
          <p:nvPr/>
        </p:nvSpPr>
        <p:spPr>
          <a:xfrm>
            <a:off x="3820170" y="1500365"/>
            <a:ext cx="792000" cy="2739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TextBox 129">
            <a:extLst>
              <a:ext uri="{FF2B5EF4-FFF2-40B4-BE49-F238E27FC236}">
                <a16:creationId xmlns:a16="http://schemas.microsoft.com/office/drawing/2014/main" id="{FFC49AEA-2A8F-250C-A86A-A7751D9706C3}"/>
              </a:ext>
            </a:extLst>
          </p:cNvPr>
          <p:cNvSpPr txBox="1"/>
          <p:nvPr/>
        </p:nvSpPr>
        <p:spPr>
          <a:xfrm>
            <a:off x="3910666" y="1556024"/>
            <a:ext cx="725552" cy="181140"/>
          </a:xfrm>
          <a:prstGeom prst="rect">
            <a:avLst/>
          </a:prstGeom>
          <a:noFill/>
        </p:spPr>
        <p:txBody>
          <a:bodyPr wrap="square" lIns="0" tIns="0" rIns="0" bIns="0" rtlCol="0">
            <a:spAutoFit/>
          </a:bodyPr>
          <a:lstStyle/>
          <a:p>
            <a:pPr>
              <a:lnSpc>
                <a:spcPct val="200000"/>
              </a:lnSpc>
            </a:pPr>
            <a:r>
              <a:rPr lang="ko-KR" altLang="en-US" sz="700" dirty="0" err="1">
                <a:latin typeface="+mn-ea"/>
              </a:rPr>
              <a:t>장비명</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4667515" y="1556024"/>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특수 추진기</a:t>
            </a:r>
          </a:p>
        </p:txBody>
      </p:sp>
      <p:grpSp>
        <p:nvGrpSpPr>
          <p:cNvPr id="142" name="그룹 141"/>
          <p:cNvGrpSpPr/>
          <p:nvPr/>
        </p:nvGrpSpPr>
        <p:grpSpPr>
          <a:xfrm>
            <a:off x="3821510" y="1554929"/>
            <a:ext cx="2630093" cy="214740"/>
            <a:chOff x="701175" y="1835481"/>
            <a:chExt cx="2630093" cy="214740"/>
          </a:xfrm>
        </p:grpSpPr>
        <p:cxnSp>
          <p:nvCxnSpPr>
            <p:cNvPr id="143" name="직선 연결선 14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1" name="사각형: 둥근 모서리 15">
            <a:extLst>
              <a:ext uri="{FF2B5EF4-FFF2-40B4-BE49-F238E27FC236}">
                <a16:creationId xmlns:a16="http://schemas.microsoft.com/office/drawing/2014/main" id="{E2B61CFB-AD16-68D0-8752-50D9C5E01971}"/>
              </a:ext>
            </a:extLst>
          </p:cNvPr>
          <p:cNvSpPr/>
          <p:nvPr/>
        </p:nvSpPr>
        <p:spPr>
          <a:xfrm>
            <a:off x="2836921" y="2292738"/>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82" name="사각형: 둥근 모서리 15">
            <a:extLst>
              <a:ext uri="{FF2B5EF4-FFF2-40B4-BE49-F238E27FC236}">
                <a16:creationId xmlns:a16="http://schemas.microsoft.com/office/drawing/2014/main" id="{E2B61CFB-AD16-68D0-8752-50D9C5E01971}"/>
              </a:ext>
            </a:extLst>
          </p:cNvPr>
          <p:cNvSpPr/>
          <p:nvPr/>
        </p:nvSpPr>
        <p:spPr>
          <a:xfrm>
            <a:off x="2836921" y="251447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91" name="타원 190">
            <a:extLst>
              <a:ext uri="{FF2B5EF4-FFF2-40B4-BE49-F238E27FC236}">
                <a16:creationId xmlns:a16="http://schemas.microsoft.com/office/drawing/2014/main" id="{37A7FF4F-0EAA-1463-560A-D5EC24416103}"/>
              </a:ext>
            </a:extLst>
          </p:cNvPr>
          <p:cNvSpPr/>
          <p:nvPr/>
        </p:nvSpPr>
        <p:spPr>
          <a:xfrm>
            <a:off x="3674573" y="158308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68" name="타원 67">
            <a:extLst>
              <a:ext uri="{FF2B5EF4-FFF2-40B4-BE49-F238E27FC236}">
                <a16:creationId xmlns:a16="http://schemas.microsoft.com/office/drawing/2014/main" id="{37A7FF4F-0EAA-1463-560A-D5EC24416103}"/>
              </a:ext>
            </a:extLst>
          </p:cNvPr>
          <p:cNvSpPr/>
          <p:nvPr/>
        </p:nvSpPr>
        <p:spPr>
          <a:xfrm>
            <a:off x="571127" y="228260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69" name="타원 68">
            <a:extLst>
              <a:ext uri="{FF2B5EF4-FFF2-40B4-BE49-F238E27FC236}">
                <a16:creationId xmlns:a16="http://schemas.microsoft.com/office/drawing/2014/main" id="{37A7FF4F-0EAA-1463-560A-D5EC24416103}"/>
              </a:ext>
            </a:extLst>
          </p:cNvPr>
          <p:cNvSpPr/>
          <p:nvPr/>
        </p:nvSpPr>
        <p:spPr>
          <a:xfrm>
            <a:off x="571127" y="250846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Tree>
    <p:extLst>
      <p:ext uri="{BB962C8B-B14F-4D97-AF65-F5344CB8AC3E}">
        <p14:creationId xmlns:p14="http://schemas.microsoft.com/office/powerpoint/2010/main" val="1175643897"/>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532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공개수의협상계획상세</a:t>
            </a:r>
            <a:r>
              <a:rPr lang="ko-KR" altLang="en-US" dirty="0">
                <a:latin typeface="+mn-ea"/>
              </a:rPr>
              <a:t> </a:t>
            </a:r>
            <a:r>
              <a:rPr lang="en-US" altLang="ko-KR" dirty="0">
                <a:latin typeface="+mn-ea"/>
              </a:rPr>
              <a:t>– </a:t>
            </a:r>
            <a:r>
              <a:rPr lang="ko-KR" altLang="en-US" dirty="0">
                <a:latin typeface="+mn-ea"/>
              </a:rPr>
              <a:t>첨부서류</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MUI-BD-12-T73</a:t>
            </a:r>
            <a:endParaRPr lang="ko-KR" altLang="en-US" dirty="0"/>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1550906"/>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194929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023813"/>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공고문안</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207767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25190" y="205953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235597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243049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일반조건</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248436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25190" y="246622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181417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34706" y="181417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181417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15817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0" name="모서리가 둥근 직사각형 99"/>
          <p:cNvSpPr/>
          <p:nvPr/>
        </p:nvSpPr>
        <p:spPr>
          <a:xfrm>
            <a:off x="710315" y="275734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2831862"/>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특수조건</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288572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25190" y="286758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316402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3238548"/>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기타첨부</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329240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25190" y="327427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838535056"/>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533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60865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1075529"/>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pbancOd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274463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pbancType</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967442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pbancRqstYmd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37745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prchsDmndNo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9582557"/>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통합참조번호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intgRfrncNo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019054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bizNm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99289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계약방법</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2626487"/>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797409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4955673"/>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etdcDdlnDt</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634123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exchrtAplcnYmd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51953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4999726"/>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9814286"/>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99116951"/>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534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첨부서류 데이터 영역 </a:t>
            </a:r>
            <a:r>
              <a:rPr lang="en-US" altLang="ko-KR" sz="900" b="1" dirty="0">
                <a:solidFill>
                  <a:prstClr val="black"/>
                </a:solidFill>
              </a:rPr>
              <a:t>(</a:t>
            </a:r>
            <a:r>
              <a:rPr lang="en-US" altLang="ko-KR" sz="900" b="1" dirty="0" err="1">
                <a:solidFill>
                  <a:prstClr val="black"/>
                </a:solidFill>
              </a:rPr>
              <a:t>dl_docList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2044066"/>
            <a:ext cx="218546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품목목록 데이터 영역 </a:t>
            </a:r>
            <a:r>
              <a:rPr lang="en-US" altLang="ko-KR" sz="900" b="1" dirty="0">
                <a:solidFill>
                  <a:prstClr val="black"/>
                </a:solidFill>
              </a:rPr>
              <a:t>(</a:t>
            </a:r>
            <a:r>
              <a:rPr lang="en-US" altLang="ko-KR" sz="900" b="1" dirty="0" err="1">
                <a:solidFill>
                  <a:prstClr val="black"/>
                </a:solidFill>
              </a:rPr>
              <a:t>dl_itemList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atchDocNm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74833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2279560"/>
          <a:ext cx="8994883" cy="42662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inspShpNm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 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715861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 첨부 여부</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032134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재고번호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재고번호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207581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247431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spcfctNo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7473288"/>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308218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991601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0187606"/>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본조수량</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국가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496591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당국수량</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당해년도 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086774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장기국채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930376"/>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본조예산</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국가 예산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6449233"/>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당국예산</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당해년도 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275272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장기국채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1002352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수량합계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수량합계</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본조수량</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당국수량</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장국수량</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7695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393283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01054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471288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장비명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장비명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5786899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06675"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견적제출목록 데이터 영역 </a:t>
            </a:r>
            <a:r>
              <a:rPr lang="en-US" altLang="ko-KR" sz="900" b="1" dirty="0">
                <a:solidFill>
                  <a:prstClr val="black"/>
                </a:solidFill>
              </a:rPr>
              <a:t>(</a:t>
            </a:r>
            <a:r>
              <a:rPr lang="en-US" altLang="ko-KR" sz="900" b="1">
                <a:solidFill>
                  <a:prstClr val="black"/>
                </a:solidFill>
              </a:rPr>
              <a:t>dl_</a:t>
            </a:r>
            <a:r>
              <a:rPr lang="en-US" altLang="ko-KR" sz="900" b="1" dirty="0" err="1">
                <a:solidFill>
                  <a:prstClr val="black"/>
                </a:solidFill>
              </a:rPr>
              <a:t>etdcList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008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aplyBzentyNm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aplyBzentyRegCfmtnYmd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788739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부정당여부</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aplyBzentyUjstYn</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부정당여부</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312728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927363"/>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bidBzentyRegCfmtnYmd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입찰참가신청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94699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부정당여부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bidBzentyUjstYn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부정당여부</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1135837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사업자등록일자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bidBzentyBzmnRegYmd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입찰참가업체 사업자등록일자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438682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estmtAmt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업체가 제출한 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25,3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39005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crncUnit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견적금액의 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(FCUC)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88244228"/>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낙찰율</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scsbdRate</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908142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061213"/>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제출서류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smdoc</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제출서류여부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구분 </a:t>
                      </a:r>
                      <a:r>
                        <a:rPr lang="en-US" altLang="ko-KR" sz="800" dirty="0">
                          <a:latin typeface="+mn-ea"/>
                          <a:ea typeface="+mn-ea"/>
                        </a:rPr>
                        <a:t>(O/X)</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471068"/>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슬라이드 번호 개체 틀 4">
            <a:extLst>
              <a:ext uri="{FF2B5EF4-FFF2-40B4-BE49-F238E27FC236}">
                <a16:creationId xmlns:a16="http://schemas.microsoft.com/office/drawing/2014/main" id="{CE542789-D9EF-B9D8-7A24-6D5B3646CAB9}"/>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535</a:t>
            </a:fld>
            <a:endParaRPr lang="ko-KR" altLang="en-US"/>
          </a:p>
        </p:txBody>
      </p:sp>
      <p:sp>
        <p:nvSpPr>
          <p:cNvPr id="7" name="직사각형 6"/>
          <p:cNvSpPr/>
          <p:nvPr/>
        </p:nvSpPr>
        <p:spPr>
          <a:xfrm>
            <a:off x="461554" y="1264286"/>
            <a:ext cx="6598187" cy="5200693"/>
          </a:xfrm>
          <a:prstGeom prst="rect">
            <a:avLst/>
          </a:prstGeom>
          <a:solidFill>
            <a:srgbClr val="000000">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조달업무 담당자</a:t>
            </a:r>
            <a:r>
              <a:rPr lang="en-US" altLang="ko-KR" dirty="0" smtClean="0"/>
              <a:t>(</a:t>
            </a:r>
            <a:r>
              <a:rPr lang="ko-KR" altLang="en-US" dirty="0" smtClean="0"/>
              <a:t>관리자</a:t>
            </a:r>
            <a:r>
              <a:rPr lang="en-US" altLang="ko-KR" dirty="0" smtClean="0"/>
              <a:t>) </a:t>
            </a:r>
            <a:r>
              <a:rPr lang="ko-KR" altLang="en-US" dirty="0" smtClean="0"/>
              <a:t>화면으로</a:t>
            </a:r>
            <a:endParaRPr lang="en-US" altLang="ko-KR" dirty="0" smtClean="0"/>
          </a:p>
          <a:p>
            <a:pPr algn="ctr"/>
            <a:r>
              <a:rPr lang="ko-KR" altLang="en-US" dirty="0" smtClean="0"/>
              <a:t>모바일에서는 제공되지 않는 화면이</a:t>
            </a:r>
            <a:endParaRPr lang="en-US" altLang="ko-KR" dirty="0" smtClean="0"/>
          </a:p>
          <a:p>
            <a:pPr algn="ctr"/>
            <a:r>
              <a:rPr lang="ko-KR" altLang="en-US" dirty="0" err="1" smtClean="0"/>
              <a:t>설계화면에</a:t>
            </a:r>
            <a:r>
              <a:rPr lang="ko-KR" altLang="en-US" dirty="0" smtClean="0"/>
              <a:t> 잘못 포함되었음</a:t>
            </a:r>
            <a:r>
              <a:rPr lang="en-US" altLang="ko-KR" dirty="0" smtClean="0"/>
              <a:t>.</a:t>
            </a:r>
            <a:endParaRPr lang="ko-KR" altLang="en-US" dirty="0"/>
          </a:p>
        </p:txBody>
      </p:sp>
    </p:spTree>
    <p:extLst>
      <p:ext uri="{BB962C8B-B14F-4D97-AF65-F5344CB8AC3E}">
        <p14:creationId xmlns:p14="http://schemas.microsoft.com/office/powerpoint/2010/main" val="1778353851"/>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536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28" name="표 27">
            <a:extLst>
              <a:ext uri="{FF2B5EF4-FFF2-40B4-BE49-F238E27FC236}">
                <a16:creationId xmlns:a16="http://schemas.microsoft.com/office/drawing/2014/main" id="{89E1827E-1988-380A-F9F3-3955A79B0FE9}"/>
              </a:ext>
            </a:extLst>
          </p:cNvPr>
          <p:cNvGraphicFramePr>
            <a:graphicFrameLocks noGrp="1"/>
          </p:cNvGraphicFramePr>
          <p:nvPr>
            <p:extLst>
              <p:ext uri="{D42A27DB-BD31-4B8C-83A1-F6EECF244321}">
                <p14:modId xmlns:p14="http://schemas.microsoft.com/office/powerpoint/2010/main" val="4140686728"/>
              </p:ext>
            </p:extLst>
          </p:nvPr>
        </p:nvGraphicFramePr>
        <p:xfrm>
          <a:off x="453000" y="806012"/>
          <a:ext cx="8995591" cy="2526720"/>
        </p:xfrm>
        <a:graphic>
          <a:graphicData uri="http://schemas.openxmlformats.org/drawingml/2006/table">
            <a:tbl>
              <a:tblPr>
                <a:tableStyleId>{616DA210-FB5B-4158-B5E0-FEB733F419BA}</a:tableStyleId>
              </a:tblPr>
              <a:tblGrid>
                <a:gridCol w="1318650">
                  <a:extLst>
                    <a:ext uri="{9D8B030D-6E8A-4147-A177-3AD203B41FA5}">
                      <a16:colId xmlns:a16="http://schemas.microsoft.com/office/drawing/2014/main" val="20000"/>
                    </a:ext>
                  </a:extLst>
                </a:gridCol>
                <a:gridCol w="1343025">
                  <a:extLst>
                    <a:ext uri="{9D8B030D-6E8A-4147-A177-3AD203B41FA5}">
                      <a16:colId xmlns:a16="http://schemas.microsoft.com/office/drawing/2014/main" val="3103963203"/>
                    </a:ext>
                  </a:extLst>
                </a:gridCol>
                <a:gridCol w="3324225">
                  <a:extLst>
                    <a:ext uri="{9D8B030D-6E8A-4147-A177-3AD203B41FA5}">
                      <a16:colId xmlns:a16="http://schemas.microsoft.com/office/drawing/2014/main" val="20001"/>
                    </a:ext>
                  </a:extLst>
                </a:gridCol>
                <a:gridCol w="3009691">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 상세</a:t>
                      </a:r>
                      <a:r>
                        <a:rPr lang="en-US" altLang="ko-KR" sz="800" dirty="0">
                          <a:latin typeface="+mn-ea"/>
                          <a:ea typeface="+mn-ea"/>
                        </a:rPr>
                        <a:t>, </a:t>
                      </a:r>
                      <a:r>
                        <a:rPr lang="ko-KR" altLang="en-US" sz="800" dirty="0">
                          <a:latin typeface="+mn-ea"/>
                          <a:ea typeface="+mn-ea"/>
                        </a:rPr>
                        <a:t>품목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983474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재고번호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목록정보조회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MUI-OP-01-P76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6879205"/>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제출서류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MUI-BD-01-P76</a:t>
                      </a:r>
                      <a:r>
                        <a:rPr lang="ko-KR" altLang="en-US" sz="800" dirty="0" smtClean="0">
                          <a:latin typeface="+mn-ea"/>
                          <a:ea typeface="+mn-ea"/>
                        </a:rPr>
                        <a:t>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7988125"/>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환율정보조회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scwin.btn_exchrtInfo_onclick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환율정보조회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smtClean="0">
                          <a:latin typeface="+mn-ea"/>
                          <a:ea typeface="+mn-ea"/>
                        </a:rPr>
                        <a:t>MUI-BD-01-M74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9439186"/>
                  </a:ext>
                </a:extLst>
              </a:tr>
              <a:tr h="20318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견적서작성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scwin.btn_etdcWrt_onclick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공개수의협상견적서제출</a:t>
                      </a:r>
                      <a:r>
                        <a:rPr lang="ko-KR" altLang="en-US" sz="800" dirty="0">
                          <a:latin typeface="+mn-ea"/>
                          <a:ea typeface="+mn-ea"/>
                        </a:rPr>
                        <a:t>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조달업체인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견적서를 작성하지 않은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dirty="0">
                          <a:latin typeface="+mn-ea"/>
                          <a:ea typeface="+mn-ea"/>
                        </a:rPr>
                        <a:t>UI-BD-12-M74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7927878"/>
                  </a:ext>
                </a:extLst>
              </a:tr>
              <a:tr h="20318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견적서조회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scwin.btn_etdcSrch_onclick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공개수의협상견적서상세 </a:t>
                      </a:r>
                      <a:r>
                        <a:rPr lang="ko-KR" altLang="en-US" sz="800" dirty="0">
                          <a:latin typeface="+mn-ea"/>
                          <a:ea typeface="+mn-ea"/>
                        </a:rPr>
                        <a:t>화면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조달업체인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견적서를 작성한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dirty="0">
                          <a:latin typeface="+mn-ea"/>
                          <a:ea typeface="+mn-ea"/>
                        </a:rPr>
                        <a:t>UI-BD-12-M75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8604225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26215160"/>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537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1 -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70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97628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32276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92011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951461"/>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3033447"/>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7" name="그룹 96"/>
          <p:cNvGrpSpPr/>
          <p:nvPr/>
        </p:nvGrpSpPr>
        <p:grpSpPr>
          <a:xfrm rot="16200000">
            <a:off x="1250698" y="3398253"/>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5" name="그룹 4"/>
          <p:cNvGrpSpPr/>
          <p:nvPr/>
        </p:nvGrpSpPr>
        <p:grpSpPr>
          <a:xfrm>
            <a:off x="1628592" y="3327774"/>
            <a:ext cx="601002" cy="187961"/>
            <a:chOff x="1404036" y="2897630"/>
            <a:chExt cx="601002" cy="187961"/>
          </a:xfrm>
        </p:grpSpPr>
        <p:grpSp>
          <p:nvGrpSpPr>
            <p:cNvPr id="100" name="그룹 99"/>
            <p:cNvGrpSpPr/>
            <p:nvPr/>
          </p:nvGrpSpPr>
          <p:grpSpPr>
            <a:xfrm>
              <a:off x="1404036" y="2897630"/>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서명</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968109"/>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7" name="그룹 6"/>
          <p:cNvGrpSpPr/>
          <p:nvPr/>
        </p:nvGrpSpPr>
        <p:grpSpPr>
          <a:xfrm>
            <a:off x="747926" y="3327774"/>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신청서</a:t>
              </a:r>
            </a:p>
          </p:txBody>
        </p:sp>
      </p:grpSp>
      <p:grpSp>
        <p:nvGrpSpPr>
          <p:cNvPr id="116" name="그룹 115"/>
          <p:cNvGrpSpPr/>
          <p:nvPr/>
        </p:nvGrpSpPr>
        <p:grpSpPr>
          <a:xfrm>
            <a:off x="2509258" y="3327774"/>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9" name="그룹 8"/>
          <p:cNvGrpSpPr/>
          <p:nvPr/>
        </p:nvGrpSpPr>
        <p:grpSpPr>
          <a:xfrm>
            <a:off x="675399" y="3988045"/>
            <a:ext cx="2712027" cy="337161"/>
            <a:chOff x="675399" y="3557901"/>
            <a:chExt cx="2712027" cy="337161"/>
          </a:xfrm>
        </p:grpSpPr>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40332"/>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40" name="그룹 239"/>
          <p:cNvGrpSpPr/>
          <p:nvPr/>
        </p:nvGrpSpPr>
        <p:grpSpPr>
          <a:xfrm>
            <a:off x="675399" y="2366764"/>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60001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68222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71357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795558"/>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406701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442819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1" name="모서리가 둥근 직사각형 150"/>
          <p:cNvSpPr/>
          <p:nvPr/>
        </p:nvSpPr>
        <p:spPr>
          <a:xfrm rot="5400000">
            <a:off x="2662242" y="317751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1903990"/>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40" name="그룹 139"/>
          <p:cNvGrpSpPr/>
          <p:nvPr/>
        </p:nvGrpSpPr>
        <p:grpSpPr>
          <a:xfrm>
            <a:off x="3795734" y="1495163"/>
            <a:ext cx="2712027" cy="334927"/>
            <a:chOff x="675399" y="3560135"/>
            <a:chExt cx="2712027" cy="334927"/>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45" name="직선 연결선 144">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6" name="그룹 145"/>
            <p:cNvGrpSpPr/>
            <p:nvPr/>
          </p:nvGrpSpPr>
          <p:grpSpPr>
            <a:xfrm>
              <a:off x="2924086" y="3640332"/>
              <a:ext cx="422853" cy="187961"/>
              <a:chOff x="3641308" y="2234886"/>
              <a:chExt cx="422853" cy="187961"/>
            </a:xfrm>
          </p:grpSpPr>
          <p:sp>
            <p:nvSpPr>
              <p:cNvPr id="164" name="타원 16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5" name="그룹 154"/>
          <p:cNvGrpSpPr/>
          <p:nvPr/>
        </p:nvGrpSpPr>
        <p:grpSpPr>
          <a:xfrm>
            <a:off x="720490" y="4387356"/>
            <a:ext cx="2660475" cy="2281943"/>
            <a:chOff x="720490" y="3803374"/>
            <a:chExt cx="2660475" cy="2281943"/>
          </a:xfrm>
        </p:grpSpPr>
        <p:sp>
          <p:nvSpPr>
            <p:cNvPr id="156" name="TextBox 15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43548" y="3916705"/>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8" name="직사각형 157"/>
            <p:cNvSpPr/>
            <p:nvPr/>
          </p:nvSpPr>
          <p:spPr>
            <a:xfrm>
              <a:off x="722583" y="4110859"/>
              <a:ext cx="792000" cy="19744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809647" y="4110859"/>
              <a:ext cx="764551" cy="193899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566495" y="4110859"/>
              <a:ext cx="1814470" cy="193899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30" name="그룹 129"/>
          <p:cNvGrpSpPr/>
          <p:nvPr/>
        </p:nvGrpSpPr>
        <p:grpSpPr>
          <a:xfrm>
            <a:off x="677960" y="1582647"/>
            <a:ext cx="2714637" cy="686386"/>
            <a:chOff x="677960" y="1582647"/>
            <a:chExt cx="2714637" cy="686386"/>
          </a:xfrm>
        </p:grpSpPr>
        <p:sp>
          <p:nvSpPr>
            <p:cNvPr id="131" name="TextBox 130">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smtClean="0">
                  <a:latin typeface="+mn-ea"/>
                </a:rPr>
                <a:t>입찰서 제출</a:t>
              </a:r>
              <a:endParaRPr lang="ko-KR" altLang="en-US" sz="800" dirty="0">
                <a:latin typeface="+mn-ea"/>
              </a:endParaRP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5" name="그룹 134"/>
            <p:cNvGrpSpPr/>
            <p:nvPr/>
          </p:nvGrpSpPr>
          <p:grpSpPr>
            <a:xfrm rot="5400000">
              <a:off x="852159" y="2062596"/>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9" name="직선 연결선 1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36" name="그룹 135"/>
            <p:cNvGrpSpPr/>
            <p:nvPr/>
          </p:nvGrpSpPr>
          <p:grpSpPr>
            <a:xfrm>
              <a:off x="677960" y="1582647"/>
              <a:ext cx="2712027" cy="324286"/>
              <a:chOff x="677960" y="1582647"/>
              <a:chExt cx="2712027" cy="324286"/>
            </a:xfrm>
          </p:grpSpPr>
          <p:pic>
            <p:nvPicPr>
              <p:cNvPr id="137"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38" name="직선 연결선 137">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타원 138"/>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3" name="타원 162"/>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타원 175"/>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3107619791"/>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538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1 -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MUI-BD-12-T74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59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63" name="그룹 262"/>
          <p:cNvGrpSpPr/>
          <p:nvPr/>
        </p:nvGrpSpPr>
        <p:grpSpPr>
          <a:xfrm>
            <a:off x="675400" y="1496661"/>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745408"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94" name="그룹 93"/>
          <p:cNvGrpSpPr/>
          <p:nvPr/>
        </p:nvGrpSpPr>
        <p:grpSpPr>
          <a:xfrm>
            <a:off x="3791609" y="1496661"/>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736655"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12" name="그룹 111"/>
          <p:cNvGrpSpPr/>
          <p:nvPr/>
        </p:nvGrpSpPr>
        <p:grpSpPr>
          <a:xfrm>
            <a:off x="3795734" y="5614711"/>
            <a:ext cx="2712027" cy="617588"/>
            <a:chOff x="675399" y="5614711"/>
            <a:chExt cx="2712027" cy="617588"/>
          </a:xfrm>
        </p:grpSpPr>
        <p:sp>
          <p:nvSpPr>
            <p:cNvPr id="113" name="직사각형 1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1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120" name="그룹 119"/>
          <p:cNvGrpSpPr/>
          <p:nvPr/>
        </p:nvGrpSpPr>
        <p:grpSpPr>
          <a:xfrm>
            <a:off x="701175" y="1898358"/>
            <a:ext cx="2630093" cy="2892808"/>
            <a:chOff x="701175" y="1527996"/>
            <a:chExt cx="2630093" cy="2892808"/>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22" name="그룹 121"/>
            <p:cNvGrpSpPr/>
            <p:nvPr/>
          </p:nvGrpSpPr>
          <p:grpSpPr>
            <a:xfrm flipV="1">
              <a:off x="3124233" y="1641327"/>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3" name="직사각형 122"/>
            <p:cNvSpPr/>
            <p:nvPr/>
          </p:nvSpPr>
          <p:spPr>
            <a:xfrm>
              <a:off x="703268" y="1835482"/>
              <a:ext cx="792000" cy="2576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2025-03-02</a:t>
              </a:r>
            </a:p>
            <a:p>
              <a:pPr>
                <a:lnSpc>
                  <a:spcPct val="200000"/>
                </a:lnSpc>
              </a:pPr>
              <a:r>
                <a:rPr lang="en-US" altLang="ko-KR" sz="700" dirty="0">
                  <a:latin typeface="+mn-ea"/>
                </a:rPr>
                <a:t>2025-03-02 15:00:00</a:t>
              </a:r>
            </a:p>
          </p:txBody>
        </p:sp>
        <p:grpSp>
          <p:nvGrpSpPr>
            <p:cNvPr id="127" name="그룹 126"/>
            <p:cNvGrpSpPr/>
            <p:nvPr/>
          </p:nvGrpSpPr>
          <p:grpSpPr>
            <a:xfrm>
              <a:off x="701175" y="1835481"/>
              <a:ext cx="2630093" cy="2576880"/>
              <a:chOff x="701175" y="1835481"/>
              <a:chExt cx="2630093" cy="2576880"/>
            </a:xfrm>
          </p:grpSpPr>
          <p:cxnSp>
            <p:nvCxnSpPr>
              <p:cNvPr id="129" name="직선 연결선 12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TextBox 127">
              <a:extLst>
                <a:ext uri="{FF2B5EF4-FFF2-40B4-BE49-F238E27FC236}">
                  <a16:creationId xmlns:a16="http://schemas.microsoft.com/office/drawing/2014/main" id="{FFC49AEA-2A8F-250C-A86A-A7751D9706C3}"/>
                </a:ext>
              </a:extLst>
            </p:cNvPr>
            <p:cNvSpPr txBox="1"/>
            <p:nvPr/>
          </p:nvSpPr>
          <p:spPr>
            <a:xfrm>
              <a:off x="790330" y="3767437"/>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grpSp>
        <p:nvGrpSpPr>
          <p:cNvPr id="144" name="그룹 143"/>
          <p:cNvGrpSpPr/>
          <p:nvPr/>
        </p:nvGrpSpPr>
        <p:grpSpPr>
          <a:xfrm>
            <a:off x="3795735" y="1904396"/>
            <a:ext cx="2712026" cy="944800"/>
            <a:chOff x="3795735" y="4570486"/>
            <a:chExt cx="2712026" cy="944800"/>
          </a:xfrm>
        </p:grpSpPr>
        <p:sp>
          <p:nvSpPr>
            <p:cNvPr id="145" name="TextBox 14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46" name="그룹 145"/>
            <p:cNvGrpSpPr/>
            <p:nvPr/>
          </p:nvGrpSpPr>
          <p:grpSpPr>
            <a:xfrm flipV="1">
              <a:off x="6240167" y="4729163"/>
              <a:ext cx="94010" cy="47005"/>
              <a:chOff x="6812560" y="3297172"/>
              <a:chExt cx="94010" cy="47005"/>
            </a:xfrm>
          </p:grpSpPr>
          <p:cxnSp>
            <p:nvCxnSpPr>
              <p:cNvPr id="164" name="직선 연결선 1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1" name="직선 연결선 18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모서리가 둥근 직사각형 15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3" name="TextBox 152">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154" name="TextBox 153">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222887474"/>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539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2 -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MUI-BD-12-T75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771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모서리가 둥근 직사각형 151"/>
          <p:cNvSpPr/>
          <p:nvPr/>
        </p:nvSpPr>
        <p:spPr>
          <a:xfrm rot="5400000">
            <a:off x="5780626" y="312037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10" name="그룹 209"/>
          <p:cNvGrpSpPr/>
          <p:nvPr/>
        </p:nvGrpSpPr>
        <p:grpSpPr>
          <a:xfrm flipV="1">
            <a:off x="3139424" y="1988757"/>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3" name="그룹 262"/>
          <p:cNvGrpSpPr/>
          <p:nvPr/>
        </p:nvGrpSpPr>
        <p:grpSpPr>
          <a:xfrm>
            <a:off x="675400" y="1498383"/>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1338277"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85" name="그룹 284"/>
          <p:cNvGrpSpPr/>
          <p:nvPr/>
        </p:nvGrpSpPr>
        <p:grpSpPr>
          <a:xfrm>
            <a:off x="716366" y="1897558"/>
            <a:ext cx="2630093" cy="1815590"/>
            <a:chOff x="3791188" y="2611009"/>
            <a:chExt cx="2630093" cy="1815590"/>
          </a:xfrm>
        </p:grpSpPr>
        <p:sp>
          <p:nvSpPr>
            <p:cNvPr id="286" name="TextBox 28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287" name="직사각형 286"/>
            <p:cNvSpPr/>
            <p:nvPr/>
          </p:nvSpPr>
          <p:spPr>
            <a:xfrm>
              <a:off x="3793281" y="2918495"/>
              <a:ext cx="792000" cy="15075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8" name="직선 연결선 28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9" name="TextBox 288">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290" name="TextBox 289">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2" name="직선 연결선 29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3" name="직선 연결선 29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4" name="직선 연결선 29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7" name="직선 연결선 2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300" name="그룹 299"/>
          <p:cNvGrpSpPr/>
          <p:nvPr/>
        </p:nvGrpSpPr>
        <p:grpSpPr>
          <a:xfrm>
            <a:off x="3836701" y="1897558"/>
            <a:ext cx="2630093" cy="2031034"/>
            <a:chOff x="3791188" y="2611009"/>
            <a:chExt cx="2630093" cy="2031034"/>
          </a:xfrm>
        </p:grpSpPr>
        <p:sp>
          <p:nvSpPr>
            <p:cNvPr id="301" name="TextBox 3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302" name="직사각형 3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3" name="직선 연결선 3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4" name="TextBox 303">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endParaRPr lang="en-US" altLang="ko-KR" sz="700" dirty="0">
                <a:latin typeface="+mn-ea"/>
              </a:endParaRP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3" name="직선 연결선 312">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15" name="그룹 314"/>
          <p:cNvGrpSpPr/>
          <p:nvPr/>
        </p:nvGrpSpPr>
        <p:grpSpPr>
          <a:xfrm flipV="1">
            <a:off x="6279313" y="1988757"/>
            <a:ext cx="94010" cy="47005"/>
            <a:chOff x="6812560" y="3297172"/>
            <a:chExt cx="94010" cy="47005"/>
          </a:xfrm>
        </p:grpSpPr>
        <p:cxnSp>
          <p:nvCxnSpPr>
            <p:cNvPr id="320" name="직선 연결선 3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3" name="직선 연결선 3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4" name="그룹 93"/>
          <p:cNvGrpSpPr/>
          <p:nvPr/>
        </p:nvGrpSpPr>
        <p:grpSpPr>
          <a:xfrm>
            <a:off x="3791609" y="1498383"/>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1351155"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112" name="그룹 111"/>
          <p:cNvGrpSpPr/>
          <p:nvPr/>
        </p:nvGrpSpPr>
        <p:grpSpPr>
          <a:xfrm>
            <a:off x="3795734" y="5614711"/>
            <a:ext cx="2712027" cy="617588"/>
            <a:chOff x="675399" y="5614711"/>
            <a:chExt cx="2712027" cy="617588"/>
          </a:xfrm>
        </p:grpSpPr>
        <p:sp>
          <p:nvSpPr>
            <p:cNvPr id="113" name="직사각형 1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1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16" name="사각형: 둥근 모서리 15">
            <a:extLst>
              <a:ext uri="{FF2B5EF4-FFF2-40B4-BE49-F238E27FC236}">
                <a16:creationId xmlns:a16="http://schemas.microsoft.com/office/drawing/2014/main" id="{E2B61CFB-AD16-68D0-8752-50D9C5E01971}"/>
              </a:ext>
            </a:extLst>
          </p:cNvPr>
          <p:cNvSpPr/>
          <p:nvPr/>
        </p:nvSpPr>
        <p:spPr>
          <a:xfrm>
            <a:off x="4672608" y="2244786"/>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lang="en-US" altLang="ko-KR" sz="700" dirty="0">
                <a:latin typeface="+mn-ea"/>
              </a:rPr>
              <a:t>7004F</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17" name="그룹 116"/>
          <p:cNvGrpSpPr/>
          <p:nvPr/>
        </p:nvGrpSpPr>
        <p:grpSpPr>
          <a:xfrm>
            <a:off x="6279313" y="2302284"/>
            <a:ext cx="94010" cy="47005"/>
            <a:chOff x="6812560" y="3297172"/>
            <a:chExt cx="94010" cy="47005"/>
          </a:xfrm>
        </p:grpSpPr>
        <p:cxnSp>
          <p:nvCxnSpPr>
            <p:cNvPr id="118" name="직선 연결선 1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9" name="직선 연결선 1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139249542"/>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a:t>
            </a:r>
            <a:r>
              <a:rPr lang="ko-KR" altLang="en-US" dirty="0" smtClean="0"/>
              <a:t>영역</a:t>
            </a:r>
            <a:endParaRPr lang="en-US" altLang="ko-KR" dirty="0" smtClean="0"/>
          </a:p>
          <a:p>
            <a:pPr marL="228600" indent="-228600">
              <a:buFont typeface="+mj-lt"/>
              <a:buAutoNum type="arabicPeriod"/>
            </a:pPr>
            <a:endParaRPr lang="en-US" altLang="ko-KR" dirty="0"/>
          </a:p>
          <a:p>
            <a:pPr marL="228600" indent="-228600">
              <a:buFont typeface="+mj-lt"/>
              <a:buAutoNum type="arabicPeriod"/>
            </a:pPr>
            <a:r>
              <a:rPr lang="ko-KR" altLang="en-US" dirty="0" smtClean="0"/>
              <a:t>품목대체구분</a:t>
            </a:r>
            <a:r>
              <a:rPr lang="en-US" altLang="ko-KR" dirty="0"/>
              <a:t>, </a:t>
            </a:r>
            <a:r>
              <a:rPr lang="ko-KR" altLang="en-US" dirty="0"/>
              <a:t>수정재고번호</a:t>
            </a:r>
            <a:r>
              <a:rPr lang="en-US" altLang="ko-KR" dirty="0"/>
              <a:t>, </a:t>
            </a:r>
            <a:r>
              <a:rPr lang="ko-KR" altLang="en-US" dirty="0"/>
              <a:t>수정부품번호</a:t>
            </a:r>
            <a:r>
              <a:rPr lang="en-US" altLang="ko-KR" dirty="0"/>
              <a:t/>
            </a:r>
            <a:br>
              <a:rPr lang="en-US" altLang="ko-KR" dirty="0"/>
            </a:br>
            <a:r>
              <a:rPr lang="en-US" altLang="ko-KR" dirty="0"/>
              <a:t>- </a:t>
            </a:r>
            <a:r>
              <a:rPr lang="ko-KR" altLang="en-US" dirty="0"/>
              <a:t>개발 시 추가 확인 필요사항</a:t>
            </a:r>
            <a:r>
              <a:rPr lang="en-US" altLang="ko-KR" dirty="0"/>
              <a:t>.</a:t>
            </a:r>
            <a:br>
              <a:rPr lang="en-US" altLang="ko-KR" dirty="0"/>
            </a:br>
            <a:r>
              <a:rPr lang="en-US" altLang="ko-KR" dirty="0"/>
              <a:t>  &gt; </a:t>
            </a:r>
            <a:r>
              <a:rPr lang="ko-KR" altLang="en-US" dirty="0"/>
              <a:t>관리자만 수정 가능한 항목으로 보이는데</a:t>
            </a:r>
            <a:r>
              <a:rPr lang="en-US" altLang="ko-KR" dirty="0"/>
              <a:t>, </a:t>
            </a:r>
            <a:r>
              <a:rPr lang="ko-KR" altLang="en-US" dirty="0" err="1"/>
              <a:t>응용팀</a:t>
            </a:r>
            <a:r>
              <a:rPr lang="ko-KR" altLang="en-US" dirty="0"/>
              <a:t> 설계에 별도 명시된 수정 가능 사용자 정의 </a:t>
            </a:r>
            <a:r>
              <a:rPr lang="ko-KR" altLang="en-US" dirty="0" smtClean="0"/>
              <a:t>없음</a:t>
            </a:r>
            <a:r>
              <a:rPr lang="en-US" altLang="ko-KR" dirty="0" smtClean="0"/>
              <a:t/>
            </a:r>
            <a:br>
              <a:rPr lang="en-US" altLang="ko-KR" dirty="0" smtClean="0"/>
            </a:br>
            <a:r>
              <a:rPr lang="en-US" altLang="ko-KR" dirty="0" smtClean="0"/>
              <a:t>- </a:t>
            </a:r>
            <a:r>
              <a:rPr lang="ko-KR" altLang="en-US" dirty="0" smtClean="0"/>
              <a:t>수정</a:t>
            </a:r>
            <a:r>
              <a:rPr lang="en-US" altLang="ko-KR" dirty="0"/>
              <a:t> </a:t>
            </a:r>
            <a:r>
              <a:rPr lang="ko-KR" altLang="en-US" dirty="0" smtClean="0"/>
              <a:t>가능한 </a:t>
            </a:r>
            <a:r>
              <a:rPr lang="ko-KR" altLang="en-US" dirty="0" err="1" smtClean="0"/>
              <a:t>상태인경우</a:t>
            </a:r>
            <a:r>
              <a:rPr lang="ko-KR" altLang="en-US" dirty="0" smtClean="0"/>
              <a:t> 현재 화면 그대로 사용</a:t>
            </a:r>
            <a:r>
              <a:rPr lang="en-US" altLang="ko-KR" dirty="0" smtClean="0"/>
              <a:t/>
            </a:r>
            <a:br>
              <a:rPr lang="en-US" altLang="ko-KR" dirty="0" smtClean="0"/>
            </a:br>
            <a:r>
              <a:rPr lang="en-US" altLang="ko-KR" dirty="0" smtClean="0"/>
              <a:t>- </a:t>
            </a:r>
            <a:r>
              <a:rPr lang="ko-KR" altLang="en-US" dirty="0" smtClean="0"/>
              <a:t>수정이 불가능한 상태인 경우 </a:t>
            </a:r>
            <a:r>
              <a:rPr lang="ko-KR" altLang="en-US" dirty="0" err="1" smtClean="0"/>
              <a:t>상세화면과</a:t>
            </a:r>
            <a:r>
              <a:rPr lang="ko-KR" altLang="en-US" dirty="0" smtClean="0"/>
              <a:t> 같이 정보 표시</a:t>
            </a:r>
            <a:r>
              <a:rPr lang="en-US" altLang="ko-KR" dirty="0" smtClean="0"/>
              <a:t/>
            </a:r>
            <a:br>
              <a:rPr lang="en-US" altLang="ko-KR" dirty="0" smtClean="0"/>
            </a:br>
            <a:r>
              <a:rPr lang="en-US" altLang="ko-KR" dirty="0" smtClean="0"/>
              <a:t>  &gt; </a:t>
            </a:r>
            <a:r>
              <a:rPr lang="ko-KR" altLang="en-US" dirty="0" err="1" smtClean="0"/>
              <a:t>첨부문서는</a:t>
            </a:r>
            <a:r>
              <a:rPr lang="ko-KR" altLang="en-US" dirty="0" smtClean="0"/>
              <a:t> 보기 버튼 표시하고</a:t>
            </a:r>
            <a:r>
              <a:rPr lang="en-US" altLang="ko-KR" dirty="0" smtClean="0"/>
              <a:t>, </a:t>
            </a:r>
            <a:r>
              <a:rPr lang="ko-KR" altLang="en-US" dirty="0" smtClean="0"/>
              <a:t>클릭 시 </a:t>
            </a:r>
            <a:r>
              <a:rPr lang="en-US" altLang="ko-KR" dirty="0" smtClean="0"/>
              <a:t>MUI-BD-01-P76 </a:t>
            </a:r>
            <a:r>
              <a:rPr lang="ko-KR" altLang="en-US" dirty="0" smtClean="0"/>
              <a:t>첨부파일조회 호출</a:t>
            </a:r>
            <a:endParaRPr lang="en-US" altLang="ko-KR" dirty="0"/>
          </a:p>
          <a:p>
            <a:pPr marL="228600" indent="-228600">
              <a:buFont typeface="+mj-lt"/>
              <a:buAutoNum type="arabicPeriod"/>
            </a:pP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540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3</a:t>
            </a:r>
            <a:r>
              <a:rPr lang="ko-KR" altLang="en-US" dirty="0">
                <a:latin typeface="+mn-ea"/>
              </a:rPr>
              <a:t> </a:t>
            </a:r>
            <a:r>
              <a:rPr lang="en-US" altLang="ko-KR" dirty="0">
                <a:latin typeface="+mn-ea"/>
              </a:rPr>
              <a:t>- </a:t>
            </a:r>
            <a:r>
              <a:rPr lang="ko-KR" altLang="en-US" dirty="0" err="1">
                <a:latin typeface="+mn-ea"/>
              </a:rPr>
              <a:t>입찰품목</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MUI-BD-12-T76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7" name="타원 326">
            <a:extLst>
              <a:ext uri="{FF2B5EF4-FFF2-40B4-BE49-F238E27FC236}">
                <a16:creationId xmlns:a16="http://schemas.microsoft.com/office/drawing/2014/main" id="{37A7FF4F-0EAA-1463-560A-D5EC24416103}"/>
              </a:ext>
            </a:extLst>
          </p:cNvPr>
          <p:cNvSpPr/>
          <p:nvPr/>
        </p:nvSpPr>
        <p:spPr>
          <a:xfrm>
            <a:off x="589334" y="19535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4231441"/>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264676"/>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255044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59" name="그룹 158"/>
          <p:cNvGrpSpPr/>
          <p:nvPr/>
        </p:nvGrpSpPr>
        <p:grpSpPr>
          <a:xfrm>
            <a:off x="701175" y="1904846"/>
            <a:ext cx="2630093" cy="3557641"/>
            <a:chOff x="701175" y="1527996"/>
            <a:chExt cx="2630093" cy="3557641"/>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2"/>
              <a:ext cx="792000" cy="3006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2981907"/>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ko-KR" altLang="en-US" sz="700" dirty="0" err="1">
                  <a:latin typeface="+mn-ea"/>
                </a:rPr>
                <a:t>견적단가</a:t>
              </a:r>
              <a:endParaRPr lang="ko-KR" altLang="en-US" sz="700" dirty="0">
                <a:latin typeface="+mn-ea"/>
              </a:endParaRPr>
            </a:p>
            <a:p>
              <a:pPr>
                <a:lnSpc>
                  <a:spcPct val="200000"/>
                </a:lnSpc>
              </a:pPr>
              <a:r>
                <a:rPr lang="ko-KR" altLang="en-US" sz="700" dirty="0" err="1">
                  <a:latin typeface="+mn-ea"/>
                </a:rPr>
                <a:t>견적금액</a:t>
              </a:r>
              <a:endParaRPr lang="ko-KR" altLang="en-US" sz="700" dirty="0">
                <a:latin typeface="+mn-ea"/>
              </a:endParaRPr>
            </a:p>
            <a:p>
              <a:pPr>
                <a:lnSpc>
                  <a:spcPct val="200000"/>
                </a:lnSpc>
              </a:pPr>
              <a:r>
                <a:rPr lang="ko-KR" altLang="en-US" sz="700" dirty="0">
                  <a:latin typeface="+mn-ea"/>
                </a:rPr>
                <a:t>화폐단위</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280076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endParaRPr lang="en-US" altLang="ko-KR" sz="700" dirty="0">
                <a:latin typeface="+mn-ea"/>
              </a:endParaRPr>
            </a:p>
            <a:p>
              <a:pPr>
                <a:lnSpc>
                  <a:spcPct val="200000"/>
                </a:lnSpc>
              </a:pPr>
              <a:r>
                <a:rPr lang="en-US" altLang="ko-KR" sz="700" dirty="0">
                  <a:solidFill>
                    <a:srgbClr val="0070C0"/>
                  </a:solidFill>
                  <a:latin typeface="+mn-ea"/>
                </a:rPr>
                <a:t>File.pdf</a:t>
              </a:r>
            </a:p>
            <a:p>
              <a:pPr>
                <a:lnSpc>
                  <a:spcPct val="200000"/>
                </a:lnSpc>
              </a:pPr>
              <a:endParaRPr lang="en-US" altLang="ko-KR" sz="700" dirty="0" smtClean="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608,000.00</a:t>
              </a:r>
            </a:p>
          </p:txBody>
        </p:sp>
        <p:grpSp>
          <p:nvGrpSpPr>
            <p:cNvPr id="194" name="그룹 193"/>
            <p:cNvGrpSpPr/>
            <p:nvPr/>
          </p:nvGrpSpPr>
          <p:grpSpPr>
            <a:xfrm>
              <a:off x="701175" y="1835481"/>
              <a:ext cx="2630093" cy="3250156"/>
              <a:chOff x="701175" y="1835481"/>
              <a:chExt cx="2630093" cy="3250156"/>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856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69" name="그룹 268"/>
          <p:cNvGrpSpPr/>
          <p:nvPr/>
        </p:nvGrpSpPr>
        <p:grpSpPr>
          <a:xfrm>
            <a:off x="3795734" y="5743373"/>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48" name="사각형: 둥근 모서리 15">
            <a:extLst>
              <a:ext uri="{FF2B5EF4-FFF2-40B4-BE49-F238E27FC236}">
                <a16:creationId xmlns:a16="http://schemas.microsoft.com/office/drawing/2014/main" id="{E2B61CFB-AD16-68D0-8752-50D9C5E01971}"/>
              </a:ext>
            </a:extLst>
          </p:cNvPr>
          <p:cNvSpPr/>
          <p:nvPr/>
        </p:nvSpPr>
        <p:spPr>
          <a:xfrm>
            <a:off x="1556922" y="459892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234" name="직사각형 233"/>
          <p:cNvSpPr/>
          <p:nvPr/>
        </p:nvSpPr>
        <p:spPr>
          <a:xfrm>
            <a:off x="3820170" y="197511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197511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197511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197511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286061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790250" y="525920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grpSp>
        <p:nvGrpSpPr>
          <p:cNvPr id="130" name="그룹 129"/>
          <p:cNvGrpSpPr/>
          <p:nvPr/>
        </p:nvGrpSpPr>
        <p:grpSpPr>
          <a:xfrm>
            <a:off x="675400" y="1502206"/>
            <a:ext cx="2712027" cy="334927"/>
            <a:chOff x="675399" y="3560135"/>
            <a:chExt cx="2712027" cy="334927"/>
          </a:xfrm>
        </p:grpSpPr>
        <p:cxnSp>
          <p:nvCxnSpPr>
            <p:cNvPr id="131" name="직선 연결선 13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199853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2924086" y="3640332"/>
              <a:ext cx="422853" cy="187961"/>
              <a:chOff x="3641308" y="2234886"/>
              <a:chExt cx="422853" cy="187961"/>
            </a:xfrm>
          </p:grpSpPr>
          <p:sp>
            <p:nvSpPr>
              <p:cNvPr id="140" name="타원 13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2" name="타원 14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3" name="그룹 142"/>
              <p:cNvGrpSpPr/>
              <p:nvPr/>
            </p:nvGrpSpPr>
            <p:grpSpPr>
              <a:xfrm rot="16200000">
                <a:off x="3931564"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7" name="직선 연결선 13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55" name="그룹 154"/>
          <p:cNvGrpSpPr/>
          <p:nvPr/>
        </p:nvGrpSpPr>
        <p:grpSpPr>
          <a:xfrm>
            <a:off x="3791609" y="1502206"/>
            <a:ext cx="2712027" cy="334927"/>
            <a:chOff x="675399" y="3560135"/>
            <a:chExt cx="2712027" cy="334927"/>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2003985"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7" name="그룹 166"/>
            <p:cNvGrpSpPr/>
            <p:nvPr/>
          </p:nvGrpSpPr>
          <p:grpSpPr>
            <a:xfrm>
              <a:off x="2924086" y="3640332"/>
              <a:ext cx="422853" cy="187961"/>
              <a:chOff x="3641308" y="2234886"/>
              <a:chExt cx="422853" cy="187961"/>
            </a:xfrm>
          </p:grpSpPr>
          <p:sp>
            <p:nvSpPr>
              <p:cNvPr id="171" name="타원 17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2" name="그룹 171"/>
              <p:cNvGrpSpPr/>
              <p:nvPr/>
            </p:nvGrpSpPr>
            <p:grpSpPr>
              <a:xfrm rot="5400000" flipH="1">
                <a:off x="3679895"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타원 17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4" name="그룹 173"/>
              <p:cNvGrpSpPr/>
              <p:nvPr/>
            </p:nvGrpSpPr>
            <p:grpSpPr>
              <a:xfrm rot="16200000">
                <a:off x="3931564" y="2305364"/>
                <a:ext cx="94010" cy="47005"/>
                <a:chOff x="6812560" y="3297172"/>
                <a:chExt cx="94010" cy="47005"/>
              </a:xfrm>
            </p:grpSpPr>
            <p:cxnSp>
              <p:nvCxnSpPr>
                <p:cNvPr id="175" name="직선 연결선 1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6" name="직선 연결선 1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8" name="직선 연결선 16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79" name="사각형: 둥근 모서리 15">
            <a:extLst>
              <a:ext uri="{FF2B5EF4-FFF2-40B4-BE49-F238E27FC236}">
                <a16:creationId xmlns:a16="http://schemas.microsoft.com/office/drawing/2014/main" id="{E2B61CFB-AD16-68D0-8752-50D9C5E01971}"/>
              </a:ext>
            </a:extLst>
          </p:cNvPr>
          <p:cNvSpPr/>
          <p:nvPr/>
        </p:nvSpPr>
        <p:spPr>
          <a:xfrm>
            <a:off x="1556922" y="503555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미 달러</a:t>
            </a:r>
            <a:endParaRPr kumimoji="1" lang="en-US" sz="700" b="0" i="0" u="none" strike="noStrike" kern="0" cap="none" spc="0" normalizeH="0" baseline="0" noProof="0" dirty="0">
              <a:ln>
                <a:noFill/>
              </a:ln>
              <a:effectLst/>
              <a:uLnTx/>
              <a:uFillTx/>
              <a:latin typeface="맑은 고딕"/>
            </a:endParaRPr>
          </a:p>
        </p:txBody>
      </p:sp>
      <p:grpSp>
        <p:nvGrpSpPr>
          <p:cNvPr id="180" name="그룹 179"/>
          <p:cNvGrpSpPr/>
          <p:nvPr/>
        </p:nvGrpSpPr>
        <p:grpSpPr>
          <a:xfrm>
            <a:off x="3163627" y="5086956"/>
            <a:ext cx="94010" cy="47005"/>
            <a:chOff x="6812560" y="3297172"/>
            <a:chExt cx="94010" cy="47005"/>
          </a:xfrm>
        </p:grpSpPr>
        <p:cxnSp>
          <p:nvCxnSpPr>
            <p:cNvPr id="181" name="직선 연결선 1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2" name="직선 연결선 1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3" name="사각형: 둥근 모서리 15">
            <a:extLst>
              <a:ext uri="{FF2B5EF4-FFF2-40B4-BE49-F238E27FC236}">
                <a16:creationId xmlns:a16="http://schemas.microsoft.com/office/drawing/2014/main" id="{E2B61CFB-AD16-68D0-8752-50D9C5E01971}"/>
              </a:ext>
            </a:extLst>
          </p:cNvPr>
          <p:cNvSpPr/>
          <p:nvPr/>
        </p:nvSpPr>
        <p:spPr>
          <a:xfrm>
            <a:off x="2836921" y="3954590"/>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smtClean="0">
                <a:ln>
                  <a:noFill/>
                </a:ln>
                <a:effectLst/>
                <a:uLnTx/>
                <a:uFillTx/>
                <a:latin typeface="맑은 고딕"/>
              </a:rPr>
              <a:t>파일첨부</a:t>
            </a:r>
            <a:endParaRPr kumimoji="1" lang="en-US" sz="700" b="0" i="0" u="none" strike="noStrike" kern="0" cap="none" spc="0" normalizeH="0" baseline="0" noProof="0" dirty="0">
              <a:ln>
                <a:noFill/>
              </a:ln>
              <a:effectLst/>
              <a:uLnTx/>
              <a:uFillTx/>
              <a:latin typeface="맑은 고딕"/>
            </a:endParaRPr>
          </a:p>
        </p:txBody>
      </p:sp>
      <p:sp>
        <p:nvSpPr>
          <p:cNvPr id="110" name="사각형: 둥근 모서리 15">
            <a:extLst>
              <a:ext uri="{FF2B5EF4-FFF2-40B4-BE49-F238E27FC236}">
                <a16:creationId xmlns:a16="http://schemas.microsoft.com/office/drawing/2014/main" id="{E2B61CFB-AD16-68D0-8752-50D9C5E01971}"/>
              </a:ext>
            </a:extLst>
          </p:cNvPr>
          <p:cNvSpPr/>
          <p:nvPr/>
        </p:nvSpPr>
        <p:spPr>
          <a:xfrm>
            <a:off x="1556922" y="374529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b="0" i="0" u="none" strike="noStrike" kern="0" cap="none" spc="0" normalizeH="0" baseline="0" noProof="0" dirty="0" smtClean="0">
                <a:ln>
                  <a:noFill/>
                </a:ln>
                <a:effectLst/>
                <a:uLnTx/>
                <a:uFillTx/>
                <a:latin typeface="맑은 고딕"/>
              </a:rPr>
              <a:t>Y</a:t>
            </a:r>
            <a:endParaRPr kumimoji="1" lang="en-US" sz="700" b="0" i="0" u="none" strike="noStrike" kern="0" cap="none" spc="0" normalizeH="0" baseline="0" noProof="0" dirty="0">
              <a:ln>
                <a:noFill/>
              </a:ln>
              <a:effectLst/>
              <a:uLnTx/>
              <a:uFillTx/>
              <a:latin typeface="맑은 고딕"/>
            </a:endParaRP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1556922" y="4171432"/>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700" kern="0" dirty="0" smtClean="0">
                <a:latin typeface="맑은 고딕"/>
                <a:ea typeface="맑은 고딕" panose="020B0503020000020004" pitchFamily="50" charset="-127"/>
              </a:rPr>
              <a:t>12345678</a:t>
            </a:r>
            <a:endParaRPr kumimoji="1" lang="en-US" sz="700" b="0" i="0" u="none" strike="noStrike" kern="0" cap="none" spc="0" normalizeH="0" baseline="0" noProof="0" dirty="0">
              <a:ln>
                <a:noFill/>
              </a:ln>
              <a:effectLst/>
              <a:uLnTx/>
              <a:uFillTx/>
              <a:latin typeface="맑은 고딕"/>
            </a:endParaRPr>
          </a:p>
        </p:txBody>
      </p:sp>
      <p:sp>
        <p:nvSpPr>
          <p:cNvPr id="112" name="사각형: 둥근 모서리 15">
            <a:extLst>
              <a:ext uri="{FF2B5EF4-FFF2-40B4-BE49-F238E27FC236}">
                <a16:creationId xmlns:a16="http://schemas.microsoft.com/office/drawing/2014/main" id="{E2B61CFB-AD16-68D0-8752-50D9C5E01971}"/>
              </a:ext>
            </a:extLst>
          </p:cNvPr>
          <p:cNvSpPr/>
          <p:nvPr/>
        </p:nvSpPr>
        <p:spPr>
          <a:xfrm>
            <a:off x="1556922" y="4389459"/>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noProof="0" dirty="0" smtClean="0">
                <a:latin typeface="맑은 고딕"/>
                <a:ea typeface="맑은 고딕" panose="020B0503020000020004" pitchFamily="50" charset="-127"/>
              </a:rPr>
              <a:t>23456789</a:t>
            </a:r>
            <a:endParaRPr kumimoji="1" lang="en-US" sz="700" b="0" i="0" u="none" strike="noStrike" kern="0" cap="none" spc="0" normalizeH="0" baseline="0" noProof="0" dirty="0">
              <a:ln>
                <a:noFill/>
              </a:ln>
              <a:effectLst/>
              <a:uLnTx/>
              <a:uFillTx/>
              <a:latin typeface="맑은 고딕"/>
            </a:endParaRPr>
          </a:p>
        </p:txBody>
      </p:sp>
      <p:grpSp>
        <p:nvGrpSpPr>
          <p:cNvPr id="113" name="그룹 112"/>
          <p:cNvGrpSpPr/>
          <p:nvPr/>
        </p:nvGrpSpPr>
        <p:grpSpPr>
          <a:xfrm>
            <a:off x="8223250" y="569392"/>
            <a:ext cx="3365500" cy="634511"/>
            <a:chOff x="8223250" y="569392"/>
            <a:chExt cx="3365500" cy="634511"/>
          </a:xfrm>
        </p:grpSpPr>
        <p:sp>
          <p:nvSpPr>
            <p:cNvPr id="114" name="직사각형 11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2026-06-22 </a:t>
              </a:r>
              <a:r>
                <a:rPr lang="ko-KR" altLang="en-US" dirty="0" smtClean="0"/>
                <a:t>화면 </a:t>
              </a:r>
              <a:r>
                <a:rPr lang="ko-KR" altLang="en-US" dirty="0"/>
                <a:t>수정</a:t>
              </a:r>
            </a:p>
          </p:txBody>
        </p:sp>
        <p:sp>
          <p:nvSpPr>
            <p:cNvPr id="115" name="직사각형 114"/>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품목대체구분</a:t>
              </a:r>
              <a:r>
                <a:rPr lang="en-US" altLang="ko-KR" sz="700" dirty="0" smtClean="0"/>
                <a:t>, </a:t>
              </a:r>
              <a:r>
                <a:rPr lang="ko-KR" altLang="en-US" sz="700" dirty="0" smtClean="0"/>
                <a:t>수정재고번호</a:t>
              </a:r>
              <a:r>
                <a:rPr lang="en-US" altLang="ko-KR" sz="700" dirty="0" smtClean="0"/>
                <a:t>, </a:t>
              </a:r>
              <a:r>
                <a:rPr lang="ko-KR" altLang="en-US" sz="700" dirty="0" smtClean="0"/>
                <a:t>수정부품번호 </a:t>
              </a:r>
              <a:r>
                <a:rPr lang="ko-KR" altLang="en-US" sz="700" dirty="0" err="1" smtClean="0"/>
                <a:t>입력폼으로</a:t>
              </a:r>
              <a:r>
                <a:rPr lang="ko-KR" altLang="en-US" sz="700" dirty="0" smtClean="0"/>
                <a:t> 변경</a:t>
              </a:r>
              <a:endParaRPr lang="en-US" altLang="ko-KR" sz="700" dirty="0"/>
            </a:p>
          </p:txBody>
        </p:sp>
      </p:grpSp>
      <p:sp>
        <p:nvSpPr>
          <p:cNvPr id="104" name="타원 103">
            <a:extLst>
              <a:ext uri="{FF2B5EF4-FFF2-40B4-BE49-F238E27FC236}">
                <a16:creationId xmlns:a16="http://schemas.microsoft.com/office/drawing/2014/main" id="{37A7FF4F-0EAA-1463-560A-D5EC24416103}"/>
              </a:ext>
            </a:extLst>
          </p:cNvPr>
          <p:cNvSpPr/>
          <p:nvPr/>
        </p:nvSpPr>
        <p:spPr>
          <a:xfrm>
            <a:off x="589334" y="373980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05" name="타원 104">
            <a:extLst>
              <a:ext uri="{FF2B5EF4-FFF2-40B4-BE49-F238E27FC236}">
                <a16:creationId xmlns:a16="http://schemas.microsoft.com/office/drawing/2014/main" id="{37A7FF4F-0EAA-1463-560A-D5EC24416103}"/>
              </a:ext>
            </a:extLst>
          </p:cNvPr>
          <p:cNvSpPr/>
          <p:nvPr/>
        </p:nvSpPr>
        <p:spPr>
          <a:xfrm>
            <a:off x="589334" y="428044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106" name="타원 105">
            <a:extLst>
              <a:ext uri="{FF2B5EF4-FFF2-40B4-BE49-F238E27FC236}">
                <a16:creationId xmlns:a16="http://schemas.microsoft.com/office/drawing/2014/main" id="{37A7FF4F-0EAA-1463-560A-D5EC24416103}"/>
              </a:ext>
            </a:extLst>
          </p:cNvPr>
          <p:cNvSpPr/>
          <p:nvPr/>
        </p:nvSpPr>
        <p:spPr>
          <a:xfrm>
            <a:off x="589334" y="47959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Tree>
    <p:extLst>
      <p:ext uri="{BB962C8B-B14F-4D97-AF65-F5344CB8AC3E}">
        <p14:creationId xmlns:p14="http://schemas.microsoft.com/office/powerpoint/2010/main" val="160053030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541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4 -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solidFill>
                  <a:srgbClr val="000000"/>
                </a:solidFill>
                <a:latin typeface="맑은 고딕" panose="020B0503020000020004" pitchFamily="50" charset="-127"/>
              </a:rPr>
              <a:t>MUI-BD-12-T77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1891736"/>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61306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687583"/>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274144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01974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09426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14813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170061"/>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47794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55549" y="247794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47794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75970" y="3124549"/>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75970" y="270775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19226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6" name="그룹 55"/>
          <p:cNvGrpSpPr/>
          <p:nvPr/>
        </p:nvGrpSpPr>
        <p:grpSpPr>
          <a:xfrm>
            <a:off x="3795734" y="5614711"/>
            <a:ext cx="2712027" cy="617588"/>
            <a:chOff x="675399" y="5614711"/>
            <a:chExt cx="2712027" cy="617588"/>
          </a:xfrm>
        </p:grpSpPr>
        <p:sp>
          <p:nvSpPr>
            <p:cNvPr id="57" name="직사각형 5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100" name="모서리가 둥근 직사각형 99"/>
          <p:cNvSpPr/>
          <p:nvPr/>
        </p:nvSpPr>
        <p:spPr>
          <a:xfrm>
            <a:off x="710315" y="342111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495632"/>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5494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4" name="모서리가 둥근 직사각형 103"/>
          <p:cNvSpPr/>
          <p:nvPr/>
        </p:nvSpPr>
        <p:spPr>
          <a:xfrm>
            <a:off x="710315" y="382779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3902318"/>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395617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2975970" y="3932598"/>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31" name="사각형: 둥근 모서리 15">
            <a:extLst>
              <a:ext uri="{FF2B5EF4-FFF2-40B4-BE49-F238E27FC236}">
                <a16:creationId xmlns:a16="http://schemas.microsoft.com/office/drawing/2014/main" id="{E2B61CFB-AD16-68D0-8752-50D9C5E01971}"/>
              </a:ext>
            </a:extLst>
          </p:cNvPr>
          <p:cNvSpPr/>
          <p:nvPr/>
        </p:nvSpPr>
        <p:spPr>
          <a:xfrm>
            <a:off x="2975970" y="3515806"/>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254216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62" name="그룹 61"/>
          <p:cNvGrpSpPr/>
          <p:nvPr/>
        </p:nvGrpSpPr>
        <p:grpSpPr>
          <a:xfrm>
            <a:off x="675400" y="1493927"/>
            <a:ext cx="2712027" cy="334927"/>
            <a:chOff x="675399" y="3560135"/>
            <a:chExt cx="2712027" cy="334927"/>
          </a:xfrm>
        </p:grpSpPr>
        <p:cxnSp>
          <p:nvCxnSpPr>
            <p:cNvPr id="63" name="직선 연결선 6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66" name="TextBox 6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67" name="직선 연결선 6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8" name="그룹 67"/>
            <p:cNvGrpSpPr/>
            <p:nvPr/>
          </p:nvGrpSpPr>
          <p:grpSpPr>
            <a:xfrm>
              <a:off x="2924086" y="3640332"/>
              <a:ext cx="422853" cy="187961"/>
              <a:chOff x="3641308" y="2234886"/>
              <a:chExt cx="422853" cy="187961"/>
            </a:xfrm>
          </p:grpSpPr>
          <p:sp>
            <p:nvSpPr>
              <p:cNvPr id="72" name="타원 7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rot="5400000" flipH="1">
                <a:off x="3679895" y="2305364"/>
                <a:ext cx="94010" cy="47005"/>
                <a:chOff x="6812560" y="3297172"/>
                <a:chExt cx="94010" cy="47005"/>
              </a:xfrm>
            </p:grpSpPr>
            <p:cxnSp>
              <p:nvCxnSpPr>
                <p:cNvPr id="78" name="직선 연결선 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9" name="직선 연결선 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4" name="타원 7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5" name="그룹 74"/>
              <p:cNvGrpSpPr/>
              <p:nvPr/>
            </p:nvGrpSpPr>
            <p:grpSpPr>
              <a:xfrm rot="16200000">
                <a:off x="3931564" y="2305364"/>
                <a:ext cx="94010" cy="47005"/>
                <a:chOff x="6812560" y="3297172"/>
                <a:chExt cx="94010" cy="47005"/>
              </a:xfrm>
            </p:grpSpPr>
            <p:cxnSp>
              <p:nvCxnSpPr>
                <p:cNvPr id="76" name="직선 연결선 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7" name="직선 연결선 7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69" name="직선 연결선 6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1" name="TextBox 70">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98" name="직사각형 9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30435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3914777" y="2007582"/>
            <a:ext cx="2473940" cy="969496"/>
          </a:xfrm>
          <a:prstGeom prst="rect">
            <a:avLst/>
          </a:prstGeom>
          <a:noFill/>
        </p:spPr>
        <p:txBody>
          <a:bodyPr wrap="square" lIns="0" tIns="0" rIns="0" bIns="0" rtlCol="0">
            <a:spAutoFit/>
          </a:bodyPr>
          <a:lstStyle/>
          <a:p>
            <a:r>
              <a:rPr lang="ko-KR" altLang="en-US" sz="700" dirty="0">
                <a:latin typeface="+mn-ea"/>
              </a:rPr>
              <a:t>견적서</a:t>
            </a:r>
            <a:r>
              <a:rPr lang="en-US" altLang="ko-KR" sz="700" dirty="0">
                <a:latin typeface="+mn-ea"/>
              </a:rPr>
              <a:t>(</a:t>
            </a:r>
            <a:r>
              <a:rPr lang="ko-KR" altLang="en-US" sz="700" dirty="0" err="1">
                <a:latin typeface="+mn-ea"/>
              </a:rPr>
              <a:t>가격제안서</a:t>
            </a:r>
            <a:r>
              <a:rPr lang="en-US" altLang="ko-KR" sz="700" dirty="0">
                <a:latin typeface="+mn-ea"/>
              </a:rPr>
              <a:t>)</a:t>
            </a:r>
            <a:r>
              <a:rPr lang="ko-KR" altLang="en-US" sz="700" dirty="0">
                <a:latin typeface="+mn-ea"/>
              </a:rPr>
              <a:t>는 제출 후 수정할 수 없습니다</a:t>
            </a:r>
            <a:r>
              <a:rPr lang="en-US" altLang="ko-KR" sz="700" dirty="0">
                <a:latin typeface="+mn-ea"/>
              </a:rPr>
              <a:t>. </a:t>
            </a:r>
            <a:r>
              <a:rPr lang="ko-KR" altLang="en-US" sz="700" dirty="0" err="1">
                <a:latin typeface="+mn-ea"/>
              </a:rPr>
              <a:t>입찰내역을</a:t>
            </a:r>
            <a:r>
              <a:rPr lang="ko-KR" altLang="en-US" sz="700" dirty="0">
                <a:latin typeface="+mn-ea"/>
              </a:rPr>
              <a:t> 주의하여 작성하시기 바랍니다</a:t>
            </a:r>
            <a:r>
              <a:rPr lang="en-US" altLang="ko-KR" sz="700" dirty="0">
                <a:latin typeface="+mn-ea"/>
              </a:rPr>
              <a:t>.</a:t>
            </a:r>
          </a:p>
          <a:p>
            <a:r>
              <a:rPr lang="ko-KR" altLang="en-US" sz="700" dirty="0">
                <a:latin typeface="+mn-ea"/>
              </a:rPr>
              <a:t>본인은 국가를 당사자로 하는 계약에 관한 법률시행규칙에 의한 공사 입찰유의서에 따라 응찰하여 이 입찰이 귀 기관에 의하여 수락되면 공사 계약일반조건</a:t>
            </a:r>
            <a:r>
              <a:rPr lang="en-US" altLang="ko-KR" sz="700" dirty="0">
                <a:latin typeface="+mn-ea"/>
              </a:rPr>
              <a:t>, </a:t>
            </a:r>
            <a:r>
              <a:rPr lang="ko-KR" altLang="en-US" sz="700" dirty="0">
                <a:latin typeface="+mn-ea"/>
              </a:rPr>
              <a:t>계약특수조건</a:t>
            </a:r>
            <a:r>
              <a:rPr lang="en-US" altLang="ko-KR" sz="700" dirty="0">
                <a:latin typeface="+mn-ea"/>
              </a:rPr>
              <a:t>, </a:t>
            </a:r>
            <a:r>
              <a:rPr lang="ko-KR" altLang="en-US" sz="700" dirty="0">
                <a:latin typeface="+mn-ea"/>
              </a:rPr>
              <a:t>설계서 및 현장 설명 사항에 따라 위의 입찰금액으로 준공기한내에 공사를 완공할 것을 </a:t>
            </a:r>
            <a:r>
              <a:rPr lang="ko-KR" altLang="en-US" sz="700" dirty="0" err="1">
                <a:latin typeface="+mn-ea"/>
              </a:rPr>
              <a:t>확약하오며</a:t>
            </a:r>
            <a:r>
              <a:rPr lang="ko-KR" altLang="en-US" sz="700" dirty="0">
                <a:latin typeface="+mn-ea"/>
              </a:rPr>
              <a:t> 견적서를 제출합니다</a:t>
            </a:r>
            <a:r>
              <a:rPr lang="en-US" altLang="ko-KR" sz="700" dirty="0">
                <a:latin typeface="+mn-ea"/>
              </a:rPr>
              <a:t>.</a:t>
            </a:r>
          </a:p>
          <a:p>
            <a:endParaRPr lang="en-US" altLang="ko-KR" sz="700" dirty="0">
              <a:latin typeface="+mn-ea"/>
            </a:endParaRPr>
          </a:p>
          <a:p>
            <a:r>
              <a:rPr lang="ko-KR" altLang="en-US" sz="700" dirty="0">
                <a:latin typeface="+mn-ea"/>
              </a:rPr>
              <a:t>유의사항 </a:t>
            </a:r>
            <a:r>
              <a:rPr lang="en-US" altLang="ko-KR" sz="700" dirty="0">
                <a:latin typeface="+mn-ea"/>
              </a:rPr>
              <a:t>: </a:t>
            </a: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795733" y="18973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3795733" y="1499027"/>
            <a:ext cx="2712027" cy="334927"/>
            <a:chOff x="675399" y="3560135"/>
            <a:chExt cx="2712027" cy="334927"/>
          </a:xfrm>
        </p:grpSpPr>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8" name="그룹 137"/>
            <p:cNvGrpSpPr/>
            <p:nvPr/>
          </p:nvGrpSpPr>
          <p:grpSpPr>
            <a:xfrm>
              <a:off x="2924086" y="3640332"/>
              <a:ext cx="422853" cy="187961"/>
              <a:chOff x="3641308" y="2234886"/>
              <a:chExt cx="422853" cy="187961"/>
            </a:xfrm>
          </p:grpSpPr>
          <p:sp>
            <p:nvSpPr>
              <p:cNvPr id="143" name="타원 14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7" name="직선 연결선 1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타원 14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16200000">
                <a:off x="3931564" y="2305364"/>
                <a:ext cx="94010" cy="47005"/>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9" name="직선 연결선 13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68" name="TextBox 16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224543551"/>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542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6377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0747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pbancOd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79241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8757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790333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intgRfrncNo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3828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7789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518668"/>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13843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027366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etdcDdlnDt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588139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50428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15439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344442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381EE26-F3EF-ADB2-9BE7-46D22CD771ED}"/>
              </a:ext>
            </a:extLst>
          </p:cNvPr>
          <p:cNvSpPr txBox="1"/>
          <p:nvPr/>
        </p:nvSpPr>
        <p:spPr>
          <a:xfrm>
            <a:off x="458117" y="4446108"/>
            <a:ext cx="2379425"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영역 </a:t>
            </a:r>
            <a:r>
              <a:rPr lang="en-US" altLang="ko-KR" sz="900" b="1" dirty="0">
                <a:solidFill>
                  <a:prstClr val="black"/>
                </a:solidFill>
              </a:rPr>
              <a:t>(</a:t>
            </a:r>
            <a:r>
              <a:rPr lang="en-US" altLang="ko-KR" sz="900" b="1" dirty="0" err="1">
                <a:solidFill>
                  <a:prstClr val="black"/>
                </a:solidFill>
              </a:rPr>
              <a:t>dm_aplyBzenty</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4A2A78DB-898E-F6F7-B7F2-BDE6122ACAF8}"/>
              </a:ext>
            </a:extLst>
          </p:cNvPr>
          <p:cNvGraphicFramePr>
            <a:graphicFrameLocks noGrp="1"/>
          </p:cNvGraphicFramePr>
          <p:nvPr>
            <p:extLst/>
          </p:nvPr>
        </p:nvGraphicFramePr>
        <p:xfrm>
          <a:off x="452999" y="4657311"/>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52726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785792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200253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84106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197867952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543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265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영역 </a:t>
            </a:r>
            <a:r>
              <a:rPr lang="en-US" altLang="ko-KR" sz="900" b="1" dirty="0">
                <a:solidFill>
                  <a:prstClr val="black"/>
                </a:solidFill>
              </a:rPr>
              <a:t>(</a:t>
            </a:r>
            <a:r>
              <a:rPr lang="en-US" altLang="ko-KR" sz="900" b="1" dirty="0" err="1">
                <a:solidFill>
                  <a:prstClr val="black"/>
                </a:solidFill>
              </a:rPr>
              <a:t>dm_bidBzenty</a:t>
            </a:r>
            <a:r>
              <a:rPr lang="en-US" altLang="ko-KR" sz="900" b="1" dirty="0">
                <a:solidFill>
                  <a:prstClr val="black"/>
                </a:solidFill>
              </a:rPr>
              <a:t>)</a:t>
            </a:r>
            <a:endParaRPr lang="ko-KR" altLang="en-US" sz="900" b="1" dirty="0">
              <a:solidFill>
                <a:prstClr val="black"/>
              </a:solidFill>
            </a:endParaRPr>
          </a:p>
        </p:txBody>
      </p:sp>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1011023"/>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733373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47513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72462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656446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89757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77A43EB0-0DB9-E1A9-0EE9-FF4FB85FBB44}"/>
              </a:ext>
            </a:extLst>
          </p:cNvPr>
          <p:cNvSpPr txBox="1"/>
          <p:nvPr/>
        </p:nvSpPr>
        <p:spPr>
          <a:xfrm>
            <a:off x="458117" y="3031963"/>
            <a:ext cx="2320113"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입찰품목 데이터 영역 </a:t>
            </a:r>
            <a:r>
              <a:rPr lang="en-US" altLang="ko-KR" sz="900" b="1" dirty="0">
                <a:solidFill>
                  <a:prstClr val="black"/>
                </a:solidFill>
              </a:rPr>
              <a:t>(</a:t>
            </a:r>
            <a:r>
              <a:rPr lang="en-US" altLang="ko-KR" sz="900" b="1" dirty="0" err="1">
                <a:solidFill>
                  <a:prstClr val="black"/>
                </a:solidFill>
              </a:rPr>
              <a:t>dl_bidItemList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13C4C691-0B38-4FC7-986A-B945290E7AF3}"/>
              </a:ext>
            </a:extLst>
          </p:cNvPr>
          <p:cNvGraphicFramePr>
            <a:graphicFrameLocks noGrp="1"/>
          </p:cNvGraphicFramePr>
          <p:nvPr/>
        </p:nvGraphicFramePr>
        <p:xfrm>
          <a:off x="452999" y="324316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재고번호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842549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863824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07511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unitNm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(UI)</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539555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20229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16427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(FCUC)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5197172"/>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3432952"/>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2724028"/>
                  </a:ext>
                </a:extLst>
              </a:tr>
              <a:tr h="0">
                <a:tc>
                  <a:txBody>
                    <a:bodyPr/>
                    <a:lstStyle/>
                    <a:p>
                      <a:pPr algn="l" fontAlgn="ctr"/>
                      <a:r>
                        <a:rPr lang="ko-KR" altLang="en-US" sz="800" b="0" i="0" u="none" strike="noStrike" dirty="0">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1855840"/>
                  </a:ext>
                </a:extLst>
              </a:tr>
              <a:tr h="0">
                <a:tc>
                  <a:txBody>
                    <a:bodyPr/>
                    <a:lstStyle/>
                    <a:p>
                      <a:pPr algn="l" fontAlgn="ctr"/>
                      <a:r>
                        <a:rPr lang="ko-KR" altLang="en-US" sz="800" b="0" i="0" u="none" strike="noStrike" dirty="0">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0778678"/>
                  </a:ext>
                </a:extLst>
              </a:tr>
              <a:tr h="0">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estmtUntprc</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227699"/>
                  </a:ext>
                </a:extLst>
              </a:tr>
              <a:tr h="0">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estmtAmt</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3489438"/>
                  </a:ext>
                </a:extLst>
              </a:tr>
            </a:tbl>
          </a:graphicData>
        </a:graphic>
      </p:graphicFrame>
    </p:spTree>
    <p:extLst>
      <p:ext uri="{BB962C8B-B14F-4D97-AF65-F5344CB8AC3E}">
        <p14:creationId xmlns:p14="http://schemas.microsoft.com/office/powerpoint/2010/main" val="2422159642"/>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544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C011E71-56E8-0410-125E-29CDFA4E3108}"/>
              </a:ext>
            </a:extLst>
          </p:cNvPr>
          <p:cNvSpPr txBox="1"/>
          <p:nvPr/>
        </p:nvSpPr>
        <p:spPr>
          <a:xfrm>
            <a:off x="458117" y="791868"/>
            <a:ext cx="209409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첨부파일 데이터 영역 </a:t>
            </a:r>
            <a:r>
              <a:rPr lang="en-US" altLang="ko-KR" sz="900" b="1" dirty="0">
                <a:solidFill>
                  <a:prstClr val="black"/>
                </a:solidFill>
              </a:rPr>
              <a:t>(</a:t>
            </a:r>
            <a:r>
              <a:rPr lang="en-US" altLang="ko-KR" sz="900" b="1" dirty="0" err="1">
                <a:solidFill>
                  <a:prstClr val="black"/>
                </a:solidFill>
              </a:rPr>
              <a:t>dl_docList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6D406058-FA67-CF0F-0967-F6F181BADC3B}"/>
              </a:ext>
            </a:extLst>
          </p:cNvPr>
          <p:cNvGraphicFramePr>
            <a:graphicFrameLocks noGrp="1"/>
          </p:cNvGraphicFramePr>
          <p:nvPr/>
        </p:nvGraphicFramePr>
        <p:xfrm>
          <a:off x="452999" y="1001040"/>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제출해야할</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497560215"/>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62D13A0E-00F3-6F78-B391-CC7201CC1270}"/>
              </a:ext>
            </a:extLst>
          </p:cNvPr>
          <p:cNvSpPr>
            <a:spLocks noGrp="1"/>
          </p:cNvSpPr>
          <p:nvPr>
            <p:ph type="sldNum" sz="quarter" idx="4"/>
          </p:nvPr>
        </p:nvSpPr>
        <p:spPr/>
        <p:txBody>
          <a:bodyPr/>
          <a:lstStyle/>
          <a:p>
            <a:fld id="{34C8E023-7346-48FC-AB24-9A3388C53208}" type="slidenum">
              <a:rPr lang="ko-KR" altLang="en-US" smtClean="0"/>
              <a:pPr/>
              <a:t>545</a:t>
            </a:fld>
            <a:endParaRPr lang="ko-KR" altLang="en-US" dirty="0"/>
          </a:p>
        </p:txBody>
      </p:sp>
      <p:sp>
        <p:nvSpPr>
          <p:cNvPr id="3" name="TextBox 2">
            <a:extLst>
              <a:ext uri="{FF2B5EF4-FFF2-40B4-BE49-F238E27FC236}">
                <a16:creationId xmlns:a16="http://schemas.microsoft.com/office/drawing/2014/main" id="{7FEF0C39-651E-4D6E-7071-76558B4D5BC5}"/>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5BBD4846-8DF2-C10D-46E8-6FDBA8FE9212}"/>
              </a:ext>
            </a:extLst>
          </p:cNvPr>
          <p:cNvGraphicFramePr>
            <a:graphicFrameLocks noGrp="1"/>
          </p:cNvGraphicFramePr>
          <p:nvPr>
            <p:extLst/>
          </p:nvPr>
        </p:nvGraphicFramePr>
        <p:xfrm>
          <a:off x="458117" y="799547"/>
          <a:ext cx="8995591" cy="13353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공고정보 조회 및 입찰업체 목록 조회</a:t>
                      </a:r>
                      <a:r>
                        <a:rPr lang="en-US" altLang="ko-KR" sz="800" dirty="0">
                          <a:latin typeface="+mn-ea"/>
                          <a:ea typeface="+mn-ea"/>
                        </a:rPr>
                        <a:t>, </a:t>
                      </a:r>
                      <a:r>
                        <a:rPr lang="ko-KR" altLang="en-US" sz="800" dirty="0">
                          <a:latin typeface="+mn-ea"/>
                          <a:ea typeface="+mn-ea"/>
                        </a:rPr>
                        <a:t>화폐단위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입찰업체 변경</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scwin.sbx_bzentyCd_onchange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입찰업체 업체코드 변경 시</a:t>
                      </a:r>
                      <a:r>
                        <a:rPr lang="en-US" altLang="ko-KR" sz="800" dirty="0">
                          <a:latin typeface="+mn-ea"/>
                          <a:ea typeface="+mn-ea"/>
                        </a:rPr>
                        <a:t>, </a:t>
                      </a:r>
                      <a:r>
                        <a:rPr lang="ko-KR" altLang="en-US" sz="800" dirty="0">
                          <a:latin typeface="+mn-ea"/>
                          <a:ea typeface="+mn-ea"/>
                        </a:rPr>
                        <a:t>입찰업체 영역에 업체 상세정보를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1177219"/>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견적단가 변경</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scwin.ibx_estmtUntprc_onchange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견적단가 변경 시</a:t>
                      </a:r>
                      <a:r>
                        <a:rPr lang="en-US" altLang="ko-KR" sz="800" dirty="0">
                          <a:latin typeface="+mn-ea"/>
                          <a:ea typeface="+mn-ea"/>
                        </a:rPr>
                        <a:t>, </a:t>
                      </a:r>
                      <a:r>
                        <a:rPr lang="ko-KR" altLang="en-US" sz="800" dirty="0">
                          <a:latin typeface="+mn-ea"/>
                          <a:ea typeface="+mn-ea"/>
                        </a:rPr>
                        <a:t>견적금액 계산하여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2686537"/>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scwin.btn_sbmsn_onclick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작성한 견적서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6757591"/>
                  </a:ext>
                </a:extLst>
              </a:tr>
            </a:tbl>
          </a:graphicData>
        </a:graphic>
      </p:graphicFrame>
      <p:sp>
        <p:nvSpPr>
          <p:cNvPr id="5" name="Text Box 73">
            <a:extLst>
              <a:ext uri="{FF2B5EF4-FFF2-40B4-BE49-F238E27FC236}">
                <a16:creationId xmlns:a16="http://schemas.microsoft.com/office/drawing/2014/main" id="{56F8988B-B064-FFF2-E74D-5B7A5279247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71753619"/>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견적서 상세는 개찰 목록에서 표시되고</a:t>
            </a:r>
            <a:r>
              <a:rPr lang="en-US" altLang="ko-KR" dirty="0" smtClean="0"/>
              <a:t>, </a:t>
            </a:r>
            <a:r>
              <a:rPr lang="ko-KR" altLang="en-US" dirty="0" smtClean="0"/>
              <a:t>뒤로 가기 버튼으로 개찰 목록 이동</a:t>
            </a:r>
            <a:endParaRPr lang="en-US" altLang="ko-KR" dirty="0" smtClean="0"/>
          </a:p>
          <a:p>
            <a:pPr marL="228600" indent="-228600">
              <a:buFont typeface="+mj-lt"/>
              <a:buAutoNum type="arabicPeriod"/>
            </a:pPr>
            <a:r>
              <a:rPr lang="ko-KR" altLang="en-US" dirty="0" smtClean="0"/>
              <a:t>공지사항 표시 영역</a:t>
            </a:r>
            <a:endParaRPr lang="en-US" altLang="ko-KR" dirty="0"/>
          </a:p>
          <a:p>
            <a:pPr marL="228600" indent="-228600">
              <a:buFont typeface="+mj-lt"/>
              <a:buAutoNum type="arabicPeriod"/>
            </a:pPr>
            <a:r>
              <a:rPr lang="ko-KR" altLang="en-US" dirty="0" smtClean="0"/>
              <a:t>신청서 </a:t>
            </a:r>
            <a:r>
              <a:rPr lang="ko-KR" altLang="en-US" dirty="0"/>
              <a:t>내역 탭</a:t>
            </a:r>
            <a:endParaRPr lang="en-US" altLang="ko-KR" dirty="0"/>
          </a:p>
          <a:p>
            <a:pPr marL="228600" indent="-228600">
              <a:buFont typeface="+mj-lt"/>
              <a:buAutoNum type="arabicPeriod"/>
            </a:pPr>
            <a:r>
              <a:rPr lang="ko-KR" altLang="en-US" dirty="0"/>
              <a:t>데이터 </a:t>
            </a:r>
            <a:r>
              <a:rPr lang="ko-KR" altLang="en-US" dirty="0" smtClean="0"/>
              <a:t>영역</a:t>
            </a:r>
            <a:endParaRPr lang="en-US" altLang="ko-KR" dirty="0" smtClean="0"/>
          </a:p>
          <a:p>
            <a:pPr marL="228600" indent="-228600">
              <a:buFont typeface="+mj-lt"/>
              <a:buAutoNum type="arabicPeriod"/>
            </a:pPr>
            <a:r>
              <a:rPr lang="en-US" altLang="ko-KR" dirty="0" smtClean="0"/>
              <a:t>(+) </a:t>
            </a:r>
            <a:r>
              <a:rPr lang="ko-KR" altLang="en-US" dirty="0" err="1" smtClean="0"/>
              <a:t>더보기</a:t>
            </a:r>
            <a:r>
              <a:rPr lang="ko-KR" altLang="en-US" dirty="0" smtClean="0"/>
              <a:t> 버튼</a:t>
            </a:r>
            <a:r>
              <a:rPr lang="en-US" altLang="ko-KR" dirty="0" smtClean="0"/>
              <a:t/>
            </a:r>
            <a:br>
              <a:rPr lang="en-US" altLang="ko-KR" dirty="0" smtClean="0"/>
            </a:br>
            <a:r>
              <a:rPr lang="en-US" altLang="ko-KR" dirty="0"/>
              <a:t>- </a:t>
            </a:r>
            <a:r>
              <a:rPr lang="en-US" altLang="ko-KR" dirty="0" smtClean="0"/>
              <a:t>MUI-BD-12-P82 </a:t>
            </a:r>
            <a:r>
              <a:rPr lang="ko-KR" altLang="en-US" dirty="0" err="1" smtClean="0"/>
              <a:t>공개수의협상견적서취소신청서작성</a:t>
            </a:r>
            <a:r>
              <a:rPr lang="en-US" altLang="ko-KR" dirty="0" smtClean="0"/>
              <a:t/>
            </a:r>
            <a:br>
              <a:rPr lang="en-US" altLang="ko-KR" dirty="0" smtClean="0"/>
            </a:br>
            <a:r>
              <a:rPr lang="en-US" altLang="ko-KR" dirty="0"/>
              <a:t>- </a:t>
            </a:r>
            <a:r>
              <a:rPr lang="en-US" altLang="ko-KR" dirty="0" smtClean="0"/>
              <a:t>MUI-BD-12-M83 </a:t>
            </a:r>
            <a:r>
              <a:rPr lang="ko-KR" altLang="en-US" dirty="0" err="1" smtClean="0"/>
              <a:t>공개수의협상결과조회</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546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공개수의협상견적서상세</a:t>
            </a:r>
            <a:r>
              <a:rPr lang="en-US" altLang="ko-KR" dirty="0">
                <a:latin typeface="+mn-ea"/>
              </a:rPr>
              <a:t>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2275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 name="그룹 8"/>
          <p:cNvGrpSpPr/>
          <p:nvPr/>
        </p:nvGrpSpPr>
        <p:grpSpPr>
          <a:xfrm>
            <a:off x="675399" y="3263657"/>
            <a:ext cx="2712027" cy="334927"/>
            <a:chOff x="675399" y="3560135"/>
            <a:chExt cx="2712027" cy="334927"/>
          </a:xfrm>
        </p:grpSpPr>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883385" y="3678455"/>
              <a:ext cx="647376" cy="107722"/>
            </a:xfrm>
            <a:prstGeom prst="rect">
              <a:avLst/>
            </a:prstGeom>
            <a:noFill/>
          </p:spPr>
          <p:txBody>
            <a:bodyPr wrap="square" lIns="0" tIns="0" rIns="0" bIns="0" rtlCol="0">
              <a:spAutoFit/>
            </a:bodyPr>
            <a:lstStyle/>
            <a:p>
              <a:pPr algn="ctr"/>
              <a:r>
                <a:rPr lang="en-US" altLang="ko-KR" sz="700" dirty="0" smtClean="0">
                  <a:latin typeface="+mn-ea"/>
                </a:rPr>
                <a:t>3.</a:t>
              </a:r>
              <a:r>
                <a:rPr lang="ko-KR" altLang="en-US" sz="700" dirty="0" smtClean="0">
                  <a:latin typeface="+mn-ea"/>
                </a:rPr>
                <a:t> </a:t>
              </a:r>
              <a:r>
                <a:rPr lang="ko-KR" altLang="en-US" sz="700" dirty="0" err="1">
                  <a:latin typeface="+mn-ea"/>
                </a:rPr>
                <a:t>입찰품목</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2561805"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40332"/>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8" name="TextBox 107">
              <a:extLst>
                <a:ext uri="{FF2B5EF4-FFF2-40B4-BE49-F238E27FC236}">
                  <a16:creationId xmlns:a16="http://schemas.microsoft.com/office/drawing/2014/main" id="{FFC49AEA-2A8F-250C-A86A-A7751D9706C3}"/>
                </a:ext>
              </a:extLst>
            </p:cNvPr>
            <p:cNvSpPr txBox="1"/>
            <p:nvPr/>
          </p:nvSpPr>
          <p:spPr>
            <a:xfrm>
              <a:off x="1297396"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en-US" altLang="ko-KR" sz="700">
                  <a:latin typeface="+mn-ea"/>
                </a:rPr>
                <a:t>.</a:t>
              </a:r>
              <a:r>
                <a:rPr lang="ko-KR" altLang="en-US" sz="700" dirty="0">
                  <a:latin typeface="+mn-ea"/>
                </a:rPr>
                <a:t> </a:t>
              </a:r>
              <a:r>
                <a:rPr lang="ko-KR" altLang="en-US" sz="700" dirty="0" smtClean="0">
                  <a:latin typeface="+mn-ea"/>
                </a:rPr>
                <a:t>업체정보</a:t>
              </a:r>
              <a:endParaRPr lang="ko-KR" altLang="en-US" sz="700" dirty="0">
                <a:latin typeface="+mn-ea"/>
              </a:endParaRPr>
            </a:p>
          </p:txBody>
        </p:sp>
      </p:grpSp>
      <p:grpSp>
        <p:nvGrpSpPr>
          <p:cNvPr id="240" name="그룹 239"/>
          <p:cNvGrpSpPr/>
          <p:nvPr/>
        </p:nvGrpSpPr>
        <p:grpSpPr>
          <a:xfrm>
            <a:off x="675399" y="2365403"/>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7" name="TextBox 316">
            <a:extLst>
              <a:ext uri="{FF2B5EF4-FFF2-40B4-BE49-F238E27FC236}">
                <a16:creationId xmlns:a16="http://schemas.microsoft.com/office/drawing/2014/main" id="{FFC49AEA-2A8F-250C-A86A-A7751D9706C3}"/>
              </a:ext>
            </a:extLst>
          </p:cNvPr>
          <p:cNvSpPr txBox="1"/>
          <p:nvPr/>
        </p:nvSpPr>
        <p:spPr>
          <a:xfrm>
            <a:off x="1019814" y="2955605"/>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98695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068936"/>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모서리가 둥근 직사각형 150"/>
          <p:cNvSpPr/>
          <p:nvPr/>
        </p:nvSpPr>
        <p:spPr>
          <a:xfrm rot="5400000">
            <a:off x="2662242" y="317615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1906593"/>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5" name="그룹 154"/>
          <p:cNvGrpSpPr/>
          <p:nvPr/>
        </p:nvGrpSpPr>
        <p:grpSpPr>
          <a:xfrm>
            <a:off x="720490" y="3660734"/>
            <a:ext cx="2660475" cy="2281943"/>
            <a:chOff x="720490" y="3803374"/>
            <a:chExt cx="2660475" cy="2281943"/>
          </a:xfrm>
        </p:grpSpPr>
        <p:sp>
          <p:nvSpPr>
            <p:cNvPr id="156" name="TextBox 15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43548" y="3916705"/>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8" name="직사각형 157"/>
            <p:cNvSpPr/>
            <p:nvPr/>
          </p:nvSpPr>
          <p:spPr>
            <a:xfrm>
              <a:off x="722583" y="4110859"/>
              <a:ext cx="792000" cy="19744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809647" y="4110859"/>
              <a:ext cx="764551" cy="193899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566495" y="4110859"/>
              <a:ext cx="1814470" cy="193899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6" name="그룹 95"/>
          <p:cNvGrpSpPr/>
          <p:nvPr/>
        </p:nvGrpSpPr>
        <p:grpSpPr>
          <a:xfrm>
            <a:off x="677960" y="1582647"/>
            <a:ext cx="2714637" cy="686386"/>
            <a:chOff x="677960" y="1582647"/>
            <a:chExt cx="2714637" cy="686386"/>
          </a:xfrm>
        </p:grpSpPr>
        <p:sp>
          <p:nvSpPr>
            <p:cNvPr id="97" name="TextBox 96">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smtClean="0">
                  <a:latin typeface="+mn-ea"/>
                </a:rPr>
                <a:t>공개수의협상 견적서 상세</a:t>
              </a:r>
              <a:endParaRPr lang="ko-KR" altLang="en-US" sz="800" dirty="0">
                <a:latin typeface="+mn-ea"/>
              </a:endParaRPr>
            </a:p>
          </p:txBody>
        </p:sp>
        <p:cxnSp>
          <p:nvCxnSpPr>
            <p:cNvPr id="98" name="직선 연결선 97">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9" name="그룹 98"/>
            <p:cNvGrpSpPr/>
            <p:nvPr/>
          </p:nvGrpSpPr>
          <p:grpSpPr>
            <a:xfrm rot="5400000">
              <a:off x="852159" y="2062596"/>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677960" y="1582647"/>
              <a:ext cx="2712027" cy="324286"/>
              <a:chOff x="677960" y="1582647"/>
              <a:chExt cx="2712027" cy="324286"/>
            </a:xfrm>
          </p:grpSpPr>
          <p:pic>
            <p:nvPicPr>
              <p:cNvPr id="101"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02" name="직선 연결선 101">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타원 102"/>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타원 104"/>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109" name="그룹 108"/>
          <p:cNvGrpSpPr/>
          <p:nvPr/>
        </p:nvGrpSpPr>
        <p:grpSpPr>
          <a:xfrm>
            <a:off x="3795734" y="1493927"/>
            <a:ext cx="2712027" cy="334927"/>
            <a:chOff x="675399" y="3560135"/>
            <a:chExt cx="2712027" cy="334927"/>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1" name="TextBox 110">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12" name="TextBox 111">
              <a:extLst>
                <a:ext uri="{FF2B5EF4-FFF2-40B4-BE49-F238E27FC236}">
                  <a16:creationId xmlns:a16="http://schemas.microsoft.com/office/drawing/2014/main" id="{FFC49AEA-2A8F-250C-A86A-A7751D9706C3}"/>
                </a:ext>
              </a:extLst>
            </p:cNvPr>
            <p:cNvSpPr txBox="1"/>
            <p:nvPr/>
          </p:nvSpPr>
          <p:spPr>
            <a:xfrm>
              <a:off x="1883385" y="3678455"/>
              <a:ext cx="647376" cy="107722"/>
            </a:xfrm>
            <a:prstGeom prst="rect">
              <a:avLst/>
            </a:prstGeom>
            <a:noFill/>
          </p:spPr>
          <p:txBody>
            <a:bodyPr wrap="square" lIns="0" tIns="0" rIns="0" bIns="0" rtlCol="0">
              <a:spAutoFit/>
            </a:bodyPr>
            <a:lstStyle/>
            <a:p>
              <a:pPr algn="ctr"/>
              <a:r>
                <a:rPr lang="en-US" altLang="ko-KR" sz="700" dirty="0" smtClean="0">
                  <a:latin typeface="+mn-ea"/>
                </a:rPr>
                <a:t>3.</a:t>
              </a:r>
              <a:r>
                <a:rPr lang="ko-KR" altLang="en-US" sz="700" dirty="0" smtClean="0">
                  <a:latin typeface="+mn-ea"/>
                </a:rPr>
                <a:t> </a:t>
              </a:r>
              <a:r>
                <a:rPr lang="ko-KR" altLang="en-US" sz="700" dirty="0" err="1">
                  <a:latin typeface="+mn-ea"/>
                </a:rPr>
                <a:t>입찰품목</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2561805"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15" name="그룹 114"/>
            <p:cNvGrpSpPr/>
            <p:nvPr/>
          </p:nvGrpSpPr>
          <p:grpSpPr>
            <a:xfrm>
              <a:off x="2924086" y="3640332"/>
              <a:ext cx="422853" cy="187961"/>
              <a:chOff x="3641308" y="2234886"/>
              <a:chExt cx="422853" cy="187961"/>
            </a:xfrm>
          </p:grpSpPr>
          <p:sp>
            <p:nvSpPr>
              <p:cNvPr id="118" name="타원 11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p:cNvGrpSpPr/>
              <p:nvPr/>
            </p:nvGrpSpPr>
            <p:grpSpPr>
              <a:xfrm rot="5400000" flipH="1">
                <a:off x="3679895" y="2305364"/>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0" name="타원 119"/>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1" name="그룹 120"/>
              <p:cNvGrpSpPr/>
              <p:nvPr/>
            </p:nvGrpSpPr>
            <p:grpSpPr>
              <a:xfrm rot="16200000">
                <a:off x="3931564" y="2305364"/>
                <a:ext cx="94010" cy="47005"/>
                <a:chOff x="6812560" y="3297172"/>
                <a:chExt cx="94010" cy="47005"/>
              </a:xfrm>
            </p:grpSpPr>
            <p:cxnSp>
              <p:nvCxnSpPr>
                <p:cNvPr id="122" name="직선 연결선 12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16" name="직선 연결선 115">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1297396"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en-US" altLang="ko-KR" sz="700">
                  <a:latin typeface="+mn-ea"/>
                </a:rPr>
                <a:t>.</a:t>
              </a:r>
              <a:r>
                <a:rPr lang="ko-KR" altLang="en-US" sz="700" dirty="0">
                  <a:latin typeface="+mn-ea"/>
                </a:rPr>
                <a:t> </a:t>
              </a:r>
              <a:r>
                <a:rPr lang="ko-KR" altLang="en-US" sz="700" dirty="0" smtClean="0">
                  <a:latin typeface="+mn-ea"/>
                </a:rPr>
                <a:t>업체정보</a:t>
              </a:r>
              <a:endParaRPr lang="ko-KR" altLang="en-US" sz="700" dirty="0">
                <a:latin typeface="+mn-ea"/>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97492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
        <p:nvSpPr>
          <p:cNvPr id="324" name="타원 323">
            <a:extLst>
              <a:ext uri="{FF2B5EF4-FFF2-40B4-BE49-F238E27FC236}">
                <a16:creationId xmlns:a16="http://schemas.microsoft.com/office/drawing/2014/main" id="{37A7FF4F-0EAA-1463-560A-D5EC24416103}"/>
              </a:ext>
            </a:extLst>
          </p:cNvPr>
          <p:cNvSpPr/>
          <p:nvPr/>
        </p:nvSpPr>
        <p:spPr>
          <a:xfrm>
            <a:off x="571127" y="36718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3</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442683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4</a:t>
            </a:r>
            <a:endParaRPr lang="ko-KR" altLang="en-US" sz="900" b="1" dirty="0"/>
          </a:p>
        </p:txBody>
      </p:sp>
      <p:sp>
        <p:nvSpPr>
          <p:cNvPr id="127" name="타원 126">
            <a:extLst>
              <a:ext uri="{FF2B5EF4-FFF2-40B4-BE49-F238E27FC236}">
                <a16:creationId xmlns:a16="http://schemas.microsoft.com/office/drawing/2014/main" id="{37A7FF4F-0EAA-1463-560A-D5EC24416103}"/>
              </a:ext>
            </a:extLst>
          </p:cNvPr>
          <p:cNvSpPr/>
          <p:nvPr/>
        </p:nvSpPr>
        <p:spPr>
          <a:xfrm>
            <a:off x="571127" y="198356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28" name="타원 127"/>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9" name="그룹 128"/>
          <p:cNvGrpSpPr/>
          <p:nvPr/>
        </p:nvGrpSpPr>
        <p:grpSpPr>
          <a:xfrm>
            <a:off x="6726256" y="4802272"/>
            <a:ext cx="124144" cy="148935"/>
            <a:chOff x="161606" y="5392781"/>
            <a:chExt cx="97885" cy="117432"/>
          </a:xfrm>
        </p:grpSpPr>
        <p:cxnSp>
          <p:nvCxnSpPr>
            <p:cNvPr id="130" name="직선 연결선 129"/>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33" name="직선 연결선 13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35" name="타원 134"/>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6" name="그룹 135"/>
          <p:cNvGrpSpPr/>
          <p:nvPr/>
        </p:nvGrpSpPr>
        <p:grpSpPr>
          <a:xfrm>
            <a:off x="6726257" y="5299917"/>
            <a:ext cx="124144" cy="124144"/>
            <a:chOff x="162544" y="5299917"/>
            <a:chExt cx="124144" cy="124144"/>
          </a:xfrm>
        </p:grpSpPr>
        <p:cxnSp>
          <p:nvCxnSpPr>
            <p:cNvPr id="137" name="직선 연결선 136"/>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38" name="직선 연결선 137"/>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a:extLst>
              <a:ext uri="{FF2B5EF4-FFF2-40B4-BE49-F238E27FC236}">
                <a16:creationId xmlns:a16="http://schemas.microsoft.com/office/drawing/2014/main" id="{37A7FF4F-0EAA-1463-560A-D5EC24416103}"/>
              </a:ext>
            </a:extLst>
          </p:cNvPr>
          <p:cNvSpPr/>
          <p:nvPr/>
        </p:nvSpPr>
        <p:spPr>
          <a:xfrm>
            <a:off x="6701701" y="56590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543200406"/>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547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공개수의협상견적서상세</a:t>
            </a:r>
            <a:r>
              <a:rPr lang="en-US" altLang="ko-KR" dirty="0">
                <a:latin typeface="+mn-ea"/>
              </a:rPr>
              <a:t>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MUI-BD-12-T78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325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63" name="그룹 262"/>
          <p:cNvGrpSpPr/>
          <p:nvPr/>
        </p:nvGrpSpPr>
        <p:grpSpPr>
          <a:xfrm>
            <a:off x="675400" y="1493927"/>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743256"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94" name="그룹 93"/>
          <p:cNvGrpSpPr/>
          <p:nvPr/>
        </p:nvGrpSpPr>
        <p:grpSpPr>
          <a:xfrm>
            <a:off x="3791609" y="1493927"/>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74953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20" name="그룹 119"/>
          <p:cNvGrpSpPr/>
          <p:nvPr/>
        </p:nvGrpSpPr>
        <p:grpSpPr>
          <a:xfrm>
            <a:off x="701175" y="1895624"/>
            <a:ext cx="2630093" cy="2892808"/>
            <a:chOff x="701175" y="1527996"/>
            <a:chExt cx="2630093" cy="2892808"/>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22" name="그룹 121"/>
            <p:cNvGrpSpPr/>
            <p:nvPr/>
          </p:nvGrpSpPr>
          <p:grpSpPr>
            <a:xfrm flipV="1">
              <a:off x="3124233" y="1641327"/>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3" name="직사각형 122"/>
            <p:cNvSpPr/>
            <p:nvPr/>
          </p:nvSpPr>
          <p:spPr>
            <a:xfrm>
              <a:off x="703268" y="1835482"/>
              <a:ext cx="792000" cy="2576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2025-03-02</a:t>
              </a:r>
            </a:p>
            <a:p>
              <a:pPr>
                <a:lnSpc>
                  <a:spcPct val="200000"/>
                </a:lnSpc>
              </a:pPr>
              <a:r>
                <a:rPr lang="en-US" altLang="ko-KR" sz="700" dirty="0">
                  <a:latin typeface="+mn-ea"/>
                </a:rPr>
                <a:t>2025-03-02 15:00:00</a:t>
              </a:r>
            </a:p>
          </p:txBody>
        </p:sp>
        <p:grpSp>
          <p:nvGrpSpPr>
            <p:cNvPr id="127" name="그룹 126"/>
            <p:cNvGrpSpPr/>
            <p:nvPr/>
          </p:nvGrpSpPr>
          <p:grpSpPr>
            <a:xfrm>
              <a:off x="701175" y="1835481"/>
              <a:ext cx="2630093" cy="2576880"/>
              <a:chOff x="701175" y="1835481"/>
              <a:chExt cx="2630093" cy="2576880"/>
            </a:xfrm>
          </p:grpSpPr>
          <p:cxnSp>
            <p:nvCxnSpPr>
              <p:cNvPr id="129" name="직선 연결선 12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TextBox 127">
              <a:extLst>
                <a:ext uri="{FF2B5EF4-FFF2-40B4-BE49-F238E27FC236}">
                  <a16:creationId xmlns:a16="http://schemas.microsoft.com/office/drawing/2014/main" id="{FFC49AEA-2A8F-250C-A86A-A7751D9706C3}"/>
                </a:ext>
              </a:extLst>
            </p:cNvPr>
            <p:cNvSpPr txBox="1"/>
            <p:nvPr/>
          </p:nvSpPr>
          <p:spPr>
            <a:xfrm>
              <a:off x="790330" y="3767437"/>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grpSp>
        <p:nvGrpSpPr>
          <p:cNvPr id="144" name="그룹 143"/>
          <p:cNvGrpSpPr/>
          <p:nvPr/>
        </p:nvGrpSpPr>
        <p:grpSpPr>
          <a:xfrm>
            <a:off x="3795735" y="1901662"/>
            <a:ext cx="2712026" cy="944800"/>
            <a:chOff x="3795735" y="4570486"/>
            <a:chExt cx="2712026" cy="944800"/>
          </a:xfrm>
        </p:grpSpPr>
        <p:sp>
          <p:nvSpPr>
            <p:cNvPr id="145" name="TextBox 14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46" name="그룹 145"/>
            <p:cNvGrpSpPr/>
            <p:nvPr/>
          </p:nvGrpSpPr>
          <p:grpSpPr>
            <a:xfrm flipV="1">
              <a:off x="6240167" y="4729163"/>
              <a:ext cx="94010" cy="47005"/>
              <a:chOff x="6812560" y="3297172"/>
              <a:chExt cx="94010" cy="47005"/>
            </a:xfrm>
          </p:grpSpPr>
          <p:cxnSp>
            <p:nvCxnSpPr>
              <p:cNvPr id="164" name="직선 연결선 1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1" name="직선 연결선 18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모서리가 둥근 직사각형 15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3" name="TextBox 152">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154" name="TextBox 153">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66389988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548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Autofit/>
          </a:bodyPr>
          <a:lstStyle/>
          <a:p>
            <a:pPr fontAlgn="ctr"/>
            <a:r>
              <a:rPr lang="ko-KR" altLang="en-US" sz="800" dirty="0" err="1">
                <a:latin typeface="+mn-ea"/>
              </a:rPr>
              <a:t>공개수의협상견적서상세</a:t>
            </a:r>
            <a:r>
              <a:rPr lang="en-US" altLang="ko-KR" sz="800" dirty="0">
                <a:latin typeface="+mn-ea"/>
              </a:rPr>
              <a:t> - </a:t>
            </a:r>
            <a:r>
              <a:rPr lang="ko-KR" altLang="en-US" sz="800"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MUI-BD-12-T79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325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모서리가 둥근 직사각형 151"/>
          <p:cNvSpPr/>
          <p:nvPr/>
        </p:nvSpPr>
        <p:spPr>
          <a:xfrm rot="5400000">
            <a:off x="5780626" y="311591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10" name="그룹 209"/>
          <p:cNvGrpSpPr/>
          <p:nvPr/>
        </p:nvGrpSpPr>
        <p:grpSpPr>
          <a:xfrm flipV="1">
            <a:off x="3139424" y="1984301"/>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3" name="그룹 262"/>
          <p:cNvGrpSpPr/>
          <p:nvPr/>
        </p:nvGrpSpPr>
        <p:grpSpPr>
          <a:xfrm>
            <a:off x="675400" y="1493927"/>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129964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85" name="그룹 284"/>
          <p:cNvGrpSpPr/>
          <p:nvPr/>
        </p:nvGrpSpPr>
        <p:grpSpPr>
          <a:xfrm>
            <a:off x="716366" y="1893102"/>
            <a:ext cx="2630093" cy="1826414"/>
            <a:chOff x="3791188" y="2611009"/>
            <a:chExt cx="2630093" cy="1826414"/>
          </a:xfrm>
        </p:grpSpPr>
        <p:sp>
          <p:nvSpPr>
            <p:cNvPr id="286" name="TextBox 28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287" name="직사각형 286"/>
            <p:cNvSpPr/>
            <p:nvPr/>
          </p:nvSpPr>
          <p:spPr>
            <a:xfrm>
              <a:off x="3793281" y="2918495"/>
              <a:ext cx="792000" cy="15189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8" name="직선 연결선 28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9" name="TextBox 288">
              <a:extLst>
                <a:ext uri="{FF2B5EF4-FFF2-40B4-BE49-F238E27FC236}">
                  <a16:creationId xmlns:a16="http://schemas.microsoft.com/office/drawing/2014/main" id="{FFC49AEA-2A8F-250C-A86A-A7751D9706C3}"/>
                </a:ext>
              </a:extLst>
            </p:cNvPr>
            <p:cNvSpPr txBox="1"/>
            <p:nvPr/>
          </p:nvSpPr>
          <p:spPr>
            <a:xfrm>
              <a:off x="3880345" y="2918494"/>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smtClean="0">
                  <a:latin typeface="+mn-ea"/>
                </a:rPr>
                <a:t>대표자</a:t>
              </a:r>
              <a:endParaRPr lang="en-US" altLang="ko-KR" sz="700" dirty="0" smtClean="0">
                <a:latin typeface="+mn-ea"/>
              </a:endParaRPr>
            </a:p>
            <a:p>
              <a:pPr>
                <a:lnSpc>
                  <a:spcPct val="200000"/>
                </a:lnSpc>
              </a:pPr>
              <a:r>
                <a:rPr lang="ko-KR" altLang="en-US" sz="700" dirty="0" smtClean="0">
                  <a:latin typeface="+mn-ea"/>
                </a:rPr>
                <a:t>전화번호</a:t>
              </a:r>
              <a:endParaRPr lang="ko-KR" altLang="en-US" sz="700" dirty="0">
                <a:latin typeface="+mn-ea"/>
              </a:endParaRP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290" name="TextBox 289">
              <a:extLst>
                <a:ext uri="{FF2B5EF4-FFF2-40B4-BE49-F238E27FC236}">
                  <a16:creationId xmlns:a16="http://schemas.microsoft.com/office/drawing/2014/main" id="{FFC49AEA-2A8F-250C-A86A-A7751D9706C3}"/>
                </a:ext>
              </a:extLst>
            </p:cNvPr>
            <p:cNvSpPr txBox="1"/>
            <p:nvPr/>
          </p:nvSpPr>
          <p:spPr>
            <a:xfrm>
              <a:off x="4637193" y="2918494"/>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smtClean="0">
                  <a:latin typeface="+mn-ea"/>
                </a:rPr>
                <a:t>홍길동</a:t>
              </a:r>
              <a:endParaRPr lang="en-US" altLang="ko-KR" sz="700" dirty="0" smtClean="0">
                <a:latin typeface="+mn-ea"/>
              </a:endParaRPr>
            </a:p>
            <a:p>
              <a:pPr>
                <a:lnSpc>
                  <a:spcPct val="200000"/>
                </a:lnSpc>
              </a:pPr>
              <a:r>
                <a:rPr lang="en-US" altLang="ko-KR" sz="700" dirty="0" smtClean="0">
                  <a:latin typeface="+mn-ea"/>
                </a:rPr>
                <a:t>02-1234-5678</a:t>
              </a:r>
              <a:endParaRPr lang="en-US" altLang="ko-KR" sz="700" dirty="0">
                <a:latin typeface="+mn-ea"/>
              </a:endParaRP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2" name="직선 연결선 29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3" name="직선 연결선 29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4" name="직선 연결선 29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7" name="직선 연결선 2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300" name="그룹 299"/>
          <p:cNvGrpSpPr/>
          <p:nvPr/>
        </p:nvGrpSpPr>
        <p:grpSpPr>
          <a:xfrm>
            <a:off x="3836701" y="1893102"/>
            <a:ext cx="2630093" cy="2031034"/>
            <a:chOff x="3791188" y="2611009"/>
            <a:chExt cx="2630093" cy="2031034"/>
          </a:xfrm>
        </p:grpSpPr>
        <p:sp>
          <p:nvSpPr>
            <p:cNvPr id="301" name="TextBox 3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302" name="직사각형 3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3" name="직선 연결선 3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4" name="TextBox 303">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smtClean="0">
                  <a:latin typeface="+mn-ea"/>
                </a:rPr>
                <a:t>abc@abc.com</a:t>
              </a:r>
              <a:endParaRPr lang="en-US" altLang="ko-KR" sz="700" dirty="0">
                <a:latin typeface="+mn-ea"/>
              </a:endParaRP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3" name="직선 연결선 312">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15" name="그룹 314"/>
          <p:cNvGrpSpPr/>
          <p:nvPr/>
        </p:nvGrpSpPr>
        <p:grpSpPr>
          <a:xfrm flipV="1">
            <a:off x="6279313" y="1984301"/>
            <a:ext cx="94010" cy="47005"/>
            <a:chOff x="6812560" y="3297172"/>
            <a:chExt cx="94010" cy="47005"/>
          </a:xfrm>
        </p:grpSpPr>
        <p:cxnSp>
          <p:nvCxnSpPr>
            <p:cNvPr id="320" name="직선 연결선 3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3" name="직선 연결선 3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4" name="그룹 93"/>
          <p:cNvGrpSpPr/>
          <p:nvPr/>
        </p:nvGrpSpPr>
        <p:grpSpPr>
          <a:xfrm>
            <a:off x="3791609" y="1493927"/>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129964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82" name="그룹 81"/>
          <p:cNvGrpSpPr/>
          <p:nvPr/>
        </p:nvGrpSpPr>
        <p:grpSpPr>
          <a:xfrm>
            <a:off x="8223250" y="569392"/>
            <a:ext cx="3365500" cy="634511"/>
            <a:chOff x="8223250" y="569392"/>
            <a:chExt cx="3365500" cy="634511"/>
          </a:xfrm>
        </p:grpSpPr>
        <p:sp>
          <p:nvSpPr>
            <p:cNvPr id="83" name="직사각형 82"/>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2026-07-01 </a:t>
              </a:r>
              <a:r>
                <a:rPr lang="ko-KR" altLang="en-US" dirty="0" smtClean="0"/>
                <a:t>화면 </a:t>
              </a:r>
              <a:r>
                <a:rPr lang="ko-KR" altLang="en-US" dirty="0"/>
                <a:t>수정</a:t>
              </a:r>
            </a:p>
          </p:txBody>
        </p:sp>
        <p:sp>
          <p:nvSpPr>
            <p:cNvPr id="84" name="직사각형 83"/>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주민등록번호 삭제</a:t>
              </a:r>
              <a:endParaRPr lang="ko-KR" altLang="en-US" sz="700" dirty="0"/>
            </a:p>
          </p:txBody>
        </p:sp>
      </p:grpSp>
    </p:spTree>
    <p:extLst>
      <p:ext uri="{BB962C8B-B14F-4D97-AF65-F5344CB8AC3E}">
        <p14:creationId xmlns:p14="http://schemas.microsoft.com/office/powerpoint/2010/main" val="330992303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549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Autofit/>
          </a:bodyPr>
          <a:lstStyle/>
          <a:p>
            <a:pPr fontAlgn="ctr"/>
            <a:r>
              <a:rPr lang="ko-KR" altLang="en-US" sz="800" dirty="0" err="1">
                <a:latin typeface="+mn-ea"/>
              </a:rPr>
              <a:t>공개수의협상견적서상세</a:t>
            </a:r>
            <a:r>
              <a:rPr lang="en-US" altLang="ko-KR" sz="800" dirty="0">
                <a:latin typeface="+mn-ea"/>
              </a:rPr>
              <a:t> - </a:t>
            </a:r>
            <a:r>
              <a:rPr lang="ko-KR" altLang="en-US" sz="800" dirty="0" err="1">
                <a:latin typeface="+mn-ea"/>
              </a:rPr>
              <a:t>입찰품목</a:t>
            </a:r>
            <a:endParaRPr lang="ko-KR" altLang="en-US" sz="800"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MUI-BD-12-T80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7" name="타원 326">
            <a:extLst>
              <a:ext uri="{FF2B5EF4-FFF2-40B4-BE49-F238E27FC236}">
                <a16:creationId xmlns:a16="http://schemas.microsoft.com/office/drawing/2014/main" id="{37A7FF4F-0EAA-1463-560A-D5EC24416103}"/>
              </a:ext>
            </a:extLst>
          </p:cNvPr>
          <p:cNvSpPr/>
          <p:nvPr/>
        </p:nvSpPr>
        <p:spPr>
          <a:xfrm>
            <a:off x="589334" y="194844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641742"/>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4674977"/>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254535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13924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59" name="그룹 158"/>
          <p:cNvGrpSpPr/>
          <p:nvPr/>
        </p:nvGrpSpPr>
        <p:grpSpPr>
          <a:xfrm>
            <a:off x="701175" y="1899756"/>
            <a:ext cx="2630093" cy="3557641"/>
            <a:chOff x="701175" y="1527996"/>
            <a:chExt cx="2630093" cy="3557641"/>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2"/>
              <a:ext cx="792000" cy="3006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2981907"/>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ko-KR" altLang="en-US" sz="700" dirty="0" err="1">
                  <a:latin typeface="+mn-ea"/>
                </a:rPr>
                <a:t>견적단가</a:t>
              </a:r>
              <a:endParaRPr lang="ko-KR" altLang="en-US" sz="700" dirty="0">
                <a:latin typeface="+mn-ea"/>
              </a:endParaRPr>
            </a:p>
            <a:p>
              <a:pPr>
                <a:lnSpc>
                  <a:spcPct val="200000"/>
                </a:lnSpc>
              </a:pPr>
              <a:r>
                <a:rPr lang="ko-KR" altLang="en-US" sz="700" dirty="0" err="1">
                  <a:latin typeface="+mn-ea"/>
                </a:rPr>
                <a:t>견적금액</a:t>
              </a:r>
              <a:endParaRPr lang="ko-KR" altLang="en-US" sz="700" dirty="0">
                <a:latin typeface="+mn-ea"/>
              </a:endParaRPr>
            </a:p>
            <a:p>
              <a:pPr>
                <a:lnSpc>
                  <a:spcPct val="200000"/>
                </a:lnSpc>
              </a:pPr>
              <a:r>
                <a:rPr lang="ko-KR" altLang="en-US" sz="700" dirty="0">
                  <a:latin typeface="+mn-ea"/>
                </a:rPr>
                <a:t>화폐단위</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301621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Y</a:t>
              </a:r>
            </a:p>
            <a:p>
              <a:pPr>
                <a:lnSpc>
                  <a:spcPct val="200000"/>
                </a:lnSpc>
              </a:pPr>
              <a:r>
                <a:rPr lang="en-US" altLang="ko-KR" sz="700" dirty="0">
                  <a:solidFill>
                    <a:srgbClr val="0070C0"/>
                  </a:solidFill>
                  <a:latin typeface="+mn-ea"/>
                </a:rPr>
                <a:t>File.pdf</a:t>
              </a:r>
            </a:p>
            <a:p>
              <a:pPr>
                <a:lnSpc>
                  <a:spcPct val="200000"/>
                </a:lnSpc>
              </a:pPr>
              <a:r>
                <a:rPr lang="en-US" altLang="ko-KR" sz="700" dirty="0">
                  <a:latin typeface="+mn-ea"/>
                </a:rPr>
                <a:t>1</a:t>
              </a:r>
            </a:p>
            <a:p>
              <a:pPr>
                <a:lnSpc>
                  <a:spcPct val="200000"/>
                </a:lnSpc>
              </a:pPr>
              <a:r>
                <a:rPr lang="en-US" altLang="ko-KR" sz="700" dirty="0">
                  <a:latin typeface="+mn-ea"/>
                </a:rPr>
                <a:t>2</a:t>
              </a:r>
            </a:p>
            <a:p>
              <a:pPr algn="r">
                <a:lnSpc>
                  <a:spcPct val="200000"/>
                </a:lnSpc>
              </a:pPr>
              <a:r>
                <a:rPr lang="en-US" altLang="ko-KR" sz="700" dirty="0">
                  <a:latin typeface="+mn-ea"/>
                </a:rPr>
                <a:t>10,000.00</a:t>
              </a:r>
            </a:p>
            <a:p>
              <a:pPr algn="r">
                <a:lnSpc>
                  <a:spcPct val="200000"/>
                </a:lnSpc>
              </a:pPr>
              <a:r>
                <a:rPr lang="en-US" altLang="ko-KR" sz="700" dirty="0">
                  <a:latin typeface="+mn-ea"/>
                </a:rPr>
                <a:t>608,000.00</a:t>
              </a:r>
            </a:p>
            <a:p>
              <a:pPr>
                <a:lnSpc>
                  <a:spcPct val="200000"/>
                </a:lnSpc>
              </a:pPr>
              <a:r>
                <a:rPr lang="en-US" altLang="ko-KR" sz="700" dirty="0">
                  <a:latin typeface="+mn-ea"/>
                </a:rPr>
                <a:t>USD (</a:t>
              </a:r>
              <a:r>
                <a:rPr lang="ko-KR" altLang="en-US" sz="700" dirty="0">
                  <a:latin typeface="+mn-ea"/>
                </a:rPr>
                <a:t>미 달러</a:t>
              </a:r>
              <a:r>
                <a:rPr lang="en-US" altLang="ko-KR" sz="700" dirty="0">
                  <a:latin typeface="+mn-ea"/>
                </a:rPr>
                <a:t>)</a:t>
              </a:r>
            </a:p>
          </p:txBody>
        </p:sp>
        <p:grpSp>
          <p:nvGrpSpPr>
            <p:cNvPr id="194" name="그룹 193"/>
            <p:cNvGrpSpPr/>
            <p:nvPr/>
          </p:nvGrpSpPr>
          <p:grpSpPr>
            <a:xfrm>
              <a:off x="701175" y="1835481"/>
              <a:ext cx="2630093" cy="3250156"/>
              <a:chOff x="701175" y="1835481"/>
              <a:chExt cx="2630093" cy="3250156"/>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856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4" name="직사각형 233"/>
          <p:cNvSpPr/>
          <p:nvPr/>
        </p:nvSpPr>
        <p:spPr>
          <a:xfrm>
            <a:off x="3820170" y="197002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197002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197002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197002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285552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790250" y="525411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grpSp>
        <p:nvGrpSpPr>
          <p:cNvPr id="130" name="그룹 129"/>
          <p:cNvGrpSpPr/>
          <p:nvPr/>
        </p:nvGrpSpPr>
        <p:grpSpPr>
          <a:xfrm>
            <a:off x="675400" y="1497116"/>
            <a:ext cx="2712027" cy="334927"/>
            <a:chOff x="675399" y="3560135"/>
            <a:chExt cx="2712027" cy="334927"/>
          </a:xfrm>
        </p:grpSpPr>
        <p:cxnSp>
          <p:nvCxnSpPr>
            <p:cNvPr id="131" name="직선 연결선 13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197278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2924086" y="3640332"/>
              <a:ext cx="422853" cy="187961"/>
              <a:chOff x="3641308" y="2234886"/>
              <a:chExt cx="422853" cy="187961"/>
            </a:xfrm>
          </p:grpSpPr>
          <p:sp>
            <p:nvSpPr>
              <p:cNvPr id="140" name="타원 13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2" name="타원 14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3" name="그룹 142"/>
              <p:cNvGrpSpPr/>
              <p:nvPr/>
            </p:nvGrpSpPr>
            <p:grpSpPr>
              <a:xfrm rot="16200000">
                <a:off x="3931564"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7" name="직선 연결선 13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55" name="그룹 154"/>
          <p:cNvGrpSpPr/>
          <p:nvPr/>
        </p:nvGrpSpPr>
        <p:grpSpPr>
          <a:xfrm>
            <a:off x="3791609" y="1497116"/>
            <a:ext cx="2712027" cy="334927"/>
            <a:chOff x="675399" y="3560135"/>
            <a:chExt cx="2712027" cy="334927"/>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1984668"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7" name="그룹 166"/>
            <p:cNvGrpSpPr/>
            <p:nvPr/>
          </p:nvGrpSpPr>
          <p:grpSpPr>
            <a:xfrm>
              <a:off x="2924086" y="3640332"/>
              <a:ext cx="422853" cy="187961"/>
              <a:chOff x="3641308" y="2234886"/>
              <a:chExt cx="422853" cy="187961"/>
            </a:xfrm>
          </p:grpSpPr>
          <p:sp>
            <p:nvSpPr>
              <p:cNvPr id="171" name="타원 17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2" name="그룹 171"/>
              <p:cNvGrpSpPr/>
              <p:nvPr/>
            </p:nvGrpSpPr>
            <p:grpSpPr>
              <a:xfrm rot="5400000" flipH="1">
                <a:off x="3679895"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타원 17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4" name="그룹 173"/>
              <p:cNvGrpSpPr/>
              <p:nvPr/>
            </p:nvGrpSpPr>
            <p:grpSpPr>
              <a:xfrm rot="16200000">
                <a:off x="3931564" y="2305364"/>
                <a:ext cx="94010" cy="47005"/>
                <a:chOff x="6812560" y="3297172"/>
                <a:chExt cx="94010" cy="47005"/>
              </a:xfrm>
            </p:grpSpPr>
            <p:cxnSp>
              <p:nvCxnSpPr>
                <p:cNvPr id="175" name="직선 연결선 1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6" name="직선 연결선 1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8" name="직선 연결선 16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83" name="사각형: 둥근 모서리 15">
            <a:extLst>
              <a:ext uri="{FF2B5EF4-FFF2-40B4-BE49-F238E27FC236}">
                <a16:creationId xmlns:a16="http://schemas.microsoft.com/office/drawing/2014/main" id="{E2B61CFB-AD16-68D0-8752-50D9C5E01971}"/>
              </a:ext>
            </a:extLst>
          </p:cNvPr>
          <p:cNvSpPr/>
          <p:nvPr/>
        </p:nvSpPr>
        <p:spPr>
          <a:xfrm>
            <a:off x="2836921" y="3949500"/>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보기</a:t>
            </a:r>
            <a:endParaRPr kumimoji="1" lang="en-US" sz="7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4277461947"/>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Autofit/>
          </a:bodyPr>
          <a:lstStyle/>
          <a:p>
            <a:pPr fontAlgn="ctr"/>
            <a:r>
              <a:rPr lang="ko-KR" altLang="en-US" sz="800" dirty="0" err="1">
                <a:latin typeface="+mn-ea"/>
              </a:rPr>
              <a:t>공개수의협상견적서상세</a:t>
            </a:r>
            <a:r>
              <a:rPr lang="en-US" altLang="ko-KR" sz="800" dirty="0">
                <a:latin typeface="+mn-ea"/>
              </a:rPr>
              <a:t> - </a:t>
            </a:r>
            <a:r>
              <a:rPr lang="ko-KR" altLang="en-US" sz="800"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MUI-BD-12-T81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1891736"/>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2901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364643"/>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241850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33078" y="24003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269680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277132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282519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33078" y="280705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15500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42594" y="215500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15500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19226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0" name="모서리가 둥근 직사각형 99"/>
          <p:cNvSpPr/>
          <p:nvPr/>
        </p:nvSpPr>
        <p:spPr>
          <a:xfrm>
            <a:off x="710315" y="309817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172692"/>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22655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33078" y="320841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350485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3579378"/>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363323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33078" y="361510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모서리가 둥근 직사각형 139"/>
          <p:cNvSpPr/>
          <p:nvPr/>
        </p:nvSpPr>
        <p:spPr>
          <a:xfrm rot="5400000">
            <a:off x="2662242" y="254216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62" name="그룹 61"/>
          <p:cNvGrpSpPr/>
          <p:nvPr/>
        </p:nvGrpSpPr>
        <p:grpSpPr>
          <a:xfrm>
            <a:off x="675400" y="1493927"/>
            <a:ext cx="2712027" cy="334927"/>
            <a:chOff x="675399" y="3560135"/>
            <a:chExt cx="2712027" cy="334927"/>
          </a:xfrm>
        </p:grpSpPr>
        <p:cxnSp>
          <p:nvCxnSpPr>
            <p:cNvPr id="63" name="직선 연결선 6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66" name="TextBox 6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67" name="직선 연결선 6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8" name="그룹 67"/>
            <p:cNvGrpSpPr/>
            <p:nvPr/>
          </p:nvGrpSpPr>
          <p:grpSpPr>
            <a:xfrm>
              <a:off x="2924086" y="3640332"/>
              <a:ext cx="422853" cy="187961"/>
              <a:chOff x="3641308" y="2234886"/>
              <a:chExt cx="422853" cy="187961"/>
            </a:xfrm>
          </p:grpSpPr>
          <p:sp>
            <p:nvSpPr>
              <p:cNvPr id="72" name="타원 7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rot="5400000" flipH="1">
                <a:off x="3679895" y="2305364"/>
                <a:ext cx="94010" cy="47005"/>
                <a:chOff x="6812560" y="3297172"/>
                <a:chExt cx="94010" cy="47005"/>
              </a:xfrm>
            </p:grpSpPr>
            <p:cxnSp>
              <p:nvCxnSpPr>
                <p:cNvPr id="78" name="직선 연결선 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9" name="직선 연결선 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4" name="타원 7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5" name="그룹 74"/>
              <p:cNvGrpSpPr/>
              <p:nvPr/>
            </p:nvGrpSpPr>
            <p:grpSpPr>
              <a:xfrm rot="16200000">
                <a:off x="3931564" y="2305364"/>
                <a:ext cx="94010" cy="47005"/>
                <a:chOff x="6812560" y="3297172"/>
                <a:chExt cx="94010" cy="47005"/>
              </a:xfrm>
            </p:grpSpPr>
            <p:cxnSp>
              <p:nvCxnSpPr>
                <p:cNvPr id="76" name="직선 연결선 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7" name="직선 연결선 7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69" name="직선 연결선 6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1" name="TextBox 70">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98" name="직사각형 9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30384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3914777" y="2002482"/>
            <a:ext cx="2473940" cy="969496"/>
          </a:xfrm>
          <a:prstGeom prst="rect">
            <a:avLst/>
          </a:prstGeom>
          <a:noFill/>
        </p:spPr>
        <p:txBody>
          <a:bodyPr wrap="square" lIns="0" tIns="0" rIns="0" bIns="0" rtlCol="0">
            <a:spAutoFit/>
          </a:bodyPr>
          <a:lstStyle/>
          <a:p>
            <a:r>
              <a:rPr lang="ko-KR" altLang="en-US" sz="700" dirty="0">
                <a:latin typeface="+mn-ea"/>
              </a:rPr>
              <a:t>견적서</a:t>
            </a:r>
            <a:r>
              <a:rPr lang="en-US" altLang="ko-KR" sz="700" dirty="0">
                <a:latin typeface="+mn-ea"/>
              </a:rPr>
              <a:t>(</a:t>
            </a:r>
            <a:r>
              <a:rPr lang="ko-KR" altLang="en-US" sz="700" dirty="0" err="1">
                <a:latin typeface="+mn-ea"/>
              </a:rPr>
              <a:t>가격제안서</a:t>
            </a:r>
            <a:r>
              <a:rPr lang="en-US" altLang="ko-KR" sz="700" dirty="0">
                <a:latin typeface="+mn-ea"/>
              </a:rPr>
              <a:t>)</a:t>
            </a:r>
            <a:r>
              <a:rPr lang="ko-KR" altLang="en-US" sz="700" dirty="0">
                <a:latin typeface="+mn-ea"/>
              </a:rPr>
              <a:t>는 제출 후 수정할 수 없습니다</a:t>
            </a:r>
            <a:r>
              <a:rPr lang="en-US" altLang="ko-KR" sz="700" dirty="0">
                <a:latin typeface="+mn-ea"/>
              </a:rPr>
              <a:t>. </a:t>
            </a:r>
            <a:r>
              <a:rPr lang="ko-KR" altLang="en-US" sz="700" dirty="0" err="1">
                <a:latin typeface="+mn-ea"/>
              </a:rPr>
              <a:t>입찰내역을</a:t>
            </a:r>
            <a:r>
              <a:rPr lang="ko-KR" altLang="en-US" sz="700" dirty="0">
                <a:latin typeface="+mn-ea"/>
              </a:rPr>
              <a:t> 주의하여 작성하시기 바랍니다</a:t>
            </a:r>
            <a:r>
              <a:rPr lang="en-US" altLang="ko-KR" sz="700" dirty="0">
                <a:latin typeface="+mn-ea"/>
              </a:rPr>
              <a:t>.</a:t>
            </a:r>
          </a:p>
          <a:p>
            <a:r>
              <a:rPr lang="ko-KR" altLang="en-US" sz="700" dirty="0">
                <a:latin typeface="+mn-ea"/>
              </a:rPr>
              <a:t>본인은 국가를 당사자로 하는 계약에 관한 법률시행규칙에 의한 공사 입찰유의서에 따라 응찰하여 이 입찰이 귀 기관에 의하여 수락되면 공사 계약일반조건</a:t>
            </a:r>
            <a:r>
              <a:rPr lang="en-US" altLang="ko-KR" sz="700" dirty="0">
                <a:latin typeface="+mn-ea"/>
              </a:rPr>
              <a:t>, </a:t>
            </a:r>
            <a:r>
              <a:rPr lang="ko-KR" altLang="en-US" sz="700" dirty="0">
                <a:latin typeface="+mn-ea"/>
              </a:rPr>
              <a:t>계약특수조건</a:t>
            </a:r>
            <a:r>
              <a:rPr lang="en-US" altLang="ko-KR" sz="700" dirty="0">
                <a:latin typeface="+mn-ea"/>
              </a:rPr>
              <a:t>, </a:t>
            </a:r>
            <a:r>
              <a:rPr lang="ko-KR" altLang="en-US" sz="700" dirty="0">
                <a:latin typeface="+mn-ea"/>
              </a:rPr>
              <a:t>설계서 및 현장 설명 사항에 따라 위의 입찰금액으로 준공기한내에 공사를 완공할 것을 </a:t>
            </a:r>
            <a:r>
              <a:rPr lang="ko-KR" altLang="en-US" sz="700" dirty="0" err="1">
                <a:latin typeface="+mn-ea"/>
              </a:rPr>
              <a:t>확약하오며</a:t>
            </a:r>
            <a:r>
              <a:rPr lang="ko-KR" altLang="en-US" sz="700" dirty="0">
                <a:latin typeface="+mn-ea"/>
              </a:rPr>
              <a:t> 견적서를 제출합니다</a:t>
            </a:r>
            <a:r>
              <a:rPr lang="en-US" altLang="ko-KR" sz="700" dirty="0">
                <a:latin typeface="+mn-ea"/>
              </a:rPr>
              <a:t>.</a:t>
            </a:r>
          </a:p>
          <a:p>
            <a:endParaRPr lang="en-US" altLang="ko-KR" sz="700" dirty="0">
              <a:latin typeface="+mn-ea"/>
            </a:endParaRPr>
          </a:p>
          <a:p>
            <a:r>
              <a:rPr lang="ko-KR" altLang="en-US" sz="700" dirty="0">
                <a:latin typeface="+mn-ea"/>
              </a:rPr>
              <a:t>유의사항 </a:t>
            </a:r>
            <a:r>
              <a:rPr lang="en-US" altLang="ko-KR" sz="700" dirty="0">
                <a:latin typeface="+mn-ea"/>
              </a:rPr>
              <a:t>: </a:t>
            </a: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795733" y="18922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3795733" y="1493927"/>
            <a:ext cx="2712027" cy="334927"/>
            <a:chOff x="675399" y="3560135"/>
            <a:chExt cx="2712027" cy="334927"/>
          </a:xfrm>
        </p:grpSpPr>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8" name="그룹 137"/>
            <p:cNvGrpSpPr/>
            <p:nvPr/>
          </p:nvGrpSpPr>
          <p:grpSpPr>
            <a:xfrm>
              <a:off x="2924086" y="3640332"/>
              <a:ext cx="422853" cy="187961"/>
              <a:chOff x="3641308" y="2234886"/>
              <a:chExt cx="422853" cy="187961"/>
            </a:xfrm>
          </p:grpSpPr>
          <p:sp>
            <p:nvSpPr>
              <p:cNvPr id="143" name="타원 14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7" name="직선 연결선 1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타원 14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16200000">
                <a:off x="3931564" y="2305364"/>
                <a:ext cx="94010" cy="47005"/>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9" name="직선 연결선 13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68" name="TextBox 16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4269943048"/>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551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6377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0747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79241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8757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790333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3828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7789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518668"/>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13843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027366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etdcDdlnDt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588139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50428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15439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344442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381EE26-F3EF-ADB2-9BE7-46D22CD771ED}"/>
              </a:ext>
            </a:extLst>
          </p:cNvPr>
          <p:cNvSpPr txBox="1"/>
          <p:nvPr/>
        </p:nvSpPr>
        <p:spPr>
          <a:xfrm>
            <a:off x="458117" y="4446108"/>
            <a:ext cx="2379425"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영역 </a:t>
            </a:r>
            <a:r>
              <a:rPr lang="en-US" altLang="ko-KR" sz="900" b="1" dirty="0">
                <a:solidFill>
                  <a:prstClr val="black"/>
                </a:solidFill>
              </a:rPr>
              <a:t>(</a:t>
            </a:r>
            <a:r>
              <a:rPr lang="en-US" altLang="ko-KR" sz="900" b="1" dirty="0" err="1">
                <a:solidFill>
                  <a:prstClr val="black"/>
                </a:solidFill>
              </a:rPr>
              <a:t>dm_aplyBzenty</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4A2A78DB-898E-F6F7-B7F2-BDE6122ACAF8}"/>
              </a:ext>
            </a:extLst>
          </p:cNvPr>
          <p:cNvGraphicFramePr>
            <a:graphicFrameLocks noGrp="1"/>
          </p:cNvGraphicFramePr>
          <p:nvPr>
            <p:extLst/>
          </p:nvPr>
        </p:nvGraphicFramePr>
        <p:xfrm>
          <a:off x="452999" y="4657311"/>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52726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785792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200253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84106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330658983"/>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552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265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영역 </a:t>
            </a:r>
            <a:r>
              <a:rPr lang="en-US" altLang="ko-KR" sz="900" b="1" dirty="0">
                <a:solidFill>
                  <a:prstClr val="black"/>
                </a:solidFill>
              </a:rPr>
              <a:t>(</a:t>
            </a:r>
            <a:r>
              <a:rPr lang="en-US" altLang="ko-KR" sz="900" b="1" dirty="0" err="1">
                <a:solidFill>
                  <a:prstClr val="black"/>
                </a:solidFill>
              </a:rPr>
              <a:t>dm_bidBzenty</a:t>
            </a:r>
            <a:r>
              <a:rPr lang="en-US" altLang="ko-KR" sz="900" b="1" dirty="0">
                <a:solidFill>
                  <a:prstClr val="black"/>
                </a:solidFill>
              </a:rPr>
              <a:t>)</a:t>
            </a:r>
            <a:endParaRPr lang="ko-KR" altLang="en-US" sz="900" b="1" dirty="0">
              <a:solidFill>
                <a:prstClr val="black"/>
              </a:solidFill>
            </a:endParaRPr>
          </a:p>
        </p:txBody>
      </p:sp>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1011023"/>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733373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47513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72462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6564468"/>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89757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77A43EB0-0DB9-E1A9-0EE9-FF4FB85FBB44}"/>
              </a:ext>
            </a:extLst>
          </p:cNvPr>
          <p:cNvSpPr txBox="1"/>
          <p:nvPr/>
        </p:nvSpPr>
        <p:spPr>
          <a:xfrm>
            <a:off x="458117" y="3031963"/>
            <a:ext cx="239385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입찰품목 데이터 영역 </a:t>
            </a:r>
            <a:r>
              <a:rPr lang="en-US" altLang="ko-KR" sz="900" b="1" dirty="0">
                <a:solidFill>
                  <a:prstClr val="black"/>
                </a:solidFill>
              </a:rPr>
              <a:t>(</a:t>
            </a:r>
            <a:r>
              <a:rPr lang="en-US" altLang="ko-KR" sz="900" b="1" dirty="0" err="1">
                <a:solidFill>
                  <a:prstClr val="black"/>
                </a:solidFill>
              </a:rPr>
              <a:t>dl_bidItemList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13C4C691-0B38-4FC7-986A-B945290E7AF3}"/>
              </a:ext>
            </a:extLst>
          </p:cNvPr>
          <p:cNvGraphicFramePr>
            <a:graphicFrameLocks noGrp="1"/>
          </p:cNvGraphicFramePr>
          <p:nvPr/>
        </p:nvGraphicFramePr>
        <p:xfrm>
          <a:off x="452999" y="324316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재고번호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842549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863824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07511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(UI)</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539555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20229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16427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b="0" i="0" u="none" strike="noStrike" kern="1200" dirty="0">
                          <a:solidFill>
                            <a:srgbClr val="000000"/>
                          </a:solidFill>
                          <a:effectLst/>
                          <a:latin typeface="+mn-ea"/>
                          <a:ea typeface="+mn-ea"/>
                          <a:cs typeface="+mn-cs"/>
                        </a:rPr>
                        <a:t>상위코드</a:t>
                      </a:r>
                      <a:r>
                        <a:rPr lang="en-US" altLang="ko-KR" sz="800" b="0" i="0" u="none" strike="noStrike" kern="1200" dirty="0">
                          <a:solidFill>
                            <a:srgbClr val="000000"/>
                          </a:solidFill>
                          <a:effectLst/>
                          <a:latin typeface="+mn-ea"/>
                          <a:ea typeface="+mn-ea"/>
                          <a:cs typeface="+mn-cs"/>
                        </a:rPr>
                        <a:t>(FCUC)</a:t>
                      </a:r>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5197172"/>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b="0" i="0" u="none" strike="noStrike" kern="1200" dirty="0">
                          <a:solidFill>
                            <a:srgbClr val="000000"/>
                          </a:solidFill>
                          <a:effectLst/>
                          <a:latin typeface="+mn-ea"/>
                          <a:ea typeface="+mn-ea"/>
                          <a:cs typeface="+mn-cs"/>
                        </a:rPr>
                        <a:t>As it is/Replace</a:t>
                      </a:r>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3432952"/>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1855840"/>
                  </a:ext>
                </a:extLst>
              </a:tr>
              <a:tr h="0">
                <a:tc>
                  <a:txBody>
                    <a:bodyPr/>
                    <a:lstStyle/>
                    <a:p>
                      <a:pPr algn="l" fontAlgn="ctr"/>
                      <a:r>
                        <a:rPr lang="ko-KR" altLang="en-US" sz="800" b="0" i="0" u="none" strike="noStrike" dirty="0">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0778678"/>
                  </a:ext>
                </a:extLst>
              </a:tr>
              <a:tr h="0">
                <a:tc>
                  <a:txBody>
                    <a:bodyPr/>
                    <a:lstStyle/>
                    <a:p>
                      <a:pPr algn="l" fontAlgn="ctr"/>
                      <a:r>
                        <a:rPr lang="ko-KR" altLang="en-US" sz="800" b="0" i="0" u="none" strike="noStrike" dirty="0">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3920382"/>
                  </a:ext>
                </a:extLst>
              </a:tr>
              <a:tr h="0">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estmtUntprc</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6506492"/>
                  </a:ext>
                </a:extLst>
              </a:tr>
              <a:tr h="0">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estmtAmt</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9365215"/>
                  </a:ext>
                </a:extLst>
              </a:tr>
            </a:tbl>
          </a:graphicData>
        </a:graphic>
      </p:graphicFrame>
    </p:spTree>
    <p:extLst>
      <p:ext uri="{BB962C8B-B14F-4D97-AF65-F5344CB8AC3E}">
        <p14:creationId xmlns:p14="http://schemas.microsoft.com/office/powerpoint/2010/main" val="1314720267"/>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553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90F8167D-94A1-7E70-59CE-62A4154E3531}"/>
              </a:ext>
            </a:extLst>
          </p:cNvPr>
          <p:cNvSpPr txBox="1"/>
          <p:nvPr/>
        </p:nvSpPr>
        <p:spPr>
          <a:xfrm>
            <a:off x="458117" y="812160"/>
            <a:ext cx="209409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첨부파일 데이터 영역 </a:t>
            </a:r>
            <a:r>
              <a:rPr lang="en-US" altLang="ko-KR" sz="900" b="1" dirty="0">
                <a:solidFill>
                  <a:prstClr val="black"/>
                </a:solidFill>
              </a:rPr>
              <a:t>(</a:t>
            </a:r>
            <a:r>
              <a:rPr lang="en-US" altLang="ko-KR" sz="900" b="1" dirty="0" err="1">
                <a:solidFill>
                  <a:prstClr val="black"/>
                </a:solidFill>
              </a:rPr>
              <a:t>dl_docList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EB558C93-AD38-A7F1-7F37-F59D6CF7A991}"/>
              </a:ext>
            </a:extLst>
          </p:cNvPr>
          <p:cNvGraphicFramePr>
            <a:graphicFrameLocks noGrp="1"/>
          </p:cNvGraphicFramePr>
          <p:nvPr/>
        </p:nvGraphicFramePr>
        <p:xfrm>
          <a:off x="452999" y="1021332"/>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3974207196"/>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A383B8FF-BF72-FAEC-B935-96AD09469C93}"/>
              </a:ext>
            </a:extLst>
          </p:cNvPr>
          <p:cNvSpPr>
            <a:spLocks noGrp="1"/>
          </p:cNvSpPr>
          <p:nvPr>
            <p:ph type="sldNum" sz="quarter" idx="4"/>
          </p:nvPr>
        </p:nvSpPr>
        <p:spPr/>
        <p:txBody>
          <a:bodyPr/>
          <a:lstStyle/>
          <a:p>
            <a:fld id="{34C8E023-7346-48FC-AB24-9A3388C53208}" type="slidenum">
              <a:rPr lang="ko-KR" altLang="en-US" smtClean="0"/>
              <a:pPr/>
              <a:t>554</a:t>
            </a:fld>
            <a:endParaRPr lang="ko-KR" altLang="en-US" dirty="0"/>
          </a:p>
        </p:txBody>
      </p:sp>
      <p:sp>
        <p:nvSpPr>
          <p:cNvPr id="3" name="TextBox 2">
            <a:extLst>
              <a:ext uri="{FF2B5EF4-FFF2-40B4-BE49-F238E27FC236}">
                <a16:creationId xmlns:a16="http://schemas.microsoft.com/office/drawing/2014/main" id="{38C9FAC3-4D08-59EF-A1B3-F9D03D84391E}"/>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4043D04A-F39E-2FE6-C9DE-A0E40C96F1F1}"/>
              </a:ext>
            </a:extLst>
          </p:cNvPr>
          <p:cNvGraphicFramePr>
            <a:graphicFrameLocks noGrp="1"/>
          </p:cNvGraphicFramePr>
          <p:nvPr>
            <p:extLst/>
          </p:nvPr>
        </p:nvGraphicFramePr>
        <p:xfrm>
          <a:off x="458117" y="79954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공고정보 조회 견적서 상세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제출취소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scwin.btn_sbmsnCancel_onclick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t>공개수의협상견적서취소신청서작성</a:t>
                      </a:r>
                      <a:r>
                        <a:rPr lang="ko-KR" altLang="en-US" sz="800" dirty="0"/>
                        <a:t> 팝업 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UI-BD-12-P76</a:t>
                      </a:r>
                      <a:r>
                        <a:rPr lang="ko-KR" altLang="en-US" sz="800" dirty="0">
                          <a:latin typeface="+mn-ea"/>
                          <a:ea typeface="+mn-ea"/>
                        </a:rPr>
                        <a:t> 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7541491"/>
                  </a:ext>
                </a:extLst>
              </a:tr>
            </a:tbl>
          </a:graphicData>
        </a:graphic>
      </p:graphicFrame>
      <p:sp>
        <p:nvSpPr>
          <p:cNvPr id="5" name="Text Box 73">
            <a:extLst>
              <a:ext uri="{FF2B5EF4-FFF2-40B4-BE49-F238E27FC236}">
                <a16:creationId xmlns:a16="http://schemas.microsoft.com/office/drawing/2014/main" id="{98B82457-D774-A4D7-3E44-7AFE0E2763D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63461202"/>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555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공개수의협상견적서취소신청서작성</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공개수의협상견적서취소신청서작성</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0000" lnSpcReduction="20000"/>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r>
              <a:rPr lang="ko-KR" altLang="en-US" dirty="0">
                <a:latin typeface="+mn-ea"/>
              </a:rPr>
              <a:t> </a:t>
            </a:r>
            <a:r>
              <a:rPr lang="en-US" altLang="ko-KR" dirty="0">
                <a:latin typeface="+mn-ea"/>
              </a:rPr>
              <a:t>&gt; </a:t>
            </a:r>
            <a:r>
              <a:rPr lang="ko-KR" altLang="en-US" dirty="0" err="1">
                <a:latin typeface="+mn-ea"/>
              </a:rPr>
              <a:t>공개수의협상견적서취소신청서작성</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MUI-BD-12-P82</a:t>
            </a:r>
            <a:endParaRPr lang="ko-KR" altLang="en-US" dirty="0">
              <a:solidFill>
                <a:srgbClr val="000000"/>
              </a:solidFill>
              <a:latin typeface="맑은 고딕" panose="020B0503020000020004" pitchFamily="50" charset="-127"/>
            </a:endParaRPr>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공개수의협상견적서 </a:t>
            </a:r>
            <a:r>
              <a:rPr lang="ko-KR" altLang="en-US" sz="900" dirty="0" err="1">
                <a:latin typeface="+mn-ea"/>
              </a:rPr>
              <a:t>취소신청서</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공개수의협상견적서 </a:t>
            </a:r>
            <a:r>
              <a:rPr lang="ko-KR" altLang="en-US" sz="900" dirty="0" err="1">
                <a:latin typeface="+mn-ea"/>
              </a:rPr>
              <a:t>취소신청서</a:t>
            </a:r>
            <a:endParaRPr lang="ko-KR" altLang="en-US" sz="9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1169259"/>
            <a:chOff x="701175" y="2592310"/>
            <a:chExt cx="2630093" cy="1169259"/>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취소신청내역</a:t>
              </a:r>
            </a:p>
          </p:txBody>
        </p:sp>
        <p:sp>
          <p:nvSpPr>
            <p:cNvPr id="82" name="직사각형 81"/>
            <p:cNvSpPr/>
            <p:nvPr/>
          </p:nvSpPr>
          <p:spPr>
            <a:xfrm>
              <a:off x="703268" y="2899796"/>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통합참조번호</a:t>
              </a:r>
            </a:p>
          </p:txBody>
        </p:sp>
        <p:grpSp>
          <p:nvGrpSpPr>
            <p:cNvPr id="85" name="그룹 84"/>
            <p:cNvGrpSpPr/>
            <p:nvPr/>
          </p:nvGrpSpPr>
          <p:grpSpPr>
            <a:xfrm>
              <a:off x="701175" y="2899795"/>
              <a:ext cx="2630093" cy="858960"/>
              <a:chOff x="701175" y="1835481"/>
              <a:chExt cx="2630093" cy="85896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BAD839380-001</a:t>
              </a:r>
            </a:p>
            <a:p>
              <a:pPr>
                <a:lnSpc>
                  <a:spcPct val="200000"/>
                </a:lnSpc>
              </a:pPr>
              <a:r>
                <a:rPr lang="en-US" altLang="ko-KR" sz="700" dirty="0">
                  <a:latin typeface="+mn-ea"/>
                </a:rPr>
                <a:t>BAD83990EFD</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05" name="그룹 104"/>
          <p:cNvGrpSpPr/>
          <p:nvPr/>
        </p:nvGrpSpPr>
        <p:grpSpPr>
          <a:xfrm>
            <a:off x="716366" y="3832747"/>
            <a:ext cx="2630093" cy="1184228"/>
            <a:chOff x="3791188" y="2611009"/>
            <a:chExt cx="2630093" cy="1184228"/>
          </a:xfrm>
        </p:grpSpPr>
        <p:sp>
          <p:nvSpPr>
            <p:cNvPr id="106" name="TextBox 10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08" name="직사각형 107"/>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sp>
        <p:nvSpPr>
          <p:cNvPr id="219" name="모서리가 둥근 직사각형 218"/>
          <p:cNvSpPr/>
          <p:nvPr/>
        </p:nvSpPr>
        <p:spPr>
          <a:xfrm>
            <a:off x="3859820" y="3632749"/>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3997244" y="3795834"/>
            <a:ext cx="2305144" cy="661720"/>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청에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방위사업청장 귀하</a:t>
            </a:r>
            <a:endParaRPr lang="en-US" altLang="ko-KR" sz="700" dirty="0">
              <a:latin typeface="맑은 고딕" panose="020B0503020000020004" pitchFamily="50" charset="-127"/>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5401" y="2848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7494" y="35394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직사각형 213"/>
          <p:cNvSpPr/>
          <p:nvPr/>
        </p:nvSpPr>
        <p:spPr>
          <a:xfrm>
            <a:off x="3835401" y="2848196"/>
            <a:ext cx="2621844" cy="6137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4557" y="2849069"/>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859820" y="2591531"/>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3655647" y="306901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55647" y="572508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13" name="그룹 112"/>
          <p:cNvGrpSpPr/>
          <p:nvPr/>
        </p:nvGrpSpPr>
        <p:grpSpPr>
          <a:xfrm>
            <a:off x="716366" y="5040019"/>
            <a:ext cx="2630093" cy="1184228"/>
            <a:chOff x="3791188" y="2611009"/>
            <a:chExt cx="2630093" cy="1184228"/>
          </a:xfrm>
        </p:grpSpPr>
        <p:sp>
          <p:nvSpPr>
            <p:cNvPr id="114" name="TextBox 113">
              <a:extLst>
                <a:ext uri="{FF2B5EF4-FFF2-40B4-BE49-F238E27FC236}">
                  <a16:creationId xmlns:a16="http://schemas.microsoft.com/office/drawing/2014/main" id="{FFC49AEA-2A8F-250C-A86A-A7751D9706C3}"/>
                </a:ext>
              </a:extLst>
            </p:cNvPr>
            <p:cNvSpPr txBox="1"/>
            <p:nvPr/>
          </p:nvSpPr>
          <p:spPr>
            <a:xfrm>
              <a:off x="3852159" y="2611009"/>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r>
                <a:rPr lang="ko-KR" altLang="en-US" sz="700" dirty="0">
                  <a:latin typeface="+mn-ea"/>
                </a:rPr>
                <a:t> </a:t>
              </a:r>
              <a:r>
                <a:rPr lang="en-US" altLang="ko-KR" sz="700" dirty="0">
                  <a:latin typeface="+mn-ea"/>
                </a:rPr>
                <a:t>- </a:t>
              </a:r>
              <a:r>
                <a:rPr lang="ko-KR" altLang="en-US" sz="700" dirty="0">
                  <a:latin typeface="+mn-ea"/>
                </a:rPr>
                <a:t>제작자</a:t>
              </a:r>
              <a:r>
                <a:rPr lang="en-US" altLang="ko-KR" sz="700" dirty="0">
                  <a:latin typeface="+mn-ea"/>
                </a:rPr>
                <a:t>/</a:t>
              </a:r>
              <a:r>
                <a:rPr lang="ko-KR" altLang="en-US" sz="700" dirty="0">
                  <a:latin typeface="+mn-ea"/>
                </a:rPr>
                <a:t>공급자</a:t>
              </a:r>
            </a:p>
          </p:txBody>
        </p:sp>
        <p:sp>
          <p:nvSpPr>
            <p:cNvPr id="115" name="직사각형 11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spTree>
    <p:extLst>
      <p:ext uri="{BB962C8B-B14F-4D97-AF65-F5344CB8AC3E}">
        <p14:creationId xmlns:p14="http://schemas.microsoft.com/office/powerpoint/2010/main" val="1584413077"/>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556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829868"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취소신청내역 데이터 영역 </a:t>
            </a:r>
            <a:r>
              <a:rPr lang="en-US" altLang="ko-KR" sz="900" b="1" dirty="0">
                <a:solidFill>
                  <a:prstClr val="black"/>
                </a:solidFill>
              </a:rPr>
              <a:t>(</a:t>
            </a:r>
            <a:r>
              <a:rPr lang="en-US" altLang="ko-KR" sz="900" b="1" dirty="0" err="1">
                <a:solidFill>
                  <a:prstClr val="black"/>
                </a:solidFill>
              </a:rPr>
              <a:t>dm_rtrcnAplyDsctn</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7344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384862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28329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250648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84487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81208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203264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3342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437984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845048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350062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02536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64536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취소신청건의 품목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560019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재고번호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취소신청건의 품목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재고번호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81591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취소신청건의 품목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취소신청건의 품목 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A4513D15-2F4E-0EE7-F0BD-C110EFB04F0F}"/>
              </a:ext>
            </a:extLst>
          </p:cNvPr>
          <p:cNvSpPr txBox="1"/>
          <p:nvPr/>
        </p:nvSpPr>
        <p:spPr>
          <a:xfrm>
            <a:off x="458117" y="4834793"/>
            <a:ext cx="2599036"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영역 </a:t>
            </a:r>
            <a:r>
              <a:rPr lang="en-US" altLang="ko-KR" sz="900" b="1" dirty="0">
                <a:solidFill>
                  <a:prstClr val="black"/>
                </a:solidFill>
              </a:rPr>
              <a:t>(</a:t>
            </a:r>
            <a:r>
              <a:rPr lang="en-US" altLang="ko-KR" sz="900" b="1" dirty="0" err="1">
                <a:solidFill>
                  <a:prstClr val="black"/>
                </a:solidFill>
              </a:rPr>
              <a:t>dm_rtrcnAplyDsctn</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1D0E72C4-031D-C63C-A8DF-C69F1B46579C}"/>
              </a:ext>
            </a:extLst>
          </p:cNvPr>
          <p:cNvGraphicFramePr>
            <a:graphicFrameLocks noGrp="1"/>
          </p:cNvGraphicFramePr>
          <p:nvPr/>
        </p:nvGraphicFramePr>
        <p:xfrm>
          <a:off x="452999" y="504599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견적서 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1197317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557</a:t>
            </a:fld>
            <a:endParaRPr lang="ko-KR" altLang="en-US" dirty="0"/>
          </a:p>
        </p:txBody>
      </p:sp>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E852C9A-4179-76CD-4D9E-624EA33E5343}"/>
              </a:ext>
            </a:extLst>
          </p:cNvPr>
          <p:cNvSpPr txBox="1"/>
          <p:nvPr/>
        </p:nvSpPr>
        <p:spPr>
          <a:xfrm>
            <a:off x="458117" y="56919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86DE8E7D-3FE9-C898-83CD-B26727BFFE9D}"/>
              </a:ext>
            </a:extLst>
          </p:cNvPr>
          <p:cNvGraphicFramePr>
            <a:graphicFrameLocks noGrp="1"/>
          </p:cNvGraphicFramePr>
          <p:nvPr>
            <p:extLst/>
          </p:nvPr>
        </p:nvGraphicFramePr>
        <p:xfrm>
          <a:off x="453000" y="803483"/>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scwin.btn_save_onclick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작성한 취소신청서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4036305"/>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scwin.btn_cancel_onclick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512506965"/>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558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a:t>
            </a:r>
            <a:r>
              <a:rPr lang="ko-KR" altLang="en-US" dirty="0" err="1">
                <a:solidFill>
                  <a:srgbClr val="000000"/>
                </a:solidFill>
                <a:latin typeface="휴먼명조"/>
              </a:rPr>
              <a:t>수의협상</a:t>
            </a:r>
            <a:r>
              <a:rPr lang="ko-KR" altLang="en-US" dirty="0">
                <a:solidFill>
                  <a:srgbClr val="000000"/>
                </a:solidFill>
                <a:latin typeface="휴먼명조"/>
              </a:rPr>
              <a:t> 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MUI-BD-12-M83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22749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233652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586425"/>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921490"/>
            <a:ext cx="461665"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702101" y="2906101"/>
            <a:ext cx="503343" cy="5361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A </a:t>
            </a:r>
            <a:r>
              <a:rPr lang="ko-KR" altLang="en-US" sz="600" dirty="0">
                <a:latin typeface="+mn-ea"/>
              </a:rPr>
              <a:t>해외업체</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a:t>
            </a:r>
          </a:p>
          <a:p>
            <a:pPr algn="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5510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90543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688829"/>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688829"/>
            <a:ext cx="447776" cy="107722"/>
          </a:xfrm>
          <a:prstGeom prst="rect">
            <a:avLst/>
          </a:prstGeom>
          <a:noFill/>
        </p:spPr>
        <p:txBody>
          <a:bodyPr wrap="square" lIns="0" tIns="0" rIns="0" bIns="0" rtlCol="0">
            <a:spAutoFit/>
          </a:bodyPr>
          <a:lstStyle/>
          <a:p>
            <a:pPr algn="ctr"/>
            <a:r>
              <a:rPr lang="ko-KR" altLang="en-US" sz="700" dirty="0">
                <a:latin typeface="+mn-ea"/>
              </a:rPr>
              <a:t>조회 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905436"/>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650706"/>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65662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14994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18553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1638774"/>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1638774"/>
            <a:ext cx="447776" cy="107722"/>
          </a:xfrm>
          <a:prstGeom prst="rect">
            <a:avLst/>
          </a:prstGeom>
          <a:noFill/>
        </p:spPr>
        <p:txBody>
          <a:bodyPr wrap="square" lIns="0" tIns="0" rIns="0" bIns="0" rtlCol="0">
            <a:spAutoFit/>
          </a:bodyPr>
          <a:lstStyle/>
          <a:p>
            <a:pPr algn="ctr"/>
            <a:r>
              <a:rPr lang="ko-KR" altLang="en-US" sz="700" dirty="0">
                <a:latin typeface="+mn-ea"/>
              </a:rPr>
              <a:t>조회 결과</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1855381"/>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1600651"/>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199534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1501250" y="2402094"/>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1057559" y="2402094"/>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1" name="모서리가 둥근 직사각형 150"/>
          <p:cNvSpPr/>
          <p:nvPr/>
        </p:nvSpPr>
        <p:spPr>
          <a:xfrm>
            <a:off x="777000" y="2402094"/>
            <a:ext cx="24217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grpSp>
        <p:nvGrpSpPr>
          <p:cNvPr id="6" name="그룹 5"/>
          <p:cNvGrpSpPr/>
          <p:nvPr/>
        </p:nvGrpSpPr>
        <p:grpSpPr>
          <a:xfrm>
            <a:off x="720490" y="4011767"/>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ko-KR" altLang="en-US"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1953688"/>
            <a:ext cx="2660475" cy="2430887"/>
            <a:chOff x="720490" y="3803374"/>
            <a:chExt cx="2660475" cy="2430887"/>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2340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ko-KR" altLang="en-US" sz="700" dirty="0">
                <a:latin typeface="+mn-ea"/>
              </a:endParaRP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2340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4565737"/>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1" name="그룹 120"/>
          <p:cNvGrpSpPr/>
          <p:nvPr/>
        </p:nvGrpSpPr>
        <p:grpSpPr>
          <a:xfrm>
            <a:off x="677960" y="1582647"/>
            <a:ext cx="2714637" cy="686386"/>
            <a:chOff x="677960" y="1582647"/>
            <a:chExt cx="2714637" cy="686386"/>
          </a:xfrm>
        </p:grpSpPr>
        <p:sp>
          <p:nvSpPr>
            <p:cNvPr id="122" name="TextBox 121">
              <a:extLst>
                <a:ext uri="{FF2B5EF4-FFF2-40B4-BE49-F238E27FC236}">
                  <a16:creationId xmlns:a16="http://schemas.microsoft.com/office/drawing/2014/main" id="{FFC49AEA-2A8F-250C-A86A-A7751D9706C3}"/>
                </a:ext>
              </a:extLst>
            </p:cNvPr>
            <p:cNvSpPr txBox="1"/>
            <p:nvPr/>
          </p:nvSpPr>
          <p:spPr>
            <a:xfrm>
              <a:off x="993635" y="2030452"/>
              <a:ext cx="2075554" cy="123111"/>
            </a:xfrm>
            <a:prstGeom prst="rect">
              <a:avLst/>
            </a:prstGeom>
            <a:noFill/>
          </p:spPr>
          <p:txBody>
            <a:bodyPr wrap="square" lIns="0" tIns="0" rIns="0" bIns="0" rtlCol="0">
              <a:spAutoFit/>
            </a:bodyPr>
            <a:lstStyle/>
            <a:p>
              <a:pPr algn="ctr"/>
              <a:r>
                <a:rPr lang="ko-KR" altLang="en-US" sz="800" dirty="0">
                  <a:latin typeface="+mn-ea"/>
                </a:rPr>
                <a:t>공개수의협상 결과 조회</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680570" y="22690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25" name="그룹 124"/>
            <p:cNvGrpSpPr/>
            <p:nvPr/>
          </p:nvGrpSpPr>
          <p:grpSpPr>
            <a:xfrm rot="5400000">
              <a:off x="852159" y="2062596"/>
              <a:ext cx="94010" cy="47005"/>
              <a:chOff x="6812560" y="3297172"/>
              <a:chExt cx="94010" cy="47005"/>
            </a:xfrm>
          </p:grpSpPr>
          <p:cxnSp>
            <p:nvCxnSpPr>
              <p:cNvPr id="133" name="직선 연결선 13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4" name="직선 연결선 13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6" name="그룹 125"/>
            <p:cNvGrpSpPr/>
            <p:nvPr/>
          </p:nvGrpSpPr>
          <p:grpSpPr>
            <a:xfrm>
              <a:off x="677960" y="1582647"/>
              <a:ext cx="2712027" cy="324286"/>
              <a:chOff x="677960" y="1582647"/>
              <a:chExt cx="2712027" cy="324286"/>
            </a:xfrm>
          </p:grpSpPr>
          <p:pic>
            <p:nvPicPr>
              <p:cNvPr id="128"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129" name="직선 연결선 128">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0" name="타원 129"/>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1" name="타원 130"/>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타원 131"/>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1418602647"/>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일반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559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a:t>
            </a:r>
            <a:r>
              <a:rPr lang="ko-KR" altLang="en-US" dirty="0" err="1">
                <a:solidFill>
                  <a:srgbClr val="000000"/>
                </a:solidFill>
                <a:latin typeface="휴먼명조"/>
              </a:rPr>
              <a:t>수의협상</a:t>
            </a:r>
            <a:r>
              <a:rPr lang="ko-KR" altLang="en-US" dirty="0">
                <a:solidFill>
                  <a:srgbClr val="000000"/>
                </a:solidFill>
                <a:latin typeface="휴먼명조"/>
              </a:rPr>
              <a:t> 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MUI-BD-12-T82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2892809"/>
            <a:chOff x="701175" y="1527996"/>
            <a:chExt cx="2630093" cy="2892809"/>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3"/>
              <a:ext cx="792000" cy="258532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ko-KR" altLang="en-US"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endParaRPr lang="en-US" altLang="ko-KR" sz="700" dirty="0">
                <a:latin typeface="+mn-ea"/>
              </a:endParaRPr>
            </a:p>
          </p:txBody>
        </p:sp>
        <p:grpSp>
          <p:nvGrpSpPr>
            <p:cNvPr id="17" name="그룹 16"/>
            <p:cNvGrpSpPr/>
            <p:nvPr/>
          </p:nvGrpSpPr>
          <p:grpSpPr>
            <a:xfrm>
              <a:off x="701175" y="1835481"/>
              <a:ext cx="2630093" cy="2576880"/>
              <a:chOff x="701175" y="1835481"/>
              <a:chExt cx="2630093" cy="257688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3773761"/>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3795735" y="1527996"/>
            <a:ext cx="2712026" cy="899454"/>
            <a:chOff x="3795735" y="1527996"/>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152799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1641327"/>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242745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200031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2118856"/>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2118856"/>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2064995"/>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spTree>
    <p:extLst>
      <p:ext uri="{BB962C8B-B14F-4D97-AF65-F5344CB8AC3E}">
        <p14:creationId xmlns:p14="http://schemas.microsoft.com/office/powerpoint/2010/main" val="215077526"/>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입찰결과</a:t>
            </a:r>
            <a:r>
              <a:rPr lang="en-US" altLang="ko-KR" dirty="0"/>
              <a:t>(</a:t>
            </a:r>
            <a:r>
              <a:rPr lang="ko-KR" altLang="en-US" dirty="0" err="1"/>
              <a:t>총액제</a:t>
            </a:r>
            <a:r>
              <a:rPr lang="en-US" altLang="ko-KR" dirty="0"/>
              <a:t>) </a:t>
            </a:r>
            <a:r>
              <a:rPr lang="ko-KR" altLang="en-US" dirty="0"/>
              <a:t>데이터 </a:t>
            </a:r>
            <a:r>
              <a:rPr lang="ko-KR" altLang="en-US" dirty="0" smtClean="0"/>
              <a:t>영역</a:t>
            </a:r>
            <a:endParaRPr lang="en-US" altLang="ko-KR" dirty="0" smtClean="0"/>
          </a:p>
          <a:p>
            <a:pPr>
              <a:buFont typeface="+mj-lt"/>
              <a:buAutoNum type="arabicPeriod"/>
            </a:pPr>
            <a:r>
              <a:rPr lang="ko-KR" altLang="en-US" dirty="0" smtClean="0"/>
              <a:t>제출서류</a:t>
            </a:r>
            <a:r>
              <a:rPr lang="en-US" altLang="ko-KR" dirty="0" smtClean="0"/>
              <a:t/>
            </a:r>
            <a:br>
              <a:rPr lang="en-US" altLang="ko-KR" dirty="0" smtClean="0"/>
            </a:br>
            <a:r>
              <a:rPr lang="en-US" altLang="ko-KR" dirty="0"/>
              <a:t>- </a:t>
            </a:r>
            <a:r>
              <a:rPr lang="en-US" altLang="ko-KR" dirty="0" smtClean="0"/>
              <a:t>MUI-BD-01-P76 </a:t>
            </a:r>
            <a:r>
              <a:rPr lang="ko-KR" altLang="en-US" dirty="0" smtClean="0"/>
              <a:t>첨부파일조회 화면에서 사용자가 제출한 서류 항목 표시</a:t>
            </a:r>
            <a:endParaRPr lang="ko-KR" altLang="en-US"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560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a:t>
            </a:r>
            <a:r>
              <a:rPr lang="ko-KR" altLang="en-US" dirty="0" err="1">
                <a:solidFill>
                  <a:srgbClr val="000000"/>
                </a:solidFill>
                <a:latin typeface="휴먼명조"/>
              </a:rPr>
              <a:t>수의협상</a:t>
            </a:r>
            <a:r>
              <a:rPr lang="ko-KR" altLang="en-US" dirty="0">
                <a:solidFill>
                  <a:srgbClr val="000000"/>
                </a:solidFill>
                <a:latin typeface="휴먼명조"/>
              </a:rPr>
              <a:t> 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MUI-BD-12-T83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20" name="그룹 119"/>
          <p:cNvGrpSpPr/>
          <p:nvPr/>
        </p:nvGrpSpPr>
        <p:grpSpPr>
          <a:xfrm>
            <a:off x="716366" y="1527996"/>
            <a:ext cx="2630093" cy="3108252"/>
            <a:chOff x="701175" y="1527996"/>
            <a:chExt cx="2630093" cy="3108252"/>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181140"/>
            </a:xfrm>
            <a:prstGeom prst="rect">
              <a:avLst/>
            </a:prstGeom>
            <a:noFill/>
          </p:spPr>
          <p:txBody>
            <a:bodyPr wrap="square" lIns="0" tIns="0" rIns="0" bIns="0" rtlCol="0">
              <a:spAutoFit/>
            </a:bodyPr>
            <a:lstStyle/>
            <a:p>
              <a:pPr>
                <a:lnSpc>
                  <a:spcPct val="200000"/>
                </a:lnSpc>
              </a:pPr>
              <a:r>
                <a:rPr lang="ko-KR" altLang="en-US" sz="700" dirty="0">
                  <a:latin typeface="+mn-ea"/>
                </a:rPr>
                <a:t>조회 결과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23" name="직사각형 122"/>
            <p:cNvSpPr/>
            <p:nvPr/>
          </p:nvSpPr>
          <p:spPr>
            <a:xfrm>
              <a:off x="703268" y="1835482"/>
              <a:ext cx="792000" cy="278777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766463"/>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a:latin typeface="+mn-ea"/>
                </a:rPr>
                <a:t>신청업체코드</a:t>
              </a:r>
            </a:p>
            <a:p>
              <a:pPr>
                <a:lnSpc>
                  <a:spcPct val="200000"/>
                </a:lnSpc>
              </a:pPr>
              <a:r>
                <a:rPr lang="ko-KR" altLang="en-US" sz="700" dirty="0" err="1">
                  <a:latin typeface="+mn-ea"/>
                </a:rPr>
                <a:t>신청업체명</a:t>
              </a:r>
              <a:endParaRPr lang="ko-KR" altLang="en-US" sz="700" dirty="0">
                <a:latin typeface="+mn-ea"/>
              </a:endParaRPr>
            </a:p>
            <a:p>
              <a:pPr>
                <a:lnSpc>
                  <a:spcPct val="200000"/>
                </a:lnSpc>
              </a:pPr>
              <a:r>
                <a:rPr lang="ko-KR" altLang="en-US" sz="700" dirty="0">
                  <a:latin typeface="+mn-ea"/>
                </a:rPr>
                <a:t>입찰업체코드</a:t>
              </a:r>
            </a:p>
            <a:p>
              <a:pPr>
                <a:lnSpc>
                  <a:spcPct val="200000"/>
                </a:lnSpc>
              </a:pPr>
              <a:r>
                <a:rPr lang="ko-KR" altLang="en-US" sz="700" dirty="0" err="1">
                  <a:latin typeface="+mn-ea"/>
                </a:rPr>
                <a:t>입찰업체명</a:t>
              </a:r>
              <a:endParaRPr lang="ko-KR" altLang="en-US" sz="700" dirty="0">
                <a:latin typeface="+mn-ea"/>
              </a:endParaRPr>
            </a:p>
            <a:p>
              <a:pPr>
                <a:lnSpc>
                  <a:spcPct val="200000"/>
                </a:lnSpc>
              </a:pPr>
              <a:r>
                <a:rPr lang="ko-KR" altLang="en-US" sz="700" dirty="0">
                  <a:latin typeface="+mn-ea"/>
                </a:rPr>
                <a:t>제출서류</a:t>
              </a:r>
            </a:p>
            <a:p>
              <a:pPr>
                <a:lnSpc>
                  <a:spcPct val="200000"/>
                </a:lnSpc>
              </a:pPr>
              <a:r>
                <a:rPr lang="ko-KR" altLang="en-US" sz="700" dirty="0" err="1">
                  <a:latin typeface="+mn-ea"/>
                </a:rPr>
                <a:t>견적금액</a:t>
              </a:r>
              <a:endParaRPr lang="ko-KR" altLang="en-US" sz="700" dirty="0">
                <a:latin typeface="+mn-ea"/>
              </a:endParaRPr>
            </a:p>
            <a:p>
              <a:pPr>
                <a:lnSpc>
                  <a:spcPct val="200000"/>
                </a:lnSpc>
              </a:pPr>
              <a:r>
                <a:rPr lang="ko-KR" altLang="en-US" sz="700" dirty="0">
                  <a:latin typeface="+mn-ea"/>
                </a:rPr>
                <a:t>화폐단위</a:t>
              </a:r>
            </a:p>
            <a:p>
              <a:pPr>
                <a:lnSpc>
                  <a:spcPct val="200000"/>
                </a:lnSpc>
              </a:pPr>
              <a:r>
                <a:rPr lang="ko-KR" altLang="en-US" sz="700" dirty="0">
                  <a:latin typeface="+mn-ea"/>
                </a:rPr>
                <a:t>순위</a:t>
              </a:r>
            </a:p>
            <a:p>
              <a:pPr>
                <a:lnSpc>
                  <a:spcPct val="200000"/>
                </a:lnSpc>
              </a:pPr>
              <a:r>
                <a:rPr lang="ko-KR" altLang="en-US" sz="700" dirty="0" err="1">
                  <a:latin typeface="+mn-ea"/>
                </a:rPr>
                <a:t>낙찰여부</a:t>
              </a:r>
              <a:endParaRPr lang="ko-KR" altLang="en-US" sz="700" dirty="0">
                <a:latin typeface="+mn-ea"/>
              </a:endParaRPr>
            </a:p>
            <a:p>
              <a:pPr>
                <a:lnSpc>
                  <a:spcPct val="200000"/>
                </a:lnSpc>
              </a:pPr>
              <a:r>
                <a:rPr lang="ko-KR" altLang="en-US" sz="700" dirty="0" err="1">
                  <a:latin typeface="+mn-ea"/>
                </a:rPr>
                <a:t>탈락사유</a:t>
              </a:r>
              <a:endParaRPr lang="ko-KR" altLang="en-US" sz="700" dirty="0">
                <a:latin typeface="+mn-ea"/>
              </a:endParaRPr>
            </a:p>
            <a:p>
              <a:pPr>
                <a:lnSpc>
                  <a:spcPct val="200000"/>
                </a:lnSpc>
              </a:pPr>
              <a:r>
                <a:rPr lang="ko-KR" altLang="en-US" sz="700" dirty="0">
                  <a:latin typeface="+mn-ea"/>
                </a:rPr>
                <a:t>계약포기일자</a:t>
              </a:r>
            </a:p>
            <a:p>
              <a:pPr>
                <a:lnSpc>
                  <a:spcPct val="200000"/>
                </a:lnSpc>
              </a:pPr>
              <a:r>
                <a:rPr lang="ko-KR" altLang="en-US" sz="700" dirty="0">
                  <a:latin typeface="+mn-ea"/>
                </a:rPr>
                <a:t>계약포기사유</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80076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7001F</a:t>
              </a:r>
            </a:p>
            <a:p>
              <a:pPr>
                <a:lnSpc>
                  <a:spcPct val="200000"/>
                </a:lnSpc>
              </a:pPr>
              <a:r>
                <a:rPr lang="en-US" altLang="ko-KR" sz="700" dirty="0">
                  <a:latin typeface="+mn-ea"/>
                </a:rPr>
                <a:t>A </a:t>
              </a:r>
              <a:r>
                <a:rPr lang="ko-KR" altLang="en-US" sz="700" dirty="0" err="1">
                  <a:latin typeface="맑은 고딕" panose="020B0503020000020004" pitchFamily="50" charset="-127"/>
                  <a:cs typeface="Segoe UI" panose="020B0502040204020203" pitchFamily="34" charset="0"/>
                </a:rPr>
                <a:t>무역대리점</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7004F</a:t>
              </a:r>
            </a:p>
            <a:p>
              <a:pPr>
                <a:lnSpc>
                  <a:spcPct val="200000"/>
                </a:lnSpc>
              </a:pPr>
              <a:r>
                <a:rPr lang="en-US" altLang="ko-KR" sz="700" dirty="0">
                  <a:latin typeface="맑은 고딕" panose="020B0503020000020004" pitchFamily="50" charset="-127"/>
                  <a:cs typeface="Segoe UI" panose="020B0502040204020203" pitchFamily="34" charset="0"/>
                </a:rPr>
                <a:t>B </a:t>
              </a:r>
              <a:r>
                <a:rPr lang="ko-KR" altLang="en-US" sz="700" dirty="0">
                  <a:latin typeface="맑은 고딕" panose="020B0503020000020004" pitchFamily="50" charset="-127"/>
                  <a:cs typeface="Segoe UI" panose="020B0502040204020203" pitchFamily="34" charset="0"/>
                </a:rPr>
                <a:t>해외업체</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solidFill>
                    <a:srgbClr val="0070C0"/>
                  </a:solidFill>
                  <a:latin typeface="맑은 고딕" panose="020B0503020000020004" pitchFamily="50" charset="-127"/>
                  <a:cs typeface="Segoe UI" panose="020B0502040204020203" pitchFamily="34" charset="0"/>
                </a:rPr>
                <a:t>O</a:t>
              </a:r>
            </a:p>
            <a:p>
              <a:pPr algn="r">
                <a:lnSpc>
                  <a:spcPct val="200000"/>
                </a:lnSpc>
              </a:pPr>
              <a:r>
                <a:rPr lang="en-US" altLang="ko-KR" sz="700" dirty="0">
                  <a:latin typeface="맑은 고딕" panose="020B0503020000020004" pitchFamily="50" charset="-127"/>
                  <a:cs typeface="Segoe UI" panose="020B0502040204020203" pitchFamily="34" charset="0"/>
                </a:rPr>
                <a:t>98,000,000.00</a:t>
              </a:r>
            </a:p>
            <a:p>
              <a:pPr>
                <a:lnSpc>
                  <a:spcPct val="200000"/>
                </a:lnSpc>
              </a:pPr>
              <a:r>
                <a:rPr lang="en-US" altLang="ko-KR" sz="700" dirty="0">
                  <a:latin typeface="맑은 고딕" panose="020B0503020000020004" pitchFamily="50" charset="-127"/>
                  <a:cs typeface="Segoe UI" panose="020B0502040204020203" pitchFamily="34" charset="0"/>
                </a:rPr>
                <a:t>USD</a:t>
              </a:r>
            </a:p>
            <a:p>
              <a:pPr>
                <a:lnSpc>
                  <a:spcPct val="200000"/>
                </a:lnSpc>
              </a:pPr>
              <a:r>
                <a:rPr lang="en-US" altLang="ko-KR" sz="700" dirty="0">
                  <a:latin typeface="맑은 고딕" panose="020B0503020000020004" pitchFamily="50" charset="-127"/>
                  <a:cs typeface="Segoe UI" panose="020B0502040204020203" pitchFamily="34" charset="0"/>
                </a:rPr>
                <a:t>1</a:t>
              </a:r>
            </a:p>
            <a:p>
              <a:pPr>
                <a:lnSpc>
                  <a:spcPct val="200000"/>
                </a:lnSpc>
              </a:pPr>
              <a:r>
                <a:rPr lang="ko-KR" altLang="en-US" sz="700" dirty="0">
                  <a:latin typeface="맑은 고딕" panose="020B0503020000020004" pitchFamily="50" charset="-127"/>
                  <a:cs typeface="Segoe UI" panose="020B0502040204020203" pitchFamily="34" charset="0"/>
                </a:rPr>
                <a:t>낙찰</a:t>
              </a:r>
              <a:endParaRPr lang="en-US" altLang="ko-KR" sz="700" dirty="0">
                <a:latin typeface="맑은 고딕" panose="020B0503020000020004" pitchFamily="50" charset="-127"/>
                <a:cs typeface="Segoe UI" panose="020B0502040204020203" pitchFamily="34" charset="0"/>
              </a:endParaRPr>
            </a:p>
            <a:p>
              <a:pPr>
                <a:lnSpc>
                  <a:spcPct val="200000"/>
                </a:lnSpc>
              </a:pP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맑은 고딕" panose="020B0503020000020004" pitchFamily="50" charset="-127"/>
                  <a:cs typeface="Segoe UI" panose="020B0502040204020203" pitchFamily="34" charset="0"/>
                </a:rPr>
                <a:t>2025-12-11</a:t>
              </a:r>
            </a:p>
            <a:p>
              <a:pPr>
                <a:lnSpc>
                  <a:spcPct val="200000"/>
                </a:lnSpc>
              </a:pPr>
              <a:r>
                <a:rPr lang="ko-KR" altLang="en-US" sz="700" dirty="0">
                  <a:latin typeface="맑은 고딕" panose="020B0503020000020004" pitchFamily="50" charset="-127"/>
                  <a:cs typeface="Segoe UI" panose="020B0502040204020203" pitchFamily="34" charset="0"/>
                </a:rPr>
                <a:t>계약 포기 사유 표시</a:t>
              </a:r>
              <a:endParaRPr lang="en-US" altLang="ko-KR" sz="700" dirty="0">
                <a:latin typeface="+mn-ea"/>
              </a:endParaRPr>
            </a:p>
          </p:txBody>
        </p:sp>
        <p:grpSp>
          <p:nvGrpSpPr>
            <p:cNvPr id="126" name="그룹 125"/>
            <p:cNvGrpSpPr/>
            <p:nvPr/>
          </p:nvGrpSpPr>
          <p:grpSpPr>
            <a:xfrm>
              <a:off x="701175" y="1835481"/>
              <a:ext cx="2630093" cy="2787779"/>
              <a:chOff x="701175" y="1835481"/>
              <a:chExt cx="2630093" cy="2787779"/>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2" name="직선 연결선 51">
                <a:extLst>
                  <a:ext uri="{FF2B5EF4-FFF2-40B4-BE49-F238E27FC236}">
                    <a16:creationId xmlns:a16="http://schemas.microsoft.com/office/drawing/2014/main" id="{E9293055-D5CD-4B9E-7F64-64B2D2CA7A52}"/>
                  </a:ext>
                </a:extLst>
              </p:cNvPr>
              <p:cNvCxnSpPr/>
              <p:nvPr/>
            </p:nvCxnSpPr>
            <p:spPr>
              <a:xfrm>
                <a:off x="703268" y="33354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3" name="직선 연결선 52">
                <a:extLst>
                  <a:ext uri="{FF2B5EF4-FFF2-40B4-BE49-F238E27FC236}">
                    <a16:creationId xmlns:a16="http://schemas.microsoft.com/office/drawing/2014/main" id="{E9293055-D5CD-4B9E-7F64-64B2D2CA7A52}"/>
                  </a:ext>
                </a:extLst>
              </p:cNvPr>
              <p:cNvCxnSpPr/>
              <p:nvPr/>
            </p:nvCxnSpPr>
            <p:spPr>
              <a:xfrm>
                <a:off x="703268" y="3551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4" name="직선 연결선 53">
                <a:extLst>
                  <a:ext uri="{FF2B5EF4-FFF2-40B4-BE49-F238E27FC236}">
                    <a16:creationId xmlns:a16="http://schemas.microsoft.com/office/drawing/2014/main" id="{E9293055-D5CD-4B9E-7F64-64B2D2CA7A52}"/>
                  </a:ext>
                </a:extLst>
              </p:cNvPr>
              <p:cNvCxnSpPr/>
              <p:nvPr/>
            </p:nvCxnSpPr>
            <p:spPr>
              <a:xfrm>
                <a:off x="701175" y="37702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5" name="직선 연결선 54">
                <a:extLst>
                  <a:ext uri="{FF2B5EF4-FFF2-40B4-BE49-F238E27FC236}">
                    <a16:creationId xmlns:a16="http://schemas.microsoft.com/office/drawing/2014/main" id="{E9293055-D5CD-4B9E-7F64-64B2D2CA7A52}"/>
                  </a:ext>
                </a:extLst>
              </p:cNvPr>
              <p:cNvCxnSpPr/>
              <p:nvPr/>
            </p:nvCxnSpPr>
            <p:spPr>
              <a:xfrm>
                <a:off x="703268" y="39850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6" name="직선 연결선 55">
                <a:extLst>
                  <a:ext uri="{FF2B5EF4-FFF2-40B4-BE49-F238E27FC236}">
                    <a16:creationId xmlns:a16="http://schemas.microsoft.com/office/drawing/2014/main" id="{E9293055-D5CD-4B9E-7F64-64B2D2CA7A52}"/>
                  </a:ext>
                </a:extLst>
              </p:cNvPr>
              <p:cNvCxnSpPr/>
              <p:nvPr/>
            </p:nvCxnSpPr>
            <p:spPr>
              <a:xfrm>
                <a:off x="703268" y="42011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7" name="직선 연결선 56">
                <a:extLst>
                  <a:ext uri="{FF2B5EF4-FFF2-40B4-BE49-F238E27FC236}">
                    <a16:creationId xmlns:a16="http://schemas.microsoft.com/office/drawing/2014/main" id="{E9293055-D5CD-4B9E-7F64-64B2D2CA7A52}"/>
                  </a:ext>
                </a:extLst>
              </p:cNvPr>
              <p:cNvCxnSpPr/>
              <p:nvPr/>
            </p:nvCxnSpPr>
            <p:spPr>
              <a:xfrm>
                <a:off x="701175" y="44206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직선 연결선 57">
                <a:extLst>
                  <a:ext uri="{FF2B5EF4-FFF2-40B4-BE49-F238E27FC236}">
                    <a16:creationId xmlns:a16="http://schemas.microsoft.com/office/drawing/2014/main" id="{E9293055-D5CD-4B9E-7F64-64B2D2CA7A52}"/>
                  </a:ext>
                </a:extLst>
              </p:cNvPr>
              <p:cNvCxnSpPr/>
              <p:nvPr/>
            </p:nvCxnSpPr>
            <p:spPr>
              <a:xfrm>
                <a:off x="701175" y="46232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45" name="사각형: 둥근 모서리 31">
            <a:extLst>
              <a:ext uri="{FF2B5EF4-FFF2-40B4-BE49-F238E27FC236}">
                <a16:creationId xmlns:a16="http://schemas.microsoft.com/office/drawing/2014/main" id="{2AC143EE-93CF-3518-F0CB-8469E98507E0}"/>
              </a:ext>
            </a:extLst>
          </p:cNvPr>
          <p:cNvSpPr/>
          <p:nvPr/>
        </p:nvSpPr>
        <p:spPr>
          <a:xfrm>
            <a:off x="3928441" y="586857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5113316" y="5070784"/>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180" name="그룹 179"/>
          <p:cNvGrpSpPr/>
          <p:nvPr/>
        </p:nvGrpSpPr>
        <p:grpSpPr>
          <a:xfrm>
            <a:off x="717412" y="4625394"/>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790250" y="465193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grpSp>
        <p:nvGrpSpPr>
          <p:cNvPr id="3" name="그룹 2"/>
          <p:cNvGrpSpPr/>
          <p:nvPr/>
        </p:nvGrpSpPr>
        <p:grpSpPr>
          <a:xfrm>
            <a:off x="3836031" y="3218712"/>
            <a:ext cx="2631433" cy="1075183"/>
            <a:chOff x="3820170" y="3474433"/>
            <a:chExt cx="2631433" cy="1075183"/>
          </a:xfrm>
        </p:grpSpPr>
        <p:sp>
          <p:nvSpPr>
            <p:cNvPr id="144" name="직사각형 143"/>
            <p:cNvSpPr/>
            <p:nvPr/>
          </p:nvSpPr>
          <p:spPr>
            <a:xfrm>
              <a:off x="3820170" y="3474433"/>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0" name="TextBox 149">
              <a:extLst>
                <a:ext uri="{FF2B5EF4-FFF2-40B4-BE49-F238E27FC236}">
                  <a16:creationId xmlns:a16="http://schemas.microsoft.com/office/drawing/2014/main" id="{FFC49AEA-2A8F-250C-A86A-A7751D9706C3}"/>
                </a:ext>
              </a:extLst>
            </p:cNvPr>
            <p:cNvSpPr txBox="1"/>
            <p:nvPr/>
          </p:nvSpPr>
          <p:spPr>
            <a:xfrm>
              <a:off x="3910666" y="3474434"/>
              <a:ext cx="725552" cy="827471"/>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a:latin typeface="+mn-ea"/>
                </a:rPr>
                <a:t>신청업체코드</a:t>
              </a:r>
            </a:p>
            <a:p>
              <a:pPr>
                <a:lnSpc>
                  <a:spcPct val="200000"/>
                </a:lnSpc>
              </a:pPr>
              <a:r>
                <a:rPr lang="ko-KR" altLang="en-US" sz="700" dirty="0" err="1">
                  <a:latin typeface="+mn-ea"/>
                </a:rPr>
                <a:t>신청업체명</a:t>
              </a:r>
              <a:endParaRPr lang="ko-KR" altLang="en-US" sz="700" dirty="0">
                <a:latin typeface="+mn-ea"/>
              </a:endParaRPr>
            </a:p>
            <a:p>
              <a:pPr>
                <a:lnSpc>
                  <a:spcPct val="200000"/>
                </a:lnSpc>
              </a:pPr>
              <a:r>
                <a:rPr lang="ko-KR" altLang="en-US" sz="700" dirty="0">
                  <a:latin typeface="+mn-ea"/>
                </a:rPr>
                <a:t>입찰업체코드</a:t>
              </a:r>
            </a:p>
          </p:txBody>
        </p:sp>
        <p:grpSp>
          <p:nvGrpSpPr>
            <p:cNvPr id="151" name="그룹 150"/>
            <p:cNvGrpSpPr/>
            <p:nvPr/>
          </p:nvGrpSpPr>
          <p:grpSpPr>
            <a:xfrm>
              <a:off x="3821510" y="3474434"/>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3474434"/>
              <a:ext cx="1784088" cy="827471"/>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7001F</a:t>
              </a:r>
            </a:p>
            <a:p>
              <a:pPr>
                <a:lnSpc>
                  <a:spcPct val="200000"/>
                </a:lnSpc>
              </a:pPr>
              <a:r>
                <a:rPr lang="en-US" altLang="ko-KR" sz="700" dirty="0">
                  <a:latin typeface="+mn-ea"/>
                </a:rPr>
                <a:t>A </a:t>
              </a:r>
              <a:r>
                <a:rPr lang="ko-KR" altLang="en-US" sz="700" dirty="0" err="1">
                  <a:latin typeface="맑은 고딕" panose="020B0503020000020004" pitchFamily="50" charset="-127"/>
                  <a:cs typeface="Segoe UI" panose="020B0502040204020203" pitchFamily="34" charset="0"/>
                </a:rPr>
                <a:t>무역대리점</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7004F</a:t>
              </a: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435993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sp>
        <p:nvSpPr>
          <p:cNvPr id="50" name="직사각형 49">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9" name="그룹 58">
            <a:extLst>
              <a:ext uri="{FF2B5EF4-FFF2-40B4-BE49-F238E27FC236}">
                <a16:creationId xmlns:a16="http://schemas.microsoft.com/office/drawing/2014/main" id="{22BC05EE-C648-7CA2-4CCC-6E1C1A7E9BDA}"/>
              </a:ext>
            </a:extLst>
          </p:cNvPr>
          <p:cNvGrpSpPr/>
          <p:nvPr/>
        </p:nvGrpSpPr>
        <p:grpSpPr>
          <a:xfrm>
            <a:off x="5113316" y="2388597"/>
            <a:ext cx="76863" cy="292489"/>
            <a:chOff x="3750067" y="4683795"/>
            <a:chExt cx="76863" cy="292489"/>
          </a:xfrm>
        </p:grpSpPr>
        <p:sp>
          <p:nvSpPr>
            <p:cNvPr id="60" name="타원 5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1" name="타원 6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2" name="타원 6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63" name="사각형: 둥근 모서리 15">
            <a:extLst>
              <a:ext uri="{FF2B5EF4-FFF2-40B4-BE49-F238E27FC236}">
                <a16:creationId xmlns:a16="http://schemas.microsoft.com/office/drawing/2014/main" id="{E2B61CFB-AD16-68D0-8752-50D9C5E01971}"/>
              </a:ext>
            </a:extLst>
          </p:cNvPr>
          <p:cNvSpPr/>
          <p:nvPr/>
        </p:nvSpPr>
        <p:spPr>
          <a:xfrm>
            <a:off x="2836921" y="2954000"/>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64" name="타원 63">
            <a:extLst>
              <a:ext uri="{FF2B5EF4-FFF2-40B4-BE49-F238E27FC236}">
                <a16:creationId xmlns:a16="http://schemas.microsoft.com/office/drawing/2014/main" id="{37A7FF4F-0EAA-1463-560A-D5EC24416103}"/>
              </a:ext>
            </a:extLst>
          </p:cNvPr>
          <p:cNvSpPr/>
          <p:nvPr/>
        </p:nvSpPr>
        <p:spPr>
          <a:xfrm>
            <a:off x="571127" y="294387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2713292159"/>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561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6377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380311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90042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922642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756792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intgRfrncNo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615514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76108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0690520"/>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37167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247947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etdcDdlnDt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1168734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22780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489028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784464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39210768"/>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562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7522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조회결과 데이터 영역 </a:t>
            </a:r>
            <a:r>
              <a:rPr lang="en-US" altLang="ko-KR" sz="900" b="1" dirty="0">
                <a:solidFill>
                  <a:prstClr val="black"/>
                </a:solidFill>
              </a:rPr>
              <a:t>(</a:t>
            </a:r>
            <a:r>
              <a:rPr lang="en-US" altLang="ko-KR" sz="900" b="1" dirty="0" err="1">
                <a:solidFill>
                  <a:prstClr val="black"/>
                </a:solidFill>
              </a:rPr>
              <a:t>dl_bidRsltList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7148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543203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683915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37837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75239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제출서류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docSbmsnYn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제출된 서류 유무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237321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estmtAmt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제출된 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968930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견적금액의 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(FCUC)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47613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rnk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결과순위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13820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낙찰여부</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t>
                      </a:r>
                      <a:r>
                        <a:rPr lang="ko-KR" altLang="en-US" sz="800" b="0" i="0" u="none" strike="noStrike" dirty="0">
                          <a:solidFill>
                            <a:srgbClr val="000000"/>
                          </a:solidFill>
                          <a:effectLst/>
                          <a:latin typeface="맑은 고딕" panose="020B0503020000020004" pitchFamily="50" charset="-127"/>
                          <a:ea typeface="+mn-ea"/>
                        </a:rPr>
                        <a:t>낙찰</a:t>
                      </a:r>
                      <a:r>
                        <a:rPr lang="en-US" altLang="ko-KR" sz="800" b="0" i="0" u="none" strike="noStrike" dirty="0">
                          <a:solidFill>
                            <a:srgbClr val="000000"/>
                          </a:solidFill>
                          <a:effectLst/>
                          <a:latin typeface="맑은 고딕" panose="020B0503020000020004" pitchFamily="50" charset="-127"/>
                          <a:ea typeface="+mn-ea"/>
                        </a:rPr>
                        <a:t>/</a:t>
                      </a:r>
                      <a:r>
                        <a:rPr lang="ko-KR" altLang="en-US" sz="800" b="0" i="0" u="none" strike="noStrike" dirty="0">
                          <a:solidFill>
                            <a:srgbClr val="000000"/>
                          </a:solidFill>
                          <a:effectLst/>
                          <a:latin typeface="맑은 고딕" panose="020B0503020000020004" pitchFamily="50" charset="-127"/>
                          <a:ea typeface="+mn-ea"/>
                        </a:rPr>
                        <a:t>탈락</a:t>
                      </a:r>
                      <a:r>
                        <a:rPr lang="en-US" altLang="ko-KR" sz="800" b="0" i="0" u="none" strike="noStrike" dirty="0">
                          <a:solidFill>
                            <a:srgbClr val="000000"/>
                          </a:solidFill>
                          <a:effectLst/>
                          <a:latin typeface="맑은 고딕" panose="020B0503020000020004" pitchFamily="50" charset="-127"/>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836862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탈락사유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탈락사유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484336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계약포기일자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abndDt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계약포기일자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계약포기사유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abndRsn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계약포기사유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80004826"/>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97FA44C3-68D2-A790-27CD-BBA5F8FEB82E}"/>
              </a:ext>
            </a:extLst>
          </p:cNvPr>
          <p:cNvSpPr>
            <a:spLocks noGrp="1"/>
          </p:cNvSpPr>
          <p:nvPr>
            <p:ph type="sldNum" sz="quarter" idx="4"/>
          </p:nvPr>
        </p:nvSpPr>
        <p:spPr/>
        <p:txBody>
          <a:bodyPr/>
          <a:lstStyle/>
          <a:p>
            <a:fld id="{34C8E023-7346-48FC-AB24-9A3388C53208}" type="slidenum">
              <a:rPr lang="ko-KR" altLang="en-US" smtClean="0"/>
              <a:pPr/>
              <a:t>563</a:t>
            </a:fld>
            <a:endParaRPr lang="ko-KR" altLang="en-US" dirty="0"/>
          </a:p>
        </p:txBody>
      </p:sp>
      <p:sp>
        <p:nvSpPr>
          <p:cNvPr id="3" name="TextBox 2">
            <a:extLst>
              <a:ext uri="{FF2B5EF4-FFF2-40B4-BE49-F238E27FC236}">
                <a16:creationId xmlns:a16="http://schemas.microsoft.com/office/drawing/2014/main" id="{BC1631CE-45D9-95D4-010F-992F6EC1140E}"/>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69442E0F-14EC-B5E0-ED68-80781A841AF9}"/>
              </a:ext>
            </a:extLst>
          </p:cNvPr>
          <p:cNvGraphicFramePr>
            <a:graphicFrameLocks noGrp="1"/>
          </p:cNvGraphicFramePr>
          <p:nvPr>
            <p:extLst/>
          </p:nvPr>
        </p:nvGraphicFramePr>
        <p:xfrm>
          <a:off x="458117" y="79954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 및 견적제출 목록</a:t>
                      </a:r>
                      <a:r>
                        <a:rPr lang="en-US" altLang="ko-KR" sz="800" dirty="0">
                          <a:latin typeface="+mn-ea"/>
                          <a:ea typeface="+mn-ea"/>
                        </a:rPr>
                        <a:t>, </a:t>
                      </a:r>
                      <a:r>
                        <a:rPr lang="ko-KR" altLang="en-US" sz="800" dirty="0">
                          <a:latin typeface="+mn-ea"/>
                          <a:ea typeface="+mn-ea"/>
                        </a:rPr>
                        <a:t>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제출서류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a:t>
                      </a:r>
                      <a:r>
                        <a:rPr lang="ko-KR" altLang="en-US" sz="800" dirty="0">
                          <a:latin typeface="+mn-ea"/>
                          <a:ea typeface="+mn-ea"/>
                        </a:rPr>
                        <a:t> 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5601265"/>
                  </a:ext>
                </a:extLst>
              </a:tr>
            </a:tbl>
          </a:graphicData>
        </a:graphic>
      </p:graphicFrame>
      <p:sp>
        <p:nvSpPr>
          <p:cNvPr id="5" name="Text Box 73">
            <a:extLst>
              <a:ext uri="{FF2B5EF4-FFF2-40B4-BE49-F238E27FC236}">
                <a16:creationId xmlns:a16="http://schemas.microsoft.com/office/drawing/2014/main" id="{990CC872-50A4-2401-9C22-88A8F5411F1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97881184"/>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31010</TotalTime>
  <Words>95147</Words>
  <Application>Microsoft Office PowerPoint</Application>
  <PresentationFormat>A4 용지(210x297mm)</PresentationFormat>
  <Paragraphs>47504</Paragraphs>
  <Slides>564</Slides>
  <Notes>14</Notes>
  <HiddenSlides>0</HiddenSlides>
  <MMClips>0</MMClips>
  <ScaleCrop>false</ScaleCrop>
  <HeadingPairs>
    <vt:vector size="6" baseType="variant">
      <vt:variant>
        <vt:lpstr>사용한 글꼴</vt:lpstr>
      </vt:variant>
      <vt:variant>
        <vt:i4>13</vt:i4>
      </vt:variant>
      <vt:variant>
        <vt:lpstr>테마</vt:lpstr>
      </vt:variant>
      <vt:variant>
        <vt:i4>1</vt:i4>
      </vt:variant>
      <vt:variant>
        <vt:lpstr>슬라이드 제목</vt:lpstr>
      </vt:variant>
      <vt:variant>
        <vt:i4>564</vt:i4>
      </vt:variant>
    </vt:vector>
  </HeadingPairs>
  <TitlesOfParts>
    <vt:vector size="578" baseType="lpstr">
      <vt:lpstr>HG꼬딕씨_Pro 40g</vt:lpstr>
      <vt:lpstr>Pretendard Medium</vt:lpstr>
      <vt:lpstr>나눔고딕</vt:lpstr>
      <vt:lpstr>맑은 고딕</vt:lpstr>
      <vt:lpstr>휴먼명조</vt:lpstr>
      <vt:lpstr>Arial</vt:lpstr>
      <vt:lpstr>Calibri</vt:lpstr>
      <vt:lpstr>Consolas</vt:lpstr>
      <vt:lpstr>Segoe UI</vt:lpstr>
      <vt:lpstr>Times New Roman</vt:lpstr>
      <vt:lpstr>Verdana</vt:lpstr>
      <vt:lpstr>Wingdings</vt:lpstr>
      <vt:lpstr>Wingdings 2</vt:lpstr>
      <vt:lpstr>Office 테마</vt:lpstr>
      <vt:lpstr>사용자인터페이스 설계서 - 모바일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LIG SYSTEM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표준서식-PPTX-A4-Landscape</dc:title>
  <dc:subject>프로젝트 명</dc:subject>
  <dc:creator>LIG SYSTEM</dc:creator>
  <cp:keywords>표준서식-PPTX-A4-Landscape</cp:keywords>
  <cp:lastModifiedBy>User</cp:lastModifiedBy>
  <cp:revision>1464</cp:revision>
  <cp:lastPrinted>2016-10-27T08:57:39Z</cp:lastPrinted>
  <dcterms:created xsi:type="dcterms:W3CDTF">2016-10-27T07:41:55Z</dcterms:created>
  <dcterms:modified xsi:type="dcterms:W3CDTF">2026-08-19T01:55:37Z</dcterms:modified>
  <cp:category>서브시스템/업무명</cp:category>
  <cp:contentStatus>0.1</cp:contentStatus>
</cp:coreProperties>
</file>